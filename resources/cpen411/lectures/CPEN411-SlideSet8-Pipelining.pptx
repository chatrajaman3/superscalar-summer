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3.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4.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5.xml" ContentType="application/inkml+xml"/>
  <Override PartName="/ppt/ink/ink6.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8"/>
  </p:notesMasterIdLst>
  <p:handoutMasterIdLst>
    <p:handoutMasterId r:id="rId59"/>
  </p:handoutMasterIdLst>
  <p:sldIdLst>
    <p:sldId id="393" r:id="rId2"/>
    <p:sldId id="388" r:id="rId3"/>
    <p:sldId id="298" r:id="rId4"/>
    <p:sldId id="343" r:id="rId5"/>
    <p:sldId id="278" r:id="rId6"/>
    <p:sldId id="279" r:id="rId7"/>
    <p:sldId id="391" r:id="rId8"/>
    <p:sldId id="300" r:id="rId9"/>
    <p:sldId id="309" r:id="rId10"/>
    <p:sldId id="316" r:id="rId11"/>
    <p:sldId id="392" r:id="rId12"/>
    <p:sldId id="322" r:id="rId13"/>
    <p:sldId id="325" r:id="rId14"/>
    <p:sldId id="326" r:id="rId15"/>
    <p:sldId id="327" r:id="rId16"/>
    <p:sldId id="328" r:id="rId17"/>
    <p:sldId id="329" r:id="rId18"/>
    <p:sldId id="330" r:id="rId19"/>
    <p:sldId id="331" r:id="rId20"/>
    <p:sldId id="389" r:id="rId21"/>
    <p:sldId id="317" r:id="rId22"/>
    <p:sldId id="283" r:id="rId23"/>
    <p:sldId id="319" r:id="rId24"/>
    <p:sldId id="332" r:id="rId25"/>
    <p:sldId id="333" r:id="rId26"/>
    <p:sldId id="334" r:id="rId27"/>
    <p:sldId id="335" r:id="rId28"/>
    <p:sldId id="336" r:id="rId29"/>
    <p:sldId id="337" r:id="rId30"/>
    <p:sldId id="338" r:id="rId31"/>
    <p:sldId id="339" r:id="rId32"/>
    <p:sldId id="340" r:id="rId33"/>
    <p:sldId id="353" r:id="rId34"/>
    <p:sldId id="345" r:id="rId35"/>
    <p:sldId id="369" r:id="rId36"/>
    <p:sldId id="371" r:id="rId37"/>
    <p:sldId id="346" r:id="rId38"/>
    <p:sldId id="372" r:id="rId39"/>
    <p:sldId id="370" r:id="rId40"/>
    <p:sldId id="373" r:id="rId41"/>
    <p:sldId id="347" r:id="rId42"/>
    <p:sldId id="348" r:id="rId43"/>
    <p:sldId id="355" r:id="rId44"/>
    <p:sldId id="378" r:id="rId45"/>
    <p:sldId id="379" r:id="rId46"/>
    <p:sldId id="380" r:id="rId47"/>
    <p:sldId id="381" r:id="rId48"/>
    <p:sldId id="382" r:id="rId49"/>
    <p:sldId id="383" r:id="rId50"/>
    <p:sldId id="384" r:id="rId51"/>
    <p:sldId id="394" r:id="rId52"/>
    <p:sldId id="349" r:id="rId53"/>
    <p:sldId id="386" r:id="rId54"/>
    <p:sldId id="387" r:id="rId55"/>
    <p:sldId id="390" r:id="rId56"/>
    <p:sldId id="342" r:id="rId57"/>
  </p:sldIdLst>
  <p:sldSz cx="9144000" cy="6858000" type="screen4x3"/>
  <p:notesSz cx="6858000" cy="9296400"/>
  <p:defaultTextStyle>
    <a:defPPr>
      <a:defRPr lang="en-US"/>
    </a:defPPr>
    <a:lvl1pPr algn="l" rtl="0" eaLnBrk="0" fontAlgn="base" hangingPunct="0">
      <a:spcBef>
        <a:spcPct val="0"/>
      </a:spcBef>
      <a:spcAft>
        <a:spcPct val="0"/>
      </a:spcAft>
      <a:defRPr sz="2400" kern="1200">
        <a:solidFill>
          <a:schemeClr val="tx1"/>
        </a:solidFill>
        <a:latin typeface="Arial" charset="0"/>
        <a:ea typeface="ＭＳ Ｐゴシック" charset="-128"/>
        <a:cs typeface="+mn-cs"/>
      </a:defRPr>
    </a:lvl1pPr>
    <a:lvl2pPr marL="457200" algn="l" rtl="0" eaLnBrk="0" fontAlgn="base" hangingPunct="0">
      <a:spcBef>
        <a:spcPct val="0"/>
      </a:spcBef>
      <a:spcAft>
        <a:spcPct val="0"/>
      </a:spcAft>
      <a:defRPr sz="2400" kern="1200">
        <a:solidFill>
          <a:schemeClr val="tx1"/>
        </a:solidFill>
        <a:latin typeface="Arial" charset="0"/>
        <a:ea typeface="ＭＳ Ｐゴシック" charset="-128"/>
        <a:cs typeface="+mn-cs"/>
      </a:defRPr>
    </a:lvl2pPr>
    <a:lvl3pPr marL="914400" algn="l" rtl="0" eaLnBrk="0" fontAlgn="base" hangingPunct="0">
      <a:spcBef>
        <a:spcPct val="0"/>
      </a:spcBef>
      <a:spcAft>
        <a:spcPct val="0"/>
      </a:spcAft>
      <a:defRPr sz="2400" kern="1200">
        <a:solidFill>
          <a:schemeClr val="tx1"/>
        </a:solidFill>
        <a:latin typeface="Arial" charset="0"/>
        <a:ea typeface="ＭＳ Ｐゴシック" charset="-128"/>
        <a:cs typeface="+mn-cs"/>
      </a:defRPr>
    </a:lvl3pPr>
    <a:lvl4pPr marL="1371600" algn="l" rtl="0" eaLnBrk="0" fontAlgn="base" hangingPunct="0">
      <a:spcBef>
        <a:spcPct val="0"/>
      </a:spcBef>
      <a:spcAft>
        <a:spcPct val="0"/>
      </a:spcAft>
      <a:defRPr sz="2400" kern="1200">
        <a:solidFill>
          <a:schemeClr val="tx1"/>
        </a:solidFill>
        <a:latin typeface="Arial" charset="0"/>
        <a:ea typeface="ＭＳ Ｐゴシック" charset="-128"/>
        <a:cs typeface="+mn-cs"/>
      </a:defRPr>
    </a:lvl4pPr>
    <a:lvl5pPr marL="1828800" algn="l" rtl="0" eaLnBrk="0" fontAlgn="base" hangingPunct="0">
      <a:spcBef>
        <a:spcPct val="0"/>
      </a:spcBef>
      <a:spcAft>
        <a:spcPct val="0"/>
      </a:spcAft>
      <a:defRPr sz="2400" kern="1200">
        <a:solidFill>
          <a:schemeClr val="tx1"/>
        </a:solidFill>
        <a:latin typeface="Arial" charset="0"/>
        <a:ea typeface="ＭＳ Ｐゴシック" charset="-128"/>
        <a:cs typeface="+mn-cs"/>
      </a:defRPr>
    </a:lvl5pPr>
    <a:lvl6pPr marL="2286000" algn="l" defTabSz="914400" rtl="0" eaLnBrk="1" latinLnBrk="0" hangingPunct="1">
      <a:defRPr sz="2400" kern="1200">
        <a:solidFill>
          <a:schemeClr val="tx1"/>
        </a:solidFill>
        <a:latin typeface="Arial" charset="0"/>
        <a:ea typeface="ＭＳ Ｐゴシック" charset="-128"/>
        <a:cs typeface="+mn-cs"/>
      </a:defRPr>
    </a:lvl6pPr>
    <a:lvl7pPr marL="2743200" algn="l" defTabSz="914400" rtl="0" eaLnBrk="1" latinLnBrk="0" hangingPunct="1">
      <a:defRPr sz="2400" kern="1200">
        <a:solidFill>
          <a:schemeClr val="tx1"/>
        </a:solidFill>
        <a:latin typeface="Arial" charset="0"/>
        <a:ea typeface="ＭＳ Ｐゴシック" charset="-128"/>
        <a:cs typeface="+mn-cs"/>
      </a:defRPr>
    </a:lvl7pPr>
    <a:lvl8pPr marL="3200400" algn="l" defTabSz="914400" rtl="0" eaLnBrk="1" latinLnBrk="0" hangingPunct="1">
      <a:defRPr sz="2400" kern="1200">
        <a:solidFill>
          <a:schemeClr val="tx1"/>
        </a:solidFill>
        <a:latin typeface="Arial" charset="0"/>
        <a:ea typeface="ＭＳ Ｐゴシック" charset="-128"/>
        <a:cs typeface="+mn-cs"/>
      </a:defRPr>
    </a:lvl8pPr>
    <a:lvl9pPr marL="3657600" algn="l" defTabSz="914400" rtl="0" eaLnBrk="1" latinLnBrk="0" hangingPunct="1">
      <a:defRPr sz="2400"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128"/>
    <p:restoredTop sz="94384"/>
  </p:normalViewPr>
  <p:slideViewPr>
    <p:cSldViewPr showGuides="1">
      <p:cViewPr varScale="1">
        <p:scale>
          <a:sx n="106" d="100"/>
          <a:sy n="106" d="100"/>
        </p:scale>
        <p:origin x="1600" y="4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 d="1"/>
        <a:sy n="1" d="1"/>
      </p:scale>
      <p:origin x="0" y="5766"/>
    </p:cViewPr>
  </p:sorterViewPr>
  <p:notesViewPr>
    <p:cSldViewPr showGuides="1">
      <p:cViewPr varScale="1">
        <p:scale>
          <a:sx n="59" d="100"/>
          <a:sy n="59" d="100"/>
        </p:scale>
        <p:origin x="-2496" y="-78"/>
      </p:cViewPr>
      <p:guideLst>
        <p:guide orient="horz" pos="2928"/>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5138"/>
          </a:xfrm>
          <a:prstGeom prst="rect">
            <a:avLst/>
          </a:prstGeom>
        </p:spPr>
        <p:txBody>
          <a:bodyPr vert="horz" wrap="square" lIns="91440" tIns="45720" rIns="91440" bIns="45720" numCol="1" anchor="t" anchorCtr="0" compatLnSpc="1">
            <a:prstTxWarp prst="textNoShape">
              <a:avLst/>
            </a:prstTxWarp>
          </a:bodyPr>
          <a:lstStyle>
            <a:lvl1pPr>
              <a:defRPr sz="1200">
                <a:latin typeface="Arial" pitchFamily="34" charset="0"/>
                <a:ea typeface="ＭＳ Ｐゴシック" pitchFamily="34" charset="-128"/>
                <a:cs typeface="+mn-cs"/>
              </a:defRPr>
            </a:lvl1pPr>
          </a:lstStyle>
          <a:p>
            <a:pPr>
              <a:defRPr/>
            </a:pPr>
            <a:endParaRPr lang="en-US"/>
          </a:p>
        </p:txBody>
      </p:sp>
      <p:sp>
        <p:nvSpPr>
          <p:cNvPr id="4" name="Footer Placeholder 3"/>
          <p:cNvSpPr>
            <a:spLocks noGrp="1"/>
          </p:cNvSpPr>
          <p:nvPr>
            <p:ph type="ftr" sz="quarter" idx="2"/>
          </p:nvPr>
        </p:nvSpPr>
        <p:spPr>
          <a:xfrm>
            <a:off x="0" y="8829675"/>
            <a:ext cx="2971800" cy="465138"/>
          </a:xfrm>
          <a:prstGeom prst="rect">
            <a:avLst/>
          </a:prstGeom>
        </p:spPr>
        <p:txBody>
          <a:bodyPr vert="horz" wrap="square" lIns="91440" tIns="45720" rIns="91440" bIns="45720" numCol="1" anchor="b" anchorCtr="0" compatLnSpc="1">
            <a:prstTxWarp prst="textNoShape">
              <a:avLst/>
            </a:prstTxWarp>
          </a:bodyPr>
          <a:lstStyle>
            <a:lvl1pPr>
              <a:defRPr sz="1200">
                <a:latin typeface="Arial" pitchFamily="34" charset="0"/>
                <a:ea typeface="ＭＳ Ｐゴシック" pitchFamily="34" charset="-128"/>
                <a:cs typeface="+mn-cs"/>
              </a:defRPr>
            </a:lvl1pPr>
          </a:lstStyle>
          <a:p>
            <a:pPr>
              <a:defRPr/>
            </a:pPr>
            <a:endParaRPr lang="en-US"/>
          </a:p>
        </p:txBody>
      </p:sp>
      <p:sp>
        <p:nvSpPr>
          <p:cNvPr id="5" name="Slide Number Placeholder 4"/>
          <p:cNvSpPr>
            <a:spLocks noGrp="1"/>
          </p:cNvSpPr>
          <p:nvPr>
            <p:ph type="sldNum" sz="quarter" idx="3"/>
          </p:nvPr>
        </p:nvSpPr>
        <p:spPr>
          <a:xfrm>
            <a:off x="3884613" y="8829675"/>
            <a:ext cx="2971800" cy="465138"/>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7A3D6ACC-0396-8C4F-B98D-B33205D61B93}"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256" units="dev"/>
          <inkml:channel name="T" type="integer" max="2.14748E9" units="dev"/>
        </inkml:traceFormat>
        <inkml:channelProperties>
          <inkml:channelProperty channel="X" name="resolution" value="377.95276" units="1/cm"/>
          <inkml:channelProperty channel="Y" name="resolution" value="425.28058" units="1/cm"/>
          <inkml:channelProperty channel="F" name="resolution" value="0" units="1/dev"/>
          <inkml:channelProperty channel="T" name="resolution" value="1" units="1/dev"/>
        </inkml:channelProperties>
      </inkml:inkSource>
      <inkml:timestamp xml:id="ts0" timeString="2017-09-07T15:21:20.496"/>
    </inkml:context>
    <inkml:brush xml:id="br0">
      <inkml:brushProperty name="width" value="0.1" units="cm"/>
      <inkml:brushProperty name="height" value="0.1" units="cm"/>
      <inkml:brushProperty name="color" value="#ED1C24"/>
      <inkml:brushProperty name="fitToCurve" value="1"/>
    </inkml:brush>
  </inkml:definitions>
  <inkml:trace contextRef="#ctx0" brushRef="#br0">845 4227 51 0,'-114'14'25'0,"29"149"-27"15,62-113 26-15,-20 19-24 16,-15 26 0-16,1 34 0 16,-10 13 0-16,1 30 1 15,0 12 0-15,0 9 1 16,13 13 0-16,-4-2 1 16,15 9 1-16,18 1 1 15,10-21 0-15,14 1-1 16,29-8 1-16,18-12-1 15,25-19 0-15,22 1-2 16,6-13 1-16,31 2-1 0,18-12 0 16,11-15-2-16,11-7 1 15,19-5 0-15,13-1 0 16,11-3 0-16,9-11 0 16,24-9 0-16,3-14 0 15,17-17 0-15,3-11 1 16,5-19-1-16,-77-7 0 15,135-28 0-15,-2-23 0 0,-4-22 0 16,7-15 0-16,-12-4 0 16,-11-13 0-16,2-28 0 15,-22-11 0-15,-12 3-1 16,-5-24 1-16,-26-5 0 16,-2-12 0-16,-19-9 0 15,-13-30 0-15,-6-6 0 16,-3-21 0-16,-16-4-1 15,1-19 1-15,-19-1-1 16,-15-16 0-16,-4 6 1 16,-14-18 0-16,-25 16-1 15,-13-12 0-15,-15 19 0 16,-19-6 0-16,-23 5 0 16,-20 9 1-16,-18-2-1 15,-10 20 1-15,-13 0-1 16,-25 5 0-16,-19 16 0 15,-13 9 1-15,-10 4-1 16,-25 6 0-16,-4 14 0 0,-19 4 0 16,0 9 0-16,-13 6 0 15,-6 19-1-15,-9 9 1 16,-4 18 0-16,-12 2 0 16,-3 15-1-16,-10 13 1 15,10 17-1-15,-8 6 1 16,-2 14-1-16,0 14 1 15,14 17 0-15,-13 6 0 16,13 14-1-16,-3 7 1 0,8 20-1 16,-10 10 1-16,14 11-1 15,2 9 1-15,-6 8-1 16,0 3 1-16,6 6-1 16,8 17 1-16,0 5 0 15,-3 9 0-15,17 0 0 16,-13 7 0-16,14 6-1 15,4 4 1-15,-10-3 0 16,16 0 0-16,10-1 0 16,-3 8 0-16,8-11-1 15,7 0 1-15,16-23 0 16,4-8 0-16,4 2-1 16,10-16 1-16,14-11 0 15,5-5 0-15,14-10 0 16,6-4 0-16,8-2 0 15,6-14 0-15,9-5 0 16,-1-2 1-16,1-2-1 16,5-12 0-16,4 0 0 0,5-3 0 15,0-3 0-15,0-8 0 16,0 0 0-16,0 2 1 16,0-1-1-1,0-3 0 1,0-8-9-1,0-3 0-15,9 4-8 16,19 3 1-16,-3-14-5 16,-2-6 0-16</inkml:trace>
</inkml:ink>
</file>

<file path=ppt/ink/ink2.xml><?xml version="1.0" encoding="utf-8"?>
<inkml:ink xmlns:inkml="http://www.w3.org/2003/InkML">
  <inkml:definitions>
    <inkml:context xml:id="ctx0">
      <inkml:inkSource xml:id="inkSrc0">
        <inkml:traceFormat>
          <inkml:channel name="X" type="integer" max="9600" units="cm"/>
          <inkml:channel name="Y" type="integer" max="7200" units="cm"/>
          <inkml:channel name="F" type="integer" max="256" units="dev"/>
          <inkml:channel name="T" type="integer" max="2.14748E9" units="dev"/>
        </inkml:traceFormat>
        <inkml:channelProperties>
          <inkml:channelProperty channel="X" name="resolution" value="377.95276" units="1/cm"/>
          <inkml:channelProperty channel="Y" name="resolution" value="425.28058" units="1/cm"/>
          <inkml:channelProperty channel="F" name="resolution" value="0" units="1/dev"/>
          <inkml:channelProperty channel="T" name="resolution" value="1" units="1/dev"/>
        </inkml:channelProperties>
      </inkml:inkSource>
      <inkml:timestamp xml:id="ts0" timeString="2017-09-07T15:21:20.497"/>
    </inkml:context>
    <inkml:brush xml:id="br0">
      <inkml:brushProperty name="width" value="0.1" units="cm"/>
      <inkml:brushProperty name="height" value="0.1" units="cm"/>
      <inkml:brushProperty name="color" value="#ED1C24"/>
      <inkml:brushProperty name="fitToCurve" value="1"/>
    </inkml:brush>
  </inkml:definitions>
  <inkml:trace contextRef="#ctx0" brushRef="#br0">352 30 40 0,'-11'-25'20'0,"11"18"-26"0,0 7 34 15,0 0-27-15,0 5 1 16,0 1 0-16,-3 2 0 0,-1 5-2 16,-3 10 0-16,-4 4 3 15,-4 11 1-15,0 6-1 16,-3 0 0-16,-4 7 0 16,-3-5 1-16,-1 7-1 15,-7 0 1-15,0-1-2 16,0 2 1-16,4-6-1 15,3-4 0-15,8-7 0 16,3-4 0-16,8-8 0 16,14-7 1-16,8-7 0 15,10-5 0-15,5-9 0 16,6-8 0-16,12-5-1 0,11-8 1 16,-1-1-1-16,4-3 1 15,8 3-2-15,-8-3 1 16,3-2-1-16,1 2 0 15,0 10-1-15,7 4 0 16,-7 5-11-16,4 0 1 16,0 7-10-16,-16-12 0 15</inkml:trace>
</inkml:ink>
</file>

<file path=ppt/ink/ink3.xml><?xml version="1.0" encoding="utf-8"?>
<inkml:ink xmlns:inkml="http://www.w3.org/2003/InkML">
  <inkml:definitions>
    <inkml:context xml:id="ctx0">
      <inkml:inkSource xml:id="inkSrc0">
        <inkml:traceFormat>
          <inkml:channel name="X" type="integer" max="26312" units="in"/>
          <inkml:channel name="Y" type="integer" max="16520" units="in"/>
          <inkml:channel name="F" type="integer" max="255" units="dev"/>
        </inkml:traceFormat>
        <inkml:channelProperties>
          <inkml:channelProperty channel="X" name="resolution" value="2540.01343" units="1/in"/>
          <inkml:channelProperty channel="Y" name="resolution" value="2540.36597" units="1/in"/>
          <inkml:channelProperty channel="F" name="resolution" value="0" units="1/dev"/>
        </inkml:channelProperties>
      </inkml:inkSource>
      <inkml:timestamp xml:id="ts0" timeString="2018-09-25T15:39:17.56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77 105 71,'0'0'38,"-15"-4"-1,4 8 2,10 21-25,-15-3-3,13 20-3,-7 8-3,3 17 0,-1 3-3,5 2 0,-1-4-1,5-6 0,2-11-1,1-14-1,3-12-2,-7-25-6,22-10-28,-13-14-3,2-4 2,-6-13-1</inkml:trace>
  <inkml:trace contextRef="#ctx0" brushRef="#br0" timeOffset="1">93 11 90,'12'-9'38,"8"5"1,2 2-1,10 10-26,1-9-6,12 6-3,-1-5 0,3 1-2,-1 1-3,-7-5-5,-1 4-30,-15-1-3,-9 4 1,-14-4-1</inkml:trace>
  <inkml:trace contextRef="#ctx0" brushRef="#br0" timeOffset="2">186 168 96,'-24'22'39,"9"-7"1,15 1-1,0-16-24,37 14-10,5-11-5,8-13-23,20 6-16,8-8 0,13-2-1,6-3-1</inkml:trace>
  <inkml:trace contextRef="#ctx0" brushRef="#br0" timeOffset="3">4499 192 101,'0'0'39,"-22"2"2,14 22-2,-8 4-33,10 19-2,-1 4-2,4 5 0,2 1-2,4-2 1,2-7-2,0-14 0,7-12-4,-12-22-13,21-21-21,-6-6-2,2-13 1,-4-10-1</inkml:trace>
  <inkml:trace contextRef="#ctx0" brushRef="#br0" timeOffset="4">4596 179 58,'18'-18'37,"4"7"2,12 7-1,2 1-10,14 18-18,-9-4-5,5 11 0,-9 5-2,-4 11 0,-17 3-2,-11 5 1,-17-2 0,-12 2 0,-16-6-1,-5-6 1,-6-10-2,1-16-2,15-7-34,0-16-5,18-5 2,6-8-3</inkml:trace>
  <inkml:trace contextRef="#ctx0" brushRef="#br0" timeOffset="5">10465 124 101,'-14'23'39,"11"10"2,2 4-3,18 11-30,-6 1-5,11 3-1,7-2 0,9-8-3,7-2-2,-4-21-30,4-3-7,-9-6 1,-5-2-1</inkml:trace>
  <inkml:trace contextRef="#ctx0" brushRef="#br0" timeOffset="6">10384 665 97,'-16'-20'40,"23"-6"2,13-20-2,24-1-20,20-21-18,19-5-1,14-4-1,4-9-32,15 14-7,-1 4-3,-2 13 1</inkml:trace>
  <inkml:trace contextRef="#ctx0" brushRef="#br0" timeOffset="7">15684 88 94,'-5'18'39,"1"10"2,-9 3-1,-2 20-26,-8-9-9,7 9-1,-4-1-1,4-4-1,1-8 0,3-12-1,5-11 0,7-15 0,11-11 0,5-18 0,5-17 1,6-9-2,6-11 1,0 0-1,1 2 0,-4 10 0,-5 13 0,-6 24 0,-9 22 0,-6 18 0,-5 15 1,-2 5-1,7 1 2,4-4-2,8-11 0,11-20 0,11-16 0,8-13 0,3-11 0,2 0 0,-6 0 0,-4 7 0,-7 15 0,-11 17 0,-12 18 0,-6 12 0,-4 9 0,-3 0 0,6 3 0,-3-8 0,13-5-11,-6-23-29,18-13-3,2-14 0,10-7-1</inkml:trace>
  <inkml:trace contextRef="#ctx0" brushRef="#br0" timeOffset="8">19295 213 69,'-8'-13'36,"8"13"1,0 0 1,-17-10-25,17 10-6,-4 12-1,4 5 0,-5 1-3,4 9 1,-3 7-2,1 12 1,-3 4-1,1 3-1,2-1 0,2-2 1,2-10-2,8-12 1,4-21 0,6-14 0,8-17 0,7-16 0,6-9 0,1-5-1,1 0 1,-4 5 0,-5 13 0,-5 14-1,-6 18 1,-4 22 0,-9 11-1,0 13 1,4-3-1,1 5 1,7-12 0,6-14 0,5-18 0,6-17 0,1-13 1,-2-7-1,0 0 0,-5-6 0,-7 9 0,-4 5-1,-7 9-2,-7 5-5,16 15-32,-23 0-4,21 5 0,-8 0-1</inkml:trace>
</inkml:ink>
</file>

<file path=ppt/ink/ink4.xml><?xml version="1.0" encoding="utf-8"?>
<inkml:ink xmlns:inkml="http://www.w3.org/2003/InkML">
  <inkml:definitions>
    <inkml:context xml:id="ctx0">
      <inkml:inkSource xml:id="inkSrc0">
        <inkml:traceFormat>
          <inkml:channel name="X" type="integer" max="26312" units="in"/>
          <inkml:channel name="Y" type="integer" max="16520" units="in"/>
          <inkml:channel name="F" type="integer" max="255" units="dev"/>
        </inkml:traceFormat>
        <inkml:channelProperties>
          <inkml:channelProperty channel="X" name="resolution" value="2540.01343" units="1/in"/>
          <inkml:channelProperty channel="Y" name="resolution" value="2540.36597" units="1/in"/>
          <inkml:channelProperty channel="F" name="resolution" value="0" units="1/dev"/>
        </inkml:channelProperties>
      </inkml:inkSource>
      <inkml:timestamp xml:id="ts0" timeString="2010-10-06T00:23:35.41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519 20 11,'-35'-1'31,"-5"2"1,-9 0 1,-9-6-11,6 12-3,-13-14-4,17 11-3,-8-11-3,15 9-3,1-8-1,19 5-1,7-2-1,14 3-1,24-4 1,15 4-1,14-1-1,18 1 1,13 1 0,15 1-1,9-3 1,8 5-1,-3-3 1,-3 0-2,-10 2 1,-11 0 0,-17-2-1,-15 3 0,-23-2 0,-22 1 0,-24-1 0,-23-1 0,-23 2 0,-22-3 0,-19 1 0,-8 0 0,-4 0 0,7 0 0,10-1 0,20 2 0,24-1 0,29 1 0,34-1 0,26-1 1,29-1-1,21-1 0,16 1 0,15-8-6,11 7-31,-11-2-4,-13 2 2,-15-3-2</inkml:trace>
</inkml:ink>
</file>

<file path=ppt/ink/ink5.xml><?xml version="1.0" encoding="utf-8"?>
<inkml:ink xmlns:inkml="http://www.w3.org/2003/InkML">
  <inkml:definitions>
    <inkml:context xml:id="ctx0">
      <inkml:inkSource xml:id="inkSrc0">
        <inkml:traceFormat>
          <inkml:channel name="X" type="integer" max="26312" units="in"/>
          <inkml:channel name="Y" type="integer" max="16520" units="in"/>
          <inkml:channel name="F" type="integer" max="255" units="dev"/>
        </inkml:traceFormat>
        <inkml:channelProperties>
          <inkml:channelProperty channel="X" name="resolution" value="2540.01343" units="1/in"/>
          <inkml:channelProperty channel="Y" name="resolution" value="2540.36597" units="1/in"/>
          <inkml:channelProperty channel="F" name="resolution" value="0" units="1/dev"/>
        </inkml:channelProperties>
      </inkml:inkSource>
      <inkml:timestamp xml:id="ts0" timeString="2010-10-06T00:28:00.05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1358 1107 75,'0'0'40,"4"-18"-1,7 11 1,-11-6-25,23 16-6,-4 1-3,5 9-3,3 5-1,1 11 1,-6 6-1,-1 10 0,-9 2 0,-3 0-2,-11 4 2,-3-3-2,-6-3 1,-4-5-3,4-6-2,-8-21-15,10 3-21,-2-13-2,11-3 1,0 0-2</inkml:trace>
  <inkml:trace contextRef="#ctx0" brushRef="#br0" timeOffset="1794">111 81 53,'0'0'32,"-10"-13"-2,10 13-5,-14-11-5,14 11-7,-11-5-4,11 5-3,-14-2-1,14 2 0,-13 0-1,13 0 1,-14-2-2,14 2 1,0 0 0,-11-7 0,11 7-1,0 0 0,-11-13-1,11 13 1,0 0-1,0 0-1,0 0 1,-11-10-1,11 10 0,0 0 0,0 0 0,0 0 0,0 0 0,0 0 0,0 0 1,0 0-1,0 0 0,0 0 0,0 0-1,0 0 1,0 0 0,-2-10-1,2 10 1,0 0-1,14-9 2,-14 9-2,15-4 0,-15 4 0,20 1 0,-8 1 0,-1 0 0,4-1 0,3 0 0,0 3 0,2-4 0,2 1 0,-1-2 0,6 1 0,-4-2 0,3 2 0,2 0 0,-4 0 0,1 0 0,2 2 0,-2-2 0,1 2 0,0-2 0,-3 1 0,0 1 0,-1 2 0,-1-1 0,-3 5 0,-3-2 0,0 3 0,-1 3 0,-4 2 0,2 0 0,-2 2 0,-2 1 0,1 3 0,-2 1 0,-2 2 0,-5 1 0,0 3 0,0 0 0,-4-2 0,-1 2 0,0-2 0,3 1 0,-3-4 0,2-2 0,3-2 0,0-1 0,0-4 0,3-2 0,-3-11 0,6 18 0,-6-18 0,13 13 0,-13-13 0,16 9 0,-4-6 0,0 1 0,3-3 0,3 2 0,3-2 0,4 4 0,-1-3 0,9 1 0,-3 1 0,2 2 0,5-1 0,1-2 0,0 1 0,0-3 0,-1-2 0,2-2 0,-1 0 0,-3-4 0,-3-1 0,-4 0 0,-2-1 0,-5-1 0,-6 3 0,-2 2 0,-13 5 0,15-7 0,-15 7 0,0 0 0,0 0 0,0 0 0,9 0 0,-9 0 0,0 0 0,0 0 0,0 0 0,0 0 0,10 4 0,-10-4 0,13 6 0,-13-6 0,14 5 0,-14-5 0,20 7 0,-20-7 0,17 2 0,-17-2 0,13 0 0,-13 0 0,0 0 0,13 2 0,-13-2 0,0 0 0,11 14-4,-11-14-1,17 14-1,-6-4-1,-11-10-2,21 10-5,-20-21-13,12 9-10,-9-8-3,2-2 0,-4-4 2</inkml:trace>
  <inkml:trace contextRef="#ctx0" brushRef="#br0" timeOffset="3135">1431 307 91,'-12'-19'41,"2"7"2,-4-4-1,14 16-28,-10-18-5,10 18-2,-12-13-3,12 13 0,0 0-4,7-12 0,5 11 0,3 3 0,6 5 0,3 6 0,4 7 0,0 2 0,0 7 0,-7 3 0,-4 6 0,-5 3 0,-11 1 0,-9 3 0,-6-4 0,-7 2 0,-5-4 0,0-3 0,-1-4 0,3-6 0,4-7 0,5-11 0,8 3-11,-7-19-18,14 8-13,0 0-3,13-4-1,-13 4 1</inkml:trace>
</inkml:ink>
</file>

<file path=ppt/ink/ink6.xml><?xml version="1.0" encoding="utf-8"?>
<inkml:ink xmlns:inkml="http://www.w3.org/2003/InkML">
  <inkml:definitions>
    <inkml:context xml:id="ctx0">
      <inkml:inkSource xml:id="inkSrc0">
        <inkml:traceFormat>
          <inkml:channel name="X" type="integer" max="26312" units="in"/>
          <inkml:channel name="Y" type="integer" max="16520" units="in"/>
          <inkml:channel name="F" type="integer" max="255" units="dev"/>
        </inkml:traceFormat>
        <inkml:channelProperties>
          <inkml:channelProperty channel="X" name="resolution" value="2540.01343" units="1/in"/>
          <inkml:channelProperty channel="Y" name="resolution" value="2540.36597" units="1/in"/>
          <inkml:channelProperty channel="F" name="resolution" value="0" units="1/dev"/>
        </inkml:channelProperties>
      </inkml:inkSource>
      <inkml:timestamp xml:id="ts0" timeString="2010-10-06T00:27:55.90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15635-5 38,'0'0'31,"0"0"3,-10 3-8,10-3-6,0 0-5,-6 10-1,-6-15-3,12 5-2,0 0-3,0 0-1,0 0-1,0 0-2,0 0 0,0 0-1,12-3 0,-3 6 0,2-3-1,5 1 1,5 1 0,2-2 0,-1 0-1,0 2 1,0 1 0,-1 0-1,-3 6 1,0 2 0,-7 5-1,-2 1 0,0 4 1,-2 0-1,-1 1 0,-1 3 1,1-3-1,-1 0 0,1-2 0,-2 0 0,3-3 0,0 0 0,-4-2 0,3-2 0,-1 2 0,-1-2 0,0-4 1,-4 2-1,3 0 1,-2-1-1,1 2 1,-2 2 0,1-3-1,-1 3 1,1-3 0,0 1-2,-1-12 1,0 19 0,0-19 0,0 14 0,0-14 0,-1 14-1,1-14 2,0 14-1,0-14-1,-4 21 1,4-6 0,0 3 0,0 1 0,0 6 0,-1-1 0,2 4 0,1-1 0,-1 0 0,0 0 0,-2 3 0,3 1 0,0 1 0,-2 5 0,-1-1 0,2 3 0,2 0 0,-4 3 1,1-2-1,1 0 1,0-1-1,-2-4 0,1 4 1,0-2-1,2 1 0,-4-1 0,-2 1 1,0-2-1,-1 4 0,0 0 0,2 1 0,-2-2 0,-1 1 0,5-1 0,1 3 0,-1 2 0,1-2 0,2-4 0,0 3 1,-2-5-1,0 2 0,-3-2 1,2-2-1,-1-2 1,-2 3-1,1-4 0,-2 3 0,-1 0 0,2-1 1,-1-1-2,-2-1 2,4 0-2,0-3 2,0 0-2,2-2 2,1 1-2,0 0 2,2-3-2,0 3 2,1-2-1,-2 5-1,0 3 1,-1-1-1,1 1 1,-1 1 0,-2 3 0,-2 2-1,3 0 1,-2-2 1,1 3-1,0 4 0,0-2 0,1 2 0,1-2 0,1 1 0,0-3 0,-1-6 0,1 0 0,-1-10 0,-1-5 0,0-3 0,1-2 0,0-2 1,-3-1-1,3-11 0,-6 17 0,6-17 0,-12 20 0,5-10 0,7-10 0,-14 19 0,14-19 0,-18 19 0,18-19 0,-19 21 0,19-21 0,-16 20 0,3-9 0,6 4-1,-4 0 1,2 1 0,2-3 0,-6-3-1,8 2 1,-6-2 0,3 2 0,-4-3 1,12-9-1,-21 19 0,11-12 0,-2 2 0,2-2 0,-1-2 0,11-5 0,-16 6 0,16-6 0,-11 4 0,11-4 0,0 0 0,-17 4 0,17-4 0,0 0 0,-11 9 0,11-9 0,0 0 0,-13 7 0,13-7 0,0 0 0,-16 3 0,16-3 0,-15 0 0,15 0 0,-19 0 0,8-2 0,-3 2 0,0 2 1,-1-1-1,-6 2 0,0 2 0,-3 0 0,0 0 0,-5 2 0,0-1 0,1-2 0,0 2 1,-1-3-1,-2 1 0,1-1 0,-3 1 0,-2 0 0,-1 3 1,-6 0-1,-3-1 0,1 2 0,-4 0 0,2 0 0,-2-1 0,1 0 1,0-2-1,0 0 0,0 1 1,2-2-1,-3 2 1,-6-1-1,0-2 0,-3 3 0,-1 1 0,-5-5 0,1 3 1,-1-3-2,-2 0 1,3-2 1,0 0-1,0-2 0,1 3 0,-2-1 1,-1-2-1,-2 1 0,3-3 0,-2 3 0,2-2 0,-1-3 0,1-1 1,2 0-1,-4 0 0,1 0 0,-5-1 1,-1 0-1,-5 4 0,-2-3 0,1 1 0,-5 3 1,-2-2-1,0 3 0,1-3 0,-3-1 0,-2 2 1,-6-1-1,1-1 0,-3 1 0,-5-2 0,0 0 0,-3 0 0,-1 0 0,-3-3 0,2 2 1,0 0-1,-3 0 0,3-3 0,-3 3 0,1 0 0,-1-1 0,0 1 0,-1 0-1,4 1 1,-1-3 0,-2 2 0,1-1 0,2 1 1,1 0-2,-2 3 1,2-2 0,0 1 0,-4 3 0,0 1 0,-1-2-1,0 1 1,2-1 0,-2 1-1,-2-1 0,-1 0 1,1-1-1,1-2 1,0 5-1,2 0 0,1 1 1,-1 2-1,-1-1 1,1 1 0,4 2-1,1-1 1,0-4 0,1 0 0,0 1 0,2-1-1,-3-2 1,4 4 0,-1-1 0,-1 2 0,-2 3 0,-1-1 0,0 2 0,1 1 0,1 1 0,-1-1 0,-1-2 0,0-2 0,1 1 1,-2-2-1,0-1 0,-1 2-1,6-4 2,-5 0-1,2 0 0,2-2-1,-2-1 1,-2 2 0,0 0 0,2 1 0,-2-1 0,4 3 0,0 1 0,-6 1 0,6 1 1,-2 1-1,3-2 0,-3 0 0,2 3 0,-2-1 0,0 2 1,1 0-1,-2 3 0,3-1 0,1 0 1,0 0-1,3 0 0,-2 0 0,5 1 0,-1-1 0,0-1 0,3 1 1,4-3-1,1 2 0,2 0 0,4-5 0,4 3 0,3-3 1,3 0-1,2 0 0,0 0 0,3-1 0,1-1 0,1 2-1,-1-2 1,2 1 0,3-3 0,2 1 0,3-3 0,0 2 0,1 0 0,4-4 1,-2 3-2,2-4 1,2 1 1,1-1-1,1-1 0,-2-2 0,5-1 0,-1 1 0,4-1 0,1 0 0,-3 1 0,2 1-1,0-1 2,2 4-1,1 0 0,0-2-1,2 1 1,1 1 0,3 3 0,3-3 0,4 0-1,1-1 3,3 2-3,2-5 2,3 2-1,1-1 1,0 1-1,3-2 1,2-5-1,-1 6 0,2-6 0,-2 0 0,2-4 0,2 0 0,0-3 0,-1-1 0,1 0 0,-2-4 0,2-1 0,1-1-1,-2-2 1,0-1-1,3-2 1,-4-2 0,3 0 0,0 1 0,4-2 0,0 2-1,1-4 1,1 3 0,2-1 0,1 1 1,0-3-1,1 0 0,0-1 0,1 3 1,-3-2-1,3 1 0,-2-1 0,-2 1 0,3-1 0,-3 3 0,1-3-1,1 0 1,2 1 0,-4-3 0,5 1 0,0 0 0,-5 3 0,7-2 0,-6-1 0,1 1-1,-1 1 1,1 2 0,-1-3-1,1 2 1,1-2 0,-1-1 0,2 2-1,1-3 2,-1 2-1,0-4-1,1 3 2,0-5-2,-2 4 1,0 0 0,1 3 0,-3 0 0,1 4 0,-3-1 0,-2 1 0,2 4 0,-2-5 0,1 4-1,2-4 1,-1-1-1,2-2 1,-1 1 0,1 1-1,-1 2 0,-2 1 1,-4 4 0,-1 2 0,1 1 0,-2 1 0,1 0 0,-4 1 0,3-1 0,2-2 0,-3 1 0,2-1 0,0 2 0,1 5 0,-2-1 0,5 2 0,-3 1 0,3 3 0,1-1 0,3-1 0,1 1 1,3-2-1,0 2 1,0-2-1,0 0 1,1 2-2,-1 0 2,-2 0-2,-1 2 2,-4 14-2,6-19 0,-6 19 1,6-12-1,-6 12 1,3-12 0,-3 12 0,0 0 0,6-14 0,-6 14 0,0 0 0,2-11 0,-2 11 0,0 0 0,0 0 0,0 0 0,0 0 0,19 1 0,-6 2 0,3 0 0,7 2 0,3 0 1,5 1-1,2-3 0,-1 4 0,0-2 1,-2 1-1,-4-2 1,-3 1 0,-6 0 0,-3-2-1,-14-3 1,17 5-1,-17-5-2,0 0 0,0 0-3,0 0-7,-4-28-14,3 16-16,-7-8-1,3 4 1,-4-5 1</inkml:trace>
</inkml:ink>
</file>

<file path=ppt/ink/ink7.xml><?xml version="1.0" encoding="utf-8"?>
<inkml:ink xmlns:inkml="http://www.w3.org/2003/InkML">
  <inkml:definitions>
    <inkml:context xml:id="ctx0">
      <inkml:inkSource xml:id="inkSrc0">
        <inkml:traceFormat>
          <inkml:channel name="X" type="integer" max="26312" units="in"/>
          <inkml:channel name="Y" type="integer" max="16520" units="in"/>
          <inkml:channel name="F" type="integer" max="255" units="dev"/>
        </inkml:traceFormat>
        <inkml:channelProperties>
          <inkml:channelProperty channel="X" name="resolution" value="2540.01343" units="1/in"/>
          <inkml:channelProperty channel="Y" name="resolution" value="2540.36597" units="1/in"/>
          <inkml:channelProperty channel="F" name="resolution" value="0" units="1/dev"/>
        </inkml:channelProperties>
      </inkml:inkSource>
      <inkml:timestamp xml:id="ts0" timeString="2011-10-08T16:52:16.77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211 491 17,'0'0'22,"0"0"-3,-21 17-1,21-17-2,-27 10-3,27-10-2,-29 11-1,29-11-2,-35 5-1,35-5-2,-28-2-1,28 2-1,-23-19 0,23 19-1,-14-33 1,14 11 0,0-8 0,9 1 0,0-2 0,8 1-1,-1 4-1,3 2 0,2 1 0,1 8-1,-1 6 0,-1 6 0,1 1 0,-2 7 0,-1 2 0,-3 5 0,-15-12 0,18 30 0,-17-13 1,-2 0-1,-5 1 1,6-18-1,-19 19 0,19-19 1,-22-4-1,22 4 0,-16-26 0,14 7 0,4-3-1,3-1 1,9-5-1,5 6 1,6-1-1,4 3 2,3 1-2,1 5 1,0 2 0,2 5 0,-6 5 0,-4 2 0,-6 3 0,-1 6 1,-18-9-1,21 19 1,-21-19 0,7 19 0,-7-19 0,-6 16-1,6-16 1,0 0 0,0 0-1,0 0 1,-10-18-1,10 18 0,19-29 0,-3 8 0,6 6 0,6-1 0,2 0 0,1 4 0,4 4 1,-2 6-1,0 4 0,-5 5 0,-2 6 0,-6 3 0,-3 3 0,-4-2 1,-7 4-1,-4 0 0,-2-5 0,0-16 1,-5 20-1,5-20 0,0 0 0,0 0 0,-3-24 1,9 3-1,3-3 0,9-4-1,-1 2 1,6 0 0,1 4 0,0 4 0,4 8 0,-2 7 0,-1 6 0,-3 4 0,-3 7 0,1 1 0,-10 3 0,4 1 1,-9 0-1,-1-2 0,-4-3 1,0-14 0,-2 23-1,2-23 0,0 0 1,0 0-1,0 0 0,0 0 0,-2-21 0,2 21 0,17-30 0,0 20 0,-1 1 0,5 4 0,-2 5 0,0 5 0,2 6 0,-4 4 0,-3 6 0,-7 5 0,-7 2 1,-3 3-2,-11 4 2,0 4-1,-9-4 1,4-4-1,0-3 1,1-7-1,18-21 0,-17 17 0,17-17 0,2-21 0,5 4 0,7 0-1,-2-1 1,-12 18-1,24-19 1,-24 19 0,19 14 0,-17 5 0,-7 9 0,1 0 0,-8 1 0,-2 6 1,-3-2-1,-8-2 0,3-2 0,-5 1 0,-3-3-1,-3-6 1,2-2 0,0-7 0,-1-6-1,4-8 1,8-7 0,0-5 0,10-3 0,3-2-1,7 19 1,4-24 0,-4 24-1,17-9 1,-17 9 0,19 16 0,-14-1 0,-3 4 0,-4 2 0,-3 0 0,-5 0 1,-1-2-1,-3 0 0,-1-4 0,-3-1 0,-3-2 0,-1-5 0,-2-3 0,-4-8 0,-3-3 0,-5-6 0,1-3 0,2 0 0,3-3 0,6 0 0,3 5 0,21 14 0,-18-17 0,18 17 0,0 0 0,28 10 0,-28-10 0,25 20 0,-25-20 0,15 29 0,-16-12 0,-8 1 0,-5 4 0,-7-3 0,-5-1 0,-4-3 0,-3-5 0,-4-6 0,-1-9 0,-1-6 0,1-9 0,9-5 0,-1-6 0,9 0 0,2 0 0,12 0 0,5 5 0,4 8 0,5 3 0,-7 15 0,17-12 0,-17 12-1,18 13 2,-18-13-1,3 28 0,-4-12 0,-6-1 0,-2 6 0,-7-4 0,-6 2 0,-5-5 0,-4-2 0,-3-3 0,-2-7 0,3-9 0,3-7 0,2-10 0,9-14 0,9-4 0,6-5-1,9-5 1,8 9 0,4 2-3,16 9-34,-7 15 1,-8 0-1,6 10 1</inkml:trace>
  <inkml:trace contextRef="#ctx0" brushRef="#br0" timeOffset="7846">437 1392 10,'-26'6'30,"26"-6"3,-38-4-2,15-13-12,7 6-4,-6-20-4,17 11-1,-8-22-3,20 6 0,-1-13-1,18 4-2,-7-9 0,18 14 0,-5-1-1,5 13-2,-1 13 1,0 13-1,-3 10-1,-3 15 1,-7 5 0,-3 6 0,-11 3-1,-4-1 1,-6-6-1,-4-6 1,-2-5 0,9-19-1,-21 16 1,21-16-1,-14-18 1,12-3-1,6-3 0,3-7 0,8-2 1,6-3-2,11-1 1,4 3 0,11 1 1,2 7-2,1 6 1,0 8 0,-1 8 0,-9 11 1,-9 13-1,-8 6 0,-15 9 0,-4 1 1,-9 2-1,-4-3 0,-3-6 0,-1-6 1,13-23-1,-13 12 0,13-12 0,7-30 0,6 5 1,7-7-1,6 1 0,3 2-1,3 6 1,2 8 0,3 8 0,-5 12 0,1 7 0,-2 10 0,-3 6 0,-5 9 0,-7 1 0,-9 2 1,-4 1-1,-6 1 0,-8-1 0,-3-3-1,-7-6 1,-3-6 0,6-7 0,-2-7 0,20-12 0,-21-2 0,21 2 0,0-21 1,0 21-1,24-29 0,-5 15 1,7 7-2,-3 7 1,0 7-1,-6 9 1,-7 4-1,-10 11 0,-1 6 0,-11 4 0,-6 1 0,-8 3 1,-9 2 0,-3 0 0,-1-1-1,-3-8 1,-1-3 0,-3-9 0,-1-10 1,7-8-1,2-9-1,8-8 1,8-8 0,6-4 0,6 2 0,8 1 0,2 18-1,10-24 1,-10 24 0,0 0 0,18 9 0,-18-9-1,-12 28 1,-1-13 0,-5 4 0,-4-3 0,-4-4 0,-4 2-1,-3-9 1,-4-7 0,1-8 0,-2-6 0,-1-6 0,1-6 0,2-3 0,2 3 0,4 0-1,4 2 1,7 6 0,19 20-1,-25-26 1,25 26 0,0 0 0,0 0 0,-15-18-1,15 18 1,0 0 0,0 0 0,-21-8 0,7 3 0,-7-1 0,-3-2 0,-1-8 0,3-3 0,-1-5 1,7 0-1,6-11-4,29 2-31,4 3-2,5-2 0,12 0-1</inkml:trace>
</inkml:ink>
</file>

<file path=ppt/ink/ink8.xml><?xml version="1.0" encoding="utf-8"?>
<inkml:ink xmlns:inkml="http://www.w3.org/2003/InkML">
  <inkml:definitions>
    <inkml:context xml:id="ctx0">
      <inkml:inkSource xml:id="inkSrc0">
        <inkml:traceFormat>
          <inkml:channel name="X" type="integer" max="26312" units="in"/>
          <inkml:channel name="Y" type="integer" max="16520" units="in"/>
          <inkml:channel name="F" type="integer" max="255" units="dev"/>
        </inkml:traceFormat>
        <inkml:channelProperties>
          <inkml:channelProperty channel="X" name="resolution" value="2540.01343" units="1/in"/>
          <inkml:channelProperty channel="Y" name="resolution" value="2540.36597" units="1/in"/>
          <inkml:channelProperty channel="F" name="resolution" value="0" units="1/dev"/>
        </inkml:channelProperties>
      </inkml:inkSource>
      <inkml:timestamp xml:id="ts0" timeString="2011-10-08T16:52:19.74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159 505 43,'-26'-2'33,"26"2"2,-19-17-11,1-16-6,20 8-5,-9-18-1,21 12-4,-10-16-3,17 12-1,-8-6-1,15 11-1,-2 8-1,6 10-1,-8 7 0,2 10 0,-3 3 1,-3 5-2,-6 4 2,-2 5-1,-7-4 0,-5 4 0,-3-3 1,3-19-1,-11 23 1,11-23-1,0 0-1,0 0 2,-7-35-1,16 6 0,3-9 0,6 5 0,4-5-1,6 3 1,7 4 0,2 5 0,1 8 0,4 10 0,-4 8 0,0 7 0,-8 7 0,-8 5 0,-8 5 0,-5 2 1,-9 0-1,0-4 0,-3-4 0,3-18 1,-13 19-1,13-19 0,0 0 0,2-26 0,10 3 0,4-4 0,5 1 0,1 0 0,12 1 0,-3 5-1,4 7 1,-1 6 0,1 7 0,-6 7 0,-1 6 1,-7 4-1,-6 2 0,-8 5 0,-3 0 0,-4 1 0,-4 1 0,-3-6 1,-5-2-1,12-18 0,-14 15 0,14-15 0,0 0 0,13-22 0,2 6 0,4-1 0,4 1 0,5 6 0,0 6 0,0 4 0,-6 11 0,-1 3 0,-5 5 0,-8 3 0,-4 3 0,-4 6 0,-12-2 1,-4 2-1,0 1 0,-5-3 1,-3-1-1,8-4 0,1-5 0,15-19 1,-16 14-2,16-14 1,0 0 0,16-28 0,5 16 0,1 3-1,4 1 1,-3 6 0,0 4 0,-4 8 0,-19-10 0,17 35 0,-24-14 0,-3 5 0,-9 0 0,-4 1 0,-5 1 0,-1-4 1,-3-3-1,3-2 0,-1-3 0,1-6 0,-5-6 0,3-6 0,-3-3 0,4-4 0,3 2-1,4-5 1,7 5-1,16 7 1,-15 0 0,15 0 0,1 19-1,-1-19 1,7 29 0,-5-11 0,-2-1 0,-7 4 0,-2-6 0,-10 6 0,-5-3 0,-4-1 0,-5-3 0,-7-2-1,-3-5 1,-3-11 0,-1-11 0,0-8 0,2-1 0,5-5 0,5 1 0,7 0-1,7 4 1,21 24 0,-11-19 0,11 19-1,18 8 1,-18-8 0,27 23 0,-27-23 0,17 29 0,-14-11 0,-6-3 0,-6 3 0,9-18 0,-29 22 1,5-15-1,-2-7 0,-4-9 0,-6-8 0,-6-11 1,2-8-1,2 0 0,3-2 0,4-2 0,8 7 0,11 9 0,10 3-7,23 10-31,7 8 0,5-13-1,12-1 1</inkml:trace>
  <inkml:trace contextRef="#ctx0" brushRef="#br0" timeOffset="6614">189 1278 25,'-30'4'33,"30"-4"1,-35 12 1,11-21-17,24 9-3,-7-21-3,23 6-4,-9-25-1,20 0-2,-4-14-1,14 2 0,3-5-2,7 10 0,-5 8-1,2 16 0,-4 20 0,-9 15 0,-10 15-1,-7 17 1,-10 8-1,-10 0 0,-6-2 1,-2-7-1,-1-8 0,1-14 0,14-21 0,0 0 1,-4-21-1,18-10 0,9-9 0,5-3 0,10-1 0,5 6 0,10 5 0,1 11 0,-1 8 0,-2 12 0,-6 14 0,-5 9 0,-10 3 0,-9 8 0,-9-1 0,-5 2 0,-4-4 0,-3-3 1,-3-5-1,3-21 0,-5 17 0,5-17 0,7-22 0,3-4 0,8-6 0,5-2 0,7 3 0,-1 3 0,8 14 0,-2 11 0,-2 11 0,-4 17 1,-3 6-1,-13 9 0,-8 6 0,-7 3-1,-10-4 1,-4 3 0,-10-4 0,-2-6-1,2-10 1,0-9-1,7-12 1,19-7 1,-16-20 0,21-2 0,6-8-1,8 4 1,0 4-1,4 8 1,-2 9-1,-4 15-1,0 8 1,-8 11-1,-4 7 1,-3 4-2,-7 4 2,-4 1-1,-3-4 1,-5-3 0,-9-1-1,-4-4 1,-7-7 0,-6-2 0,-8-7 0,-7-8 0,-3-7 0,-3-6 0,1-6 0,6-9-1,11 1 1,6-1 0,14 2 0,11 1-1,15 16 1,0 0-1,0 0 1,12 23-1,-4-7 1,-4 1-1,-1 2 0,-3-19 1,-12 26-1,12-26 1,-33 12-1,7-14 1,-5-3 0,-4-7 0,-7-9 0,-3-7 0,-8-11 0,2-8 0,1-2 0,6-3 2,8 2-2,10 2 2,15 9-2,18 5 2,14 11-1,14 9 0,8 4 0,8 3-1,-3 4 0,6-1 0,-18 6 1,-8 5-1,-12 2 0,-13 6-1,-13 1 2,-6 3-2,-7-4 1,-3-3 1,-1-10-1,5-10-1,11-8-4,1-22-26,20-7-8,16-2 1,12-12-2</inkml:trace>
</inkml:ink>
</file>

<file path=ppt/ink/ink9.xml><?xml version="1.0" encoding="utf-8"?>
<inkml:ink xmlns:inkml="http://www.w3.org/2003/InkML">
  <inkml:definitions>
    <inkml:context xml:id="ctx0">
      <inkml:inkSource xml:id="inkSrc0">
        <inkml:traceFormat>
          <inkml:channel name="X" type="integer" max="26312" units="in"/>
          <inkml:channel name="Y" type="integer" max="16520" units="in"/>
          <inkml:channel name="F" type="integer" max="255" units="dev"/>
        </inkml:traceFormat>
        <inkml:channelProperties>
          <inkml:channelProperty channel="X" name="resolution" value="2540.01343" units="1/in"/>
          <inkml:channelProperty channel="Y" name="resolution" value="2540.36597" units="1/in"/>
          <inkml:channelProperty channel="F" name="resolution" value="0" units="1/dev"/>
        </inkml:channelProperties>
      </inkml:inkSource>
      <inkml:timestamp xml:id="ts0" timeString="2011-10-08T16:52:21.81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136 441 32,'-28'-28'35,"21"0"2,0-9 0,2-18-17,24 15-5,-1-20-6,24 18-2,-4-1-2,17 15-2,-8 11-1,8 13-2,-9 13 1,-1 12-1,-12 6 1,-7 6-1,-10 2 1,-4 5-1,-10-6 1,-4 1 0,-5-9 0,-2-3-1,-3-6 0,12-17 1,-19-9-1,17-13 0,7-8 0,6-10 0,10-1 0,10-4 0,6 1-1,4 8 1,7 8 0,6 8 0,-7 9 0,0 8 0,-5 8 0,-5 5 0,-8 6 0,-3 3 0,-5 2 0,-10 1 0,-6-1 0,-3 0 1,-4-6-1,2-15 1,-7 19-1,7-19 0,0 0 1,-7-26-2,19 2 1,4-7 0,8-4 0,8 4 0,5 5 0,0 5-1,-3 15 1,-4 7 0,-6 17 0,-4 9 1,-12 13-1,-4 10 0,-10 4 0,-2 3 0,-4-5 0,-1-3 0,1-8 1,2-10-2,6-9 1,4-22 1,0 0-1,0 0 0,14-30 0,-3 6-1,3-2 1,-2 3-1,-12 23 1,21-22 0,-21 22 0,17 15 0,-13 8 0,-1 4 0,-3 6 0,-3 5 1,-4-4-2,-6 1 2,-6-2-1,-3-2 0,-10 0 0,-6 0 0,-6-3 0,-9-2 0,1-5 0,-11-7-1,1-9 1,-3-8 0,8-3 0,5-4-1,10-6 1,8 2-1,13 2 1,21 12 0,0 0-1,0 0 1,0 0 0,14-1 0,-14 1 0,12 19 0,-12-19 0,-12 31 0,-5-14 0,-8 4 0,-4 1 0,-6-1 0,-2-2-1,1-7 1,-6-8 0,5-11 0,1-9 0,3-8 0,3-7 0,6-7 0,5-2 0,3 0 0,5 2 0,11 9 0,0 6 1,0 23-1,14-21 0,-14 21 0,0 0 0,14 23 1,-14-6-1,-3 4 0,-8-2 0,-3 2 0,14-21 0,-30 21 1,11-23-1,1-7 0,-2-10 1,-3-9-1,0-8 1,2-4-1,2 0 0,0-5 0,12 15-5,-7 0-32,18 1-2,10 8 0,0-1-2</inkml:trace>
  <inkml:trace contextRef="#ctx0" brushRef="#br0" timeOffset="6209">256 1212 44,'-34'-26'36,"23"11"1,11 15-9,-28-47-10,35 24-3,-9-22-5,20 9-2,-2-11-3,11 12-3,-1-1 0,0 10-1,2 12 0,-4 13-1,-5 7 0,-1 12 1,-10 6-1,-3 0 0,-3 2 0,0-1 0,-2-8 0,0-17 0,-4 15 0,4-15 0,2-20 0,5-5 0,5-11 0,9-4 0,7-1 0,12-3 0,4 8 0,6 3 0,7 17 0,-7 9 0,2 16 0,-10 8 0,-7 16 1,-12 11-1,-11 2 0,-12 6 1,-5-1-1,-2-3 1,-4-6-1,3-6 0,-5-17 0,13-19 0,0 0 0,30-24 0,-2-7 0,8-6 0,8 4 0,3 6 0,5 4 0,-2 11 0,-8 9 0,-4 16 1,-10 8-1,-9 9 1,-9 8-1,-8 3 1,-7 4-1,-6 4 0,-4-2 0,-3-2-1,-4-4 1,1-5 0,0-12 0,7-6-1,-2-11 1,16-7 1,-19-11-1,14-4 0,5-1 0,5-5 1,2 6-2,-7 15 2,23-14-1,-23 14-2,19 27 2,-17 5-1,-4 4 1,-9 6-1,1 3 1,-9 0-1,-2-6 1,-4-4-1,-3-7 2,0-7-1,-9-6 0,1-1 0,-9-10 0,-2-1 0,-11-3 0,-3-5 0,9-2-1,1-3 1,9 4 0,7 3-1,9 3 1,26 0-1,0 0 1,-4 19 0,4-19-1,32 17 1,-18-12 0,-14-5 0,22 4 1,-22-4-1,0 0 0,-17-2 0,-6-3 0,-5-5 0,-5-9 0,-12-9 0,-4-10 0,2-11 2,2-1-2,3-4 1,5 2-1,7 4 2,9 10-3,14 7 3,14 14-3,-7 17 0,39-17-2,-18 6-3,19 13-24,-8-7-10,-6-7 1,4-2-1</inkml:trace>
</inkml:ink>
</file>

<file path=ppt/ink/ink10.xml><?xml version="1.0" encoding="utf-8"?>
<inkml:ink xmlns:inkml="http://www.w3.org/2003/InkML">
  <inkml:definitions>
    <inkml:context xml:id="ctx0">
      <inkml:inkSource xml:id="inkSrc0">
        <inkml:traceFormat>
          <inkml:channel name="X" type="integer" max="26312" units="in"/>
          <inkml:channel name="Y" type="integer" max="16520" units="in"/>
          <inkml:channel name="F" type="integer" max="255" units="dev"/>
        </inkml:traceFormat>
        <inkml:channelProperties>
          <inkml:channelProperty channel="X" name="resolution" value="2540.01343" units="1/in"/>
          <inkml:channelProperty channel="Y" name="resolution" value="2540.36597" units="1/in"/>
          <inkml:channelProperty channel="F" name="resolution" value="0" units="1/dev"/>
        </inkml:channelProperties>
      </inkml:inkSource>
      <inkml:timestamp xml:id="ts0" timeString="2011-10-08T16:52:29.569"/>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100 627 32,'0'0'35,"-16"-36"2,11 8 0,12 2-20,-18-31-4,20 15-2,-11-15-4,13 15 0,-4-3-3,12 12-1,-4 9-1,8 14 0,-2 11-2,2 13 1,-4 9-1,-4 6 0,-2 4 0,-5-2 0,-6-5 0,1-5 0,-3-21 1,-3 16-1,3-16 0,3-26 0,1-5 0,8-11 0,5-12 1,4 1-2,6-2 1,1 6 0,9 15 0,-1 9 0,6 19-1,0 12 1,-7 17 0,0 5 1,-5 5-1,-4 3 0,-5-4 1,-5-2-1,-4-6 1,-5-7-1,-7-17 1,15 0-1,-4-19 1,8-10-1,2-11 0,12-4 0,0-1 1,10 3-1,-1 7 0,-1 16 1,-1 18-1,-1 14 1,-5 15-1,-11 10 1,-4 11-1,-3 4 1,-9-1-1,-7-2 1,-7-5-1,0-3 0,-7-8 0,0-13 1,14-21-1,-23 17 0,23-17 0,0 0 0,-14-29 0,21 8 0,0 4 0,-7 17-1,27-23 1,-12 25 0,3 10 0,-4 9 0,-6 10 0,-3 9-1,-6 7 1,-13 6 0,-14 6 0,-7-2-1,-8 2 1,-13-5-1,-2-5 0,0-9 1,-6-8 0,8-15-1,7-15 0,6-9 1,10-12-1,8-7 0,10-1 1,3 2-1,7 6 0,5 19 1,0 0-1,12 21 1,-12 9 0,0 5 0,-1 5 0,-5-2 0,-1-5 0,-5-7 0,-2-7 0,-1-14 1,-1-6-1,-3-11 0,-5-6 0,-4-4 0,-9-10 0,-12-2 1,-3-3-1,-10 5 0,3 5 0,3 6 0,1 7 0,15 5 0,8 2 0,32 7-1,0 0 1,0 0 1,35-8-1,-5-10-1,5 1-3,-8-19-4,8 1-32,-12 0 1,-11-5-1,-8 4 0</inkml:trace>
</inkml:ink>
</file>

<file path=ppt/ink/ink11.xml><?xml version="1.0" encoding="utf-8"?>
<inkml:ink xmlns:inkml="http://www.w3.org/2003/InkML">
  <inkml:definitions>
    <inkml:context xml:id="ctx0">
      <inkml:inkSource xml:id="inkSrc0">
        <inkml:traceFormat>
          <inkml:channel name="X" type="integer" max="26312" units="in"/>
          <inkml:channel name="Y" type="integer" max="16520" units="in"/>
          <inkml:channel name="F" type="integer" max="255" units="dev"/>
        </inkml:traceFormat>
        <inkml:channelProperties>
          <inkml:channelProperty channel="X" name="resolution" value="2540.01343" units="1/in"/>
          <inkml:channelProperty channel="Y" name="resolution" value="2540.36597" units="1/in"/>
          <inkml:channelProperty channel="F" name="resolution" value="0" units="1/dev"/>
        </inkml:channelProperties>
      </inkml:inkSource>
      <inkml:timestamp xml:id="ts0" timeString="2011-10-08T16:56:45.76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6852 55 22,'8'-16'26,"-8"16"1,0 0-3,0 0-3,0 0-4,5-24-3,-5 24-3,0 0-1,0 0-3,7-16-1,-7 16-1,0 0-1,0 0-1,0 0-1,0 0 1,0 0-1,0 0 0,0 0 0,7 16 0,-7-16 0,-7 25 0,0-9-1,0 11 1,-6 2-1,-3 6 1,-5 5-1,-3 6 0,-7 4 0,-1 5 1,-6 6-1,-1-2-2,-14 10 2,-3 10-1,-10 3 1,-6 9-1,-12 5 0,-10 15 0,-5 3 0,-7 3 1,-5 1-1,0 1 0,0-4 1,-2-7-1,1-5 0,1-9 0,-3-4 0,-2-5 0,2-5 1,-2-3-2,4 2 1,-5-4 0,7 3 0,-7-5 0,-2 7-1,-1-5 2,-8 15 0,-9-1-2,-7 6 2,-4 8-1,-7 4 0,-9 8 0,-2 2 1,-1 1-2,3-9 0,2-6 2,12-8-1,9-17 1,5-10 0,11-16-1,7-11 1,2 4-1,-1-4 1,0 11-1,0 12 0,-11 14 0,-6 22 0,-5 14 0,-3 8 0,-4 1 0,2-2 0,5-5 0,5-16 0,18-18 0,13-22 0,20-15 0,18-18 0,20-11 1,18-13-1,27-3 0,0 0 0,0 0-1,0 0 1,18-7-1,-18 7-1,23 0-14,-5 7-22,-18-7 0,27-19-1,-11-22-1</inkml:trace>
</inkml:ink>
</file>

<file path=ppt/ink/ink12.xml><?xml version="1.0" encoding="utf-8"?>
<inkml:ink xmlns:inkml="http://www.w3.org/2003/InkML">
  <inkml:definitions>
    <inkml:context xml:id="ctx0">
      <inkml:inkSource xml:id="inkSrc0">
        <inkml:traceFormat>
          <inkml:channel name="X" type="integer" max="26312" units="in"/>
          <inkml:channel name="Y" type="integer" max="16520" units="in"/>
          <inkml:channel name="F" type="integer" max="255" units="dev"/>
        </inkml:traceFormat>
        <inkml:channelProperties>
          <inkml:channelProperty channel="X" name="resolution" value="2540.01343" units="1/in"/>
          <inkml:channelProperty channel="Y" name="resolution" value="2540.36597" units="1/in"/>
          <inkml:channelProperty channel="F" name="resolution" value="0" units="1/dev"/>
        </inkml:channelProperties>
      </inkml:inkSource>
      <inkml:timestamp xml:id="ts0" timeString="2011-10-08T16:56:47.29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0 344 36,'0'0'30,"0"0"3,0 0-1,0 0-14,0 0-3,0 0 0,0 0-4,0 0-3,7-23-1,-7 23-2,17-21-1,-17 21-1,28-32-1,-3 12 0,0-4 0,6-1-1,1-4 1,4-1-1,-4 0 0,2-1-1,-2 6 1,-6 5-1,-5 4 1,-1 6-1,-20 10 1,23-8-1,-23 8 1,11 27 0,-13-2-1,0 9 1,-3 8-1,1 9 1,1 6-1,-3 2 0,4 4 0,1-4 0,2-4 0,1-8 1,2-4-1,-2-13 0,5-10-2,-7-20-3,23 5-32,-18-25-2,8-3 1,-9-16-2</inkml:trace>
</inkml:ink>
</file>

<file path=ppt/ink/ink13.xml><?xml version="1.0" encoding="utf-8"?>
<inkml:ink xmlns:inkml="http://www.w3.org/2003/InkML">
  <inkml:definitions>
    <inkml:context xml:id="ctx0">
      <inkml:inkSource xml:id="inkSrc0">
        <inkml:traceFormat>
          <inkml:channel name="X" type="integer" max="26312" units="in"/>
          <inkml:channel name="Y" type="integer" max="16520" units="in"/>
          <inkml:channel name="F" type="integer" max="255" units="dev"/>
        </inkml:traceFormat>
        <inkml:channelProperties>
          <inkml:channelProperty channel="X" name="resolution" value="2540.01343" units="1/in"/>
          <inkml:channelProperty channel="Y" name="resolution" value="2540.36597" units="1/in"/>
          <inkml:channelProperty channel="F" name="resolution" value="0" units="1/dev"/>
        </inkml:channelProperties>
      </inkml:inkSource>
      <inkml:timestamp xml:id="ts0" timeString="2011-10-08T17:02:45.879"/>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343 0 36,'0'0'36,"0"0"2,0 0 0,0 0-15,0 0-7,0 0-3,0 0-4,0 0-2,0 0-2,-13 21 0,13-21-2,-7 16 0,7-16 1,-11 32-2,4-8 1,5 13-1,-9 6 0,10 18-1,-3 8 2,4 8-3,2 8 1,1 12-1,2-7 0,3-1 1,-2-6-1,-1-6 1,-2-9 0,1-6-1,-2-5 2,-2-9-2,-2 0 0,-2-3 0,3-4 0,-3 0 0,2-4 0,-1-4 0,3-5 0,-2-5 0,2-7 0,0-16 0,-4 15 0,4-15 0,0 0 0,-11-31 0,11 5 0,-3-12-4,11 10-14,-18-21-26,15-2-1,-6-8 0,5-2 1</inkml:trace>
  <inkml:trace contextRef="#ctx0" brushRef="#br0" timeOffset="780">15 419 33,'0'0'36,"0"0"2,0 0 0,0 0-12,-16-23-10,16 23-4,0 0-4,25-4-2,-25 4-1,20-18-1,-20 18 0,37-28-1,-15 6-1,2-3 1,1 1-1,4-1 0,-5 0-1,-3 0 1,-5 3 0,-1 6-1,-15 16 0,18-19 1,-18 19-2,0 0 1,0 0 0,0 0-1,0 0 0,0 0 0,0 0 0,0 0 0,12-15 0,-12 15 0,0 0-1,0 0 1,0 0 0,0 0 0,0 0 0,2-18 0,-2 18-1,0 0 1,-2-17-1,2 17 1,4-22-1,-4 22 1,6-23-1,-6 23 1,8-21 0,-8 21 0,0 0 0,7-16 0,-7 16 1,0 0-1,0 0 0,0 0 1,0 0-1,18 16 0,-18-16 1,0 0-1,16 16 0,-16-16 0,0 0 0,16 19 0,-16-19 1,15 24-1,-3-7 2,-1 5-3,4 3 2,0 5 0,-1 4 0,2 3-1,-2-1 0,1 5 0,0-2 0,-1-3 0,2-6 1,-2-5-1,0-3 0,-14-22-2,27 17-3,-32-33-17,5 16-22,12-19-1,-12 19 0,-10-34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2971800" cy="465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latin typeface="Arial" pitchFamily="34" charset="0"/>
                <a:ea typeface="ＭＳ Ｐゴシック" pitchFamily="34" charset="-128"/>
                <a:cs typeface="+mn-cs"/>
              </a:defRPr>
            </a:lvl1pPr>
          </a:lstStyle>
          <a:p>
            <a:pPr>
              <a:defRPr/>
            </a:pPr>
            <a:endParaRPr lang="en-US"/>
          </a:p>
        </p:txBody>
      </p:sp>
      <p:sp>
        <p:nvSpPr>
          <p:cNvPr id="10243" name="Rectangle 3"/>
          <p:cNvSpPr>
            <a:spLocks noGrp="1" noChangeArrowheads="1"/>
          </p:cNvSpPr>
          <p:nvPr>
            <p:ph type="dt" idx="1"/>
          </p:nvPr>
        </p:nvSpPr>
        <p:spPr bwMode="auto">
          <a:xfrm>
            <a:off x="3886200" y="0"/>
            <a:ext cx="2971800" cy="465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latin typeface="Arial" pitchFamily="34" charset="0"/>
                <a:ea typeface="ＭＳ Ｐゴシック" pitchFamily="34" charset="-128"/>
                <a:cs typeface="+mn-cs"/>
              </a:defRPr>
            </a:lvl1pPr>
          </a:lstStyle>
          <a:p>
            <a:pPr>
              <a:defRPr/>
            </a:pPr>
            <a:endParaRPr lang="en-US"/>
          </a:p>
        </p:txBody>
      </p:sp>
      <p:sp>
        <p:nvSpPr>
          <p:cNvPr id="13316" name="Rectangle 4"/>
          <p:cNvSpPr>
            <a:spLocks noGrp="1" noRot="1" noChangeAspect="1" noChangeArrowheads="1" noTextEdit="1"/>
          </p:cNvSpPr>
          <p:nvPr>
            <p:ph type="sldImg" idx="2"/>
          </p:nvPr>
        </p:nvSpPr>
        <p:spPr bwMode="auto">
          <a:xfrm>
            <a:off x="11049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0245" name="Rectangle 5"/>
          <p:cNvSpPr>
            <a:spLocks noGrp="1" noChangeArrowheads="1"/>
          </p:cNvSpPr>
          <p:nvPr>
            <p:ph type="body" sz="quarter" idx="3"/>
          </p:nvPr>
        </p:nvSpPr>
        <p:spPr bwMode="auto">
          <a:xfrm>
            <a:off x="914400" y="4416425"/>
            <a:ext cx="5029200" cy="41830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246" name="Rectangle 6"/>
          <p:cNvSpPr>
            <a:spLocks noGrp="1" noChangeArrowheads="1"/>
          </p:cNvSpPr>
          <p:nvPr>
            <p:ph type="ftr" sz="quarter" idx="4"/>
          </p:nvPr>
        </p:nvSpPr>
        <p:spPr bwMode="auto">
          <a:xfrm>
            <a:off x="0" y="8831263"/>
            <a:ext cx="2971800" cy="46513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a:latin typeface="Arial" pitchFamily="34" charset="0"/>
                <a:ea typeface="ＭＳ Ｐゴシック" pitchFamily="34" charset="-128"/>
                <a:cs typeface="+mn-cs"/>
              </a:defRPr>
            </a:lvl1pPr>
          </a:lstStyle>
          <a:p>
            <a:pPr>
              <a:defRPr/>
            </a:pPr>
            <a:endParaRPr lang="en-US"/>
          </a:p>
        </p:txBody>
      </p:sp>
      <p:sp>
        <p:nvSpPr>
          <p:cNvPr id="10247" name="Rectangle 7"/>
          <p:cNvSpPr>
            <a:spLocks noGrp="1" noChangeArrowheads="1"/>
          </p:cNvSpPr>
          <p:nvPr>
            <p:ph type="sldNum" sz="quarter" idx="5"/>
          </p:nvPr>
        </p:nvSpPr>
        <p:spPr bwMode="auto">
          <a:xfrm>
            <a:off x="3886200" y="8831263"/>
            <a:ext cx="2971800" cy="46513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pPr>
              <a:defRPr/>
            </a:pPr>
            <a:fld id="{7E398C16-C7E8-E644-AC42-220C365F7559}"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itchFamily="-106" charset="-52"/>
        <a:ea typeface="ＭＳ Ｐゴシック" charset="0"/>
        <a:cs typeface="MS PGothic" charset="0"/>
      </a:defRPr>
    </a:lvl1pPr>
    <a:lvl2pPr marL="457200" algn="l" rtl="0" eaLnBrk="0" fontAlgn="base" hangingPunct="0">
      <a:spcBef>
        <a:spcPct val="30000"/>
      </a:spcBef>
      <a:spcAft>
        <a:spcPct val="0"/>
      </a:spcAft>
      <a:defRPr sz="1200" kern="1200">
        <a:solidFill>
          <a:schemeClr val="tx1"/>
        </a:solidFill>
        <a:latin typeface="Arial" pitchFamily="-106" charset="-52"/>
        <a:ea typeface="MS PGothic" pitchFamily="34" charset="-128"/>
        <a:cs typeface="MS PGothic" charset="0"/>
      </a:defRPr>
    </a:lvl2pPr>
    <a:lvl3pPr marL="914400" algn="l" rtl="0" eaLnBrk="0" fontAlgn="base" hangingPunct="0">
      <a:spcBef>
        <a:spcPct val="30000"/>
      </a:spcBef>
      <a:spcAft>
        <a:spcPct val="0"/>
      </a:spcAft>
      <a:defRPr sz="1200" kern="1200">
        <a:solidFill>
          <a:schemeClr val="tx1"/>
        </a:solidFill>
        <a:latin typeface="Arial" pitchFamily="-106" charset="-52"/>
        <a:ea typeface="MS PGothic" pitchFamily="34" charset="-128"/>
        <a:cs typeface="MS PGothic" charset="0"/>
      </a:defRPr>
    </a:lvl3pPr>
    <a:lvl4pPr marL="1371600" algn="l" rtl="0" eaLnBrk="0" fontAlgn="base" hangingPunct="0">
      <a:spcBef>
        <a:spcPct val="30000"/>
      </a:spcBef>
      <a:spcAft>
        <a:spcPct val="0"/>
      </a:spcAft>
      <a:defRPr sz="1200" kern="1200">
        <a:solidFill>
          <a:schemeClr val="tx1"/>
        </a:solidFill>
        <a:latin typeface="Arial" pitchFamily="-106" charset="-52"/>
        <a:ea typeface="MS PGothic" pitchFamily="34" charset="-128"/>
        <a:cs typeface="MS PGothic" charset="0"/>
      </a:defRPr>
    </a:lvl4pPr>
    <a:lvl5pPr marL="1828800" algn="l" rtl="0" eaLnBrk="0" fontAlgn="base" hangingPunct="0">
      <a:spcBef>
        <a:spcPct val="30000"/>
      </a:spcBef>
      <a:spcAft>
        <a:spcPct val="0"/>
      </a:spcAft>
      <a:defRPr sz="1200" kern="1200">
        <a:solidFill>
          <a:schemeClr val="tx1"/>
        </a:solidFill>
        <a:latin typeface="Arial" pitchFamily="-106" charset="-52"/>
        <a:ea typeface="MS PGothic" pitchFamily="34" charset="-128"/>
        <a:cs typeface="MS PGothic"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a:extLst>
              <a:ext uri="{FF2B5EF4-FFF2-40B4-BE49-F238E27FC236}">
                <a16:creationId xmlns:a16="http://schemas.microsoft.com/office/drawing/2014/main" id="{09C5A401-18AA-530E-C4DD-3F853F4D4104}"/>
              </a:ext>
            </a:extLst>
          </p:cNvPr>
          <p:cNvSpPr>
            <a:spLocks noGrp="1" noRot="1" noChangeAspect="1" noTextEdit="1"/>
          </p:cNvSpPr>
          <p:nvPr>
            <p:ph type="sldImg"/>
          </p:nvPr>
        </p:nvSpPr>
        <p:spPr>
          <a:ln/>
        </p:spPr>
      </p:sp>
      <p:sp>
        <p:nvSpPr>
          <p:cNvPr id="83971" name="Notes Placeholder 2">
            <a:extLst>
              <a:ext uri="{FF2B5EF4-FFF2-40B4-BE49-F238E27FC236}">
                <a16:creationId xmlns:a16="http://schemas.microsoft.com/office/drawing/2014/main" id="{E2E6A3FF-F6D0-5125-D474-3176931D1E2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The background of this slide is a die photo of the Intel 486 – the first pipelined x86 microprocessor.</a:t>
            </a:r>
          </a:p>
        </p:txBody>
      </p:sp>
      <p:sp>
        <p:nvSpPr>
          <p:cNvPr id="83972" name="Slide Number Placeholder 3">
            <a:extLst>
              <a:ext uri="{FF2B5EF4-FFF2-40B4-BE49-F238E27FC236}">
                <a16:creationId xmlns:a16="http://schemas.microsoft.com/office/drawing/2014/main" id="{09B00F87-34D1-B700-145B-21434B91FC2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49501095-E0CE-D24D-88C9-FCD2D5F7D766}" type="slidenum">
              <a:rPr lang="en-US" altLang="en-US" sz="1200"/>
              <a:pPr/>
              <a:t>1</a:t>
            </a:fld>
            <a:endParaRPr lang="en-US" alt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3F38D667-E8DB-3746-9B64-5FA0FF881453}" type="slidenum">
              <a:rPr lang="en-US" altLang="en-US" sz="1200"/>
              <a:pPr/>
              <a:t>3</a:t>
            </a:fld>
            <a:endParaRPr lang="en-US" altLang="en-US" sz="1200"/>
          </a:p>
        </p:txBody>
      </p:sp>
      <p:sp>
        <p:nvSpPr>
          <p:cNvPr id="18434" name="Rectangle 2"/>
          <p:cNvSpPr>
            <a:spLocks noGrp="1" noRot="1" noChangeAspect="1" noChangeArrowheads="1" noTextEdit="1"/>
          </p:cNvSpPr>
          <p:nvPr>
            <p:ph type="sldImg"/>
          </p:nvPr>
        </p:nvSpPr>
        <p:spPr>
          <a:ln/>
        </p:spPr>
      </p:sp>
      <p:sp>
        <p:nvSpPr>
          <p:cNvPr id="184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latin typeface="Arial" charset="0"/>
              <a:ea typeface="ＭＳ Ｐゴシック" charset="-128"/>
              <a:cs typeface="MS PGothic"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8A78F635-B3B1-4849-9F19-78D691B5775C}" type="slidenum">
              <a:rPr lang="en-US" altLang="en-US" sz="1200"/>
              <a:pPr/>
              <a:t>5</a:t>
            </a:fld>
            <a:endParaRPr lang="en-US" altLang="en-US" sz="1200"/>
          </a:p>
        </p:txBody>
      </p:sp>
      <p:sp>
        <p:nvSpPr>
          <p:cNvPr id="26626" name="Rectangle 2"/>
          <p:cNvSpPr>
            <a:spLocks noGrp="1" noRot="1" noChangeAspect="1" noChangeArrowheads="1" noTextEdit="1"/>
          </p:cNvSpPr>
          <p:nvPr>
            <p:ph type="sldImg"/>
          </p:nvPr>
        </p:nvSpPr>
        <p:spPr>
          <a:ln/>
        </p:spPr>
      </p:sp>
      <p:sp>
        <p:nvSpPr>
          <p:cNvPr id="266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latin typeface="Arial" charset="0"/>
              <a:ea typeface="ＭＳ Ｐゴシック" charset="-128"/>
              <a:cs typeface="MS PGothic"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87F3DCAC-B704-004D-B439-864625154160}" type="slidenum">
              <a:rPr lang="en-US" altLang="en-US" sz="1200"/>
              <a:pPr/>
              <a:t>6</a:t>
            </a:fld>
            <a:endParaRPr lang="en-US" altLang="en-US" sz="1200"/>
          </a:p>
        </p:txBody>
      </p:sp>
      <p:sp>
        <p:nvSpPr>
          <p:cNvPr id="28674" name="Rectangle 2"/>
          <p:cNvSpPr>
            <a:spLocks noGrp="1" noRot="1" noChangeAspect="1" noChangeArrowheads="1" noTextEdit="1"/>
          </p:cNvSpPr>
          <p:nvPr>
            <p:ph type="sldImg"/>
          </p:nvPr>
        </p:nvSpPr>
        <p:spPr>
          <a:ln/>
        </p:spPr>
      </p:sp>
      <p:sp>
        <p:nvSpPr>
          <p:cNvPr id="286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latin typeface="Arial" charset="0"/>
              <a:ea typeface="ＭＳ Ｐゴシック" charset="-128"/>
              <a:cs typeface="MS PGothic"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73EDCEC2-3D0E-2744-B475-BDEABC404325}" type="slidenum">
              <a:rPr lang="en-US" altLang="en-US" sz="1200"/>
              <a:pPr/>
              <a:t>8</a:t>
            </a:fld>
            <a:endParaRPr lang="en-US" altLang="en-US" sz="1200"/>
          </a:p>
        </p:txBody>
      </p:sp>
      <p:sp>
        <p:nvSpPr>
          <p:cNvPr id="51202" name="Rectangle 2"/>
          <p:cNvSpPr>
            <a:spLocks noGrp="1" noRot="1" noChangeAspect="1" noChangeArrowheads="1" noTextEdit="1"/>
          </p:cNvSpPr>
          <p:nvPr>
            <p:ph type="sldImg"/>
          </p:nvPr>
        </p:nvSpPr>
        <p:spPr>
          <a:solidFill>
            <a:srgbClr val="FFFFFF"/>
          </a:solidFill>
          <a:ln/>
        </p:spPr>
      </p:sp>
      <p:sp>
        <p:nvSpPr>
          <p:cNvPr id="51203"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charset="0"/>
              <a:ea typeface="ＭＳ Ｐゴシック" charset="-128"/>
              <a:cs typeface="MS PGothic"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E7D2488E-773D-4445-A91E-21E47C83B53D}" type="slidenum">
              <a:rPr lang="en-US" altLang="en-US" sz="1200"/>
              <a:pPr/>
              <a:t>9</a:t>
            </a:fld>
            <a:endParaRPr lang="en-US" altLang="en-US" sz="1200"/>
          </a:p>
        </p:txBody>
      </p:sp>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latin typeface="Arial" charset="0"/>
              <a:ea typeface="ＭＳ Ｐゴシック" charset="-128"/>
              <a:cs typeface="MS PGothic"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9CAB7FEA-FDEB-1C4E-8D6D-E339E90F4A2E}" type="slidenum">
              <a:rPr lang="en-US" altLang="en-US" sz="1200"/>
              <a:pPr/>
              <a:t>10</a:t>
            </a:fld>
            <a:endParaRPr lang="en-US" altLang="en-US" sz="1200"/>
          </a:p>
        </p:txBody>
      </p:sp>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latin typeface="Arial" charset="0"/>
              <a:ea typeface="ＭＳ Ｐゴシック" charset="-128"/>
              <a:cs typeface="MS PGothic"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6126B0E0-F520-3F47-BE9A-BCB2A36454FF}" type="slidenum">
              <a:rPr lang="en-US" altLang="en-US" sz="1200"/>
              <a:pPr/>
              <a:t>13</a:t>
            </a:fld>
            <a:endParaRPr lang="en-US" altLang="en-US" sz="1200"/>
          </a:p>
        </p:txBody>
      </p:sp>
      <p:sp>
        <p:nvSpPr>
          <p:cNvPr id="67586" name="Rectangle 2"/>
          <p:cNvSpPr>
            <a:spLocks noGrp="1" noRot="1" noChangeAspect="1" noChangeArrowheads="1" noTextEdit="1"/>
          </p:cNvSpPr>
          <p:nvPr>
            <p:ph type="sldImg"/>
          </p:nvPr>
        </p:nvSpPr>
        <p:spPr>
          <a:solidFill>
            <a:srgbClr val="FFFFFF"/>
          </a:solidFill>
          <a:ln/>
        </p:spPr>
      </p:sp>
      <p:sp>
        <p:nvSpPr>
          <p:cNvPr id="67587"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charset="0"/>
              <a:ea typeface="ＭＳ Ｐゴシック" charset="-128"/>
              <a:cs typeface="MS PGothic"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9417C3E6-94D0-FF4D-9EB4-547A9811E076}" type="slidenum">
              <a:rPr lang="en-US" altLang="en-US" sz="1200"/>
              <a:pPr/>
              <a:t>14</a:t>
            </a:fld>
            <a:endParaRPr lang="en-US" altLang="en-US" sz="1200"/>
          </a:p>
        </p:txBody>
      </p:sp>
      <p:sp>
        <p:nvSpPr>
          <p:cNvPr id="69634" name="Rectangle 2"/>
          <p:cNvSpPr>
            <a:spLocks noGrp="1" noRot="1" noChangeAspect="1" noChangeArrowheads="1" noTextEdit="1"/>
          </p:cNvSpPr>
          <p:nvPr>
            <p:ph type="sldImg"/>
          </p:nvPr>
        </p:nvSpPr>
        <p:spPr>
          <a:solidFill>
            <a:srgbClr val="FFFFFF"/>
          </a:solidFill>
          <a:ln/>
        </p:spPr>
      </p:sp>
      <p:sp>
        <p:nvSpPr>
          <p:cNvPr id="69635"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charset="0"/>
              <a:ea typeface="ＭＳ Ｐゴシック" charset="-128"/>
              <a:cs typeface="MS PGothic"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706D3703-C1B6-E447-8F3D-78811182F135}" type="slidenum">
              <a:rPr lang="en-US" altLang="en-US" sz="1200"/>
              <a:pPr/>
              <a:t>15</a:t>
            </a:fld>
            <a:endParaRPr lang="en-US" altLang="en-US" sz="1200"/>
          </a:p>
        </p:txBody>
      </p:sp>
      <p:sp>
        <p:nvSpPr>
          <p:cNvPr id="71682" name="Rectangle 2"/>
          <p:cNvSpPr>
            <a:spLocks noGrp="1" noRot="1" noChangeAspect="1" noChangeArrowheads="1" noTextEdit="1"/>
          </p:cNvSpPr>
          <p:nvPr>
            <p:ph type="sldImg"/>
          </p:nvPr>
        </p:nvSpPr>
        <p:spPr>
          <a:solidFill>
            <a:srgbClr val="FFFFFF"/>
          </a:solidFill>
          <a:ln/>
        </p:spPr>
      </p:sp>
      <p:sp>
        <p:nvSpPr>
          <p:cNvPr id="71683"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charset="0"/>
              <a:ea typeface="ＭＳ Ｐゴシック" charset="-128"/>
              <a:cs typeface="MS PGothic"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08D1D0A3-A775-B742-91B2-0C5EC9ECFD50}" type="slidenum">
              <a:rPr lang="en-US" altLang="en-US" sz="1200"/>
              <a:pPr/>
              <a:t>16</a:t>
            </a:fld>
            <a:endParaRPr lang="en-US" altLang="en-US" sz="1200"/>
          </a:p>
        </p:txBody>
      </p:sp>
      <p:sp>
        <p:nvSpPr>
          <p:cNvPr id="73730" name="Rectangle 2"/>
          <p:cNvSpPr>
            <a:spLocks noGrp="1" noRot="1" noChangeAspect="1" noChangeArrowheads="1" noTextEdit="1"/>
          </p:cNvSpPr>
          <p:nvPr>
            <p:ph type="sldImg"/>
          </p:nvPr>
        </p:nvSpPr>
        <p:spPr>
          <a:solidFill>
            <a:srgbClr val="FFFFFF"/>
          </a:solidFill>
          <a:ln/>
        </p:spPr>
      </p:sp>
      <p:sp>
        <p:nvSpPr>
          <p:cNvPr id="73731"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charset="0"/>
              <a:ea typeface="ＭＳ Ｐゴシック" charset="-128"/>
              <a:cs typeface="MS PGothic"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6F3A1374-A5E1-534C-BF4A-A31F1029AF1F}" type="slidenum">
              <a:rPr lang="en-US" altLang="en-US" sz="1200"/>
              <a:pPr/>
              <a:t>17</a:t>
            </a:fld>
            <a:endParaRPr lang="en-US" altLang="en-US" sz="1200"/>
          </a:p>
        </p:txBody>
      </p:sp>
      <p:sp>
        <p:nvSpPr>
          <p:cNvPr id="75778" name="Rectangle 2"/>
          <p:cNvSpPr>
            <a:spLocks noGrp="1" noRot="1" noChangeAspect="1" noChangeArrowheads="1" noTextEdit="1"/>
          </p:cNvSpPr>
          <p:nvPr>
            <p:ph type="sldImg"/>
          </p:nvPr>
        </p:nvSpPr>
        <p:spPr>
          <a:solidFill>
            <a:srgbClr val="FFFFFF"/>
          </a:solidFill>
          <a:ln/>
        </p:spPr>
      </p:sp>
      <p:sp>
        <p:nvSpPr>
          <p:cNvPr id="75779"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charset="0"/>
              <a:ea typeface="ＭＳ Ｐゴシック" charset="-128"/>
              <a:cs typeface="MS PGothic"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9B3DAEDC-2F45-7F4C-9F59-DBEA228C1503}" type="slidenum">
              <a:rPr lang="en-US" altLang="en-US" sz="1200"/>
              <a:pPr/>
              <a:t>18</a:t>
            </a:fld>
            <a:endParaRPr lang="en-US" altLang="en-US" sz="1200"/>
          </a:p>
        </p:txBody>
      </p:sp>
      <p:sp>
        <p:nvSpPr>
          <p:cNvPr id="77826" name="Rectangle 2"/>
          <p:cNvSpPr>
            <a:spLocks noGrp="1" noRot="1" noChangeAspect="1" noChangeArrowheads="1" noTextEdit="1"/>
          </p:cNvSpPr>
          <p:nvPr>
            <p:ph type="sldImg"/>
          </p:nvPr>
        </p:nvSpPr>
        <p:spPr>
          <a:solidFill>
            <a:srgbClr val="FFFFFF"/>
          </a:solidFill>
          <a:ln/>
        </p:spPr>
      </p:sp>
      <p:sp>
        <p:nvSpPr>
          <p:cNvPr id="77827"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charset="0"/>
              <a:ea typeface="ＭＳ Ｐゴシック" charset="-128"/>
              <a:cs typeface="MS PGothic"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F1494E91-4BD1-ED4C-8DDE-38DF034FA3AB}" type="slidenum">
              <a:rPr lang="en-US" altLang="en-US" sz="1200"/>
              <a:pPr/>
              <a:t>19</a:t>
            </a:fld>
            <a:endParaRPr lang="en-US" altLang="en-US" sz="1200"/>
          </a:p>
        </p:txBody>
      </p:sp>
      <p:sp>
        <p:nvSpPr>
          <p:cNvPr id="79874" name="Rectangle 2"/>
          <p:cNvSpPr>
            <a:spLocks noGrp="1" noRot="1" noChangeAspect="1" noChangeArrowheads="1" noTextEdit="1"/>
          </p:cNvSpPr>
          <p:nvPr>
            <p:ph type="sldImg"/>
          </p:nvPr>
        </p:nvSpPr>
        <p:spPr>
          <a:solidFill>
            <a:srgbClr val="FFFFFF"/>
          </a:solidFill>
          <a:ln/>
        </p:spPr>
      </p:sp>
      <p:sp>
        <p:nvSpPr>
          <p:cNvPr id="79875"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charset="0"/>
              <a:ea typeface="ＭＳ Ｐゴシック" charset="-128"/>
              <a:cs typeface="MS PGothic"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6F419B66-14DA-A645-BD5E-3C743560E03D}" type="slidenum">
              <a:rPr lang="en-US" altLang="en-US" sz="1200"/>
              <a:pPr/>
              <a:t>21</a:t>
            </a:fld>
            <a:endParaRPr lang="en-US" altLang="en-US" sz="1200"/>
          </a:p>
        </p:txBody>
      </p:sp>
      <p:sp>
        <p:nvSpPr>
          <p:cNvPr id="83970" name="Rectangle 2"/>
          <p:cNvSpPr>
            <a:spLocks noGrp="1" noRot="1" noChangeAspect="1" noChangeArrowheads="1" noTextEdit="1"/>
          </p:cNvSpPr>
          <p:nvPr>
            <p:ph type="sldImg"/>
          </p:nvPr>
        </p:nvSpPr>
        <p:spPr>
          <a:ln/>
        </p:spPr>
      </p:sp>
      <p:sp>
        <p:nvSpPr>
          <p:cNvPr id="839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latin typeface="Arial" charset="0"/>
              <a:ea typeface="ＭＳ Ｐゴシック" charset="-128"/>
              <a:cs typeface="MS PGothic"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CE746713-18D4-1549-9B0F-928298477F54}" type="slidenum">
              <a:rPr lang="en-US" altLang="en-US" sz="1200"/>
              <a:pPr/>
              <a:t>22</a:t>
            </a:fld>
            <a:endParaRPr lang="en-US" altLang="en-US" sz="1200"/>
          </a:p>
        </p:txBody>
      </p:sp>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latin typeface="Arial" charset="0"/>
              <a:ea typeface="ＭＳ Ｐゴシック" charset="-128"/>
              <a:cs typeface="MS PGothic"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9950007F-5A5A-BD41-B1A1-5E327A6EC905}" type="slidenum">
              <a:rPr lang="en-US" altLang="en-US" sz="1200"/>
              <a:pPr/>
              <a:t>23</a:t>
            </a:fld>
            <a:endParaRPr lang="en-US" altLang="en-US" sz="1200"/>
          </a:p>
        </p:txBody>
      </p:sp>
      <p:sp>
        <p:nvSpPr>
          <p:cNvPr id="88066" name="Rectangle 2"/>
          <p:cNvSpPr>
            <a:spLocks noGrp="1" noRot="1" noChangeAspect="1" noChangeArrowheads="1" noTextEdit="1"/>
          </p:cNvSpPr>
          <p:nvPr>
            <p:ph type="sldImg"/>
          </p:nvPr>
        </p:nvSpPr>
        <p:spPr>
          <a:solidFill>
            <a:srgbClr val="FFFFFF"/>
          </a:solidFill>
          <a:ln/>
        </p:spPr>
      </p:sp>
      <p:sp>
        <p:nvSpPr>
          <p:cNvPr id="88067"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charset="0"/>
              <a:ea typeface="ＭＳ Ｐゴシック" charset="-128"/>
              <a:cs typeface="MS PGothic"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0DAD34A1-2E45-D24A-9DA7-F601017D041E}" type="slidenum">
              <a:rPr lang="en-US" altLang="en-US" sz="1200"/>
              <a:pPr/>
              <a:t>24</a:t>
            </a:fld>
            <a:endParaRPr lang="en-US" altLang="en-US" sz="1200"/>
          </a:p>
        </p:txBody>
      </p:sp>
      <p:sp>
        <p:nvSpPr>
          <p:cNvPr id="90114" name="Rectangle 2"/>
          <p:cNvSpPr>
            <a:spLocks noGrp="1" noRot="1" noChangeAspect="1" noChangeArrowheads="1" noTextEdit="1"/>
          </p:cNvSpPr>
          <p:nvPr>
            <p:ph type="sldImg"/>
          </p:nvPr>
        </p:nvSpPr>
        <p:spPr>
          <a:solidFill>
            <a:srgbClr val="FFFFFF"/>
          </a:solidFill>
          <a:ln/>
        </p:spPr>
      </p:sp>
      <p:sp>
        <p:nvSpPr>
          <p:cNvPr id="90115"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charset="0"/>
              <a:ea typeface="ＭＳ Ｐゴシック" charset="-128"/>
              <a:cs typeface="MS PGothic"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1B41898B-D153-7749-8BCD-FC54024C71F6}" type="slidenum">
              <a:rPr lang="en-US" altLang="en-US" sz="1200"/>
              <a:pPr/>
              <a:t>25</a:t>
            </a:fld>
            <a:endParaRPr lang="en-US" altLang="en-US" sz="1200"/>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latin typeface="Arial" charset="0"/>
              <a:ea typeface="ＭＳ Ｐゴシック" charset="-128"/>
              <a:cs typeface="MS PGothic"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5F4E7254-84EC-1F40-986A-231584C67F1F}" type="slidenum">
              <a:rPr lang="en-US" altLang="en-US" sz="1200"/>
              <a:pPr/>
              <a:t>26</a:t>
            </a:fld>
            <a:endParaRPr lang="en-US" altLang="en-US" sz="1200"/>
          </a:p>
        </p:txBody>
      </p:sp>
      <p:sp>
        <p:nvSpPr>
          <p:cNvPr id="94210" name="Rectangle 2"/>
          <p:cNvSpPr>
            <a:spLocks noGrp="1" noRot="1" noChangeAspect="1" noChangeArrowheads="1" noTextEdit="1"/>
          </p:cNvSpPr>
          <p:nvPr>
            <p:ph type="sldImg"/>
          </p:nvPr>
        </p:nvSpPr>
        <p:spPr>
          <a:solidFill>
            <a:srgbClr val="FFFFFF"/>
          </a:solidFill>
          <a:ln/>
        </p:spPr>
      </p:sp>
      <p:sp>
        <p:nvSpPr>
          <p:cNvPr id="94211"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charset="0"/>
              <a:ea typeface="ＭＳ Ｐゴシック" charset="-128"/>
              <a:cs typeface="MS PGothic"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8265CF25-26DC-434B-A269-162010A4A011}" type="slidenum">
              <a:rPr lang="en-US" altLang="en-US" sz="1200"/>
              <a:pPr/>
              <a:t>27</a:t>
            </a:fld>
            <a:endParaRPr lang="en-US" altLang="en-US" sz="1200"/>
          </a:p>
        </p:txBody>
      </p:sp>
      <p:sp>
        <p:nvSpPr>
          <p:cNvPr id="96258" name="Rectangle 2"/>
          <p:cNvSpPr>
            <a:spLocks noGrp="1" noRot="1" noChangeAspect="1" noChangeArrowheads="1" noTextEdit="1"/>
          </p:cNvSpPr>
          <p:nvPr>
            <p:ph type="sldImg"/>
          </p:nvPr>
        </p:nvSpPr>
        <p:spPr>
          <a:ln/>
        </p:spPr>
      </p:sp>
      <p:sp>
        <p:nvSpPr>
          <p:cNvPr id="962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latin typeface="Arial" charset="0"/>
              <a:ea typeface="ＭＳ Ｐゴシック" charset="-128"/>
              <a:cs typeface="MS PGothic"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10F033AD-C1D3-904F-833B-E4522E33B09F}" type="slidenum">
              <a:rPr lang="en-US" altLang="en-US" sz="1200"/>
              <a:pPr/>
              <a:t>28</a:t>
            </a:fld>
            <a:endParaRPr lang="en-US" altLang="en-US" sz="1200"/>
          </a:p>
        </p:txBody>
      </p:sp>
      <p:sp>
        <p:nvSpPr>
          <p:cNvPr id="98306" name="Rectangle 2"/>
          <p:cNvSpPr>
            <a:spLocks noGrp="1" noRot="1" noChangeAspect="1" noChangeArrowheads="1" noTextEdit="1"/>
          </p:cNvSpPr>
          <p:nvPr>
            <p:ph type="sldImg"/>
          </p:nvPr>
        </p:nvSpPr>
        <p:spPr>
          <a:ln/>
        </p:spPr>
      </p:sp>
      <p:sp>
        <p:nvSpPr>
          <p:cNvPr id="983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latin typeface="Arial" charset="0"/>
              <a:ea typeface="ＭＳ Ｐゴシック" charset="-128"/>
              <a:cs typeface="MS PGothic"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4FAC015E-2235-0841-9CD3-E017ABF84BE9}" type="slidenum">
              <a:rPr lang="en-US" altLang="en-US" sz="1200"/>
              <a:pPr/>
              <a:t>29</a:t>
            </a:fld>
            <a:endParaRPr lang="en-US" altLang="en-US" sz="1200"/>
          </a:p>
        </p:txBody>
      </p:sp>
      <p:sp>
        <p:nvSpPr>
          <p:cNvPr id="100354" name="Rectangle 2"/>
          <p:cNvSpPr>
            <a:spLocks noGrp="1" noRot="1" noChangeAspect="1" noChangeArrowheads="1" noTextEdit="1"/>
          </p:cNvSpPr>
          <p:nvPr>
            <p:ph type="sldImg"/>
          </p:nvPr>
        </p:nvSpPr>
        <p:spPr>
          <a:ln/>
        </p:spPr>
      </p:sp>
      <p:sp>
        <p:nvSpPr>
          <p:cNvPr id="1003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latin typeface="Arial" charset="0"/>
              <a:ea typeface="ＭＳ Ｐゴシック" charset="-128"/>
              <a:cs typeface="MS PGothic"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27A8FA43-BD9E-974A-B4AF-D03E61C508B0}" type="slidenum">
              <a:rPr lang="en-US" altLang="en-US" sz="1200"/>
              <a:pPr/>
              <a:t>30</a:t>
            </a:fld>
            <a:endParaRPr lang="en-US" altLang="en-US" sz="1200"/>
          </a:p>
        </p:txBody>
      </p:sp>
      <p:sp>
        <p:nvSpPr>
          <p:cNvPr id="102402" name="Rectangle 2"/>
          <p:cNvSpPr>
            <a:spLocks noGrp="1" noRot="1" noChangeAspect="1" noChangeArrowheads="1" noTextEdit="1"/>
          </p:cNvSpPr>
          <p:nvPr>
            <p:ph type="sldImg"/>
          </p:nvPr>
        </p:nvSpPr>
        <p:spPr>
          <a:ln/>
        </p:spPr>
      </p:sp>
      <p:sp>
        <p:nvSpPr>
          <p:cNvPr id="1024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latin typeface="Arial" charset="0"/>
              <a:ea typeface="ＭＳ Ｐゴシック" charset="-128"/>
              <a:cs typeface="MS PGothic"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14A0A8AA-7948-6144-B033-E3B34C727C54}" type="slidenum">
              <a:rPr lang="en-US" altLang="en-US" sz="1200"/>
              <a:pPr/>
              <a:t>31</a:t>
            </a:fld>
            <a:endParaRPr lang="en-US" altLang="en-US" sz="1200"/>
          </a:p>
        </p:txBody>
      </p:sp>
      <p:sp>
        <p:nvSpPr>
          <p:cNvPr id="104450" name="Rectangle 2"/>
          <p:cNvSpPr>
            <a:spLocks noGrp="1" noRot="1" noChangeAspect="1" noChangeArrowheads="1" noTextEdit="1"/>
          </p:cNvSpPr>
          <p:nvPr>
            <p:ph type="sldImg"/>
          </p:nvPr>
        </p:nvSpPr>
        <p:spPr>
          <a:ln/>
        </p:spPr>
      </p:sp>
      <p:sp>
        <p:nvSpPr>
          <p:cNvPr id="1044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latin typeface="Arial" charset="0"/>
              <a:ea typeface="ＭＳ Ｐゴシック" charset="-128"/>
              <a:cs typeface="MS PGothic"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7DF6685E-9756-B24F-8152-930CECDD04C7}" type="slidenum">
              <a:rPr lang="en-US" altLang="en-US" sz="1200"/>
              <a:pPr/>
              <a:t>32</a:t>
            </a:fld>
            <a:endParaRPr lang="en-US" altLang="en-US" sz="1200"/>
          </a:p>
        </p:txBody>
      </p:sp>
      <p:sp>
        <p:nvSpPr>
          <p:cNvPr id="106498" name="Rectangle 2"/>
          <p:cNvSpPr>
            <a:spLocks noGrp="1" noRot="1" noChangeAspect="1" noChangeArrowheads="1" noTextEdit="1"/>
          </p:cNvSpPr>
          <p:nvPr>
            <p:ph type="sldImg"/>
          </p:nvPr>
        </p:nvSpPr>
        <p:spPr>
          <a:ln/>
        </p:spPr>
      </p:sp>
      <p:sp>
        <p:nvSpPr>
          <p:cNvPr id="1064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latin typeface="Arial" charset="0"/>
              <a:ea typeface="ＭＳ Ｐゴシック" charset="-128"/>
              <a:cs typeface="MS PGothic"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8FD11329-62D4-2E41-A44A-68C51B850763}" type="slidenum">
              <a:rPr lang="en-US" altLang="en-US" sz="1200"/>
              <a:pPr/>
              <a:t>33</a:t>
            </a:fld>
            <a:endParaRPr lang="en-US" altLang="en-US" sz="1200"/>
          </a:p>
        </p:txBody>
      </p:sp>
      <p:sp>
        <p:nvSpPr>
          <p:cNvPr id="108546" name="Rectangle 2"/>
          <p:cNvSpPr>
            <a:spLocks noGrp="1" noRot="1" noChangeAspect="1" noChangeArrowheads="1" noTextEdit="1"/>
          </p:cNvSpPr>
          <p:nvPr>
            <p:ph type="sldImg"/>
          </p:nvPr>
        </p:nvSpPr>
        <p:spPr>
          <a:solidFill>
            <a:srgbClr val="FFFFFF"/>
          </a:solidFill>
          <a:ln/>
        </p:spPr>
      </p:sp>
      <p:sp>
        <p:nvSpPr>
          <p:cNvPr id="108547" name="Rectangle 3"/>
          <p:cNvSpPr>
            <a:spLocks noGrp="1" noChangeArrowheads="1"/>
          </p:cNvSpPr>
          <p:nvPr>
            <p:ph type="body" idx="1"/>
          </p:nvPr>
        </p:nvSpPr>
        <p:spPr>
          <a:solidFill>
            <a:srgbClr val="FFFFFF"/>
          </a:solidFill>
          <a:ln>
            <a:solidFill>
              <a:srgbClr val="000000"/>
            </a:solidFill>
          </a:ln>
        </p:spPr>
        <p:txBody>
          <a:bodyPr/>
          <a:lstStyle/>
          <a:p>
            <a:endParaRPr lang="en-US" altLang="en-US">
              <a:latin typeface="Arial" charset="0"/>
              <a:ea typeface="ＭＳ Ｐゴシック" charset="-128"/>
              <a:cs typeface="MS PGothic"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BADFC898-40D1-9042-A7FF-8A0298200FA5}" type="slidenum">
              <a:rPr lang="en-US" altLang="en-US" sz="1200"/>
              <a:pPr/>
              <a:t>41</a:t>
            </a:fld>
            <a:endParaRPr lang="en-US" altLang="en-US" sz="1200"/>
          </a:p>
        </p:txBody>
      </p:sp>
      <p:sp>
        <p:nvSpPr>
          <p:cNvPr id="117762" name="Rectangle 2"/>
          <p:cNvSpPr>
            <a:spLocks noGrp="1" noRot="1" noChangeAspect="1" noChangeArrowheads="1" noTextEdit="1"/>
          </p:cNvSpPr>
          <p:nvPr>
            <p:ph type="sldImg"/>
          </p:nvPr>
        </p:nvSpPr>
        <p:spPr>
          <a:solidFill>
            <a:srgbClr val="FFFFFF"/>
          </a:solidFill>
          <a:ln/>
        </p:spPr>
      </p:sp>
      <p:sp>
        <p:nvSpPr>
          <p:cNvPr id="117763"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charset="0"/>
              <a:ea typeface="ＭＳ Ｐゴシック" charset="-128"/>
              <a:cs typeface="MS PGothic" charset="-128"/>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a:extLst>
              <a:ext uri="{FF2B5EF4-FFF2-40B4-BE49-F238E27FC236}">
                <a16:creationId xmlns:a16="http://schemas.microsoft.com/office/drawing/2014/main" id="{0B299AA3-5E3B-2FC0-C9C2-9295DB74814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5831CB97-1D33-C64D-A8FA-753034ACBD63}" type="slidenum">
              <a:rPr lang="en-US" altLang="en-US" sz="1200"/>
              <a:pPr/>
              <a:t>42</a:t>
            </a:fld>
            <a:endParaRPr lang="en-US" altLang="en-US" sz="1200"/>
          </a:p>
        </p:txBody>
      </p:sp>
      <p:sp>
        <p:nvSpPr>
          <p:cNvPr id="133123" name="Rectangle 2">
            <a:extLst>
              <a:ext uri="{FF2B5EF4-FFF2-40B4-BE49-F238E27FC236}">
                <a16:creationId xmlns:a16="http://schemas.microsoft.com/office/drawing/2014/main" id="{70E57768-4CAC-DD63-4C03-DC25BD89DB0E}"/>
              </a:ext>
            </a:extLst>
          </p:cNvPr>
          <p:cNvSpPr>
            <a:spLocks noGrp="1" noRot="1" noChangeAspect="1" noChangeArrowheads="1" noTextEdit="1"/>
          </p:cNvSpPr>
          <p:nvPr>
            <p:ph type="sldImg"/>
          </p:nvPr>
        </p:nvSpPr>
        <p:spPr>
          <a:solidFill>
            <a:srgbClr val="FFFFFF"/>
          </a:solidFill>
          <a:ln/>
        </p:spPr>
      </p:sp>
      <p:sp>
        <p:nvSpPr>
          <p:cNvPr id="133124" name="Rectangle 3">
            <a:extLst>
              <a:ext uri="{FF2B5EF4-FFF2-40B4-BE49-F238E27FC236}">
                <a16:creationId xmlns:a16="http://schemas.microsoft.com/office/drawing/2014/main" id="{5DD718D7-F730-C883-C3F7-A9C1A9177339}"/>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AB8584D4-569A-0348-A69D-0DFF890A816D}" type="slidenum">
              <a:rPr lang="en-US" altLang="en-US" sz="1200">
                <a:ea typeface="MS PGothic" charset="-128"/>
              </a:rPr>
              <a:pPr/>
              <a:t>44</a:t>
            </a:fld>
            <a:endParaRPr lang="en-US" altLang="en-US" sz="1200">
              <a:ea typeface="MS PGothic" charset="-128"/>
            </a:endParaRPr>
          </a:p>
        </p:txBody>
      </p:sp>
      <p:sp>
        <p:nvSpPr>
          <p:cNvPr id="122882" name="Rectangle 2"/>
          <p:cNvSpPr>
            <a:spLocks noGrp="1" noRot="1" noChangeAspect="1" noChangeArrowheads="1" noTextEdit="1"/>
          </p:cNvSpPr>
          <p:nvPr>
            <p:ph type="sldImg"/>
          </p:nvPr>
        </p:nvSpPr>
        <p:spPr>
          <a:ln/>
        </p:spPr>
      </p:sp>
      <p:sp>
        <p:nvSpPr>
          <p:cNvPr id="1228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latin typeface="Arial" charset="0"/>
              <a:ea typeface="MS PGothic" charset="-128"/>
              <a:cs typeface="MS PGothic" charset="-128"/>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C7D07A61-5148-D247-9383-D2C64D519994}" type="slidenum">
              <a:rPr lang="en-US" altLang="en-US" sz="1200">
                <a:ea typeface="MS PGothic" charset="-128"/>
              </a:rPr>
              <a:pPr/>
              <a:t>45</a:t>
            </a:fld>
            <a:endParaRPr lang="en-US" altLang="en-US" sz="1200">
              <a:ea typeface="MS PGothic" charset="-128"/>
            </a:endParaRPr>
          </a:p>
        </p:txBody>
      </p:sp>
      <p:sp>
        <p:nvSpPr>
          <p:cNvPr id="124930" name="Rectangle 2"/>
          <p:cNvSpPr>
            <a:spLocks noGrp="1" noRot="1" noChangeAspect="1" noChangeArrowheads="1" noTextEdit="1"/>
          </p:cNvSpPr>
          <p:nvPr>
            <p:ph type="sldImg"/>
          </p:nvPr>
        </p:nvSpPr>
        <p:spPr>
          <a:xfrm>
            <a:off x="1143000" y="687388"/>
            <a:ext cx="4572000" cy="3429000"/>
          </a:xfrm>
          <a:solidFill>
            <a:srgbClr val="FFFFFF"/>
          </a:solidFill>
          <a:ln/>
        </p:spPr>
      </p:sp>
      <p:sp>
        <p:nvSpPr>
          <p:cNvPr id="124931" name="Rectangle 3"/>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Arial" charset="0"/>
              <a:ea typeface="MS PGothic" charset="-128"/>
              <a:cs typeface="MS PGothic" charset="-128"/>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CCB464CF-D7A6-D247-987B-FBB530791E74}" type="slidenum">
              <a:rPr lang="en-US" altLang="en-US" sz="1200">
                <a:ea typeface="MS PGothic" charset="-128"/>
              </a:rPr>
              <a:pPr/>
              <a:t>46</a:t>
            </a:fld>
            <a:endParaRPr lang="en-US" altLang="en-US" sz="1200">
              <a:ea typeface="MS PGothic" charset="-128"/>
            </a:endParaRPr>
          </a:p>
        </p:txBody>
      </p:sp>
      <p:sp>
        <p:nvSpPr>
          <p:cNvPr id="126978" name="Rectangle 2"/>
          <p:cNvSpPr>
            <a:spLocks noGrp="1" noRot="1" noChangeAspect="1" noChangeArrowheads="1" noTextEdit="1"/>
          </p:cNvSpPr>
          <p:nvPr>
            <p:ph type="sldImg"/>
          </p:nvPr>
        </p:nvSpPr>
        <p:spPr>
          <a:xfrm>
            <a:off x="1143000" y="687388"/>
            <a:ext cx="4572000" cy="3429000"/>
          </a:xfrm>
          <a:solidFill>
            <a:srgbClr val="FFFFFF"/>
          </a:solidFill>
          <a:ln/>
        </p:spPr>
      </p:sp>
      <p:sp>
        <p:nvSpPr>
          <p:cNvPr id="126979" name="Rectangle 3"/>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Arial" charset="0"/>
              <a:ea typeface="MS PGothic" charset="-128"/>
              <a:cs typeface="MS PGothic" charset="-128"/>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F939FFDD-A6B3-894B-A38B-C164586FCC3E}" type="slidenum">
              <a:rPr lang="en-US" altLang="en-US" sz="1200">
                <a:ea typeface="MS PGothic" charset="-128"/>
              </a:rPr>
              <a:pPr/>
              <a:t>47</a:t>
            </a:fld>
            <a:endParaRPr lang="en-US" altLang="en-US" sz="1200">
              <a:ea typeface="MS PGothic" charset="-128"/>
            </a:endParaRPr>
          </a:p>
        </p:txBody>
      </p:sp>
      <p:sp>
        <p:nvSpPr>
          <p:cNvPr id="129026" name="Rectangle 2"/>
          <p:cNvSpPr>
            <a:spLocks noGrp="1" noRot="1" noChangeAspect="1" noChangeArrowheads="1" noTextEdit="1"/>
          </p:cNvSpPr>
          <p:nvPr>
            <p:ph type="sldImg"/>
          </p:nvPr>
        </p:nvSpPr>
        <p:spPr>
          <a:ln/>
        </p:spPr>
      </p:sp>
      <p:sp>
        <p:nvSpPr>
          <p:cNvPr id="1290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latin typeface="Arial" charset="0"/>
              <a:ea typeface="MS PGothic" charset="-128"/>
              <a:cs typeface="MS PGothic" charset="-128"/>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4BAF412E-6078-7C47-AE41-06C47B9FDF96}" type="slidenum">
              <a:rPr lang="en-US" altLang="en-US" sz="1200">
                <a:ea typeface="MS PGothic" charset="-128"/>
              </a:rPr>
              <a:pPr/>
              <a:t>48</a:t>
            </a:fld>
            <a:endParaRPr lang="en-US" altLang="en-US" sz="1200">
              <a:ea typeface="MS PGothic" charset="-128"/>
            </a:endParaRPr>
          </a:p>
        </p:txBody>
      </p:sp>
      <p:sp>
        <p:nvSpPr>
          <p:cNvPr id="131074" name="Rectangle 2"/>
          <p:cNvSpPr>
            <a:spLocks noGrp="1" noRot="1" noChangeAspect="1" noChangeArrowheads="1" noTextEdit="1"/>
          </p:cNvSpPr>
          <p:nvPr>
            <p:ph type="sldImg"/>
          </p:nvPr>
        </p:nvSpPr>
        <p:spPr>
          <a:xfrm>
            <a:off x="1143000" y="687388"/>
            <a:ext cx="4572000" cy="3429000"/>
          </a:xfrm>
          <a:solidFill>
            <a:srgbClr val="FFFFFF"/>
          </a:solidFill>
          <a:ln/>
        </p:spPr>
      </p:sp>
      <p:sp>
        <p:nvSpPr>
          <p:cNvPr id="131075" name="Rectangle 3"/>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r>
              <a:rPr lang="en-US" altLang="en-US" dirty="0">
                <a:latin typeface="Arial" charset="0"/>
                <a:ea typeface="MS PGothic" charset="-128"/>
                <a:cs typeface="MS PGothic" charset="-128"/>
              </a:rPr>
              <a:t>Some questions one might ask at this point:</a:t>
            </a:r>
          </a:p>
          <a:p>
            <a:pPr eaLnBrk="1" hangingPunct="1"/>
            <a:r>
              <a:rPr lang="en-US" altLang="en-US" dirty="0">
                <a:latin typeface="Arial" charset="0"/>
                <a:ea typeface="MS PGothic" charset="-128"/>
                <a:cs typeface="MS PGothic" charset="-128"/>
              </a:rPr>
              <a:t>	1. What are all the possible combinations of instructions we need to consider?  For example, what if DADD x1,x2,x3 were LD x1,0(x3)??</a:t>
            </a:r>
          </a:p>
          <a:p>
            <a:pPr eaLnBrk="1" hangingPunct="1"/>
            <a:r>
              <a:rPr lang="en-US" altLang="en-US" dirty="0">
                <a:latin typeface="Arial" charset="0"/>
                <a:ea typeface="MS PGothic" charset="-128"/>
                <a:cs typeface="MS PGothic" charset="-128"/>
              </a:rPr>
              <a:t>	2. What other forwarding paths are required to reduce or minimize stalling due to RAW hazards for the classic 5-stage MIPS pipeline</a:t>
            </a:r>
          </a:p>
          <a:p>
            <a:pPr eaLnBrk="1" hangingPunct="1"/>
            <a:r>
              <a:rPr lang="en-US" altLang="en-US" dirty="0">
                <a:latin typeface="Arial" charset="0"/>
                <a:ea typeface="MS PGothic" charset="-128"/>
                <a:cs typeface="MS PGothic" charset="-128"/>
              </a:rPr>
              <a:t>	3. How would you go about deciding where to put forwarding paths in a new design?</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8A513E96-E5A6-C04F-83B1-101D00DA6933}" type="slidenum">
              <a:rPr lang="en-US" altLang="en-US" sz="1200">
                <a:ea typeface="MS PGothic" charset="-128"/>
              </a:rPr>
              <a:pPr/>
              <a:t>49</a:t>
            </a:fld>
            <a:endParaRPr lang="en-US" altLang="en-US" sz="1200">
              <a:ea typeface="MS PGothic" charset="-128"/>
            </a:endParaRPr>
          </a:p>
        </p:txBody>
      </p:sp>
      <p:sp>
        <p:nvSpPr>
          <p:cNvPr id="133122" name="Rectangle 2"/>
          <p:cNvSpPr>
            <a:spLocks noGrp="1" noRot="1" noChangeAspect="1" noChangeArrowheads="1" noTextEdit="1"/>
          </p:cNvSpPr>
          <p:nvPr>
            <p:ph type="sldImg"/>
          </p:nvPr>
        </p:nvSpPr>
        <p:spPr>
          <a:ln/>
        </p:spPr>
      </p:sp>
      <p:sp>
        <p:nvSpPr>
          <p:cNvPr id="1331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latin typeface="Arial" charset="0"/>
              <a:ea typeface="MS PGothic" charset="-128"/>
              <a:cs typeface="MS PGothic" charset="-128"/>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68AC5B3C-24C3-3D43-8ED0-3B10FB89A0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C6EA4CD6-E010-784E-BC6A-9A15A1629E5A}" type="slidenum">
              <a:rPr lang="en-US" altLang="en-US" sz="1200"/>
              <a:pPr/>
              <a:t>52</a:t>
            </a:fld>
            <a:endParaRPr lang="en-US" altLang="en-US" sz="1200"/>
          </a:p>
        </p:txBody>
      </p:sp>
      <p:sp>
        <p:nvSpPr>
          <p:cNvPr id="52226" name="Rectangle 1026">
            <a:extLst>
              <a:ext uri="{FF2B5EF4-FFF2-40B4-BE49-F238E27FC236}">
                <a16:creationId xmlns:a16="http://schemas.microsoft.com/office/drawing/2014/main" id="{8E848641-5B4D-C844-A5EE-99266CD3A54E}"/>
              </a:ext>
            </a:extLst>
          </p:cNvPr>
          <p:cNvSpPr>
            <a:spLocks noGrp="1" noRot="1" noChangeAspect="1" noChangeArrowheads="1" noTextEdit="1"/>
          </p:cNvSpPr>
          <p:nvPr>
            <p:ph type="sldImg"/>
          </p:nvPr>
        </p:nvSpPr>
        <p:spPr>
          <a:solidFill>
            <a:srgbClr val="FFFFFF"/>
          </a:solidFill>
          <a:ln/>
        </p:spPr>
      </p:sp>
      <p:sp>
        <p:nvSpPr>
          <p:cNvPr id="52227" name="Rectangle 1027">
            <a:extLst>
              <a:ext uri="{FF2B5EF4-FFF2-40B4-BE49-F238E27FC236}">
                <a16:creationId xmlns:a16="http://schemas.microsoft.com/office/drawing/2014/main" id="{E29A03CF-7D56-8D45-B063-FEDF7AC7388D}"/>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9244368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64DF6DD8-F93C-CD49-B466-B8DDFFEBD841}" type="slidenum">
              <a:rPr lang="en-US" altLang="en-US" sz="1200"/>
              <a:pPr/>
              <a:t>56</a:t>
            </a:fld>
            <a:endParaRPr lang="en-US" altLang="en-US" sz="1200"/>
          </a:p>
        </p:txBody>
      </p:sp>
      <p:sp>
        <p:nvSpPr>
          <p:cNvPr id="138242" name="Rectangle 2"/>
          <p:cNvSpPr>
            <a:spLocks noGrp="1" noRot="1" noChangeAspect="1" noChangeArrowheads="1" noTextEdit="1"/>
          </p:cNvSpPr>
          <p:nvPr>
            <p:ph type="sldImg"/>
          </p:nvPr>
        </p:nvSpPr>
        <p:spPr>
          <a:ln/>
        </p:spPr>
      </p:sp>
      <p:sp>
        <p:nvSpPr>
          <p:cNvPr id="1382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latin typeface="Arial" charset="0"/>
              <a:ea typeface="ＭＳ Ｐゴシック" charset="-128"/>
              <a:cs typeface="MS PGothic"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CA"/>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CA"/>
              <a:t>Click to edit Master subtitle style</a:t>
            </a:r>
            <a:endParaRPr lang="en-US"/>
          </a:p>
        </p:txBody>
      </p:sp>
    </p:spTree>
    <p:extLst>
      <p:ext uri="{BB962C8B-B14F-4D97-AF65-F5344CB8AC3E}">
        <p14:creationId xmlns:p14="http://schemas.microsoft.com/office/powerpoint/2010/main" val="930412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Content Placeholder 2"/>
          <p:cNvSpPr>
            <a:spLocks noGrp="1"/>
          </p:cNvSpPr>
          <p:nvPr>
            <p:ph idx="1"/>
          </p:nvPr>
        </p:nvSpPr>
        <p:spPr/>
        <p:txBody>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Tree>
    <p:extLst>
      <p:ext uri="{BB962C8B-B14F-4D97-AF65-F5344CB8AC3E}">
        <p14:creationId xmlns:p14="http://schemas.microsoft.com/office/powerpoint/2010/main" val="1608705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CA"/>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CA"/>
              <a:t>Click to edit Master text styles</a:t>
            </a:r>
          </a:p>
        </p:txBody>
      </p:sp>
      <p:sp>
        <p:nvSpPr>
          <p:cNvPr id="4" name="Date Placeholder 3"/>
          <p:cNvSpPr>
            <a:spLocks noGrp="1"/>
          </p:cNvSpPr>
          <p:nvPr>
            <p:ph type="dt" sz="half" idx="10"/>
          </p:nvPr>
        </p:nvSpPr>
        <p:spPr>
          <a:xfrm>
            <a:off x="685800" y="6248400"/>
            <a:ext cx="1905000" cy="457200"/>
          </a:xfrm>
          <a:prstGeom prst="rect">
            <a:avLst/>
          </a:prstGeom>
        </p:spPr>
        <p:txBody>
          <a:bodyPr/>
          <a:lstStyle>
            <a:lvl1pPr>
              <a:defRPr/>
            </a:lvl1pPr>
          </a:lstStyle>
          <a:p>
            <a:pPr>
              <a:defRPr/>
            </a:pPr>
            <a:r>
              <a:rPr lang="en-CA"/>
              <a:t>Sept 17, 2008</a:t>
            </a:r>
            <a:endParaRPr lang="en-US"/>
          </a:p>
        </p:txBody>
      </p:sp>
      <p:sp>
        <p:nvSpPr>
          <p:cNvPr id="5" name="Footer Placeholder 4"/>
          <p:cNvSpPr>
            <a:spLocks noGrp="1"/>
          </p:cNvSpPr>
          <p:nvPr>
            <p:ph type="ftr" sz="quarter" idx="11"/>
          </p:nvPr>
        </p:nvSpPr>
        <p:spPr>
          <a:xfrm>
            <a:off x="3124200" y="6248400"/>
            <a:ext cx="2895600" cy="457200"/>
          </a:xfrm>
          <a:prstGeom prst="rect">
            <a:avLst/>
          </a:prstGeom>
        </p:spPr>
        <p:txBody>
          <a:bodyPr/>
          <a:lstStyle>
            <a:lvl1pPr>
              <a:defRPr/>
            </a:lvl1pPr>
          </a:lstStyle>
          <a:p>
            <a:pPr>
              <a:defRPr/>
            </a:pPr>
            <a:r>
              <a:rPr lang="en-US"/>
              <a:t>EECE 476 - Slide Set 4</a:t>
            </a:r>
          </a:p>
        </p:txBody>
      </p:sp>
      <p:sp>
        <p:nvSpPr>
          <p:cNvPr id="6" name="Slide Number Placeholder 5"/>
          <p:cNvSpPr>
            <a:spLocks noGrp="1"/>
          </p:cNvSpPr>
          <p:nvPr>
            <p:ph type="sldNum" sz="quarter" idx="12"/>
          </p:nvPr>
        </p:nvSpPr>
        <p:spPr>
          <a:xfrm>
            <a:off x="6553200" y="6248400"/>
            <a:ext cx="1905000" cy="457200"/>
          </a:xfrm>
          <a:prstGeom prst="rect">
            <a:avLst/>
          </a:prstGeom>
        </p:spPr>
        <p:txBody>
          <a:bodyPr/>
          <a:lstStyle>
            <a:lvl1pPr>
              <a:defRPr>
                <a:latin typeface="Comic Sans MS" charset="0"/>
              </a:defRPr>
            </a:lvl1pPr>
          </a:lstStyle>
          <a:p>
            <a:pPr>
              <a:defRPr/>
            </a:pPr>
            <a:fld id="{7F51CE73-F330-4844-9279-45514463EB88}" type="slidenum">
              <a:rPr lang="en-US" altLang="en-US"/>
              <a:pPr>
                <a:defRPr/>
              </a:pPr>
              <a:t>‹#›</a:t>
            </a:fld>
            <a:r>
              <a:rPr lang="en-US" altLang="en-US"/>
              <a:t> </a:t>
            </a:r>
          </a:p>
        </p:txBody>
      </p:sp>
    </p:spTree>
    <p:extLst>
      <p:ext uri="{BB962C8B-B14F-4D97-AF65-F5344CB8AC3E}">
        <p14:creationId xmlns:p14="http://schemas.microsoft.com/office/powerpoint/2010/main" val="697567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Content Placeholder 2"/>
          <p:cNvSpPr>
            <a:spLocks noGrp="1"/>
          </p:cNvSpPr>
          <p:nvPr>
            <p:ph sz="half" idx="1"/>
          </p:nvPr>
        </p:nvSpPr>
        <p:spPr>
          <a:xfrm>
            <a:off x="685800" y="13716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Content Placeholder 3"/>
          <p:cNvSpPr>
            <a:spLocks noGrp="1"/>
          </p:cNvSpPr>
          <p:nvPr>
            <p:ph sz="half" idx="2"/>
          </p:nvPr>
        </p:nvSpPr>
        <p:spPr>
          <a:xfrm>
            <a:off x="4648200" y="13716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5" name="Date Placeholder 4"/>
          <p:cNvSpPr>
            <a:spLocks noGrp="1"/>
          </p:cNvSpPr>
          <p:nvPr>
            <p:ph type="dt" sz="half" idx="10"/>
          </p:nvPr>
        </p:nvSpPr>
        <p:spPr>
          <a:xfrm>
            <a:off x="685800" y="6248400"/>
            <a:ext cx="1905000" cy="457200"/>
          </a:xfrm>
          <a:prstGeom prst="rect">
            <a:avLst/>
          </a:prstGeom>
        </p:spPr>
        <p:txBody>
          <a:bodyPr/>
          <a:lstStyle>
            <a:lvl1pPr>
              <a:defRPr/>
            </a:lvl1pPr>
          </a:lstStyle>
          <a:p>
            <a:pPr>
              <a:defRPr/>
            </a:pPr>
            <a:r>
              <a:rPr lang="en-CA"/>
              <a:t>Sept 17, 2008</a:t>
            </a:r>
            <a:endParaRPr lang="en-US"/>
          </a:p>
        </p:txBody>
      </p:sp>
      <p:sp>
        <p:nvSpPr>
          <p:cNvPr id="6" name="Footer Placeholder 5"/>
          <p:cNvSpPr>
            <a:spLocks noGrp="1"/>
          </p:cNvSpPr>
          <p:nvPr>
            <p:ph type="ftr" sz="quarter" idx="11"/>
          </p:nvPr>
        </p:nvSpPr>
        <p:spPr>
          <a:xfrm>
            <a:off x="3124200" y="6248400"/>
            <a:ext cx="2895600" cy="457200"/>
          </a:xfrm>
          <a:prstGeom prst="rect">
            <a:avLst/>
          </a:prstGeom>
        </p:spPr>
        <p:txBody>
          <a:bodyPr/>
          <a:lstStyle>
            <a:lvl1pPr>
              <a:defRPr/>
            </a:lvl1pPr>
          </a:lstStyle>
          <a:p>
            <a:pPr>
              <a:defRPr/>
            </a:pPr>
            <a:r>
              <a:rPr lang="en-US"/>
              <a:t>EECE 476 - Slide Set 4</a:t>
            </a:r>
          </a:p>
        </p:txBody>
      </p:sp>
      <p:sp>
        <p:nvSpPr>
          <p:cNvPr id="7" name="Slide Number Placeholder 6"/>
          <p:cNvSpPr>
            <a:spLocks noGrp="1"/>
          </p:cNvSpPr>
          <p:nvPr>
            <p:ph type="sldNum" sz="quarter" idx="12"/>
          </p:nvPr>
        </p:nvSpPr>
        <p:spPr>
          <a:xfrm>
            <a:off x="6553200" y="6248400"/>
            <a:ext cx="1905000" cy="457200"/>
          </a:xfrm>
          <a:prstGeom prst="rect">
            <a:avLst/>
          </a:prstGeom>
        </p:spPr>
        <p:txBody>
          <a:bodyPr/>
          <a:lstStyle>
            <a:lvl1pPr>
              <a:defRPr>
                <a:latin typeface="Comic Sans MS" charset="0"/>
              </a:defRPr>
            </a:lvl1pPr>
          </a:lstStyle>
          <a:p>
            <a:pPr>
              <a:defRPr/>
            </a:pPr>
            <a:fld id="{7BDDEF58-1595-374A-A05E-00C6738E283A}" type="slidenum">
              <a:rPr lang="en-US" altLang="en-US"/>
              <a:pPr>
                <a:defRPr/>
              </a:pPr>
              <a:t>‹#›</a:t>
            </a:fld>
            <a:r>
              <a:rPr lang="en-US" altLang="en-US"/>
              <a:t> </a:t>
            </a:r>
          </a:p>
        </p:txBody>
      </p:sp>
    </p:spTree>
    <p:extLst>
      <p:ext uri="{BB962C8B-B14F-4D97-AF65-F5344CB8AC3E}">
        <p14:creationId xmlns:p14="http://schemas.microsoft.com/office/powerpoint/2010/main" val="9014409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CA"/>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7" name="Date Placeholder 6"/>
          <p:cNvSpPr>
            <a:spLocks noGrp="1"/>
          </p:cNvSpPr>
          <p:nvPr>
            <p:ph type="dt" sz="half" idx="10"/>
          </p:nvPr>
        </p:nvSpPr>
        <p:spPr>
          <a:xfrm>
            <a:off x="685800" y="6248400"/>
            <a:ext cx="1905000" cy="457200"/>
          </a:xfrm>
          <a:prstGeom prst="rect">
            <a:avLst/>
          </a:prstGeom>
        </p:spPr>
        <p:txBody>
          <a:bodyPr/>
          <a:lstStyle>
            <a:lvl1pPr>
              <a:defRPr/>
            </a:lvl1pPr>
          </a:lstStyle>
          <a:p>
            <a:pPr>
              <a:defRPr/>
            </a:pPr>
            <a:r>
              <a:rPr lang="en-CA"/>
              <a:t>Sept 17, 2008</a:t>
            </a:r>
            <a:endParaRPr lang="en-US"/>
          </a:p>
        </p:txBody>
      </p:sp>
      <p:sp>
        <p:nvSpPr>
          <p:cNvPr id="8" name="Footer Placeholder 7"/>
          <p:cNvSpPr>
            <a:spLocks noGrp="1"/>
          </p:cNvSpPr>
          <p:nvPr>
            <p:ph type="ftr" sz="quarter" idx="11"/>
          </p:nvPr>
        </p:nvSpPr>
        <p:spPr>
          <a:xfrm>
            <a:off x="3124200" y="6248400"/>
            <a:ext cx="2895600" cy="457200"/>
          </a:xfrm>
          <a:prstGeom prst="rect">
            <a:avLst/>
          </a:prstGeom>
        </p:spPr>
        <p:txBody>
          <a:bodyPr/>
          <a:lstStyle>
            <a:lvl1pPr>
              <a:defRPr/>
            </a:lvl1pPr>
          </a:lstStyle>
          <a:p>
            <a:pPr>
              <a:defRPr/>
            </a:pPr>
            <a:r>
              <a:rPr lang="en-US"/>
              <a:t>EECE 476 - Slide Set 4</a:t>
            </a:r>
          </a:p>
        </p:txBody>
      </p:sp>
      <p:sp>
        <p:nvSpPr>
          <p:cNvPr id="9" name="Slide Number Placeholder 8"/>
          <p:cNvSpPr>
            <a:spLocks noGrp="1"/>
          </p:cNvSpPr>
          <p:nvPr>
            <p:ph type="sldNum" sz="quarter" idx="12"/>
          </p:nvPr>
        </p:nvSpPr>
        <p:spPr>
          <a:xfrm>
            <a:off x="6553200" y="6248400"/>
            <a:ext cx="1905000" cy="457200"/>
          </a:xfrm>
          <a:prstGeom prst="rect">
            <a:avLst/>
          </a:prstGeom>
        </p:spPr>
        <p:txBody>
          <a:bodyPr/>
          <a:lstStyle>
            <a:lvl1pPr>
              <a:defRPr>
                <a:latin typeface="Comic Sans MS" charset="0"/>
              </a:defRPr>
            </a:lvl1pPr>
          </a:lstStyle>
          <a:p>
            <a:pPr>
              <a:defRPr/>
            </a:pPr>
            <a:fld id="{1C19C80B-D873-2846-8A89-B887057922F3}" type="slidenum">
              <a:rPr lang="en-US" altLang="en-US"/>
              <a:pPr>
                <a:defRPr/>
              </a:pPr>
              <a:t>‹#›</a:t>
            </a:fld>
            <a:r>
              <a:rPr lang="en-US" altLang="en-US"/>
              <a:t> </a:t>
            </a:r>
          </a:p>
        </p:txBody>
      </p:sp>
    </p:spTree>
    <p:extLst>
      <p:ext uri="{BB962C8B-B14F-4D97-AF65-F5344CB8AC3E}">
        <p14:creationId xmlns:p14="http://schemas.microsoft.com/office/powerpoint/2010/main" val="21219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Tree>
    <p:extLst>
      <p:ext uri="{BB962C8B-B14F-4D97-AF65-F5344CB8AC3E}">
        <p14:creationId xmlns:p14="http://schemas.microsoft.com/office/powerpoint/2010/main" val="155380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536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CA"/>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a:t>Click to edit Master text styles</a:t>
            </a:r>
          </a:p>
        </p:txBody>
      </p:sp>
      <p:sp>
        <p:nvSpPr>
          <p:cNvPr id="5" name="Date Placeholder 4"/>
          <p:cNvSpPr>
            <a:spLocks noGrp="1"/>
          </p:cNvSpPr>
          <p:nvPr>
            <p:ph type="dt" sz="half" idx="10"/>
          </p:nvPr>
        </p:nvSpPr>
        <p:spPr>
          <a:xfrm>
            <a:off x="685800" y="6248400"/>
            <a:ext cx="1905000" cy="457200"/>
          </a:xfrm>
          <a:prstGeom prst="rect">
            <a:avLst/>
          </a:prstGeom>
        </p:spPr>
        <p:txBody>
          <a:bodyPr/>
          <a:lstStyle>
            <a:lvl1pPr>
              <a:defRPr/>
            </a:lvl1pPr>
          </a:lstStyle>
          <a:p>
            <a:pPr>
              <a:defRPr/>
            </a:pPr>
            <a:r>
              <a:rPr lang="en-CA"/>
              <a:t>Sept 17, 2008</a:t>
            </a:r>
            <a:endParaRPr lang="en-US"/>
          </a:p>
        </p:txBody>
      </p:sp>
      <p:sp>
        <p:nvSpPr>
          <p:cNvPr id="6" name="Footer Placeholder 5"/>
          <p:cNvSpPr>
            <a:spLocks noGrp="1"/>
          </p:cNvSpPr>
          <p:nvPr>
            <p:ph type="ftr" sz="quarter" idx="11"/>
          </p:nvPr>
        </p:nvSpPr>
        <p:spPr>
          <a:xfrm>
            <a:off x="3124200" y="6248400"/>
            <a:ext cx="2895600" cy="457200"/>
          </a:xfrm>
          <a:prstGeom prst="rect">
            <a:avLst/>
          </a:prstGeom>
        </p:spPr>
        <p:txBody>
          <a:bodyPr/>
          <a:lstStyle>
            <a:lvl1pPr>
              <a:defRPr/>
            </a:lvl1pPr>
          </a:lstStyle>
          <a:p>
            <a:pPr>
              <a:defRPr/>
            </a:pPr>
            <a:r>
              <a:rPr lang="en-US"/>
              <a:t>EECE 476 - Slide Set 4</a:t>
            </a:r>
          </a:p>
        </p:txBody>
      </p:sp>
      <p:sp>
        <p:nvSpPr>
          <p:cNvPr id="7" name="Slide Number Placeholder 6"/>
          <p:cNvSpPr>
            <a:spLocks noGrp="1"/>
          </p:cNvSpPr>
          <p:nvPr>
            <p:ph type="sldNum" sz="quarter" idx="12"/>
          </p:nvPr>
        </p:nvSpPr>
        <p:spPr>
          <a:xfrm>
            <a:off x="6553200" y="6248400"/>
            <a:ext cx="1905000" cy="457200"/>
          </a:xfrm>
          <a:prstGeom prst="rect">
            <a:avLst/>
          </a:prstGeom>
        </p:spPr>
        <p:txBody>
          <a:bodyPr/>
          <a:lstStyle>
            <a:lvl1pPr>
              <a:defRPr>
                <a:latin typeface="Comic Sans MS" charset="0"/>
              </a:defRPr>
            </a:lvl1pPr>
          </a:lstStyle>
          <a:p>
            <a:pPr>
              <a:defRPr/>
            </a:pPr>
            <a:fld id="{67D58527-6955-F146-A89C-61BD54BA1C12}" type="slidenum">
              <a:rPr lang="en-US" altLang="en-US"/>
              <a:pPr>
                <a:defRPr/>
              </a:pPr>
              <a:t>‹#›</a:t>
            </a:fld>
            <a:r>
              <a:rPr lang="en-US" altLang="en-US"/>
              <a:t> </a:t>
            </a:r>
          </a:p>
        </p:txBody>
      </p:sp>
    </p:spTree>
    <p:extLst>
      <p:ext uri="{BB962C8B-B14F-4D97-AF65-F5344CB8AC3E}">
        <p14:creationId xmlns:p14="http://schemas.microsoft.com/office/powerpoint/2010/main" val="1920713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CA"/>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a:t>Click to edit Master text styles</a:t>
            </a:r>
          </a:p>
        </p:txBody>
      </p:sp>
      <p:sp>
        <p:nvSpPr>
          <p:cNvPr id="5" name="Date Placeholder 4"/>
          <p:cNvSpPr>
            <a:spLocks noGrp="1"/>
          </p:cNvSpPr>
          <p:nvPr>
            <p:ph type="dt" sz="half" idx="10"/>
          </p:nvPr>
        </p:nvSpPr>
        <p:spPr>
          <a:xfrm>
            <a:off x="685800" y="6248400"/>
            <a:ext cx="1905000" cy="457200"/>
          </a:xfrm>
          <a:prstGeom prst="rect">
            <a:avLst/>
          </a:prstGeom>
        </p:spPr>
        <p:txBody>
          <a:bodyPr/>
          <a:lstStyle>
            <a:lvl1pPr>
              <a:defRPr/>
            </a:lvl1pPr>
          </a:lstStyle>
          <a:p>
            <a:pPr>
              <a:defRPr/>
            </a:pPr>
            <a:r>
              <a:rPr lang="en-CA"/>
              <a:t>Sept 17, 2008</a:t>
            </a:r>
            <a:endParaRPr lang="en-US"/>
          </a:p>
        </p:txBody>
      </p:sp>
      <p:sp>
        <p:nvSpPr>
          <p:cNvPr id="6" name="Footer Placeholder 5"/>
          <p:cNvSpPr>
            <a:spLocks noGrp="1"/>
          </p:cNvSpPr>
          <p:nvPr>
            <p:ph type="ftr" sz="quarter" idx="11"/>
          </p:nvPr>
        </p:nvSpPr>
        <p:spPr>
          <a:xfrm>
            <a:off x="3124200" y="6248400"/>
            <a:ext cx="2895600" cy="457200"/>
          </a:xfrm>
          <a:prstGeom prst="rect">
            <a:avLst/>
          </a:prstGeom>
        </p:spPr>
        <p:txBody>
          <a:bodyPr/>
          <a:lstStyle>
            <a:lvl1pPr>
              <a:defRPr/>
            </a:lvl1pPr>
          </a:lstStyle>
          <a:p>
            <a:pPr>
              <a:defRPr/>
            </a:pPr>
            <a:r>
              <a:rPr lang="en-US"/>
              <a:t>EECE 476 - Slide Set 4</a:t>
            </a:r>
          </a:p>
        </p:txBody>
      </p:sp>
      <p:sp>
        <p:nvSpPr>
          <p:cNvPr id="7" name="Slide Number Placeholder 6"/>
          <p:cNvSpPr>
            <a:spLocks noGrp="1"/>
          </p:cNvSpPr>
          <p:nvPr>
            <p:ph type="sldNum" sz="quarter" idx="12"/>
          </p:nvPr>
        </p:nvSpPr>
        <p:spPr>
          <a:xfrm>
            <a:off x="6553200" y="6248400"/>
            <a:ext cx="1905000" cy="457200"/>
          </a:xfrm>
          <a:prstGeom prst="rect">
            <a:avLst/>
          </a:prstGeom>
        </p:spPr>
        <p:txBody>
          <a:bodyPr/>
          <a:lstStyle>
            <a:lvl1pPr>
              <a:defRPr>
                <a:latin typeface="Comic Sans MS" charset="0"/>
              </a:defRPr>
            </a:lvl1pPr>
          </a:lstStyle>
          <a:p>
            <a:pPr>
              <a:defRPr/>
            </a:pPr>
            <a:fld id="{E701069B-533F-7046-8A95-F230C2C0CA24}" type="slidenum">
              <a:rPr lang="en-US" altLang="en-US"/>
              <a:pPr>
                <a:defRPr/>
              </a:pPr>
              <a:t>‹#›</a:t>
            </a:fld>
            <a:r>
              <a:rPr lang="en-US" altLang="en-US"/>
              <a:t> </a:t>
            </a:r>
          </a:p>
        </p:txBody>
      </p:sp>
    </p:spTree>
    <p:extLst>
      <p:ext uri="{BB962C8B-B14F-4D97-AF65-F5344CB8AC3E}">
        <p14:creationId xmlns:p14="http://schemas.microsoft.com/office/powerpoint/2010/main" val="4542177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Date Placeholder 3"/>
          <p:cNvSpPr>
            <a:spLocks noGrp="1"/>
          </p:cNvSpPr>
          <p:nvPr>
            <p:ph type="dt" sz="half" idx="10"/>
          </p:nvPr>
        </p:nvSpPr>
        <p:spPr>
          <a:xfrm>
            <a:off x="685800" y="6248400"/>
            <a:ext cx="1905000" cy="457200"/>
          </a:xfrm>
          <a:prstGeom prst="rect">
            <a:avLst/>
          </a:prstGeom>
        </p:spPr>
        <p:txBody>
          <a:bodyPr/>
          <a:lstStyle>
            <a:lvl1pPr>
              <a:defRPr/>
            </a:lvl1pPr>
          </a:lstStyle>
          <a:p>
            <a:pPr>
              <a:defRPr/>
            </a:pPr>
            <a:r>
              <a:rPr lang="en-CA"/>
              <a:t>Sept 17, 2008</a:t>
            </a:r>
            <a:endParaRPr lang="en-US"/>
          </a:p>
        </p:txBody>
      </p:sp>
      <p:sp>
        <p:nvSpPr>
          <p:cNvPr id="5" name="Footer Placeholder 4"/>
          <p:cNvSpPr>
            <a:spLocks noGrp="1"/>
          </p:cNvSpPr>
          <p:nvPr>
            <p:ph type="ftr" sz="quarter" idx="11"/>
          </p:nvPr>
        </p:nvSpPr>
        <p:spPr>
          <a:xfrm>
            <a:off x="3124200" y="6248400"/>
            <a:ext cx="2895600" cy="457200"/>
          </a:xfrm>
          <a:prstGeom prst="rect">
            <a:avLst/>
          </a:prstGeom>
        </p:spPr>
        <p:txBody>
          <a:bodyPr/>
          <a:lstStyle>
            <a:lvl1pPr>
              <a:defRPr/>
            </a:lvl1pPr>
          </a:lstStyle>
          <a:p>
            <a:pPr>
              <a:defRPr/>
            </a:pPr>
            <a:r>
              <a:rPr lang="en-US"/>
              <a:t>EECE 476 - Slide Set 4</a:t>
            </a:r>
          </a:p>
        </p:txBody>
      </p:sp>
      <p:sp>
        <p:nvSpPr>
          <p:cNvPr id="6" name="Slide Number Placeholder 5"/>
          <p:cNvSpPr>
            <a:spLocks noGrp="1"/>
          </p:cNvSpPr>
          <p:nvPr>
            <p:ph type="sldNum" sz="quarter" idx="12"/>
          </p:nvPr>
        </p:nvSpPr>
        <p:spPr>
          <a:xfrm>
            <a:off x="6553200" y="6248400"/>
            <a:ext cx="1905000" cy="457200"/>
          </a:xfrm>
          <a:prstGeom prst="rect">
            <a:avLst/>
          </a:prstGeom>
        </p:spPr>
        <p:txBody>
          <a:bodyPr/>
          <a:lstStyle>
            <a:lvl1pPr>
              <a:defRPr>
                <a:latin typeface="Comic Sans MS" charset="0"/>
              </a:defRPr>
            </a:lvl1pPr>
          </a:lstStyle>
          <a:p>
            <a:pPr>
              <a:defRPr/>
            </a:pPr>
            <a:fld id="{DB2153E9-4CD5-884A-968A-10D90610291B}" type="slidenum">
              <a:rPr lang="en-US" altLang="en-US"/>
              <a:pPr>
                <a:defRPr/>
              </a:pPr>
              <a:t>‹#›</a:t>
            </a:fld>
            <a:r>
              <a:rPr lang="en-US" altLang="en-US"/>
              <a:t> </a:t>
            </a:r>
          </a:p>
        </p:txBody>
      </p:sp>
    </p:spTree>
    <p:extLst>
      <p:ext uri="{BB962C8B-B14F-4D97-AF65-F5344CB8AC3E}">
        <p14:creationId xmlns:p14="http://schemas.microsoft.com/office/powerpoint/2010/main" val="1881380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0"/>
            <a:ext cx="1943100" cy="6096000"/>
          </a:xfrm>
        </p:spPr>
        <p:txBody>
          <a:bodyPr vert="eaVert"/>
          <a:lstStyle/>
          <a:p>
            <a:r>
              <a:rPr lang="en-CA"/>
              <a:t>Click to edit Master title style</a:t>
            </a:r>
            <a:endParaRPr lang="en-US"/>
          </a:p>
        </p:txBody>
      </p:sp>
      <p:sp>
        <p:nvSpPr>
          <p:cNvPr id="3" name="Vertical Text Placeholder 2"/>
          <p:cNvSpPr>
            <a:spLocks noGrp="1"/>
          </p:cNvSpPr>
          <p:nvPr>
            <p:ph type="body" orient="vert" idx="1"/>
          </p:nvPr>
        </p:nvSpPr>
        <p:spPr>
          <a:xfrm>
            <a:off x="685800" y="0"/>
            <a:ext cx="5676900" cy="6096000"/>
          </a:xfrm>
        </p:spPr>
        <p:txBody>
          <a:bodyPr vert="eaVert"/>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Date Placeholder 3"/>
          <p:cNvSpPr>
            <a:spLocks noGrp="1"/>
          </p:cNvSpPr>
          <p:nvPr>
            <p:ph type="dt" sz="half" idx="10"/>
          </p:nvPr>
        </p:nvSpPr>
        <p:spPr>
          <a:xfrm>
            <a:off x="685800" y="6248400"/>
            <a:ext cx="1905000" cy="457200"/>
          </a:xfrm>
          <a:prstGeom prst="rect">
            <a:avLst/>
          </a:prstGeom>
        </p:spPr>
        <p:txBody>
          <a:bodyPr/>
          <a:lstStyle>
            <a:lvl1pPr>
              <a:defRPr/>
            </a:lvl1pPr>
          </a:lstStyle>
          <a:p>
            <a:pPr>
              <a:defRPr/>
            </a:pPr>
            <a:r>
              <a:rPr lang="en-CA"/>
              <a:t>Sept 17, 2008</a:t>
            </a:r>
            <a:endParaRPr lang="en-US"/>
          </a:p>
        </p:txBody>
      </p:sp>
      <p:sp>
        <p:nvSpPr>
          <p:cNvPr id="5" name="Footer Placeholder 4"/>
          <p:cNvSpPr>
            <a:spLocks noGrp="1"/>
          </p:cNvSpPr>
          <p:nvPr>
            <p:ph type="ftr" sz="quarter" idx="11"/>
          </p:nvPr>
        </p:nvSpPr>
        <p:spPr>
          <a:xfrm>
            <a:off x="3124200" y="6248400"/>
            <a:ext cx="2895600" cy="457200"/>
          </a:xfrm>
          <a:prstGeom prst="rect">
            <a:avLst/>
          </a:prstGeom>
        </p:spPr>
        <p:txBody>
          <a:bodyPr/>
          <a:lstStyle>
            <a:lvl1pPr>
              <a:defRPr/>
            </a:lvl1pPr>
          </a:lstStyle>
          <a:p>
            <a:pPr>
              <a:defRPr/>
            </a:pPr>
            <a:r>
              <a:rPr lang="en-US"/>
              <a:t>EECE 476 - Slide Set 4</a:t>
            </a:r>
          </a:p>
        </p:txBody>
      </p:sp>
      <p:sp>
        <p:nvSpPr>
          <p:cNvPr id="6" name="Slide Number Placeholder 5"/>
          <p:cNvSpPr>
            <a:spLocks noGrp="1"/>
          </p:cNvSpPr>
          <p:nvPr>
            <p:ph type="sldNum" sz="quarter" idx="12"/>
          </p:nvPr>
        </p:nvSpPr>
        <p:spPr>
          <a:xfrm>
            <a:off x="6553200" y="6248400"/>
            <a:ext cx="1905000" cy="457200"/>
          </a:xfrm>
          <a:prstGeom prst="rect">
            <a:avLst/>
          </a:prstGeom>
        </p:spPr>
        <p:txBody>
          <a:bodyPr/>
          <a:lstStyle>
            <a:lvl1pPr>
              <a:defRPr>
                <a:latin typeface="Comic Sans MS" charset="0"/>
              </a:defRPr>
            </a:lvl1pPr>
          </a:lstStyle>
          <a:p>
            <a:pPr>
              <a:defRPr/>
            </a:pPr>
            <a:fld id="{64198C72-052E-534F-8966-74BDAE284796}" type="slidenum">
              <a:rPr lang="en-US" altLang="en-US"/>
              <a:pPr>
                <a:defRPr/>
              </a:pPr>
              <a:t>‹#›</a:t>
            </a:fld>
            <a:r>
              <a:rPr lang="en-US" altLang="en-US"/>
              <a:t> </a:t>
            </a:r>
          </a:p>
        </p:txBody>
      </p:sp>
    </p:spTree>
    <p:extLst>
      <p:ext uri="{BB962C8B-B14F-4D97-AF65-F5344CB8AC3E}">
        <p14:creationId xmlns:p14="http://schemas.microsoft.com/office/powerpoint/2010/main" val="815130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1371600"/>
            <a:ext cx="7772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cSld>
  <p:clrMap bg1="lt1" tx1="dk1" bg2="lt2" tx2="dk2" accent1="accent1" accent2="accent2" accent3="accent3" accent4="accent4" accent5="accent5" accent6="accent6" hlink="hlink" folHlink="folHlink"/>
  <p:sldLayoutIdLst>
    <p:sldLayoutId id="2147484639" r:id="rId1"/>
    <p:sldLayoutId id="2147484640" r:id="rId2"/>
    <p:sldLayoutId id="2147484641" r:id="rId3"/>
    <p:sldLayoutId id="2147484642" r:id="rId4"/>
    <p:sldLayoutId id="2147484643" r:id="rId5"/>
    <p:sldLayoutId id="2147484644" r:id="rId6"/>
    <p:sldLayoutId id="2147484645" r:id="rId7"/>
    <p:sldLayoutId id="2147484646" r:id="rId8"/>
    <p:sldLayoutId id="2147484647" r:id="rId9"/>
    <p:sldLayoutId id="2147484648" r:id="rId10"/>
    <p:sldLayoutId id="2147484649" r:id="rId11"/>
  </p:sldLayoutIdLst>
  <p:hf hdr="0" ftr="0" dt="0"/>
  <p:txStyles>
    <p:titleStyle>
      <a:lvl1pPr algn="ctr" rtl="0" eaLnBrk="0" fontAlgn="base" hangingPunct="0">
        <a:spcBef>
          <a:spcPct val="0"/>
        </a:spcBef>
        <a:spcAft>
          <a:spcPct val="0"/>
        </a:spcAft>
        <a:defRPr sz="4000">
          <a:solidFill>
            <a:schemeClr val="tx2"/>
          </a:solidFill>
          <a:latin typeface="Arial  "/>
          <a:ea typeface="MS PGothic" pitchFamily="34" charset="-128"/>
          <a:cs typeface="Arial  "/>
        </a:defRPr>
      </a:lvl1pPr>
      <a:lvl2pPr algn="ctr" rtl="0" eaLnBrk="0" fontAlgn="base" hangingPunct="0">
        <a:spcBef>
          <a:spcPct val="0"/>
        </a:spcBef>
        <a:spcAft>
          <a:spcPct val="0"/>
        </a:spcAft>
        <a:defRPr sz="4000">
          <a:solidFill>
            <a:schemeClr val="tx2"/>
          </a:solidFill>
          <a:latin typeface="Arial  " charset="-52"/>
          <a:ea typeface="MS PGothic" pitchFamily="34" charset="-128"/>
          <a:cs typeface="Arial  " charset="0"/>
        </a:defRPr>
      </a:lvl2pPr>
      <a:lvl3pPr algn="ctr" rtl="0" eaLnBrk="0" fontAlgn="base" hangingPunct="0">
        <a:spcBef>
          <a:spcPct val="0"/>
        </a:spcBef>
        <a:spcAft>
          <a:spcPct val="0"/>
        </a:spcAft>
        <a:defRPr sz="4000">
          <a:solidFill>
            <a:schemeClr val="tx2"/>
          </a:solidFill>
          <a:latin typeface="Arial  " charset="-52"/>
          <a:ea typeface="MS PGothic" pitchFamily="34" charset="-128"/>
          <a:cs typeface="Arial  " charset="0"/>
        </a:defRPr>
      </a:lvl3pPr>
      <a:lvl4pPr algn="ctr" rtl="0" eaLnBrk="0" fontAlgn="base" hangingPunct="0">
        <a:spcBef>
          <a:spcPct val="0"/>
        </a:spcBef>
        <a:spcAft>
          <a:spcPct val="0"/>
        </a:spcAft>
        <a:defRPr sz="4000">
          <a:solidFill>
            <a:schemeClr val="tx2"/>
          </a:solidFill>
          <a:latin typeface="Arial  " charset="-52"/>
          <a:ea typeface="MS PGothic" pitchFamily="34" charset="-128"/>
          <a:cs typeface="Arial  " charset="0"/>
        </a:defRPr>
      </a:lvl4pPr>
      <a:lvl5pPr algn="ctr" rtl="0" eaLnBrk="0" fontAlgn="base" hangingPunct="0">
        <a:spcBef>
          <a:spcPct val="0"/>
        </a:spcBef>
        <a:spcAft>
          <a:spcPct val="0"/>
        </a:spcAft>
        <a:defRPr sz="4000">
          <a:solidFill>
            <a:schemeClr val="tx2"/>
          </a:solidFill>
          <a:latin typeface="Arial  " charset="-52"/>
          <a:ea typeface="MS PGothic" pitchFamily="34" charset="-128"/>
          <a:cs typeface="Arial  " charset="0"/>
        </a:defRPr>
      </a:lvl5pPr>
      <a:lvl6pPr marL="457200" algn="ctr" rtl="0" fontAlgn="base">
        <a:spcBef>
          <a:spcPct val="0"/>
        </a:spcBef>
        <a:spcAft>
          <a:spcPct val="0"/>
        </a:spcAft>
        <a:defRPr sz="4000">
          <a:solidFill>
            <a:schemeClr val="tx2"/>
          </a:solidFill>
          <a:latin typeface="Comic Sans MS" pitchFamily="-106" charset="0"/>
          <a:ea typeface="ＭＳ Ｐゴシック" pitchFamily="-106" charset="-128"/>
          <a:cs typeface="ＭＳ Ｐゴシック" pitchFamily="-106" charset="-128"/>
        </a:defRPr>
      </a:lvl6pPr>
      <a:lvl7pPr marL="914400" algn="ctr" rtl="0" fontAlgn="base">
        <a:spcBef>
          <a:spcPct val="0"/>
        </a:spcBef>
        <a:spcAft>
          <a:spcPct val="0"/>
        </a:spcAft>
        <a:defRPr sz="4000">
          <a:solidFill>
            <a:schemeClr val="tx2"/>
          </a:solidFill>
          <a:latin typeface="Comic Sans MS" pitchFamily="-106" charset="0"/>
          <a:ea typeface="ＭＳ Ｐゴシック" pitchFamily="-106" charset="-128"/>
          <a:cs typeface="ＭＳ Ｐゴシック" pitchFamily="-106" charset="-128"/>
        </a:defRPr>
      </a:lvl7pPr>
      <a:lvl8pPr marL="1371600" algn="ctr" rtl="0" fontAlgn="base">
        <a:spcBef>
          <a:spcPct val="0"/>
        </a:spcBef>
        <a:spcAft>
          <a:spcPct val="0"/>
        </a:spcAft>
        <a:defRPr sz="4000">
          <a:solidFill>
            <a:schemeClr val="tx2"/>
          </a:solidFill>
          <a:latin typeface="Comic Sans MS" pitchFamily="-106" charset="0"/>
          <a:ea typeface="ＭＳ Ｐゴシック" pitchFamily="-106" charset="-128"/>
          <a:cs typeface="ＭＳ Ｐゴシック" pitchFamily="-106" charset="-128"/>
        </a:defRPr>
      </a:lvl8pPr>
      <a:lvl9pPr marL="1828800" algn="ctr" rtl="0" fontAlgn="base">
        <a:spcBef>
          <a:spcPct val="0"/>
        </a:spcBef>
        <a:spcAft>
          <a:spcPct val="0"/>
        </a:spcAft>
        <a:defRPr sz="4000">
          <a:solidFill>
            <a:schemeClr val="tx2"/>
          </a:solidFill>
          <a:latin typeface="Comic Sans MS" pitchFamily="-106" charset="0"/>
          <a:ea typeface="ＭＳ Ｐゴシック" pitchFamily="-106" charset="-128"/>
          <a:cs typeface="ＭＳ Ｐゴシック" pitchFamily="-106" charset="-128"/>
        </a:defRPr>
      </a:lvl9pPr>
    </p:titleStyle>
    <p:bodyStyle>
      <a:lvl1pPr marL="342900" indent="-342900" algn="l" rtl="0" eaLnBrk="0" fontAlgn="base" hangingPunct="0">
        <a:spcBef>
          <a:spcPct val="20000"/>
        </a:spcBef>
        <a:spcAft>
          <a:spcPct val="0"/>
        </a:spcAft>
        <a:buChar char="•"/>
        <a:defRPr sz="2800">
          <a:solidFill>
            <a:schemeClr val="tx1"/>
          </a:solidFill>
          <a:latin typeface="Arial  "/>
          <a:ea typeface="MS PGothic" pitchFamily="34" charset="-128"/>
          <a:cs typeface="Arial  "/>
        </a:defRPr>
      </a:lvl1pPr>
      <a:lvl2pPr marL="742950" indent="-285750" algn="l" rtl="0" eaLnBrk="0" fontAlgn="base" hangingPunct="0">
        <a:spcBef>
          <a:spcPct val="20000"/>
        </a:spcBef>
        <a:spcAft>
          <a:spcPct val="0"/>
        </a:spcAft>
        <a:buChar char="–"/>
        <a:defRPr sz="2400">
          <a:solidFill>
            <a:schemeClr val="tx1"/>
          </a:solidFill>
          <a:latin typeface="Arial  "/>
          <a:ea typeface="MS PGothic" pitchFamily="34" charset="-128"/>
          <a:cs typeface="Arial  "/>
        </a:defRPr>
      </a:lvl2pPr>
      <a:lvl3pPr marL="1143000" indent="-228600" algn="l" rtl="0" eaLnBrk="0" fontAlgn="base" hangingPunct="0">
        <a:spcBef>
          <a:spcPct val="20000"/>
        </a:spcBef>
        <a:spcAft>
          <a:spcPct val="0"/>
        </a:spcAft>
        <a:buChar char="•"/>
        <a:defRPr sz="2000">
          <a:solidFill>
            <a:schemeClr val="tx1"/>
          </a:solidFill>
          <a:latin typeface="Arial  "/>
          <a:ea typeface="MS PGothic" pitchFamily="34" charset="-128"/>
          <a:cs typeface="Arial  "/>
        </a:defRPr>
      </a:lvl3pPr>
      <a:lvl4pPr marL="1600200" indent="-228600" algn="l" rtl="0" eaLnBrk="0" fontAlgn="base" hangingPunct="0">
        <a:spcBef>
          <a:spcPct val="20000"/>
        </a:spcBef>
        <a:spcAft>
          <a:spcPct val="0"/>
        </a:spcAft>
        <a:buChar char="–"/>
        <a:defRPr sz="2000">
          <a:solidFill>
            <a:schemeClr val="tx1"/>
          </a:solidFill>
          <a:latin typeface="Arial  "/>
          <a:ea typeface="MS PGothic" pitchFamily="34" charset="-128"/>
          <a:cs typeface="Arial  "/>
        </a:defRPr>
      </a:lvl4pPr>
      <a:lvl5pPr marL="2057400" indent="-228600" algn="l" rtl="0" eaLnBrk="0" fontAlgn="base" hangingPunct="0">
        <a:spcBef>
          <a:spcPct val="20000"/>
        </a:spcBef>
        <a:spcAft>
          <a:spcPct val="0"/>
        </a:spcAft>
        <a:buChar char="»"/>
        <a:defRPr sz="2000">
          <a:solidFill>
            <a:schemeClr val="tx1"/>
          </a:solidFill>
          <a:latin typeface="Arial  "/>
          <a:ea typeface="MS PGothic" pitchFamily="34" charset="-128"/>
          <a:cs typeface="Arial  "/>
        </a:defRPr>
      </a:lvl5pPr>
      <a:lvl6pPr marL="2514600" indent="-228600" algn="l" rtl="0" fontAlgn="base">
        <a:spcBef>
          <a:spcPct val="20000"/>
        </a:spcBef>
        <a:spcAft>
          <a:spcPct val="0"/>
        </a:spcAft>
        <a:buChar char="»"/>
        <a:defRPr>
          <a:solidFill>
            <a:schemeClr val="tx1"/>
          </a:solidFill>
          <a:latin typeface="+mn-lt"/>
          <a:ea typeface="+mn-ea"/>
        </a:defRPr>
      </a:lvl6pPr>
      <a:lvl7pPr marL="2971800" indent="-228600" algn="l" rtl="0" fontAlgn="base">
        <a:spcBef>
          <a:spcPct val="20000"/>
        </a:spcBef>
        <a:spcAft>
          <a:spcPct val="0"/>
        </a:spcAft>
        <a:buChar char="»"/>
        <a:defRPr>
          <a:solidFill>
            <a:schemeClr val="tx1"/>
          </a:solidFill>
          <a:latin typeface="+mn-lt"/>
          <a:ea typeface="+mn-ea"/>
        </a:defRPr>
      </a:lvl7pPr>
      <a:lvl8pPr marL="3429000" indent="-228600" algn="l" rtl="0" fontAlgn="base">
        <a:spcBef>
          <a:spcPct val="20000"/>
        </a:spcBef>
        <a:spcAft>
          <a:spcPct val="0"/>
        </a:spcAft>
        <a:buChar char="»"/>
        <a:defRPr>
          <a:solidFill>
            <a:schemeClr val="tx1"/>
          </a:solidFill>
          <a:latin typeface="+mn-lt"/>
          <a:ea typeface="+mn-ea"/>
        </a:defRPr>
      </a:lvl8pPr>
      <a:lvl9pPr marL="3886200" indent="-228600" algn="l" rtl="0" fontAlgn="base">
        <a:spcBef>
          <a:spcPct val="20000"/>
        </a:spcBef>
        <a:spcAft>
          <a:spcPct val="0"/>
        </a:spcAft>
        <a:buChar char="»"/>
        <a:defRPr>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customXml" Target="../ink/ink2.xml"/><Relationship Id="rId10" Type="http://schemas.openxmlformats.org/officeDocument/2006/relationships/image" Target="NULL"/><Relationship Id="rId4" Type="http://schemas.openxmlformats.org/officeDocument/2006/relationships/image" Target="../media/image23.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9.jpe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customXml" Target="../ink/ink4.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customXml" Target="../ink/ink6.xml"/><Relationship Id="rId5" Type="http://schemas.openxmlformats.org/officeDocument/2006/relationships/image" Target="../media/image27.png"/><Relationship Id="rId4" Type="http://schemas.openxmlformats.org/officeDocument/2006/relationships/customXml" Target="../ink/ink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5.wmf"/></Relationships>
</file>

<file path=ppt/slides/_rels/slide3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customXml" Target="../ink/ink10.xml"/><Relationship Id="rId13"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0.png"/><Relationship Id="rId12" Type="http://schemas.openxmlformats.org/officeDocument/2006/relationships/customXml" Target="../ink/ink12.xml"/><Relationship Id="rId2" Type="http://schemas.openxmlformats.org/officeDocument/2006/relationships/customXml" Target="../ink/ink7.xml"/><Relationship Id="rId1" Type="http://schemas.openxmlformats.org/officeDocument/2006/relationships/slideLayout" Target="../slideLayouts/slideLayout2.xml"/><Relationship Id="rId6" Type="http://schemas.openxmlformats.org/officeDocument/2006/relationships/customXml" Target="../ink/ink9.xml"/><Relationship Id="rId11" Type="http://schemas.openxmlformats.org/officeDocument/2006/relationships/image" Target="../media/image42.png"/><Relationship Id="rId5" Type="http://schemas.openxmlformats.org/officeDocument/2006/relationships/image" Target="../media/image39.png"/><Relationship Id="rId15" Type="http://schemas.openxmlformats.org/officeDocument/2006/relationships/image" Target="../media/image44.png"/><Relationship Id="rId10" Type="http://schemas.openxmlformats.org/officeDocument/2006/relationships/customXml" Target="../ink/ink11.xml"/><Relationship Id="rId4" Type="http://schemas.openxmlformats.org/officeDocument/2006/relationships/customXml" Target="../ink/ink8.xml"/><Relationship Id="rId9" Type="http://schemas.openxmlformats.org/officeDocument/2006/relationships/image" Target="../media/image41.png"/><Relationship Id="rId14" Type="http://schemas.openxmlformats.org/officeDocument/2006/relationships/customXml" Target="../ink/ink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4" descr="80486 - 800nm-small.jpg">
            <a:extLst>
              <a:ext uri="{FF2B5EF4-FFF2-40B4-BE49-F238E27FC236}">
                <a16:creationId xmlns:a16="http://schemas.microsoft.com/office/drawing/2014/main" id="{CC71C6FA-DE5D-6FFD-ECEF-2E1C3FE984B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8535988"/>
            <a:ext cx="9601200" cy="1539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1" name="Rectangle 5">
            <a:extLst>
              <a:ext uri="{FF2B5EF4-FFF2-40B4-BE49-F238E27FC236}">
                <a16:creationId xmlns:a16="http://schemas.microsoft.com/office/drawing/2014/main" id="{C7938934-130A-32B0-4913-04E79A491C69}"/>
              </a:ext>
            </a:extLst>
          </p:cNvPr>
          <p:cNvSpPr>
            <a:spLocks noChangeArrowheads="1"/>
          </p:cNvSpPr>
          <p:nvPr/>
        </p:nvSpPr>
        <p:spPr bwMode="auto">
          <a:xfrm>
            <a:off x="1295400" y="1066800"/>
            <a:ext cx="6629400" cy="4038600"/>
          </a:xfrm>
          <a:prstGeom prst="rect">
            <a:avLst/>
          </a:prstGeom>
          <a:solidFill>
            <a:srgbClr val="FFFFFF">
              <a:alpha val="74901"/>
            </a:srgbClr>
          </a:solidFill>
          <a:ln w="9525">
            <a:solidFill>
              <a:schemeClr val="tx1"/>
            </a:solidFill>
            <a:round/>
            <a:headEnd/>
            <a:tailEnd/>
          </a:ln>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en-US" altLang="en-US"/>
          </a:p>
        </p:txBody>
      </p:sp>
      <p:sp>
        <p:nvSpPr>
          <p:cNvPr id="22532" name="Title 1">
            <a:extLst>
              <a:ext uri="{FF2B5EF4-FFF2-40B4-BE49-F238E27FC236}">
                <a16:creationId xmlns:a16="http://schemas.microsoft.com/office/drawing/2014/main" id="{2CC6F769-69D0-CE8D-5258-3FE528E20BA3}"/>
              </a:ext>
            </a:extLst>
          </p:cNvPr>
          <p:cNvSpPr>
            <a:spLocks noGrp="1"/>
          </p:cNvSpPr>
          <p:nvPr>
            <p:ph type="ctrTitle"/>
          </p:nvPr>
        </p:nvSpPr>
        <p:spPr>
          <a:xfrm>
            <a:off x="0" y="990600"/>
            <a:ext cx="9144000" cy="2819400"/>
          </a:xfrm>
        </p:spPr>
        <p:txBody>
          <a:bodyPr/>
          <a:lstStyle/>
          <a:p>
            <a:r>
              <a:rPr lang="en-US" altLang="en-US" sz="3200" dirty="0">
                <a:solidFill>
                  <a:srgbClr val="0000FF"/>
                </a:solidFill>
                <a:latin typeface="Arial  " charset="0"/>
                <a:cs typeface="Arial  " charset="0"/>
              </a:rPr>
              <a:t>CPEN 411: Computer Architecture</a:t>
            </a:r>
            <a:br>
              <a:rPr lang="en-US" altLang="en-US" sz="2400" dirty="0">
                <a:solidFill>
                  <a:srgbClr val="0000FF"/>
                </a:solidFill>
                <a:latin typeface="Arial  " charset="0"/>
                <a:cs typeface="Arial  " charset="0"/>
              </a:rPr>
            </a:br>
            <a:br>
              <a:rPr lang="en-US" altLang="en-US" dirty="0">
                <a:solidFill>
                  <a:srgbClr val="0000FF"/>
                </a:solidFill>
                <a:latin typeface="Arial  " charset="0"/>
                <a:cs typeface="Arial  " charset="0"/>
              </a:rPr>
            </a:br>
            <a:r>
              <a:rPr lang="en-US" altLang="en-US" sz="4400" dirty="0">
                <a:solidFill>
                  <a:srgbClr val="0000FF"/>
                </a:solidFill>
                <a:latin typeface="Arial  " charset="0"/>
                <a:cs typeface="Arial  " charset="0"/>
              </a:rPr>
              <a:t>Slide Set #8: Pipelining</a:t>
            </a:r>
            <a:endParaRPr lang="en-US" altLang="en-US" sz="2800" dirty="0">
              <a:solidFill>
                <a:srgbClr val="0000FF"/>
              </a:solidFill>
              <a:latin typeface="Arial  " charset="0"/>
              <a:cs typeface="Arial  " charset="0"/>
            </a:endParaRPr>
          </a:p>
        </p:txBody>
      </p:sp>
      <p:sp>
        <p:nvSpPr>
          <p:cNvPr id="22533" name="Subtitle 2">
            <a:extLst>
              <a:ext uri="{FF2B5EF4-FFF2-40B4-BE49-F238E27FC236}">
                <a16:creationId xmlns:a16="http://schemas.microsoft.com/office/drawing/2014/main" id="{95C0D949-1A5F-BB66-515E-9D0992E1E3E1}"/>
              </a:ext>
            </a:extLst>
          </p:cNvPr>
          <p:cNvSpPr>
            <a:spLocks noGrp="1"/>
          </p:cNvSpPr>
          <p:nvPr>
            <p:ph type="subTitle" idx="1"/>
          </p:nvPr>
        </p:nvSpPr>
        <p:spPr/>
        <p:txBody>
          <a:bodyPr/>
          <a:lstStyle/>
          <a:p>
            <a:r>
              <a:rPr lang="en-US" altLang="en-US">
                <a:solidFill>
                  <a:srgbClr val="0000FF"/>
                </a:solidFill>
                <a:latin typeface="Arial  " charset="0"/>
                <a:cs typeface="Arial  " charset="0"/>
              </a:rPr>
              <a:t>Instructor: Tor Aamodt</a:t>
            </a:r>
          </a:p>
        </p:txBody>
      </p:sp>
      <p:sp>
        <p:nvSpPr>
          <p:cNvPr id="22534" name="Slide Number Placeholder 5">
            <a:extLst>
              <a:ext uri="{FF2B5EF4-FFF2-40B4-BE49-F238E27FC236}">
                <a16:creationId xmlns:a16="http://schemas.microsoft.com/office/drawing/2014/main" id="{728C8AC3-1163-0CDB-9F67-8DEF3B2723DF}"/>
              </a:ext>
            </a:extLst>
          </p:cNvPr>
          <p:cNvSpPr>
            <a:spLocks noGrp="1"/>
          </p:cNvSpPr>
          <p:nvPr>
            <p:ph type="sldNum" sz="quarter" idx="12"/>
          </p:nvPr>
        </p:nvSpPr>
        <p:spPr bwMode="auto">
          <a:xfrm>
            <a:off x="6553200" y="6248400"/>
            <a:ext cx="1905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Comic Sans MS" panose="030F0902030302020204" pitchFamily="66"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9pPr>
          </a:lstStyle>
          <a:p>
            <a:fld id="{496A0694-E4B9-D944-8E45-59572735274C}" type="slidenum">
              <a:rPr lang="en-US" altLang="en-US" smtClean="0"/>
              <a:pPr/>
              <a:t>1</a:t>
            </a:fld>
            <a:r>
              <a:rPr lang="en-US" altLang="en-US"/>
              <a:t> </a:t>
            </a:r>
            <a:endParaRPr lang="en-GB" altLang="en-US" sz="1400">
              <a:latin typeface="Comic Sans MS" panose="030F0902030302020204" pitchFamily="66" charset="0"/>
            </a:endParaRPr>
          </a:p>
        </p:txBody>
      </p:sp>
      <p:sp>
        <p:nvSpPr>
          <p:cNvPr id="22535" name="TextBox 6">
            <a:extLst>
              <a:ext uri="{FF2B5EF4-FFF2-40B4-BE49-F238E27FC236}">
                <a16:creationId xmlns:a16="http://schemas.microsoft.com/office/drawing/2014/main" id="{D80207C1-6F22-FDBB-384B-628B1479C35C}"/>
              </a:ext>
            </a:extLst>
          </p:cNvPr>
          <p:cNvSpPr txBox="1">
            <a:spLocks noChangeArrowheads="1"/>
          </p:cNvSpPr>
          <p:nvPr/>
        </p:nvSpPr>
        <p:spPr bwMode="auto">
          <a:xfrm>
            <a:off x="1428750" y="5791200"/>
            <a:ext cx="6072188" cy="307975"/>
          </a:xfrm>
          <a:prstGeom prst="rect">
            <a:avLst/>
          </a:prstGeom>
          <a:solidFill>
            <a:srgbClr val="FFFFFF">
              <a:alpha val="74901"/>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1400">
                <a:solidFill>
                  <a:srgbClr val="0000FF"/>
                </a:solidFill>
              </a:rPr>
              <a:t>Slide background: Die photo of the Intel 486 (first pipelined x86 processor)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4294967295"/>
          </p:nvPr>
        </p:nvSpPr>
        <p:spPr>
          <a:xfrm>
            <a:off x="628650" y="6356351"/>
            <a:ext cx="7221311" cy="365125"/>
          </a:xfrm>
          <a:prstGeom prst="rect">
            <a:avLst/>
          </a:prstGeom>
        </p:spPr>
        <p:txBody>
          <a:bodyPr/>
          <a:lstStyle/>
          <a:p>
            <a:endParaRPr lang="en-US"/>
          </a:p>
        </p:txBody>
      </p:sp>
      <p:sp>
        <p:nvSpPr>
          <p:cNvPr id="5" name="Slide Number Placeholder 4"/>
          <p:cNvSpPr>
            <a:spLocks noGrp="1"/>
          </p:cNvSpPr>
          <p:nvPr>
            <p:ph type="sldNum" sz="quarter" idx="4294967295"/>
          </p:nvPr>
        </p:nvSpPr>
        <p:spPr>
          <a:xfrm>
            <a:off x="8015287" y="6356351"/>
            <a:ext cx="500063" cy="365125"/>
          </a:xfrm>
          <a:prstGeom prst="rect">
            <a:avLst/>
          </a:prstGeom>
        </p:spPr>
        <p:txBody>
          <a:bodyPr/>
          <a:lstStyle/>
          <a:p>
            <a:fld id="{05C504CC-265C-F944-A6A7-0AE26EDF536F}" type="slidenum">
              <a:rPr lang="en-US" smtClean="0"/>
              <a:t>2</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333" y="-133240"/>
            <a:ext cx="8825991" cy="7103660"/>
          </a:xfrm>
          <a:prstGeom prst="rect">
            <a:avLst/>
          </a:prstGeom>
        </p:spPr>
      </p:pic>
      <p:grpSp>
        <p:nvGrpSpPr>
          <p:cNvPr id="12" name="Group 11"/>
          <p:cNvGrpSpPr/>
          <p:nvPr/>
        </p:nvGrpSpPr>
        <p:grpSpPr>
          <a:xfrm>
            <a:off x="4081819" y="3428999"/>
            <a:ext cx="4882669" cy="3113468"/>
            <a:chOff x="4081819" y="3219062"/>
            <a:chExt cx="4882669" cy="3323406"/>
          </a:xfrm>
        </p:grpSpPr>
        <mc:AlternateContent xmlns:mc="http://schemas.openxmlformats.org/markup-compatibility/2006" xmlns:p14="http://schemas.microsoft.com/office/powerpoint/2010/main">
          <mc:Choice Requires="p14">
            <p:contentPart p14:bwMode="auto" r:id="rId3">
              <p14:nvContentPartPr>
                <p14:cNvPr id="13" name="Ink 12"/>
                <p14:cNvContentPartPr/>
                <p14:nvPr/>
              </p14:nvContentPartPr>
              <p14:xfrm>
                <a:off x="4081819" y="3219062"/>
                <a:ext cx="3311033" cy="3323406"/>
              </p14:xfrm>
            </p:contentPart>
          </mc:Choice>
          <mc:Fallback xmlns="">
            <p:pic>
              <p:nvPicPr>
                <p:cNvPr id="13" name="Ink 12"/>
                <p:cNvPicPr/>
                <p:nvPr/>
              </p:nvPicPr>
              <p:blipFill>
                <a:blip r:embed="rId4"/>
                <a:stretch>
                  <a:fillRect/>
                </a:stretch>
              </p:blipFill>
              <p:spPr>
                <a:xfrm>
                  <a:off x="4064178" y="3199849"/>
                  <a:ext cx="3346674" cy="3361447"/>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4" name="Ink 13"/>
                <p14:cNvContentPartPr/>
                <p14:nvPr/>
              </p14:nvContentPartPr>
              <p14:xfrm>
                <a:off x="4793138" y="3605428"/>
                <a:ext cx="361800" cy="283991"/>
              </p14:xfrm>
            </p:contentPart>
          </mc:Choice>
          <mc:Fallback xmlns="">
            <p:pic>
              <p:nvPicPr>
                <p:cNvPr id="7" name="Ink 6"/>
                <p:cNvPicPr/>
                <p:nvPr/>
              </p:nvPicPr>
              <p:blipFill>
                <a:blip r:embed="rId10"/>
                <a:stretch>
                  <a:fillRect/>
                </a:stretch>
              </p:blipFill>
              <p:spPr>
                <a:xfrm>
                  <a:off x="4775498" y="3587431"/>
                  <a:ext cx="397440" cy="319625"/>
                </a:xfrm>
                <a:prstGeom prst="rect">
                  <a:avLst/>
                </a:prstGeom>
              </p:spPr>
            </p:pic>
          </mc:Fallback>
        </mc:AlternateContent>
        <p:sp>
          <p:nvSpPr>
            <p:cNvPr id="15" name="TextBox 14"/>
            <p:cNvSpPr txBox="1"/>
            <p:nvPr/>
          </p:nvSpPr>
          <p:spPr>
            <a:xfrm>
              <a:off x="7407651" y="3526516"/>
              <a:ext cx="1556837" cy="1018441"/>
            </a:xfrm>
            <a:prstGeom prst="rect">
              <a:avLst/>
            </a:prstGeom>
            <a:noFill/>
          </p:spPr>
          <p:txBody>
            <a:bodyPr wrap="none" rtlCol="0">
              <a:spAutoFit/>
            </a:bodyPr>
            <a:lstStyle/>
            <a:p>
              <a:pPr algn="r"/>
              <a:r>
                <a:rPr lang="en-US" sz="2800" b="1" dirty="0">
                  <a:solidFill>
                    <a:srgbClr val="FF0000"/>
                  </a:solidFill>
                  <a:latin typeface="Arial Narrow" charset="0"/>
                  <a:ea typeface="Arial Narrow" charset="0"/>
                  <a:cs typeface="Arial Narrow" charset="0"/>
                </a:rPr>
                <a:t>pipelined</a:t>
              </a:r>
            </a:p>
            <a:p>
              <a:pPr algn="r"/>
              <a:r>
                <a:rPr lang="en-US" sz="2800" b="1" dirty="0">
                  <a:solidFill>
                    <a:srgbClr val="FF0000"/>
                  </a:solidFill>
                  <a:latin typeface="Arial Narrow" charset="0"/>
                  <a:ea typeface="Arial Narrow" charset="0"/>
                  <a:cs typeface="Arial Narrow" charset="0"/>
                </a:rPr>
                <a:t>execution</a:t>
              </a:r>
            </a:p>
          </p:txBody>
        </p:sp>
      </p:grpSp>
    </p:spTree>
    <p:extLst>
      <p:ext uri="{BB962C8B-B14F-4D97-AF65-F5344CB8AC3E}">
        <p14:creationId xmlns:p14="http://schemas.microsoft.com/office/powerpoint/2010/main" val="1247214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a:xfrm>
            <a:off x="685800" y="0"/>
            <a:ext cx="7772400" cy="838200"/>
          </a:xfrm>
        </p:spPr>
        <p:txBody>
          <a:bodyPr/>
          <a:lstStyle/>
          <a:p>
            <a:pPr eaLnBrk="1" hangingPunct="1"/>
            <a:r>
              <a:rPr lang="en-US" altLang="en-US" sz="4800" b="1">
                <a:latin typeface="Arial  " charset="0"/>
                <a:ea typeface="MS PGothic" charset="-128"/>
                <a:cs typeface="Arial  " charset="0"/>
              </a:rPr>
              <a:t>Intel 486</a:t>
            </a:r>
            <a:endParaRPr lang="en-US" altLang="en-US" b="1">
              <a:latin typeface="Arial  " charset="0"/>
              <a:ea typeface="MS PGothic" charset="-128"/>
              <a:cs typeface="Arial  " charset="0"/>
            </a:endParaRPr>
          </a:p>
        </p:txBody>
      </p:sp>
      <p:sp>
        <p:nvSpPr>
          <p:cNvPr id="17410" name="Rectangle 3"/>
          <p:cNvSpPr>
            <a:spLocks noGrp="1" noChangeArrowheads="1"/>
          </p:cNvSpPr>
          <p:nvPr>
            <p:ph type="body" idx="1"/>
          </p:nvPr>
        </p:nvSpPr>
        <p:spPr>
          <a:xfrm>
            <a:off x="228600" y="6019800"/>
            <a:ext cx="6935788" cy="609600"/>
          </a:xfrm>
        </p:spPr>
        <p:txBody>
          <a:bodyPr/>
          <a:lstStyle/>
          <a:p>
            <a:pPr eaLnBrk="1" hangingPunct="1">
              <a:lnSpc>
                <a:spcPct val="90000"/>
              </a:lnSpc>
              <a:buFontTx/>
              <a:buNone/>
            </a:pPr>
            <a:r>
              <a:rPr lang="en-US" altLang="en-US" sz="1800">
                <a:latin typeface="Arial  " charset="0"/>
                <a:ea typeface="MS PGothic" charset="-128"/>
                <a:cs typeface="Arial  " charset="0"/>
              </a:rPr>
              <a:t>      </a:t>
            </a:r>
            <a:r>
              <a:rPr lang="en-US" altLang="en-US" sz="1400">
                <a:latin typeface="Arial  " charset="0"/>
                <a:ea typeface="MS PGothic" charset="-128"/>
                <a:cs typeface="Arial  " charset="0"/>
              </a:rPr>
              <a:t>John H. Crawford, “The i486 CPU: Executing Instructions in One Clock Cycle”, </a:t>
            </a:r>
            <a:r>
              <a:rPr lang="en-US" altLang="en-US" sz="1400" b="1">
                <a:latin typeface="Arial  " charset="0"/>
                <a:ea typeface="MS PGothic" charset="-128"/>
                <a:cs typeface="Arial  " charset="0"/>
              </a:rPr>
              <a:t>IEEE Micro</a:t>
            </a:r>
            <a:r>
              <a:rPr lang="en-US" altLang="en-US" sz="1400">
                <a:latin typeface="Arial  " charset="0"/>
                <a:ea typeface="MS PGothic" charset="-128"/>
                <a:cs typeface="Arial  " charset="0"/>
              </a:rPr>
              <a:t>, Feb. 1990</a:t>
            </a:r>
            <a:endParaRPr lang="en-US" altLang="en-US" sz="1800">
              <a:latin typeface="Arial  " charset="0"/>
              <a:ea typeface="MS PGothic" charset="-128"/>
              <a:cs typeface="Arial  " charset="0"/>
            </a:endParaRPr>
          </a:p>
        </p:txBody>
      </p:sp>
      <p:pic>
        <p:nvPicPr>
          <p:cNvPr id="17411" name="Picture 5" descr="i486-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838200"/>
            <a:ext cx="5029200" cy="200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4" name="Picture 8" descr="i486-b"/>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3200400"/>
            <a:ext cx="4495800" cy="271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5" name="Picture 9" descr="i486-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57800" y="3355975"/>
            <a:ext cx="3500438"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1"/>
          <p:cNvGrpSpPr/>
          <p:nvPr/>
        </p:nvGrpSpPr>
        <p:grpSpPr>
          <a:xfrm>
            <a:off x="327025" y="2098675"/>
            <a:ext cx="4854575" cy="365125"/>
            <a:chOff x="327025" y="2098675"/>
            <a:chExt cx="4854575" cy="365125"/>
          </a:xfrm>
        </p:grpSpPr>
        <p:sp>
          <p:nvSpPr>
            <p:cNvPr id="17412" name="Rectangle 6"/>
            <p:cNvSpPr>
              <a:spLocks noChangeArrowheads="1"/>
            </p:cNvSpPr>
            <p:nvPr/>
          </p:nvSpPr>
          <p:spPr bwMode="auto">
            <a:xfrm>
              <a:off x="327025" y="2098675"/>
              <a:ext cx="4854575" cy="360363"/>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17413" name="Rectangle 7"/>
            <p:cNvSpPr>
              <a:spLocks noChangeArrowheads="1"/>
            </p:cNvSpPr>
            <p:nvPr/>
          </p:nvSpPr>
          <p:spPr bwMode="auto">
            <a:xfrm>
              <a:off x="838200" y="2298700"/>
              <a:ext cx="1498600" cy="165100"/>
            </a:xfrm>
            <a:prstGeom prst="rect">
              <a:avLst/>
            </a:prstGeom>
            <a:gradFill rotWithShape="0">
              <a:gsLst>
                <a:gs pos="0">
                  <a:srgbClr val="FF0000">
                    <a:alpha val="31000"/>
                  </a:srgbClr>
                </a:gs>
                <a:gs pos="100000">
                  <a:srgbClr val="FF3737">
                    <a:alpha val="29999"/>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17416" name="Rectangle 11"/>
            <p:cNvSpPr>
              <a:spLocks noChangeArrowheads="1"/>
            </p:cNvSpPr>
            <p:nvPr/>
          </p:nvSpPr>
          <p:spPr bwMode="auto">
            <a:xfrm>
              <a:off x="2298700" y="2108200"/>
              <a:ext cx="1168400" cy="165100"/>
            </a:xfrm>
            <a:prstGeom prst="rect">
              <a:avLst/>
            </a:prstGeom>
            <a:gradFill rotWithShape="0">
              <a:gsLst>
                <a:gs pos="0">
                  <a:srgbClr val="FF0000">
                    <a:alpha val="31000"/>
                  </a:srgbClr>
                </a:gs>
                <a:gs pos="100000">
                  <a:srgbClr val="FF3737">
                    <a:alpha val="29999"/>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grpSp>
      <p:sp>
        <p:nvSpPr>
          <p:cNvPr id="17417" name="Slide Number Placeholder 12"/>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35B99D44-F190-BF45-AA12-F46D761A5042}" type="slidenum">
              <a:rPr lang="en-US" altLang="en-US" sz="1400">
                <a:latin typeface="Comic Sans MS" charset="0"/>
                <a:ea typeface="ＭＳ Ｐゴシック" charset="-128"/>
              </a:rPr>
              <a:pPr>
                <a:spcBef>
                  <a:spcPct val="0"/>
                </a:spcBef>
                <a:buFontTx/>
                <a:buNone/>
              </a:pPr>
              <a:t>3</a:t>
            </a:fld>
            <a:r>
              <a:rPr lang="en-US" altLang="en-US" sz="1400">
                <a:latin typeface="Comic Sans MS" charset="0"/>
                <a:ea typeface="ＭＳ Ｐゴシック" charset="-128"/>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a:xfrm>
            <a:off x="685800" y="0"/>
            <a:ext cx="7772400" cy="914400"/>
          </a:xfrm>
        </p:spPr>
        <p:txBody>
          <a:bodyPr/>
          <a:lstStyle/>
          <a:p>
            <a:pPr eaLnBrk="1" hangingPunct="1"/>
            <a:r>
              <a:rPr lang="en-US" altLang="en-US" b="1">
                <a:latin typeface="Arial  " charset="0"/>
                <a:ea typeface="MS PGothic" charset="-128"/>
                <a:cs typeface="Arial  " charset="0"/>
              </a:rPr>
              <a:t>Learning Objectives</a:t>
            </a:r>
          </a:p>
        </p:txBody>
      </p:sp>
      <p:sp>
        <p:nvSpPr>
          <p:cNvPr id="20482" name="Content Placeholder 2"/>
          <p:cNvSpPr>
            <a:spLocks noGrp="1"/>
          </p:cNvSpPr>
          <p:nvPr>
            <p:ph idx="1"/>
          </p:nvPr>
        </p:nvSpPr>
        <p:spPr>
          <a:xfrm>
            <a:off x="304800" y="1066800"/>
            <a:ext cx="8153400" cy="5029200"/>
          </a:xfrm>
        </p:spPr>
        <p:txBody>
          <a:bodyPr/>
          <a:lstStyle/>
          <a:p>
            <a:pPr eaLnBrk="1" hangingPunct="1"/>
            <a:endParaRPr lang="en-US" altLang="en-US" sz="2000" dirty="0">
              <a:latin typeface="Arial  " charset="0"/>
              <a:ea typeface="MS PGothic" charset="-128"/>
              <a:cs typeface="Arial  " charset="0"/>
            </a:endParaRPr>
          </a:p>
          <a:p>
            <a:pPr eaLnBrk="1" hangingPunct="1"/>
            <a:r>
              <a:rPr lang="en-US" altLang="en-US" sz="2200" dirty="0">
                <a:latin typeface="Arial  " charset="0"/>
                <a:ea typeface="MS PGothic" charset="-128"/>
                <a:cs typeface="Arial  " charset="0"/>
              </a:rPr>
              <a:t>Define pipelining and explain it using a simple analogy</a:t>
            </a:r>
          </a:p>
          <a:p>
            <a:pPr lvl="1" eaLnBrk="1" hangingPunct="1"/>
            <a:endParaRPr lang="en-US" altLang="en-US" sz="1800" dirty="0">
              <a:latin typeface="Arial  " charset="0"/>
              <a:ea typeface="MS PGothic" charset="-128"/>
              <a:cs typeface="Arial  " charset="0"/>
            </a:endParaRPr>
          </a:p>
          <a:p>
            <a:pPr eaLnBrk="1" hangingPunct="1"/>
            <a:r>
              <a:rPr lang="en-US" altLang="en-US" sz="2200" dirty="0">
                <a:latin typeface="Arial  " charset="0"/>
                <a:ea typeface="MS PGothic" charset="-128"/>
                <a:cs typeface="Arial  " charset="0"/>
              </a:rPr>
              <a:t>Describe arithmetic pipelines and the limitations of pipelining</a:t>
            </a:r>
          </a:p>
          <a:p>
            <a:pPr lvl="1" eaLnBrk="1" hangingPunct="1"/>
            <a:endParaRPr lang="en-US" altLang="en-US" sz="1800" dirty="0">
              <a:latin typeface="Arial  " charset="0"/>
              <a:ea typeface="MS PGothic" charset="-128"/>
              <a:cs typeface="Arial  " charset="0"/>
            </a:endParaRPr>
          </a:p>
          <a:p>
            <a:pPr eaLnBrk="1" hangingPunct="1"/>
            <a:r>
              <a:rPr lang="en-US" altLang="en-US" sz="2200" dirty="0">
                <a:latin typeface="Arial  " charset="0"/>
                <a:ea typeface="MS PGothic" charset="-128"/>
                <a:cs typeface="Arial  " charset="0"/>
              </a:rPr>
              <a:t>Explain the simple five stage pipeline</a:t>
            </a:r>
          </a:p>
          <a:p>
            <a:pPr lvl="1" eaLnBrk="1" hangingPunct="1"/>
            <a:endParaRPr lang="en-US" altLang="en-US" sz="1800" dirty="0">
              <a:latin typeface="Arial  " charset="0"/>
              <a:ea typeface="MS PGothic" charset="-128"/>
              <a:cs typeface="Arial  " charset="0"/>
            </a:endParaRPr>
          </a:p>
          <a:p>
            <a:pPr eaLnBrk="1" hangingPunct="1"/>
            <a:r>
              <a:rPr lang="en-US" altLang="en-US" sz="2200" dirty="0">
                <a:latin typeface="Arial  " charset="0"/>
                <a:ea typeface="MS PGothic" charset="-128"/>
                <a:cs typeface="Arial  " charset="0"/>
              </a:rPr>
              <a:t>Describe pipelined control signals and explain their purpose</a:t>
            </a:r>
          </a:p>
          <a:p>
            <a:pPr lvl="1" eaLnBrk="1" hangingPunct="1"/>
            <a:endParaRPr lang="en-US" altLang="en-US" sz="1800" dirty="0">
              <a:latin typeface="Arial  " charset="0"/>
              <a:ea typeface="MS PGothic" charset="-128"/>
              <a:cs typeface="Arial  " charset="0"/>
            </a:endParaRPr>
          </a:p>
          <a:p>
            <a:pPr eaLnBrk="1" hangingPunct="1"/>
            <a:r>
              <a:rPr lang="en-US" altLang="en-US" sz="2200" dirty="0">
                <a:latin typeface="Arial  " charset="0"/>
                <a:ea typeface="MS PGothic" charset="-128"/>
                <a:cs typeface="Arial  " charset="0"/>
              </a:rPr>
              <a:t>Explain hazards</a:t>
            </a:r>
          </a:p>
          <a:p>
            <a:pPr lvl="1" eaLnBrk="1" hangingPunct="1"/>
            <a:endParaRPr lang="en-US" altLang="en-US" sz="1800" dirty="0">
              <a:latin typeface="Arial  " charset="0"/>
              <a:ea typeface="MS PGothic" charset="-128"/>
              <a:cs typeface="Arial  " charset="0"/>
            </a:endParaRPr>
          </a:p>
          <a:p>
            <a:pPr eaLnBrk="1" hangingPunct="1"/>
            <a:r>
              <a:rPr lang="en-US" altLang="en-US" sz="2200" dirty="0">
                <a:latin typeface="Arial  " charset="0"/>
                <a:ea typeface="MS PGothic" charset="-128"/>
                <a:cs typeface="Arial  " charset="0"/>
              </a:rPr>
              <a:t>Describe the approaches used to overcome hazards</a:t>
            </a:r>
          </a:p>
          <a:p>
            <a:pPr eaLnBrk="1" hangingPunct="1"/>
            <a:endParaRPr lang="en-US" altLang="en-US" sz="2200" dirty="0">
              <a:latin typeface="Arial  " charset="0"/>
              <a:ea typeface="MS PGothic" charset="-128"/>
              <a:cs typeface="Arial  " charset="0"/>
            </a:endParaRPr>
          </a:p>
          <a:p>
            <a:pPr eaLnBrk="1" hangingPunct="1"/>
            <a:r>
              <a:rPr lang="en-US" altLang="en-US" sz="2200" dirty="0">
                <a:latin typeface="Arial  " charset="0"/>
                <a:ea typeface="MS PGothic" charset="-128"/>
                <a:cs typeface="Arial  " charset="0"/>
              </a:rPr>
              <a:t>Explain the implementation logic of the five-stage pipeline</a:t>
            </a:r>
          </a:p>
          <a:p>
            <a:pPr lvl="1" eaLnBrk="1" hangingPunct="1"/>
            <a:endParaRPr lang="en-US" altLang="en-US" sz="1800" dirty="0">
              <a:latin typeface="Arial  " charset="0"/>
              <a:ea typeface="MS PGothic" charset="-128"/>
              <a:cs typeface="Arial  " charset="0"/>
            </a:endParaRPr>
          </a:p>
          <a:p>
            <a:pPr lvl="1" eaLnBrk="1" hangingPunct="1"/>
            <a:endParaRPr lang="en-US" altLang="en-US" sz="1800" dirty="0">
              <a:latin typeface="Arial  " charset="0"/>
              <a:ea typeface="MS PGothic" charset="-128"/>
              <a:cs typeface="Arial  "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p:txBody>
          <a:bodyPr/>
          <a:lstStyle/>
          <a:p>
            <a:pPr eaLnBrk="1" hangingPunct="1"/>
            <a:r>
              <a:rPr lang="en-US" altLang="en-US" b="1">
                <a:latin typeface="Arial  " charset="0"/>
                <a:ea typeface="MS PGothic" charset="-128"/>
                <a:cs typeface="Arial  " charset="0"/>
              </a:rPr>
              <a:t>A Simple RISC Implementation</a:t>
            </a:r>
          </a:p>
        </p:txBody>
      </p:sp>
      <p:sp>
        <p:nvSpPr>
          <p:cNvPr id="25602" name="Rectangle 3"/>
          <p:cNvSpPr>
            <a:spLocks noGrp="1" noChangeArrowheads="1"/>
          </p:cNvSpPr>
          <p:nvPr>
            <p:ph type="body" idx="1"/>
          </p:nvPr>
        </p:nvSpPr>
        <p:spPr>
          <a:xfrm>
            <a:off x="685800" y="1219200"/>
            <a:ext cx="7772400" cy="4724400"/>
          </a:xfrm>
        </p:spPr>
        <p:txBody>
          <a:bodyPr/>
          <a:lstStyle/>
          <a:p>
            <a:pPr marL="457200" indent="-457200" eaLnBrk="1" hangingPunct="1">
              <a:lnSpc>
                <a:spcPct val="90000"/>
              </a:lnSpc>
              <a:buFontTx/>
              <a:buAutoNum type="arabicPeriod"/>
            </a:pPr>
            <a:r>
              <a:rPr lang="en-US" altLang="en-US" sz="2000" dirty="0">
                <a:latin typeface="Arial  " charset="0"/>
                <a:ea typeface="MS PGothic" charset="-128"/>
                <a:cs typeface="Arial  " charset="0"/>
              </a:rPr>
              <a:t>Instruction fetch (IF)</a:t>
            </a:r>
          </a:p>
          <a:p>
            <a:pPr marL="838200" lvl="1" indent="-381000" eaLnBrk="1" hangingPunct="1">
              <a:lnSpc>
                <a:spcPct val="90000"/>
              </a:lnSpc>
            </a:pPr>
            <a:r>
              <a:rPr lang="en-US" altLang="en-US" sz="1800" dirty="0">
                <a:latin typeface="Arial  " charset="0"/>
                <a:ea typeface="MS PGothic" charset="-128"/>
                <a:cs typeface="Arial  " charset="0"/>
              </a:rPr>
              <a:t>Send PC to memory and fetch the current instruction from memory. Update the PC to next sequential PC by adding 4</a:t>
            </a:r>
          </a:p>
          <a:p>
            <a:pPr marL="838200" lvl="1" indent="-381000" eaLnBrk="1" hangingPunct="1">
              <a:lnSpc>
                <a:spcPct val="90000"/>
              </a:lnSpc>
            </a:pPr>
            <a:endParaRPr lang="en-US" altLang="en-US" sz="1800" dirty="0">
              <a:latin typeface="Arial  " charset="0"/>
              <a:ea typeface="MS PGothic" charset="-128"/>
              <a:cs typeface="Arial  " charset="0"/>
            </a:endParaRPr>
          </a:p>
          <a:p>
            <a:pPr marL="457200" indent="-457200" eaLnBrk="1" hangingPunct="1">
              <a:lnSpc>
                <a:spcPct val="90000"/>
              </a:lnSpc>
              <a:buFontTx/>
              <a:buAutoNum type="arabicPeriod"/>
            </a:pPr>
            <a:r>
              <a:rPr lang="en-US" altLang="en-US" sz="2000" dirty="0">
                <a:latin typeface="Arial  " charset="0"/>
                <a:ea typeface="MS PGothic" charset="-128"/>
                <a:cs typeface="Arial  " charset="0"/>
              </a:rPr>
              <a:t>Instruction Decode/Register fetch (ID)</a:t>
            </a:r>
          </a:p>
          <a:p>
            <a:pPr marL="838200" lvl="1" indent="-381000" eaLnBrk="1" hangingPunct="1">
              <a:lnSpc>
                <a:spcPct val="90000"/>
              </a:lnSpc>
            </a:pPr>
            <a:r>
              <a:rPr lang="en-US" altLang="en-US" sz="1800" dirty="0">
                <a:latin typeface="Arial  " charset="0"/>
                <a:ea typeface="MS PGothic" charset="-128"/>
                <a:cs typeface="Arial  " charset="0"/>
              </a:rPr>
              <a:t>decode instruction (what does it do?)</a:t>
            </a:r>
          </a:p>
          <a:p>
            <a:pPr marL="838200" lvl="1" indent="-381000" eaLnBrk="1" hangingPunct="1">
              <a:lnSpc>
                <a:spcPct val="90000"/>
              </a:lnSpc>
            </a:pPr>
            <a:r>
              <a:rPr lang="en-US" altLang="en-US" sz="1800" dirty="0">
                <a:latin typeface="Arial  " charset="0"/>
                <a:ea typeface="MS PGothic" charset="-128"/>
                <a:cs typeface="Arial  " charset="0"/>
              </a:rPr>
              <a:t>read source registers</a:t>
            </a:r>
          </a:p>
          <a:p>
            <a:pPr marL="838200" lvl="1" indent="-381000" eaLnBrk="1" hangingPunct="1">
              <a:lnSpc>
                <a:spcPct val="90000"/>
              </a:lnSpc>
            </a:pPr>
            <a:r>
              <a:rPr lang="en-US" altLang="en-US" sz="1800" dirty="0">
                <a:latin typeface="Arial  " charset="0"/>
                <a:ea typeface="MS PGothic" charset="-128"/>
                <a:cs typeface="Arial  " charset="0"/>
              </a:rPr>
              <a:t>compute branch target and condition</a:t>
            </a:r>
          </a:p>
          <a:p>
            <a:pPr marL="838200" lvl="1" indent="-381000" eaLnBrk="1" hangingPunct="1">
              <a:lnSpc>
                <a:spcPct val="90000"/>
              </a:lnSpc>
            </a:pPr>
            <a:endParaRPr lang="en-US" altLang="en-US" sz="2000" dirty="0">
              <a:latin typeface="Arial  " charset="0"/>
              <a:ea typeface="MS PGothic" charset="-128"/>
              <a:cs typeface="Arial  " charset="0"/>
            </a:endParaRPr>
          </a:p>
          <a:p>
            <a:pPr marL="457200" indent="-457200" eaLnBrk="1" hangingPunct="1">
              <a:lnSpc>
                <a:spcPct val="90000"/>
              </a:lnSpc>
              <a:buFontTx/>
              <a:buAutoNum type="arabicPeriod"/>
            </a:pPr>
            <a:r>
              <a:rPr lang="en-US" altLang="en-US" sz="2000" dirty="0">
                <a:latin typeface="Arial  " charset="0"/>
                <a:ea typeface="MS PGothic" charset="-128"/>
                <a:cs typeface="Arial  " charset="0"/>
              </a:rPr>
              <a:t>Execute/effective address (EX)</a:t>
            </a:r>
          </a:p>
          <a:p>
            <a:pPr marL="838200" lvl="1" indent="-381000" eaLnBrk="1" hangingPunct="1">
              <a:lnSpc>
                <a:spcPct val="90000"/>
              </a:lnSpc>
            </a:pPr>
            <a:r>
              <a:rPr lang="en-US" altLang="en-US" sz="1800" dirty="0">
                <a:latin typeface="Arial  " charset="0"/>
                <a:ea typeface="MS PGothic" charset="-128"/>
                <a:cs typeface="Arial  " charset="0"/>
              </a:rPr>
              <a:t>memory reference: ALU computes effective address from base register and offset.</a:t>
            </a:r>
          </a:p>
          <a:p>
            <a:pPr marL="838200" lvl="1" indent="-381000" eaLnBrk="1" hangingPunct="1">
              <a:lnSpc>
                <a:spcPct val="90000"/>
              </a:lnSpc>
            </a:pPr>
            <a:r>
              <a:rPr lang="en-US" altLang="en-US" sz="1800" dirty="0">
                <a:latin typeface="Arial  " charset="0"/>
                <a:ea typeface="MS PGothic" charset="-128"/>
                <a:cs typeface="Arial  " charset="0"/>
              </a:rPr>
              <a:t>register-register ALU instruction: ALU performs operation</a:t>
            </a:r>
          </a:p>
          <a:p>
            <a:pPr marL="838200" lvl="1" indent="-381000" eaLnBrk="1" hangingPunct="1">
              <a:lnSpc>
                <a:spcPct val="90000"/>
              </a:lnSpc>
            </a:pPr>
            <a:r>
              <a:rPr lang="en-US" altLang="en-US" sz="1800" dirty="0">
                <a:latin typeface="Arial  " charset="0"/>
                <a:ea typeface="MS PGothic" charset="-128"/>
                <a:cs typeface="Arial  " charset="0"/>
              </a:rPr>
              <a:t>register-immediate ALU instruction: ALU performs operation</a:t>
            </a:r>
          </a:p>
        </p:txBody>
      </p:sp>
      <p:sp>
        <p:nvSpPr>
          <p:cNvPr id="25603" name="Slide Number Placeholder 6"/>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CFC807D1-4BE2-D34C-8ADA-EAA12590F7A8}" type="slidenum">
              <a:rPr lang="en-US" altLang="en-US" sz="1400">
                <a:latin typeface="Comic Sans MS" charset="0"/>
                <a:ea typeface="ＭＳ Ｐゴシック" charset="-128"/>
              </a:rPr>
              <a:pPr>
                <a:spcBef>
                  <a:spcPct val="0"/>
                </a:spcBef>
                <a:buFontTx/>
                <a:buNone/>
              </a:pPr>
              <a:t>5</a:t>
            </a:fld>
            <a:r>
              <a:rPr lang="en-US" altLang="en-US" sz="1400">
                <a:latin typeface="Comic Sans MS" charset="0"/>
                <a:ea typeface="ＭＳ Ｐゴシック" charset="-128"/>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602">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5602">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602">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602">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602">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602">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602">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602">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60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p:txBody>
          <a:bodyPr/>
          <a:lstStyle/>
          <a:p>
            <a:pPr eaLnBrk="1" hangingPunct="1"/>
            <a:r>
              <a:rPr lang="en-US" altLang="en-US" b="1">
                <a:latin typeface="Arial  " charset="0"/>
                <a:ea typeface="MS PGothic" charset="-128"/>
                <a:cs typeface="Arial  " charset="0"/>
              </a:rPr>
              <a:t>A Simple RISC Implementation</a:t>
            </a:r>
          </a:p>
        </p:txBody>
      </p:sp>
      <p:sp>
        <p:nvSpPr>
          <p:cNvPr id="27650" name="Rectangle 3"/>
          <p:cNvSpPr>
            <a:spLocks noGrp="1" noChangeArrowheads="1"/>
          </p:cNvSpPr>
          <p:nvPr>
            <p:ph type="body" idx="1"/>
          </p:nvPr>
        </p:nvSpPr>
        <p:spPr>
          <a:xfrm>
            <a:off x="685800" y="1371600"/>
            <a:ext cx="7696200" cy="4724400"/>
          </a:xfrm>
        </p:spPr>
        <p:txBody>
          <a:bodyPr/>
          <a:lstStyle/>
          <a:p>
            <a:pPr marL="533400" indent="-533400" eaLnBrk="1" hangingPunct="1">
              <a:buFontTx/>
              <a:buAutoNum type="arabicPeriod" startAt="4"/>
            </a:pPr>
            <a:r>
              <a:rPr lang="en-US" altLang="en-US" sz="2000">
                <a:latin typeface="Arial  " charset="0"/>
                <a:ea typeface="MS PGothic" charset="-128"/>
                <a:cs typeface="Arial  " charset="0"/>
              </a:rPr>
              <a:t>Memory access (MEM)</a:t>
            </a:r>
          </a:p>
          <a:p>
            <a:pPr marL="914400" lvl="1" indent="-457200" eaLnBrk="1" hangingPunct="1">
              <a:buFont typeface="Arial" charset="0"/>
              <a:buChar char="•"/>
            </a:pPr>
            <a:r>
              <a:rPr lang="en-US" altLang="en-US" sz="1800">
                <a:latin typeface="Arial  " charset="0"/>
                <a:ea typeface="MS PGothic" charset="-128"/>
                <a:cs typeface="Arial  " charset="0"/>
              </a:rPr>
              <a:t>load: read memory @ effective address</a:t>
            </a:r>
          </a:p>
          <a:p>
            <a:pPr marL="914400" lvl="1" indent="-457200" eaLnBrk="1" hangingPunct="1">
              <a:buFont typeface="Arial" charset="0"/>
              <a:buChar char="•"/>
            </a:pPr>
            <a:r>
              <a:rPr lang="en-US" altLang="en-US" sz="1800">
                <a:latin typeface="Arial  " charset="0"/>
                <a:ea typeface="MS PGothic" charset="-128"/>
                <a:cs typeface="Arial  " charset="0"/>
              </a:rPr>
              <a:t>store: write value from register to effective address</a:t>
            </a:r>
          </a:p>
          <a:p>
            <a:pPr marL="914400" lvl="1" indent="-457200" eaLnBrk="1" hangingPunct="1">
              <a:buFont typeface="Arial" charset="0"/>
              <a:buChar char="•"/>
            </a:pPr>
            <a:endParaRPr lang="en-US" altLang="en-US" sz="1800">
              <a:latin typeface="Arial  " charset="0"/>
              <a:ea typeface="MS PGothic" charset="-128"/>
              <a:cs typeface="Arial  " charset="0"/>
            </a:endParaRPr>
          </a:p>
          <a:p>
            <a:pPr marL="533400" indent="-533400" eaLnBrk="1" hangingPunct="1">
              <a:buFontTx/>
              <a:buAutoNum type="arabicPeriod" startAt="4"/>
            </a:pPr>
            <a:r>
              <a:rPr lang="en-US" altLang="en-US" sz="2000">
                <a:latin typeface="Arial  " charset="0"/>
                <a:ea typeface="MS PGothic" charset="-128"/>
                <a:cs typeface="Arial  " charset="0"/>
              </a:rPr>
              <a:t>Write-back cycle (WB)</a:t>
            </a:r>
          </a:p>
          <a:p>
            <a:pPr marL="914400" lvl="1" indent="-457200" eaLnBrk="1" hangingPunct="1">
              <a:buFont typeface="Arial" charset="0"/>
              <a:buChar char="•"/>
            </a:pPr>
            <a:r>
              <a:rPr lang="en-US" altLang="en-US" sz="1800">
                <a:latin typeface="Arial  " charset="0"/>
                <a:ea typeface="MS PGothic" charset="-128"/>
                <a:cs typeface="Arial  " charset="0"/>
              </a:rPr>
              <a:t>Register-Register/Register Immediate/Load: Write the result into the register file.</a:t>
            </a:r>
            <a:endParaRPr lang="en-US" altLang="en-US" sz="2000">
              <a:latin typeface="Arial  " charset="0"/>
              <a:ea typeface="MS PGothic" charset="-128"/>
              <a:cs typeface="Arial  " charset="0"/>
            </a:endParaRPr>
          </a:p>
        </p:txBody>
      </p:sp>
      <p:sp>
        <p:nvSpPr>
          <p:cNvPr id="27651" name="Slide Number Placeholder 6"/>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7EBDCAE6-21D4-2441-B6D2-ADEE2BD98295}" type="slidenum">
              <a:rPr lang="en-US" altLang="en-US" sz="1400">
                <a:latin typeface="Comic Sans MS" charset="0"/>
                <a:ea typeface="ＭＳ Ｐゴシック" charset="-128"/>
              </a:rPr>
              <a:pPr>
                <a:spcBef>
                  <a:spcPct val="0"/>
                </a:spcBef>
                <a:buFontTx/>
                <a:buNone/>
              </a:pPr>
              <a:t>6</a:t>
            </a:fld>
            <a:r>
              <a:rPr lang="en-US" altLang="en-US" sz="1400">
                <a:latin typeface="Comic Sans MS" charset="0"/>
                <a:ea typeface="ＭＳ Ｐゴシック" charset="-128"/>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650">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650">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650">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65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X:\Production\Artfinal\0000000038\MKCAD\978-0-12-811905-1\0003170711\XMLLowres\bm18-9780128119051.jpg">
            <a:extLst>
              <a:ext uri="{FF2B5EF4-FFF2-40B4-BE49-F238E27FC236}">
                <a16:creationId xmlns:a16="http://schemas.microsoft.com/office/drawing/2014/main" id="{A33FDA61-104A-C24D-A8D2-A7CBF7DE5E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839" y="1052736"/>
            <a:ext cx="8372322" cy="525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0738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noChangeArrowheads="1"/>
          </p:cNvSpPr>
          <p:nvPr>
            <p:ph type="title"/>
          </p:nvPr>
        </p:nvSpPr>
        <p:spPr>
          <a:xfrm>
            <a:off x="685800" y="0"/>
            <a:ext cx="7772400" cy="939800"/>
          </a:xfrm>
        </p:spPr>
        <p:txBody>
          <a:bodyPr/>
          <a:lstStyle/>
          <a:p>
            <a:pPr eaLnBrk="1" hangingPunct="1"/>
            <a:r>
              <a:rPr lang="en-US" altLang="en-US" b="1">
                <a:latin typeface="Arial  " charset="0"/>
                <a:ea typeface="MS PGothic" charset="-128"/>
                <a:cs typeface="Arial  " charset="0"/>
              </a:rPr>
              <a:t>Pipelining: Analogy</a:t>
            </a:r>
          </a:p>
        </p:txBody>
      </p:sp>
      <p:pic>
        <p:nvPicPr>
          <p:cNvPr id="50178" name="Picture 3" descr="01~Figure_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0900" y="1647825"/>
            <a:ext cx="4572000"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79" name="Text Box 4"/>
          <p:cNvSpPr txBox="1">
            <a:spLocks noChangeArrowheads="1"/>
          </p:cNvSpPr>
          <p:nvPr/>
        </p:nvSpPr>
        <p:spPr bwMode="auto">
          <a:xfrm>
            <a:off x="1914525" y="957263"/>
            <a:ext cx="19637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r>
              <a:rPr lang="en-US" altLang="en-US" sz="2400">
                <a:solidFill>
                  <a:srgbClr val="0000FF"/>
                </a:solidFill>
                <a:ea typeface="ＭＳ Ｐゴシック" charset="-128"/>
              </a:rPr>
              <a:t>Early in Time</a:t>
            </a:r>
          </a:p>
        </p:txBody>
      </p:sp>
      <p:sp>
        <p:nvSpPr>
          <p:cNvPr id="50180" name="Line 5"/>
          <p:cNvSpPr>
            <a:spLocks noChangeShapeType="1"/>
          </p:cNvSpPr>
          <p:nvPr/>
        </p:nvSpPr>
        <p:spPr bwMode="auto">
          <a:xfrm>
            <a:off x="1955800" y="1422400"/>
            <a:ext cx="5575300" cy="0"/>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50181" name="Line 6"/>
          <p:cNvSpPr>
            <a:spLocks noChangeShapeType="1"/>
          </p:cNvSpPr>
          <p:nvPr/>
        </p:nvSpPr>
        <p:spPr bwMode="auto">
          <a:xfrm>
            <a:off x="1600200" y="1739900"/>
            <a:ext cx="0" cy="14224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50182" name="Text Box 8"/>
          <p:cNvSpPr txBox="1">
            <a:spLocks noChangeArrowheads="1"/>
          </p:cNvSpPr>
          <p:nvPr/>
        </p:nvSpPr>
        <p:spPr bwMode="auto">
          <a:xfrm>
            <a:off x="152400" y="2819400"/>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r>
              <a:rPr lang="en-US" altLang="en-US" sz="2400">
                <a:solidFill>
                  <a:srgbClr val="FF0000"/>
                </a:solidFill>
                <a:ea typeface="ＭＳ Ｐゴシック" charset="-128"/>
              </a:rPr>
              <a:t>Last task</a:t>
            </a:r>
          </a:p>
        </p:txBody>
      </p:sp>
      <p:sp>
        <p:nvSpPr>
          <p:cNvPr id="50183" name="Text Box 9"/>
          <p:cNvSpPr txBox="1">
            <a:spLocks noChangeArrowheads="1"/>
          </p:cNvSpPr>
          <p:nvPr/>
        </p:nvSpPr>
        <p:spPr bwMode="auto">
          <a:xfrm>
            <a:off x="304800" y="1447800"/>
            <a:ext cx="12493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r>
              <a:rPr lang="en-US" altLang="en-US" sz="2400">
                <a:solidFill>
                  <a:srgbClr val="FF0000"/>
                </a:solidFill>
                <a:ea typeface="ＭＳ Ｐゴシック" charset="-128"/>
              </a:rPr>
              <a:t>1st task</a:t>
            </a:r>
          </a:p>
        </p:txBody>
      </p:sp>
      <p:sp>
        <p:nvSpPr>
          <p:cNvPr id="50184" name="Text Box 10"/>
          <p:cNvSpPr txBox="1">
            <a:spLocks noChangeArrowheads="1"/>
          </p:cNvSpPr>
          <p:nvPr/>
        </p:nvSpPr>
        <p:spPr bwMode="auto">
          <a:xfrm>
            <a:off x="5749925" y="982663"/>
            <a:ext cx="19637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r>
              <a:rPr lang="en-US" altLang="en-US" sz="2400">
                <a:solidFill>
                  <a:srgbClr val="0000FF"/>
                </a:solidFill>
                <a:ea typeface="ＭＳ Ｐゴシック" charset="-128"/>
              </a:rPr>
              <a:t>Later in Time</a:t>
            </a:r>
          </a:p>
        </p:txBody>
      </p:sp>
      <p:sp>
        <p:nvSpPr>
          <p:cNvPr id="50185" name="Rectangle 11"/>
          <p:cNvSpPr>
            <a:spLocks noChangeArrowheads="1"/>
          </p:cNvSpPr>
          <p:nvPr/>
        </p:nvSpPr>
        <p:spPr bwMode="auto">
          <a:xfrm>
            <a:off x="3429000" y="3683000"/>
            <a:ext cx="254000" cy="179070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50186" name="Line 12"/>
          <p:cNvSpPr>
            <a:spLocks noChangeShapeType="1"/>
          </p:cNvSpPr>
          <p:nvPr/>
        </p:nvSpPr>
        <p:spPr bwMode="auto">
          <a:xfrm>
            <a:off x="3797300" y="5511800"/>
            <a:ext cx="1143000" cy="292100"/>
          </a:xfrm>
          <a:prstGeom prst="line">
            <a:avLst/>
          </a:prstGeom>
          <a:noFill/>
          <a:ln w="38100">
            <a:solidFill>
              <a:srgbClr val="FF0000"/>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CA"/>
          </a:p>
        </p:txBody>
      </p:sp>
      <p:sp>
        <p:nvSpPr>
          <p:cNvPr id="50187" name="Text Box 13"/>
          <p:cNvSpPr txBox="1">
            <a:spLocks noChangeArrowheads="1"/>
          </p:cNvSpPr>
          <p:nvPr/>
        </p:nvSpPr>
        <p:spPr bwMode="auto">
          <a:xfrm>
            <a:off x="5038725" y="5453063"/>
            <a:ext cx="312737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r>
              <a:rPr lang="en-US" altLang="en-US" sz="2400">
                <a:solidFill>
                  <a:srgbClr val="FF0000"/>
                </a:solidFill>
                <a:ea typeface="ＭＳ Ｐゴシック" charset="-128"/>
              </a:rPr>
              <a:t>Simultaneous activity </a:t>
            </a:r>
          </a:p>
          <a:p>
            <a:pPr>
              <a:spcBef>
                <a:spcPct val="0"/>
              </a:spcBef>
              <a:buFontTx/>
              <a:buNone/>
            </a:pPr>
            <a:r>
              <a:rPr lang="en-US" altLang="en-US" sz="2400">
                <a:solidFill>
                  <a:srgbClr val="FF0000"/>
                </a:solidFill>
                <a:ea typeface="ＭＳ Ｐゴシック" charset="-128"/>
              </a:rPr>
              <a:t>From 7:30 to 8:00 pm</a:t>
            </a:r>
          </a:p>
        </p:txBody>
      </p:sp>
      <p:sp>
        <p:nvSpPr>
          <p:cNvPr id="50188" name="Slide Number Placeholder 15"/>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42B62E42-5818-644B-8BD1-657095200941}" type="slidenum">
              <a:rPr lang="en-US" altLang="en-US" sz="1400">
                <a:latin typeface="Comic Sans MS" charset="0"/>
                <a:ea typeface="ＭＳ Ｐゴシック" charset="-128"/>
              </a:rPr>
              <a:pPr>
                <a:spcBef>
                  <a:spcPct val="0"/>
                </a:spcBef>
                <a:buFontTx/>
                <a:buNone/>
              </a:pPr>
              <a:t>8</a:t>
            </a:fld>
            <a:r>
              <a:rPr lang="en-US" altLang="en-US" sz="1400">
                <a:latin typeface="Comic Sans MS" charset="0"/>
                <a:ea typeface="ＭＳ Ｐゴシック" charset="-128"/>
              </a:rPr>
              <a:t> </a:t>
            </a:r>
          </a:p>
        </p:txBody>
      </p:sp>
      <p:sp>
        <p:nvSpPr>
          <p:cNvPr id="2" name="Rectangle 1"/>
          <p:cNvSpPr/>
          <p:nvPr/>
        </p:nvSpPr>
        <p:spPr bwMode="auto">
          <a:xfrm>
            <a:off x="1554163" y="3429000"/>
            <a:ext cx="6978277" cy="2854325"/>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CA" sz="2400" b="0" i="0" u="none" strike="noStrike" cap="none" normalizeH="0" baseline="0">
              <a:ln>
                <a:noFill/>
              </a:ln>
              <a:solidFill>
                <a:schemeClr val="tx1"/>
              </a:solidFill>
              <a:effectLst/>
              <a:latin typeface="Arial" pitchFamily="-106" charset="-52"/>
              <a:ea typeface="ＭＳ Ｐゴシック" pitchFamily="-106" charset="-128"/>
              <a:cs typeface="ＭＳ Ｐゴシック" pitchFamily="-106" charset="-12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p:txBody>
          <a:bodyPr/>
          <a:lstStyle/>
          <a:p>
            <a:pPr eaLnBrk="1" hangingPunct="1"/>
            <a:r>
              <a:rPr lang="en-US" altLang="en-US" b="1">
                <a:latin typeface="Arial  " charset="0"/>
                <a:ea typeface="MS PGothic" charset="-128"/>
                <a:cs typeface="Arial  " charset="0"/>
              </a:rPr>
              <a:t>Pipelining Combination Logic</a:t>
            </a:r>
          </a:p>
        </p:txBody>
      </p:sp>
      <p:sp>
        <p:nvSpPr>
          <p:cNvPr id="52226" name="Rectangle 3"/>
          <p:cNvSpPr>
            <a:spLocks noGrp="1" noChangeArrowheads="1"/>
          </p:cNvSpPr>
          <p:nvPr>
            <p:ph type="body" idx="1"/>
          </p:nvPr>
        </p:nvSpPr>
        <p:spPr>
          <a:xfrm>
            <a:off x="685800" y="5626100"/>
            <a:ext cx="7772400" cy="533400"/>
          </a:xfrm>
        </p:spPr>
        <p:txBody>
          <a:bodyPr/>
          <a:lstStyle/>
          <a:p>
            <a:pPr marL="0" indent="0" algn="ctr" eaLnBrk="1" hangingPunct="1">
              <a:buNone/>
            </a:pPr>
            <a:r>
              <a:rPr lang="en-US" altLang="en-US" dirty="0">
                <a:latin typeface="Arial  " charset="0"/>
                <a:ea typeface="MS PGothic" charset="-128"/>
                <a:cs typeface="Arial  " charset="0"/>
              </a:rPr>
              <a:t>increases </a:t>
            </a:r>
            <a:r>
              <a:rPr lang="en-US" altLang="en-US" b="1" dirty="0">
                <a:latin typeface="Arial  " charset="0"/>
                <a:ea typeface="MS PGothic" charset="-128"/>
                <a:cs typeface="Arial  " charset="0"/>
              </a:rPr>
              <a:t>bandwidth </a:t>
            </a:r>
            <a:r>
              <a:rPr lang="en-US" altLang="en-US" dirty="0">
                <a:latin typeface="Arial  " charset="0"/>
                <a:ea typeface="MS PGothic" charset="-128"/>
                <a:cs typeface="Arial  " charset="0"/>
              </a:rPr>
              <a:t>at the cost of </a:t>
            </a:r>
            <a:r>
              <a:rPr lang="en-US" altLang="en-US" b="1" dirty="0">
                <a:latin typeface="Arial  " charset="0"/>
                <a:ea typeface="MS PGothic" charset="-128"/>
                <a:cs typeface="Arial  " charset="0"/>
              </a:rPr>
              <a:t>latency</a:t>
            </a:r>
          </a:p>
        </p:txBody>
      </p:sp>
      <p:pic>
        <p:nvPicPr>
          <p:cNvPr id="52227" name="Picture 5" descr="she70647_02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1100" y="1616075"/>
            <a:ext cx="6972300" cy="339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8" name="Rectangle 6"/>
          <p:cNvSpPr>
            <a:spLocks noChangeArrowheads="1"/>
          </p:cNvSpPr>
          <p:nvPr/>
        </p:nvSpPr>
        <p:spPr bwMode="auto">
          <a:xfrm>
            <a:off x="3479800" y="5087938"/>
            <a:ext cx="20018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r>
              <a:rPr lang="en-US" altLang="en-US" sz="1200">
                <a:latin typeface="Comic Sans MS" charset="0"/>
                <a:ea typeface="ＭＳ Ｐゴシック" charset="-128"/>
              </a:rPr>
              <a:t>Figure 2.1: Shen &amp; Lipasti</a:t>
            </a:r>
          </a:p>
        </p:txBody>
      </p:sp>
      <p:sp>
        <p:nvSpPr>
          <p:cNvPr id="52229" name="Slide Number Placeholder 8"/>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D9FBCBDC-E221-4C4D-BD65-0174AF9F1D7F}" type="slidenum">
              <a:rPr lang="en-US" altLang="en-US" sz="1400">
                <a:latin typeface="Comic Sans MS" charset="0"/>
                <a:ea typeface="ＭＳ Ｐゴシック" charset="-128"/>
              </a:rPr>
              <a:pPr>
                <a:spcBef>
                  <a:spcPct val="0"/>
                </a:spcBef>
                <a:buFontTx/>
                <a:buNone/>
              </a:pPr>
              <a:t>9</a:t>
            </a:fld>
            <a:r>
              <a:rPr lang="en-US" altLang="en-US" sz="1400">
                <a:latin typeface="Comic Sans MS" charset="0"/>
                <a:ea typeface="ＭＳ Ｐゴシック" charset="-128"/>
              </a:rPr>
              <a:t> </a:t>
            </a:r>
          </a:p>
        </p:txBody>
      </p:sp>
      <p:sp>
        <p:nvSpPr>
          <p:cNvPr id="52230" name="Rectangle 9"/>
          <p:cNvSpPr>
            <a:spLocks noChangeArrowheads="1"/>
          </p:cNvSpPr>
          <p:nvPr/>
        </p:nvSpPr>
        <p:spPr bwMode="auto">
          <a:xfrm>
            <a:off x="3352800" y="5105400"/>
            <a:ext cx="2362200" cy="228600"/>
          </a:xfrm>
          <a:prstGeom prst="rect">
            <a:avLst/>
          </a:prstGeom>
          <a:solidFill>
            <a:srgbClr val="FFFFFF"/>
          </a:solidFill>
          <a:ln w="9525">
            <a:solidFill>
              <a:srgbClr val="FFFFFF"/>
            </a:solidFill>
            <a:round/>
            <a:headEnd/>
            <a:tailEnd/>
          </a:ln>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22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noChangeArrowheads="1"/>
          </p:cNvSpPr>
          <p:nvPr>
            <p:ph type="title"/>
          </p:nvPr>
        </p:nvSpPr>
        <p:spPr>
          <a:xfrm>
            <a:off x="685800" y="0"/>
            <a:ext cx="8134672" cy="1143000"/>
          </a:xfrm>
        </p:spPr>
        <p:txBody>
          <a:bodyPr/>
          <a:lstStyle/>
          <a:p>
            <a:pPr eaLnBrk="1" hangingPunct="1"/>
            <a:r>
              <a:rPr lang="en-US" altLang="en-US" b="1">
                <a:latin typeface="Arial  " charset="0"/>
                <a:ea typeface="MS PGothic" charset="-128"/>
                <a:cs typeface="Arial  " charset="0"/>
              </a:rPr>
              <a:t>Pipelining: what would we like?</a:t>
            </a:r>
          </a:p>
        </p:txBody>
      </p:sp>
      <p:sp>
        <p:nvSpPr>
          <p:cNvPr id="59394" name="Rectangle 3"/>
          <p:cNvSpPr>
            <a:spLocks noGrp="1" noChangeArrowheads="1"/>
          </p:cNvSpPr>
          <p:nvPr>
            <p:ph type="body" idx="1"/>
          </p:nvPr>
        </p:nvSpPr>
        <p:spPr>
          <a:xfrm>
            <a:off x="685800" y="1295400"/>
            <a:ext cx="7772400" cy="4978400"/>
          </a:xfrm>
        </p:spPr>
        <p:txBody>
          <a:bodyPr/>
          <a:lstStyle/>
          <a:p>
            <a:pPr eaLnBrk="1" hangingPunct="1">
              <a:lnSpc>
                <a:spcPct val="90000"/>
              </a:lnSpc>
            </a:pPr>
            <a:r>
              <a:rPr lang="en-US" altLang="en-US" sz="2400" dirty="0">
                <a:latin typeface="Arial  " charset="0"/>
                <a:ea typeface="MS PGothic" charset="-128"/>
                <a:cs typeface="Arial  " charset="0"/>
              </a:rPr>
              <a:t>Uniform </a:t>
            </a:r>
            <a:r>
              <a:rPr lang="en-US" altLang="en-US" sz="2400" dirty="0" err="1">
                <a:latin typeface="Arial  " charset="0"/>
                <a:ea typeface="MS PGothic" charset="-128"/>
                <a:cs typeface="Arial  " charset="0"/>
              </a:rPr>
              <a:t>Subcomputations</a:t>
            </a:r>
            <a:r>
              <a:rPr lang="en-US" altLang="en-US" sz="2400" dirty="0">
                <a:latin typeface="Arial  " charset="0"/>
                <a:ea typeface="MS PGothic" charset="-128"/>
                <a:cs typeface="Arial  " charset="0"/>
              </a:rPr>
              <a:t> </a:t>
            </a:r>
          </a:p>
          <a:p>
            <a:pPr lvl="1" eaLnBrk="1" hangingPunct="1">
              <a:lnSpc>
                <a:spcPct val="90000"/>
              </a:lnSpc>
            </a:pPr>
            <a:r>
              <a:rPr lang="en-US" altLang="en-US" sz="2000" dirty="0">
                <a:latin typeface="Arial  " charset="0"/>
                <a:ea typeface="MS PGothic" charset="-128"/>
                <a:cs typeface="Arial  " charset="0"/>
              </a:rPr>
              <a:t>Goal: Each stage has same delay</a:t>
            </a:r>
          </a:p>
          <a:p>
            <a:pPr lvl="1" eaLnBrk="1" hangingPunct="1">
              <a:lnSpc>
                <a:spcPct val="90000"/>
              </a:lnSpc>
            </a:pPr>
            <a:r>
              <a:rPr lang="en-US" altLang="en-US" sz="2000" dirty="0">
                <a:latin typeface="Arial  " charset="0"/>
                <a:ea typeface="MS PGothic" charset="-128"/>
                <a:cs typeface="Arial  " charset="0"/>
              </a:rPr>
              <a:t>Achieve by balancing pipeline stages</a:t>
            </a:r>
          </a:p>
          <a:p>
            <a:pPr lvl="1" eaLnBrk="1" hangingPunct="1">
              <a:lnSpc>
                <a:spcPct val="90000"/>
              </a:lnSpc>
            </a:pPr>
            <a:endParaRPr lang="en-US" altLang="en-US" sz="2000" dirty="0">
              <a:latin typeface="Arial  " charset="0"/>
              <a:ea typeface="MS PGothic" charset="-128"/>
              <a:cs typeface="Arial  " charset="0"/>
            </a:endParaRPr>
          </a:p>
          <a:p>
            <a:pPr eaLnBrk="1" hangingPunct="1">
              <a:lnSpc>
                <a:spcPct val="90000"/>
              </a:lnSpc>
            </a:pPr>
            <a:r>
              <a:rPr lang="en-US" altLang="en-US" sz="2400" dirty="0">
                <a:latin typeface="Arial  " charset="0"/>
                <a:ea typeface="MS PGothic" charset="-128"/>
                <a:cs typeface="Arial  " charset="0"/>
              </a:rPr>
              <a:t>Identical Computations</a:t>
            </a:r>
          </a:p>
          <a:p>
            <a:pPr lvl="1" eaLnBrk="1" hangingPunct="1">
              <a:lnSpc>
                <a:spcPct val="90000"/>
              </a:lnSpc>
            </a:pPr>
            <a:r>
              <a:rPr lang="en-US" altLang="en-US" sz="2000" dirty="0">
                <a:latin typeface="Arial  " charset="0"/>
                <a:ea typeface="MS PGothic" charset="-128"/>
                <a:cs typeface="Arial  " charset="0"/>
              </a:rPr>
              <a:t>Goal: Each computation uses same number of stages</a:t>
            </a:r>
          </a:p>
          <a:p>
            <a:pPr lvl="1" eaLnBrk="1" hangingPunct="1">
              <a:lnSpc>
                <a:spcPct val="90000"/>
              </a:lnSpc>
            </a:pPr>
            <a:endParaRPr lang="en-US" altLang="en-US" sz="2000" dirty="0">
              <a:latin typeface="Arial  " charset="0"/>
              <a:ea typeface="MS PGothic" charset="-128"/>
              <a:cs typeface="Arial  " charset="0"/>
            </a:endParaRPr>
          </a:p>
          <a:p>
            <a:pPr eaLnBrk="1" hangingPunct="1">
              <a:lnSpc>
                <a:spcPct val="90000"/>
              </a:lnSpc>
            </a:pPr>
            <a:r>
              <a:rPr lang="en-US" altLang="en-US" sz="2400" dirty="0">
                <a:latin typeface="Arial  " charset="0"/>
                <a:ea typeface="MS PGothic" charset="-128"/>
                <a:cs typeface="Arial  " charset="0"/>
              </a:rPr>
              <a:t>Independent Computations</a:t>
            </a:r>
          </a:p>
          <a:p>
            <a:pPr lvl="1" eaLnBrk="1" hangingPunct="1">
              <a:lnSpc>
                <a:spcPct val="90000"/>
              </a:lnSpc>
            </a:pPr>
            <a:r>
              <a:rPr lang="en-US" altLang="en-US" sz="2000" dirty="0">
                <a:latin typeface="Arial  " charset="0"/>
                <a:ea typeface="MS PGothic" charset="-128"/>
                <a:cs typeface="Arial  " charset="0"/>
              </a:rPr>
              <a:t>Goal: start new computation each cycle</a:t>
            </a:r>
          </a:p>
        </p:txBody>
      </p:sp>
      <p:sp>
        <p:nvSpPr>
          <p:cNvPr id="59395" name="Slide Number Placeholder 6"/>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F7FDDB90-EE09-ED4F-8195-B61901D10DA0}" type="slidenum">
              <a:rPr lang="en-US" altLang="en-US" sz="1400">
                <a:latin typeface="Comic Sans MS" charset="0"/>
                <a:ea typeface="ＭＳ Ｐゴシック" charset="-128"/>
              </a:rPr>
              <a:pPr>
                <a:spcBef>
                  <a:spcPct val="0"/>
                </a:spcBef>
                <a:buFontTx/>
                <a:buNone/>
              </a:pPr>
              <a:t>10</a:t>
            </a:fld>
            <a:r>
              <a:rPr lang="en-US" altLang="en-US" sz="1400">
                <a:latin typeface="Comic Sans MS" charset="0"/>
                <a:ea typeface="ＭＳ Ｐゴシック" charset="-128"/>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39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939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939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939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9394">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9394">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939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X:\Production\Artfinal\0000000038\MKCAD\978-0-12-811905-1\0003170711\XMLLowres\bm19-9780128119051.jpg">
            <a:extLst>
              <a:ext uri="{FF2B5EF4-FFF2-40B4-BE49-F238E27FC236}">
                <a16:creationId xmlns:a16="http://schemas.microsoft.com/office/drawing/2014/main" id="{1337463A-28E3-384C-B1BB-4DB10FC8EF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186" y="980728"/>
            <a:ext cx="8417628" cy="433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570AB6CB-FDD7-5448-AE77-EDDA8870278C}"/>
                  </a:ext>
                </a:extLst>
              </p14:cNvPr>
              <p14:cNvContentPartPr/>
              <p14:nvPr/>
            </p14:nvContentPartPr>
            <p14:xfrm>
              <a:off x="1462807" y="5610448"/>
              <a:ext cx="7212897" cy="250825"/>
            </p14:xfrm>
          </p:contentPart>
        </mc:Choice>
        <mc:Fallback xmlns="">
          <p:pic>
            <p:nvPicPr>
              <p:cNvPr id="10" name="Ink 9">
                <a:extLst>
                  <a:ext uri="{FF2B5EF4-FFF2-40B4-BE49-F238E27FC236}">
                    <a16:creationId xmlns:a16="http://schemas.microsoft.com/office/drawing/2014/main" id="{570AB6CB-FDD7-5448-AE77-EDDA8870278C}"/>
                  </a:ext>
                </a:extLst>
              </p:cNvPr>
              <p:cNvPicPr/>
              <p:nvPr/>
            </p:nvPicPr>
            <p:blipFill>
              <a:blip r:embed="rId4"/>
              <a:stretch>
                <a:fillRect/>
              </a:stretch>
            </p:blipFill>
            <p:spPr>
              <a:xfrm>
                <a:off x="1453447" y="5601092"/>
                <a:ext cx="7231617" cy="269538"/>
              </a:xfrm>
              <a:prstGeom prst="rect">
                <a:avLst/>
              </a:prstGeom>
            </p:spPr>
          </p:pic>
        </mc:Fallback>
      </mc:AlternateContent>
      <p:sp>
        <p:nvSpPr>
          <p:cNvPr id="11" name="TextBox 10">
            <a:extLst>
              <a:ext uri="{FF2B5EF4-FFF2-40B4-BE49-F238E27FC236}">
                <a16:creationId xmlns:a16="http://schemas.microsoft.com/office/drawing/2014/main" id="{9E3CF44B-CFE6-B247-B0AB-DD401281BE5A}"/>
              </a:ext>
            </a:extLst>
          </p:cNvPr>
          <p:cNvSpPr txBox="1"/>
          <p:nvPr/>
        </p:nvSpPr>
        <p:spPr>
          <a:xfrm>
            <a:off x="2195736" y="6237312"/>
            <a:ext cx="5466561" cy="461665"/>
          </a:xfrm>
          <a:prstGeom prst="rect">
            <a:avLst/>
          </a:prstGeom>
          <a:noFill/>
        </p:spPr>
        <p:txBody>
          <a:bodyPr wrap="none" rtlCol="0">
            <a:spAutoFit/>
          </a:bodyPr>
          <a:lstStyle/>
          <a:p>
            <a:r>
              <a:rPr lang="en-CA" dirty="0"/>
              <a:t>key: </a:t>
            </a:r>
            <a:r>
              <a:rPr lang="en-CA" b="1" dirty="0"/>
              <a:t>not exposed to the programmer</a:t>
            </a:r>
          </a:p>
        </p:txBody>
      </p:sp>
    </p:spTree>
    <p:extLst>
      <p:ext uri="{BB962C8B-B14F-4D97-AF65-F5344CB8AC3E}">
        <p14:creationId xmlns:p14="http://schemas.microsoft.com/office/powerpoint/2010/main" val="1304692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noChangeArrowheads="1"/>
          </p:cNvSpPr>
          <p:nvPr>
            <p:ph type="title"/>
          </p:nvPr>
        </p:nvSpPr>
        <p:spPr>
          <a:xfrm>
            <a:off x="685800" y="0"/>
            <a:ext cx="8458200" cy="1143000"/>
          </a:xfrm>
        </p:spPr>
        <p:txBody>
          <a:bodyPr/>
          <a:lstStyle/>
          <a:p>
            <a:pPr eaLnBrk="1" hangingPunct="1"/>
            <a:r>
              <a:rPr lang="en-US" altLang="en-US" b="1">
                <a:latin typeface="Arial  " charset="0"/>
                <a:ea typeface="MS PGothic" charset="-128"/>
                <a:cs typeface="Arial  " charset="0"/>
              </a:rPr>
              <a:t>Instruction Pipelining Example</a:t>
            </a:r>
          </a:p>
        </p:txBody>
      </p:sp>
      <p:sp>
        <p:nvSpPr>
          <p:cNvPr id="65538" name="Rectangle 3"/>
          <p:cNvSpPr>
            <a:spLocks noGrp="1" noChangeArrowheads="1"/>
          </p:cNvSpPr>
          <p:nvPr>
            <p:ph type="body" idx="1"/>
          </p:nvPr>
        </p:nvSpPr>
        <p:spPr/>
        <p:txBody>
          <a:bodyPr/>
          <a:lstStyle/>
          <a:p>
            <a:pPr eaLnBrk="1" hangingPunct="1">
              <a:buFontTx/>
              <a:buNone/>
            </a:pPr>
            <a:endParaRPr lang="en-US" altLang="en-US" sz="2000" dirty="0">
              <a:latin typeface="Arial  " charset="0"/>
              <a:ea typeface="MS PGothic" charset="-128"/>
              <a:cs typeface="Arial  " charset="0"/>
            </a:endParaRPr>
          </a:p>
          <a:p>
            <a:pPr eaLnBrk="1" hangingPunct="1">
              <a:buFontTx/>
              <a:buNone/>
            </a:pPr>
            <a:endParaRPr lang="en-US" altLang="en-US" sz="2000" dirty="0">
              <a:latin typeface="Arial  " charset="0"/>
              <a:ea typeface="MS PGothic" charset="-128"/>
              <a:cs typeface="Arial  " charset="0"/>
            </a:endParaRPr>
          </a:p>
          <a:p>
            <a:pPr eaLnBrk="1" hangingPunct="1">
              <a:buFontTx/>
              <a:buNone/>
            </a:pPr>
            <a:r>
              <a:rPr lang="en-US" altLang="en-US" sz="2000" dirty="0">
                <a:latin typeface="Arial  " charset="0"/>
                <a:ea typeface="MS PGothic" charset="-128"/>
                <a:cs typeface="Arial  " charset="0"/>
              </a:rPr>
              <a:t>     </a:t>
            </a:r>
            <a:r>
              <a:rPr lang="en-US" altLang="en-US" sz="2400" dirty="0">
                <a:latin typeface="Arial  " charset="0"/>
                <a:ea typeface="MS PGothic" charset="-128"/>
                <a:cs typeface="Arial  " charset="0"/>
              </a:rPr>
              <a:t>Let’s look at how a single instruction flows through a 5-stage pipeline:</a:t>
            </a:r>
          </a:p>
          <a:p>
            <a:pPr eaLnBrk="1" hangingPunct="1">
              <a:buFontTx/>
              <a:buNone/>
            </a:pPr>
            <a:endParaRPr lang="en-US" altLang="en-US" sz="2400" dirty="0">
              <a:latin typeface="Arial  " charset="0"/>
              <a:ea typeface="MS PGothic" charset="-128"/>
              <a:cs typeface="Arial  " charset="0"/>
            </a:endParaRPr>
          </a:p>
          <a:p>
            <a:pPr eaLnBrk="1" hangingPunct="1">
              <a:buFontTx/>
              <a:buNone/>
            </a:pPr>
            <a:r>
              <a:rPr lang="en-US" altLang="en-US" sz="2400" dirty="0">
                <a:latin typeface="Arial  " charset="0"/>
                <a:ea typeface="MS PGothic" charset="-128"/>
                <a:cs typeface="Arial  " charset="0"/>
              </a:rPr>
              <a:t>	</a:t>
            </a:r>
            <a:r>
              <a:rPr lang="en-US" altLang="en-US" sz="2400" dirty="0" err="1">
                <a:solidFill>
                  <a:srgbClr val="0000FF"/>
                </a:solidFill>
                <a:latin typeface="Arial  " charset="0"/>
                <a:ea typeface="MS PGothic" charset="-128"/>
                <a:cs typeface="Arial  " charset="0"/>
              </a:rPr>
              <a:t>lw</a:t>
            </a:r>
            <a:r>
              <a:rPr lang="en-US" altLang="en-US" sz="2400" dirty="0">
                <a:solidFill>
                  <a:srgbClr val="0000FF"/>
                </a:solidFill>
                <a:latin typeface="Arial  " charset="0"/>
                <a:ea typeface="MS PGothic" charset="-128"/>
                <a:cs typeface="Arial  " charset="0"/>
              </a:rPr>
              <a:t> x1, 100(x2)</a:t>
            </a:r>
            <a:endParaRPr lang="en-US" altLang="en-US" sz="2400" dirty="0">
              <a:latin typeface="Arial  " charset="0"/>
              <a:ea typeface="MS PGothic" charset="-128"/>
              <a:cs typeface="Arial  " charset="0"/>
            </a:endParaRPr>
          </a:p>
        </p:txBody>
      </p:sp>
      <p:sp>
        <p:nvSpPr>
          <p:cNvPr id="65539" name="Slide Number Placeholder 6"/>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1C391CE4-964A-484F-99A7-07840C80CC87}" type="slidenum">
              <a:rPr lang="en-US" altLang="en-US" sz="1400">
                <a:latin typeface="Comic Sans MS" charset="0"/>
                <a:ea typeface="ＭＳ Ｐゴシック" charset="-128"/>
              </a:rPr>
              <a:pPr>
                <a:spcBef>
                  <a:spcPct val="0"/>
                </a:spcBef>
                <a:buFontTx/>
                <a:buNone/>
              </a:pPr>
              <a:t>12</a:t>
            </a:fld>
            <a:r>
              <a:rPr lang="en-US" altLang="en-US" sz="1400">
                <a:latin typeface="Comic Sans MS" charset="0"/>
                <a:ea typeface="ＭＳ Ｐゴシック" charset="-128"/>
              </a:rPr>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p:cNvSpPr>
            <a:spLocks noGrp="1" noChangeArrowheads="1"/>
          </p:cNvSpPr>
          <p:nvPr>
            <p:ph type="title"/>
          </p:nvPr>
        </p:nvSpPr>
        <p:spPr/>
        <p:txBody>
          <a:bodyPr/>
          <a:lstStyle/>
          <a:p>
            <a:pPr eaLnBrk="1" hangingPunct="1"/>
            <a:r>
              <a:rPr lang="en-US" altLang="en-US" dirty="0">
                <a:latin typeface="Arial  " charset="0"/>
                <a:ea typeface="MS PGothic" charset="-128"/>
                <a:cs typeface="Arial  " charset="0"/>
              </a:rPr>
              <a:t>Pipelined “</a:t>
            </a:r>
            <a:r>
              <a:rPr lang="en-US" altLang="en-US" dirty="0" err="1">
                <a:latin typeface="Arial  " charset="0"/>
                <a:ea typeface="MS PGothic" charset="-128"/>
                <a:cs typeface="Arial  " charset="0"/>
              </a:rPr>
              <a:t>lw</a:t>
            </a:r>
            <a:r>
              <a:rPr lang="en-US" altLang="en-US" dirty="0">
                <a:latin typeface="Arial  " charset="0"/>
                <a:ea typeface="MS PGothic" charset="-128"/>
                <a:cs typeface="Arial  " charset="0"/>
              </a:rPr>
              <a:t> x1, 100(x2)”</a:t>
            </a:r>
          </a:p>
        </p:txBody>
      </p:sp>
      <p:pic>
        <p:nvPicPr>
          <p:cNvPr id="66562" name="Picture 3" descr="0161_002"/>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l="4559" t="13618" r="7892" b="23195"/>
          <a:stretch>
            <a:fillRect/>
          </a:stretch>
        </p:blipFill>
        <p:spPr>
          <a:xfrm>
            <a:off x="457200" y="1473200"/>
            <a:ext cx="8229600" cy="4589463"/>
          </a:xfrm>
        </p:spPr>
      </p:pic>
      <p:sp>
        <p:nvSpPr>
          <p:cNvPr id="66563" name="Rectangle 4"/>
          <p:cNvSpPr>
            <a:spLocks noGrp="1" noChangeArrowheads="1"/>
          </p:cNvSpPr>
          <p:nvPr>
            <p:ph type="body" idx="1"/>
          </p:nvPr>
        </p:nvSpPr>
        <p:spPr>
          <a:xfrm>
            <a:off x="457200" y="939800"/>
            <a:ext cx="8229600" cy="4906963"/>
          </a:xfrm>
        </p:spPr>
        <p:txBody>
          <a:bodyPr/>
          <a:lstStyle/>
          <a:p>
            <a:pPr eaLnBrk="1" hangingPunct="1"/>
            <a:r>
              <a:rPr lang="en-US" altLang="en-US" sz="2400">
                <a:solidFill>
                  <a:srgbClr val="0000FF"/>
                </a:solidFill>
                <a:latin typeface="Arial  " charset="0"/>
                <a:ea typeface="MS PGothic" charset="-128"/>
                <a:cs typeface="Arial  " charset="0"/>
              </a:rPr>
              <a:t>Add registers between stages of execution</a:t>
            </a:r>
          </a:p>
        </p:txBody>
      </p:sp>
      <p:sp>
        <p:nvSpPr>
          <p:cNvPr id="66564" name="Oval 5"/>
          <p:cNvSpPr>
            <a:spLocks noChangeArrowheads="1"/>
          </p:cNvSpPr>
          <p:nvPr/>
        </p:nvSpPr>
        <p:spPr bwMode="auto">
          <a:xfrm>
            <a:off x="304800" y="1473200"/>
            <a:ext cx="1828800" cy="3657600"/>
          </a:xfrm>
          <a:prstGeom prst="ellipse">
            <a:avLst/>
          </a:prstGeom>
          <a:noFill/>
          <a:ln w="76200">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66565" name="Text Box 6"/>
          <p:cNvSpPr txBox="1">
            <a:spLocks noChangeArrowheads="1"/>
          </p:cNvSpPr>
          <p:nvPr/>
        </p:nvSpPr>
        <p:spPr bwMode="auto">
          <a:xfrm>
            <a:off x="-12700" y="5257800"/>
            <a:ext cx="22225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2000" b="1">
                <a:solidFill>
                  <a:srgbClr val="00FF00"/>
                </a:solidFill>
                <a:latin typeface="Arial" charset="0"/>
                <a:ea typeface="ＭＳ Ｐゴシック" charset="-128"/>
              </a:rPr>
              <a:t>Send PC, fetch</a:t>
            </a:r>
          </a:p>
          <a:p>
            <a:pPr eaLnBrk="1" hangingPunct="1">
              <a:spcBef>
                <a:spcPct val="0"/>
              </a:spcBef>
              <a:buFontTx/>
              <a:buNone/>
            </a:pPr>
            <a:r>
              <a:rPr lang="en-US" altLang="en-US" sz="2000" b="1">
                <a:solidFill>
                  <a:srgbClr val="00FF00"/>
                </a:solidFill>
                <a:latin typeface="Arial" charset="0"/>
                <a:ea typeface="ＭＳ Ｐゴシック" charset="-128"/>
              </a:rPr>
              <a:t>“LW” instruction</a:t>
            </a:r>
          </a:p>
        </p:txBody>
      </p:sp>
      <p:sp>
        <p:nvSpPr>
          <p:cNvPr id="66566" name="Rectangle 7"/>
          <p:cNvSpPr>
            <a:spLocks noChangeArrowheads="1"/>
          </p:cNvSpPr>
          <p:nvPr/>
        </p:nvSpPr>
        <p:spPr bwMode="auto">
          <a:xfrm>
            <a:off x="2209800" y="2692400"/>
            <a:ext cx="152400" cy="3048000"/>
          </a:xfrm>
          <a:prstGeom prst="rect">
            <a:avLst/>
          </a:prstGeom>
          <a:solidFill>
            <a:srgbClr val="FF0000"/>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66567" name="Text Box 8"/>
          <p:cNvSpPr txBox="1">
            <a:spLocks noChangeArrowheads="1"/>
          </p:cNvSpPr>
          <p:nvPr/>
        </p:nvSpPr>
        <p:spPr bwMode="auto">
          <a:xfrm>
            <a:off x="2209800" y="1506538"/>
            <a:ext cx="64008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2000" b="1" dirty="0">
                <a:solidFill>
                  <a:srgbClr val="FF0000"/>
                </a:solidFill>
                <a:ea typeface="ＭＳ Ｐゴシック" charset="-128"/>
              </a:rPr>
              <a:t>Pipeline Register Stores bits encoding the instruction “</a:t>
            </a:r>
            <a:r>
              <a:rPr lang="en-US" altLang="en-US" sz="2000" b="1" dirty="0" err="1">
                <a:solidFill>
                  <a:srgbClr val="FF0000"/>
                </a:solidFill>
                <a:ea typeface="ＭＳ Ｐゴシック" charset="-128"/>
              </a:rPr>
              <a:t>lw</a:t>
            </a:r>
            <a:r>
              <a:rPr lang="en-US" altLang="en-US" sz="2000" b="1" dirty="0">
                <a:solidFill>
                  <a:srgbClr val="FF0000"/>
                </a:solidFill>
                <a:ea typeface="ＭＳ Ｐゴシック" charset="-128"/>
              </a:rPr>
              <a:t> x1,100(x2)”</a:t>
            </a:r>
          </a:p>
        </p:txBody>
      </p:sp>
      <p:sp>
        <p:nvSpPr>
          <p:cNvPr id="66568" name="Slide Number Placeholder 11"/>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9BD3D8C6-7917-CC49-838D-CFC17B3698B8}" type="slidenum">
              <a:rPr lang="en-US" altLang="en-US" sz="1400">
                <a:latin typeface="Comic Sans MS" charset="0"/>
                <a:ea typeface="ＭＳ Ｐゴシック" charset="-128"/>
              </a:rPr>
              <a:pPr>
                <a:spcBef>
                  <a:spcPct val="0"/>
                </a:spcBef>
                <a:buFontTx/>
                <a:buNone/>
              </a:pPr>
              <a:t>13</a:t>
            </a:fld>
            <a:r>
              <a:rPr lang="en-US" altLang="en-US" sz="1400">
                <a:latin typeface="Comic Sans MS" charset="0"/>
                <a:ea typeface="ＭＳ Ｐゴシック" charset="-128"/>
              </a:rPr>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a:spLocks noGrp="1" noChangeArrowheads="1"/>
          </p:cNvSpPr>
          <p:nvPr>
            <p:ph type="title"/>
          </p:nvPr>
        </p:nvSpPr>
        <p:spPr/>
        <p:txBody>
          <a:bodyPr/>
          <a:lstStyle/>
          <a:p>
            <a:pPr eaLnBrk="1" hangingPunct="1"/>
            <a:r>
              <a:rPr lang="en-US" altLang="en-US" dirty="0">
                <a:latin typeface="Arial  " charset="0"/>
                <a:ea typeface="MS PGothic" charset="-128"/>
                <a:cs typeface="Arial  " charset="0"/>
              </a:rPr>
              <a:t>Pipelined “</a:t>
            </a:r>
            <a:r>
              <a:rPr lang="en-US" altLang="en-US" dirty="0" err="1">
                <a:latin typeface="Arial  " charset="0"/>
                <a:ea typeface="MS PGothic" charset="-128"/>
                <a:cs typeface="Arial  " charset="0"/>
              </a:rPr>
              <a:t>lw</a:t>
            </a:r>
            <a:r>
              <a:rPr lang="en-US" altLang="en-US" dirty="0">
                <a:latin typeface="Arial  " charset="0"/>
                <a:ea typeface="MS PGothic" charset="-128"/>
                <a:cs typeface="Arial  " charset="0"/>
              </a:rPr>
              <a:t> x1, 100(x2)”</a:t>
            </a:r>
          </a:p>
        </p:txBody>
      </p:sp>
      <p:pic>
        <p:nvPicPr>
          <p:cNvPr id="68610" name="Picture 3" descr="0161_002"/>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l="4559" t="13618" r="7892" b="23195"/>
          <a:stretch>
            <a:fillRect/>
          </a:stretch>
        </p:blipFill>
        <p:spPr>
          <a:xfrm>
            <a:off x="457200" y="1473200"/>
            <a:ext cx="8229600" cy="4589463"/>
          </a:xfrm>
        </p:spPr>
      </p:pic>
      <p:sp>
        <p:nvSpPr>
          <p:cNvPr id="68611" name="Oval 5"/>
          <p:cNvSpPr>
            <a:spLocks noChangeArrowheads="1"/>
          </p:cNvSpPr>
          <p:nvPr/>
        </p:nvSpPr>
        <p:spPr bwMode="auto">
          <a:xfrm>
            <a:off x="2438400" y="3454400"/>
            <a:ext cx="1676400" cy="2286000"/>
          </a:xfrm>
          <a:prstGeom prst="ellipse">
            <a:avLst/>
          </a:prstGeom>
          <a:noFill/>
          <a:ln w="76200">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68612" name="Text Box 6"/>
          <p:cNvSpPr txBox="1">
            <a:spLocks noChangeArrowheads="1"/>
          </p:cNvSpPr>
          <p:nvPr/>
        </p:nvSpPr>
        <p:spPr bwMode="auto">
          <a:xfrm>
            <a:off x="2019300" y="1598613"/>
            <a:ext cx="67119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2000" b="1">
                <a:solidFill>
                  <a:srgbClr val="FF0000"/>
                </a:solidFill>
                <a:ea typeface="ＭＳ Ｐゴシック" charset="-128"/>
              </a:rPr>
              <a:t>Pipeline Register Stores Reg[rs], Reg[rt], SgnExt(100)</a:t>
            </a:r>
          </a:p>
        </p:txBody>
      </p:sp>
      <p:sp>
        <p:nvSpPr>
          <p:cNvPr id="68613" name="Rectangle 7"/>
          <p:cNvSpPr>
            <a:spLocks noChangeArrowheads="1"/>
          </p:cNvSpPr>
          <p:nvPr/>
        </p:nvSpPr>
        <p:spPr bwMode="auto">
          <a:xfrm>
            <a:off x="4191000" y="2692400"/>
            <a:ext cx="228600" cy="3048000"/>
          </a:xfrm>
          <a:prstGeom prst="rect">
            <a:avLst/>
          </a:prstGeom>
          <a:solidFill>
            <a:srgbClr val="FF0000"/>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68614" name="Slide Number Placeholder 10"/>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144156F3-6E19-E448-B688-F8FE412FA84C}" type="slidenum">
              <a:rPr lang="en-US" altLang="en-US" sz="1400">
                <a:latin typeface="Comic Sans MS" charset="0"/>
                <a:ea typeface="ＭＳ Ｐゴシック" charset="-128"/>
              </a:rPr>
              <a:pPr>
                <a:spcBef>
                  <a:spcPct val="0"/>
                </a:spcBef>
                <a:buFontTx/>
                <a:buNone/>
              </a:pPr>
              <a:t>14</a:t>
            </a:fld>
            <a:r>
              <a:rPr lang="en-US" altLang="en-US" sz="1400">
                <a:latin typeface="Comic Sans MS" charset="0"/>
                <a:ea typeface="ＭＳ Ｐゴシック" charset="-128"/>
              </a:rPr>
              <a:t> </a:t>
            </a:r>
          </a:p>
        </p:txBody>
      </p:sp>
      <mc:AlternateContent xmlns:mc="http://schemas.openxmlformats.org/markup-compatibility/2006" xmlns:p14="http://schemas.microsoft.com/office/powerpoint/2010/main">
        <mc:Choice Requires="p14">
          <p:contentPart p14:bwMode="auto" r:id="rId4">
            <p14:nvContentPartPr>
              <p14:cNvPr id="6146" name="Ink 8"/>
              <p14:cNvContentPartPr>
                <a14:cpLocks xmlns:a14="http://schemas.microsoft.com/office/drawing/2010/main" noRot="1" noChangeAspect="1" noEditPoints="1" noChangeArrowheads="1" noChangeShapeType="1"/>
              </p14:cNvContentPartPr>
              <p14:nvPr/>
            </p14:nvContentPartPr>
            <p14:xfrm>
              <a:off x="6426200" y="2046288"/>
              <a:ext cx="439738" cy="14287"/>
            </p14:xfrm>
          </p:contentPart>
        </mc:Choice>
        <mc:Fallback xmlns="">
          <p:pic>
            <p:nvPicPr>
              <p:cNvPr id="6146" name="Ink 8"/>
              <p:cNvPicPr>
                <a:picLocks noRot="1" noChangeAspect="1" noEditPoints="1" noChangeArrowheads="1" noChangeShapeType="1"/>
              </p:cNvPicPr>
              <p:nvPr/>
            </p:nvPicPr>
            <p:blipFill>
              <a:blip r:embed="rId5"/>
              <a:stretch>
                <a:fillRect/>
              </a:stretch>
            </p:blipFill>
            <p:spPr>
              <a:xfrm>
                <a:off x="6416836" y="2037001"/>
                <a:ext cx="458466" cy="32860"/>
              </a:xfrm>
              <a:prstGeom prst="rect">
                <a:avLst/>
              </a:prstGeom>
            </p:spPr>
          </p:pic>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p:cNvSpPr>
            <a:spLocks noGrp="1" noChangeArrowheads="1"/>
          </p:cNvSpPr>
          <p:nvPr>
            <p:ph type="title"/>
          </p:nvPr>
        </p:nvSpPr>
        <p:spPr/>
        <p:txBody>
          <a:bodyPr/>
          <a:lstStyle/>
          <a:p>
            <a:pPr eaLnBrk="1" hangingPunct="1"/>
            <a:r>
              <a:rPr lang="en-US" altLang="en-US" dirty="0">
                <a:latin typeface="Arial  " charset="0"/>
                <a:ea typeface="MS PGothic" charset="-128"/>
                <a:cs typeface="Arial  " charset="0"/>
              </a:rPr>
              <a:t>Pipelined “</a:t>
            </a:r>
            <a:r>
              <a:rPr lang="en-US" altLang="en-US" dirty="0" err="1">
                <a:latin typeface="Arial  " charset="0"/>
                <a:ea typeface="MS PGothic" charset="-128"/>
                <a:cs typeface="Arial  " charset="0"/>
              </a:rPr>
              <a:t>lw</a:t>
            </a:r>
            <a:r>
              <a:rPr lang="en-US" altLang="en-US" dirty="0">
                <a:latin typeface="Arial  " charset="0"/>
                <a:ea typeface="MS PGothic" charset="-128"/>
                <a:cs typeface="Arial  " charset="0"/>
              </a:rPr>
              <a:t> x1, 100(x2)”</a:t>
            </a:r>
          </a:p>
        </p:txBody>
      </p:sp>
      <p:pic>
        <p:nvPicPr>
          <p:cNvPr id="70658" name="Picture 3" descr="0161_002"/>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l="4559" t="13618" r="7892" b="23195"/>
          <a:stretch>
            <a:fillRect/>
          </a:stretch>
        </p:blipFill>
        <p:spPr>
          <a:xfrm>
            <a:off x="482600" y="1498600"/>
            <a:ext cx="8229600" cy="4589463"/>
          </a:xfrm>
        </p:spPr>
      </p:pic>
      <p:sp>
        <p:nvSpPr>
          <p:cNvPr id="70659" name="Oval 5"/>
          <p:cNvSpPr>
            <a:spLocks noChangeArrowheads="1"/>
          </p:cNvSpPr>
          <p:nvPr/>
        </p:nvSpPr>
        <p:spPr bwMode="auto">
          <a:xfrm>
            <a:off x="4673600" y="3479800"/>
            <a:ext cx="1276350" cy="2057400"/>
          </a:xfrm>
          <a:prstGeom prst="ellipse">
            <a:avLst/>
          </a:prstGeom>
          <a:noFill/>
          <a:ln w="76200">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70660" name="Text Box 6"/>
          <p:cNvSpPr txBox="1">
            <a:spLocks noChangeArrowheads="1"/>
          </p:cNvSpPr>
          <p:nvPr/>
        </p:nvSpPr>
        <p:spPr bwMode="auto">
          <a:xfrm>
            <a:off x="2387600" y="1801813"/>
            <a:ext cx="47355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2000" b="1">
                <a:solidFill>
                  <a:srgbClr val="FF0000"/>
                </a:solidFill>
                <a:ea typeface="ＭＳ Ｐゴシック" charset="-128"/>
              </a:rPr>
              <a:t>Pipeline Register Stores ALU outputs</a:t>
            </a:r>
          </a:p>
        </p:txBody>
      </p:sp>
      <p:sp>
        <p:nvSpPr>
          <p:cNvPr id="70661" name="Rectangle 7"/>
          <p:cNvSpPr>
            <a:spLocks noChangeArrowheads="1"/>
          </p:cNvSpPr>
          <p:nvPr/>
        </p:nvSpPr>
        <p:spPr bwMode="auto">
          <a:xfrm>
            <a:off x="6080125" y="2717800"/>
            <a:ext cx="174625" cy="3048000"/>
          </a:xfrm>
          <a:prstGeom prst="rect">
            <a:avLst/>
          </a:prstGeom>
          <a:solidFill>
            <a:srgbClr val="FF0000"/>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70662" name="Slide Number Placeholder 10"/>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32A2D7EB-3A16-9440-8E08-3D6290B84945}" type="slidenum">
              <a:rPr lang="en-US" altLang="en-US" sz="1400">
                <a:latin typeface="Comic Sans MS" charset="0"/>
                <a:ea typeface="ＭＳ Ｐゴシック" charset="-128"/>
              </a:rPr>
              <a:pPr>
                <a:spcBef>
                  <a:spcPct val="0"/>
                </a:spcBef>
                <a:buFontTx/>
                <a:buNone/>
              </a:pPr>
              <a:t>15</a:t>
            </a:fld>
            <a:r>
              <a:rPr lang="en-US" altLang="en-US" sz="1400">
                <a:latin typeface="Comic Sans MS" charset="0"/>
                <a:ea typeface="ＭＳ Ｐゴシック" charset="-128"/>
              </a:rPr>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p:cNvSpPr>
            <a:spLocks noGrp="1" noChangeArrowheads="1"/>
          </p:cNvSpPr>
          <p:nvPr>
            <p:ph type="title"/>
          </p:nvPr>
        </p:nvSpPr>
        <p:spPr/>
        <p:txBody>
          <a:bodyPr/>
          <a:lstStyle/>
          <a:p>
            <a:pPr eaLnBrk="1" hangingPunct="1"/>
            <a:r>
              <a:rPr lang="en-US" altLang="en-US" dirty="0">
                <a:latin typeface="Arial  " charset="0"/>
                <a:ea typeface="MS PGothic" charset="-128"/>
                <a:cs typeface="Arial  " charset="0"/>
              </a:rPr>
              <a:t>Pipelined “</a:t>
            </a:r>
            <a:r>
              <a:rPr lang="en-US" altLang="en-US" dirty="0" err="1">
                <a:latin typeface="Arial  " charset="0"/>
                <a:ea typeface="MS PGothic" charset="-128"/>
                <a:cs typeface="Arial  " charset="0"/>
              </a:rPr>
              <a:t>lw</a:t>
            </a:r>
            <a:r>
              <a:rPr lang="en-US" altLang="en-US" dirty="0">
                <a:latin typeface="Arial  " charset="0"/>
                <a:ea typeface="MS PGothic" charset="-128"/>
                <a:cs typeface="Arial  " charset="0"/>
              </a:rPr>
              <a:t> x1, 100(x2)”</a:t>
            </a:r>
          </a:p>
        </p:txBody>
      </p:sp>
      <p:pic>
        <p:nvPicPr>
          <p:cNvPr id="72706" name="Picture 3" descr="0161_002"/>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l="4559" t="13618" r="7892" b="23195"/>
          <a:stretch>
            <a:fillRect/>
          </a:stretch>
        </p:blipFill>
        <p:spPr>
          <a:xfrm>
            <a:off x="444500" y="1524000"/>
            <a:ext cx="8229600" cy="4589463"/>
          </a:xfrm>
        </p:spPr>
      </p:pic>
      <p:sp>
        <p:nvSpPr>
          <p:cNvPr id="72707" name="Oval 5"/>
          <p:cNvSpPr>
            <a:spLocks noChangeArrowheads="1"/>
          </p:cNvSpPr>
          <p:nvPr/>
        </p:nvSpPr>
        <p:spPr bwMode="auto">
          <a:xfrm>
            <a:off x="6353175" y="3505200"/>
            <a:ext cx="1276350" cy="2057400"/>
          </a:xfrm>
          <a:prstGeom prst="ellipse">
            <a:avLst/>
          </a:prstGeom>
          <a:noFill/>
          <a:ln w="76200">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72708" name="Text Box 6"/>
          <p:cNvSpPr txBox="1">
            <a:spLocks noChangeArrowheads="1"/>
          </p:cNvSpPr>
          <p:nvPr/>
        </p:nvSpPr>
        <p:spPr bwMode="auto">
          <a:xfrm>
            <a:off x="1985963" y="1697038"/>
            <a:ext cx="628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2000" b="1">
                <a:solidFill>
                  <a:srgbClr val="FF0000"/>
                </a:solidFill>
                <a:ea typeface="ＭＳ Ｐゴシック" charset="-128"/>
              </a:rPr>
              <a:t>Pipeline Register Stores Output of Data Memory</a:t>
            </a:r>
          </a:p>
        </p:txBody>
      </p:sp>
      <p:sp>
        <p:nvSpPr>
          <p:cNvPr id="72709" name="Rectangle 7"/>
          <p:cNvSpPr>
            <a:spLocks noChangeArrowheads="1"/>
          </p:cNvSpPr>
          <p:nvPr/>
        </p:nvSpPr>
        <p:spPr bwMode="auto">
          <a:xfrm>
            <a:off x="7750175" y="2762250"/>
            <a:ext cx="174625" cy="3048000"/>
          </a:xfrm>
          <a:prstGeom prst="rect">
            <a:avLst/>
          </a:prstGeom>
          <a:solidFill>
            <a:srgbClr val="FF0000"/>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72710" name="Slide Number Placeholder 10"/>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BF6BD9D9-C983-394D-8E5C-47AA5810D114}" type="slidenum">
              <a:rPr lang="en-US" altLang="en-US" sz="1400">
                <a:latin typeface="Comic Sans MS" charset="0"/>
                <a:ea typeface="ＭＳ Ｐゴシック" charset="-128"/>
              </a:rPr>
              <a:pPr>
                <a:spcBef>
                  <a:spcPct val="0"/>
                </a:spcBef>
                <a:buFontTx/>
                <a:buNone/>
              </a:pPr>
              <a:t>16</a:t>
            </a:fld>
            <a:r>
              <a:rPr lang="en-US" altLang="en-US" sz="1400">
                <a:latin typeface="Comic Sans MS" charset="0"/>
                <a:ea typeface="ＭＳ Ｐゴシック" charset="-128"/>
              </a:rPr>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noChangeArrowheads="1"/>
          </p:cNvSpPr>
          <p:nvPr>
            <p:ph type="title"/>
          </p:nvPr>
        </p:nvSpPr>
        <p:spPr/>
        <p:txBody>
          <a:bodyPr/>
          <a:lstStyle/>
          <a:p>
            <a:pPr eaLnBrk="1" hangingPunct="1"/>
            <a:r>
              <a:rPr lang="en-US" altLang="en-US" dirty="0">
                <a:latin typeface="Arial  " charset="0"/>
                <a:ea typeface="MS PGothic" charset="-128"/>
                <a:cs typeface="Arial  " charset="0"/>
              </a:rPr>
              <a:t>Pipelined “</a:t>
            </a:r>
            <a:r>
              <a:rPr lang="en-US" altLang="en-US" dirty="0" err="1">
                <a:latin typeface="Arial  " charset="0"/>
                <a:ea typeface="MS PGothic" charset="-128"/>
                <a:cs typeface="Arial  " charset="0"/>
              </a:rPr>
              <a:t>lw</a:t>
            </a:r>
            <a:r>
              <a:rPr lang="en-US" altLang="en-US" dirty="0">
                <a:latin typeface="Arial  " charset="0"/>
                <a:ea typeface="MS PGothic" charset="-128"/>
                <a:cs typeface="Arial  " charset="0"/>
              </a:rPr>
              <a:t> x1, 100(x2)”</a:t>
            </a:r>
          </a:p>
        </p:txBody>
      </p:sp>
      <p:pic>
        <p:nvPicPr>
          <p:cNvPr id="74754" name="Picture 3" descr="0161_002"/>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l="4559" t="13618" r="7892" b="23195"/>
          <a:stretch>
            <a:fillRect/>
          </a:stretch>
        </p:blipFill>
        <p:spPr>
          <a:xfrm>
            <a:off x="419100" y="1498600"/>
            <a:ext cx="8229600" cy="4589463"/>
          </a:xfrm>
        </p:spPr>
      </p:pic>
      <p:sp>
        <p:nvSpPr>
          <p:cNvPr id="74755" name="Freeform 5"/>
          <p:cNvSpPr>
            <a:spLocks/>
          </p:cNvSpPr>
          <p:nvPr/>
        </p:nvSpPr>
        <p:spPr bwMode="auto">
          <a:xfrm>
            <a:off x="2324100" y="3556000"/>
            <a:ext cx="6324600" cy="2667000"/>
          </a:xfrm>
          <a:custGeom>
            <a:avLst/>
            <a:gdLst>
              <a:gd name="T0" fmla="*/ 2147483646 w 3792"/>
              <a:gd name="T1" fmla="*/ 2147483646 h 1776"/>
              <a:gd name="T2" fmla="*/ 2147483646 w 3792"/>
              <a:gd name="T3" fmla="*/ 2147483646 h 1776"/>
              <a:gd name="T4" fmla="*/ 2147483646 w 3792"/>
              <a:gd name="T5" fmla="*/ 2147483646 h 1776"/>
              <a:gd name="T6" fmla="*/ 0 w 3792"/>
              <a:gd name="T7" fmla="*/ 2147483646 h 1776"/>
              <a:gd name="T8" fmla="*/ 0 w 3792"/>
              <a:gd name="T9" fmla="*/ 0 h 1776"/>
              <a:gd name="T10" fmla="*/ 2147483646 w 3792"/>
              <a:gd name="T11" fmla="*/ 0 h 1776"/>
              <a:gd name="T12" fmla="*/ 2147483646 w 3792"/>
              <a:gd name="T13" fmla="*/ 2147483646 h 1776"/>
              <a:gd name="T14" fmla="*/ 2147483646 w 3792"/>
              <a:gd name="T15" fmla="*/ 2147483646 h 1776"/>
              <a:gd name="T16" fmla="*/ 2147483646 w 3792"/>
              <a:gd name="T17" fmla="*/ 2147483646 h 1776"/>
              <a:gd name="T18" fmla="*/ 2147483646 w 3792"/>
              <a:gd name="T19" fmla="*/ 2147483646 h 1776"/>
              <a:gd name="T20" fmla="*/ 2147483646 w 3792"/>
              <a:gd name="T21" fmla="*/ 2147483646 h 177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792"/>
              <a:gd name="T34" fmla="*/ 0 h 1776"/>
              <a:gd name="T35" fmla="*/ 3792 w 3792"/>
              <a:gd name="T36" fmla="*/ 1776 h 177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792" h="1776">
                <a:moveTo>
                  <a:pt x="3360" y="432"/>
                </a:moveTo>
                <a:lnTo>
                  <a:pt x="3792" y="432"/>
                </a:lnTo>
                <a:lnTo>
                  <a:pt x="3792" y="1776"/>
                </a:lnTo>
                <a:lnTo>
                  <a:pt x="0" y="1776"/>
                </a:lnTo>
                <a:lnTo>
                  <a:pt x="0" y="0"/>
                </a:lnTo>
                <a:lnTo>
                  <a:pt x="1152" y="0"/>
                </a:lnTo>
                <a:lnTo>
                  <a:pt x="1152" y="960"/>
                </a:lnTo>
                <a:lnTo>
                  <a:pt x="432" y="960"/>
                </a:lnTo>
                <a:lnTo>
                  <a:pt x="432" y="1344"/>
                </a:lnTo>
                <a:lnTo>
                  <a:pt x="3360" y="1344"/>
                </a:lnTo>
                <a:lnTo>
                  <a:pt x="3360" y="432"/>
                </a:lnTo>
                <a:close/>
              </a:path>
            </a:pathLst>
          </a:custGeom>
          <a:noFill/>
          <a:ln w="76200">
            <a:solidFill>
              <a:srgbClr val="00FF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CA"/>
          </a:p>
        </p:txBody>
      </p:sp>
      <p:sp>
        <p:nvSpPr>
          <p:cNvPr id="74756" name="Text Box 6"/>
          <p:cNvSpPr txBox="1">
            <a:spLocks noChangeArrowheads="1"/>
          </p:cNvSpPr>
          <p:nvPr/>
        </p:nvSpPr>
        <p:spPr bwMode="auto">
          <a:xfrm>
            <a:off x="2019300" y="1620838"/>
            <a:ext cx="58562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2000" b="1" dirty="0">
                <a:solidFill>
                  <a:srgbClr val="FF0000"/>
                </a:solidFill>
                <a:ea typeface="ＭＳ Ｐゴシック" charset="-128"/>
              </a:rPr>
              <a:t>Register File Stores Data Memory output to x1</a:t>
            </a:r>
          </a:p>
          <a:p>
            <a:pPr eaLnBrk="1" hangingPunct="1">
              <a:spcBef>
                <a:spcPct val="0"/>
              </a:spcBef>
              <a:buFontTx/>
              <a:buNone/>
            </a:pPr>
            <a:r>
              <a:rPr lang="en-US" altLang="en-US" sz="2000" b="1" dirty="0">
                <a:solidFill>
                  <a:srgbClr val="FF0000"/>
                </a:solidFill>
                <a:ea typeface="ＭＳ Ｐゴシック" charset="-128"/>
              </a:rPr>
              <a:t>=&gt; </a:t>
            </a:r>
            <a:r>
              <a:rPr lang="en-US" altLang="en-US" sz="2000" b="1" dirty="0" err="1">
                <a:solidFill>
                  <a:srgbClr val="FF0000"/>
                </a:solidFill>
                <a:ea typeface="ＭＳ Ｐゴシック" charset="-128"/>
              </a:rPr>
              <a:t>RegisterFile</a:t>
            </a:r>
            <a:r>
              <a:rPr lang="en-US" altLang="en-US" sz="2000" b="1" dirty="0">
                <a:solidFill>
                  <a:srgbClr val="FF0000"/>
                </a:solidFill>
                <a:ea typeface="ＭＳ Ｐゴシック" charset="-128"/>
              </a:rPr>
              <a:t> acts like final pipeline register</a:t>
            </a:r>
          </a:p>
        </p:txBody>
      </p:sp>
      <p:sp>
        <p:nvSpPr>
          <p:cNvPr id="74757" name="Rectangle 7"/>
          <p:cNvSpPr>
            <a:spLocks noChangeArrowheads="1"/>
          </p:cNvSpPr>
          <p:nvPr/>
        </p:nvSpPr>
        <p:spPr bwMode="auto">
          <a:xfrm>
            <a:off x="2924175" y="3775075"/>
            <a:ext cx="990600" cy="1066800"/>
          </a:xfrm>
          <a:prstGeom prst="rect">
            <a:avLst/>
          </a:prstGeom>
          <a:solidFill>
            <a:srgbClr val="FF0000">
              <a:alpha val="34901"/>
            </a:srgbClr>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74758" name="Slide Number Placeholder 10"/>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6504D644-58A8-BB41-A8F5-AA59F2A78802}" type="slidenum">
              <a:rPr lang="en-US" altLang="en-US" sz="1400">
                <a:latin typeface="Comic Sans MS" charset="0"/>
                <a:ea typeface="ＭＳ Ｐゴシック" charset="-128"/>
              </a:rPr>
              <a:pPr>
                <a:spcBef>
                  <a:spcPct val="0"/>
                </a:spcBef>
                <a:buFontTx/>
                <a:buNone/>
              </a:pPr>
              <a:t>17</a:t>
            </a:fld>
            <a:r>
              <a:rPr lang="en-US" altLang="en-US" sz="1400">
                <a:latin typeface="Comic Sans MS" charset="0"/>
                <a:ea typeface="ＭＳ Ｐゴシック" charset="-128"/>
              </a:rPr>
              <a:t> </a:t>
            </a:r>
          </a:p>
        </p:txBody>
      </p:sp>
      <mc:AlternateContent xmlns:mc="http://schemas.openxmlformats.org/markup-compatibility/2006" xmlns:p14="http://schemas.microsoft.com/office/powerpoint/2010/main">
        <mc:Choice Requires="p14">
          <p:contentPart p14:bwMode="auto" r:id="rId4">
            <p14:nvContentPartPr>
              <p14:cNvPr id="7170" name="Ink 8"/>
              <p14:cNvContentPartPr>
                <a14:cpLocks xmlns:a14="http://schemas.microsoft.com/office/drawing/2010/main" noRot="1" noChangeAspect="1" noEditPoints="1" noChangeArrowheads="1" noChangeShapeType="1"/>
              </p14:cNvContentPartPr>
              <p14:nvPr/>
            </p14:nvContentPartPr>
            <p14:xfrm>
              <a:off x="2330450" y="4251325"/>
              <a:ext cx="571500" cy="561975"/>
            </p14:xfrm>
          </p:contentPart>
        </mc:Choice>
        <mc:Fallback xmlns="">
          <p:pic>
            <p:nvPicPr>
              <p:cNvPr id="7170" name="Ink 8"/>
              <p:cNvPicPr>
                <a:picLocks noRot="1" noChangeAspect="1" noEditPoints="1" noChangeArrowheads="1" noChangeShapeType="1"/>
              </p:cNvPicPr>
              <p:nvPr/>
            </p:nvPicPr>
            <p:blipFill>
              <a:blip r:embed="rId5"/>
              <a:stretch>
                <a:fillRect/>
              </a:stretch>
            </p:blipFill>
            <p:spPr>
              <a:xfrm>
                <a:off x="2321093" y="4241965"/>
                <a:ext cx="590214" cy="580695"/>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171" name="Ink 9"/>
              <p14:cNvContentPartPr>
                <a14:cpLocks xmlns:a14="http://schemas.microsoft.com/office/drawing/2010/main" noRot="1" noChangeAspect="1" noEditPoints="1" noChangeArrowheads="1" noChangeShapeType="1"/>
              </p14:cNvContentPartPr>
              <p14:nvPr/>
            </p14:nvContentPartPr>
            <p14:xfrm>
              <a:off x="2659063" y="4622800"/>
              <a:ext cx="5746750" cy="1352550"/>
            </p14:xfrm>
          </p:contentPart>
        </mc:Choice>
        <mc:Fallback xmlns="">
          <p:pic>
            <p:nvPicPr>
              <p:cNvPr id="7171" name="Ink 9"/>
              <p:cNvPicPr>
                <a:picLocks noRot="1" noChangeAspect="1" noEditPoints="1" noChangeArrowheads="1" noChangeShapeType="1"/>
              </p:cNvPicPr>
              <p:nvPr/>
            </p:nvPicPr>
            <p:blipFill>
              <a:blip r:embed="rId7"/>
              <a:stretch>
                <a:fillRect/>
              </a:stretch>
            </p:blipFill>
            <p:spPr>
              <a:xfrm>
                <a:off x="2649703" y="4613440"/>
                <a:ext cx="5765470" cy="1371270"/>
              </a:xfrm>
              <a:prstGeom prst="rect">
                <a:avLst/>
              </a:prstGeom>
            </p:spPr>
          </p:pic>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title"/>
          </p:nvPr>
        </p:nvSpPr>
        <p:spPr>
          <a:xfrm>
            <a:off x="685800" y="0"/>
            <a:ext cx="7772400" cy="838200"/>
          </a:xfrm>
        </p:spPr>
        <p:txBody>
          <a:bodyPr/>
          <a:lstStyle/>
          <a:p>
            <a:pPr eaLnBrk="1" hangingPunct="1"/>
            <a:r>
              <a:rPr lang="en-US" altLang="en-US">
                <a:latin typeface="Arial  " charset="0"/>
                <a:ea typeface="MS PGothic" charset="-128"/>
                <a:cs typeface="Arial  " charset="0"/>
              </a:rPr>
              <a:t>Question</a:t>
            </a:r>
          </a:p>
        </p:txBody>
      </p:sp>
      <p:sp>
        <p:nvSpPr>
          <p:cNvPr id="76802" name="Rectangle 3"/>
          <p:cNvSpPr>
            <a:spLocks noGrp="1" noChangeArrowheads="1"/>
          </p:cNvSpPr>
          <p:nvPr>
            <p:ph type="body" idx="1"/>
          </p:nvPr>
        </p:nvSpPr>
        <p:spPr>
          <a:xfrm>
            <a:off x="609600" y="914400"/>
            <a:ext cx="8153400" cy="4800600"/>
          </a:xfrm>
        </p:spPr>
        <p:txBody>
          <a:bodyPr/>
          <a:lstStyle/>
          <a:p>
            <a:pPr eaLnBrk="1" hangingPunct="1">
              <a:lnSpc>
                <a:spcPct val="90000"/>
              </a:lnSpc>
            </a:pPr>
            <a:r>
              <a:rPr lang="en-US" altLang="en-US" sz="2400" dirty="0">
                <a:latin typeface="Arial  " charset="0"/>
                <a:ea typeface="MS PGothic" charset="-128"/>
                <a:cs typeface="Arial  " charset="0"/>
              </a:rPr>
              <a:t>Something was wrong in the last example – did you see it?  </a:t>
            </a:r>
            <a:r>
              <a:rPr lang="en-US" altLang="en-US" sz="2400" dirty="0">
                <a:solidFill>
                  <a:srgbClr val="FF0000"/>
                </a:solidFill>
                <a:latin typeface="Arial  " charset="0"/>
                <a:ea typeface="MS PGothic" charset="-128"/>
                <a:cs typeface="Arial  " charset="0"/>
              </a:rPr>
              <a:t>Not something missing. Something just wrong.</a:t>
            </a:r>
            <a:endParaRPr lang="en-US" altLang="en-US" sz="2000" dirty="0">
              <a:latin typeface="Arial  " charset="0"/>
              <a:ea typeface="MS PGothic" charset="-128"/>
              <a:cs typeface="Arial  " charset="0"/>
            </a:endParaRPr>
          </a:p>
          <a:p>
            <a:pPr lvl="1" eaLnBrk="1" hangingPunct="1">
              <a:lnSpc>
                <a:spcPct val="90000"/>
              </a:lnSpc>
              <a:buFontTx/>
              <a:buNone/>
            </a:pPr>
            <a:endParaRPr lang="en-US" altLang="en-US" sz="2000" dirty="0">
              <a:latin typeface="Arial  " charset="0"/>
              <a:ea typeface="MS PGothic" charset="-128"/>
              <a:cs typeface="Arial  " charset="0"/>
            </a:endParaRPr>
          </a:p>
          <a:p>
            <a:pPr lvl="1" eaLnBrk="1" hangingPunct="1">
              <a:lnSpc>
                <a:spcPct val="90000"/>
              </a:lnSpc>
            </a:pPr>
            <a:r>
              <a:rPr lang="en-US" altLang="en-US" sz="2000" dirty="0">
                <a:latin typeface="Arial  " charset="0"/>
                <a:ea typeface="MS PGothic" charset="-128"/>
                <a:cs typeface="Arial  " charset="0"/>
              </a:rPr>
              <a:t>Load writes to destination register of instruction in IF/ID stage </a:t>
            </a:r>
            <a:r>
              <a:rPr lang="en-US" altLang="en-US" sz="2000" dirty="0">
                <a:solidFill>
                  <a:srgbClr val="FF0000"/>
                </a:solidFill>
                <a:latin typeface="Arial  " charset="0"/>
                <a:ea typeface="MS PGothic" charset="-128"/>
                <a:cs typeface="Arial  " charset="0"/>
              </a:rPr>
              <a:t>and doing so is wrong</a:t>
            </a:r>
            <a:r>
              <a:rPr lang="en-US" altLang="en-US" sz="2000" dirty="0">
                <a:latin typeface="Arial  " charset="0"/>
                <a:ea typeface="MS PGothic" charset="-128"/>
                <a:cs typeface="Arial  " charset="0"/>
              </a:rPr>
              <a:t>.</a:t>
            </a:r>
          </a:p>
          <a:p>
            <a:pPr lvl="1" eaLnBrk="1" hangingPunct="1">
              <a:lnSpc>
                <a:spcPct val="90000"/>
              </a:lnSpc>
            </a:pPr>
            <a:r>
              <a:rPr lang="en-US" altLang="en-US" sz="2000" dirty="0">
                <a:latin typeface="Arial  " charset="0"/>
                <a:ea typeface="MS PGothic" charset="-128"/>
                <a:cs typeface="Arial  " charset="0"/>
              </a:rPr>
              <a:t>Why?  </a:t>
            </a:r>
          </a:p>
          <a:p>
            <a:pPr lvl="2" eaLnBrk="1" hangingPunct="1">
              <a:lnSpc>
                <a:spcPct val="90000"/>
              </a:lnSpc>
            </a:pPr>
            <a:r>
              <a:rPr lang="en-US" altLang="en-US" sz="1800" dirty="0">
                <a:latin typeface="Arial  " charset="0"/>
                <a:ea typeface="MS PGothic" charset="-128"/>
                <a:cs typeface="Arial  " charset="0"/>
              </a:rPr>
              <a:t>Look at source of “Write Register” in previous slide.</a:t>
            </a:r>
          </a:p>
          <a:p>
            <a:pPr lvl="1" eaLnBrk="1" hangingPunct="1">
              <a:lnSpc>
                <a:spcPct val="90000"/>
              </a:lnSpc>
            </a:pPr>
            <a:r>
              <a:rPr lang="en-US" altLang="en-US" sz="2000" dirty="0">
                <a:latin typeface="Arial  " charset="0"/>
                <a:ea typeface="MS PGothic" charset="-128"/>
                <a:cs typeface="Arial  " charset="0"/>
              </a:rPr>
              <a:t>Write to destination register of instruction that comes 3 instructions later:</a:t>
            </a:r>
          </a:p>
          <a:p>
            <a:pPr lvl="1" eaLnBrk="1" hangingPunct="1">
              <a:lnSpc>
                <a:spcPct val="90000"/>
              </a:lnSpc>
            </a:pPr>
            <a:endParaRPr lang="en-US" altLang="en-US" sz="2000" dirty="0">
              <a:latin typeface="Arial  " charset="0"/>
              <a:ea typeface="MS PGothic" charset="-128"/>
              <a:cs typeface="Arial  " charset="0"/>
            </a:endParaRPr>
          </a:p>
          <a:p>
            <a:pPr lvl="2" eaLnBrk="1" hangingPunct="1">
              <a:lnSpc>
                <a:spcPct val="90000"/>
              </a:lnSpc>
              <a:buFontTx/>
              <a:buNone/>
            </a:pPr>
            <a:r>
              <a:rPr lang="en-US" altLang="en-US" sz="1800" dirty="0">
                <a:latin typeface="Arial  " charset="0"/>
                <a:ea typeface="MS PGothic" charset="-128"/>
                <a:cs typeface="Arial  " charset="0"/>
              </a:rPr>
              <a:t>	</a:t>
            </a:r>
            <a:r>
              <a:rPr lang="en-US" altLang="en-US" sz="1800" dirty="0" err="1">
                <a:solidFill>
                  <a:srgbClr val="0000FF"/>
                </a:solidFill>
                <a:latin typeface="Arial  " charset="0"/>
                <a:ea typeface="MS PGothic" charset="-128"/>
                <a:cs typeface="Arial  " charset="0"/>
              </a:rPr>
              <a:t>lw</a:t>
            </a:r>
            <a:r>
              <a:rPr lang="en-US" altLang="en-US" sz="1800" dirty="0">
                <a:solidFill>
                  <a:srgbClr val="0000FF"/>
                </a:solidFill>
                <a:latin typeface="Arial  " charset="0"/>
                <a:ea typeface="MS PGothic" charset="-128"/>
                <a:cs typeface="Arial  " charset="0"/>
              </a:rPr>
              <a:t> 	x1,100(x2)	; instruction in MEM/WB</a:t>
            </a:r>
          </a:p>
          <a:p>
            <a:pPr lvl="2" eaLnBrk="1" hangingPunct="1">
              <a:lnSpc>
                <a:spcPct val="90000"/>
              </a:lnSpc>
              <a:buFontTx/>
              <a:buNone/>
            </a:pPr>
            <a:r>
              <a:rPr lang="en-US" altLang="en-US" sz="1800" dirty="0">
                <a:latin typeface="Arial  " charset="0"/>
                <a:ea typeface="MS PGothic" charset="-128"/>
                <a:cs typeface="Arial  " charset="0"/>
              </a:rPr>
              <a:t>	</a:t>
            </a:r>
            <a:r>
              <a:rPr lang="en-US" altLang="en-US" sz="1800" dirty="0" err="1">
                <a:latin typeface="Arial  " charset="0"/>
                <a:ea typeface="MS PGothic" charset="-128"/>
                <a:cs typeface="Arial  " charset="0"/>
              </a:rPr>
              <a:t>addu</a:t>
            </a:r>
            <a:r>
              <a:rPr lang="en-US" altLang="en-US" sz="1800" dirty="0">
                <a:latin typeface="Arial  " charset="0"/>
                <a:ea typeface="MS PGothic" charset="-128"/>
                <a:cs typeface="Arial  " charset="0"/>
              </a:rPr>
              <a:t> 	x3,x4,x5	; instruction in EX/MEM</a:t>
            </a:r>
          </a:p>
          <a:p>
            <a:pPr lvl="2" eaLnBrk="1" hangingPunct="1">
              <a:lnSpc>
                <a:spcPct val="90000"/>
              </a:lnSpc>
              <a:buFontTx/>
              <a:buNone/>
            </a:pPr>
            <a:r>
              <a:rPr lang="en-US" altLang="en-US" sz="1800" dirty="0">
                <a:latin typeface="Arial  " charset="0"/>
                <a:ea typeface="MS PGothic" charset="-128"/>
                <a:cs typeface="Arial  " charset="0"/>
              </a:rPr>
              <a:t>	</a:t>
            </a:r>
            <a:r>
              <a:rPr lang="en-US" altLang="en-US" sz="1800" dirty="0" err="1">
                <a:latin typeface="Arial  " charset="0"/>
                <a:ea typeface="MS PGothic" charset="-128"/>
                <a:cs typeface="Arial  " charset="0"/>
              </a:rPr>
              <a:t>subu</a:t>
            </a:r>
            <a:r>
              <a:rPr lang="en-US" altLang="en-US" sz="1800" dirty="0">
                <a:latin typeface="Arial  " charset="0"/>
                <a:ea typeface="MS PGothic" charset="-128"/>
                <a:cs typeface="Arial  " charset="0"/>
              </a:rPr>
              <a:t> 	x6,x7,x8	; instruction in ID/EX</a:t>
            </a:r>
          </a:p>
          <a:p>
            <a:pPr lvl="2" eaLnBrk="1" hangingPunct="1">
              <a:lnSpc>
                <a:spcPct val="90000"/>
              </a:lnSpc>
              <a:buFontTx/>
              <a:buNone/>
            </a:pPr>
            <a:r>
              <a:rPr lang="en-US" altLang="en-US" sz="1800" dirty="0">
                <a:latin typeface="Arial  " charset="0"/>
                <a:ea typeface="MS PGothic" charset="-128"/>
                <a:cs typeface="Arial  " charset="0"/>
              </a:rPr>
              <a:t>	</a:t>
            </a:r>
            <a:r>
              <a:rPr lang="en-US" altLang="en-US" sz="1800" dirty="0" err="1">
                <a:latin typeface="Arial  " charset="0"/>
                <a:ea typeface="MS PGothic" charset="-128"/>
                <a:cs typeface="Arial  " charset="0"/>
              </a:rPr>
              <a:t>addu</a:t>
            </a:r>
            <a:r>
              <a:rPr lang="en-US" altLang="en-US" sz="1800" dirty="0">
                <a:latin typeface="Arial  " charset="0"/>
                <a:ea typeface="MS PGothic" charset="-128"/>
                <a:cs typeface="Arial  " charset="0"/>
              </a:rPr>
              <a:t>   </a:t>
            </a:r>
            <a:r>
              <a:rPr lang="en-US" altLang="en-US" sz="1800" dirty="0">
                <a:solidFill>
                  <a:srgbClr val="FF0000"/>
                </a:solidFill>
                <a:latin typeface="Arial  " charset="0"/>
                <a:ea typeface="MS PGothic" charset="-128"/>
                <a:cs typeface="Arial  " charset="0"/>
              </a:rPr>
              <a:t>x10</a:t>
            </a:r>
            <a:r>
              <a:rPr lang="en-US" altLang="en-US" sz="1800" dirty="0">
                <a:solidFill>
                  <a:srgbClr val="000000"/>
                </a:solidFill>
                <a:latin typeface="Arial  " charset="0"/>
                <a:ea typeface="MS PGothic" charset="-128"/>
                <a:cs typeface="Arial  " charset="0"/>
              </a:rPr>
              <a:t>,x11,x12	; instruction in IF/ID</a:t>
            </a:r>
          </a:p>
          <a:p>
            <a:pPr lvl="2" eaLnBrk="1" hangingPunct="1">
              <a:lnSpc>
                <a:spcPct val="90000"/>
              </a:lnSpc>
              <a:buFontTx/>
              <a:buNone/>
            </a:pPr>
            <a:endParaRPr lang="en-US" altLang="en-US" sz="1800" dirty="0">
              <a:latin typeface="Arial  " charset="0"/>
              <a:ea typeface="MS PGothic" charset="-128"/>
              <a:cs typeface="Arial  " charset="0"/>
            </a:endParaRPr>
          </a:p>
          <a:p>
            <a:pPr lvl="1" eaLnBrk="1" hangingPunct="1">
              <a:lnSpc>
                <a:spcPct val="90000"/>
              </a:lnSpc>
            </a:pPr>
            <a:r>
              <a:rPr lang="en-US" altLang="en-US" sz="2000" dirty="0">
                <a:latin typeface="Arial  " charset="0"/>
                <a:ea typeface="MS PGothic" charset="-128"/>
                <a:cs typeface="Arial  " charset="0"/>
              </a:rPr>
              <a:t>So, which register gets written to?  =&gt; x10 (i.e., not x1)</a:t>
            </a:r>
          </a:p>
          <a:p>
            <a:pPr lvl="1" eaLnBrk="1" hangingPunct="1">
              <a:lnSpc>
                <a:spcPct val="90000"/>
              </a:lnSpc>
            </a:pPr>
            <a:r>
              <a:rPr lang="en-US" altLang="en-US" sz="2000" dirty="0">
                <a:latin typeface="Arial  " charset="0"/>
                <a:ea typeface="MS PGothic" charset="-128"/>
                <a:cs typeface="Arial  " charset="0"/>
              </a:rPr>
              <a:t>Let’s fix this...</a:t>
            </a:r>
          </a:p>
          <a:p>
            <a:pPr lvl="1" eaLnBrk="1" hangingPunct="1">
              <a:lnSpc>
                <a:spcPct val="90000"/>
              </a:lnSpc>
            </a:pPr>
            <a:endParaRPr lang="en-US" altLang="en-US" sz="2000" dirty="0">
              <a:latin typeface="Arial  " charset="0"/>
              <a:ea typeface="MS PGothic" charset="-128"/>
              <a:cs typeface="Arial  " charset="0"/>
            </a:endParaRPr>
          </a:p>
          <a:p>
            <a:pPr lvl="1" eaLnBrk="1" hangingPunct="1">
              <a:lnSpc>
                <a:spcPct val="90000"/>
              </a:lnSpc>
            </a:pPr>
            <a:endParaRPr lang="en-US" altLang="en-US" sz="2000" dirty="0">
              <a:latin typeface="Arial  " charset="0"/>
              <a:ea typeface="MS PGothic" charset="-128"/>
              <a:cs typeface="Arial  " charset="0"/>
            </a:endParaRPr>
          </a:p>
        </p:txBody>
      </p:sp>
      <p:sp>
        <p:nvSpPr>
          <p:cNvPr id="76803" name="Slide Number Placeholder 6"/>
          <p:cNvSpPr>
            <a:spLocks noGrp="1"/>
          </p:cNvSpPr>
          <p:nvPr>
            <p:ph type="sldNum" sz="quarter" idx="4294967295"/>
          </p:nvPr>
        </p:nvSpPr>
        <p:spPr>
          <a:xfrm>
            <a:off x="72390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892F2D7A-D5D6-3549-A39D-54C41F885431}" type="slidenum">
              <a:rPr lang="en-US" altLang="en-US" sz="1400">
                <a:latin typeface="Comic Sans MS" charset="0"/>
                <a:ea typeface="ＭＳ Ｐゴシック" charset="-128"/>
              </a:rPr>
              <a:pPr>
                <a:spcBef>
                  <a:spcPct val="0"/>
                </a:spcBef>
                <a:buFontTx/>
                <a:buNone/>
              </a:pPr>
              <a:t>18</a:t>
            </a:fld>
            <a:r>
              <a:rPr lang="en-US" altLang="en-US" sz="1400">
                <a:latin typeface="Comic Sans MS" charset="0"/>
                <a:ea typeface="ＭＳ Ｐゴシック" charset="-128"/>
              </a:rPr>
              <a:t> </a:t>
            </a:r>
          </a:p>
        </p:txBody>
      </p:sp>
      <p:cxnSp>
        <p:nvCxnSpPr>
          <p:cNvPr id="76804" name="Straight Arrow Connector 6"/>
          <p:cNvCxnSpPr>
            <a:cxnSpLocks noChangeShapeType="1"/>
          </p:cNvCxnSpPr>
          <p:nvPr/>
        </p:nvCxnSpPr>
        <p:spPr bwMode="auto">
          <a:xfrm rot="5400000">
            <a:off x="1143794" y="4785519"/>
            <a:ext cx="1143000" cy="15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noChangeArrowheads="1"/>
          </p:cNvSpPr>
          <p:nvPr>
            <p:ph type="title"/>
          </p:nvPr>
        </p:nvSpPr>
        <p:spPr/>
        <p:txBody>
          <a:bodyPr/>
          <a:lstStyle/>
          <a:p>
            <a:pPr eaLnBrk="1" hangingPunct="1"/>
            <a:r>
              <a:rPr lang="en-US" altLang="en-US">
                <a:latin typeface="Arial  " charset="0"/>
                <a:ea typeface="MS PGothic" charset="-128"/>
                <a:cs typeface="Arial  " charset="0"/>
              </a:rPr>
              <a:t>Pipeline Control Signals</a:t>
            </a:r>
          </a:p>
        </p:txBody>
      </p:sp>
      <p:pic>
        <p:nvPicPr>
          <p:cNvPr id="78850" name="Picture 3" descr="0519_001"/>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7074" t="18520" r="7072" b="7401"/>
          <a:stretch>
            <a:fillRect/>
          </a:stretch>
        </p:blipFill>
        <p:spPr>
          <a:xfrm>
            <a:off x="1155700" y="1381125"/>
            <a:ext cx="6865938" cy="4578350"/>
          </a:xfrm>
        </p:spPr>
      </p:pic>
      <p:grpSp>
        <p:nvGrpSpPr>
          <p:cNvPr id="2" name="Group 4"/>
          <p:cNvGrpSpPr>
            <a:grpSpLocks/>
          </p:cNvGrpSpPr>
          <p:nvPr/>
        </p:nvGrpSpPr>
        <p:grpSpPr bwMode="auto">
          <a:xfrm>
            <a:off x="3546475" y="1397000"/>
            <a:ext cx="4454525" cy="4394200"/>
            <a:chOff x="2234" y="880"/>
            <a:chExt cx="2806" cy="2768"/>
          </a:xfrm>
        </p:grpSpPr>
        <p:sp>
          <p:nvSpPr>
            <p:cNvPr id="78902" name="Rectangle 5"/>
            <p:cNvSpPr>
              <a:spLocks noChangeAspect="1" noChangeArrowheads="1"/>
            </p:cNvSpPr>
            <p:nvPr/>
          </p:nvSpPr>
          <p:spPr bwMode="auto">
            <a:xfrm>
              <a:off x="2234" y="2000"/>
              <a:ext cx="270" cy="102"/>
            </a:xfrm>
            <a:prstGeom prst="rect">
              <a:avLst/>
            </a:prstGeom>
            <a:solidFill>
              <a:srgbClr val="00FF00">
                <a:alpha val="34117"/>
              </a:srgbClr>
            </a:solidFill>
            <a:ln>
              <a:noFill/>
            </a:ln>
            <a:extLst>
              <a:ext uri="{91240B29-F687-4F45-9708-019B960494DF}">
                <a14:hiddenLine xmlns:a14="http://schemas.microsoft.com/office/drawing/2010/main" w="57150">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78903" name="Rectangle 6"/>
            <p:cNvSpPr>
              <a:spLocks noChangeAspect="1" noChangeArrowheads="1"/>
            </p:cNvSpPr>
            <p:nvPr/>
          </p:nvSpPr>
          <p:spPr bwMode="auto">
            <a:xfrm>
              <a:off x="3823" y="1918"/>
              <a:ext cx="186" cy="101"/>
            </a:xfrm>
            <a:prstGeom prst="rect">
              <a:avLst/>
            </a:prstGeom>
            <a:solidFill>
              <a:srgbClr val="00FF00">
                <a:alpha val="34117"/>
              </a:srgbClr>
            </a:solidFill>
            <a:ln>
              <a:noFill/>
            </a:ln>
            <a:extLst>
              <a:ext uri="{91240B29-F687-4F45-9708-019B960494DF}">
                <a14:hiddenLine xmlns:a14="http://schemas.microsoft.com/office/drawing/2010/main" w="57150">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78904" name="Rectangle 7"/>
            <p:cNvSpPr>
              <a:spLocks noChangeAspect="1" noChangeArrowheads="1"/>
            </p:cNvSpPr>
            <p:nvPr/>
          </p:nvSpPr>
          <p:spPr bwMode="auto">
            <a:xfrm>
              <a:off x="4101" y="2169"/>
              <a:ext cx="274" cy="97"/>
            </a:xfrm>
            <a:prstGeom prst="rect">
              <a:avLst/>
            </a:prstGeom>
            <a:solidFill>
              <a:srgbClr val="00FF00">
                <a:alpha val="34117"/>
              </a:srgbClr>
            </a:solidFill>
            <a:ln>
              <a:noFill/>
            </a:ln>
            <a:extLst>
              <a:ext uri="{91240B29-F687-4F45-9708-019B960494DF}">
                <a14:hiddenLine xmlns:a14="http://schemas.microsoft.com/office/drawing/2010/main" w="57150">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78905" name="Rectangle 8"/>
            <p:cNvSpPr>
              <a:spLocks noChangeAspect="1" noChangeArrowheads="1"/>
            </p:cNvSpPr>
            <p:nvPr/>
          </p:nvSpPr>
          <p:spPr bwMode="auto">
            <a:xfrm>
              <a:off x="4145" y="880"/>
              <a:ext cx="259" cy="121"/>
            </a:xfrm>
            <a:prstGeom prst="rect">
              <a:avLst/>
            </a:prstGeom>
            <a:solidFill>
              <a:srgbClr val="00FF00">
                <a:alpha val="34117"/>
              </a:srgbClr>
            </a:solidFill>
            <a:ln>
              <a:noFill/>
            </a:ln>
            <a:extLst>
              <a:ext uri="{91240B29-F687-4F45-9708-019B960494DF}">
                <a14:hiddenLine xmlns:a14="http://schemas.microsoft.com/office/drawing/2010/main" w="57150">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78906" name="Rectangle 9"/>
            <p:cNvSpPr>
              <a:spLocks noChangeAspect="1" noChangeArrowheads="1"/>
            </p:cNvSpPr>
            <p:nvPr/>
          </p:nvSpPr>
          <p:spPr bwMode="auto">
            <a:xfrm>
              <a:off x="4762" y="2335"/>
              <a:ext cx="278" cy="101"/>
            </a:xfrm>
            <a:prstGeom prst="rect">
              <a:avLst/>
            </a:prstGeom>
            <a:solidFill>
              <a:srgbClr val="00FF00">
                <a:alpha val="34117"/>
              </a:srgbClr>
            </a:solidFill>
            <a:ln>
              <a:noFill/>
            </a:ln>
            <a:extLst>
              <a:ext uri="{91240B29-F687-4F45-9708-019B960494DF}">
                <a14:hiddenLine xmlns:a14="http://schemas.microsoft.com/office/drawing/2010/main" w="57150">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78907" name="Rectangle 10"/>
            <p:cNvSpPr>
              <a:spLocks noChangeAspect="1" noChangeArrowheads="1"/>
            </p:cNvSpPr>
            <p:nvPr/>
          </p:nvSpPr>
          <p:spPr bwMode="auto">
            <a:xfrm>
              <a:off x="2895" y="3552"/>
              <a:ext cx="255" cy="96"/>
            </a:xfrm>
            <a:prstGeom prst="rect">
              <a:avLst/>
            </a:prstGeom>
            <a:solidFill>
              <a:srgbClr val="00FF00">
                <a:alpha val="34117"/>
              </a:srgbClr>
            </a:solidFill>
            <a:ln>
              <a:noFill/>
            </a:ln>
            <a:extLst>
              <a:ext uri="{91240B29-F687-4F45-9708-019B960494DF}">
                <a14:hiddenLine xmlns:a14="http://schemas.microsoft.com/office/drawing/2010/main" w="57150">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78908" name="Rectangle 11"/>
            <p:cNvSpPr>
              <a:spLocks noChangeAspect="1" noChangeArrowheads="1"/>
            </p:cNvSpPr>
            <p:nvPr/>
          </p:nvSpPr>
          <p:spPr bwMode="auto">
            <a:xfrm>
              <a:off x="3107" y="3234"/>
              <a:ext cx="196" cy="108"/>
            </a:xfrm>
            <a:prstGeom prst="rect">
              <a:avLst/>
            </a:prstGeom>
            <a:solidFill>
              <a:srgbClr val="00FF00">
                <a:alpha val="34117"/>
              </a:srgbClr>
            </a:solidFill>
            <a:ln>
              <a:noFill/>
            </a:ln>
            <a:extLst>
              <a:ext uri="{91240B29-F687-4F45-9708-019B960494DF}">
                <a14:hiddenLine xmlns:a14="http://schemas.microsoft.com/office/drawing/2010/main" w="57150">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78909" name="Rectangle 12"/>
            <p:cNvSpPr>
              <a:spLocks noChangeAspect="1" noChangeArrowheads="1"/>
            </p:cNvSpPr>
            <p:nvPr/>
          </p:nvSpPr>
          <p:spPr bwMode="auto">
            <a:xfrm>
              <a:off x="2965" y="2315"/>
              <a:ext cx="185" cy="69"/>
            </a:xfrm>
            <a:prstGeom prst="rect">
              <a:avLst/>
            </a:prstGeom>
            <a:solidFill>
              <a:srgbClr val="00FF00">
                <a:alpha val="34117"/>
              </a:srgbClr>
            </a:solidFill>
            <a:ln>
              <a:noFill/>
            </a:ln>
            <a:extLst>
              <a:ext uri="{91240B29-F687-4F45-9708-019B960494DF}">
                <a14:hiddenLine xmlns:a14="http://schemas.microsoft.com/office/drawing/2010/main" w="317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grpSp>
      <p:grpSp>
        <p:nvGrpSpPr>
          <p:cNvPr id="3" name="Group 13"/>
          <p:cNvGrpSpPr>
            <a:grpSpLocks/>
          </p:cNvGrpSpPr>
          <p:nvPr/>
        </p:nvGrpSpPr>
        <p:grpSpPr bwMode="auto">
          <a:xfrm>
            <a:off x="2895600" y="3873500"/>
            <a:ext cx="1397000" cy="1270000"/>
            <a:chOff x="1824" y="2440"/>
            <a:chExt cx="880" cy="800"/>
          </a:xfrm>
        </p:grpSpPr>
        <p:sp>
          <p:nvSpPr>
            <p:cNvPr id="78899" name="Line 14"/>
            <p:cNvSpPr>
              <a:spLocks noChangeShapeType="1"/>
            </p:cNvSpPr>
            <p:nvPr/>
          </p:nvSpPr>
          <p:spPr bwMode="auto">
            <a:xfrm>
              <a:off x="1824" y="2448"/>
              <a:ext cx="112"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78900" name="Line 15"/>
            <p:cNvSpPr>
              <a:spLocks noChangeShapeType="1"/>
            </p:cNvSpPr>
            <p:nvPr/>
          </p:nvSpPr>
          <p:spPr bwMode="auto">
            <a:xfrm flipH="1">
              <a:off x="1924" y="2440"/>
              <a:ext cx="4" cy="8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78901" name="Line 16"/>
            <p:cNvSpPr>
              <a:spLocks noChangeShapeType="1"/>
            </p:cNvSpPr>
            <p:nvPr/>
          </p:nvSpPr>
          <p:spPr bwMode="auto">
            <a:xfrm>
              <a:off x="1916" y="3240"/>
              <a:ext cx="788"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grpSp>
      <p:grpSp>
        <p:nvGrpSpPr>
          <p:cNvPr id="4" name="Group 17"/>
          <p:cNvGrpSpPr>
            <a:grpSpLocks/>
          </p:cNvGrpSpPr>
          <p:nvPr/>
        </p:nvGrpSpPr>
        <p:grpSpPr bwMode="auto">
          <a:xfrm>
            <a:off x="4513263" y="5148263"/>
            <a:ext cx="1311275" cy="187325"/>
            <a:chOff x="2843" y="3243"/>
            <a:chExt cx="826" cy="118"/>
          </a:xfrm>
        </p:grpSpPr>
        <p:sp>
          <p:nvSpPr>
            <p:cNvPr id="78897" name="Line 18"/>
            <p:cNvSpPr>
              <a:spLocks noChangeShapeType="1"/>
            </p:cNvSpPr>
            <p:nvPr/>
          </p:nvSpPr>
          <p:spPr bwMode="auto">
            <a:xfrm>
              <a:off x="2843" y="3243"/>
              <a:ext cx="256" cy="117"/>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78898" name="Line 19"/>
            <p:cNvSpPr>
              <a:spLocks noChangeShapeType="1"/>
            </p:cNvSpPr>
            <p:nvPr/>
          </p:nvSpPr>
          <p:spPr bwMode="auto">
            <a:xfrm>
              <a:off x="3099" y="3361"/>
              <a:ext cx="57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grpSp>
      <p:sp>
        <p:nvSpPr>
          <p:cNvPr id="172052" name="Line 20"/>
          <p:cNvSpPr>
            <a:spLocks noChangeShapeType="1"/>
          </p:cNvSpPr>
          <p:nvPr/>
        </p:nvSpPr>
        <p:spPr bwMode="auto">
          <a:xfrm>
            <a:off x="6011863" y="5341938"/>
            <a:ext cx="1328737"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grpSp>
        <p:nvGrpSpPr>
          <p:cNvPr id="5" name="Group 21"/>
          <p:cNvGrpSpPr>
            <a:grpSpLocks/>
          </p:cNvGrpSpPr>
          <p:nvPr/>
        </p:nvGrpSpPr>
        <p:grpSpPr bwMode="auto">
          <a:xfrm>
            <a:off x="2946400" y="4000500"/>
            <a:ext cx="4630738" cy="1836738"/>
            <a:chOff x="1856" y="2520"/>
            <a:chExt cx="2917" cy="1157"/>
          </a:xfrm>
        </p:grpSpPr>
        <p:sp>
          <p:nvSpPr>
            <p:cNvPr id="78892" name="Line 22"/>
            <p:cNvSpPr>
              <a:spLocks noChangeShapeType="1"/>
            </p:cNvSpPr>
            <p:nvPr/>
          </p:nvSpPr>
          <p:spPr bwMode="auto">
            <a:xfrm>
              <a:off x="4725" y="3365"/>
              <a:ext cx="47" cy="2"/>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78893" name="Line 23"/>
            <p:cNvSpPr>
              <a:spLocks noChangeShapeType="1"/>
            </p:cNvSpPr>
            <p:nvPr/>
          </p:nvSpPr>
          <p:spPr bwMode="auto">
            <a:xfrm>
              <a:off x="4773" y="3371"/>
              <a:ext cx="0" cy="301"/>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78894" name="Line 24"/>
            <p:cNvSpPr>
              <a:spLocks noChangeShapeType="1"/>
            </p:cNvSpPr>
            <p:nvPr/>
          </p:nvSpPr>
          <p:spPr bwMode="auto">
            <a:xfrm flipH="1" flipV="1">
              <a:off x="1856" y="3654"/>
              <a:ext cx="2917" cy="23"/>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78895" name="Line 25"/>
            <p:cNvSpPr>
              <a:spLocks noChangeShapeType="1"/>
            </p:cNvSpPr>
            <p:nvPr/>
          </p:nvSpPr>
          <p:spPr bwMode="auto">
            <a:xfrm flipV="1">
              <a:off x="1856" y="2520"/>
              <a:ext cx="16" cy="1139"/>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78896" name="Line 26"/>
            <p:cNvSpPr>
              <a:spLocks noChangeShapeType="1"/>
            </p:cNvSpPr>
            <p:nvPr/>
          </p:nvSpPr>
          <p:spPr bwMode="auto">
            <a:xfrm>
              <a:off x="1872" y="2520"/>
              <a:ext cx="20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grpSp>
      <p:grpSp>
        <p:nvGrpSpPr>
          <p:cNvPr id="6" name="Group 27"/>
          <p:cNvGrpSpPr>
            <a:grpSpLocks/>
          </p:cNvGrpSpPr>
          <p:nvPr/>
        </p:nvGrpSpPr>
        <p:grpSpPr bwMode="auto">
          <a:xfrm>
            <a:off x="2895600" y="3429000"/>
            <a:ext cx="4902200" cy="2438400"/>
            <a:chOff x="1824" y="2528"/>
            <a:chExt cx="3088" cy="1008"/>
          </a:xfrm>
        </p:grpSpPr>
        <p:sp>
          <p:nvSpPr>
            <p:cNvPr id="78890" name="Rectangle 28"/>
            <p:cNvSpPr>
              <a:spLocks noChangeArrowheads="1"/>
            </p:cNvSpPr>
            <p:nvPr/>
          </p:nvSpPr>
          <p:spPr bwMode="auto">
            <a:xfrm>
              <a:off x="1824" y="3184"/>
              <a:ext cx="3088" cy="352"/>
            </a:xfrm>
            <a:prstGeom prst="rect">
              <a:avLst/>
            </a:prstGeom>
            <a:solidFill>
              <a:srgbClr val="FF0000">
                <a:alpha val="34117"/>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78891" name="Rectangle 29"/>
            <p:cNvSpPr>
              <a:spLocks noChangeArrowheads="1"/>
            </p:cNvSpPr>
            <p:nvPr/>
          </p:nvSpPr>
          <p:spPr bwMode="auto">
            <a:xfrm>
              <a:off x="1824" y="2528"/>
              <a:ext cx="128" cy="656"/>
            </a:xfrm>
            <a:prstGeom prst="rect">
              <a:avLst/>
            </a:prstGeom>
            <a:solidFill>
              <a:srgbClr val="FF0000">
                <a:alpha val="34117"/>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grpSp>
      <p:grpSp>
        <p:nvGrpSpPr>
          <p:cNvPr id="7" name="Group 30"/>
          <p:cNvGrpSpPr>
            <a:grpSpLocks/>
          </p:cNvGrpSpPr>
          <p:nvPr/>
        </p:nvGrpSpPr>
        <p:grpSpPr bwMode="auto">
          <a:xfrm>
            <a:off x="2903538" y="3532188"/>
            <a:ext cx="1430337" cy="317500"/>
            <a:chOff x="1829" y="2225"/>
            <a:chExt cx="901" cy="200"/>
          </a:xfrm>
        </p:grpSpPr>
        <p:sp>
          <p:nvSpPr>
            <p:cNvPr id="78883" name="Line 31"/>
            <p:cNvSpPr>
              <a:spLocks noChangeShapeType="1"/>
            </p:cNvSpPr>
            <p:nvPr/>
          </p:nvSpPr>
          <p:spPr bwMode="auto">
            <a:xfrm>
              <a:off x="1829" y="2419"/>
              <a:ext cx="94"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78884" name="Line 32"/>
            <p:cNvSpPr>
              <a:spLocks noChangeShapeType="1"/>
            </p:cNvSpPr>
            <p:nvPr/>
          </p:nvSpPr>
          <p:spPr bwMode="auto">
            <a:xfrm flipV="1">
              <a:off x="1931" y="2225"/>
              <a:ext cx="0" cy="20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78885" name="Line 33"/>
            <p:cNvSpPr>
              <a:spLocks noChangeShapeType="1"/>
            </p:cNvSpPr>
            <p:nvPr/>
          </p:nvSpPr>
          <p:spPr bwMode="auto">
            <a:xfrm>
              <a:off x="1923" y="2225"/>
              <a:ext cx="156" cy="0"/>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78886" name="Rectangle 34"/>
            <p:cNvSpPr>
              <a:spLocks noChangeArrowheads="1"/>
            </p:cNvSpPr>
            <p:nvPr/>
          </p:nvSpPr>
          <p:spPr bwMode="auto">
            <a:xfrm>
              <a:off x="2234" y="2311"/>
              <a:ext cx="294" cy="91"/>
            </a:xfrm>
            <a:prstGeom prst="rect">
              <a:avLst/>
            </a:prstGeom>
            <a:solidFill>
              <a:srgbClr val="0000FF"/>
            </a:solidFill>
            <a:ln w="9525">
              <a:solidFill>
                <a:srgbClr val="0000FF"/>
              </a:solidFill>
              <a:miter lim="800000"/>
              <a:headEnd/>
              <a:tailEnd/>
            </a:ln>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78887" name="Line 35"/>
            <p:cNvSpPr>
              <a:spLocks noChangeShapeType="1"/>
            </p:cNvSpPr>
            <p:nvPr/>
          </p:nvSpPr>
          <p:spPr bwMode="auto">
            <a:xfrm>
              <a:off x="2530" y="2360"/>
              <a:ext cx="62"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78888" name="Line 36"/>
            <p:cNvSpPr>
              <a:spLocks noChangeShapeType="1"/>
            </p:cNvSpPr>
            <p:nvPr/>
          </p:nvSpPr>
          <p:spPr bwMode="auto">
            <a:xfrm flipH="1" flipV="1">
              <a:off x="2578" y="2296"/>
              <a:ext cx="2" cy="64"/>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78889" name="Line 37"/>
            <p:cNvSpPr>
              <a:spLocks noChangeShapeType="1"/>
            </p:cNvSpPr>
            <p:nvPr/>
          </p:nvSpPr>
          <p:spPr bwMode="auto">
            <a:xfrm>
              <a:off x="2582" y="2308"/>
              <a:ext cx="148" cy="0"/>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grpSp>
      <p:sp>
        <p:nvSpPr>
          <p:cNvPr id="172070" name="Line 38"/>
          <p:cNvSpPr>
            <a:spLocks noChangeShapeType="1"/>
          </p:cNvSpPr>
          <p:nvPr/>
        </p:nvSpPr>
        <p:spPr bwMode="auto">
          <a:xfrm>
            <a:off x="3124200" y="4775200"/>
            <a:ext cx="1181100" cy="0"/>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grpSp>
        <p:nvGrpSpPr>
          <p:cNvPr id="8" name="Group 39"/>
          <p:cNvGrpSpPr>
            <a:grpSpLocks/>
          </p:cNvGrpSpPr>
          <p:nvPr/>
        </p:nvGrpSpPr>
        <p:grpSpPr bwMode="auto">
          <a:xfrm>
            <a:off x="4491038" y="3657600"/>
            <a:ext cx="1355725" cy="1143000"/>
            <a:chOff x="2829" y="2304"/>
            <a:chExt cx="854" cy="720"/>
          </a:xfrm>
        </p:grpSpPr>
        <p:sp>
          <p:nvSpPr>
            <p:cNvPr id="78878" name="Line 40"/>
            <p:cNvSpPr>
              <a:spLocks noChangeShapeType="1"/>
            </p:cNvSpPr>
            <p:nvPr/>
          </p:nvSpPr>
          <p:spPr bwMode="auto">
            <a:xfrm>
              <a:off x="2840" y="2304"/>
              <a:ext cx="336" cy="0"/>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78879" name="Line 41"/>
            <p:cNvSpPr>
              <a:spLocks noChangeShapeType="1"/>
            </p:cNvSpPr>
            <p:nvPr/>
          </p:nvSpPr>
          <p:spPr bwMode="auto">
            <a:xfrm>
              <a:off x="2829" y="3021"/>
              <a:ext cx="107"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78880" name="Line 42"/>
            <p:cNvSpPr>
              <a:spLocks noChangeShapeType="1"/>
            </p:cNvSpPr>
            <p:nvPr/>
          </p:nvSpPr>
          <p:spPr bwMode="auto">
            <a:xfrm flipV="1">
              <a:off x="2939" y="2707"/>
              <a:ext cx="0" cy="317"/>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78881" name="Line 43"/>
            <p:cNvSpPr>
              <a:spLocks noChangeShapeType="1"/>
            </p:cNvSpPr>
            <p:nvPr/>
          </p:nvSpPr>
          <p:spPr bwMode="auto">
            <a:xfrm flipV="1">
              <a:off x="2941" y="2597"/>
              <a:ext cx="224" cy="112"/>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78882" name="Line 44"/>
            <p:cNvSpPr>
              <a:spLocks noChangeShapeType="1"/>
            </p:cNvSpPr>
            <p:nvPr/>
          </p:nvSpPr>
          <p:spPr bwMode="auto">
            <a:xfrm>
              <a:off x="3485" y="2523"/>
              <a:ext cx="198" cy="0"/>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grpSp>
      <p:grpSp>
        <p:nvGrpSpPr>
          <p:cNvPr id="9" name="Group 45"/>
          <p:cNvGrpSpPr>
            <a:grpSpLocks/>
          </p:cNvGrpSpPr>
          <p:nvPr/>
        </p:nvGrpSpPr>
        <p:grpSpPr bwMode="auto">
          <a:xfrm>
            <a:off x="6027738" y="4000500"/>
            <a:ext cx="1323975" cy="12700"/>
            <a:chOff x="3797" y="2520"/>
            <a:chExt cx="834" cy="8"/>
          </a:xfrm>
        </p:grpSpPr>
        <p:sp>
          <p:nvSpPr>
            <p:cNvPr id="78876" name="Line 46"/>
            <p:cNvSpPr>
              <a:spLocks noChangeShapeType="1"/>
            </p:cNvSpPr>
            <p:nvPr/>
          </p:nvSpPr>
          <p:spPr bwMode="auto">
            <a:xfrm>
              <a:off x="3797" y="2520"/>
              <a:ext cx="166" cy="0"/>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78877" name="Line 47"/>
            <p:cNvSpPr>
              <a:spLocks noChangeShapeType="1"/>
            </p:cNvSpPr>
            <p:nvPr/>
          </p:nvSpPr>
          <p:spPr bwMode="auto">
            <a:xfrm>
              <a:off x="4463" y="2528"/>
              <a:ext cx="168" cy="0"/>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grpSp>
      <p:grpSp>
        <p:nvGrpSpPr>
          <p:cNvPr id="10" name="Group 48"/>
          <p:cNvGrpSpPr>
            <a:grpSpLocks/>
          </p:cNvGrpSpPr>
          <p:nvPr/>
        </p:nvGrpSpPr>
        <p:grpSpPr bwMode="auto">
          <a:xfrm>
            <a:off x="3136900" y="4017963"/>
            <a:ext cx="4808538" cy="1912937"/>
            <a:chOff x="1976" y="2531"/>
            <a:chExt cx="3029" cy="1205"/>
          </a:xfrm>
        </p:grpSpPr>
        <p:sp>
          <p:nvSpPr>
            <p:cNvPr id="78871" name="Line 49"/>
            <p:cNvSpPr>
              <a:spLocks noChangeShapeType="1"/>
            </p:cNvSpPr>
            <p:nvPr/>
          </p:nvSpPr>
          <p:spPr bwMode="auto">
            <a:xfrm>
              <a:off x="4731" y="2531"/>
              <a:ext cx="274" cy="117"/>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78872" name="Line 50"/>
            <p:cNvSpPr>
              <a:spLocks noChangeShapeType="1"/>
            </p:cNvSpPr>
            <p:nvPr/>
          </p:nvSpPr>
          <p:spPr bwMode="auto">
            <a:xfrm flipH="1">
              <a:off x="4992" y="2664"/>
              <a:ext cx="8" cy="1064"/>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78873" name="Line 51"/>
            <p:cNvSpPr>
              <a:spLocks noChangeShapeType="1"/>
            </p:cNvSpPr>
            <p:nvPr/>
          </p:nvSpPr>
          <p:spPr bwMode="auto">
            <a:xfrm flipH="1" flipV="1">
              <a:off x="1976" y="3720"/>
              <a:ext cx="3024" cy="16"/>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78874" name="Line 52"/>
            <p:cNvSpPr>
              <a:spLocks noChangeShapeType="1"/>
            </p:cNvSpPr>
            <p:nvPr/>
          </p:nvSpPr>
          <p:spPr bwMode="auto">
            <a:xfrm flipV="1">
              <a:off x="1976" y="2672"/>
              <a:ext cx="16" cy="1064"/>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78875" name="Line 53"/>
            <p:cNvSpPr>
              <a:spLocks noChangeShapeType="1"/>
            </p:cNvSpPr>
            <p:nvPr/>
          </p:nvSpPr>
          <p:spPr bwMode="auto">
            <a:xfrm>
              <a:off x="1986" y="2672"/>
              <a:ext cx="143" cy="0"/>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grpSp>
      <p:sp>
        <p:nvSpPr>
          <p:cNvPr id="78862" name="Slide Number Placeholder 56"/>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9AE4866D-34D7-B04E-A7AE-32D4888210C6}" type="slidenum">
              <a:rPr lang="en-US" altLang="en-US" sz="1400">
                <a:latin typeface="Comic Sans MS" charset="0"/>
                <a:ea typeface="ＭＳ Ｐゴシック" charset="-128"/>
              </a:rPr>
              <a:pPr>
                <a:spcBef>
                  <a:spcPct val="0"/>
                </a:spcBef>
                <a:buFontTx/>
                <a:buNone/>
              </a:pPr>
              <a:t>19</a:t>
            </a:fld>
            <a:r>
              <a:rPr lang="en-US" altLang="en-US" sz="1400">
                <a:latin typeface="Comic Sans MS" charset="0"/>
                <a:ea typeface="ＭＳ Ｐゴシック" charset="-128"/>
              </a:rPr>
              <a:t> </a:t>
            </a:r>
          </a:p>
        </p:txBody>
      </p:sp>
      <p:sp>
        <p:nvSpPr>
          <p:cNvPr id="59" name="TextBox 58"/>
          <p:cNvSpPr txBox="1">
            <a:spLocks noChangeArrowheads="1"/>
          </p:cNvSpPr>
          <p:nvPr/>
        </p:nvSpPr>
        <p:spPr bwMode="auto">
          <a:xfrm>
            <a:off x="2643188" y="2214563"/>
            <a:ext cx="2667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r>
              <a:rPr lang="en-US" altLang="en-US" sz="1200" dirty="0" err="1">
                <a:solidFill>
                  <a:srgbClr val="0000FF"/>
                </a:solidFill>
                <a:latin typeface="Arial" charset="0"/>
                <a:ea typeface="ＭＳ Ｐゴシック" charset="-128"/>
              </a:rPr>
              <a:t>lw</a:t>
            </a:r>
            <a:r>
              <a:rPr lang="en-US" altLang="en-US" sz="1200" dirty="0">
                <a:solidFill>
                  <a:srgbClr val="0000FF"/>
                </a:solidFill>
                <a:latin typeface="Arial" charset="0"/>
                <a:ea typeface="ＭＳ Ｐゴシック" charset="-128"/>
              </a:rPr>
              <a:t> x1,100(x2)</a:t>
            </a:r>
          </a:p>
        </p:txBody>
      </p:sp>
      <p:sp>
        <p:nvSpPr>
          <p:cNvPr id="56" name="TextBox 55"/>
          <p:cNvSpPr txBox="1">
            <a:spLocks noChangeArrowheads="1"/>
          </p:cNvSpPr>
          <p:nvPr/>
        </p:nvSpPr>
        <p:spPr bwMode="auto">
          <a:xfrm>
            <a:off x="4286250" y="2214563"/>
            <a:ext cx="2667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r>
              <a:rPr lang="en-US" altLang="en-US" sz="1200" dirty="0" err="1">
                <a:solidFill>
                  <a:srgbClr val="0000FF"/>
                </a:solidFill>
                <a:latin typeface="Arial" charset="0"/>
                <a:ea typeface="ＭＳ Ｐゴシック" charset="-128"/>
              </a:rPr>
              <a:t>lw</a:t>
            </a:r>
            <a:r>
              <a:rPr lang="en-US" altLang="en-US" sz="1200" dirty="0">
                <a:solidFill>
                  <a:srgbClr val="0000FF"/>
                </a:solidFill>
                <a:latin typeface="Arial" charset="0"/>
                <a:ea typeface="ＭＳ Ｐゴシック" charset="-128"/>
              </a:rPr>
              <a:t> x1,100(x2)</a:t>
            </a:r>
          </a:p>
        </p:txBody>
      </p:sp>
      <p:sp>
        <p:nvSpPr>
          <p:cNvPr id="57" name="TextBox 56"/>
          <p:cNvSpPr txBox="1">
            <a:spLocks noChangeArrowheads="1"/>
          </p:cNvSpPr>
          <p:nvPr/>
        </p:nvSpPr>
        <p:spPr bwMode="auto">
          <a:xfrm>
            <a:off x="5786438" y="2214563"/>
            <a:ext cx="2667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r>
              <a:rPr lang="en-US" altLang="en-US" sz="1200" dirty="0" err="1">
                <a:solidFill>
                  <a:srgbClr val="0000FF"/>
                </a:solidFill>
                <a:latin typeface="Arial" charset="0"/>
                <a:ea typeface="ＭＳ Ｐゴシック" charset="-128"/>
              </a:rPr>
              <a:t>lw</a:t>
            </a:r>
            <a:r>
              <a:rPr lang="en-US" altLang="en-US" sz="1200" dirty="0">
                <a:solidFill>
                  <a:srgbClr val="0000FF"/>
                </a:solidFill>
                <a:latin typeface="Arial" charset="0"/>
                <a:ea typeface="ＭＳ Ｐゴシック" charset="-128"/>
              </a:rPr>
              <a:t> x1,100(x2)</a:t>
            </a:r>
          </a:p>
        </p:txBody>
      </p:sp>
      <p:sp>
        <p:nvSpPr>
          <p:cNvPr id="58" name="TextBox 57"/>
          <p:cNvSpPr txBox="1">
            <a:spLocks noChangeArrowheads="1"/>
          </p:cNvSpPr>
          <p:nvPr/>
        </p:nvSpPr>
        <p:spPr bwMode="auto">
          <a:xfrm>
            <a:off x="7286625" y="2214563"/>
            <a:ext cx="2667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r>
              <a:rPr lang="en-US" altLang="en-US" sz="1200" dirty="0" err="1">
                <a:solidFill>
                  <a:srgbClr val="0000FF"/>
                </a:solidFill>
                <a:latin typeface="Arial" charset="0"/>
                <a:ea typeface="ＭＳ Ｐゴシック" charset="-128"/>
              </a:rPr>
              <a:t>lw</a:t>
            </a:r>
            <a:r>
              <a:rPr lang="en-US" altLang="en-US" sz="1200" dirty="0">
                <a:solidFill>
                  <a:srgbClr val="0000FF"/>
                </a:solidFill>
                <a:latin typeface="Arial" charset="0"/>
                <a:ea typeface="ＭＳ Ｐゴシック" charset="-128"/>
              </a:rPr>
              <a:t> x1,100(x2)</a:t>
            </a:r>
          </a:p>
        </p:txBody>
      </p:sp>
      <p:sp>
        <p:nvSpPr>
          <p:cNvPr id="60" name="Rectangle 59"/>
          <p:cNvSpPr>
            <a:spLocks noChangeArrowheads="1"/>
          </p:cNvSpPr>
          <p:nvPr/>
        </p:nvSpPr>
        <p:spPr bwMode="auto">
          <a:xfrm>
            <a:off x="2714625" y="2428875"/>
            <a:ext cx="214313" cy="3143250"/>
          </a:xfrm>
          <a:prstGeom prst="rect">
            <a:avLst/>
          </a:prstGeom>
          <a:solidFill>
            <a:srgbClr val="FF0000">
              <a:alpha val="23137"/>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CA" altLang="en-US" sz="2400">
              <a:latin typeface="Arial" charset="0"/>
              <a:ea typeface="ＭＳ Ｐゴシック" charset="-128"/>
            </a:endParaRPr>
          </a:p>
        </p:txBody>
      </p:sp>
      <p:sp>
        <p:nvSpPr>
          <p:cNvPr id="61" name="Rectangle 60"/>
          <p:cNvSpPr>
            <a:spLocks noChangeArrowheads="1"/>
          </p:cNvSpPr>
          <p:nvPr/>
        </p:nvSpPr>
        <p:spPr bwMode="auto">
          <a:xfrm>
            <a:off x="4357688" y="2428875"/>
            <a:ext cx="214312" cy="3143250"/>
          </a:xfrm>
          <a:prstGeom prst="rect">
            <a:avLst/>
          </a:prstGeom>
          <a:solidFill>
            <a:srgbClr val="FF0000">
              <a:alpha val="23137"/>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CA" altLang="en-US" sz="2400">
              <a:latin typeface="Arial" charset="0"/>
              <a:ea typeface="ＭＳ Ｐゴシック" charset="-128"/>
            </a:endParaRPr>
          </a:p>
        </p:txBody>
      </p:sp>
      <p:sp>
        <p:nvSpPr>
          <p:cNvPr id="62" name="Rectangle 61"/>
          <p:cNvSpPr>
            <a:spLocks noChangeArrowheads="1"/>
          </p:cNvSpPr>
          <p:nvPr/>
        </p:nvSpPr>
        <p:spPr bwMode="auto">
          <a:xfrm>
            <a:off x="5857875" y="2428875"/>
            <a:ext cx="214313" cy="3143250"/>
          </a:xfrm>
          <a:prstGeom prst="rect">
            <a:avLst/>
          </a:prstGeom>
          <a:solidFill>
            <a:srgbClr val="FF0000">
              <a:alpha val="23137"/>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CA" altLang="en-US" sz="2400">
              <a:latin typeface="Arial" charset="0"/>
              <a:ea typeface="ＭＳ Ｐゴシック" charset="-128"/>
            </a:endParaRPr>
          </a:p>
        </p:txBody>
      </p:sp>
      <p:sp>
        <p:nvSpPr>
          <p:cNvPr id="63" name="Rectangle 62"/>
          <p:cNvSpPr>
            <a:spLocks noChangeArrowheads="1"/>
          </p:cNvSpPr>
          <p:nvPr/>
        </p:nvSpPr>
        <p:spPr bwMode="auto">
          <a:xfrm>
            <a:off x="7358063" y="2428875"/>
            <a:ext cx="214312" cy="3143250"/>
          </a:xfrm>
          <a:prstGeom prst="rect">
            <a:avLst/>
          </a:prstGeom>
          <a:solidFill>
            <a:srgbClr val="FF0000">
              <a:alpha val="23137"/>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CA" altLang="en-US" sz="2400">
              <a:latin typeface="Arial" charset="0"/>
              <a:ea typeface="ＭＳ Ｐゴシック" charset="-12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xit" presetSubtype="0" fill="hold"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499"/>
                                          </p:stCondLst>
                                        </p:cTn>
                                        <p:tgtEl>
                                          <p:spTgt spid="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499"/>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17207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4"/>
                                        </p:tgtEl>
                                        <p:attrNameLst>
                                          <p:attrName>style.visibility</p:attrName>
                                        </p:attrNameLst>
                                      </p:cBhvr>
                                      <p:to>
                                        <p:strVal val="visible"/>
                                      </p:to>
                                    </p:set>
                                  </p:childTnLst>
                                </p:cTn>
                              </p:par>
                              <p:par>
                                <p:cTn id="27" presetID="1" presetClass="exit" presetSubtype="0" fill="hold" grpId="1" nodeType="withEffect">
                                  <p:stCondLst>
                                    <p:cond delay="0"/>
                                  </p:stCondLst>
                                  <p:childTnLst>
                                    <p:set>
                                      <p:cBhvr>
                                        <p:cTn id="28" dur="1" fill="hold">
                                          <p:stCondLst>
                                            <p:cond delay="0"/>
                                          </p:stCondLst>
                                        </p:cTn>
                                        <p:tgtEl>
                                          <p:spTgt spid="60"/>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61"/>
                                        </p:tgtEl>
                                        <p:attrNameLst>
                                          <p:attrName>style.visibility</p:attrName>
                                        </p:attrNameLst>
                                      </p:cBhvr>
                                      <p:to>
                                        <p:strVal val="visible"/>
                                      </p:to>
                                    </p:set>
                                  </p:childTnLst>
                                </p:cTn>
                              </p:par>
                              <p:par>
                                <p:cTn id="31" presetID="1" presetClass="exit" presetSubtype="0" fill="hold" grpId="1" nodeType="withEffect">
                                  <p:stCondLst>
                                    <p:cond delay="0"/>
                                  </p:stCondLst>
                                  <p:childTnLst>
                                    <p:set>
                                      <p:cBhvr>
                                        <p:cTn id="32" dur="1" fill="hold">
                                          <p:stCondLst>
                                            <p:cond delay="0"/>
                                          </p:stCondLst>
                                        </p:cTn>
                                        <p:tgtEl>
                                          <p:spTgt spid="59"/>
                                        </p:tgtEl>
                                        <p:attrNameLst>
                                          <p:attrName>style.visibility</p:attrName>
                                        </p:attrNameLst>
                                      </p:cBhvr>
                                      <p:to>
                                        <p:strVal val="hidden"/>
                                      </p:to>
                                    </p:set>
                                  </p:childTnLst>
                                </p:cTn>
                              </p:par>
                              <p:par>
                                <p:cTn id="33" presetID="1" presetClass="entr" presetSubtype="0" fill="hold" nodeType="withEffect">
                                  <p:stCondLst>
                                    <p:cond delay="0"/>
                                  </p:stCondLst>
                                  <p:childTnLst>
                                    <p:set>
                                      <p:cBhvr>
                                        <p:cTn id="34" dur="1" fill="hold">
                                          <p:stCondLst>
                                            <p:cond delay="499"/>
                                          </p:stCondLst>
                                        </p:cTn>
                                        <p:tgtEl>
                                          <p:spTgt spid="8"/>
                                        </p:tgtEl>
                                        <p:attrNameLst>
                                          <p:attrName>style.visibility</p:attrName>
                                        </p:attrNameLst>
                                      </p:cBhvr>
                                      <p:to>
                                        <p:strVal val="visible"/>
                                      </p:to>
                                    </p:set>
                                  </p:childTnLst>
                                </p:cTn>
                              </p:par>
                              <p:par>
                                <p:cTn id="35" presetID="1" presetClass="exit" presetSubtype="0" fill="hold" nodeType="withEffect">
                                  <p:stCondLst>
                                    <p:cond delay="0"/>
                                  </p:stCondLst>
                                  <p:childTnLst>
                                    <p:set>
                                      <p:cBhvr>
                                        <p:cTn id="36" dur="1" fill="hold">
                                          <p:stCondLst>
                                            <p:cond delay="499"/>
                                          </p:stCondLst>
                                        </p:cTn>
                                        <p:tgtEl>
                                          <p:spTgt spid="3"/>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499"/>
                                          </p:stCondLst>
                                        </p:cTn>
                                        <p:tgtEl>
                                          <p:spTgt spid="7"/>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499"/>
                                          </p:stCondLst>
                                        </p:cTn>
                                        <p:tgtEl>
                                          <p:spTgt spid="172070"/>
                                        </p:tgtEl>
                                        <p:attrNameLst>
                                          <p:attrName>style.visibility</p:attrName>
                                        </p:attrNameLst>
                                      </p:cBhvr>
                                      <p:to>
                                        <p:strVal val="hidden"/>
                                      </p:to>
                                    </p:set>
                                  </p:childTnLst>
                                </p:cTn>
                              </p:par>
                              <p:par>
                                <p:cTn id="41" presetID="1" presetClass="entr" presetSubtype="0"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172052"/>
                                        </p:tgtEl>
                                        <p:attrNameLst>
                                          <p:attrName>style.visibility</p:attrName>
                                        </p:attrNameLst>
                                      </p:cBhvr>
                                      <p:to>
                                        <p:strVal val="visible"/>
                                      </p:to>
                                    </p:set>
                                  </p:childTnLst>
                                </p:cTn>
                              </p:par>
                              <p:par>
                                <p:cTn id="47" presetID="1" presetClass="exit" presetSubtype="0" fill="hold" nodeType="withEffect">
                                  <p:stCondLst>
                                    <p:cond delay="0"/>
                                  </p:stCondLst>
                                  <p:childTnLst>
                                    <p:set>
                                      <p:cBhvr>
                                        <p:cTn id="48" dur="1" fill="hold">
                                          <p:stCondLst>
                                            <p:cond delay="499"/>
                                          </p:stCondLst>
                                        </p:cTn>
                                        <p:tgtEl>
                                          <p:spTgt spid="4"/>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61"/>
                                        </p:tgtEl>
                                        <p:attrNameLst>
                                          <p:attrName>style.visibility</p:attrName>
                                        </p:attrNameLst>
                                      </p:cBhvr>
                                      <p:to>
                                        <p:strVal val="hidden"/>
                                      </p:to>
                                    </p:set>
                                  </p:childTnLst>
                                </p:cTn>
                              </p:par>
                              <p:par>
                                <p:cTn id="51" presetID="1" presetClass="entr" presetSubtype="0" fill="hold" grpId="0" nodeType="withEffect">
                                  <p:stCondLst>
                                    <p:cond delay="0"/>
                                  </p:stCondLst>
                                  <p:childTnLst>
                                    <p:set>
                                      <p:cBhvr>
                                        <p:cTn id="52" dur="1" fill="hold">
                                          <p:stCondLst>
                                            <p:cond delay="0"/>
                                          </p:stCondLst>
                                        </p:cTn>
                                        <p:tgtEl>
                                          <p:spTgt spid="62"/>
                                        </p:tgtEl>
                                        <p:attrNameLst>
                                          <p:attrName>style.visibility</p:attrName>
                                        </p:attrNameLst>
                                      </p:cBhvr>
                                      <p:to>
                                        <p:strVal val="visible"/>
                                      </p:to>
                                    </p:set>
                                  </p:childTnLst>
                                </p:cTn>
                              </p:par>
                              <p:par>
                                <p:cTn id="53" presetID="1" presetClass="exit" presetSubtype="0" fill="hold" grpId="1" nodeType="withEffect">
                                  <p:stCondLst>
                                    <p:cond delay="0"/>
                                  </p:stCondLst>
                                  <p:childTnLst>
                                    <p:set>
                                      <p:cBhvr>
                                        <p:cTn id="54" dur="1" fill="hold">
                                          <p:stCondLst>
                                            <p:cond delay="0"/>
                                          </p:stCondLst>
                                        </p:cTn>
                                        <p:tgtEl>
                                          <p:spTgt spid="56"/>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499"/>
                                          </p:stCondLst>
                                        </p:cTn>
                                        <p:tgtEl>
                                          <p:spTgt spid="8"/>
                                        </p:tgtEl>
                                        <p:attrNameLst>
                                          <p:attrName>style.visibility</p:attrName>
                                        </p:attrNameLst>
                                      </p:cBhvr>
                                      <p:to>
                                        <p:strVal val="hidden"/>
                                      </p:to>
                                    </p:set>
                                  </p:childTnLst>
                                </p:cTn>
                              </p:par>
                              <p:par>
                                <p:cTn id="57" presetID="1" presetClass="entr" presetSubtype="0" fill="hold" nodeType="withEffect">
                                  <p:stCondLst>
                                    <p:cond delay="0"/>
                                  </p:stCondLst>
                                  <p:childTnLst>
                                    <p:set>
                                      <p:cBhvr>
                                        <p:cTn id="58" dur="1" fill="hold">
                                          <p:stCondLst>
                                            <p:cond delay="499"/>
                                          </p:stCondLst>
                                        </p:cTn>
                                        <p:tgtEl>
                                          <p:spTgt spid="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7"/>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nodeType="clickEffect">
                                  <p:stCondLst>
                                    <p:cond delay="0"/>
                                  </p:stCondLst>
                                  <p:childTnLst>
                                    <p:set>
                                      <p:cBhvr>
                                        <p:cTn id="64" dur="1" fill="hold">
                                          <p:stCondLst>
                                            <p:cond delay="499"/>
                                          </p:stCondLst>
                                        </p:cTn>
                                        <p:tgtEl>
                                          <p:spTgt spid="5"/>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499"/>
                                          </p:stCondLst>
                                        </p:cTn>
                                        <p:tgtEl>
                                          <p:spTgt spid="10"/>
                                        </p:tgtEl>
                                        <p:attrNameLst>
                                          <p:attrName>style.visibility</p:attrName>
                                        </p:attrNameLst>
                                      </p:cBhvr>
                                      <p:to>
                                        <p:strVal val="visible"/>
                                      </p:to>
                                    </p:set>
                                  </p:childTnLst>
                                </p:cTn>
                              </p:par>
                              <p:par>
                                <p:cTn id="67" presetID="1" presetClass="exit" presetSubtype="0" fill="hold" grpId="1" nodeType="withEffect">
                                  <p:stCondLst>
                                    <p:cond delay="0"/>
                                  </p:stCondLst>
                                  <p:childTnLst>
                                    <p:set>
                                      <p:cBhvr>
                                        <p:cTn id="68" dur="1" fill="hold">
                                          <p:stCondLst>
                                            <p:cond delay="0"/>
                                          </p:stCondLst>
                                        </p:cTn>
                                        <p:tgtEl>
                                          <p:spTgt spid="57"/>
                                        </p:tgtEl>
                                        <p:attrNameLst>
                                          <p:attrName>style.visibility</p:attrName>
                                        </p:attrNameLst>
                                      </p:cBhvr>
                                      <p:to>
                                        <p:strVal val="hidden"/>
                                      </p:to>
                                    </p:set>
                                  </p:childTnLst>
                                </p:cTn>
                              </p:par>
                              <p:par>
                                <p:cTn id="69" presetID="1" presetClass="exit" presetSubtype="0" fill="hold" grpId="1" nodeType="withEffect">
                                  <p:stCondLst>
                                    <p:cond delay="0"/>
                                  </p:stCondLst>
                                  <p:childTnLst>
                                    <p:set>
                                      <p:cBhvr>
                                        <p:cTn id="70" dur="1" fill="hold">
                                          <p:stCondLst>
                                            <p:cond delay="0"/>
                                          </p:stCondLst>
                                        </p:cTn>
                                        <p:tgtEl>
                                          <p:spTgt spid="62"/>
                                        </p:tgtEl>
                                        <p:attrNameLst>
                                          <p:attrName>style.visibility</p:attrName>
                                        </p:attrNameLst>
                                      </p:cBhvr>
                                      <p:to>
                                        <p:strVal val="hidden"/>
                                      </p:to>
                                    </p:set>
                                  </p:childTnLst>
                                </p:cTn>
                              </p:par>
                              <p:par>
                                <p:cTn id="71" presetID="1" presetClass="entr" presetSubtype="0" fill="hold" grpId="0" nodeType="withEffect">
                                  <p:stCondLst>
                                    <p:cond delay="0"/>
                                  </p:stCondLst>
                                  <p:childTnLst>
                                    <p:set>
                                      <p:cBhvr>
                                        <p:cTn id="72" dur="1" fill="hold">
                                          <p:stCondLst>
                                            <p:cond delay="0"/>
                                          </p:stCondLst>
                                        </p:cTn>
                                        <p:tgtEl>
                                          <p:spTgt spid="63"/>
                                        </p:tgtEl>
                                        <p:attrNameLst>
                                          <p:attrName>style.visibility</p:attrName>
                                        </p:attrNameLst>
                                      </p:cBhvr>
                                      <p:to>
                                        <p:strVal val="visible"/>
                                      </p:to>
                                    </p:set>
                                  </p:childTnLst>
                                </p:cTn>
                              </p:par>
                              <p:par>
                                <p:cTn id="73" presetID="1" presetClass="exit" presetSubtype="0" fill="hold" grpId="1" nodeType="withEffect">
                                  <p:stCondLst>
                                    <p:cond delay="0"/>
                                  </p:stCondLst>
                                  <p:childTnLst>
                                    <p:set>
                                      <p:cBhvr>
                                        <p:cTn id="74" dur="1" fill="hold">
                                          <p:stCondLst>
                                            <p:cond delay="499"/>
                                          </p:stCondLst>
                                        </p:cTn>
                                        <p:tgtEl>
                                          <p:spTgt spid="172052"/>
                                        </p:tgtEl>
                                        <p:attrNameLst>
                                          <p:attrName>style.visibility</p:attrName>
                                        </p:attrNameLst>
                                      </p:cBhvr>
                                      <p:to>
                                        <p:strVal val="hidden"/>
                                      </p:to>
                                    </p:set>
                                  </p:childTnLst>
                                </p:cTn>
                              </p:par>
                              <p:par>
                                <p:cTn id="75" presetID="1" presetClass="exit" presetSubtype="0" fill="hold" nodeType="withEffect">
                                  <p:stCondLst>
                                    <p:cond delay="0"/>
                                  </p:stCondLst>
                                  <p:childTnLst>
                                    <p:set>
                                      <p:cBhvr>
                                        <p:cTn id="76" dur="1" fill="hold">
                                          <p:stCondLst>
                                            <p:cond delay="499"/>
                                          </p:stCondLst>
                                        </p:cTn>
                                        <p:tgtEl>
                                          <p:spTgt spid="9"/>
                                        </p:tgtEl>
                                        <p:attrNameLst>
                                          <p:attrName>style.visibility</p:attrName>
                                        </p:attrNameLst>
                                      </p:cBhvr>
                                      <p:to>
                                        <p:strVal val="hidden"/>
                                      </p:to>
                                    </p:set>
                                  </p:childTnLst>
                                </p:cTn>
                              </p:par>
                              <p:par>
                                <p:cTn id="77" presetID="1" presetClass="entr" presetSubtype="0" fill="hold" grpId="0" nodeType="withEffect">
                                  <p:stCondLst>
                                    <p:cond delay="0"/>
                                  </p:stCondLst>
                                  <p:childTnLst>
                                    <p:set>
                                      <p:cBhvr>
                                        <p:cTn id="78" dur="1" fill="hold">
                                          <p:stCondLst>
                                            <p:cond delay="0"/>
                                          </p:stCondLst>
                                        </p:cTn>
                                        <p:tgtEl>
                                          <p:spTgt spid="58"/>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nodeType="clickEffect">
                                  <p:stCondLst>
                                    <p:cond delay="0"/>
                                  </p:stCondLst>
                                  <p:childTnLst>
                                    <p:set>
                                      <p:cBhvr>
                                        <p:cTn id="82" dur="1" fill="hold">
                                          <p:stCondLst>
                                            <p:cond delay="0"/>
                                          </p:stCondLst>
                                        </p:cTn>
                                        <p:tgtEl>
                                          <p:spTgt spid="2"/>
                                        </p:tgtEl>
                                        <p:attrNameLst>
                                          <p:attrName>style.visibility</p:attrName>
                                        </p:attrNameLst>
                                      </p:cBhvr>
                                      <p:to>
                                        <p:strVal val="visible"/>
                                      </p:to>
                                    </p:set>
                                  </p:childTnLst>
                                </p:cTn>
                              </p:par>
                              <p:par>
                                <p:cTn id="83" presetID="1" presetClass="exit" presetSubtype="0" fill="hold" grpId="1" nodeType="withEffect">
                                  <p:stCondLst>
                                    <p:cond delay="0"/>
                                  </p:stCondLst>
                                  <p:childTnLst>
                                    <p:set>
                                      <p:cBhvr>
                                        <p:cTn id="84" dur="1" fill="hold">
                                          <p:stCondLst>
                                            <p:cond delay="0"/>
                                          </p:stCondLst>
                                        </p:cTn>
                                        <p:tgtEl>
                                          <p:spTgt spid="63"/>
                                        </p:tgtEl>
                                        <p:attrNameLst>
                                          <p:attrName>style.visibility</p:attrName>
                                        </p:attrNameLst>
                                      </p:cBhvr>
                                      <p:to>
                                        <p:strVal val="hidden"/>
                                      </p:to>
                                    </p:set>
                                  </p:childTnLst>
                                </p:cTn>
                              </p:par>
                              <p:par>
                                <p:cTn id="85" presetID="1" presetClass="exit" presetSubtype="0" fill="hold" nodeType="withEffect">
                                  <p:stCondLst>
                                    <p:cond delay="0"/>
                                  </p:stCondLst>
                                  <p:childTnLst>
                                    <p:set>
                                      <p:cBhvr>
                                        <p:cTn id="86" dur="1" fill="hold">
                                          <p:stCondLst>
                                            <p:cond delay="499"/>
                                          </p:stCondLst>
                                        </p:cTn>
                                        <p:tgtEl>
                                          <p:spTgt spid="5"/>
                                        </p:tgtEl>
                                        <p:attrNameLst>
                                          <p:attrName>style.visibility</p:attrName>
                                        </p:attrNameLst>
                                      </p:cBhvr>
                                      <p:to>
                                        <p:strVal val="hidden"/>
                                      </p:to>
                                    </p:set>
                                  </p:childTnLst>
                                </p:cTn>
                              </p:par>
                              <p:par>
                                <p:cTn id="87" presetID="1" presetClass="exit" presetSubtype="0" fill="hold" nodeType="withEffect">
                                  <p:stCondLst>
                                    <p:cond delay="0"/>
                                  </p:stCondLst>
                                  <p:childTnLst>
                                    <p:set>
                                      <p:cBhvr>
                                        <p:cTn id="88" dur="1" fill="hold">
                                          <p:stCondLst>
                                            <p:cond delay="499"/>
                                          </p:stCondLst>
                                        </p:cTn>
                                        <p:tgtEl>
                                          <p:spTgt spid="10"/>
                                        </p:tgtEl>
                                        <p:attrNameLst>
                                          <p:attrName>style.visibility</p:attrName>
                                        </p:attrNameLst>
                                      </p:cBhvr>
                                      <p:to>
                                        <p:strVal val="hidden"/>
                                      </p:to>
                                    </p:set>
                                  </p:childTnLst>
                                </p:cTn>
                              </p:par>
                              <p:par>
                                <p:cTn id="89" presetID="1" presetClass="exit" presetSubtype="0" fill="hold" grpId="1" nodeType="withEffect">
                                  <p:stCondLst>
                                    <p:cond delay="0"/>
                                  </p:stCondLst>
                                  <p:childTnLst>
                                    <p:set>
                                      <p:cBhvr>
                                        <p:cTn id="90" dur="1" fill="hold">
                                          <p:stCondLst>
                                            <p:cond delay="0"/>
                                          </p:stCondLst>
                                        </p:cTn>
                                        <p:tgtEl>
                                          <p:spTgt spid="5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52" grpId="0" animBg="1"/>
      <p:bldP spid="172052" grpId="1" animBg="1"/>
      <p:bldP spid="172070" grpId="0" animBg="1"/>
      <p:bldP spid="172070" grpId="1" animBg="1"/>
      <p:bldP spid="59" grpId="0"/>
      <p:bldP spid="59" grpId="1"/>
      <p:bldP spid="56" grpId="0"/>
      <p:bldP spid="56" grpId="1"/>
      <p:bldP spid="57" grpId="0"/>
      <p:bldP spid="57" grpId="1"/>
      <p:bldP spid="58" grpId="0"/>
      <p:bldP spid="58" grpId="1"/>
      <p:bldP spid="60" grpId="0" animBg="1"/>
      <p:bldP spid="60" grpId="1" animBg="1"/>
      <p:bldP spid="61" grpId="0" animBg="1"/>
      <p:bldP spid="61" grpId="1" animBg="1"/>
      <p:bldP spid="62" grpId="0" animBg="1"/>
      <p:bldP spid="62" grpId="1" animBg="1"/>
      <p:bldP spid="63" grpId="0" animBg="1"/>
      <p:bldP spid="63"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b="1" dirty="0"/>
              <a:t>Recap</a:t>
            </a:r>
          </a:p>
        </p:txBody>
      </p:sp>
      <p:sp>
        <p:nvSpPr>
          <p:cNvPr id="3" name="Content Placeholder 2"/>
          <p:cNvSpPr>
            <a:spLocks noGrp="1"/>
          </p:cNvSpPr>
          <p:nvPr>
            <p:ph idx="1"/>
          </p:nvPr>
        </p:nvSpPr>
        <p:spPr>
          <a:xfrm>
            <a:off x="685800" y="1371600"/>
            <a:ext cx="8134672" cy="4724400"/>
          </a:xfrm>
        </p:spPr>
        <p:txBody>
          <a:bodyPr/>
          <a:lstStyle/>
          <a:p>
            <a:endParaRPr lang="en-CA" dirty="0"/>
          </a:p>
          <a:p>
            <a:r>
              <a:rPr lang="en-CA" dirty="0"/>
              <a:t>pipelining as parallelism</a:t>
            </a:r>
          </a:p>
          <a:p>
            <a:endParaRPr lang="en-CA" dirty="0"/>
          </a:p>
          <a:p>
            <a:r>
              <a:rPr lang="en-CA" dirty="0"/>
              <a:t>break task into independent pieces</a:t>
            </a:r>
          </a:p>
          <a:p>
            <a:r>
              <a:rPr lang="en-CA" dirty="0"/>
              <a:t>overlap different pieces from different </a:t>
            </a:r>
            <a:r>
              <a:rPr lang="en-CA" dirty="0" err="1"/>
              <a:t>instrs</a:t>
            </a:r>
            <a:endParaRPr lang="en-CA" dirty="0"/>
          </a:p>
          <a:p>
            <a:endParaRPr lang="en-CA" dirty="0"/>
          </a:p>
          <a:p>
            <a:r>
              <a:rPr lang="en-CA" dirty="0"/>
              <a:t>control signals semantically tied to instructions</a:t>
            </a:r>
          </a:p>
          <a:p>
            <a:endParaRPr lang="en-CA" dirty="0"/>
          </a:p>
          <a:p>
            <a:r>
              <a:rPr lang="en-CA" dirty="0"/>
              <a:t>next: analysis and hazards</a:t>
            </a:r>
          </a:p>
          <a:p>
            <a:endParaRPr lang="en-CA" dirty="0"/>
          </a:p>
        </p:txBody>
      </p:sp>
    </p:spTree>
    <p:extLst>
      <p:ext uri="{BB962C8B-B14F-4D97-AF65-F5344CB8AC3E}">
        <p14:creationId xmlns:p14="http://schemas.microsoft.com/office/powerpoint/2010/main" val="17992438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noChangeArrowheads="1"/>
          </p:cNvSpPr>
          <p:nvPr>
            <p:ph type="title"/>
          </p:nvPr>
        </p:nvSpPr>
        <p:spPr/>
        <p:txBody>
          <a:bodyPr/>
          <a:lstStyle/>
          <a:p>
            <a:pPr eaLnBrk="1" hangingPunct="1"/>
            <a:r>
              <a:rPr lang="en-US" altLang="en-US">
                <a:latin typeface="Arial  " charset="0"/>
                <a:ea typeface="MS PGothic" charset="-128"/>
                <a:cs typeface="Arial  " charset="0"/>
              </a:rPr>
              <a:t>Pipelining and ISA</a:t>
            </a:r>
          </a:p>
        </p:txBody>
      </p:sp>
      <p:sp>
        <p:nvSpPr>
          <p:cNvPr id="82946" name="Rectangle 3"/>
          <p:cNvSpPr>
            <a:spLocks noGrp="1" noChangeArrowheads="1"/>
          </p:cNvSpPr>
          <p:nvPr>
            <p:ph type="body" idx="1"/>
          </p:nvPr>
        </p:nvSpPr>
        <p:spPr/>
        <p:txBody>
          <a:bodyPr/>
          <a:lstStyle/>
          <a:p>
            <a:pPr eaLnBrk="1" hangingPunct="1"/>
            <a:r>
              <a:rPr lang="en-US" altLang="en-US" sz="2000">
                <a:latin typeface="Arial  " charset="0"/>
                <a:ea typeface="MS PGothic" charset="-128"/>
                <a:cs typeface="Arial  " charset="0"/>
              </a:rPr>
              <a:t>Uniform Subcomputations</a:t>
            </a:r>
          </a:p>
          <a:p>
            <a:pPr lvl="1" eaLnBrk="1" hangingPunct="1"/>
            <a:r>
              <a:rPr lang="en-US" altLang="en-US" sz="1800">
                <a:latin typeface="Arial  " charset="0"/>
                <a:ea typeface="MS PGothic" charset="-128"/>
                <a:cs typeface="Arial  " charset="0"/>
              </a:rPr>
              <a:t>Memory addressing modes &lt;=&gt; Disparity of speed between processor and memory.</a:t>
            </a:r>
          </a:p>
          <a:p>
            <a:pPr eaLnBrk="1" hangingPunct="1"/>
            <a:endParaRPr lang="en-US" altLang="en-US" sz="2000">
              <a:latin typeface="Arial  " charset="0"/>
              <a:ea typeface="MS PGothic" charset="-128"/>
              <a:cs typeface="Arial  " charset="0"/>
            </a:endParaRPr>
          </a:p>
          <a:p>
            <a:pPr eaLnBrk="1" hangingPunct="1"/>
            <a:r>
              <a:rPr lang="en-US" altLang="en-US" sz="2000">
                <a:latin typeface="Arial  " charset="0"/>
                <a:ea typeface="MS PGothic" charset="-128"/>
                <a:cs typeface="Arial  " charset="0"/>
              </a:rPr>
              <a:t>Identical Computations</a:t>
            </a:r>
          </a:p>
          <a:p>
            <a:pPr lvl="1" eaLnBrk="1" hangingPunct="1"/>
            <a:r>
              <a:rPr lang="en-US" altLang="en-US" sz="1800">
                <a:latin typeface="Arial  " charset="0"/>
                <a:ea typeface="MS PGothic" charset="-128"/>
                <a:cs typeface="Arial  " charset="0"/>
              </a:rPr>
              <a:t>RISC: reducing complexity makes each instruction use roughly same number of stages.</a:t>
            </a:r>
          </a:p>
          <a:p>
            <a:pPr eaLnBrk="1" hangingPunct="1"/>
            <a:endParaRPr lang="en-US" altLang="en-US" sz="2000">
              <a:latin typeface="Arial  " charset="0"/>
              <a:ea typeface="MS PGothic" charset="-128"/>
              <a:cs typeface="Arial  " charset="0"/>
            </a:endParaRPr>
          </a:p>
          <a:p>
            <a:pPr eaLnBrk="1" hangingPunct="1"/>
            <a:r>
              <a:rPr lang="en-US" altLang="en-US" sz="2000">
                <a:latin typeface="Arial  " charset="0"/>
                <a:ea typeface="MS PGothic" charset="-128"/>
                <a:cs typeface="Arial  " charset="0"/>
              </a:rPr>
              <a:t>Independent Computations</a:t>
            </a:r>
          </a:p>
          <a:p>
            <a:pPr lvl="1" eaLnBrk="1" hangingPunct="1"/>
            <a:r>
              <a:rPr lang="en-US" altLang="en-US" sz="1800">
                <a:latin typeface="Arial  " charset="0"/>
                <a:ea typeface="MS PGothic" charset="-128"/>
                <a:cs typeface="Arial  " charset="0"/>
              </a:rPr>
              <a:t>Reg-Reg (“Load-Store”) : Makes it easier to identify dependencies (versus Reg-Mem).</a:t>
            </a:r>
          </a:p>
        </p:txBody>
      </p:sp>
      <p:sp>
        <p:nvSpPr>
          <p:cNvPr id="82947" name="Slide Number Placeholder 6"/>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69DF270E-FEDD-3349-B7EA-D5DB365BC0E2}" type="slidenum">
              <a:rPr lang="en-US" altLang="en-US" sz="1400">
                <a:latin typeface="Comic Sans MS" charset="0"/>
                <a:ea typeface="ＭＳ Ｐゴシック" charset="-128"/>
              </a:rPr>
              <a:pPr>
                <a:spcBef>
                  <a:spcPct val="0"/>
                </a:spcBef>
                <a:buFontTx/>
                <a:buNone/>
              </a:pPr>
              <a:t>21</a:t>
            </a:fld>
            <a:r>
              <a:rPr lang="en-US" altLang="en-US" sz="1400">
                <a:latin typeface="Comic Sans MS" charset="0"/>
                <a:ea typeface="ＭＳ Ｐゴシック" charset="-128"/>
              </a:rPr>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p:cNvSpPr>
            <a:spLocks noGrp="1" noChangeArrowheads="1"/>
          </p:cNvSpPr>
          <p:nvPr>
            <p:ph type="title"/>
          </p:nvPr>
        </p:nvSpPr>
        <p:spPr>
          <a:xfrm>
            <a:off x="685800" y="0"/>
            <a:ext cx="7772400" cy="685800"/>
          </a:xfrm>
        </p:spPr>
        <p:txBody>
          <a:bodyPr/>
          <a:lstStyle/>
          <a:p>
            <a:pPr eaLnBrk="1" hangingPunct="1"/>
            <a:r>
              <a:rPr lang="en-US" altLang="en-US" sz="3600" dirty="0">
                <a:latin typeface="Arial  " charset="0"/>
                <a:ea typeface="MS PGothic" charset="-128"/>
                <a:cs typeface="Arial  " charset="0"/>
              </a:rPr>
              <a:t>Analysis of Instruction Pipelining</a:t>
            </a:r>
          </a:p>
        </p:txBody>
      </p:sp>
      <p:sp>
        <p:nvSpPr>
          <p:cNvPr id="84994" name="Rectangle 3"/>
          <p:cNvSpPr>
            <a:spLocks noGrp="1" noChangeArrowheads="1"/>
          </p:cNvSpPr>
          <p:nvPr>
            <p:ph type="body" idx="1"/>
          </p:nvPr>
        </p:nvSpPr>
        <p:spPr>
          <a:xfrm>
            <a:off x="685800" y="685800"/>
            <a:ext cx="7772400" cy="381000"/>
          </a:xfrm>
          <a:solidFill>
            <a:schemeClr val="accent1"/>
          </a:solidFill>
        </p:spPr>
        <p:txBody>
          <a:bodyPr/>
          <a:lstStyle/>
          <a:p>
            <a:pPr eaLnBrk="1" hangingPunct="1">
              <a:lnSpc>
                <a:spcPct val="90000"/>
              </a:lnSpc>
              <a:buFontTx/>
              <a:buNone/>
            </a:pPr>
            <a:r>
              <a:rPr lang="en-US" altLang="en-US" sz="2000">
                <a:latin typeface="Arial  " charset="0"/>
                <a:ea typeface="MS PGothic" charset="-128"/>
                <a:cs typeface="Arial  " charset="0"/>
              </a:rPr>
              <a:t>	Step 1: Imagine hardware is replicated for each instruction…</a:t>
            </a:r>
            <a:endParaRPr lang="en-US" altLang="en-US" sz="2000">
              <a:solidFill>
                <a:srgbClr val="0000FF"/>
              </a:solidFill>
              <a:latin typeface="Arial  " charset="0"/>
              <a:ea typeface="MS PGothic" charset="-128"/>
              <a:cs typeface="Arial  " charset="0"/>
            </a:endParaRPr>
          </a:p>
        </p:txBody>
      </p:sp>
      <p:pic>
        <p:nvPicPr>
          <p:cNvPr id="84995" name="Picture 4" descr="AppA-fig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676400"/>
            <a:ext cx="5410200" cy="464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6" name="Slide Number Placeholder 7"/>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A6970148-83DF-AA49-A1C1-CB00FA5A4705}" type="slidenum">
              <a:rPr lang="en-US" altLang="en-US" sz="1400">
                <a:latin typeface="Comic Sans MS" charset="0"/>
                <a:ea typeface="ＭＳ Ｐゴシック" charset="-128"/>
              </a:rPr>
              <a:pPr>
                <a:spcBef>
                  <a:spcPct val="0"/>
                </a:spcBef>
                <a:buFontTx/>
                <a:buNone/>
              </a:pPr>
              <a:t>22</a:t>
            </a:fld>
            <a:r>
              <a:rPr lang="en-US" altLang="en-US" sz="1400">
                <a:latin typeface="Comic Sans MS" charset="0"/>
                <a:ea typeface="ＭＳ Ｐゴシック" charset="-128"/>
              </a:rPr>
              <a:t> </a:t>
            </a:r>
          </a:p>
        </p:txBody>
      </p:sp>
      <p:sp>
        <p:nvSpPr>
          <p:cNvPr id="84997" name="Line 6"/>
          <p:cNvSpPr>
            <a:spLocks noChangeShapeType="1"/>
          </p:cNvSpPr>
          <p:nvPr/>
        </p:nvSpPr>
        <p:spPr bwMode="auto">
          <a:xfrm>
            <a:off x="1143000" y="3048000"/>
            <a:ext cx="0" cy="14224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84998" name="Text Box 8"/>
          <p:cNvSpPr txBox="1">
            <a:spLocks noChangeArrowheads="1"/>
          </p:cNvSpPr>
          <p:nvPr/>
        </p:nvSpPr>
        <p:spPr bwMode="auto">
          <a:xfrm>
            <a:off x="381000" y="5562600"/>
            <a:ext cx="22717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r>
              <a:rPr lang="en-US" altLang="en-US" sz="2400">
                <a:solidFill>
                  <a:srgbClr val="FF0000"/>
                </a:solidFill>
                <a:ea typeface="ＭＳ Ｐゴシック" charset="-128"/>
              </a:rPr>
              <a:t>Last Instruction</a:t>
            </a:r>
          </a:p>
        </p:txBody>
      </p:sp>
      <p:sp>
        <p:nvSpPr>
          <p:cNvPr id="84999" name="Text Box 9"/>
          <p:cNvSpPr txBox="1">
            <a:spLocks noChangeArrowheads="1"/>
          </p:cNvSpPr>
          <p:nvPr/>
        </p:nvSpPr>
        <p:spPr bwMode="auto">
          <a:xfrm>
            <a:off x="304800" y="2133600"/>
            <a:ext cx="12620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r>
              <a:rPr lang="en-US" altLang="en-US" sz="2400">
                <a:solidFill>
                  <a:srgbClr val="FF0000"/>
                </a:solidFill>
                <a:ea typeface="ＭＳ Ｐゴシック" charset="-128"/>
              </a:rPr>
              <a:t>1st Inst.</a:t>
            </a:r>
          </a:p>
        </p:txBody>
      </p:sp>
      <p:sp>
        <p:nvSpPr>
          <p:cNvPr id="85000" name="Text Box 4"/>
          <p:cNvSpPr txBox="1">
            <a:spLocks noChangeArrowheads="1"/>
          </p:cNvSpPr>
          <p:nvPr/>
        </p:nvSpPr>
        <p:spPr bwMode="auto">
          <a:xfrm>
            <a:off x="1914525" y="1219200"/>
            <a:ext cx="19637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r>
              <a:rPr lang="en-US" altLang="en-US" sz="2400">
                <a:solidFill>
                  <a:srgbClr val="0000FF"/>
                </a:solidFill>
                <a:ea typeface="ＭＳ Ｐゴシック" charset="-128"/>
              </a:rPr>
              <a:t>Early in Time</a:t>
            </a:r>
          </a:p>
        </p:txBody>
      </p:sp>
      <p:sp>
        <p:nvSpPr>
          <p:cNvPr id="85001" name="Line 5"/>
          <p:cNvSpPr>
            <a:spLocks noChangeShapeType="1"/>
          </p:cNvSpPr>
          <p:nvPr/>
        </p:nvSpPr>
        <p:spPr bwMode="auto">
          <a:xfrm>
            <a:off x="1955800" y="1684338"/>
            <a:ext cx="5575300" cy="0"/>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85002" name="Text Box 10"/>
          <p:cNvSpPr txBox="1">
            <a:spLocks noChangeArrowheads="1"/>
          </p:cNvSpPr>
          <p:nvPr/>
        </p:nvSpPr>
        <p:spPr bwMode="auto">
          <a:xfrm>
            <a:off x="5749925" y="1244600"/>
            <a:ext cx="19637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r>
              <a:rPr lang="en-US" altLang="en-US" sz="2400">
                <a:solidFill>
                  <a:srgbClr val="0000FF"/>
                </a:solidFill>
                <a:ea typeface="ＭＳ Ｐゴシック" charset="-128"/>
              </a:rPr>
              <a:t>Later in Time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p:cNvSpPr>
            <a:spLocks noGrp="1" noChangeArrowheads="1"/>
          </p:cNvSpPr>
          <p:nvPr>
            <p:ph type="title"/>
          </p:nvPr>
        </p:nvSpPr>
        <p:spPr/>
        <p:txBody>
          <a:bodyPr/>
          <a:lstStyle/>
          <a:p>
            <a:pPr eaLnBrk="1" hangingPunct="1"/>
            <a:r>
              <a:rPr lang="en-US" altLang="en-US" sz="3600">
                <a:latin typeface="Arial  " charset="0"/>
                <a:ea typeface="MS PGothic" charset="-128"/>
                <a:cs typeface="Arial  " charset="0"/>
              </a:rPr>
              <a:t>Step 2: Abstraction</a:t>
            </a:r>
            <a:endParaRPr lang="en-US" altLang="en-US">
              <a:latin typeface="Arial  " charset="0"/>
              <a:ea typeface="MS PGothic" charset="-128"/>
              <a:cs typeface="Arial  " charset="0"/>
            </a:endParaRPr>
          </a:p>
        </p:txBody>
      </p:sp>
      <p:sp>
        <p:nvSpPr>
          <p:cNvPr id="87042" name="Rectangle 3"/>
          <p:cNvSpPr>
            <a:spLocks noGrp="1" noChangeArrowheads="1"/>
          </p:cNvSpPr>
          <p:nvPr>
            <p:ph type="body" idx="1"/>
          </p:nvPr>
        </p:nvSpPr>
        <p:spPr>
          <a:xfrm>
            <a:off x="685800" y="4114800"/>
            <a:ext cx="7772400" cy="1981200"/>
          </a:xfrm>
        </p:spPr>
        <p:txBody>
          <a:bodyPr/>
          <a:lstStyle/>
          <a:p>
            <a:pPr eaLnBrk="1" hangingPunct="1"/>
            <a:r>
              <a:rPr lang="en-US" altLang="en-US" sz="2000" dirty="0">
                <a:latin typeface="Arial  " charset="0"/>
                <a:ea typeface="MS PGothic" charset="-128"/>
                <a:cs typeface="Arial  " charset="0"/>
              </a:rPr>
              <a:t>ID,…,WB = “instruction decode,” …, “write back” (slide 5-6)</a:t>
            </a:r>
          </a:p>
          <a:p>
            <a:pPr eaLnBrk="1" hangingPunct="1"/>
            <a:r>
              <a:rPr lang="en-US" altLang="en-US" sz="2000" dirty="0">
                <a:latin typeface="Arial  " charset="0"/>
                <a:ea typeface="MS PGothic" charset="-128"/>
                <a:cs typeface="Arial  " charset="0"/>
              </a:rPr>
              <a:t>Above example: </a:t>
            </a:r>
          </a:p>
          <a:p>
            <a:pPr lvl="1" eaLnBrk="1" hangingPunct="1"/>
            <a:r>
              <a:rPr lang="en-US" altLang="en-US" sz="1800" dirty="0">
                <a:latin typeface="Arial  " charset="0"/>
                <a:ea typeface="MS PGothic" charset="-128"/>
                <a:cs typeface="Arial  " charset="0"/>
              </a:rPr>
              <a:t>As # instructions increases CPI approaches 1.0 (ideal, can’t be faster)</a:t>
            </a:r>
          </a:p>
          <a:p>
            <a:pPr lvl="1" eaLnBrk="1" hangingPunct="1"/>
            <a:r>
              <a:rPr lang="en-US" altLang="en-US" sz="1800" dirty="0">
                <a:latin typeface="Arial  " charset="0"/>
                <a:ea typeface="MS PGothic" charset="-128"/>
                <a:cs typeface="Arial  " charset="0"/>
              </a:rPr>
              <a:t>In reality, instructions may have “dependencies”, hardware may have “hazards” that increase CPI above 1.0</a:t>
            </a:r>
          </a:p>
        </p:txBody>
      </p:sp>
      <p:graphicFrame>
        <p:nvGraphicFramePr>
          <p:cNvPr id="76885" name="Group 85"/>
          <p:cNvGraphicFramePr>
            <a:graphicFrameLocks noGrp="1"/>
          </p:cNvGraphicFramePr>
          <p:nvPr/>
        </p:nvGraphicFramePr>
        <p:xfrm>
          <a:off x="685800" y="1397000"/>
          <a:ext cx="7924800" cy="2444751"/>
        </p:xfrm>
        <a:graphic>
          <a:graphicData uri="http://schemas.openxmlformats.org/drawingml/2006/table">
            <a:tbl>
              <a:tblPr/>
              <a:tblGrid>
                <a:gridCol w="17526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685800">
                  <a:extLst>
                    <a:ext uri="{9D8B030D-6E8A-4147-A177-3AD203B41FA5}">
                      <a16:colId xmlns:a16="http://schemas.microsoft.com/office/drawing/2014/main" val="20007"/>
                    </a:ext>
                  </a:extLst>
                </a:gridCol>
                <a:gridCol w="685800">
                  <a:extLst>
                    <a:ext uri="{9D8B030D-6E8A-4147-A177-3AD203B41FA5}">
                      <a16:colId xmlns:a16="http://schemas.microsoft.com/office/drawing/2014/main" val="20008"/>
                    </a:ext>
                  </a:extLst>
                </a:gridCol>
                <a:gridCol w="685800">
                  <a:extLst>
                    <a:ext uri="{9D8B030D-6E8A-4147-A177-3AD203B41FA5}">
                      <a16:colId xmlns:a16="http://schemas.microsoft.com/office/drawing/2014/main" val="20009"/>
                    </a:ext>
                  </a:extLst>
                </a:gridCol>
              </a:tblGrid>
              <a:tr h="355682">
                <a:tc rowSpan="2">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 charset="0"/>
                        <a:ea typeface="ＭＳ Ｐゴシック" charset="-128"/>
                      </a:endParaRPr>
                    </a:p>
                  </a:txBody>
                  <a:tcPr marT="45743" marB="4574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9">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Clock Number</a:t>
                      </a:r>
                    </a:p>
                  </a:txBody>
                  <a:tcPr marT="45743" marB="4574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35381">
                <a:tc vMerge="1">
                  <a:txBody>
                    <a:bodyPr/>
                    <a:lstStyle/>
                    <a:p>
                      <a:endParaRPr lang="en-US"/>
                    </a:p>
                  </a:txBody>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1</a:t>
                      </a: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2</a:t>
                      </a: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3</a:t>
                      </a: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4</a:t>
                      </a: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5</a:t>
                      </a: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6</a:t>
                      </a: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7</a:t>
                      </a: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8</a:t>
                      </a: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9</a:t>
                      </a:r>
                    </a:p>
                  </a:txBody>
                  <a:tcPr marT="45743" marB="4574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0919">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Instruction i</a:t>
                      </a:r>
                    </a:p>
                  </a:txBody>
                  <a:tcPr marT="45743" marB="4574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IF</a:t>
                      </a: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ID</a:t>
                      </a: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EX</a:t>
                      </a: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MEM</a:t>
                      </a: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WB</a:t>
                      </a: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 charset="0"/>
                        <a:ea typeface="ＭＳ Ｐゴシック" charset="-128"/>
                      </a:endParaRP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 charset="0"/>
                        <a:ea typeface="ＭＳ Ｐゴシック" charset="-128"/>
                      </a:endParaRP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 charset="0"/>
                        <a:ea typeface="ＭＳ Ｐゴシック" charset="-128"/>
                      </a:endParaRP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 charset="0"/>
                        <a:ea typeface="ＭＳ Ｐゴシック" charset="-128"/>
                      </a:endParaRPr>
                    </a:p>
                  </a:txBody>
                  <a:tcPr marT="45743" marB="4574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381">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Instruction i+1</a:t>
                      </a:r>
                    </a:p>
                  </a:txBody>
                  <a:tcPr marT="45743" marB="4574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 charset="0"/>
                        <a:ea typeface="ＭＳ Ｐゴシック" charset="-128"/>
                      </a:endParaRP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IF</a:t>
                      </a: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ID</a:t>
                      </a: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EX</a:t>
                      </a: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MEM</a:t>
                      </a: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WB</a:t>
                      </a: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 charset="0"/>
                        <a:ea typeface="ＭＳ Ｐゴシック" charset="-128"/>
                      </a:endParaRP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 charset="0"/>
                        <a:ea typeface="ＭＳ Ｐゴシック" charset="-128"/>
                      </a:endParaRP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 charset="0"/>
                        <a:ea typeface="ＭＳ Ｐゴシック" charset="-128"/>
                      </a:endParaRPr>
                    </a:p>
                  </a:txBody>
                  <a:tcPr marT="45743" marB="4574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0919">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Instruction i+2</a:t>
                      </a:r>
                    </a:p>
                  </a:txBody>
                  <a:tcPr marT="45743" marB="4574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 charset="0"/>
                        <a:ea typeface="ＭＳ Ｐゴシック" charset="-128"/>
                      </a:endParaRP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 charset="0"/>
                        <a:ea typeface="ＭＳ Ｐゴシック" charset="-128"/>
                      </a:endParaRP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IF</a:t>
                      </a: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ID</a:t>
                      </a: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EX</a:t>
                      </a: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MEM</a:t>
                      </a: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WB</a:t>
                      </a: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 charset="0"/>
                        <a:ea typeface="ＭＳ Ｐゴシック" charset="-128"/>
                      </a:endParaRP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 charset="0"/>
                        <a:ea typeface="ＭＳ Ｐゴシック" charset="-128"/>
                      </a:endParaRPr>
                    </a:p>
                  </a:txBody>
                  <a:tcPr marT="45743" marB="4574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88">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Instruction i+3</a:t>
                      </a:r>
                    </a:p>
                  </a:txBody>
                  <a:tcPr marT="45743" marB="4574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 charset="0"/>
                        <a:ea typeface="ＭＳ Ｐゴシック" charset="-128"/>
                      </a:endParaRP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 charset="0"/>
                        <a:ea typeface="ＭＳ Ｐゴシック" charset="-128"/>
                      </a:endParaRP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 charset="0"/>
                        <a:ea typeface="ＭＳ Ｐゴシック" charset="-128"/>
                      </a:endParaRP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IF</a:t>
                      </a: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ID</a:t>
                      </a: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EX</a:t>
                      </a: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MEM</a:t>
                      </a: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WB</a:t>
                      </a: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 charset="0"/>
                        <a:ea typeface="ＭＳ Ｐゴシック" charset="-128"/>
                      </a:endParaRPr>
                    </a:p>
                  </a:txBody>
                  <a:tcPr marT="45743" marB="4574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81">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Instruction i+4</a:t>
                      </a:r>
                    </a:p>
                  </a:txBody>
                  <a:tcPr marT="45743" marB="4574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 charset="0"/>
                        <a:ea typeface="ＭＳ Ｐゴシック" charset="-128"/>
                      </a:endParaRP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 charset="0"/>
                        <a:ea typeface="ＭＳ Ｐゴシック" charset="-128"/>
                      </a:endParaRP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 charset="0"/>
                        <a:ea typeface="ＭＳ Ｐゴシック" charset="-128"/>
                      </a:endParaRP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 charset="0"/>
                        <a:ea typeface="ＭＳ Ｐゴシック" charset="-128"/>
                      </a:endParaRP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IF</a:t>
                      </a: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ID</a:t>
                      </a: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EX</a:t>
                      </a: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MEM</a:t>
                      </a:r>
                    </a:p>
                  </a:txBody>
                  <a:tcPr marT="45743" marB="4574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 charset="0"/>
                          <a:ea typeface="ＭＳ Ｐゴシック" charset="-128"/>
                        </a:rPr>
                        <a:t>WB</a:t>
                      </a:r>
                    </a:p>
                  </a:txBody>
                  <a:tcPr marT="45743" marB="4574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87124" name="Slide Number Placeholder 7"/>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B6044918-53D7-2F48-94AE-2AE0477AADE8}" type="slidenum">
              <a:rPr lang="en-US" altLang="en-US" sz="1400">
                <a:latin typeface="Comic Sans MS" charset="0"/>
                <a:ea typeface="ＭＳ Ｐゴシック" charset="-128"/>
              </a:rPr>
              <a:pPr>
                <a:spcBef>
                  <a:spcPct val="0"/>
                </a:spcBef>
                <a:buFontTx/>
                <a:buNone/>
              </a:pPr>
              <a:t>23</a:t>
            </a:fld>
            <a:r>
              <a:rPr lang="en-US" altLang="en-US" sz="1400">
                <a:latin typeface="Comic Sans MS" charset="0"/>
                <a:ea typeface="ＭＳ Ｐゴシック" charset="-128"/>
              </a:rPr>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p:cNvSpPr>
            <a:spLocks noGrp="1" noChangeArrowheads="1"/>
          </p:cNvSpPr>
          <p:nvPr>
            <p:ph type="title"/>
          </p:nvPr>
        </p:nvSpPr>
        <p:spPr>
          <a:xfrm>
            <a:off x="698500" y="266700"/>
            <a:ext cx="7772400" cy="1143000"/>
          </a:xfrm>
        </p:spPr>
        <p:txBody>
          <a:bodyPr/>
          <a:lstStyle/>
          <a:p>
            <a:pPr eaLnBrk="1" hangingPunct="1"/>
            <a:r>
              <a:rPr lang="en-US" altLang="en-US" sz="3600">
                <a:latin typeface="Arial  " charset="0"/>
                <a:ea typeface="MS PGothic" charset="-128"/>
                <a:cs typeface="Arial  " charset="0"/>
              </a:rPr>
              <a:t>Pipelining introduces </a:t>
            </a:r>
            <a:br>
              <a:rPr lang="en-US" altLang="en-US" sz="3600">
                <a:latin typeface="Arial  " charset="0"/>
                <a:ea typeface="MS PGothic" charset="-128"/>
                <a:cs typeface="Arial  " charset="0"/>
              </a:rPr>
            </a:br>
            <a:r>
              <a:rPr lang="en-US" altLang="en-US" sz="3600">
                <a:latin typeface="Arial  " charset="0"/>
                <a:ea typeface="MS PGothic" charset="-128"/>
                <a:cs typeface="Arial  " charset="0"/>
              </a:rPr>
              <a:t>potential “hazards”</a:t>
            </a:r>
            <a:endParaRPr lang="en-US" altLang="en-US">
              <a:latin typeface="Arial  " charset="0"/>
              <a:ea typeface="MS PGothic" charset="-128"/>
              <a:cs typeface="Arial  " charset="0"/>
            </a:endParaRPr>
          </a:p>
        </p:txBody>
      </p:sp>
      <p:sp>
        <p:nvSpPr>
          <p:cNvPr id="62467" name="Rectangle 3"/>
          <p:cNvSpPr>
            <a:spLocks noGrp="1" noChangeArrowheads="1"/>
          </p:cNvSpPr>
          <p:nvPr>
            <p:ph type="body" idx="1"/>
          </p:nvPr>
        </p:nvSpPr>
        <p:spPr>
          <a:xfrm>
            <a:off x="685800" y="5029200"/>
            <a:ext cx="7772400" cy="685800"/>
          </a:xfrm>
        </p:spPr>
        <p:txBody>
          <a:bodyPr/>
          <a:lstStyle/>
          <a:p>
            <a:pPr eaLnBrk="1" hangingPunct="1">
              <a:lnSpc>
                <a:spcPct val="90000"/>
              </a:lnSpc>
            </a:pPr>
            <a:r>
              <a:rPr lang="en-US" altLang="en-US" sz="2000" dirty="0">
                <a:solidFill>
                  <a:srgbClr val="0000FF"/>
                </a:solidFill>
                <a:latin typeface="Arial  " charset="0"/>
                <a:ea typeface="MS PGothic" charset="-128"/>
                <a:cs typeface="Arial  " charset="0"/>
              </a:rPr>
              <a:t>How do instructions after DADD get the correct value for x1?</a:t>
            </a:r>
          </a:p>
        </p:txBody>
      </p:sp>
      <p:graphicFrame>
        <p:nvGraphicFramePr>
          <p:cNvPr id="62568" name="Group 104"/>
          <p:cNvGraphicFramePr>
            <a:graphicFrameLocks noGrp="1"/>
          </p:cNvGraphicFramePr>
          <p:nvPr/>
        </p:nvGraphicFramePr>
        <p:xfrm>
          <a:off x="685800" y="2057400"/>
          <a:ext cx="7924800" cy="2352676"/>
        </p:xfrm>
        <a:graphic>
          <a:graphicData uri="http://schemas.openxmlformats.org/drawingml/2006/table">
            <a:tbl>
              <a:tblPr/>
              <a:tblGrid>
                <a:gridCol w="17526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685800">
                  <a:extLst>
                    <a:ext uri="{9D8B030D-6E8A-4147-A177-3AD203B41FA5}">
                      <a16:colId xmlns:a16="http://schemas.microsoft.com/office/drawing/2014/main" val="20007"/>
                    </a:ext>
                  </a:extLst>
                </a:gridCol>
                <a:gridCol w="685800">
                  <a:extLst>
                    <a:ext uri="{9D8B030D-6E8A-4147-A177-3AD203B41FA5}">
                      <a16:colId xmlns:a16="http://schemas.microsoft.com/office/drawing/2014/main" val="20008"/>
                    </a:ext>
                  </a:extLst>
                </a:gridCol>
                <a:gridCol w="685800">
                  <a:extLst>
                    <a:ext uri="{9D8B030D-6E8A-4147-A177-3AD203B41FA5}">
                      <a16:colId xmlns:a16="http://schemas.microsoft.com/office/drawing/2014/main" val="20009"/>
                    </a:ext>
                  </a:extLst>
                </a:gridCol>
              </a:tblGrid>
              <a:tr h="355600">
                <a:tc rowSpan="2">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 charset="0"/>
                        <a:ea typeface="ＭＳ Ｐゴシック"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9">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Clock Number</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04800">
                <a:tc vMerge="1">
                  <a:txBody>
                    <a:bodyPr/>
                    <a:lstStyle/>
                    <a:p>
                      <a:endParaRPr lang="en-US"/>
                    </a:p>
                  </a:txBody>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9</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0838">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 charset="0"/>
                          <a:ea typeface="ＭＳ Ｐゴシック" charset="-128"/>
                        </a:rPr>
                        <a:t>DADD  x1,x2,x3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IF</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ID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EX</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MEM</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WB</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Arial  "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Arial  "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Arial  "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Arial  "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4800">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 charset="0"/>
                          <a:ea typeface="ＭＳ Ｐゴシック" charset="-128"/>
                        </a:rPr>
                        <a:t>DSUB  x4,x1,x5</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Arial  "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IF</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ID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EX</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MEM</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WB</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Arial  "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Arial  "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Arial  "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0838">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 charset="0"/>
                          <a:ea typeface="ＭＳ Ｐゴシック" charset="-128"/>
                        </a:rPr>
                        <a:t>AND    x6,x1,x7</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Arial  "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Arial  "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IF</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ID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EX</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MEM</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WB</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Arial  "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Arial  "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 charset="0"/>
                          <a:ea typeface="ＭＳ Ｐゴシック" charset="-128"/>
                        </a:rPr>
                        <a:t>OR       x8,x1,x9</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Arial  "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Arial  "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Arial  "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IF</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ID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EX</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MEM</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WB</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Arial  "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4800">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 charset="0"/>
                          <a:ea typeface="ＭＳ Ｐゴシック" charset="-128"/>
                        </a:rPr>
                        <a:t>XOR  x10,x1,x11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Arial  "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Arial  "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Arial  "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Arial  "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IF</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ID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EX</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MEM</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Arial  " charset="0"/>
                          <a:ea typeface="ＭＳ Ｐゴシック" charset="-128"/>
                        </a:rPr>
                        <a:t>WB</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pSp>
        <p:nvGrpSpPr>
          <p:cNvPr id="2" name="Group 94"/>
          <p:cNvGrpSpPr>
            <a:grpSpLocks/>
          </p:cNvGrpSpPr>
          <p:nvPr/>
        </p:nvGrpSpPr>
        <p:grpSpPr bwMode="auto">
          <a:xfrm>
            <a:off x="3810000" y="2743200"/>
            <a:ext cx="2743200" cy="1752600"/>
            <a:chOff x="2400" y="1728"/>
            <a:chExt cx="1728" cy="1104"/>
          </a:xfrm>
        </p:grpSpPr>
        <p:sp>
          <p:nvSpPr>
            <p:cNvPr id="89182" name="Oval 85"/>
            <p:cNvSpPr>
              <a:spLocks noChangeArrowheads="1"/>
            </p:cNvSpPr>
            <p:nvPr/>
          </p:nvSpPr>
          <p:spPr bwMode="auto">
            <a:xfrm>
              <a:off x="3264" y="1728"/>
              <a:ext cx="432" cy="240"/>
            </a:xfrm>
            <a:prstGeom prst="ellipse">
              <a:avLst/>
            </a:prstGeom>
            <a:noFill/>
            <a:ln w="571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89183" name="Oval 86"/>
            <p:cNvSpPr>
              <a:spLocks noChangeArrowheads="1"/>
            </p:cNvSpPr>
            <p:nvPr/>
          </p:nvSpPr>
          <p:spPr bwMode="auto">
            <a:xfrm>
              <a:off x="2400" y="1920"/>
              <a:ext cx="432" cy="240"/>
            </a:xfrm>
            <a:prstGeom prst="ellipse">
              <a:avLst/>
            </a:prstGeom>
            <a:noFill/>
            <a:ln w="571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89184" name="Line 87"/>
            <p:cNvSpPr>
              <a:spLocks noChangeShapeType="1"/>
            </p:cNvSpPr>
            <p:nvPr/>
          </p:nvSpPr>
          <p:spPr bwMode="auto">
            <a:xfrm flipH="1">
              <a:off x="2832" y="1920"/>
              <a:ext cx="432" cy="96"/>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89185" name="Oval 88"/>
            <p:cNvSpPr>
              <a:spLocks noChangeArrowheads="1"/>
            </p:cNvSpPr>
            <p:nvPr/>
          </p:nvSpPr>
          <p:spPr bwMode="auto">
            <a:xfrm>
              <a:off x="2832" y="2160"/>
              <a:ext cx="432" cy="240"/>
            </a:xfrm>
            <a:prstGeom prst="ellipse">
              <a:avLst/>
            </a:prstGeom>
            <a:noFill/>
            <a:ln w="571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89186" name="Line 89"/>
            <p:cNvSpPr>
              <a:spLocks noChangeShapeType="1"/>
            </p:cNvSpPr>
            <p:nvPr/>
          </p:nvSpPr>
          <p:spPr bwMode="auto">
            <a:xfrm flipH="1">
              <a:off x="3120" y="1920"/>
              <a:ext cx="144" cy="24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89187" name="Oval 90"/>
            <p:cNvSpPr>
              <a:spLocks noChangeArrowheads="1"/>
            </p:cNvSpPr>
            <p:nvPr/>
          </p:nvSpPr>
          <p:spPr bwMode="auto">
            <a:xfrm>
              <a:off x="3264" y="2352"/>
              <a:ext cx="432" cy="240"/>
            </a:xfrm>
            <a:prstGeom prst="ellipse">
              <a:avLst/>
            </a:prstGeom>
            <a:noFill/>
            <a:ln w="57150">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89188" name="Oval 91"/>
            <p:cNvSpPr>
              <a:spLocks noChangeArrowheads="1"/>
            </p:cNvSpPr>
            <p:nvPr/>
          </p:nvSpPr>
          <p:spPr bwMode="auto">
            <a:xfrm>
              <a:off x="3696" y="2592"/>
              <a:ext cx="432" cy="240"/>
            </a:xfrm>
            <a:prstGeom prst="ellipse">
              <a:avLst/>
            </a:prstGeom>
            <a:noFill/>
            <a:ln w="57150">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89189" name="Line 92"/>
            <p:cNvSpPr>
              <a:spLocks noChangeShapeType="1"/>
            </p:cNvSpPr>
            <p:nvPr/>
          </p:nvSpPr>
          <p:spPr bwMode="auto">
            <a:xfrm>
              <a:off x="3456" y="1968"/>
              <a:ext cx="0" cy="384"/>
            </a:xfrm>
            <a:prstGeom prst="line">
              <a:avLst/>
            </a:prstGeom>
            <a:noFill/>
            <a:ln w="57150">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89190" name="Line 93"/>
            <p:cNvSpPr>
              <a:spLocks noChangeShapeType="1"/>
            </p:cNvSpPr>
            <p:nvPr/>
          </p:nvSpPr>
          <p:spPr bwMode="auto">
            <a:xfrm>
              <a:off x="3456" y="1968"/>
              <a:ext cx="384" cy="576"/>
            </a:xfrm>
            <a:prstGeom prst="line">
              <a:avLst/>
            </a:prstGeom>
            <a:noFill/>
            <a:ln w="57150">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grpSp>
      <p:grpSp>
        <p:nvGrpSpPr>
          <p:cNvPr id="3" name="Group 102"/>
          <p:cNvGrpSpPr>
            <a:grpSpLocks/>
          </p:cNvGrpSpPr>
          <p:nvPr/>
        </p:nvGrpSpPr>
        <p:grpSpPr bwMode="auto">
          <a:xfrm>
            <a:off x="1308100" y="2743200"/>
            <a:ext cx="609600" cy="1676400"/>
            <a:chOff x="912" y="1728"/>
            <a:chExt cx="384" cy="1056"/>
          </a:xfrm>
        </p:grpSpPr>
        <p:sp>
          <p:nvSpPr>
            <p:cNvPr id="89175" name="Oval 95"/>
            <p:cNvSpPr>
              <a:spLocks noChangeArrowheads="1"/>
            </p:cNvSpPr>
            <p:nvPr/>
          </p:nvSpPr>
          <p:spPr bwMode="auto">
            <a:xfrm>
              <a:off x="912" y="1728"/>
              <a:ext cx="192" cy="192"/>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ctr">
                <a:spcBef>
                  <a:spcPct val="0"/>
                </a:spcBef>
                <a:buFontTx/>
                <a:buNone/>
              </a:pPr>
              <a:endParaRPr lang="en-US" altLang="en-US" sz="2400">
                <a:solidFill>
                  <a:srgbClr val="FF0000"/>
                </a:solidFill>
                <a:latin typeface="Arial" charset="0"/>
                <a:ea typeface="ＭＳ Ｐゴシック" charset="-128"/>
              </a:endParaRPr>
            </a:p>
          </p:txBody>
        </p:sp>
        <p:sp>
          <p:nvSpPr>
            <p:cNvPr id="89176" name="Oval 96"/>
            <p:cNvSpPr>
              <a:spLocks noChangeArrowheads="1"/>
            </p:cNvSpPr>
            <p:nvPr/>
          </p:nvSpPr>
          <p:spPr bwMode="auto">
            <a:xfrm>
              <a:off x="1104" y="1968"/>
              <a:ext cx="192" cy="192"/>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ctr">
                <a:spcBef>
                  <a:spcPct val="0"/>
                </a:spcBef>
                <a:buFontTx/>
                <a:buNone/>
              </a:pPr>
              <a:endParaRPr lang="en-US" altLang="en-US" sz="2400">
                <a:solidFill>
                  <a:srgbClr val="FF0000"/>
                </a:solidFill>
                <a:latin typeface="Arial" charset="0"/>
                <a:ea typeface="ＭＳ Ｐゴシック" charset="-128"/>
              </a:endParaRPr>
            </a:p>
          </p:txBody>
        </p:sp>
        <p:sp>
          <p:nvSpPr>
            <p:cNvPr id="89177" name="Oval 97"/>
            <p:cNvSpPr>
              <a:spLocks noChangeArrowheads="1"/>
            </p:cNvSpPr>
            <p:nvPr/>
          </p:nvSpPr>
          <p:spPr bwMode="auto">
            <a:xfrm>
              <a:off x="1104" y="2160"/>
              <a:ext cx="192" cy="192"/>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ctr">
                <a:spcBef>
                  <a:spcPct val="0"/>
                </a:spcBef>
                <a:buFontTx/>
                <a:buNone/>
              </a:pPr>
              <a:endParaRPr lang="en-US" altLang="en-US" sz="2400">
                <a:solidFill>
                  <a:srgbClr val="FF0000"/>
                </a:solidFill>
                <a:latin typeface="Arial" charset="0"/>
                <a:ea typeface="ＭＳ Ｐゴシック" charset="-128"/>
              </a:endParaRPr>
            </a:p>
          </p:txBody>
        </p:sp>
        <p:sp>
          <p:nvSpPr>
            <p:cNvPr id="89178" name="Oval 98"/>
            <p:cNvSpPr>
              <a:spLocks noChangeArrowheads="1"/>
            </p:cNvSpPr>
            <p:nvPr/>
          </p:nvSpPr>
          <p:spPr bwMode="auto">
            <a:xfrm>
              <a:off x="1104" y="2400"/>
              <a:ext cx="192" cy="192"/>
            </a:xfrm>
            <a:prstGeom prst="ellipse">
              <a:avLst/>
            </a:prstGeom>
            <a:noFill/>
            <a:ln w="28575">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ctr">
                <a:spcBef>
                  <a:spcPct val="0"/>
                </a:spcBef>
                <a:buFontTx/>
                <a:buNone/>
              </a:pPr>
              <a:endParaRPr lang="en-US" altLang="en-US" sz="2400">
                <a:solidFill>
                  <a:srgbClr val="FF0000"/>
                </a:solidFill>
                <a:latin typeface="Arial" charset="0"/>
                <a:ea typeface="ＭＳ Ｐゴシック" charset="-128"/>
              </a:endParaRPr>
            </a:p>
          </p:txBody>
        </p:sp>
        <p:sp>
          <p:nvSpPr>
            <p:cNvPr id="89179" name="Oval 99"/>
            <p:cNvSpPr>
              <a:spLocks noChangeArrowheads="1"/>
            </p:cNvSpPr>
            <p:nvPr/>
          </p:nvSpPr>
          <p:spPr bwMode="auto">
            <a:xfrm>
              <a:off x="1096" y="2592"/>
              <a:ext cx="192" cy="192"/>
            </a:xfrm>
            <a:prstGeom prst="ellipse">
              <a:avLst/>
            </a:prstGeom>
            <a:noFill/>
            <a:ln w="28575">
              <a:solidFill>
                <a:srgbClr val="00FF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ctr">
                <a:spcBef>
                  <a:spcPct val="0"/>
                </a:spcBef>
                <a:buFontTx/>
                <a:buNone/>
              </a:pPr>
              <a:endParaRPr lang="en-US" altLang="en-US" sz="2400">
                <a:solidFill>
                  <a:srgbClr val="FF0000"/>
                </a:solidFill>
                <a:latin typeface="Arial" charset="0"/>
                <a:ea typeface="ＭＳ Ｐゴシック" charset="-128"/>
              </a:endParaRPr>
            </a:p>
          </p:txBody>
        </p:sp>
        <p:sp>
          <p:nvSpPr>
            <p:cNvPr id="89180" name="Line 100"/>
            <p:cNvSpPr>
              <a:spLocks noChangeShapeType="1"/>
            </p:cNvSpPr>
            <p:nvPr/>
          </p:nvSpPr>
          <p:spPr bwMode="auto">
            <a:xfrm>
              <a:off x="1056" y="1920"/>
              <a:ext cx="96" cy="4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89181" name="Line 101"/>
            <p:cNvSpPr>
              <a:spLocks noChangeShapeType="1"/>
            </p:cNvSpPr>
            <p:nvPr/>
          </p:nvSpPr>
          <p:spPr bwMode="auto">
            <a:xfrm>
              <a:off x="1056" y="1920"/>
              <a:ext cx="48" cy="28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grpSp>
      <p:sp>
        <p:nvSpPr>
          <p:cNvPr id="89174" name="Slide Number Placeholder 25"/>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60CDBEC8-DF04-9642-BAB5-BA12F16E796E}" type="slidenum">
              <a:rPr lang="en-US" altLang="en-US" sz="1400">
                <a:latin typeface="Comic Sans MS" charset="0"/>
                <a:ea typeface="ＭＳ Ｐゴシック" charset="-128"/>
              </a:rPr>
              <a:pPr>
                <a:spcBef>
                  <a:spcPct val="0"/>
                </a:spcBef>
                <a:buFontTx/>
                <a:buNone/>
              </a:pPr>
              <a:t>24</a:t>
            </a:fld>
            <a:r>
              <a:rPr lang="en-US" altLang="en-US" sz="1400">
                <a:latin typeface="Comic Sans MS" charset="0"/>
                <a:ea typeface="ＭＳ Ｐゴシック" charset="-128"/>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246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p:cNvSpPr>
            <a:spLocks noGrp="1" noChangeArrowheads="1"/>
          </p:cNvSpPr>
          <p:nvPr>
            <p:ph type="title"/>
          </p:nvPr>
        </p:nvSpPr>
        <p:spPr>
          <a:xfrm>
            <a:off x="685800" y="0"/>
            <a:ext cx="7772400" cy="990600"/>
          </a:xfrm>
        </p:spPr>
        <p:txBody>
          <a:bodyPr/>
          <a:lstStyle/>
          <a:p>
            <a:pPr eaLnBrk="1" hangingPunct="1"/>
            <a:r>
              <a:rPr lang="en-US" altLang="en-US">
                <a:latin typeface="Arial  " charset="0"/>
                <a:ea typeface="MS PGothic" charset="-128"/>
                <a:cs typeface="Arial  " charset="0"/>
              </a:rPr>
              <a:t>Pipeline Hazards</a:t>
            </a:r>
          </a:p>
        </p:txBody>
      </p:sp>
      <p:sp>
        <p:nvSpPr>
          <p:cNvPr id="91138" name="Rectangle 3"/>
          <p:cNvSpPr>
            <a:spLocks noGrp="1" noChangeArrowheads="1"/>
          </p:cNvSpPr>
          <p:nvPr>
            <p:ph type="body" idx="1"/>
          </p:nvPr>
        </p:nvSpPr>
        <p:spPr/>
        <p:txBody>
          <a:bodyPr/>
          <a:lstStyle/>
          <a:p>
            <a:pPr marL="533400" indent="-533400" eaLnBrk="1" hangingPunct="1">
              <a:lnSpc>
                <a:spcPct val="90000"/>
              </a:lnSpc>
              <a:buFont typeface="Times" charset="0"/>
              <a:buAutoNum type="arabicPeriod"/>
            </a:pPr>
            <a:endParaRPr lang="en-US" altLang="en-US" sz="2400" dirty="0">
              <a:latin typeface="Arial  " charset="0"/>
              <a:ea typeface="MS PGothic" charset="-128"/>
              <a:cs typeface="Arial  " charset="0"/>
            </a:endParaRPr>
          </a:p>
          <a:p>
            <a:pPr marL="533400" indent="-533400" eaLnBrk="1" hangingPunct="1">
              <a:lnSpc>
                <a:spcPct val="90000"/>
              </a:lnSpc>
              <a:buFont typeface="Times" charset="0"/>
              <a:buAutoNum type="arabicPeriod"/>
            </a:pPr>
            <a:r>
              <a:rPr lang="en-US" altLang="en-US" sz="2400" dirty="0">
                <a:latin typeface="Arial  " charset="0"/>
                <a:ea typeface="MS PGothic" charset="-128"/>
                <a:cs typeface="Arial  " charset="0"/>
              </a:rPr>
              <a:t>Types</a:t>
            </a:r>
          </a:p>
          <a:p>
            <a:pPr marL="933450" lvl="1" indent="-533400" eaLnBrk="1" hangingPunct="1">
              <a:lnSpc>
                <a:spcPct val="90000"/>
              </a:lnSpc>
              <a:buFont typeface="Times" charset="0"/>
              <a:buAutoNum type="arabicPeriod"/>
            </a:pPr>
            <a:r>
              <a:rPr lang="en-US" altLang="en-US" sz="2000" dirty="0">
                <a:latin typeface="Arial  " charset="0"/>
                <a:ea typeface="MS PGothic" charset="-128"/>
                <a:cs typeface="Arial  " charset="0"/>
              </a:rPr>
              <a:t>structural Hazards</a:t>
            </a:r>
          </a:p>
          <a:p>
            <a:pPr marL="933450" lvl="1" indent="-533400" eaLnBrk="1" hangingPunct="1">
              <a:lnSpc>
                <a:spcPct val="90000"/>
              </a:lnSpc>
              <a:buFont typeface="Times" charset="0"/>
              <a:buAutoNum type="arabicPeriod"/>
            </a:pPr>
            <a:r>
              <a:rPr lang="en-US" altLang="en-US" sz="2000" dirty="0">
                <a:latin typeface="Arial  " charset="0"/>
                <a:ea typeface="MS PGothic" charset="-128"/>
                <a:cs typeface="Arial  " charset="0"/>
              </a:rPr>
              <a:t>data Hazards</a:t>
            </a:r>
          </a:p>
          <a:p>
            <a:pPr marL="933450" lvl="1" indent="-533400" eaLnBrk="1" hangingPunct="1">
              <a:lnSpc>
                <a:spcPct val="90000"/>
              </a:lnSpc>
              <a:buFont typeface="Times" charset="0"/>
              <a:buAutoNum type="arabicPeriod"/>
            </a:pPr>
            <a:r>
              <a:rPr lang="en-US" altLang="en-US" sz="2000" dirty="0">
                <a:latin typeface="Arial  " charset="0"/>
                <a:ea typeface="MS PGothic" charset="-128"/>
                <a:cs typeface="Arial  " charset="0"/>
              </a:rPr>
              <a:t>control Hazards</a:t>
            </a:r>
          </a:p>
          <a:p>
            <a:pPr marL="533400" indent="-533400" eaLnBrk="1" hangingPunct="1">
              <a:lnSpc>
                <a:spcPct val="90000"/>
              </a:lnSpc>
              <a:buFont typeface="Times" charset="0"/>
              <a:buAutoNum type="arabicPeriod"/>
            </a:pPr>
            <a:endParaRPr lang="en-US" altLang="en-US" sz="2400" dirty="0">
              <a:latin typeface="Arial  " charset="0"/>
              <a:ea typeface="MS PGothic" charset="-128"/>
              <a:cs typeface="Arial  " charset="0"/>
            </a:endParaRPr>
          </a:p>
          <a:p>
            <a:pPr marL="533400" indent="-533400" eaLnBrk="1" hangingPunct="1">
              <a:lnSpc>
                <a:spcPct val="90000"/>
              </a:lnSpc>
              <a:buFont typeface="Times" charset="0"/>
              <a:buAutoNum type="arabicPeriod"/>
            </a:pPr>
            <a:r>
              <a:rPr lang="en-US" altLang="en-US" sz="2400" dirty="0">
                <a:latin typeface="Arial  " charset="0"/>
                <a:ea typeface="MS PGothic" charset="-128"/>
                <a:cs typeface="Arial  " charset="0"/>
              </a:rPr>
              <a:t>Analysis</a:t>
            </a:r>
          </a:p>
          <a:p>
            <a:pPr marL="914400" lvl="1" indent="-457200" eaLnBrk="1" hangingPunct="1">
              <a:lnSpc>
                <a:spcPct val="90000"/>
              </a:lnSpc>
              <a:buFont typeface="Times" charset="0"/>
              <a:buAutoNum type="arabicPeriod"/>
            </a:pPr>
            <a:r>
              <a:rPr lang="en-US" altLang="en-US" sz="2000" dirty="0">
                <a:latin typeface="Arial  " charset="0"/>
                <a:ea typeface="MS PGothic" charset="-128"/>
                <a:cs typeface="Arial  " charset="0"/>
              </a:rPr>
              <a:t>causes?</a:t>
            </a:r>
          </a:p>
          <a:p>
            <a:pPr marL="914400" lvl="1" indent="-457200" eaLnBrk="1" hangingPunct="1">
              <a:lnSpc>
                <a:spcPct val="90000"/>
              </a:lnSpc>
              <a:buFont typeface="Times" charset="0"/>
              <a:buAutoNum type="arabicPeriod"/>
            </a:pPr>
            <a:r>
              <a:rPr lang="en-US" altLang="en-US" sz="2000" dirty="0">
                <a:latin typeface="Arial  " charset="0"/>
                <a:ea typeface="MS PGothic" charset="-128"/>
                <a:cs typeface="Arial  " charset="0"/>
              </a:rPr>
              <a:t>solutions? </a:t>
            </a:r>
          </a:p>
          <a:p>
            <a:pPr marL="914400" lvl="1" indent="-457200" eaLnBrk="1" hangingPunct="1">
              <a:lnSpc>
                <a:spcPct val="90000"/>
              </a:lnSpc>
              <a:buFont typeface="Times" charset="0"/>
              <a:buAutoNum type="arabicPeriod"/>
            </a:pPr>
            <a:r>
              <a:rPr lang="en-US" altLang="en-US" sz="2000" dirty="0">
                <a:latin typeface="Arial  " charset="0"/>
                <a:ea typeface="MS PGothic" charset="-128"/>
                <a:cs typeface="Arial  " charset="0"/>
              </a:rPr>
              <a:t>tradeoffs (impact on performance)?</a:t>
            </a:r>
          </a:p>
          <a:p>
            <a:pPr marL="533400" indent="-533400" eaLnBrk="1" hangingPunct="1">
              <a:lnSpc>
                <a:spcPct val="90000"/>
              </a:lnSpc>
              <a:buFontTx/>
              <a:buNone/>
            </a:pPr>
            <a:endParaRPr lang="en-US" altLang="en-US" sz="2400" dirty="0">
              <a:latin typeface="Arial  " charset="0"/>
              <a:ea typeface="MS PGothic" charset="-128"/>
              <a:cs typeface="Arial  " charset="0"/>
            </a:endParaRPr>
          </a:p>
        </p:txBody>
      </p:sp>
      <p:sp>
        <p:nvSpPr>
          <p:cNvPr id="91139" name="Slide Number Placeholder 6"/>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4DCA5625-207E-2346-B56C-41E47E7CFDF0}" type="slidenum">
              <a:rPr lang="en-US" altLang="en-US" sz="1400">
                <a:latin typeface="Comic Sans MS" charset="0"/>
                <a:ea typeface="ＭＳ Ｐゴシック" charset="-128"/>
              </a:rPr>
              <a:pPr>
                <a:spcBef>
                  <a:spcPct val="0"/>
                </a:spcBef>
                <a:buFontTx/>
                <a:buNone/>
              </a:pPr>
              <a:t>25</a:t>
            </a:fld>
            <a:r>
              <a:rPr lang="en-US" altLang="en-US" sz="1400">
                <a:latin typeface="Comic Sans MS" charset="0"/>
                <a:ea typeface="ＭＳ Ｐゴシック" charset="-128"/>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1138">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1138">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1138">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113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p:cNvSpPr>
            <a:spLocks noGrp="1" noChangeArrowheads="1"/>
          </p:cNvSpPr>
          <p:nvPr>
            <p:ph type="title"/>
          </p:nvPr>
        </p:nvSpPr>
        <p:spPr>
          <a:xfrm>
            <a:off x="685800" y="0"/>
            <a:ext cx="7772400" cy="990600"/>
          </a:xfrm>
        </p:spPr>
        <p:txBody>
          <a:bodyPr/>
          <a:lstStyle/>
          <a:p>
            <a:pPr eaLnBrk="1" hangingPunct="1"/>
            <a:r>
              <a:rPr lang="en-US" altLang="en-US" sz="3600" b="1" dirty="0">
                <a:latin typeface="Arial  " charset="0"/>
                <a:ea typeface="MS PGothic" charset="-128"/>
                <a:cs typeface="Arial  " charset="0"/>
              </a:rPr>
              <a:t>Structural Hazards</a:t>
            </a:r>
          </a:p>
        </p:txBody>
      </p:sp>
      <p:sp>
        <p:nvSpPr>
          <p:cNvPr id="93186" name="Rectangle 3"/>
          <p:cNvSpPr>
            <a:spLocks noGrp="1" noChangeArrowheads="1"/>
          </p:cNvSpPr>
          <p:nvPr>
            <p:ph type="body" idx="1"/>
          </p:nvPr>
        </p:nvSpPr>
        <p:spPr>
          <a:xfrm>
            <a:off x="762000" y="1143000"/>
            <a:ext cx="7772400" cy="4724400"/>
          </a:xfrm>
        </p:spPr>
        <p:txBody>
          <a:bodyPr/>
          <a:lstStyle/>
          <a:p>
            <a:pPr marL="533400" indent="-533400" eaLnBrk="1" hangingPunct="1">
              <a:lnSpc>
                <a:spcPct val="90000"/>
              </a:lnSpc>
            </a:pPr>
            <a:r>
              <a:rPr lang="en-US" altLang="en-US" sz="2400" dirty="0">
                <a:latin typeface="Arial  " charset="0"/>
                <a:ea typeface="MS PGothic" charset="-128"/>
                <a:cs typeface="Arial  " charset="0"/>
              </a:rPr>
              <a:t>Caused by resource conflicts  </a:t>
            </a:r>
          </a:p>
          <a:p>
            <a:pPr marL="914400" lvl="1" indent="-457200" eaLnBrk="1" hangingPunct="1">
              <a:lnSpc>
                <a:spcPct val="90000"/>
              </a:lnSpc>
            </a:pPr>
            <a:r>
              <a:rPr lang="en-US" altLang="en-US" sz="2000" dirty="0">
                <a:latin typeface="Arial  " charset="0"/>
                <a:ea typeface="MS PGothic" charset="-128"/>
                <a:cs typeface="Arial  " charset="0"/>
              </a:rPr>
              <a:t>Two or more instructions want to use the same hardware at the same time</a:t>
            </a:r>
          </a:p>
          <a:p>
            <a:pPr marL="533400" indent="-533400" eaLnBrk="1" hangingPunct="1">
              <a:lnSpc>
                <a:spcPct val="90000"/>
              </a:lnSpc>
            </a:pPr>
            <a:endParaRPr lang="en-US" altLang="en-US" sz="2000" dirty="0">
              <a:latin typeface="Arial  " charset="0"/>
              <a:ea typeface="MS PGothic" charset="-128"/>
              <a:cs typeface="Arial  " charset="0"/>
            </a:endParaRPr>
          </a:p>
          <a:p>
            <a:pPr marL="533400" indent="-533400" eaLnBrk="1" hangingPunct="1">
              <a:lnSpc>
                <a:spcPct val="90000"/>
              </a:lnSpc>
            </a:pPr>
            <a:r>
              <a:rPr lang="en-US" altLang="en-US" sz="2400" dirty="0">
                <a:latin typeface="Arial  " charset="0"/>
                <a:ea typeface="MS PGothic" charset="-128"/>
                <a:cs typeface="Arial  " charset="0"/>
              </a:rPr>
              <a:t>Two ways to resolve structural hazards:</a:t>
            </a:r>
          </a:p>
          <a:p>
            <a:pPr marL="914400" lvl="1" indent="-457200" eaLnBrk="1" hangingPunct="1">
              <a:lnSpc>
                <a:spcPct val="90000"/>
              </a:lnSpc>
            </a:pPr>
            <a:r>
              <a:rPr lang="en-US" altLang="en-US" sz="2000" dirty="0">
                <a:latin typeface="Arial  " charset="0"/>
                <a:ea typeface="MS PGothic" charset="-128"/>
                <a:cs typeface="Arial  " charset="0"/>
              </a:rPr>
              <a:t>Solution 1: Stall </a:t>
            </a:r>
          </a:p>
          <a:p>
            <a:pPr marL="1295400" lvl="2" indent="-381000" eaLnBrk="1" hangingPunct="1">
              <a:lnSpc>
                <a:spcPct val="90000"/>
              </a:lnSpc>
            </a:pPr>
            <a:r>
              <a:rPr lang="en-US" altLang="en-US" sz="1800" dirty="0">
                <a:latin typeface="Arial  " charset="0"/>
                <a:ea typeface="MS PGothic" charset="-128"/>
                <a:cs typeface="Arial  " charset="0"/>
              </a:rPr>
              <a:t>wait until earlier instruction is finished using resource… + / –?</a:t>
            </a:r>
          </a:p>
          <a:p>
            <a:pPr marL="914400" lvl="1" indent="-457200" eaLnBrk="1" hangingPunct="1">
              <a:lnSpc>
                <a:spcPct val="90000"/>
              </a:lnSpc>
            </a:pPr>
            <a:endParaRPr lang="en-US" altLang="en-US" sz="2000" dirty="0">
              <a:latin typeface="Arial  " charset="0"/>
              <a:ea typeface="MS PGothic" charset="-128"/>
              <a:cs typeface="Arial  " charset="0"/>
            </a:endParaRPr>
          </a:p>
          <a:p>
            <a:pPr marL="914400" lvl="1" indent="-457200" eaLnBrk="1" hangingPunct="1">
              <a:lnSpc>
                <a:spcPct val="90000"/>
              </a:lnSpc>
            </a:pPr>
            <a:r>
              <a:rPr lang="en-US" altLang="en-US" sz="2000" dirty="0">
                <a:latin typeface="Arial  " charset="0"/>
                <a:ea typeface="MS PGothic" charset="-128"/>
                <a:cs typeface="Arial  " charset="0"/>
              </a:rPr>
              <a:t>Solution 2: Replicate hardware</a:t>
            </a:r>
          </a:p>
          <a:p>
            <a:pPr marL="1295400" lvl="2" indent="-381000" eaLnBrk="1" hangingPunct="1">
              <a:lnSpc>
                <a:spcPct val="90000"/>
              </a:lnSpc>
            </a:pPr>
            <a:r>
              <a:rPr lang="en-US" altLang="en-US" sz="1800" dirty="0">
                <a:latin typeface="Arial  " charset="0"/>
                <a:ea typeface="MS PGothic" charset="-128"/>
                <a:cs typeface="Arial  " charset="0"/>
              </a:rPr>
              <a:t>Often we can eliminate need for stalling by replicating hardware or building hardware capable of servicing multiple instructions at the same time.</a:t>
            </a:r>
          </a:p>
        </p:txBody>
      </p:sp>
      <p:sp>
        <p:nvSpPr>
          <p:cNvPr id="93187" name="Slide Number Placeholder 6"/>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465446CC-F450-1641-B9AF-E23B9D524CDF}" type="slidenum">
              <a:rPr lang="en-US" altLang="en-US" sz="1400">
                <a:latin typeface="Comic Sans MS" charset="0"/>
                <a:ea typeface="ＭＳ Ｐゴシック" charset="-128"/>
              </a:rPr>
              <a:pPr>
                <a:spcBef>
                  <a:spcPct val="0"/>
                </a:spcBef>
                <a:buFontTx/>
                <a:buNone/>
              </a:pPr>
              <a:t>26</a:t>
            </a:fld>
            <a:r>
              <a:rPr lang="en-US" altLang="en-US" sz="1400">
                <a:latin typeface="Comic Sans MS" charset="0"/>
                <a:ea typeface="ＭＳ Ｐゴシック" charset="-128"/>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18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318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3186">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3186">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318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p:cNvSpPr>
            <a:spLocks noGrp="1" noChangeArrowheads="1"/>
          </p:cNvSpPr>
          <p:nvPr>
            <p:ph type="title"/>
          </p:nvPr>
        </p:nvSpPr>
        <p:spPr>
          <a:xfrm>
            <a:off x="685800" y="0"/>
            <a:ext cx="7772400" cy="990600"/>
          </a:xfrm>
        </p:spPr>
        <p:txBody>
          <a:bodyPr/>
          <a:lstStyle/>
          <a:p>
            <a:pPr eaLnBrk="1" hangingPunct="1"/>
            <a:r>
              <a:rPr lang="en-US" altLang="en-US">
                <a:latin typeface="Arial  " charset="0"/>
                <a:ea typeface="MS PGothic" charset="-128"/>
                <a:cs typeface="Arial  " charset="0"/>
              </a:rPr>
              <a:t>Structural Hazard Example</a:t>
            </a:r>
          </a:p>
        </p:txBody>
      </p:sp>
      <p:sp>
        <p:nvSpPr>
          <p:cNvPr id="95234" name="Rectangle 3"/>
          <p:cNvSpPr>
            <a:spLocks noGrp="1" noChangeArrowheads="1"/>
          </p:cNvSpPr>
          <p:nvPr>
            <p:ph type="body" idx="1"/>
          </p:nvPr>
        </p:nvSpPr>
        <p:spPr>
          <a:xfrm>
            <a:off x="685800" y="990600"/>
            <a:ext cx="8648700" cy="4724400"/>
          </a:xfrm>
        </p:spPr>
        <p:txBody>
          <a:bodyPr/>
          <a:lstStyle/>
          <a:p>
            <a:pPr eaLnBrk="1" hangingPunct="1">
              <a:buFontTx/>
              <a:buNone/>
            </a:pPr>
            <a:r>
              <a:rPr lang="en-US" altLang="en-US" sz="1800">
                <a:solidFill>
                  <a:srgbClr val="FF0000"/>
                </a:solidFill>
                <a:latin typeface="Arial  " charset="0"/>
                <a:ea typeface="MS PGothic" charset="-128"/>
                <a:cs typeface="Arial  " charset="0"/>
              </a:rPr>
              <a:t>What if data and instructions are placed in same memory (at different locations)?</a:t>
            </a:r>
            <a:endParaRPr lang="en-US" altLang="en-US" sz="3600">
              <a:latin typeface="Arial  " charset="0"/>
              <a:ea typeface="MS PGothic" charset="-128"/>
              <a:cs typeface="Arial  " charset="0"/>
            </a:endParaRPr>
          </a:p>
        </p:txBody>
      </p:sp>
      <p:pic>
        <p:nvPicPr>
          <p:cNvPr id="95235" name="Picture 4" descr="AppA-fig0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2375" y="1566863"/>
            <a:ext cx="6508750" cy="466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36" name="Rectangle 5"/>
          <p:cNvSpPr>
            <a:spLocks noChangeArrowheads="1"/>
          </p:cNvSpPr>
          <p:nvPr/>
        </p:nvSpPr>
        <p:spPr bwMode="auto">
          <a:xfrm>
            <a:off x="4025900" y="2349500"/>
            <a:ext cx="495300" cy="52070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95237" name="Rectangle 6"/>
          <p:cNvSpPr>
            <a:spLocks noChangeArrowheads="1"/>
          </p:cNvSpPr>
          <p:nvPr/>
        </p:nvSpPr>
        <p:spPr bwMode="auto">
          <a:xfrm>
            <a:off x="4013200" y="4800600"/>
            <a:ext cx="495300" cy="48260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95238" name="Rectangle 8"/>
          <p:cNvSpPr>
            <a:spLocks noChangeArrowheads="1"/>
          </p:cNvSpPr>
          <p:nvPr/>
        </p:nvSpPr>
        <p:spPr bwMode="auto">
          <a:xfrm>
            <a:off x="3962400" y="1905000"/>
            <a:ext cx="584200" cy="330200"/>
          </a:xfrm>
          <a:prstGeom prst="rect">
            <a:avLst/>
          </a:prstGeom>
          <a:solidFill>
            <a:srgbClr val="0000FF">
              <a:alpha val="2784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95239" name="Rectangle 9"/>
          <p:cNvSpPr>
            <a:spLocks noChangeArrowheads="1"/>
          </p:cNvSpPr>
          <p:nvPr/>
        </p:nvSpPr>
        <p:spPr bwMode="auto">
          <a:xfrm>
            <a:off x="1168400" y="2425700"/>
            <a:ext cx="762000" cy="393700"/>
          </a:xfrm>
          <a:prstGeom prst="rect">
            <a:avLst/>
          </a:prstGeom>
          <a:solidFill>
            <a:srgbClr val="FF0000">
              <a:alpha val="23921"/>
            </a:srgbClr>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95240" name="Rectangle 10"/>
          <p:cNvSpPr>
            <a:spLocks noChangeArrowheads="1"/>
          </p:cNvSpPr>
          <p:nvPr/>
        </p:nvSpPr>
        <p:spPr bwMode="auto">
          <a:xfrm>
            <a:off x="1168400" y="4826000"/>
            <a:ext cx="800100" cy="406400"/>
          </a:xfrm>
          <a:prstGeom prst="rect">
            <a:avLst/>
          </a:prstGeom>
          <a:solidFill>
            <a:srgbClr val="FF0000">
              <a:alpha val="23921"/>
            </a:srgbClr>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95242" name="Slide Number Placeholder 14"/>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C2A3EFA5-1C07-3544-B948-B8163B91D3B3}" type="slidenum">
              <a:rPr lang="en-US" altLang="en-US" sz="1400">
                <a:latin typeface="Comic Sans MS" charset="0"/>
                <a:ea typeface="ＭＳ Ｐゴシック" charset="-128"/>
              </a:rPr>
              <a:pPr>
                <a:spcBef>
                  <a:spcPct val="0"/>
                </a:spcBef>
                <a:buFontTx/>
                <a:buNone/>
              </a:pPr>
              <a:t>27</a:t>
            </a:fld>
            <a:r>
              <a:rPr lang="en-US" altLang="en-US" sz="1400">
                <a:latin typeface="Comic Sans MS" charset="0"/>
                <a:ea typeface="ＭＳ Ｐゴシック" charset="-128"/>
              </a:rPr>
              <a:t> </a:t>
            </a:r>
          </a:p>
        </p:txBody>
      </p:sp>
      <p:pic>
        <p:nvPicPr>
          <p:cNvPr id="17" name="Picture 16" descr="struct-hazard-example.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962400" y="4724400"/>
            <a:ext cx="4495800" cy="150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44" name="Rectangle 7"/>
          <p:cNvSpPr>
            <a:spLocks noChangeArrowheads="1"/>
          </p:cNvSpPr>
          <p:nvPr/>
        </p:nvSpPr>
        <p:spPr bwMode="auto">
          <a:xfrm>
            <a:off x="3860800" y="1651000"/>
            <a:ext cx="838200" cy="4343400"/>
          </a:xfrm>
          <a:prstGeom prst="rect">
            <a:avLst/>
          </a:prstGeom>
          <a:noFill/>
          <a:ln w="57150">
            <a:solidFill>
              <a:srgbClr val="0000FF"/>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18" name="TextBox 17"/>
          <p:cNvSpPr txBox="1">
            <a:spLocks noChangeArrowheads="1"/>
          </p:cNvSpPr>
          <p:nvPr/>
        </p:nvSpPr>
        <p:spPr bwMode="auto">
          <a:xfrm>
            <a:off x="3916363" y="4800600"/>
            <a:ext cx="7318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r>
              <a:rPr lang="en-US" altLang="en-US" sz="2400">
                <a:solidFill>
                  <a:srgbClr val="FF0000"/>
                </a:solidFill>
                <a:latin typeface="Arial" charset="0"/>
                <a:ea typeface="ＭＳ Ｐゴシック" charset="-128"/>
              </a:rPr>
              <a:t>stall</a:t>
            </a:r>
          </a:p>
        </p:txBody>
      </p:sp>
      <p:sp>
        <p:nvSpPr>
          <p:cNvPr id="19" name="Rectangle 5"/>
          <p:cNvSpPr>
            <a:spLocks noChangeArrowheads="1"/>
          </p:cNvSpPr>
          <p:nvPr/>
        </p:nvSpPr>
        <p:spPr bwMode="auto">
          <a:xfrm>
            <a:off x="4800600" y="4800600"/>
            <a:ext cx="495300" cy="52070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p:cNvSpPr>
            <a:spLocks noGrp="1" noChangeArrowheads="1"/>
          </p:cNvSpPr>
          <p:nvPr>
            <p:ph type="title"/>
          </p:nvPr>
        </p:nvSpPr>
        <p:spPr>
          <a:xfrm>
            <a:off x="714375" y="0"/>
            <a:ext cx="7772400" cy="1143000"/>
          </a:xfrm>
        </p:spPr>
        <p:txBody>
          <a:bodyPr/>
          <a:lstStyle/>
          <a:p>
            <a:pPr eaLnBrk="1" hangingPunct="1"/>
            <a:r>
              <a:rPr lang="en-US" altLang="en-US">
                <a:latin typeface="Arial  " charset="0"/>
                <a:ea typeface="MS PGothic" charset="-128"/>
                <a:cs typeface="Arial  " charset="0"/>
              </a:rPr>
              <a:t>Example Question...</a:t>
            </a:r>
          </a:p>
        </p:txBody>
      </p:sp>
      <p:sp>
        <p:nvSpPr>
          <p:cNvPr id="97282" name="Rectangle 3"/>
          <p:cNvSpPr>
            <a:spLocks noGrp="1" noChangeArrowheads="1"/>
          </p:cNvSpPr>
          <p:nvPr>
            <p:ph type="body" idx="1"/>
          </p:nvPr>
        </p:nvSpPr>
        <p:spPr>
          <a:xfrm>
            <a:off x="714375" y="1143000"/>
            <a:ext cx="7772400" cy="4724400"/>
          </a:xfrm>
        </p:spPr>
        <p:txBody>
          <a:bodyPr/>
          <a:lstStyle/>
          <a:p>
            <a:pPr eaLnBrk="1" hangingPunct="1">
              <a:buFontTx/>
              <a:buNone/>
            </a:pPr>
            <a:r>
              <a:rPr lang="en-US" altLang="en-US" sz="2400">
                <a:latin typeface="Arial  " charset="0"/>
                <a:ea typeface="MS PGothic" charset="-128"/>
                <a:cs typeface="Arial  " charset="0"/>
              </a:rPr>
              <a:t>Which processor is faster (&amp; by how much?)</a:t>
            </a:r>
          </a:p>
          <a:p>
            <a:pPr eaLnBrk="1" hangingPunct="1">
              <a:buFontTx/>
              <a:buNone/>
            </a:pPr>
            <a:r>
              <a:rPr lang="en-US" altLang="en-US" sz="2400">
                <a:latin typeface="Arial  " charset="0"/>
                <a:ea typeface="MS PGothic" charset="-128"/>
                <a:cs typeface="Arial  " charset="0"/>
              </a:rPr>
              <a:t>Assume:</a:t>
            </a:r>
          </a:p>
          <a:p>
            <a:pPr eaLnBrk="1" hangingPunct="1"/>
            <a:r>
              <a:rPr lang="en-US" altLang="en-US" sz="2400">
                <a:latin typeface="Arial  " charset="0"/>
                <a:ea typeface="MS PGothic" charset="-128"/>
                <a:cs typeface="Arial  " charset="0"/>
              </a:rPr>
              <a:t>40% of instructions are data memory references.</a:t>
            </a:r>
          </a:p>
          <a:p>
            <a:pPr eaLnBrk="1" hangingPunct="1"/>
            <a:r>
              <a:rPr lang="en-US" altLang="en-US" sz="2400">
                <a:latin typeface="Arial  " charset="0"/>
                <a:ea typeface="MS PGothic" charset="-128"/>
                <a:cs typeface="Arial  " charset="0"/>
              </a:rPr>
              <a:t>Ignoring structural hazard CPI = 1.0</a:t>
            </a:r>
          </a:p>
          <a:p>
            <a:pPr eaLnBrk="1" hangingPunct="1"/>
            <a:r>
              <a:rPr lang="en-US" altLang="en-US" sz="2400">
                <a:latin typeface="Arial  " charset="0"/>
                <a:ea typeface="MS PGothic" charset="-128"/>
                <a:cs typeface="Arial  " charset="0"/>
              </a:rPr>
              <a:t>Processor </a:t>
            </a:r>
            <a:r>
              <a:rPr lang="en-US" altLang="en-US" sz="2400" u="sng">
                <a:solidFill>
                  <a:srgbClr val="FF0000"/>
                </a:solidFill>
                <a:latin typeface="Arial  " charset="0"/>
                <a:ea typeface="MS PGothic" charset="-128"/>
                <a:cs typeface="Arial  " charset="0"/>
              </a:rPr>
              <a:t>with</a:t>
            </a:r>
            <a:r>
              <a:rPr lang="en-US" altLang="en-US" sz="2400">
                <a:latin typeface="Arial  " charset="0"/>
                <a:ea typeface="MS PGothic" charset="-128"/>
                <a:cs typeface="Arial  " charset="0"/>
              </a:rPr>
              <a:t> structural hazard has clock rate that is 1.05 times faster than processor </a:t>
            </a:r>
            <a:r>
              <a:rPr lang="en-US" altLang="en-US" sz="2400" u="sng">
                <a:solidFill>
                  <a:srgbClr val="0000FF"/>
                </a:solidFill>
                <a:latin typeface="Arial  " charset="0"/>
                <a:ea typeface="MS PGothic" charset="-128"/>
                <a:cs typeface="Arial  " charset="0"/>
              </a:rPr>
              <a:t>w/o</a:t>
            </a:r>
            <a:r>
              <a:rPr lang="en-US" altLang="en-US" sz="2400">
                <a:latin typeface="Arial  " charset="0"/>
                <a:ea typeface="MS PGothic" charset="-128"/>
                <a:cs typeface="Arial  " charset="0"/>
              </a:rPr>
              <a:t>.</a:t>
            </a:r>
          </a:p>
        </p:txBody>
      </p:sp>
      <p:sp>
        <p:nvSpPr>
          <p:cNvPr id="97283" name="Slide Number Placeholder 6"/>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35DC95D9-3BD9-5745-8B8B-EB4EC8B9466E}" type="slidenum">
              <a:rPr lang="en-US" altLang="en-US" sz="1400">
                <a:latin typeface="Comic Sans MS" charset="0"/>
                <a:ea typeface="ＭＳ Ｐゴシック" charset="-128"/>
              </a:rPr>
              <a:pPr>
                <a:spcBef>
                  <a:spcPct val="0"/>
                </a:spcBef>
                <a:buFontTx/>
                <a:buNone/>
              </a:pPr>
              <a:t>28</a:t>
            </a:fld>
            <a:r>
              <a:rPr lang="en-US" altLang="en-US" sz="1400">
                <a:latin typeface="Comic Sans MS" charset="0"/>
                <a:ea typeface="ＭＳ Ｐゴシック" charset="-128"/>
              </a:rPr>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p:cNvSpPr>
            <a:spLocks noGrp="1" noChangeArrowheads="1"/>
          </p:cNvSpPr>
          <p:nvPr>
            <p:ph type="title"/>
          </p:nvPr>
        </p:nvSpPr>
        <p:spPr/>
        <p:txBody>
          <a:bodyPr/>
          <a:lstStyle/>
          <a:p>
            <a:pPr eaLnBrk="1" hangingPunct="1"/>
            <a:r>
              <a:rPr lang="en-US" altLang="en-US">
                <a:latin typeface="Arial  " charset="0"/>
                <a:ea typeface="MS PGothic" charset="-128"/>
                <a:cs typeface="Arial  " charset="0"/>
              </a:rPr>
              <a:t>Solution...</a:t>
            </a:r>
          </a:p>
        </p:txBody>
      </p:sp>
      <p:sp>
        <p:nvSpPr>
          <p:cNvPr id="99330" name="Rectangle 3"/>
          <p:cNvSpPr>
            <a:spLocks noGrp="1" noChangeArrowheads="1"/>
          </p:cNvSpPr>
          <p:nvPr>
            <p:ph type="body" idx="1"/>
          </p:nvPr>
        </p:nvSpPr>
        <p:spPr>
          <a:xfrm>
            <a:off x="660400" y="4826000"/>
            <a:ext cx="7772400" cy="1270000"/>
          </a:xfrm>
        </p:spPr>
        <p:txBody>
          <a:bodyPr/>
          <a:lstStyle/>
          <a:p>
            <a:pPr eaLnBrk="1" hangingPunct="1">
              <a:lnSpc>
                <a:spcPct val="90000"/>
              </a:lnSpc>
              <a:buFontTx/>
              <a:buNone/>
            </a:pPr>
            <a:r>
              <a:rPr lang="en-US" altLang="en-US" sz="2400">
                <a:latin typeface="Arial  " charset="0"/>
                <a:ea typeface="MS PGothic" charset="-128"/>
                <a:cs typeface="Arial  " charset="0"/>
              </a:rPr>
              <a:t>=&gt; processor </a:t>
            </a:r>
            <a:r>
              <a:rPr lang="en-US" altLang="en-US" sz="2400" u="sng">
                <a:latin typeface="Arial  " charset="0"/>
                <a:ea typeface="MS PGothic" charset="-128"/>
                <a:cs typeface="Arial  " charset="0"/>
              </a:rPr>
              <a:t>without</a:t>
            </a:r>
            <a:r>
              <a:rPr lang="en-US" altLang="en-US" sz="2400">
                <a:latin typeface="Arial  " charset="0"/>
                <a:ea typeface="MS PGothic" charset="-128"/>
                <a:cs typeface="Arial  " charset="0"/>
              </a:rPr>
              <a:t> hazard is 1.3x </a:t>
            </a:r>
            <a:r>
              <a:rPr lang="en-US" altLang="en-US" sz="2400" u="sng">
                <a:latin typeface="Arial  " charset="0"/>
                <a:ea typeface="MS PGothic" charset="-128"/>
                <a:cs typeface="Arial  " charset="0"/>
              </a:rPr>
              <a:t>faster </a:t>
            </a:r>
            <a:r>
              <a:rPr lang="en-US" altLang="en-US" sz="2400">
                <a:latin typeface="Arial  " charset="0"/>
                <a:ea typeface="MS PGothic" charset="-128"/>
                <a:cs typeface="Arial  " charset="0"/>
              </a:rPr>
              <a:t>than processor w/ hazard even though clock frequency of processor with hazard is 5% faster.  </a:t>
            </a:r>
          </a:p>
          <a:p>
            <a:pPr eaLnBrk="1" hangingPunct="1">
              <a:lnSpc>
                <a:spcPct val="90000"/>
              </a:lnSpc>
            </a:pPr>
            <a:endParaRPr lang="en-US" altLang="en-US" sz="2400">
              <a:latin typeface="Arial  " charset="0"/>
              <a:ea typeface="MS PGothic" charset="-128"/>
              <a:cs typeface="Arial  " charset="0"/>
            </a:endParaRPr>
          </a:p>
        </p:txBody>
      </p:sp>
      <p:graphicFrame>
        <p:nvGraphicFramePr>
          <p:cNvPr id="99331" name="Object 2"/>
          <p:cNvGraphicFramePr>
            <a:graphicFrameLocks noChangeAspect="1"/>
          </p:cNvGraphicFramePr>
          <p:nvPr/>
        </p:nvGraphicFramePr>
        <p:xfrm>
          <a:off x="1820863" y="1014413"/>
          <a:ext cx="5638800" cy="3055937"/>
        </p:xfrm>
        <a:graphic>
          <a:graphicData uri="http://schemas.openxmlformats.org/presentationml/2006/ole">
            <mc:AlternateContent xmlns:mc="http://schemas.openxmlformats.org/markup-compatibility/2006">
              <mc:Choice xmlns:v="urn:schemas-microsoft-com:vml" Requires="v">
                <p:oleObj name="Equation" r:id="rId3" imgW="3276600" imgH="1778000" progId="Equation.3">
                  <p:embed/>
                </p:oleObj>
              </mc:Choice>
              <mc:Fallback>
                <p:oleObj name="Equation" r:id="rId3" imgW="3276600" imgH="17780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0863" y="1014413"/>
                        <a:ext cx="5638800" cy="305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pic>
                </p:oleObj>
              </mc:Fallback>
            </mc:AlternateContent>
          </a:graphicData>
        </a:graphic>
      </p:graphicFrame>
      <p:sp>
        <p:nvSpPr>
          <p:cNvPr id="99332" name="Slide Number Placeholder 7"/>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9338E00D-CA8E-774B-93AB-C2387BF9854E}" type="slidenum">
              <a:rPr lang="en-US" altLang="en-US" sz="1400">
                <a:latin typeface="Comic Sans MS" charset="0"/>
                <a:ea typeface="ＭＳ Ｐゴシック" charset="-128"/>
              </a:rPr>
              <a:pPr>
                <a:spcBef>
                  <a:spcPct val="0"/>
                </a:spcBef>
                <a:buFontTx/>
                <a:buNone/>
              </a:pPr>
              <a:t>29</a:t>
            </a:fld>
            <a:r>
              <a:rPr lang="en-US" altLang="en-US" sz="1400">
                <a:latin typeface="Comic Sans MS" charset="0"/>
                <a:ea typeface="ＭＳ Ｐゴシック" charset="-128"/>
              </a:rPr>
              <a:t> </a:t>
            </a:r>
          </a:p>
        </p:txBody>
      </p:sp>
      <p:sp>
        <p:nvSpPr>
          <p:cNvPr id="6" name="Rectangle 5"/>
          <p:cNvSpPr>
            <a:spLocks noChangeArrowheads="1"/>
          </p:cNvSpPr>
          <p:nvPr/>
        </p:nvSpPr>
        <p:spPr bwMode="auto">
          <a:xfrm>
            <a:off x="1116013" y="1773238"/>
            <a:ext cx="7056437" cy="719137"/>
          </a:xfrm>
          <a:prstGeom prst="rect">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CA" altLang="en-US" sz="2400">
              <a:latin typeface="Arial" charset="0"/>
              <a:ea typeface="ＭＳ Ｐゴシック" charset="-128"/>
            </a:endParaRPr>
          </a:p>
        </p:txBody>
      </p:sp>
      <p:sp>
        <p:nvSpPr>
          <p:cNvPr id="10" name="Rectangle 9"/>
          <p:cNvSpPr>
            <a:spLocks noChangeArrowheads="1"/>
          </p:cNvSpPr>
          <p:nvPr/>
        </p:nvSpPr>
        <p:spPr bwMode="auto">
          <a:xfrm>
            <a:off x="323850" y="4724400"/>
            <a:ext cx="8208963" cy="1225550"/>
          </a:xfrm>
          <a:prstGeom prst="rect">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CA" altLang="en-US" sz="2400">
              <a:latin typeface="Arial" charset="0"/>
              <a:ea typeface="ＭＳ Ｐゴシック" charset="-128"/>
            </a:endParaRPr>
          </a:p>
        </p:txBody>
      </p:sp>
      <p:sp>
        <p:nvSpPr>
          <p:cNvPr id="11" name="Rectangle 10"/>
          <p:cNvSpPr>
            <a:spLocks noChangeArrowheads="1"/>
          </p:cNvSpPr>
          <p:nvPr/>
        </p:nvSpPr>
        <p:spPr bwMode="auto">
          <a:xfrm>
            <a:off x="1116013" y="2565400"/>
            <a:ext cx="7056437" cy="1150938"/>
          </a:xfrm>
          <a:prstGeom prst="rect">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CA" altLang="en-US" sz="2400">
              <a:latin typeface="Arial" charset="0"/>
              <a:ea typeface="ＭＳ Ｐゴシック" charset="-128"/>
            </a:endParaRPr>
          </a:p>
        </p:txBody>
      </p:sp>
      <p:sp>
        <p:nvSpPr>
          <p:cNvPr id="12" name="Rectangle 11"/>
          <p:cNvSpPr>
            <a:spLocks noChangeArrowheads="1"/>
          </p:cNvSpPr>
          <p:nvPr/>
        </p:nvSpPr>
        <p:spPr bwMode="auto">
          <a:xfrm>
            <a:off x="900113" y="3716338"/>
            <a:ext cx="7056437" cy="1225550"/>
          </a:xfrm>
          <a:prstGeom prst="rect">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CA" altLang="en-US" sz="2400">
              <a:latin typeface="Arial" charset="0"/>
              <a:ea typeface="ＭＳ Ｐゴシック" charset="-128"/>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hidden"/>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hidden"/>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p:cNvSpPr>
            <a:spLocks noGrp="1" noChangeArrowheads="1"/>
          </p:cNvSpPr>
          <p:nvPr>
            <p:ph type="title"/>
          </p:nvPr>
        </p:nvSpPr>
        <p:spPr>
          <a:xfrm>
            <a:off x="685800" y="0"/>
            <a:ext cx="7772400" cy="863600"/>
          </a:xfrm>
        </p:spPr>
        <p:txBody>
          <a:bodyPr/>
          <a:lstStyle/>
          <a:p>
            <a:pPr eaLnBrk="1" hangingPunct="1"/>
            <a:r>
              <a:rPr lang="en-US" altLang="en-US">
                <a:latin typeface="Arial  " charset="0"/>
                <a:ea typeface="MS PGothic" charset="-128"/>
                <a:cs typeface="Arial  " charset="0"/>
              </a:rPr>
              <a:t>Problem: Data </a:t>
            </a:r>
            <a:r>
              <a:rPr lang="en-US" altLang="en-US" u="sng">
                <a:latin typeface="Arial  " charset="0"/>
                <a:ea typeface="MS PGothic" charset="-128"/>
                <a:cs typeface="Arial  " charset="0"/>
              </a:rPr>
              <a:t>Hazards</a:t>
            </a:r>
            <a:endParaRPr lang="en-US" altLang="en-US">
              <a:latin typeface="Arial  " charset="0"/>
              <a:ea typeface="MS PGothic" charset="-128"/>
              <a:cs typeface="Arial  " charset="0"/>
            </a:endParaRPr>
          </a:p>
        </p:txBody>
      </p:sp>
      <p:pic>
        <p:nvPicPr>
          <p:cNvPr id="101378" name="Picture 4" descr="AppA-fig0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3925" y="812800"/>
            <a:ext cx="7092950" cy="507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379" name="Line 5"/>
          <p:cNvSpPr>
            <a:spLocks noChangeShapeType="1"/>
          </p:cNvSpPr>
          <p:nvPr/>
        </p:nvSpPr>
        <p:spPr bwMode="auto">
          <a:xfrm flipH="1">
            <a:off x="4406900" y="1981200"/>
            <a:ext cx="1828800" cy="571500"/>
          </a:xfrm>
          <a:prstGeom prst="line">
            <a:avLst/>
          </a:prstGeom>
          <a:noFill/>
          <a:ln w="28575">
            <a:solidFill>
              <a:srgbClr val="FF0000"/>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101380" name="Line 6"/>
          <p:cNvSpPr>
            <a:spLocks noChangeShapeType="1"/>
          </p:cNvSpPr>
          <p:nvPr/>
        </p:nvSpPr>
        <p:spPr bwMode="auto">
          <a:xfrm flipH="1">
            <a:off x="5308600" y="2006600"/>
            <a:ext cx="914400" cy="1371600"/>
          </a:xfrm>
          <a:prstGeom prst="line">
            <a:avLst/>
          </a:prstGeom>
          <a:noFill/>
          <a:ln w="28575">
            <a:solidFill>
              <a:srgbClr val="FF0000"/>
            </a:solidFill>
            <a:prstDash val="sysDot"/>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101381" name="Line 7"/>
          <p:cNvSpPr>
            <a:spLocks noChangeShapeType="1"/>
          </p:cNvSpPr>
          <p:nvPr/>
        </p:nvSpPr>
        <p:spPr bwMode="auto">
          <a:xfrm>
            <a:off x="6223000" y="2019300"/>
            <a:ext cx="12700" cy="2273300"/>
          </a:xfrm>
          <a:prstGeom prst="line">
            <a:avLst/>
          </a:prstGeom>
          <a:noFill/>
          <a:ln w="28575">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101382" name="Line 8"/>
          <p:cNvSpPr>
            <a:spLocks noChangeShapeType="1"/>
          </p:cNvSpPr>
          <p:nvPr/>
        </p:nvSpPr>
        <p:spPr bwMode="auto">
          <a:xfrm>
            <a:off x="6223000" y="2032000"/>
            <a:ext cx="927100" cy="3060700"/>
          </a:xfrm>
          <a:prstGeom prst="line">
            <a:avLst/>
          </a:prstGeom>
          <a:noFill/>
          <a:ln w="28575">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101383" name="Line 9"/>
          <p:cNvSpPr>
            <a:spLocks noChangeShapeType="1"/>
          </p:cNvSpPr>
          <p:nvPr/>
        </p:nvSpPr>
        <p:spPr bwMode="auto">
          <a:xfrm>
            <a:off x="1828800" y="1968500"/>
            <a:ext cx="139700" cy="673100"/>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101384" name="Line 10"/>
          <p:cNvSpPr>
            <a:spLocks noChangeShapeType="1"/>
          </p:cNvSpPr>
          <p:nvPr/>
        </p:nvSpPr>
        <p:spPr bwMode="auto">
          <a:xfrm>
            <a:off x="1828800" y="1981200"/>
            <a:ext cx="88900" cy="1549400"/>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101385" name="Line 11"/>
          <p:cNvSpPr>
            <a:spLocks noChangeShapeType="1"/>
          </p:cNvSpPr>
          <p:nvPr/>
        </p:nvSpPr>
        <p:spPr bwMode="auto">
          <a:xfrm>
            <a:off x="1841500" y="1993900"/>
            <a:ext cx="38100" cy="2425700"/>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101386" name="Line 12"/>
          <p:cNvSpPr>
            <a:spLocks noChangeShapeType="1"/>
          </p:cNvSpPr>
          <p:nvPr/>
        </p:nvSpPr>
        <p:spPr bwMode="auto">
          <a:xfrm>
            <a:off x="1828800" y="2006600"/>
            <a:ext cx="177800" cy="2971800"/>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101387" name="AutoShape 13"/>
          <p:cNvSpPr>
            <a:spLocks/>
          </p:cNvSpPr>
          <p:nvPr/>
        </p:nvSpPr>
        <p:spPr bwMode="auto">
          <a:xfrm>
            <a:off x="977900" y="1968500"/>
            <a:ext cx="114300" cy="2933700"/>
          </a:xfrm>
          <a:prstGeom prst="leftBrace">
            <a:avLst>
              <a:gd name="adj1" fmla="val 213889"/>
              <a:gd name="adj2" fmla="val 50000"/>
            </a:avLst>
          </a:prstGeom>
          <a:noFill/>
          <a:ln w="9525">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101388" name="Text Box 14"/>
          <p:cNvSpPr txBox="1">
            <a:spLocks noChangeArrowheads="1"/>
          </p:cNvSpPr>
          <p:nvPr/>
        </p:nvSpPr>
        <p:spPr bwMode="auto">
          <a:xfrm rot="-5400000">
            <a:off x="-787400" y="3189288"/>
            <a:ext cx="29368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r>
              <a:rPr lang="en-US" altLang="en-US" sz="2400">
                <a:solidFill>
                  <a:srgbClr val="0000FF"/>
                </a:solidFill>
                <a:latin typeface="Arial" charset="0"/>
                <a:ea typeface="ＭＳ Ｐゴシック" charset="-128"/>
              </a:rPr>
              <a:t>Note data dependencies</a:t>
            </a:r>
          </a:p>
        </p:txBody>
      </p:sp>
      <p:sp>
        <p:nvSpPr>
          <p:cNvPr id="101389" name="Rectangle 3"/>
          <p:cNvSpPr>
            <a:spLocks noGrp="1" noChangeArrowheads="1"/>
          </p:cNvSpPr>
          <p:nvPr>
            <p:ph type="body" idx="1"/>
          </p:nvPr>
        </p:nvSpPr>
        <p:spPr>
          <a:xfrm>
            <a:off x="0" y="5410200"/>
            <a:ext cx="7086600" cy="990600"/>
          </a:xfrm>
        </p:spPr>
        <p:txBody>
          <a:bodyPr/>
          <a:lstStyle/>
          <a:p>
            <a:pPr eaLnBrk="1" hangingPunct="1">
              <a:lnSpc>
                <a:spcPct val="90000"/>
              </a:lnSpc>
              <a:buFontTx/>
              <a:buNone/>
            </a:pPr>
            <a:r>
              <a:rPr lang="en-US" altLang="en-US" sz="1800">
                <a:solidFill>
                  <a:srgbClr val="FF0000"/>
                </a:solidFill>
                <a:latin typeface="Arial  " charset="0"/>
                <a:ea typeface="MS PGothic" charset="-128"/>
                <a:cs typeface="Arial  " charset="0"/>
              </a:rPr>
              <a:t>Red/dotted</a:t>
            </a:r>
            <a:r>
              <a:rPr lang="en-US" altLang="en-US" sz="1800">
                <a:latin typeface="Arial  " charset="0"/>
                <a:ea typeface="MS PGothic" charset="-128"/>
                <a:cs typeface="Arial  " charset="0"/>
              </a:rPr>
              <a:t>: Impossible to send information “back in time”.</a:t>
            </a:r>
          </a:p>
          <a:p>
            <a:pPr eaLnBrk="1" hangingPunct="1">
              <a:lnSpc>
                <a:spcPct val="90000"/>
              </a:lnSpc>
              <a:buFontTx/>
              <a:buNone/>
            </a:pPr>
            <a:r>
              <a:rPr lang="en-US" altLang="en-US" sz="1800">
                <a:solidFill>
                  <a:srgbClr val="00FF00"/>
                </a:solidFill>
                <a:latin typeface="Arial  " charset="0"/>
                <a:ea typeface="MS PGothic" charset="-128"/>
                <a:cs typeface="Arial  " charset="0"/>
              </a:rPr>
              <a:t>Green/solid</a:t>
            </a:r>
            <a:r>
              <a:rPr lang="en-US" altLang="en-US" sz="1800">
                <a:latin typeface="Arial  " charset="0"/>
                <a:ea typeface="MS PGothic" charset="-128"/>
                <a:cs typeface="Arial  " charset="0"/>
              </a:rPr>
              <a:t>: Can </a:t>
            </a:r>
            <a:r>
              <a:rPr lang="en-US" altLang="en-US" sz="1800" u="sng">
                <a:latin typeface="Arial  " charset="0"/>
                <a:ea typeface="MS PGothic" charset="-128"/>
                <a:cs typeface="Arial  " charset="0"/>
              </a:rPr>
              <a:t>potentially</a:t>
            </a:r>
            <a:r>
              <a:rPr lang="en-US" altLang="en-US" sz="1800">
                <a:latin typeface="Arial  " charset="0"/>
                <a:ea typeface="MS PGothic" charset="-128"/>
                <a:cs typeface="Arial  " charset="0"/>
              </a:rPr>
              <a:t> send information to other part of pipeline in same cycle or to a later cycle…  </a:t>
            </a:r>
            <a:r>
              <a:rPr lang="en-US" altLang="en-US" sz="1800" u="sng">
                <a:latin typeface="Arial  " charset="0"/>
                <a:ea typeface="MS PGothic" charset="-128"/>
                <a:cs typeface="Arial  " charset="0"/>
              </a:rPr>
              <a:t>requires hardware support</a:t>
            </a:r>
            <a:r>
              <a:rPr lang="en-US" altLang="en-US" sz="1800">
                <a:latin typeface="Arial  " charset="0"/>
                <a:ea typeface="MS PGothic" charset="-128"/>
                <a:cs typeface="Arial  " charset="0"/>
              </a:rPr>
              <a:t> and consideration of what can happen in a single clock cycle. </a:t>
            </a:r>
          </a:p>
        </p:txBody>
      </p:sp>
      <p:sp>
        <p:nvSpPr>
          <p:cNvPr id="101390" name="Slide Number Placeholder 17"/>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48B28EA8-2032-DB4F-AD0E-28F1781E254C}" type="slidenum">
              <a:rPr lang="en-US" altLang="en-US" sz="1400">
                <a:latin typeface="Comic Sans MS" charset="0"/>
                <a:ea typeface="ＭＳ Ｐゴシック" charset="-128"/>
              </a:rPr>
              <a:pPr>
                <a:spcBef>
                  <a:spcPct val="0"/>
                </a:spcBef>
                <a:buFontTx/>
                <a:buNone/>
              </a:pPr>
              <a:t>30</a:t>
            </a:fld>
            <a:r>
              <a:rPr lang="en-US" altLang="en-US" sz="1400">
                <a:latin typeface="Comic Sans MS" charset="0"/>
                <a:ea typeface="ＭＳ Ｐゴシック" charset="-128"/>
              </a:rPr>
              <a:t> </a:t>
            </a:r>
          </a:p>
        </p:txBody>
      </p:sp>
      <p:sp>
        <p:nvSpPr>
          <p:cNvPr id="101391" name="TextBox 18"/>
          <p:cNvSpPr txBox="1">
            <a:spLocks noChangeArrowheads="1"/>
          </p:cNvSpPr>
          <p:nvPr/>
        </p:nvSpPr>
        <p:spPr bwMode="auto">
          <a:xfrm>
            <a:off x="7162800" y="1447800"/>
            <a:ext cx="1828800" cy="9239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r>
              <a:rPr lang="en-US" altLang="en-US" sz="1800">
                <a:solidFill>
                  <a:srgbClr val="FF0000"/>
                </a:solidFill>
                <a:latin typeface="Arial" charset="0"/>
                <a:ea typeface="ＭＳ Ｐゴシック" charset="-128"/>
              </a:rPr>
              <a:t>“RAW hazards”</a:t>
            </a:r>
          </a:p>
          <a:p>
            <a:pPr>
              <a:spcBef>
                <a:spcPct val="0"/>
              </a:spcBef>
              <a:buFontTx/>
              <a:buNone/>
            </a:pPr>
            <a:r>
              <a:rPr lang="en-US" altLang="en-US" sz="1800">
                <a:solidFill>
                  <a:srgbClr val="FF0000"/>
                </a:solidFill>
                <a:latin typeface="Arial" charset="0"/>
                <a:ea typeface="ＭＳ Ｐゴシック" charset="-128"/>
              </a:rPr>
              <a:t>(read after write</a:t>
            </a:r>
          </a:p>
          <a:p>
            <a:pPr>
              <a:spcBef>
                <a:spcPct val="0"/>
              </a:spcBef>
              <a:buFontTx/>
              <a:buNone/>
            </a:pPr>
            <a:r>
              <a:rPr lang="en-US" altLang="en-US" sz="1800">
                <a:solidFill>
                  <a:srgbClr val="FF0000"/>
                </a:solidFill>
                <a:latin typeface="Arial" charset="0"/>
                <a:ea typeface="ＭＳ Ｐゴシック" charset="-128"/>
              </a:rPr>
              <a:t>hazard)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p:nvPr>
        </p:nvSpPr>
        <p:spPr>
          <a:xfrm>
            <a:off x="685800" y="0"/>
            <a:ext cx="7772400" cy="977900"/>
          </a:xfrm>
        </p:spPr>
        <p:txBody>
          <a:bodyPr/>
          <a:lstStyle/>
          <a:p>
            <a:pPr eaLnBrk="1" hangingPunct="1"/>
            <a:r>
              <a:rPr lang="en-US" altLang="en-US">
                <a:latin typeface="Arial  " charset="0"/>
                <a:ea typeface="MS PGothic" charset="-128"/>
                <a:cs typeface="Arial  " charset="0"/>
              </a:rPr>
              <a:t>Forwarding</a:t>
            </a:r>
          </a:p>
        </p:txBody>
      </p:sp>
      <p:pic>
        <p:nvPicPr>
          <p:cNvPr id="103426" name="Picture 4" descr="AppA-fig0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8988" y="892175"/>
            <a:ext cx="7265987" cy="515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7" name="Line 5"/>
          <p:cNvSpPr>
            <a:spLocks noChangeShapeType="1"/>
          </p:cNvSpPr>
          <p:nvPr/>
        </p:nvSpPr>
        <p:spPr bwMode="auto">
          <a:xfrm>
            <a:off x="4762500" y="1892300"/>
            <a:ext cx="254000" cy="1003300"/>
          </a:xfrm>
          <a:prstGeom prst="line">
            <a:avLst/>
          </a:prstGeom>
          <a:noFill/>
          <a:ln w="57150">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103428" name="Line 6"/>
          <p:cNvSpPr>
            <a:spLocks noChangeShapeType="1"/>
          </p:cNvSpPr>
          <p:nvPr/>
        </p:nvSpPr>
        <p:spPr bwMode="auto">
          <a:xfrm>
            <a:off x="5715000" y="1892300"/>
            <a:ext cx="228600" cy="1663700"/>
          </a:xfrm>
          <a:prstGeom prst="line">
            <a:avLst/>
          </a:prstGeom>
          <a:noFill/>
          <a:ln w="57150">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103429" name="Line 7"/>
          <p:cNvSpPr>
            <a:spLocks noChangeShapeType="1"/>
          </p:cNvSpPr>
          <p:nvPr/>
        </p:nvSpPr>
        <p:spPr bwMode="auto">
          <a:xfrm>
            <a:off x="6184900" y="1968500"/>
            <a:ext cx="12700" cy="2527300"/>
          </a:xfrm>
          <a:prstGeom prst="line">
            <a:avLst/>
          </a:prstGeom>
          <a:noFill/>
          <a:ln w="57150">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103430" name="Rectangle 3"/>
          <p:cNvSpPr>
            <a:spLocks noGrp="1" noChangeArrowheads="1"/>
          </p:cNvSpPr>
          <p:nvPr>
            <p:ph type="body" idx="1"/>
          </p:nvPr>
        </p:nvSpPr>
        <p:spPr>
          <a:xfrm>
            <a:off x="304800" y="5867400"/>
            <a:ext cx="8674100" cy="558800"/>
          </a:xfrm>
        </p:spPr>
        <p:txBody>
          <a:bodyPr/>
          <a:lstStyle/>
          <a:p>
            <a:pPr eaLnBrk="1" hangingPunct="1">
              <a:buFontTx/>
              <a:buNone/>
            </a:pPr>
            <a:r>
              <a:rPr lang="en-US" altLang="en-US" sz="2400">
                <a:solidFill>
                  <a:srgbClr val="FF0000"/>
                </a:solidFill>
                <a:latin typeface="Arial  " charset="0"/>
                <a:ea typeface="MS PGothic" charset="-128"/>
                <a:cs typeface="Arial  " charset="0"/>
              </a:rPr>
              <a:t>Note: forwarding always occurs </a:t>
            </a:r>
            <a:r>
              <a:rPr lang="en-US" altLang="en-US" sz="2400" u="sng">
                <a:solidFill>
                  <a:srgbClr val="FF0000"/>
                </a:solidFill>
                <a:latin typeface="Arial  " charset="0"/>
                <a:ea typeface="MS PGothic" charset="-128"/>
                <a:cs typeface="Arial  " charset="0"/>
              </a:rPr>
              <a:t>within a single clock cycle</a:t>
            </a:r>
            <a:r>
              <a:rPr lang="en-US" altLang="en-US" sz="2400">
                <a:solidFill>
                  <a:srgbClr val="FF0000"/>
                </a:solidFill>
                <a:latin typeface="Arial  " charset="0"/>
                <a:ea typeface="MS PGothic" charset="-128"/>
                <a:cs typeface="Arial  " charset="0"/>
              </a:rPr>
              <a:t>.</a:t>
            </a:r>
          </a:p>
        </p:txBody>
      </p:sp>
      <p:sp>
        <p:nvSpPr>
          <p:cNvPr id="103431" name="Line 8"/>
          <p:cNvSpPr>
            <a:spLocks noChangeShapeType="1"/>
          </p:cNvSpPr>
          <p:nvPr/>
        </p:nvSpPr>
        <p:spPr bwMode="auto">
          <a:xfrm>
            <a:off x="1638300" y="1930400"/>
            <a:ext cx="139700" cy="825500"/>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103432" name="Line 9"/>
          <p:cNvSpPr>
            <a:spLocks noChangeShapeType="1"/>
          </p:cNvSpPr>
          <p:nvPr/>
        </p:nvSpPr>
        <p:spPr bwMode="auto">
          <a:xfrm>
            <a:off x="1625600" y="1943100"/>
            <a:ext cx="63500" cy="1663700"/>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103433" name="Line 10"/>
          <p:cNvSpPr>
            <a:spLocks noChangeShapeType="1"/>
          </p:cNvSpPr>
          <p:nvPr/>
        </p:nvSpPr>
        <p:spPr bwMode="auto">
          <a:xfrm>
            <a:off x="1625600" y="1943100"/>
            <a:ext cx="25400" cy="2679700"/>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103434" name="Slide Number Placeholder 13"/>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1A66AE14-4A3B-3A43-A62C-6DD89A314A66}" type="slidenum">
              <a:rPr lang="en-US" altLang="en-US" sz="1400">
                <a:latin typeface="Comic Sans MS" charset="0"/>
                <a:ea typeface="ＭＳ Ｐゴシック" charset="-128"/>
              </a:rPr>
              <a:pPr>
                <a:spcBef>
                  <a:spcPct val="0"/>
                </a:spcBef>
                <a:buFontTx/>
                <a:buNone/>
              </a:pPr>
              <a:t>31</a:t>
            </a:fld>
            <a:r>
              <a:rPr lang="en-US" altLang="en-US" sz="1400">
                <a:latin typeface="Comic Sans MS" charset="0"/>
                <a:ea typeface="ＭＳ Ｐゴシック" charset="-128"/>
              </a:rPr>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p:cNvSpPr>
            <a:spLocks noGrp="1" noChangeArrowheads="1"/>
          </p:cNvSpPr>
          <p:nvPr>
            <p:ph type="title"/>
          </p:nvPr>
        </p:nvSpPr>
        <p:spPr/>
        <p:txBody>
          <a:bodyPr/>
          <a:lstStyle/>
          <a:p>
            <a:pPr eaLnBrk="1" hangingPunct="1"/>
            <a:r>
              <a:rPr lang="en-US" altLang="en-US">
                <a:latin typeface="Arial  " charset="0"/>
                <a:ea typeface="MS PGothic" charset="-128"/>
                <a:cs typeface="Arial  " charset="0"/>
              </a:rPr>
              <a:t>Forwarding Example #2</a:t>
            </a:r>
          </a:p>
        </p:txBody>
      </p:sp>
      <p:sp>
        <p:nvSpPr>
          <p:cNvPr id="105474" name="Rectangle 3"/>
          <p:cNvSpPr>
            <a:spLocks noGrp="1" noChangeArrowheads="1"/>
          </p:cNvSpPr>
          <p:nvPr>
            <p:ph type="body" idx="1"/>
          </p:nvPr>
        </p:nvSpPr>
        <p:spPr>
          <a:xfrm>
            <a:off x="698500" y="5283200"/>
            <a:ext cx="7772400" cy="1104900"/>
          </a:xfrm>
        </p:spPr>
        <p:txBody>
          <a:bodyPr/>
          <a:lstStyle/>
          <a:p>
            <a:pPr eaLnBrk="1" hangingPunct="1">
              <a:lnSpc>
                <a:spcPct val="70000"/>
              </a:lnSpc>
              <a:buFontTx/>
              <a:buNone/>
            </a:pPr>
            <a:r>
              <a:rPr lang="en-US" altLang="en-US" sz="2000">
                <a:latin typeface="Arial  " charset="0"/>
                <a:ea typeface="MS PGothic" charset="-128"/>
                <a:cs typeface="Arial  " charset="0"/>
              </a:rPr>
              <a:t>Questions:  </a:t>
            </a:r>
          </a:p>
          <a:p>
            <a:pPr eaLnBrk="1" hangingPunct="1">
              <a:lnSpc>
                <a:spcPct val="70000"/>
              </a:lnSpc>
              <a:buFontTx/>
              <a:buNone/>
            </a:pPr>
            <a:r>
              <a:rPr lang="en-US" altLang="en-US" sz="2000">
                <a:latin typeface="Arial  " charset="0"/>
                <a:ea typeface="MS PGothic" charset="-128"/>
                <a:cs typeface="Arial  " charset="0"/>
              </a:rPr>
              <a:t>1. How do we know a forwarding path is helpful?  </a:t>
            </a:r>
          </a:p>
          <a:p>
            <a:pPr eaLnBrk="1" hangingPunct="1">
              <a:lnSpc>
                <a:spcPct val="70000"/>
              </a:lnSpc>
              <a:buFontTx/>
              <a:buNone/>
            </a:pPr>
            <a:r>
              <a:rPr lang="en-US" altLang="en-US" sz="2000">
                <a:latin typeface="Arial  " charset="0"/>
                <a:ea typeface="MS PGothic" charset="-128"/>
                <a:cs typeface="Arial  " charset="0"/>
              </a:rPr>
              <a:t>2. How do we control the forwarding path?</a:t>
            </a:r>
            <a:endParaRPr lang="en-US" altLang="en-US" sz="2400">
              <a:latin typeface="Arial  " charset="0"/>
              <a:ea typeface="MS PGothic" charset="-128"/>
              <a:cs typeface="Arial  " charset="0"/>
            </a:endParaRPr>
          </a:p>
        </p:txBody>
      </p:sp>
      <p:pic>
        <p:nvPicPr>
          <p:cNvPr id="105475" name="Picture 4" descr="AppA-fig0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500" y="1039813"/>
            <a:ext cx="7958138" cy="425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476" name="Line 5"/>
          <p:cNvSpPr>
            <a:spLocks noChangeShapeType="1"/>
          </p:cNvSpPr>
          <p:nvPr/>
        </p:nvSpPr>
        <p:spPr bwMode="auto">
          <a:xfrm>
            <a:off x="4775200" y="2311400"/>
            <a:ext cx="292100" cy="800100"/>
          </a:xfrm>
          <a:prstGeom prst="line">
            <a:avLst/>
          </a:prstGeom>
          <a:noFill/>
          <a:ln w="57150">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105477" name="Line 6"/>
          <p:cNvSpPr>
            <a:spLocks noChangeShapeType="1"/>
          </p:cNvSpPr>
          <p:nvPr/>
        </p:nvSpPr>
        <p:spPr bwMode="auto">
          <a:xfrm>
            <a:off x="5880100" y="2311400"/>
            <a:ext cx="241300" cy="1803400"/>
          </a:xfrm>
          <a:prstGeom prst="line">
            <a:avLst/>
          </a:prstGeom>
          <a:noFill/>
          <a:ln w="57150">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105478" name="Line 7"/>
          <p:cNvSpPr>
            <a:spLocks noChangeShapeType="1"/>
          </p:cNvSpPr>
          <p:nvPr/>
        </p:nvSpPr>
        <p:spPr bwMode="auto">
          <a:xfrm>
            <a:off x="6972300" y="3213100"/>
            <a:ext cx="279400" cy="1054100"/>
          </a:xfrm>
          <a:prstGeom prst="line">
            <a:avLst/>
          </a:prstGeom>
          <a:noFill/>
          <a:ln w="57150">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105479" name="Line 8"/>
          <p:cNvSpPr>
            <a:spLocks noChangeShapeType="1"/>
          </p:cNvSpPr>
          <p:nvPr/>
        </p:nvSpPr>
        <p:spPr bwMode="auto">
          <a:xfrm>
            <a:off x="1231900" y="2235200"/>
            <a:ext cx="203200" cy="965200"/>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105480" name="Line 9"/>
          <p:cNvSpPr>
            <a:spLocks noChangeShapeType="1"/>
          </p:cNvSpPr>
          <p:nvPr/>
        </p:nvSpPr>
        <p:spPr bwMode="auto">
          <a:xfrm>
            <a:off x="1231900" y="2273300"/>
            <a:ext cx="190500" cy="1993900"/>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105481" name="Line 10"/>
          <p:cNvSpPr>
            <a:spLocks noChangeShapeType="1"/>
          </p:cNvSpPr>
          <p:nvPr/>
        </p:nvSpPr>
        <p:spPr bwMode="auto">
          <a:xfrm>
            <a:off x="1092200" y="3302000"/>
            <a:ext cx="25400" cy="876300"/>
          </a:xfrm>
          <a:prstGeom prst="line">
            <a:avLst/>
          </a:prstGeom>
          <a:noFill/>
          <a:ln w="952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105482" name="Slide Number Placeholder 13"/>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43C1E0B9-3F02-E64E-B18A-2D5C9BB37F30}" type="slidenum">
              <a:rPr lang="en-US" altLang="en-US" sz="1400">
                <a:latin typeface="Comic Sans MS" charset="0"/>
                <a:ea typeface="ＭＳ Ｐゴシック" charset="-128"/>
              </a:rPr>
              <a:pPr>
                <a:spcBef>
                  <a:spcPct val="0"/>
                </a:spcBef>
                <a:buFontTx/>
                <a:buNone/>
              </a:pPr>
              <a:t>32</a:t>
            </a:fld>
            <a:r>
              <a:rPr lang="en-US" altLang="en-US" sz="1400">
                <a:latin typeface="Comic Sans MS" charset="0"/>
                <a:ea typeface="ＭＳ Ｐゴシック" charset="-128"/>
              </a:rPr>
              <a: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Slide Number Placeholder 5"/>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A16962BF-9D4C-E04F-9D59-9F4A48CC1B06}" type="slidenum">
              <a:rPr lang="en-US" altLang="en-US" sz="1400">
                <a:latin typeface="Comic Sans MS" charset="0"/>
                <a:ea typeface="ＭＳ Ｐゴシック" charset="-128"/>
              </a:rPr>
              <a:pPr>
                <a:spcBef>
                  <a:spcPct val="0"/>
                </a:spcBef>
                <a:buFontTx/>
                <a:buNone/>
              </a:pPr>
              <a:t>33</a:t>
            </a:fld>
            <a:r>
              <a:rPr lang="en-US" altLang="en-US" sz="1400">
                <a:latin typeface="Comic Sans MS" charset="0"/>
                <a:ea typeface="ＭＳ Ｐゴシック" charset="-128"/>
              </a:rPr>
              <a:t> of 30</a:t>
            </a:r>
          </a:p>
        </p:txBody>
      </p:sp>
      <p:sp>
        <p:nvSpPr>
          <p:cNvPr id="107522" name="Rectangle 3"/>
          <p:cNvSpPr>
            <a:spLocks noGrp="1" noChangeArrowheads="1"/>
          </p:cNvSpPr>
          <p:nvPr>
            <p:ph type="body" idx="1"/>
          </p:nvPr>
        </p:nvSpPr>
        <p:spPr>
          <a:xfrm>
            <a:off x="685800" y="5664200"/>
            <a:ext cx="7772400" cy="495300"/>
          </a:xfrm>
        </p:spPr>
        <p:txBody>
          <a:bodyPr/>
          <a:lstStyle/>
          <a:p>
            <a:pPr>
              <a:lnSpc>
                <a:spcPct val="90000"/>
              </a:lnSpc>
            </a:pPr>
            <a:endParaRPr lang="en-US" altLang="en-US" sz="2400">
              <a:latin typeface="Arial  " charset="0"/>
              <a:ea typeface="MS PGothic" charset="-128"/>
              <a:cs typeface="Arial  " charset="0"/>
            </a:endParaRPr>
          </a:p>
        </p:txBody>
      </p:sp>
      <p:pic>
        <p:nvPicPr>
          <p:cNvPr id="107523" name="Picture 4" descr="AppA-fig0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988" y="868363"/>
            <a:ext cx="7716837" cy="531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524" name="Line 5"/>
          <p:cNvSpPr>
            <a:spLocks noChangeShapeType="1"/>
          </p:cNvSpPr>
          <p:nvPr/>
        </p:nvSpPr>
        <p:spPr bwMode="auto">
          <a:xfrm flipH="1">
            <a:off x="5829300" y="2146300"/>
            <a:ext cx="850900" cy="9144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107525" name="Line 6"/>
          <p:cNvSpPr>
            <a:spLocks noChangeShapeType="1"/>
          </p:cNvSpPr>
          <p:nvPr/>
        </p:nvSpPr>
        <p:spPr bwMode="auto">
          <a:xfrm>
            <a:off x="6680200" y="2146300"/>
            <a:ext cx="254000" cy="1981200"/>
          </a:xfrm>
          <a:prstGeom prst="line">
            <a:avLst/>
          </a:prstGeom>
          <a:noFill/>
          <a:ln w="57150">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107526" name="Line 7"/>
          <p:cNvSpPr>
            <a:spLocks noChangeShapeType="1"/>
          </p:cNvSpPr>
          <p:nvPr/>
        </p:nvSpPr>
        <p:spPr bwMode="auto">
          <a:xfrm>
            <a:off x="7251700" y="2247900"/>
            <a:ext cx="0" cy="2984500"/>
          </a:xfrm>
          <a:prstGeom prst="line">
            <a:avLst/>
          </a:prstGeom>
          <a:noFill/>
          <a:ln w="57150">
            <a:solidFill>
              <a:srgbClr val="00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CA"/>
          </a:p>
        </p:txBody>
      </p:sp>
      <p:sp>
        <p:nvSpPr>
          <p:cNvPr id="107527" name="Rectangle 2"/>
          <p:cNvSpPr>
            <a:spLocks noGrp="1" noChangeArrowheads="1"/>
          </p:cNvSpPr>
          <p:nvPr>
            <p:ph type="title"/>
          </p:nvPr>
        </p:nvSpPr>
        <p:spPr/>
        <p:txBody>
          <a:bodyPr/>
          <a:lstStyle/>
          <a:p>
            <a:r>
              <a:rPr lang="en-US" altLang="en-US" sz="3600">
                <a:latin typeface="Arial  " charset="0"/>
                <a:ea typeface="MS PGothic" charset="-128"/>
                <a:cs typeface="Arial  " charset="0"/>
              </a:rPr>
              <a:t>Unavoidable Stalls</a:t>
            </a:r>
            <a:endParaRPr lang="en-US" altLang="en-US">
              <a:latin typeface="Arial  " charset="0"/>
              <a:ea typeface="MS PGothic" charset="-128"/>
              <a:cs typeface="Arial  " charset="0"/>
            </a:endParaRPr>
          </a:p>
        </p:txBody>
      </p:sp>
      <p:sp>
        <p:nvSpPr>
          <p:cNvPr id="107528" name="TextBox 10"/>
          <p:cNvSpPr txBox="1">
            <a:spLocks noChangeArrowheads="1"/>
          </p:cNvSpPr>
          <p:nvPr/>
        </p:nvSpPr>
        <p:spPr bwMode="auto">
          <a:xfrm>
            <a:off x="2362200" y="4775200"/>
            <a:ext cx="3059113" cy="12001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r>
              <a:rPr lang="en-US" altLang="en-US" sz="2400">
                <a:solidFill>
                  <a:srgbClr val="FF0000"/>
                </a:solidFill>
                <a:latin typeface="Arial" charset="0"/>
                <a:ea typeface="ＭＳ Ｐゴシック" charset="-128"/>
              </a:rPr>
              <a:t>Forwarding cannot</a:t>
            </a:r>
          </a:p>
          <a:p>
            <a:pPr>
              <a:spcBef>
                <a:spcPct val="0"/>
              </a:spcBef>
              <a:buFontTx/>
              <a:buNone/>
            </a:pPr>
            <a:r>
              <a:rPr lang="en-US" altLang="en-US" sz="2400">
                <a:solidFill>
                  <a:srgbClr val="FF0000"/>
                </a:solidFill>
                <a:latin typeface="Arial" charset="0"/>
                <a:ea typeface="ＭＳ Ｐゴシック" charset="-128"/>
              </a:rPr>
              <a:t>eliminate stall for this</a:t>
            </a:r>
          </a:p>
          <a:p>
            <a:pPr>
              <a:spcBef>
                <a:spcPct val="0"/>
              </a:spcBef>
              <a:buFontTx/>
              <a:buNone/>
            </a:pPr>
            <a:r>
              <a:rPr lang="en-US" altLang="en-US" sz="2400">
                <a:solidFill>
                  <a:srgbClr val="FF0000"/>
                </a:solidFill>
                <a:latin typeface="Arial" charset="0"/>
                <a:ea typeface="ＭＳ Ｐゴシック" charset="-128"/>
              </a:rPr>
              <a:t>data hazard</a:t>
            </a:r>
          </a:p>
        </p:txBody>
      </p:sp>
      <p:sp>
        <p:nvSpPr>
          <p:cNvPr id="107529" name="Freeform 11"/>
          <p:cNvSpPr>
            <a:spLocks noChangeArrowheads="1"/>
          </p:cNvSpPr>
          <p:nvPr/>
        </p:nvSpPr>
        <p:spPr bwMode="auto">
          <a:xfrm>
            <a:off x="3352800" y="2365375"/>
            <a:ext cx="2959100" cy="2498725"/>
          </a:xfrm>
          <a:custGeom>
            <a:avLst/>
            <a:gdLst>
              <a:gd name="T0" fmla="*/ 0 w 2959100"/>
              <a:gd name="T1" fmla="*/ 2496307 h 2498790"/>
              <a:gd name="T2" fmla="*/ 50800 w 2959100"/>
              <a:gd name="T3" fmla="*/ 2306010 h 2498790"/>
              <a:gd name="T4" fmla="*/ 368300 w 2959100"/>
              <a:gd name="T5" fmla="*/ 1798504 h 2498790"/>
              <a:gd name="T6" fmla="*/ 482600 w 2959100"/>
              <a:gd name="T7" fmla="*/ 1633562 h 2498790"/>
              <a:gd name="T8" fmla="*/ 800100 w 2959100"/>
              <a:gd name="T9" fmla="*/ 1164150 h 2498790"/>
              <a:gd name="T10" fmla="*/ 1117600 w 2959100"/>
              <a:gd name="T11" fmla="*/ 846954 h 2498790"/>
              <a:gd name="T12" fmla="*/ 1257300 w 2959100"/>
              <a:gd name="T13" fmla="*/ 745468 h 2498790"/>
              <a:gd name="T14" fmla="*/ 1346200 w 2959100"/>
              <a:gd name="T15" fmla="*/ 656644 h 2498790"/>
              <a:gd name="T16" fmla="*/ 1485900 w 2959100"/>
              <a:gd name="T17" fmla="*/ 529758 h 2498790"/>
              <a:gd name="T18" fmla="*/ 1587500 w 2959100"/>
              <a:gd name="T19" fmla="*/ 415572 h 2498790"/>
              <a:gd name="T20" fmla="*/ 1651000 w 2959100"/>
              <a:gd name="T21" fmla="*/ 390210 h 2498790"/>
              <a:gd name="T22" fmla="*/ 1828800 w 2959100"/>
              <a:gd name="T23" fmla="*/ 288686 h 2498790"/>
              <a:gd name="T24" fmla="*/ 1905000 w 2959100"/>
              <a:gd name="T25" fmla="*/ 250624 h 2498790"/>
              <a:gd name="T26" fmla="*/ 2044700 w 2959100"/>
              <a:gd name="T27" fmla="*/ 174500 h 2498790"/>
              <a:gd name="T28" fmla="*/ 2273300 w 2959100"/>
              <a:gd name="T29" fmla="*/ 85714 h 2498790"/>
              <a:gd name="T30" fmla="*/ 2374900 w 2959100"/>
              <a:gd name="T31" fmla="*/ 60314 h 2498790"/>
              <a:gd name="T32" fmla="*/ 2514600 w 2959100"/>
              <a:gd name="T33" fmla="*/ 22252 h 2498790"/>
              <a:gd name="T34" fmla="*/ 2692400 w 2959100"/>
              <a:gd name="T35" fmla="*/ 34952 h 2498790"/>
              <a:gd name="T36" fmla="*/ 2844800 w 2959100"/>
              <a:gd name="T37" fmla="*/ 98376 h 2498790"/>
              <a:gd name="T38" fmla="*/ 2882900 w 2959100"/>
              <a:gd name="T39" fmla="*/ 123776 h 2498790"/>
              <a:gd name="T40" fmla="*/ 2933700 w 2959100"/>
              <a:gd name="T41" fmla="*/ 136438 h 2498790"/>
              <a:gd name="T42" fmla="*/ 2959100 w 2959100"/>
              <a:gd name="T43" fmla="*/ 149138 h 249879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959100"/>
              <a:gd name="T67" fmla="*/ 0 h 2498790"/>
              <a:gd name="T68" fmla="*/ 2959100 w 2959100"/>
              <a:gd name="T69" fmla="*/ 2498790 h 249879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959100" h="2498790">
                <a:moveTo>
                  <a:pt x="0" y="2498790"/>
                </a:moveTo>
                <a:cubicBezTo>
                  <a:pt x="16933" y="2435290"/>
                  <a:pt x="24382" y="2368465"/>
                  <a:pt x="50800" y="2308290"/>
                </a:cubicBezTo>
                <a:cubicBezTo>
                  <a:pt x="197489" y="1974166"/>
                  <a:pt x="191670" y="2038740"/>
                  <a:pt x="368300" y="1800290"/>
                </a:cubicBezTo>
                <a:cubicBezTo>
                  <a:pt x="408141" y="1746504"/>
                  <a:pt x="446313" y="1691435"/>
                  <a:pt x="482600" y="1635190"/>
                </a:cubicBezTo>
                <a:cubicBezTo>
                  <a:pt x="601711" y="1450567"/>
                  <a:pt x="650647" y="1333903"/>
                  <a:pt x="800100" y="1165290"/>
                </a:cubicBezTo>
                <a:cubicBezTo>
                  <a:pt x="899378" y="1053284"/>
                  <a:pt x="996556" y="935822"/>
                  <a:pt x="1117600" y="847790"/>
                </a:cubicBezTo>
                <a:cubicBezTo>
                  <a:pt x="1164167" y="813923"/>
                  <a:pt x="1213066" y="783052"/>
                  <a:pt x="1257300" y="746190"/>
                </a:cubicBezTo>
                <a:cubicBezTo>
                  <a:pt x="1289495" y="719361"/>
                  <a:pt x="1315490" y="685806"/>
                  <a:pt x="1346200" y="657290"/>
                </a:cubicBezTo>
                <a:cubicBezTo>
                  <a:pt x="1560364" y="458423"/>
                  <a:pt x="1341799" y="674391"/>
                  <a:pt x="1485900" y="530290"/>
                </a:cubicBezTo>
                <a:cubicBezTo>
                  <a:pt x="1508168" y="463485"/>
                  <a:pt x="1496523" y="476642"/>
                  <a:pt x="1587500" y="415990"/>
                </a:cubicBezTo>
                <a:cubicBezTo>
                  <a:pt x="1606468" y="403344"/>
                  <a:pt x="1630826" y="401208"/>
                  <a:pt x="1651000" y="390590"/>
                </a:cubicBezTo>
                <a:cubicBezTo>
                  <a:pt x="1711405" y="358798"/>
                  <a:pt x="1767746" y="319517"/>
                  <a:pt x="1828800" y="288990"/>
                </a:cubicBezTo>
                <a:cubicBezTo>
                  <a:pt x="1854200" y="276290"/>
                  <a:pt x="1880069" y="264488"/>
                  <a:pt x="1905000" y="250890"/>
                </a:cubicBezTo>
                <a:cubicBezTo>
                  <a:pt x="1974783" y="212827"/>
                  <a:pt x="1967208" y="206978"/>
                  <a:pt x="2044700" y="174690"/>
                </a:cubicBezTo>
                <a:cubicBezTo>
                  <a:pt x="2120170" y="143244"/>
                  <a:pt x="2193982" y="105620"/>
                  <a:pt x="2273300" y="85790"/>
                </a:cubicBezTo>
                <a:lnTo>
                  <a:pt x="2374900" y="60390"/>
                </a:lnTo>
                <a:cubicBezTo>
                  <a:pt x="2601363" y="0"/>
                  <a:pt x="2365497" y="59566"/>
                  <a:pt x="2514600" y="22290"/>
                </a:cubicBezTo>
                <a:cubicBezTo>
                  <a:pt x="2573867" y="26523"/>
                  <a:pt x="2633346" y="28428"/>
                  <a:pt x="2692400" y="34990"/>
                </a:cubicBezTo>
                <a:cubicBezTo>
                  <a:pt x="2741841" y="40483"/>
                  <a:pt x="2810224" y="75439"/>
                  <a:pt x="2844800" y="98490"/>
                </a:cubicBezTo>
                <a:cubicBezTo>
                  <a:pt x="2857500" y="106957"/>
                  <a:pt x="2868871" y="117877"/>
                  <a:pt x="2882900" y="123890"/>
                </a:cubicBezTo>
                <a:cubicBezTo>
                  <a:pt x="2898943" y="130766"/>
                  <a:pt x="2917141" y="131070"/>
                  <a:pt x="2933700" y="136590"/>
                </a:cubicBezTo>
                <a:cubicBezTo>
                  <a:pt x="2942680" y="139583"/>
                  <a:pt x="2950633" y="145057"/>
                  <a:pt x="2959100" y="149290"/>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CA"/>
          </a:p>
        </p:txBody>
      </p:sp>
      <p:cxnSp>
        <p:nvCxnSpPr>
          <p:cNvPr id="107530" name="Straight Connector 13"/>
          <p:cNvCxnSpPr>
            <a:cxnSpLocks noChangeShapeType="1"/>
          </p:cNvCxnSpPr>
          <p:nvPr/>
        </p:nvCxnSpPr>
        <p:spPr bwMode="auto">
          <a:xfrm rot="16200000" flipH="1">
            <a:off x="1225550" y="2546350"/>
            <a:ext cx="901700" cy="304800"/>
          </a:xfrm>
          <a:prstGeom prst="line">
            <a:avLst/>
          </a:prstGeom>
          <a:noFill/>
          <a:ln w="9525">
            <a:solidFill>
              <a:srgbClr val="0000FF"/>
            </a:solidFill>
            <a:round/>
            <a:headEnd/>
            <a:tailEnd type="stealth" w="med" len="med"/>
          </a:ln>
          <a:extLst>
            <a:ext uri="{909E8E84-426E-40DD-AFC4-6F175D3DCCD1}">
              <a14:hiddenFill xmlns:a14="http://schemas.microsoft.com/office/drawing/2010/main">
                <a:noFill/>
              </a14:hiddenFill>
            </a:ext>
          </a:extLst>
        </p:spPr>
      </p:cxnSp>
      <p:cxnSp>
        <p:nvCxnSpPr>
          <p:cNvPr id="107531" name="Straight Connector 14"/>
          <p:cNvCxnSpPr>
            <a:cxnSpLocks noChangeShapeType="1"/>
          </p:cNvCxnSpPr>
          <p:nvPr/>
        </p:nvCxnSpPr>
        <p:spPr bwMode="auto">
          <a:xfrm rot="16200000" flipH="1">
            <a:off x="628650" y="3117850"/>
            <a:ext cx="1968500" cy="228600"/>
          </a:xfrm>
          <a:prstGeom prst="line">
            <a:avLst/>
          </a:prstGeom>
          <a:noFill/>
          <a:ln w="9525">
            <a:solidFill>
              <a:srgbClr val="0000FF"/>
            </a:solidFill>
            <a:round/>
            <a:headEnd/>
            <a:tailEnd type="stealth" w="med" len="med"/>
          </a:ln>
          <a:extLst>
            <a:ext uri="{909E8E84-426E-40DD-AFC4-6F175D3DCCD1}">
              <a14:hiddenFill xmlns:a14="http://schemas.microsoft.com/office/drawing/2010/main">
                <a:noFill/>
              </a14:hiddenFill>
            </a:ext>
          </a:extLst>
        </p:spPr>
      </p:cxnSp>
      <p:cxnSp>
        <p:nvCxnSpPr>
          <p:cNvPr id="107532" name="Straight Connector 16"/>
          <p:cNvCxnSpPr>
            <a:cxnSpLocks noChangeShapeType="1"/>
          </p:cNvCxnSpPr>
          <p:nvPr/>
        </p:nvCxnSpPr>
        <p:spPr bwMode="auto">
          <a:xfrm rot="16200000" flipH="1">
            <a:off x="38100" y="3708400"/>
            <a:ext cx="3073400" cy="203200"/>
          </a:xfrm>
          <a:prstGeom prst="line">
            <a:avLst/>
          </a:prstGeom>
          <a:noFill/>
          <a:ln w="9525">
            <a:solidFill>
              <a:srgbClr val="0000FF"/>
            </a:solidFill>
            <a:round/>
            <a:headEnd/>
            <a:tailEnd type="stealth" w="med" len="med"/>
          </a:ln>
          <a:extLst>
            <a:ext uri="{909E8E84-426E-40DD-AFC4-6F175D3DCCD1}">
              <a14:hiddenFill xmlns:a14="http://schemas.microsoft.com/office/drawing/2010/main">
                <a:noFill/>
              </a14:hiddenFill>
            </a:ext>
          </a:extLst>
        </p:spPr>
      </p:cxnSp>
      <p:sp>
        <p:nvSpPr>
          <p:cNvPr id="107533" name="Text Box 187"/>
          <p:cNvSpPr txBox="1">
            <a:spLocks noChangeArrowheads="1"/>
          </p:cNvSpPr>
          <p:nvPr/>
        </p:nvSpPr>
        <p:spPr bwMode="auto">
          <a:xfrm>
            <a:off x="6862763" y="1206500"/>
            <a:ext cx="2281237" cy="83026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r>
              <a:rPr lang="en-US" altLang="en-US" sz="2400">
                <a:solidFill>
                  <a:srgbClr val="FF0000"/>
                </a:solidFill>
                <a:latin typeface="Comic Sans MS" charset="0"/>
                <a:ea typeface="ＭＳ Ｐゴシック" charset="-128"/>
              </a:rPr>
              <a:t> Can’t do this. </a:t>
            </a:r>
            <a:r>
              <a:rPr lang="en-US" altLang="en-US" sz="2400" u="sng">
                <a:solidFill>
                  <a:srgbClr val="FF0000"/>
                </a:solidFill>
                <a:latin typeface="Comic Sans MS" charset="0"/>
                <a:ea typeface="ＭＳ Ｐゴシック" charset="-128"/>
              </a:rPr>
              <a:t>Why?</a:t>
            </a:r>
            <a:endParaRPr lang="en-US" altLang="en-US" sz="2400" u="sng">
              <a:solidFill>
                <a:srgbClr val="FF0000"/>
              </a:solidFill>
              <a:latin typeface="Arial" charset="0"/>
              <a:ea typeface="ＭＳ Ｐゴシック" charset="-128"/>
            </a:endParaRPr>
          </a:p>
        </p:txBody>
      </p:sp>
      <p:sp>
        <p:nvSpPr>
          <p:cNvPr id="107534" name="Freeform 20"/>
          <p:cNvSpPr>
            <a:spLocks noChangeArrowheads="1"/>
          </p:cNvSpPr>
          <p:nvPr/>
        </p:nvSpPr>
        <p:spPr bwMode="auto">
          <a:xfrm>
            <a:off x="6362700" y="1549400"/>
            <a:ext cx="533400" cy="863600"/>
          </a:xfrm>
          <a:custGeom>
            <a:avLst/>
            <a:gdLst>
              <a:gd name="T0" fmla="*/ 533400 w 533400"/>
              <a:gd name="T1" fmla="*/ 0 h 863600"/>
              <a:gd name="T2" fmla="*/ 330200 w 533400"/>
              <a:gd name="T3" fmla="*/ 50800 h 863600"/>
              <a:gd name="T4" fmla="*/ 266700 w 533400"/>
              <a:gd name="T5" fmla="*/ 88900 h 863600"/>
              <a:gd name="T6" fmla="*/ 215900 w 533400"/>
              <a:gd name="T7" fmla="*/ 114300 h 863600"/>
              <a:gd name="T8" fmla="*/ 165100 w 533400"/>
              <a:gd name="T9" fmla="*/ 152400 h 863600"/>
              <a:gd name="T10" fmla="*/ 114300 w 533400"/>
              <a:gd name="T11" fmla="*/ 165100 h 863600"/>
              <a:gd name="T12" fmla="*/ 25400 w 533400"/>
              <a:gd name="T13" fmla="*/ 254000 h 863600"/>
              <a:gd name="T14" fmla="*/ 12700 w 533400"/>
              <a:gd name="T15" fmla="*/ 304800 h 863600"/>
              <a:gd name="T16" fmla="*/ 0 w 533400"/>
              <a:gd name="T17" fmla="*/ 342900 h 863600"/>
              <a:gd name="T18" fmla="*/ 12700 w 533400"/>
              <a:gd name="T19" fmla="*/ 482600 h 863600"/>
              <a:gd name="T20" fmla="*/ 25400 w 533400"/>
              <a:gd name="T21" fmla="*/ 863600 h 8636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3400"/>
              <a:gd name="T34" fmla="*/ 0 h 863600"/>
              <a:gd name="T35" fmla="*/ 533400 w 533400"/>
              <a:gd name="T36" fmla="*/ 863600 h 8636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3400" h="863600">
                <a:moveTo>
                  <a:pt x="533400" y="0"/>
                </a:moveTo>
                <a:cubicBezTo>
                  <a:pt x="470103" y="12659"/>
                  <a:pt x="391568" y="22906"/>
                  <a:pt x="330200" y="50800"/>
                </a:cubicBezTo>
                <a:cubicBezTo>
                  <a:pt x="307728" y="61014"/>
                  <a:pt x="288278" y="76912"/>
                  <a:pt x="266700" y="88900"/>
                </a:cubicBezTo>
                <a:cubicBezTo>
                  <a:pt x="250150" y="98094"/>
                  <a:pt x="231954" y="104266"/>
                  <a:pt x="215900" y="114300"/>
                </a:cubicBezTo>
                <a:cubicBezTo>
                  <a:pt x="197951" y="125518"/>
                  <a:pt x="184032" y="142934"/>
                  <a:pt x="165100" y="152400"/>
                </a:cubicBezTo>
                <a:cubicBezTo>
                  <a:pt x="149488" y="160206"/>
                  <a:pt x="131233" y="160867"/>
                  <a:pt x="114300" y="165100"/>
                </a:cubicBezTo>
                <a:cubicBezTo>
                  <a:pt x="73660" y="195580"/>
                  <a:pt x="49107" y="206587"/>
                  <a:pt x="25400" y="254000"/>
                </a:cubicBezTo>
                <a:cubicBezTo>
                  <a:pt x="17594" y="269612"/>
                  <a:pt x="17495" y="288017"/>
                  <a:pt x="12700" y="304800"/>
                </a:cubicBezTo>
                <a:cubicBezTo>
                  <a:pt x="9022" y="317672"/>
                  <a:pt x="4233" y="330200"/>
                  <a:pt x="0" y="342900"/>
                </a:cubicBezTo>
                <a:cubicBezTo>
                  <a:pt x="4233" y="389467"/>
                  <a:pt x="10242" y="435906"/>
                  <a:pt x="12700" y="482600"/>
                </a:cubicBezTo>
                <a:cubicBezTo>
                  <a:pt x="25870" y="732831"/>
                  <a:pt x="25400" y="722820"/>
                  <a:pt x="25400" y="863600"/>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CA"/>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Slide Number Placeholder 5"/>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2890F703-B72A-E442-8A74-98C158C66C6F}" type="slidenum">
              <a:rPr lang="en-US" altLang="en-US" sz="1400">
                <a:latin typeface="Comic Sans MS" charset="0"/>
                <a:ea typeface="ＭＳ Ｐゴシック" charset="-128"/>
              </a:rPr>
              <a:pPr>
                <a:spcBef>
                  <a:spcPct val="0"/>
                </a:spcBef>
                <a:buFontTx/>
                <a:buNone/>
              </a:pPr>
              <a:t>34</a:t>
            </a:fld>
            <a:r>
              <a:rPr lang="en-US" altLang="en-US" sz="1400">
                <a:latin typeface="Comic Sans MS" charset="0"/>
                <a:ea typeface="ＭＳ Ｐゴシック" charset="-128"/>
              </a:rPr>
              <a:t> of 30</a:t>
            </a:r>
          </a:p>
        </p:txBody>
      </p:sp>
      <p:sp>
        <p:nvSpPr>
          <p:cNvPr id="109570" name="Rectangle 2"/>
          <p:cNvSpPr>
            <a:spLocks noGrp="1" noChangeArrowheads="1"/>
          </p:cNvSpPr>
          <p:nvPr>
            <p:ph type="title"/>
          </p:nvPr>
        </p:nvSpPr>
        <p:spPr/>
        <p:txBody>
          <a:bodyPr/>
          <a:lstStyle/>
          <a:p>
            <a:pPr eaLnBrk="1" hangingPunct="1"/>
            <a:r>
              <a:rPr lang="en-US" altLang="en-US">
                <a:latin typeface="Arial  " charset="0"/>
                <a:ea typeface="MS PGothic" charset="-128"/>
                <a:cs typeface="Arial  " charset="0"/>
              </a:rPr>
              <a:t>Control Hazards</a:t>
            </a:r>
          </a:p>
        </p:txBody>
      </p:sp>
      <p:sp>
        <p:nvSpPr>
          <p:cNvPr id="109571" name="Rectangle 3"/>
          <p:cNvSpPr>
            <a:spLocks noGrp="1" noChangeArrowheads="1"/>
          </p:cNvSpPr>
          <p:nvPr>
            <p:ph type="body" idx="1"/>
          </p:nvPr>
        </p:nvSpPr>
        <p:spPr>
          <a:xfrm>
            <a:off x="611188" y="1484313"/>
            <a:ext cx="7772400" cy="3313112"/>
          </a:xfrm>
        </p:spPr>
        <p:txBody>
          <a:bodyPr/>
          <a:lstStyle/>
          <a:p>
            <a:pPr eaLnBrk="1" hangingPunct="1"/>
            <a:r>
              <a:rPr lang="en-US" altLang="en-US" sz="1800">
                <a:latin typeface="Arial  " charset="0"/>
                <a:ea typeface="MS PGothic" charset="-128"/>
                <a:cs typeface="Arial  " charset="0"/>
              </a:rPr>
              <a:t>Branch may or may not change program counter (PC). </a:t>
            </a:r>
          </a:p>
          <a:p>
            <a:pPr eaLnBrk="1" hangingPunct="1"/>
            <a:endParaRPr lang="en-US" altLang="en-US" sz="1800">
              <a:latin typeface="Arial  " charset="0"/>
              <a:ea typeface="MS PGothic" charset="-128"/>
              <a:cs typeface="Arial  " charset="0"/>
            </a:endParaRPr>
          </a:p>
          <a:p>
            <a:pPr eaLnBrk="1" hangingPunct="1"/>
            <a:r>
              <a:rPr lang="en-US" altLang="en-US" sz="1800">
                <a:latin typeface="Arial  " charset="0"/>
                <a:ea typeface="MS PGothic" charset="-128"/>
                <a:cs typeface="Arial  " charset="0"/>
              </a:rPr>
              <a:t>Therefore, which instruction should follow a branch depends upon the result of </a:t>
            </a:r>
            <a:r>
              <a:rPr lang="en-US" altLang="en-US" sz="1800" u="sng">
                <a:latin typeface="Arial  " charset="0"/>
                <a:ea typeface="MS PGothic" charset="-128"/>
                <a:cs typeface="Arial  " charset="0"/>
              </a:rPr>
              <a:t>executing</a:t>
            </a:r>
            <a:r>
              <a:rPr lang="en-US" altLang="en-US" sz="1800">
                <a:latin typeface="Arial  " charset="0"/>
                <a:ea typeface="MS PGothic" charset="-128"/>
                <a:cs typeface="Arial  " charset="0"/>
              </a:rPr>
              <a:t> the branch instruction.</a:t>
            </a:r>
          </a:p>
          <a:p>
            <a:pPr eaLnBrk="1" hangingPunct="1"/>
            <a:endParaRPr lang="en-US" altLang="en-US" sz="1100">
              <a:latin typeface="Arial  " charset="0"/>
              <a:ea typeface="MS PGothic" charset="-128"/>
              <a:cs typeface="Arial  " charset="0"/>
            </a:endParaRPr>
          </a:p>
          <a:p>
            <a:pPr eaLnBrk="1" hangingPunct="1"/>
            <a:r>
              <a:rPr lang="en-US" altLang="en-US" sz="1800">
                <a:latin typeface="Arial  " charset="0"/>
                <a:ea typeface="MS PGothic" charset="-128"/>
                <a:cs typeface="Arial  " charset="0"/>
              </a:rPr>
              <a:t>Result of branch typically known by end of EX (or ID).</a:t>
            </a:r>
          </a:p>
          <a:p>
            <a:pPr eaLnBrk="1" hangingPunct="1"/>
            <a:endParaRPr lang="en-US" altLang="en-US" sz="1400">
              <a:latin typeface="Arial  " charset="0"/>
              <a:ea typeface="MS PGothic" charset="-128"/>
              <a:cs typeface="Arial  "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2"/>
          <p:cNvSpPr>
            <a:spLocks noGrp="1" noChangeArrowheads="1"/>
          </p:cNvSpPr>
          <p:nvPr>
            <p:ph type="title"/>
          </p:nvPr>
        </p:nvSpPr>
        <p:spPr/>
        <p:txBody>
          <a:bodyPr/>
          <a:lstStyle/>
          <a:p>
            <a:pPr eaLnBrk="1" hangingPunct="1"/>
            <a:r>
              <a:rPr lang="en-US" altLang="en-US">
                <a:latin typeface="Arial  " charset="0"/>
                <a:ea typeface="MS PGothic" charset="-128"/>
                <a:cs typeface="Arial  " charset="0"/>
              </a:rPr>
              <a:t>Option 1: Stall</a:t>
            </a:r>
          </a:p>
        </p:txBody>
      </p:sp>
      <p:sp>
        <p:nvSpPr>
          <p:cNvPr id="110594" name="Rectangle 3"/>
          <p:cNvSpPr>
            <a:spLocks noGrp="1" noChangeArrowheads="1"/>
          </p:cNvSpPr>
          <p:nvPr>
            <p:ph type="body" idx="1"/>
          </p:nvPr>
        </p:nvSpPr>
        <p:spPr>
          <a:xfrm>
            <a:off x="250825" y="1628775"/>
            <a:ext cx="8458200" cy="2952750"/>
          </a:xfrm>
        </p:spPr>
        <p:txBody>
          <a:bodyPr/>
          <a:lstStyle/>
          <a:p>
            <a:pPr eaLnBrk="1" hangingPunct="1">
              <a:buFontTx/>
              <a:buNone/>
            </a:pPr>
            <a:r>
              <a:rPr lang="en-US" altLang="en-US" sz="1800" dirty="0">
                <a:latin typeface="Arial  " charset="0"/>
                <a:ea typeface="MS PGothic" charset="-128"/>
                <a:cs typeface="Arial  " charset="0"/>
              </a:rPr>
              <a:t>First, let’s define some terminology:</a:t>
            </a:r>
          </a:p>
          <a:p>
            <a:pPr eaLnBrk="1" hangingPunct="1">
              <a:buFontTx/>
              <a:buNone/>
            </a:pPr>
            <a:endParaRPr lang="en-US" altLang="en-US" sz="1800" dirty="0">
              <a:latin typeface="Arial  " charset="0"/>
              <a:ea typeface="MS PGothic" charset="-128"/>
              <a:cs typeface="Arial  " charset="0"/>
            </a:endParaRPr>
          </a:p>
          <a:p>
            <a:pPr eaLnBrk="1" hangingPunct="1">
              <a:buFontTx/>
              <a:buNone/>
            </a:pPr>
            <a:endParaRPr lang="en-US" altLang="en-US" sz="1800" dirty="0">
              <a:latin typeface="Arial  " charset="0"/>
              <a:ea typeface="MS PGothic" charset="-128"/>
              <a:cs typeface="Arial  " charset="0"/>
            </a:endParaRPr>
          </a:p>
          <a:p>
            <a:pPr eaLnBrk="1" hangingPunct="1">
              <a:buFontTx/>
              <a:buNone/>
            </a:pPr>
            <a:r>
              <a:rPr lang="en-US" altLang="en-US" sz="1800" dirty="0">
                <a:latin typeface="Arial  " charset="0"/>
                <a:ea typeface="MS PGothic" charset="-128"/>
                <a:cs typeface="Arial  " charset="0"/>
              </a:rPr>
              <a:t>		BNEZ	x1, Label    ; </a:t>
            </a:r>
            <a:r>
              <a:rPr lang="en-US" altLang="en-US" sz="1800" b="1" dirty="0">
                <a:solidFill>
                  <a:srgbClr val="FF0000"/>
                </a:solidFill>
                <a:latin typeface="Arial  " charset="0"/>
                <a:ea typeface="MS PGothic" charset="-128"/>
                <a:cs typeface="Arial  " charset="0"/>
              </a:rPr>
              <a:t>branch instruction</a:t>
            </a:r>
          </a:p>
          <a:p>
            <a:pPr eaLnBrk="1" hangingPunct="1">
              <a:buFontTx/>
              <a:buNone/>
            </a:pPr>
            <a:r>
              <a:rPr lang="en-US" altLang="en-US" sz="1800" dirty="0">
                <a:latin typeface="Arial  " charset="0"/>
                <a:ea typeface="MS PGothic" charset="-128"/>
                <a:cs typeface="Arial  " charset="0"/>
              </a:rPr>
              <a:t>		DADD	x1,x2,x3    ; </a:t>
            </a:r>
            <a:r>
              <a:rPr lang="en-US" altLang="en-US" sz="1800" b="1" u="sng" dirty="0">
                <a:latin typeface="Arial  " charset="0"/>
                <a:ea typeface="MS PGothic" charset="-128"/>
                <a:cs typeface="Arial  " charset="0"/>
              </a:rPr>
              <a:t>branch successor</a:t>
            </a:r>
            <a:r>
              <a:rPr lang="en-US" altLang="en-US" sz="1800" b="1" dirty="0">
                <a:latin typeface="Arial  " charset="0"/>
                <a:ea typeface="MS PGothic" charset="-128"/>
                <a:cs typeface="Arial  " charset="0"/>
              </a:rPr>
              <a:t>  for “not taken” branch</a:t>
            </a:r>
          </a:p>
          <a:p>
            <a:pPr eaLnBrk="1" hangingPunct="1">
              <a:buFontTx/>
              <a:buNone/>
            </a:pPr>
            <a:r>
              <a:rPr lang="en-US" altLang="en-US" sz="1800" dirty="0">
                <a:latin typeface="Arial  " charset="0"/>
                <a:ea typeface="MS PGothic" charset="-128"/>
                <a:cs typeface="Arial  " charset="0"/>
              </a:rPr>
              <a:t>		LD	x1,0(x2)</a:t>
            </a:r>
          </a:p>
          <a:p>
            <a:pPr eaLnBrk="1" hangingPunct="1">
              <a:buFontTx/>
              <a:buNone/>
            </a:pPr>
            <a:r>
              <a:rPr lang="en-US" altLang="en-US" sz="1800" dirty="0">
                <a:latin typeface="Arial  " charset="0"/>
                <a:ea typeface="MS PGothic" charset="-128"/>
                <a:cs typeface="Arial  " charset="0"/>
              </a:rPr>
              <a:t>		…</a:t>
            </a:r>
          </a:p>
          <a:p>
            <a:pPr eaLnBrk="1" hangingPunct="1">
              <a:buFontTx/>
              <a:buNone/>
            </a:pPr>
            <a:r>
              <a:rPr lang="en-US" altLang="en-US" sz="1800" dirty="0">
                <a:latin typeface="Arial  " charset="0"/>
                <a:ea typeface="MS PGothic" charset="-128"/>
                <a:cs typeface="Arial  " charset="0"/>
              </a:rPr>
              <a:t>Label:	DSUB	x1,x2,x3    ; </a:t>
            </a:r>
            <a:r>
              <a:rPr lang="en-US" altLang="en-US" sz="1800" b="1" u="sng" dirty="0">
                <a:latin typeface="Arial  " charset="0"/>
                <a:ea typeface="MS PGothic" charset="-128"/>
                <a:cs typeface="Arial  " charset="0"/>
              </a:rPr>
              <a:t>branch successor</a:t>
            </a:r>
            <a:r>
              <a:rPr lang="en-US" altLang="en-US" sz="1800" b="1" dirty="0">
                <a:latin typeface="Arial  " charset="0"/>
                <a:ea typeface="MS PGothic" charset="-128"/>
                <a:cs typeface="Arial  " charset="0"/>
              </a:rPr>
              <a:t>  for “taken” branch</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2"/>
          <p:cNvSpPr>
            <a:spLocks noGrp="1" noChangeArrowheads="1"/>
          </p:cNvSpPr>
          <p:nvPr>
            <p:ph type="title"/>
          </p:nvPr>
        </p:nvSpPr>
        <p:spPr/>
        <p:txBody>
          <a:bodyPr/>
          <a:lstStyle/>
          <a:p>
            <a:pPr eaLnBrk="1" hangingPunct="1"/>
            <a:r>
              <a:rPr lang="en-US" altLang="en-US">
                <a:latin typeface="Arial  " charset="0"/>
                <a:ea typeface="MS PGothic" charset="-128"/>
                <a:cs typeface="Arial  " charset="0"/>
              </a:rPr>
              <a:t>Option 1: Stall</a:t>
            </a:r>
          </a:p>
        </p:txBody>
      </p:sp>
      <p:graphicFrame>
        <p:nvGraphicFramePr>
          <p:cNvPr id="218216" name="Group 104"/>
          <p:cNvGraphicFramePr>
            <a:graphicFrameLocks noGrp="1"/>
          </p:cNvGraphicFramePr>
          <p:nvPr/>
        </p:nvGraphicFramePr>
        <p:xfrm>
          <a:off x="533400" y="1143000"/>
          <a:ext cx="8085138" cy="2108205"/>
        </p:xfrm>
        <a:graphic>
          <a:graphicData uri="http://schemas.openxmlformats.org/drawingml/2006/table">
            <a:tbl>
              <a:tblPr/>
              <a:tblGrid>
                <a:gridCol w="2078038">
                  <a:extLst>
                    <a:ext uri="{9D8B030D-6E8A-4147-A177-3AD203B41FA5}">
                      <a16:colId xmlns:a16="http://schemas.microsoft.com/office/drawing/2014/main" val="20000"/>
                    </a:ext>
                  </a:extLst>
                </a:gridCol>
                <a:gridCol w="674687">
                  <a:extLst>
                    <a:ext uri="{9D8B030D-6E8A-4147-A177-3AD203B41FA5}">
                      <a16:colId xmlns:a16="http://schemas.microsoft.com/office/drawing/2014/main" val="20001"/>
                    </a:ext>
                  </a:extLst>
                </a:gridCol>
                <a:gridCol w="730250">
                  <a:extLst>
                    <a:ext uri="{9D8B030D-6E8A-4147-A177-3AD203B41FA5}">
                      <a16:colId xmlns:a16="http://schemas.microsoft.com/office/drawing/2014/main" val="20002"/>
                    </a:ext>
                  </a:extLst>
                </a:gridCol>
                <a:gridCol w="769938">
                  <a:extLst>
                    <a:ext uri="{9D8B030D-6E8A-4147-A177-3AD203B41FA5}">
                      <a16:colId xmlns:a16="http://schemas.microsoft.com/office/drawing/2014/main" val="20003"/>
                    </a:ext>
                  </a:extLst>
                </a:gridCol>
                <a:gridCol w="788987">
                  <a:extLst>
                    <a:ext uri="{9D8B030D-6E8A-4147-A177-3AD203B41FA5}">
                      <a16:colId xmlns:a16="http://schemas.microsoft.com/office/drawing/2014/main" val="20004"/>
                    </a:ext>
                  </a:extLst>
                </a:gridCol>
                <a:gridCol w="769938">
                  <a:extLst>
                    <a:ext uri="{9D8B030D-6E8A-4147-A177-3AD203B41FA5}">
                      <a16:colId xmlns:a16="http://schemas.microsoft.com/office/drawing/2014/main" val="20005"/>
                    </a:ext>
                  </a:extLst>
                </a:gridCol>
                <a:gridCol w="711200">
                  <a:extLst>
                    <a:ext uri="{9D8B030D-6E8A-4147-A177-3AD203B41FA5}">
                      <a16:colId xmlns:a16="http://schemas.microsoft.com/office/drawing/2014/main" val="20006"/>
                    </a:ext>
                  </a:extLst>
                </a:gridCol>
                <a:gridCol w="788987">
                  <a:extLst>
                    <a:ext uri="{9D8B030D-6E8A-4147-A177-3AD203B41FA5}">
                      <a16:colId xmlns:a16="http://schemas.microsoft.com/office/drawing/2014/main" val="20007"/>
                    </a:ext>
                  </a:extLst>
                </a:gridCol>
                <a:gridCol w="773113">
                  <a:extLst>
                    <a:ext uri="{9D8B030D-6E8A-4147-A177-3AD203B41FA5}">
                      <a16:colId xmlns:a16="http://schemas.microsoft.com/office/drawing/2014/main" val="20008"/>
                    </a:ext>
                  </a:extLst>
                </a:gridCol>
              </a:tblGrid>
              <a:tr h="355478">
                <a:tc rowSpan="2">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Comic Sans MS" charset="0"/>
                        <a:ea typeface="ＭＳ Ｐゴシック" charset="-128"/>
                      </a:endParaRPr>
                    </a:p>
                  </a:txBody>
                  <a:tcPr marT="45686" marB="4568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8">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Clock Number</a:t>
                      </a:r>
                    </a:p>
                  </a:txBody>
                  <a:tcPr marT="45686" marB="4568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35209">
                <a:tc vMerge="1">
                  <a:txBody>
                    <a:bodyPr/>
                    <a:lstStyle/>
                    <a:p>
                      <a:endParaRPr lang="en-US"/>
                    </a:p>
                  </a:txBody>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1</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2</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3</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4</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5</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6</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7</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8</a:t>
                      </a:r>
                    </a:p>
                  </a:txBody>
                  <a:tcPr marT="45686" marB="4568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0717">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branch instruction</a:t>
                      </a:r>
                    </a:p>
                  </a:txBody>
                  <a:tcPr marT="45686" marB="4568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F</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D</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X</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M</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W</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Comic Sans MS" charset="0"/>
                        <a:ea typeface="ＭＳ Ｐゴシック" charset="-128"/>
                      </a:endParaRP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Comic Sans MS" charset="0"/>
                        <a:ea typeface="ＭＳ Ｐゴシック" charset="-128"/>
                      </a:endParaRP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Comic Sans MS" charset="0"/>
                        <a:ea typeface="ＭＳ Ｐゴシック" charset="-128"/>
                      </a:endParaRPr>
                    </a:p>
                  </a:txBody>
                  <a:tcPr marT="45686" marB="4568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209">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branch successor</a:t>
                      </a:r>
                    </a:p>
                  </a:txBody>
                  <a:tcPr marT="45686" marB="4568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Comic Sans MS" charset="0"/>
                        <a:ea typeface="ＭＳ Ｐゴシック" charset="-128"/>
                      </a:endParaRP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Comic Sans MS" charset="0"/>
                        <a:ea typeface="ＭＳ Ｐゴシック" charset="-128"/>
                      </a:endParaRP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Comic Sans MS" charset="0"/>
                        <a:ea typeface="ＭＳ Ｐゴシック" charset="-128"/>
                      </a:endParaRP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F</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D</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X</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M</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W</a:t>
                      </a:r>
                    </a:p>
                  </a:txBody>
                  <a:tcPr marT="45686" marB="4568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0717">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branch succ. + 1</a:t>
                      </a:r>
                    </a:p>
                  </a:txBody>
                  <a:tcPr marT="45686" marB="4568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Comic Sans MS" charset="0"/>
                        <a:ea typeface="ＭＳ Ｐゴシック" charset="-128"/>
                      </a:endParaRP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Comic Sans MS" charset="0"/>
                        <a:ea typeface="ＭＳ Ｐゴシック" charset="-128"/>
                      </a:endParaRP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Comic Sans MS" charset="0"/>
                        <a:ea typeface="ＭＳ Ｐゴシック" charset="-128"/>
                      </a:endParaRP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Comic Sans MS" charset="0"/>
                        <a:ea typeface="ＭＳ Ｐゴシック" charset="-128"/>
                      </a:endParaRP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F</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D</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X</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M</a:t>
                      </a:r>
                    </a:p>
                  </a:txBody>
                  <a:tcPr marT="45686" marB="4568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0869">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branch succ. + 2</a:t>
                      </a:r>
                    </a:p>
                  </a:txBody>
                  <a:tcPr marT="45686" marB="4568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Comic Sans MS" charset="0"/>
                        <a:ea typeface="ＭＳ Ｐゴシック" charset="-128"/>
                      </a:endParaRP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Comic Sans MS" charset="0"/>
                        <a:ea typeface="ＭＳ Ｐゴシック" charset="-128"/>
                      </a:endParaRP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Comic Sans MS" charset="0"/>
                        <a:ea typeface="ＭＳ Ｐゴシック" charset="-128"/>
                      </a:endParaRP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Comic Sans MS" charset="0"/>
                        <a:ea typeface="ＭＳ Ｐゴシック" charset="-128"/>
                      </a:endParaRP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Comic Sans MS" charset="0"/>
                        <a:ea typeface="ＭＳ Ｐゴシック" charset="-128"/>
                      </a:endParaRP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F</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D</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X</a:t>
                      </a:r>
                    </a:p>
                  </a:txBody>
                  <a:tcPr marT="45686" marB="4568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cxnSp>
        <p:nvCxnSpPr>
          <p:cNvPr id="111682" name="Straight Arrow Connector 7"/>
          <p:cNvCxnSpPr>
            <a:cxnSpLocks noChangeShapeType="1"/>
            <a:stCxn id="111683" idx="0"/>
          </p:cNvCxnSpPr>
          <p:nvPr/>
        </p:nvCxnSpPr>
        <p:spPr bwMode="auto">
          <a:xfrm rot="5400000" flipH="1" flipV="1">
            <a:off x="1862931" y="1872457"/>
            <a:ext cx="1800225" cy="2322512"/>
          </a:xfrm>
          <a:prstGeom prst="straightConnector1">
            <a:avLst/>
          </a:prstGeom>
          <a:noFill/>
          <a:ln w="28575">
            <a:solidFill>
              <a:srgbClr val="FF0000"/>
            </a:solidFill>
            <a:round/>
            <a:headEnd/>
            <a:tailEnd type="arrow" w="med" len="med"/>
          </a:ln>
          <a:extLst>
            <a:ext uri="{909E8E84-426E-40DD-AFC4-6F175D3DCCD1}">
              <a14:hiddenFill xmlns:a14="http://schemas.microsoft.com/office/drawing/2010/main">
                <a:noFill/>
              </a14:hiddenFill>
            </a:ext>
          </a:extLst>
        </p:spPr>
      </p:cxnSp>
      <p:sp>
        <p:nvSpPr>
          <p:cNvPr id="111683" name="TextBox 12"/>
          <p:cNvSpPr txBox="1">
            <a:spLocks noChangeArrowheads="1"/>
          </p:cNvSpPr>
          <p:nvPr/>
        </p:nvSpPr>
        <p:spPr bwMode="auto">
          <a:xfrm>
            <a:off x="0" y="3933825"/>
            <a:ext cx="32035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r>
              <a:rPr lang="en-CA" altLang="en-US" sz="2400">
                <a:solidFill>
                  <a:srgbClr val="FF0000"/>
                </a:solidFill>
                <a:latin typeface="Arial" charset="0"/>
                <a:ea typeface="ＭＳ Ｐゴシック" charset="-128"/>
              </a:rPr>
              <a:t>Decode branch and </a:t>
            </a:r>
          </a:p>
          <a:p>
            <a:pPr>
              <a:spcBef>
                <a:spcPct val="0"/>
              </a:spcBef>
              <a:buFontTx/>
              <a:buNone/>
            </a:pPr>
            <a:r>
              <a:rPr lang="en-CA" altLang="en-US" sz="2400">
                <a:solidFill>
                  <a:srgbClr val="FF0000"/>
                </a:solidFill>
                <a:latin typeface="Arial" charset="0"/>
                <a:ea typeface="ＭＳ Ｐゴシック" charset="-128"/>
              </a:rPr>
              <a:t>stall fetch on cycle 2</a:t>
            </a:r>
          </a:p>
        </p:txBody>
      </p:sp>
      <p:sp>
        <p:nvSpPr>
          <p:cNvPr id="111684" name="TextBox 9"/>
          <p:cNvSpPr txBox="1">
            <a:spLocks noChangeArrowheads="1"/>
          </p:cNvSpPr>
          <p:nvPr/>
        </p:nvSpPr>
        <p:spPr bwMode="auto">
          <a:xfrm>
            <a:off x="755650" y="5445125"/>
            <a:ext cx="47529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r>
              <a:rPr lang="en-CA" altLang="en-US" sz="2400">
                <a:solidFill>
                  <a:srgbClr val="FF0000"/>
                </a:solidFill>
                <a:latin typeface="Arial" charset="0"/>
                <a:ea typeface="ＭＳ Ｐゴシック" charset="-128"/>
              </a:rPr>
              <a:t>“Resolve branch” during cycle 3.</a:t>
            </a:r>
          </a:p>
          <a:p>
            <a:pPr>
              <a:spcBef>
                <a:spcPct val="0"/>
              </a:spcBef>
              <a:buFontTx/>
              <a:buNone/>
            </a:pPr>
            <a:r>
              <a:rPr lang="en-CA" altLang="en-US" sz="2400">
                <a:solidFill>
                  <a:srgbClr val="FF0000"/>
                </a:solidFill>
                <a:latin typeface="Arial" charset="0"/>
                <a:ea typeface="ＭＳ Ｐゴシック" charset="-128"/>
              </a:rPr>
              <a:t>(hardware determines successor</a:t>
            </a:r>
          </a:p>
          <a:p>
            <a:pPr>
              <a:spcBef>
                <a:spcPct val="0"/>
              </a:spcBef>
              <a:buFontTx/>
              <a:buNone/>
            </a:pPr>
            <a:r>
              <a:rPr lang="en-CA" altLang="en-US" sz="2400">
                <a:solidFill>
                  <a:srgbClr val="FF0000"/>
                </a:solidFill>
                <a:latin typeface="Arial" charset="0"/>
                <a:ea typeface="ＭＳ Ｐゴシック" charset="-128"/>
              </a:rPr>
              <a:t>at end of cycle 3) </a:t>
            </a:r>
          </a:p>
        </p:txBody>
      </p:sp>
      <p:cxnSp>
        <p:nvCxnSpPr>
          <p:cNvPr id="111685" name="Straight Arrow Connector 11"/>
          <p:cNvCxnSpPr>
            <a:cxnSpLocks noChangeShapeType="1"/>
            <a:stCxn id="111684" idx="0"/>
          </p:cNvCxnSpPr>
          <p:nvPr/>
        </p:nvCxnSpPr>
        <p:spPr bwMode="auto">
          <a:xfrm rot="5400000" flipH="1" flipV="1">
            <a:off x="2268538" y="2997200"/>
            <a:ext cx="3311525" cy="1584325"/>
          </a:xfrm>
          <a:prstGeom prst="straightConnector1">
            <a:avLst/>
          </a:prstGeom>
          <a:noFill/>
          <a:ln w="28575">
            <a:solidFill>
              <a:srgbClr val="FF0000"/>
            </a:solidFill>
            <a:round/>
            <a:headEnd/>
            <a:tailEnd type="arrow" w="med" len="med"/>
          </a:ln>
          <a:extLst>
            <a:ext uri="{909E8E84-426E-40DD-AFC4-6F175D3DCCD1}">
              <a14:hiddenFill xmlns:a14="http://schemas.microsoft.com/office/drawing/2010/main">
                <a:noFill/>
              </a14:hiddenFill>
            </a:ext>
          </a:extLst>
        </p:spPr>
      </p:cxnSp>
      <p:sp>
        <p:nvSpPr>
          <p:cNvPr id="111686" name="TextBox 15"/>
          <p:cNvSpPr txBox="1">
            <a:spLocks noChangeArrowheads="1"/>
          </p:cNvSpPr>
          <p:nvPr/>
        </p:nvSpPr>
        <p:spPr bwMode="auto">
          <a:xfrm>
            <a:off x="5183188" y="4365625"/>
            <a:ext cx="3960812"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r>
              <a:rPr lang="en-CA" altLang="en-US" sz="2400">
                <a:solidFill>
                  <a:srgbClr val="FF0000"/>
                </a:solidFill>
                <a:latin typeface="Arial" charset="0"/>
                <a:ea typeface="ＭＳ Ｐゴシック" charset="-128"/>
              </a:rPr>
              <a:t>Fetch successor on cycle 4.</a:t>
            </a:r>
          </a:p>
          <a:p>
            <a:pPr>
              <a:spcBef>
                <a:spcPct val="0"/>
              </a:spcBef>
              <a:buFontTx/>
              <a:buNone/>
            </a:pPr>
            <a:r>
              <a:rPr lang="en-CA" altLang="en-US" sz="2400">
                <a:solidFill>
                  <a:srgbClr val="FF0000"/>
                </a:solidFill>
                <a:latin typeface="Arial" charset="0"/>
                <a:ea typeface="ＭＳ Ｐゴシック" charset="-128"/>
              </a:rPr>
              <a:t>(cannot do this on cycle 3)</a:t>
            </a:r>
          </a:p>
        </p:txBody>
      </p:sp>
      <p:cxnSp>
        <p:nvCxnSpPr>
          <p:cNvPr id="111687" name="Straight Arrow Connector 16"/>
          <p:cNvCxnSpPr>
            <a:cxnSpLocks noChangeShapeType="1"/>
          </p:cNvCxnSpPr>
          <p:nvPr/>
        </p:nvCxnSpPr>
        <p:spPr bwMode="auto">
          <a:xfrm rot="16200000" flipV="1">
            <a:off x="4751388" y="2528888"/>
            <a:ext cx="2016125" cy="1800225"/>
          </a:xfrm>
          <a:prstGeom prst="straightConnector1">
            <a:avLst/>
          </a:prstGeom>
          <a:noFill/>
          <a:ln w="28575">
            <a:solidFill>
              <a:srgbClr val="FF0000"/>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pPr eaLnBrk="1" hangingPunct="1"/>
            <a:r>
              <a:rPr lang="en-US" altLang="en-US" sz="3600">
                <a:latin typeface="Arial  " charset="0"/>
                <a:ea typeface="MS PGothic" charset="-128"/>
                <a:cs typeface="Arial  " charset="0"/>
              </a:rPr>
              <a:t>Option 2: Predict “Not Taken”</a:t>
            </a:r>
            <a:endParaRPr lang="en-US" altLang="en-US">
              <a:latin typeface="Arial  " charset="0"/>
              <a:ea typeface="MS PGothic" charset="-128"/>
              <a:cs typeface="Arial  " charset="0"/>
            </a:endParaRPr>
          </a:p>
        </p:txBody>
      </p:sp>
      <p:sp>
        <p:nvSpPr>
          <p:cNvPr id="112643" name="Rectangle 3"/>
          <p:cNvSpPr txBox="1">
            <a:spLocks noChangeArrowheads="1"/>
          </p:cNvSpPr>
          <p:nvPr/>
        </p:nvSpPr>
        <p:spPr bwMode="auto">
          <a:xfrm>
            <a:off x="611188" y="1484313"/>
            <a:ext cx="7772400" cy="331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r>
              <a:rPr lang="en-US" altLang="en-US" sz="1800" dirty="0">
                <a:ea typeface="ＭＳ Ｐゴシック" charset="-128"/>
              </a:rPr>
              <a:t>Many </a:t>
            </a:r>
            <a:r>
              <a:rPr lang="ja-JP" altLang="en-US" sz="1800" dirty="0">
                <a:ea typeface="ＭＳ Ｐゴシック" charset="-128"/>
              </a:rPr>
              <a:t>“</a:t>
            </a:r>
            <a:r>
              <a:rPr lang="en-US" altLang="ja-JP" sz="1800" dirty="0">
                <a:ea typeface="ＭＳ Ｐゴシック" charset="-128"/>
              </a:rPr>
              <a:t>forward</a:t>
            </a:r>
            <a:r>
              <a:rPr lang="ja-JP" altLang="en-US" sz="1800" dirty="0">
                <a:ea typeface="ＭＳ Ｐゴシック" charset="-128"/>
              </a:rPr>
              <a:t>”</a:t>
            </a:r>
            <a:r>
              <a:rPr lang="en-US" altLang="ja-JP" sz="1800" dirty="0">
                <a:ea typeface="ＭＳ Ｐゴシック" charset="-128"/>
              </a:rPr>
              <a:t> branches are </a:t>
            </a:r>
            <a:r>
              <a:rPr lang="ja-JP" altLang="en-US" sz="1800" dirty="0">
                <a:ea typeface="ＭＳ Ｐゴシック" charset="-128"/>
              </a:rPr>
              <a:t>“</a:t>
            </a:r>
            <a:r>
              <a:rPr lang="en-US" altLang="ja-JP" sz="1800" dirty="0">
                <a:ea typeface="ＭＳ Ｐゴシック" charset="-128"/>
              </a:rPr>
              <a:t>weakly biased</a:t>
            </a:r>
            <a:r>
              <a:rPr lang="ja-JP" altLang="en-US" sz="1800" dirty="0">
                <a:ea typeface="ＭＳ Ｐゴシック" charset="-128"/>
              </a:rPr>
              <a:t>”</a:t>
            </a:r>
            <a:r>
              <a:rPr lang="en-US" altLang="ja-JP" sz="1800" dirty="0">
                <a:ea typeface="ＭＳ Ｐゴシック" charset="-128"/>
              </a:rPr>
              <a:t> meaning they are taken and not-taken roughly the same number of times.</a:t>
            </a:r>
          </a:p>
          <a:p>
            <a:pPr eaLnBrk="1" hangingPunct="1"/>
            <a:endParaRPr lang="en-US" altLang="en-US" sz="1800" dirty="0">
              <a:ea typeface="ＭＳ Ｐゴシック" charset="-128"/>
            </a:endParaRPr>
          </a:p>
          <a:p>
            <a:pPr eaLnBrk="1" hangingPunct="1"/>
            <a:r>
              <a:rPr lang="en-US" altLang="en-US" sz="1800" dirty="0">
                <a:ea typeface="ＭＳ Ｐゴシック" charset="-128"/>
              </a:rPr>
              <a:t>This means that about half the time, if we had just guessed that the branch was not taken, we would have been right.</a:t>
            </a:r>
          </a:p>
          <a:p>
            <a:pPr eaLnBrk="1" hangingPunct="1"/>
            <a:endParaRPr lang="en-US" altLang="en-US" sz="1800" dirty="0">
              <a:ea typeface="ＭＳ Ｐゴシック" charset="-128"/>
            </a:endParaRPr>
          </a:p>
          <a:p>
            <a:pPr eaLnBrk="1" hangingPunct="1"/>
            <a:r>
              <a:rPr lang="en-US" altLang="en-US" sz="1800" dirty="0">
                <a:ea typeface="ＭＳ Ｐゴシック" charset="-128"/>
              </a:rPr>
              <a:t>What happens if we are wrong?  If we are wrong, we need a way to correct our mistake.</a:t>
            </a:r>
          </a:p>
          <a:p>
            <a:pPr eaLnBrk="1" hangingPunct="1"/>
            <a:endParaRPr lang="en-US" altLang="en-US" sz="1400" dirty="0">
              <a:ea typeface="ＭＳ Ｐゴシック" charset="-12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4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64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p:cNvSpPr>
            <a:spLocks noGrp="1" noChangeArrowheads="1"/>
          </p:cNvSpPr>
          <p:nvPr>
            <p:ph type="title"/>
          </p:nvPr>
        </p:nvSpPr>
        <p:spPr/>
        <p:txBody>
          <a:bodyPr/>
          <a:lstStyle/>
          <a:p>
            <a:pPr eaLnBrk="1" hangingPunct="1"/>
            <a:endParaRPr lang="en-US" altLang="en-US">
              <a:latin typeface="Arial  " charset="0"/>
              <a:ea typeface="MS PGothic" charset="-128"/>
              <a:cs typeface="Arial  " charset="0"/>
            </a:endParaRPr>
          </a:p>
        </p:txBody>
      </p:sp>
      <p:sp>
        <p:nvSpPr>
          <p:cNvPr id="113666" name="Rectangle 3"/>
          <p:cNvSpPr>
            <a:spLocks noGrp="1" noChangeArrowheads="1"/>
          </p:cNvSpPr>
          <p:nvPr>
            <p:ph type="body" idx="1"/>
          </p:nvPr>
        </p:nvSpPr>
        <p:spPr>
          <a:xfrm>
            <a:off x="1619250" y="2133600"/>
            <a:ext cx="6265863" cy="2951163"/>
          </a:xfrm>
        </p:spPr>
        <p:txBody>
          <a:bodyPr/>
          <a:lstStyle/>
          <a:p>
            <a:pPr eaLnBrk="1" hangingPunct="1">
              <a:buFontTx/>
              <a:buNone/>
            </a:pPr>
            <a:endParaRPr lang="en-US" altLang="en-US" sz="1800" dirty="0">
              <a:latin typeface="Arial  " charset="0"/>
              <a:ea typeface="MS PGothic" charset="-128"/>
              <a:cs typeface="Arial  " charset="0"/>
            </a:endParaRPr>
          </a:p>
          <a:p>
            <a:pPr eaLnBrk="1" hangingPunct="1">
              <a:buFontTx/>
              <a:buNone/>
            </a:pPr>
            <a:endParaRPr lang="en-US" altLang="en-US" sz="1800" dirty="0">
              <a:latin typeface="Arial  " charset="0"/>
              <a:ea typeface="MS PGothic" charset="-128"/>
              <a:cs typeface="Arial  " charset="0"/>
            </a:endParaRPr>
          </a:p>
          <a:p>
            <a:pPr eaLnBrk="1" hangingPunct="1">
              <a:buFontTx/>
              <a:buNone/>
            </a:pPr>
            <a:r>
              <a:rPr lang="en-US" altLang="en-US" sz="1800" dirty="0">
                <a:latin typeface="Arial  " charset="0"/>
                <a:ea typeface="MS PGothic" charset="-128"/>
                <a:cs typeface="Arial  " charset="0"/>
              </a:rPr>
              <a:t>		BNEZ	x1, Label    ; </a:t>
            </a:r>
            <a:r>
              <a:rPr lang="en-US" altLang="en-US" sz="1800" b="1" dirty="0">
                <a:solidFill>
                  <a:srgbClr val="FF0000"/>
                </a:solidFill>
                <a:latin typeface="Arial  " charset="0"/>
                <a:ea typeface="MS PGothic" charset="-128"/>
                <a:cs typeface="Arial  " charset="0"/>
              </a:rPr>
              <a:t>branch instruction</a:t>
            </a:r>
          </a:p>
          <a:p>
            <a:pPr eaLnBrk="1" hangingPunct="1">
              <a:buFontTx/>
              <a:buNone/>
            </a:pPr>
            <a:r>
              <a:rPr lang="en-US" altLang="en-US" sz="1800" dirty="0">
                <a:latin typeface="Arial  " charset="0"/>
                <a:ea typeface="MS PGothic" charset="-128"/>
                <a:cs typeface="Arial  " charset="0"/>
              </a:rPr>
              <a:t>		DADD	x1,x2,x3    ; </a:t>
            </a:r>
            <a:r>
              <a:rPr lang="en-US" altLang="en-US" sz="1800" b="1" u="sng" dirty="0">
                <a:latin typeface="Arial  " charset="0"/>
                <a:ea typeface="MS PGothic" charset="-128"/>
                <a:cs typeface="Arial  " charset="0"/>
              </a:rPr>
              <a:t>branch instruction + 1</a:t>
            </a:r>
            <a:endParaRPr lang="en-US" altLang="en-US" sz="1800" b="1" dirty="0">
              <a:latin typeface="Arial  " charset="0"/>
              <a:ea typeface="MS PGothic" charset="-128"/>
              <a:cs typeface="Arial  " charset="0"/>
            </a:endParaRPr>
          </a:p>
          <a:p>
            <a:pPr eaLnBrk="1" hangingPunct="1">
              <a:buFontTx/>
              <a:buNone/>
            </a:pPr>
            <a:r>
              <a:rPr lang="en-US" altLang="en-US" sz="1800" dirty="0">
                <a:latin typeface="Arial  " charset="0"/>
                <a:ea typeface="MS PGothic" charset="-128"/>
                <a:cs typeface="Arial  " charset="0"/>
              </a:rPr>
              <a:t>		LD	x1,0(x2)     ; </a:t>
            </a:r>
            <a:r>
              <a:rPr lang="en-US" altLang="en-US" sz="1800" b="1" u="sng" dirty="0">
                <a:latin typeface="Arial  " charset="0"/>
                <a:ea typeface="MS PGothic" charset="-128"/>
                <a:cs typeface="Arial  " charset="0"/>
              </a:rPr>
              <a:t>branch instruction + 2</a:t>
            </a:r>
            <a:endParaRPr lang="en-US" altLang="en-US" sz="1800" dirty="0">
              <a:latin typeface="Arial  " charset="0"/>
              <a:ea typeface="MS PGothic" charset="-128"/>
              <a:cs typeface="Arial  " charset="0"/>
            </a:endParaRPr>
          </a:p>
          <a:p>
            <a:pPr eaLnBrk="1" hangingPunct="1">
              <a:buFontTx/>
              <a:buNone/>
            </a:pPr>
            <a:r>
              <a:rPr lang="en-US" altLang="en-US" sz="1800" dirty="0">
                <a:latin typeface="Arial  " charset="0"/>
                <a:ea typeface="MS PGothic" charset="-128"/>
                <a:cs typeface="Arial  " charset="0"/>
              </a:rPr>
              <a:t>		…</a:t>
            </a:r>
          </a:p>
          <a:p>
            <a:pPr eaLnBrk="1" hangingPunct="1">
              <a:buFontTx/>
              <a:buNone/>
            </a:pPr>
            <a:r>
              <a:rPr lang="en-US" altLang="en-US" sz="1800" dirty="0">
                <a:latin typeface="Arial  " charset="0"/>
                <a:ea typeface="MS PGothic" charset="-128"/>
                <a:cs typeface="Arial  " charset="0"/>
              </a:rPr>
              <a:t>Label:	DSUB	x1,x2,x3    ; </a:t>
            </a:r>
            <a:r>
              <a:rPr lang="en-US" altLang="en-US" sz="1800" b="1" u="sng" dirty="0">
                <a:latin typeface="Arial  " charset="0"/>
                <a:ea typeface="MS PGothic" charset="-128"/>
                <a:cs typeface="Arial  " charset="0"/>
              </a:rPr>
              <a:t>branch target</a:t>
            </a:r>
            <a:endParaRPr lang="en-US" altLang="en-US" sz="1800" b="1" dirty="0">
              <a:latin typeface="Arial  " charset="0"/>
              <a:ea typeface="MS PGothic" charset="-128"/>
              <a:cs typeface="Arial  "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Slide Number Placeholder 5"/>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696F099F-17C4-0E4C-A614-4356927D30AD}" type="slidenum">
              <a:rPr lang="en-US" altLang="en-US" sz="1400">
                <a:latin typeface="Comic Sans MS" charset="0"/>
                <a:ea typeface="ＭＳ Ｐゴシック" charset="-128"/>
              </a:rPr>
              <a:pPr>
                <a:spcBef>
                  <a:spcPct val="0"/>
                </a:spcBef>
                <a:buFontTx/>
                <a:buNone/>
              </a:pPr>
              <a:t>39</a:t>
            </a:fld>
            <a:r>
              <a:rPr lang="en-US" altLang="en-US" sz="1400">
                <a:latin typeface="Comic Sans MS" charset="0"/>
                <a:ea typeface="ＭＳ Ｐゴシック" charset="-128"/>
              </a:rPr>
              <a:t> of 30</a:t>
            </a:r>
          </a:p>
        </p:txBody>
      </p:sp>
      <p:sp>
        <p:nvSpPr>
          <p:cNvPr id="114690" name="Rectangle 2"/>
          <p:cNvSpPr>
            <a:spLocks noGrp="1" noChangeArrowheads="1"/>
          </p:cNvSpPr>
          <p:nvPr>
            <p:ph type="title"/>
          </p:nvPr>
        </p:nvSpPr>
        <p:spPr/>
        <p:txBody>
          <a:bodyPr/>
          <a:lstStyle/>
          <a:p>
            <a:pPr eaLnBrk="1" hangingPunct="1"/>
            <a:r>
              <a:rPr lang="en-US" altLang="en-US" sz="3600">
                <a:latin typeface="Arial  " charset="0"/>
                <a:ea typeface="MS PGothic" charset="-128"/>
                <a:cs typeface="Arial  " charset="0"/>
              </a:rPr>
              <a:t>Predict “Not Taken” </a:t>
            </a:r>
            <a:br>
              <a:rPr lang="en-US" altLang="en-US" sz="3600">
                <a:latin typeface="Arial  " charset="0"/>
                <a:ea typeface="MS PGothic" charset="-128"/>
                <a:cs typeface="Arial  " charset="0"/>
              </a:rPr>
            </a:br>
            <a:r>
              <a:rPr lang="en-US" altLang="en-US" sz="3600">
                <a:latin typeface="Arial  " charset="0"/>
                <a:ea typeface="MS PGothic" charset="-128"/>
                <a:cs typeface="Arial  " charset="0"/>
              </a:rPr>
              <a:t>(correct prediction)</a:t>
            </a:r>
            <a:endParaRPr lang="en-US" altLang="en-US">
              <a:latin typeface="Arial  " charset="0"/>
              <a:ea typeface="MS PGothic" charset="-128"/>
              <a:cs typeface="Arial  " charset="0"/>
            </a:endParaRPr>
          </a:p>
        </p:txBody>
      </p:sp>
      <p:graphicFrame>
        <p:nvGraphicFramePr>
          <p:cNvPr id="219275" name="Group 139"/>
          <p:cNvGraphicFramePr>
            <a:graphicFrameLocks noGrp="1"/>
          </p:cNvGraphicFramePr>
          <p:nvPr/>
        </p:nvGraphicFramePr>
        <p:xfrm>
          <a:off x="557213" y="1474788"/>
          <a:ext cx="8085137" cy="1828800"/>
        </p:xfrm>
        <a:graphic>
          <a:graphicData uri="http://schemas.openxmlformats.org/drawingml/2006/table">
            <a:tbl>
              <a:tblPr/>
              <a:tblGrid>
                <a:gridCol w="2078037">
                  <a:extLst>
                    <a:ext uri="{9D8B030D-6E8A-4147-A177-3AD203B41FA5}">
                      <a16:colId xmlns:a16="http://schemas.microsoft.com/office/drawing/2014/main" val="20000"/>
                    </a:ext>
                  </a:extLst>
                </a:gridCol>
                <a:gridCol w="674688">
                  <a:extLst>
                    <a:ext uri="{9D8B030D-6E8A-4147-A177-3AD203B41FA5}">
                      <a16:colId xmlns:a16="http://schemas.microsoft.com/office/drawing/2014/main" val="20001"/>
                    </a:ext>
                  </a:extLst>
                </a:gridCol>
                <a:gridCol w="730250">
                  <a:extLst>
                    <a:ext uri="{9D8B030D-6E8A-4147-A177-3AD203B41FA5}">
                      <a16:colId xmlns:a16="http://schemas.microsoft.com/office/drawing/2014/main" val="20002"/>
                    </a:ext>
                  </a:extLst>
                </a:gridCol>
                <a:gridCol w="769937">
                  <a:extLst>
                    <a:ext uri="{9D8B030D-6E8A-4147-A177-3AD203B41FA5}">
                      <a16:colId xmlns:a16="http://schemas.microsoft.com/office/drawing/2014/main" val="20003"/>
                    </a:ext>
                  </a:extLst>
                </a:gridCol>
                <a:gridCol w="788988">
                  <a:extLst>
                    <a:ext uri="{9D8B030D-6E8A-4147-A177-3AD203B41FA5}">
                      <a16:colId xmlns:a16="http://schemas.microsoft.com/office/drawing/2014/main" val="20004"/>
                    </a:ext>
                  </a:extLst>
                </a:gridCol>
                <a:gridCol w="769937">
                  <a:extLst>
                    <a:ext uri="{9D8B030D-6E8A-4147-A177-3AD203B41FA5}">
                      <a16:colId xmlns:a16="http://schemas.microsoft.com/office/drawing/2014/main" val="20005"/>
                    </a:ext>
                  </a:extLst>
                </a:gridCol>
                <a:gridCol w="711200">
                  <a:extLst>
                    <a:ext uri="{9D8B030D-6E8A-4147-A177-3AD203B41FA5}">
                      <a16:colId xmlns:a16="http://schemas.microsoft.com/office/drawing/2014/main" val="20006"/>
                    </a:ext>
                  </a:extLst>
                </a:gridCol>
                <a:gridCol w="788988">
                  <a:extLst>
                    <a:ext uri="{9D8B030D-6E8A-4147-A177-3AD203B41FA5}">
                      <a16:colId xmlns:a16="http://schemas.microsoft.com/office/drawing/2014/main" val="20007"/>
                    </a:ext>
                  </a:extLst>
                </a:gridCol>
                <a:gridCol w="773112">
                  <a:extLst>
                    <a:ext uri="{9D8B030D-6E8A-4147-A177-3AD203B41FA5}">
                      <a16:colId xmlns:a16="http://schemas.microsoft.com/office/drawing/2014/main" val="20008"/>
                    </a:ext>
                  </a:extLst>
                </a:gridCol>
              </a:tblGrid>
              <a:tr h="304800">
                <a:tc rowSpan="2">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Comic Sans MS" charset="0"/>
                        <a:ea typeface="ＭＳ Ｐゴシック"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8">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Clock Number</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04800">
                <a:tc vMerge="1">
                  <a:txBody>
                    <a:bodyPr/>
                    <a:lstStyle/>
                    <a:p>
                      <a:endParaRPr lang="en-US"/>
                    </a:p>
                  </a:txBody>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8</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400" b="1" i="0" u="none" strike="noStrike" cap="none" normalizeH="0" baseline="0">
                          <a:ln>
                            <a:noFill/>
                          </a:ln>
                          <a:solidFill>
                            <a:schemeClr val="tx1"/>
                          </a:solidFill>
                          <a:effectLst/>
                          <a:latin typeface="Comic Sans MS" charset="0"/>
                          <a:ea typeface="ＭＳ Ｐゴシック" charset="-128"/>
                        </a:rPr>
                        <a:t>Not taken  </a:t>
                      </a:r>
                      <a:r>
                        <a:rPr kumimoji="0" lang="en-US" altLang="en-US" sz="1400" b="0" i="0" u="none" strike="noStrike" cap="none" normalizeH="0" baseline="0">
                          <a:ln>
                            <a:noFill/>
                          </a:ln>
                          <a:solidFill>
                            <a:schemeClr val="tx1"/>
                          </a:solidFill>
                          <a:effectLst/>
                          <a:latin typeface="Comic Sans MS" charset="0"/>
                          <a:ea typeface="ＭＳ Ｐゴシック" charset="-128"/>
                        </a:rPr>
                        <a:t>branch</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F</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X</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M</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W</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Comic Sans MS"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Comic Sans MS"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Comic Sans MS"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4800">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branch instr. + 1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Comic Sans MS"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F</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X</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M</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W</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Comic Sans MS"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Comic Sans MS"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4800">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branch instr. + 2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Comic Sans MS"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Comic Sans MS"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F</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X</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M</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W</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Comic Sans MS"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4800">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branch instr. + 3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Comic Sans MS"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Comic Sans MS"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Comic Sans MS"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F</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X</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M</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W</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cxnSp>
        <p:nvCxnSpPr>
          <p:cNvPr id="114755" name="Straight Arrow Connector 9"/>
          <p:cNvCxnSpPr>
            <a:cxnSpLocks noChangeShapeType="1"/>
          </p:cNvCxnSpPr>
          <p:nvPr/>
        </p:nvCxnSpPr>
        <p:spPr bwMode="auto">
          <a:xfrm rot="5400000" flipH="1" flipV="1">
            <a:off x="1871663" y="2744787"/>
            <a:ext cx="1727200" cy="1368425"/>
          </a:xfrm>
          <a:prstGeom prst="straightConnector1">
            <a:avLst/>
          </a:prstGeom>
          <a:noFill/>
          <a:ln w="28575">
            <a:solidFill>
              <a:srgbClr val="FF0000"/>
            </a:solidFill>
            <a:round/>
            <a:headEnd/>
            <a:tailEnd type="arrow" w="med" len="med"/>
          </a:ln>
          <a:extLst>
            <a:ext uri="{909E8E84-426E-40DD-AFC4-6F175D3DCCD1}">
              <a14:hiddenFill xmlns:a14="http://schemas.microsoft.com/office/drawing/2010/main">
                <a:noFill/>
              </a14:hiddenFill>
            </a:ext>
          </a:extLst>
        </p:spPr>
      </p:cxnSp>
      <p:sp>
        <p:nvSpPr>
          <p:cNvPr id="114756" name="TextBox 10"/>
          <p:cNvSpPr txBox="1">
            <a:spLocks noChangeArrowheads="1"/>
          </p:cNvSpPr>
          <p:nvPr/>
        </p:nvSpPr>
        <p:spPr bwMode="auto">
          <a:xfrm>
            <a:off x="0" y="4365625"/>
            <a:ext cx="3635375"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r>
              <a:rPr lang="en-CA" altLang="en-US" sz="2400">
                <a:latin typeface="Arial" charset="0"/>
                <a:ea typeface="ＭＳ Ｐゴシック" charset="-128"/>
              </a:rPr>
              <a:t>On cycle 2, hardware </a:t>
            </a:r>
          </a:p>
          <a:p>
            <a:pPr>
              <a:spcBef>
                <a:spcPct val="0"/>
              </a:spcBef>
              <a:buFontTx/>
              <a:buNone/>
            </a:pPr>
            <a:r>
              <a:rPr lang="en-CA" altLang="en-US" sz="2400" u="sng">
                <a:latin typeface="Arial" charset="0"/>
                <a:ea typeface="ＭＳ Ｐゴシック" charset="-128"/>
              </a:rPr>
              <a:t>predicts</a:t>
            </a:r>
            <a:r>
              <a:rPr lang="en-CA" altLang="en-US" sz="2400">
                <a:latin typeface="Arial" charset="0"/>
                <a:ea typeface="ＭＳ Ｐゴシック" charset="-128"/>
              </a:rPr>
              <a:t> next instruction </a:t>
            </a:r>
          </a:p>
          <a:p>
            <a:pPr>
              <a:spcBef>
                <a:spcPct val="0"/>
              </a:spcBef>
              <a:buFontTx/>
              <a:buNone/>
            </a:pPr>
            <a:r>
              <a:rPr lang="en-CA" altLang="en-US" sz="2400">
                <a:latin typeface="Arial" charset="0"/>
                <a:ea typeface="ＭＳ Ｐゴシック" charset="-128"/>
              </a:rPr>
              <a:t>is “branch instr. + 1”</a:t>
            </a:r>
          </a:p>
          <a:p>
            <a:pPr>
              <a:spcBef>
                <a:spcPct val="0"/>
              </a:spcBef>
              <a:buFontTx/>
              <a:buNone/>
            </a:pPr>
            <a:endParaRPr lang="en-CA" altLang="en-US" sz="2400">
              <a:latin typeface="Arial" charset="0"/>
              <a:ea typeface="ＭＳ Ｐゴシック" charset="-128"/>
            </a:endParaRPr>
          </a:p>
          <a:p>
            <a:pPr>
              <a:spcBef>
                <a:spcPct val="0"/>
              </a:spcBef>
              <a:buFontTx/>
              <a:buNone/>
            </a:pPr>
            <a:endParaRPr lang="en-CA" altLang="en-US" sz="2400">
              <a:latin typeface="Arial" charset="0"/>
              <a:ea typeface="ＭＳ Ｐゴシック" charset="-128"/>
            </a:endParaRPr>
          </a:p>
        </p:txBody>
      </p:sp>
      <p:sp>
        <p:nvSpPr>
          <p:cNvPr id="114757" name="TextBox 16"/>
          <p:cNvSpPr txBox="1">
            <a:spLocks noChangeArrowheads="1"/>
          </p:cNvSpPr>
          <p:nvPr/>
        </p:nvSpPr>
        <p:spPr bwMode="auto">
          <a:xfrm>
            <a:off x="3779838" y="3811588"/>
            <a:ext cx="5364162"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r>
              <a:rPr lang="en-CA" altLang="en-US" sz="2400">
                <a:latin typeface="Arial" charset="0"/>
                <a:ea typeface="ＭＳ Ｐゴシック" charset="-128"/>
              </a:rPr>
              <a:t>“</a:t>
            </a:r>
            <a:r>
              <a:rPr lang="en-CA" altLang="ja-JP" sz="2400" u="sng">
                <a:latin typeface="Arial" charset="0"/>
                <a:ea typeface="ＭＳ Ｐゴシック" charset="-128"/>
              </a:rPr>
              <a:t>Resolve</a:t>
            </a:r>
            <a:r>
              <a:rPr lang="en-CA" altLang="ja-JP" sz="2400">
                <a:latin typeface="Arial" charset="0"/>
                <a:ea typeface="ＭＳ Ｐゴシック" charset="-128"/>
              </a:rPr>
              <a:t> branch</a:t>
            </a:r>
            <a:r>
              <a:rPr lang="en-CA" altLang="en-US" sz="2400">
                <a:latin typeface="Arial" charset="0"/>
                <a:ea typeface="ＭＳ Ｐゴシック" charset="-128"/>
              </a:rPr>
              <a:t>”</a:t>
            </a:r>
            <a:r>
              <a:rPr lang="en-CA" altLang="ja-JP" sz="2400">
                <a:latin typeface="Arial" charset="0"/>
                <a:ea typeface="ＭＳ Ｐゴシック" charset="-128"/>
              </a:rPr>
              <a:t> during cycle 3.</a:t>
            </a:r>
          </a:p>
          <a:p>
            <a:pPr>
              <a:spcBef>
                <a:spcPct val="0"/>
              </a:spcBef>
              <a:buFontTx/>
              <a:buNone/>
            </a:pPr>
            <a:r>
              <a:rPr lang="en-CA" altLang="en-US" sz="2400">
                <a:latin typeface="Arial" charset="0"/>
                <a:ea typeface="ＭＳ Ｐゴシック" charset="-128"/>
              </a:rPr>
              <a:t>Hardware determines successor</a:t>
            </a:r>
          </a:p>
          <a:p>
            <a:pPr>
              <a:spcBef>
                <a:spcPct val="0"/>
              </a:spcBef>
              <a:buFontTx/>
              <a:buNone/>
            </a:pPr>
            <a:r>
              <a:rPr lang="en-CA" altLang="en-US" sz="2400">
                <a:latin typeface="Arial" charset="0"/>
                <a:ea typeface="ＭＳ Ｐゴシック" charset="-128"/>
              </a:rPr>
              <a:t>at end of cycle 3. In this case, the prediction turns out to be correct since the branch was not taken. We did not know this until end of cycle 3.</a:t>
            </a:r>
          </a:p>
          <a:p>
            <a:pPr>
              <a:spcBef>
                <a:spcPct val="0"/>
              </a:spcBef>
              <a:buFontTx/>
              <a:buNone/>
            </a:pPr>
            <a:endParaRPr lang="en-CA" altLang="en-US" sz="2400">
              <a:latin typeface="Arial" charset="0"/>
              <a:ea typeface="ＭＳ Ｐゴシック" charset="-128"/>
            </a:endParaRPr>
          </a:p>
        </p:txBody>
      </p:sp>
      <p:cxnSp>
        <p:nvCxnSpPr>
          <p:cNvPr id="114758" name="Straight Arrow Connector 17"/>
          <p:cNvCxnSpPr>
            <a:cxnSpLocks noChangeShapeType="1"/>
            <a:stCxn id="114757" idx="0"/>
          </p:cNvCxnSpPr>
          <p:nvPr/>
        </p:nvCxnSpPr>
        <p:spPr bwMode="auto">
          <a:xfrm rot="16200000" flipV="1">
            <a:off x="4822031" y="2170907"/>
            <a:ext cx="1535113" cy="1746250"/>
          </a:xfrm>
          <a:prstGeom prst="straightConnector1">
            <a:avLst/>
          </a:prstGeom>
          <a:noFill/>
          <a:ln w="28575">
            <a:solidFill>
              <a:srgbClr val="FF0000"/>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2"/>
          <p:cNvSpPr>
            <a:spLocks noGrp="1" noChangeArrowheads="1"/>
          </p:cNvSpPr>
          <p:nvPr>
            <p:ph type="title"/>
          </p:nvPr>
        </p:nvSpPr>
        <p:spPr/>
        <p:txBody>
          <a:bodyPr/>
          <a:lstStyle/>
          <a:p>
            <a:pPr eaLnBrk="1" hangingPunct="1"/>
            <a:r>
              <a:rPr lang="en-US" altLang="en-US" sz="2800">
                <a:latin typeface="Arial  " charset="0"/>
                <a:ea typeface="MS PGothic" charset="-128"/>
                <a:cs typeface="Arial  " charset="0"/>
              </a:rPr>
              <a:t>Predict “Not Taken” </a:t>
            </a:r>
            <a:br>
              <a:rPr lang="en-US" altLang="en-US" sz="2800">
                <a:latin typeface="Arial  " charset="0"/>
                <a:ea typeface="MS PGothic" charset="-128"/>
                <a:cs typeface="Arial  " charset="0"/>
              </a:rPr>
            </a:br>
            <a:r>
              <a:rPr lang="en-US" altLang="en-US" sz="2800">
                <a:latin typeface="Arial  " charset="0"/>
                <a:ea typeface="MS PGothic" charset="-128"/>
                <a:cs typeface="Arial  " charset="0"/>
              </a:rPr>
              <a:t>(</a:t>
            </a:r>
            <a:r>
              <a:rPr lang="en-US" altLang="en-US" sz="2800" b="1">
                <a:latin typeface="Arial  " charset="0"/>
                <a:ea typeface="MS PGothic" charset="-128"/>
                <a:cs typeface="Arial  " charset="0"/>
              </a:rPr>
              <a:t>incorrect/wrong</a:t>
            </a:r>
            <a:r>
              <a:rPr lang="en-US" altLang="en-US" sz="2800">
                <a:latin typeface="Arial  " charset="0"/>
                <a:ea typeface="MS PGothic" charset="-128"/>
                <a:cs typeface="Arial  " charset="0"/>
              </a:rPr>
              <a:t> prediction)</a:t>
            </a:r>
            <a:endParaRPr lang="en-US" altLang="en-US">
              <a:latin typeface="Arial  " charset="0"/>
              <a:ea typeface="MS PGothic" charset="-128"/>
              <a:cs typeface="Arial  " charset="0"/>
            </a:endParaRPr>
          </a:p>
        </p:txBody>
      </p:sp>
      <p:graphicFrame>
        <p:nvGraphicFramePr>
          <p:cNvPr id="219274" name="Group 138"/>
          <p:cNvGraphicFramePr>
            <a:graphicFrameLocks noGrp="1"/>
          </p:cNvGraphicFramePr>
          <p:nvPr/>
        </p:nvGraphicFramePr>
        <p:xfrm>
          <a:off x="468313" y="1700213"/>
          <a:ext cx="8085137" cy="1839913"/>
        </p:xfrm>
        <a:graphic>
          <a:graphicData uri="http://schemas.openxmlformats.org/drawingml/2006/table">
            <a:tbl>
              <a:tblPr/>
              <a:tblGrid>
                <a:gridCol w="2078037">
                  <a:extLst>
                    <a:ext uri="{9D8B030D-6E8A-4147-A177-3AD203B41FA5}">
                      <a16:colId xmlns:a16="http://schemas.microsoft.com/office/drawing/2014/main" val="20000"/>
                    </a:ext>
                  </a:extLst>
                </a:gridCol>
                <a:gridCol w="674688">
                  <a:extLst>
                    <a:ext uri="{9D8B030D-6E8A-4147-A177-3AD203B41FA5}">
                      <a16:colId xmlns:a16="http://schemas.microsoft.com/office/drawing/2014/main" val="20001"/>
                    </a:ext>
                  </a:extLst>
                </a:gridCol>
                <a:gridCol w="730250">
                  <a:extLst>
                    <a:ext uri="{9D8B030D-6E8A-4147-A177-3AD203B41FA5}">
                      <a16:colId xmlns:a16="http://schemas.microsoft.com/office/drawing/2014/main" val="20002"/>
                    </a:ext>
                  </a:extLst>
                </a:gridCol>
                <a:gridCol w="769937">
                  <a:extLst>
                    <a:ext uri="{9D8B030D-6E8A-4147-A177-3AD203B41FA5}">
                      <a16:colId xmlns:a16="http://schemas.microsoft.com/office/drawing/2014/main" val="20003"/>
                    </a:ext>
                  </a:extLst>
                </a:gridCol>
                <a:gridCol w="788988">
                  <a:extLst>
                    <a:ext uri="{9D8B030D-6E8A-4147-A177-3AD203B41FA5}">
                      <a16:colId xmlns:a16="http://schemas.microsoft.com/office/drawing/2014/main" val="20004"/>
                    </a:ext>
                  </a:extLst>
                </a:gridCol>
                <a:gridCol w="769937">
                  <a:extLst>
                    <a:ext uri="{9D8B030D-6E8A-4147-A177-3AD203B41FA5}">
                      <a16:colId xmlns:a16="http://schemas.microsoft.com/office/drawing/2014/main" val="20005"/>
                    </a:ext>
                  </a:extLst>
                </a:gridCol>
                <a:gridCol w="711200">
                  <a:extLst>
                    <a:ext uri="{9D8B030D-6E8A-4147-A177-3AD203B41FA5}">
                      <a16:colId xmlns:a16="http://schemas.microsoft.com/office/drawing/2014/main" val="20006"/>
                    </a:ext>
                  </a:extLst>
                </a:gridCol>
                <a:gridCol w="788988">
                  <a:extLst>
                    <a:ext uri="{9D8B030D-6E8A-4147-A177-3AD203B41FA5}">
                      <a16:colId xmlns:a16="http://schemas.microsoft.com/office/drawing/2014/main" val="20007"/>
                    </a:ext>
                  </a:extLst>
                </a:gridCol>
                <a:gridCol w="773112">
                  <a:extLst>
                    <a:ext uri="{9D8B030D-6E8A-4147-A177-3AD203B41FA5}">
                      <a16:colId xmlns:a16="http://schemas.microsoft.com/office/drawing/2014/main" val="20008"/>
                    </a:ext>
                  </a:extLst>
                </a:gridCol>
              </a:tblGrid>
              <a:tr h="304800">
                <a:tc rowSpan="2">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Comic Sans MS" charset="0"/>
                        <a:ea typeface="ＭＳ Ｐゴシック" charset="-128"/>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8">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Clock Number</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04800">
                <a:tc vMerge="1">
                  <a:txBody>
                    <a:bodyPr/>
                    <a:lstStyle/>
                    <a:p>
                      <a:endParaRPr lang="en-US"/>
                    </a:p>
                  </a:txBody>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8</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00">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TAKEN branch</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F</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X</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M</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W</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Comic Sans MS"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Comic Sans MS"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Comic Sans MS"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4800">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branch instr. +1 </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Comic Sans MS"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F</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X</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M</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W</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Comic Sans MS"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Comic Sans MS"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4800">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branch instr. +2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Comic Sans MS"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Comic Sans MS"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F</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D </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X</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M</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W</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Comic Sans MS"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5913">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branch target</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Comic Sans MS"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Comic Sans MS"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400" b="0" i="0" u="none" strike="noStrike" cap="none" normalizeH="0" baseline="0">
                        <a:ln>
                          <a:noFill/>
                        </a:ln>
                        <a:solidFill>
                          <a:schemeClr val="tx1"/>
                        </a:solidFill>
                        <a:effectLst/>
                        <a:latin typeface="Comic Sans MS" charset="0"/>
                        <a:ea typeface="ＭＳ Ｐゴシック" charset="-128"/>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F</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X</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M</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400" b="0" i="0" u="none" strike="noStrike" cap="none" normalizeH="0" baseline="0">
                          <a:ln>
                            <a:noFill/>
                          </a:ln>
                          <a:solidFill>
                            <a:schemeClr val="tx1"/>
                          </a:solidFill>
                          <a:effectLst/>
                          <a:latin typeface="Comic Sans MS" charset="0"/>
                          <a:ea typeface="ＭＳ Ｐゴシック" charset="-128"/>
                        </a:rPr>
                        <a:t>W</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15780" name="TextBox 10"/>
          <p:cNvSpPr txBox="1">
            <a:spLocks noChangeArrowheads="1"/>
          </p:cNvSpPr>
          <p:nvPr/>
        </p:nvSpPr>
        <p:spPr bwMode="auto">
          <a:xfrm>
            <a:off x="395288" y="4508500"/>
            <a:ext cx="2376487"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r>
              <a:rPr lang="en-CA" altLang="en-US" sz="2400">
                <a:latin typeface="Arial" charset="0"/>
                <a:ea typeface="ＭＳ Ｐゴシック" charset="-128"/>
              </a:rPr>
              <a:t>Resolve branch</a:t>
            </a:r>
          </a:p>
          <a:p>
            <a:pPr>
              <a:spcBef>
                <a:spcPct val="0"/>
              </a:spcBef>
              <a:buFontTx/>
              <a:buNone/>
            </a:pPr>
            <a:r>
              <a:rPr lang="en-CA" altLang="en-US" sz="2400">
                <a:latin typeface="Arial" charset="0"/>
                <a:ea typeface="ＭＳ Ｐゴシック" charset="-128"/>
              </a:rPr>
              <a:t>on cycle 3. Find out prediction was </a:t>
            </a:r>
            <a:r>
              <a:rPr lang="en-CA" altLang="en-US" sz="2400" b="1" u="sng">
                <a:latin typeface="Arial" charset="0"/>
                <a:ea typeface="ＭＳ Ｐゴシック" charset="-128"/>
              </a:rPr>
              <a:t>wrong</a:t>
            </a:r>
            <a:r>
              <a:rPr lang="en-CA" altLang="en-US" sz="2400">
                <a:latin typeface="Arial" charset="0"/>
                <a:ea typeface="ＭＳ Ｐゴシック" charset="-128"/>
              </a:rPr>
              <a:t>.</a:t>
            </a:r>
          </a:p>
        </p:txBody>
      </p:sp>
      <p:sp>
        <p:nvSpPr>
          <p:cNvPr id="115781" name="TextBox 11"/>
          <p:cNvSpPr txBox="1">
            <a:spLocks noChangeArrowheads="1"/>
          </p:cNvSpPr>
          <p:nvPr/>
        </p:nvSpPr>
        <p:spPr bwMode="auto">
          <a:xfrm>
            <a:off x="3887788" y="4179888"/>
            <a:ext cx="5256212" cy="267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r>
              <a:rPr lang="en-CA" altLang="en-US" sz="2400">
                <a:latin typeface="Arial" charset="0"/>
                <a:ea typeface="ＭＳ Ｐゴシック" charset="-128"/>
              </a:rPr>
              <a:t>Next cycle (clock cycle 4), fix incorrect prediction.  </a:t>
            </a:r>
          </a:p>
          <a:p>
            <a:pPr>
              <a:spcBef>
                <a:spcPct val="0"/>
              </a:spcBef>
              <a:buFontTx/>
              <a:buNone/>
            </a:pPr>
            <a:r>
              <a:rPr lang="en-CA" altLang="en-US" sz="2400">
                <a:latin typeface="Arial" charset="0"/>
                <a:ea typeface="ＭＳ Ｐゴシック" charset="-128"/>
              </a:rPr>
              <a:t>Two things happen:</a:t>
            </a:r>
          </a:p>
          <a:p>
            <a:pPr>
              <a:spcBef>
                <a:spcPct val="0"/>
              </a:spcBef>
              <a:buFontTx/>
              <a:buAutoNum type="arabicPeriod"/>
            </a:pPr>
            <a:r>
              <a:rPr lang="en-CA" altLang="en-US" sz="2400">
                <a:latin typeface="Arial" charset="0"/>
                <a:ea typeface="ＭＳ Ｐゴシック" charset="-128"/>
              </a:rPr>
              <a:t>Squash incorrectly fetched instructions (turn into “no ops” or “bubbles”)</a:t>
            </a:r>
          </a:p>
          <a:p>
            <a:pPr>
              <a:spcBef>
                <a:spcPct val="0"/>
              </a:spcBef>
              <a:buFontTx/>
              <a:buAutoNum type="arabicPeriod"/>
            </a:pPr>
            <a:r>
              <a:rPr lang="en-CA" altLang="en-US" sz="2400">
                <a:latin typeface="Arial" charset="0"/>
                <a:ea typeface="ＭＳ Ｐゴシック" charset="-128"/>
              </a:rPr>
              <a:t>Start fetching correct instruction</a:t>
            </a:r>
          </a:p>
        </p:txBody>
      </p:sp>
      <mc:AlternateContent xmlns:mc="http://schemas.openxmlformats.org/markup-compatibility/2006" xmlns:p14="http://schemas.microsoft.com/office/powerpoint/2010/main">
        <mc:Choice Requires="p14">
          <p:contentPart p14:bwMode="auto" r:id="rId2">
            <p14:nvContentPartPr>
              <p14:cNvPr id="9218" name="Ink 2"/>
              <p14:cNvContentPartPr>
                <a14:cpLocks xmlns:a14="http://schemas.microsoft.com/office/drawing/2010/main" noRot="1" noChangeAspect="1" noEditPoints="1" noChangeArrowheads="1" noChangeShapeType="1"/>
              </p14:cNvContentPartPr>
              <p14:nvPr/>
            </p14:nvContentPartPr>
            <p14:xfrm>
              <a:off x="4757738" y="2581275"/>
              <a:ext cx="492125" cy="658813"/>
            </p14:xfrm>
          </p:contentPart>
        </mc:Choice>
        <mc:Fallback xmlns="">
          <p:pic>
            <p:nvPicPr>
              <p:cNvPr id="9218" name="Ink 2"/>
              <p:cNvPicPr>
                <a:picLocks noRot="1" noChangeAspect="1" noEditPoints="1" noChangeArrowheads="1" noChangeShapeType="1"/>
              </p:cNvPicPr>
              <p:nvPr/>
            </p:nvPicPr>
            <p:blipFill>
              <a:blip r:embed="rId3"/>
              <a:stretch>
                <a:fillRect/>
              </a:stretch>
            </p:blipFill>
            <p:spPr>
              <a:xfrm>
                <a:off x="4748378" y="2571915"/>
                <a:ext cx="510845" cy="677533"/>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9219" name="Ink 3"/>
              <p14:cNvContentPartPr>
                <a14:cpLocks xmlns:a14="http://schemas.microsoft.com/office/drawing/2010/main" noRot="1" noChangeAspect="1" noEditPoints="1" noChangeArrowheads="1" noChangeShapeType="1"/>
              </p14:cNvContentPartPr>
              <p14:nvPr/>
            </p14:nvContentPartPr>
            <p14:xfrm>
              <a:off x="5649913" y="2581275"/>
              <a:ext cx="458787" cy="628650"/>
            </p14:xfrm>
          </p:contentPart>
        </mc:Choice>
        <mc:Fallback xmlns="">
          <p:pic>
            <p:nvPicPr>
              <p:cNvPr id="9219" name="Ink 3"/>
              <p:cNvPicPr>
                <a:picLocks noRot="1" noChangeAspect="1" noEditPoints="1" noChangeArrowheads="1" noChangeShapeType="1"/>
              </p:cNvPicPr>
              <p:nvPr/>
            </p:nvPicPr>
            <p:blipFill>
              <a:blip r:embed="rId5"/>
              <a:stretch>
                <a:fillRect/>
              </a:stretch>
            </p:blipFill>
            <p:spPr>
              <a:xfrm>
                <a:off x="5640557" y="2571914"/>
                <a:ext cx="477498" cy="647373"/>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220" name="Ink 4"/>
              <p14:cNvContentPartPr>
                <a14:cpLocks xmlns:a14="http://schemas.microsoft.com/office/drawing/2010/main" noRot="1" noChangeAspect="1" noEditPoints="1" noChangeArrowheads="1" noChangeShapeType="1"/>
              </p14:cNvContentPartPr>
              <p14:nvPr/>
            </p14:nvContentPartPr>
            <p14:xfrm>
              <a:off x="6405563" y="2581275"/>
              <a:ext cx="468312" cy="608013"/>
            </p14:xfrm>
          </p:contentPart>
        </mc:Choice>
        <mc:Fallback xmlns="">
          <p:pic>
            <p:nvPicPr>
              <p:cNvPr id="9220" name="Ink 4"/>
              <p:cNvPicPr>
                <a:picLocks noRot="1" noChangeAspect="1" noEditPoints="1" noChangeArrowheads="1" noChangeShapeType="1"/>
              </p:cNvPicPr>
              <p:nvPr/>
            </p:nvPicPr>
            <p:blipFill>
              <a:blip r:embed="rId7"/>
              <a:stretch>
                <a:fillRect/>
              </a:stretch>
            </p:blipFill>
            <p:spPr>
              <a:xfrm>
                <a:off x="6396204" y="2571915"/>
                <a:ext cx="487030" cy="626732"/>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221" name="Ink 5"/>
              <p14:cNvContentPartPr>
                <a14:cpLocks xmlns:a14="http://schemas.microsoft.com/office/drawing/2010/main" noRot="1" noChangeAspect="1" noEditPoints="1" noChangeArrowheads="1" noChangeShapeType="1"/>
              </p14:cNvContentPartPr>
              <p14:nvPr/>
            </p14:nvContentPartPr>
            <p14:xfrm>
              <a:off x="7197725" y="2868613"/>
              <a:ext cx="420688" cy="377825"/>
            </p14:xfrm>
          </p:contentPart>
        </mc:Choice>
        <mc:Fallback xmlns="">
          <p:pic>
            <p:nvPicPr>
              <p:cNvPr id="9221" name="Ink 5"/>
              <p:cNvPicPr>
                <a:picLocks noRot="1" noChangeAspect="1" noEditPoints="1" noChangeArrowheads="1" noChangeShapeType="1"/>
              </p:cNvPicPr>
              <p:nvPr/>
            </p:nvPicPr>
            <p:blipFill>
              <a:blip r:embed="rId9"/>
              <a:stretch>
                <a:fillRect/>
              </a:stretch>
            </p:blipFill>
            <p:spPr>
              <a:xfrm>
                <a:off x="7188368" y="2859257"/>
                <a:ext cx="439401" cy="396536"/>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222" name="Ink 16"/>
              <p14:cNvContentPartPr>
                <a14:cpLocks xmlns:a14="http://schemas.microsoft.com/office/drawing/2010/main" noRot="1" noChangeAspect="1" noEditPoints="1" noChangeArrowheads="1" noChangeShapeType="1"/>
              </p14:cNvContentPartPr>
              <p14:nvPr/>
            </p14:nvContentPartPr>
            <p14:xfrm>
              <a:off x="2049463" y="2552700"/>
              <a:ext cx="2476500" cy="1930400"/>
            </p14:xfrm>
          </p:contentPart>
        </mc:Choice>
        <mc:Fallback xmlns="">
          <p:pic>
            <p:nvPicPr>
              <p:cNvPr id="9222" name="Ink 16"/>
              <p:cNvPicPr>
                <a:picLocks noRot="1" noChangeAspect="1" noEditPoints="1" noChangeArrowheads="1" noChangeShapeType="1"/>
              </p:cNvPicPr>
              <p:nvPr/>
            </p:nvPicPr>
            <p:blipFill>
              <a:blip r:embed="rId11"/>
              <a:stretch>
                <a:fillRect/>
              </a:stretch>
            </p:blipFill>
            <p:spPr>
              <a:xfrm>
                <a:off x="2040103" y="2543340"/>
                <a:ext cx="2495220" cy="1949121"/>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223" name="Ink 15"/>
              <p14:cNvContentPartPr>
                <a14:cpLocks xmlns:a14="http://schemas.microsoft.com/office/drawing/2010/main" noRot="1" noChangeAspect="1" noEditPoints="1" noChangeArrowheads="1" noChangeShapeType="1"/>
              </p14:cNvContentPartPr>
              <p14:nvPr/>
            </p14:nvContentPartPr>
            <p14:xfrm>
              <a:off x="4432300" y="2497138"/>
              <a:ext cx="157163" cy="220662"/>
            </p14:xfrm>
          </p:contentPart>
        </mc:Choice>
        <mc:Fallback xmlns="">
          <p:pic>
            <p:nvPicPr>
              <p:cNvPr id="9223" name="Ink 15"/>
              <p:cNvPicPr>
                <a:picLocks noRot="1" noChangeAspect="1" noEditPoints="1" noChangeArrowheads="1" noChangeShapeType="1"/>
              </p:cNvPicPr>
              <p:nvPr/>
            </p:nvPicPr>
            <p:blipFill>
              <a:blip r:embed="rId13"/>
              <a:stretch>
                <a:fillRect/>
              </a:stretch>
            </p:blipFill>
            <p:spPr>
              <a:xfrm>
                <a:off x="4422949" y="2487779"/>
                <a:ext cx="175864" cy="2393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224" name="Ink 18"/>
              <p14:cNvContentPartPr>
                <a14:cpLocks xmlns:a14="http://schemas.microsoft.com/office/drawing/2010/main" noRot="1" noChangeAspect="1" noEditPoints="1" noChangeArrowheads="1" noChangeShapeType="1"/>
              </p14:cNvContentPartPr>
              <p14:nvPr/>
            </p14:nvContentPartPr>
            <p14:xfrm>
              <a:off x="4965700" y="3586163"/>
              <a:ext cx="212725" cy="527050"/>
            </p14:xfrm>
          </p:contentPart>
        </mc:Choice>
        <mc:Fallback xmlns="">
          <p:pic>
            <p:nvPicPr>
              <p:cNvPr id="9224" name="Ink 18"/>
              <p:cNvPicPr>
                <a:picLocks noRot="1" noChangeAspect="1" noEditPoints="1" noChangeArrowheads="1" noChangeShapeType="1"/>
              </p:cNvPicPr>
              <p:nvPr/>
            </p:nvPicPr>
            <p:blipFill>
              <a:blip r:embed="rId15"/>
              <a:stretch>
                <a:fillRect/>
              </a:stretch>
            </p:blipFill>
            <p:spPr>
              <a:xfrm>
                <a:off x="4956342" y="3576803"/>
                <a:ext cx="231442" cy="545770"/>
              </a:xfrm>
              <a:prstGeom prst="rect">
                <a:avLst/>
              </a:prstGeom>
            </p:spPr>
          </p:pic>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Slide Number Placeholder 5"/>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6A7BD361-7760-9F48-957E-05ED074C2749}" type="slidenum">
              <a:rPr lang="en-US" altLang="en-US" sz="1400">
                <a:latin typeface="Comic Sans MS" charset="0"/>
                <a:ea typeface="ＭＳ Ｐゴシック" charset="-128"/>
              </a:rPr>
              <a:pPr>
                <a:spcBef>
                  <a:spcPct val="0"/>
                </a:spcBef>
                <a:buFontTx/>
                <a:buNone/>
              </a:pPr>
              <a:t>41</a:t>
            </a:fld>
            <a:r>
              <a:rPr lang="en-US" altLang="en-US" sz="1400">
                <a:latin typeface="Comic Sans MS" charset="0"/>
                <a:ea typeface="ＭＳ Ｐゴシック" charset="-128"/>
              </a:rPr>
              <a:t> of 30</a:t>
            </a:r>
          </a:p>
        </p:txBody>
      </p:sp>
      <p:sp>
        <p:nvSpPr>
          <p:cNvPr id="116738" name="Rectangle 2"/>
          <p:cNvSpPr>
            <a:spLocks noGrp="1" noChangeArrowheads="1"/>
          </p:cNvSpPr>
          <p:nvPr>
            <p:ph type="title"/>
          </p:nvPr>
        </p:nvSpPr>
        <p:spPr/>
        <p:txBody>
          <a:bodyPr/>
          <a:lstStyle/>
          <a:p>
            <a:pPr eaLnBrk="1" hangingPunct="1"/>
            <a:r>
              <a:rPr lang="en-US" altLang="en-US">
                <a:latin typeface="Arial  " charset="0"/>
                <a:ea typeface="MS PGothic" charset="-128"/>
                <a:cs typeface="Arial  " charset="0"/>
              </a:rPr>
              <a:t>Option #3: Delayed Branches </a:t>
            </a:r>
            <a:endParaRPr lang="en-US" altLang="en-US" sz="3200">
              <a:latin typeface="Arial  " charset="0"/>
              <a:ea typeface="MS PGothic" charset="-128"/>
              <a:cs typeface="Arial  " charset="0"/>
            </a:endParaRPr>
          </a:p>
        </p:txBody>
      </p:sp>
      <p:sp>
        <p:nvSpPr>
          <p:cNvPr id="116739" name="Rectangle 3"/>
          <p:cNvSpPr>
            <a:spLocks noGrp="1" noChangeArrowheads="1"/>
          </p:cNvSpPr>
          <p:nvPr>
            <p:ph type="body" idx="1"/>
          </p:nvPr>
        </p:nvSpPr>
        <p:spPr/>
        <p:txBody>
          <a:bodyPr/>
          <a:lstStyle/>
          <a:p>
            <a:pPr eaLnBrk="1" hangingPunct="1"/>
            <a:r>
              <a:rPr lang="en-US" altLang="en-US" sz="2000">
                <a:latin typeface="Arial  " charset="0"/>
                <a:ea typeface="MS PGothic" charset="-128"/>
                <a:cs typeface="Arial  " charset="0"/>
              </a:rPr>
              <a:t>Delayed branch = branch that does not change control flow until after next N instructions (typically N=1).</a:t>
            </a:r>
          </a:p>
          <a:p>
            <a:pPr eaLnBrk="1" hangingPunct="1"/>
            <a:r>
              <a:rPr lang="en-US" altLang="en-US" sz="2000">
                <a:latin typeface="Arial  " charset="0"/>
                <a:ea typeface="MS PGothic" charset="-128"/>
                <a:cs typeface="Arial  " charset="0"/>
              </a:rPr>
              <a:t>Below, assume branch is resolved in decode stage rather than execute stage.</a:t>
            </a:r>
          </a:p>
          <a:p>
            <a:pPr eaLnBrk="1" hangingPunct="1"/>
            <a:endParaRPr lang="en-US" altLang="en-US" sz="2000">
              <a:latin typeface="Arial  " charset="0"/>
              <a:ea typeface="MS PGothic" charset="-128"/>
              <a:cs typeface="Arial  " charset="0"/>
            </a:endParaRPr>
          </a:p>
        </p:txBody>
      </p:sp>
      <p:graphicFrame>
        <p:nvGraphicFramePr>
          <p:cNvPr id="234565" name="Group 69"/>
          <p:cNvGraphicFramePr>
            <a:graphicFrameLocks noGrp="1"/>
          </p:cNvGraphicFramePr>
          <p:nvPr/>
        </p:nvGraphicFramePr>
        <p:xfrm>
          <a:off x="539750" y="2852738"/>
          <a:ext cx="8085138" cy="2108205"/>
        </p:xfrm>
        <a:graphic>
          <a:graphicData uri="http://schemas.openxmlformats.org/drawingml/2006/table">
            <a:tbl>
              <a:tblPr/>
              <a:tblGrid>
                <a:gridCol w="2078038">
                  <a:extLst>
                    <a:ext uri="{9D8B030D-6E8A-4147-A177-3AD203B41FA5}">
                      <a16:colId xmlns:a16="http://schemas.microsoft.com/office/drawing/2014/main" val="20000"/>
                    </a:ext>
                  </a:extLst>
                </a:gridCol>
                <a:gridCol w="674687">
                  <a:extLst>
                    <a:ext uri="{9D8B030D-6E8A-4147-A177-3AD203B41FA5}">
                      <a16:colId xmlns:a16="http://schemas.microsoft.com/office/drawing/2014/main" val="20001"/>
                    </a:ext>
                  </a:extLst>
                </a:gridCol>
                <a:gridCol w="730250">
                  <a:extLst>
                    <a:ext uri="{9D8B030D-6E8A-4147-A177-3AD203B41FA5}">
                      <a16:colId xmlns:a16="http://schemas.microsoft.com/office/drawing/2014/main" val="20002"/>
                    </a:ext>
                  </a:extLst>
                </a:gridCol>
                <a:gridCol w="769938">
                  <a:extLst>
                    <a:ext uri="{9D8B030D-6E8A-4147-A177-3AD203B41FA5}">
                      <a16:colId xmlns:a16="http://schemas.microsoft.com/office/drawing/2014/main" val="20003"/>
                    </a:ext>
                  </a:extLst>
                </a:gridCol>
                <a:gridCol w="788987">
                  <a:extLst>
                    <a:ext uri="{9D8B030D-6E8A-4147-A177-3AD203B41FA5}">
                      <a16:colId xmlns:a16="http://schemas.microsoft.com/office/drawing/2014/main" val="20004"/>
                    </a:ext>
                  </a:extLst>
                </a:gridCol>
                <a:gridCol w="769938">
                  <a:extLst>
                    <a:ext uri="{9D8B030D-6E8A-4147-A177-3AD203B41FA5}">
                      <a16:colId xmlns:a16="http://schemas.microsoft.com/office/drawing/2014/main" val="20005"/>
                    </a:ext>
                  </a:extLst>
                </a:gridCol>
                <a:gridCol w="711200">
                  <a:extLst>
                    <a:ext uri="{9D8B030D-6E8A-4147-A177-3AD203B41FA5}">
                      <a16:colId xmlns:a16="http://schemas.microsoft.com/office/drawing/2014/main" val="20006"/>
                    </a:ext>
                  </a:extLst>
                </a:gridCol>
                <a:gridCol w="788987">
                  <a:extLst>
                    <a:ext uri="{9D8B030D-6E8A-4147-A177-3AD203B41FA5}">
                      <a16:colId xmlns:a16="http://schemas.microsoft.com/office/drawing/2014/main" val="20007"/>
                    </a:ext>
                  </a:extLst>
                </a:gridCol>
                <a:gridCol w="773113">
                  <a:extLst>
                    <a:ext uri="{9D8B030D-6E8A-4147-A177-3AD203B41FA5}">
                      <a16:colId xmlns:a16="http://schemas.microsoft.com/office/drawing/2014/main" val="20008"/>
                    </a:ext>
                  </a:extLst>
                </a:gridCol>
              </a:tblGrid>
              <a:tr h="355478">
                <a:tc rowSpan="2">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Comic Sans MS" charset="0"/>
                        <a:ea typeface="ＭＳ Ｐゴシック" charset="-128"/>
                      </a:endParaRPr>
                    </a:p>
                  </a:txBody>
                  <a:tcPr marT="45686" marB="4568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8">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Clock Number</a:t>
                      </a:r>
                    </a:p>
                  </a:txBody>
                  <a:tcPr marT="45686" marB="4568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35209">
                <a:tc vMerge="1">
                  <a:txBody>
                    <a:bodyPr/>
                    <a:lstStyle/>
                    <a:p>
                      <a:endParaRPr lang="en-US"/>
                    </a:p>
                  </a:txBody>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1</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2</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3</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4</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5</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6</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7</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8</a:t>
                      </a:r>
                    </a:p>
                  </a:txBody>
                  <a:tcPr marT="45686" marB="4568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0717">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TAKEN branch</a:t>
                      </a:r>
                    </a:p>
                  </a:txBody>
                  <a:tcPr marT="45686" marB="4568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F</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D</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X</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M</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W</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Comic Sans MS" charset="0"/>
                        <a:ea typeface="ＭＳ Ｐゴシック" charset="-128"/>
                      </a:endParaRP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Comic Sans MS" charset="0"/>
                        <a:ea typeface="ＭＳ Ｐゴシック" charset="-128"/>
                      </a:endParaRP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Comic Sans MS" charset="0"/>
                        <a:ea typeface="ＭＳ Ｐゴシック" charset="-128"/>
                      </a:endParaRPr>
                    </a:p>
                  </a:txBody>
                  <a:tcPr marT="45686" marB="4568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209">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Branch instr. + 1</a:t>
                      </a:r>
                    </a:p>
                  </a:txBody>
                  <a:tcPr marT="45686" marB="4568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Comic Sans MS" charset="0"/>
                        <a:ea typeface="ＭＳ Ｐゴシック" charset="-128"/>
                      </a:endParaRP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F</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D</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X</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M</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W</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Comic Sans MS" charset="0"/>
                        <a:ea typeface="ＭＳ Ｐゴシック" charset="-128"/>
                      </a:endParaRP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Comic Sans MS" charset="0"/>
                        <a:ea typeface="ＭＳ Ｐゴシック" charset="-128"/>
                      </a:endParaRPr>
                    </a:p>
                  </a:txBody>
                  <a:tcPr marT="45686" marB="4568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0717">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Branch target</a:t>
                      </a:r>
                    </a:p>
                  </a:txBody>
                  <a:tcPr marT="45686" marB="4568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Comic Sans MS" charset="0"/>
                        <a:ea typeface="ＭＳ Ｐゴシック" charset="-128"/>
                      </a:endParaRP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Comic Sans MS" charset="0"/>
                        <a:ea typeface="ＭＳ Ｐゴシック" charset="-128"/>
                      </a:endParaRP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F</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D</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X</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M</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W</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Comic Sans MS" charset="0"/>
                        <a:ea typeface="ＭＳ Ｐゴシック" charset="-128"/>
                      </a:endParaRPr>
                    </a:p>
                  </a:txBody>
                  <a:tcPr marT="45686" marB="4568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0869">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Branch target + 1</a:t>
                      </a:r>
                    </a:p>
                  </a:txBody>
                  <a:tcPr marT="45686" marB="4568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Comic Sans MS" charset="0"/>
                        <a:ea typeface="ＭＳ Ｐゴシック" charset="-128"/>
                      </a:endParaRP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Comic Sans MS" charset="0"/>
                        <a:ea typeface="ＭＳ Ｐゴシック" charset="-128"/>
                      </a:endParaRP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600" b="0" i="0" u="none" strike="noStrike" cap="none" normalizeH="0" baseline="0">
                        <a:ln>
                          <a:noFill/>
                        </a:ln>
                        <a:solidFill>
                          <a:schemeClr val="tx1"/>
                        </a:solidFill>
                        <a:effectLst/>
                        <a:latin typeface="Comic Sans MS" charset="0"/>
                        <a:ea typeface="ＭＳ Ｐゴシック" charset="-128"/>
                      </a:endParaRP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F</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D</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X</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M</a:t>
                      </a:r>
                    </a:p>
                  </a:txBody>
                  <a:tcPr marT="45686" marB="4568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Arial  " charset="0"/>
                          <a:ea typeface="MS PGothic" charset="-128"/>
                        </a:defRPr>
                      </a:lvl1pPr>
                      <a:lvl2pPr marL="742950" indent="-285750">
                        <a:spcBef>
                          <a:spcPct val="20000"/>
                        </a:spcBef>
                        <a:defRPr sz="2000">
                          <a:solidFill>
                            <a:schemeClr val="tx1"/>
                          </a:solidFill>
                          <a:latin typeface="Arial  " charset="0"/>
                          <a:ea typeface="MS PGothic" charset="-128"/>
                        </a:defRPr>
                      </a:lvl2pPr>
                      <a:lvl3pPr marL="1143000" indent="-228600">
                        <a:spcBef>
                          <a:spcPct val="20000"/>
                        </a:spcBef>
                        <a:defRPr>
                          <a:solidFill>
                            <a:schemeClr val="tx1"/>
                          </a:solidFill>
                          <a:latin typeface="Arial  " charset="0"/>
                          <a:ea typeface="MS PGothic" charset="-128"/>
                        </a:defRPr>
                      </a:lvl3pPr>
                      <a:lvl4pPr marL="1600200" indent="-228600">
                        <a:spcBef>
                          <a:spcPct val="20000"/>
                        </a:spcBef>
                        <a:defRPr>
                          <a:solidFill>
                            <a:schemeClr val="tx1"/>
                          </a:solidFill>
                          <a:latin typeface="Arial  " charset="0"/>
                          <a:ea typeface="MS PGothic" charset="-128"/>
                        </a:defRPr>
                      </a:lvl4pPr>
                      <a:lvl5pPr marL="2057400" indent="-228600">
                        <a:spcBef>
                          <a:spcPct val="20000"/>
                        </a:spcBef>
                        <a:defRPr>
                          <a:solidFill>
                            <a:schemeClr val="tx1"/>
                          </a:solidFill>
                          <a:latin typeface="Arial  " charset="0"/>
                          <a:ea typeface="MS PGothic" charset="-128"/>
                        </a:defRPr>
                      </a:lvl5pPr>
                      <a:lvl6pPr marL="2514600" indent="-228600" eaLnBrk="0" fontAlgn="base" hangingPunct="0">
                        <a:spcBef>
                          <a:spcPct val="20000"/>
                        </a:spcBef>
                        <a:spcAft>
                          <a:spcPct val="0"/>
                        </a:spcAft>
                        <a:defRPr>
                          <a:solidFill>
                            <a:schemeClr val="tx1"/>
                          </a:solidFill>
                          <a:latin typeface="Arial  " charset="0"/>
                          <a:ea typeface="MS PGothic" charset="-128"/>
                        </a:defRPr>
                      </a:lvl6pPr>
                      <a:lvl7pPr marL="2971800" indent="-228600" eaLnBrk="0" fontAlgn="base" hangingPunct="0">
                        <a:spcBef>
                          <a:spcPct val="20000"/>
                        </a:spcBef>
                        <a:spcAft>
                          <a:spcPct val="0"/>
                        </a:spcAft>
                        <a:defRPr>
                          <a:solidFill>
                            <a:schemeClr val="tx1"/>
                          </a:solidFill>
                          <a:latin typeface="Arial  " charset="0"/>
                          <a:ea typeface="MS PGothic" charset="-128"/>
                        </a:defRPr>
                      </a:lvl7pPr>
                      <a:lvl8pPr marL="3429000" indent="-228600" eaLnBrk="0" fontAlgn="base" hangingPunct="0">
                        <a:spcBef>
                          <a:spcPct val="20000"/>
                        </a:spcBef>
                        <a:spcAft>
                          <a:spcPct val="0"/>
                        </a:spcAft>
                        <a:defRPr>
                          <a:solidFill>
                            <a:schemeClr val="tx1"/>
                          </a:solidFill>
                          <a:latin typeface="Arial  " charset="0"/>
                          <a:ea typeface="MS PGothic" charset="-128"/>
                        </a:defRPr>
                      </a:lvl8pPr>
                      <a:lvl9pPr marL="3886200" indent="-228600" eaLnBrk="0" fontAlgn="base" hangingPunct="0">
                        <a:spcBef>
                          <a:spcPct val="20000"/>
                        </a:spcBef>
                        <a:spcAft>
                          <a:spcPct val="0"/>
                        </a:spcAft>
                        <a:defRPr>
                          <a:solidFill>
                            <a:schemeClr val="tx1"/>
                          </a:solidFill>
                          <a:latin typeface="Arial  " charset="0"/>
                          <a:ea typeface="MS PGothic"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600" b="0" i="0" u="none" strike="noStrike" cap="none" normalizeH="0" baseline="0">
                          <a:ln>
                            <a:noFill/>
                          </a:ln>
                          <a:solidFill>
                            <a:schemeClr val="tx1"/>
                          </a:solidFill>
                          <a:effectLst/>
                          <a:latin typeface="Comic Sans MS" charset="0"/>
                          <a:ea typeface="ＭＳ Ｐゴシック" charset="-128"/>
                        </a:rPr>
                        <a:t>W</a:t>
                      </a:r>
                    </a:p>
                  </a:txBody>
                  <a:tcPr marT="45686" marB="4568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16804" name="Text Box 68"/>
          <p:cNvSpPr txBox="1">
            <a:spLocks noChangeArrowheads="1"/>
          </p:cNvSpPr>
          <p:nvPr/>
        </p:nvSpPr>
        <p:spPr bwMode="auto">
          <a:xfrm>
            <a:off x="539750" y="5445125"/>
            <a:ext cx="80518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50000"/>
              </a:spcBef>
              <a:buFontTx/>
              <a:buNone/>
            </a:pPr>
            <a:r>
              <a:rPr lang="en-US" altLang="en-US" sz="2000">
                <a:latin typeface="Arial" charset="0"/>
                <a:ea typeface="ＭＳ Ｐゴシック" charset="-128"/>
              </a:rPr>
              <a:t>(Delayed branches were motivated by 5-stage pipeline... “negative benefit” due to impl. complexity in modern microarchitectures)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Number Placeholder 5">
            <a:extLst>
              <a:ext uri="{FF2B5EF4-FFF2-40B4-BE49-F238E27FC236}">
                <a16:creationId xmlns:a16="http://schemas.microsoft.com/office/drawing/2014/main" id="{7B688497-4670-5101-1CE9-24729EA2F6BD}"/>
              </a:ext>
            </a:extLst>
          </p:cNvPr>
          <p:cNvSpPr>
            <a:spLocks noGrp="1"/>
          </p:cNvSpPr>
          <p:nvPr>
            <p:ph type="sldNum" sz="quarter" idx="12"/>
          </p:nvPr>
        </p:nvSpPr>
        <p:spPr bwMode="auto">
          <a:xfrm>
            <a:off x="6553200" y="6248400"/>
            <a:ext cx="1905000" cy="457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Comic Sans MS" panose="030F0902030302020204" pitchFamily="66"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9pPr>
          </a:lstStyle>
          <a:p>
            <a:fld id="{AE5A7F99-2BDF-A947-AD65-D883555E2AA7}" type="slidenum">
              <a:rPr lang="en-US" altLang="en-US" smtClean="0"/>
              <a:pPr/>
              <a:t>42</a:t>
            </a:fld>
            <a:r>
              <a:rPr lang="en-US" altLang="en-US"/>
              <a:t> </a:t>
            </a:r>
            <a:endParaRPr lang="en-US" altLang="en-US" sz="1400">
              <a:latin typeface="Comic Sans MS" panose="030F0902030302020204" pitchFamily="66" charset="0"/>
            </a:endParaRPr>
          </a:p>
        </p:txBody>
      </p:sp>
      <p:sp>
        <p:nvSpPr>
          <p:cNvPr id="79875" name="Rectangle 2">
            <a:extLst>
              <a:ext uri="{FF2B5EF4-FFF2-40B4-BE49-F238E27FC236}">
                <a16:creationId xmlns:a16="http://schemas.microsoft.com/office/drawing/2014/main" id="{EB3F1A24-62BA-1362-5B01-3DDADE0092C6}"/>
              </a:ext>
            </a:extLst>
          </p:cNvPr>
          <p:cNvSpPr>
            <a:spLocks noGrp="1" noChangeArrowheads="1"/>
          </p:cNvSpPr>
          <p:nvPr>
            <p:ph type="title"/>
          </p:nvPr>
        </p:nvSpPr>
        <p:spPr>
          <a:xfrm>
            <a:off x="685800" y="0"/>
            <a:ext cx="7772400" cy="914400"/>
          </a:xfrm>
        </p:spPr>
        <p:txBody>
          <a:bodyPr/>
          <a:lstStyle/>
          <a:p>
            <a:pPr eaLnBrk="1" hangingPunct="1"/>
            <a:r>
              <a:rPr lang="en-US" altLang="en-US">
                <a:latin typeface="Arial  " charset="0"/>
                <a:cs typeface="Arial  " charset="0"/>
              </a:rPr>
              <a:t>Strategies for filling delay slot</a:t>
            </a:r>
          </a:p>
        </p:txBody>
      </p:sp>
      <p:sp>
        <p:nvSpPr>
          <p:cNvPr id="79876" name="Rectangle 3">
            <a:extLst>
              <a:ext uri="{FF2B5EF4-FFF2-40B4-BE49-F238E27FC236}">
                <a16:creationId xmlns:a16="http://schemas.microsoft.com/office/drawing/2014/main" id="{C2D9FC85-A9D2-2CBF-5B69-1CF2A049E2BE}"/>
              </a:ext>
            </a:extLst>
          </p:cNvPr>
          <p:cNvSpPr>
            <a:spLocks noGrp="1" noChangeArrowheads="1"/>
          </p:cNvSpPr>
          <p:nvPr>
            <p:ph type="body" idx="1"/>
          </p:nvPr>
        </p:nvSpPr>
        <p:spPr>
          <a:xfrm>
            <a:off x="685800" y="5549900"/>
            <a:ext cx="7772400" cy="546100"/>
          </a:xfrm>
        </p:spPr>
        <p:txBody>
          <a:bodyPr/>
          <a:lstStyle/>
          <a:p>
            <a:pPr eaLnBrk="1" hangingPunct="1">
              <a:lnSpc>
                <a:spcPct val="90000"/>
              </a:lnSpc>
            </a:pPr>
            <a:endParaRPr lang="en-US" altLang="en-US">
              <a:latin typeface="Arial  " charset="0"/>
              <a:cs typeface="Arial  " charset="0"/>
            </a:endParaRPr>
          </a:p>
        </p:txBody>
      </p:sp>
      <p:pic>
        <p:nvPicPr>
          <p:cNvPr id="79877" name="Picture 4" descr="AppA-fig14">
            <a:extLst>
              <a:ext uri="{FF2B5EF4-FFF2-40B4-BE49-F238E27FC236}">
                <a16:creationId xmlns:a16="http://schemas.microsoft.com/office/drawing/2014/main" id="{23C26858-D1E9-B5D3-74E4-28C75AC9DE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9575" y="1109663"/>
            <a:ext cx="5289550" cy="428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2"/>
          <p:cNvSpPr>
            <a:spLocks noGrp="1" noChangeArrowheads="1"/>
          </p:cNvSpPr>
          <p:nvPr>
            <p:ph type="title"/>
          </p:nvPr>
        </p:nvSpPr>
        <p:spPr>
          <a:xfrm>
            <a:off x="685800" y="0"/>
            <a:ext cx="7772400" cy="825500"/>
          </a:xfrm>
        </p:spPr>
        <p:txBody>
          <a:bodyPr/>
          <a:lstStyle/>
          <a:p>
            <a:pPr eaLnBrk="1" hangingPunct="1"/>
            <a:r>
              <a:rPr lang="en-US" altLang="en-US" dirty="0">
                <a:latin typeface="Arial  " charset="0"/>
                <a:ea typeface="MS PGothic" charset="-128"/>
                <a:cs typeface="Arial  " charset="0"/>
              </a:rPr>
              <a:t>Control Hazards Summary</a:t>
            </a:r>
          </a:p>
        </p:txBody>
      </p:sp>
      <p:sp>
        <p:nvSpPr>
          <p:cNvPr id="119810" name="Rectangle 3"/>
          <p:cNvSpPr>
            <a:spLocks noGrp="1" noChangeArrowheads="1"/>
          </p:cNvSpPr>
          <p:nvPr>
            <p:ph type="body" idx="1"/>
          </p:nvPr>
        </p:nvSpPr>
        <p:spPr>
          <a:xfrm>
            <a:off x="698500" y="800100"/>
            <a:ext cx="7772400" cy="5461000"/>
          </a:xfrm>
        </p:spPr>
        <p:txBody>
          <a:bodyPr/>
          <a:lstStyle/>
          <a:p>
            <a:pPr marL="533400" indent="-533400" eaLnBrk="1" hangingPunct="1"/>
            <a:r>
              <a:rPr lang="en-US" altLang="en-US" sz="2400">
                <a:latin typeface="Arial  " charset="0"/>
                <a:ea typeface="MS PGothic" charset="-128"/>
                <a:cs typeface="Arial  " charset="0"/>
              </a:rPr>
              <a:t>Arise from the pipelining of branches (and other instructions, like jumps, that change the PC).</a:t>
            </a:r>
          </a:p>
          <a:p>
            <a:pPr marL="533400" indent="-533400" eaLnBrk="1" hangingPunct="1"/>
            <a:r>
              <a:rPr lang="en-US" altLang="en-US" sz="2400">
                <a:latin typeface="Arial  " charset="0"/>
                <a:ea typeface="MS PGothic" charset="-128"/>
                <a:cs typeface="Arial  " charset="0"/>
              </a:rPr>
              <a:t>Three mechanisms to deal with them:</a:t>
            </a:r>
          </a:p>
          <a:p>
            <a:pPr marL="914400" lvl="1" indent="-457200" eaLnBrk="1" hangingPunct="1">
              <a:buFont typeface="Times" charset="0"/>
              <a:buAutoNum type="arabicPeriod"/>
            </a:pPr>
            <a:r>
              <a:rPr lang="en-US" altLang="en-US">
                <a:latin typeface="Arial  " charset="0"/>
                <a:ea typeface="MS PGothic" charset="-128"/>
                <a:cs typeface="Arial  " charset="0"/>
              </a:rPr>
              <a:t>Stop fetching until branch is resolved</a:t>
            </a:r>
          </a:p>
          <a:p>
            <a:pPr marL="1295400" lvl="2" indent="-381000" eaLnBrk="1" hangingPunct="1">
              <a:buFont typeface="Times" charset="0"/>
              <a:buChar char="–"/>
            </a:pPr>
            <a:r>
              <a:rPr lang="en-US" altLang="en-US">
                <a:latin typeface="Arial  " charset="0"/>
                <a:ea typeface="MS PGothic" charset="-128"/>
                <a:cs typeface="Arial  " charset="0"/>
              </a:rPr>
              <a:t>flush instruction after branch and fetch correct one</a:t>
            </a:r>
          </a:p>
          <a:p>
            <a:pPr marL="1295400" lvl="2" indent="-381000" eaLnBrk="1" hangingPunct="1">
              <a:buFont typeface="Times" charset="0"/>
              <a:buChar char="–"/>
            </a:pPr>
            <a:endParaRPr lang="en-US" altLang="en-US">
              <a:latin typeface="Arial  " charset="0"/>
              <a:ea typeface="MS PGothic" charset="-128"/>
              <a:cs typeface="Arial  " charset="0"/>
            </a:endParaRPr>
          </a:p>
          <a:p>
            <a:pPr marL="914400" lvl="1" indent="-457200" eaLnBrk="1" hangingPunct="1">
              <a:buFont typeface="Times" charset="0"/>
              <a:buAutoNum type="arabicPeriod"/>
            </a:pPr>
            <a:r>
              <a:rPr lang="en-US" altLang="en-US">
                <a:latin typeface="Arial  " charset="0"/>
                <a:ea typeface="MS PGothic" charset="-128"/>
                <a:cs typeface="Arial  " charset="0"/>
              </a:rPr>
              <a:t>Predict the outcome of the branch</a:t>
            </a:r>
          </a:p>
          <a:p>
            <a:pPr marL="1295400" lvl="2" indent="-381000" eaLnBrk="1" hangingPunct="1">
              <a:buFont typeface="Times" charset="0"/>
              <a:buChar char="–"/>
            </a:pPr>
            <a:r>
              <a:rPr lang="en-US" altLang="en-US">
                <a:latin typeface="Arial  " charset="0"/>
                <a:ea typeface="MS PGothic" charset="-128"/>
                <a:cs typeface="Arial  " charset="0"/>
              </a:rPr>
              <a:t>only flush if we were wrong</a:t>
            </a:r>
          </a:p>
          <a:p>
            <a:pPr marL="1295400" lvl="2" indent="-381000" eaLnBrk="1" hangingPunct="1">
              <a:buFont typeface="Times" charset="0"/>
              <a:buChar char="–"/>
            </a:pPr>
            <a:r>
              <a:rPr lang="en-US" altLang="en-US">
                <a:latin typeface="Arial  " charset="0"/>
                <a:ea typeface="MS PGothic" charset="-128"/>
                <a:cs typeface="Arial  " charset="0"/>
              </a:rPr>
              <a:t>simplest approach: “predict not taken”</a:t>
            </a:r>
            <a:br>
              <a:rPr lang="en-US" altLang="en-US">
                <a:latin typeface="Arial  " charset="0"/>
                <a:ea typeface="MS PGothic" charset="-128"/>
                <a:cs typeface="Arial  " charset="0"/>
              </a:rPr>
            </a:br>
            <a:r>
              <a:rPr lang="en-US" altLang="en-US">
                <a:latin typeface="Arial  " charset="0"/>
                <a:ea typeface="MS PGothic" charset="-128"/>
                <a:cs typeface="Arial  " charset="0"/>
              </a:rPr>
              <a:t>we will look at better ways later.</a:t>
            </a:r>
          </a:p>
          <a:p>
            <a:pPr marL="914400" lvl="1" indent="-457200" eaLnBrk="1" hangingPunct="1">
              <a:buFont typeface="Times" charset="0"/>
              <a:buAutoNum type="arabicPeriod"/>
            </a:pPr>
            <a:r>
              <a:rPr lang="en-US" altLang="en-US">
                <a:latin typeface="Arial  " charset="0"/>
                <a:ea typeface="MS PGothic" charset="-128"/>
                <a:cs typeface="Arial  " charset="0"/>
              </a:rPr>
              <a:t>Delayed branch </a:t>
            </a:r>
          </a:p>
          <a:p>
            <a:pPr marL="1295400" lvl="2" indent="-381000" eaLnBrk="1" hangingPunct="1">
              <a:buFont typeface="Times" charset="0"/>
              <a:buChar char="–"/>
            </a:pPr>
            <a:r>
              <a:rPr lang="en-US" altLang="en-US">
                <a:latin typeface="Arial  " charset="0"/>
                <a:ea typeface="MS PGothic" charset="-128"/>
                <a:cs typeface="Arial  " charset="0"/>
              </a:rPr>
              <a:t>require the compiler (or assembly programmer) to “fill delay slot”</a:t>
            </a:r>
          </a:p>
        </p:txBody>
      </p:sp>
      <p:sp>
        <p:nvSpPr>
          <p:cNvPr id="120835" name="Slide Number Placeholder 6"/>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AA4E45F0-2382-B948-A739-866F947DD69E}" type="slidenum">
              <a:rPr lang="en-US" altLang="en-US" sz="1400">
                <a:latin typeface="Comic Sans MS" charset="0"/>
                <a:ea typeface="ＭＳ Ｐゴシック" charset="-128"/>
              </a:rPr>
              <a:pPr>
                <a:spcBef>
                  <a:spcPct val="0"/>
                </a:spcBef>
                <a:buFontTx/>
                <a:buNone/>
              </a:pPr>
              <a:t>43</a:t>
            </a:fld>
            <a:r>
              <a:rPr lang="en-US" altLang="en-US" sz="1400">
                <a:latin typeface="Comic Sans MS" charset="0"/>
                <a:ea typeface="ＭＳ Ｐゴシック" charset="-128"/>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981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981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9810">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9810">
                                            <p:txEl>
                                              <p:pRg st="3" end="3"/>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9810">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9810">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9810">
                                            <p:txEl>
                                              <p:pRg st="7" end="7"/>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9810">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981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0"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p:cNvSpPr>
            <a:spLocks noGrp="1" noChangeArrowheads="1"/>
          </p:cNvSpPr>
          <p:nvPr>
            <p:ph type="title"/>
          </p:nvPr>
        </p:nvSpPr>
        <p:spPr>
          <a:xfrm>
            <a:off x="685800" y="0"/>
            <a:ext cx="7772400" cy="622300"/>
          </a:xfrm>
        </p:spPr>
        <p:txBody>
          <a:bodyPr/>
          <a:lstStyle/>
          <a:p>
            <a:pPr eaLnBrk="1" hangingPunct="1"/>
            <a:r>
              <a:rPr lang="en-US" altLang="en-US">
                <a:latin typeface="Arial  " charset="0"/>
                <a:ea typeface="MS PGothic" charset="-128"/>
                <a:cs typeface="Arial  " charset="0"/>
              </a:rPr>
              <a:t>Implementing Forwarding</a:t>
            </a:r>
          </a:p>
        </p:txBody>
      </p:sp>
      <p:pic>
        <p:nvPicPr>
          <p:cNvPr id="121858" name="Picture 3" descr="0166_001"/>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23451" t="3368" r="5772" b="52478"/>
          <a:stretch>
            <a:fillRect/>
          </a:stretch>
        </p:blipFill>
        <p:spPr>
          <a:xfrm>
            <a:off x="1262063" y="2217738"/>
            <a:ext cx="6619875" cy="3529012"/>
          </a:xfrm>
        </p:spPr>
      </p:pic>
      <p:sp>
        <p:nvSpPr>
          <p:cNvPr id="121859" name="Rectangle 4"/>
          <p:cNvSpPr>
            <a:spLocks noChangeArrowheads="1"/>
          </p:cNvSpPr>
          <p:nvPr/>
        </p:nvSpPr>
        <p:spPr bwMode="auto">
          <a:xfrm>
            <a:off x="520700" y="6985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r>
              <a:rPr lang="en-US" altLang="en-US" sz="2400">
                <a:latin typeface="Arial   " charset="0"/>
                <a:ea typeface="ＭＳ Ｐゴシック" charset="-128"/>
              </a:rPr>
              <a:t>The figure below shows a basic pipelined processor (focusing on data flow) but with </a:t>
            </a:r>
            <a:r>
              <a:rPr lang="en-US" altLang="en-US" sz="2400" b="1" u="sng">
                <a:latin typeface="Arial   " charset="0"/>
                <a:ea typeface="ＭＳ Ｐゴシック" charset="-128"/>
              </a:rPr>
              <a:t>no</a:t>
            </a:r>
            <a:r>
              <a:rPr lang="en-US" altLang="en-US" sz="2400" u="sng">
                <a:latin typeface="Arial   " charset="0"/>
                <a:ea typeface="ＭＳ Ｐゴシック" charset="-128"/>
              </a:rPr>
              <a:t> </a:t>
            </a:r>
            <a:r>
              <a:rPr lang="en-US" altLang="en-US" sz="2400" b="1" u="sng">
                <a:latin typeface="Arial   " charset="0"/>
                <a:ea typeface="ＭＳ Ｐゴシック" charset="-128"/>
              </a:rPr>
              <a:t>forwarding</a:t>
            </a:r>
          </a:p>
          <a:p>
            <a:pPr eaLnBrk="1" hangingPunct="1"/>
            <a:endParaRPr lang="en-US" altLang="en-US" sz="2400">
              <a:latin typeface="Arial   " charset="0"/>
              <a:ea typeface="ＭＳ Ｐゴシック" charset="-128"/>
            </a:endParaRPr>
          </a:p>
        </p:txBody>
      </p:sp>
      <p:sp>
        <p:nvSpPr>
          <p:cNvPr id="121860" name="Slide Number Placeholder 5"/>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EE202C57-90C9-274F-8350-C275A6DDA3F2}" type="slidenum">
              <a:rPr lang="en-US" altLang="en-US" sz="1400">
                <a:latin typeface="Comic Sans MS" charset="0"/>
                <a:ea typeface="ＭＳ Ｐゴシック" charset="-128"/>
              </a:rPr>
              <a:pPr>
                <a:spcBef>
                  <a:spcPct val="0"/>
                </a:spcBef>
                <a:buFontTx/>
                <a:buNone/>
              </a:pPr>
              <a:t>44</a:t>
            </a:fld>
            <a:r>
              <a:rPr lang="en-US" altLang="en-US" sz="1400">
                <a:latin typeface="Comic Sans MS" charset="0"/>
                <a:ea typeface="ＭＳ Ｐゴシック" charset="-128"/>
              </a:rPr>
              <a:t>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2"/>
          <p:cNvSpPr>
            <a:spLocks noGrp="1" noChangeArrowheads="1"/>
          </p:cNvSpPr>
          <p:nvPr>
            <p:ph type="title"/>
          </p:nvPr>
        </p:nvSpPr>
        <p:spPr>
          <a:xfrm>
            <a:off x="685800" y="0"/>
            <a:ext cx="7772400" cy="939800"/>
          </a:xfrm>
        </p:spPr>
        <p:txBody>
          <a:bodyPr/>
          <a:lstStyle/>
          <a:p>
            <a:pPr eaLnBrk="1" hangingPunct="1"/>
            <a:r>
              <a:rPr lang="en-US" altLang="en-US">
                <a:latin typeface="Arial  " charset="0"/>
                <a:ea typeface="MS PGothic" charset="-128"/>
                <a:cs typeface="Arial  " charset="0"/>
              </a:rPr>
              <a:t>Implementing Forwarding</a:t>
            </a:r>
          </a:p>
        </p:txBody>
      </p:sp>
      <p:sp>
        <p:nvSpPr>
          <p:cNvPr id="123906" name="Rectangle 3"/>
          <p:cNvSpPr>
            <a:spLocks noChangeArrowheads="1"/>
          </p:cNvSpPr>
          <p:nvPr/>
        </p:nvSpPr>
        <p:spPr bwMode="auto">
          <a:xfrm>
            <a:off x="457200" y="10033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endParaRPr lang="en-US" altLang="en-US" sz="2400">
              <a:latin typeface="Comic Sans MS" charset="0"/>
              <a:ea typeface="ＭＳ Ｐゴシック" charset="-128"/>
            </a:endParaRPr>
          </a:p>
          <a:p>
            <a:pPr eaLnBrk="1" hangingPunct="1"/>
            <a:endParaRPr lang="en-US" altLang="en-US" sz="2400">
              <a:latin typeface="Comic Sans MS" charset="0"/>
              <a:ea typeface="ＭＳ Ｐゴシック" charset="-128"/>
            </a:endParaRPr>
          </a:p>
        </p:txBody>
      </p:sp>
      <p:pic>
        <p:nvPicPr>
          <p:cNvPr id="123907" name="Picture 4" descr="0166_00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5051" t="2179" r="1283" b="27467"/>
          <a:stretch>
            <a:fillRect/>
          </a:stretch>
        </p:blipFill>
        <p:spPr>
          <a:xfrm>
            <a:off x="990600" y="1612900"/>
            <a:ext cx="7315200" cy="4244975"/>
          </a:xfrm>
        </p:spPr>
      </p:pic>
      <p:sp>
        <p:nvSpPr>
          <p:cNvPr id="123908" name="Text Box 5"/>
          <p:cNvSpPr txBox="1">
            <a:spLocks noChangeArrowheads="1"/>
          </p:cNvSpPr>
          <p:nvPr/>
        </p:nvSpPr>
        <p:spPr bwMode="auto">
          <a:xfrm>
            <a:off x="2309813" y="4252913"/>
            <a:ext cx="44608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r" eaLnBrk="1" hangingPunct="1">
              <a:spcBef>
                <a:spcPct val="0"/>
              </a:spcBef>
              <a:buFontTx/>
              <a:buNone/>
            </a:pPr>
            <a:r>
              <a:rPr lang="en-US" altLang="en-US" sz="1600" b="1">
                <a:solidFill>
                  <a:srgbClr val="00FF00"/>
                </a:solidFill>
                <a:latin typeface="Arial" charset="0"/>
                <a:ea typeface="ＭＳ Ｐゴシック" charset="-128"/>
              </a:rPr>
              <a:t>Rs</a:t>
            </a:r>
          </a:p>
        </p:txBody>
      </p:sp>
      <p:sp>
        <p:nvSpPr>
          <p:cNvPr id="123909" name="Text Box 6"/>
          <p:cNvSpPr txBox="1">
            <a:spLocks noChangeArrowheads="1"/>
          </p:cNvSpPr>
          <p:nvPr/>
        </p:nvSpPr>
        <p:spPr bwMode="auto">
          <a:xfrm>
            <a:off x="2346325" y="4673600"/>
            <a:ext cx="4000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r" eaLnBrk="1" hangingPunct="1">
              <a:spcBef>
                <a:spcPct val="0"/>
              </a:spcBef>
              <a:buFontTx/>
              <a:buNone/>
            </a:pPr>
            <a:r>
              <a:rPr lang="en-US" altLang="en-US" sz="1600" b="1">
                <a:solidFill>
                  <a:srgbClr val="00FF00"/>
                </a:solidFill>
                <a:latin typeface="Arial" charset="0"/>
                <a:ea typeface="ＭＳ Ｐゴシック" charset="-128"/>
              </a:rPr>
              <a:t>Rt</a:t>
            </a:r>
          </a:p>
        </p:txBody>
      </p:sp>
      <p:sp>
        <p:nvSpPr>
          <p:cNvPr id="123910" name="Text Box 7"/>
          <p:cNvSpPr txBox="1">
            <a:spLocks noChangeArrowheads="1"/>
          </p:cNvSpPr>
          <p:nvPr/>
        </p:nvSpPr>
        <p:spPr bwMode="auto">
          <a:xfrm>
            <a:off x="2354263" y="4902200"/>
            <a:ext cx="457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r" eaLnBrk="1" hangingPunct="1">
              <a:spcBef>
                <a:spcPct val="0"/>
              </a:spcBef>
              <a:buFontTx/>
              <a:buNone/>
            </a:pPr>
            <a:r>
              <a:rPr lang="en-US" altLang="en-US" sz="1600" b="1">
                <a:solidFill>
                  <a:srgbClr val="00FF00"/>
                </a:solidFill>
                <a:latin typeface="Arial" charset="0"/>
                <a:ea typeface="ＭＳ Ｐゴシック" charset="-128"/>
              </a:rPr>
              <a:t>Rd</a:t>
            </a:r>
          </a:p>
        </p:txBody>
      </p:sp>
      <p:sp>
        <p:nvSpPr>
          <p:cNvPr id="123911" name="Text Box 8"/>
          <p:cNvSpPr txBox="1">
            <a:spLocks noChangeArrowheads="1"/>
          </p:cNvSpPr>
          <p:nvPr/>
        </p:nvSpPr>
        <p:spPr bwMode="auto">
          <a:xfrm>
            <a:off x="2346325" y="4445000"/>
            <a:ext cx="4000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r" eaLnBrk="1" hangingPunct="1">
              <a:spcBef>
                <a:spcPct val="0"/>
              </a:spcBef>
              <a:buFontTx/>
              <a:buNone/>
            </a:pPr>
            <a:r>
              <a:rPr lang="en-US" altLang="en-US" sz="1600" b="1">
                <a:solidFill>
                  <a:srgbClr val="00FF00"/>
                </a:solidFill>
                <a:latin typeface="Arial" charset="0"/>
                <a:ea typeface="ＭＳ Ｐゴシック" charset="-128"/>
              </a:rPr>
              <a:t>Rt</a:t>
            </a:r>
          </a:p>
        </p:txBody>
      </p:sp>
      <p:sp>
        <p:nvSpPr>
          <p:cNvPr id="123912" name="Slide Number Placeholder 12"/>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159D3276-18F0-0741-9BD0-C5DA72751A03}" type="slidenum">
              <a:rPr lang="en-US" altLang="en-US" sz="1400">
                <a:latin typeface="Comic Sans MS" charset="0"/>
                <a:ea typeface="ＭＳ Ｐゴシック" charset="-128"/>
              </a:rPr>
              <a:pPr>
                <a:spcBef>
                  <a:spcPct val="0"/>
                </a:spcBef>
                <a:buFontTx/>
                <a:buNone/>
              </a:pPr>
              <a:t>45</a:t>
            </a:fld>
            <a:r>
              <a:rPr lang="en-US" altLang="en-US" sz="1400">
                <a:latin typeface="Comic Sans MS" charset="0"/>
                <a:ea typeface="ＭＳ Ｐゴシック" charset="-128"/>
              </a:rPr>
              <a:t> </a:t>
            </a:r>
          </a:p>
        </p:txBody>
      </p:sp>
      <p:sp>
        <p:nvSpPr>
          <p:cNvPr id="123913" name="Rectangle 5"/>
          <p:cNvSpPr>
            <a:spLocks noChangeArrowheads="1"/>
          </p:cNvSpPr>
          <p:nvPr/>
        </p:nvSpPr>
        <p:spPr bwMode="auto">
          <a:xfrm>
            <a:off x="4324350" y="4908550"/>
            <a:ext cx="946150" cy="603250"/>
          </a:xfrm>
          <a:prstGeom prst="rect">
            <a:avLst/>
          </a:prstGeom>
          <a:noFill/>
          <a:ln w="76200">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123914" name="Rectangle 6"/>
          <p:cNvSpPr>
            <a:spLocks noChangeArrowheads="1"/>
          </p:cNvSpPr>
          <p:nvPr/>
        </p:nvSpPr>
        <p:spPr bwMode="auto">
          <a:xfrm>
            <a:off x="3695700" y="2254250"/>
            <a:ext cx="228600" cy="542925"/>
          </a:xfrm>
          <a:prstGeom prst="rect">
            <a:avLst/>
          </a:prstGeom>
          <a:noFill/>
          <a:ln w="76200">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123915" name="Rectangle 7"/>
          <p:cNvSpPr>
            <a:spLocks noChangeArrowheads="1"/>
          </p:cNvSpPr>
          <p:nvPr/>
        </p:nvSpPr>
        <p:spPr bwMode="auto">
          <a:xfrm>
            <a:off x="3686175" y="3302000"/>
            <a:ext cx="228600" cy="533400"/>
          </a:xfrm>
          <a:prstGeom prst="rect">
            <a:avLst/>
          </a:prstGeom>
          <a:noFill/>
          <a:ln w="76200">
            <a:solidFill>
              <a:srgbClr val="00FF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123916" name="Text Box 13"/>
          <p:cNvSpPr txBox="1">
            <a:spLocks noChangeArrowheads="1"/>
          </p:cNvSpPr>
          <p:nvPr/>
        </p:nvSpPr>
        <p:spPr bwMode="auto">
          <a:xfrm>
            <a:off x="1135063" y="4035425"/>
            <a:ext cx="16637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1600" b="1">
                <a:solidFill>
                  <a:srgbClr val="00FF00"/>
                </a:solidFill>
                <a:latin typeface="Arial" charset="0"/>
                <a:ea typeface="ＭＳ Ｐゴシック" charset="-128"/>
              </a:rPr>
              <a:t>SgnExt(Imm16)</a:t>
            </a:r>
          </a:p>
        </p:txBody>
      </p:sp>
      <p:grpSp>
        <p:nvGrpSpPr>
          <p:cNvPr id="2" name="Group 34"/>
          <p:cNvGrpSpPr>
            <a:grpSpLocks/>
          </p:cNvGrpSpPr>
          <p:nvPr/>
        </p:nvGrpSpPr>
        <p:grpSpPr bwMode="auto">
          <a:xfrm>
            <a:off x="3381375" y="2749550"/>
            <a:ext cx="2922588" cy="3068638"/>
            <a:chOff x="2160" y="1856"/>
            <a:chExt cx="1841" cy="1933"/>
          </a:xfrm>
        </p:grpSpPr>
        <p:sp>
          <p:nvSpPr>
            <p:cNvPr id="123928" name="Line 24"/>
            <p:cNvSpPr>
              <a:spLocks noChangeShapeType="1"/>
            </p:cNvSpPr>
            <p:nvPr/>
          </p:nvSpPr>
          <p:spPr bwMode="auto">
            <a:xfrm>
              <a:off x="3584" y="2040"/>
              <a:ext cx="184"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23929" name="Line 25"/>
            <p:cNvSpPr>
              <a:spLocks noChangeShapeType="1"/>
            </p:cNvSpPr>
            <p:nvPr/>
          </p:nvSpPr>
          <p:spPr bwMode="auto">
            <a:xfrm flipH="1">
              <a:off x="3760" y="2040"/>
              <a:ext cx="8" cy="1656"/>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23930" name="Line 26"/>
            <p:cNvSpPr>
              <a:spLocks noChangeShapeType="1"/>
            </p:cNvSpPr>
            <p:nvPr/>
          </p:nvSpPr>
          <p:spPr bwMode="auto">
            <a:xfrm flipH="1">
              <a:off x="2160" y="3686"/>
              <a:ext cx="1595"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23931" name="Line 27"/>
            <p:cNvSpPr>
              <a:spLocks noChangeShapeType="1"/>
            </p:cNvSpPr>
            <p:nvPr/>
          </p:nvSpPr>
          <p:spPr bwMode="auto">
            <a:xfrm flipV="1">
              <a:off x="2170" y="1856"/>
              <a:ext cx="0" cy="183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23932" name="Text Box 28"/>
            <p:cNvSpPr txBox="1">
              <a:spLocks noChangeArrowheads="1"/>
            </p:cNvSpPr>
            <p:nvPr/>
          </p:nvSpPr>
          <p:spPr bwMode="auto">
            <a:xfrm>
              <a:off x="3787" y="3463"/>
              <a:ext cx="214"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r>
                <a:rPr lang="en-US" altLang="en-US" sz="2400">
                  <a:solidFill>
                    <a:srgbClr val="FF0000"/>
                  </a:solidFill>
                  <a:latin typeface="Comic Sans MS" charset="0"/>
                  <a:ea typeface="ＭＳ Ｐゴシック" charset="-128"/>
                </a:rPr>
                <a:t>a</a:t>
              </a:r>
              <a:endParaRPr lang="en-US" altLang="en-US" sz="2400">
                <a:latin typeface="Arial" charset="0"/>
                <a:ea typeface="ＭＳ Ｐゴシック" charset="-128"/>
              </a:endParaRPr>
            </a:p>
          </p:txBody>
        </p:sp>
      </p:grpSp>
      <p:grpSp>
        <p:nvGrpSpPr>
          <p:cNvPr id="3" name="Group 35"/>
          <p:cNvGrpSpPr>
            <a:grpSpLocks/>
          </p:cNvGrpSpPr>
          <p:nvPr/>
        </p:nvGrpSpPr>
        <p:grpSpPr bwMode="auto">
          <a:xfrm>
            <a:off x="3279775" y="2487613"/>
            <a:ext cx="5348288" cy="3343275"/>
            <a:chOff x="2096" y="1691"/>
            <a:chExt cx="3369" cy="2106"/>
          </a:xfrm>
        </p:grpSpPr>
        <p:sp>
          <p:nvSpPr>
            <p:cNvPr id="123923" name="Line 29"/>
            <p:cNvSpPr>
              <a:spLocks noChangeShapeType="1"/>
            </p:cNvSpPr>
            <p:nvPr/>
          </p:nvSpPr>
          <p:spPr bwMode="auto">
            <a:xfrm>
              <a:off x="5115" y="2512"/>
              <a:ext cx="90" cy="6"/>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23924" name="Line 30"/>
            <p:cNvSpPr>
              <a:spLocks noChangeShapeType="1"/>
            </p:cNvSpPr>
            <p:nvPr/>
          </p:nvSpPr>
          <p:spPr bwMode="auto">
            <a:xfrm>
              <a:off x="5195" y="2523"/>
              <a:ext cx="0" cy="127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23925" name="Line 31"/>
            <p:cNvSpPr>
              <a:spLocks noChangeShapeType="1"/>
            </p:cNvSpPr>
            <p:nvPr/>
          </p:nvSpPr>
          <p:spPr bwMode="auto">
            <a:xfrm flipH="1" flipV="1">
              <a:off x="2096" y="3782"/>
              <a:ext cx="3099" cy="11"/>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23926" name="Line 32"/>
            <p:cNvSpPr>
              <a:spLocks noChangeShapeType="1"/>
            </p:cNvSpPr>
            <p:nvPr/>
          </p:nvSpPr>
          <p:spPr bwMode="auto">
            <a:xfrm flipV="1">
              <a:off x="2101" y="1691"/>
              <a:ext cx="5" cy="2101"/>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en-CA"/>
            </a:p>
          </p:txBody>
        </p:sp>
        <p:sp>
          <p:nvSpPr>
            <p:cNvPr id="123927" name="Text Box 33"/>
            <p:cNvSpPr txBox="1">
              <a:spLocks noChangeArrowheads="1"/>
            </p:cNvSpPr>
            <p:nvPr/>
          </p:nvSpPr>
          <p:spPr bwMode="auto">
            <a:xfrm>
              <a:off x="5235" y="3458"/>
              <a:ext cx="23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r>
                <a:rPr lang="en-US" altLang="en-US" sz="2400">
                  <a:solidFill>
                    <a:srgbClr val="FF0000"/>
                  </a:solidFill>
                  <a:latin typeface="Comic Sans MS" charset="0"/>
                  <a:ea typeface="ＭＳ Ｐゴシック" charset="-128"/>
                </a:rPr>
                <a:t>b</a:t>
              </a:r>
              <a:endParaRPr lang="en-US" altLang="en-US" sz="2400">
                <a:latin typeface="Arial" charset="0"/>
                <a:ea typeface="ＭＳ Ｐゴシック" charset="-128"/>
              </a:endParaRPr>
            </a:p>
          </p:txBody>
        </p:sp>
      </p:grpSp>
      <p:sp>
        <p:nvSpPr>
          <p:cNvPr id="123919" name="TextBox 37"/>
          <p:cNvSpPr txBox="1">
            <a:spLocks noChangeArrowheads="1"/>
          </p:cNvSpPr>
          <p:nvPr/>
        </p:nvSpPr>
        <p:spPr bwMode="auto">
          <a:xfrm>
            <a:off x="1079500" y="6149975"/>
            <a:ext cx="6750050" cy="708025"/>
          </a:xfrm>
          <a:prstGeom prst="rect">
            <a:avLst/>
          </a:prstGeom>
          <a:solidFill>
            <a:srgbClr val="CECEE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r>
              <a:rPr lang="en-US" altLang="en-US" sz="2000">
                <a:ea typeface="ＭＳ Ｐゴシック" charset="-128"/>
              </a:rPr>
              <a:t>Forwarding paths often begin at output of pipeline register </a:t>
            </a:r>
          </a:p>
          <a:p>
            <a:pPr>
              <a:spcBef>
                <a:spcPct val="0"/>
              </a:spcBef>
              <a:buFontTx/>
              <a:buNone/>
            </a:pPr>
            <a:r>
              <a:rPr lang="en-US" altLang="en-US" sz="2000">
                <a:ea typeface="ＭＳ Ｐゴシック" charset="-128"/>
              </a:rPr>
              <a:t>(values forwarded at beginning of clock cycle)</a:t>
            </a:r>
          </a:p>
        </p:txBody>
      </p:sp>
      <p:pic>
        <p:nvPicPr>
          <p:cNvPr id="21539" name="Picture 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513" y="57150"/>
            <a:ext cx="1782762" cy="2613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53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2"/>
          <p:cNvSpPr>
            <a:spLocks noGrp="1" noChangeArrowheads="1"/>
          </p:cNvSpPr>
          <p:nvPr>
            <p:ph type="title"/>
          </p:nvPr>
        </p:nvSpPr>
        <p:spPr>
          <a:xfrm>
            <a:off x="685800" y="0"/>
            <a:ext cx="7772400" cy="939800"/>
          </a:xfrm>
        </p:spPr>
        <p:txBody>
          <a:bodyPr/>
          <a:lstStyle/>
          <a:p>
            <a:pPr eaLnBrk="1" hangingPunct="1"/>
            <a:r>
              <a:rPr lang="en-US" altLang="en-US">
                <a:latin typeface="Arial  " charset="0"/>
                <a:ea typeface="MS PGothic" charset="-128"/>
                <a:cs typeface="Arial  " charset="0"/>
              </a:rPr>
              <a:t>Forwarding Example</a:t>
            </a:r>
          </a:p>
        </p:txBody>
      </p:sp>
      <p:sp>
        <p:nvSpPr>
          <p:cNvPr id="125954" name="Rectangle 3"/>
          <p:cNvSpPr>
            <a:spLocks noChangeArrowheads="1"/>
          </p:cNvSpPr>
          <p:nvPr/>
        </p:nvSpPr>
        <p:spPr bwMode="auto">
          <a:xfrm>
            <a:off x="457200" y="10033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endParaRPr lang="en-US" altLang="en-US" sz="2400">
              <a:latin typeface="Comic Sans MS" charset="0"/>
              <a:ea typeface="ＭＳ Ｐゴシック" charset="-128"/>
            </a:endParaRPr>
          </a:p>
          <a:p>
            <a:pPr eaLnBrk="1" hangingPunct="1"/>
            <a:endParaRPr lang="en-US" altLang="en-US" sz="2400">
              <a:latin typeface="Comic Sans MS" charset="0"/>
              <a:ea typeface="ＭＳ Ｐゴシック" charset="-128"/>
            </a:endParaRPr>
          </a:p>
        </p:txBody>
      </p:sp>
      <p:pic>
        <p:nvPicPr>
          <p:cNvPr id="125955" name="Picture 4" descr="0166_00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5051" t="2179" r="1283" b="27467"/>
          <a:stretch>
            <a:fillRect/>
          </a:stretch>
        </p:blipFill>
        <p:spPr>
          <a:xfrm>
            <a:off x="990600" y="1612900"/>
            <a:ext cx="7315200" cy="4244975"/>
          </a:xfrm>
        </p:spPr>
      </p:pic>
      <p:sp>
        <p:nvSpPr>
          <p:cNvPr id="125956" name="Text Box 5"/>
          <p:cNvSpPr txBox="1">
            <a:spLocks noChangeArrowheads="1"/>
          </p:cNvSpPr>
          <p:nvPr/>
        </p:nvSpPr>
        <p:spPr bwMode="auto">
          <a:xfrm>
            <a:off x="1957388" y="4156075"/>
            <a:ext cx="8461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r" eaLnBrk="1" hangingPunct="1">
              <a:spcBef>
                <a:spcPct val="0"/>
              </a:spcBef>
              <a:buFontTx/>
              <a:buNone/>
            </a:pPr>
            <a:r>
              <a:rPr lang="en-US" altLang="en-US" sz="1600" b="1">
                <a:solidFill>
                  <a:srgbClr val="FF0000"/>
                </a:solidFill>
                <a:latin typeface="Arial" charset="0"/>
                <a:ea typeface="ＭＳ Ｐゴシック" charset="-128"/>
              </a:rPr>
              <a:t>Rs = 2 </a:t>
            </a:r>
          </a:p>
        </p:txBody>
      </p:sp>
      <p:sp>
        <p:nvSpPr>
          <p:cNvPr id="125957" name="Text Box 6"/>
          <p:cNvSpPr txBox="1">
            <a:spLocks noChangeArrowheads="1"/>
          </p:cNvSpPr>
          <p:nvPr/>
        </p:nvSpPr>
        <p:spPr bwMode="auto">
          <a:xfrm>
            <a:off x="2014538" y="4613275"/>
            <a:ext cx="7445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r" eaLnBrk="1" hangingPunct="1">
              <a:spcBef>
                <a:spcPct val="0"/>
              </a:spcBef>
              <a:buFontTx/>
              <a:buNone/>
            </a:pPr>
            <a:r>
              <a:rPr lang="en-US" altLang="en-US" sz="1600" b="1">
                <a:solidFill>
                  <a:srgbClr val="FF0000"/>
                </a:solidFill>
                <a:latin typeface="Arial" charset="0"/>
                <a:ea typeface="ＭＳ Ｐゴシック" charset="-128"/>
              </a:rPr>
              <a:t>Rt = 3</a:t>
            </a:r>
          </a:p>
        </p:txBody>
      </p:sp>
      <p:sp>
        <p:nvSpPr>
          <p:cNvPr id="125958" name="Text Box 7"/>
          <p:cNvSpPr txBox="1">
            <a:spLocks noChangeArrowheads="1"/>
          </p:cNvSpPr>
          <p:nvPr/>
        </p:nvSpPr>
        <p:spPr bwMode="auto">
          <a:xfrm>
            <a:off x="2024063" y="4841875"/>
            <a:ext cx="8001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r" eaLnBrk="1" hangingPunct="1">
              <a:spcBef>
                <a:spcPct val="0"/>
              </a:spcBef>
              <a:buFontTx/>
              <a:buNone/>
            </a:pPr>
            <a:r>
              <a:rPr lang="en-US" altLang="en-US" sz="1600" b="1">
                <a:solidFill>
                  <a:srgbClr val="FF0000"/>
                </a:solidFill>
                <a:latin typeface="Arial" charset="0"/>
                <a:ea typeface="ＭＳ Ｐゴシック" charset="-128"/>
              </a:rPr>
              <a:t>Rd = 1</a:t>
            </a:r>
          </a:p>
        </p:txBody>
      </p:sp>
      <p:sp>
        <p:nvSpPr>
          <p:cNvPr id="125959" name="Text Box 8"/>
          <p:cNvSpPr txBox="1">
            <a:spLocks noChangeArrowheads="1"/>
          </p:cNvSpPr>
          <p:nvPr/>
        </p:nvSpPr>
        <p:spPr bwMode="auto">
          <a:xfrm>
            <a:off x="2014538" y="4384675"/>
            <a:ext cx="7445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r" eaLnBrk="1" hangingPunct="1">
              <a:spcBef>
                <a:spcPct val="0"/>
              </a:spcBef>
              <a:buFontTx/>
              <a:buNone/>
            </a:pPr>
            <a:r>
              <a:rPr lang="en-US" altLang="en-US" sz="1600" b="1">
                <a:solidFill>
                  <a:srgbClr val="FF0000"/>
                </a:solidFill>
                <a:latin typeface="Arial" charset="0"/>
                <a:ea typeface="ＭＳ Ｐゴシック" charset="-128"/>
              </a:rPr>
              <a:t>Rt = 3</a:t>
            </a:r>
          </a:p>
        </p:txBody>
      </p:sp>
      <p:sp>
        <p:nvSpPr>
          <p:cNvPr id="125960" name="Text Box 12"/>
          <p:cNvSpPr txBox="1">
            <a:spLocks noChangeArrowheads="1"/>
          </p:cNvSpPr>
          <p:nvPr/>
        </p:nvSpPr>
        <p:spPr bwMode="auto">
          <a:xfrm>
            <a:off x="533400" y="1308100"/>
            <a:ext cx="235994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2400" b="1" dirty="0">
                <a:solidFill>
                  <a:srgbClr val="FF0000"/>
                </a:solidFill>
                <a:latin typeface="Arial" charset="0"/>
                <a:ea typeface="ＭＳ Ｐゴシック" charset="-128"/>
              </a:rPr>
              <a:t>DADD x1,x2,x3</a:t>
            </a:r>
          </a:p>
        </p:txBody>
      </p:sp>
      <p:sp>
        <p:nvSpPr>
          <p:cNvPr id="125961" name="Text Box 13"/>
          <p:cNvSpPr txBox="1">
            <a:spLocks noChangeArrowheads="1"/>
          </p:cNvSpPr>
          <p:nvPr/>
        </p:nvSpPr>
        <p:spPr bwMode="auto">
          <a:xfrm>
            <a:off x="1266825" y="1866900"/>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2400" b="1" dirty="0" err="1">
                <a:solidFill>
                  <a:srgbClr val="FF0000"/>
                </a:solidFill>
                <a:latin typeface="Arial" charset="0"/>
                <a:ea typeface="ＭＳ Ｐゴシック" charset="-128"/>
              </a:rPr>
              <a:t>Regs</a:t>
            </a:r>
            <a:r>
              <a:rPr lang="en-US" altLang="en-US" sz="2400" b="1" dirty="0">
                <a:solidFill>
                  <a:srgbClr val="FF0000"/>
                </a:solidFill>
                <a:latin typeface="Arial" charset="0"/>
                <a:ea typeface="ＭＳ Ｐゴシック" charset="-128"/>
              </a:rPr>
              <a:t>[x2]</a:t>
            </a:r>
          </a:p>
        </p:txBody>
      </p:sp>
      <p:sp>
        <p:nvSpPr>
          <p:cNvPr id="125962" name="Text Box 14"/>
          <p:cNvSpPr txBox="1">
            <a:spLocks noChangeArrowheads="1"/>
          </p:cNvSpPr>
          <p:nvPr/>
        </p:nvSpPr>
        <p:spPr bwMode="auto">
          <a:xfrm>
            <a:off x="1244600" y="2882900"/>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2400" b="1" dirty="0" err="1">
                <a:solidFill>
                  <a:srgbClr val="FF0000"/>
                </a:solidFill>
                <a:latin typeface="Arial" charset="0"/>
                <a:ea typeface="ＭＳ Ｐゴシック" charset="-128"/>
              </a:rPr>
              <a:t>Regs</a:t>
            </a:r>
            <a:r>
              <a:rPr lang="en-US" altLang="en-US" sz="2400" b="1" dirty="0">
                <a:solidFill>
                  <a:srgbClr val="FF0000"/>
                </a:solidFill>
                <a:latin typeface="Arial" charset="0"/>
                <a:ea typeface="ＭＳ Ｐゴシック" charset="-128"/>
              </a:rPr>
              <a:t>[x3]</a:t>
            </a:r>
          </a:p>
        </p:txBody>
      </p:sp>
      <p:sp>
        <p:nvSpPr>
          <p:cNvPr id="125963" name="Slide Number Placeholder 12"/>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13E3594F-9E4E-154C-82EF-3D5C7CDC0683}" type="slidenum">
              <a:rPr lang="en-US" altLang="en-US" sz="1400">
                <a:latin typeface="Comic Sans MS" charset="0"/>
                <a:ea typeface="ＭＳ Ｐゴシック" charset="-128"/>
              </a:rPr>
              <a:pPr>
                <a:spcBef>
                  <a:spcPct val="0"/>
                </a:spcBef>
                <a:buFontTx/>
                <a:buNone/>
              </a:pPr>
              <a:t>46</a:t>
            </a:fld>
            <a:r>
              <a:rPr lang="en-US" altLang="en-US" sz="1400">
                <a:latin typeface="Comic Sans MS" charset="0"/>
                <a:ea typeface="ＭＳ Ｐゴシック" charset="-128"/>
              </a:rPr>
              <a:t>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3"/>
          <p:cNvSpPr>
            <a:spLocks noChangeArrowheads="1"/>
          </p:cNvSpPr>
          <p:nvPr/>
        </p:nvSpPr>
        <p:spPr bwMode="auto">
          <a:xfrm>
            <a:off x="546100" y="10160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endParaRPr lang="en-US" altLang="en-US" sz="2400">
              <a:latin typeface="Comic Sans MS" charset="0"/>
              <a:ea typeface="ＭＳ Ｐゴシック" charset="-128"/>
            </a:endParaRPr>
          </a:p>
          <a:p>
            <a:pPr eaLnBrk="1" hangingPunct="1"/>
            <a:endParaRPr lang="en-US" altLang="en-US" sz="2400">
              <a:latin typeface="Comic Sans MS" charset="0"/>
              <a:ea typeface="ＭＳ Ｐゴシック" charset="-128"/>
            </a:endParaRPr>
          </a:p>
        </p:txBody>
      </p:sp>
      <p:pic>
        <p:nvPicPr>
          <p:cNvPr id="128002" name="Picture 4" descr="0166_00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5051" t="2179" r="1283" b="27467"/>
          <a:stretch>
            <a:fillRect/>
          </a:stretch>
        </p:blipFill>
        <p:spPr>
          <a:xfrm>
            <a:off x="1079500" y="1625600"/>
            <a:ext cx="7315200" cy="4244975"/>
          </a:xfrm>
        </p:spPr>
      </p:pic>
      <p:sp>
        <p:nvSpPr>
          <p:cNvPr id="128003" name="Text Box 5"/>
          <p:cNvSpPr txBox="1">
            <a:spLocks noChangeArrowheads="1"/>
          </p:cNvSpPr>
          <p:nvPr/>
        </p:nvSpPr>
        <p:spPr bwMode="auto">
          <a:xfrm>
            <a:off x="2046288" y="4213225"/>
            <a:ext cx="8461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r" eaLnBrk="1" hangingPunct="1">
              <a:spcBef>
                <a:spcPct val="0"/>
              </a:spcBef>
              <a:buFontTx/>
              <a:buNone/>
            </a:pPr>
            <a:r>
              <a:rPr lang="en-US" altLang="en-US" sz="1600" b="1">
                <a:solidFill>
                  <a:srgbClr val="0000FF"/>
                </a:solidFill>
                <a:latin typeface="Arial" charset="0"/>
                <a:ea typeface="ＭＳ Ｐゴシック" charset="-128"/>
              </a:rPr>
              <a:t>Rs = 1 </a:t>
            </a:r>
          </a:p>
        </p:txBody>
      </p:sp>
      <p:sp>
        <p:nvSpPr>
          <p:cNvPr id="128004" name="Text Box 6"/>
          <p:cNvSpPr txBox="1">
            <a:spLocks noChangeArrowheads="1"/>
          </p:cNvSpPr>
          <p:nvPr/>
        </p:nvSpPr>
        <p:spPr bwMode="auto">
          <a:xfrm>
            <a:off x="2103438" y="4670425"/>
            <a:ext cx="7445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r" eaLnBrk="1" hangingPunct="1">
              <a:spcBef>
                <a:spcPct val="0"/>
              </a:spcBef>
              <a:buFontTx/>
              <a:buNone/>
            </a:pPr>
            <a:r>
              <a:rPr lang="en-US" altLang="en-US" sz="1600" b="1">
                <a:solidFill>
                  <a:srgbClr val="0000FF"/>
                </a:solidFill>
                <a:latin typeface="Arial" charset="0"/>
                <a:ea typeface="ＭＳ Ｐゴシック" charset="-128"/>
              </a:rPr>
              <a:t>Rt = 5</a:t>
            </a:r>
          </a:p>
        </p:txBody>
      </p:sp>
      <p:sp>
        <p:nvSpPr>
          <p:cNvPr id="128005" name="Text Box 7"/>
          <p:cNvSpPr txBox="1">
            <a:spLocks noChangeArrowheads="1"/>
          </p:cNvSpPr>
          <p:nvPr/>
        </p:nvSpPr>
        <p:spPr bwMode="auto">
          <a:xfrm>
            <a:off x="2114550" y="4899025"/>
            <a:ext cx="8001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r" eaLnBrk="1" hangingPunct="1">
              <a:spcBef>
                <a:spcPct val="0"/>
              </a:spcBef>
              <a:buFontTx/>
              <a:buNone/>
            </a:pPr>
            <a:r>
              <a:rPr lang="en-US" altLang="en-US" sz="1600" b="1">
                <a:solidFill>
                  <a:srgbClr val="0000FF"/>
                </a:solidFill>
                <a:latin typeface="Arial" charset="0"/>
                <a:ea typeface="ＭＳ Ｐゴシック" charset="-128"/>
              </a:rPr>
              <a:t>Rd = 4</a:t>
            </a:r>
          </a:p>
        </p:txBody>
      </p:sp>
      <p:sp>
        <p:nvSpPr>
          <p:cNvPr id="128006" name="Text Box 8"/>
          <p:cNvSpPr txBox="1">
            <a:spLocks noChangeArrowheads="1"/>
          </p:cNvSpPr>
          <p:nvPr/>
        </p:nvSpPr>
        <p:spPr bwMode="auto">
          <a:xfrm>
            <a:off x="2103438" y="4441825"/>
            <a:ext cx="7445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r" eaLnBrk="1" hangingPunct="1">
              <a:spcBef>
                <a:spcPct val="0"/>
              </a:spcBef>
              <a:buFontTx/>
              <a:buNone/>
            </a:pPr>
            <a:r>
              <a:rPr lang="en-US" altLang="en-US" sz="1600" b="1">
                <a:solidFill>
                  <a:srgbClr val="0000FF"/>
                </a:solidFill>
                <a:latin typeface="Arial" charset="0"/>
                <a:ea typeface="ＭＳ Ｐゴシック" charset="-128"/>
              </a:rPr>
              <a:t>Rt = 5</a:t>
            </a:r>
          </a:p>
        </p:txBody>
      </p:sp>
      <p:sp>
        <p:nvSpPr>
          <p:cNvPr id="128007" name="Text Box 9"/>
          <p:cNvSpPr txBox="1">
            <a:spLocks noChangeArrowheads="1"/>
          </p:cNvSpPr>
          <p:nvPr/>
        </p:nvSpPr>
        <p:spPr bwMode="auto">
          <a:xfrm>
            <a:off x="4279900" y="4521200"/>
            <a:ext cx="8001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1600" b="1">
                <a:solidFill>
                  <a:srgbClr val="FF0000"/>
                </a:solidFill>
                <a:latin typeface="Arial" charset="0"/>
                <a:ea typeface="ＭＳ Ｐゴシック" charset="-128"/>
              </a:rPr>
              <a:t>Rd = 1</a:t>
            </a:r>
          </a:p>
        </p:txBody>
      </p:sp>
      <p:sp>
        <p:nvSpPr>
          <p:cNvPr id="128008" name="Text Box 12"/>
          <p:cNvSpPr txBox="1">
            <a:spLocks noChangeArrowheads="1"/>
          </p:cNvSpPr>
          <p:nvPr/>
        </p:nvSpPr>
        <p:spPr bwMode="auto">
          <a:xfrm>
            <a:off x="622300" y="1320800"/>
            <a:ext cx="23423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2400" b="1" dirty="0">
                <a:solidFill>
                  <a:srgbClr val="0000FF"/>
                </a:solidFill>
                <a:latin typeface="Arial" charset="0"/>
                <a:ea typeface="ＭＳ Ｐゴシック" charset="-128"/>
              </a:rPr>
              <a:t>DSUB x4,x1,x5</a:t>
            </a:r>
          </a:p>
        </p:txBody>
      </p:sp>
      <p:sp>
        <p:nvSpPr>
          <p:cNvPr id="128009" name="Text Box 13"/>
          <p:cNvSpPr txBox="1">
            <a:spLocks noChangeArrowheads="1"/>
          </p:cNvSpPr>
          <p:nvPr/>
        </p:nvSpPr>
        <p:spPr bwMode="auto">
          <a:xfrm>
            <a:off x="1393825" y="1930400"/>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2400" b="1" dirty="0" err="1">
                <a:solidFill>
                  <a:srgbClr val="0000FF"/>
                </a:solidFill>
                <a:latin typeface="Arial" charset="0"/>
                <a:ea typeface="ＭＳ Ｐゴシック" charset="-128"/>
              </a:rPr>
              <a:t>Regs</a:t>
            </a:r>
            <a:r>
              <a:rPr lang="en-US" altLang="en-US" sz="2400" b="1" dirty="0">
                <a:solidFill>
                  <a:srgbClr val="0000FF"/>
                </a:solidFill>
                <a:latin typeface="Arial" charset="0"/>
                <a:ea typeface="ＭＳ Ｐゴシック" charset="-128"/>
              </a:rPr>
              <a:t>[x1]</a:t>
            </a:r>
          </a:p>
        </p:txBody>
      </p:sp>
      <p:sp>
        <p:nvSpPr>
          <p:cNvPr id="128010" name="Text Box 14"/>
          <p:cNvSpPr txBox="1">
            <a:spLocks noChangeArrowheads="1"/>
          </p:cNvSpPr>
          <p:nvPr/>
        </p:nvSpPr>
        <p:spPr bwMode="auto">
          <a:xfrm>
            <a:off x="1370013" y="2870200"/>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2400" b="1" dirty="0" err="1">
                <a:solidFill>
                  <a:srgbClr val="0000FF"/>
                </a:solidFill>
                <a:latin typeface="Arial" charset="0"/>
                <a:ea typeface="ＭＳ Ｐゴシック" charset="-128"/>
              </a:rPr>
              <a:t>Regs</a:t>
            </a:r>
            <a:r>
              <a:rPr lang="en-US" altLang="en-US" sz="2400" b="1" dirty="0">
                <a:solidFill>
                  <a:srgbClr val="0000FF"/>
                </a:solidFill>
                <a:latin typeface="Arial" charset="0"/>
                <a:ea typeface="ＭＳ Ｐゴシック" charset="-128"/>
              </a:rPr>
              <a:t>[x5]</a:t>
            </a:r>
          </a:p>
        </p:txBody>
      </p:sp>
      <p:sp>
        <p:nvSpPr>
          <p:cNvPr id="128011" name="Text Box 15"/>
          <p:cNvSpPr txBox="1">
            <a:spLocks noChangeArrowheads="1"/>
          </p:cNvSpPr>
          <p:nvPr/>
        </p:nvSpPr>
        <p:spPr bwMode="auto">
          <a:xfrm>
            <a:off x="3289300" y="1320800"/>
            <a:ext cx="235994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2400" b="1" dirty="0">
                <a:solidFill>
                  <a:srgbClr val="FF0000"/>
                </a:solidFill>
                <a:latin typeface="Arial" charset="0"/>
                <a:ea typeface="ＭＳ Ｐゴシック" charset="-128"/>
              </a:rPr>
              <a:t>DADD x1,x2,x3</a:t>
            </a:r>
          </a:p>
        </p:txBody>
      </p:sp>
      <p:sp>
        <p:nvSpPr>
          <p:cNvPr id="128012" name="Text Box 16"/>
          <p:cNvSpPr txBox="1">
            <a:spLocks noChangeArrowheads="1"/>
          </p:cNvSpPr>
          <p:nvPr/>
        </p:nvSpPr>
        <p:spPr bwMode="auto">
          <a:xfrm>
            <a:off x="4010025" y="2082800"/>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2400" b="1" dirty="0" err="1">
                <a:solidFill>
                  <a:srgbClr val="FF0000"/>
                </a:solidFill>
                <a:latin typeface="Arial" charset="0"/>
                <a:ea typeface="ＭＳ Ｐゴシック" charset="-128"/>
              </a:rPr>
              <a:t>Regs</a:t>
            </a:r>
            <a:r>
              <a:rPr lang="en-US" altLang="en-US" sz="2400" b="1" dirty="0">
                <a:solidFill>
                  <a:srgbClr val="FF0000"/>
                </a:solidFill>
                <a:latin typeface="Arial" charset="0"/>
                <a:ea typeface="ＭＳ Ｐゴシック" charset="-128"/>
              </a:rPr>
              <a:t>[x2]</a:t>
            </a:r>
          </a:p>
        </p:txBody>
      </p:sp>
      <p:sp>
        <p:nvSpPr>
          <p:cNvPr id="128013" name="Text Box 17"/>
          <p:cNvSpPr txBox="1">
            <a:spLocks noChangeArrowheads="1"/>
          </p:cNvSpPr>
          <p:nvPr/>
        </p:nvSpPr>
        <p:spPr bwMode="auto">
          <a:xfrm>
            <a:off x="4035425" y="3162300"/>
            <a:ext cx="152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2400" b="1" dirty="0" err="1">
                <a:solidFill>
                  <a:srgbClr val="FF0000"/>
                </a:solidFill>
                <a:latin typeface="Arial" charset="0"/>
                <a:ea typeface="ＭＳ Ｐゴシック" charset="-128"/>
              </a:rPr>
              <a:t>Regs</a:t>
            </a:r>
            <a:r>
              <a:rPr lang="en-US" altLang="en-US" sz="2400" b="1" dirty="0">
                <a:solidFill>
                  <a:srgbClr val="FF0000"/>
                </a:solidFill>
                <a:latin typeface="Arial" charset="0"/>
                <a:ea typeface="ＭＳ Ｐゴシック" charset="-128"/>
              </a:rPr>
              <a:t>[x3]</a:t>
            </a:r>
          </a:p>
        </p:txBody>
      </p:sp>
      <p:sp>
        <p:nvSpPr>
          <p:cNvPr id="128014" name="Text Box 18"/>
          <p:cNvSpPr txBox="1">
            <a:spLocks noChangeArrowheads="1"/>
          </p:cNvSpPr>
          <p:nvPr/>
        </p:nvSpPr>
        <p:spPr bwMode="auto">
          <a:xfrm>
            <a:off x="2870200" y="465455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r" eaLnBrk="1" hangingPunct="1">
              <a:spcBef>
                <a:spcPct val="0"/>
              </a:spcBef>
              <a:buFontTx/>
              <a:buNone/>
            </a:pPr>
            <a:r>
              <a:rPr lang="en-US" altLang="en-US" sz="1600" b="1">
                <a:solidFill>
                  <a:srgbClr val="FF0000"/>
                </a:solidFill>
                <a:latin typeface="Arial" charset="0"/>
                <a:ea typeface="ＭＳ Ｐゴシック" charset="-128"/>
              </a:rPr>
              <a:t>3</a:t>
            </a:r>
          </a:p>
        </p:txBody>
      </p:sp>
      <p:sp>
        <p:nvSpPr>
          <p:cNvPr id="128015" name="Text Box 19"/>
          <p:cNvSpPr txBox="1">
            <a:spLocks noChangeArrowheads="1"/>
          </p:cNvSpPr>
          <p:nvPr/>
        </p:nvSpPr>
        <p:spPr bwMode="auto">
          <a:xfrm>
            <a:off x="2870200" y="488315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r" eaLnBrk="1" hangingPunct="1">
              <a:spcBef>
                <a:spcPct val="0"/>
              </a:spcBef>
              <a:buFontTx/>
              <a:buNone/>
            </a:pPr>
            <a:r>
              <a:rPr lang="en-US" altLang="en-US" sz="1600" b="1">
                <a:solidFill>
                  <a:srgbClr val="FF0000"/>
                </a:solidFill>
                <a:latin typeface="Arial" charset="0"/>
                <a:ea typeface="ＭＳ Ｐゴシック" charset="-128"/>
              </a:rPr>
              <a:t>1</a:t>
            </a:r>
          </a:p>
        </p:txBody>
      </p:sp>
      <p:sp>
        <p:nvSpPr>
          <p:cNvPr id="128016" name="Text Box 20"/>
          <p:cNvSpPr txBox="1">
            <a:spLocks noChangeArrowheads="1"/>
          </p:cNvSpPr>
          <p:nvPr/>
        </p:nvSpPr>
        <p:spPr bwMode="auto">
          <a:xfrm>
            <a:off x="2868613" y="442595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r" eaLnBrk="1" hangingPunct="1">
              <a:spcBef>
                <a:spcPct val="0"/>
              </a:spcBef>
              <a:buFontTx/>
              <a:buNone/>
            </a:pPr>
            <a:r>
              <a:rPr lang="en-US" altLang="en-US" sz="1600" b="1">
                <a:solidFill>
                  <a:srgbClr val="FF0000"/>
                </a:solidFill>
                <a:latin typeface="Arial" charset="0"/>
                <a:ea typeface="ＭＳ Ｐゴシック" charset="-128"/>
              </a:rPr>
              <a:t>3</a:t>
            </a:r>
          </a:p>
        </p:txBody>
      </p:sp>
      <p:sp>
        <p:nvSpPr>
          <p:cNvPr id="128017" name="Text Box 21"/>
          <p:cNvSpPr txBox="1">
            <a:spLocks noChangeArrowheads="1"/>
          </p:cNvSpPr>
          <p:nvPr/>
        </p:nvSpPr>
        <p:spPr bwMode="auto">
          <a:xfrm>
            <a:off x="2868613" y="421640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r" eaLnBrk="1" hangingPunct="1">
              <a:spcBef>
                <a:spcPct val="0"/>
              </a:spcBef>
              <a:buFontTx/>
              <a:buNone/>
            </a:pPr>
            <a:r>
              <a:rPr lang="en-US" altLang="en-US" sz="1600" b="1">
                <a:solidFill>
                  <a:srgbClr val="FF0000"/>
                </a:solidFill>
                <a:latin typeface="Arial" charset="0"/>
                <a:ea typeface="ＭＳ Ｐゴシック" charset="-128"/>
              </a:rPr>
              <a:t>2</a:t>
            </a:r>
          </a:p>
        </p:txBody>
      </p:sp>
      <p:sp>
        <p:nvSpPr>
          <p:cNvPr id="128018" name="Rectangle 2"/>
          <p:cNvSpPr>
            <a:spLocks noGrp="1" noChangeArrowheads="1"/>
          </p:cNvSpPr>
          <p:nvPr>
            <p:ph type="title"/>
          </p:nvPr>
        </p:nvSpPr>
        <p:spPr>
          <a:xfrm>
            <a:off x="685800" y="0"/>
            <a:ext cx="7772400" cy="939800"/>
          </a:xfrm>
        </p:spPr>
        <p:txBody>
          <a:bodyPr/>
          <a:lstStyle/>
          <a:p>
            <a:pPr eaLnBrk="1" hangingPunct="1"/>
            <a:r>
              <a:rPr lang="en-US" altLang="en-US">
                <a:latin typeface="Arial  " charset="0"/>
                <a:ea typeface="MS PGothic" charset="-128"/>
                <a:cs typeface="Arial  " charset="0"/>
              </a:rPr>
              <a:t>Forwarding Example</a:t>
            </a:r>
          </a:p>
        </p:txBody>
      </p:sp>
      <p:sp>
        <p:nvSpPr>
          <p:cNvPr id="128019" name="Slide Number Placeholder 23"/>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F644DC74-D577-364A-9B4D-958DAB0643FF}" type="slidenum">
              <a:rPr lang="en-US" altLang="en-US" sz="1400">
                <a:latin typeface="Comic Sans MS" charset="0"/>
                <a:ea typeface="ＭＳ Ｐゴシック" charset="-128"/>
              </a:rPr>
              <a:pPr>
                <a:spcBef>
                  <a:spcPct val="0"/>
                </a:spcBef>
                <a:buFontTx/>
                <a:buNone/>
              </a:pPr>
              <a:t>47</a:t>
            </a:fld>
            <a:r>
              <a:rPr lang="en-US" altLang="en-US" sz="1400">
                <a:latin typeface="Comic Sans MS" charset="0"/>
                <a:ea typeface="ＭＳ Ｐゴシック" charset="-128"/>
              </a:rPr>
              <a:t>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3"/>
          <p:cNvSpPr>
            <a:spLocks noChangeArrowheads="1"/>
          </p:cNvSpPr>
          <p:nvPr/>
        </p:nvSpPr>
        <p:spPr bwMode="auto">
          <a:xfrm>
            <a:off x="673100" y="8128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endParaRPr lang="en-US" altLang="en-US" sz="2400">
              <a:latin typeface="Comic Sans MS" charset="0"/>
              <a:ea typeface="ＭＳ Ｐゴシック" charset="-128"/>
            </a:endParaRPr>
          </a:p>
          <a:p>
            <a:pPr eaLnBrk="1" hangingPunct="1"/>
            <a:endParaRPr lang="en-US" altLang="en-US" sz="2400">
              <a:latin typeface="Comic Sans MS" charset="0"/>
              <a:ea typeface="ＭＳ Ｐゴシック" charset="-128"/>
            </a:endParaRPr>
          </a:p>
        </p:txBody>
      </p:sp>
      <p:pic>
        <p:nvPicPr>
          <p:cNvPr id="130050" name="Picture 4" descr="0166_00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5051" t="2179" r="1283" b="27467"/>
          <a:stretch>
            <a:fillRect/>
          </a:stretch>
        </p:blipFill>
        <p:spPr>
          <a:xfrm>
            <a:off x="1219200" y="977900"/>
            <a:ext cx="7315200" cy="4244975"/>
          </a:xfrm>
        </p:spPr>
      </p:pic>
      <p:sp>
        <p:nvSpPr>
          <p:cNvPr id="130051" name="Text Box 5"/>
          <p:cNvSpPr txBox="1">
            <a:spLocks noChangeArrowheads="1"/>
          </p:cNvSpPr>
          <p:nvPr/>
        </p:nvSpPr>
        <p:spPr bwMode="auto">
          <a:xfrm>
            <a:off x="1981200" y="3559175"/>
            <a:ext cx="8461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1600" b="1">
                <a:solidFill>
                  <a:srgbClr val="00FF00"/>
                </a:solidFill>
                <a:latin typeface="Arial" charset="0"/>
                <a:ea typeface="ＭＳ Ｐゴシック" charset="-128"/>
              </a:rPr>
              <a:t>Rs = 1 </a:t>
            </a:r>
          </a:p>
        </p:txBody>
      </p:sp>
      <p:sp>
        <p:nvSpPr>
          <p:cNvPr id="130052" name="Text Box 6"/>
          <p:cNvSpPr txBox="1">
            <a:spLocks noChangeArrowheads="1"/>
          </p:cNvSpPr>
          <p:nvPr/>
        </p:nvSpPr>
        <p:spPr bwMode="auto">
          <a:xfrm>
            <a:off x="2038350" y="4016375"/>
            <a:ext cx="7445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1600" b="1">
                <a:solidFill>
                  <a:srgbClr val="00FF00"/>
                </a:solidFill>
                <a:latin typeface="Arial" charset="0"/>
                <a:ea typeface="ＭＳ Ｐゴシック" charset="-128"/>
              </a:rPr>
              <a:t>Rt = 7</a:t>
            </a:r>
          </a:p>
        </p:txBody>
      </p:sp>
      <p:sp>
        <p:nvSpPr>
          <p:cNvPr id="130053" name="Text Box 7"/>
          <p:cNvSpPr txBox="1">
            <a:spLocks noChangeArrowheads="1"/>
          </p:cNvSpPr>
          <p:nvPr/>
        </p:nvSpPr>
        <p:spPr bwMode="auto">
          <a:xfrm>
            <a:off x="1868488" y="4244975"/>
            <a:ext cx="91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1600" b="1">
                <a:solidFill>
                  <a:srgbClr val="00FF00"/>
                </a:solidFill>
                <a:latin typeface="Arial" charset="0"/>
                <a:ea typeface="ＭＳ Ｐゴシック" charset="-128"/>
              </a:rPr>
              <a:t>  Rd = 6</a:t>
            </a:r>
          </a:p>
        </p:txBody>
      </p:sp>
      <p:sp>
        <p:nvSpPr>
          <p:cNvPr id="130054" name="Text Box 8"/>
          <p:cNvSpPr txBox="1">
            <a:spLocks noChangeArrowheads="1"/>
          </p:cNvSpPr>
          <p:nvPr/>
        </p:nvSpPr>
        <p:spPr bwMode="auto">
          <a:xfrm>
            <a:off x="2038350" y="3787775"/>
            <a:ext cx="7445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1600" b="1">
                <a:solidFill>
                  <a:srgbClr val="00FF00"/>
                </a:solidFill>
                <a:latin typeface="Arial" charset="0"/>
                <a:ea typeface="ＭＳ Ｐゴシック" charset="-128"/>
              </a:rPr>
              <a:t>Rt = 7</a:t>
            </a:r>
          </a:p>
        </p:txBody>
      </p:sp>
      <p:sp>
        <p:nvSpPr>
          <p:cNvPr id="130055" name="Text Box 9"/>
          <p:cNvSpPr txBox="1">
            <a:spLocks noChangeArrowheads="1"/>
          </p:cNvSpPr>
          <p:nvPr/>
        </p:nvSpPr>
        <p:spPr bwMode="auto">
          <a:xfrm>
            <a:off x="5232400" y="3911600"/>
            <a:ext cx="3540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1600" b="1">
                <a:solidFill>
                  <a:srgbClr val="0000FF"/>
                </a:solidFill>
                <a:latin typeface="Arial" charset="0"/>
                <a:ea typeface="ＭＳ Ｐゴシック" charset="-128"/>
              </a:rPr>
              <a:t> 4</a:t>
            </a:r>
          </a:p>
        </p:txBody>
      </p:sp>
      <p:sp>
        <p:nvSpPr>
          <p:cNvPr id="130056" name="Text Box 12"/>
          <p:cNvSpPr txBox="1">
            <a:spLocks noChangeArrowheads="1"/>
          </p:cNvSpPr>
          <p:nvPr/>
        </p:nvSpPr>
        <p:spPr bwMode="auto">
          <a:xfrm>
            <a:off x="3233738" y="673100"/>
            <a:ext cx="23423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2400" b="1" dirty="0">
                <a:solidFill>
                  <a:srgbClr val="0000FF"/>
                </a:solidFill>
                <a:latin typeface="Arial" charset="0"/>
                <a:ea typeface="ＭＳ Ｐゴシック" charset="-128"/>
              </a:rPr>
              <a:t>DSUB x4,x1,x5</a:t>
            </a:r>
          </a:p>
        </p:txBody>
      </p:sp>
      <p:sp>
        <p:nvSpPr>
          <p:cNvPr id="130057" name="Text Box 15"/>
          <p:cNvSpPr txBox="1">
            <a:spLocks noChangeArrowheads="1"/>
          </p:cNvSpPr>
          <p:nvPr/>
        </p:nvSpPr>
        <p:spPr bwMode="auto">
          <a:xfrm>
            <a:off x="5900738" y="673100"/>
            <a:ext cx="235994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2400" b="1" dirty="0">
                <a:solidFill>
                  <a:srgbClr val="FF0000"/>
                </a:solidFill>
                <a:latin typeface="Arial" charset="0"/>
                <a:ea typeface="ＭＳ Ｐゴシック" charset="-128"/>
              </a:rPr>
              <a:t>DADD x1,x2,x3</a:t>
            </a:r>
          </a:p>
        </p:txBody>
      </p:sp>
      <p:sp>
        <p:nvSpPr>
          <p:cNvPr id="130058" name="Text Box 17"/>
          <p:cNvSpPr txBox="1">
            <a:spLocks noChangeArrowheads="1"/>
          </p:cNvSpPr>
          <p:nvPr/>
        </p:nvSpPr>
        <p:spPr bwMode="auto">
          <a:xfrm>
            <a:off x="608013" y="673100"/>
            <a:ext cx="21884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2400" b="1" dirty="0">
                <a:solidFill>
                  <a:srgbClr val="00FF00"/>
                </a:solidFill>
                <a:latin typeface="Arial" charset="0"/>
                <a:ea typeface="ＭＳ Ｐゴシック" charset="-128"/>
              </a:rPr>
              <a:t>AND x6,x7,x1</a:t>
            </a:r>
          </a:p>
        </p:txBody>
      </p:sp>
      <p:sp>
        <p:nvSpPr>
          <p:cNvPr id="130059" name="Freeform 19"/>
          <p:cNvSpPr>
            <a:spLocks/>
          </p:cNvSpPr>
          <p:nvPr/>
        </p:nvSpPr>
        <p:spPr bwMode="auto">
          <a:xfrm>
            <a:off x="3657600" y="2120900"/>
            <a:ext cx="2514600" cy="2895600"/>
          </a:xfrm>
          <a:custGeom>
            <a:avLst/>
            <a:gdLst>
              <a:gd name="T0" fmla="*/ 2147483646 w 1584"/>
              <a:gd name="T1" fmla="*/ 2147483646 h 1824"/>
              <a:gd name="T2" fmla="*/ 2147483646 w 1584"/>
              <a:gd name="T3" fmla="*/ 2147483646 h 1824"/>
              <a:gd name="T4" fmla="*/ 2147483646 w 1584"/>
              <a:gd name="T5" fmla="*/ 2147483646 h 1824"/>
              <a:gd name="T6" fmla="*/ 0 w 1584"/>
              <a:gd name="T7" fmla="*/ 2147483646 h 1824"/>
              <a:gd name="T8" fmla="*/ 0 w 1584"/>
              <a:gd name="T9" fmla="*/ 0 h 1824"/>
              <a:gd name="T10" fmla="*/ 2147483646 w 1584"/>
              <a:gd name="T11" fmla="*/ 0 h 1824"/>
              <a:gd name="T12" fmla="*/ 0 60000 65536"/>
              <a:gd name="T13" fmla="*/ 0 60000 65536"/>
              <a:gd name="T14" fmla="*/ 0 60000 65536"/>
              <a:gd name="T15" fmla="*/ 0 60000 65536"/>
              <a:gd name="T16" fmla="*/ 0 60000 65536"/>
              <a:gd name="T17" fmla="*/ 0 60000 65536"/>
              <a:gd name="T18" fmla="*/ 0 w 1584"/>
              <a:gd name="T19" fmla="*/ 0 h 1824"/>
              <a:gd name="T20" fmla="*/ 1584 w 1584"/>
              <a:gd name="T21" fmla="*/ 1824 h 1824"/>
            </a:gdLst>
            <a:ahLst/>
            <a:cxnLst>
              <a:cxn ang="T12">
                <a:pos x="T0" y="T1"/>
              </a:cxn>
              <a:cxn ang="T13">
                <a:pos x="T2" y="T3"/>
              </a:cxn>
              <a:cxn ang="T14">
                <a:pos x="T4" y="T5"/>
              </a:cxn>
              <a:cxn ang="T15">
                <a:pos x="T6" y="T7"/>
              </a:cxn>
              <a:cxn ang="T16">
                <a:pos x="T8" y="T9"/>
              </a:cxn>
              <a:cxn ang="T17">
                <a:pos x="T10" y="T11"/>
              </a:cxn>
            </a:cxnLst>
            <a:rect l="T18" t="T19" r="T20" b="T21"/>
            <a:pathLst>
              <a:path w="1584" h="1824">
                <a:moveTo>
                  <a:pt x="1392" y="192"/>
                </a:moveTo>
                <a:lnTo>
                  <a:pt x="1584" y="192"/>
                </a:lnTo>
                <a:lnTo>
                  <a:pt x="1584" y="1824"/>
                </a:lnTo>
                <a:lnTo>
                  <a:pt x="0" y="1824"/>
                </a:lnTo>
                <a:lnTo>
                  <a:pt x="0" y="0"/>
                </a:lnTo>
                <a:lnTo>
                  <a:pt x="144" y="0"/>
                </a:lnTo>
              </a:path>
            </a:pathLst>
          </a:custGeom>
          <a:noFill/>
          <a:ln w="762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CA"/>
          </a:p>
        </p:txBody>
      </p:sp>
      <p:sp>
        <p:nvSpPr>
          <p:cNvPr id="130060" name="Text Box 20"/>
          <p:cNvSpPr txBox="1">
            <a:spLocks noChangeArrowheads="1"/>
          </p:cNvSpPr>
          <p:nvPr/>
        </p:nvSpPr>
        <p:spPr bwMode="auto">
          <a:xfrm>
            <a:off x="4411663" y="4381500"/>
            <a:ext cx="3540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r" eaLnBrk="1" hangingPunct="1">
              <a:spcBef>
                <a:spcPct val="0"/>
              </a:spcBef>
              <a:buFontTx/>
              <a:buNone/>
            </a:pPr>
            <a:r>
              <a:rPr lang="en-US" altLang="en-US" sz="1600" b="1">
                <a:solidFill>
                  <a:srgbClr val="0000FF"/>
                </a:solidFill>
                <a:latin typeface="Arial" charset="0"/>
                <a:ea typeface="ＭＳ Ｐゴシック" charset="-128"/>
              </a:rPr>
              <a:t>1 </a:t>
            </a:r>
          </a:p>
        </p:txBody>
      </p:sp>
      <p:sp>
        <p:nvSpPr>
          <p:cNvPr id="130061" name="Text Box 21"/>
          <p:cNvSpPr txBox="1">
            <a:spLocks noChangeArrowheads="1"/>
          </p:cNvSpPr>
          <p:nvPr/>
        </p:nvSpPr>
        <p:spPr bwMode="auto">
          <a:xfrm>
            <a:off x="3009900" y="400685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r" eaLnBrk="1" hangingPunct="1">
              <a:spcBef>
                <a:spcPct val="0"/>
              </a:spcBef>
              <a:buFontTx/>
              <a:buNone/>
            </a:pPr>
            <a:r>
              <a:rPr lang="en-US" altLang="en-US" sz="1600" b="1">
                <a:solidFill>
                  <a:srgbClr val="0000FF"/>
                </a:solidFill>
                <a:latin typeface="Arial" charset="0"/>
                <a:ea typeface="ＭＳ Ｐゴシック" charset="-128"/>
              </a:rPr>
              <a:t>5</a:t>
            </a:r>
          </a:p>
        </p:txBody>
      </p:sp>
      <p:sp>
        <p:nvSpPr>
          <p:cNvPr id="130062" name="Text Box 22"/>
          <p:cNvSpPr txBox="1">
            <a:spLocks noChangeArrowheads="1"/>
          </p:cNvSpPr>
          <p:nvPr/>
        </p:nvSpPr>
        <p:spPr bwMode="auto">
          <a:xfrm>
            <a:off x="3009900" y="423545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r" eaLnBrk="1" hangingPunct="1">
              <a:spcBef>
                <a:spcPct val="0"/>
              </a:spcBef>
              <a:buFontTx/>
              <a:buNone/>
            </a:pPr>
            <a:r>
              <a:rPr lang="en-US" altLang="en-US" sz="1600" b="1">
                <a:solidFill>
                  <a:srgbClr val="0000FF"/>
                </a:solidFill>
                <a:latin typeface="Arial" charset="0"/>
                <a:ea typeface="ＭＳ Ｐゴシック" charset="-128"/>
              </a:rPr>
              <a:t>4</a:t>
            </a:r>
          </a:p>
        </p:txBody>
      </p:sp>
      <p:sp>
        <p:nvSpPr>
          <p:cNvPr id="130063" name="Text Box 23"/>
          <p:cNvSpPr txBox="1">
            <a:spLocks noChangeArrowheads="1"/>
          </p:cNvSpPr>
          <p:nvPr/>
        </p:nvSpPr>
        <p:spPr bwMode="auto">
          <a:xfrm>
            <a:off x="4479925" y="45593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r" eaLnBrk="1" hangingPunct="1">
              <a:spcBef>
                <a:spcPct val="0"/>
              </a:spcBef>
              <a:buFontTx/>
              <a:buNone/>
            </a:pPr>
            <a:r>
              <a:rPr lang="en-US" altLang="en-US" sz="1600" b="1">
                <a:solidFill>
                  <a:srgbClr val="0000FF"/>
                </a:solidFill>
                <a:latin typeface="Arial" charset="0"/>
                <a:ea typeface="ＭＳ Ｐゴシック" charset="-128"/>
              </a:rPr>
              <a:t>5</a:t>
            </a:r>
          </a:p>
        </p:txBody>
      </p:sp>
      <p:sp>
        <p:nvSpPr>
          <p:cNvPr id="130064" name="Text Box 24"/>
          <p:cNvSpPr txBox="1">
            <a:spLocks noChangeArrowheads="1"/>
          </p:cNvSpPr>
          <p:nvPr/>
        </p:nvSpPr>
        <p:spPr bwMode="auto">
          <a:xfrm>
            <a:off x="5233988" y="4203700"/>
            <a:ext cx="4445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r" eaLnBrk="1" hangingPunct="1">
              <a:spcBef>
                <a:spcPct val="0"/>
              </a:spcBef>
              <a:buFontTx/>
              <a:buNone/>
            </a:pPr>
            <a:r>
              <a:rPr lang="en-US" altLang="en-US" sz="1600" b="1">
                <a:solidFill>
                  <a:srgbClr val="FF0000"/>
                </a:solidFill>
                <a:latin typeface="Arial" charset="0"/>
                <a:ea typeface="ＭＳ Ｐゴシック" charset="-128"/>
              </a:rPr>
              <a:t> 1 </a:t>
            </a:r>
          </a:p>
        </p:txBody>
      </p:sp>
      <p:sp>
        <p:nvSpPr>
          <p:cNvPr id="130065" name="Freeform 25"/>
          <p:cNvSpPr>
            <a:spLocks/>
          </p:cNvSpPr>
          <p:nvPr/>
        </p:nvSpPr>
        <p:spPr bwMode="auto">
          <a:xfrm>
            <a:off x="3990975" y="2273300"/>
            <a:ext cx="609600" cy="2057400"/>
          </a:xfrm>
          <a:custGeom>
            <a:avLst/>
            <a:gdLst>
              <a:gd name="T0" fmla="*/ 0 w 384"/>
              <a:gd name="T1" fmla="*/ 0 h 1296"/>
              <a:gd name="T2" fmla="*/ 0 w 384"/>
              <a:gd name="T3" fmla="*/ 2147483646 h 1296"/>
              <a:gd name="T4" fmla="*/ 2147483646 w 384"/>
              <a:gd name="T5" fmla="*/ 2147483646 h 1296"/>
              <a:gd name="T6" fmla="*/ 2147483646 w 384"/>
              <a:gd name="T7" fmla="*/ 2147483646 h 1296"/>
              <a:gd name="T8" fmla="*/ 2147483646 w 384"/>
              <a:gd name="T9" fmla="*/ 2147483646 h 1296"/>
              <a:gd name="T10" fmla="*/ 0 60000 65536"/>
              <a:gd name="T11" fmla="*/ 0 60000 65536"/>
              <a:gd name="T12" fmla="*/ 0 60000 65536"/>
              <a:gd name="T13" fmla="*/ 0 60000 65536"/>
              <a:gd name="T14" fmla="*/ 0 60000 65536"/>
              <a:gd name="T15" fmla="*/ 0 w 384"/>
              <a:gd name="T16" fmla="*/ 0 h 1296"/>
              <a:gd name="T17" fmla="*/ 384 w 384"/>
              <a:gd name="T18" fmla="*/ 1296 h 1296"/>
            </a:gdLst>
            <a:ahLst/>
            <a:cxnLst>
              <a:cxn ang="T10">
                <a:pos x="T0" y="T1"/>
              </a:cxn>
              <a:cxn ang="T11">
                <a:pos x="T2" y="T3"/>
              </a:cxn>
              <a:cxn ang="T12">
                <a:pos x="T4" y="T5"/>
              </a:cxn>
              <a:cxn ang="T13">
                <a:pos x="T6" y="T7"/>
              </a:cxn>
              <a:cxn ang="T14">
                <a:pos x="T8" y="T9"/>
              </a:cxn>
            </a:cxnLst>
            <a:rect l="T15" t="T16" r="T17" b="T18"/>
            <a:pathLst>
              <a:path w="384" h="1296">
                <a:moveTo>
                  <a:pt x="0" y="0"/>
                </a:moveTo>
                <a:lnTo>
                  <a:pt x="0" y="96"/>
                </a:lnTo>
                <a:lnTo>
                  <a:pt x="192" y="96"/>
                </a:lnTo>
                <a:lnTo>
                  <a:pt x="192" y="1296"/>
                </a:lnTo>
                <a:lnTo>
                  <a:pt x="384" y="1296"/>
                </a:lnTo>
              </a:path>
            </a:pathLst>
          </a:custGeom>
          <a:noFill/>
          <a:ln w="38100">
            <a:solidFill>
              <a:srgbClr val="FF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en-CA"/>
          </a:p>
        </p:txBody>
      </p:sp>
      <p:sp>
        <p:nvSpPr>
          <p:cNvPr id="130066" name="Text Box 26"/>
          <p:cNvSpPr txBox="1">
            <a:spLocks noChangeArrowheads="1"/>
          </p:cNvSpPr>
          <p:nvPr/>
        </p:nvSpPr>
        <p:spPr bwMode="auto">
          <a:xfrm>
            <a:off x="3008313" y="377825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r" eaLnBrk="1" hangingPunct="1">
              <a:spcBef>
                <a:spcPct val="0"/>
              </a:spcBef>
              <a:buFontTx/>
              <a:buNone/>
            </a:pPr>
            <a:r>
              <a:rPr lang="en-US" altLang="en-US" sz="1600" b="1">
                <a:solidFill>
                  <a:srgbClr val="0000FF"/>
                </a:solidFill>
                <a:latin typeface="Arial" charset="0"/>
                <a:ea typeface="ＭＳ Ｐゴシック" charset="-128"/>
              </a:rPr>
              <a:t>5</a:t>
            </a:r>
          </a:p>
        </p:txBody>
      </p:sp>
      <p:sp>
        <p:nvSpPr>
          <p:cNvPr id="130067" name="Text Box 27"/>
          <p:cNvSpPr txBox="1">
            <a:spLocks noChangeArrowheads="1"/>
          </p:cNvSpPr>
          <p:nvPr/>
        </p:nvSpPr>
        <p:spPr bwMode="auto">
          <a:xfrm>
            <a:off x="3009900" y="35687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r" eaLnBrk="1" hangingPunct="1">
              <a:spcBef>
                <a:spcPct val="0"/>
              </a:spcBef>
              <a:buFontTx/>
              <a:buNone/>
            </a:pPr>
            <a:r>
              <a:rPr lang="en-US" altLang="en-US" sz="1600" b="1">
                <a:solidFill>
                  <a:srgbClr val="0000FF"/>
                </a:solidFill>
                <a:latin typeface="Arial" charset="0"/>
                <a:ea typeface="ＭＳ Ｐゴシック" charset="-128"/>
              </a:rPr>
              <a:t>1</a:t>
            </a:r>
          </a:p>
        </p:txBody>
      </p:sp>
      <p:sp>
        <p:nvSpPr>
          <p:cNvPr id="130068" name="Text Box 28"/>
          <p:cNvSpPr txBox="1">
            <a:spLocks noChangeArrowheads="1"/>
          </p:cNvSpPr>
          <p:nvPr/>
        </p:nvSpPr>
        <p:spPr bwMode="auto">
          <a:xfrm>
            <a:off x="7162800" y="3911600"/>
            <a:ext cx="3540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r" eaLnBrk="1" hangingPunct="1">
              <a:spcBef>
                <a:spcPct val="0"/>
              </a:spcBef>
              <a:buFontTx/>
              <a:buNone/>
            </a:pPr>
            <a:r>
              <a:rPr lang="en-US" altLang="en-US" sz="1600" b="1">
                <a:solidFill>
                  <a:srgbClr val="FF0000"/>
                </a:solidFill>
                <a:latin typeface="Arial" charset="0"/>
                <a:ea typeface="ＭＳ Ｐゴシック" charset="-128"/>
              </a:rPr>
              <a:t>1 </a:t>
            </a:r>
          </a:p>
        </p:txBody>
      </p:sp>
      <p:sp>
        <p:nvSpPr>
          <p:cNvPr id="27" name="TextBox 26"/>
          <p:cNvSpPr txBox="1"/>
          <p:nvPr/>
        </p:nvSpPr>
        <p:spPr>
          <a:xfrm>
            <a:off x="550863" y="5610225"/>
            <a:ext cx="7994650" cy="923925"/>
          </a:xfrm>
          <a:prstGeom prst="rect">
            <a:avLst/>
          </a:prstGeom>
          <a:solidFill>
            <a:schemeClr val="accent6">
              <a:lumMod val="20000"/>
              <a:lumOff val="80000"/>
            </a:schemeClr>
          </a:solidFill>
        </p:spPr>
        <p:txBody>
          <a:bodyPr wrap="none">
            <a:spAutoFit/>
          </a:bodyPr>
          <a:lstStyle/>
          <a:p>
            <a:pPr>
              <a:defRPr/>
            </a:pPr>
            <a:r>
              <a:rPr lang="en-US" sz="1800" dirty="0">
                <a:latin typeface="Arial  " charset="0"/>
                <a:ea typeface="ＭＳ Ｐゴシック" pitchFamily="34" charset="-128"/>
              </a:rPr>
              <a:t>Above: Forwarding unit compares the destination register </a:t>
            </a:r>
            <a:r>
              <a:rPr lang="en-US" sz="1800" dirty="0" err="1">
                <a:latin typeface="Arial  " charset="0"/>
                <a:ea typeface="ＭＳ Ｐゴシック" pitchFamily="34" charset="-128"/>
              </a:rPr>
              <a:t>specifier</a:t>
            </a:r>
            <a:r>
              <a:rPr lang="en-US" sz="1800" dirty="0">
                <a:latin typeface="Arial  " charset="0"/>
                <a:ea typeface="ＭＳ Ｐゴシック" pitchFamily="34" charset="-128"/>
              </a:rPr>
              <a:t> of DADD </a:t>
            </a:r>
          </a:p>
          <a:p>
            <a:pPr>
              <a:defRPr/>
            </a:pPr>
            <a:r>
              <a:rPr lang="en-US" sz="1800" dirty="0">
                <a:latin typeface="Arial  " charset="0"/>
                <a:ea typeface="ＭＳ Ｐゴシック" pitchFamily="34" charset="-128"/>
              </a:rPr>
              <a:t>instruction in EX/MEM to both source register </a:t>
            </a:r>
            <a:r>
              <a:rPr lang="en-US" sz="1800" dirty="0" err="1">
                <a:latin typeface="Arial  " charset="0"/>
                <a:ea typeface="ＭＳ Ｐゴシック" pitchFamily="34" charset="-128"/>
              </a:rPr>
              <a:t>specifiers</a:t>
            </a:r>
            <a:r>
              <a:rPr lang="en-US" sz="1800" dirty="0">
                <a:latin typeface="Arial  " charset="0"/>
                <a:ea typeface="ＭＳ Ｐゴシック" pitchFamily="34" charset="-128"/>
              </a:rPr>
              <a:t> of DSUB instruction </a:t>
            </a:r>
          </a:p>
          <a:p>
            <a:pPr>
              <a:defRPr/>
            </a:pPr>
            <a:r>
              <a:rPr lang="en-US" sz="1800" dirty="0">
                <a:latin typeface="Arial  " charset="0"/>
                <a:ea typeface="ＭＳ Ｐゴシック" pitchFamily="34" charset="-128"/>
              </a:rPr>
              <a:t>in ID/EX. Finds a match (Rs == Rd == 1), and thus enables forwarding </a:t>
            </a:r>
            <a:r>
              <a:rPr lang="en-US" sz="1800" dirty="0" err="1">
                <a:latin typeface="Arial  " charset="0"/>
                <a:ea typeface="ＭＳ Ｐゴシック" pitchFamily="34" charset="-128"/>
              </a:rPr>
              <a:t>mux</a:t>
            </a:r>
            <a:r>
              <a:rPr lang="en-US" sz="1800" dirty="0">
                <a:latin typeface="Arial  " charset="0"/>
                <a:ea typeface="ＭＳ Ｐゴシック" pitchFamily="34" charset="-128"/>
              </a:rPr>
              <a:t>.</a:t>
            </a:r>
          </a:p>
        </p:txBody>
      </p:sp>
      <p:sp>
        <p:nvSpPr>
          <p:cNvPr id="130070" name="Rectangle 2"/>
          <p:cNvSpPr>
            <a:spLocks noGrp="1" noChangeArrowheads="1"/>
          </p:cNvSpPr>
          <p:nvPr>
            <p:ph type="title"/>
          </p:nvPr>
        </p:nvSpPr>
        <p:spPr>
          <a:xfrm>
            <a:off x="685800" y="0"/>
            <a:ext cx="7772400" cy="939800"/>
          </a:xfrm>
        </p:spPr>
        <p:txBody>
          <a:bodyPr/>
          <a:lstStyle/>
          <a:p>
            <a:pPr eaLnBrk="1" hangingPunct="1"/>
            <a:r>
              <a:rPr lang="en-US" altLang="en-US">
                <a:latin typeface="Arial  " charset="0"/>
                <a:ea typeface="MS PGothic" charset="-128"/>
                <a:cs typeface="Arial  " charset="0"/>
              </a:rPr>
              <a:t>Forwarding Example</a:t>
            </a:r>
          </a:p>
        </p:txBody>
      </p:sp>
      <p:sp>
        <p:nvSpPr>
          <p:cNvPr id="130071" name="Slide Number Placeholder 28"/>
          <p:cNvSpPr>
            <a:spLocks noGrp="1"/>
          </p:cNvSpPr>
          <p:nvPr>
            <p:ph type="sldNum" sz="quarter" idx="4294967295"/>
          </p:nvPr>
        </p:nvSpPr>
        <p:spPr>
          <a:xfrm>
            <a:off x="72390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A62A6D2E-0487-EA43-82E9-7C77268F069D}" type="slidenum">
              <a:rPr lang="en-US" altLang="en-US" sz="1400">
                <a:latin typeface="Comic Sans MS" charset="0"/>
                <a:ea typeface="ＭＳ Ｐゴシック" charset="-128"/>
              </a:rPr>
              <a:pPr>
                <a:spcBef>
                  <a:spcPct val="0"/>
                </a:spcBef>
                <a:buFontTx/>
                <a:buNone/>
              </a:pPr>
              <a:t>48</a:t>
            </a:fld>
            <a:r>
              <a:rPr lang="en-US" altLang="en-US" sz="1400">
                <a:latin typeface="Comic Sans MS" charset="0"/>
                <a:ea typeface="ＭＳ Ｐゴシック" charset="-128"/>
              </a:rPr>
              <a:t> </a:t>
            </a:r>
          </a:p>
        </p:txBody>
      </p:sp>
      <p:cxnSp>
        <p:nvCxnSpPr>
          <p:cNvPr id="130074" name="Straight Arrow Connector 28"/>
          <p:cNvCxnSpPr>
            <a:cxnSpLocks noChangeShapeType="1"/>
          </p:cNvCxnSpPr>
          <p:nvPr/>
        </p:nvCxnSpPr>
        <p:spPr bwMode="auto">
          <a:xfrm>
            <a:off x="4138613" y="1876425"/>
            <a:ext cx="806450" cy="1588"/>
          </a:xfrm>
          <a:prstGeom prst="straightConnector1">
            <a:avLst/>
          </a:prstGeom>
          <a:noFill/>
          <a:ln w="73025">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130075" name="Straight Connector 30"/>
          <p:cNvCxnSpPr>
            <a:cxnSpLocks noChangeShapeType="1"/>
          </p:cNvCxnSpPr>
          <p:nvPr/>
        </p:nvCxnSpPr>
        <p:spPr bwMode="auto">
          <a:xfrm flipV="1">
            <a:off x="3873500" y="1865313"/>
            <a:ext cx="301625" cy="239712"/>
          </a:xfrm>
          <a:prstGeom prst="line">
            <a:avLst/>
          </a:prstGeom>
          <a:noFill/>
          <a:ln w="69850">
            <a:solidFill>
              <a:srgbClr val="FF0000"/>
            </a:solidFill>
            <a:round/>
            <a:headEnd/>
            <a:tailEnd/>
          </a:ln>
          <a:extLst>
            <a:ext uri="{909E8E84-426E-40DD-AFC4-6F175D3DCCD1}">
              <a14:hiddenFill xmlns:a14="http://schemas.microsoft.com/office/drawing/2010/main">
                <a:noFill/>
              </a14:hiddenFill>
            </a:ext>
          </a:extLst>
        </p:spPr>
      </p:cxn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097" name="Picture 3" descr="0166_00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5051" t="2179" r="1283" b="27467"/>
          <a:stretch>
            <a:fillRect/>
          </a:stretch>
        </p:blipFill>
        <p:spPr>
          <a:xfrm>
            <a:off x="1041400" y="1485900"/>
            <a:ext cx="7315200" cy="4244975"/>
          </a:xfrm>
        </p:spPr>
      </p:pic>
      <p:sp>
        <p:nvSpPr>
          <p:cNvPr id="132098" name="Rectangle 2"/>
          <p:cNvSpPr>
            <a:spLocks noGrp="1" noChangeArrowheads="1"/>
          </p:cNvSpPr>
          <p:nvPr>
            <p:ph type="title"/>
          </p:nvPr>
        </p:nvSpPr>
        <p:spPr>
          <a:xfrm>
            <a:off x="685800" y="0"/>
            <a:ext cx="7772400" cy="939800"/>
          </a:xfrm>
        </p:spPr>
        <p:txBody>
          <a:bodyPr/>
          <a:lstStyle/>
          <a:p>
            <a:pPr eaLnBrk="1" hangingPunct="1"/>
            <a:r>
              <a:rPr lang="en-US" altLang="en-US">
                <a:latin typeface="Arial  " charset="0"/>
                <a:ea typeface="MS PGothic" charset="-128"/>
                <a:cs typeface="Arial  " charset="0"/>
              </a:rPr>
              <a:t>Forwarding Example</a:t>
            </a:r>
          </a:p>
        </p:txBody>
      </p:sp>
      <p:sp>
        <p:nvSpPr>
          <p:cNvPr id="132099" name="Slide Number Placeholder 33"/>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C5E7F54F-EB84-C84F-86D7-F614EDC346E1}" type="slidenum">
              <a:rPr lang="en-US" altLang="en-US" sz="1400">
                <a:latin typeface="Comic Sans MS" charset="0"/>
                <a:ea typeface="ＭＳ Ｐゴシック" charset="-128"/>
              </a:rPr>
              <a:pPr>
                <a:spcBef>
                  <a:spcPct val="0"/>
                </a:spcBef>
                <a:buFontTx/>
                <a:buNone/>
              </a:pPr>
              <a:t>49</a:t>
            </a:fld>
            <a:r>
              <a:rPr lang="en-US" altLang="en-US" sz="1400">
                <a:latin typeface="Comic Sans MS" charset="0"/>
                <a:ea typeface="ＭＳ Ｐゴシック" charset="-128"/>
              </a:rPr>
              <a:t> </a:t>
            </a:r>
          </a:p>
        </p:txBody>
      </p:sp>
      <p:grpSp>
        <p:nvGrpSpPr>
          <p:cNvPr id="132100" name="Group 53"/>
          <p:cNvGrpSpPr>
            <a:grpSpLocks/>
          </p:cNvGrpSpPr>
          <p:nvPr/>
        </p:nvGrpSpPr>
        <p:grpSpPr bwMode="auto">
          <a:xfrm>
            <a:off x="800100" y="1177925"/>
            <a:ext cx="7966075" cy="4524375"/>
            <a:chOff x="800100" y="1177925"/>
            <a:chExt cx="7966075" cy="4524375"/>
          </a:xfrm>
        </p:grpSpPr>
        <p:sp>
          <p:nvSpPr>
            <p:cNvPr id="132103" name="Text Box 4"/>
            <p:cNvSpPr txBox="1">
              <a:spLocks noChangeArrowheads="1"/>
            </p:cNvSpPr>
            <p:nvPr/>
          </p:nvSpPr>
          <p:spPr bwMode="auto">
            <a:xfrm>
              <a:off x="1841500" y="4054475"/>
              <a:ext cx="8461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1600" b="1">
                  <a:solidFill>
                    <a:srgbClr val="FF00FF"/>
                  </a:solidFill>
                  <a:latin typeface="Arial" charset="0"/>
                  <a:ea typeface="ＭＳ Ｐゴシック" charset="-128"/>
                </a:rPr>
                <a:t>Rs = 1 </a:t>
              </a:r>
            </a:p>
          </p:txBody>
        </p:sp>
        <p:sp>
          <p:nvSpPr>
            <p:cNvPr id="132104" name="Text Box 5"/>
            <p:cNvSpPr txBox="1">
              <a:spLocks noChangeArrowheads="1"/>
            </p:cNvSpPr>
            <p:nvPr/>
          </p:nvSpPr>
          <p:spPr bwMode="auto">
            <a:xfrm>
              <a:off x="1860550" y="4524375"/>
              <a:ext cx="7445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1600" b="1">
                  <a:solidFill>
                    <a:srgbClr val="FF00FF"/>
                  </a:solidFill>
                  <a:latin typeface="Arial" charset="0"/>
                  <a:ea typeface="ＭＳ Ｐゴシック" charset="-128"/>
                </a:rPr>
                <a:t>Rt = 9</a:t>
              </a:r>
            </a:p>
          </p:txBody>
        </p:sp>
        <p:sp>
          <p:nvSpPr>
            <p:cNvPr id="132105" name="Text Box 6"/>
            <p:cNvSpPr txBox="1">
              <a:spLocks noChangeArrowheads="1"/>
            </p:cNvSpPr>
            <p:nvPr/>
          </p:nvSpPr>
          <p:spPr bwMode="auto">
            <a:xfrm>
              <a:off x="1830388" y="4765675"/>
              <a:ext cx="8001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1600" b="1">
                  <a:solidFill>
                    <a:srgbClr val="FF00FF"/>
                  </a:solidFill>
                  <a:latin typeface="Arial" charset="0"/>
                  <a:ea typeface="ＭＳ Ｐゴシック" charset="-128"/>
                </a:rPr>
                <a:t>Rd = 8</a:t>
              </a:r>
            </a:p>
          </p:txBody>
        </p:sp>
        <p:sp>
          <p:nvSpPr>
            <p:cNvPr id="132106" name="Text Box 7"/>
            <p:cNvSpPr txBox="1">
              <a:spLocks noChangeArrowheads="1"/>
            </p:cNvSpPr>
            <p:nvPr/>
          </p:nvSpPr>
          <p:spPr bwMode="auto">
            <a:xfrm>
              <a:off x="1860550" y="4295775"/>
              <a:ext cx="7445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1600" b="1">
                  <a:solidFill>
                    <a:srgbClr val="FF00FF"/>
                  </a:solidFill>
                  <a:latin typeface="Arial" charset="0"/>
                  <a:ea typeface="ＭＳ Ｐゴシック" charset="-128"/>
                </a:rPr>
                <a:t>Rt = 9</a:t>
              </a:r>
            </a:p>
          </p:txBody>
        </p:sp>
        <p:sp>
          <p:nvSpPr>
            <p:cNvPr id="132107" name="Text Box 8"/>
            <p:cNvSpPr txBox="1">
              <a:spLocks noChangeArrowheads="1"/>
            </p:cNvSpPr>
            <p:nvPr/>
          </p:nvSpPr>
          <p:spPr bwMode="auto">
            <a:xfrm>
              <a:off x="5143500" y="43942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1600" b="1">
                  <a:solidFill>
                    <a:srgbClr val="00FF00"/>
                  </a:solidFill>
                  <a:latin typeface="Arial" charset="0"/>
                  <a:ea typeface="ＭＳ Ｐゴシック" charset="-128"/>
                </a:rPr>
                <a:t>6</a:t>
              </a:r>
            </a:p>
          </p:txBody>
        </p:sp>
        <p:sp>
          <p:nvSpPr>
            <p:cNvPr id="132108" name="Text Box 9"/>
            <p:cNvSpPr txBox="1">
              <a:spLocks noChangeArrowheads="1"/>
            </p:cNvSpPr>
            <p:nvPr/>
          </p:nvSpPr>
          <p:spPr bwMode="auto">
            <a:xfrm>
              <a:off x="6908800" y="43942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1600" b="1">
                  <a:solidFill>
                    <a:srgbClr val="0000FF"/>
                  </a:solidFill>
                  <a:latin typeface="Arial" charset="0"/>
                  <a:ea typeface="ＭＳ Ｐゴシック" charset="-128"/>
                </a:rPr>
                <a:t>4</a:t>
              </a:r>
            </a:p>
          </p:txBody>
        </p:sp>
        <p:sp>
          <p:nvSpPr>
            <p:cNvPr id="132109" name="Text Box 10"/>
            <p:cNvSpPr txBox="1">
              <a:spLocks noChangeArrowheads="1"/>
            </p:cNvSpPr>
            <p:nvPr/>
          </p:nvSpPr>
          <p:spPr bwMode="auto">
            <a:xfrm>
              <a:off x="7615238" y="441325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1600" b="1">
                  <a:solidFill>
                    <a:srgbClr val="FF0000"/>
                  </a:solidFill>
                  <a:latin typeface="Arial" charset="0"/>
                  <a:ea typeface="ＭＳ Ｐゴシック" charset="-128"/>
                </a:rPr>
                <a:t>1</a:t>
              </a:r>
            </a:p>
          </p:txBody>
        </p:sp>
        <p:sp>
          <p:nvSpPr>
            <p:cNvPr id="132110" name="Text Box 11"/>
            <p:cNvSpPr txBox="1">
              <a:spLocks noChangeArrowheads="1"/>
            </p:cNvSpPr>
            <p:nvPr/>
          </p:nvSpPr>
          <p:spPr bwMode="auto">
            <a:xfrm>
              <a:off x="5078413" y="1228725"/>
              <a:ext cx="19816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2000" b="1" dirty="0">
                  <a:solidFill>
                    <a:srgbClr val="0000FF"/>
                  </a:solidFill>
                  <a:latin typeface="Arial" charset="0"/>
                  <a:ea typeface="ＭＳ Ｐゴシック" charset="-128"/>
                </a:rPr>
                <a:t>DSUB x4,x1,x5</a:t>
              </a:r>
            </a:p>
          </p:txBody>
        </p:sp>
        <p:sp>
          <p:nvSpPr>
            <p:cNvPr id="132111" name="Text Box 14"/>
            <p:cNvSpPr txBox="1">
              <a:spLocks noChangeArrowheads="1"/>
            </p:cNvSpPr>
            <p:nvPr/>
          </p:nvSpPr>
          <p:spPr bwMode="auto">
            <a:xfrm>
              <a:off x="7170738" y="1228725"/>
              <a:ext cx="15954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2000" b="1" dirty="0">
                  <a:solidFill>
                    <a:srgbClr val="FF0000"/>
                  </a:solidFill>
                  <a:latin typeface="Arial" charset="0"/>
                  <a:ea typeface="ＭＳ Ｐゴシック" charset="-128"/>
                </a:rPr>
                <a:t>DADD x1,...</a:t>
              </a:r>
            </a:p>
          </p:txBody>
        </p:sp>
        <p:sp>
          <p:nvSpPr>
            <p:cNvPr id="132112" name="Text Box 16"/>
            <p:cNvSpPr txBox="1">
              <a:spLocks noChangeArrowheads="1"/>
            </p:cNvSpPr>
            <p:nvPr/>
          </p:nvSpPr>
          <p:spPr bwMode="auto">
            <a:xfrm>
              <a:off x="3048000" y="1203325"/>
              <a:ext cx="18533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2000" b="1" dirty="0">
                  <a:solidFill>
                    <a:srgbClr val="00FF00"/>
                  </a:solidFill>
                  <a:latin typeface="Arial" charset="0"/>
                  <a:ea typeface="ＭＳ Ｐゴシック" charset="-128"/>
                </a:rPr>
                <a:t>AND x6,x7,x1</a:t>
              </a:r>
            </a:p>
          </p:txBody>
        </p:sp>
        <p:sp>
          <p:nvSpPr>
            <p:cNvPr id="132113" name="Text Box 18"/>
            <p:cNvSpPr txBox="1">
              <a:spLocks noChangeArrowheads="1"/>
            </p:cNvSpPr>
            <p:nvPr/>
          </p:nvSpPr>
          <p:spPr bwMode="auto">
            <a:xfrm>
              <a:off x="4278936" y="4958896"/>
              <a:ext cx="3561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r" eaLnBrk="1" hangingPunct="1">
                <a:spcBef>
                  <a:spcPct val="0"/>
                </a:spcBef>
                <a:buFontTx/>
                <a:buNone/>
              </a:pPr>
              <a:r>
                <a:rPr lang="en-US" altLang="en-US" sz="1600" b="1">
                  <a:solidFill>
                    <a:srgbClr val="00FF00"/>
                  </a:solidFill>
                  <a:latin typeface="Arial" charset="0"/>
                  <a:ea typeface="ＭＳ Ｐゴシック" charset="-128"/>
                </a:rPr>
                <a:t>7 </a:t>
              </a:r>
            </a:p>
          </p:txBody>
        </p:sp>
        <p:sp>
          <p:nvSpPr>
            <p:cNvPr id="132114" name="Text Box 19"/>
            <p:cNvSpPr txBox="1">
              <a:spLocks noChangeArrowheads="1"/>
            </p:cNvSpPr>
            <p:nvPr/>
          </p:nvSpPr>
          <p:spPr bwMode="auto">
            <a:xfrm>
              <a:off x="2833688" y="4514850"/>
              <a:ext cx="2968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r" eaLnBrk="1" hangingPunct="1">
                <a:spcBef>
                  <a:spcPct val="0"/>
                </a:spcBef>
                <a:buFontTx/>
                <a:buNone/>
              </a:pPr>
              <a:r>
                <a:rPr lang="en-US" altLang="en-US" sz="1600" b="1">
                  <a:solidFill>
                    <a:srgbClr val="00FF00"/>
                  </a:solidFill>
                  <a:latin typeface="Arial" charset="0"/>
                  <a:ea typeface="ＭＳ Ｐゴシック" charset="-128"/>
                </a:rPr>
                <a:t>1</a:t>
              </a:r>
            </a:p>
          </p:txBody>
        </p:sp>
        <p:sp>
          <p:nvSpPr>
            <p:cNvPr id="132115" name="Text Box 20"/>
            <p:cNvSpPr txBox="1">
              <a:spLocks noChangeArrowheads="1"/>
            </p:cNvSpPr>
            <p:nvPr/>
          </p:nvSpPr>
          <p:spPr bwMode="auto">
            <a:xfrm>
              <a:off x="2832100" y="474345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r" eaLnBrk="1" hangingPunct="1">
                <a:spcBef>
                  <a:spcPct val="0"/>
                </a:spcBef>
                <a:buFontTx/>
                <a:buNone/>
              </a:pPr>
              <a:r>
                <a:rPr lang="en-US" altLang="en-US" sz="1600" b="1">
                  <a:solidFill>
                    <a:srgbClr val="00FF00"/>
                  </a:solidFill>
                  <a:latin typeface="Arial" charset="0"/>
                  <a:ea typeface="ＭＳ Ｐゴシック" charset="-128"/>
                </a:rPr>
                <a:t>6</a:t>
              </a:r>
            </a:p>
          </p:txBody>
        </p:sp>
        <p:sp>
          <p:nvSpPr>
            <p:cNvPr id="132116" name="Text Box 21"/>
            <p:cNvSpPr txBox="1">
              <a:spLocks noChangeArrowheads="1"/>
            </p:cNvSpPr>
            <p:nvPr/>
          </p:nvSpPr>
          <p:spPr bwMode="auto">
            <a:xfrm>
              <a:off x="4299714" y="5129212"/>
              <a:ext cx="2984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r" eaLnBrk="1" hangingPunct="1">
                <a:spcBef>
                  <a:spcPct val="0"/>
                </a:spcBef>
                <a:buFontTx/>
                <a:buNone/>
              </a:pPr>
              <a:r>
                <a:rPr lang="en-US" altLang="en-US" sz="1600" b="1">
                  <a:solidFill>
                    <a:srgbClr val="00FF00"/>
                  </a:solidFill>
                  <a:latin typeface="Arial" charset="0"/>
                  <a:ea typeface="ＭＳ Ｐゴシック" charset="-128"/>
                </a:rPr>
                <a:t>1</a:t>
              </a:r>
            </a:p>
          </p:txBody>
        </p:sp>
        <p:sp>
          <p:nvSpPr>
            <p:cNvPr id="132117" name="Text Box 22"/>
            <p:cNvSpPr txBox="1">
              <a:spLocks noChangeArrowheads="1"/>
            </p:cNvSpPr>
            <p:nvPr/>
          </p:nvSpPr>
          <p:spPr bwMode="auto">
            <a:xfrm>
              <a:off x="5123657" y="4812506"/>
              <a:ext cx="3540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r" eaLnBrk="1" hangingPunct="1">
                <a:spcBef>
                  <a:spcPct val="0"/>
                </a:spcBef>
                <a:buFontTx/>
                <a:buNone/>
              </a:pPr>
              <a:r>
                <a:rPr lang="en-US" altLang="en-US" sz="1600" b="1">
                  <a:solidFill>
                    <a:srgbClr val="0000FF"/>
                  </a:solidFill>
                  <a:latin typeface="Arial" charset="0"/>
                  <a:ea typeface="ＭＳ Ｐゴシック" charset="-128"/>
                </a:rPr>
                <a:t>4 </a:t>
              </a:r>
            </a:p>
          </p:txBody>
        </p:sp>
        <p:sp>
          <p:nvSpPr>
            <p:cNvPr id="132118" name="Text Box 23"/>
            <p:cNvSpPr txBox="1">
              <a:spLocks noChangeArrowheads="1"/>
            </p:cNvSpPr>
            <p:nvPr/>
          </p:nvSpPr>
          <p:spPr bwMode="auto">
            <a:xfrm>
              <a:off x="2830483" y="4286250"/>
              <a:ext cx="2984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r" eaLnBrk="1" hangingPunct="1">
                <a:spcBef>
                  <a:spcPct val="0"/>
                </a:spcBef>
                <a:buFontTx/>
                <a:buNone/>
              </a:pPr>
              <a:r>
                <a:rPr lang="en-US" altLang="en-US" sz="1600" b="1">
                  <a:solidFill>
                    <a:srgbClr val="00FF00"/>
                  </a:solidFill>
                  <a:latin typeface="Arial" charset="0"/>
                  <a:ea typeface="ＭＳ Ｐゴシック" charset="-128"/>
                </a:rPr>
                <a:t>1</a:t>
              </a:r>
            </a:p>
          </p:txBody>
        </p:sp>
        <p:sp>
          <p:nvSpPr>
            <p:cNvPr id="132119" name="Text Box 24"/>
            <p:cNvSpPr txBox="1">
              <a:spLocks noChangeArrowheads="1"/>
            </p:cNvSpPr>
            <p:nvPr/>
          </p:nvSpPr>
          <p:spPr bwMode="auto">
            <a:xfrm>
              <a:off x="2832100" y="4076700"/>
              <a:ext cx="296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r" eaLnBrk="1" hangingPunct="1">
                <a:spcBef>
                  <a:spcPct val="0"/>
                </a:spcBef>
                <a:buFontTx/>
                <a:buNone/>
              </a:pPr>
              <a:r>
                <a:rPr lang="en-US" altLang="en-US" sz="1600" b="1">
                  <a:solidFill>
                    <a:srgbClr val="00FF00"/>
                  </a:solidFill>
                  <a:latin typeface="Arial" charset="0"/>
                  <a:ea typeface="ＭＳ Ｐゴシック" charset="-128"/>
                </a:rPr>
                <a:t>7</a:t>
              </a:r>
            </a:p>
          </p:txBody>
        </p:sp>
        <p:sp>
          <p:nvSpPr>
            <p:cNvPr id="132120" name="Text Box 25"/>
            <p:cNvSpPr txBox="1">
              <a:spLocks noChangeArrowheads="1"/>
            </p:cNvSpPr>
            <p:nvPr/>
          </p:nvSpPr>
          <p:spPr bwMode="auto">
            <a:xfrm>
              <a:off x="800100" y="1177925"/>
              <a:ext cx="16802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eaLnBrk="1" hangingPunct="1">
                <a:spcBef>
                  <a:spcPct val="0"/>
                </a:spcBef>
                <a:buFontTx/>
                <a:buNone/>
              </a:pPr>
              <a:r>
                <a:rPr lang="en-US" altLang="en-US" sz="2000" b="1" dirty="0">
                  <a:solidFill>
                    <a:srgbClr val="FF00FF"/>
                  </a:solidFill>
                  <a:latin typeface="Arial" charset="0"/>
                  <a:ea typeface="ＭＳ Ｐゴシック" charset="-128"/>
                </a:rPr>
                <a:t>OR x8,x1,x9</a:t>
              </a:r>
            </a:p>
          </p:txBody>
        </p:sp>
        <p:sp>
          <p:nvSpPr>
            <p:cNvPr id="132121" name="Text Box 26"/>
            <p:cNvSpPr txBox="1">
              <a:spLocks noChangeArrowheads="1"/>
            </p:cNvSpPr>
            <p:nvPr/>
          </p:nvSpPr>
          <p:spPr bwMode="auto">
            <a:xfrm>
              <a:off x="5124449" y="5014121"/>
              <a:ext cx="3540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lgn="r" eaLnBrk="1" hangingPunct="1">
                <a:spcBef>
                  <a:spcPct val="0"/>
                </a:spcBef>
                <a:buFontTx/>
                <a:buNone/>
              </a:pPr>
              <a:r>
                <a:rPr lang="en-US" altLang="en-US" sz="1600" b="1">
                  <a:solidFill>
                    <a:srgbClr val="FF0000"/>
                  </a:solidFill>
                  <a:latin typeface="Arial" charset="0"/>
                  <a:ea typeface="ＭＳ Ｐゴシック" charset="-128"/>
                </a:rPr>
                <a:t>1 </a:t>
              </a:r>
            </a:p>
          </p:txBody>
        </p:sp>
        <p:sp>
          <p:nvSpPr>
            <p:cNvPr id="132122" name="Freeform 27"/>
            <p:cNvSpPr>
              <a:spLocks/>
            </p:cNvSpPr>
            <p:nvPr/>
          </p:nvSpPr>
          <p:spPr bwMode="auto">
            <a:xfrm>
              <a:off x="3803650" y="3781425"/>
              <a:ext cx="609600" cy="1143000"/>
            </a:xfrm>
            <a:custGeom>
              <a:avLst/>
              <a:gdLst>
                <a:gd name="T0" fmla="*/ 2147483646 w 384"/>
                <a:gd name="T1" fmla="*/ 2147483646 h 720"/>
                <a:gd name="T2" fmla="*/ 2147483646 w 384"/>
                <a:gd name="T3" fmla="*/ 2147483646 h 720"/>
                <a:gd name="T4" fmla="*/ 2147483646 w 384"/>
                <a:gd name="T5" fmla="*/ 2147483646 h 720"/>
                <a:gd name="T6" fmla="*/ 0 w 384"/>
                <a:gd name="T7" fmla="*/ 2147483646 h 720"/>
                <a:gd name="T8" fmla="*/ 0 w 384"/>
                <a:gd name="T9" fmla="*/ 0 h 720"/>
                <a:gd name="T10" fmla="*/ 0 60000 65536"/>
                <a:gd name="T11" fmla="*/ 0 60000 65536"/>
                <a:gd name="T12" fmla="*/ 0 60000 65536"/>
                <a:gd name="T13" fmla="*/ 0 60000 65536"/>
                <a:gd name="T14" fmla="*/ 0 60000 65536"/>
                <a:gd name="T15" fmla="*/ 0 w 384"/>
                <a:gd name="T16" fmla="*/ 0 h 720"/>
                <a:gd name="T17" fmla="*/ 384 w 384"/>
                <a:gd name="T18" fmla="*/ 720 h 720"/>
              </a:gdLst>
              <a:ahLst/>
              <a:cxnLst>
                <a:cxn ang="T10">
                  <a:pos x="T0" y="T1"/>
                </a:cxn>
                <a:cxn ang="T11">
                  <a:pos x="T2" y="T3"/>
                </a:cxn>
                <a:cxn ang="T12">
                  <a:pos x="T4" y="T5"/>
                </a:cxn>
                <a:cxn ang="T13">
                  <a:pos x="T6" y="T7"/>
                </a:cxn>
                <a:cxn ang="T14">
                  <a:pos x="T8" y="T9"/>
                </a:cxn>
              </a:cxnLst>
              <a:rect l="T15" t="T16" r="T17" b="T18"/>
              <a:pathLst>
                <a:path w="384" h="720">
                  <a:moveTo>
                    <a:pt x="384" y="720"/>
                  </a:moveTo>
                  <a:lnTo>
                    <a:pt x="144" y="720"/>
                  </a:lnTo>
                  <a:lnTo>
                    <a:pt x="144" y="288"/>
                  </a:lnTo>
                  <a:lnTo>
                    <a:pt x="0" y="288"/>
                  </a:lnTo>
                  <a:lnTo>
                    <a:pt x="0" y="0"/>
                  </a:lnTo>
                </a:path>
              </a:pathLst>
            </a:custGeom>
            <a:noFill/>
            <a:ln w="38100">
              <a:solidFill>
                <a:srgbClr val="CC99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CA"/>
            </a:p>
          </p:txBody>
        </p:sp>
        <p:cxnSp>
          <p:nvCxnSpPr>
            <p:cNvPr id="132123" name="Straight Connector 31"/>
            <p:cNvCxnSpPr>
              <a:cxnSpLocks noChangeShapeType="1"/>
            </p:cNvCxnSpPr>
            <p:nvPr/>
          </p:nvCxnSpPr>
          <p:spPr bwMode="auto">
            <a:xfrm flipV="1">
              <a:off x="8128000" y="3687763"/>
              <a:ext cx="144463" cy="3175"/>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cxnSp>
        <p:cxnSp>
          <p:nvCxnSpPr>
            <p:cNvPr id="132124" name="Straight Connector 33"/>
            <p:cNvCxnSpPr>
              <a:cxnSpLocks noChangeShapeType="1"/>
            </p:cNvCxnSpPr>
            <p:nvPr/>
          </p:nvCxnSpPr>
          <p:spPr bwMode="auto">
            <a:xfrm rot="5400000">
              <a:off x="7266782" y="4688681"/>
              <a:ext cx="2001838" cy="15875"/>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cxnSp>
        <p:cxnSp>
          <p:nvCxnSpPr>
            <p:cNvPr id="132125" name="Straight Connector 35"/>
            <p:cNvCxnSpPr>
              <a:cxnSpLocks noChangeShapeType="1"/>
            </p:cNvCxnSpPr>
            <p:nvPr/>
          </p:nvCxnSpPr>
          <p:spPr bwMode="auto">
            <a:xfrm rot="10800000">
              <a:off x="3352800" y="5676900"/>
              <a:ext cx="4902200" cy="2540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cxnSp>
        <p:cxnSp>
          <p:nvCxnSpPr>
            <p:cNvPr id="132126" name="Straight Connector 37"/>
            <p:cNvCxnSpPr>
              <a:cxnSpLocks noChangeShapeType="1"/>
            </p:cNvCxnSpPr>
            <p:nvPr/>
          </p:nvCxnSpPr>
          <p:spPr bwMode="auto">
            <a:xfrm rot="5400000" flipH="1" flipV="1">
              <a:off x="2224171" y="4551279"/>
              <a:ext cx="2266950" cy="22392"/>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cxnSp>
        <p:cxnSp>
          <p:nvCxnSpPr>
            <p:cNvPr id="132127" name="Straight Connector 39"/>
            <p:cNvCxnSpPr>
              <a:cxnSpLocks noChangeShapeType="1"/>
            </p:cNvCxnSpPr>
            <p:nvPr/>
          </p:nvCxnSpPr>
          <p:spPr bwMode="auto">
            <a:xfrm>
              <a:off x="4469606" y="3426619"/>
              <a:ext cx="379120" cy="2381"/>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cxnSp>
        <p:cxnSp>
          <p:nvCxnSpPr>
            <p:cNvPr id="132128" name="Straight Connector 36"/>
            <p:cNvCxnSpPr>
              <a:cxnSpLocks noChangeShapeType="1"/>
            </p:cNvCxnSpPr>
            <p:nvPr/>
          </p:nvCxnSpPr>
          <p:spPr bwMode="auto">
            <a:xfrm>
              <a:off x="3340894" y="3440906"/>
              <a:ext cx="488156" cy="4763"/>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cxnSp>
        <p:cxnSp>
          <p:nvCxnSpPr>
            <p:cNvPr id="132129" name="Straight Connector 43"/>
            <p:cNvCxnSpPr>
              <a:cxnSpLocks noChangeShapeType="1"/>
            </p:cNvCxnSpPr>
            <p:nvPr/>
          </p:nvCxnSpPr>
          <p:spPr bwMode="auto">
            <a:xfrm>
              <a:off x="3826669" y="3195638"/>
              <a:ext cx="678656"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cxnSp>
        <p:cxnSp>
          <p:nvCxnSpPr>
            <p:cNvPr id="132130" name="Straight Connector 47"/>
            <p:cNvCxnSpPr>
              <a:cxnSpLocks noChangeShapeType="1"/>
            </p:cNvCxnSpPr>
            <p:nvPr/>
          </p:nvCxnSpPr>
          <p:spPr bwMode="auto">
            <a:xfrm rot="5400000" flipH="1" flipV="1">
              <a:off x="3677844" y="3313512"/>
              <a:ext cx="297655" cy="476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cxnSp>
        <p:cxnSp>
          <p:nvCxnSpPr>
            <p:cNvPr id="132131" name="Straight Connector 51"/>
            <p:cNvCxnSpPr>
              <a:cxnSpLocks noChangeShapeType="1"/>
            </p:cNvCxnSpPr>
            <p:nvPr/>
          </p:nvCxnSpPr>
          <p:spPr bwMode="auto">
            <a:xfrm rot="5400000" flipH="1" flipV="1">
              <a:off x="4335070" y="3313512"/>
              <a:ext cx="295273" cy="2381"/>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cxn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2"/>
          <p:cNvSpPr>
            <a:spLocks noGrp="1" noChangeArrowheads="1"/>
          </p:cNvSpPr>
          <p:nvPr>
            <p:ph type="title"/>
          </p:nvPr>
        </p:nvSpPr>
        <p:spPr>
          <a:xfrm>
            <a:off x="685800" y="0"/>
            <a:ext cx="7772400" cy="673100"/>
          </a:xfrm>
        </p:spPr>
        <p:txBody>
          <a:bodyPr/>
          <a:lstStyle/>
          <a:p>
            <a:pPr eaLnBrk="1" hangingPunct="1"/>
            <a:r>
              <a:rPr lang="en-US" altLang="en-US">
                <a:latin typeface="Arial  " charset="0"/>
                <a:ea typeface="MS PGothic" charset="-128"/>
                <a:cs typeface="Arial  " charset="0"/>
              </a:rPr>
              <a:t>Forwarding Unit Logic</a:t>
            </a:r>
          </a:p>
        </p:txBody>
      </p:sp>
      <p:pic>
        <p:nvPicPr>
          <p:cNvPr id="134146" name="Picture 4" descr="fig-a-22 copy.jpg                                              00292836Untitled                       C231C12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100" y="3681413"/>
            <a:ext cx="7364413" cy="635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147" name="Text Box 23"/>
          <p:cNvSpPr txBox="1">
            <a:spLocks noChangeArrowheads="1"/>
          </p:cNvSpPr>
          <p:nvPr/>
        </p:nvSpPr>
        <p:spPr bwMode="auto">
          <a:xfrm>
            <a:off x="654050" y="758825"/>
            <a:ext cx="819785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r>
              <a:rPr lang="en-US" altLang="en-US" sz="1800">
                <a:ea typeface="ＭＳ Ｐゴシック" charset="-128"/>
              </a:rPr>
              <a:t>Let’s briefly consider the forwarding unit in a bit more detail.  </a:t>
            </a:r>
          </a:p>
          <a:p>
            <a:pPr>
              <a:spcBef>
                <a:spcPct val="0"/>
              </a:spcBef>
              <a:buFontTx/>
              <a:buNone/>
            </a:pPr>
            <a:endParaRPr lang="en-US" altLang="en-US" sz="1800">
              <a:ea typeface="ＭＳ Ｐゴシック" charset="-128"/>
            </a:endParaRPr>
          </a:p>
          <a:p>
            <a:pPr>
              <a:spcBef>
                <a:spcPct val="0"/>
              </a:spcBef>
              <a:buFontTx/>
              <a:buNone/>
            </a:pPr>
            <a:r>
              <a:rPr lang="en-US" altLang="en-US" sz="1800">
                <a:ea typeface="ＭＳ Ｐゴシック" charset="-128"/>
              </a:rPr>
              <a:t>This unit needs to check for data hazards between instructions in different stages of the pipeline and enable the forwarding muxes.    </a:t>
            </a:r>
          </a:p>
          <a:p>
            <a:pPr>
              <a:spcBef>
                <a:spcPct val="0"/>
              </a:spcBef>
              <a:buFontTx/>
              <a:buNone/>
            </a:pPr>
            <a:endParaRPr lang="en-US" altLang="en-US" sz="1800">
              <a:ea typeface="ＭＳ Ｐゴシック" charset="-128"/>
            </a:endParaRPr>
          </a:p>
          <a:p>
            <a:pPr>
              <a:spcBef>
                <a:spcPct val="0"/>
              </a:spcBef>
              <a:buFontTx/>
              <a:buNone/>
            </a:pPr>
            <a:r>
              <a:rPr lang="en-US" altLang="en-US" sz="1800">
                <a:ea typeface="ＭＳ Ｐゴシック" charset="-128"/>
              </a:rPr>
              <a:t>Fig A-22 in the textbook (partially shown below) lists all the combinations a hardware designer would need to consider for controlling multiplexers for “a” and “b”.  </a:t>
            </a:r>
          </a:p>
        </p:txBody>
      </p:sp>
      <p:sp>
        <p:nvSpPr>
          <p:cNvPr id="134148" name="Slide Number Placeholder 38"/>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D70378B8-4C6C-434F-9900-98674FDA7A43}" type="slidenum">
              <a:rPr lang="en-US" altLang="en-US" sz="1400">
                <a:latin typeface="Comic Sans MS" charset="0"/>
                <a:ea typeface="ＭＳ Ｐゴシック" charset="-128"/>
              </a:rPr>
              <a:pPr>
                <a:spcBef>
                  <a:spcPct val="0"/>
                </a:spcBef>
                <a:buFontTx/>
                <a:buNone/>
              </a:pPr>
              <a:t>50</a:t>
            </a:fld>
            <a:r>
              <a:rPr lang="en-US" altLang="en-US" sz="1400">
                <a:latin typeface="Comic Sans MS" charset="0"/>
                <a:ea typeface="ＭＳ Ｐゴシック" charset="-128"/>
              </a:rPr>
              <a:t> </a:t>
            </a:r>
          </a:p>
        </p:txBody>
      </p:sp>
      <p:sp>
        <p:nvSpPr>
          <p:cNvPr id="134149" name="Rectangle 5"/>
          <p:cNvSpPr>
            <a:spLocks noChangeArrowheads="1"/>
          </p:cNvSpPr>
          <p:nvPr/>
        </p:nvSpPr>
        <p:spPr bwMode="auto">
          <a:xfrm>
            <a:off x="336550" y="5732463"/>
            <a:ext cx="7761288" cy="1817687"/>
          </a:xfrm>
          <a:prstGeom prst="rect">
            <a:avLst/>
          </a:prstGeom>
          <a:solidFill>
            <a:schemeClr val="bg1"/>
          </a:solidFill>
          <a:ln w="9525">
            <a:solidFill>
              <a:schemeClr val="bg1"/>
            </a:solidFill>
            <a:round/>
            <a:headEnd/>
            <a:tailEnd/>
          </a:ln>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CA" altLang="en-US" sz="2400">
              <a:latin typeface="Arial" charset="0"/>
              <a:ea typeface="ＭＳ Ｐゴシック" charset="-128"/>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5BB0DC17-6526-1A42-9D2B-CF96AF9FC796}"/>
              </a:ext>
            </a:extLst>
          </p:cNvPr>
          <p:cNvSpPr>
            <a:spLocks noGrp="1" noChangeArrowheads="1"/>
          </p:cNvSpPr>
          <p:nvPr>
            <p:ph type="title"/>
          </p:nvPr>
        </p:nvSpPr>
        <p:spPr>
          <a:xfrm>
            <a:off x="685800" y="0"/>
            <a:ext cx="7772400" cy="952500"/>
          </a:xfrm>
        </p:spPr>
        <p:txBody>
          <a:bodyPr>
            <a:normAutofit/>
          </a:bodyPr>
          <a:lstStyle/>
          <a:p>
            <a:pPr eaLnBrk="1" hangingPunct="1"/>
            <a:r>
              <a:rPr lang="en-US" altLang="en-US">
                <a:latin typeface="Arial  " charset="0"/>
                <a:cs typeface="Arial  " charset="0"/>
              </a:rPr>
              <a:t>Where do Forwarding Paths go?</a:t>
            </a:r>
          </a:p>
        </p:txBody>
      </p:sp>
      <p:sp>
        <p:nvSpPr>
          <p:cNvPr id="40962" name="Rectangle 3">
            <a:extLst>
              <a:ext uri="{FF2B5EF4-FFF2-40B4-BE49-F238E27FC236}">
                <a16:creationId xmlns:a16="http://schemas.microsoft.com/office/drawing/2014/main" id="{F3E07D36-2C78-AB42-B724-85434C4BB108}"/>
              </a:ext>
            </a:extLst>
          </p:cNvPr>
          <p:cNvSpPr>
            <a:spLocks noGrp="1" noChangeArrowheads="1"/>
          </p:cNvSpPr>
          <p:nvPr>
            <p:ph type="body" idx="1"/>
          </p:nvPr>
        </p:nvSpPr>
        <p:spPr>
          <a:xfrm>
            <a:off x="5727700" y="1409700"/>
            <a:ext cx="3416300" cy="2603500"/>
          </a:xfrm>
          <a:solidFill>
            <a:srgbClr val="FFFFFF"/>
          </a:solidFill>
        </p:spPr>
        <p:txBody>
          <a:bodyPr>
            <a:normAutofit lnSpcReduction="10000"/>
          </a:bodyPr>
          <a:lstStyle/>
          <a:p>
            <a:pPr eaLnBrk="1" hangingPunct="1">
              <a:lnSpc>
                <a:spcPct val="90000"/>
              </a:lnSpc>
              <a:buFontTx/>
              <a:buNone/>
            </a:pPr>
            <a:r>
              <a:rPr lang="en-US" altLang="en-US" sz="2000" dirty="0">
                <a:latin typeface="Arial  " charset="0"/>
                <a:cs typeface="Arial  " charset="0"/>
              </a:rPr>
              <a:t>	To fully reduce or eliminate need for stalling: Add forwarding paths starting from “producer” stages (and later stages) to earlier “consumer” stages.</a:t>
            </a:r>
          </a:p>
          <a:p>
            <a:pPr eaLnBrk="1" hangingPunct="1">
              <a:lnSpc>
                <a:spcPct val="90000"/>
              </a:lnSpc>
              <a:buFontTx/>
              <a:buNone/>
            </a:pPr>
            <a:endParaRPr lang="en-US" altLang="en-US" sz="2000" dirty="0">
              <a:latin typeface="Arial  " charset="0"/>
              <a:cs typeface="Arial  " charset="0"/>
            </a:endParaRPr>
          </a:p>
          <a:p>
            <a:pPr eaLnBrk="1" hangingPunct="1">
              <a:lnSpc>
                <a:spcPct val="90000"/>
              </a:lnSpc>
              <a:buFontTx/>
              <a:buNone/>
            </a:pPr>
            <a:r>
              <a:rPr lang="en-US" altLang="en-US" sz="2000" dirty="0">
                <a:latin typeface="Arial  " charset="0"/>
                <a:cs typeface="Arial  " charset="0"/>
              </a:rPr>
              <a:t>	</a:t>
            </a:r>
          </a:p>
          <a:p>
            <a:pPr eaLnBrk="1" hangingPunct="1">
              <a:lnSpc>
                <a:spcPct val="90000"/>
              </a:lnSpc>
              <a:buFontTx/>
              <a:buNone/>
            </a:pPr>
            <a:endParaRPr lang="en-US" altLang="en-US" sz="2000" dirty="0">
              <a:latin typeface="Arial  " charset="0"/>
              <a:cs typeface="Arial  " charset="0"/>
            </a:endParaRPr>
          </a:p>
          <a:p>
            <a:pPr eaLnBrk="1" hangingPunct="1">
              <a:lnSpc>
                <a:spcPct val="90000"/>
              </a:lnSpc>
              <a:buFontTx/>
              <a:buNone/>
            </a:pPr>
            <a:endParaRPr lang="en-US" altLang="en-US" sz="2000" dirty="0">
              <a:latin typeface="Arial  " charset="0"/>
              <a:cs typeface="Arial  " charset="0"/>
            </a:endParaRPr>
          </a:p>
          <a:p>
            <a:pPr eaLnBrk="1" hangingPunct="1">
              <a:lnSpc>
                <a:spcPct val="90000"/>
              </a:lnSpc>
              <a:buFontTx/>
              <a:buNone/>
            </a:pPr>
            <a:endParaRPr lang="en-US" altLang="en-US" sz="3200" dirty="0">
              <a:latin typeface="Arial  " charset="0"/>
              <a:cs typeface="Arial  " charset="0"/>
            </a:endParaRPr>
          </a:p>
          <a:p>
            <a:pPr eaLnBrk="1" hangingPunct="1">
              <a:lnSpc>
                <a:spcPct val="90000"/>
              </a:lnSpc>
              <a:buFontTx/>
              <a:buNone/>
            </a:pPr>
            <a:endParaRPr lang="en-US" altLang="en-US" sz="3200" dirty="0">
              <a:latin typeface="Arial  " charset="0"/>
              <a:cs typeface="Arial  " charset="0"/>
            </a:endParaRPr>
          </a:p>
          <a:p>
            <a:pPr eaLnBrk="1" hangingPunct="1">
              <a:lnSpc>
                <a:spcPct val="90000"/>
              </a:lnSpc>
              <a:buFontTx/>
              <a:buNone/>
            </a:pPr>
            <a:endParaRPr lang="en-US" altLang="en-US" sz="3200" dirty="0">
              <a:latin typeface="Arial  " charset="0"/>
              <a:cs typeface="Arial  " charset="0"/>
            </a:endParaRPr>
          </a:p>
          <a:p>
            <a:pPr eaLnBrk="1" hangingPunct="1">
              <a:lnSpc>
                <a:spcPct val="90000"/>
              </a:lnSpc>
              <a:buFontTx/>
              <a:buNone/>
            </a:pPr>
            <a:endParaRPr lang="en-US" altLang="en-US" sz="3200" dirty="0">
              <a:latin typeface="Arial  " charset="0"/>
              <a:cs typeface="Arial  " charset="0"/>
            </a:endParaRPr>
          </a:p>
        </p:txBody>
      </p:sp>
      <p:sp>
        <p:nvSpPr>
          <p:cNvPr id="40963" name="TextBox 34">
            <a:extLst>
              <a:ext uri="{FF2B5EF4-FFF2-40B4-BE49-F238E27FC236}">
                <a16:creationId xmlns:a16="http://schemas.microsoft.com/office/drawing/2014/main" id="{DF21DAFE-39A6-A444-9542-0BC6328ECA68}"/>
              </a:ext>
            </a:extLst>
          </p:cNvPr>
          <p:cNvSpPr txBox="1">
            <a:spLocks noChangeArrowheads="1"/>
          </p:cNvSpPr>
          <p:nvPr/>
        </p:nvSpPr>
        <p:spPr bwMode="auto">
          <a:xfrm>
            <a:off x="469900" y="6107113"/>
            <a:ext cx="4953000" cy="5238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 charset="0"/>
                <a:ea typeface="ＭＳ Ｐゴシック" panose="020B0600070205080204" pitchFamily="34" charset="-128"/>
                <a:cs typeface="Arial  " charset="0"/>
              </a:defRPr>
            </a:lvl1pPr>
            <a:lvl2pPr marL="742950" indent="-285750">
              <a:spcBef>
                <a:spcPct val="20000"/>
              </a:spcBef>
              <a:buChar char="–"/>
              <a:defRPr sz="2400">
                <a:solidFill>
                  <a:schemeClr val="tx1"/>
                </a:solidFill>
                <a:latin typeface="Arial  " charset="0"/>
                <a:ea typeface="ＭＳ Ｐゴシック" panose="020B0600070205080204" pitchFamily="34" charset="-128"/>
                <a:cs typeface="Arial  " charset="0"/>
              </a:defRPr>
            </a:lvl2pPr>
            <a:lvl3pPr marL="1143000" indent="-228600">
              <a:spcBef>
                <a:spcPct val="20000"/>
              </a:spcBef>
              <a:buChar char="•"/>
              <a:defRPr sz="2000">
                <a:solidFill>
                  <a:schemeClr val="tx1"/>
                </a:solidFill>
                <a:latin typeface="Arial  " charset="0"/>
                <a:ea typeface="ＭＳ Ｐゴシック" panose="020B0600070205080204" pitchFamily="34" charset="-128"/>
                <a:cs typeface="Arial  " charset="0"/>
              </a:defRPr>
            </a:lvl3pPr>
            <a:lvl4pPr marL="1600200" indent="-228600">
              <a:spcBef>
                <a:spcPct val="20000"/>
              </a:spcBef>
              <a:buChar char="–"/>
              <a:defRPr sz="2000">
                <a:solidFill>
                  <a:schemeClr val="tx1"/>
                </a:solidFill>
                <a:latin typeface="Arial  " charset="0"/>
                <a:ea typeface="ＭＳ Ｐゴシック" panose="020B0600070205080204" pitchFamily="34" charset="-128"/>
                <a:cs typeface="Arial  " charset="0"/>
              </a:defRPr>
            </a:lvl4pPr>
            <a:lvl5pPr marL="2057400" indent="-228600">
              <a:spcBef>
                <a:spcPct val="20000"/>
              </a:spcBef>
              <a:buChar char="»"/>
              <a:defRPr sz="2000">
                <a:solidFill>
                  <a:schemeClr val="tx1"/>
                </a:solidFill>
                <a:latin typeface="Arial  " charset="0"/>
                <a:ea typeface="ＭＳ Ｐゴシック"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9pPr>
          </a:lstStyle>
          <a:p>
            <a:pPr>
              <a:spcBef>
                <a:spcPct val="0"/>
              </a:spcBef>
              <a:buFontTx/>
              <a:buNone/>
            </a:pPr>
            <a:r>
              <a:rPr lang="en-US" altLang="en-US" sz="1400">
                <a:latin typeface="Arial" panose="020B0604020202020204" pitchFamily="34" charset="0"/>
              </a:rPr>
              <a:t>Example:  “</a:t>
            </a:r>
            <a:r>
              <a:rPr lang="en-US" altLang="en-US" sz="1400" u="sng">
                <a:latin typeface="Arial" panose="020B0604020202020204" pitchFamily="34" charset="0"/>
              </a:rPr>
              <a:t>All forwarding paths required to reduce or</a:t>
            </a:r>
            <a:r>
              <a:rPr lang="en-US" altLang="en-US" sz="1400">
                <a:latin typeface="Arial" panose="020B0604020202020204" pitchFamily="34" charset="0"/>
              </a:rPr>
              <a:t> </a:t>
            </a:r>
            <a:r>
              <a:rPr lang="en-US" altLang="en-US" sz="1400" u="sng">
                <a:latin typeface="Arial" panose="020B0604020202020204" pitchFamily="34" charset="0"/>
              </a:rPr>
              <a:t>eliminate stalls”</a:t>
            </a:r>
            <a:r>
              <a:rPr lang="en-US" altLang="en-US" sz="1400">
                <a:latin typeface="Arial" panose="020B0604020202020204" pitchFamily="34" charset="0"/>
              </a:rPr>
              <a:t> if branches are resolved in decode</a:t>
            </a:r>
          </a:p>
        </p:txBody>
      </p:sp>
      <p:sp>
        <p:nvSpPr>
          <p:cNvPr id="40964" name="Slide Number Placeholder 42">
            <a:extLst>
              <a:ext uri="{FF2B5EF4-FFF2-40B4-BE49-F238E27FC236}">
                <a16:creationId xmlns:a16="http://schemas.microsoft.com/office/drawing/2014/main" id="{9761EC28-4DD4-1D43-B745-DC7E52FB8310}"/>
              </a:ext>
            </a:extLst>
          </p:cNvPr>
          <p:cNvSpPr>
            <a:spLocks noGrp="1"/>
          </p:cNvSpPr>
          <p:nvPr>
            <p:ph type="sldNum" sz="quarter" idx="12"/>
          </p:nvPr>
        </p:nvSpPr>
        <p:spPr>
          <a:xfrm>
            <a:off x="6553200" y="6356350"/>
            <a:ext cx="21336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Bef>
                <a:spcPct val="0"/>
              </a:spcBef>
              <a:buFontTx/>
              <a:buNone/>
            </a:pPr>
            <a:fld id="{8498F53A-C161-3D49-96E1-2DF0E970DAF2}" type="slidenum">
              <a:rPr lang="en-US" smtClean="0"/>
              <a:pPr>
                <a:spcBef>
                  <a:spcPct val="0"/>
                </a:spcBef>
                <a:buFontTx/>
                <a:buNone/>
              </a:pPr>
              <a:t>51</a:t>
            </a:fld>
            <a:endParaRPr lang="en-US" altLang="en-US" sz="1400">
              <a:latin typeface="Comic Sans MS" panose="030F0902030302020204" pitchFamily="66" charset="0"/>
            </a:endParaRPr>
          </a:p>
        </p:txBody>
      </p:sp>
      <p:sp>
        <p:nvSpPr>
          <p:cNvPr id="40965" name="Rectangle 28">
            <a:extLst>
              <a:ext uri="{FF2B5EF4-FFF2-40B4-BE49-F238E27FC236}">
                <a16:creationId xmlns:a16="http://schemas.microsoft.com/office/drawing/2014/main" id="{0FC8190E-CFF6-4842-8BE7-C5254B28586C}"/>
              </a:ext>
            </a:extLst>
          </p:cNvPr>
          <p:cNvSpPr>
            <a:spLocks noChangeArrowheads="1"/>
          </p:cNvSpPr>
          <p:nvPr/>
        </p:nvSpPr>
        <p:spPr bwMode="auto">
          <a:xfrm>
            <a:off x="1455738" y="1431925"/>
            <a:ext cx="1395412" cy="325438"/>
          </a:xfrm>
          <a:prstGeom prst="rect">
            <a:avLst/>
          </a:prstGeom>
          <a:solidFill>
            <a:schemeClr val="bg1"/>
          </a:solidFill>
          <a:ln w="9525" algn="ctr">
            <a:solidFill>
              <a:schemeClr val="tx1"/>
            </a:solidFill>
            <a:round/>
            <a:headEnd/>
            <a:tailEnd/>
          </a:ln>
        </p:spPr>
        <p:txBody>
          <a:bodyPr/>
          <a:lstStyle>
            <a:lvl1pPr>
              <a:spcBef>
                <a:spcPct val="20000"/>
              </a:spcBef>
              <a:buChar char="•"/>
              <a:defRPr sz="2800">
                <a:solidFill>
                  <a:schemeClr val="tx1"/>
                </a:solidFill>
                <a:latin typeface="Arial  " charset="0"/>
                <a:ea typeface="ＭＳ Ｐゴシック" panose="020B0600070205080204" pitchFamily="34" charset="-128"/>
                <a:cs typeface="Arial  " charset="0"/>
              </a:defRPr>
            </a:lvl1pPr>
            <a:lvl2pPr marL="742950" indent="-285750">
              <a:spcBef>
                <a:spcPct val="20000"/>
              </a:spcBef>
              <a:buChar char="–"/>
              <a:defRPr sz="2400">
                <a:solidFill>
                  <a:schemeClr val="tx1"/>
                </a:solidFill>
                <a:latin typeface="Arial  " charset="0"/>
                <a:ea typeface="ＭＳ Ｐゴシック" panose="020B0600070205080204" pitchFamily="34" charset="-128"/>
                <a:cs typeface="Arial  " charset="0"/>
              </a:defRPr>
            </a:lvl2pPr>
            <a:lvl3pPr marL="1143000" indent="-228600">
              <a:spcBef>
                <a:spcPct val="20000"/>
              </a:spcBef>
              <a:buChar char="•"/>
              <a:defRPr sz="2000">
                <a:solidFill>
                  <a:schemeClr val="tx1"/>
                </a:solidFill>
                <a:latin typeface="Arial  " charset="0"/>
                <a:ea typeface="ＭＳ Ｐゴシック" panose="020B0600070205080204" pitchFamily="34" charset="-128"/>
                <a:cs typeface="Arial  " charset="0"/>
              </a:defRPr>
            </a:lvl3pPr>
            <a:lvl4pPr marL="1600200" indent="-228600">
              <a:spcBef>
                <a:spcPct val="20000"/>
              </a:spcBef>
              <a:buChar char="–"/>
              <a:defRPr sz="2000">
                <a:solidFill>
                  <a:schemeClr val="tx1"/>
                </a:solidFill>
                <a:latin typeface="Arial  " charset="0"/>
                <a:ea typeface="ＭＳ Ｐゴシック" panose="020B0600070205080204" pitchFamily="34" charset="-128"/>
                <a:cs typeface="Arial  " charset="0"/>
              </a:defRPr>
            </a:lvl4pPr>
            <a:lvl5pPr marL="2057400" indent="-228600">
              <a:spcBef>
                <a:spcPct val="20000"/>
              </a:spcBef>
              <a:buChar char="»"/>
              <a:defRPr sz="2000">
                <a:solidFill>
                  <a:schemeClr val="tx1"/>
                </a:solidFill>
                <a:latin typeface="Arial  " charset="0"/>
                <a:ea typeface="ＭＳ Ｐゴシック"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9pPr>
          </a:lstStyle>
          <a:p>
            <a:pPr algn="ctr">
              <a:spcBef>
                <a:spcPct val="0"/>
              </a:spcBef>
              <a:buFontTx/>
              <a:buNone/>
            </a:pPr>
            <a:r>
              <a:rPr lang="en-CA" altLang="en-US" sz="1800">
                <a:latin typeface="Arial" panose="020B0604020202020204" pitchFamily="34" charset="0"/>
              </a:rPr>
              <a:t>PC</a:t>
            </a:r>
          </a:p>
        </p:txBody>
      </p:sp>
      <p:sp>
        <p:nvSpPr>
          <p:cNvPr id="40966" name="Rectangle 29">
            <a:extLst>
              <a:ext uri="{FF2B5EF4-FFF2-40B4-BE49-F238E27FC236}">
                <a16:creationId xmlns:a16="http://schemas.microsoft.com/office/drawing/2014/main" id="{7163ADE9-82F9-1648-AB62-948301E3D25A}"/>
              </a:ext>
            </a:extLst>
          </p:cNvPr>
          <p:cNvSpPr>
            <a:spLocks noChangeArrowheads="1"/>
          </p:cNvSpPr>
          <p:nvPr/>
        </p:nvSpPr>
        <p:spPr bwMode="auto">
          <a:xfrm>
            <a:off x="1452563" y="2341563"/>
            <a:ext cx="1395412" cy="317500"/>
          </a:xfrm>
          <a:prstGeom prst="rect">
            <a:avLst/>
          </a:prstGeom>
          <a:solidFill>
            <a:schemeClr val="bg1"/>
          </a:solidFill>
          <a:ln w="9525" algn="ctr">
            <a:solidFill>
              <a:schemeClr val="tx1"/>
            </a:solidFill>
            <a:round/>
            <a:headEnd/>
            <a:tailEnd/>
          </a:ln>
        </p:spPr>
        <p:txBody>
          <a:bodyPr/>
          <a:lstStyle>
            <a:lvl1pPr>
              <a:spcBef>
                <a:spcPct val="20000"/>
              </a:spcBef>
              <a:buChar char="•"/>
              <a:defRPr sz="2800">
                <a:solidFill>
                  <a:schemeClr val="tx1"/>
                </a:solidFill>
                <a:latin typeface="Arial  " charset="0"/>
                <a:ea typeface="ＭＳ Ｐゴシック" panose="020B0600070205080204" pitchFamily="34" charset="-128"/>
                <a:cs typeface="Arial  " charset="0"/>
              </a:defRPr>
            </a:lvl1pPr>
            <a:lvl2pPr marL="742950" indent="-285750">
              <a:spcBef>
                <a:spcPct val="20000"/>
              </a:spcBef>
              <a:buChar char="–"/>
              <a:defRPr sz="2400">
                <a:solidFill>
                  <a:schemeClr val="tx1"/>
                </a:solidFill>
                <a:latin typeface="Arial  " charset="0"/>
                <a:ea typeface="ＭＳ Ｐゴシック" panose="020B0600070205080204" pitchFamily="34" charset="-128"/>
                <a:cs typeface="Arial  " charset="0"/>
              </a:defRPr>
            </a:lvl2pPr>
            <a:lvl3pPr marL="1143000" indent="-228600">
              <a:spcBef>
                <a:spcPct val="20000"/>
              </a:spcBef>
              <a:buChar char="•"/>
              <a:defRPr sz="2000">
                <a:solidFill>
                  <a:schemeClr val="tx1"/>
                </a:solidFill>
                <a:latin typeface="Arial  " charset="0"/>
                <a:ea typeface="ＭＳ Ｐゴシック" panose="020B0600070205080204" pitchFamily="34" charset="-128"/>
                <a:cs typeface="Arial  " charset="0"/>
              </a:defRPr>
            </a:lvl3pPr>
            <a:lvl4pPr marL="1600200" indent="-228600">
              <a:spcBef>
                <a:spcPct val="20000"/>
              </a:spcBef>
              <a:buChar char="–"/>
              <a:defRPr sz="2000">
                <a:solidFill>
                  <a:schemeClr val="tx1"/>
                </a:solidFill>
                <a:latin typeface="Arial  " charset="0"/>
                <a:ea typeface="ＭＳ Ｐゴシック" panose="020B0600070205080204" pitchFamily="34" charset="-128"/>
                <a:cs typeface="Arial  " charset="0"/>
              </a:defRPr>
            </a:lvl4pPr>
            <a:lvl5pPr marL="2057400" indent="-228600">
              <a:spcBef>
                <a:spcPct val="20000"/>
              </a:spcBef>
              <a:buChar char="»"/>
              <a:defRPr sz="2000">
                <a:solidFill>
                  <a:schemeClr val="tx1"/>
                </a:solidFill>
                <a:latin typeface="Arial  " charset="0"/>
                <a:ea typeface="ＭＳ Ｐゴシック"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9pPr>
          </a:lstStyle>
          <a:p>
            <a:pPr algn="ctr">
              <a:spcBef>
                <a:spcPct val="0"/>
              </a:spcBef>
              <a:buFontTx/>
              <a:buNone/>
            </a:pPr>
            <a:r>
              <a:rPr lang="en-CA" altLang="en-US" sz="1800">
                <a:latin typeface="Arial" panose="020B0604020202020204" pitchFamily="34" charset="0"/>
              </a:rPr>
              <a:t>IF/ID</a:t>
            </a:r>
          </a:p>
        </p:txBody>
      </p:sp>
      <p:sp>
        <p:nvSpPr>
          <p:cNvPr id="40967" name="Rectangle 30">
            <a:extLst>
              <a:ext uri="{FF2B5EF4-FFF2-40B4-BE49-F238E27FC236}">
                <a16:creationId xmlns:a16="http://schemas.microsoft.com/office/drawing/2014/main" id="{4B3AC4A2-5686-6D46-8DBD-A671A23A2C93}"/>
              </a:ext>
            </a:extLst>
          </p:cNvPr>
          <p:cNvSpPr>
            <a:spLocks noChangeArrowheads="1"/>
          </p:cNvSpPr>
          <p:nvPr/>
        </p:nvSpPr>
        <p:spPr bwMode="auto">
          <a:xfrm>
            <a:off x="1460500" y="3263900"/>
            <a:ext cx="1395413" cy="285750"/>
          </a:xfrm>
          <a:prstGeom prst="rect">
            <a:avLst/>
          </a:prstGeom>
          <a:solidFill>
            <a:schemeClr val="bg1"/>
          </a:solidFill>
          <a:ln w="9525" algn="ctr">
            <a:solidFill>
              <a:schemeClr val="tx1"/>
            </a:solidFill>
            <a:round/>
            <a:headEnd/>
            <a:tailEnd/>
          </a:ln>
        </p:spPr>
        <p:txBody>
          <a:bodyPr/>
          <a:lstStyle>
            <a:lvl1pPr>
              <a:spcBef>
                <a:spcPct val="20000"/>
              </a:spcBef>
              <a:buChar char="•"/>
              <a:defRPr sz="2800">
                <a:solidFill>
                  <a:schemeClr val="tx1"/>
                </a:solidFill>
                <a:latin typeface="Arial  " charset="0"/>
                <a:ea typeface="ＭＳ Ｐゴシック" panose="020B0600070205080204" pitchFamily="34" charset="-128"/>
                <a:cs typeface="Arial  " charset="0"/>
              </a:defRPr>
            </a:lvl1pPr>
            <a:lvl2pPr marL="742950" indent="-285750">
              <a:spcBef>
                <a:spcPct val="20000"/>
              </a:spcBef>
              <a:buChar char="–"/>
              <a:defRPr sz="2400">
                <a:solidFill>
                  <a:schemeClr val="tx1"/>
                </a:solidFill>
                <a:latin typeface="Arial  " charset="0"/>
                <a:ea typeface="ＭＳ Ｐゴシック" panose="020B0600070205080204" pitchFamily="34" charset="-128"/>
                <a:cs typeface="Arial  " charset="0"/>
              </a:defRPr>
            </a:lvl2pPr>
            <a:lvl3pPr marL="1143000" indent="-228600">
              <a:spcBef>
                <a:spcPct val="20000"/>
              </a:spcBef>
              <a:buChar char="•"/>
              <a:defRPr sz="2000">
                <a:solidFill>
                  <a:schemeClr val="tx1"/>
                </a:solidFill>
                <a:latin typeface="Arial  " charset="0"/>
                <a:ea typeface="ＭＳ Ｐゴシック" panose="020B0600070205080204" pitchFamily="34" charset="-128"/>
                <a:cs typeface="Arial  " charset="0"/>
              </a:defRPr>
            </a:lvl3pPr>
            <a:lvl4pPr marL="1600200" indent="-228600">
              <a:spcBef>
                <a:spcPct val="20000"/>
              </a:spcBef>
              <a:buChar char="–"/>
              <a:defRPr sz="2000">
                <a:solidFill>
                  <a:schemeClr val="tx1"/>
                </a:solidFill>
                <a:latin typeface="Arial  " charset="0"/>
                <a:ea typeface="ＭＳ Ｐゴシック" panose="020B0600070205080204" pitchFamily="34" charset="-128"/>
                <a:cs typeface="Arial  " charset="0"/>
              </a:defRPr>
            </a:lvl4pPr>
            <a:lvl5pPr marL="2057400" indent="-228600">
              <a:spcBef>
                <a:spcPct val="20000"/>
              </a:spcBef>
              <a:buChar char="»"/>
              <a:defRPr sz="2000">
                <a:solidFill>
                  <a:schemeClr val="tx1"/>
                </a:solidFill>
                <a:latin typeface="Arial  " charset="0"/>
                <a:ea typeface="ＭＳ Ｐゴシック"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9pPr>
          </a:lstStyle>
          <a:p>
            <a:pPr algn="ctr">
              <a:spcBef>
                <a:spcPct val="0"/>
              </a:spcBef>
              <a:buFontTx/>
              <a:buNone/>
            </a:pPr>
            <a:r>
              <a:rPr lang="en-CA" altLang="en-US" sz="1800">
                <a:latin typeface="Arial" panose="020B0604020202020204" pitchFamily="34" charset="0"/>
              </a:rPr>
              <a:t>ID/EX</a:t>
            </a:r>
          </a:p>
        </p:txBody>
      </p:sp>
      <p:sp>
        <p:nvSpPr>
          <p:cNvPr id="40968" name="Rectangle 31">
            <a:extLst>
              <a:ext uri="{FF2B5EF4-FFF2-40B4-BE49-F238E27FC236}">
                <a16:creationId xmlns:a16="http://schemas.microsoft.com/office/drawing/2014/main" id="{1542522D-75A7-0341-920C-10ADD637E138}"/>
              </a:ext>
            </a:extLst>
          </p:cNvPr>
          <p:cNvSpPr>
            <a:spLocks noChangeArrowheads="1"/>
          </p:cNvSpPr>
          <p:nvPr/>
        </p:nvSpPr>
        <p:spPr bwMode="auto">
          <a:xfrm>
            <a:off x="1455738" y="4198938"/>
            <a:ext cx="1395412" cy="288925"/>
          </a:xfrm>
          <a:prstGeom prst="rect">
            <a:avLst/>
          </a:prstGeom>
          <a:solidFill>
            <a:schemeClr val="bg1"/>
          </a:solidFill>
          <a:ln w="9525" algn="ctr">
            <a:solidFill>
              <a:schemeClr val="tx1"/>
            </a:solidFill>
            <a:round/>
            <a:headEnd/>
            <a:tailEnd/>
          </a:ln>
        </p:spPr>
        <p:txBody>
          <a:bodyPr/>
          <a:lstStyle>
            <a:lvl1pPr>
              <a:spcBef>
                <a:spcPct val="20000"/>
              </a:spcBef>
              <a:buChar char="•"/>
              <a:defRPr sz="2800">
                <a:solidFill>
                  <a:schemeClr val="tx1"/>
                </a:solidFill>
                <a:latin typeface="Arial  " charset="0"/>
                <a:ea typeface="ＭＳ Ｐゴシック" panose="020B0600070205080204" pitchFamily="34" charset="-128"/>
                <a:cs typeface="Arial  " charset="0"/>
              </a:defRPr>
            </a:lvl1pPr>
            <a:lvl2pPr marL="742950" indent="-285750">
              <a:spcBef>
                <a:spcPct val="20000"/>
              </a:spcBef>
              <a:buChar char="–"/>
              <a:defRPr sz="2400">
                <a:solidFill>
                  <a:schemeClr val="tx1"/>
                </a:solidFill>
                <a:latin typeface="Arial  " charset="0"/>
                <a:ea typeface="ＭＳ Ｐゴシック" panose="020B0600070205080204" pitchFamily="34" charset="-128"/>
                <a:cs typeface="Arial  " charset="0"/>
              </a:defRPr>
            </a:lvl2pPr>
            <a:lvl3pPr marL="1143000" indent="-228600">
              <a:spcBef>
                <a:spcPct val="20000"/>
              </a:spcBef>
              <a:buChar char="•"/>
              <a:defRPr sz="2000">
                <a:solidFill>
                  <a:schemeClr val="tx1"/>
                </a:solidFill>
                <a:latin typeface="Arial  " charset="0"/>
                <a:ea typeface="ＭＳ Ｐゴシック" panose="020B0600070205080204" pitchFamily="34" charset="-128"/>
                <a:cs typeface="Arial  " charset="0"/>
              </a:defRPr>
            </a:lvl3pPr>
            <a:lvl4pPr marL="1600200" indent="-228600">
              <a:spcBef>
                <a:spcPct val="20000"/>
              </a:spcBef>
              <a:buChar char="–"/>
              <a:defRPr sz="2000">
                <a:solidFill>
                  <a:schemeClr val="tx1"/>
                </a:solidFill>
                <a:latin typeface="Arial  " charset="0"/>
                <a:ea typeface="ＭＳ Ｐゴシック" panose="020B0600070205080204" pitchFamily="34" charset="-128"/>
                <a:cs typeface="Arial  " charset="0"/>
              </a:defRPr>
            </a:lvl4pPr>
            <a:lvl5pPr marL="2057400" indent="-228600">
              <a:spcBef>
                <a:spcPct val="20000"/>
              </a:spcBef>
              <a:buChar char="»"/>
              <a:defRPr sz="2000">
                <a:solidFill>
                  <a:schemeClr val="tx1"/>
                </a:solidFill>
                <a:latin typeface="Arial  " charset="0"/>
                <a:ea typeface="ＭＳ Ｐゴシック"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9pPr>
          </a:lstStyle>
          <a:p>
            <a:pPr algn="ctr">
              <a:spcBef>
                <a:spcPct val="0"/>
              </a:spcBef>
              <a:buFontTx/>
              <a:buNone/>
            </a:pPr>
            <a:r>
              <a:rPr lang="en-CA" altLang="en-US" sz="1800">
                <a:latin typeface="Arial" panose="020B0604020202020204" pitchFamily="34" charset="0"/>
              </a:rPr>
              <a:t>EX/MEM</a:t>
            </a:r>
          </a:p>
        </p:txBody>
      </p:sp>
      <p:sp>
        <p:nvSpPr>
          <p:cNvPr id="40969" name="Rectangle 32">
            <a:extLst>
              <a:ext uri="{FF2B5EF4-FFF2-40B4-BE49-F238E27FC236}">
                <a16:creationId xmlns:a16="http://schemas.microsoft.com/office/drawing/2014/main" id="{5CC522E8-71EC-664F-B273-76CB0F3C0D4B}"/>
              </a:ext>
            </a:extLst>
          </p:cNvPr>
          <p:cNvSpPr>
            <a:spLocks noChangeArrowheads="1"/>
          </p:cNvSpPr>
          <p:nvPr/>
        </p:nvSpPr>
        <p:spPr bwMode="auto">
          <a:xfrm>
            <a:off x="1452563" y="5157788"/>
            <a:ext cx="1395412" cy="304800"/>
          </a:xfrm>
          <a:prstGeom prst="rect">
            <a:avLst/>
          </a:prstGeom>
          <a:solidFill>
            <a:schemeClr val="bg1"/>
          </a:solidFill>
          <a:ln w="9525" algn="ctr">
            <a:solidFill>
              <a:schemeClr val="tx1"/>
            </a:solidFill>
            <a:round/>
            <a:headEnd/>
            <a:tailEnd/>
          </a:ln>
        </p:spPr>
        <p:txBody>
          <a:bodyPr/>
          <a:lstStyle>
            <a:lvl1pPr>
              <a:spcBef>
                <a:spcPct val="20000"/>
              </a:spcBef>
              <a:buChar char="•"/>
              <a:defRPr sz="2800">
                <a:solidFill>
                  <a:schemeClr val="tx1"/>
                </a:solidFill>
                <a:latin typeface="Arial  " charset="0"/>
                <a:ea typeface="ＭＳ Ｐゴシック" panose="020B0600070205080204" pitchFamily="34" charset="-128"/>
                <a:cs typeface="Arial  " charset="0"/>
              </a:defRPr>
            </a:lvl1pPr>
            <a:lvl2pPr marL="742950" indent="-285750">
              <a:spcBef>
                <a:spcPct val="20000"/>
              </a:spcBef>
              <a:buChar char="–"/>
              <a:defRPr sz="2400">
                <a:solidFill>
                  <a:schemeClr val="tx1"/>
                </a:solidFill>
                <a:latin typeface="Arial  " charset="0"/>
                <a:ea typeface="ＭＳ Ｐゴシック" panose="020B0600070205080204" pitchFamily="34" charset="-128"/>
                <a:cs typeface="Arial  " charset="0"/>
              </a:defRPr>
            </a:lvl2pPr>
            <a:lvl3pPr marL="1143000" indent="-228600">
              <a:spcBef>
                <a:spcPct val="20000"/>
              </a:spcBef>
              <a:buChar char="•"/>
              <a:defRPr sz="2000">
                <a:solidFill>
                  <a:schemeClr val="tx1"/>
                </a:solidFill>
                <a:latin typeface="Arial  " charset="0"/>
                <a:ea typeface="ＭＳ Ｐゴシック" panose="020B0600070205080204" pitchFamily="34" charset="-128"/>
                <a:cs typeface="Arial  " charset="0"/>
              </a:defRPr>
            </a:lvl3pPr>
            <a:lvl4pPr marL="1600200" indent="-228600">
              <a:spcBef>
                <a:spcPct val="20000"/>
              </a:spcBef>
              <a:buChar char="–"/>
              <a:defRPr sz="2000">
                <a:solidFill>
                  <a:schemeClr val="tx1"/>
                </a:solidFill>
                <a:latin typeface="Arial  " charset="0"/>
                <a:ea typeface="ＭＳ Ｐゴシック" panose="020B0600070205080204" pitchFamily="34" charset="-128"/>
                <a:cs typeface="Arial  " charset="0"/>
              </a:defRPr>
            </a:lvl4pPr>
            <a:lvl5pPr marL="2057400" indent="-228600">
              <a:spcBef>
                <a:spcPct val="20000"/>
              </a:spcBef>
              <a:buChar char="»"/>
              <a:defRPr sz="2000">
                <a:solidFill>
                  <a:schemeClr val="tx1"/>
                </a:solidFill>
                <a:latin typeface="Arial  " charset="0"/>
                <a:ea typeface="ＭＳ Ｐゴシック"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9pPr>
          </a:lstStyle>
          <a:p>
            <a:pPr algn="ctr">
              <a:spcBef>
                <a:spcPct val="0"/>
              </a:spcBef>
              <a:buFontTx/>
              <a:buNone/>
            </a:pPr>
            <a:r>
              <a:rPr lang="en-CA" altLang="en-US" sz="1800">
                <a:latin typeface="Arial" panose="020B0604020202020204" pitchFamily="34" charset="0"/>
              </a:rPr>
              <a:t>MEM/WB</a:t>
            </a:r>
          </a:p>
        </p:txBody>
      </p:sp>
      <p:sp>
        <p:nvSpPr>
          <p:cNvPr id="40970" name="Text Box 21">
            <a:extLst>
              <a:ext uri="{FF2B5EF4-FFF2-40B4-BE49-F238E27FC236}">
                <a16:creationId xmlns:a16="http://schemas.microsoft.com/office/drawing/2014/main" id="{85DEE3B3-8CAD-BE42-8955-20F7B47CF552}"/>
              </a:ext>
            </a:extLst>
          </p:cNvPr>
          <p:cNvSpPr txBox="1">
            <a:spLocks noChangeArrowheads="1"/>
          </p:cNvSpPr>
          <p:nvPr/>
        </p:nvSpPr>
        <p:spPr bwMode="auto">
          <a:xfrm>
            <a:off x="3521075" y="2719388"/>
            <a:ext cx="243998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 charset="0"/>
                <a:ea typeface="ＭＳ Ｐゴシック" panose="020B0600070205080204" pitchFamily="34" charset="-128"/>
                <a:cs typeface="Arial  " charset="0"/>
              </a:defRPr>
            </a:lvl1pPr>
            <a:lvl2pPr marL="742950" indent="-285750">
              <a:spcBef>
                <a:spcPct val="20000"/>
              </a:spcBef>
              <a:buChar char="–"/>
              <a:defRPr sz="2400">
                <a:solidFill>
                  <a:schemeClr val="tx1"/>
                </a:solidFill>
                <a:latin typeface="Arial  " charset="0"/>
                <a:ea typeface="ＭＳ Ｐゴシック" panose="020B0600070205080204" pitchFamily="34" charset="-128"/>
                <a:cs typeface="Arial  " charset="0"/>
              </a:defRPr>
            </a:lvl2pPr>
            <a:lvl3pPr marL="1143000" indent="-228600">
              <a:spcBef>
                <a:spcPct val="20000"/>
              </a:spcBef>
              <a:buChar char="•"/>
              <a:defRPr sz="2000">
                <a:solidFill>
                  <a:schemeClr val="tx1"/>
                </a:solidFill>
                <a:latin typeface="Arial  " charset="0"/>
                <a:ea typeface="ＭＳ Ｐゴシック" panose="020B0600070205080204" pitchFamily="34" charset="-128"/>
                <a:cs typeface="Arial  " charset="0"/>
              </a:defRPr>
            </a:lvl3pPr>
            <a:lvl4pPr marL="1600200" indent="-228600">
              <a:spcBef>
                <a:spcPct val="20000"/>
              </a:spcBef>
              <a:buChar char="–"/>
              <a:defRPr sz="2000">
                <a:solidFill>
                  <a:schemeClr val="tx1"/>
                </a:solidFill>
                <a:latin typeface="Arial  " charset="0"/>
                <a:ea typeface="ＭＳ Ｐゴシック" panose="020B0600070205080204" pitchFamily="34" charset="-128"/>
                <a:cs typeface="Arial  " charset="0"/>
              </a:defRPr>
            </a:lvl4pPr>
            <a:lvl5pPr marL="2057400" indent="-228600">
              <a:spcBef>
                <a:spcPct val="20000"/>
              </a:spcBef>
              <a:buChar char="»"/>
              <a:defRPr sz="2000">
                <a:solidFill>
                  <a:schemeClr val="tx1"/>
                </a:solidFill>
                <a:latin typeface="Arial  " charset="0"/>
                <a:ea typeface="ＭＳ Ｐゴシック"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9pPr>
          </a:lstStyle>
          <a:p>
            <a:pPr>
              <a:spcBef>
                <a:spcPct val="0"/>
              </a:spcBef>
              <a:buFontTx/>
              <a:buNone/>
            </a:pPr>
            <a:r>
              <a:rPr lang="en-US" altLang="en-US" sz="1600" b="1">
                <a:solidFill>
                  <a:srgbClr val="FF0000"/>
                </a:solidFill>
              </a:rPr>
              <a:t>ID forwarding paths</a:t>
            </a:r>
          </a:p>
          <a:p>
            <a:pPr>
              <a:spcBef>
                <a:spcPct val="0"/>
              </a:spcBef>
              <a:buFontTx/>
              <a:buNone/>
            </a:pPr>
            <a:r>
              <a:rPr lang="en-US" altLang="en-US" sz="1600">
                <a:solidFill>
                  <a:srgbClr val="FF0000"/>
                </a:solidFill>
              </a:rPr>
              <a:t>(used if branches resolved in decode)</a:t>
            </a:r>
          </a:p>
        </p:txBody>
      </p:sp>
      <p:sp>
        <p:nvSpPr>
          <p:cNvPr id="40971" name="Text Box 11">
            <a:extLst>
              <a:ext uri="{FF2B5EF4-FFF2-40B4-BE49-F238E27FC236}">
                <a16:creationId xmlns:a16="http://schemas.microsoft.com/office/drawing/2014/main" id="{ACA036A0-99D0-344F-9240-AE08F826E530}"/>
              </a:ext>
            </a:extLst>
          </p:cNvPr>
          <p:cNvSpPr txBox="1">
            <a:spLocks noChangeArrowheads="1"/>
          </p:cNvSpPr>
          <p:nvPr/>
        </p:nvSpPr>
        <p:spPr bwMode="auto">
          <a:xfrm>
            <a:off x="3625850" y="4830763"/>
            <a:ext cx="21891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 charset="0"/>
                <a:ea typeface="ＭＳ Ｐゴシック" panose="020B0600070205080204" pitchFamily="34" charset="-128"/>
                <a:cs typeface="Arial  " charset="0"/>
              </a:defRPr>
            </a:lvl1pPr>
            <a:lvl2pPr marL="742950" indent="-285750">
              <a:spcBef>
                <a:spcPct val="20000"/>
              </a:spcBef>
              <a:buChar char="–"/>
              <a:defRPr sz="2400">
                <a:solidFill>
                  <a:schemeClr val="tx1"/>
                </a:solidFill>
                <a:latin typeface="Arial  " charset="0"/>
                <a:ea typeface="ＭＳ Ｐゴシック" panose="020B0600070205080204" pitchFamily="34" charset="-128"/>
                <a:cs typeface="Arial  " charset="0"/>
              </a:defRPr>
            </a:lvl2pPr>
            <a:lvl3pPr marL="1143000" indent="-228600">
              <a:spcBef>
                <a:spcPct val="20000"/>
              </a:spcBef>
              <a:buChar char="•"/>
              <a:defRPr sz="2000">
                <a:solidFill>
                  <a:schemeClr val="tx1"/>
                </a:solidFill>
                <a:latin typeface="Arial  " charset="0"/>
                <a:ea typeface="ＭＳ Ｐゴシック" panose="020B0600070205080204" pitchFamily="34" charset="-128"/>
                <a:cs typeface="Arial  " charset="0"/>
              </a:defRPr>
            </a:lvl3pPr>
            <a:lvl4pPr marL="1600200" indent="-228600">
              <a:spcBef>
                <a:spcPct val="20000"/>
              </a:spcBef>
              <a:buChar char="–"/>
              <a:defRPr sz="2000">
                <a:solidFill>
                  <a:schemeClr val="tx1"/>
                </a:solidFill>
                <a:latin typeface="Arial  " charset="0"/>
                <a:ea typeface="ＭＳ Ｐゴシック" panose="020B0600070205080204" pitchFamily="34" charset="-128"/>
                <a:cs typeface="Arial  " charset="0"/>
              </a:defRPr>
            </a:lvl4pPr>
            <a:lvl5pPr marL="2057400" indent="-228600">
              <a:spcBef>
                <a:spcPct val="20000"/>
              </a:spcBef>
              <a:buChar char="»"/>
              <a:defRPr sz="2000">
                <a:solidFill>
                  <a:schemeClr val="tx1"/>
                </a:solidFill>
                <a:latin typeface="Arial  " charset="0"/>
                <a:ea typeface="ＭＳ Ｐゴシック"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9pPr>
          </a:lstStyle>
          <a:p>
            <a:pPr>
              <a:spcBef>
                <a:spcPct val="0"/>
              </a:spcBef>
              <a:buFontTx/>
              <a:buNone/>
            </a:pPr>
            <a:r>
              <a:rPr lang="en-US" altLang="en-US" sz="1400" b="1">
                <a:solidFill>
                  <a:srgbClr val="0000FF"/>
                </a:solidFill>
              </a:rPr>
              <a:t>MEM forwarding paths</a:t>
            </a:r>
          </a:p>
        </p:txBody>
      </p:sp>
      <p:sp>
        <p:nvSpPr>
          <p:cNvPr id="40972" name="Text Box 11">
            <a:extLst>
              <a:ext uri="{FF2B5EF4-FFF2-40B4-BE49-F238E27FC236}">
                <a16:creationId xmlns:a16="http://schemas.microsoft.com/office/drawing/2014/main" id="{AFA1E419-F194-6244-BC7B-701D4F6E1DFD}"/>
              </a:ext>
            </a:extLst>
          </p:cNvPr>
          <p:cNvSpPr txBox="1">
            <a:spLocks noChangeArrowheads="1"/>
          </p:cNvSpPr>
          <p:nvPr/>
        </p:nvSpPr>
        <p:spPr bwMode="auto">
          <a:xfrm>
            <a:off x="819150" y="4622800"/>
            <a:ext cx="2189163"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Arial  " charset="0"/>
                <a:ea typeface="ＭＳ Ｐゴシック" panose="020B0600070205080204" pitchFamily="34" charset="-128"/>
                <a:cs typeface="Arial  " charset="0"/>
              </a:defRPr>
            </a:lvl1pPr>
            <a:lvl2pPr marL="742950" indent="-285750">
              <a:spcBef>
                <a:spcPct val="20000"/>
              </a:spcBef>
              <a:buChar char="–"/>
              <a:defRPr sz="2400">
                <a:solidFill>
                  <a:schemeClr val="tx1"/>
                </a:solidFill>
                <a:latin typeface="Arial  " charset="0"/>
                <a:ea typeface="ＭＳ Ｐゴシック" panose="020B0600070205080204" pitchFamily="34" charset="-128"/>
                <a:cs typeface="Arial  " charset="0"/>
              </a:defRPr>
            </a:lvl2pPr>
            <a:lvl3pPr marL="1143000" indent="-228600">
              <a:spcBef>
                <a:spcPct val="20000"/>
              </a:spcBef>
              <a:buChar char="•"/>
              <a:defRPr sz="2000">
                <a:solidFill>
                  <a:schemeClr val="tx1"/>
                </a:solidFill>
                <a:latin typeface="Arial  " charset="0"/>
                <a:ea typeface="ＭＳ Ｐゴシック" panose="020B0600070205080204" pitchFamily="34" charset="-128"/>
                <a:cs typeface="Arial  " charset="0"/>
              </a:defRPr>
            </a:lvl3pPr>
            <a:lvl4pPr marL="1600200" indent="-228600">
              <a:spcBef>
                <a:spcPct val="20000"/>
              </a:spcBef>
              <a:buChar char="–"/>
              <a:defRPr sz="2000">
                <a:solidFill>
                  <a:schemeClr val="tx1"/>
                </a:solidFill>
                <a:latin typeface="Arial  " charset="0"/>
                <a:ea typeface="ＭＳ Ｐゴシック" panose="020B0600070205080204" pitchFamily="34" charset="-128"/>
                <a:cs typeface="Arial  " charset="0"/>
              </a:defRPr>
            </a:lvl4pPr>
            <a:lvl5pPr marL="2057400" indent="-228600">
              <a:spcBef>
                <a:spcPct val="20000"/>
              </a:spcBef>
              <a:buChar char="»"/>
              <a:defRPr sz="2000">
                <a:solidFill>
                  <a:schemeClr val="tx1"/>
                </a:solidFill>
                <a:latin typeface="Arial  " charset="0"/>
                <a:ea typeface="ＭＳ Ｐゴシック"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9pPr>
          </a:lstStyle>
          <a:p>
            <a:pPr>
              <a:spcBef>
                <a:spcPct val="0"/>
              </a:spcBef>
              <a:buFontTx/>
              <a:buNone/>
            </a:pPr>
            <a:r>
              <a:rPr lang="en-US" altLang="en-US" sz="1400" b="1"/>
              <a:t>ALU </a:t>
            </a:r>
          </a:p>
          <a:p>
            <a:pPr>
              <a:spcBef>
                <a:spcPct val="0"/>
              </a:spcBef>
              <a:buFontTx/>
              <a:buNone/>
            </a:pPr>
            <a:r>
              <a:rPr lang="en-US" altLang="en-US" sz="1400" b="1"/>
              <a:t>forwarding </a:t>
            </a:r>
          </a:p>
          <a:p>
            <a:pPr>
              <a:spcBef>
                <a:spcPct val="0"/>
              </a:spcBef>
              <a:buFontTx/>
              <a:buNone/>
            </a:pPr>
            <a:r>
              <a:rPr lang="en-US" altLang="en-US" sz="1400" b="1"/>
              <a:t>paths</a:t>
            </a:r>
          </a:p>
        </p:txBody>
      </p:sp>
      <p:sp>
        <p:nvSpPr>
          <p:cNvPr id="40973" name="Ink 2">
            <a:extLst>
              <a:ext uri="{FF2B5EF4-FFF2-40B4-BE49-F238E27FC236}">
                <a16:creationId xmlns:a16="http://schemas.microsoft.com/office/drawing/2014/main" id="{BA5EED35-E48B-FC4E-B1B6-112F0A876F1D}"/>
              </a:ext>
            </a:extLst>
          </p:cNvPr>
          <p:cNvSpPr>
            <a:spLocks noRot="1" noChangeAspect="1" noEditPoints="1" noChangeArrowheads="1" noChangeShapeType="1" noTextEdit="1"/>
          </p:cNvSpPr>
          <p:nvPr/>
        </p:nvSpPr>
        <p:spPr bwMode="auto">
          <a:xfrm>
            <a:off x="1301750" y="2774950"/>
            <a:ext cx="2219325" cy="3141663"/>
          </a:xfrm>
          <a:custGeom>
            <a:avLst/>
            <a:gdLst>
              <a:gd name="T0" fmla="*/ 2881 w 6162"/>
              <a:gd name="T1" fmla="*/ 2784828 h 8725"/>
              <a:gd name="T2" fmla="*/ 0 w 6162"/>
              <a:gd name="T3" fmla="*/ 2788789 h 8725"/>
              <a:gd name="T4" fmla="*/ 7563 w 6162"/>
              <a:gd name="T5" fmla="*/ 2785548 h 8725"/>
              <a:gd name="T6" fmla="*/ 226182 w 6162"/>
              <a:gd name="T7" fmla="*/ 2796350 h 8725"/>
              <a:gd name="T8" fmla="*/ 222941 w 6162"/>
              <a:gd name="T9" fmla="*/ 2791669 h 8725"/>
              <a:gd name="T10" fmla="*/ 233026 w 6162"/>
              <a:gd name="T11" fmla="*/ 2786628 h 8725"/>
              <a:gd name="T12" fmla="*/ 430395 w 6162"/>
              <a:gd name="T13" fmla="*/ 2782667 h 8725"/>
              <a:gd name="T14" fmla="*/ 431475 w 6162"/>
              <a:gd name="T15" fmla="*/ 2776186 h 8725"/>
              <a:gd name="T16" fmla="*/ 438679 w 6162"/>
              <a:gd name="T17" fmla="*/ 2775466 h 8725"/>
              <a:gd name="T18" fmla="*/ 1080849 w 6162"/>
              <a:gd name="T19" fmla="*/ 2902573 h 8725"/>
              <a:gd name="T20" fmla="*/ 1071485 w 6162"/>
              <a:gd name="T21" fmla="*/ 2901132 h 8725"/>
              <a:gd name="T22" fmla="*/ 1066443 w 6162"/>
              <a:gd name="T23" fmla="*/ 2925257 h 8725"/>
              <a:gd name="T24" fmla="*/ 1071485 w 6162"/>
              <a:gd name="T25" fmla="*/ 2958744 h 8725"/>
              <a:gd name="T26" fmla="*/ 1083010 w 6162"/>
              <a:gd name="T27" fmla="*/ 2979629 h 8725"/>
              <a:gd name="T28" fmla="*/ 1107862 w 6162"/>
              <a:gd name="T29" fmla="*/ 2963785 h 8725"/>
              <a:gd name="T30" fmla="*/ 1156484 w 6162"/>
              <a:gd name="T31" fmla="*/ 2907254 h 8725"/>
              <a:gd name="T32" fmla="*/ 1198623 w 6162"/>
              <a:gd name="T33" fmla="*/ 2859724 h 8725"/>
              <a:gd name="T34" fmla="*/ 1220593 w 6162"/>
              <a:gd name="T35" fmla="*/ 2846761 h 8725"/>
              <a:gd name="T36" fmla="*/ 2194834 w 6162"/>
              <a:gd name="T37" fmla="*/ 5916769 h 8725"/>
              <a:gd name="T38" fmla="*/ 2192313 w 6162"/>
              <a:gd name="T39" fmla="*/ 5858076 h 8725"/>
              <a:gd name="T40" fmla="*/ 2188351 w 6162"/>
              <a:gd name="T41" fmla="*/ 5297438 h 8725"/>
              <a:gd name="T42" fmla="*/ 2191232 w 6162"/>
              <a:gd name="T43" fmla="*/ 4902795 h 8725"/>
              <a:gd name="T44" fmla="*/ 2197715 w 6162"/>
              <a:gd name="T45" fmla="*/ 4593129 h 8725"/>
              <a:gd name="T46" fmla="*/ 2213562 w 6162"/>
              <a:gd name="T47" fmla="*/ 4357280 h 8725"/>
              <a:gd name="T48" fmla="*/ 2212122 w 6162"/>
              <a:gd name="T49" fmla="*/ 3650090 h 8725"/>
              <a:gd name="T50" fmla="*/ 2204198 w 6162"/>
              <a:gd name="T51" fmla="*/ 3376433 h 8725"/>
              <a:gd name="T52" fmla="*/ 2189431 w 6162"/>
              <a:gd name="T53" fmla="*/ 3117178 h 8725"/>
              <a:gd name="T54" fmla="*/ 2169262 w 6162"/>
              <a:gd name="T55" fmla="*/ 2916976 h 8725"/>
              <a:gd name="T56" fmla="*/ 2150894 w 6162"/>
              <a:gd name="T57" fmla="*/ 2785548 h 8725"/>
              <a:gd name="T58" fmla="*/ 2142610 w 6162"/>
              <a:gd name="T59" fmla="*/ 2801751 h 872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6162" h="8725" extrusionOk="0">
                <a:moveTo>
                  <a:pt x="8" y="26"/>
                </a:moveTo>
                <a:cubicBezTo>
                  <a:pt x="10" y="38"/>
                  <a:pt x="11" y="43"/>
                  <a:pt x="0" y="37"/>
                </a:cubicBezTo>
                <a:cubicBezTo>
                  <a:pt x="19" y="27"/>
                  <a:pt x="-1" y="27"/>
                  <a:pt x="21" y="28"/>
                </a:cubicBezTo>
              </a:path>
              <a:path w="6162" h="8725" extrusionOk="0">
                <a:moveTo>
                  <a:pt x="628" y="58"/>
                </a:moveTo>
                <a:cubicBezTo>
                  <a:pt x="625" y="54"/>
                  <a:pt x="622" y="49"/>
                  <a:pt x="619" y="45"/>
                </a:cubicBezTo>
                <a:cubicBezTo>
                  <a:pt x="636" y="44"/>
                  <a:pt x="636" y="44"/>
                  <a:pt x="647" y="31"/>
                </a:cubicBezTo>
              </a:path>
              <a:path w="6162" h="8725" extrusionOk="0">
                <a:moveTo>
                  <a:pt x="1195" y="20"/>
                </a:moveTo>
                <a:cubicBezTo>
                  <a:pt x="1217" y="20"/>
                  <a:pt x="1206" y="22"/>
                  <a:pt x="1198" y="2"/>
                </a:cubicBezTo>
                <a:cubicBezTo>
                  <a:pt x="1208" y="7"/>
                  <a:pt x="1212" y="9"/>
                  <a:pt x="1218" y="0"/>
                </a:cubicBezTo>
              </a:path>
              <a:path w="6162" h="8725" extrusionOk="0">
                <a:moveTo>
                  <a:pt x="3001" y="353"/>
                </a:moveTo>
                <a:cubicBezTo>
                  <a:pt x="2988" y="360"/>
                  <a:pt x="2983" y="361"/>
                  <a:pt x="2975" y="349"/>
                </a:cubicBezTo>
                <a:cubicBezTo>
                  <a:pt x="2965" y="370"/>
                  <a:pt x="2961" y="392"/>
                  <a:pt x="2961" y="416"/>
                </a:cubicBezTo>
                <a:cubicBezTo>
                  <a:pt x="2962" y="447"/>
                  <a:pt x="2967" y="479"/>
                  <a:pt x="2975" y="509"/>
                </a:cubicBezTo>
                <a:cubicBezTo>
                  <a:pt x="2978" y="520"/>
                  <a:pt x="2991" y="566"/>
                  <a:pt x="3007" y="567"/>
                </a:cubicBezTo>
                <a:cubicBezTo>
                  <a:pt x="3037" y="570"/>
                  <a:pt x="3057" y="543"/>
                  <a:pt x="3076" y="523"/>
                </a:cubicBezTo>
                <a:cubicBezTo>
                  <a:pt x="3124" y="473"/>
                  <a:pt x="3166" y="418"/>
                  <a:pt x="3211" y="366"/>
                </a:cubicBezTo>
                <a:cubicBezTo>
                  <a:pt x="3244" y="328"/>
                  <a:pt x="3285" y="262"/>
                  <a:pt x="3328" y="234"/>
                </a:cubicBezTo>
                <a:cubicBezTo>
                  <a:pt x="3350" y="220"/>
                  <a:pt x="3363" y="210"/>
                  <a:pt x="3389" y="198"/>
                </a:cubicBezTo>
              </a:path>
              <a:path w="6162" h="8725" extrusionOk="0">
                <a:moveTo>
                  <a:pt x="6094" y="8724"/>
                </a:moveTo>
                <a:cubicBezTo>
                  <a:pt x="6092" y="8671"/>
                  <a:pt x="6089" y="8616"/>
                  <a:pt x="6087" y="8561"/>
                </a:cubicBezTo>
                <a:cubicBezTo>
                  <a:pt x="6069" y="8042"/>
                  <a:pt x="6102" y="7523"/>
                  <a:pt x="6076" y="7004"/>
                </a:cubicBezTo>
                <a:cubicBezTo>
                  <a:pt x="6058" y="6635"/>
                  <a:pt x="6062" y="6276"/>
                  <a:pt x="6084" y="5908"/>
                </a:cubicBezTo>
                <a:cubicBezTo>
                  <a:pt x="6101" y="5621"/>
                  <a:pt x="6093" y="5335"/>
                  <a:pt x="6102" y="5048"/>
                </a:cubicBezTo>
                <a:cubicBezTo>
                  <a:pt x="6109" y="4829"/>
                  <a:pt x="6131" y="4611"/>
                  <a:pt x="6146" y="4393"/>
                </a:cubicBezTo>
                <a:cubicBezTo>
                  <a:pt x="6190" y="3743"/>
                  <a:pt x="6133" y="3082"/>
                  <a:pt x="6142" y="2429"/>
                </a:cubicBezTo>
                <a:cubicBezTo>
                  <a:pt x="6146" y="2176"/>
                  <a:pt x="6136" y="1921"/>
                  <a:pt x="6120" y="1669"/>
                </a:cubicBezTo>
                <a:cubicBezTo>
                  <a:pt x="6104" y="1429"/>
                  <a:pt x="6097" y="1188"/>
                  <a:pt x="6079" y="949"/>
                </a:cubicBezTo>
                <a:cubicBezTo>
                  <a:pt x="6065" y="763"/>
                  <a:pt x="6043" y="578"/>
                  <a:pt x="6023" y="393"/>
                </a:cubicBezTo>
                <a:cubicBezTo>
                  <a:pt x="6010" y="271"/>
                  <a:pt x="5991" y="149"/>
                  <a:pt x="5972" y="28"/>
                </a:cubicBezTo>
                <a:cubicBezTo>
                  <a:pt x="5964" y="43"/>
                  <a:pt x="5958" y="57"/>
                  <a:pt x="5949" y="73"/>
                </a:cubicBezTo>
              </a:path>
            </a:pathLst>
          </a:custGeom>
          <a:noFill/>
          <a:ln w="19050" cap="rnd"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974" name="Ink 3">
            <a:extLst>
              <a:ext uri="{FF2B5EF4-FFF2-40B4-BE49-F238E27FC236}">
                <a16:creationId xmlns:a16="http://schemas.microsoft.com/office/drawing/2014/main" id="{96537EEA-D119-3849-8F9B-333E4C23BB1A}"/>
              </a:ext>
            </a:extLst>
          </p:cNvPr>
          <p:cNvSpPr>
            <a:spLocks noRot="1" noChangeAspect="1" noEditPoints="1" noChangeArrowheads="1" noChangeShapeType="1" noTextEdit="1"/>
          </p:cNvSpPr>
          <p:nvPr/>
        </p:nvSpPr>
        <p:spPr bwMode="auto">
          <a:xfrm>
            <a:off x="1960563" y="2792413"/>
            <a:ext cx="238125" cy="3057525"/>
          </a:xfrm>
          <a:custGeom>
            <a:avLst/>
            <a:gdLst>
              <a:gd name="T0" fmla="*/ 5051 w 660"/>
              <a:gd name="T1" fmla="*/ 2794454 h 8496"/>
              <a:gd name="T2" fmla="*/ 7938 w 660"/>
              <a:gd name="T3" fmla="*/ 2793015 h 8496"/>
              <a:gd name="T4" fmla="*/ 237764 w 660"/>
              <a:gd name="T5" fmla="*/ 5848020 h 8496"/>
              <a:gd name="T6" fmla="*/ 226219 w 660"/>
              <a:gd name="T7" fmla="*/ 5835785 h 8496"/>
              <a:gd name="T8" fmla="*/ 228744 w 660"/>
              <a:gd name="T9" fmla="*/ 5775325 h 8496"/>
              <a:gd name="T10" fmla="*/ 232352 w 660"/>
              <a:gd name="T11" fmla="*/ 5783242 h 849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0" h="8496" extrusionOk="0">
                <a:moveTo>
                  <a:pt x="14" y="10"/>
                </a:moveTo>
                <a:cubicBezTo>
                  <a:pt x="-12" y="16"/>
                  <a:pt x="6" y="4"/>
                  <a:pt x="22" y="6"/>
                </a:cubicBezTo>
              </a:path>
              <a:path w="660" h="8496" extrusionOk="0">
                <a:moveTo>
                  <a:pt x="659" y="8495"/>
                </a:moveTo>
                <a:cubicBezTo>
                  <a:pt x="643" y="8480"/>
                  <a:pt x="644" y="8476"/>
                  <a:pt x="627" y="8461"/>
                </a:cubicBezTo>
              </a:path>
              <a:path w="660" h="8496" extrusionOk="0">
                <a:moveTo>
                  <a:pt x="634" y="8293"/>
                </a:moveTo>
                <a:cubicBezTo>
                  <a:pt x="642" y="8304"/>
                  <a:pt x="645" y="8306"/>
                  <a:pt x="644" y="8315"/>
                </a:cubicBezTo>
              </a:path>
            </a:pathLst>
          </a:custGeom>
          <a:noFill/>
          <a:ln w="19050" cap="rnd"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975" name="Ink 4">
            <a:extLst>
              <a:ext uri="{FF2B5EF4-FFF2-40B4-BE49-F238E27FC236}">
                <a16:creationId xmlns:a16="http://schemas.microsoft.com/office/drawing/2014/main" id="{43BB41F5-250D-EA4E-A420-21155D6C0FCE}"/>
              </a:ext>
            </a:extLst>
          </p:cNvPr>
          <p:cNvSpPr>
            <a:spLocks noRot="1" noChangeAspect="1" noEditPoints="1" noChangeArrowheads="1" noChangeShapeType="1" noTextEdit="1"/>
          </p:cNvSpPr>
          <p:nvPr/>
        </p:nvSpPr>
        <p:spPr bwMode="auto">
          <a:xfrm>
            <a:off x="796925" y="2752725"/>
            <a:ext cx="2687638" cy="3200400"/>
          </a:xfrm>
          <a:custGeom>
            <a:avLst/>
            <a:gdLst>
              <a:gd name="T0" fmla="*/ 25919 w 7466"/>
              <a:gd name="T1" fmla="*/ 5081548 h 8891"/>
              <a:gd name="T2" fmla="*/ 79196 w 7466"/>
              <a:gd name="T3" fmla="*/ 3782814 h 8891"/>
              <a:gd name="T4" fmla="*/ 102595 w 7466"/>
              <a:gd name="T5" fmla="*/ 3667267 h 8891"/>
              <a:gd name="T6" fmla="*/ 378703 w 7466"/>
              <a:gd name="T7" fmla="*/ 3668707 h 8891"/>
              <a:gd name="T8" fmla="*/ 856401 w 7466"/>
              <a:gd name="T9" fmla="*/ 3602835 h 8891"/>
              <a:gd name="T10" fmla="*/ 1263543 w 7466"/>
              <a:gd name="T11" fmla="*/ 3606434 h 8891"/>
              <a:gd name="T12" fmla="*/ 1401056 w 7466"/>
              <a:gd name="T13" fmla="*/ 3767336 h 8891"/>
              <a:gd name="T14" fmla="*/ 1360738 w 7466"/>
              <a:gd name="T15" fmla="*/ 3768416 h 8891"/>
              <a:gd name="T16" fmla="*/ 1472693 w 7466"/>
              <a:gd name="T17" fmla="*/ 3680586 h 8891"/>
              <a:gd name="T18" fmla="*/ 1464774 w 7466"/>
              <a:gd name="T19" fmla="*/ 5646685 h 8891"/>
              <a:gd name="T20" fmla="*/ 1759240 w 7466"/>
              <a:gd name="T21" fmla="*/ 5948691 h 8891"/>
              <a:gd name="T22" fmla="*/ 2223619 w 7466"/>
              <a:gd name="T23" fmla="*/ 5924214 h 8891"/>
              <a:gd name="T24" fmla="*/ 2603042 w 7466"/>
              <a:gd name="T25" fmla="*/ 5923854 h 8891"/>
              <a:gd name="T26" fmla="*/ 2631121 w 7466"/>
              <a:gd name="T27" fmla="*/ 2786447 h 8891"/>
              <a:gd name="T28" fmla="*/ 2522406 w 7466"/>
              <a:gd name="T29" fmla="*/ 2773128 h 8891"/>
              <a:gd name="T30" fmla="*/ 2232979 w 7466"/>
              <a:gd name="T31" fmla="*/ 2767009 h 8891"/>
              <a:gd name="T32" fmla="*/ 1943552 w 7466"/>
              <a:gd name="T33" fmla="*/ 2761969 h 8891"/>
              <a:gd name="T34" fmla="*/ 1719642 w 7466"/>
              <a:gd name="T35" fmla="*/ 2778887 h 8891"/>
              <a:gd name="T36" fmla="*/ 1610207 w 7466"/>
              <a:gd name="T37" fmla="*/ 2821003 h 8891"/>
              <a:gd name="T38" fmla="*/ 1619926 w 7466"/>
              <a:gd name="T39" fmla="*/ 2796165 h 8891"/>
              <a:gd name="T40" fmla="*/ 1613807 w 7466"/>
              <a:gd name="T41" fmla="*/ 2898394 h 8891"/>
              <a:gd name="T42" fmla="*/ 1564489 w 7466"/>
              <a:gd name="T43" fmla="*/ 2883276 h 8891"/>
              <a:gd name="T44" fmla="*/ 1561969 w 7466"/>
              <a:gd name="T45" fmla="*/ 2915312 h 8891"/>
              <a:gd name="T46" fmla="*/ 1542170 w 7466"/>
              <a:gd name="T47" fmla="*/ 4515332 h 8891"/>
              <a:gd name="T48" fmla="*/ 1605527 w 7466"/>
              <a:gd name="T49" fmla="*/ 4633039 h 8891"/>
              <a:gd name="T50" fmla="*/ 1853196 w 7466"/>
              <a:gd name="T51" fmla="*/ 4623680 h 8891"/>
              <a:gd name="T52" fmla="*/ 2067386 w 7466"/>
              <a:gd name="T53" fmla="*/ 4602082 h 8891"/>
              <a:gd name="T54" fmla="*/ 2204180 w 7466"/>
              <a:gd name="T55" fmla="*/ 4607482 h 8891"/>
              <a:gd name="T56" fmla="*/ 2263217 w 7466"/>
              <a:gd name="T57" fmla="*/ 4604242 h 8891"/>
              <a:gd name="T58" fmla="*/ 2268977 w 7466"/>
              <a:gd name="T59" fmla="*/ 3811251 h 8891"/>
              <a:gd name="T60" fmla="*/ 2265737 w 7466"/>
              <a:gd name="T61" fmla="*/ 3136327 h 8891"/>
              <a:gd name="T62" fmla="*/ 2267537 w 7466"/>
              <a:gd name="T63" fmla="*/ 2853039 h 8891"/>
              <a:gd name="T64" fmla="*/ 2250978 w 7466"/>
              <a:gd name="T65" fmla="*/ 2832161 h 8891"/>
              <a:gd name="T66" fmla="*/ 2056227 w 7466"/>
              <a:gd name="T67" fmla="*/ 2827482 h 8891"/>
              <a:gd name="T68" fmla="*/ 1906473 w 7466"/>
              <a:gd name="T69" fmla="*/ 2813803 h 8891"/>
              <a:gd name="T70" fmla="*/ 1799198 w 7466"/>
              <a:gd name="T71" fmla="*/ 2826042 h 8891"/>
              <a:gd name="T72" fmla="*/ 1789839 w 7466"/>
              <a:gd name="T73" fmla="*/ 2977945 h 8891"/>
              <a:gd name="T74" fmla="*/ 1756000 w 7466"/>
              <a:gd name="T75" fmla="*/ 2962467 h 8891"/>
              <a:gd name="T76" fmla="*/ 1856076 w 7466"/>
              <a:gd name="T77" fmla="*/ 2955987 h 8891"/>
              <a:gd name="T78" fmla="*/ 1574929 w 7466"/>
              <a:gd name="T79" fmla="*/ 5520699 h 8891"/>
              <a:gd name="T80" fmla="*/ 1691203 w 7466"/>
              <a:gd name="T81" fmla="*/ 5711118 h 8891"/>
              <a:gd name="T82" fmla="*/ 2236218 w 7466"/>
              <a:gd name="T83" fmla="*/ 5704278 h 8891"/>
              <a:gd name="T84" fmla="*/ 2322255 w 7466"/>
              <a:gd name="T85" fmla="*/ 5353678 h 8891"/>
              <a:gd name="T86" fmla="*/ 2291296 w 7466"/>
              <a:gd name="T87" fmla="*/ 4769104 h 8891"/>
              <a:gd name="T88" fmla="*/ 1790559 w 7466"/>
              <a:gd name="T89" fmla="*/ 4758305 h 8891"/>
              <a:gd name="T90" fmla="*/ 1538210 w 7466"/>
              <a:gd name="T91" fmla="*/ 4881051 h 8891"/>
              <a:gd name="T92" fmla="*/ 1487812 w 7466"/>
              <a:gd name="T93" fmla="*/ 4857654 h 8891"/>
              <a:gd name="T94" fmla="*/ 1569169 w 7466"/>
              <a:gd name="T95" fmla="*/ 4863053 h 889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7466" h="8891" extrusionOk="0">
                <a:moveTo>
                  <a:pt x="80" y="7931"/>
                </a:moveTo>
                <a:cubicBezTo>
                  <a:pt x="64" y="7937"/>
                  <a:pt x="63" y="7935"/>
                  <a:pt x="45" y="7939"/>
                </a:cubicBezTo>
                <a:cubicBezTo>
                  <a:pt x="40" y="7831"/>
                  <a:pt x="44" y="7723"/>
                  <a:pt x="50" y="7613"/>
                </a:cubicBezTo>
                <a:cubicBezTo>
                  <a:pt x="71" y="7229"/>
                  <a:pt x="78" y="6854"/>
                  <a:pt x="72" y="6470"/>
                </a:cubicBezTo>
                <a:cubicBezTo>
                  <a:pt x="63" y="5911"/>
                  <a:pt x="0" y="5354"/>
                  <a:pt x="1" y="4794"/>
                </a:cubicBezTo>
                <a:cubicBezTo>
                  <a:pt x="1" y="4542"/>
                  <a:pt x="20" y="4282"/>
                  <a:pt x="47" y="4031"/>
                </a:cubicBezTo>
                <a:cubicBezTo>
                  <a:pt x="64" y="3876"/>
                  <a:pt x="106" y="3722"/>
                  <a:pt x="109" y="3566"/>
                </a:cubicBezTo>
                <a:cubicBezTo>
                  <a:pt x="113" y="3328"/>
                  <a:pt x="187" y="3098"/>
                  <a:pt x="220" y="2862"/>
                </a:cubicBezTo>
                <a:cubicBezTo>
                  <a:pt x="230" y="2791"/>
                  <a:pt x="230" y="2728"/>
                  <a:pt x="235" y="2658"/>
                </a:cubicBezTo>
                <a:cubicBezTo>
                  <a:pt x="237" y="2628"/>
                  <a:pt x="244" y="2598"/>
                  <a:pt x="247" y="2568"/>
                </a:cubicBezTo>
                <a:cubicBezTo>
                  <a:pt x="265" y="2583"/>
                  <a:pt x="283" y="2598"/>
                  <a:pt x="301" y="2613"/>
                </a:cubicBezTo>
              </a:path>
              <a:path w="7466" h="8891" extrusionOk="0">
                <a:moveTo>
                  <a:pt x="285" y="2541"/>
                </a:moveTo>
                <a:cubicBezTo>
                  <a:pt x="254" y="2553"/>
                  <a:pt x="286" y="2540"/>
                  <a:pt x="264" y="2563"/>
                </a:cubicBezTo>
                <a:cubicBezTo>
                  <a:pt x="375" y="2581"/>
                  <a:pt x="492" y="2582"/>
                  <a:pt x="606" y="2581"/>
                </a:cubicBezTo>
                <a:cubicBezTo>
                  <a:pt x="666" y="2580"/>
                  <a:pt x="723" y="2572"/>
                  <a:pt x="783" y="2564"/>
                </a:cubicBezTo>
                <a:cubicBezTo>
                  <a:pt x="872" y="2553"/>
                  <a:pt x="962" y="2552"/>
                  <a:pt x="1052" y="2545"/>
                </a:cubicBezTo>
                <a:cubicBezTo>
                  <a:pt x="1111" y="2540"/>
                  <a:pt x="1170" y="2530"/>
                  <a:pt x="1229" y="2525"/>
                </a:cubicBezTo>
                <a:cubicBezTo>
                  <a:pt x="1331" y="2516"/>
                  <a:pt x="1425" y="2528"/>
                  <a:pt x="1526" y="2504"/>
                </a:cubicBezTo>
                <a:cubicBezTo>
                  <a:pt x="1659" y="2473"/>
                  <a:pt x="1795" y="2440"/>
                  <a:pt x="1929" y="2418"/>
                </a:cubicBezTo>
                <a:cubicBezTo>
                  <a:pt x="2079" y="2394"/>
                  <a:pt x="2230" y="2394"/>
                  <a:pt x="2379" y="2362"/>
                </a:cubicBezTo>
                <a:cubicBezTo>
                  <a:pt x="2489" y="2338"/>
                  <a:pt x="2576" y="2361"/>
                  <a:pt x="2685" y="2363"/>
                </a:cubicBezTo>
                <a:cubicBezTo>
                  <a:pt x="2784" y="2365"/>
                  <a:pt x="2880" y="2341"/>
                  <a:pt x="2979" y="2343"/>
                </a:cubicBezTo>
                <a:cubicBezTo>
                  <a:pt x="3074" y="2345"/>
                  <a:pt x="3173" y="2341"/>
                  <a:pt x="3267" y="2354"/>
                </a:cubicBezTo>
                <a:cubicBezTo>
                  <a:pt x="3349" y="2365"/>
                  <a:pt x="3427" y="2368"/>
                  <a:pt x="3510" y="2372"/>
                </a:cubicBezTo>
                <a:cubicBezTo>
                  <a:pt x="3566" y="2375"/>
                  <a:pt x="3620" y="2379"/>
                  <a:pt x="3674" y="2393"/>
                </a:cubicBezTo>
                <a:cubicBezTo>
                  <a:pt x="3749" y="2412"/>
                  <a:pt x="3789" y="2417"/>
                  <a:pt x="3867" y="2408"/>
                </a:cubicBezTo>
                <a:cubicBezTo>
                  <a:pt x="3858" y="2536"/>
                  <a:pt x="3858" y="2670"/>
                  <a:pt x="3883" y="2797"/>
                </a:cubicBezTo>
                <a:cubicBezTo>
                  <a:pt x="3884" y="2808"/>
                  <a:pt x="3885" y="2813"/>
                  <a:pt x="3892" y="2819"/>
                </a:cubicBezTo>
                <a:cubicBezTo>
                  <a:pt x="3884" y="2802"/>
                  <a:pt x="3876" y="2786"/>
                  <a:pt x="3868" y="2769"/>
                </a:cubicBezTo>
              </a:path>
              <a:path w="7466" h="8891" extrusionOk="0">
                <a:moveTo>
                  <a:pt x="3711" y="2713"/>
                </a:moveTo>
                <a:cubicBezTo>
                  <a:pt x="3711" y="2713"/>
                  <a:pt x="3707" y="2732"/>
                  <a:pt x="3724" y="2756"/>
                </a:cubicBezTo>
                <a:cubicBezTo>
                  <a:pt x="3741" y="2779"/>
                  <a:pt x="3760" y="2801"/>
                  <a:pt x="3780" y="2822"/>
                </a:cubicBezTo>
                <a:cubicBezTo>
                  <a:pt x="3798" y="2841"/>
                  <a:pt x="3819" y="2862"/>
                  <a:pt x="3845" y="2870"/>
                </a:cubicBezTo>
                <a:cubicBezTo>
                  <a:pt x="3874" y="2879"/>
                  <a:pt x="3901" y="2859"/>
                  <a:pt x="3921" y="2841"/>
                </a:cubicBezTo>
                <a:cubicBezTo>
                  <a:pt x="3963" y="2802"/>
                  <a:pt x="3999" y="2752"/>
                  <a:pt x="4029" y="2703"/>
                </a:cubicBezTo>
                <a:cubicBezTo>
                  <a:pt x="4047" y="2673"/>
                  <a:pt x="4089" y="2614"/>
                  <a:pt x="4091" y="2578"/>
                </a:cubicBezTo>
                <a:cubicBezTo>
                  <a:pt x="4092" y="2554"/>
                  <a:pt x="4079" y="2541"/>
                  <a:pt x="4074" y="2530"/>
                </a:cubicBezTo>
              </a:path>
              <a:path w="7466" h="8891" extrusionOk="0">
                <a:moveTo>
                  <a:pt x="4025" y="7553"/>
                </a:moveTo>
                <a:cubicBezTo>
                  <a:pt x="4028" y="7607"/>
                  <a:pt x="4026" y="7661"/>
                  <a:pt x="4030" y="7715"/>
                </a:cubicBezTo>
                <a:cubicBezTo>
                  <a:pt x="4038" y="7826"/>
                  <a:pt x="4066" y="7928"/>
                  <a:pt x="4069" y="8040"/>
                </a:cubicBezTo>
                <a:cubicBezTo>
                  <a:pt x="4074" y="8222"/>
                  <a:pt x="4072" y="8407"/>
                  <a:pt x="4081" y="8589"/>
                </a:cubicBezTo>
                <a:cubicBezTo>
                  <a:pt x="4083" y="8629"/>
                  <a:pt x="4081" y="8786"/>
                  <a:pt x="4111" y="8811"/>
                </a:cubicBezTo>
                <a:cubicBezTo>
                  <a:pt x="4132" y="8829"/>
                  <a:pt x="4181" y="8821"/>
                  <a:pt x="4208" y="8829"/>
                </a:cubicBezTo>
                <a:cubicBezTo>
                  <a:pt x="4422" y="8891"/>
                  <a:pt x="4666" y="8872"/>
                  <a:pt x="4887" y="8879"/>
                </a:cubicBezTo>
                <a:cubicBezTo>
                  <a:pt x="5015" y="8883"/>
                  <a:pt x="5121" y="8885"/>
                  <a:pt x="5246" y="8861"/>
                </a:cubicBezTo>
                <a:cubicBezTo>
                  <a:pt x="5336" y="8844"/>
                  <a:pt x="5428" y="8829"/>
                  <a:pt x="5519" y="8822"/>
                </a:cubicBezTo>
                <a:cubicBezTo>
                  <a:pt x="5632" y="8813"/>
                  <a:pt x="5750" y="8811"/>
                  <a:pt x="5864" y="8812"/>
                </a:cubicBezTo>
                <a:cubicBezTo>
                  <a:pt x="5967" y="8813"/>
                  <a:pt x="6076" y="8800"/>
                  <a:pt x="6177" y="8811"/>
                </a:cubicBezTo>
                <a:cubicBezTo>
                  <a:pt x="6256" y="8820"/>
                  <a:pt x="6318" y="8829"/>
                  <a:pt x="6398" y="8825"/>
                </a:cubicBezTo>
                <a:cubicBezTo>
                  <a:pt x="6473" y="8822"/>
                  <a:pt x="6550" y="8807"/>
                  <a:pt x="6625" y="8806"/>
                </a:cubicBezTo>
                <a:cubicBezTo>
                  <a:pt x="6724" y="8805"/>
                  <a:pt x="6822" y="8823"/>
                  <a:pt x="6923" y="8818"/>
                </a:cubicBezTo>
                <a:cubicBezTo>
                  <a:pt x="7026" y="8813"/>
                  <a:pt x="7128" y="8814"/>
                  <a:pt x="7231" y="8810"/>
                </a:cubicBezTo>
                <a:cubicBezTo>
                  <a:pt x="7306" y="8807"/>
                  <a:pt x="7415" y="8811"/>
                  <a:pt x="7461" y="8778"/>
                </a:cubicBezTo>
                <a:cubicBezTo>
                  <a:pt x="7458" y="8773"/>
                  <a:pt x="7455" y="8768"/>
                  <a:pt x="7452" y="8763"/>
                </a:cubicBezTo>
              </a:path>
              <a:path w="7466" h="8891" extrusionOk="0">
                <a:moveTo>
                  <a:pt x="7374" y="111"/>
                </a:moveTo>
                <a:cubicBezTo>
                  <a:pt x="7351" y="105"/>
                  <a:pt x="7335" y="95"/>
                  <a:pt x="7309" y="94"/>
                </a:cubicBezTo>
                <a:cubicBezTo>
                  <a:pt x="7287" y="93"/>
                  <a:pt x="7265" y="95"/>
                  <a:pt x="7243" y="93"/>
                </a:cubicBezTo>
                <a:cubicBezTo>
                  <a:pt x="7224" y="91"/>
                  <a:pt x="7206" y="87"/>
                  <a:pt x="7187" y="85"/>
                </a:cubicBezTo>
                <a:cubicBezTo>
                  <a:pt x="7169" y="83"/>
                  <a:pt x="7151" y="80"/>
                  <a:pt x="7133" y="78"/>
                </a:cubicBezTo>
                <a:cubicBezTo>
                  <a:pt x="7090" y="73"/>
                  <a:pt x="7049" y="68"/>
                  <a:pt x="7007" y="57"/>
                </a:cubicBezTo>
                <a:cubicBezTo>
                  <a:pt x="6988" y="52"/>
                  <a:pt x="6969" y="44"/>
                  <a:pt x="6949" y="40"/>
                </a:cubicBezTo>
                <a:cubicBezTo>
                  <a:pt x="6875" y="23"/>
                  <a:pt x="6802" y="14"/>
                  <a:pt x="6726" y="15"/>
                </a:cubicBezTo>
                <a:cubicBezTo>
                  <a:pt x="6649" y="16"/>
                  <a:pt x="6572" y="18"/>
                  <a:pt x="6495" y="21"/>
                </a:cubicBezTo>
                <a:cubicBezTo>
                  <a:pt x="6398" y="25"/>
                  <a:pt x="6301" y="47"/>
                  <a:pt x="6203" y="40"/>
                </a:cubicBezTo>
                <a:cubicBezTo>
                  <a:pt x="6170" y="38"/>
                  <a:pt x="6138" y="33"/>
                  <a:pt x="6105" y="31"/>
                </a:cubicBezTo>
                <a:cubicBezTo>
                  <a:pt x="6049" y="27"/>
                  <a:pt x="5993" y="20"/>
                  <a:pt x="5937" y="21"/>
                </a:cubicBezTo>
                <a:cubicBezTo>
                  <a:pt x="5821" y="23"/>
                  <a:pt x="5704" y="10"/>
                  <a:pt x="5589" y="11"/>
                </a:cubicBezTo>
                <a:cubicBezTo>
                  <a:pt x="5526" y="12"/>
                  <a:pt x="5463" y="25"/>
                  <a:pt x="5399" y="26"/>
                </a:cubicBezTo>
                <a:cubicBezTo>
                  <a:pt x="5341" y="27"/>
                  <a:pt x="5283" y="21"/>
                  <a:pt x="5225" y="16"/>
                </a:cubicBezTo>
                <a:cubicBezTo>
                  <a:pt x="5186" y="13"/>
                  <a:pt x="5144" y="-1"/>
                  <a:pt x="5106" y="0"/>
                </a:cubicBezTo>
                <a:cubicBezTo>
                  <a:pt x="5052" y="1"/>
                  <a:pt x="4984" y="12"/>
                  <a:pt x="4932" y="25"/>
                </a:cubicBezTo>
                <a:cubicBezTo>
                  <a:pt x="4877" y="39"/>
                  <a:pt x="4832" y="66"/>
                  <a:pt x="4777" y="73"/>
                </a:cubicBezTo>
                <a:cubicBezTo>
                  <a:pt x="4740" y="78"/>
                  <a:pt x="4698" y="78"/>
                  <a:pt x="4660" y="77"/>
                </a:cubicBezTo>
                <a:cubicBezTo>
                  <a:pt x="4625" y="76"/>
                  <a:pt x="4603" y="54"/>
                  <a:pt x="4577" y="51"/>
                </a:cubicBezTo>
                <a:cubicBezTo>
                  <a:pt x="4532" y="46"/>
                  <a:pt x="4440" y="72"/>
                  <a:pt x="4441" y="119"/>
                </a:cubicBezTo>
                <a:cubicBezTo>
                  <a:pt x="4441" y="132"/>
                  <a:pt x="4467" y="175"/>
                  <a:pt x="4473" y="190"/>
                </a:cubicBezTo>
              </a:path>
              <a:path w="7466" h="8891" extrusionOk="0">
                <a:moveTo>
                  <a:pt x="4544" y="238"/>
                </a:moveTo>
                <a:cubicBezTo>
                  <a:pt x="4533" y="222"/>
                  <a:pt x="4513" y="215"/>
                  <a:pt x="4511" y="196"/>
                </a:cubicBezTo>
                <a:cubicBezTo>
                  <a:pt x="4509" y="179"/>
                  <a:pt x="4519" y="162"/>
                  <a:pt x="4517" y="145"/>
                </a:cubicBezTo>
                <a:cubicBezTo>
                  <a:pt x="4514" y="126"/>
                  <a:pt x="4514" y="126"/>
                  <a:pt x="4500" y="121"/>
                </a:cubicBezTo>
                <a:cubicBezTo>
                  <a:pt x="4502" y="142"/>
                  <a:pt x="4503" y="163"/>
                  <a:pt x="4503" y="184"/>
                </a:cubicBezTo>
                <a:cubicBezTo>
                  <a:pt x="4503" y="209"/>
                  <a:pt x="4501" y="235"/>
                  <a:pt x="4499" y="260"/>
                </a:cubicBezTo>
                <a:cubicBezTo>
                  <a:pt x="4497" y="285"/>
                  <a:pt x="4494" y="309"/>
                  <a:pt x="4491" y="333"/>
                </a:cubicBezTo>
                <a:cubicBezTo>
                  <a:pt x="4488" y="357"/>
                  <a:pt x="4484" y="381"/>
                  <a:pt x="4483" y="405"/>
                </a:cubicBezTo>
                <a:cubicBezTo>
                  <a:pt x="4482" y="430"/>
                  <a:pt x="4484" y="454"/>
                  <a:pt x="4485" y="479"/>
                </a:cubicBezTo>
                <a:cubicBezTo>
                  <a:pt x="4486" y="504"/>
                  <a:pt x="4490" y="525"/>
                  <a:pt x="4486" y="550"/>
                </a:cubicBezTo>
                <a:cubicBezTo>
                  <a:pt x="4483" y="567"/>
                  <a:pt x="4487" y="566"/>
                  <a:pt x="4473" y="570"/>
                </a:cubicBezTo>
              </a:path>
              <a:path w="7466" h="8891" extrusionOk="0">
                <a:moveTo>
                  <a:pt x="4346" y="363"/>
                </a:moveTo>
                <a:cubicBezTo>
                  <a:pt x="4332" y="348"/>
                  <a:pt x="4315" y="340"/>
                  <a:pt x="4302" y="324"/>
                </a:cubicBezTo>
                <a:cubicBezTo>
                  <a:pt x="4299" y="320"/>
                  <a:pt x="4296" y="316"/>
                  <a:pt x="4293" y="312"/>
                </a:cubicBezTo>
                <a:cubicBezTo>
                  <a:pt x="4290" y="334"/>
                  <a:pt x="4296" y="349"/>
                  <a:pt x="4303" y="371"/>
                </a:cubicBezTo>
                <a:cubicBezTo>
                  <a:pt x="4312" y="399"/>
                  <a:pt x="4326" y="426"/>
                  <a:pt x="4339" y="452"/>
                </a:cubicBezTo>
                <a:cubicBezTo>
                  <a:pt x="4356" y="486"/>
                  <a:pt x="4373" y="520"/>
                  <a:pt x="4391" y="553"/>
                </a:cubicBezTo>
                <a:cubicBezTo>
                  <a:pt x="4401" y="572"/>
                  <a:pt x="4407" y="581"/>
                  <a:pt x="4424" y="589"/>
                </a:cubicBezTo>
              </a:path>
              <a:path w="7466" h="8891" extrusionOk="0">
                <a:moveTo>
                  <a:pt x="4316" y="4911"/>
                </a:moveTo>
                <a:cubicBezTo>
                  <a:pt x="4306" y="4906"/>
                  <a:pt x="4296" y="4902"/>
                  <a:pt x="4284" y="4897"/>
                </a:cubicBezTo>
                <a:cubicBezTo>
                  <a:pt x="4288" y="4908"/>
                  <a:pt x="4298" y="4921"/>
                  <a:pt x="4300" y="4943"/>
                </a:cubicBezTo>
                <a:cubicBezTo>
                  <a:pt x="4304" y="5004"/>
                  <a:pt x="4275" y="5115"/>
                  <a:pt x="4303" y="5170"/>
                </a:cubicBezTo>
                <a:cubicBezTo>
                  <a:pt x="4315" y="5195"/>
                  <a:pt x="4323" y="5186"/>
                  <a:pt x="4349" y="5200"/>
                </a:cubicBezTo>
                <a:cubicBezTo>
                  <a:pt x="4386" y="5220"/>
                  <a:pt x="4418" y="5225"/>
                  <a:pt x="4460" y="5224"/>
                </a:cubicBezTo>
                <a:cubicBezTo>
                  <a:pt x="4590" y="5220"/>
                  <a:pt x="4712" y="5244"/>
                  <a:pt x="4842" y="5230"/>
                </a:cubicBezTo>
                <a:cubicBezTo>
                  <a:pt x="4877" y="5226"/>
                  <a:pt x="4911" y="5222"/>
                  <a:pt x="4946" y="5220"/>
                </a:cubicBezTo>
                <a:cubicBezTo>
                  <a:pt x="4992" y="5218"/>
                  <a:pt x="5038" y="5220"/>
                  <a:pt x="5084" y="5212"/>
                </a:cubicBezTo>
                <a:cubicBezTo>
                  <a:pt x="5106" y="5208"/>
                  <a:pt x="5126" y="5201"/>
                  <a:pt x="5148" y="5198"/>
                </a:cubicBezTo>
                <a:cubicBezTo>
                  <a:pt x="5174" y="5194"/>
                  <a:pt x="5198" y="5194"/>
                  <a:pt x="5224" y="5193"/>
                </a:cubicBezTo>
                <a:cubicBezTo>
                  <a:pt x="5317" y="5190"/>
                  <a:pt x="5416" y="5201"/>
                  <a:pt x="5508" y="5186"/>
                </a:cubicBezTo>
                <a:cubicBezTo>
                  <a:pt x="5527" y="5183"/>
                  <a:pt x="5546" y="5178"/>
                  <a:pt x="5565" y="5174"/>
                </a:cubicBezTo>
                <a:cubicBezTo>
                  <a:pt x="5624" y="5162"/>
                  <a:pt x="5684" y="5149"/>
                  <a:pt x="5743" y="5138"/>
                </a:cubicBezTo>
                <a:cubicBezTo>
                  <a:pt x="5774" y="5132"/>
                  <a:pt x="5798" y="5134"/>
                  <a:pt x="5828" y="5141"/>
                </a:cubicBezTo>
                <a:cubicBezTo>
                  <a:pt x="5844" y="5144"/>
                  <a:pt x="5859" y="5150"/>
                  <a:pt x="5875" y="5152"/>
                </a:cubicBezTo>
                <a:cubicBezTo>
                  <a:pt x="5908" y="5157"/>
                  <a:pt x="5940" y="5160"/>
                  <a:pt x="5973" y="5161"/>
                </a:cubicBezTo>
                <a:cubicBezTo>
                  <a:pt x="6024" y="5163"/>
                  <a:pt x="6073" y="5152"/>
                  <a:pt x="6123" y="5153"/>
                </a:cubicBezTo>
                <a:cubicBezTo>
                  <a:pt x="6141" y="5153"/>
                  <a:pt x="6161" y="5155"/>
                  <a:pt x="6178" y="5159"/>
                </a:cubicBezTo>
                <a:cubicBezTo>
                  <a:pt x="6192" y="5162"/>
                  <a:pt x="6217" y="5175"/>
                  <a:pt x="6226" y="5163"/>
                </a:cubicBezTo>
                <a:cubicBezTo>
                  <a:pt x="6228" y="5160"/>
                  <a:pt x="6222" y="5078"/>
                  <a:pt x="6222" y="5070"/>
                </a:cubicBezTo>
              </a:path>
              <a:path w="7466" h="8891" extrusionOk="0">
                <a:moveTo>
                  <a:pt x="6287" y="5144"/>
                </a:moveTo>
                <a:cubicBezTo>
                  <a:pt x="6283" y="5004"/>
                  <a:pt x="6274" y="4863"/>
                  <a:pt x="6281" y="4722"/>
                </a:cubicBezTo>
                <a:cubicBezTo>
                  <a:pt x="6293" y="4474"/>
                  <a:pt x="6314" y="4224"/>
                  <a:pt x="6310" y="3976"/>
                </a:cubicBezTo>
                <a:cubicBezTo>
                  <a:pt x="6307" y="3794"/>
                  <a:pt x="6313" y="3612"/>
                  <a:pt x="6307" y="3431"/>
                </a:cubicBezTo>
                <a:cubicBezTo>
                  <a:pt x="6302" y="3269"/>
                  <a:pt x="6297" y="3103"/>
                  <a:pt x="6303" y="2941"/>
                </a:cubicBezTo>
                <a:cubicBezTo>
                  <a:pt x="6309" y="2799"/>
                  <a:pt x="6320" y="2661"/>
                  <a:pt x="6321" y="2519"/>
                </a:cubicBezTo>
                <a:cubicBezTo>
                  <a:pt x="6323" y="2299"/>
                  <a:pt x="6313" y="2083"/>
                  <a:pt x="6307" y="1864"/>
                </a:cubicBezTo>
                <a:cubicBezTo>
                  <a:pt x="6303" y="1700"/>
                  <a:pt x="6294" y="1536"/>
                  <a:pt x="6289" y="1372"/>
                </a:cubicBezTo>
                <a:cubicBezTo>
                  <a:pt x="6286" y="1270"/>
                  <a:pt x="6291" y="1168"/>
                  <a:pt x="6294" y="1066"/>
                </a:cubicBezTo>
                <a:cubicBezTo>
                  <a:pt x="6299" y="888"/>
                  <a:pt x="6312" y="712"/>
                  <a:pt x="6320" y="535"/>
                </a:cubicBezTo>
                <a:cubicBezTo>
                  <a:pt x="6325" y="427"/>
                  <a:pt x="6307" y="332"/>
                  <a:pt x="6294" y="227"/>
                </a:cubicBezTo>
                <a:cubicBezTo>
                  <a:pt x="6294" y="214"/>
                  <a:pt x="6294" y="210"/>
                  <a:pt x="6295" y="202"/>
                </a:cubicBezTo>
                <a:cubicBezTo>
                  <a:pt x="6296" y="228"/>
                  <a:pt x="6299" y="253"/>
                  <a:pt x="6299" y="279"/>
                </a:cubicBezTo>
                <a:cubicBezTo>
                  <a:pt x="6297" y="289"/>
                  <a:pt x="6296" y="292"/>
                  <a:pt x="6296" y="299"/>
                </a:cubicBezTo>
              </a:path>
              <a:path w="7466" h="8891" extrusionOk="0">
                <a:moveTo>
                  <a:pt x="6379" y="242"/>
                </a:moveTo>
                <a:cubicBezTo>
                  <a:pt x="6356" y="232"/>
                  <a:pt x="6341" y="224"/>
                  <a:pt x="6314" y="221"/>
                </a:cubicBezTo>
                <a:cubicBezTo>
                  <a:pt x="6294" y="219"/>
                  <a:pt x="6273" y="220"/>
                  <a:pt x="6253" y="221"/>
                </a:cubicBezTo>
                <a:cubicBezTo>
                  <a:pt x="6228" y="222"/>
                  <a:pt x="6203" y="226"/>
                  <a:pt x="6178" y="226"/>
                </a:cubicBezTo>
                <a:cubicBezTo>
                  <a:pt x="6119" y="226"/>
                  <a:pt x="6063" y="209"/>
                  <a:pt x="6005" y="204"/>
                </a:cubicBezTo>
                <a:cubicBezTo>
                  <a:pt x="5947" y="199"/>
                  <a:pt x="5889" y="209"/>
                  <a:pt x="5831" y="209"/>
                </a:cubicBezTo>
                <a:cubicBezTo>
                  <a:pt x="5791" y="209"/>
                  <a:pt x="5752" y="208"/>
                  <a:pt x="5712" y="208"/>
                </a:cubicBezTo>
                <a:cubicBezTo>
                  <a:pt x="5675" y="208"/>
                  <a:pt x="5640" y="206"/>
                  <a:pt x="5603" y="202"/>
                </a:cubicBezTo>
                <a:cubicBezTo>
                  <a:pt x="5552" y="197"/>
                  <a:pt x="5501" y="189"/>
                  <a:pt x="5449" y="187"/>
                </a:cubicBezTo>
                <a:cubicBezTo>
                  <a:pt x="5427" y="186"/>
                  <a:pt x="5405" y="190"/>
                  <a:pt x="5383" y="189"/>
                </a:cubicBezTo>
                <a:cubicBezTo>
                  <a:pt x="5352" y="187"/>
                  <a:pt x="5326" y="175"/>
                  <a:pt x="5296" y="170"/>
                </a:cubicBezTo>
                <a:cubicBezTo>
                  <a:pt x="5267" y="165"/>
                  <a:pt x="5244" y="171"/>
                  <a:pt x="5216" y="178"/>
                </a:cubicBezTo>
                <a:cubicBezTo>
                  <a:pt x="5201" y="182"/>
                  <a:pt x="5187" y="189"/>
                  <a:pt x="5172" y="191"/>
                </a:cubicBezTo>
                <a:cubicBezTo>
                  <a:pt x="5145" y="195"/>
                  <a:pt x="5124" y="186"/>
                  <a:pt x="5098" y="185"/>
                </a:cubicBezTo>
                <a:cubicBezTo>
                  <a:pt x="5075" y="184"/>
                  <a:pt x="5018" y="192"/>
                  <a:pt x="4998" y="204"/>
                </a:cubicBezTo>
                <a:cubicBezTo>
                  <a:pt x="4973" y="219"/>
                  <a:pt x="4979" y="213"/>
                  <a:pt x="4979" y="246"/>
                </a:cubicBezTo>
                <a:cubicBezTo>
                  <a:pt x="4978" y="305"/>
                  <a:pt x="4983" y="364"/>
                  <a:pt x="4980" y="424"/>
                </a:cubicBezTo>
                <a:cubicBezTo>
                  <a:pt x="4977" y="487"/>
                  <a:pt x="4972" y="549"/>
                  <a:pt x="4972" y="612"/>
                </a:cubicBezTo>
                <a:cubicBezTo>
                  <a:pt x="4972" y="617"/>
                  <a:pt x="4972" y="621"/>
                  <a:pt x="4972" y="626"/>
                </a:cubicBezTo>
                <a:cubicBezTo>
                  <a:pt x="4969" y="601"/>
                  <a:pt x="4970" y="597"/>
                  <a:pt x="4976" y="580"/>
                </a:cubicBezTo>
                <a:cubicBezTo>
                  <a:pt x="4975" y="566"/>
                  <a:pt x="4975" y="561"/>
                  <a:pt x="4985" y="555"/>
                </a:cubicBezTo>
              </a:path>
              <a:path w="7466" h="8891" extrusionOk="0">
                <a:moveTo>
                  <a:pt x="4899" y="553"/>
                </a:moveTo>
                <a:cubicBezTo>
                  <a:pt x="4872" y="550"/>
                  <a:pt x="4870" y="555"/>
                  <a:pt x="4878" y="583"/>
                </a:cubicBezTo>
                <a:cubicBezTo>
                  <a:pt x="4884" y="606"/>
                  <a:pt x="4898" y="628"/>
                  <a:pt x="4916" y="644"/>
                </a:cubicBezTo>
                <a:cubicBezTo>
                  <a:pt x="4935" y="661"/>
                  <a:pt x="4955" y="666"/>
                  <a:pt x="4980" y="666"/>
                </a:cubicBezTo>
                <a:cubicBezTo>
                  <a:pt x="5011" y="666"/>
                  <a:pt x="5037" y="652"/>
                  <a:pt x="5063" y="636"/>
                </a:cubicBezTo>
                <a:cubicBezTo>
                  <a:pt x="5097" y="616"/>
                  <a:pt x="5127" y="591"/>
                  <a:pt x="5156" y="565"/>
                </a:cubicBezTo>
                <a:cubicBezTo>
                  <a:pt x="5175" y="548"/>
                  <a:pt x="5192" y="533"/>
                  <a:pt x="5207" y="522"/>
                </a:cubicBezTo>
                <a:cubicBezTo>
                  <a:pt x="5221" y="515"/>
                  <a:pt x="5226" y="512"/>
                  <a:pt x="5230" y="501"/>
                </a:cubicBezTo>
              </a:path>
              <a:path w="7466" h="8891" extrusionOk="0">
                <a:moveTo>
                  <a:pt x="4378" y="7576"/>
                </a:moveTo>
                <a:cubicBezTo>
                  <a:pt x="4377" y="7613"/>
                  <a:pt x="4375" y="7652"/>
                  <a:pt x="4375" y="7690"/>
                </a:cubicBezTo>
                <a:cubicBezTo>
                  <a:pt x="4375" y="7843"/>
                  <a:pt x="4350" y="8000"/>
                  <a:pt x="4369" y="8152"/>
                </a:cubicBezTo>
                <a:cubicBezTo>
                  <a:pt x="4371" y="8166"/>
                  <a:pt x="4379" y="8183"/>
                  <a:pt x="4381" y="8198"/>
                </a:cubicBezTo>
                <a:cubicBezTo>
                  <a:pt x="4397" y="8198"/>
                  <a:pt x="4413" y="8182"/>
                  <a:pt x="4437" y="8185"/>
                </a:cubicBezTo>
                <a:cubicBezTo>
                  <a:pt x="4525" y="8196"/>
                  <a:pt x="4608" y="8225"/>
                  <a:pt x="4698" y="8219"/>
                </a:cubicBezTo>
                <a:cubicBezTo>
                  <a:pt x="4786" y="8213"/>
                  <a:pt x="4879" y="8197"/>
                  <a:pt x="4966" y="8188"/>
                </a:cubicBezTo>
                <a:cubicBezTo>
                  <a:pt x="5066" y="8177"/>
                  <a:pt x="5152" y="8150"/>
                  <a:pt x="5254" y="8151"/>
                </a:cubicBezTo>
                <a:cubicBezTo>
                  <a:pt x="5452" y="8154"/>
                  <a:pt x="5646" y="8146"/>
                  <a:pt x="5843" y="8163"/>
                </a:cubicBezTo>
                <a:cubicBezTo>
                  <a:pt x="5966" y="8173"/>
                  <a:pt x="6090" y="8182"/>
                  <a:pt x="6212" y="8200"/>
                </a:cubicBezTo>
                <a:cubicBezTo>
                  <a:pt x="6255" y="8206"/>
                  <a:pt x="6374" y="8260"/>
                  <a:pt x="6409" y="8245"/>
                </a:cubicBezTo>
                <a:cubicBezTo>
                  <a:pt x="6456" y="8225"/>
                  <a:pt x="6441" y="8176"/>
                  <a:pt x="6449" y="8134"/>
                </a:cubicBezTo>
                <a:cubicBezTo>
                  <a:pt x="6456" y="8100"/>
                  <a:pt x="6456" y="8062"/>
                  <a:pt x="6457" y="8027"/>
                </a:cubicBezTo>
                <a:cubicBezTo>
                  <a:pt x="6466" y="7764"/>
                  <a:pt x="6461" y="7489"/>
                  <a:pt x="6451" y="7226"/>
                </a:cubicBezTo>
                <a:cubicBezTo>
                  <a:pt x="6445" y="7057"/>
                  <a:pt x="6407" y="6890"/>
                  <a:pt x="6397" y="6720"/>
                </a:cubicBezTo>
                <a:cubicBezTo>
                  <a:pt x="6388" y="6564"/>
                  <a:pt x="6371" y="6410"/>
                  <a:pt x="6365" y="6254"/>
                </a:cubicBezTo>
                <a:cubicBezTo>
                  <a:pt x="6359" y="6086"/>
                  <a:pt x="6374" y="5920"/>
                  <a:pt x="6375" y="5753"/>
                </a:cubicBezTo>
                <a:cubicBezTo>
                  <a:pt x="6375" y="5717"/>
                  <a:pt x="6391" y="5628"/>
                  <a:pt x="6365" y="5602"/>
                </a:cubicBezTo>
                <a:cubicBezTo>
                  <a:pt x="6329" y="5566"/>
                  <a:pt x="6201" y="5563"/>
                  <a:pt x="6155" y="5562"/>
                </a:cubicBezTo>
                <a:cubicBezTo>
                  <a:pt x="6025" y="5560"/>
                  <a:pt x="5929" y="5578"/>
                  <a:pt x="5804" y="5559"/>
                </a:cubicBezTo>
                <a:cubicBezTo>
                  <a:pt x="5733" y="5548"/>
                  <a:pt x="5656" y="5558"/>
                  <a:pt x="5583" y="5554"/>
                </a:cubicBezTo>
                <a:cubicBezTo>
                  <a:pt x="5380" y="5544"/>
                  <a:pt x="5176" y="5586"/>
                  <a:pt x="4974" y="5572"/>
                </a:cubicBezTo>
                <a:cubicBezTo>
                  <a:pt x="4851" y="5563"/>
                  <a:pt x="4712" y="5576"/>
                  <a:pt x="4592" y="5550"/>
                </a:cubicBezTo>
                <a:cubicBezTo>
                  <a:pt x="4529" y="5536"/>
                  <a:pt x="4400" y="5456"/>
                  <a:pt x="4337" y="5471"/>
                </a:cubicBezTo>
                <a:cubicBezTo>
                  <a:pt x="4289" y="5482"/>
                  <a:pt x="4278" y="5511"/>
                  <a:pt x="4264" y="5554"/>
                </a:cubicBezTo>
                <a:cubicBezTo>
                  <a:pt x="4231" y="5661"/>
                  <a:pt x="4263" y="5804"/>
                  <a:pt x="4273" y="5913"/>
                </a:cubicBezTo>
                <a:cubicBezTo>
                  <a:pt x="4243" y="5886"/>
                  <a:pt x="4218" y="5868"/>
                  <a:pt x="4186" y="5846"/>
                </a:cubicBezTo>
              </a:path>
              <a:path w="7466" h="8891" extrusionOk="0">
                <a:moveTo>
                  <a:pt x="4134" y="5832"/>
                </a:moveTo>
                <a:cubicBezTo>
                  <a:pt x="4118" y="5821"/>
                  <a:pt x="4115" y="5814"/>
                  <a:pt x="4108" y="5795"/>
                </a:cubicBezTo>
                <a:cubicBezTo>
                  <a:pt x="4116" y="5813"/>
                  <a:pt x="4125" y="5830"/>
                  <a:pt x="4133" y="5848"/>
                </a:cubicBezTo>
                <a:cubicBezTo>
                  <a:pt x="4145" y="5873"/>
                  <a:pt x="4160" y="5896"/>
                  <a:pt x="4176" y="5919"/>
                </a:cubicBezTo>
                <a:cubicBezTo>
                  <a:pt x="4189" y="5938"/>
                  <a:pt x="4204" y="5955"/>
                  <a:pt x="4225" y="5965"/>
                </a:cubicBezTo>
                <a:cubicBezTo>
                  <a:pt x="4245" y="5974"/>
                  <a:pt x="4263" y="5971"/>
                  <a:pt x="4281" y="5957"/>
                </a:cubicBezTo>
                <a:cubicBezTo>
                  <a:pt x="4313" y="5932"/>
                  <a:pt x="4337" y="5896"/>
                  <a:pt x="4359" y="5863"/>
                </a:cubicBezTo>
                <a:cubicBezTo>
                  <a:pt x="4381" y="5831"/>
                  <a:pt x="4397" y="5795"/>
                  <a:pt x="4418" y="5762"/>
                </a:cubicBezTo>
                <a:cubicBezTo>
                  <a:pt x="4440" y="5727"/>
                  <a:pt x="4437" y="5763"/>
                  <a:pt x="4435" y="5781"/>
                </a:cubicBezTo>
              </a:path>
            </a:pathLst>
          </a:custGeom>
          <a:noFill/>
          <a:ln w="19050" cap="rnd"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976" name="Ink 5">
            <a:extLst>
              <a:ext uri="{FF2B5EF4-FFF2-40B4-BE49-F238E27FC236}">
                <a16:creationId xmlns:a16="http://schemas.microsoft.com/office/drawing/2014/main" id="{57803EA2-6F5E-8B4D-8090-BD3FED848EDE}"/>
              </a:ext>
            </a:extLst>
          </p:cNvPr>
          <p:cNvSpPr>
            <a:spLocks noRot="1" noChangeAspect="1" noEditPoints="1" noChangeArrowheads="1" noChangeShapeType="1" noTextEdit="1"/>
          </p:cNvSpPr>
          <p:nvPr/>
        </p:nvSpPr>
        <p:spPr bwMode="auto">
          <a:xfrm>
            <a:off x="831850" y="5448300"/>
            <a:ext cx="1341438" cy="250825"/>
          </a:xfrm>
          <a:custGeom>
            <a:avLst/>
            <a:gdLst>
              <a:gd name="T0" fmla="*/ 1328124 w 3728"/>
              <a:gd name="T1" fmla="*/ 5426061 h 700"/>
              <a:gd name="T2" fmla="*/ 1321647 w 3728"/>
              <a:gd name="T3" fmla="*/ 5434303 h 700"/>
              <a:gd name="T4" fmla="*/ 1318049 w 3728"/>
              <a:gd name="T5" fmla="*/ 5463327 h 700"/>
              <a:gd name="T6" fmla="*/ 1315171 w 3728"/>
              <a:gd name="T7" fmla="*/ 5507042 h 700"/>
              <a:gd name="T8" fmla="*/ 1315530 w 3728"/>
              <a:gd name="T9" fmla="*/ 5547174 h 700"/>
              <a:gd name="T10" fmla="*/ 1317689 w 3728"/>
              <a:gd name="T11" fmla="*/ 5577990 h 700"/>
              <a:gd name="T12" fmla="*/ 1319129 w 3728"/>
              <a:gd name="T13" fmla="*/ 5598056 h 700"/>
              <a:gd name="T14" fmla="*/ 1320928 w 3728"/>
              <a:gd name="T15" fmla="*/ 5619913 h 700"/>
              <a:gd name="T16" fmla="*/ 1319848 w 3728"/>
              <a:gd name="T17" fmla="*/ 5640696 h 700"/>
              <a:gd name="T18" fmla="*/ 1318769 w 3728"/>
              <a:gd name="T19" fmla="*/ 5663270 h 700"/>
              <a:gd name="T20" fmla="*/ 1319848 w 3728"/>
              <a:gd name="T21" fmla="*/ 5672945 h 700"/>
              <a:gd name="T22" fmla="*/ 1324166 w 3728"/>
              <a:gd name="T23" fmla="*/ 5653954 h 700"/>
              <a:gd name="T24" fmla="*/ 1323087 w 3728"/>
              <a:gd name="T25" fmla="*/ 5636396 h 700"/>
              <a:gd name="T26" fmla="*/ 1341078 w 3728"/>
              <a:gd name="T27" fmla="*/ 5668287 h 700"/>
              <a:gd name="T28" fmla="*/ 1318769 w 3728"/>
              <a:gd name="T29" fmla="*/ 5663987 h 700"/>
              <a:gd name="T30" fmla="*/ 1170520 w 3728"/>
              <a:gd name="T31" fmla="*/ 5625646 h 700"/>
              <a:gd name="T32" fmla="*/ 965418 w 3728"/>
              <a:gd name="T33" fmla="*/ 5634246 h 700"/>
              <a:gd name="T34" fmla="*/ 849553 w 3728"/>
              <a:gd name="T35" fmla="*/ 5623497 h 700"/>
              <a:gd name="T36" fmla="*/ 618544 w 3728"/>
              <a:gd name="T37" fmla="*/ 5612747 h 700"/>
              <a:gd name="T38" fmla="*/ 459500 w 3728"/>
              <a:gd name="T39" fmla="*/ 5620988 h 700"/>
              <a:gd name="T40" fmla="*/ 301536 w 3728"/>
              <a:gd name="T41" fmla="*/ 5618122 h 700"/>
              <a:gd name="T42" fmla="*/ 150408 w 3728"/>
              <a:gd name="T43" fmla="*/ 5600564 h 700"/>
              <a:gd name="T44" fmla="*/ 73045 w 3728"/>
              <a:gd name="T45" fmla="*/ 5597697 h 700"/>
              <a:gd name="T46" fmla="*/ 0 w 3728"/>
              <a:gd name="T47" fmla="*/ 5593398 h 700"/>
              <a:gd name="T48" fmla="*/ 12234 w 3728"/>
              <a:gd name="T49" fmla="*/ 5579423 h 70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728" h="700" extrusionOk="0">
                <a:moveTo>
                  <a:pt x="3691" y="10"/>
                </a:moveTo>
                <a:cubicBezTo>
                  <a:pt x="3675" y="6"/>
                  <a:pt x="3679" y="7"/>
                  <a:pt x="3673" y="33"/>
                </a:cubicBezTo>
                <a:cubicBezTo>
                  <a:pt x="3667" y="58"/>
                  <a:pt x="3666" y="88"/>
                  <a:pt x="3663" y="114"/>
                </a:cubicBezTo>
                <a:cubicBezTo>
                  <a:pt x="3659" y="155"/>
                  <a:pt x="3656" y="195"/>
                  <a:pt x="3655" y="236"/>
                </a:cubicBezTo>
                <a:cubicBezTo>
                  <a:pt x="3654" y="273"/>
                  <a:pt x="3653" y="311"/>
                  <a:pt x="3656" y="348"/>
                </a:cubicBezTo>
                <a:cubicBezTo>
                  <a:pt x="3658" y="377"/>
                  <a:pt x="3659" y="405"/>
                  <a:pt x="3662" y="434"/>
                </a:cubicBezTo>
                <a:cubicBezTo>
                  <a:pt x="3664" y="452"/>
                  <a:pt x="3663" y="472"/>
                  <a:pt x="3666" y="490"/>
                </a:cubicBezTo>
                <a:cubicBezTo>
                  <a:pt x="3670" y="510"/>
                  <a:pt x="3672" y="530"/>
                  <a:pt x="3671" y="551"/>
                </a:cubicBezTo>
                <a:cubicBezTo>
                  <a:pt x="3670" y="570"/>
                  <a:pt x="3669" y="590"/>
                  <a:pt x="3668" y="609"/>
                </a:cubicBezTo>
                <a:cubicBezTo>
                  <a:pt x="3667" y="630"/>
                  <a:pt x="3665" y="651"/>
                  <a:pt x="3665" y="672"/>
                </a:cubicBezTo>
                <a:cubicBezTo>
                  <a:pt x="3666" y="686"/>
                  <a:pt x="3666" y="690"/>
                  <a:pt x="3668" y="699"/>
                </a:cubicBezTo>
                <a:cubicBezTo>
                  <a:pt x="3673" y="682"/>
                  <a:pt x="3683" y="670"/>
                  <a:pt x="3680" y="646"/>
                </a:cubicBezTo>
                <a:cubicBezTo>
                  <a:pt x="3673" y="619"/>
                  <a:pt x="3669" y="613"/>
                  <a:pt x="3677" y="597"/>
                </a:cubicBezTo>
              </a:path>
              <a:path w="3728" h="700" extrusionOk="0">
                <a:moveTo>
                  <a:pt x="3727" y="686"/>
                </a:moveTo>
                <a:cubicBezTo>
                  <a:pt x="3707" y="682"/>
                  <a:pt x="3686" y="678"/>
                  <a:pt x="3665" y="674"/>
                </a:cubicBezTo>
                <a:cubicBezTo>
                  <a:pt x="3528" y="647"/>
                  <a:pt x="3390" y="581"/>
                  <a:pt x="3253" y="567"/>
                </a:cubicBezTo>
                <a:cubicBezTo>
                  <a:pt x="3068" y="548"/>
                  <a:pt x="2873" y="602"/>
                  <a:pt x="2683" y="591"/>
                </a:cubicBezTo>
                <a:cubicBezTo>
                  <a:pt x="2572" y="585"/>
                  <a:pt x="2471" y="583"/>
                  <a:pt x="2361" y="561"/>
                </a:cubicBezTo>
                <a:cubicBezTo>
                  <a:pt x="2139" y="517"/>
                  <a:pt x="1944" y="513"/>
                  <a:pt x="1719" y="531"/>
                </a:cubicBezTo>
                <a:cubicBezTo>
                  <a:pt x="1571" y="543"/>
                  <a:pt x="1425" y="536"/>
                  <a:pt x="1277" y="554"/>
                </a:cubicBezTo>
                <a:cubicBezTo>
                  <a:pt x="1126" y="572"/>
                  <a:pt x="989" y="561"/>
                  <a:pt x="838" y="546"/>
                </a:cubicBezTo>
                <a:cubicBezTo>
                  <a:pt x="695" y="532"/>
                  <a:pt x="559" y="517"/>
                  <a:pt x="418" y="497"/>
                </a:cubicBezTo>
                <a:cubicBezTo>
                  <a:pt x="348" y="487"/>
                  <a:pt x="274" y="493"/>
                  <a:pt x="203" y="489"/>
                </a:cubicBezTo>
                <a:cubicBezTo>
                  <a:pt x="134" y="485"/>
                  <a:pt x="63" y="484"/>
                  <a:pt x="0" y="477"/>
                </a:cubicBezTo>
                <a:cubicBezTo>
                  <a:pt x="14" y="461"/>
                  <a:pt x="18" y="456"/>
                  <a:pt x="34" y="438"/>
                </a:cubicBezTo>
              </a:path>
            </a:pathLst>
          </a:custGeom>
          <a:noFill/>
          <a:ln w="19050" cap="rnd"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977" name="Ink 6">
            <a:extLst>
              <a:ext uri="{FF2B5EF4-FFF2-40B4-BE49-F238E27FC236}">
                <a16:creationId xmlns:a16="http://schemas.microsoft.com/office/drawing/2014/main" id="{A22926BB-B45C-3E4A-A62E-8E6D421BD99A}"/>
              </a:ext>
            </a:extLst>
          </p:cNvPr>
          <p:cNvSpPr>
            <a:spLocks noRot="1" noChangeAspect="1" noEditPoints="1" noChangeArrowheads="1" noChangeShapeType="1" noTextEdit="1"/>
          </p:cNvSpPr>
          <p:nvPr/>
        </p:nvSpPr>
        <p:spPr bwMode="auto">
          <a:xfrm>
            <a:off x="1279525" y="3657600"/>
            <a:ext cx="914400" cy="1058863"/>
          </a:xfrm>
          <a:custGeom>
            <a:avLst/>
            <a:gdLst>
              <a:gd name="T0" fmla="*/ 913680 w 2540"/>
              <a:gd name="T1" fmla="*/ 4496660 h 2943"/>
              <a:gd name="T2" fmla="*/ 903960 w 2540"/>
              <a:gd name="T3" fmla="*/ 4493781 h 2943"/>
              <a:gd name="T4" fmla="*/ 900360 w 2540"/>
              <a:gd name="T5" fmla="*/ 4519686 h 2943"/>
              <a:gd name="T6" fmla="*/ 913680 w 2540"/>
              <a:gd name="T7" fmla="*/ 4705698 h 2943"/>
              <a:gd name="T8" fmla="*/ 912600 w 2540"/>
              <a:gd name="T9" fmla="*/ 4713254 h 2943"/>
              <a:gd name="T10" fmla="*/ 873000 w 2540"/>
              <a:gd name="T11" fmla="*/ 4701021 h 2943"/>
              <a:gd name="T12" fmla="*/ 748080 w 2540"/>
              <a:gd name="T13" fmla="*/ 4680872 h 2943"/>
              <a:gd name="T14" fmla="*/ 578160 w 2540"/>
              <a:gd name="T15" fmla="*/ 4694185 h 2943"/>
              <a:gd name="T16" fmla="*/ 441720 w 2540"/>
              <a:gd name="T17" fmla="*/ 4674036 h 2943"/>
              <a:gd name="T18" fmla="*/ 338400 w 2540"/>
              <a:gd name="T19" fmla="*/ 4654968 h 2943"/>
              <a:gd name="T20" fmla="*/ 199080 w 2540"/>
              <a:gd name="T21" fmla="*/ 4665042 h 2943"/>
              <a:gd name="T22" fmla="*/ 95400 w 2540"/>
              <a:gd name="T23" fmla="*/ 4657486 h 2943"/>
              <a:gd name="T24" fmla="*/ 4680 w 2540"/>
              <a:gd name="T25" fmla="*/ 4652089 h 2943"/>
              <a:gd name="T26" fmla="*/ 0 w 2540"/>
              <a:gd name="T27" fmla="*/ 4651010 h 2943"/>
              <a:gd name="T28" fmla="*/ 23760 w 2540"/>
              <a:gd name="T29" fmla="*/ 4643094 h 2943"/>
              <a:gd name="T30" fmla="*/ 5040 w 2540"/>
              <a:gd name="T31" fmla="*/ 4675476 h 2943"/>
              <a:gd name="T32" fmla="*/ 6840 w 2540"/>
              <a:gd name="T33" fmla="*/ 4662523 h 2943"/>
              <a:gd name="T34" fmla="*/ 8280 w 2540"/>
              <a:gd name="T35" fmla="*/ 4623666 h 2943"/>
              <a:gd name="T36" fmla="*/ 13680 w 2540"/>
              <a:gd name="T37" fmla="*/ 4353463 h 2943"/>
              <a:gd name="T38" fmla="*/ 28800 w 2540"/>
              <a:gd name="T39" fmla="*/ 4029292 h 2943"/>
              <a:gd name="T40" fmla="*/ 38520 w 2540"/>
              <a:gd name="T41" fmla="*/ 3916678 h 2943"/>
              <a:gd name="T42" fmla="*/ 55440 w 2540"/>
              <a:gd name="T43" fmla="*/ 3783915 h 2943"/>
              <a:gd name="T44" fmla="*/ 65520 w 2540"/>
              <a:gd name="T45" fmla="*/ 3722391 h 2943"/>
              <a:gd name="T46" fmla="*/ 145440 w 2540"/>
              <a:gd name="T47" fmla="*/ 3717354 h 2943"/>
              <a:gd name="T48" fmla="*/ 255600 w 2540"/>
              <a:gd name="T49" fmla="*/ 3722031 h 2943"/>
              <a:gd name="T50" fmla="*/ 347040 w 2540"/>
              <a:gd name="T51" fmla="*/ 3706560 h 2943"/>
              <a:gd name="T52" fmla="*/ 376560 w 2540"/>
              <a:gd name="T53" fmla="*/ 3698645 h 2943"/>
              <a:gd name="T54" fmla="*/ 475920 w 2540"/>
              <a:gd name="T55" fmla="*/ 3680655 h 2943"/>
              <a:gd name="T56" fmla="*/ 623160 w 2540"/>
              <a:gd name="T57" fmla="*/ 3660507 h 2943"/>
              <a:gd name="T58" fmla="*/ 698400 w 2540"/>
              <a:gd name="T59" fmla="*/ 3657269 h 2943"/>
              <a:gd name="T60" fmla="*/ 743400 w 2540"/>
              <a:gd name="T61" fmla="*/ 3674179 h 2943"/>
              <a:gd name="T62" fmla="*/ 749880 w 2540"/>
              <a:gd name="T63" fmla="*/ 3814857 h 2943"/>
              <a:gd name="T64" fmla="*/ 739080 w 2540"/>
              <a:gd name="T65" fmla="*/ 3781397 h 2943"/>
              <a:gd name="T66" fmla="*/ 704880 w 2540"/>
              <a:gd name="T67" fmla="*/ 3774920 h 2943"/>
              <a:gd name="T68" fmla="*/ 699120 w 2540"/>
              <a:gd name="T69" fmla="*/ 3790751 h 2943"/>
              <a:gd name="T70" fmla="*/ 716400 w 2540"/>
              <a:gd name="T71" fmla="*/ 3826011 h 2943"/>
              <a:gd name="T72" fmla="*/ 738720 w 2540"/>
              <a:gd name="T73" fmla="*/ 3845799 h 2943"/>
              <a:gd name="T74" fmla="*/ 760680 w 2540"/>
              <a:gd name="T75" fmla="*/ 3830688 h 2943"/>
              <a:gd name="T76" fmla="*/ 779400 w 2540"/>
              <a:gd name="T77" fmla="*/ 3793629 h 2943"/>
              <a:gd name="T78" fmla="*/ 794160 w 2540"/>
              <a:gd name="T79" fmla="*/ 3763407 h 2943"/>
              <a:gd name="T80" fmla="*/ 799560 w 2540"/>
              <a:gd name="T81" fmla="*/ 3747576 h 294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540" h="2943" extrusionOk="0">
                <a:moveTo>
                  <a:pt x="2538" y="2340"/>
                </a:moveTo>
                <a:cubicBezTo>
                  <a:pt x="2526" y="2330"/>
                  <a:pt x="2522" y="2326"/>
                  <a:pt x="2511" y="2332"/>
                </a:cubicBezTo>
                <a:cubicBezTo>
                  <a:pt x="2508" y="2355"/>
                  <a:pt x="2502" y="2378"/>
                  <a:pt x="2501" y="2404"/>
                </a:cubicBezTo>
                <a:cubicBezTo>
                  <a:pt x="2498" y="2578"/>
                  <a:pt x="2538" y="2749"/>
                  <a:pt x="2538" y="2921"/>
                </a:cubicBezTo>
                <a:cubicBezTo>
                  <a:pt x="2537" y="2931"/>
                  <a:pt x="2537" y="2935"/>
                  <a:pt x="2535" y="2942"/>
                </a:cubicBezTo>
                <a:cubicBezTo>
                  <a:pt x="2498" y="2929"/>
                  <a:pt x="2464" y="2916"/>
                  <a:pt x="2425" y="2908"/>
                </a:cubicBezTo>
                <a:cubicBezTo>
                  <a:pt x="2313" y="2886"/>
                  <a:pt x="2192" y="2856"/>
                  <a:pt x="2078" y="2852"/>
                </a:cubicBezTo>
                <a:cubicBezTo>
                  <a:pt x="1921" y="2847"/>
                  <a:pt x="1762" y="2904"/>
                  <a:pt x="1606" y="2889"/>
                </a:cubicBezTo>
                <a:cubicBezTo>
                  <a:pt x="1482" y="2877"/>
                  <a:pt x="1350" y="2854"/>
                  <a:pt x="1227" y="2833"/>
                </a:cubicBezTo>
                <a:cubicBezTo>
                  <a:pt x="1129" y="2817"/>
                  <a:pt x="1041" y="2779"/>
                  <a:pt x="940" y="2780"/>
                </a:cubicBezTo>
                <a:cubicBezTo>
                  <a:pt x="810" y="2782"/>
                  <a:pt x="682" y="2803"/>
                  <a:pt x="553" y="2808"/>
                </a:cubicBezTo>
                <a:cubicBezTo>
                  <a:pt x="456" y="2812"/>
                  <a:pt x="363" y="2783"/>
                  <a:pt x="265" y="2787"/>
                </a:cubicBezTo>
                <a:cubicBezTo>
                  <a:pt x="170" y="2791"/>
                  <a:pt x="103" y="2797"/>
                  <a:pt x="13" y="2772"/>
                </a:cubicBezTo>
                <a:cubicBezTo>
                  <a:pt x="9" y="2771"/>
                  <a:pt x="4" y="2770"/>
                  <a:pt x="0" y="2769"/>
                </a:cubicBezTo>
                <a:cubicBezTo>
                  <a:pt x="27" y="2761"/>
                  <a:pt x="41" y="2758"/>
                  <a:pt x="66" y="2747"/>
                </a:cubicBezTo>
              </a:path>
              <a:path w="2540" h="2943" extrusionOk="0">
                <a:moveTo>
                  <a:pt x="14" y="2837"/>
                </a:moveTo>
                <a:cubicBezTo>
                  <a:pt x="15" y="2819"/>
                  <a:pt x="18" y="2825"/>
                  <a:pt x="19" y="2801"/>
                </a:cubicBezTo>
                <a:cubicBezTo>
                  <a:pt x="21" y="2766"/>
                  <a:pt x="21" y="2729"/>
                  <a:pt x="23" y="2693"/>
                </a:cubicBezTo>
                <a:cubicBezTo>
                  <a:pt x="35" y="2442"/>
                  <a:pt x="15" y="2194"/>
                  <a:pt x="38" y="1942"/>
                </a:cubicBezTo>
                <a:cubicBezTo>
                  <a:pt x="66" y="1642"/>
                  <a:pt x="52" y="1341"/>
                  <a:pt x="80" y="1041"/>
                </a:cubicBezTo>
                <a:cubicBezTo>
                  <a:pt x="90" y="937"/>
                  <a:pt x="97" y="832"/>
                  <a:pt x="107" y="728"/>
                </a:cubicBezTo>
                <a:cubicBezTo>
                  <a:pt x="119" y="605"/>
                  <a:pt x="147" y="482"/>
                  <a:pt x="154" y="359"/>
                </a:cubicBezTo>
                <a:cubicBezTo>
                  <a:pt x="157" y="308"/>
                  <a:pt x="137" y="216"/>
                  <a:pt x="182" y="188"/>
                </a:cubicBezTo>
                <a:cubicBezTo>
                  <a:pt x="223" y="162"/>
                  <a:pt x="354" y="171"/>
                  <a:pt x="404" y="174"/>
                </a:cubicBezTo>
                <a:cubicBezTo>
                  <a:pt x="503" y="179"/>
                  <a:pt x="612" y="193"/>
                  <a:pt x="710" y="187"/>
                </a:cubicBezTo>
                <a:cubicBezTo>
                  <a:pt x="792" y="182"/>
                  <a:pt x="884" y="161"/>
                  <a:pt x="964" y="144"/>
                </a:cubicBezTo>
                <a:cubicBezTo>
                  <a:pt x="992" y="138"/>
                  <a:pt x="1018" y="129"/>
                  <a:pt x="1046" y="122"/>
                </a:cubicBezTo>
                <a:cubicBezTo>
                  <a:pt x="1139" y="97"/>
                  <a:pt x="1228" y="90"/>
                  <a:pt x="1322" y="72"/>
                </a:cubicBezTo>
                <a:cubicBezTo>
                  <a:pt x="1458" y="47"/>
                  <a:pt x="1594" y="37"/>
                  <a:pt x="1731" y="16"/>
                </a:cubicBezTo>
                <a:cubicBezTo>
                  <a:pt x="1803" y="5"/>
                  <a:pt x="1867" y="-1"/>
                  <a:pt x="1940" y="7"/>
                </a:cubicBezTo>
                <a:cubicBezTo>
                  <a:pt x="1989" y="12"/>
                  <a:pt x="2047" y="9"/>
                  <a:pt x="2065" y="54"/>
                </a:cubicBezTo>
                <a:cubicBezTo>
                  <a:pt x="2099" y="143"/>
                  <a:pt x="2070" y="342"/>
                  <a:pt x="2083" y="445"/>
                </a:cubicBezTo>
                <a:cubicBezTo>
                  <a:pt x="2073" y="414"/>
                  <a:pt x="2063" y="383"/>
                  <a:pt x="2053" y="352"/>
                </a:cubicBezTo>
              </a:path>
              <a:path w="2540" h="2943" extrusionOk="0">
                <a:moveTo>
                  <a:pt x="1958" y="334"/>
                </a:moveTo>
                <a:cubicBezTo>
                  <a:pt x="1940" y="347"/>
                  <a:pt x="1937" y="356"/>
                  <a:pt x="1942" y="378"/>
                </a:cubicBezTo>
                <a:cubicBezTo>
                  <a:pt x="1950" y="412"/>
                  <a:pt x="1971" y="446"/>
                  <a:pt x="1990" y="476"/>
                </a:cubicBezTo>
                <a:cubicBezTo>
                  <a:pt x="2004" y="498"/>
                  <a:pt x="2023" y="528"/>
                  <a:pt x="2052" y="531"/>
                </a:cubicBezTo>
                <a:cubicBezTo>
                  <a:pt x="2083" y="534"/>
                  <a:pt x="2097" y="511"/>
                  <a:pt x="2113" y="489"/>
                </a:cubicBezTo>
                <a:cubicBezTo>
                  <a:pt x="2137" y="457"/>
                  <a:pt x="2151" y="424"/>
                  <a:pt x="2165" y="386"/>
                </a:cubicBezTo>
                <a:cubicBezTo>
                  <a:pt x="2173" y="365"/>
                  <a:pt x="2204" y="315"/>
                  <a:pt x="2206" y="302"/>
                </a:cubicBezTo>
                <a:cubicBezTo>
                  <a:pt x="2209" y="276"/>
                  <a:pt x="2198" y="271"/>
                  <a:pt x="2221" y="258"/>
                </a:cubicBezTo>
              </a:path>
            </a:pathLst>
          </a:custGeom>
          <a:noFill/>
          <a:ln w="19050" cap="rnd"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978" name="Ink 7">
            <a:extLst>
              <a:ext uri="{FF2B5EF4-FFF2-40B4-BE49-F238E27FC236}">
                <a16:creationId xmlns:a16="http://schemas.microsoft.com/office/drawing/2014/main" id="{C4C7C45F-8007-604C-9E0E-1A8FD8126491}"/>
              </a:ext>
            </a:extLst>
          </p:cNvPr>
          <p:cNvSpPr>
            <a:spLocks noRot="1" noChangeAspect="1" noEditPoints="1" noChangeArrowheads="1" noChangeShapeType="1" noTextEdit="1"/>
          </p:cNvSpPr>
          <p:nvPr/>
        </p:nvSpPr>
        <p:spPr bwMode="auto">
          <a:xfrm>
            <a:off x="2106613" y="2778125"/>
            <a:ext cx="134937" cy="158750"/>
          </a:xfrm>
          <a:custGeom>
            <a:avLst/>
            <a:gdLst>
              <a:gd name="T0" fmla="*/ 30107 w 372"/>
              <a:gd name="T1" fmla="*/ 2774893 h 442"/>
              <a:gd name="T2" fmla="*/ 27205 w 372"/>
              <a:gd name="T3" fmla="*/ 2776329 h 442"/>
              <a:gd name="T4" fmla="*/ 23215 w 372"/>
              <a:gd name="T5" fmla="*/ 2772378 h 442"/>
              <a:gd name="T6" fmla="*/ 59126 w 372"/>
              <a:gd name="T7" fmla="*/ 2885156 h 442"/>
              <a:gd name="T8" fmla="*/ 52596 w 372"/>
              <a:gd name="T9" fmla="*/ 2890184 h 442"/>
              <a:gd name="T10" fmla="*/ 58400 w 372"/>
              <a:gd name="T11" fmla="*/ 2885515 h 442"/>
              <a:gd name="T12" fmla="*/ 1088 w 372"/>
              <a:gd name="T13" fmla="*/ 2861451 h 442"/>
              <a:gd name="T14" fmla="*/ 6529 w 372"/>
              <a:gd name="T15" fmla="*/ 2881205 h 442"/>
              <a:gd name="T16" fmla="*/ 20313 w 372"/>
              <a:gd name="T17" fmla="*/ 2910297 h 442"/>
              <a:gd name="T18" fmla="*/ 38087 w 372"/>
              <a:gd name="T19" fmla="*/ 2929692 h 442"/>
              <a:gd name="T20" fmla="*/ 60214 w 372"/>
              <a:gd name="T21" fmla="*/ 2918199 h 442"/>
              <a:gd name="T22" fmla="*/ 96850 w 372"/>
              <a:gd name="T23" fmla="*/ 2875099 h 442"/>
              <a:gd name="T24" fmla="*/ 125143 w 372"/>
              <a:gd name="T25" fmla="*/ 2852472 h 442"/>
              <a:gd name="T26" fmla="*/ 134574 w 372"/>
              <a:gd name="T27" fmla="*/ 2843852 h 442"/>
              <a:gd name="T28" fmla="*/ 71459 w 372"/>
              <a:gd name="T29" fmla="*/ 2843133 h 442"/>
              <a:gd name="T30" fmla="*/ 75449 w 372"/>
              <a:gd name="T31" fmla="*/ 2840619 h 442"/>
              <a:gd name="T32" fmla="*/ 62027 w 372"/>
              <a:gd name="T33" fmla="*/ 2829844 h 442"/>
              <a:gd name="T34" fmla="*/ 60214 w 372"/>
              <a:gd name="T35" fmla="*/ 2820865 h 44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72" h="442" extrusionOk="0">
                <a:moveTo>
                  <a:pt x="83" y="10"/>
                </a:moveTo>
                <a:cubicBezTo>
                  <a:pt x="84" y="0"/>
                  <a:pt x="67" y="-5"/>
                  <a:pt x="75" y="14"/>
                </a:cubicBezTo>
                <a:cubicBezTo>
                  <a:pt x="71" y="10"/>
                  <a:pt x="68" y="7"/>
                  <a:pt x="64" y="3"/>
                </a:cubicBezTo>
              </a:path>
              <a:path w="372" h="442" extrusionOk="0">
                <a:moveTo>
                  <a:pt x="163" y="317"/>
                </a:moveTo>
                <a:cubicBezTo>
                  <a:pt x="156" y="327"/>
                  <a:pt x="154" y="330"/>
                  <a:pt x="145" y="331"/>
                </a:cubicBezTo>
                <a:cubicBezTo>
                  <a:pt x="149" y="316"/>
                  <a:pt x="147" y="320"/>
                  <a:pt x="161" y="318"/>
                </a:cubicBezTo>
              </a:path>
              <a:path w="372" h="442" extrusionOk="0">
                <a:moveTo>
                  <a:pt x="3" y="251"/>
                </a:moveTo>
                <a:cubicBezTo>
                  <a:pt x="2" y="273"/>
                  <a:pt x="10" y="285"/>
                  <a:pt x="18" y="306"/>
                </a:cubicBezTo>
                <a:cubicBezTo>
                  <a:pt x="29" y="334"/>
                  <a:pt x="41" y="361"/>
                  <a:pt x="56" y="387"/>
                </a:cubicBezTo>
                <a:cubicBezTo>
                  <a:pt x="67" y="405"/>
                  <a:pt x="82" y="435"/>
                  <a:pt x="105" y="441"/>
                </a:cubicBezTo>
                <a:cubicBezTo>
                  <a:pt x="130" y="448"/>
                  <a:pt x="151" y="425"/>
                  <a:pt x="166" y="409"/>
                </a:cubicBezTo>
                <a:cubicBezTo>
                  <a:pt x="201" y="371"/>
                  <a:pt x="235" y="330"/>
                  <a:pt x="267" y="289"/>
                </a:cubicBezTo>
                <a:cubicBezTo>
                  <a:pt x="289" y="261"/>
                  <a:pt x="327" y="250"/>
                  <a:pt x="345" y="226"/>
                </a:cubicBezTo>
                <a:cubicBezTo>
                  <a:pt x="351" y="206"/>
                  <a:pt x="353" y="200"/>
                  <a:pt x="371" y="202"/>
                </a:cubicBezTo>
              </a:path>
              <a:path w="372" h="442" extrusionOk="0">
                <a:moveTo>
                  <a:pt x="197" y="200"/>
                </a:moveTo>
                <a:cubicBezTo>
                  <a:pt x="201" y="198"/>
                  <a:pt x="204" y="195"/>
                  <a:pt x="208" y="193"/>
                </a:cubicBezTo>
                <a:cubicBezTo>
                  <a:pt x="195" y="182"/>
                  <a:pt x="174" y="178"/>
                  <a:pt x="171" y="163"/>
                </a:cubicBezTo>
                <a:cubicBezTo>
                  <a:pt x="171" y="150"/>
                  <a:pt x="171" y="146"/>
                  <a:pt x="166" y="138"/>
                </a:cubicBezTo>
              </a:path>
            </a:pathLst>
          </a:custGeom>
          <a:noFill/>
          <a:ln w="19050" cap="rnd"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979" name="Ink 8">
            <a:extLst>
              <a:ext uri="{FF2B5EF4-FFF2-40B4-BE49-F238E27FC236}">
                <a16:creationId xmlns:a16="http://schemas.microsoft.com/office/drawing/2014/main" id="{09843527-30DC-0448-A0EE-FC7A8FCFB469}"/>
              </a:ext>
            </a:extLst>
          </p:cNvPr>
          <p:cNvSpPr>
            <a:spLocks noRot="1" noChangeAspect="1" noEditPoints="1" noChangeArrowheads="1" noChangeShapeType="1" noTextEdit="1"/>
          </p:cNvSpPr>
          <p:nvPr/>
        </p:nvSpPr>
        <p:spPr bwMode="auto">
          <a:xfrm>
            <a:off x="2138363" y="5919788"/>
            <a:ext cx="44450" cy="7937"/>
          </a:xfrm>
          <a:custGeom>
            <a:avLst/>
            <a:gdLst>
              <a:gd name="T0" fmla="*/ 38850 w 127"/>
              <a:gd name="T1" fmla="*/ 5681167 h 23"/>
              <a:gd name="T2" fmla="*/ 41300 w 127"/>
              <a:gd name="T3" fmla="*/ 5677716 h 23"/>
              <a:gd name="T4" fmla="*/ 31150 w 127"/>
              <a:gd name="T5" fmla="*/ 5680131 h 23"/>
              <a:gd name="T6" fmla="*/ 19600 w 127"/>
              <a:gd name="T7" fmla="*/ 5678406 h 23"/>
              <a:gd name="T8" fmla="*/ 0 w 127"/>
              <a:gd name="T9" fmla="*/ 5678406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7" h="23" extrusionOk="0">
                <a:moveTo>
                  <a:pt x="111" y="19"/>
                </a:moveTo>
                <a:cubicBezTo>
                  <a:pt x="126" y="22"/>
                  <a:pt x="131" y="23"/>
                  <a:pt x="118" y="9"/>
                </a:cubicBezTo>
                <a:cubicBezTo>
                  <a:pt x="123" y="29"/>
                  <a:pt x="112" y="21"/>
                  <a:pt x="89" y="16"/>
                </a:cubicBezTo>
                <a:cubicBezTo>
                  <a:pt x="73" y="13"/>
                  <a:pt x="72" y="16"/>
                  <a:pt x="56" y="11"/>
                </a:cubicBezTo>
                <a:cubicBezTo>
                  <a:pt x="32" y="4"/>
                  <a:pt x="25" y="1"/>
                  <a:pt x="0" y="11"/>
                </a:cubicBezTo>
              </a:path>
            </a:pathLst>
          </a:custGeom>
          <a:noFill/>
          <a:ln w="19050" cap="rnd"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980" name="Ink 9">
            <a:extLst>
              <a:ext uri="{FF2B5EF4-FFF2-40B4-BE49-F238E27FC236}">
                <a16:creationId xmlns:a16="http://schemas.microsoft.com/office/drawing/2014/main" id="{6FCE7F4C-A207-CB46-B0C6-5B77B1AAD830}"/>
              </a:ext>
            </a:extLst>
          </p:cNvPr>
          <p:cNvSpPr>
            <a:spLocks noRot="1" noChangeAspect="1" noEditPoints="1" noChangeArrowheads="1" noChangeShapeType="1" noTextEdit="1"/>
          </p:cNvSpPr>
          <p:nvPr/>
        </p:nvSpPr>
        <p:spPr bwMode="auto">
          <a:xfrm>
            <a:off x="1911350" y="5934075"/>
            <a:ext cx="46038" cy="33338"/>
          </a:xfrm>
          <a:custGeom>
            <a:avLst/>
            <a:gdLst>
              <a:gd name="T0" fmla="*/ 45678 w 128"/>
              <a:gd name="T1" fmla="*/ 5999753 h 92"/>
              <a:gd name="T2" fmla="*/ 44959 w 128"/>
              <a:gd name="T3" fmla="*/ 6003739 h 92"/>
              <a:gd name="T4" fmla="*/ 29853 w 128"/>
              <a:gd name="T5" fmla="*/ 6004826 h 92"/>
              <a:gd name="T6" fmla="*/ 15106 w 128"/>
              <a:gd name="T7" fmla="*/ 5992143 h 92"/>
              <a:gd name="T8" fmla="*/ 0 w 128"/>
              <a:gd name="T9" fmla="*/ 5972938 h 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8" h="92" extrusionOk="0">
                <a:moveTo>
                  <a:pt x="127" y="74"/>
                </a:moveTo>
                <a:cubicBezTo>
                  <a:pt x="126" y="78"/>
                  <a:pt x="126" y="81"/>
                  <a:pt x="125" y="85"/>
                </a:cubicBezTo>
                <a:cubicBezTo>
                  <a:pt x="105" y="84"/>
                  <a:pt x="107" y="92"/>
                  <a:pt x="83" y="88"/>
                </a:cubicBezTo>
                <a:cubicBezTo>
                  <a:pt x="64" y="85"/>
                  <a:pt x="53" y="67"/>
                  <a:pt x="42" y="53"/>
                </a:cubicBezTo>
                <a:cubicBezTo>
                  <a:pt x="23" y="27"/>
                  <a:pt x="15" y="17"/>
                  <a:pt x="0" y="0"/>
                </a:cubicBezTo>
              </a:path>
            </a:pathLst>
          </a:custGeom>
          <a:noFill/>
          <a:ln w="19050" cap="rnd"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981" name="Ink 10">
            <a:extLst>
              <a:ext uri="{FF2B5EF4-FFF2-40B4-BE49-F238E27FC236}">
                <a16:creationId xmlns:a16="http://schemas.microsoft.com/office/drawing/2014/main" id="{DF70B137-34B2-6C4F-A00C-A0FC450482FE}"/>
              </a:ext>
            </a:extLst>
          </p:cNvPr>
          <p:cNvSpPr>
            <a:spLocks noRot="1" noChangeAspect="1" noEditPoints="1" noChangeArrowheads="1" noChangeShapeType="1" noTextEdit="1"/>
          </p:cNvSpPr>
          <p:nvPr/>
        </p:nvSpPr>
        <p:spPr bwMode="auto">
          <a:xfrm>
            <a:off x="1573213" y="5903913"/>
            <a:ext cx="30162" cy="20637"/>
          </a:xfrm>
          <a:custGeom>
            <a:avLst/>
            <a:gdLst>
              <a:gd name="T0" fmla="*/ 29803 w 84"/>
              <a:gd name="T1" fmla="*/ 6267916 h 54"/>
              <a:gd name="T2" fmla="*/ 23699 w 84"/>
              <a:gd name="T3" fmla="*/ 6274795 h 54"/>
              <a:gd name="T4" fmla="*/ 6822 w 84"/>
              <a:gd name="T5" fmla="*/ 6283967 h 54"/>
              <a:gd name="T6" fmla="*/ 0 w 84"/>
              <a:gd name="T7" fmla="*/ 6288170 h 5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4" h="54" extrusionOk="0">
                <a:moveTo>
                  <a:pt x="83" y="0"/>
                </a:moveTo>
                <a:cubicBezTo>
                  <a:pt x="72" y="19"/>
                  <a:pt x="78" y="-5"/>
                  <a:pt x="66" y="18"/>
                </a:cubicBezTo>
                <a:cubicBezTo>
                  <a:pt x="38" y="13"/>
                  <a:pt x="38" y="41"/>
                  <a:pt x="19" y="42"/>
                </a:cubicBezTo>
                <a:cubicBezTo>
                  <a:pt x="7" y="43"/>
                  <a:pt x="7" y="34"/>
                  <a:pt x="0" y="53"/>
                </a:cubicBezTo>
              </a:path>
            </a:pathLst>
          </a:custGeom>
          <a:noFill/>
          <a:ln w="19050" cap="rnd"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982" name="Ink 11">
            <a:extLst>
              <a:ext uri="{FF2B5EF4-FFF2-40B4-BE49-F238E27FC236}">
                <a16:creationId xmlns:a16="http://schemas.microsoft.com/office/drawing/2014/main" id="{20E7137F-06E0-C344-9A97-5CD2F28D02FF}"/>
              </a:ext>
            </a:extLst>
          </p:cNvPr>
          <p:cNvSpPr>
            <a:spLocks noRot="1" noChangeAspect="1" noEditPoints="1" noChangeArrowheads="1" noChangeShapeType="1" noTextEdit="1"/>
          </p:cNvSpPr>
          <p:nvPr/>
        </p:nvSpPr>
        <p:spPr bwMode="auto">
          <a:xfrm>
            <a:off x="1308100" y="5934075"/>
            <a:ext cx="15875" cy="26988"/>
          </a:xfrm>
          <a:custGeom>
            <a:avLst/>
            <a:gdLst>
              <a:gd name="T0" fmla="*/ 2469 w 45"/>
              <a:gd name="T1" fmla="*/ 5786998 h 77"/>
              <a:gd name="T2" fmla="*/ 14464 w 45"/>
              <a:gd name="T3" fmla="*/ 5803822 h 77"/>
              <a:gd name="T4" fmla="*/ 7408 w 45"/>
              <a:gd name="T5" fmla="*/ 5787349 h 77"/>
              <a:gd name="T6" fmla="*/ 0 w 45"/>
              <a:gd name="T7" fmla="*/ 5777184 h 7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5" h="77" extrusionOk="0">
                <a:moveTo>
                  <a:pt x="7" y="28"/>
                </a:moveTo>
                <a:cubicBezTo>
                  <a:pt x="19" y="48"/>
                  <a:pt x="22" y="62"/>
                  <a:pt x="41" y="76"/>
                </a:cubicBezTo>
                <a:cubicBezTo>
                  <a:pt x="41" y="56"/>
                  <a:pt x="31" y="48"/>
                  <a:pt x="21" y="29"/>
                </a:cubicBezTo>
                <a:cubicBezTo>
                  <a:pt x="14" y="13"/>
                  <a:pt x="10" y="7"/>
                  <a:pt x="0" y="0"/>
                </a:cubicBezTo>
              </a:path>
            </a:pathLst>
          </a:custGeom>
          <a:noFill/>
          <a:ln w="19050" cap="rnd"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983" name="Ink 12">
            <a:extLst>
              <a:ext uri="{FF2B5EF4-FFF2-40B4-BE49-F238E27FC236}">
                <a16:creationId xmlns:a16="http://schemas.microsoft.com/office/drawing/2014/main" id="{93140EF6-7777-ED4A-B8F8-529119BE7E47}"/>
              </a:ext>
            </a:extLst>
          </p:cNvPr>
          <p:cNvSpPr>
            <a:spLocks noRot="1" noChangeAspect="1" noEditPoints="1" noChangeArrowheads="1" noChangeShapeType="1" noTextEdit="1"/>
          </p:cNvSpPr>
          <p:nvPr/>
        </p:nvSpPr>
        <p:spPr bwMode="auto">
          <a:xfrm>
            <a:off x="1068388" y="5948363"/>
            <a:ext cx="20637" cy="7937"/>
          </a:xfrm>
          <a:custGeom>
            <a:avLst/>
            <a:gdLst>
              <a:gd name="T0" fmla="*/ 20299 w 61"/>
              <a:gd name="T1" fmla="*/ 6563105 h 20"/>
              <a:gd name="T2" fmla="*/ 0 w 61"/>
              <a:gd name="T3" fmla="*/ 6557946 h 20"/>
              <a:gd name="T4" fmla="*/ 0 60000 65536"/>
              <a:gd name="T5" fmla="*/ 0 60000 65536"/>
            </a:gdLst>
            <a:ahLst/>
            <a:cxnLst>
              <a:cxn ang="T4">
                <a:pos x="T0" y="T1"/>
              </a:cxn>
              <a:cxn ang="T5">
                <a:pos x="T2" y="T3"/>
              </a:cxn>
            </a:cxnLst>
            <a:rect l="0" t="0" r="r" b="b"/>
            <a:pathLst>
              <a:path w="61" h="20" extrusionOk="0">
                <a:moveTo>
                  <a:pt x="60" y="13"/>
                </a:moveTo>
                <a:cubicBezTo>
                  <a:pt x="36" y="18"/>
                  <a:pt x="22" y="12"/>
                  <a:pt x="0" y="0"/>
                </a:cubicBezTo>
              </a:path>
            </a:pathLst>
          </a:custGeom>
          <a:noFill/>
          <a:ln w="19050" cap="rnd"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984" name="Ink 13">
            <a:extLst>
              <a:ext uri="{FF2B5EF4-FFF2-40B4-BE49-F238E27FC236}">
                <a16:creationId xmlns:a16="http://schemas.microsoft.com/office/drawing/2014/main" id="{5AB8CEF6-EE2D-1841-9D98-B7EE1E179CF9}"/>
              </a:ext>
            </a:extLst>
          </p:cNvPr>
          <p:cNvSpPr>
            <a:spLocks noRot="1" noChangeAspect="1" noEditPoints="1" noChangeArrowheads="1" noChangeShapeType="1" noTextEdit="1"/>
          </p:cNvSpPr>
          <p:nvPr/>
        </p:nvSpPr>
        <p:spPr bwMode="auto">
          <a:xfrm>
            <a:off x="812800" y="5946775"/>
            <a:ext cx="38100" cy="20638"/>
          </a:xfrm>
          <a:custGeom>
            <a:avLst/>
            <a:gdLst>
              <a:gd name="T0" fmla="*/ 37730 w 103"/>
              <a:gd name="T1" fmla="*/ 5981037 h 57"/>
              <a:gd name="T2" fmla="*/ 34401 w 103"/>
              <a:gd name="T3" fmla="*/ 5991175 h 57"/>
              <a:gd name="T4" fmla="*/ 22564 w 103"/>
              <a:gd name="T5" fmla="*/ 5998417 h 57"/>
              <a:gd name="T6" fmla="*/ 0 w 103"/>
              <a:gd name="T7" fmla="*/ 5995882 h 5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3" h="57" extrusionOk="0">
                <a:moveTo>
                  <a:pt x="102" y="0"/>
                </a:moveTo>
                <a:cubicBezTo>
                  <a:pt x="91" y="23"/>
                  <a:pt x="90" y="5"/>
                  <a:pt x="93" y="28"/>
                </a:cubicBezTo>
                <a:cubicBezTo>
                  <a:pt x="61" y="22"/>
                  <a:pt x="100" y="46"/>
                  <a:pt x="61" y="48"/>
                </a:cubicBezTo>
                <a:cubicBezTo>
                  <a:pt x="37" y="49"/>
                  <a:pt x="40" y="51"/>
                  <a:pt x="0" y="41"/>
                </a:cubicBezTo>
              </a:path>
            </a:pathLst>
          </a:custGeom>
          <a:noFill/>
          <a:ln w="19050" cap="rnd"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985" name="Ink 14">
            <a:extLst>
              <a:ext uri="{FF2B5EF4-FFF2-40B4-BE49-F238E27FC236}">
                <a16:creationId xmlns:a16="http://schemas.microsoft.com/office/drawing/2014/main" id="{895ECED9-84E5-C646-B22F-CEA31B96A362}"/>
              </a:ext>
            </a:extLst>
          </p:cNvPr>
          <p:cNvSpPr>
            <a:spLocks noRot="1" noChangeAspect="1" noEditPoints="1" noChangeArrowheads="1" noChangeShapeType="1" noTextEdit="1"/>
          </p:cNvSpPr>
          <p:nvPr/>
        </p:nvSpPr>
        <p:spPr bwMode="auto">
          <a:xfrm>
            <a:off x="401638" y="5930900"/>
            <a:ext cx="198437" cy="46038"/>
          </a:xfrm>
          <a:custGeom>
            <a:avLst/>
            <a:gdLst>
              <a:gd name="T0" fmla="*/ 198078 w 553"/>
              <a:gd name="T1" fmla="*/ 5946095 h 128"/>
              <a:gd name="T2" fmla="*/ 194490 w 553"/>
              <a:gd name="T3" fmla="*/ 5951850 h 128"/>
              <a:gd name="T4" fmla="*/ 180136 w 553"/>
              <a:gd name="T5" fmla="*/ 5957605 h 128"/>
              <a:gd name="T6" fmla="*/ 182289 w 553"/>
              <a:gd name="T7" fmla="*/ 5971272 h 128"/>
              <a:gd name="T8" fmla="*/ 13995 w 553"/>
              <a:gd name="T9" fmla="*/ 5925594 h 128"/>
              <a:gd name="T10" fmla="*/ 8971 w 553"/>
              <a:gd name="T11" fmla="*/ 5930270 h 128"/>
              <a:gd name="T12" fmla="*/ 3947 w 553"/>
              <a:gd name="T13" fmla="*/ 5944297 h 128"/>
              <a:gd name="T14" fmla="*/ 0 w 553"/>
              <a:gd name="T15" fmla="*/ 5933507 h 12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53" h="128" extrusionOk="0">
                <a:moveTo>
                  <a:pt x="552" y="57"/>
                </a:moveTo>
                <a:cubicBezTo>
                  <a:pt x="538" y="60"/>
                  <a:pt x="533" y="61"/>
                  <a:pt x="542" y="73"/>
                </a:cubicBezTo>
                <a:cubicBezTo>
                  <a:pt x="518" y="64"/>
                  <a:pt x="502" y="54"/>
                  <a:pt x="502" y="89"/>
                </a:cubicBezTo>
                <a:cubicBezTo>
                  <a:pt x="505" y="107"/>
                  <a:pt x="506" y="114"/>
                  <a:pt x="508" y="127"/>
                </a:cubicBezTo>
              </a:path>
              <a:path w="553" h="128" extrusionOk="0">
                <a:moveTo>
                  <a:pt x="39" y="0"/>
                </a:moveTo>
                <a:cubicBezTo>
                  <a:pt x="37" y="21"/>
                  <a:pt x="44" y="20"/>
                  <a:pt x="25" y="13"/>
                </a:cubicBezTo>
                <a:cubicBezTo>
                  <a:pt x="30" y="29"/>
                  <a:pt x="21" y="66"/>
                  <a:pt x="11" y="52"/>
                </a:cubicBezTo>
                <a:cubicBezTo>
                  <a:pt x="7" y="42"/>
                  <a:pt x="4" y="32"/>
                  <a:pt x="0" y="22"/>
                </a:cubicBezTo>
              </a:path>
            </a:pathLst>
          </a:custGeom>
          <a:noFill/>
          <a:ln w="19050" cap="rnd"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986" name="Ink 15">
            <a:extLst>
              <a:ext uri="{FF2B5EF4-FFF2-40B4-BE49-F238E27FC236}">
                <a16:creationId xmlns:a16="http://schemas.microsoft.com/office/drawing/2014/main" id="{F8B9C084-223D-E94C-B9D3-4C4318DB547C}"/>
              </a:ext>
            </a:extLst>
          </p:cNvPr>
          <p:cNvSpPr>
            <a:spLocks noRot="1" noChangeAspect="1" noEditPoints="1" noChangeArrowheads="1" noChangeShapeType="1" noTextEdit="1"/>
          </p:cNvSpPr>
          <p:nvPr/>
        </p:nvSpPr>
        <p:spPr bwMode="auto">
          <a:xfrm>
            <a:off x="414338" y="5648325"/>
            <a:ext cx="7937" cy="74613"/>
          </a:xfrm>
          <a:custGeom>
            <a:avLst/>
            <a:gdLst>
              <a:gd name="T0" fmla="*/ 7606 w 24"/>
              <a:gd name="T1" fmla="*/ 5729702 h 207"/>
              <a:gd name="T2" fmla="*/ 1323 w 24"/>
              <a:gd name="T3" fmla="*/ 5710958 h 207"/>
              <a:gd name="T4" fmla="*/ 4630 w 24"/>
              <a:gd name="T5" fmla="*/ 5678518 h 207"/>
              <a:gd name="T6" fmla="*/ 6283 w 24"/>
              <a:gd name="T7" fmla="*/ 5655449 h 20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4" h="207" extrusionOk="0">
                <a:moveTo>
                  <a:pt x="23" y="206"/>
                </a:moveTo>
                <a:cubicBezTo>
                  <a:pt x="15" y="187"/>
                  <a:pt x="7" y="176"/>
                  <a:pt x="4" y="154"/>
                </a:cubicBezTo>
                <a:cubicBezTo>
                  <a:pt x="-1" y="124"/>
                  <a:pt x="14" y="96"/>
                  <a:pt x="14" y="64"/>
                </a:cubicBezTo>
                <a:cubicBezTo>
                  <a:pt x="10" y="29"/>
                  <a:pt x="7" y="20"/>
                  <a:pt x="19" y="0"/>
                </a:cubicBezTo>
              </a:path>
            </a:pathLst>
          </a:custGeom>
          <a:noFill/>
          <a:ln w="19050" cap="rnd"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987" name="Ink 16">
            <a:extLst>
              <a:ext uri="{FF2B5EF4-FFF2-40B4-BE49-F238E27FC236}">
                <a16:creationId xmlns:a16="http://schemas.microsoft.com/office/drawing/2014/main" id="{244B9B11-D288-B54F-964A-5F6ECF56FE23}"/>
              </a:ext>
            </a:extLst>
          </p:cNvPr>
          <p:cNvSpPr>
            <a:spLocks noRot="1" noChangeAspect="1" noEditPoints="1" noChangeArrowheads="1" noChangeShapeType="1" noTextEdit="1"/>
          </p:cNvSpPr>
          <p:nvPr/>
        </p:nvSpPr>
        <p:spPr bwMode="auto">
          <a:xfrm>
            <a:off x="409575" y="5478463"/>
            <a:ext cx="11113" cy="25400"/>
          </a:xfrm>
          <a:custGeom>
            <a:avLst/>
            <a:gdLst>
              <a:gd name="T0" fmla="*/ 10743 w 30"/>
              <a:gd name="T1" fmla="*/ 5627388 h 69"/>
              <a:gd name="T2" fmla="*/ 3334 w 30"/>
              <a:gd name="T3" fmla="*/ 5608983 h 69"/>
              <a:gd name="T4" fmla="*/ 0 w 30"/>
              <a:gd name="T5" fmla="*/ 5602357 h 69"/>
              <a:gd name="T6" fmla="*/ 0 60000 65536"/>
              <a:gd name="T7" fmla="*/ 0 60000 65536"/>
              <a:gd name="T8" fmla="*/ 0 60000 65536"/>
            </a:gdLst>
            <a:ahLst/>
            <a:cxnLst>
              <a:cxn ang="T6">
                <a:pos x="T0" y="T1"/>
              </a:cxn>
              <a:cxn ang="T7">
                <a:pos x="T2" y="T3"/>
              </a:cxn>
              <a:cxn ang="T8">
                <a:pos x="T4" y="T5"/>
              </a:cxn>
            </a:cxnLst>
            <a:rect l="0" t="0" r="r" b="b"/>
            <a:pathLst>
              <a:path w="30" h="69" extrusionOk="0">
                <a:moveTo>
                  <a:pt x="29" y="68"/>
                </a:moveTo>
                <a:cubicBezTo>
                  <a:pt x="22" y="51"/>
                  <a:pt x="17" y="35"/>
                  <a:pt x="9" y="18"/>
                </a:cubicBezTo>
                <a:cubicBezTo>
                  <a:pt x="6" y="12"/>
                  <a:pt x="3" y="6"/>
                  <a:pt x="0" y="0"/>
                </a:cubicBezTo>
              </a:path>
            </a:pathLst>
          </a:custGeom>
          <a:noFill/>
          <a:ln w="19050" cap="rnd"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988" name="Ink 17">
            <a:extLst>
              <a:ext uri="{FF2B5EF4-FFF2-40B4-BE49-F238E27FC236}">
                <a16:creationId xmlns:a16="http://schemas.microsoft.com/office/drawing/2014/main" id="{FBDF66A1-E8B8-B642-9C3B-F3F029F80562}"/>
              </a:ext>
            </a:extLst>
          </p:cNvPr>
          <p:cNvSpPr>
            <a:spLocks noRot="1" noChangeAspect="1" noEditPoints="1" noChangeArrowheads="1" noChangeShapeType="1" noTextEdit="1"/>
          </p:cNvSpPr>
          <p:nvPr/>
        </p:nvSpPr>
        <p:spPr bwMode="auto">
          <a:xfrm>
            <a:off x="406400" y="5319713"/>
            <a:ext cx="9525" cy="25400"/>
          </a:xfrm>
          <a:custGeom>
            <a:avLst/>
            <a:gdLst>
              <a:gd name="T0" fmla="*/ 9185 w 28"/>
              <a:gd name="T1" fmla="*/ 5237692 h 72"/>
              <a:gd name="T2" fmla="*/ 6463 w 28"/>
              <a:gd name="T3" fmla="*/ 5213703 h 72"/>
              <a:gd name="T4" fmla="*/ 1021 w 28"/>
              <a:gd name="T5" fmla="*/ 5224992 h 72"/>
              <a:gd name="T6" fmla="*/ 0 60000 65536"/>
              <a:gd name="T7" fmla="*/ 0 60000 65536"/>
              <a:gd name="T8" fmla="*/ 0 60000 65536"/>
            </a:gdLst>
            <a:ahLst/>
            <a:cxnLst>
              <a:cxn ang="T6">
                <a:pos x="T0" y="T1"/>
              </a:cxn>
              <a:cxn ang="T7">
                <a:pos x="T2" y="T3"/>
              </a:cxn>
              <a:cxn ang="T8">
                <a:pos x="T4" y="T5"/>
              </a:cxn>
            </a:cxnLst>
            <a:rect l="0" t="0" r="r" b="b"/>
            <a:pathLst>
              <a:path w="28" h="72" extrusionOk="0">
                <a:moveTo>
                  <a:pt x="27" y="71"/>
                </a:moveTo>
                <a:cubicBezTo>
                  <a:pt x="26" y="59"/>
                  <a:pt x="26" y="12"/>
                  <a:pt x="19" y="3"/>
                </a:cubicBezTo>
                <a:cubicBezTo>
                  <a:pt x="7" y="-11"/>
                  <a:pt x="3" y="27"/>
                  <a:pt x="3" y="35"/>
                </a:cubicBezTo>
              </a:path>
            </a:pathLst>
          </a:custGeom>
          <a:noFill/>
          <a:ln w="19050" cap="rnd"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989" name="Ink 18">
            <a:extLst>
              <a:ext uri="{FF2B5EF4-FFF2-40B4-BE49-F238E27FC236}">
                <a16:creationId xmlns:a16="http://schemas.microsoft.com/office/drawing/2014/main" id="{7BB2241E-54F7-534E-A671-FFB14833B8B2}"/>
              </a:ext>
            </a:extLst>
          </p:cNvPr>
          <p:cNvSpPr>
            <a:spLocks noRot="1" noChangeAspect="1" noEditPoints="1" noChangeArrowheads="1" noChangeShapeType="1" noTextEdit="1"/>
          </p:cNvSpPr>
          <p:nvPr/>
        </p:nvSpPr>
        <p:spPr bwMode="auto">
          <a:xfrm>
            <a:off x="395288" y="5116513"/>
            <a:ext cx="12700" cy="33337"/>
          </a:xfrm>
          <a:custGeom>
            <a:avLst/>
            <a:gdLst>
              <a:gd name="T0" fmla="*/ 12337 w 35"/>
              <a:gd name="T1" fmla="*/ 5182454 h 92"/>
              <a:gd name="T2" fmla="*/ 2540 w 35"/>
              <a:gd name="T3" fmla="*/ 5161800 h 92"/>
              <a:gd name="T4" fmla="*/ 0 w 35"/>
              <a:gd name="T5" fmla="*/ 5149479 h 92"/>
              <a:gd name="T6" fmla="*/ 0 60000 65536"/>
              <a:gd name="T7" fmla="*/ 0 60000 65536"/>
              <a:gd name="T8" fmla="*/ 0 60000 65536"/>
            </a:gdLst>
            <a:ahLst/>
            <a:cxnLst>
              <a:cxn ang="T6">
                <a:pos x="T0" y="T1"/>
              </a:cxn>
              <a:cxn ang="T7">
                <a:pos x="T2" y="T3"/>
              </a:cxn>
              <a:cxn ang="T8">
                <a:pos x="T4" y="T5"/>
              </a:cxn>
            </a:cxnLst>
            <a:rect l="0" t="0" r="r" b="b"/>
            <a:pathLst>
              <a:path w="35" h="92" extrusionOk="0">
                <a:moveTo>
                  <a:pt x="34" y="91"/>
                </a:moveTo>
                <a:cubicBezTo>
                  <a:pt x="13" y="74"/>
                  <a:pt x="12" y="60"/>
                  <a:pt x="7" y="34"/>
                </a:cubicBezTo>
                <a:cubicBezTo>
                  <a:pt x="5" y="23"/>
                  <a:pt x="2" y="11"/>
                  <a:pt x="0" y="0"/>
                </a:cubicBezTo>
              </a:path>
            </a:pathLst>
          </a:custGeom>
          <a:noFill/>
          <a:ln w="19050" cap="rnd"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990" name="Ink 19">
            <a:extLst>
              <a:ext uri="{FF2B5EF4-FFF2-40B4-BE49-F238E27FC236}">
                <a16:creationId xmlns:a16="http://schemas.microsoft.com/office/drawing/2014/main" id="{98142251-3AF3-BB46-9A9A-0621D483FED0}"/>
              </a:ext>
            </a:extLst>
          </p:cNvPr>
          <p:cNvSpPr>
            <a:spLocks noRot="1" noChangeAspect="1" noEditPoints="1" noChangeArrowheads="1" noChangeShapeType="1" noTextEdit="1"/>
          </p:cNvSpPr>
          <p:nvPr/>
        </p:nvSpPr>
        <p:spPr bwMode="auto">
          <a:xfrm>
            <a:off x="400050" y="4657725"/>
            <a:ext cx="7938" cy="36513"/>
          </a:xfrm>
          <a:custGeom>
            <a:avLst/>
            <a:gdLst>
              <a:gd name="T0" fmla="*/ 7607 w 24"/>
              <a:gd name="T1" fmla="*/ 4713792 h 101"/>
              <a:gd name="T2" fmla="*/ 992 w 24"/>
              <a:gd name="T3" fmla="*/ 4697524 h 101"/>
              <a:gd name="T4" fmla="*/ 992 w 24"/>
              <a:gd name="T5" fmla="*/ 4677641 h 101"/>
              <a:gd name="T6" fmla="*/ 0 60000 65536"/>
              <a:gd name="T7" fmla="*/ 0 60000 65536"/>
              <a:gd name="T8" fmla="*/ 0 60000 65536"/>
            </a:gdLst>
            <a:ahLst/>
            <a:cxnLst>
              <a:cxn ang="T6">
                <a:pos x="T0" y="T1"/>
              </a:cxn>
              <a:cxn ang="T7">
                <a:pos x="T2" y="T3"/>
              </a:cxn>
              <a:cxn ang="T8">
                <a:pos x="T4" y="T5"/>
              </a:cxn>
            </a:cxnLst>
            <a:rect l="0" t="0" r="r" b="b"/>
            <a:pathLst>
              <a:path w="24" h="101" extrusionOk="0">
                <a:moveTo>
                  <a:pt x="23" y="100"/>
                </a:moveTo>
                <a:cubicBezTo>
                  <a:pt x="18" y="85"/>
                  <a:pt x="8" y="70"/>
                  <a:pt x="3" y="55"/>
                </a:cubicBezTo>
                <a:cubicBezTo>
                  <a:pt x="-3" y="35"/>
                  <a:pt x="6" y="30"/>
                  <a:pt x="3" y="0"/>
                </a:cubicBezTo>
              </a:path>
            </a:pathLst>
          </a:custGeom>
          <a:noFill/>
          <a:ln w="19050" cap="rnd"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991" name="Ink 20">
            <a:extLst>
              <a:ext uri="{FF2B5EF4-FFF2-40B4-BE49-F238E27FC236}">
                <a16:creationId xmlns:a16="http://schemas.microsoft.com/office/drawing/2014/main" id="{9EAB4927-2823-2741-9931-466C32632C2F}"/>
              </a:ext>
            </a:extLst>
          </p:cNvPr>
          <p:cNvSpPr>
            <a:spLocks noRot="1" noChangeAspect="1" noEditPoints="1" noChangeArrowheads="1" noChangeShapeType="1" noTextEdit="1"/>
          </p:cNvSpPr>
          <p:nvPr/>
        </p:nvSpPr>
        <p:spPr bwMode="auto">
          <a:xfrm>
            <a:off x="406400" y="4387850"/>
            <a:ext cx="23813" cy="42863"/>
          </a:xfrm>
          <a:custGeom>
            <a:avLst/>
            <a:gdLst>
              <a:gd name="T0" fmla="*/ 23452 w 66"/>
              <a:gd name="T1" fmla="*/ 4508308 h 117"/>
              <a:gd name="T2" fmla="*/ 9381 w 66"/>
              <a:gd name="T3" fmla="*/ 4488892 h 117"/>
              <a:gd name="T4" fmla="*/ 0 w 66"/>
              <a:gd name="T5" fmla="*/ 4465812 h 117"/>
              <a:gd name="T6" fmla="*/ 0 60000 65536"/>
              <a:gd name="T7" fmla="*/ 0 60000 65536"/>
              <a:gd name="T8" fmla="*/ 0 60000 65536"/>
            </a:gdLst>
            <a:ahLst/>
            <a:cxnLst>
              <a:cxn ang="T6">
                <a:pos x="T0" y="T1"/>
              </a:cxn>
              <a:cxn ang="T7">
                <a:pos x="T2" y="T3"/>
              </a:cxn>
              <a:cxn ang="T8">
                <a:pos x="T4" y="T5"/>
              </a:cxn>
            </a:cxnLst>
            <a:rect l="0" t="0" r="r" b="b"/>
            <a:pathLst>
              <a:path w="66" h="117" extrusionOk="0">
                <a:moveTo>
                  <a:pt x="65" y="116"/>
                </a:moveTo>
                <a:cubicBezTo>
                  <a:pt x="50" y="99"/>
                  <a:pt x="36" y="84"/>
                  <a:pt x="26" y="63"/>
                </a:cubicBezTo>
                <a:cubicBezTo>
                  <a:pt x="15" y="41"/>
                  <a:pt x="6" y="24"/>
                  <a:pt x="0" y="0"/>
                </a:cubicBezTo>
              </a:path>
            </a:pathLst>
          </a:custGeom>
          <a:noFill/>
          <a:ln w="19050" cap="rnd"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992" name="Ink 21">
            <a:extLst>
              <a:ext uri="{FF2B5EF4-FFF2-40B4-BE49-F238E27FC236}">
                <a16:creationId xmlns:a16="http://schemas.microsoft.com/office/drawing/2014/main" id="{ED824656-9E55-294B-B579-02CB43AFE97C}"/>
              </a:ext>
            </a:extLst>
          </p:cNvPr>
          <p:cNvSpPr>
            <a:spLocks noRot="1" noChangeAspect="1" noEditPoints="1" noChangeArrowheads="1" noChangeShapeType="1" noTextEdit="1"/>
          </p:cNvSpPr>
          <p:nvPr/>
        </p:nvSpPr>
        <p:spPr bwMode="auto">
          <a:xfrm>
            <a:off x="412750" y="4152900"/>
            <a:ext cx="4763" cy="30163"/>
          </a:xfrm>
          <a:custGeom>
            <a:avLst/>
            <a:gdLst>
              <a:gd name="T0" fmla="*/ 4465 w 16"/>
              <a:gd name="T1" fmla="*/ 4171471 h 84"/>
              <a:gd name="T2" fmla="*/ 1191 w 16"/>
              <a:gd name="T3" fmla="*/ 4152440 h 84"/>
              <a:gd name="T4" fmla="*/ 3275 w 16"/>
              <a:gd name="T5" fmla="*/ 4141667 h 84"/>
              <a:gd name="T6" fmla="*/ 0 60000 65536"/>
              <a:gd name="T7" fmla="*/ 0 60000 65536"/>
              <a:gd name="T8" fmla="*/ 0 60000 65536"/>
            </a:gdLst>
            <a:ahLst/>
            <a:cxnLst>
              <a:cxn ang="T6">
                <a:pos x="T0" y="T1"/>
              </a:cxn>
              <a:cxn ang="T7">
                <a:pos x="T2" y="T3"/>
              </a:cxn>
              <a:cxn ang="T8">
                <a:pos x="T4" y="T5"/>
              </a:cxn>
            </a:cxnLst>
            <a:rect l="0" t="0" r="r" b="b"/>
            <a:pathLst>
              <a:path w="16" h="84" extrusionOk="0">
                <a:moveTo>
                  <a:pt x="15" y="83"/>
                </a:moveTo>
                <a:cubicBezTo>
                  <a:pt x="12" y="65"/>
                  <a:pt x="9" y="48"/>
                  <a:pt x="4" y="30"/>
                </a:cubicBezTo>
                <a:cubicBezTo>
                  <a:pt x="-3" y="4"/>
                  <a:pt x="5" y="16"/>
                  <a:pt x="11" y="0"/>
                </a:cubicBezTo>
              </a:path>
            </a:pathLst>
          </a:custGeom>
          <a:noFill/>
          <a:ln w="19050" cap="rnd"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993" name="Ink 22">
            <a:extLst>
              <a:ext uri="{FF2B5EF4-FFF2-40B4-BE49-F238E27FC236}">
                <a16:creationId xmlns:a16="http://schemas.microsoft.com/office/drawing/2014/main" id="{ADCB36F4-CBA3-944C-B598-1099034EB761}"/>
              </a:ext>
            </a:extLst>
          </p:cNvPr>
          <p:cNvSpPr>
            <a:spLocks noRot="1" noChangeAspect="1" noEditPoints="1" noChangeArrowheads="1" noChangeShapeType="1" noTextEdit="1"/>
          </p:cNvSpPr>
          <p:nvPr/>
        </p:nvSpPr>
        <p:spPr bwMode="auto">
          <a:xfrm>
            <a:off x="412750" y="3960813"/>
            <a:ext cx="1588" cy="33337"/>
          </a:xfrm>
          <a:custGeom>
            <a:avLst/>
            <a:gdLst>
              <a:gd name="T0" fmla="*/ 794 w 6"/>
              <a:gd name="T1" fmla="*/ 4019645 h 92"/>
              <a:gd name="T2" fmla="*/ 0 w 6"/>
              <a:gd name="T3" fmla="*/ 3997179 h 92"/>
              <a:gd name="T4" fmla="*/ 794 w 6"/>
              <a:gd name="T5" fmla="*/ 3986670 h 92"/>
              <a:gd name="T6" fmla="*/ 0 60000 65536"/>
              <a:gd name="T7" fmla="*/ 0 60000 65536"/>
              <a:gd name="T8" fmla="*/ 0 60000 65536"/>
            </a:gdLst>
            <a:ahLst/>
            <a:cxnLst>
              <a:cxn ang="T6">
                <a:pos x="T0" y="T1"/>
              </a:cxn>
              <a:cxn ang="T7">
                <a:pos x="T2" y="T3"/>
              </a:cxn>
              <a:cxn ang="T8">
                <a:pos x="T4" y="T5"/>
              </a:cxn>
            </a:cxnLst>
            <a:rect l="0" t="0" r="r" b="b"/>
            <a:pathLst>
              <a:path w="6" h="92" extrusionOk="0">
                <a:moveTo>
                  <a:pt x="3" y="91"/>
                </a:moveTo>
                <a:cubicBezTo>
                  <a:pt x="4" y="69"/>
                  <a:pt x="0" y="50"/>
                  <a:pt x="0" y="29"/>
                </a:cubicBezTo>
                <a:cubicBezTo>
                  <a:pt x="2" y="15"/>
                  <a:pt x="3" y="10"/>
                  <a:pt x="3" y="0"/>
                </a:cubicBezTo>
              </a:path>
            </a:pathLst>
          </a:custGeom>
          <a:noFill/>
          <a:ln w="19050" cap="rnd"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994" name="Ink 23">
            <a:extLst>
              <a:ext uri="{FF2B5EF4-FFF2-40B4-BE49-F238E27FC236}">
                <a16:creationId xmlns:a16="http://schemas.microsoft.com/office/drawing/2014/main" id="{A42A11F2-8133-0C4D-ABF3-5876E4AB1AF3}"/>
              </a:ext>
            </a:extLst>
          </p:cNvPr>
          <p:cNvSpPr>
            <a:spLocks noRot="1" noChangeAspect="1" noEditPoints="1" noChangeArrowheads="1" noChangeShapeType="1" noTextEdit="1"/>
          </p:cNvSpPr>
          <p:nvPr/>
        </p:nvSpPr>
        <p:spPr bwMode="auto">
          <a:xfrm>
            <a:off x="403225" y="3740150"/>
            <a:ext cx="7938" cy="28575"/>
          </a:xfrm>
          <a:custGeom>
            <a:avLst/>
            <a:gdLst>
              <a:gd name="T0" fmla="*/ 7593 w 23"/>
              <a:gd name="T1" fmla="*/ 3692878 h 81"/>
              <a:gd name="T2" fmla="*/ 1726 w 23"/>
              <a:gd name="T3" fmla="*/ 3692878 h 81"/>
              <a:gd name="T4" fmla="*/ 2416 w 23"/>
              <a:gd name="T5" fmla="*/ 3673122 h 81"/>
              <a:gd name="T6" fmla="*/ 4142 w 23"/>
              <a:gd name="T7" fmla="*/ 3664656 h 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 h="81" extrusionOk="0">
                <a:moveTo>
                  <a:pt x="22" y="80"/>
                </a:moveTo>
                <a:cubicBezTo>
                  <a:pt x="16" y="80"/>
                  <a:pt x="11" y="80"/>
                  <a:pt x="5" y="80"/>
                </a:cubicBezTo>
                <a:cubicBezTo>
                  <a:pt x="-2" y="54"/>
                  <a:pt x="4" y="43"/>
                  <a:pt x="7" y="24"/>
                </a:cubicBezTo>
                <a:cubicBezTo>
                  <a:pt x="9" y="16"/>
                  <a:pt x="10" y="8"/>
                  <a:pt x="12" y="0"/>
                </a:cubicBezTo>
              </a:path>
            </a:pathLst>
          </a:custGeom>
          <a:noFill/>
          <a:ln w="19050" cap="rnd"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995" name="Ink 24">
            <a:extLst>
              <a:ext uri="{FF2B5EF4-FFF2-40B4-BE49-F238E27FC236}">
                <a16:creationId xmlns:a16="http://schemas.microsoft.com/office/drawing/2014/main" id="{E4D9CA89-87C8-174E-8CCA-6F31A6E27B51}"/>
              </a:ext>
            </a:extLst>
          </p:cNvPr>
          <p:cNvSpPr>
            <a:spLocks noRot="1" noChangeAspect="1" noEditPoints="1" noChangeArrowheads="1" noChangeShapeType="1" noTextEdit="1"/>
          </p:cNvSpPr>
          <p:nvPr/>
        </p:nvSpPr>
        <p:spPr bwMode="auto">
          <a:xfrm>
            <a:off x="390525" y="3519488"/>
            <a:ext cx="7938" cy="12700"/>
          </a:xfrm>
          <a:custGeom>
            <a:avLst/>
            <a:gdLst>
              <a:gd name="T0" fmla="*/ 7593 w 23"/>
              <a:gd name="T1" fmla="*/ 3558177 h 35"/>
              <a:gd name="T2" fmla="*/ 0 w 23"/>
              <a:gd name="T3" fmla="*/ 3560354 h 35"/>
              <a:gd name="T4" fmla="*/ 2761 w 23"/>
              <a:gd name="T5" fmla="*/ 3548017 h 35"/>
              <a:gd name="T6" fmla="*/ 0 60000 65536"/>
              <a:gd name="T7" fmla="*/ 0 60000 65536"/>
              <a:gd name="T8" fmla="*/ 0 60000 65536"/>
            </a:gdLst>
            <a:ahLst/>
            <a:cxnLst>
              <a:cxn ang="T6">
                <a:pos x="T0" y="T1"/>
              </a:cxn>
              <a:cxn ang="T7">
                <a:pos x="T2" y="T3"/>
              </a:cxn>
              <a:cxn ang="T8">
                <a:pos x="T4" y="T5"/>
              </a:cxn>
            </a:cxnLst>
            <a:rect l="0" t="0" r="r" b="b"/>
            <a:pathLst>
              <a:path w="23" h="35" extrusionOk="0">
                <a:moveTo>
                  <a:pt x="22" y="28"/>
                </a:moveTo>
                <a:cubicBezTo>
                  <a:pt x="7" y="24"/>
                  <a:pt x="2" y="21"/>
                  <a:pt x="0" y="34"/>
                </a:cubicBezTo>
                <a:cubicBezTo>
                  <a:pt x="7" y="11"/>
                  <a:pt x="10" y="26"/>
                  <a:pt x="8" y="0"/>
                </a:cubicBezTo>
              </a:path>
            </a:pathLst>
          </a:custGeom>
          <a:noFill/>
          <a:ln w="19050" cap="rnd"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996" name="Ink 25">
            <a:extLst>
              <a:ext uri="{FF2B5EF4-FFF2-40B4-BE49-F238E27FC236}">
                <a16:creationId xmlns:a16="http://schemas.microsoft.com/office/drawing/2014/main" id="{EDF602B3-EDC1-2D45-90C5-52624A41778F}"/>
              </a:ext>
            </a:extLst>
          </p:cNvPr>
          <p:cNvSpPr>
            <a:spLocks noRot="1" noChangeAspect="1" noEditPoints="1" noChangeArrowheads="1" noChangeShapeType="1" noTextEdit="1"/>
          </p:cNvSpPr>
          <p:nvPr/>
        </p:nvSpPr>
        <p:spPr bwMode="auto">
          <a:xfrm>
            <a:off x="403225" y="3321050"/>
            <a:ext cx="12700" cy="15875"/>
          </a:xfrm>
          <a:custGeom>
            <a:avLst/>
            <a:gdLst>
              <a:gd name="T0" fmla="*/ 12337 w 35"/>
              <a:gd name="T1" fmla="*/ 3421616 h 43"/>
              <a:gd name="T2" fmla="*/ 0 w 35"/>
              <a:gd name="T3" fmla="*/ 3414233 h 43"/>
              <a:gd name="T4" fmla="*/ 2903 w 35"/>
              <a:gd name="T5" fmla="*/ 3406110 h 43"/>
              <a:gd name="T6" fmla="*/ 0 60000 65536"/>
              <a:gd name="T7" fmla="*/ 0 60000 65536"/>
              <a:gd name="T8" fmla="*/ 0 60000 65536"/>
            </a:gdLst>
            <a:ahLst/>
            <a:cxnLst>
              <a:cxn ang="T6">
                <a:pos x="T0" y="T1"/>
              </a:cxn>
              <a:cxn ang="T7">
                <a:pos x="T2" y="T3"/>
              </a:cxn>
              <a:cxn ang="T8">
                <a:pos x="T4" y="T5"/>
              </a:cxn>
            </a:cxnLst>
            <a:rect l="0" t="0" r="r" b="b"/>
            <a:pathLst>
              <a:path w="35" h="43" extrusionOk="0">
                <a:moveTo>
                  <a:pt x="34" y="42"/>
                </a:moveTo>
                <a:cubicBezTo>
                  <a:pt x="13" y="35"/>
                  <a:pt x="15" y="38"/>
                  <a:pt x="0" y="22"/>
                </a:cubicBezTo>
                <a:cubicBezTo>
                  <a:pt x="16" y="23"/>
                  <a:pt x="6" y="21"/>
                  <a:pt x="8" y="0"/>
                </a:cubicBezTo>
              </a:path>
            </a:pathLst>
          </a:custGeom>
          <a:noFill/>
          <a:ln w="19050" cap="rnd"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997" name="Ink 26">
            <a:extLst>
              <a:ext uri="{FF2B5EF4-FFF2-40B4-BE49-F238E27FC236}">
                <a16:creationId xmlns:a16="http://schemas.microsoft.com/office/drawing/2014/main" id="{5D76DF63-DD39-7B42-BAB7-1E2D83C891A2}"/>
              </a:ext>
            </a:extLst>
          </p:cNvPr>
          <p:cNvSpPr>
            <a:spLocks noRot="1" noChangeAspect="1" noEditPoints="1" noChangeArrowheads="1" noChangeShapeType="1" noTextEdit="1"/>
          </p:cNvSpPr>
          <p:nvPr/>
        </p:nvSpPr>
        <p:spPr bwMode="auto">
          <a:xfrm>
            <a:off x="439738" y="3106738"/>
            <a:ext cx="4762" cy="7937"/>
          </a:xfrm>
          <a:custGeom>
            <a:avLst/>
            <a:gdLst>
              <a:gd name="T0" fmla="*/ 4329 w 11"/>
              <a:gd name="T1" fmla="*/ 2981206 h 23"/>
              <a:gd name="T2" fmla="*/ 0 w 11"/>
              <a:gd name="T3" fmla="*/ 2980516 h 23"/>
              <a:gd name="T4" fmla="*/ 0 60000 65536"/>
              <a:gd name="T5" fmla="*/ 0 60000 65536"/>
            </a:gdLst>
            <a:ahLst/>
            <a:cxnLst>
              <a:cxn ang="T4">
                <a:pos x="T0" y="T1"/>
              </a:cxn>
              <a:cxn ang="T5">
                <a:pos x="T2" y="T3"/>
              </a:cxn>
            </a:cxnLst>
            <a:rect l="0" t="0" r="r" b="b"/>
            <a:pathLst>
              <a:path w="11" h="23" extrusionOk="0">
                <a:moveTo>
                  <a:pt x="10" y="10"/>
                </a:moveTo>
                <a:cubicBezTo>
                  <a:pt x="-12" y="-10"/>
                  <a:pt x="9" y="40"/>
                  <a:pt x="0" y="8"/>
                </a:cubicBezTo>
              </a:path>
            </a:pathLst>
          </a:custGeom>
          <a:noFill/>
          <a:ln w="19050" cap="rnd"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998" name="Ink 27">
            <a:extLst>
              <a:ext uri="{FF2B5EF4-FFF2-40B4-BE49-F238E27FC236}">
                <a16:creationId xmlns:a16="http://schemas.microsoft.com/office/drawing/2014/main" id="{A0DF03EB-6A65-B646-B3DE-2460B2656188}"/>
              </a:ext>
            </a:extLst>
          </p:cNvPr>
          <p:cNvSpPr>
            <a:spLocks noRot="1" noChangeAspect="1" noEditPoints="1" noChangeArrowheads="1" noChangeShapeType="1" noTextEdit="1"/>
          </p:cNvSpPr>
          <p:nvPr/>
        </p:nvSpPr>
        <p:spPr bwMode="auto">
          <a:xfrm>
            <a:off x="419100" y="2947988"/>
            <a:ext cx="7938" cy="15875"/>
          </a:xfrm>
          <a:custGeom>
            <a:avLst/>
            <a:gdLst>
              <a:gd name="T0" fmla="*/ 7577 w 22"/>
              <a:gd name="T1" fmla="*/ 3250803 h 40"/>
              <a:gd name="T2" fmla="*/ 5051 w 22"/>
              <a:gd name="T3" fmla="*/ 3266281 h 40"/>
              <a:gd name="T4" fmla="*/ 0 60000 65536"/>
              <a:gd name="T5" fmla="*/ 0 60000 65536"/>
            </a:gdLst>
            <a:ahLst/>
            <a:cxnLst>
              <a:cxn ang="T4">
                <a:pos x="T0" y="T1"/>
              </a:cxn>
              <a:cxn ang="T5">
                <a:pos x="T2" y="T3"/>
              </a:cxn>
            </a:cxnLst>
            <a:rect l="0" t="0" r="r" b="b"/>
            <a:pathLst>
              <a:path w="22" h="40" extrusionOk="0">
                <a:moveTo>
                  <a:pt x="21" y="0"/>
                </a:moveTo>
                <a:cubicBezTo>
                  <a:pt x="-10" y="6"/>
                  <a:pt x="4" y="12"/>
                  <a:pt x="14" y="39"/>
                </a:cubicBezTo>
              </a:path>
            </a:pathLst>
          </a:custGeom>
          <a:noFill/>
          <a:ln w="19050" cap="rnd"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0999" name="Ink 28">
            <a:extLst>
              <a:ext uri="{FF2B5EF4-FFF2-40B4-BE49-F238E27FC236}">
                <a16:creationId xmlns:a16="http://schemas.microsoft.com/office/drawing/2014/main" id="{325720FF-181E-4745-97D6-FD04A872A82F}"/>
              </a:ext>
            </a:extLst>
          </p:cNvPr>
          <p:cNvSpPr>
            <a:spLocks noRot="1" noChangeAspect="1" noEditPoints="1" noChangeArrowheads="1" noChangeShapeType="1" noTextEdit="1"/>
          </p:cNvSpPr>
          <p:nvPr/>
        </p:nvSpPr>
        <p:spPr bwMode="auto">
          <a:xfrm>
            <a:off x="438150" y="2806700"/>
            <a:ext cx="9525" cy="17463"/>
          </a:xfrm>
          <a:custGeom>
            <a:avLst/>
            <a:gdLst>
              <a:gd name="T0" fmla="*/ 1361 w 28"/>
              <a:gd name="T1" fmla="*/ 2836282 h 48"/>
              <a:gd name="T2" fmla="*/ 0 w 28"/>
              <a:gd name="T3" fmla="*/ 2849016 h 48"/>
              <a:gd name="T4" fmla="*/ 9185 w 28"/>
              <a:gd name="T5" fmla="*/ 2849380 h 48"/>
              <a:gd name="T6" fmla="*/ 0 60000 65536"/>
              <a:gd name="T7" fmla="*/ 0 60000 65536"/>
              <a:gd name="T8" fmla="*/ 0 60000 65536"/>
            </a:gdLst>
            <a:ahLst/>
            <a:cxnLst>
              <a:cxn ang="T6">
                <a:pos x="T0" y="T1"/>
              </a:cxn>
              <a:cxn ang="T7">
                <a:pos x="T2" y="T3"/>
              </a:cxn>
              <a:cxn ang="T8">
                <a:pos x="T4" y="T5"/>
              </a:cxn>
            </a:cxnLst>
            <a:rect l="0" t="0" r="r" b="b"/>
            <a:pathLst>
              <a:path w="28" h="48" extrusionOk="0">
                <a:moveTo>
                  <a:pt x="4" y="0"/>
                </a:moveTo>
                <a:cubicBezTo>
                  <a:pt x="4" y="7"/>
                  <a:pt x="9" y="66"/>
                  <a:pt x="0" y="35"/>
                </a:cubicBezTo>
                <a:cubicBezTo>
                  <a:pt x="28" y="42"/>
                  <a:pt x="-2" y="32"/>
                  <a:pt x="27" y="36"/>
                </a:cubicBezTo>
              </a:path>
            </a:pathLst>
          </a:custGeom>
          <a:noFill/>
          <a:ln w="19050" cap="rnd"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1000" name="Ink 29">
            <a:extLst>
              <a:ext uri="{FF2B5EF4-FFF2-40B4-BE49-F238E27FC236}">
                <a16:creationId xmlns:a16="http://schemas.microsoft.com/office/drawing/2014/main" id="{C1BE03B2-4B43-F34C-B2FE-1B97AC057358}"/>
              </a:ext>
            </a:extLst>
          </p:cNvPr>
          <p:cNvSpPr>
            <a:spLocks noRot="1" noChangeAspect="1" noEditPoints="1" noChangeArrowheads="1" noChangeShapeType="1" noTextEdit="1"/>
          </p:cNvSpPr>
          <p:nvPr/>
        </p:nvSpPr>
        <p:spPr bwMode="auto">
          <a:xfrm>
            <a:off x="398463" y="4854575"/>
            <a:ext cx="11112" cy="107950"/>
          </a:xfrm>
          <a:custGeom>
            <a:avLst/>
            <a:gdLst>
              <a:gd name="T0" fmla="*/ 10742 w 30"/>
              <a:gd name="T1" fmla="*/ 5009316 h 297"/>
              <a:gd name="T2" fmla="*/ 8149 w 30"/>
              <a:gd name="T3" fmla="*/ 4999139 h 297"/>
              <a:gd name="T4" fmla="*/ 7038 w 30"/>
              <a:gd name="T5" fmla="*/ 4921720 h 297"/>
              <a:gd name="T6" fmla="*/ 0 w 30"/>
              <a:gd name="T7" fmla="*/ 4901730 h 2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0" h="297" extrusionOk="0">
                <a:moveTo>
                  <a:pt x="29" y="296"/>
                </a:moveTo>
                <a:cubicBezTo>
                  <a:pt x="22" y="282"/>
                  <a:pt x="19" y="278"/>
                  <a:pt x="22" y="268"/>
                </a:cubicBezTo>
              </a:path>
              <a:path w="30" h="297" extrusionOk="0">
                <a:moveTo>
                  <a:pt x="19" y="55"/>
                </a:moveTo>
                <a:cubicBezTo>
                  <a:pt x="13" y="37"/>
                  <a:pt x="6" y="18"/>
                  <a:pt x="0" y="0"/>
                </a:cubicBezTo>
              </a:path>
            </a:pathLst>
          </a:custGeom>
          <a:noFill/>
          <a:ln w="19050" cap="rnd"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1001" name="Ink 30">
            <a:extLst>
              <a:ext uri="{FF2B5EF4-FFF2-40B4-BE49-F238E27FC236}">
                <a16:creationId xmlns:a16="http://schemas.microsoft.com/office/drawing/2014/main" id="{AB7319EB-AB0C-5248-AFF4-D204A22565D9}"/>
              </a:ext>
            </a:extLst>
          </p:cNvPr>
          <p:cNvSpPr>
            <a:spLocks noRot="1" noChangeAspect="1" noEditPoints="1" noChangeArrowheads="1" noChangeShapeType="1" noTextEdit="1"/>
          </p:cNvSpPr>
          <p:nvPr/>
        </p:nvSpPr>
        <p:spPr bwMode="auto">
          <a:xfrm>
            <a:off x="642938" y="2738438"/>
            <a:ext cx="425450" cy="41275"/>
          </a:xfrm>
          <a:custGeom>
            <a:avLst/>
            <a:gdLst>
              <a:gd name="T0" fmla="*/ 3959 w 1182"/>
              <a:gd name="T1" fmla="*/ 2751786 h 115"/>
              <a:gd name="T2" fmla="*/ 6839 w 1182"/>
              <a:gd name="T3" fmla="*/ 2755375 h 115"/>
              <a:gd name="T4" fmla="*/ 218484 w 1182"/>
              <a:gd name="T5" fmla="*/ 2733841 h 115"/>
              <a:gd name="T6" fmla="*/ 223163 w 1182"/>
              <a:gd name="T7" fmla="*/ 2729534 h 115"/>
              <a:gd name="T8" fmla="*/ 425090 w 1182"/>
              <a:gd name="T9" fmla="*/ 2770450 h 115"/>
              <a:gd name="T10" fmla="*/ 419691 w 1182"/>
              <a:gd name="T11" fmla="*/ 2764348 h 11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82" h="115" extrusionOk="0">
                <a:moveTo>
                  <a:pt x="11" y="62"/>
                </a:moveTo>
                <a:cubicBezTo>
                  <a:pt x="-4" y="57"/>
                  <a:pt x="-4" y="58"/>
                  <a:pt x="19" y="72"/>
                </a:cubicBezTo>
              </a:path>
              <a:path w="1182" h="115" extrusionOk="0">
                <a:moveTo>
                  <a:pt x="607" y="12"/>
                </a:moveTo>
                <a:cubicBezTo>
                  <a:pt x="609" y="0"/>
                  <a:pt x="609" y="-4"/>
                  <a:pt x="620" y="0"/>
                </a:cubicBezTo>
              </a:path>
              <a:path w="1182" h="115" extrusionOk="0">
                <a:moveTo>
                  <a:pt x="1181" y="114"/>
                </a:moveTo>
                <a:cubicBezTo>
                  <a:pt x="1176" y="108"/>
                  <a:pt x="1171" y="103"/>
                  <a:pt x="1166" y="97"/>
                </a:cubicBezTo>
              </a:path>
            </a:pathLst>
          </a:custGeom>
          <a:noFill/>
          <a:ln w="19050" cap="rnd" algn="ctr">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85B42F7B-110C-064B-AC32-D1F1412FF6E6}"/>
              </a:ext>
            </a:extLst>
          </p:cNvPr>
          <p:cNvSpPr>
            <a:spLocks noGrp="1" noChangeArrowheads="1"/>
          </p:cNvSpPr>
          <p:nvPr>
            <p:ph type="title"/>
          </p:nvPr>
        </p:nvSpPr>
        <p:spPr>
          <a:xfrm>
            <a:off x="863600" y="0"/>
            <a:ext cx="8013700" cy="1143000"/>
          </a:xfrm>
        </p:spPr>
        <p:txBody>
          <a:bodyPr/>
          <a:lstStyle/>
          <a:p>
            <a:pPr eaLnBrk="1" hangingPunct="1"/>
            <a:r>
              <a:rPr lang="en-US" altLang="en-US" sz="3200">
                <a:latin typeface="Arial  " charset="0"/>
                <a:cs typeface="Arial  " charset="0"/>
              </a:rPr>
              <a:t>Stall Hardware: Hazard Detection Unit</a:t>
            </a:r>
            <a:endParaRPr lang="en-US" altLang="en-US">
              <a:latin typeface="Arial  " charset="0"/>
              <a:cs typeface="Arial  " charset="0"/>
            </a:endParaRPr>
          </a:p>
        </p:txBody>
      </p:sp>
      <p:pic>
        <p:nvPicPr>
          <p:cNvPr id="51202" name="Picture 15" descr="hp,cod-fig6.36.jpg                                             0007391Fmbp                            C32F9376:">
            <a:extLst>
              <a:ext uri="{FF2B5EF4-FFF2-40B4-BE49-F238E27FC236}">
                <a16:creationId xmlns:a16="http://schemas.microsoft.com/office/drawing/2014/main" id="{0F35EF13-9BFC-F548-A471-6965FECE44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325" y="1028700"/>
            <a:ext cx="8112125" cy="513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3" name="Rectangle 16">
            <a:extLst>
              <a:ext uri="{FF2B5EF4-FFF2-40B4-BE49-F238E27FC236}">
                <a16:creationId xmlns:a16="http://schemas.microsoft.com/office/drawing/2014/main" id="{A5BC4B6B-FD9C-0D47-BF98-FA427DB522D3}"/>
              </a:ext>
            </a:extLst>
          </p:cNvPr>
          <p:cNvSpPr>
            <a:spLocks noChangeArrowheads="1"/>
          </p:cNvSpPr>
          <p:nvPr/>
        </p:nvSpPr>
        <p:spPr bwMode="auto">
          <a:xfrm>
            <a:off x="1752600" y="2565400"/>
            <a:ext cx="215900" cy="2565400"/>
          </a:xfrm>
          <a:prstGeom prst="rect">
            <a:avLst/>
          </a:prstGeom>
          <a:solidFill>
            <a:srgbClr val="FF0000"/>
          </a:solidFill>
          <a:ln w="9525">
            <a:solidFill>
              <a:schemeClr val="tx1"/>
            </a:solidFill>
            <a:miter lim="800000"/>
            <a:headEnd/>
            <a:tailEnd/>
          </a:ln>
        </p:spPr>
        <p:txBody>
          <a:bodyPr wrap="none" anchor="ctr"/>
          <a:lstStyle>
            <a:lvl1pPr>
              <a:spcBef>
                <a:spcPct val="20000"/>
              </a:spcBef>
              <a:buChar char="•"/>
              <a:defRPr sz="2800">
                <a:solidFill>
                  <a:schemeClr val="tx1"/>
                </a:solidFill>
                <a:latin typeface="Arial  " charset="0"/>
                <a:ea typeface="ＭＳ Ｐゴシック" panose="020B0600070205080204" pitchFamily="34" charset="-128"/>
                <a:cs typeface="Arial  " charset="0"/>
              </a:defRPr>
            </a:lvl1pPr>
            <a:lvl2pPr marL="742950" indent="-285750">
              <a:spcBef>
                <a:spcPct val="20000"/>
              </a:spcBef>
              <a:buChar char="–"/>
              <a:defRPr sz="2400">
                <a:solidFill>
                  <a:schemeClr val="tx1"/>
                </a:solidFill>
                <a:latin typeface="Arial  " charset="0"/>
                <a:ea typeface="ＭＳ Ｐゴシック" panose="020B0600070205080204" pitchFamily="34" charset="-128"/>
                <a:cs typeface="Arial  " charset="0"/>
              </a:defRPr>
            </a:lvl2pPr>
            <a:lvl3pPr marL="1143000" indent="-228600">
              <a:spcBef>
                <a:spcPct val="20000"/>
              </a:spcBef>
              <a:buChar char="•"/>
              <a:defRPr sz="2000">
                <a:solidFill>
                  <a:schemeClr val="tx1"/>
                </a:solidFill>
                <a:latin typeface="Arial  " charset="0"/>
                <a:ea typeface="ＭＳ Ｐゴシック" panose="020B0600070205080204" pitchFamily="34" charset="-128"/>
                <a:cs typeface="Arial  " charset="0"/>
              </a:defRPr>
            </a:lvl3pPr>
            <a:lvl4pPr marL="1600200" indent="-228600">
              <a:spcBef>
                <a:spcPct val="20000"/>
              </a:spcBef>
              <a:buChar char="–"/>
              <a:defRPr sz="2000">
                <a:solidFill>
                  <a:schemeClr val="tx1"/>
                </a:solidFill>
                <a:latin typeface="Arial  " charset="0"/>
                <a:ea typeface="ＭＳ Ｐゴシック" panose="020B0600070205080204" pitchFamily="34" charset="-128"/>
                <a:cs typeface="Arial  " charset="0"/>
              </a:defRPr>
            </a:lvl4pPr>
            <a:lvl5pPr marL="2057400" indent="-228600">
              <a:spcBef>
                <a:spcPct val="20000"/>
              </a:spcBef>
              <a:buChar char="»"/>
              <a:defRPr sz="2000">
                <a:solidFill>
                  <a:schemeClr val="tx1"/>
                </a:solidFill>
                <a:latin typeface="Arial  " charset="0"/>
                <a:ea typeface="ＭＳ Ｐゴシック"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9pPr>
          </a:lstStyle>
          <a:p>
            <a:pPr>
              <a:spcBef>
                <a:spcPct val="0"/>
              </a:spcBef>
              <a:buFontTx/>
              <a:buNone/>
            </a:pPr>
            <a:endParaRPr lang="en-US" altLang="en-US" sz="2400">
              <a:latin typeface="Arial" panose="020B0604020202020204" pitchFamily="34" charset="0"/>
            </a:endParaRPr>
          </a:p>
        </p:txBody>
      </p:sp>
      <p:sp>
        <p:nvSpPr>
          <p:cNvPr id="51204" name="Freeform 17">
            <a:extLst>
              <a:ext uri="{FF2B5EF4-FFF2-40B4-BE49-F238E27FC236}">
                <a16:creationId xmlns:a16="http://schemas.microsoft.com/office/drawing/2014/main" id="{9EA88C6B-2248-E646-BD7F-3478AC9CB6D2}"/>
              </a:ext>
            </a:extLst>
          </p:cNvPr>
          <p:cNvSpPr>
            <a:spLocks/>
          </p:cNvSpPr>
          <p:nvPr/>
        </p:nvSpPr>
        <p:spPr bwMode="auto">
          <a:xfrm>
            <a:off x="3784600" y="2209800"/>
            <a:ext cx="571500" cy="239713"/>
          </a:xfrm>
          <a:custGeom>
            <a:avLst/>
            <a:gdLst>
              <a:gd name="T0" fmla="*/ 0 w 360"/>
              <a:gd name="T1" fmla="*/ 2147483646 h 151"/>
              <a:gd name="T2" fmla="*/ 2147483646 w 360"/>
              <a:gd name="T3" fmla="*/ 2147483646 h 151"/>
              <a:gd name="T4" fmla="*/ 2147483646 w 360"/>
              <a:gd name="T5" fmla="*/ 2147483646 h 151"/>
              <a:gd name="T6" fmla="*/ 2147483646 w 360"/>
              <a:gd name="T7" fmla="*/ 2147483646 h 151"/>
              <a:gd name="T8" fmla="*/ 2147483646 w 360"/>
              <a:gd name="T9" fmla="*/ 2147483646 h 151"/>
              <a:gd name="T10" fmla="*/ 0 60000 65536"/>
              <a:gd name="T11" fmla="*/ 0 60000 65536"/>
              <a:gd name="T12" fmla="*/ 0 60000 65536"/>
              <a:gd name="T13" fmla="*/ 0 60000 65536"/>
              <a:gd name="T14" fmla="*/ 0 60000 65536"/>
              <a:gd name="T15" fmla="*/ 0 w 360"/>
              <a:gd name="T16" fmla="*/ 0 h 151"/>
              <a:gd name="T17" fmla="*/ 360 w 360"/>
              <a:gd name="T18" fmla="*/ 151 h 151"/>
            </a:gdLst>
            <a:ahLst/>
            <a:cxnLst>
              <a:cxn ang="T10">
                <a:pos x="T0" y="T1"/>
              </a:cxn>
              <a:cxn ang="T11">
                <a:pos x="T2" y="T3"/>
              </a:cxn>
              <a:cxn ang="T12">
                <a:pos x="T4" y="T5"/>
              </a:cxn>
              <a:cxn ang="T13">
                <a:pos x="T6" y="T7"/>
              </a:cxn>
              <a:cxn ang="T14">
                <a:pos x="T8" y="T9"/>
              </a:cxn>
            </a:cxnLst>
            <a:rect l="T15" t="T16" r="T17" b="T18"/>
            <a:pathLst>
              <a:path w="360" h="151">
                <a:moveTo>
                  <a:pt x="0" y="144"/>
                </a:moveTo>
                <a:cubicBezTo>
                  <a:pt x="78" y="147"/>
                  <a:pt x="157" y="151"/>
                  <a:pt x="192" y="136"/>
                </a:cubicBezTo>
                <a:cubicBezTo>
                  <a:pt x="227" y="121"/>
                  <a:pt x="197" y="77"/>
                  <a:pt x="208" y="56"/>
                </a:cubicBezTo>
                <a:cubicBezTo>
                  <a:pt x="219" y="35"/>
                  <a:pt x="231" y="16"/>
                  <a:pt x="256" y="8"/>
                </a:cubicBezTo>
                <a:cubicBezTo>
                  <a:pt x="281" y="0"/>
                  <a:pt x="320" y="4"/>
                  <a:pt x="360" y="8"/>
                </a:cubicBezTo>
              </a:path>
            </a:pathLst>
          </a:custGeom>
          <a:noFill/>
          <a:ln w="381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1205" name="Text Box 18">
            <a:extLst>
              <a:ext uri="{FF2B5EF4-FFF2-40B4-BE49-F238E27FC236}">
                <a16:creationId xmlns:a16="http://schemas.microsoft.com/office/drawing/2014/main" id="{F50907A1-A898-8640-A97F-1208F1249946}"/>
              </a:ext>
            </a:extLst>
          </p:cNvPr>
          <p:cNvSpPr txBox="1">
            <a:spLocks noChangeArrowheads="1"/>
          </p:cNvSpPr>
          <p:nvPr/>
        </p:nvSpPr>
        <p:spPr bwMode="auto">
          <a:xfrm>
            <a:off x="3006725" y="2157413"/>
            <a:ext cx="8286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ＭＳ Ｐゴシック" panose="020B0600070205080204" pitchFamily="34" charset="-128"/>
                <a:cs typeface="Arial  " charset="0"/>
              </a:defRPr>
            </a:lvl1pPr>
            <a:lvl2pPr marL="742950" indent="-285750">
              <a:spcBef>
                <a:spcPct val="20000"/>
              </a:spcBef>
              <a:buChar char="–"/>
              <a:defRPr sz="2400">
                <a:solidFill>
                  <a:schemeClr val="tx1"/>
                </a:solidFill>
                <a:latin typeface="Arial  " charset="0"/>
                <a:ea typeface="ＭＳ Ｐゴシック" panose="020B0600070205080204" pitchFamily="34" charset="-128"/>
                <a:cs typeface="Arial  " charset="0"/>
              </a:defRPr>
            </a:lvl2pPr>
            <a:lvl3pPr marL="1143000" indent="-228600">
              <a:spcBef>
                <a:spcPct val="20000"/>
              </a:spcBef>
              <a:buChar char="•"/>
              <a:defRPr sz="2000">
                <a:solidFill>
                  <a:schemeClr val="tx1"/>
                </a:solidFill>
                <a:latin typeface="Arial  " charset="0"/>
                <a:ea typeface="ＭＳ Ｐゴシック" panose="020B0600070205080204" pitchFamily="34" charset="-128"/>
                <a:cs typeface="Arial  " charset="0"/>
              </a:defRPr>
            </a:lvl3pPr>
            <a:lvl4pPr marL="1600200" indent="-228600">
              <a:spcBef>
                <a:spcPct val="20000"/>
              </a:spcBef>
              <a:buChar char="–"/>
              <a:defRPr sz="2000">
                <a:solidFill>
                  <a:schemeClr val="tx1"/>
                </a:solidFill>
                <a:latin typeface="Arial  " charset="0"/>
                <a:ea typeface="ＭＳ Ｐゴシック" panose="020B0600070205080204" pitchFamily="34" charset="-128"/>
                <a:cs typeface="Arial  " charset="0"/>
              </a:defRPr>
            </a:lvl4pPr>
            <a:lvl5pPr marL="2057400" indent="-228600">
              <a:spcBef>
                <a:spcPct val="20000"/>
              </a:spcBef>
              <a:buChar char="»"/>
              <a:defRPr sz="2000">
                <a:solidFill>
                  <a:schemeClr val="tx1"/>
                </a:solidFill>
                <a:latin typeface="Arial  " charset="0"/>
                <a:ea typeface="ＭＳ Ｐゴシック"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9pPr>
          </a:lstStyle>
          <a:p>
            <a:pPr>
              <a:spcBef>
                <a:spcPct val="0"/>
              </a:spcBef>
              <a:buFontTx/>
              <a:buNone/>
            </a:pPr>
            <a:r>
              <a:rPr lang="en-US" altLang="en-US" sz="2400">
                <a:solidFill>
                  <a:srgbClr val="FF0000"/>
                </a:solidFill>
                <a:latin typeface="Comic Sans MS" panose="030F0902030302020204" pitchFamily="66" charset="0"/>
              </a:rPr>
              <a:t>NOP</a:t>
            </a:r>
          </a:p>
        </p:txBody>
      </p:sp>
      <p:sp>
        <p:nvSpPr>
          <p:cNvPr id="51206" name="Rectangle 19">
            <a:extLst>
              <a:ext uri="{FF2B5EF4-FFF2-40B4-BE49-F238E27FC236}">
                <a16:creationId xmlns:a16="http://schemas.microsoft.com/office/drawing/2014/main" id="{D44A4FEF-4343-8D49-8C65-B0CC657ACCE8}"/>
              </a:ext>
            </a:extLst>
          </p:cNvPr>
          <p:cNvSpPr>
            <a:spLocks noChangeArrowheads="1"/>
          </p:cNvSpPr>
          <p:nvPr/>
        </p:nvSpPr>
        <p:spPr bwMode="auto">
          <a:xfrm>
            <a:off x="2209800" y="965200"/>
            <a:ext cx="1079500" cy="647700"/>
          </a:xfrm>
          <a:prstGeom prst="rect">
            <a:avLst/>
          </a:prstGeom>
          <a:noFill/>
          <a:ln w="76200" cap="rnd">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2800">
                <a:solidFill>
                  <a:schemeClr val="tx1"/>
                </a:solidFill>
                <a:latin typeface="Arial  " charset="0"/>
                <a:ea typeface="ＭＳ Ｐゴシック" panose="020B0600070205080204" pitchFamily="34" charset="-128"/>
                <a:cs typeface="Arial  " charset="0"/>
              </a:defRPr>
            </a:lvl1pPr>
            <a:lvl2pPr marL="742950" indent="-285750">
              <a:spcBef>
                <a:spcPct val="20000"/>
              </a:spcBef>
              <a:buChar char="–"/>
              <a:defRPr sz="2400">
                <a:solidFill>
                  <a:schemeClr val="tx1"/>
                </a:solidFill>
                <a:latin typeface="Arial  " charset="0"/>
                <a:ea typeface="ＭＳ Ｐゴシック" panose="020B0600070205080204" pitchFamily="34" charset="-128"/>
                <a:cs typeface="Arial  " charset="0"/>
              </a:defRPr>
            </a:lvl2pPr>
            <a:lvl3pPr marL="1143000" indent="-228600">
              <a:spcBef>
                <a:spcPct val="20000"/>
              </a:spcBef>
              <a:buChar char="•"/>
              <a:defRPr sz="2000">
                <a:solidFill>
                  <a:schemeClr val="tx1"/>
                </a:solidFill>
                <a:latin typeface="Arial  " charset="0"/>
                <a:ea typeface="ＭＳ Ｐゴシック" panose="020B0600070205080204" pitchFamily="34" charset="-128"/>
                <a:cs typeface="Arial  " charset="0"/>
              </a:defRPr>
            </a:lvl3pPr>
            <a:lvl4pPr marL="1600200" indent="-228600">
              <a:spcBef>
                <a:spcPct val="20000"/>
              </a:spcBef>
              <a:buChar char="–"/>
              <a:defRPr sz="2000">
                <a:solidFill>
                  <a:schemeClr val="tx1"/>
                </a:solidFill>
                <a:latin typeface="Arial  " charset="0"/>
                <a:ea typeface="ＭＳ Ｐゴシック" panose="020B0600070205080204" pitchFamily="34" charset="-128"/>
                <a:cs typeface="Arial  " charset="0"/>
              </a:defRPr>
            </a:lvl4pPr>
            <a:lvl5pPr marL="2057400" indent="-228600">
              <a:spcBef>
                <a:spcPct val="20000"/>
              </a:spcBef>
              <a:buChar char="»"/>
              <a:defRPr sz="2000">
                <a:solidFill>
                  <a:schemeClr val="tx1"/>
                </a:solidFill>
                <a:latin typeface="Arial  " charset="0"/>
                <a:ea typeface="ＭＳ Ｐゴシック" panose="020B0600070205080204" pitchFamily="34"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ＭＳ Ｐゴシック" panose="020B0600070205080204" pitchFamily="34" charset="-128"/>
                <a:cs typeface="Arial  " charset="0"/>
              </a:defRPr>
            </a:lvl9pPr>
          </a:lstStyle>
          <a:p>
            <a:pPr>
              <a:spcBef>
                <a:spcPct val="0"/>
              </a:spcBef>
              <a:buFontTx/>
              <a:buNone/>
            </a:pPr>
            <a:endParaRPr lang="en-US" altLang="en-US" sz="2400">
              <a:latin typeface="Arial" panose="020B0604020202020204" pitchFamily="34" charset="0"/>
            </a:endParaRPr>
          </a:p>
        </p:txBody>
      </p:sp>
      <p:sp>
        <p:nvSpPr>
          <p:cNvPr id="51207" name="Slide Number Placeholder 8">
            <a:extLst>
              <a:ext uri="{FF2B5EF4-FFF2-40B4-BE49-F238E27FC236}">
                <a16:creationId xmlns:a16="http://schemas.microsoft.com/office/drawing/2014/main" id="{298990AA-6A79-114F-A1F2-C7AD16ABC16F}"/>
              </a:ext>
            </a:extLst>
          </p:cNvPr>
          <p:cNvSpPr>
            <a:spLocks noGrp="1"/>
          </p:cNvSpPr>
          <p:nvPr>
            <p:ph type="sldNum" sz="quarter" idx="12"/>
          </p:nvPr>
        </p:nvSpPr>
        <p:spPr>
          <a:xfrm>
            <a:off x="6553200" y="6356350"/>
            <a:ext cx="21336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Bef>
                <a:spcPct val="0"/>
              </a:spcBef>
              <a:buFontTx/>
              <a:buNone/>
            </a:pPr>
            <a:fld id="{8498F53A-C161-3D49-96E1-2DF0E970DAF2}" type="slidenum">
              <a:rPr lang="en-US" smtClean="0"/>
              <a:pPr>
                <a:spcBef>
                  <a:spcPct val="0"/>
                </a:spcBef>
                <a:buFontTx/>
                <a:buNone/>
              </a:pPr>
              <a:t>52</a:t>
            </a:fld>
            <a:endParaRPr lang="en-US" altLang="en-US" sz="1400">
              <a:latin typeface="Comic Sans MS" panose="030F0902030302020204" pitchFamily="66" charset="0"/>
            </a:endParaRPr>
          </a:p>
        </p:txBody>
      </p:sp>
    </p:spTree>
    <p:extLst>
      <p:ext uri="{BB962C8B-B14F-4D97-AF65-F5344CB8AC3E}">
        <p14:creationId xmlns:p14="http://schemas.microsoft.com/office/powerpoint/2010/main" val="4234919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5169" name="Picture 7" descr="AppA-fig18.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92138" y="696913"/>
            <a:ext cx="8455025" cy="451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5170" name="Title 1"/>
          <p:cNvSpPr>
            <a:spLocks noGrp="1"/>
          </p:cNvSpPr>
          <p:nvPr>
            <p:ph type="title"/>
          </p:nvPr>
        </p:nvSpPr>
        <p:spPr>
          <a:xfrm>
            <a:off x="685800" y="0"/>
            <a:ext cx="8458200" cy="711200"/>
          </a:xfrm>
        </p:spPr>
        <p:txBody>
          <a:bodyPr/>
          <a:lstStyle/>
          <a:p>
            <a:pPr eaLnBrk="1" hangingPunct="1"/>
            <a:r>
              <a:rPr lang="en-US" altLang="en-US">
                <a:latin typeface="Arial  " charset="0"/>
                <a:ea typeface="MS PGothic" charset="-128"/>
                <a:cs typeface="Arial  " charset="0"/>
              </a:rPr>
              <a:t>Resolving a Branch in Execute (EX)</a:t>
            </a:r>
          </a:p>
        </p:txBody>
      </p:sp>
      <p:sp>
        <p:nvSpPr>
          <p:cNvPr id="135171" name="Content Placeholder 2"/>
          <p:cNvSpPr>
            <a:spLocks noGrp="1"/>
          </p:cNvSpPr>
          <p:nvPr>
            <p:ph idx="1"/>
          </p:nvPr>
        </p:nvSpPr>
        <p:spPr>
          <a:xfrm>
            <a:off x="546100" y="5168900"/>
            <a:ext cx="8242300" cy="1054100"/>
          </a:xfrm>
          <a:solidFill>
            <a:schemeClr val="accent1"/>
          </a:solidFill>
        </p:spPr>
        <p:txBody>
          <a:bodyPr/>
          <a:lstStyle/>
          <a:p>
            <a:pPr eaLnBrk="1" hangingPunct="1">
              <a:buFontTx/>
              <a:buNone/>
            </a:pPr>
            <a:r>
              <a:rPr lang="en-US" altLang="en-US" sz="2000">
                <a:latin typeface="Arial  " charset="0"/>
                <a:ea typeface="MS PGothic" charset="-128"/>
                <a:cs typeface="Arial  " charset="0"/>
              </a:rPr>
              <a:t>	Check branch condition and compute target in </a:t>
            </a:r>
            <a:r>
              <a:rPr lang="en-US" altLang="en-US" sz="2000" u="sng">
                <a:latin typeface="Arial  " charset="0"/>
                <a:ea typeface="MS PGothic" charset="-128"/>
                <a:cs typeface="Arial  " charset="0"/>
              </a:rPr>
              <a:t>execute stage</a:t>
            </a:r>
            <a:r>
              <a:rPr lang="en-US" altLang="en-US" sz="2000">
                <a:latin typeface="Arial  " charset="0"/>
                <a:ea typeface="MS PGothic" charset="-128"/>
                <a:cs typeface="Arial  " charset="0"/>
              </a:rPr>
              <a:t>.  </a:t>
            </a:r>
            <a:r>
              <a:rPr lang="en-US" altLang="en-US" sz="2000">
                <a:solidFill>
                  <a:srgbClr val="FF0000"/>
                </a:solidFill>
                <a:latin typeface="Arial  " charset="0"/>
                <a:ea typeface="MS PGothic" charset="-128"/>
                <a:cs typeface="Arial  " charset="0"/>
              </a:rPr>
              <a:t>Update PC with correct target by end of cycle that branch enters execute stage. </a:t>
            </a:r>
            <a:r>
              <a:rPr lang="en-US" altLang="en-US" sz="2000">
                <a:solidFill>
                  <a:srgbClr val="0000FF"/>
                </a:solidFill>
                <a:latin typeface="Arial  " charset="0"/>
                <a:ea typeface="MS PGothic" charset="-128"/>
                <a:cs typeface="Arial  " charset="0"/>
              </a:rPr>
              <a:t>Fetch correct target following cycle.</a:t>
            </a:r>
          </a:p>
        </p:txBody>
      </p:sp>
      <p:sp>
        <p:nvSpPr>
          <p:cNvPr id="135172" name="Rectangle 8"/>
          <p:cNvSpPr>
            <a:spLocks noChangeArrowheads="1"/>
          </p:cNvSpPr>
          <p:nvPr/>
        </p:nvSpPr>
        <p:spPr bwMode="auto">
          <a:xfrm>
            <a:off x="6781800" y="850900"/>
            <a:ext cx="254000" cy="2286000"/>
          </a:xfrm>
          <a:prstGeom prst="rect">
            <a:avLst/>
          </a:prstGeom>
          <a:solidFill>
            <a:schemeClr val="bg1"/>
          </a:solidFill>
          <a:ln w="9525">
            <a:solidFill>
              <a:schemeClr val="bg1"/>
            </a:solidFill>
            <a:round/>
            <a:headEnd/>
            <a:tailEnd/>
          </a:ln>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135173" name="Rectangle 9"/>
          <p:cNvSpPr>
            <a:spLocks noChangeArrowheads="1"/>
          </p:cNvSpPr>
          <p:nvPr/>
        </p:nvSpPr>
        <p:spPr bwMode="auto">
          <a:xfrm>
            <a:off x="6634163" y="2184400"/>
            <a:ext cx="269875" cy="169863"/>
          </a:xfrm>
          <a:prstGeom prst="rect">
            <a:avLst/>
          </a:prstGeom>
          <a:solidFill>
            <a:srgbClr val="FFFFFF"/>
          </a:solidFill>
          <a:ln w="9525">
            <a:solidFill>
              <a:srgbClr val="FFFFFF"/>
            </a:solidFill>
            <a:round/>
            <a:headEnd/>
            <a:tailEnd/>
          </a:ln>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cxnSp>
        <p:nvCxnSpPr>
          <p:cNvPr id="135174" name="Straight Connector 11"/>
          <p:cNvCxnSpPr>
            <a:cxnSpLocks noChangeShapeType="1"/>
          </p:cNvCxnSpPr>
          <p:nvPr/>
        </p:nvCxnSpPr>
        <p:spPr bwMode="auto">
          <a:xfrm rot="5400000" flipH="1" flipV="1">
            <a:off x="5650706" y="1710532"/>
            <a:ext cx="1152525" cy="158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cxnSp>
      <p:sp>
        <p:nvSpPr>
          <p:cNvPr id="135175" name="Rectangle 12"/>
          <p:cNvSpPr>
            <a:spLocks noChangeArrowheads="1"/>
          </p:cNvSpPr>
          <p:nvPr/>
        </p:nvSpPr>
        <p:spPr bwMode="auto">
          <a:xfrm>
            <a:off x="6248400" y="2176463"/>
            <a:ext cx="127000" cy="193675"/>
          </a:xfrm>
          <a:prstGeom prst="rect">
            <a:avLst/>
          </a:prstGeom>
          <a:solidFill>
            <a:srgbClr val="FFFFFF"/>
          </a:solidFill>
          <a:ln w="9525">
            <a:solidFill>
              <a:srgbClr val="FFFFFF"/>
            </a:solidFill>
            <a:round/>
            <a:headEnd/>
            <a:tailEnd/>
          </a:ln>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135176" name="Rectangle 13"/>
          <p:cNvSpPr>
            <a:spLocks noChangeArrowheads="1"/>
          </p:cNvSpPr>
          <p:nvPr/>
        </p:nvSpPr>
        <p:spPr bwMode="auto">
          <a:xfrm>
            <a:off x="6248400" y="1023938"/>
            <a:ext cx="914400" cy="228600"/>
          </a:xfrm>
          <a:prstGeom prst="rect">
            <a:avLst/>
          </a:prstGeom>
          <a:solidFill>
            <a:srgbClr val="FFFFFF"/>
          </a:solidFill>
          <a:ln w="9525">
            <a:solidFill>
              <a:srgbClr val="FFFFFF"/>
            </a:solidFill>
            <a:round/>
            <a:headEnd/>
            <a:tailEnd/>
          </a:ln>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cxnSp>
        <p:nvCxnSpPr>
          <p:cNvPr id="135177" name="Straight Connector 15"/>
          <p:cNvCxnSpPr>
            <a:cxnSpLocks noChangeShapeType="1"/>
          </p:cNvCxnSpPr>
          <p:nvPr/>
        </p:nvCxnSpPr>
        <p:spPr bwMode="auto">
          <a:xfrm rot="5400000" flipH="1" flipV="1">
            <a:off x="5163344" y="2035969"/>
            <a:ext cx="2228850" cy="158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sp>
        <p:nvSpPr>
          <p:cNvPr id="135178" name="Rectangle 17"/>
          <p:cNvSpPr>
            <a:spLocks noChangeArrowheads="1"/>
          </p:cNvSpPr>
          <p:nvPr/>
        </p:nvSpPr>
        <p:spPr bwMode="auto">
          <a:xfrm>
            <a:off x="6311900" y="804863"/>
            <a:ext cx="677863" cy="168275"/>
          </a:xfrm>
          <a:prstGeom prst="rect">
            <a:avLst/>
          </a:prstGeom>
          <a:solidFill>
            <a:srgbClr val="FFFFFF"/>
          </a:solidFill>
          <a:ln w="9525">
            <a:solidFill>
              <a:srgbClr val="FFFFFF"/>
            </a:solidFill>
            <a:round/>
            <a:headEnd/>
            <a:tailEnd/>
          </a:ln>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sp>
        <p:nvSpPr>
          <p:cNvPr id="135179" name="Rectangle 18"/>
          <p:cNvSpPr>
            <a:spLocks noChangeArrowheads="1"/>
          </p:cNvSpPr>
          <p:nvPr/>
        </p:nvSpPr>
        <p:spPr bwMode="auto">
          <a:xfrm>
            <a:off x="876300" y="2425700"/>
            <a:ext cx="266700" cy="673100"/>
          </a:xfrm>
          <a:prstGeom prst="rect">
            <a:avLst/>
          </a:prstGeom>
          <a:solidFill>
            <a:srgbClr val="FF0000">
              <a:alpha val="30196"/>
            </a:srgbClr>
          </a:solidFill>
          <a:ln w="9525">
            <a:solidFill>
              <a:schemeClr val="tx1"/>
            </a:solidFill>
            <a:round/>
            <a:headEnd/>
            <a:tailEnd/>
          </a:ln>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cxnSp>
        <p:nvCxnSpPr>
          <p:cNvPr id="135180" name="Straight Connector 28"/>
          <p:cNvCxnSpPr>
            <a:cxnSpLocks noChangeShapeType="1"/>
          </p:cNvCxnSpPr>
          <p:nvPr/>
        </p:nvCxnSpPr>
        <p:spPr bwMode="auto">
          <a:xfrm rot="10800000">
            <a:off x="1879600" y="914400"/>
            <a:ext cx="4406900" cy="158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135181" name="Straight Connector 30"/>
          <p:cNvCxnSpPr>
            <a:cxnSpLocks noChangeShapeType="1"/>
          </p:cNvCxnSpPr>
          <p:nvPr/>
        </p:nvCxnSpPr>
        <p:spPr bwMode="auto">
          <a:xfrm rot="16200000" flipH="1">
            <a:off x="1403350" y="1428750"/>
            <a:ext cx="965200" cy="127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135182" name="Straight Connector 32"/>
          <p:cNvCxnSpPr>
            <a:cxnSpLocks noChangeShapeType="1"/>
          </p:cNvCxnSpPr>
          <p:nvPr/>
        </p:nvCxnSpPr>
        <p:spPr bwMode="auto">
          <a:xfrm>
            <a:off x="1968500" y="1981200"/>
            <a:ext cx="330200" cy="1016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135183" name="Straight Connector 34"/>
          <p:cNvCxnSpPr>
            <a:cxnSpLocks noChangeShapeType="1"/>
          </p:cNvCxnSpPr>
          <p:nvPr/>
        </p:nvCxnSpPr>
        <p:spPr bwMode="auto">
          <a:xfrm rot="16200000" flipV="1">
            <a:off x="2070100" y="1778000"/>
            <a:ext cx="508000" cy="25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135184" name="Straight Connector 36"/>
          <p:cNvCxnSpPr>
            <a:cxnSpLocks noChangeShapeType="1"/>
          </p:cNvCxnSpPr>
          <p:nvPr/>
        </p:nvCxnSpPr>
        <p:spPr bwMode="auto">
          <a:xfrm rot="10800000">
            <a:off x="762000" y="1549400"/>
            <a:ext cx="1536700" cy="158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135185" name="Straight Connector 38"/>
          <p:cNvCxnSpPr>
            <a:cxnSpLocks noChangeShapeType="1"/>
          </p:cNvCxnSpPr>
          <p:nvPr/>
        </p:nvCxnSpPr>
        <p:spPr bwMode="auto">
          <a:xfrm rot="5400000">
            <a:off x="127001" y="2171700"/>
            <a:ext cx="1270000" cy="317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135186" name="Straight Connector 40"/>
          <p:cNvCxnSpPr>
            <a:cxnSpLocks noChangeShapeType="1"/>
          </p:cNvCxnSpPr>
          <p:nvPr/>
        </p:nvCxnSpPr>
        <p:spPr bwMode="auto">
          <a:xfrm>
            <a:off x="4813300" y="2120900"/>
            <a:ext cx="241300" cy="158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135187" name="Straight Connector 42"/>
          <p:cNvCxnSpPr>
            <a:cxnSpLocks noChangeShapeType="1"/>
          </p:cNvCxnSpPr>
          <p:nvPr/>
        </p:nvCxnSpPr>
        <p:spPr bwMode="auto">
          <a:xfrm rot="16200000" flipH="1">
            <a:off x="4724400" y="2451100"/>
            <a:ext cx="647700" cy="127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135188" name="Straight Connector 44"/>
          <p:cNvCxnSpPr>
            <a:cxnSpLocks noChangeShapeType="1"/>
          </p:cNvCxnSpPr>
          <p:nvPr/>
        </p:nvCxnSpPr>
        <p:spPr bwMode="auto">
          <a:xfrm>
            <a:off x="5105400" y="2806700"/>
            <a:ext cx="609600" cy="762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135189" name="Straight Connector 46"/>
          <p:cNvCxnSpPr>
            <a:cxnSpLocks noChangeShapeType="1"/>
          </p:cNvCxnSpPr>
          <p:nvPr/>
        </p:nvCxnSpPr>
        <p:spPr bwMode="auto">
          <a:xfrm>
            <a:off x="4813300" y="4165600"/>
            <a:ext cx="292100" cy="158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135190" name="Straight Connector 48"/>
          <p:cNvCxnSpPr>
            <a:cxnSpLocks noChangeShapeType="1"/>
          </p:cNvCxnSpPr>
          <p:nvPr/>
        </p:nvCxnSpPr>
        <p:spPr bwMode="auto">
          <a:xfrm rot="5400000" flipH="1" flipV="1">
            <a:off x="4832351" y="3879850"/>
            <a:ext cx="546100" cy="317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135191" name="Straight Connector 50"/>
          <p:cNvCxnSpPr>
            <a:cxnSpLocks noChangeShapeType="1"/>
          </p:cNvCxnSpPr>
          <p:nvPr/>
        </p:nvCxnSpPr>
        <p:spPr bwMode="auto">
          <a:xfrm flipV="1">
            <a:off x="5118100" y="3454400"/>
            <a:ext cx="622300" cy="1397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135192" name="Straight Connector 52"/>
          <p:cNvCxnSpPr>
            <a:cxnSpLocks noChangeShapeType="1"/>
          </p:cNvCxnSpPr>
          <p:nvPr/>
        </p:nvCxnSpPr>
        <p:spPr bwMode="auto">
          <a:xfrm>
            <a:off x="5765800" y="2882900"/>
            <a:ext cx="419100" cy="254000"/>
          </a:xfrm>
          <a:prstGeom prst="line">
            <a:avLst/>
          </a:prstGeom>
          <a:noFill/>
          <a:ln w="38100">
            <a:solidFill>
              <a:srgbClr val="FF0000"/>
            </a:solidFill>
            <a:prstDash val="sysDash"/>
            <a:round/>
            <a:headEnd/>
            <a:tailEnd/>
          </a:ln>
          <a:extLst>
            <a:ext uri="{909E8E84-426E-40DD-AFC4-6F175D3DCCD1}">
              <a14:hiddenFill xmlns:a14="http://schemas.microsoft.com/office/drawing/2010/main">
                <a:noFill/>
              </a14:hiddenFill>
            </a:ext>
          </a:extLst>
        </p:spPr>
      </p:cxnSp>
      <p:cxnSp>
        <p:nvCxnSpPr>
          <p:cNvPr id="135193" name="Straight Connector 54"/>
          <p:cNvCxnSpPr>
            <a:cxnSpLocks noChangeShapeType="1"/>
          </p:cNvCxnSpPr>
          <p:nvPr/>
        </p:nvCxnSpPr>
        <p:spPr bwMode="auto">
          <a:xfrm flipV="1">
            <a:off x="5765800" y="3149600"/>
            <a:ext cx="406400" cy="304800"/>
          </a:xfrm>
          <a:prstGeom prst="line">
            <a:avLst/>
          </a:prstGeom>
          <a:noFill/>
          <a:ln w="38100">
            <a:solidFill>
              <a:srgbClr val="FF0000"/>
            </a:solidFill>
            <a:prstDash val="sysDash"/>
            <a:round/>
            <a:headEnd/>
            <a:tailEnd/>
          </a:ln>
          <a:extLst>
            <a:ext uri="{909E8E84-426E-40DD-AFC4-6F175D3DCCD1}">
              <a14:hiddenFill xmlns:a14="http://schemas.microsoft.com/office/drawing/2010/main">
                <a:noFill/>
              </a14:hiddenFill>
            </a:ext>
          </a:extLst>
        </p:spPr>
      </p:cxnSp>
      <p:cxnSp>
        <p:nvCxnSpPr>
          <p:cNvPr id="135194" name="Straight Connector 56"/>
          <p:cNvCxnSpPr>
            <a:cxnSpLocks noChangeShapeType="1"/>
          </p:cNvCxnSpPr>
          <p:nvPr/>
        </p:nvCxnSpPr>
        <p:spPr bwMode="auto">
          <a:xfrm>
            <a:off x="4805363" y="3027363"/>
            <a:ext cx="114300" cy="1587"/>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cxnSp>
      <p:cxnSp>
        <p:nvCxnSpPr>
          <p:cNvPr id="135195" name="Straight Connector 58"/>
          <p:cNvCxnSpPr>
            <a:cxnSpLocks noChangeShapeType="1"/>
          </p:cNvCxnSpPr>
          <p:nvPr/>
        </p:nvCxnSpPr>
        <p:spPr bwMode="auto">
          <a:xfrm rot="5400000" flipH="1" flipV="1">
            <a:off x="4546601" y="2654300"/>
            <a:ext cx="736600" cy="3175"/>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cxnSp>
      <p:cxnSp>
        <p:nvCxnSpPr>
          <p:cNvPr id="135196" name="Straight Connector 60"/>
          <p:cNvCxnSpPr>
            <a:cxnSpLocks noChangeShapeType="1"/>
          </p:cNvCxnSpPr>
          <p:nvPr/>
        </p:nvCxnSpPr>
        <p:spPr bwMode="auto">
          <a:xfrm>
            <a:off x="4910138" y="2298700"/>
            <a:ext cx="368300" cy="158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cxnSp>
      <p:cxnSp>
        <p:nvCxnSpPr>
          <p:cNvPr id="135197" name="Straight Connector 62"/>
          <p:cNvCxnSpPr>
            <a:cxnSpLocks noChangeShapeType="1"/>
          </p:cNvCxnSpPr>
          <p:nvPr/>
        </p:nvCxnSpPr>
        <p:spPr bwMode="auto">
          <a:xfrm>
            <a:off x="5770563" y="2290763"/>
            <a:ext cx="457200" cy="1587"/>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cxnSp>
      <p:cxnSp>
        <p:nvCxnSpPr>
          <p:cNvPr id="135198" name="Straight Connector 66"/>
          <p:cNvCxnSpPr>
            <a:cxnSpLocks noChangeShapeType="1"/>
          </p:cNvCxnSpPr>
          <p:nvPr/>
        </p:nvCxnSpPr>
        <p:spPr bwMode="auto">
          <a:xfrm rot="10800000">
            <a:off x="2120900" y="1143000"/>
            <a:ext cx="4097338" cy="158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cxnSp>
      <p:cxnSp>
        <p:nvCxnSpPr>
          <p:cNvPr id="135199" name="Straight Connector 68"/>
          <p:cNvCxnSpPr>
            <a:cxnSpLocks noChangeShapeType="1"/>
          </p:cNvCxnSpPr>
          <p:nvPr/>
        </p:nvCxnSpPr>
        <p:spPr bwMode="auto">
          <a:xfrm rot="5400000">
            <a:off x="1784351" y="1479550"/>
            <a:ext cx="673100" cy="3175"/>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cxnSp>
      <p:cxnSp>
        <p:nvCxnSpPr>
          <p:cNvPr id="135200" name="Straight Connector 70"/>
          <p:cNvCxnSpPr>
            <a:cxnSpLocks noChangeShapeType="1"/>
          </p:cNvCxnSpPr>
          <p:nvPr/>
        </p:nvCxnSpPr>
        <p:spPr bwMode="auto">
          <a:xfrm flipV="1">
            <a:off x="5270500" y="2298700"/>
            <a:ext cx="469900" cy="12700"/>
          </a:xfrm>
          <a:prstGeom prst="line">
            <a:avLst/>
          </a:prstGeom>
          <a:noFill/>
          <a:ln w="28575">
            <a:solidFill>
              <a:srgbClr val="0000FF"/>
            </a:solidFill>
            <a:prstDash val="sysDash"/>
            <a:round/>
            <a:headEnd/>
            <a:tailEnd/>
          </a:ln>
          <a:extLst>
            <a:ext uri="{909E8E84-426E-40DD-AFC4-6F175D3DCCD1}">
              <a14:hiddenFill xmlns:a14="http://schemas.microsoft.com/office/drawing/2010/main">
                <a:noFill/>
              </a14:hiddenFill>
            </a:ext>
          </a:extLst>
        </p:spPr>
      </p:cxnSp>
      <p:sp>
        <p:nvSpPr>
          <p:cNvPr id="135201" name="TextBox 71"/>
          <p:cNvSpPr txBox="1">
            <a:spLocks noChangeArrowheads="1"/>
          </p:cNvSpPr>
          <p:nvPr/>
        </p:nvSpPr>
        <p:spPr bwMode="auto">
          <a:xfrm>
            <a:off x="5257800" y="3911600"/>
            <a:ext cx="731838" cy="5842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r>
              <a:rPr lang="en-US" altLang="en-US" sz="3200">
                <a:solidFill>
                  <a:srgbClr val="FF0000"/>
                </a:solidFill>
                <a:latin typeface="Comic Sans MS" charset="0"/>
                <a:ea typeface="ＭＳ Ｐゴシック" charset="-128"/>
              </a:rPr>
              <a:t>EX</a:t>
            </a:r>
          </a:p>
        </p:txBody>
      </p:sp>
      <p:sp>
        <p:nvSpPr>
          <p:cNvPr id="135202" name="Slide Number Placeholder 36"/>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B9491C1B-7929-EC4E-87ED-6CF485419EE3}" type="slidenum">
              <a:rPr lang="en-US" altLang="en-US" sz="1400">
                <a:latin typeface="Comic Sans MS" charset="0"/>
                <a:ea typeface="ＭＳ Ｐゴシック" charset="-128"/>
              </a:rPr>
              <a:pPr>
                <a:spcBef>
                  <a:spcPct val="0"/>
                </a:spcBef>
                <a:buFontTx/>
                <a:buNone/>
              </a:pPr>
              <a:t>53</a:t>
            </a:fld>
            <a:r>
              <a:rPr lang="en-US" altLang="en-US" sz="1400">
                <a:latin typeface="Comic Sans MS" charset="0"/>
                <a:ea typeface="ＭＳ Ｐゴシック" charset="-128"/>
              </a:rPr>
              <a:t>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6193" name="Picture 6" descr="AppA-fig24.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46113" y="668338"/>
            <a:ext cx="7989887" cy="464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6194" name="Title 1"/>
          <p:cNvSpPr>
            <a:spLocks noGrp="1"/>
          </p:cNvSpPr>
          <p:nvPr>
            <p:ph type="title"/>
          </p:nvPr>
        </p:nvSpPr>
        <p:spPr>
          <a:xfrm>
            <a:off x="685800" y="0"/>
            <a:ext cx="8255000" cy="939800"/>
          </a:xfrm>
        </p:spPr>
        <p:txBody>
          <a:bodyPr/>
          <a:lstStyle/>
          <a:p>
            <a:pPr eaLnBrk="1" hangingPunct="1"/>
            <a:r>
              <a:rPr lang="en-US" altLang="en-US">
                <a:latin typeface="Arial  " charset="0"/>
                <a:ea typeface="MS PGothic" charset="-128"/>
                <a:cs typeface="Arial  " charset="0"/>
              </a:rPr>
              <a:t>Resolving a Branch in Decode (ID)</a:t>
            </a:r>
          </a:p>
        </p:txBody>
      </p:sp>
      <p:sp>
        <p:nvSpPr>
          <p:cNvPr id="136195" name="Content Placeholder 2"/>
          <p:cNvSpPr>
            <a:spLocks noGrp="1"/>
          </p:cNvSpPr>
          <p:nvPr>
            <p:ph idx="1"/>
          </p:nvPr>
        </p:nvSpPr>
        <p:spPr>
          <a:xfrm>
            <a:off x="749300" y="5143500"/>
            <a:ext cx="7772400" cy="1054100"/>
          </a:xfrm>
          <a:solidFill>
            <a:schemeClr val="accent1"/>
          </a:solidFill>
        </p:spPr>
        <p:txBody>
          <a:bodyPr/>
          <a:lstStyle/>
          <a:p>
            <a:pPr eaLnBrk="1" hangingPunct="1">
              <a:buFontTx/>
              <a:buNone/>
            </a:pPr>
            <a:r>
              <a:rPr lang="en-US" altLang="en-US" sz="2000">
                <a:latin typeface="Arial  " charset="0"/>
                <a:ea typeface="MS PGothic" charset="-128"/>
                <a:cs typeface="Arial  " charset="0"/>
              </a:rPr>
              <a:t>	Check branch condition and compute target in decode stage.  Update PC with correct target by end of cycle that branch enters </a:t>
            </a:r>
            <a:r>
              <a:rPr lang="en-US" altLang="en-US" sz="2000">
                <a:solidFill>
                  <a:srgbClr val="FF0000"/>
                </a:solidFill>
                <a:latin typeface="Arial  " charset="0"/>
                <a:ea typeface="MS PGothic" charset="-128"/>
                <a:cs typeface="Arial  " charset="0"/>
              </a:rPr>
              <a:t>decode stage.  </a:t>
            </a:r>
            <a:r>
              <a:rPr lang="en-US" altLang="en-US" sz="2000">
                <a:latin typeface="Arial  " charset="0"/>
                <a:ea typeface="MS PGothic" charset="-128"/>
                <a:cs typeface="Arial  " charset="0"/>
              </a:rPr>
              <a:t>Fetch correct target following cycle.</a:t>
            </a:r>
          </a:p>
        </p:txBody>
      </p:sp>
      <p:sp>
        <p:nvSpPr>
          <p:cNvPr id="136196" name="Rectangle 10"/>
          <p:cNvSpPr>
            <a:spLocks noChangeArrowheads="1"/>
          </p:cNvSpPr>
          <p:nvPr/>
        </p:nvSpPr>
        <p:spPr bwMode="auto">
          <a:xfrm>
            <a:off x="1092200" y="2628900"/>
            <a:ext cx="228600" cy="622300"/>
          </a:xfrm>
          <a:prstGeom prst="rect">
            <a:avLst/>
          </a:prstGeom>
          <a:solidFill>
            <a:srgbClr val="FF0000">
              <a:alpha val="30196"/>
            </a:srgbClr>
          </a:solidFill>
          <a:ln w="9525">
            <a:solidFill>
              <a:schemeClr val="tx1"/>
            </a:solidFill>
            <a:round/>
            <a:headEnd/>
            <a:tailEnd/>
          </a:ln>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endParaRPr lang="en-US" altLang="en-US" sz="2400">
              <a:latin typeface="Arial" charset="0"/>
              <a:ea typeface="ＭＳ Ｐゴシック" charset="-128"/>
            </a:endParaRPr>
          </a:p>
        </p:txBody>
      </p:sp>
      <p:cxnSp>
        <p:nvCxnSpPr>
          <p:cNvPr id="136197" name="Straight Connector 12"/>
          <p:cNvCxnSpPr>
            <a:cxnSpLocks noChangeShapeType="1"/>
          </p:cNvCxnSpPr>
          <p:nvPr/>
        </p:nvCxnSpPr>
        <p:spPr bwMode="auto">
          <a:xfrm>
            <a:off x="2895600" y="2324100"/>
            <a:ext cx="609600" cy="158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136198" name="Straight Connector 14"/>
          <p:cNvCxnSpPr>
            <a:cxnSpLocks noChangeShapeType="1"/>
          </p:cNvCxnSpPr>
          <p:nvPr/>
        </p:nvCxnSpPr>
        <p:spPr bwMode="auto">
          <a:xfrm rot="5400000" flipH="1" flipV="1">
            <a:off x="3276601" y="2057400"/>
            <a:ext cx="558800" cy="317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136199" name="Straight Connector 16"/>
          <p:cNvCxnSpPr>
            <a:cxnSpLocks noChangeShapeType="1"/>
          </p:cNvCxnSpPr>
          <p:nvPr/>
        </p:nvCxnSpPr>
        <p:spPr bwMode="auto">
          <a:xfrm flipV="1">
            <a:off x="3568700" y="1778000"/>
            <a:ext cx="419100" cy="127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136200" name="Straight Connector 18"/>
          <p:cNvCxnSpPr>
            <a:cxnSpLocks noChangeShapeType="1"/>
          </p:cNvCxnSpPr>
          <p:nvPr/>
        </p:nvCxnSpPr>
        <p:spPr bwMode="auto">
          <a:xfrm>
            <a:off x="4432300" y="1562100"/>
            <a:ext cx="190500" cy="158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136201" name="Straight Connector 20"/>
          <p:cNvCxnSpPr>
            <a:cxnSpLocks noChangeShapeType="1"/>
          </p:cNvCxnSpPr>
          <p:nvPr/>
        </p:nvCxnSpPr>
        <p:spPr bwMode="auto">
          <a:xfrm rot="5400000" flipH="1" flipV="1">
            <a:off x="4381501" y="1333500"/>
            <a:ext cx="457200" cy="317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136202" name="Straight Connector 22"/>
          <p:cNvCxnSpPr>
            <a:cxnSpLocks noChangeShapeType="1"/>
          </p:cNvCxnSpPr>
          <p:nvPr/>
        </p:nvCxnSpPr>
        <p:spPr bwMode="auto">
          <a:xfrm rot="10800000">
            <a:off x="2006600" y="1092200"/>
            <a:ext cx="2603500" cy="127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136203" name="Straight Connector 24"/>
          <p:cNvCxnSpPr>
            <a:cxnSpLocks noChangeShapeType="1"/>
          </p:cNvCxnSpPr>
          <p:nvPr/>
        </p:nvCxnSpPr>
        <p:spPr bwMode="auto">
          <a:xfrm rot="16200000" flipH="1">
            <a:off x="1466850" y="1644650"/>
            <a:ext cx="1092200" cy="127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136204" name="Straight Connector 26"/>
          <p:cNvCxnSpPr>
            <a:cxnSpLocks noChangeShapeType="1"/>
          </p:cNvCxnSpPr>
          <p:nvPr/>
        </p:nvCxnSpPr>
        <p:spPr bwMode="auto">
          <a:xfrm>
            <a:off x="2082800" y="2209800"/>
            <a:ext cx="355600" cy="1270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136205" name="Straight Connector 28"/>
          <p:cNvCxnSpPr>
            <a:cxnSpLocks noChangeShapeType="1"/>
          </p:cNvCxnSpPr>
          <p:nvPr/>
        </p:nvCxnSpPr>
        <p:spPr bwMode="auto">
          <a:xfrm rot="5400000" flipH="1" flipV="1">
            <a:off x="2216151" y="2063750"/>
            <a:ext cx="469900" cy="317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136206" name="Straight Connector 30"/>
          <p:cNvCxnSpPr>
            <a:cxnSpLocks noChangeShapeType="1"/>
          </p:cNvCxnSpPr>
          <p:nvPr/>
        </p:nvCxnSpPr>
        <p:spPr bwMode="auto">
          <a:xfrm rot="10800000" flipV="1">
            <a:off x="939800" y="1828800"/>
            <a:ext cx="1511300" cy="127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136207" name="Straight Connector 32"/>
          <p:cNvCxnSpPr>
            <a:cxnSpLocks noChangeShapeType="1"/>
          </p:cNvCxnSpPr>
          <p:nvPr/>
        </p:nvCxnSpPr>
        <p:spPr bwMode="auto">
          <a:xfrm rot="5400000">
            <a:off x="393701" y="2400300"/>
            <a:ext cx="1117600" cy="317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136208" name="Straight Connector 34"/>
          <p:cNvCxnSpPr>
            <a:cxnSpLocks noChangeShapeType="1"/>
          </p:cNvCxnSpPr>
          <p:nvPr/>
        </p:nvCxnSpPr>
        <p:spPr bwMode="auto">
          <a:xfrm>
            <a:off x="939800" y="2946400"/>
            <a:ext cx="101600" cy="158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136209" name="Straight Connector 36"/>
          <p:cNvCxnSpPr>
            <a:cxnSpLocks noChangeShapeType="1"/>
          </p:cNvCxnSpPr>
          <p:nvPr/>
        </p:nvCxnSpPr>
        <p:spPr bwMode="auto">
          <a:xfrm>
            <a:off x="2895600" y="4241800"/>
            <a:ext cx="1358900" cy="158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136210" name="Straight Connector 38"/>
          <p:cNvCxnSpPr>
            <a:cxnSpLocks noChangeShapeType="1"/>
          </p:cNvCxnSpPr>
          <p:nvPr/>
        </p:nvCxnSpPr>
        <p:spPr bwMode="auto">
          <a:xfrm rot="16200000" flipV="1">
            <a:off x="3371850" y="3384550"/>
            <a:ext cx="1714500" cy="25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136211" name="Straight Connector 42"/>
          <p:cNvCxnSpPr>
            <a:cxnSpLocks noChangeShapeType="1"/>
          </p:cNvCxnSpPr>
          <p:nvPr/>
        </p:nvCxnSpPr>
        <p:spPr bwMode="auto">
          <a:xfrm rot="10800000">
            <a:off x="3721100" y="2540000"/>
            <a:ext cx="469900" cy="158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136212" name="Straight Connector 45"/>
          <p:cNvCxnSpPr>
            <a:cxnSpLocks noChangeShapeType="1"/>
          </p:cNvCxnSpPr>
          <p:nvPr/>
        </p:nvCxnSpPr>
        <p:spPr bwMode="auto">
          <a:xfrm rot="5400000" flipH="1" flipV="1">
            <a:off x="3136901" y="1930400"/>
            <a:ext cx="1193800" cy="3175"/>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136213" name="Straight Connector 47"/>
          <p:cNvCxnSpPr>
            <a:cxnSpLocks noChangeShapeType="1"/>
          </p:cNvCxnSpPr>
          <p:nvPr/>
        </p:nvCxnSpPr>
        <p:spPr bwMode="auto">
          <a:xfrm>
            <a:off x="3746500" y="1358900"/>
            <a:ext cx="228600" cy="158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cxnSp>
      <p:cxnSp>
        <p:nvCxnSpPr>
          <p:cNvPr id="136214" name="Straight Connector 49"/>
          <p:cNvCxnSpPr>
            <a:cxnSpLocks noChangeShapeType="1"/>
          </p:cNvCxnSpPr>
          <p:nvPr/>
        </p:nvCxnSpPr>
        <p:spPr bwMode="auto">
          <a:xfrm>
            <a:off x="4013200" y="1384300"/>
            <a:ext cx="355600" cy="190500"/>
          </a:xfrm>
          <a:prstGeom prst="line">
            <a:avLst/>
          </a:prstGeom>
          <a:noFill/>
          <a:ln w="9525">
            <a:solidFill>
              <a:srgbClr val="FF0000"/>
            </a:solidFill>
            <a:prstDash val="sysDash"/>
            <a:round/>
            <a:headEnd/>
            <a:tailEnd/>
          </a:ln>
          <a:extLst>
            <a:ext uri="{909E8E84-426E-40DD-AFC4-6F175D3DCCD1}">
              <a14:hiddenFill xmlns:a14="http://schemas.microsoft.com/office/drawing/2010/main">
                <a:noFill/>
              </a14:hiddenFill>
            </a:ext>
          </a:extLst>
        </p:spPr>
      </p:cxnSp>
      <p:cxnSp>
        <p:nvCxnSpPr>
          <p:cNvPr id="136215" name="Straight Connector 51"/>
          <p:cNvCxnSpPr>
            <a:cxnSpLocks noChangeShapeType="1"/>
          </p:cNvCxnSpPr>
          <p:nvPr/>
        </p:nvCxnSpPr>
        <p:spPr bwMode="auto">
          <a:xfrm flipV="1">
            <a:off x="4013200" y="1600200"/>
            <a:ext cx="355600" cy="177800"/>
          </a:xfrm>
          <a:prstGeom prst="line">
            <a:avLst/>
          </a:prstGeom>
          <a:noFill/>
          <a:ln w="9525">
            <a:solidFill>
              <a:srgbClr val="FF0000"/>
            </a:solidFill>
            <a:prstDash val="sysDash"/>
            <a:round/>
            <a:headEnd/>
            <a:tailEnd/>
          </a:ln>
          <a:extLst>
            <a:ext uri="{909E8E84-426E-40DD-AFC4-6F175D3DCCD1}">
              <a14:hiddenFill xmlns:a14="http://schemas.microsoft.com/office/drawing/2010/main">
                <a:noFill/>
              </a14:hiddenFill>
            </a:ext>
          </a:extLst>
        </p:spPr>
      </p:cxnSp>
      <p:cxnSp>
        <p:nvCxnSpPr>
          <p:cNvPr id="136216" name="Straight Connector 53"/>
          <p:cNvCxnSpPr>
            <a:cxnSpLocks noChangeShapeType="1"/>
          </p:cNvCxnSpPr>
          <p:nvPr/>
        </p:nvCxnSpPr>
        <p:spPr bwMode="auto">
          <a:xfrm rot="5400000" flipH="1" flipV="1">
            <a:off x="4292601" y="1485900"/>
            <a:ext cx="1066800" cy="3175"/>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cxnSp>
      <p:cxnSp>
        <p:nvCxnSpPr>
          <p:cNvPr id="136217" name="Straight Connector 56"/>
          <p:cNvCxnSpPr>
            <a:cxnSpLocks noChangeShapeType="1"/>
          </p:cNvCxnSpPr>
          <p:nvPr/>
        </p:nvCxnSpPr>
        <p:spPr bwMode="auto">
          <a:xfrm rot="10800000">
            <a:off x="2260600" y="965200"/>
            <a:ext cx="2552700" cy="1270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cxnSp>
      <p:cxnSp>
        <p:nvCxnSpPr>
          <p:cNvPr id="136218" name="Straight Connector 58"/>
          <p:cNvCxnSpPr>
            <a:cxnSpLocks noChangeShapeType="1"/>
          </p:cNvCxnSpPr>
          <p:nvPr/>
        </p:nvCxnSpPr>
        <p:spPr bwMode="auto">
          <a:xfrm rot="5400000">
            <a:off x="1714501" y="1511300"/>
            <a:ext cx="1143000" cy="3175"/>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cxnSp>
      <p:cxnSp>
        <p:nvCxnSpPr>
          <p:cNvPr id="136219" name="Straight Connector 60"/>
          <p:cNvCxnSpPr>
            <a:cxnSpLocks noChangeShapeType="1"/>
          </p:cNvCxnSpPr>
          <p:nvPr/>
        </p:nvCxnSpPr>
        <p:spPr bwMode="auto">
          <a:xfrm>
            <a:off x="2933700" y="2806700"/>
            <a:ext cx="673100" cy="158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cxnSp>
      <p:cxnSp>
        <p:nvCxnSpPr>
          <p:cNvPr id="136220" name="Straight Connector 62"/>
          <p:cNvCxnSpPr>
            <a:cxnSpLocks noChangeShapeType="1"/>
          </p:cNvCxnSpPr>
          <p:nvPr/>
        </p:nvCxnSpPr>
        <p:spPr bwMode="auto">
          <a:xfrm>
            <a:off x="4152900" y="3162300"/>
            <a:ext cx="165100" cy="158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cxnSp>
      <p:cxnSp>
        <p:nvCxnSpPr>
          <p:cNvPr id="136221" name="Straight Connector 64"/>
          <p:cNvCxnSpPr>
            <a:cxnSpLocks noChangeShapeType="1"/>
          </p:cNvCxnSpPr>
          <p:nvPr/>
        </p:nvCxnSpPr>
        <p:spPr bwMode="auto">
          <a:xfrm rot="5400000" flipH="1" flipV="1">
            <a:off x="3721101" y="2590800"/>
            <a:ext cx="1117600" cy="3175"/>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cxnSp>
      <p:cxnSp>
        <p:nvCxnSpPr>
          <p:cNvPr id="136222" name="Straight Connector 66"/>
          <p:cNvCxnSpPr>
            <a:cxnSpLocks noChangeShapeType="1"/>
          </p:cNvCxnSpPr>
          <p:nvPr/>
        </p:nvCxnSpPr>
        <p:spPr bwMode="auto">
          <a:xfrm>
            <a:off x="4330700" y="2044700"/>
            <a:ext cx="419100" cy="1588"/>
          </a:xfrm>
          <a:prstGeom prst="line">
            <a:avLst/>
          </a:prstGeom>
          <a:noFill/>
          <a:ln w="19050">
            <a:solidFill>
              <a:srgbClr val="0000FF"/>
            </a:solidFill>
            <a:prstDash val="sysDash"/>
            <a:round/>
            <a:headEnd/>
            <a:tailEnd/>
          </a:ln>
          <a:extLst>
            <a:ext uri="{909E8E84-426E-40DD-AFC4-6F175D3DCCD1}">
              <a14:hiddenFill xmlns:a14="http://schemas.microsoft.com/office/drawing/2010/main">
                <a:noFill/>
              </a14:hiddenFill>
            </a:ext>
          </a:extLst>
        </p:spPr>
      </p:cxnSp>
      <p:sp>
        <p:nvSpPr>
          <p:cNvPr id="136223" name="TextBox 67"/>
          <p:cNvSpPr txBox="1">
            <a:spLocks noChangeArrowheads="1"/>
          </p:cNvSpPr>
          <p:nvPr/>
        </p:nvSpPr>
        <p:spPr bwMode="auto">
          <a:xfrm>
            <a:off x="3746500" y="4356100"/>
            <a:ext cx="704850" cy="5842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r>
              <a:rPr lang="en-US" altLang="en-US" sz="3200">
                <a:solidFill>
                  <a:srgbClr val="FF0000"/>
                </a:solidFill>
                <a:latin typeface="Comic Sans MS" charset="0"/>
                <a:ea typeface="ＭＳ Ｐゴシック" charset="-128"/>
              </a:rPr>
              <a:t>ID</a:t>
            </a:r>
          </a:p>
        </p:txBody>
      </p:sp>
      <p:sp>
        <p:nvSpPr>
          <p:cNvPr id="136224" name="Slide Number Placeholder 34"/>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C36EF23F-495E-1344-A034-2B9D84A81788}" type="slidenum">
              <a:rPr lang="en-US" altLang="en-US" sz="1400">
                <a:latin typeface="Comic Sans MS" charset="0"/>
                <a:ea typeface="ＭＳ Ｐゴシック" charset="-128"/>
              </a:rPr>
              <a:pPr>
                <a:spcBef>
                  <a:spcPct val="0"/>
                </a:spcBef>
                <a:buFontTx/>
                <a:buNone/>
              </a:pPr>
              <a:t>54</a:t>
            </a:fld>
            <a:r>
              <a:rPr lang="en-US" altLang="en-US" sz="1400">
                <a:latin typeface="Comic Sans MS" charset="0"/>
                <a:ea typeface="ＭＳ Ｐゴシック" charset="-128"/>
              </a:rPr>
              <a:t>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b="1" dirty="0"/>
              <a:t>Summary</a:t>
            </a:r>
          </a:p>
        </p:txBody>
      </p:sp>
      <p:sp>
        <p:nvSpPr>
          <p:cNvPr id="3" name="Content Placeholder 2"/>
          <p:cNvSpPr>
            <a:spLocks noGrp="1"/>
          </p:cNvSpPr>
          <p:nvPr>
            <p:ph idx="1"/>
          </p:nvPr>
        </p:nvSpPr>
        <p:spPr>
          <a:xfrm>
            <a:off x="685800" y="1371600"/>
            <a:ext cx="7772400" cy="5486400"/>
          </a:xfrm>
        </p:spPr>
        <p:txBody>
          <a:bodyPr/>
          <a:lstStyle/>
          <a:p>
            <a:r>
              <a:rPr lang="en-CA" dirty="0"/>
              <a:t>pipelining</a:t>
            </a:r>
          </a:p>
          <a:p>
            <a:pPr lvl="1"/>
            <a:r>
              <a:rPr lang="en-CA" dirty="0"/>
              <a:t>parallelism at sub-instruction level</a:t>
            </a:r>
          </a:p>
          <a:p>
            <a:endParaRPr lang="en-CA" dirty="0"/>
          </a:p>
          <a:p>
            <a:r>
              <a:rPr lang="en-CA" dirty="0"/>
              <a:t>hazards</a:t>
            </a:r>
          </a:p>
          <a:p>
            <a:pPr lvl="1"/>
            <a:r>
              <a:rPr lang="en-CA" dirty="0"/>
              <a:t>structural</a:t>
            </a:r>
          </a:p>
          <a:p>
            <a:pPr lvl="1"/>
            <a:r>
              <a:rPr lang="en-CA" dirty="0"/>
              <a:t>data</a:t>
            </a:r>
          </a:p>
          <a:p>
            <a:pPr lvl="1"/>
            <a:r>
              <a:rPr lang="en-CA" dirty="0"/>
              <a:t>control</a:t>
            </a:r>
          </a:p>
          <a:p>
            <a:pPr lvl="1"/>
            <a:endParaRPr lang="en-CA" dirty="0"/>
          </a:p>
          <a:p>
            <a:r>
              <a:rPr lang="en-CA" dirty="0"/>
              <a:t>forwarding</a:t>
            </a:r>
          </a:p>
          <a:p>
            <a:pPr lvl="1"/>
            <a:r>
              <a:rPr lang="en-CA" dirty="0"/>
              <a:t>paths and control</a:t>
            </a:r>
          </a:p>
        </p:txBody>
      </p:sp>
    </p:spTree>
    <p:extLst>
      <p:ext uri="{BB962C8B-B14F-4D97-AF65-F5344CB8AC3E}">
        <p14:creationId xmlns:p14="http://schemas.microsoft.com/office/powerpoint/2010/main" val="9535168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2"/>
          <p:cNvSpPr>
            <a:spLocks noGrp="1" noChangeArrowheads="1"/>
          </p:cNvSpPr>
          <p:nvPr>
            <p:ph type="title"/>
          </p:nvPr>
        </p:nvSpPr>
        <p:spPr>
          <a:xfrm>
            <a:off x="685800" y="0"/>
            <a:ext cx="7772400" cy="1066800"/>
          </a:xfrm>
        </p:spPr>
        <p:txBody>
          <a:bodyPr/>
          <a:lstStyle/>
          <a:p>
            <a:pPr eaLnBrk="1" hangingPunct="1"/>
            <a:r>
              <a:rPr lang="en-US" altLang="en-US" dirty="0">
                <a:latin typeface="Arial  " charset="0"/>
                <a:ea typeface="MS PGothic" charset="-128"/>
                <a:cs typeface="Arial  " charset="0"/>
              </a:rPr>
              <a:t>Summary of This Slide Set</a:t>
            </a:r>
          </a:p>
        </p:txBody>
      </p:sp>
      <p:sp>
        <p:nvSpPr>
          <p:cNvPr id="137218" name="Rectangle 3"/>
          <p:cNvSpPr>
            <a:spLocks noGrp="1" noChangeArrowheads="1"/>
          </p:cNvSpPr>
          <p:nvPr>
            <p:ph type="body" idx="1"/>
          </p:nvPr>
        </p:nvSpPr>
        <p:spPr>
          <a:xfrm>
            <a:off x="533400" y="1066800"/>
            <a:ext cx="7924800" cy="5181600"/>
          </a:xfrm>
        </p:spPr>
        <p:txBody>
          <a:bodyPr/>
          <a:lstStyle/>
          <a:p>
            <a:pPr eaLnBrk="1" hangingPunct="1">
              <a:buFontTx/>
              <a:buNone/>
            </a:pPr>
            <a:r>
              <a:rPr lang="en-US" altLang="en-US" sz="2000">
                <a:latin typeface="Arial  " charset="0"/>
                <a:ea typeface="MS PGothic" charset="-128"/>
                <a:cs typeface="Arial  " charset="0"/>
              </a:rPr>
              <a:t>	In this slide set we learned about how to translate an instruction set architecture into a simple processor implementation.  </a:t>
            </a:r>
          </a:p>
          <a:p>
            <a:pPr eaLnBrk="1" hangingPunct="1">
              <a:buFontTx/>
              <a:buNone/>
            </a:pPr>
            <a:endParaRPr lang="en-US" altLang="en-US" sz="2000" dirty="0">
              <a:latin typeface="Arial  " charset="0"/>
              <a:ea typeface="MS PGothic" charset="-128"/>
              <a:cs typeface="Arial  " charset="0"/>
            </a:endParaRPr>
          </a:p>
          <a:p>
            <a:pPr eaLnBrk="1" hangingPunct="1">
              <a:buFontTx/>
              <a:buNone/>
            </a:pPr>
            <a:r>
              <a:rPr lang="en-US" altLang="en-US" sz="2000" dirty="0">
                <a:latin typeface="Arial  " charset="0"/>
                <a:ea typeface="MS PGothic" charset="-128"/>
                <a:cs typeface="Arial  " charset="0"/>
              </a:rPr>
              <a:t>	Then, we saw how the performance of this implementation could be made faster by pipelining instruction execution.  </a:t>
            </a:r>
          </a:p>
          <a:p>
            <a:pPr eaLnBrk="1" hangingPunct="1">
              <a:buFontTx/>
              <a:buNone/>
            </a:pPr>
            <a:endParaRPr lang="en-US" altLang="en-US" sz="2000" dirty="0">
              <a:latin typeface="Arial  " charset="0"/>
              <a:ea typeface="MS PGothic" charset="-128"/>
              <a:cs typeface="Arial  " charset="0"/>
            </a:endParaRPr>
          </a:p>
          <a:p>
            <a:pPr eaLnBrk="1" hangingPunct="1">
              <a:buFontTx/>
              <a:buNone/>
            </a:pPr>
            <a:r>
              <a:rPr lang="en-US" altLang="en-US" sz="2000" dirty="0">
                <a:latin typeface="Arial  " charset="0"/>
                <a:ea typeface="MS PGothic" charset="-128"/>
                <a:cs typeface="Arial  " charset="0"/>
              </a:rPr>
              <a:t>	We talked about the challenges of pipelining instruction execution, namely the three pipelining idealisms and hazards.</a:t>
            </a:r>
          </a:p>
          <a:p>
            <a:pPr eaLnBrk="1" hangingPunct="1">
              <a:buFontTx/>
              <a:buNone/>
            </a:pPr>
            <a:r>
              <a:rPr lang="en-US" altLang="en-US" sz="2000" dirty="0">
                <a:latin typeface="Arial  " charset="0"/>
                <a:ea typeface="MS PGothic" charset="-128"/>
                <a:cs typeface="Arial  " charset="0"/>
              </a:rPr>
              <a:t>	</a:t>
            </a:r>
          </a:p>
          <a:p>
            <a:pPr eaLnBrk="1" hangingPunct="1">
              <a:buFontTx/>
              <a:buNone/>
            </a:pPr>
            <a:r>
              <a:rPr lang="en-US" altLang="en-US" sz="2000" dirty="0">
                <a:latin typeface="Arial  " charset="0"/>
                <a:ea typeface="MS PGothic" charset="-128"/>
                <a:cs typeface="Arial  " charset="0"/>
              </a:rPr>
              <a:t>	We also discussed ways to mitigate the effect of hazards.</a:t>
            </a:r>
          </a:p>
          <a:p>
            <a:pPr eaLnBrk="1" hangingPunct="1">
              <a:buFontTx/>
              <a:buNone/>
            </a:pPr>
            <a:endParaRPr lang="en-US" altLang="en-US" sz="2000" dirty="0">
              <a:latin typeface="Arial  " charset="0"/>
              <a:ea typeface="MS PGothic" charset="-128"/>
              <a:cs typeface="Arial  " charset="0"/>
            </a:endParaRPr>
          </a:p>
          <a:p>
            <a:pPr eaLnBrk="1" hangingPunct="1">
              <a:buFontTx/>
              <a:buNone/>
            </a:pPr>
            <a:r>
              <a:rPr lang="en-US" altLang="en-US" sz="2000" dirty="0">
                <a:latin typeface="Arial  " charset="0"/>
                <a:ea typeface="MS PGothic" charset="-128"/>
                <a:cs typeface="Arial  " charset="0"/>
              </a:rPr>
              <a:t>	In the next slide set, we are going to look at how pipelining is implemented in more detail.  This will provide intuition that enables you to quickly and accurately analyze the performance characteristics of software executed on pipelined processors.</a:t>
            </a:r>
          </a:p>
        </p:txBody>
      </p:sp>
      <p:sp>
        <p:nvSpPr>
          <p:cNvPr id="137219" name="Slide Number Placeholder 6"/>
          <p:cNvSpPr>
            <a:spLocks noGrp="1"/>
          </p:cNvSpPr>
          <p:nvPr>
            <p:ph type="sldNum" sz="quarter" idx="4294967295"/>
          </p:nvPr>
        </p:nvSpPr>
        <p:spPr>
          <a:xfrm>
            <a:off x="6553200" y="62484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Arial  " charset="0"/>
                <a:ea typeface="MS PGothic" charset="-128"/>
                <a:cs typeface="Arial  " charset="0"/>
              </a:defRPr>
            </a:lvl1pPr>
            <a:lvl2pPr marL="742950" indent="-285750">
              <a:spcBef>
                <a:spcPct val="20000"/>
              </a:spcBef>
              <a:buChar char="–"/>
              <a:defRPr sz="2400">
                <a:solidFill>
                  <a:schemeClr val="tx1"/>
                </a:solidFill>
                <a:latin typeface="Arial  " charset="0"/>
                <a:ea typeface="MS PGothic" charset="-128"/>
                <a:cs typeface="Arial  " charset="0"/>
              </a:defRPr>
            </a:lvl2pPr>
            <a:lvl3pPr marL="1143000" indent="-228600">
              <a:spcBef>
                <a:spcPct val="20000"/>
              </a:spcBef>
              <a:buChar char="•"/>
              <a:defRPr sz="2000">
                <a:solidFill>
                  <a:schemeClr val="tx1"/>
                </a:solidFill>
                <a:latin typeface="Arial  " charset="0"/>
                <a:ea typeface="MS PGothic" charset="-128"/>
                <a:cs typeface="Arial  " charset="0"/>
              </a:defRPr>
            </a:lvl3pPr>
            <a:lvl4pPr marL="1600200" indent="-228600">
              <a:spcBef>
                <a:spcPct val="20000"/>
              </a:spcBef>
              <a:buChar char="–"/>
              <a:defRPr sz="2000">
                <a:solidFill>
                  <a:schemeClr val="tx1"/>
                </a:solidFill>
                <a:latin typeface="Arial  " charset="0"/>
                <a:ea typeface="MS PGothic" charset="-128"/>
                <a:cs typeface="Arial  " charset="0"/>
              </a:defRPr>
            </a:lvl4pPr>
            <a:lvl5pPr marL="2057400" indent="-228600">
              <a:spcBef>
                <a:spcPct val="20000"/>
              </a:spcBef>
              <a:buChar char="»"/>
              <a:defRPr sz="2000">
                <a:solidFill>
                  <a:schemeClr val="tx1"/>
                </a:solidFill>
                <a:latin typeface="Arial  " charset="0"/>
                <a:ea typeface="MS PGothic" charset="-128"/>
                <a:cs typeface="Arial  " charset="0"/>
              </a:defRPr>
            </a:lvl5pPr>
            <a:lvl6pPr marL="25146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6pPr>
            <a:lvl7pPr marL="29718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7pPr>
            <a:lvl8pPr marL="34290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8pPr>
            <a:lvl9pPr marL="3886200" indent="-228600" eaLnBrk="0" fontAlgn="base" hangingPunct="0">
              <a:spcBef>
                <a:spcPct val="20000"/>
              </a:spcBef>
              <a:spcAft>
                <a:spcPct val="0"/>
              </a:spcAft>
              <a:buChar char="»"/>
              <a:defRPr sz="2000">
                <a:solidFill>
                  <a:schemeClr val="tx1"/>
                </a:solidFill>
                <a:latin typeface="Arial  " charset="0"/>
                <a:ea typeface="MS PGothic" charset="-128"/>
                <a:cs typeface="Arial  " charset="0"/>
              </a:defRPr>
            </a:lvl9pPr>
          </a:lstStyle>
          <a:p>
            <a:pPr>
              <a:spcBef>
                <a:spcPct val="0"/>
              </a:spcBef>
              <a:buFontTx/>
              <a:buNone/>
            </a:pPr>
            <a:fld id="{20F3B9DC-BBEF-5143-9432-906F892F5A60}" type="slidenum">
              <a:rPr lang="en-US" altLang="en-US" sz="1400">
                <a:latin typeface="Comic Sans MS" charset="0"/>
                <a:ea typeface="ＭＳ Ｐゴシック" charset="-128"/>
              </a:rPr>
              <a:pPr>
                <a:spcBef>
                  <a:spcPct val="0"/>
                </a:spcBef>
                <a:buFontTx/>
                <a:buNone/>
              </a:pPr>
              <a:t>56</a:t>
            </a:fld>
            <a:r>
              <a:rPr lang="en-US" altLang="en-US" sz="1400">
                <a:latin typeface="Comic Sans MS" charset="0"/>
                <a:ea typeface="ＭＳ Ｐゴシック" charset="-128"/>
              </a:rPr>
              <a:t> </a:t>
            </a:r>
          </a:p>
        </p:txBody>
      </p:sp>
    </p:spTree>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Comic Sans MS"/>
        <a:ea typeface="ＭＳ Ｐゴシック"/>
        <a:cs typeface="ＭＳ Ｐゴシック"/>
      </a:majorFont>
      <a:minorFont>
        <a:latin typeface="Comic Sans MS"/>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pitchFamily="-106" charset="-52"/>
            <a:ea typeface="ＭＳ Ｐゴシック" pitchFamily="-106" charset="-128"/>
            <a:cs typeface="ＭＳ Ｐゴシック" pitchFamily="-106"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pitchFamily="-106" charset="-52"/>
            <a:ea typeface="ＭＳ Ｐゴシック" pitchFamily="-106" charset="-128"/>
            <a:cs typeface="ＭＳ Ｐゴシック" pitchFamily="-106"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26611</TotalTime>
  <Words>2831</Words>
  <Application>Microsoft Macintosh PowerPoint</Application>
  <PresentationFormat>On-screen Show (4:3)</PresentationFormat>
  <Paragraphs>679</Paragraphs>
  <Slides>56</Slides>
  <Notes>37</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56</vt:i4>
      </vt:variant>
    </vt:vector>
  </HeadingPairs>
  <TitlesOfParts>
    <vt:vector size="66" baseType="lpstr">
      <vt:lpstr>MS PGothic</vt:lpstr>
      <vt:lpstr>MS PGothic</vt:lpstr>
      <vt:lpstr>Arial</vt:lpstr>
      <vt:lpstr>Arial  </vt:lpstr>
      <vt:lpstr>Arial   </vt:lpstr>
      <vt:lpstr>Arial Narrow</vt:lpstr>
      <vt:lpstr>Comic Sans MS</vt:lpstr>
      <vt:lpstr>Times</vt:lpstr>
      <vt:lpstr>Blank Presentation</vt:lpstr>
      <vt:lpstr>Equation</vt:lpstr>
      <vt:lpstr>CPEN 411: Computer Architecture  Slide Set #8: Pipelining</vt:lpstr>
      <vt:lpstr>PowerPoint Presentation</vt:lpstr>
      <vt:lpstr>Intel 486</vt:lpstr>
      <vt:lpstr>Learning Objectives</vt:lpstr>
      <vt:lpstr>A Simple RISC Implementation</vt:lpstr>
      <vt:lpstr>A Simple RISC Implementation</vt:lpstr>
      <vt:lpstr>PowerPoint Presentation</vt:lpstr>
      <vt:lpstr>Pipelining: Analogy</vt:lpstr>
      <vt:lpstr>Pipelining Combination Logic</vt:lpstr>
      <vt:lpstr>Pipelining: what would we like?</vt:lpstr>
      <vt:lpstr>PowerPoint Presentation</vt:lpstr>
      <vt:lpstr>Instruction Pipelining Example</vt:lpstr>
      <vt:lpstr>Pipelined “lw x1, 100(x2)”</vt:lpstr>
      <vt:lpstr>Pipelined “lw x1, 100(x2)”</vt:lpstr>
      <vt:lpstr>Pipelined “lw x1, 100(x2)”</vt:lpstr>
      <vt:lpstr>Pipelined “lw x1, 100(x2)”</vt:lpstr>
      <vt:lpstr>Pipelined “lw x1, 100(x2)”</vt:lpstr>
      <vt:lpstr>Question</vt:lpstr>
      <vt:lpstr>Pipeline Control Signals</vt:lpstr>
      <vt:lpstr>Recap</vt:lpstr>
      <vt:lpstr>Pipelining and ISA</vt:lpstr>
      <vt:lpstr>Analysis of Instruction Pipelining</vt:lpstr>
      <vt:lpstr>Step 2: Abstraction</vt:lpstr>
      <vt:lpstr>Pipelining introduces  potential “hazards”</vt:lpstr>
      <vt:lpstr>Pipeline Hazards</vt:lpstr>
      <vt:lpstr>Structural Hazards</vt:lpstr>
      <vt:lpstr>Structural Hazard Example</vt:lpstr>
      <vt:lpstr>Example Question...</vt:lpstr>
      <vt:lpstr>Solution...</vt:lpstr>
      <vt:lpstr>Problem: Data Hazards</vt:lpstr>
      <vt:lpstr>Forwarding</vt:lpstr>
      <vt:lpstr>Forwarding Example #2</vt:lpstr>
      <vt:lpstr>Unavoidable Stalls</vt:lpstr>
      <vt:lpstr>Control Hazards</vt:lpstr>
      <vt:lpstr>Option 1: Stall</vt:lpstr>
      <vt:lpstr>Option 1: Stall</vt:lpstr>
      <vt:lpstr>Option 2: Predict “Not Taken”</vt:lpstr>
      <vt:lpstr>PowerPoint Presentation</vt:lpstr>
      <vt:lpstr>Predict “Not Taken”  (correct prediction)</vt:lpstr>
      <vt:lpstr>Predict “Not Taken”  (incorrect/wrong prediction)</vt:lpstr>
      <vt:lpstr>Option #3: Delayed Branches </vt:lpstr>
      <vt:lpstr>Strategies for filling delay slot</vt:lpstr>
      <vt:lpstr>Control Hazards Summary</vt:lpstr>
      <vt:lpstr>Implementing Forwarding</vt:lpstr>
      <vt:lpstr>Implementing Forwarding</vt:lpstr>
      <vt:lpstr>Forwarding Example</vt:lpstr>
      <vt:lpstr>Forwarding Example</vt:lpstr>
      <vt:lpstr>Forwarding Example</vt:lpstr>
      <vt:lpstr>Forwarding Example</vt:lpstr>
      <vt:lpstr>Forwarding Unit Logic</vt:lpstr>
      <vt:lpstr>Where do Forwarding Paths go?</vt:lpstr>
      <vt:lpstr>Stall Hardware: Hazard Detection Unit</vt:lpstr>
      <vt:lpstr>Resolving a Branch in Execute (EX)</vt:lpstr>
      <vt:lpstr>Resolving a Branch in Decode (ID)</vt:lpstr>
      <vt:lpstr>Summary</vt:lpstr>
      <vt:lpstr>Summary of This Slide Set</vt:lpstr>
    </vt:vector>
  </TitlesOfParts>
  <Company>Tor M. Aamodt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dc:title>
  <cp:lastModifiedBy>Tor Aamodt</cp:lastModifiedBy>
  <cp:revision>183</cp:revision>
  <cp:lastPrinted>2008-09-23T23:36:51Z</cp:lastPrinted>
  <dcterms:created xsi:type="dcterms:W3CDTF">2009-09-25T06:37:29Z</dcterms:created>
  <dcterms:modified xsi:type="dcterms:W3CDTF">2025-10-15T15:18:30Z</dcterms:modified>
</cp:coreProperties>
</file>