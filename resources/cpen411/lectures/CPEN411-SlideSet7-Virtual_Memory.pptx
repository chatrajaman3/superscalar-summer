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578" r:id="rId2"/>
    <p:sldId id="570" r:id="rId3"/>
    <p:sldId id="571" r:id="rId4"/>
    <p:sldId id="533" r:id="rId5"/>
    <p:sldId id="534" r:id="rId6"/>
    <p:sldId id="535" r:id="rId7"/>
    <p:sldId id="536" r:id="rId8"/>
    <p:sldId id="538" r:id="rId9"/>
    <p:sldId id="540" r:id="rId10"/>
    <p:sldId id="572" r:id="rId11"/>
    <p:sldId id="548" r:id="rId12"/>
    <p:sldId id="579" r:id="rId13"/>
    <p:sldId id="583" r:id="rId14"/>
    <p:sldId id="573" r:id="rId15"/>
    <p:sldId id="542" r:id="rId16"/>
    <p:sldId id="564" r:id="rId17"/>
    <p:sldId id="545" r:id="rId18"/>
    <p:sldId id="547" r:id="rId19"/>
    <p:sldId id="552" r:id="rId20"/>
    <p:sldId id="575" r:id="rId21"/>
    <p:sldId id="549" r:id="rId22"/>
    <p:sldId id="574" r:id="rId23"/>
    <p:sldId id="577" r:id="rId24"/>
    <p:sldId id="582" r:id="rId25"/>
    <p:sldId id="580" r:id="rId26"/>
    <p:sldId id="584" r:id="rId27"/>
    <p:sldId id="576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FC3"/>
    <a:srgbClr val="0000FF"/>
    <a:srgbClr val="E1E1E1"/>
    <a:srgbClr val="FF00FF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1"/>
    <p:restoredTop sz="82671"/>
  </p:normalViewPr>
  <p:slideViewPr>
    <p:cSldViewPr snapToGrid="0">
      <p:cViewPr>
        <p:scale>
          <a:sx n="144" d="100"/>
          <a:sy n="144" d="100"/>
        </p:scale>
        <p:origin x="224" y="-1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49" d="100"/>
          <a:sy n="149" d="100"/>
        </p:scale>
        <p:origin x="-198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9F9D178-0E3D-B744-B9C8-EACB7869F6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9051565-53A6-844B-A5A5-2D45EB41DD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-52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051565-53A6-844B-A5A5-2D45EB41DD54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3463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051565-53A6-844B-A5A5-2D45EB41DD54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299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5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583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10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9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6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69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20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065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9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7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/>
          <a:ea typeface="+mj-ea"/>
          <a:cs typeface="Arial  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-52"/>
          <a:ea typeface="ＭＳ Ｐゴシック" pitchFamily="-106" charset="-128"/>
          <a:cs typeface="Arial  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-52"/>
          <a:ea typeface="ＭＳ Ｐゴシック" pitchFamily="-106" charset="-128"/>
          <a:cs typeface="Arial  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-52"/>
          <a:ea typeface="ＭＳ Ｐゴシック" pitchFamily="-106" charset="-128"/>
          <a:cs typeface="Arial  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 " charset="-52"/>
          <a:ea typeface="ＭＳ Ｐゴシック" pitchFamily="-106" charset="-128"/>
          <a:cs typeface="Arial  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-106" charset="0"/>
          <a:ea typeface="ＭＳ Ｐゴシック" pitchFamily="-106" charset="-128"/>
          <a:cs typeface="ＭＳ Ｐゴシック" pitchFamily="-106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  "/>
          <a:ea typeface="+mn-ea"/>
          <a:cs typeface="Arial  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  "/>
          <a:ea typeface="+mn-ea"/>
          <a:cs typeface="Arial  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  "/>
          <a:ea typeface="+mn-ea"/>
          <a:cs typeface="Arial  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Arial  "/>
          <a:ea typeface="+mn-ea"/>
          <a:cs typeface="Arial  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Arial  "/>
          <a:ea typeface="+mn-ea"/>
          <a:cs typeface="Arial  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0" y="1782169"/>
            <a:ext cx="9144000" cy="2819400"/>
          </a:xfrm>
        </p:spPr>
        <p:txBody>
          <a:bodyPr/>
          <a:lstStyle/>
          <a:p>
            <a:r>
              <a:rPr lang="en-US" altLang="en-US" sz="3200" b="1" dirty="0">
                <a:latin typeface="Arial  " charset="0"/>
              </a:rPr>
              <a:t>CPEN 411: Computer Architecture</a:t>
            </a:r>
            <a:br>
              <a:rPr lang="en-US" altLang="en-US" sz="2400" b="1" dirty="0">
                <a:latin typeface="Arial  " charset="0"/>
              </a:rPr>
            </a:br>
            <a:br>
              <a:rPr lang="en-US" altLang="en-US" b="1" dirty="0">
                <a:latin typeface="Arial  " charset="0"/>
              </a:rPr>
            </a:br>
            <a:r>
              <a:rPr lang="en-US" altLang="en-US" sz="2800" b="1" dirty="0">
                <a:latin typeface="Arial  " charset="0"/>
              </a:rPr>
              <a:t>Virtual Memory</a:t>
            </a:r>
          </a:p>
        </p:txBody>
      </p:sp>
    </p:spTree>
    <p:extLst>
      <p:ext uri="{BB962C8B-B14F-4D97-AF65-F5344CB8AC3E}">
        <p14:creationId xmlns:p14="http://schemas.microsoft.com/office/powerpoint/2010/main" val="195170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4724400"/>
          </a:xfrm>
        </p:spPr>
        <p:txBody>
          <a:bodyPr/>
          <a:lstStyle/>
          <a:p>
            <a:r>
              <a:rPr lang="en-CA" dirty="0"/>
              <a:t>define and motivate virtual memory</a:t>
            </a:r>
          </a:p>
          <a:p>
            <a:endParaRPr lang="en-CA" dirty="0"/>
          </a:p>
          <a:p>
            <a:r>
              <a:rPr lang="en-CA" dirty="0"/>
              <a:t>describe how page tables implement VM</a:t>
            </a:r>
          </a:p>
          <a:p>
            <a:endParaRPr lang="en-CA" dirty="0"/>
          </a:p>
          <a:p>
            <a:r>
              <a:rPr lang="en-CA" dirty="0"/>
              <a:t>perform virtual </a:t>
            </a:r>
            <a:r>
              <a:rPr lang="en-CA" dirty="0">
                <a:sym typeface="Wingdings"/>
              </a:rPr>
              <a:t> physical address translation</a:t>
            </a:r>
            <a:endParaRPr lang="en-CA" dirty="0"/>
          </a:p>
          <a:p>
            <a:endParaRPr lang="en-CA" dirty="0"/>
          </a:p>
          <a:p>
            <a:r>
              <a:rPr lang="en-CA" dirty="0"/>
              <a:t>motivate and emulate the TLB</a:t>
            </a:r>
          </a:p>
          <a:p>
            <a:endParaRPr lang="en-CA" dirty="0"/>
          </a:p>
          <a:p>
            <a:r>
              <a:rPr lang="en-CA" dirty="0"/>
              <a:t>explain/address VM–cache interaction issues</a:t>
            </a:r>
          </a:p>
        </p:txBody>
      </p:sp>
    </p:spTree>
    <p:extLst>
      <p:ext uri="{BB962C8B-B14F-4D97-AF65-F5344CB8AC3E}">
        <p14:creationId xmlns:p14="http://schemas.microsoft.com/office/powerpoint/2010/main" val="159270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5119352"/>
          </a:xfrm>
        </p:spPr>
        <p:txBody>
          <a:bodyPr/>
          <a:lstStyle/>
          <a:p>
            <a:r>
              <a:rPr lang="en-CA" dirty="0"/>
              <a:t>problem: OS wants to multitask (time-multiplex)</a:t>
            </a:r>
          </a:p>
          <a:p>
            <a:pPr lvl="1"/>
            <a:r>
              <a:rPr lang="en-CA" dirty="0"/>
              <a:t>but all programs assume address space starts at 0</a:t>
            </a:r>
          </a:p>
          <a:p>
            <a:pPr lvl="1"/>
            <a:r>
              <a:rPr lang="en-CA" dirty="0"/>
              <a:t>enough physical RAM to run one program</a:t>
            </a:r>
            <a:br>
              <a:rPr lang="en-CA" dirty="0"/>
            </a:br>
            <a:r>
              <a:rPr lang="en-CA" dirty="0"/>
              <a:t>but not enough to fit all of them at once</a:t>
            </a:r>
          </a:p>
          <a:p>
            <a:pPr lvl="1"/>
            <a:endParaRPr lang="en-CA" dirty="0"/>
          </a:p>
          <a:p>
            <a:r>
              <a:rPr lang="en-CA" dirty="0"/>
              <a:t>solution: separate </a:t>
            </a:r>
            <a:r>
              <a:rPr lang="en-CA" b="1" dirty="0"/>
              <a:t>address space</a:t>
            </a:r>
            <a:r>
              <a:rPr lang="en-CA" dirty="0"/>
              <a:t> per program</a:t>
            </a:r>
          </a:p>
          <a:p>
            <a:pPr lvl="1"/>
            <a:r>
              <a:rPr lang="en-CA" dirty="0"/>
              <a:t>each program has separate </a:t>
            </a:r>
            <a:r>
              <a:rPr lang="en-CA" b="1" dirty="0"/>
              <a:t>address space ID (ASID)</a:t>
            </a:r>
          </a:p>
          <a:p>
            <a:pPr lvl="1"/>
            <a:r>
              <a:rPr lang="en-CA" dirty="0"/>
              <a:t>program executes using </a:t>
            </a:r>
            <a:r>
              <a:rPr lang="en-CA" b="1" dirty="0"/>
              <a:t>virtual addresses (VA)</a:t>
            </a:r>
          </a:p>
          <a:p>
            <a:pPr lvl="1"/>
            <a:r>
              <a:rPr lang="en-CA" dirty="0"/>
              <a:t>CPU + OS translate to </a:t>
            </a:r>
            <a:r>
              <a:rPr lang="en-CA" b="1" dirty="0"/>
              <a:t>physical addresses (PA)</a:t>
            </a:r>
          </a:p>
          <a:p>
            <a:pPr lvl="1"/>
            <a:r>
              <a:rPr lang="en-CA" dirty="0"/>
              <a:t>{ASID 42, VA 0xdeadbeef} ≠ {ASID 17, VA 0xdeadbeef}</a:t>
            </a:r>
            <a:br>
              <a:rPr lang="en-CA" dirty="0"/>
            </a:br>
            <a:r>
              <a:rPr lang="en-CA" dirty="0"/>
              <a:t>(they will map to different physical addresses)</a:t>
            </a:r>
          </a:p>
        </p:txBody>
      </p:sp>
    </p:spTree>
    <p:extLst>
      <p:ext uri="{BB962C8B-B14F-4D97-AF65-F5344CB8AC3E}">
        <p14:creationId xmlns:p14="http://schemas.microsoft.com/office/powerpoint/2010/main" val="160038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latin typeface="Arial  " charset="0"/>
              </a:rPr>
              <a:t>Multiple Programs Using Memory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6116638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OS starts, reserves some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browser starts, wants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Word starts, wants memory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latin typeface="Arial  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open webpage, browser </a:t>
            </a:r>
            <a:r>
              <a:rPr lang="en-US" altLang="en-US" sz="2400" dirty="0" err="1">
                <a:latin typeface="Arial  " charset="0"/>
              </a:rPr>
              <a:t>allocs</a:t>
            </a:r>
            <a:r>
              <a:rPr lang="en-US" altLang="en-US" sz="2400" dirty="0">
                <a:latin typeface="Arial  " charset="0"/>
              </a:rPr>
              <a:t>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open doc, Word </a:t>
            </a:r>
            <a:r>
              <a:rPr lang="en-US" altLang="en-US" sz="2400" dirty="0" err="1">
                <a:latin typeface="Arial  " charset="0"/>
              </a:rPr>
              <a:t>allocs</a:t>
            </a:r>
            <a:r>
              <a:rPr lang="en-US" altLang="en-US" sz="2400" dirty="0">
                <a:latin typeface="Arial  " charset="0"/>
              </a:rPr>
              <a:t>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open webpage, browser </a:t>
            </a:r>
            <a:r>
              <a:rPr lang="en-US" altLang="en-US" sz="2400" dirty="0" err="1">
                <a:latin typeface="Arial  " charset="0"/>
              </a:rPr>
              <a:t>allocs</a:t>
            </a:r>
            <a:r>
              <a:rPr lang="en-US" altLang="en-US" sz="2400" dirty="0">
                <a:latin typeface="Arial  " charset="0"/>
              </a:rPr>
              <a:t> more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user edits doc, Word </a:t>
            </a:r>
            <a:r>
              <a:rPr lang="en-US" altLang="en-US" sz="2400" dirty="0" err="1">
                <a:latin typeface="Arial  " charset="0"/>
              </a:rPr>
              <a:t>allocs</a:t>
            </a:r>
            <a:r>
              <a:rPr lang="en-US" altLang="en-US" sz="2400" dirty="0">
                <a:latin typeface="Arial  " charset="0"/>
              </a:rPr>
              <a:t> more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latin typeface="Arial  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Arial  " charset="0"/>
              </a:rPr>
              <a:t>total </a:t>
            </a:r>
            <a:r>
              <a:rPr lang="en-US" altLang="en-US" sz="2400" b="1" dirty="0">
                <a:latin typeface="Arial  " charset="0"/>
              </a:rPr>
              <a:t>more than physical memory</a:t>
            </a:r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8051800" y="1687513"/>
            <a:ext cx="838200" cy="43449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/>
              <a:t>Main</a:t>
            </a:r>
          </a:p>
          <a:p>
            <a:pPr algn="ctr" eaLnBrk="1" hangingPunct="1"/>
            <a:r>
              <a:rPr lang="en-US" altLang="en-US" b="1"/>
              <a:t>Mem</a:t>
            </a:r>
          </a:p>
        </p:txBody>
      </p:sp>
      <p:sp>
        <p:nvSpPr>
          <p:cNvPr id="761861" name="Rectangle 5"/>
          <p:cNvSpPr>
            <a:spLocks noChangeArrowheads="1"/>
          </p:cNvSpPr>
          <p:nvPr/>
        </p:nvSpPr>
        <p:spPr bwMode="auto">
          <a:xfrm>
            <a:off x="7010400" y="4660900"/>
            <a:ext cx="10414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OS</a:t>
            </a:r>
          </a:p>
        </p:txBody>
      </p:sp>
      <p:sp>
        <p:nvSpPr>
          <p:cNvPr id="761862" name="Rectangle 6"/>
          <p:cNvSpPr>
            <a:spLocks noChangeArrowheads="1"/>
          </p:cNvSpPr>
          <p:nvPr/>
        </p:nvSpPr>
        <p:spPr bwMode="auto">
          <a:xfrm>
            <a:off x="7010400" y="4127500"/>
            <a:ext cx="1041400" cy="533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Web</a:t>
            </a:r>
          </a:p>
        </p:txBody>
      </p:sp>
      <p:sp>
        <p:nvSpPr>
          <p:cNvPr id="761863" name="Rectangle 7"/>
          <p:cNvSpPr>
            <a:spLocks noChangeArrowheads="1"/>
          </p:cNvSpPr>
          <p:nvPr/>
        </p:nvSpPr>
        <p:spPr bwMode="auto">
          <a:xfrm>
            <a:off x="7023100" y="3441700"/>
            <a:ext cx="1028700" cy="6985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Word</a:t>
            </a:r>
          </a:p>
        </p:txBody>
      </p:sp>
      <p:sp>
        <p:nvSpPr>
          <p:cNvPr id="761864" name="Rectangle 8"/>
          <p:cNvSpPr>
            <a:spLocks noChangeArrowheads="1"/>
          </p:cNvSpPr>
          <p:nvPr/>
        </p:nvSpPr>
        <p:spPr bwMode="auto">
          <a:xfrm>
            <a:off x="7023100" y="2374900"/>
            <a:ext cx="1028700" cy="1066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Web</a:t>
            </a:r>
          </a:p>
        </p:txBody>
      </p:sp>
      <p:sp>
        <p:nvSpPr>
          <p:cNvPr id="761865" name="Rectangle 9"/>
          <p:cNvSpPr>
            <a:spLocks noChangeArrowheads="1"/>
          </p:cNvSpPr>
          <p:nvPr/>
        </p:nvSpPr>
        <p:spPr bwMode="auto">
          <a:xfrm>
            <a:off x="7010400" y="1460500"/>
            <a:ext cx="1041400" cy="533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Web</a:t>
            </a:r>
          </a:p>
        </p:txBody>
      </p:sp>
      <p:sp>
        <p:nvSpPr>
          <p:cNvPr id="761866" name="Rectangle 10"/>
          <p:cNvSpPr>
            <a:spLocks noChangeArrowheads="1"/>
          </p:cNvSpPr>
          <p:nvPr/>
        </p:nvSpPr>
        <p:spPr bwMode="auto">
          <a:xfrm>
            <a:off x="6997700" y="1130300"/>
            <a:ext cx="1054100" cy="3175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/>
              <a:t>Word</a:t>
            </a:r>
          </a:p>
        </p:txBody>
      </p:sp>
      <p:sp>
        <p:nvSpPr>
          <p:cNvPr id="761867" name="Rectangle 11"/>
          <p:cNvSpPr>
            <a:spLocks noChangeArrowheads="1"/>
          </p:cNvSpPr>
          <p:nvPr/>
        </p:nvSpPr>
        <p:spPr bwMode="auto">
          <a:xfrm>
            <a:off x="7010400" y="1993900"/>
            <a:ext cx="1041400" cy="368300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6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6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1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1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61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61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61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61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61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61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61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61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61861" grpId="0" animBg="1" autoUpdateAnimBg="0"/>
      <p:bldP spid="761862" grpId="0" animBg="1" autoUpdateAnimBg="0"/>
      <p:bldP spid="761863" grpId="0" animBg="1" autoUpdateAnimBg="0"/>
      <p:bldP spid="761864" grpId="0" animBg="1" autoUpdateAnimBg="0"/>
      <p:bldP spid="761865" grpId="0" animBg="1" autoUpdateAnimBg="0"/>
      <p:bldP spid="761866" grpId="0" animBg="1" autoUpdateAnimBg="0"/>
      <p:bldP spid="76186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58775"/>
            <a:ext cx="7772400" cy="114300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US" b="1" dirty="0">
                <a:latin typeface="Arial  " charset="0"/>
              </a:rPr>
              <a:t>Fragmentation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8089900" y="2009775"/>
            <a:ext cx="838200" cy="4264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/>
              <a:t>Main</a:t>
            </a:r>
          </a:p>
          <a:p>
            <a:pPr algn="ctr" eaLnBrk="1" hangingPunct="1"/>
            <a:r>
              <a:rPr lang="en-US" altLang="en-US" b="1"/>
              <a:t>Mem</a:t>
            </a: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6972300" y="4889500"/>
            <a:ext cx="11049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OS</a:t>
            </a:r>
          </a:p>
        </p:txBody>
      </p:sp>
      <p:sp>
        <p:nvSpPr>
          <p:cNvPr id="21509" name="Rectangle 6"/>
          <p:cNvSpPr>
            <a:spLocks noChangeArrowheads="1"/>
          </p:cNvSpPr>
          <p:nvPr/>
        </p:nvSpPr>
        <p:spPr bwMode="auto">
          <a:xfrm>
            <a:off x="6972300" y="4343400"/>
            <a:ext cx="1104900" cy="5461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Web</a:t>
            </a:r>
          </a:p>
        </p:txBody>
      </p:sp>
      <p:sp>
        <p:nvSpPr>
          <p:cNvPr id="21510" name="Rectangle 7"/>
          <p:cNvSpPr>
            <a:spLocks noChangeArrowheads="1"/>
          </p:cNvSpPr>
          <p:nvPr/>
        </p:nvSpPr>
        <p:spPr bwMode="auto">
          <a:xfrm>
            <a:off x="6946900" y="2603500"/>
            <a:ext cx="1130300" cy="1066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Web</a:t>
            </a:r>
          </a:p>
        </p:txBody>
      </p:sp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6934200" y="1689100"/>
            <a:ext cx="1143000" cy="508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Web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371600"/>
            <a:ext cx="6027234" cy="5334000"/>
          </a:xfrm>
        </p:spPr>
        <p:txBody>
          <a:bodyPr/>
          <a:lstStyle/>
          <a:p>
            <a:r>
              <a:rPr lang="en-CA" dirty="0"/>
              <a:t>“writer’s block,” user exits Word</a:t>
            </a:r>
            <a:br>
              <a:rPr lang="en-CA" dirty="0"/>
            </a:br>
            <a:r>
              <a:rPr lang="en-CA" dirty="0"/>
              <a:t>		(sorry ENGL 112)</a:t>
            </a:r>
          </a:p>
          <a:p>
            <a:endParaRPr lang="en-CA" dirty="0"/>
          </a:p>
          <a:p>
            <a:r>
              <a:rPr lang="en-CA" dirty="0">
                <a:sym typeface="Wingdings"/>
              </a:rPr>
              <a:t>start </a:t>
            </a:r>
            <a:r>
              <a:rPr lang="en-CA" dirty="0"/>
              <a:t>game, needs </a:t>
            </a:r>
            <a:r>
              <a:rPr lang="en-CA" b="1" dirty="0"/>
              <a:t>lots </a:t>
            </a:r>
            <a:r>
              <a:rPr lang="en-CA" dirty="0"/>
              <a:t>of RAM</a:t>
            </a:r>
          </a:p>
          <a:p>
            <a:endParaRPr lang="en-CA" dirty="0"/>
          </a:p>
          <a:p>
            <a:r>
              <a:rPr lang="en-CA" dirty="0"/>
              <a:t>and it wants </a:t>
            </a:r>
            <a:r>
              <a:rPr lang="en-CA" b="1" dirty="0"/>
              <a:t>contiguous </a:t>
            </a:r>
            <a:r>
              <a:rPr lang="en-CA" dirty="0" err="1"/>
              <a:t>addrs</a:t>
            </a:r>
            <a:endParaRPr lang="en-CA" dirty="0"/>
          </a:p>
          <a:p>
            <a:endParaRPr lang="en-CA" dirty="0"/>
          </a:p>
          <a:p>
            <a:r>
              <a:rPr lang="en-CA" dirty="0"/>
              <a:t>can’t move the browser</a:t>
            </a:r>
            <a:br>
              <a:rPr lang="en-CA" dirty="0"/>
            </a:br>
            <a:r>
              <a:rPr lang="en-CA" dirty="0"/>
              <a:t>(has pointers to green memory)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934200" y="1339612"/>
            <a:ext cx="1155700" cy="3003788"/>
            <a:chOff x="6934200" y="1339612"/>
            <a:chExt cx="1155700" cy="3003788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6946900" y="3673713"/>
              <a:ext cx="1130300" cy="66968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b="1" dirty="0"/>
                <a:t>Word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6934200" y="1339612"/>
              <a:ext cx="1117600" cy="340201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b="1" dirty="0"/>
                <a:t>Word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946900" y="2206387"/>
              <a:ext cx="1143000" cy="38782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b="1" dirty="0"/>
                <a:t>Word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reeform 2"/>
          <p:cNvSpPr>
            <a:spLocks/>
          </p:cNvSpPr>
          <p:nvPr/>
        </p:nvSpPr>
        <p:spPr bwMode="auto">
          <a:xfrm>
            <a:off x="1671638" y="3927475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latin typeface="Arial  " charset="0"/>
              </a:rPr>
              <a:t>Paged virtual memory</a:t>
            </a:r>
          </a:p>
        </p:txBody>
      </p:sp>
      <p:sp>
        <p:nvSpPr>
          <p:cNvPr id="22531" name="AutoShape 4"/>
          <p:cNvSpPr>
            <a:spLocks noChangeAspect="1" noChangeArrowheads="1" noTextEdit="1"/>
          </p:cNvSpPr>
          <p:nvPr/>
        </p:nvSpPr>
        <p:spPr bwMode="auto">
          <a:xfrm>
            <a:off x="1638300" y="1689100"/>
            <a:ext cx="5943600" cy="427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2" name="Freeform 5"/>
          <p:cNvSpPr>
            <a:spLocks/>
          </p:cNvSpPr>
          <p:nvPr/>
        </p:nvSpPr>
        <p:spPr bwMode="auto">
          <a:xfrm>
            <a:off x="1668463" y="1860550"/>
            <a:ext cx="1766887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3" name="Freeform 6"/>
          <p:cNvSpPr>
            <a:spLocks/>
          </p:cNvSpPr>
          <p:nvPr/>
        </p:nvSpPr>
        <p:spPr bwMode="auto">
          <a:xfrm>
            <a:off x="1668463" y="2449513"/>
            <a:ext cx="1766887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4" name="Freeform 7"/>
          <p:cNvSpPr>
            <a:spLocks/>
          </p:cNvSpPr>
          <p:nvPr/>
        </p:nvSpPr>
        <p:spPr bwMode="auto">
          <a:xfrm>
            <a:off x="1668463" y="3038475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5" name="Freeform 8"/>
          <p:cNvSpPr>
            <a:spLocks/>
          </p:cNvSpPr>
          <p:nvPr/>
        </p:nvSpPr>
        <p:spPr bwMode="auto">
          <a:xfrm>
            <a:off x="1668463" y="36274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6" name="Freeform 9"/>
          <p:cNvSpPr>
            <a:spLocks/>
          </p:cNvSpPr>
          <p:nvPr/>
        </p:nvSpPr>
        <p:spPr bwMode="auto">
          <a:xfrm>
            <a:off x="1668463" y="36274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7" name="Freeform 10"/>
          <p:cNvSpPr>
            <a:spLocks/>
          </p:cNvSpPr>
          <p:nvPr/>
        </p:nvSpPr>
        <p:spPr bwMode="auto">
          <a:xfrm>
            <a:off x="1668463" y="4216400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8" name="Freeform 11"/>
          <p:cNvSpPr>
            <a:spLocks/>
          </p:cNvSpPr>
          <p:nvPr/>
        </p:nvSpPr>
        <p:spPr bwMode="auto">
          <a:xfrm>
            <a:off x="1668463" y="4216400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39" name="Freeform 12"/>
          <p:cNvSpPr>
            <a:spLocks/>
          </p:cNvSpPr>
          <p:nvPr/>
        </p:nvSpPr>
        <p:spPr bwMode="auto">
          <a:xfrm>
            <a:off x="1668463" y="4806950"/>
            <a:ext cx="1766887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1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40" name="Freeform 13"/>
          <p:cNvSpPr>
            <a:spLocks/>
          </p:cNvSpPr>
          <p:nvPr/>
        </p:nvSpPr>
        <p:spPr bwMode="auto">
          <a:xfrm>
            <a:off x="4024313" y="4806950"/>
            <a:ext cx="1766887" cy="1130300"/>
          </a:xfrm>
          <a:custGeom>
            <a:avLst/>
            <a:gdLst>
              <a:gd name="T0" fmla="*/ 2147483647 w 1113"/>
              <a:gd name="T1" fmla="*/ 2147483647 h 712"/>
              <a:gd name="T2" fmla="*/ 2147483647 w 1113"/>
              <a:gd name="T3" fmla="*/ 2147483647 h 712"/>
              <a:gd name="T4" fmla="*/ 2147483647 w 1113"/>
              <a:gd name="T5" fmla="*/ 2147483647 h 712"/>
              <a:gd name="T6" fmla="*/ 2147483647 w 1113"/>
              <a:gd name="T7" fmla="*/ 2147483647 h 712"/>
              <a:gd name="T8" fmla="*/ 2147483647 w 1113"/>
              <a:gd name="T9" fmla="*/ 2147483647 h 712"/>
              <a:gd name="T10" fmla="*/ 2147483647 w 1113"/>
              <a:gd name="T11" fmla="*/ 2147483647 h 712"/>
              <a:gd name="T12" fmla="*/ 2147483647 w 1113"/>
              <a:gd name="T13" fmla="*/ 2147483647 h 712"/>
              <a:gd name="T14" fmla="*/ 2147483647 w 1113"/>
              <a:gd name="T15" fmla="*/ 2147483647 h 712"/>
              <a:gd name="T16" fmla="*/ 2147483647 w 1113"/>
              <a:gd name="T17" fmla="*/ 2147483647 h 712"/>
              <a:gd name="T18" fmla="*/ 2147483647 w 1113"/>
              <a:gd name="T19" fmla="*/ 2147483647 h 712"/>
              <a:gd name="T20" fmla="*/ 2147483647 w 1113"/>
              <a:gd name="T21" fmla="*/ 0 h 712"/>
              <a:gd name="T22" fmla="*/ 2147483647 w 1113"/>
              <a:gd name="T23" fmla="*/ 2147483647 h 712"/>
              <a:gd name="T24" fmla="*/ 2147483647 w 1113"/>
              <a:gd name="T25" fmla="*/ 2147483647 h 712"/>
              <a:gd name="T26" fmla="*/ 2147483647 w 1113"/>
              <a:gd name="T27" fmla="*/ 2147483647 h 712"/>
              <a:gd name="T28" fmla="*/ 2147483647 w 1113"/>
              <a:gd name="T29" fmla="*/ 2147483647 h 712"/>
              <a:gd name="T30" fmla="*/ 2147483647 w 1113"/>
              <a:gd name="T31" fmla="*/ 2147483647 h 712"/>
              <a:gd name="T32" fmla="*/ 2147483647 w 1113"/>
              <a:gd name="T33" fmla="*/ 2147483647 h 712"/>
              <a:gd name="T34" fmla="*/ 2147483647 w 1113"/>
              <a:gd name="T35" fmla="*/ 2147483647 h 712"/>
              <a:gd name="T36" fmla="*/ 2147483647 w 1113"/>
              <a:gd name="T37" fmla="*/ 2147483647 h 712"/>
              <a:gd name="T38" fmla="*/ 2147483647 w 1113"/>
              <a:gd name="T39" fmla="*/ 2147483647 h 712"/>
              <a:gd name="T40" fmla="*/ 0 w 1113"/>
              <a:gd name="T41" fmla="*/ 2147483647 h 712"/>
              <a:gd name="T42" fmla="*/ 0 w 1113"/>
              <a:gd name="T43" fmla="*/ 2147483647 h 712"/>
              <a:gd name="T44" fmla="*/ 2147483647 w 1113"/>
              <a:gd name="T45" fmla="*/ 2147483647 h 712"/>
              <a:gd name="T46" fmla="*/ 2147483647 w 1113"/>
              <a:gd name="T47" fmla="*/ 2147483647 h 712"/>
              <a:gd name="T48" fmla="*/ 2147483647 w 1113"/>
              <a:gd name="T49" fmla="*/ 2147483647 h 712"/>
              <a:gd name="T50" fmla="*/ 2147483647 w 1113"/>
              <a:gd name="T51" fmla="*/ 2147483647 h 712"/>
              <a:gd name="T52" fmla="*/ 2147483647 w 1113"/>
              <a:gd name="T53" fmla="*/ 2147483647 h 712"/>
              <a:gd name="T54" fmla="*/ 2147483647 w 1113"/>
              <a:gd name="T55" fmla="*/ 2147483647 h 712"/>
              <a:gd name="T56" fmla="*/ 2147483647 w 1113"/>
              <a:gd name="T57" fmla="*/ 2147483647 h 712"/>
              <a:gd name="T58" fmla="*/ 2147483647 w 1113"/>
              <a:gd name="T59" fmla="*/ 2147483647 h 712"/>
              <a:gd name="T60" fmla="*/ 2147483647 w 1113"/>
              <a:gd name="T61" fmla="*/ 2147483647 h 712"/>
              <a:gd name="T62" fmla="*/ 2147483647 w 1113"/>
              <a:gd name="T63" fmla="*/ 2147483647 h 712"/>
              <a:gd name="T64" fmla="*/ 2147483647 w 1113"/>
              <a:gd name="T65" fmla="*/ 2147483647 h 712"/>
              <a:gd name="T66" fmla="*/ 2147483647 w 1113"/>
              <a:gd name="T67" fmla="*/ 2147483647 h 712"/>
              <a:gd name="T68" fmla="*/ 2147483647 w 1113"/>
              <a:gd name="T69" fmla="*/ 2147483647 h 712"/>
              <a:gd name="T70" fmla="*/ 2147483647 w 1113"/>
              <a:gd name="T71" fmla="*/ 2147483647 h 712"/>
              <a:gd name="T72" fmla="*/ 2147483647 w 1113"/>
              <a:gd name="T73" fmla="*/ 2147483647 h 712"/>
              <a:gd name="T74" fmla="*/ 2147483647 w 1113"/>
              <a:gd name="T75" fmla="*/ 2147483647 h 712"/>
              <a:gd name="T76" fmla="*/ 2147483647 w 1113"/>
              <a:gd name="T77" fmla="*/ 2147483647 h 712"/>
              <a:gd name="T78" fmla="*/ 2147483647 w 1113"/>
              <a:gd name="T79" fmla="*/ 2147483647 h 712"/>
              <a:gd name="T80" fmla="*/ 2147483647 w 1113"/>
              <a:gd name="T81" fmla="*/ 2147483647 h 712"/>
              <a:gd name="T82" fmla="*/ 2147483647 w 1113"/>
              <a:gd name="T83" fmla="*/ 2147483647 h 712"/>
              <a:gd name="T84" fmla="*/ 2147483647 w 1113"/>
              <a:gd name="T85" fmla="*/ 2147483647 h 712"/>
              <a:gd name="T86" fmla="*/ 2147483647 w 1113"/>
              <a:gd name="T87" fmla="*/ 2147483647 h 712"/>
              <a:gd name="T88" fmla="*/ 2147483647 w 1113"/>
              <a:gd name="T89" fmla="*/ 2147483647 h 71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113"/>
              <a:gd name="T136" fmla="*/ 0 h 712"/>
              <a:gd name="T137" fmla="*/ 1113 w 1113"/>
              <a:gd name="T138" fmla="*/ 712 h 712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113" h="712">
                <a:moveTo>
                  <a:pt x="1113" y="155"/>
                </a:moveTo>
                <a:lnTo>
                  <a:pt x="1106" y="133"/>
                </a:lnTo>
                <a:lnTo>
                  <a:pt x="1087" y="107"/>
                </a:lnTo>
                <a:lnTo>
                  <a:pt x="1054" y="85"/>
                </a:lnTo>
                <a:lnTo>
                  <a:pt x="1005" y="66"/>
                </a:lnTo>
                <a:lnTo>
                  <a:pt x="950" y="48"/>
                </a:lnTo>
                <a:lnTo>
                  <a:pt x="887" y="29"/>
                </a:lnTo>
                <a:lnTo>
                  <a:pt x="812" y="18"/>
                </a:lnTo>
                <a:lnTo>
                  <a:pt x="734" y="7"/>
                </a:lnTo>
                <a:lnTo>
                  <a:pt x="649" y="3"/>
                </a:lnTo>
                <a:lnTo>
                  <a:pt x="556" y="0"/>
                </a:lnTo>
                <a:lnTo>
                  <a:pt x="467" y="3"/>
                </a:lnTo>
                <a:lnTo>
                  <a:pt x="382" y="7"/>
                </a:lnTo>
                <a:lnTo>
                  <a:pt x="300" y="18"/>
                </a:lnTo>
                <a:lnTo>
                  <a:pt x="230" y="29"/>
                </a:lnTo>
                <a:lnTo>
                  <a:pt x="163" y="48"/>
                </a:lnTo>
                <a:lnTo>
                  <a:pt x="107" y="66"/>
                </a:lnTo>
                <a:lnTo>
                  <a:pt x="63" y="85"/>
                </a:lnTo>
                <a:lnTo>
                  <a:pt x="29" y="107"/>
                </a:lnTo>
                <a:lnTo>
                  <a:pt x="7" y="133"/>
                </a:lnTo>
                <a:lnTo>
                  <a:pt x="0" y="159"/>
                </a:lnTo>
                <a:lnTo>
                  <a:pt x="0" y="556"/>
                </a:lnTo>
                <a:lnTo>
                  <a:pt x="7" y="582"/>
                </a:lnTo>
                <a:lnTo>
                  <a:pt x="29" y="605"/>
                </a:lnTo>
                <a:lnTo>
                  <a:pt x="63" y="627"/>
                </a:lnTo>
                <a:lnTo>
                  <a:pt x="107" y="649"/>
                </a:lnTo>
                <a:lnTo>
                  <a:pt x="163" y="668"/>
                </a:lnTo>
                <a:lnTo>
                  <a:pt x="230" y="682"/>
                </a:lnTo>
                <a:lnTo>
                  <a:pt x="300" y="697"/>
                </a:lnTo>
                <a:lnTo>
                  <a:pt x="382" y="705"/>
                </a:lnTo>
                <a:lnTo>
                  <a:pt x="467" y="712"/>
                </a:lnTo>
                <a:lnTo>
                  <a:pt x="556" y="712"/>
                </a:lnTo>
                <a:lnTo>
                  <a:pt x="649" y="712"/>
                </a:lnTo>
                <a:lnTo>
                  <a:pt x="734" y="705"/>
                </a:lnTo>
                <a:lnTo>
                  <a:pt x="812" y="697"/>
                </a:lnTo>
                <a:lnTo>
                  <a:pt x="887" y="682"/>
                </a:lnTo>
                <a:lnTo>
                  <a:pt x="950" y="668"/>
                </a:lnTo>
                <a:lnTo>
                  <a:pt x="1005" y="649"/>
                </a:lnTo>
                <a:lnTo>
                  <a:pt x="1054" y="627"/>
                </a:lnTo>
                <a:lnTo>
                  <a:pt x="1087" y="605"/>
                </a:lnTo>
                <a:lnTo>
                  <a:pt x="1106" y="582"/>
                </a:lnTo>
                <a:lnTo>
                  <a:pt x="1113" y="556"/>
                </a:lnTo>
                <a:lnTo>
                  <a:pt x="1113" y="159"/>
                </a:lnTo>
                <a:lnTo>
                  <a:pt x="1113" y="1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41" name="Freeform 14"/>
          <p:cNvSpPr>
            <a:spLocks/>
          </p:cNvSpPr>
          <p:nvPr/>
        </p:nvSpPr>
        <p:spPr bwMode="auto">
          <a:xfrm>
            <a:off x="4024313" y="4806950"/>
            <a:ext cx="1766887" cy="1130300"/>
          </a:xfrm>
          <a:custGeom>
            <a:avLst/>
            <a:gdLst>
              <a:gd name="T0" fmla="*/ 2147483647 w 1113"/>
              <a:gd name="T1" fmla="*/ 2147483647 h 712"/>
              <a:gd name="T2" fmla="*/ 2147483647 w 1113"/>
              <a:gd name="T3" fmla="*/ 2147483647 h 712"/>
              <a:gd name="T4" fmla="*/ 2147483647 w 1113"/>
              <a:gd name="T5" fmla="*/ 2147483647 h 712"/>
              <a:gd name="T6" fmla="*/ 2147483647 w 1113"/>
              <a:gd name="T7" fmla="*/ 2147483647 h 712"/>
              <a:gd name="T8" fmla="*/ 2147483647 w 1113"/>
              <a:gd name="T9" fmla="*/ 2147483647 h 712"/>
              <a:gd name="T10" fmla="*/ 2147483647 w 1113"/>
              <a:gd name="T11" fmla="*/ 2147483647 h 712"/>
              <a:gd name="T12" fmla="*/ 2147483647 w 1113"/>
              <a:gd name="T13" fmla="*/ 2147483647 h 712"/>
              <a:gd name="T14" fmla="*/ 2147483647 w 1113"/>
              <a:gd name="T15" fmla="*/ 2147483647 h 712"/>
              <a:gd name="T16" fmla="*/ 2147483647 w 1113"/>
              <a:gd name="T17" fmla="*/ 2147483647 h 712"/>
              <a:gd name="T18" fmla="*/ 2147483647 w 1113"/>
              <a:gd name="T19" fmla="*/ 2147483647 h 712"/>
              <a:gd name="T20" fmla="*/ 2147483647 w 1113"/>
              <a:gd name="T21" fmla="*/ 0 h 712"/>
              <a:gd name="T22" fmla="*/ 2147483647 w 1113"/>
              <a:gd name="T23" fmla="*/ 2147483647 h 712"/>
              <a:gd name="T24" fmla="*/ 2147483647 w 1113"/>
              <a:gd name="T25" fmla="*/ 2147483647 h 712"/>
              <a:gd name="T26" fmla="*/ 2147483647 w 1113"/>
              <a:gd name="T27" fmla="*/ 2147483647 h 712"/>
              <a:gd name="T28" fmla="*/ 2147483647 w 1113"/>
              <a:gd name="T29" fmla="*/ 2147483647 h 712"/>
              <a:gd name="T30" fmla="*/ 2147483647 w 1113"/>
              <a:gd name="T31" fmla="*/ 2147483647 h 712"/>
              <a:gd name="T32" fmla="*/ 2147483647 w 1113"/>
              <a:gd name="T33" fmla="*/ 2147483647 h 712"/>
              <a:gd name="T34" fmla="*/ 2147483647 w 1113"/>
              <a:gd name="T35" fmla="*/ 2147483647 h 712"/>
              <a:gd name="T36" fmla="*/ 2147483647 w 1113"/>
              <a:gd name="T37" fmla="*/ 2147483647 h 712"/>
              <a:gd name="T38" fmla="*/ 2147483647 w 1113"/>
              <a:gd name="T39" fmla="*/ 2147483647 h 712"/>
              <a:gd name="T40" fmla="*/ 0 w 1113"/>
              <a:gd name="T41" fmla="*/ 2147483647 h 712"/>
              <a:gd name="T42" fmla="*/ 0 w 1113"/>
              <a:gd name="T43" fmla="*/ 2147483647 h 712"/>
              <a:gd name="T44" fmla="*/ 2147483647 w 1113"/>
              <a:gd name="T45" fmla="*/ 2147483647 h 712"/>
              <a:gd name="T46" fmla="*/ 2147483647 w 1113"/>
              <a:gd name="T47" fmla="*/ 2147483647 h 712"/>
              <a:gd name="T48" fmla="*/ 2147483647 w 1113"/>
              <a:gd name="T49" fmla="*/ 2147483647 h 712"/>
              <a:gd name="T50" fmla="*/ 2147483647 w 1113"/>
              <a:gd name="T51" fmla="*/ 2147483647 h 712"/>
              <a:gd name="T52" fmla="*/ 2147483647 w 1113"/>
              <a:gd name="T53" fmla="*/ 2147483647 h 712"/>
              <a:gd name="T54" fmla="*/ 2147483647 w 1113"/>
              <a:gd name="T55" fmla="*/ 2147483647 h 712"/>
              <a:gd name="T56" fmla="*/ 2147483647 w 1113"/>
              <a:gd name="T57" fmla="*/ 2147483647 h 712"/>
              <a:gd name="T58" fmla="*/ 2147483647 w 1113"/>
              <a:gd name="T59" fmla="*/ 2147483647 h 712"/>
              <a:gd name="T60" fmla="*/ 2147483647 w 1113"/>
              <a:gd name="T61" fmla="*/ 2147483647 h 712"/>
              <a:gd name="T62" fmla="*/ 2147483647 w 1113"/>
              <a:gd name="T63" fmla="*/ 2147483647 h 712"/>
              <a:gd name="T64" fmla="*/ 2147483647 w 1113"/>
              <a:gd name="T65" fmla="*/ 2147483647 h 712"/>
              <a:gd name="T66" fmla="*/ 2147483647 w 1113"/>
              <a:gd name="T67" fmla="*/ 2147483647 h 712"/>
              <a:gd name="T68" fmla="*/ 2147483647 w 1113"/>
              <a:gd name="T69" fmla="*/ 2147483647 h 712"/>
              <a:gd name="T70" fmla="*/ 2147483647 w 1113"/>
              <a:gd name="T71" fmla="*/ 2147483647 h 712"/>
              <a:gd name="T72" fmla="*/ 2147483647 w 1113"/>
              <a:gd name="T73" fmla="*/ 2147483647 h 712"/>
              <a:gd name="T74" fmla="*/ 2147483647 w 1113"/>
              <a:gd name="T75" fmla="*/ 2147483647 h 712"/>
              <a:gd name="T76" fmla="*/ 2147483647 w 1113"/>
              <a:gd name="T77" fmla="*/ 2147483647 h 712"/>
              <a:gd name="T78" fmla="*/ 2147483647 w 1113"/>
              <a:gd name="T79" fmla="*/ 2147483647 h 712"/>
              <a:gd name="T80" fmla="*/ 2147483647 w 1113"/>
              <a:gd name="T81" fmla="*/ 2147483647 h 712"/>
              <a:gd name="T82" fmla="*/ 2147483647 w 1113"/>
              <a:gd name="T83" fmla="*/ 2147483647 h 712"/>
              <a:gd name="T84" fmla="*/ 2147483647 w 1113"/>
              <a:gd name="T85" fmla="*/ 2147483647 h 712"/>
              <a:gd name="T86" fmla="*/ 2147483647 w 1113"/>
              <a:gd name="T87" fmla="*/ 2147483647 h 71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113"/>
              <a:gd name="T133" fmla="*/ 0 h 712"/>
              <a:gd name="T134" fmla="*/ 1113 w 1113"/>
              <a:gd name="T135" fmla="*/ 712 h 712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113" h="712">
                <a:moveTo>
                  <a:pt x="1113" y="155"/>
                </a:moveTo>
                <a:lnTo>
                  <a:pt x="1106" y="133"/>
                </a:lnTo>
                <a:lnTo>
                  <a:pt x="1087" y="107"/>
                </a:lnTo>
                <a:lnTo>
                  <a:pt x="1054" y="85"/>
                </a:lnTo>
                <a:lnTo>
                  <a:pt x="1005" y="66"/>
                </a:lnTo>
                <a:lnTo>
                  <a:pt x="950" y="48"/>
                </a:lnTo>
                <a:lnTo>
                  <a:pt x="887" y="29"/>
                </a:lnTo>
                <a:lnTo>
                  <a:pt x="812" y="18"/>
                </a:lnTo>
                <a:lnTo>
                  <a:pt x="734" y="7"/>
                </a:lnTo>
                <a:lnTo>
                  <a:pt x="649" y="3"/>
                </a:lnTo>
                <a:lnTo>
                  <a:pt x="556" y="0"/>
                </a:lnTo>
                <a:lnTo>
                  <a:pt x="467" y="3"/>
                </a:lnTo>
                <a:lnTo>
                  <a:pt x="382" y="7"/>
                </a:lnTo>
                <a:lnTo>
                  <a:pt x="300" y="18"/>
                </a:lnTo>
                <a:lnTo>
                  <a:pt x="230" y="29"/>
                </a:lnTo>
                <a:lnTo>
                  <a:pt x="163" y="48"/>
                </a:lnTo>
                <a:lnTo>
                  <a:pt x="107" y="66"/>
                </a:lnTo>
                <a:lnTo>
                  <a:pt x="63" y="85"/>
                </a:lnTo>
                <a:lnTo>
                  <a:pt x="29" y="107"/>
                </a:lnTo>
                <a:lnTo>
                  <a:pt x="7" y="133"/>
                </a:lnTo>
                <a:lnTo>
                  <a:pt x="0" y="159"/>
                </a:lnTo>
                <a:lnTo>
                  <a:pt x="0" y="556"/>
                </a:lnTo>
                <a:lnTo>
                  <a:pt x="7" y="582"/>
                </a:lnTo>
                <a:lnTo>
                  <a:pt x="29" y="605"/>
                </a:lnTo>
                <a:lnTo>
                  <a:pt x="63" y="627"/>
                </a:lnTo>
                <a:lnTo>
                  <a:pt x="107" y="649"/>
                </a:lnTo>
                <a:lnTo>
                  <a:pt x="163" y="668"/>
                </a:lnTo>
                <a:lnTo>
                  <a:pt x="230" y="682"/>
                </a:lnTo>
                <a:lnTo>
                  <a:pt x="300" y="697"/>
                </a:lnTo>
                <a:lnTo>
                  <a:pt x="382" y="705"/>
                </a:lnTo>
                <a:lnTo>
                  <a:pt x="467" y="712"/>
                </a:lnTo>
                <a:lnTo>
                  <a:pt x="556" y="712"/>
                </a:lnTo>
                <a:lnTo>
                  <a:pt x="649" y="712"/>
                </a:lnTo>
                <a:lnTo>
                  <a:pt x="734" y="705"/>
                </a:lnTo>
                <a:lnTo>
                  <a:pt x="812" y="697"/>
                </a:lnTo>
                <a:lnTo>
                  <a:pt x="887" y="682"/>
                </a:lnTo>
                <a:lnTo>
                  <a:pt x="950" y="668"/>
                </a:lnTo>
                <a:lnTo>
                  <a:pt x="1005" y="649"/>
                </a:lnTo>
                <a:lnTo>
                  <a:pt x="1054" y="627"/>
                </a:lnTo>
                <a:lnTo>
                  <a:pt x="1087" y="605"/>
                </a:lnTo>
                <a:lnTo>
                  <a:pt x="1106" y="582"/>
                </a:lnTo>
                <a:lnTo>
                  <a:pt x="1113" y="556"/>
                </a:lnTo>
                <a:lnTo>
                  <a:pt x="1113" y="159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42" name="Rectangle 15"/>
          <p:cNvSpPr>
            <a:spLocks noChangeArrowheads="1"/>
          </p:cNvSpPr>
          <p:nvPr/>
        </p:nvSpPr>
        <p:spPr bwMode="auto">
          <a:xfrm>
            <a:off x="5849938" y="1524000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P</a:t>
            </a:r>
            <a:endParaRPr lang="en-US" altLang="en-US" b="1"/>
          </a:p>
        </p:txBody>
      </p:sp>
      <p:sp>
        <p:nvSpPr>
          <p:cNvPr id="22543" name="Rectangle 16"/>
          <p:cNvSpPr>
            <a:spLocks noChangeArrowheads="1"/>
          </p:cNvSpPr>
          <p:nvPr/>
        </p:nvSpPr>
        <p:spPr bwMode="auto">
          <a:xfrm>
            <a:off x="5980113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h</a:t>
            </a:r>
            <a:endParaRPr lang="en-US" altLang="en-US" b="1"/>
          </a:p>
        </p:txBody>
      </p:sp>
      <p:sp>
        <p:nvSpPr>
          <p:cNvPr id="22544" name="Rectangle 17"/>
          <p:cNvSpPr>
            <a:spLocks noChangeArrowheads="1"/>
          </p:cNvSpPr>
          <p:nvPr/>
        </p:nvSpPr>
        <p:spPr bwMode="auto">
          <a:xfrm>
            <a:off x="6091238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y</a:t>
            </a:r>
            <a:endParaRPr lang="en-US" altLang="en-US" b="1"/>
          </a:p>
        </p:txBody>
      </p:sp>
      <p:sp>
        <p:nvSpPr>
          <p:cNvPr id="22545" name="Rectangle 18"/>
          <p:cNvSpPr>
            <a:spLocks noChangeArrowheads="1"/>
          </p:cNvSpPr>
          <p:nvPr/>
        </p:nvSpPr>
        <p:spPr bwMode="auto">
          <a:xfrm>
            <a:off x="6191250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46" name="Rectangle 19"/>
          <p:cNvSpPr>
            <a:spLocks noChangeArrowheads="1"/>
          </p:cNvSpPr>
          <p:nvPr/>
        </p:nvSpPr>
        <p:spPr bwMode="auto">
          <a:xfrm>
            <a:off x="6286500" y="1524000"/>
            <a:ext cx="42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i</a:t>
            </a:r>
            <a:endParaRPr lang="en-US" altLang="en-US" b="1"/>
          </a:p>
        </p:txBody>
      </p:sp>
      <p:sp>
        <p:nvSpPr>
          <p:cNvPr id="22547" name="Rectangle 20"/>
          <p:cNvSpPr>
            <a:spLocks noChangeArrowheads="1"/>
          </p:cNvSpPr>
          <p:nvPr/>
        </p:nvSpPr>
        <p:spPr bwMode="auto">
          <a:xfrm>
            <a:off x="6332538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c</a:t>
            </a:r>
            <a:endParaRPr lang="en-US" altLang="en-US" b="1"/>
          </a:p>
        </p:txBody>
      </p:sp>
      <p:sp>
        <p:nvSpPr>
          <p:cNvPr id="22548" name="Rectangle 21"/>
          <p:cNvSpPr>
            <a:spLocks noChangeArrowheads="1"/>
          </p:cNvSpPr>
          <p:nvPr/>
        </p:nvSpPr>
        <p:spPr bwMode="auto">
          <a:xfrm>
            <a:off x="6427788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549" name="Rectangle 22"/>
          <p:cNvSpPr>
            <a:spLocks noChangeArrowheads="1"/>
          </p:cNvSpPr>
          <p:nvPr/>
        </p:nvSpPr>
        <p:spPr bwMode="auto">
          <a:xfrm>
            <a:off x="6538913" y="1524000"/>
            <a:ext cx="42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l</a:t>
            </a:r>
            <a:endParaRPr lang="en-US" altLang="en-US" b="1"/>
          </a:p>
        </p:txBody>
      </p:sp>
      <p:sp>
        <p:nvSpPr>
          <p:cNvPr id="22550" name="Rectangle 23"/>
          <p:cNvSpPr>
            <a:spLocks noChangeArrowheads="1"/>
          </p:cNvSpPr>
          <p:nvPr/>
        </p:nvSpPr>
        <p:spPr bwMode="auto">
          <a:xfrm>
            <a:off x="6580188" y="1524000"/>
            <a:ext cx="52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2551" name="Rectangle 24"/>
          <p:cNvSpPr>
            <a:spLocks noChangeArrowheads="1"/>
          </p:cNvSpPr>
          <p:nvPr/>
        </p:nvSpPr>
        <p:spPr bwMode="auto">
          <a:xfrm>
            <a:off x="6634163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552" name="Rectangle 25"/>
          <p:cNvSpPr>
            <a:spLocks noChangeArrowheads="1"/>
          </p:cNvSpPr>
          <p:nvPr/>
        </p:nvSpPr>
        <p:spPr bwMode="auto">
          <a:xfrm>
            <a:off x="6745288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553" name="Rectangle 26"/>
          <p:cNvSpPr>
            <a:spLocks noChangeArrowheads="1"/>
          </p:cNvSpPr>
          <p:nvPr/>
        </p:nvSpPr>
        <p:spPr bwMode="auto">
          <a:xfrm>
            <a:off x="6858000" y="15240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554" name="Rectangle 27"/>
          <p:cNvSpPr>
            <a:spLocks noChangeArrowheads="1"/>
          </p:cNvSpPr>
          <p:nvPr/>
        </p:nvSpPr>
        <p:spPr bwMode="auto">
          <a:xfrm>
            <a:off x="6962775" y="1524000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r</a:t>
            </a:r>
            <a:endParaRPr lang="en-US" altLang="en-US" b="1"/>
          </a:p>
        </p:txBody>
      </p:sp>
      <p:sp>
        <p:nvSpPr>
          <p:cNvPr id="22555" name="Rectangle 28"/>
          <p:cNvSpPr>
            <a:spLocks noChangeArrowheads="1"/>
          </p:cNvSpPr>
          <p:nvPr/>
        </p:nvSpPr>
        <p:spPr bwMode="auto">
          <a:xfrm>
            <a:off x="7027863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2556" name="Rectangle 29"/>
          <p:cNvSpPr>
            <a:spLocks noChangeArrowheads="1"/>
          </p:cNvSpPr>
          <p:nvPr/>
        </p:nvSpPr>
        <p:spPr bwMode="auto">
          <a:xfrm>
            <a:off x="7140575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57" name="Rectangle 30"/>
          <p:cNvSpPr>
            <a:spLocks noChangeArrowheads="1"/>
          </p:cNvSpPr>
          <p:nvPr/>
        </p:nvSpPr>
        <p:spPr bwMode="auto">
          <a:xfrm>
            <a:off x="7234238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58" name="Rectangle 31"/>
          <p:cNvSpPr>
            <a:spLocks noChangeArrowheads="1"/>
          </p:cNvSpPr>
          <p:nvPr/>
        </p:nvSpPr>
        <p:spPr bwMode="auto">
          <a:xfrm>
            <a:off x="7334250" y="15240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2559" name="Rectangle 32"/>
          <p:cNvSpPr>
            <a:spLocks noChangeArrowheads="1"/>
          </p:cNvSpPr>
          <p:nvPr/>
        </p:nvSpPr>
        <p:spPr bwMode="auto">
          <a:xfrm>
            <a:off x="7446963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60" name="Freeform 33"/>
          <p:cNvSpPr>
            <a:spLocks/>
          </p:cNvSpPr>
          <p:nvPr/>
        </p:nvSpPr>
        <p:spPr bwMode="auto">
          <a:xfrm>
            <a:off x="5791200" y="1860550"/>
            <a:ext cx="1766888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1" name="Freeform 34"/>
          <p:cNvSpPr>
            <a:spLocks/>
          </p:cNvSpPr>
          <p:nvPr/>
        </p:nvSpPr>
        <p:spPr bwMode="auto">
          <a:xfrm>
            <a:off x="5791200" y="2154238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2" name="Freeform 35"/>
          <p:cNvSpPr>
            <a:spLocks/>
          </p:cNvSpPr>
          <p:nvPr/>
        </p:nvSpPr>
        <p:spPr bwMode="auto">
          <a:xfrm>
            <a:off x="5791200" y="2449513"/>
            <a:ext cx="1766888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3" name="Freeform 36"/>
          <p:cNvSpPr>
            <a:spLocks/>
          </p:cNvSpPr>
          <p:nvPr/>
        </p:nvSpPr>
        <p:spPr bwMode="auto">
          <a:xfrm>
            <a:off x="5791200" y="2743200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4" name="Freeform 37"/>
          <p:cNvSpPr>
            <a:spLocks/>
          </p:cNvSpPr>
          <p:nvPr/>
        </p:nvSpPr>
        <p:spPr bwMode="auto">
          <a:xfrm>
            <a:off x="5791200" y="3038475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5" name="Freeform 38"/>
          <p:cNvSpPr>
            <a:spLocks/>
          </p:cNvSpPr>
          <p:nvPr/>
        </p:nvSpPr>
        <p:spPr bwMode="auto">
          <a:xfrm>
            <a:off x="5791200" y="3333750"/>
            <a:ext cx="1766888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1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6" name="Freeform 39"/>
          <p:cNvSpPr>
            <a:spLocks/>
          </p:cNvSpPr>
          <p:nvPr/>
        </p:nvSpPr>
        <p:spPr bwMode="auto">
          <a:xfrm>
            <a:off x="5791200" y="3627438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7" name="Freeform 40"/>
          <p:cNvSpPr>
            <a:spLocks/>
          </p:cNvSpPr>
          <p:nvPr/>
        </p:nvSpPr>
        <p:spPr bwMode="auto">
          <a:xfrm>
            <a:off x="5791200" y="3922713"/>
            <a:ext cx="1766888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8" name="Freeform 41"/>
          <p:cNvSpPr>
            <a:spLocks/>
          </p:cNvSpPr>
          <p:nvPr/>
        </p:nvSpPr>
        <p:spPr bwMode="auto">
          <a:xfrm>
            <a:off x="5791200" y="4216400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69" name="Freeform 42"/>
          <p:cNvSpPr>
            <a:spLocks/>
          </p:cNvSpPr>
          <p:nvPr/>
        </p:nvSpPr>
        <p:spPr bwMode="auto">
          <a:xfrm>
            <a:off x="4024313" y="5053013"/>
            <a:ext cx="1766887" cy="260350"/>
          </a:xfrm>
          <a:custGeom>
            <a:avLst/>
            <a:gdLst>
              <a:gd name="T0" fmla="*/ 0 w 1113"/>
              <a:gd name="T1" fmla="*/ 0 h 164"/>
              <a:gd name="T2" fmla="*/ 2147483647 w 1113"/>
              <a:gd name="T3" fmla="*/ 2147483647 h 164"/>
              <a:gd name="T4" fmla="*/ 2147483647 w 1113"/>
              <a:gd name="T5" fmla="*/ 2147483647 h 164"/>
              <a:gd name="T6" fmla="*/ 2147483647 w 1113"/>
              <a:gd name="T7" fmla="*/ 2147483647 h 164"/>
              <a:gd name="T8" fmla="*/ 2147483647 w 1113"/>
              <a:gd name="T9" fmla="*/ 2147483647 h 164"/>
              <a:gd name="T10" fmla="*/ 2147483647 w 1113"/>
              <a:gd name="T11" fmla="*/ 2147483647 h 164"/>
              <a:gd name="T12" fmla="*/ 2147483647 w 1113"/>
              <a:gd name="T13" fmla="*/ 2147483647 h 164"/>
              <a:gd name="T14" fmla="*/ 2147483647 w 1113"/>
              <a:gd name="T15" fmla="*/ 2147483647 h 164"/>
              <a:gd name="T16" fmla="*/ 2147483647 w 1113"/>
              <a:gd name="T17" fmla="*/ 2147483647 h 164"/>
              <a:gd name="T18" fmla="*/ 2147483647 w 1113"/>
              <a:gd name="T19" fmla="*/ 2147483647 h 164"/>
              <a:gd name="T20" fmla="*/ 2147483647 w 1113"/>
              <a:gd name="T21" fmla="*/ 2147483647 h 164"/>
              <a:gd name="T22" fmla="*/ 2147483647 w 1113"/>
              <a:gd name="T23" fmla="*/ 2147483647 h 164"/>
              <a:gd name="T24" fmla="*/ 2147483647 w 1113"/>
              <a:gd name="T25" fmla="*/ 2147483647 h 164"/>
              <a:gd name="T26" fmla="*/ 2147483647 w 1113"/>
              <a:gd name="T27" fmla="*/ 2147483647 h 164"/>
              <a:gd name="T28" fmla="*/ 2147483647 w 1113"/>
              <a:gd name="T29" fmla="*/ 2147483647 h 164"/>
              <a:gd name="T30" fmla="*/ 2147483647 w 1113"/>
              <a:gd name="T31" fmla="*/ 2147483647 h 164"/>
              <a:gd name="T32" fmla="*/ 2147483647 w 1113"/>
              <a:gd name="T33" fmla="*/ 2147483647 h 164"/>
              <a:gd name="T34" fmla="*/ 2147483647 w 1113"/>
              <a:gd name="T35" fmla="*/ 2147483647 h 164"/>
              <a:gd name="T36" fmla="*/ 2147483647 w 1113"/>
              <a:gd name="T37" fmla="*/ 2147483647 h 164"/>
              <a:gd name="T38" fmla="*/ 2147483647 w 1113"/>
              <a:gd name="T39" fmla="*/ 2147483647 h 164"/>
              <a:gd name="T40" fmla="*/ 2147483647 w 1113"/>
              <a:gd name="T41" fmla="*/ 2147483647 h 16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113"/>
              <a:gd name="T64" fmla="*/ 0 h 164"/>
              <a:gd name="T65" fmla="*/ 1113 w 1113"/>
              <a:gd name="T66" fmla="*/ 164 h 164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113" h="164">
                <a:moveTo>
                  <a:pt x="0" y="0"/>
                </a:moveTo>
                <a:lnTo>
                  <a:pt x="7" y="30"/>
                </a:lnTo>
                <a:lnTo>
                  <a:pt x="29" y="52"/>
                </a:lnTo>
                <a:lnTo>
                  <a:pt x="63" y="78"/>
                </a:lnTo>
                <a:lnTo>
                  <a:pt x="107" y="97"/>
                </a:lnTo>
                <a:lnTo>
                  <a:pt x="163" y="115"/>
                </a:lnTo>
                <a:lnTo>
                  <a:pt x="230" y="130"/>
                </a:lnTo>
                <a:lnTo>
                  <a:pt x="300" y="145"/>
                </a:lnTo>
                <a:lnTo>
                  <a:pt x="382" y="156"/>
                </a:lnTo>
                <a:lnTo>
                  <a:pt x="467" y="160"/>
                </a:lnTo>
                <a:lnTo>
                  <a:pt x="556" y="164"/>
                </a:lnTo>
                <a:lnTo>
                  <a:pt x="649" y="160"/>
                </a:lnTo>
                <a:lnTo>
                  <a:pt x="734" y="156"/>
                </a:lnTo>
                <a:lnTo>
                  <a:pt x="812" y="145"/>
                </a:lnTo>
                <a:lnTo>
                  <a:pt x="887" y="130"/>
                </a:lnTo>
                <a:lnTo>
                  <a:pt x="950" y="115"/>
                </a:lnTo>
                <a:lnTo>
                  <a:pt x="1005" y="97"/>
                </a:lnTo>
                <a:lnTo>
                  <a:pt x="1054" y="78"/>
                </a:lnTo>
                <a:lnTo>
                  <a:pt x="1087" y="52"/>
                </a:lnTo>
                <a:lnTo>
                  <a:pt x="1106" y="30"/>
                </a:lnTo>
                <a:lnTo>
                  <a:pt x="1113" y="4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70" name="Rectangle 43"/>
          <p:cNvSpPr>
            <a:spLocks noChangeArrowheads="1"/>
          </p:cNvSpPr>
          <p:nvPr/>
        </p:nvSpPr>
        <p:spPr bwMode="auto">
          <a:xfrm>
            <a:off x="4229100" y="6032500"/>
            <a:ext cx="1381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571" name="Rectangle 44"/>
          <p:cNvSpPr>
            <a:spLocks noChangeArrowheads="1"/>
          </p:cNvSpPr>
          <p:nvPr/>
        </p:nvSpPr>
        <p:spPr bwMode="auto">
          <a:xfrm>
            <a:off x="4370388" y="6032500"/>
            <a:ext cx="42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i</a:t>
            </a:r>
            <a:endParaRPr lang="en-US" altLang="en-US" b="1"/>
          </a:p>
        </p:txBody>
      </p:sp>
      <p:sp>
        <p:nvSpPr>
          <p:cNvPr id="22572" name="Rectangle 45"/>
          <p:cNvSpPr>
            <a:spLocks noChangeArrowheads="1"/>
          </p:cNvSpPr>
          <p:nvPr/>
        </p:nvSpPr>
        <p:spPr bwMode="auto">
          <a:xfrm>
            <a:off x="4411663" y="60325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73" name="Rectangle 46"/>
          <p:cNvSpPr>
            <a:spLocks noChangeArrowheads="1"/>
          </p:cNvSpPr>
          <p:nvPr/>
        </p:nvSpPr>
        <p:spPr bwMode="auto">
          <a:xfrm>
            <a:off x="4511675" y="60325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k</a:t>
            </a:r>
            <a:endParaRPr lang="en-US" altLang="en-US" b="1"/>
          </a:p>
        </p:txBody>
      </p:sp>
      <p:sp>
        <p:nvSpPr>
          <p:cNvPr id="22574" name="Rectangle 47"/>
          <p:cNvSpPr>
            <a:spLocks noChangeArrowheads="1"/>
          </p:cNvSpPr>
          <p:nvPr/>
        </p:nvSpPr>
        <p:spPr bwMode="auto">
          <a:xfrm>
            <a:off x="4611688" y="6032500"/>
            <a:ext cx="52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2575" name="Rectangle 48"/>
          <p:cNvSpPr>
            <a:spLocks noChangeArrowheads="1"/>
          </p:cNvSpPr>
          <p:nvPr/>
        </p:nvSpPr>
        <p:spPr bwMode="auto">
          <a:xfrm>
            <a:off x="4664075" y="60325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576" name="Rectangle 49"/>
          <p:cNvSpPr>
            <a:spLocks noChangeArrowheads="1"/>
          </p:cNvSpPr>
          <p:nvPr/>
        </p:nvSpPr>
        <p:spPr bwMode="auto">
          <a:xfrm>
            <a:off x="4770438" y="60325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577" name="Rectangle 50"/>
          <p:cNvSpPr>
            <a:spLocks noChangeArrowheads="1"/>
          </p:cNvSpPr>
          <p:nvPr/>
        </p:nvSpPr>
        <p:spPr bwMode="auto">
          <a:xfrm>
            <a:off x="4883150" y="60325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578" name="Rectangle 51"/>
          <p:cNvSpPr>
            <a:spLocks noChangeArrowheads="1"/>
          </p:cNvSpPr>
          <p:nvPr/>
        </p:nvSpPr>
        <p:spPr bwMode="auto">
          <a:xfrm>
            <a:off x="4994275" y="6032500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r</a:t>
            </a:r>
            <a:endParaRPr lang="en-US" altLang="en-US" b="1"/>
          </a:p>
        </p:txBody>
      </p:sp>
      <p:sp>
        <p:nvSpPr>
          <p:cNvPr id="22579" name="Rectangle 52"/>
          <p:cNvSpPr>
            <a:spLocks noChangeArrowheads="1"/>
          </p:cNvSpPr>
          <p:nvPr/>
        </p:nvSpPr>
        <p:spPr bwMode="auto">
          <a:xfrm>
            <a:off x="5059363" y="60325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2580" name="Rectangle 53"/>
          <p:cNvSpPr>
            <a:spLocks noChangeArrowheads="1"/>
          </p:cNvSpPr>
          <p:nvPr/>
        </p:nvSpPr>
        <p:spPr bwMode="auto">
          <a:xfrm>
            <a:off x="5165725" y="60325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81" name="Rectangle 54"/>
          <p:cNvSpPr>
            <a:spLocks noChangeArrowheads="1"/>
          </p:cNvSpPr>
          <p:nvPr/>
        </p:nvSpPr>
        <p:spPr bwMode="auto">
          <a:xfrm>
            <a:off x="5265738" y="60325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82" name="Rectangle 55"/>
          <p:cNvSpPr>
            <a:spLocks noChangeArrowheads="1"/>
          </p:cNvSpPr>
          <p:nvPr/>
        </p:nvSpPr>
        <p:spPr bwMode="auto">
          <a:xfrm>
            <a:off x="5365750" y="60325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2583" name="Rectangle 56"/>
          <p:cNvSpPr>
            <a:spLocks noChangeArrowheads="1"/>
          </p:cNvSpPr>
          <p:nvPr/>
        </p:nvSpPr>
        <p:spPr bwMode="auto">
          <a:xfrm>
            <a:off x="5472113" y="60325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584" name="Freeform 57"/>
          <p:cNvSpPr>
            <a:spLocks/>
          </p:cNvSpPr>
          <p:nvPr/>
        </p:nvSpPr>
        <p:spPr bwMode="auto">
          <a:xfrm>
            <a:off x="1668463" y="21542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85" name="Freeform 58"/>
          <p:cNvSpPr>
            <a:spLocks/>
          </p:cNvSpPr>
          <p:nvPr/>
        </p:nvSpPr>
        <p:spPr bwMode="auto">
          <a:xfrm>
            <a:off x="1668463" y="2743200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86" name="Freeform 59"/>
          <p:cNvSpPr>
            <a:spLocks/>
          </p:cNvSpPr>
          <p:nvPr/>
        </p:nvSpPr>
        <p:spPr bwMode="auto">
          <a:xfrm>
            <a:off x="1668463" y="3333750"/>
            <a:ext cx="1766887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1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87" name="Freeform 60"/>
          <p:cNvSpPr>
            <a:spLocks/>
          </p:cNvSpPr>
          <p:nvPr/>
        </p:nvSpPr>
        <p:spPr bwMode="auto">
          <a:xfrm>
            <a:off x="1668463" y="3922713"/>
            <a:ext cx="1766887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88" name="Freeform 61"/>
          <p:cNvSpPr>
            <a:spLocks/>
          </p:cNvSpPr>
          <p:nvPr/>
        </p:nvSpPr>
        <p:spPr bwMode="auto">
          <a:xfrm>
            <a:off x="1668463" y="4511675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89" name="Freeform 62"/>
          <p:cNvSpPr>
            <a:spLocks/>
          </p:cNvSpPr>
          <p:nvPr/>
        </p:nvSpPr>
        <p:spPr bwMode="auto">
          <a:xfrm>
            <a:off x="1668463" y="51006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90" name="Freeform 63"/>
          <p:cNvSpPr>
            <a:spLocks/>
          </p:cNvSpPr>
          <p:nvPr/>
        </p:nvSpPr>
        <p:spPr bwMode="auto">
          <a:xfrm>
            <a:off x="1668463" y="51006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591" name="Rectangle 64"/>
          <p:cNvSpPr>
            <a:spLocks noChangeArrowheads="1"/>
          </p:cNvSpPr>
          <p:nvPr/>
        </p:nvSpPr>
        <p:spPr bwMode="auto">
          <a:xfrm>
            <a:off x="1803400" y="1524000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V</a:t>
            </a:r>
            <a:endParaRPr lang="en-US" altLang="en-US" b="1"/>
          </a:p>
        </p:txBody>
      </p:sp>
      <p:sp>
        <p:nvSpPr>
          <p:cNvPr id="22592" name="Rectangle 65"/>
          <p:cNvSpPr>
            <a:spLocks noChangeArrowheads="1"/>
          </p:cNvSpPr>
          <p:nvPr/>
        </p:nvSpPr>
        <p:spPr bwMode="auto">
          <a:xfrm>
            <a:off x="1933575" y="1524000"/>
            <a:ext cx="428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i</a:t>
            </a:r>
            <a:endParaRPr lang="en-US" altLang="en-US" b="1"/>
          </a:p>
        </p:txBody>
      </p:sp>
      <p:sp>
        <p:nvSpPr>
          <p:cNvPr id="22593" name="Rectangle 66"/>
          <p:cNvSpPr>
            <a:spLocks noChangeArrowheads="1"/>
          </p:cNvSpPr>
          <p:nvPr/>
        </p:nvSpPr>
        <p:spPr bwMode="auto">
          <a:xfrm>
            <a:off x="1974850" y="1524000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r</a:t>
            </a:r>
            <a:endParaRPr lang="en-US" altLang="en-US" b="1"/>
          </a:p>
        </p:txBody>
      </p:sp>
      <p:sp>
        <p:nvSpPr>
          <p:cNvPr id="22594" name="Rectangle 67"/>
          <p:cNvSpPr>
            <a:spLocks noChangeArrowheads="1"/>
          </p:cNvSpPr>
          <p:nvPr/>
        </p:nvSpPr>
        <p:spPr bwMode="auto">
          <a:xfrm>
            <a:off x="2038350" y="1524000"/>
            <a:ext cx="523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t</a:t>
            </a:r>
            <a:endParaRPr lang="en-US" altLang="en-US" b="1"/>
          </a:p>
        </p:txBody>
      </p:sp>
      <p:sp>
        <p:nvSpPr>
          <p:cNvPr id="22595" name="Rectangle 68"/>
          <p:cNvSpPr>
            <a:spLocks noChangeArrowheads="1"/>
          </p:cNvSpPr>
          <p:nvPr/>
        </p:nvSpPr>
        <p:spPr bwMode="auto">
          <a:xfrm>
            <a:off x="2097088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u</a:t>
            </a:r>
            <a:endParaRPr lang="en-US" altLang="en-US" b="1"/>
          </a:p>
        </p:txBody>
      </p:sp>
      <p:sp>
        <p:nvSpPr>
          <p:cNvPr id="22596" name="Rectangle 69"/>
          <p:cNvSpPr>
            <a:spLocks noChangeArrowheads="1"/>
          </p:cNvSpPr>
          <p:nvPr/>
        </p:nvSpPr>
        <p:spPr bwMode="auto">
          <a:xfrm>
            <a:off x="2203450" y="15240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597" name="Rectangle 70"/>
          <p:cNvSpPr>
            <a:spLocks noChangeArrowheads="1"/>
          </p:cNvSpPr>
          <p:nvPr/>
        </p:nvSpPr>
        <p:spPr bwMode="auto">
          <a:xfrm>
            <a:off x="2316163" y="1524000"/>
            <a:ext cx="42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l</a:t>
            </a:r>
            <a:endParaRPr lang="en-US" altLang="en-US" b="1"/>
          </a:p>
        </p:txBody>
      </p:sp>
      <p:sp>
        <p:nvSpPr>
          <p:cNvPr id="22598" name="Rectangle 71"/>
          <p:cNvSpPr>
            <a:spLocks noChangeArrowheads="1"/>
          </p:cNvSpPr>
          <p:nvPr/>
        </p:nvSpPr>
        <p:spPr bwMode="auto">
          <a:xfrm>
            <a:off x="2357438" y="1524000"/>
            <a:ext cx="52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2599" name="Rectangle 72"/>
          <p:cNvSpPr>
            <a:spLocks noChangeArrowheads="1"/>
          </p:cNvSpPr>
          <p:nvPr/>
        </p:nvSpPr>
        <p:spPr bwMode="auto">
          <a:xfrm>
            <a:off x="2409825" y="15240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600" name="Rectangle 73"/>
          <p:cNvSpPr>
            <a:spLocks noChangeArrowheads="1"/>
          </p:cNvSpPr>
          <p:nvPr/>
        </p:nvSpPr>
        <p:spPr bwMode="auto">
          <a:xfrm>
            <a:off x="2522538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601" name="Rectangle 74"/>
          <p:cNvSpPr>
            <a:spLocks noChangeArrowheads="1"/>
          </p:cNvSpPr>
          <p:nvPr/>
        </p:nvSpPr>
        <p:spPr bwMode="auto">
          <a:xfrm>
            <a:off x="2627313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602" name="Rectangle 75"/>
          <p:cNvSpPr>
            <a:spLocks noChangeArrowheads="1"/>
          </p:cNvSpPr>
          <p:nvPr/>
        </p:nvSpPr>
        <p:spPr bwMode="auto">
          <a:xfrm>
            <a:off x="2740025" y="1524000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r</a:t>
            </a:r>
            <a:endParaRPr lang="en-US" altLang="en-US" b="1"/>
          </a:p>
        </p:txBody>
      </p:sp>
      <p:sp>
        <p:nvSpPr>
          <p:cNvPr id="22603" name="Rectangle 76"/>
          <p:cNvSpPr>
            <a:spLocks noChangeArrowheads="1"/>
          </p:cNvSpPr>
          <p:nvPr/>
        </p:nvSpPr>
        <p:spPr bwMode="auto">
          <a:xfrm>
            <a:off x="2805113" y="15240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2604" name="Rectangle 77"/>
          <p:cNvSpPr>
            <a:spLocks noChangeArrowheads="1"/>
          </p:cNvSpPr>
          <p:nvPr/>
        </p:nvSpPr>
        <p:spPr bwMode="auto">
          <a:xfrm>
            <a:off x="2909888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605" name="Rectangle 78"/>
          <p:cNvSpPr>
            <a:spLocks noChangeArrowheads="1"/>
          </p:cNvSpPr>
          <p:nvPr/>
        </p:nvSpPr>
        <p:spPr bwMode="auto">
          <a:xfrm>
            <a:off x="3011488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606" name="Rectangle 79"/>
          <p:cNvSpPr>
            <a:spLocks noChangeArrowheads="1"/>
          </p:cNvSpPr>
          <p:nvPr/>
        </p:nvSpPr>
        <p:spPr bwMode="auto">
          <a:xfrm>
            <a:off x="3111500" y="15240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2607" name="Rectangle 80"/>
          <p:cNvSpPr>
            <a:spLocks noChangeArrowheads="1"/>
          </p:cNvSpPr>
          <p:nvPr/>
        </p:nvSpPr>
        <p:spPr bwMode="auto">
          <a:xfrm>
            <a:off x="3216275" y="15240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608" name="Freeform 81"/>
          <p:cNvSpPr>
            <a:spLocks/>
          </p:cNvSpPr>
          <p:nvPr/>
        </p:nvSpPr>
        <p:spPr bwMode="auto">
          <a:xfrm>
            <a:off x="2503488" y="1954213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09" name="Freeform 82"/>
          <p:cNvSpPr>
            <a:spLocks/>
          </p:cNvSpPr>
          <p:nvPr/>
        </p:nvSpPr>
        <p:spPr bwMode="auto">
          <a:xfrm>
            <a:off x="2503488" y="224948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0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4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4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0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0" name="Freeform 83"/>
          <p:cNvSpPr>
            <a:spLocks/>
          </p:cNvSpPr>
          <p:nvPr/>
        </p:nvSpPr>
        <p:spPr bwMode="auto">
          <a:xfrm>
            <a:off x="2503488" y="2543175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1" name="Freeform 84"/>
          <p:cNvSpPr>
            <a:spLocks/>
          </p:cNvSpPr>
          <p:nvPr/>
        </p:nvSpPr>
        <p:spPr bwMode="auto">
          <a:xfrm>
            <a:off x="2503488" y="313213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9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3"/>
                </a:lnTo>
                <a:lnTo>
                  <a:pt x="60" y="19"/>
                </a:lnTo>
                <a:lnTo>
                  <a:pt x="56" y="15"/>
                </a:lnTo>
                <a:lnTo>
                  <a:pt x="52" y="12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2"/>
                </a:lnTo>
                <a:lnTo>
                  <a:pt x="8" y="15"/>
                </a:lnTo>
                <a:lnTo>
                  <a:pt x="4" y="19"/>
                </a:lnTo>
                <a:lnTo>
                  <a:pt x="0" y="23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9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2" name="Freeform 85"/>
          <p:cNvSpPr>
            <a:spLocks/>
          </p:cNvSpPr>
          <p:nvPr/>
        </p:nvSpPr>
        <p:spPr bwMode="auto">
          <a:xfrm>
            <a:off x="2503488" y="3427413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3" name="Freeform 86"/>
          <p:cNvSpPr>
            <a:spLocks/>
          </p:cNvSpPr>
          <p:nvPr/>
        </p:nvSpPr>
        <p:spPr bwMode="auto">
          <a:xfrm>
            <a:off x="2503488" y="372268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0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4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4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0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4" name="Freeform 87"/>
          <p:cNvSpPr>
            <a:spLocks/>
          </p:cNvSpPr>
          <p:nvPr/>
        </p:nvSpPr>
        <p:spPr bwMode="auto">
          <a:xfrm>
            <a:off x="2503488" y="4016375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5" name="Freeform 88"/>
          <p:cNvSpPr>
            <a:spLocks/>
          </p:cNvSpPr>
          <p:nvPr/>
        </p:nvSpPr>
        <p:spPr bwMode="auto">
          <a:xfrm>
            <a:off x="2503488" y="4311650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6" name="Freeform 89"/>
          <p:cNvSpPr>
            <a:spLocks/>
          </p:cNvSpPr>
          <p:nvPr/>
        </p:nvSpPr>
        <p:spPr bwMode="auto">
          <a:xfrm>
            <a:off x="2503488" y="460533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9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3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3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9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7" name="Freeform 90"/>
          <p:cNvSpPr>
            <a:spLocks/>
          </p:cNvSpPr>
          <p:nvPr/>
        </p:nvSpPr>
        <p:spPr bwMode="auto">
          <a:xfrm>
            <a:off x="2503488" y="4900613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8" name="Freeform 91"/>
          <p:cNvSpPr>
            <a:spLocks/>
          </p:cNvSpPr>
          <p:nvPr/>
        </p:nvSpPr>
        <p:spPr bwMode="auto">
          <a:xfrm>
            <a:off x="2503488" y="5194300"/>
            <a:ext cx="101600" cy="101600"/>
          </a:xfrm>
          <a:custGeom>
            <a:avLst/>
            <a:gdLst>
              <a:gd name="T0" fmla="*/ 2147483647 w 64"/>
              <a:gd name="T1" fmla="*/ 2147483647 h 64"/>
              <a:gd name="T2" fmla="*/ 2147483647 w 64"/>
              <a:gd name="T3" fmla="*/ 2147483647 h 64"/>
              <a:gd name="T4" fmla="*/ 2147483647 w 64"/>
              <a:gd name="T5" fmla="*/ 2147483647 h 64"/>
              <a:gd name="T6" fmla="*/ 2147483647 w 64"/>
              <a:gd name="T7" fmla="*/ 2147483647 h 64"/>
              <a:gd name="T8" fmla="*/ 2147483647 w 64"/>
              <a:gd name="T9" fmla="*/ 2147483647 h 64"/>
              <a:gd name="T10" fmla="*/ 2147483647 w 64"/>
              <a:gd name="T11" fmla="*/ 2147483647 h 64"/>
              <a:gd name="T12" fmla="*/ 2147483647 w 64"/>
              <a:gd name="T13" fmla="*/ 2147483647 h 64"/>
              <a:gd name="T14" fmla="*/ 2147483647 w 64"/>
              <a:gd name="T15" fmla="*/ 2147483647 h 64"/>
              <a:gd name="T16" fmla="*/ 2147483647 w 64"/>
              <a:gd name="T17" fmla="*/ 2147483647 h 64"/>
              <a:gd name="T18" fmla="*/ 2147483647 w 64"/>
              <a:gd name="T19" fmla="*/ 2147483647 h 64"/>
              <a:gd name="T20" fmla="*/ 2147483647 w 64"/>
              <a:gd name="T21" fmla="*/ 2147483647 h 64"/>
              <a:gd name="T22" fmla="*/ 2147483647 w 64"/>
              <a:gd name="T23" fmla="*/ 2147483647 h 64"/>
              <a:gd name="T24" fmla="*/ 2147483647 w 64"/>
              <a:gd name="T25" fmla="*/ 2147483647 h 64"/>
              <a:gd name="T26" fmla="*/ 2147483647 w 64"/>
              <a:gd name="T27" fmla="*/ 2147483647 h 64"/>
              <a:gd name="T28" fmla="*/ 2147483647 w 64"/>
              <a:gd name="T29" fmla="*/ 2147483647 h 64"/>
              <a:gd name="T30" fmla="*/ 2147483647 w 64"/>
              <a:gd name="T31" fmla="*/ 2147483647 h 64"/>
              <a:gd name="T32" fmla="*/ 2147483647 w 64"/>
              <a:gd name="T33" fmla="*/ 2147483647 h 64"/>
              <a:gd name="T34" fmla="*/ 2147483647 w 64"/>
              <a:gd name="T35" fmla="*/ 2147483647 h 64"/>
              <a:gd name="T36" fmla="*/ 2147483647 w 64"/>
              <a:gd name="T37" fmla="*/ 2147483647 h 64"/>
              <a:gd name="T38" fmla="*/ 2147483647 w 64"/>
              <a:gd name="T39" fmla="*/ 0 h 64"/>
              <a:gd name="T40" fmla="*/ 2147483647 w 64"/>
              <a:gd name="T41" fmla="*/ 0 h 64"/>
              <a:gd name="T42" fmla="*/ 2147483647 w 64"/>
              <a:gd name="T43" fmla="*/ 0 h 64"/>
              <a:gd name="T44" fmla="*/ 2147483647 w 64"/>
              <a:gd name="T45" fmla="*/ 2147483647 h 64"/>
              <a:gd name="T46" fmla="*/ 2147483647 w 64"/>
              <a:gd name="T47" fmla="*/ 2147483647 h 64"/>
              <a:gd name="T48" fmla="*/ 2147483647 w 64"/>
              <a:gd name="T49" fmla="*/ 2147483647 h 64"/>
              <a:gd name="T50" fmla="*/ 2147483647 w 64"/>
              <a:gd name="T51" fmla="*/ 2147483647 h 64"/>
              <a:gd name="T52" fmla="*/ 2147483647 w 64"/>
              <a:gd name="T53" fmla="*/ 2147483647 h 64"/>
              <a:gd name="T54" fmla="*/ 2147483647 w 64"/>
              <a:gd name="T55" fmla="*/ 2147483647 h 64"/>
              <a:gd name="T56" fmla="*/ 0 w 64"/>
              <a:gd name="T57" fmla="*/ 2147483647 h 64"/>
              <a:gd name="T58" fmla="*/ 0 w 64"/>
              <a:gd name="T59" fmla="*/ 2147483647 h 64"/>
              <a:gd name="T60" fmla="*/ 0 w 64"/>
              <a:gd name="T61" fmla="*/ 2147483647 h 64"/>
              <a:gd name="T62" fmla="*/ 0 w 64"/>
              <a:gd name="T63" fmla="*/ 2147483647 h 64"/>
              <a:gd name="T64" fmla="*/ 0 w 64"/>
              <a:gd name="T65" fmla="*/ 2147483647 h 64"/>
              <a:gd name="T66" fmla="*/ 2147483647 w 64"/>
              <a:gd name="T67" fmla="*/ 2147483647 h 64"/>
              <a:gd name="T68" fmla="*/ 2147483647 w 64"/>
              <a:gd name="T69" fmla="*/ 2147483647 h 64"/>
              <a:gd name="T70" fmla="*/ 2147483647 w 64"/>
              <a:gd name="T71" fmla="*/ 2147483647 h 64"/>
              <a:gd name="T72" fmla="*/ 2147483647 w 64"/>
              <a:gd name="T73" fmla="*/ 2147483647 h 64"/>
              <a:gd name="T74" fmla="*/ 2147483647 w 64"/>
              <a:gd name="T75" fmla="*/ 2147483647 h 64"/>
              <a:gd name="T76" fmla="*/ 2147483647 w 64"/>
              <a:gd name="T77" fmla="*/ 2147483647 h 64"/>
              <a:gd name="T78" fmla="*/ 2147483647 w 64"/>
              <a:gd name="T79" fmla="*/ 2147483647 h 64"/>
              <a:gd name="T80" fmla="*/ 2147483647 w 64"/>
              <a:gd name="T81" fmla="*/ 2147483647 h 64"/>
              <a:gd name="T82" fmla="*/ 2147483647 w 64"/>
              <a:gd name="T83" fmla="*/ 2147483647 h 6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4"/>
              <a:gd name="T128" fmla="*/ 64 w 64"/>
              <a:gd name="T129" fmla="*/ 64 h 6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4">
                <a:moveTo>
                  <a:pt x="30" y="64"/>
                </a:moveTo>
                <a:lnTo>
                  <a:pt x="38" y="64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9"/>
                </a:lnTo>
                <a:lnTo>
                  <a:pt x="60" y="45"/>
                </a:lnTo>
                <a:lnTo>
                  <a:pt x="60" y="41"/>
                </a:lnTo>
                <a:lnTo>
                  <a:pt x="64" y="38"/>
                </a:lnTo>
                <a:lnTo>
                  <a:pt x="64" y="34"/>
                </a:lnTo>
                <a:lnTo>
                  <a:pt x="64" y="26"/>
                </a:lnTo>
                <a:lnTo>
                  <a:pt x="60" y="23"/>
                </a:lnTo>
                <a:lnTo>
                  <a:pt x="60" y="19"/>
                </a:lnTo>
                <a:lnTo>
                  <a:pt x="56" y="15"/>
                </a:lnTo>
                <a:lnTo>
                  <a:pt x="52" y="12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2"/>
                </a:lnTo>
                <a:lnTo>
                  <a:pt x="8" y="15"/>
                </a:lnTo>
                <a:lnTo>
                  <a:pt x="4" y="19"/>
                </a:lnTo>
                <a:lnTo>
                  <a:pt x="0" y="23"/>
                </a:lnTo>
                <a:lnTo>
                  <a:pt x="0" y="26"/>
                </a:lnTo>
                <a:lnTo>
                  <a:pt x="0" y="34"/>
                </a:lnTo>
                <a:lnTo>
                  <a:pt x="0" y="38"/>
                </a:lnTo>
                <a:lnTo>
                  <a:pt x="0" y="41"/>
                </a:lnTo>
                <a:lnTo>
                  <a:pt x="4" y="45"/>
                </a:lnTo>
                <a:lnTo>
                  <a:pt x="8" y="49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4"/>
                </a:lnTo>
                <a:lnTo>
                  <a:pt x="30" y="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19" name="Freeform 92"/>
          <p:cNvSpPr>
            <a:spLocks/>
          </p:cNvSpPr>
          <p:nvPr/>
        </p:nvSpPr>
        <p:spPr bwMode="auto">
          <a:xfrm>
            <a:off x="5667375" y="2025650"/>
            <a:ext cx="106363" cy="104775"/>
          </a:xfrm>
          <a:custGeom>
            <a:avLst/>
            <a:gdLst>
              <a:gd name="T0" fmla="*/ 0 w 67"/>
              <a:gd name="T1" fmla="*/ 2147483647 h 66"/>
              <a:gd name="T2" fmla="*/ 2147483647 w 67"/>
              <a:gd name="T3" fmla="*/ 2147483647 h 66"/>
              <a:gd name="T4" fmla="*/ 2147483647 w 67"/>
              <a:gd name="T5" fmla="*/ 0 h 66"/>
              <a:gd name="T6" fmla="*/ 0 w 67"/>
              <a:gd name="T7" fmla="*/ 2147483647 h 66"/>
              <a:gd name="T8" fmla="*/ 0 w 67"/>
              <a:gd name="T9" fmla="*/ 2147483647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"/>
              <a:gd name="T16" fmla="*/ 0 h 66"/>
              <a:gd name="T17" fmla="*/ 67 w 67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" h="66">
                <a:moveTo>
                  <a:pt x="0" y="18"/>
                </a:moveTo>
                <a:lnTo>
                  <a:pt x="41" y="66"/>
                </a:lnTo>
                <a:lnTo>
                  <a:pt x="67" y="0"/>
                </a:lnTo>
                <a:lnTo>
                  <a:pt x="0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20" name="Freeform 93"/>
          <p:cNvSpPr>
            <a:spLocks/>
          </p:cNvSpPr>
          <p:nvPr/>
        </p:nvSpPr>
        <p:spPr bwMode="auto">
          <a:xfrm>
            <a:off x="4641850" y="4876800"/>
            <a:ext cx="106363" cy="93663"/>
          </a:xfrm>
          <a:custGeom>
            <a:avLst/>
            <a:gdLst>
              <a:gd name="T0" fmla="*/ 2147483647 w 67"/>
              <a:gd name="T1" fmla="*/ 0 h 59"/>
              <a:gd name="T2" fmla="*/ 0 w 67"/>
              <a:gd name="T3" fmla="*/ 2147483647 h 59"/>
              <a:gd name="T4" fmla="*/ 2147483647 w 67"/>
              <a:gd name="T5" fmla="*/ 2147483647 h 59"/>
              <a:gd name="T6" fmla="*/ 2147483647 w 67"/>
              <a:gd name="T7" fmla="*/ 0 h 59"/>
              <a:gd name="T8" fmla="*/ 2147483647 w 67"/>
              <a:gd name="T9" fmla="*/ 0 h 59"/>
              <a:gd name="T10" fmla="*/ 2147483647 w 67"/>
              <a:gd name="T11" fmla="*/ 0 h 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59"/>
              <a:gd name="T20" fmla="*/ 67 w 67"/>
              <a:gd name="T21" fmla="*/ 59 h 5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59">
                <a:moveTo>
                  <a:pt x="26" y="0"/>
                </a:moveTo>
                <a:lnTo>
                  <a:pt x="0" y="56"/>
                </a:lnTo>
                <a:lnTo>
                  <a:pt x="67" y="59"/>
                </a:lnTo>
                <a:lnTo>
                  <a:pt x="30" y="0"/>
                </a:lnTo>
                <a:lnTo>
                  <a:pt x="2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21" name="Rectangle 94"/>
          <p:cNvSpPr>
            <a:spLocks noChangeArrowheads="1"/>
          </p:cNvSpPr>
          <p:nvPr/>
        </p:nvSpPr>
        <p:spPr bwMode="auto">
          <a:xfrm>
            <a:off x="3776663" y="1806575"/>
            <a:ext cx="127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622" name="Rectangle 95"/>
          <p:cNvSpPr>
            <a:spLocks noChangeArrowheads="1"/>
          </p:cNvSpPr>
          <p:nvPr/>
        </p:nvSpPr>
        <p:spPr bwMode="auto">
          <a:xfrm>
            <a:off x="3911600" y="18065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623" name="Rectangle 96"/>
          <p:cNvSpPr>
            <a:spLocks noChangeArrowheads="1"/>
          </p:cNvSpPr>
          <p:nvPr/>
        </p:nvSpPr>
        <p:spPr bwMode="auto">
          <a:xfrm>
            <a:off x="4017963" y="18065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2624" name="Rectangle 97"/>
          <p:cNvSpPr>
            <a:spLocks noChangeArrowheads="1"/>
          </p:cNvSpPr>
          <p:nvPr/>
        </p:nvSpPr>
        <p:spPr bwMode="auto">
          <a:xfrm>
            <a:off x="4130675" y="1806575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r</a:t>
            </a:r>
            <a:endParaRPr lang="en-US" altLang="en-US" b="1"/>
          </a:p>
        </p:txBody>
      </p:sp>
      <p:sp>
        <p:nvSpPr>
          <p:cNvPr id="22625" name="Rectangle 98"/>
          <p:cNvSpPr>
            <a:spLocks noChangeArrowheads="1"/>
          </p:cNvSpPr>
          <p:nvPr/>
        </p:nvSpPr>
        <p:spPr bwMode="auto">
          <a:xfrm>
            <a:off x="4194175" y="18065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2626" name="Rectangle 99"/>
          <p:cNvSpPr>
            <a:spLocks noChangeArrowheads="1"/>
          </p:cNvSpPr>
          <p:nvPr/>
        </p:nvSpPr>
        <p:spPr bwMode="auto">
          <a:xfrm>
            <a:off x="4300538" y="180657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627" name="Rectangle 100"/>
          <p:cNvSpPr>
            <a:spLocks noChangeArrowheads="1"/>
          </p:cNvSpPr>
          <p:nvPr/>
        </p:nvSpPr>
        <p:spPr bwMode="auto">
          <a:xfrm>
            <a:off x="4400550" y="180657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628" name="Rectangle 101"/>
          <p:cNvSpPr>
            <a:spLocks noChangeArrowheads="1"/>
          </p:cNvSpPr>
          <p:nvPr/>
        </p:nvSpPr>
        <p:spPr bwMode="auto">
          <a:xfrm>
            <a:off x="4500563" y="1806575"/>
            <a:ext cx="52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2629" name="Rectangle 102"/>
          <p:cNvSpPr>
            <a:spLocks noChangeArrowheads="1"/>
          </p:cNvSpPr>
          <p:nvPr/>
        </p:nvSpPr>
        <p:spPr bwMode="auto">
          <a:xfrm>
            <a:off x="4554538" y="1806575"/>
            <a:ext cx="523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t</a:t>
            </a:r>
            <a:endParaRPr lang="en-US" altLang="en-US" b="1"/>
          </a:p>
        </p:txBody>
      </p:sp>
      <p:sp>
        <p:nvSpPr>
          <p:cNvPr id="22630" name="Rectangle 103"/>
          <p:cNvSpPr>
            <a:spLocks noChangeArrowheads="1"/>
          </p:cNvSpPr>
          <p:nvPr/>
        </p:nvSpPr>
        <p:spPr bwMode="auto">
          <a:xfrm>
            <a:off x="4606925" y="1806575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r</a:t>
            </a:r>
            <a:endParaRPr lang="en-US" altLang="en-US" b="1"/>
          </a:p>
        </p:txBody>
      </p:sp>
      <p:sp>
        <p:nvSpPr>
          <p:cNvPr id="22631" name="Rectangle 104"/>
          <p:cNvSpPr>
            <a:spLocks noChangeArrowheads="1"/>
          </p:cNvSpPr>
          <p:nvPr/>
        </p:nvSpPr>
        <p:spPr bwMode="auto">
          <a:xfrm>
            <a:off x="4672013" y="18065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632" name="Rectangle 105"/>
          <p:cNvSpPr>
            <a:spLocks noChangeArrowheads="1"/>
          </p:cNvSpPr>
          <p:nvPr/>
        </p:nvSpPr>
        <p:spPr bwMode="auto">
          <a:xfrm>
            <a:off x="4783138" y="18065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n</a:t>
            </a:r>
            <a:endParaRPr lang="en-US" altLang="en-US" b="1"/>
          </a:p>
        </p:txBody>
      </p:sp>
      <p:sp>
        <p:nvSpPr>
          <p:cNvPr id="22633" name="Rectangle 106"/>
          <p:cNvSpPr>
            <a:spLocks noChangeArrowheads="1"/>
          </p:cNvSpPr>
          <p:nvPr/>
        </p:nvSpPr>
        <p:spPr bwMode="auto">
          <a:xfrm>
            <a:off x="4889500" y="180657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2634" name="Rectangle 107"/>
          <p:cNvSpPr>
            <a:spLocks noChangeArrowheads="1"/>
          </p:cNvSpPr>
          <p:nvPr/>
        </p:nvSpPr>
        <p:spPr bwMode="auto">
          <a:xfrm>
            <a:off x="4989513" y="1806575"/>
            <a:ext cx="42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l</a:t>
            </a:r>
            <a:endParaRPr lang="en-US" altLang="en-US" b="1"/>
          </a:p>
        </p:txBody>
      </p:sp>
      <p:sp>
        <p:nvSpPr>
          <p:cNvPr id="22635" name="Rectangle 108"/>
          <p:cNvSpPr>
            <a:spLocks noChangeArrowheads="1"/>
          </p:cNvSpPr>
          <p:nvPr/>
        </p:nvSpPr>
        <p:spPr bwMode="auto">
          <a:xfrm>
            <a:off x="5030788" y="18065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2636" name="Rectangle 109"/>
          <p:cNvSpPr>
            <a:spLocks noChangeArrowheads="1"/>
          </p:cNvSpPr>
          <p:nvPr/>
        </p:nvSpPr>
        <p:spPr bwMode="auto">
          <a:xfrm>
            <a:off x="5143500" y="1806575"/>
            <a:ext cx="523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t</a:t>
            </a:r>
            <a:endParaRPr lang="en-US" altLang="en-US" b="1"/>
          </a:p>
        </p:txBody>
      </p:sp>
      <p:sp>
        <p:nvSpPr>
          <p:cNvPr id="22637" name="Rectangle 110"/>
          <p:cNvSpPr>
            <a:spLocks noChangeArrowheads="1"/>
          </p:cNvSpPr>
          <p:nvPr/>
        </p:nvSpPr>
        <p:spPr bwMode="auto">
          <a:xfrm>
            <a:off x="5195888" y="1806575"/>
            <a:ext cx="42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i</a:t>
            </a:r>
            <a:endParaRPr lang="en-US" altLang="en-US" b="1"/>
          </a:p>
        </p:txBody>
      </p:sp>
      <p:sp>
        <p:nvSpPr>
          <p:cNvPr id="22638" name="Rectangle 111"/>
          <p:cNvSpPr>
            <a:spLocks noChangeArrowheads="1"/>
          </p:cNvSpPr>
          <p:nvPr/>
        </p:nvSpPr>
        <p:spPr bwMode="auto">
          <a:xfrm>
            <a:off x="5237163" y="18065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o</a:t>
            </a:r>
            <a:endParaRPr lang="en-US" altLang="en-US" b="1"/>
          </a:p>
        </p:txBody>
      </p:sp>
      <p:sp>
        <p:nvSpPr>
          <p:cNvPr id="22639" name="Rectangle 112"/>
          <p:cNvSpPr>
            <a:spLocks noChangeArrowheads="1"/>
          </p:cNvSpPr>
          <p:nvPr/>
        </p:nvSpPr>
        <p:spPr bwMode="auto">
          <a:xfrm>
            <a:off x="5349875" y="18065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n</a:t>
            </a:r>
            <a:endParaRPr lang="en-US" altLang="en-US" b="1"/>
          </a:p>
        </p:txBody>
      </p:sp>
      <p:sp>
        <p:nvSpPr>
          <p:cNvPr id="22640" name="Freeform 113"/>
          <p:cNvSpPr>
            <a:spLocks/>
          </p:cNvSpPr>
          <p:nvPr/>
        </p:nvSpPr>
        <p:spPr bwMode="auto">
          <a:xfrm>
            <a:off x="4406900" y="4924425"/>
            <a:ext cx="106363" cy="100013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15" y="0"/>
                </a:moveTo>
                <a:lnTo>
                  <a:pt x="0" y="63"/>
                </a:lnTo>
                <a:lnTo>
                  <a:pt x="67" y="52"/>
                </a:lnTo>
                <a:lnTo>
                  <a:pt x="19" y="3"/>
                </a:lnTo>
                <a:lnTo>
                  <a:pt x="1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1" name="Freeform 114"/>
          <p:cNvSpPr>
            <a:spLocks/>
          </p:cNvSpPr>
          <p:nvPr/>
        </p:nvSpPr>
        <p:spPr bwMode="auto">
          <a:xfrm>
            <a:off x="4294188" y="5053013"/>
            <a:ext cx="106362" cy="100012"/>
          </a:xfrm>
          <a:custGeom>
            <a:avLst/>
            <a:gdLst>
              <a:gd name="T0" fmla="*/ 0 w 67"/>
              <a:gd name="T1" fmla="*/ 0 h 63"/>
              <a:gd name="T2" fmla="*/ 2147483647 w 67"/>
              <a:gd name="T3" fmla="*/ 2147483647 h 63"/>
              <a:gd name="T4" fmla="*/ 2147483647 w 67"/>
              <a:gd name="T5" fmla="*/ 2147483647 h 63"/>
              <a:gd name="T6" fmla="*/ 0 w 67"/>
              <a:gd name="T7" fmla="*/ 2147483647 h 63"/>
              <a:gd name="T8" fmla="*/ 0 w 67"/>
              <a:gd name="T9" fmla="*/ 2147483647 h 63"/>
              <a:gd name="T10" fmla="*/ 0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0" y="0"/>
                </a:moveTo>
                <a:lnTo>
                  <a:pt x="8" y="63"/>
                </a:lnTo>
                <a:lnTo>
                  <a:pt x="67" y="30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2" name="Line 115"/>
          <p:cNvSpPr>
            <a:spLocks noChangeShapeType="1"/>
          </p:cNvSpPr>
          <p:nvPr/>
        </p:nvSpPr>
        <p:spPr bwMode="auto">
          <a:xfrm flipV="1">
            <a:off x="2551113" y="5106988"/>
            <a:ext cx="1779587" cy="13493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3" name="Line 116"/>
          <p:cNvSpPr>
            <a:spLocks noChangeShapeType="1"/>
          </p:cNvSpPr>
          <p:nvPr/>
        </p:nvSpPr>
        <p:spPr bwMode="auto">
          <a:xfrm flipH="1" flipV="1">
            <a:off x="2551113" y="3775075"/>
            <a:ext cx="2138362" cy="1160463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4" name="Line 117"/>
          <p:cNvSpPr>
            <a:spLocks noChangeShapeType="1"/>
          </p:cNvSpPr>
          <p:nvPr/>
        </p:nvSpPr>
        <p:spPr bwMode="auto">
          <a:xfrm>
            <a:off x="2551113" y="4357688"/>
            <a:ext cx="1890712" cy="62547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5" name="Line 118"/>
          <p:cNvSpPr>
            <a:spLocks noChangeShapeType="1"/>
          </p:cNvSpPr>
          <p:nvPr/>
        </p:nvSpPr>
        <p:spPr bwMode="auto">
          <a:xfrm flipV="1">
            <a:off x="2551113" y="2078038"/>
            <a:ext cx="3163887" cy="287020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6" name="Freeform 119"/>
          <p:cNvSpPr>
            <a:spLocks/>
          </p:cNvSpPr>
          <p:nvPr/>
        </p:nvSpPr>
        <p:spPr bwMode="auto">
          <a:xfrm>
            <a:off x="5673725" y="2532063"/>
            <a:ext cx="100013" cy="100012"/>
          </a:xfrm>
          <a:custGeom>
            <a:avLst/>
            <a:gdLst>
              <a:gd name="T0" fmla="*/ 2147483647 w 63"/>
              <a:gd name="T1" fmla="*/ 0 h 63"/>
              <a:gd name="T2" fmla="*/ 0 w 63"/>
              <a:gd name="T3" fmla="*/ 2147483647 h 63"/>
              <a:gd name="T4" fmla="*/ 2147483647 w 63"/>
              <a:gd name="T5" fmla="*/ 2147483647 h 63"/>
              <a:gd name="T6" fmla="*/ 2147483647 w 63"/>
              <a:gd name="T7" fmla="*/ 2147483647 h 63"/>
              <a:gd name="T8" fmla="*/ 2147483647 w 63"/>
              <a:gd name="T9" fmla="*/ 2147483647 h 63"/>
              <a:gd name="T10" fmla="*/ 2147483647 w 63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3"/>
              <a:gd name="T19" fmla="*/ 0 h 63"/>
              <a:gd name="T20" fmla="*/ 63 w 63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3" h="63">
                <a:moveTo>
                  <a:pt x="3" y="0"/>
                </a:moveTo>
                <a:lnTo>
                  <a:pt x="0" y="63"/>
                </a:lnTo>
                <a:lnTo>
                  <a:pt x="63" y="37"/>
                </a:lnTo>
                <a:lnTo>
                  <a:pt x="3" y="3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7" name="Line 120"/>
          <p:cNvSpPr>
            <a:spLocks noChangeShapeType="1"/>
          </p:cNvSpPr>
          <p:nvPr/>
        </p:nvSpPr>
        <p:spPr bwMode="auto">
          <a:xfrm>
            <a:off x="2551113" y="2295525"/>
            <a:ext cx="3151187" cy="28892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8" name="Freeform 121"/>
          <p:cNvSpPr>
            <a:spLocks/>
          </p:cNvSpPr>
          <p:nvPr/>
        </p:nvSpPr>
        <p:spPr bwMode="auto">
          <a:xfrm>
            <a:off x="5667375" y="3109913"/>
            <a:ext cx="106363" cy="100012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11" y="0"/>
                </a:moveTo>
                <a:lnTo>
                  <a:pt x="0" y="63"/>
                </a:lnTo>
                <a:lnTo>
                  <a:pt x="67" y="44"/>
                </a:lnTo>
                <a:lnTo>
                  <a:pt x="11" y="3"/>
                </a:lnTo>
                <a:lnTo>
                  <a:pt x="1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49" name="Line 122"/>
          <p:cNvSpPr>
            <a:spLocks noChangeShapeType="1"/>
          </p:cNvSpPr>
          <p:nvPr/>
        </p:nvSpPr>
        <p:spPr bwMode="auto">
          <a:xfrm>
            <a:off x="2551113" y="2590800"/>
            <a:ext cx="3151187" cy="57785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0" name="Freeform 123"/>
          <p:cNvSpPr>
            <a:spLocks/>
          </p:cNvSpPr>
          <p:nvPr/>
        </p:nvSpPr>
        <p:spPr bwMode="auto">
          <a:xfrm>
            <a:off x="5667375" y="3368675"/>
            <a:ext cx="106363" cy="100013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7" y="0"/>
                </a:moveTo>
                <a:lnTo>
                  <a:pt x="0" y="63"/>
                </a:lnTo>
                <a:lnTo>
                  <a:pt x="67" y="41"/>
                </a:lnTo>
                <a:lnTo>
                  <a:pt x="7" y="4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1" name="Freeform 124"/>
          <p:cNvSpPr>
            <a:spLocks/>
          </p:cNvSpPr>
          <p:nvPr/>
        </p:nvSpPr>
        <p:spPr bwMode="auto">
          <a:xfrm rot="1944879">
            <a:off x="4492625" y="4924425"/>
            <a:ext cx="106363" cy="95250"/>
          </a:xfrm>
          <a:custGeom>
            <a:avLst/>
            <a:gdLst>
              <a:gd name="T0" fmla="*/ 0 w 67"/>
              <a:gd name="T1" fmla="*/ 0 h 60"/>
              <a:gd name="T2" fmla="*/ 2147483647 w 67"/>
              <a:gd name="T3" fmla="*/ 2147483647 h 60"/>
              <a:gd name="T4" fmla="*/ 2147483647 w 67"/>
              <a:gd name="T5" fmla="*/ 2147483647 h 60"/>
              <a:gd name="T6" fmla="*/ 0 w 67"/>
              <a:gd name="T7" fmla="*/ 0 h 60"/>
              <a:gd name="T8" fmla="*/ 0 w 6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"/>
              <a:gd name="T16" fmla="*/ 0 h 60"/>
              <a:gd name="T17" fmla="*/ 67 w 67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" h="60">
                <a:moveTo>
                  <a:pt x="0" y="0"/>
                </a:moveTo>
                <a:lnTo>
                  <a:pt x="11" y="60"/>
                </a:lnTo>
                <a:lnTo>
                  <a:pt x="67" y="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2" name="Freeform 125"/>
          <p:cNvSpPr>
            <a:spLocks/>
          </p:cNvSpPr>
          <p:nvPr/>
        </p:nvSpPr>
        <p:spPr bwMode="auto">
          <a:xfrm>
            <a:off x="5661025" y="3668713"/>
            <a:ext cx="112713" cy="88900"/>
          </a:xfrm>
          <a:custGeom>
            <a:avLst/>
            <a:gdLst>
              <a:gd name="T0" fmla="*/ 2147483647 w 71"/>
              <a:gd name="T1" fmla="*/ 0 h 56"/>
              <a:gd name="T2" fmla="*/ 0 w 71"/>
              <a:gd name="T3" fmla="*/ 2147483647 h 56"/>
              <a:gd name="T4" fmla="*/ 2147483647 w 71"/>
              <a:gd name="T5" fmla="*/ 2147483647 h 56"/>
              <a:gd name="T6" fmla="*/ 2147483647 w 71"/>
              <a:gd name="T7" fmla="*/ 0 h 56"/>
              <a:gd name="T8" fmla="*/ 2147483647 w 71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"/>
              <a:gd name="T16" fmla="*/ 0 h 56"/>
              <a:gd name="T17" fmla="*/ 71 w 71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" h="56">
                <a:moveTo>
                  <a:pt x="30" y="0"/>
                </a:moveTo>
                <a:lnTo>
                  <a:pt x="0" y="56"/>
                </a:lnTo>
                <a:lnTo>
                  <a:pt x="71" y="56"/>
                </a:lnTo>
                <a:lnTo>
                  <a:pt x="3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3" name="Line 126"/>
          <p:cNvSpPr>
            <a:spLocks noChangeShapeType="1"/>
          </p:cNvSpPr>
          <p:nvPr/>
        </p:nvSpPr>
        <p:spPr bwMode="auto">
          <a:xfrm>
            <a:off x="2551113" y="2001838"/>
            <a:ext cx="3157537" cy="1725612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4" name="Freeform 127"/>
          <p:cNvSpPr>
            <a:spLocks/>
          </p:cNvSpPr>
          <p:nvPr/>
        </p:nvSpPr>
        <p:spPr bwMode="auto">
          <a:xfrm>
            <a:off x="5667375" y="3992563"/>
            <a:ext cx="106363" cy="100012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11" y="0"/>
                </a:moveTo>
                <a:lnTo>
                  <a:pt x="0" y="63"/>
                </a:lnTo>
                <a:lnTo>
                  <a:pt x="67" y="45"/>
                </a:lnTo>
                <a:lnTo>
                  <a:pt x="11" y="4"/>
                </a:lnTo>
                <a:lnTo>
                  <a:pt x="1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5" name="Line 128"/>
          <p:cNvSpPr>
            <a:spLocks noChangeShapeType="1"/>
          </p:cNvSpPr>
          <p:nvPr/>
        </p:nvSpPr>
        <p:spPr bwMode="auto">
          <a:xfrm>
            <a:off x="2551113" y="3475038"/>
            <a:ext cx="3151187" cy="576262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6" name="Freeform 129"/>
          <p:cNvSpPr>
            <a:spLocks/>
          </p:cNvSpPr>
          <p:nvPr/>
        </p:nvSpPr>
        <p:spPr bwMode="auto">
          <a:xfrm>
            <a:off x="5667375" y="4322763"/>
            <a:ext cx="106363" cy="100012"/>
          </a:xfrm>
          <a:custGeom>
            <a:avLst/>
            <a:gdLst>
              <a:gd name="T0" fmla="*/ 0 w 67"/>
              <a:gd name="T1" fmla="*/ 0 h 63"/>
              <a:gd name="T2" fmla="*/ 2147483647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0 h 63"/>
              <a:gd name="T8" fmla="*/ 2147483647 w 67"/>
              <a:gd name="T9" fmla="*/ 0 h 63"/>
              <a:gd name="T10" fmla="*/ 0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0" y="0"/>
                </a:moveTo>
                <a:lnTo>
                  <a:pt x="7" y="63"/>
                </a:lnTo>
                <a:lnTo>
                  <a:pt x="67" y="26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7" name="Line 130"/>
          <p:cNvSpPr>
            <a:spLocks noChangeShapeType="1"/>
          </p:cNvSpPr>
          <p:nvPr/>
        </p:nvSpPr>
        <p:spPr bwMode="auto">
          <a:xfrm flipV="1">
            <a:off x="2551113" y="4370388"/>
            <a:ext cx="3157537" cy="28257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8" name="Line 131"/>
          <p:cNvSpPr>
            <a:spLocks noChangeShapeType="1"/>
          </p:cNvSpPr>
          <p:nvPr/>
        </p:nvSpPr>
        <p:spPr bwMode="auto">
          <a:xfrm>
            <a:off x="2551113" y="4064000"/>
            <a:ext cx="1982787" cy="90170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59" name="Line 132"/>
          <p:cNvSpPr>
            <a:spLocks noChangeShapeType="1"/>
          </p:cNvSpPr>
          <p:nvPr/>
        </p:nvSpPr>
        <p:spPr bwMode="auto">
          <a:xfrm>
            <a:off x="2551113" y="3179763"/>
            <a:ext cx="3146425" cy="24130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60" name="Freeform 133"/>
          <p:cNvSpPr>
            <a:spLocks/>
          </p:cNvSpPr>
          <p:nvPr/>
        </p:nvSpPr>
        <p:spPr bwMode="auto">
          <a:xfrm>
            <a:off x="2503488" y="2838450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61" name="Line 134"/>
          <p:cNvSpPr>
            <a:spLocks noChangeShapeType="1"/>
          </p:cNvSpPr>
          <p:nvPr/>
        </p:nvSpPr>
        <p:spPr bwMode="auto">
          <a:xfrm>
            <a:off x="2551113" y="2884488"/>
            <a:ext cx="3151187" cy="635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62" name="Freeform 135"/>
          <p:cNvSpPr>
            <a:spLocks/>
          </p:cNvSpPr>
          <p:nvPr/>
        </p:nvSpPr>
        <p:spPr bwMode="auto">
          <a:xfrm>
            <a:off x="5673725" y="2838450"/>
            <a:ext cx="100013" cy="100013"/>
          </a:xfrm>
          <a:custGeom>
            <a:avLst/>
            <a:gdLst>
              <a:gd name="T0" fmla="*/ 0 w 63"/>
              <a:gd name="T1" fmla="*/ 0 h 63"/>
              <a:gd name="T2" fmla="*/ 0 w 63"/>
              <a:gd name="T3" fmla="*/ 2147483647 h 63"/>
              <a:gd name="T4" fmla="*/ 2147483647 w 63"/>
              <a:gd name="T5" fmla="*/ 2147483647 h 63"/>
              <a:gd name="T6" fmla="*/ 0 w 63"/>
              <a:gd name="T7" fmla="*/ 0 h 63"/>
              <a:gd name="T8" fmla="*/ 0 w 63"/>
              <a:gd name="T9" fmla="*/ 0 h 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"/>
              <a:gd name="T16" fmla="*/ 0 h 63"/>
              <a:gd name="T17" fmla="*/ 63 w 63"/>
              <a:gd name="T18" fmla="*/ 63 h 6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" h="63">
                <a:moveTo>
                  <a:pt x="0" y="0"/>
                </a:moveTo>
                <a:lnTo>
                  <a:pt x="0" y="63"/>
                </a:lnTo>
                <a:lnTo>
                  <a:pt x="63" y="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72" name="Text Box 145"/>
          <p:cNvSpPr txBox="1">
            <a:spLocks noChangeArrowheads="1"/>
          </p:cNvSpPr>
          <p:nvPr/>
        </p:nvSpPr>
        <p:spPr bwMode="auto">
          <a:xfrm>
            <a:off x="495299" y="1079500"/>
            <a:ext cx="39322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program view of memory</a:t>
            </a:r>
            <a:endParaRPr lang="en-US" altLang="en-US" b="1" dirty="0"/>
          </a:p>
        </p:txBody>
      </p:sp>
      <p:sp>
        <p:nvSpPr>
          <p:cNvPr id="22673" name="Text Box 146"/>
          <p:cNvSpPr txBox="1">
            <a:spLocks noChangeArrowheads="1"/>
          </p:cNvSpPr>
          <p:nvPr/>
        </p:nvSpPr>
        <p:spPr bwMode="auto">
          <a:xfrm>
            <a:off x="4889500" y="1079500"/>
            <a:ext cx="3575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main memory, actually</a:t>
            </a:r>
            <a:endParaRPr lang="en-US" altLang="en-US" b="1" dirty="0"/>
          </a:p>
        </p:txBody>
      </p:sp>
      <p:sp>
        <p:nvSpPr>
          <p:cNvPr id="22674" name="Text Box 147"/>
          <p:cNvSpPr txBox="1">
            <a:spLocks noChangeArrowheads="1"/>
          </p:cNvSpPr>
          <p:nvPr/>
        </p:nvSpPr>
        <p:spPr bwMode="auto">
          <a:xfrm>
            <a:off x="1478244" y="5529355"/>
            <a:ext cx="27146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 dirty="0">
                <a:ea typeface="Arial" charset="0"/>
                <a:cs typeface="Arial" charset="0"/>
              </a:rPr>
              <a:t>nice contiguous</a:t>
            </a:r>
            <a:br>
              <a:rPr lang="en-US" altLang="en-US" sz="1800" b="1" dirty="0">
                <a:ea typeface="Arial" charset="0"/>
                <a:cs typeface="Arial" charset="0"/>
              </a:rPr>
            </a:br>
            <a:r>
              <a:rPr lang="en-US" altLang="en-US" sz="1800" b="1" dirty="0">
                <a:ea typeface="Arial" charset="0"/>
                <a:cs typeface="Arial" charset="0"/>
              </a:rPr>
              <a:t>address space,</a:t>
            </a:r>
            <a:br>
              <a:rPr lang="en-US" altLang="en-US" sz="1800" b="1" dirty="0">
                <a:ea typeface="Arial" charset="0"/>
                <a:cs typeface="Arial" charset="0"/>
              </a:rPr>
            </a:br>
            <a:r>
              <a:rPr lang="en-US" altLang="en-US" sz="1800" b="1" dirty="0">
                <a:ea typeface="Arial" charset="0"/>
                <a:cs typeface="Arial" charset="0"/>
              </a:rPr>
              <a:t>can always </a:t>
            </a:r>
            <a:r>
              <a:rPr lang="en-US" altLang="en-US" sz="1800" b="1" dirty="0" err="1">
                <a:ea typeface="Arial" charset="0"/>
                <a:cs typeface="Arial" charset="0"/>
              </a:rPr>
              <a:t>alloc</a:t>
            </a:r>
            <a:r>
              <a:rPr lang="en-US" altLang="en-US" sz="1800" b="1" dirty="0">
                <a:ea typeface="Arial" charset="0"/>
                <a:cs typeface="Arial" charset="0"/>
              </a:rPr>
              <a:t> more</a:t>
            </a:r>
          </a:p>
        </p:txBody>
      </p:sp>
      <p:sp>
        <p:nvSpPr>
          <p:cNvPr id="22675" name="Text Box 148"/>
          <p:cNvSpPr txBox="1">
            <a:spLocks noChangeArrowheads="1"/>
          </p:cNvSpPr>
          <p:nvPr/>
        </p:nvSpPr>
        <p:spPr bwMode="auto">
          <a:xfrm>
            <a:off x="7658100" y="26797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FF0000"/>
                </a:solidFill>
              </a:rPr>
              <a:t>pages</a:t>
            </a:r>
          </a:p>
        </p:txBody>
      </p:sp>
      <p:sp>
        <p:nvSpPr>
          <p:cNvPr id="22676" name="Line 149"/>
          <p:cNvSpPr>
            <a:spLocks noChangeShapeType="1"/>
          </p:cNvSpPr>
          <p:nvPr/>
        </p:nvSpPr>
        <p:spPr bwMode="auto">
          <a:xfrm flipH="1" flipV="1">
            <a:off x="7658100" y="2070100"/>
            <a:ext cx="381000" cy="533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77" name="Line 150"/>
          <p:cNvSpPr>
            <a:spLocks noChangeShapeType="1"/>
          </p:cNvSpPr>
          <p:nvPr/>
        </p:nvSpPr>
        <p:spPr bwMode="auto">
          <a:xfrm flipH="1">
            <a:off x="7658100" y="3213100"/>
            <a:ext cx="304800" cy="304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78" name="Line 151"/>
          <p:cNvSpPr>
            <a:spLocks noChangeShapeType="1"/>
          </p:cNvSpPr>
          <p:nvPr/>
        </p:nvSpPr>
        <p:spPr bwMode="auto">
          <a:xfrm flipH="1">
            <a:off x="7658100" y="3213100"/>
            <a:ext cx="685800" cy="838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2679" name="Text Box 152"/>
          <p:cNvSpPr txBox="1">
            <a:spLocks noChangeArrowheads="1"/>
          </p:cNvSpPr>
          <p:nvPr/>
        </p:nvSpPr>
        <p:spPr bwMode="auto">
          <a:xfrm>
            <a:off x="6007100" y="4680413"/>
            <a:ext cx="3136900" cy="1505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2000" b="1" dirty="0">
                <a:ea typeface="Arial" charset="0"/>
                <a:cs typeface="Arial" charset="0"/>
              </a:rPr>
              <a:t>fragmented: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sz="1800" b="1" dirty="0">
                <a:ea typeface="Arial" charset="0"/>
                <a:cs typeface="Arial" charset="0"/>
              </a:rPr>
              <a:t>non-contiguous (holes),</a:t>
            </a:r>
            <a:br>
              <a:rPr lang="en-US" altLang="en-US" sz="1800" b="1" dirty="0">
                <a:ea typeface="Arial" charset="0"/>
                <a:cs typeface="Arial" charset="0"/>
              </a:rPr>
            </a:br>
            <a:r>
              <a:rPr lang="en-US" altLang="en-US" sz="1800" b="1" dirty="0">
                <a:ea typeface="Arial" charset="0"/>
                <a:cs typeface="Arial" charset="0"/>
              </a:rPr>
              <a:t>out-of-order,</a:t>
            </a:r>
            <a:br>
              <a:rPr lang="en-US" altLang="en-US" sz="1800" b="1" dirty="0">
                <a:ea typeface="Arial" charset="0"/>
                <a:cs typeface="Arial" charset="0"/>
              </a:rPr>
            </a:br>
            <a:r>
              <a:rPr lang="en-US" altLang="en-US" sz="1800" b="1" dirty="0">
                <a:ea typeface="Arial" charset="0"/>
                <a:cs typeface="Arial" charset="0"/>
              </a:rPr>
              <a:t>some on disk</a:t>
            </a:r>
            <a:br>
              <a:rPr lang="en-US" altLang="en-US" sz="1800" b="1" dirty="0">
                <a:ea typeface="Arial" charset="0"/>
                <a:cs typeface="Arial" charset="0"/>
              </a:rPr>
            </a:br>
            <a:r>
              <a:rPr lang="en-US" altLang="en-US" sz="1800" dirty="0">
                <a:ea typeface="Arial" charset="0"/>
                <a:cs typeface="Arial" charset="0"/>
              </a:rPr>
              <a:t>(that CPEN 411 sim...)</a:t>
            </a:r>
            <a:endParaRPr lang="en-US" altLang="en-US" sz="2000" dirty="0">
              <a:ea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967" y="2908300"/>
            <a:ext cx="10246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equal</a:t>
            </a:r>
          </a:p>
          <a:p>
            <a:r>
              <a:rPr lang="en-CA" dirty="0"/>
              <a:t>size</a:t>
            </a:r>
          </a:p>
          <a:p>
            <a:r>
              <a:rPr lang="en-CA" dirty="0"/>
              <a:t>pages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74" grpId="0"/>
      <p:bldP spid="2267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latin typeface="Arial  " charset="0"/>
              </a:rPr>
              <a:t>Address Translation</a:t>
            </a:r>
          </a:p>
        </p:txBody>
      </p:sp>
      <p:grpSp>
        <p:nvGrpSpPr>
          <p:cNvPr id="23554" name="Group 3"/>
          <p:cNvGrpSpPr>
            <a:grpSpLocks noChangeAspect="1"/>
          </p:cNvGrpSpPr>
          <p:nvPr/>
        </p:nvGrpSpPr>
        <p:grpSpPr bwMode="auto">
          <a:xfrm>
            <a:off x="838200" y="1905000"/>
            <a:ext cx="7315200" cy="3870325"/>
            <a:chOff x="624" y="1374"/>
            <a:chExt cx="4608" cy="2438"/>
          </a:xfrm>
        </p:grpSpPr>
        <p:sp>
          <p:nvSpPr>
            <p:cNvPr id="23560" name="AutoShape 4"/>
            <p:cNvSpPr>
              <a:spLocks noChangeAspect="1" noChangeArrowheads="1" noTextEdit="1"/>
            </p:cNvSpPr>
            <p:nvPr/>
          </p:nvSpPr>
          <p:spPr bwMode="auto">
            <a:xfrm>
              <a:off x="624" y="1488"/>
              <a:ext cx="4608" cy="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grpSp>
          <p:nvGrpSpPr>
            <p:cNvPr id="23561" name="Group 5"/>
            <p:cNvGrpSpPr>
              <a:grpSpLocks/>
            </p:cNvGrpSpPr>
            <p:nvPr/>
          </p:nvGrpSpPr>
          <p:grpSpPr bwMode="auto">
            <a:xfrm>
              <a:off x="639" y="1374"/>
              <a:ext cx="4574" cy="2438"/>
              <a:chOff x="639" y="1374"/>
              <a:chExt cx="4574" cy="2438"/>
            </a:xfrm>
          </p:grpSpPr>
          <p:sp>
            <p:nvSpPr>
              <p:cNvPr id="23589" name="Freeform 6"/>
              <p:cNvSpPr>
                <a:spLocks/>
              </p:cNvSpPr>
              <p:nvPr/>
            </p:nvSpPr>
            <p:spPr bwMode="auto">
              <a:xfrm>
                <a:off x="1592" y="2540"/>
                <a:ext cx="953" cy="286"/>
              </a:xfrm>
              <a:custGeom>
                <a:avLst/>
                <a:gdLst>
                  <a:gd name="T0" fmla="*/ 808 w 953"/>
                  <a:gd name="T1" fmla="*/ 286 h 286"/>
                  <a:gd name="T2" fmla="*/ 835 w 953"/>
                  <a:gd name="T3" fmla="*/ 286 h 286"/>
                  <a:gd name="T4" fmla="*/ 858 w 953"/>
                  <a:gd name="T5" fmla="*/ 279 h 286"/>
                  <a:gd name="T6" fmla="*/ 877 w 953"/>
                  <a:gd name="T7" fmla="*/ 271 h 286"/>
                  <a:gd name="T8" fmla="*/ 896 w 953"/>
                  <a:gd name="T9" fmla="*/ 260 h 286"/>
                  <a:gd name="T10" fmla="*/ 911 w 953"/>
                  <a:gd name="T11" fmla="*/ 244 h 286"/>
                  <a:gd name="T12" fmla="*/ 926 w 953"/>
                  <a:gd name="T13" fmla="*/ 229 h 286"/>
                  <a:gd name="T14" fmla="*/ 938 w 953"/>
                  <a:gd name="T15" fmla="*/ 210 h 286"/>
                  <a:gd name="T16" fmla="*/ 945 w 953"/>
                  <a:gd name="T17" fmla="*/ 191 h 286"/>
                  <a:gd name="T18" fmla="*/ 953 w 953"/>
                  <a:gd name="T19" fmla="*/ 168 h 286"/>
                  <a:gd name="T20" fmla="*/ 953 w 953"/>
                  <a:gd name="T21" fmla="*/ 145 h 286"/>
                  <a:gd name="T22" fmla="*/ 953 w 953"/>
                  <a:gd name="T23" fmla="*/ 122 h 286"/>
                  <a:gd name="T24" fmla="*/ 945 w 953"/>
                  <a:gd name="T25" fmla="*/ 100 h 286"/>
                  <a:gd name="T26" fmla="*/ 938 w 953"/>
                  <a:gd name="T27" fmla="*/ 77 h 286"/>
                  <a:gd name="T28" fmla="*/ 926 w 953"/>
                  <a:gd name="T29" fmla="*/ 61 h 286"/>
                  <a:gd name="T30" fmla="*/ 911 w 953"/>
                  <a:gd name="T31" fmla="*/ 42 h 286"/>
                  <a:gd name="T32" fmla="*/ 896 w 953"/>
                  <a:gd name="T33" fmla="*/ 27 h 286"/>
                  <a:gd name="T34" fmla="*/ 877 w 953"/>
                  <a:gd name="T35" fmla="*/ 16 h 286"/>
                  <a:gd name="T36" fmla="*/ 858 w 953"/>
                  <a:gd name="T37" fmla="*/ 8 h 286"/>
                  <a:gd name="T38" fmla="*/ 835 w 953"/>
                  <a:gd name="T39" fmla="*/ 4 h 286"/>
                  <a:gd name="T40" fmla="*/ 812 w 953"/>
                  <a:gd name="T41" fmla="*/ 0 h 286"/>
                  <a:gd name="T42" fmla="*/ 145 w 953"/>
                  <a:gd name="T43" fmla="*/ 0 h 286"/>
                  <a:gd name="T44" fmla="*/ 122 w 953"/>
                  <a:gd name="T45" fmla="*/ 4 h 286"/>
                  <a:gd name="T46" fmla="*/ 99 w 953"/>
                  <a:gd name="T47" fmla="*/ 8 h 286"/>
                  <a:gd name="T48" fmla="*/ 80 w 953"/>
                  <a:gd name="T49" fmla="*/ 16 h 286"/>
                  <a:gd name="T50" fmla="*/ 61 w 953"/>
                  <a:gd name="T51" fmla="*/ 27 h 286"/>
                  <a:gd name="T52" fmla="*/ 42 w 953"/>
                  <a:gd name="T53" fmla="*/ 42 h 286"/>
                  <a:gd name="T54" fmla="*/ 31 w 953"/>
                  <a:gd name="T55" fmla="*/ 61 h 286"/>
                  <a:gd name="T56" fmla="*/ 19 w 953"/>
                  <a:gd name="T57" fmla="*/ 77 h 286"/>
                  <a:gd name="T58" fmla="*/ 8 w 953"/>
                  <a:gd name="T59" fmla="*/ 100 h 286"/>
                  <a:gd name="T60" fmla="*/ 4 w 953"/>
                  <a:gd name="T61" fmla="*/ 122 h 286"/>
                  <a:gd name="T62" fmla="*/ 0 w 953"/>
                  <a:gd name="T63" fmla="*/ 145 h 286"/>
                  <a:gd name="T64" fmla="*/ 4 w 953"/>
                  <a:gd name="T65" fmla="*/ 168 h 286"/>
                  <a:gd name="T66" fmla="*/ 8 w 953"/>
                  <a:gd name="T67" fmla="*/ 191 h 286"/>
                  <a:gd name="T68" fmla="*/ 19 w 953"/>
                  <a:gd name="T69" fmla="*/ 210 h 286"/>
                  <a:gd name="T70" fmla="*/ 31 w 953"/>
                  <a:gd name="T71" fmla="*/ 229 h 286"/>
                  <a:gd name="T72" fmla="*/ 42 w 953"/>
                  <a:gd name="T73" fmla="*/ 244 h 286"/>
                  <a:gd name="T74" fmla="*/ 61 w 953"/>
                  <a:gd name="T75" fmla="*/ 260 h 286"/>
                  <a:gd name="T76" fmla="*/ 80 w 953"/>
                  <a:gd name="T77" fmla="*/ 271 h 286"/>
                  <a:gd name="T78" fmla="*/ 99 w 953"/>
                  <a:gd name="T79" fmla="*/ 279 h 286"/>
                  <a:gd name="T80" fmla="*/ 122 w 953"/>
                  <a:gd name="T81" fmla="*/ 286 h 286"/>
                  <a:gd name="T82" fmla="*/ 145 w 953"/>
                  <a:gd name="T83" fmla="*/ 286 h 286"/>
                  <a:gd name="T84" fmla="*/ 812 w 953"/>
                  <a:gd name="T85" fmla="*/ 286 h 286"/>
                  <a:gd name="T86" fmla="*/ 812 w 953"/>
                  <a:gd name="T87" fmla="*/ 286 h 286"/>
                  <a:gd name="T88" fmla="*/ 808 w 953"/>
                  <a:gd name="T89" fmla="*/ 286 h 28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953"/>
                  <a:gd name="T136" fmla="*/ 0 h 286"/>
                  <a:gd name="T137" fmla="*/ 953 w 953"/>
                  <a:gd name="T138" fmla="*/ 286 h 28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953" h="286">
                    <a:moveTo>
                      <a:pt x="808" y="286"/>
                    </a:moveTo>
                    <a:lnTo>
                      <a:pt x="835" y="286"/>
                    </a:lnTo>
                    <a:lnTo>
                      <a:pt x="858" y="279"/>
                    </a:lnTo>
                    <a:lnTo>
                      <a:pt x="877" y="271"/>
                    </a:lnTo>
                    <a:lnTo>
                      <a:pt x="896" y="260"/>
                    </a:lnTo>
                    <a:lnTo>
                      <a:pt x="911" y="244"/>
                    </a:lnTo>
                    <a:lnTo>
                      <a:pt x="926" y="229"/>
                    </a:lnTo>
                    <a:lnTo>
                      <a:pt x="938" y="210"/>
                    </a:lnTo>
                    <a:lnTo>
                      <a:pt x="945" y="191"/>
                    </a:lnTo>
                    <a:lnTo>
                      <a:pt x="953" y="168"/>
                    </a:lnTo>
                    <a:lnTo>
                      <a:pt x="953" y="145"/>
                    </a:lnTo>
                    <a:lnTo>
                      <a:pt x="953" y="122"/>
                    </a:lnTo>
                    <a:lnTo>
                      <a:pt x="945" y="100"/>
                    </a:lnTo>
                    <a:lnTo>
                      <a:pt x="938" y="77"/>
                    </a:lnTo>
                    <a:lnTo>
                      <a:pt x="926" y="61"/>
                    </a:lnTo>
                    <a:lnTo>
                      <a:pt x="911" y="42"/>
                    </a:lnTo>
                    <a:lnTo>
                      <a:pt x="896" y="27"/>
                    </a:lnTo>
                    <a:lnTo>
                      <a:pt x="877" y="16"/>
                    </a:lnTo>
                    <a:lnTo>
                      <a:pt x="858" y="8"/>
                    </a:lnTo>
                    <a:lnTo>
                      <a:pt x="835" y="4"/>
                    </a:lnTo>
                    <a:lnTo>
                      <a:pt x="812" y="0"/>
                    </a:lnTo>
                    <a:lnTo>
                      <a:pt x="145" y="0"/>
                    </a:lnTo>
                    <a:lnTo>
                      <a:pt x="122" y="4"/>
                    </a:lnTo>
                    <a:lnTo>
                      <a:pt x="99" y="8"/>
                    </a:lnTo>
                    <a:lnTo>
                      <a:pt x="80" y="16"/>
                    </a:lnTo>
                    <a:lnTo>
                      <a:pt x="61" y="27"/>
                    </a:lnTo>
                    <a:lnTo>
                      <a:pt x="42" y="42"/>
                    </a:lnTo>
                    <a:lnTo>
                      <a:pt x="31" y="61"/>
                    </a:lnTo>
                    <a:lnTo>
                      <a:pt x="19" y="77"/>
                    </a:lnTo>
                    <a:lnTo>
                      <a:pt x="8" y="100"/>
                    </a:lnTo>
                    <a:lnTo>
                      <a:pt x="4" y="122"/>
                    </a:lnTo>
                    <a:lnTo>
                      <a:pt x="0" y="145"/>
                    </a:lnTo>
                    <a:lnTo>
                      <a:pt x="4" y="168"/>
                    </a:lnTo>
                    <a:lnTo>
                      <a:pt x="8" y="191"/>
                    </a:lnTo>
                    <a:lnTo>
                      <a:pt x="19" y="210"/>
                    </a:lnTo>
                    <a:lnTo>
                      <a:pt x="31" y="229"/>
                    </a:lnTo>
                    <a:lnTo>
                      <a:pt x="42" y="244"/>
                    </a:lnTo>
                    <a:lnTo>
                      <a:pt x="61" y="260"/>
                    </a:lnTo>
                    <a:lnTo>
                      <a:pt x="80" y="271"/>
                    </a:lnTo>
                    <a:lnTo>
                      <a:pt x="99" y="279"/>
                    </a:lnTo>
                    <a:lnTo>
                      <a:pt x="122" y="286"/>
                    </a:lnTo>
                    <a:lnTo>
                      <a:pt x="145" y="286"/>
                    </a:lnTo>
                    <a:lnTo>
                      <a:pt x="812" y="286"/>
                    </a:lnTo>
                    <a:lnTo>
                      <a:pt x="808" y="286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590" name="Freeform 7"/>
              <p:cNvSpPr>
                <a:spLocks/>
              </p:cNvSpPr>
              <p:nvPr/>
            </p:nvSpPr>
            <p:spPr bwMode="auto">
              <a:xfrm>
                <a:off x="1592" y="2540"/>
                <a:ext cx="953" cy="286"/>
              </a:xfrm>
              <a:custGeom>
                <a:avLst/>
                <a:gdLst>
                  <a:gd name="T0" fmla="*/ 808 w 953"/>
                  <a:gd name="T1" fmla="*/ 286 h 286"/>
                  <a:gd name="T2" fmla="*/ 835 w 953"/>
                  <a:gd name="T3" fmla="*/ 286 h 286"/>
                  <a:gd name="T4" fmla="*/ 858 w 953"/>
                  <a:gd name="T5" fmla="*/ 279 h 286"/>
                  <a:gd name="T6" fmla="*/ 877 w 953"/>
                  <a:gd name="T7" fmla="*/ 271 h 286"/>
                  <a:gd name="T8" fmla="*/ 896 w 953"/>
                  <a:gd name="T9" fmla="*/ 260 h 286"/>
                  <a:gd name="T10" fmla="*/ 911 w 953"/>
                  <a:gd name="T11" fmla="*/ 244 h 286"/>
                  <a:gd name="T12" fmla="*/ 926 w 953"/>
                  <a:gd name="T13" fmla="*/ 229 h 286"/>
                  <a:gd name="T14" fmla="*/ 938 w 953"/>
                  <a:gd name="T15" fmla="*/ 210 h 286"/>
                  <a:gd name="T16" fmla="*/ 945 w 953"/>
                  <a:gd name="T17" fmla="*/ 191 h 286"/>
                  <a:gd name="T18" fmla="*/ 953 w 953"/>
                  <a:gd name="T19" fmla="*/ 168 h 286"/>
                  <a:gd name="T20" fmla="*/ 953 w 953"/>
                  <a:gd name="T21" fmla="*/ 145 h 286"/>
                  <a:gd name="T22" fmla="*/ 953 w 953"/>
                  <a:gd name="T23" fmla="*/ 122 h 286"/>
                  <a:gd name="T24" fmla="*/ 945 w 953"/>
                  <a:gd name="T25" fmla="*/ 100 h 286"/>
                  <a:gd name="T26" fmla="*/ 938 w 953"/>
                  <a:gd name="T27" fmla="*/ 77 h 286"/>
                  <a:gd name="T28" fmla="*/ 926 w 953"/>
                  <a:gd name="T29" fmla="*/ 61 h 286"/>
                  <a:gd name="T30" fmla="*/ 911 w 953"/>
                  <a:gd name="T31" fmla="*/ 42 h 286"/>
                  <a:gd name="T32" fmla="*/ 896 w 953"/>
                  <a:gd name="T33" fmla="*/ 27 h 286"/>
                  <a:gd name="T34" fmla="*/ 877 w 953"/>
                  <a:gd name="T35" fmla="*/ 16 h 286"/>
                  <a:gd name="T36" fmla="*/ 858 w 953"/>
                  <a:gd name="T37" fmla="*/ 8 h 286"/>
                  <a:gd name="T38" fmla="*/ 835 w 953"/>
                  <a:gd name="T39" fmla="*/ 4 h 286"/>
                  <a:gd name="T40" fmla="*/ 812 w 953"/>
                  <a:gd name="T41" fmla="*/ 0 h 286"/>
                  <a:gd name="T42" fmla="*/ 145 w 953"/>
                  <a:gd name="T43" fmla="*/ 0 h 286"/>
                  <a:gd name="T44" fmla="*/ 122 w 953"/>
                  <a:gd name="T45" fmla="*/ 4 h 286"/>
                  <a:gd name="T46" fmla="*/ 99 w 953"/>
                  <a:gd name="T47" fmla="*/ 8 h 286"/>
                  <a:gd name="T48" fmla="*/ 80 w 953"/>
                  <a:gd name="T49" fmla="*/ 16 h 286"/>
                  <a:gd name="T50" fmla="*/ 61 w 953"/>
                  <a:gd name="T51" fmla="*/ 27 h 286"/>
                  <a:gd name="T52" fmla="*/ 42 w 953"/>
                  <a:gd name="T53" fmla="*/ 42 h 286"/>
                  <a:gd name="T54" fmla="*/ 31 w 953"/>
                  <a:gd name="T55" fmla="*/ 61 h 286"/>
                  <a:gd name="T56" fmla="*/ 19 w 953"/>
                  <a:gd name="T57" fmla="*/ 77 h 286"/>
                  <a:gd name="T58" fmla="*/ 8 w 953"/>
                  <a:gd name="T59" fmla="*/ 100 h 286"/>
                  <a:gd name="T60" fmla="*/ 4 w 953"/>
                  <a:gd name="T61" fmla="*/ 122 h 286"/>
                  <a:gd name="T62" fmla="*/ 0 w 953"/>
                  <a:gd name="T63" fmla="*/ 145 h 286"/>
                  <a:gd name="T64" fmla="*/ 4 w 953"/>
                  <a:gd name="T65" fmla="*/ 168 h 286"/>
                  <a:gd name="T66" fmla="*/ 8 w 953"/>
                  <a:gd name="T67" fmla="*/ 191 h 286"/>
                  <a:gd name="T68" fmla="*/ 19 w 953"/>
                  <a:gd name="T69" fmla="*/ 210 h 286"/>
                  <a:gd name="T70" fmla="*/ 31 w 953"/>
                  <a:gd name="T71" fmla="*/ 229 h 286"/>
                  <a:gd name="T72" fmla="*/ 42 w 953"/>
                  <a:gd name="T73" fmla="*/ 244 h 286"/>
                  <a:gd name="T74" fmla="*/ 61 w 953"/>
                  <a:gd name="T75" fmla="*/ 260 h 286"/>
                  <a:gd name="T76" fmla="*/ 80 w 953"/>
                  <a:gd name="T77" fmla="*/ 271 h 286"/>
                  <a:gd name="T78" fmla="*/ 99 w 953"/>
                  <a:gd name="T79" fmla="*/ 279 h 286"/>
                  <a:gd name="T80" fmla="*/ 122 w 953"/>
                  <a:gd name="T81" fmla="*/ 286 h 286"/>
                  <a:gd name="T82" fmla="*/ 145 w 953"/>
                  <a:gd name="T83" fmla="*/ 286 h 286"/>
                  <a:gd name="T84" fmla="*/ 812 w 953"/>
                  <a:gd name="T85" fmla="*/ 286 h 286"/>
                  <a:gd name="T86" fmla="*/ 812 w 953"/>
                  <a:gd name="T87" fmla="*/ 286 h 28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953"/>
                  <a:gd name="T133" fmla="*/ 0 h 286"/>
                  <a:gd name="T134" fmla="*/ 953 w 953"/>
                  <a:gd name="T135" fmla="*/ 286 h 28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953" h="286">
                    <a:moveTo>
                      <a:pt x="808" y="286"/>
                    </a:moveTo>
                    <a:lnTo>
                      <a:pt x="835" y="286"/>
                    </a:lnTo>
                    <a:lnTo>
                      <a:pt x="858" y="279"/>
                    </a:lnTo>
                    <a:lnTo>
                      <a:pt x="877" y="271"/>
                    </a:lnTo>
                    <a:lnTo>
                      <a:pt x="896" y="260"/>
                    </a:lnTo>
                    <a:lnTo>
                      <a:pt x="911" y="244"/>
                    </a:lnTo>
                    <a:lnTo>
                      <a:pt x="926" y="229"/>
                    </a:lnTo>
                    <a:lnTo>
                      <a:pt x="938" y="210"/>
                    </a:lnTo>
                    <a:lnTo>
                      <a:pt x="945" y="191"/>
                    </a:lnTo>
                    <a:lnTo>
                      <a:pt x="953" y="168"/>
                    </a:lnTo>
                    <a:lnTo>
                      <a:pt x="953" y="145"/>
                    </a:lnTo>
                    <a:lnTo>
                      <a:pt x="953" y="122"/>
                    </a:lnTo>
                    <a:lnTo>
                      <a:pt x="945" y="100"/>
                    </a:lnTo>
                    <a:lnTo>
                      <a:pt x="938" y="77"/>
                    </a:lnTo>
                    <a:lnTo>
                      <a:pt x="926" y="61"/>
                    </a:lnTo>
                    <a:lnTo>
                      <a:pt x="911" y="42"/>
                    </a:lnTo>
                    <a:lnTo>
                      <a:pt x="896" y="27"/>
                    </a:lnTo>
                    <a:lnTo>
                      <a:pt x="877" y="16"/>
                    </a:lnTo>
                    <a:lnTo>
                      <a:pt x="858" y="8"/>
                    </a:lnTo>
                    <a:lnTo>
                      <a:pt x="835" y="4"/>
                    </a:lnTo>
                    <a:lnTo>
                      <a:pt x="812" y="0"/>
                    </a:lnTo>
                    <a:lnTo>
                      <a:pt x="145" y="0"/>
                    </a:lnTo>
                    <a:lnTo>
                      <a:pt x="122" y="4"/>
                    </a:lnTo>
                    <a:lnTo>
                      <a:pt x="99" y="8"/>
                    </a:lnTo>
                    <a:lnTo>
                      <a:pt x="80" y="16"/>
                    </a:lnTo>
                    <a:lnTo>
                      <a:pt x="61" y="27"/>
                    </a:lnTo>
                    <a:lnTo>
                      <a:pt x="42" y="42"/>
                    </a:lnTo>
                    <a:lnTo>
                      <a:pt x="31" y="61"/>
                    </a:lnTo>
                    <a:lnTo>
                      <a:pt x="19" y="77"/>
                    </a:lnTo>
                    <a:lnTo>
                      <a:pt x="8" y="100"/>
                    </a:lnTo>
                    <a:lnTo>
                      <a:pt x="4" y="122"/>
                    </a:lnTo>
                    <a:lnTo>
                      <a:pt x="0" y="145"/>
                    </a:lnTo>
                    <a:lnTo>
                      <a:pt x="4" y="168"/>
                    </a:lnTo>
                    <a:lnTo>
                      <a:pt x="8" y="191"/>
                    </a:lnTo>
                    <a:lnTo>
                      <a:pt x="19" y="210"/>
                    </a:lnTo>
                    <a:lnTo>
                      <a:pt x="31" y="229"/>
                    </a:lnTo>
                    <a:lnTo>
                      <a:pt x="42" y="244"/>
                    </a:lnTo>
                    <a:lnTo>
                      <a:pt x="61" y="260"/>
                    </a:lnTo>
                    <a:lnTo>
                      <a:pt x="80" y="271"/>
                    </a:lnTo>
                    <a:lnTo>
                      <a:pt x="99" y="279"/>
                    </a:lnTo>
                    <a:lnTo>
                      <a:pt x="122" y="286"/>
                    </a:lnTo>
                    <a:lnTo>
                      <a:pt x="145" y="286"/>
                    </a:lnTo>
                    <a:lnTo>
                      <a:pt x="812" y="286"/>
                    </a:lnTo>
                  </a:path>
                </a:pathLst>
              </a:cu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591" name="Rectangle 8"/>
              <p:cNvSpPr>
                <a:spLocks noChangeArrowheads="1"/>
              </p:cNvSpPr>
              <p:nvPr/>
            </p:nvSpPr>
            <p:spPr bwMode="auto">
              <a:xfrm>
                <a:off x="4759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  <p:sp>
            <p:nvSpPr>
              <p:cNvPr id="23592" name="Rectangle 9"/>
              <p:cNvSpPr>
                <a:spLocks noChangeArrowheads="1"/>
              </p:cNvSpPr>
              <p:nvPr/>
            </p:nvSpPr>
            <p:spPr bwMode="auto">
              <a:xfrm>
                <a:off x="4832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593" name="Rectangle 10"/>
              <p:cNvSpPr>
                <a:spLocks noChangeArrowheads="1"/>
              </p:cNvSpPr>
              <p:nvPr/>
            </p:nvSpPr>
            <p:spPr bwMode="auto">
              <a:xfrm>
                <a:off x="4866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594" name="Rectangle 11"/>
              <p:cNvSpPr>
                <a:spLocks noChangeArrowheads="1"/>
              </p:cNvSpPr>
              <p:nvPr/>
            </p:nvSpPr>
            <p:spPr bwMode="auto">
              <a:xfrm>
                <a:off x="4939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595" name="Rectangle 12"/>
              <p:cNvSpPr>
                <a:spLocks noChangeArrowheads="1"/>
              </p:cNvSpPr>
              <p:nvPr/>
            </p:nvSpPr>
            <p:spPr bwMode="auto">
              <a:xfrm>
                <a:off x="4973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596" name="Rectangle 13"/>
              <p:cNvSpPr>
                <a:spLocks noChangeArrowheads="1"/>
              </p:cNvSpPr>
              <p:nvPr/>
            </p:nvSpPr>
            <p:spPr bwMode="auto">
              <a:xfrm>
                <a:off x="5041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597" name="Rectangle 14"/>
              <p:cNvSpPr>
                <a:spLocks noChangeArrowheads="1"/>
              </p:cNvSpPr>
              <p:nvPr/>
            </p:nvSpPr>
            <p:spPr bwMode="auto">
              <a:xfrm>
                <a:off x="5080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0</a:t>
                </a:r>
                <a:endParaRPr lang="en-US" altLang="en-US" b="1"/>
              </a:p>
            </p:txBody>
          </p:sp>
          <p:sp>
            <p:nvSpPr>
              <p:cNvPr id="23598" name="Freeform 15"/>
              <p:cNvSpPr>
                <a:spLocks/>
              </p:cNvSpPr>
              <p:nvPr/>
            </p:nvSpPr>
            <p:spPr bwMode="auto">
              <a:xfrm>
                <a:off x="4546" y="1705"/>
                <a:ext cx="27" cy="27"/>
              </a:xfrm>
              <a:custGeom>
                <a:avLst/>
                <a:gdLst>
                  <a:gd name="T0" fmla="*/ 11 w 27"/>
                  <a:gd name="T1" fmla="*/ 23 h 27"/>
                  <a:gd name="T2" fmla="*/ 15 w 27"/>
                  <a:gd name="T3" fmla="*/ 27 h 27"/>
                  <a:gd name="T4" fmla="*/ 15 w 27"/>
                  <a:gd name="T5" fmla="*/ 27 h 27"/>
                  <a:gd name="T6" fmla="*/ 19 w 27"/>
                  <a:gd name="T7" fmla="*/ 23 h 27"/>
                  <a:gd name="T8" fmla="*/ 19 w 27"/>
                  <a:gd name="T9" fmla="*/ 23 h 27"/>
                  <a:gd name="T10" fmla="*/ 23 w 27"/>
                  <a:gd name="T11" fmla="*/ 23 h 27"/>
                  <a:gd name="T12" fmla="*/ 23 w 27"/>
                  <a:gd name="T13" fmla="*/ 19 h 27"/>
                  <a:gd name="T14" fmla="*/ 23 w 27"/>
                  <a:gd name="T15" fmla="*/ 19 h 27"/>
                  <a:gd name="T16" fmla="*/ 23 w 27"/>
                  <a:gd name="T17" fmla="*/ 19 h 27"/>
                  <a:gd name="T18" fmla="*/ 27 w 27"/>
                  <a:gd name="T19" fmla="*/ 16 h 27"/>
                  <a:gd name="T20" fmla="*/ 27 w 27"/>
                  <a:gd name="T21" fmla="*/ 16 h 27"/>
                  <a:gd name="T22" fmla="*/ 27 w 27"/>
                  <a:gd name="T23" fmla="*/ 12 h 27"/>
                  <a:gd name="T24" fmla="*/ 23 w 27"/>
                  <a:gd name="T25" fmla="*/ 12 h 27"/>
                  <a:gd name="T26" fmla="*/ 23 w 27"/>
                  <a:gd name="T27" fmla="*/ 8 h 27"/>
                  <a:gd name="T28" fmla="*/ 23 w 27"/>
                  <a:gd name="T29" fmla="*/ 8 h 27"/>
                  <a:gd name="T30" fmla="*/ 23 w 27"/>
                  <a:gd name="T31" fmla="*/ 4 h 27"/>
                  <a:gd name="T32" fmla="*/ 19 w 27"/>
                  <a:gd name="T33" fmla="*/ 4 h 27"/>
                  <a:gd name="T34" fmla="*/ 19 w 27"/>
                  <a:gd name="T35" fmla="*/ 4 h 27"/>
                  <a:gd name="T36" fmla="*/ 15 w 27"/>
                  <a:gd name="T37" fmla="*/ 4 h 27"/>
                  <a:gd name="T38" fmla="*/ 15 w 27"/>
                  <a:gd name="T39" fmla="*/ 0 h 27"/>
                  <a:gd name="T40" fmla="*/ 11 w 27"/>
                  <a:gd name="T41" fmla="*/ 0 h 27"/>
                  <a:gd name="T42" fmla="*/ 11 w 27"/>
                  <a:gd name="T43" fmla="*/ 0 h 27"/>
                  <a:gd name="T44" fmla="*/ 8 w 27"/>
                  <a:gd name="T45" fmla="*/ 4 h 27"/>
                  <a:gd name="T46" fmla="*/ 8 w 27"/>
                  <a:gd name="T47" fmla="*/ 4 h 27"/>
                  <a:gd name="T48" fmla="*/ 8 w 27"/>
                  <a:gd name="T49" fmla="*/ 4 h 27"/>
                  <a:gd name="T50" fmla="*/ 4 w 27"/>
                  <a:gd name="T51" fmla="*/ 4 h 27"/>
                  <a:gd name="T52" fmla="*/ 4 w 27"/>
                  <a:gd name="T53" fmla="*/ 8 h 27"/>
                  <a:gd name="T54" fmla="*/ 4 w 27"/>
                  <a:gd name="T55" fmla="*/ 8 h 27"/>
                  <a:gd name="T56" fmla="*/ 0 w 27"/>
                  <a:gd name="T57" fmla="*/ 12 h 27"/>
                  <a:gd name="T58" fmla="*/ 0 w 27"/>
                  <a:gd name="T59" fmla="*/ 12 h 27"/>
                  <a:gd name="T60" fmla="*/ 0 w 27"/>
                  <a:gd name="T61" fmla="*/ 16 h 27"/>
                  <a:gd name="T62" fmla="*/ 0 w 27"/>
                  <a:gd name="T63" fmla="*/ 16 h 27"/>
                  <a:gd name="T64" fmla="*/ 0 w 27"/>
                  <a:gd name="T65" fmla="*/ 19 h 27"/>
                  <a:gd name="T66" fmla="*/ 4 w 27"/>
                  <a:gd name="T67" fmla="*/ 19 h 27"/>
                  <a:gd name="T68" fmla="*/ 4 w 27"/>
                  <a:gd name="T69" fmla="*/ 19 h 27"/>
                  <a:gd name="T70" fmla="*/ 4 w 27"/>
                  <a:gd name="T71" fmla="*/ 23 h 27"/>
                  <a:gd name="T72" fmla="*/ 8 w 27"/>
                  <a:gd name="T73" fmla="*/ 23 h 27"/>
                  <a:gd name="T74" fmla="*/ 8 w 27"/>
                  <a:gd name="T75" fmla="*/ 23 h 27"/>
                  <a:gd name="T76" fmla="*/ 8 w 27"/>
                  <a:gd name="T77" fmla="*/ 27 h 27"/>
                  <a:gd name="T78" fmla="*/ 11 w 27"/>
                  <a:gd name="T79" fmla="*/ 27 h 27"/>
                  <a:gd name="T80" fmla="*/ 11 w 27"/>
                  <a:gd name="T81" fmla="*/ 27 h 27"/>
                  <a:gd name="T82" fmla="*/ 11 w 27"/>
                  <a:gd name="T83" fmla="*/ 27 h 27"/>
                  <a:gd name="T84" fmla="*/ 11 w 27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7"/>
                  <a:gd name="T130" fmla="*/ 0 h 27"/>
                  <a:gd name="T131" fmla="*/ 27 w 27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7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7" y="16"/>
                    </a:lnTo>
                    <a:lnTo>
                      <a:pt x="27" y="12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599" name="Freeform 16"/>
              <p:cNvSpPr>
                <a:spLocks/>
              </p:cNvSpPr>
              <p:nvPr/>
            </p:nvSpPr>
            <p:spPr bwMode="auto">
              <a:xfrm>
                <a:off x="4626" y="1705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5 w 23"/>
                  <a:gd name="T3" fmla="*/ 27 h 27"/>
                  <a:gd name="T4" fmla="*/ 15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23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5 w 23"/>
                  <a:gd name="T37" fmla="*/ 4 h 27"/>
                  <a:gd name="T38" fmla="*/ 15 w 23"/>
                  <a:gd name="T39" fmla="*/ 0 h 27"/>
                  <a:gd name="T40" fmla="*/ 11 w 23"/>
                  <a:gd name="T41" fmla="*/ 0 h 27"/>
                  <a:gd name="T42" fmla="*/ 11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4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4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11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00" name="Freeform 17"/>
              <p:cNvSpPr>
                <a:spLocks/>
              </p:cNvSpPr>
              <p:nvPr/>
            </p:nvSpPr>
            <p:spPr bwMode="auto">
              <a:xfrm>
                <a:off x="4466" y="1705"/>
                <a:ext cx="27" cy="27"/>
              </a:xfrm>
              <a:custGeom>
                <a:avLst/>
                <a:gdLst>
                  <a:gd name="T0" fmla="*/ 11 w 27"/>
                  <a:gd name="T1" fmla="*/ 23 h 27"/>
                  <a:gd name="T2" fmla="*/ 15 w 27"/>
                  <a:gd name="T3" fmla="*/ 27 h 27"/>
                  <a:gd name="T4" fmla="*/ 19 w 27"/>
                  <a:gd name="T5" fmla="*/ 27 h 27"/>
                  <a:gd name="T6" fmla="*/ 19 w 27"/>
                  <a:gd name="T7" fmla="*/ 23 h 27"/>
                  <a:gd name="T8" fmla="*/ 19 w 27"/>
                  <a:gd name="T9" fmla="*/ 23 h 27"/>
                  <a:gd name="T10" fmla="*/ 23 w 27"/>
                  <a:gd name="T11" fmla="*/ 23 h 27"/>
                  <a:gd name="T12" fmla="*/ 23 w 27"/>
                  <a:gd name="T13" fmla="*/ 19 h 27"/>
                  <a:gd name="T14" fmla="*/ 23 w 27"/>
                  <a:gd name="T15" fmla="*/ 19 h 27"/>
                  <a:gd name="T16" fmla="*/ 27 w 27"/>
                  <a:gd name="T17" fmla="*/ 19 h 27"/>
                  <a:gd name="T18" fmla="*/ 27 w 27"/>
                  <a:gd name="T19" fmla="*/ 16 h 27"/>
                  <a:gd name="T20" fmla="*/ 27 w 27"/>
                  <a:gd name="T21" fmla="*/ 16 h 27"/>
                  <a:gd name="T22" fmla="*/ 27 w 27"/>
                  <a:gd name="T23" fmla="*/ 12 h 27"/>
                  <a:gd name="T24" fmla="*/ 27 w 27"/>
                  <a:gd name="T25" fmla="*/ 12 h 27"/>
                  <a:gd name="T26" fmla="*/ 23 w 27"/>
                  <a:gd name="T27" fmla="*/ 8 h 27"/>
                  <a:gd name="T28" fmla="*/ 23 w 27"/>
                  <a:gd name="T29" fmla="*/ 8 h 27"/>
                  <a:gd name="T30" fmla="*/ 23 w 27"/>
                  <a:gd name="T31" fmla="*/ 4 h 27"/>
                  <a:gd name="T32" fmla="*/ 19 w 27"/>
                  <a:gd name="T33" fmla="*/ 4 h 27"/>
                  <a:gd name="T34" fmla="*/ 19 w 27"/>
                  <a:gd name="T35" fmla="*/ 4 h 27"/>
                  <a:gd name="T36" fmla="*/ 19 w 27"/>
                  <a:gd name="T37" fmla="*/ 4 h 27"/>
                  <a:gd name="T38" fmla="*/ 15 w 27"/>
                  <a:gd name="T39" fmla="*/ 0 h 27"/>
                  <a:gd name="T40" fmla="*/ 15 w 27"/>
                  <a:gd name="T41" fmla="*/ 0 h 27"/>
                  <a:gd name="T42" fmla="*/ 11 w 27"/>
                  <a:gd name="T43" fmla="*/ 0 h 27"/>
                  <a:gd name="T44" fmla="*/ 11 w 27"/>
                  <a:gd name="T45" fmla="*/ 4 h 27"/>
                  <a:gd name="T46" fmla="*/ 8 w 27"/>
                  <a:gd name="T47" fmla="*/ 4 h 27"/>
                  <a:gd name="T48" fmla="*/ 8 w 27"/>
                  <a:gd name="T49" fmla="*/ 4 h 27"/>
                  <a:gd name="T50" fmla="*/ 4 w 27"/>
                  <a:gd name="T51" fmla="*/ 4 h 27"/>
                  <a:gd name="T52" fmla="*/ 4 w 27"/>
                  <a:gd name="T53" fmla="*/ 8 h 27"/>
                  <a:gd name="T54" fmla="*/ 4 w 27"/>
                  <a:gd name="T55" fmla="*/ 8 h 27"/>
                  <a:gd name="T56" fmla="*/ 4 w 27"/>
                  <a:gd name="T57" fmla="*/ 12 h 27"/>
                  <a:gd name="T58" fmla="*/ 4 w 27"/>
                  <a:gd name="T59" fmla="*/ 12 h 27"/>
                  <a:gd name="T60" fmla="*/ 0 w 27"/>
                  <a:gd name="T61" fmla="*/ 16 h 27"/>
                  <a:gd name="T62" fmla="*/ 4 w 27"/>
                  <a:gd name="T63" fmla="*/ 16 h 27"/>
                  <a:gd name="T64" fmla="*/ 4 w 27"/>
                  <a:gd name="T65" fmla="*/ 19 h 27"/>
                  <a:gd name="T66" fmla="*/ 4 w 27"/>
                  <a:gd name="T67" fmla="*/ 19 h 27"/>
                  <a:gd name="T68" fmla="*/ 4 w 27"/>
                  <a:gd name="T69" fmla="*/ 19 h 27"/>
                  <a:gd name="T70" fmla="*/ 4 w 27"/>
                  <a:gd name="T71" fmla="*/ 23 h 27"/>
                  <a:gd name="T72" fmla="*/ 8 w 27"/>
                  <a:gd name="T73" fmla="*/ 23 h 27"/>
                  <a:gd name="T74" fmla="*/ 8 w 27"/>
                  <a:gd name="T75" fmla="*/ 23 h 27"/>
                  <a:gd name="T76" fmla="*/ 11 w 27"/>
                  <a:gd name="T77" fmla="*/ 27 h 27"/>
                  <a:gd name="T78" fmla="*/ 11 w 27"/>
                  <a:gd name="T79" fmla="*/ 27 h 27"/>
                  <a:gd name="T80" fmla="*/ 15 w 27"/>
                  <a:gd name="T81" fmla="*/ 27 h 27"/>
                  <a:gd name="T82" fmla="*/ 15 w 27"/>
                  <a:gd name="T83" fmla="*/ 27 h 27"/>
                  <a:gd name="T84" fmla="*/ 11 w 27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7"/>
                  <a:gd name="T130" fmla="*/ 0 h 27"/>
                  <a:gd name="T131" fmla="*/ 27 w 27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7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7" y="19"/>
                    </a:lnTo>
                    <a:lnTo>
                      <a:pt x="27" y="16"/>
                    </a:lnTo>
                    <a:lnTo>
                      <a:pt x="27" y="12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11" y="4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0" y="16"/>
                    </a:lnTo>
                    <a:lnTo>
                      <a:pt x="4" y="16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11" y="27"/>
                    </a:lnTo>
                    <a:lnTo>
                      <a:pt x="15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01" name="Line 18"/>
              <p:cNvSpPr>
                <a:spLocks noChangeShapeType="1"/>
              </p:cNvSpPr>
              <p:nvPr/>
            </p:nvSpPr>
            <p:spPr bwMode="auto">
              <a:xfrm flipV="1">
                <a:off x="3498" y="1827"/>
                <a:ext cx="1" cy="378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02" name="Freeform 19"/>
              <p:cNvSpPr>
                <a:spLocks/>
              </p:cNvSpPr>
              <p:nvPr/>
            </p:nvSpPr>
            <p:spPr bwMode="auto">
              <a:xfrm>
                <a:off x="639" y="1827"/>
                <a:ext cx="4574" cy="382"/>
              </a:xfrm>
              <a:custGeom>
                <a:avLst/>
                <a:gdLst>
                  <a:gd name="T0" fmla="*/ 0 w 4574"/>
                  <a:gd name="T1" fmla="*/ 378 h 382"/>
                  <a:gd name="T2" fmla="*/ 0 w 4574"/>
                  <a:gd name="T3" fmla="*/ 0 h 382"/>
                  <a:gd name="T4" fmla="*/ 4574 w 4574"/>
                  <a:gd name="T5" fmla="*/ 0 h 382"/>
                  <a:gd name="T6" fmla="*/ 4574 w 4574"/>
                  <a:gd name="T7" fmla="*/ 382 h 382"/>
                  <a:gd name="T8" fmla="*/ 0 w 4574"/>
                  <a:gd name="T9" fmla="*/ 382 h 382"/>
                  <a:gd name="T10" fmla="*/ 0 w 4574"/>
                  <a:gd name="T11" fmla="*/ 382 h 38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74"/>
                  <a:gd name="T19" fmla="*/ 0 h 382"/>
                  <a:gd name="T20" fmla="*/ 4574 w 4574"/>
                  <a:gd name="T21" fmla="*/ 382 h 38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74" h="382">
                    <a:moveTo>
                      <a:pt x="0" y="378"/>
                    </a:moveTo>
                    <a:lnTo>
                      <a:pt x="0" y="0"/>
                    </a:lnTo>
                    <a:lnTo>
                      <a:pt x="4574" y="0"/>
                    </a:lnTo>
                    <a:lnTo>
                      <a:pt x="4574" y="382"/>
                    </a:lnTo>
                    <a:lnTo>
                      <a:pt x="0" y="382"/>
                    </a:lnTo>
                  </a:path>
                </a:pathLst>
              </a:cu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03" name="Rectangle 20"/>
              <p:cNvSpPr>
                <a:spLocks noChangeArrowheads="1"/>
              </p:cNvSpPr>
              <p:nvPr/>
            </p:nvSpPr>
            <p:spPr bwMode="auto">
              <a:xfrm>
                <a:off x="3544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04" name="Rectangle 21"/>
              <p:cNvSpPr>
                <a:spLocks noChangeArrowheads="1"/>
              </p:cNvSpPr>
              <p:nvPr/>
            </p:nvSpPr>
            <p:spPr bwMode="auto">
              <a:xfrm>
                <a:off x="3616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05" name="Rectangle 22"/>
              <p:cNvSpPr>
                <a:spLocks noChangeArrowheads="1"/>
              </p:cNvSpPr>
              <p:nvPr/>
            </p:nvSpPr>
            <p:spPr bwMode="auto">
              <a:xfrm>
                <a:off x="3685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06" name="Rectangle 23"/>
              <p:cNvSpPr>
                <a:spLocks noChangeArrowheads="1"/>
              </p:cNvSpPr>
              <p:nvPr/>
            </p:nvSpPr>
            <p:spPr bwMode="auto">
              <a:xfrm>
                <a:off x="3719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07" name="Rectangle 24"/>
              <p:cNvSpPr>
                <a:spLocks noChangeArrowheads="1"/>
              </p:cNvSpPr>
              <p:nvPr/>
            </p:nvSpPr>
            <p:spPr bwMode="auto">
              <a:xfrm>
                <a:off x="3791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0</a:t>
                </a:r>
                <a:endParaRPr lang="en-US" altLang="en-US" b="1"/>
              </a:p>
            </p:txBody>
          </p:sp>
          <p:sp>
            <p:nvSpPr>
              <p:cNvPr id="23608" name="Rectangle 25"/>
              <p:cNvSpPr>
                <a:spLocks noChangeArrowheads="1"/>
              </p:cNvSpPr>
              <p:nvPr/>
            </p:nvSpPr>
            <p:spPr bwMode="auto">
              <a:xfrm>
                <a:off x="3864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09" name="Rectangle 26"/>
              <p:cNvSpPr>
                <a:spLocks noChangeArrowheads="1"/>
              </p:cNvSpPr>
              <p:nvPr/>
            </p:nvSpPr>
            <p:spPr bwMode="auto">
              <a:xfrm>
                <a:off x="3898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9</a:t>
                </a:r>
                <a:endParaRPr lang="en-US" altLang="en-US" b="1"/>
              </a:p>
            </p:txBody>
          </p:sp>
          <p:sp>
            <p:nvSpPr>
              <p:cNvPr id="23610" name="Rectangle 27"/>
              <p:cNvSpPr>
                <a:spLocks noChangeArrowheads="1"/>
              </p:cNvSpPr>
              <p:nvPr/>
            </p:nvSpPr>
            <p:spPr bwMode="auto">
              <a:xfrm>
                <a:off x="3967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11" name="Rectangle 28"/>
              <p:cNvSpPr>
                <a:spLocks noChangeArrowheads="1"/>
              </p:cNvSpPr>
              <p:nvPr/>
            </p:nvSpPr>
            <p:spPr bwMode="auto">
              <a:xfrm>
                <a:off x="4005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8</a:t>
                </a:r>
                <a:endParaRPr lang="en-US" altLang="en-US" b="1"/>
              </a:p>
            </p:txBody>
          </p:sp>
          <p:sp>
            <p:nvSpPr>
              <p:cNvPr id="23612" name="Rectangle 29"/>
              <p:cNvSpPr>
                <a:spLocks noChangeArrowheads="1"/>
              </p:cNvSpPr>
              <p:nvPr/>
            </p:nvSpPr>
            <p:spPr bwMode="auto">
              <a:xfrm>
                <a:off x="2724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13" name="Rectangle 30"/>
              <p:cNvSpPr>
                <a:spLocks noChangeArrowheads="1"/>
              </p:cNvSpPr>
              <p:nvPr/>
            </p:nvSpPr>
            <p:spPr bwMode="auto">
              <a:xfrm>
                <a:off x="2797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5</a:t>
                </a:r>
                <a:endParaRPr lang="en-US" altLang="en-US" b="1"/>
              </a:p>
            </p:txBody>
          </p:sp>
          <p:sp>
            <p:nvSpPr>
              <p:cNvPr id="23614" name="Rectangle 31"/>
              <p:cNvSpPr>
                <a:spLocks noChangeArrowheads="1"/>
              </p:cNvSpPr>
              <p:nvPr/>
            </p:nvSpPr>
            <p:spPr bwMode="auto">
              <a:xfrm>
                <a:off x="2865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15" name="Rectangle 32"/>
              <p:cNvSpPr>
                <a:spLocks noChangeArrowheads="1"/>
              </p:cNvSpPr>
              <p:nvPr/>
            </p:nvSpPr>
            <p:spPr bwMode="auto">
              <a:xfrm>
                <a:off x="2903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16" name="Rectangle 33"/>
              <p:cNvSpPr>
                <a:spLocks noChangeArrowheads="1"/>
              </p:cNvSpPr>
              <p:nvPr/>
            </p:nvSpPr>
            <p:spPr bwMode="auto">
              <a:xfrm>
                <a:off x="2972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4</a:t>
                </a:r>
                <a:endParaRPr lang="en-US" altLang="en-US" b="1"/>
              </a:p>
            </p:txBody>
          </p:sp>
          <p:sp>
            <p:nvSpPr>
              <p:cNvPr id="23617" name="Rectangle 34"/>
              <p:cNvSpPr>
                <a:spLocks noChangeArrowheads="1"/>
              </p:cNvSpPr>
              <p:nvPr/>
            </p:nvSpPr>
            <p:spPr bwMode="auto">
              <a:xfrm>
                <a:off x="3044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18" name="Rectangle 35"/>
              <p:cNvSpPr>
                <a:spLocks noChangeArrowheads="1"/>
              </p:cNvSpPr>
              <p:nvPr/>
            </p:nvSpPr>
            <p:spPr bwMode="auto">
              <a:xfrm>
                <a:off x="3079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19" name="Rectangle 36"/>
              <p:cNvSpPr>
                <a:spLocks noChangeArrowheads="1"/>
              </p:cNvSpPr>
              <p:nvPr/>
            </p:nvSpPr>
            <p:spPr bwMode="auto">
              <a:xfrm>
                <a:off x="3147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  <p:sp>
            <p:nvSpPr>
              <p:cNvPr id="23620" name="Rectangle 37"/>
              <p:cNvSpPr>
                <a:spLocks noChangeArrowheads="1"/>
              </p:cNvSpPr>
              <p:nvPr/>
            </p:nvSpPr>
            <p:spPr bwMode="auto">
              <a:xfrm>
                <a:off x="3220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21" name="Rectangle 38"/>
              <p:cNvSpPr>
                <a:spLocks noChangeArrowheads="1"/>
              </p:cNvSpPr>
              <p:nvPr/>
            </p:nvSpPr>
            <p:spPr bwMode="auto">
              <a:xfrm>
                <a:off x="3254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22" name="Rectangle 39"/>
              <p:cNvSpPr>
                <a:spLocks noChangeArrowheads="1"/>
              </p:cNvSpPr>
              <p:nvPr/>
            </p:nvSpPr>
            <p:spPr bwMode="auto">
              <a:xfrm>
                <a:off x="3326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623" name="Rectangle 40"/>
              <p:cNvSpPr>
                <a:spLocks noChangeArrowheads="1"/>
              </p:cNvSpPr>
              <p:nvPr/>
            </p:nvSpPr>
            <p:spPr bwMode="auto">
              <a:xfrm>
                <a:off x="670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  <p:sp>
            <p:nvSpPr>
              <p:cNvPr id="23624" name="Rectangle 41"/>
              <p:cNvSpPr>
                <a:spLocks noChangeArrowheads="1"/>
              </p:cNvSpPr>
              <p:nvPr/>
            </p:nvSpPr>
            <p:spPr bwMode="auto">
              <a:xfrm>
                <a:off x="742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625" name="Rectangle 42"/>
              <p:cNvSpPr>
                <a:spLocks noChangeArrowheads="1"/>
              </p:cNvSpPr>
              <p:nvPr/>
            </p:nvSpPr>
            <p:spPr bwMode="auto">
              <a:xfrm>
                <a:off x="811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26" name="Rectangle 43"/>
              <p:cNvSpPr>
                <a:spLocks noChangeArrowheads="1"/>
              </p:cNvSpPr>
              <p:nvPr/>
            </p:nvSpPr>
            <p:spPr bwMode="auto">
              <a:xfrm>
                <a:off x="845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  <p:sp>
            <p:nvSpPr>
              <p:cNvPr id="23627" name="Rectangle 44"/>
              <p:cNvSpPr>
                <a:spLocks noChangeArrowheads="1"/>
              </p:cNvSpPr>
              <p:nvPr/>
            </p:nvSpPr>
            <p:spPr bwMode="auto">
              <a:xfrm>
                <a:off x="917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0</a:t>
                </a:r>
                <a:endParaRPr lang="en-US" altLang="en-US" b="1"/>
              </a:p>
            </p:txBody>
          </p:sp>
          <p:sp>
            <p:nvSpPr>
              <p:cNvPr id="23628" name="Rectangle 45"/>
              <p:cNvSpPr>
                <a:spLocks noChangeArrowheads="1"/>
              </p:cNvSpPr>
              <p:nvPr/>
            </p:nvSpPr>
            <p:spPr bwMode="auto">
              <a:xfrm>
                <a:off x="986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29" name="Rectangle 46"/>
              <p:cNvSpPr>
                <a:spLocks noChangeArrowheads="1"/>
              </p:cNvSpPr>
              <p:nvPr/>
            </p:nvSpPr>
            <p:spPr bwMode="auto">
              <a:xfrm>
                <a:off x="1024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630" name="Rectangle 47"/>
              <p:cNvSpPr>
                <a:spLocks noChangeArrowheads="1"/>
              </p:cNvSpPr>
              <p:nvPr/>
            </p:nvSpPr>
            <p:spPr bwMode="auto">
              <a:xfrm>
                <a:off x="1093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9</a:t>
                </a:r>
                <a:endParaRPr lang="en-US" altLang="en-US" b="1"/>
              </a:p>
            </p:txBody>
          </p:sp>
          <p:sp>
            <p:nvSpPr>
              <p:cNvPr id="23631" name="Rectangle 48"/>
              <p:cNvSpPr>
                <a:spLocks noChangeArrowheads="1"/>
              </p:cNvSpPr>
              <p:nvPr/>
            </p:nvSpPr>
            <p:spPr bwMode="auto">
              <a:xfrm>
                <a:off x="1165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32" name="Rectangle 49"/>
              <p:cNvSpPr>
                <a:spLocks noChangeArrowheads="1"/>
              </p:cNvSpPr>
              <p:nvPr/>
            </p:nvSpPr>
            <p:spPr bwMode="auto">
              <a:xfrm>
                <a:off x="1200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633" name="Rectangle 50"/>
              <p:cNvSpPr>
                <a:spLocks noChangeArrowheads="1"/>
              </p:cNvSpPr>
              <p:nvPr/>
            </p:nvSpPr>
            <p:spPr bwMode="auto">
              <a:xfrm>
                <a:off x="1268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8</a:t>
                </a:r>
                <a:endParaRPr lang="en-US" altLang="en-US" b="1"/>
              </a:p>
            </p:txBody>
          </p:sp>
          <p:sp>
            <p:nvSpPr>
              <p:cNvPr id="23634" name="Rectangle 51"/>
              <p:cNvSpPr>
                <a:spLocks noChangeArrowheads="1"/>
              </p:cNvSpPr>
              <p:nvPr/>
            </p:nvSpPr>
            <p:spPr bwMode="auto">
              <a:xfrm>
                <a:off x="1341" y="1610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35" name="Rectangle 52"/>
              <p:cNvSpPr>
                <a:spLocks noChangeArrowheads="1"/>
              </p:cNvSpPr>
              <p:nvPr/>
            </p:nvSpPr>
            <p:spPr bwMode="auto">
              <a:xfrm>
                <a:off x="1375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636" name="Rectangle 53"/>
              <p:cNvSpPr>
                <a:spLocks noChangeArrowheads="1"/>
              </p:cNvSpPr>
              <p:nvPr/>
            </p:nvSpPr>
            <p:spPr bwMode="auto">
              <a:xfrm>
                <a:off x="1447" y="1610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7</a:t>
                </a:r>
                <a:endParaRPr lang="en-US" altLang="en-US" b="1"/>
              </a:p>
            </p:txBody>
          </p:sp>
          <p:sp>
            <p:nvSpPr>
              <p:cNvPr id="23637" name="Freeform 54"/>
              <p:cNvSpPr>
                <a:spLocks/>
              </p:cNvSpPr>
              <p:nvPr/>
            </p:nvSpPr>
            <p:spPr bwMode="auto">
              <a:xfrm>
                <a:off x="4310" y="1705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7 w 23"/>
                  <a:gd name="T43" fmla="*/ 0 h 27"/>
                  <a:gd name="T44" fmla="*/ 7 w 23"/>
                  <a:gd name="T45" fmla="*/ 4 h 27"/>
                  <a:gd name="T46" fmla="*/ 7 w 23"/>
                  <a:gd name="T47" fmla="*/ 4 h 27"/>
                  <a:gd name="T48" fmla="*/ 3 w 23"/>
                  <a:gd name="T49" fmla="*/ 4 h 27"/>
                  <a:gd name="T50" fmla="*/ 3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3 w 23"/>
                  <a:gd name="T71" fmla="*/ 23 h 27"/>
                  <a:gd name="T72" fmla="*/ 3 w 23"/>
                  <a:gd name="T73" fmla="*/ 23 h 27"/>
                  <a:gd name="T74" fmla="*/ 7 w 23"/>
                  <a:gd name="T75" fmla="*/ 23 h 27"/>
                  <a:gd name="T76" fmla="*/ 7 w 23"/>
                  <a:gd name="T77" fmla="*/ 27 h 27"/>
                  <a:gd name="T78" fmla="*/ 7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3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38" name="Freeform 55"/>
              <p:cNvSpPr>
                <a:spLocks/>
              </p:cNvSpPr>
              <p:nvPr/>
            </p:nvSpPr>
            <p:spPr bwMode="auto">
              <a:xfrm>
                <a:off x="4390" y="1705"/>
                <a:ext cx="23" cy="27"/>
              </a:xfrm>
              <a:custGeom>
                <a:avLst/>
                <a:gdLst>
                  <a:gd name="T0" fmla="*/ 7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7 w 23"/>
                  <a:gd name="T43" fmla="*/ 0 h 27"/>
                  <a:gd name="T44" fmla="*/ 7 w 23"/>
                  <a:gd name="T45" fmla="*/ 4 h 27"/>
                  <a:gd name="T46" fmla="*/ 3 w 23"/>
                  <a:gd name="T47" fmla="*/ 4 h 27"/>
                  <a:gd name="T48" fmla="*/ 3 w 23"/>
                  <a:gd name="T49" fmla="*/ 4 h 27"/>
                  <a:gd name="T50" fmla="*/ 3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3 w 23"/>
                  <a:gd name="T71" fmla="*/ 23 h 27"/>
                  <a:gd name="T72" fmla="*/ 3 w 23"/>
                  <a:gd name="T73" fmla="*/ 23 h 27"/>
                  <a:gd name="T74" fmla="*/ 3 w 23"/>
                  <a:gd name="T75" fmla="*/ 23 h 27"/>
                  <a:gd name="T76" fmla="*/ 7 w 23"/>
                  <a:gd name="T77" fmla="*/ 27 h 27"/>
                  <a:gd name="T78" fmla="*/ 7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7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7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3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7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39" name="Freeform 56"/>
              <p:cNvSpPr>
                <a:spLocks/>
              </p:cNvSpPr>
              <p:nvPr/>
            </p:nvSpPr>
            <p:spPr bwMode="auto">
              <a:xfrm>
                <a:off x="4230" y="1705"/>
                <a:ext cx="22" cy="27"/>
              </a:xfrm>
              <a:custGeom>
                <a:avLst/>
                <a:gdLst>
                  <a:gd name="T0" fmla="*/ 11 w 22"/>
                  <a:gd name="T1" fmla="*/ 23 h 27"/>
                  <a:gd name="T2" fmla="*/ 15 w 22"/>
                  <a:gd name="T3" fmla="*/ 27 h 27"/>
                  <a:gd name="T4" fmla="*/ 15 w 22"/>
                  <a:gd name="T5" fmla="*/ 27 h 27"/>
                  <a:gd name="T6" fmla="*/ 19 w 22"/>
                  <a:gd name="T7" fmla="*/ 23 h 27"/>
                  <a:gd name="T8" fmla="*/ 19 w 22"/>
                  <a:gd name="T9" fmla="*/ 23 h 27"/>
                  <a:gd name="T10" fmla="*/ 19 w 22"/>
                  <a:gd name="T11" fmla="*/ 23 h 27"/>
                  <a:gd name="T12" fmla="*/ 22 w 22"/>
                  <a:gd name="T13" fmla="*/ 19 h 27"/>
                  <a:gd name="T14" fmla="*/ 22 w 22"/>
                  <a:gd name="T15" fmla="*/ 19 h 27"/>
                  <a:gd name="T16" fmla="*/ 22 w 22"/>
                  <a:gd name="T17" fmla="*/ 19 h 27"/>
                  <a:gd name="T18" fmla="*/ 22 w 22"/>
                  <a:gd name="T19" fmla="*/ 16 h 27"/>
                  <a:gd name="T20" fmla="*/ 22 w 22"/>
                  <a:gd name="T21" fmla="*/ 16 h 27"/>
                  <a:gd name="T22" fmla="*/ 22 w 22"/>
                  <a:gd name="T23" fmla="*/ 12 h 27"/>
                  <a:gd name="T24" fmla="*/ 22 w 22"/>
                  <a:gd name="T25" fmla="*/ 12 h 27"/>
                  <a:gd name="T26" fmla="*/ 22 w 22"/>
                  <a:gd name="T27" fmla="*/ 8 h 27"/>
                  <a:gd name="T28" fmla="*/ 22 w 22"/>
                  <a:gd name="T29" fmla="*/ 8 h 27"/>
                  <a:gd name="T30" fmla="*/ 19 w 22"/>
                  <a:gd name="T31" fmla="*/ 4 h 27"/>
                  <a:gd name="T32" fmla="*/ 19 w 22"/>
                  <a:gd name="T33" fmla="*/ 4 h 27"/>
                  <a:gd name="T34" fmla="*/ 19 w 22"/>
                  <a:gd name="T35" fmla="*/ 4 h 27"/>
                  <a:gd name="T36" fmla="*/ 15 w 22"/>
                  <a:gd name="T37" fmla="*/ 4 h 27"/>
                  <a:gd name="T38" fmla="*/ 15 w 22"/>
                  <a:gd name="T39" fmla="*/ 0 h 27"/>
                  <a:gd name="T40" fmla="*/ 11 w 22"/>
                  <a:gd name="T41" fmla="*/ 0 h 27"/>
                  <a:gd name="T42" fmla="*/ 11 w 22"/>
                  <a:gd name="T43" fmla="*/ 0 h 27"/>
                  <a:gd name="T44" fmla="*/ 7 w 22"/>
                  <a:gd name="T45" fmla="*/ 4 h 27"/>
                  <a:gd name="T46" fmla="*/ 7 w 22"/>
                  <a:gd name="T47" fmla="*/ 4 h 27"/>
                  <a:gd name="T48" fmla="*/ 3 w 22"/>
                  <a:gd name="T49" fmla="*/ 4 h 27"/>
                  <a:gd name="T50" fmla="*/ 3 w 22"/>
                  <a:gd name="T51" fmla="*/ 4 h 27"/>
                  <a:gd name="T52" fmla="*/ 3 w 22"/>
                  <a:gd name="T53" fmla="*/ 8 h 27"/>
                  <a:gd name="T54" fmla="*/ 0 w 22"/>
                  <a:gd name="T55" fmla="*/ 8 h 27"/>
                  <a:gd name="T56" fmla="*/ 0 w 22"/>
                  <a:gd name="T57" fmla="*/ 12 h 27"/>
                  <a:gd name="T58" fmla="*/ 0 w 22"/>
                  <a:gd name="T59" fmla="*/ 12 h 27"/>
                  <a:gd name="T60" fmla="*/ 0 w 22"/>
                  <a:gd name="T61" fmla="*/ 16 h 27"/>
                  <a:gd name="T62" fmla="*/ 0 w 22"/>
                  <a:gd name="T63" fmla="*/ 16 h 27"/>
                  <a:gd name="T64" fmla="*/ 0 w 22"/>
                  <a:gd name="T65" fmla="*/ 19 h 27"/>
                  <a:gd name="T66" fmla="*/ 0 w 22"/>
                  <a:gd name="T67" fmla="*/ 19 h 27"/>
                  <a:gd name="T68" fmla="*/ 3 w 22"/>
                  <a:gd name="T69" fmla="*/ 19 h 27"/>
                  <a:gd name="T70" fmla="*/ 3 w 22"/>
                  <a:gd name="T71" fmla="*/ 23 h 27"/>
                  <a:gd name="T72" fmla="*/ 3 w 22"/>
                  <a:gd name="T73" fmla="*/ 23 h 27"/>
                  <a:gd name="T74" fmla="*/ 7 w 22"/>
                  <a:gd name="T75" fmla="*/ 23 h 27"/>
                  <a:gd name="T76" fmla="*/ 7 w 22"/>
                  <a:gd name="T77" fmla="*/ 27 h 27"/>
                  <a:gd name="T78" fmla="*/ 11 w 22"/>
                  <a:gd name="T79" fmla="*/ 27 h 27"/>
                  <a:gd name="T80" fmla="*/ 11 w 22"/>
                  <a:gd name="T81" fmla="*/ 27 h 27"/>
                  <a:gd name="T82" fmla="*/ 11 w 22"/>
                  <a:gd name="T83" fmla="*/ 27 h 27"/>
                  <a:gd name="T84" fmla="*/ 11 w 22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"/>
                  <a:gd name="T130" fmla="*/ 0 h 27"/>
                  <a:gd name="T131" fmla="*/ 22 w 22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2" y="19"/>
                    </a:lnTo>
                    <a:lnTo>
                      <a:pt x="22" y="16"/>
                    </a:lnTo>
                    <a:lnTo>
                      <a:pt x="22" y="12"/>
                    </a:lnTo>
                    <a:lnTo>
                      <a:pt x="22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3" y="8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0" name="Freeform 57"/>
              <p:cNvSpPr>
                <a:spLocks/>
              </p:cNvSpPr>
              <p:nvPr/>
            </p:nvSpPr>
            <p:spPr bwMode="auto">
              <a:xfrm>
                <a:off x="2023" y="1705"/>
                <a:ext cx="26" cy="27"/>
              </a:xfrm>
              <a:custGeom>
                <a:avLst/>
                <a:gdLst>
                  <a:gd name="T0" fmla="*/ 11 w 26"/>
                  <a:gd name="T1" fmla="*/ 23 h 27"/>
                  <a:gd name="T2" fmla="*/ 15 w 26"/>
                  <a:gd name="T3" fmla="*/ 27 h 27"/>
                  <a:gd name="T4" fmla="*/ 15 w 26"/>
                  <a:gd name="T5" fmla="*/ 27 h 27"/>
                  <a:gd name="T6" fmla="*/ 19 w 26"/>
                  <a:gd name="T7" fmla="*/ 23 h 27"/>
                  <a:gd name="T8" fmla="*/ 19 w 26"/>
                  <a:gd name="T9" fmla="*/ 23 h 27"/>
                  <a:gd name="T10" fmla="*/ 23 w 26"/>
                  <a:gd name="T11" fmla="*/ 23 h 27"/>
                  <a:gd name="T12" fmla="*/ 23 w 26"/>
                  <a:gd name="T13" fmla="*/ 19 h 27"/>
                  <a:gd name="T14" fmla="*/ 23 w 26"/>
                  <a:gd name="T15" fmla="*/ 19 h 27"/>
                  <a:gd name="T16" fmla="*/ 23 w 26"/>
                  <a:gd name="T17" fmla="*/ 19 h 27"/>
                  <a:gd name="T18" fmla="*/ 26 w 26"/>
                  <a:gd name="T19" fmla="*/ 16 h 27"/>
                  <a:gd name="T20" fmla="*/ 26 w 26"/>
                  <a:gd name="T21" fmla="*/ 16 h 27"/>
                  <a:gd name="T22" fmla="*/ 26 w 26"/>
                  <a:gd name="T23" fmla="*/ 12 h 27"/>
                  <a:gd name="T24" fmla="*/ 23 w 26"/>
                  <a:gd name="T25" fmla="*/ 12 h 27"/>
                  <a:gd name="T26" fmla="*/ 23 w 26"/>
                  <a:gd name="T27" fmla="*/ 8 h 27"/>
                  <a:gd name="T28" fmla="*/ 23 w 26"/>
                  <a:gd name="T29" fmla="*/ 8 h 27"/>
                  <a:gd name="T30" fmla="*/ 23 w 26"/>
                  <a:gd name="T31" fmla="*/ 4 h 27"/>
                  <a:gd name="T32" fmla="*/ 19 w 26"/>
                  <a:gd name="T33" fmla="*/ 4 h 27"/>
                  <a:gd name="T34" fmla="*/ 19 w 26"/>
                  <a:gd name="T35" fmla="*/ 4 h 27"/>
                  <a:gd name="T36" fmla="*/ 15 w 26"/>
                  <a:gd name="T37" fmla="*/ 4 h 27"/>
                  <a:gd name="T38" fmla="*/ 15 w 26"/>
                  <a:gd name="T39" fmla="*/ 0 h 27"/>
                  <a:gd name="T40" fmla="*/ 11 w 26"/>
                  <a:gd name="T41" fmla="*/ 0 h 27"/>
                  <a:gd name="T42" fmla="*/ 11 w 26"/>
                  <a:gd name="T43" fmla="*/ 0 h 27"/>
                  <a:gd name="T44" fmla="*/ 7 w 26"/>
                  <a:gd name="T45" fmla="*/ 4 h 27"/>
                  <a:gd name="T46" fmla="*/ 7 w 26"/>
                  <a:gd name="T47" fmla="*/ 4 h 27"/>
                  <a:gd name="T48" fmla="*/ 7 w 26"/>
                  <a:gd name="T49" fmla="*/ 4 h 27"/>
                  <a:gd name="T50" fmla="*/ 4 w 26"/>
                  <a:gd name="T51" fmla="*/ 4 h 27"/>
                  <a:gd name="T52" fmla="*/ 4 w 26"/>
                  <a:gd name="T53" fmla="*/ 8 h 27"/>
                  <a:gd name="T54" fmla="*/ 4 w 26"/>
                  <a:gd name="T55" fmla="*/ 8 h 27"/>
                  <a:gd name="T56" fmla="*/ 4 w 26"/>
                  <a:gd name="T57" fmla="*/ 12 h 27"/>
                  <a:gd name="T58" fmla="*/ 0 w 26"/>
                  <a:gd name="T59" fmla="*/ 12 h 27"/>
                  <a:gd name="T60" fmla="*/ 0 w 26"/>
                  <a:gd name="T61" fmla="*/ 16 h 27"/>
                  <a:gd name="T62" fmla="*/ 0 w 26"/>
                  <a:gd name="T63" fmla="*/ 16 h 27"/>
                  <a:gd name="T64" fmla="*/ 4 w 26"/>
                  <a:gd name="T65" fmla="*/ 19 h 27"/>
                  <a:gd name="T66" fmla="*/ 4 w 26"/>
                  <a:gd name="T67" fmla="*/ 19 h 27"/>
                  <a:gd name="T68" fmla="*/ 4 w 26"/>
                  <a:gd name="T69" fmla="*/ 19 h 27"/>
                  <a:gd name="T70" fmla="*/ 4 w 26"/>
                  <a:gd name="T71" fmla="*/ 23 h 27"/>
                  <a:gd name="T72" fmla="*/ 7 w 26"/>
                  <a:gd name="T73" fmla="*/ 23 h 27"/>
                  <a:gd name="T74" fmla="*/ 7 w 26"/>
                  <a:gd name="T75" fmla="*/ 23 h 27"/>
                  <a:gd name="T76" fmla="*/ 7 w 26"/>
                  <a:gd name="T77" fmla="*/ 27 h 27"/>
                  <a:gd name="T78" fmla="*/ 11 w 26"/>
                  <a:gd name="T79" fmla="*/ 27 h 27"/>
                  <a:gd name="T80" fmla="*/ 11 w 26"/>
                  <a:gd name="T81" fmla="*/ 27 h 27"/>
                  <a:gd name="T82" fmla="*/ 11 w 26"/>
                  <a:gd name="T83" fmla="*/ 27 h 27"/>
                  <a:gd name="T84" fmla="*/ 11 w 26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6"/>
                  <a:gd name="T130" fmla="*/ 0 h 27"/>
                  <a:gd name="T131" fmla="*/ 26 w 26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6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6" y="16"/>
                    </a:lnTo>
                    <a:lnTo>
                      <a:pt x="26" y="12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1" name="Freeform 58"/>
              <p:cNvSpPr>
                <a:spLocks/>
              </p:cNvSpPr>
              <p:nvPr/>
            </p:nvSpPr>
            <p:spPr bwMode="auto">
              <a:xfrm>
                <a:off x="2103" y="1705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5 w 23"/>
                  <a:gd name="T3" fmla="*/ 27 h 27"/>
                  <a:gd name="T4" fmla="*/ 15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23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23 w 23"/>
                  <a:gd name="T29" fmla="*/ 8 h 27"/>
                  <a:gd name="T30" fmla="*/ 23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5 w 23"/>
                  <a:gd name="T37" fmla="*/ 4 h 27"/>
                  <a:gd name="T38" fmla="*/ 15 w 23"/>
                  <a:gd name="T39" fmla="*/ 0 h 27"/>
                  <a:gd name="T40" fmla="*/ 11 w 23"/>
                  <a:gd name="T41" fmla="*/ 0 h 27"/>
                  <a:gd name="T42" fmla="*/ 11 w 23"/>
                  <a:gd name="T43" fmla="*/ 0 h 27"/>
                  <a:gd name="T44" fmla="*/ 7 w 23"/>
                  <a:gd name="T45" fmla="*/ 4 h 27"/>
                  <a:gd name="T46" fmla="*/ 7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4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4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7 w 23"/>
                  <a:gd name="T75" fmla="*/ 23 h 27"/>
                  <a:gd name="T76" fmla="*/ 7 w 23"/>
                  <a:gd name="T77" fmla="*/ 27 h 27"/>
                  <a:gd name="T78" fmla="*/ 11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2" name="Freeform 59"/>
              <p:cNvSpPr>
                <a:spLocks/>
              </p:cNvSpPr>
              <p:nvPr/>
            </p:nvSpPr>
            <p:spPr bwMode="auto">
              <a:xfrm>
                <a:off x="1947" y="1705"/>
                <a:ext cx="22" cy="27"/>
              </a:xfrm>
              <a:custGeom>
                <a:avLst/>
                <a:gdLst>
                  <a:gd name="T0" fmla="*/ 7 w 22"/>
                  <a:gd name="T1" fmla="*/ 23 h 27"/>
                  <a:gd name="T2" fmla="*/ 11 w 22"/>
                  <a:gd name="T3" fmla="*/ 27 h 27"/>
                  <a:gd name="T4" fmla="*/ 15 w 22"/>
                  <a:gd name="T5" fmla="*/ 27 h 27"/>
                  <a:gd name="T6" fmla="*/ 15 w 22"/>
                  <a:gd name="T7" fmla="*/ 23 h 27"/>
                  <a:gd name="T8" fmla="*/ 15 w 22"/>
                  <a:gd name="T9" fmla="*/ 23 h 27"/>
                  <a:gd name="T10" fmla="*/ 19 w 22"/>
                  <a:gd name="T11" fmla="*/ 23 h 27"/>
                  <a:gd name="T12" fmla="*/ 19 w 22"/>
                  <a:gd name="T13" fmla="*/ 19 h 27"/>
                  <a:gd name="T14" fmla="*/ 19 w 22"/>
                  <a:gd name="T15" fmla="*/ 19 h 27"/>
                  <a:gd name="T16" fmla="*/ 22 w 22"/>
                  <a:gd name="T17" fmla="*/ 19 h 27"/>
                  <a:gd name="T18" fmla="*/ 22 w 22"/>
                  <a:gd name="T19" fmla="*/ 16 h 27"/>
                  <a:gd name="T20" fmla="*/ 22 w 22"/>
                  <a:gd name="T21" fmla="*/ 16 h 27"/>
                  <a:gd name="T22" fmla="*/ 22 w 22"/>
                  <a:gd name="T23" fmla="*/ 12 h 27"/>
                  <a:gd name="T24" fmla="*/ 22 w 22"/>
                  <a:gd name="T25" fmla="*/ 12 h 27"/>
                  <a:gd name="T26" fmla="*/ 19 w 22"/>
                  <a:gd name="T27" fmla="*/ 8 h 27"/>
                  <a:gd name="T28" fmla="*/ 19 w 22"/>
                  <a:gd name="T29" fmla="*/ 8 h 27"/>
                  <a:gd name="T30" fmla="*/ 19 w 22"/>
                  <a:gd name="T31" fmla="*/ 4 h 27"/>
                  <a:gd name="T32" fmla="*/ 15 w 22"/>
                  <a:gd name="T33" fmla="*/ 4 h 27"/>
                  <a:gd name="T34" fmla="*/ 15 w 22"/>
                  <a:gd name="T35" fmla="*/ 4 h 27"/>
                  <a:gd name="T36" fmla="*/ 15 w 22"/>
                  <a:gd name="T37" fmla="*/ 4 h 27"/>
                  <a:gd name="T38" fmla="*/ 11 w 22"/>
                  <a:gd name="T39" fmla="*/ 0 h 27"/>
                  <a:gd name="T40" fmla="*/ 11 w 22"/>
                  <a:gd name="T41" fmla="*/ 0 h 27"/>
                  <a:gd name="T42" fmla="*/ 7 w 22"/>
                  <a:gd name="T43" fmla="*/ 0 h 27"/>
                  <a:gd name="T44" fmla="*/ 7 w 22"/>
                  <a:gd name="T45" fmla="*/ 4 h 27"/>
                  <a:gd name="T46" fmla="*/ 3 w 22"/>
                  <a:gd name="T47" fmla="*/ 4 h 27"/>
                  <a:gd name="T48" fmla="*/ 3 w 22"/>
                  <a:gd name="T49" fmla="*/ 4 h 27"/>
                  <a:gd name="T50" fmla="*/ 0 w 22"/>
                  <a:gd name="T51" fmla="*/ 4 h 27"/>
                  <a:gd name="T52" fmla="*/ 0 w 22"/>
                  <a:gd name="T53" fmla="*/ 8 h 27"/>
                  <a:gd name="T54" fmla="*/ 0 w 22"/>
                  <a:gd name="T55" fmla="*/ 8 h 27"/>
                  <a:gd name="T56" fmla="*/ 0 w 22"/>
                  <a:gd name="T57" fmla="*/ 12 h 27"/>
                  <a:gd name="T58" fmla="*/ 0 w 22"/>
                  <a:gd name="T59" fmla="*/ 12 h 27"/>
                  <a:gd name="T60" fmla="*/ 0 w 22"/>
                  <a:gd name="T61" fmla="*/ 16 h 27"/>
                  <a:gd name="T62" fmla="*/ 0 w 22"/>
                  <a:gd name="T63" fmla="*/ 16 h 27"/>
                  <a:gd name="T64" fmla="*/ 0 w 22"/>
                  <a:gd name="T65" fmla="*/ 19 h 27"/>
                  <a:gd name="T66" fmla="*/ 0 w 22"/>
                  <a:gd name="T67" fmla="*/ 19 h 27"/>
                  <a:gd name="T68" fmla="*/ 0 w 22"/>
                  <a:gd name="T69" fmla="*/ 19 h 27"/>
                  <a:gd name="T70" fmla="*/ 0 w 22"/>
                  <a:gd name="T71" fmla="*/ 23 h 27"/>
                  <a:gd name="T72" fmla="*/ 3 w 22"/>
                  <a:gd name="T73" fmla="*/ 23 h 27"/>
                  <a:gd name="T74" fmla="*/ 3 w 22"/>
                  <a:gd name="T75" fmla="*/ 23 h 27"/>
                  <a:gd name="T76" fmla="*/ 7 w 22"/>
                  <a:gd name="T77" fmla="*/ 27 h 27"/>
                  <a:gd name="T78" fmla="*/ 7 w 22"/>
                  <a:gd name="T79" fmla="*/ 27 h 27"/>
                  <a:gd name="T80" fmla="*/ 11 w 22"/>
                  <a:gd name="T81" fmla="*/ 27 h 27"/>
                  <a:gd name="T82" fmla="*/ 11 w 22"/>
                  <a:gd name="T83" fmla="*/ 27 h 27"/>
                  <a:gd name="T84" fmla="*/ 7 w 22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"/>
                  <a:gd name="T130" fmla="*/ 0 h 27"/>
                  <a:gd name="T131" fmla="*/ 22 w 22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" h="27">
                    <a:moveTo>
                      <a:pt x="7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2" y="19"/>
                    </a:lnTo>
                    <a:lnTo>
                      <a:pt x="22" y="16"/>
                    </a:lnTo>
                    <a:lnTo>
                      <a:pt x="22" y="12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3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7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3" name="Freeform 60"/>
              <p:cNvSpPr>
                <a:spLocks/>
              </p:cNvSpPr>
              <p:nvPr/>
            </p:nvSpPr>
            <p:spPr bwMode="auto">
              <a:xfrm>
                <a:off x="1786" y="1705"/>
                <a:ext cx="23" cy="27"/>
              </a:xfrm>
              <a:custGeom>
                <a:avLst/>
                <a:gdLst>
                  <a:gd name="T0" fmla="*/ 12 w 23"/>
                  <a:gd name="T1" fmla="*/ 23 h 27"/>
                  <a:gd name="T2" fmla="*/ 12 w 23"/>
                  <a:gd name="T3" fmla="*/ 27 h 27"/>
                  <a:gd name="T4" fmla="*/ 16 w 23"/>
                  <a:gd name="T5" fmla="*/ 27 h 27"/>
                  <a:gd name="T6" fmla="*/ 16 w 23"/>
                  <a:gd name="T7" fmla="*/ 23 h 27"/>
                  <a:gd name="T8" fmla="*/ 20 w 23"/>
                  <a:gd name="T9" fmla="*/ 23 h 27"/>
                  <a:gd name="T10" fmla="*/ 20 w 23"/>
                  <a:gd name="T11" fmla="*/ 23 h 27"/>
                  <a:gd name="T12" fmla="*/ 20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20 w 23"/>
                  <a:gd name="T29" fmla="*/ 8 h 27"/>
                  <a:gd name="T30" fmla="*/ 20 w 23"/>
                  <a:gd name="T31" fmla="*/ 4 h 27"/>
                  <a:gd name="T32" fmla="*/ 20 w 23"/>
                  <a:gd name="T33" fmla="*/ 4 h 27"/>
                  <a:gd name="T34" fmla="*/ 16 w 23"/>
                  <a:gd name="T35" fmla="*/ 4 h 27"/>
                  <a:gd name="T36" fmla="*/ 16 w 23"/>
                  <a:gd name="T37" fmla="*/ 4 h 27"/>
                  <a:gd name="T38" fmla="*/ 12 w 23"/>
                  <a:gd name="T39" fmla="*/ 0 h 27"/>
                  <a:gd name="T40" fmla="*/ 12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2 w 23"/>
                  <a:gd name="T81" fmla="*/ 27 h 27"/>
                  <a:gd name="T82" fmla="*/ 12 w 23"/>
                  <a:gd name="T83" fmla="*/ 27 h 27"/>
                  <a:gd name="T84" fmla="*/ 12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2" y="23"/>
                    </a:moveTo>
                    <a:lnTo>
                      <a:pt x="12" y="27"/>
                    </a:lnTo>
                    <a:lnTo>
                      <a:pt x="16" y="27"/>
                    </a:lnTo>
                    <a:lnTo>
                      <a:pt x="16" y="23"/>
                    </a:lnTo>
                    <a:lnTo>
                      <a:pt x="20" y="23"/>
                    </a:lnTo>
                    <a:lnTo>
                      <a:pt x="20" y="19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20" y="8"/>
                    </a:lnTo>
                    <a:lnTo>
                      <a:pt x="20" y="4"/>
                    </a:lnTo>
                    <a:lnTo>
                      <a:pt x="16" y="4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4" name="Freeform 61"/>
              <p:cNvSpPr>
                <a:spLocks/>
              </p:cNvSpPr>
              <p:nvPr/>
            </p:nvSpPr>
            <p:spPr bwMode="auto">
              <a:xfrm>
                <a:off x="1867" y="1705"/>
                <a:ext cx="22" cy="27"/>
              </a:xfrm>
              <a:custGeom>
                <a:avLst/>
                <a:gdLst>
                  <a:gd name="T0" fmla="*/ 7 w 22"/>
                  <a:gd name="T1" fmla="*/ 23 h 27"/>
                  <a:gd name="T2" fmla="*/ 11 w 22"/>
                  <a:gd name="T3" fmla="*/ 27 h 27"/>
                  <a:gd name="T4" fmla="*/ 15 w 22"/>
                  <a:gd name="T5" fmla="*/ 27 h 27"/>
                  <a:gd name="T6" fmla="*/ 15 w 22"/>
                  <a:gd name="T7" fmla="*/ 23 h 27"/>
                  <a:gd name="T8" fmla="*/ 19 w 22"/>
                  <a:gd name="T9" fmla="*/ 23 h 27"/>
                  <a:gd name="T10" fmla="*/ 19 w 22"/>
                  <a:gd name="T11" fmla="*/ 23 h 27"/>
                  <a:gd name="T12" fmla="*/ 19 w 22"/>
                  <a:gd name="T13" fmla="*/ 19 h 27"/>
                  <a:gd name="T14" fmla="*/ 22 w 22"/>
                  <a:gd name="T15" fmla="*/ 19 h 27"/>
                  <a:gd name="T16" fmla="*/ 22 w 22"/>
                  <a:gd name="T17" fmla="*/ 19 h 27"/>
                  <a:gd name="T18" fmla="*/ 22 w 22"/>
                  <a:gd name="T19" fmla="*/ 16 h 27"/>
                  <a:gd name="T20" fmla="*/ 22 w 22"/>
                  <a:gd name="T21" fmla="*/ 16 h 27"/>
                  <a:gd name="T22" fmla="*/ 22 w 22"/>
                  <a:gd name="T23" fmla="*/ 12 h 27"/>
                  <a:gd name="T24" fmla="*/ 22 w 22"/>
                  <a:gd name="T25" fmla="*/ 12 h 27"/>
                  <a:gd name="T26" fmla="*/ 22 w 22"/>
                  <a:gd name="T27" fmla="*/ 8 h 27"/>
                  <a:gd name="T28" fmla="*/ 19 w 22"/>
                  <a:gd name="T29" fmla="*/ 8 h 27"/>
                  <a:gd name="T30" fmla="*/ 19 w 22"/>
                  <a:gd name="T31" fmla="*/ 4 h 27"/>
                  <a:gd name="T32" fmla="*/ 19 w 22"/>
                  <a:gd name="T33" fmla="*/ 4 h 27"/>
                  <a:gd name="T34" fmla="*/ 15 w 22"/>
                  <a:gd name="T35" fmla="*/ 4 h 27"/>
                  <a:gd name="T36" fmla="*/ 15 w 22"/>
                  <a:gd name="T37" fmla="*/ 4 h 27"/>
                  <a:gd name="T38" fmla="*/ 11 w 22"/>
                  <a:gd name="T39" fmla="*/ 0 h 27"/>
                  <a:gd name="T40" fmla="*/ 11 w 22"/>
                  <a:gd name="T41" fmla="*/ 0 h 27"/>
                  <a:gd name="T42" fmla="*/ 7 w 22"/>
                  <a:gd name="T43" fmla="*/ 0 h 27"/>
                  <a:gd name="T44" fmla="*/ 7 w 22"/>
                  <a:gd name="T45" fmla="*/ 4 h 27"/>
                  <a:gd name="T46" fmla="*/ 3 w 22"/>
                  <a:gd name="T47" fmla="*/ 4 h 27"/>
                  <a:gd name="T48" fmla="*/ 3 w 22"/>
                  <a:gd name="T49" fmla="*/ 4 h 27"/>
                  <a:gd name="T50" fmla="*/ 3 w 22"/>
                  <a:gd name="T51" fmla="*/ 4 h 27"/>
                  <a:gd name="T52" fmla="*/ 0 w 22"/>
                  <a:gd name="T53" fmla="*/ 8 h 27"/>
                  <a:gd name="T54" fmla="*/ 0 w 22"/>
                  <a:gd name="T55" fmla="*/ 8 h 27"/>
                  <a:gd name="T56" fmla="*/ 0 w 22"/>
                  <a:gd name="T57" fmla="*/ 12 h 27"/>
                  <a:gd name="T58" fmla="*/ 0 w 22"/>
                  <a:gd name="T59" fmla="*/ 12 h 27"/>
                  <a:gd name="T60" fmla="*/ 0 w 22"/>
                  <a:gd name="T61" fmla="*/ 16 h 27"/>
                  <a:gd name="T62" fmla="*/ 0 w 22"/>
                  <a:gd name="T63" fmla="*/ 16 h 27"/>
                  <a:gd name="T64" fmla="*/ 0 w 22"/>
                  <a:gd name="T65" fmla="*/ 19 h 27"/>
                  <a:gd name="T66" fmla="*/ 0 w 22"/>
                  <a:gd name="T67" fmla="*/ 19 h 27"/>
                  <a:gd name="T68" fmla="*/ 0 w 22"/>
                  <a:gd name="T69" fmla="*/ 19 h 27"/>
                  <a:gd name="T70" fmla="*/ 3 w 22"/>
                  <a:gd name="T71" fmla="*/ 23 h 27"/>
                  <a:gd name="T72" fmla="*/ 3 w 22"/>
                  <a:gd name="T73" fmla="*/ 23 h 27"/>
                  <a:gd name="T74" fmla="*/ 3 w 22"/>
                  <a:gd name="T75" fmla="*/ 23 h 27"/>
                  <a:gd name="T76" fmla="*/ 7 w 22"/>
                  <a:gd name="T77" fmla="*/ 27 h 27"/>
                  <a:gd name="T78" fmla="*/ 7 w 22"/>
                  <a:gd name="T79" fmla="*/ 27 h 27"/>
                  <a:gd name="T80" fmla="*/ 11 w 22"/>
                  <a:gd name="T81" fmla="*/ 27 h 27"/>
                  <a:gd name="T82" fmla="*/ 11 w 22"/>
                  <a:gd name="T83" fmla="*/ 27 h 27"/>
                  <a:gd name="T84" fmla="*/ 7 w 22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"/>
                  <a:gd name="T130" fmla="*/ 0 h 27"/>
                  <a:gd name="T131" fmla="*/ 22 w 22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" h="27">
                    <a:moveTo>
                      <a:pt x="7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2" y="19"/>
                    </a:lnTo>
                    <a:lnTo>
                      <a:pt x="22" y="16"/>
                    </a:lnTo>
                    <a:lnTo>
                      <a:pt x="22" y="12"/>
                    </a:lnTo>
                    <a:lnTo>
                      <a:pt x="22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3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7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5" name="Freeform 62"/>
              <p:cNvSpPr>
                <a:spLocks/>
              </p:cNvSpPr>
              <p:nvPr/>
            </p:nvSpPr>
            <p:spPr bwMode="auto">
              <a:xfrm>
                <a:off x="1706" y="1705"/>
                <a:ext cx="23" cy="27"/>
              </a:xfrm>
              <a:custGeom>
                <a:avLst/>
                <a:gdLst>
                  <a:gd name="T0" fmla="*/ 12 w 23"/>
                  <a:gd name="T1" fmla="*/ 23 h 27"/>
                  <a:gd name="T2" fmla="*/ 16 w 23"/>
                  <a:gd name="T3" fmla="*/ 27 h 27"/>
                  <a:gd name="T4" fmla="*/ 16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23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6 w 23"/>
                  <a:gd name="T37" fmla="*/ 4 h 27"/>
                  <a:gd name="T38" fmla="*/ 16 w 23"/>
                  <a:gd name="T39" fmla="*/ 0 h 27"/>
                  <a:gd name="T40" fmla="*/ 12 w 23"/>
                  <a:gd name="T41" fmla="*/ 0 h 27"/>
                  <a:gd name="T42" fmla="*/ 12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12 w 23"/>
                  <a:gd name="T79" fmla="*/ 27 h 27"/>
                  <a:gd name="T80" fmla="*/ 12 w 23"/>
                  <a:gd name="T81" fmla="*/ 27 h 27"/>
                  <a:gd name="T82" fmla="*/ 12 w 23"/>
                  <a:gd name="T83" fmla="*/ 27 h 27"/>
                  <a:gd name="T84" fmla="*/ 12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2" y="23"/>
                    </a:moveTo>
                    <a:lnTo>
                      <a:pt x="16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19" y="4"/>
                    </a:lnTo>
                    <a:lnTo>
                      <a:pt x="16" y="4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6" name="Freeform 63"/>
              <p:cNvSpPr>
                <a:spLocks/>
              </p:cNvSpPr>
              <p:nvPr/>
            </p:nvSpPr>
            <p:spPr bwMode="auto">
              <a:xfrm>
                <a:off x="2263" y="1705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7" name="Freeform 64"/>
              <p:cNvSpPr>
                <a:spLocks/>
              </p:cNvSpPr>
              <p:nvPr/>
            </p:nvSpPr>
            <p:spPr bwMode="auto">
              <a:xfrm>
                <a:off x="2343" y="1705"/>
                <a:ext cx="23" cy="27"/>
              </a:xfrm>
              <a:custGeom>
                <a:avLst/>
                <a:gdLst>
                  <a:gd name="T0" fmla="*/ 8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4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4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8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8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8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8" name="Freeform 65"/>
              <p:cNvSpPr>
                <a:spLocks/>
              </p:cNvSpPr>
              <p:nvPr/>
            </p:nvSpPr>
            <p:spPr bwMode="auto">
              <a:xfrm>
                <a:off x="2183" y="1705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5 w 23"/>
                  <a:gd name="T3" fmla="*/ 27 h 27"/>
                  <a:gd name="T4" fmla="*/ 15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23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5 w 23"/>
                  <a:gd name="T37" fmla="*/ 4 h 27"/>
                  <a:gd name="T38" fmla="*/ 15 w 23"/>
                  <a:gd name="T39" fmla="*/ 0 h 27"/>
                  <a:gd name="T40" fmla="*/ 11 w 23"/>
                  <a:gd name="T41" fmla="*/ 0 h 27"/>
                  <a:gd name="T42" fmla="*/ 11 w 23"/>
                  <a:gd name="T43" fmla="*/ 0 h 27"/>
                  <a:gd name="T44" fmla="*/ 7 w 23"/>
                  <a:gd name="T45" fmla="*/ 4 h 27"/>
                  <a:gd name="T46" fmla="*/ 7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7 w 23"/>
                  <a:gd name="T75" fmla="*/ 23 h 27"/>
                  <a:gd name="T76" fmla="*/ 7 w 23"/>
                  <a:gd name="T77" fmla="*/ 27 h 27"/>
                  <a:gd name="T78" fmla="*/ 11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49" name="Freeform 66"/>
              <p:cNvSpPr>
                <a:spLocks/>
              </p:cNvSpPr>
              <p:nvPr/>
            </p:nvSpPr>
            <p:spPr bwMode="auto">
              <a:xfrm>
                <a:off x="2499" y="1705"/>
                <a:ext cx="27" cy="27"/>
              </a:xfrm>
              <a:custGeom>
                <a:avLst/>
                <a:gdLst>
                  <a:gd name="T0" fmla="*/ 12 w 27"/>
                  <a:gd name="T1" fmla="*/ 23 h 27"/>
                  <a:gd name="T2" fmla="*/ 15 w 27"/>
                  <a:gd name="T3" fmla="*/ 27 h 27"/>
                  <a:gd name="T4" fmla="*/ 15 w 27"/>
                  <a:gd name="T5" fmla="*/ 27 h 27"/>
                  <a:gd name="T6" fmla="*/ 19 w 27"/>
                  <a:gd name="T7" fmla="*/ 23 h 27"/>
                  <a:gd name="T8" fmla="*/ 19 w 27"/>
                  <a:gd name="T9" fmla="*/ 23 h 27"/>
                  <a:gd name="T10" fmla="*/ 23 w 27"/>
                  <a:gd name="T11" fmla="*/ 23 h 27"/>
                  <a:gd name="T12" fmla="*/ 23 w 27"/>
                  <a:gd name="T13" fmla="*/ 19 h 27"/>
                  <a:gd name="T14" fmla="*/ 23 w 27"/>
                  <a:gd name="T15" fmla="*/ 19 h 27"/>
                  <a:gd name="T16" fmla="*/ 23 w 27"/>
                  <a:gd name="T17" fmla="*/ 19 h 27"/>
                  <a:gd name="T18" fmla="*/ 27 w 27"/>
                  <a:gd name="T19" fmla="*/ 16 h 27"/>
                  <a:gd name="T20" fmla="*/ 27 w 27"/>
                  <a:gd name="T21" fmla="*/ 16 h 27"/>
                  <a:gd name="T22" fmla="*/ 27 w 27"/>
                  <a:gd name="T23" fmla="*/ 12 h 27"/>
                  <a:gd name="T24" fmla="*/ 23 w 27"/>
                  <a:gd name="T25" fmla="*/ 12 h 27"/>
                  <a:gd name="T26" fmla="*/ 23 w 27"/>
                  <a:gd name="T27" fmla="*/ 8 h 27"/>
                  <a:gd name="T28" fmla="*/ 23 w 27"/>
                  <a:gd name="T29" fmla="*/ 8 h 27"/>
                  <a:gd name="T30" fmla="*/ 23 w 27"/>
                  <a:gd name="T31" fmla="*/ 4 h 27"/>
                  <a:gd name="T32" fmla="*/ 19 w 27"/>
                  <a:gd name="T33" fmla="*/ 4 h 27"/>
                  <a:gd name="T34" fmla="*/ 19 w 27"/>
                  <a:gd name="T35" fmla="*/ 4 h 27"/>
                  <a:gd name="T36" fmla="*/ 15 w 27"/>
                  <a:gd name="T37" fmla="*/ 4 h 27"/>
                  <a:gd name="T38" fmla="*/ 15 w 27"/>
                  <a:gd name="T39" fmla="*/ 0 h 27"/>
                  <a:gd name="T40" fmla="*/ 12 w 27"/>
                  <a:gd name="T41" fmla="*/ 0 h 27"/>
                  <a:gd name="T42" fmla="*/ 12 w 27"/>
                  <a:gd name="T43" fmla="*/ 0 h 27"/>
                  <a:gd name="T44" fmla="*/ 8 w 27"/>
                  <a:gd name="T45" fmla="*/ 4 h 27"/>
                  <a:gd name="T46" fmla="*/ 8 w 27"/>
                  <a:gd name="T47" fmla="*/ 4 h 27"/>
                  <a:gd name="T48" fmla="*/ 8 w 27"/>
                  <a:gd name="T49" fmla="*/ 4 h 27"/>
                  <a:gd name="T50" fmla="*/ 4 w 27"/>
                  <a:gd name="T51" fmla="*/ 4 h 27"/>
                  <a:gd name="T52" fmla="*/ 4 w 27"/>
                  <a:gd name="T53" fmla="*/ 8 h 27"/>
                  <a:gd name="T54" fmla="*/ 4 w 27"/>
                  <a:gd name="T55" fmla="*/ 8 h 27"/>
                  <a:gd name="T56" fmla="*/ 4 w 27"/>
                  <a:gd name="T57" fmla="*/ 12 h 27"/>
                  <a:gd name="T58" fmla="*/ 0 w 27"/>
                  <a:gd name="T59" fmla="*/ 12 h 27"/>
                  <a:gd name="T60" fmla="*/ 0 w 27"/>
                  <a:gd name="T61" fmla="*/ 16 h 27"/>
                  <a:gd name="T62" fmla="*/ 0 w 27"/>
                  <a:gd name="T63" fmla="*/ 16 h 27"/>
                  <a:gd name="T64" fmla="*/ 4 w 27"/>
                  <a:gd name="T65" fmla="*/ 19 h 27"/>
                  <a:gd name="T66" fmla="*/ 4 w 27"/>
                  <a:gd name="T67" fmla="*/ 19 h 27"/>
                  <a:gd name="T68" fmla="*/ 4 w 27"/>
                  <a:gd name="T69" fmla="*/ 19 h 27"/>
                  <a:gd name="T70" fmla="*/ 4 w 27"/>
                  <a:gd name="T71" fmla="*/ 23 h 27"/>
                  <a:gd name="T72" fmla="*/ 8 w 27"/>
                  <a:gd name="T73" fmla="*/ 23 h 27"/>
                  <a:gd name="T74" fmla="*/ 8 w 27"/>
                  <a:gd name="T75" fmla="*/ 23 h 27"/>
                  <a:gd name="T76" fmla="*/ 8 w 27"/>
                  <a:gd name="T77" fmla="*/ 27 h 27"/>
                  <a:gd name="T78" fmla="*/ 12 w 27"/>
                  <a:gd name="T79" fmla="*/ 27 h 27"/>
                  <a:gd name="T80" fmla="*/ 12 w 27"/>
                  <a:gd name="T81" fmla="*/ 27 h 27"/>
                  <a:gd name="T82" fmla="*/ 12 w 27"/>
                  <a:gd name="T83" fmla="*/ 27 h 27"/>
                  <a:gd name="T84" fmla="*/ 12 w 27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7"/>
                  <a:gd name="T130" fmla="*/ 0 h 27"/>
                  <a:gd name="T131" fmla="*/ 27 w 27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7" h="27">
                    <a:moveTo>
                      <a:pt x="12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7" y="16"/>
                    </a:lnTo>
                    <a:lnTo>
                      <a:pt x="27" y="12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4" y="12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50" name="Freeform 67"/>
              <p:cNvSpPr>
                <a:spLocks/>
              </p:cNvSpPr>
              <p:nvPr/>
            </p:nvSpPr>
            <p:spPr bwMode="auto">
              <a:xfrm>
                <a:off x="2579" y="1705"/>
                <a:ext cx="23" cy="27"/>
              </a:xfrm>
              <a:custGeom>
                <a:avLst/>
                <a:gdLst>
                  <a:gd name="T0" fmla="*/ 12 w 23"/>
                  <a:gd name="T1" fmla="*/ 23 h 27"/>
                  <a:gd name="T2" fmla="*/ 16 w 23"/>
                  <a:gd name="T3" fmla="*/ 27 h 27"/>
                  <a:gd name="T4" fmla="*/ 16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23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23 w 23"/>
                  <a:gd name="T27" fmla="*/ 8 h 27"/>
                  <a:gd name="T28" fmla="*/ 23 w 23"/>
                  <a:gd name="T29" fmla="*/ 8 h 27"/>
                  <a:gd name="T30" fmla="*/ 23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6 w 23"/>
                  <a:gd name="T37" fmla="*/ 4 h 27"/>
                  <a:gd name="T38" fmla="*/ 16 w 23"/>
                  <a:gd name="T39" fmla="*/ 0 h 27"/>
                  <a:gd name="T40" fmla="*/ 12 w 23"/>
                  <a:gd name="T41" fmla="*/ 0 h 27"/>
                  <a:gd name="T42" fmla="*/ 12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4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4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12 w 23"/>
                  <a:gd name="T79" fmla="*/ 27 h 27"/>
                  <a:gd name="T80" fmla="*/ 12 w 23"/>
                  <a:gd name="T81" fmla="*/ 27 h 27"/>
                  <a:gd name="T82" fmla="*/ 12 w 23"/>
                  <a:gd name="T83" fmla="*/ 27 h 27"/>
                  <a:gd name="T84" fmla="*/ 12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2" y="23"/>
                    </a:moveTo>
                    <a:lnTo>
                      <a:pt x="16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6" y="4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51" name="Freeform 68"/>
              <p:cNvSpPr>
                <a:spLocks/>
              </p:cNvSpPr>
              <p:nvPr/>
            </p:nvSpPr>
            <p:spPr bwMode="auto">
              <a:xfrm>
                <a:off x="2423" y="1705"/>
                <a:ext cx="23" cy="27"/>
              </a:xfrm>
              <a:custGeom>
                <a:avLst/>
                <a:gdLst>
                  <a:gd name="T0" fmla="*/ 8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5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19 w 23"/>
                  <a:gd name="T15" fmla="*/ 19 h 27"/>
                  <a:gd name="T16" fmla="*/ 23 w 23"/>
                  <a:gd name="T17" fmla="*/ 19 h 27"/>
                  <a:gd name="T18" fmla="*/ 23 w 23"/>
                  <a:gd name="T19" fmla="*/ 16 h 27"/>
                  <a:gd name="T20" fmla="*/ 23 w 23"/>
                  <a:gd name="T21" fmla="*/ 16 h 27"/>
                  <a:gd name="T22" fmla="*/ 23 w 23"/>
                  <a:gd name="T23" fmla="*/ 12 h 27"/>
                  <a:gd name="T24" fmla="*/ 23 w 23"/>
                  <a:gd name="T25" fmla="*/ 12 h 27"/>
                  <a:gd name="T26" fmla="*/ 19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5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4 w 23"/>
                  <a:gd name="T47" fmla="*/ 4 h 27"/>
                  <a:gd name="T48" fmla="*/ 4 w 23"/>
                  <a:gd name="T49" fmla="*/ 4 h 27"/>
                  <a:gd name="T50" fmla="*/ 0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2 h 27"/>
                  <a:gd name="T58" fmla="*/ 0 w 23"/>
                  <a:gd name="T59" fmla="*/ 12 h 27"/>
                  <a:gd name="T60" fmla="*/ 0 w 23"/>
                  <a:gd name="T61" fmla="*/ 16 h 27"/>
                  <a:gd name="T62" fmla="*/ 0 w 23"/>
                  <a:gd name="T63" fmla="*/ 16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0 w 23"/>
                  <a:gd name="T71" fmla="*/ 23 h 27"/>
                  <a:gd name="T72" fmla="*/ 4 w 23"/>
                  <a:gd name="T73" fmla="*/ 23 h 27"/>
                  <a:gd name="T74" fmla="*/ 4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8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8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6"/>
                    </a:lnTo>
                    <a:lnTo>
                      <a:pt x="23" y="12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4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8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652" name="Rectangle 69"/>
              <p:cNvSpPr>
                <a:spLocks noChangeArrowheads="1"/>
              </p:cNvSpPr>
              <p:nvPr/>
            </p:nvSpPr>
            <p:spPr bwMode="auto">
              <a:xfrm>
                <a:off x="4039" y="1942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23653" name="Rectangle 70"/>
              <p:cNvSpPr>
                <a:spLocks noChangeArrowheads="1"/>
              </p:cNvSpPr>
              <p:nvPr/>
            </p:nvSpPr>
            <p:spPr bwMode="auto">
              <a:xfrm>
                <a:off x="4123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654" name="Rectangle 71"/>
              <p:cNvSpPr>
                <a:spLocks noChangeArrowheads="1"/>
              </p:cNvSpPr>
              <p:nvPr/>
            </p:nvSpPr>
            <p:spPr bwMode="auto">
              <a:xfrm>
                <a:off x="4195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23655" name="Rectangle 72"/>
              <p:cNvSpPr>
                <a:spLocks noChangeArrowheads="1"/>
              </p:cNvSpPr>
              <p:nvPr/>
            </p:nvSpPr>
            <p:spPr bwMode="auto">
              <a:xfrm>
                <a:off x="4264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656" name="Rectangle 73"/>
              <p:cNvSpPr>
                <a:spLocks noChangeArrowheads="1"/>
              </p:cNvSpPr>
              <p:nvPr/>
            </p:nvSpPr>
            <p:spPr bwMode="auto">
              <a:xfrm>
                <a:off x="4336" y="194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57" name="Rectangle 74"/>
              <p:cNvSpPr>
                <a:spLocks noChangeArrowheads="1"/>
              </p:cNvSpPr>
              <p:nvPr/>
            </p:nvSpPr>
            <p:spPr bwMode="auto">
              <a:xfrm>
                <a:off x="4371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o</a:t>
                </a:r>
                <a:endParaRPr lang="en-US" altLang="en-US" b="1"/>
              </a:p>
            </p:txBody>
          </p:sp>
          <p:sp>
            <p:nvSpPr>
              <p:cNvPr id="23658" name="Rectangle 75"/>
              <p:cNvSpPr>
                <a:spLocks noChangeArrowheads="1"/>
              </p:cNvSpPr>
              <p:nvPr/>
            </p:nvSpPr>
            <p:spPr bwMode="auto">
              <a:xfrm>
                <a:off x="4443" y="194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23659" name="Rectangle 76"/>
              <p:cNvSpPr>
                <a:spLocks noChangeArrowheads="1"/>
              </p:cNvSpPr>
              <p:nvPr/>
            </p:nvSpPr>
            <p:spPr bwMode="auto">
              <a:xfrm>
                <a:off x="4477" y="194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23660" name="Rectangle 77"/>
              <p:cNvSpPr>
                <a:spLocks noChangeArrowheads="1"/>
              </p:cNvSpPr>
              <p:nvPr/>
            </p:nvSpPr>
            <p:spPr bwMode="auto">
              <a:xfrm>
                <a:off x="4512" y="1942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23661" name="Rectangle 78"/>
              <p:cNvSpPr>
                <a:spLocks noChangeArrowheads="1"/>
              </p:cNvSpPr>
              <p:nvPr/>
            </p:nvSpPr>
            <p:spPr bwMode="auto">
              <a:xfrm>
                <a:off x="4576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662" name="Rectangle 79"/>
              <p:cNvSpPr>
                <a:spLocks noChangeArrowheads="1"/>
              </p:cNvSpPr>
              <p:nvPr/>
            </p:nvSpPr>
            <p:spPr bwMode="auto">
              <a:xfrm>
                <a:off x="4645" y="194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23663" name="Rectangle 80"/>
              <p:cNvSpPr>
                <a:spLocks noChangeArrowheads="1"/>
              </p:cNvSpPr>
              <p:nvPr/>
            </p:nvSpPr>
            <p:spPr bwMode="auto">
              <a:xfrm>
                <a:off x="1508" y="1942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V</a:t>
                </a:r>
                <a:endParaRPr lang="en-US" altLang="en-US" b="1"/>
              </a:p>
            </p:txBody>
          </p:sp>
          <p:sp>
            <p:nvSpPr>
              <p:cNvPr id="23664" name="Rectangle 81"/>
              <p:cNvSpPr>
                <a:spLocks noChangeArrowheads="1"/>
              </p:cNvSpPr>
              <p:nvPr/>
            </p:nvSpPr>
            <p:spPr bwMode="auto">
              <a:xfrm>
                <a:off x="1596" y="1942"/>
                <a:ext cx="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23665" name="Rectangle 82"/>
              <p:cNvSpPr>
                <a:spLocks noChangeArrowheads="1"/>
              </p:cNvSpPr>
              <p:nvPr/>
            </p:nvSpPr>
            <p:spPr bwMode="auto">
              <a:xfrm>
                <a:off x="1623" y="1942"/>
                <a:ext cx="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23666" name="Rectangle 83"/>
              <p:cNvSpPr>
                <a:spLocks noChangeArrowheads="1"/>
              </p:cNvSpPr>
              <p:nvPr/>
            </p:nvSpPr>
            <p:spPr bwMode="auto">
              <a:xfrm>
                <a:off x="1665" y="194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23667" name="Rectangle 84"/>
              <p:cNvSpPr>
                <a:spLocks noChangeArrowheads="1"/>
              </p:cNvSpPr>
              <p:nvPr/>
            </p:nvSpPr>
            <p:spPr bwMode="auto">
              <a:xfrm>
                <a:off x="1699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23668" name="Rectangle 85"/>
              <p:cNvSpPr>
                <a:spLocks noChangeArrowheads="1"/>
              </p:cNvSpPr>
              <p:nvPr/>
            </p:nvSpPr>
            <p:spPr bwMode="auto">
              <a:xfrm>
                <a:off x="1771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669" name="Rectangle 86"/>
              <p:cNvSpPr>
                <a:spLocks noChangeArrowheads="1"/>
              </p:cNvSpPr>
              <p:nvPr/>
            </p:nvSpPr>
            <p:spPr bwMode="auto">
              <a:xfrm>
                <a:off x="1840" y="1942"/>
                <a:ext cx="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23670" name="Rectangle 87"/>
              <p:cNvSpPr>
                <a:spLocks noChangeArrowheads="1"/>
              </p:cNvSpPr>
              <p:nvPr/>
            </p:nvSpPr>
            <p:spPr bwMode="auto">
              <a:xfrm>
                <a:off x="1870" y="194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71" name="Rectangle 88"/>
              <p:cNvSpPr>
                <a:spLocks noChangeArrowheads="1"/>
              </p:cNvSpPr>
              <p:nvPr/>
            </p:nvSpPr>
            <p:spPr bwMode="auto">
              <a:xfrm>
                <a:off x="1905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23672" name="Rectangle 89"/>
              <p:cNvSpPr>
                <a:spLocks noChangeArrowheads="1"/>
              </p:cNvSpPr>
              <p:nvPr/>
            </p:nvSpPr>
            <p:spPr bwMode="auto">
              <a:xfrm>
                <a:off x="1977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673" name="Rectangle 90"/>
              <p:cNvSpPr>
                <a:spLocks noChangeArrowheads="1"/>
              </p:cNvSpPr>
              <p:nvPr/>
            </p:nvSpPr>
            <p:spPr bwMode="auto">
              <a:xfrm>
                <a:off x="2046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23674" name="Rectangle 91"/>
              <p:cNvSpPr>
                <a:spLocks noChangeArrowheads="1"/>
              </p:cNvSpPr>
              <p:nvPr/>
            </p:nvSpPr>
            <p:spPr bwMode="auto">
              <a:xfrm>
                <a:off x="2118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675" name="Rectangle 92"/>
              <p:cNvSpPr>
                <a:spLocks noChangeArrowheads="1"/>
              </p:cNvSpPr>
              <p:nvPr/>
            </p:nvSpPr>
            <p:spPr bwMode="auto">
              <a:xfrm>
                <a:off x="2187" y="194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76" name="Rectangle 93"/>
              <p:cNvSpPr>
                <a:spLocks noChangeArrowheads="1"/>
              </p:cNvSpPr>
              <p:nvPr/>
            </p:nvSpPr>
            <p:spPr bwMode="auto">
              <a:xfrm>
                <a:off x="2221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n</a:t>
                </a:r>
                <a:endParaRPr lang="en-US" altLang="en-US" b="1"/>
              </a:p>
            </p:txBody>
          </p:sp>
          <p:sp>
            <p:nvSpPr>
              <p:cNvPr id="23677" name="Rectangle 94"/>
              <p:cNvSpPr>
                <a:spLocks noChangeArrowheads="1"/>
              </p:cNvSpPr>
              <p:nvPr/>
            </p:nvSpPr>
            <p:spPr bwMode="auto">
              <a:xfrm>
                <a:off x="2293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23678" name="Rectangle 95"/>
              <p:cNvSpPr>
                <a:spLocks noChangeArrowheads="1"/>
              </p:cNvSpPr>
              <p:nvPr/>
            </p:nvSpPr>
            <p:spPr bwMode="auto">
              <a:xfrm>
                <a:off x="2362" y="1942"/>
                <a:ext cx="10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m</a:t>
                </a:r>
                <a:endParaRPr lang="en-US" altLang="en-US" b="1"/>
              </a:p>
            </p:txBody>
          </p:sp>
          <p:sp>
            <p:nvSpPr>
              <p:cNvPr id="23679" name="Rectangle 96"/>
              <p:cNvSpPr>
                <a:spLocks noChangeArrowheads="1"/>
              </p:cNvSpPr>
              <p:nvPr/>
            </p:nvSpPr>
            <p:spPr bwMode="auto">
              <a:xfrm>
                <a:off x="2469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b</a:t>
                </a:r>
                <a:endParaRPr lang="en-US" altLang="en-US" b="1"/>
              </a:p>
            </p:txBody>
          </p:sp>
          <p:sp>
            <p:nvSpPr>
              <p:cNvPr id="23680" name="Rectangle 97"/>
              <p:cNvSpPr>
                <a:spLocks noChangeArrowheads="1"/>
              </p:cNvSpPr>
              <p:nvPr/>
            </p:nvSpPr>
            <p:spPr bwMode="auto">
              <a:xfrm>
                <a:off x="2541" y="194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681" name="Rectangle 98"/>
              <p:cNvSpPr>
                <a:spLocks noChangeArrowheads="1"/>
              </p:cNvSpPr>
              <p:nvPr/>
            </p:nvSpPr>
            <p:spPr bwMode="auto">
              <a:xfrm>
                <a:off x="2610" y="1942"/>
                <a:ext cx="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23682" name="Rectangle 99"/>
              <p:cNvSpPr>
                <a:spLocks noChangeArrowheads="1"/>
              </p:cNvSpPr>
              <p:nvPr/>
            </p:nvSpPr>
            <p:spPr bwMode="auto">
              <a:xfrm>
                <a:off x="2507" y="1374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V</a:t>
                </a:r>
                <a:endParaRPr lang="en-US" altLang="en-US" b="1"/>
              </a:p>
            </p:txBody>
          </p:sp>
          <p:sp>
            <p:nvSpPr>
              <p:cNvPr id="23683" name="Rectangle 100"/>
              <p:cNvSpPr>
                <a:spLocks noChangeArrowheads="1"/>
              </p:cNvSpPr>
              <p:nvPr/>
            </p:nvSpPr>
            <p:spPr bwMode="auto">
              <a:xfrm>
                <a:off x="2591" y="1374"/>
                <a:ext cx="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23684" name="Rectangle 101"/>
              <p:cNvSpPr>
                <a:spLocks noChangeArrowheads="1"/>
              </p:cNvSpPr>
              <p:nvPr/>
            </p:nvSpPr>
            <p:spPr bwMode="auto">
              <a:xfrm>
                <a:off x="2621" y="1374"/>
                <a:ext cx="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23685" name="Rectangle 102"/>
              <p:cNvSpPr>
                <a:spLocks noChangeArrowheads="1"/>
              </p:cNvSpPr>
              <p:nvPr/>
            </p:nvSpPr>
            <p:spPr bwMode="auto">
              <a:xfrm>
                <a:off x="2663" y="1374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23686" name="Rectangle 103"/>
              <p:cNvSpPr>
                <a:spLocks noChangeArrowheads="1"/>
              </p:cNvSpPr>
              <p:nvPr/>
            </p:nvSpPr>
            <p:spPr bwMode="auto">
              <a:xfrm>
                <a:off x="2697" y="1374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23687" name="Rectangle 104"/>
              <p:cNvSpPr>
                <a:spLocks noChangeArrowheads="1"/>
              </p:cNvSpPr>
              <p:nvPr/>
            </p:nvSpPr>
            <p:spPr bwMode="auto">
              <a:xfrm>
                <a:off x="2770" y="1374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688" name="Rectangle 105"/>
              <p:cNvSpPr>
                <a:spLocks noChangeArrowheads="1"/>
              </p:cNvSpPr>
              <p:nvPr/>
            </p:nvSpPr>
            <p:spPr bwMode="auto">
              <a:xfrm>
                <a:off x="2838" y="1374"/>
                <a:ext cx="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23689" name="Rectangle 106"/>
              <p:cNvSpPr>
                <a:spLocks noChangeArrowheads="1"/>
              </p:cNvSpPr>
              <p:nvPr/>
            </p:nvSpPr>
            <p:spPr bwMode="auto">
              <a:xfrm>
                <a:off x="2865" y="1374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90" name="Rectangle 107"/>
              <p:cNvSpPr>
                <a:spLocks noChangeArrowheads="1"/>
              </p:cNvSpPr>
              <p:nvPr/>
            </p:nvSpPr>
            <p:spPr bwMode="auto">
              <a:xfrm>
                <a:off x="2903" y="1374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691" name="Rectangle 108"/>
              <p:cNvSpPr>
                <a:spLocks noChangeArrowheads="1"/>
              </p:cNvSpPr>
              <p:nvPr/>
            </p:nvSpPr>
            <p:spPr bwMode="auto">
              <a:xfrm>
                <a:off x="2972" y="1374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23692" name="Rectangle 109"/>
              <p:cNvSpPr>
                <a:spLocks noChangeArrowheads="1"/>
              </p:cNvSpPr>
              <p:nvPr/>
            </p:nvSpPr>
            <p:spPr bwMode="auto">
              <a:xfrm>
                <a:off x="3044" y="1374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23693" name="Rectangle 110"/>
              <p:cNvSpPr>
                <a:spLocks noChangeArrowheads="1"/>
              </p:cNvSpPr>
              <p:nvPr/>
            </p:nvSpPr>
            <p:spPr bwMode="auto">
              <a:xfrm>
                <a:off x="3113" y="1374"/>
                <a:ext cx="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23694" name="Rectangle 111"/>
              <p:cNvSpPr>
                <a:spLocks noChangeArrowheads="1"/>
              </p:cNvSpPr>
              <p:nvPr/>
            </p:nvSpPr>
            <p:spPr bwMode="auto">
              <a:xfrm>
                <a:off x="3155" y="1374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695" name="Rectangle 112"/>
              <p:cNvSpPr>
                <a:spLocks noChangeArrowheads="1"/>
              </p:cNvSpPr>
              <p:nvPr/>
            </p:nvSpPr>
            <p:spPr bwMode="auto">
              <a:xfrm>
                <a:off x="3227" y="1374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23696" name="Rectangle 113"/>
              <p:cNvSpPr>
                <a:spLocks noChangeArrowheads="1"/>
              </p:cNvSpPr>
              <p:nvPr/>
            </p:nvSpPr>
            <p:spPr bwMode="auto">
              <a:xfrm>
                <a:off x="3292" y="1374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23697" name="Rectangle 114"/>
              <p:cNvSpPr>
                <a:spLocks noChangeArrowheads="1"/>
              </p:cNvSpPr>
              <p:nvPr/>
            </p:nvSpPr>
            <p:spPr bwMode="auto">
              <a:xfrm>
                <a:off x="4759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  <p:sp>
            <p:nvSpPr>
              <p:cNvPr id="23698" name="Rectangle 115"/>
              <p:cNvSpPr>
                <a:spLocks noChangeArrowheads="1"/>
              </p:cNvSpPr>
              <p:nvPr/>
            </p:nvSpPr>
            <p:spPr bwMode="auto">
              <a:xfrm>
                <a:off x="4832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699" name="Rectangle 116"/>
              <p:cNvSpPr>
                <a:spLocks noChangeArrowheads="1"/>
              </p:cNvSpPr>
              <p:nvPr/>
            </p:nvSpPr>
            <p:spPr bwMode="auto">
              <a:xfrm>
                <a:off x="4866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700" name="Rectangle 117"/>
              <p:cNvSpPr>
                <a:spLocks noChangeArrowheads="1"/>
              </p:cNvSpPr>
              <p:nvPr/>
            </p:nvSpPr>
            <p:spPr bwMode="auto">
              <a:xfrm>
                <a:off x="4939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01" name="Rectangle 118"/>
              <p:cNvSpPr>
                <a:spLocks noChangeArrowheads="1"/>
              </p:cNvSpPr>
              <p:nvPr/>
            </p:nvSpPr>
            <p:spPr bwMode="auto">
              <a:xfrm>
                <a:off x="4973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02" name="Rectangle 119"/>
              <p:cNvSpPr>
                <a:spLocks noChangeArrowheads="1"/>
              </p:cNvSpPr>
              <p:nvPr/>
            </p:nvSpPr>
            <p:spPr bwMode="auto">
              <a:xfrm>
                <a:off x="5041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03" name="Rectangle 120"/>
              <p:cNvSpPr>
                <a:spLocks noChangeArrowheads="1"/>
              </p:cNvSpPr>
              <p:nvPr/>
            </p:nvSpPr>
            <p:spPr bwMode="auto">
              <a:xfrm>
                <a:off x="5080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0</a:t>
                </a:r>
                <a:endParaRPr lang="en-US" altLang="en-US" b="1"/>
              </a:p>
            </p:txBody>
          </p:sp>
          <p:sp>
            <p:nvSpPr>
              <p:cNvPr id="23704" name="Freeform 121"/>
              <p:cNvSpPr>
                <a:spLocks/>
              </p:cNvSpPr>
              <p:nvPr/>
            </p:nvSpPr>
            <p:spPr bwMode="auto">
              <a:xfrm>
                <a:off x="4546" y="3040"/>
                <a:ext cx="27" cy="27"/>
              </a:xfrm>
              <a:custGeom>
                <a:avLst/>
                <a:gdLst>
                  <a:gd name="T0" fmla="*/ 11 w 27"/>
                  <a:gd name="T1" fmla="*/ 23 h 27"/>
                  <a:gd name="T2" fmla="*/ 15 w 27"/>
                  <a:gd name="T3" fmla="*/ 27 h 27"/>
                  <a:gd name="T4" fmla="*/ 15 w 27"/>
                  <a:gd name="T5" fmla="*/ 27 h 27"/>
                  <a:gd name="T6" fmla="*/ 19 w 27"/>
                  <a:gd name="T7" fmla="*/ 23 h 27"/>
                  <a:gd name="T8" fmla="*/ 19 w 27"/>
                  <a:gd name="T9" fmla="*/ 23 h 27"/>
                  <a:gd name="T10" fmla="*/ 23 w 27"/>
                  <a:gd name="T11" fmla="*/ 23 h 27"/>
                  <a:gd name="T12" fmla="*/ 23 w 27"/>
                  <a:gd name="T13" fmla="*/ 19 h 27"/>
                  <a:gd name="T14" fmla="*/ 23 w 27"/>
                  <a:gd name="T15" fmla="*/ 19 h 27"/>
                  <a:gd name="T16" fmla="*/ 23 w 27"/>
                  <a:gd name="T17" fmla="*/ 19 h 27"/>
                  <a:gd name="T18" fmla="*/ 27 w 27"/>
                  <a:gd name="T19" fmla="*/ 15 h 27"/>
                  <a:gd name="T20" fmla="*/ 27 w 27"/>
                  <a:gd name="T21" fmla="*/ 15 h 27"/>
                  <a:gd name="T22" fmla="*/ 27 w 27"/>
                  <a:gd name="T23" fmla="*/ 11 h 27"/>
                  <a:gd name="T24" fmla="*/ 23 w 27"/>
                  <a:gd name="T25" fmla="*/ 11 h 27"/>
                  <a:gd name="T26" fmla="*/ 23 w 27"/>
                  <a:gd name="T27" fmla="*/ 8 h 27"/>
                  <a:gd name="T28" fmla="*/ 23 w 27"/>
                  <a:gd name="T29" fmla="*/ 8 h 27"/>
                  <a:gd name="T30" fmla="*/ 23 w 27"/>
                  <a:gd name="T31" fmla="*/ 4 h 27"/>
                  <a:gd name="T32" fmla="*/ 19 w 27"/>
                  <a:gd name="T33" fmla="*/ 4 h 27"/>
                  <a:gd name="T34" fmla="*/ 19 w 27"/>
                  <a:gd name="T35" fmla="*/ 4 h 27"/>
                  <a:gd name="T36" fmla="*/ 15 w 27"/>
                  <a:gd name="T37" fmla="*/ 4 h 27"/>
                  <a:gd name="T38" fmla="*/ 15 w 27"/>
                  <a:gd name="T39" fmla="*/ 0 h 27"/>
                  <a:gd name="T40" fmla="*/ 11 w 27"/>
                  <a:gd name="T41" fmla="*/ 0 h 27"/>
                  <a:gd name="T42" fmla="*/ 11 w 27"/>
                  <a:gd name="T43" fmla="*/ 0 h 27"/>
                  <a:gd name="T44" fmla="*/ 8 w 27"/>
                  <a:gd name="T45" fmla="*/ 4 h 27"/>
                  <a:gd name="T46" fmla="*/ 8 w 27"/>
                  <a:gd name="T47" fmla="*/ 4 h 27"/>
                  <a:gd name="T48" fmla="*/ 8 w 27"/>
                  <a:gd name="T49" fmla="*/ 4 h 27"/>
                  <a:gd name="T50" fmla="*/ 4 w 27"/>
                  <a:gd name="T51" fmla="*/ 4 h 27"/>
                  <a:gd name="T52" fmla="*/ 4 w 27"/>
                  <a:gd name="T53" fmla="*/ 8 h 27"/>
                  <a:gd name="T54" fmla="*/ 4 w 27"/>
                  <a:gd name="T55" fmla="*/ 8 h 27"/>
                  <a:gd name="T56" fmla="*/ 0 w 27"/>
                  <a:gd name="T57" fmla="*/ 11 h 27"/>
                  <a:gd name="T58" fmla="*/ 0 w 27"/>
                  <a:gd name="T59" fmla="*/ 11 h 27"/>
                  <a:gd name="T60" fmla="*/ 0 w 27"/>
                  <a:gd name="T61" fmla="*/ 15 h 27"/>
                  <a:gd name="T62" fmla="*/ 0 w 27"/>
                  <a:gd name="T63" fmla="*/ 15 h 27"/>
                  <a:gd name="T64" fmla="*/ 0 w 27"/>
                  <a:gd name="T65" fmla="*/ 19 h 27"/>
                  <a:gd name="T66" fmla="*/ 4 w 27"/>
                  <a:gd name="T67" fmla="*/ 19 h 27"/>
                  <a:gd name="T68" fmla="*/ 4 w 27"/>
                  <a:gd name="T69" fmla="*/ 19 h 27"/>
                  <a:gd name="T70" fmla="*/ 4 w 27"/>
                  <a:gd name="T71" fmla="*/ 23 h 27"/>
                  <a:gd name="T72" fmla="*/ 8 w 27"/>
                  <a:gd name="T73" fmla="*/ 23 h 27"/>
                  <a:gd name="T74" fmla="*/ 8 w 27"/>
                  <a:gd name="T75" fmla="*/ 23 h 27"/>
                  <a:gd name="T76" fmla="*/ 8 w 27"/>
                  <a:gd name="T77" fmla="*/ 27 h 27"/>
                  <a:gd name="T78" fmla="*/ 11 w 27"/>
                  <a:gd name="T79" fmla="*/ 27 h 27"/>
                  <a:gd name="T80" fmla="*/ 11 w 27"/>
                  <a:gd name="T81" fmla="*/ 27 h 27"/>
                  <a:gd name="T82" fmla="*/ 11 w 27"/>
                  <a:gd name="T83" fmla="*/ 27 h 27"/>
                  <a:gd name="T84" fmla="*/ 11 w 27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7"/>
                  <a:gd name="T130" fmla="*/ 0 h 27"/>
                  <a:gd name="T131" fmla="*/ 27 w 27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7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7" y="15"/>
                    </a:lnTo>
                    <a:lnTo>
                      <a:pt x="27" y="11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05" name="Freeform 122"/>
              <p:cNvSpPr>
                <a:spLocks/>
              </p:cNvSpPr>
              <p:nvPr/>
            </p:nvSpPr>
            <p:spPr bwMode="auto">
              <a:xfrm>
                <a:off x="4626" y="3040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5 w 23"/>
                  <a:gd name="T3" fmla="*/ 27 h 27"/>
                  <a:gd name="T4" fmla="*/ 15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23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5 w 23"/>
                  <a:gd name="T37" fmla="*/ 4 h 27"/>
                  <a:gd name="T38" fmla="*/ 15 w 23"/>
                  <a:gd name="T39" fmla="*/ 0 h 27"/>
                  <a:gd name="T40" fmla="*/ 11 w 23"/>
                  <a:gd name="T41" fmla="*/ 0 h 27"/>
                  <a:gd name="T42" fmla="*/ 11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4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4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11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06" name="Freeform 123"/>
              <p:cNvSpPr>
                <a:spLocks/>
              </p:cNvSpPr>
              <p:nvPr/>
            </p:nvSpPr>
            <p:spPr bwMode="auto">
              <a:xfrm>
                <a:off x="4466" y="3040"/>
                <a:ext cx="27" cy="27"/>
              </a:xfrm>
              <a:custGeom>
                <a:avLst/>
                <a:gdLst>
                  <a:gd name="T0" fmla="*/ 11 w 27"/>
                  <a:gd name="T1" fmla="*/ 23 h 27"/>
                  <a:gd name="T2" fmla="*/ 15 w 27"/>
                  <a:gd name="T3" fmla="*/ 27 h 27"/>
                  <a:gd name="T4" fmla="*/ 19 w 27"/>
                  <a:gd name="T5" fmla="*/ 27 h 27"/>
                  <a:gd name="T6" fmla="*/ 19 w 27"/>
                  <a:gd name="T7" fmla="*/ 23 h 27"/>
                  <a:gd name="T8" fmla="*/ 19 w 27"/>
                  <a:gd name="T9" fmla="*/ 23 h 27"/>
                  <a:gd name="T10" fmla="*/ 23 w 27"/>
                  <a:gd name="T11" fmla="*/ 23 h 27"/>
                  <a:gd name="T12" fmla="*/ 23 w 27"/>
                  <a:gd name="T13" fmla="*/ 19 h 27"/>
                  <a:gd name="T14" fmla="*/ 23 w 27"/>
                  <a:gd name="T15" fmla="*/ 19 h 27"/>
                  <a:gd name="T16" fmla="*/ 27 w 27"/>
                  <a:gd name="T17" fmla="*/ 19 h 27"/>
                  <a:gd name="T18" fmla="*/ 27 w 27"/>
                  <a:gd name="T19" fmla="*/ 15 h 27"/>
                  <a:gd name="T20" fmla="*/ 27 w 27"/>
                  <a:gd name="T21" fmla="*/ 15 h 27"/>
                  <a:gd name="T22" fmla="*/ 27 w 27"/>
                  <a:gd name="T23" fmla="*/ 11 h 27"/>
                  <a:gd name="T24" fmla="*/ 27 w 27"/>
                  <a:gd name="T25" fmla="*/ 11 h 27"/>
                  <a:gd name="T26" fmla="*/ 23 w 27"/>
                  <a:gd name="T27" fmla="*/ 8 h 27"/>
                  <a:gd name="T28" fmla="*/ 23 w 27"/>
                  <a:gd name="T29" fmla="*/ 8 h 27"/>
                  <a:gd name="T30" fmla="*/ 23 w 27"/>
                  <a:gd name="T31" fmla="*/ 4 h 27"/>
                  <a:gd name="T32" fmla="*/ 19 w 27"/>
                  <a:gd name="T33" fmla="*/ 4 h 27"/>
                  <a:gd name="T34" fmla="*/ 19 w 27"/>
                  <a:gd name="T35" fmla="*/ 4 h 27"/>
                  <a:gd name="T36" fmla="*/ 19 w 27"/>
                  <a:gd name="T37" fmla="*/ 4 h 27"/>
                  <a:gd name="T38" fmla="*/ 15 w 27"/>
                  <a:gd name="T39" fmla="*/ 0 h 27"/>
                  <a:gd name="T40" fmla="*/ 15 w 27"/>
                  <a:gd name="T41" fmla="*/ 0 h 27"/>
                  <a:gd name="T42" fmla="*/ 11 w 27"/>
                  <a:gd name="T43" fmla="*/ 0 h 27"/>
                  <a:gd name="T44" fmla="*/ 11 w 27"/>
                  <a:gd name="T45" fmla="*/ 4 h 27"/>
                  <a:gd name="T46" fmla="*/ 8 w 27"/>
                  <a:gd name="T47" fmla="*/ 4 h 27"/>
                  <a:gd name="T48" fmla="*/ 8 w 27"/>
                  <a:gd name="T49" fmla="*/ 4 h 27"/>
                  <a:gd name="T50" fmla="*/ 4 w 27"/>
                  <a:gd name="T51" fmla="*/ 4 h 27"/>
                  <a:gd name="T52" fmla="*/ 4 w 27"/>
                  <a:gd name="T53" fmla="*/ 8 h 27"/>
                  <a:gd name="T54" fmla="*/ 4 w 27"/>
                  <a:gd name="T55" fmla="*/ 8 h 27"/>
                  <a:gd name="T56" fmla="*/ 4 w 27"/>
                  <a:gd name="T57" fmla="*/ 11 h 27"/>
                  <a:gd name="T58" fmla="*/ 4 w 27"/>
                  <a:gd name="T59" fmla="*/ 11 h 27"/>
                  <a:gd name="T60" fmla="*/ 0 w 27"/>
                  <a:gd name="T61" fmla="*/ 15 h 27"/>
                  <a:gd name="T62" fmla="*/ 4 w 27"/>
                  <a:gd name="T63" fmla="*/ 15 h 27"/>
                  <a:gd name="T64" fmla="*/ 4 w 27"/>
                  <a:gd name="T65" fmla="*/ 19 h 27"/>
                  <a:gd name="T66" fmla="*/ 4 w 27"/>
                  <a:gd name="T67" fmla="*/ 19 h 27"/>
                  <a:gd name="T68" fmla="*/ 4 w 27"/>
                  <a:gd name="T69" fmla="*/ 19 h 27"/>
                  <a:gd name="T70" fmla="*/ 4 w 27"/>
                  <a:gd name="T71" fmla="*/ 23 h 27"/>
                  <a:gd name="T72" fmla="*/ 8 w 27"/>
                  <a:gd name="T73" fmla="*/ 23 h 27"/>
                  <a:gd name="T74" fmla="*/ 8 w 27"/>
                  <a:gd name="T75" fmla="*/ 23 h 27"/>
                  <a:gd name="T76" fmla="*/ 11 w 27"/>
                  <a:gd name="T77" fmla="*/ 27 h 27"/>
                  <a:gd name="T78" fmla="*/ 11 w 27"/>
                  <a:gd name="T79" fmla="*/ 27 h 27"/>
                  <a:gd name="T80" fmla="*/ 15 w 27"/>
                  <a:gd name="T81" fmla="*/ 27 h 27"/>
                  <a:gd name="T82" fmla="*/ 15 w 27"/>
                  <a:gd name="T83" fmla="*/ 27 h 27"/>
                  <a:gd name="T84" fmla="*/ 11 w 27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7"/>
                  <a:gd name="T130" fmla="*/ 0 h 27"/>
                  <a:gd name="T131" fmla="*/ 27 w 27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7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7" y="19"/>
                    </a:lnTo>
                    <a:lnTo>
                      <a:pt x="27" y="15"/>
                    </a:lnTo>
                    <a:lnTo>
                      <a:pt x="27" y="11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11" y="4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4" y="11"/>
                    </a:lnTo>
                    <a:lnTo>
                      <a:pt x="0" y="15"/>
                    </a:lnTo>
                    <a:lnTo>
                      <a:pt x="4" y="15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11" y="27"/>
                    </a:lnTo>
                    <a:lnTo>
                      <a:pt x="15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07" name="Line 124"/>
              <p:cNvSpPr>
                <a:spLocks noChangeShapeType="1"/>
              </p:cNvSpPr>
              <p:nvPr/>
            </p:nvSpPr>
            <p:spPr bwMode="auto">
              <a:xfrm flipV="1">
                <a:off x="3498" y="3162"/>
                <a:ext cx="1" cy="378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08" name="Freeform 125"/>
              <p:cNvSpPr>
                <a:spLocks/>
              </p:cNvSpPr>
              <p:nvPr/>
            </p:nvSpPr>
            <p:spPr bwMode="auto">
              <a:xfrm>
                <a:off x="1020" y="3162"/>
                <a:ext cx="4193" cy="381"/>
              </a:xfrm>
              <a:custGeom>
                <a:avLst/>
                <a:gdLst>
                  <a:gd name="T0" fmla="*/ 0 w 4193"/>
                  <a:gd name="T1" fmla="*/ 378 h 381"/>
                  <a:gd name="T2" fmla="*/ 0 w 4193"/>
                  <a:gd name="T3" fmla="*/ 0 h 381"/>
                  <a:gd name="T4" fmla="*/ 4193 w 4193"/>
                  <a:gd name="T5" fmla="*/ 0 h 381"/>
                  <a:gd name="T6" fmla="*/ 4193 w 4193"/>
                  <a:gd name="T7" fmla="*/ 381 h 381"/>
                  <a:gd name="T8" fmla="*/ 0 w 4193"/>
                  <a:gd name="T9" fmla="*/ 381 h 381"/>
                  <a:gd name="T10" fmla="*/ 0 w 4193"/>
                  <a:gd name="T11" fmla="*/ 381 h 38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193"/>
                  <a:gd name="T19" fmla="*/ 0 h 381"/>
                  <a:gd name="T20" fmla="*/ 4193 w 4193"/>
                  <a:gd name="T21" fmla="*/ 381 h 38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193" h="381">
                    <a:moveTo>
                      <a:pt x="0" y="378"/>
                    </a:moveTo>
                    <a:lnTo>
                      <a:pt x="0" y="0"/>
                    </a:lnTo>
                    <a:lnTo>
                      <a:pt x="4193" y="0"/>
                    </a:lnTo>
                    <a:lnTo>
                      <a:pt x="4193" y="381"/>
                    </a:lnTo>
                    <a:lnTo>
                      <a:pt x="0" y="381"/>
                    </a:lnTo>
                  </a:path>
                </a:pathLst>
              </a:cu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09" name="Rectangle 126"/>
              <p:cNvSpPr>
                <a:spLocks noChangeArrowheads="1"/>
              </p:cNvSpPr>
              <p:nvPr/>
            </p:nvSpPr>
            <p:spPr bwMode="auto">
              <a:xfrm>
                <a:off x="3544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10" name="Rectangle 127"/>
              <p:cNvSpPr>
                <a:spLocks noChangeArrowheads="1"/>
              </p:cNvSpPr>
              <p:nvPr/>
            </p:nvSpPr>
            <p:spPr bwMode="auto">
              <a:xfrm>
                <a:off x="3616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11" name="Rectangle 128"/>
              <p:cNvSpPr>
                <a:spLocks noChangeArrowheads="1"/>
              </p:cNvSpPr>
              <p:nvPr/>
            </p:nvSpPr>
            <p:spPr bwMode="auto">
              <a:xfrm>
                <a:off x="3685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12" name="Rectangle 129"/>
              <p:cNvSpPr>
                <a:spLocks noChangeArrowheads="1"/>
              </p:cNvSpPr>
              <p:nvPr/>
            </p:nvSpPr>
            <p:spPr bwMode="auto">
              <a:xfrm>
                <a:off x="3719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13" name="Rectangle 130"/>
              <p:cNvSpPr>
                <a:spLocks noChangeArrowheads="1"/>
              </p:cNvSpPr>
              <p:nvPr/>
            </p:nvSpPr>
            <p:spPr bwMode="auto">
              <a:xfrm>
                <a:off x="3791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0</a:t>
                </a:r>
                <a:endParaRPr lang="en-US" altLang="en-US" b="1"/>
              </a:p>
            </p:txBody>
          </p:sp>
          <p:sp>
            <p:nvSpPr>
              <p:cNvPr id="23714" name="Rectangle 131"/>
              <p:cNvSpPr>
                <a:spLocks noChangeArrowheads="1"/>
              </p:cNvSpPr>
              <p:nvPr/>
            </p:nvSpPr>
            <p:spPr bwMode="auto">
              <a:xfrm>
                <a:off x="3864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15" name="Rectangle 132"/>
              <p:cNvSpPr>
                <a:spLocks noChangeArrowheads="1"/>
              </p:cNvSpPr>
              <p:nvPr/>
            </p:nvSpPr>
            <p:spPr bwMode="auto">
              <a:xfrm>
                <a:off x="3898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9</a:t>
                </a:r>
                <a:endParaRPr lang="en-US" altLang="en-US" b="1"/>
              </a:p>
            </p:txBody>
          </p:sp>
          <p:sp>
            <p:nvSpPr>
              <p:cNvPr id="23716" name="Rectangle 133"/>
              <p:cNvSpPr>
                <a:spLocks noChangeArrowheads="1"/>
              </p:cNvSpPr>
              <p:nvPr/>
            </p:nvSpPr>
            <p:spPr bwMode="auto">
              <a:xfrm>
                <a:off x="3967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17" name="Rectangle 134"/>
              <p:cNvSpPr>
                <a:spLocks noChangeArrowheads="1"/>
              </p:cNvSpPr>
              <p:nvPr/>
            </p:nvSpPr>
            <p:spPr bwMode="auto">
              <a:xfrm>
                <a:off x="4005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8</a:t>
                </a:r>
                <a:endParaRPr lang="en-US" altLang="en-US" b="1"/>
              </a:p>
            </p:txBody>
          </p:sp>
          <p:sp>
            <p:nvSpPr>
              <p:cNvPr id="23718" name="Rectangle 135"/>
              <p:cNvSpPr>
                <a:spLocks noChangeArrowheads="1"/>
              </p:cNvSpPr>
              <p:nvPr/>
            </p:nvSpPr>
            <p:spPr bwMode="auto">
              <a:xfrm>
                <a:off x="2724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19" name="Rectangle 136"/>
              <p:cNvSpPr>
                <a:spLocks noChangeArrowheads="1"/>
              </p:cNvSpPr>
              <p:nvPr/>
            </p:nvSpPr>
            <p:spPr bwMode="auto">
              <a:xfrm>
                <a:off x="2797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5</a:t>
                </a:r>
                <a:endParaRPr lang="en-US" altLang="en-US" b="1"/>
              </a:p>
            </p:txBody>
          </p:sp>
          <p:sp>
            <p:nvSpPr>
              <p:cNvPr id="23720" name="Rectangle 137"/>
              <p:cNvSpPr>
                <a:spLocks noChangeArrowheads="1"/>
              </p:cNvSpPr>
              <p:nvPr/>
            </p:nvSpPr>
            <p:spPr bwMode="auto">
              <a:xfrm>
                <a:off x="2865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21" name="Rectangle 138"/>
              <p:cNvSpPr>
                <a:spLocks noChangeArrowheads="1"/>
              </p:cNvSpPr>
              <p:nvPr/>
            </p:nvSpPr>
            <p:spPr bwMode="auto">
              <a:xfrm>
                <a:off x="2903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22" name="Rectangle 139"/>
              <p:cNvSpPr>
                <a:spLocks noChangeArrowheads="1"/>
              </p:cNvSpPr>
              <p:nvPr/>
            </p:nvSpPr>
            <p:spPr bwMode="auto">
              <a:xfrm>
                <a:off x="2972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4</a:t>
                </a:r>
                <a:endParaRPr lang="en-US" altLang="en-US" b="1"/>
              </a:p>
            </p:txBody>
          </p:sp>
          <p:sp>
            <p:nvSpPr>
              <p:cNvPr id="23723" name="Rectangle 140"/>
              <p:cNvSpPr>
                <a:spLocks noChangeArrowheads="1"/>
              </p:cNvSpPr>
              <p:nvPr/>
            </p:nvSpPr>
            <p:spPr bwMode="auto">
              <a:xfrm>
                <a:off x="3044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24" name="Rectangle 141"/>
              <p:cNvSpPr>
                <a:spLocks noChangeArrowheads="1"/>
              </p:cNvSpPr>
              <p:nvPr/>
            </p:nvSpPr>
            <p:spPr bwMode="auto">
              <a:xfrm>
                <a:off x="3079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25" name="Rectangle 142"/>
              <p:cNvSpPr>
                <a:spLocks noChangeArrowheads="1"/>
              </p:cNvSpPr>
              <p:nvPr/>
            </p:nvSpPr>
            <p:spPr bwMode="auto">
              <a:xfrm>
                <a:off x="3147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  <p:sp>
            <p:nvSpPr>
              <p:cNvPr id="23726" name="Rectangle 143"/>
              <p:cNvSpPr>
                <a:spLocks noChangeArrowheads="1"/>
              </p:cNvSpPr>
              <p:nvPr/>
            </p:nvSpPr>
            <p:spPr bwMode="auto">
              <a:xfrm>
                <a:off x="3220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27" name="Rectangle 144"/>
              <p:cNvSpPr>
                <a:spLocks noChangeArrowheads="1"/>
              </p:cNvSpPr>
              <p:nvPr/>
            </p:nvSpPr>
            <p:spPr bwMode="auto">
              <a:xfrm>
                <a:off x="3254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23728" name="Rectangle 145"/>
              <p:cNvSpPr>
                <a:spLocks noChangeArrowheads="1"/>
              </p:cNvSpPr>
              <p:nvPr/>
            </p:nvSpPr>
            <p:spPr bwMode="auto">
              <a:xfrm>
                <a:off x="3326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729" name="Rectangle 146"/>
              <p:cNvSpPr>
                <a:spLocks noChangeArrowheads="1"/>
              </p:cNvSpPr>
              <p:nvPr/>
            </p:nvSpPr>
            <p:spPr bwMode="auto">
              <a:xfrm>
                <a:off x="1051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730" name="Rectangle 147"/>
              <p:cNvSpPr>
                <a:spLocks noChangeArrowheads="1"/>
              </p:cNvSpPr>
              <p:nvPr/>
            </p:nvSpPr>
            <p:spPr bwMode="auto">
              <a:xfrm>
                <a:off x="1123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9</a:t>
                </a:r>
                <a:endParaRPr lang="en-US" altLang="en-US" b="1"/>
              </a:p>
            </p:txBody>
          </p:sp>
          <p:sp>
            <p:nvSpPr>
              <p:cNvPr id="23731" name="Rectangle 148"/>
              <p:cNvSpPr>
                <a:spLocks noChangeArrowheads="1"/>
              </p:cNvSpPr>
              <p:nvPr/>
            </p:nvSpPr>
            <p:spPr bwMode="auto">
              <a:xfrm>
                <a:off x="1192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32" name="Rectangle 149"/>
              <p:cNvSpPr>
                <a:spLocks noChangeArrowheads="1"/>
              </p:cNvSpPr>
              <p:nvPr/>
            </p:nvSpPr>
            <p:spPr bwMode="auto">
              <a:xfrm>
                <a:off x="1226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733" name="Rectangle 150"/>
              <p:cNvSpPr>
                <a:spLocks noChangeArrowheads="1"/>
              </p:cNvSpPr>
              <p:nvPr/>
            </p:nvSpPr>
            <p:spPr bwMode="auto">
              <a:xfrm>
                <a:off x="1299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8</a:t>
                </a:r>
                <a:endParaRPr lang="en-US" altLang="en-US" b="1"/>
              </a:p>
            </p:txBody>
          </p:sp>
          <p:sp>
            <p:nvSpPr>
              <p:cNvPr id="23734" name="Rectangle 151"/>
              <p:cNvSpPr>
                <a:spLocks noChangeArrowheads="1"/>
              </p:cNvSpPr>
              <p:nvPr/>
            </p:nvSpPr>
            <p:spPr bwMode="auto">
              <a:xfrm>
                <a:off x="1367" y="2945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35" name="Rectangle 152"/>
              <p:cNvSpPr>
                <a:spLocks noChangeArrowheads="1"/>
              </p:cNvSpPr>
              <p:nvPr/>
            </p:nvSpPr>
            <p:spPr bwMode="auto">
              <a:xfrm>
                <a:off x="1405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23736" name="Rectangle 153"/>
              <p:cNvSpPr>
                <a:spLocks noChangeArrowheads="1"/>
              </p:cNvSpPr>
              <p:nvPr/>
            </p:nvSpPr>
            <p:spPr bwMode="auto">
              <a:xfrm>
                <a:off x="1474" y="29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7</a:t>
                </a:r>
                <a:endParaRPr lang="en-US" altLang="en-US" b="1"/>
              </a:p>
            </p:txBody>
          </p:sp>
          <p:sp>
            <p:nvSpPr>
              <p:cNvPr id="23737" name="Freeform 154"/>
              <p:cNvSpPr>
                <a:spLocks/>
              </p:cNvSpPr>
              <p:nvPr/>
            </p:nvSpPr>
            <p:spPr bwMode="auto">
              <a:xfrm>
                <a:off x="4310" y="3040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7 w 23"/>
                  <a:gd name="T43" fmla="*/ 0 h 27"/>
                  <a:gd name="T44" fmla="*/ 7 w 23"/>
                  <a:gd name="T45" fmla="*/ 4 h 27"/>
                  <a:gd name="T46" fmla="*/ 7 w 23"/>
                  <a:gd name="T47" fmla="*/ 4 h 27"/>
                  <a:gd name="T48" fmla="*/ 3 w 23"/>
                  <a:gd name="T49" fmla="*/ 4 h 27"/>
                  <a:gd name="T50" fmla="*/ 3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3 w 23"/>
                  <a:gd name="T71" fmla="*/ 23 h 27"/>
                  <a:gd name="T72" fmla="*/ 3 w 23"/>
                  <a:gd name="T73" fmla="*/ 23 h 27"/>
                  <a:gd name="T74" fmla="*/ 7 w 23"/>
                  <a:gd name="T75" fmla="*/ 23 h 27"/>
                  <a:gd name="T76" fmla="*/ 7 w 23"/>
                  <a:gd name="T77" fmla="*/ 27 h 27"/>
                  <a:gd name="T78" fmla="*/ 7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3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38" name="Freeform 155"/>
              <p:cNvSpPr>
                <a:spLocks/>
              </p:cNvSpPr>
              <p:nvPr/>
            </p:nvSpPr>
            <p:spPr bwMode="auto">
              <a:xfrm>
                <a:off x="4390" y="3040"/>
                <a:ext cx="23" cy="27"/>
              </a:xfrm>
              <a:custGeom>
                <a:avLst/>
                <a:gdLst>
                  <a:gd name="T0" fmla="*/ 7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7 w 23"/>
                  <a:gd name="T43" fmla="*/ 0 h 27"/>
                  <a:gd name="T44" fmla="*/ 7 w 23"/>
                  <a:gd name="T45" fmla="*/ 4 h 27"/>
                  <a:gd name="T46" fmla="*/ 3 w 23"/>
                  <a:gd name="T47" fmla="*/ 4 h 27"/>
                  <a:gd name="T48" fmla="*/ 3 w 23"/>
                  <a:gd name="T49" fmla="*/ 4 h 27"/>
                  <a:gd name="T50" fmla="*/ 3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3 w 23"/>
                  <a:gd name="T71" fmla="*/ 23 h 27"/>
                  <a:gd name="T72" fmla="*/ 3 w 23"/>
                  <a:gd name="T73" fmla="*/ 23 h 27"/>
                  <a:gd name="T74" fmla="*/ 3 w 23"/>
                  <a:gd name="T75" fmla="*/ 23 h 27"/>
                  <a:gd name="T76" fmla="*/ 7 w 23"/>
                  <a:gd name="T77" fmla="*/ 27 h 27"/>
                  <a:gd name="T78" fmla="*/ 7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7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7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3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7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39" name="Freeform 156"/>
              <p:cNvSpPr>
                <a:spLocks/>
              </p:cNvSpPr>
              <p:nvPr/>
            </p:nvSpPr>
            <p:spPr bwMode="auto">
              <a:xfrm>
                <a:off x="4230" y="3040"/>
                <a:ext cx="22" cy="27"/>
              </a:xfrm>
              <a:custGeom>
                <a:avLst/>
                <a:gdLst>
                  <a:gd name="T0" fmla="*/ 11 w 22"/>
                  <a:gd name="T1" fmla="*/ 23 h 27"/>
                  <a:gd name="T2" fmla="*/ 15 w 22"/>
                  <a:gd name="T3" fmla="*/ 27 h 27"/>
                  <a:gd name="T4" fmla="*/ 15 w 22"/>
                  <a:gd name="T5" fmla="*/ 27 h 27"/>
                  <a:gd name="T6" fmla="*/ 19 w 22"/>
                  <a:gd name="T7" fmla="*/ 23 h 27"/>
                  <a:gd name="T8" fmla="*/ 19 w 22"/>
                  <a:gd name="T9" fmla="*/ 23 h 27"/>
                  <a:gd name="T10" fmla="*/ 19 w 22"/>
                  <a:gd name="T11" fmla="*/ 23 h 27"/>
                  <a:gd name="T12" fmla="*/ 22 w 22"/>
                  <a:gd name="T13" fmla="*/ 19 h 27"/>
                  <a:gd name="T14" fmla="*/ 22 w 22"/>
                  <a:gd name="T15" fmla="*/ 19 h 27"/>
                  <a:gd name="T16" fmla="*/ 22 w 22"/>
                  <a:gd name="T17" fmla="*/ 19 h 27"/>
                  <a:gd name="T18" fmla="*/ 22 w 22"/>
                  <a:gd name="T19" fmla="*/ 15 h 27"/>
                  <a:gd name="T20" fmla="*/ 22 w 22"/>
                  <a:gd name="T21" fmla="*/ 15 h 27"/>
                  <a:gd name="T22" fmla="*/ 22 w 22"/>
                  <a:gd name="T23" fmla="*/ 11 h 27"/>
                  <a:gd name="T24" fmla="*/ 22 w 22"/>
                  <a:gd name="T25" fmla="*/ 11 h 27"/>
                  <a:gd name="T26" fmla="*/ 22 w 22"/>
                  <a:gd name="T27" fmla="*/ 8 h 27"/>
                  <a:gd name="T28" fmla="*/ 22 w 22"/>
                  <a:gd name="T29" fmla="*/ 8 h 27"/>
                  <a:gd name="T30" fmla="*/ 19 w 22"/>
                  <a:gd name="T31" fmla="*/ 4 h 27"/>
                  <a:gd name="T32" fmla="*/ 19 w 22"/>
                  <a:gd name="T33" fmla="*/ 4 h 27"/>
                  <a:gd name="T34" fmla="*/ 19 w 22"/>
                  <a:gd name="T35" fmla="*/ 4 h 27"/>
                  <a:gd name="T36" fmla="*/ 15 w 22"/>
                  <a:gd name="T37" fmla="*/ 4 h 27"/>
                  <a:gd name="T38" fmla="*/ 15 w 22"/>
                  <a:gd name="T39" fmla="*/ 0 h 27"/>
                  <a:gd name="T40" fmla="*/ 11 w 22"/>
                  <a:gd name="T41" fmla="*/ 0 h 27"/>
                  <a:gd name="T42" fmla="*/ 11 w 22"/>
                  <a:gd name="T43" fmla="*/ 0 h 27"/>
                  <a:gd name="T44" fmla="*/ 7 w 22"/>
                  <a:gd name="T45" fmla="*/ 4 h 27"/>
                  <a:gd name="T46" fmla="*/ 7 w 22"/>
                  <a:gd name="T47" fmla="*/ 4 h 27"/>
                  <a:gd name="T48" fmla="*/ 3 w 22"/>
                  <a:gd name="T49" fmla="*/ 4 h 27"/>
                  <a:gd name="T50" fmla="*/ 3 w 22"/>
                  <a:gd name="T51" fmla="*/ 4 h 27"/>
                  <a:gd name="T52" fmla="*/ 3 w 22"/>
                  <a:gd name="T53" fmla="*/ 8 h 27"/>
                  <a:gd name="T54" fmla="*/ 0 w 22"/>
                  <a:gd name="T55" fmla="*/ 8 h 27"/>
                  <a:gd name="T56" fmla="*/ 0 w 22"/>
                  <a:gd name="T57" fmla="*/ 11 h 27"/>
                  <a:gd name="T58" fmla="*/ 0 w 22"/>
                  <a:gd name="T59" fmla="*/ 11 h 27"/>
                  <a:gd name="T60" fmla="*/ 0 w 22"/>
                  <a:gd name="T61" fmla="*/ 15 h 27"/>
                  <a:gd name="T62" fmla="*/ 0 w 22"/>
                  <a:gd name="T63" fmla="*/ 15 h 27"/>
                  <a:gd name="T64" fmla="*/ 0 w 22"/>
                  <a:gd name="T65" fmla="*/ 19 h 27"/>
                  <a:gd name="T66" fmla="*/ 0 w 22"/>
                  <a:gd name="T67" fmla="*/ 19 h 27"/>
                  <a:gd name="T68" fmla="*/ 3 w 22"/>
                  <a:gd name="T69" fmla="*/ 19 h 27"/>
                  <a:gd name="T70" fmla="*/ 3 w 22"/>
                  <a:gd name="T71" fmla="*/ 23 h 27"/>
                  <a:gd name="T72" fmla="*/ 3 w 22"/>
                  <a:gd name="T73" fmla="*/ 23 h 27"/>
                  <a:gd name="T74" fmla="*/ 7 w 22"/>
                  <a:gd name="T75" fmla="*/ 23 h 27"/>
                  <a:gd name="T76" fmla="*/ 7 w 22"/>
                  <a:gd name="T77" fmla="*/ 27 h 27"/>
                  <a:gd name="T78" fmla="*/ 11 w 22"/>
                  <a:gd name="T79" fmla="*/ 27 h 27"/>
                  <a:gd name="T80" fmla="*/ 11 w 22"/>
                  <a:gd name="T81" fmla="*/ 27 h 27"/>
                  <a:gd name="T82" fmla="*/ 11 w 22"/>
                  <a:gd name="T83" fmla="*/ 27 h 27"/>
                  <a:gd name="T84" fmla="*/ 11 w 22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"/>
                  <a:gd name="T130" fmla="*/ 0 h 27"/>
                  <a:gd name="T131" fmla="*/ 22 w 22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2" y="19"/>
                    </a:lnTo>
                    <a:lnTo>
                      <a:pt x="22" y="15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3" y="8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3" y="19"/>
                    </a:lnTo>
                    <a:lnTo>
                      <a:pt x="3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0" name="Freeform 157"/>
              <p:cNvSpPr>
                <a:spLocks/>
              </p:cNvSpPr>
              <p:nvPr/>
            </p:nvSpPr>
            <p:spPr bwMode="auto">
              <a:xfrm>
                <a:off x="2023" y="3040"/>
                <a:ext cx="26" cy="27"/>
              </a:xfrm>
              <a:custGeom>
                <a:avLst/>
                <a:gdLst>
                  <a:gd name="T0" fmla="*/ 11 w 26"/>
                  <a:gd name="T1" fmla="*/ 23 h 27"/>
                  <a:gd name="T2" fmla="*/ 15 w 26"/>
                  <a:gd name="T3" fmla="*/ 27 h 27"/>
                  <a:gd name="T4" fmla="*/ 15 w 26"/>
                  <a:gd name="T5" fmla="*/ 27 h 27"/>
                  <a:gd name="T6" fmla="*/ 19 w 26"/>
                  <a:gd name="T7" fmla="*/ 23 h 27"/>
                  <a:gd name="T8" fmla="*/ 19 w 26"/>
                  <a:gd name="T9" fmla="*/ 23 h 27"/>
                  <a:gd name="T10" fmla="*/ 23 w 26"/>
                  <a:gd name="T11" fmla="*/ 23 h 27"/>
                  <a:gd name="T12" fmla="*/ 23 w 26"/>
                  <a:gd name="T13" fmla="*/ 19 h 27"/>
                  <a:gd name="T14" fmla="*/ 23 w 26"/>
                  <a:gd name="T15" fmla="*/ 19 h 27"/>
                  <a:gd name="T16" fmla="*/ 23 w 26"/>
                  <a:gd name="T17" fmla="*/ 19 h 27"/>
                  <a:gd name="T18" fmla="*/ 26 w 26"/>
                  <a:gd name="T19" fmla="*/ 15 h 27"/>
                  <a:gd name="T20" fmla="*/ 26 w 26"/>
                  <a:gd name="T21" fmla="*/ 15 h 27"/>
                  <a:gd name="T22" fmla="*/ 26 w 26"/>
                  <a:gd name="T23" fmla="*/ 11 h 27"/>
                  <a:gd name="T24" fmla="*/ 23 w 26"/>
                  <a:gd name="T25" fmla="*/ 11 h 27"/>
                  <a:gd name="T26" fmla="*/ 23 w 26"/>
                  <a:gd name="T27" fmla="*/ 8 h 27"/>
                  <a:gd name="T28" fmla="*/ 23 w 26"/>
                  <a:gd name="T29" fmla="*/ 8 h 27"/>
                  <a:gd name="T30" fmla="*/ 23 w 26"/>
                  <a:gd name="T31" fmla="*/ 4 h 27"/>
                  <a:gd name="T32" fmla="*/ 19 w 26"/>
                  <a:gd name="T33" fmla="*/ 4 h 27"/>
                  <a:gd name="T34" fmla="*/ 19 w 26"/>
                  <a:gd name="T35" fmla="*/ 4 h 27"/>
                  <a:gd name="T36" fmla="*/ 15 w 26"/>
                  <a:gd name="T37" fmla="*/ 4 h 27"/>
                  <a:gd name="T38" fmla="*/ 15 w 26"/>
                  <a:gd name="T39" fmla="*/ 0 h 27"/>
                  <a:gd name="T40" fmla="*/ 11 w 26"/>
                  <a:gd name="T41" fmla="*/ 0 h 27"/>
                  <a:gd name="T42" fmla="*/ 11 w 26"/>
                  <a:gd name="T43" fmla="*/ 0 h 27"/>
                  <a:gd name="T44" fmla="*/ 7 w 26"/>
                  <a:gd name="T45" fmla="*/ 4 h 27"/>
                  <a:gd name="T46" fmla="*/ 7 w 26"/>
                  <a:gd name="T47" fmla="*/ 4 h 27"/>
                  <a:gd name="T48" fmla="*/ 7 w 26"/>
                  <a:gd name="T49" fmla="*/ 4 h 27"/>
                  <a:gd name="T50" fmla="*/ 4 w 26"/>
                  <a:gd name="T51" fmla="*/ 4 h 27"/>
                  <a:gd name="T52" fmla="*/ 4 w 26"/>
                  <a:gd name="T53" fmla="*/ 8 h 27"/>
                  <a:gd name="T54" fmla="*/ 4 w 26"/>
                  <a:gd name="T55" fmla="*/ 8 h 27"/>
                  <a:gd name="T56" fmla="*/ 4 w 26"/>
                  <a:gd name="T57" fmla="*/ 11 h 27"/>
                  <a:gd name="T58" fmla="*/ 0 w 26"/>
                  <a:gd name="T59" fmla="*/ 11 h 27"/>
                  <a:gd name="T60" fmla="*/ 0 w 26"/>
                  <a:gd name="T61" fmla="*/ 15 h 27"/>
                  <a:gd name="T62" fmla="*/ 0 w 26"/>
                  <a:gd name="T63" fmla="*/ 15 h 27"/>
                  <a:gd name="T64" fmla="*/ 4 w 26"/>
                  <a:gd name="T65" fmla="*/ 19 h 27"/>
                  <a:gd name="T66" fmla="*/ 4 w 26"/>
                  <a:gd name="T67" fmla="*/ 19 h 27"/>
                  <a:gd name="T68" fmla="*/ 4 w 26"/>
                  <a:gd name="T69" fmla="*/ 19 h 27"/>
                  <a:gd name="T70" fmla="*/ 4 w 26"/>
                  <a:gd name="T71" fmla="*/ 23 h 27"/>
                  <a:gd name="T72" fmla="*/ 7 w 26"/>
                  <a:gd name="T73" fmla="*/ 23 h 27"/>
                  <a:gd name="T74" fmla="*/ 7 w 26"/>
                  <a:gd name="T75" fmla="*/ 23 h 27"/>
                  <a:gd name="T76" fmla="*/ 7 w 26"/>
                  <a:gd name="T77" fmla="*/ 27 h 27"/>
                  <a:gd name="T78" fmla="*/ 11 w 26"/>
                  <a:gd name="T79" fmla="*/ 27 h 27"/>
                  <a:gd name="T80" fmla="*/ 11 w 26"/>
                  <a:gd name="T81" fmla="*/ 27 h 27"/>
                  <a:gd name="T82" fmla="*/ 11 w 26"/>
                  <a:gd name="T83" fmla="*/ 27 h 27"/>
                  <a:gd name="T84" fmla="*/ 11 w 26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6"/>
                  <a:gd name="T130" fmla="*/ 0 h 27"/>
                  <a:gd name="T131" fmla="*/ 26 w 26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6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6" y="15"/>
                    </a:lnTo>
                    <a:lnTo>
                      <a:pt x="26" y="11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4" y="11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1" name="Freeform 158"/>
              <p:cNvSpPr>
                <a:spLocks/>
              </p:cNvSpPr>
              <p:nvPr/>
            </p:nvSpPr>
            <p:spPr bwMode="auto">
              <a:xfrm>
                <a:off x="2103" y="3040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5 w 23"/>
                  <a:gd name="T3" fmla="*/ 27 h 27"/>
                  <a:gd name="T4" fmla="*/ 15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23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23 w 23"/>
                  <a:gd name="T29" fmla="*/ 8 h 27"/>
                  <a:gd name="T30" fmla="*/ 23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5 w 23"/>
                  <a:gd name="T37" fmla="*/ 4 h 27"/>
                  <a:gd name="T38" fmla="*/ 15 w 23"/>
                  <a:gd name="T39" fmla="*/ 0 h 27"/>
                  <a:gd name="T40" fmla="*/ 11 w 23"/>
                  <a:gd name="T41" fmla="*/ 0 h 27"/>
                  <a:gd name="T42" fmla="*/ 11 w 23"/>
                  <a:gd name="T43" fmla="*/ 0 h 27"/>
                  <a:gd name="T44" fmla="*/ 7 w 23"/>
                  <a:gd name="T45" fmla="*/ 4 h 27"/>
                  <a:gd name="T46" fmla="*/ 7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4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4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7 w 23"/>
                  <a:gd name="T75" fmla="*/ 23 h 27"/>
                  <a:gd name="T76" fmla="*/ 7 w 23"/>
                  <a:gd name="T77" fmla="*/ 27 h 27"/>
                  <a:gd name="T78" fmla="*/ 11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2" name="Freeform 159"/>
              <p:cNvSpPr>
                <a:spLocks/>
              </p:cNvSpPr>
              <p:nvPr/>
            </p:nvSpPr>
            <p:spPr bwMode="auto">
              <a:xfrm>
                <a:off x="1947" y="3040"/>
                <a:ext cx="22" cy="27"/>
              </a:xfrm>
              <a:custGeom>
                <a:avLst/>
                <a:gdLst>
                  <a:gd name="T0" fmla="*/ 7 w 22"/>
                  <a:gd name="T1" fmla="*/ 23 h 27"/>
                  <a:gd name="T2" fmla="*/ 11 w 22"/>
                  <a:gd name="T3" fmla="*/ 27 h 27"/>
                  <a:gd name="T4" fmla="*/ 15 w 22"/>
                  <a:gd name="T5" fmla="*/ 27 h 27"/>
                  <a:gd name="T6" fmla="*/ 15 w 22"/>
                  <a:gd name="T7" fmla="*/ 23 h 27"/>
                  <a:gd name="T8" fmla="*/ 15 w 22"/>
                  <a:gd name="T9" fmla="*/ 23 h 27"/>
                  <a:gd name="T10" fmla="*/ 19 w 22"/>
                  <a:gd name="T11" fmla="*/ 23 h 27"/>
                  <a:gd name="T12" fmla="*/ 19 w 22"/>
                  <a:gd name="T13" fmla="*/ 19 h 27"/>
                  <a:gd name="T14" fmla="*/ 19 w 22"/>
                  <a:gd name="T15" fmla="*/ 19 h 27"/>
                  <a:gd name="T16" fmla="*/ 22 w 22"/>
                  <a:gd name="T17" fmla="*/ 19 h 27"/>
                  <a:gd name="T18" fmla="*/ 22 w 22"/>
                  <a:gd name="T19" fmla="*/ 15 h 27"/>
                  <a:gd name="T20" fmla="*/ 22 w 22"/>
                  <a:gd name="T21" fmla="*/ 15 h 27"/>
                  <a:gd name="T22" fmla="*/ 22 w 22"/>
                  <a:gd name="T23" fmla="*/ 11 h 27"/>
                  <a:gd name="T24" fmla="*/ 22 w 22"/>
                  <a:gd name="T25" fmla="*/ 11 h 27"/>
                  <a:gd name="T26" fmla="*/ 19 w 22"/>
                  <a:gd name="T27" fmla="*/ 8 h 27"/>
                  <a:gd name="T28" fmla="*/ 19 w 22"/>
                  <a:gd name="T29" fmla="*/ 8 h 27"/>
                  <a:gd name="T30" fmla="*/ 19 w 22"/>
                  <a:gd name="T31" fmla="*/ 4 h 27"/>
                  <a:gd name="T32" fmla="*/ 15 w 22"/>
                  <a:gd name="T33" fmla="*/ 4 h 27"/>
                  <a:gd name="T34" fmla="*/ 15 w 22"/>
                  <a:gd name="T35" fmla="*/ 4 h 27"/>
                  <a:gd name="T36" fmla="*/ 15 w 22"/>
                  <a:gd name="T37" fmla="*/ 4 h 27"/>
                  <a:gd name="T38" fmla="*/ 11 w 22"/>
                  <a:gd name="T39" fmla="*/ 0 h 27"/>
                  <a:gd name="T40" fmla="*/ 11 w 22"/>
                  <a:gd name="T41" fmla="*/ 0 h 27"/>
                  <a:gd name="T42" fmla="*/ 7 w 22"/>
                  <a:gd name="T43" fmla="*/ 0 h 27"/>
                  <a:gd name="T44" fmla="*/ 7 w 22"/>
                  <a:gd name="T45" fmla="*/ 4 h 27"/>
                  <a:gd name="T46" fmla="*/ 3 w 22"/>
                  <a:gd name="T47" fmla="*/ 4 h 27"/>
                  <a:gd name="T48" fmla="*/ 3 w 22"/>
                  <a:gd name="T49" fmla="*/ 4 h 27"/>
                  <a:gd name="T50" fmla="*/ 0 w 22"/>
                  <a:gd name="T51" fmla="*/ 4 h 27"/>
                  <a:gd name="T52" fmla="*/ 0 w 22"/>
                  <a:gd name="T53" fmla="*/ 8 h 27"/>
                  <a:gd name="T54" fmla="*/ 0 w 22"/>
                  <a:gd name="T55" fmla="*/ 8 h 27"/>
                  <a:gd name="T56" fmla="*/ 0 w 22"/>
                  <a:gd name="T57" fmla="*/ 11 h 27"/>
                  <a:gd name="T58" fmla="*/ 0 w 22"/>
                  <a:gd name="T59" fmla="*/ 11 h 27"/>
                  <a:gd name="T60" fmla="*/ 0 w 22"/>
                  <a:gd name="T61" fmla="*/ 15 h 27"/>
                  <a:gd name="T62" fmla="*/ 0 w 22"/>
                  <a:gd name="T63" fmla="*/ 15 h 27"/>
                  <a:gd name="T64" fmla="*/ 0 w 22"/>
                  <a:gd name="T65" fmla="*/ 19 h 27"/>
                  <a:gd name="T66" fmla="*/ 0 w 22"/>
                  <a:gd name="T67" fmla="*/ 19 h 27"/>
                  <a:gd name="T68" fmla="*/ 0 w 22"/>
                  <a:gd name="T69" fmla="*/ 19 h 27"/>
                  <a:gd name="T70" fmla="*/ 0 w 22"/>
                  <a:gd name="T71" fmla="*/ 23 h 27"/>
                  <a:gd name="T72" fmla="*/ 3 w 22"/>
                  <a:gd name="T73" fmla="*/ 23 h 27"/>
                  <a:gd name="T74" fmla="*/ 3 w 22"/>
                  <a:gd name="T75" fmla="*/ 23 h 27"/>
                  <a:gd name="T76" fmla="*/ 7 w 22"/>
                  <a:gd name="T77" fmla="*/ 27 h 27"/>
                  <a:gd name="T78" fmla="*/ 7 w 22"/>
                  <a:gd name="T79" fmla="*/ 27 h 27"/>
                  <a:gd name="T80" fmla="*/ 11 w 22"/>
                  <a:gd name="T81" fmla="*/ 27 h 27"/>
                  <a:gd name="T82" fmla="*/ 11 w 22"/>
                  <a:gd name="T83" fmla="*/ 27 h 27"/>
                  <a:gd name="T84" fmla="*/ 7 w 22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"/>
                  <a:gd name="T130" fmla="*/ 0 h 27"/>
                  <a:gd name="T131" fmla="*/ 22 w 22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" h="27">
                    <a:moveTo>
                      <a:pt x="7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2" y="19"/>
                    </a:lnTo>
                    <a:lnTo>
                      <a:pt x="22" y="15"/>
                    </a:lnTo>
                    <a:lnTo>
                      <a:pt x="22" y="11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3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7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3" name="Freeform 160"/>
              <p:cNvSpPr>
                <a:spLocks/>
              </p:cNvSpPr>
              <p:nvPr/>
            </p:nvSpPr>
            <p:spPr bwMode="auto">
              <a:xfrm>
                <a:off x="1786" y="3040"/>
                <a:ext cx="23" cy="27"/>
              </a:xfrm>
              <a:custGeom>
                <a:avLst/>
                <a:gdLst>
                  <a:gd name="T0" fmla="*/ 12 w 23"/>
                  <a:gd name="T1" fmla="*/ 23 h 27"/>
                  <a:gd name="T2" fmla="*/ 12 w 23"/>
                  <a:gd name="T3" fmla="*/ 27 h 27"/>
                  <a:gd name="T4" fmla="*/ 16 w 23"/>
                  <a:gd name="T5" fmla="*/ 27 h 27"/>
                  <a:gd name="T6" fmla="*/ 16 w 23"/>
                  <a:gd name="T7" fmla="*/ 23 h 27"/>
                  <a:gd name="T8" fmla="*/ 20 w 23"/>
                  <a:gd name="T9" fmla="*/ 23 h 27"/>
                  <a:gd name="T10" fmla="*/ 20 w 23"/>
                  <a:gd name="T11" fmla="*/ 23 h 27"/>
                  <a:gd name="T12" fmla="*/ 20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20 w 23"/>
                  <a:gd name="T29" fmla="*/ 8 h 27"/>
                  <a:gd name="T30" fmla="*/ 20 w 23"/>
                  <a:gd name="T31" fmla="*/ 4 h 27"/>
                  <a:gd name="T32" fmla="*/ 20 w 23"/>
                  <a:gd name="T33" fmla="*/ 4 h 27"/>
                  <a:gd name="T34" fmla="*/ 16 w 23"/>
                  <a:gd name="T35" fmla="*/ 4 h 27"/>
                  <a:gd name="T36" fmla="*/ 16 w 23"/>
                  <a:gd name="T37" fmla="*/ 4 h 27"/>
                  <a:gd name="T38" fmla="*/ 12 w 23"/>
                  <a:gd name="T39" fmla="*/ 0 h 27"/>
                  <a:gd name="T40" fmla="*/ 12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2 w 23"/>
                  <a:gd name="T81" fmla="*/ 27 h 27"/>
                  <a:gd name="T82" fmla="*/ 12 w 23"/>
                  <a:gd name="T83" fmla="*/ 27 h 27"/>
                  <a:gd name="T84" fmla="*/ 12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2" y="23"/>
                    </a:moveTo>
                    <a:lnTo>
                      <a:pt x="12" y="27"/>
                    </a:lnTo>
                    <a:lnTo>
                      <a:pt x="16" y="27"/>
                    </a:lnTo>
                    <a:lnTo>
                      <a:pt x="16" y="23"/>
                    </a:lnTo>
                    <a:lnTo>
                      <a:pt x="20" y="23"/>
                    </a:lnTo>
                    <a:lnTo>
                      <a:pt x="20" y="19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20" y="8"/>
                    </a:lnTo>
                    <a:lnTo>
                      <a:pt x="20" y="4"/>
                    </a:lnTo>
                    <a:lnTo>
                      <a:pt x="16" y="4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4" name="Freeform 161"/>
              <p:cNvSpPr>
                <a:spLocks/>
              </p:cNvSpPr>
              <p:nvPr/>
            </p:nvSpPr>
            <p:spPr bwMode="auto">
              <a:xfrm>
                <a:off x="1867" y="3040"/>
                <a:ext cx="22" cy="27"/>
              </a:xfrm>
              <a:custGeom>
                <a:avLst/>
                <a:gdLst>
                  <a:gd name="T0" fmla="*/ 7 w 22"/>
                  <a:gd name="T1" fmla="*/ 23 h 27"/>
                  <a:gd name="T2" fmla="*/ 11 w 22"/>
                  <a:gd name="T3" fmla="*/ 27 h 27"/>
                  <a:gd name="T4" fmla="*/ 15 w 22"/>
                  <a:gd name="T5" fmla="*/ 27 h 27"/>
                  <a:gd name="T6" fmla="*/ 15 w 22"/>
                  <a:gd name="T7" fmla="*/ 23 h 27"/>
                  <a:gd name="T8" fmla="*/ 19 w 22"/>
                  <a:gd name="T9" fmla="*/ 23 h 27"/>
                  <a:gd name="T10" fmla="*/ 19 w 22"/>
                  <a:gd name="T11" fmla="*/ 23 h 27"/>
                  <a:gd name="T12" fmla="*/ 19 w 22"/>
                  <a:gd name="T13" fmla="*/ 19 h 27"/>
                  <a:gd name="T14" fmla="*/ 22 w 22"/>
                  <a:gd name="T15" fmla="*/ 19 h 27"/>
                  <a:gd name="T16" fmla="*/ 22 w 22"/>
                  <a:gd name="T17" fmla="*/ 19 h 27"/>
                  <a:gd name="T18" fmla="*/ 22 w 22"/>
                  <a:gd name="T19" fmla="*/ 15 h 27"/>
                  <a:gd name="T20" fmla="*/ 22 w 22"/>
                  <a:gd name="T21" fmla="*/ 15 h 27"/>
                  <a:gd name="T22" fmla="*/ 22 w 22"/>
                  <a:gd name="T23" fmla="*/ 11 h 27"/>
                  <a:gd name="T24" fmla="*/ 22 w 22"/>
                  <a:gd name="T25" fmla="*/ 11 h 27"/>
                  <a:gd name="T26" fmla="*/ 22 w 22"/>
                  <a:gd name="T27" fmla="*/ 8 h 27"/>
                  <a:gd name="T28" fmla="*/ 19 w 22"/>
                  <a:gd name="T29" fmla="*/ 8 h 27"/>
                  <a:gd name="T30" fmla="*/ 19 w 22"/>
                  <a:gd name="T31" fmla="*/ 4 h 27"/>
                  <a:gd name="T32" fmla="*/ 19 w 22"/>
                  <a:gd name="T33" fmla="*/ 4 h 27"/>
                  <a:gd name="T34" fmla="*/ 15 w 22"/>
                  <a:gd name="T35" fmla="*/ 4 h 27"/>
                  <a:gd name="T36" fmla="*/ 15 w 22"/>
                  <a:gd name="T37" fmla="*/ 4 h 27"/>
                  <a:gd name="T38" fmla="*/ 11 w 22"/>
                  <a:gd name="T39" fmla="*/ 0 h 27"/>
                  <a:gd name="T40" fmla="*/ 11 w 22"/>
                  <a:gd name="T41" fmla="*/ 0 h 27"/>
                  <a:gd name="T42" fmla="*/ 7 w 22"/>
                  <a:gd name="T43" fmla="*/ 0 h 27"/>
                  <a:gd name="T44" fmla="*/ 7 w 22"/>
                  <a:gd name="T45" fmla="*/ 4 h 27"/>
                  <a:gd name="T46" fmla="*/ 3 w 22"/>
                  <a:gd name="T47" fmla="*/ 4 h 27"/>
                  <a:gd name="T48" fmla="*/ 3 w 22"/>
                  <a:gd name="T49" fmla="*/ 4 h 27"/>
                  <a:gd name="T50" fmla="*/ 3 w 22"/>
                  <a:gd name="T51" fmla="*/ 4 h 27"/>
                  <a:gd name="T52" fmla="*/ 0 w 22"/>
                  <a:gd name="T53" fmla="*/ 8 h 27"/>
                  <a:gd name="T54" fmla="*/ 0 w 22"/>
                  <a:gd name="T55" fmla="*/ 8 h 27"/>
                  <a:gd name="T56" fmla="*/ 0 w 22"/>
                  <a:gd name="T57" fmla="*/ 11 h 27"/>
                  <a:gd name="T58" fmla="*/ 0 w 22"/>
                  <a:gd name="T59" fmla="*/ 11 h 27"/>
                  <a:gd name="T60" fmla="*/ 0 w 22"/>
                  <a:gd name="T61" fmla="*/ 15 h 27"/>
                  <a:gd name="T62" fmla="*/ 0 w 22"/>
                  <a:gd name="T63" fmla="*/ 15 h 27"/>
                  <a:gd name="T64" fmla="*/ 0 w 22"/>
                  <a:gd name="T65" fmla="*/ 19 h 27"/>
                  <a:gd name="T66" fmla="*/ 0 w 22"/>
                  <a:gd name="T67" fmla="*/ 19 h 27"/>
                  <a:gd name="T68" fmla="*/ 0 w 22"/>
                  <a:gd name="T69" fmla="*/ 19 h 27"/>
                  <a:gd name="T70" fmla="*/ 3 w 22"/>
                  <a:gd name="T71" fmla="*/ 23 h 27"/>
                  <a:gd name="T72" fmla="*/ 3 w 22"/>
                  <a:gd name="T73" fmla="*/ 23 h 27"/>
                  <a:gd name="T74" fmla="*/ 3 w 22"/>
                  <a:gd name="T75" fmla="*/ 23 h 27"/>
                  <a:gd name="T76" fmla="*/ 7 w 22"/>
                  <a:gd name="T77" fmla="*/ 27 h 27"/>
                  <a:gd name="T78" fmla="*/ 7 w 22"/>
                  <a:gd name="T79" fmla="*/ 27 h 27"/>
                  <a:gd name="T80" fmla="*/ 11 w 22"/>
                  <a:gd name="T81" fmla="*/ 27 h 27"/>
                  <a:gd name="T82" fmla="*/ 11 w 22"/>
                  <a:gd name="T83" fmla="*/ 27 h 27"/>
                  <a:gd name="T84" fmla="*/ 7 w 22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"/>
                  <a:gd name="T130" fmla="*/ 0 h 27"/>
                  <a:gd name="T131" fmla="*/ 22 w 22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" h="27">
                    <a:moveTo>
                      <a:pt x="7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2" y="19"/>
                    </a:lnTo>
                    <a:lnTo>
                      <a:pt x="22" y="15"/>
                    </a:lnTo>
                    <a:lnTo>
                      <a:pt x="22" y="11"/>
                    </a:lnTo>
                    <a:lnTo>
                      <a:pt x="22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7" y="0"/>
                    </a:lnTo>
                    <a:lnTo>
                      <a:pt x="7" y="4"/>
                    </a:lnTo>
                    <a:lnTo>
                      <a:pt x="3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3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7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5" name="Freeform 162"/>
              <p:cNvSpPr>
                <a:spLocks/>
              </p:cNvSpPr>
              <p:nvPr/>
            </p:nvSpPr>
            <p:spPr bwMode="auto">
              <a:xfrm>
                <a:off x="1706" y="3040"/>
                <a:ext cx="23" cy="27"/>
              </a:xfrm>
              <a:custGeom>
                <a:avLst/>
                <a:gdLst>
                  <a:gd name="T0" fmla="*/ 12 w 23"/>
                  <a:gd name="T1" fmla="*/ 23 h 27"/>
                  <a:gd name="T2" fmla="*/ 16 w 23"/>
                  <a:gd name="T3" fmla="*/ 27 h 27"/>
                  <a:gd name="T4" fmla="*/ 16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23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6 w 23"/>
                  <a:gd name="T37" fmla="*/ 4 h 27"/>
                  <a:gd name="T38" fmla="*/ 16 w 23"/>
                  <a:gd name="T39" fmla="*/ 0 h 27"/>
                  <a:gd name="T40" fmla="*/ 12 w 23"/>
                  <a:gd name="T41" fmla="*/ 0 h 27"/>
                  <a:gd name="T42" fmla="*/ 12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12 w 23"/>
                  <a:gd name="T79" fmla="*/ 27 h 27"/>
                  <a:gd name="T80" fmla="*/ 12 w 23"/>
                  <a:gd name="T81" fmla="*/ 27 h 27"/>
                  <a:gd name="T82" fmla="*/ 12 w 23"/>
                  <a:gd name="T83" fmla="*/ 27 h 27"/>
                  <a:gd name="T84" fmla="*/ 12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2" y="23"/>
                    </a:moveTo>
                    <a:lnTo>
                      <a:pt x="16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19" y="4"/>
                    </a:lnTo>
                    <a:lnTo>
                      <a:pt x="16" y="4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6" name="Freeform 163"/>
              <p:cNvSpPr>
                <a:spLocks/>
              </p:cNvSpPr>
              <p:nvPr/>
            </p:nvSpPr>
            <p:spPr bwMode="auto">
              <a:xfrm>
                <a:off x="2263" y="3040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7" name="Freeform 164"/>
              <p:cNvSpPr>
                <a:spLocks/>
              </p:cNvSpPr>
              <p:nvPr/>
            </p:nvSpPr>
            <p:spPr bwMode="auto">
              <a:xfrm>
                <a:off x="2343" y="3040"/>
                <a:ext cx="23" cy="27"/>
              </a:xfrm>
              <a:custGeom>
                <a:avLst/>
                <a:gdLst>
                  <a:gd name="T0" fmla="*/ 8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4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4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8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8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8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8" name="Freeform 165"/>
              <p:cNvSpPr>
                <a:spLocks/>
              </p:cNvSpPr>
              <p:nvPr/>
            </p:nvSpPr>
            <p:spPr bwMode="auto">
              <a:xfrm>
                <a:off x="2183" y="3040"/>
                <a:ext cx="23" cy="27"/>
              </a:xfrm>
              <a:custGeom>
                <a:avLst/>
                <a:gdLst>
                  <a:gd name="T0" fmla="*/ 11 w 23"/>
                  <a:gd name="T1" fmla="*/ 23 h 27"/>
                  <a:gd name="T2" fmla="*/ 15 w 23"/>
                  <a:gd name="T3" fmla="*/ 27 h 27"/>
                  <a:gd name="T4" fmla="*/ 15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19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23 w 23"/>
                  <a:gd name="T29" fmla="*/ 8 h 27"/>
                  <a:gd name="T30" fmla="*/ 19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5 w 23"/>
                  <a:gd name="T37" fmla="*/ 4 h 27"/>
                  <a:gd name="T38" fmla="*/ 15 w 23"/>
                  <a:gd name="T39" fmla="*/ 0 h 27"/>
                  <a:gd name="T40" fmla="*/ 11 w 23"/>
                  <a:gd name="T41" fmla="*/ 0 h 27"/>
                  <a:gd name="T42" fmla="*/ 11 w 23"/>
                  <a:gd name="T43" fmla="*/ 0 h 27"/>
                  <a:gd name="T44" fmla="*/ 7 w 23"/>
                  <a:gd name="T45" fmla="*/ 4 h 27"/>
                  <a:gd name="T46" fmla="*/ 7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7 w 23"/>
                  <a:gd name="T75" fmla="*/ 23 h 27"/>
                  <a:gd name="T76" fmla="*/ 7 w 23"/>
                  <a:gd name="T77" fmla="*/ 27 h 27"/>
                  <a:gd name="T78" fmla="*/ 11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11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1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1" y="0"/>
                    </a:lnTo>
                    <a:lnTo>
                      <a:pt x="7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7" y="23"/>
                    </a:lnTo>
                    <a:lnTo>
                      <a:pt x="7" y="27"/>
                    </a:lnTo>
                    <a:lnTo>
                      <a:pt x="11" y="27"/>
                    </a:lnTo>
                    <a:lnTo>
                      <a:pt x="11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49" name="Freeform 166"/>
              <p:cNvSpPr>
                <a:spLocks/>
              </p:cNvSpPr>
              <p:nvPr/>
            </p:nvSpPr>
            <p:spPr bwMode="auto">
              <a:xfrm>
                <a:off x="2499" y="3040"/>
                <a:ext cx="27" cy="27"/>
              </a:xfrm>
              <a:custGeom>
                <a:avLst/>
                <a:gdLst>
                  <a:gd name="T0" fmla="*/ 12 w 27"/>
                  <a:gd name="T1" fmla="*/ 23 h 27"/>
                  <a:gd name="T2" fmla="*/ 15 w 27"/>
                  <a:gd name="T3" fmla="*/ 27 h 27"/>
                  <a:gd name="T4" fmla="*/ 15 w 27"/>
                  <a:gd name="T5" fmla="*/ 27 h 27"/>
                  <a:gd name="T6" fmla="*/ 19 w 27"/>
                  <a:gd name="T7" fmla="*/ 23 h 27"/>
                  <a:gd name="T8" fmla="*/ 19 w 27"/>
                  <a:gd name="T9" fmla="*/ 23 h 27"/>
                  <a:gd name="T10" fmla="*/ 23 w 27"/>
                  <a:gd name="T11" fmla="*/ 23 h 27"/>
                  <a:gd name="T12" fmla="*/ 23 w 27"/>
                  <a:gd name="T13" fmla="*/ 19 h 27"/>
                  <a:gd name="T14" fmla="*/ 23 w 27"/>
                  <a:gd name="T15" fmla="*/ 19 h 27"/>
                  <a:gd name="T16" fmla="*/ 23 w 27"/>
                  <a:gd name="T17" fmla="*/ 19 h 27"/>
                  <a:gd name="T18" fmla="*/ 27 w 27"/>
                  <a:gd name="T19" fmla="*/ 15 h 27"/>
                  <a:gd name="T20" fmla="*/ 27 w 27"/>
                  <a:gd name="T21" fmla="*/ 15 h 27"/>
                  <a:gd name="T22" fmla="*/ 27 w 27"/>
                  <a:gd name="T23" fmla="*/ 11 h 27"/>
                  <a:gd name="T24" fmla="*/ 23 w 27"/>
                  <a:gd name="T25" fmla="*/ 11 h 27"/>
                  <a:gd name="T26" fmla="*/ 23 w 27"/>
                  <a:gd name="T27" fmla="*/ 8 h 27"/>
                  <a:gd name="T28" fmla="*/ 23 w 27"/>
                  <a:gd name="T29" fmla="*/ 8 h 27"/>
                  <a:gd name="T30" fmla="*/ 23 w 27"/>
                  <a:gd name="T31" fmla="*/ 4 h 27"/>
                  <a:gd name="T32" fmla="*/ 19 w 27"/>
                  <a:gd name="T33" fmla="*/ 4 h 27"/>
                  <a:gd name="T34" fmla="*/ 19 w 27"/>
                  <a:gd name="T35" fmla="*/ 4 h 27"/>
                  <a:gd name="T36" fmla="*/ 15 w 27"/>
                  <a:gd name="T37" fmla="*/ 4 h 27"/>
                  <a:gd name="T38" fmla="*/ 15 w 27"/>
                  <a:gd name="T39" fmla="*/ 0 h 27"/>
                  <a:gd name="T40" fmla="*/ 12 w 27"/>
                  <a:gd name="T41" fmla="*/ 0 h 27"/>
                  <a:gd name="T42" fmla="*/ 12 w 27"/>
                  <a:gd name="T43" fmla="*/ 0 h 27"/>
                  <a:gd name="T44" fmla="*/ 8 w 27"/>
                  <a:gd name="T45" fmla="*/ 4 h 27"/>
                  <a:gd name="T46" fmla="*/ 8 w 27"/>
                  <a:gd name="T47" fmla="*/ 4 h 27"/>
                  <a:gd name="T48" fmla="*/ 8 w 27"/>
                  <a:gd name="T49" fmla="*/ 4 h 27"/>
                  <a:gd name="T50" fmla="*/ 4 w 27"/>
                  <a:gd name="T51" fmla="*/ 4 h 27"/>
                  <a:gd name="T52" fmla="*/ 4 w 27"/>
                  <a:gd name="T53" fmla="*/ 8 h 27"/>
                  <a:gd name="T54" fmla="*/ 4 w 27"/>
                  <a:gd name="T55" fmla="*/ 8 h 27"/>
                  <a:gd name="T56" fmla="*/ 4 w 27"/>
                  <a:gd name="T57" fmla="*/ 11 h 27"/>
                  <a:gd name="T58" fmla="*/ 0 w 27"/>
                  <a:gd name="T59" fmla="*/ 11 h 27"/>
                  <a:gd name="T60" fmla="*/ 0 w 27"/>
                  <a:gd name="T61" fmla="*/ 15 h 27"/>
                  <a:gd name="T62" fmla="*/ 0 w 27"/>
                  <a:gd name="T63" fmla="*/ 15 h 27"/>
                  <a:gd name="T64" fmla="*/ 4 w 27"/>
                  <a:gd name="T65" fmla="*/ 19 h 27"/>
                  <a:gd name="T66" fmla="*/ 4 w 27"/>
                  <a:gd name="T67" fmla="*/ 19 h 27"/>
                  <a:gd name="T68" fmla="*/ 4 w 27"/>
                  <a:gd name="T69" fmla="*/ 19 h 27"/>
                  <a:gd name="T70" fmla="*/ 4 w 27"/>
                  <a:gd name="T71" fmla="*/ 23 h 27"/>
                  <a:gd name="T72" fmla="*/ 8 w 27"/>
                  <a:gd name="T73" fmla="*/ 23 h 27"/>
                  <a:gd name="T74" fmla="*/ 8 w 27"/>
                  <a:gd name="T75" fmla="*/ 23 h 27"/>
                  <a:gd name="T76" fmla="*/ 8 w 27"/>
                  <a:gd name="T77" fmla="*/ 27 h 27"/>
                  <a:gd name="T78" fmla="*/ 12 w 27"/>
                  <a:gd name="T79" fmla="*/ 27 h 27"/>
                  <a:gd name="T80" fmla="*/ 12 w 27"/>
                  <a:gd name="T81" fmla="*/ 27 h 27"/>
                  <a:gd name="T82" fmla="*/ 12 w 27"/>
                  <a:gd name="T83" fmla="*/ 27 h 27"/>
                  <a:gd name="T84" fmla="*/ 12 w 27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7"/>
                  <a:gd name="T130" fmla="*/ 0 h 27"/>
                  <a:gd name="T131" fmla="*/ 27 w 27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7" h="27">
                    <a:moveTo>
                      <a:pt x="12" y="23"/>
                    </a:moveTo>
                    <a:lnTo>
                      <a:pt x="15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7" y="15"/>
                    </a:lnTo>
                    <a:lnTo>
                      <a:pt x="27" y="11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4" y="11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50" name="Freeform 167"/>
              <p:cNvSpPr>
                <a:spLocks/>
              </p:cNvSpPr>
              <p:nvPr/>
            </p:nvSpPr>
            <p:spPr bwMode="auto">
              <a:xfrm>
                <a:off x="2579" y="3040"/>
                <a:ext cx="23" cy="27"/>
              </a:xfrm>
              <a:custGeom>
                <a:avLst/>
                <a:gdLst>
                  <a:gd name="T0" fmla="*/ 12 w 23"/>
                  <a:gd name="T1" fmla="*/ 23 h 27"/>
                  <a:gd name="T2" fmla="*/ 16 w 23"/>
                  <a:gd name="T3" fmla="*/ 27 h 27"/>
                  <a:gd name="T4" fmla="*/ 16 w 23"/>
                  <a:gd name="T5" fmla="*/ 27 h 27"/>
                  <a:gd name="T6" fmla="*/ 19 w 23"/>
                  <a:gd name="T7" fmla="*/ 23 h 27"/>
                  <a:gd name="T8" fmla="*/ 19 w 23"/>
                  <a:gd name="T9" fmla="*/ 23 h 27"/>
                  <a:gd name="T10" fmla="*/ 23 w 23"/>
                  <a:gd name="T11" fmla="*/ 23 h 27"/>
                  <a:gd name="T12" fmla="*/ 23 w 23"/>
                  <a:gd name="T13" fmla="*/ 19 h 27"/>
                  <a:gd name="T14" fmla="*/ 23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23 w 23"/>
                  <a:gd name="T27" fmla="*/ 8 h 27"/>
                  <a:gd name="T28" fmla="*/ 23 w 23"/>
                  <a:gd name="T29" fmla="*/ 8 h 27"/>
                  <a:gd name="T30" fmla="*/ 23 w 23"/>
                  <a:gd name="T31" fmla="*/ 4 h 27"/>
                  <a:gd name="T32" fmla="*/ 19 w 23"/>
                  <a:gd name="T33" fmla="*/ 4 h 27"/>
                  <a:gd name="T34" fmla="*/ 19 w 23"/>
                  <a:gd name="T35" fmla="*/ 4 h 27"/>
                  <a:gd name="T36" fmla="*/ 16 w 23"/>
                  <a:gd name="T37" fmla="*/ 4 h 27"/>
                  <a:gd name="T38" fmla="*/ 16 w 23"/>
                  <a:gd name="T39" fmla="*/ 0 h 27"/>
                  <a:gd name="T40" fmla="*/ 12 w 23"/>
                  <a:gd name="T41" fmla="*/ 0 h 27"/>
                  <a:gd name="T42" fmla="*/ 12 w 23"/>
                  <a:gd name="T43" fmla="*/ 0 h 27"/>
                  <a:gd name="T44" fmla="*/ 8 w 23"/>
                  <a:gd name="T45" fmla="*/ 4 h 27"/>
                  <a:gd name="T46" fmla="*/ 8 w 23"/>
                  <a:gd name="T47" fmla="*/ 4 h 27"/>
                  <a:gd name="T48" fmla="*/ 4 w 23"/>
                  <a:gd name="T49" fmla="*/ 4 h 27"/>
                  <a:gd name="T50" fmla="*/ 4 w 23"/>
                  <a:gd name="T51" fmla="*/ 4 h 27"/>
                  <a:gd name="T52" fmla="*/ 4 w 23"/>
                  <a:gd name="T53" fmla="*/ 8 h 27"/>
                  <a:gd name="T54" fmla="*/ 4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4 w 23"/>
                  <a:gd name="T67" fmla="*/ 19 h 27"/>
                  <a:gd name="T68" fmla="*/ 4 w 23"/>
                  <a:gd name="T69" fmla="*/ 19 h 27"/>
                  <a:gd name="T70" fmla="*/ 4 w 23"/>
                  <a:gd name="T71" fmla="*/ 23 h 27"/>
                  <a:gd name="T72" fmla="*/ 4 w 23"/>
                  <a:gd name="T73" fmla="*/ 23 h 27"/>
                  <a:gd name="T74" fmla="*/ 8 w 23"/>
                  <a:gd name="T75" fmla="*/ 23 h 27"/>
                  <a:gd name="T76" fmla="*/ 8 w 23"/>
                  <a:gd name="T77" fmla="*/ 27 h 27"/>
                  <a:gd name="T78" fmla="*/ 12 w 23"/>
                  <a:gd name="T79" fmla="*/ 27 h 27"/>
                  <a:gd name="T80" fmla="*/ 12 w 23"/>
                  <a:gd name="T81" fmla="*/ 27 h 27"/>
                  <a:gd name="T82" fmla="*/ 12 w 23"/>
                  <a:gd name="T83" fmla="*/ 27 h 27"/>
                  <a:gd name="T84" fmla="*/ 12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12" y="23"/>
                    </a:moveTo>
                    <a:lnTo>
                      <a:pt x="16" y="27"/>
                    </a:lnTo>
                    <a:lnTo>
                      <a:pt x="19" y="23"/>
                    </a:lnTo>
                    <a:lnTo>
                      <a:pt x="23" y="23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3" y="8"/>
                    </a:lnTo>
                    <a:lnTo>
                      <a:pt x="23" y="4"/>
                    </a:lnTo>
                    <a:lnTo>
                      <a:pt x="19" y="4"/>
                    </a:lnTo>
                    <a:lnTo>
                      <a:pt x="16" y="4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4" y="19"/>
                    </a:lnTo>
                    <a:lnTo>
                      <a:pt x="4" y="23"/>
                    </a:lnTo>
                    <a:lnTo>
                      <a:pt x="8" y="23"/>
                    </a:lnTo>
                    <a:lnTo>
                      <a:pt x="8" y="27"/>
                    </a:lnTo>
                    <a:lnTo>
                      <a:pt x="12" y="27"/>
                    </a:lnTo>
                    <a:lnTo>
                      <a:pt x="12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51" name="Freeform 168"/>
              <p:cNvSpPr>
                <a:spLocks/>
              </p:cNvSpPr>
              <p:nvPr/>
            </p:nvSpPr>
            <p:spPr bwMode="auto">
              <a:xfrm>
                <a:off x="2423" y="3040"/>
                <a:ext cx="23" cy="27"/>
              </a:xfrm>
              <a:custGeom>
                <a:avLst/>
                <a:gdLst>
                  <a:gd name="T0" fmla="*/ 8 w 23"/>
                  <a:gd name="T1" fmla="*/ 23 h 27"/>
                  <a:gd name="T2" fmla="*/ 11 w 23"/>
                  <a:gd name="T3" fmla="*/ 27 h 27"/>
                  <a:gd name="T4" fmla="*/ 15 w 23"/>
                  <a:gd name="T5" fmla="*/ 27 h 27"/>
                  <a:gd name="T6" fmla="*/ 15 w 23"/>
                  <a:gd name="T7" fmla="*/ 23 h 27"/>
                  <a:gd name="T8" fmla="*/ 15 w 23"/>
                  <a:gd name="T9" fmla="*/ 23 h 27"/>
                  <a:gd name="T10" fmla="*/ 19 w 23"/>
                  <a:gd name="T11" fmla="*/ 23 h 27"/>
                  <a:gd name="T12" fmla="*/ 19 w 23"/>
                  <a:gd name="T13" fmla="*/ 19 h 27"/>
                  <a:gd name="T14" fmla="*/ 19 w 23"/>
                  <a:gd name="T15" fmla="*/ 19 h 27"/>
                  <a:gd name="T16" fmla="*/ 23 w 23"/>
                  <a:gd name="T17" fmla="*/ 19 h 27"/>
                  <a:gd name="T18" fmla="*/ 23 w 23"/>
                  <a:gd name="T19" fmla="*/ 15 h 27"/>
                  <a:gd name="T20" fmla="*/ 23 w 23"/>
                  <a:gd name="T21" fmla="*/ 15 h 27"/>
                  <a:gd name="T22" fmla="*/ 23 w 23"/>
                  <a:gd name="T23" fmla="*/ 11 h 27"/>
                  <a:gd name="T24" fmla="*/ 23 w 23"/>
                  <a:gd name="T25" fmla="*/ 11 h 27"/>
                  <a:gd name="T26" fmla="*/ 19 w 23"/>
                  <a:gd name="T27" fmla="*/ 8 h 27"/>
                  <a:gd name="T28" fmla="*/ 19 w 23"/>
                  <a:gd name="T29" fmla="*/ 8 h 27"/>
                  <a:gd name="T30" fmla="*/ 19 w 23"/>
                  <a:gd name="T31" fmla="*/ 4 h 27"/>
                  <a:gd name="T32" fmla="*/ 15 w 23"/>
                  <a:gd name="T33" fmla="*/ 4 h 27"/>
                  <a:gd name="T34" fmla="*/ 15 w 23"/>
                  <a:gd name="T35" fmla="*/ 4 h 27"/>
                  <a:gd name="T36" fmla="*/ 15 w 23"/>
                  <a:gd name="T37" fmla="*/ 4 h 27"/>
                  <a:gd name="T38" fmla="*/ 11 w 23"/>
                  <a:gd name="T39" fmla="*/ 0 h 27"/>
                  <a:gd name="T40" fmla="*/ 11 w 23"/>
                  <a:gd name="T41" fmla="*/ 0 h 27"/>
                  <a:gd name="T42" fmla="*/ 8 w 23"/>
                  <a:gd name="T43" fmla="*/ 0 h 27"/>
                  <a:gd name="T44" fmla="*/ 8 w 23"/>
                  <a:gd name="T45" fmla="*/ 4 h 27"/>
                  <a:gd name="T46" fmla="*/ 4 w 23"/>
                  <a:gd name="T47" fmla="*/ 4 h 27"/>
                  <a:gd name="T48" fmla="*/ 4 w 23"/>
                  <a:gd name="T49" fmla="*/ 4 h 27"/>
                  <a:gd name="T50" fmla="*/ 0 w 23"/>
                  <a:gd name="T51" fmla="*/ 4 h 27"/>
                  <a:gd name="T52" fmla="*/ 0 w 23"/>
                  <a:gd name="T53" fmla="*/ 8 h 27"/>
                  <a:gd name="T54" fmla="*/ 0 w 23"/>
                  <a:gd name="T55" fmla="*/ 8 h 27"/>
                  <a:gd name="T56" fmla="*/ 0 w 23"/>
                  <a:gd name="T57" fmla="*/ 11 h 27"/>
                  <a:gd name="T58" fmla="*/ 0 w 23"/>
                  <a:gd name="T59" fmla="*/ 11 h 27"/>
                  <a:gd name="T60" fmla="*/ 0 w 23"/>
                  <a:gd name="T61" fmla="*/ 15 h 27"/>
                  <a:gd name="T62" fmla="*/ 0 w 23"/>
                  <a:gd name="T63" fmla="*/ 15 h 27"/>
                  <a:gd name="T64" fmla="*/ 0 w 23"/>
                  <a:gd name="T65" fmla="*/ 19 h 27"/>
                  <a:gd name="T66" fmla="*/ 0 w 23"/>
                  <a:gd name="T67" fmla="*/ 19 h 27"/>
                  <a:gd name="T68" fmla="*/ 0 w 23"/>
                  <a:gd name="T69" fmla="*/ 19 h 27"/>
                  <a:gd name="T70" fmla="*/ 0 w 23"/>
                  <a:gd name="T71" fmla="*/ 23 h 27"/>
                  <a:gd name="T72" fmla="*/ 4 w 23"/>
                  <a:gd name="T73" fmla="*/ 23 h 27"/>
                  <a:gd name="T74" fmla="*/ 4 w 23"/>
                  <a:gd name="T75" fmla="*/ 23 h 27"/>
                  <a:gd name="T76" fmla="*/ 8 w 23"/>
                  <a:gd name="T77" fmla="*/ 27 h 27"/>
                  <a:gd name="T78" fmla="*/ 8 w 23"/>
                  <a:gd name="T79" fmla="*/ 27 h 27"/>
                  <a:gd name="T80" fmla="*/ 11 w 23"/>
                  <a:gd name="T81" fmla="*/ 27 h 27"/>
                  <a:gd name="T82" fmla="*/ 11 w 23"/>
                  <a:gd name="T83" fmla="*/ 27 h 27"/>
                  <a:gd name="T84" fmla="*/ 8 w 23"/>
                  <a:gd name="T85" fmla="*/ 23 h 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3"/>
                  <a:gd name="T130" fmla="*/ 0 h 27"/>
                  <a:gd name="T131" fmla="*/ 23 w 23"/>
                  <a:gd name="T132" fmla="*/ 27 h 2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3" h="27">
                    <a:moveTo>
                      <a:pt x="8" y="23"/>
                    </a:moveTo>
                    <a:lnTo>
                      <a:pt x="11" y="27"/>
                    </a:lnTo>
                    <a:lnTo>
                      <a:pt x="15" y="27"/>
                    </a:lnTo>
                    <a:lnTo>
                      <a:pt x="15" y="23"/>
                    </a:lnTo>
                    <a:lnTo>
                      <a:pt x="19" y="23"/>
                    </a:lnTo>
                    <a:lnTo>
                      <a:pt x="19" y="19"/>
                    </a:lnTo>
                    <a:lnTo>
                      <a:pt x="23" y="19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19" y="8"/>
                    </a:lnTo>
                    <a:lnTo>
                      <a:pt x="19" y="4"/>
                    </a:lnTo>
                    <a:lnTo>
                      <a:pt x="15" y="4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0" y="15"/>
                    </a:lnTo>
                    <a:lnTo>
                      <a:pt x="0" y="19"/>
                    </a:lnTo>
                    <a:lnTo>
                      <a:pt x="0" y="23"/>
                    </a:lnTo>
                    <a:lnTo>
                      <a:pt x="4" y="23"/>
                    </a:lnTo>
                    <a:lnTo>
                      <a:pt x="8" y="27"/>
                    </a:lnTo>
                    <a:lnTo>
                      <a:pt x="11" y="27"/>
                    </a:lnTo>
                    <a:lnTo>
                      <a:pt x="8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3752" name="Rectangle 169"/>
              <p:cNvSpPr>
                <a:spLocks noChangeArrowheads="1"/>
              </p:cNvSpPr>
              <p:nvPr/>
            </p:nvSpPr>
            <p:spPr bwMode="auto">
              <a:xfrm>
                <a:off x="4039" y="3277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23753" name="Rectangle 170"/>
              <p:cNvSpPr>
                <a:spLocks noChangeArrowheads="1"/>
              </p:cNvSpPr>
              <p:nvPr/>
            </p:nvSpPr>
            <p:spPr bwMode="auto">
              <a:xfrm>
                <a:off x="4123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754" name="Rectangle 171"/>
              <p:cNvSpPr>
                <a:spLocks noChangeArrowheads="1"/>
              </p:cNvSpPr>
              <p:nvPr/>
            </p:nvSpPr>
            <p:spPr bwMode="auto">
              <a:xfrm>
                <a:off x="4195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23755" name="Rectangle 172"/>
              <p:cNvSpPr>
                <a:spLocks noChangeArrowheads="1"/>
              </p:cNvSpPr>
              <p:nvPr/>
            </p:nvSpPr>
            <p:spPr bwMode="auto">
              <a:xfrm>
                <a:off x="4264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756" name="Rectangle 173"/>
              <p:cNvSpPr>
                <a:spLocks noChangeArrowheads="1"/>
              </p:cNvSpPr>
              <p:nvPr/>
            </p:nvSpPr>
            <p:spPr bwMode="auto">
              <a:xfrm>
                <a:off x="4336" y="3277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57" name="Rectangle 174"/>
              <p:cNvSpPr>
                <a:spLocks noChangeArrowheads="1"/>
              </p:cNvSpPr>
              <p:nvPr/>
            </p:nvSpPr>
            <p:spPr bwMode="auto">
              <a:xfrm>
                <a:off x="4371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o</a:t>
                </a:r>
                <a:endParaRPr lang="en-US" altLang="en-US" b="1"/>
              </a:p>
            </p:txBody>
          </p:sp>
          <p:sp>
            <p:nvSpPr>
              <p:cNvPr id="23758" name="Rectangle 175"/>
              <p:cNvSpPr>
                <a:spLocks noChangeArrowheads="1"/>
              </p:cNvSpPr>
              <p:nvPr/>
            </p:nvSpPr>
            <p:spPr bwMode="auto">
              <a:xfrm>
                <a:off x="4443" y="3277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23759" name="Rectangle 176"/>
              <p:cNvSpPr>
                <a:spLocks noChangeArrowheads="1"/>
              </p:cNvSpPr>
              <p:nvPr/>
            </p:nvSpPr>
            <p:spPr bwMode="auto">
              <a:xfrm>
                <a:off x="4477" y="3277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23760" name="Rectangle 177"/>
              <p:cNvSpPr>
                <a:spLocks noChangeArrowheads="1"/>
              </p:cNvSpPr>
              <p:nvPr/>
            </p:nvSpPr>
            <p:spPr bwMode="auto">
              <a:xfrm>
                <a:off x="4512" y="3277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23761" name="Rectangle 178"/>
              <p:cNvSpPr>
                <a:spLocks noChangeArrowheads="1"/>
              </p:cNvSpPr>
              <p:nvPr/>
            </p:nvSpPr>
            <p:spPr bwMode="auto">
              <a:xfrm>
                <a:off x="4576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762" name="Rectangle 179"/>
              <p:cNvSpPr>
                <a:spLocks noChangeArrowheads="1"/>
              </p:cNvSpPr>
              <p:nvPr/>
            </p:nvSpPr>
            <p:spPr bwMode="auto">
              <a:xfrm>
                <a:off x="4645" y="3277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23763" name="Rectangle 180"/>
              <p:cNvSpPr>
                <a:spLocks noChangeArrowheads="1"/>
              </p:cNvSpPr>
              <p:nvPr/>
            </p:nvSpPr>
            <p:spPr bwMode="auto">
              <a:xfrm>
                <a:off x="1649" y="3277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23764" name="Rectangle 181"/>
              <p:cNvSpPr>
                <a:spLocks noChangeArrowheads="1"/>
              </p:cNvSpPr>
              <p:nvPr/>
            </p:nvSpPr>
            <p:spPr bwMode="auto">
              <a:xfrm>
                <a:off x="1737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h</a:t>
                </a:r>
                <a:endParaRPr lang="en-US" altLang="en-US" b="1"/>
              </a:p>
            </p:txBody>
          </p:sp>
          <p:sp>
            <p:nvSpPr>
              <p:cNvPr id="23765" name="Rectangle 182"/>
              <p:cNvSpPr>
                <a:spLocks noChangeArrowheads="1"/>
              </p:cNvSpPr>
              <p:nvPr/>
            </p:nvSpPr>
            <p:spPr bwMode="auto">
              <a:xfrm>
                <a:off x="1806" y="3277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y</a:t>
                </a:r>
                <a:endParaRPr lang="en-US" altLang="en-US" b="1"/>
              </a:p>
            </p:txBody>
          </p:sp>
          <p:sp>
            <p:nvSpPr>
              <p:cNvPr id="23766" name="Rectangle 183"/>
              <p:cNvSpPr>
                <a:spLocks noChangeArrowheads="1"/>
              </p:cNvSpPr>
              <p:nvPr/>
            </p:nvSpPr>
            <p:spPr bwMode="auto">
              <a:xfrm>
                <a:off x="1870" y="3277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23767" name="Rectangle 184"/>
              <p:cNvSpPr>
                <a:spLocks noChangeArrowheads="1"/>
              </p:cNvSpPr>
              <p:nvPr/>
            </p:nvSpPr>
            <p:spPr bwMode="auto">
              <a:xfrm>
                <a:off x="1931" y="3277"/>
                <a:ext cx="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23768" name="Rectangle 185"/>
              <p:cNvSpPr>
                <a:spLocks noChangeArrowheads="1"/>
              </p:cNvSpPr>
              <p:nvPr/>
            </p:nvSpPr>
            <p:spPr bwMode="auto">
              <a:xfrm>
                <a:off x="1962" y="3277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23769" name="Rectangle 186"/>
              <p:cNvSpPr>
                <a:spLocks noChangeArrowheads="1"/>
              </p:cNvSpPr>
              <p:nvPr/>
            </p:nvSpPr>
            <p:spPr bwMode="auto">
              <a:xfrm>
                <a:off x="2027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770" name="Rectangle 187"/>
              <p:cNvSpPr>
                <a:spLocks noChangeArrowheads="1"/>
              </p:cNvSpPr>
              <p:nvPr/>
            </p:nvSpPr>
            <p:spPr bwMode="auto">
              <a:xfrm>
                <a:off x="2095" y="3277"/>
                <a:ext cx="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23771" name="Rectangle 188"/>
              <p:cNvSpPr>
                <a:spLocks noChangeArrowheads="1"/>
              </p:cNvSpPr>
              <p:nvPr/>
            </p:nvSpPr>
            <p:spPr bwMode="auto">
              <a:xfrm>
                <a:off x="2122" y="3277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72" name="Rectangle 189"/>
              <p:cNvSpPr>
                <a:spLocks noChangeArrowheads="1"/>
              </p:cNvSpPr>
              <p:nvPr/>
            </p:nvSpPr>
            <p:spPr bwMode="auto">
              <a:xfrm>
                <a:off x="2160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23773" name="Rectangle 190"/>
              <p:cNvSpPr>
                <a:spLocks noChangeArrowheads="1"/>
              </p:cNvSpPr>
              <p:nvPr/>
            </p:nvSpPr>
            <p:spPr bwMode="auto">
              <a:xfrm>
                <a:off x="2229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23774" name="Rectangle 191"/>
              <p:cNvSpPr>
                <a:spLocks noChangeArrowheads="1"/>
              </p:cNvSpPr>
              <p:nvPr/>
            </p:nvSpPr>
            <p:spPr bwMode="auto">
              <a:xfrm>
                <a:off x="2301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23775" name="Rectangle 192"/>
              <p:cNvSpPr>
                <a:spLocks noChangeArrowheads="1"/>
              </p:cNvSpPr>
              <p:nvPr/>
            </p:nvSpPr>
            <p:spPr bwMode="auto">
              <a:xfrm>
                <a:off x="2370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776" name="Rectangle 193"/>
              <p:cNvSpPr>
                <a:spLocks noChangeArrowheads="1"/>
              </p:cNvSpPr>
              <p:nvPr/>
            </p:nvSpPr>
            <p:spPr bwMode="auto">
              <a:xfrm>
                <a:off x="2442" y="3277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23777" name="Rectangle 194"/>
              <p:cNvSpPr>
                <a:spLocks noChangeArrowheads="1"/>
              </p:cNvSpPr>
              <p:nvPr/>
            </p:nvSpPr>
            <p:spPr bwMode="auto">
              <a:xfrm>
                <a:off x="2476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n</a:t>
                </a:r>
                <a:endParaRPr lang="en-US" altLang="en-US" b="1"/>
              </a:p>
            </p:txBody>
          </p:sp>
          <p:sp>
            <p:nvSpPr>
              <p:cNvPr id="23778" name="Rectangle 195"/>
              <p:cNvSpPr>
                <a:spLocks noChangeArrowheads="1"/>
              </p:cNvSpPr>
              <p:nvPr/>
            </p:nvSpPr>
            <p:spPr bwMode="auto">
              <a:xfrm>
                <a:off x="2549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23779" name="Rectangle 196"/>
              <p:cNvSpPr>
                <a:spLocks noChangeArrowheads="1"/>
              </p:cNvSpPr>
              <p:nvPr/>
            </p:nvSpPr>
            <p:spPr bwMode="auto">
              <a:xfrm>
                <a:off x="2617" y="3277"/>
                <a:ext cx="107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m</a:t>
                </a:r>
                <a:endParaRPr lang="en-US" altLang="en-US" b="1"/>
              </a:p>
            </p:txBody>
          </p:sp>
          <p:sp>
            <p:nvSpPr>
              <p:cNvPr id="23780" name="Rectangle 197"/>
              <p:cNvSpPr>
                <a:spLocks noChangeArrowheads="1"/>
              </p:cNvSpPr>
              <p:nvPr/>
            </p:nvSpPr>
            <p:spPr bwMode="auto">
              <a:xfrm>
                <a:off x="2724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b</a:t>
                </a:r>
                <a:endParaRPr lang="en-US" altLang="en-US" b="1"/>
              </a:p>
            </p:txBody>
          </p:sp>
          <p:sp>
            <p:nvSpPr>
              <p:cNvPr id="23781" name="Rectangle 198"/>
              <p:cNvSpPr>
                <a:spLocks noChangeArrowheads="1"/>
              </p:cNvSpPr>
              <p:nvPr/>
            </p:nvSpPr>
            <p:spPr bwMode="auto">
              <a:xfrm>
                <a:off x="2793" y="327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23782" name="Rectangle 199"/>
              <p:cNvSpPr>
                <a:spLocks noChangeArrowheads="1"/>
              </p:cNvSpPr>
              <p:nvPr/>
            </p:nvSpPr>
            <p:spPr bwMode="auto">
              <a:xfrm>
                <a:off x="2865" y="3277"/>
                <a:ext cx="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23783" name="Rectangle 200"/>
              <p:cNvSpPr>
                <a:spLocks noChangeArrowheads="1"/>
              </p:cNvSpPr>
              <p:nvPr/>
            </p:nvSpPr>
            <p:spPr bwMode="auto">
              <a:xfrm>
                <a:off x="2648" y="3658"/>
                <a:ext cx="85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23784" name="Rectangle 201"/>
              <p:cNvSpPr>
                <a:spLocks noChangeArrowheads="1"/>
              </p:cNvSpPr>
              <p:nvPr/>
            </p:nvSpPr>
            <p:spPr bwMode="auto">
              <a:xfrm>
                <a:off x="2732" y="3658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h</a:t>
                </a:r>
                <a:endParaRPr lang="en-US" altLang="en-US" b="1"/>
              </a:p>
            </p:txBody>
          </p:sp>
          <p:sp>
            <p:nvSpPr>
              <p:cNvPr id="23785" name="Rectangle 202"/>
              <p:cNvSpPr>
                <a:spLocks noChangeArrowheads="1"/>
              </p:cNvSpPr>
              <p:nvPr/>
            </p:nvSpPr>
            <p:spPr bwMode="auto">
              <a:xfrm>
                <a:off x="2804" y="3658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y</a:t>
                </a:r>
                <a:endParaRPr lang="en-US" altLang="en-US" b="1"/>
              </a:p>
            </p:txBody>
          </p:sp>
          <p:sp>
            <p:nvSpPr>
              <p:cNvPr id="23786" name="Rectangle 203"/>
              <p:cNvSpPr>
                <a:spLocks noChangeArrowheads="1"/>
              </p:cNvSpPr>
              <p:nvPr/>
            </p:nvSpPr>
            <p:spPr bwMode="auto">
              <a:xfrm>
                <a:off x="2865" y="3658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23787" name="Rectangle 204"/>
              <p:cNvSpPr>
                <a:spLocks noChangeArrowheads="1"/>
              </p:cNvSpPr>
              <p:nvPr/>
            </p:nvSpPr>
            <p:spPr bwMode="auto">
              <a:xfrm>
                <a:off x="2930" y="3658"/>
                <a:ext cx="2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23788" name="Rectangle 205"/>
              <p:cNvSpPr>
                <a:spLocks noChangeArrowheads="1"/>
              </p:cNvSpPr>
              <p:nvPr/>
            </p:nvSpPr>
            <p:spPr bwMode="auto">
              <a:xfrm>
                <a:off x="2960" y="3658"/>
                <a:ext cx="64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</p:grpSp>
        <p:sp>
          <p:nvSpPr>
            <p:cNvPr id="23562" name="Rectangle 206"/>
            <p:cNvSpPr>
              <a:spLocks noChangeArrowheads="1"/>
            </p:cNvSpPr>
            <p:nvPr/>
          </p:nvSpPr>
          <p:spPr bwMode="auto">
            <a:xfrm>
              <a:off x="3021" y="365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23563" name="Rectangle 207"/>
            <p:cNvSpPr>
              <a:spLocks noChangeArrowheads="1"/>
            </p:cNvSpPr>
            <p:nvPr/>
          </p:nvSpPr>
          <p:spPr bwMode="auto">
            <a:xfrm>
              <a:off x="3094" y="3658"/>
              <a:ext cx="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l</a:t>
              </a:r>
              <a:endParaRPr lang="en-US" altLang="en-US" b="1"/>
            </a:p>
          </p:txBody>
        </p:sp>
        <p:sp>
          <p:nvSpPr>
            <p:cNvPr id="23564" name="Rectangle 208"/>
            <p:cNvSpPr>
              <a:spLocks noChangeArrowheads="1"/>
            </p:cNvSpPr>
            <p:nvPr/>
          </p:nvSpPr>
          <p:spPr bwMode="auto">
            <a:xfrm>
              <a:off x="3120" y="3658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23565" name="Rectangle 209"/>
            <p:cNvSpPr>
              <a:spLocks noChangeArrowheads="1"/>
            </p:cNvSpPr>
            <p:nvPr/>
          </p:nvSpPr>
          <p:spPr bwMode="auto">
            <a:xfrm>
              <a:off x="3155" y="365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23566" name="Rectangle 210"/>
            <p:cNvSpPr>
              <a:spLocks noChangeArrowheads="1"/>
            </p:cNvSpPr>
            <p:nvPr/>
          </p:nvSpPr>
          <p:spPr bwMode="auto">
            <a:xfrm>
              <a:off x="3227" y="365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d</a:t>
              </a:r>
              <a:endParaRPr lang="en-US" altLang="en-US" b="1"/>
            </a:p>
          </p:txBody>
        </p:sp>
        <p:sp>
          <p:nvSpPr>
            <p:cNvPr id="23567" name="Rectangle 211"/>
            <p:cNvSpPr>
              <a:spLocks noChangeArrowheads="1"/>
            </p:cNvSpPr>
            <p:nvPr/>
          </p:nvSpPr>
          <p:spPr bwMode="auto">
            <a:xfrm>
              <a:off x="3296" y="365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d</a:t>
              </a:r>
              <a:endParaRPr lang="en-US" altLang="en-US" b="1"/>
            </a:p>
          </p:txBody>
        </p:sp>
        <p:sp>
          <p:nvSpPr>
            <p:cNvPr id="23568" name="Rectangle 212"/>
            <p:cNvSpPr>
              <a:spLocks noChangeArrowheads="1"/>
            </p:cNvSpPr>
            <p:nvPr/>
          </p:nvSpPr>
          <p:spPr bwMode="auto">
            <a:xfrm>
              <a:off x="3368" y="3658"/>
              <a:ext cx="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  <a:endParaRPr lang="en-US" altLang="en-US" b="1"/>
            </a:p>
          </p:txBody>
        </p:sp>
        <p:sp>
          <p:nvSpPr>
            <p:cNvPr id="23569" name="Rectangle 213"/>
            <p:cNvSpPr>
              <a:spLocks noChangeArrowheads="1"/>
            </p:cNvSpPr>
            <p:nvPr/>
          </p:nvSpPr>
          <p:spPr bwMode="auto">
            <a:xfrm>
              <a:off x="3410" y="3658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e</a:t>
              </a:r>
              <a:endParaRPr lang="en-US" altLang="en-US" b="1"/>
            </a:p>
          </p:txBody>
        </p:sp>
        <p:sp>
          <p:nvSpPr>
            <p:cNvPr id="23570" name="Rectangle 214"/>
            <p:cNvSpPr>
              <a:spLocks noChangeArrowheads="1"/>
            </p:cNvSpPr>
            <p:nvPr/>
          </p:nvSpPr>
          <p:spPr bwMode="auto">
            <a:xfrm>
              <a:off x="3483" y="3658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23571" name="Rectangle 215"/>
            <p:cNvSpPr>
              <a:spLocks noChangeArrowheads="1"/>
            </p:cNvSpPr>
            <p:nvPr/>
          </p:nvSpPr>
          <p:spPr bwMode="auto">
            <a:xfrm>
              <a:off x="3544" y="3658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23572" name="Freeform 216"/>
            <p:cNvSpPr>
              <a:spLocks/>
            </p:cNvSpPr>
            <p:nvPr/>
          </p:nvSpPr>
          <p:spPr bwMode="auto">
            <a:xfrm>
              <a:off x="2038" y="3086"/>
              <a:ext cx="65" cy="65"/>
            </a:xfrm>
            <a:custGeom>
              <a:avLst/>
              <a:gdLst>
                <a:gd name="T0" fmla="*/ 61 w 65"/>
                <a:gd name="T1" fmla="*/ 0 h 65"/>
                <a:gd name="T2" fmla="*/ 0 w 65"/>
                <a:gd name="T3" fmla="*/ 4 h 65"/>
                <a:gd name="T4" fmla="*/ 31 w 65"/>
                <a:gd name="T5" fmla="*/ 65 h 65"/>
                <a:gd name="T6" fmla="*/ 65 w 65"/>
                <a:gd name="T7" fmla="*/ 4 h 65"/>
                <a:gd name="T8" fmla="*/ 65 w 65"/>
                <a:gd name="T9" fmla="*/ 4 h 65"/>
                <a:gd name="T10" fmla="*/ 61 w 65"/>
                <a:gd name="T11" fmla="*/ 0 h 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"/>
                <a:gd name="T19" fmla="*/ 0 h 65"/>
                <a:gd name="T20" fmla="*/ 65 w 65"/>
                <a:gd name="T21" fmla="*/ 65 h 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" h="65">
                  <a:moveTo>
                    <a:pt x="61" y="0"/>
                  </a:moveTo>
                  <a:lnTo>
                    <a:pt x="0" y="4"/>
                  </a:lnTo>
                  <a:lnTo>
                    <a:pt x="31" y="65"/>
                  </a:lnTo>
                  <a:lnTo>
                    <a:pt x="65" y="4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573" name="Rectangle 217"/>
            <p:cNvSpPr>
              <a:spLocks noChangeArrowheads="1"/>
            </p:cNvSpPr>
            <p:nvPr/>
          </p:nvSpPr>
          <p:spPr bwMode="auto">
            <a:xfrm>
              <a:off x="1760" y="2609"/>
              <a:ext cx="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23574" name="Rectangle 218"/>
            <p:cNvSpPr>
              <a:spLocks noChangeArrowheads="1"/>
            </p:cNvSpPr>
            <p:nvPr/>
          </p:nvSpPr>
          <p:spPr bwMode="auto">
            <a:xfrm>
              <a:off x="1840" y="2609"/>
              <a:ext cx="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  <a:endParaRPr lang="en-US" altLang="en-US" b="1"/>
            </a:p>
          </p:txBody>
        </p:sp>
        <p:sp>
          <p:nvSpPr>
            <p:cNvPr id="23575" name="Rectangle 219"/>
            <p:cNvSpPr>
              <a:spLocks noChangeArrowheads="1"/>
            </p:cNvSpPr>
            <p:nvPr/>
          </p:nvSpPr>
          <p:spPr bwMode="auto">
            <a:xfrm>
              <a:off x="1882" y="260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23576" name="Rectangle 220"/>
            <p:cNvSpPr>
              <a:spLocks noChangeArrowheads="1"/>
            </p:cNvSpPr>
            <p:nvPr/>
          </p:nvSpPr>
          <p:spPr bwMode="auto">
            <a:xfrm>
              <a:off x="1950" y="260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n</a:t>
              </a:r>
              <a:endParaRPr lang="en-US" altLang="en-US" b="1"/>
            </a:p>
          </p:txBody>
        </p:sp>
        <p:sp>
          <p:nvSpPr>
            <p:cNvPr id="23577" name="Rectangle 221"/>
            <p:cNvSpPr>
              <a:spLocks noChangeArrowheads="1"/>
            </p:cNvSpPr>
            <p:nvPr/>
          </p:nvSpPr>
          <p:spPr bwMode="auto">
            <a:xfrm>
              <a:off x="2023" y="2609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23578" name="Rectangle 222"/>
            <p:cNvSpPr>
              <a:spLocks noChangeArrowheads="1"/>
            </p:cNvSpPr>
            <p:nvPr/>
          </p:nvSpPr>
          <p:spPr bwMode="auto">
            <a:xfrm>
              <a:off x="2084" y="2609"/>
              <a:ext cx="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l</a:t>
              </a:r>
              <a:endParaRPr lang="en-US" altLang="en-US" b="1"/>
            </a:p>
          </p:txBody>
        </p:sp>
        <p:sp>
          <p:nvSpPr>
            <p:cNvPr id="23579" name="Rectangle 223"/>
            <p:cNvSpPr>
              <a:spLocks noChangeArrowheads="1"/>
            </p:cNvSpPr>
            <p:nvPr/>
          </p:nvSpPr>
          <p:spPr bwMode="auto">
            <a:xfrm>
              <a:off x="2114" y="260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23580" name="Rectangle 224"/>
            <p:cNvSpPr>
              <a:spLocks noChangeArrowheads="1"/>
            </p:cNvSpPr>
            <p:nvPr/>
          </p:nvSpPr>
          <p:spPr bwMode="auto">
            <a:xfrm>
              <a:off x="2183" y="2609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23581" name="Rectangle 225"/>
            <p:cNvSpPr>
              <a:spLocks noChangeArrowheads="1"/>
            </p:cNvSpPr>
            <p:nvPr/>
          </p:nvSpPr>
          <p:spPr bwMode="auto">
            <a:xfrm>
              <a:off x="2221" y="2609"/>
              <a:ext cx="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i</a:t>
              </a:r>
              <a:endParaRPr lang="en-US" altLang="en-US" b="1"/>
            </a:p>
          </p:txBody>
        </p:sp>
        <p:sp>
          <p:nvSpPr>
            <p:cNvPr id="23582" name="Rectangle 226"/>
            <p:cNvSpPr>
              <a:spLocks noChangeArrowheads="1"/>
            </p:cNvSpPr>
            <p:nvPr/>
          </p:nvSpPr>
          <p:spPr bwMode="auto">
            <a:xfrm>
              <a:off x="2248" y="260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o</a:t>
              </a:r>
              <a:endParaRPr lang="en-US" altLang="en-US" b="1"/>
            </a:p>
          </p:txBody>
        </p:sp>
        <p:sp>
          <p:nvSpPr>
            <p:cNvPr id="23583" name="Rectangle 227"/>
            <p:cNvSpPr>
              <a:spLocks noChangeArrowheads="1"/>
            </p:cNvSpPr>
            <p:nvPr/>
          </p:nvSpPr>
          <p:spPr bwMode="auto">
            <a:xfrm>
              <a:off x="2320" y="2609"/>
              <a:ext cx="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</a:rPr>
                <a:t>n</a:t>
              </a:r>
              <a:endParaRPr lang="en-US" altLang="en-US" b="1"/>
            </a:p>
          </p:txBody>
        </p:sp>
        <p:sp>
          <p:nvSpPr>
            <p:cNvPr id="23584" name="Freeform 228"/>
            <p:cNvSpPr>
              <a:spLocks/>
            </p:cNvSpPr>
            <p:nvPr/>
          </p:nvSpPr>
          <p:spPr bwMode="auto">
            <a:xfrm>
              <a:off x="4325" y="3086"/>
              <a:ext cx="61" cy="65"/>
            </a:xfrm>
            <a:custGeom>
              <a:avLst/>
              <a:gdLst>
                <a:gd name="T0" fmla="*/ 61 w 61"/>
                <a:gd name="T1" fmla="*/ 0 h 65"/>
                <a:gd name="T2" fmla="*/ 0 w 61"/>
                <a:gd name="T3" fmla="*/ 4 h 65"/>
                <a:gd name="T4" fmla="*/ 30 w 61"/>
                <a:gd name="T5" fmla="*/ 65 h 65"/>
                <a:gd name="T6" fmla="*/ 61 w 61"/>
                <a:gd name="T7" fmla="*/ 4 h 65"/>
                <a:gd name="T8" fmla="*/ 61 w 61"/>
                <a:gd name="T9" fmla="*/ 4 h 65"/>
                <a:gd name="T10" fmla="*/ 61 w 61"/>
                <a:gd name="T11" fmla="*/ 0 h 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1"/>
                <a:gd name="T19" fmla="*/ 0 h 65"/>
                <a:gd name="T20" fmla="*/ 61 w 61"/>
                <a:gd name="T21" fmla="*/ 65 h 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1" h="65">
                  <a:moveTo>
                    <a:pt x="61" y="0"/>
                  </a:moveTo>
                  <a:lnTo>
                    <a:pt x="0" y="4"/>
                  </a:lnTo>
                  <a:lnTo>
                    <a:pt x="30" y="65"/>
                  </a:lnTo>
                  <a:lnTo>
                    <a:pt x="61" y="4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585" name="Line 229"/>
            <p:cNvSpPr>
              <a:spLocks noChangeShapeType="1"/>
            </p:cNvSpPr>
            <p:nvPr/>
          </p:nvSpPr>
          <p:spPr bwMode="auto">
            <a:xfrm>
              <a:off x="4355" y="2205"/>
              <a:ext cx="1" cy="896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586" name="Freeform 230"/>
            <p:cNvSpPr>
              <a:spLocks/>
            </p:cNvSpPr>
            <p:nvPr/>
          </p:nvSpPr>
          <p:spPr bwMode="auto">
            <a:xfrm>
              <a:off x="2038" y="2468"/>
              <a:ext cx="65" cy="65"/>
            </a:xfrm>
            <a:custGeom>
              <a:avLst/>
              <a:gdLst>
                <a:gd name="T0" fmla="*/ 61 w 65"/>
                <a:gd name="T1" fmla="*/ 0 h 65"/>
                <a:gd name="T2" fmla="*/ 0 w 65"/>
                <a:gd name="T3" fmla="*/ 0 h 65"/>
                <a:gd name="T4" fmla="*/ 31 w 65"/>
                <a:gd name="T5" fmla="*/ 65 h 65"/>
                <a:gd name="T6" fmla="*/ 65 w 65"/>
                <a:gd name="T7" fmla="*/ 0 h 65"/>
                <a:gd name="T8" fmla="*/ 65 w 65"/>
                <a:gd name="T9" fmla="*/ 0 h 65"/>
                <a:gd name="T10" fmla="*/ 61 w 65"/>
                <a:gd name="T11" fmla="*/ 0 h 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"/>
                <a:gd name="T19" fmla="*/ 0 h 65"/>
                <a:gd name="T20" fmla="*/ 65 w 65"/>
                <a:gd name="T21" fmla="*/ 65 h 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" h="65">
                  <a:moveTo>
                    <a:pt x="61" y="0"/>
                  </a:moveTo>
                  <a:lnTo>
                    <a:pt x="0" y="0"/>
                  </a:lnTo>
                  <a:lnTo>
                    <a:pt x="31" y="65"/>
                  </a:lnTo>
                  <a:lnTo>
                    <a:pt x="65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587" name="Line 231"/>
            <p:cNvSpPr>
              <a:spLocks noChangeShapeType="1"/>
            </p:cNvSpPr>
            <p:nvPr/>
          </p:nvSpPr>
          <p:spPr bwMode="auto">
            <a:xfrm>
              <a:off x="2069" y="2205"/>
              <a:ext cx="1" cy="28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3588" name="Line 232"/>
            <p:cNvSpPr>
              <a:spLocks noChangeShapeType="1"/>
            </p:cNvSpPr>
            <p:nvPr/>
          </p:nvSpPr>
          <p:spPr bwMode="auto">
            <a:xfrm>
              <a:off x="2069" y="2826"/>
              <a:ext cx="1" cy="27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reeform 2"/>
          <p:cNvSpPr>
            <a:spLocks/>
          </p:cNvSpPr>
          <p:nvPr/>
        </p:nvSpPr>
        <p:spPr bwMode="auto">
          <a:xfrm>
            <a:off x="1709738" y="3990975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87400"/>
          </a:xfrm>
        </p:spPr>
        <p:txBody>
          <a:bodyPr/>
          <a:lstStyle/>
          <a:p>
            <a:pPr eaLnBrk="1" hangingPunct="1"/>
            <a:r>
              <a:rPr lang="en-US" altLang="en-US" b="1" dirty="0">
                <a:latin typeface="Arial  " charset="0"/>
              </a:rPr>
              <a:t>Page Table</a:t>
            </a:r>
          </a:p>
        </p:txBody>
      </p:sp>
      <p:sp>
        <p:nvSpPr>
          <p:cNvPr id="25603" name="Freeform 4"/>
          <p:cNvSpPr>
            <a:spLocks/>
          </p:cNvSpPr>
          <p:nvPr/>
        </p:nvSpPr>
        <p:spPr bwMode="auto">
          <a:xfrm>
            <a:off x="1706563" y="1924050"/>
            <a:ext cx="1766887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04" name="Freeform 5"/>
          <p:cNvSpPr>
            <a:spLocks/>
          </p:cNvSpPr>
          <p:nvPr/>
        </p:nvSpPr>
        <p:spPr bwMode="auto">
          <a:xfrm>
            <a:off x="1706563" y="2513013"/>
            <a:ext cx="1766887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05" name="Freeform 6"/>
          <p:cNvSpPr>
            <a:spLocks/>
          </p:cNvSpPr>
          <p:nvPr/>
        </p:nvSpPr>
        <p:spPr bwMode="auto">
          <a:xfrm>
            <a:off x="1706563" y="3101975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06" name="Freeform 7"/>
          <p:cNvSpPr>
            <a:spLocks/>
          </p:cNvSpPr>
          <p:nvPr/>
        </p:nvSpPr>
        <p:spPr bwMode="auto">
          <a:xfrm>
            <a:off x="1706563" y="36909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07" name="Freeform 8"/>
          <p:cNvSpPr>
            <a:spLocks/>
          </p:cNvSpPr>
          <p:nvPr/>
        </p:nvSpPr>
        <p:spPr bwMode="auto">
          <a:xfrm>
            <a:off x="1706563" y="36909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08" name="Freeform 9"/>
          <p:cNvSpPr>
            <a:spLocks/>
          </p:cNvSpPr>
          <p:nvPr/>
        </p:nvSpPr>
        <p:spPr bwMode="auto">
          <a:xfrm>
            <a:off x="1706563" y="4279900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09" name="Freeform 10"/>
          <p:cNvSpPr>
            <a:spLocks/>
          </p:cNvSpPr>
          <p:nvPr/>
        </p:nvSpPr>
        <p:spPr bwMode="auto">
          <a:xfrm>
            <a:off x="1706563" y="4279900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0" name="Freeform 11"/>
          <p:cNvSpPr>
            <a:spLocks/>
          </p:cNvSpPr>
          <p:nvPr/>
        </p:nvSpPr>
        <p:spPr bwMode="auto">
          <a:xfrm>
            <a:off x="1706563" y="4870450"/>
            <a:ext cx="1766887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1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1" name="Freeform 12"/>
          <p:cNvSpPr>
            <a:spLocks/>
          </p:cNvSpPr>
          <p:nvPr/>
        </p:nvSpPr>
        <p:spPr bwMode="auto">
          <a:xfrm>
            <a:off x="4062413" y="4870450"/>
            <a:ext cx="1766887" cy="1130300"/>
          </a:xfrm>
          <a:custGeom>
            <a:avLst/>
            <a:gdLst>
              <a:gd name="T0" fmla="*/ 2147483647 w 1113"/>
              <a:gd name="T1" fmla="*/ 2147483647 h 712"/>
              <a:gd name="T2" fmla="*/ 2147483647 w 1113"/>
              <a:gd name="T3" fmla="*/ 2147483647 h 712"/>
              <a:gd name="T4" fmla="*/ 2147483647 w 1113"/>
              <a:gd name="T5" fmla="*/ 2147483647 h 712"/>
              <a:gd name="T6" fmla="*/ 2147483647 w 1113"/>
              <a:gd name="T7" fmla="*/ 2147483647 h 712"/>
              <a:gd name="T8" fmla="*/ 2147483647 w 1113"/>
              <a:gd name="T9" fmla="*/ 2147483647 h 712"/>
              <a:gd name="T10" fmla="*/ 2147483647 w 1113"/>
              <a:gd name="T11" fmla="*/ 2147483647 h 712"/>
              <a:gd name="T12" fmla="*/ 2147483647 w 1113"/>
              <a:gd name="T13" fmla="*/ 2147483647 h 712"/>
              <a:gd name="T14" fmla="*/ 2147483647 w 1113"/>
              <a:gd name="T15" fmla="*/ 2147483647 h 712"/>
              <a:gd name="T16" fmla="*/ 2147483647 w 1113"/>
              <a:gd name="T17" fmla="*/ 2147483647 h 712"/>
              <a:gd name="T18" fmla="*/ 2147483647 w 1113"/>
              <a:gd name="T19" fmla="*/ 2147483647 h 712"/>
              <a:gd name="T20" fmla="*/ 2147483647 w 1113"/>
              <a:gd name="T21" fmla="*/ 0 h 712"/>
              <a:gd name="T22" fmla="*/ 2147483647 w 1113"/>
              <a:gd name="T23" fmla="*/ 2147483647 h 712"/>
              <a:gd name="T24" fmla="*/ 2147483647 w 1113"/>
              <a:gd name="T25" fmla="*/ 2147483647 h 712"/>
              <a:gd name="T26" fmla="*/ 2147483647 w 1113"/>
              <a:gd name="T27" fmla="*/ 2147483647 h 712"/>
              <a:gd name="T28" fmla="*/ 2147483647 w 1113"/>
              <a:gd name="T29" fmla="*/ 2147483647 h 712"/>
              <a:gd name="T30" fmla="*/ 2147483647 w 1113"/>
              <a:gd name="T31" fmla="*/ 2147483647 h 712"/>
              <a:gd name="T32" fmla="*/ 2147483647 w 1113"/>
              <a:gd name="T33" fmla="*/ 2147483647 h 712"/>
              <a:gd name="T34" fmla="*/ 2147483647 w 1113"/>
              <a:gd name="T35" fmla="*/ 2147483647 h 712"/>
              <a:gd name="T36" fmla="*/ 2147483647 w 1113"/>
              <a:gd name="T37" fmla="*/ 2147483647 h 712"/>
              <a:gd name="T38" fmla="*/ 2147483647 w 1113"/>
              <a:gd name="T39" fmla="*/ 2147483647 h 712"/>
              <a:gd name="T40" fmla="*/ 0 w 1113"/>
              <a:gd name="T41" fmla="*/ 2147483647 h 712"/>
              <a:gd name="T42" fmla="*/ 0 w 1113"/>
              <a:gd name="T43" fmla="*/ 2147483647 h 712"/>
              <a:gd name="T44" fmla="*/ 2147483647 w 1113"/>
              <a:gd name="T45" fmla="*/ 2147483647 h 712"/>
              <a:gd name="T46" fmla="*/ 2147483647 w 1113"/>
              <a:gd name="T47" fmla="*/ 2147483647 h 712"/>
              <a:gd name="T48" fmla="*/ 2147483647 w 1113"/>
              <a:gd name="T49" fmla="*/ 2147483647 h 712"/>
              <a:gd name="T50" fmla="*/ 2147483647 w 1113"/>
              <a:gd name="T51" fmla="*/ 2147483647 h 712"/>
              <a:gd name="T52" fmla="*/ 2147483647 w 1113"/>
              <a:gd name="T53" fmla="*/ 2147483647 h 712"/>
              <a:gd name="T54" fmla="*/ 2147483647 w 1113"/>
              <a:gd name="T55" fmla="*/ 2147483647 h 712"/>
              <a:gd name="T56" fmla="*/ 2147483647 w 1113"/>
              <a:gd name="T57" fmla="*/ 2147483647 h 712"/>
              <a:gd name="T58" fmla="*/ 2147483647 w 1113"/>
              <a:gd name="T59" fmla="*/ 2147483647 h 712"/>
              <a:gd name="T60" fmla="*/ 2147483647 w 1113"/>
              <a:gd name="T61" fmla="*/ 2147483647 h 712"/>
              <a:gd name="T62" fmla="*/ 2147483647 w 1113"/>
              <a:gd name="T63" fmla="*/ 2147483647 h 712"/>
              <a:gd name="T64" fmla="*/ 2147483647 w 1113"/>
              <a:gd name="T65" fmla="*/ 2147483647 h 712"/>
              <a:gd name="T66" fmla="*/ 2147483647 w 1113"/>
              <a:gd name="T67" fmla="*/ 2147483647 h 712"/>
              <a:gd name="T68" fmla="*/ 2147483647 w 1113"/>
              <a:gd name="T69" fmla="*/ 2147483647 h 712"/>
              <a:gd name="T70" fmla="*/ 2147483647 w 1113"/>
              <a:gd name="T71" fmla="*/ 2147483647 h 712"/>
              <a:gd name="T72" fmla="*/ 2147483647 w 1113"/>
              <a:gd name="T73" fmla="*/ 2147483647 h 712"/>
              <a:gd name="T74" fmla="*/ 2147483647 w 1113"/>
              <a:gd name="T75" fmla="*/ 2147483647 h 712"/>
              <a:gd name="T76" fmla="*/ 2147483647 w 1113"/>
              <a:gd name="T77" fmla="*/ 2147483647 h 712"/>
              <a:gd name="T78" fmla="*/ 2147483647 w 1113"/>
              <a:gd name="T79" fmla="*/ 2147483647 h 712"/>
              <a:gd name="T80" fmla="*/ 2147483647 w 1113"/>
              <a:gd name="T81" fmla="*/ 2147483647 h 712"/>
              <a:gd name="T82" fmla="*/ 2147483647 w 1113"/>
              <a:gd name="T83" fmla="*/ 2147483647 h 712"/>
              <a:gd name="T84" fmla="*/ 2147483647 w 1113"/>
              <a:gd name="T85" fmla="*/ 2147483647 h 712"/>
              <a:gd name="T86" fmla="*/ 2147483647 w 1113"/>
              <a:gd name="T87" fmla="*/ 2147483647 h 712"/>
              <a:gd name="T88" fmla="*/ 2147483647 w 1113"/>
              <a:gd name="T89" fmla="*/ 2147483647 h 71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113"/>
              <a:gd name="T136" fmla="*/ 0 h 712"/>
              <a:gd name="T137" fmla="*/ 1113 w 1113"/>
              <a:gd name="T138" fmla="*/ 712 h 712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113" h="712">
                <a:moveTo>
                  <a:pt x="1113" y="155"/>
                </a:moveTo>
                <a:lnTo>
                  <a:pt x="1106" y="133"/>
                </a:lnTo>
                <a:lnTo>
                  <a:pt x="1087" y="107"/>
                </a:lnTo>
                <a:lnTo>
                  <a:pt x="1054" y="85"/>
                </a:lnTo>
                <a:lnTo>
                  <a:pt x="1005" y="66"/>
                </a:lnTo>
                <a:lnTo>
                  <a:pt x="950" y="48"/>
                </a:lnTo>
                <a:lnTo>
                  <a:pt x="887" y="29"/>
                </a:lnTo>
                <a:lnTo>
                  <a:pt x="812" y="18"/>
                </a:lnTo>
                <a:lnTo>
                  <a:pt x="734" y="7"/>
                </a:lnTo>
                <a:lnTo>
                  <a:pt x="649" y="3"/>
                </a:lnTo>
                <a:lnTo>
                  <a:pt x="556" y="0"/>
                </a:lnTo>
                <a:lnTo>
                  <a:pt x="467" y="3"/>
                </a:lnTo>
                <a:lnTo>
                  <a:pt x="382" y="7"/>
                </a:lnTo>
                <a:lnTo>
                  <a:pt x="300" y="18"/>
                </a:lnTo>
                <a:lnTo>
                  <a:pt x="230" y="29"/>
                </a:lnTo>
                <a:lnTo>
                  <a:pt x="163" y="48"/>
                </a:lnTo>
                <a:lnTo>
                  <a:pt x="107" y="66"/>
                </a:lnTo>
                <a:lnTo>
                  <a:pt x="63" y="85"/>
                </a:lnTo>
                <a:lnTo>
                  <a:pt x="29" y="107"/>
                </a:lnTo>
                <a:lnTo>
                  <a:pt x="7" y="133"/>
                </a:lnTo>
                <a:lnTo>
                  <a:pt x="0" y="159"/>
                </a:lnTo>
                <a:lnTo>
                  <a:pt x="0" y="556"/>
                </a:lnTo>
                <a:lnTo>
                  <a:pt x="7" y="582"/>
                </a:lnTo>
                <a:lnTo>
                  <a:pt x="29" y="605"/>
                </a:lnTo>
                <a:lnTo>
                  <a:pt x="63" y="627"/>
                </a:lnTo>
                <a:lnTo>
                  <a:pt x="107" y="649"/>
                </a:lnTo>
                <a:lnTo>
                  <a:pt x="163" y="668"/>
                </a:lnTo>
                <a:lnTo>
                  <a:pt x="230" y="682"/>
                </a:lnTo>
                <a:lnTo>
                  <a:pt x="300" y="697"/>
                </a:lnTo>
                <a:lnTo>
                  <a:pt x="382" y="705"/>
                </a:lnTo>
                <a:lnTo>
                  <a:pt x="467" y="712"/>
                </a:lnTo>
                <a:lnTo>
                  <a:pt x="556" y="712"/>
                </a:lnTo>
                <a:lnTo>
                  <a:pt x="649" y="712"/>
                </a:lnTo>
                <a:lnTo>
                  <a:pt x="734" y="705"/>
                </a:lnTo>
                <a:lnTo>
                  <a:pt x="812" y="697"/>
                </a:lnTo>
                <a:lnTo>
                  <a:pt x="887" y="682"/>
                </a:lnTo>
                <a:lnTo>
                  <a:pt x="950" y="668"/>
                </a:lnTo>
                <a:lnTo>
                  <a:pt x="1005" y="649"/>
                </a:lnTo>
                <a:lnTo>
                  <a:pt x="1054" y="627"/>
                </a:lnTo>
                <a:lnTo>
                  <a:pt x="1087" y="605"/>
                </a:lnTo>
                <a:lnTo>
                  <a:pt x="1106" y="582"/>
                </a:lnTo>
                <a:lnTo>
                  <a:pt x="1113" y="556"/>
                </a:lnTo>
                <a:lnTo>
                  <a:pt x="1113" y="159"/>
                </a:lnTo>
                <a:lnTo>
                  <a:pt x="1113" y="1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2" name="Freeform 13"/>
          <p:cNvSpPr>
            <a:spLocks/>
          </p:cNvSpPr>
          <p:nvPr/>
        </p:nvSpPr>
        <p:spPr bwMode="auto">
          <a:xfrm>
            <a:off x="4062413" y="4870450"/>
            <a:ext cx="1766887" cy="1130300"/>
          </a:xfrm>
          <a:custGeom>
            <a:avLst/>
            <a:gdLst>
              <a:gd name="T0" fmla="*/ 2147483647 w 1113"/>
              <a:gd name="T1" fmla="*/ 2147483647 h 712"/>
              <a:gd name="T2" fmla="*/ 2147483647 w 1113"/>
              <a:gd name="T3" fmla="*/ 2147483647 h 712"/>
              <a:gd name="T4" fmla="*/ 2147483647 w 1113"/>
              <a:gd name="T5" fmla="*/ 2147483647 h 712"/>
              <a:gd name="T6" fmla="*/ 2147483647 w 1113"/>
              <a:gd name="T7" fmla="*/ 2147483647 h 712"/>
              <a:gd name="T8" fmla="*/ 2147483647 w 1113"/>
              <a:gd name="T9" fmla="*/ 2147483647 h 712"/>
              <a:gd name="T10" fmla="*/ 2147483647 w 1113"/>
              <a:gd name="T11" fmla="*/ 2147483647 h 712"/>
              <a:gd name="T12" fmla="*/ 2147483647 w 1113"/>
              <a:gd name="T13" fmla="*/ 2147483647 h 712"/>
              <a:gd name="T14" fmla="*/ 2147483647 w 1113"/>
              <a:gd name="T15" fmla="*/ 2147483647 h 712"/>
              <a:gd name="T16" fmla="*/ 2147483647 w 1113"/>
              <a:gd name="T17" fmla="*/ 2147483647 h 712"/>
              <a:gd name="T18" fmla="*/ 2147483647 w 1113"/>
              <a:gd name="T19" fmla="*/ 2147483647 h 712"/>
              <a:gd name="T20" fmla="*/ 2147483647 w 1113"/>
              <a:gd name="T21" fmla="*/ 0 h 712"/>
              <a:gd name="T22" fmla="*/ 2147483647 w 1113"/>
              <a:gd name="T23" fmla="*/ 2147483647 h 712"/>
              <a:gd name="T24" fmla="*/ 2147483647 w 1113"/>
              <a:gd name="T25" fmla="*/ 2147483647 h 712"/>
              <a:gd name="T26" fmla="*/ 2147483647 w 1113"/>
              <a:gd name="T27" fmla="*/ 2147483647 h 712"/>
              <a:gd name="T28" fmla="*/ 2147483647 w 1113"/>
              <a:gd name="T29" fmla="*/ 2147483647 h 712"/>
              <a:gd name="T30" fmla="*/ 2147483647 w 1113"/>
              <a:gd name="T31" fmla="*/ 2147483647 h 712"/>
              <a:gd name="T32" fmla="*/ 2147483647 w 1113"/>
              <a:gd name="T33" fmla="*/ 2147483647 h 712"/>
              <a:gd name="T34" fmla="*/ 2147483647 w 1113"/>
              <a:gd name="T35" fmla="*/ 2147483647 h 712"/>
              <a:gd name="T36" fmla="*/ 2147483647 w 1113"/>
              <a:gd name="T37" fmla="*/ 2147483647 h 712"/>
              <a:gd name="T38" fmla="*/ 2147483647 w 1113"/>
              <a:gd name="T39" fmla="*/ 2147483647 h 712"/>
              <a:gd name="T40" fmla="*/ 0 w 1113"/>
              <a:gd name="T41" fmla="*/ 2147483647 h 712"/>
              <a:gd name="T42" fmla="*/ 0 w 1113"/>
              <a:gd name="T43" fmla="*/ 2147483647 h 712"/>
              <a:gd name="T44" fmla="*/ 2147483647 w 1113"/>
              <a:gd name="T45" fmla="*/ 2147483647 h 712"/>
              <a:gd name="T46" fmla="*/ 2147483647 w 1113"/>
              <a:gd name="T47" fmla="*/ 2147483647 h 712"/>
              <a:gd name="T48" fmla="*/ 2147483647 w 1113"/>
              <a:gd name="T49" fmla="*/ 2147483647 h 712"/>
              <a:gd name="T50" fmla="*/ 2147483647 w 1113"/>
              <a:gd name="T51" fmla="*/ 2147483647 h 712"/>
              <a:gd name="T52" fmla="*/ 2147483647 w 1113"/>
              <a:gd name="T53" fmla="*/ 2147483647 h 712"/>
              <a:gd name="T54" fmla="*/ 2147483647 w 1113"/>
              <a:gd name="T55" fmla="*/ 2147483647 h 712"/>
              <a:gd name="T56" fmla="*/ 2147483647 w 1113"/>
              <a:gd name="T57" fmla="*/ 2147483647 h 712"/>
              <a:gd name="T58" fmla="*/ 2147483647 w 1113"/>
              <a:gd name="T59" fmla="*/ 2147483647 h 712"/>
              <a:gd name="T60" fmla="*/ 2147483647 w 1113"/>
              <a:gd name="T61" fmla="*/ 2147483647 h 712"/>
              <a:gd name="T62" fmla="*/ 2147483647 w 1113"/>
              <a:gd name="T63" fmla="*/ 2147483647 h 712"/>
              <a:gd name="T64" fmla="*/ 2147483647 w 1113"/>
              <a:gd name="T65" fmla="*/ 2147483647 h 712"/>
              <a:gd name="T66" fmla="*/ 2147483647 w 1113"/>
              <a:gd name="T67" fmla="*/ 2147483647 h 712"/>
              <a:gd name="T68" fmla="*/ 2147483647 w 1113"/>
              <a:gd name="T69" fmla="*/ 2147483647 h 712"/>
              <a:gd name="T70" fmla="*/ 2147483647 w 1113"/>
              <a:gd name="T71" fmla="*/ 2147483647 h 712"/>
              <a:gd name="T72" fmla="*/ 2147483647 w 1113"/>
              <a:gd name="T73" fmla="*/ 2147483647 h 712"/>
              <a:gd name="T74" fmla="*/ 2147483647 w 1113"/>
              <a:gd name="T75" fmla="*/ 2147483647 h 712"/>
              <a:gd name="T76" fmla="*/ 2147483647 w 1113"/>
              <a:gd name="T77" fmla="*/ 2147483647 h 712"/>
              <a:gd name="T78" fmla="*/ 2147483647 w 1113"/>
              <a:gd name="T79" fmla="*/ 2147483647 h 712"/>
              <a:gd name="T80" fmla="*/ 2147483647 w 1113"/>
              <a:gd name="T81" fmla="*/ 2147483647 h 712"/>
              <a:gd name="T82" fmla="*/ 2147483647 w 1113"/>
              <a:gd name="T83" fmla="*/ 2147483647 h 712"/>
              <a:gd name="T84" fmla="*/ 2147483647 w 1113"/>
              <a:gd name="T85" fmla="*/ 2147483647 h 712"/>
              <a:gd name="T86" fmla="*/ 2147483647 w 1113"/>
              <a:gd name="T87" fmla="*/ 2147483647 h 71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113"/>
              <a:gd name="T133" fmla="*/ 0 h 712"/>
              <a:gd name="T134" fmla="*/ 1113 w 1113"/>
              <a:gd name="T135" fmla="*/ 712 h 712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113" h="712">
                <a:moveTo>
                  <a:pt x="1113" y="155"/>
                </a:moveTo>
                <a:lnTo>
                  <a:pt x="1106" y="133"/>
                </a:lnTo>
                <a:lnTo>
                  <a:pt x="1087" y="107"/>
                </a:lnTo>
                <a:lnTo>
                  <a:pt x="1054" y="85"/>
                </a:lnTo>
                <a:lnTo>
                  <a:pt x="1005" y="66"/>
                </a:lnTo>
                <a:lnTo>
                  <a:pt x="950" y="48"/>
                </a:lnTo>
                <a:lnTo>
                  <a:pt x="887" y="29"/>
                </a:lnTo>
                <a:lnTo>
                  <a:pt x="812" y="18"/>
                </a:lnTo>
                <a:lnTo>
                  <a:pt x="734" y="7"/>
                </a:lnTo>
                <a:lnTo>
                  <a:pt x="649" y="3"/>
                </a:lnTo>
                <a:lnTo>
                  <a:pt x="556" y="0"/>
                </a:lnTo>
                <a:lnTo>
                  <a:pt x="467" y="3"/>
                </a:lnTo>
                <a:lnTo>
                  <a:pt x="382" y="7"/>
                </a:lnTo>
                <a:lnTo>
                  <a:pt x="300" y="18"/>
                </a:lnTo>
                <a:lnTo>
                  <a:pt x="230" y="29"/>
                </a:lnTo>
                <a:lnTo>
                  <a:pt x="163" y="48"/>
                </a:lnTo>
                <a:lnTo>
                  <a:pt x="107" y="66"/>
                </a:lnTo>
                <a:lnTo>
                  <a:pt x="63" y="85"/>
                </a:lnTo>
                <a:lnTo>
                  <a:pt x="29" y="107"/>
                </a:lnTo>
                <a:lnTo>
                  <a:pt x="7" y="133"/>
                </a:lnTo>
                <a:lnTo>
                  <a:pt x="0" y="159"/>
                </a:lnTo>
                <a:lnTo>
                  <a:pt x="0" y="556"/>
                </a:lnTo>
                <a:lnTo>
                  <a:pt x="7" y="582"/>
                </a:lnTo>
                <a:lnTo>
                  <a:pt x="29" y="605"/>
                </a:lnTo>
                <a:lnTo>
                  <a:pt x="63" y="627"/>
                </a:lnTo>
                <a:lnTo>
                  <a:pt x="107" y="649"/>
                </a:lnTo>
                <a:lnTo>
                  <a:pt x="163" y="668"/>
                </a:lnTo>
                <a:lnTo>
                  <a:pt x="230" y="682"/>
                </a:lnTo>
                <a:lnTo>
                  <a:pt x="300" y="697"/>
                </a:lnTo>
                <a:lnTo>
                  <a:pt x="382" y="705"/>
                </a:lnTo>
                <a:lnTo>
                  <a:pt x="467" y="712"/>
                </a:lnTo>
                <a:lnTo>
                  <a:pt x="556" y="712"/>
                </a:lnTo>
                <a:lnTo>
                  <a:pt x="649" y="712"/>
                </a:lnTo>
                <a:lnTo>
                  <a:pt x="734" y="705"/>
                </a:lnTo>
                <a:lnTo>
                  <a:pt x="812" y="697"/>
                </a:lnTo>
                <a:lnTo>
                  <a:pt x="887" y="682"/>
                </a:lnTo>
                <a:lnTo>
                  <a:pt x="950" y="668"/>
                </a:lnTo>
                <a:lnTo>
                  <a:pt x="1005" y="649"/>
                </a:lnTo>
                <a:lnTo>
                  <a:pt x="1054" y="627"/>
                </a:lnTo>
                <a:lnTo>
                  <a:pt x="1087" y="605"/>
                </a:lnTo>
                <a:lnTo>
                  <a:pt x="1106" y="582"/>
                </a:lnTo>
                <a:lnTo>
                  <a:pt x="1113" y="556"/>
                </a:lnTo>
                <a:lnTo>
                  <a:pt x="1113" y="159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3" name="Freeform 14"/>
          <p:cNvSpPr>
            <a:spLocks/>
          </p:cNvSpPr>
          <p:nvPr/>
        </p:nvSpPr>
        <p:spPr bwMode="auto">
          <a:xfrm>
            <a:off x="5829300" y="1924050"/>
            <a:ext cx="1766888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4" name="Freeform 15"/>
          <p:cNvSpPr>
            <a:spLocks/>
          </p:cNvSpPr>
          <p:nvPr/>
        </p:nvSpPr>
        <p:spPr bwMode="auto">
          <a:xfrm>
            <a:off x="5829300" y="2217738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5" name="Freeform 16"/>
          <p:cNvSpPr>
            <a:spLocks/>
          </p:cNvSpPr>
          <p:nvPr/>
        </p:nvSpPr>
        <p:spPr bwMode="auto">
          <a:xfrm>
            <a:off x="5829300" y="2513013"/>
            <a:ext cx="1766888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6" name="Freeform 17"/>
          <p:cNvSpPr>
            <a:spLocks/>
          </p:cNvSpPr>
          <p:nvPr/>
        </p:nvSpPr>
        <p:spPr bwMode="auto">
          <a:xfrm>
            <a:off x="5829300" y="2806700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7" name="Freeform 18"/>
          <p:cNvSpPr>
            <a:spLocks/>
          </p:cNvSpPr>
          <p:nvPr/>
        </p:nvSpPr>
        <p:spPr bwMode="auto">
          <a:xfrm>
            <a:off x="5829300" y="3101975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8" name="Freeform 19"/>
          <p:cNvSpPr>
            <a:spLocks/>
          </p:cNvSpPr>
          <p:nvPr/>
        </p:nvSpPr>
        <p:spPr bwMode="auto">
          <a:xfrm>
            <a:off x="5829300" y="3397250"/>
            <a:ext cx="1766888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1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19" name="Freeform 20"/>
          <p:cNvSpPr>
            <a:spLocks/>
          </p:cNvSpPr>
          <p:nvPr/>
        </p:nvSpPr>
        <p:spPr bwMode="auto">
          <a:xfrm>
            <a:off x="5829300" y="3690938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20" name="Freeform 21"/>
          <p:cNvSpPr>
            <a:spLocks/>
          </p:cNvSpPr>
          <p:nvPr/>
        </p:nvSpPr>
        <p:spPr bwMode="auto">
          <a:xfrm>
            <a:off x="5829300" y="3986213"/>
            <a:ext cx="1766888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21" name="Freeform 22"/>
          <p:cNvSpPr>
            <a:spLocks/>
          </p:cNvSpPr>
          <p:nvPr/>
        </p:nvSpPr>
        <p:spPr bwMode="auto">
          <a:xfrm>
            <a:off x="5829300" y="4279900"/>
            <a:ext cx="1766888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22" name="Freeform 23"/>
          <p:cNvSpPr>
            <a:spLocks/>
          </p:cNvSpPr>
          <p:nvPr/>
        </p:nvSpPr>
        <p:spPr bwMode="auto">
          <a:xfrm>
            <a:off x="4062413" y="5116513"/>
            <a:ext cx="1766887" cy="260350"/>
          </a:xfrm>
          <a:custGeom>
            <a:avLst/>
            <a:gdLst>
              <a:gd name="T0" fmla="*/ 0 w 1113"/>
              <a:gd name="T1" fmla="*/ 0 h 164"/>
              <a:gd name="T2" fmla="*/ 2147483647 w 1113"/>
              <a:gd name="T3" fmla="*/ 2147483647 h 164"/>
              <a:gd name="T4" fmla="*/ 2147483647 w 1113"/>
              <a:gd name="T5" fmla="*/ 2147483647 h 164"/>
              <a:gd name="T6" fmla="*/ 2147483647 w 1113"/>
              <a:gd name="T7" fmla="*/ 2147483647 h 164"/>
              <a:gd name="T8" fmla="*/ 2147483647 w 1113"/>
              <a:gd name="T9" fmla="*/ 2147483647 h 164"/>
              <a:gd name="T10" fmla="*/ 2147483647 w 1113"/>
              <a:gd name="T11" fmla="*/ 2147483647 h 164"/>
              <a:gd name="T12" fmla="*/ 2147483647 w 1113"/>
              <a:gd name="T13" fmla="*/ 2147483647 h 164"/>
              <a:gd name="T14" fmla="*/ 2147483647 w 1113"/>
              <a:gd name="T15" fmla="*/ 2147483647 h 164"/>
              <a:gd name="T16" fmla="*/ 2147483647 w 1113"/>
              <a:gd name="T17" fmla="*/ 2147483647 h 164"/>
              <a:gd name="T18" fmla="*/ 2147483647 w 1113"/>
              <a:gd name="T19" fmla="*/ 2147483647 h 164"/>
              <a:gd name="T20" fmla="*/ 2147483647 w 1113"/>
              <a:gd name="T21" fmla="*/ 2147483647 h 164"/>
              <a:gd name="T22" fmla="*/ 2147483647 w 1113"/>
              <a:gd name="T23" fmla="*/ 2147483647 h 164"/>
              <a:gd name="T24" fmla="*/ 2147483647 w 1113"/>
              <a:gd name="T25" fmla="*/ 2147483647 h 164"/>
              <a:gd name="T26" fmla="*/ 2147483647 w 1113"/>
              <a:gd name="T27" fmla="*/ 2147483647 h 164"/>
              <a:gd name="T28" fmla="*/ 2147483647 w 1113"/>
              <a:gd name="T29" fmla="*/ 2147483647 h 164"/>
              <a:gd name="T30" fmla="*/ 2147483647 w 1113"/>
              <a:gd name="T31" fmla="*/ 2147483647 h 164"/>
              <a:gd name="T32" fmla="*/ 2147483647 w 1113"/>
              <a:gd name="T33" fmla="*/ 2147483647 h 164"/>
              <a:gd name="T34" fmla="*/ 2147483647 w 1113"/>
              <a:gd name="T35" fmla="*/ 2147483647 h 164"/>
              <a:gd name="T36" fmla="*/ 2147483647 w 1113"/>
              <a:gd name="T37" fmla="*/ 2147483647 h 164"/>
              <a:gd name="T38" fmla="*/ 2147483647 w 1113"/>
              <a:gd name="T39" fmla="*/ 2147483647 h 164"/>
              <a:gd name="T40" fmla="*/ 2147483647 w 1113"/>
              <a:gd name="T41" fmla="*/ 2147483647 h 16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113"/>
              <a:gd name="T64" fmla="*/ 0 h 164"/>
              <a:gd name="T65" fmla="*/ 1113 w 1113"/>
              <a:gd name="T66" fmla="*/ 164 h 164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113" h="164">
                <a:moveTo>
                  <a:pt x="0" y="0"/>
                </a:moveTo>
                <a:lnTo>
                  <a:pt x="7" y="30"/>
                </a:lnTo>
                <a:lnTo>
                  <a:pt x="29" y="52"/>
                </a:lnTo>
                <a:lnTo>
                  <a:pt x="63" y="78"/>
                </a:lnTo>
                <a:lnTo>
                  <a:pt x="107" y="97"/>
                </a:lnTo>
                <a:lnTo>
                  <a:pt x="163" y="115"/>
                </a:lnTo>
                <a:lnTo>
                  <a:pt x="230" y="130"/>
                </a:lnTo>
                <a:lnTo>
                  <a:pt x="300" y="145"/>
                </a:lnTo>
                <a:lnTo>
                  <a:pt x="382" y="156"/>
                </a:lnTo>
                <a:lnTo>
                  <a:pt x="467" y="160"/>
                </a:lnTo>
                <a:lnTo>
                  <a:pt x="556" y="164"/>
                </a:lnTo>
                <a:lnTo>
                  <a:pt x="649" y="160"/>
                </a:lnTo>
                <a:lnTo>
                  <a:pt x="734" y="156"/>
                </a:lnTo>
                <a:lnTo>
                  <a:pt x="812" y="145"/>
                </a:lnTo>
                <a:lnTo>
                  <a:pt x="887" y="130"/>
                </a:lnTo>
                <a:lnTo>
                  <a:pt x="950" y="115"/>
                </a:lnTo>
                <a:lnTo>
                  <a:pt x="1005" y="97"/>
                </a:lnTo>
                <a:lnTo>
                  <a:pt x="1054" y="78"/>
                </a:lnTo>
                <a:lnTo>
                  <a:pt x="1087" y="52"/>
                </a:lnTo>
                <a:lnTo>
                  <a:pt x="1106" y="30"/>
                </a:lnTo>
                <a:lnTo>
                  <a:pt x="1113" y="4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23" name="Rectangle 24"/>
          <p:cNvSpPr>
            <a:spLocks noChangeArrowheads="1"/>
          </p:cNvSpPr>
          <p:nvPr/>
        </p:nvSpPr>
        <p:spPr bwMode="auto">
          <a:xfrm>
            <a:off x="4267200" y="6096000"/>
            <a:ext cx="1397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5624" name="Rectangle 25"/>
          <p:cNvSpPr>
            <a:spLocks noChangeArrowheads="1"/>
          </p:cNvSpPr>
          <p:nvPr/>
        </p:nvSpPr>
        <p:spPr bwMode="auto">
          <a:xfrm>
            <a:off x="4408488" y="6096000"/>
            <a:ext cx="428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i</a:t>
            </a:r>
            <a:endParaRPr lang="en-US" altLang="en-US" b="1"/>
          </a:p>
        </p:txBody>
      </p:sp>
      <p:sp>
        <p:nvSpPr>
          <p:cNvPr id="25625" name="Rectangle 26"/>
          <p:cNvSpPr>
            <a:spLocks noChangeArrowheads="1"/>
          </p:cNvSpPr>
          <p:nvPr/>
        </p:nvSpPr>
        <p:spPr bwMode="auto">
          <a:xfrm>
            <a:off x="4449763" y="6096000"/>
            <a:ext cx="96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5626" name="Rectangle 27"/>
          <p:cNvSpPr>
            <a:spLocks noChangeArrowheads="1"/>
          </p:cNvSpPr>
          <p:nvPr/>
        </p:nvSpPr>
        <p:spPr bwMode="auto">
          <a:xfrm>
            <a:off x="4549775" y="6096000"/>
            <a:ext cx="968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k</a:t>
            </a:r>
            <a:endParaRPr lang="en-US" altLang="en-US" b="1"/>
          </a:p>
        </p:txBody>
      </p:sp>
      <p:sp>
        <p:nvSpPr>
          <p:cNvPr id="25627" name="Rectangle 28"/>
          <p:cNvSpPr>
            <a:spLocks noChangeArrowheads="1"/>
          </p:cNvSpPr>
          <p:nvPr/>
        </p:nvSpPr>
        <p:spPr bwMode="auto">
          <a:xfrm>
            <a:off x="4649788" y="6096000"/>
            <a:ext cx="523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5628" name="Rectangle 29"/>
          <p:cNvSpPr>
            <a:spLocks noChangeArrowheads="1"/>
          </p:cNvSpPr>
          <p:nvPr/>
        </p:nvSpPr>
        <p:spPr bwMode="auto">
          <a:xfrm>
            <a:off x="4702175" y="6096000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a</a:t>
            </a:r>
            <a:endParaRPr lang="en-US" altLang="en-US" b="1"/>
          </a:p>
        </p:txBody>
      </p:sp>
      <p:sp>
        <p:nvSpPr>
          <p:cNvPr id="25629" name="Rectangle 30"/>
          <p:cNvSpPr>
            <a:spLocks noChangeArrowheads="1"/>
          </p:cNvSpPr>
          <p:nvPr/>
        </p:nvSpPr>
        <p:spPr bwMode="auto">
          <a:xfrm>
            <a:off x="4808538" y="6096000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5630" name="Rectangle 31"/>
          <p:cNvSpPr>
            <a:spLocks noChangeArrowheads="1"/>
          </p:cNvSpPr>
          <p:nvPr/>
        </p:nvSpPr>
        <p:spPr bwMode="auto">
          <a:xfrm>
            <a:off x="4921250" y="6096000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d</a:t>
            </a:r>
            <a:endParaRPr lang="en-US" altLang="en-US" b="1"/>
          </a:p>
        </p:txBody>
      </p:sp>
      <p:sp>
        <p:nvSpPr>
          <p:cNvPr id="25631" name="Rectangle 32"/>
          <p:cNvSpPr>
            <a:spLocks noChangeArrowheads="1"/>
          </p:cNvSpPr>
          <p:nvPr/>
        </p:nvSpPr>
        <p:spPr bwMode="auto">
          <a:xfrm>
            <a:off x="5032375" y="6096000"/>
            <a:ext cx="635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r</a:t>
            </a:r>
            <a:endParaRPr lang="en-US" altLang="en-US" b="1"/>
          </a:p>
        </p:txBody>
      </p:sp>
      <p:sp>
        <p:nvSpPr>
          <p:cNvPr id="25632" name="Rectangle 33"/>
          <p:cNvSpPr>
            <a:spLocks noChangeArrowheads="1"/>
          </p:cNvSpPr>
          <p:nvPr/>
        </p:nvSpPr>
        <p:spPr bwMode="auto">
          <a:xfrm>
            <a:off x="5097463" y="6096000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5633" name="Rectangle 34"/>
          <p:cNvSpPr>
            <a:spLocks noChangeArrowheads="1"/>
          </p:cNvSpPr>
          <p:nvPr/>
        </p:nvSpPr>
        <p:spPr bwMode="auto">
          <a:xfrm>
            <a:off x="5203825" y="6096000"/>
            <a:ext cx="968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5634" name="Rectangle 35"/>
          <p:cNvSpPr>
            <a:spLocks noChangeArrowheads="1"/>
          </p:cNvSpPr>
          <p:nvPr/>
        </p:nvSpPr>
        <p:spPr bwMode="auto">
          <a:xfrm>
            <a:off x="5303838" y="6096000"/>
            <a:ext cx="96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5635" name="Rectangle 36"/>
          <p:cNvSpPr>
            <a:spLocks noChangeArrowheads="1"/>
          </p:cNvSpPr>
          <p:nvPr/>
        </p:nvSpPr>
        <p:spPr bwMode="auto">
          <a:xfrm>
            <a:off x="5403850" y="6096000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e</a:t>
            </a:r>
            <a:endParaRPr lang="en-US" altLang="en-US" b="1"/>
          </a:p>
        </p:txBody>
      </p:sp>
      <p:sp>
        <p:nvSpPr>
          <p:cNvPr id="25636" name="Rectangle 37"/>
          <p:cNvSpPr>
            <a:spLocks noChangeArrowheads="1"/>
          </p:cNvSpPr>
          <p:nvPr/>
        </p:nvSpPr>
        <p:spPr bwMode="auto">
          <a:xfrm>
            <a:off x="5510213" y="6096000"/>
            <a:ext cx="96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</a:rPr>
              <a:t>s</a:t>
            </a:r>
            <a:endParaRPr lang="en-US" altLang="en-US" b="1"/>
          </a:p>
        </p:txBody>
      </p:sp>
      <p:sp>
        <p:nvSpPr>
          <p:cNvPr id="25637" name="Freeform 38"/>
          <p:cNvSpPr>
            <a:spLocks/>
          </p:cNvSpPr>
          <p:nvPr/>
        </p:nvSpPr>
        <p:spPr bwMode="auto">
          <a:xfrm>
            <a:off x="1706563" y="22177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38" name="Freeform 39"/>
          <p:cNvSpPr>
            <a:spLocks/>
          </p:cNvSpPr>
          <p:nvPr/>
        </p:nvSpPr>
        <p:spPr bwMode="auto">
          <a:xfrm>
            <a:off x="1706563" y="2806700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39" name="Freeform 40"/>
          <p:cNvSpPr>
            <a:spLocks/>
          </p:cNvSpPr>
          <p:nvPr/>
        </p:nvSpPr>
        <p:spPr bwMode="auto">
          <a:xfrm>
            <a:off x="1706563" y="3397250"/>
            <a:ext cx="1766887" cy="293688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1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0" name="Freeform 41"/>
          <p:cNvSpPr>
            <a:spLocks/>
          </p:cNvSpPr>
          <p:nvPr/>
        </p:nvSpPr>
        <p:spPr bwMode="auto">
          <a:xfrm>
            <a:off x="1706563" y="3986213"/>
            <a:ext cx="1766887" cy="293687"/>
          </a:xfrm>
          <a:custGeom>
            <a:avLst/>
            <a:gdLst>
              <a:gd name="T0" fmla="*/ 2147483647 w 1113"/>
              <a:gd name="T1" fmla="*/ 2147483647 h 185"/>
              <a:gd name="T2" fmla="*/ 2147483647 w 1113"/>
              <a:gd name="T3" fmla="*/ 0 h 185"/>
              <a:gd name="T4" fmla="*/ 0 w 1113"/>
              <a:gd name="T5" fmla="*/ 0 h 185"/>
              <a:gd name="T6" fmla="*/ 0 w 1113"/>
              <a:gd name="T7" fmla="*/ 2147483647 h 185"/>
              <a:gd name="T8" fmla="*/ 2147483647 w 1113"/>
              <a:gd name="T9" fmla="*/ 2147483647 h 185"/>
              <a:gd name="T10" fmla="*/ 2147483647 w 1113"/>
              <a:gd name="T11" fmla="*/ 2147483647 h 1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5"/>
              <a:gd name="T20" fmla="*/ 1113 w 1113"/>
              <a:gd name="T21" fmla="*/ 185 h 18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5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5"/>
                </a:lnTo>
                <a:lnTo>
                  <a:pt x="1113" y="185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1" name="Freeform 42"/>
          <p:cNvSpPr>
            <a:spLocks/>
          </p:cNvSpPr>
          <p:nvPr/>
        </p:nvSpPr>
        <p:spPr bwMode="auto">
          <a:xfrm>
            <a:off x="1706563" y="4575175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2" name="Freeform 43"/>
          <p:cNvSpPr>
            <a:spLocks/>
          </p:cNvSpPr>
          <p:nvPr/>
        </p:nvSpPr>
        <p:spPr bwMode="auto">
          <a:xfrm>
            <a:off x="1706563" y="51641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2147483647 w 1113"/>
              <a:gd name="T13" fmla="*/ 2147483647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13"/>
              <a:gd name="T22" fmla="*/ 0 h 186"/>
              <a:gd name="T23" fmla="*/ 1113 w 1113"/>
              <a:gd name="T24" fmla="*/ 186 h 1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  <a:lnTo>
                  <a:pt x="1113" y="18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3" name="Freeform 44"/>
          <p:cNvSpPr>
            <a:spLocks/>
          </p:cNvSpPr>
          <p:nvPr/>
        </p:nvSpPr>
        <p:spPr bwMode="auto">
          <a:xfrm>
            <a:off x="1706563" y="5164138"/>
            <a:ext cx="1766887" cy="295275"/>
          </a:xfrm>
          <a:custGeom>
            <a:avLst/>
            <a:gdLst>
              <a:gd name="T0" fmla="*/ 2147483647 w 1113"/>
              <a:gd name="T1" fmla="*/ 2147483647 h 186"/>
              <a:gd name="T2" fmla="*/ 2147483647 w 1113"/>
              <a:gd name="T3" fmla="*/ 0 h 186"/>
              <a:gd name="T4" fmla="*/ 0 w 1113"/>
              <a:gd name="T5" fmla="*/ 0 h 186"/>
              <a:gd name="T6" fmla="*/ 0 w 1113"/>
              <a:gd name="T7" fmla="*/ 2147483647 h 186"/>
              <a:gd name="T8" fmla="*/ 2147483647 w 1113"/>
              <a:gd name="T9" fmla="*/ 2147483647 h 186"/>
              <a:gd name="T10" fmla="*/ 2147483647 w 1113"/>
              <a:gd name="T11" fmla="*/ 2147483647 h 1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13"/>
              <a:gd name="T19" fmla="*/ 0 h 186"/>
              <a:gd name="T20" fmla="*/ 1113 w 1113"/>
              <a:gd name="T21" fmla="*/ 186 h 18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13" h="186">
                <a:moveTo>
                  <a:pt x="1113" y="182"/>
                </a:moveTo>
                <a:lnTo>
                  <a:pt x="1113" y="0"/>
                </a:lnTo>
                <a:lnTo>
                  <a:pt x="0" y="0"/>
                </a:lnTo>
                <a:lnTo>
                  <a:pt x="0" y="186"/>
                </a:lnTo>
                <a:lnTo>
                  <a:pt x="1113" y="186"/>
                </a:lnTo>
              </a:path>
            </a:pathLst>
          </a:cu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4" name="Freeform 45"/>
          <p:cNvSpPr>
            <a:spLocks/>
          </p:cNvSpPr>
          <p:nvPr/>
        </p:nvSpPr>
        <p:spPr bwMode="auto">
          <a:xfrm>
            <a:off x="2541588" y="2017713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5" name="Freeform 46"/>
          <p:cNvSpPr>
            <a:spLocks/>
          </p:cNvSpPr>
          <p:nvPr/>
        </p:nvSpPr>
        <p:spPr bwMode="auto">
          <a:xfrm>
            <a:off x="2541588" y="231298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0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4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4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0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6" name="Freeform 47"/>
          <p:cNvSpPr>
            <a:spLocks/>
          </p:cNvSpPr>
          <p:nvPr/>
        </p:nvSpPr>
        <p:spPr bwMode="auto">
          <a:xfrm>
            <a:off x="2541588" y="2606675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7" name="Freeform 48"/>
          <p:cNvSpPr>
            <a:spLocks/>
          </p:cNvSpPr>
          <p:nvPr/>
        </p:nvSpPr>
        <p:spPr bwMode="auto">
          <a:xfrm>
            <a:off x="2541588" y="319563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9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3"/>
                </a:lnTo>
                <a:lnTo>
                  <a:pt x="60" y="19"/>
                </a:lnTo>
                <a:lnTo>
                  <a:pt x="56" y="15"/>
                </a:lnTo>
                <a:lnTo>
                  <a:pt x="52" y="12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2"/>
                </a:lnTo>
                <a:lnTo>
                  <a:pt x="8" y="15"/>
                </a:lnTo>
                <a:lnTo>
                  <a:pt x="4" y="19"/>
                </a:lnTo>
                <a:lnTo>
                  <a:pt x="0" y="23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9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8" name="Freeform 49"/>
          <p:cNvSpPr>
            <a:spLocks/>
          </p:cNvSpPr>
          <p:nvPr/>
        </p:nvSpPr>
        <p:spPr bwMode="auto">
          <a:xfrm>
            <a:off x="2541588" y="3490913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49" name="Freeform 50"/>
          <p:cNvSpPr>
            <a:spLocks/>
          </p:cNvSpPr>
          <p:nvPr/>
        </p:nvSpPr>
        <p:spPr bwMode="auto">
          <a:xfrm>
            <a:off x="2541588" y="378618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0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4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4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0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0" name="Freeform 51"/>
          <p:cNvSpPr>
            <a:spLocks/>
          </p:cNvSpPr>
          <p:nvPr/>
        </p:nvSpPr>
        <p:spPr bwMode="auto">
          <a:xfrm>
            <a:off x="2541588" y="4079875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2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2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1" name="Freeform 52"/>
          <p:cNvSpPr>
            <a:spLocks/>
          </p:cNvSpPr>
          <p:nvPr/>
        </p:nvSpPr>
        <p:spPr bwMode="auto">
          <a:xfrm>
            <a:off x="2541588" y="4375150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2" name="Freeform 53"/>
          <p:cNvSpPr>
            <a:spLocks/>
          </p:cNvSpPr>
          <p:nvPr/>
        </p:nvSpPr>
        <p:spPr bwMode="auto">
          <a:xfrm>
            <a:off x="2541588" y="4668838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9"/>
                </a:lnTo>
                <a:lnTo>
                  <a:pt x="60" y="45"/>
                </a:lnTo>
                <a:lnTo>
                  <a:pt x="60" y="41"/>
                </a:lnTo>
                <a:lnTo>
                  <a:pt x="64" y="37"/>
                </a:lnTo>
                <a:lnTo>
                  <a:pt x="64" y="34"/>
                </a:lnTo>
                <a:lnTo>
                  <a:pt x="64" y="26"/>
                </a:lnTo>
                <a:lnTo>
                  <a:pt x="60" y="23"/>
                </a:lnTo>
                <a:lnTo>
                  <a:pt x="60" y="19"/>
                </a:lnTo>
                <a:lnTo>
                  <a:pt x="56" y="15"/>
                </a:lnTo>
                <a:lnTo>
                  <a:pt x="52" y="11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1"/>
                </a:lnTo>
                <a:lnTo>
                  <a:pt x="8" y="15"/>
                </a:lnTo>
                <a:lnTo>
                  <a:pt x="4" y="19"/>
                </a:lnTo>
                <a:lnTo>
                  <a:pt x="0" y="23"/>
                </a:lnTo>
                <a:lnTo>
                  <a:pt x="0" y="26"/>
                </a:lnTo>
                <a:lnTo>
                  <a:pt x="0" y="34"/>
                </a:lnTo>
                <a:lnTo>
                  <a:pt x="0" y="37"/>
                </a:lnTo>
                <a:lnTo>
                  <a:pt x="0" y="41"/>
                </a:lnTo>
                <a:lnTo>
                  <a:pt x="4" y="45"/>
                </a:lnTo>
                <a:lnTo>
                  <a:pt x="8" y="49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3" name="Freeform 54"/>
          <p:cNvSpPr>
            <a:spLocks/>
          </p:cNvSpPr>
          <p:nvPr/>
        </p:nvSpPr>
        <p:spPr bwMode="auto">
          <a:xfrm>
            <a:off x="2541588" y="4964113"/>
            <a:ext cx="101600" cy="100012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6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6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4" name="Freeform 55"/>
          <p:cNvSpPr>
            <a:spLocks/>
          </p:cNvSpPr>
          <p:nvPr/>
        </p:nvSpPr>
        <p:spPr bwMode="auto">
          <a:xfrm>
            <a:off x="2541588" y="5257800"/>
            <a:ext cx="101600" cy="101600"/>
          </a:xfrm>
          <a:custGeom>
            <a:avLst/>
            <a:gdLst>
              <a:gd name="T0" fmla="*/ 2147483647 w 64"/>
              <a:gd name="T1" fmla="*/ 2147483647 h 64"/>
              <a:gd name="T2" fmla="*/ 2147483647 w 64"/>
              <a:gd name="T3" fmla="*/ 2147483647 h 64"/>
              <a:gd name="T4" fmla="*/ 2147483647 w 64"/>
              <a:gd name="T5" fmla="*/ 2147483647 h 64"/>
              <a:gd name="T6" fmla="*/ 2147483647 w 64"/>
              <a:gd name="T7" fmla="*/ 2147483647 h 64"/>
              <a:gd name="T8" fmla="*/ 2147483647 w 64"/>
              <a:gd name="T9" fmla="*/ 2147483647 h 64"/>
              <a:gd name="T10" fmla="*/ 2147483647 w 64"/>
              <a:gd name="T11" fmla="*/ 2147483647 h 64"/>
              <a:gd name="T12" fmla="*/ 2147483647 w 64"/>
              <a:gd name="T13" fmla="*/ 2147483647 h 64"/>
              <a:gd name="T14" fmla="*/ 2147483647 w 64"/>
              <a:gd name="T15" fmla="*/ 2147483647 h 64"/>
              <a:gd name="T16" fmla="*/ 2147483647 w 64"/>
              <a:gd name="T17" fmla="*/ 2147483647 h 64"/>
              <a:gd name="T18" fmla="*/ 2147483647 w 64"/>
              <a:gd name="T19" fmla="*/ 2147483647 h 64"/>
              <a:gd name="T20" fmla="*/ 2147483647 w 64"/>
              <a:gd name="T21" fmla="*/ 2147483647 h 64"/>
              <a:gd name="T22" fmla="*/ 2147483647 w 64"/>
              <a:gd name="T23" fmla="*/ 2147483647 h 64"/>
              <a:gd name="T24" fmla="*/ 2147483647 w 64"/>
              <a:gd name="T25" fmla="*/ 2147483647 h 64"/>
              <a:gd name="T26" fmla="*/ 2147483647 w 64"/>
              <a:gd name="T27" fmla="*/ 2147483647 h 64"/>
              <a:gd name="T28" fmla="*/ 2147483647 w 64"/>
              <a:gd name="T29" fmla="*/ 2147483647 h 64"/>
              <a:gd name="T30" fmla="*/ 2147483647 w 64"/>
              <a:gd name="T31" fmla="*/ 2147483647 h 64"/>
              <a:gd name="T32" fmla="*/ 2147483647 w 64"/>
              <a:gd name="T33" fmla="*/ 2147483647 h 64"/>
              <a:gd name="T34" fmla="*/ 2147483647 w 64"/>
              <a:gd name="T35" fmla="*/ 2147483647 h 64"/>
              <a:gd name="T36" fmla="*/ 2147483647 w 64"/>
              <a:gd name="T37" fmla="*/ 2147483647 h 64"/>
              <a:gd name="T38" fmla="*/ 2147483647 w 64"/>
              <a:gd name="T39" fmla="*/ 0 h 64"/>
              <a:gd name="T40" fmla="*/ 2147483647 w 64"/>
              <a:gd name="T41" fmla="*/ 0 h 64"/>
              <a:gd name="T42" fmla="*/ 2147483647 w 64"/>
              <a:gd name="T43" fmla="*/ 0 h 64"/>
              <a:gd name="T44" fmla="*/ 2147483647 w 64"/>
              <a:gd name="T45" fmla="*/ 2147483647 h 64"/>
              <a:gd name="T46" fmla="*/ 2147483647 w 64"/>
              <a:gd name="T47" fmla="*/ 2147483647 h 64"/>
              <a:gd name="T48" fmla="*/ 2147483647 w 64"/>
              <a:gd name="T49" fmla="*/ 2147483647 h 64"/>
              <a:gd name="T50" fmla="*/ 2147483647 w 64"/>
              <a:gd name="T51" fmla="*/ 2147483647 h 64"/>
              <a:gd name="T52" fmla="*/ 2147483647 w 64"/>
              <a:gd name="T53" fmla="*/ 2147483647 h 64"/>
              <a:gd name="T54" fmla="*/ 2147483647 w 64"/>
              <a:gd name="T55" fmla="*/ 2147483647 h 64"/>
              <a:gd name="T56" fmla="*/ 0 w 64"/>
              <a:gd name="T57" fmla="*/ 2147483647 h 64"/>
              <a:gd name="T58" fmla="*/ 0 w 64"/>
              <a:gd name="T59" fmla="*/ 2147483647 h 64"/>
              <a:gd name="T60" fmla="*/ 0 w 64"/>
              <a:gd name="T61" fmla="*/ 2147483647 h 64"/>
              <a:gd name="T62" fmla="*/ 0 w 64"/>
              <a:gd name="T63" fmla="*/ 2147483647 h 64"/>
              <a:gd name="T64" fmla="*/ 0 w 64"/>
              <a:gd name="T65" fmla="*/ 2147483647 h 64"/>
              <a:gd name="T66" fmla="*/ 2147483647 w 64"/>
              <a:gd name="T67" fmla="*/ 2147483647 h 64"/>
              <a:gd name="T68" fmla="*/ 2147483647 w 64"/>
              <a:gd name="T69" fmla="*/ 2147483647 h 64"/>
              <a:gd name="T70" fmla="*/ 2147483647 w 64"/>
              <a:gd name="T71" fmla="*/ 2147483647 h 64"/>
              <a:gd name="T72" fmla="*/ 2147483647 w 64"/>
              <a:gd name="T73" fmla="*/ 2147483647 h 64"/>
              <a:gd name="T74" fmla="*/ 2147483647 w 64"/>
              <a:gd name="T75" fmla="*/ 2147483647 h 64"/>
              <a:gd name="T76" fmla="*/ 2147483647 w 64"/>
              <a:gd name="T77" fmla="*/ 2147483647 h 64"/>
              <a:gd name="T78" fmla="*/ 2147483647 w 64"/>
              <a:gd name="T79" fmla="*/ 2147483647 h 64"/>
              <a:gd name="T80" fmla="*/ 2147483647 w 64"/>
              <a:gd name="T81" fmla="*/ 2147483647 h 64"/>
              <a:gd name="T82" fmla="*/ 2147483647 w 64"/>
              <a:gd name="T83" fmla="*/ 2147483647 h 6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4"/>
              <a:gd name="T128" fmla="*/ 64 w 64"/>
              <a:gd name="T129" fmla="*/ 64 h 6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4">
                <a:moveTo>
                  <a:pt x="30" y="64"/>
                </a:moveTo>
                <a:lnTo>
                  <a:pt x="38" y="64"/>
                </a:lnTo>
                <a:lnTo>
                  <a:pt x="41" y="60"/>
                </a:lnTo>
                <a:lnTo>
                  <a:pt x="45" y="60"/>
                </a:lnTo>
                <a:lnTo>
                  <a:pt x="49" y="56"/>
                </a:lnTo>
                <a:lnTo>
                  <a:pt x="52" y="52"/>
                </a:lnTo>
                <a:lnTo>
                  <a:pt x="56" y="49"/>
                </a:lnTo>
                <a:lnTo>
                  <a:pt x="60" y="45"/>
                </a:lnTo>
                <a:lnTo>
                  <a:pt x="60" y="41"/>
                </a:lnTo>
                <a:lnTo>
                  <a:pt x="64" y="38"/>
                </a:lnTo>
                <a:lnTo>
                  <a:pt x="64" y="34"/>
                </a:lnTo>
                <a:lnTo>
                  <a:pt x="64" y="26"/>
                </a:lnTo>
                <a:lnTo>
                  <a:pt x="60" y="23"/>
                </a:lnTo>
                <a:lnTo>
                  <a:pt x="60" y="19"/>
                </a:lnTo>
                <a:lnTo>
                  <a:pt x="56" y="15"/>
                </a:lnTo>
                <a:lnTo>
                  <a:pt x="52" y="12"/>
                </a:lnTo>
                <a:lnTo>
                  <a:pt x="49" y="8"/>
                </a:lnTo>
                <a:lnTo>
                  <a:pt x="45" y="4"/>
                </a:lnTo>
                <a:lnTo>
                  <a:pt x="41" y="4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4"/>
                </a:lnTo>
                <a:lnTo>
                  <a:pt x="15" y="4"/>
                </a:lnTo>
                <a:lnTo>
                  <a:pt x="12" y="8"/>
                </a:lnTo>
                <a:lnTo>
                  <a:pt x="8" y="12"/>
                </a:lnTo>
                <a:lnTo>
                  <a:pt x="8" y="15"/>
                </a:lnTo>
                <a:lnTo>
                  <a:pt x="4" y="19"/>
                </a:lnTo>
                <a:lnTo>
                  <a:pt x="0" y="23"/>
                </a:lnTo>
                <a:lnTo>
                  <a:pt x="0" y="26"/>
                </a:lnTo>
                <a:lnTo>
                  <a:pt x="0" y="34"/>
                </a:lnTo>
                <a:lnTo>
                  <a:pt x="0" y="38"/>
                </a:lnTo>
                <a:lnTo>
                  <a:pt x="0" y="41"/>
                </a:lnTo>
                <a:lnTo>
                  <a:pt x="4" y="45"/>
                </a:lnTo>
                <a:lnTo>
                  <a:pt x="8" y="49"/>
                </a:lnTo>
                <a:lnTo>
                  <a:pt x="8" y="52"/>
                </a:lnTo>
                <a:lnTo>
                  <a:pt x="12" y="56"/>
                </a:lnTo>
                <a:lnTo>
                  <a:pt x="15" y="60"/>
                </a:lnTo>
                <a:lnTo>
                  <a:pt x="23" y="60"/>
                </a:lnTo>
                <a:lnTo>
                  <a:pt x="26" y="64"/>
                </a:lnTo>
                <a:lnTo>
                  <a:pt x="30" y="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5" name="Freeform 56"/>
          <p:cNvSpPr>
            <a:spLocks/>
          </p:cNvSpPr>
          <p:nvPr/>
        </p:nvSpPr>
        <p:spPr bwMode="auto">
          <a:xfrm>
            <a:off x="5705475" y="2089150"/>
            <a:ext cx="106363" cy="104775"/>
          </a:xfrm>
          <a:custGeom>
            <a:avLst/>
            <a:gdLst>
              <a:gd name="T0" fmla="*/ 0 w 67"/>
              <a:gd name="T1" fmla="*/ 2147483647 h 66"/>
              <a:gd name="T2" fmla="*/ 2147483647 w 67"/>
              <a:gd name="T3" fmla="*/ 2147483647 h 66"/>
              <a:gd name="T4" fmla="*/ 2147483647 w 67"/>
              <a:gd name="T5" fmla="*/ 0 h 66"/>
              <a:gd name="T6" fmla="*/ 0 w 67"/>
              <a:gd name="T7" fmla="*/ 2147483647 h 66"/>
              <a:gd name="T8" fmla="*/ 0 w 67"/>
              <a:gd name="T9" fmla="*/ 2147483647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"/>
              <a:gd name="T16" fmla="*/ 0 h 66"/>
              <a:gd name="T17" fmla="*/ 67 w 67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" h="66">
                <a:moveTo>
                  <a:pt x="0" y="18"/>
                </a:moveTo>
                <a:lnTo>
                  <a:pt x="41" y="66"/>
                </a:lnTo>
                <a:lnTo>
                  <a:pt x="67" y="0"/>
                </a:lnTo>
                <a:lnTo>
                  <a:pt x="0" y="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6" name="Freeform 57"/>
          <p:cNvSpPr>
            <a:spLocks/>
          </p:cNvSpPr>
          <p:nvPr/>
        </p:nvSpPr>
        <p:spPr bwMode="auto">
          <a:xfrm>
            <a:off x="4679950" y="4940300"/>
            <a:ext cx="106363" cy="93663"/>
          </a:xfrm>
          <a:custGeom>
            <a:avLst/>
            <a:gdLst>
              <a:gd name="T0" fmla="*/ 2147483647 w 67"/>
              <a:gd name="T1" fmla="*/ 0 h 59"/>
              <a:gd name="T2" fmla="*/ 0 w 67"/>
              <a:gd name="T3" fmla="*/ 2147483647 h 59"/>
              <a:gd name="T4" fmla="*/ 2147483647 w 67"/>
              <a:gd name="T5" fmla="*/ 2147483647 h 59"/>
              <a:gd name="T6" fmla="*/ 2147483647 w 67"/>
              <a:gd name="T7" fmla="*/ 0 h 59"/>
              <a:gd name="T8" fmla="*/ 2147483647 w 67"/>
              <a:gd name="T9" fmla="*/ 0 h 59"/>
              <a:gd name="T10" fmla="*/ 2147483647 w 67"/>
              <a:gd name="T11" fmla="*/ 0 h 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59"/>
              <a:gd name="T20" fmla="*/ 67 w 67"/>
              <a:gd name="T21" fmla="*/ 59 h 5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59">
                <a:moveTo>
                  <a:pt x="26" y="0"/>
                </a:moveTo>
                <a:lnTo>
                  <a:pt x="0" y="56"/>
                </a:lnTo>
                <a:lnTo>
                  <a:pt x="67" y="59"/>
                </a:lnTo>
                <a:lnTo>
                  <a:pt x="30" y="0"/>
                </a:lnTo>
                <a:lnTo>
                  <a:pt x="2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7" name="Freeform 58"/>
          <p:cNvSpPr>
            <a:spLocks/>
          </p:cNvSpPr>
          <p:nvPr/>
        </p:nvSpPr>
        <p:spPr bwMode="auto">
          <a:xfrm>
            <a:off x="4445000" y="4987925"/>
            <a:ext cx="106363" cy="100013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15" y="0"/>
                </a:moveTo>
                <a:lnTo>
                  <a:pt x="0" y="63"/>
                </a:lnTo>
                <a:lnTo>
                  <a:pt x="67" y="52"/>
                </a:lnTo>
                <a:lnTo>
                  <a:pt x="19" y="3"/>
                </a:lnTo>
                <a:lnTo>
                  <a:pt x="1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8" name="Freeform 59"/>
          <p:cNvSpPr>
            <a:spLocks/>
          </p:cNvSpPr>
          <p:nvPr/>
        </p:nvSpPr>
        <p:spPr bwMode="auto">
          <a:xfrm>
            <a:off x="4332288" y="5116513"/>
            <a:ext cx="106362" cy="100012"/>
          </a:xfrm>
          <a:custGeom>
            <a:avLst/>
            <a:gdLst>
              <a:gd name="T0" fmla="*/ 0 w 67"/>
              <a:gd name="T1" fmla="*/ 0 h 63"/>
              <a:gd name="T2" fmla="*/ 2147483647 w 67"/>
              <a:gd name="T3" fmla="*/ 2147483647 h 63"/>
              <a:gd name="T4" fmla="*/ 2147483647 w 67"/>
              <a:gd name="T5" fmla="*/ 2147483647 h 63"/>
              <a:gd name="T6" fmla="*/ 0 w 67"/>
              <a:gd name="T7" fmla="*/ 2147483647 h 63"/>
              <a:gd name="T8" fmla="*/ 0 w 67"/>
              <a:gd name="T9" fmla="*/ 2147483647 h 63"/>
              <a:gd name="T10" fmla="*/ 0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0" y="0"/>
                </a:moveTo>
                <a:lnTo>
                  <a:pt x="8" y="63"/>
                </a:lnTo>
                <a:lnTo>
                  <a:pt x="67" y="30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59" name="Line 60"/>
          <p:cNvSpPr>
            <a:spLocks noChangeShapeType="1"/>
          </p:cNvSpPr>
          <p:nvPr/>
        </p:nvSpPr>
        <p:spPr bwMode="auto">
          <a:xfrm flipV="1">
            <a:off x="2589213" y="5170488"/>
            <a:ext cx="1779587" cy="13493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0" name="Line 61"/>
          <p:cNvSpPr>
            <a:spLocks noChangeShapeType="1"/>
          </p:cNvSpPr>
          <p:nvPr/>
        </p:nvSpPr>
        <p:spPr bwMode="auto">
          <a:xfrm flipH="1" flipV="1">
            <a:off x="2589213" y="3838575"/>
            <a:ext cx="2138362" cy="1160463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1" name="Line 62"/>
          <p:cNvSpPr>
            <a:spLocks noChangeShapeType="1"/>
          </p:cNvSpPr>
          <p:nvPr/>
        </p:nvSpPr>
        <p:spPr bwMode="auto">
          <a:xfrm>
            <a:off x="2589213" y="4421188"/>
            <a:ext cx="1890712" cy="62547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2" name="Line 63"/>
          <p:cNvSpPr>
            <a:spLocks noChangeShapeType="1"/>
          </p:cNvSpPr>
          <p:nvPr/>
        </p:nvSpPr>
        <p:spPr bwMode="auto">
          <a:xfrm flipV="1">
            <a:off x="2589213" y="2141538"/>
            <a:ext cx="3163887" cy="287020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3" name="Freeform 64"/>
          <p:cNvSpPr>
            <a:spLocks/>
          </p:cNvSpPr>
          <p:nvPr/>
        </p:nvSpPr>
        <p:spPr bwMode="auto">
          <a:xfrm>
            <a:off x="5711825" y="2595563"/>
            <a:ext cx="100013" cy="100012"/>
          </a:xfrm>
          <a:custGeom>
            <a:avLst/>
            <a:gdLst>
              <a:gd name="T0" fmla="*/ 2147483647 w 63"/>
              <a:gd name="T1" fmla="*/ 0 h 63"/>
              <a:gd name="T2" fmla="*/ 0 w 63"/>
              <a:gd name="T3" fmla="*/ 2147483647 h 63"/>
              <a:gd name="T4" fmla="*/ 2147483647 w 63"/>
              <a:gd name="T5" fmla="*/ 2147483647 h 63"/>
              <a:gd name="T6" fmla="*/ 2147483647 w 63"/>
              <a:gd name="T7" fmla="*/ 2147483647 h 63"/>
              <a:gd name="T8" fmla="*/ 2147483647 w 63"/>
              <a:gd name="T9" fmla="*/ 2147483647 h 63"/>
              <a:gd name="T10" fmla="*/ 2147483647 w 63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3"/>
              <a:gd name="T19" fmla="*/ 0 h 63"/>
              <a:gd name="T20" fmla="*/ 63 w 63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3" h="63">
                <a:moveTo>
                  <a:pt x="3" y="0"/>
                </a:moveTo>
                <a:lnTo>
                  <a:pt x="0" y="63"/>
                </a:lnTo>
                <a:lnTo>
                  <a:pt x="63" y="37"/>
                </a:lnTo>
                <a:lnTo>
                  <a:pt x="3" y="3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4" name="Line 65"/>
          <p:cNvSpPr>
            <a:spLocks noChangeShapeType="1"/>
          </p:cNvSpPr>
          <p:nvPr/>
        </p:nvSpPr>
        <p:spPr bwMode="auto">
          <a:xfrm>
            <a:off x="2589213" y="2359025"/>
            <a:ext cx="3151187" cy="28892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5" name="Freeform 66"/>
          <p:cNvSpPr>
            <a:spLocks/>
          </p:cNvSpPr>
          <p:nvPr/>
        </p:nvSpPr>
        <p:spPr bwMode="auto">
          <a:xfrm>
            <a:off x="5705475" y="3173413"/>
            <a:ext cx="106363" cy="100012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11" y="0"/>
                </a:moveTo>
                <a:lnTo>
                  <a:pt x="0" y="63"/>
                </a:lnTo>
                <a:lnTo>
                  <a:pt x="67" y="44"/>
                </a:lnTo>
                <a:lnTo>
                  <a:pt x="11" y="3"/>
                </a:lnTo>
                <a:lnTo>
                  <a:pt x="1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6" name="Line 67"/>
          <p:cNvSpPr>
            <a:spLocks noChangeShapeType="1"/>
          </p:cNvSpPr>
          <p:nvPr/>
        </p:nvSpPr>
        <p:spPr bwMode="auto">
          <a:xfrm>
            <a:off x="2589213" y="2654300"/>
            <a:ext cx="3151187" cy="57785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7" name="Freeform 68"/>
          <p:cNvSpPr>
            <a:spLocks/>
          </p:cNvSpPr>
          <p:nvPr/>
        </p:nvSpPr>
        <p:spPr bwMode="auto">
          <a:xfrm>
            <a:off x="5705475" y="3432175"/>
            <a:ext cx="106363" cy="100013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7" y="0"/>
                </a:moveTo>
                <a:lnTo>
                  <a:pt x="0" y="63"/>
                </a:lnTo>
                <a:lnTo>
                  <a:pt x="67" y="41"/>
                </a:lnTo>
                <a:lnTo>
                  <a:pt x="7" y="4"/>
                </a:lnTo>
                <a:lnTo>
                  <a:pt x="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8" name="Freeform 69"/>
          <p:cNvSpPr>
            <a:spLocks/>
          </p:cNvSpPr>
          <p:nvPr/>
        </p:nvSpPr>
        <p:spPr bwMode="auto">
          <a:xfrm rot="1944879">
            <a:off x="4530725" y="4987925"/>
            <a:ext cx="106363" cy="95250"/>
          </a:xfrm>
          <a:custGeom>
            <a:avLst/>
            <a:gdLst>
              <a:gd name="T0" fmla="*/ 0 w 67"/>
              <a:gd name="T1" fmla="*/ 0 h 60"/>
              <a:gd name="T2" fmla="*/ 2147483647 w 67"/>
              <a:gd name="T3" fmla="*/ 2147483647 h 60"/>
              <a:gd name="T4" fmla="*/ 2147483647 w 67"/>
              <a:gd name="T5" fmla="*/ 2147483647 h 60"/>
              <a:gd name="T6" fmla="*/ 0 w 67"/>
              <a:gd name="T7" fmla="*/ 0 h 60"/>
              <a:gd name="T8" fmla="*/ 0 w 6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"/>
              <a:gd name="T16" fmla="*/ 0 h 60"/>
              <a:gd name="T17" fmla="*/ 67 w 67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" h="60">
                <a:moveTo>
                  <a:pt x="0" y="0"/>
                </a:moveTo>
                <a:lnTo>
                  <a:pt x="11" y="60"/>
                </a:lnTo>
                <a:lnTo>
                  <a:pt x="67" y="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69" name="Freeform 70"/>
          <p:cNvSpPr>
            <a:spLocks/>
          </p:cNvSpPr>
          <p:nvPr/>
        </p:nvSpPr>
        <p:spPr bwMode="auto">
          <a:xfrm>
            <a:off x="5699125" y="3732213"/>
            <a:ext cx="112713" cy="88900"/>
          </a:xfrm>
          <a:custGeom>
            <a:avLst/>
            <a:gdLst>
              <a:gd name="T0" fmla="*/ 2147483647 w 71"/>
              <a:gd name="T1" fmla="*/ 0 h 56"/>
              <a:gd name="T2" fmla="*/ 0 w 71"/>
              <a:gd name="T3" fmla="*/ 2147483647 h 56"/>
              <a:gd name="T4" fmla="*/ 2147483647 w 71"/>
              <a:gd name="T5" fmla="*/ 2147483647 h 56"/>
              <a:gd name="T6" fmla="*/ 2147483647 w 71"/>
              <a:gd name="T7" fmla="*/ 0 h 56"/>
              <a:gd name="T8" fmla="*/ 2147483647 w 71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1"/>
              <a:gd name="T16" fmla="*/ 0 h 56"/>
              <a:gd name="T17" fmla="*/ 71 w 71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1" h="56">
                <a:moveTo>
                  <a:pt x="30" y="0"/>
                </a:moveTo>
                <a:lnTo>
                  <a:pt x="0" y="56"/>
                </a:lnTo>
                <a:lnTo>
                  <a:pt x="71" y="56"/>
                </a:lnTo>
                <a:lnTo>
                  <a:pt x="3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0" name="Line 71"/>
          <p:cNvSpPr>
            <a:spLocks noChangeShapeType="1"/>
          </p:cNvSpPr>
          <p:nvPr/>
        </p:nvSpPr>
        <p:spPr bwMode="auto">
          <a:xfrm>
            <a:off x="2589213" y="2065338"/>
            <a:ext cx="3157537" cy="1725612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1" name="Freeform 72"/>
          <p:cNvSpPr>
            <a:spLocks/>
          </p:cNvSpPr>
          <p:nvPr/>
        </p:nvSpPr>
        <p:spPr bwMode="auto">
          <a:xfrm>
            <a:off x="5705475" y="4056063"/>
            <a:ext cx="106363" cy="100012"/>
          </a:xfrm>
          <a:custGeom>
            <a:avLst/>
            <a:gdLst>
              <a:gd name="T0" fmla="*/ 2147483647 w 67"/>
              <a:gd name="T1" fmla="*/ 0 h 63"/>
              <a:gd name="T2" fmla="*/ 0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2147483647 h 63"/>
              <a:gd name="T8" fmla="*/ 2147483647 w 67"/>
              <a:gd name="T9" fmla="*/ 2147483647 h 63"/>
              <a:gd name="T10" fmla="*/ 2147483647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11" y="0"/>
                </a:moveTo>
                <a:lnTo>
                  <a:pt x="0" y="63"/>
                </a:lnTo>
                <a:lnTo>
                  <a:pt x="67" y="45"/>
                </a:lnTo>
                <a:lnTo>
                  <a:pt x="11" y="4"/>
                </a:lnTo>
                <a:lnTo>
                  <a:pt x="1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2" name="Line 73"/>
          <p:cNvSpPr>
            <a:spLocks noChangeShapeType="1"/>
          </p:cNvSpPr>
          <p:nvPr/>
        </p:nvSpPr>
        <p:spPr bwMode="auto">
          <a:xfrm>
            <a:off x="2589213" y="3538538"/>
            <a:ext cx="3151187" cy="576262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3" name="Freeform 74"/>
          <p:cNvSpPr>
            <a:spLocks/>
          </p:cNvSpPr>
          <p:nvPr/>
        </p:nvSpPr>
        <p:spPr bwMode="auto">
          <a:xfrm>
            <a:off x="5705475" y="4386263"/>
            <a:ext cx="106363" cy="100012"/>
          </a:xfrm>
          <a:custGeom>
            <a:avLst/>
            <a:gdLst>
              <a:gd name="T0" fmla="*/ 0 w 67"/>
              <a:gd name="T1" fmla="*/ 0 h 63"/>
              <a:gd name="T2" fmla="*/ 2147483647 w 67"/>
              <a:gd name="T3" fmla="*/ 2147483647 h 63"/>
              <a:gd name="T4" fmla="*/ 2147483647 w 67"/>
              <a:gd name="T5" fmla="*/ 2147483647 h 63"/>
              <a:gd name="T6" fmla="*/ 2147483647 w 67"/>
              <a:gd name="T7" fmla="*/ 0 h 63"/>
              <a:gd name="T8" fmla="*/ 2147483647 w 67"/>
              <a:gd name="T9" fmla="*/ 0 h 63"/>
              <a:gd name="T10" fmla="*/ 0 w 67"/>
              <a:gd name="T11" fmla="*/ 0 h 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3"/>
              <a:gd name="T20" fmla="*/ 67 w 67"/>
              <a:gd name="T21" fmla="*/ 63 h 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3">
                <a:moveTo>
                  <a:pt x="0" y="0"/>
                </a:moveTo>
                <a:lnTo>
                  <a:pt x="7" y="63"/>
                </a:lnTo>
                <a:lnTo>
                  <a:pt x="67" y="26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4" name="Line 75"/>
          <p:cNvSpPr>
            <a:spLocks noChangeShapeType="1"/>
          </p:cNvSpPr>
          <p:nvPr/>
        </p:nvSpPr>
        <p:spPr bwMode="auto">
          <a:xfrm flipV="1">
            <a:off x="2589213" y="4433888"/>
            <a:ext cx="3157537" cy="28257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5" name="Line 76"/>
          <p:cNvSpPr>
            <a:spLocks noChangeShapeType="1"/>
          </p:cNvSpPr>
          <p:nvPr/>
        </p:nvSpPr>
        <p:spPr bwMode="auto">
          <a:xfrm>
            <a:off x="2589213" y="4127500"/>
            <a:ext cx="1982787" cy="90170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6" name="Line 77"/>
          <p:cNvSpPr>
            <a:spLocks noChangeShapeType="1"/>
          </p:cNvSpPr>
          <p:nvPr/>
        </p:nvSpPr>
        <p:spPr bwMode="auto">
          <a:xfrm>
            <a:off x="2589213" y="3243263"/>
            <a:ext cx="3146425" cy="24130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7" name="Freeform 78"/>
          <p:cNvSpPr>
            <a:spLocks/>
          </p:cNvSpPr>
          <p:nvPr/>
        </p:nvSpPr>
        <p:spPr bwMode="auto">
          <a:xfrm>
            <a:off x="2541588" y="2901950"/>
            <a:ext cx="101600" cy="100013"/>
          </a:xfrm>
          <a:custGeom>
            <a:avLst/>
            <a:gdLst>
              <a:gd name="T0" fmla="*/ 2147483647 w 64"/>
              <a:gd name="T1" fmla="*/ 2147483647 h 63"/>
              <a:gd name="T2" fmla="*/ 2147483647 w 64"/>
              <a:gd name="T3" fmla="*/ 2147483647 h 63"/>
              <a:gd name="T4" fmla="*/ 2147483647 w 64"/>
              <a:gd name="T5" fmla="*/ 2147483647 h 63"/>
              <a:gd name="T6" fmla="*/ 2147483647 w 64"/>
              <a:gd name="T7" fmla="*/ 2147483647 h 63"/>
              <a:gd name="T8" fmla="*/ 2147483647 w 64"/>
              <a:gd name="T9" fmla="*/ 2147483647 h 63"/>
              <a:gd name="T10" fmla="*/ 2147483647 w 64"/>
              <a:gd name="T11" fmla="*/ 2147483647 h 63"/>
              <a:gd name="T12" fmla="*/ 2147483647 w 64"/>
              <a:gd name="T13" fmla="*/ 2147483647 h 63"/>
              <a:gd name="T14" fmla="*/ 2147483647 w 64"/>
              <a:gd name="T15" fmla="*/ 2147483647 h 63"/>
              <a:gd name="T16" fmla="*/ 2147483647 w 64"/>
              <a:gd name="T17" fmla="*/ 2147483647 h 63"/>
              <a:gd name="T18" fmla="*/ 2147483647 w 64"/>
              <a:gd name="T19" fmla="*/ 2147483647 h 63"/>
              <a:gd name="T20" fmla="*/ 2147483647 w 64"/>
              <a:gd name="T21" fmla="*/ 2147483647 h 63"/>
              <a:gd name="T22" fmla="*/ 2147483647 w 64"/>
              <a:gd name="T23" fmla="*/ 2147483647 h 63"/>
              <a:gd name="T24" fmla="*/ 2147483647 w 64"/>
              <a:gd name="T25" fmla="*/ 2147483647 h 63"/>
              <a:gd name="T26" fmla="*/ 2147483647 w 64"/>
              <a:gd name="T27" fmla="*/ 2147483647 h 63"/>
              <a:gd name="T28" fmla="*/ 2147483647 w 64"/>
              <a:gd name="T29" fmla="*/ 2147483647 h 63"/>
              <a:gd name="T30" fmla="*/ 2147483647 w 64"/>
              <a:gd name="T31" fmla="*/ 2147483647 h 63"/>
              <a:gd name="T32" fmla="*/ 2147483647 w 64"/>
              <a:gd name="T33" fmla="*/ 2147483647 h 63"/>
              <a:gd name="T34" fmla="*/ 2147483647 w 64"/>
              <a:gd name="T35" fmla="*/ 2147483647 h 63"/>
              <a:gd name="T36" fmla="*/ 2147483647 w 64"/>
              <a:gd name="T37" fmla="*/ 2147483647 h 63"/>
              <a:gd name="T38" fmla="*/ 2147483647 w 64"/>
              <a:gd name="T39" fmla="*/ 0 h 63"/>
              <a:gd name="T40" fmla="*/ 2147483647 w 64"/>
              <a:gd name="T41" fmla="*/ 0 h 63"/>
              <a:gd name="T42" fmla="*/ 2147483647 w 64"/>
              <a:gd name="T43" fmla="*/ 0 h 63"/>
              <a:gd name="T44" fmla="*/ 2147483647 w 64"/>
              <a:gd name="T45" fmla="*/ 2147483647 h 63"/>
              <a:gd name="T46" fmla="*/ 2147483647 w 64"/>
              <a:gd name="T47" fmla="*/ 2147483647 h 63"/>
              <a:gd name="T48" fmla="*/ 2147483647 w 64"/>
              <a:gd name="T49" fmla="*/ 2147483647 h 63"/>
              <a:gd name="T50" fmla="*/ 2147483647 w 64"/>
              <a:gd name="T51" fmla="*/ 2147483647 h 63"/>
              <a:gd name="T52" fmla="*/ 2147483647 w 64"/>
              <a:gd name="T53" fmla="*/ 2147483647 h 63"/>
              <a:gd name="T54" fmla="*/ 2147483647 w 64"/>
              <a:gd name="T55" fmla="*/ 2147483647 h 63"/>
              <a:gd name="T56" fmla="*/ 0 w 64"/>
              <a:gd name="T57" fmla="*/ 2147483647 h 63"/>
              <a:gd name="T58" fmla="*/ 0 w 64"/>
              <a:gd name="T59" fmla="*/ 2147483647 h 63"/>
              <a:gd name="T60" fmla="*/ 0 w 64"/>
              <a:gd name="T61" fmla="*/ 2147483647 h 63"/>
              <a:gd name="T62" fmla="*/ 0 w 64"/>
              <a:gd name="T63" fmla="*/ 2147483647 h 63"/>
              <a:gd name="T64" fmla="*/ 0 w 64"/>
              <a:gd name="T65" fmla="*/ 2147483647 h 63"/>
              <a:gd name="T66" fmla="*/ 2147483647 w 64"/>
              <a:gd name="T67" fmla="*/ 2147483647 h 63"/>
              <a:gd name="T68" fmla="*/ 2147483647 w 64"/>
              <a:gd name="T69" fmla="*/ 2147483647 h 63"/>
              <a:gd name="T70" fmla="*/ 2147483647 w 64"/>
              <a:gd name="T71" fmla="*/ 2147483647 h 63"/>
              <a:gd name="T72" fmla="*/ 2147483647 w 64"/>
              <a:gd name="T73" fmla="*/ 2147483647 h 63"/>
              <a:gd name="T74" fmla="*/ 2147483647 w 64"/>
              <a:gd name="T75" fmla="*/ 2147483647 h 63"/>
              <a:gd name="T76" fmla="*/ 2147483647 w 64"/>
              <a:gd name="T77" fmla="*/ 2147483647 h 63"/>
              <a:gd name="T78" fmla="*/ 2147483647 w 64"/>
              <a:gd name="T79" fmla="*/ 2147483647 h 63"/>
              <a:gd name="T80" fmla="*/ 2147483647 w 64"/>
              <a:gd name="T81" fmla="*/ 2147483647 h 63"/>
              <a:gd name="T82" fmla="*/ 2147483647 w 64"/>
              <a:gd name="T83" fmla="*/ 2147483647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4"/>
              <a:gd name="T127" fmla="*/ 0 h 63"/>
              <a:gd name="T128" fmla="*/ 64 w 64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4" h="63">
                <a:moveTo>
                  <a:pt x="30" y="63"/>
                </a:moveTo>
                <a:lnTo>
                  <a:pt x="38" y="63"/>
                </a:lnTo>
                <a:lnTo>
                  <a:pt x="41" y="59"/>
                </a:lnTo>
                <a:lnTo>
                  <a:pt x="45" y="59"/>
                </a:lnTo>
                <a:lnTo>
                  <a:pt x="49" y="55"/>
                </a:lnTo>
                <a:lnTo>
                  <a:pt x="52" y="52"/>
                </a:lnTo>
                <a:lnTo>
                  <a:pt x="56" y="48"/>
                </a:lnTo>
                <a:lnTo>
                  <a:pt x="60" y="44"/>
                </a:lnTo>
                <a:lnTo>
                  <a:pt x="60" y="41"/>
                </a:lnTo>
                <a:lnTo>
                  <a:pt x="64" y="37"/>
                </a:lnTo>
                <a:lnTo>
                  <a:pt x="64" y="33"/>
                </a:lnTo>
                <a:lnTo>
                  <a:pt x="64" y="26"/>
                </a:lnTo>
                <a:lnTo>
                  <a:pt x="60" y="22"/>
                </a:lnTo>
                <a:lnTo>
                  <a:pt x="60" y="18"/>
                </a:lnTo>
                <a:lnTo>
                  <a:pt x="56" y="15"/>
                </a:lnTo>
                <a:lnTo>
                  <a:pt x="52" y="11"/>
                </a:lnTo>
                <a:lnTo>
                  <a:pt x="49" y="7"/>
                </a:lnTo>
                <a:lnTo>
                  <a:pt x="45" y="3"/>
                </a:lnTo>
                <a:lnTo>
                  <a:pt x="41" y="3"/>
                </a:lnTo>
                <a:lnTo>
                  <a:pt x="38" y="0"/>
                </a:lnTo>
                <a:lnTo>
                  <a:pt x="30" y="0"/>
                </a:lnTo>
                <a:lnTo>
                  <a:pt x="26" y="0"/>
                </a:lnTo>
                <a:lnTo>
                  <a:pt x="23" y="3"/>
                </a:lnTo>
                <a:lnTo>
                  <a:pt x="15" y="3"/>
                </a:lnTo>
                <a:lnTo>
                  <a:pt x="12" y="7"/>
                </a:lnTo>
                <a:lnTo>
                  <a:pt x="8" y="11"/>
                </a:lnTo>
                <a:lnTo>
                  <a:pt x="8" y="15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33"/>
                </a:lnTo>
                <a:lnTo>
                  <a:pt x="0" y="37"/>
                </a:lnTo>
                <a:lnTo>
                  <a:pt x="0" y="41"/>
                </a:lnTo>
                <a:lnTo>
                  <a:pt x="4" y="44"/>
                </a:lnTo>
                <a:lnTo>
                  <a:pt x="8" y="48"/>
                </a:lnTo>
                <a:lnTo>
                  <a:pt x="8" y="52"/>
                </a:lnTo>
                <a:lnTo>
                  <a:pt x="12" y="55"/>
                </a:lnTo>
                <a:lnTo>
                  <a:pt x="15" y="59"/>
                </a:lnTo>
                <a:lnTo>
                  <a:pt x="23" y="59"/>
                </a:lnTo>
                <a:lnTo>
                  <a:pt x="26" y="63"/>
                </a:lnTo>
                <a:lnTo>
                  <a:pt x="30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8" name="Line 79"/>
          <p:cNvSpPr>
            <a:spLocks noChangeShapeType="1"/>
          </p:cNvSpPr>
          <p:nvPr/>
        </p:nvSpPr>
        <p:spPr bwMode="auto">
          <a:xfrm>
            <a:off x="2589213" y="2947988"/>
            <a:ext cx="3151187" cy="6350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79" name="Freeform 80"/>
          <p:cNvSpPr>
            <a:spLocks/>
          </p:cNvSpPr>
          <p:nvPr/>
        </p:nvSpPr>
        <p:spPr bwMode="auto">
          <a:xfrm>
            <a:off x="5711825" y="2901950"/>
            <a:ext cx="100013" cy="100013"/>
          </a:xfrm>
          <a:custGeom>
            <a:avLst/>
            <a:gdLst>
              <a:gd name="T0" fmla="*/ 0 w 63"/>
              <a:gd name="T1" fmla="*/ 0 h 63"/>
              <a:gd name="T2" fmla="*/ 0 w 63"/>
              <a:gd name="T3" fmla="*/ 2147483647 h 63"/>
              <a:gd name="T4" fmla="*/ 2147483647 w 63"/>
              <a:gd name="T5" fmla="*/ 2147483647 h 63"/>
              <a:gd name="T6" fmla="*/ 0 w 63"/>
              <a:gd name="T7" fmla="*/ 0 h 63"/>
              <a:gd name="T8" fmla="*/ 0 w 63"/>
              <a:gd name="T9" fmla="*/ 0 h 6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"/>
              <a:gd name="T16" fmla="*/ 0 h 63"/>
              <a:gd name="T17" fmla="*/ 63 w 63"/>
              <a:gd name="T18" fmla="*/ 63 h 6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" h="63">
                <a:moveTo>
                  <a:pt x="0" y="0"/>
                </a:moveTo>
                <a:lnTo>
                  <a:pt x="0" y="63"/>
                </a:lnTo>
                <a:lnTo>
                  <a:pt x="63" y="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680" name="Rectangle 81"/>
          <p:cNvSpPr>
            <a:spLocks noChangeArrowheads="1"/>
          </p:cNvSpPr>
          <p:nvPr/>
        </p:nvSpPr>
        <p:spPr bwMode="auto">
          <a:xfrm>
            <a:off x="533400" y="1905000"/>
            <a:ext cx="838200" cy="3581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en-US" altLang="en-US" b="1"/>
          </a:p>
        </p:txBody>
      </p:sp>
      <p:sp>
        <p:nvSpPr>
          <p:cNvPr id="25681" name="Rectangle 82"/>
          <p:cNvSpPr>
            <a:spLocks noChangeArrowheads="1"/>
          </p:cNvSpPr>
          <p:nvPr/>
        </p:nvSpPr>
        <p:spPr bwMode="auto">
          <a:xfrm>
            <a:off x="5840413" y="1914525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civ</a:t>
            </a:r>
          </a:p>
        </p:txBody>
      </p:sp>
      <p:sp>
        <p:nvSpPr>
          <p:cNvPr id="25682" name="Rectangle 83"/>
          <p:cNvSpPr>
            <a:spLocks noChangeArrowheads="1"/>
          </p:cNvSpPr>
          <p:nvPr/>
        </p:nvSpPr>
        <p:spPr bwMode="auto">
          <a:xfrm>
            <a:off x="5830888" y="2514600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civ</a:t>
            </a:r>
          </a:p>
        </p:txBody>
      </p:sp>
      <p:sp>
        <p:nvSpPr>
          <p:cNvPr id="25683" name="Rectangle 84"/>
          <p:cNvSpPr>
            <a:spLocks noChangeArrowheads="1"/>
          </p:cNvSpPr>
          <p:nvPr/>
        </p:nvSpPr>
        <p:spPr bwMode="auto">
          <a:xfrm>
            <a:off x="5830888" y="2819400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civ</a:t>
            </a:r>
          </a:p>
        </p:txBody>
      </p:sp>
      <p:sp>
        <p:nvSpPr>
          <p:cNvPr id="25684" name="Rectangle 85"/>
          <p:cNvSpPr>
            <a:spLocks noChangeArrowheads="1"/>
          </p:cNvSpPr>
          <p:nvPr/>
        </p:nvSpPr>
        <p:spPr bwMode="auto">
          <a:xfrm>
            <a:off x="5835650" y="3124200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civ</a:t>
            </a:r>
          </a:p>
        </p:txBody>
      </p:sp>
      <p:sp>
        <p:nvSpPr>
          <p:cNvPr id="25685" name="Rectangle 86"/>
          <p:cNvSpPr>
            <a:spLocks noChangeArrowheads="1"/>
          </p:cNvSpPr>
          <p:nvPr/>
        </p:nvSpPr>
        <p:spPr bwMode="auto">
          <a:xfrm>
            <a:off x="5842000" y="3421063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civ</a:t>
            </a:r>
          </a:p>
        </p:txBody>
      </p:sp>
      <p:sp>
        <p:nvSpPr>
          <p:cNvPr id="25686" name="Rectangle 87"/>
          <p:cNvSpPr>
            <a:spLocks noChangeArrowheads="1"/>
          </p:cNvSpPr>
          <p:nvPr/>
        </p:nvSpPr>
        <p:spPr bwMode="auto">
          <a:xfrm>
            <a:off x="5838825" y="3673475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civ</a:t>
            </a:r>
          </a:p>
        </p:txBody>
      </p:sp>
      <p:sp>
        <p:nvSpPr>
          <p:cNvPr id="25687" name="Rectangle 88"/>
          <p:cNvSpPr>
            <a:spLocks noChangeArrowheads="1"/>
          </p:cNvSpPr>
          <p:nvPr/>
        </p:nvSpPr>
        <p:spPr bwMode="auto">
          <a:xfrm>
            <a:off x="5838825" y="3970338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/>
              <a:t>civ</a:t>
            </a:r>
          </a:p>
        </p:txBody>
      </p:sp>
      <p:sp>
        <p:nvSpPr>
          <p:cNvPr id="25688" name="Rectangle 89"/>
          <p:cNvSpPr>
            <a:spLocks noChangeArrowheads="1"/>
          </p:cNvSpPr>
          <p:nvPr/>
        </p:nvSpPr>
        <p:spPr bwMode="auto">
          <a:xfrm>
            <a:off x="5840413" y="4267200"/>
            <a:ext cx="1752600" cy="3048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b="1" dirty="0"/>
              <a:t>civ</a:t>
            </a:r>
          </a:p>
        </p:txBody>
      </p:sp>
      <p:sp>
        <p:nvSpPr>
          <p:cNvPr id="25689" name="Text Box 90"/>
          <p:cNvSpPr txBox="1">
            <a:spLocks noChangeArrowheads="1"/>
          </p:cNvSpPr>
          <p:nvPr/>
        </p:nvSpPr>
        <p:spPr bwMode="auto">
          <a:xfrm>
            <a:off x="1419560" y="1003300"/>
            <a:ext cx="2197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program view</a:t>
            </a:r>
            <a:endParaRPr lang="en-US" altLang="en-US" b="1" dirty="0"/>
          </a:p>
        </p:txBody>
      </p:sp>
      <p:sp>
        <p:nvSpPr>
          <p:cNvPr id="25690" name="Text Box 91"/>
          <p:cNvSpPr txBox="1">
            <a:spLocks noChangeArrowheads="1"/>
          </p:cNvSpPr>
          <p:nvPr/>
        </p:nvSpPr>
        <p:spPr bwMode="auto">
          <a:xfrm>
            <a:off x="5352011" y="1003300"/>
            <a:ext cx="305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main memory view</a:t>
            </a:r>
            <a:endParaRPr lang="en-US" altLang="en-US" b="1" dirty="0"/>
          </a:p>
        </p:txBody>
      </p:sp>
      <p:sp>
        <p:nvSpPr>
          <p:cNvPr id="25692" name="Text Box 93"/>
          <p:cNvSpPr txBox="1">
            <a:spLocks noChangeArrowheads="1"/>
          </p:cNvSpPr>
          <p:nvPr/>
        </p:nvSpPr>
        <p:spPr bwMode="auto">
          <a:xfrm>
            <a:off x="1600200" y="5715000"/>
            <a:ext cx="1828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Page Table</a:t>
            </a:r>
          </a:p>
        </p:txBody>
      </p:sp>
      <p:sp>
        <p:nvSpPr>
          <p:cNvPr id="25693" name="Rectangle 94"/>
          <p:cNvSpPr>
            <a:spLocks noChangeArrowheads="1"/>
          </p:cNvSpPr>
          <p:nvPr/>
        </p:nvSpPr>
        <p:spPr bwMode="auto">
          <a:xfrm>
            <a:off x="1524000" y="1828800"/>
            <a:ext cx="2133600" cy="4381500"/>
          </a:xfrm>
          <a:prstGeom prst="rect">
            <a:avLst/>
          </a:prstGeom>
          <a:noFill/>
          <a:ln w="762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en-US" altLang="en-US"/>
          </a:p>
        </p:txBody>
      </p:sp>
      <p:sp>
        <p:nvSpPr>
          <p:cNvPr id="25694" name="Text Box 95"/>
          <p:cNvSpPr txBox="1">
            <a:spLocks noChangeArrowheads="1"/>
          </p:cNvSpPr>
          <p:nvPr/>
        </p:nvSpPr>
        <p:spPr bwMode="auto">
          <a:xfrm>
            <a:off x="1219200" y="1384300"/>
            <a:ext cx="3048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0000"/>
                </a:solidFill>
              </a:rPr>
              <a:t>Virtual Addresses</a:t>
            </a:r>
          </a:p>
        </p:txBody>
      </p:sp>
      <p:sp>
        <p:nvSpPr>
          <p:cNvPr id="25695" name="Text Box 96"/>
          <p:cNvSpPr txBox="1">
            <a:spLocks noChangeArrowheads="1"/>
          </p:cNvSpPr>
          <p:nvPr/>
        </p:nvSpPr>
        <p:spPr bwMode="auto">
          <a:xfrm>
            <a:off x="5346700" y="1409700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0000"/>
                </a:solidFill>
              </a:rPr>
              <a:t>Physical Addresses</a:t>
            </a:r>
          </a:p>
        </p:txBody>
      </p:sp>
      <p:sp>
        <p:nvSpPr>
          <p:cNvPr id="25696" name="Text Box 97"/>
          <p:cNvSpPr txBox="1">
            <a:spLocks noChangeArrowheads="1"/>
          </p:cNvSpPr>
          <p:nvPr/>
        </p:nvSpPr>
        <p:spPr bwMode="auto">
          <a:xfrm>
            <a:off x="3822700" y="1679575"/>
            <a:ext cx="1828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0000"/>
                </a:solidFill>
              </a:rPr>
              <a:t>Address</a:t>
            </a:r>
            <a:br>
              <a:rPr lang="en-US" altLang="en-US" b="1">
                <a:solidFill>
                  <a:srgbClr val="FF0000"/>
                </a:solidFill>
              </a:rPr>
            </a:br>
            <a:r>
              <a:rPr lang="en-US" altLang="en-US" b="1">
                <a:solidFill>
                  <a:srgbClr val="FF0000"/>
                </a:solidFill>
              </a:rPr>
              <a:t>Translation</a:t>
            </a:r>
          </a:p>
        </p:txBody>
      </p:sp>
      <p:sp>
        <p:nvSpPr>
          <p:cNvPr id="25697" name="Text Box 99"/>
          <p:cNvSpPr txBox="1">
            <a:spLocks noChangeArrowheads="1"/>
          </p:cNvSpPr>
          <p:nvPr/>
        </p:nvSpPr>
        <p:spPr bwMode="auto">
          <a:xfrm rot="16200000">
            <a:off x="521200" y="3291215"/>
            <a:ext cx="6848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2800" b="1" dirty="0"/>
              <a:t>civ</a:t>
            </a:r>
          </a:p>
        </p:txBody>
      </p:sp>
      <p:sp>
        <p:nvSpPr>
          <p:cNvPr id="25698" name="Text Box 100"/>
          <p:cNvSpPr txBox="1">
            <a:spLocks noChangeArrowheads="1"/>
          </p:cNvSpPr>
          <p:nvPr/>
        </p:nvSpPr>
        <p:spPr bwMode="auto">
          <a:xfrm>
            <a:off x="7658100" y="26797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FF0000"/>
                </a:solidFill>
              </a:rPr>
              <a:t>pages</a:t>
            </a:r>
          </a:p>
        </p:txBody>
      </p:sp>
      <p:sp>
        <p:nvSpPr>
          <p:cNvPr id="25699" name="Line 101"/>
          <p:cNvSpPr>
            <a:spLocks noChangeShapeType="1"/>
          </p:cNvSpPr>
          <p:nvPr/>
        </p:nvSpPr>
        <p:spPr bwMode="auto">
          <a:xfrm flipH="1" flipV="1">
            <a:off x="7658100" y="2070100"/>
            <a:ext cx="381000" cy="533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700" name="Line 102"/>
          <p:cNvSpPr>
            <a:spLocks noChangeShapeType="1"/>
          </p:cNvSpPr>
          <p:nvPr/>
        </p:nvSpPr>
        <p:spPr bwMode="auto">
          <a:xfrm flipH="1">
            <a:off x="7658100" y="3213100"/>
            <a:ext cx="304800" cy="304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5701" name="Line 103"/>
          <p:cNvSpPr>
            <a:spLocks noChangeShapeType="1"/>
          </p:cNvSpPr>
          <p:nvPr/>
        </p:nvSpPr>
        <p:spPr bwMode="auto">
          <a:xfrm flipH="1">
            <a:off x="7658100" y="3213100"/>
            <a:ext cx="685800" cy="838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latin typeface="Arial  " charset="0"/>
              </a:rPr>
              <a:t>Page Table Translation Structure</a:t>
            </a:r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3565525" y="993775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/>
              <a:t>page table register</a:t>
            </a:r>
          </a:p>
        </p:txBody>
      </p:sp>
      <p:sp>
        <p:nvSpPr>
          <p:cNvPr id="27652" name="Line 5"/>
          <p:cNvSpPr>
            <a:spLocks noChangeShapeType="1"/>
          </p:cNvSpPr>
          <p:nvPr/>
        </p:nvSpPr>
        <p:spPr bwMode="auto">
          <a:xfrm flipV="1">
            <a:off x="6265863" y="1878013"/>
            <a:ext cx="1587" cy="3810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3" name="Freeform 6"/>
          <p:cNvSpPr>
            <a:spLocks/>
          </p:cNvSpPr>
          <p:nvPr/>
        </p:nvSpPr>
        <p:spPr bwMode="auto">
          <a:xfrm>
            <a:off x="2900363" y="1874838"/>
            <a:ext cx="5091112" cy="398462"/>
          </a:xfrm>
          <a:custGeom>
            <a:avLst/>
            <a:gdLst>
              <a:gd name="T0" fmla="*/ 0 w 3207"/>
              <a:gd name="T1" fmla="*/ 2147483647 h 251"/>
              <a:gd name="T2" fmla="*/ 0 w 3207"/>
              <a:gd name="T3" fmla="*/ 0 h 251"/>
              <a:gd name="T4" fmla="*/ 2147483647 w 3207"/>
              <a:gd name="T5" fmla="*/ 0 h 251"/>
              <a:gd name="T6" fmla="*/ 2147483647 w 3207"/>
              <a:gd name="T7" fmla="*/ 2147483647 h 251"/>
              <a:gd name="T8" fmla="*/ 0 w 3207"/>
              <a:gd name="T9" fmla="*/ 2147483647 h 251"/>
              <a:gd name="T10" fmla="*/ 0 w 3207"/>
              <a:gd name="T11" fmla="*/ 2147483647 h 25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7"/>
              <a:gd name="T19" fmla="*/ 0 h 251"/>
              <a:gd name="T20" fmla="*/ 3207 w 3207"/>
              <a:gd name="T21" fmla="*/ 251 h 25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7" h="251">
                <a:moveTo>
                  <a:pt x="0" y="251"/>
                </a:moveTo>
                <a:lnTo>
                  <a:pt x="0" y="0"/>
                </a:lnTo>
                <a:lnTo>
                  <a:pt x="3207" y="0"/>
                </a:lnTo>
                <a:lnTo>
                  <a:pt x="3207" y="251"/>
                </a:lnTo>
                <a:lnTo>
                  <a:pt x="0" y="251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4" name="Line 7"/>
          <p:cNvSpPr>
            <a:spLocks noChangeShapeType="1"/>
          </p:cNvSpPr>
          <p:nvPr/>
        </p:nvSpPr>
        <p:spPr bwMode="auto">
          <a:xfrm flipV="1">
            <a:off x="6265863" y="5556250"/>
            <a:ext cx="1587" cy="385763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5" name="Freeform 8"/>
          <p:cNvSpPr>
            <a:spLocks/>
          </p:cNvSpPr>
          <p:nvPr/>
        </p:nvSpPr>
        <p:spPr bwMode="auto">
          <a:xfrm>
            <a:off x="3046413" y="5556250"/>
            <a:ext cx="4938712" cy="385763"/>
          </a:xfrm>
          <a:custGeom>
            <a:avLst/>
            <a:gdLst>
              <a:gd name="T0" fmla="*/ 0 w 3111"/>
              <a:gd name="T1" fmla="*/ 2147483647 h 243"/>
              <a:gd name="T2" fmla="*/ 0 w 3111"/>
              <a:gd name="T3" fmla="*/ 0 h 243"/>
              <a:gd name="T4" fmla="*/ 2147483647 w 3111"/>
              <a:gd name="T5" fmla="*/ 0 h 243"/>
              <a:gd name="T6" fmla="*/ 2147483647 w 3111"/>
              <a:gd name="T7" fmla="*/ 2147483647 h 243"/>
              <a:gd name="T8" fmla="*/ 0 w 3111"/>
              <a:gd name="T9" fmla="*/ 2147483647 h 243"/>
              <a:gd name="T10" fmla="*/ 0 w 3111"/>
              <a:gd name="T11" fmla="*/ 2147483647 h 24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11"/>
              <a:gd name="T19" fmla="*/ 0 h 243"/>
              <a:gd name="T20" fmla="*/ 3111 w 3111"/>
              <a:gd name="T21" fmla="*/ 243 h 24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11" h="243">
                <a:moveTo>
                  <a:pt x="0" y="243"/>
                </a:moveTo>
                <a:lnTo>
                  <a:pt x="0" y="0"/>
                </a:lnTo>
                <a:lnTo>
                  <a:pt x="3111" y="0"/>
                </a:lnTo>
                <a:lnTo>
                  <a:pt x="3111" y="243"/>
                </a:lnTo>
                <a:lnTo>
                  <a:pt x="0" y="243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6" name="Freeform 9"/>
          <p:cNvSpPr>
            <a:spLocks/>
          </p:cNvSpPr>
          <p:nvPr/>
        </p:nvSpPr>
        <p:spPr bwMode="auto">
          <a:xfrm>
            <a:off x="4983163" y="5483225"/>
            <a:ext cx="61912" cy="66675"/>
          </a:xfrm>
          <a:custGeom>
            <a:avLst/>
            <a:gdLst>
              <a:gd name="T0" fmla="*/ 2147483647 w 39"/>
              <a:gd name="T1" fmla="*/ 0 h 42"/>
              <a:gd name="T2" fmla="*/ 0 w 39"/>
              <a:gd name="T3" fmla="*/ 0 h 42"/>
              <a:gd name="T4" fmla="*/ 2147483647 w 39"/>
              <a:gd name="T5" fmla="*/ 2147483647 h 42"/>
              <a:gd name="T6" fmla="*/ 2147483647 w 39"/>
              <a:gd name="T7" fmla="*/ 0 h 42"/>
              <a:gd name="T8" fmla="*/ 2147483647 w 39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"/>
              <a:gd name="T16" fmla="*/ 0 h 42"/>
              <a:gd name="T17" fmla="*/ 39 w 39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" h="42">
                <a:moveTo>
                  <a:pt x="39" y="0"/>
                </a:moveTo>
                <a:lnTo>
                  <a:pt x="0" y="0"/>
                </a:lnTo>
                <a:lnTo>
                  <a:pt x="20" y="42"/>
                </a:lnTo>
                <a:lnTo>
                  <a:pt x="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7" name="Freeform 10"/>
          <p:cNvSpPr>
            <a:spLocks/>
          </p:cNvSpPr>
          <p:nvPr/>
        </p:nvSpPr>
        <p:spPr bwMode="auto">
          <a:xfrm>
            <a:off x="7112000" y="5483225"/>
            <a:ext cx="61913" cy="66675"/>
          </a:xfrm>
          <a:custGeom>
            <a:avLst/>
            <a:gdLst>
              <a:gd name="T0" fmla="*/ 2147483647 w 39"/>
              <a:gd name="T1" fmla="*/ 0 h 42"/>
              <a:gd name="T2" fmla="*/ 0 w 39"/>
              <a:gd name="T3" fmla="*/ 0 h 42"/>
              <a:gd name="T4" fmla="*/ 2147483647 w 39"/>
              <a:gd name="T5" fmla="*/ 2147483647 h 42"/>
              <a:gd name="T6" fmla="*/ 2147483647 w 39"/>
              <a:gd name="T7" fmla="*/ 0 h 42"/>
              <a:gd name="T8" fmla="*/ 2147483647 w 39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"/>
              <a:gd name="T16" fmla="*/ 0 h 42"/>
              <a:gd name="T17" fmla="*/ 39 w 39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" h="42">
                <a:moveTo>
                  <a:pt x="39" y="0"/>
                </a:moveTo>
                <a:lnTo>
                  <a:pt x="0" y="0"/>
                </a:lnTo>
                <a:lnTo>
                  <a:pt x="21" y="42"/>
                </a:lnTo>
                <a:lnTo>
                  <a:pt x="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8" name="Line 11"/>
          <p:cNvSpPr>
            <a:spLocks noChangeShapeType="1"/>
          </p:cNvSpPr>
          <p:nvPr/>
        </p:nvSpPr>
        <p:spPr bwMode="auto">
          <a:xfrm>
            <a:off x="7140575" y="2270125"/>
            <a:ext cx="4763" cy="32273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59" name="Freeform 12"/>
          <p:cNvSpPr>
            <a:spLocks/>
          </p:cNvSpPr>
          <p:nvPr/>
        </p:nvSpPr>
        <p:spPr bwMode="auto">
          <a:xfrm>
            <a:off x="4070350" y="3438525"/>
            <a:ext cx="61913" cy="66675"/>
          </a:xfrm>
          <a:custGeom>
            <a:avLst/>
            <a:gdLst>
              <a:gd name="T0" fmla="*/ 2147483647 w 39"/>
              <a:gd name="T1" fmla="*/ 0 h 42"/>
              <a:gd name="T2" fmla="*/ 0 w 39"/>
              <a:gd name="T3" fmla="*/ 0 h 42"/>
              <a:gd name="T4" fmla="*/ 2147483647 w 39"/>
              <a:gd name="T5" fmla="*/ 2147483647 h 42"/>
              <a:gd name="T6" fmla="*/ 2147483647 w 39"/>
              <a:gd name="T7" fmla="*/ 0 h 42"/>
              <a:gd name="T8" fmla="*/ 2147483647 w 39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"/>
              <a:gd name="T16" fmla="*/ 0 h 42"/>
              <a:gd name="T17" fmla="*/ 39 w 39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" h="42">
                <a:moveTo>
                  <a:pt x="39" y="0"/>
                </a:moveTo>
                <a:lnTo>
                  <a:pt x="0" y="0"/>
                </a:lnTo>
                <a:lnTo>
                  <a:pt x="18" y="42"/>
                </a:lnTo>
                <a:lnTo>
                  <a:pt x="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0" name="Line 13"/>
          <p:cNvSpPr>
            <a:spLocks noChangeShapeType="1"/>
          </p:cNvSpPr>
          <p:nvPr/>
        </p:nvSpPr>
        <p:spPr bwMode="auto">
          <a:xfrm>
            <a:off x="4098925" y="2270125"/>
            <a:ext cx="1588" cy="11874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1" name="Freeform 14"/>
          <p:cNvSpPr>
            <a:spLocks/>
          </p:cNvSpPr>
          <p:nvPr/>
        </p:nvSpPr>
        <p:spPr bwMode="auto">
          <a:xfrm>
            <a:off x="3381375" y="2743200"/>
            <a:ext cx="3386138" cy="190500"/>
          </a:xfrm>
          <a:custGeom>
            <a:avLst/>
            <a:gdLst>
              <a:gd name="T0" fmla="*/ 2147483647 w 2133"/>
              <a:gd name="T1" fmla="*/ 2147483647 h 120"/>
              <a:gd name="T2" fmla="*/ 2147483647 w 2133"/>
              <a:gd name="T3" fmla="*/ 0 h 120"/>
              <a:gd name="T4" fmla="*/ 0 w 2133"/>
              <a:gd name="T5" fmla="*/ 0 h 120"/>
              <a:gd name="T6" fmla="*/ 0 w 2133"/>
              <a:gd name="T7" fmla="*/ 2147483647 h 120"/>
              <a:gd name="T8" fmla="*/ 2147483647 w 2133"/>
              <a:gd name="T9" fmla="*/ 2147483647 h 120"/>
              <a:gd name="T10" fmla="*/ 2147483647 w 2133"/>
              <a:gd name="T11" fmla="*/ 2147483647 h 1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0"/>
              <a:gd name="T20" fmla="*/ 2133 w 2133"/>
              <a:gd name="T21" fmla="*/ 120 h 1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0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0"/>
                </a:lnTo>
                <a:lnTo>
                  <a:pt x="2133" y="12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2" name="Line 15"/>
          <p:cNvSpPr>
            <a:spLocks noChangeShapeType="1"/>
          </p:cNvSpPr>
          <p:nvPr/>
        </p:nvSpPr>
        <p:spPr bwMode="auto">
          <a:xfrm>
            <a:off x="3571875" y="2740025"/>
            <a:ext cx="3175" cy="1936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3" name="Freeform 16"/>
          <p:cNvSpPr>
            <a:spLocks/>
          </p:cNvSpPr>
          <p:nvPr/>
        </p:nvSpPr>
        <p:spPr bwMode="auto">
          <a:xfrm>
            <a:off x="3381375" y="2933700"/>
            <a:ext cx="3386138" cy="193675"/>
          </a:xfrm>
          <a:custGeom>
            <a:avLst/>
            <a:gdLst>
              <a:gd name="T0" fmla="*/ 2147483647 w 2133"/>
              <a:gd name="T1" fmla="*/ 2147483647 h 122"/>
              <a:gd name="T2" fmla="*/ 2147483647 w 2133"/>
              <a:gd name="T3" fmla="*/ 0 h 122"/>
              <a:gd name="T4" fmla="*/ 0 w 2133"/>
              <a:gd name="T5" fmla="*/ 0 h 122"/>
              <a:gd name="T6" fmla="*/ 0 w 2133"/>
              <a:gd name="T7" fmla="*/ 2147483647 h 122"/>
              <a:gd name="T8" fmla="*/ 2147483647 w 2133"/>
              <a:gd name="T9" fmla="*/ 2147483647 h 122"/>
              <a:gd name="T10" fmla="*/ 2147483647 w 2133"/>
              <a:gd name="T11" fmla="*/ 2147483647 h 1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2"/>
              <a:gd name="T20" fmla="*/ 2133 w 2133"/>
              <a:gd name="T21" fmla="*/ 122 h 1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2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2"/>
                </a:lnTo>
                <a:lnTo>
                  <a:pt x="2133" y="122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4" name="Line 17"/>
          <p:cNvSpPr>
            <a:spLocks noChangeShapeType="1"/>
          </p:cNvSpPr>
          <p:nvPr/>
        </p:nvSpPr>
        <p:spPr bwMode="auto">
          <a:xfrm>
            <a:off x="3571875" y="2933700"/>
            <a:ext cx="3175" cy="1936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5" name="Freeform 18"/>
          <p:cNvSpPr>
            <a:spLocks/>
          </p:cNvSpPr>
          <p:nvPr/>
        </p:nvSpPr>
        <p:spPr bwMode="auto">
          <a:xfrm>
            <a:off x="3381375" y="3127375"/>
            <a:ext cx="3386138" cy="190500"/>
          </a:xfrm>
          <a:custGeom>
            <a:avLst/>
            <a:gdLst>
              <a:gd name="T0" fmla="*/ 2147483647 w 2133"/>
              <a:gd name="T1" fmla="*/ 2147483647 h 120"/>
              <a:gd name="T2" fmla="*/ 2147483647 w 2133"/>
              <a:gd name="T3" fmla="*/ 0 h 120"/>
              <a:gd name="T4" fmla="*/ 0 w 2133"/>
              <a:gd name="T5" fmla="*/ 0 h 120"/>
              <a:gd name="T6" fmla="*/ 0 w 2133"/>
              <a:gd name="T7" fmla="*/ 2147483647 h 120"/>
              <a:gd name="T8" fmla="*/ 2147483647 w 2133"/>
              <a:gd name="T9" fmla="*/ 2147483647 h 120"/>
              <a:gd name="T10" fmla="*/ 2147483647 w 2133"/>
              <a:gd name="T11" fmla="*/ 2147483647 h 1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0"/>
              <a:gd name="T20" fmla="*/ 2133 w 2133"/>
              <a:gd name="T21" fmla="*/ 120 h 1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0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0"/>
                </a:lnTo>
                <a:lnTo>
                  <a:pt x="2133" y="12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6" name="Line 19"/>
          <p:cNvSpPr>
            <a:spLocks noChangeShapeType="1"/>
          </p:cNvSpPr>
          <p:nvPr/>
        </p:nvSpPr>
        <p:spPr bwMode="auto">
          <a:xfrm>
            <a:off x="3571875" y="3124200"/>
            <a:ext cx="3175" cy="1936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7" name="Freeform 20"/>
          <p:cNvSpPr>
            <a:spLocks/>
          </p:cNvSpPr>
          <p:nvPr/>
        </p:nvSpPr>
        <p:spPr bwMode="auto">
          <a:xfrm>
            <a:off x="3381375" y="3317875"/>
            <a:ext cx="3386138" cy="195263"/>
          </a:xfrm>
          <a:custGeom>
            <a:avLst/>
            <a:gdLst>
              <a:gd name="T0" fmla="*/ 2147483647 w 2133"/>
              <a:gd name="T1" fmla="*/ 2147483647 h 123"/>
              <a:gd name="T2" fmla="*/ 2147483647 w 2133"/>
              <a:gd name="T3" fmla="*/ 0 h 123"/>
              <a:gd name="T4" fmla="*/ 0 w 2133"/>
              <a:gd name="T5" fmla="*/ 0 h 123"/>
              <a:gd name="T6" fmla="*/ 0 w 2133"/>
              <a:gd name="T7" fmla="*/ 2147483647 h 123"/>
              <a:gd name="T8" fmla="*/ 2147483647 w 2133"/>
              <a:gd name="T9" fmla="*/ 2147483647 h 123"/>
              <a:gd name="T10" fmla="*/ 2147483647 w 2133"/>
              <a:gd name="T11" fmla="*/ 2147483647 h 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3"/>
              <a:gd name="T20" fmla="*/ 2133 w 2133"/>
              <a:gd name="T21" fmla="*/ 123 h 1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3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3"/>
                </a:lnTo>
                <a:lnTo>
                  <a:pt x="2133" y="123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8" name="Line 21"/>
          <p:cNvSpPr>
            <a:spLocks noChangeShapeType="1"/>
          </p:cNvSpPr>
          <p:nvPr/>
        </p:nvSpPr>
        <p:spPr bwMode="auto">
          <a:xfrm>
            <a:off x="3571875" y="3317875"/>
            <a:ext cx="3175" cy="195263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69" name="Freeform 22"/>
          <p:cNvSpPr>
            <a:spLocks/>
          </p:cNvSpPr>
          <p:nvPr/>
        </p:nvSpPr>
        <p:spPr bwMode="auto">
          <a:xfrm>
            <a:off x="3381375" y="3513138"/>
            <a:ext cx="3386138" cy="190500"/>
          </a:xfrm>
          <a:custGeom>
            <a:avLst/>
            <a:gdLst>
              <a:gd name="T0" fmla="*/ 2147483647 w 2133"/>
              <a:gd name="T1" fmla="*/ 2147483647 h 120"/>
              <a:gd name="T2" fmla="*/ 2147483647 w 2133"/>
              <a:gd name="T3" fmla="*/ 0 h 120"/>
              <a:gd name="T4" fmla="*/ 0 w 2133"/>
              <a:gd name="T5" fmla="*/ 0 h 120"/>
              <a:gd name="T6" fmla="*/ 0 w 2133"/>
              <a:gd name="T7" fmla="*/ 2147483647 h 120"/>
              <a:gd name="T8" fmla="*/ 2147483647 w 2133"/>
              <a:gd name="T9" fmla="*/ 2147483647 h 120"/>
              <a:gd name="T10" fmla="*/ 2147483647 w 2133"/>
              <a:gd name="T11" fmla="*/ 2147483647 h 120"/>
              <a:gd name="T12" fmla="*/ 2147483647 w 2133"/>
              <a:gd name="T13" fmla="*/ 2147483647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33"/>
              <a:gd name="T22" fmla="*/ 0 h 120"/>
              <a:gd name="T23" fmla="*/ 2133 w 2133"/>
              <a:gd name="T24" fmla="*/ 120 h 1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33" h="120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0"/>
                </a:lnTo>
                <a:lnTo>
                  <a:pt x="2133" y="120"/>
                </a:lnTo>
                <a:lnTo>
                  <a:pt x="2131" y="120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0" name="Freeform 23"/>
          <p:cNvSpPr>
            <a:spLocks/>
          </p:cNvSpPr>
          <p:nvPr/>
        </p:nvSpPr>
        <p:spPr bwMode="auto">
          <a:xfrm>
            <a:off x="3381375" y="3513138"/>
            <a:ext cx="3386138" cy="190500"/>
          </a:xfrm>
          <a:custGeom>
            <a:avLst/>
            <a:gdLst>
              <a:gd name="T0" fmla="*/ 2147483647 w 2133"/>
              <a:gd name="T1" fmla="*/ 2147483647 h 120"/>
              <a:gd name="T2" fmla="*/ 2147483647 w 2133"/>
              <a:gd name="T3" fmla="*/ 0 h 120"/>
              <a:gd name="T4" fmla="*/ 0 w 2133"/>
              <a:gd name="T5" fmla="*/ 0 h 120"/>
              <a:gd name="T6" fmla="*/ 0 w 2133"/>
              <a:gd name="T7" fmla="*/ 2147483647 h 120"/>
              <a:gd name="T8" fmla="*/ 2147483647 w 2133"/>
              <a:gd name="T9" fmla="*/ 2147483647 h 120"/>
              <a:gd name="T10" fmla="*/ 2147483647 w 2133"/>
              <a:gd name="T11" fmla="*/ 2147483647 h 1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0"/>
              <a:gd name="T20" fmla="*/ 2133 w 2133"/>
              <a:gd name="T21" fmla="*/ 120 h 1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0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0"/>
                </a:lnTo>
                <a:lnTo>
                  <a:pt x="2133" y="12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1" name="Line 24"/>
          <p:cNvSpPr>
            <a:spLocks noChangeShapeType="1"/>
          </p:cNvSpPr>
          <p:nvPr/>
        </p:nvSpPr>
        <p:spPr bwMode="auto">
          <a:xfrm>
            <a:off x="3571875" y="3508375"/>
            <a:ext cx="3175" cy="195263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2" name="Freeform 25"/>
          <p:cNvSpPr>
            <a:spLocks/>
          </p:cNvSpPr>
          <p:nvPr/>
        </p:nvSpPr>
        <p:spPr bwMode="auto">
          <a:xfrm>
            <a:off x="3381375" y="3703638"/>
            <a:ext cx="3386138" cy="193675"/>
          </a:xfrm>
          <a:custGeom>
            <a:avLst/>
            <a:gdLst>
              <a:gd name="T0" fmla="*/ 2147483647 w 2133"/>
              <a:gd name="T1" fmla="*/ 2147483647 h 122"/>
              <a:gd name="T2" fmla="*/ 2147483647 w 2133"/>
              <a:gd name="T3" fmla="*/ 0 h 122"/>
              <a:gd name="T4" fmla="*/ 0 w 2133"/>
              <a:gd name="T5" fmla="*/ 0 h 122"/>
              <a:gd name="T6" fmla="*/ 0 w 2133"/>
              <a:gd name="T7" fmla="*/ 2147483647 h 122"/>
              <a:gd name="T8" fmla="*/ 2147483647 w 2133"/>
              <a:gd name="T9" fmla="*/ 2147483647 h 122"/>
              <a:gd name="T10" fmla="*/ 2147483647 w 2133"/>
              <a:gd name="T11" fmla="*/ 2147483647 h 1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2"/>
              <a:gd name="T20" fmla="*/ 2133 w 2133"/>
              <a:gd name="T21" fmla="*/ 122 h 1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2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2"/>
                </a:lnTo>
                <a:lnTo>
                  <a:pt x="2133" y="122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3" name="Line 26"/>
          <p:cNvSpPr>
            <a:spLocks noChangeShapeType="1"/>
          </p:cNvSpPr>
          <p:nvPr/>
        </p:nvSpPr>
        <p:spPr bwMode="auto">
          <a:xfrm>
            <a:off x="3571875" y="3703638"/>
            <a:ext cx="3175" cy="1936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4" name="Freeform 27"/>
          <p:cNvSpPr>
            <a:spLocks/>
          </p:cNvSpPr>
          <p:nvPr/>
        </p:nvSpPr>
        <p:spPr bwMode="auto">
          <a:xfrm>
            <a:off x="3381375" y="3897313"/>
            <a:ext cx="3386138" cy="190500"/>
          </a:xfrm>
          <a:custGeom>
            <a:avLst/>
            <a:gdLst>
              <a:gd name="T0" fmla="*/ 2147483647 w 2133"/>
              <a:gd name="T1" fmla="*/ 2147483647 h 120"/>
              <a:gd name="T2" fmla="*/ 2147483647 w 2133"/>
              <a:gd name="T3" fmla="*/ 0 h 120"/>
              <a:gd name="T4" fmla="*/ 0 w 2133"/>
              <a:gd name="T5" fmla="*/ 0 h 120"/>
              <a:gd name="T6" fmla="*/ 0 w 2133"/>
              <a:gd name="T7" fmla="*/ 2147483647 h 120"/>
              <a:gd name="T8" fmla="*/ 2147483647 w 2133"/>
              <a:gd name="T9" fmla="*/ 2147483647 h 120"/>
              <a:gd name="T10" fmla="*/ 2147483647 w 2133"/>
              <a:gd name="T11" fmla="*/ 2147483647 h 1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0"/>
              <a:gd name="T20" fmla="*/ 2133 w 2133"/>
              <a:gd name="T21" fmla="*/ 120 h 1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0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0"/>
                </a:lnTo>
                <a:lnTo>
                  <a:pt x="2133" y="12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5" name="Line 28"/>
          <p:cNvSpPr>
            <a:spLocks noChangeShapeType="1"/>
          </p:cNvSpPr>
          <p:nvPr/>
        </p:nvSpPr>
        <p:spPr bwMode="auto">
          <a:xfrm>
            <a:off x="3571875" y="3894138"/>
            <a:ext cx="3175" cy="1936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6" name="Freeform 29"/>
          <p:cNvSpPr>
            <a:spLocks/>
          </p:cNvSpPr>
          <p:nvPr/>
        </p:nvSpPr>
        <p:spPr bwMode="auto">
          <a:xfrm>
            <a:off x="3381375" y="4087813"/>
            <a:ext cx="3386138" cy="193675"/>
          </a:xfrm>
          <a:custGeom>
            <a:avLst/>
            <a:gdLst>
              <a:gd name="T0" fmla="*/ 2147483647 w 2133"/>
              <a:gd name="T1" fmla="*/ 2147483647 h 122"/>
              <a:gd name="T2" fmla="*/ 2147483647 w 2133"/>
              <a:gd name="T3" fmla="*/ 0 h 122"/>
              <a:gd name="T4" fmla="*/ 0 w 2133"/>
              <a:gd name="T5" fmla="*/ 0 h 122"/>
              <a:gd name="T6" fmla="*/ 0 w 2133"/>
              <a:gd name="T7" fmla="*/ 2147483647 h 122"/>
              <a:gd name="T8" fmla="*/ 2147483647 w 2133"/>
              <a:gd name="T9" fmla="*/ 2147483647 h 122"/>
              <a:gd name="T10" fmla="*/ 2147483647 w 2133"/>
              <a:gd name="T11" fmla="*/ 2147483647 h 1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2"/>
              <a:gd name="T20" fmla="*/ 2133 w 2133"/>
              <a:gd name="T21" fmla="*/ 122 h 1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2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2"/>
                </a:lnTo>
                <a:lnTo>
                  <a:pt x="2133" y="122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7" name="Line 30"/>
          <p:cNvSpPr>
            <a:spLocks noChangeShapeType="1"/>
          </p:cNvSpPr>
          <p:nvPr/>
        </p:nvSpPr>
        <p:spPr bwMode="auto">
          <a:xfrm>
            <a:off x="3571875" y="4087813"/>
            <a:ext cx="3175" cy="1936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8" name="Freeform 31"/>
          <p:cNvSpPr>
            <a:spLocks/>
          </p:cNvSpPr>
          <p:nvPr/>
        </p:nvSpPr>
        <p:spPr bwMode="auto">
          <a:xfrm>
            <a:off x="3381375" y="4281488"/>
            <a:ext cx="3386138" cy="190500"/>
          </a:xfrm>
          <a:custGeom>
            <a:avLst/>
            <a:gdLst>
              <a:gd name="T0" fmla="*/ 2147483647 w 2133"/>
              <a:gd name="T1" fmla="*/ 2147483647 h 120"/>
              <a:gd name="T2" fmla="*/ 2147483647 w 2133"/>
              <a:gd name="T3" fmla="*/ 0 h 120"/>
              <a:gd name="T4" fmla="*/ 0 w 2133"/>
              <a:gd name="T5" fmla="*/ 0 h 120"/>
              <a:gd name="T6" fmla="*/ 0 w 2133"/>
              <a:gd name="T7" fmla="*/ 2147483647 h 120"/>
              <a:gd name="T8" fmla="*/ 2147483647 w 2133"/>
              <a:gd name="T9" fmla="*/ 2147483647 h 120"/>
              <a:gd name="T10" fmla="*/ 2147483647 w 2133"/>
              <a:gd name="T11" fmla="*/ 2147483647 h 1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0"/>
              <a:gd name="T20" fmla="*/ 2133 w 2133"/>
              <a:gd name="T21" fmla="*/ 120 h 1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0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0"/>
                </a:lnTo>
                <a:lnTo>
                  <a:pt x="2133" y="12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79" name="Line 32"/>
          <p:cNvSpPr>
            <a:spLocks noChangeShapeType="1"/>
          </p:cNvSpPr>
          <p:nvPr/>
        </p:nvSpPr>
        <p:spPr bwMode="auto">
          <a:xfrm>
            <a:off x="3571875" y="4278313"/>
            <a:ext cx="3175" cy="1936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0" name="Freeform 33"/>
          <p:cNvSpPr>
            <a:spLocks/>
          </p:cNvSpPr>
          <p:nvPr/>
        </p:nvSpPr>
        <p:spPr bwMode="auto">
          <a:xfrm>
            <a:off x="3381375" y="4471988"/>
            <a:ext cx="3386138" cy="195262"/>
          </a:xfrm>
          <a:custGeom>
            <a:avLst/>
            <a:gdLst>
              <a:gd name="T0" fmla="*/ 2147483647 w 2133"/>
              <a:gd name="T1" fmla="*/ 2147483647 h 123"/>
              <a:gd name="T2" fmla="*/ 2147483647 w 2133"/>
              <a:gd name="T3" fmla="*/ 0 h 123"/>
              <a:gd name="T4" fmla="*/ 0 w 2133"/>
              <a:gd name="T5" fmla="*/ 0 h 123"/>
              <a:gd name="T6" fmla="*/ 0 w 2133"/>
              <a:gd name="T7" fmla="*/ 2147483647 h 123"/>
              <a:gd name="T8" fmla="*/ 2147483647 w 2133"/>
              <a:gd name="T9" fmla="*/ 2147483647 h 123"/>
              <a:gd name="T10" fmla="*/ 2147483647 w 2133"/>
              <a:gd name="T11" fmla="*/ 2147483647 h 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33"/>
              <a:gd name="T19" fmla="*/ 0 h 123"/>
              <a:gd name="T20" fmla="*/ 2133 w 2133"/>
              <a:gd name="T21" fmla="*/ 123 h 1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33" h="123">
                <a:moveTo>
                  <a:pt x="2131" y="120"/>
                </a:moveTo>
                <a:lnTo>
                  <a:pt x="2133" y="0"/>
                </a:lnTo>
                <a:lnTo>
                  <a:pt x="0" y="0"/>
                </a:lnTo>
                <a:lnTo>
                  <a:pt x="0" y="123"/>
                </a:lnTo>
                <a:lnTo>
                  <a:pt x="2133" y="123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1" name="Line 34"/>
          <p:cNvSpPr>
            <a:spLocks noChangeShapeType="1"/>
          </p:cNvSpPr>
          <p:nvPr/>
        </p:nvSpPr>
        <p:spPr bwMode="auto">
          <a:xfrm>
            <a:off x="3571875" y="4471988"/>
            <a:ext cx="3175" cy="195262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2" name="Line 35"/>
          <p:cNvSpPr>
            <a:spLocks noChangeShapeType="1"/>
          </p:cNvSpPr>
          <p:nvPr/>
        </p:nvSpPr>
        <p:spPr bwMode="auto">
          <a:xfrm>
            <a:off x="5011738" y="3608388"/>
            <a:ext cx="3175" cy="18859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3" name="Freeform 36"/>
          <p:cNvSpPr>
            <a:spLocks/>
          </p:cNvSpPr>
          <p:nvPr/>
        </p:nvSpPr>
        <p:spPr bwMode="auto">
          <a:xfrm>
            <a:off x="4983163" y="3575050"/>
            <a:ext cx="61912" cy="65088"/>
          </a:xfrm>
          <a:custGeom>
            <a:avLst/>
            <a:gdLst>
              <a:gd name="T0" fmla="*/ 2147483647 w 39"/>
              <a:gd name="T1" fmla="*/ 2147483647 h 41"/>
              <a:gd name="T2" fmla="*/ 2147483647 w 39"/>
              <a:gd name="T3" fmla="*/ 2147483647 h 41"/>
              <a:gd name="T4" fmla="*/ 2147483647 w 39"/>
              <a:gd name="T5" fmla="*/ 2147483647 h 41"/>
              <a:gd name="T6" fmla="*/ 2147483647 w 39"/>
              <a:gd name="T7" fmla="*/ 2147483647 h 41"/>
              <a:gd name="T8" fmla="*/ 2147483647 w 39"/>
              <a:gd name="T9" fmla="*/ 2147483647 h 41"/>
              <a:gd name="T10" fmla="*/ 2147483647 w 39"/>
              <a:gd name="T11" fmla="*/ 2147483647 h 41"/>
              <a:gd name="T12" fmla="*/ 2147483647 w 39"/>
              <a:gd name="T13" fmla="*/ 2147483647 h 41"/>
              <a:gd name="T14" fmla="*/ 2147483647 w 39"/>
              <a:gd name="T15" fmla="*/ 2147483647 h 41"/>
              <a:gd name="T16" fmla="*/ 2147483647 w 39"/>
              <a:gd name="T17" fmla="*/ 2147483647 h 41"/>
              <a:gd name="T18" fmla="*/ 2147483647 w 39"/>
              <a:gd name="T19" fmla="*/ 2147483647 h 41"/>
              <a:gd name="T20" fmla="*/ 2147483647 w 39"/>
              <a:gd name="T21" fmla="*/ 2147483647 h 41"/>
              <a:gd name="T22" fmla="*/ 2147483647 w 39"/>
              <a:gd name="T23" fmla="*/ 2147483647 h 41"/>
              <a:gd name="T24" fmla="*/ 2147483647 w 39"/>
              <a:gd name="T25" fmla="*/ 2147483647 h 41"/>
              <a:gd name="T26" fmla="*/ 2147483647 w 39"/>
              <a:gd name="T27" fmla="*/ 2147483647 h 41"/>
              <a:gd name="T28" fmla="*/ 2147483647 w 39"/>
              <a:gd name="T29" fmla="*/ 2147483647 h 41"/>
              <a:gd name="T30" fmla="*/ 2147483647 w 39"/>
              <a:gd name="T31" fmla="*/ 2147483647 h 41"/>
              <a:gd name="T32" fmla="*/ 2147483647 w 39"/>
              <a:gd name="T33" fmla="*/ 2147483647 h 41"/>
              <a:gd name="T34" fmla="*/ 2147483647 w 39"/>
              <a:gd name="T35" fmla="*/ 2147483647 h 41"/>
              <a:gd name="T36" fmla="*/ 2147483647 w 39"/>
              <a:gd name="T37" fmla="*/ 2147483647 h 41"/>
              <a:gd name="T38" fmla="*/ 2147483647 w 39"/>
              <a:gd name="T39" fmla="*/ 0 h 41"/>
              <a:gd name="T40" fmla="*/ 2147483647 w 39"/>
              <a:gd name="T41" fmla="*/ 0 h 41"/>
              <a:gd name="T42" fmla="*/ 2147483647 w 39"/>
              <a:gd name="T43" fmla="*/ 0 h 41"/>
              <a:gd name="T44" fmla="*/ 2147483647 w 39"/>
              <a:gd name="T45" fmla="*/ 2147483647 h 41"/>
              <a:gd name="T46" fmla="*/ 2147483647 w 39"/>
              <a:gd name="T47" fmla="*/ 2147483647 h 41"/>
              <a:gd name="T48" fmla="*/ 2147483647 w 39"/>
              <a:gd name="T49" fmla="*/ 2147483647 h 41"/>
              <a:gd name="T50" fmla="*/ 2147483647 w 39"/>
              <a:gd name="T51" fmla="*/ 2147483647 h 41"/>
              <a:gd name="T52" fmla="*/ 2147483647 w 39"/>
              <a:gd name="T53" fmla="*/ 2147483647 h 41"/>
              <a:gd name="T54" fmla="*/ 2147483647 w 39"/>
              <a:gd name="T55" fmla="*/ 2147483647 h 41"/>
              <a:gd name="T56" fmla="*/ 0 w 39"/>
              <a:gd name="T57" fmla="*/ 2147483647 h 41"/>
              <a:gd name="T58" fmla="*/ 0 w 39"/>
              <a:gd name="T59" fmla="*/ 2147483647 h 41"/>
              <a:gd name="T60" fmla="*/ 0 w 39"/>
              <a:gd name="T61" fmla="*/ 2147483647 h 41"/>
              <a:gd name="T62" fmla="*/ 0 w 39"/>
              <a:gd name="T63" fmla="*/ 2147483647 h 41"/>
              <a:gd name="T64" fmla="*/ 0 w 39"/>
              <a:gd name="T65" fmla="*/ 2147483647 h 41"/>
              <a:gd name="T66" fmla="*/ 2147483647 w 39"/>
              <a:gd name="T67" fmla="*/ 2147483647 h 41"/>
              <a:gd name="T68" fmla="*/ 2147483647 w 39"/>
              <a:gd name="T69" fmla="*/ 2147483647 h 41"/>
              <a:gd name="T70" fmla="*/ 2147483647 w 39"/>
              <a:gd name="T71" fmla="*/ 2147483647 h 41"/>
              <a:gd name="T72" fmla="*/ 2147483647 w 39"/>
              <a:gd name="T73" fmla="*/ 2147483647 h 41"/>
              <a:gd name="T74" fmla="*/ 2147483647 w 39"/>
              <a:gd name="T75" fmla="*/ 2147483647 h 41"/>
              <a:gd name="T76" fmla="*/ 2147483647 w 39"/>
              <a:gd name="T77" fmla="*/ 2147483647 h 41"/>
              <a:gd name="T78" fmla="*/ 2147483647 w 39"/>
              <a:gd name="T79" fmla="*/ 2147483647 h 41"/>
              <a:gd name="T80" fmla="*/ 2147483647 w 39"/>
              <a:gd name="T81" fmla="*/ 2147483647 h 41"/>
              <a:gd name="T82" fmla="*/ 2147483647 w 39"/>
              <a:gd name="T83" fmla="*/ 2147483647 h 41"/>
              <a:gd name="T84" fmla="*/ 2147483647 w 39"/>
              <a:gd name="T85" fmla="*/ 2147483647 h 4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9"/>
              <a:gd name="T130" fmla="*/ 0 h 41"/>
              <a:gd name="T131" fmla="*/ 39 w 39"/>
              <a:gd name="T132" fmla="*/ 41 h 4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9" h="41">
                <a:moveTo>
                  <a:pt x="18" y="39"/>
                </a:moveTo>
                <a:lnTo>
                  <a:pt x="23" y="41"/>
                </a:lnTo>
                <a:lnTo>
                  <a:pt x="27" y="39"/>
                </a:lnTo>
                <a:lnTo>
                  <a:pt x="30" y="39"/>
                </a:lnTo>
                <a:lnTo>
                  <a:pt x="32" y="37"/>
                </a:lnTo>
                <a:lnTo>
                  <a:pt x="34" y="34"/>
                </a:lnTo>
                <a:lnTo>
                  <a:pt x="37" y="32"/>
                </a:lnTo>
                <a:lnTo>
                  <a:pt x="39" y="30"/>
                </a:lnTo>
                <a:lnTo>
                  <a:pt x="39" y="27"/>
                </a:lnTo>
                <a:lnTo>
                  <a:pt x="39" y="25"/>
                </a:lnTo>
                <a:lnTo>
                  <a:pt x="39" y="21"/>
                </a:lnTo>
                <a:lnTo>
                  <a:pt x="39" y="18"/>
                </a:lnTo>
                <a:lnTo>
                  <a:pt x="39" y="14"/>
                </a:lnTo>
                <a:lnTo>
                  <a:pt x="39" y="11"/>
                </a:lnTo>
                <a:lnTo>
                  <a:pt x="37" y="9"/>
                </a:lnTo>
                <a:lnTo>
                  <a:pt x="34" y="7"/>
                </a:lnTo>
                <a:lnTo>
                  <a:pt x="32" y="4"/>
                </a:lnTo>
                <a:lnTo>
                  <a:pt x="30" y="2"/>
                </a:lnTo>
                <a:lnTo>
                  <a:pt x="27" y="2"/>
                </a:lnTo>
                <a:lnTo>
                  <a:pt x="23" y="0"/>
                </a:lnTo>
                <a:lnTo>
                  <a:pt x="20" y="0"/>
                </a:lnTo>
                <a:lnTo>
                  <a:pt x="16" y="0"/>
                </a:lnTo>
                <a:lnTo>
                  <a:pt x="13" y="2"/>
                </a:lnTo>
                <a:lnTo>
                  <a:pt x="11" y="2"/>
                </a:lnTo>
                <a:lnTo>
                  <a:pt x="9" y="4"/>
                </a:lnTo>
                <a:lnTo>
                  <a:pt x="6" y="7"/>
                </a:lnTo>
                <a:lnTo>
                  <a:pt x="4" y="9"/>
                </a:lnTo>
                <a:lnTo>
                  <a:pt x="2" y="11"/>
                </a:lnTo>
                <a:lnTo>
                  <a:pt x="0" y="14"/>
                </a:lnTo>
                <a:lnTo>
                  <a:pt x="0" y="18"/>
                </a:lnTo>
                <a:lnTo>
                  <a:pt x="0" y="21"/>
                </a:lnTo>
                <a:lnTo>
                  <a:pt x="0" y="25"/>
                </a:lnTo>
                <a:lnTo>
                  <a:pt x="0" y="27"/>
                </a:lnTo>
                <a:lnTo>
                  <a:pt x="2" y="30"/>
                </a:lnTo>
                <a:lnTo>
                  <a:pt x="4" y="32"/>
                </a:lnTo>
                <a:lnTo>
                  <a:pt x="6" y="34"/>
                </a:lnTo>
                <a:lnTo>
                  <a:pt x="9" y="37"/>
                </a:lnTo>
                <a:lnTo>
                  <a:pt x="11" y="39"/>
                </a:lnTo>
                <a:lnTo>
                  <a:pt x="13" y="39"/>
                </a:lnTo>
                <a:lnTo>
                  <a:pt x="16" y="41"/>
                </a:lnTo>
                <a:lnTo>
                  <a:pt x="20" y="41"/>
                </a:lnTo>
                <a:lnTo>
                  <a:pt x="18" y="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4" name="Freeform 37"/>
          <p:cNvSpPr>
            <a:spLocks/>
          </p:cNvSpPr>
          <p:nvPr/>
        </p:nvSpPr>
        <p:spPr bwMode="auto">
          <a:xfrm>
            <a:off x="3440113" y="4791075"/>
            <a:ext cx="65087" cy="66675"/>
          </a:xfrm>
          <a:custGeom>
            <a:avLst/>
            <a:gdLst>
              <a:gd name="T0" fmla="*/ 2147483647 w 41"/>
              <a:gd name="T1" fmla="*/ 0 h 42"/>
              <a:gd name="T2" fmla="*/ 0 w 41"/>
              <a:gd name="T3" fmla="*/ 2147483647 h 42"/>
              <a:gd name="T4" fmla="*/ 2147483647 w 41"/>
              <a:gd name="T5" fmla="*/ 2147483647 h 42"/>
              <a:gd name="T6" fmla="*/ 2147483647 w 41"/>
              <a:gd name="T7" fmla="*/ 2147483647 h 42"/>
              <a:gd name="T8" fmla="*/ 2147483647 w 41"/>
              <a:gd name="T9" fmla="*/ 2147483647 h 42"/>
              <a:gd name="T10" fmla="*/ 2147483647 w 41"/>
              <a:gd name="T11" fmla="*/ 0 h 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"/>
              <a:gd name="T19" fmla="*/ 0 h 42"/>
              <a:gd name="T20" fmla="*/ 41 w 41"/>
              <a:gd name="T21" fmla="*/ 42 h 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" h="42">
                <a:moveTo>
                  <a:pt x="41" y="0"/>
                </a:moveTo>
                <a:lnTo>
                  <a:pt x="0" y="2"/>
                </a:lnTo>
                <a:lnTo>
                  <a:pt x="20" y="42"/>
                </a:lnTo>
                <a:lnTo>
                  <a:pt x="41" y="2"/>
                </a:lnTo>
                <a:lnTo>
                  <a:pt x="4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5" name="Line 38"/>
          <p:cNvSpPr>
            <a:spLocks noChangeShapeType="1"/>
          </p:cNvSpPr>
          <p:nvPr/>
        </p:nvSpPr>
        <p:spPr bwMode="auto">
          <a:xfrm>
            <a:off x="3471863" y="3608388"/>
            <a:ext cx="1587" cy="11969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6" name="Freeform 39"/>
          <p:cNvSpPr>
            <a:spLocks/>
          </p:cNvSpPr>
          <p:nvPr/>
        </p:nvSpPr>
        <p:spPr bwMode="auto">
          <a:xfrm>
            <a:off x="3443288" y="3575050"/>
            <a:ext cx="61912" cy="65088"/>
          </a:xfrm>
          <a:custGeom>
            <a:avLst/>
            <a:gdLst>
              <a:gd name="T0" fmla="*/ 2147483647 w 39"/>
              <a:gd name="T1" fmla="*/ 2147483647 h 41"/>
              <a:gd name="T2" fmla="*/ 2147483647 w 39"/>
              <a:gd name="T3" fmla="*/ 2147483647 h 41"/>
              <a:gd name="T4" fmla="*/ 2147483647 w 39"/>
              <a:gd name="T5" fmla="*/ 2147483647 h 41"/>
              <a:gd name="T6" fmla="*/ 2147483647 w 39"/>
              <a:gd name="T7" fmla="*/ 2147483647 h 41"/>
              <a:gd name="T8" fmla="*/ 2147483647 w 39"/>
              <a:gd name="T9" fmla="*/ 2147483647 h 41"/>
              <a:gd name="T10" fmla="*/ 2147483647 w 39"/>
              <a:gd name="T11" fmla="*/ 2147483647 h 41"/>
              <a:gd name="T12" fmla="*/ 2147483647 w 39"/>
              <a:gd name="T13" fmla="*/ 2147483647 h 41"/>
              <a:gd name="T14" fmla="*/ 2147483647 w 39"/>
              <a:gd name="T15" fmla="*/ 2147483647 h 41"/>
              <a:gd name="T16" fmla="*/ 2147483647 w 39"/>
              <a:gd name="T17" fmla="*/ 2147483647 h 41"/>
              <a:gd name="T18" fmla="*/ 2147483647 w 39"/>
              <a:gd name="T19" fmla="*/ 2147483647 h 41"/>
              <a:gd name="T20" fmla="*/ 2147483647 w 39"/>
              <a:gd name="T21" fmla="*/ 2147483647 h 41"/>
              <a:gd name="T22" fmla="*/ 2147483647 w 39"/>
              <a:gd name="T23" fmla="*/ 2147483647 h 41"/>
              <a:gd name="T24" fmla="*/ 2147483647 w 39"/>
              <a:gd name="T25" fmla="*/ 2147483647 h 41"/>
              <a:gd name="T26" fmla="*/ 2147483647 w 39"/>
              <a:gd name="T27" fmla="*/ 2147483647 h 41"/>
              <a:gd name="T28" fmla="*/ 2147483647 w 39"/>
              <a:gd name="T29" fmla="*/ 2147483647 h 41"/>
              <a:gd name="T30" fmla="*/ 2147483647 w 39"/>
              <a:gd name="T31" fmla="*/ 2147483647 h 41"/>
              <a:gd name="T32" fmla="*/ 2147483647 w 39"/>
              <a:gd name="T33" fmla="*/ 2147483647 h 41"/>
              <a:gd name="T34" fmla="*/ 2147483647 w 39"/>
              <a:gd name="T35" fmla="*/ 2147483647 h 41"/>
              <a:gd name="T36" fmla="*/ 2147483647 w 39"/>
              <a:gd name="T37" fmla="*/ 2147483647 h 41"/>
              <a:gd name="T38" fmla="*/ 2147483647 w 39"/>
              <a:gd name="T39" fmla="*/ 0 h 41"/>
              <a:gd name="T40" fmla="*/ 2147483647 w 39"/>
              <a:gd name="T41" fmla="*/ 0 h 41"/>
              <a:gd name="T42" fmla="*/ 2147483647 w 39"/>
              <a:gd name="T43" fmla="*/ 0 h 41"/>
              <a:gd name="T44" fmla="*/ 2147483647 w 39"/>
              <a:gd name="T45" fmla="*/ 2147483647 h 41"/>
              <a:gd name="T46" fmla="*/ 2147483647 w 39"/>
              <a:gd name="T47" fmla="*/ 2147483647 h 41"/>
              <a:gd name="T48" fmla="*/ 2147483647 w 39"/>
              <a:gd name="T49" fmla="*/ 2147483647 h 41"/>
              <a:gd name="T50" fmla="*/ 2147483647 w 39"/>
              <a:gd name="T51" fmla="*/ 2147483647 h 41"/>
              <a:gd name="T52" fmla="*/ 2147483647 w 39"/>
              <a:gd name="T53" fmla="*/ 2147483647 h 41"/>
              <a:gd name="T54" fmla="*/ 2147483647 w 39"/>
              <a:gd name="T55" fmla="*/ 2147483647 h 41"/>
              <a:gd name="T56" fmla="*/ 0 w 39"/>
              <a:gd name="T57" fmla="*/ 2147483647 h 41"/>
              <a:gd name="T58" fmla="*/ 0 w 39"/>
              <a:gd name="T59" fmla="*/ 2147483647 h 41"/>
              <a:gd name="T60" fmla="*/ 0 w 39"/>
              <a:gd name="T61" fmla="*/ 2147483647 h 41"/>
              <a:gd name="T62" fmla="*/ 0 w 39"/>
              <a:gd name="T63" fmla="*/ 2147483647 h 41"/>
              <a:gd name="T64" fmla="*/ 0 w 39"/>
              <a:gd name="T65" fmla="*/ 2147483647 h 41"/>
              <a:gd name="T66" fmla="*/ 2147483647 w 39"/>
              <a:gd name="T67" fmla="*/ 2147483647 h 41"/>
              <a:gd name="T68" fmla="*/ 2147483647 w 39"/>
              <a:gd name="T69" fmla="*/ 2147483647 h 41"/>
              <a:gd name="T70" fmla="*/ 2147483647 w 39"/>
              <a:gd name="T71" fmla="*/ 2147483647 h 41"/>
              <a:gd name="T72" fmla="*/ 2147483647 w 39"/>
              <a:gd name="T73" fmla="*/ 2147483647 h 41"/>
              <a:gd name="T74" fmla="*/ 2147483647 w 39"/>
              <a:gd name="T75" fmla="*/ 2147483647 h 41"/>
              <a:gd name="T76" fmla="*/ 2147483647 w 39"/>
              <a:gd name="T77" fmla="*/ 2147483647 h 41"/>
              <a:gd name="T78" fmla="*/ 2147483647 w 39"/>
              <a:gd name="T79" fmla="*/ 2147483647 h 41"/>
              <a:gd name="T80" fmla="*/ 2147483647 w 39"/>
              <a:gd name="T81" fmla="*/ 2147483647 h 41"/>
              <a:gd name="T82" fmla="*/ 2147483647 w 39"/>
              <a:gd name="T83" fmla="*/ 2147483647 h 41"/>
              <a:gd name="T84" fmla="*/ 2147483647 w 39"/>
              <a:gd name="T85" fmla="*/ 2147483647 h 4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9"/>
              <a:gd name="T130" fmla="*/ 0 h 41"/>
              <a:gd name="T131" fmla="*/ 39 w 39"/>
              <a:gd name="T132" fmla="*/ 41 h 4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9" h="41">
                <a:moveTo>
                  <a:pt x="18" y="39"/>
                </a:moveTo>
                <a:lnTo>
                  <a:pt x="23" y="41"/>
                </a:lnTo>
                <a:lnTo>
                  <a:pt x="25" y="39"/>
                </a:lnTo>
                <a:lnTo>
                  <a:pt x="28" y="39"/>
                </a:lnTo>
                <a:lnTo>
                  <a:pt x="32" y="37"/>
                </a:lnTo>
                <a:lnTo>
                  <a:pt x="34" y="34"/>
                </a:lnTo>
                <a:lnTo>
                  <a:pt x="37" y="32"/>
                </a:lnTo>
                <a:lnTo>
                  <a:pt x="37" y="30"/>
                </a:lnTo>
                <a:lnTo>
                  <a:pt x="39" y="27"/>
                </a:lnTo>
                <a:lnTo>
                  <a:pt x="39" y="25"/>
                </a:lnTo>
                <a:lnTo>
                  <a:pt x="39" y="21"/>
                </a:lnTo>
                <a:lnTo>
                  <a:pt x="39" y="18"/>
                </a:lnTo>
                <a:lnTo>
                  <a:pt x="39" y="14"/>
                </a:lnTo>
                <a:lnTo>
                  <a:pt x="37" y="11"/>
                </a:lnTo>
                <a:lnTo>
                  <a:pt x="37" y="9"/>
                </a:lnTo>
                <a:lnTo>
                  <a:pt x="34" y="7"/>
                </a:lnTo>
                <a:lnTo>
                  <a:pt x="32" y="4"/>
                </a:lnTo>
                <a:lnTo>
                  <a:pt x="28" y="2"/>
                </a:lnTo>
                <a:lnTo>
                  <a:pt x="25" y="2"/>
                </a:lnTo>
                <a:lnTo>
                  <a:pt x="23" y="0"/>
                </a:lnTo>
                <a:lnTo>
                  <a:pt x="18" y="0"/>
                </a:lnTo>
                <a:lnTo>
                  <a:pt x="16" y="0"/>
                </a:lnTo>
                <a:lnTo>
                  <a:pt x="14" y="2"/>
                </a:lnTo>
                <a:lnTo>
                  <a:pt x="9" y="2"/>
                </a:lnTo>
                <a:lnTo>
                  <a:pt x="7" y="4"/>
                </a:lnTo>
                <a:lnTo>
                  <a:pt x="4" y="7"/>
                </a:lnTo>
                <a:lnTo>
                  <a:pt x="2" y="9"/>
                </a:lnTo>
                <a:lnTo>
                  <a:pt x="2" y="11"/>
                </a:lnTo>
                <a:lnTo>
                  <a:pt x="0" y="14"/>
                </a:lnTo>
                <a:lnTo>
                  <a:pt x="0" y="18"/>
                </a:lnTo>
                <a:lnTo>
                  <a:pt x="0" y="21"/>
                </a:lnTo>
                <a:lnTo>
                  <a:pt x="0" y="25"/>
                </a:lnTo>
                <a:lnTo>
                  <a:pt x="0" y="27"/>
                </a:lnTo>
                <a:lnTo>
                  <a:pt x="2" y="30"/>
                </a:lnTo>
                <a:lnTo>
                  <a:pt x="2" y="32"/>
                </a:lnTo>
                <a:lnTo>
                  <a:pt x="4" y="34"/>
                </a:lnTo>
                <a:lnTo>
                  <a:pt x="7" y="37"/>
                </a:lnTo>
                <a:lnTo>
                  <a:pt x="9" y="39"/>
                </a:lnTo>
                <a:lnTo>
                  <a:pt x="14" y="39"/>
                </a:lnTo>
                <a:lnTo>
                  <a:pt x="16" y="41"/>
                </a:lnTo>
                <a:lnTo>
                  <a:pt x="18" y="41"/>
                </a:lnTo>
                <a:lnTo>
                  <a:pt x="18" y="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7" name="Rectangle 40"/>
          <p:cNvSpPr>
            <a:spLocks noChangeArrowheads="1"/>
          </p:cNvSpPr>
          <p:nvPr/>
        </p:nvSpPr>
        <p:spPr bwMode="auto">
          <a:xfrm>
            <a:off x="4070350" y="4903788"/>
            <a:ext cx="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b="1"/>
          </a:p>
        </p:txBody>
      </p:sp>
      <p:sp>
        <p:nvSpPr>
          <p:cNvPr id="27688" name="Freeform 41"/>
          <p:cNvSpPr>
            <a:spLocks/>
          </p:cNvSpPr>
          <p:nvPr/>
        </p:nvSpPr>
        <p:spPr bwMode="auto">
          <a:xfrm>
            <a:off x="2230438" y="1046163"/>
            <a:ext cx="5083175" cy="242887"/>
          </a:xfrm>
          <a:custGeom>
            <a:avLst/>
            <a:gdLst>
              <a:gd name="T0" fmla="*/ 2147483647 w 3202"/>
              <a:gd name="T1" fmla="*/ 2147483647 h 153"/>
              <a:gd name="T2" fmla="*/ 2147483647 w 3202"/>
              <a:gd name="T3" fmla="*/ 0 h 153"/>
              <a:gd name="T4" fmla="*/ 0 w 3202"/>
              <a:gd name="T5" fmla="*/ 0 h 153"/>
              <a:gd name="T6" fmla="*/ 0 w 3202"/>
              <a:gd name="T7" fmla="*/ 2147483647 h 153"/>
              <a:gd name="T8" fmla="*/ 2147483647 w 3202"/>
              <a:gd name="T9" fmla="*/ 2147483647 h 153"/>
              <a:gd name="T10" fmla="*/ 2147483647 w 3202"/>
              <a:gd name="T11" fmla="*/ 2147483647 h 1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2"/>
              <a:gd name="T19" fmla="*/ 0 h 153"/>
              <a:gd name="T20" fmla="*/ 3202 w 3202"/>
              <a:gd name="T21" fmla="*/ 153 h 1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2" h="153">
                <a:moveTo>
                  <a:pt x="3202" y="150"/>
                </a:moveTo>
                <a:lnTo>
                  <a:pt x="3202" y="0"/>
                </a:lnTo>
                <a:lnTo>
                  <a:pt x="0" y="0"/>
                </a:lnTo>
                <a:lnTo>
                  <a:pt x="0" y="153"/>
                </a:lnTo>
                <a:lnTo>
                  <a:pt x="3202" y="153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89" name="Freeform 42"/>
          <p:cNvSpPr>
            <a:spLocks/>
          </p:cNvSpPr>
          <p:nvPr/>
        </p:nvSpPr>
        <p:spPr bwMode="auto">
          <a:xfrm>
            <a:off x="3303588" y="2900934"/>
            <a:ext cx="61912" cy="66675"/>
          </a:xfrm>
          <a:custGeom>
            <a:avLst/>
            <a:gdLst>
              <a:gd name="T0" fmla="*/ 0 w 39"/>
              <a:gd name="T1" fmla="*/ 0 h 42"/>
              <a:gd name="T2" fmla="*/ 0 w 39"/>
              <a:gd name="T3" fmla="*/ 2147483647 h 42"/>
              <a:gd name="T4" fmla="*/ 2147483647 w 39"/>
              <a:gd name="T5" fmla="*/ 2147483647 h 42"/>
              <a:gd name="T6" fmla="*/ 0 w 39"/>
              <a:gd name="T7" fmla="*/ 0 h 42"/>
              <a:gd name="T8" fmla="*/ 0 w 39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9"/>
              <a:gd name="T16" fmla="*/ 0 h 42"/>
              <a:gd name="T17" fmla="*/ 39 w 39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9" h="42">
                <a:moveTo>
                  <a:pt x="0" y="0"/>
                </a:moveTo>
                <a:lnTo>
                  <a:pt x="0" y="42"/>
                </a:lnTo>
                <a:lnTo>
                  <a:pt x="39" y="2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90" name="Freeform 43"/>
          <p:cNvSpPr>
            <a:spLocks/>
          </p:cNvSpPr>
          <p:nvPr/>
        </p:nvSpPr>
        <p:spPr bwMode="auto">
          <a:xfrm>
            <a:off x="2384425" y="1295400"/>
            <a:ext cx="938213" cy="1638300"/>
          </a:xfrm>
          <a:custGeom>
            <a:avLst/>
            <a:gdLst>
              <a:gd name="T0" fmla="*/ 2147483647 w 591"/>
              <a:gd name="T1" fmla="*/ 2147483647 h 912"/>
              <a:gd name="T2" fmla="*/ 0 w 591"/>
              <a:gd name="T3" fmla="*/ 2147483647 h 912"/>
              <a:gd name="T4" fmla="*/ 0 w 591"/>
              <a:gd name="T5" fmla="*/ 0 h 912"/>
              <a:gd name="T6" fmla="*/ 0 60000 65536"/>
              <a:gd name="T7" fmla="*/ 0 60000 65536"/>
              <a:gd name="T8" fmla="*/ 0 60000 65536"/>
              <a:gd name="T9" fmla="*/ 0 w 591"/>
              <a:gd name="T10" fmla="*/ 0 h 912"/>
              <a:gd name="T11" fmla="*/ 591 w 591"/>
              <a:gd name="T12" fmla="*/ 912 h 9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1" h="912">
                <a:moveTo>
                  <a:pt x="591" y="910"/>
                </a:moveTo>
                <a:lnTo>
                  <a:pt x="0" y="912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91" name="Line 44"/>
          <p:cNvSpPr>
            <a:spLocks noChangeShapeType="1"/>
          </p:cNvSpPr>
          <p:nvPr/>
        </p:nvSpPr>
        <p:spPr bwMode="auto">
          <a:xfrm>
            <a:off x="4014788" y="2398713"/>
            <a:ext cx="168275" cy="9842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92" name="Rectangle 45"/>
          <p:cNvSpPr>
            <a:spLocks noChangeArrowheads="1"/>
          </p:cNvSpPr>
          <p:nvPr/>
        </p:nvSpPr>
        <p:spPr bwMode="auto">
          <a:xfrm>
            <a:off x="4160838" y="2303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693" name="Rectangle 46"/>
          <p:cNvSpPr>
            <a:spLocks noChangeArrowheads="1"/>
          </p:cNvSpPr>
          <p:nvPr/>
        </p:nvSpPr>
        <p:spPr bwMode="auto">
          <a:xfrm>
            <a:off x="4235450" y="2303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grpSp>
        <p:nvGrpSpPr>
          <p:cNvPr id="2" name="Group 1"/>
          <p:cNvGrpSpPr/>
          <p:nvPr/>
        </p:nvGrpSpPr>
        <p:grpSpPr>
          <a:xfrm>
            <a:off x="7061415" y="2303154"/>
            <a:ext cx="282575" cy="190500"/>
            <a:chOff x="536529" y="4063454"/>
            <a:chExt cx="282575" cy="190500"/>
          </a:xfrm>
        </p:grpSpPr>
        <p:sp>
          <p:nvSpPr>
            <p:cNvPr id="27694" name="Line 47"/>
            <p:cNvSpPr>
              <a:spLocks noChangeShapeType="1"/>
            </p:cNvSpPr>
            <p:nvPr/>
          </p:nvSpPr>
          <p:spPr bwMode="auto">
            <a:xfrm>
              <a:off x="536529" y="4155529"/>
              <a:ext cx="165100" cy="98425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695" name="Rectangle 48"/>
            <p:cNvSpPr>
              <a:spLocks noChangeArrowheads="1"/>
            </p:cNvSpPr>
            <p:nvPr/>
          </p:nvSpPr>
          <p:spPr bwMode="auto">
            <a:xfrm>
              <a:off x="682579" y="4063454"/>
              <a:ext cx="69850" cy="15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000" dirty="0">
                  <a:solidFill>
                    <a:srgbClr val="000000"/>
                  </a:solidFill>
                </a:rPr>
                <a:t>1</a:t>
              </a:r>
              <a:endParaRPr lang="en-US" altLang="en-US" b="1" dirty="0"/>
            </a:p>
          </p:txBody>
        </p:sp>
        <p:sp>
          <p:nvSpPr>
            <p:cNvPr id="27696" name="Rectangle 49"/>
            <p:cNvSpPr>
              <a:spLocks noChangeArrowheads="1"/>
            </p:cNvSpPr>
            <p:nvPr/>
          </p:nvSpPr>
          <p:spPr bwMode="auto">
            <a:xfrm>
              <a:off x="749254" y="4063454"/>
              <a:ext cx="69850" cy="153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000">
                  <a:solidFill>
                    <a:srgbClr val="000000"/>
                  </a:solidFill>
                </a:rPr>
                <a:t>2</a:t>
              </a:r>
              <a:endParaRPr lang="en-US" altLang="en-US" b="1"/>
            </a:p>
          </p:txBody>
        </p:sp>
      </p:grpSp>
      <p:sp>
        <p:nvSpPr>
          <p:cNvPr id="27697" name="Line 50"/>
          <p:cNvSpPr>
            <a:spLocks noChangeShapeType="1"/>
          </p:cNvSpPr>
          <p:nvPr/>
        </p:nvSpPr>
        <p:spPr bwMode="auto">
          <a:xfrm>
            <a:off x="4930775" y="4802188"/>
            <a:ext cx="165100" cy="9842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698" name="Rectangle 51"/>
          <p:cNvSpPr>
            <a:spLocks noChangeArrowheads="1"/>
          </p:cNvSpPr>
          <p:nvPr/>
        </p:nvSpPr>
        <p:spPr bwMode="auto">
          <a:xfrm>
            <a:off x="5078413" y="471011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699" name="Rectangle 52"/>
          <p:cNvSpPr>
            <a:spLocks noChangeArrowheads="1"/>
          </p:cNvSpPr>
          <p:nvPr/>
        </p:nvSpPr>
        <p:spPr bwMode="auto">
          <a:xfrm>
            <a:off x="5143500" y="471011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8</a:t>
            </a:r>
            <a:endParaRPr lang="en-US" altLang="en-US" b="1"/>
          </a:p>
        </p:txBody>
      </p:sp>
      <p:sp>
        <p:nvSpPr>
          <p:cNvPr id="27700" name="Rectangle 53"/>
          <p:cNvSpPr>
            <a:spLocks noChangeArrowheads="1"/>
          </p:cNvSpPr>
          <p:nvPr/>
        </p:nvSpPr>
        <p:spPr bwMode="auto">
          <a:xfrm>
            <a:off x="290830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3</a:t>
            </a:r>
            <a:endParaRPr lang="en-US" altLang="en-US" b="1"/>
          </a:p>
        </p:txBody>
      </p:sp>
      <p:sp>
        <p:nvSpPr>
          <p:cNvPr id="27701" name="Rectangle 54"/>
          <p:cNvSpPr>
            <a:spLocks noChangeArrowheads="1"/>
          </p:cNvSpPr>
          <p:nvPr/>
        </p:nvSpPr>
        <p:spPr bwMode="auto">
          <a:xfrm>
            <a:off x="297815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02" name="Rectangle 55"/>
          <p:cNvSpPr>
            <a:spLocks noChangeArrowheads="1"/>
          </p:cNvSpPr>
          <p:nvPr/>
        </p:nvSpPr>
        <p:spPr bwMode="auto">
          <a:xfrm>
            <a:off x="304323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03" name="Rectangle 56"/>
          <p:cNvSpPr>
            <a:spLocks noChangeArrowheads="1"/>
          </p:cNvSpPr>
          <p:nvPr/>
        </p:nvSpPr>
        <p:spPr bwMode="auto">
          <a:xfrm>
            <a:off x="307657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04" name="Rectangle 57"/>
          <p:cNvSpPr>
            <a:spLocks noChangeArrowheads="1"/>
          </p:cNvSpPr>
          <p:nvPr/>
        </p:nvSpPr>
        <p:spPr bwMode="auto">
          <a:xfrm>
            <a:off x="3113088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3</a:t>
            </a:r>
            <a:endParaRPr lang="en-US" altLang="en-US" b="1"/>
          </a:p>
        </p:txBody>
      </p:sp>
      <p:sp>
        <p:nvSpPr>
          <p:cNvPr id="27705" name="Rectangle 58"/>
          <p:cNvSpPr>
            <a:spLocks noChangeArrowheads="1"/>
          </p:cNvSpPr>
          <p:nvPr/>
        </p:nvSpPr>
        <p:spPr bwMode="auto">
          <a:xfrm>
            <a:off x="3179763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27706" name="Rectangle 59"/>
          <p:cNvSpPr>
            <a:spLocks noChangeArrowheads="1"/>
          </p:cNvSpPr>
          <p:nvPr/>
        </p:nvSpPr>
        <p:spPr bwMode="auto">
          <a:xfrm>
            <a:off x="324802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07" name="Rectangle 60"/>
          <p:cNvSpPr>
            <a:spLocks noChangeArrowheads="1"/>
          </p:cNvSpPr>
          <p:nvPr/>
        </p:nvSpPr>
        <p:spPr bwMode="auto">
          <a:xfrm>
            <a:off x="3281363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08" name="Rectangle 61"/>
          <p:cNvSpPr>
            <a:spLocks noChangeArrowheads="1"/>
          </p:cNvSpPr>
          <p:nvPr/>
        </p:nvSpPr>
        <p:spPr bwMode="auto">
          <a:xfrm>
            <a:off x="331470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09" name="Rectangle 62"/>
          <p:cNvSpPr>
            <a:spLocks noChangeArrowheads="1"/>
          </p:cNvSpPr>
          <p:nvPr/>
        </p:nvSpPr>
        <p:spPr bwMode="auto">
          <a:xfrm>
            <a:off x="338455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9</a:t>
            </a:r>
            <a:endParaRPr lang="en-US" altLang="en-US" b="1"/>
          </a:p>
        </p:txBody>
      </p:sp>
      <p:sp>
        <p:nvSpPr>
          <p:cNvPr id="27710" name="Rectangle 63"/>
          <p:cNvSpPr>
            <a:spLocks noChangeArrowheads="1"/>
          </p:cNvSpPr>
          <p:nvPr/>
        </p:nvSpPr>
        <p:spPr bwMode="auto">
          <a:xfrm>
            <a:off x="344963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11" name="Rectangle 64"/>
          <p:cNvSpPr>
            <a:spLocks noChangeArrowheads="1"/>
          </p:cNvSpPr>
          <p:nvPr/>
        </p:nvSpPr>
        <p:spPr bwMode="auto">
          <a:xfrm>
            <a:off x="348297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12" name="Rectangle 65"/>
          <p:cNvSpPr>
            <a:spLocks noChangeArrowheads="1"/>
          </p:cNvSpPr>
          <p:nvPr/>
        </p:nvSpPr>
        <p:spPr bwMode="auto">
          <a:xfrm>
            <a:off x="3519488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13" name="Rectangle 66"/>
          <p:cNvSpPr>
            <a:spLocks noChangeArrowheads="1"/>
          </p:cNvSpPr>
          <p:nvPr/>
        </p:nvSpPr>
        <p:spPr bwMode="auto">
          <a:xfrm>
            <a:off x="3586163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8</a:t>
            </a:r>
            <a:endParaRPr lang="en-US" altLang="en-US" b="1"/>
          </a:p>
        </p:txBody>
      </p:sp>
      <p:sp>
        <p:nvSpPr>
          <p:cNvPr id="27714" name="Rectangle 67"/>
          <p:cNvSpPr>
            <a:spLocks noChangeArrowheads="1"/>
          </p:cNvSpPr>
          <p:nvPr/>
        </p:nvSpPr>
        <p:spPr bwMode="auto">
          <a:xfrm>
            <a:off x="3656013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15" name="Rectangle 68"/>
          <p:cNvSpPr>
            <a:spLocks noChangeArrowheads="1"/>
          </p:cNvSpPr>
          <p:nvPr/>
        </p:nvSpPr>
        <p:spPr bwMode="auto">
          <a:xfrm>
            <a:off x="3689350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16" name="Rectangle 69"/>
          <p:cNvSpPr>
            <a:spLocks noChangeArrowheads="1"/>
          </p:cNvSpPr>
          <p:nvPr/>
        </p:nvSpPr>
        <p:spPr bwMode="auto">
          <a:xfrm>
            <a:off x="372110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17" name="Rectangle 70"/>
          <p:cNvSpPr>
            <a:spLocks noChangeArrowheads="1"/>
          </p:cNvSpPr>
          <p:nvPr/>
        </p:nvSpPr>
        <p:spPr bwMode="auto">
          <a:xfrm>
            <a:off x="379095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7</a:t>
            </a:r>
            <a:endParaRPr lang="en-US" altLang="en-US" b="1"/>
          </a:p>
        </p:txBody>
      </p:sp>
      <p:sp>
        <p:nvSpPr>
          <p:cNvPr id="27718" name="Rectangle 71"/>
          <p:cNvSpPr>
            <a:spLocks noChangeArrowheads="1"/>
          </p:cNvSpPr>
          <p:nvPr/>
        </p:nvSpPr>
        <p:spPr bwMode="auto">
          <a:xfrm>
            <a:off x="385762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19" name="Rectangle 72"/>
          <p:cNvSpPr>
            <a:spLocks noChangeArrowheads="1"/>
          </p:cNvSpPr>
          <p:nvPr/>
        </p:nvSpPr>
        <p:spPr bwMode="auto">
          <a:xfrm>
            <a:off x="5429250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20" name="Rectangle 73"/>
          <p:cNvSpPr>
            <a:spLocks noChangeArrowheads="1"/>
          </p:cNvSpPr>
          <p:nvPr/>
        </p:nvSpPr>
        <p:spPr bwMode="auto">
          <a:xfrm>
            <a:off x="5481638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21" name="Rectangle 74"/>
          <p:cNvSpPr>
            <a:spLocks noChangeArrowheads="1"/>
          </p:cNvSpPr>
          <p:nvPr/>
        </p:nvSpPr>
        <p:spPr bwMode="auto">
          <a:xfrm>
            <a:off x="554990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5</a:t>
            </a:r>
            <a:endParaRPr lang="en-US" altLang="en-US" b="1"/>
          </a:p>
        </p:txBody>
      </p:sp>
      <p:sp>
        <p:nvSpPr>
          <p:cNvPr id="27722" name="Rectangle 75"/>
          <p:cNvSpPr>
            <a:spLocks noChangeArrowheads="1"/>
          </p:cNvSpPr>
          <p:nvPr/>
        </p:nvSpPr>
        <p:spPr bwMode="auto">
          <a:xfrm>
            <a:off x="561657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23" name="Rectangle 76"/>
          <p:cNvSpPr>
            <a:spLocks noChangeArrowheads="1"/>
          </p:cNvSpPr>
          <p:nvPr/>
        </p:nvSpPr>
        <p:spPr bwMode="auto">
          <a:xfrm>
            <a:off x="565308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24" name="Rectangle 77"/>
          <p:cNvSpPr>
            <a:spLocks noChangeArrowheads="1"/>
          </p:cNvSpPr>
          <p:nvPr/>
        </p:nvSpPr>
        <p:spPr bwMode="auto">
          <a:xfrm>
            <a:off x="5686425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25" name="Rectangle 78"/>
          <p:cNvSpPr>
            <a:spLocks noChangeArrowheads="1"/>
          </p:cNvSpPr>
          <p:nvPr/>
        </p:nvSpPr>
        <p:spPr bwMode="auto">
          <a:xfrm>
            <a:off x="5756275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4</a:t>
            </a:r>
            <a:endParaRPr lang="en-US" altLang="en-US" b="1"/>
          </a:p>
        </p:txBody>
      </p:sp>
      <p:sp>
        <p:nvSpPr>
          <p:cNvPr id="27726" name="Rectangle 79"/>
          <p:cNvSpPr>
            <a:spLocks noChangeArrowheads="1"/>
          </p:cNvSpPr>
          <p:nvPr/>
        </p:nvSpPr>
        <p:spPr bwMode="auto">
          <a:xfrm>
            <a:off x="582612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27" name="Rectangle 80"/>
          <p:cNvSpPr>
            <a:spLocks noChangeArrowheads="1"/>
          </p:cNvSpPr>
          <p:nvPr/>
        </p:nvSpPr>
        <p:spPr bwMode="auto">
          <a:xfrm>
            <a:off x="585787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28" name="Rectangle 81"/>
          <p:cNvSpPr>
            <a:spLocks noChangeArrowheads="1"/>
          </p:cNvSpPr>
          <p:nvPr/>
        </p:nvSpPr>
        <p:spPr bwMode="auto">
          <a:xfrm>
            <a:off x="5891213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29" name="Rectangle 82"/>
          <p:cNvSpPr>
            <a:spLocks noChangeArrowheads="1"/>
          </p:cNvSpPr>
          <p:nvPr/>
        </p:nvSpPr>
        <p:spPr bwMode="auto">
          <a:xfrm>
            <a:off x="5961063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3</a:t>
            </a:r>
            <a:endParaRPr lang="en-US" altLang="en-US" b="1"/>
          </a:p>
        </p:txBody>
      </p:sp>
      <p:sp>
        <p:nvSpPr>
          <p:cNvPr id="27730" name="Rectangle 83"/>
          <p:cNvSpPr>
            <a:spLocks noChangeArrowheads="1"/>
          </p:cNvSpPr>
          <p:nvPr/>
        </p:nvSpPr>
        <p:spPr bwMode="auto">
          <a:xfrm>
            <a:off x="6030913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31" name="Rectangle 84"/>
          <p:cNvSpPr>
            <a:spLocks noChangeArrowheads="1"/>
          </p:cNvSpPr>
          <p:nvPr/>
        </p:nvSpPr>
        <p:spPr bwMode="auto">
          <a:xfrm>
            <a:off x="6064250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32" name="Rectangle 85"/>
          <p:cNvSpPr>
            <a:spLocks noChangeArrowheads="1"/>
          </p:cNvSpPr>
          <p:nvPr/>
        </p:nvSpPr>
        <p:spPr bwMode="auto">
          <a:xfrm>
            <a:off x="6100763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33" name="Rectangle 86"/>
          <p:cNvSpPr>
            <a:spLocks noChangeArrowheads="1"/>
          </p:cNvSpPr>
          <p:nvPr/>
        </p:nvSpPr>
        <p:spPr bwMode="auto">
          <a:xfrm>
            <a:off x="616585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34" name="Rectangle 87"/>
          <p:cNvSpPr>
            <a:spLocks noChangeArrowheads="1"/>
          </p:cNvSpPr>
          <p:nvPr/>
        </p:nvSpPr>
        <p:spPr bwMode="auto">
          <a:xfrm>
            <a:off x="6235700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35" name="Rectangle 88"/>
          <p:cNvSpPr>
            <a:spLocks noChangeArrowheads="1"/>
          </p:cNvSpPr>
          <p:nvPr/>
        </p:nvSpPr>
        <p:spPr bwMode="auto">
          <a:xfrm>
            <a:off x="626903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36" name="Rectangle 89"/>
          <p:cNvSpPr>
            <a:spLocks noChangeArrowheads="1"/>
          </p:cNvSpPr>
          <p:nvPr/>
        </p:nvSpPr>
        <p:spPr bwMode="auto">
          <a:xfrm>
            <a:off x="630555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37" name="Rectangle 90"/>
          <p:cNvSpPr>
            <a:spLocks noChangeArrowheads="1"/>
          </p:cNvSpPr>
          <p:nvPr/>
        </p:nvSpPr>
        <p:spPr bwMode="auto">
          <a:xfrm>
            <a:off x="637540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38" name="Rectangle 91"/>
          <p:cNvSpPr>
            <a:spLocks noChangeArrowheads="1"/>
          </p:cNvSpPr>
          <p:nvPr/>
        </p:nvSpPr>
        <p:spPr bwMode="auto">
          <a:xfrm>
            <a:off x="644048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39" name="Rectangle 92"/>
          <p:cNvSpPr>
            <a:spLocks noChangeArrowheads="1"/>
          </p:cNvSpPr>
          <p:nvPr/>
        </p:nvSpPr>
        <p:spPr bwMode="auto">
          <a:xfrm>
            <a:off x="647858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40" name="Rectangle 93"/>
          <p:cNvSpPr>
            <a:spLocks noChangeArrowheads="1"/>
          </p:cNvSpPr>
          <p:nvPr/>
        </p:nvSpPr>
        <p:spPr bwMode="auto">
          <a:xfrm>
            <a:off x="6510338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41" name="Rectangle 94"/>
          <p:cNvSpPr>
            <a:spLocks noChangeArrowheads="1"/>
          </p:cNvSpPr>
          <p:nvPr/>
        </p:nvSpPr>
        <p:spPr bwMode="auto">
          <a:xfrm>
            <a:off x="6580188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27742" name="Rectangle 95"/>
          <p:cNvSpPr>
            <a:spLocks noChangeArrowheads="1"/>
          </p:cNvSpPr>
          <p:nvPr/>
        </p:nvSpPr>
        <p:spPr bwMode="auto">
          <a:xfrm>
            <a:off x="6646863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43" name="Rectangle 96"/>
          <p:cNvSpPr>
            <a:spLocks noChangeArrowheads="1"/>
          </p:cNvSpPr>
          <p:nvPr/>
        </p:nvSpPr>
        <p:spPr bwMode="auto">
          <a:xfrm>
            <a:off x="668337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44" name="Rectangle 97"/>
          <p:cNvSpPr>
            <a:spLocks noChangeArrowheads="1"/>
          </p:cNvSpPr>
          <p:nvPr/>
        </p:nvSpPr>
        <p:spPr bwMode="auto">
          <a:xfrm>
            <a:off x="6716713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9</a:t>
            </a:r>
            <a:endParaRPr lang="en-US" altLang="en-US" b="1"/>
          </a:p>
        </p:txBody>
      </p:sp>
      <p:sp>
        <p:nvSpPr>
          <p:cNvPr id="27745" name="Rectangle 98"/>
          <p:cNvSpPr>
            <a:spLocks noChangeArrowheads="1"/>
          </p:cNvSpPr>
          <p:nvPr/>
        </p:nvSpPr>
        <p:spPr bwMode="auto">
          <a:xfrm>
            <a:off x="6786563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46" name="Rectangle 99"/>
          <p:cNvSpPr>
            <a:spLocks noChangeArrowheads="1"/>
          </p:cNvSpPr>
          <p:nvPr/>
        </p:nvSpPr>
        <p:spPr bwMode="auto">
          <a:xfrm>
            <a:off x="6818313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47" name="Rectangle 100"/>
          <p:cNvSpPr>
            <a:spLocks noChangeArrowheads="1"/>
          </p:cNvSpPr>
          <p:nvPr/>
        </p:nvSpPr>
        <p:spPr bwMode="auto">
          <a:xfrm>
            <a:off x="6854825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8</a:t>
            </a:r>
            <a:endParaRPr lang="en-US" altLang="en-US" b="1"/>
          </a:p>
        </p:txBody>
      </p:sp>
      <p:sp>
        <p:nvSpPr>
          <p:cNvPr id="27748" name="Rectangle 101"/>
          <p:cNvSpPr>
            <a:spLocks noChangeArrowheads="1"/>
          </p:cNvSpPr>
          <p:nvPr/>
        </p:nvSpPr>
        <p:spPr bwMode="auto">
          <a:xfrm>
            <a:off x="6921500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49" name="Rectangle 102"/>
          <p:cNvSpPr>
            <a:spLocks noChangeArrowheads="1"/>
          </p:cNvSpPr>
          <p:nvPr/>
        </p:nvSpPr>
        <p:spPr bwMode="auto">
          <a:xfrm>
            <a:off x="749300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3</a:t>
            </a:r>
            <a:endParaRPr lang="en-US" altLang="en-US" b="1"/>
          </a:p>
        </p:txBody>
      </p:sp>
      <p:sp>
        <p:nvSpPr>
          <p:cNvPr id="27750" name="Rectangle 103"/>
          <p:cNvSpPr>
            <a:spLocks noChangeArrowheads="1"/>
          </p:cNvSpPr>
          <p:nvPr/>
        </p:nvSpPr>
        <p:spPr bwMode="auto">
          <a:xfrm>
            <a:off x="755967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51" name="Rectangle 104"/>
          <p:cNvSpPr>
            <a:spLocks noChangeArrowheads="1"/>
          </p:cNvSpPr>
          <p:nvPr/>
        </p:nvSpPr>
        <p:spPr bwMode="auto">
          <a:xfrm>
            <a:off x="759618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52" name="Rectangle 105"/>
          <p:cNvSpPr>
            <a:spLocks noChangeArrowheads="1"/>
          </p:cNvSpPr>
          <p:nvPr/>
        </p:nvSpPr>
        <p:spPr bwMode="auto">
          <a:xfrm>
            <a:off x="7629525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53" name="Rectangle 106"/>
          <p:cNvSpPr>
            <a:spLocks noChangeArrowheads="1"/>
          </p:cNvSpPr>
          <p:nvPr/>
        </p:nvSpPr>
        <p:spPr bwMode="auto">
          <a:xfrm>
            <a:off x="7694613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54" name="Rectangle 107"/>
          <p:cNvSpPr>
            <a:spLocks noChangeArrowheads="1"/>
          </p:cNvSpPr>
          <p:nvPr/>
        </p:nvSpPr>
        <p:spPr bwMode="auto">
          <a:xfrm>
            <a:off x="7731125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55" name="Rectangle 108"/>
          <p:cNvSpPr>
            <a:spLocks noChangeArrowheads="1"/>
          </p:cNvSpPr>
          <p:nvPr/>
        </p:nvSpPr>
        <p:spPr bwMode="auto">
          <a:xfrm>
            <a:off x="7764463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56" name="Rectangle 109"/>
          <p:cNvSpPr>
            <a:spLocks noChangeArrowheads="1"/>
          </p:cNvSpPr>
          <p:nvPr/>
        </p:nvSpPr>
        <p:spPr bwMode="auto">
          <a:xfrm>
            <a:off x="7831138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57" name="Rectangle 110"/>
          <p:cNvSpPr>
            <a:spLocks noChangeArrowheads="1"/>
          </p:cNvSpPr>
          <p:nvPr/>
        </p:nvSpPr>
        <p:spPr bwMode="auto">
          <a:xfrm>
            <a:off x="7867650" y="1676400"/>
            <a:ext cx="349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58" name="Rectangle 111"/>
          <p:cNvSpPr>
            <a:spLocks noChangeArrowheads="1"/>
          </p:cNvSpPr>
          <p:nvPr/>
        </p:nvSpPr>
        <p:spPr bwMode="auto">
          <a:xfrm>
            <a:off x="7899400" y="1676400"/>
            <a:ext cx="698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27759" name="Rectangle 112"/>
          <p:cNvSpPr>
            <a:spLocks noChangeArrowheads="1"/>
          </p:cNvSpPr>
          <p:nvPr/>
        </p:nvSpPr>
        <p:spPr bwMode="auto">
          <a:xfrm>
            <a:off x="3054350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60" name="Rectangle 113"/>
          <p:cNvSpPr>
            <a:spLocks noChangeArrowheads="1"/>
          </p:cNvSpPr>
          <p:nvPr/>
        </p:nvSpPr>
        <p:spPr bwMode="auto">
          <a:xfrm>
            <a:off x="3124200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9</a:t>
            </a:r>
            <a:endParaRPr lang="en-US" altLang="en-US" b="1"/>
          </a:p>
        </p:txBody>
      </p:sp>
      <p:sp>
        <p:nvSpPr>
          <p:cNvPr id="27761" name="Rectangle 114"/>
          <p:cNvSpPr>
            <a:spLocks noChangeArrowheads="1"/>
          </p:cNvSpPr>
          <p:nvPr/>
        </p:nvSpPr>
        <p:spPr bwMode="auto">
          <a:xfrm>
            <a:off x="3197225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62" name="Rectangle 115"/>
          <p:cNvSpPr>
            <a:spLocks noChangeArrowheads="1"/>
          </p:cNvSpPr>
          <p:nvPr/>
        </p:nvSpPr>
        <p:spPr bwMode="auto">
          <a:xfrm>
            <a:off x="323373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63" name="Rectangle 116"/>
          <p:cNvSpPr>
            <a:spLocks noChangeArrowheads="1"/>
          </p:cNvSpPr>
          <p:nvPr/>
        </p:nvSpPr>
        <p:spPr bwMode="auto">
          <a:xfrm>
            <a:off x="3270250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64" name="Rectangle 117"/>
          <p:cNvSpPr>
            <a:spLocks noChangeArrowheads="1"/>
          </p:cNvSpPr>
          <p:nvPr/>
        </p:nvSpPr>
        <p:spPr bwMode="auto">
          <a:xfrm>
            <a:off x="334486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8</a:t>
            </a:r>
            <a:endParaRPr lang="en-US" altLang="en-US" b="1"/>
          </a:p>
        </p:txBody>
      </p:sp>
      <p:sp>
        <p:nvSpPr>
          <p:cNvPr id="27765" name="Rectangle 118"/>
          <p:cNvSpPr>
            <a:spLocks noChangeArrowheads="1"/>
          </p:cNvSpPr>
          <p:nvPr/>
        </p:nvSpPr>
        <p:spPr bwMode="auto">
          <a:xfrm>
            <a:off x="3413125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66" name="Rectangle 119"/>
          <p:cNvSpPr>
            <a:spLocks noChangeArrowheads="1"/>
          </p:cNvSpPr>
          <p:nvPr/>
        </p:nvSpPr>
        <p:spPr bwMode="auto">
          <a:xfrm>
            <a:off x="344963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67" name="Rectangle 120"/>
          <p:cNvSpPr>
            <a:spLocks noChangeArrowheads="1"/>
          </p:cNvSpPr>
          <p:nvPr/>
        </p:nvSpPr>
        <p:spPr bwMode="auto">
          <a:xfrm>
            <a:off x="349091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68" name="Rectangle 121"/>
          <p:cNvSpPr>
            <a:spLocks noChangeArrowheads="1"/>
          </p:cNvSpPr>
          <p:nvPr/>
        </p:nvSpPr>
        <p:spPr bwMode="auto">
          <a:xfrm>
            <a:off x="356076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7</a:t>
            </a:r>
            <a:endParaRPr lang="en-US" altLang="en-US" b="1"/>
          </a:p>
        </p:txBody>
      </p:sp>
      <p:sp>
        <p:nvSpPr>
          <p:cNvPr id="27769" name="Rectangle 122"/>
          <p:cNvSpPr>
            <a:spLocks noChangeArrowheads="1"/>
          </p:cNvSpPr>
          <p:nvPr/>
        </p:nvSpPr>
        <p:spPr bwMode="auto">
          <a:xfrm>
            <a:off x="5470525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70" name="Rectangle 123"/>
          <p:cNvSpPr>
            <a:spLocks noChangeArrowheads="1"/>
          </p:cNvSpPr>
          <p:nvPr/>
        </p:nvSpPr>
        <p:spPr bwMode="auto">
          <a:xfrm>
            <a:off x="5540375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5</a:t>
            </a:r>
            <a:endParaRPr lang="en-US" altLang="en-US" b="1"/>
          </a:p>
        </p:txBody>
      </p:sp>
      <p:sp>
        <p:nvSpPr>
          <p:cNvPr id="27771" name="Rectangle 124"/>
          <p:cNvSpPr>
            <a:spLocks noChangeArrowheads="1"/>
          </p:cNvSpPr>
          <p:nvPr/>
        </p:nvSpPr>
        <p:spPr bwMode="auto">
          <a:xfrm>
            <a:off x="5613400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72" name="Rectangle 125"/>
          <p:cNvSpPr>
            <a:spLocks noChangeArrowheads="1"/>
          </p:cNvSpPr>
          <p:nvPr/>
        </p:nvSpPr>
        <p:spPr bwMode="auto">
          <a:xfrm>
            <a:off x="5649913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73" name="Rectangle 126"/>
          <p:cNvSpPr>
            <a:spLocks noChangeArrowheads="1"/>
          </p:cNvSpPr>
          <p:nvPr/>
        </p:nvSpPr>
        <p:spPr bwMode="auto">
          <a:xfrm>
            <a:off x="5686425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74" name="Rectangle 127"/>
          <p:cNvSpPr>
            <a:spLocks noChangeArrowheads="1"/>
          </p:cNvSpPr>
          <p:nvPr/>
        </p:nvSpPr>
        <p:spPr bwMode="auto">
          <a:xfrm>
            <a:off x="5759450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4</a:t>
            </a:r>
            <a:endParaRPr lang="en-US" altLang="en-US" b="1"/>
          </a:p>
        </p:txBody>
      </p:sp>
      <p:sp>
        <p:nvSpPr>
          <p:cNvPr id="27775" name="Rectangle 128"/>
          <p:cNvSpPr>
            <a:spLocks noChangeArrowheads="1"/>
          </p:cNvSpPr>
          <p:nvPr/>
        </p:nvSpPr>
        <p:spPr bwMode="auto">
          <a:xfrm>
            <a:off x="5829300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76" name="Rectangle 129"/>
          <p:cNvSpPr>
            <a:spLocks noChangeArrowheads="1"/>
          </p:cNvSpPr>
          <p:nvPr/>
        </p:nvSpPr>
        <p:spPr bwMode="auto">
          <a:xfrm>
            <a:off x="586898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77" name="Rectangle 130"/>
          <p:cNvSpPr>
            <a:spLocks noChangeArrowheads="1"/>
          </p:cNvSpPr>
          <p:nvPr/>
        </p:nvSpPr>
        <p:spPr bwMode="auto">
          <a:xfrm>
            <a:off x="5905500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78" name="Rectangle 131"/>
          <p:cNvSpPr>
            <a:spLocks noChangeArrowheads="1"/>
          </p:cNvSpPr>
          <p:nvPr/>
        </p:nvSpPr>
        <p:spPr bwMode="auto">
          <a:xfrm>
            <a:off x="5975350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3</a:t>
            </a:r>
            <a:endParaRPr lang="en-US" altLang="en-US" b="1"/>
          </a:p>
        </p:txBody>
      </p:sp>
      <p:sp>
        <p:nvSpPr>
          <p:cNvPr id="27779" name="Rectangle 132"/>
          <p:cNvSpPr>
            <a:spLocks noChangeArrowheads="1"/>
          </p:cNvSpPr>
          <p:nvPr/>
        </p:nvSpPr>
        <p:spPr bwMode="auto">
          <a:xfrm>
            <a:off x="6048375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80" name="Rectangle 133"/>
          <p:cNvSpPr>
            <a:spLocks noChangeArrowheads="1"/>
          </p:cNvSpPr>
          <p:nvPr/>
        </p:nvSpPr>
        <p:spPr bwMode="auto">
          <a:xfrm>
            <a:off x="6086475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81" name="Rectangle 134"/>
          <p:cNvSpPr>
            <a:spLocks noChangeArrowheads="1"/>
          </p:cNvSpPr>
          <p:nvPr/>
        </p:nvSpPr>
        <p:spPr bwMode="auto">
          <a:xfrm>
            <a:off x="6122988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82" name="Rectangle 135"/>
          <p:cNvSpPr>
            <a:spLocks noChangeArrowheads="1"/>
          </p:cNvSpPr>
          <p:nvPr/>
        </p:nvSpPr>
        <p:spPr bwMode="auto">
          <a:xfrm>
            <a:off x="619601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783" name="Rectangle 136"/>
          <p:cNvSpPr>
            <a:spLocks noChangeArrowheads="1"/>
          </p:cNvSpPr>
          <p:nvPr/>
        </p:nvSpPr>
        <p:spPr bwMode="auto">
          <a:xfrm>
            <a:off x="626903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84" name="Rectangle 137"/>
          <p:cNvSpPr>
            <a:spLocks noChangeArrowheads="1"/>
          </p:cNvSpPr>
          <p:nvPr/>
        </p:nvSpPr>
        <p:spPr bwMode="auto">
          <a:xfrm>
            <a:off x="6305550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85" name="Rectangle 138"/>
          <p:cNvSpPr>
            <a:spLocks noChangeArrowheads="1"/>
          </p:cNvSpPr>
          <p:nvPr/>
        </p:nvSpPr>
        <p:spPr bwMode="auto">
          <a:xfrm>
            <a:off x="634206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86" name="Rectangle 139"/>
          <p:cNvSpPr>
            <a:spLocks noChangeArrowheads="1"/>
          </p:cNvSpPr>
          <p:nvPr/>
        </p:nvSpPr>
        <p:spPr bwMode="auto">
          <a:xfrm>
            <a:off x="641191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87" name="Rectangle 140"/>
          <p:cNvSpPr>
            <a:spLocks noChangeArrowheads="1"/>
          </p:cNvSpPr>
          <p:nvPr/>
        </p:nvSpPr>
        <p:spPr bwMode="auto">
          <a:xfrm>
            <a:off x="647858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88" name="Rectangle 141"/>
          <p:cNvSpPr>
            <a:spLocks noChangeArrowheads="1"/>
          </p:cNvSpPr>
          <p:nvPr/>
        </p:nvSpPr>
        <p:spPr bwMode="auto">
          <a:xfrm>
            <a:off x="651033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89" name="Rectangle 142"/>
          <p:cNvSpPr>
            <a:spLocks noChangeArrowheads="1"/>
          </p:cNvSpPr>
          <p:nvPr/>
        </p:nvSpPr>
        <p:spPr bwMode="auto">
          <a:xfrm>
            <a:off x="6546850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790" name="Rectangle 143"/>
          <p:cNvSpPr>
            <a:spLocks noChangeArrowheads="1"/>
          </p:cNvSpPr>
          <p:nvPr/>
        </p:nvSpPr>
        <p:spPr bwMode="auto">
          <a:xfrm>
            <a:off x="6613525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27791" name="Rectangle 144"/>
          <p:cNvSpPr>
            <a:spLocks noChangeArrowheads="1"/>
          </p:cNvSpPr>
          <p:nvPr/>
        </p:nvSpPr>
        <p:spPr bwMode="auto">
          <a:xfrm>
            <a:off x="6683375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92" name="Rectangle 145"/>
          <p:cNvSpPr>
            <a:spLocks noChangeArrowheads="1"/>
          </p:cNvSpPr>
          <p:nvPr/>
        </p:nvSpPr>
        <p:spPr bwMode="auto">
          <a:xfrm>
            <a:off x="6716713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93" name="Rectangle 146"/>
          <p:cNvSpPr>
            <a:spLocks noChangeArrowheads="1"/>
          </p:cNvSpPr>
          <p:nvPr/>
        </p:nvSpPr>
        <p:spPr bwMode="auto">
          <a:xfrm>
            <a:off x="674846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9</a:t>
            </a:r>
            <a:endParaRPr lang="en-US" altLang="en-US" b="1"/>
          </a:p>
        </p:txBody>
      </p:sp>
      <p:sp>
        <p:nvSpPr>
          <p:cNvPr id="27794" name="Rectangle 147"/>
          <p:cNvSpPr>
            <a:spLocks noChangeArrowheads="1"/>
          </p:cNvSpPr>
          <p:nvPr/>
        </p:nvSpPr>
        <p:spPr bwMode="auto">
          <a:xfrm>
            <a:off x="6818313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95" name="Rectangle 148"/>
          <p:cNvSpPr>
            <a:spLocks noChangeArrowheads="1"/>
          </p:cNvSpPr>
          <p:nvPr/>
        </p:nvSpPr>
        <p:spPr bwMode="auto">
          <a:xfrm>
            <a:off x="6851650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96" name="Rectangle 149"/>
          <p:cNvSpPr>
            <a:spLocks noChangeArrowheads="1"/>
          </p:cNvSpPr>
          <p:nvPr/>
        </p:nvSpPr>
        <p:spPr bwMode="auto">
          <a:xfrm>
            <a:off x="6884988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8</a:t>
            </a:r>
            <a:endParaRPr lang="en-US" altLang="en-US" b="1"/>
          </a:p>
        </p:txBody>
      </p:sp>
      <p:sp>
        <p:nvSpPr>
          <p:cNvPr id="27797" name="Rectangle 150"/>
          <p:cNvSpPr>
            <a:spLocks noChangeArrowheads="1"/>
          </p:cNvSpPr>
          <p:nvPr/>
        </p:nvSpPr>
        <p:spPr bwMode="auto">
          <a:xfrm>
            <a:off x="695483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798" name="Rectangle 151"/>
          <p:cNvSpPr>
            <a:spLocks noChangeArrowheads="1"/>
          </p:cNvSpPr>
          <p:nvPr/>
        </p:nvSpPr>
        <p:spPr bwMode="auto">
          <a:xfrm>
            <a:off x="7489825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3</a:t>
            </a:r>
            <a:endParaRPr lang="en-US" altLang="en-US" b="1"/>
          </a:p>
        </p:txBody>
      </p:sp>
      <p:sp>
        <p:nvSpPr>
          <p:cNvPr id="27799" name="Rectangle 152"/>
          <p:cNvSpPr>
            <a:spLocks noChangeArrowheads="1"/>
          </p:cNvSpPr>
          <p:nvPr/>
        </p:nvSpPr>
        <p:spPr bwMode="auto">
          <a:xfrm>
            <a:off x="7554913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800" name="Rectangle 153"/>
          <p:cNvSpPr>
            <a:spLocks noChangeArrowheads="1"/>
          </p:cNvSpPr>
          <p:nvPr/>
        </p:nvSpPr>
        <p:spPr bwMode="auto">
          <a:xfrm>
            <a:off x="7591425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801" name="Rectangle 154"/>
          <p:cNvSpPr>
            <a:spLocks noChangeArrowheads="1"/>
          </p:cNvSpPr>
          <p:nvPr/>
        </p:nvSpPr>
        <p:spPr bwMode="auto">
          <a:xfrm>
            <a:off x="7624763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7802" name="Rectangle 155"/>
          <p:cNvSpPr>
            <a:spLocks noChangeArrowheads="1"/>
          </p:cNvSpPr>
          <p:nvPr/>
        </p:nvSpPr>
        <p:spPr bwMode="auto">
          <a:xfrm>
            <a:off x="769143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803" name="Rectangle 156"/>
          <p:cNvSpPr>
            <a:spLocks noChangeArrowheads="1"/>
          </p:cNvSpPr>
          <p:nvPr/>
        </p:nvSpPr>
        <p:spPr bwMode="auto">
          <a:xfrm>
            <a:off x="7727950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804" name="Rectangle 157"/>
          <p:cNvSpPr>
            <a:spLocks noChangeArrowheads="1"/>
          </p:cNvSpPr>
          <p:nvPr/>
        </p:nvSpPr>
        <p:spPr bwMode="auto">
          <a:xfrm>
            <a:off x="7761288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27805" name="Rectangle 158"/>
          <p:cNvSpPr>
            <a:spLocks noChangeArrowheads="1"/>
          </p:cNvSpPr>
          <p:nvPr/>
        </p:nvSpPr>
        <p:spPr bwMode="auto">
          <a:xfrm>
            <a:off x="7826375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806" name="Rectangle 159"/>
          <p:cNvSpPr>
            <a:spLocks noChangeArrowheads="1"/>
          </p:cNvSpPr>
          <p:nvPr/>
        </p:nvSpPr>
        <p:spPr bwMode="auto">
          <a:xfrm>
            <a:off x="7862888" y="5351463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7807" name="Rectangle 160"/>
          <p:cNvSpPr>
            <a:spLocks noChangeArrowheads="1"/>
          </p:cNvSpPr>
          <p:nvPr/>
        </p:nvSpPr>
        <p:spPr bwMode="auto">
          <a:xfrm>
            <a:off x="7896225" y="5351463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27808" name="Freeform 161"/>
          <p:cNvSpPr>
            <a:spLocks/>
          </p:cNvSpPr>
          <p:nvPr/>
        </p:nvSpPr>
        <p:spPr bwMode="auto">
          <a:xfrm>
            <a:off x="4087813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2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2" y="3"/>
                </a:lnTo>
                <a:lnTo>
                  <a:pt x="9" y="3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3" y="12"/>
                </a:lnTo>
                <a:lnTo>
                  <a:pt x="3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09" name="Freeform 162"/>
          <p:cNvSpPr>
            <a:spLocks/>
          </p:cNvSpPr>
          <p:nvPr/>
        </p:nvSpPr>
        <p:spPr bwMode="auto">
          <a:xfrm>
            <a:off x="4165600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0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0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4" y="14"/>
                </a:moveTo>
                <a:lnTo>
                  <a:pt x="7" y="17"/>
                </a:lnTo>
                <a:lnTo>
                  <a:pt x="9" y="14"/>
                </a:lnTo>
                <a:lnTo>
                  <a:pt x="11" y="14"/>
                </a:lnTo>
                <a:lnTo>
                  <a:pt x="11" y="12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1" y="5"/>
                </a:lnTo>
                <a:lnTo>
                  <a:pt x="11" y="3"/>
                </a:lnTo>
                <a:lnTo>
                  <a:pt x="9" y="3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3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4"/>
                </a:lnTo>
                <a:lnTo>
                  <a:pt x="4" y="14"/>
                </a:lnTo>
                <a:lnTo>
                  <a:pt x="4" y="17"/>
                </a:lnTo>
                <a:lnTo>
                  <a:pt x="7" y="17"/>
                </a:lnTo>
                <a:lnTo>
                  <a:pt x="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0" name="Freeform 163"/>
          <p:cNvSpPr>
            <a:spLocks/>
          </p:cNvSpPr>
          <p:nvPr/>
        </p:nvSpPr>
        <p:spPr bwMode="auto">
          <a:xfrm>
            <a:off x="4011613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1" y="3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1" name="Freeform 164"/>
          <p:cNvSpPr>
            <a:spLocks/>
          </p:cNvSpPr>
          <p:nvPr/>
        </p:nvSpPr>
        <p:spPr bwMode="auto">
          <a:xfrm>
            <a:off x="4311650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2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2" y="3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2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2" name="Freeform 165"/>
          <p:cNvSpPr>
            <a:spLocks/>
          </p:cNvSpPr>
          <p:nvPr/>
        </p:nvSpPr>
        <p:spPr bwMode="auto">
          <a:xfrm>
            <a:off x="4389438" y="1738313"/>
            <a:ext cx="20637" cy="26987"/>
          </a:xfrm>
          <a:custGeom>
            <a:avLst/>
            <a:gdLst>
              <a:gd name="T0" fmla="*/ 2147483647 w 13"/>
              <a:gd name="T1" fmla="*/ 2147483647 h 17"/>
              <a:gd name="T2" fmla="*/ 2147483647 w 13"/>
              <a:gd name="T3" fmla="*/ 2147483647 h 17"/>
              <a:gd name="T4" fmla="*/ 2147483647 w 13"/>
              <a:gd name="T5" fmla="*/ 2147483647 h 17"/>
              <a:gd name="T6" fmla="*/ 2147483647 w 13"/>
              <a:gd name="T7" fmla="*/ 2147483647 h 17"/>
              <a:gd name="T8" fmla="*/ 2147483647 w 13"/>
              <a:gd name="T9" fmla="*/ 2147483647 h 17"/>
              <a:gd name="T10" fmla="*/ 2147483647 w 13"/>
              <a:gd name="T11" fmla="*/ 2147483647 h 17"/>
              <a:gd name="T12" fmla="*/ 2147483647 w 13"/>
              <a:gd name="T13" fmla="*/ 2147483647 h 17"/>
              <a:gd name="T14" fmla="*/ 2147483647 w 13"/>
              <a:gd name="T15" fmla="*/ 2147483647 h 17"/>
              <a:gd name="T16" fmla="*/ 2147483647 w 13"/>
              <a:gd name="T17" fmla="*/ 2147483647 h 17"/>
              <a:gd name="T18" fmla="*/ 2147483647 w 13"/>
              <a:gd name="T19" fmla="*/ 2147483647 h 17"/>
              <a:gd name="T20" fmla="*/ 2147483647 w 13"/>
              <a:gd name="T21" fmla="*/ 2147483647 h 17"/>
              <a:gd name="T22" fmla="*/ 2147483647 w 13"/>
              <a:gd name="T23" fmla="*/ 2147483647 h 17"/>
              <a:gd name="T24" fmla="*/ 2147483647 w 13"/>
              <a:gd name="T25" fmla="*/ 2147483647 h 17"/>
              <a:gd name="T26" fmla="*/ 2147483647 w 13"/>
              <a:gd name="T27" fmla="*/ 2147483647 h 17"/>
              <a:gd name="T28" fmla="*/ 2147483647 w 13"/>
              <a:gd name="T29" fmla="*/ 2147483647 h 17"/>
              <a:gd name="T30" fmla="*/ 2147483647 w 13"/>
              <a:gd name="T31" fmla="*/ 2147483647 h 17"/>
              <a:gd name="T32" fmla="*/ 2147483647 w 13"/>
              <a:gd name="T33" fmla="*/ 2147483647 h 17"/>
              <a:gd name="T34" fmla="*/ 2147483647 w 13"/>
              <a:gd name="T35" fmla="*/ 2147483647 h 17"/>
              <a:gd name="T36" fmla="*/ 2147483647 w 13"/>
              <a:gd name="T37" fmla="*/ 0 h 17"/>
              <a:gd name="T38" fmla="*/ 2147483647 w 13"/>
              <a:gd name="T39" fmla="*/ 0 h 17"/>
              <a:gd name="T40" fmla="*/ 2147483647 w 13"/>
              <a:gd name="T41" fmla="*/ 0 h 17"/>
              <a:gd name="T42" fmla="*/ 2147483647 w 13"/>
              <a:gd name="T43" fmla="*/ 0 h 17"/>
              <a:gd name="T44" fmla="*/ 2147483647 w 13"/>
              <a:gd name="T45" fmla="*/ 0 h 17"/>
              <a:gd name="T46" fmla="*/ 2147483647 w 13"/>
              <a:gd name="T47" fmla="*/ 2147483647 h 17"/>
              <a:gd name="T48" fmla="*/ 2147483647 w 13"/>
              <a:gd name="T49" fmla="*/ 2147483647 h 17"/>
              <a:gd name="T50" fmla="*/ 2147483647 w 13"/>
              <a:gd name="T51" fmla="*/ 2147483647 h 17"/>
              <a:gd name="T52" fmla="*/ 0 w 13"/>
              <a:gd name="T53" fmla="*/ 2147483647 h 17"/>
              <a:gd name="T54" fmla="*/ 0 w 13"/>
              <a:gd name="T55" fmla="*/ 2147483647 h 17"/>
              <a:gd name="T56" fmla="*/ 0 w 13"/>
              <a:gd name="T57" fmla="*/ 2147483647 h 17"/>
              <a:gd name="T58" fmla="*/ 0 w 13"/>
              <a:gd name="T59" fmla="*/ 2147483647 h 17"/>
              <a:gd name="T60" fmla="*/ 0 w 13"/>
              <a:gd name="T61" fmla="*/ 2147483647 h 17"/>
              <a:gd name="T62" fmla="*/ 0 w 13"/>
              <a:gd name="T63" fmla="*/ 2147483647 h 17"/>
              <a:gd name="T64" fmla="*/ 0 w 13"/>
              <a:gd name="T65" fmla="*/ 2147483647 h 17"/>
              <a:gd name="T66" fmla="*/ 0 w 13"/>
              <a:gd name="T67" fmla="*/ 2147483647 h 17"/>
              <a:gd name="T68" fmla="*/ 0 w 13"/>
              <a:gd name="T69" fmla="*/ 2147483647 h 17"/>
              <a:gd name="T70" fmla="*/ 2147483647 w 13"/>
              <a:gd name="T71" fmla="*/ 2147483647 h 17"/>
              <a:gd name="T72" fmla="*/ 2147483647 w 13"/>
              <a:gd name="T73" fmla="*/ 2147483647 h 17"/>
              <a:gd name="T74" fmla="*/ 2147483647 w 13"/>
              <a:gd name="T75" fmla="*/ 2147483647 h 17"/>
              <a:gd name="T76" fmla="*/ 2147483647 w 13"/>
              <a:gd name="T77" fmla="*/ 2147483647 h 17"/>
              <a:gd name="T78" fmla="*/ 2147483647 w 13"/>
              <a:gd name="T79" fmla="*/ 2147483647 h 17"/>
              <a:gd name="T80" fmla="*/ 2147483647 w 13"/>
              <a:gd name="T81" fmla="*/ 2147483647 h 17"/>
              <a:gd name="T82" fmla="*/ 2147483647 w 13"/>
              <a:gd name="T83" fmla="*/ 2147483647 h 17"/>
              <a:gd name="T84" fmla="*/ 2147483647 w 13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3"/>
              <a:gd name="T130" fmla="*/ 0 h 17"/>
              <a:gd name="T131" fmla="*/ 13 w 13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3" h="17">
                <a:moveTo>
                  <a:pt x="6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3" y="12"/>
                </a:lnTo>
                <a:lnTo>
                  <a:pt x="13" y="10"/>
                </a:lnTo>
                <a:lnTo>
                  <a:pt x="13" y="7"/>
                </a:lnTo>
                <a:lnTo>
                  <a:pt x="13" y="5"/>
                </a:lnTo>
                <a:lnTo>
                  <a:pt x="11" y="3"/>
                </a:lnTo>
                <a:lnTo>
                  <a:pt x="9" y="3"/>
                </a:lnTo>
                <a:lnTo>
                  <a:pt x="9" y="0"/>
                </a:lnTo>
                <a:lnTo>
                  <a:pt x="6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4"/>
                </a:lnTo>
                <a:lnTo>
                  <a:pt x="4" y="14"/>
                </a:lnTo>
                <a:lnTo>
                  <a:pt x="4" y="17"/>
                </a:lnTo>
                <a:lnTo>
                  <a:pt x="6" y="17"/>
                </a:lnTo>
                <a:lnTo>
                  <a:pt x="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3" name="Freeform 166"/>
          <p:cNvSpPr>
            <a:spLocks/>
          </p:cNvSpPr>
          <p:nvPr/>
        </p:nvSpPr>
        <p:spPr bwMode="auto">
          <a:xfrm>
            <a:off x="4235450" y="1738313"/>
            <a:ext cx="20638" cy="26987"/>
          </a:xfrm>
          <a:custGeom>
            <a:avLst/>
            <a:gdLst>
              <a:gd name="T0" fmla="*/ 2147483647 w 13"/>
              <a:gd name="T1" fmla="*/ 2147483647 h 17"/>
              <a:gd name="T2" fmla="*/ 2147483647 w 13"/>
              <a:gd name="T3" fmla="*/ 2147483647 h 17"/>
              <a:gd name="T4" fmla="*/ 2147483647 w 13"/>
              <a:gd name="T5" fmla="*/ 2147483647 h 17"/>
              <a:gd name="T6" fmla="*/ 2147483647 w 13"/>
              <a:gd name="T7" fmla="*/ 2147483647 h 17"/>
              <a:gd name="T8" fmla="*/ 2147483647 w 13"/>
              <a:gd name="T9" fmla="*/ 2147483647 h 17"/>
              <a:gd name="T10" fmla="*/ 2147483647 w 13"/>
              <a:gd name="T11" fmla="*/ 2147483647 h 17"/>
              <a:gd name="T12" fmla="*/ 2147483647 w 13"/>
              <a:gd name="T13" fmla="*/ 2147483647 h 17"/>
              <a:gd name="T14" fmla="*/ 2147483647 w 13"/>
              <a:gd name="T15" fmla="*/ 2147483647 h 17"/>
              <a:gd name="T16" fmla="*/ 2147483647 w 13"/>
              <a:gd name="T17" fmla="*/ 2147483647 h 17"/>
              <a:gd name="T18" fmla="*/ 2147483647 w 13"/>
              <a:gd name="T19" fmla="*/ 2147483647 h 17"/>
              <a:gd name="T20" fmla="*/ 2147483647 w 13"/>
              <a:gd name="T21" fmla="*/ 2147483647 h 17"/>
              <a:gd name="T22" fmla="*/ 2147483647 w 13"/>
              <a:gd name="T23" fmla="*/ 2147483647 h 17"/>
              <a:gd name="T24" fmla="*/ 2147483647 w 13"/>
              <a:gd name="T25" fmla="*/ 2147483647 h 17"/>
              <a:gd name="T26" fmla="*/ 2147483647 w 13"/>
              <a:gd name="T27" fmla="*/ 2147483647 h 17"/>
              <a:gd name="T28" fmla="*/ 2147483647 w 13"/>
              <a:gd name="T29" fmla="*/ 2147483647 h 17"/>
              <a:gd name="T30" fmla="*/ 2147483647 w 13"/>
              <a:gd name="T31" fmla="*/ 2147483647 h 17"/>
              <a:gd name="T32" fmla="*/ 2147483647 w 13"/>
              <a:gd name="T33" fmla="*/ 2147483647 h 17"/>
              <a:gd name="T34" fmla="*/ 2147483647 w 13"/>
              <a:gd name="T35" fmla="*/ 2147483647 h 17"/>
              <a:gd name="T36" fmla="*/ 2147483647 w 13"/>
              <a:gd name="T37" fmla="*/ 0 h 17"/>
              <a:gd name="T38" fmla="*/ 2147483647 w 13"/>
              <a:gd name="T39" fmla="*/ 0 h 17"/>
              <a:gd name="T40" fmla="*/ 2147483647 w 13"/>
              <a:gd name="T41" fmla="*/ 0 h 17"/>
              <a:gd name="T42" fmla="*/ 2147483647 w 13"/>
              <a:gd name="T43" fmla="*/ 0 h 17"/>
              <a:gd name="T44" fmla="*/ 2147483647 w 13"/>
              <a:gd name="T45" fmla="*/ 0 h 17"/>
              <a:gd name="T46" fmla="*/ 2147483647 w 13"/>
              <a:gd name="T47" fmla="*/ 2147483647 h 17"/>
              <a:gd name="T48" fmla="*/ 2147483647 w 13"/>
              <a:gd name="T49" fmla="*/ 2147483647 h 17"/>
              <a:gd name="T50" fmla="*/ 2147483647 w 13"/>
              <a:gd name="T51" fmla="*/ 2147483647 h 17"/>
              <a:gd name="T52" fmla="*/ 2147483647 w 13"/>
              <a:gd name="T53" fmla="*/ 2147483647 h 17"/>
              <a:gd name="T54" fmla="*/ 2147483647 w 13"/>
              <a:gd name="T55" fmla="*/ 2147483647 h 17"/>
              <a:gd name="T56" fmla="*/ 0 w 13"/>
              <a:gd name="T57" fmla="*/ 2147483647 h 17"/>
              <a:gd name="T58" fmla="*/ 0 w 13"/>
              <a:gd name="T59" fmla="*/ 2147483647 h 17"/>
              <a:gd name="T60" fmla="*/ 0 w 13"/>
              <a:gd name="T61" fmla="*/ 2147483647 h 17"/>
              <a:gd name="T62" fmla="*/ 0 w 13"/>
              <a:gd name="T63" fmla="*/ 2147483647 h 17"/>
              <a:gd name="T64" fmla="*/ 0 w 13"/>
              <a:gd name="T65" fmla="*/ 2147483647 h 17"/>
              <a:gd name="T66" fmla="*/ 2147483647 w 13"/>
              <a:gd name="T67" fmla="*/ 2147483647 h 17"/>
              <a:gd name="T68" fmla="*/ 2147483647 w 13"/>
              <a:gd name="T69" fmla="*/ 2147483647 h 17"/>
              <a:gd name="T70" fmla="*/ 2147483647 w 13"/>
              <a:gd name="T71" fmla="*/ 2147483647 h 17"/>
              <a:gd name="T72" fmla="*/ 2147483647 w 13"/>
              <a:gd name="T73" fmla="*/ 2147483647 h 17"/>
              <a:gd name="T74" fmla="*/ 2147483647 w 13"/>
              <a:gd name="T75" fmla="*/ 2147483647 h 17"/>
              <a:gd name="T76" fmla="*/ 2147483647 w 13"/>
              <a:gd name="T77" fmla="*/ 2147483647 h 17"/>
              <a:gd name="T78" fmla="*/ 2147483647 w 13"/>
              <a:gd name="T79" fmla="*/ 2147483647 h 17"/>
              <a:gd name="T80" fmla="*/ 2147483647 w 13"/>
              <a:gd name="T81" fmla="*/ 2147483647 h 17"/>
              <a:gd name="T82" fmla="*/ 2147483647 w 13"/>
              <a:gd name="T83" fmla="*/ 2147483647 h 17"/>
              <a:gd name="T84" fmla="*/ 2147483647 w 13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3"/>
              <a:gd name="T130" fmla="*/ 0 h 17"/>
              <a:gd name="T131" fmla="*/ 13 w 13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3" h="17">
                <a:moveTo>
                  <a:pt x="6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3" y="14"/>
                </a:lnTo>
                <a:lnTo>
                  <a:pt x="13" y="12"/>
                </a:lnTo>
                <a:lnTo>
                  <a:pt x="13" y="10"/>
                </a:lnTo>
                <a:lnTo>
                  <a:pt x="13" y="7"/>
                </a:lnTo>
                <a:lnTo>
                  <a:pt x="13" y="5"/>
                </a:lnTo>
                <a:lnTo>
                  <a:pt x="13" y="3"/>
                </a:lnTo>
                <a:lnTo>
                  <a:pt x="11" y="3"/>
                </a:lnTo>
                <a:lnTo>
                  <a:pt x="9" y="0"/>
                </a:lnTo>
                <a:lnTo>
                  <a:pt x="6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6" y="17"/>
                </a:lnTo>
                <a:lnTo>
                  <a:pt x="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4" name="Freeform 167"/>
          <p:cNvSpPr>
            <a:spLocks/>
          </p:cNvSpPr>
          <p:nvPr/>
        </p:nvSpPr>
        <p:spPr bwMode="auto">
          <a:xfrm>
            <a:off x="4543425" y="1738313"/>
            <a:ext cx="20638" cy="26987"/>
          </a:xfrm>
          <a:custGeom>
            <a:avLst/>
            <a:gdLst>
              <a:gd name="T0" fmla="*/ 2147483647 w 13"/>
              <a:gd name="T1" fmla="*/ 2147483647 h 17"/>
              <a:gd name="T2" fmla="*/ 2147483647 w 13"/>
              <a:gd name="T3" fmla="*/ 2147483647 h 17"/>
              <a:gd name="T4" fmla="*/ 2147483647 w 13"/>
              <a:gd name="T5" fmla="*/ 2147483647 h 17"/>
              <a:gd name="T6" fmla="*/ 2147483647 w 13"/>
              <a:gd name="T7" fmla="*/ 2147483647 h 17"/>
              <a:gd name="T8" fmla="*/ 2147483647 w 13"/>
              <a:gd name="T9" fmla="*/ 2147483647 h 17"/>
              <a:gd name="T10" fmla="*/ 2147483647 w 13"/>
              <a:gd name="T11" fmla="*/ 2147483647 h 17"/>
              <a:gd name="T12" fmla="*/ 2147483647 w 13"/>
              <a:gd name="T13" fmla="*/ 2147483647 h 17"/>
              <a:gd name="T14" fmla="*/ 2147483647 w 13"/>
              <a:gd name="T15" fmla="*/ 2147483647 h 17"/>
              <a:gd name="T16" fmla="*/ 2147483647 w 13"/>
              <a:gd name="T17" fmla="*/ 2147483647 h 17"/>
              <a:gd name="T18" fmla="*/ 2147483647 w 13"/>
              <a:gd name="T19" fmla="*/ 2147483647 h 17"/>
              <a:gd name="T20" fmla="*/ 2147483647 w 13"/>
              <a:gd name="T21" fmla="*/ 2147483647 h 17"/>
              <a:gd name="T22" fmla="*/ 2147483647 w 13"/>
              <a:gd name="T23" fmla="*/ 2147483647 h 17"/>
              <a:gd name="T24" fmla="*/ 2147483647 w 13"/>
              <a:gd name="T25" fmla="*/ 2147483647 h 17"/>
              <a:gd name="T26" fmla="*/ 2147483647 w 13"/>
              <a:gd name="T27" fmla="*/ 2147483647 h 17"/>
              <a:gd name="T28" fmla="*/ 2147483647 w 13"/>
              <a:gd name="T29" fmla="*/ 2147483647 h 17"/>
              <a:gd name="T30" fmla="*/ 2147483647 w 13"/>
              <a:gd name="T31" fmla="*/ 2147483647 h 17"/>
              <a:gd name="T32" fmla="*/ 2147483647 w 13"/>
              <a:gd name="T33" fmla="*/ 2147483647 h 17"/>
              <a:gd name="T34" fmla="*/ 2147483647 w 13"/>
              <a:gd name="T35" fmla="*/ 2147483647 h 17"/>
              <a:gd name="T36" fmla="*/ 2147483647 w 13"/>
              <a:gd name="T37" fmla="*/ 0 h 17"/>
              <a:gd name="T38" fmla="*/ 2147483647 w 13"/>
              <a:gd name="T39" fmla="*/ 0 h 17"/>
              <a:gd name="T40" fmla="*/ 2147483647 w 13"/>
              <a:gd name="T41" fmla="*/ 0 h 17"/>
              <a:gd name="T42" fmla="*/ 2147483647 w 13"/>
              <a:gd name="T43" fmla="*/ 0 h 17"/>
              <a:gd name="T44" fmla="*/ 2147483647 w 13"/>
              <a:gd name="T45" fmla="*/ 0 h 17"/>
              <a:gd name="T46" fmla="*/ 2147483647 w 13"/>
              <a:gd name="T47" fmla="*/ 2147483647 h 17"/>
              <a:gd name="T48" fmla="*/ 2147483647 w 13"/>
              <a:gd name="T49" fmla="*/ 2147483647 h 17"/>
              <a:gd name="T50" fmla="*/ 0 w 13"/>
              <a:gd name="T51" fmla="*/ 2147483647 h 17"/>
              <a:gd name="T52" fmla="*/ 0 w 13"/>
              <a:gd name="T53" fmla="*/ 2147483647 h 17"/>
              <a:gd name="T54" fmla="*/ 0 w 13"/>
              <a:gd name="T55" fmla="*/ 2147483647 h 17"/>
              <a:gd name="T56" fmla="*/ 0 w 13"/>
              <a:gd name="T57" fmla="*/ 2147483647 h 17"/>
              <a:gd name="T58" fmla="*/ 0 w 13"/>
              <a:gd name="T59" fmla="*/ 2147483647 h 17"/>
              <a:gd name="T60" fmla="*/ 0 w 13"/>
              <a:gd name="T61" fmla="*/ 2147483647 h 17"/>
              <a:gd name="T62" fmla="*/ 0 w 13"/>
              <a:gd name="T63" fmla="*/ 2147483647 h 17"/>
              <a:gd name="T64" fmla="*/ 0 w 13"/>
              <a:gd name="T65" fmla="*/ 2147483647 h 17"/>
              <a:gd name="T66" fmla="*/ 0 w 13"/>
              <a:gd name="T67" fmla="*/ 2147483647 h 17"/>
              <a:gd name="T68" fmla="*/ 0 w 13"/>
              <a:gd name="T69" fmla="*/ 2147483647 h 17"/>
              <a:gd name="T70" fmla="*/ 0 w 13"/>
              <a:gd name="T71" fmla="*/ 2147483647 h 17"/>
              <a:gd name="T72" fmla="*/ 2147483647 w 13"/>
              <a:gd name="T73" fmla="*/ 2147483647 h 17"/>
              <a:gd name="T74" fmla="*/ 2147483647 w 13"/>
              <a:gd name="T75" fmla="*/ 2147483647 h 17"/>
              <a:gd name="T76" fmla="*/ 2147483647 w 13"/>
              <a:gd name="T77" fmla="*/ 2147483647 h 17"/>
              <a:gd name="T78" fmla="*/ 2147483647 w 13"/>
              <a:gd name="T79" fmla="*/ 2147483647 h 17"/>
              <a:gd name="T80" fmla="*/ 2147483647 w 13"/>
              <a:gd name="T81" fmla="*/ 2147483647 h 17"/>
              <a:gd name="T82" fmla="*/ 2147483647 w 13"/>
              <a:gd name="T83" fmla="*/ 2147483647 h 17"/>
              <a:gd name="T84" fmla="*/ 2147483647 w 13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3"/>
              <a:gd name="T130" fmla="*/ 0 h 17"/>
              <a:gd name="T131" fmla="*/ 13 w 13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3" h="17">
                <a:moveTo>
                  <a:pt x="4" y="14"/>
                </a:moveTo>
                <a:lnTo>
                  <a:pt x="6" y="17"/>
                </a:lnTo>
                <a:lnTo>
                  <a:pt x="9" y="14"/>
                </a:lnTo>
                <a:lnTo>
                  <a:pt x="11" y="14"/>
                </a:lnTo>
                <a:lnTo>
                  <a:pt x="11" y="12"/>
                </a:lnTo>
                <a:lnTo>
                  <a:pt x="13" y="10"/>
                </a:lnTo>
                <a:lnTo>
                  <a:pt x="13" y="7"/>
                </a:lnTo>
                <a:lnTo>
                  <a:pt x="13" y="5"/>
                </a:lnTo>
                <a:lnTo>
                  <a:pt x="11" y="5"/>
                </a:lnTo>
                <a:lnTo>
                  <a:pt x="11" y="3"/>
                </a:lnTo>
                <a:lnTo>
                  <a:pt x="9" y="3"/>
                </a:lnTo>
                <a:lnTo>
                  <a:pt x="9" y="0"/>
                </a:lnTo>
                <a:lnTo>
                  <a:pt x="6" y="0"/>
                </a:lnTo>
                <a:lnTo>
                  <a:pt x="4" y="0"/>
                </a:lnTo>
                <a:lnTo>
                  <a:pt x="2" y="3"/>
                </a:lnTo>
                <a:lnTo>
                  <a:pt x="0" y="3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2" y="14"/>
                </a:lnTo>
                <a:lnTo>
                  <a:pt x="4" y="14"/>
                </a:lnTo>
                <a:lnTo>
                  <a:pt x="4" y="17"/>
                </a:lnTo>
                <a:lnTo>
                  <a:pt x="6" y="17"/>
                </a:lnTo>
                <a:lnTo>
                  <a:pt x="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5" name="Freeform 168"/>
          <p:cNvSpPr>
            <a:spLocks/>
          </p:cNvSpPr>
          <p:nvPr/>
        </p:nvSpPr>
        <p:spPr bwMode="auto">
          <a:xfrm>
            <a:off x="4616450" y="1738313"/>
            <a:ext cx="25400" cy="26987"/>
          </a:xfrm>
          <a:custGeom>
            <a:avLst/>
            <a:gdLst>
              <a:gd name="T0" fmla="*/ 2147483647 w 16"/>
              <a:gd name="T1" fmla="*/ 2147483647 h 17"/>
              <a:gd name="T2" fmla="*/ 2147483647 w 16"/>
              <a:gd name="T3" fmla="*/ 2147483647 h 17"/>
              <a:gd name="T4" fmla="*/ 2147483647 w 16"/>
              <a:gd name="T5" fmla="*/ 2147483647 h 17"/>
              <a:gd name="T6" fmla="*/ 2147483647 w 16"/>
              <a:gd name="T7" fmla="*/ 2147483647 h 17"/>
              <a:gd name="T8" fmla="*/ 2147483647 w 16"/>
              <a:gd name="T9" fmla="*/ 2147483647 h 17"/>
              <a:gd name="T10" fmla="*/ 2147483647 w 16"/>
              <a:gd name="T11" fmla="*/ 2147483647 h 17"/>
              <a:gd name="T12" fmla="*/ 2147483647 w 16"/>
              <a:gd name="T13" fmla="*/ 2147483647 h 17"/>
              <a:gd name="T14" fmla="*/ 2147483647 w 16"/>
              <a:gd name="T15" fmla="*/ 2147483647 h 17"/>
              <a:gd name="T16" fmla="*/ 2147483647 w 16"/>
              <a:gd name="T17" fmla="*/ 2147483647 h 17"/>
              <a:gd name="T18" fmla="*/ 2147483647 w 16"/>
              <a:gd name="T19" fmla="*/ 2147483647 h 17"/>
              <a:gd name="T20" fmla="*/ 2147483647 w 16"/>
              <a:gd name="T21" fmla="*/ 2147483647 h 17"/>
              <a:gd name="T22" fmla="*/ 2147483647 w 16"/>
              <a:gd name="T23" fmla="*/ 2147483647 h 17"/>
              <a:gd name="T24" fmla="*/ 2147483647 w 16"/>
              <a:gd name="T25" fmla="*/ 2147483647 h 17"/>
              <a:gd name="T26" fmla="*/ 2147483647 w 16"/>
              <a:gd name="T27" fmla="*/ 2147483647 h 17"/>
              <a:gd name="T28" fmla="*/ 2147483647 w 16"/>
              <a:gd name="T29" fmla="*/ 2147483647 h 17"/>
              <a:gd name="T30" fmla="*/ 2147483647 w 16"/>
              <a:gd name="T31" fmla="*/ 2147483647 h 17"/>
              <a:gd name="T32" fmla="*/ 2147483647 w 16"/>
              <a:gd name="T33" fmla="*/ 2147483647 h 17"/>
              <a:gd name="T34" fmla="*/ 2147483647 w 16"/>
              <a:gd name="T35" fmla="*/ 2147483647 h 17"/>
              <a:gd name="T36" fmla="*/ 2147483647 w 16"/>
              <a:gd name="T37" fmla="*/ 0 h 17"/>
              <a:gd name="T38" fmla="*/ 2147483647 w 16"/>
              <a:gd name="T39" fmla="*/ 0 h 17"/>
              <a:gd name="T40" fmla="*/ 2147483647 w 16"/>
              <a:gd name="T41" fmla="*/ 0 h 17"/>
              <a:gd name="T42" fmla="*/ 2147483647 w 16"/>
              <a:gd name="T43" fmla="*/ 0 h 17"/>
              <a:gd name="T44" fmla="*/ 2147483647 w 16"/>
              <a:gd name="T45" fmla="*/ 0 h 17"/>
              <a:gd name="T46" fmla="*/ 2147483647 w 16"/>
              <a:gd name="T47" fmla="*/ 2147483647 h 17"/>
              <a:gd name="T48" fmla="*/ 2147483647 w 16"/>
              <a:gd name="T49" fmla="*/ 2147483647 h 17"/>
              <a:gd name="T50" fmla="*/ 2147483647 w 16"/>
              <a:gd name="T51" fmla="*/ 2147483647 h 17"/>
              <a:gd name="T52" fmla="*/ 2147483647 w 16"/>
              <a:gd name="T53" fmla="*/ 2147483647 h 17"/>
              <a:gd name="T54" fmla="*/ 2147483647 w 16"/>
              <a:gd name="T55" fmla="*/ 2147483647 h 17"/>
              <a:gd name="T56" fmla="*/ 2147483647 w 16"/>
              <a:gd name="T57" fmla="*/ 2147483647 h 17"/>
              <a:gd name="T58" fmla="*/ 0 w 16"/>
              <a:gd name="T59" fmla="*/ 2147483647 h 17"/>
              <a:gd name="T60" fmla="*/ 0 w 16"/>
              <a:gd name="T61" fmla="*/ 2147483647 h 17"/>
              <a:gd name="T62" fmla="*/ 0 w 16"/>
              <a:gd name="T63" fmla="*/ 2147483647 h 17"/>
              <a:gd name="T64" fmla="*/ 2147483647 w 16"/>
              <a:gd name="T65" fmla="*/ 2147483647 h 17"/>
              <a:gd name="T66" fmla="*/ 2147483647 w 16"/>
              <a:gd name="T67" fmla="*/ 2147483647 h 17"/>
              <a:gd name="T68" fmla="*/ 2147483647 w 16"/>
              <a:gd name="T69" fmla="*/ 2147483647 h 17"/>
              <a:gd name="T70" fmla="*/ 2147483647 w 16"/>
              <a:gd name="T71" fmla="*/ 2147483647 h 17"/>
              <a:gd name="T72" fmla="*/ 2147483647 w 16"/>
              <a:gd name="T73" fmla="*/ 2147483647 h 17"/>
              <a:gd name="T74" fmla="*/ 2147483647 w 16"/>
              <a:gd name="T75" fmla="*/ 2147483647 h 17"/>
              <a:gd name="T76" fmla="*/ 2147483647 w 16"/>
              <a:gd name="T77" fmla="*/ 2147483647 h 17"/>
              <a:gd name="T78" fmla="*/ 2147483647 w 16"/>
              <a:gd name="T79" fmla="*/ 2147483647 h 17"/>
              <a:gd name="T80" fmla="*/ 2147483647 w 16"/>
              <a:gd name="T81" fmla="*/ 2147483647 h 17"/>
              <a:gd name="T82" fmla="*/ 2147483647 w 16"/>
              <a:gd name="T83" fmla="*/ 2147483647 h 17"/>
              <a:gd name="T84" fmla="*/ 2147483647 w 16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"/>
              <a:gd name="T130" fmla="*/ 0 h 17"/>
              <a:gd name="T131" fmla="*/ 16 w 16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4" y="14"/>
                </a:lnTo>
                <a:lnTo>
                  <a:pt x="14" y="12"/>
                </a:lnTo>
                <a:lnTo>
                  <a:pt x="14" y="10"/>
                </a:lnTo>
                <a:lnTo>
                  <a:pt x="16" y="10"/>
                </a:lnTo>
                <a:lnTo>
                  <a:pt x="16" y="7"/>
                </a:lnTo>
                <a:lnTo>
                  <a:pt x="14" y="5"/>
                </a:lnTo>
                <a:lnTo>
                  <a:pt x="14" y="3"/>
                </a:lnTo>
                <a:lnTo>
                  <a:pt x="11" y="3"/>
                </a:lnTo>
                <a:lnTo>
                  <a:pt x="9" y="0"/>
                </a:lnTo>
                <a:lnTo>
                  <a:pt x="7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7"/>
                </a:lnTo>
                <a:lnTo>
                  <a:pt x="0" y="10"/>
                </a:lnTo>
                <a:lnTo>
                  <a:pt x="2" y="10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7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6" name="Freeform 169"/>
          <p:cNvSpPr>
            <a:spLocks/>
          </p:cNvSpPr>
          <p:nvPr/>
        </p:nvSpPr>
        <p:spPr bwMode="auto">
          <a:xfrm>
            <a:off x="4465638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0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0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5" y="14"/>
                </a:moveTo>
                <a:lnTo>
                  <a:pt x="7" y="17"/>
                </a:lnTo>
                <a:lnTo>
                  <a:pt x="9" y="14"/>
                </a:lnTo>
                <a:lnTo>
                  <a:pt x="12" y="14"/>
                </a:lnTo>
                <a:lnTo>
                  <a:pt x="12" y="12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2" y="5"/>
                </a:lnTo>
                <a:lnTo>
                  <a:pt x="12" y="3"/>
                </a:lnTo>
                <a:lnTo>
                  <a:pt x="9" y="3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3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4"/>
                </a:lnTo>
                <a:lnTo>
                  <a:pt x="5" y="14"/>
                </a:lnTo>
                <a:lnTo>
                  <a:pt x="5" y="17"/>
                </a:lnTo>
                <a:lnTo>
                  <a:pt x="7" y="17"/>
                </a:lnTo>
                <a:lnTo>
                  <a:pt x="5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7" name="Freeform 170"/>
          <p:cNvSpPr>
            <a:spLocks/>
          </p:cNvSpPr>
          <p:nvPr/>
        </p:nvSpPr>
        <p:spPr bwMode="auto">
          <a:xfrm>
            <a:off x="4765675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0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0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5" y="14"/>
                </a:moveTo>
                <a:lnTo>
                  <a:pt x="7" y="17"/>
                </a:lnTo>
                <a:lnTo>
                  <a:pt x="10" y="14"/>
                </a:lnTo>
                <a:lnTo>
                  <a:pt x="12" y="14"/>
                </a:lnTo>
                <a:lnTo>
                  <a:pt x="12" y="12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2" y="5"/>
                </a:lnTo>
                <a:lnTo>
                  <a:pt x="12" y="3"/>
                </a:lnTo>
                <a:lnTo>
                  <a:pt x="10" y="3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3" y="3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3" y="14"/>
                </a:lnTo>
                <a:lnTo>
                  <a:pt x="5" y="14"/>
                </a:lnTo>
                <a:lnTo>
                  <a:pt x="5" y="17"/>
                </a:lnTo>
                <a:lnTo>
                  <a:pt x="7" y="17"/>
                </a:lnTo>
                <a:lnTo>
                  <a:pt x="5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8" name="Freeform 171"/>
          <p:cNvSpPr>
            <a:spLocks/>
          </p:cNvSpPr>
          <p:nvPr/>
        </p:nvSpPr>
        <p:spPr bwMode="auto">
          <a:xfrm>
            <a:off x="4840288" y="1738313"/>
            <a:ext cx="25400" cy="26987"/>
          </a:xfrm>
          <a:custGeom>
            <a:avLst/>
            <a:gdLst>
              <a:gd name="T0" fmla="*/ 2147483647 w 16"/>
              <a:gd name="T1" fmla="*/ 2147483647 h 17"/>
              <a:gd name="T2" fmla="*/ 2147483647 w 16"/>
              <a:gd name="T3" fmla="*/ 2147483647 h 17"/>
              <a:gd name="T4" fmla="*/ 2147483647 w 16"/>
              <a:gd name="T5" fmla="*/ 2147483647 h 17"/>
              <a:gd name="T6" fmla="*/ 2147483647 w 16"/>
              <a:gd name="T7" fmla="*/ 2147483647 h 17"/>
              <a:gd name="T8" fmla="*/ 2147483647 w 16"/>
              <a:gd name="T9" fmla="*/ 2147483647 h 17"/>
              <a:gd name="T10" fmla="*/ 2147483647 w 16"/>
              <a:gd name="T11" fmla="*/ 2147483647 h 17"/>
              <a:gd name="T12" fmla="*/ 2147483647 w 16"/>
              <a:gd name="T13" fmla="*/ 2147483647 h 17"/>
              <a:gd name="T14" fmla="*/ 2147483647 w 16"/>
              <a:gd name="T15" fmla="*/ 2147483647 h 17"/>
              <a:gd name="T16" fmla="*/ 2147483647 w 16"/>
              <a:gd name="T17" fmla="*/ 2147483647 h 17"/>
              <a:gd name="T18" fmla="*/ 2147483647 w 16"/>
              <a:gd name="T19" fmla="*/ 2147483647 h 17"/>
              <a:gd name="T20" fmla="*/ 2147483647 w 16"/>
              <a:gd name="T21" fmla="*/ 2147483647 h 17"/>
              <a:gd name="T22" fmla="*/ 2147483647 w 16"/>
              <a:gd name="T23" fmla="*/ 2147483647 h 17"/>
              <a:gd name="T24" fmla="*/ 2147483647 w 16"/>
              <a:gd name="T25" fmla="*/ 2147483647 h 17"/>
              <a:gd name="T26" fmla="*/ 2147483647 w 16"/>
              <a:gd name="T27" fmla="*/ 2147483647 h 17"/>
              <a:gd name="T28" fmla="*/ 2147483647 w 16"/>
              <a:gd name="T29" fmla="*/ 2147483647 h 17"/>
              <a:gd name="T30" fmla="*/ 2147483647 w 16"/>
              <a:gd name="T31" fmla="*/ 2147483647 h 17"/>
              <a:gd name="T32" fmla="*/ 2147483647 w 16"/>
              <a:gd name="T33" fmla="*/ 2147483647 h 17"/>
              <a:gd name="T34" fmla="*/ 2147483647 w 16"/>
              <a:gd name="T35" fmla="*/ 2147483647 h 17"/>
              <a:gd name="T36" fmla="*/ 2147483647 w 16"/>
              <a:gd name="T37" fmla="*/ 0 h 17"/>
              <a:gd name="T38" fmla="*/ 2147483647 w 16"/>
              <a:gd name="T39" fmla="*/ 0 h 17"/>
              <a:gd name="T40" fmla="*/ 2147483647 w 16"/>
              <a:gd name="T41" fmla="*/ 0 h 17"/>
              <a:gd name="T42" fmla="*/ 2147483647 w 16"/>
              <a:gd name="T43" fmla="*/ 0 h 17"/>
              <a:gd name="T44" fmla="*/ 2147483647 w 16"/>
              <a:gd name="T45" fmla="*/ 0 h 17"/>
              <a:gd name="T46" fmla="*/ 2147483647 w 16"/>
              <a:gd name="T47" fmla="*/ 2147483647 h 17"/>
              <a:gd name="T48" fmla="*/ 2147483647 w 16"/>
              <a:gd name="T49" fmla="*/ 2147483647 h 17"/>
              <a:gd name="T50" fmla="*/ 2147483647 w 16"/>
              <a:gd name="T51" fmla="*/ 2147483647 h 17"/>
              <a:gd name="T52" fmla="*/ 2147483647 w 16"/>
              <a:gd name="T53" fmla="*/ 2147483647 h 17"/>
              <a:gd name="T54" fmla="*/ 2147483647 w 16"/>
              <a:gd name="T55" fmla="*/ 2147483647 h 17"/>
              <a:gd name="T56" fmla="*/ 2147483647 w 16"/>
              <a:gd name="T57" fmla="*/ 2147483647 h 17"/>
              <a:gd name="T58" fmla="*/ 2147483647 w 16"/>
              <a:gd name="T59" fmla="*/ 2147483647 h 17"/>
              <a:gd name="T60" fmla="*/ 0 w 16"/>
              <a:gd name="T61" fmla="*/ 2147483647 h 17"/>
              <a:gd name="T62" fmla="*/ 2147483647 w 16"/>
              <a:gd name="T63" fmla="*/ 2147483647 h 17"/>
              <a:gd name="T64" fmla="*/ 2147483647 w 16"/>
              <a:gd name="T65" fmla="*/ 2147483647 h 17"/>
              <a:gd name="T66" fmla="*/ 2147483647 w 16"/>
              <a:gd name="T67" fmla="*/ 2147483647 h 17"/>
              <a:gd name="T68" fmla="*/ 2147483647 w 16"/>
              <a:gd name="T69" fmla="*/ 2147483647 h 17"/>
              <a:gd name="T70" fmla="*/ 2147483647 w 16"/>
              <a:gd name="T71" fmla="*/ 2147483647 h 17"/>
              <a:gd name="T72" fmla="*/ 2147483647 w 16"/>
              <a:gd name="T73" fmla="*/ 2147483647 h 17"/>
              <a:gd name="T74" fmla="*/ 2147483647 w 16"/>
              <a:gd name="T75" fmla="*/ 2147483647 h 17"/>
              <a:gd name="T76" fmla="*/ 2147483647 w 16"/>
              <a:gd name="T77" fmla="*/ 2147483647 h 17"/>
              <a:gd name="T78" fmla="*/ 2147483647 w 16"/>
              <a:gd name="T79" fmla="*/ 2147483647 h 17"/>
              <a:gd name="T80" fmla="*/ 2147483647 w 16"/>
              <a:gd name="T81" fmla="*/ 2147483647 h 17"/>
              <a:gd name="T82" fmla="*/ 2147483647 w 16"/>
              <a:gd name="T83" fmla="*/ 2147483647 h 17"/>
              <a:gd name="T84" fmla="*/ 2147483647 w 16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"/>
              <a:gd name="T130" fmla="*/ 0 h 17"/>
              <a:gd name="T131" fmla="*/ 16 w 16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" h="17">
                <a:moveTo>
                  <a:pt x="6" y="14"/>
                </a:moveTo>
                <a:lnTo>
                  <a:pt x="9" y="17"/>
                </a:lnTo>
                <a:lnTo>
                  <a:pt x="11" y="14"/>
                </a:lnTo>
                <a:lnTo>
                  <a:pt x="13" y="14"/>
                </a:lnTo>
                <a:lnTo>
                  <a:pt x="13" y="12"/>
                </a:lnTo>
                <a:lnTo>
                  <a:pt x="16" y="10"/>
                </a:lnTo>
                <a:lnTo>
                  <a:pt x="16" y="7"/>
                </a:lnTo>
                <a:lnTo>
                  <a:pt x="16" y="5"/>
                </a:lnTo>
                <a:lnTo>
                  <a:pt x="13" y="5"/>
                </a:lnTo>
                <a:lnTo>
                  <a:pt x="13" y="3"/>
                </a:lnTo>
                <a:lnTo>
                  <a:pt x="11" y="3"/>
                </a:lnTo>
                <a:lnTo>
                  <a:pt x="11" y="0"/>
                </a:lnTo>
                <a:lnTo>
                  <a:pt x="9" y="0"/>
                </a:lnTo>
                <a:lnTo>
                  <a:pt x="6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2" y="7"/>
                </a:lnTo>
                <a:lnTo>
                  <a:pt x="0" y="7"/>
                </a:lnTo>
                <a:lnTo>
                  <a:pt x="2" y="10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6" y="14"/>
                </a:lnTo>
                <a:lnTo>
                  <a:pt x="6" y="17"/>
                </a:lnTo>
                <a:lnTo>
                  <a:pt x="9" y="17"/>
                </a:lnTo>
                <a:lnTo>
                  <a:pt x="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19" name="Freeform 172"/>
          <p:cNvSpPr>
            <a:spLocks/>
          </p:cNvSpPr>
          <p:nvPr/>
        </p:nvSpPr>
        <p:spPr bwMode="auto">
          <a:xfrm>
            <a:off x="4689475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0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0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7" y="17"/>
                </a:lnTo>
                <a:lnTo>
                  <a:pt x="9" y="14"/>
                </a:lnTo>
                <a:lnTo>
                  <a:pt x="11" y="14"/>
                </a:lnTo>
                <a:lnTo>
                  <a:pt x="11" y="12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1" y="5"/>
                </a:lnTo>
                <a:lnTo>
                  <a:pt x="11" y="3"/>
                </a:lnTo>
                <a:lnTo>
                  <a:pt x="9" y="3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4"/>
                </a:lnTo>
                <a:lnTo>
                  <a:pt x="4" y="14"/>
                </a:lnTo>
                <a:lnTo>
                  <a:pt x="4" y="17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0" name="Freeform 173"/>
          <p:cNvSpPr>
            <a:spLocks/>
          </p:cNvSpPr>
          <p:nvPr/>
        </p:nvSpPr>
        <p:spPr bwMode="auto">
          <a:xfrm>
            <a:off x="4989513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2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2" y="3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2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1" name="Freeform 174"/>
          <p:cNvSpPr>
            <a:spLocks/>
          </p:cNvSpPr>
          <p:nvPr/>
        </p:nvSpPr>
        <p:spPr bwMode="auto">
          <a:xfrm>
            <a:off x="5067300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1" y="3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2" name="Freeform 175"/>
          <p:cNvSpPr>
            <a:spLocks/>
          </p:cNvSpPr>
          <p:nvPr/>
        </p:nvSpPr>
        <p:spPr bwMode="auto">
          <a:xfrm>
            <a:off x="4913313" y="1738313"/>
            <a:ext cx="25400" cy="26987"/>
          </a:xfrm>
          <a:custGeom>
            <a:avLst/>
            <a:gdLst>
              <a:gd name="T0" fmla="*/ 2147483647 w 16"/>
              <a:gd name="T1" fmla="*/ 2147483647 h 17"/>
              <a:gd name="T2" fmla="*/ 2147483647 w 16"/>
              <a:gd name="T3" fmla="*/ 2147483647 h 17"/>
              <a:gd name="T4" fmla="*/ 2147483647 w 16"/>
              <a:gd name="T5" fmla="*/ 2147483647 h 17"/>
              <a:gd name="T6" fmla="*/ 2147483647 w 16"/>
              <a:gd name="T7" fmla="*/ 2147483647 h 17"/>
              <a:gd name="T8" fmla="*/ 2147483647 w 16"/>
              <a:gd name="T9" fmla="*/ 2147483647 h 17"/>
              <a:gd name="T10" fmla="*/ 2147483647 w 16"/>
              <a:gd name="T11" fmla="*/ 2147483647 h 17"/>
              <a:gd name="T12" fmla="*/ 2147483647 w 16"/>
              <a:gd name="T13" fmla="*/ 2147483647 h 17"/>
              <a:gd name="T14" fmla="*/ 2147483647 w 16"/>
              <a:gd name="T15" fmla="*/ 2147483647 h 17"/>
              <a:gd name="T16" fmla="*/ 2147483647 w 16"/>
              <a:gd name="T17" fmla="*/ 2147483647 h 17"/>
              <a:gd name="T18" fmla="*/ 2147483647 w 16"/>
              <a:gd name="T19" fmla="*/ 2147483647 h 17"/>
              <a:gd name="T20" fmla="*/ 2147483647 w 16"/>
              <a:gd name="T21" fmla="*/ 2147483647 h 17"/>
              <a:gd name="T22" fmla="*/ 2147483647 w 16"/>
              <a:gd name="T23" fmla="*/ 2147483647 h 17"/>
              <a:gd name="T24" fmla="*/ 2147483647 w 16"/>
              <a:gd name="T25" fmla="*/ 2147483647 h 17"/>
              <a:gd name="T26" fmla="*/ 2147483647 w 16"/>
              <a:gd name="T27" fmla="*/ 2147483647 h 17"/>
              <a:gd name="T28" fmla="*/ 2147483647 w 16"/>
              <a:gd name="T29" fmla="*/ 2147483647 h 17"/>
              <a:gd name="T30" fmla="*/ 2147483647 w 16"/>
              <a:gd name="T31" fmla="*/ 2147483647 h 17"/>
              <a:gd name="T32" fmla="*/ 2147483647 w 16"/>
              <a:gd name="T33" fmla="*/ 2147483647 h 17"/>
              <a:gd name="T34" fmla="*/ 2147483647 w 16"/>
              <a:gd name="T35" fmla="*/ 2147483647 h 17"/>
              <a:gd name="T36" fmla="*/ 2147483647 w 16"/>
              <a:gd name="T37" fmla="*/ 0 h 17"/>
              <a:gd name="T38" fmla="*/ 2147483647 w 16"/>
              <a:gd name="T39" fmla="*/ 0 h 17"/>
              <a:gd name="T40" fmla="*/ 2147483647 w 16"/>
              <a:gd name="T41" fmla="*/ 0 h 17"/>
              <a:gd name="T42" fmla="*/ 2147483647 w 16"/>
              <a:gd name="T43" fmla="*/ 0 h 17"/>
              <a:gd name="T44" fmla="*/ 2147483647 w 16"/>
              <a:gd name="T45" fmla="*/ 0 h 17"/>
              <a:gd name="T46" fmla="*/ 2147483647 w 16"/>
              <a:gd name="T47" fmla="*/ 2147483647 h 17"/>
              <a:gd name="T48" fmla="*/ 2147483647 w 16"/>
              <a:gd name="T49" fmla="*/ 2147483647 h 17"/>
              <a:gd name="T50" fmla="*/ 2147483647 w 16"/>
              <a:gd name="T51" fmla="*/ 2147483647 h 17"/>
              <a:gd name="T52" fmla="*/ 2147483647 w 16"/>
              <a:gd name="T53" fmla="*/ 2147483647 h 17"/>
              <a:gd name="T54" fmla="*/ 2147483647 w 16"/>
              <a:gd name="T55" fmla="*/ 2147483647 h 17"/>
              <a:gd name="T56" fmla="*/ 0 w 16"/>
              <a:gd name="T57" fmla="*/ 2147483647 h 17"/>
              <a:gd name="T58" fmla="*/ 0 w 16"/>
              <a:gd name="T59" fmla="*/ 2147483647 h 17"/>
              <a:gd name="T60" fmla="*/ 0 w 16"/>
              <a:gd name="T61" fmla="*/ 2147483647 h 17"/>
              <a:gd name="T62" fmla="*/ 0 w 16"/>
              <a:gd name="T63" fmla="*/ 2147483647 h 17"/>
              <a:gd name="T64" fmla="*/ 0 w 16"/>
              <a:gd name="T65" fmla="*/ 2147483647 h 17"/>
              <a:gd name="T66" fmla="*/ 2147483647 w 16"/>
              <a:gd name="T67" fmla="*/ 2147483647 h 17"/>
              <a:gd name="T68" fmla="*/ 2147483647 w 16"/>
              <a:gd name="T69" fmla="*/ 2147483647 h 17"/>
              <a:gd name="T70" fmla="*/ 2147483647 w 16"/>
              <a:gd name="T71" fmla="*/ 2147483647 h 17"/>
              <a:gd name="T72" fmla="*/ 2147483647 w 16"/>
              <a:gd name="T73" fmla="*/ 2147483647 h 17"/>
              <a:gd name="T74" fmla="*/ 2147483647 w 16"/>
              <a:gd name="T75" fmla="*/ 2147483647 h 17"/>
              <a:gd name="T76" fmla="*/ 2147483647 w 16"/>
              <a:gd name="T77" fmla="*/ 2147483647 h 17"/>
              <a:gd name="T78" fmla="*/ 2147483647 w 16"/>
              <a:gd name="T79" fmla="*/ 2147483647 h 17"/>
              <a:gd name="T80" fmla="*/ 2147483647 w 16"/>
              <a:gd name="T81" fmla="*/ 2147483647 h 17"/>
              <a:gd name="T82" fmla="*/ 2147483647 w 16"/>
              <a:gd name="T83" fmla="*/ 2147483647 h 17"/>
              <a:gd name="T84" fmla="*/ 2147483647 w 16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"/>
              <a:gd name="T130" fmla="*/ 0 h 17"/>
              <a:gd name="T131" fmla="*/ 16 w 16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4" y="14"/>
                </a:lnTo>
                <a:lnTo>
                  <a:pt x="14" y="12"/>
                </a:lnTo>
                <a:lnTo>
                  <a:pt x="14" y="10"/>
                </a:lnTo>
                <a:lnTo>
                  <a:pt x="16" y="7"/>
                </a:lnTo>
                <a:lnTo>
                  <a:pt x="14" y="7"/>
                </a:lnTo>
                <a:lnTo>
                  <a:pt x="14" y="5"/>
                </a:lnTo>
                <a:lnTo>
                  <a:pt x="14" y="3"/>
                </a:lnTo>
                <a:lnTo>
                  <a:pt x="11" y="3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3" name="Freeform 176"/>
          <p:cNvSpPr>
            <a:spLocks/>
          </p:cNvSpPr>
          <p:nvPr/>
        </p:nvSpPr>
        <p:spPr bwMode="auto">
          <a:xfrm>
            <a:off x="5213350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2147483647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2147483647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2" y="14"/>
                </a:lnTo>
                <a:lnTo>
                  <a:pt x="14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4" y="3"/>
                </a:lnTo>
                <a:lnTo>
                  <a:pt x="12" y="3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2" y="12"/>
                </a:lnTo>
                <a:lnTo>
                  <a:pt x="2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4" name="Freeform 177"/>
          <p:cNvSpPr>
            <a:spLocks/>
          </p:cNvSpPr>
          <p:nvPr/>
        </p:nvSpPr>
        <p:spPr bwMode="auto">
          <a:xfrm>
            <a:off x="5291138" y="1738313"/>
            <a:ext cx="20637" cy="26987"/>
          </a:xfrm>
          <a:custGeom>
            <a:avLst/>
            <a:gdLst>
              <a:gd name="T0" fmla="*/ 2147483647 w 13"/>
              <a:gd name="T1" fmla="*/ 2147483647 h 17"/>
              <a:gd name="T2" fmla="*/ 2147483647 w 13"/>
              <a:gd name="T3" fmla="*/ 2147483647 h 17"/>
              <a:gd name="T4" fmla="*/ 2147483647 w 13"/>
              <a:gd name="T5" fmla="*/ 2147483647 h 17"/>
              <a:gd name="T6" fmla="*/ 2147483647 w 13"/>
              <a:gd name="T7" fmla="*/ 2147483647 h 17"/>
              <a:gd name="T8" fmla="*/ 2147483647 w 13"/>
              <a:gd name="T9" fmla="*/ 2147483647 h 17"/>
              <a:gd name="T10" fmla="*/ 2147483647 w 13"/>
              <a:gd name="T11" fmla="*/ 2147483647 h 17"/>
              <a:gd name="T12" fmla="*/ 2147483647 w 13"/>
              <a:gd name="T13" fmla="*/ 2147483647 h 17"/>
              <a:gd name="T14" fmla="*/ 2147483647 w 13"/>
              <a:gd name="T15" fmla="*/ 2147483647 h 17"/>
              <a:gd name="T16" fmla="*/ 2147483647 w 13"/>
              <a:gd name="T17" fmla="*/ 2147483647 h 17"/>
              <a:gd name="T18" fmla="*/ 2147483647 w 13"/>
              <a:gd name="T19" fmla="*/ 2147483647 h 17"/>
              <a:gd name="T20" fmla="*/ 2147483647 w 13"/>
              <a:gd name="T21" fmla="*/ 2147483647 h 17"/>
              <a:gd name="T22" fmla="*/ 2147483647 w 13"/>
              <a:gd name="T23" fmla="*/ 2147483647 h 17"/>
              <a:gd name="T24" fmla="*/ 2147483647 w 13"/>
              <a:gd name="T25" fmla="*/ 2147483647 h 17"/>
              <a:gd name="T26" fmla="*/ 2147483647 w 13"/>
              <a:gd name="T27" fmla="*/ 2147483647 h 17"/>
              <a:gd name="T28" fmla="*/ 2147483647 w 13"/>
              <a:gd name="T29" fmla="*/ 2147483647 h 17"/>
              <a:gd name="T30" fmla="*/ 2147483647 w 13"/>
              <a:gd name="T31" fmla="*/ 2147483647 h 17"/>
              <a:gd name="T32" fmla="*/ 2147483647 w 13"/>
              <a:gd name="T33" fmla="*/ 2147483647 h 17"/>
              <a:gd name="T34" fmla="*/ 2147483647 w 13"/>
              <a:gd name="T35" fmla="*/ 2147483647 h 17"/>
              <a:gd name="T36" fmla="*/ 2147483647 w 13"/>
              <a:gd name="T37" fmla="*/ 0 h 17"/>
              <a:gd name="T38" fmla="*/ 2147483647 w 13"/>
              <a:gd name="T39" fmla="*/ 0 h 17"/>
              <a:gd name="T40" fmla="*/ 2147483647 w 13"/>
              <a:gd name="T41" fmla="*/ 0 h 17"/>
              <a:gd name="T42" fmla="*/ 2147483647 w 13"/>
              <a:gd name="T43" fmla="*/ 0 h 17"/>
              <a:gd name="T44" fmla="*/ 2147483647 w 13"/>
              <a:gd name="T45" fmla="*/ 0 h 17"/>
              <a:gd name="T46" fmla="*/ 2147483647 w 13"/>
              <a:gd name="T47" fmla="*/ 2147483647 h 17"/>
              <a:gd name="T48" fmla="*/ 2147483647 w 13"/>
              <a:gd name="T49" fmla="*/ 2147483647 h 17"/>
              <a:gd name="T50" fmla="*/ 2147483647 w 13"/>
              <a:gd name="T51" fmla="*/ 2147483647 h 17"/>
              <a:gd name="T52" fmla="*/ 2147483647 w 13"/>
              <a:gd name="T53" fmla="*/ 2147483647 h 17"/>
              <a:gd name="T54" fmla="*/ 0 w 13"/>
              <a:gd name="T55" fmla="*/ 2147483647 h 17"/>
              <a:gd name="T56" fmla="*/ 0 w 13"/>
              <a:gd name="T57" fmla="*/ 2147483647 h 17"/>
              <a:gd name="T58" fmla="*/ 0 w 13"/>
              <a:gd name="T59" fmla="*/ 2147483647 h 17"/>
              <a:gd name="T60" fmla="*/ 0 w 13"/>
              <a:gd name="T61" fmla="*/ 2147483647 h 17"/>
              <a:gd name="T62" fmla="*/ 0 w 13"/>
              <a:gd name="T63" fmla="*/ 2147483647 h 17"/>
              <a:gd name="T64" fmla="*/ 0 w 13"/>
              <a:gd name="T65" fmla="*/ 2147483647 h 17"/>
              <a:gd name="T66" fmla="*/ 0 w 13"/>
              <a:gd name="T67" fmla="*/ 2147483647 h 17"/>
              <a:gd name="T68" fmla="*/ 2147483647 w 13"/>
              <a:gd name="T69" fmla="*/ 2147483647 h 17"/>
              <a:gd name="T70" fmla="*/ 2147483647 w 13"/>
              <a:gd name="T71" fmla="*/ 2147483647 h 17"/>
              <a:gd name="T72" fmla="*/ 2147483647 w 13"/>
              <a:gd name="T73" fmla="*/ 2147483647 h 17"/>
              <a:gd name="T74" fmla="*/ 2147483647 w 13"/>
              <a:gd name="T75" fmla="*/ 2147483647 h 17"/>
              <a:gd name="T76" fmla="*/ 2147483647 w 13"/>
              <a:gd name="T77" fmla="*/ 2147483647 h 17"/>
              <a:gd name="T78" fmla="*/ 2147483647 w 13"/>
              <a:gd name="T79" fmla="*/ 2147483647 h 17"/>
              <a:gd name="T80" fmla="*/ 2147483647 w 13"/>
              <a:gd name="T81" fmla="*/ 2147483647 h 17"/>
              <a:gd name="T82" fmla="*/ 2147483647 w 13"/>
              <a:gd name="T83" fmla="*/ 2147483647 h 17"/>
              <a:gd name="T84" fmla="*/ 2147483647 w 13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3"/>
              <a:gd name="T130" fmla="*/ 0 h 17"/>
              <a:gd name="T131" fmla="*/ 13 w 13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3" h="17">
                <a:moveTo>
                  <a:pt x="6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3" y="12"/>
                </a:lnTo>
                <a:lnTo>
                  <a:pt x="13" y="10"/>
                </a:lnTo>
                <a:lnTo>
                  <a:pt x="13" y="7"/>
                </a:lnTo>
                <a:lnTo>
                  <a:pt x="13" y="5"/>
                </a:lnTo>
                <a:lnTo>
                  <a:pt x="11" y="3"/>
                </a:lnTo>
                <a:lnTo>
                  <a:pt x="9" y="0"/>
                </a:lnTo>
                <a:lnTo>
                  <a:pt x="6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6" y="17"/>
                </a:lnTo>
                <a:lnTo>
                  <a:pt x="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5" name="Freeform 178"/>
          <p:cNvSpPr>
            <a:spLocks/>
          </p:cNvSpPr>
          <p:nvPr/>
        </p:nvSpPr>
        <p:spPr bwMode="auto">
          <a:xfrm>
            <a:off x="5137150" y="1738313"/>
            <a:ext cx="25400" cy="26987"/>
          </a:xfrm>
          <a:custGeom>
            <a:avLst/>
            <a:gdLst>
              <a:gd name="T0" fmla="*/ 2147483647 w 16"/>
              <a:gd name="T1" fmla="*/ 2147483647 h 17"/>
              <a:gd name="T2" fmla="*/ 2147483647 w 16"/>
              <a:gd name="T3" fmla="*/ 2147483647 h 17"/>
              <a:gd name="T4" fmla="*/ 2147483647 w 16"/>
              <a:gd name="T5" fmla="*/ 2147483647 h 17"/>
              <a:gd name="T6" fmla="*/ 2147483647 w 16"/>
              <a:gd name="T7" fmla="*/ 2147483647 h 17"/>
              <a:gd name="T8" fmla="*/ 2147483647 w 16"/>
              <a:gd name="T9" fmla="*/ 2147483647 h 17"/>
              <a:gd name="T10" fmla="*/ 2147483647 w 16"/>
              <a:gd name="T11" fmla="*/ 2147483647 h 17"/>
              <a:gd name="T12" fmla="*/ 2147483647 w 16"/>
              <a:gd name="T13" fmla="*/ 2147483647 h 17"/>
              <a:gd name="T14" fmla="*/ 2147483647 w 16"/>
              <a:gd name="T15" fmla="*/ 2147483647 h 17"/>
              <a:gd name="T16" fmla="*/ 2147483647 w 16"/>
              <a:gd name="T17" fmla="*/ 2147483647 h 17"/>
              <a:gd name="T18" fmla="*/ 2147483647 w 16"/>
              <a:gd name="T19" fmla="*/ 2147483647 h 17"/>
              <a:gd name="T20" fmla="*/ 2147483647 w 16"/>
              <a:gd name="T21" fmla="*/ 2147483647 h 17"/>
              <a:gd name="T22" fmla="*/ 2147483647 w 16"/>
              <a:gd name="T23" fmla="*/ 2147483647 h 17"/>
              <a:gd name="T24" fmla="*/ 2147483647 w 16"/>
              <a:gd name="T25" fmla="*/ 2147483647 h 17"/>
              <a:gd name="T26" fmla="*/ 2147483647 w 16"/>
              <a:gd name="T27" fmla="*/ 2147483647 h 17"/>
              <a:gd name="T28" fmla="*/ 2147483647 w 16"/>
              <a:gd name="T29" fmla="*/ 2147483647 h 17"/>
              <a:gd name="T30" fmla="*/ 2147483647 w 16"/>
              <a:gd name="T31" fmla="*/ 2147483647 h 17"/>
              <a:gd name="T32" fmla="*/ 2147483647 w 16"/>
              <a:gd name="T33" fmla="*/ 2147483647 h 17"/>
              <a:gd name="T34" fmla="*/ 2147483647 w 16"/>
              <a:gd name="T35" fmla="*/ 2147483647 h 17"/>
              <a:gd name="T36" fmla="*/ 2147483647 w 16"/>
              <a:gd name="T37" fmla="*/ 0 h 17"/>
              <a:gd name="T38" fmla="*/ 2147483647 w 16"/>
              <a:gd name="T39" fmla="*/ 0 h 17"/>
              <a:gd name="T40" fmla="*/ 2147483647 w 16"/>
              <a:gd name="T41" fmla="*/ 0 h 17"/>
              <a:gd name="T42" fmla="*/ 2147483647 w 16"/>
              <a:gd name="T43" fmla="*/ 0 h 17"/>
              <a:gd name="T44" fmla="*/ 2147483647 w 16"/>
              <a:gd name="T45" fmla="*/ 0 h 17"/>
              <a:gd name="T46" fmla="*/ 2147483647 w 16"/>
              <a:gd name="T47" fmla="*/ 2147483647 h 17"/>
              <a:gd name="T48" fmla="*/ 2147483647 w 16"/>
              <a:gd name="T49" fmla="*/ 2147483647 h 17"/>
              <a:gd name="T50" fmla="*/ 2147483647 w 16"/>
              <a:gd name="T51" fmla="*/ 2147483647 h 17"/>
              <a:gd name="T52" fmla="*/ 2147483647 w 16"/>
              <a:gd name="T53" fmla="*/ 2147483647 h 17"/>
              <a:gd name="T54" fmla="*/ 2147483647 w 16"/>
              <a:gd name="T55" fmla="*/ 2147483647 h 17"/>
              <a:gd name="T56" fmla="*/ 2147483647 w 16"/>
              <a:gd name="T57" fmla="*/ 2147483647 h 17"/>
              <a:gd name="T58" fmla="*/ 0 w 16"/>
              <a:gd name="T59" fmla="*/ 2147483647 h 17"/>
              <a:gd name="T60" fmla="*/ 0 w 16"/>
              <a:gd name="T61" fmla="*/ 2147483647 h 17"/>
              <a:gd name="T62" fmla="*/ 0 w 16"/>
              <a:gd name="T63" fmla="*/ 2147483647 h 17"/>
              <a:gd name="T64" fmla="*/ 2147483647 w 16"/>
              <a:gd name="T65" fmla="*/ 2147483647 h 17"/>
              <a:gd name="T66" fmla="*/ 2147483647 w 16"/>
              <a:gd name="T67" fmla="*/ 2147483647 h 17"/>
              <a:gd name="T68" fmla="*/ 2147483647 w 16"/>
              <a:gd name="T69" fmla="*/ 2147483647 h 17"/>
              <a:gd name="T70" fmla="*/ 2147483647 w 16"/>
              <a:gd name="T71" fmla="*/ 2147483647 h 17"/>
              <a:gd name="T72" fmla="*/ 2147483647 w 16"/>
              <a:gd name="T73" fmla="*/ 2147483647 h 17"/>
              <a:gd name="T74" fmla="*/ 2147483647 w 16"/>
              <a:gd name="T75" fmla="*/ 2147483647 h 17"/>
              <a:gd name="T76" fmla="*/ 2147483647 w 16"/>
              <a:gd name="T77" fmla="*/ 2147483647 h 17"/>
              <a:gd name="T78" fmla="*/ 2147483647 w 16"/>
              <a:gd name="T79" fmla="*/ 2147483647 h 17"/>
              <a:gd name="T80" fmla="*/ 2147483647 w 16"/>
              <a:gd name="T81" fmla="*/ 2147483647 h 17"/>
              <a:gd name="T82" fmla="*/ 2147483647 w 16"/>
              <a:gd name="T83" fmla="*/ 2147483647 h 17"/>
              <a:gd name="T84" fmla="*/ 2147483647 w 16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"/>
              <a:gd name="T130" fmla="*/ 0 h 17"/>
              <a:gd name="T131" fmla="*/ 16 w 16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" h="17">
                <a:moveTo>
                  <a:pt x="6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3" y="14"/>
                </a:lnTo>
                <a:lnTo>
                  <a:pt x="13" y="12"/>
                </a:lnTo>
                <a:lnTo>
                  <a:pt x="13" y="10"/>
                </a:lnTo>
                <a:lnTo>
                  <a:pt x="16" y="10"/>
                </a:lnTo>
                <a:lnTo>
                  <a:pt x="16" y="7"/>
                </a:lnTo>
                <a:lnTo>
                  <a:pt x="13" y="5"/>
                </a:lnTo>
                <a:lnTo>
                  <a:pt x="13" y="3"/>
                </a:lnTo>
                <a:lnTo>
                  <a:pt x="11" y="3"/>
                </a:lnTo>
                <a:lnTo>
                  <a:pt x="9" y="0"/>
                </a:lnTo>
                <a:lnTo>
                  <a:pt x="6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7"/>
                </a:lnTo>
                <a:lnTo>
                  <a:pt x="0" y="10"/>
                </a:lnTo>
                <a:lnTo>
                  <a:pt x="2" y="10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6" y="14"/>
                </a:lnTo>
                <a:lnTo>
                  <a:pt x="6" y="17"/>
                </a:lnTo>
                <a:lnTo>
                  <a:pt x="9" y="17"/>
                </a:lnTo>
                <a:lnTo>
                  <a:pt x="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6" name="Freeform 179"/>
          <p:cNvSpPr>
            <a:spLocks/>
          </p:cNvSpPr>
          <p:nvPr/>
        </p:nvSpPr>
        <p:spPr bwMode="auto">
          <a:xfrm>
            <a:off x="7092950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10" y="17"/>
                </a:lnTo>
                <a:lnTo>
                  <a:pt x="10" y="14"/>
                </a:lnTo>
                <a:lnTo>
                  <a:pt x="12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2" y="3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3" y="12"/>
                </a:lnTo>
                <a:lnTo>
                  <a:pt x="3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7" name="Freeform 180"/>
          <p:cNvSpPr>
            <a:spLocks/>
          </p:cNvSpPr>
          <p:nvPr/>
        </p:nvSpPr>
        <p:spPr bwMode="auto">
          <a:xfrm>
            <a:off x="7170738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2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2" y="3"/>
                </a:lnTo>
                <a:lnTo>
                  <a:pt x="9" y="3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2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8" name="Freeform 181"/>
          <p:cNvSpPr>
            <a:spLocks/>
          </p:cNvSpPr>
          <p:nvPr/>
        </p:nvSpPr>
        <p:spPr bwMode="auto">
          <a:xfrm>
            <a:off x="7016750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2147483647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2147483647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2" y="14"/>
                </a:lnTo>
                <a:lnTo>
                  <a:pt x="14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4" y="3"/>
                </a:lnTo>
                <a:lnTo>
                  <a:pt x="12" y="3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2" y="12"/>
                </a:lnTo>
                <a:lnTo>
                  <a:pt x="2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29" name="Freeform 182"/>
          <p:cNvSpPr>
            <a:spLocks/>
          </p:cNvSpPr>
          <p:nvPr/>
        </p:nvSpPr>
        <p:spPr bwMode="auto">
          <a:xfrm>
            <a:off x="7316788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2147483647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2147483647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10" y="17"/>
                </a:lnTo>
                <a:lnTo>
                  <a:pt x="10" y="14"/>
                </a:lnTo>
                <a:lnTo>
                  <a:pt x="12" y="14"/>
                </a:lnTo>
                <a:lnTo>
                  <a:pt x="14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4" y="3"/>
                </a:lnTo>
                <a:lnTo>
                  <a:pt x="12" y="3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3" y="12"/>
                </a:lnTo>
                <a:lnTo>
                  <a:pt x="3" y="14"/>
                </a:lnTo>
                <a:lnTo>
                  <a:pt x="5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0" name="Freeform 183"/>
          <p:cNvSpPr>
            <a:spLocks/>
          </p:cNvSpPr>
          <p:nvPr/>
        </p:nvSpPr>
        <p:spPr bwMode="auto">
          <a:xfrm>
            <a:off x="7394575" y="1738313"/>
            <a:ext cx="22225" cy="26987"/>
          </a:xfrm>
          <a:custGeom>
            <a:avLst/>
            <a:gdLst>
              <a:gd name="T0" fmla="*/ 2147483647 w 14"/>
              <a:gd name="T1" fmla="*/ 2147483647 h 17"/>
              <a:gd name="T2" fmla="*/ 2147483647 w 14"/>
              <a:gd name="T3" fmla="*/ 2147483647 h 17"/>
              <a:gd name="T4" fmla="*/ 2147483647 w 14"/>
              <a:gd name="T5" fmla="*/ 2147483647 h 17"/>
              <a:gd name="T6" fmla="*/ 2147483647 w 14"/>
              <a:gd name="T7" fmla="*/ 2147483647 h 17"/>
              <a:gd name="T8" fmla="*/ 2147483647 w 14"/>
              <a:gd name="T9" fmla="*/ 2147483647 h 17"/>
              <a:gd name="T10" fmla="*/ 2147483647 w 14"/>
              <a:gd name="T11" fmla="*/ 2147483647 h 17"/>
              <a:gd name="T12" fmla="*/ 2147483647 w 14"/>
              <a:gd name="T13" fmla="*/ 2147483647 h 17"/>
              <a:gd name="T14" fmla="*/ 2147483647 w 14"/>
              <a:gd name="T15" fmla="*/ 2147483647 h 17"/>
              <a:gd name="T16" fmla="*/ 2147483647 w 14"/>
              <a:gd name="T17" fmla="*/ 2147483647 h 17"/>
              <a:gd name="T18" fmla="*/ 2147483647 w 14"/>
              <a:gd name="T19" fmla="*/ 2147483647 h 17"/>
              <a:gd name="T20" fmla="*/ 2147483647 w 14"/>
              <a:gd name="T21" fmla="*/ 2147483647 h 17"/>
              <a:gd name="T22" fmla="*/ 2147483647 w 14"/>
              <a:gd name="T23" fmla="*/ 2147483647 h 17"/>
              <a:gd name="T24" fmla="*/ 2147483647 w 14"/>
              <a:gd name="T25" fmla="*/ 2147483647 h 17"/>
              <a:gd name="T26" fmla="*/ 2147483647 w 14"/>
              <a:gd name="T27" fmla="*/ 2147483647 h 17"/>
              <a:gd name="T28" fmla="*/ 2147483647 w 14"/>
              <a:gd name="T29" fmla="*/ 2147483647 h 17"/>
              <a:gd name="T30" fmla="*/ 2147483647 w 14"/>
              <a:gd name="T31" fmla="*/ 2147483647 h 17"/>
              <a:gd name="T32" fmla="*/ 2147483647 w 14"/>
              <a:gd name="T33" fmla="*/ 2147483647 h 17"/>
              <a:gd name="T34" fmla="*/ 2147483647 w 14"/>
              <a:gd name="T35" fmla="*/ 2147483647 h 17"/>
              <a:gd name="T36" fmla="*/ 2147483647 w 14"/>
              <a:gd name="T37" fmla="*/ 0 h 17"/>
              <a:gd name="T38" fmla="*/ 2147483647 w 14"/>
              <a:gd name="T39" fmla="*/ 0 h 17"/>
              <a:gd name="T40" fmla="*/ 2147483647 w 14"/>
              <a:gd name="T41" fmla="*/ 0 h 17"/>
              <a:gd name="T42" fmla="*/ 2147483647 w 14"/>
              <a:gd name="T43" fmla="*/ 0 h 17"/>
              <a:gd name="T44" fmla="*/ 2147483647 w 14"/>
              <a:gd name="T45" fmla="*/ 0 h 17"/>
              <a:gd name="T46" fmla="*/ 2147483647 w 14"/>
              <a:gd name="T47" fmla="*/ 2147483647 h 17"/>
              <a:gd name="T48" fmla="*/ 2147483647 w 14"/>
              <a:gd name="T49" fmla="*/ 2147483647 h 17"/>
              <a:gd name="T50" fmla="*/ 2147483647 w 14"/>
              <a:gd name="T51" fmla="*/ 2147483647 h 17"/>
              <a:gd name="T52" fmla="*/ 2147483647 w 14"/>
              <a:gd name="T53" fmla="*/ 2147483647 h 17"/>
              <a:gd name="T54" fmla="*/ 0 w 14"/>
              <a:gd name="T55" fmla="*/ 2147483647 h 17"/>
              <a:gd name="T56" fmla="*/ 0 w 14"/>
              <a:gd name="T57" fmla="*/ 2147483647 h 17"/>
              <a:gd name="T58" fmla="*/ 0 w 14"/>
              <a:gd name="T59" fmla="*/ 2147483647 h 17"/>
              <a:gd name="T60" fmla="*/ 0 w 14"/>
              <a:gd name="T61" fmla="*/ 2147483647 h 17"/>
              <a:gd name="T62" fmla="*/ 0 w 14"/>
              <a:gd name="T63" fmla="*/ 2147483647 h 17"/>
              <a:gd name="T64" fmla="*/ 0 w 14"/>
              <a:gd name="T65" fmla="*/ 2147483647 h 17"/>
              <a:gd name="T66" fmla="*/ 0 w 14"/>
              <a:gd name="T67" fmla="*/ 2147483647 h 17"/>
              <a:gd name="T68" fmla="*/ 2147483647 w 14"/>
              <a:gd name="T69" fmla="*/ 2147483647 h 17"/>
              <a:gd name="T70" fmla="*/ 2147483647 w 14"/>
              <a:gd name="T71" fmla="*/ 2147483647 h 17"/>
              <a:gd name="T72" fmla="*/ 2147483647 w 14"/>
              <a:gd name="T73" fmla="*/ 2147483647 h 17"/>
              <a:gd name="T74" fmla="*/ 2147483647 w 14"/>
              <a:gd name="T75" fmla="*/ 2147483647 h 17"/>
              <a:gd name="T76" fmla="*/ 2147483647 w 14"/>
              <a:gd name="T77" fmla="*/ 2147483647 h 17"/>
              <a:gd name="T78" fmla="*/ 2147483647 w 14"/>
              <a:gd name="T79" fmla="*/ 2147483647 h 17"/>
              <a:gd name="T80" fmla="*/ 2147483647 w 14"/>
              <a:gd name="T81" fmla="*/ 2147483647 h 17"/>
              <a:gd name="T82" fmla="*/ 2147483647 w 14"/>
              <a:gd name="T83" fmla="*/ 2147483647 h 17"/>
              <a:gd name="T84" fmla="*/ 2147483647 w 14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7"/>
              <a:gd name="T131" fmla="*/ 14 w 14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4" y="12"/>
                </a:lnTo>
                <a:lnTo>
                  <a:pt x="14" y="10"/>
                </a:lnTo>
                <a:lnTo>
                  <a:pt x="14" y="7"/>
                </a:lnTo>
                <a:lnTo>
                  <a:pt x="14" y="5"/>
                </a:lnTo>
                <a:lnTo>
                  <a:pt x="11" y="3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7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1" name="Freeform 184"/>
          <p:cNvSpPr>
            <a:spLocks/>
          </p:cNvSpPr>
          <p:nvPr/>
        </p:nvSpPr>
        <p:spPr bwMode="auto">
          <a:xfrm>
            <a:off x="7240588" y="1738313"/>
            <a:ext cx="25400" cy="26987"/>
          </a:xfrm>
          <a:custGeom>
            <a:avLst/>
            <a:gdLst>
              <a:gd name="T0" fmla="*/ 2147483647 w 16"/>
              <a:gd name="T1" fmla="*/ 2147483647 h 17"/>
              <a:gd name="T2" fmla="*/ 2147483647 w 16"/>
              <a:gd name="T3" fmla="*/ 2147483647 h 17"/>
              <a:gd name="T4" fmla="*/ 2147483647 w 16"/>
              <a:gd name="T5" fmla="*/ 2147483647 h 17"/>
              <a:gd name="T6" fmla="*/ 2147483647 w 16"/>
              <a:gd name="T7" fmla="*/ 2147483647 h 17"/>
              <a:gd name="T8" fmla="*/ 2147483647 w 16"/>
              <a:gd name="T9" fmla="*/ 2147483647 h 17"/>
              <a:gd name="T10" fmla="*/ 2147483647 w 16"/>
              <a:gd name="T11" fmla="*/ 2147483647 h 17"/>
              <a:gd name="T12" fmla="*/ 2147483647 w 16"/>
              <a:gd name="T13" fmla="*/ 2147483647 h 17"/>
              <a:gd name="T14" fmla="*/ 2147483647 w 16"/>
              <a:gd name="T15" fmla="*/ 2147483647 h 17"/>
              <a:gd name="T16" fmla="*/ 2147483647 w 16"/>
              <a:gd name="T17" fmla="*/ 2147483647 h 17"/>
              <a:gd name="T18" fmla="*/ 2147483647 w 16"/>
              <a:gd name="T19" fmla="*/ 2147483647 h 17"/>
              <a:gd name="T20" fmla="*/ 2147483647 w 16"/>
              <a:gd name="T21" fmla="*/ 2147483647 h 17"/>
              <a:gd name="T22" fmla="*/ 2147483647 w 16"/>
              <a:gd name="T23" fmla="*/ 2147483647 h 17"/>
              <a:gd name="T24" fmla="*/ 2147483647 w 16"/>
              <a:gd name="T25" fmla="*/ 2147483647 h 17"/>
              <a:gd name="T26" fmla="*/ 2147483647 w 16"/>
              <a:gd name="T27" fmla="*/ 2147483647 h 17"/>
              <a:gd name="T28" fmla="*/ 2147483647 w 16"/>
              <a:gd name="T29" fmla="*/ 2147483647 h 17"/>
              <a:gd name="T30" fmla="*/ 2147483647 w 16"/>
              <a:gd name="T31" fmla="*/ 2147483647 h 17"/>
              <a:gd name="T32" fmla="*/ 2147483647 w 16"/>
              <a:gd name="T33" fmla="*/ 2147483647 h 17"/>
              <a:gd name="T34" fmla="*/ 2147483647 w 16"/>
              <a:gd name="T35" fmla="*/ 2147483647 h 17"/>
              <a:gd name="T36" fmla="*/ 2147483647 w 16"/>
              <a:gd name="T37" fmla="*/ 0 h 17"/>
              <a:gd name="T38" fmla="*/ 2147483647 w 16"/>
              <a:gd name="T39" fmla="*/ 0 h 17"/>
              <a:gd name="T40" fmla="*/ 2147483647 w 16"/>
              <a:gd name="T41" fmla="*/ 0 h 17"/>
              <a:gd name="T42" fmla="*/ 2147483647 w 16"/>
              <a:gd name="T43" fmla="*/ 0 h 17"/>
              <a:gd name="T44" fmla="*/ 2147483647 w 16"/>
              <a:gd name="T45" fmla="*/ 0 h 17"/>
              <a:gd name="T46" fmla="*/ 2147483647 w 16"/>
              <a:gd name="T47" fmla="*/ 2147483647 h 17"/>
              <a:gd name="T48" fmla="*/ 2147483647 w 16"/>
              <a:gd name="T49" fmla="*/ 2147483647 h 17"/>
              <a:gd name="T50" fmla="*/ 2147483647 w 16"/>
              <a:gd name="T51" fmla="*/ 2147483647 h 17"/>
              <a:gd name="T52" fmla="*/ 2147483647 w 16"/>
              <a:gd name="T53" fmla="*/ 2147483647 h 17"/>
              <a:gd name="T54" fmla="*/ 2147483647 w 16"/>
              <a:gd name="T55" fmla="*/ 2147483647 h 17"/>
              <a:gd name="T56" fmla="*/ 2147483647 w 16"/>
              <a:gd name="T57" fmla="*/ 2147483647 h 17"/>
              <a:gd name="T58" fmla="*/ 0 w 16"/>
              <a:gd name="T59" fmla="*/ 2147483647 h 17"/>
              <a:gd name="T60" fmla="*/ 0 w 16"/>
              <a:gd name="T61" fmla="*/ 2147483647 h 17"/>
              <a:gd name="T62" fmla="*/ 0 w 16"/>
              <a:gd name="T63" fmla="*/ 2147483647 h 17"/>
              <a:gd name="T64" fmla="*/ 2147483647 w 16"/>
              <a:gd name="T65" fmla="*/ 2147483647 h 17"/>
              <a:gd name="T66" fmla="*/ 2147483647 w 16"/>
              <a:gd name="T67" fmla="*/ 2147483647 h 17"/>
              <a:gd name="T68" fmla="*/ 2147483647 w 16"/>
              <a:gd name="T69" fmla="*/ 2147483647 h 17"/>
              <a:gd name="T70" fmla="*/ 2147483647 w 16"/>
              <a:gd name="T71" fmla="*/ 2147483647 h 17"/>
              <a:gd name="T72" fmla="*/ 2147483647 w 16"/>
              <a:gd name="T73" fmla="*/ 2147483647 h 17"/>
              <a:gd name="T74" fmla="*/ 2147483647 w 16"/>
              <a:gd name="T75" fmla="*/ 2147483647 h 17"/>
              <a:gd name="T76" fmla="*/ 2147483647 w 16"/>
              <a:gd name="T77" fmla="*/ 2147483647 h 17"/>
              <a:gd name="T78" fmla="*/ 2147483647 w 16"/>
              <a:gd name="T79" fmla="*/ 2147483647 h 17"/>
              <a:gd name="T80" fmla="*/ 2147483647 w 16"/>
              <a:gd name="T81" fmla="*/ 2147483647 h 17"/>
              <a:gd name="T82" fmla="*/ 2147483647 w 16"/>
              <a:gd name="T83" fmla="*/ 2147483647 h 17"/>
              <a:gd name="T84" fmla="*/ 2147483647 w 16"/>
              <a:gd name="T85" fmla="*/ 2147483647 h 1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"/>
              <a:gd name="T130" fmla="*/ 0 h 17"/>
              <a:gd name="T131" fmla="*/ 16 w 16"/>
              <a:gd name="T132" fmla="*/ 17 h 1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" h="17">
                <a:moveTo>
                  <a:pt x="7" y="14"/>
                </a:moveTo>
                <a:lnTo>
                  <a:pt x="9" y="17"/>
                </a:lnTo>
                <a:lnTo>
                  <a:pt x="9" y="14"/>
                </a:lnTo>
                <a:lnTo>
                  <a:pt x="11" y="14"/>
                </a:lnTo>
                <a:lnTo>
                  <a:pt x="14" y="14"/>
                </a:lnTo>
                <a:lnTo>
                  <a:pt x="14" y="12"/>
                </a:lnTo>
                <a:lnTo>
                  <a:pt x="14" y="10"/>
                </a:lnTo>
                <a:lnTo>
                  <a:pt x="16" y="10"/>
                </a:lnTo>
                <a:lnTo>
                  <a:pt x="16" y="7"/>
                </a:lnTo>
                <a:lnTo>
                  <a:pt x="14" y="5"/>
                </a:lnTo>
                <a:lnTo>
                  <a:pt x="14" y="3"/>
                </a:lnTo>
                <a:lnTo>
                  <a:pt x="11" y="3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7"/>
                </a:lnTo>
                <a:lnTo>
                  <a:pt x="0" y="10"/>
                </a:lnTo>
                <a:lnTo>
                  <a:pt x="2" y="10"/>
                </a:lnTo>
                <a:lnTo>
                  <a:pt x="2" y="12"/>
                </a:lnTo>
                <a:lnTo>
                  <a:pt x="2" y="14"/>
                </a:lnTo>
                <a:lnTo>
                  <a:pt x="4" y="14"/>
                </a:lnTo>
                <a:lnTo>
                  <a:pt x="7" y="17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2" name="Freeform 185"/>
          <p:cNvSpPr>
            <a:spLocks/>
          </p:cNvSpPr>
          <p:nvPr/>
        </p:nvSpPr>
        <p:spPr bwMode="auto">
          <a:xfrm>
            <a:off x="3802063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2147483647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2147483647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9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2" y="2"/>
                </a:lnTo>
                <a:lnTo>
                  <a:pt x="12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3" name="Freeform 186"/>
          <p:cNvSpPr>
            <a:spLocks/>
          </p:cNvSpPr>
          <p:nvPr/>
        </p:nvSpPr>
        <p:spPr bwMode="auto">
          <a:xfrm>
            <a:off x="3879850" y="5418138"/>
            <a:ext cx="20638" cy="22225"/>
          </a:xfrm>
          <a:custGeom>
            <a:avLst/>
            <a:gdLst>
              <a:gd name="T0" fmla="*/ 2147483647 w 13"/>
              <a:gd name="T1" fmla="*/ 2147483647 h 14"/>
              <a:gd name="T2" fmla="*/ 2147483647 w 13"/>
              <a:gd name="T3" fmla="*/ 2147483647 h 14"/>
              <a:gd name="T4" fmla="*/ 2147483647 w 13"/>
              <a:gd name="T5" fmla="*/ 2147483647 h 14"/>
              <a:gd name="T6" fmla="*/ 2147483647 w 13"/>
              <a:gd name="T7" fmla="*/ 2147483647 h 14"/>
              <a:gd name="T8" fmla="*/ 2147483647 w 13"/>
              <a:gd name="T9" fmla="*/ 2147483647 h 14"/>
              <a:gd name="T10" fmla="*/ 2147483647 w 13"/>
              <a:gd name="T11" fmla="*/ 2147483647 h 14"/>
              <a:gd name="T12" fmla="*/ 2147483647 w 13"/>
              <a:gd name="T13" fmla="*/ 2147483647 h 14"/>
              <a:gd name="T14" fmla="*/ 2147483647 w 13"/>
              <a:gd name="T15" fmla="*/ 2147483647 h 14"/>
              <a:gd name="T16" fmla="*/ 2147483647 w 13"/>
              <a:gd name="T17" fmla="*/ 2147483647 h 14"/>
              <a:gd name="T18" fmla="*/ 2147483647 w 13"/>
              <a:gd name="T19" fmla="*/ 2147483647 h 14"/>
              <a:gd name="T20" fmla="*/ 2147483647 w 13"/>
              <a:gd name="T21" fmla="*/ 2147483647 h 14"/>
              <a:gd name="T22" fmla="*/ 2147483647 w 13"/>
              <a:gd name="T23" fmla="*/ 2147483647 h 14"/>
              <a:gd name="T24" fmla="*/ 2147483647 w 13"/>
              <a:gd name="T25" fmla="*/ 2147483647 h 14"/>
              <a:gd name="T26" fmla="*/ 2147483647 w 13"/>
              <a:gd name="T27" fmla="*/ 2147483647 h 14"/>
              <a:gd name="T28" fmla="*/ 2147483647 w 13"/>
              <a:gd name="T29" fmla="*/ 2147483647 h 14"/>
              <a:gd name="T30" fmla="*/ 2147483647 w 13"/>
              <a:gd name="T31" fmla="*/ 2147483647 h 14"/>
              <a:gd name="T32" fmla="*/ 2147483647 w 13"/>
              <a:gd name="T33" fmla="*/ 0 h 14"/>
              <a:gd name="T34" fmla="*/ 2147483647 w 13"/>
              <a:gd name="T35" fmla="*/ 0 h 14"/>
              <a:gd name="T36" fmla="*/ 2147483647 w 13"/>
              <a:gd name="T37" fmla="*/ 0 h 14"/>
              <a:gd name="T38" fmla="*/ 2147483647 w 13"/>
              <a:gd name="T39" fmla="*/ 0 h 14"/>
              <a:gd name="T40" fmla="*/ 2147483647 w 13"/>
              <a:gd name="T41" fmla="*/ 0 h 14"/>
              <a:gd name="T42" fmla="*/ 2147483647 w 13"/>
              <a:gd name="T43" fmla="*/ 0 h 14"/>
              <a:gd name="T44" fmla="*/ 2147483647 w 13"/>
              <a:gd name="T45" fmla="*/ 0 h 14"/>
              <a:gd name="T46" fmla="*/ 2147483647 w 13"/>
              <a:gd name="T47" fmla="*/ 0 h 14"/>
              <a:gd name="T48" fmla="*/ 2147483647 w 13"/>
              <a:gd name="T49" fmla="*/ 0 h 14"/>
              <a:gd name="T50" fmla="*/ 2147483647 w 13"/>
              <a:gd name="T51" fmla="*/ 2147483647 h 14"/>
              <a:gd name="T52" fmla="*/ 2147483647 w 13"/>
              <a:gd name="T53" fmla="*/ 2147483647 h 14"/>
              <a:gd name="T54" fmla="*/ 0 w 13"/>
              <a:gd name="T55" fmla="*/ 2147483647 h 14"/>
              <a:gd name="T56" fmla="*/ 0 w 13"/>
              <a:gd name="T57" fmla="*/ 2147483647 h 14"/>
              <a:gd name="T58" fmla="*/ 0 w 13"/>
              <a:gd name="T59" fmla="*/ 2147483647 h 14"/>
              <a:gd name="T60" fmla="*/ 0 w 13"/>
              <a:gd name="T61" fmla="*/ 2147483647 h 14"/>
              <a:gd name="T62" fmla="*/ 0 w 13"/>
              <a:gd name="T63" fmla="*/ 2147483647 h 14"/>
              <a:gd name="T64" fmla="*/ 0 w 13"/>
              <a:gd name="T65" fmla="*/ 2147483647 h 14"/>
              <a:gd name="T66" fmla="*/ 0 w 13"/>
              <a:gd name="T67" fmla="*/ 2147483647 h 14"/>
              <a:gd name="T68" fmla="*/ 2147483647 w 13"/>
              <a:gd name="T69" fmla="*/ 2147483647 h 14"/>
              <a:gd name="T70" fmla="*/ 2147483647 w 13"/>
              <a:gd name="T71" fmla="*/ 2147483647 h 14"/>
              <a:gd name="T72" fmla="*/ 2147483647 w 13"/>
              <a:gd name="T73" fmla="*/ 2147483647 h 14"/>
              <a:gd name="T74" fmla="*/ 2147483647 w 13"/>
              <a:gd name="T75" fmla="*/ 2147483647 h 14"/>
              <a:gd name="T76" fmla="*/ 2147483647 w 13"/>
              <a:gd name="T77" fmla="*/ 2147483647 h 14"/>
              <a:gd name="T78" fmla="*/ 2147483647 w 13"/>
              <a:gd name="T79" fmla="*/ 2147483647 h 14"/>
              <a:gd name="T80" fmla="*/ 2147483647 w 13"/>
              <a:gd name="T81" fmla="*/ 2147483647 h 14"/>
              <a:gd name="T82" fmla="*/ 2147483647 w 13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3"/>
              <a:gd name="T127" fmla="*/ 0 h 14"/>
              <a:gd name="T128" fmla="*/ 13 w 13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3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3" y="7"/>
                </a:lnTo>
                <a:lnTo>
                  <a:pt x="13" y="4"/>
                </a:lnTo>
                <a:lnTo>
                  <a:pt x="13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4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4" name="Freeform 187"/>
          <p:cNvSpPr>
            <a:spLocks/>
          </p:cNvSpPr>
          <p:nvPr/>
        </p:nvSpPr>
        <p:spPr bwMode="auto">
          <a:xfrm>
            <a:off x="3725863" y="5418138"/>
            <a:ext cx="25400" cy="22225"/>
          </a:xfrm>
          <a:custGeom>
            <a:avLst/>
            <a:gdLst>
              <a:gd name="T0" fmla="*/ 2147483647 w 16"/>
              <a:gd name="T1" fmla="*/ 2147483647 h 14"/>
              <a:gd name="T2" fmla="*/ 2147483647 w 16"/>
              <a:gd name="T3" fmla="*/ 2147483647 h 14"/>
              <a:gd name="T4" fmla="*/ 2147483647 w 16"/>
              <a:gd name="T5" fmla="*/ 2147483647 h 14"/>
              <a:gd name="T6" fmla="*/ 2147483647 w 16"/>
              <a:gd name="T7" fmla="*/ 2147483647 h 14"/>
              <a:gd name="T8" fmla="*/ 2147483647 w 16"/>
              <a:gd name="T9" fmla="*/ 2147483647 h 14"/>
              <a:gd name="T10" fmla="*/ 2147483647 w 16"/>
              <a:gd name="T11" fmla="*/ 2147483647 h 14"/>
              <a:gd name="T12" fmla="*/ 2147483647 w 16"/>
              <a:gd name="T13" fmla="*/ 2147483647 h 14"/>
              <a:gd name="T14" fmla="*/ 2147483647 w 16"/>
              <a:gd name="T15" fmla="*/ 2147483647 h 14"/>
              <a:gd name="T16" fmla="*/ 2147483647 w 16"/>
              <a:gd name="T17" fmla="*/ 2147483647 h 14"/>
              <a:gd name="T18" fmla="*/ 2147483647 w 16"/>
              <a:gd name="T19" fmla="*/ 2147483647 h 14"/>
              <a:gd name="T20" fmla="*/ 2147483647 w 16"/>
              <a:gd name="T21" fmla="*/ 2147483647 h 14"/>
              <a:gd name="T22" fmla="*/ 2147483647 w 16"/>
              <a:gd name="T23" fmla="*/ 2147483647 h 14"/>
              <a:gd name="T24" fmla="*/ 2147483647 w 16"/>
              <a:gd name="T25" fmla="*/ 2147483647 h 14"/>
              <a:gd name="T26" fmla="*/ 2147483647 w 16"/>
              <a:gd name="T27" fmla="*/ 2147483647 h 14"/>
              <a:gd name="T28" fmla="*/ 2147483647 w 16"/>
              <a:gd name="T29" fmla="*/ 2147483647 h 14"/>
              <a:gd name="T30" fmla="*/ 2147483647 w 16"/>
              <a:gd name="T31" fmla="*/ 2147483647 h 14"/>
              <a:gd name="T32" fmla="*/ 2147483647 w 16"/>
              <a:gd name="T33" fmla="*/ 0 h 14"/>
              <a:gd name="T34" fmla="*/ 2147483647 w 16"/>
              <a:gd name="T35" fmla="*/ 0 h 14"/>
              <a:gd name="T36" fmla="*/ 2147483647 w 16"/>
              <a:gd name="T37" fmla="*/ 0 h 14"/>
              <a:gd name="T38" fmla="*/ 2147483647 w 16"/>
              <a:gd name="T39" fmla="*/ 0 h 14"/>
              <a:gd name="T40" fmla="*/ 2147483647 w 16"/>
              <a:gd name="T41" fmla="*/ 0 h 14"/>
              <a:gd name="T42" fmla="*/ 2147483647 w 16"/>
              <a:gd name="T43" fmla="*/ 0 h 14"/>
              <a:gd name="T44" fmla="*/ 2147483647 w 16"/>
              <a:gd name="T45" fmla="*/ 0 h 14"/>
              <a:gd name="T46" fmla="*/ 2147483647 w 16"/>
              <a:gd name="T47" fmla="*/ 0 h 14"/>
              <a:gd name="T48" fmla="*/ 2147483647 w 16"/>
              <a:gd name="T49" fmla="*/ 0 h 14"/>
              <a:gd name="T50" fmla="*/ 2147483647 w 16"/>
              <a:gd name="T51" fmla="*/ 2147483647 h 14"/>
              <a:gd name="T52" fmla="*/ 2147483647 w 16"/>
              <a:gd name="T53" fmla="*/ 2147483647 h 14"/>
              <a:gd name="T54" fmla="*/ 2147483647 w 16"/>
              <a:gd name="T55" fmla="*/ 2147483647 h 14"/>
              <a:gd name="T56" fmla="*/ 0 w 16"/>
              <a:gd name="T57" fmla="*/ 2147483647 h 14"/>
              <a:gd name="T58" fmla="*/ 0 w 16"/>
              <a:gd name="T59" fmla="*/ 2147483647 h 14"/>
              <a:gd name="T60" fmla="*/ 0 w 16"/>
              <a:gd name="T61" fmla="*/ 2147483647 h 14"/>
              <a:gd name="T62" fmla="*/ 0 w 16"/>
              <a:gd name="T63" fmla="*/ 2147483647 h 14"/>
              <a:gd name="T64" fmla="*/ 0 w 16"/>
              <a:gd name="T65" fmla="*/ 2147483647 h 14"/>
              <a:gd name="T66" fmla="*/ 2147483647 w 16"/>
              <a:gd name="T67" fmla="*/ 2147483647 h 14"/>
              <a:gd name="T68" fmla="*/ 2147483647 w 16"/>
              <a:gd name="T69" fmla="*/ 2147483647 h 14"/>
              <a:gd name="T70" fmla="*/ 2147483647 w 16"/>
              <a:gd name="T71" fmla="*/ 2147483647 h 14"/>
              <a:gd name="T72" fmla="*/ 2147483647 w 16"/>
              <a:gd name="T73" fmla="*/ 2147483647 h 14"/>
              <a:gd name="T74" fmla="*/ 2147483647 w 16"/>
              <a:gd name="T75" fmla="*/ 2147483647 h 14"/>
              <a:gd name="T76" fmla="*/ 2147483647 w 16"/>
              <a:gd name="T77" fmla="*/ 2147483647 h 14"/>
              <a:gd name="T78" fmla="*/ 2147483647 w 16"/>
              <a:gd name="T79" fmla="*/ 2147483647 h 14"/>
              <a:gd name="T80" fmla="*/ 2147483647 w 16"/>
              <a:gd name="T81" fmla="*/ 2147483647 h 14"/>
              <a:gd name="T82" fmla="*/ 2147483647 w 16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6"/>
              <a:gd name="T127" fmla="*/ 0 h 14"/>
              <a:gd name="T128" fmla="*/ 16 w 16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6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6" y="7"/>
                </a:lnTo>
                <a:lnTo>
                  <a:pt x="16" y="4"/>
                </a:lnTo>
                <a:lnTo>
                  <a:pt x="13" y="4"/>
                </a:lnTo>
                <a:lnTo>
                  <a:pt x="13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9"/>
                </a:lnTo>
                <a:lnTo>
                  <a:pt x="2" y="11"/>
                </a:lnTo>
                <a:lnTo>
                  <a:pt x="4" y="11"/>
                </a:lnTo>
                <a:lnTo>
                  <a:pt x="4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5" name="Freeform 188"/>
          <p:cNvSpPr>
            <a:spLocks/>
          </p:cNvSpPr>
          <p:nvPr/>
        </p:nvSpPr>
        <p:spPr bwMode="auto">
          <a:xfrm>
            <a:off x="4025900" y="5418138"/>
            <a:ext cx="25400" cy="22225"/>
          </a:xfrm>
          <a:custGeom>
            <a:avLst/>
            <a:gdLst>
              <a:gd name="T0" fmla="*/ 2147483647 w 16"/>
              <a:gd name="T1" fmla="*/ 2147483647 h 14"/>
              <a:gd name="T2" fmla="*/ 2147483647 w 16"/>
              <a:gd name="T3" fmla="*/ 2147483647 h 14"/>
              <a:gd name="T4" fmla="*/ 2147483647 w 16"/>
              <a:gd name="T5" fmla="*/ 2147483647 h 14"/>
              <a:gd name="T6" fmla="*/ 2147483647 w 16"/>
              <a:gd name="T7" fmla="*/ 2147483647 h 14"/>
              <a:gd name="T8" fmla="*/ 2147483647 w 16"/>
              <a:gd name="T9" fmla="*/ 2147483647 h 14"/>
              <a:gd name="T10" fmla="*/ 2147483647 w 16"/>
              <a:gd name="T11" fmla="*/ 2147483647 h 14"/>
              <a:gd name="T12" fmla="*/ 2147483647 w 16"/>
              <a:gd name="T13" fmla="*/ 2147483647 h 14"/>
              <a:gd name="T14" fmla="*/ 2147483647 w 16"/>
              <a:gd name="T15" fmla="*/ 2147483647 h 14"/>
              <a:gd name="T16" fmla="*/ 2147483647 w 16"/>
              <a:gd name="T17" fmla="*/ 2147483647 h 14"/>
              <a:gd name="T18" fmla="*/ 2147483647 w 16"/>
              <a:gd name="T19" fmla="*/ 2147483647 h 14"/>
              <a:gd name="T20" fmla="*/ 2147483647 w 16"/>
              <a:gd name="T21" fmla="*/ 2147483647 h 14"/>
              <a:gd name="T22" fmla="*/ 2147483647 w 16"/>
              <a:gd name="T23" fmla="*/ 2147483647 h 14"/>
              <a:gd name="T24" fmla="*/ 2147483647 w 16"/>
              <a:gd name="T25" fmla="*/ 2147483647 h 14"/>
              <a:gd name="T26" fmla="*/ 2147483647 w 16"/>
              <a:gd name="T27" fmla="*/ 2147483647 h 14"/>
              <a:gd name="T28" fmla="*/ 2147483647 w 16"/>
              <a:gd name="T29" fmla="*/ 2147483647 h 14"/>
              <a:gd name="T30" fmla="*/ 2147483647 w 16"/>
              <a:gd name="T31" fmla="*/ 2147483647 h 14"/>
              <a:gd name="T32" fmla="*/ 2147483647 w 16"/>
              <a:gd name="T33" fmla="*/ 0 h 14"/>
              <a:gd name="T34" fmla="*/ 2147483647 w 16"/>
              <a:gd name="T35" fmla="*/ 0 h 14"/>
              <a:gd name="T36" fmla="*/ 2147483647 w 16"/>
              <a:gd name="T37" fmla="*/ 0 h 14"/>
              <a:gd name="T38" fmla="*/ 2147483647 w 16"/>
              <a:gd name="T39" fmla="*/ 0 h 14"/>
              <a:gd name="T40" fmla="*/ 2147483647 w 16"/>
              <a:gd name="T41" fmla="*/ 0 h 14"/>
              <a:gd name="T42" fmla="*/ 2147483647 w 16"/>
              <a:gd name="T43" fmla="*/ 0 h 14"/>
              <a:gd name="T44" fmla="*/ 2147483647 w 16"/>
              <a:gd name="T45" fmla="*/ 0 h 14"/>
              <a:gd name="T46" fmla="*/ 2147483647 w 16"/>
              <a:gd name="T47" fmla="*/ 0 h 14"/>
              <a:gd name="T48" fmla="*/ 2147483647 w 16"/>
              <a:gd name="T49" fmla="*/ 0 h 14"/>
              <a:gd name="T50" fmla="*/ 2147483647 w 16"/>
              <a:gd name="T51" fmla="*/ 2147483647 h 14"/>
              <a:gd name="T52" fmla="*/ 2147483647 w 16"/>
              <a:gd name="T53" fmla="*/ 2147483647 h 14"/>
              <a:gd name="T54" fmla="*/ 2147483647 w 16"/>
              <a:gd name="T55" fmla="*/ 2147483647 h 14"/>
              <a:gd name="T56" fmla="*/ 0 w 16"/>
              <a:gd name="T57" fmla="*/ 2147483647 h 14"/>
              <a:gd name="T58" fmla="*/ 0 w 16"/>
              <a:gd name="T59" fmla="*/ 2147483647 h 14"/>
              <a:gd name="T60" fmla="*/ 0 w 16"/>
              <a:gd name="T61" fmla="*/ 2147483647 h 14"/>
              <a:gd name="T62" fmla="*/ 0 w 16"/>
              <a:gd name="T63" fmla="*/ 2147483647 h 14"/>
              <a:gd name="T64" fmla="*/ 0 w 16"/>
              <a:gd name="T65" fmla="*/ 2147483647 h 14"/>
              <a:gd name="T66" fmla="*/ 2147483647 w 16"/>
              <a:gd name="T67" fmla="*/ 2147483647 h 14"/>
              <a:gd name="T68" fmla="*/ 2147483647 w 16"/>
              <a:gd name="T69" fmla="*/ 2147483647 h 14"/>
              <a:gd name="T70" fmla="*/ 2147483647 w 16"/>
              <a:gd name="T71" fmla="*/ 2147483647 h 14"/>
              <a:gd name="T72" fmla="*/ 2147483647 w 16"/>
              <a:gd name="T73" fmla="*/ 2147483647 h 14"/>
              <a:gd name="T74" fmla="*/ 2147483647 w 16"/>
              <a:gd name="T75" fmla="*/ 2147483647 h 14"/>
              <a:gd name="T76" fmla="*/ 2147483647 w 16"/>
              <a:gd name="T77" fmla="*/ 2147483647 h 14"/>
              <a:gd name="T78" fmla="*/ 2147483647 w 16"/>
              <a:gd name="T79" fmla="*/ 2147483647 h 14"/>
              <a:gd name="T80" fmla="*/ 2147483647 w 16"/>
              <a:gd name="T81" fmla="*/ 2147483647 h 14"/>
              <a:gd name="T82" fmla="*/ 2147483647 w 16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6"/>
              <a:gd name="T127" fmla="*/ 0 h 14"/>
              <a:gd name="T128" fmla="*/ 16 w 16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6" h="14">
                <a:moveTo>
                  <a:pt x="7" y="14"/>
                </a:moveTo>
                <a:lnTo>
                  <a:pt x="9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6" y="7"/>
                </a:lnTo>
                <a:lnTo>
                  <a:pt x="14" y="4"/>
                </a:lnTo>
                <a:lnTo>
                  <a:pt x="14" y="2"/>
                </a:lnTo>
                <a:lnTo>
                  <a:pt x="12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9"/>
                </a:lnTo>
                <a:lnTo>
                  <a:pt x="2" y="11"/>
                </a:lnTo>
                <a:lnTo>
                  <a:pt x="5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6" name="Freeform 189"/>
          <p:cNvSpPr>
            <a:spLocks/>
          </p:cNvSpPr>
          <p:nvPr/>
        </p:nvSpPr>
        <p:spPr bwMode="auto">
          <a:xfrm>
            <a:off x="4102100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2147483647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2147483647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10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2" y="2"/>
                </a:lnTo>
                <a:lnTo>
                  <a:pt x="12" y="0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3" y="0"/>
                </a:lnTo>
                <a:lnTo>
                  <a:pt x="3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3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7" name="Freeform 190"/>
          <p:cNvSpPr>
            <a:spLocks/>
          </p:cNvSpPr>
          <p:nvPr/>
        </p:nvSpPr>
        <p:spPr bwMode="auto">
          <a:xfrm>
            <a:off x="3948113" y="5418138"/>
            <a:ext cx="26987" cy="22225"/>
          </a:xfrm>
          <a:custGeom>
            <a:avLst/>
            <a:gdLst>
              <a:gd name="T0" fmla="*/ 2147483647 w 17"/>
              <a:gd name="T1" fmla="*/ 2147483647 h 14"/>
              <a:gd name="T2" fmla="*/ 2147483647 w 17"/>
              <a:gd name="T3" fmla="*/ 2147483647 h 14"/>
              <a:gd name="T4" fmla="*/ 2147483647 w 17"/>
              <a:gd name="T5" fmla="*/ 2147483647 h 14"/>
              <a:gd name="T6" fmla="*/ 2147483647 w 17"/>
              <a:gd name="T7" fmla="*/ 2147483647 h 14"/>
              <a:gd name="T8" fmla="*/ 2147483647 w 17"/>
              <a:gd name="T9" fmla="*/ 2147483647 h 14"/>
              <a:gd name="T10" fmla="*/ 2147483647 w 17"/>
              <a:gd name="T11" fmla="*/ 2147483647 h 14"/>
              <a:gd name="T12" fmla="*/ 2147483647 w 17"/>
              <a:gd name="T13" fmla="*/ 2147483647 h 14"/>
              <a:gd name="T14" fmla="*/ 2147483647 w 17"/>
              <a:gd name="T15" fmla="*/ 2147483647 h 14"/>
              <a:gd name="T16" fmla="*/ 2147483647 w 17"/>
              <a:gd name="T17" fmla="*/ 2147483647 h 14"/>
              <a:gd name="T18" fmla="*/ 2147483647 w 17"/>
              <a:gd name="T19" fmla="*/ 2147483647 h 14"/>
              <a:gd name="T20" fmla="*/ 2147483647 w 17"/>
              <a:gd name="T21" fmla="*/ 2147483647 h 14"/>
              <a:gd name="T22" fmla="*/ 2147483647 w 17"/>
              <a:gd name="T23" fmla="*/ 2147483647 h 14"/>
              <a:gd name="T24" fmla="*/ 2147483647 w 17"/>
              <a:gd name="T25" fmla="*/ 2147483647 h 14"/>
              <a:gd name="T26" fmla="*/ 2147483647 w 17"/>
              <a:gd name="T27" fmla="*/ 2147483647 h 14"/>
              <a:gd name="T28" fmla="*/ 2147483647 w 17"/>
              <a:gd name="T29" fmla="*/ 2147483647 h 14"/>
              <a:gd name="T30" fmla="*/ 2147483647 w 17"/>
              <a:gd name="T31" fmla="*/ 2147483647 h 14"/>
              <a:gd name="T32" fmla="*/ 2147483647 w 17"/>
              <a:gd name="T33" fmla="*/ 0 h 14"/>
              <a:gd name="T34" fmla="*/ 2147483647 w 17"/>
              <a:gd name="T35" fmla="*/ 0 h 14"/>
              <a:gd name="T36" fmla="*/ 2147483647 w 17"/>
              <a:gd name="T37" fmla="*/ 0 h 14"/>
              <a:gd name="T38" fmla="*/ 2147483647 w 17"/>
              <a:gd name="T39" fmla="*/ 0 h 14"/>
              <a:gd name="T40" fmla="*/ 2147483647 w 17"/>
              <a:gd name="T41" fmla="*/ 0 h 14"/>
              <a:gd name="T42" fmla="*/ 2147483647 w 17"/>
              <a:gd name="T43" fmla="*/ 0 h 14"/>
              <a:gd name="T44" fmla="*/ 2147483647 w 17"/>
              <a:gd name="T45" fmla="*/ 0 h 14"/>
              <a:gd name="T46" fmla="*/ 2147483647 w 17"/>
              <a:gd name="T47" fmla="*/ 0 h 14"/>
              <a:gd name="T48" fmla="*/ 2147483647 w 17"/>
              <a:gd name="T49" fmla="*/ 0 h 14"/>
              <a:gd name="T50" fmla="*/ 2147483647 w 17"/>
              <a:gd name="T51" fmla="*/ 2147483647 h 14"/>
              <a:gd name="T52" fmla="*/ 2147483647 w 17"/>
              <a:gd name="T53" fmla="*/ 2147483647 h 14"/>
              <a:gd name="T54" fmla="*/ 2147483647 w 17"/>
              <a:gd name="T55" fmla="*/ 2147483647 h 14"/>
              <a:gd name="T56" fmla="*/ 2147483647 w 17"/>
              <a:gd name="T57" fmla="*/ 2147483647 h 14"/>
              <a:gd name="T58" fmla="*/ 0 w 17"/>
              <a:gd name="T59" fmla="*/ 2147483647 h 14"/>
              <a:gd name="T60" fmla="*/ 0 w 17"/>
              <a:gd name="T61" fmla="*/ 2147483647 h 14"/>
              <a:gd name="T62" fmla="*/ 0 w 17"/>
              <a:gd name="T63" fmla="*/ 2147483647 h 14"/>
              <a:gd name="T64" fmla="*/ 2147483647 w 17"/>
              <a:gd name="T65" fmla="*/ 2147483647 h 14"/>
              <a:gd name="T66" fmla="*/ 2147483647 w 17"/>
              <a:gd name="T67" fmla="*/ 2147483647 h 14"/>
              <a:gd name="T68" fmla="*/ 2147483647 w 17"/>
              <a:gd name="T69" fmla="*/ 2147483647 h 14"/>
              <a:gd name="T70" fmla="*/ 2147483647 w 17"/>
              <a:gd name="T71" fmla="*/ 2147483647 h 14"/>
              <a:gd name="T72" fmla="*/ 2147483647 w 17"/>
              <a:gd name="T73" fmla="*/ 2147483647 h 14"/>
              <a:gd name="T74" fmla="*/ 2147483647 w 17"/>
              <a:gd name="T75" fmla="*/ 2147483647 h 14"/>
              <a:gd name="T76" fmla="*/ 2147483647 w 17"/>
              <a:gd name="T77" fmla="*/ 2147483647 h 14"/>
              <a:gd name="T78" fmla="*/ 2147483647 w 17"/>
              <a:gd name="T79" fmla="*/ 2147483647 h 14"/>
              <a:gd name="T80" fmla="*/ 2147483647 w 17"/>
              <a:gd name="T81" fmla="*/ 2147483647 h 14"/>
              <a:gd name="T82" fmla="*/ 2147483647 w 17"/>
              <a:gd name="T83" fmla="*/ 2147483647 h 14"/>
              <a:gd name="T84" fmla="*/ 2147483647 w 17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7"/>
              <a:gd name="T130" fmla="*/ 0 h 14"/>
              <a:gd name="T131" fmla="*/ 17 w 17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7" h="14">
                <a:moveTo>
                  <a:pt x="7" y="14"/>
                </a:moveTo>
                <a:lnTo>
                  <a:pt x="10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7" y="9"/>
                </a:lnTo>
                <a:lnTo>
                  <a:pt x="17" y="7"/>
                </a:lnTo>
                <a:lnTo>
                  <a:pt x="17" y="4"/>
                </a:lnTo>
                <a:lnTo>
                  <a:pt x="14" y="2"/>
                </a:lnTo>
                <a:lnTo>
                  <a:pt x="12" y="0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  <a:lnTo>
                  <a:pt x="0" y="7"/>
                </a:lnTo>
                <a:lnTo>
                  <a:pt x="3" y="9"/>
                </a:lnTo>
                <a:lnTo>
                  <a:pt x="3" y="11"/>
                </a:lnTo>
                <a:lnTo>
                  <a:pt x="5" y="11"/>
                </a:lnTo>
                <a:lnTo>
                  <a:pt x="5" y="14"/>
                </a:lnTo>
                <a:lnTo>
                  <a:pt x="7" y="14"/>
                </a:lnTo>
                <a:lnTo>
                  <a:pt x="10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8" name="Freeform 191"/>
          <p:cNvSpPr>
            <a:spLocks/>
          </p:cNvSpPr>
          <p:nvPr/>
        </p:nvSpPr>
        <p:spPr bwMode="auto">
          <a:xfrm>
            <a:off x="4256088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0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0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2147483647 w 14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4"/>
              <a:gd name="T131" fmla="*/ 14 w 14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4">
                <a:moveTo>
                  <a:pt x="5" y="14"/>
                </a:moveTo>
                <a:lnTo>
                  <a:pt x="7" y="14"/>
                </a:lnTo>
                <a:lnTo>
                  <a:pt x="10" y="14"/>
                </a:lnTo>
                <a:lnTo>
                  <a:pt x="12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2" y="2"/>
                </a:lnTo>
                <a:lnTo>
                  <a:pt x="12" y="0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3" y="0"/>
                </a:lnTo>
                <a:lnTo>
                  <a:pt x="3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3" y="11"/>
                </a:lnTo>
                <a:lnTo>
                  <a:pt x="3" y="14"/>
                </a:lnTo>
                <a:lnTo>
                  <a:pt x="5" y="14"/>
                </a:lnTo>
                <a:lnTo>
                  <a:pt x="7" y="14"/>
                </a:lnTo>
                <a:lnTo>
                  <a:pt x="5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39" name="Freeform 192"/>
          <p:cNvSpPr>
            <a:spLocks/>
          </p:cNvSpPr>
          <p:nvPr/>
        </p:nvSpPr>
        <p:spPr bwMode="auto">
          <a:xfrm>
            <a:off x="4333875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0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0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2147483647 w 14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4"/>
              <a:gd name="T131" fmla="*/ 14 w 14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4">
                <a:moveTo>
                  <a:pt x="5" y="14"/>
                </a:moveTo>
                <a:lnTo>
                  <a:pt x="7" y="14"/>
                </a:lnTo>
                <a:lnTo>
                  <a:pt x="9" y="14"/>
                </a:lnTo>
                <a:lnTo>
                  <a:pt x="11" y="11"/>
                </a:lnTo>
                <a:lnTo>
                  <a:pt x="11" y="9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2" y="11"/>
                </a:lnTo>
                <a:lnTo>
                  <a:pt x="2" y="14"/>
                </a:lnTo>
                <a:lnTo>
                  <a:pt x="5" y="14"/>
                </a:lnTo>
                <a:lnTo>
                  <a:pt x="7" y="14"/>
                </a:lnTo>
                <a:lnTo>
                  <a:pt x="5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40" name="Freeform 193"/>
          <p:cNvSpPr>
            <a:spLocks/>
          </p:cNvSpPr>
          <p:nvPr/>
        </p:nvSpPr>
        <p:spPr bwMode="auto">
          <a:xfrm>
            <a:off x="4179888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2147483647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2147483647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9" y="14"/>
                </a:lnTo>
                <a:lnTo>
                  <a:pt x="11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41" name="Freeform 194"/>
          <p:cNvSpPr>
            <a:spLocks/>
          </p:cNvSpPr>
          <p:nvPr/>
        </p:nvSpPr>
        <p:spPr bwMode="auto">
          <a:xfrm>
            <a:off x="4479925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0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0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9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2" y="2"/>
                </a:lnTo>
                <a:lnTo>
                  <a:pt x="12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3" y="0"/>
                </a:lnTo>
                <a:lnTo>
                  <a:pt x="3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3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42" name="Freeform 195"/>
          <p:cNvSpPr>
            <a:spLocks/>
          </p:cNvSpPr>
          <p:nvPr/>
        </p:nvSpPr>
        <p:spPr bwMode="auto">
          <a:xfrm>
            <a:off x="4557713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0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0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2147483647 w 14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4"/>
              <a:gd name="T131" fmla="*/ 14 w 14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4">
                <a:moveTo>
                  <a:pt x="4" y="14"/>
                </a:moveTo>
                <a:lnTo>
                  <a:pt x="7" y="14"/>
                </a:lnTo>
                <a:lnTo>
                  <a:pt x="9" y="14"/>
                </a:lnTo>
                <a:lnTo>
                  <a:pt x="11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2" y="11"/>
                </a:lnTo>
                <a:lnTo>
                  <a:pt x="2" y="14"/>
                </a:lnTo>
                <a:lnTo>
                  <a:pt x="4" y="14"/>
                </a:lnTo>
                <a:lnTo>
                  <a:pt x="7" y="14"/>
                </a:lnTo>
                <a:lnTo>
                  <a:pt x="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43" name="Freeform 196"/>
          <p:cNvSpPr>
            <a:spLocks/>
          </p:cNvSpPr>
          <p:nvPr/>
        </p:nvSpPr>
        <p:spPr bwMode="auto">
          <a:xfrm>
            <a:off x="4403725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2147483647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2147483647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4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44" name="Freeform 197"/>
          <p:cNvSpPr>
            <a:spLocks/>
          </p:cNvSpPr>
          <p:nvPr/>
        </p:nvSpPr>
        <p:spPr bwMode="auto">
          <a:xfrm>
            <a:off x="4703763" y="5418138"/>
            <a:ext cx="25400" cy="22225"/>
          </a:xfrm>
          <a:custGeom>
            <a:avLst/>
            <a:gdLst>
              <a:gd name="T0" fmla="*/ 2147483647 w 16"/>
              <a:gd name="T1" fmla="*/ 2147483647 h 14"/>
              <a:gd name="T2" fmla="*/ 2147483647 w 16"/>
              <a:gd name="T3" fmla="*/ 2147483647 h 14"/>
              <a:gd name="T4" fmla="*/ 2147483647 w 16"/>
              <a:gd name="T5" fmla="*/ 2147483647 h 14"/>
              <a:gd name="T6" fmla="*/ 2147483647 w 16"/>
              <a:gd name="T7" fmla="*/ 2147483647 h 14"/>
              <a:gd name="T8" fmla="*/ 2147483647 w 16"/>
              <a:gd name="T9" fmla="*/ 2147483647 h 14"/>
              <a:gd name="T10" fmla="*/ 2147483647 w 16"/>
              <a:gd name="T11" fmla="*/ 2147483647 h 14"/>
              <a:gd name="T12" fmla="*/ 2147483647 w 16"/>
              <a:gd name="T13" fmla="*/ 2147483647 h 14"/>
              <a:gd name="T14" fmla="*/ 2147483647 w 16"/>
              <a:gd name="T15" fmla="*/ 2147483647 h 14"/>
              <a:gd name="T16" fmla="*/ 2147483647 w 16"/>
              <a:gd name="T17" fmla="*/ 2147483647 h 14"/>
              <a:gd name="T18" fmla="*/ 2147483647 w 16"/>
              <a:gd name="T19" fmla="*/ 2147483647 h 14"/>
              <a:gd name="T20" fmla="*/ 2147483647 w 16"/>
              <a:gd name="T21" fmla="*/ 2147483647 h 14"/>
              <a:gd name="T22" fmla="*/ 2147483647 w 16"/>
              <a:gd name="T23" fmla="*/ 2147483647 h 14"/>
              <a:gd name="T24" fmla="*/ 2147483647 w 16"/>
              <a:gd name="T25" fmla="*/ 2147483647 h 14"/>
              <a:gd name="T26" fmla="*/ 2147483647 w 16"/>
              <a:gd name="T27" fmla="*/ 2147483647 h 14"/>
              <a:gd name="T28" fmla="*/ 2147483647 w 16"/>
              <a:gd name="T29" fmla="*/ 2147483647 h 14"/>
              <a:gd name="T30" fmla="*/ 2147483647 w 16"/>
              <a:gd name="T31" fmla="*/ 2147483647 h 14"/>
              <a:gd name="T32" fmla="*/ 2147483647 w 16"/>
              <a:gd name="T33" fmla="*/ 0 h 14"/>
              <a:gd name="T34" fmla="*/ 2147483647 w 16"/>
              <a:gd name="T35" fmla="*/ 0 h 14"/>
              <a:gd name="T36" fmla="*/ 2147483647 w 16"/>
              <a:gd name="T37" fmla="*/ 0 h 14"/>
              <a:gd name="T38" fmla="*/ 2147483647 w 16"/>
              <a:gd name="T39" fmla="*/ 0 h 14"/>
              <a:gd name="T40" fmla="*/ 2147483647 w 16"/>
              <a:gd name="T41" fmla="*/ 0 h 14"/>
              <a:gd name="T42" fmla="*/ 2147483647 w 16"/>
              <a:gd name="T43" fmla="*/ 0 h 14"/>
              <a:gd name="T44" fmla="*/ 2147483647 w 16"/>
              <a:gd name="T45" fmla="*/ 0 h 14"/>
              <a:gd name="T46" fmla="*/ 2147483647 w 16"/>
              <a:gd name="T47" fmla="*/ 0 h 14"/>
              <a:gd name="T48" fmla="*/ 2147483647 w 16"/>
              <a:gd name="T49" fmla="*/ 0 h 14"/>
              <a:gd name="T50" fmla="*/ 2147483647 w 16"/>
              <a:gd name="T51" fmla="*/ 2147483647 h 14"/>
              <a:gd name="T52" fmla="*/ 2147483647 w 16"/>
              <a:gd name="T53" fmla="*/ 2147483647 h 14"/>
              <a:gd name="T54" fmla="*/ 2147483647 w 16"/>
              <a:gd name="T55" fmla="*/ 2147483647 h 14"/>
              <a:gd name="T56" fmla="*/ 0 w 16"/>
              <a:gd name="T57" fmla="*/ 2147483647 h 14"/>
              <a:gd name="T58" fmla="*/ 0 w 16"/>
              <a:gd name="T59" fmla="*/ 2147483647 h 14"/>
              <a:gd name="T60" fmla="*/ 0 w 16"/>
              <a:gd name="T61" fmla="*/ 2147483647 h 14"/>
              <a:gd name="T62" fmla="*/ 0 w 16"/>
              <a:gd name="T63" fmla="*/ 2147483647 h 14"/>
              <a:gd name="T64" fmla="*/ 0 w 16"/>
              <a:gd name="T65" fmla="*/ 2147483647 h 14"/>
              <a:gd name="T66" fmla="*/ 2147483647 w 16"/>
              <a:gd name="T67" fmla="*/ 2147483647 h 14"/>
              <a:gd name="T68" fmla="*/ 2147483647 w 16"/>
              <a:gd name="T69" fmla="*/ 2147483647 h 14"/>
              <a:gd name="T70" fmla="*/ 2147483647 w 16"/>
              <a:gd name="T71" fmla="*/ 2147483647 h 14"/>
              <a:gd name="T72" fmla="*/ 2147483647 w 16"/>
              <a:gd name="T73" fmla="*/ 2147483647 h 14"/>
              <a:gd name="T74" fmla="*/ 2147483647 w 16"/>
              <a:gd name="T75" fmla="*/ 2147483647 h 14"/>
              <a:gd name="T76" fmla="*/ 2147483647 w 16"/>
              <a:gd name="T77" fmla="*/ 2147483647 h 14"/>
              <a:gd name="T78" fmla="*/ 2147483647 w 16"/>
              <a:gd name="T79" fmla="*/ 2147483647 h 14"/>
              <a:gd name="T80" fmla="*/ 2147483647 w 16"/>
              <a:gd name="T81" fmla="*/ 2147483647 h 14"/>
              <a:gd name="T82" fmla="*/ 2147483647 w 16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6"/>
              <a:gd name="T127" fmla="*/ 0 h 14"/>
              <a:gd name="T128" fmla="*/ 16 w 16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6" h="14">
                <a:moveTo>
                  <a:pt x="7" y="14"/>
                </a:moveTo>
                <a:lnTo>
                  <a:pt x="9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6" y="7"/>
                </a:lnTo>
                <a:lnTo>
                  <a:pt x="16" y="4"/>
                </a:lnTo>
                <a:lnTo>
                  <a:pt x="14" y="4"/>
                </a:lnTo>
                <a:lnTo>
                  <a:pt x="14" y="2"/>
                </a:lnTo>
                <a:lnTo>
                  <a:pt x="12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9"/>
                </a:lnTo>
                <a:lnTo>
                  <a:pt x="2" y="11"/>
                </a:lnTo>
                <a:lnTo>
                  <a:pt x="5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45" name="Freeform 198"/>
          <p:cNvSpPr>
            <a:spLocks/>
          </p:cNvSpPr>
          <p:nvPr/>
        </p:nvSpPr>
        <p:spPr bwMode="auto">
          <a:xfrm>
            <a:off x="4781550" y="5418138"/>
            <a:ext cx="20638" cy="22225"/>
          </a:xfrm>
          <a:custGeom>
            <a:avLst/>
            <a:gdLst>
              <a:gd name="T0" fmla="*/ 2147483647 w 13"/>
              <a:gd name="T1" fmla="*/ 2147483647 h 14"/>
              <a:gd name="T2" fmla="*/ 2147483647 w 13"/>
              <a:gd name="T3" fmla="*/ 2147483647 h 14"/>
              <a:gd name="T4" fmla="*/ 2147483647 w 13"/>
              <a:gd name="T5" fmla="*/ 2147483647 h 14"/>
              <a:gd name="T6" fmla="*/ 2147483647 w 13"/>
              <a:gd name="T7" fmla="*/ 2147483647 h 14"/>
              <a:gd name="T8" fmla="*/ 2147483647 w 13"/>
              <a:gd name="T9" fmla="*/ 2147483647 h 14"/>
              <a:gd name="T10" fmla="*/ 2147483647 w 13"/>
              <a:gd name="T11" fmla="*/ 2147483647 h 14"/>
              <a:gd name="T12" fmla="*/ 2147483647 w 13"/>
              <a:gd name="T13" fmla="*/ 2147483647 h 14"/>
              <a:gd name="T14" fmla="*/ 2147483647 w 13"/>
              <a:gd name="T15" fmla="*/ 2147483647 h 14"/>
              <a:gd name="T16" fmla="*/ 2147483647 w 13"/>
              <a:gd name="T17" fmla="*/ 2147483647 h 14"/>
              <a:gd name="T18" fmla="*/ 2147483647 w 13"/>
              <a:gd name="T19" fmla="*/ 2147483647 h 14"/>
              <a:gd name="T20" fmla="*/ 2147483647 w 13"/>
              <a:gd name="T21" fmla="*/ 2147483647 h 14"/>
              <a:gd name="T22" fmla="*/ 2147483647 w 13"/>
              <a:gd name="T23" fmla="*/ 2147483647 h 14"/>
              <a:gd name="T24" fmla="*/ 2147483647 w 13"/>
              <a:gd name="T25" fmla="*/ 2147483647 h 14"/>
              <a:gd name="T26" fmla="*/ 2147483647 w 13"/>
              <a:gd name="T27" fmla="*/ 2147483647 h 14"/>
              <a:gd name="T28" fmla="*/ 2147483647 w 13"/>
              <a:gd name="T29" fmla="*/ 2147483647 h 14"/>
              <a:gd name="T30" fmla="*/ 2147483647 w 13"/>
              <a:gd name="T31" fmla="*/ 2147483647 h 14"/>
              <a:gd name="T32" fmla="*/ 2147483647 w 13"/>
              <a:gd name="T33" fmla="*/ 0 h 14"/>
              <a:gd name="T34" fmla="*/ 2147483647 w 13"/>
              <a:gd name="T35" fmla="*/ 0 h 14"/>
              <a:gd name="T36" fmla="*/ 2147483647 w 13"/>
              <a:gd name="T37" fmla="*/ 0 h 14"/>
              <a:gd name="T38" fmla="*/ 2147483647 w 13"/>
              <a:gd name="T39" fmla="*/ 0 h 14"/>
              <a:gd name="T40" fmla="*/ 2147483647 w 13"/>
              <a:gd name="T41" fmla="*/ 0 h 14"/>
              <a:gd name="T42" fmla="*/ 2147483647 w 13"/>
              <a:gd name="T43" fmla="*/ 0 h 14"/>
              <a:gd name="T44" fmla="*/ 2147483647 w 13"/>
              <a:gd name="T45" fmla="*/ 0 h 14"/>
              <a:gd name="T46" fmla="*/ 2147483647 w 13"/>
              <a:gd name="T47" fmla="*/ 0 h 14"/>
              <a:gd name="T48" fmla="*/ 2147483647 w 13"/>
              <a:gd name="T49" fmla="*/ 0 h 14"/>
              <a:gd name="T50" fmla="*/ 2147483647 w 13"/>
              <a:gd name="T51" fmla="*/ 2147483647 h 14"/>
              <a:gd name="T52" fmla="*/ 2147483647 w 13"/>
              <a:gd name="T53" fmla="*/ 2147483647 h 14"/>
              <a:gd name="T54" fmla="*/ 2147483647 w 13"/>
              <a:gd name="T55" fmla="*/ 2147483647 h 14"/>
              <a:gd name="T56" fmla="*/ 0 w 13"/>
              <a:gd name="T57" fmla="*/ 2147483647 h 14"/>
              <a:gd name="T58" fmla="*/ 0 w 13"/>
              <a:gd name="T59" fmla="*/ 2147483647 h 14"/>
              <a:gd name="T60" fmla="*/ 0 w 13"/>
              <a:gd name="T61" fmla="*/ 2147483647 h 14"/>
              <a:gd name="T62" fmla="*/ 0 w 13"/>
              <a:gd name="T63" fmla="*/ 2147483647 h 14"/>
              <a:gd name="T64" fmla="*/ 0 w 13"/>
              <a:gd name="T65" fmla="*/ 2147483647 h 14"/>
              <a:gd name="T66" fmla="*/ 2147483647 w 13"/>
              <a:gd name="T67" fmla="*/ 2147483647 h 14"/>
              <a:gd name="T68" fmla="*/ 2147483647 w 13"/>
              <a:gd name="T69" fmla="*/ 2147483647 h 14"/>
              <a:gd name="T70" fmla="*/ 2147483647 w 13"/>
              <a:gd name="T71" fmla="*/ 2147483647 h 14"/>
              <a:gd name="T72" fmla="*/ 2147483647 w 13"/>
              <a:gd name="T73" fmla="*/ 2147483647 h 14"/>
              <a:gd name="T74" fmla="*/ 2147483647 w 13"/>
              <a:gd name="T75" fmla="*/ 2147483647 h 14"/>
              <a:gd name="T76" fmla="*/ 2147483647 w 13"/>
              <a:gd name="T77" fmla="*/ 2147483647 h 14"/>
              <a:gd name="T78" fmla="*/ 2147483647 w 13"/>
              <a:gd name="T79" fmla="*/ 2147483647 h 14"/>
              <a:gd name="T80" fmla="*/ 2147483647 w 13"/>
              <a:gd name="T81" fmla="*/ 2147483647 h 14"/>
              <a:gd name="T82" fmla="*/ 2147483647 w 13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3"/>
              <a:gd name="T127" fmla="*/ 0 h 14"/>
              <a:gd name="T128" fmla="*/ 13 w 13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3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3" y="7"/>
                </a:lnTo>
                <a:lnTo>
                  <a:pt x="13" y="4"/>
                </a:lnTo>
                <a:lnTo>
                  <a:pt x="13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9"/>
                </a:lnTo>
                <a:lnTo>
                  <a:pt x="2" y="11"/>
                </a:lnTo>
                <a:lnTo>
                  <a:pt x="4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46" name="Freeform 199"/>
          <p:cNvSpPr>
            <a:spLocks/>
          </p:cNvSpPr>
          <p:nvPr/>
        </p:nvSpPr>
        <p:spPr bwMode="auto">
          <a:xfrm>
            <a:off x="4627563" y="5418138"/>
            <a:ext cx="25400" cy="22225"/>
          </a:xfrm>
          <a:custGeom>
            <a:avLst/>
            <a:gdLst>
              <a:gd name="T0" fmla="*/ 2147483647 w 16"/>
              <a:gd name="T1" fmla="*/ 2147483647 h 14"/>
              <a:gd name="T2" fmla="*/ 2147483647 w 16"/>
              <a:gd name="T3" fmla="*/ 2147483647 h 14"/>
              <a:gd name="T4" fmla="*/ 2147483647 w 16"/>
              <a:gd name="T5" fmla="*/ 2147483647 h 14"/>
              <a:gd name="T6" fmla="*/ 2147483647 w 16"/>
              <a:gd name="T7" fmla="*/ 2147483647 h 14"/>
              <a:gd name="T8" fmla="*/ 2147483647 w 16"/>
              <a:gd name="T9" fmla="*/ 2147483647 h 14"/>
              <a:gd name="T10" fmla="*/ 2147483647 w 16"/>
              <a:gd name="T11" fmla="*/ 2147483647 h 14"/>
              <a:gd name="T12" fmla="*/ 2147483647 w 16"/>
              <a:gd name="T13" fmla="*/ 2147483647 h 14"/>
              <a:gd name="T14" fmla="*/ 2147483647 w 16"/>
              <a:gd name="T15" fmla="*/ 2147483647 h 14"/>
              <a:gd name="T16" fmla="*/ 2147483647 w 16"/>
              <a:gd name="T17" fmla="*/ 2147483647 h 14"/>
              <a:gd name="T18" fmla="*/ 2147483647 w 16"/>
              <a:gd name="T19" fmla="*/ 2147483647 h 14"/>
              <a:gd name="T20" fmla="*/ 2147483647 w 16"/>
              <a:gd name="T21" fmla="*/ 2147483647 h 14"/>
              <a:gd name="T22" fmla="*/ 2147483647 w 16"/>
              <a:gd name="T23" fmla="*/ 2147483647 h 14"/>
              <a:gd name="T24" fmla="*/ 2147483647 w 16"/>
              <a:gd name="T25" fmla="*/ 2147483647 h 14"/>
              <a:gd name="T26" fmla="*/ 2147483647 w 16"/>
              <a:gd name="T27" fmla="*/ 2147483647 h 14"/>
              <a:gd name="T28" fmla="*/ 2147483647 w 16"/>
              <a:gd name="T29" fmla="*/ 2147483647 h 14"/>
              <a:gd name="T30" fmla="*/ 2147483647 w 16"/>
              <a:gd name="T31" fmla="*/ 2147483647 h 14"/>
              <a:gd name="T32" fmla="*/ 2147483647 w 16"/>
              <a:gd name="T33" fmla="*/ 0 h 14"/>
              <a:gd name="T34" fmla="*/ 2147483647 w 16"/>
              <a:gd name="T35" fmla="*/ 0 h 14"/>
              <a:gd name="T36" fmla="*/ 2147483647 w 16"/>
              <a:gd name="T37" fmla="*/ 0 h 14"/>
              <a:gd name="T38" fmla="*/ 2147483647 w 16"/>
              <a:gd name="T39" fmla="*/ 0 h 14"/>
              <a:gd name="T40" fmla="*/ 2147483647 w 16"/>
              <a:gd name="T41" fmla="*/ 0 h 14"/>
              <a:gd name="T42" fmla="*/ 2147483647 w 16"/>
              <a:gd name="T43" fmla="*/ 0 h 14"/>
              <a:gd name="T44" fmla="*/ 2147483647 w 16"/>
              <a:gd name="T45" fmla="*/ 0 h 14"/>
              <a:gd name="T46" fmla="*/ 2147483647 w 16"/>
              <a:gd name="T47" fmla="*/ 0 h 14"/>
              <a:gd name="T48" fmla="*/ 2147483647 w 16"/>
              <a:gd name="T49" fmla="*/ 0 h 14"/>
              <a:gd name="T50" fmla="*/ 2147483647 w 16"/>
              <a:gd name="T51" fmla="*/ 2147483647 h 14"/>
              <a:gd name="T52" fmla="*/ 2147483647 w 16"/>
              <a:gd name="T53" fmla="*/ 2147483647 h 14"/>
              <a:gd name="T54" fmla="*/ 2147483647 w 16"/>
              <a:gd name="T55" fmla="*/ 2147483647 h 14"/>
              <a:gd name="T56" fmla="*/ 2147483647 w 16"/>
              <a:gd name="T57" fmla="*/ 2147483647 h 14"/>
              <a:gd name="T58" fmla="*/ 2147483647 w 16"/>
              <a:gd name="T59" fmla="*/ 2147483647 h 14"/>
              <a:gd name="T60" fmla="*/ 0 w 16"/>
              <a:gd name="T61" fmla="*/ 2147483647 h 14"/>
              <a:gd name="T62" fmla="*/ 2147483647 w 16"/>
              <a:gd name="T63" fmla="*/ 2147483647 h 14"/>
              <a:gd name="T64" fmla="*/ 2147483647 w 16"/>
              <a:gd name="T65" fmla="*/ 2147483647 h 14"/>
              <a:gd name="T66" fmla="*/ 2147483647 w 16"/>
              <a:gd name="T67" fmla="*/ 2147483647 h 14"/>
              <a:gd name="T68" fmla="*/ 2147483647 w 16"/>
              <a:gd name="T69" fmla="*/ 2147483647 h 14"/>
              <a:gd name="T70" fmla="*/ 2147483647 w 16"/>
              <a:gd name="T71" fmla="*/ 2147483647 h 14"/>
              <a:gd name="T72" fmla="*/ 2147483647 w 16"/>
              <a:gd name="T73" fmla="*/ 2147483647 h 14"/>
              <a:gd name="T74" fmla="*/ 2147483647 w 16"/>
              <a:gd name="T75" fmla="*/ 2147483647 h 14"/>
              <a:gd name="T76" fmla="*/ 2147483647 w 16"/>
              <a:gd name="T77" fmla="*/ 2147483647 h 14"/>
              <a:gd name="T78" fmla="*/ 2147483647 w 16"/>
              <a:gd name="T79" fmla="*/ 2147483647 h 14"/>
              <a:gd name="T80" fmla="*/ 2147483647 w 16"/>
              <a:gd name="T81" fmla="*/ 2147483647 h 14"/>
              <a:gd name="T82" fmla="*/ 2147483647 w 16"/>
              <a:gd name="T83" fmla="*/ 2147483647 h 14"/>
              <a:gd name="T84" fmla="*/ 2147483647 w 16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"/>
              <a:gd name="T130" fmla="*/ 0 h 14"/>
              <a:gd name="T131" fmla="*/ 16 w 16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6" y="9"/>
                </a:lnTo>
                <a:lnTo>
                  <a:pt x="16" y="7"/>
                </a:lnTo>
                <a:lnTo>
                  <a:pt x="16" y="4"/>
                </a:lnTo>
                <a:lnTo>
                  <a:pt x="13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2"/>
                </a:lnTo>
                <a:lnTo>
                  <a:pt x="2" y="4"/>
                </a:lnTo>
                <a:lnTo>
                  <a:pt x="0" y="7"/>
                </a:lnTo>
                <a:lnTo>
                  <a:pt x="2" y="7"/>
                </a:lnTo>
                <a:lnTo>
                  <a:pt x="2" y="9"/>
                </a:lnTo>
                <a:lnTo>
                  <a:pt x="2" y="11"/>
                </a:lnTo>
                <a:lnTo>
                  <a:pt x="4" y="11"/>
                </a:lnTo>
                <a:lnTo>
                  <a:pt x="4" y="14"/>
                </a:lnTo>
                <a:lnTo>
                  <a:pt x="7" y="14"/>
                </a:lnTo>
                <a:lnTo>
                  <a:pt x="9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3" name="Group 2"/>
          <p:cNvGrpSpPr/>
          <p:nvPr/>
        </p:nvGrpSpPr>
        <p:grpSpPr>
          <a:xfrm>
            <a:off x="7007819" y="5416704"/>
            <a:ext cx="392113" cy="22225"/>
            <a:chOff x="1386292" y="3069331"/>
            <a:chExt cx="392113" cy="22225"/>
          </a:xfrm>
        </p:grpSpPr>
        <p:sp>
          <p:nvSpPr>
            <p:cNvPr id="27847" name="Freeform 200"/>
            <p:cNvSpPr>
              <a:spLocks/>
            </p:cNvSpPr>
            <p:nvPr/>
          </p:nvSpPr>
          <p:spPr bwMode="auto">
            <a:xfrm>
              <a:off x="1464080" y="3069331"/>
              <a:ext cx="22225" cy="22225"/>
            </a:xfrm>
            <a:custGeom>
              <a:avLst/>
              <a:gdLst>
                <a:gd name="T0" fmla="*/ 2147483647 w 14"/>
                <a:gd name="T1" fmla="*/ 2147483647 h 14"/>
                <a:gd name="T2" fmla="*/ 2147483647 w 14"/>
                <a:gd name="T3" fmla="*/ 2147483647 h 14"/>
                <a:gd name="T4" fmla="*/ 2147483647 w 14"/>
                <a:gd name="T5" fmla="*/ 2147483647 h 14"/>
                <a:gd name="T6" fmla="*/ 2147483647 w 14"/>
                <a:gd name="T7" fmla="*/ 2147483647 h 14"/>
                <a:gd name="T8" fmla="*/ 2147483647 w 14"/>
                <a:gd name="T9" fmla="*/ 2147483647 h 14"/>
                <a:gd name="T10" fmla="*/ 2147483647 w 14"/>
                <a:gd name="T11" fmla="*/ 2147483647 h 14"/>
                <a:gd name="T12" fmla="*/ 2147483647 w 14"/>
                <a:gd name="T13" fmla="*/ 2147483647 h 14"/>
                <a:gd name="T14" fmla="*/ 2147483647 w 14"/>
                <a:gd name="T15" fmla="*/ 2147483647 h 14"/>
                <a:gd name="T16" fmla="*/ 2147483647 w 14"/>
                <a:gd name="T17" fmla="*/ 2147483647 h 14"/>
                <a:gd name="T18" fmla="*/ 2147483647 w 14"/>
                <a:gd name="T19" fmla="*/ 2147483647 h 14"/>
                <a:gd name="T20" fmla="*/ 2147483647 w 14"/>
                <a:gd name="T21" fmla="*/ 2147483647 h 14"/>
                <a:gd name="T22" fmla="*/ 2147483647 w 14"/>
                <a:gd name="T23" fmla="*/ 2147483647 h 14"/>
                <a:gd name="T24" fmla="*/ 2147483647 w 14"/>
                <a:gd name="T25" fmla="*/ 2147483647 h 14"/>
                <a:gd name="T26" fmla="*/ 2147483647 w 14"/>
                <a:gd name="T27" fmla="*/ 2147483647 h 14"/>
                <a:gd name="T28" fmla="*/ 2147483647 w 14"/>
                <a:gd name="T29" fmla="*/ 2147483647 h 14"/>
                <a:gd name="T30" fmla="*/ 2147483647 w 14"/>
                <a:gd name="T31" fmla="*/ 2147483647 h 14"/>
                <a:gd name="T32" fmla="*/ 2147483647 w 14"/>
                <a:gd name="T33" fmla="*/ 0 h 14"/>
                <a:gd name="T34" fmla="*/ 2147483647 w 14"/>
                <a:gd name="T35" fmla="*/ 0 h 14"/>
                <a:gd name="T36" fmla="*/ 2147483647 w 14"/>
                <a:gd name="T37" fmla="*/ 0 h 14"/>
                <a:gd name="T38" fmla="*/ 2147483647 w 14"/>
                <a:gd name="T39" fmla="*/ 0 h 14"/>
                <a:gd name="T40" fmla="*/ 2147483647 w 14"/>
                <a:gd name="T41" fmla="*/ 0 h 14"/>
                <a:gd name="T42" fmla="*/ 2147483647 w 14"/>
                <a:gd name="T43" fmla="*/ 0 h 14"/>
                <a:gd name="T44" fmla="*/ 2147483647 w 14"/>
                <a:gd name="T45" fmla="*/ 0 h 14"/>
                <a:gd name="T46" fmla="*/ 2147483647 w 14"/>
                <a:gd name="T47" fmla="*/ 0 h 14"/>
                <a:gd name="T48" fmla="*/ 2147483647 w 14"/>
                <a:gd name="T49" fmla="*/ 0 h 14"/>
                <a:gd name="T50" fmla="*/ 2147483647 w 14"/>
                <a:gd name="T51" fmla="*/ 2147483647 h 14"/>
                <a:gd name="T52" fmla="*/ 2147483647 w 14"/>
                <a:gd name="T53" fmla="*/ 2147483647 h 14"/>
                <a:gd name="T54" fmla="*/ 2147483647 w 14"/>
                <a:gd name="T55" fmla="*/ 2147483647 h 14"/>
                <a:gd name="T56" fmla="*/ 0 w 14"/>
                <a:gd name="T57" fmla="*/ 2147483647 h 14"/>
                <a:gd name="T58" fmla="*/ 0 w 14"/>
                <a:gd name="T59" fmla="*/ 2147483647 h 14"/>
                <a:gd name="T60" fmla="*/ 0 w 14"/>
                <a:gd name="T61" fmla="*/ 2147483647 h 14"/>
                <a:gd name="T62" fmla="*/ 0 w 14"/>
                <a:gd name="T63" fmla="*/ 2147483647 h 14"/>
                <a:gd name="T64" fmla="*/ 0 w 14"/>
                <a:gd name="T65" fmla="*/ 2147483647 h 14"/>
                <a:gd name="T66" fmla="*/ 2147483647 w 14"/>
                <a:gd name="T67" fmla="*/ 2147483647 h 14"/>
                <a:gd name="T68" fmla="*/ 2147483647 w 14"/>
                <a:gd name="T69" fmla="*/ 2147483647 h 14"/>
                <a:gd name="T70" fmla="*/ 2147483647 w 14"/>
                <a:gd name="T71" fmla="*/ 2147483647 h 14"/>
                <a:gd name="T72" fmla="*/ 2147483647 w 14"/>
                <a:gd name="T73" fmla="*/ 2147483647 h 14"/>
                <a:gd name="T74" fmla="*/ 2147483647 w 14"/>
                <a:gd name="T75" fmla="*/ 2147483647 h 14"/>
                <a:gd name="T76" fmla="*/ 2147483647 w 14"/>
                <a:gd name="T77" fmla="*/ 2147483647 h 14"/>
                <a:gd name="T78" fmla="*/ 2147483647 w 14"/>
                <a:gd name="T79" fmla="*/ 2147483647 h 14"/>
                <a:gd name="T80" fmla="*/ 2147483647 w 14"/>
                <a:gd name="T81" fmla="*/ 2147483647 h 14"/>
                <a:gd name="T82" fmla="*/ 2147483647 w 14"/>
                <a:gd name="T83" fmla="*/ 2147483647 h 1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4"/>
                <a:gd name="T127" fmla="*/ 0 h 14"/>
                <a:gd name="T128" fmla="*/ 14 w 14"/>
                <a:gd name="T129" fmla="*/ 14 h 1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4" h="14">
                  <a:moveTo>
                    <a:pt x="7" y="14"/>
                  </a:moveTo>
                  <a:lnTo>
                    <a:pt x="9" y="14"/>
                  </a:lnTo>
                  <a:lnTo>
                    <a:pt x="11" y="14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14" y="9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1"/>
                  </a:lnTo>
                  <a:lnTo>
                    <a:pt x="5" y="14"/>
                  </a:lnTo>
                  <a:lnTo>
                    <a:pt x="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848" name="Freeform 201"/>
            <p:cNvSpPr>
              <a:spLocks/>
            </p:cNvSpPr>
            <p:nvPr/>
          </p:nvSpPr>
          <p:spPr bwMode="auto">
            <a:xfrm>
              <a:off x="1386292" y="3069331"/>
              <a:ext cx="26988" cy="22225"/>
            </a:xfrm>
            <a:custGeom>
              <a:avLst/>
              <a:gdLst>
                <a:gd name="T0" fmla="*/ 2147483647 w 17"/>
                <a:gd name="T1" fmla="*/ 2147483647 h 14"/>
                <a:gd name="T2" fmla="*/ 2147483647 w 17"/>
                <a:gd name="T3" fmla="*/ 2147483647 h 14"/>
                <a:gd name="T4" fmla="*/ 2147483647 w 17"/>
                <a:gd name="T5" fmla="*/ 2147483647 h 14"/>
                <a:gd name="T6" fmla="*/ 2147483647 w 17"/>
                <a:gd name="T7" fmla="*/ 2147483647 h 14"/>
                <a:gd name="T8" fmla="*/ 2147483647 w 17"/>
                <a:gd name="T9" fmla="*/ 2147483647 h 14"/>
                <a:gd name="T10" fmla="*/ 2147483647 w 17"/>
                <a:gd name="T11" fmla="*/ 2147483647 h 14"/>
                <a:gd name="T12" fmla="*/ 2147483647 w 17"/>
                <a:gd name="T13" fmla="*/ 2147483647 h 14"/>
                <a:gd name="T14" fmla="*/ 2147483647 w 17"/>
                <a:gd name="T15" fmla="*/ 2147483647 h 14"/>
                <a:gd name="T16" fmla="*/ 2147483647 w 17"/>
                <a:gd name="T17" fmla="*/ 2147483647 h 14"/>
                <a:gd name="T18" fmla="*/ 2147483647 w 17"/>
                <a:gd name="T19" fmla="*/ 2147483647 h 14"/>
                <a:gd name="T20" fmla="*/ 2147483647 w 17"/>
                <a:gd name="T21" fmla="*/ 2147483647 h 14"/>
                <a:gd name="T22" fmla="*/ 2147483647 w 17"/>
                <a:gd name="T23" fmla="*/ 2147483647 h 14"/>
                <a:gd name="T24" fmla="*/ 2147483647 w 17"/>
                <a:gd name="T25" fmla="*/ 2147483647 h 14"/>
                <a:gd name="T26" fmla="*/ 2147483647 w 17"/>
                <a:gd name="T27" fmla="*/ 2147483647 h 14"/>
                <a:gd name="T28" fmla="*/ 2147483647 w 17"/>
                <a:gd name="T29" fmla="*/ 2147483647 h 14"/>
                <a:gd name="T30" fmla="*/ 2147483647 w 17"/>
                <a:gd name="T31" fmla="*/ 2147483647 h 14"/>
                <a:gd name="T32" fmla="*/ 2147483647 w 17"/>
                <a:gd name="T33" fmla="*/ 0 h 14"/>
                <a:gd name="T34" fmla="*/ 2147483647 w 17"/>
                <a:gd name="T35" fmla="*/ 0 h 14"/>
                <a:gd name="T36" fmla="*/ 2147483647 w 17"/>
                <a:gd name="T37" fmla="*/ 0 h 14"/>
                <a:gd name="T38" fmla="*/ 2147483647 w 17"/>
                <a:gd name="T39" fmla="*/ 0 h 14"/>
                <a:gd name="T40" fmla="*/ 2147483647 w 17"/>
                <a:gd name="T41" fmla="*/ 0 h 14"/>
                <a:gd name="T42" fmla="*/ 2147483647 w 17"/>
                <a:gd name="T43" fmla="*/ 0 h 14"/>
                <a:gd name="T44" fmla="*/ 2147483647 w 17"/>
                <a:gd name="T45" fmla="*/ 0 h 14"/>
                <a:gd name="T46" fmla="*/ 2147483647 w 17"/>
                <a:gd name="T47" fmla="*/ 0 h 14"/>
                <a:gd name="T48" fmla="*/ 2147483647 w 17"/>
                <a:gd name="T49" fmla="*/ 0 h 14"/>
                <a:gd name="T50" fmla="*/ 2147483647 w 17"/>
                <a:gd name="T51" fmla="*/ 2147483647 h 14"/>
                <a:gd name="T52" fmla="*/ 2147483647 w 17"/>
                <a:gd name="T53" fmla="*/ 2147483647 h 14"/>
                <a:gd name="T54" fmla="*/ 2147483647 w 17"/>
                <a:gd name="T55" fmla="*/ 2147483647 h 14"/>
                <a:gd name="T56" fmla="*/ 2147483647 w 17"/>
                <a:gd name="T57" fmla="*/ 2147483647 h 14"/>
                <a:gd name="T58" fmla="*/ 0 w 17"/>
                <a:gd name="T59" fmla="*/ 2147483647 h 14"/>
                <a:gd name="T60" fmla="*/ 0 w 17"/>
                <a:gd name="T61" fmla="*/ 2147483647 h 14"/>
                <a:gd name="T62" fmla="*/ 0 w 17"/>
                <a:gd name="T63" fmla="*/ 2147483647 h 14"/>
                <a:gd name="T64" fmla="*/ 2147483647 w 17"/>
                <a:gd name="T65" fmla="*/ 2147483647 h 14"/>
                <a:gd name="T66" fmla="*/ 2147483647 w 17"/>
                <a:gd name="T67" fmla="*/ 2147483647 h 14"/>
                <a:gd name="T68" fmla="*/ 2147483647 w 17"/>
                <a:gd name="T69" fmla="*/ 2147483647 h 14"/>
                <a:gd name="T70" fmla="*/ 2147483647 w 17"/>
                <a:gd name="T71" fmla="*/ 2147483647 h 14"/>
                <a:gd name="T72" fmla="*/ 2147483647 w 17"/>
                <a:gd name="T73" fmla="*/ 2147483647 h 14"/>
                <a:gd name="T74" fmla="*/ 2147483647 w 17"/>
                <a:gd name="T75" fmla="*/ 2147483647 h 14"/>
                <a:gd name="T76" fmla="*/ 2147483647 w 17"/>
                <a:gd name="T77" fmla="*/ 2147483647 h 14"/>
                <a:gd name="T78" fmla="*/ 2147483647 w 17"/>
                <a:gd name="T79" fmla="*/ 2147483647 h 14"/>
                <a:gd name="T80" fmla="*/ 2147483647 w 17"/>
                <a:gd name="T81" fmla="*/ 2147483647 h 14"/>
                <a:gd name="T82" fmla="*/ 2147483647 w 17"/>
                <a:gd name="T83" fmla="*/ 2147483647 h 1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"/>
                <a:gd name="T127" fmla="*/ 0 h 14"/>
                <a:gd name="T128" fmla="*/ 17 w 17"/>
                <a:gd name="T129" fmla="*/ 14 h 1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" h="14">
                  <a:moveTo>
                    <a:pt x="7" y="14"/>
                  </a:moveTo>
                  <a:lnTo>
                    <a:pt x="10" y="14"/>
                  </a:lnTo>
                  <a:lnTo>
                    <a:pt x="12" y="14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14" y="9"/>
                  </a:lnTo>
                  <a:lnTo>
                    <a:pt x="17" y="7"/>
                  </a:lnTo>
                  <a:lnTo>
                    <a:pt x="17" y="4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4"/>
                  </a:lnTo>
                  <a:lnTo>
                    <a:pt x="0" y="7"/>
                  </a:lnTo>
                  <a:lnTo>
                    <a:pt x="3" y="9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849" name="Freeform 202"/>
            <p:cNvSpPr>
              <a:spLocks/>
            </p:cNvSpPr>
            <p:nvPr/>
          </p:nvSpPr>
          <p:spPr bwMode="auto">
            <a:xfrm>
              <a:off x="1757767" y="3069331"/>
              <a:ext cx="20638" cy="22225"/>
            </a:xfrm>
            <a:custGeom>
              <a:avLst/>
              <a:gdLst>
                <a:gd name="T0" fmla="*/ 2147483647 w 13"/>
                <a:gd name="T1" fmla="*/ 2147483647 h 14"/>
                <a:gd name="T2" fmla="*/ 2147483647 w 13"/>
                <a:gd name="T3" fmla="*/ 2147483647 h 14"/>
                <a:gd name="T4" fmla="*/ 2147483647 w 13"/>
                <a:gd name="T5" fmla="*/ 2147483647 h 14"/>
                <a:gd name="T6" fmla="*/ 2147483647 w 13"/>
                <a:gd name="T7" fmla="*/ 2147483647 h 14"/>
                <a:gd name="T8" fmla="*/ 2147483647 w 13"/>
                <a:gd name="T9" fmla="*/ 2147483647 h 14"/>
                <a:gd name="T10" fmla="*/ 2147483647 w 13"/>
                <a:gd name="T11" fmla="*/ 2147483647 h 14"/>
                <a:gd name="T12" fmla="*/ 2147483647 w 13"/>
                <a:gd name="T13" fmla="*/ 2147483647 h 14"/>
                <a:gd name="T14" fmla="*/ 2147483647 w 13"/>
                <a:gd name="T15" fmla="*/ 2147483647 h 14"/>
                <a:gd name="T16" fmla="*/ 2147483647 w 13"/>
                <a:gd name="T17" fmla="*/ 2147483647 h 14"/>
                <a:gd name="T18" fmla="*/ 2147483647 w 13"/>
                <a:gd name="T19" fmla="*/ 2147483647 h 14"/>
                <a:gd name="T20" fmla="*/ 2147483647 w 13"/>
                <a:gd name="T21" fmla="*/ 2147483647 h 14"/>
                <a:gd name="T22" fmla="*/ 2147483647 w 13"/>
                <a:gd name="T23" fmla="*/ 2147483647 h 14"/>
                <a:gd name="T24" fmla="*/ 2147483647 w 13"/>
                <a:gd name="T25" fmla="*/ 2147483647 h 14"/>
                <a:gd name="T26" fmla="*/ 2147483647 w 13"/>
                <a:gd name="T27" fmla="*/ 2147483647 h 14"/>
                <a:gd name="T28" fmla="*/ 2147483647 w 13"/>
                <a:gd name="T29" fmla="*/ 2147483647 h 14"/>
                <a:gd name="T30" fmla="*/ 2147483647 w 13"/>
                <a:gd name="T31" fmla="*/ 2147483647 h 14"/>
                <a:gd name="T32" fmla="*/ 2147483647 w 13"/>
                <a:gd name="T33" fmla="*/ 0 h 14"/>
                <a:gd name="T34" fmla="*/ 2147483647 w 13"/>
                <a:gd name="T35" fmla="*/ 0 h 14"/>
                <a:gd name="T36" fmla="*/ 2147483647 w 13"/>
                <a:gd name="T37" fmla="*/ 0 h 14"/>
                <a:gd name="T38" fmla="*/ 2147483647 w 13"/>
                <a:gd name="T39" fmla="*/ 0 h 14"/>
                <a:gd name="T40" fmla="*/ 2147483647 w 13"/>
                <a:gd name="T41" fmla="*/ 0 h 14"/>
                <a:gd name="T42" fmla="*/ 2147483647 w 13"/>
                <a:gd name="T43" fmla="*/ 0 h 14"/>
                <a:gd name="T44" fmla="*/ 2147483647 w 13"/>
                <a:gd name="T45" fmla="*/ 0 h 14"/>
                <a:gd name="T46" fmla="*/ 2147483647 w 13"/>
                <a:gd name="T47" fmla="*/ 0 h 14"/>
                <a:gd name="T48" fmla="*/ 2147483647 w 13"/>
                <a:gd name="T49" fmla="*/ 0 h 14"/>
                <a:gd name="T50" fmla="*/ 2147483647 w 13"/>
                <a:gd name="T51" fmla="*/ 2147483647 h 14"/>
                <a:gd name="T52" fmla="*/ 0 w 13"/>
                <a:gd name="T53" fmla="*/ 2147483647 h 14"/>
                <a:gd name="T54" fmla="*/ 0 w 13"/>
                <a:gd name="T55" fmla="*/ 2147483647 h 14"/>
                <a:gd name="T56" fmla="*/ 0 w 13"/>
                <a:gd name="T57" fmla="*/ 2147483647 h 14"/>
                <a:gd name="T58" fmla="*/ 0 w 13"/>
                <a:gd name="T59" fmla="*/ 2147483647 h 14"/>
                <a:gd name="T60" fmla="*/ 0 w 13"/>
                <a:gd name="T61" fmla="*/ 2147483647 h 14"/>
                <a:gd name="T62" fmla="*/ 0 w 13"/>
                <a:gd name="T63" fmla="*/ 2147483647 h 14"/>
                <a:gd name="T64" fmla="*/ 0 w 13"/>
                <a:gd name="T65" fmla="*/ 2147483647 h 14"/>
                <a:gd name="T66" fmla="*/ 0 w 13"/>
                <a:gd name="T67" fmla="*/ 2147483647 h 14"/>
                <a:gd name="T68" fmla="*/ 0 w 13"/>
                <a:gd name="T69" fmla="*/ 2147483647 h 14"/>
                <a:gd name="T70" fmla="*/ 2147483647 w 13"/>
                <a:gd name="T71" fmla="*/ 2147483647 h 14"/>
                <a:gd name="T72" fmla="*/ 2147483647 w 13"/>
                <a:gd name="T73" fmla="*/ 2147483647 h 14"/>
                <a:gd name="T74" fmla="*/ 2147483647 w 13"/>
                <a:gd name="T75" fmla="*/ 2147483647 h 14"/>
                <a:gd name="T76" fmla="*/ 2147483647 w 13"/>
                <a:gd name="T77" fmla="*/ 2147483647 h 14"/>
                <a:gd name="T78" fmla="*/ 2147483647 w 13"/>
                <a:gd name="T79" fmla="*/ 2147483647 h 14"/>
                <a:gd name="T80" fmla="*/ 2147483647 w 13"/>
                <a:gd name="T81" fmla="*/ 2147483647 h 14"/>
                <a:gd name="T82" fmla="*/ 2147483647 w 13"/>
                <a:gd name="T83" fmla="*/ 2147483647 h 14"/>
                <a:gd name="T84" fmla="*/ 2147483647 w 13"/>
                <a:gd name="T85" fmla="*/ 2147483647 h 1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3"/>
                <a:gd name="T130" fmla="*/ 0 h 14"/>
                <a:gd name="T131" fmla="*/ 13 w 13"/>
                <a:gd name="T132" fmla="*/ 14 h 1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3" h="14">
                  <a:moveTo>
                    <a:pt x="4" y="14"/>
                  </a:moveTo>
                  <a:lnTo>
                    <a:pt x="7" y="14"/>
                  </a:lnTo>
                  <a:lnTo>
                    <a:pt x="9" y="14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7"/>
                  </a:lnTo>
                  <a:lnTo>
                    <a:pt x="13" y="4"/>
                  </a:lnTo>
                  <a:lnTo>
                    <a:pt x="13" y="2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4"/>
                  </a:lnTo>
                  <a:lnTo>
                    <a:pt x="4" y="14"/>
                  </a:lnTo>
                  <a:lnTo>
                    <a:pt x="7" y="14"/>
                  </a:lnTo>
                  <a:lnTo>
                    <a:pt x="4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850" name="Freeform 203"/>
            <p:cNvSpPr>
              <a:spLocks/>
            </p:cNvSpPr>
            <p:nvPr/>
          </p:nvSpPr>
          <p:spPr bwMode="auto">
            <a:xfrm>
              <a:off x="1679980" y="3069331"/>
              <a:ext cx="22225" cy="22225"/>
            </a:xfrm>
            <a:custGeom>
              <a:avLst/>
              <a:gdLst>
                <a:gd name="T0" fmla="*/ 2147483647 w 14"/>
                <a:gd name="T1" fmla="*/ 2147483647 h 14"/>
                <a:gd name="T2" fmla="*/ 2147483647 w 14"/>
                <a:gd name="T3" fmla="*/ 2147483647 h 14"/>
                <a:gd name="T4" fmla="*/ 2147483647 w 14"/>
                <a:gd name="T5" fmla="*/ 2147483647 h 14"/>
                <a:gd name="T6" fmla="*/ 2147483647 w 14"/>
                <a:gd name="T7" fmla="*/ 2147483647 h 14"/>
                <a:gd name="T8" fmla="*/ 2147483647 w 14"/>
                <a:gd name="T9" fmla="*/ 2147483647 h 14"/>
                <a:gd name="T10" fmla="*/ 2147483647 w 14"/>
                <a:gd name="T11" fmla="*/ 2147483647 h 14"/>
                <a:gd name="T12" fmla="*/ 2147483647 w 14"/>
                <a:gd name="T13" fmla="*/ 2147483647 h 14"/>
                <a:gd name="T14" fmla="*/ 2147483647 w 14"/>
                <a:gd name="T15" fmla="*/ 2147483647 h 14"/>
                <a:gd name="T16" fmla="*/ 2147483647 w 14"/>
                <a:gd name="T17" fmla="*/ 2147483647 h 14"/>
                <a:gd name="T18" fmla="*/ 2147483647 w 14"/>
                <a:gd name="T19" fmla="*/ 2147483647 h 14"/>
                <a:gd name="T20" fmla="*/ 2147483647 w 14"/>
                <a:gd name="T21" fmla="*/ 2147483647 h 14"/>
                <a:gd name="T22" fmla="*/ 2147483647 w 14"/>
                <a:gd name="T23" fmla="*/ 2147483647 h 14"/>
                <a:gd name="T24" fmla="*/ 2147483647 w 14"/>
                <a:gd name="T25" fmla="*/ 2147483647 h 14"/>
                <a:gd name="T26" fmla="*/ 2147483647 w 14"/>
                <a:gd name="T27" fmla="*/ 2147483647 h 14"/>
                <a:gd name="T28" fmla="*/ 2147483647 w 14"/>
                <a:gd name="T29" fmla="*/ 2147483647 h 14"/>
                <a:gd name="T30" fmla="*/ 2147483647 w 14"/>
                <a:gd name="T31" fmla="*/ 2147483647 h 14"/>
                <a:gd name="T32" fmla="*/ 2147483647 w 14"/>
                <a:gd name="T33" fmla="*/ 0 h 14"/>
                <a:gd name="T34" fmla="*/ 2147483647 w 14"/>
                <a:gd name="T35" fmla="*/ 0 h 14"/>
                <a:gd name="T36" fmla="*/ 2147483647 w 14"/>
                <a:gd name="T37" fmla="*/ 0 h 14"/>
                <a:gd name="T38" fmla="*/ 2147483647 w 14"/>
                <a:gd name="T39" fmla="*/ 0 h 14"/>
                <a:gd name="T40" fmla="*/ 2147483647 w 14"/>
                <a:gd name="T41" fmla="*/ 0 h 14"/>
                <a:gd name="T42" fmla="*/ 2147483647 w 14"/>
                <a:gd name="T43" fmla="*/ 0 h 14"/>
                <a:gd name="T44" fmla="*/ 2147483647 w 14"/>
                <a:gd name="T45" fmla="*/ 0 h 14"/>
                <a:gd name="T46" fmla="*/ 2147483647 w 14"/>
                <a:gd name="T47" fmla="*/ 0 h 14"/>
                <a:gd name="T48" fmla="*/ 2147483647 w 14"/>
                <a:gd name="T49" fmla="*/ 0 h 14"/>
                <a:gd name="T50" fmla="*/ 2147483647 w 14"/>
                <a:gd name="T51" fmla="*/ 2147483647 h 14"/>
                <a:gd name="T52" fmla="*/ 0 w 14"/>
                <a:gd name="T53" fmla="*/ 2147483647 h 14"/>
                <a:gd name="T54" fmla="*/ 0 w 14"/>
                <a:gd name="T55" fmla="*/ 2147483647 h 14"/>
                <a:gd name="T56" fmla="*/ 0 w 14"/>
                <a:gd name="T57" fmla="*/ 2147483647 h 14"/>
                <a:gd name="T58" fmla="*/ 0 w 14"/>
                <a:gd name="T59" fmla="*/ 2147483647 h 14"/>
                <a:gd name="T60" fmla="*/ 0 w 14"/>
                <a:gd name="T61" fmla="*/ 2147483647 h 14"/>
                <a:gd name="T62" fmla="*/ 0 w 14"/>
                <a:gd name="T63" fmla="*/ 2147483647 h 14"/>
                <a:gd name="T64" fmla="*/ 0 w 14"/>
                <a:gd name="T65" fmla="*/ 2147483647 h 14"/>
                <a:gd name="T66" fmla="*/ 0 w 14"/>
                <a:gd name="T67" fmla="*/ 2147483647 h 14"/>
                <a:gd name="T68" fmla="*/ 0 w 14"/>
                <a:gd name="T69" fmla="*/ 2147483647 h 14"/>
                <a:gd name="T70" fmla="*/ 2147483647 w 14"/>
                <a:gd name="T71" fmla="*/ 2147483647 h 14"/>
                <a:gd name="T72" fmla="*/ 2147483647 w 14"/>
                <a:gd name="T73" fmla="*/ 2147483647 h 14"/>
                <a:gd name="T74" fmla="*/ 2147483647 w 14"/>
                <a:gd name="T75" fmla="*/ 2147483647 h 14"/>
                <a:gd name="T76" fmla="*/ 2147483647 w 14"/>
                <a:gd name="T77" fmla="*/ 2147483647 h 14"/>
                <a:gd name="T78" fmla="*/ 2147483647 w 14"/>
                <a:gd name="T79" fmla="*/ 2147483647 h 14"/>
                <a:gd name="T80" fmla="*/ 2147483647 w 14"/>
                <a:gd name="T81" fmla="*/ 2147483647 h 14"/>
                <a:gd name="T82" fmla="*/ 2147483647 w 14"/>
                <a:gd name="T83" fmla="*/ 2147483647 h 1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4"/>
                <a:gd name="T127" fmla="*/ 0 h 14"/>
                <a:gd name="T128" fmla="*/ 14 w 14"/>
                <a:gd name="T129" fmla="*/ 14 h 1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4" h="14">
                  <a:moveTo>
                    <a:pt x="7" y="14"/>
                  </a:moveTo>
                  <a:lnTo>
                    <a:pt x="9" y="14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14" y="9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5" y="14"/>
                  </a:lnTo>
                  <a:lnTo>
                    <a:pt x="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27851" name="Freeform 204"/>
            <p:cNvSpPr>
              <a:spLocks/>
            </p:cNvSpPr>
            <p:nvPr/>
          </p:nvSpPr>
          <p:spPr bwMode="auto">
            <a:xfrm>
              <a:off x="1603780" y="3069331"/>
              <a:ext cx="22225" cy="22225"/>
            </a:xfrm>
            <a:custGeom>
              <a:avLst/>
              <a:gdLst>
                <a:gd name="T0" fmla="*/ 2147483647 w 14"/>
                <a:gd name="T1" fmla="*/ 2147483647 h 14"/>
                <a:gd name="T2" fmla="*/ 2147483647 w 14"/>
                <a:gd name="T3" fmla="*/ 2147483647 h 14"/>
                <a:gd name="T4" fmla="*/ 2147483647 w 14"/>
                <a:gd name="T5" fmla="*/ 2147483647 h 14"/>
                <a:gd name="T6" fmla="*/ 2147483647 w 14"/>
                <a:gd name="T7" fmla="*/ 2147483647 h 14"/>
                <a:gd name="T8" fmla="*/ 2147483647 w 14"/>
                <a:gd name="T9" fmla="*/ 2147483647 h 14"/>
                <a:gd name="T10" fmla="*/ 2147483647 w 14"/>
                <a:gd name="T11" fmla="*/ 2147483647 h 14"/>
                <a:gd name="T12" fmla="*/ 2147483647 w 14"/>
                <a:gd name="T13" fmla="*/ 2147483647 h 14"/>
                <a:gd name="T14" fmla="*/ 2147483647 w 14"/>
                <a:gd name="T15" fmla="*/ 2147483647 h 14"/>
                <a:gd name="T16" fmla="*/ 2147483647 w 14"/>
                <a:gd name="T17" fmla="*/ 2147483647 h 14"/>
                <a:gd name="T18" fmla="*/ 2147483647 w 14"/>
                <a:gd name="T19" fmla="*/ 2147483647 h 14"/>
                <a:gd name="T20" fmla="*/ 2147483647 w 14"/>
                <a:gd name="T21" fmla="*/ 2147483647 h 14"/>
                <a:gd name="T22" fmla="*/ 2147483647 w 14"/>
                <a:gd name="T23" fmla="*/ 2147483647 h 14"/>
                <a:gd name="T24" fmla="*/ 2147483647 w 14"/>
                <a:gd name="T25" fmla="*/ 2147483647 h 14"/>
                <a:gd name="T26" fmla="*/ 2147483647 w 14"/>
                <a:gd name="T27" fmla="*/ 2147483647 h 14"/>
                <a:gd name="T28" fmla="*/ 2147483647 w 14"/>
                <a:gd name="T29" fmla="*/ 2147483647 h 14"/>
                <a:gd name="T30" fmla="*/ 2147483647 w 14"/>
                <a:gd name="T31" fmla="*/ 2147483647 h 14"/>
                <a:gd name="T32" fmla="*/ 2147483647 w 14"/>
                <a:gd name="T33" fmla="*/ 0 h 14"/>
                <a:gd name="T34" fmla="*/ 2147483647 w 14"/>
                <a:gd name="T35" fmla="*/ 0 h 14"/>
                <a:gd name="T36" fmla="*/ 2147483647 w 14"/>
                <a:gd name="T37" fmla="*/ 0 h 14"/>
                <a:gd name="T38" fmla="*/ 2147483647 w 14"/>
                <a:gd name="T39" fmla="*/ 0 h 14"/>
                <a:gd name="T40" fmla="*/ 2147483647 w 14"/>
                <a:gd name="T41" fmla="*/ 0 h 14"/>
                <a:gd name="T42" fmla="*/ 2147483647 w 14"/>
                <a:gd name="T43" fmla="*/ 0 h 14"/>
                <a:gd name="T44" fmla="*/ 2147483647 w 14"/>
                <a:gd name="T45" fmla="*/ 0 h 14"/>
                <a:gd name="T46" fmla="*/ 2147483647 w 14"/>
                <a:gd name="T47" fmla="*/ 0 h 14"/>
                <a:gd name="T48" fmla="*/ 2147483647 w 14"/>
                <a:gd name="T49" fmla="*/ 0 h 14"/>
                <a:gd name="T50" fmla="*/ 2147483647 w 14"/>
                <a:gd name="T51" fmla="*/ 2147483647 h 14"/>
                <a:gd name="T52" fmla="*/ 2147483647 w 14"/>
                <a:gd name="T53" fmla="*/ 2147483647 h 14"/>
                <a:gd name="T54" fmla="*/ 0 w 14"/>
                <a:gd name="T55" fmla="*/ 2147483647 h 14"/>
                <a:gd name="T56" fmla="*/ 0 w 14"/>
                <a:gd name="T57" fmla="*/ 2147483647 h 14"/>
                <a:gd name="T58" fmla="*/ 0 w 14"/>
                <a:gd name="T59" fmla="*/ 2147483647 h 14"/>
                <a:gd name="T60" fmla="*/ 0 w 14"/>
                <a:gd name="T61" fmla="*/ 2147483647 h 14"/>
                <a:gd name="T62" fmla="*/ 0 w 14"/>
                <a:gd name="T63" fmla="*/ 2147483647 h 14"/>
                <a:gd name="T64" fmla="*/ 0 w 14"/>
                <a:gd name="T65" fmla="*/ 2147483647 h 14"/>
                <a:gd name="T66" fmla="*/ 0 w 14"/>
                <a:gd name="T67" fmla="*/ 2147483647 h 14"/>
                <a:gd name="T68" fmla="*/ 2147483647 w 14"/>
                <a:gd name="T69" fmla="*/ 2147483647 h 14"/>
                <a:gd name="T70" fmla="*/ 2147483647 w 14"/>
                <a:gd name="T71" fmla="*/ 2147483647 h 14"/>
                <a:gd name="T72" fmla="*/ 2147483647 w 14"/>
                <a:gd name="T73" fmla="*/ 2147483647 h 14"/>
                <a:gd name="T74" fmla="*/ 2147483647 w 14"/>
                <a:gd name="T75" fmla="*/ 2147483647 h 14"/>
                <a:gd name="T76" fmla="*/ 2147483647 w 14"/>
                <a:gd name="T77" fmla="*/ 2147483647 h 14"/>
                <a:gd name="T78" fmla="*/ 2147483647 w 14"/>
                <a:gd name="T79" fmla="*/ 2147483647 h 14"/>
                <a:gd name="T80" fmla="*/ 2147483647 w 14"/>
                <a:gd name="T81" fmla="*/ 2147483647 h 14"/>
                <a:gd name="T82" fmla="*/ 2147483647 w 14"/>
                <a:gd name="T83" fmla="*/ 2147483647 h 1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4"/>
                <a:gd name="T127" fmla="*/ 0 h 14"/>
                <a:gd name="T128" fmla="*/ 14 w 14"/>
                <a:gd name="T129" fmla="*/ 14 h 1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4" h="14">
                  <a:moveTo>
                    <a:pt x="7" y="14"/>
                  </a:moveTo>
                  <a:lnTo>
                    <a:pt x="9" y="14"/>
                  </a:lnTo>
                  <a:lnTo>
                    <a:pt x="11" y="14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14" y="9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14" y="2"/>
                  </a:lnTo>
                  <a:lnTo>
                    <a:pt x="11" y="2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4"/>
                  </a:lnTo>
                  <a:lnTo>
                    <a:pt x="7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7852" name="Freeform 205"/>
          <p:cNvSpPr>
            <a:spLocks/>
          </p:cNvSpPr>
          <p:nvPr/>
        </p:nvSpPr>
        <p:spPr bwMode="auto">
          <a:xfrm>
            <a:off x="4927600" y="5418138"/>
            <a:ext cx="25400" cy="22225"/>
          </a:xfrm>
          <a:custGeom>
            <a:avLst/>
            <a:gdLst>
              <a:gd name="T0" fmla="*/ 2147483647 w 16"/>
              <a:gd name="T1" fmla="*/ 2147483647 h 14"/>
              <a:gd name="T2" fmla="*/ 2147483647 w 16"/>
              <a:gd name="T3" fmla="*/ 2147483647 h 14"/>
              <a:gd name="T4" fmla="*/ 2147483647 w 16"/>
              <a:gd name="T5" fmla="*/ 2147483647 h 14"/>
              <a:gd name="T6" fmla="*/ 2147483647 w 16"/>
              <a:gd name="T7" fmla="*/ 2147483647 h 14"/>
              <a:gd name="T8" fmla="*/ 2147483647 w 16"/>
              <a:gd name="T9" fmla="*/ 2147483647 h 14"/>
              <a:gd name="T10" fmla="*/ 2147483647 w 16"/>
              <a:gd name="T11" fmla="*/ 2147483647 h 14"/>
              <a:gd name="T12" fmla="*/ 2147483647 w 16"/>
              <a:gd name="T13" fmla="*/ 2147483647 h 14"/>
              <a:gd name="T14" fmla="*/ 2147483647 w 16"/>
              <a:gd name="T15" fmla="*/ 2147483647 h 14"/>
              <a:gd name="T16" fmla="*/ 2147483647 w 16"/>
              <a:gd name="T17" fmla="*/ 2147483647 h 14"/>
              <a:gd name="T18" fmla="*/ 2147483647 w 16"/>
              <a:gd name="T19" fmla="*/ 2147483647 h 14"/>
              <a:gd name="T20" fmla="*/ 2147483647 w 16"/>
              <a:gd name="T21" fmla="*/ 2147483647 h 14"/>
              <a:gd name="T22" fmla="*/ 2147483647 w 16"/>
              <a:gd name="T23" fmla="*/ 2147483647 h 14"/>
              <a:gd name="T24" fmla="*/ 2147483647 w 16"/>
              <a:gd name="T25" fmla="*/ 2147483647 h 14"/>
              <a:gd name="T26" fmla="*/ 2147483647 w 16"/>
              <a:gd name="T27" fmla="*/ 2147483647 h 14"/>
              <a:gd name="T28" fmla="*/ 2147483647 w 16"/>
              <a:gd name="T29" fmla="*/ 2147483647 h 14"/>
              <a:gd name="T30" fmla="*/ 2147483647 w 16"/>
              <a:gd name="T31" fmla="*/ 2147483647 h 14"/>
              <a:gd name="T32" fmla="*/ 2147483647 w 16"/>
              <a:gd name="T33" fmla="*/ 0 h 14"/>
              <a:gd name="T34" fmla="*/ 2147483647 w 16"/>
              <a:gd name="T35" fmla="*/ 0 h 14"/>
              <a:gd name="T36" fmla="*/ 2147483647 w 16"/>
              <a:gd name="T37" fmla="*/ 0 h 14"/>
              <a:gd name="T38" fmla="*/ 2147483647 w 16"/>
              <a:gd name="T39" fmla="*/ 0 h 14"/>
              <a:gd name="T40" fmla="*/ 2147483647 w 16"/>
              <a:gd name="T41" fmla="*/ 0 h 14"/>
              <a:gd name="T42" fmla="*/ 2147483647 w 16"/>
              <a:gd name="T43" fmla="*/ 0 h 14"/>
              <a:gd name="T44" fmla="*/ 2147483647 w 16"/>
              <a:gd name="T45" fmla="*/ 0 h 14"/>
              <a:gd name="T46" fmla="*/ 2147483647 w 16"/>
              <a:gd name="T47" fmla="*/ 0 h 14"/>
              <a:gd name="T48" fmla="*/ 2147483647 w 16"/>
              <a:gd name="T49" fmla="*/ 0 h 14"/>
              <a:gd name="T50" fmla="*/ 2147483647 w 16"/>
              <a:gd name="T51" fmla="*/ 2147483647 h 14"/>
              <a:gd name="T52" fmla="*/ 2147483647 w 16"/>
              <a:gd name="T53" fmla="*/ 2147483647 h 14"/>
              <a:gd name="T54" fmla="*/ 2147483647 w 16"/>
              <a:gd name="T55" fmla="*/ 2147483647 h 14"/>
              <a:gd name="T56" fmla="*/ 2147483647 w 16"/>
              <a:gd name="T57" fmla="*/ 2147483647 h 14"/>
              <a:gd name="T58" fmla="*/ 0 w 16"/>
              <a:gd name="T59" fmla="*/ 2147483647 h 14"/>
              <a:gd name="T60" fmla="*/ 0 w 16"/>
              <a:gd name="T61" fmla="*/ 2147483647 h 14"/>
              <a:gd name="T62" fmla="*/ 0 w 16"/>
              <a:gd name="T63" fmla="*/ 2147483647 h 14"/>
              <a:gd name="T64" fmla="*/ 2147483647 w 16"/>
              <a:gd name="T65" fmla="*/ 2147483647 h 14"/>
              <a:gd name="T66" fmla="*/ 2147483647 w 16"/>
              <a:gd name="T67" fmla="*/ 2147483647 h 14"/>
              <a:gd name="T68" fmla="*/ 2147483647 w 16"/>
              <a:gd name="T69" fmla="*/ 2147483647 h 14"/>
              <a:gd name="T70" fmla="*/ 2147483647 w 16"/>
              <a:gd name="T71" fmla="*/ 2147483647 h 14"/>
              <a:gd name="T72" fmla="*/ 2147483647 w 16"/>
              <a:gd name="T73" fmla="*/ 2147483647 h 14"/>
              <a:gd name="T74" fmla="*/ 2147483647 w 16"/>
              <a:gd name="T75" fmla="*/ 2147483647 h 14"/>
              <a:gd name="T76" fmla="*/ 2147483647 w 16"/>
              <a:gd name="T77" fmla="*/ 2147483647 h 14"/>
              <a:gd name="T78" fmla="*/ 2147483647 w 16"/>
              <a:gd name="T79" fmla="*/ 2147483647 h 14"/>
              <a:gd name="T80" fmla="*/ 2147483647 w 16"/>
              <a:gd name="T81" fmla="*/ 2147483647 h 14"/>
              <a:gd name="T82" fmla="*/ 2147483647 w 16"/>
              <a:gd name="T83" fmla="*/ 2147483647 h 14"/>
              <a:gd name="T84" fmla="*/ 2147483647 w 16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6"/>
              <a:gd name="T130" fmla="*/ 0 h 14"/>
              <a:gd name="T131" fmla="*/ 16 w 16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6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4" y="11"/>
                </a:lnTo>
                <a:lnTo>
                  <a:pt x="14" y="9"/>
                </a:lnTo>
                <a:lnTo>
                  <a:pt x="16" y="9"/>
                </a:lnTo>
                <a:lnTo>
                  <a:pt x="16" y="7"/>
                </a:lnTo>
                <a:lnTo>
                  <a:pt x="16" y="4"/>
                </a:lnTo>
                <a:lnTo>
                  <a:pt x="14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7"/>
                </a:lnTo>
                <a:lnTo>
                  <a:pt x="2" y="9"/>
                </a:lnTo>
                <a:lnTo>
                  <a:pt x="2" y="11"/>
                </a:lnTo>
                <a:lnTo>
                  <a:pt x="5" y="11"/>
                </a:lnTo>
                <a:lnTo>
                  <a:pt x="5" y="14"/>
                </a:lnTo>
                <a:lnTo>
                  <a:pt x="7" y="14"/>
                </a:lnTo>
                <a:lnTo>
                  <a:pt x="9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53" name="Freeform 206"/>
          <p:cNvSpPr>
            <a:spLocks/>
          </p:cNvSpPr>
          <p:nvPr/>
        </p:nvSpPr>
        <p:spPr bwMode="auto">
          <a:xfrm>
            <a:off x="4854575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0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0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2147483647 w 14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4"/>
              <a:gd name="T130" fmla="*/ 0 h 14"/>
              <a:gd name="T131" fmla="*/ 14 w 14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4" h="14">
                <a:moveTo>
                  <a:pt x="4" y="14"/>
                </a:moveTo>
                <a:lnTo>
                  <a:pt x="7" y="14"/>
                </a:lnTo>
                <a:lnTo>
                  <a:pt x="9" y="14"/>
                </a:lnTo>
                <a:lnTo>
                  <a:pt x="11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2" y="11"/>
                </a:lnTo>
                <a:lnTo>
                  <a:pt x="2" y="14"/>
                </a:lnTo>
                <a:lnTo>
                  <a:pt x="4" y="14"/>
                </a:lnTo>
                <a:lnTo>
                  <a:pt x="7" y="14"/>
                </a:lnTo>
                <a:lnTo>
                  <a:pt x="4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54" name="Freeform 207"/>
          <p:cNvSpPr>
            <a:spLocks/>
          </p:cNvSpPr>
          <p:nvPr/>
        </p:nvSpPr>
        <p:spPr bwMode="auto">
          <a:xfrm>
            <a:off x="5199063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2147483647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2147483647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4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55" name="Freeform 208"/>
          <p:cNvSpPr>
            <a:spLocks/>
          </p:cNvSpPr>
          <p:nvPr/>
        </p:nvSpPr>
        <p:spPr bwMode="auto">
          <a:xfrm>
            <a:off x="5275263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0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0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10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2" y="2"/>
                </a:lnTo>
                <a:lnTo>
                  <a:pt x="12" y="0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3" y="0"/>
                </a:lnTo>
                <a:lnTo>
                  <a:pt x="3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3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56" name="Freeform 209"/>
          <p:cNvSpPr>
            <a:spLocks/>
          </p:cNvSpPr>
          <p:nvPr/>
        </p:nvSpPr>
        <p:spPr bwMode="auto">
          <a:xfrm>
            <a:off x="5121275" y="5418138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2147483647 w 14"/>
              <a:gd name="T53" fmla="*/ 2147483647 h 14"/>
              <a:gd name="T54" fmla="*/ 2147483647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2147483647 w 14"/>
              <a:gd name="T67" fmla="*/ 2147483647 h 14"/>
              <a:gd name="T68" fmla="*/ 2147483647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10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2" y="0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3" y="0"/>
                </a:lnTo>
                <a:lnTo>
                  <a:pt x="3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3" y="9"/>
                </a:lnTo>
                <a:lnTo>
                  <a:pt x="3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57" name="Freeform 210"/>
          <p:cNvSpPr>
            <a:spLocks/>
          </p:cNvSpPr>
          <p:nvPr/>
        </p:nvSpPr>
        <p:spPr bwMode="auto">
          <a:xfrm>
            <a:off x="5041900" y="5418138"/>
            <a:ext cx="20638" cy="22225"/>
          </a:xfrm>
          <a:custGeom>
            <a:avLst/>
            <a:gdLst>
              <a:gd name="T0" fmla="*/ 2147483647 w 13"/>
              <a:gd name="T1" fmla="*/ 2147483647 h 14"/>
              <a:gd name="T2" fmla="*/ 2147483647 w 13"/>
              <a:gd name="T3" fmla="*/ 2147483647 h 14"/>
              <a:gd name="T4" fmla="*/ 2147483647 w 13"/>
              <a:gd name="T5" fmla="*/ 2147483647 h 14"/>
              <a:gd name="T6" fmla="*/ 2147483647 w 13"/>
              <a:gd name="T7" fmla="*/ 2147483647 h 14"/>
              <a:gd name="T8" fmla="*/ 2147483647 w 13"/>
              <a:gd name="T9" fmla="*/ 2147483647 h 14"/>
              <a:gd name="T10" fmla="*/ 2147483647 w 13"/>
              <a:gd name="T11" fmla="*/ 2147483647 h 14"/>
              <a:gd name="T12" fmla="*/ 2147483647 w 13"/>
              <a:gd name="T13" fmla="*/ 2147483647 h 14"/>
              <a:gd name="T14" fmla="*/ 2147483647 w 13"/>
              <a:gd name="T15" fmla="*/ 2147483647 h 14"/>
              <a:gd name="T16" fmla="*/ 2147483647 w 13"/>
              <a:gd name="T17" fmla="*/ 2147483647 h 14"/>
              <a:gd name="T18" fmla="*/ 2147483647 w 13"/>
              <a:gd name="T19" fmla="*/ 2147483647 h 14"/>
              <a:gd name="T20" fmla="*/ 2147483647 w 13"/>
              <a:gd name="T21" fmla="*/ 2147483647 h 14"/>
              <a:gd name="T22" fmla="*/ 2147483647 w 13"/>
              <a:gd name="T23" fmla="*/ 2147483647 h 14"/>
              <a:gd name="T24" fmla="*/ 2147483647 w 13"/>
              <a:gd name="T25" fmla="*/ 2147483647 h 14"/>
              <a:gd name="T26" fmla="*/ 2147483647 w 13"/>
              <a:gd name="T27" fmla="*/ 2147483647 h 14"/>
              <a:gd name="T28" fmla="*/ 2147483647 w 13"/>
              <a:gd name="T29" fmla="*/ 2147483647 h 14"/>
              <a:gd name="T30" fmla="*/ 2147483647 w 13"/>
              <a:gd name="T31" fmla="*/ 2147483647 h 14"/>
              <a:gd name="T32" fmla="*/ 2147483647 w 13"/>
              <a:gd name="T33" fmla="*/ 0 h 14"/>
              <a:gd name="T34" fmla="*/ 2147483647 w 13"/>
              <a:gd name="T35" fmla="*/ 0 h 14"/>
              <a:gd name="T36" fmla="*/ 2147483647 w 13"/>
              <a:gd name="T37" fmla="*/ 0 h 14"/>
              <a:gd name="T38" fmla="*/ 2147483647 w 13"/>
              <a:gd name="T39" fmla="*/ 0 h 14"/>
              <a:gd name="T40" fmla="*/ 2147483647 w 13"/>
              <a:gd name="T41" fmla="*/ 0 h 14"/>
              <a:gd name="T42" fmla="*/ 2147483647 w 13"/>
              <a:gd name="T43" fmla="*/ 0 h 14"/>
              <a:gd name="T44" fmla="*/ 2147483647 w 13"/>
              <a:gd name="T45" fmla="*/ 0 h 14"/>
              <a:gd name="T46" fmla="*/ 2147483647 w 13"/>
              <a:gd name="T47" fmla="*/ 0 h 14"/>
              <a:gd name="T48" fmla="*/ 2147483647 w 13"/>
              <a:gd name="T49" fmla="*/ 0 h 14"/>
              <a:gd name="T50" fmla="*/ 2147483647 w 13"/>
              <a:gd name="T51" fmla="*/ 2147483647 h 14"/>
              <a:gd name="T52" fmla="*/ 2147483647 w 13"/>
              <a:gd name="T53" fmla="*/ 2147483647 h 14"/>
              <a:gd name="T54" fmla="*/ 0 w 13"/>
              <a:gd name="T55" fmla="*/ 2147483647 h 14"/>
              <a:gd name="T56" fmla="*/ 0 w 13"/>
              <a:gd name="T57" fmla="*/ 2147483647 h 14"/>
              <a:gd name="T58" fmla="*/ 0 w 13"/>
              <a:gd name="T59" fmla="*/ 2147483647 h 14"/>
              <a:gd name="T60" fmla="*/ 0 w 13"/>
              <a:gd name="T61" fmla="*/ 2147483647 h 14"/>
              <a:gd name="T62" fmla="*/ 0 w 13"/>
              <a:gd name="T63" fmla="*/ 2147483647 h 14"/>
              <a:gd name="T64" fmla="*/ 0 w 13"/>
              <a:gd name="T65" fmla="*/ 2147483647 h 14"/>
              <a:gd name="T66" fmla="*/ 0 w 13"/>
              <a:gd name="T67" fmla="*/ 2147483647 h 14"/>
              <a:gd name="T68" fmla="*/ 2147483647 w 13"/>
              <a:gd name="T69" fmla="*/ 2147483647 h 14"/>
              <a:gd name="T70" fmla="*/ 2147483647 w 13"/>
              <a:gd name="T71" fmla="*/ 2147483647 h 14"/>
              <a:gd name="T72" fmla="*/ 2147483647 w 13"/>
              <a:gd name="T73" fmla="*/ 2147483647 h 14"/>
              <a:gd name="T74" fmla="*/ 2147483647 w 13"/>
              <a:gd name="T75" fmla="*/ 2147483647 h 14"/>
              <a:gd name="T76" fmla="*/ 2147483647 w 13"/>
              <a:gd name="T77" fmla="*/ 2147483647 h 14"/>
              <a:gd name="T78" fmla="*/ 2147483647 w 13"/>
              <a:gd name="T79" fmla="*/ 2147483647 h 14"/>
              <a:gd name="T80" fmla="*/ 2147483647 w 13"/>
              <a:gd name="T81" fmla="*/ 2147483647 h 14"/>
              <a:gd name="T82" fmla="*/ 2147483647 w 13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3"/>
              <a:gd name="T127" fmla="*/ 0 h 14"/>
              <a:gd name="T128" fmla="*/ 13 w 13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3" h="14">
                <a:moveTo>
                  <a:pt x="6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3" y="7"/>
                </a:lnTo>
                <a:lnTo>
                  <a:pt x="13" y="4"/>
                </a:lnTo>
                <a:lnTo>
                  <a:pt x="13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6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4" y="14"/>
                </a:lnTo>
                <a:lnTo>
                  <a:pt x="6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7858" name="Text Box 211"/>
          <p:cNvSpPr txBox="1">
            <a:spLocks noChangeArrowheads="1"/>
          </p:cNvSpPr>
          <p:nvPr/>
        </p:nvSpPr>
        <p:spPr bwMode="auto">
          <a:xfrm>
            <a:off x="4432300" y="1346200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/>
              <a:t>virtual</a:t>
            </a:r>
            <a:r>
              <a:rPr lang="en-US" altLang="en-US" sz="1400" dirty="0"/>
              <a:t> address</a:t>
            </a:r>
          </a:p>
        </p:txBody>
      </p:sp>
      <p:sp>
        <p:nvSpPr>
          <p:cNvPr id="27859" name="Text Box 212"/>
          <p:cNvSpPr txBox="1">
            <a:spLocks noChangeArrowheads="1"/>
          </p:cNvSpPr>
          <p:nvPr/>
        </p:nvSpPr>
        <p:spPr bwMode="auto">
          <a:xfrm>
            <a:off x="6461125" y="1955800"/>
            <a:ext cx="1171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/>
              <a:t>page offset</a:t>
            </a:r>
          </a:p>
        </p:txBody>
      </p:sp>
      <p:sp>
        <p:nvSpPr>
          <p:cNvPr id="27860" name="Text Box 213"/>
          <p:cNvSpPr txBox="1">
            <a:spLocks noChangeArrowheads="1"/>
          </p:cNvSpPr>
          <p:nvPr/>
        </p:nvSpPr>
        <p:spPr bwMode="auto">
          <a:xfrm>
            <a:off x="3594100" y="1955800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/>
              <a:t>virtual</a:t>
            </a:r>
            <a:r>
              <a:rPr lang="en-US" altLang="en-US" sz="1400" dirty="0"/>
              <a:t> page number</a:t>
            </a:r>
          </a:p>
        </p:txBody>
      </p:sp>
      <p:sp>
        <p:nvSpPr>
          <p:cNvPr id="27861" name="Text Box 214"/>
          <p:cNvSpPr txBox="1">
            <a:spLocks noChangeArrowheads="1"/>
          </p:cNvSpPr>
          <p:nvPr/>
        </p:nvSpPr>
        <p:spPr bwMode="auto">
          <a:xfrm>
            <a:off x="4279900" y="2489200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/>
              <a:t>physical</a:t>
            </a:r>
            <a:r>
              <a:rPr lang="en-US" altLang="en-US" sz="1400" dirty="0"/>
              <a:t> page number</a:t>
            </a:r>
          </a:p>
        </p:txBody>
      </p:sp>
      <p:sp>
        <p:nvSpPr>
          <p:cNvPr id="27862" name="Text Box 215"/>
          <p:cNvSpPr txBox="1">
            <a:spLocks noChangeArrowheads="1"/>
          </p:cNvSpPr>
          <p:nvPr/>
        </p:nvSpPr>
        <p:spPr bwMode="auto">
          <a:xfrm>
            <a:off x="4648388" y="5994400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/>
              <a:t>physical </a:t>
            </a:r>
            <a:r>
              <a:rPr lang="en-US" altLang="en-US" sz="1400" dirty="0"/>
              <a:t>address</a:t>
            </a:r>
          </a:p>
        </p:txBody>
      </p:sp>
      <p:sp>
        <p:nvSpPr>
          <p:cNvPr id="27863" name="Text Box 216"/>
          <p:cNvSpPr txBox="1">
            <a:spLocks noChangeArrowheads="1"/>
          </p:cNvSpPr>
          <p:nvPr/>
        </p:nvSpPr>
        <p:spPr bwMode="auto">
          <a:xfrm>
            <a:off x="3365500" y="5613400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1" dirty="0"/>
              <a:t>physical</a:t>
            </a:r>
            <a:r>
              <a:rPr lang="en-US" altLang="en-US" sz="1400" dirty="0"/>
              <a:t> page number</a:t>
            </a:r>
          </a:p>
        </p:txBody>
      </p:sp>
      <p:sp>
        <p:nvSpPr>
          <p:cNvPr id="27864" name="Text Box 217"/>
          <p:cNvSpPr txBox="1">
            <a:spLocks noChangeArrowheads="1"/>
          </p:cNvSpPr>
          <p:nvPr/>
        </p:nvSpPr>
        <p:spPr bwMode="auto">
          <a:xfrm>
            <a:off x="6413500" y="5613400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/>
              <a:t>page offset</a:t>
            </a:r>
          </a:p>
        </p:txBody>
      </p:sp>
      <p:sp>
        <p:nvSpPr>
          <p:cNvPr id="27865" name="Text Box 218"/>
          <p:cNvSpPr txBox="1">
            <a:spLocks noChangeArrowheads="1"/>
          </p:cNvSpPr>
          <p:nvPr/>
        </p:nvSpPr>
        <p:spPr bwMode="auto">
          <a:xfrm>
            <a:off x="2451100" y="3195423"/>
            <a:ext cx="2209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page</a:t>
            </a:r>
            <a:br>
              <a:rPr lang="en-US" altLang="en-US" dirty="0"/>
            </a:br>
            <a:r>
              <a:rPr lang="en-US" altLang="en-US" dirty="0"/>
              <a:t>table</a:t>
            </a:r>
          </a:p>
        </p:txBody>
      </p:sp>
      <p:sp>
        <p:nvSpPr>
          <p:cNvPr id="27866" name="Text Box 219"/>
          <p:cNvSpPr txBox="1">
            <a:spLocks noChangeArrowheads="1"/>
          </p:cNvSpPr>
          <p:nvPr/>
        </p:nvSpPr>
        <p:spPr bwMode="auto">
          <a:xfrm>
            <a:off x="3176021" y="2491157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valid?</a:t>
            </a:r>
          </a:p>
        </p:txBody>
      </p:sp>
      <p:sp>
        <p:nvSpPr>
          <p:cNvPr id="27867" name="Text Box 220"/>
          <p:cNvSpPr txBox="1">
            <a:spLocks noChangeArrowheads="1"/>
          </p:cNvSpPr>
          <p:nvPr/>
        </p:nvSpPr>
        <p:spPr bwMode="auto">
          <a:xfrm>
            <a:off x="2708275" y="4708525"/>
            <a:ext cx="2209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/>
              <a:t>if 0 then page</a:t>
            </a:r>
            <a:br>
              <a:rPr lang="en-US" altLang="en-US" sz="1400" dirty="0"/>
            </a:br>
            <a:r>
              <a:rPr lang="en-US" altLang="en-US" sz="1400" dirty="0"/>
              <a:t>is on disk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38" y="1842969"/>
            <a:ext cx="203292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register</a:t>
            </a:r>
          </a:p>
          <a:p>
            <a:r>
              <a:rPr lang="en-CA" dirty="0"/>
              <a:t>in CPU</a:t>
            </a:r>
          </a:p>
          <a:p>
            <a:endParaRPr lang="en-CA" dirty="0"/>
          </a:p>
          <a:p>
            <a:r>
              <a:rPr lang="en-CA" b="1" dirty="0"/>
              <a:t>per process:</a:t>
            </a:r>
          </a:p>
          <a:p>
            <a:r>
              <a:rPr lang="en-CA" dirty="0"/>
              <a:t>changes</a:t>
            </a:r>
          </a:p>
          <a:p>
            <a:r>
              <a:rPr lang="en-CA" dirty="0"/>
              <a:t>on OS</a:t>
            </a:r>
          </a:p>
          <a:p>
            <a:r>
              <a:rPr lang="en-CA" dirty="0"/>
              <a:t>context</a:t>
            </a:r>
          </a:p>
          <a:p>
            <a:r>
              <a:rPr lang="en-CA" dirty="0"/>
              <a:t>switch</a:t>
            </a:r>
          </a:p>
        </p:txBody>
      </p:sp>
      <p:sp>
        <p:nvSpPr>
          <p:cNvPr id="229" name="Freeform 37"/>
          <p:cNvSpPr>
            <a:spLocks/>
          </p:cNvSpPr>
          <p:nvPr/>
        </p:nvSpPr>
        <p:spPr bwMode="auto">
          <a:xfrm>
            <a:off x="3525583" y="1204600"/>
            <a:ext cx="65087" cy="66675"/>
          </a:xfrm>
          <a:custGeom>
            <a:avLst/>
            <a:gdLst>
              <a:gd name="T0" fmla="*/ 2147483647 w 41"/>
              <a:gd name="T1" fmla="*/ 0 h 42"/>
              <a:gd name="T2" fmla="*/ 0 w 41"/>
              <a:gd name="T3" fmla="*/ 2147483647 h 42"/>
              <a:gd name="T4" fmla="*/ 2147483647 w 41"/>
              <a:gd name="T5" fmla="*/ 2147483647 h 42"/>
              <a:gd name="T6" fmla="*/ 2147483647 w 41"/>
              <a:gd name="T7" fmla="*/ 2147483647 h 42"/>
              <a:gd name="T8" fmla="*/ 2147483647 w 41"/>
              <a:gd name="T9" fmla="*/ 2147483647 h 42"/>
              <a:gd name="T10" fmla="*/ 2147483647 w 41"/>
              <a:gd name="T11" fmla="*/ 0 h 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"/>
              <a:gd name="T19" fmla="*/ 0 h 42"/>
              <a:gd name="T20" fmla="*/ 41 w 41"/>
              <a:gd name="T21" fmla="*/ 42 h 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" h="42">
                <a:moveTo>
                  <a:pt x="41" y="0"/>
                </a:moveTo>
                <a:lnTo>
                  <a:pt x="0" y="2"/>
                </a:lnTo>
                <a:lnTo>
                  <a:pt x="20" y="42"/>
                </a:lnTo>
                <a:lnTo>
                  <a:pt x="41" y="2"/>
                </a:lnTo>
                <a:lnTo>
                  <a:pt x="4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30" name="Rectangle 118"/>
          <p:cNvSpPr>
            <a:spLocks noChangeArrowheads="1"/>
          </p:cNvSpPr>
          <p:nvPr/>
        </p:nvSpPr>
        <p:spPr bwMode="auto">
          <a:xfrm>
            <a:off x="3498595" y="1764988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31" name="Rectangle 119"/>
          <p:cNvSpPr>
            <a:spLocks noChangeArrowheads="1"/>
          </p:cNvSpPr>
          <p:nvPr/>
        </p:nvSpPr>
        <p:spPr bwMode="auto">
          <a:xfrm>
            <a:off x="3535108" y="1764988"/>
            <a:ext cx="349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 </a:t>
            </a:r>
            <a:endParaRPr lang="en-US" altLang="en-US" b="1"/>
          </a:p>
        </p:txBody>
      </p:sp>
      <p:sp>
        <p:nvSpPr>
          <p:cNvPr id="232" name="Rectangle 120"/>
          <p:cNvSpPr>
            <a:spLocks noChangeArrowheads="1"/>
          </p:cNvSpPr>
          <p:nvPr/>
        </p:nvSpPr>
        <p:spPr bwMode="auto">
          <a:xfrm>
            <a:off x="3576383" y="1764988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2</a:t>
            </a:r>
            <a:endParaRPr lang="en-US" altLang="en-US" b="1"/>
          </a:p>
        </p:txBody>
      </p:sp>
      <p:sp>
        <p:nvSpPr>
          <p:cNvPr id="233" name="Rectangle 121"/>
          <p:cNvSpPr>
            <a:spLocks noChangeArrowheads="1"/>
          </p:cNvSpPr>
          <p:nvPr/>
        </p:nvSpPr>
        <p:spPr bwMode="auto">
          <a:xfrm>
            <a:off x="3646233" y="1764988"/>
            <a:ext cx="698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000">
                <a:solidFill>
                  <a:srgbClr val="000000"/>
                </a:solidFill>
              </a:rPr>
              <a:t>7</a:t>
            </a:r>
            <a:endParaRPr lang="en-US" altLang="en-US" b="1"/>
          </a:p>
        </p:txBody>
      </p:sp>
      <p:sp>
        <p:nvSpPr>
          <p:cNvPr id="234" name="Freeform 185"/>
          <p:cNvSpPr>
            <a:spLocks/>
          </p:cNvSpPr>
          <p:nvPr/>
        </p:nvSpPr>
        <p:spPr bwMode="auto">
          <a:xfrm>
            <a:off x="3887533" y="1831663"/>
            <a:ext cx="22225" cy="22225"/>
          </a:xfrm>
          <a:custGeom>
            <a:avLst/>
            <a:gdLst>
              <a:gd name="T0" fmla="*/ 2147483647 w 14"/>
              <a:gd name="T1" fmla="*/ 2147483647 h 14"/>
              <a:gd name="T2" fmla="*/ 2147483647 w 14"/>
              <a:gd name="T3" fmla="*/ 2147483647 h 14"/>
              <a:gd name="T4" fmla="*/ 2147483647 w 14"/>
              <a:gd name="T5" fmla="*/ 2147483647 h 14"/>
              <a:gd name="T6" fmla="*/ 2147483647 w 14"/>
              <a:gd name="T7" fmla="*/ 2147483647 h 14"/>
              <a:gd name="T8" fmla="*/ 2147483647 w 14"/>
              <a:gd name="T9" fmla="*/ 2147483647 h 14"/>
              <a:gd name="T10" fmla="*/ 2147483647 w 14"/>
              <a:gd name="T11" fmla="*/ 2147483647 h 14"/>
              <a:gd name="T12" fmla="*/ 2147483647 w 14"/>
              <a:gd name="T13" fmla="*/ 2147483647 h 14"/>
              <a:gd name="T14" fmla="*/ 2147483647 w 14"/>
              <a:gd name="T15" fmla="*/ 2147483647 h 14"/>
              <a:gd name="T16" fmla="*/ 2147483647 w 14"/>
              <a:gd name="T17" fmla="*/ 2147483647 h 14"/>
              <a:gd name="T18" fmla="*/ 2147483647 w 14"/>
              <a:gd name="T19" fmla="*/ 2147483647 h 14"/>
              <a:gd name="T20" fmla="*/ 2147483647 w 14"/>
              <a:gd name="T21" fmla="*/ 2147483647 h 14"/>
              <a:gd name="T22" fmla="*/ 2147483647 w 14"/>
              <a:gd name="T23" fmla="*/ 2147483647 h 14"/>
              <a:gd name="T24" fmla="*/ 2147483647 w 14"/>
              <a:gd name="T25" fmla="*/ 2147483647 h 14"/>
              <a:gd name="T26" fmla="*/ 2147483647 w 14"/>
              <a:gd name="T27" fmla="*/ 2147483647 h 14"/>
              <a:gd name="T28" fmla="*/ 2147483647 w 14"/>
              <a:gd name="T29" fmla="*/ 2147483647 h 14"/>
              <a:gd name="T30" fmla="*/ 2147483647 w 14"/>
              <a:gd name="T31" fmla="*/ 2147483647 h 14"/>
              <a:gd name="T32" fmla="*/ 2147483647 w 14"/>
              <a:gd name="T33" fmla="*/ 0 h 14"/>
              <a:gd name="T34" fmla="*/ 2147483647 w 14"/>
              <a:gd name="T35" fmla="*/ 0 h 14"/>
              <a:gd name="T36" fmla="*/ 2147483647 w 14"/>
              <a:gd name="T37" fmla="*/ 0 h 14"/>
              <a:gd name="T38" fmla="*/ 2147483647 w 14"/>
              <a:gd name="T39" fmla="*/ 0 h 14"/>
              <a:gd name="T40" fmla="*/ 2147483647 w 14"/>
              <a:gd name="T41" fmla="*/ 0 h 14"/>
              <a:gd name="T42" fmla="*/ 2147483647 w 14"/>
              <a:gd name="T43" fmla="*/ 0 h 14"/>
              <a:gd name="T44" fmla="*/ 2147483647 w 14"/>
              <a:gd name="T45" fmla="*/ 0 h 14"/>
              <a:gd name="T46" fmla="*/ 2147483647 w 14"/>
              <a:gd name="T47" fmla="*/ 0 h 14"/>
              <a:gd name="T48" fmla="*/ 2147483647 w 14"/>
              <a:gd name="T49" fmla="*/ 0 h 14"/>
              <a:gd name="T50" fmla="*/ 2147483647 w 14"/>
              <a:gd name="T51" fmla="*/ 2147483647 h 14"/>
              <a:gd name="T52" fmla="*/ 2147483647 w 14"/>
              <a:gd name="T53" fmla="*/ 2147483647 h 14"/>
              <a:gd name="T54" fmla="*/ 0 w 14"/>
              <a:gd name="T55" fmla="*/ 2147483647 h 14"/>
              <a:gd name="T56" fmla="*/ 0 w 14"/>
              <a:gd name="T57" fmla="*/ 2147483647 h 14"/>
              <a:gd name="T58" fmla="*/ 0 w 14"/>
              <a:gd name="T59" fmla="*/ 2147483647 h 14"/>
              <a:gd name="T60" fmla="*/ 0 w 14"/>
              <a:gd name="T61" fmla="*/ 2147483647 h 14"/>
              <a:gd name="T62" fmla="*/ 0 w 14"/>
              <a:gd name="T63" fmla="*/ 2147483647 h 14"/>
              <a:gd name="T64" fmla="*/ 0 w 14"/>
              <a:gd name="T65" fmla="*/ 2147483647 h 14"/>
              <a:gd name="T66" fmla="*/ 0 w 14"/>
              <a:gd name="T67" fmla="*/ 2147483647 h 14"/>
              <a:gd name="T68" fmla="*/ 2147483647 w 14"/>
              <a:gd name="T69" fmla="*/ 2147483647 h 14"/>
              <a:gd name="T70" fmla="*/ 2147483647 w 14"/>
              <a:gd name="T71" fmla="*/ 2147483647 h 14"/>
              <a:gd name="T72" fmla="*/ 2147483647 w 14"/>
              <a:gd name="T73" fmla="*/ 2147483647 h 14"/>
              <a:gd name="T74" fmla="*/ 2147483647 w 14"/>
              <a:gd name="T75" fmla="*/ 2147483647 h 14"/>
              <a:gd name="T76" fmla="*/ 2147483647 w 14"/>
              <a:gd name="T77" fmla="*/ 2147483647 h 14"/>
              <a:gd name="T78" fmla="*/ 2147483647 w 14"/>
              <a:gd name="T79" fmla="*/ 2147483647 h 14"/>
              <a:gd name="T80" fmla="*/ 2147483647 w 14"/>
              <a:gd name="T81" fmla="*/ 2147483647 h 14"/>
              <a:gd name="T82" fmla="*/ 2147483647 w 14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4"/>
              <a:gd name="T127" fmla="*/ 0 h 14"/>
              <a:gd name="T128" fmla="*/ 14 w 14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4" h="14">
                <a:moveTo>
                  <a:pt x="7" y="14"/>
                </a:moveTo>
                <a:lnTo>
                  <a:pt x="9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4" y="7"/>
                </a:lnTo>
                <a:lnTo>
                  <a:pt x="14" y="4"/>
                </a:lnTo>
                <a:lnTo>
                  <a:pt x="14" y="2"/>
                </a:lnTo>
                <a:lnTo>
                  <a:pt x="12" y="2"/>
                </a:lnTo>
                <a:lnTo>
                  <a:pt x="12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5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35" name="Freeform 186"/>
          <p:cNvSpPr>
            <a:spLocks/>
          </p:cNvSpPr>
          <p:nvPr/>
        </p:nvSpPr>
        <p:spPr bwMode="auto">
          <a:xfrm>
            <a:off x="3965320" y="1831663"/>
            <a:ext cx="20638" cy="22225"/>
          </a:xfrm>
          <a:custGeom>
            <a:avLst/>
            <a:gdLst>
              <a:gd name="T0" fmla="*/ 2147483647 w 13"/>
              <a:gd name="T1" fmla="*/ 2147483647 h 14"/>
              <a:gd name="T2" fmla="*/ 2147483647 w 13"/>
              <a:gd name="T3" fmla="*/ 2147483647 h 14"/>
              <a:gd name="T4" fmla="*/ 2147483647 w 13"/>
              <a:gd name="T5" fmla="*/ 2147483647 h 14"/>
              <a:gd name="T6" fmla="*/ 2147483647 w 13"/>
              <a:gd name="T7" fmla="*/ 2147483647 h 14"/>
              <a:gd name="T8" fmla="*/ 2147483647 w 13"/>
              <a:gd name="T9" fmla="*/ 2147483647 h 14"/>
              <a:gd name="T10" fmla="*/ 2147483647 w 13"/>
              <a:gd name="T11" fmla="*/ 2147483647 h 14"/>
              <a:gd name="T12" fmla="*/ 2147483647 w 13"/>
              <a:gd name="T13" fmla="*/ 2147483647 h 14"/>
              <a:gd name="T14" fmla="*/ 2147483647 w 13"/>
              <a:gd name="T15" fmla="*/ 2147483647 h 14"/>
              <a:gd name="T16" fmla="*/ 2147483647 w 13"/>
              <a:gd name="T17" fmla="*/ 2147483647 h 14"/>
              <a:gd name="T18" fmla="*/ 2147483647 w 13"/>
              <a:gd name="T19" fmla="*/ 2147483647 h 14"/>
              <a:gd name="T20" fmla="*/ 2147483647 w 13"/>
              <a:gd name="T21" fmla="*/ 2147483647 h 14"/>
              <a:gd name="T22" fmla="*/ 2147483647 w 13"/>
              <a:gd name="T23" fmla="*/ 2147483647 h 14"/>
              <a:gd name="T24" fmla="*/ 2147483647 w 13"/>
              <a:gd name="T25" fmla="*/ 2147483647 h 14"/>
              <a:gd name="T26" fmla="*/ 2147483647 w 13"/>
              <a:gd name="T27" fmla="*/ 2147483647 h 14"/>
              <a:gd name="T28" fmla="*/ 2147483647 w 13"/>
              <a:gd name="T29" fmla="*/ 2147483647 h 14"/>
              <a:gd name="T30" fmla="*/ 2147483647 w 13"/>
              <a:gd name="T31" fmla="*/ 2147483647 h 14"/>
              <a:gd name="T32" fmla="*/ 2147483647 w 13"/>
              <a:gd name="T33" fmla="*/ 0 h 14"/>
              <a:gd name="T34" fmla="*/ 2147483647 w 13"/>
              <a:gd name="T35" fmla="*/ 0 h 14"/>
              <a:gd name="T36" fmla="*/ 2147483647 w 13"/>
              <a:gd name="T37" fmla="*/ 0 h 14"/>
              <a:gd name="T38" fmla="*/ 2147483647 w 13"/>
              <a:gd name="T39" fmla="*/ 0 h 14"/>
              <a:gd name="T40" fmla="*/ 2147483647 w 13"/>
              <a:gd name="T41" fmla="*/ 0 h 14"/>
              <a:gd name="T42" fmla="*/ 2147483647 w 13"/>
              <a:gd name="T43" fmla="*/ 0 h 14"/>
              <a:gd name="T44" fmla="*/ 2147483647 w 13"/>
              <a:gd name="T45" fmla="*/ 0 h 14"/>
              <a:gd name="T46" fmla="*/ 2147483647 w 13"/>
              <a:gd name="T47" fmla="*/ 0 h 14"/>
              <a:gd name="T48" fmla="*/ 2147483647 w 13"/>
              <a:gd name="T49" fmla="*/ 0 h 14"/>
              <a:gd name="T50" fmla="*/ 2147483647 w 13"/>
              <a:gd name="T51" fmla="*/ 2147483647 h 14"/>
              <a:gd name="T52" fmla="*/ 2147483647 w 13"/>
              <a:gd name="T53" fmla="*/ 2147483647 h 14"/>
              <a:gd name="T54" fmla="*/ 0 w 13"/>
              <a:gd name="T55" fmla="*/ 2147483647 h 14"/>
              <a:gd name="T56" fmla="*/ 0 w 13"/>
              <a:gd name="T57" fmla="*/ 2147483647 h 14"/>
              <a:gd name="T58" fmla="*/ 0 w 13"/>
              <a:gd name="T59" fmla="*/ 2147483647 h 14"/>
              <a:gd name="T60" fmla="*/ 0 w 13"/>
              <a:gd name="T61" fmla="*/ 2147483647 h 14"/>
              <a:gd name="T62" fmla="*/ 0 w 13"/>
              <a:gd name="T63" fmla="*/ 2147483647 h 14"/>
              <a:gd name="T64" fmla="*/ 0 w 13"/>
              <a:gd name="T65" fmla="*/ 2147483647 h 14"/>
              <a:gd name="T66" fmla="*/ 0 w 13"/>
              <a:gd name="T67" fmla="*/ 2147483647 h 14"/>
              <a:gd name="T68" fmla="*/ 2147483647 w 13"/>
              <a:gd name="T69" fmla="*/ 2147483647 h 14"/>
              <a:gd name="T70" fmla="*/ 2147483647 w 13"/>
              <a:gd name="T71" fmla="*/ 2147483647 h 14"/>
              <a:gd name="T72" fmla="*/ 2147483647 w 13"/>
              <a:gd name="T73" fmla="*/ 2147483647 h 14"/>
              <a:gd name="T74" fmla="*/ 2147483647 w 13"/>
              <a:gd name="T75" fmla="*/ 2147483647 h 14"/>
              <a:gd name="T76" fmla="*/ 2147483647 w 13"/>
              <a:gd name="T77" fmla="*/ 2147483647 h 14"/>
              <a:gd name="T78" fmla="*/ 2147483647 w 13"/>
              <a:gd name="T79" fmla="*/ 2147483647 h 14"/>
              <a:gd name="T80" fmla="*/ 2147483647 w 13"/>
              <a:gd name="T81" fmla="*/ 2147483647 h 14"/>
              <a:gd name="T82" fmla="*/ 2147483647 w 13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3"/>
              <a:gd name="T127" fmla="*/ 0 h 14"/>
              <a:gd name="T128" fmla="*/ 13 w 13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3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3" y="7"/>
                </a:lnTo>
                <a:lnTo>
                  <a:pt x="13" y="4"/>
                </a:lnTo>
                <a:lnTo>
                  <a:pt x="13" y="2"/>
                </a:lnTo>
                <a:lnTo>
                  <a:pt x="11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11"/>
                </a:lnTo>
                <a:lnTo>
                  <a:pt x="4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36" name="Freeform 187"/>
          <p:cNvSpPr>
            <a:spLocks/>
          </p:cNvSpPr>
          <p:nvPr/>
        </p:nvSpPr>
        <p:spPr bwMode="auto">
          <a:xfrm>
            <a:off x="3811333" y="1831663"/>
            <a:ext cx="25400" cy="22225"/>
          </a:xfrm>
          <a:custGeom>
            <a:avLst/>
            <a:gdLst>
              <a:gd name="T0" fmla="*/ 2147483647 w 16"/>
              <a:gd name="T1" fmla="*/ 2147483647 h 14"/>
              <a:gd name="T2" fmla="*/ 2147483647 w 16"/>
              <a:gd name="T3" fmla="*/ 2147483647 h 14"/>
              <a:gd name="T4" fmla="*/ 2147483647 w 16"/>
              <a:gd name="T5" fmla="*/ 2147483647 h 14"/>
              <a:gd name="T6" fmla="*/ 2147483647 w 16"/>
              <a:gd name="T7" fmla="*/ 2147483647 h 14"/>
              <a:gd name="T8" fmla="*/ 2147483647 w 16"/>
              <a:gd name="T9" fmla="*/ 2147483647 h 14"/>
              <a:gd name="T10" fmla="*/ 2147483647 w 16"/>
              <a:gd name="T11" fmla="*/ 2147483647 h 14"/>
              <a:gd name="T12" fmla="*/ 2147483647 w 16"/>
              <a:gd name="T13" fmla="*/ 2147483647 h 14"/>
              <a:gd name="T14" fmla="*/ 2147483647 w 16"/>
              <a:gd name="T15" fmla="*/ 2147483647 h 14"/>
              <a:gd name="T16" fmla="*/ 2147483647 w 16"/>
              <a:gd name="T17" fmla="*/ 2147483647 h 14"/>
              <a:gd name="T18" fmla="*/ 2147483647 w 16"/>
              <a:gd name="T19" fmla="*/ 2147483647 h 14"/>
              <a:gd name="T20" fmla="*/ 2147483647 w 16"/>
              <a:gd name="T21" fmla="*/ 2147483647 h 14"/>
              <a:gd name="T22" fmla="*/ 2147483647 w 16"/>
              <a:gd name="T23" fmla="*/ 2147483647 h 14"/>
              <a:gd name="T24" fmla="*/ 2147483647 w 16"/>
              <a:gd name="T25" fmla="*/ 2147483647 h 14"/>
              <a:gd name="T26" fmla="*/ 2147483647 w 16"/>
              <a:gd name="T27" fmla="*/ 2147483647 h 14"/>
              <a:gd name="T28" fmla="*/ 2147483647 w 16"/>
              <a:gd name="T29" fmla="*/ 2147483647 h 14"/>
              <a:gd name="T30" fmla="*/ 2147483647 w 16"/>
              <a:gd name="T31" fmla="*/ 2147483647 h 14"/>
              <a:gd name="T32" fmla="*/ 2147483647 w 16"/>
              <a:gd name="T33" fmla="*/ 0 h 14"/>
              <a:gd name="T34" fmla="*/ 2147483647 w 16"/>
              <a:gd name="T35" fmla="*/ 0 h 14"/>
              <a:gd name="T36" fmla="*/ 2147483647 w 16"/>
              <a:gd name="T37" fmla="*/ 0 h 14"/>
              <a:gd name="T38" fmla="*/ 2147483647 w 16"/>
              <a:gd name="T39" fmla="*/ 0 h 14"/>
              <a:gd name="T40" fmla="*/ 2147483647 w 16"/>
              <a:gd name="T41" fmla="*/ 0 h 14"/>
              <a:gd name="T42" fmla="*/ 2147483647 w 16"/>
              <a:gd name="T43" fmla="*/ 0 h 14"/>
              <a:gd name="T44" fmla="*/ 2147483647 w 16"/>
              <a:gd name="T45" fmla="*/ 0 h 14"/>
              <a:gd name="T46" fmla="*/ 2147483647 w 16"/>
              <a:gd name="T47" fmla="*/ 0 h 14"/>
              <a:gd name="T48" fmla="*/ 2147483647 w 16"/>
              <a:gd name="T49" fmla="*/ 0 h 14"/>
              <a:gd name="T50" fmla="*/ 2147483647 w 16"/>
              <a:gd name="T51" fmla="*/ 2147483647 h 14"/>
              <a:gd name="T52" fmla="*/ 2147483647 w 16"/>
              <a:gd name="T53" fmla="*/ 2147483647 h 14"/>
              <a:gd name="T54" fmla="*/ 2147483647 w 16"/>
              <a:gd name="T55" fmla="*/ 2147483647 h 14"/>
              <a:gd name="T56" fmla="*/ 0 w 16"/>
              <a:gd name="T57" fmla="*/ 2147483647 h 14"/>
              <a:gd name="T58" fmla="*/ 0 w 16"/>
              <a:gd name="T59" fmla="*/ 2147483647 h 14"/>
              <a:gd name="T60" fmla="*/ 0 w 16"/>
              <a:gd name="T61" fmla="*/ 2147483647 h 14"/>
              <a:gd name="T62" fmla="*/ 0 w 16"/>
              <a:gd name="T63" fmla="*/ 2147483647 h 14"/>
              <a:gd name="T64" fmla="*/ 0 w 16"/>
              <a:gd name="T65" fmla="*/ 2147483647 h 14"/>
              <a:gd name="T66" fmla="*/ 2147483647 w 16"/>
              <a:gd name="T67" fmla="*/ 2147483647 h 14"/>
              <a:gd name="T68" fmla="*/ 2147483647 w 16"/>
              <a:gd name="T69" fmla="*/ 2147483647 h 14"/>
              <a:gd name="T70" fmla="*/ 2147483647 w 16"/>
              <a:gd name="T71" fmla="*/ 2147483647 h 14"/>
              <a:gd name="T72" fmla="*/ 2147483647 w 16"/>
              <a:gd name="T73" fmla="*/ 2147483647 h 14"/>
              <a:gd name="T74" fmla="*/ 2147483647 w 16"/>
              <a:gd name="T75" fmla="*/ 2147483647 h 14"/>
              <a:gd name="T76" fmla="*/ 2147483647 w 16"/>
              <a:gd name="T77" fmla="*/ 2147483647 h 14"/>
              <a:gd name="T78" fmla="*/ 2147483647 w 16"/>
              <a:gd name="T79" fmla="*/ 2147483647 h 14"/>
              <a:gd name="T80" fmla="*/ 2147483647 w 16"/>
              <a:gd name="T81" fmla="*/ 2147483647 h 14"/>
              <a:gd name="T82" fmla="*/ 2147483647 w 16"/>
              <a:gd name="T83" fmla="*/ 2147483647 h 14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6"/>
              <a:gd name="T127" fmla="*/ 0 h 14"/>
              <a:gd name="T128" fmla="*/ 16 w 16"/>
              <a:gd name="T129" fmla="*/ 14 h 14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6" h="14">
                <a:moveTo>
                  <a:pt x="7" y="14"/>
                </a:moveTo>
                <a:lnTo>
                  <a:pt x="9" y="14"/>
                </a:lnTo>
                <a:lnTo>
                  <a:pt x="11" y="14"/>
                </a:lnTo>
                <a:lnTo>
                  <a:pt x="11" y="11"/>
                </a:lnTo>
                <a:lnTo>
                  <a:pt x="13" y="11"/>
                </a:lnTo>
                <a:lnTo>
                  <a:pt x="13" y="9"/>
                </a:lnTo>
                <a:lnTo>
                  <a:pt x="16" y="7"/>
                </a:lnTo>
                <a:lnTo>
                  <a:pt x="16" y="4"/>
                </a:lnTo>
                <a:lnTo>
                  <a:pt x="13" y="4"/>
                </a:lnTo>
                <a:lnTo>
                  <a:pt x="13" y="2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4" y="0"/>
                </a:lnTo>
                <a:lnTo>
                  <a:pt x="2" y="2"/>
                </a:lnTo>
                <a:lnTo>
                  <a:pt x="0" y="4"/>
                </a:lnTo>
                <a:lnTo>
                  <a:pt x="0" y="7"/>
                </a:lnTo>
                <a:lnTo>
                  <a:pt x="0" y="9"/>
                </a:lnTo>
                <a:lnTo>
                  <a:pt x="2" y="9"/>
                </a:lnTo>
                <a:lnTo>
                  <a:pt x="2" y="11"/>
                </a:lnTo>
                <a:lnTo>
                  <a:pt x="4" y="11"/>
                </a:lnTo>
                <a:lnTo>
                  <a:pt x="4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37" name="Freeform 190"/>
          <p:cNvSpPr>
            <a:spLocks/>
          </p:cNvSpPr>
          <p:nvPr/>
        </p:nvSpPr>
        <p:spPr bwMode="auto">
          <a:xfrm>
            <a:off x="4033583" y="1831663"/>
            <a:ext cx="26987" cy="22225"/>
          </a:xfrm>
          <a:custGeom>
            <a:avLst/>
            <a:gdLst>
              <a:gd name="T0" fmla="*/ 2147483647 w 17"/>
              <a:gd name="T1" fmla="*/ 2147483647 h 14"/>
              <a:gd name="T2" fmla="*/ 2147483647 w 17"/>
              <a:gd name="T3" fmla="*/ 2147483647 h 14"/>
              <a:gd name="T4" fmla="*/ 2147483647 w 17"/>
              <a:gd name="T5" fmla="*/ 2147483647 h 14"/>
              <a:gd name="T6" fmla="*/ 2147483647 w 17"/>
              <a:gd name="T7" fmla="*/ 2147483647 h 14"/>
              <a:gd name="T8" fmla="*/ 2147483647 w 17"/>
              <a:gd name="T9" fmla="*/ 2147483647 h 14"/>
              <a:gd name="T10" fmla="*/ 2147483647 w 17"/>
              <a:gd name="T11" fmla="*/ 2147483647 h 14"/>
              <a:gd name="T12" fmla="*/ 2147483647 w 17"/>
              <a:gd name="T13" fmla="*/ 2147483647 h 14"/>
              <a:gd name="T14" fmla="*/ 2147483647 w 17"/>
              <a:gd name="T15" fmla="*/ 2147483647 h 14"/>
              <a:gd name="T16" fmla="*/ 2147483647 w 17"/>
              <a:gd name="T17" fmla="*/ 2147483647 h 14"/>
              <a:gd name="T18" fmla="*/ 2147483647 w 17"/>
              <a:gd name="T19" fmla="*/ 2147483647 h 14"/>
              <a:gd name="T20" fmla="*/ 2147483647 w 17"/>
              <a:gd name="T21" fmla="*/ 2147483647 h 14"/>
              <a:gd name="T22" fmla="*/ 2147483647 w 17"/>
              <a:gd name="T23" fmla="*/ 2147483647 h 14"/>
              <a:gd name="T24" fmla="*/ 2147483647 w 17"/>
              <a:gd name="T25" fmla="*/ 2147483647 h 14"/>
              <a:gd name="T26" fmla="*/ 2147483647 w 17"/>
              <a:gd name="T27" fmla="*/ 2147483647 h 14"/>
              <a:gd name="T28" fmla="*/ 2147483647 w 17"/>
              <a:gd name="T29" fmla="*/ 2147483647 h 14"/>
              <a:gd name="T30" fmla="*/ 2147483647 w 17"/>
              <a:gd name="T31" fmla="*/ 2147483647 h 14"/>
              <a:gd name="T32" fmla="*/ 2147483647 w 17"/>
              <a:gd name="T33" fmla="*/ 0 h 14"/>
              <a:gd name="T34" fmla="*/ 2147483647 w 17"/>
              <a:gd name="T35" fmla="*/ 0 h 14"/>
              <a:gd name="T36" fmla="*/ 2147483647 w 17"/>
              <a:gd name="T37" fmla="*/ 0 h 14"/>
              <a:gd name="T38" fmla="*/ 2147483647 w 17"/>
              <a:gd name="T39" fmla="*/ 0 h 14"/>
              <a:gd name="T40" fmla="*/ 2147483647 w 17"/>
              <a:gd name="T41" fmla="*/ 0 h 14"/>
              <a:gd name="T42" fmla="*/ 2147483647 w 17"/>
              <a:gd name="T43" fmla="*/ 0 h 14"/>
              <a:gd name="T44" fmla="*/ 2147483647 w 17"/>
              <a:gd name="T45" fmla="*/ 0 h 14"/>
              <a:gd name="T46" fmla="*/ 2147483647 w 17"/>
              <a:gd name="T47" fmla="*/ 0 h 14"/>
              <a:gd name="T48" fmla="*/ 2147483647 w 17"/>
              <a:gd name="T49" fmla="*/ 0 h 14"/>
              <a:gd name="T50" fmla="*/ 2147483647 w 17"/>
              <a:gd name="T51" fmla="*/ 2147483647 h 14"/>
              <a:gd name="T52" fmla="*/ 2147483647 w 17"/>
              <a:gd name="T53" fmla="*/ 2147483647 h 14"/>
              <a:gd name="T54" fmla="*/ 2147483647 w 17"/>
              <a:gd name="T55" fmla="*/ 2147483647 h 14"/>
              <a:gd name="T56" fmla="*/ 2147483647 w 17"/>
              <a:gd name="T57" fmla="*/ 2147483647 h 14"/>
              <a:gd name="T58" fmla="*/ 0 w 17"/>
              <a:gd name="T59" fmla="*/ 2147483647 h 14"/>
              <a:gd name="T60" fmla="*/ 0 w 17"/>
              <a:gd name="T61" fmla="*/ 2147483647 h 14"/>
              <a:gd name="T62" fmla="*/ 0 w 17"/>
              <a:gd name="T63" fmla="*/ 2147483647 h 14"/>
              <a:gd name="T64" fmla="*/ 2147483647 w 17"/>
              <a:gd name="T65" fmla="*/ 2147483647 h 14"/>
              <a:gd name="T66" fmla="*/ 2147483647 w 17"/>
              <a:gd name="T67" fmla="*/ 2147483647 h 14"/>
              <a:gd name="T68" fmla="*/ 2147483647 w 17"/>
              <a:gd name="T69" fmla="*/ 2147483647 h 14"/>
              <a:gd name="T70" fmla="*/ 2147483647 w 17"/>
              <a:gd name="T71" fmla="*/ 2147483647 h 14"/>
              <a:gd name="T72" fmla="*/ 2147483647 w 17"/>
              <a:gd name="T73" fmla="*/ 2147483647 h 14"/>
              <a:gd name="T74" fmla="*/ 2147483647 w 17"/>
              <a:gd name="T75" fmla="*/ 2147483647 h 14"/>
              <a:gd name="T76" fmla="*/ 2147483647 w 17"/>
              <a:gd name="T77" fmla="*/ 2147483647 h 14"/>
              <a:gd name="T78" fmla="*/ 2147483647 w 17"/>
              <a:gd name="T79" fmla="*/ 2147483647 h 14"/>
              <a:gd name="T80" fmla="*/ 2147483647 w 17"/>
              <a:gd name="T81" fmla="*/ 2147483647 h 14"/>
              <a:gd name="T82" fmla="*/ 2147483647 w 17"/>
              <a:gd name="T83" fmla="*/ 2147483647 h 14"/>
              <a:gd name="T84" fmla="*/ 2147483647 w 17"/>
              <a:gd name="T85" fmla="*/ 2147483647 h 1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17"/>
              <a:gd name="T130" fmla="*/ 0 h 14"/>
              <a:gd name="T131" fmla="*/ 17 w 17"/>
              <a:gd name="T132" fmla="*/ 14 h 1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17" h="14">
                <a:moveTo>
                  <a:pt x="7" y="14"/>
                </a:moveTo>
                <a:lnTo>
                  <a:pt x="10" y="14"/>
                </a:lnTo>
                <a:lnTo>
                  <a:pt x="12" y="14"/>
                </a:lnTo>
                <a:lnTo>
                  <a:pt x="12" y="11"/>
                </a:lnTo>
                <a:lnTo>
                  <a:pt x="14" y="11"/>
                </a:lnTo>
                <a:lnTo>
                  <a:pt x="14" y="9"/>
                </a:lnTo>
                <a:lnTo>
                  <a:pt x="17" y="9"/>
                </a:lnTo>
                <a:lnTo>
                  <a:pt x="17" y="7"/>
                </a:lnTo>
                <a:lnTo>
                  <a:pt x="17" y="4"/>
                </a:lnTo>
                <a:lnTo>
                  <a:pt x="14" y="2"/>
                </a:lnTo>
                <a:lnTo>
                  <a:pt x="12" y="0"/>
                </a:lnTo>
                <a:lnTo>
                  <a:pt x="10" y="0"/>
                </a:lnTo>
                <a:lnTo>
                  <a:pt x="7" y="0"/>
                </a:lnTo>
                <a:lnTo>
                  <a:pt x="5" y="0"/>
                </a:lnTo>
                <a:lnTo>
                  <a:pt x="3" y="2"/>
                </a:lnTo>
                <a:lnTo>
                  <a:pt x="3" y="4"/>
                </a:lnTo>
                <a:lnTo>
                  <a:pt x="0" y="4"/>
                </a:lnTo>
                <a:lnTo>
                  <a:pt x="0" y="7"/>
                </a:lnTo>
                <a:lnTo>
                  <a:pt x="3" y="9"/>
                </a:lnTo>
                <a:lnTo>
                  <a:pt x="3" y="11"/>
                </a:lnTo>
                <a:lnTo>
                  <a:pt x="5" y="11"/>
                </a:lnTo>
                <a:lnTo>
                  <a:pt x="5" y="14"/>
                </a:lnTo>
                <a:lnTo>
                  <a:pt x="7" y="14"/>
                </a:lnTo>
                <a:lnTo>
                  <a:pt x="10" y="14"/>
                </a:lnTo>
                <a:lnTo>
                  <a:pt x="7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Where to put the page 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option 1: </a:t>
            </a:r>
            <a:r>
              <a:rPr lang="en-CA" b="1" dirty="0"/>
              <a:t>on-chip</a:t>
            </a:r>
            <a:r>
              <a:rPr lang="en-CA" dirty="0"/>
              <a:t> near the CPU (like the L1$)</a:t>
            </a:r>
          </a:p>
          <a:p>
            <a:pPr lvl="1"/>
            <a:r>
              <a:rPr lang="en-CA" dirty="0"/>
              <a:t>pros: very fast access</a:t>
            </a:r>
          </a:p>
          <a:p>
            <a:pPr lvl="1"/>
            <a:r>
              <a:rPr lang="en-CA" dirty="0"/>
              <a:t>cons: 1 M entries &gt;&gt; any reasonable L1$</a:t>
            </a:r>
          </a:p>
          <a:p>
            <a:endParaRPr lang="en-CA" dirty="0"/>
          </a:p>
          <a:p>
            <a:r>
              <a:rPr lang="en-CA" dirty="0"/>
              <a:t>option 2: </a:t>
            </a:r>
            <a:r>
              <a:rPr lang="en-CA" b="1" dirty="0"/>
              <a:t>off-chip</a:t>
            </a:r>
            <a:r>
              <a:rPr lang="en-CA" dirty="0"/>
              <a:t> in main memory</a:t>
            </a:r>
          </a:p>
          <a:p>
            <a:pPr lvl="1"/>
            <a:r>
              <a:rPr lang="en-CA" dirty="0"/>
              <a:t>pros: might actually fit</a:t>
            </a:r>
          </a:p>
          <a:p>
            <a:pPr lvl="1"/>
            <a:r>
              <a:rPr lang="en-CA" dirty="0"/>
              <a:t>cons: access very slow</a:t>
            </a:r>
            <a:br>
              <a:rPr lang="en-CA" dirty="0"/>
            </a:br>
            <a:r>
              <a:rPr lang="en-CA" dirty="0"/>
              <a:t>          (but must be done up to 2× per </a:t>
            </a:r>
            <a:r>
              <a:rPr lang="en-CA" dirty="0" err="1"/>
              <a:t>instr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cons: per-process tables still lots of memory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791571" y="1978925"/>
            <a:ext cx="7465325" cy="3769056"/>
            <a:chOff x="791571" y="1978925"/>
            <a:chExt cx="7465325" cy="3226217"/>
          </a:xfrm>
        </p:grpSpPr>
        <p:sp>
          <p:nvSpPr>
            <p:cNvPr id="4" name="Rectangle 3"/>
            <p:cNvSpPr/>
            <p:nvPr/>
          </p:nvSpPr>
          <p:spPr bwMode="auto">
            <a:xfrm>
              <a:off x="2251881" y="1978925"/>
              <a:ext cx="6005015" cy="103723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2251881" y="3619288"/>
              <a:ext cx="6005015" cy="158585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791571" y="4362082"/>
              <a:ext cx="1583139" cy="8430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CA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06" charset="-52"/>
                <a:ea typeface="ＭＳ Ｐゴシック" pitchFamily="-106" charset="-128"/>
                <a:cs typeface="ＭＳ Ｐゴシック" pitchFamily="-106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383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874000" cy="812800"/>
          </a:xfrm>
          <a:noFill/>
        </p:spPr>
        <p:txBody>
          <a:bodyPr/>
          <a:lstStyle/>
          <a:p>
            <a:pPr marL="25400" eaLnBrk="1" hangingPunct="1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b="1" dirty="0">
                <a:latin typeface="Arial" charset="0"/>
              </a:rPr>
              <a:t>Efficient Page Table Storage</a:t>
            </a:r>
            <a:endParaRPr lang="en-US" altLang="en-US" b="1" dirty="0">
              <a:latin typeface="Arial" charset="0"/>
            </a:endParaRPr>
          </a:p>
        </p:txBody>
      </p:sp>
      <p:sp>
        <p:nvSpPr>
          <p:cNvPr id="28674" name="Freeform 3"/>
          <p:cNvSpPr>
            <a:spLocks/>
          </p:cNvSpPr>
          <p:nvPr/>
        </p:nvSpPr>
        <p:spPr bwMode="auto">
          <a:xfrm>
            <a:off x="279400" y="1250950"/>
            <a:ext cx="857250" cy="768350"/>
          </a:xfrm>
          <a:custGeom>
            <a:avLst/>
            <a:gdLst>
              <a:gd name="T0" fmla="*/ 0 w 10000"/>
              <a:gd name="T1" fmla="*/ 0 h 10000"/>
              <a:gd name="T2" fmla="*/ 2147483647 w 10000"/>
              <a:gd name="T3" fmla="*/ 0 h 10000"/>
              <a:gd name="T4" fmla="*/ 2147483647 w 10000"/>
              <a:gd name="T5" fmla="*/ 2147483647 h 10000"/>
              <a:gd name="T6" fmla="*/ 0 w 10000"/>
              <a:gd name="T7" fmla="*/ 2147483647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grpSp>
        <p:nvGrpSpPr>
          <p:cNvPr id="3" name="Group 2"/>
          <p:cNvGrpSpPr/>
          <p:nvPr/>
        </p:nvGrpSpPr>
        <p:grpSpPr>
          <a:xfrm>
            <a:off x="456820" y="2204090"/>
            <a:ext cx="8631193" cy="4498975"/>
            <a:chOff x="456820" y="2204090"/>
            <a:chExt cx="8631193" cy="4498975"/>
          </a:xfrm>
        </p:grpSpPr>
        <p:grpSp>
          <p:nvGrpSpPr>
            <p:cNvPr id="28677" name="Group 6"/>
            <p:cNvGrpSpPr>
              <a:grpSpLocks/>
            </p:cNvGrpSpPr>
            <p:nvPr/>
          </p:nvGrpSpPr>
          <p:grpSpPr bwMode="auto">
            <a:xfrm>
              <a:off x="456820" y="5639419"/>
              <a:ext cx="4178300" cy="895350"/>
              <a:chOff x="154" y="2108"/>
              <a:chExt cx="2632" cy="564"/>
            </a:xfrm>
          </p:grpSpPr>
          <p:grpSp>
            <p:nvGrpSpPr>
              <p:cNvPr id="28687" name="Group 7"/>
              <p:cNvGrpSpPr>
                <a:grpSpLocks/>
              </p:cNvGrpSpPr>
              <p:nvPr/>
            </p:nvGrpSpPr>
            <p:grpSpPr bwMode="auto">
              <a:xfrm>
                <a:off x="438" y="2108"/>
                <a:ext cx="2032" cy="318"/>
                <a:chOff x="402" y="2070"/>
                <a:chExt cx="2032" cy="318"/>
              </a:xfrm>
            </p:grpSpPr>
            <p:sp>
              <p:nvSpPr>
                <p:cNvPr id="28689" name="Freeform 8"/>
                <p:cNvSpPr>
                  <a:spLocks/>
                </p:cNvSpPr>
                <p:nvPr/>
              </p:nvSpPr>
              <p:spPr bwMode="auto">
                <a:xfrm>
                  <a:off x="474" y="2204"/>
                  <a:ext cx="616" cy="184"/>
                </a:xfrm>
                <a:custGeom>
                  <a:avLst/>
                  <a:gdLst>
                    <a:gd name="T0" fmla="*/ 0 w 10000"/>
                    <a:gd name="T1" fmla="*/ 0 h 10000"/>
                    <a:gd name="T2" fmla="*/ 0 w 10000"/>
                    <a:gd name="T3" fmla="*/ 0 h 10000"/>
                    <a:gd name="T4" fmla="*/ 0 w 10000"/>
                    <a:gd name="T5" fmla="*/ 0 h 10000"/>
                    <a:gd name="T6" fmla="*/ 0 w 10000"/>
                    <a:gd name="T7" fmla="*/ 0 h 10000"/>
                    <a:gd name="T8" fmla="*/ 0 w 10000"/>
                    <a:gd name="T9" fmla="*/ 0 h 1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00"/>
                    <a:gd name="T16" fmla="*/ 0 h 10000"/>
                    <a:gd name="T17" fmla="*/ 10000 w 10000"/>
                    <a:gd name="T18" fmla="*/ 10000 h 1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00" h="10000">
                      <a:moveTo>
                        <a:pt x="0" y="0"/>
                      </a:moveTo>
                      <a:lnTo>
                        <a:pt x="10000" y="0"/>
                      </a:lnTo>
                      <a:lnTo>
                        <a:pt x="10000" y="10000"/>
                      </a:lnTo>
                      <a:lnTo>
                        <a:pt x="0" y="1000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8690" name="Freeform 9"/>
                <p:cNvSpPr>
                  <a:spLocks/>
                </p:cNvSpPr>
                <p:nvPr/>
              </p:nvSpPr>
              <p:spPr bwMode="auto">
                <a:xfrm>
                  <a:off x="1098" y="2204"/>
                  <a:ext cx="616" cy="184"/>
                </a:xfrm>
                <a:custGeom>
                  <a:avLst/>
                  <a:gdLst>
                    <a:gd name="T0" fmla="*/ 0 w 10000"/>
                    <a:gd name="T1" fmla="*/ 0 h 10000"/>
                    <a:gd name="T2" fmla="*/ 0 w 10000"/>
                    <a:gd name="T3" fmla="*/ 0 h 10000"/>
                    <a:gd name="T4" fmla="*/ 0 w 10000"/>
                    <a:gd name="T5" fmla="*/ 0 h 10000"/>
                    <a:gd name="T6" fmla="*/ 0 w 10000"/>
                    <a:gd name="T7" fmla="*/ 0 h 10000"/>
                    <a:gd name="T8" fmla="*/ 0 w 10000"/>
                    <a:gd name="T9" fmla="*/ 0 h 1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00"/>
                    <a:gd name="T16" fmla="*/ 0 h 10000"/>
                    <a:gd name="T17" fmla="*/ 10000 w 10000"/>
                    <a:gd name="T18" fmla="*/ 10000 h 1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00" h="10000">
                      <a:moveTo>
                        <a:pt x="0" y="0"/>
                      </a:moveTo>
                      <a:lnTo>
                        <a:pt x="10000" y="0"/>
                      </a:lnTo>
                      <a:lnTo>
                        <a:pt x="10000" y="10000"/>
                      </a:lnTo>
                      <a:lnTo>
                        <a:pt x="0" y="1000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8691" name="Freeform 10"/>
                <p:cNvSpPr>
                  <a:spLocks/>
                </p:cNvSpPr>
                <p:nvPr/>
              </p:nvSpPr>
              <p:spPr bwMode="auto">
                <a:xfrm>
                  <a:off x="1722" y="2204"/>
                  <a:ext cx="712" cy="184"/>
                </a:xfrm>
                <a:custGeom>
                  <a:avLst/>
                  <a:gdLst>
                    <a:gd name="T0" fmla="*/ 0 w 10000"/>
                    <a:gd name="T1" fmla="*/ 0 h 10000"/>
                    <a:gd name="T2" fmla="*/ 0 w 10000"/>
                    <a:gd name="T3" fmla="*/ 0 h 10000"/>
                    <a:gd name="T4" fmla="*/ 0 w 10000"/>
                    <a:gd name="T5" fmla="*/ 0 h 10000"/>
                    <a:gd name="T6" fmla="*/ 0 w 10000"/>
                    <a:gd name="T7" fmla="*/ 0 h 10000"/>
                    <a:gd name="T8" fmla="*/ 0 w 10000"/>
                    <a:gd name="T9" fmla="*/ 0 h 100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00"/>
                    <a:gd name="T16" fmla="*/ 0 h 10000"/>
                    <a:gd name="T17" fmla="*/ 10000 w 10000"/>
                    <a:gd name="T18" fmla="*/ 10000 h 100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00" h="10000">
                      <a:moveTo>
                        <a:pt x="0" y="0"/>
                      </a:moveTo>
                      <a:lnTo>
                        <a:pt x="10000" y="0"/>
                      </a:lnTo>
                      <a:lnTo>
                        <a:pt x="10000" y="10000"/>
                      </a:lnTo>
                      <a:lnTo>
                        <a:pt x="0" y="10000"/>
                      </a:lnTo>
                      <a:lnTo>
                        <a:pt x="0" y="0"/>
                      </a:lnTo>
                      <a:close/>
                      <a:moveTo>
                        <a:pt x="0" y="0"/>
                      </a:move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A"/>
                </a:p>
              </p:txBody>
            </p:sp>
            <p:sp>
              <p:nvSpPr>
                <p:cNvPr id="2869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547" y="2230"/>
                  <a:ext cx="462" cy="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algn="ctr"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P1 index</a:t>
                  </a:r>
                </a:p>
              </p:txBody>
            </p:sp>
            <p:sp>
              <p:nvSpPr>
                <p:cNvPr id="28693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171" y="2230"/>
                  <a:ext cx="462" cy="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algn="ctr"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P2 index</a:t>
                  </a:r>
                </a:p>
              </p:txBody>
            </p:sp>
            <p:sp>
              <p:nvSpPr>
                <p:cNvPr id="28694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758" y="2230"/>
                  <a:ext cx="619" cy="1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page offset</a:t>
                  </a:r>
                </a:p>
              </p:txBody>
            </p:sp>
            <p:sp>
              <p:nvSpPr>
                <p:cNvPr id="2869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402" y="2070"/>
                  <a:ext cx="125" cy="1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31</a:t>
                  </a:r>
                </a:p>
              </p:txBody>
            </p:sp>
            <p:sp>
              <p:nvSpPr>
                <p:cNvPr id="2869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506" y="2070"/>
                  <a:ext cx="125" cy="1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12</a:t>
                  </a:r>
                </a:p>
              </p:txBody>
            </p:sp>
            <p:sp>
              <p:nvSpPr>
                <p:cNvPr id="28697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714" y="2070"/>
                  <a:ext cx="208" cy="1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11</a:t>
                  </a:r>
                </a:p>
              </p:txBody>
            </p:sp>
            <p:sp>
              <p:nvSpPr>
                <p:cNvPr id="2869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322" y="2070"/>
                  <a:ext cx="63" cy="1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0</a:t>
                  </a:r>
                </a:p>
              </p:txBody>
            </p:sp>
            <p:sp>
              <p:nvSpPr>
                <p:cNvPr id="28699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090" y="2070"/>
                  <a:ext cx="125" cy="1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21</a:t>
                  </a:r>
                </a:p>
              </p:txBody>
            </p:sp>
            <p:sp>
              <p:nvSpPr>
                <p:cNvPr id="28700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922" y="2070"/>
                  <a:ext cx="125" cy="1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1pPr>
                  <a:lvl2pPr marL="742950" indent="-28575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2pPr>
                  <a:lvl3pPr marL="11430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3pPr>
                  <a:lvl4pPr marL="16002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4pPr>
                  <a:lvl5pPr marL="2057400" indent="-228600"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</a:tabLs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-128"/>
                    </a:defRPr>
                  </a:lvl9pPr>
                </a:lstStyle>
                <a:p>
                  <a:pPr eaLnBrk="1" hangingPunct="1">
                    <a:lnSpc>
                      <a:spcPts val="1500"/>
                    </a:lnSpc>
                  </a:pPr>
                  <a:r>
                    <a:rPr lang="en-US" altLang="en-US" sz="1400" b="1"/>
                    <a:t>22</a:t>
                  </a:r>
                </a:p>
              </p:txBody>
            </p:sp>
          </p:grpSp>
          <p:sp>
            <p:nvSpPr>
              <p:cNvPr id="28688" name="Text Box 20"/>
              <p:cNvSpPr txBox="1">
                <a:spLocks noChangeArrowheads="1"/>
              </p:cNvSpPr>
              <p:nvPr/>
            </p:nvSpPr>
            <p:spPr bwMode="auto">
              <a:xfrm>
                <a:off x="154" y="2488"/>
                <a:ext cx="263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355600" algn="l"/>
                    <a:tab pos="711200" algn="l"/>
                    <a:tab pos="1066800" algn="l"/>
                    <a:tab pos="1422400" algn="l"/>
                    <a:tab pos="1778000" algn="l"/>
                    <a:tab pos="2133600" algn="l"/>
                    <a:tab pos="2489200" algn="l"/>
                    <a:tab pos="2844800" algn="l"/>
                    <a:tab pos="3200400" algn="l"/>
                    <a:tab pos="3556000" algn="l"/>
                    <a:tab pos="3911600" algn="l"/>
                    <a:tab pos="4267200" algn="l"/>
                  </a:tabLs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1" hangingPunct="1"/>
                <a:r>
                  <a:rPr lang="en-US" altLang="en-US" sz="1900" b="1" dirty="0">
                    <a:solidFill>
                      <a:srgbClr val="0000FF"/>
                    </a:solidFill>
                  </a:rPr>
                  <a:t>32 bit virtual address</a:t>
                </a:r>
              </a:p>
            </p:txBody>
          </p:sp>
        </p:grpSp>
        <p:grpSp>
          <p:nvGrpSpPr>
            <p:cNvPr id="28683" name="Group 25"/>
            <p:cNvGrpSpPr>
              <a:grpSpLocks/>
            </p:cNvGrpSpPr>
            <p:nvPr/>
          </p:nvGrpSpPr>
          <p:grpSpPr bwMode="auto">
            <a:xfrm>
              <a:off x="4714450" y="2204090"/>
              <a:ext cx="4373563" cy="4498975"/>
              <a:chOff x="2425" y="1222"/>
              <a:chExt cx="2755" cy="2834"/>
            </a:xfrm>
          </p:grpSpPr>
          <p:pic>
            <p:nvPicPr>
              <p:cNvPr id="28684" name="Picture 2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25" y="1222"/>
                <a:ext cx="2455" cy="2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685" name="Freeform 27"/>
              <p:cNvSpPr>
                <a:spLocks/>
              </p:cNvSpPr>
              <p:nvPr/>
            </p:nvSpPr>
            <p:spPr bwMode="auto">
              <a:xfrm>
                <a:off x="2425" y="1765"/>
                <a:ext cx="468" cy="496"/>
              </a:xfrm>
              <a:custGeom>
                <a:avLst/>
                <a:gdLst>
                  <a:gd name="T0" fmla="*/ 0 w 10000"/>
                  <a:gd name="T1" fmla="*/ 0 h 10000"/>
                  <a:gd name="T2" fmla="*/ 0 w 10000"/>
                  <a:gd name="T3" fmla="*/ 0 h 10000"/>
                  <a:gd name="T4" fmla="*/ 0 w 10000"/>
                  <a:gd name="T5" fmla="*/ 0 h 10000"/>
                  <a:gd name="T6" fmla="*/ 0 w 10000"/>
                  <a:gd name="T7" fmla="*/ 0 h 10000"/>
                  <a:gd name="T8" fmla="*/ 0 w 10000"/>
                  <a:gd name="T9" fmla="*/ 0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8686" name="Freeform 28"/>
              <p:cNvSpPr>
                <a:spLocks/>
              </p:cNvSpPr>
              <p:nvPr/>
            </p:nvSpPr>
            <p:spPr bwMode="auto">
              <a:xfrm>
                <a:off x="2601" y="3669"/>
                <a:ext cx="672" cy="384"/>
              </a:xfrm>
              <a:custGeom>
                <a:avLst/>
                <a:gdLst>
                  <a:gd name="T0" fmla="*/ 0 w 10000"/>
                  <a:gd name="T1" fmla="*/ 0 h 10000"/>
                  <a:gd name="T2" fmla="*/ 0 w 10000"/>
                  <a:gd name="T3" fmla="*/ 0 h 10000"/>
                  <a:gd name="T4" fmla="*/ 0 w 10000"/>
                  <a:gd name="T5" fmla="*/ 0 h 10000"/>
                  <a:gd name="T6" fmla="*/ 0 w 10000"/>
                  <a:gd name="T7" fmla="*/ 0 h 10000"/>
                  <a:gd name="T8" fmla="*/ 0 w 10000"/>
                  <a:gd name="T9" fmla="*/ 0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</p:grpSp>
      </p:grp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393700" y="921840"/>
            <a:ext cx="8458200" cy="4701038"/>
          </a:xfrm>
        </p:spPr>
        <p:txBody>
          <a:bodyPr/>
          <a:lstStyle/>
          <a:p>
            <a:r>
              <a:rPr lang="en-CA" dirty="0"/>
              <a:t>observation: each </a:t>
            </a:r>
            <a:r>
              <a:rPr lang="en-CA" b="1" dirty="0"/>
              <a:t>process</a:t>
            </a:r>
            <a:r>
              <a:rPr lang="en-CA" dirty="0"/>
              <a:t> needs </a:t>
            </a:r>
            <a:r>
              <a:rPr lang="en-CA" b="1" dirty="0"/>
              <a:t>own</a:t>
            </a:r>
            <a:r>
              <a:rPr lang="en-CA" dirty="0"/>
              <a:t> page table</a:t>
            </a:r>
          </a:p>
          <a:p>
            <a:pPr lvl="1"/>
            <a:r>
              <a:rPr lang="en-CA" dirty="0"/>
              <a:t>100s–1000s processes could easily be active</a:t>
            </a:r>
          </a:p>
          <a:p>
            <a:r>
              <a:rPr lang="en-CA" dirty="0"/>
              <a:t>observation: page tables are </a:t>
            </a:r>
            <a:r>
              <a:rPr lang="en-CA" b="1" dirty="0"/>
              <a:t>sparse</a:t>
            </a:r>
          </a:p>
          <a:p>
            <a:pPr lvl="1"/>
            <a:r>
              <a:rPr lang="en-CA" dirty="0"/>
              <a:t>few programs use the entire</a:t>
            </a:r>
            <a:br>
              <a:rPr lang="en-CA" dirty="0"/>
            </a:br>
            <a:r>
              <a:rPr lang="en-CA" dirty="0"/>
              <a:t>address space</a:t>
            </a:r>
          </a:p>
          <a:p>
            <a:pPr lvl="1"/>
            <a:endParaRPr lang="en-CA" dirty="0"/>
          </a:p>
          <a:p>
            <a:r>
              <a:rPr lang="en-CA" dirty="0"/>
              <a:t>solution: </a:t>
            </a:r>
            <a:r>
              <a:rPr lang="en-CA" b="1" dirty="0"/>
              <a:t>multi-level PTs</a:t>
            </a:r>
          </a:p>
          <a:p>
            <a:pPr lvl="1"/>
            <a:r>
              <a:rPr lang="en-CA" dirty="0"/>
              <a:t>top-level table in RAM</a:t>
            </a:r>
          </a:p>
          <a:p>
            <a:pPr lvl="1"/>
            <a:r>
              <a:rPr lang="en-CA" dirty="0"/>
              <a:t>next-level either in RAM</a:t>
            </a:r>
            <a:br>
              <a:rPr lang="en-CA" dirty="0"/>
            </a:br>
            <a:r>
              <a:rPr lang="en-CA" dirty="0"/>
              <a:t>or paged out to disk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65F6-4A64-0247-A876-D3530AF7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So what’s in a PTE?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5282EF-2A69-9C4A-983C-E1C027C4C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40" y="1759403"/>
            <a:ext cx="6997682" cy="93018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7FF4750-BCF1-4740-816F-BA79407B0A15}"/>
              </a:ext>
            </a:extLst>
          </p:cNvPr>
          <p:cNvGrpSpPr/>
          <p:nvPr/>
        </p:nvGrpSpPr>
        <p:grpSpPr>
          <a:xfrm>
            <a:off x="2150" y="2618877"/>
            <a:ext cx="9144000" cy="2062010"/>
            <a:chOff x="2150" y="2773624"/>
            <a:chExt cx="9144000" cy="206201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BB7796-CEE2-3247-8FCD-3198BFEC2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0" y="2773624"/>
              <a:ext cx="9144000" cy="93018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771093-4FDF-6F42-AA5B-5138D95BD85F}"/>
                </a:ext>
              </a:extLst>
            </p:cNvPr>
            <p:cNvSpPr txBox="1"/>
            <p:nvPr/>
          </p:nvSpPr>
          <p:spPr>
            <a:xfrm rot="18900000">
              <a:off x="5275389" y="3601330"/>
              <a:ext cx="5725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dirty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A777EF-445D-6C44-9D51-C0F78A6406F0}"/>
                </a:ext>
              </a:extLst>
            </p:cNvPr>
            <p:cNvSpPr txBox="1"/>
            <p:nvPr/>
          </p:nvSpPr>
          <p:spPr>
            <a:xfrm rot="18900000">
              <a:off x="5289455" y="3785549"/>
              <a:ext cx="1050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accessed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1CBE64-D64E-7D47-8A54-53DAA0640CCA}"/>
                </a:ext>
              </a:extLst>
            </p:cNvPr>
            <p:cNvSpPr txBox="1"/>
            <p:nvPr/>
          </p:nvSpPr>
          <p:spPr>
            <a:xfrm rot="18900000">
              <a:off x="6099820" y="3784788"/>
              <a:ext cx="10967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 err="1"/>
                <a:t>usermode</a:t>
              </a:r>
              <a:endParaRPr lang="en-CA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21D65D-1B88-EC45-B6AE-65CF78D356D9}"/>
                </a:ext>
              </a:extLst>
            </p:cNvPr>
            <p:cNvSpPr txBox="1"/>
            <p:nvPr/>
          </p:nvSpPr>
          <p:spPr>
            <a:xfrm rot="18900000">
              <a:off x="5982604" y="3657154"/>
              <a:ext cx="7296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global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41C28A-AEE0-2F40-970B-7BC15587DE90}"/>
                </a:ext>
              </a:extLst>
            </p:cNvPr>
            <p:cNvSpPr txBox="1"/>
            <p:nvPr/>
          </p:nvSpPr>
          <p:spPr>
            <a:xfrm rot="18900000">
              <a:off x="4308590" y="3750869"/>
              <a:ext cx="9829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reserved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3B0547-C725-4848-9A25-2FD3F145CB89}"/>
                </a:ext>
              </a:extLst>
            </p:cNvPr>
            <p:cNvSpPr txBox="1"/>
            <p:nvPr/>
          </p:nvSpPr>
          <p:spPr>
            <a:xfrm rot="18900000">
              <a:off x="6486874" y="3811260"/>
              <a:ext cx="11753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executable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00A866-11E1-2F4F-AF24-D4676E9B4341}"/>
                </a:ext>
              </a:extLst>
            </p:cNvPr>
            <p:cNvSpPr txBox="1"/>
            <p:nvPr/>
          </p:nvSpPr>
          <p:spPr>
            <a:xfrm rot="18900000">
              <a:off x="7072249" y="3720249"/>
              <a:ext cx="10038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writeable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B33B25-453C-444B-BDB3-7C07F453A061}"/>
                </a:ext>
              </a:extLst>
            </p:cNvPr>
            <p:cNvSpPr txBox="1"/>
            <p:nvPr/>
          </p:nvSpPr>
          <p:spPr>
            <a:xfrm rot="18900000">
              <a:off x="7573978" y="3725476"/>
              <a:ext cx="9813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readable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E9569C9-39A9-2F41-9B4A-248235BA9F16}"/>
                </a:ext>
              </a:extLst>
            </p:cNvPr>
            <p:cNvSpPr txBox="1"/>
            <p:nvPr/>
          </p:nvSpPr>
          <p:spPr>
            <a:xfrm rot="18900000">
              <a:off x="8338752" y="3640578"/>
              <a:ext cx="6046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valid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7BA1EC4-6AE0-FC4C-8BAB-787910A222B0}"/>
                </a:ext>
              </a:extLst>
            </p:cNvPr>
            <p:cNvSpPr txBox="1"/>
            <p:nvPr/>
          </p:nvSpPr>
          <p:spPr>
            <a:xfrm>
              <a:off x="5814599" y="4497080"/>
              <a:ext cx="33105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dirty="0"/>
                <a:t>XWR=0 </a:t>
              </a:r>
              <a:r>
                <a:rPr lang="en-CA" sz="1600" dirty="0">
                  <a:sym typeface="Wingdings" pitchFamily="2" charset="2"/>
                </a:rPr>
                <a:t> pointer to next level PT</a:t>
              </a:r>
              <a:endParaRPr lang="en-CA" sz="16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C14DBE8-F99E-C04F-8A8A-44285AAA0892}"/>
              </a:ext>
            </a:extLst>
          </p:cNvPr>
          <p:cNvSpPr txBox="1"/>
          <p:nvPr/>
        </p:nvSpPr>
        <p:spPr>
          <a:xfrm>
            <a:off x="0" y="1162708"/>
            <a:ext cx="2834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/>
              <a:t>RISCV-32, Sv32 mode: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16D4F8-4159-134C-B0E5-1717E33E68D8}"/>
              </a:ext>
            </a:extLst>
          </p:cNvPr>
          <p:cNvGrpSpPr/>
          <p:nvPr/>
        </p:nvGrpSpPr>
        <p:grpSpPr>
          <a:xfrm>
            <a:off x="0" y="4602297"/>
            <a:ext cx="9072346" cy="1946713"/>
            <a:chOff x="0" y="4602297"/>
            <a:chExt cx="9072346" cy="194671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7E36A6F-2A53-D042-80D9-2BDF3B61D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08" y="5123857"/>
              <a:ext cx="7197877" cy="678778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362265F-476E-9F4B-B683-721C80ACC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6612" y="5924389"/>
              <a:ext cx="8945734" cy="62462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311BCC-C8C1-A149-90D6-6A4C1E71A204}"/>
                </a:ext>
              </a:extLst>
            </p:cNvPr>
            <p:cNvSpPr txBox="1"/>
            <p:nvPr/>
          </p:nvSpPr>
          <p:spPr>
            <a:xfrm>
              <a:off x="0" y="4602297"/>
              <a:ext cx="32771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000" dirty="0"/>
                <a:t>RISCV-64, Sv39 and Sv48: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845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1B09-6604-6642-9500-2E754483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Translation-related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D8EDD-C2BD-B44E-B8C6-DA398F8E1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4724400"/>
          </a:xfrm>
        </p:spPr>
        <p:txBody>
          <a:bodyPr/>
          <a:lstStyle/>
          <a:p>
            <a:r>
              <a:rPr lang="en-CA" b="1" dirty="0"/>
              <a:t>page fault</a:t>
            </a:r>
          </a:p>
          <a:p>
            <a:pPr lvl="1"/>
            <a:r>
              <a:rPr lang="en-CA" dirty="0"/>
              <a:t>page is accessible, but it’s sitting on disk</a:t>
            </a:r>
          </a:p>
          <a:p>
            <a:pPr lvl="1"/>
            <a:r>
              <a:rPr lang="en-CA" dirty="0"/>
              <a:t>this is not a program error!</a:t>
            </a:r>
          </a:p>
          <a:p>
            <a:pPr lvl="1"/>
            <a:r>
              <a:rPr lang="en-CA" dirty="0"/>
              <a:t>resume instruction execution once page in RAM</a:t>
            </a:r>
          </a:p>
          <a:p>
            <a:endParaRPr lang="en-CA" dirty="0"/>
          </a:p>
          <a:p>
            <a:r>
              <a:rPr lang="en-CA" b="1" dirty="0"/>
              <a:t>segmentation fault / general protection fault</a:t>
            </a:r>
          </a:p>
          <a:p>
            <a:pPr lvl="1"/>
            <a:r>
              <a:rPr lang="en-CA" dirty="0"/>
              <a:t>page is not user-accessible</a:t>
            </a:r>
          </a:p>
          <a:p>
            <a:pPr lvl="1"/>
            <a:r>
              <a:rPr lang="en-CA" dirty="0"/>
              <a:t>page is R/O but tried to write/exec</a:t>
            </a:r>
          </a:p>
          <a:p>
            <a:pPr lvl="1"/>
            <a:r>
              <a:rPr lang="en-CA" dirty="0"/>
              <a:t>program terminated (unless caught)</a:t>
            </a:r>
          </a:p>
          <a:p>
            <a:pPr lvl="1"/>
            <a:r>
              <a:rPr lang="en-CA" dirty="0"/>
              <a:t>Meltdown avoided this by </a:t>
            </a:r>
            <a:r>
              <a:rPr lang="en-CA" dirty="0" err="1"/>
              <a:t>misspeculating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4501F-D091-3643-B9A4-C034898E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769" y="4345193"/>
            <a:ext cx="16256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Faster page table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4724400"/>
          </a:xfrm>
        </p:spPr>
        <p:txBody>
          <a:bodyPr/>
          <a:lstStyle/>
          <a:p>
            <a:r>
              <a:rPr lang="en-CA" dirty="0" err="1"/>
              <a:t>okies</a:t>
            </a:r>
            <a:r>
              <a:rPr lang="en-CA" dirty="0"/>
              <a:t>, so page table stays in main memory</a:t>
            </a:r>
          </a:p>
          <a:p>
            <a:endParaRPr lang="en-CA" dirty="0"/>
          </a:p>
          <a:p>
            <a:r>
              <a:rPr lang="en-CA" dirty="0"/>
              <a:t>problem: access still. </a:t>
            </a:r>
            <a:r>
              <a:rPr lang="en-CA" b="1" dirty="0"/>
              <a:t>way</a:t>
            </a:r>
            <a:r>
              <a:rPr lang="en-CA" dirty="0"/>
              <a:t>. </a:t>
            </a:r>
            <a:r>
              <a:rPr lang="en-CA" b="1" dirty="0"/>
              <a:t>too</a:t>
            </a:r>
            <a:r>
              <a:rPr lang="en-CA" dirty="0"/>
              <a:t>. </a:t>
            </a:r>
            <a:r>
              <a:rPr lang="en-CA" b="1" dirty="0"/>
              <a:t>slow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Q: how to </a:t>
            </a:r>
            <a:r>
              <a:rPr lang="en-CA" b="1" dirty="0"/>
              <a:t>speed up</a:t>
            </a:r>
            <a:r>
              <a:rPr lang="en-CA" dirty="0"/>
              <a:t> page table access?</a:t>
            </a:r>
          </a:p>
          <a:p>
            <a:endParaRPr lang="en-CA" dirty="0"/>
          </a:p>
          <a:p>
            <a:r>
              <a:rPr lang="en-CA" b="1" dirty="0"/>
              <a:t>cache it!</a:t>
            </a:r>
          </a:p>
          <a:p>
            <a:endParaRPr lang="en-CA" b="1" dirty="0"/>
          </a:p>
          <a:p>
            <a:r>
              <a:rPr lang="en-CA" dirty="0"/>
              <a:t>we’ll call this the translation cache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098041" y="4923472"/>
            <a:ext cx="5939446" cy="1081544"/>
            <a:chOff x="3098041" y="4923472"/>
            <a:chExt cx="5939446" cy="1081544"/>
          </a:xfrm>
        </p:grpSpPr>
        <p:sp>
          <p:nvSpPr>
            <p:cNvPr id="4" name="TextBox 3"/>
            <p:cNvSpPr txBox="1"/>
            <p:nvPr/>
          </p:nvSpPr>
          <p:spPr>
            <a:xfrm>
              <a:off x="3098041" y="4923472"/>
              <a:ext cx="59394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800" b="1" dirty="0"/>
                <a:t>translation lookaside buffer (TLB)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3725839" y="5481430"/>
              <a:ext cx="2702256" cy="523586"/>
              <a:chOff x="3739487" y="5467782"/>
              <a:chExt cx="2702256" cy="523586"/>
            </a:xfrm>
          </p:grpSpPr>
          <p:cxnSp>
            <p:nvCxnSpPr>
              <p:cNvPr id="6" name="Straight Connector 5"/>
              <p:cNvCxnSpPr/>
              <p:nvPr/>
            </p:nvCxnSpPr>
            <p:spPr bwMode="auto">
              <a:xfrm flipV="1">
                <a:off x="3739487" y="5473988"/>
                <a:ext cx="2702256" cy="51738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" name="Straight Connector 6"/>
              <p:cNvCxnSpPr/>
              <p:nvPr/>
            </p:nvCxnSpPr>
            <p:spPr bwMode="auto">
              <a:xfrm>
                <a:off x="3739487" y="5467782"/>
                <a:ext cx="2702256" cy="51738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212641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3600" b="1" dirty="0">
                <a:latin typeface="Arial  " charset="0"/>
              </a:rPr>
              <a:t>TLB: Translation Lookaside Buffer</a:t>
            </a:r>
            <a:endParaRPr lang="en-US" altLang="en-US" sz="3200" b="1" dirty="0">
              <a:latin typeface="Arial  " charset="0"/>
            </a:endParaRPr>
          </a:p>
        </p:txBody>
      </p:sp>
      <p:sp>
        <p:nvSpPr>
          <p:cNvPr id="30722" name="Freeform 3"/>
          <p:cNvSpPr>
            <a:spLocks/>
          </p:cNvSpPr>
          <p:nvPr/>
        </p:nvSpPr>
        <p:spPr bwMode="auto">
          <a:xfrm>
            <a:off x="3719513" y="2562225"/>
            <a:ext cx="1120775" cy="201613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5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23" name="Freeform 4"/>
          <p:cNvSpPr>
            <a:spLocks/>
          </p:cNvSpPr>
          <p:nvPr/>
        </p:nvSpPr>
        <p:spPr bwMode="auto">
          <a:xfrm>
            <a:off x="2443163" y="195738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4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24" name="Freeform 5"/>
          <p:cNvSpPr>
            <a:spLocks/>
          </p:cNvSpPr>
          <p:nvPr/>
        </p:nvSpPr>
        <p:spPr bwMode="auto">
          <a:xfrm>
            <a:off x="2443163" y="236061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5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25" name="Freeform 6"/>
          <p:cNvSpPr>
            <a:spLocks/>
          </p:cNvSpPr>
          <p:nvPr/>
        </p:nvSpPr>
        <p:spPr bwMode="auto">
          <a:xfrm>
            <a:off x="2443163" y="276383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5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26" name="Freeform 7"/>
          <p:cNvSpPr>
            <a:spLocks/>
          </p:cNvSpPr>
          <p:nvPr/>
        </p:nvSpPr>
        <p:spPr bwMode="auto">
          <a:xfrm>
            <a:off x="2613025" y="1957388"/>
            <a:ext cx="1106488" cy="201612"/>
          </a:xfrm>
          <a:custGeom>
            <a:avLst/>
            <a:gdLst>
              <a:gd name="T0" fmla="*/ 2147483647 w 697"/>
              <a:gd name="T1" fmla="*/ 2147483647 h 127"/>
              <a:gd name="T2" fmla="*/ 2147483647 w 697"/>
              <a:gd name="T3" fmla="*/ 0 h 127"/>
              <a:gd name="T4" fmla="*/ 0 w 697"/>
              <a:gd name="T5" fmla="*/ 0 h 127"/>
              <a:gd name="T6" fmla="*/ 0 w 697"/>
              <a:gd name="T7" fmla="*/ 2147483647 h 127"/>
              <a:gd name="T8" fmla="*/ 2147483647 w 697"/>
              <a:gd name="T9" fmla="*/ 2147483647 h 127"/>
              <a:gd name="T10" fmla="*/ 2147483647 w 69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7"/>
              <a:gd name="T19" fmla="*/ 0 h 127"/>
              <a:gd name="T20" fmla="*/ 697 w 69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7" h="127">
                <a:moveTo>
                  <a:pt x="697" y="124"/>
                </a:moveTo>
                <a:lnTo>
                  <a:pt x="697" y="0"/>
                </a:lnTo>
                <a:lnTo>
                  <a:pt x="0" y="0"/>
                </a:lnTo>
                <a:lnTo>
                  <a:pt x="0" y="127"/>
                </a:lnTo>
                <a:lnTo>
                  <a:pt x="69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27" name="Freeform 8"/>
          <p:cNvSpPr>
            <a:spLocks/>
          </p:cNvSpPr>
          <p:nvPr/>
        </p:nvSpPr>
        <p:spPr bwMode="auto">
          <a:xfrm>
            <a:off x="2613025" y="2360613"/>
            <a:ext cx="1106488" cy="201612"/>
          </a:xfrm>
          <a:custGeom>
            <a:avLst/>
            <a:gdLst>
              <a:gd name="T0" fmla="*/ 2147483647 w 697"/>
              <a:gd name="T1" fmla="*/ 2147483647 h 127"/>
              <a:gd name="T2" fmla="*/ 2147483647 w 697"/>
              <a:gd name="T3" fmla="*/ 0 h 127"/>
              <a:gd name="T4" fmla="*/ 0 w 697"/>
              <a:gd name="T5" fmla="*/ 0 h 127"/>
              <a:gd name="T6" fmla="*/ 0 w 697"/>
              <a:gd name="T7" fmla="*/ 2147483647 h 127"/>
              <a:gd name="T8" fmla="*/ 2147483647 w 697"/>
              <a:gd name="T9" fmla="*/ 2147483647 h 127"/>
              <a:gd name="T10" fmla="*/ 2147483647 w 69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7"/>
              <a:gd name="T19" fmla="*/ 0 h 127"/>
              <a:gd name="T20" fmla="*/ 697 w 69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7" h="127">
                <a:moveTo>
                  <a:pt x="697" y="125"/>
                </a:moveTo>
                <a:lnTo>
                  <a:pt x="697" y="0"/>
                </a:lnTo>
                <a:lnTo>
                  <a:pt x="0" y="0"/>
                </a:lnTo>
                <a:lnTo>
                  <a:pt x="0" y="127"/>
                </a:lnTo>
                <a:lnTo>
                  <a:pt x="69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28" name="Freeform 9"/>
          <p:cNvSpPr>
            <a:spLocks/>
          </p:cNvSpPr>
          <p:nvPr/>
        </p:nvSpPr>
        <p:spPr bwMode="auto">
          <a:xfrm>
            <a:off x="2613025" y="2763838"/>
            <a:ext cx="1106488" cy="201612"/>
          </a:xfrm>
          <a:custGeom>
            <a:avLst/>
            <a:gdLst>
              <a:gd name="T0" fmla="*/ 2147483647 w 697"/>
              <a:gd name="T1" fmla="*/ 2147483647 h 127"/>
              <a:gd name="T2" fmla="*/ 2147483647 w 697"/>
              <a:gd name="T3" fmla="*/ 0 h 127"/>
              <a:gd name="T4" fmla="*/ 0 w 697"/>
              <a:gd name="T5" fmla="*/ 0 h 127"/>
              <a:gd name="T6" fmla="*/ 0 w 697"/>
              <a:gd name="T7" fmla="*/ 2147483647 h 127"/>
              <a:gd name="T8" fmla="*/ 2147483647 w 697"/>
              <a:gd name="T9" fmla="*/ 2147483647 h 127"/>
              <a:gd name="T10" fmla="*/ 2147483647 w 69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7"/>
              <a:gd name="T19" fmla="*/ 0 h 127"/>
              <a:gd name="T20" fmla="*/ 697 w 69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7" h="127">
                <a:moveTo>
                  <a:pt x="697" y="125"/>
                </a:moveTo>
                <a:lnTo>
                  <a:pt x="697" y="0"/>
                </a:lnTo>
                <a:lnTo>
                  <a:pt x="0" y="0"/>
                </a:lnTo>
                <a:lnTo>
                  <a:pt x="0" y="127"/>
                </a:lnTo>
                <a:lnTo>
                  <a:pt x="69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29" name="Freeform 10"/>
          <p:cNvSpPr>
            <a:spLocks/>
          </p:cNvSpPr>
          <p:nvPr/>
        </p:nvSpPr>
        <p:spPr bwMode="auto">
          <a:xfrm>
            <a:off x="2617788" y="4084638"/>
            <a:ext cx="1117600" cy="204787"/>
          </a:xfrm>
          <a:custGeom>
            <a:avLst/>
            <a:gdLst>
              <a:gd name="T0" fmla="*/ 2147483647 w 704"/>
              <a:gd name="T1" fmla="*/ 2147483647 h 129"/>
              <a:gd name="T2" fmla="*/ 2147483647 w 704"/>
              <a:gd name="T3" fmla="*/ 0 h 129"/>
              <a:gd name="T4" fmla="*/ 0 w 704"/>
              <a:gd name="T5" fmla="*/ 0 h 129"/>
              <a:gd name="T6" fmla="*/ 0 w 704"/>
              <a:gd name="T7" fmla="*/ 2147483647 h 129"/>
              <a:gd name="T8" fmla="*/ 2147483647 w 704"/>
              <a:gd name="T9" fmla="*/ 2147483647 h 129"/>
              <a:gd name="T10" fmla="*/ 2147483647 w 704"/>
              <a:gd name="T11" fmla="*/ 2147483647 h 129"/>
              <a:gd name="T12" fmla="*/ 2147483647 w 704"/>
              <a:gd name="T13" fmla="*/ 2147483647 h 1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4"/>
              <a:gd name="T22" fmla="*/ 0 h 129"/>
              <a:gd name="T23" fmla="*/ 704 w 704"/>
              <a:gd name="T24" fmla="*/ 129 h 1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4" h="129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9"/>
                </a:lnTo>
                <a:lnTo>
                  <a:pt x="704" y="129"/>
                </a:lnTo>
                <a:lnTo>
                  <a:pt x="704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0" name="Freeform 11"/>
          <p:cNvSpPr>
            <a:spLocks/>
          </p:cNvSpPr>
          <p:nvPr/>
        </p:nvSpPr>
        <p:spPr bwMode="auto">
          <a:xfrm>
            <a:off x="2617788" y="4084638"/>
            <a:ext cx="1117600" cy="204787"/>
          </a:xfrm>
          <a:custGeom>
            <a:avLst/>
            <a:gdLst>
              <a:gd name="T0" fmla="*/ 2147483647 w 704"/>
              <a:gd name="T1" fmla="*/ 2147483647 h 129"/>
              <a:gd name="T2" fmla="*/ 2147483647 w 704"/>
              <a:gd name="T3" fmla="*/ 0 h 129"/>
              <a:gd name="T4" fmla="*/ 0 w 704"/>
              <a:gd name="T5" fmla="*/ 0 h 129"/>
              <a:gd name="T6" fmla="*/ 0 w 704"/>
              <a:gd name="T7" fmla="*/ 2147483647 h 129"/>
              <a:gd name="T8" fmla="*/ 2147483647 w 704"/>
              <a:gd name="T9" fmla="*/ 2147483647 h 129"/>
              <a:gd name="T10" fmla="*/ 2147483647 w 704"/>
              <a:gd name="T11" fmla="*/ 2147483647 h 1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9"/>
              <a:gd name="T20" fmla="*/ 704 w 704"/>
              <a:gd name="T21" fmla="*/ 129 h 1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9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9"/>
                </a:lnTo>
                <a:lnTo>
                  <a:pt x="704" y="129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1" name="Freeform 12"/>
          <p:cNvSpPr>
            <a:spLocks/>
          </p:cNvSpPr>
          <p:nvPr/>
        </p:nvSpPr>
        <p:spPr bwMode="auto">
          <a:xfrm>
            <a:off x="2443163" y="407987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2" name="Freeform 13"/>
          <p:cNvSpPr>
            <a:spLocks/>
          </p:cNvSpPr>
          <p:nvPr/>
        </p:nvSpPr>
        <p:spPr bwMode="auto">
          <a:xfrm>
            <a:off x="2443163" y="407987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3" name="Freeform 14"/>
          <p:cNvSpPr>
            <a:spLocks/>
          </p:cNvSpPr>
          <p:nvPr/>
        </p:nvSpPr>
        <p:spPr bwMode="auto">
          <a:xfrm>
            <a:off x="2617788" y="4487863"/>
            <a:ext cx="1117600" cy="201612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4" name="Freeform 15"/>
          <p:cNvSpPr>
            <a:spLocks/>
          </p:cNvSpPr>
          <p:nvPr/>
        </p:nvSpPr>
        <p:spPr bwMode="auto">
          <a:xfrm>
            <a:off x="2617788" y="4487863"/>
            <a:ext cx="1117600" cy="201612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5" name="Freeform 16"/>
          <p:cNvSpPr>
            <a:spLocks/>
          </p:cNvSpPr>
          <p:nvPr/>
        </p:nvSpPr>
        <p:spPr bwMode="auto">
          <a:xfrm>
            <a:off x="2443163" y="4483100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6" name="Freeform 17"/>
          <p:cNvSpPr>
            <a:spLocks/>
          </p:cNvSpPr>
          <p:nvPr/>
        </p:nvSpPr>
        <p:spPr bwMode="auto">
          <a:xfrm>
            <a:off x="2443163" y="4483100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7" name="Freeform 18"/>
          <p:cNvSpPr>
            <a:spLocks/>
          </p:cNvSpPr>
          <p:nvPr/>
        </p:nvSpPr>
        <p:spPr bwMode="auto">
          <a:xfrm>
            <a:off x="2617788" y="4887913"/>
            <a:ext cx="1117600" cy="201612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8" name="Freeform 19"/>
          <p:cNvSpPr>
            <a:spLocks/>
          </p:cNvSpPr>
          <p:nvPr/>
        </p:nvSpPr>
        <p:spPr bwMode="auto">
          <a:xfrm>
            <a:off x="2617788" y="4887913"/>
            <a:ext cx="1117600" cy="201612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39" name="Freeform 20"/>
          <p:cNvSpPr>
            <a:spLocks/>
          </p:cNvSpPr>
          <p:nvPr/>
        </p:nvSpPr>
        <p:spPr bwMode="auto">
          <a:xfrm>
            <a:off x="2443163" y="488791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0" name="Freeform 21"/>
          <p:cNvSpPr>
            <a:spLocks/>
          </p:cNvSpPr>
          <p:nvPr/>
        </p:nvSpPr>
        <p:spPr bwMode="auto">
          <a:xfrm>
            <a:off x="2443163" y="488791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1" name="Freeform 22"/>
          <p:cNvSpPr>
            <a:spLocks/>
          </p:cNvSpPr>
          <p:nvPr/>
        </p:nvSpPr>
        <p:spPr bwMode="auto">
          <a:xfrm>
            <a:off x="2617788" y="5294313"/>
            <a:ext cx="1117600" cy="201612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2" name="Freeform 23"/>
          <p:cNvSpPr>
            <a:spLocks/>
          </p:cNvSpPr>
          <p:nvPr/>
        </p:nvSpPr>
        <p:spPr bwMode="auto">
          <a:xfrm>
            <a:off x="2617788" y="5294313"/>
            <a:ext cx="1117600" cy="201612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3" name="Freeform 24"/>
          <p:cNvSpPr>
            <a:spLocks/>
          </p:cNvSpPr>
          <p:nvPr/>
        </p:nvSpPr>
        <p:spPr bwMode="auto">
          <a:xfrm>
            <a:off x="2443163" y="529113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4" name="Freeform 25"/>
          <p:cNvSpPr>
            <a:spLocks/>
          </p:cNvSpPr>
          <p:nvPr/>
        </p:nvSpPr>
        <p:spPr bwMode="auto">
          <a:xfrm>
            <a:off x="2443163" y="529113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5" name="Freeform 26"/>
          <p:cNvSpPr>
            <a:spLocks/>
          </p:cNvSpPr>
          <p:nvPr/>
        </p:nvSpPr>
        <p:spPr bwMode="auto">
          <a:xfrm>
            <a:off x="2617788" y="5697538"/>
            <a:ext cx="1117600" cy="203200"/>
          </a:xfrm>
          <a:custGeom>
            <a:avLst/>
            <a:gdLst>
              <a:gd name="T0" fmla="*/ 2147483647 w 704"/>
              <a:gd name="T1" fmla="*/ 2147483647 h 128"/>
              <a:gd name="T2" fmla="*/ 2147483647 w 704"/>
              <a:gd name="T3" fmla="*/ 0 h 128"/>
              <a:gd name="T4" fmla="*/ 0 w 704"/>
              <a:gd name="T5" fmla="*/ 0 h 128"/>
              <a:gd name="T6" fmla="*/ 0 w 704"/>
              <a:gd name="T7" fmla="*/ 2147483647 h 128"/>
              <a:gd name="T8" fmla="*/ 2147483647 w 704"/>
              <a:gd name="T9" fmla="*/ 2147483647 h 128"/>
              <a:gd name="T10" fmla="*/ 2147483647 w 704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8"/>
              <a:gd name="T20" fmla="*/ 704 w 704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8">
                <a:moveTo>
                  <a:pt x="704" y="128"/>
                </a:moveTo>
                <a:lnTo>
                  <a:pt x="704" y="0"/>
                </a:lnTo>
                <a:lnTo>
                  <a:pt x="0" y="0"/>
                </a:lnTo>
                <a:lnTo>
                  <a:pt x="0" y="128"/>
                </a:lnTo>
                <a:lnTo>
                  <a:pt x="704" y="1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6" name="Freeform 27"/>
          <p:cNvSpPr>
            <a:spLocks/>
          </p:cNvSpPr>
          <p:nvPr/>
        </p:nvSpPr>
        <p:spPr bwMode="auto">
          <a:xfrm>
            <a:off x="2617788" y="5697538"/>
            <a:ext cx="1117600" cy="203200"/>
          </a:xfrm>
          <a:custGeom>
            <a:avLst/>
            <a:gdLst>
              <a:gd name="T0" fmla="*/ 2147483647 w 704"/>
              <a:gd name="T1" fmla="*/ 2147483647 h 128"/>
              <a:gd name="T2" fmla="*/ 2147483647 w 704"/>
              <a:gd name="T3" fmla="*/ 0 h 128"/>
              <a:gd name="T4" fmla="*/ 0 w 704"/>
              <a:gd name="T5" fmla="*/ 0 h 128"/>
              <a:gd name="T6" fmla="*/ 0 w 704"/>
              <a:gd name="T7" fmla="*/ 2147483647 h 128"/>
              <a:gd name="T8" fmla="*/ 2147483647 w 704"/>
              <a:gd name="T9" fmla="*/ 2147483647 h 128"/>
              <a:gd name="T10" fmla="*/ 2147483647 w 704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8"/>
              <a:gd name="T20" fmla="*/ 704 w 704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8">
                <a:moveTo>
                  <a:pt x="704" y="128"/>
                </a:moveTo>
                <a:lnTo>
                  <a:pt x="704" y="0"/>
                </a:lnTo>
                <a:lnTo>
                  <a:pt x="0" y="0"/>
                </a:lnTo>
                <a:lnTo>
                  <a:pt x="0" y="128"/>
                </a:lnTo>
                <a:lnTo>
                  <a:pt x="704" y="12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7" name="Freeform 28"/>
          <p:cNvSpPr>
            <a:spLocks/>
          </p:cNvSpPr>
          <p:nvPr/>
        </p:nvSpPr>
        <p:spPr bwMode="auto">
          <a:xfrm>
            <a:off x="2443163" y="569436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8" name="Freeform 29"/>
          <p:cNvSpPr>
            <a:spLocks/>
          </p:cNvSpPr>
          <p:nvPr/>
        </p:nvSpPr>
        <p:spPr bwMode="auto">
          <a:xfrm>
            <a:off x="2443163" y="569436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49" name="Freeform 30"/>
          <p:cNvSpPr>
            <a:spLocks/>
          </p:cNvSpPr>
          <p:nvPr/>
        </p:nvSpPr>
        <p:spPr bwMode="auto">
          <a:xfrm>
            <a:off x="2617788" y="6102350"/>
            <a:ext cx="1117600" cy="201613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2147483647 w 704"/>
              <a:gd name="T13" fmla="*/ 2147483647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4"/>
              <a:gd name="T22" fmla="*/ 0 h 127"/>
              <a:gd name="T23" fmla="*/ 704 w 704"/>
              <a:gd name="T24" fmla="*/ 127 h 12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4" h="127">
                <a:moveTo>
                  <a:pt x="704" y="124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  <a:lnTo>
                  <a:pt x="704" y="1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0" name="Freeform 31"/>
          <p:cNvSpPr>
            <a:spLocks/>
          </p:cNvSpPr>
          <p:nvPr/>
        </p:nvSpPr>
        <p:spPr bwMode="auto">
          <a:xfrm>
            <a:off x="2617788" y="6102350"/>
            <a:ext cx="1117600" cy="201613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4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1" name="Freeform 32"/>
          <p:cNvSpPr>
            <a:spLocks/>
          </p:cNvSpPr>
          <p:nvPr/>
        </p:nvSpPr>
        <p:spPr bwMode="auto">
          <a:xfrm>
            <a:off x="2443163" y="609758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2" name="Freeform 33"/>
          <p:cNvSpPr>
            <a:spLocks/>
          </p:cNvSpPr>
          <p:nvPr/>
        </p:nvSpPr>
        <p:spPr bwMode="auto">
          <a:xfrm>
            <a:off x="2443163" y="609758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3" name="Freeform 34"/>
          <p:cNvSpPr>
            <a:spLocks/>
          </p:cNvSpPr>
          <p:nvPr/>
        </p:nvSpPr>
        <p:spPr bwMode="auto">
          <a:xfrm>
            <a:off x="5886450" y="3797300"/>
            <a:ext cx="76200" cy="65088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2147483647 w 48"/>
              <a:gd name="T11" fmla="*/ 0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23" y="0"/>
                </a:moveTo>
                <a:lnTo>
                  <a:pt x="0" y="36"/>
                </a:lnTo>
                <a:lnTo>
                  <a:pt x="48" y="41"/>
                </a:lnTo>
                <a:lnTo>
                  <a:pt x="25" y="0"/>
                </a:lnTo>
                <a:lnTo>
                  <a:pt x="23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4" name="Freeform 35"/>
          <p:cNvSpPr>
            <a:spLocks/>
          </p:cNvSpPr>
          <p:nvPr/>
        </p:nvSpPr>
        <p:spPr bwMode="auto">
          <a:xfrm>
            <a:off x="5886450" y="3797300"/>
            <a:ext cx="76200" cy="65088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1"/>
              <a:gd name="T17" fmla="*/ 48 w 48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1">
                <a:moveTo>
                  <a:pt x="23" y="0"/>
                </a:moveTo>
                <a:lnTo>
                  <a:pt x="0" y="36"/>
                </a:lnTo>
                <a:lnTo>
                  <a:pt x="48" y="41"/>
                </a:lnTo>
                <a:lnTo>
                  <a:pt x="25" y="0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5" name="Freeform 36"/>
          <p:cNvSpPr>
            <a:spLocks/>
          </p:cNvSpPr>
          <p:nvPr/>
        </p:nvSpPr>
        <p:spPr bwMode="auto">
          <a:xfrm>
            <a:off x="5886450" y="3200400"/>
            <a:ext cx="76200" cy="65088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2147483647 h 41"/>
              <a:gd name="T8" fmla="*/ 2147483647 w 48"/>
              <a:gd name="T9" fmla="*/ 2147483647 h 41"/>
              <a:gd name="T10" fmla="*/ 2147483647 w 48"/>
              <a:gd name="T11" fmla="*/ 0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17" y="0"/>
                </a:moveTo>
                <a:lnTo>
                  <a:pt x="0" y="41"/>
                </a:lnTo>
                <a:lnTo>
                  <a:pt x="48" y="38"/>
                </a:lnTo>
                <a:lnTo>
                  <a:pt x="17" y="2"/>
                </a:lnTo>
                <a:lnTo>
                  <a:pt x="17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6" name="Freeform 37"/>
          <p:cNvSpPr>
            <a:spLocks/>
          </p:cNvSpPr>
          <p:nvPr/>
        </p:nvSpPr>
        <p:spPr bwMode="auto">
          <a:xfrm>
            <a:off x="5886450" y="3200400"/>
            <a:ext cx="76200" cy="65088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2147483647 h 41"/>
              <a:gd name="T8" fmla="*/ 2147483647 w 48"/>
              <a:gd name="T9" fmla="*/ 2147483647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1"/>
              <a:gd name="T17" fmla="*/ 48 w 48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1">
                <a:moveTo>
                  <a:pt x="17" y="0"/>
                </a:moveTo>
                <a:lnTo>
                  <a:pt x="0" y="41"/>
                </a:lnTo>
                <a:lnTo>
                  <a:pt x="48" y="38"/>
                </a:lnTo>
                <a:lnTo>
                  <a:pt x="17" y="2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7" name="Freeform 38"/>
          <p:cNvSpPr>
            <a:spLocks/>
          </p:cNvSpPr>
          <p:nvPr/>
        </p:nvSpPr>
        <p:spPr bwMode="auto">
          <a:xfrm>
            <a:off x="5886450" y="2792413"/>
            <a:ext cx="76200" cy="65087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2147483647 w 48"/>
              <a:gd name="T11" fmla="*/ 0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20" y="0"/>
                </a:moveTo>
                <a:lnTo>
                  <a:pt x="0" y="38"/>
                </a:lnTo>
                <a:lnTo>
                  <a:pt x="48" y="41"/>
                </a:lnTo>
                <a:lnTo>
                  <a:pt x="23" y="0"/>
                </a:lnTo>
                <a:lnTo>
                  <a:pt x="2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8" name="Freeform 39"/>
          <p:cNvSpPr>
            <a:spLocks/>
          </p:cNvSpPr>
          <p:nvPr/>
        </p:nvSpPr>
        <p:spPr bwMode="auto">
          <a:xfrm>
            <a:off x="5886450" y="2792413"/>
            <a:ext cx="76200" cy="65087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1"/>
              <a:gd name="T17" fmla="*/ 48 w 48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1">
                <a:moveTo>
                  <a:pt x="20" y="0"/>
                </a:moveTo>
                <a:lnTo>
                  <a:pt x="0" y="38"/>
                </a:lnTo>
                <a:lnTo>
                  <a:pt x="48" y="41"/>
                </a:lnTo>
                <a:lnTo>
                  <a:pt x="23" y="0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59" name="Freeform 40"/>
          <p:cNvSpPr>
            <a:spLocks/>
          </p:cNvSpPr>
          <p:nvPr/>
        </p:nvSpPr>
        <p:spPr bwMode="auto">
          <a:xfrm>
            <a:off x="5894388" y="2224088"/>
            <a:ext cx="68262" cy="68262"/>
          </a:xfrm>
          <a:custGeom>
            <a:avLst/>
            <a:gdLst>
              <a:gd name="T0" fmla="*/ 0 w 43"/>
              <a:gd name="T1" fmla="*/ 0 h 43"/>
              <a:gd name="T2" fmla="*/ 0 w 43"/>
              <a:gd name="T3" fmla="*/ 2147483647 h 43"/>
              <a:gd name="T4" fmla="*/ 2147483647 w 43"/>
              <a:gd name="T5" fmla="*/ 2147483647 h 43"/>
              <a:gd name="T6" fmla="*/ 0 w 43"/>
              <a:gd name="T7" fmla="*/ 2147483647 h 43"/>
              <a:gd name="T8" fmla="*/ 0 w 43"/>
              <a:gd name="T9" fmla="*/ 2147483647 h 43"/>
              <a:gd name="T10" fmla="*/ 0 w 43"/>
              <a:gd name="T11" fmla="*/ 0 h 4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"/>
              <a:gd name="T19" fmla="*/ 0 h 43"/>
              <a:gd name="T20" fmla="*/ 43 w 43"/>
              <a:gd name="T21" fmla="*/ 43 h 4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" h="43">
                <a:moveTo>
                  <a:pt x="0" y="0"/>
                </a:moveTo>
                <a:lnTo>
                  <a:pt x="0" y="43"/>
                </a:lnTo>
                <a:lnTo>
                  <a:pt x="43" y="2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0" name="Freeform 41"/>
          <p:cNvSpPr>
            <a:spLocks/>
          </p:cNvSpPr>
          <p:nvPr/>
        </p:nvSpPr>
        <p:spPr bwMode="auto">
          <a:xfrm>
            <a:off x="5894388" y="2224088"/>
            <a:ext cx="68262" cy="68262"/>
          </a:xfrm>
          <a:custGeom>
            <a:avLst/>
            <a:gdLst>
              <a:gd name="T0" fmla="*/ 0 w 43"/>
              <a:gd name="T1" fmla="*/ 0 h 43"/>
              <a:gd name="T2" fmla="*/ 0 w 43"/>
              <a:gd name="T3" fmla="*/ 2147483647 h 43"/>
              <a:gd name="T4" fmla="*/ 2147483647 w 43"/>
              <a:gd name="T5" fmla="*/ 2147483647 h 43"/>
              <a:gd name="T6" fmla="*/ 0 w 43"/>
              <a:gd name="T7" fmla="*/ 2147483647 h 43"/>
              <a:gd name="T8" fmla="*/ 0 w 43"/>
              <a:gd name="T9" fmla="*/ 2147483647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3"/>
              <a:gd name="T17" fmla="*/ 43 w 43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3">
                <a:moveTo>
                  <a:pt x="0" y="0"/>
                </a:moveTo>
                <a:lnTo>
                  <a:pt x="0" y="43"/>
                </a:lnTo>
                <a:lnTo>
                  <a:pt x="43" y="23"/>
                </a:lnTo>
                <a:lnTo>
                  <a:pt x="0" y="2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1" name="Freeform 42"/>
          <p:cNvSpPr>
            <a:spLocks/>
          </p:cNvSpPr>
          <p:nvPr/>
        </p:nvSpPr>
        <p:spPr bwMode="auto">
          <a:xfrm>
            <a:off x="3719513" y="2562225"/>
            <a:ext cx="1120775" cy="201613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5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2" name="Freeform 43"/>
          <p:cNvSpPr>
            <a:spLocks/>
          </p:cNvSpPr>
          <p:nvPr/>
        </p:nvSpPr>
        <p:spPr bwMode="auto">
          <a:xfrm>
            <a:off x="4259263" y="2251075"/>
            <a:ext cx="1654175" cy="17463"/>
          </a:xfrm>
          <a:custGeom>
            <a:avLst/>
            <a:gdLst>
              <a:gd name="T0" fmla="*/ 0 w 1042"/>
              <a:gd name="T1" fmla="*/ 2147483647 h 11"/>
              <a:gd name="T2" fmla="*/ 2147483647 w 1042"/>
              <a:gd name="T3" fmla="*/ 2147483647 h 11"/>
              <a:gd name="T4" fmla="*/ 2147483647 w 1042"/>
              <a:gd name="T5" fmla="*/ 0 h 11"/>
              <a:gd name="T6" fmla="*/ 2147483647 w 1042"/>
              <a:gd name="T7" fmla="*/ 0 h 11"/>
              <a:gd name="T8" fmla="*/ 2147483647 w 1042"/>
              <a:gd name="T9" fmla="*/ 2147483647 h 11"/>
              <a:gd name="T10" fmla="*/ 2147483647 w 1042"/>
              <a:gd name="T11" fmla="*/ 2147483647 h 11"/>
              <a:gd name="T12" fmla="*/ 0 w 1042"/>
              <a:gd name="T13" fmla="*/ 2147483647 h 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42"/>
              <a:gd name="T22" fmla="*/ 0 h 11"/>
              <a:gd name="T23" fmla="*/ 1042 w 1042"/>
              <a:gd name="T24" fmla="*/ 11 h 1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42" h="11">
                <a:moveTo>
                  <a:pt x="0" y="11"/>
                </a:moveTo>
                <a:lnTo>
                  <a:pt x="1042" y="11"/>
                </a:lnTo>
                <a:lnTo>
                  <a:pt x="1042" y="0"/>
                </a:lnTo>
                <a:lnTo>
                  <a:pt x="3" y="0"/>
                </a:lnTo>
                <a:lnTo>
                  <a:pt x="3" y="11"/>
                </a:lnTo>
                <a:lnTo>
                  <a:pt x="0" y="11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3" name="Freeform 44"/>
          <p:cNvSpPr>
            <a:spLocks/>
          </p:cNvSpPr>
          <p:nvPr/>
        </p:nvSpPr>
        <p:spPr bwMode="auto">
          <a:xfrm>
            <a:off x="4259263" y="2251075"/>
            <a:ext cx="1654175" cy="17463"/>
          </a:xfrm>
          <a:custGeom>
            <a:avLst/>
            <a:gdLst>
              <a:gd name="T0" fmla="*/ 0 w 1042"/>
              <a:gd name="T1" fmla="*/ 2147483647 h 11"/>
              <a:gd name="T2" fmla="*/ 2147483647 w 1042"/>
              <a:gd name="T3" fmla="*/ 2147483647 h 11"/>
              <a:gd name="T4" fmla="*/ 2147483647 w 1042"/>
              <a:gd name="T5" fmla="*/ 0 h 11"/>
              <a:gd name="T6" fmla="*/ 2147483647 w 1042"/>
              <a:gd name="T7" fmla="*/ 0 h 11"/>
              <a:gd name="T8" fmla="*/ 2147483647 w 1042"/>
              <a:gd name="T9" fmla="*/ 2147483647 h 11"/>
              <a:gd name="T10" fmla="*/ 2147483647 w 1042"/>
              <a:gd name="T11" fmla="*/ 2147483647 h 1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1"/>
              <a:gd name="T20" fmla="*/ 1042 w 1042"/>
              <a:gd name="T21" fmla="*/ 11 h 1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1">
                <a:moveTo>
                  <a:pt x="0" y="11"/>
                </a:moveTo>
                <a:lnTo>
                  <a:pt x="1042" y="11"/>
                </a:lnTo>
                <a:lnTo>
                  <a:pt x="1042" y="0"/>
                </a:lnTo>
                <a:lnTo>
                  <a:pt x="3" y="0"/>
                </a:lnTo>
                <a:lnTo>
                  <a:pt x="3" y="11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4" name="Freeform 45"/>
          <p:cNvSpPr>
            <a:spLocks/>
          </p:cNvSpPr>
          <p:nvPr/>
        </p:nvSpPr>
        <p:spPr bwMode="auto">
          <a:xfrm>
            <a:off x="4271963" y="1852613"/>
            <a:ext cx="1651000" cy="989012"/>
          </a:xfrm>
          <a:custGeom>
            <a:avLst/>
            <a:gdLst>
              <a:gd name="T0" fmla="*/ 0 w 1040"/>
              <a:gd name="T1" fmla="*/ 2147483647 h 623"/>
              <a:gd name="T2" fmla="*/ 2147483647 w 1040"/>
              <a:gd name="T3" fmla="*/ 2147483647 h 623"/>
              <a:gd name="T4" fmla="*/ 2147483647 w 1040"/>
              <a:gd name="T5" fmla="*/ 2147483647 h 623"/>
              <a:gd name="T6" fmla="*/ 2147483647 w 1040"/>
              <a:gd name="T7" fmla="*/ 0 h 623"/>
              <a:gd name="T8" fmla="*/ 2147483647 w 1040"/>
              <a:gd name="T9" fmla="*/ 2147483647 h 623"/>
              <a:gd name="T10" fmla="*/ 2147483647 w 1040"/>
              <a:gd name="T11" fmla="*/ 2147483647 h 623"/>
              <a:gd name="T12" fmla="*/ 0 w 1040"/>
              <a:gd name="T13" fmla="*/ 2147483647 h 6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40"/>
              <a:gd name="T22" fmla="*/ 0 h 623"/>
              <a:gd name="T23" fmla="*/ 1040 w 1040"/>
              <a:gd name="T24" fmla="*/ 623 h 6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40" h="623">
                <a:moveTo>
                  <a:pt x="0" y="10"/>
                </a:moveTo>
                <a:lnTo>
                  <a:pt x="1034" y="623"/>
                </a:lnTo>
                <a:lnTo>
                  <a:pt x="1040" y="612"/>
                </a:lnTo>
                <a:lnTo>
                  <a:pt x="7" y="0"/>
                </a:lnTo>
                <a:lnTo>
                  <a:pt x="2" y="10"/>
                </a:lnTo>
                <a:lnTo>
                  <a:pt x="0" y="1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5" name="Freeform 46"/>
          <p:cNvSpPr>
            <a:spLocks/>
          </p:cNvSpPr>
          <p:nvPr/>
        </p:nvSpPr>
        <p:spPr bwMode="auto">
          <a:xfrm>
            <a:off x="4271963" y="1852613"/>
            <a:ext cx="1651000" cy="989012"/>
          </a:xfrm>
          <a:custGeom>
            <a:avLst/>
            <a:gdLst>
              <a:gd name="T0" fmla="*/ 0 w 1040"/>
              <a:gd name="T1" fmla="*/ 2147483647 h 623"/>
              <a:gd name="T2" fmla="*/ 2147483647 w 1040"/>
              <a:gd name="T3" fmla="*/ 2147483647 h 623"/>
              <a:gd name="T4" fmla="*/ 2147483647 w 1040"/>
              <a:gd name="T5" fmla="*/ 2147483647 h 623"/>
              <a:gd name="T6" fmla="*/ 2147483647 w 1040"/>
              <a:gd name="T7" fmla="*/ 0 h 623"/>
              <a:gd name="T8" fmla="*/ 2147483647 w 1040"/>
              <a:gd name="T9" fmla="*/ 2147483647 h 623"/>
              <a:gd name="T10" fmla="*/ 2147483647 w 1040"/>
              <a:gd name="T11" fmla="*/ 2147483647 h 6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0"/>
              <a:gd name="T19" fmla="*/ 0 h 623"/>
              <a:gd name="T20" fmla="*/ 1040 w 1040"/>
              <a:gd name="T21" fmla="*/ 623 h 6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0" h="623">
                <a:moveTo>
                  <a:pt x="0" y="10"/>
                </a:moveTo>
                <a:lnTo>
                  <a:pt x="1034" y="623"/>
                </a:lnTo>
                <a:lnTo>
                  <a:pt x="1040" y="612"/>
                </a:lnTo>
                <a:lnTo>
                  <a:pt x="7" y="0"/>
                </a:lnTo>
                <a:lnTo>
                  <a:pt x="2" y="10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6" name="Freeform 47"/>
          <p:cNvSpPr>
            <a:spLocks/>
          </p:cNvSpPr>
          <p:nvPr/>
        </p:nvSpPr>
        <p:spPr bwMode="auto">
          <a:xfrm>
            <a:off x="4259263" y="2457450"/>
            <a:ext cx="1663700" cy="795338"/>
          </a:xfrm>
          <a:custGeom>
            <a:avLst/>
            <a:gdLst>
              <a:gd name="T0" fmla="*/ 0 w 1048"/>
              <a:gd name="T1" fmla="*/ 2147483647 h 501"/>
              <a:gd name="T2" fmla="*/ 2147483647 w 1048"/>
              <a:gd name="T3" fmla="*/ 2147483647 h 501"/>
              <a:gd name="T4" fmla="*/ 2147483647 w 1048"/>
              <a:gd name="T5" fmla="*/ 2147483647 h 501"/>
              <a:gd name="T6" fmla="*/ 2147483647 w 1048"/>
              <a:gd name="T7" fmla="*/ 0 h 501"/>
              <a:gd name="T8" fmla="*/ 2147483647 w 1048"/>
              <a:gd name="T9" fmla="*/ 2147483647 h 501"/>
              <a:gd name="T10" fmla="*/ 2147483647 w 1048"/>
              <a:gd name="T11" fmla="*/ 2147483647 h 501"/>
              <a:gd name="T12" fmla="*/ 0 w 1048"/>
              <a:gd name="T13" fmla="*/ 2147483647 h 50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48"/>
              <a:gd name="T22" fmla="*/ 0 h 501"/>
              <a:gd name="T23" fmla="*/ 1048 w 1048"/>
              <a:gd name="T24" fmla="*/ 501 h 50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48" h="501">
                <a:moveTo>
                  <a:pt x="0" y="8"/>
                </a:moveTo>
                <a:lnTo>
                  <a:pt x="1045" y="501"/>
                </a:lnTo>
                <a:lnTo>
                  <a:pt x="1048" y="491"/>
                </a:lnTo>
                <a:lnTo>
                  <a:pt x="5" y="0"/>
                </a:lnTo>
                <a:lnTo>
                  <a:pt x="3" y="8"/>
                </a:lnTo>
                <a:lnTo>
                  <a:pt x="0" y="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7" name="Freeform 48"/>
          <p:cNvSpPr>
            <a:spLocks/>
          </p:cNvSpPr>
          <p:nvPr/>
        </p:nvSpPr>
        <p:spPr bwMode="auto">
          <a:xfrm>
            <a:off x="4259263" y="2457450"/>
            <a:ext cx="1663700" cy="795338"/>
          </a:xfrm>
          <a:custGeom>
            <a:avLst/>
            <a:gdLst>
              <a:gd name="T0" fmla="*/ 0 w 1048"/>
              <a:gd name="T1" fmla="*/ 2147483647 h 501"/>
              <a:gd name="T2" fmla="*/ 2147483647 w 1048"/>
              <a:gd name="T3" fmla="*/ 2147483647 h 501"/>
              <a:gd name="T4" fmla="*/ 2147483647 w 1048"/>
              <a:gd name="T5" fmla="*/ 2147483647 h 501"/>
              <a:gd name="T6" fmla="*/ 2147483647 w 1048"/>
              <a:gd name="T7" fmla="*/ 0 h 501"/>
              <a:gd name="T8" fmla="*/ 2147483647 w 1048"/>
              <a:gd name="T9" fmla="*/ 2147483647 h 501"/>
              <a:gd name="T10" fmla="*/ 2147483647 w 1048"/>
              <a:gd name="T11" fmla="*/ 2147483647 h 5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8"/>
              <a:gd name="T19" fmla="*/ 0 h 501"/>
              <a:gd name="T20" fmla="*/ 1048 w 1048"/>
              <a:gd name="T21" fmla="*/ 501 h 5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8" h="501">
                <a:moveTo>
                  <a:pt x="0" y="8"/>
                </a:moveTo>
                <a:lnTo>
                  <a:pt x="1045" y="501"/>
                </a:lnTo>
                <a:lnTo>
                  <a:pt x="1048" y="491"/>
                </a:lnTo>
                <a:lnTo>
                  <a:pt x="5" y="0"/>
                </a:lnTo>
                <a:lnTo>
                  <a:pt x="3" y="8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8" name="Freeform 49"/>
          <p:cNvSpPr>
            <a:spLocks/>
          </p:cNvSpPr>
          <p:nvPr/>
        </p:nvSpPr>
        <p:spPr bwMode="auto">
          <a:xfrm>
            <a:off x="4259263" y="2857500"/>
            <a:ext cx="1666875" cy="984250"/>
          </a:xfrm>
          <a:custGeom>
            <a:avLst/>
            <a:gdLst>
              <a:gd name="T0" fmla="*/ 0 w 1050"/>
              <a:gd name="T1" fmla="*/ 2147483647 h 620"/>
              <a:gd name="T2" fmla="*/ 2147483647 w 1050"/>
              <a:gd name="T3" fmla="*/ 2147483647 h 620"/>
              <a:gd name="T4" fmla="*/ 2147483647 w 1050"/>
              <a:gd name="T5" fmla="*/ 2147483647 h 620"/>
              <a:gd name="T6" fmla="*/ 2147483647 w 1050"/>
              <a:gd name="T7" fmla="*/ 0 h 620"/>
              <a:gd name="T8" fmla="*/ 2147483647 w 1050"/>
              <a:gd name="T9" fmla="*/ 2147483647 h 620"/>
              <a:gd name="T10" fmla="*/ 2147483647 w 1050"/>
              <a:gd name="T11" fmla="*/ 2147483647 h 620"/>
              <a:gd name="T12" fmla="*/ 0 w 1050"/>
              <a:gd name="T13" fmla="*/ 2147483647 h 6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50"/>
              <a:gd name="T22" fmla="*/ 0 h 620"/>
              <a:gd name="T23" fmla="*/ 1050 w 1050"/>
              <a:gd name="T24" fmla="*/ 620 h 6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50" h="620">
                <a:moveTo>
                  <a:pt x="0" y="7"/>
                </a:moveTo>
                <a:lnTo>
                  <a:pt x="1042" y="620"/>
                </a:lnTo>
                <a:lnTo>
                  <a:pt x="1050" y="612"/>
                </a:lnTo>
                <a:lnTo>
                  <a:pt x="8" y="0"/>
                </a:lnTo>
                <a:lnTo>
                  <a:pt x="3" y="7"/>
                </a:lnTo>
                <a:lnTo>
                  <a:pt x="0" y="7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69" name="Freeform 50"/>
          <p:cNvSpPr>
            <a:spLocks/>
          </p:cNvSpPr>
          <p:nvPr/>
        </p:nvSpPr>
        <p:spPr bwMode="auto">
          <a:xfrm>
            <a:off x="4259263" y="2857500"/>
            <a:ext cx="1666875" cy="984250"/>
          </a:xfrm>
          <a:custGeom>
            <a:avLst/>
            <a:gdLst>
              <a:gd name="T0" fmla="*/ 0 w 1050"/>
              <a:gd name="T1" fmla="*/ 2147483647 h 620"/>
              <a:gd name="T2" fmla="*/ 2147483647 w 1050"/>
              <a:gd name="T3" fmla="*/ 2147483647 h 620"/>
              <a:gd name="T4" fmla="*/ 2147483647 w 1050"/>
              <a:gd name="T5" fmla="*/ 2147483647 h 620"/>
              <a:gd name="T6" fmla="*/ 2147483647 w 1050"/>
              <a:gd name="T7" fmla="*/ 0 h 620"/>
              <a:gd name="T8" fmla="*/ 2147483647 w 1050"/>
              <a:gd name="T9" fmla="*/ 2147483647 h 620"/>
              <a:gd name="T10" fmla="*/ 2147483647 w 1050"/>
              <a:gd name="T11" fmla="*/ 2147483647 h 62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0"/>
              <a:gd name="T19" fmla="*/ 0 h 620"/>
              <a:gd name="T20" fmla="*/ 1050 w 1050"/>
              <a:gd name="T21" fmla="*/ 620 h 62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0" h="620">
                <a:moveTo>
                  <a:pt x="0" y="7"/>
                </a:moveTo>
                <a:lnTo>
                  <a:pt x="1042" y="620"/>
                </a:lnTo>
                <a:lnTo>
                  <a:pt x="1050" y="612"/>
                </a:lnTo>
                <a:lnTo>
                  <a:pt x="8" y="0"/>
                </a:lnTo>
                <a:lnTo>
                  <a:pt x="3" y="7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0" name="Freeform 51"/>
          <p:cNvSpPr>
            <a:spLocks/>
          </p:cNvSpPr>
          <p:nvPr/>
        </p:nvSpPr>
        <p:spPr bwMode="auto">
          <a:xfrm>
            <a:off x="2617788" y="3881438"/>
            <a:ext cx="1117600" cy="203200"/>
          </a:xfrm>
          <a:custGeom>
            <a:avLst/>
            <a:gdLst>
              <a:gd name="T0" fmla="*/ 2147483647 w 704"/>
              <a:gd name="T1" fmla="*/ 2147483647 h 128"/>
              <a:gd name="T2" fmla="*/ 2147483647 w 704"/>
              <a:gd name="T3" fmla="*/ 0 h 128"/>
              <a:gd name="T4" fmla="*/ 0 w 704"/>
              <a:gd name="T5" fmla="*/ 0 h 128"/>
              <a:gd name="T6" fmla="*/ 0 w 704"/>
              <a:gd name="T7" fmla="*/ 2147483647 h 128"/>
              <a:gd name="T8" fmla="*/ 2147483647 w 704"/>
              <a:gd name="T9" fmla="*/ 2147483647 h 128"/>
              <a:gd name="T10" fmla="*/ 2147483647 w 704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8"/>
              <a:gd name="T20" fmla="*/ 704 w 704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8">
                <a:moveTo>
                  <a:pt x="704" y="128"/>
                </a:moveTo>
                <a:lnTo>
                  <a:pt x="704" y="0"/>
                </a:lnTo>
                <a:lnTo>
                  <a:pt x="0" y="0"/>
                </a:lnTo>
                <a:lnTo>
                  <a:pt x="0" y="128"/>
                </a:lnTo>
                <a:lnTo>
                  <a:pt x="704" y="1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1" name="Freeform 52"/>
          <p:cNvSpPr>
            <a:spLocks/>
          </p:cNvSpPr>
          <p:nvPr/>
        </p:nvSpPr>
        <p:spPr bwMode="auto">
          <a:xfrm>
            <a:off x="2617788" y="3881438"/>
            <a:ext cx="1117600" cy="203200"/>
          </a:xfrm>
          <a:custGeom>
            <a:avLst/>
            <a:gdLst>
              <a:gd name="T0" fmla="*/ 2147483647 w 704"/>
              <a:gd name="T1" fmla="*/ 2147483647 h 128"/>
              <a:gd name="T2" fmla="*/ 2147483647 w 704"/>
              <a:gd name="T3" fmla="*/ 0 h 128"/>
              <a:gd name="T4" fmla="*/ 0 w 704"/>
              <a:gd name="T5" fmla="*/ 0 h 128"/>
              <a:gd name="T6" fmla="*/ 0 w 704"/>
              <a:gd name="T7" fmla="*/ 2147483647 h 128"/>
              <a:gd name="T8" fmla="*/ 2147483647 w 704"/>
              <a:gd name="T9" fmla="*/ 2147483647 h 128"/>
              <a:gd name="T10" fmla="*/ 2147483647 w 704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8"/>
              <a:gd name="T20" fmla="*/ 704 w 704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8">
                <a:moveTo>
                  <a:pt x="704" y="128"/>
                </a:moveTo>
                <a:lnTo>
                  <a:pt x="704" y="0"/>
                </a:lnTo>
                <a:lnTo>
                  <a:pt x="0" y="0"/>
                </a:lnTo>
                <a:lnTo>
                  <a:pt x="0" y="128"/>
                </a:lnTo>
                <a:lnTo>
                  <a:pt x="704" y="12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2" name="Freeform 53"/>
          <p:cNvSpPr>
            <a:spLocks/>
          </p:cNvSpPr>
          <p:nvPr/>
        </p:nvSpPr>
        <p:spPr bwMode="auto">
          <a:xfrm>
            <a:off x="2443163" y="387826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3" name="Freeform 54"/>
          <p:cNvSpPr>
            <a:spLocks/>
          </p:cNvSpPr>
          <p:nvPr/>
        </p:nvSpPr>
        <p:spPr bwMode="auto">
          <a:xfrm>
            <a:off x="2443163" y="387826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4" name="Freeform 55"/>
          <p:cNvSpPr>
            <a:spLocks/>
          </p:cNvSpPr>
          <p:nvPr/>
        </p:nvSpPr>
        <p:spPr bwMode="auto">
          <a:xfrm>
            <a:off x="2617788" y="4281488"/>
            <a:ext cx="1117600" cy="206375"/>
          </a:xfrm>
          <a:custGeom>
            <a:avLst/>
            <a:gdLst>
              <a:gd name="T0" fmla="*/ 2147483647 w 704"/>
              <a:gd name="T1" fmla="*/ 2147483647 h 130"/>
              <a:gd name="T2" fmla="*/ 2147483647 w 704"/>
              <a:gd name="T3" fmla="*/ 0 h 130"/>
              <a:gd name="T4" fmla="*/ 0 w 704"/>
              <a:gd name="T5" fmla="*/ 0 h 130"/>
              <a:gd name="T6" fmla="*/ 0 w 704"/>
              <a:gd name="T7" fmla="*/ 2147483647 h 130"/>
              <a:gd name="T8" fmla="*/ 2147483647 w 704"/>
              <a:gd name="T9" fmla="*/ 2147483647 h 130"/>
              <a:gd name="T10" fmla="*/ 2147483647 w 704"/>
              <a:gd name="T11" fmla="*/ 2147483647 h 130"/>
              <a:gd name="T12" fmla="*/ 2147483647 w 704"/>
              <a:gd name="T13" fmla="*/ 2147483647 h 1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4"/>
              <a:gd name="T22" fmla="*/ 0 h 130"/>
              <a:gd name="T23" fmla="*/ 704 w 704"/>
              <a:gd name="T24" fmla="*/ 130 h 13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4" h="130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30"/>
                </a:lnTo>
                <a:lnTo>
                  <a:pt x="704" y="130"/>
                </a:lnTo>
                <a:lnTo>
                  <a:pt x="704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5" name="Freeform 56"/>
          <p:cNvSpPr>
            <a:spLocks/>
          </p:cNvSpPr>
          <p:nvPr/>
        </p:nvSpPr>
        <p:spPr bwMode="auto">
          <a:xfrm>
            <a:off x="2617788" y="4281488"/>
            <a:ext cx="1117600" cy="206375"/>
          </a:xfrm>
          <a:custGeom>
            <a:avLst/>
            <a:gdLst>
              <a:gd name="T0" fmla="*/ 2147483647 w 704"/>
              <a:gd name="T1" fmla="*/ 2147483647 h 130"/>
              <a:gd name="T2" fmla="*/ 2147483647 w 704"/>
              <a:gd name="T3" fmla="*/ 0 h 130"/>
              <a:gd name="T4" fmla="*/ 0 w 704"/>
              <a:gd name="T5" fmla="*/ 0 h 130"/>
              <a:gd name="T6" fmla="*/ 0 w 704"/>
              <a:gd name="T7" fmla="*/ 2147483647 h 130"/>
              <a:gd name="T8" fmla="*/ 2147483647 w 704"/>
              <a:gd name="T9" fmla="*/ 2147483647 h 130"/>
              <a:gd name="T10" fmla="*/ 2147483647 w 704"/>
              <a:gd name="T11" fmla="*/ 2147483647 h 1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30"/>
              <a:gd name="T20" fmla="*/ 704 w 704"/>
              <a:gd name="T21" fmla="*/ 130 h 1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30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30"/>
                </a:lnTo>
                <a:lnTo>
                  <a:pt x="704" y="13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6" name="Freeform 57"/>
          <p:cNvSpPr>
            <a:spLocks/>
          </p:cNvSpPr>
          <p:nvPr/>
        </p:nvSpPr>
        <p:spPr bwMode="auto">
          <a:xfrm>
            <a:off x="2443163" y="428148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7" name="Freeform 58"/>
          <p:cNvSpPr>
            <a:spLocks/>
          </p:cNvSpPr>
          <p:nvPr/>
        </p:nvSpPr>
        <p:spPr bwMode="auto">
          <a:xfrm>
            <a:off x="2443163" y="4281488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8" name="Freeform 59"/>
          <p:cNvSpPr>
            <a:spLocks/>
          </p:cNvSpPr>
          <p:nvPr/>
        </p:nvSpPr>
        <p:spPr bwMode="auto">
          <a:xfrm>
            <a:off x="2617788" y="4689475"/>
            <a:ext cx="1117600" cy="201613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2147483647 w 704"/>
              <a:gd name="T13" fmla="*/ 2147483647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4"/>
              <a:gd name="T22" fmla="*/ 0 h 127"/>
              <a:gd name="T23" fmla="*/ 704 w 704"/>
              <a:gd name="T24" fmla="*/ 127 h 12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4" h="127">
                <a:moveTo>
                  <a:pt x="704" y="125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  <a:lnTo>
                  <a:pt x="704" y="12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79" name="Freeform 60"/>
          <p:cNvSpPr>
            <a:spLocks/>
          </p:cNvSpPr>
          <p:nvPr/>
        </p:nvSpPr>
        <p:spPr bwMode="auto">
          <a:xfrm>
            <a:off x="2617788" y="4689475"/>
            <a:ext cx="1117600" cy="201613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5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0" name="Freeform 61"/>
          <p:cNvSpPr>
            <a:spLocks/>
          </p:cNvSpPr>
          <p:nvPr/>
        </p:nvSpPr>
        <p:spPr bwMode="auto">
          <a:xfrm>
            <a:off x="2443163" y="4684713"/>
            <a:ext cx="169862" cy="203200"/>
          </a:xfrm>
          <a:custGeom>
            <a:avLst/>
            <a:gdLst>
              <a:gd name="T0" fmla="*/ 2147483647 w 107"/>
              <a:gd name="T1" fmla="*/ 2147483647 h 128"/>
              <a:gd name="T2" fmla="*/ 2147483647 w 107"/>
              <a:gd name="T3" fmla="*/ 0 h 128"/>
              <a:gd name="T4" fmla="*/ 0 w 107"/>
              <a:gd name="T5" fmla="*/ 0 h 128"/>
              <a:gd name="T6" fmla="*/ 0 w 107"/>
              <a:gd name="T7" fmla="*/ 2147483647 h 128"/>
              <a:gd name="T8" fmla="*/ 2147483647 w 107"/>
              <a:gd name="T9" fmla="*/ 2147483647 h 128"/>
              <a:gd name="T10" fmla="*/ 2147483647 w 107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8"/>
              <a:gd name="T20" fmla="*/ 107 w 107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8">
                <a:moveTo>
                  <a:pt x="107" y="128"/>
                </a:moveTo>
                <a:lnTo>
                  <a:pt x="107" y="0"/>
                </a:lnTo>
                <a:lnTo>
                  <a:pt x="0" y="0"/>
                </a:lnTo>
                <a:lnTo>
                  <a:pt x="0" y="128"/>
                </a:lnTo>
                <a:lnTo>
                  <a:pt x="107" y="128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1" name="Freeform 62"/>
          <p:cNvSpPr>
            <a:spLocks/>
          </p:cNvSpPr>
          <p:nvPr/>
        </p:nvSpPr>
        <p:spPr bwMode="auto">
          <a:xfrm>
            <a:off x="2443163" y="4684713"/>
            <a:ext cx="169862" cy="203200"/>
          </a:xfrm>
          <a:custGeom>
            <a:avLst/>
            <a:gdLst>
              <a:gd name="T0" fmla="*/ 2147483647 w 107"/>
              <a:gd name="T1" fmla="*/ 2147483647 h 128"/>
              <a:gd name="T2" fmla="*/ 2147483647 w 107"/>
              <a:gd name="T3" fmla="*/ 0 h 128"/>
              <a:gd name="T4" fmla="*/ 0 w 107"/>
              <a:gd name="T5" fmla="*/ 0 h 128"/>
              <a:gd name="T6" fmla="*/ 0 w 107"/>
              <a:gd name="T7" fmla="*/ 2147483647 h 128"/>
              <a:gd name="T8" fmla="*/ 2147483647 w 107"/>
              <a:gd name="T9" fmla="*/ 2147483647 h 128"/>
              <a:gd name="T10" fmla="*/ 2147483647 w 107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8"/>
              <a:gd name="T20" fmla="*/ 107 w 107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8">
                <a:moveTo>
                  <a:pt x="107" y="128"/>
                </a:moveTo>
                <a:lnTo>
                  <a:pt x="107" y="0"/>
                </a:lnTo>
                <a:lnTo>
                  <a:pt x="0" y="0"/>
                </a:lnTo>
                <a:lnTo>
                  <a:pt x="0" y="128"/>
                </a:lnTo>
                <a:lnTo>
                  <a:pt x="107" y="12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2" name="Freeform 63"/>
          <p:cNvSpPr>
            <a:spLocks/>
          </p:cNvSpPr>
          <p:nvPr/>
        </p:nvSpPr>
        <p:spPr bwMode="auto">
          <a:xfrm>
            <a:off x="2617788" y="5089525"/>
            <a:ext cx="1117600" cy="204788"/>
          </a:xfrm>
          <a:custGeom>
            <a:avLst/>
            <a:gdLst>
              <a:gd name="T0" fmla="*/ 2147483647 w 704"/>
              <a:gd name="T1" fmla="*/ 2147483647 h 129"/>
              <a:gd name="T2" fmla="*/ 2147483647 w 704"/>
              <a:gd name="T3" fmla="*/ 0 h 129"/>
              <a:gd name="T4" fmla="*/ 0 w 704"/>
              <a:gd name="T5" fmla="*/ 0 h 129"/>
              <a:gd name="T6" fmla="*/ 0 w 704"/>
              <a:gd name="T7" fmla="*/ 2147483647 h 129"/>
              <a:gd name="T8" fmla="*/ 2147483647 w 704"/>
              <a:gd name="T9" fmla="*/ 2147483647 h 129"/>
              <a:gd name="T10" fmla="*/ 2147483647 w 704"/>
              <a:gd name="T11" fmla="*/ 2147483647 h 129"/>
              <a:gd name="T12" fmla="*/ 2147483647 w 704"/>
              <a:gd name="T13" fmla="*/ 2147483647 h 1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4"/>
              <a:gd name="T22" fmla="*/ 0 h 129"/>
              <a:gd name="T23" fmla="*/ 704 w 704"/>
              <a:gd name="T24" fmla="*/ 129 h 1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4" h="129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9"/>
                </a:lnTo>
                <a:lnTo>
                  <a:pt x="704" y="129"/>
                </a:lnTo>
                <a:lnTo>
                  <a:pt x="704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3" name="Freeform 64"/>
          <p:cNvSpPr>
            <a:spLocks/>
          </p:cNvSpPr>
          <p:nvPr/>
        </p:nvSpPr>
        <p:spPr bwMode="auto">
          <a:xfrm>
            <a:off x="2617788" y="5089525"/>
            <a:ext cx="1117600" cy="204788"/>
          </a:xfrm>
          <a:custGeom>
            <a:avLst/>
            <a:gdLst>
              <a:gd name="T0" fmla="*/ 2147483647 w 704"/>
              <a:gd name="T1" fmla="*/ 2147483647 h 129"/>
              <a:gd name="T2" fmla="*/ 2147483647 w 704"/>
              <a:gd name="T3" fmla="*/ 0 h 129"/>
              <a:gd name="T4" fmla="*/ 0 w 704"/>
              <a:gd name="T5" fmla="*/ 0 h 129"/>
              <a:gd name="T6" fmla="*/ 0 w 704"/>
              <a:gd name="T7" fmla="*/ 2147483647 h 129"/>
              <a:gd name="T8" fmla="*/ 2147483647 w 704"/>
              <a:gd name="T9" fmla="*/ 2147483647 h 129"/>
              <a:gd name="T10" fmla="*/ 2147483647 w 704"/>
              <a:gd name="T11" fmla="*/ 2147483647 h 1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9"/>
              <a:gd name="T20" fmla="*/ 704 w 704"/>
              <a:gd name="T21" fmla="*/ 129 h 1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9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9"/>
                </a:lnTo>
                <a:lnTo>
                  <a:pt x="704" y="129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4" name="Freeform 65"/>
          <p:cNvSpPr>
            <a:spLocks/>
          </p:cNvSpPr>
          <p:nvPr/>
        </p:nvSpPr>
        <p:spPr bwMode="auto">
          <a:xfrm>
            <a:off x="2443163" y="508952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5" name="Freeform 66"/>
          <p:cNvSpPr>
            <a:spLocks/>
          </p:cNvSpPr>
          <p:nvPr/>
        </p:nvSpPr>
        <p:spPr bwMode="auto">
          <a:xfrm>
            <a:off x="2443163" y="508952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6" name="Freeform 67"/>
          <p:cNvSpPr>
            <a:spLocks/>
          </p:cNvSpPr>
          <p:nvPr/>
        </p:nvSpPr>
        <p:spPr bwMode="auto">
          <a:xfrm>
            <a:off x="2617788" y="5495925"/>
            <a:ext cx="1117600" cy="201613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7" name="Freeform 68"/>
          <p:cNvSpPr>
            <a:spLocks/>
          </p:cNvSpPr>
          <p:nvPr/>
        </p:nvSpPr>
        <p:spPr bwMode="auto">
          <a:xfrm>
            <a:off x="2617788" y="5495925"/>
            <a:ext cx="1117600" cy="201613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8" name="Freeform 69"/>
          <p:cNvSpPr>
            <a:spLocks/>
          </p:cNvSpPr>
          <p:nvPr/>
        </p:nvSpPr>
        <p:spPr bwMode="auto">
          <a:xfrm>
            <a:off x="2443163" y="5492750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89" name="Freeform 70"/>
          <p:cNvSpPr>
            <a:spLocks/>
          </p:cNvSpPr>
          <p:nvPr/>
        </p:nvSpPr>
        <p:spPr bwMode="auto">
          <a:xfrm>
            <a:off x="2443163" y="5492750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90" name="Freeform 71"/>
          <p:cNvSpPr>
            <a:spLocks/>
          </p:cNvSpPr>
          <p:nvPr/>
        </p:nvSpPr>
        <p:spPr bwMode="auto">
          <a:xfrm>
            <a:off x="2617788" y="5895975"/>
            <a:ext cx="1117600" cy="206375"/>
          </a:xfrm>
          <a:custGeom>
            <a:avLst/>
            <a:gdLst>
              <a:gd name="T0" fmla="*/ 2147483647 w 704"/>
              <a:gd name="T1" fmla="*/ 2147483647 h 130"/>
              <a:gd name="T2" fmla="*/ 2147483647 w 704"/>
              <a:gd name="T3" fmla="*/ 0 h 130"/>
              <a:gd name="T4" fmla="*/ 0 w 704"/>
              <a:gd name="T5" fmla="*/ 0 h 130"/>
              <a:gd name="T6" fmla="*/ 0 w 704"/>
              <a:gd name="T7" fmla="*/ 2147483647 h 130"/>
              <a:gd name="T8" fmla="*/ 2147483647 w 704"/>
              <a:gd name="T9" fmla="*/ 2147483647 h 130"/>
              <a:gd name="T10" fmla="*/ 2147483647 w 704"/>
              <a:gd name="T11" fmla="*/ 2147483647 h 130"/>
              <a:gd name="T12" fmla="*/ 2147483647 w 704"/>
              <a:gd name="T13" fmla="*/ 2147483647 h 1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04"/>
              <a:gd name="T22" fmla="*/ 0 h 130"/>
              <a:gd name="T23" fmla="*/ 704 w 704"/>
              <a:gd name="T24" fmla="*/ 130 h 13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04" h="130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30"/>
                </a:lnTo>
                <a:lnTo>
                  <a:pt x="704" y="130"/>
                </a:lnTo>
                <a:lnTo>
                  <a:pt x="704" y="127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91" name="Freeform 72"/>
          <p:cNvSpPr>
            <a:spLocks/>
          </p:cNvSpPr>
          <p:nvPr/>
        </p:nvSpPr>
        <p:spPr bwMode="auto">
          <a:xfrm>
            <a:off x="2617788" y="5895975"/>
            <a:ext cx="1117600" cy="206375"/>
          </a:xfrm>
          <a:custGeom>
            <a:avLst/>
            <a:gdLst>
              <a:gd name="T0" fmla="*/ 2147483647 w 704"/>
              <a:gd name="T1" fmla="*/ 2147483647 h 130"/>
              <a:gd name="T2" fmla="*/ 2147483647 w 704"/>
              <a:gd name="T3" fmla="*/ 0 h 130"/>
              <a:gd name="T4" fmla="*/ 0 w 704"/>
              <a:gd name="T5" fmla="*/ 0 h 130"/>
              <a:gd name="T6" fmla="*/ 0 w 704"/>
              <a:gd name="T7" fmla="*/ 2147483647 h 130"/>
              <a:gd name="T8" fmla="*/ 2147483647 w 704"/>
              <a:gd name="T9" fmla="*/ 2147483647 h 130"/>
              <a:gd name="T10" fmla="*/ 2147483647 w 704"/>
              <a:gd name="T11" fmla="*/ 2147483647 h 1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30"/>
              <a:gd name="T20" fmla="*/ 704 w 704"/>
              <a:gd name="T21" fmla="*/ 130 h 1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30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30"/>
                </a:lnTo>
                <a:lnTo>
                  <a:pt x="704" y="13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92" name="Freeform 73"/>
          <p:cNvSpPr>
            <a:spLocks/>
          </p:cNvSpPr>
          <p:nvPr/>
        </p:nvSpPr>
        <p:spPr bwMode="auto">
          <a:xfrm>
            <a:off x="2443163" y="589597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93" name="Freeform 74"/>
          <p:cNvSpPr>
            <a:spLocks/>
          </p:cNvSpPr>
          <p:nvPr/>
        </p:nvSpPr>
        <p:spPr bwMode="auto">
          <a:xfrm>
            <a:off x="2443163" y="589597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7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94" name="Freeform 75"/>
          <p:cNvSpPr>
            <a:spLocks/>
          </p:cNvSpPr>
          <p:nvPr/>
        </p:nvSpPr>
        <p:spPr bwMode="auto">
          <a:xfrm>
            <a:off x="2617788" y="3679825"/>
            <a:ext cx="1117600" cy="201613"/>
          </a:xfrm>
          <a:custGeom>
            <a:avLst/>
            <a:gdLst>
              <a:gd name="T0" fmla="*/ 2147483647 w 704"/>
              <a:gd name="T1" fmla="*/ 2147483647 h 127"/>
              <a:gd name="T2" fmla="*/ 2147483647 w 704"/>
              <a:gd name="T3" fmla="*/ 0 h 127"/>
              <a:gd name="T4" fmla="*/ 0 w 704"/>
              <a:gd name="T5" fmla="*/ 0 h 127"/>
              <a:gd name="T6" fmla="*/ 0 w 704"/>
              <a:gd name="T7" fmla="*/ 2147483647 h 127"/>
              <a:gd name="T8" fmla="*/ 2147483647 w 704"/>
              <a:gd name="T9" fmla="*/ 2147483647 h 127"/>
              <a:gd name="T10" fmla="*/ 2147483647 w 704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4"/>
              <a:gd name="T19" fmla="*/ 0 h 127"/>
              <a:gd name="T20" fmla="*/ 704 w 704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4" h="127">
                <a:moveTo>
                  <a:pt x="704" y="127"/>
                </a:moveTo>
                <a:lnTo>
                  <a:pt x="704" y="0"/>
                </a:lnTo>
                <a:lnTo>
                  <a:pt x="0" y="0"/>
                </a:lnTo>
                <a:lnTo>
                  <a:pt x="0" y="127"/>
                </a:lnTo>
                <a:lnTo>
                  <a:pt x="704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95" name="Freeform 76"/>
          <p:cNvSpPr>
            <a:spLocks/>
          </p:cNvSpPr>
          <p:nvPr/>
        </p:nvSpPr>
        <p:spPr bwMode="auto">
          <a:xfrm>
            <a:off x="2443163" y="3679825"/>
            <a:ext cx="169862" cy="198438"/>
          </a:xfrm>
          <a:custGeom>
            <a:avLst/>
            <a:gdLst>
              <a:gd name="T0" fmla="*/ 2147483647 w 107"/>
              <a:gd name="T1" fmla="*/ 2147483647 h 125"/>
              <a:gd name="T2" fmla="*/ 2147483647 w 107"/>
              <a:gd name="T3" fmla="*/ 0 h 125"/>
              <a:gd name="T4" fmla="*/ 0 w 107"/>
              <a:gd name="T5" fmla="*/ 0 h 125"/>
              <a:gd name="T6" fmla="*/ 0 w 107"/>
              <a:gd name="T7" fmla="*/ 2147483647 h 125"/>
              <a:gd name="T8" fmla="*/ 2147483647 w 107"/>
              <a:gd name="T9" fmla="*/ 2147483647 h 125"/>
              <a:gd name="T10" fmla="*/ 2147483647 w 107"/>
              <a:gd name="T11" fmla="*/ 2147483647 h 1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5"/>
              <a:gd name="T20" fmla="*/ 107 w 107"/>
              <a:gd name="T21" fmla="*/ 125 h 1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5">
                <a:moveTo>
                  <a:pt x="107" y="125"/>
                </a:moveTo>
                <a:lnTo>
                  <a:pt x="107" y="0"/>
                </a:lnTo>
                <a:lnTo>
                  <a:pt x="0" y="0"/>
                </a:lnTo>
                <a:lnTo>
                  <a:pt x="0" y="125"/>
                </a:lnTo>
                <a:lnTo>
                  <a:pt x="107" y="125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796" name="Rectangle 77"/>
          <p:cNvSpPr>
            <a:spLocks noChangeArrowheads="1"/>
          </p:cNvSpPr>
          <p:nvPr/>
        </p:nvSpPr>
        <p:spPr bwMode="auto">
          <a:xfrm>
            <a:off x="2487613" y="3897313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797" name="Rectangle 78"/>
          <p:cNvSpPr>
            <a:spLocks noChangeArrowheads="1"/>
          </p:cNvSpPr>
          <p:nvPr/>
        </p:nvSpPr>
        <p:spPr bwMode="auto">
          <a:xfrm>
            <a:off x="2487613" y="4100513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798" name="Rectangle 79"/>
          <p:cNvSpPr>
            <a:spLocks noChangeArrowheads="1"/>
          </p:cNvSpPr>
          <p:nvPr/>
        </p:nvSpPr>
        <p:spPr bwMode="auto">
          <a:xfrm>
            <a:off x="2487613" y="4302125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799" name="Rectangle 80"/>
          <p:cNvSpPr>
            <a:spLocks noChangeArrowheads="1"/>
          </p:cNvSpPr>
          <p:nvPr/>
        </p:nvSpPr>
        <p:spPr bwMode="auto">
          <a:xfrm>
            <a:off x="2487613" y="4503738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00" name="Rectangle 81"/>
          <p:cNvSpPr>
            <a:spLocks noChangeArrowheads="1"/>
          </p:cNvSpPr>
          <p:nvPr/>
        </p:nvSpPr>
        <p:spPr bwMode="auto">
          <a:xfrm>
            <a:off x="2487613" y="4705350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30801" name="Rectangle 82"/>
          <p:cNvSpPr>
            <a:spLocks noChangeArrowheads="1"/>
          </p:cNvSpPr>
          <p:nvPr/>
        </p:nvSpPr>
        <p:spPr bwMode="auto">
          <a:xfrm>
            <a:off x="2487613" y="4906963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02" name="Rectangle 83"/>
          <p:cNvSpPr>
            <a:spLocks noChangeArrowheads="1"/>
          </p:cNvSpPr>
          <p:nvPr/>
        </p:nvSpPr>
        <p:spPr bwMode="auto">
          <a:xfrm>
            <a:off x="2487613" y="5108575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03" name="Rectangle 84"/>
          <p:cNvSpPr>
            <a:spLocks noChangeArrowheads="1"/>
          </p:cNvSpPr>
          <p:nvPr/>
        </p:nvSpPr>
        <p:spPr bwMode="auto">
          <a:xfrm>
            <a:off x="2487613" y="5310188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30804" name="Rectangle 85"/>
          <p:cNvSpPr>
            <a:spLocks noChangeArrowheads="1"/>
          </p:cNvSpPr>
          <p:nvPr/>
        </p:nvSpPr>
        <p:spPr bwMode="auto">
          <a:xfrm>
            <a:off x="2487613" y="5511800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05" name="Rectangle 86"/>
          <p:cNvSpPr>
            <a:spLocks noChangeArrowheads="1"/>
          </p:cNvSpPr>
          <p:nvPr/>
        </p:nvSpPr>
        <p:spPr bwMode="auto">
          <a:xfrm>
            <a:off x="2487613" y="5713413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06" name="Rectangle 87"/>
          <p:cNvSpPr>
            <a:spLocks noChangeArrowheads="1"/>
          </p:cNvSpPr>
          <p:nvPr/>
        </p:nvSpPr>
        <p:spPr bwMode="auto">
          <a:xfrm>
            <a:off x="2487613" y="5916613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30807" name="Rectangle 88"/>
          <p:cNvSpPr>
            <a:spLocks noChangeArrowheads="1"/>
          </p:cNvSpPr>
          <p:nvPr/>
        </p:nvSpPr>
        <p:spPr bwMode="auto">
          <a:xfrm>
            <a:off x="2487613" y="6118225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08" name="Freeform 89"/>
          <p:cNvSpPr>
            <a:spLocks/>
          </p:cNvSpPr>
          <p:nvPr/>
        </p:nvSpPr>
        <p:spPr bwMode="auto">
          <a:xfrm>
            <a:off x="3133725" y="3946525"/>
            <a:ext cx="68263" cy="68263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1"/>
                </a:moveTo>
                <a:lnTo>
                  <a:pt x="25" y="43"/>
                </a:lnTo>
                <a:lnTo>
                  <a:pt x="28" y="41"/>
                </a:lnTo>
                <a:lnTo>
                  <a:pt x="30" y="41"/>
                </a:lnTo>
                <a:lnTo>
                  <a:pt x="33" y="38"/>
                </a:lnTo>
                <a:lnTo>
                  <a:pt x="36" y="36"/>
                </a:lnTo>
                <a:lnTo>
                  <a:pt x="38" y="33"/>
                </a:lnTo>
                <a:lnTo>
                  <a:pt x="41" y="31"/>
                </a:lnTo>
                <a:lnTo>
                  <a:pt x="41" y="28"/>
                </a:lnTo>
                <a:lnTo>
                  <a:pt x="43" y="26"/>
                </a:lnTo>
                <a:lnTo>
                  <a:pt x="43" y="21"/>
                </a:lnTo>
                <a:lnTo>
                  <a:pt x="43" y="18"/>
                </a:lnTo>
                <a:lnTo>
                  <a:pt x="41" y="15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3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3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5"/>
                </a:lnTo>
                <a:lnTo>
                  <a:pt x="0" y="18"/>
                </a:lnTo>
                <a:lnTo>
                  <a:pt x="0" y="21"/>
                </a:lnTo>
                <a:lnTo>
                  <a:pt x="0" y="26"/>
                </a:lnTo>
                <a:lnTo>
                  <a:pt x="3" y="28"/>
                </a:lnTo>
                <a:lnTo>
                  <a:pt x="3" y="31"/>
                </a:lnTo>
                <a:lnTo>
                  <a:pt x="5" y="33"/>
                </a:lnTo>
                <a:lnTo>
                  <a:pt x="8" y="36"/>
                </a:lnTo>
                <a:lnTo>
                  <a:pt x="10" y="38"/>
                </a:lnTo>
                <a:lnTo>
                  <a:pt x="13" y="41"/>
                </a:lnTo>
                <a:lnTo>
                  <a:pt x="15" y="41"/>
                </a:lnTo>
                <a:lnTo>
                  <a:pt x="18" y="43"/>
                </a:lnTo>
                <a:lnTo>
                  <a:pt x="20" y="43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09" name="Freeform 90"/>
          <p:cNvSpPr>
            <a:spLocks/>
          </p:cNvSpPr>
          <p:nvPr/>
        </p:nvSpPr>
        <p:spPr bwMode="auto">
          <a:xfrm>
            <a:off x="3133725" y="4148138"/>
            <a:ext cx="68263" cy="69850"/>
          </a:xfrm>
          <a:custGeom>
            <a:avLst/>
            <a:gdLst>
              <a:gd name="T0" fmla="*/ 2147483647 w 43"/>
              <a:gd name="T1" fmla="*/ 2147483647 h 44"/>
              <a:gd name="T2" fmla="*/ 2147483647 w 43"/>
              <a:gd name="T3" fmla="*/ 2147483647 h 44"/>
              <a:gd name="T4" fmla="*/ 2147483647 w 43"/>
              <a:gd name="T5" fmla="*/ 2147483647 h 44"/>
              <a:gd name="T6" fmla="*/ 2147483647 w 43"/>
              <a:gd name="T7" fmla="*/ 2147483647 h 44"/>
              <a:gd name="T8" fmla="*/ 2147483647 w 43"/>
              <a:gd name="T9" fmla="*/ 2147483647 h 44"/>
              <a:gd name="T10" fmla="*/ 2147483647 w 43"/>
              <a:gd name="T11" fmla="*/ 2147483647 h 44"/>
              <a:gd name="T12" fmla="*/ 2147483647 w 43"/>
              <a:gd name="T13" fmla="*/ 2147483647 h 44"/>
              <a:gd name="T14" fmla="*/ 2147483647 w 43"/>
              <a:gd name="T15" fmla="*/ 2147483647 h 44"/>
              <a:gd name="T16" fmla="*/ 2147483647 w 43"/>
              <a:gd name="T17" fmla="*/ 2147483647 h 44"/>
              <a:gd name="T18" fmla="*/ 2147483647 w 43"/>
              <a:gd name="T19" fmla="*/ 2147483647 h 44"/>
              <a:gd name="T20" fmla="*/ 2147483647 w 43"/>
              <a:gd name="T21" fmla="*/ 2147483647 h 44"/>
              <a:gd name="T22" fmla="*/ 2147483647 w 43"/>
              <a:gd name="T23" fmla="*/ 2147483647 h 44"/>
              <a:gd name="T24" fmla="*/ 2147483647 w 43"/>
              <a:gd name="T25" fmla="*/ 2147483647 h 44"/>
              <a:gd name="T26" fmla="*/ 2147483647 w 43"/>
              <a:gd name="T27" fmla="*/ 2147483647 h 44"/>
              <a:gd name="T28" fmla="*/ 2147483647 w 43"/>
              <a:gd name="T29" fmla="*/ 2147483647 h 44"/>
              <a:gd name="T30" fmla="*/ 2147483647 w 43"/>
              <a:gd name="T31" fmla="*/ 2147483647 h 44"/>
              <a:gd name="T32" fmla="*/ 2147483647 w 43"/>
              <a:gd name="T33" fmla="*/ 2147483647 h 44"/>
              <a:gd name="T34" fmla="*/ 2147483647 w 43"/>
              <a:gd name="T35" fmla="*/ 2147483647 h 44"/>
              <a:gd name="T36" fmla="*/ 2147483647 w 43"/>
              <a:gd name="T37" fmla="*/ 0 h 44"/>
              <a:gd name="T38" fmla="*/ 2147483647 w 43"/>
              <a:gd name="T39" fmla="*/ 0 h 44"/>
              <a:gd name="T40" fmla="*/ 2147483647 w 43"/>
              <a:gd name="T41" fmla="*/ 0 h 44"/>
              <a:gd name="T42" fmla="*/ 2147483647 w 43"/>
              <a:gd name="T43" fmla="*/ 0 h 44"/>
              <a:gd name="T44" fmla="*/ 2147483647 w 43"/>
              <a:gd name="T45" fmla="*/ 0 h 44"/>
              <a:gd name="T46" fmla="*/ 2147483647 w 43"/>
              <a:gd name="T47" fmla="*/ 2147483647 h 44"/>
              <a:gd name="T48" fmla="*/ 2147483647 w 43"/>
              <a:gd name="T49" fmla="*/ 2147483647 h 44"/>
              <a:gd name="T50" fmla="*/ 2147483647 w 43"/>
              <a:gd name="T51" fmla="*/ 2147483647 h 44"/>
              <a:gd name="T52" fmla="*/ 2147483647 w 43"/>
              <a:gd name="T53" fmla="*/ 2147483647 h 44"/>
              <a:gd name="T54" fmla="*/ 2147483647 w 43"/>
              <a:gd name="T55" fmla="*/ 2147483647 h 44"/>
              <a:gd name="T56" fmla="*/ 2147483647 w 43"/>
              <a:gd name="T57" fmla="*/ 2147483647 h 44"/>
              <a:gd name="T58" fmla="*/ 0 w 43"/>
              <a:gd name="T59" fmla="*/ 2147483647 h 44"/>
              <a:gd name="T60" fmla="*/ 0 w 43"/>
              <a:gd name="T61" fmla="*/ 2147483647 h 44"/>
              <a:gd name="T62" fmla="*/ 0 w 43"/>
              <a:gd name="T63" fmla="*/ 2147483647 h 44"/>
              <a:gd name="T64" fmla="*/ 2147483647 w 43"/>
              <a:gd name="T65" fmla="*/ 2147483647 h 44"/>
              <a:gd name="T66" fmla="*/ 2147483647 w 43"/>
              <a:gd name="T67" fmla="*/ 2147483647 h 44"/>
              <a:gd name="T68" fmla="*/ 2147483647 w 43"/>
              <a:gd name="T69" fmla="*/ 2147483647 h 44"/>
              <a:gd name="T70" fmla="*/ 2147483647 w 43"/>
              <a:gd name="T71" fmla="*/ 2147483647 h 44"/>
              <a:gd name="T72" fmla="*/ 2147483647 w 43"/>
              <a:gd name="T73" fmla="*/ 2147483647 h 44"/>
              <a:gd name="T74" fmla="*/ 2147483647 w 43"/>
              <a:gd name="T75" fmla="*/ 2147483647 h 44"/>
              <a:gd name="T76" fmla="*/ 2147483647 w 43"/>
              <a:gd name="T77" fmla="*/ 2147483647 h 44"/>
              <a:gd name="T78" fmla="*/ 2147483647 w 43"/>
              <a:gd name="T79" fmla="*/ 2147483647 h 44"/>
              <a:gd name="T80" fmla="*/ 2147483647 w 43"/>
              <a:gd name="T81" fmla="*/ 2147483647 h 44"/>
              <a:gd name="T82" fmla="*/ 2147483647 w 43"/>
              <a:gd name="T83" fmla="*/ 2147483647 h 44"/>
              <a:gd name="T84" fmla="*/ 2147483647 w 43"/>
              <a:gd name="T85" fmla="*/ 2147483647 h 4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4"/>
              <a:gd name="T131" fmla="*/ 43 w 43"/>
              <a:gd name="T132" fmla="*/ 44 h 4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4">
                <a:moveTo>
                  <a:pt x="20" y="41"/>
                </a:moveTo>
                <a:lnTo>
                  <a:pt x="25" y="44"/>
                </a:lnTo>
                <a:lnTo>
                  <a:pt x="28" y="41"/>
                </a:lnTo>
                <a:lnTo>
                  <a:pt x="30" y="41"/>
                </a:lnTo>
                <a:lnTo>
                  <a:pt x="33" y="38"/>
                </a:lnTo>
                <a:lnTo>
                  <a:pt x="36" y="36"/>
                </a:lnTo>
                <a:lnTo>
                  <a:pt x="38" y="33"/>
                </a:lnTo>
                <a:lnTo>
                  <a:pt x="41" y="31"/>
                </a:lnTo>
                <a:lnTo>
                  <a:pt x="41" y="28"/>
                </a:lnTo>
                <a:lnTo>
                  <a:pt x="43" y="26"/>
                </a:lnTo>
                <a:lnTo>
                  <a:pt x="43" y="21"/>
                </a:lnTo>
                <a:lnTo>
                  <a:pt x="43" y="18"/>
                </a:lnTo>
                <a:lnTo>
                  <a:pt x="41" y="16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3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3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6"/>
                </a:lnTo>
                <a:lnTo>
                  <a:pt x="0" y="18"/>
                </a:lnTo>
                <a:lnTo>
                  <a:pt x="0" y="21"/>
                </a:lnTo>
                <a:lnTo>
                  <a:pt x="0" y="26"/>
                </a:lnTo>
                <a:lnTo>
                  <a:pt x="3" y="28"/>
                </a:lnTo>
                <a:lnTo>
                  <a:pt x="3" y="31"/>
                </a:lnTo>
                <a:lnTo>
                  <a:pt x="5" y="33"/>
                </a:lnTo>
                <a:lnTo>
                  <a:pt x="8" y="36"/>
                </a:lnTo>
                <a:lnTo>
                  <a:pt x="10" y="38"/>
                </a:lnTo>
                <a:lnTo>
                  <a:pt x="13" y="41"/>
                </a:lnTo>
                <a:lnTo>
                  <a:pt x="15" y="41"/>
                </a:lnTo>
                <a:lnTo>
                  <a:pt x="18" y="44"/>
                </a:lnTo>
                <a:lnTo>
                  <a:pt x="20" y="44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0" name="Freeform 91"/>
          <p:cNvSpPr>
            <a:spLocks/>
          </p:cNvSpPr>
          <p:nvPr/>
        </p:nvSpPr>
        <p:spPr bwMode="auto">
          <a:xfrm>
            <a:off x="3133725" y="4349750"/>
            <a:ext cx="68263" cy="69850"/>
          </a:xfrm>
          <a:custGeom>
            <a:avLst/>
            <a:gdLst>
              <a:gd name="T0" fmla="*/ 2147483647 w 43"/>
              <a:gd name="T1" fmla="*/ 2147483647 h 44"/>
              <a:gd name="T2" fmla="*/ 2147483647 w 43"/>
              <a:gd name="T3" fmla="*/ 2147483647 h 44"/>
              <a:gd name="T4" fmla="*/ 2147483647 w 43"/>
              <a:gd name="T5" fmla="*/ 2147483647 h 44"/>
              <a:gd name="T6" fmla="*/ 2147483647 w 43"/>
              <a:gd name="T7" fmla="*/ 2147483647 h 44"/>
              <a:gd name="T8" fmla="*/ 2147483647 w 43"/>
              <a:gd name="T9" fmla="*/ 2147483647 h 44"/>
              <a:gd name="T10" fmla="*/ 2147483647 w 43"/>
              <a:gd name="T11" fmla="*/ 2147483647 h 44"/>
              <a:gd name="T12" fmla="*/ 2147483647 w 43"/>
              <a:gd name="T13" fmla="*/ 2147483647 h 44"/>
              <a:gd name="T14" fmla="*/ 2147483647 w 43"/>
              <a:gd name="T15" fmla="*/ 2147483647 h 44"/>
              <a:gd name="T16" fmla="*/ 2147483647 w 43"/>
              <a:gd name="T17" fmla="*/ 2147483647 h 44"/>
              <a:gd name="T18" fmla="*/ 2147483647 w 43"/>
              <a:gd name="T19" fmla="*/ 2147483647 h 44"/>
              <a:gd name="T20" fmla="*/ 2147483647 w 43"/>
              <a:gd name="T21" fmla="*/ 2147483647 h 44"/>
              <a:gd name="T22" fmla="*/ 2147483647 w 43"/>
              <a:gd name="T23" fmla="*/ 2147483647 h 44"/>
              <a:gd name="T24" fmla="*/ 2147483647 w 43"/>
              <a:gd name="T25" fmla="*/ 2147483647 h 44"/>
              <a:gd name="T26" fmla="*/ 2147483647 w 43"/>
              <a:gd name="T27" fmla="*/ 2147483647 h 44"/>
              <a:gd name="T28" fmla="*/ 2147483647 w 43"/>
              <a:gd name="T29" fmla="*/ 2147483647 h 44"/>
              <a:gd name="T30" fmla="*/ 2147483647 w 43"/>
              <a:gd name="T31" fmla="*/ 2147483647 h 44"/>
              <a:gd name="T32" fmla="*/ 2147483647 w 43"/>
              <a:gd name="T33" fmla="*/ 2147483647 h 44"/>
              <a:gd name="T34" fmla="*/ 2147483647 w 43"/>
              <a:gd name="T35" fmla="*/ 2147483647 h 44"/>
              <a:gd name="T36" fmla="*/ 2147483647 w 43"/>
              <a:gd name="T37" fmla="*/ 0 h 44"/>
              <a:gd name="T38" fmla="*/ 2147483647 w 43"/>
              <a:gd name="T39" fmla="*/ 0 h 44"/>
              <a:gd name="T40" fmla="*/ 2147483647 w 43"/>
              <a:gd name="T41" fmla="*/ 0 h 44"/>
              <a:gd name="T42" fmla="*/ 2147483647 w 43"/>
              <a:gd name="T43" fmla="*/ 0 h 44"/>
              <a:gd name="T44" fmla="*/ 2147483647 w 43"/>
              <a:gd name="T45" fmla="*/ 0 h 44"/>
              <a:gd name="T46" fmla="*/ 2147483647 w 43"/>
              <a:gd name="T47" fmla="*/ 2147483647 h 44"/>
              <a:gd name="T48" fmla="*/ 2147483647 w 43"/>
              <a:gd name="T49" fmla="*/ 2147483647 h 44"/>
              <a:gd name="T50" fmla="*/ 2147483647 w 43"/>
              <a:gd name="T51" fmla="*/ 2147483647 h 44"/>
              <a:gd name="T52" fmla="*/ 2147483647 w 43"/>
              <a:gd name="T53" fmla="*/ 2147483647 h 44"/>
              <a:gd name="T54" fmla="*/ 2147483647 w 43"/>
              <a:gd name="T55" fmla="*/ 2147483647 h 44"/>
              <a:gd name="T56" fmla="*/ 2147483647 w 43"/>
              <a:gd name="T57" fmla="*/ 2147483647 h 44"/>
              <a:gd name="T58" fmla="*/ 0 w 43"/>
              <a:gd name="T59" fmla="*/ 2147483647 h 44"/>
              <a:gd name="T60" fmla="*/ 0 w 43"/>
              <a:gd name="T61" fmla="*/ 2147483647 h 44"/>
              <a:gd name="T62" fmla="*/ 0 w 43"/>
              <a:gd name="T63" fmla="*/ 2147483647 h 44"/>
              <a:gd name="T64" fmla="*/ 2147483647 w 43"/>
              <a:gd name="T65" fmla="*/ 2147483647 h 44"/>
              <a:gd name="T66" fmla="*/ 2147483647 w 43"/>
              <a:gd name="T67" fmla="*/ 2147483647 h 44"/>
              <a:gd name="T68" fmla="*/ 2147483647 w 43"/>
              <a:gd name="T69" fmla="*/ 2147483647 h 44"/>
              <a:gd name="T70" fmla="*/ 2147483647 w 43"/>
              <a:gd name="T71" fmla="*/ 2147483647 h 44"/>
              <a:gd name="T72" fmla="*/ 2147483647 w 43"/>
              <a:gd name="T73" fmla="*/ 2147483647 h 44"/>
              <a:gd name="T74" fmla="*/ 2147483647 w 43"/>
              <a:gd name="T75" fmla="*/ 2147483647 h 44"/>
              <a:gd name="T76" fmla="*/ 2147483647 w 43"/>
              <a:gd name="T77" fmla="*/ 2147483647 h 44"/>
              <a:gd name="T78" fmla="*/ 2147483647 w 43"/>
              <a:gd name="T79" fmla="*/ 2147483647 h 44"/>
              <a:gd name="T80" fmla="*/ 2147483647 w 43"/>
              <a:gd name="T81" fmla="*/ 2147483647 h 44"/>
              <a:gd name="T82" fmla="*/ 2147483647 w 43"/>
              <a:gd name="T83" fmla="*/ 2147483647 h 44"/>
              <a:gd name="T84" fmla="*/ 2147483647 w 43"/>
              <a:gd name="T85" fmla="*/ 2147483647 h 4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4"/>
              <a:gd name="T131" fmla="*/ 43 w 43"/>
              <a:gd name="T132" fmla="*/ 44 h 4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4">
                <a:moveTo>
                  <a:pt x="20" y="41"/>
                </a:moveTo>
                <a:lnTo>
                  <a:pt x="25" y="44"/>
                </a:lnTo>
                <a:lnTo>
                  <a:pt x="28" y="41"/>
                </a:lnTo>
                <a:lnTo>
                  <a:pt x="30" y="41"/>
                </a:lnTo>
                <a:lnTo>
                  <a:pt x="33" y="39"/>
                </a:lnTo>
                <a:lnTo>
                  <a:pt x="36" y="36"/>
                </a:lnTo>
                <a:lnTo>
                  <a:pt x="38" y="33"/>
                </a:lnTo>
                <a:lnTo>
                  <a:pt x="41" y="31"/>
                </a:lnTo>
                <a:lnTo>
                  <a:pt x="41" y="28"/>
                </a:lnTo>
                <a:lnTo>
                  <a:pt x="43" y="26"/>
                </a:lnTo>
                <a:lnTo>
                  <a:pt x="43" y="21"/>
                </a:lnTo>
                <a:lnTo>
                  <a:pt x="43" y="18"/>
                </a:lnTo>
                <a:lnTo>
                  <a:pt x="41" y="16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3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3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6"/>
                </a:lnTo>
                <a:lnTo>
                  <a:pt x="0" y="18"/>
                </a:lnTo>
                <a:lnTo>
                  <a:pt x="0" y="21"/>
                </a:lnTo>
                <a:lnTo>
                  <a:pt x="0" y="26"/>
                </a:lnTo>
                <a:lnTo>
                  <a:pt x="3" y="28"/>
                </a:lnTo>
                <a:lnTo>
                  <a:pt x="3" y="31"/>
                </a:lnTo>
                <a:lnTo>
                  <a:pt x="5" y="33"/>
                </a:lnTo>
                <a:lnTo>
                  <a:pt x="8" y="36"/>
                </a:lnTo>
                <a:lnTo>
                  <a:pt x="10" y="39"/>
                </a:lnTo>
                <a:lnTo>
                  <a:pt x="13" y="41"/>
                </a:lnTo>
                <a:lnTo>
                  <a:pt x="15" y="41"/>
                </a:lnTo>
                <a:lnTo>
                  <a:pt x="18" y="44"/>
                </a:lnTo>
                <a:lnTo>
                  <a:pt x="20" y="44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1" name="Freeform 92"/>
          <p:cNvSpPr>
            <a:spLocks/>
          </p:cNvSpPr>
          <p:nvPr/>
        </p:nvSpPr>
        <p:spPr bwMode="auto">
          <a:xfrm>
            <a:off x="3133725" y="4552950"/>
            <a:ext cx="68263" cy="68263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0"/>
                </a:moveTo>
                <a:lnTo>
                  <a:pt x="25" y="43"/>
                </a:lnTo>
                <a:lnTo>
                  <a:pt x="28" y="40"/>
                </a:lnTo>
                <a:lnTo>
                  <a:pt x="30" y="40"/>
                </a:lnTo>
                <a:lnTo>
                  <a:pt x="33" y="38"/>
                </a:lnTo>
                <a:lnTo>
                  <a:pt x="36" y="35"/>
                </a:lnTo>
                <a:lnTo>
                  <a:pt x="38" y="33"/>
                </a:lnTo>
                <a:lnTo>
                  <a:pt x="41" y="30"/>
                </a:lnTo>
                <a:lnTo>
                  <a:pt x="41" y="27"/>
                </a:lnTo>
                <a:lnTo>
                  <a:pt x="43" y="25"/>
                </a:lnTo>
                <a:lnTo>
                  <a:pt x="43" y="20"/>
                </a:lnTo>
                <a:lnTo>
                  <a:pt x="43" y="17"/>
                </a:lnTo>
                <a:lnTo>
                  <a:pt x="41" y="15"/>
                </a:lnTo>
                <a:lnTo>
                  <a:pt x="41" y="12"/>
                </a:lnTo>
                <a:lnTo>
                  <a:pt x="38" y="7"/>
                </a:lnTo>
                <a:lnTo>
                  <a:pt x="36" y="7"/>
                </a:lnTo>
                <a:lnTo>
                  <a:pt x="33" y="5"/>
                </a:lnTo>
                <a:lnTo>
                  <a:pt x="30" y="2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2"/>
                </a:lnTo>
                <a:lnTo>
                  <a:pt x="10" y="5"/>
                </a:lnTo>
                <a:lnTo>
                  <a:pt x="8" y="7"/>
                </a:lnTo>
                <a:lnTo>
                  <a:pt x="5" y="7"/>
                </a:lnTo>
                <a:lnTo>
                  <a:pt x="3" y="12"/>
                </a:lnTo>
                <a:lnTo>
                  <a:pt x="3" y="15"/>
                </a:lnTo>
                <a:lnTo>
                  <a:pt x="0" y="17"/>
                </a:lnTo>
                <a:lnTo>
                  <a:pt x="0" y="20"/>
                </a:lnTo>
                <a:lnTo>
                  <a:pt x="0" y="25"/>
                </a:lnTo>
                <a:lnTo>
                  <a:pt x="3" y="27"/>
                </a:lnTo>
                <a:lnTo>
                  <a:pt x="3" y="30"/>
                </a:lnTo>
                <a:lnTo>
                  <a:pt x="5" y="33"/>
                </a:lnTo>
                <a:lnTo>
                  <a:pt x="8" y="35"/>
                </a:lnTo>
                <a:lnTo>
                  <a:pt x="10" y="38"/>
                </a:lnTo>
                <a:lnTo>
                  <a:pt x="13" y="40"/>
                </a:lnTo>
                <a:lnTo>
                  <a:pt x="15" y="40"/>
                </a:lnTo>
                <a:lnTo>
                  <a:pt x="18" y="43"/>
                </a:lnTo>
                <a:lnTo>
                  <a:pt x="20" y="43"/>
                </a:lnTo>
                <a:lnTo>
                  <a:pt x="20" y="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2" name="Freeform 93"/>
          <p:cNvSpPr>
            <a:spLocks/>
          </p:cNvSpPr>
          <p:nvPr/>
        </p:nvSpPr>
        <p:spPr bwMode="auto">
          <a:xfrm>
            <a:off x="3133725" y="4754563"/>
            <a:ext cx="68263" cy="68262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0"/>
                </a:moveTo>
                <a:lnTo>
                  <a:pt x="25" y="43"/>
                </a:lnTo>
                <a:lnTo>
                  <a:pt x="28" y="40"/>
                </a:lnTo>
                <a:lnTo>
                  <a:pt x="30" y="40"/>
                </a:lnTo>
                <a:lnTo>
                  <a:pt x="33" y="38"/>
                </a:lnTo>
                <a:lnTo>
                  <a:pt x="36" y="35"/>
                </a:lnTo>
                <a:lnTo>
                  <a:pt x="38" y="33"/>
                </a:lnTo>
                <a:lnTo>
                  <a:pt x="41" y="30"/>
                </a:lnTo>
                <a:lnTo>
                  <a:pt x="41" y="28"/>
                </a:lnTo>
                <a:lnTo>
                  <a:pt x="43" y="25"/>
                </a:lnTo>
                <a:lnTo>
                  <a:pt x="43" y="20"/>
                </a:lnTo>
                <a:lnTo>
                  <a:pt x="43" y="17"/>
                </a:lnTo>
                <a:lnTo>
                  <a:pt x="41" y="15"/>
                </a:lnTo>
                <a:lnTo>
                  <a:pt x="41" y="12"/>
                </a:lnTo>
                <a:lnTo>
                  <a:pt x="38" y="7"/>
                </a:lnTo>
                <a:lnTo>
                  <a:pt x="36" y="7"/>
                </a:lnTo>
                <a:lnTo>
                  <a:pt x="33" y="5"/>
                </a:lnTo>
                <a:lnTo>
                  <a:pt x="30" y="2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2"/>
                </a:lnTo>
                <a:lnTo>
                  <a:pt x="10" y="5"/>
                </a:lnTo>
                <a:lnTo>
                  <a:pt x="8" y="7"/>
                </a:lnTo>
                <a:lnTo>
                  <a:pt x="5" y="7"/>
                </a:lnTo>
                <a:lnTo>
                  <a:pt x="3" y="12"/>
                </a:lnTo>
                <a:lnTo>
                  <a:pt x="3" y="15"/>
                </a:lnTo>
                <a:lnTo>
                  <a:pt x="0" y="17"/>
                </a:lnTo>
                <a:lnTo>
                  <a:pt x="0" y="20"/>
                </a:lnTo>
                <a:lnTo>
                  <a:pt x="0" y="25"/>
                </a:lnTo>
                <a:lnTo>
                  <a:pt x="3" y="28"/>
                </a:lnTo>
                <a:lnTo>
                  <a:pt x="3" y="30"/>
                </a:lnTo>
                <a:lnTo>
                  <a:pt x="5" y="33"/>
                </a:lnTo>
                <a:lnTo>
                  <a:pt x="8" y="35"/>
                </a:lnTo>
                <a:lnTo>
                  <a:pt x="10" y="38"/>
                </a:lnTo>
                <a:lnTo>
                  <a:pt x="13" y="40"/>
                </a:lnTo>
                <a:lnTo>
                  <a:pt x="15" y="40"/>
                </a:lnTo>
                <a:lnTo>
                  <a:pt x="18" y="43"/>
                </a:lnTo>
                <a:lnTo>
                  <a:pt x="20" y="43"/>
                </a:lnTo>
                <a:lnTo>
                  <a:pt x="20" y="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3" name="Freeform 94"/>
          <p:cNvSpPr>
            <a:spLocks/>
          </p:cNvSpPr>
          <p:nvPr/>
        </p:nvSpPr>
        <p:spPr bwMode="auto">
          <a:xfrm>
            <a:off x="3133725" y="4956175"/>
            <a:ext cx="68263" cy="68263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0"/>
                </a:moveTo>
                <a:lnTo>
                  <a:pt x="25" y="43"/>
                </a:lnTo>
                <a:lnTo>
                  <a:pt x="28" y="40"/>
                </a:lnTo>
                <a:lnTo>
                  <a:pt x="30" y="40"/>
                </a:lnTo>
                <a:lnTo>
                  <a:pt x="33" y="38"/>
                </a:lnTo>
                <a:lnTo>
                  <a:pt x="36" y="35"/>
                </a:lnTo>
                <a:lnTo>
                  <a:pt x="38" y="33"/>
                </a:lnTo>
                <a:lnTo>
                  <a:pt x="41" y="30"/>
                </a:lnTo>
                <a:lnTo>
                  <a:pt x="41" y="28"/>
                </a:lnTo>
                <a:lnTo>
                  <a:pt x="43" y="25"/>
                </a:lnTo>
                <a:lnTo>
                  <a:pt x="43" y="20"/>
                </a:lnTo>
                <a:lnTo>
                  <a:pt x="43" y="18"/>
                </a:lnTo>
                <a:lnTo>
                  <a:pt x="41" y="15"/>
                </a:lnTo>
                <a:lnTo>
                  <a:pt x="41" y="12"/>
                </a:lnTo>
                <a:lnTo>
                  <a:pt x="38" y="7"/>
                </a:lnTo>
                <a:lnTo>
                  <a:pt x="36" y="7"/>
                </a:lnTo>
                <a:lnTo>
                  <a:pt x="33" y="5"/>
                </a:lnTo>
                <a:lnTo>
                  <a:pt x="30" y="2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2"/>
                </a:lnTo>
                <a:lnTo>
                  <a:pt x="10" y="5"/>
                </a:lnTo>
                <a:lnTo>
                  <a:pt x="8" y="7"/>
                </a:lnTo>
                <a:lnTo>
                  <a:pt x="5" y="7"/>
                </a:lnTo>
                <a:lnTo>
                  <a:pt x="3" y="12"/>
                </a:lnTo>
                <a:lnTo>
                  <a:pt x="3" y="15"/>
                </a:lnTo>
                <a:lnTo>
                  <a:pt x="0" y="18"/>
                </a:lnTo>
                <a:lnTo>
                  <a:pt x="0" y="20"/>
                </a:lnTo>
                <a:lnTo>
                  <a:pt x="0" y="25"/>
                </a:lnTo>
                <a:lnTo>
                  <a:pt x="3" y="28"/>
                </a:lnTo>
                <a:lnTo>
                  <a:pt x="3" y="30"/>
                </a:lnTo>
                <a:lnTo>
                  <a:pt x="5" y="33"/>
                </a:lnTo>
                <a:lnTo>
                  <a:pt x="8" y="35"/>
                </a:lnTo>
                <a:lnTo>
                  <a:pt x="10" y="38"/>
                </a:lnTo>
                <a:lnTo>
                  <a:pt x="13" y="40"/>
                </a:lnTo>
                <a:lnTo>
                  <a:pt x="15" y="40"/>
                </a:lnTo>
                <a:lnTo>
                  <a:pt x="18" y="43"/>
                </a:lnTo>
                <a:lnTo>
                  <a:pt x="20" y="43"/>
                </a:lnTo>
                <a:lnTo>
                  <a:pt x="20" y="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4" name="Freeform 95"/>
          <p:cNvSpPr>
            <a:spLocks/>
          </p:cNvSpPr>
          <p:nvPr/>
        </p:nvSpPr>
        <p:spPr bwMode="auto">
          <a:xfrm>
            <a:off x="3133725" y="5157788"/>
            <a:ext cx="68263" cy="68262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1"/>
                </a:moveTo>
                <a:lnTo>
                  <a:pt x="25" y="43"/>
                </a:lnTo>
                <a:lnTo>
                  <a:pt x="28" y="41"/>
                </a:lnTo>
                <a:lnTo>
                  <a:pt x="30" y="41"/>
                </a:lnTo>
                <a:lnTo>
                  <a:pt x="33" y="38"/>
                </a:lnTo>
                <a:lnTo>
                  <a:pt x="36" y="35"/>
                </a:lnTo>
                <a:lnTo>
                  <a:pt x="38" y="33"/>
                </a:lnTo>
                <a:lnTo>
                  <a:pt x="41" y="30"/>
                </a:lnTo>
                <a:lnTo>
                  <a:pt x="41" y="28"/>
                </a:lnTo>
                <a:lnTo>
                  <a:pt x="43" y="25"/>
                </a:lnTo>
                <a:lnTo>
                  <a:pt x="43" y="20"/>
                </a:lnTo>
                <a:lnTo>
                  <a:pt x="43" y="18"/>
                </a:lnTo>
                <a:lnTo>
                  <a:pt x="41" y="15"/>
                </a:lnTo>
                <a:lnTo>
                  <a:pt x="41" y="13"/>
                </a:lnTo>
                <a:lnTo>
                  <a:pt x="38" y="7"/>
                </a:lnTo>
                <a:lnTo>
                  <a:pt x="36" y="7"/>
                </a:lnTo>
                <a:lnTo>
                  <a:pt x="33" y="5"/>
                </a:lnTo>
                <a:lnTo>
                  <a:pt x="30" y="2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2"/>
                </a:lnTo>
                <a:lnTo>
                  <a:pt x="10" y="5"/>
                </a:lnTo>
                <a:lnTo>
                  <a:pt x="8" y="7"/>
                </a:lnTo>
                <a:lnTo>
                  <a:pt x="5" y="7"/>
                </a:lnTo>
                <a:lnTo>
                  <a:pt x="3" y="13"/>
                </a:lnTo>
                <a:lnTo>
                  <a:pt x="3" y="15"/>
                </a:lnTo>
                <a:lnTo>
                  <a:pt x="0" y="18"/>
                </a:lnTo>
                <a:lnTo>
                  <a:pt x="0" y="20"/>
                </a:lnTo>
                <a:lnTo>
                  <a:pt x="0" y="25"/>
                </a:lnTo>
                <a:lnTo>
                  <a:pt x="3" y="28"/>
                </a:lnTo>
                <a:lnTo>
                  <a:pt x="3" y="30"/>
                </a:lnTo>
                <a:lnTo>
                  <a:pt x="5" y="33"/>
                </a:lnTo>
                <a:lnTo>
                  <a:pt x="8" y="35"/>
                </a:lnTo>
                <a:lnTo>
                  <a:pt x="10" y="38"/>
                </a:lnTo>
                <a:lnTo>
                  <a:pt x="13" y="41"/>
                </a:lnTo>
                <a:lnTo>
                  <a:pt x="15" y="41"/>
                </a:lnTo>
                <a:lnTo>
                  <a:pt x="18" y="43"/>
                </a:lnTo>
                <a:lnTo>
                  <a:pt x="20" y="43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5" name="Freeform 96"/>
          <p:cNvSpPr>
            <a:spLocks/>
          </p:cNvSpPr>
          <p:nvPr/>
        </p:nvSpPr>
        <p:spPr bwMode="auto">
          <a:xfrm>
            <a:off x="3133725" y="5359400"/>
            <a:ext cx="68263" cy="68263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1"/>
                </a:moveTo>
                <a:lnTo>
                  <a:pt x="25" y="43"/>
                </a:lnTo>
                <a:lnTo>
                  <a:pt x="28" y="41"/>
                </a:lnTo>
                <a:lnTo>
                  <a:pt x="30" y="41"/>
                </a:lnTo>
                <a:lnTo>
                  <a:pt x="33" y="38"/>
                </a:lnTo>
                <a:lnTo>
                  <a:pt x="36" y="36"/>
                </a:lnTo>
                <a:lnTo>
                  <a:pt x="38" y="33"/>
                </a:lnTo>
                <a:lnTo>
                  <a:pt x="41" y="30"/>
                </a:lnTo>
                <a:lnTo>
                  <a:pt x="41" y="28"/>
                </a:lnTo>
                <a:lnTo>
                  <a:pt x="43" y="25"/>
                </a:lnTo>
                <a:lnTo>
                  <a:pt x="43" y="20"/>
                </a:lnTo>
                <a:lnTo>
                  <a:pt x="43" y="18"/>
                </a:lnTo>
                <a:lnTo>
                  <a:pt x="41" y="15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2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2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5"/>
                </a:lnTo>
                <a:lnTo>
                  <a:pt x="0" y="18"/>
                </a:lnTo>
                <a:lnTo>
                  <a:pt x="0" y="20"/>
                </a:lnTo>
                <a:lnTo>
                  <a:pt x="0" y="25"/>
                </a:lnTo>
                <a:lnTo>
                  <a:pt x="3" y="28"/>
                </a:lnTo>
                <a:lnTo>
                  <a:pt x="3" y="30"/>
                </a:lnTo>
                <a:lnTo>
                  <a:pt x="5" y="33"/>
                </a:lnTo>
                <a:lnTo>
                  <a:pt x="8" y="36"/>
                </a:lnTo>
                <a:lnTo>
                  <a:pt x="10" y="38"/>
                </a:lnTo>
                <a:lnTo>
                  <a:pt x="13" y="41"/>
                </a:lnTo>
                <a:lnTo>
                  <a:pt x="15" y="41"/>
                </a:lnTo>
                <a:lnTo>
                  <a:pt x="18" y="43"/>
                </a:lnTo>
                <a:lnTo>
                  <a:pt x="20" y="43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6" name="Freeform 97"/>
          <p:cNvSpPr>
            <a:spLocks/>
          </p:cNvSpPr>
          <p:nvPr/>
        </p:nvSpPr>
        <p:spPr bwMode="auto">
          <a:xfrm>
            <a:off x="3133725" y="5561013"/>
            <a:ext cx="68263" cy="68262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1"/>
                </a:moveTo>
                <a:lnTo>
                  <a:pt x="25" y="43"/>
                </a:lnTo>
                <a:lnTo>
                  <a:pt x="28" y="41"/>
                </a:lnTo>
                <a:lnTo>
                  <a:pt x="30" y="41"/>
                </a:lnTo>
                <a:lnTo>
                  <a:pt x="33" y="38"/>
                </a:lnTo>
                <a:lnTo>
                  <a:pt x="36" y="36"/>
                </a:lnTo>
                <a:lnTo>
                  <a:pt x="38" y="33"/>
                </a:lnTo>
                <a:lnTo>
                  <a:pt x="41" y="31"/>
                </a:lnTo>
                <a:lnTo>
                  <a:pt x="41" y="28"/>
                </a:lnTo>
                <a:lnTo>
                  <a:pt x="43" y="25"/>
                </a:lnTo>
                <a:lnTo>
                  <a:pt x="43" y="20"/>
                </a:lnTo>
                <a:lnTo>
                  <a:pt x="43" y="18"/>
                </a:lnTo>
                <a:lnTo>
                  <a:pt x="41" y="15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3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3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5"/>
                </a:lnTo>
                <a:lnTo>
                  <a:pt x="0" y="18"/>
                </a:lnTo>
                <a:lnTo>
                  <a:pt x="0" y="20"/>
                </a:lnTo>
                <a:lnTo>
                  <a:pt x="0" y="25"/>
                </a:lnTo>
                <a:lnTo>
                  <a:pt x="3" y="28"/>
                </a:lnTo>
                <a:lnTo>
                  <a:pt x="3" y="31"/>
                </a:lnTo>
                <a:lnTo>
                  <a:pt x="5" y="33"/>
                </a:lnTo>
                <a:lnTo>
                  <a:pt x="8" y="36"/>
                </a:lnTo>
                <a:lnTo>
                  <a:pt x="10" y="38"/>
                </a:lnTo>
                <a:lnTo>
                  <a:pt x="13" y="41"/>
                </a:lnTo>
                <a:lnTo>
                  <a:pt x="15" y="41"/>
                </a:lnTo>
                <a:lnTo>
                  <a:pt x="18" y="43"/>
                </a:lnTo>
                <a:lnTo>
                  <a:pt x="20" y="43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7" name="Freeform 98"/>
          <p:cNvSpPr>
            <a:spLocks/>
          </p:cNvSpPr>
          <p:nvPr/>
        </p:nvSpPr>
        <p:spPr bwMode="auto">
          <a:xfrm>
            <a:off x="3133725" y="5762625"/>
            <a:ext cx="68263" cy="68263"/>
          </a:xfrm>
          <a:custGeom>
            <a:avLst/>
            <a:gdLst>
              <a:gd name="T0" fmla="*/ 2147483647 w 43"/>
              <a:gd name="T1" fmla="*/ 2147483647 h 43"/>
              <a:gd name="T2" fmla="*/ 2147483647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2147483647 h 43"/>
              <a:gd name="T8" fmla="*/ 2147483647 w 43"/>
              <a:gd name="T9" fmla="*/ 2147483647 h 43"/>
              <a:gd name="T10" fmla="*/ 2147483647 w 43"/>
              <a:gd name="T11" fmla="*/ 2147483647 h 43"/>
              <a:gd name="T12" fmla="*/ 2147483647 w 43"/>
              <a:gd name="T13" fmla="*/ 2147483647 h 43"/>
              <a:gd name="T14" fmla="*/ 2147483647 w 43"/>
              <a:gd name="T15" fmla="*/ 2147483647 h 43"/>
              <a:gd name="T16" fmla="*/ 2147483647 w 43"/>
              <a:gd name="T17" fmla="*/ 2147483647 h 43"/>
              <a:gd name="T18" fmla="*/ 2147483647 w 43"/>
              <a:gd name="T19" fmla="*/ 2147483647 h 43"/>
              <a:gd name="T20" fmla="*/ 2147483647 w 43"/>
              <a:gd name="T21" fmla="*/ 2147483647 h 43"/>
              <a:gd name="T22" fmla="*/ 2147483647 w 43"/>
              <a:gd name="T23" fmla="*/ 2147483647 h 43"/>
              <a:gd name="T24" fmla="*/ 2147483647 w 43"/>
              <a:gd name="T25" fmla="*/ 2147483647 h 43"/>
              <a:gd name="T26" fmla="*/ 2147483647 w 43"/>
              <a:gd name="T27" fmla="*/ 2147483647 h 43"/>
              <a:gd name="T28" fmla="*/ 2147483647 w 43"/>
              <a:gd name="T29" fmla="*/ 2147483647 h 43"/>
              <a:gd name="T30" fmla="*/ 2147483647 w 43"/>
              <a:gd name="T31" fmla="*/ 2147483647 h 43"/>
              <a:gd name="T32" fmla="*/ 2147483647 w 43"/>
              <a:gd name="T33" fmla="*/ 2147483647 h 43"/>
              <a:gd name="T34" fmla="*/ 2147483647 w 43"/>
              <a:gd name="T35" fmla="*/ 2147483647 h 43"/>
              <a:gd name="T36" fmla="*/ 2147483647 w 43"/>
              <a:gd name="T37" fmla="*/ 0 h 43"/>
              <a:gd name="T38" fmla="*/ 2147483647 w 43"/>
              <a:gd name="T39" fmla="*/ 0 h 43"/>
              <a:gd name="T40" fmla="*/ 2147483647 w 43"/>
              <a:gd name="T41" fmla="*/ 0 h 43"/>
              <a:gd name="T42" fmla="*/ 2147483647 w 43"/>
              <a:gd name="T43" fmla="*/ 0 h 43"/>
              <a:gd name="T44" fmla="*/ 2147483647 w 43"/>
              <a:gd name="T45" fmla="*/ 0 h 43"/>
              <a:gd name="T46" fmla="*/ 2147483647 w 43"/>
              <a:gd name="T47" fmla="*/ 2147483647 h 43"/>
              <a:gd name="T48" fmla="*/ 2147483647 w 43"/>
              <a:gd name="T49" fmla="*/ 2147483647 h 43"/>
              <a:gd name="T50" fmla="*/ 2147483647 w 43"/>
              <a:gd name="T51" fmla="*/ 2147483647 h 43"/>
              <a:gd name="T52" fmla="*/ 2147483647 w 43"/>
              <a:gd name="T53" fmla="*/ 2147483647 h 43"/>
              <a:gd name="T54" fmla="*/ 2147483647 w 43"/>
              <a:gd name="T55" fmla="*/ 2147483647 h 43"/>
              <a:gd name="T56" fmla="*/ 2147483647 w 43"/>
              <a:gd name="T57" fmla="*/ 2147483647 h 43"/>
              <a:gd name="T58" fmla="*/ 0 w 43"/>
              <a:gd name="T59" fmla="*/ 2147483647 h 43"/>
              <a:gd name="T60" fmla="*/ 0 w 43"/>
              <a:gd name="T61" fmla="*/ 2147483647 h 43"/>
              <a:gd name="T62" fmla="*/ 0 w 43"/>
              <a:gd name="T63" fmla="*/ 2147483647 h 43"/>
              <a:gd name="T64" fmla="*/ 2147483647 w 43"/>
              <a:gd name="T65" fmla="*/ 2147483647 h 43"/>
              <a:gd name="T66" fmla="*/ 2147483647 w 43"/>
              <a:gd name="T67" fmla="*/ 2147483647 h 43"/>
              <a:gd name="T68" fmla="*/ 2147483647 w 43"/>
              <a:gd name="T69" fmla="*/ 2147483647 h 43"/>
              <a:gd name="T70" fmla="*/ 2147483647 w 43"/>
              <a:gd name="T71" fmla="*/ 2147483647 h 43"/>
              <a:gd name="T72" fmla="*/ 2147483647 w 43"/>
              <a:gd name="T73" fmla="*/ 2147483647 h 43"/>
              <a:gd name="T74" fmla="*/ 2147483647 w 43"/>
              <a:gd name="T75" fmla="*/ 2147483647 h 43"/>
              <a:gd name="T76" fmla="*/ 2147483647 w 43"/>
              <a:gd name="T77" fmla="*/ 2147483647 h 43"/>
              <a:gd name="T78" fmla="*/ 2147483647 w 43"/>
              <a:gd name="T79" fmla="*/ 2147483647 h 43"/>
              <a:gd name="T80" fmla="*/ 2147483647 w 43"/>
              <a:gd name="T81" fmla="*/ 2147483647 h 43"/>
              <a:gd name="T82" fmla="*/ 2147483647 w 43"/>
              <a:gd name="T83" fmla="*/ 2147483647 h 43"/>
              <a:gd name="T84" fmla="*/ 2147483647 w 43"/>
              <a:gd name="T85" fmla="*/ 2147483647 h 4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3"/>
              <a:gd name="T131" fmla="*/ 43 w 43"/>
              <a:gd name="T132" fmla="*/ 43 h 4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3">
                <a:moveTo>
                  <a:pt x="20" y="41"/>
                </a:moveTo>
                <a:lnTo>
                  <a:pt x="25" y="43"/>
                </a:lnTo>
                <a:lnTo>
                  <a:pt x="28" y="41"/>
                </a:lnTo>
                <a:lnTo>
                  <a:pt x="30" y="41"/>
                </a:lnTo>
                <a:lnTo>
                  <a:pt x="33" y="38"/>
                </a:lnTo>
                <a:lnTo>
                  <a:pt x="36" y="36"/>
                </a:lnTo>
                <a:lnTo>
                  <a:pt x="38" y="33"/>
                </a:lnTo>
                <a:lnTo>
                  <a:pt x="41" y="31"/>
                </a:lnTo>
                <a:lnTo>
                  <a:pt x="41" y="28"/>
                </a:lnTo>
                <a:lnTo>
                  <a:pt x="43" y="26"/>
                </a:lnTo>
                <a:lnTo>
                  <a:pt x="43" y="21"/>
                </a:lnTo>
                <a:lnTo>
                  <a:pt x="43" y="18"/>
                </a:lnTo>
                <a:lnTo>
                  <a:pt x="41" y="15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3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3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5"/>
                </a:lnTo>
                <a:lnTo>
                  <a:pt x="0" y="18"/>
                </a:lnTo>
                <a:lnTo>
                  <a:pt x="0" y="21"/>
                </a:lnTo>
                <a:lnTo>
                  <a:pt x="0" y="26"/>
                </a:lnTo>
                <a:lnTo>
                  <a:pt x="3" y="28"/>
                </a:lnTo>
                <a:lnTo>
                  <a:pt x="3" y="31"/>
                </a:lnTo>
                <a:lnTo>
                  <a:pt x="5" y="33"/>
                </a:lnTo>
                <a:lnTo>
                  <a:pt x="8" y="36"/>
                </a:lnTo>
                <a:lnTo>
                  <a:pt x="10" y="38"/>
                </a:lnTo>
                <a:lnTo>
                  <a:pt x="13" y="41"/>
                </a:lnTo>
                <a:lnTo>
                  <a:pt x="15" y="41"/>
                </a:lnTo>
                <a:lnTo>
                  <a:pt x="18" y="43"/>
                </a:lnTo>
                <a:lnTo>
                  <a:pt x="20" y="43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8" name="Freeform 99"/>
          <p:cNvSpPr>
            <a:spLocks/>
          </p:cNvSpPr>
          <p:nvPr/>
        </p:nvSpPr>
        <p:spPr bwMode="auto">
          <a:xfrm>
            <a:off x="3133725" y="5964238"/>
            <a:ext cx="68263" cy="69850"/>
          </a:xfrm>
          <a:custGeom>
            <a:avLst/>
            <a:gdLst>
              <a:gd name="T0" fmla="*/ 2147483647 w 43"/>
              <a:gd name="T1" fmla="*/ 2147483647 h 44"/>
              <a:gd name="T2" fmla="*/ 2147483647 w 43"/>
              <a:gd name="T3" fmla="*/ 2147483647 h 44"/>
              <a:gd name="T4" fmla="*/ 2147483647 w 43"/>
              <a:gd name="T5" fmla="*/ 2147483647 h 44"/>
              <a:gd name="T6" fmla="*/ 2147483647 w 43"/>
              <a:gd name="T7" fmla="*/ 2147483647 h 44"/>
              <a:gd name="T8" fmla="*/ 2147483647 w 43"/>
              <a:gd name="T9" fmla="*/ 2147483647 h 44"/>
              <a:gd name="T10" fmla="*/ 2147483647 w 43"/>
              <a:gd name="T11" fmla="*/ 2147483647 h 44"/>
              <a:gd name="T12" fmla="*/ 2147483647 w 43"/>
              <a:gd name="T13" fmla="*/ 2147483647 h 44"/>
              <a:gd name="T14" fmla="*/ 2147483647 w 43"/>
              <a:gd name="T15" fmla="*/ 2147483647 h 44"/>
              <a:gd name="T16" fmla="*/ 2147483647 w 43"/>
              <a:gd name="T17" fmla="*/ 2147483647 h 44"/>
              <a:gd name="T18" fmla="*/ 2147483647 w 43"/>
              <a:gd name="T19" fmla="*/ 2147483647 h 44"/>
              <a:gd name="T20" fmla="*/ 2147483647 w 43"/>
              <a:gd name="T21" fmla="*/ 2147483647 h 44"/>
              <a:gd name="T22" fmla="*/ 2147483647 w 43"/>
              <a:gd name="T23" fmla="*/ 2147483647 h 44"/>
              <a:gd name="T24" fmla="*/ 2147483647 w 43"/>
              <a:gd name="T25" fmla="*/ 2147483647 h 44"/>
              <a:gd name="T26" fmla="*/ 2147483647 w 43"/>
              <a:gd name="T27" fmla="*/ 2147483647 h 44"/>
              <a:gd name="T28" fmla="*/ 2147483647 w 43"/>
              <a:gd name="T29" fmla="*/ 2147483647 h 44"/>
              <a:gd name="T30" fmla="*/ 2147483647 w 43"/>
              <a:gd name="T31" fmla="*/ 2147483647 h 44"/>
              <a:gd name="T32" fmla="*/ 2147483647 w 43"/>
              <a:gd name="T33" fmla="*/ 2147483647 h 44"/>
              <a:gd name="T34" fmla="*/ 2147483647 w 43"/>
              <a:gd name="T35" fmla="*/ 2147483647 h 44"/>
              <a:gd name="T36" fmla="*/ 2147483647 w 43"/>
              <a:gd name="T37" fmla="*/ 0 h 44"/>
              <a:gd name="T38" fmla="*/ 2147483647 w 43"/>
              <a:gd name="T39" fmla="*/ 0 h 44"/>
              <a:gd name="T40" fmla="*/ 2147483647 w 43"/>
              <a:gd name="T41" fmla="*/ 0 h 44"/>
              <a:gd name="T42" fmla="*/ 2147483647 w 43"/>
              <a:gd name="T43" fmla="*/ 0 h 44"/>
              <a:gd name="T44" fmla="*/ 2147483647 w 43"/>
              <a:gd name="T45" fmla="*/ 0 h 44"/>
              <a:gd name="T46" fmla="*/ 2147483647 w 43"/>
              <a:gd name="T47" fmla="*/ 2147483647 h 44"/>
              <a:gd name="T48" fmla="*/ 2147483647 w 43"/>
              <a:gd name="T49" fmla="*/ 2147483647 h 44"/>
              <a:gd name="T50" fmla="*/ 2147483647 w 43"/>
              <a:gd name="T51" fmla="*/ 2147483647 h 44"/>
              <a:gd name="T52" fmla="*/ 2147483647 w 43"/>
              <a:gd name="T53" fmla="*/ 2147483647 h 44"/>
              <a:gd name="T54" fmla="*/ 2147483647 w 43"/>
              <a:gd name="T55" fmla="*/ 2147483647 h 44"/>
              <a:gd name="T56" fmla="*/ 2147483647 w 43"/>
              <a:gd name="T57" fmla="*/ 2147483647 h 44"/>
              <a:gd name="T58" fmla="*/ 0 w 43"/>
              <a:gd name="T59" fmla="*/ 2147483647 h 44"/>
              <a:gd name="T60" fmla="*/ 0 w 43"/>
              <a:gd name="T61" fmla="*/ 2147483647 h 44"/>
              <a:gd name="T62" fmla="*/ 0 w 43"/>
              <a:gd name="T63" fmla="*/ 2147483647 h 44"/>
              <a:gd name="T64" fmla="*/ 2147483647 w 43"/>
              <a:gd name="T65" fmla="*/ 2147483647 h 44"/>
              <a:gd name="T66" fmla="*/ 2147483647 w 43"/>
              <a:gd name="T67" fmla="*/ 2147483647 h 44"/>
              <a:gd name="T68" fmla="*/ 2147483647 w 43"/>
              <a:gd name="T69" fmla="*/ 2147483647 h 44"/>
              <a:gd name="T70" fmla="*/ 2147483647 w 43"/>
              <a:gd name="T71" fmla="*/ 2147483647 h 44"/>
              <a:gd name="T72" fmla="*/ 2147483647 w 43"/>
              <a:gd name="T73" fmla="*/ 2147483647 h 44"/>
              <a:gd name="T74" fmla="*/ 2147483647 w 43"/>
              <a:gd name="T75" fmla="*/ 2147483647 h 44"/>
              <a:gd name="T76" fmla="*/ 2147483647 w 43"/>
              <a:gd name="T77" fmla="*/ 2147483647 h 44"/>
              <a:gd name="T78" fmla="*/ 2147483647 w 43"/>
              <a:gd name="T79" fmla="*/ 2147483647 h 44"/>
              <a:gd name="T80" fmla="*/ 2147483647 w 43"/>
              <a:gd name="T81" fmla="*/ 2147483647 h 44"/>
              <a:gd name="T82" fmla="*/ 2147483647 w 43"/>
              <a:gd name="T83" fmla="*/ 2147483647 h 44"/>
              <a:gd name="T84" fmla="*/ 2147483647 w 43"/>
              <a:gd name="T85" fmla="*/ 2147483647 h 4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4"/>
              <a:gd name="T131" fmla="*/ 43 w 43"/>
              <a:gd name="T132" fmla="*/ 44 h 4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4">
                <a:moveTo>
                  <a:pt x="20" y="41"/>
                </a:moveTo>
                <a:lnTo>
                  <a:pt x="25" y="44"/>
                </a:lnTo>
                <a:lnTo>
                  <a:pt x="28" y="41"/>
                </a:lnTo>
                <a:lnTo>
                  <a:pt x="30" y="41"/>
                </a:lnTo>
                <a:lnTo>
                  <a:pt x="33" y="38"/>
                </a:lnTo>
                <a:lnTo>
                  <a:pt x="36" y="36"/>
                </a:lnTo>
                <a:lnTo>
                  <a:pt x="38" y="33"/>
                </a:lnTo>
                <a:lnTo>
                  <a:pt x="41" y="31"/>
                </a:lnTo>
                <a:lnTo>
                  <a:pt x="41" y="28"/>
                </a:lnTo>
                <a:lnTo>
                  <a:pt x="43" y="26"/>
                </a:lnTo>
                <a:lnTo>
                  <a:pt x="43" y="21"/>
                </a:lnTo>
                <a:lnTo>
                  <a:pt x="43" y="18"/>
                </a:lnTo>
                <a:lnTo>
                  <a:pt x="41" y="16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3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3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6"/>
                </a:lnTo>
                <a:lnTo>
                  <a:pt x="0" y="18"/>
                </a:lnTo>
                <a:lnTo>
                  <a:pt x="0" y="21"/>
                </a:lnTo>
                <a:lnTo>
                  <a:pt x="0" y="26"/>
                </a:lnTo>
                <a:lnTo>
                  <a:pt x="3" y="28"/>
                </a:lnTo>
                <a:lnTo>
                  <a:pt x="3" y="31"/>
                </a:lnTo>
                <a:lnTo>
                  <a:pt x="5" y="33"/>
                </a:lnTo>
                <a:lnTo>
                  <a:pt x="8" y="36"/>
                </a:lnTo>
                <a:lnTo>
                  <a:pt x="10" y="38"/>
                </a:lnTo>
                <a:lnTo>
                  <a:pt x="13" y="41"/>
                </a:lnTo>
                <a:lnTo>
                  <a:pt x="15" y="41"/>
                </a:lnTo>
                <a:lnTo>
                  <a:pt x="18" y="44"/>
                </a:lnTo>
                <a:lnTo>
                  <a:pt x="20" y="44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19" name="Freeform 100"/>
          <p:cNvSpPr>
            <a:spLocks/>
          </p:cNvSpPr>
          <p:nvPr/>
        </p:nvSpPr>
        <p:spPr bwMode="auto">
          <a:xfrm>
            <a:off x="3133725" y="6165850"/>
            <a:ext cx="68263" cy="69850"/>
          </a:xfrm>
          <a:custGeom>
            <a:avLst/>
            <a:gdLst>
              <a:gd name="T0" fmla="*/ 2147483647 w 43"/>
              <a:gd name="T1" fmla="*/ 2147483647 h 44"/>
              <a:gd name="T2" fmla="*/ 2147483647 w 43"/>
              <a:gd name="T3" fmla="*/ 2147483647 h 44"/>
              <a:gd name="T4" fmla="*/ 2147483647 w 43"/>
              <a:gd name="T5" fmla="*/ 2147483647 h 44"/>
              <a:gd name="T6" fmla="*/ 2147483647 w 43"/>
              <a:gd name="T7" fmla="*/ 2147483647 h 44"/>
              <a:gd name="T8" fmla="*/ 2147483647 w 43"/>
              <a:gd name="T9" fmla="*/ 2147483647 h 44"/>
              <a:gd name="T10" fmla="*/ 2147483647 w 43"/>
              <a:gd name="T11" fmla="*/ 2147483647 h 44"/>
              <a:gd name="T12" fmla="*/ 2147483647 w 43"/>
              <a:gd name="T13" fmla="*/ 2147483647 h 44"/>
              <a:gd name="T14" fmla="*/ 2147483647 w 43"/>
              <a:gd name="T15" fmla="*/ 2147483647 h 44"/>
              <a:gd name="T16" fmla="*/ 2147483647 w 43"/>
              <a:gd name="T17" fmla="*/ 2147483647 h 44"/>
              <a:gd name="T18" fmla="*/ 2147483647 w 43"/>
              <a:gd name="T19" fmla="*/ 2147483647 h 44"/>
              <a:gd name="T20" fmla="*/ 2147483647 w 43"/>
              <a:gd name="T21" fmla="*/ 2147483647 h 44"/>
              <a:gd name="T22" fmla="*/ 2147483647 w 43"/>
              <a:gd name="T23" fmla="*/ 2147483647 h 44"/>
              <a:gd name="T24" fmla="*/ 2147483647 w 43"/>
              <a:gd name="T25" fmla="*/ 2147483647 h 44"/>
              <a:gd name="T26" fmla="*/ 2147483647 w 43"/>
              <a:gd name="T27" fmla="*/ 2147483647 h 44"/>
              <a:gd name="T28" fmla="*/ 2147483647 w 43"/>
              <a:gd name="T29" fmla="*/ 2147483647 h 44"/>
              <a:gd name="T30" fmla="*/ 2147483647 w 43"/>
              <a:gd name="T31" fmla="*/ 2147483647 h 44"/>
              <a:gd name="T32" fmla="*/ 2147483647 w 43"/>
              <a:gd name="T33" fmla="*/ 2147483647 h 44"/>
              <a:gd name="T34" fmla="*/ 2147483647 w 43"/>
              <a:gd name="T35" fmla="*/ 2147483647 h 44"/>
              <a:gd name="T36" fmla="*/ 2147483647 w 43"/>
              <a:gd name="T37" fmla="*/ 0 h 44"/>
              <a:gd name="T38" fmla="*/ 2147483647 w 43"/>
              <a:gd name="T39" fmla="*/ 0 h 44"/>
              <a:gd name="T40" fmla="*/ 2147483647 w 43"/>
              <a:gd name="T41" fmla="*/ 0 h 44"/>
              <a:gd name="T42" fmla="*/ 2147483647 w 43"/>
              <a:gd name="T43" fmla="*/ 0 h 44"/>
              <a:gd name="T44" fmla="*/ 2147483647 w 43"/>
              <a:gd name="T45" fmla="*/ 0 h 44"/>
              <a:gd name="T46" fmla="*/ 2147483647 w 43"/>
              <a:gd name="T47" fmla="*/ 2147483647 h 44"/>
              <a:gd name="T48" fmla="*/ 2147483647 w 43"/>
              <a:gd name="T49" fmla="*/ 2147483647 h 44"/>
              <a:gd name="T50" fmla="*/ 2147483647 w 43"/>
              <a:gd name="T51" fmla="*/ 2147483647 h 44"/>
              <a:gd name="T52" fmla="*/ 2147483647 w 43"/>
              <a:gd name="T53" fmla="*/ 2147483647 h 44"/>
              <a:gd name="T54" fmla="*/ 2147483647 w 43"/>
              <a:gd name="T55" fmla="*/ 2147483647 h 44"/>
              <a:gd name="T56" fmla="*/ 2147483647 w 43"/>
              <a:gd name="T57" fmla="*/ 2147483647 h 44"/>
              <a:gd name="T58" fmla="*/ 0 w 43"/>
              <a:gd name="T59" fmla="*/ 2147483647 h 44"/>
              <a:gd name="T60" fmla="*/ 0 w 43"/>
              <a:gd name="T61" fmla="*/ 2147483647 h 44"/>
              <a:gd name="T62" fmla="*/ 0 w 43"/>
              <a:gd name="T63" fmla="*/ 2147483647 h 44"/>
              <a:gd name="T64" fmla="*/ 2147483647 w 43"/>
              <a:gd name="T65" fmla="*/ 2147483647 h 44"/>
              <a:gd name="T66" fmla="*/ 2147483647 w 43"/>
              <a:gd name="T67" fmla="*/ 2147483647 h 44"/>
              <a:gd name="T68" fmla="*/ 2147483647 w 43"/>
              <a:gd name="T69" fmla="*/ 2147483647 h 44"/>
              <a:gd name="T70" fmla="*/ 2147483647 w 43"/>
              <a:gd name="T71" fmla="*/ 2147483647 h 44"/>
              <a:gd name="T72" fmla="*/ 2147483647 w 43"/>
              <a:gd name="T73" fmla="*/ 2147483647 h 44"/>
              <a:gd name="T74" fmla="*/ 2147483647 w 43"/>
              <a:gd name="T75" fmla="*/ 2147483647 h 44"/>
              <a:gd name="T76" fmla="*/ 2147483647 w 43"/>
              <a:gd name="T77" fmla="*/ 2147483647 h 44"/>
              <a:gd name="T78" fmla="*/ 2147483647 w 43"/>
              <a:gd name="T79" fmla="*/ 2147483647 h 44"/>
              <a:gd name="T80" fmla="*/ 2147483647 w 43"/>
              <a:gd name="T81" fmla="*/ 2147483647 h 44"/>
              <a:gd name="T82" fmla="*/ 2147483647 w 43"/>
              <a:gd name="T83" fmla="*/ 2147483647 h 44"/>
              <a:gd name="T84" fmla="*/ 2147483647 w 43"/>
              <a:gd name="T85" fmla="*/ 2147483647 h 4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4"/>
              <a:gd name="T131" fmla="*/ 43 w 43"/>
              <a:gd name="T132" fmla="*/ 44 h 4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4">
                <a:moveTo>
                  <a:pt x="20" y="41"/>
                </a:moveTo>
                <a:lnTo>
                  <a:pt x="25" y="44"/>
                </a:lnTo>
                <a:lnTo>
                  <a:pt x="28" y="41"/>
                </a:lnTo>
                <a:lnTo>
                  <a:pt x="30" y="41"/>
                </a:lnTo>
                <a:lnTo>
                  <a:pt x="33" y="39"/>
                </a:lnTo>
                <a:lnTo>
                  <a:pt x="36" y="36"/>
                </a:lnTo>
                <a:lnTo>
                  <a:pt x="38" y="33"/>
                </a:lnTo>
                <a:lnTo>
                  <a:pt x="41" y="31"/>
                </a:lnTo>
                <a:lnTo>
                  <a:pt x="41" y="28"/>
                </a:lnTo>
                <a:lnTo>
                  <a:pt x="43" y="26"/>
                </a:lnTo>
                <a:lnTo>
                  <a:pt x="43" y="21"/>
                </a:lnTo>
                <a:lnTo>
                  <a:pt x="43" y="18"/>
                </a:lnTo>
                <a:lnTo>
                  <a:pt x="41" y="16"/>
                </a:lnTo>
                <a:lnTo>
                  <a:pt x="41" y="13"/>
                </a:lnTo>
                <a:lnTo>
                  <a:pt x="38" y="8"/>
                </a:lnTo>
                <a:lnTo>
                  <a:pt x="36" y="8"/>
                </a:lnTo>
                <a:lnTo>
                  <a:pt x="33" y="5"/>
                </a:lnTo>
                <a:lnTo>
                  <a:pt x="30" y="3"/>
                </a:lnTo>
                <a:lnTo>
                  <a:pt x="28" y="0"/>
                </a:lnTo>
                <a:lnTo>
                  <a:pt x="25" y="0"/>
                </a:lnTo>
                <a:lnTo>
                  <a:pt x="20" y="0"/>
                </a:lnTo>
                <a:lnTo>
                  <a:pt x="18" y="0"/>
                </a:lnTo>
                <a:lnTo>
                  <a:pt x="15" y="0"/>
                </a:lnTo>
                <a:lnTo>
                  <a:pt x="13" y="3"/>
                </a:lnTo>
                <a:lnTo>
                  <a:pt x="10" y="5"/>
                </a:lnTo>
                <a:lnTo>
                  <a:pt x="8" y="8"/>
                </a:lnTo>
                <a:lnTo>
                  <a:pt x="5" y="8"/>
                </a:lnTo>
                <a:lnTo>
                  <a:pt x="3" y="13"/>
                </a:lnTo>
                <a:lnTo>
                  <a:pt x="3" y="16"/>
                </a:lnTo>
                <a:lnTo>
                  <a:pt x="0" y="18"/>
                </a:lnTo>
                <a:lnTo>
                  <a:pt x="0" y="21"/>
                </a:lnTo>
                <a:lnTo>
                  <a:pt x="0" y="26"/>
                </a:lnTo>
                <a:lnTo>
                  <a:pt x="3" y="28"/>
                </a:lnTo>
                <a:lnTo>
                  <a:pt x="3" y="31"/>
                </a:lnTo>
                <a:lnTo>
                  <a:pt x="5" y="33"/>
                </a:lnTo>
                <a:lnTo>
                  <a:pt x="8" y="36"/>
                </a:lnTo>
                <a:lnTo>
                  <a:pt x="10" y="39"/>
                </a:lnTo>
                <a:lnTo>
                  <a:pt x="13" y="41"/>
                </a:lnTo>
                <a:lnTo>
                  <a:pt x="15" y="41"/>
                </a:lnTo>
                <a:lnTo>
                  <a:pt x="18" y="44"/>
                </a:lnTo>
                <a:lnTo>
                  <a:pt x="20" y="44"/>
                </a:lnTo>
                <a:lnTo>
                  <a:pt x="20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20" name="Freeform 101"/>
          <p:cNvSpPr>
            <a:spLocks/>
          </p:cNvSpPr>
          <p:nvPr/>
        </p:nvSpPr>
        <p:spPr bwMode="auto">
          <a:xfrm>
            <a:off x="2443163" y="175577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4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21" name="Freeform 102"/>
          <p:cNvSpPr>
            <a:spLocks/>
          </p:cNvSpPr>
          <p:nvPr/>
        </p:nvSpPr>
        <p:spPr bwMode="auto">
          <a:xfrm>
            <a:off x="2443163" y="2159000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5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22" name="Freeform 103"/>
          <p:cNvSpPr>
            <a:spLocks/>
          </p:cNvSpPr>
          <p:nvPr/>
        </p:nvSpPr>
        <p:spPr bwMode="auto">
          <a:xfrm>
            <a:off x="2443163" y="2562225"/>
            <a:ext cx="169862" cy="201613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5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23" name="Rectangle 104"/>
          <p:cNvSpPr>
            <a:spLocks noChangeArrowheads="1"/>
          </p:cNvSpPr>
          <p:nvPr/>
        </p:nvSpPr>
        <p:spPr bwMode="auto">
          <a:xfrm>
            <a:off x="5067300" y="1608138"/>
            <a:ext cx="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b="1"/>
          </a:p>
        </p:txBody>
      </p:sp>
      <p:sp>
        <p:nvSpPr>
          <p:cNvPr id="30824" name="Freeform 105"/>
          <p:cNvSpPr>
            <a:spLocks/>
          </p:cNvSpPr>
          <p:nvPr/>
        </p:nvSpPr>
        <p:spPr bwMode="auto">
          <a:xfrm>
            <a:off x="3719513" y="1554163"/>
            <a:ext cx="1120775" cy="201612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4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25" name="Freeform 106"/>
          <p:cNvSpPr>
            <a:spLocks/>
          </p:cNvSpPr>
          <p:nvPr/>
        </p:nvSpPr>
        <p:spPr bwMode="auto">
          <a:xfrm>
            <a:off x="2443163" y="1554163"/>
            <a:ext cx="169862" cy="201612"/>
          </a:xfrm>
          <a:custGeom>
            <a:avLst/>
            <a:gdLst>
              <a:gd name="T0" fmla="*/ 2147483647 w 107"/>
              <a:gd name="T1" fmla="*/ 2147483647 h 127"/>
              <a:gd name="T2" fmla="*/ 2147483647 w 107"/>
              <a:gd name="T3" fmla="*/ 0 h 127"/>
              <a:gd name="T4" fmla="*/ 0 w 107"/>
              <a:gd name="T5" fmla="*/ 0 h 127"/>
              <a:gd name="T6" fmla="*/ 0 w 107"/>
              <a:gd name="T7" fmla="*/ 2147483647 h 127"/>
              <a:gd name="T8" fmla="*/ 2147483647 w 107"/>
              <a:gd name="T9" fmla="*/ 2147483647 h 127"/>
              <a:gd name="T10" fmla="*/ 2147483647 w 10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"/>
              <a:gd name="T19" fmla="*/ 0 h 127"/>
              <a:gd name="T20" fmla="*/ 107 w 10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" h="127">
                <a:moveTo>
                  <a:pt x="107" y="124"/>
                </a:moveTo>
                <a:lnTo>
                  <a:pt x="107" y="0"/>
                </a:lnTo>
                <a:lnTo>
                  <a:pt x="0" y="0"/>
                </a:lnTo>
                <a:lnTo>
                  <a:pt x="0" y="127"/>
                </a:lnTo>
                <a:lnTo>
                  <a:pt x="10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26" name="Rectangle 107"/>
          <p:cNvSpPr>
            <a:spLocks noChangeArrowheads="1"/>
          </p:cNvSpPr>
          <p:nvPr/>
        </p:nvSpPr>
        <p:spPr bwMode="auto">
          <a:xfrm>
            <a:off x="2487613" y="1774825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27" name="Rectangle 108"/>
          <p:cNvSpPr>
            <a:spLocks noChangeArrowheads="1"/>
          </p:cNvSpPr>
          <p:nvPr/>
        </p:nvSpPr>
        <p:spPr bwMode="auto">
          <a:xfrm>
            <a:off x="2487613" y="1976438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28" name="Rectangle 109"/>
          <p:cNvSpPr>
            <a:spLocks noChangeArrowheads="1"/>
          </p:cNvSpPr>
          <p:nvPr/>
        </p:nvSpPr>
        <p:spPr bwMode="auto">
          <a:xfrm>
            <a:off x="2487613" y="2178050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29" name="Rectangle 110"/>
          <p:cNvSpPr>
            <a:spLocks noChangeArrowheads="1"/>
          </p:cNvSpPr>
          <p:nvPr/>
        </p:nvSpPr>
        <p:spPr bwMode="auto">
          <a:xfrm>
            <a:off x="2487613" y="2381250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30" name="Rectangle 111"/>
          <p:cNvSpPr>
            <a:spLocks noChangeArrowheads="1"/>
          </p:cNvSpPr>
          <p:nvPr/>
        </p:nvSpPr>
        <p:spPr bwMode="auto">
          <a:xfrm>
            <a:off x="2487613" y="2582863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0</a:t>
            </a:r>
            <a:endParaRPr lang="en-US" altLang="en-US" b="1"/>
          </a:p>
        </p:txBody>
      </p:sp>
      <p:sp>
        <p:nvSpPr>
          <p:cNvPr id="30831" name="Rectangle 112"/>
          <p:cNvSpPr>
            <a:spLocks noChangeArrowheads="1"/>
          </p:cNvSpPr>
          <p:nvPr/>
        </p:nvSpPr>
        <p:spPr bwMode="auto">
          <a:xfrm>
            <a:off x="2487613" y="2784475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sz="1100">
                <a:solidFill>
                  <a:srgbClr val="000000"/>
                </a:solidFill>
              </a:rPr>
              <a:t>1</a:t>
            </a:r>
            <a:endParaRPr lang="en-US" altLang="en-US" b="1"/>
          </a:p>
        </p:txBody>
      </p:sp>
      <p:sp>
        <p:nvSpPr>
          <p:cNvPr id="30832" name="Freeform 113"/>
          <p:cNvSpPr>
            <a:spLocks/>
          </p:cNvSpPr>
          <p:nvPr/>
        </p:nvSpPr>
        <p:spPr bwMode="auto">
          <a:xfrm>
            <a:off x="2613025" y="1755775"/>
            <a:ext cx="1106488" cy="201613"/>
          </a:xfrm>
          <a:custGeom>
            <a:avLst/>
            <a:gdLst>
              <a:gd name="T0" fmla="*/ 2147483647 w 697"/>
              <a:gd name="T1" fmla="*/ 2147483647 h 127"/>
              <a:gd name="T2" fmla="*/ 2147483647 w 697"/>
              <a:gd name="T3" fmla="*/ 0 h 127"/>
              <a:gd name="T4" fmla="*/ 0 w 697"/>
              <a:gd name="T5" fmla="*/ 0 h 127"/>
              <a:gd name="T6" fmla="*/ 0 w 697"/>
              <a:gd name="T7" fmla="*/ 2147483647 h 127"/>
              <a:gd name="T8" fmla="*/ 2147483647 w 697"/>
              <a:gd name="T9" fmla="*/ 2147483647 h 127"/>
              <a:gd name="T10" fmla="*/ 2147483647 w 69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7"/>
              <a:gd name="T19" fmla="*/ 0 h 127"/>
              <a:gd name="T20" fmla="*/ 697 w 69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7" h="127">
                <a:moveTo>
                  <a:pt x="697" y="124"/>
                </a:moveTo>
                <a:lnTo>
                  <a:pt x="697" y="0"/>
                </a:lnTo>
                <a:lnTo>
                  <a:pt x="0" y="0"/>
                </a:lnTo>
                <a:lnTo>
                  <a:pt x="0" y="127"/>
                </a:lnTo>
                <a:lnTo>
                  <a:pt x="69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33" name="Freeform 114"/>
          <p:cNvSpPr>
            <a:spLocks/>
          </p:cNvSpPr>
          <p:nvPr/>
        </p:nvSpPr>
        <p:spPr bwMode="auto">
          <a:xfrm>
            <a:off x="2613025" y="2159000"/>
            <a:ext cx="1106488" cy="201613"/>
          </a:xfrm>
          <a:custGeom>
            <a:avLst/>
            <a:gdLst>
              <a:gd name="T0" fmla="*/ 2147483647 w 697"/>
              <a:gd name="T1" fmla="*/ 2147483647 h 127"/>
              <a:gd name="T2" fmla="*/ 2147483647 w 697"/>
              <a:gd name="T3" fmla="*/ 0 h 127"/>
              <a:gd name="T4" fmla="*/ 0 w 697"/>
              <a:gd name="T5" fmla="*/ 0 h 127"/>
              <a:gd name="T6" fmla="*/ 0 w 697"/>
              <a:gd name="T7" fmla="*/ 2147483647 h 127"/>
              <a:gd name="T8" fmla="*/ 2147483647 w 697"/>
              <a:gd name="T9" fmla="*/ 2147483647 h 127"/>
              <a:gd name="T10" fmla="*/ 2147483647 w 69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7"/>
              <a:gd name="T19" fmla="*/ 0 h 127"/>
              <a:gd name="T20" fmla="*/ 697 w 69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7" h="127">
                <a:moveTo>
                  <a:pt x="697" y="125"/>
                </a:moveTo>
                <a:lnTo>
                  <a:pt x="697" y="0"/>
                </a:lnTo>
                <a:lnTo>
                  <a:pt x="0" y="0"/>
                </a:lnTo>
                <a:lnTo>
                  <a:pt x="0" y="127"/>
                </a:lnTo>
                <a:lnTo>
                  <a:pt x="69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34" name="Freeform 115"/>
          <p:cNvSpPr>
            <a:spLocks/>
          </p:cNvSpPr>
          <p:nvPr/>
        </p:nvSpPr>
        <p:spPr bwMode="auto">
          <a:xfrm>
            <a:off x="2613025" y="2562225"/>
            <a:ext cx="1106488" cy="201613"/>
          </a:xfrm>
          <a:custGeom>
            <a:avLst/>
            <a:gdLst>
              <a:gd name="T0" fmla="*/ 2147483647 w 697"/>
              <a:gd name="T1" fmla="*/ 2147483647 h 127"/>
              <a:gd name="T2" fmla="*/ 2147483647 w 697"/>
              <a:gd name="T3" fmla="*/ 0 h 127"/>
              <a:gd name="T4" fmla="*/ 0 w 697"/>
              <a:gd name="T5" fmla="*/ 0 h 127"/>
              <a:gd name="T6" fmla="*/ 0 w 697"/>
              <a:gd name="T7" fmla="*/ 2147483647 h 127"/>
              <a:gd name="T8" fmla="*/ 2147483647 w 697"/>
              <a:gd name="T9" fmla="*/ 2147483647 h 127"/>
              <a:gd name="T10" fmla="*/ 2147483647 w 69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7"/>
              <a:gd name="T19" fmla="*/ 0 h 127"/>
              <a:gd name="T20" fmla="*/ 697 w 69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7" h="127">
                <a:moveTo>
                  <a:pt x="697" y="125"/>
                </a:moveTo>
                <a:lnTo>
                  <a:pt x="697" y="0"/>
                </a:lnTo>
                <a:lnTo>
                  <a:pt x="0" y="0"/>
                </a:lnTo>
                <a:lnTo>
                  <a:pt x="0" y="127"/>
                </a:lnTo>
                <a:lnTo>
                  <a:pt x="69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35" name="Freeform 116"/>
          <p:cNvSpPr>
            <a:spLocks/>
          </p:cNvSpPr>
          <p:nvPr/>
        </p:nvSpPr>
        <p:spPr bwMode="auto">
          <a:xfrm>
            <a:off x="2613025" y="1554163"/>
            <a:ext cx="1106488" cy="201612"/>
          </a:xfrm>
          <a:custGeom>
            <a:avLst/>
            <a:gdLst>
              <a:gd name="T0" fmla="*/ 2147483647 w 697"/>
              <a:gd name="T1" fmla="*/ 2147483647 h 127"/>
              <a:gd name="T2" fmla="*/ 2147483647 w 697"/>
              <a:gd name="T3" fmla="*/ 0 h 127"/>
              <a:gd name="T4" fmla="*/ 0 w 697"/>
              <a:gd name="T5" fmla="*/ 0 h 127"/>
              <a:gd name="T6" fmla="*/ 0 w 697"/>
              <a:gd name="T7" fmla="*/ 2147483647 h 127"/>
              <a:gd name="T8" fmla="*/ 2147483647 w 697"/>
              <a:gd name="T9" fmla="*/ 2147483647 h 127"/>
              <a:gd name="T10" fmla="*/ 2147483647 w 697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97"/>
              <a:gd name="T19" fmla="*/ 0 h 127"/>
              <a:gd name="T20" fmla="*/ 697 w 697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97" h="127">
                <a:moveTo>
                  <a:pt x="697" y="124"/>
                </a:moveTo>
                <a:lnTo>
                  <a:pt x="697" y="0"/>
                </a:lnTo>
                <a:lnTo>
                  <a:pt x="0" y="0"/>
                </a:lnTo>
                <a:lnTo>
                  <a:pt x="0" y="127"/>
                </a:lnTo>
                <a:lnTo>
                  <a:pt x="697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36" name="Freeform 117"/>
          <p:cNvSpPr>
            <a:spLocks/>
          </p:cNvSpPr>
          <p:nvPr/>
        </p:nvSpPr>
        <p:spPr bwMode="auto">
          <a:xfrm>
            <a:off x="1189038" y="1549400"/>
            <a:ext cx="1162050" cy="201613"/>
          </a:xfrm>
          <a:custGeom>
            <a:avLst/>
            <a:gdLst>
              <a:gd name="T0" fmla="*/ 2147483647 w 732"/>
              <a:gd name="T1" fmla="*/ 2147483647 h 127"/>
              <a:gd name="T2" fmla="*/ 2147483647 w 732"/>
              <a:gd name="T3" fmla="*/ 0 h 127"/>
              <a:gd name="T4" fmla="*/ 0 w 732"/>
              <a:gd name="T5" fmla="*/ 0 h 127"/>
              <a:gd name="T6" fmla="*/ 0 w 732"/>
              <a:gd name="T7" fmla="*/ 2147483647 h 127"/>
              <a:gd name="T8" fmla="*/ 2147483647 w 732"/>
              <a:gd name="T9" fmla="*/ 2147483647 h 127"/>
              <a:gd name="T10" fmla="*/ 2147483647 w 732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32"/>
              <a:gd name="T19" fmla="*/ 0 h 127"/>
              <a:gd name="T20" fmla="*/ 732 w 732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32" h="127">
                <a:moveTo>
                  <a:pt x="729" y="127"/>
                </a:moveTo>
                <a:lnTo>
                  <a:pt x="732" y="0"/>
                </a:lnTo>
                <a:lnTo>
                  <a:pt x="0" y="0"/>
                </a:lnTo>
                <a:lnTo>
                  <a:pt x="0" y="127"/>
                </a:lnTo>
                <a:lnTo>
                  <a:pt x="732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49" name="Rectangle 130"/>
          <p:cNvSpPr>
            <a:spLocks noChangeArrowheads="1"/>
          </p:cNvSpPr>
          <p:nvPr/>
        </p:nvSpPr>
        <p:spPr bwMode="auto">
          <a:xfrm>
            <a:off x="2500313" y="1558925"/>
            <a:ext cx="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b="1"/>
          </a:p>
        </p:txBody>
      </p:sp>
      <p:sp>
        <p:nvSpPr>
          <p:cNvPr id="30856" name="Freeform 137"/>
          <p:cNvSpPr>
            <a:spLocks/>
          </p:cNvSpPr>
          <p:nvPr/>
        </p:nvSpPr>
        <p:spPr bwMode="auto">
          <a:xfrm>
            <a:off x="1854200" y="1751013"/>
            <a:ext cx="528638" cy="3236912"/>
          </a:xfrm>
          <a:custGeom>
            <a:avLst/>
            <a:gdLst>
              <a:gd name="T0" fmla="*/ 0 w 333"/>
              <a:gd name="T1" fmla="*/ 0 h 2039"/>
              <a:gd name="T2" fmla="*/ 0 w 333"/>
              <a:gd name="T3" fmla="*/ 2147483647 h 2039"/>
              <a:gd name="T4" fmla="*/ 2147483647 w 333"/>
              <a:gd name="T5" fmla="*/ 2147483647 h 2039"/>
              <a:gd name="T6" fmla="*/ 0 60000 65536"/>
              <a:gd name="T7" fmla="*/ 0 60000 65536"/>
              <a:gd name="T8" fmla="*/ 0 60000 65536"/>
              <a:gd name="T9" fmla="*/ 0 w 333"/>
              <a:gd name="T10" fmla="*/ 0 h 2039"/>
              <a:gd name="T11" fmla="*/ 333 w 333"/>
              <a:gd name="T12" fmla="*/ 2039 h 203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3" h="2039">
                <a:moveTo>
                  <a:pt x="0" y="0"/>
                </a:moveTo>
                <a:lnTo>
                  <a:pt x="0" y="2039"/>
                </a:lnTo>
                <a:lnTo>
                  <a:pt x="333" y="2039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57" name="Freeform 138"/>
          <p:cNvSpPr>
            <a:spLocks/>
          </p:cNvSpPr>
          <p:nvPr/>
        </p:nvSpPr>
        <p:spPr bwMode="auto">
          <a:xfrm>
            <a:off x="5894388" y="2276475"/>
            <a:ext cx="68262" cy="76200"/>
          </a:xfrm>
          <a:custGeom>
            <a:avLst/>
            <a:gdLst>
              <a:gd name="T0" fmla="*/ 0 w 43"/>
              <a:gd name="T1" fmla="*/ 2147483647 h 48"/>
              <a:gd name="T2" fmla="*/ 2147483647 w 43"/>
              <a:gd name="T3" fmla="*/ 2147483647 h 48"/>
              <a:gd name="T4" fmla="*/ 2147483647 w 43"/>
              <a:gd name="T5" fmla="*/ 0 h 48"/>
              <a:gd name="T6" fmla="*/ 0 w 43"/>
              <a:gd name="T7" fmla="*/ 2147483647 h 48"/>
              <a:gd name="T8" fmla="*/ 0 w 43"/>
              <a:gd name="T9" fmla="*/ 2147483647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8"/>
              <a:gd name="T17" fmla="*/ 43 w 43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8">
                <a:moveTo>
                  <a:pt x="0" y="23"/>
                </a:moveTo>
                <a:lnTo>
                  <a:pt x="35" y="48"/>
                </a:lnTo>
                <a:lnTo>
                  <a:pt x="43" y="0"/>
                </a:lnTo>
                <a:lnTo>
                  <a:pt x="0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58" name="Freeform 139"/>
          <p:cNvSpPr>
            <a:spLocks/>
          </p:cNvSpPr>
          <p:nvPr/>
        </p:nvSpPr>
        <p:spPr bwMode="auto">
          <a:xfrm>
            <a:off x="5897563" y="2481263"/>
            <a:ext cx="65087" cy="73025"/>
          </a:xfrm>
          <a:custGeom>
            <a:avLst/>
            <a:gdLst>
              <a:gd name="T0" fmla="*/ 0 w 41"/>
              <a:gd name="T1" fmla="*/ 2147483647 h 46"/>
              <a:gd name="T2" fmla="*/ 2147483647 w 41"/>
              <a:gd name="T3" fmla="*/ 2147483647 h 46"/>
              <a:gd name="T4" fmla="*/ 2147483647 w 41"/>
              <a:gd name="T5" fmla="*/ 0 h 46"/>
              <a:gd name="T6" fmla="*/ 0 w 41"/>
              <a:gd name="T7" fmla="*/ 2147483647 h 46"/>
              <a:gd name="T8" fmla="*/ 0 w 41"/>
              <a:gd name="T9" fmla="*/ 2147483647 h 46"/>
              <a:gd name="T10" fmla="*/ 0 w 41"/>
              <a:gd name="T11" fmla="*/ 2147483647 h 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"/>
              <a:gd name="T19" fmla="*/ 0 h 46"/>
              <a:gd name="T20" fmla="*/ 41 w 41"/>
              <a:gd name="T21" fmla="*/ 46 h 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" h="46">
                <a:moveTo>
                  <a:pt x="0" y="23"/>
                </a:moveTo>
                <a:lnTo>
                  <a:pt x="36" y="46"/>
                </a:lnTo>
                <a:lnTo>
                  <a:pt x="41" y="0"/>
                </a:lnTo>
                <a:lnTo>
                  <a:pt x="0" y="26"/>
                </a:lnTo>
                <a:lnTo>
                  <a:pt x="0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59" name="Freeform 140"/>
          <p:cNvSpPr>
            <a:spLocks/>
          </p:cNvSpPr>
          <p:nvPr/>
        </p:nvSpPr>
        <p:spPr bwMode="auto">
          <a:xfrm>
            <a:off x="5886450" y="2667000"/>
            <a:ext cx="76200" cy="65088"/>
          </a:xfrm>
          <a:custGeom>
            <a:avLst/>
            <a:gdLst>
              <a:gd name="T0" fmla="*/ 0 w 48"/>
              <a:gd name="T1" fmla="*/ 0 h 41"/>
              <a:gd name="T2" fmla="*/ 2147483647 w 48"/>
              <a:gd name="T3" fmla="*/ 2147483647 h 41"/>
              <a:gd name="T4" fmla="*/ 2147483647 w 48"/>
              <a:gd name="T5" fmla="*/ 0 h 41"/>
              <a:gd name="T6" fmla="*/ 0 w 48"/>
              <a:gd name="T7" fmla="*/ 2147483647 h 41"/>
              <a:gd name="T8" fmla="*/ 0 w 48"/>
              <a:gd name="T9" fmla="*/ 2147483647 h 41"/>
              <a:gd name="T10" fmla="*/ 0 w 48"/>
              <a:gd name="T11" fmla="*/ 0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0" y="0"/>
                </a:moveTo>
                <a:lnTo>
                  <a:pt x="20" y="41"/>
                </a:lnTo>
                <a:lnTo>
                  <a:pt x="48" y="0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0" name="Freeform 141"/>
          <p:cNvSpPr>
            <a:spLocks/>
          </p:cNvSpPr>
          <p:nvPr/>
        </p:nvSpPr>
        <p:spPr bwMode="auto">
          <a:xfrm>
            <a:off x="5886450" y="2873375"/>
            <a:ext cx="76200" cy="68263"/>
          </a:xfrm>
          <a:custGeom>
            <a:avLst/>
            <a:gdLst>
              <a:gd name="T0" fmla="*/ 0 w 48"/>
              <a:gd name="T1" fmla="*/ 2147483647 h 43"/>
              <a:gd name="T2" fmla="*/ 2147483647 w 48"/>
              <a:gd name="T3" fmla="*/ 2147483647 h 43"/>
              <a:gd name="T4" fmla="*/ 2147483647 w 48"/>
              <a:gd name="T5" fmla="*/ 0 h 43"/>
              <a:gd name="T6" fmla="*/ 0 w 48"/>
              <a:gd name="T7" fmla="*/ 2147483647 h 43"/>
              <a:gd name="T8" fmla="*/ 0 w 48"/>
              <a:gd name="T9" fmla="*/ 2147483647 h 43"/>
              <a:gd name="T10" fmla="*/ 0 w 48"/>
              <a:gd name="T11" fmla="*/ 2147483647 h 4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3"/>
              <a:gd name="T20" fmla="*/ 48 w 48"/>
              <a:gd name="T21" fmla="*/ 43 h 4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3">
                <a:moveTo>
                  <a:pt x="0" y="5"/>
                </a:moveTo>
                <a:lnTo>
                  <a:pt x="25" y="43"/>
                </a:lnTo>
                <a:lnTo>
                  <a:pt x="48" y="0"/>
                </a:lnTo>
                <a:lnTo>
                  <a:pt x="0" y="8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1" name="Freeform 142"/>
          <p:cNvSpPr>
            <a:spLocks/>
          </p:cNvSpPr>
          <p:nvPr/>
        </p:nvSpPr>
        <p:spPr bwMode="auto">
          <a:xfrm>
            <a:off x="5889625" y="3079750"/>
            <a:ext cx="73025" cy="76200"/>
          </a:xfrm>
          <a:custGeom>
            <a:avLst/>
            <a:gdLst>
              <a:gd name="T0" fmla="*/ 0 w 46"/>
              <a:gd name="T1" fmla="*/ 2147483647 h 48"/>
              <a:gd name="T2" fmla="*/ 2147483647 w 46"/>
              <a:gd name="T3" fmla="*/ 2147483647 h 48"/>
              <a:gd name="T4" fmla="*/ 2147483647 w 46"/>
              <a:gd name="T5" fmla="*/ 0 h 48"/>
              <a:gd name="T6" fmla="*/ 2147483647 w 46"/>
              <a:gd name="T7" fmla="*/ 2147483647 h 48"/>
              <a:gd name="T8" fmla="*/ 2147483647 w 46"/>
              <a:gd name="T9" fmla="*/ 2147483647 h 48"/>
              <a:gd name="T10" fmla="*/ 0 w 46"/>
              <a:gd name="T11" fmla="*/ 2147483647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"/>
              <a:gd name="T19" fmla="*/ 0 h 48"/>
              <a:gd name="T20" fmla="*/ 46 w 46"/>
              <a:gd name="T21" fmla="*/ 48 h 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" h="48">
                <a:moveTo>
                  <a:pt x="0" y="17"/>
                </a:moveTo>
                <a:lnTo>
                  <a:pt x="33" y="48"/>
                </a:lnTo>
                <a:lnTo>
                  <a:pt x="46" y="0"/>
                </a:lnTo>
                <a:lnTo>
                  <a:pt x="3" y="20"/>
                </a:lnTo>
                <a:lnTo>
                  <a:pt x="0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2" name="Freeform 143"/>
          <p:cNvSpPr>
            <a:spLocks/>
          </p:cNvSpPr>
          <p:nvPr/>
        </p:nvSpPr>
        <p:spPr bwMode="auto">
          <a:xfrm>
            <a:off x="5886450" y="3276600"/>
            <a:ext cx="76200" cy="65088"/>
          </a:xfrm>
          <a:custGeom>
            <a:avLst/>
            <a:gdLst>
              <a:gd name="T0" fmla="*/ 0 w 48"/>
              <a:gd name="T1" fmla="*/ 2147483647 h 41"/>
              <a:gd name="T2" fmla="*/ 2147483647 w 48"/>
              <a:gd name="T3" fmla="*/ 2147483647 h 41"/>
              <a:gd name="T4" fmla="*/ 2147483647 w 48"/>
              <a:gd name="T5" fmla="*/ 0 h 41"/>
              <a:gd name="T6" fmla="*/ 0 w 48"/>
              <a:gd name="T7" fmla="*/ 2147483647 h 41"/>
              <a:gd name="T8" fmla="*/ 0 w 48"/>
              <a:gd name="T9" fmla="*/ 2147483647 h 41"/>
              <a:gd name="T10" fmla="*/ 0 w 48"/>
              <a:gd name="T11" fmla="*/ 2147483647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0" y="5"/>
                </a:moveTo>
                <a:lnTo>
                  <a:pt x="25" y="41"/>
                </a:lnTo>
                <a:lnTo>
                  <a:pt x="48" y="0"/>
                </a:lnTo>
                <a:lnTo>
                  <a:pt x="0" y="8"/>
                </a:lnTo>
                <a:lnTo>
                  <a:pt x="0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3" name="Freeform 144"/>
          <p:cNvSpPr>
            <a:spLocks/>
          </p:cNvSpPr>
          <p:nvPr/>
        </p:nvSpPr>
        <p:spPr bwMode="auto">
          <a:xfrm>
            <a:off x="5886450" y="3454400"/>
            <a:ext cx="76200" cy="65088"/>
          </a:xfrm>
          <a:custGeom>
            <a:avLst/>
            <a:gdLst>
              <a:gd name="T0" fmla="*/ 0 w 48"/>
              <a:gd name="T1" fmla="*/ 0 h 41"/>
              <a:gd name="T2" fmla="*/ 2147483647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0 w 48"/>
              <a:gd name="T11" fmla="*/ 0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0" y="0"/>
                </a:moveTo>
                <a:lnTo>
                  <a:pt x="10" y="41"/>
                </a:lnTo>
                <a:lnTo>
                  <a:pt x="48" y="13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4" name="Freeform 145"/>
          <p:cNvSpPr>
            <a:spLocks/>
          </p:cNvSpPr>
          <p:nvPr/>
        </p:nvSpPr>
        <p:spPr bwMode="auto">
          <a:xfrm>
            <a:off x="5886450" y="3656013"/>
            <a:ext cx="76200" cy="65087"/>
          </a:xfrm>
          <a:custGeom>
            <a:avLst/>
            <a:gdLst>
              <a:gd name="T0" fmla="*/ 0 w 48"/>
              <a:gd name="T1" fmla="*/ 0 h 41"/>
              <a:gd name="T2" fmla="*/ 2147483647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0 w 48"/>
              <a:gd name="T11" fmla="*/ 0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0" y="0"/>
                </a:moveTo>
                <a:lnTo>
                  <a:pt x="10" y="41"/>
                </a:lnTo>
                <a:lnTo>
                  <a:pt x="48" y="13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5" name="Freeform 146"/>
          <p:cNvSpPr>
            <a:spLocks/>
          </p:cNvSpPr>
          <p:nvPr/>
        </p:nvSpPr>
        <p:spPr bwMode="auto">
          <a:xfrm>
            <a:off x="5886450" y="3878263"/>
            <a:ext cx="76200" cy="60325"/>
          </a:xfrm>
          <a:custGeom>
            <a:avLst/>
            <a:gdLst>
              <a:gd name="T0" fmla="*/ 0 w 48"/>
              <a:gd name="T1" fmla="*/ 0 h 38"/>
              <a:gd name="T2" fmla="*/ 2147483647 w 48"/>
              <a:gd name="T3" fmla="*/ 2147483647 h 38"/>
              <a:gd name="T4" fmla="*/ 2147483647 w 48"/>
              <a:gd name="T5" fmla="*/ 0 h 38"/>
              <a:gd name="T6" fmla="*/ 0 w 48"/>
              <a:gd name="T7" fmla="*/ 0 h 38"/>
              <a:gd name="T8" fmla="*/ 0 w 48"/>
              <a:gd name="T9" fmla="*/ 0 h 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38"/>
              <a:gd name="T17" fmla="*/ 48 w 48"/>
              <a:gd name="T18" fmla="*/ 38 h 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38">
                <a:moveTo>
                  <a:pt x="0" y="0"/>
                </a:moveTo>
                <a:lnTo>
                  <a:pt x="20" y="38"/>
                </a:lnTo>
                <a:lnTo>
                  <a:pt x="4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6" name="Rectangle 147"/>
          <p:cNvSpPr>
            <a:spLocks noChangeArrowheads="1"/>
          </p:cNvSpPr>
          <p:nvPr/>
        </p:nvSpPr>
        <p:spPr bwMode="auto">
          <a:xfrm>
            <a:off x="3613150" y="3344863"/>
            <a:ext cx="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endParaRPr lang="en-US" altLang="en-US" b="1"/>
          </a:p>
        </p:txBody>
      </p:sp>
      <p:sp>
        <p:nvSpPr>
          <p:cNvPr id="30867" name="Freeform 148"/>
          <p:cNvSpPr>
            <a:spLocks/>
          </p:cNvSpPr>
          <p:nvPr/>
        </p:nvSpPr>
        <p:spPr bwMode="auto">
          <a:xfrm>
            <a:off x="2362200" y="2224088"/>
            <a:ext cx="69850" cy="68262"/>
          </a:xfrm>
          <a:custGeom>
            <a:avLst/>
            <a:gdLst>
              <a:gd name="T0" fmla="*/ 0 w 44"/>
              <a:gd name="T1" fmla="*/ 0 h 43"/>
              <a:gd name="T2" fmla="*/ 0 w 44"/>
              <a:gd name="T3" fmla="*/ 2147483647 h 43"/>
              <a:gd name="T4" fmla="*/ 2147483647 w 44"/>
              <a:gd name="T5" fmla="*/ 2147483647 h 43"/>
              <a:gd name="T6" fmla="*/ 0 w 44"/>
              <a:gd name="T7" fmla="*/ 0 h 43"/>
              <a:gd name="T8" fmla="*/ 0 w 44"/>
              <a:gd name="T9" fmla="*/ 0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4"/>
              <a:gd name="T16" fmla="*/ 0 h 43"/>
              <a:gd name="T17" fmla="*/ 44 w 44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4" h="43">
                <a:moveTo>
                  <a:pt x="0" y="0"/>
                </a:moveTo>
                <a:lnTo>
                  <a:pt x="0" y="43"/>
                </a:lnTo>
                <a:lnTo>
                  <a:pt x="44" y="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8" name="Line 149"/>
          <p:cNvSpPr>
            <a:spLocks noChangeShapeType="1"/>
          </p:cNvSpPr>
          <p:nvPr/>
        </p:nvSpPr>
        <p:spPr bwMode="auto">
          <a:xfrm>
            <a:off x="1854200" y="2255838"/>
            <a:ext cx="525463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69" name="Freeform 150"/>
          <p:cNvSpPr>
            <a:spLocks/>
          </p:cNvSpPr>
          <p:nvPr/>
        </p:nvSpPr>
        <p:spPr bwMode="auto">
          <a:xfrm>
            <a:off x="2362200" y="4956175"/>
            <a:ext cx="69850" cy="68263"/>
          </a:xfrm>
          <a:custGeom>
            <a:avLst/>
            <a:gdLst>
              <a:gd name="T0" fmla="*/ 0 w 44"/>
              <a:gd name="T1" fmla="*/ 0 h 43"/>
              <a:gd name="T2" fmla="*/ 0 w 44"/>
              <a:gd name="T3" fmla="*/ 2147483647 h 43"/>
              <a:gd name="T4" fmla="*/ 2147483647 w 44"/>
              <a:gd name="T5" fmla="*/ 2147483647 h 43"/>
              <a:gd name="T6" fmla="*/ 0 w 44"/>
              <a:gd name="T7" fmla="*/ 0 h 43"/>
              <a:gd name="T8" fmla="*/ 0 w 44"/>
              <a:gd name="T9" fmla="*/ 0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4"/>
              <a:gd name="T16" fmla="*/ 0 h 43"/>
              <a:gd name="T17" fmla="*/ 44 w 44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4" h="43">
                <a:moveTo>
                  <a:pt x="0" y="0"/>
                </a:moveTo>
                <a:lnTo>
                  <a:pt x="0" y="43"/>
                </a:lnTo>
                <a:lnTo>
                  <a:pt x="44" y="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0" name="Freeform 151"/>
          <p:cNvSpPr>
            <a:spLocks/>
          </p:cNvSpPr>
          <p:nvPr/>
        </p:nvSpPr>
        <p:spPr bwMode="auto">
          <a:xfrm>
            <a:off x="4240213" y="1824038"/>
            <a:ext cx="68262" cy="65087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2147483647 w 43"/>
              <a:gd name="T85" fmla="*/ 2147483647 h 4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1"/>
              <a:gd name="T131" fmla="*/ 43 w 43"/>
              <a:gd name="T132" fmla="*/ 41 h 4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0"/>
                </a:lnTo>
                <a:lnTo>
                  <a:pt x="43" y="25"/>
                </a:lnTo>
                <a:lnTo>
                  <a:pt x="43" y="23"/>
                </a:lnTo>
                <a:lnTo>
                  <a:pt x="43" y="20"/>
                </a:lnTo>
                <a:lnTo>
                  <a:pt x="43" y="15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5"/>
                </a:lnTo>
                <a:lnTo>
                  <a:pt x="0" y="20"/>
                </a:lnTo>
                <a:lnTo>
                  <a:pt x="0" y="23"/>
                </a:lnTo>
                <a:lnTo>
                  <a:pt x="2" y="25"/>
                </a:lnTo>
                <a:lnTo>
                  <a:pt x="2" y="30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  <a:lnTo>
                  <a:pt x="20" y="41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1" name="Freeform 152"/>
          <p:cNvSpPr>
            <a:spLocks/>
          </p:cNvSpPr>
          <p:nvPr/>
        </p:nvSpPr>
        <p:spPr bwMode="auto">
          <a:xfrm>
            <a:off x="4240213" y="1824038"/>
            <a:ext cx="68262" cy="65087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3"/>
              <a:gd name="T127" fmla="*/ 0 h 41"/>
              <a:gd name="T128" fmla="*/ 43 w 43"/>
              <a:gd name="T129" fmla="*/ 41 h 4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0"/>
                </a:lnTo>
                <a:lnTo>
                  <a:pt x="43" y="25"/>
                </a:lnTo>
                <a:lnTo>
                  <a:pt x="43" y="23"/>
                </a:lnTo>
                <a:lnTo>
                  <a:pt x="43" y="20"/>
                </a:lnTo>
                <a:lnTo>
                  <a:pt x="43" y="15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5"/>
                </a:lnTo>
                <a:lnTo>
                  <a:pt x="0" y="20"/>
                </a:lnTo>
                <a:lnTo>
                  <a:pt x="0" y="23"/>
                </a:lnTo>
                <a:lnTo>
                  <a:pt x="2" y="25"/>
                </a:lnTo>
                <a:lnTo>
                  <a:pt x="2" y="30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2" name="Freeform 153"/>
          <p:cNvSpPr>
            <a:spLocks/>
          </p:cNvSpPr>
          <p:nvPr/>
        </p:nvSpPr>
        <p:spPr bwMode="auto">
          <a:xfrm>
            <a:off x="4240213" y="2227263"/>
            <a:ext cx="68262" cy="65087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2147483647 w 43"/>
              <a:gd name="T85" fmla="*/ 2147483647 h 4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1"/>
              <a:gd name="T131" fmla="*/ 43 w 43"/>
              <a:gd name="T132" fmla="*/ 41 h 4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1"/>
                </a:lnTo>
                <a:lnTo>
                  <a:pt x="43" y="26"/>
                </a:lnTo>
                <a:lnTo>
                  <a:pt x="43" y="23"/>
                </a:lnTo>
                <a:lnTo>
                  <a:pt x="43" y="21"/>
                </a:lnTo>
                <a:lnTo>
                  <a:pt x="43" y="15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5"/>
                </a:lnTo>
                <a:lnTo>
                  <a:pt x="0" y="21"/>
                </a:lnTo>
                <a:lnTo>
                  <a:pt x="0" y="23"/>
                </a:lnTo>
                <a:lnTo>
                  <a:pt x="2" y="26"/>
                </a:lnTo>
                <a:lnTo>
                  <a:pt x="2" y="31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  <a:lnTo>
                  <a:pt x="20" y="41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3" name="Freeform 154"/>
          <p:cNvSpPr>
            <a:spLocks/>
          </p:cNvSpPr>
          <p:nvPr/>
        </p:nvSpPr>
        <p:spPr bwMode="auto">
          <a:xfrm>
            <a:off x="4240213" y="2227263"/>
            <a:ext cx="68262" cy="65087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3"/>
              <a:gd name="T127" fmla="*/ 0 h 41"/>
              <a:gd name="T128" fmla="*/ 43 w 43"/>
              <a:gd name="T129" fmla="*/ 41 h 4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1"/>
                </a:lnTo>
                <a:lnTo>
                  <a:pt x="43" y="26"/>
                </a:lnTo>
                <a:lnTo>
                  <a:pt x="43" y="23"/>
                </a:lnTo>
                <a:lnTo>
                  <a:pt x="43" y="21"/>
                </a:lnTo>
                <a:lnTo>
                  <a:pt x="43" y="15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5"/>
                </a:lnTo>
                <a:lnTo>
                  <a:pt x="0" y="21"/>
                </a:lnTo>
                <a:lnTo>
                  <a:pt x="0" y="23"/>
                </a:lnTo>
                <a:lnTo>
                  <a:pt x="2" y="26"/>
                </a:lnTo>
                <a:lnTo>
                  <a:pt x="2" y="31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4" name="Freeform 155"/>
          <p:cNvSpPr>
            <a:spLocks/>
          </p:cNvSpPr>
          <p:nvPr/>
        </p:nvSpPr>
        <p:spPr bwMode="auto">
          <a:xfrm>
            <a:off x="4240213" y="2428875"/>
            <a:ext cx="68262" cy="65088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2147483647 w 43"/>
              <a:gd name="T85" fmla="*/ 2147483647 h 4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1"/>
              <a:gd name="T131" fmla="*/ 43 w 43"/>
              <a:gd name="T132" fmla="*/ 41 h 4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1"/>
                </a:lnTo>
                <a:lnTo>
                  <a:pt x="43" y="26"/>
                </a:lnTo>
                <a:lnTo>
                  <a:pt x="43" y="23"/>
                </a:lnTo>
                <a:lnTo>
                  <a:pt x="43" y="21"/>
                </a:lnTo>
                <a:lnTo>
                  <a:pt x="43" y="16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6"/>
                </a:lnTo>
                <a:lnTo>
                  <a:pt x="0" y="21"/>
                </a:lnTo>
                <a:lnTo>
                  <a:pt x="0" y="23"/>
                </a:lnTo>
                <a:lnTo>
                  <a:pt x="2" y="26"/>
                </a:lnTo>
                <a:lnTo>
                  <a:pt x="2" y="31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  <a:lnTo>
                  <a:pt x="20" y="41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5" name="Freeform 156"/>
          <p:cNvSpPr>
            <a:spLocks/>
          </p:cNvSpPr>
          <p:nvPr/>
        </p:nvSpPr>
        <p:spPr bwMode="auto">
          <a:xfrm>
            <a:off x="4240213" y="2428875"/>
            <a:ext cx="68262" cy="65088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3"/>
              <a:gd name="T127" fmla="*/ 0 h 41"/>
              <a:gd name="T128" fmla="*/ 43 w 43"/>
              <a:gd name="T129" fmla="*/ 41 h 4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1"/>
                </a:lnTo>
                <a:lnTo>
                  <a:pt x="43" y="26"/>
                </a:lnTo>
                <a:lnTo>
                  <a:pt x="43" y="23"/>
                </a:lnTo>
                <a:lnTo>
                  <a:pt x="43" y="21"/>
                </a:lnTo>
                <a:lnTo>
                  <a:pt x="43" y="16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6"/>
                </a:lnTo>
                <a:lnTo>
                  <a:pt x="0" y="21"/>
                </a:lnTo>
                <a:lnTo>
                  <a:pt x="0" y="23"/>
                </a:lnTo>
                <a:lnTo>
                  <a:pt x="2" y="26"/>
                </a:lnTo>
                <a:lnTo>
                  <a:pt x="2" y="31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6" name="Freeform 157"/>
          <p:cNvSpPr>
            <a:spLocks/>
          </p:cNvSpPr>
          <p:nvPr/>
        </p:nvSpPr>
        <p:spPr bwMode="auto">
          <a:xfrm>
            <a:off x="4240213" y="2833688"/>
            <a:ext cx="68262" cy="63500"/>
          </a:xfrm>
          <a:custGeom>
            <a:avLst/>
            <a:gdLst>
              <a:gd name="T0" fmla="*/ 2147483647 w 43"/>
              <a:gd name="T1" fmla="*/ 2147483647 h 40"/>
              <a:gd name="T2" fmla="*/ 2147483647 w 43"/>
              <a:gd name="T3" fmla="*/ 2147483647 h 40"/>
              <a:gd name="T4" fmla="*/ 2147483647 w 43"/>
              <a:gd name="T5" fmla="*/ 2147483647 h 40"/>
              <a:gd name="T6" fmla="*/ 2147483647 w 43"/>
              <a:gd name="T7" fmla="*/ 2147483647 h 40"/>
              <a:gd name="T8" fmla="*/ 2147483647 w 43"/>
              <a:gd name="T9" fmla="*/ 2147483647 h 40"/>
              <a:gd name="T10" fmla="*/ 2147483647 w 43"/>
              <a:gd name="T11" fmla="*/ 2147483647 h 40"/>
              <a:gd name="T12" fmla="*/ 2147483647 w 43"/>
              <a:gd name="T13" fmla="*/ 2147483647 h 40"/>
              <a:gd name="T14" fmla="*/ 2147483647 w 43"/>
              <a:gd name="T15" fmla="*/ 2147483647 h 40"/>
              <a:gd name="T16" fmla="*/ 2147483647 w 43"/>
              <a:gd name="T17" fmla="*/ 2147483647 h 40"/>
              <a:gd name="T18" fmla="*/ 2147483647 w 43"/>
              <a:gd name="T19" fmla="*/ 2147483647 h 40"/>
              <a:gd name="T20" fmla="*/ 2147483647 w 43"/>
              <a:gd name="T21" fmla="*/ 2147483647 h 40"/>
              <a:gd name="T22" fmla="*/ 2147483647 w 43"/>
              <a:gd name="T23" fmla="*/ 2147483647 h 40"/>
              <a:gd name="T24" fmla="*/ 2147483647 w 43"/>
              <a:gd name="T25" fmla="*/ 2147483647 h 40"/>
              <a:gd name="T26" fmla="*/ 2147483647 w 43"/>
              <a:gd name="T27" fmla="*/ 2147483647 h 40"/>
              <a:gd name="T28" fmla="*/ 2147483647 w 43"/>
              <a:gd name="T29" fmla="*/ 2147483647 h 40"/>
              <a:gd name="T30" fmla="*/ 2147483647 w 43"/>
              <a:gd name="T31" fmla="*/ 2147483647 h 40"/>
              <a:gd name="T32" fmla="*/ 2147483647 w 43"/>
              <a:gd name="T33" fmla="*/ 2147483647 h 40"/>
              <a:gd name="T34" fmla="*/ 2147483647 w 43"/>
              <a:gd name="T35" fmla="*/ 0 h 40"/>
              <a:gd name="T36" fmla="*/ 2147483647 w 43"/>
              <a:gd name="T37" fmla="*/ 0 h 40"/>
              <a:gd name="T38" fmla="*/ 2147483647 w 43"/>
              <a:gd name="T39" fmla="*/ 0 h 40"/>
              <a:gd name="T40" fmla="*/ 2147483647 w 43"/>
              <a:gd name="T41" fmla="*/ 0 h 40"/>
              <a:gd name="T42" fmla="*/ 2147483647 w 43"/>
              <a:gd name="T43" fmla="*/ 0 h 40"/>
              <a:gd name="T44" fmla="*/ 2147483647 w 43"/>
              <a:gd name="T45" fmla="*/ 0 h 40"/>
              <a:gd name="T46" fmla="*/ 2147483647 w 43"/>
              <a:gd name="T47" fmla="*/ 0 h 40"/>
              <a:gd name="T48" fmla="*/ 2147483647 w 43"/>
              <a:gd name="T49" fmla="*/ 2147483647 h 40"/>
              <a:gd name="T50" fmla="*/ 2147483647 w 43"/>
              <a:gd name="T51" fmla="*/ 2147483647 h 40"/>
              <a:gd name="T52" fmla="*/ 2147483647 w 43"/>
              <a:gd name="T53" fmla="*/ 2147483647 h 40"/>
              <a:gd name="T54" fmla="*/ 2147483647 w 43"/>
              <a:gd name="T55" fmla="*/ 2147483647 h 40"/>
              <a:gd name="T56" fmla="*/ 2147483647 w 43"/>
              <a:gd name="T57" fmla="*/ 2147483647 h 40"/>
              <a:gd name="T58" fmla="*/ 0 w 43"/>
              <a:gd name="T59" fmla="*/ 2147483647 h 40"/>
              <a:gd name="T60" fmla="*/ 0 w 43"/>
              <a:gd name="T61" fmla="*/ 2147483647 h 40"/>
              <a:gd name="T62" fmla="*/ 0 w 43"/>
              <a:gd name="T63" fmla="*/ 2147483647 h 40"/>
              <a:gd name="T64" fmla="*/ 2147483647 w 43"/>
              <a:gd name="T65" fmla="*/ 2147483647 h 40"/>
              <a:gd name="T66" fmla="*/ 2147483647 w 43"/>
              <a:gd name="T67" fmla="*/ 2147483647 h 40"/>
              <a:gd name="T68" fmla="*/ 2147483647 w 43"/>
              <a:gd name="T69" fmla="*/ 2147483647 h 40"/>
              <a:gd name="T70" fmla="*/ 2147483647 w 43"/>
              <a:gd name="T71" fmla="*/ 2147483647 h 40"/>
              <a:gd name="T72" fmla="*/ 2147483647 w 43"/>
              <a:gd name="T73" fmla="*/ 2147483647 h 40"/>
              <a:gd name="T74" fmla="*/ 2147483647 w 43"/>
              <a:gd name="T75" fmla="*/ 2147483647 h 40"/>
              <a:gd name="T76" fmla="*/ 2147483647 w 43"/>
              <a:gd name="T77" fmla="*/ 2147483647 h 40"/>
              <a:gd name="T78" fmla="*/ 2147483647 w 43"/>
              <a:gd name="T79" fmla="*/ 2147483647 h 40"/>
              <a:gd name="T80" fmla="*/ 2147483647 w 43"/>
              <a:gd name="T81" fmla="*/ 2147483647 h 40"/>
              <a:gd name="T82" fmla="*/ 2147483647 w 43"/>
              <a:gd name="T83" fmla="*/ 2147483647 h 40"/>
              <a:gd name="T84" fmla="*/ 2147483647 w 43"/>
              <a:gd name="T85" fmla="*/ 2147483647 h 40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0"/>
              <a:gd name="T131" fmla="*/ 43 w 43"/>
              <a:gd name="T132" fmla="*/ 40 h 40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0">
                <a:moveTo>
                  <a:pt x="20" y="40"/>
                </a:moveTo>
                <a:lnTo>
                  <a:pt x="25" y="40"/>
                </a:lnTo>
                <a:lnTo>
                  <a:pt x="27" y="40"/>
                </a:lnTo>
                <a:lnTo>
                  <a:pt x="33" y="38"/>
                </a:lnTo>
                <a:lnTo>
                  <a:pt x="35" y="38"/>
                </a:lnTo>
                <a:lnTo>
                  <a:pt x="38" y="35"/>
                </a:lnTo>
                <a:lnTo>
                  <a:pt x="38" y="33"/>
                </a:lnTo>
                <a:lnTo>
                  <a:pt x="40" y="30"/>
                </a:lnTo>
                <a:lnTo>
                  <a:pt x="43" y="25"/>
                </a:lnTo>
                <a:lnTo>
                  <a:pt x="43" y="22"/>
                </a:lnTo>
                <a:lnTo>
                  <a:pt x="43" y="20"/>
                </a:lnTo>
                <a:lnTo>
                  <a:pt x="43" y="15"/>
                </a:lnTo>
                <a:lnTo>
                  <a:pt x="43" y="12"/>
                </a:lnTo>
                <a:lnTo>
                  <a:pt x="40" y="10"/>
                </a:lnTo>
                <a:lnTo>
                  <a:pt x="38" y="7"/>
                </a:lnTo>
                <a:lnTo>
                  <a:pt x="38" y="5"/>
                </a:lnTo>
                <a:lnTo>
                  <a:pt x="35" y="2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2"/>
                </a:lnTo>
                <a:lnTo>
                  <a:pt x="7" y="5"/>
                </a:lnTo>
                <a:lnTo>
                  <a:pt x="5" y="7"/>
                </a:lnTo>
                <a:lnTo>
                  <a:pt x="2" y="10"/>
                </a:lnTo>
                <a:lnTo>
                  <a:pt x="2" y="12"/>
                </a:lnTo>
                <a:lnTo>
                  <a:pt x="0" y="15"/>
                </a:lnTo>
                <a:lnTo>
                  <a:pt x="0" y="20"/>
                </a:lnTo>
                <a:lnTo>
                  <a:pt x="0" y="22"/>
                </a:lnTo>
                <a:lnTo>
                  <a:pt x="2" y="25"/>
                </a:lnTo>
                <a:lnTo>
                  <a:pt x="2" y="30"/>
                </a:lnTo>
                <a:lnTo>
                  <a:pt x="5" y="33"/>
                </a:lnTo>
                <a:lnTo>
                  <a:pt x="7" y="35"/>
                </a:lnTo>
                <a:lnTo>
                  <a:pt x="10" y="38"/>
                </a:lnTo>
                <a:lnTo>
                  <a:pt x="12" y="38"/>
                </a:lnTo>
                <a:lnTo>
                  <a:pt x="15" y="40"/>
                </a:lnTo>
                <a:lnTo>
                  <a:pt x="17" y="40"/>
                </a:lnTo>
                <a:lnTo>
                  <a:pt x="22" y="40"/>
                </a:lnTo>
                <a:lnTo>
                  <a:pt x="20" y="4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7" name="Freeform 158"/>
          <p:cNvSpPr>
            <a:spLocks/>
          </p:cNvSpPr>
          <p:nvPr/>
        </p:nvSpPr>
        <p:spPr bwMode="auto">
          <a:xfrm>
            <a:off x="4240213" y="2833688"/>
            <a:ext cx="68262" cy="63500"/>
          </a:xfrm>
          <a:custGeom>
            <a:avLst/>
            <a:gdLst>
              <a:gd name="T0" fmla="*/ 2147483647 w 43"/>
              <a:gd name="T1" fmla="*/ 2147483647 h 40"/>
              <a:gd name="T2" fmla="*/ 2147483647 w 43"/>
              <a:gd name="T3" fmla="*/ 2147483647 h 40"/>
              <a:gd name="T4" fmla="*/ 2147483647 w 43"/>
              <a:gd name="T5" fmla="*/ 2147483647 h 40"/>
              <a:gd name="T6" fmla="*/ 2147483647 w 43"/>
              <a:gd name="T7" fmla="*/ 2147483647 h 40"/>
              <a:gd name="T8" fmla="*/ 2147483647 w 43"/>
              <a:gd name="T9" fmla="*/ 2147483647 h 40"/>
              <a:gd name="T10" fmla="*/ 2147483647 w 43"/>
              <a:gd name="T11" fmla="*/ 2147483647 h 40"/>
              <a:gd name="T12" fmla="*/ 2147483647 w 43"/>
              <a:gd name="T13" fmla="*/ 2147483647 h 40"/>
              <a:gd name="T14" fmla="*/ 2147483647 w 43"/>
              <a:gd name="T15" fmla="*/ 2147483647 h 40"/>
              <a:gd name="T16" fmla="*/ 2147483647 w 43"/>
              <a:gd name="T17" fmla="*/ 2147483647 h 40"/>
              <a:gd name="T18" fmla="*/ 2147483647 w 43"/>
              <a:gd name="T19" fmla="*/ 2147483647 h 40"/>
              <a:gd name="T20" fmla="*/ 2147483647 w 43"/>
              <a:gd name="T21" fmla="*/ 2147483647 h 40"/>
              <a:gd name="T22" fmla="*/ 2147483647 w 43"/>
              <a:gd name="T23" fmla="*/ 2147483647 h 40"/>
              <a:gd name="T24" fmla="*/ 2147483647 w 43"/>
              <a:gd name="T25" fmla="*/ 2147483647 h 40"/>
              <a:gd name="T26" fmla="*/ 2147483647 w 43"/>
              <a:gd name="T27" fmla="*/ 2147483647 h 40"/>
              <a:gd name="T28" fmla="*/ 2147483647 w 43"/>
              <a:gd name="T29" fmla="*/ 2147483647 h 40"/>
              <a:gd name="T30" fmla="*/ 2147483647 w 43"/>
              <a:gd name="T31" fmla="*/ 2147483647 h 40"/>
              <a:gd name="T32" fmla="*/ 2147483647 w 43"/>
              <a:gd name="T33" fmla="*/ 2147483647 h 40"/>
              <a:gd name="T34" fmla="*/ 2147483647 w 43"/>
              <a:gd name="T35" fmla="*/ 0 h 40"/>
              <a:gd name="T36" fmla="*/ 2147483647 w 43"/>
              <a:gd name="T37" fmla="*/ 0 h 40"/>
              <a:gd name="T38" fmla="*/ 2147483647 w 43"/>
              <a:gd name="T39" fmla="*/ 0 h 40"/>
              <a:gd name="T40" fmla="*/ 2147483647 w 43"/>
              <a:gd name="T41" fmla="*/ 0 h 40"/>
              <a:gd name="T42" fmla="*/ 2147483647 w 43"/>
              <a:gd name="T43" fmla="*/ 0 h 40"/>
              <a:gd name="T44" fmla="*/ 2147483647 w 43"/>
              <a:gd name="T45" fmla="*/ 0 h 40"/>
              <a:gd name="T46" fmla="*/ 2147483647 w 43"/>
              <a:gd name="T47" fmla="*/ 0 h 40"/>
              <a:gd name="T48" fmla="*/ 2147483647 w 43"/>
              <a:gd name="T49" fmla="*/ 2147483647 h 40"/>
              <a:gd name="T50" fmla="*/ 2147483647 w 43"/>
              <a:gd name="T51" fmla="*/ 2147483647 h 40"/>
              <a:gd name="T52" fmla="*/ 2147483647 w 43"/>
              <a:gd name="T53" fmla="*/ 2147483647 h 40"/>
              <a:gd name="T54" fmla="*/ 2147483647 w 43"/>
              <a:gd name="T55" fmla="*/ 2147483647 h 40"/>
              <a:gd name="T56" fmla="*/ 2147483647 w 43"/>
              <a:gd name="T57" fmla="*/ 2147483647 h 40"/>
              <a:gd name="T58" fmla="*/ 0 w 43"/>
              <a:gd name="T59" fmla="*/ 2147483647 h 40"/>
              <a:gd name="T60" fmla="*/ 0 w 43"/>
              <a:gd name="T61" fmla="*/ 2147483647 h 40"/>
              <a:gd name="T62" fmla="*/ 0 w 43"/>
              <a:gd name="T63" fmla="*/ 2147483647 h 40"/>
              <a:gd name="T64" fmla="*/ 2147483647 w 43"/>
              <a:gd name="T65" fmla="*/ 2147483647 h 40"/>
              <a:gd name="T66" fmla="*/ 2147483647 w 43"/>
              <a:gd name="T67" fmla="*/ 2147483647 h 40"/>
              <a:gd name="T68" fmla="*/ 2147483647 w 43"/>
              <a:gd name="T69" fmla="*/ 2147483647 h 40"/>
              <a:gd name="T70" fmla="*/ 2147483647 w 43"/>
              <a:gd name="T71" fmla="*/ 2147483647 h 40"/>
              <a:gd name="T72" fmla="*/ 2147483647 w 43"/>
              <a:gd name="T73" fmla="*/ 2147483647 h 40"/>
              <a:gd name="T74" fmla="*/ 2147483647 w 43"/>
              <a:gd name="T75" fmla="*/ 2147483647 h 40"/>
              <a:gd name="T76" fmla="*/ 2147483647 w 43"/>
              <a:gd name="T77" fmla="*/ 2147483647 h 40"/>
              <a:gd name="T78" fmla="*/ 2147483647 w 43"/>
              <a:gd name="T79" fmla="*/ 2147483647 h 40"/>
              <a:gd name="T80" fmla="*/ 2147483647 w 43"/>
              <a:gd name="T81" fmla="*/ 2147483647 h 40"/>
              <a:gd name="T82" fmla="*/ 2147483647 w 43"/>
              <a:gd name="T83" fmla="*/ 2147483647 h 4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3"/>
              <a:gd name="T127" fmla="*/ 0 h 40"/>
              <a:gd name="T128" fmla="*/ 43 w 43"/>
              <a:gd name="T129" fmla="*/ 40 h 40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3" h="40">
                <a:moveTo>
                  <a:pt x="20" y="40"/>
                </a:moveTo>
                <a:lnTo>
                  <a:pt x="25" y="40"/>
                </a:lnTo>
                <a:lnTo>
                  <a:pt x="27" y="40"/>
                </a:lnTo>
                <a:lnTo>
                  <a:pt x="33" y="38"/>
                </a:lnTo>
                <a:lnTo>
                  <a:pt x="35" y="38"/>
                </a:lnTo>
                <a:lnTo>
                  <a:pt x="38" y="35"/>
                </a:lnTo>
                <a:lnTo>
                  <a:pt x="38" y="33"/>
                </a:lnTo>
                <a:lnTo>
                  <a:pt x="40" y="30"/>
                </a:lnTo>
                <a:lnTo>
                  <a:pt x="43" y="25"/>
                </a:lnTo>
                <a:lnTo>
                  <a:pt x="43" y="22"/>
                </a:lnTo>
                <a:lnTo>
                  <a:pt x="43" y="20"/>
                </a:lnTo>
                <a:lnTo>
                  <a:pt x="43" y="15"/>
                </a:lnTo>
                <a:lnTo>
                  <a:pt x="43" y="12"/>
                </a:lnTo>
                <a:lnTo>
                  <a:pt x="40" y="10"/>
                </a:lnTo>
                <a:lnTo>
                  <a:pt x="38" y="7"/>
                </a:lnTo>
                <a:lnTo>
                  <a:pt x="38" y="5"/>
                </a:lnTo>
                <a:lnTo>
                  <a:pt x="35" y="2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2"/>
                </a:lnTo>
                <a:lnTo>
                  <a:pt x="7" y="5"/>
                </a:lnTo>
                <a:lnTo>
                  <a:pt x="5" y="7"/>
                </a:lnTo>
                <a:lnTo>
                  <a:pt x="2" y="10"/>
                </a:lnTo>
                <a:lnTo>
                  <a:pt x="2" y="12"/>
                </a:lnTo>
                <a:lnTo>
                  <a:pt x="0" y="15"/>
                </a:lnTo>
                <a:lnTo>
                  <a:pt x="0" y="20"/>
                </a:lnTo>
                <a:lnTo>
                  <a:pt x="0" y="22"/>
                </a:lnTo>
                <a:lnTo>
                  <a:pt x="2" y="25"/>
                </a:lnTo>
                <a:lnTo>
                  <a:pt x="2" y="30"/>
                </a:lnTo>
                <a:lnTo>
                  <a:pt x="5" y="33"/>
                </a:lnTo>
                <a:lnTo>
                  <a:pt x="7" y="35"/>
                </a:lnTo>
                <a:lnTo>
                  <a:pt x="10" y="38"/>
                </a:lnTo>
                <a:lnTo>
                  <a:pt x="12" y="38"/>
                </a:lnTo>
                <a:lnTo>
                  <a:pt x="15" y="40"/>
                </a:lnTo>
                <a:lnTo>
                  <a:pt x="17" y="40"/>
                </a:lnTo>
                <a:lnTo>
                  <a:pt x="22" y="40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8" name="Freeform 159"/>
          <p:cNvSpPr>
            <a:spLocks/>
          </p:cNvSpPr>
          <p:nvPr/>
        </p:nvSpPr>
        <p:spPr bwMode="auto">
          <a:xfrm>
            <a:off x="5886450" y="2994025"/>
            <a:ext cx="76200" cy="65088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2147483647 w 48"/>
              <a:gd name="T11" fmla="*/ 0 h 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1"/>
              <a:gd name="T20" fmla="*/ 48 w 48"/>
              <a:gd name="T21" fmla="*/ 41 h 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1">
                <a:moveTo>
                  <a:pt x="20" y="0"/>
                </a:moveTo>
                <a:lnTo>
                  <a:pt x="0" y="38"/>
                </a:lnTo>
                <a:lnTo>
                  <a:pt x="48" y="41"/>
                </a:lnTo>
                <a:lnTo>
                  <a:pt x="23" y="0"/>
                </a:lnTo>
                <a:lnTo>
                  <a:pt x="20" y="0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79" name="Freeform 160"/>
          <p:cNvSpPr>
            <a:spLocks/>
          </p:cNvSpPr>
          <p:nvPr/>
        </p:nvSpPr>
        <p:spPr bwMode="auto">
          <a:xfrm>
            <a:off x="5886450" y="2994025"/>
            <a:ext cx="76200" cy="65088"/>
          </a:xfrm>
          <a:custGeom>
            <a:avLst/>
            <a:gdLst>
              <a:gd name="T0" fmla="*/ 2147483647 w 48"/>
              <a:gd name="T1" fmla="*/ 0 h 41"/>
              <a:gd name="T2" fmla="*/ 0 w 48"/>
              <a:gd name="T3" fmla="*/ 2147483647 h 41"/>
              <a:gd name="T4" fmla="*/ 2147483647 w 48"/>
              <a:gd name="T5" fmla="*/ 2147483647 h 41"/>
              <a:gd name="T6" fmla="*/ 2147483647 w 48"/>
              <a:gd name="T7" fmla="*/ 0 h 41"/>
              <a:gd name="T8" fmla="*/ 2147483647 w 48"/>
              <a:gd name="T9" fmla="*/ 0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"/>
              <a:gd name="T16" fmla="*/ 0 h 41"/>
              <a:gd name="T17" fmla="*/ 48 w 48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" h="41">
                <a:moveTo>
                  <a:pt x="20" y="0"/>
                </a:moveTo>
                <a:lnTo>
                  <a:pt x="0" y="38"/>
                </a:lnTo>
                <a:lnTo>
                  <a:pt x="48" y="41"/>
                </a:lnTo>
                <a:lnTo>
                  <a:pt x="23" y="0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0" name="Freeform 161"/>
          <p:cNvSpPr>
            <a:spLocks/>
          </p:cNvSpPr>
          <p:nvPr/>
        </p:nvSpPr>
        <p:spPr bwMode="auto">
          <a:xfrm>
            <a:off x="4256088" y="2049463"/>
            <a:ext cx="1666875" cy="993775"/>
          </a:xfrm>
          <a:custGeom>
            <a:avLst/>
            <a:gdLst>
              <a:gd name="T0" fmla="*/ 0 w 1050"/>
              <a:gd name="T1" fmla="*/ 2147483647 h 626"/>
              <a:gd name="T2" fmla="*/ 2147483647 w 1050"/>
              <a:gd name="T3" fmla="*/ 2147483647 h 626"/>
              <a:gd name="T4" fmla="*/ 2147483647 w 1050"/>
              <a:gd name="T5" fmla="*/ 2147483647 h 626"/>
              <a:gd name="T6" fmla="*/ 2147483647 w 1050"/>
              <a:gd name="T7" fmla="*/ 0 h 626"/>
              <a:gd name="T8" fmla="*/ 2147483647 w 1050"/>
              <a:gd name="T9" fmla="*/ 2147483647 h 626"/>
              <a:gd name="T10" fmla="*/ 2147483647 w 1050"/>
              <a:gd name="T11" fmla="*/ 2147483647 h 626"/>
              <a:gd name="T12" fmla="*/ 0 w 1050"/>
              <a:gd name="T13" fmla="*/ 2147483647 h 6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50"/>
              <a:gd name="T22" fmla="*/ 0 h 626"/>
              <a:gd name="T23" fmla="*/ 1050 w 1050"/>
              <a:gd name="T24" fmla="*/ 626 h 62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50" h="626">
                <a:moveTo>
                  <a:pt x="0" y="8"/>
                </a:moveTo>
                <a:lnTo>
                  <a:pt x="1044" y="626"/>
                </a:lnTo>
                <a:lnTo>
                  <a:pt x="1050" y="616"/>
                </a:lnTo>
                <a:lnTo>
                  <a:pt x="7" y="0"/>
                </a:lnTo>
                <a:lnTo>
                  <a:pt x="2" y="8"/>
                </a:lnTo>
                <a:lnTo>
                  <a:pt x="0" y="8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1" name="Freeform 162"/>
          <p:cNvSpPr>
            <a:spLocks/>
          </p:cNvSpPr>
          <p:nvPr/>
        </p:nvSpPr>
        <p:spPr bwMode="auto">
          <a:xfrm>
            <a:off x="4256088" y="2049463"/>
            <a:ext cx="1666875" cy="993775"/>
          </a:xfrm>
          <a:custGeom>
            <a:avLst/>
            <a:gdLst>
              <a:gd name="T0" fmla="*/ 0 w 1050"/>
              <a:gd name="T1" fmla="*/ 2147483647 h 626"/>
              <a:gd name="T2" fmla="*/ 2147483647 w 1050"/>
              <a:gd name="T3" fmla="*/ 2147483647 h 626"/>
              <a:gd name="T4" fmla="*/ 2147483647 w 1050"/>
              <a:gd name="T5" fmla="*/ 2147483647 h 626"/>
              <a:gd name="T6" fmla="*/ 2147483647 w 1050"/>
              <a:gd name="T7" fmla="*/ 0 h 626"/>
              <a:gd name="T8" fmla="*/ 2147483647 w 1050"/>
              <a:gd name="T9" fmla="*/ 2147483647 h 626"/>
              <a:gd name="T10" fmla="*/ 2147483647 w 1050"/>
              <a:gd name="T11" fmla="*/ 2147483647 h 6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0"/>
              <a:gd name="T19" fmla="*/ 0 h 626"/>
              <a:gd name="T20" fmla="*/ 1050 w 1050"/>
              <a:gd name="T21" fmla="*/ 626 h 6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0" h="626">
                <a:moveTo>
                  <a:pt x="0" y="8"/>
                </a:moveTo>
                <a:lnTo>
                  <a:pt x="1044" y="626"/>
                </a:lnTo>
                <a:lnTo>
                  <a:pt x="1050" y="616"/>
                </a:lnTo>
                <a:lnTo>
                  <a:pt x="7" y="0"/>
                </a:lnTo>
                <a:lnTo>
                  <a:pt x="2" y="8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2" name="Freeform 163"/>
          <p:cNvSpPr>
            <a:spLocks/>
          </p:cNvSpPr>
          <p:nvPr/>
        </p:nvSpPr>
        <p:spPr bwMode="auto">
          <a:xfrm>
            <a:off x="4240213" y="2025650"/>
            <a:ext cx="68262" cy="65088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2147483647 w 43"/>
              <a:gd name="T85" fmla="*/ 2147483647 h 4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3"/>
              <a:gd name="T130" fmla="*/ 0 h 41"/>
              <a:gd name="T131" fmla="*/ 43 w 43"/>
              <a:gd name="T132" fmla="*/ 41 h 4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1"/>
                </a:lnTo>
                <a:lnTo>
                  <a:pt x="43" y="25"/>
                </a:lnTo>
                <a:lnTo>
                  <a:pt x="43" y="23"/>
                </a:lnTo>
                <a:lnTo>
                  <a:pt x="43" y="20"/>
                </a:lnTo>
                <a:lnTo>
                  <a:pt x="43" y="15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5"/>
                </a:lnTo>
                <a:lnTo>
                  <a:pt x="0" y="20"/>
                </a:lnTo>
                <a:lnTo>
                  <a:pt x="0" y="23"/>
                </a:lnTo>
                <a:lnTo>
                  <a:pt x="2" y="25"/>
                </a:lnTo>
                <a:lnTo>
                  <a:pt x="2" y="31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  <a:lnTo>
                  <a:pt x="20" y="41"/>
                </a:lnTo>
                <a:close/>
              </a:path>
            </a:pathLst>
          </a:custGeom>
          <a:solidFill>
            <a:srgbClr val="EB75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3" name="Freeform 164"/>
          <p:cNvSpPr>
            <a:spLocks/>
          </p:cNvSpPr>
          <p:nvPr/>
        </p:nvSpPr>
        <p:spPr bwMode="auto">
          <a:xfrm>
            <a:off x="4240213" y="2025650"/>
            <a:ext cx="68262" cy="65088"/>
          </a:xfrm>
          <a:custGeom>
            <a:avLst/>
            <a:gdLst>
              <a:gd name="T0" fmla="*/ 2147483647 w 43"/>
              <a:gd name="T1" fmla="*/ 2147483647 h 41"/>
              <a:gd name="T2" fmla="*/ 2147483647 w 43"/>
              <a:gd name="T3" fmla="*/ 2147483647 h 41"/>
              <a:gd name="T4" fmla="*/ 2147483647 w 43"/>
              <a:gd name="T5" fmla="*/ 2147483647 h 41"/>
              <a:gd name="T6" fmla="*/ 2147483647 w 43"/>
              <a:gd name="T7" fmla="*/ 2147483647 h 41"/>
              <a:gd name="T8" fmla="*/ 2147483647 w 43"/>
              <a:gd name="T9" fmla="*/ 2147483647 h 41"/>
              <a:gd name="T10" fmla="*/ 2147483647 w 43"/>
              <a:gd name="T11" fmla="*/ 2147483647 h 41"/>
              <a:gd name="T12" fmla="*/ 2147483647 w 43"/>
              <a:gd name="T13" fmla="*/ 2147483647 h 41"/>
              <a:gd name="T14" fmla="*/ 2147483647 w 43"/>
              <a:gd name="T15" fmla="*/ 2147483647 h 41"/>
              <a:gd name="T16" fmla="*/ 2147483647 w 43"/>
              <a:gd name="T17" fmla="*/ 2147483647 h 41"/>
              <a:gd name="T18" fmla="*/ 2147483647 w 43"/>
              <a:gd name="T19" fmla="*/ 2147483647 h 41"/>
              <a:gd name="T20" fmla="*/ 2147483647 w 43"/>
              <a:gd name="T21" fmla="*/ 2147483647 h 41"/>
              <a:gd name="T22" fmla="*/ 2147483647 w 43"/>
              <a:gd name="T23" fmla="*/ 2147483647 h 41"/>
              <a:gd name="T24" fmla="*/ 2147483647 w 43"/>
              <a:gd name="T25" fmla="*/ 2147483647 h 41"/>
              <a:gd name="T26" fmla="*/ 2147483647 w 43"/>
              <a:gd name="T27" fmla="*/ 2147483647 h 41"/>
              <a:gd name="T28" fmla="*/ 2147483647 w 43"/>
              <a:gd name="T29" fmla="*/ 2147483647 h 41"/>
              <a:gd name="T30" fmla="*/ 2147483647 w 43"/>
              <a:gd name="T31" fmla="*/ 2147483647 h 41"/>
              <a:gd name="T32" fmla="*/ 2147483647 w 43"/>
              <a:gd name="T33" fmla="*/ 2147483647 h 41"/>
              <a:gd name="T34" fmla="*/ 2147483647 w 43"/>
              <a:gd name="T35" fmla="*/ 0 h 41"/>
              <a:gd name="T36" fmla="*/ 2147483647 w 43"/>
              <a:gd name="T37" fmla="*/ 0 h 41"/>
              <a:gd name="T38" fmla="*/ 2147483647 w 43"/>
              <a:gd name="T39" fmla="*/ 0 h 41"/>
              <a:gd name="T40" fmla="*/ 2147483647 w 43"/>
              <a:gd name="T41" fmla="*/ 0 h 41"/>
              <a:gd name="T42" fmla="*/ 2147483647 w 43"/>
              <a:gd name="T43" fmla="*/ 0 h 41"/>
              <a:gd name="T44" fmla="*/ 2147483647 w 43"/>
              <a:gd name="T45" fmla="*/ 0 h 41"/>
              <a:gd name="T46" fmla="*/ 2147483647 w 43"/>
              <a:gd name="T47" fmla="*/ 0 h 41"/>
              <a:gd name="T48" fmla="*/ 2147483647 w 43"/>
              <a:gd name="T49" fmla="*/ 2147483647 h 41"/>
              <a:gd name="T50" fmla="*/ 2147483647 w 43"/>
              <a:gd name="T51" fmla="*/ 2147483647 h 41"/>
              <a:gd name="T52" fmla="*/ 2147483647 w 43"/>
              <a:gd name="T53" fmla="*/ 2147483647 h 41"/>
              <a:gd name="T54" fmla="*/ 2147483647 w 43"/>
              <a:gd name="T55" fmla="*/ 2147483647 h 41"/>
              <a:gd name="T56" fmla="*/ 2147483647 w 43"/>
              <a:gd name="T57" fmla="*/ 2147483647 h 41"/>
              <a:gd name="T58" fmla="*/ 0 w 43"/>
              <a:gd name="T59" fmla="*/ 2147483647 h 41"/>
              <a:gd name="T60" fmla="*/ 0 w 43"/>
              <a:gd name="T61" fmla="*/ 2147483647 h 41"/>
              <a:gd name="T62" fmla="*/ 0 w 43"/>
              <a:gd name="T63" fmla="*/ 2147483647 h 41"/>
              <a:gd name="T64" fmla="*/ 2147483647 w 43"/>
              <a:gd name="T65" fmla="*/ 2147483647 h 41"/>
              <a:gd name="T66" fmla="*/ 2147483647 w 43"/>
              <a:gd name="T67" fmla="*/ 2147483647 h 41"/>
              <a:gd name="T68" fmla="*/ 2147483647 w 43"/>
              <a:gd name="T69" fmla="*/ 2147483647 h 41"/>
              <a:gd name="T70" fmla="*/ 2147483647 w 43"/>
              <a:gd name="T71" fmla="*/ 2147483647 h 41"/>
              <a:gd name="T72" fmla="*/ 2147483647 w 43"/>
              <a:gd name="T73" fmla="*/ 2147483647 h 41"/>
              <a:gd name="T74" fmla="*/ 2147483647 w 43"/>
              <a:gd name="T75" fmla="*/ 2147483647 h 41"/>
              <a:gd name="T76" fmla="*/ 2147483647 w 43"/>
              <a:gd name="T77" fmla="*/ 2147483647 h 41"/>
              <a:gd name="T78" fmla="*/ 2147483647 w 43"/>
              <a:gd name="T79" fmla="*/ 2147483647 h 41"/>
              <a:gd name="T80" fmla="*/ 2147483647 w 43"/>
              <a:gd name="T81" fmla="*/ 2147483647 h 41"/>
              <a:gd name="T82" fmla="*/ 2147483647 w 43"/>
              <a:gd name="T83" fmla="*/ 2147483647 h 4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3"/>
              <a:gd name="T127" fmla="*/ 0 h 41"/>
              <a:gd name="T128" fmla="*/ 43 w 43"/>
              <a:gd name="T129" fmla="*/ 41 h 4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3" h="41">
                <a:moveTo>
                  <a:pt x="20" y="41"/>
                </a:moveTo>
                <a:lnTo>
                  <a:pt x="25" y="41"/>
                </a:lnTo>
                <a:lnTo>
                  <a:pt x="27" y="41"/>
                </a:lnTo>
                <a:lnTo>
                  <a:pt x="33" y="38"/>
                </a:lnTo>
                <a:lnTo>
                  <a:pt x="35" y="38"/>
                </a:lnTo>
                <a:lnTo>
                  <a:pt x="38" y="36"/>
                </a:lnTo>
                <a:lnTo>
                  <a:pt x="38" y="33"/>
                </a:lnTo>
                <a:lnTo>
                  <a:pt x="40" y="31"/>
                </a:lnTo>
                <a:lnTo>
                  <a:pt x="43" y="25"/>
                </a:lnTo>
                <a:lnTo>
                  <a:pt x="43" y="23"/>
                </a:lnTo>
                <a:lnTo>
                  <a:pt x="43" y="20"/>
                </a:lnTo>
                <a:lnTo>
                  <a:pt x="43" y="15"/>
                </a:lnTo>
                <a:lnTo>
                  <a:pt x="43" y="13"/>
                </a:lnTo>
                <a:lnTo>
                  <a:pt x="40" y="10"/>
                </a:lnTo>
                <a:lnTo>
                  <a:pt x="38" y="8"/>
                </a:lnTo>
                <a:lnTo>
                  <a:pt x="38" y="5"/>
                </a:lnTo>
                <a:lnTo>
                  <a:pt x="35" y="3"/>
                </a:lnTo>
                <a:lnTo>
                  <a:pt x="33" y="0"/>
                </a:lnTo>
                <a:lnTo>
                  <a:pt x="27" y="0"/>
                </a:lnTo>
                <a:lnTo>
                  <a:pt x="25" y="0"/>
                </a:lnTo>
                <a:lnTo>
                  <a:pt x="22" y="0"/>
                </a:lnTo>
                <a:lnTo>
                  <a:pt x="17" y="0"/>
                </a:lnTo>
                <a:lnTo>
                  <a:pt x="15" y="0"/>
                </a:lnTo>
                <a:lnTo>
                  <a:pt x="12" y="0"/>
                </a:lnTo>
                <a:lnTo>
                  <a:pt x="10" y="3"/>
                </a:lnTo>
                <a:lnTo>
                  <a:pt x="7" y="5"/>
                </a:lnTo>
                <a:lnTo>
                  <a:pt x="5" y="8"/>
                </a:lnTo>
                <a:lnTo>
                  <a:pt x="2" y="10"/>
                </a:lnTo>
                <a:lnTo>
                  <a:pt x="2" y="13"/>
                </a:lnTo>
                <a:lnTo>
                  <a:pt x="0" y="15"/>
                </a:lnTo>
                <a:lnTo>
                  <a:pt x="0" y="20"/>
                </a:lnTo>
                <a:lnTo>
                  <a:pt x="0" y="23"/>
                </a:lnTo>
                <a:lnTo>
                  <a:pt x="2" y="25"/>
                </a:lnTo>
                <a:lnTo>
                  <a:pt x="2" y="31"/>
                </a:lnTo>
                <a:lnTo>
                  <a:pt x="5" y="33"/>
                </a:lnTo>
                <a:lnTo>
                  <a:pt x="7" y="36"/>
                </a:lnTo>
                <a:lnTo>
                  <a:pt x="10" y="38"/>
                </a:lnTo>
                <a:lnTo>
                  <a:pt x="12" y="38"/>
                </a:lnTo>
                <a:lnTo>
                  <a:pt x="15" y="41"/>
                </a:lnTo>
                <a:lnTo>
                  <a:pt x="17" y="41"/>
                </a:lnTo>
                <a:lnTo>
                  <a:pt x="22" y="41"/>
                </a:lnTo>
              </a:path>
            </a:pathLst>
          </a:custGeom>
          <a:noFill/>
          <a:ln w="4763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4" name="Line 165"/>
          <p:cNvSpPr>
            <a:spLocks noChangeShapeType="1"/>
          </p:cNvSpPr>
          <p:nvPr/>
        </p:nvSpPr>
        <p:spPr bwMode="auto">
          <a:xfrm flipV="1">
            <a:off x="3178175" y="2316163"/>
            <a:ext cx="2755900" cy="32813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5" name="Line 166"/>
          <p:cNvSpPr>
            <a:spLocks noChangeShapeType="1"/>
          </p:cNvSpPr>
          <p:nvPr/>
        </p:nvSpPr>
        <p:spPr bwMode="auto">
          <a:xfrm flipV="1">
            <a:off x="3186113" y="2514600"/>
            <a:ext cx="2755900" cy="3684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6" name="Line 167"/>
          <p:cNvSpPr>
            <a:spLocks noChangeShapeType="1"/>
          </p:cNvSpPr>
          <p:nvPr/>
        </p:nvSpPr>
        <p:spPr bwMode="auto">
          <a:xfrm flipV="1">
            <a:off x="3178175" y="2692400"/>
            <a:ext cx="2740025" cy="12906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7" name="Line 168"/>
          <p:cNvSpPr>
            <a:spLocks noChangeShapeType="1"/>
          </p:cNvSpPr>
          <p:nvPr/>
        </p:nvSpPr>
        <p:spPr bwMode="auto">
          <a:xfrm flipV="1">
            <a:off x="3178175" y="2901950"/>
            <a:ext cx="2744788" cy="16906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8" name="Line 169"/>
          <p:cNvSpPr>
            <a:spLocks noChangeShapeType="1"/>
          </p:cNvSpPr>
          <p:nvPr/>
        </p:nvSpPr>
        <p:spPr bwMode="auto">
          <a:xfrm flipV="1">
            <a:off x="3186113" y="3119438"/>
            <a:ext cx="2744787" cy="26797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89" name="Line 170"/>
          <p:cNvSpPr>
            <a:spLocks noChangeShapeType="1"/>
          </p:cNvSpPr>
          <p:nvPr/>
        </p:nvSpPr>
        <p:spPr bwMode="auto">
          <a:xfrm flipV="1">
            <a:off x="3178175" y="3305175"/>
            <a:ext cx="2744788" cy="16875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0" name="Line 171"/>
          <p:cNvSpPr>
            <a:spLocks noChangeShapeType="1"/>
          </p:cNvSpPr>
          <p:nvPr/>
        </p:nvSpPr>
        <p:spPr bwMode="auto">
          <a:xfrm flipV="1">
            <a:off x="3178175" y="3482975"/>
            <a:ext cx="2735263" cy="701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1" name="Line 172"/>
          <p:cNvSpPr>
            <a:spLocks noChangeShapeType="1"/>
          </p:cNvSpPr>
          <p:nvPr/>
        </p:nvSpPr>
        <p:spPr bwMode="auto">
          <a:xfrm flipV="1">
            <a:off x="3165475" y="3684588"/>
            <a:ext cx="2752725" cy="6985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2" name="Line 173"/>
          <p:cNvSpPr>
            <a:spLocks noChangeShapeType="1"/>
          </p:cNvSpPr>
          <p:nvPr/>
        </p:nvSpPr>
        <p:spPr bwMode="auto">
          <a:xfrm flipV="1">
            <a:off x="3178175" y="3902075"/>
            <a:ext cx="2735263" cy="13001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3" name="Freeform 174"/>
          <p:cNvSpPr>
            <a:spLocks/>
          </p:cNvSpPr>
          <p:nvPr/>
        </p:nvSpPr>
        <p:spPr bwMode="auto">
          <a:xfrm>
            <a:off x="3719513" y="1755775"/>
            <a:ext cx="1120775" cy="201613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4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4" name="Freeform 175"/>
          <p:cNvSpPr>
            <a:spLocks/>
          </p:cNvSpPr>
          <p:nvPr/>
        </p:nvSpPr>
        <p:spPr bwMode="auto">
          <a:xfrm>
            <a:off x="3719513" y="1957388"/>
            <a:ext cx="1120775" cy="201612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4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5" name="Freeform 176"/>
          <p:cNvSpPr>
            <a:spLocks/>
          </p:cNvSpPr>
          <p:nvPr/>
        </p:nvSpPr>
        <p:spPr bwMode="auto">
          <a:xfrm>
            <a:off x="3719513" y="2360613"/>
            <a:ext cx="1120775" cy="201612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5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6" name="Freeform 177"/>
          <p:cNvSpPr>
            <a:spLocks/>
          </p:cNvSpPr>
          <p:nvPr/>
        </p:nvSpPr>
        <p:spPr bwMode="auto">
          <a:xfrm>
            <a:off x="3719513" y="2763838"/>
            <a:ext cx="1120775" cy="201612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5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7" name="Freeform 178"/>
          <p:cNvSpPr>
            <a:spLocks/>
          </p:cNvSpPr>
          <p:nvPr/>
        </p:nvSpPr>
        <p:spPr bwMode="auto">
          <a:xfrm>
            <a:off x="3719513" y="2159000"/>
            <a:ext cx="1120775" cy="201613"/>
          </a:xfrm>
          <a:custGeom>
            <a:avLst/>
            <a:gdLst>
              <a:gd name="T0" fmla="*/ 2147483647 w 706"/>
              <a:gd name="T1" fmla="*/ 2147483647 h 127"/>
              <a:gd name="T2" fmla="*/ 2147483647 w 706"/>
              <a:gd name="T3" fmla="*/ 0 h 127"/>
              <a:gd name="T4" fmla="*/ 0 w 706"/>
              <a:gd name="T5" fmla="*/ 0 h 127"/>
              <a:gd name="T6" fmla="*/ 0 w 706"/>
              <a:gd name="T7" fmla="*/ 2147483647 h 127"/>
              <a:gd name="T8" fmla="*/ 2147483647 w 706"/>
              <a:gd name="T9" fmla="*/ 2147483647 h 127"/>
              <a:gd name="T10" fmla="*/ 2147483647 w 70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06"/>
              <a:gd name="T19" fmla="*/ 0 h 127"/>
              <a:gd name="T20" fmla="*/ 706 w 70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06" h="127">
                <a:moveTo>
                  <a:pt x="706" y="125"/>
                </a:moveTo>
                <a:lnTo>
                  <a:pt x="706" y="0"/>
                </a:lnTo>
                <a:lnTo>
                  <a:pt x="0" y="0"/>
                </a:lnTo>
                <a:lnTo>
                  <a:pt x="0" y="127"/>
                </a:lnTo>
                <a:lnTo>
                  <a:pt x="70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8" name="Freeform 179"/>
          <p:cNvSpPr>
            <a:spLocks/>
          </p:cNvSpPr>
          <p:nvPr/>
        </p:nvSpPr>
        <p:spPr bwMode="auto">
          <a:xfrm>
            <a:off x="5622925" y="4560888"/>
            <a:ext cx="1998663" cy="1350962"/>
          </a:xfrm>
          <a:custGeom>
            <a:avLst/>
            <a:gdLst>
              <a:gd name="T0" fmla="*/ 2147483647 w 1259"/>
              <a:gd name="T1" fmla="*/ 2147483647 h 851"/>
              <a:gd name="T2" fmla="*/ 2147483647 w 1259"/>
              <a:gd name="T3" fmla="*/ 2147483647 h 851"/>
              <a:gd name="T4" fmla="*/ 2147483647 w 1259"/>
              <a:gd name="T5" fmla="*/ 2147483647 h 851"/>
              <a:gd name="T6" fmla="*/ 2147483647 w 1259"/>
              <a:gd name="T7" fmla="*/ 2147483647 h 851"/>
              <a:gd name="T8" fmla="*/ 2147483647 w 1259"/>
              <a:gd name="T9" fmla="*/ 2147483647 h 851"/>
              <a:gd name="T10" fmla="*/ 2147483647 w 1259"/>
              <a:gd name="T11" fmla="*/ 2147483647 h 851"/>
              <a:gd name="T12" fmla="*/ 2147483647 w 1259"/>
              <a:gd name="T13" fmla="*/ 2147483647 h 851"/>
              <a:gd name="T14" fmla="*/ 2147483647 w 1259"/>
              <a:gd name="T15" fmla="*/ 2147483647 h 851"/>
              <a:gd name="T16" fmla="*/ 2147483647 w 1259"/>
              <a:gd name="T17" fmla="*/ 2147483647 h 851"/>
              <a:gd name="T18" fmla="*/ 2147483647 w 1259"/>
              <a:gd name="T19" fmla="*/ 0 h 851"/>
              <a:gd name="T20" fmla="*/ 2147483647 w 1259"/>
              <a:gd name="T21" fmla="*/ 0 h 851"/>
              <a:gd name="T22" fmla="*/ 2147483647 w 1259"/>
              <a:gd name="T23" fmla="*/ 0 h 851"/>
              <a:gd name="T24" fmla="*/ 2147483647 w 1259"/>
              <a:gd name="T25" fmla="*/ 2147483647 h 851"/>
              <a:gd name="T26" fmla="*/ 2147483647 w 1259"/>
              <a:gd name="T27" fmla="*/ 2147483647 h 851"/>
              <a:gd name="T28" fmla="*/ 2147483647 w 1259"/>
              <a:gd name="T29" fmla="*/ 2147483647 h 851"/>
              <a:gd name="T30" fmla="*/ 2147483647 w 1259"/>
              <a:gd name="T31" fmla="*/ 2147483647 h 851"/>
              <a:gd name="T32" fmla="*/ 2147483647 w 1259"/>
              <a:gd name="T33" fmla="*/ 2147483647 h 851"/>
              <a:gd name="T34" fmla="*/ 2147483647 w 1259"/>
              <a:gd name="T35" fmla="*/ 2147483647 h 851"/>
              <a:gd name="T36" fmla="*/ 2147483647 w 1259"/>
              <a:gd name="T37" fmla="*/ 2147483647 h 851"/>
              <a:gd name="T38" fmla="*/ 2147483647 w 1259"/>
              <a:gd name="T39" fmla="*/ 2147483647 h 851"/>
              <a:gd name="T40" fmla="*/ 0 w 1259"/>
              <a:gd name="T41" fmla="*/ 2147483647 h 851"/>
              <a:gd name="T42" fmla="*/ 0 w 1259"/>
              <a:gd name="T43" fmla="*/ 2147483647 h 851"/>
              <a:gd name="T44" fmla="*/ 2147483647 w 1259"/>
              <a:gd name="T45" fmla="*/ 2147483647 h 851"/>
              <a:gd name="T46" fmla="*/ 2147483647 w 1259"/>
              <a:gd name="T47" fmla="*/ 2147483647 h 851"/>
              <a:gd name="T48" fmla="*/ 2147483647 w 1259"/>
              <a:gd name="T49" fmla="*/ 2147483647 h 851"/>
              <a:gd name="T50" fmla="*/ 2147483647 w 1259"/>
              <a:gd name="T51" fmla="*/ 2147483647 h 851"/>
              <a:gd name="T52" fmla="*/ 2147483647 w 1259"/>
              <a:gd name="T53" fmla="*/ 2147483647 h 851"/>
              <a:gd name="T54" fmla="*/ 2147483647 w 1259"/>
              <a:gd name="T55" fmla="*/ 2147483647 h 851"/>
              <a:gd name="T56" fmla="*/ 2147483647 w 1259"/>
              <a:gd name="T57" fmla="*/ 2147483647 h 851"/>
              <a:gd name="T58" fmla="*/ 2147483647 w 1259"/>
              <a:gd name="T59" fmla="*/ 2147483647 h 851"/>
              <a:gd name="T60" fmla="*/ 2147483647 w 1259"/>
              <a:gd name="T61" fmla="*/ 2147483647 h 851"/>
              <a:gd name="T62" fmla="*/ 2147483647 w 1259"/>
              <a:gd name="T63" fmla="*/ 2147483647 h 851"/>
              <a:gd name="T64" fmla="*/ 2147483647 w 1259"/>
              <a:gd name="T65" fmla="*/ 2147483647 h 851"/>
              <a:gd name="T66" fmla="*/ 2147483647 w 1259"/>
              <a:gd name="T67" fmla="*/ 2147483647 h 851"/>
              <a:gd name="T68" fmla="*/ 2147483647 w 1259"/>
              <a:gd name="T69" fmla="*/ 2147483647 h 851"/>
              <a:gd name="T70" fmla="*/ 2147483647 w 1259"/>
              <a:gd name="T71" fmla="*/ 2147483647 h 851"/>
              <a:gd name="T72" fmla="*/ 2147483647 w 1259"/>
              <a:gd name="T73" fmla="*/ 2147483647 h 851"/>
              <a:gd name="T74" fmla="*/ 2147483647 w 1259"/>
              <a:gd name="T75" fmla="*/ 2147483647 h 851"/>
              <a:gd name="T76" fmla="*/ 2147483647 w 1259"/>
              <a:gd name="T77" fmla="*/ 2147483647 h 851"/>
              <a:gd name="T78" fmla="*/ 2147483647 w 1259"/>
              <a:gd name="T79" fmla="*/ 2147483647 h 851"/>
              <a:gd name="T80" fmla="*/ 2147483647 w 1259"/>
              <a:gd name="T81" fmla="*/ 2147483647 h 851"/>
              <a:gd name="T82" fmla="*/ 2147483647 w 1259"/>
              <a:gd name="T83" fmla="*/ 2147483647 h 851"/>
              <a:gd name="T84" fmla="*/ 2147483647 w 1259"/>
              <a:gd name="T85" fmla="*/ 2147483647 h 851"/>
              <a:gd name="T86" fmla="*/ 2147483647 w 1259"/>
              <a:gd name="T87" fmla="*/ 2147483647 h 85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259"/>
              <a:gd name="T133" fmla="*/ 0 h 851"/>
              <a:gd name="T134" fmla="*/ 1259 w 1259"/>
              <a:gd name="T135" fmla="*/ 851 h 851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259" h="851">
                <a:moveTo>
                  <a:pt x="1259" y="106"/>
                </a:moveTo>
                <a:lnTo>
                  <a:pt x="1251" y="89"/>
                </a:lnTo>
                <a:lnTo>
                  <a:pt x="1228" y="73"/>
                </a:lnTo>
                <a:lnTo>
                  <a:pt x="1190" y="58"/>
                </a:lnTo>
                <a:lnTo>
                  <a:pt x="1139" y="43"/>
                </a:lnTo>
                <a:lnTo>
                  <a:pt x="1076" y="30"/>
                </a:lnTo>
                <a:lnTo>
                  <a:pt x="1002" y="20"/>
                </a:lnTo>
                <a:lnTo>
                  <a:pt x="921" y="10"/>
                </a:lnTo>
                <a:lnTo>
                  <a:pt x="829" y="5"/>
                </a:lnTo>
                <a:lnTo>
                  <a:pt x="733" y="0"/>
                </a:lnTo>
                <a:lnTo>
                  <a:pt x="631" y="0"/>
                </a:lnTo>
                <a:lnTo>
                  <a:pt x="529" y="0"/>
                </a:lnTo>
                <a:lnTo>
                  <a:pt x="433" y="5"/>
                </a:lnTo>
                <a:lnTo>
                  <a:pt x="341" y="10"/>
                </a:lnTo>
                <a:lnTo>
                  <a:pt x="260" y="20"/>
                </a:lnTo>
                <a:lnTo>
                  <a:pt x="186" y="30"/>
                </a:lnTo>
                <a:lnTo>
                  <a:pt x="122" y="43"/>
                </a:lnTo>
                <a:lnTo>
                  <a:pt x="72" y="58"/>
                </a:lnTo>
                <a:lnTo>
                  <a:pt x="33" y="73"/>
                </a:lnTo>
                <a:lnTo>
                  <a:pt x="11" y="89"/>
                </a:lnTo>
                <a:lnTo>
                  <a:pt x="0" y="106"/>
                </a:lnTo>
                <a:lnTo>
                  <a:pt x="0" y="742"/>
                </a:lnTo>
                <a:lnTo>
                  <a:pt x="11" y="760"/>
                </a:lnTo>
                <a:lnTo>
                  <a:pt x="33" y="778"/>
                </a:lnTo>
                <a:lnTo>
                  <a:pt x="72" y="793"/>
                </a:lnTo>
                <a:lnTo>
                  <a:pt x="122" y="808"/>
                </a:lnTo>
                <a:lnTo>
                  <a:pt x="186" y="821"/>
                </a:lnTo>
                <a:lnTo>
                  <a:pt x="260" y="831"/>
                </a:lnTo>
                <a:lnTo>
                  <a:pt x="341" y="839"/>
                </a:lnTo>
                <a:lnTo>
                  <a:pt x="433" y="846"/>
                </a:lnTo>
                <a:lnTo>
                  <a:pt x="529" y="849"/>
                </a:lnTo>
                <a:lnTo>
                  <a:pt x="631" y="851"/>
                </a:lnTo>
                <a:lnTo>
                  <a:pt x="733" y="849"/>
                </a:lnTo>
                <a:lnTo>
                  <a:pt x="829" y="846"/>
                </a:lnTo>
                <a:lnTo>
                  <a:pt x="921" y="839"/>
                </a:lnTo>
                <a:lnTo>
                  <a:pt x="1002" y="831"/>
                </a:lnTo>
                <a:lnTo>
                  <a:pt x="1076" y="821"/>
                </a:lnTo>
                <a:lnTo>
                  <a:pt x="1139" y="808"/>
                </a:lnTo>
                <a:lnTo>
                  <a:pt x="1190" y="793"/>
                </a:lnTo>
                <a:lnTo>
                  <a:pt x="1228" y="778"/>
                </a:lnTo>
                <a:lnTo>
                  <a:pt x="1251" y="760"/>
                </a:lnTo>
                <a:lnTo>
                  <a:pt x="1259" y="742"/>
                </a:lnTo>
                <a:lnTo>
                  <a:pt x="1259" y="106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899" name="Freeform 180"/>
          <p:cNvSpPr>
            <a:spLocks/>
          </p:cNvSpPr>
          <p:nvPr/>
        </p:nvSpPr>
        <p:spPr bwMode="auto">
          <a:xfrm>
            <a:off x="5970588" y="2255838"/>
            <a:ext cx="1654175" cy="201612"/>
          </a:xfrm>
          <a:custGeom>
            <a:avLst/>
            <a:gdLst>
              <a:gd name="T0" fmla="*/ 2147483647 w 1042"/>
              <a:gd name="T1" fmla="*/ 2147483647 h 127"/>
              <a:gd name="T2" fmla="*/ 2147483647 w 1042"/>
              <a:gd name="T3" fmla="*/ 0 h 127"/>
              <a:gd name="T4" fmla="*/ 0 w 1042"/>
              <a:gd name="T5" fmla="*/ 0 h 127"/>
              <a:gd name="T6" fmla="*/ 0 w 1042"/>
              <a:gd name="T7" fmla="*/ 2147483647 h 127"/>
              <a:gd name="T8" fmla="*/ 2147483647 w 1042"/>
              <a:gd name="T9" fmla="*/ 2147483647 h 127"/>
              <a:gd name="T10" fmla="*/ 2147483647 w 1042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7"/>
              <a:gd name="T20" fmla="*/ 1042 w 1042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7">
                <a:moveTo>
                  <a:pt x="1042" y="127"/>
                </a:moveTo>
                <a:lnTo>
                  <a:pt x="1042" y="0"/>
                </a:lnTo>
                <a:lnTo>
                  <a:pt x="0" y="0"/>
                </a:lnTo>
                <a:lnTo>
                  <a:pt x="0" y="127"/>
                </a:lnTo>
                <a:lnTo>
                  <a:pt x="1042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0" name="Freeform 181"/>
          <p:cNvSpPr>
            <a:spLocks/>
          </p:cNvSpPr>
          <p:nvPr/>
        </p:nvSpPr>
        <p:spPr bwMode="auto">
          <a:xfrm>
            <a:off x="5970588" y="2457450"/>
            <a:ext cx="1654175" cy="201613"/>
          </a:xfrm>
          <a:custGeom>
            <a:avLst/>
            <a:gdLst>
              <a:gd name="T0" fmla="*/ 2147483647 w 1042"/>
              <a:gd name="T1" fmla="*/ 2147483647 h 127"/>
              <a:gd name="T2" fmla="*/ 2147483647 w 1042"/>
              <a:gd name="T3" fmla="*/ 0 h 127"/>
              <a:gd name="T4" fmla="*/ 0 w 1042"/>
              <a:gd name="T5" fmla="*/ 0 h 127"/>
              <a:gd name="T6" fmla="*/ 0 w 1042"/>
              <a:gd name="T7" fmla="*/ 2147483647 h 127"/>
              <a:gd name="T8" fmla="*/ 2147483647 w 1042"/>
              <a:gd name="T9" fmla="*/ 2147483647 h 127"/>
              <a:gd name="T10" fmla="*/ 2147483647 w 1042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7"/>
              <a:gd name="T20" fmla="*/ 1042 w 1042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7">
                <a:moveTo>
                  <a:pt x="1042" y="125"/>
                </a:moveTo>
                <a:lnTo>
                  <a:pt x="1042" y="0"/>
                </a:lnTo>
                <a:lnTo>
                  <a:pt x="0" y="0"/>
                </a:lnTo>
                <a:lnTo>
                  <a:pt x="0" y="127"/>
                </a:lnTo>
                <a:lnTo>
                  <a:pt x="1042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1" name="Freeform 182"/>
          <p:cNvSpPr>
            <a:spLocks/>
          </p:cNvSpPr>
          <p:nvPr/>
        </p:nvSpPr>
        <p:spPr bwMode="auto">
          <a:xfrm>
            <a:off x="5970588" y="2659063"/>
            <a:ext cx="1654175" cy="198437"/>
          </a:xfrm>
          <a:custGeom>
            <a:avLst/>
            <a:gdLst>
              <a:gd name="T0" fmla="*/ 2147483647 w 1042"/>
              <a:gd name="T1" fmla="*/ 2147483647 h 125"/>
              <a:gd name="T2" fmla="*/ 2147483647 w 1042"/>
              <a:gd name="T3" fmla="*/ 0 h 125"/>
              <a:gd name="T4" fmla="*/ 0 w 1042"/>
              <a:gd name="T5" fmla="*/ 0 h 125"/>
              <a:gd name="T6" fmla="*/ 0 w 1042"/>
              <a:gd name="T7" fmla="*/ 2147483647 h 125"/>
              <a:gd name="T8" fmla="*/ 2147483647 w 1042"/>
              <a:gd name="T9" fmla="*/ 2147483647 h 125"/>
              <a:gd name="T10" fmla="*/ 2147483647 w 1042"/>
              <a:gd name="T11" fmla="*/ 2147483647 h 1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5"/>
              <a:gd name="T20" fmla="*/ 1042 w 1042"/>
              <a:gd name="T21" fmla="*/ 125 h 1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5">
                <a:moveTo>
                  <a:pt x="1042" y="125"/>
                </a:moveTo>
                <a:lnTo>
                  <a:pt x="1042" y="0"/>
                </a:lnTo>
                <a:lnTo>
                  <a:pt x="0" y="0"/>
                </a:lnTo>
                <a:lnTo>
                  <a:pt x="0" y="125"/>
                </a:lnTo>
                <a:lnTo>
                  <a:pt x="1042" y="125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2" name="Freeform 183"/>
          <p:cNvSpPr>
            <a:spLocks/>
          </p:cNvSpPr>
          <p:nvPr/>
        </p:nvSpPr>
        <p:spPr bwMode="auto">
          <a:xfrm>
            <a:off x="5970588" y="2857500"/>
            <a:ext cx="1654175" cy="201613"/>
          </a:xfrm>
          <a:custGeom>
            <a:avLst/>
            <a:gdLst>
              <a:gd name="T0" fmla="*/ 2147483647 w 1042"/>
              <a:gd name="T1" fmla="*/ 2147483647 h 127"/>
              <a:gd name="T2" fmla="*/ 2147483647 w 1042"/>
              <a:gd name="T3" fmla="*/ 0 h 127"/>
              <a:gd name="T4" fmla="*/ 0 w 1042"/>
              <a:gd name="T5" fmla="*/ 0 h 127"/>
              <a:gd name="T6" fmla="*/ 0 w 1042"/>
              <a:gd name="T7" fmla="*/ 2147483647 h 127"/>
              <a:gd name="T8" fmla="*/ 2147483647 w 1042"/>
              <a:gd name="T9" fmla="*/ 2147483647 h 127"/>
              <a:gd name="T10" fmla="*/ 2147483647 w 1042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7"/>
              <a:gd name="T20" fmla="*/ 1042 w 1042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7">
                <a:moveTo>
                  <a:pt x="1042" y="124"/>
                </a:moveTo>
                <a:lnTo>
                  <a:pt x="1042" y="0"/>
                </a:lnTo>
                <a:lnTo>
                  <a:pt x="0" y="0"/>
                </a:lnTo>
                <a:lnTo>
                  <a:pt x="0" y="127"/>
                </a:lnTo>
                <a:lnTo>
                  <a:pt x="1042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3" name="Freeform 184"/>
          <p:cNvSpPr>
            <a:spLocks/>
          </p:cNvSpPr>
          <p:nvPr/>
        </p:nvSpPr>
        <p:spPr bwMode="auto">
          <a:xfrm>
            <a:off x="5970588" y="3059113"/>
            <a:ext cx="1654175" cy="196850"/>
          </a:xfrm>
          <a:custGeom>
            <a:avLst/>
            <a:gdLst>
              <a:gd name="T0" fmla="*/ 2147483647 w 1042"/>
              <a:gd name="T1" fmla="*/ 2147483647 h 124"/>
              <a:gd name="T2" fmla="*/ 2147483647 w 1042"/>
              <a:gd name="T3" fmla="*/ 0 h 124"/>
              <a:gd name="T4" fmla="*/ 0 w 1042"/>
              <a:gd name="T5" fmla="*/ 0 h 124"/>
              <a:gd name="T6" fmla="*/ 0 w 1042"/>
              <a:gd name="T7" fmla="*/ 2147483647 h 124"/>
              <a:gd name="T8" fmla="*/ 2147483647 w 1042"/>
              <a:gd name="T9" fmla="*/ 2147483647 h 124"/>
              <a:gd name="T10" fmla="*/ 2147483647 w 1042"/>
              <a:gd name="T11" fmla="*/ 2147483647 h 1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4"/>
              <a:gd name="T20" fmla="*/ 1042 w 1042"/>
              <a:gd name="T21" fmla="*/ 124 h 1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4">
                <a:moveTo>
                  <a:pt x="1042" y="124"/>
                </a:moveTo>
                <a:lnTo>
                  <a:pt x="1042" y="0"/>
                </a:lnTo>
                <a:lnTo>
                  <a:pt x="0" y="0"/>
                </a:lnTo>
                <a:lnTo>
                  <a:pt x="0" y="124"/>
                </a:lnTo>
                <a:lnTo>
                  <a:pt x="1042" y="124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4" name="Freeform 185"/>
          <p:cNvSpPr>
            <a:spLocks/>
          </p:cNvSpPr>
          <p:nvPr/>
        </p:nvSpPr>
        <p:spPr bwMode="auto">
          <a:xfrm>
            <a:off x="5970588" y="3255963"/>
            <a:ext cx="1654175" cy="203200"/>
          </a:xfrm>
          <a:custGeom>
            <a:avLst/>
            <a:gdLst>
              <a:gd name="T0" fmla="*/ 2147483647 w 1042"/>
              <a:gd name="T1" fmla="*/ 2147483647 h 128"/>
              <a:gd name="T2" fmla="*/ 2147483647 w 1042"/>
              <a:gd name="T3" fmla="*/ 0 h 128"/>
              <a:gd name="T4" fmla="*/ 0 w 1042"/>
              <a:gd name="T5" fmla="*/ 0 h 128"/>
              <a:gd name="T6" fmla="*/ 0 w 1042"/>
              <a:gd name="T7" fmla="*/ 2147483647 h 128"/>
              <a:gd name="T8" fmla="*/ 2147483647 w 1042"/>
              <a:gd name="T9" fmla="*/ 2147483647 h 128"/>
              <a:gd name="T10" fmla="*/ 2147483647 w 1042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8"/>
              <a:gd name="T20" fmla="*/ 1042 w 1042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8">
                <a:moveTo>
                  <a:pt x="1042" y="125"/>
                </a:moveTo>
                <a:lnTo>
                  <a:pt x="1042" y="0"/>
                </a:lnTo>
                <a:lnTo>
                  <a:pt x="0" y="0"/>
                </a:lnTo>
                <a:lnTo>
                  <a:pt x="0" y="128"/>
                </a:lnTo>
                <a:lnTo>
                  <a:pt x="1042" y="12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5" name="Freeform 186"/>
          <p:cNvSpPr>
            <a:spLocks/>
          </p:cNvSpPr>
          <p:nvPr/>
        </p:nvSpPr>
        <p:spPr bwMode="auto">
          <a:xfrm>
            <a:off x="5970588" y="3459163"/>
            <a:ext cx="1654175" cy="196850"/>
          </a:xfrm>
          <a:custGeom>
            <a:avLst/>
            <a:gdLst>
              <a:gd name="T0" fmla="*/ 2147483647 w 1042"/>
              <a:gd name="T1" fmla="*/ 2147483647 h 124"/>
              <a:gd name="T2" fmla="*/ 2147483647 w 1042"/>
              <a:gd name="T3" fmla="*/ 0 h 124"/>
              <a:gd name="T4" fmla="*/ 0 w 1042"/>
              <a:gd name="T5" fmla="*/ 0 h 124"/>
              <a:gd name="T6" fmla="*/ 0 w 1042"/>
              <a:gd name="T7" fmla="*/ 2147483647 h 124"/>
              <a:gd name="T8" fmla="*/ 2147483647 w 1042"/>
              <a:gd name="T9" fmla="*/ 2147483647 h 124"/>
              <a:gd name="T10" fmla="*/ 2147483647 w 1042"/>
              <a:gd name="T11" fmla="*/ 2147483647 h 1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4"/>
              <a:gd name="T20" fmla="*/ 1042 w 1042"/>
              <a:gd name="T21" fmla="*/ 124 h 1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4">
                <a:moveTo>
                  <a:pt x="1042" y="124"/>
                </a:moveTo>
                <a:lnTo>
                  <a:pt x="1042" y="0"/>
                </a:lnTo>
                <a:lnTo>
                  <a:pt x="0" y="0"/>
                </a:lnTo>
                <a:lnTo>
                  <a:pt x="0" y="124"/>
                </a:lnTo>
                <a:lnTo>
                  <a:pt x="1042" y="124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6" name="Freeform 187"/>
          <p:cNvSpPr>
            <a:spLocks/>
          </p:cNvSpPr>
          <p:nvPr/>
        </p:nvSpPr>
        <p:spPr bwMode="auto">
          <a:xfrm>
            <a:off x="5970588" y="3656013"/>
            <a:ext cx="1654175" cy="201612"/>
          </a:xfrm>
          <a:custGeom>
            <a:avLst/>
            <a:gdLst>
              <a:gd name="T0" fmla="*/ 2147483647 w 1042"/>
              <a:gd name="T1" fmla="*/ 2147483647 h 127"/>
              <a:gd name="T2" fmla="*/ 2147483647 w 1042"/>
              <a:gd name="T3" fmla="*/ 0 h 127"/>
              <a:gd name="T4" fmla="*/ 0 w 1042"/>
              <a:gd name="T5" fmla="*/ 0 h 127"/>
              <a:gd name="T6" fmla="*/ 0 w 1042"/>
              <a:gd name="T7" fmla="*/ 2147483647 h 127"/>
              <a:gd name="T8" fmla="*/ 2147483647 w 1042"/>
              <a:gd name="T9" fmla="*/ 2147483647 h 127"/>
              <a:gd name="T10" fmla="*/ 2147483647 w 1042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7"/>
              <a:gd name="T20" fmla="*/ 1042 w 1042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7">
                <a:moveTo>
                  <a:pt x="1042" y="127"/>
                </a:moveTo>
                <a:lnTo>
                  <a:pt x="1042" y="0"/>
                </a:lnTo>
                <a:lnTo>
                  <a:pt x="0" y="0"/>
                </a:lnTo>
                <a:lnTo>
                  <a:pt x="0" y="127"/>
                </a:lnTo>
                <a:lnTo>
                  <a:pt x="1042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7" name="Freeform 188"/>
          <p:cNvSpPr>
            <a:spLocks/>
          </p:cNvSpPr>
          <p:nvPr/>
        </p:nvSpPr>
        <p:spPr bwMode="auto">
          <a:xfrm>
            <a:off x="5970588" y="3857625"/>
            <a:ext cx="1654175" cy="201613"/>
          </a:xfrm>
          <a:custGeom>
            <a:avLst/>
            <a:gdLst>
              <a:gd name="T0" fmla="*/ 2147483647 w 1042"/>
              <a:gd name="T1" fmla="*/ 2147483647 h 127"/>
              <a:gd name="T2" fmla="*/ 2147483647 w 1042"/>
              <a:gd name="T3" fmla="*/ 0 h 127"/>
              <a:gd name="T4" fmla="*/ 0 w 1042"/>
              <a:gd name="T5" fmla="*/ 0 h 127"/>
              <a:gd name="T6" fmla="*/ 0 w 1042"/>
              <a:gd name="T7" fmla="*/ 2147483647 h 127"/>
              <a:gd name="T8" fmla="*/ 2147483647 w 1042"/>
              <a:gd name="T9" fmla="*/ 2147483647 h 127"/>
              <a:gd name="T10" fmla="*/ 2147483647 w 1042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42"/>
              <a:gd name="T19" fmla="*/ 0 h 127"/>
              <a:gd name="T20" fmla="*/ 1042 w 1042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42" h="127">
                <a:moveTo>
                  <a:pt x="1042" y="125"/>
                </a:moveTo>
                <a:lnTo>
                  <a:pt x="1042" y="0"/>
                </a:lnTo>
                <a:lnTo>
                  <a:pt x="0" y="0"/>
                </a:lnTo>
                <a:lnTo>
                  <a:pt x="0" y="127"/>
                </a:lnTo>
                <a:lnTo>
                  <a:pt x="1042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8" name="Freeform 189"/>
          <p:cNvSpPr>
            <a:spLocks/>
          </p:cNvSpPr>
          <p:nvPr/>
        </p:nvSpPr>
        <p:spPr bwMode="auto">
          <a:xfrm>
            <a:off x="5761038" y="4987925"/>
            <a:ext cx="1787525" cy="201613"/>
          </a:xfrm>
          <a:custGeom>
            <a:avLst/>
            <a:gdLst>
              <a:gd name="T0" fmla="*/ 2147483647 w 1126"/>
              <a:gd name="T1" fmla="*/ 2147483647 h 127"/>
              <a:gd name="T2" fmla="*/ 2147483647 w 1126"/>
              <a:gd name="T3" fmla="*/ 0 h 127"/>
              <a:gd name="T4" fmla="*/ 0 w 1126"/>
              <a:gd name="T5" fmla="*/ 0 h 127"/>
              <a:gd name="T6" fmla="*/ 0 w 1126"/>
              <a:gd name="T7" fmla="*/ 2147483647 h 127"/>
              <a:gd name="T8" fmla="*/ 2147483647 w 1126"/>
              <a:gd name="T9" fmla="*/ 2147483647 h 127"/>
              <a:gd name="T10" fmla="*/ 2147483647 w 1126"/>
              <a:gd name="T11" fmla="*/ 2147483647 h 127"/>
              <a:gd name="T12" fmla="*/ 2147483647 w 1126"/>
              <a:gd name="T13" fmla="*/ 2147483647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6"/>
              <a:gd name="T22" fmla="*/ 0 h 127"/>
              <a:gd name="T23" fmla="*/ 1126 w 1126"/>
              <a:gd name="T24" fmla="*/ 127 h 12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6" h="127">
                <a:moveTo>
                  <a:pt x="1123" y="127"/>
                </a:moveTo>
                <a:lnTo>
                  <a:pt x="1126" y="0"/>
                </a:lnTo>
                <a:lnTo>
                  <a:pt x="0" y="0"/>
                </a:lnTo>
                <a:lnTo>
                  <a:pt x="0" y="127"/>
                </a:lnTo>
                <a:lnTo>
                  <a:pt x="1126" y="127"/>
                </a:lnTo>
                <a:lnTo>
                  <a:pt x="1123" y="127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09" name="Freeform 190"/>
          <p:cNvSpPr>
            <a:spLocks/>
          </p:cNvSpPr>
          <p:nvPr/>
        </p:nvSpPr>
        <p:spPr bwMode="auto">
          <a:xfrm>
            <a:off x="5761038" y="4987925"/>
            <a:ext cx="1787525" cy="201613"/>
          </a:xfrm>
          <a:custGeom>
            <a:avLst/>
            <a:gdLst>
              <a:gd name="T0" fmla="*/ 2147483647 w 1126"/>
              <a:gd name="T1" fmla="*/ 2147483647 h 127"/>
              <a:gd name="T2" fmla="*/ 2147483647 w 1126"/>
              <a:gd name="T3" fmla="*/ 0 h 127"/>
              <a:gd name="T4" fmla="*/ 0 w 1126"/>
              <a:gd name="T5" fmla="*/ 0 h 127"/>
              <a:gd name="T6" fmla="*/ 0 w 1126"/>
              <a:gd name="T7" fmla="*/ 2147483647 h 127"/>
              <a:gd name="T8" fmla="*/ 2147483647 w 1126"/>
              <a:gd name="T9" fmla="*/ 2147483647 h 127"/>
              <a:gd name="T10" fmla="*/ 2147483647 w 112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26"/>
              <a:gd name="T19" fmla="*/ 0 h 127"/>
              <a:gd name="T20" fmla="*/ 1126 w 112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26" h="127">
                <a:moveTo>
                  <a:pt x="1123" y="127"/>
                </a:moveTo>
                <a:lnTo>
                  <a:pt x="1126" y="0"/>
                </a:lnTo>
                <a:lnTo>
                  <a:pt x="0" y="0"/>
                </a:lnTo>
                <a:lnTo>
                  <a:pt x="0" y="127"/>
                </a:lnTo>
                <a:lnTo>
                  <a:pt x="112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0" name="Freeform 191"/>
          <p:cNvSpPr>
            <a:spLocks/>
          </p:cNvSpPr>
          <p:nvPr/>
        </p:nvSpPr>
        <p:spPr bwMode="auto">
          <a:xfrm>
            <a:off x="5761038" y="5257800"/>
            <a:ext cx="1787525" cy="203200"/>
          </a:xfrm>
          <a:custGeom>
            <a:avLst/>
            <a:gdLst>
              <a:gd name="T0" fmla="*/ 2147483647 w 1126"/>
              <a:gd name="T1" fmla="*/ 2147483647 h 128"/>
              <a:gd name="T2" fmla="*/ 2147483647 w 1126"/>
              <a:gd name="T3" fmla="*/ 0 h 128"/>
              <a:gd name="T4" fmla="*/ 0 w 1126"/>
              <a:gd name="T5" fmla="*/ 0 h 128"/>
              <a:gd name="T6" fmla="*/ 0 w 1126"/>
              <a:gd name="T7" fmla="*/ 2147483647 h 128"/>
              <a:gd name="T8" fmla="*/ 2147483647 w 1126"/>
              <a:gd name="T9" fmla="*/ 2147483647 h 128"/>
              <a:gd name="T10" fmla="*/ 2147483647 w 1126"/>
              <a:gd name="T11" fmla="*/ 2147483647 h 128"/>
              <a:gd name="T12" fmla="*/ 2147483647 w 1126"/>
              <a:gd name="T13" fmla="*/ 2147483647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6"/>
              <a:gd name="T22" fmla="*/ 0 h 128"/>
              <a:gd name="T23" fmla="*/ 1126 w 1126"/>
              <a:gd name="T24" fmla="*/ 128 h 1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6" h="128">
                <a:moveTo>
                  <a:pt x="1123" y="125"/>
                </a:moveTo>
                <a:lnTo>
                  <a:pt x="1126" y="0"/>
                </a:lnTo>
                <a:lnTo>
                  <a:pt x="0" y="0"/>
                </a:lnTo>
                <a:lnTo>
                  <a:pt x="0" y="128"/>
                </a:lnTo>
                <a:lnTo>
                  <a:pt x="1126" y="128"/>
                </a:lnTo>
                <a:lnTo>
                  <a:pt x="1123" y="12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1" name="Freeform 192"/>
          <p:cNvSpPr>
            <a:spLocks/>
          </p:cNvSpPr>
          <p:nvPr/>
        </p:nvSpPr>
        <p:spPr bwMode="auto">
          <a:xfrm>
            <a:off x="5761038" y="5257800"/>
            <a:ext cx="1787525" cy="203200"/>
          </a:xfrm>
          <a:custGeom>
            <a:avLst/>
            <a:gdLst>
              <a:gd name="T0" fmla="*/ 2147483647 w 1126"/>
              <a:gd name="T1" fmla="*/ 2147483647 h 128"/>
              <a:gd name="T2" fmla="*/ 2147483647 w 1126"/>
              <a:gd name="T3" fmla="*/ 0 h 128"/>
              <a:gd name="T4" fmla="*/ 0 w 1126"/>
              <a:gd name="T5" fmla="*/ 0 h 128"/>
              <a:gd name="T6" fmla="*/ 0 w 1126"/>
              <a:gd name="T7" fmla="*/ 2147483647 h 128"/>
              <a:gd name="T8" fmla="*/ 2147483647 w 1126"/>
              <a:gd name="T9" fmla="*/ 2147483647 h 128"/>
              <a:gd name="T10" fmla="*/ 2147483647 w 1126"/>
              <a:gd name="T11" fmla="*/ 2147483647 h 1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26"/>
              <a:gd name="T19" fmla="*/ 0 h 128"/>
              <a:gd name="T20" fmla="*/ 1126 w 1126"/>
              <a:gd name="T21" fmla="*/ 128 h 1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26" h="128">
                <a:moveTo>
                  <a:pt x="1123" y="125"/>
                </a:moveTo>
                <a:lnTo>
                  <a:pt x="1126" y="0"/>
                </a:lnTo>
                <a:lnTo>
                  <a:pt x="0" y="0"/>
                </a:lnTo>
                <a:lnTo>
                  <a:pt x="0" y="128"/>
                </a:lnTo>
                <a:lnTo>
                  <a:pt x="1126" y="12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2" name="Freeform 193"/>
          <p:cNvSpPr>
            <a:spLocks/>
          </p:cNvSpPr>
          <p:nvPr/>
        </p:nvSpPr>
        <p:spPr bwMode="auto">
          <a:xfrm>
            <a:off x="5761038" y="5524500"/>
            <a:ext cx="1787525" cy="201613"/>
          </a:xfrm>
          <a:custGeom>
            <a:avLst/>
            <a:gdLst>
              <a:gd name="T0" fmla="*/ 2147483647 w 1126"/>
              <a:gd name="T1" fmla="*/ 2147483647 h 127"/>
              <a:gd name="T2" fmla="*/ 2147483647 w 1126"/>
              <a:gd name="T3" fmla="*/ 0 h 127"/>
              <a:gd name="T4" fmla="*/ 0 w 1126"/>
              <a:gd name="T5" fmla="*/ 0 h 127"/>
              <a:gd name="T6" fmla="*/ 0 w 1126"/>
              <a:gd name="T7" fmla="*/ 2147483647 h 127"/>
              <a:gd name="T8" fmla="*/ 2147483647 w 1126"/>
              <a:gd name="T9" fmla="*/ 2147483647 h 127"/>
              <a:gd name="T10" fmla="*/ 2147483647 w 1126"/>
              <a:gd name="T11" fmla="*/ 2147483647 h 127"/>
              <a:gd name="T12" fmla="*/ 2147483647 w 1126"/>
              <a:gd name="T13" fmla="*/ 2147483647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6"/>
              <a:gd name="T22" fmla="*/ 0 h 127"/>
              <a:gd name="T23" fmla="*/ 1126 w 1126"/>
              <a:gd name="T24" fmla="*/ 127 h 12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6" h="127">
                <a:moveTo>
                  <a:pt x="1123" y="127"/>
                </a:moveTo>
                <a:lnTo>
                  <a:pt x="1126" y="0"/>
                </a:lnTo>
                <a:lnTo>
                  <a:pt x="0" y="0"/>
                </a:lnTo>
                <a:lnTo>
                  <a:pt x="0" y="127"/>
                </a:lnTo>
                <a:lnTo>
                  <a:pt x="1126" y="127"/>
                </a:lnTo>
                <a:lnTo>
                  <a:pt x="1123" y="127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3" name="Freeform 194"/>
          <p:cNvSpPr>
            <a:spLocks/>
          </p:cNvSpPr>
          <p:nvPr/>
        </p:nvSpPr>
        <p:spPr bwMode="auto">
          <a:xfrm>
            <a:off x="5761038" y="5524500"/>
            <a:ext cx="1787525" cy="201613"/>
          </a:xfrm>
          <a:custGeom>
            <a:avLst/>
            <a:gdLst>
              <a:gd name="T0" fmla="*/ 2147483647 w 1126"/>
              <a:gd name="T1" fmla="*/ 2147483647 h 127"/>
              <a:gd name="T2" fmla="*/ 2147483647 w 1126"/>
              <a:gd name="T3" fmla="*/ 0 h 127"/>
              <a:gd name="T4" fmla="*/ 0 w 1126"/>
              <a:gd name="T5" fmla="*/ 0 h 127"/>
              <a:gd name="T6" fmla="*/ 0 w 1126"/>
              <a:gd name="T7" fmla="*/ 2147483647 h 127"/>
              <a:gd name="T8" fmla="*/ 2147483647 w 1126"/>
              <a:gd name="T9" fmla="*/ 2147483647 h 127"/>
              <a:gd name="T10" fmla="*/ 2147483647 w 1126"/>
              <a:gd name="T11" fmla="*/ 2147483647 h 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26"/>
              <a:gd name="T19" fmla="*/ 0 h 127"/>
              <a:gd name="T20" fmla="*/ 1126 w 1126"/>
              <a:gd name="T21" fmla="*/ 127 h 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26" h="127">
                <a:moveTo>
                  <a:pt x="1123" y="127"/>
                </a:moveTo>
                <a:lnTo>
                  <a:pt x="1126" y="0"/>
                </a:lnTo>
                <a:lnTo>
                  <a:pt x="0" y="0"/>
                </a:lnTo>
                <a:lnTo>
                  <a:pt x="0" y="127"/>
                </a:lnTo>
                <a:lnTo>
                  <a:pt x="1126" y="127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4" name="Freeform 195"/>
          <p:cNvSpPr>
            <a:spLocks/>
          </p:cNvSpPr>
          <p:nvPr/>
        </p:nvSpPr>
        <p:spPr bwMode="auto">
          <a:xfrm>
            <a:off x="5622925" y="4729163"/>
            <a:ext cx="1998663" cy="174625"/>
          </a:xfrm>
          <a:custGeom>
            <a:avLst/>
            <a:gdLst>
              <a:gd name="T0" fmla="*/ 0 w 1259"/>
              <a:gd name="T1" fmla="*/ 0 h 110"/>
              <a:gd name="T2" fmla="*/ 2147483647 w 1259"/>
              <a:gd name="T3" fmla="*/ 2147483647 h 110"/>
              <a:gd name="T4" fmla="*/ 2147483647 w 1259"/>
              <a:gd name="T5" fmla="*/ 2147483647 h 110"/>
              <a:gd name="T6" fmla="*/ 2147483647 w 1259"/>
              <a:gd name="T7" fmla="*/ 2147483647 h 110"/>
              <a:gd name="T8" fmla="*/ 2147483647 w 1259"/>
              <a:gd name="T9" fmla="*/ 2147483647 h 110"/>
              <a:gd name="T10" fmla="*/ 2147483647 w 1259"/>
              <a:gd name="T11" fmla="*/ 2147483647 h 110"/>
              <a:gd name="T12" fmla="*/ 2147483647 w 1259"/>
              <a:gd name="T13" fmla="*/ 2147483647 h 110"/>
              <a:gd name="T14" fmla="*/ 2147483647 w 1259"/>
              <a:gd name="T15" fmla="*/ 2147483647 h 110"/>
              <a:gd name="T16" fmla="*/ 2147483647 w 1259"/>
              <a:gd name="T17" fmla="*/ 2147483647 h 110"/>
              <a:gd name="T18" fmla="*/ 2147483647 w 1259"/>
              <a:gd name="T19" fmla="*/ 2147483647 h 110"/>
              <a:gd name="T20" fmla="*/ 2147483647 w 1259"/>
              <a:gd name="T21" fmla="*/ 2147483647 h 110"/>
              <a:gd name="T22" fmla="*/ 2147483647 w 1259"/>
              <a:gd name="T23" fmla="*/ 2147483647 h 110"/>
              <a:gd name="T24" fmla="*/ 2147483647 w 1259"/>
              <a:gd name="T25" fmla="*/ 2147483647 h 110"/>
              <a:gd name="T26" fmla="*/ 2147483647 w 1259"/>
              <a:gd name="T27" fmla="*/ 2147483647 h 110"/>
              <a:gd name="T28" fmla="*/ 2147483647 w 1259"/>
              <a:gd name="T29" fmla="*/ 2147483647 h 110"/>
              <a:gd name="T30" fmla="*/ 2147483647 w 1259"/>
              <a:gd name="T31" fmla="*/ 2147483647 h 110"/>
              <a:gd name="T32" fmla="*/ 2147483647 w 1259"/>
              <a:gd name="T33" fmla="*/ 2147483647 h 110"/>
              <a:gd name="T34" fmla="*/ 2147483647 w 1259"/>
              <a:gd name="T35" fmla="*/ 2147483647 h 110"/>
              <a:gd name="T36" fmla="*/ 2147483647 w 1259"/>
              <a:gd name="T37" fmla="*/ 2147483647 h 110"/>
              <a:gd name="T38" fmla="*/ 2147483647 w 1259"/>
              <a:gd name="T39" fmla="*/ 2147483647 h 110"/>
              <a:gd name="T40" fmla="*/ 2147483647 w 1259"/>
              <a:gd name="T41" fmla="*/ 0 h 1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259"/>
              <a:gd name="T64" fmla="*/ 0 h 110"/>
              <a:gd name="T65" fmla="*/ 1259 w 1259"/>
              <a:gd name="T66" fmla="*/ 110 h 110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259" h="110">
                <a:moveTo>
                  <a:pt x="0" y="0"/>
                </a:moveTo>
                <a:lnTo>
                  <a:pt x="11" y="18"/>
                </a:lnTo>
                <a:lnTo>
                  <a:pt x="33" y="36"/>
                </a:lnTo>
                <a:lnTo>
                  <a:pt x="72" y="51"/>
                </a:lnTo>
                <a:lnTo>
                  <a:pt x="122" y="66"/>
                </a:lnTo>
                <a:lnTo>
                  <a:pt x="186" y="79"/>
                </a:lnTo>
                <a:lnTo>
                  <a:pt x="260" y="89"/>
                </a:lnTo>
                <a:lnTo>
                  <a:pt x="341" y="100"/>
                </a:lnTo>
                <a:lnTo>
                  <a:pt x="433" y="105"/>
                </a:lnTo>
                <a:lnTo>
                  <a:pt x="529" y="110"/>
                </a:lnTo>
                <a:lnTo>
                  <a:pt x="631" y="110"/>
                </a:lnTo>
                <a:lnTo>
                  <a:pt x="733" y="110"/>
                </a:lnTo>
                <a:lnTo>
                  <a:pt x="829" y="105"/>
                </a:lnTo>
                <a:lnTo>
                  <a:pt x="921" y="100"/>
                </a:lnTo>
                <a:lnTo>
                  <a:pt x="1002" y="89"/>
                </a:lnTo>
                <a:lnTo>
                  <a:pt x="1076" y="79"/>
                </a:lnTo>
                <a:lnTo>
                  <a:pt x="1139" y="66"/>
                </a:lnTo>
                <a:lnTo>
                  <a:pt x="1190" y="51"/>
                </a:lnTo>
                <a:lnTo>
                  <a:pt x="1228" y="36"/>
                </a:lnTo>
                <a:lnTo>
                  <a:pt x="1251" y="18"/>
                </a:lnTo>
                <a:lnTo>
                  <a:pt x="1259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5" name="Freeform 196"/>
          <p:cNvSpPr>
            <a:spLocks/>
          </p:cNvSpPr>
          <p:nvPr/>
        </p:nvSpPr>
        <p:spPr bwMode="auto">
          <a:xfrm>
            <a:off x="5688013" y="4940300"/>
            <a:ext cx="68262" cy="68263"/>
          </a:xfrm>
          <a:custGeom>
            <a:avLst/>
            <a:gdLst>
              <a:gd name="T0" fmla="*/ 2147483647 w 43"/>
              <a:gd name="T1" fmla="*/ 0 h 43"/>
              <a:gd name="T2" fmla="*/ 0 w 43"/>
              <a:gd name="T3" fmla="*/ 2147483647 h 43"/>
              <a:gd name="T4" fmla="*/ 2147483647 w 43"/>
              <a:gd name="T5" fmla="*/ 2147483647 h 43"/>
              <a:gd name="T6" fmla="*/ 2147483647 w 43"/>
              <a:gd name="T7" fmla="*/ 0 h 43"/>
              <a:gd name="T8" fmla="*/ 2147483647 w 43"/>
              <a:gd name="T9" fmla="*/ 0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3"/>
              <a:gd name="T17" fmla="*/ 43 w 43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3">
                <a:moveTo>
                  <a:pt x="5" y="0"/>
                </a:moveTo>
                <a:lnTo>
                  <a:pt x="0" y="43"/>
                </a:lnTo>
                <a:lnTo>
                  <a:pt x="43" y="28"/>
                </a:lnTo>
                <a:lnTo>
                  <a:pt x="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6" name="Freeform 197"/>
          <p:cNvSpPr>
            <a:spLocks/>
          </p:cNvSpPr>
          <p:nvPr/>
        </p:nvSpPr>
        <p:spPr bwMode="auto">
          <a:xfrm>
            <a:off x="5684838" y="5508625"/>
            <a:ext cx="71437" cy="65088"/>
          </a:xfrm>
          <a:custGeom>
            <a:avLst/>
            <a:gdLst>
              <a:gd name="T0" fmla="*/ 0 w 45"/>
              <a:gd name="T1" fmla="*/ 0 h 41"/>
              <a:gd name="T2" fmla="*/ 2147483647 w 45"/>
              <a:gd name="T3" fmla="*/ 2147483647 h 41"/>
              <a:gd name="T4" fmla="*/ 2147483647 w 45"/>
              <a:gd name="T5" fmla="*/ 2147483647 h 41"/>
              <a:gd name="T6" fmla="*/ 0 w 45"/>
              <a:gd name="T7" fmla="*/ 0 h 41"/>
              <a:gd name="T8" fmla="*/ 0 w 45"/>
              <a:gd name="T9" fmla="*/ 0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41"/>
              <a:gd name="T17" fmla="*/ 45 w 45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41">
                <a:moveTo>
                  <a:pt x="0" y="0"/>
                </a:moveTo>
                <a:lnTo>
                  <a:pt x="10" y="41"/>
                </a:lnTo>
                <a:lnTo>
                  <a:pt x="45" y="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7" name="Freeform 198"/>
          <p:cNvSpPr>
            <a:spLocks/>
          </p:cNvSpPr>
          <p:nvPr/>
        </p:nvSpPr>
        <p:spPr bwMode="auto">
          <a:xfrm>
            <a:off x="5684838" y="5222875"/>
            <a:ext cx="71437" cy="68263"/>
          </a:xfrm>
          <a:custGeom>
            <a:avLst/>
            <a:gdLst>
              <a:gd name="T0" fmla="*/ 0 w 45"/>
              <a:gd name="T1" fmla="*/ 0 h 43"/>
              <a:gd name="T2" fmla="*/ 2147483647 w 45"/>
              <a:gd name="T3" fmla="*/ 2147483647 h 43"/>
              <a:gd name="T4" fmla="*/ 2147483647 w 45"/>
              <a:gd name="T5" fmla="*/ 2147483647 h 43"/>
              <a:gd name="T6" fmla="*/ 2147483647 w 45"/>
              <a:gd name="T7" fmla="*/ 0 h 43"/>
              <a:gd name="T8" fmla="*/ 2147483647 w 45"/>
              <a:gd name="T9" fmla="*/ 0 h 43"/>
              <a:gd name="T10" fmla="*/ 0 w 45"/>
              <a:gd name="T11" fmla="*/ 0 h 4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5"/>
              <a:gd name="T19" fmla="*/ 0 h 43"/>
              <a:gd name="T20" fmla="*/ 45 w 45"/>
              <a:gd name="T21" fmla="*/ 43 h 4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5" h="43">
                <a:moveTo>
                  <a:pt x="0" y="0"/>
                </a:moveTo>
                <a:lnTo>
                  <a:pt x="5" y="43"/>
                </a:lnTo>
                <a:lnTo>
                  <a:pt x="45" y="20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8" name="Line 199"/>
          <p:cNvSpPr>
            <a:spLocks noChangeShapeType="1"/>
          </p:cNvSpPr>
          <p:nvPr/>
        </p:nvSpPr>
        <p:spPr bwMode="auto">
          <a:xfrm>
            <a:off x="3165475" y="4786313"/>
            <a:ext cx="2590800" cy="19843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19" name="Line 200"/>
          <p:cNvSpPr>
            <a:spLocks noChangeShapeType="1"/>
          </p:cNvSpPr>
          <p:nvPr/>
        </p:nvSpPr>
        <p:spPr bwMode="auto">
          <a:xfrm flipV="1">
            <a:off x="3178175" y="5537200"/>
            <a:ext cx="2538413" cy="4603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20" name="Line 201"/>
          <p:cNvSpPr>
            <a:spLocks noChangeShapeType="1"/>
          </p:cNvSpPr>
          <p:nvPr/>
        </p:nvSpPr>
        <p:spPr bwMode="auto">
          <a:xfrm flipV="1">
            <a:off x="3165475" y="5254625"/>
            <a:ext cx="2590800" cy="1365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30921" name="Text Box 202"/>
          <p:cNvSpPr txBox="1">
            <a:spLocks noChangeArrowheads="1"/>
          </p:cNvSpPr>
          <p:nvPr/>
        </p:nvSpPr>
        <p:spPr bwMode="auto">
          <a:xfrm>
            <a:off x="5756275" y="1070303"/>
            <a:ext cx="32228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</a:rPr>
              <a:t>TLB</a:t>
            </a:r>
            <a:r>
              <a:rPr lang="en-US" altLang="en-US" sz="2800">
                <a:solidFill>
                  <a:srgbClr val="C00000"/>
                </a:solidFill>
              </a:rPr>
              <a:t>: a </a:t>
            </a:r>
            <a:r>
              <a:rPr lang="en-US" altLang="en-US" sz="2800" dirty="0">
                <a:solidFill>
                  <a:srgbClr val="C00000"/>
                </a:solidFill>
              </a:rPr>
              <a:t>$ for the PT</a:t>
            </a:r>
          </a:p>
        </p:txBody>
      </p:sp>
      <p:sp>
        <p:nvSpPr>
          <p:cNvPr id="30922" name="Text Box 203"/>
          <p:cNvSpPr txBox="1">
            <a:spLocks noChangeArrowheads="1"/>
          </p:cNvSpPr>
          <p:nvPr/>
        </p:nvSpPr>
        <p:spPr bwMode="auto">
          <a:xfrm>
            <a:off x="791369" y="5322094"/>
            <a:ext cx="11715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C00000"/>
                </a:solidFill>
              </a:rPr>
              <a:t>page</a:t>
            </a:r>
            <a:br>
              <a:rPr lang="en-US" altLang="en-US" sz="2800" dirty="0">
                <a:solidFill>
                  <a:srgbClr val="C00000"/>
                </a:solidFill>
              </a:rPr>
            </a:br>
            <a:r>
              <a:rPr lang="en-US" altLang="en-US" sz="2800" dirty="0">
                <a:solidFill>
                  <a:srgbClr val="C00000"/>
                </a:solidFill>
              </a:rPr>
              <a:t>table</a:t>
            </a:r>
          </a:p>
        </p:txBody>
      </p:sp>
      <p:sp>
        <p:nvSpPr>
          <p:cNvPr id="30923" name="Text Box 204"/>
          <p:cNvSpPr txBox="1">
            <a:spLocks noChangeArrowheads="1"/>
          </p:cNvSpPr>
          <p:nvPr/>
        </p:nvSpPr>
        <p:spPr bwMode="auto">
          <a:xfrm>
            <a:off x="2892425" y="1206500"/>
            <a:ext cx="1171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/>
              <a:t>tag</a:t>
            </a:r>
          </a:p>
        </p:txBody>
      </p:sp>
      <p:sp>
        <p:nvSpPr>
          <p:cNvPr id="30924" name="Text Box 205"/>
          <p:cNvSpPr txBox="1">
            <a:spLocks noChangeArrowheads="1"/>
          </p:cNvSpPr>
          <p:nvPr/>
        </p:nvSpPr>
        <p:spPr bwMode="auto">
          <a:xfrm>
            <a:off x="3683000" y="1054100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/>
              <a:t>physical page</a:t>
            </a:r>
            <a:br>
              <a:rPr lang="en-US" altLang="en-US" sz="1400" dirty="0"/>
            </a:br>
            <a:r>
              <a:rPr lang="en-US" altLang="en-US" sz="1400" dirty="0"/>
              <a:t>number</a:t>
            </a:r>
          </a:p>
        </p:txBody>
      </p:sp>
      <p:sp>
        <p:nvSpPr>
          <p:cNvPr id="30925" name="Text Box 206"/>
          <p:cNvSpPr txBox="1">
            <a:spLocks noChangeArrowheads="1"/>
          </p:cNvSpPr>
          <p:nvPr/>
        </p:nvSpPr>
        <p:spPr bwMode="auto">
          <a:xfrm>
            <a:off x="2387600" y="12065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V</a:t>
            </a:r>
          </a:p>
        </p:txBody>
      </p:sp>
      <p:sp>
        <p:nvSpPr>
          <p:cNvPr id="30926" name="Text Box 207"/>
          <p:cNvSpPr txBox="1">
            <a:spLocks noChangeArrowheads="1"/>
          </p:cNvSpPr>
          <p:nvPr/>
        </p:nvSpPr>
        <p:spPr bwMode="auto">
          <a:xfrm>
            <a:off x="2311400" y="33401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V</a:t>
            </a:r>
          </a:p>
        </p:txBody>
      </p:sp>
      <p:sp>
        <p:nvSpPr>
          <p:cNvPr id="30927" name="Text Box 208"/>
          <p:cNvSpPr txBox="1">
            <a:spLocks noChangeArrowheads="1"/>
          </p:cNvSpPr>
          <p:nvPr/>
        </p:nvSpPr>
        <p:spPr bwMode="auto">
          <a:xfrm>
            <a:off x="2616200" y="3111500"/>
            <a:ext cx="2209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Physical Page Number</a:t>
            </a:r>
            <a:br>
              <a:rPr lang="en-US" altLang="en-US" sz="1400"/>
            </a:br>
            <a:r>
              <a:rPr lang="en-US" altLang="en-US" sz="1400"/>
              <a:t>or Disk Address</a:t>
            </a:r>
          </a:p>
        </p:txBody>
      </p:sp>
      <p:sp>
        <p:nvSpPr>
          <p:cNvPr id="30928" name="Text Box 209"/>
          <p:cNvSpPr txBox="1">
            <a:spLocks noChangeArrowheads="1"/>
          </p:cNvSpPr>
          <p:nvPr/>
        </p:nvSpPr>
        <p:spPr bwMode="auto">
          <a:xfrm>
            <a:off x="6045200" y="1892300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Physical Memory</a:t>
            </a:r>
          </a:p>
        </p:txBody>
      </p:sp>
      <p:sp>
        <p:nvSpPr>
          <p:cNvPr id="30929" name="Text Box 210"/>
          <p:cNvSpPr txBox="1">
            <a:spLocks noChangeArrowheads="1"/>
          </p:cNvSpPr>
          <p:nvPr/>
        </p:nvSpPr>
        <p:spPr bwMode="auto">
          <a:xfrm>
            <a:off x="6426200" y="4178300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/>
              <a:t>Disk</a:t>
            </a:r>
          </a:p>
        </p:txBody>
      </p:sp>
      <p:sp>
        <p:nvSpPr>
          <p:cNvPr id="212" name="Text Box 205"/>
          <p:cNvSpPr txBox="1">
            <a:spLocks noChangeArrowheads="1"/>
          </p:cNvSpPr>
          <p:nvPr/>
        </p:nvSpPr>
        <p:spPr bwMode="auto">
          <a:xfrm>
            <a:off x="1034257" y="1042849"/>
            <a:ext cx="2209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/>
              <a:t>virtual page</a:t>
            </a:r>
            <a:br>
              <a:rPr lang="en-US" altLang="en-US" sz="1400" dirty="0"/>
            </a:br>
            <a:r>
              <a:rPr lang="en-US" altLang="en-US" sz="1400" dirty="0"/>
              <a:t>number</a:t>
            </a:r>
          </a:p>
        </p:txBody>
      </p:sp>
      <p:cxnSp>
        <p:nvCxnSpPr>
          <p:cNvPr id="3" name="Straight Arrow Connector 2"/>
          <p:cNvCxnSpPr>
            <a:endCxn id="30823" idx="0"/>
          </p:cNvCxnSpPr>
          <p:nvPr/>
        </p:nvCxnSpPr>
        <p:spPr bwMode="auto">
          <a:xfrm flipH="1">
            <a:off x="5067301" y="1392565"/>
            <a:ext cx="617537" cy="2155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5" name="Straight Arrow Connector 214"/>
          <p:cNvCxnSpPr/>
          <p:nvPr/>
        </p:nvCxnSpPr>
        <p:spPr bwMode="auto">
          <a:xfrm flipV="1">
            <a:off x="1770063" y="5508625"/>
            <a:ext cx="503238" cy="18573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03200"/>
            <a:ext cx="7772400" cy="863600"/>
          </a:xfrm>
        </p:spPr>
        <p:txBody>
          <a:bodyPr/>
          <a:lstStyle/>
          <a:p>
            <a:pPr eaLnBrk="1" hangingPunct="1">
              <a:lnSpc>
                <a:spcPct val="60000"/>
              </a:lnSpc>
            </a:pPr>
            <a:r>
              <a:rPr lang="en-US" altLang="en-US" b="1" dirty="0">
                <a:latin typeface="Arial  " charset="0"/>
              </a:rPr>
              <a:t>Writes and evictions</a:t>
            </a:r>
          </a:p>
        </p:txBody>
      </p:sp>
      <p:pic>
        <p:nvPicPr>
          <p:cNvPr id="31746" name="Picture 4" descr="19~Figure_7.23.jpg                                             00072E5Bmbp                            C32F937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1190625"/>
            <a:ext cx="6816725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50624" y="6213475"/>
            <a:ext cx="7734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+ permission bits (read-only, execute), sharing info, etc.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latin typeface="Arial  " charset="0"/>
              </a:rPr>
              <a:t>I$ access w/ address translation</a:t>
            </a:r>
          </a:p>
        </p:txBody>
      </p:sp>
      <p:grpSp>
        <p:nvGrpSpPr>
          <p:cNvPr id="34818" name="Group 3"/>
          <p:cNvGrpSpPr>
            <a:grpSpLocks noChangeAspect="1"/>
          </p:cNvGrpSpPr>
          <p:nvPr/>
        </p:nvGrpSpPr>
        <p:grpSpPr bwMode="auto">
          <a:xfrm>
            <a:off x="2793248" y="1014676"/>
            <a:ext cx="5867400" cy="5499100"/>
            <a:chOff x="1333" y="960"/>
            <a:chExt cx="3093" cy="2899"/>
          </a:xfrm>
        </p:grpSpPr>
        <p:sp>
          <p:nvSpPr>
            <p:cNvPr id="34824" name="AutoShape 4"/>
            <p:cNvSpPr>
              <a:spLocks noChangeAspect="1" noChangeArrowheads="1" noTextEdit="1"/>
            </p:cNvSpPr>
            <p:nvPr/>
          </p:nvSpPr>
          <p:spPr bwMode="auto">
            <a:xfrm>
              <a:off x="1333" y="1008"/>
              <a:ext cx="3093" cy="2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grpSp>
          <p:nvGrpSpPr>
            <p:cNvPr id="34825" name="Group 5"/>
            <p:cNvGrpSpPr>
              <a:grpSpLocks/>
            </p:cNvGrpSpPr>
            <p:nvPr/>
          </p:nvGrpSpPr>
          <p:grpSpPr bwMode="auto">
            <a:xfrm>
              <a:off x="1336" y="960"/>
              <a:ext cx="3083" cy="2892"/>
              <a:chOff x="1336" y="960"/>
              <a:chExt cx="3083" cy="2892"/>
            </a:xfrm>
          </p:grpSpPr>
          <p:sp>
            <p:nvSpPr>
              <p:cNvPr id="34995" name="Freeform 6"/>
              <p:cNvSpPr>
                <a:spLocks/>
              </p:cNvSpPr>
              <p:nvPr/>
            </p:nvSpPr>
            <p:spPr bwMode="auto">
              <a:xfrm>
                <a:off x="1771" y="3014"/>
                <a:ext cx="2646" cy="554"/>
              </a:xfrm>
              <a:custGeom>
                <a:avLst/>
                <a:gdLst>
                  <a:gd name="T0" fmla="*/ 2646 w 2646"/>
                  <a:gd name="T1" fmla="*/ 554 h 554"/>
                  <a:gd name="T2" fmla="*/ 2646 w 2646"/>
                  <a:gd name="T3" fmla="*/ 0 h 554"/>
                  <a:gd name="T4" fmla="*/ 0 w 2646"/>
                  <a:gd name="T5" fmla="*/ 0 h 554"/>
                  <a:gd name="T6" fmla="*/ 0 w 2646"/>
                  <a:gd name="T7" fmla="*/ 554 h 554"/>
                  <a:gd name="T8" fmla="*/ 2646 w 2646"/>
                  <a:gd name="T9" fmla="*/ 554 h 554"/>
                  <a:gd name="T10" fmla="*/ 2646 w 2646"/>
                  <a:gd name="T11" fmla="*/ 554 h 5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46"/>
                  <a:gd name="T19" fmla="*/ 0 h 554"/>
                  <a:gd name="T20" fmla="*/ 2646 w 2646"/>
                  <a:gd name="T21" fmla="*/ 554 h 55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46" h="554">
                    <a:moveTo>
                      <a:pt x="2646" y="554"/>
                    </a:moveTo>
                    <a:lnTo>
                      <a:pt x="2646" y="0"/>
                    </a:lnTo>
                    <a:lnTo>
                      <a:pt x="0" y="0"/>
                    </a:lnTo>
                    <a:lnTo>
                      <a:pt x="0" y="554"/>
                    </a:lnTo>
                    <a:lnTo>
                      <a:pt x="2646" y="554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4996" name="Rectangle 7"/>
              <p:cNvSpPr>
                <a:spLocks noChangeArrowheads="1"/>
              </p:cNvSpPr>
              <p:nvPr/>
            </p:nvSpPr>
            <p:spPr bwMode="auto">
              <a:xfrm>
                <a:off x="1742" y="2934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V</a:t>
                </a:r>
                <a:endParaRPr lang="en-US" altLang="en-US" b="1"/>
              </a:p>
            </p:txBody>
          </p:sp>
          <p:sp>
            <p:nvSpPr>
              <p:cNvPr id="34997" name="Rectangle 8"/>
              <p:cNvSpPr>
                <a:spLocks noChangeArrowheads="1"/>
              </p:cNvSpPr>
              <p:nvPr/>
            </p:nvSpPr>
            <p:spPr bwMode="auto">
              <a:xfrm>
                <a:off x="1779" y="2934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4998" name="Rectangle 9"/>
              <p:cNvSpPr>
                <a:spLocks noChangeArrowheads="1"/>
              </p:cNvSpPr>
              <p:nvPr/>
            </p:nvSpPr>
            <p:spPr bwMode="auto">
              <a:xfrm>
                <a:off x="1812" y="2934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34999" name="Rectangle 10"/>
              <p:cNvSpPr>
                <a:spLocks noChangeArrowheads="1"/>
              </p:cNvSpPr>
              <p:nvPr/>
            </p:nvSpPr>
            <p:spPr bwMode="auto">
              <a:xfrm>
                <a:off x="1824" y="2934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35000" name="Rectangle 11"/>
              <p:cNvSpPr>
                <a:spLocks noChangeArrowheads="1"/>
              </p:cNvSpPr>
              <p:nvPr/>
            </p:nvSpPr>
            <p:spPr bwMode="auto">
              <a:xfrm>
                <a:off x="1836" y="2934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001" name="Rectangle 12"/>
              <p:cNvSpPr>
                <a:spLocks noChangeArrowheads="1"/>
              </p:cNvSpPr>
              <p:nvPr/>
            </p:nvSpPr>
            <p:spPr bwMode="auto">
              <a:xfrm>
                <a:off x="2231" y="2930"/>
                <a:ext cx="28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002" name="Rectangle 13"/>
              <p:cNvSpPr>
                <a:spLocks noChangeArrowheads="1"/>
              </p:cNvSpPr>
              <p:nvPr/>
            </p:nvSpPr>
            <p:spPr bwMode="auto">
              <a:xfrm>
                <a:off x="2265" y="293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03" name="Rectangle 14"/>
              <p:cNvSpPr>
                <a:spLocks noChangeArrowheads="1"/>
              </p:cNvSpPr>
              <p:nvPr/>
            </p:nvSpPr>
            <p:spPr bwMode="auto">
              <a:xfrm>
                <a:off x="2297" y="293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35004" name="Rectangle 15"/>
              <p:cNvSpPr>
                <a:spLocks noChangeArrowheads="1"/>
              </p:cNvSpPr>
              <p:nvPr/>
            </p:nvSpPr>
            <p:spPr bwMode="auto">
              <a:xfrm>
                <a:off x="3518" y="2932"/>
                <a:ext cx="3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005" name="Rectangle 16"/>
              <p:cNvSpPr>
                <a:spLocks noChangeArrowheads="1"/>
              </p:cNvSpPr>
              <p:nvPr/>
            </p:nvSpPr>
            <p:spPr bwMode="auto">
              <a:xfrm>
                <a:off x="3559" y="293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06" name="Rectangle 17"/>
              <p:cNvSpPr>
                <a:spLocks noChangeArrowheads="1"/>
              </p:cNvSpPr>
              <p:nvPr/>
            </p:nvSpPr>
            <p:spPr bwMode="auto">
              <a:xfrm>
                <a:off x="3592" y="2933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007" name="Rectangle 18"/>
              <p:cNvSpPr>
                <a:spLocks noChangeArrowheads="1"/>
              </p:cNvSpPr>
              <p:nvPr/>
            </p:nvSpPr>
            <p:spPr bwMode="auto">
              <a:xfrm>
                <a:off x="3607" y="293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08" name="Freeform 19"/>
              <p:cNvSpPr>
                <a:spLocks/>
              </p:cNvSpPr>
              <p:nvPr/>
            </p:nvSpPr>
            <p:spPr bwMode="auto">
              <a:xfrm>
                <a:off x="1772" y="3329"/>
                <a:ext cx="2647" cy="78"/>
              </a:xfrm>
              <a:custGeom>
                <a:avLst/>
                <a:gdLst>
                  <a:gd name="T0" fmla="*/ 2645 w 2647"/>
                  <a:gd name="T1" fmla="*/ 77 h 78"/>
                  <a:gd name="T2" fmla="*/ 2647 w 2647"/>
                  <a:gd name="T3" fmla="*/ 0 h 78"/>
                  <a:gd name="T4" fmla="*/ 0 w 2647"/>
                  <a:gd name="T5" fmla="*/ 0 h 78"/>
                  <a:gd name="T6" fmla="*/ 0 w 2647"/>
                  <a:gd name="T7" fmla="*/ 78 h 78"/>
                  <a:gd name="T8" fmla="*/ 2645 w 2647"/>
                  <a:gd name="T9" fmla="*/ 78 h 78"/>
                  <a:gd name="T10" fmla="*/ 2645 w 2647"/>
                  <a:gd name="T11" fmla="*/ 78 h 78"/>
                  <a:gd name="T12" fmla="*/ 2645 w 2647"/>
                  <a:gd name="T13" fmla="*/ 77 h 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647"/>
                  <a:gd name="T22" fmla="*/ 0 h 78"/>
                  <a:gd name="T23" fmla="*/ 2647 w 2647"/>
                  <a:gd name="T24" fmla="*/ 78 h 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647" h="78">
                    <a:moveTo>
                      <a:pt x="2645" y="77"/>
                    </a:moveTo>
                    <a:lnTo>
                      <a:pt x="2647" y="0"/>
                    </a:lnTo>
                    <a:lnTo>
                      <a:pt x="0" y="0"/>
                    </a:lnTo>
                    <a:lnTo>
                      <a:pt x="0" y="78"/>
                    </a:lnTo>
                    <a:lnTo>
                      <a:pt x="2645" y="78"/>
                    </a:lnTo>
                    <a:lnTo>
                      <a:pt x="2645" y="77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09" name="Freeform 20"/>
              <p:cNvSpPr>
                <a:spLocks/>
              </p:cNvSpPr>
              <p:nvPr/>
            </p:nvSpPr>
            <p:spPr bwMode="auto">
              <a:xfrm>
                <a:off x="1772" y="3329"/>
                <a:ext cx="2647" cy="78"/>
              </a:xfrm>
              <a:custGeom>
                <a:avLst/>
                <a:gdLst>
                  <a:gd name="T0" fmla="*/ 2645 w 2647"/>
                  <a:gd name="T1" fmla="*/ 77 h 78"/>
                  <a:gd name="T2" fmla="*/ 2647 w 2647"/>
                  <a:gd name="T3" fmla="*/ 0 h 78"/>
                  <a:gd name="T4" fmla="*/ 0 w 2647"/>
                  <a:gd name="T5" fmla="*/ 0 h 78"/>
                  <a:gd name="T6" fmla="*/ 0 w 2647"/>
                  <a:gd name="T7" fmla="*/ 78 h 78"/>
                  <a:gd name="T8" fmla="*/ 2645 w 2647"/>
                  <a:gd name="T9" fmla="*/ 78 h 78"/>
                  <a:gd name="T10" fmla="*/ 2645 w 2647"/>
                  <a:gd name="T11" fmla="*/ 78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47"/>
                  <a:gd name="T19" fmla="*/ 0 h 78"/>
                  <a:gd name="T20" fmla="*/ 2647 w 2647"/>
                  <a:gd name="T21" fmla="*/ 78 h 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47" h="78">
                    <a:moveTo>
                      <a:pt x="2645" y="77"/>
                    </a:moveTo>
                    <a:lnTo>
                      <a:pt x="2647" y="0"/>
                    </a:lnTo>
                    <a:lnTo>
                      <a:pt x="0" y="0"/>
                    </a:lnTo>
                    <a:lnTo>
                      <a:pt x="0" y="78"/>
                    </a:lnTo>
                    <a:lnTo>
                      <a:pt x="2645" y="78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0" name="Line 21"/>
              <p:cNvSpPr>
                <a:spLocks noChangeShapeType="1"/>
              </p:cNvSpPr>
              <p:nvPr/>
            </p:nvSpPr>
            <p:spPr bwMode="auto">
              <a:xfrm flipH="1">
                <a:off x="1771" y="3093"/>
                <a:ext cx="2646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1" name="Line 22"/>
              <p:cNvSpPr>
                <a:spLocks noChangeShapeType="1"/>
              </p:cNvSpPr>
              <p:nvPr/>
            </p:nvSpPr>
            <p:spPr bwMode="auto">
              <a:xfrm flipH="1">
                <a:off x="1771" y="3171"/>
                <a:ext cx="2646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2" name="Line 23"/>
              <p:cNvSpPr>
                <a:spLocks noChangeShapeType="1"/>
              </p:cNvSpPr>
              <p:nvPr/>
            </p:nvSpPr>
            <p:spPr bwMode="auto">
              <a:xfrm flipH="1">
                <a:off x="1771" y="3250"/>
                <a:ext cx="2646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3" name="Line 24"/>
              <p:cNvSpPr>
                <a:spLocks noChangeShapeType="1"/>
              </p:cNvSpPr>
              <p:nvPr/>
            </p:nvSpPr>
            <p:spPr bwMode="auto">
              <a:xfrm flipH="1">
                <a:off x="1798" y="3406"/>
                <a:ext cx="2619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4" name="Line 25"/>
              <p:cNvSpPr>
                <a:spLocks noChangeShapeType="1"/>
              </p:cNvSpPr>
              <p:nvPr/>
            </p:nvSpPr>
            <p:spPr bwMode="auto">
              <a:xfrm flipH="1">
                <a:off x="1771" y="3484"/>
                <a:ext cx="2646" cy="2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5" name="Line 26"/>
              <p:cNvSpPr>
                <a:spLocks noChangeShapeType="1"/>
              </p:cNvSpPr>
              <p:nvPr/>
            </p:nvSpPr>
            <p:spPr bwMode="auto">
              <a:xfrm>
                <a:off x="1836" y="3018"/>
                <a:ext cx="1" cy="552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6" name="Line 27"/>
              <p:cNvSpPr>
                <a:spLocks noChangeShapeType="1"/>
              </p:cNvSpPr>
              <p:nvPr/>
            </p:nvSpPr>
            <p:spPr bwMode="auto">
              <a:xfrm>
                <a:off x="2720" y="3016"/>
                <a:ext cx="1" cy="54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7" name="Line 28"/>
              <p:cNvSpPr>
                <a:spLocks noChangeShapeType="1"/>
              </p:cNvSpPr>
              <p:nvPr/>
            </p:nvSpPr>
            <p:spPr bwMode="auto">
              <a:xfrm flipV="1">
                <a:off x="3053" y="1162"/>
                <a:ext cx="1" cy="10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8" name="Freeform 29"/>
              <p:cNvSpPr>
                <a:spLocks/>
              </p:cNvSpPr>
              <p:nvPr/>
            </p:nvSpPr>
            <p:spPr bwMode="auto">
              <a:xfrm>
                <a:off x="1981" y="1162"/>
                <a:ext cx="1756" cy="104"/>
              </a:xfrm>
              <a:custGeom>
                <a:avLst/>
                <a:gdLst>
                  <a:gd name="T0" fmla="*/ 0 w 1756"/>
                  <a:gd name="T1" fmla="*/ 104 h 104"/>
                  <a:gd name="T2" fmla="*/ 0 w 1756"/>
                  <a:gd name="T3" fmla="*/ 0 h 104"/>
                  <a:gd name="T4" fmla="*/ 1756 w 1756"/>
                  <a:gd name="T5" fmla="*/ 0 h 104"/>
                  <a:gd name="T6" fmla="*/ 1756 w 1756"/>
                  <a:gd name="T7" fmla="*/ 104 h 104"/>
                  <a:gd name="T8" fmla="*/ 0 w 1756"/>
                  <a:gd name="T9" fmla="*/ 104 h 104"/>
                  <a:gd name="T10" fmla="*/ 0 w 1756"/>
                  <a:gd name="T11" fmla="*/ 104 h 10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56"/>
                  <a:gd name="T19" fmla="*/ 0 h 104"/>
                  <a:gd name="T20" fmla="*/ 1756 w 1756"/>
                  <a:gd name="T21" fmla="*/ 104 h 10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56" h="104">
                    <a:moveTo>
                      <a:pt x="0" y="104"/>
                    </a:moveTo>
                    <a:lnTo>
                      <a:pt x="0" y="0"/>
                    </a:lnTo>
                    <a:lnTo>
                      <a:pt x="1756" y="0"/>
                    </a:lnTo>
                    <a:lnTo>
                      <a:pt x="1756" y="104"/>
                    </a:lnTo>
                    <a:lnTo>
                      <a:pt x="0" y="104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019" name="Rectangle 30"/>
              <p:cNvSpPr>
                <a:spLocks noChangeArrowheads="1"/>
              </p:cNvSpPr>
              <p:nvPr/>
            </p:nvSpPr>
            <p:spPr bwMode="auto">
              <a:xfrm>
                <a:off x="3209" y="1179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35020" name="Rectangle 31"/>
              <p:cNvSpPr>
                <a:spLocks noChangeArrowheads="1"/>
              </p:cNvSpPr>
              <p:nvPr/>
            </p:nvSpPr>
            <p:spPr bwMode="auto">
              <a:xfrm>
                <a:off x="3246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21" name="Rectangle 32"/>
              <p:cNvSpPr>
                <a:spLocks noChangeArrowheads="1"/>
              </p:cNvSpPr>
              <p:nvPr/>
            </p:nvSpPr>
            <p:spPr bwMode="auto">
              <a:xfrm>
                <a:off x="3279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35022" name="Rectangle 33"/>
              <p:cNvSpPr>
                <a:spLocks noChangeArrowheads="1"/>
              </p:cNvSpPr>
              <p:nvPr/>
            </p:nvSpPr>
            <p:spPr bwMode="auto">
              <a:xfrm>
                <a:off x="3310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23" name="Rectangle 34"/>
              <p:cNvSpPr>
                <a:spLocks noChangeArrowheads="1"/>
              </p:cNvSpPr>
              <p:nvPr/>
            </p:nvSpPr>
            <p:spPr bwMode="auto">
              <a:xfrm>
                <a:off x="3342" y="1179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024" name="Rectangle 35"/>
              <p:cNvSpPr>
                <a:spLocks noChangeArrowheads="1"/>
              </p:cNvSpPr>
              <p:nvPr/>
            </p:nvSpPr>
            <p:spPr bwMode="auto">
              <a:xfrm>
                <a:off x="3357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o</a:t>
                </a:r>
                <a:endParaRPr lang="en-US" altLang="en-US" b="1"/>
              </a:p>
            </p:txBody>
          </p:sp>
          <p:sp>
            <p:nvSpPr>
              <p:cNvPr id="35025" name="Rectangle 36"/>
              <p:cNvSpPr>
                <a:spLocks noChangeArrowheads="1"/>
              </p:cNvSpPr>
              <p:nvPr/>
            </p:nvSpPr>
            <p:spPr bwMode="auto">
              <a:xfrm>
                <a:off x="3390" y="1179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35026" name="Rectangle 37"/>
              <p:cNvSpPr>
                <a:spLocks noChangeArrowheads="1"/>
              </p:cNvSpPr>
              <p:nvPr/>
            </p:nvSpPr>
            <p:spPr bwMode="auto">
              <a:xfrm>
                <a:off x="3405" y="1179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35027" name="Rectangle 38"/>
              <p:cNvSpPr>
                <a:spLocks noChangeArrowheads="1"/>
              </p:cNvSpPr>
              <p:nvPr/>
            </p:nvSpPr>
            <p:spPr bwMode="auto">
              <a:xfrm>
                <a:off x="3421" y="1179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35028" name="Rectangle 39"/>
              <p:cNvSpPr>
                <a:spLocks noChangeArrowheads="1"/>
              </p:cNvSpPr>
              <p:nvPr/>
            </p:nvSpPr>
            <p:spPr bwMode="auto">
              <a:xfrm>
                <a:off x="3450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29" name="Rectangle 40"/>
              <p:cNvSpPr>
                <a:spLocks noChangeArrowheads="1"/>
              </p:cNvSpPr>
              <p:nvPr/>
            </p:nvSpPr>
            <p:spPr bwMode="auto">
              <a:xfrm>
                <a:off x="3480" y="1179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030" name="Rectangle 41"/>
              <p:cNvSpPr>
                <a:spLocks noChangeArrowheads="1"/>
              </p:cNvSpPr>
              <p:nvPr/>
            </p:nvSpPr>
            <p:spPr bwMode="auto">
              <a:xfrm>
                <a:off x="3689" y="2340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35031" name="Rectangle 42"/>
              <p:cNvSpPr>
                <a:spLocks noChangeArrowheads="1"/>
              </p:cNvSpPr>
              <p:nvPr/>
            </p:nvSpPr>
            <p:spPr bwMode="auto">
              <a:xfrm>
                <a:off x="3727" y="234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32" name="Rectangle 43"/>
              <p:cNvSpPr>
                <a:spLocks noChangeArrowheads="1"/>
              </p:cNvSpPr>
              <p:nvPr/>
            </p:nvSpPr>
            <p:spPr bwMode="auto">
              <a:xfrm>
                <a:off x="3759" y="234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35033" name="Rectangle 44"/>
              <p:cNvSpPr>
                <a:spLocks noChangeArrowheads="1"/>
              </p:cNvSpPr>
              <p:nvPr/>
            </p:nvSpPr>
            <p:spPr bwMode="auto">
              <a:xfrm>
                <a:off x="3790" y="234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34" name="Rectangle 45"/>
              <p:cNvSpPr>
                <a:spLocks noChangeArrowheads="1"/>
              </p:cNvSpPr>
              <p:nvPr/>
            </p:nvSpPr>
            <p:spPr bwMode="auto">
              <a:xfrm>
                <a:off x="3822" y="2340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035" name="Rectangle 46"/>
              <p:cNvSpPr>
                <a:spLocks noChangeArrowheads="1"/>
              </p:cNvSpPr>
              <p:nvPr/>
            </p:nvSpPr>
            <p:spPr bwMode="auto">
              <a:xfrm>
                <a:off x="3838" y="234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o</a:t>
                </a:r>
                <a:endParaRPr lang="en-US" altLang="en-US" b="1"/>
              </a:p>
            </p:txBody>
          </p:sp>
          <p:sp>
            <p:nvSpPr>
              <p:cNvPr id="35036" name="Rectangle 47"/>
              <p:cNvSpPr>
                <a:spLocks noChangeArrowheads="1"/>
              </p:cNvSpPr>
              <p:nvPr/>
            </p:nvSpPr>
            <p:spPr bwMode="auto">
              <a:xfrm>
                <a:off x="3870" y="2340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35037" name="Rectangle 48"/>
              <p:cNvSpPr>
                <a:spLocks noChangeArrowheads="1"/>
              </p:cNvSpPr>
              <p:nvPr/>
            </p:nvSpPr>
            <p:spPr bwMode="auto">
              <a:xfrm>
                <a:off x="3886" y="2340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35038" name="Rectangle 49"/>
              <p:cNvSpPr>
                <a:spLocks noChangeArrowheads="1"/>
              </p:cNvSpPr>
              <p:nvPr/>
            </p:nvSpPr>
            <p:spPr bwMode="auto">
              <a:xfrm>
                <a:off x="3901" y="2340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35039" name="Rectangle 50"/>
              <p:cNvSpPr>
                <a:spLocks noChangeArrowheads="1"/>
              </p:cNvSpPr>
              <p:nvPr/>
            </p:nvSpPr>
            <p:spPr bwMode="auto">
              <a:xfrm>
                <a:off x="3930" y="234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40" name="Rectangle 51"/>
              <p:cNvSpPr>
                <a:spLocks noChangeArrowheads="1"/>
              </p:cNvSpPr>
              <p:nvPr/>
            </p:nvSpPr>
            <p:spPr bwMode="auto">
              <a:xfrm>
                <a:off x="3961" y="2340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041" name="Rectangle 52"/>
              <p:cNvSpPr>
                <a:spLocks noChangeArrowheads="1"/>
              </p:cNvSpPr>
              <p:nvPr/>
            </p:nvSpPr>
            <p:spPr bwMode="auto">
              <a:xfrm>
                <a:off x="2378" y="1179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V</a:t>
                </a:r>
                <a:endParaRPr lang="en-US" altLang="en-US" b="1"/>
              </a:p>
            </p:txBody>
          </p:sp>
          <p:sp>
            <p:nvSpPr>
              <p:cNvPr id="35042" name="Rectangle 53"/>
              <p:cNvSpPr>
                <a:spLocks noChangeArrowheads="1"/>
              </p:cNvSpPr>
              <p:nvPr/>
            </p:nvSpPr>
            <p:spPr bwMode="auto">
              <a:xfrm>
                <a:off x="2415" y="1179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35043" name="Rectangle 54"/>
              <p:cNvSpPr>
                <a:spLocks noChangeArrowheads="1"/>
              </p:cNvSpPr>
              <p:nvPr/>
            </p:nvSpPr>
            <p:spPr bwMode="auto">
              <a:xfrm>
                <a:off x="2427" y="1179"/>
                <a:ext cx="1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35044" name="Rectangle 55"/>
              <p:cNvSpPr>
                <a:spLocks noChangeArrowheads="1"/>
              </p:cNvSpPr>
              <p:nvPr/>
            </p:nvSpPr>
            <p:spPr bwMode="auto">
              <a:xfrm>
                <a:off x="2446" y="1179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045" name="Rectangle 56"/>
              <p:cNvSpPr>
                <a:spLocks noChangeArrowheads="1"/>
              </p:cNvSpPr>
              <p:nvPr/>
            </p:nvSpPr>
            <p:spPr bwMode="auto">
              <a:xfrm>
                <a:off x="2461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35046" name="Rectangle 57"/>
              <p:cNvSpPr>
                <a:spLocks noChangeArrowheads="1"/>
              </p:cNvSpPr>
              <p:nvPr/>
            </p:nvSpPr>
            <p:spPr bwMode="auto">
              <a:xfrm>
                <a:off x="2494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47" name="Rectangle 58"/>
              <p:cNvSpPr>
                <a:spLocks noChangeArrowheads="1"/>
              </p:cNvSpPr>
              <p:nvPr/>
            </p:nvSpPr>
            <p:spPr bwMode="auto">
              <a:xfrm>
                <a:off x="2526" y="1179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35048" name="Rectangle 59"/>
              <p:cNvSpPr>
                <a:spLocks noChangeArrowheads="1"/>
              </p:cNvSpPr>
              <p:nvPr/>
            </p:nvSpPr>
            <p:spPr bwMode="auto">
              <a:xfrm>
                <a:off x="2538" y="1179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049" name="Rectangle 60"/>
              <p:cNvSpPr>
                <a:spLocks noChangeArrowheads="1"/>
              </p:cNvSpPr>
              <p:nvPr/>
            </p:nvSpPr>
            <p:spPr bwMode="auto">
              <a:xfrm>
                <a:off x="2554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35050" name="Rectangle 61"/>
              <p:cNvSpPr>
                <a:spLocks noChangeArrowheads="1"/>
              </p:cNvSpPr>
              <p:nvPr/>
            </p:nvSpPr>
            <p:spPr bwMode="auto">
              <a:xfrm>
                <a:off x="2586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51" name="Rectangle 62"/>
              <p:cNvSpPr>
                <a:spLocks noChangeArrowheads="1"/>
              </p:cNvSpPr>
              <p:nvPr/>
            </p:nvSpPr>
            <p:spPr bwMode="auto">
              <a:xfrm>
                <a:off x="2617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35052" name="Rectangle 63"/>
              <p:cNvSpPr>
                <a:spLocks noChangeArrowheads="1"/>
              </p:cNvSpPr>
              <p:nvPr/>
            </p:nvSpPr>
            <p:spPr bwMode="auto">
              <a:xfrm>
                <a:off x="2650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53" name="Rectangle 64"/>
              <p:cNvSpPr>
                <a:spLocks noChangeArrowheads="1"/>
              </p:cNvSpPr>
              <p:nvPr/>
            </p:nvSpPr>
            <p:spPr bwMode="auto">
              <a:xfrm>
                <a:off x="2680" y="1179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054" name="Rectangle 65"/>
              <p:cNvSpPr>
                <a:spLocks noChangeArrowheads="1"/>
              </p:cNvSpPr>
              <p:nvPr/>
            </p:nvSpPr>
            <p:spPr bwMode="auto">
              <a:xfrm>
                <a:off x="2697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n</a:t>
                </a:r>
                <a:endParaRPr lang="en-US" altLang="en-US" b="1"/>
              </a:p>
            </p:txBody>
          </p:sp>
          <p:sp>
            <p:nvSpPr>
              <p:cNvPr id="35055" name="Rectangle 66"/>
              <p:cNvSpPr>
                <a:spLocks noChangeArrowheads="1"/>
              </p:cNvSpPr>
              <p:nvPr/>
            </p:nvSpPr>
            <p:spPr bwMode="auto">
              <a:xfrm>
                <a:off x="2728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35056" name="Rectangle 67"/>
              <p:cNvSpPr>
                <a:spLocks noChangeArrowheads="1"/>
              </p:cNvSpPr>
              <p:nvPr/>
            </p:nvSpPr>
            <p:spPr bwMode="auto">
              <a:xfrm>
                <a:off x="2762" y="1179"/>
                <a:ext cx="39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m</a:t>
                </a:r>
                <a:endParaRPr lang="en-US" altLang="en-US" b="1"/>
              </a:p>
            </p:txBody>
          </p:sp>
          <p:sp>
            <p:nvSpPr>
              <p:cNvPr id="35057" name="Rectangle 68"/>
              <p:cNvSpPr>
                <a:spLocks noChangeArrowheads="1"/>
              </p:cNvSpPr>
              <p:nvPr/>
            </p:nvSpPr>
            <p:spPr bwMode="auto">
              <a:xfrm>
                <a:off x="2807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b</a:t>
                </a:r>
                <a:endParaRPr lang="en-US" altLang="en-US" b="1"/>
              </a:p>
            </p:txBody>
          </p:sp>
          <p:sp>
            <p:nvSpPr>
              <p:cNvPr id="35058" name="Rectangle 69"/>
              <p:cNvSpPr>
                <a:spLocks noChangeArrowheads="1"/>
              </p:cNvSpPr>
              <p:nvPr/>
            </p:nvSpPr>
            <p:spPr bwMode="auto">
              <a:xfrm>
                <a:off x="2839" y="11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59" name="Rectangle 70"/>
              <p:cNvSpPr>
                <a:spLocks noChangeArrowheads="1"/>
              </p:cNvSpPr>
              <p:nvPr/>
            </p:nvSpPr>
            <p:spPr bwMode="auto">
              <a:xfrm>
                <a:off x="2870" y="1179"/>
                <a:ext cx="1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35060" name="Rectangle 71"/>
              <p:cNvSpPr>
                <a:spLocks noChangeArrowheads="1"/>
              </p:cNvSpPr>
              <p:nvPr/>
            </p:nvSpPr>
            <p:spPr bwMode="auto">
              <a:xfrm>
                <a:off x="2723" y="960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V</a:t>
                </a:r>
                <a:endParaRPr lang="en-US" altLang="en-US" b="1"/>
              </a:p>
            </p:txBody>
          </p:sp>
          <p:sp>
            <p:nvSpPr>
              <p:cNvPr id="35061" name="Rectangle 72"/>
              <p:cNvSpPr>
                <a:spLocks noChangeArrowheads="1"/>
              </p:cNvSpPr>
              <p:nvPr/>
            </p:nvSpPr>
            <p:spPr bwMode="auto">
              <a:xfrm>
                <a:off x="2761" y="960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35062" name="Rectangle 73"/>
              <p:cNvSpPr>
                <a:spLocks noChangeArrowheads="1"/>
              </p:cNvSpPr>
              <p:nvPr/>
            </p:nvSpPr>
            <p:spPr bwMode="auto">
              <a:xfrm>
                <a:off x="2773" y="960"/>
                <a:ext cx="1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35063" name="Rectangle 74"/>
              <p:cNvSpPr>
                <a:spLocks noChangeArrowheads="1"/>
              </p:cNvSpPr>
              <p:nvPr/>
            </p:nvSpPr>
            <p:spPr bwMode="auto">
              <a:xfrm>
                <a:off x="2791" y="960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064" name="Rectangle 75"/>
              <p:cNvSpPr>
                <a:spLocks noChangeArrowheads="1"/>
              </p:cNvSpPr>
              <p:nvPr/>
            </p:nvSpPr>
            <p:spPr bwMode="auto">
              <a:xfrm>
                <a:off x="2807" y="96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35065" name="Rectangle 76"/>
              <p:cNvSpPr>
                <a:spLocks noChangeArrowheads="1"/>
              </p:cNvSpPr>
              <p:nvPr/>
            </p:nvSpPr>
            <p:spPr bwMode="auto">
              <a:xfrm>
                <a:off x="2839" y="96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66" name="Rectangle 77"/>
              <p:cNvSpPr>
                <a:spLocks noChangeArrowheads="1"/>
              </p:cNvSpPr>
              <p:nvPr/>
            </p:nvSpPr>
            <p:spPr bwMode="auto">
              <a:xfrm>
                <a:off x="2872" y="960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35067" name="Rectangle 78"/>
              <p:cNvSpPr>
                <a:spLocks noChangeArrowheads="1"/>
              </p:cNvSpPr>
              <p:nvPr/>
            </p:nvSpPr>
            <p:spPr bwMode="auto">
              <a:xfrm>
                <a:off x="2884" y="960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068" name="Rectangle 79"/>
              <p:cNvSpPr>
                <a:spLocks noChangeArrowheads="1"/>
              </p:cNvSpPr>
              <p:nvPr/>
            </p:nvSpPr>
            <p:spPr bwMode="auto">
              <a:xfrm>
                <a:off x="2899" y="96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69" name="Rectangle 80"/>
              <p:cNvSpPr>
                <a:spLocks noChangeArrowheads="1"/>
              </p:cNvSpPr>
              <p:nvPr/>
            </p:nvSpPr>
            <p:spPr bwMode="auto">
              <a:xfrm>
                <a:off x="2932" y="96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070" name="Rectangle 81"/>
              <p:cNvSpPr>
                <a:spLocks noChangeArrowheads="1"/>
              </p:cNvSpPr>
              <p:nvPr/>
            </p:nvSpPr>
            <p:spPr bwMode="auto">
              <a:xfrm>
                <a:off x="2962" y="96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071" name="Rectangle 82"/>
              <p:cNvSpPr>
                <a:spLocks noChangeArrowheads="1"/>
              </p:cNvSpPr>
              <p:nvPr/>
            </p:nvSpPr>
            <p:spPr bwMode="auto">
              <a:xfrm>
                <a:off x="2995" y="960"/>
                <a:ext cx="1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35072" name="Rectangle 83"/>
              <p:cNvSpPr>
                <a:spLocks noChangeArrowheads="1"/>
              </p:cNvSpPr>
              <p:nvPr/>
            </p:nvSpPr>
            <p:spPr bwMode="auto">
              <a:xfrm>
                <a:off x="3014" y="960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73" name="Rectangle 84"/>
              <p:cNvSpPr>
                <a:spLocks noChangeArrowheads="1"/>
              </p:cNvSpPr>
              <p:nvPr/>
            </p:nvSpPr>
            <p:spPr bwMode="auto">
              <a:xfrm>
                <a:off x="3044" y="960"/>
                <a:ext cx="2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35074" name="Rectangle 85"/>
              <p:cNvSpPr>
                <a:spLocks noChangeArrowheads="1"/>
              </p:cNvSpPr>
              <p:nvPr/>
            </p:nvSpPr>
            <p:spPr bwMode="auto">
              <a:xfrm>
                <a:off x="3074" y="960"/>
                <a:ext cx="2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35075" name="Rectangle 86"/>
              <p:cNvSpPr>
                <a:spLocks noChangeArrowheads="1"/>
              </p:cNvSpPr>
              <p:nvPr/>
            </p:nvSpPr>
            <p:spPr bwMode="auto">
              <a:xfrm>
                <a:off x="3204" y="1487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35076" name="Rectangle 87"/>
              <p:cNvSpPr>
                <a:spLocks noChangeArrowheads="1"/>
              </p:cNvSpPr>
              <p:nvPr/>
            </p:nvSpPr>
            <p:spPr bwMode="auto">
              <a:xfrm>
                <a:off x="3243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h</a:t>
                </a:r>
                <a:endParaRPr lang="en-US" altLang="en-US" b="1"/>
              </a:p>
            </p:txBody>
          </p:sp>
          <p:sp>
            <p:nvSpPr>
              <p:cNvPr id="35077" name="Rectangle 88"/>
              <p:cNvSpPr>
                <a:spLocks noChangeArrowheads="1"/>
              </p:cNvSpPr>
              <p:nvPr/>
            </p:nvSpPr>
            <p:spPr bwMode="auto">
              <a:xfrm>
                <a:off x="3274" y="1487"/>
                <a:ext cx="2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y</a:t>
                </a:r>
                <a:endParaRPr lang="en-US" altLang="en-US" b="1"/>
              </a:p>
            </p:txBody>
          </p:sp>
          <p:sp>
            <p:nvSpPr>
              <p:cNvPr id="35078" name="Rectangle 89"/>
              <p:cNvSpPr>
                <a:spLocks noChangeArrowheads="1"/>
              </p:cNvSpPr>
              <p:nvPr/>
            </p:nvSpPr>
            <p:spPr bwMode="auto">
              <a:xfrm>
                <a:off x="3303" y="1487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35079" name="Rectangle 90"/>
              <p:cNvSpPr>
                <a:spLocks noChangeArrowheads="1"/>
              </p:cNvSpPr>
              <p:nvPr/>
            </p:nvSpPr>
            <p:spPr bwMode="auto">
              <a:xfrm>
                <a:off x="3330" y="1487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35080" name="Rectangle 91"/>
              <p:cNvSpPr>
                <a:spLocks noChangeArrowheads="1"/>
              </p:cNvSpPr>
              <p:nvPr/>
            </p:nvSpPr>
            <p:spPr bwMode="auto">
              <a:xfrm>
                <a:off x="3344" y="1487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35081" name="Rectangle 92"/>
              <p:cNvSpPr>
                <a:spLocks noChangeArrowheads="1"/>
              </p:cNvSpPr>
              <p:nvPr/>
            </p:nvSpPr>
            <p:spPr bwMode="auto">
              <a:xfrm>
                <a:off x="3373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82" name="Rectangle 93"/>
              <p:cNvSpPr>
                <a:spLocks noChangeArrowheads="1"/>
              </p:cNvSpPr>
              <p:nvPr/>
            </p:nvSpPr>
            <p:spPr bwMode="auto">
              <a:xfrm>
                <a:off x="3404" y="1487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35083" name="Rectangle 94"/>
              <p:cNvSpPr>
                <a:spLocks noChangeArrowheads="1"/>
              </p:cNvSpPr>
              <p:nvPr/>
            </p:nvSpPr>
            <p:spPr bwMode="auto">
              <a:xfrm>
                <a:off x="3416" y="1487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084" name="Rectangle 95"/>
              <p:cNvSpPr>
                <a:spLocks noChangeArrowheads="1"/>
              </p:cNvSpPr>
              <p:nvPr/>
            </p:nvSpPr>
            <p:spPr bwMode="auto">
              <a:xfrm>
                <a:off x="3433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p</a:t>
                </a:r>
                <a:endParaRPr lang="en-US" altLang="en-US" b="1"/>
              </a:p>
            </p:txBody>
          </p:sp>
          <p:sp>
            <p:nvSpPr>
              <p:cNvPr id="35085" name="Rectangle 96"/>
              <p:cNvSpPr>
                <a:spLocks noChangeArrowheads="1"/>
              </p:cNvSpPr>
              <p:nvPr/>
            </p:nvSpPr>
            <p:spPr bwMode="auto">
              <a:xfrm>
                <a:off x="3463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86" name="Rectangle 97"/>
              <p:cNvSpPr>
                <a:spLocks noChangeArrowheads="1"/>
              </p:cNvSpPr>
              <p:nvPr/>
            </p:nvSpPr>
            <p:spPr bwMode="auto">
              <a:xfrm>
                <a:off x="3496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g</a:t>
                </a:r>
                <a:endParaRPr lang="en-US" altLang="en-US" b="1"/>
              </a:p>
            </p:txBody>
          </p:sp>
          <p:sp>
            <p:nvSpPr>
              <p:cNvPr id="35087" name="Rectangle 98"/>
              <p:cNvSpPr>
                <a:spLocks noChangeArrowheads="1"/>
              </p:cNvSpPr>
              <p:nvPr/>
            </p:nvSpPr>
            <p:spPr bwMode="auto">
              <a:xfrm>
                <a:off x="3527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88" name="Rectangle 99"/>
              <p:cNvSpPr>
                <a:spLocks noChangeArrowheads="1"/>
              </p:cNvSpPr>
              <p:nvPr/>
            </p:nvSpPr>
            <p:spPr bwMode="auto">
              <a:xfrm>
                <a:off x="3559" y="1487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089" name="Rectangle 100"/>
              <p:cNvSpPr>
                <a:spLocks noChangeArrowheads="1"/>
              </p:cNvSpPr>
              <p:nvPr/>
            </p:nvSpPr>
            <p:spPr bwMode="auto">
              <a:xfrm>
                <a:off x="3575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n</a:t>
                </a:r>
                <a:endParaRPr lang="en-US" altLang="en-US" b="1"/>
              </a:p>
            </p:txBody>
          </p:sp>
          <p:sp>
            <p:nvSpPr>
              <p:cNvPr id="35090" name="Rectangle 101"/>
              <p:cNvSpPr>
                <a:spLocks noChangeArrowheads="1"/>
              </p:cNvSpPr>
              <p:nvPr/>
            </p:nvSpPr>
            <p:spPr bwMode="auto">
              <a:xfrm>
                <a:off x="3607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u</a:t>
                </a:r>
                <a:endParaRPr lang="en-US" altLang="en-US" b="1"/>
              </a:p>
            </p:txBody>
          </p:sp>
          <p:sp>
            <p:nvSpPr>
              <p:cNvPr id="35091" name="Rectangle 102"/>
              <p:cNvSpPr>
                <a:spLocks noChangeArrowheads="1"/>
              </p:cNvSpPr>
              <p:nvPr/>
            </p:nvSpPr>
            <p:spPr bwMode="auto">
              <a:xfrm>
                <a:off x="3639" y="1487"/>
                <a:ext cx="39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m</a:t>
                </a:r>
                <a:endParaRPr lang="en-US" altLang="en-US" b="1"/>
              </a:p>
            </p:txBody>
          </p:sp>
          <p:sp>
            <p:nvSpPr>
              <p:cNvPr id="35092" name="Rectangle 103"/>
              <p:cNvSpPr>
                <a:spLocks noChangeArrowheads="1"/>
              </p:cNvSpPr>
              <p:nvPr/>
            </p:nvSpPr>
            <p:spPr bwMode="auto">
              <a:xfrm>
                <a:off x="3686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b</a:t>
                </a:r>
                <a:endParaRPr lang="en-US" altLang="en-US" b="1"/>
              </a:p>
            </p:txBody>
          </p:sp>
          <p:sp>
            <p:nvSpPr>
              <p:cNvPr id="35093" name="Rectangle 104"/>
              <p:cNvSpPr>
                <a:spLocks noChangeArrowheads="1"/>
              </p:cNvSpPr>
              <p:nvPr/>
            </p:nvSpPr>
            <p:spPr bwMode="auto">
              <a:xfrm>
                <a:off x="3716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094" name="Rectangle 105"/>
              <p:cNvSpPr>
                <a:spLocks noChangeArrowheads="1"/>
              </p:cNvSpPr>
              <p:nvPr/>
            </p:nvSpPr>
            <p:spPr bwMode="auto">
              <a:xfrm>
                <a:off x="3749" y="1487"/>
                <a:ext cx="1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r</a:t>
                </a:r>
                <a:endParaRPr lang="en-US" altLang="en-US" b="1"/>
              </a:p>
            </p:txBody>
          </p:sp>
          <p:sp>
            <p:nvSpPr>
              <p:cNvPr id="35095" name="Rectangle 106"/>
              <p:cNvSpPr>
                <a:spLocks noChangeArrowheads="1"/>
              </p:cNvSpPr>
              <p:nvPr/>
            </p:nvSpPr>
            <p:spPr bwMode="auto">
              <a:xfrm>
                <a:off x="1677" y="1487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V</a:t>
                </a:r>
                <a:endParaRPr lang="en-US" altLang="en-US" b="1"/>
              </a:p>
            </p:txBody>
          </p:sp>
          <p:sp>
            <p:nvSpPr>
              <p:cNvPr id="35096" name="Rectangle 107"/>
              <p:cNvSpPr>
                <a:spLocks noChangeArrowheads="1"/>
              </p:cNvSpPr>
              <p:nvPr/>
            </p:nvSpPr>
            <p:spPr bwMode="auto">
              <a:xfrm>
                <a:off x="1714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097" name="Rectangle 108"/>
              <p:cNvSpPr>
                <a:spLocks noChangeArrowheads="1"/>
              </p:cNvSpPr>
              <p:nvPr/>
            </p:nvSpPr>
            <p:spPr bwMode="auto">
              <a:xfrm>
                <a:off x="1747" y="1487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l</a:t>
                </a:r>
                <a:endParaRPr lang="en-US" altLang="en-US" b="1"/>
              </a:p>
            </p:txBody>
          </p:sp>
          <p:sp>
            <p:nvSpPr>
              <p:cNvPr id="35098" name="Rectangle 109"/>
              <p:cNvSpPr>
                <a:spLocks noChangeArrowheads="1"/>
              </p:cNvSpPr>
              <p:nvPr/>
            </p:nvSpPr>
            <p:spPr bwMode="auto">
              <a:xfrm>
                <a:off x="1759" y="1487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35099" name="Rectangle 110"/>
              <p:cNvSpPr>
                <a:spLocks noChangeArrowheads="1"/>
              </p:cNvSpPr>
              <p:nvPr/>
            </p:nvSpPr>
            <p:spPr bwMode="auto">
              <a:xfrm>
                <a:off x="1772" y="1487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100" name="Freeform 111"/>
              <p:cNvSpPr>
                <a:spLocks/>
              </p:cNvSpPr>
              <p:nvPr/>
            </p:nvSpPr>
            <p:spPr bwMode="auto">
              <a:xfrm>
                <a:off x="1747" y="1567"/>
                <a:ext cx="2265" cy="79"/>
              </a:xfrm>
              <a:custGeom>
                <a:avLst/>
                <a:gdLst>
                  <a:gd name="T0" fmla="*/ 2264 w 2265"/>
                  <a:gd name="T1" fmla="*/ 79 h 79"/>
                  <a:gd name="T2" fmla="*/ 2265 w 2265"/>
                  <a:gd name="T3" fmla="*/ 0 h 79"/>
                  <a:gd name="T4" fmla="*/ 0 w 2265"/>
                  <a:gd name="T5" fmla="*/ 0 h 79"/>
                  <a:gd name="T6" fmla="*/ 0 w 2265"/>
                  <a:gd name="T7" fmla="*/ 79 h 79"/>
                  <a:gd name="T8" fmla="*/ 2265 w 2265"/>
                  <a:gd name="T9" fmla="*/ 79 h 79"/>
                  <a:gd name="T10" fmla="*/ 2265 w 2265"/>
                  <a:gd name="T11" fmla="*/ 79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65"/>
                  <a:gd name="T19" fmla="*/ 0 h 79"/>
                  <a:gd name="T20" fmla="*/ 2265 w 2265"/>
                  <a:gd name="T21" fmla="*/ 79 h 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65" h="79">
                    <a:moveTo>
                      <a:pt x="2264" y="79"/>
                    </a:moveTo>
                    <a:lnTo>
                      <a:pt x="2265" y="0"/>
                    </a:lnTo>
                    <a:lnTo>
                      <a:pt x="0" y="0"/>
                    </a:lnTo>
                    <a:lnTo>
                      <a:pt x="0" y="79"/>
                    </a:lnTo>
                    <a:lnTo>
                      <a:pt x="2265" y="79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1" name="Freeform 112"/>
              <p:cNvSpPr>
                <a:spLocks/>
              </p:cNvSpPr>
              <p:nvPr/>
            </p:nvSpPr>
            <p:spPr bwMode="auto">
              <a:xfrm>
                <a:off x="1748" y="1646"/>
                <a:ext cx="2264" cy="79"/>
              </a:xfrm>
              <a:custGeom>
                <a:avLst/>
                <a:gdLst>
                  <a:gd name="T0" fmla="*/ 2263 w 2264"/>
                  <a:gd name="T1" fmla="*/ 79 h 79"/>
                  <a:gd name="T2" fmla="*/ 2264 w 2264"/>
                  <a:gd name="T3" fmla="*/ 0 h 79"/>
                  <a:gd name="T4" fmla="*/ 0 w 2264"/>
                  <a:gd name="T5" fmla="*/ 0 h 79"/>
                  <a:gd name="T6" fmla="*/ 0 w 2264"/>
                  <a:gd name="T7" fmla="*/ 79 h 79"/>
                  <a:gd name="T8" fmla="*/ 2264 w 2264"/>
                  <a:gd name="T9" fmla="*/ 79 h 79"/>
                  <a:gd name="T10" fmla="*/ 2264 w 2264"/>
                  <a:gd name="T11" fmla="*/ 79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64"/>
                  <a:gd name="T19" fmla="*/ 0 h 79"/>
                  <a:gd name="T20" fmla="*/ 2264 w 2264"/>
                  <a:gd name="T21" fmla="*/ 79 h 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64" h="79">
                    <a:moveTo>
                      <a:pt x="2263" y="79"/>
                    </a:moveTo>
                    <a:lnTo>
                      <a:pt x="2264" y="0"/>
                    </a:lnTo>
                    <a:lnTo>
                      <a:pt x="0" y="0"/>
                    </a:lnTo>
                    <a:lnTo>
                      <a:pt x="0" y="79"/>
                    </a:lnTo>
                    <a:lnTo>
                      <a:pt x="2264" y="79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2" name="Freeform 113"/>
              <p:cNvSpPr>
                <a:spLocks/>
              </p:cNvSpPr>
              <p:nvPr/>
            </p:nvSpPr>
            <p:spPr bwMode="auto">
              <a:xfrm>
                <a:off x="1748" y="1725"/>
                <a:ext cx="2264" cy="78"/>
              </a:xfrm>
              <a:custGeom>
                <a:avLst/>
                <a:gdLst>
                  <a:gd name="T0" fmla="*/ 2263 w 2264"/>
                  <a:gd name="T1" fmla="*/ 78 h 78"/>
                  <a:gd name="T2" fmla="*/ 2264 w 2264"/>
                  <a:gd name="T3" fmla="*/ 0 h 78"/>
                  <a:gd name="T4" fmla="*/ 0 w 2264"/>
                  <a:gd name="T5" fmla="*/ 0 h 78"/>
                  <a:gd name="T6" fmla="*/ 0 w 2264"/>
                  <a:gd name="T7" fmla="*/ 78 h 78"/>
                  <a:gd name="T8" fmla="*/ 2264 w 2264"/>
                  <a:gd name="T9" fmla="*/ 78 h 78"/>
                  <a:gd name="T10" fmla="*/ 2264 w 2264"/>
                  <a:gd name="T11" fmla="*/ 78 h 78"/>
                  <a:gd name="T12" fmla="*/ 2263 w 2264"/>
                  <a:gd name="T13" fmla="*/ 78 h 7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264"/>
                  <a:gd name="T22" fmla="*/ 0 h 78"/>
                  <a:gd name="T23" fmla="*/ 2264 w 2264"/>
                  <a:gd name="T24" fmla="*/ 78 h 7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264" h="78">
                    <a:moveTo>
                      <a:pt x="2263" y="78"/>
                    </a:moveTo>
                    <a:lnTo>
                      <a:pt x="2264" y="0"/>
                    </a:lnTo>
                    <a:lnTo>
                      <a:pt x="0" y="0"/>
                    </a:lnTo>
                    <a:lnTo>
                      <a:pt x="0" y="78"/>
                    </a:lnTo>
                    <a:lnTo>
                      <a:pt x="2264" y="78"/>
                    </a:lnTo>
                    <a:lnTo>
                      <a:pt x="2263" y="78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3" name="Freeform 114"/>
              <p:cNvSpPr>
                <a:spLocks/>
              </p:cNvSpPr>
              <p:nvPr/>
            </p:nvSpPr>
            <p:spPr bwMode="auto">
              <a:xfrm>
                <a:off x="1748" y="1725"/>
                <a:ext cx="2264" cy="78"/>
              </a:xfrm>
              <a:custGeom>
                <a:avLst/>
                <a:gdLst>
                  <a:gd name="T0" fmla="*/ 2263 w 2264"/>
                  <a:gd name="T1" fmla="*/ 78 h 78"/>
                  <a:gd name="T2" fmla="*/ 2264 w 2264"/>
                  <a:gd name="T3" fmla="*/ 0 h 78"/>
                  <a:gd name="T4" fmla="*/ 0 w 2264"/>
                  <a:gd name="T5" fmla="*/ 0 h 78"/>
                  <a:gd name="T6" fmla="*/ 0 w 2264"/>
                  <a:gd name="T7" fmla="*/ 78 h 78"/>
                  <a:gd name="T8" fmla="*/ 2264 w 2264"/>
                  <a:gd name="T9" fmla="*/ 78 h 78"/>
                  <a:gd name="T10" fmla="*/ 2264 w 2264"/>
                  <a:gd name="T11" fmla="*/ 78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64"/>
                  <a:gd name="T19" fmla="*/ 0 h 78"/>
                  <a:gd name="T20" fmla="*/ 2264 w 2264"/>
                  <a:gd name="T21" fmla="*/ 78 h 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64" h="78">
                    <a:moveTo>
                      <a:pt x="2263" y="78"/>
                    </a:moveTo>
                    <a:lnTo>
                      <a:pt x="2264" y="0"/>
                    </a:lnTo>
                    <a:lnTo>
                      <a:pt x="0" y="0"/>
                    </a:lnTo>
                    <a:lnTo>
                      <a:pt x="0" y="78"/>
                    </a:lnTo>
                    <a:lnTo>
                      <a:pt x="2264" y="78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4" name="Freeform 115"/>
              <p:cNvSpPr>
                <a:spLocks/>
              </p:cNvSpPr>
              <p:nvPr/>
            </p:nvSpPr>
            <p:spPr bwMode="auto">
              <a:xfrm>
                <a:off x="1747" y="1803"/>
                <a:ext cx="2265" cy="79"/>
              </a:xfrm>
              <a:custGeom>
                <a:avLst/>
                <a:gdLst>
                  <a:gd name="T0" fmla="*/ 2264 w 2265"/>
                  <a:gd name="T1" fmla="*/ 79 h 79"/>
                  <a:gd name="T2" fmla="*/ 2265 w 2265"/>
                  <a:gd name="T3" fmla="*/ 0 h 79"/>
                  <a:gd name="T4" fmla="*/ 0 w 2265"/>
                  <a:gd name="T5" fmla="*/ 0 h 79"/>
                  <a:gd name="T6" fmla="*/ 0 w 2265"/>
                  <a:gd name="T7" fmla="*/ 79 h 79"/>
                  <a:gd name="T8" fmla="*/ 2265 w 2265"/>
                  <a:gd name="T9" fmla="*/ 79 h 79"/>
                  <a:gd name="T10" fmla="*/ 2265 w 2265"/>
                  <a:gd name="T11" fmla="*/ 79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65"/>
                  <a:gd name="T19" fmla="*/ 0 h 79"/>
                  <a:gd name="T20" fmla="*/ 2265 w 2265"/>
                  <a:gd name="T21" fmla="*/ 79 h 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65" h="79">
                    <a:moveTo>
                      <a:pt x="2264" y="79"/>
                    </a:moveTo>
                    <a:lnTo>
                      <a:pt x="2265" y="0"/>
                    </a:lnTo>
                    <a:lnTo>
                      <a:pt x="0" y="0"/>
                    </a:lnTo>
                    <a:lnTo>
                      <a:pt x="0" y="79"/>
                    </a:lnTo>
                    <a:lnTo>
                      <a:pt x="2265" y="79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5" name="Freeform 116"/>
              <p:cNvSpPr>
                <a:spLocks/>
              </p:cNvSpPr>
              <p:nvPr/>
            </p:nvSpPr>
            <p:spPr bwMode="auto">
              <a:xfrm>
                <a:off x="1747" y="1882"/>
                <a:ext cx="2265" cy="79"/>
              </a:xfrm>
              <a:custGeom>
                <a:avLst/>
                <a:gdLst>
                  <a:gd name="T0" fmla="*/ 2264 w 2265"/>
                  <a:gd name="T1" fmla="*/ 79 h 79"/>
                  <a:gd name="T2" fmla="*/ 2265 w 2265"/>
                  <a:gd name="T3" fmla="*/ 0 h 79"/>
                  <a:gd name="T4" fmla="*/ 0 w 2265"/>
                  <a:gd name="T5" fmla="*/ 0 h 79"/>
                  <a:gd name="T6" fmla="*/ 0 w 2265"/>
                  <a:gd name="T7" fmla="*/ 79 h 79"/>
                  <a:gd name="T8" fmla="*/ 2265 w 2265"/>
                  <a:gd name="T9" fmla="*/ 79 h 79"/>
                  <a:gd name="T10" fmla="*/ 2265 w 2265"/>
                  <a:gd name="T11" fmla="*/ 79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65"/>
                  <a:gd name="T19" fmla="*/ 0 h 79"/>
                  <a:gd name="T20" fmla="*/ 2265 w 2265"/>
                  <a:gd name="T21" fmla="*/ 79 h 7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65" h="79">
                    <a:moveTo>
                      <a:pt x="2264" y="79"/>
                    </a:moveTo>
                    <a:lnTo>
                      <a:pt x="2265" y="0"/>
                    </a:lnTo>
                    <a:lnTo>
                      <a:pt x="0" y="0"/>
                    </a:lnTo>
                    <a:lnTo>
                      <a:pt x="0" y="79"/>
                    </a:lnTo>
                    <a:lnTo>
                      <a:pt x="2265" y="79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6" name="Freeform 117"/>
              <p:cNvSpPr>
                <a:spLocks/>
              </p:cNvSpPr>
              <p:nvPr/>
            </p:nvSpPr>
            <p:spPr bwMode="auto">
              <a:xfrm>
                <a:off x="1748" y="1961"/>
                <a:ext cx="2264" cy="78"/>
              </a:xfrm>
              <a:custGeom>
                <a:avLst/>
                <a:gdLst>
                  <a:gd name="T0" fmla="*/ 2263 w 2264"/>
                  <a:gd name="T1" fmla="*/ 78 h 78"/>
                  <a:gd name="T2" fmla="*/ 2264 w 2264"/>
                  <a:gd name="T3" fmla="*/ 0 h 78"/>
                  <a:gd name="T4" fmla="*/ 0 w 2264"/>
                  <a:gd name="T5" fmla="*/ 0 h 78"/>
                  <a:gd name="T6" fmla="*/ 0 w 2264"/>
                  <a:gd name="T7" fmla="*/ 78 h 78"/>
                  <a:gd name="T8" fmla="*/ 2264 w 2264"/>
                  <a:gd name="T9" fmla="*/ 78 h 78"/>
                  <a:gd name="T10" fmla="*/ 2264 w 2264"/>
                  <a:gd name="T11" fmla="*/ 78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64"/>
                  <a:gd name="T19" fmla="*/ 0 h 78"/>
                  <a:gd name="T20" fmla="*/ 2264 w 2264"/>
                  <a:gd name="T21" fmla="*/ 78 h 7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64" h="78">
                    <a:moveTo>
                      <a:pt x="2263" y="78"/>
                    </a:moveTo>
                    <a:lnTo>
                      <a:pt x="2264" y="0"/>
                    </a:lnTo>
                    <a:lnTo>
                      <a:pt x="0" y="0"/>
                    </a:lnTo>
                    <a:lnTo>
                      <a:pt x="0" y="78"/>
                    </a:lnTo>
                    <a:lnTo>
                      <a:pt x="2264" y="78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7" name="Line 118"/>
              <p:cNvSpPr>
                <a:spLocks noChangeShapeType="1"/>
              </p:cNvSpPr>
              <p:nvPr/>
            </p:nvSpPr>
            <p:spPr bwMode="auto">
              <a:xfrm>
                <a:off x="2942" y="1567"/>
                <a:ext cx="2" cy="47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8" name="Freeform 119"/>
              <p:cNvSpPr>
                <a:spLocks/>
              </p:cNvSpPr>
              <p:nvPr/>
            </p:nvSpPr>
            <p:spPr bwMode="auto">
              <a:xfrm>
                <a:off x="1766" y="1750"/>
                <a:ext cx="25" cy="28"/>
              </a:xfrm>
              <a:custGeom>
                <a:avLst/>
                <a:gdLst>
                  <a:gd name="T0" fmla="*/ 12 w 25"/>
                  <a:gd name="T1" fmla="*/ 26 h 28"/>
                  <a:gd name="T2" fmla="*/ 15 w 25"/>
                  <a:gd name="T3" fmla="*/ 28 h 28"/>
                  <a:gd name="T4" fmla="*/ 17 w 25"/>
                  <a:gd name="T5" fmla="*/ 26 h 28"/>
                  <a:gd name="T6" fmla="*/ 18 w 25"/>
                  <a:gd name="T7" fmla="*/ 26 h 28"/>
                  <a:gd name="T8" fmla="*/ 20 w 25"/>
                  <a:gd name="T9" fmla="*/ 24 h 28"/>
                  <a:gd name="T10" fmla="*/ 22 w 25"/>
                  <a:gd name="T11" fmla="*/ 22 h 28"/>
                  <a:gd name="T12" fmla="*/ 24 w 25"/>
                  <a:gd name="T13" fmla="*/ 22 h 28"/>
                  <a:gd name="T14" fmla="*/ 24 w 25"/>
                  <a:gd name="T15" fmla="*/ 21 h 28"/>
                  <a:gd name="T16" fmla="*/ 25 w 25"/>
                  <a:gd name="T17" fmla="*/ 17 h 28"/>
                  <a:gd name="T18" fmla="*/ 25 w 25"/>
                  <a:gd name="T19" fmla="*/ 16 h 28"/>
                  <a:gd name="T20" fmla="*/ 25 w 25"/>
                  <a:gd name="T21" fmla="*/ 14 h 28"/>
                  <a:gd name="T22" fmla="*/ 25 w 25"/>
                  <a:gd name="T23" fmla="*/ 12 h 28"/>
                  <a:gd name="T24" fmla="*/ 25 w 25"/>
                  <a:gd name="T25" fmla="*/ 11 h 28"/>
                  <a:gd name="T26" fmla="*/ 24 w 25"/>
                  <a:gd name="T27" fmla="*/ 7 h 28"/>
                  <a:gd name="T28" fmla="*/ 24 w 25"/>
                  <a:gd name="T29" fmla="*/ 5 h 28"/>
                  <a:gd name="T30" fmla="*/ 22 w 25"/>
                  <a:gd name="T31" fmla="*/ 5 h 28"/>
                  <a:gd name="T32" fmla="*/ 20 w 25"/>
                  <a:gd name="T33" fmla="*/ 4 h 28"/>
                  <a:gd name="T34" fmla="*/ 18 w 25"/>
                  <a:gd name="T35" fmla="*/ 2 h 28"/>
                  <a:gd name="T36" fmla="*/ 17 w 25"/>
                  <a:gd name="T37" fmla="*/ 2 h 28"/>
                  <a:gd name="T38" fmla="*/ 15 w 25"/>
                  <a:gd name="T39" fmla="*/ 0 h 28"/>
                  <a:gd name="T40" fmla="*/ 13 w 25"/>
                  <a:gd name="T41" fmla="*/ 0 h 28"/>
                  <a:gd name="T42" fmla="*/ 10 w 25"/>
                  <a:gd name="T43" fmla="*/ 0 h 28"/>
                  <a:gd name="T44" fmla="*/ 8 w 25"/>
                  <a:gd name="T45" fmla="*/ 2 h 28"/>
                  <a:gd name="T46" fmla="*/ 6 w 25"/>
                  <a:gd name="T47" fmla="*/ 2 h 28"/>
                  <a:gd name="T48" fmla="*/ 5 w 25"/>
                  <a:gd name="T49" fmla="*/ 4 h 28"/>
                  <a:gd name="T50" fmla="*/ 3 w 25"/>
                  <a:gd name="T51" fmla="*/ 5 h 28"/>
                  <a:gd name="T52" fmla="*/ 1 w 25"/>
                  <a:gd name="T53" fmla="*/ 5 h 28"/>
                  <a:gd name="T54" fmla="*/ 1 w 25"/>
                  <a:gd name="T55" fmla="*/ 7 h 28"/>
                  <a:gd name="T56" fmla="*/ 0 w 25"/>
                  <a:gd name="T57" fmla="*/ 11 h 28"/>
                  <a:gd name="T58" fmla="*/ 0 w 25"/>
                  <a:gd name="T59" fmla="*/ 12 h 28"/>
                  <a:gd name="T60" fmla="*/ 0 w 25"/>
                  <a:gd name="T61" fmla="*/ 14 h 28"/>
                  <a:gd name="T62" fmla="*/ 0 w 25"/>
                  <a:gd name="T63" fmla="*/ 16 h 28"/>
                  <a:gd name="T64" fmla="*/ 0 w 25"/>
                  <a:gd name="T65" fmla="*/ 17 h 28"/>
                  <a:gd name="T66" fmla="*/ 1 w 25"/>
                  <a:gd name="T67" fmla="*/ 21 h 28"/>
                  <a:gd name="T68" fmla="*/ 1 w 25"/>
                  <a:gd name="T69" fmla="*/ 22 h 28"/>
                  <a:gd name="T70" fmla="*/ 3 w 25"/>
                  <a:gd name="T71" fmla="*/ 22 h 28"/>
                  <a:gd name="T72" fmla="*/ 5 w 25"/>
                  <a:gd name="T73" fmla="*/ 24 h 28"/>
                  <a:gd name="T74" fmla="*/ 6 w 25"/>
                  <a:gd name="T75" fmla="*/ 26 h 28"/>
                  <a:gd name="T76" fmla="*/ 8 w 25"/>
                  <a:gd name="T77" fmla="*/ 26 h 28"/>
                  <a:gd name="T78" fmla="*/ 10 w 25"/>
                  <a:gd name="T79" fmla="*/ 28 h 28"/>
                  <a:gd name="T80" fmla="*/ 13 w 25"/>
                  <a:gd name="T81" fmla="*/ 28 h 28"/>
                  <a:gd name="T82" fmla="*/ 13 w 25"/>
                  <a:gd name="T83" fmla="*/ 28 h 28"/>
                  <a:gd name="T84" fmla="*/ 12 w 25"/>
                  <a:gd name="T85" fmla="*/ 26 h 2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5"/>
                  <a:gd name="T130" fmla="*/ 0 h 28"/>
                  <a:gd name="T131" fmla="*/ 25 w 25"/>
                  <a:gd name="T132" fmla="*/ 28 h 2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5" h="28">
                    <a:moveTo>
                      <a:pt x="12" y="26"/>
                    </a:moveTo>
                    <a:lnTo>
                      <a:pt x="15" y="28"/>
                    </a:lnTo>
                    <a:lnTo>
                      <a:pt x="17" y="26"/>
                    </a:lnTo>
                    <a:lnTo>
                      <a:pt x="18" y="26"/>
                    </a:lnTo>
                    <a:lnTo>
                      <a:pt x="20" y="24"/>
                    </a:lnTo>
                    <a:lnTo>
                      <a:pt x="22" y="22"/>
                    </a:lnTo>
                    <a:lnTo>
                      <a:pt x="24" y="22"/>
                    </a:lnTo>
                    <a:lnTo>
                      <a:pt x="24" y="21"/>
                    </a:lnTo>
                    <a:lnTo>
                      <a:pt x="25" y="17"/>
                    </a:lnTo>
                    <a:lnTo>
                      <a:pt x="25" y="16"/>
                    </a:lnTo>
                    <a:lnTo>
                      <a:pt x="25" y="14"/>
                    </a:lnTo>
                    <a:lnTo>
                      <a:pt x="25" y="12"/>
                    </a:lnTo>
                    <a:lnTo>
                      <a:pt x="25" y="11"/>
                    </a:lnTo>
                    <a:lnTo>
                      <a:pt x="24" y="7"/>
                    </a:lnTo>
                    <a:lnTo>
                      <a:pt x="24" y="5"/>
                    </a:lnTo>
                    <a:lnTo>
                      <a:pt x="22" y="5"/>
                    </a:lnTo>
                    <a:lnTo>
                      <a:pt x="20" y="4"/>
                    </a:lnTo>
                    <a:lnTo>
                      <a:pt x="18" y="2"/>
                    </a:lnTo>
                    <a:lnTo>
                      <a:pt x="17" y="2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0" y="0"/>
                    </a:lnTo>
                    <a:lnTo>
                      <a:pt x="8" y="2"/>
                    </a:lnTo>
                    <a:lnTo>
                      <a:pt x="6" y="2"/>
                    </a:lnTo>
                    <a:lnTo>
                      <a:pt x="5" y="4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3" y="22"/>
                    </a:lnTo>
                    <a:lnTo>
                      <a:pt x="5" y="24"/>
                    </a:lnTo>
                    <a:lnTo>
                      <a:pt x="6" y="26"/>
                    </a:lnTo>
                    <a:lnTo>
                      <a:pt x="8" y="26"/>
                    </a:lnTo>
                    <a:lnTo>
                      <a:pt x="10" y="28"/>
                    </a:lnTo>
                    <a:lnTo>
                      <a:pt x="13" y="28"/>
                    </a:lnTo>
                    <a:lnTo>
                      <a:pt x="1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09" name="Line 120"/>
              <p:cNvSpPr>
                <a:spLocks noChangeShapeType="1"/>
              </p:cNvSpPr>
              <p:nvPr/>
            </p:nvSpPr>
            <p:spPr bwMode="auto">
              <a:xfrm>
                <a:off x="3496" y="1318"/>
                <a:ext cx="68" cy="3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10" name="Rectangle 121"/>
              <p:cNvSpPr>
                <a:spLocks noChangeArrowheads="1"/>
              </p:cNvSpPr>
              <p:nvPr/>
            </p:nvSpPr>
            <p:spPr bwMode="auto">
              <a:xfrm>
                <a:off x="3581" y="1271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35111" name="Rectangle 122"/>
              <p:cNvSpPr>
                <a:spLocks noChangeArrowheads="1"/>
              </p:cNvSpPr>
              <p:nvPr/>
            </p:nvSpPr>
            <p:spPr bwMode="auto">
              <a:xfrm>
                <a:off x="3614" y="1271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35112" name="Rectangle 123"/>
              <p:cNvSpPr>
                <a:spLocks noChangeArrowheads="1"/>
              </p:cNvSpPr>
              <p:nvPr/>
            </p:nvSpPr>
            <p:spPr bwMode="auto">
              <a:xfrm>
                <a:off x="2294" y="1271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35113" name="Rectangle 124"/>
              <p:cNvSpPr>
                <a:spLocks noChangeArrowheads="1"/>
              </p:cNvSpPr>
              <p:nvPr/>
            </p:nvSpPr>
            <p:spPr bwMode="auto">
              <a:xfrm>
                <a:off x="2325" y="1271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0</a:t>
                </a:r>
                <a:endParaRPr lang="en-US" altLang="en-US" b="1"/>
              </a:p>
            </p:txBody>
          </p:sp>
          <p:sp>
            <p:nvSpPr>
              <p:cNvPr id="35114" name="Freeform 125"/>
              <p:cNvSpPr>
                <a:spLocks/>
              </p:cNvSpPr>
              <p:nvPr/>
            </p:nvSpPr>
            <p:spPr bwMode="auto">
              <a:xfrm>
                <a:off x="3463" y="1750"/>
                <a:ext cx="26" cy="28"/>
              </a:xfrm>
              <a:custGeom>
                <a:avLst/>
                <a:gdLst>
                  <a:gd name="T0" fmla="*/ 12 w 26"/>
                  <a:gd name="T1" fmla="*/ 26 h 28"/>
                  <a:gd name="T2" fmla="*/ 16 w 26"/>
                  <a:gd name="T3" fmla="*/ 28 h 28"/>
                  <a:gd name="T4" fmla="*/ 17 w 26"/>
                  <a:gd name="T5" fmla="*/ 26 h 28"/>
                  <a:gd name="T6" fmla="*/ 19 w 26"/>
                  <a:gd name="T7" fmla="*/ 26 h 28"/>
                  <a:gd name="T8" fmla="*/ 21 w 26"/>
                  <a:gd name="T9" fmla="*/ 24 h 28"/>
                  <a:gd name="T10" fmla="*/ 23 w 26"/>
                  <a:gd name="T11" fmla="*/ 22 h 28"/>
                  <a:gd name="T12" fmla="*/ 24 w 26"/>
                  <a:gd name="T13" fmla="*/ 22 h 28"/>
                  <a:gd name="T14" fmla="*/ 24 w 26"/>
                  <a:gd name="T15" fmla="*/ 21 h 28"/>
                  <a:gd name="T16" fmla="*/ 26 w 26"/>
                  <a:gd name="T17" fmla="*/ 17 h 28"/>
                  <a:gd name="T18" fmla="*/ 26 w 26"/>
                  <a:gd name="T19" fmla="*/ 16 h 28"/>
                  <a:gd name="T20" fmla="*/ 26 w 26"/>
                  <a:gd name="T21" fmla="*/ 14 h 28"/>
                  <a:gd name="T22" fmla="*/ 26 w 26"/>
                  <a:gd name="T23" fmla="*/ 12 h 28"/>
                  <a:gd name="T24" fmla="*/ 26 w 26"/>
                  <a:gd name="T25" fmla="*/ 11 h 28"/>
                  <a:gd name="T26" fmla="*/ 24 w 26"/>
                  <a:gd name="T27" fmla="*/ 7 h 28"/>
                  <a:gd name="T28" fmla="*/ 24 w 26"/>
                  <a:gd name="T29" fmla="*/ 5 h 28"/>
                  <a:gd name="T30" fmla="*/ 23 w 26"/>
                  <a:gd name="T31" fmla="*/ 5 h 28"/>
                  <a:gd name="T32" fmla="*/ 21 w 26"/>
                  <a:gd name="T33" fmla="*/ 4 h 28"/>
                  <a:gd name="T34" fmla="*/ 19 w 26"/>
                  <a:gd name="T35" fmla="*/ 2 h 28"/>
                  <a:gd name="T36" fmla="*/ 17 w 26"/>
                  <a:gd name="T37" fmla="*/ 2 h 28"/>
                  <a:gd name="T38" fmla="*/ 16 w 26"/>
                  <a:gd name="T39" fmla="*/ 0 h 28"/>
                  <a:gd name="T40" fmla="*/ 12 w 26"/>
                  <a:gd name="T41" fmla="*/ 0 h 28"/>
                  <a:gd name="T42" fmla="*/ 11 w 26"/>
                  <a:gd name="T43" fmla="*/ 0 h 28"/>
                  <a:gd name="T44" fmla="*/ 9 w 26"/>
                  <a:gd name="T45" fmla="*/ 2 h 28"/>
                  <a:gd name="T46" fmla="*/ 7 w 26"/>
                  <a:gd name="T47" fmla="*/ 2 h 28"/>
                  <a:gd name="T48" fmla="*/ 6 w 26"/>
                  <a:gd name="T49" fmla="*/ 4 h 28"/>
                  <a:gd name="T50" fmla="*/ 4 w 26"/>
                  <a:gd name="T51" fmla="*/ 5 h 28"/>
                  <a:gd name="T52" fmla="*/ 2 w 26"/>
                  <a:gd name="T53" fmla="*/ 5 h 28"/>
                  <a:gd name="T54" fmla="*/ 2 w 26"/>
                  <a:gd name="T55" fmla="*/ 7 h 28"/>
                  <a:gd name="T56" fmla="*/ 0 w 26"/>
                  <a:gd name="T57" fmla="*/ 11 h 28"/>
                  <a:gd name="T58" fmla="*/ 0 w 26"/>
                  <a:gd name="T59" fmla="*/ 12 h 28"/>
                  <a:gd name="T60" fmla="*/ 0 w 26"/>
                  <a:gd name="T61" fmla="*/ 14 h 28"/>
                  <a:gd name="T62" fmla="*/ 0 w 26"/>
                  <a:gd name="T63" fmla="*/ 16 h 28"/>
                  <a:gd name="T64" fmla="*/ 0 w 26"/>
                  <a:gd name="T65" fmla="*/ 17 h 28"/>
                  <a:gd name="T66" fmla="*/ 2 w 26"/>
                  <a:gd name="T67" fmla="*/ 21 h 28"/>
                  <a:gd name="T68" fmla="*/ 2 w 26"/>
                  <a:gd name="T69" fmla="*/ 22 h 28"/>
                  <a:gd name="T70" fmla="*/ 4 w 26"/>
                  <a:gd name="T71" fmla="*/ 22 h 28"/>
                  <a:gd name="T72" fmla="*/ 6 w 26"/>
                  <a:gd name="T73" fmla="*/ 24 h 28"/>
                  <a:gd name="T74" fmla="*/ 7 w 26"/>
                  <a:gd name="T75" fmla="*/ 26 h 28"/>
                  <a:gd name="T76" fmla="*/ 9 w 26"/>
                  <a:gd name="T77" fmla="*/ 26 h 28"/>
                  <a:gd name="T78" fmla="*/ 11 w 26"/>
                  <a:gd name="T79" fmla="*/ 28 h 28"/>
                  <a:gd name="T80" fmla="*/ 12 w 26"/>
                  <a:gd name="T81" fmla="*/ 28 h 28"/>
                  <a:gd name="T82" fmla="*/ 12 w 26"/>
                  <a:gd name="T83" fmla="*/ 28 h 28"/>
                  <a:gd name="T84" fmla="*/ 12 w 26"/>
                  <a:gd name="T85" fmla="*/ 26 h 2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6"/>
                  <a:gd name="T130" fmla="*/ 0 h 28"/>
                  <a:gd name="T131" fmla="*/ 26 w 26"/>
                  <a:gd name="T132" fmla="*/ 28 h 2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6" h="28">
                    <a:moveTo>
                      <a:pt x="12" y="26"/>
                    </a:moveTo>
                    <a:lnTo>
                      <a:pt x="16" y="28"/>
                    </a:lnTo>
                    <a:lnTo>
                      <a:pt x="17" y="26"/>
                    </a:lnTo>
                    <a:lnTo>
                      <a:pt x="19" y="26"/>
                    </a:lnTo>
                    <a:lnTo>
                      <a:pt x="21" y="24"/>
                    </a:lnTo>
                    <a:lnTo>
                      <a:pt x="23" y="22"/>
                    </a:lnTo>
                    <a:lnTo>
                      <a:pt x="24" y="22"/>
                    </a:lnTo>
                    <a:lnTo>
                      <a:pt x="24" y="21"/>
                    </a:lnTo>
                    <a:lnTo>
                      <a:pt x="26" y="17"/>
                    </a:lnTo>
                    <a:lnTo>
                      <a:pt x="26" y="16"/>
                    </a:lnTo>
                    <a:lnTo>
                      <a:pt x="26" y="14"/>
                    </a:lnTo>
                    <a:lnTo>
                      <a:pt x="26" y="12"/>
                    </a:lnTo>
                    <a:lnTo>
                      <a:pt x="26" y="11"/>
                    </a:lnTo>
                    <a:lnTo>
                      <a:pt x="24" y="7"/>
                    </a:lnTo>
                    <a:lnTo>
                      <a:pt x="24" y="5"/>
                    </a:lnTo>
                    <a:lnTo>
                      <a:pt x="23" y="5"/>
                    </a:lnTo>
                    <a:lnTo>
                      <a:pt x="21" y="4"/>
                    </a:lnTo>
                    <a:lnTo>
                      <a:pt x="19" y="2"/>
                    </a:lnTo>
                    <a:lnTo>
                      <a:pt x="17" y="2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11" y="0"/>
                    </a:lnTo>
                    <a:lnTo>
                      <a:pt x="9" y="2"/>
                    </a:lnTo>
                    <a:lnTo>
                      <a:pt x="7" y="2"/>
                    </a:lnTo>
                    <a:lnTo>
                      <a:pt x="6" y="4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4" y="22"/>
                    </a:lnTo>
                    <a:lnTo>
                      <a:pt x="6" y="24"/>
                    </a:lnTo>
                    <a:lnTo>
                      <a:pt x="7" y="26"/>
                    </a:lnTo>
                    <a:lnTo>
                      <a:pt x="9" y="26"/>
                    </a:lnTo>
                    <a:lnTo>
                      <a:pt x="11" y="28"/>
                    </a:lnTo>
                    <a:lnTo>
                      <a:pt x="12" y="28"/>
                    </a:lnTo>
                    <a:lnTo>
                      <a:pt x="1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15" name="Line 126"/>
              <p:cNvSpPr>
                <a:spLocks noChangeShapeType="1"/>
              </p:cNvSpPr>
              <p:nvPr/>
            </p:nvSpPr>
            <p:spPr bwMode="auto">
              <a:xfrm>
                <a:off x="3441" y="2096"/>
                <a:ext cx="69" cy="3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16" name="Rectangle 127"/>
              <p:cNvSpPr>
                <a:spLocks noChangeArrowheads="1"/>
              </p:cNvSpPr>
              <p:nvPr/>
            </p:nvSpPr>
            <p:spPr bwMode="auto">
              <a:xfrm>
                <a:off x="3501" y="2056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35117" name="Rectangle 128"/>
              <p:cNvSpPr>
                <a:spLocks noChangeArrowheads="1"/>
              </p:cNvSpPr>
              <p:nvPr/>
            </p:nvSpPr>
            <p:spPr bwMode="auto">
              <a:xfrm>
                <a:off x="3530" y="2056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0</a:t>
                </a:r>
                <a:endParaRPr lang="en-US" altLang="en-US" b="1"/>
              </a:p>
            </p:txBody>
          </p:sp>
          <p:sp>
            <p:nvSpPr>
              <p:cNvPr id="35118" name="Freeform 129"/>
              <p:cNvSpPr>
                <a:spLocks/>
              </p:cNvSpPr>
              <p:nvPr/>
            </p:nvSpPr>
            <p:spPr bwMode="auto">
              <a:xfrm>
                <a:off x="2260" y="3602"/>
                <a:ext cx="25" cy="28"/>
              </a:xfrm>
              <a:custGeom>
                <a:avLst/>
                <a:gdLst>
                  <a:gd name="T0" fmla="*/ 25 w 25"/>
                  <a:gd name="T1" fmla="*/ 0 h 28"/>
                  <a:gd name="T2" fmla="*/ 0 w 25"/>
                  <a:gd name="T3" fmla="*/ 2 h 28"/>
                  <a:gd name="T4" fmla="*/ 13 w 25"/>
                  <a:gd name="T5" fmla="*/ 28 h 28"/>
                  <a:gd name="T6" fmla="*/ 25 w 25"/>
                  <a:gd name="T7" fmla="*/ 2 h 28"/>
                  <a:gd name="T8" fmla="*/ 25 w 25"/>
                  <a:gd name="T9" fmla="*/ 2 h 28"/>
                  <a:gd name="T10" fmla="*/ 25 w 25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"/>
                  <a:gd name="T19" fmla="*/ 0 h 28"/>
                  <a:gd name="T20" fmla="*/ 25 w 25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" h="28">
                    <a:moveTo>
                      <a:pt x="25" y="0"/>
                    </a:moveTo>
                    <a:lnTo>
                      <a:pt x="0" y="2"/>
                    </a:lnTo>
                    <a:lnTo>
                      <a:pt x="13" y="28"/>
                    </a:lnTo>
                    <a:lnTo>
                      <a:pt x="25" y="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19" name="Line 130"/>
              <p:cNvSpPr>
                <a:spLocks noChangeShapeType="1"/>
              </p:cNvSpPr>
              <p:nvPr/>
            </p:nvSpPr>
            <p:spPr bwMode="auto">
              <a:xfrm>
                <a:off x="2573" y="2622"/>
                <a:ext cx="70" cy="4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20" name="Rectangle 131"/>
              <p:cNvSpPr>
                <a:spLocks noChangeArrowheads="1"/>
              </p:cNvSpPr>
              <p:nvPr/>
            </p:nvSpPr>
            <p:spPr bwMode="auto">
              <a:xfrm>
                <a:off x="2634" y="25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35121" name="Rectangle 132"/>
              <p:cNvSpPr>
                <a:spLocks noChangeArrowheads="1"/>
              </p:cNvSpPr>
              <p:nvPr/>
            </p:nvSpPr>
            <p:spPr bwMode="auto">
              <a:xfrm>
                <a:off x="2665" y="2579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6</a:t>
                </a:r>
                <a:endParaRPr lang="en-US" altLang="en-US" b="1"/>
              </a:p>
            </p:txBody>
          </p:sp>
          <p:sp>
            <p:nvSpPr>
              <p:cNvPr id="35122" name="Line 133"/>
              <p:cNvSpPr>
                <a:spLocks noChangeShapeType="1"/>
              </p:cNvSpPr>
              <p:nvPr/>
            </p:nvSpPr>
            <p:spPr bwMode="auto">
              <a:xfrm>
                <a:off x="3592" y="2619"/>
                <a:ext cx="70" cy="3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23" name="Rectangle 134"/>
              <p:cNvSpPr>
                <a:spLocks noChangeArrowheads="1"/>
              </p:cNvSpPr>
              <p:nvPr/>
            </p:nvSpPr>
            <p:spPr bwMode="auto">
              <a:xfrm>
                <a:off x="3653" y="2575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1</a:t>
                </a:r>
                <a:endParaRPr lang="en-US" altLang="en-US" b="1"/>
              </a:p>
            </p:txBody>
          </p:sp>
          <p:sp>
            <p:nvSpPr>
              <p:cNvPr id="35124" name="Rectangle 135"/>
              <p:cNvSpPr>
                <a:spLocks noChangeArrowheads="1"/>
              </p:cNvSpPr>
              <p:nvPr/>
            </p:nvSpPr>
            <p:spPr bwMode="auto">
              <a:xfrm>
                <a:off x="3684" y="2575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4</a:t>
                </a:r>
                <a:endParaRPr lang="en-US" altLang="en-US" b="1"/>
              </a:p>
            </p:txBody>
          </p:sp>
          <p:sp>
            <p:nvSpPr>
              <p:cNvPr id="35125" name="Freeform 136"/>
              <p:cNvSpPr>
                <a:spLocks/>
              </p:cNvSpPr>
              <p:nvPr/>
            </p:nvSpPr>
            <p:spPr bwMode="auto">
              <a:xfrm>
                <a:off x="1791" y="3349"/>
                <a:ext cx="26" cy="26"/>
              </a:xfrm>
              <a:custGeom>
                <a:avLst/>
                <a:gdLst>
                  <a:gd name="T0" fmla="*/ 12 w 26"/>
                  <a:gd name="T1" fmla="*/ 26 h 26"/>
                  <a:gd name="T2" fmla="*/ 16 w 26"/>
                  <a:gd name="T3" fmla="*/ 26 h 26"/>
                  <a:gd name="T4" fmla="*/ 17 w 26"/>
                  <a:gd name="T5" fmla="*/ 26 h 26"/>
                  <a:gd name="T6" fmla="*/ 19 w 26"/>
                  <a:gd name="T7" fmla="*/ 24 h 26"/>
                  <a:gd name="T8" fmla="*/ 21 w 26"/>
                  <a:gd name="T9" fmla="*/ 24 h 26"/>
                  <a:gd name="T10" fmla="*/ 22 w 26"/>
                  <a:gd name="T11" fmla="*/ 23 h 26"/>
                  <a:gd name="T12" fmla="*/ 24 w 26"/>
                  <a:gd name="T13" fmla="*/ 21 h 26"/>
                  <a:gd name="T14" fmla="*/ 24 w 26"/>
                  <a:gd name="T15" fmla="*/ 19 h 26"/>
                  <a:gd name="T16" fmla="*/ 26 w 26"/>
                  <a:gd name="T17" fmla="*/ 17 h 26"/>
                  <a:gd name="T18" fmla="*/ 26 w 26"/>
                  <a:gd name="T19" fmla="*/ 16 h 26"/>
                  <a:gd name="T20" fmla="*/ 26 w 26"/>
                  <a:gd name="T21" fmla="*/ 14 h 26"/>
                  <a:gd name="T22" fmla="*/ 26 w 26"/>
                  <a:gd name="T23" fmla="*/ 11 h 26"/>
                  <a:gd name="T24" fmla="*/ 26 w 26"/>
                  <a:gd name="T25" fmla="*/ 9 h 26"/>
                  <a:gd name="T26" fmla="*/ 24 w 26"/>
                  <a:gd name="T27" fmla="*/ 7 h 26"/>
                  <a:gd name="T28" fmla="*/ 24 w 26"/>
                  <a:gd name="T29" fmla="*/ 5 h 26"/>
                  <a:gd name="T30" fmla="*/ 22 w 26"/>
                  <a:gd name="T31" fmla="*/ 4 h 26"/>
                  <a:gd name="T32" fmla="*/ 21 w 26"/>
                  <a:gd name="T33" fmla="*/ 2 h 26"/>
                  <a:gd name="T34" fmla="*/ 19 w 26"/>
                  <a:gd name="T35" fmla="*/ 2 h 26"/>
                  <a:gd name="T36" fmla="*/ 17 w 26"/>
                  <a:gd name="T37" fmla="*/ 0 h 26"/>
                  <a:gd name="T38" fmla="*/ 16 w 26"/>
                  <a:gd name="T39" fmla="*/ 0 h 26"/>
                  <a:gd name="T40" fmla="*/ 14 w 26"/>
                  <a:gd name="T41" fmla="*/ 0 h 26"/>
                  <a:gd name="T42" fmla="*/ 10 w 26"/>
                  <a:gd name="T43" fmla="*/ 0 h 26"/>
                  <a:gd name="T44" fmla="*/ 9 w 26"/>
                  <a:gd name="T45" fmla="*/ 0 h 26"/>
                  <a:gd name="T46" fmla="*/ 7 w 26"/>
                  <a:gd name="T47" fmla="*/ 2 h 26"/>
                  <a:gd name="T48" fmla="*/ 5 w 26"/>
                  <a:gd name="T49" fmla="*/ 2 h 26"/>
                  <a:gd name="T50" fmla="*/ 4 w 26"/>
                  <a:gd name="T51" fmla="*/ 4 h 26"/>
                  <a:gd name="T52" fmla="*/ 2 w 26"/>
                  <a:gd name="T53" fmla="*/ 5 h 26"/>
                  <a:gd name="T54" fmla="*/ 2 w 26"/>
                  <a:gd name="T55" fmla="*/ 7 h 26"/>
                  <a:gd name="T56" fmla="*/ 0 w 26"/>
                  <a:gd name="T57" fmla="*/ 9 h 26"/>
                  <a:gd name="T58" fmla="*/ 0 w 26"/>
                  <a:gd name="T59" fmla="*/ 11 h 26"/>
                  <a:gd name="T60" fmla="*/ 0 w 26"/>
                  <a:gd name="T61" fmla="*/ 14 h 26"/>
                  <a:gd name="T62" fmla="*/ 0 w 26"/>
                  <a:gd name="T63" fmla="*/ 16 h 26"/>
                  <a:gd name="T64" fmla="*/ 0 w 26"/>
                  <a:gd name="T65" fmla="*/ 17 h 26"/>
                  <a:gd name="T66" fmla="*/ 2 w 26"/>
                  <a:gd name="T67" fmla="*/ 19 h 26"/>
                  <a:gd name="T68" fmla="*/ 2 w 26"/>
                  <a:gd name="T69" fmla="*/ 21 h 26"/>
                  <a:gd name="T70" fmla="*/ 4 w 26"/>
                  <a:gd name="T71" fmla="*/ 23 h 26"/>
                  <a:gd name="T72" fmla="*/ 5 w 26"/>
                  <a:gd name="T73" fmla="*/ 24 h 26"/>
                  <a:gd name="T74" fmla="*/ 7 w 26"/>
                  <a:gd name="T75" fmla="*/ 24 h 26"/>
                  <a:gd name="T76" fmla="*/ 9 w 26"/>
                  <a:gd name="T77" fmla="*/ 26 h 26"/>
                  <a:gd name="T78" fmla="*/ 10 w 26"/>
                  <a:gd name="T79" fmla="*/ 26 h 26"/>
                  <a:gd name="T80" fmla="*/ 14 w 26"/>
                  <a:gd name="T81" fmla="*/ 26 h 26"/>
                  <a:gd name="T82" fmla="*/ 14 w 26"/>
                  <a:gd name="T83" fmla="*/ 26 h 26"/>
                  <a:gd name="T84" fmla="*/ 12 w 26"/>
                  <a:gd name="T85" fmla="*/ 26 h 2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6"/>
                  <a:gd name="T130" fmla="*/ 0 h 26"/>
                  <a:gd name="T131" fmla="*/ 26 w 26"/>
                  <a:gd name="T132" fmla="*/ 26 h 2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6" h="26">
                    <a:moveTo>
                      <a:pt x="12" y="26"/>
                    </a:moveTo>
                    <a:lnTo>
                      <a:pt x="16" y="26"/>
                    </a:lnTo>
                    <a:lnTo>
                      <a:pt x="17" y="26"/>
                    </a:lnTo>
                    <a:lnTo>
                      <a:pt x="19" y="24"/>
                    </a:lnTo>
                    <a:lnTo>
                      <a:pt x="21" y="24"/>
                    </a:lnTo>
                    <a:lnTo>
                      <a:pt x="22" y="23"/>
                    </a:lnTo>
                    <a:lnTo>
                      <a:pt x="24" y="21"/>
                    </a:lnTo>
                    <a:lnTo>
                      <a:pt x="24" y="19"/>
                    </a:lnTo>
                    <a:lnTo>
                      <a:pt x="26" y="17"/>
                    </a:lnTo>
                    <a:lnTo>
                      <a:pt x="26" y="16"/>
                    </a:lnTo>
                    <a:lnTo>
                      <a:pt x="26" y="14"/>
                    </a:lnTo>
                    <a:lnTo>
                      <a:pt x="26" y="11"/>
                    </a:lnTo>
                    <a:lnTo>
                      <a:pt x="26" y="9"/>
                    </a:lnTo>
                    <a:lnTo>
                      <a:pt x="24" y="7"/>
                    </a:lnTo>
                    <a:lnTo>
                      <a:pt x="24" y="5"/>
                    </a:lnTo>
                    <a:lnTo>
                      <a:pt x="22" y="4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7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9" y="0"/>
                    </a:lnTo>
                    <a:lnTo>
                      <a:pt x="7" y="2"/>
                    </a:lnTo>
                    <a:lnTo>
                      <a:pt x="5" y="2"/>
                    </a:lnTo>
                    <a:lnTo>
                      <a:pt x="4" y="4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4" y="23"/>
                    </a:lnTo>
                    <a:lnTo>
                      <a:pt x="5" y="24"/>
                    </a:lnTo>
                    <a:lnTo>
                      <a:pt x="7" y="24"/>
                    </a:lnTo>
                    <a:lnTo>
                      <a:pt x="9" y="26"/>
                    </a:lnTo>
                    <a:lnTo>
                      <a:pt x="10" y="26"/>
                    </a:lnTo>
                    <a:lnTo>
                      <a:pt x="14" y="26"/>
                    </a:lnTo>
                    <a:lnTo>
                      <a:pt x="1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26" name="Freeform 137"/>
              <p:cNvSpPr>
                <a:spLocks/>
              </p:cNvSpPr>
              <p:nvPr/>
            </p:nvSpPr>
            <p:spPr bwMode="auto">
              <a:xfrm>
                <a:off x="2260" y="3346"/>
                <a:ext cx="25" cy="26"/>
              </a:xfrm>
              <a:custGeom>
                <a:avLst/>
                <a:gdLst>
                  <a:gd name="T0" fmla="*/ 12 w 25"/>
                  <a:gd name="T1" fmla="*/ 26 h 26"/>
                  <a:gd name="T2" fmla="*/ 15 w 25"/>
                  <a:gd name="T3" fmla="*/ 26 h 26"/>
                  <a:gd name="T4" fmla="*/ 17 w 25"/>
                  <a:gd name="T5" fmla="*/ 26 h 26"/>
                  <a:gd name="T6" fmla="*/ 19 w 25"/>
                  <a:gd name="T7" fmla="*/ 24 h 26"/>
                  <a:gd name="T8" fmla="*/ 20 w 25"/>
                  <a:gd name="T9" fmla="*/ 24 h 26"/>
                  <a:gd name="T10" fmla="*/ 22 w 25"/>
                  <a:gd name="T11" fmla="*/ 22 h 26"/>
                  <a:gd name="T12" fmla="*/ 24 w 25"/>
                  <a:gd name="T13" fmla="*/ 20 h 26"/>
                  <a:gd name="T14" fmla="*/ 25 w 25"/>
                  <a:gd name="T15" fmla="*/ 19 h 26"/>
                  <a:gd name="T16" fmla="*/ 25 w 25"/>
                  <a:gd name="T17" fmla="*/ 17 h 26"/>
                  <a:gd name="T18" fmla="*/ 25 w 25"/>
                  <a:gd name="T19" fmla="*/ 15 h 26"/>
                  <a:gd name="T20" fmla="*/ 25 w 25"/>
                  <a:gd name="T21" fmla="*/ 12 h 26"/>
                  <a:gd name="T22" fmla="*/ 25 w 25"/>
                  <a:gd name="T23" fmla="*/ 10 h 26"/>
                  <a:gd name="T24" fmla="*/ 25 w 25"/>
                  <a:gd name="T25" fmla="*/ 8 h 26"/>
                  <a:gd name="T26" fmla="*/ 25 w 25"/>
                  <a:gd name="T27" fmla="*/ 7 h 26"/>
                  <a:gd name="T28" fmla="*/ 24 w 25"/>
                  <a:gd name="T29" fmla="*/ 5 h 26"/>
                  <a:gd name="T30" fmla="*/ 22 w 25"/>
                  <a:gd name="T31" fmla="*/ 3 h 26"/>
                  <a:gd name="T32" fmla="*/ 20 w 25"/>
                  <a:gd name="T33" fmla="*/ 2 h 26"/>
                  <a:gd name="T34" fmla="*/ 19 w 25"/>
                  <a:gd name="T35" fmla="*/ 2 h 26"/>
                  <a:gd name="T36" fmla="*/ 17 w 25"/>
                  <a:gd name="T37" fmla="*/ 0 h 26"/>
                  <a:gd name="T38" fmla="*/ 15 w 25"/>
                  <a:gd name="T39" fmla="*/ 0 h 26"/>
                  <a:gd name="T40" fmla="*/ 13 w 25"/>
                  <a:gd name="T41" fmla="*/ 0 h 26"/>
                  <a:gd name="T42" fmla="*/ 12 w 25"/>
                  <a:gd name="T43" fmla="*/ 0 h 26"/>
                  <a:gd name="T44" fmla="*/ 8 w 25"/>
                  <a:gd name="T45" fmla="*/ 0 h 26"/>
                  <a:gd name="T46" fmla="*/ 7 w 25"/>
                  <a:gd name="T47" fmla="*/ 2 h 26"/>
                  <a:gd name="T48" fmla="*/ 5 w 25"/>
                  <a:gd name="T49" fmla="*/ 2 h 26"/>
                  <a:gd name="T50" fmla="*/ 3 w 25"/>
                  <a:gd name="T51" fmla="*/ 3 h 26"/>
                  <a:gd name="T52" fmla="*/ 3 w 25"/>
                  <a:gd name="T53" fmla="*/ 5 h 26"/>
                  <a:gd name="T54" fmla="*/ 1 w 25"/>
                  <a:gd name="T55" fmla="*/ 7 h 26"/>
                  <a:gd name="T56" fmla="*/ 1 w 25"/>
                  <a:gd name="T57" fmla="*/ 8 h 26"/>
                  <a:gd name="T58" fmla="*/ 0 w 25"/>
                  <a:gd name="T59" fmla="*/ 10 h 26"/>
                  <a:gd name="T60" fmla="*/ 0 w 25"/>
                  <a:gd name="T61" fmla="*/ 12 h 26"/>
                  <a:gd name="T62" fmla="*/ 0 w 25"/>
                  <a:gd name="T63" fmla="*/ 15 h 26"/>
                  <a:gd name="T64" fmla="*/ 1 w 25"/>
                  <a:gd name="T65" fmla="*/ 17 h 26"/>
                  <a:gd name="T66" fmla="*/ 1 w 25"/>
                  <a:gd name="T67" fmla="*/ 19 h 26"/>
                  <a:gd name="T68" fmla="*/ 3 w 25"/>
                  <a:gd name="T69" fmla="*/ 20 h 26"/>
                  <a:gd name="T70" fmla="*/ 3 w 25"/>
                  <a:gd name="T71" fmla="*/ 22 h 26"/>
                  <a:gd name="T72" fmla="*/ 5 w 25"/>
                  <a:gd name="T73" fmla="*/ 24 h 26"/>
                  <a:gd name="T74" fmla="*/ 7 w 25"/>
                  <a:gd name="T75" fmla="*/ 24 h 26"/>
                  <a:gd name="T76" fmla="*/ 8 w 25"/>
                  <a:gd name="T77" fmla="*/ 26 h 26"/>
                  <a:gd name="T78" fmla="*/ 12 w 25"/>
                  <a:gd name="T79" fmla="*/ 26 h 26"/>
                  <a:gd name="T80" fmla="*/ 13 w 25"/>
                  <a:gd name="T81" fmla="*/ 26 h 26"/>
                  <a:gd name="T82" fmla="*/ 13 w 25"/>
                  <a:gd name="T83" fmla="*/ 26 h 26"/>
                  <a:gd name="T84" fmla="*/ 12 w 25"/>
                  <a:gd name="T85" fmla="*/ 26 h 2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5"/>
                  <a:gd name="T130" fmla="*/ 0 h 26"/>
                  <a:gd name="T131" fmla="*/ 25 w 25"/>
                  <a:gd name="T132" fmla="*/ 26 h 2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5" h="26">
                    <a:moveTo>
                      <a:pt x="12" y="26"/>
                    </a:moveTo>
                    <a:lnTo>
                      <a:pt x="15" y="26"/>
                    </a:lnTo>
                    <a:lnTo>
                      <a:pt x="17" y="26"/>
                    </a:lnTo>
                    <a:lnTo>
                      <a:pt x="19" y="24"/>
                    </a:lnTo>
                    <a:lnTo>
                      <a:pt x="20" y="24"/>
                    </a:lnTo>
                    <a:lnTo>
                      <a:pt x="22" y="22"/>
                    </a:lnTo>
                    <a:lnTo>
                      <a:pt x="24" y="20"/>
                    </a:lnTo>
                    <a:lnTo>
                      <a:pt x="25" y="19"/>
                    </a:lnTo>
                    <a:lnTo>
                      <a:pt x="25" y="17"/>
                    </a:lnTo>
                    <a:lnTo>
                      <a:pt x="25" y="15"/>
                    </a:lnTo>
                    <a:lnTo>
                      <a:pt x="25" y="12"/>
                    </a:lnTo>
                    <a:lnTo>
                      <a:pt x="25" y="10"/>
                    </a:lnTo>
                    <a:lnTo>
                      <a:pt x="25" y="8"/>
                    </a:lnTo>
                    <a:lnTo>
                      <a:pt x="25" y="7"/>
                    </a:lnTo>
                    <a:lnTo>
                      <a:pt x="24" y="5"/>
                    </a:lnTo>
                    <a:lnTo>
                      <a:pt x="22" y="3"/>
                    </a:lnTo>
                    <a:lnTo>
                      <a:pt x="20" y="2"/>
                    </a:lnTo>
                    <a:lnTo>
                      <a:pt x="19" y="2"/>
                    </a:lnTo>
                    <a:lnTo>
                      <a:pt x="17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7" y="2"/>
                    </a:lnTo>
                    <a:lnTo>
                      <a:pt x="5" y="2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0" y="10"/>
                    </a:lnTo>
                    <a:lnTo>
                      <a:pt x="0" y="12"/>
                    </a:lnTo>
                    <a:lnTo>
                      <a:pt x="0" y="15"/>
                    </a:lnTo>
                    <a:lnTo>
                      <a:pt x="1" y="17"/>
                    </a:lnTo>
                    <a:lnTo>
                      <a:pt x="1" y="19"/>
                    </a:lnTo>
                    <a:lnTo>
                      <a:pt x="3" y="20"/>
                    </a:lnTo>
                    <a:lnTo>
                      <a:pt x="3" y="22"/>
                    </a:lnTo>
                    <a:lnTo>
                      <a:pt x="5" y="24"/>
                    </a:lnTo>
                    <a:lnTo>
                      <a:pt x="7" y="24"/>
                    </a:lnTo>
                    <a:lnTo>
                      <a:pt x="8" y="26"/>
                    </a:lnTo>
                    <a:lnTo>
                      <a:pt x="12" y="26"/>
                    </a:lnTo>
                    <a:lnTo>
                      <a:pt x="13" y="26"/>
                    </a:lnTo>
                    <a:lnTo>
                      <a:pt x="1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27" name="Freeform 138"/>
              <p:cNvSpPr>
                <a:spLocks/>
              </p:cNvSpPr>
              <p:nvPr/>
            </p:nvSpPr>
            <p:spPr bwMode="auto">
              <a:xfrm>
                <a:off x="3564" y="3349"/>
                <a:ext cx="26" cy="28"/>
              </a:xfrm>
              <a:custGeom>
                <a:avLst/>
                <a:gdLst>
                  <a:gd name="T0" fmla="*/ 12 w 26"/>
                  <a:gd name="T1" fmla="*/ 26 h 28"/>
                  <a:gd name="T2" fmla="*/ 16 w 26"/>
                  <a:gd name="T3" fmla="*/ 28 h 28"/>
                  <a:gd name="T4" fmla="*/ 17 w 26"/>
                  <a:gd name="T5" fmla="*/ 26 h 28"/>
                  <a:gd name="T6" fmla="*/ 19 w 26"/>
                  <a:gd name="T7" fmla="*/ 26 h 28"/>
                  <a:gd name="T8" fmla="*/ 21 w 26"/>
                  <a:gd name="T9" fmla="*/ 24 h 28"/>
                  <a:gd name="T10" fmla="*/ 22 w 26"/>
                  <a:gd name="T11" fmla="*/ 23 h 28"/>
                  <a:gd name="T12" fmla="*/ 24 w 26"/>
                  <a:gd name="T13" fmla="*/ 21 h 28"/>
                  <a:gd name="T14" fmla="*/ 24 w 26"/>
                  <a:gd name="T15" fmla="*/ 19 h 28"/>
                  <a:gd name="T16" fmla="*/ 26 w 26"/>
                  <a:gd name="T17" fmla="*/ 17 h 28"/>
                  <a:gd name="T18" fmla="*/ 26 w 26"/>
                  <a:gd name="T19" fmla="*/ 16 h 28"/>
                  <a:gd name="T20" fmla="*/ 26 w 26"/>
                  <a:gd name="T21" fmla="*/ 14 h 28"/>
                  <a:gd name="T22" fmla="*/ 26 w 26"/>
                  <a:gd name="T23" fmla="*/ 12 h 28"/>
                  <a:gd name="T24" fmla="*/ 26 w 26"/>
                  <a:gd name="T25" fmla="*/ 11 h 28"/>
                  <a:gd name="T26" fmla="*/ 24 w 26"/>
                  <a:gd name="T27" fmla="*/ 7 h 28"/>
                  <a:gd name="T28" fmla="*/ 24 w 26"/>
                  <a:gd name="T29" fmla="*/ 5 h 28"/>
                  <a:gd name="T30" fmla="*/ 22 w 26"/>
                  <a:gd name="T31" fmla="*/ 5 h 28"/>
                  <a:gd name="T32" fmla="*/ 21 w 26"/>
                  <a:gd name="T33" fmla="*/ 4 h 28"/>
                  <a:gd name="T34" fmla="*/ 19 w 26"/>
                  <a:gd name="T35" fmla="*/ 2 h 28"/>
                  <a:gd name="T36" fmla="*/ 17 w 26"/>
                  <a:gd name="T37" fmla="*/ 2 h 28"/>
                  <a:gd name="T38" fmla="*/ 16 w 26"/>
                  <a:gd name="T39" fmla="*/ 0 h 28"/>
                  <a:gd name="T40" fmla="*/ 12 w 26"/>
                  <a:gd name="T41" fmla="*/ 0 h 28"/>
                  <a:gd name="T42" fmla="*/ 11 w 26"/>
                  <a:gd name="T43" fmla="*/ 0 h 28"/>
                  <a:gd name="T44" fmla="*/ 9 w 26"/>
                  <a:gd name="T45" fmla="*/ 2 h 28"/>
                  <a:gd name="T46" fmla="*/ 7 w 26"/>
                  <a:gd name="T47" fmla="*/ 2 h 28"/>
                  <a:gd name="T48" fmla="*/ 5 w 26"/>
                  <a:gd name="T49" fmla="*/ 4 h 28"/>
                  <a:gd name="T50" fmla="*/ 4 w 26"/>
                  <a:gd name="T51" fmla="*/ 5 h 28"/>
                  <a:gd name="T52" fmla="*/ 2 w 26"/>
                  <a:gd name="T53" fmla="*/ 5 h 28"/>
                  <a:gd name="T54" fmla="*/ 2 w 26"/>
                  <a:gd name="T55" fmla="*/ 7 h 28"/>
                  <a:gd name="T56" fmla="*/ 0 w 26"/>
                  <a:gd name="T57" fmla="*/ 11 h 28"/>
                  <a:gd name="T58" fmla="*/ 0 w 26"/>
                  <a:gd name="T59" fmla="*/ 12 h 28"/>
                  <a:gd name="T60" fmla="*/ 0 w 26"/>
                  <a:gd name="T61" fmla="*/ 14 h 28"/>
                  <a:gd name="T62" fmla="*/ 0 w 26"/>
                  <a:gd name="T63" fmla="*/ 16 h 28"/>
                  <a:gd name="T64" fmla="*/ 0 w 26"/>
                  <a:gd name="T65" fmla="*/ 17 h 28"/>
                  <a:gd name="T66" fmla="*/ 2 w 26"/>
                  <a:gd name="T67" fmla="*/ 19 h 28"/>
                  <a:gd name="T68" fmla="*/ 2 w 26"/>
                  <a:gd name="T69" fmla="*/ 21 h 28"/>
                  <a:gd name="T70" fmla="*/ 4 w 26"/>
                  <a:gd name="T71" fmla="*/ 23 h 28"/>
                  <a:gd name="T72" fmla="*/ 5 w 26"/>
                  <a:gd name="T73" fmla="*/ 24 h 28"/>
                  <a:gd name="T74" fmla="*/ 7 w 26"/>
                  <a:gd name="T75" fmla="*/ 26 h 28"/>
                  <a:gd name="T76" fmla="*/ 9 w 26"/>
                  <a:gd name="T77" fmla="*/ 26 h 28"/>
                  <a:gd name="T78" fmla="*/ 11 w 26"/>
                  <a:gd name="T79" fmla="*/ 28 h 28"/>
                  <a:gd name="T80" fmla="*/ 12 w 26"/>
                  <a:gd name="T81" fmla="*/ 28 h 28"/>
                  <a:gd name="T82" fmla="*/ 12 w 26"/>
                  <a:gd name="T83" fmla="*/ 28 h 28"/>
                  <a:gd name="T84" fmla="*/ 12 w 26"/>
                  <a:gd name="T85" fmla="*/ 26 h 2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6"/>
                  <a:gd name="T130" fmla="*/ 0 h 28"/>
                  <a:gd name="T131" fmla="*/ 26 w 26"/>
                  <a:gd name="T132" fmla="*/ 28 h 2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6" h="28">
                    <a:moveTo>
                      <a:pt x="12" y="26"/>
                    </a:moveTo>
                    <a:lnTo>
                      <a:pt x="16" y="28"/>
                    </a:lnTo>
                    <a:lnTo>
                      <a:pt x="17" y="26"/>
                    </a:lnTo>
                    <a:lnTo>
                      <a:pt x="19" y="26"/>
                    </a:lnTo>
                    <a:lnTo>
                      <a:pt x="21" y="24"/>
                    </a:lnTo>
                    <a:lnTo>
                      <a:pt x="22" y="23"/>
                    </a:lnTo>
                    <a:lnTo>
                      <a:pt x="24" y="21"/>
                    </a:lnTo>
                    <a:lnTo>
                      <a:pt x="24" y="19"/>
                    </a:lnTo>
                    <a:lnTo>
                      <a:pt x="26" y="17"/>
                    </a:lnTo>
                    <a:lnTo>
                      <a:pt x="26" y="16"/>
                    </a:lnTo>
                    <a:lnTo>
                      <a:pt x="26" y="14"/>
                    </a:lnTo>
                    <a:lnTo>
                      <a:pt x="26" y="12"/>
                    </a:lnTo>
                    <a:lnTo>
                      <a:pt x="26" y="11"/>
                    </a:lnTo>
                    <a:lnTo>
                      <a:pt x="24" y="7"/>
                    </a:lnTo>
                    <a:lnTo>
                      <a:pt x="24" y="5"/>
                    </a:lnTo>
                    <a:lnTo>
                      <a:pt x="22" y="5"/>
                    </a:lnTo>
                    <a:lnTo>
                      <a:pt x="21" y="4"/>
                    </a:lnTo>
                    <a:lnTo>
                      <a:pt x="19" y="2"/>
                    </a:lnTo>
                    <a:lnTo>
                      <a:pt x="17" y="2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11" y="0"/>
                    </a:lnTo>
                    <a:lnTo>
                      <a:pt x="9" y="2"/>
                    </a:lnTo>
                    <a:lnTo>
                      <a:pt x="7" y="2"/>
                    </a:lnTo>
                    <a:lnTo>
                      <a:pt x="5" y="4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4" y="23"/>
                    </a:lnTo>
                    <a:lnTo>
                      <a:pt x="5" y="24"/>
                    </a:lnTo>
                    <a:lnTo>
                      <a:pt x="7" y="26"/>
                    </a:lnTo>
                    <a:lnTo>
                      <a:pt x="9" y="26"/>
                    </a:lnTo>
                    <a:lnTo>
                      <a:pt x="11" y="28"/>
                    </a:lnTo>
                    <a:lnTo>
                      <a:pt x="12" y="28"/>
                    </a:lnTo>
                    <a:lnTo>
                      <a:pt x="12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28" name="Rectangle 139"/>
              <p:cNvSpPr>
                <a:spLocks noChangeArrowheads="1"/>
              </p:cNvSpPr>
              <p:nvPr/>
            </p:nvSpPr>
            <p:spPr bwMode="auto">
              <a:xfrm>
                <a:off x="3545" y="2462"/>
                <a:ext cx="3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35129" name="Rectangle 140"/>
              <p:cNvSpPr>
                <a:spLocks noChangeArrowheads="1"/>
              </p:cNvSpPr>
              <p:nvPr/>
            </p:nvSpPr>
            <p:spPr bwMode="auto">
              <a:xfrm>
                <a:off x="3586" y="246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130" name="Rectangle 141"/>
              <p:cNvSpPr>
                <a:spLocks noChangeArrowheads="1"/>
              </p:cNvSpPr>
              <p:nvPr/>
            </p:nvSpPr>
            <p:spPr bwMode="auto">
              <a:xfrm>
                <a:off x="3619" y="2462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35131" name="Rectangle 142"/>
              <p:cNvSpPr>
                <a:spLocks noChangeArrowheads="1"/>
              </p:cNvSpPr>
              <p:nvPr/>
            </p:nvSpPr>
            <p:spPr bwMode="auto">
              <a:xfrm>
                <a:off x="3648" y="246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h</a:t>
                </a:r>
                <a:endParaRPr lang="en-US" altLang="en-US" b="1"/>
              </a:p>
            </p:txBody>
          </p:sp>
          <p:sp>
            <p:nvSpPr>
              <p:cNvPr id="35132" name="Rectangle 143"/>
              <p:cNvSpPr>
                <a:spLocks noChangeArrowheads="1"/>
              </p:cNvSpPr>
              <p:nvPr/>
            </p:nvSpPr>
            <p:spPr bwMode="auto">
              <a:xfrm>
                <a:off x="3679" y="246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133" name="Rectangle 144"/>
              <p:cNvSpPr>
                <a:spLocks noChangeArrowheads="1"/>
              </p:cNvSpPr>
              <p:nvPr/>
            </p:nvSpPr>
            <p:spPr bwMode="auto">
              <a:xfrm>
                <a:off x="3711" y="2462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134" name="Rectangle 145"/>
              <p:cNvSpPr>
                <a:spLocks noChangeArrowheads="1"/>
              </p:cNvSpPr>
              <p:nvPr/>
            </p:nvSpPr>
            <p:spPr bwMode="auto">
              <a:xfrm>
                <a:off x="3727" y="2462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35135" name="Rectangle 146"/>
              <p:cNvSpPr>
                <a:spLocks noChangeArrowheads="1"/>
              </p:cNvSpPr>
              <p:nvPr/>
            </p:nvSpPr>
            <p:spPr bwMode="auto">
              <a:xfrm>
                <a:off x="3739" y="246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n</a:t>
                </a:r>
                <a:endParaRPr lang="en-US" altLang="en-US" b="1"/>
              </a:p>
            </p:txBody>
          </p:sp>
          <p:sp>
            <p:nvSpPr>
              <p:cNvPr id="35136" name="Rectangle 147"/>
              <p:cNvSpPr>
                <a:spLocks noChangeArrowheads="1"/>
              </p:cNvSpPr>
              <p:nvPr/>
            </p:nvSpPr>
            <p:spPr bwMode="auto">
              <a:xfrm>
                <a:off x="3771" y="246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137" name="Rectangle 148"/>
              <p:cNvSpPr>
                <a:spLocks noChangeArrowheads="1"/>
              </p:cNvSpPr>
              <p:nvPr/>
            </p:nvSpPr>
            <p:spPr bwMode="auto">
              <a:xfrm>
                <a:off x="3802" y="246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138" name="Rectangle 149"/>
              <p:cNvSpPr>
                <a:spLocks noChangeArrowheads="1"/>
              </p:cNvSpPr>
              <p:nvPr/>
            </p:nvSpPr>
            <p:spPr bwMode="auto">
              <a:xfrm>
                <a:off x="3834" y="2462"/>
                <a:ext cx="2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x</a:t>
                </a:r>
                <a:endParaRPr lang="en-US" altLang="en-US" b="1"/>
              </a:p>
            </p:txBody>
          </p:sp>
          <p:sp>
            <p:nvSpPr>
              <p:cNvPr id="35139" name="Freeform 150"/>
              <p:cNvSpPr>
                <a:spLocks/>
              </p:cNvSpPr>
              <p:nvPr/>
            </p:nvSpPr>
            <p:spPr bwMode="auto">
              <a:xfrm>
                <a:off x="1740" y="3349"/>
                <a:ext cx="27" cy="28"/>
              </a:xfrm>
              <a:custGeom>
                <a:avLst/>
                <a:gdLst>
                  <a:gd name="T0" fmla="*/ 0 w 27"/>
                  <a:gd name="T1" fmla="*/ 0 h 28"/>
                  <a:gd name="T2" fmla="*/ 2 w 27"/>
                  <a:gd name="T3" fmla="*/ 28 h 28"/>
                  <a:gd name="T4" fmla="*/ 27 w 27"/>
                  <a:gd name="T5" fmla="*/ 14 h 28"/>
                  <a:gd name="T6" fmla="*/ 2 w 27"/>
                  <a:gd name="T7" fmla="*/ 0 h 28"/>
                  <a:gd name="T8" fmla="*/ 2 w 27"/>
                  <a:gd name="T9" fmla="*/ 0 h 28"/>
                  <a:gd name="T10" fmla="*/ 0 w 27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28"/>
                  <a:gd name="T20" fmla="*/ 27 w 2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28">
                    <a:moveTo>
                      <a:pt x="0" y="0"/>
                    </a:moveTo>
                    <a:lnTo>
                      <a:pt x="2" y="28"/>
                    </a:lnTo>
                    <a:lnTo>
                      <a:pt x="27" y="14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0" name="Freeform 151"/>
              <p:cNvSpPr>
                <a:spLocks/>
              </p:cNvSpPr>
              <p:nvPr/>
            </p:nvSpPr>
            <p:spPr bwMode="auto">
              <a:xfrm>
                <a:off x="1709" y="2561"/>
                <a:ext cx="1919" cy="802"/>
              </a:xfrm>
              <a:custGeom>
                <a:avLst/>
                <a:gdLst>
                  <a:gd name="T0" fmla="*/ 1917 w 1919"/>
                  <a:gd name="T1" fmla="*/ 0 h 802"/>
                  <a:gd name="T2" fmla="*/ 1919 w 1919"/>
                  <a:gd name="T3" fmla="*/ 292 h 802"/>
                  <a:gd name="T4" fmla="*/ 0 w 1919"/>
                  <a:gd name="T5" fmla="*/ 292 h 802"/>
                  <a:gd name="T6" fmla="*/ 0 w 1919"/>
                  <a:gd name="T7" fmla="*/ 802 h 802"/>
                  <a:gd name="T8" fmla="*/ 34 w 1919"/>
                  <a:gd name="T9" fmla="*/ 802 h 8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19"/>
                  <a:gd name="T16" fmla="*/ 0 h 802"/>
                  <a:gd name="T17" fmla="*/ 1919 w 1919"/>
                  <a:gd name="T18" fmla="*/ 802 h 8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19" h="802">
                    <a:moveTo>
                      <a:pt x="1917" y="0"/>
                    </a:moveTo>
                    <a:lnTo>
                      <a:pt x="1919" y="292"/>
                    </a:lnTo>
                    <a:lnTo>
                      <a:pt x="0" y="292"/>
                    </a:lnTo>
                    <a:lnTo>
                      <a:pt x="0" y="802"/>
                    </a:lnTo>
                    <a:lnTo>
                      <a:pt x="34" y="80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1" name="Freeform 152"/>
              <p:cNvSpPr>
                <a:spLocks/>
              </p:cNvSpPr>
              <p:nvPr/>
            </p:nvSpPr>
            <p:spPr bwMode="auto">
              <a:xfrm>
                <a:off x="1660" y="3750"/>
                <a:ext cx="124" cy="102"/>
              </a:xfrm>
              <a:custGeom>
                <a:avLst/>
                <a:gdLst>
                  <a:gd name="T0" fmla="*/ 49 w 124"/>
                  <a:gd name="T1" fmla="*/ 0 h 102"/>
                  <a:gd name="T2" fmla="*/ 42 w 124"/>
                  <a:gd name="T3" fmla="*/ 0 h 102"/>
                  <a:gd name="T4" fmla="*/ 34 w 124"/>
                  <a:gd name="T5" fmla="*/ 3 h 102"/>
                  <a:gd name="T6" fmla="*/ 27 w 124"/>
                  <a:gd name="T7" fmla="*/ 5 h 102"/>
                  <a:gd name="T8" fmla="*/ 20 w 124"/>
                  <a:gd name="T9" fmla="*/ 10 h 102"/>
                  <a:gd name="T10" fmla="*/ 15 w 124"/>
                  <a:gd name="T11" fmla="*/ 15 h 102"/>
                  <a:gd name="T12" fmla="*/ 10 w 124"/>
                  <a:gd name="T13" fmla="*/ 20 h 102"/>
                  <a:gd name="T14" fmla="*/ 6 w 124"/>
                  <a:gd name="T15" fmla="*/ 27 h 102"/>
                  <a:gd name="T16" fmla="*/ 3 w 124"/>
                  <a:gd name="T17" fmla="*/ 35 h 102"/>
                  <a:gd name="T18" fmla="*/ 1 w 124"/>
                  <a:gd name="T19" fmla="*/ 42 h 102"/>
                  <a:gd name="T20" fmla="*/ 0 w 124"/>
                  <a:gd name="T21" fmla="*/ 51 h 102"/>
                  <a:gd name="T22" fmla="*/ 1 w 124"/>
                  <a:gd name="T23" fmla="*/ 59 h 102"/>
                  <a:gd name="T24" fmla="*/ 3 w 124"/>
                  <a:gd name="T25" fmla="*/ 68 h 102"/>
                  <a:gd name="T26" fmla="*/ 6 w 124"/>
                  <a:gd name="T27" fmla="*/ 75 h 102"/>
                  <a:gd name="T28" fmla="*/ 10 w 124"/>
                  <a:gd name="T29" fmla="*/ 82 h 102"/>
                  <a:gd name="T30" fmla="*/ 15 w 124"/>
                  <a:gd name="T31" fmla="*/ 87 h 102"/>
                  <a:gd name="T32" fmla="*/ 20 w 124"/>
                  <a:gd name="T33" fmla="*/ 92 h 102"/>
                  <a:gd name="T34" fmla="*/ 27 w 124"/>
                  <a:gd name="T35" fmla="*/ 97 h 102"/>
                  <a:gd name="T36" fmla="*/ 34 w 124"/>
                  <a:gd name="T37" fmla="*/ 100 h 102"/>
                  <a:gd name="T38" fmla="*/ 42 w 124"/>
                  <a:gd name="T39" fmla="*/ 102 h 102"/>
                  <a:gd name="T40" fmla="*/ 51 w 124"/>
                  <a:gd name="T41" fmla="*/ 102 h 102"/>
                  <a:gd name="T42" fmla="*/ 124 w 124"/>
                  <a:gd name="T43" fmla="*/ 102 h 102"/>
                  <a:gd name="T44" fmla="*/ 124 w 124"/>
                  <a:gd name="T45" fmla="*/ 0 h 102"/>
                  <a:gd name="T46" fmla="*/ 51 w 124"/>
                  <a:gd name="T47" fmla="*/ 0 h 102"/>
                  <a:gd name="T48" fmla="*/ 51 w 124"/>
                  <a:gd name="T49" fmla="*/ 0 h 10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24"/>
                  <a:gd name="T76" fmla="*/ 0 h 102"/>
                  <a:gd name="T77" fmla="*/ 124 w 124"/>
                  <a:gd name="T78" fmla="*/ 102 h 10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24" h="102">
                    <a:moveTo>
                      <a:pt x="49" y="0"/>
                    </a:moveTo>
                    <a:lnTo>
                      <a:pt x="42" y="0"/>
                    </a:lnTo>
                    <a:lnTo>
                      <a:pt x="34" y="3"/>
                    </a:lnTo>
                    <a:lnTo>
                      <a:pt x="27" y="5"/>
                    </a:lnTo>
                    <a:lnTo>
                      <a:pt x="20" y="10"/>
                    </a:lnTo>
                    <a:lnTo>
                      <a:pt x="15" y="15"/>
                    </a:lnTo>
                    <a:lnTo>
                      <a:pt x="10" y="20"/>
                    </a:lnTo>
                    <a:lnTo>
                      <a:pt x="6" y="27"/>
                    </a:lnTo>
                    <a:lnTo>
                      <a:pt x="3" y="35"/>
                    </a:lnTo>
                    <a:lnTo>
                      <a:pt x="1" y="42"/>
                    </a:lnTo>
                    <a:lnTo>
                      <a:pt x="0" y="51"/>
                    </a:lnTo>
                    <a:lnTo>
                      <a:pt x="1" y="59"/>
                    </a:lnTo>
                    <a:lnTo>
                      <a:pt x="3" y="68"/>
                    </a:lnTo>
                    <a:lnTo>
                      <a:pt x="6" y="75"/>
                    </a:lnTo>
                    <a:lnTo>
                      <a:pt x="10" y="82"/>
                    </a:lnTo>
                    <a:lnTo>
                      <a:pt x="15" y="87"/>
                    </a:lnTo>
                    <a:lnTo>
                      <a:pt x="20" y="92"/>
                    </a:lnTo>
                    <a:lnTo>
                      <a:pt x="27" y="97"/>
                    </a:lnTo>
                    <a:lnTo>
                      <a:pt x="34" y="100"/>
                    </a:lnTo>
                    <a:lnTo>
                      <a:pt x="42" y="102"/>
                    </a:lnTo>
                    <a:lnTo>
                      <a:pt x="51" y="102"/>
                    </a:lnTo>
                    <a:lnTo>
                      <a:pt x="124" y="102"/>
                    </a:lnTo>
                    <a:lnTo>
                      <a:pt x="124" y="0"/>
                    </a:lnTo>
                    <a:lnTo>
                      <a:pt x="51" y="0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2" name="Freeform 153"/>
              <p:cNvSpPr>
                <a:spLocks/>
              </p:cNvSpPr>
              <p:nvPr/>
            </p:nvSpPr>
            <p:spPr bwMode="auto">
              <a:xfrm>
                <a:off x="2215" y="3638"/>
                <a:ext cx="118" cy="118"/>
              </a:xfrm>
              <a:custGeom>
                <a:avLst/>
                <a:gdLst>
                  <a:gd name="T0" fmla="*/ 58 w 118"/>
                  <a:gd name="T1" fmla="*/ 117 h 118"/>
                  <a:gd name="T2" fmla="*/ 69 w 118"/>
                  <a:gd name="T3" fmla="*/ 117 h 118"/>
                  <a:gd name="T4" fmla="*/ 77 w 118"/>
                  <a:gd name="T5" fmla="*/ 115 h 118"/>
                  <a:gd name="T6" fmla="*/ 86 w 118"/>
                  <a:gd name="T7" fmla="*/ 112 h 118"/>
                  <a:gd name="T8" fmla="*/ 93 w 118"/>
                  <a:gd name="T9" fmla="*/ 106 h 118"/>
                  <a:gd name="T10" fmla="*/ 99 w 118"/>
                  <a:gd name="T11" fmla="*/ 100 h 118"/>
                  <a:gd name="T12" fmla="*/ 106 w 118"/>
                  <a:gd name="T13" fmla="*/ 93 h 118"/>
                  <a:gd name="T14" fmla="*/ 111 w 118"/>
                  <a:gd name="T15" fmla="*/ 86 h 118"/>
                  <a:gd name="T16" fmla="*/ 115 w 118"/>
                  <a:gd name="T17" fmla="*/ 77 h 118"/>
                  <a:gd name="T18" fmla="*/ 117 w 118"/>
                  <a:gd name="T19" fmla="*/ 69 h 118"/>
                  <a:gd name="T20" fmla="*/ 118 w 118"/>
                  <a:gd name="T21" fmla="*/ 59 h 118"/>
                  <a:gd name="T22" fmla="*/ 117 w 118"/>
                  <a:gd name="T23" fmla="*/ 50 h 118"/>
                  <a:gd name="T24" fmla="*/ 115 w 118"/>
                  <a:gd name="T25" fmla="*/ 40 h 118"/>
                  <a:gd name="T26" fmla="*/ 111 w 118"/>
                  <a:gd name="T27" fmla="*/ 31 h 118"/>
                  <a:gd name="T28" fmla="*/ 106 w 118"/>
                  <a:gd name="T29" fmla="*/ 24 h 118"/>
                  <a:gd name="T30" fmla="*/ 99 w 118"/>
                  <a:gd name="T31" fmla="*/ 17 h 118"/>
                  <a:gd name="T32" fmla="*/ 93 w 118"/>
                  <a:gd name="T33" fmla="*/ 11 h 118"/>
                  <a:gd name="T34" fmla="*/ 86 w 118"/>
                  <a:gd name="T35" fmla="*/ 6 h 118"/>
                  <a:gd name="T36" fmla="*/ 77 w 118"/>
                  <a:gd name="T37" fmla="*/ 2 h 118"/>
                  <a:gd name="T38" fmla="*/ 69 w 118"/>
                  <a:gd name="T39" fmla="*/ 0 h 118"/>
                  <a:gd name="T40" fmla="*/ 58 w 118"/>
                  <a:gd name="T41" fmla="*/ 0 h 118"/>
                  <a:gd name="T42" fmla="*/ 48 w 118"/>
                  <a:gd name="T43" fmla="*/ 0 h 118"/>
                  <a:gd name="T44" fmla="*/ 40 w 118"/>
                  <a:gd name="T45" fmla="*/ 2 h 118"/>
                  <a:gd name="T46" fmla="*/ 31 w 118"/>
                  <a:gd name="T47" fmla="*/ 6 h 118"/>
                  <a:gd name="T48" fmla="*/ 24 w 118"/>
                  <a:gd name="T49" fmla="*/ 11 h 118"/>
                  <a:gd name="T50" fmla="*/ 17 w 118"/>
                  <a:gd name="T51" fmla="*/ 17 h 118"/>
                  <a:gd name="T52" fmla="*/ 11 w 118"/>
                  <a:gd name="T53" fmla="*/ 24 h 118"/>
                  <a:gd name="T54" fmla="*/ 5 w 118"/>
                  <a:gd name="T55" fmla="*/ 31 h 118"/>
                  <a:gd name="T56" fmla="*/ 2 w 118"/>
                  <a:gd name="T57" fmla="*/ 40 h 118"/>
                  <a:gd name="T58" fmla="*/ 0 w 118"/>
                  <a:gd name="T59" fmla="*/ 50 h 118"/>
                  <a:gd name="T60" fmla="*/ 0 w 118"/>
                  <a:gd name="T61" fmla="*/ 59 h 118"/>
                  <a:gd name="T62" fmla="*/ 0 w 118"/>
                  <a:gd name="T63" fmla="*/ 69 h 118"/>
                  <a:gd name="T64" fmla="*/ 2 w 118"/>
                  <a:gd name="T65" fmla="*/ 77 h 118"/>
                  <a:gd name="T66" fmla="*/ 5 w 118"/>
                  <a:gd name="T67" fmla="*/ 86 h 118"/>
                  <a:gd name="T68" fmla="*/ 11 w 118"/>
                  <a:gd name="T69" fmla="*/ 93 h 118"/>
                  <a:gd name="T70" fmla="*/ 17 w 118"/>
                  <a:gd name="T71" fmla="*/ 100 h 118"/>
                  <a:gd name="T72" fmla="*/ 24 w 118"/>
                  <a:gd name="T73" fmla="*/ 106 h 118"/>
                  <a:gd name="T74" fmla="*/ 31 w 118"/>
                  <a:gd name="T75" fmla="*/ 112 h 118"/>
                  <a:gd name="T76" fmla="*/ 40 w 118"/>
                  <a:gd name="T77" fmla="*/ 115 h 118"/>
                  <a:gd name="T78" fmla="*/ 48 w 118"/>
                  <a:gd name="T79" fmla="*/ 117 h 118"/>
                  <a:gd name="T80" fmla="*/ 58 w 118"/>
                  <a:gd name="T81" fmla="*/ 118 h 118"/>
                  <a:gd name="T82" fmla="*/ 58 w 118"/>
                  <a:gd name="T83" fmla="*/ 118 h 11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118"/>
                  <a:gd name="T127" fmla="*/ 0 h 118"/>
                  <a:gd name="T128" fmla="*/ 118 w 118"/>
                  <a:gd name="T129" fmla="*/ 118 h 11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118" h="118">
                    <a:moveTo>
                      <a:pt x="58" y="117"/>
                    </a:moveTo>
                    <a:lnTo>
                      <a:pt x="69" y="117"/>
                    </a:lnTo>
                    <a:lnTo>
                      <a:pt x="77" y="115"/>
                    </a:lnTo>
                    <a:lnTo>
                      <a:pt x="86" y="112"/>
                    </a:lnTo>
                    <a:lnTo>
                      <a:pt x="93" y="106"/>
                    </a:lnTo>
                    <a:lnTo>
                      <a:pt x="99" y="100"/>
                    </a:lnTo>
                    <a:lnTo>
                      <a:pt x="106" y="93"/>
                    </a:lnTo>
                    <a:lnTo>
                      <a:pt x="111" y="86"/>
                    </a:lnTo>
                    <a:lnTo>
                      <a:pt x="115" y="77"/>
                    </a:lnTo>
                    <a:lnTo>
                      <a:pt x="117" y="69"/>
                    </a:lnTo>
                    <a:lnTo>
                      <a:pt x="118" y="59"/>
                    </a:lnTo>
                    <a:lnTo>
                      <a:pt x="117" y="50"/>
                    </a:lnTo>
                    <a:lnTo>
                      <a:pt x="115" y="40"/>
                    </a:lnTo>
                    <a:lnTo>
                      <a:pt x="111" y="31"/>
                    </a:lnTo>
                    <a:lnTo>
                      <a:pt x="106" y="24"/>
                    </a:lnTo>
                    <a:lnTo>
                      <a:pt x="99" y="17"/>
                    </a:lnTo>
                    <a:lnTo>
                      <a:pt x="93" y="11"/>
                    </a:lnTo>
                    <a:lnTo>
                      <a:pt x="86" y="6"/>
                    </a:lnTo>
                    <a:lnTo>
                      <a:pt x="77" y="2"/>
                    </a:lnTo>
                    <a:lnTo>
                      <a:pt x="69" y="0"/>
                    </a:lnTo>
                    <a:lnTo>
                      <a:pt x="58" y="0"/>
                    </a:lnTo>
                    <a:lnTo>
                      <a:pt x="48" y="0"/>
                    </a:lnTo>
                    <a:lnTo>
                      <a:pt x="40" y="2"/>
                    </a:lnTo>
                    <a:lnTo>
                      <a:pt x="31" y="6"/>
                    </a:lnTo>
                    <a:lnTo>
                      <a:pt x="24" y="11"/>
                    </a:lnTo>
                    <a:lnTo>
                      <a:pt x="17" y="17"/>
                    </a:lnTo>
                    <a:lnTo>
                      <a:pt x="11" y="24"/>
                    </a:lnTo>
                    <a:lnTo>
                      <a:pt x="5" y="31"/>
                    </a:lnTo>
                    <a:lnTo>
                      <a:pt x="2" y="40"/>
                    </a:lnTo>
                    <a:lnTo>
                      <a:pt x="0" y="50"/>
                    </a:lnTo>
                    <a:lnTo>
                      <a:pt x="0" y="59"/>
                    </a:lnTo>
                    <a:lnTo>
                      <a:pt x="0" y="69"/>
                    </a:lnTo>
                    <a:lnTo>
                      <a:pt x="2" y="77"/>
                    </a:lnTo>
                    <a:lnTo>
                      <a:pt x="5" y="86"/>
                    </a:lnTo>
                    <a:lnTo>
                      <a:pt x="11" y="93"/>
                    </a:lnTo>
                    <a:lnTo>
                      <a:pt x="17" y="100"/>
                    </a:lnTo>
                    <a:lnTo>
                      <a:pt x="24" y="106"/>
                    </a:lnTo>
                    <a:lnTo>
                      <a:pt x="31" y="112"/>
                    </a:lnTo>
                    <a:lnTo>
                      <a:pt x="40" y="115"/>
                    </a:lnTo>
                    <a:lnTo>
                      <a:pt x="48" y="117"/>
                    </a:lnTo>
                    <a:lnTo>
                      <a:pt x="58" y="118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3" name="Line 154"/>
              <p:cNvSpPr>
                <a:spLocks noChangeShapeType="1"/>
              </p:cNvSpPr>
              <p:nvPr/>
            </p:nvSpPr>
            <p:spPr bwMode="auto">
              <a:xfrm>
                <a:off x="2272" y="3358"/>
                <a:ext cx="1" cy="25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4" name="Freeform 155"/>
              <p:cNvSpPr>
                <a:spLocks noEditPoints="1"/>
              </p:cNvSpPr>
              <p:nvPr/>
            </p:nvSpPr>
            <p:spPr bwMode="auto">
              <a:xfrm>
                <a:off x="2256" y="3688"/>
                <a:ext cx="34" cy="17"/>
              </a:xfrm>
              <a:custGeom>
                <a:avLst/>
                <a:gdLst>
                  <a:gd name="T0" fmla="*/ 0 w 34"/>
                  <a:gd name="T1" fmla="*/ 0 h 17"/>
                  <a:gd name="T2" fmla="*/ 34 w 34"/>
                  <a:gd name="T3" fmla="*/ 0 h 17"/>
                  <a:gd name="T4" fmla="*/ 34 w 34"/>
                  <a:gd name="T5" fmla="*/ 5 h 17"/>
                  <a:gd name="T6" fmla="*/ 0 w 34"/>
                  <a:gd name="T7" fmla="*/ 5 h 17"/>
                  <a:gd name="T8" fmla="*/ 0 w 34"/>
                  <a:gd name="T9" fmla="*/ 0 h 17"/>
                  <a:gd name="T10" fmla="*/ 0 w 34"/>
                  <a:gd name="T11" fmla="*/ 0 h 17"/>
                  <a:gd name="T12" fmla="*/ 0 w 34"/>
                  <a:gd name="T13" fmla="*/ 14 h 17"/>
                  <a:gd name="T14" fmla="*/ 34 w 34"/>
                  <a:gd name="T15" fmla="*/ 14 h 17"/>
                  <a:gd name="T16" fmla="*/ 34 w 34"/>
                  <a:gd name="T17" fmla="*/ 17 h 17"/>
                  <a:gd name="T18" fmla="*/ 0 w 34"/>
                  <a:gd name="T19" fmla="*/ 17 h 17"/>
                  <a:gd name="T20" fmla="*/ 0 w 34"/>
                  <a:gd name="T21" fmla="*/ 14 h 17"/>
                  <a:gd name="T22" fmla="*/ 0 w 34"/>
                  <a:gd name="T23" fmla="*/ 14 h 1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"/>
                  <a:gd name="T37" fmla="*/ 0 h 17"/>
                  <a:gd name="T38" fmla="*/ 34 w 34"/>
                  <a:gd name="T39" fmla="*/ 17 h 1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" h="17">
                    <a:moveTo>
                      <a:pt x="0" y="0"/>
                    </a:moveTo>
                    <a:lnTo>
                      <a:pt x="34" y="0"/>
                    </a:lnTo>
                    <a:lnTo>
                      <a:pt x="34" y="5"/>
                    </a:lnTo>
                    <a:lnTo>
                      <a:pt x="0" y="5"/>
                    </a:lnTo>
                    <a:lnTo>
                      <a:pt x="0" y="0"/>
                    </a:lnTo>
                    <a:close/>
                    <a:moveTo>
                      <a:pt x="0" y="14"/>
                    </a:moveTo>
                    <a:lnTo>
                      <a:pt x="34" y="14"/>
                    </a:lnTo>
                    <a:lnTo>
                      <a:pt x="34" y="17"/>
                    </a:lnTo>
                    <a:lnTo>
                      <a:pt x="0" y="17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5" name="Freeform 156"/>
              <p:cNvSpPr>
                <a:spLocks/>
              </p:cNvSpPr>
              <p:nvPr/>
            </p:nvSpPr>
            <p:spPr bwMode="auto">
              <a:xfrm>
                <a:off x="1784" y="3361"/>
                <a:ext cx="19" cy="407"/>
              </a:xfrm>
              <a:custGeom>
                <a:avLst/>
                <a:gdLst>
                  <a:gd name="T0" fmla="*/ 19 w 19"/>
                  <a:gd name="T1" fmla="*/ 0 h 407"/>
                  <a:gd name="T2" fmla="*/ 19 w 19"/>
                  <a:gd name="T3" fmla="*/ 407 h 407"/>
                  <a:gd name="T4" fmla="*/ 0 w 19"/>
                  <a:gd name="T5" fmla="*/ 407 h 407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407"/>
                  <a:gd name="T11" fmla="*/ 19 w 19"/>
                  <a:gd name="T12" fmla="*/ 407 h 40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407">
                    <a:moveTo>
                      <a:pt x="19" y="0"/>
                    </a:moveTo>
                    <a:lnTo>
                      <a:pt x="19" y="407"/>
                    </a:lnTo>
                    <a:lnTo>
                      <a:pt x="0" y="407"/>
                    </a:lnTo>
                  </a:path>
                </a:pathLst>
              </a:cu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6" name="Freeform 157"/>
              <p:cNvSpPr>
                <a:spLocks/>
              </p:cNvSpPr>
              <p:nvPr/>
            </p:nvSpPr>
            <p:spPr bwMode="auto">
              <a:xfrm>
                <a:off x="1784" y="3755"/>
                <a:ext cx="489" cy="80"/>
              </a:xfrm>
              <a:custGeom>
                <a:avLst/>
                <a:gdLst>
                  <a:gd name="T0" fmla="*/ 488 w 489"/>
                  <a:gd name="T1" fmla="*/ 0 h 80"/>
                  <a:gd name="T2" fmla="*/ 489 w 489"/>
                  <a:gd name="T3" fmla="*/ 80 h 80"/>
                  <a:gd name="T4" fmla="*/ 0 w 489"/>
                  <a:gd name="T5" fmla="*/ 80 h 80"/>
                  <a:gd name="T6" fmla="*/ 0 60000 65536"/>
                  <a:gd name="T7" fmla="*/ 0 60000 65536"/>
                  <a:gd name="T8" fmla="*/ 0 60000 65536"/>
                  <a:gd name="T9" fmla="*/ 0 w 489"/>
                  <a:gd name="T10" fmla="*/ 0 h 80"/>
                  <a:gd name="T11" fmla="*/ 489 w 489"/>
                  <a:gd name="T12" fmla="*/ 80 h 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9" h="80">
                    <a:moveTo>
                      <a:pt x="488" y="0"/>
                    </a:moveTo>
                    <a:lnTo>
                      <a:pt x="489" y="80"/>
                    </a:lnTo>
                    <a:lnTo>
                      <a:pt x="0" y="8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7" name="Freeform 158"/>
              <p:cNvSpPr>
                <a:spLocks/>
              </p:cNvSpPr>
              <p:nvPr/>
            </p:nvSpPr>
            <p:spPr bwMode="auto">
              <a:xfrm>
                <a:off x="2184" y="3679"/>
                <a:ext cx="26" cy="26"/>
              </a:xfrm>
              <a:custGeom>
                <a:avLst/>
                <a:gdLst>
                  <a:gd name="T0" fmla="*/ 0 w 26"/>
                  <a:gd name="T1" fmla="*/ 0 h 26"/>
                  <a:gd name="T2" fmla="*/ 0 w 26"/>
                  <a:gd name="T3" fmla="*/ 26 h 26"/>
                  <a:gd name="T4" fmla="*/ 26 w 26"/>
                  <a:gd name="T5" fmla="*/ 14 h 26"/>
                  <a:gd name="T6" fmla="*/ 0 w 26"/>
                  <a:gd name="T7" fmla="*/ 0 h 26"/>
                  <a:gd name="T8" fmla="*/ 0 w 26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26"/>
                  <a:gd name="T17" fmla="*/ 26 w 26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26">
                    <a:moveTo>
                      <a:pt x="0" y="0"/>
                    </a:moveTo>
                    <a:lnTo>
                      <a:pt x="0" y="26"/>
                    </a:lnTo>
                    <a:lnTo>
                      <a:pt x="26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8" name="Freeform 159"/>
              <p:cNvSpPr>
                <a:spLocks/>
              </p:cNvSpPr>
              <p:nvPr/>
            </p:nvSpPr>
            <p:spPr bwMode="auto">
              <a:xfrm>
                <a:off x="1654" y="2561"/>
                <a:ext cx="954" cy="1136"/>
              </a:xfrm>
              <a:custGeom>
                <a:avLst/>
                <a:gdLst>
                  <a:gd name="T0" fmla="*/ 953 w 954"/>
                  <a:gd name="T1" fmla="*/ 0 h 1136"/>
                  <a:gd name="T2" fmla="*/ 954 w 954"/>
                  <a:gd name="T3" fmla="*/ 179 h 1136"/>
                  <a:gd name="T4" fmla="*/ 0 w 954"/>
                  <a:gd name="T5" fmla="*/ 179 h 1136"/>
                  <a:gd name="T6" fmla="*/ 0 w 954"/>
                  <a:gd name="T7" fmla="*/ 1136 h 1136"/>
                  <a:gd name="T8" fmla="*/ 542 w 954"/>
                  <a:gd name="T9" fmla="*/ 1132 h 11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4"/>
                  <a:gd name="T16" fmla="*/ 0 h 1136"/>
                  <a:gd name="T17" fmla="*/ 954 w 954"/>
                  <a:gd name="T18" fmla="*/ 1136 h 11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4" h="1136">
                    <a:moveTo>
                      <a:pt x="953" y="0"/>
                    </a:moveTo>
                    <a:lnTo>
                      <a:pt x="954" y="179"/>
                    </a:lnTo>
                    <a:lnTo>
                      <a:pt x="0" y="179"/>
                    </a:lnTo>
                    <a:lnTo>
                      <a:pt x="0" y="1136"/>
                    </a:lnTo>
                    <a:lnTo>
                      <a:pt x="542" y="1132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49" name="Line 160"/>
              <p:cNvSpPr>
                <a:spLocks noChangeShapeType="1"/>
              </p:cNvSpPr>
              <p:nvPr/>
            </p:nvSpPr>
            <p:spPr bwMode="auto">
              <a:xfrm>
                <a:off x="3576" y="3363"/>
                <a:ext cx="1" cy="3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50" name="Line 161"/>
              <p:cNvSpPr>
                <a:spLocks noChangeShapeType="1"/>
              </p:cNvSpPr>
              <p:nvPr/>
            </p:nvSpPr>
            <p:spPr bwMode="auto">
              <a:xfrm>
                <a:off x="3542" y="3616"/>
                <a:ext cx="68" cy="3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51" name="Rectangle 162"/>
              <p:cNvSpPr>
                <a:spLocks noChangeArrowheads="1"/>
              </p:cNvSpPr>
              <p:nvPr/>
            </p:nvSpPr>
            <p:spPr bwMode="auto">
              <a:xfrm>
                <a:off x="3602" y="357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3</a:t>
                </a:r>
                <a:endParaRPr lang="en-US" altLang="en-US" b="1"/>
              </a:p>
            </p:txBody>
          </p:sp>
          <p:sp>
            <p:nvSpPr>
              <p:cNvPr id="35152" name="Rectangle 163"/>
              <p:cNvSpPr>
                <a:spLocks noChangeArrowheads="1"/>
              </p:cNvSpPr>
              <p:nvPr/>
            </p:nvSpPr>
            <p:spPr bwMode="auto">
              <a:xfrm>
                <a:off x="3634" y="3572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35153" name="Rectangle 164"/>
              <p:cNvSpPr>
                <a:spLocks noChangeArrowheads="1"/>
              </p:cNvSpPr>
              <p:nvPr/>
            </p:nvSpPr>
            <p:spPr bwMode="auto">
              <a:xfrm>
                <a:off x="1448" y="3248"/>
                <a:ext cx="3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35154" name="Rectangle 165"/>
              <p:cNvSpPr>
                <a:spLocks noChangeArrowheads="1"/>
              </p:cNvSpPr>
              <p:nvPr/>
            </p:nvSpPr>
            <p:spPr bwMode="auto">
              <a:xfrm>
                <a:off x="1489" y="3248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155" name="Rectangle 166"/>
              <p:cNvSpPr>
                <a:spLocks noChangeArrowheads="1"/>
              </p:cNvSpPr>
              <p:nvPr/>
            </p:nvSpPr>
            <p:spPr bwMode="auto">
              <a:xfrm>
                <a:off x="1521" y="3248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35156" name="Rectangle 167"/>
              <p:cNvSpPr>
                <a:spLocks noChangeArrowheads="1"/>
              </p:cNvSpPr>
              <p:nvPr/>
            </p:nvSpPr>
            <p:spPr bwMode="auto">
              <a:xfrm>
                <a:off x="1548" y="3248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h</a:t>
                </a:r>
                <a:endParaRPr lang="en-US" altLang="en-US" b="1"/>
              </a:p>
            </p:txBody>
          </p:sp>
          <p:sp>
            <p:nvSpPr>
              <p:cNvPr id="35157" name="Rectangle 168"/>
              <p:cNvSpPr>
                <a:spLocks noChangeArrowheads="1"/>
              </p:cNvSpPr>
              <p:nvPr/>
            </p:nvSpPr>
            <p:spPr bwMode="auto">
              <a:xfrm>
                <a:off x="1581" y="3248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158" name="Freeform 169"/>
              <p:cNvSpPr>
                <a:spLocks/>
              </p:cNvSpPr>
              <p:nvPr/>
            </p:nvSpPr>
            <p:spPr bwMode="auto">
              <a:xfrm>
                <a:off x="3563" y="3712"/>
                <a:ext cx="27" cy="27"/>
              </a:xfrm>
              <a:custGeom>
                <a:avLst/>
                <a:gdLst>
                  <a:gd name="T0" fmla="*/ 25 w 27"/>
                  <a:gd name="T1" fmla="*/ 0 h 27"/>
                  <a:gd name="T2" fmla="*/ 0 w 27"/>
                  <a:gd name="T3" fmla="*/ 2 h 27"/>
                  <a:gd name="T4" fmla="*/ 13 w 27"/>
                  <a:gd name="T5" fmla="*/ 27 h 27"/>
                  <a:gd name="T6" fmla="*/ 27 w 27"/>
                  <a:gd name="T7" fmla="*/ 2 h 27"/>
                  <a:gd name="T8" fmla="*/ 27 w 27"/>
                  <a:gd name="T9" fmla="*/ 2 h 27"/>
                  <a:gd name="T10" fmla="*/ 25 w 27"/>
                  <a:gd name="T11" fmla="*/ 0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7"/>
                  <a:gd name="T19" fmla="*/ 0 h 27"/>
                  <a:gd name="T20" fmla="*/ 27 w 27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7" h="27">
                    <a:moveTo>
                      <a:pt x="25" y="0"/>
                    </a:moveTo>
                    <a:lnTo>
                      <a:pt x="0" y="2"/>
                    </a:lnTo>
                    <a:lnTo>
                      <a:pt x="13" y="27"/>
                    </a:lnTo>
                    <a:lnTo>
                      <a:pt x="27" y="2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59" name="Rectangle 170"/>
              <p:cNvSpPr>
                <a:spLocks noChangeArrowheads="1"/>
              </p:cNvSpPr>
              <p:nvPr/>
            </p:nvSpPr>
            <p:spPr bwMode="auto">
              <a:xfrm>
                <a:off x="3518" y="3744"/>
                <a:ext cx="3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160" name="Rectangle 171"/>
              <p:cNvSpPr>
                <a:spLocks noChangeArrowheads="1"/>
              </p:cNvSpPr>
              <p:nvPr/>
            </p:nvSpPr>
            <p:spPr bwMode="auto">
              <a:xfrm>
                <a:off x="3559" y="3744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161" name="Rectangle 172"/>
              <p:cNvSpPr>
                <a:spLocks noChangeArrowheads="1"/>
              </p:cNvSpPr>
              <p:nvPr/>
            </p:nvSpPr>
            <p:spPr bwMode="auto">
              <a:xfrm>
                <a:off x="3592" y="3744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162" name="Rectangle 173"/>
              <p:cNvSpPr>
                <a:spLocks noChangeArrowheads="1"/>
              </p:cNvSpPr>
              <p:nvPr/>
            </p:nvSpPr>
            <p:spPr bwMode="auto">
              <a:xfrm>
                <a:off x="3607" y="3744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163" name="Freeform 174"/>
              <p:cNvSpPr>
                <a:spLocks/>
              </p:cNvSpPr>
              <p:nvPr/>
            </p:nvSpPr>
            <p:spPr bwMode="auto">
              <a:xfrm>
                <a:off x="1584" y="3789"/>
                <a:ext cx="28" cy="26"/>
              </a:xfrm>
              <a:custGeom>
                <a:avLst/>
                <a:gdLst>
                  <a:gd name="T0" fmla="*/ 26 w 28"/>
                  <a:gd name="T1" fmla="*/ 24 h 26"/>
                  <a:gd name="T2" fmla="*/ 28 w 28"/>
                  <a:gd name="T3" fmla="*/ 0 h 26"/>
                  <a:gd name="T4" fmla="*/ 0 w 28"/>
                  <a:gd name="T5" fmla="*/ 12 h 26"/>
                  <a:gd name="T6" fmla="*/ 28 w 28"/>
                  <a:gd name="T7" fmla="*/ 26 h 26"/>
                  <a:gd name="T8" fmla="*/ 28 w 28"/>
                  <a:gd name="T9" fmla="*/ 26 h 26"/>
                  <a:gd name="T10" fmla="*/ 26 w 28"/>
                  <a:gd name="T11" fmla="*/ 24 h 2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"/>
                  <a:gd name="T19" fmla="*/ 0 h 26"/>
                  <a:gd name="T20" fmla="*/ 28 w 28"/>
                  <a:gd name="T21" fmla="*/ 26 h 2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" h="26">
                    <a:moveTo>
                      <a:pt x="26" y="24"/>
                    </a:moveTo>
                    <a:lnTo>
                      <a:pt x="28" y="0"/>
                    </a:lnTo>
                    <a:lnTo>
                      <a:pt x="0" y="12"/>
                    </a:lnTo>
                    <a:lnTo>
                      <a:pt x="28" y="26"/>
                    </a:lnTo>
                    <a:lnTo>
                      <a:pt x="26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64" name="Line 175"/>
              <p:cNvSpPr>
                <a:spLocks noChangeShapeType="1"/>
              </p:cNvSpPr>
              <p:nvPr/>
            </p:nvSpPr>
            <p:spPr bwMode="auto">
              <a:xfrm flipH="1">
                <a:off x="1605" y="3801"/>
                <a:ext cx="55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65" name="Rectangle 176"/>
              <p:cNvSpPr>
                <a:spLocks noChangeArrowheads="1"/>
              </p:cNvSpPr>
              <p:nvPr/>
            </p:nvSpPr>
            <p:spPr bwMode="auto">
              <a:xfrm>
                <a:off x="1336" y="3765"/>
                <a:ext cx="3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35166" name="Rectangle 177"/>
              <p:cNvSpPr>
                <a:spLocks noChangeArrowheads="1"/>
              </p:cNvSpPr>
              <p:nvPr/>
            </p:nvSpPr>
            <p:spPr bwMode="auto">
              <a:xfrm>
                <a:off x="1377" y="3765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a</a:t>
                </a:r>
                <a:endParaRPr lang="en-US" altLang="en-US" b="1"/>
              </a:p>
            </p:txBody>
          </p:sp>
          <p:sp>
            <p:nvSpPr>
              <p:cNvPr id="35167" name="Rectangle 178"/>
              <p:cNvSpPr>
                <a:spLocks noChangeArrowheads="1"/>
              </p:cNvSpPr>
              <p:nvPr/>
            </p:nvSpPr>
            <p:spPr bwMode="auto">
              <a:xfrm>
                <a:off x="1410" y="3765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c</a:t>
                </a:r>
                <a:endParaRPr lang="en-US" altLang="en-US" b="1"/>
              </a:p>
            </p:txBody>
          </p:sp>
          <p:sp>
            <p:nvSpPr>
              <p:cNvPr id="35168" name="Rectangle 179"/>
              <p:cNvSpPr>
                <a:spLocks noChangeArrowheads="1"/>
              </p:cNvSpPr>
              <p:nvPr/>
            </p:nvSpPr>
            <p:spPr bwMode="auto">
              <a:xfrm>
                <a:off x="1437" y="3765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h</a:t>
                </a:r>
                <a:endParaRPr lang="en-US" altLang="en-US" b="1"/>
              </a:p>
            </p:txBody>
          </p:sp>
          <p:sp>
            <p:nvSpPr>
              <p:cNvPr id="35169" name="Rectangle 180"/>
              <p:cNvSpPr>
                <a:spLocks noChangeArrowheads="1"/>
              </p:cNvSpPr>
              <p:nvPr/>
            </p:nvSpPr>
            <p:spPr bwMode="auto">
              <a:xfrm>
                <a:off x="1470" y="3765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170" name="Rectangle 181"/>
              <p:cNvSpPr>
                <a:spLocks noChangeArrowheads="1"/>
              </p:cNvSpPr>
              <p:nvPr/>
            </p:nvSpPr>
            <p:spPr bwMode="auto">
              <a:xfrm>
                <a:off x="1501" y="3765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 </a:t>
                </a:r>
                <a:endParaRPr lang="en-US" altLang="en-US" b="1"/>
              </a:p>
            </p:txBody>
          </p:sp>
          <p:sp>
            <p:nvSpPr>
              <p:cNvPr id="35171" name="Rectangle 182"/>
              <p:cNvSpPr>
                <a:spLocks noChangeArrowheads="1"/>
              </p:cNvSpPr>
              <p:nvPr/>
            </p:nvSpPr>
            <p:spPr bwMode="auto">
              <a:xfrm>
                <a:off x="1518" y="3765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h</a:t>
                </a:r>
                <a:endParaRPr lang="en-US" altLang="en-US" b="1"/>
              </a:p>
            </p:txBody>
          </p:sp>
          <p:sp>
            <p:nvSpPr>
              <p:cNvPr id="35172" name="Rectangle 183"/>
              <p:cNvSpPr>
                <a:spLocks noChangeArrowheads="1"/>
              </p:cNvSpPr>
              <p:nvPr/>
            </p:nvSpPr>
            <p:spPr bwMode="auto">
              <a:xfrm>
                <a:off x="1548" y="3765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  <p:sp>
            <p:nvSpPr>
              <p:cNvPr id="35173" name="Rectangle 184"/>
              <p:cNvSpPr>
                <a:spLocks noChangeArrowheads="1"/>
              </p:cNvSpPr>
              <p:nvPr/>
            </p:nvSpPr>
            <p:spPr bwMode="auto">
              <a:xfrm>
                <a:off x="1560" y="3765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174" name="Line 185"/>
              <p:cNvSpPr>
                <a:spLocks noChangeShapeType="1"/>
              </p:cNvSpPr>
              <p:nvPr/>
            </p:nvSpPr>
            <p:spPr bwMode="auto">
              <a:xfrm>
                <a:off x="4144" y="2559"/>
                <a:ext cx="1" cy="16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75" name="Line 186"/>
              <p:cNvSpPr>
                <a:spLocks noChangeShapeType="1"/>
              </p:cNvSpPr>
              <p:nvPr/>
            </p:nvSpPr>
            <p:spPr bwMode="auto">
              <a:xfrm>
                <a:off x="4110" y="2621"/>
                <a:ext cx="68" cy="39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76" name="Rectangle 187"/>
              <p:cNvSpPr>
                <a:spLocks noChangeArrowheads="1"/>
              </p:cNvSpPr>
              <p:nvPr/>
            </p:nvSpPr>
            <p:spPr bwMode="auto">
              <a:xfrm>
                <a:off x="4170" y="2576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2</a:t>
                </a:r>
                <a:endParaRPr lang="en-US" altLang="en-US" b="1"/>
              </a:p>
            </p:txBody>
          </p:sp>
          <p:sp>
            <p:nvSpPr>
              <p:cNvPr id="35177" name="Freeform 188"/>
              <p:cNvSpPr>
                <a:spLocks/>
              </p:cNvSpPr>
              <p:nvPr/>
            </p:nvSpPr>
            <p:spPr bwMode="auto">
              <a:xfrm>
                <a:off x="4132" y="2710"/>
                <a:ext cx="26" cy="25"/>
              </a:xfrm>
              <a:custGeom>
                <a:avLst/>
                <a:gdLst>
                  <a:gd name="T0" fmla="*/ 26 w 26"/>
                  <a:gd name="T1" fmla="*/ 0 h 25"/>
                  <a:gd name="T2" fmla="*/ 0 w 26"/>
                  <a:gd name="T3" fmla="*/ 0 h 25"/>
                  <a:gd name="T4" fmla="*/ 12 w 26"/>
                  <a:gd name="T5" fmla="*/ 25 h 25"/>
                  <a:gd name="T6" fmla="*/ 26 w 26"/>
                  <a:gd name="T7" fmla="*/ 0 h 25"/>
                  <a:gd name="T8" fmla="*/ 26 w 26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25"/>
                  <a:gd name="T17" fmla="*/ 26 w 26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25">
                    <a:moveTo>
                      <a:pt x="26" y="0"/>
                    </a:moveTo>
                    <a:lnTo>
                      <a:pt x="0" y="0"/>
                    </a:lnTo>
                    <a:lnTo>
                      <a:pt x="12" y="25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78" name="Freeform 189"/>
              <p:cNvSpPr>
                <a:spLocks/>
              </p:cNvSpPr>
              <p:nvPr/>
            </p:nvSpPr>
            <p:spPr bwMode="auto">
              <a:xfrm>
                <a:off x="2966" y="2282"/>
                <a:ext cx="25" cy="26"/>
              </a:xfrm>
              <a:custGeom>
                <a:avLst/>
                <a:gdLst>
                  <a:gd name="T0" fmla="*/ 25 w 25"/>
                  <a:gd name="T1" fmla="*/ 0 h 26"/>
                  <a:gd name="T2" fmla="*/ 0 w 25"/>
                  <a:gd name="T3" fmla="*/ 0 h 26"/>
                  <a:gd name="T4" fmla="*/ 12 w 25"/>
                  <a:gd name="T5" fmla="*/ 26 h 26"/>
                  <a:gd name="T6" fmla="*/ 25 w 25"/>
                  <a:gd name="T7" fmla="*/ 0 h 26"/>
                  <a:gd name="T8" fmla="*/ 25 w 25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6"/>
                  <a:gd name="T17" fmla="*/ 25 w 25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6">
                    <a:moveTo>
                      <a:pt x="25" y="0"/>
                    </a:moveTo>
                    <a:lnTo>
                      <a:pt x="0" y="0"/>
                    </a:lnTo>
                    <a:lnTo>
                      <a:pt x="12" y="26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79" name="Freeform 190"/>
              <p:cNvSpPr>
                <a:spLocks/>
              </p:cNvSpPr>
              <p:nvPr/>
            </p:nvSpPr>
            <p:spPr bwMode="auto">
              <a:xfrm>
                <a:off x="3532" y="1266"/>
                <a:ext cx="605" cy="1025"/>
              </a:xfrm>
              <a:custGeom>
                <a:avLst/>
                <a:gdLst>
                  <a:gd name="T0" fmla="*/ 311 w 605"/>
                  <a:gd name="T1" fmla="*/ 1025 h 1025"/>
                  <a:gd name="T2" fmla="*/ 313 w 605"/>
                  <a:gd name="T3" fmla="*/ 917 h 1025"/>
                  <a:gd name="T4" fmla="*/ 603 w 605"/>
                  <a:gd name="T5" fmla="*/ 917 h 1025"/>
                  <a:gd name="T6" fmla="*/ 605 w 605"/>
                  <a:gd name="T7" fmla="*/ 125 h 1025"/>
                  <a:gd name="T8" fmla="*/ 0 w 605"/>
                  <a:gd name="T9" fmla="*/ 125 h 1025"/>
                  <a:gd name="T10" fmla="*/ 0 w 605"/>
                  <a:gd name="T11" fmla="*/ 0 h 10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05"/>
                  <a:gd name="T19" fmla="*/ 0 h 1025"/>
                  <a:gd name="T20" fmla="*/ 605 w 605"/>
                  <a:gd name="T21" fmla="*/ 1025 h 10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05" h="1025">
                    <a:moveTo>
                      <a:pt x="311" y="1025"/>
                    </a:moveTo>
                    <a:lnTo>
                      <a:pt x="313" y="917"/>
                    </a:lnTo>
                    <a:lnTo>
                      <a:pt x="603" y="917"/>
                    </a:lnTo>
                    <a:lnTo>
                      <a:pt x="605" y="125"/>
                    </a:lnTo>
                    <a:lnTo>
                      <a:pt x="0" y="1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80" name="Freeform 191"/>
              <p:cNvSpPr>
                <a:spLocks/>
              </p:cNvSpPr>
              <p:nvPr/>
            </p:nvSpPr>
            <p:spPr bwMode="auto">
              <a:xfrm>
                <a:off x="3831" y="2282"/>
                <a:ext cx="26" cy="26"/>
              </a:xfrm>
              <a:custGeom>
                <a:avLst/>
                <a:gdLst>
                  <a:gd name="T0" fmla="*/ 26 w 26"/>
                  <a:gd name="T1" fmla="*/ 0 h 26"/>
                  <a:gd name="T2" fmla="*/ 0 w 26"/>
                  <a:gd name="T3" fmla="*/ 0 h 26"/>
                  <a:gd name="T4" fmla="*/ 14 w 26"/>
                  <a:gd name="T5" fmla="*/ 26 h 26"/>
                  <a:gd name="T6" fmla="*/ 26 w 26"/>
                  <a:gd name="T7" fmla="*/ 0 h 26"/>
                  <a:gd name="T8" fmla="*/ 26 w 26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26"/>
                  <a:gd name="T17" fmla="*/ 26 w 26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26">
                    <a:moveTo>
                      <a:pt x="26" y="0"/>
                    </a:moveTo>
                    <a:lnTo>
                      <a:pt x="0" y="0"/>
                    </a:lnTo>
                    <a:lnTo>
                      <a:pt x="14" y="26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81" name="Freeform 192"/>
              <p:cNvSpPr>
                <a:spLocks/>
              </p:cNvSpPr>
              <p:nvPr/>
            </p:nvSpPr>
            <p:spPr bwMode="auto">
              <a:xfrm>
                <a:off x="2978" y="1764"/>
                <a:ext cx="499" cy="527"/>
              </a:xfrm>
              <a:custGeom>
                <a:avLst/>
                <a:gdLst>
                  <a:gd name="T0" fmla="*/ 0 w 499"/>
                  <a:gd name="T1" fmla="*/ 527 h 527"/>
                  <a:gd name="T2" fmla="*/ 2 w 499"/>
                  <a:gd name="T3" fmla="*/ 436 h 527"/>
                  <a:gd name="T4" fmla="*/ 499 w 499"/>
                  <a:gd name="T5" fmla="*/ 436 h 527"/>
                  <a:gd name="T6" fmla="*/ 497 w 499"/>
                  <a:gd name="T7" fmla="*/ 0 h 5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9"/>
                  <a:gd name="T13" fmla="*/ 0 h 527"/>
                  <a:gd name="T14" fmla="*/ 499 w 499"/>
                  <a:gd name="T15" fmla="*/ 527 h 5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9" h="527">
                    <a:moveTo>
                      <a:pt x="0" y="527"/>
                    </a:moveTo>
                    <a:lnTo>
                      <a:pt x="2" y="436"/>
                    </a:lnTo>
                    <a:lnTo>
                      <a:pt x="499" y="436"/>
                    </a:lnTo>
                    <a:lnTo>
                      <a:pt x="497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35182" name="Rectangle 193"/>
              <p:cNvSpPr>
                <a:spLocks noChangeArrowheads="1"/>
              </p:cNvSpPr>
              <p:nvPr/>
            </p:nvSpPr>
            <p:spPr bwMode="auto">
              <a:xfrm>
                <a:off x="4235" y="2441"/>
                <a:ext cx="31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B</a:t>
                </a:r>
                <a:endParaRPr lang="en-US" altLang="en-US" b="1"/>
              </a:p>
            </p:txBody>
          </p:sp>
          <p:sp>
            <p:nvSpPr>
              <p:cNvPr id="35183" name="Rectangle 194"/>
              <p:cNvSpPr>
                <a:spLocks noChangeArrowheads="1"/>
              </p:cNvSpPr>
              <p:nvPr/>
            </p:nvSpPr>
            <p:spPr bwMode="auto">
              <a:xfrm>
                <a:off x="4272" y="2441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y</a:t>
                </a:r>
                <a:endParaRPr lang="en-US" altLang="en-US" b="1"/>
              </a:p>
            </p:txBody>
          </p:sp>
          <p:sp>
            <p:nvSpPr>
              <p:cNvPr id="35184" name="Rectangle 195"/>
              <p:cNvSpPr>
                <a:spLocks noChangeArrowheads="1"/>
              </p:cNvSpPr>
              <p:nvPr/>
            </p:nvSpPr>
            <p:spPr bwMode="auto">
              <a:xfrm>
                <a:off x="4301" y="2441"/>
                <a:ext cx="1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185" name="Rectangle 196"/>
              <p:cNvSpPr>
                <a:spLocks noChangeArrowheads="1"/>
              </p:cNvSpPr>
              <p:nvPr/>
            </p:nvSpPr>
            <p:spPr bwMode="auto">
              <a:xfrm>
                <a:off x="4317" y="2441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186" name="Rectangle 197"/>
              <p:cNvSpPr>
                <a:spLocks noChangeArrowheads="1"/>
              </p:cNvSpPr>
              <p:nvPr/>
            </p:nvSpPr>
            <p:spPr bwMode="auto">
              <a:xfrm>
                <a:off x="4349" y="2441"/>
                <a:ext cx="0" cy="1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endParaRPr lang="en-US" altLang="en-US" b="1"/>
              </a:p>
            </p:txBody>
          </p:sp>
          <p:sp>
            <p:nvSpPr>
              <p:cNvPr id="35187" name="Rectangle 198"/>
              <p:cNvSpPr>
                <a:spLocks noChangeArrowheads="1"/>
              </p:cNvSpPr>
              <p:nvPr/>
            </p:nvSpPr>
            <p:spPr bwMode="auto">
              <a:xfrm>
                <a:off x="4217" y="2498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o</a:t>
                </a:r>
                <a:endParaRPr lang="en-US" altLang="en-US" b="1"/>
              </a:p>
            </p:txBody>
          </p:sp>
          <p:sp>
            <p:nvSpPr>
              <p:cNvPr id="35188" name="Rectangle 199"/>
              <p:cNvSpPr>
                <a:spLocks noChangeArrowheads="1"/>
              </p:cNvSpPr>
              <p:nvPr/>
            </p:nvSpPr>
            <p:spPr bwMode="auto">
              <a:xfrm>
                <a:off x="4248" y="2498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35189" name="Rectangle 200"/>
              <p:cNvSpPr>
                <a:spLocks noChangeArrowheads="1"/>
              </p:cNvSpPr>
              <p:nvPr/>
            </p:nvSpPr>
            <p:spPr bwMode="auto">
              <a:xfrm>
                <a:off x="4264" y="2498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f</a:t>
                </a:r>
                <a:endParaRPr lang="en-US" altLang="en-US" b="1"/>
              </a:p>
            </p:txBody>
          </p:sp>
          <p:sp>
            <p:nvSpPr>
              <p:cNvPr id="35190" name="Rectangle 201"/>
              <p:cNvSpPr>
                <a:spLocks noChangeArrowheads="1"/>
              </p:cNvSpPr>
              <p:nvPr/>
            </p:nvSpPr>
            <p:spPr bwMode="auto">
              <a:xfrm>
                <a:off x="4281" y="2498"/>
                <a:ext cx="23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s</a:t>
                </a:r>
                <a:endParaRPr lang="en-US" altLang="en-US" b="1"/>
              </a:p>
            </p:txBody>
          </p:sp>
          <p:sp>
            <p:nvSpPr>
              <p:cNvPr id="35191" name="Rectangle 202"/>
              <p:cNvSpPr>
                <a:spLocks noChangeArrowheads="1"/>
              </p:cNvSpPr>
              <p:nvPr/>
            </p:nvSpPr>
            <p:spPr bwMode="auto">
              <a:xfrm>
                <a:off x="4308" y="2498"/>
                <a:ext cx="26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e</a:t>
                </a:r>
                <a:endParaRPr lang="en-US" altLang="en-US" b="1"/>
              </a:p>
            </p:txBody>
          </p:sp>
          <p:sp>
            <p:nvSpPr>
              <p:cNvPr id="35192" name="Rectangle 203"/>
              <p:cNvSpPr>
                <a:spLocks noChangeArrowheads="1"/>
              </p:cNvSpPr>
              <p:nvPr/>
            </p:nvSpPr>
            <p:spPr bwMode="auto">
              <a:xfrm>
                <a:off x="4341" y="2498"/>
                <a:ext cx="1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t</a:t>
                </a:r>
                <a:endParaRPr lang="en-US" altLang="en-US" b="1"/>
              </a:p>
            </p:txBody>
          </p:sp>
          <p:sp>
            <p:nvSpPr>
              <p:cNvPr id="35193" name="Rectangle 204"/>
              <p:cNvSpPr>
                <a:spLocks noChangeArrowheads="1"/>
              </p:cNvSpPr>
              <p:nvPr/>
            </p:nvSpPr>
            <p:spPr bwMode="auto">
              <a:xfrm>
                <a:off x="1813" y="1487"/>
                <a:ext cx="34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D</a:t>
                </a:r>
                <a:endParaRPr lang="en-US" altLang="en-US" b="1"/>
              </a:p>
            </p:txBody>
          </p:sp>
          <p:sp>
            <p:nvSpPr>
              <p:cNvPr id="35194" name="Rectangle 205"/>
              <p:cNvSpPr>
                <a:spLocks noChangeArrowheads="1"/>
              </p:cNvSpPr>
              <p:nvPr/>
            </p:nvSpPr>
            <p:spPr bwMode="auto">
              <a:xfrm>
                <a:off x="1854" y="1487"/>
                <a:ext cx="10" cy="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n-US" altLang="en-US" sz="700">
                    <a:solidFill>
                      <a:srgbClr val="000000"/>
                    </a:solidFill>
                  </a:rPr>
                  <a:t>i</a:t>
                </a:r>
                <a:endParaRPr lang="en-US" altLang="en-US" b="1"/>
              </a:p>
            </p:txBody>
          </p:sp>
        </p:grpSp>
        <p:sp>
          <p:nvSpPr>
            <p:cNvPr id="34826" name="Rectangle 206"/>
            <p:cNvSpPr>
              <a:spLocks noChangeArrowheads="1"/>
            </p:cNvSpPr>
            <p:nvPr/>
          </p:nvSpPr>
          <p:spPr bwMode="auto">
            <a:xfrm>
              <a:off x="1868" y="1487"/>
              <a:ext cx="1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r</a:t>
              </a:r>
              <a:endParaRPr lang="en-US" altLang="en-US" b="1"/>
            </a:p>
          </p:txBody>
        </p:sp>
        <p:sp>
          <p:nvSpPr>
            <p:cNvPr id="34827" name="Rectangle 207"/>
            <p:cNvSpPr>
              <a:spLocks noChangeArrowheads="1"/>
            </p:cNvSpPr>
            <p:nvPr/>
          </p:nvSpPr>
          <p:spPr bwMode="auto">
            <a:xfrm>
              <a:off x="1887" y="1487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34828" name="Rectangle 208"/>
            <p:cNvSpPr>
              <a:spLocks noChangeArrowheads="1"/>
            </p:cNvSpPr>
            <p:nvPr/>
          </p:nvSpPr>
          <p:spPr bwMode="auto">
            <a:xfrm>
              <a:off x="1902" y="1487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y</a:t>
              </a:r>
              <a:endParaRPr lang="en-US" altLang="en-US" b="1"/>
            </a:p>
          </p:txBody>
        </p:sp>
        <p:sp>
          <p:nvSpPr>
            <p:cNvPr id="34829" name="Rectangle 209"/>
            <p:cNvSpPr>
              <a:spLocks noChangeArrowheads="1"/>
            </p:cNvSpPr>
            <p:nvPr/>
          </p:nvSpPr>
          <p:spPr bwMode="auto">
            <a:xfrm>
              <a:off x="2436" y="1492"/>
              <a:ext cx="28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34830" name="Rectangle 210"/>
            <p:cNvSpPr>
              <a:spLocks noChangeArrowheads="1"/>
            </p:cNvSpPr>
            <p:nvPr/>
          </p:nvSpPr>
          <p:spPr bwMode="auto">
            <a:xfrm>
              <a:off x="2470" y="149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831" name="Rectangle 211"/>
            <p:cNvSpPr>
              <a:spLocks noChangeArrowheads="1"/>
            </p:cNvSpPr>
            <p:nvPr/>
          </p:nvSpPr>
          <p:spPr bwMode="auto">
            <a:xfrm>
              <a:off x="2502" y="149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g</a:t>
              </a:r>
              <a:endParaRPr lang="en-US" altLang="en-US" b="1"/>
            </a:p>
          </p:txBody>
        </p:sp>
        <p:sp>
          <p:nvSpPr>
            <p:cNvPr id="34832" name="Line 212"/>
            <p:cNvSpPr>
              <a:spLocks noChangeShapeType="1"/>
            </p:cNvSpPr>
            <p:nvPr/>
          </p:nvSpPr>
          <p:spPr bwMode="auto">
            <a:xfrm>
              <a:off x="2212" y="1323"/>
              <a:ext cx="68" cy="3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33" name="Freeform 213"/>
            <p:cNvSpPr>
              <a:spLocks/>
            </p:cNvSpPr>
            <p:nvPr/>
          </p:nvSpPr>
          <p:spPr bwMode="auto">
            <a:xfrm>
              <a:off x="1644" y="1750"/>
              <a:ext cx="26" cy="28"/>
            </a:xfrm>
            <a:custGeom>
              <a:avLst/>
              <a:gdLst>
                <a:gd name="T0" fmla="*/ 26 w 26"/>
                <a:gd name="T1" fmla="*/ 26 h 28"/>
                <a:gd name="T2" fmla="*/ 26 w 26"/>
                <a:gd name="T3" fmla="*/ 0 h 28"/>
                <a:gd name="T4" fmla="*/ 0 w 26"/>
                <a:gd name="T5" fmla="*/ 14 h 28"/>
                <a:gd name="T6" fmla="*/ 26 w 26"/>
                <a:gd name="T7" fmla="*/ 28 h 28"/>
                <a:gd name="T8" fmla="*/ 26 w 26"/>
                <a:gd name="T9" fmla="*/ 28 h 28"/>
                <a:gd name="T10" fmla="*/ 26 w 26"/>
                <a:gd name="T11" fmla="*/ 26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"/>
                <a:gd name="T19" fmla="*/ 0 h 28"/>
                <a:gd name="T20" fmla="*/ 26 w 26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" h="28">
                  <a:moveTo>
                    <a:pt x="26" y="26"/>
                  </a:moveTo>
                  <a:lnTo>
                    <a:pt x="26" y="0"/>
                  </a:lnTo>
                  <a:lnTo>
                    <a:pt x="0" y="14"/>
                  </a:lnTo>
                  <a:lnTo>
                    <a:pt x="26" y="28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34" name="Freeform 214"/>
            <p:cNvSpPr>
              <a:spLocks/>
            </p:cNvSpPr>
            <p:nvPr/>
          </p:nvSpPr>
          <p:spPr bwMode="auto">
            <a:xfrm>
              <a:off x="2147" y="1986"/>
              <a:ext cx="26" cy="28"/>
            </a:xfrm>
            <a:custGeom>
              <a:avLst/>
              <a:gdLst>
                <a:gd name="T0" fmla="*/ 26 w 26"/>
                <a:gd name="T1" fmla="*/ 26 h 28"/>
                <a:gd name="T2" fmla="*/ 26 w 26"/>
                <a:gd name="T3" fmla="*/ 0 h 28"/>
                <a:gd name="T4" fmla="*/ 0 w 26"/>
                <a:gd name="T5" fmla="*/ 14 h 28"/>
                <a:gd name="T6" fmla="*/ 26 w 26"/>
                <a:gd name="T7" fmla="*/ 28 h 28"/>
                <a:gd name="T8" fmla="*/ 26 w 26"/>
                <a:gd name="T9" fmla="*/ 28 h 28"/>
                <a:gd name="T10" fmla="*/ 26 w 26"/>
                <a:gd name="T11" fmla="*/ 26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"/>
                <a:gd name="T19" fmla="*/ 0 h 28"/>
                <a:gd name="T20" fmla="*/ 26 w 26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" h="28">
                  <a:moveTo>
                    <a:pt x="26" y="26"/>
                  </a:moveTo>
                  <a:lnTo>
                    <a:pt x="26" y="0"/>
                  </a:lnTo>
                  <a:lnTo>
                    <a:pt x="0" y="14"/>
                  </a:lnTo>
                  <a:lnTo>
                    <a:pt x="26" y="28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35" name="Freeform 215"/>
            <p:cNvSpPr>
              <a:spLocks/>
            </p:cNvSpPr>
            <p:nvPr/>
          </p:nvSpPr>
          <p:spPr bwMode="auto">
            <a:xfrm>
              <a:off x="2147" y="1908"/>
              <a:ext cx="26" cy="25"/>
            </a:xfrm>
            <a:custGeom>
              <a:avLst/>
              <a:gdLst>
                <a:gd name="T0" fmla="*/ 26 w 26"/>
                <a:gd name="T1" fmla="*/ 24 h 25"/>
                <a:gd name="T2" fmla="*/ 26 w 26"/>
                <a:gd name="T3" fmla="*/ 0 h 25"/>
                <a:gd name="T4" fmla="*/ 0 w 26"/>
                <a:gd name="T5" fmla="*/ 12 h 25"/>
                <a:gd name="T6" fmla="*/ 26 w 26"/>
                <a:gd name="T7" fmla="*/ 25 h 25"/>
                <a:gd name="T8" fmla="*/ 26 w 26"/>
                <a:gd name="T9" fmla="*/ 25 h 25"/>
                <a:gd name="T10" fmla="*/ 26 w 26"/>
                <a:gd name="T11" fmla="*/ 24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"/>
                <a:gd name="T19" fmla="*/ 0 h 25"/>
                <a:gd name="T20" fmla="*/ 26 w 26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" h="25">
                  <a:moveTo>
                    <a:pt x="26" y="24"/>
                  </a:moveTo>
                  <a:lnTo>
                    <a:pt x="26" y="0"/>
                  </a:lnTo>
                  <a:lnTo>
                    <a:pt x="0" y="12"/>
                  </a:lnTo>
                  <a:lnTo>
                    <a:pt x="26" y="25"/>
                  </a:lnTo>
                  <a:lnTo>
                    <a:pt x="26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36" name="Freeform 216"/>
            <p:cNvSpPr>
              <a:spLocks/>
            </p:cNvSpPr>
            <p:nvPr/>
          </p:nvSpPr>
          <p:spPr bwMode="auto">
            <a:xfrm>
              <a:off x="2147" y="1829"/>
              <a:ext cx="26" cy="26"/>
            </a:xfrm>
            <a:custGeom>
              <a:avLst/>
              <a:gdLst>
                <a:gd name="T0" fmla="*/ 26 w 26"/>
                <a:gd name="T1" fmla="*/ 26 h 26"/>
                <a:gd name="T2" fmla="*/ 26 w 26"/>
                <a:gd name="T3" fmla="*/ 0 h 26"/>
                <a:gd name="T4" fmla="*/ 0 w 26"/>
                <a:gd name="T5" fmla="*/ 14 h 26"/>
                <a:gd name="T6" fmla="*/ 26 w 26"/>
                <a:gd name="T7" fmla="*/ 26 h 26"/>
                <a:gd name="T8" fmla="*/ 26 w 26"/>
                <a:gd name="T9" fmla="*/ 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26"/>
                <a:gd name="T17" fmla="*/ 26 w 26"/>
                <a:gd name="T18" fmla="*/ 26 h 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26">
                  <a:moveTo>
                    <a:pt x="26" y="26"/>
                  </a:moveTo>
                  <a:lnTo>
                    <a:pt x="26" y="0"/>
                  </a:lnTo>
                  <a:lnTo>
                    <a:pt x="0" y="14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37" name="Freeform 217"/>
            <p:cNvSpPr>
              <a:spLocks/>
            </p:cNvSpPr>
            <p:nvPr/>
          </p:nvSpPr>
          <p:spPr bwMode="auto">
            <a:xfrm>
              <a:off x="2147" y="1749"/>
              <a:ext cx="26" cy="27"/>
            </a:xfrm>
            <a:custGeom>
              <a:avLst/>
              <a:gdLst>
                <a:gd name="T0" fmla="*/ 26 w 26"/>
                <a:gd name="T1" fmla="*/ 25 h 27"/>
                <a:gd name="T2" fmla="*/ 26 w 26"/>
                <a:gd name="T3" fmla="*/ 0 h 27"/>
                <a:gd name="T4" fmla="*/ 0 w 26"/>
                <a:gd name="T5" fmla="*/ 13 h 27"/>
                <a:gd name="T6" fmla="*/ 26 w 26"/>
                <a:gd name="T7" fmla="*/ 27 h 27"/>
                <a:gd name="T8" fmla="*/ 26 w 26"/>
                <a:gd name="T9" fmla="*/ 27 h 27"/>
                <a:gd name="T10" fmla="*/ 26 w 26"/>
                <a:gd name="T11" fmla="*/ 25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"/>
                <a:gd name="T19" fmla="*/ 0 h 27"/>
                <a:gd name="T20" fmla="*/ 26 w 26"/>
                <a:gd name="T21" fmla="*/ 27 h 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" h="27">
                  <a:moveTo>
                    <a:pt x="26" y="25"/>
                  </a:moveTo>
                  <a:lnTo>
                    <a:pt x="26" y="0"/>
                  </a:lnTo>
                  <a:lnTo>
                    <a:pt x="0" y="13"/>
                  </a:lnTo>
                  <a:lnTo>
                    <a:pt x="26" y="27"/>
                  </a:lnTo>
                  <a:lnTo>
                    <a:pt x="26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38" name="Freeform 218"/>
            <p:cNvSpPr>
              <a:spLocks/>
            </p:cNvSpPr>
            <p:nvPr/>
          </p:nvSpPr>
          <p:spPr bwMode="auto">
            <a:xfrm>
              <a:off x="2147" y="1672"/>
              <a:ext cx="26" cy="27"/>
            </a:xfrm>
            <a:custGeom>
              <a:avLst/>
              <a:gdLst>
                <a:gd name="T0" fmla="*/ 26 w 26"/>
                <a:gd name="T1" fmla="*/ 25 h 27"/>
                <a:gd name="T2" fmla="*/ 26 w 26"/>
                <a:gd name="T3" fmla="*/ 0 h 27"/>
                <a:gd name="T4" fmla="*/ 0 w 26"/>
                <a:gd name="T5" fmla="*/ 13 h 27"/>
                <a:gd name="T6" fmla="*/ 26 w 26"/>
                <a:gd name="T7" fmla="*/ 27 h 27"/>
                <a:gd name="T8" fmla="*/ 26 w 26"/>
                <a:gd name="T9" fmla="*/ 27 h 27"/>
                <a:gd name="T10" fmla="*/ 26 w 26"/>
                <a:gd name="T11" fmla="*/ 25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"/>
                <a:gd name="T19" fmla="*/ 0 h 27"/>
                <a:gd name="T20" fmla="*/ 26 w 26"/>
                <a:gd name="T21" fmla="*/ 27 h 2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" h="27">
                  <a:moveTo>
                    <a:pt x="26" y="25"/>
                  </a:moveTo>
                  <a:lnTo>
                    <a:pt x="26" y="0"/>
                  </a:lnTo>
                  <a:lnTo>
                    <a:pt x="0" y="13"/>
                  </a:lnTo>
                  <a:lnTo>
                    <a:pt x="26" y="27"/>
                  </a:lnTo>
                  <a:lnTo>
                    <a:pt x="26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39" name="Freeform 219"/>
            <p:cNvSpPr>
              <a:spLocks/>
            </p:cNvSpPr>
            <p:nvPr/>
          </p:nvSpPr>
          <p:spPr bwMode="auto">
            <a:xfrm>
              <a:off x="2147" y="1595"/>
              <a:ext cx="26" cy="25"/>
            </a:xfrm>
            <a:custGeom>
              <a:avLst/>
              <a:gdLst>
                <a:gd name="T0" fmla="*/ 26 w 26"/>
                <a:gd name="T1" fmla="*/ 25 h 25"/>
                <a:gd name="T2" fmla="*/ 26 w 26"/>
                <a:gd name="T3" fmla="*/ 0 h 25"/>
                <a:gd name="T4" fmla="*/ 0 w 26"/>
                <a:gd name="T5" fmla="*/ 13 h 25"/>
                <a:gd name="T6" fmla="*/ 26 w 26"/>
                <a:gd name="T7" fmla="*/ 25 h 25"/>
                <a:gd name="T8" fmla="*/ 26 w 26"/>
                <a:gd name="T9" fmla="*/ 25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25"/>
                <a:gd name="T17" fmla="*/ 26 w 26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25">
                  <a:moveTo>
                    <a:pt x="26" y="25"/>
                  </a:moveTo>
                  <a:lnTo>
                    <a:pt x="26" y="0"/>
                  </a:lnTo>
                  <a:lnTo>
                    <a:pt x="0" y="13"/>
                  </a:lnTo>
                  <a:lnTo>
                    <a:pt x="26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40" name="Line 220"/>
            <p:cNvSpPr>
              <a:spLocks noChangeShapeType="1"/>
            </p:cNvSpPr>
            <p:nvPr/>
          </p:nvSpPr>
          <p:spPr bwMode="auto">
            <a:xfrm flipH="1">
              <a:off x="1668" y="1764"/>
              <a:ext cx="115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41" name="Rectangle 221"/>
            <p:cNvSpPr>
              <a:spLocks noChangeArrowheads="1"/>
            </p:cNvSpPr>
            <p:nvPr/>
          </p:nvSpPr>
          <p:spPr bwMode="auto">
            <a:xfrm>
              <a:off x="1454" y="1730"/>
              <a:ext cx="29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34842" name="Rectangle 222"/>
            <p:cNvSpPr>
              <a:spLocks noChangeArrowheads="1"/>
            </p:cNvSpPr>
            <p:nvPr/>
          </p:nvSpPr>
          <p:spPr bwMode="auto">
            <a:xfrm>
              <a:off x="1489" y="173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L</a:t>
              </a:r>
              <a:endParaRPr lang="en-US" altLang="en-US" b="1"/>
            </a:p>
          </p:txBody>
        </p:sp>
        <p:sp>
          <p:nvSpPr>
            <p:cNvPr id="34843" name="Rectangle 223"/>
            <p:cNvSpPr>
              <a:spLocks noChangeArrowheads="1"/>
            </p:cNvSpPr>
            <p:nvPr/>
          </p:nvSpPr>
          <p:spPr bwMode="auto">
            <a:xfrm>
              <a:off x="1521" y="1730"/>
              <a:ext cx="31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B</a:t>
              </a:r>
              <a:endParaRPr lang="en-US" altLang="en-US" b="1"/>
            </a:p>
          </p:txBody>
        </p:sp>
        <p:sp>
          <p:nvSpPr>
            <p:cNvPr id="34844" name="Rectangle 224"/>
            <p:cNvSpPr>
              <a:spLocks noChangeArrowheads="1"/>
            </p:cNvSpPr>
            <p:nvPr/>
          </p:nvSpPr>
          <p:spPr bwMode="auto">
            <a:xfrm>
              <a:off x="1559" y="1730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845" name="Rectangle 225"/>
            <p:cNvSpPr>
              <a:spLocks noChangeArrowheads="1"/>
            </p:cNvSpPr>
            <p:nvPr/>
          </p:nvSpPr>
          <p:spPr bwMode="auto">
            <a:xfrm>
              <a:off x="1574" y="173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h</a:t>
              </a:r>
              <a:endParaRPr lang="en-US" altLang="en-US" b="1"/>
            </a:p>
          </p:txBody>
        </p:sp>
        <p:sp>
          <p:nvSpPr>
            <p:cNvPr id="34846" name="Rectangle 226"/>
            <p:cNvSpPr>
              <a:spLocks noChangeArrowheads="1"/>
            </p:cNvSpPr>
            <p:nvPr/>
          </p:nvSpPr>
          <p:spPr bwMode="auto">
            <a:xfrm>
              <a:off x="1607" y="1730"/>
              <a:ext cx="10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i</a:t>
              </a:r>
              <a:endParaRPr lang="en-US" altLang="en-US" b="1"/>
            </a:p>
          </p:txBody>
        </p:sp>
        <p:sp>
          <p:nvSpPr>
            <p:cNvPr id="34847" name="Rectangle 227"/>
            <p:cNvSpPr>
              <a:spLocks noChangeArrowheads="1"/>
            </p:cNvSpPr>
            <p:nvPr/>
          </p:nvSpPr>
          <p:spPr bwMode="auto">
            <a:xfrm>
              <a:off x="1619" y="1730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34848" name="Rectangle 228"/>
            <p:cNvSpPr>
              <a:spLocks noChangeArrowheads="1"/>
            </p:cNvSpPr>
            <p:nvPr/>
          </p:nvSpPr>
          <p:spPr bwMode="auto">
            <a:xfrm>
              <a:off x="2680" y="2340"/>
              <a:ext cx="31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P</a:t>
              </a:r>
              <a:endParaRPr lang="en-US" altLang="en-US" b="1"/>
            </a:p>
          </p:txBody>
        </p:sp>
        <p:sp>
          <p:nvSpPr>
            <p:cNvPr id="34849" name="Rectangle 229"/>
            <p:cNvSpPr>
              <a:spLocks noChangeArrowheads="1"/>
            </p:cNvSpPr>
            <p:nvPr/>
          </p:nvSpPr>
          <p:spPr bwMode="auto">
            <a:xfrm>
              <a:off x="2718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h</a:t>
              </a:r>
              <a:endParaRPr lang="en-US" altLang="en-US" b="1"/>
            </a:p>
          </p:txBody>
        </p:sp>
        <p:sp>
          <p:nvSpPr>
            <p:cNvPr id="34850" name="Rectangle 230"/>
            <p:cNvSpPr>
              <a:spLocks noChangeArrowheads="1"/>
            </p:cNvSpPr>
            <p:nvPr/>
          </p:nvSpPr>
          <p:spPr bwMode="auto">
            <a:xfrm>
              <a:off x="2750" y="2340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y</a:t>
              </a:r>
              <a:endParaRPr lang="en-US" altLang="en-US" b="1"/>
            </a:p>
          </p:txBody>
        </p:sp>
        <p:sp>
          <p:nvSpPr>
            <p:cNvPr id="34851" name="Rectangle 231"/>
            <p:cNvSpPr>
              <a:spLocks noChangeArrowheads="1"/>
            </p:cNvSpPr>
            <p:nvPr/>
          </p:nvSpPr>
          <p:spPr bwMode="auto">
            <a:xfrm>
              <a:off x="2779" y="2340"/>
              <a:ext cx="2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34852" name="Rectangle 232"/>
            <p:cNvSpPr>
              <a:spLocks noChangeArrowheads="1"/>
            </p:cNvSpPr>
            <p:nvPr/>
          </p:nvSpPr>
          <p:spPr bwMode="auto">
            <a:xfrm>
              <a:off x="2807" y="2340"/>
              <a:ext cx="10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i</a:t>
              </a:r>
              <a:endParaRPr lang="en-US" altLang="en-US" b="1"/>
            </a:p>
          </p:txBody>
        </p:sp>
        <p:sp>
          <p:nvSpPr>
            <p:cNvPr id="34853" name="Rectangle 233"/>
            <p:cNvSpPr>
              <a:spLocks noChangeArrowheads="1"/>
            </p:cNvSpPr>
            <p:nvPr/>
          </p:nvSpPr>
          <p:spPr bwMode="auto">
            <a:xfrm>
              <a:off x="2821" y="2340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c</a:t>
              </a:r>
              <a:endParaRPr lang="en-US" altLang="en-US" b="1"/>
            </a:p>
          </p:txBody>
        </p:sp>
        <p:sp>
          <p:nvSpPr>
            <p:cNvPr id="34854" name="Rectangle 234"/>
            <p:cNvSpPr>
              <a:spLocks noChangeArrowheads="1"/>
            </p:cNvSpPr>
            <p:nvPr/>
          </p:nvSpPr>
          <p:spPr bwMode="auto">
            <a:xfrm>
              <a:off x="2848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855" name="Rectangle 235"/>
            <p:cNvSpPr>
              <a:spLocks noChangeArrowheads="1"/>
            </p:cNvSpPr>
            <p:nvPr/>
          </p:nvSpPr>
          <p:spPr bwMode="auto">
            <a:xfrm>
              <a:off x="2880" y="2340"/>
              <a:ext cx="10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l</a:t>
              </a:r>
              <a:endParaRPr lang="en-US" altLang="en-US" b="1"/>
            </a:p>
          </p:txBody>
        </p:sp>
        <p:sp>
          <p:nvSpPr>
            <p:cNvPr id="34856" name="Rectangle 236"/>
            <p:cNvSpPr>
              <a:spLocks noChangeArrowheads="1"/>
            </p:cNvSpPr>
            <p:nvPr/>
          </p:nvSpPr>
          <p:spPr bwMode="auto">
            <a:xfrm>
              <a:off x="2892" y="2340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857" name="Rectangle 237"/>
            <p:cNvSpPr>
              <a:spLocks noChangeArrowheads="1"/>
            </p:cNvSpPr>
            <p:nvPr/>
          </p:nvSpPr>
          <p:spPr bwMode="auto">
            <a:xfrm>
              <a:off x="2908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p</a:t>
              </a:r>
              <a:endParaRPr lang="en-US" altLang="en-US" b="1"/>
            </a:p>
          </p:txBody>
        </p:sp>
        <p:sp>
          <p:nvSpPr>
            <p:cNvPr id="34858" name="Rectangle 238"/>
            <p:cNvSpPr>
              <a:spLocks noChangeArrowheads="1"/>
            </p:cNvSpPr>
            <p:nvPr/>
          </p:nvSpPr>
          <p:spPr bwMode="auto">
            <a:xfrm>
              <a:off x="2940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859" name="Rectangle 239"/>
            <p:cNvSpPr>
              <a:spLocks noChangeArrowheads="1"/>
            </p:cNvSpPr>
            <p:nvPr/>
          </p:nvSpPr>
          <p:spPr bwMode="auto">
            <a:xfrm>
              <a:off x="2973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g</a:t>
              </a:r>
              <a:endParaRPr lang="en-US" altLang="en-US" b="1"/>
            </a:p>
          </p:txBody>
        </p:sp>
        <p:sp>
          <p:nvSpPr>
            <p:cNvPr id="34860" name="Rectangle 240"/>
            <p:cNvSpPr>
              <a:spLocks noChangeArrowheads="1"/>
            </p:cNvSpPr>
            <p:nvPr/>
          </p:nvSpPr>
          <p:spPr bwMode="auto">
            <a:xfrm>
              <a:off x="3003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e</a:t>
              </a:r>
              <a:endParaRPr lang="en-US" altLang="en-US" b="1"/>
            </a:p>
          </p:txBody>
        </p:sp>
        <p:sp>
          <p:nvSpPr>
            <p:cNvPr id="34861" name="Rectangle 241"/>
            <p:cNvSpPr>
              <a:spLocks noChangeArrowheads="1"/>
            </p:cNvSpPr>
            <p:nvPr/>
          </p:nvSpPr>
          <p:spPr bwMode="auto">
            <a:xfrm>
              <a:off x="3036" y="2340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862" name="Rectangle 242"/>
            <p:cNvSpPr>
              <a:spLocks noChangeArrowheads="1"/>
            </p:cNvSpPr>
            <p:nvPr/>
          </p:nvSpPr>
          <p:spPr bwMode="auto">
            <a:xfrm>
              <a:off x="3051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n</a:t>
              </a:r>
              <a:endParaRPr lang="en-US" altLang="en-US" b="1"/>
            </a:p>
          </p:txBody>
        </p:sp>
        <p:sp>
          <p:nvSpPr>
            <p:cNvPr id="34863" name="Rectangle 243"/>
            <p:cNvSpPr>
              <a:spLocks noChangeArrowheads="1"/>
            </p:cNvSpPr>
            <p:nvPr/>
          </p:nvSpPr>
          <p:spPr bwMode="auto">
            <a:xfrm>
              <a:off x="3082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u</a:t>
              </a:r>
              <a:endParaRPr lang="en-US" altLang="en-US" b="1"/>
            </a:p>
          </p:txBody>
        </p:sp>
        <p:sp>
          <p:nvSpPr>
            <p:cNvPr id="34864" name="Rectangle 244"/>
            <p:cNvSpPr>
              <a:spLocks noChangeArrowheads="1"/>
            </p:cNvSpPr>
            <p:nvPr/>
          </p:nvSpPr>
          <p:spPr bwMode="auto">
            <a:xfrm>
              <a:off x="3115" y="2340"/>
              <a:ext cx="39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m</a:t>
              </a:r>
              <a:endParaRPr lang="en-US" altLang="en-US" b="1"/>
            </a:p>
          </p:txBody>
        </p:sp>
        <p:sp>
          <p:nvSpPr>
            <p:cNvPr id="34865" name="Rectangle 245"/>
            <p:cNvSpPr>
              <a:spLocks noChangeArrowheads="1"/>
            </p:cNvSpPr>
            <p:nvPr/>
          </p:nvSpPr>
          <p:spPr bwMode="auto">
            <a:xfrm>
              <a:off x="3162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b</a:t>
              </a:r>
              <a:endParaRPr lang="en-US" altLang="en-US" b="1"/>
            </a:p>
          </p:txBody>
        </p:sp>
        <p:sp>
          <p:nvSpPr>
            <p:cNvPr id="34866" name="Rectangle 246"/>
            <p:cNvSpPr>
              <a:spLocks noChangeArrowheads="1"/>
            </p:cNvSpPr>
            <p:nvPr/>
          </p:nvSpPr>
          <p:spPr bwMode="auto">
            <a:xfrm>
              <a:off x="3193" y="2340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e</a:t>
              </a:r>
              <a:endParaRPr lang="en-US" altLang="en-US" b="1"/>
            </a:p>
          </p:txBody>
        </p:sp>
        <p:sp>
          <p:nvSpPr>
            <p:cNvPr id="34867" name="Rectangle 247"/>
            <p:cNvSpPr>
              <a:spLocks noChangeArrowheads="1"/>
            </p:cNvSpPr>
            <p:nvPr/>
          </p:nvSpPr>
          <p:spPr bwMode="auto">
            <a:xfrm>
              <a:off x="3226" y="2340"/>
              <a:ext cx="1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r</a:t>
              </a:r>
              <a:endParaRPr lang="en-US" altLang="en-US" b="1"/>
            </a:p>
          </p:txBody>
        </p:sp>
        <p:sp>
          <p:nvSpPr>
            <p:cNvPr id="34868" name="Rectangle 248"/>
            <p:cNvSpPr>
              <a:spLocks noChangeArrowheads="1"/>
            </p:cNvSpPr>
            <p:nvPr/>
          </p:nvSpPr>
          <p:spPr bwMode="auto">
            <a:xfrm>
              <a:off x="2614" y="2462"/>
              <a:ext cx="31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P</a:t>
              </a:r>
              <a:endParaRPr lang="en-US" altLang="en-US" b="1"/>
            </a:p>
          </p:txBody>
        </p:sp>
        <p:sp>
          <p:nvSpPr>
            <p:cNvPr id="34869" name="Rectangle 249"/>
            <p:cNvSpPr>
              <a:spLocks noChangeArrowheads="1"/>
            </p:cNvSpPr>
            <p:nvPr/>
          </p:nvSpPr>
          <p:spPr bwMode="auto">
            <a:xfrm>
              <a:off x="2651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h</a:t>
              </a:r>
              <a:endParaRPr lang="en-US" altLang="en-US" b="1"/>
            </a:p>
          </p:txBody>
        </p:sp>
        <p:sp>
          <p:nvSpPr>
            <p:cNvPr id="34870" name="Rectangle 250"/>
            <p:cNvSpPr>
              <a:spLocks noChangeArrowheads="1"/>
            </p:cNvSpPr>
            <p:nvPr/>
          </p:nvSpPr>
          <p:spPr bwMode="auto">
            <a:xfrm>
              <a:off x="2684" y="2462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y</a:t>
              </a:r>
              <a:endParaRPr lang="en-US" altLang="en-US" b="1"/>
            </a:p>
          </p:txBody>
        </p:sp>
        <p:sp>
          <p:nvSpPr>
            <p:cNvPr id="34871" name="Rectangle 251"/>
            <p:cNvSpPr>
              <a:spLocks noChangeArrowheads="1"/>
            </p:cNvSpPr>
            <p:nvPr/>
          </p:nvSpPr>
          <p:spPr bwMode="auto">
            <a:xfrm>
              <a:off x="2713" y="2462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34872" name="Rectangle 252"/>
            <p:cNvSpPr>
              <a:spLocks noChangeArrowheads="1"/>
            </p:cNvSpPr>
            <p:nvPr/>
          </p:nvSpPr>
          <p:spPr bwMode="auto">
            <a:xfrm>
              <a:off x="2740" y="2462"/>
              <a:ext cx="10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i</a:t>
              </a:r>
              <a:endParaRPr lang="en-US" altLang="en-US" b="1"/>
            </a:p>
          </p:txBody>
        </p:sp>
        <p:sp>
          <p:nvSpPr>
            <p:cNvPr id="34873" name="Rectangle 253"/>
            <p:cNvSpPr>
              <a:spLocks noChangeArrowheads="1"/>
            </p:cNvSpPr>
            <p:nvPr/>
          </p:nvSpPr>
          <p:spPr bwMode="auto">
            <a:xfrm>
              <a:off x="2754" y="2462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c</a:t>
              </a:r>
              <a:endParaRPr lang="en-US" altLang="en-US" b="1"/>
            </a:p>
          </p:txBody>
        </p:sp>
        <p:sp>
          <p:nvSpPr>
            <p:cNvPr id="34874" name="Rectangle 254"/>
            <p:cNvSpPr>
              <a:spLocks noChangeArrowheads="1"/>
            </p:cNvSpPr>
            <p:nvPr/>
          </p:nvSpPr>
          <p:spPr bwMode="auto">
            <a:xfrm>
              <a:off x="2781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875" name="Rectangle 255"/>
            <p:cNvSpPr>
              <a:spLocks noChangeArrowheads="1"/>
            </p:cNvSpPr>
            <p:nvPr/>
          </p:nvSpPr>
          <p:spPr bwMode="auto">
            <a:xfrm>
              <a:off x="2814" y="2462"/>
              <a:ext cx="10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l</a:t>
              </a:r>
              <a:endParaRPr lang="en-US" altLang="en-US" b="1"/>
            </a:p>
          </p:txBody>
        </p:sp>
        <p:sp>
          <p:nvSpPr>
            <p:cNvPr id="34876" name="Rectangle 256"/>
            <p:cNvSpPr>
              <a:spLocks noChangeArrowheads="1"/>
            </p:cNvSpPr>
            <p:nvPr/>
          </p:nvSpPr>
          <p:spPr bwMode="auto">
            <a:xfrm>
              <a:off x="2826" y="2462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877" name="Rectangle 257"/>
            <p:cNvSpPr>
              <a:spLocks noChangeArrowheads="1"/>
            </p:cNvSpPr>
            <p:nvPr/>
          </p:nvSpPr>
          <p:spPr bwMode="auto">
            <a:xfrm>
              <a:off x="2843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878" name="Rectangle 258"/>
            <p:cNvSpPr>
              <a:spLocks noChangeArrowheads="1"/>
            </p:cNvSpPr>
            <p:nvPr/>
          </p:nvSpPr>
          <p:spPr bwMode="auto">
            <a:xfrm>
              <a:off x="2874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d</a:t>
              </a:r>
              <a:endParaRPr lang="en-US" altLang="en-US" b="1"/>
            </a:p>
          </p:txBody>
        </p:sp>
        <p:sp>
          <p:nvSpPr>
            <p:cNvPr id="34879" name="Rectangle 259"/>
            <p:cNvSpPr>
              <a:spLocks noChangeArrowheads="1"/>
            </p:cNvSpPr>
            <p:nvPr/>
          </p:nvSpPr>
          <p:spPr bwMode="auto">
            <a:xfrm>
              <a:off x="2906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d</a:t>
              </a:r>
              <a:endParaRPr lang="en-US" altLang="en-US" b="1"/>
            </a:p>
          </p:txBody>
        </p:sp>
        <p:sp>
          <p:nvSpPr>
            <p:cNvPr id="34880" name="Rectangle 260"/>
            <p:cNvSpPr>
              <a:spLocks noChangeArrowheads="1"/>
            </p:cNvSpPr>
            <p:nvPr/>
          </p:nvSpPr>
          <p:spPr bwMode="auto">
            <a:xfrm>
              <a:off x="2937" y="2462"/>
              <a:ext cx="1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r</a:t>
              </a:r>
              <a:endParaRPr lang="en-US" altLang="en-US" b="1"/>
            </a:p>
          </p:txBody>
        </p:sp>
        <p:sp>
          <p:nvSpPr>
            <p:cNvPr id="34881" name="Rectangle 261"/>
            <p:cNvSpPr>
              <a:spLocks noChangeArrowheads="1"/>
            </p:cNvSpPr>
            <p:nvPr/>
          </p:nvSpPr>
          <p:spPr bwMode="auto">
            <a:xfrm>
              <a:off x="2956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e</a:t>
              </a:r>
              <a:endParaRPr lang="en-US" altLang="en-US" b="1"/>
            </a:p>
          </p:txBody>
        </p:sp>
        <p:sp>
          <p:nvSpPr>
            <p:cNvPr id="34882" name="Rectangle 262"/>
            <p:cNvSpPr>
              <a:spLocks noChangeArrowheads="1"/>
            </p:cNvSpPr>
            <p:nvPr/>
          </p:nvSpPr>
          <p:spPr bwMode="auto">
            <a:xfrm>
              <a:off x="2988" y="2462"/>
              <a:ext cx="2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34883" name="Rectangle 263"/>
            <p:cNvSpPr>
              <a:spLocks noChangeArrowheads="1"/>
            </p:cNvSpPr>
            <p:nvPr/>
          </p:nvSpPr>
          <p:spPr bwMode="auto">
            <a:xfrm>
              <a:off x="3015" y="2462"/>
              <a:ext cx="2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34884" name="Rectangle 264"/>
            <p:cNvSpPr>
              <a:spLocks noChangeArrowheads="1"/>
            </p:cNvSpPr>
            <p:nvPr/>
          </p:nvSpPr>
          <p:spPr bwMode="auto">
            <a:xfrm>
              <a:off x="3044" y="2462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885" name="Rectangle 265"/>
            <p:cNvSpPr>
              <a:spLocks noChangeArrowheads="1"/>
            </p:cNvSpPr>
            <p:nvPr/>
          </p:nvSpPr>
          <p:spPr bwMode="auto">
            <a:xfrm>
              <a:off x="3060" y="2462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34886" name="Rectangle 266"/>
            <p:cNvSpPr>
              <a:spLocks noChangeArrowheads="1"/>
            </p:cNvSpPr>
            <p:nvPr/>
          </p:nvSpPr>
          <p:spPr bwMode="auto">
            <a:xfrm>
              <a:off x="3077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887" name="Rectangle 267"/>
            <p:cNvSpPr>
              <a:spLocks noChangeArrowheads="1"/>
            </p:cNvSpPr>
            <p:nvPr/>
          </p:nvSpPr>
          <p:spPr bwMode="auto">
            <a:xfrm>
              <a:off x="3108" y="2462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g</a:t>
              </a:r>
              <a:endParaRPr lang="en-US" altLang="en-US" b="1"/>
            </a:p>
          </p:txBody>
        </p:sp>
        <p:sp>
          <p:nvSpPr>
            <p:cNvPr id="34888" name="Rectangle 268"/>
            <p:cNvSpPr>
              <a:spLocks noChangeArrowheads="1"/>
            </p:cNvSpPr>
            <p:nvPr/>
          </p:nvSpPr>
          <p:spPr bwMode="auto">
            <a:xfrm>
              <a:off x="1536" y="1596"/>
              <a:ext cx="29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T</a:t>
              </a:r>
              <a:endParaRPr lang="en-US" altLang="en-US" b="1"/>
            </a:p>
          </p:txBody>
        </p:sp>
        <p:sp>
          <p:nvSpPr>
            <p:cNvPr id="34889" name="Rectangle 269"/>
            <p:cNvSpPr>
              <a:spLocks noChangeArrowheads="1"/>
            </p:cNvSpPr>
            <p:nvPr/>
          </p:nvSpPr>
          <p:spPr bwMode="auto">
            <a:xfrm>
              <a:off x="1572" y="1596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L</a:t>
              </a:r>
              <a:endParaRPr lang="en-US" altLang="en-US" b="1"/>
            </a:p>
          </p:txBody>
        </p:sp>
        <p:sp>
          <p:nvSpPr>
            <p:cNvPr id="34890" name="Rectangle 270"/>
            <p:cNvSpPr>
              <a:spLocks noChangeArrowheads="1"/>
            </p:cNvSpPr>
            <p:nvPr/>
          </p:nvSpPr>
          <p:spPr bwMode="auto">
            <a:xfrm>
              <a:off x="1603" y="1596"/>
              <a:ext cx="31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B</a:t>
              </a:r>
              <a:endParaRPr lang="en-US" altLang="en-US" b="1"/>
            </a:p>
          </p:txBody>
        </p:sp>
        <p:sp>
          <p:nvSpPr>
            <p:cNvPr id="34891" name="Freeform 271"/>
            <p:cNvSpPr>
              <a:spLocks/>
            </p:cNvSpPr>
            <p:nvPr/>
          </p:nvSpPr>
          <p:spPr bwMode="auto">
            <a:xfrm>
              <a:off x="2174" y="1265"/>
              <a:ext cx="75" cy="735"/>
            </a:xfrm>
            <a:custGeom>
              <a:avLst/>
              <a:gdLst>
                <a:gd name="T0" fmla="*/ 75 w 75"/>
                <a:gd name="T1" fmla="*/ 0 h 735"/>
                <a:gd name="T2" fmla="*/ 75 w 75"/>
                <a:gd name="T3" fmla="*/ 735 h 735"/>
                <a:gd name="T4" fmla="*/ 0 w 75"/>
                <a:gd name="T5" fmla="*/ 735 h 735"/>
                <a:gd name="T6" fmla="*/ 0 60000 65536"/>
                <a:gd name="T7" fmla="*/ 0 60000 65536"/>
                <a:gd name="T8" fmla="*/ 0 60000 65536"/>
                <a:gd name="T9" fmla="*/ 0 w 75"/>
                <a:gd name="T10" fmla="*/ 0 h 735"/>
                <a:gd name="T11" fmla="*/ 75 w 75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" h="735">
                  <a:moveTo>
                    <a:pt x="75" y="0"/>
                  </a:moveTo>
                  <a:lnTo>
                    <a:pt x="75" y="735"/>
                  </a:lnTo>
                  <a:lnTo>
                    <a:pt x="0" y="73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92" name="Freeform 272"/>
            <p:cNvSpPr>
              <a:spLocks/>
            </p:cNvSpPr>
            <p:nvPr/>
          </p:nvSpPr>
          <p:spPr bwMode="auto">
            <a:xfrm>
              <a:off x="2084" y="1578"/>
              <a:ext cx="59" cy="59"/>
            </a:xfrm>
            <a:custGeom>
              <a:avLst/>
              <a:gdLst>
                <a:gd name="T0" fmla="*/ 30 w 59"/>
                <a:gd name="T1" fmla="*/ 59 h 59"/>
                <a:gd name="T2" fmla="*/ 36 w 59"/>
                <a:gd name="T3" fmla="*/ 59 h 59"/>
                <a:gd name="T4" fmla="*/ 39 w 59"/>
                <a:gd name="T5" fmla="*/ 58 h 59"/>
                <a:gd name="T6" fmla="*/ 44 w 59"/>
                <a:gd name="T7" fmla="*/ 56 h 59"/>
                <a:gd name="T8" fmla="*/ 47 w 59"/>
                <a:gd name="T9" fmla="*/ 54 h 59"/>
                <a:gd name="T10" fmla="*/ 51 w 59"/>
                <a:gd name="T11" fmla="*/ 51 h 59"/>
                <a:gd name="T12" fmla="*/ 54 w 59"/>
                <a:gd name="T13" fmla="*/ 47 h 59"/>
                <a:gd name="T14" fmla="*/ 56 w 59"/>
                <a:gd name="T15" fmla="*/ 44 h 59"/>
                <a:gd name="T16" fmla="*/ 59 w 59"/>
                <a:gd name="T17" fmla="*/ 39 h 59"/>
                <a:gd name="T18" fmla="*/ 59 w 59"/>
                <a:gd name="T19" fmla="*/ 34 h 59"/>
                <a:gd name="T20" fmla="*/ 59 w 59"/>
                <a:gd name="T21" fmla="*/ 30 h 59"/>
                <a:gd name="T22" fmla="*/ 59 w 59"/>
                <a:gd name="T23" fmla="*/ 25 h 59"/>
                <a:gd name="T24" fmla="*/ 59 w 59"/>
                <a:gd name="T25" fmla="*/ 20 h 59"/>
                <a:gd name="T26" fmla="*/ 56 w 59"/>
                <a:gd name="T27" fmla="*/ 17 h 59"/>
                <a:gd name="T28" fmla="*/ 54 w 59"/>
                <a:gd name="T29" fmla="*/ 11 h 59"/>
                <a:gd name="T30" fmla="*/ 51 w 59"/>
                <a:gd name="T31" fmla="*/ 8 h 59"/>
                <a:gd name="T32" fmla="*/ 47 w 59"/>
                <a:gd name="T33" fmla="*/ 5 h 59"/>
                <a:gd name="T34" fmla="*/ 44 w 59"/>
                <a:gd name="T35" fmla="*/ 3 h 59"/>
                <a:gd name="T36" fmla="*/ 39 w 59"/>
                <a:gd name="T37" fmla="*/ 1 h 59"/>
                <a:gd name="T38" fmla="*/ 36 w 59"/>
                <a:gd name="T39" fmla="*/ 0 h 59"/>
                <a:gd name="T40" fmla="*/ 30 w 59"/>
                <a:gd name="T41" fmla="*/ 0 h 59"/>
                <a:gd name="T42" fmla="*/ 25 w 59"/>
                <a:gd name="T43" fmla="*/ 0 h 59"/>
                <a:gd name="T44" fmla="*/ 20 w 59"/>
                <a:gd name="T45" fmla="*/ 1 h 59"/>
                <a:gd name="T46" fmla="*/ 17 w 59"/>
                <a:gd name="T47" fmla="*/ 3 h 59"/>
                <a:gd name="T48" fmla="*/ 13 w 59"/>
                <a:gd name="T49" fmla="*/ 5 h 59"/>
                <a:gd name="T50" fmla="*/ 10 w 59"/>
                <a:gd name="T51" fmla="*/ 8 h 59"/>
                <a:gd name="T52" fmla="*/ 6 w 59"/>
                <a:gd name="T53" fmla="*/ 11 h 59"/>
                <a:gd name="T54" fmla="*/ 3 w 59"/>
                <a:gd name="T55" fmla="*/ 17 h 59"/>
                <a:gd name="T56" fmla="*/ 1 w 59"/>
                <a:gd name="T57" fmla="*/ 20 h 59"/>
                <a:gd name="T58" fmla="*/ 1 w 59"/>
                <a:gd name="T59" fmla="*/ 25 h 59"/>
                <a:gd name="T60" fmla="*/ 0 w 59"/>
                <a:gd name="T61" fmla="*/ 30 h 59"/>
                <a:gd name="T62" fmla="*/ 1 w 59"/>
                <a:gd name="T63" fmla="*/ 34 h 59"/>
                <a:gd name="T64" fmla="*/ 1 w 59"/>
                <a:gd name="T65" fmla="*/ 39 h 59"/>
                <a:gd name="T66" fmla="*/ 3 w 59"/>
                <a:gd name="T67" fmla="*/ 44 h 59"/>
                <a:gd name="T68" fmla="*/ 6 w 59"/>
                <a:gd name="T69" fmla="*/ 47 h 59"/>
                <a:gd name="T70" fmla="*/ 10 w 59"/>
                <a:gd name="T71" fmla="*/ 51 h 59"/>
                <a:gd name="T72" fmla="*/ 13 w 59"/>
                <a:gd name="T73" fmla="*/ 54 h 59"/>
                <a:gd name="T74" fmla="*/ 17 w 59"/>
                <a:gd name="T75" fmla="*/ 56 h 59"/>
                <a:gd name="T76" fmla="*/ 20 w 59"/>
                <a:gd name="T77" fmla="*/ 58 h 59"/>
                <a:gd name="T78" fmla="*/ 25 w 59"/>
                <a:gd name="T79" fmla="*/ 59 h 59"/>
                <a:gd name="T80" fmla="*/ 30 w 59"/>
                <a:gd name="T81" fmla="*/ 59 h 59"/>
                <a:gd name="T82" fmla="*/ 30 w 59"/>
                <a:gd name="T83" fmla="*/ 59 h 5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9"/>
                <a:gd name="T127" fmla="*/ 0 h 59"/>
                <a:gd name="T128" fmla="*/ 59 w 59"/>
                <a:gd name="T129" fmla="*/ 59 h 5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9" h="59">
                  <a:moveTo>
                    <a:pt x="30" y="59"/>
                  </a:moveTo>
                  <a:lnTo>
                    <a:pt x="36" y="59"/>
                  </a:lnTo>
                  <a:lnTo>
                    <a:pt x="39" y="58"/>
                  </a:lnTo>
                  <a:lnTo>
                    <a:pt x="44" y="56"/>
                  </a:lnTo>
                  <a:lnTo>
                    <a:pt x="47" y="54"/>
                  </a:lnTo>
                  <a:lnTo>
                    <a:pt x="51" y="51"/>
                  </a:lnTo>
                  <a:lnTo>
                    <a:pt x="54" y="47"/>
                  </a:lnTo>
                  <a:lnTo>
                    <a:pt x="56" y="44"/>
                  </a:lnTo>
                  <a:lnTo>
                    <a:pt x="59" y="39"/>
                  </a:lnTo>
                  <a:lnTo>
                    <a:pt x="59" y="34"/>
                  </a:lnTo>
                  <a:lnTo>
                    <a:pt x="59" y="30"/>
                  </a:lnTo>
                  <a:lnTo>
                    <a:pt x="59" y="25"/>
                  </a:lnTo>
                  <a:lnTo>
                    <a:pt x="59" y="20"/>
                  </a:lnTo>
                  <a:lnTo>
                    <a:pt x="56" y="17"/>
                  </a:lnTo>
                  <a:lnTo>
                    <a:pt x="54" y="11"/>
                  </a:lnTo>
                  <a:lnTo>
                    <a:pt x="51" y="8"/>
                  </a:lnTo>
                  <a:lnTo>
                    <a:pt x="47" y="5"/>
                  </a:lnTo>
                  <a:lnTo>
                    <a:pt x="44" y="3"/>
                  </a:lnTo>
                  <a:lnTo>
                    <a:pt x="39" y="1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1"/>
                  </a:lnTo>
                  <a:lnTo>
                    <a:pt x="17" y="3"/>
                  </a:lnTo>
                  <a:lnTo>
                    <a:pt x="13" y="5"/>
                  </a:lnTo>
                  <a:lnTo>
                    <a:pt x="10" y="8"/>
                  </a:lnTo>
                  <a:lnTo>
                    <a:pt x="6" y="11"/>
                  </a:lnTo>
                  <a:lnTo>
                    <a:pt x="3" y="17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0" y="30"/>
                  </a:lnTo>
                  <a:lnTo>
                    <a:pt x="1" y="34"/>
                  </a:lnTo>
                  <a:lnTo>
                    <a:pt x="1" y="39"/>
                  </a:lnTo>
                  <a:lnTo>
                    <a:pt x="3" y="44"/>
                  </a:lnTo>
                  <a:lnTo>
                    <a:pt x="6" y="47"/>
                  </a:lnTo>
                  <a:lnTo>
                    <a:pt x="10" y="51"/>
                  </a:lnTo>
                  <a:lnTo>
                    <a:pt x="13" y="54"/>
                  </a:lnTo>
                  <a:lnTo>
                    <a:pt x="17" y="56"/>
                  </a:lnTo>
                  <a:lnTo>
                    <a:pt x="20" y="58"/>
                  </a:lnTo>
                  <a:lnTo>
                    <a:pt x="25" y="59"/>
                  </a:lnTo>
                  <a:lnTo>
                    <a:pt x="30" y="59"/>
                  </a:lnTo>
                </a:path>
              </a:pathLst>
            </a:cu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93" name="Freeform 273"/>
            <p:cNvSpPr>
              <a:spLocks/>
            </p:cNvSpPr>
            <p:nvPr/>
          </p:nvSpPr>
          <p:spPr bwMode="auto">
            <a:xfrm>
              <a:off x="2084" y="1654"/>
              <a:ext cx="59" cy="60"/>
            </a:xfrm>
            <a:custGeom>
              <a:avLst/>
              <a:gdLst>
                <a:gd name="T0" fmla="*/ 30 w 59"/>
                <a:gd name="T1" fmla="*/ 60 h 60"/>
                <a:gd name="T2" fmla="*/ 36 w 59"/>
                <a:gd name="T3" fmla="*/ 60 h 60"/>
                <a:gd name="T4" fmla="*/ 39 w 59"/>
                <a:gd name="T5" fmla="*/ 59 h 60"/>
                <a:gd name="T6" fmla="*/ 44 w 59"/>
                <a:gd name="T7" fmla="*/ 57 h 60"/>
                <a:gd name="T8" fmla="*/ 47 w 59"/>
                <a:gd name="T9" fmla="*/ 55 h 60"/>
                <a:gd name="T10" fmla="*/ 51 w 59"/>
                <a:gd name="T11" fmla="*/ 52 h 60"/>
                <a:gd name="T12" fmla="*/ 54 w 59"/>
                <a:gd name="T13" fmla="*/ 48 h 60"/>
                <a:gd name="T14" fmla="*/ 56 w 59"/>
                <a:gd name="T15" fmla="*/ 43 h 60"/>
                <a:gd name="T16" fmla="*/ 59 w 59"/>
                <a:gd name="T17" fmla="*/ 40 h 60"/>
                <a:gd name="T18" fmla="*/ 59 w 59"/>
                <a:gd name="T19" fmla="*/ 35 h 60"/>
                <a:gd name="T20" fmla="*/ 59 w 59"/>
                <a:gd name="T21" fmla="*/ 30 h 60"/>
                <a:gd name="T22" fmla="*/ 59 w 59"/>
                <a:gd name="T23" fmla="*/ 26 h 60"/>
                <a:gd name="T24" fmla="*/ 59 w 59"/>
                <a:gd name="T25" fmla="*/ 21 h 60"/>
                <a:gd name="T26" fmla="*/ 56 w 59"/>
                <a:gd name="T27" fmla="*/ 16 h 60"/>
                <a:gd name="T28" fmla="*/ 54 w 59"/>
                <a:gd name="T29" fmla="*/ 12 h 60"/>
                <a:gd name="T30" fmla="*/ 51 w 59"/>
                <a:gd name="T31" fmla="*/ 9 h 60"/>
                <a:gd name="T32" fmla="*/ 47 w 59"/>
                <a:gd name="T33" fmla="*/ 6 h 60"/>
                <a:gd name="T34" fmla="*/ 44 w 59"/>
                <a:gd name="T35" fmla="*/ 4 h 60"/>
                <a:gd name="T36" fmla="*/ 39 w 59"/>
                <a:gd name="T37" fmla="*/ 2 h 60"/>
                <a:gd name="T38" fmla="*/ 36 w 59"/>
                <a:gd name="T39" fmla="*/ 0 h 60"/>
                <a:gd name="T40" fmla="*/ 30 w 59"/>
                <a:gd name="T41" fmla="*/ 0 h 60"/>
                <a:gd name="T42" fmla="*/ 25 w 59"/>
                <a:gd name="T43" fmla="*/ 0 h 60"/>
                <a:gd name="T44" fmla="*/ 20 w 59"/>
                <a:gd name="T45" fmla="*/ 2 h 60"/>
                <a:gd name="T46" fmla="*/ 17 w 59"/>
                <a:gd name="T47" fmla="*/ 4 h 60"/>
                <a:gd name="T48" fmla="*/ 13 w 59"/>
                <a:gd name="T49" fmla="*/ 6 h 60"/>
                <a:gd name="T50" fmla="*/ 10 w 59"/>
                <a:gd name="T51" fmla="*/ 9 h 60"/>
                <a:gd name="T52" fmla="*/ 6 w 59"/>
                <a:gd name="T53" fmla="*/ 12 h 60"/>
                <a:gd name="T54" fmla="*/ 3 w 59"/>
                <a:gd name="T55" fmla="*/ 16 h 60"/>
                <a:gd name="T56" fmla="*/ 1 w 59"/>
                <a:gd name="T57" fmla="*/ 21 h 60"/>
                <a:gd name="T58" fmla="*/ 1 w 59"/>
                <a:gd name="T59" fmla="*/ 26 h 60"/>
                <a:gd name="T60" fmla="*/ 0 w 59"/>
                <a:gd name="T61" fmla="*/ 30 h 60"/>
                <a:gd name="T62" fmla="*/ 1 w 59"/>
                <a:gd name="T63" fmla="*/ 35 h 60"/>
                <a:gd name="T64" fmla="*/ 1 w 59"/>
                <a:gd name="T65" fmla="*/ 40 h 60"/>
                <a:gd name="T66" fmla="*/ 3 w 59"/>
                <a:gd name="T67" fmla="*/ 43 h 60"/>
                <a:gd name="T68" fmla="*/ 6 w 59"/>
                <a:gd name="T69" fmla="*/ 48 h 60"/>
                <a:gd name="T70" fmla="*/ 10 w 59"/>
                <a:gd name="T71" fmla="*/ 52 h 60"/>
                <a:gd name="T72" fmla="*/ 13 w 59"/>
                <a:gd name="T73" fmla="*/ 55 h 60"/>
                <a:gd name="T74" fmla="*/ 17 w 59"/>
                <a:gd name="T75" fmla="*/ 57 h 60"/>
                <a:gd name="T76" fmla="*/ 20 w 59"/>
                <a:gd name="T77" fmla="*/ 59 h 60"/>
                <a:gd name="T78" fmla="*/ 25 w 59"/>
                <a:gd name="T79" fmla="*/ 60 h 60"/>
                <a:gd name="T80" fmla="*/ 30 w 59"/>
                <a:gd name="T81" fmla="*/ 60 h 60"/>
                <a:gd name="T82" fmla="*/ 30 w 59"/>
                <a:gd name="T83" fmla="*/ 60 h 6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9"/>
                <a:gd name="T127" fmla="*/ 0 h 60"/>
                <a:gd name="T128" fmla="*/ 59 w 59"/>
                <a:gd name="T129" fmla="*/ 60 h 6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9" h="60">
                  <a:moveTo>
                    <a:pt x="30" y="60"/>
                  </a:moveTo>
                  <a:lnTo>
                    <a:pt x="36" y="60"/>
                  </a:lnTo>
                  <a:lnTo>
                    <a:pt x="39" y="59"/>
                  </a:lnTo>
                  <a:lnTo>
                    <a:pt x="44" y="57"/>
                  </a:lnTo>
                  <a:lnTo>
                    <a:pt x="47" y="55"/>
                  </a:lnTo>
                  <a:lnTo>
                    <a:pt x="51" y="52"/>
                  </a:lnTo>
                  <a:lnTo>
                    <a:pt x="54" y="48"/>
                  </a:lnTo>
                  <a:lnTo>
                    <a:pt x="56" y="43"/>
                  </a:lnTo>
                  <a:lnTo>
                    <a:pt x="59" y="40"/>
                  </a:lnTo>
                  <a:lnTo>
                    <a:pt x="59" y="35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59" y="21"/>
                  </a:lnTo>
                  <a:lnTo>
                    <a:pt x="56" y="16"/>
                  </a:lnTo>
                  <a:lnTo>
                    <a:pt x="54" y="12"/>
                  </a:lnTo>
                  <a:lnTo>
                    <a:pt x="51" y="9"/>
                  </a:lnTo>
                  <a:lnTo>
                    <a:pt x="47" y="6"/>
                  </a:lnTo>
                  <a:lnTo>
                    <a:pt x="44" y="4"/>
                  </a:lnTo>
                  <a:lnTo>
                    <a:pt x="39" y="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2"/>
                  </a:lnTo>
                  <a:lnTo>
                    <a:pt x="17" y="4"/>
                  </a:lnTo>
                  <a:lnTo>
                    <a:pt x="13" y="6"/>
                  </a:lnTo>
                  <a:lnTo>
                    <a:pt x="10" y="9"/>
                  </a:lnTo>
                  <a:lnTo>
                    <a:pt x="6" y="12"/>
                  </a:lnTo>
                  <a:lnTo>
                    <a:pt x="3" y="16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0" y="30"/>
                  </a:lnTo>
                  <a:lnTo>
                    <a:pt x="1" y="35"/>
                  </a:lnTo>
                  <a:lnTo>
                    <a:pt x="1" y="40"/>
                  </a:lnTo>
                  <a:lnTo>
                    <a:pt x="3" y="43"/>
                  </a:lnTo>
                  <a:lnTo>
                    <a:pt x="6" y="48"/>
                  </a:lnTo>
                  <a:lnTo>
                    <a:pt x="10" y="52"/>
                  </a:lnTo>
                  <a:lnTo>
                    <a:pt x="13" y="55"/>
                  </a:lnTo>
                  <a:lnTo>
                    <a:pt x="17" y="57"/>
                  </a:lnTo>
                  <a:lnTo>
                    <a:pt x="20" y="59"/>
                  </a:lnTo>
                  <a:lnTo>
                    <a:pt x="25" y="60"/>
                  </a:lnTo>
                  <a:lnTo>
                    <a:pt x="30" y="6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94" name="Freeform 274"/>
            <p:cNvSpPr>
              <a:spLocks/>
            </p:cNvSpPr>
            <p:nvPr/>
          </p:nvSpPr>
          <p:spPr bwMode="auto">
            <a:xfrm>
              <a:off x="2084" y="1731"/>
              <a:ext cx="59" cy="60"/>
            </a:xfrm>
            <a:custGeom>
              <a:avLst/>
              <a:gdLst>
                <a:gd name="T0" fmla="*/ 30 w 59"/>
                <a:gd name="T1" fmla="*/ 59 h 60"/>
                <a:gd name="T2" fmla="*/ 36 w 59"/>
                <a:gd name="T3" fmla="*/ 60 h 60"/>
                <a:gd name="T4" fmla="*/ 39 w 59"/>
                <a:gd name="T5" fmla="*/ 59 h 60"/>
                <a:gd name="T6" fmla="*/ 44 w 59"/>
                <a:gd name="T7" fmla="*/ 57 h 60"/>
                <a:gd name="T8" fmla="*/ 47 w 59"/>
                <a:gd name="T9" fmla="*/ 53 h 60"/>
                <a:gd name="T10" fmla="*/ 51 w 59"/>
                <a:gd name="T11" fmla="*/ 52 h 60"/>
                <a:gd name="T12" fmla="*/ 54 w 59"/>
                <a:gd name="T13" fmla="*/ 48 h 60"/>
                <a:gd name="T14" fmla="*/ 56 w 59"/>
                <a:gd name="T15" fmla="*/ 43 h 60"/>
                <a:gd name="T16" fmla="*/ 59 w 59"/>
                <a:gd name="T17" fmla="*/ 40 h 60"/>
                <a:gd name="T18" fmla="*/ 59 w 59"/>
                <a:gd name="T19" fmla="*/ 35 h 60"/>
                <a:gd name="T20" fmla="*/ 59 w 59"/>
                <a:gd name="T21" fmla="*/ 30 h 60"/>
                <a:gd name="T22" fmla="*/ 59 w 59"/>
                <a:gd name="T23" fmla="*/ 26 h 60"/>
                <a:gd name="T24" fmla="*/ 59 w 59"/>
                <a:gd name="T25" fmla="*/ 21 h 60"/>
                <a:gd name="T26" fmla="*/ 56 w 59"/>
                <a:gd name="T27" fmla="*/ 16 h 60"/>
                <a:gd name="T28" fmla="*/ 54 w 59"/>
                <a:gd name="T29" fmla="*/ 12 h 60"/>
                <a:gd name="T30" fmla="*/ 51 w 59"/>
                <a:gd name="T31" fmla="*/ 9 h 60"/>
                <a:gd name="T32" fmla="*/ 47 w 59"/>
                <a:gd name="T33" fmla="*/ 6 h 60"/>
                <a:gd name="T34" fmla="*/ 44 w 59"/>
                <a:gd name="T35" fmla="*/ 4 h 60"/>
                <a:gd name="T36" fmla="*/ 39 w 59"/>
                <a:gd name="T37" fmla="*/ 2 h 60"/>
                <a:gd name="T38" fmla="*/ 36 w 59"/>
                <a:gd name="T39" fmla="*/ 0 h 60"/>
                <a:gd name="T40" fmla="*/ 30 w 59"/>
                <a:gd name="T41" fmla="*/ 0 h 60"/>
                <a:gd name="T42" fmla="*/ 25 w 59"/>
                <a:gd name="T43" fmla="*/ 0 h 60"/>
                <a:gd name="T44" fmla="*/ 20 w 59"/>
                <a:gd name="T45" fmla="*/ 2 h 60"/>
                <a:gd name="T46" fmla="*/ 17 w 59"/>
                <a:gd name="T47" fmla="*/ 4 h 60"/>
                <a:gd name="T48" fmla="*/ 13 w 59"/>
                <a:gd name="T49" fmla="*/ 6 h 60"/>
                <a:gd name="T50" fmla="*/ 10 w 59"/>
                <a:gd name="T51" fmla="*/ 9 h 60"/>
                <a:gd name="T52" fmla="*/ 6 w 59"/>
                <a:gd name="T53" fmla="*/ 12 h 60"/>
                <a:gd name="T54" fmla="*/ 3 w 59"/>
                <a:gd name="T55" fmla="*/ 16 h 60"/>
                <a:gd name="T56" fmla="*/ 1 w 59"/>
                <a:gd name="T57" fmla="*/ 21 h 60"/>
                <a:gd name="T58" fmla="*/ 1 w 59"/>
                <a:gd name="T59" fmla="*/ 26 h 60"/>
                <a:gd name="T60" fmla="*/ 0 w 59"/>
                <a:gd name="T61" fmla="*/ 30 h 60"/>
                <a:gd name="T62" fmla="*/ 1 w 59"/>
                <a:gd name="T63" fmla="*/ 35 h 60"/>
                <a:gd name="T64" fmla="*/ 1 w 59"/>
                <a:gd name="T65" fmla="*/ 40 h 60"/>
                <a:gd name="T66" fmla="*/ 3 w 59"/>
                <a:gd name="T67" fmla="*/ 43 h 60"/>
                <a:gd name="T68" fmla="*/ 6 w 59"/>
                <a:gd name="T69" fmla="*/ 48 h 60"/>
                <a:gd name="T70" fmla="*/ 10 w 59"/>
                <a:gd name="T71" fmla="*/ 52 h 60"/>
                <a:gd name="T72" fmla="*/ 13 w 59"/>
                <a:gd name="T73" fmla="*/ 53 h 60"/>
                <a:gd name="T74" fmla="*/ 17 w 59"/>
                <a:gd name="T75" fmla="*/ 57 h 60"/>
                <a:gd name="T76" fmla="*/ 20 w 59"/>
                <a:gd name="T77" fmla="*/ 59 h 60"/>
                <a:gd name="T78" fmla="*/ 25 w 59"/>
                <a:gd name="T79" fmla="*/ 60 h 60"/>
                <a:gd name="T80" fmla="*/ 30 w 59"/>
                <a:gd name="T81" fmla="*/ 60 h 60"/>
                <a:gd name="T82" fmla="*/ 30 w 59"/>
                <a:gd name="T83" fmla="*/ 60 h 6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9"/>
                <a:gd name="T127" fmla="*/ 0 h 60"/>
                <a:gd name="T128" fmla="*/ 59 w 59"/>
                <a:gd name="T129" fmla="*/ 60 h 6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9" h="60">
                  <a:moveTo>
                    <a:pt x="30" y="59"/>
                  </a:moveTo>
                  <a:lnTo>
                    <a:pt x="36" y="60"/>
                  </a:lnTo>
                  <a:lnTo>
                    <a:pt x="39" y="59"/>
                  </a:lnTo>
                  <a:lnTo>
                    <a:pt x="44" y="57"/>
                  </a:lnTo>
                  <a:lnTo>
                    <a:pt x="47" y="53"/>
                  </a:lnTo>
                  <a:lnTo>
                    <a:pt x="51" y="52"/>
                  </a:lnTo>
                  <a:lnTo>
                    <a:pt x="54" y="48"/>
                  </a:lnTo>
                  <a:lnTo>
                    <a:pt x="56" y="43"/>
                  </a:lnTo>
                  <a:lnTo>
                    <a:pt x="59" y="40"/>
                  </a:lnTo>
                  <a:lnTo>
                    <a:pt x="59" y="35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59" y="21"/>
                  </a:lnTo>
                  <a:lnTo>
                    <a:pt x="56" y="16"/>
                  </a:lnTo>
                  <a:lnTo>
                    <a:pt x="54" y="12"/>
                  </a:lnTo>
                  <a:lnTo>
                    <a:pt x="51" y="9"/>
                  </a:lnTo>
                  <a:lnTo>
                    <a:pt x="47" y="6"/>
                  </a:lnTo>
                  <a:lnTo>
                    <a:pt x="44" y="4"/>
                  </a:lnTo>
                  <a:lnTo>
                    <a:pt x="39" y="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2"/>
                  </a:lnTo>
                  <a:lnTo>
                    <a:pt x="17" y="4"/>
                  </a:lnTo>
                  <a:lnTo>
                    <a:pt x="13" y="6"/>
                  </a:lnTo>
                  <a:lnTo>
                    <a:pt x="10" y="9"/>
                  </a:lnTo>
                  <a:lnTo>
                    <a:pt x="6" y="12"/>
                  </a:lnTo>
                  <a:lnTo>
                    <a:pt x="3" y="16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0" y="30"/>
                  </a:lnTo>
                  <a:lnTo>
                    <a:pt x="1" y="35"/>
                  </a:lnTo>
                  <a:lnTo>
                    <a:pt x="1" y="40"/>
                  </a:lnTo>
                  <a:lnTo>
                    <a:pt x="3" y="43"/>
                  </a:lnTo>
                  <a:lnTo>
                    <a:pt x="6" y="48"/>
                  </a:lnTo>
                  <a:lnTo>
                    <a:pt x="10" y="52"/>
                  </a:lnTo>
                  <a:lnTo>
                    <a:pt x="13" y="53"/>
                  </a:lnTo>
                  <a:lnTo>
                    <a:pt x="17" y="57"/>
                  </a:lnTo>
                  <a:lnTo>
                    <a:pt x="20" y="59"/>
                  </a:lnTo>
                  <a:lnTo>
                    <a:pt x="25" y="60"/>
                  </a:lnTo>
                  <a:lnTo>
                    <a:pt x="30" y="6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95" name="Freeform 275"/>
            <p:cNvSpPr>
              <a:spLocks/>
            </p:cNvSpPr>
            <p:nvPr/>
          </p:nvSpPr>
          <p:spPr bwMode="auto">
            <a:xfrm>
              <a:off x="2084" y="1812"/>
              <a:ext cx="59" cy="60"/>
            </a:xfrm>
            <a:custGeom>
              <a:avLst/>
              <a:gdLst>
                <a:gd name="T0" fmla="*/ 30 w 59"/>
                <a:gd name="T1" fmla="*/ 58 h 60"/>
                <a:gd name="T2" fmla="*/ 36 w 59"/>
                <a:gd name="T3" fmla="*/ 60 h 60"/>
                <a:gd name="T4" fmla="*/ 39 w 59"/>
                <a:gd name="T5" fmla="*/ 58 h 60"/>
                <a:gd name="T6" fmla="*/ 44 w 59"/>
                <a:gd name="T7" fmla="*/ 56 h 60"/>
                <a:gd name="T8" fmla="*/ 47 w 59"/>
                <a:gd name="T9" fmla="*/ 55 h 60"/>
                <a:gd name="T10" fmla="*/ 51 w 59"/>
                <a:gd name="T11" fmla="*/ 51 h 60"/>
                <a:gd name="T12" fmla="*/ 54 w 59"/>
                <a:gd name="T13" fmla="*/ 48 h 60"/>
                <a:gd name="T14" fmla="*/ 56 w 59"/>
                <a:gd name="T15" fmla="*/ 43 h 60"/>
                <a:gd name="T16" fmla="*/ 59 w 59"/>
                <a:gd name="T17" fmla="*/ 39 h 60"/>
                <a:gd name="T18" fmla="*/ 59 w 59"/>
                <a:gd name="T19" fmla="*/ 34 h 60"/>
                <a:gd name="T20" fmla="*/ 59 w 59"/>
                <a:gd name="T21" fmla="*/ 29 h 60"/>
                <a:gd name="T22" fmla="*/ 59 w 59"/>
                <a:gd name="T23" fmla="*/ 25 h 60"/>
                <a:gd name="T24" fmla="*/ 59 w 59"/>
                <a:gd name="T25" fmla="*/ 20 h 60"/>
                <a:gd name="T26" fmla="*/ 56 w 59"/>
                <a:gd name="T27" fmla="*/ 15 h 60"/>
                <a:gd name="T28" fmla="*/ 54 w 59"/>
                <a:gd name="T29" fmla="*/ 12 h 60"/>
                <a:gd name="T30" fmla="*/ 51 w 59"/>
                <a:gd name="T31" fmla="*/ 8 h 60"/>
                <a:gd name="T32" fmla="*/ 47 w 59"/>
                <a:gd name="T33" fmla="*/ 5 h 60"/>
                <a:gd name="T34" fmla="*/ 44 w 59"/>
                <a:gd name="T35" fmla="*/ 3 h 60"/>
                <a:gd name="T36" fmla="*/ 39 w 59"/>
                <a:gd name="T37" fmla="*/ 2 h 60"/>
                <a:gd name="T38" fmla="*/ 36 w 59"/>
                <a:gd name="T39" fmla="*/ 0 h 60"/>
                <a:gd name="T40" fmla="*/ 30 w 59"/>
                <a:gd name="T41" fmla="*/ 0 h 60"/>
                <a:gd name="T42" fmla="*/ 25 w 59"/>
                <a:gd name="T43" fmla="*/ 0 h 60"/>
                <a:gd name="T44" fmla="*/ 20 w 59"/>
                <a:gd name="T45" fmla="*/ 2 h 60"/>
                <a:gd name="T46" fmla="*/ 17 w 59"/>
                <a:gd name="T47" fmla="*/ 3 h 60"/>
                <a:gd name="T48" fmla="*/ 13 w 59"/>
                <a:gd name="T49" fmla="*/ 5 h 60"/>
                <a:gd name="T50" fmla="*/ 10 w 59"/>
                <a:gd name="T51" fmla="*/ 8 h 60"/>
                <a:gd name="T52" fmla="*/ 6 w 59"/>
                <a:gd name="T53" fmla="*/ 12 h 60"/>
                <a:gd name="T54" fmla="*/ 3 w 59"/>
                <a:gd name="T55" fmla="*/ 15 h 60"/>
                <a:gd name="T56" fmla="*/ 1 w 59"/>
                <a:gd name="T57" fmla="*/ 20 h 60"/>
                <a:gd name="T58" fmla="*/ 1 w 59"/>
                <a:gd name="T59" fmla="*/ 25 h 60"/>
                <a:gd name="T60" fmla="*/ 0 w 59"/>
                <a:gd name="T61" fmla="*/ 29 h 60"/>
                <a:gd name="T62" fmla="*/ 1 w 59"/>
                <a:gd name="T63" fmla="*/ 34 h 60"/>
                <a:gd name="T64" fmla="*/ 1 w 59"/>
                <a:gd name="T65" fmla="*/ 39 h 60"/>
                <a:gd name="T66" fmla="*/ 3 w 59"/>
                <a:gd name="T67" fmla="*/ 43 h 60"/>
                <a:gd name="T68" fmla="*/ 6 w 59"/>
                <a:gd name="T69" fmla="*/ 48 h 60"/>
                <a:gd name="T70" fmla="*/ 10 w 59"/>
                <a:gd name="T71" fmla="*/ 51 h 60"/>
                <a:gd name="T72" fmla="*/ 13 w 59"/>
                <a:gd name="T73" fmla="*/ 55 h 60"/>
                <a:gd name="T74" fmla="*/ 17 w 59"/>
                <a:gd name="T75" fmla="*/ 56 h 60"/>
                <a:gd name="T76" fmla="*/ 20 w 59"/>
                <a:gd name="T77" fmla="*/ 58 h 60"/>
                <a:gd name="T78" fmla="*/ 25 w 59"/>
                <a:gd name="T79" fmla="*/ 60 h 60"/>
                <a:gd name="T80" fmla="*/ 30 w 59"/>
                <a:gd name="T81" fmla="*/ 60 h 60"/>
                <a:gd name="T82" fmla="*/ 30 w 59"/>
                <a:gd name="T83" fmla="*/ 60 h 6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9"/>
                <a:gd name="T127" fmla="*/ 0 h 60"/>
                <a:gd name="T128" fmla="*/ 59 w 59"/>
                <a:gd name="T129" fmla="*/ 60 h 6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9" h="60">
                  <a:moveTo>
                    <a:pt x="30" y="58"/>
                  </a:moveTo>
                  <a:lnTo>
                    <a:pt x="36" y="60"/>
                  </a:lnTo>
                  <a:lnTo>
                    <a:pt x="39" y="58"/>
                  </a:lnTo>
                  <a:lnTo>
                    <a:pt x="44" y="56"/>
                  </a:lnTo>
                  <a:lnTo>
                    <a:pt x="47" y="55"/>
                  </a:lnTo>
                  <a:lnTo>
                    <a:pt x="51" y="51"/>
                  </a:lnTo>
                  <a:lnTo>
                    <a:pt x="54" y="48"/>
                  </a:lnTo>
                  <a:lnTo>
                    <a:pt x="56" y="43"/>
                  </a:lnTo>
                  <a:lnTo>
                    <a:pt x="59" y="39"/>
                  </a:lnTo>
                  <a:lnTo>
                    <a:pt x="59" y="34"/>
                  </a:lnTo>
                  <a:lnTo>
                    <a:pt x="59" y="29"/>
                  </a:lnTo>
                  <a:lnTo>
                    <a:pt x="59" y="25"/>
                  </a:lnTo>
                  <a:lnTo>
                    <a:pt x="59" y="20"/>
                  </a:lnTo>
                  <a:lnTo>
                    <a:pt x="56" y="15"/>
                  </a:lnTo>
                  <a:lnTo>
                    <a:pt x="54" y="12"/>
                  </a:lnTo>
                  <a:lnTo>
                    <a:pt x="51" y="8"/>
                  </a:lnTo>
                  <a:lnTo>
                    <a:pt x="47" y="5"/>
                  </a:lnTo>
                  <a:lnTo>
                    <a:pt x="44" y="3"/>
                  </a:lnTo>
                  <a:lnTo>
                    <a:pt x="39" y="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3" y="5"/>
                  </a:lnTo>
                  <a:lnTo>
                    <a:pt x="10" y="8"/>
                  </a:lnTo>
                  <a:lnTo>
                    <a:pt x="6" y="12"/>
                  </a:lnTo>
                  <a:lnTo>
                    <a:pt x="3" y="15"/>
                  </a:lnTo>
                  <a:lnTo>
                    <a:pt x="1" y="20"/>
                  </a:lnTo>
                  <a:lnTo>
                    <a:pt x="1" y="25"/>
                  </a:lnTo>
                  <a:lnTo>
                    <a:pt x="0" y="29"/>
                  </a:lnTo>
                  <a:lnTo>
                    <a:pt x="1" y="34"/>
                  </a:lnTo>
                  <a:lnTo>
                    <a:pt x="1" y="39"/>
                  </a:lnTo>
                  <a:lnTo>
                    <a:pt x="3" y="43"/>
                  </a:lnTo>
                  <a:lnTo>
                    <a:pt x="6" y="48"/>
                  </a:lnTo>
                  <a:lnTo>
                    <a:pt x="10" y="51"/>
                  </a:lnTo>
                  <a:lnTo>
                    <a:pt x="13" y="55"/>
                  </a:lnTo>
                  <a:lnTo>
                    <a:pt x="17" y="56"/>
                  </a:lnTo>
                  <a:lnTo>
                    <a:pt x="20" y="58"/>
                  </a:lnTo>
                  <a:lnTo>
                    <a:pt x="25" y="60"/>
                  </a:lnTo>
                  <a:lnTo>
                    <a:pt x="30" y="6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96" name="Freeform 276"/>
            <p:cNvSpPr>
              <a:spLocks/>
            </p:cNvSpPr>
            <p:nvPr/>
          </p:nvSpPr>
          <p:spPr bwMode="auto">
            <a:xfrm>
              <a:off x="2084" y="1890"/>
              <a:ext cx="59" cy="60"/>
            </a:xfrm>
            <a:custGeom>
              <a:avLst/>
              <a:gdLst>
                <a:gd name="T0" fmla="*/ 30 w 59"/>
                <a:gd name="T1" fmla="*/ 59 h 60"/>
                <a:gd name="T2" fmla="*/ 36 w 59"/>
                <a:gd name="T3" fmla="*/ 60 h 60"/>
                <a:gd name="T4" fmla="*/ 39 w 59"/>
                <a:gd name="T5" fmla="*/ 59 h 60"/>
                <a:gd name="T6" fmla="*/ 44 w 59"/>
                <a:gd name="T7" fmla="*/ 57 h 60"/>
                <a:gd name="T8" fmla="*/ 47 w 59"/>
                <a:gd name="T9" fmla="*/ 55 h 60"/>
                <a:gd name="T10" fmla="*/ 51 w 59"/>
                <a:gd name="T11" fmla="*/ 52 h 60"/>
                <a:gd name="T12" fmla="*/ 54 w 59"/>
                <a:gd name="T13" fmla="*/ 48 h 60"/>
                <a:gd name="T14" fmla="*/ 56 w 59"/>
                <a:gd name="T15" fmla="*/ 43 h 60"/>
                <a:gd name="T16" fmla="*/ 59 w 59"/>
                <a:gd name="T17" fmla="*/ 40 h 60"/>
                <a:gd name="T18" fmla="*/ 59 w 59"/>
                <a:gd name="T19" fmla="*/ 35 h 60"/>
                <a:gd name="T20" fmla="*/ 59 w 59"/>
                <a:gd name="T21" fmla="*/ 30 h 60"/>
                <a:gd name="T22" fmla="*/ 59 w 59"/>
                <a:gd name="T23" fmla="*/ 26 h 60"/>
                <a:gd name="T24" fmla="*/ 59 w 59"/>
                <a:gd name="T25" fmla="*/ 21 h 60"/>
                <a:gd name="T26" fmla="*/ 56 w 59"/>
                <a:gd name="T27" fmla="*/ 16 h 60"/>
                <a:gd name="T28" fmla="*/ 54 w 59"/>
                <a:gd name="T29" fmla="*/ 12 h 60"/>
                <a:gd name="T30" fmla="*/ 51 w 59"/>
                <a:gd name="T31" fmla="*/ 9 h 60"/>
                <a:gd name="T32" fmla="*/ 47 w 59"/>
                <a:gd name="T33" fmla="*/ 6 h 60"/>
                <a:gd name="T34" fmla="*/ 44 w 59"/>
                <a:gd name="T35" fmla="*/ 4 h 60"/>
                <a:gd name="T36" fmla="*/ 39 w 59"/>
                <a:gd name="T37" fmla="*/ 2 h 60"/>
                <a:gd name="T38" fmla="*/ 36 w 59"/>
                <a:gd name="T39" fmla="*/ 0 h 60"/>
                <a:gd name="T40" fmla="*/ 30 w 59"/>
                <a:gd name="T41" fmla="*/ 0 h 60"/>
                <a:gd name="T42" fmla="*/ 25 w 59"/>
                <a:gd name="T43" fmla="*/ 0 h 60"/>
                <a:gd name="T44" fmla="*/ 20 w 59"/>
                <a:gd name="T45" fmla="*/ 2 h 60"/>
                <a:gd name="T46" fmla="*/ 17 w 59"/>
                <a:gd name="T47" fmla="*/ 4 h 60"/>
                <a:gd name="T48" fmla="*/ 13 w 59"/>
                <a:gd name="T49" fmla="*/ 6 h 60"/>
                <a:gd name="T50" fmla="*/ 10 w 59"/>
                <a:gd name="T51" fmla="*/ 9 h 60"/>
                <a:gd name="T52" fmla="*/ 6 w 59"/>
                <a:gd name="T53" fmla="*/ 12 h 60"/>
                <a:gd name="T54" fmla="*/ 3 w 59"/>
                <a:gd name="T55" fmla="*/ 16 h 60"/>
                <a:gd name="T56" fmla="*/ 1 w 59"/>
                <a:gd name="T57" fmla="*/ 21 h 60"/>
                <a:gd name="T58" fmla="*/ 1 w 59"/>
                <a:gd name="T59" fmla="*/ 26 h 60"/>
                <a:gd name="T60" fmla="*/ 0 w 59"/>
                <a:gd name="T61" fmla="*/ 30 h 60"/>
                <a:gd name="T62" fmla="*/ 1 w 59"/>
                <a:gd name="T63" fmla="*/ 35 h 60"/>
                <a:gd name="T64" fmla="*/ 1 w 59"/>
                <a:gd name="T65" fmla="*/ 40 h 60"/>
                <a:gd name="T66" fmla="*/ 3 w 59"/>
                <a:gd name="T67" fmla="*/ 43 h 60"/>
                <a:gd name="T68" fmla="*/ 6 w 59"/>
                <a:gd name="T69" fmla="*/ 48 h 60"/>
                <a:gd name="T70" fmla="*/ 10 w 59"/>
                <a:gd name="T71" fmla="*/ 52 h 60"/>
                <a:gd name="T72" fmla="*/ 13 w 59"/>
                <a:gd name="T73" fmla="*/ 55 h 60"/>
                <a:gd name="T74" fmla="*/ 17 w 59"/>
                <a:gd name="T75" fmla="*/ 57 h 60"/>
                <a:gd name="T76" fmla="*/ 20 w 59"/>
                <a:gd name="T77" fmla="*/ 59 h 60"/>
                <a:gd name="T78" fmla="*/ 25 w 59"/>
                <a:gd name="T79" fmla="*/ 60 h 60"/>
                <a:gd name="T80" fmla="*/ 30 w 59"/>
                <a:gd name="T81" fmla="*/ 60 h 60"/>
                <a:gd name="T82" fmla="*/ 30 w 59"/>
                <a:gd name="T83" fmla="*/ 60 h 6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9"/>
                <a:gd name="T127" fmla="*/ 0 h 60"/>
                <a:gd name="T128" fmla="*/ 59 w 59"/>
                <a:gd name="T129" fmla="*/ 60 h 6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9" h="60">
                  <a:moveTo>
                    <a:pt x="30" y="59"/>
                  </a:moveTo>
                  <a:lnTo>
                    <a:pt x="36" y="60"/>
                  </a:lnTo>
                  <a:lnTo>
                    <a:pt x="39" y="59"/>
                  </a:lnTo>
                  <a:lnTo>
                    <a:pt x="44" y="57"/>
                  </a:lnTo>
                  <a:lnTo>
                    <a:pt x="47" y="55"/>
                  </a:lnTo>
                  <a:lnTo>
                    <a:pt x="51" y="52"/>
                  </a:lnTo>
                  <a:lnTo>
                    <a:pt x="54" y="48"/>
                  </a:lnTo>
                  <a:lnTo>
                    <a:pt x="56" y="43"/>
                  </a:lnTo>
                  <a:lnTo>
                    <a:pt x="59" y="40"/>
                  </a:lnTo>
                  <a:lnTo>
                    <a:pt x="59" y="35"/>
                  </a:lnTo>
                  <a:lnTo>
                    <a:pt x="59" y="30"/>
                  </a:lnTo>
                  <a:lnTo>
                    <a:pt x="59" y="26"/>
                  </a:lnTo>
                  <a:lnTo>
                    <a:pt x="59" y="21"/>
                  </a:lnTo>
                  <a:lnTo>
                    <a:pt x="56" y="16"/>
                  </a:lnTo>
                  <a:lnTo>
                    <a:pt x="54" y="12"/>
                  </a:lnTo>
                  <a:lnTo>
                    <a:pt x="51" y="9"/>
                  </a:lnTo>
                  <a:lnTo>
                    <a:pt x="47" y="6"/>
                  </a:lnTo>
                  <a:lnTo>
                    <a:pt x="44" y="4"/>
                  </a:lnTo>
                  <a:lnTo>
                    <a:pt x="39" y="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2"/>
                  </a:lnTo>
                  <a:lnTo>
                    <a:pt x="17" y="4"/>
                  </a:lnTo>
                  <a:lnTo>
                    <a:pt x="13" y="6"/>
                  </a:lnTo>
                  <a:lnTo>
                    <a:pt x="10" y="9"/>
                  </a:lnTo>
                  <a:lnTo>
                    <a:pt x="6" y="12"/>
                  </a:lnTo>
                  <a:lnTo>
                    <a:pt x="3" y="16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0" y="30"/>
                  </a:lnTo>
                  <a:lnTo>
                    <a:pt x="1" y="35"/>
                  </a:lnTo>
                  <a:lnTo>
                    <a:pt x="1" y="40"/>
                  </a:lnTo>
                  <a:lnTo>
                    <a:pt x="3" y="43"/>
                  </a:lnTo>
                  <a:lnTo>
                    <a:pt x="6" y="48"/>
                  </a:lnTo>
                  <a:lnTo>
                    <a:pt x="10" y="52"/>
                  </a:lnTo>
                  <a:lnTo>
                    <a:pt x="13" y="55"/>
                  </a:lnTo>
                  <a:lnTo>
                    <a:pt x="17" y="57"/>
                  </a:lnTo>
                  <a:lnTo>
                    <a:pt x="20" y="59"/>
                  </a:lnTo>
                  <a:lnTo>
                    <a:pt x="25" y="60"/>
                  </a:lnTo>
                  <a:lnTo>
                    <a:pt x="30" y="6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97" name="Freeform 277"/>
            <p:cNvSpPr>
              <a:spLocks/>
            </p:cNvSpPr>
            <p:nvPr/>
          </p:nvSpPr>
          <p:spPr bwMode="auto">
            <a:xfrm>
              <a:off x="2084" y="1969"/>
              <a:ext cx="59" cy="60"/>
            </a:xfrm>
            <a:custGeom>
              <a:avLst/>
              <a:gdLst>
                <a:gd name="T0" fmla="*/ 30 w 59"/>
                <a:gd name="T1" fmla="*/ 58 h 60"/>
                <a:gd name="T2" fmla="*/ 36 w 59"/>
                <a:gd name="T3" fmla="*/ 60 h 60"/>
                <a:gd name="T4" fmla="*/ 39 w 59"/>
                <a:gd name="T5" fmla="*/ 58 h 60"/>
                <a:gd name="T6" fmla="*/ 44 w 59"/>
                <a:gd name="T7" fmla="*/ 57 h 60"/>
                <a:gd name="T8" fmla="*/ 47 w 59"/>
                <a:gd name="T9" fmla="*/ 55 h 60"/>
                <a:gd name="T10" fmla="*/ 51 w 59"/>
                <a:gd name="T11" fmla="*/ 51 h 60"/>
                <a:gd name="T12" fmla="*/ 54 w 59"/>
                <a:gd name="T13" fmla="*/ 48 h 60"/>
                <a:gd name="T14" fmla="*/ 56 w 59"/>
                <a:gd name="T15" fmla="*/ 43 h 60"/>
                <a:gd name="T16" fmla="*/ 59 w 59"/>
                <a:gd name="T17" fmla="*/ 40 h 60"/>
                <a:gd name="T18" fmla="*/ 59 w 59"/>
                <a:gd name="T19" fmla="*/ 34 h 60"/>
                <a:gd name="T20" fmla="*/ 59 w 59"/>
                <a:gd name="T21" fmla="*/ 29 h 60"/>
                <a:gd name="T22" fmla="*/ 59 w 59"/>
                <a:gd name="T23" fmla="*/ 26 h 60"/>
                <a:gd name="T24" fmla="*/ 59 w 59"/>
                <a:gd name="T25" fmla="*/ 21 h 60"/>
                <a:gd name="T26" fmla="*/ 56 w 59"/>
                <a:gd name="T27" fmla="*/ 16 h 60"/>
                <a:gd name="T28" fmla="*/ 54 w 59"/>
                <a:gd name="T29" fmla="*/ 12 h 60"/>
                <a:gd name="T30" fmla="*/ 51 w 59"/>
                <a:gd name="T31" fmla="*/ 9 h 60"/>
                <a:gd name="T32" fmla="*/ 47 w 59"/>
                <a:gd name="T33" fmla="*/ 5 h 60"/>
                <a:gd name="T34" fmla="*/ 44 w 59"/>
                <a:gd name="T35" fmla="*/ 4 h 60"/>
                <a:gd name="T36" fmla="*/ 39 w 59"/>
                <a:gd name="T37" fmla="*/ 2 h 60"/>
                <a:gd name="T38" fmla="*/ 36 w 59"/>
                <a:gd name="T39" fmla="*/ 0 h 60"/>
                <a:gd name="T40" fmla="*/ 30 w 59"/>
                <a:gd name="T41" fmla="*/ 0 h 60"/>
                <a:gd name="T42" fmla="*/ 25 w 59"/>
                <a:gd name="T43" fmla="*/ 0 h 60"/>
                <a:gd name="T44" fmla="*/ 20 w 59"/>
                <a:gd name="T45" fmla="*/ 2 h 60"/>
                <a:gd name="T46" fmla="*/ 17 w 59"/>
                <a:gd name="T47" fmla="*/ 4 h 60"/>
                <a:gd name="T48" fmla="*/ 13 w 59"/>
                <a:gd name="T49" fmla="*/ 5 h 60"/>
                <a:gd name="T50" fmla="*/ 10 w 59"/>
                <a:gd name="T51" fmla="*/ 9 h 60"/>
                <a:gd name="T52" fmla="*/ 6 w 59"/>
                <a:gd name="T53" fmla="*/ 12 h 60"/>
                <a:gd name="T54" fmla="*/ 3 w 59"/>
                <a:gd name="T55" fmla="*/ 16 h 60"/>
                <a:gd name="T56" fmla="*/ 1 w 59"/>
                <a:gd name="T57" fmla="*/ 21 h 60"/>
                <a:gd name="T58" fmla="*/ 1 w 59"/>
                <a:gd name="T59" fmla="*/ 26 h 60"/>
                <a:gd name="T60" fmla="*/ 0 w 59"/>
                <a:gd name="T61" fmla="*/ 29 h 60"/>
                <a:gd name="T62" fmla="*/ 1 w 59"/>
                <a:gd name="T63" fmla="*/ 34 h 60"/>
                <a:gd name="T64" fmla="*/ 1 w 59"/>
                <a:gd name="T65" fmla="*/ 40 h 60"/>
                <a:gd name="T66" fmla="*/ 3 w 59"/>
                <a:gd name="T67" fmla="*/ 43 h 60"/>
                <a:gd name="T68" fmla="*/ 6 w 59"/>
                <a:gd name="T69" fmla="*/ 48 h 60"/>
                <a:gd name="T70" fmla="*/ 10 w 59"/>
                <a:gd name="T71" fmla="*/ 51 h 60"/>
                <a:gd name="T72" fmla="*/ 13 w 59"/>
                <a:gd name="T73" fmla="*/ 55 h 60"/>
                <a:gd name="T74" fmla="*/ 17 w 59"/>
                <a:gd name="T75" fmla="*/ 57 h 60"/>
                <a:gd name="T76" fmla="*/ 20 w 59"/>
                <a:gd name="T77" fmla="*/ 58 h 60"/>
                <a:gd name="T78" fmla="*/ 25 w 59"/>
                <a:gd name="T79" fmla="*/ 60 h 60"/>
                <a:gd name="T80" fmla="*/ 30 w 59"/>
                <a:gd name="T81" fmla="*/ 60 h 60"/>
                <a:gd name="T82" fmla="*/ 30 w 59"/>
                <a:gd name="T83" fmla="*/ 60 h 6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9"/>
                <a:gd name="T127" fmla="*/ 0 h 60"/>
                <a:gd name="T128" fmla="*/ 59 w 59"/>
                <a:gd name="T129" fmla="*/ 60 h 6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9" h="60">
                  <a:moveTo>
                    <a:pt x="30" y="58"/>
                  </a:moveTo>
                  <a:lnTo>
                    <a:pt x="36" y="60"/>
                  </a:lnTo>
                  <a:lnTo>
                    <a:pt x="39" y="58"/>
                  </a:lnTo>
                  <a:lnTo>
                    <a:pt x="44" y="57"/>
                  </a:lnTo>
                  <a:lnTo>
                    <a:pt x="47" y="55"/>
                  </a:lnTo>
                  <a:lnTo>
                    <a:pt x="51" y="51"/>
                  </a:lnTo>
                  <a:lnTo>
                    <a:pt x="54" y="48"/>
                  </a:lnTo>
                  <a:lnTo>
                    <a:pt x="56" y="43"/>
                  </a:lnTo>
                  <a:lnTo>
                    <a:pt x="59" y="40"/>
                  </a:lnTo>
                  <a:lnTo>
                    <a:pt x="59" y="34"/>
                  </a:lnTo>
                  <a:lnTo>
                    <a:pt x="59" y="29"/>
                  </a:lnTo>
                  <a:lnTo>
                    <a:pt x="59" y="26"/>
                  </a:lnTo>
                  <a:lnTo>
                    <a:pt x="59" y="21"/>
                  </a:lnTo>
                  <a:lnTo>
                    <a:pt x="56" y="16"/>
                  </a:lnTo>
                  <a:lnTo>
                    <a:pt x="54" y="12"/>
                  </a:lnTo>
                  <a:lnTo>
                    <a:pt x="51" y="9"/>
                  </a:lnTo>
                  <a:lnTo>
                    <a:pt x="47" y="5"/>
                  </a:lnTo>
                  <a:lnTo>
                    <a:pt x="44" y="4"/>
                  </a:lnTo>
                  <a:lnTo>
                    <a:pt x="39" y="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2"/>
                  </a:lnTo>
                  <a:lnTo>
                    <a:pt x="17" y="4"/>
                  </a:lnTo>
                  <a:lnTo>
                    <a:pt x="13" y="5"/>
                  </a:lnTo>
                  <a:lnTo>
                    <a:pt x="10" y="9"/>
                  </a:lnTo>
                  <a:lnTo>
                    <a:pt x="6" y="12"/>
                  </a:lnTo>
                  <a:lnTo>
                    <a:pt x="3" y="16"/>
                  </a:lnTo>
                  <a:lnTo>
                    <a:pt x="1" y="21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1" y="34"/>
                  </a:lnTo>
                  <a:lnTo>
                    <a:pt x="1" y="40"/>
                  </a:lnTo>
                  <a:lnTo>
                    <a:pt x="3" y="43"/>
                  </a:lnTo>
                  <a:lnTo>
                    <a:pt x="6" y="48"/>
                  </a:lnTo>
                  <a:lnTo>
                    <a:pt x="10" y="51"/>
                  </a:lnTo>
                  <a:lnTo>
                    <a:pt x="13" y="55"/>
                  </a:lnTo>
                  <a:lnTo>
                    <a:pt x="17" y="57"/>
                  </a:lnTo>
                  <a:lnTo>
                    <a:pt x="20" y="58"/>
                  </a:lnTo>
                  <a:lnTo>
                    <a:pt x="25" y="60"/>
                  </a:lnTo>
                  <a:lnTo>
                    <a:pt x="30" y="60"/>
                  </a:lnTo>
                </a:path>
              </a:pathLst>
            </a:custGeom>
            <a:noFill/>
            <a:ln w="47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898" name="Rectangle 278"/>
            <p:cNvSpPr>
              <a:spLocks noChangeArrowheads="1"/>
            </p:cNvSpPr>
            <p:nvPr/>
          </p:nvSpPr>
          <p:spPr bwMode="auto">
            <a:xfrm>
              <a:off x="2097" y="1964"/>
              <a:ext cx="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en-US" b="1"/>
            </a:p>
          </p:txBody>
        </p:sp>
        <p:sp>
          <p:nvSpPr>
            <p:cNvPr id="34899" name="Line 279"/>
            <p:cNvSpPr>
              <a:spLocks noChangeShapeType="1"/>
            </p:cNvSpPr>
            <p:nvPr/>
          </p:nvSpPr>
          <p:spPr bwMode="auto">
            <a:xfrm flipH="1">
              <a:off x="2174" y="1920"/>
              <a:ext cx="7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0" name="Line 280"/>
            <p:cNvSpPr>
              <a:spLocks noChangeShapeType="1"/>
            </p:cNvSpPr>
            <p:nvPr/>
          </p:nvSpPr>
          <p:spPr bwMode="auto">
            <a:xfrm flipH="1">
              <a:off x="2174" y="1841"/>
              <a:ext cx="74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1" name="Line 281"/>
            <p:cNvSpPr>
              <a:spLocks noChangeShapeType="1"/>
            </p:cNvSpPr>
            <p:nvPr/>
          </p:nvSpPr>
          <p:spPr bwMode="auto">
            <a:xfrm flipH="1">
              <a:off x="2174" y="1762"/>
              <a:ext cx="7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2" name="Line 282"/>
            <p:cNvSpPr>
              <a:spLocks noChangeShapeType="1"/>
            </p:cNvSpPr>
            <p:nvPr/>
          </p:nvSpPr>
          <p:spPr bwMode="auto">
            <a:xfrm flipH="1">
              <a:off x="2174" y="1685"/>
              <a:ext cx="7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3" name="Line 283"/>
            <p:cNvSpPr>
              <a:spLocks noChangeShapeType="1"/>
            </p:cNvSpPr>
            <p:nvPr/>
          </p:nvSpPr>
          <p:spPr bwMode="auto">
            <a:xfrm flipH="1">
              <a:off x="2174" y="1607"/>
              <a:ext cx="7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4" name="Rectangle 284"/>
            <p:cNvSpPr>
              <a:spLocks noChangeArrowheads="1"/>
            </p:cNvSpPr>
            <p:nvPr/>
          </p:nvSpPr>
          <p:spPr bwMode="auto">
            <a:xfrm>
              <a:off x="1466" y="2092"/>
              <a:ext cx="0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endParaRPr lang="en-US" altLang="en-US" b="1"/>
            </a:p>
          </p:txBody>
        </p:sp>
        <p:sp>
          <p:nvSpPr>
            <p:cNvPr id="34905" name="Freeform 285"/>
            <p:cNvSpPr>
              <a:spLocks/>
            </p:cNvSpPr>
            <p:nvPr/>
          </p:nvSpPr>
          <p:spPr bwMode="auto">
            <a:xfrm>
              <a:off x="1747" y="1567"/>
              <a:ext cx="63" cy="472"/>
            </a:xfrm>
            <a:custGeom>
              <a:avLst/>
              <a:gdLst>
                <a:gd name="T0" fmla="*/ 61 w 63"/>
                <a:gd name="T1" fmla="*/ 472 h 472"/>
                <a:gd name="T2" fmla="*/ 63 w 63"/>
                <a:gd name="T3" fmla="*/ 0 h 472"/>
                <a:gd name="T4" fmla="*/ 0 w 63"/>
                <a:gd name="T5" fmla="*/ 0 h 472"/>
                <a:gd name="T6" fmla="*/ 0 w 63"/>
                <a:gd name="T7" fmla="*/ 472 h 472"/>
                <a:gd name="T8" fmla="*/ 63 w 63"/>
                <a:gd name="T9" fmla="*/ 472 h 472"/>
                <a:gd name="T10" fmla="*/ 63 w 63"/>
                <a:gd name="T11" fmla="*/ 472 h 4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"/>
                <a:gd name="T19" fmla="*/ 0 h 472"/>
                <a:gd name="T20" fmla="*/ 63 w 63"/>
                <a:gd name="T21" fmla="*/ 472 h 4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" h="472">
                  <a:moveTo>
                    <a:pt x="61" y="472"/>
                  </a:moveTo>
                  <a:lnTo>
                    <a:pt x="63" y="0"/>
                  </a:lnTo>
                  <a:lnTo>
                    <a:pt x="0" y="0"/>
                  </a:lnTo>
                  <a:lnTo>
                    <a:pt x="0" y="472"/>
                  </a:lnTo>
                  <a:lnTo>
                    <a:pt x="63" y="47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6" name="Freeform 286"/>
            <p:cNvSpPr>
              <a:spLocks/>
            </p:cNvSpPr>
            <p:nvPr/>
          </p:nvSpPr>
          <p:spPr bwMode="auto">
            <a:xfrm>
              <a:off x="1810" y="1567"/>
              <a:ext cx="63" cy="472"/>
            </a:xfrm>
            <a:custGeom>
              <a:avLst/>
              <a:gdLst>
                <a:gd name="T0" fmla="*/ 63 w 63"/>
                <a:gd name="T1" fmla="*/ 472 h 472"/>
                <a:gd name="T2" fmla="*/ 63 w 63"/>
                <a:gd name="T3" fmla="*/ 0 h 472"/>
                <a:gd name="T4" fmla="*/ 0 w 63"/>
                <a:gd name="T5" fmla="*/ 0 h 472"/>
                <a:gd name="T6" fmla="*/ 0 w 63"/>
                <a:gd name="T7" fmla="*/ 472 h 472"/>
                <a:gd name="T8" fmla="*/ 63 w 63"/>
                <a:gd name="T9" fmla="*/ 472 h 472"/>
                <a:gd name="T10" fmla="*/ 63 w 63"/>
                <a:gd name="T11" fmla="*/ 472 h 4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3"/>
                <a:gd name="T19" fmla="*/ 0 h 472"/>
                <a:gd name="T20" fmla="*/ 63 w 63"/>
                <a:gd name="T21" fmla="*/ 472 h 47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3" h="472">
                  <a:moveTo>
                    <a:pt x="63" y="472"/>
                  </a:moveTo>
                  <a:lnTo>
                    <a:pt x="63" y="0"/>
                  </a:lnTo>
                  <a:lnTo>
                    <a:pt x="0" y="0"/>
                  </a:lnTo>
                  <a:lnTo>
                    <a:pt x="0" y="472"/>
                  </a:lnTo>
                  <a:lnTo>
                    <a:pt x="63" y="472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7" name="Freeform 287"/>
            <p:cNvSpPr>
              <a:spLocks/>
            </p:cNvSpPr>
            <p:nvPr/>
          </p:nvSpPr>
          <p:spPr bwMode="auto">
            <a:xfrm>
              <a:off x="4093" y="2436"/>
              <a:ext cx="94" cy="121"/>
            </a:xfrm>
            <a:custGeom>
              <a:avLst/>
              <a:gdLst>
                <a:gd name="T0" fmla="*/ 92 w 94"/>
                <a:gd name="T1" fmla="*/ 121 h 121"/>
                <a:gd name="T2" fmla="*/ 94 w 94"/>
                <a:gd name="T3" fmla="*/ 0 h 121"/>
                <a:gd name="T4" fmla="*/ 0 w 94"/>
                <a:gd name="T5" fmla="*/ 0 h 121"/>
                <a:gd name="T6" fmla="*/ 0 w 94"/>
                <a:gd name="T7" fmla="*/ 121 h 121"/>
                <a:gd name="T8" fmla="*/ 94 w 94"/>
                <a:gd name="T9" fmla="*/ 121 h 121"/>
                <a:gd name="T10" fmla="*/ 94 w 94"/>
                <a:gd name="T11" fmla="*/ 121 h 1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4"/>
                <a:gd name="T19" fmla="*/ 0 h 121"/>
                <a:gd name="T20" fmla="*/ 94 w 94"/>
                <a:gd name="T21" fmla="*/ 121 h 12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4" h="121">
                  <a:moveTo>
                    <a:pt x="92" y="121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94" y="12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8" name="Freeform 288"/>
            <p:cNvSpPr>
              <a:spLocks/>
            </p:cNvSpPr>
            <p:nvPr/>
          </p:nvSpPr>
          <p:spPr bwMode="auto">
            <a:xfrm>
              <a:off x="3310" y="2434"/>
              <a:ext cx="781" cy="123"/>
            </a:xfrm>
            <a:custGeom>
              <a:avLst/>
              <a:gdLst>
                <a:gd name="T0" fmla="*/ 781 w 781"/>
                <a:gd name="T1" fmla="*/ 123 h 123"/>
                <a:gd name="T2" fmla="*/ 781 w 781"/>
                <a:gd name="T3" fmla="*/ 0 h 123"/>
                <a:gd name="T4" fmla="*/ 0 w 781"/>
                <a:gd name="T5" fmla="*/ 0 h 123"/>
                <a:gd name="T6" fmla="*/ 0 w 781"/>
                <a:gd name="T7" fmla="*/ 123 h 123"/>
                <a:gd name="T8" fmla="*/ 781 w 781"/>
                <a:gd name="T9" fmla="*/ 123 h 123"/>
                <a:gd name="T10" fmla="*/ 781 w 781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81"/>
                <a:gd name="T19" fmla="*/ 0 h 123"/>
                <a:gd name="T20" fmla="*/ 781 w 781"/>
                <a:gd name="T21" fmla="*/ 123 h 1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81" h="123">
                  <a:moveTo>
                    <a:pt x="781" y="123"/>
                  </a:moveTo>
                  <a:lnTo>
                    <a:pt x="781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781" y="12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09" name="Freeform 289"/>
            <p:cNvSpPr>
              <a:spLocks/>
            </p:cNvSpPr>
            <p:nvPr/>
          </p:nvSpPr>
          <p:spPr bwMode="auto">
            <a:xfrm>
              <a:off x="2431" y="2434"/>
              <a:ext cx="879" cy="123"/>
            </a:xfrm>
            <a:custGeom>
              <a:avLst/>
              <a:gdLst>
                <a:gd name="T0" fmla="*/ 879 w 879"/>
                <a:gd name="T1" fmla="*/ 123 h 123"/>
                <a:gd name="T2" fmla="*/ 879 w 879"/>
                <a:gd name="T3" fmla="*/ 0 h 123"/>
                <a:gd name="T4" fmla="*/ 0 w 879"/>
                <a:gd name="T5" fmla="*/ 0 h 123"/>
                <a:gd name="T6" fmla="*/ 0 w 879"/>
                <a:gd name="T7" fmla="*/ 123 h 123"/>
                <a:gd name="T8" fmla="*/ 879 w 879"/>
                <a:gd name="T9" fmla="*/ 123 h 123"/>
                <a:gd name="T10" fmla="*/ 879 w 879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79"/>
                <a:gd name="T19" fmla="*/ 0 h 123"/>
                <a:gd name="T20" fmla="*/ 879 w 879"/>
                <a:gd name="T21" fmla="*/ 123 h 1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79" h="123">
                  <a:moveTo>
                    <a:pt x="879" y="123"/>
                  </a:moveTo>
                  <a:lnTo>
                    <a:pt x="879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879" y="12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10" name="Freeform 290"/>
            <p:cNvSpPr>
              <a:spLocks/>
            </p:cNvSpPr>
            <p:nvPr/>
          </p:nvSpPr>
          <p:spPr bwMode="auto">
            <a:xfrm>
              <a:off x="3477" y="2311"/>
              <a:ext cx="708" cy="123"/>
            </a:xfrm>
            <a:custGeom>
              <a:avLst/>
              <a:gdLst>
                <a:gd name="T0" fmla="*/ 708 w 708"/>
                <a:gd name="T1" fmla="*/ 122 h 123"/>
                <a:gd name="T2" fmla="*/ 708 w 708"/>
                <a:gd name="T3" fmla="*/ 0 h 123"/>
                <a:gd name="T4" fmla="*/ 0 w 708"/>
                <a:gd name="T5" fmla="*/ 0 h 123"/>
                <a:gd name="T6" fmla="*/ 0 w 708"/>
                <a:gd name="T7" fmla="*/ 123 h 123"/>
                <a:gd name="T8" fmla="*/ 708 w 708"/>
                <a:gd name="T9" fmla="*/ 123 h 123"/>
                <a:gd name="T10" fmla="*/ 708 w 708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08"/>
                <a:gd name="T19" fmla="*/ 0 h 123"/>
                <a:gd name="T20" fmla="*/ 708 w 708"/>
                <a:gd name="T21" fmla="*/ 123 h 1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08" h="123">
                  <a:moveTo>
                    <a:pt x="708" y="122"/>
                  </a:moveTo>
                  <a:lnTo>
                    <a:pt x="708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708" y="12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11" name="Freeform 291"/>
            <p:cNvSpPr>
              <a:spLocks/>
            </p:cNvSpPr>
            <p:nvPr/>
          </p:nvSpPr>
          <p:spPr bwMode="auto">
            <a:xfrm>
              <a:off x="2431" y="2311"/>
              <a:ext cx="1046" cy="123"/>
            </a:xfrm>
            <a:custGeom>
              <a:avLst/>
              <a:gdLst>
                <a:gd name="T0" fmla="*/ 1046 w 1046"/>
                <a:gd name="T1" fmla="*/ 123 h 123"/>
                <a:gd name="T2" fmla="*/ 1046 w 1046"/>
                <a:gd name="T3" fmla="*/ 0 h 123"/>
                <a:gd name="T4" fmla="*/ 0 w 1046"/>
                <a:gd name="T5" fmla="*/ 0 h 123"/>
                <a:gd name="T6" fmla="*/ 0 w 1046"/>
                <a:gd name="T7" fmla="*/ 123 h 123"/>
                <a:gd name="T8" fmla="*/ 1046 w 1046"/>
                <a:gd name="T9" fmla="*/ 123 h 123"/>
                <a:gd name="T10" fmla="*/ 1046 w 1046"/>
                <a:gd name="T11" fmla="*/ 123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46"/>
                <a:gd name="T19" fmla="*/ 0 h 123"/>
                <a:gd name="T20" fmla="*/ 1046 w 1046"/>
                <a:gd name="T21" fmla="*/ 123 h 1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46" h="123">
                  <a:moveTo>
                    <a:pt x="1046" y="123"/>
                  </a:moveTo>
                  <a:lnTo>
                    <a:pt x="1046" y="0"/>
                  </a:lnTo>
                  <a:lnTo>
                    <a:pt x="0" y="0"/>
                  </a:lnTo>
                  <a:lnTo>
                    <a:pt x="0" y="123"/>
                  </a:lnTo>
                  <a:lnTo>
                    <a:pt x="1046" y="123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12" name="Freeform 292"/>
            <p:cNvSpPr>
              <a:spLocks/>
            </p:cNvSpPr>
            <p:nvPr/>
          </p:nvSpPr>
          <p:spPr bwMode="auto">
            <a:xfrm>
              <a:off x="3171" y="2407"/>
              <a:ext cx="482" cy="55"/>
            </a:xfrm>
            <a:custGeom>
              <a:avLst/>
              <a:gdLst>
                <a:gd name="T0" fmla="*/ 482 w 482"/>
                <a:gd name="T1" fmla="*/ 55 h 55"/>
                <a:gd name="T2" fmla="*/ 482 w 482"/>
                <a:gd name="T3" fmla="*/ 0 h 55"/>
                <a:gd name="T4" fmla="*/ 0 w 482"/>
                <a:gd name="T5" fmla="*/ 0 h 55"/>
                <a:gd name="T6" fmla="*/ 0 w 482"/>
                <a:gd name="T7" fmla="*/ 55 h 55"/>
                <a:gd name="T8" fmla="*/ 482 w 482"/>
                <a:gd name="T9" fmla="*/ 55 h 55"/>
                <a:gd name="T10" fmla="*/ 482 w 482"/>
                <a:gd name="T11" fmla="*/ 55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2"/>
                <a:gd name="T19" fmla="*/ 0 h 55"/>
                <a:gd name="T20" fmla="*/ 482 w 482"/>
                <a:gd name="T21" fmla="*/ 55 h 5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2" h="55">
                  <a:moveTo>
                    <a:pt x="482" y="55"/>
                  </a:moveTo>
                  <a:lnTo>
                    <a:pt x="482" y="0"/>
                  </a:lnTo>
                  <a:lnTo>
                    <a:pt x="0" y="0"/>
                  </a:lnTo>
                  <a:lnTo>
                    <a:pt x="0" y="55"/>
                  </a:lnTo>
                  <a:lnTo>
                    <a:pt x="482" y="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13" name="Rectangle 293"/>
            <p:cNvSpPr>
              <a:spLocks noChangeArrowheads="1"/>
            </p:cNvSpPr>
            <p:nvPr/>
          </p:nvSpPr>
          <p:spPr bwMode="auto">
            <a:xfrm>
              <a:off x="3207" y="2398"/>
              <a:ext cx="31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P</a:t>
              </a:r>
              <a:endParaRPr lang="en-US" altLang="en-US" b="1"/>
            </a:p>
          </p:txBody>
        </p:sp>
        <p:sp>
          <p:nvSpPr>
            <p:cNvPr id="34914" name="Rectangle 294"/>
            <p:cNvSpPr>
              <a:spLocks noChangeArrowheads="1"/>
            </p:cNvSpPr>
            <p:nvPr/>
          </p:nvSpPr>
          <p:spPr bwMode="auto">
            <a:xfrm>
              <a:off x="3246" y="2398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h</a:t>
              </a:r>
              <a:endParaRPr lang="en-US" altLang="en-US" b="1"/>
            </a:p>
          </p:txBody>
        </p:sp>
        <p:sp>
          <p:nvSpPr>
            <p:cNvPr id="34915" name="Rectangle 295"/>
            <p:cNvSpPr>
              <a:spLocks noChangeArrowheads="1"/>
            </p:cNvSpPr>
            <p:nvPr/>
          </p:nvSpPr>
          <p:spPr bwMode="auto">
            <a:xfrm>
              <a:off x="3277" y="2398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y</a:t>
              </a:r>
              <a:endParaRPr lang="en-US" altLang="en-US" b="1"/>
            </a:p>
          </p:txBody>
        </p:sp>
        <p:sp>
          <p:nvSpPr>
            <p:cNvPr id="34916" name="Rectangle 296"/>
            <p:cNvSpPr>
              <a:spLocks noChangeArrowheads="1"/>
            </p:cNvSpPr>
            <p:nvPr/>
          </p:nvSpPr>
          <p:spPr bwMode="auto">
            <a:xfrm>
              <a:off x="3306" y="2398"/>
              <a:ext cx="2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34917" name="Rectangle 297"/>
            <p:cNvSpPr>
              <a:spLocks noChangeArrowheads="1"/>
            </p:cNvSpPr>
            <p:nvPr/>
          </p:nvSpPr>
          <p:spPr bwMode="auto">
            <a:xfrm>
              <a:off x="3333" y="2398"/>
              <a:ext cx="10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i</a:t>
              </a:r>
              <a:endParaRPr lang="en-US" altLang="en-US" b="1"/>
            </a:p>
          </p:txBody>
        </p:sp>
        <p:sp>
          <p:nvSpPr>
            <p:cNvPr id="34918" name="Rectangle 298"/>
            <p:cNvSpPr>
              <a:spLocks noChangeArrowheads="1"/>
            </p:cNvSpPr>
            <p:nvPr/>
          </p:nvSpPr>
          <p:spPr bwMode="auto">
            <a:xfrm>
              <a:off x="3347" y="2398"/>
              <a:ext cx="2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c</a:t>
              </a:r>
              <a:endParaRPr lang="en-US" altLang="en-US" b="1"/>
            </a:p>
          </p:txBody>
        </p:sp>
        <p:sp>
          <p:nvSpPr>
            <p:cNvPr id="34919" name="Rectangle 299"/>
            <p:cNvSpPr>
              <a:spLocks noChangeArrowheads="1"/>
            </p:cNvSpPr>
            <p:nvPr/>
          </p:nvSpPr>
          <p:spPr bwMode="auto">
            <a:xfrm>
              <a:off x="3376" y="2398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920" name="Rectangle 300"/>
            <p:cNvSpPr>
              <a:spLocks noChangeArrowheads="1"/>
            </p:cNvSpPr>
            <p:nvPr/>
          </p:nvSpPr>
          <p:spPr bwMode="auto">
            <a:xfrm>
              <a:off x="3407" y="2398"/>
              <a:ext cx="10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l</a:t>
              </a:r>
              <a:endParaRPr lang="en-US" altLang="en-US" b="1"/>
            </a:p>
          </p:txBody>
        </p:sp>
        <p:sp>
          <p:nvSpPr>
            <p:cNvPr id="34921" name="Rectangle 301"/>
            <p:cNvSpPr>
              <a:spLocks noChangeArrowheads="1"/>
            </p:cNvSpPr>
            <p:nvPr/>
          </p:nvSpPr>
          <p:spPr bwMode="auto">
            <a:xfrm>
              <a:off x="3419" y="2398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22" name="Rectangle 302"/>
            <p:cNvSpPr>
              <a:spLocks noChangeArrowheads="1"/>
            </p:cNvSpPr>
            <p:nvPr/>
          </p:nvSpPr>
          <p:spPr bwMode="auto">
            <a:xfrm>
              <a:off x="3436" y="2398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a</a:t>
              </a:r>
              <a:endParaRPr lang="en-US" altLang="en-US" b="1"/>
            </a:p>
          </p:txBody>
        </p:sp>
        <p:sp>
          <p:nvSpPr>
            <p:cNvPr id="34923" name="Rectangle 303"/>
            <p:cNvSpPr>
              <a:spLocks noChangeArrowheads="1"/>
            </p:cNvSpPr>
            <p:nvPr/>
          </p:nvSpPr>
          <p:spPr bwMode="auto">
            <a:xfrm>
              <a:off x="3467" y="2398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d</a:t>
              </a:r>
              <a:endParaRPr lang="en-US" altLang="en-US" b="1"/>
            </a:p>
          </p:txBody>
        </p:sp>
        <p:sp>
          <p:nvSpPr>
            <p:cNvPr id="34924" name="Rectangle 304"/>
            <p:cNvSpPr>
              <a:spLocks noChangeArrowheads="1"/>
            </p:cNvSpPr>
            <p:nvPr/>
          </p:nvSpPr>
          <p:spPr bwMode="auto">
            <a:xfrm>
              <a:off x="3499" y="2398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d</a:t>
              </a:r>
              <a:endParaRPr lang="en-US" altLang="en-US" b="1"/>
            </a:p>
          </p:txBody>
        </p:sp>
        <p:sp>
          <p:nvSpPr>
            <p:cNvPr id="34925" name="Rectangle 305"/>
            <p:cNvSpPr>
              <a:spLocks noChangeArrowheads="1"/>
            </p:cNvSpPr>
            <p:nvPr/>
          </p:nvSpPr>
          <p:spPr bwMode="auto">
            <a:xfrm>
              <a:off x="3530" y="2398"/>
              <a:ext cx="1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r</a:t>
              </a:r>
              <a:endParaRPr lang="en-US" altLang="en-US" b="1"/>
            </a:p>
          </p:txBody>
        </p:sp>
        <p:sp>
          <p:nvSpPr>
            <p:cNvPr id="34926" name="Rectangle 306"/>
            <p:cNvSpPr>
              <a:spLocks noChangeArrowheads="1"/>
            </p:cNvSpPr>
            <p:nvPr/>
          </p:nvSpPr>
          <p:spPr bwMode="auto">
            <a:xfrm>
              <a:off x="3549" y="2398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e</a:t>
              </a:r>
              <a:endParaRPr lang="en-US" altLang="en-US" b="1"/>
            </a:p>
          </p:txBody>
        </p:sp>
        <p:sp>
          <p:nvSpPr>
            <p:cNvPr id="34927" name="Rectangle 307"/>
            <p:cNvSpPr>
              <a:spLocks noChangeArrowheads="1"/>
            </p:cNvSpPr>
            <p:nvPr/>
          </p:nvSpPr>
          <p:spPr bwMode="auto">
            <a:xfrm>
              <a:off x="3581" y="2398"/>
              <a:ext cx="2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34928" name="Rectangle 308"/>
            <p:cNvSpPr>
              <a:spLocks noChangeArrowheads="1"/>
            </p:cNvSpPr>
            <p:nvPr/>
          </p:nvSpPr>
          <p:spPr bwMode="auto">
            <a:xfrm>
              <a:off x="3610" y="2398"/>
              <a:ext cx="2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s</a:t>
              </a:r>
              <a:endParaRPr lang="en-US" altLang="en-US" b="1"/>
            </a:p>
          </p:txBody>
        </p:sp>
        <p:sp>
          <p:nvSpPr>
            <p:cNvPr id="34929" name="Rectangle 309"/>
            <p:cNvSpPr>
              <a:spLocks noChangeArrowheads="1"/>
            </p:cNvSpPr>
            <p:nvPr/>
          </p:nvSpPr>
          <p:spPr bwMode="auto">
            <a:xfrm>
              <a:off x="2000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3</a:t>
              </a:r>
              <a:endParaRPr lang="en-US" altLang="en-US" b="1"/>
            </a:p>
          </p:txBody>
        </p:sp>
        <p:sp>
          <p:nvSpPr>
            <p:cNvPr id="34930" name="Rectangle 310"/>
            <p:cNvSpPr>
              <a:spLocks noChangeArrowheads="1"/>
            </p:cNvSpPr>
            <p:nvPr/>
          </p:nvSpPr>
          <p:spPr bwMode="auto">
            <a:xfrm>
              <a:off x="2031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31" name="Rectangle 311"/>
            <p:cNvSpPr>
              <a:spLocks noChangeArrowheads="1"/>
            </p:cNvSpPr>
            <p:nvPr/>
          </p:nvSpPr>
          <p:spPr bwMode="auto">
            <a:xfrm>
              <a:off x="2063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32" name="Rectangle 312"/>
            <p:cNvSpPr>
              <a:spLocks noChangeArrowheads="1"/>
            </p:cNvSpPr>
            <p:nvPr/>
          </p:nvSpPr>
          <p:spPr bwMode="auto">
            <a:xfrm>
              <a:off x="2078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3</a:t>
              </a:r>
              <a:endParaRPr lang="en-US" altLang="en-US" b="1"/>
            </a:p>
          </p:txBody>
        </p:sp>
        <p:sp>
          <p:nvSpPr>
            <p:cNvPr id="34933" name="Rectangle 313"/>
            <p:cNvSpPr>
              <a:spLocks noChangeArrowheads="1"/>
            </p:cNvSpPr>
            <p:nvPr/>
          </p:nvSpPr>
          <p:spPr bwMode="auto">
            <a:xfrm>
              <a:off x="2111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0</a:t>
              </a:r>
              <a:endParaRPr lang="en-US" altLang="en-US" b="1"/>
            </a:p>
          </p:txBody>
        </p:sp>
        <p:sp>
          <p:nvSpPr>
            <p:cNvPr id="34934" name="Rectangle 314"/>
            <p:cNvSpPr>
              <a:spLocks noChangeArrowheads="1"/>
            </p:cNvSpPr>
            <p:nvPr/>
          </p:nvSpPr>
          <p:spPr bwMode="auto">
            <a:xfrm>
              <a:off x="2142" y="1071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35" name="Rectangle 315"/>
            <p:cNvSpPr>
              <a:spLocks noChangeArrowheads="1"/>
            </p:cNvSpPr>
            <p:nvPr/>
          </p:nvSpPr>
          <p:spPr bwMode="auto">
            <a:xfrm>
              <a:off x="2157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2</a:t>
              </a:r>
              <a:endParaRPr lang="en-US" altLang="en-US" b="1"/>
            </a:p>
          </p:txBody>
        </p:sp>
        <p:sp>
          <p:nvSpPr>
            <p:cNvPr id="34936" name="Rectangle 316"/>
            <p:cNvSpPr>
              <a:spLocks noChangeArrowheads="1"/>
            </p:cNvSpPr>
            <p:nvPr/>
          </p:nvSpPr>
          <p:spPr bwMode="auto">
            <a:xfrm>
              <a:off x="2190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9</a:t>
              </a:r>
              <a:endParaRPr lang="en-US" altLang="en-US" b="1"/>
            </a:p>
          </p:txBody>
        </p:sp>
        <p:sp>
          <p:nvSpPr>
            <p:cNvPr id="34937" name="Rectangle 317"/>
            <p:cNvSpPr>
              <a:spLocks noChangeArrowheads="1"/>
            </p:cNvSpPr>
            <p:nvPr/>
          </p:nvSpPr>
          <p:spPr bwMode="auto">
            <a:xfrm>
              <a:off x="2220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38" name="Rectangle 318"/>
            <p:cNvSpPr>
              <a:spLocks noChangeArrowheads="1"/>
            </p:cNvSpPr>
            <p:nvPr/>
          </p:nvSpPr>
          <p:spPr bwMode="auto">
            <a:xfrm>
              <a:off x="2802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39" name="Rectangle 319"/>
            <p:cNvSpPr>
              <a:spLocks noChangeArrowheads="1"/>
            </p:cNvSpPr>
            <p:nvPr/>
          </p:nvSpPr>
          <p:spPr bwMode="auto">
            <a:xfrm>
              <a:off x="2819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40" name="Rectangle 320"/>
            <p:cNvSpPr>
              <a:spLocks noChangeArrowheads="1"/>
            </p:cNvSpPr>
            <p:nvPr/>
          </p:nvSpPr>
          <p:spPr bwMode="auto">
            <a:xfrm>
              <a:off x="2850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5</a:t>
              </a:r>
              <a:endParaRPr lang="en-US" altLang="en-US" b="1"/>
            </a:p>
          </p:txBody>
        </p:sp>
        <p:sp>
          <p:nvSpPr>
            <p:cNvPr id="34941" name="Rectangle 321"/>
            <p:cNvSpPr>
              <a:spLocks noChangeArrowheads="1"/>
            </p:cNvSpPr>
            <p:nvPr/>
          </p:nvSpPr>
          <p:spPr bwMode="auto">
            <a:xfrm>
              <a:off x="2882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42" name="Rectangle 322"/>
            <p:cNvSpPr>
              <a:spLocks noChangeArrowheads="1"/>
            </p:cNvSpPr>
            <p:nvPr/>
          </p:nvSpPr>
          <p:spPr bwMode="auto">
            <a:xfrm>
              <a:off x="2897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43" name="Rectangle 323"/>
            <p:cNvSpPr>
              <a:spLocks noChangeArrowheads="1"/>
            </p:cNvSpPr>
            <p:nvPr/>
          </p:nvSpPr>
          <p:spPr bwMode="auto">
            <a:xfrm>
              <a:off x="2928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4</a:t>
              </a:r>
              <a:endParaRPr lang="en-US" altLang="en-US" b="1"/>
            </a:p>
          </p:txBody>
        </p:sp>
        <p:sp>
          <p:nvSpPr>
            <p:cNvPr id="34944" name="Rectangle 324"/>
            <p:cNvSpPr>
              <a:spLocks noChangeArrowheads="1"/>
            </p:cNvSpPr>
            <p:nvPr/>
          </p:nvSpPr>
          <p:spPr bwMode="auto">
            <a:xfrm>
              <a:off x="2961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45" name="Rectangle 325"/>
            <p:cNvSpPr>
              <a:spLocks noChangeArrowheads="1"/>
            </p:cNvSpPr>
            <p:nvPr/>
          </p:nvSpPr>
          <p:spPr bwMode="auto">
            <a:xfrm>
              <a:off x="2976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46" name="Rectangle 326"/>
            <p:cNvSpPr>
              <a:spLocks noChangeArrowheads="1"/>
            </p:cNvSpPr>
            <p:nvPr/>
          </p:nvSpPr>
          <p:spPr bwMode="auto">
            <a:xfrm>
              <a:off x="3009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3</a:t>
              </a:r>
              <a:endParaRPr lang="en-US" altLang="en-US" b="1"/>
            </a:p>
          </p:txBody>
        </p:sp>
        <p:sp>
          <p:nvSpPr>
            <p:cNvPr id="34947" name="Rectangle 327"/>
            <p:cNvSpPr>
              <a:spLocks noChangeArrowheads="1"/>
            </p:cNvSpPr>
            <p:nvPr/>
          </p:nvSpPr>
          <p:spPr bwMode="auto">
            <a:xfrm>
              <a:off x="3039" y="1071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48" name="Rectangle 328"/>
            <p:cNvSpPr>
              <a:spLocks noChangeArrowheads="1"/>
            </p:cNvSpPr>
            <p:nvPr/>
          </p:nvSpPr>
          <p:spPr bwMode="auto">
            <a:xfrm>
              <a:off x="3055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49" name="Rectangle 329"/>
            <p:cNvSpPr>
              <a:spLocks noChangeArrowheads="1"/>
            </p:cNvSpPr>
            <p:nvPr/>
          </p:nvSpPr>
          <p:spPr bwMode="auto">
            <a:xfrm>
              <a:off x="3087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2</a:t>
              </a:r>
              <a:endParaRPr lang="en-US" altLang="en-US" b="1"/>
            </a:p>
          </p:txBody>
        </p:sp>
        <p:sp>
          <p:nvSpPr>
            <p:cNvPr id="34950" name="Rectangle 330"/>
            <p:cNvSpPr>
              <a:spLocks noChangeArrowheads="1"/>
            </p:cNvSpPr>
            <p:nvPr/>
          </p:nvSpPr>
          <p:spPr bwMode="auto">
            <a:xfrm>
              <a:off x="3118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51" name="Rectangle 331"/>
            <p:cNvSpPr>
              <a:spLocks noChangeArrowheads="1"/>
            </p:cNvSpPr>
            <p:nvPr/>
          </p:nvSpPr>
          <p:spPr bwMode="auto">
            <a:xfrm>
              <a:off x="3135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52" name="Rectangle 332"/>
            <p:cNvSpPr>
              <a:spLocks noChangeArrowheads="1"/>
            </p:cNvSpPr>
            <p:nvPr/>
          </p:nvSpPr>
          <p:spPr bwMode="auto">
            <a:xfrm>
              <a:off x="3166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53" name="Rectangle 333"/>
            <p:cNvSpPr>
              <a:spLocks noChangeArrowheads="1"/>
            </p:cNvSpPr>
            <p:nvPr/>
          </p:nvSpPr>
          <p:spPr bwMode="auto">
            <a:xfrm>
              <a:off x="3198" y="1071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54" name="Rectangle 334"/>
            <p:cNvSpPr>
              <a:spLocks noChangeArrowheads="1"/>
            </p:cNvSpPr>
            <p:nvPr/>
          </p:nvSpPr>
          <p:spPr bwMode="auto">
            <a:xfrm>
              <a:off x="3214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55" name="Rectangle 335"/>
            <p:cNvSpPr>
              <a:spLocks noChangeArrowheads="1"/>
            </p:cNvSpPr>
            <p:nvPr/>
          </p:nvSpPr>
          <p:spPr bwMode="auto">
            <a:xfrm>
              <a:off x="3246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0</a:t>
              </a:r>
              <a:endParaRPr lang="en-US" altLang="en-US" b="1"/>
            </a:p>
          </p:txBody>
        </p:sp>
        <p:sp>
          <p:nvSpPr>
            <p:cNvPr id="34956" name="Rectangle 336"/>
            <p:cNvSpPr>
              <a:spLocks noChangeArrowheads="1"/>
            </p:cNvSpPr>
            <p:nvPr/>
          </p:nvSpPr>
          <p:spPr bwMode="auto">
            <a:xfrm>
              <a:off x="3277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57" name="Rectangle 337"/>
            <p:cNvSpPr>
              <a:spLocks noChangeArrowheads="1"/>
            </p:cNvSpPr>
            <p:nvPr/>
          </p:nvSpPr>
          <p:spPr bwMode="auto">
            <a:xfrm>
              <a:off x="3292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9</a:t>
              </a:r>
              <a:endParaRPr lang="en-US" altLang="en-US" b="1"/>
            </a:p>
          </p:txBody>
        </p:sp>
        <p:sp>
          <p:nvSpPr>
            <p:cNvPr id="34958" name="Rectangle 338"/>
            <p:cNvSpPr>
              <a:spLocks noChangeArrowheads="1"/>
            </p:cNvSpPr>
            <p:nvPr/>
          </p:nvSpPr>
          <p:spPr bwMode="auto">
            <a:xfrm>
              <a:off x="3325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59" name="Rectangle 339"/>
            <p:cNvSpPr>
              <a:spLocks noChangeArrowheads="1"/>
            </p:cNvSpPr>
            <p:nvPr/>
          </p:nvSpPr>
          <p:spPr bwMode="auto">
            <a:xfrm>
              <a:off x="3340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8</a:t>
              </a:r>
              <a:endParaRPr lang="en-US" altLang="en-US" b="1"/>
            </a:p>
          </p:txBody>
        </p:sp>
        <p:sp>
          <p:nvSpPr>
            <p:cNvPr id="34960" name="Rectangle 340"/>
            <p:cNvSpPr>
              <a:spLocks noChangeArrowheads="1"/>
            </p:cNvSpPr>
            <p:nvPr/>
          </p:nvSpPr>
          <p:spPr bwMode="auto">
            <a:xfrm>
              <a:off x="3373" y="1071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61" name="Rectangle 341"/>
            <p:cNvSpPr>
              <a:spLocks noChangeArrowheads="1"/>
            </p:cNvSpPr>
            <p:nvPr/>
          </p:nvSpPr>
          <p:spPr bwMode="auto">
            <a:xfrm>
              <a:off x="3607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62" name="Rectangle 342"/>
            <p:cNvSpPr>
              <a:spLocks noChangeArrowheads="1"/>
            </p:cNvSpPr>
            <p:nvPr/>
          </p:nvSpPr>
          <p:spPr bwMode="auto">
            <a:xfrm>
              <a:off x="3624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3</a:t>
              </a:r>
              <a:endParaRPr lang="en-US" altLang="en-US" b="1"/>
            </a:p>
          </p:txBody>
        </p:sp>
        <p:sp>
          <p:nvSpPr>
            <p:cNvPr id="34963" name="Rectangle 343"/>
            <p:cNvSpPr>
              <a:spLocks noChangeArrowheads="1"/>
            </p:cNvSpPr>
            <p:nvPr/>
          </p:nvSpPr>
          <p:spPr bwMode="auto">
            <a:xfrm>
              <a:off x="3655" y="1071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64" name="Rectangle 344"/>
            <p:cNvSpPr>
              <a:spLocks noChangeArrowheads="1"/>
            </p:cNvSpPr>
            <p:nvPr/>
          </p:nvSpPr>
          <p:spPr bwMode="auto">
            <a:xfrm>
              <a:off x="3672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2</a:t>
              </a:r>
              <a:endParaRPr lang="en-US" altLang="en-US" b="1"/>
            </a:p>
          </p:txBody>
        </p:sp>
        <p:sp>
          <p:nvSpPr>
            <p:cNvPr id="34965" name="Rectangle 345"/>
            <p:cNvSpPr>
              <a:spLocks noChangeArrowheads="1"/>
            </p:cNvSpPr>
            <p:nvPr/>
          </p:nvSpPr>
          <p:spPr bwMode="auto">
            <a:xfrm>
              <a:off x="3704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66" name="Rectangle 346"/>
            <p:cNvSpPr>
              <a:spLocks noChangeArrowheads="1"/>
            </p:cNvSpPr>
            <p:nvPr/>
          </p:nvSpPr>
          <p:spPr bwMode="auto">
            <a:xfrm>
              <a:off x="3720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1</a:t>
              </a:r>
              <a:endParaRPr lang="en-US" altLang="en-US" b="1"/>
            </a:p>
          </p:txBody>
        </p:sp>
        <p:sp>
          <p:nvSpPr>
            <p:cNvPr id="34967" name="Rectangle 347"/>
            <p:cNvSpPr>
              <a:spLocks noChangeArrowheads="1"/>
            </p:cNvSpPr>
            <p:nvPr/>
          </p:nvSpPr>
          <p:spPr bwMode="auto">
            <a:xfrm>
              <a:off x="3752" y="1071"/>
              <a:ext cx="14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68" name="Rectangle 348"/>
            <p:cNvSpPr>
              <a:spLocks noChangeArrowheads="1"/>
            </p:cNvSpPr>
            <p:nvPr/>
          </p:nvSpPr>
          <p:spPr bwMode="auto">
            <a:xfrm>
              <a:off x="3769" y="1071"/>
              <a:ext cx="26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0</a:t>
              </a:r>
              <a:endParaRPr lang="en-US" altLang="en-US" b="1"/>
            </a:p>
          </p:txBody>
        </p:sp>
        <p:sp>
          <p:nvSpPr>
            <p:cNvPr id="34969" name="Rectangle 349"/>
            <p:cNvSpPr>
              <a:spLocks noChangeArrowheads="1"/>
            </p:cNvSpPr>
            <p:nvPr/>
          </p:nvSpPr>
          <p:spPr bwMode="auto">
            <a:xfrm>
              <a:off x="3802" y="1071"/>
              <a:ext cx="13" cy="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700">
                  <a:solidFill>
                    <a:srgbClr val="000000"/>
                  </a:solidFill>
                </a:rPr>
                <a:t> </a:t>
              </a:r>
              <a:endParaRPr lang="en-US" altLang="en-US" b="1"/>
            </a:p>
          </p:txBody>
        </p:sp>
        <p:sp>
          <p:nvSpPr>
            <p:cNvPr id="34970" name="Freeform 350"/>
            <p:cNvSpPr>
              <a:spLocks/>
            </p:cNvSpPr>
            <p:nvPr/>
          </p:nvSpPr>
          <p:spPr bwMode="auto">
            <a:xfrm>
              <a:off x="2302" y="1102"/>
              <a:ext cx="12" cy="10"/>
            </a:xfrm>
            <a:custGeom>
              <a:avLst/>
              <a:gdLst>
                <a:gd name="T0" fmla="*/ 6 w 12"/>
                <a:gd name="T1" fmla="*/ 10 h 10"/>
                <a:gd name="T2" fmla="*/ 7 w 12"/>
                <a:gd name="T3" fmla="*/ 10 h 10"/>
                <a:gd name="T4" fmla="*/ 7 w 12"/>
                <a:gd name="T5" fmla="*/ 10 h 10"/>
                <a:gd name="T6" fmla="*/ 9 w 12"/>
                <a:gd name="T7" fmla="*/ 10 h 10"/>
                <a:gd name="T8" fmla="*/ 9 w 12"/>
                <a:gd name="T9" fmla="*/ 10 h 10"/>
                <a:gd name="T10" fmla="*/ 11 w 12"/>
                <a:gd name="T11" fmla="*/ 9 h 10"/>
                <a:gd name="T12" fmla="*/ 11 w 12"/>
                <a:gd name="T13" fmla="*/ 9 h 10"/>
                <a:gd name="T14" fmla="*/ 11 w 12"/>
                <a:gd name="T15" fmla="*/ 9 h 10"/>
                <a:gd name="T16" fmla="*/ 11 w 12"/>
                <a:gd name="T17" fmla="*/ 7 h 10"/>
                <a:gd name="T18" fmla="*/ 11 w 12"/>
                <a:gd name="T19" fmla="*/ 7 h 10"/>
                <a:gd name="T20" fmla="*/ 12 w 12"/>
                <a:gd name="T21" fmla="*/ 5 h 10"/>
                <a:gd name="T22" fmla="*/ 11 w 12"/>
                <a:gd name="T23" fmla="*/ 5 h 10"/>
                <a:gd name="T24" fmla="*/ 11 w 12"/>
                <a:gd name="T25" fmla="*/ 3 h 10"/>
                <a:gd name="T26" fmla="*/ 11 w 12"/>
                <a:gd name="T27" fmla="*/ 3 h 10"/>
                <a:gd name="T28" fmla="*/ 11 w 12"/>
                <a:gd name="T29" fmla="*/ 2 h 10"/>
                <a:gd name="T30" fmla="*/ 11 w 12"/>
                <a:gd name="T31" fmla="*/ 2 h 10"/>
                <a:gd name="T32" fmla="*/ 9 w 12"/>
                <a:gd name="T33" fmla="*/ 2 h 10"/>
                <a:gd name="T34" fmla="*/ 9 w 12"/>
                <a:gd name="T35" fmla="*/ 0 h 10"/>
                <a:gd name="T36" fmla="*/ 7 w 12"/>
                <a:gd name="T37" fmla="*/ 0 h 10"/>
                <a:gd name="T38" fmla="*/ 7 w 12"/>
                <a:gd name="T39" fmla="*/ 0 h 10"/>
                <a:gd name="T40" fmla="*/ 6 w 12"/>
                <a:gd name="T41" fmla="*/ 0 h 10"/>
                <a:gd name="T42" fmla="*/ 6 w 12"/>
                <a:gd name="T43" fmla="*/ 0 h 10"/>
                <a:gd name="T44" fmla="*/ 4 w 12"/>
                <a:gd name="T45" fmla="*/ 0 h 10"/>
                <a:gd name="T46" fmla="*/ 4 w 12"/>
                <a:gd name="T47" fmla="*/ 0 h 10"/>
                <a:gd name="T48" fmla="*/ 4 w 12"/>
                <a:gd name="T49" fmla="*/ 2 h 10"/>
                <a:gd name="T50" fmla="*/ 2 w 12"/>
                <a:gd name="T51" fmla="*/ 2 h 10"/>
                <a:gd name="T52" fmla="*/ 2 w 12"/>
                <a:gd name="T53" fmla="*/ 2 h 10"/>
                <a:gd name="T54" fmla="*/ 2 w 12"/>
                <a:gd name="T55" fmla="*/ 3 h 10"/>
                <a:gd name="T56" fmla="*/ 0 w 12"/>
                <a:gd name="T57" fmla="*/ 3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7 h 10"/>
                <a:gd name="T64" fmla="*/ 0 w 12"/>
                <a:gd name="T65" fmla="*/ 7 h 10"/>
                <a:gd name="T66" fmla="*/ 2 w 12"/>
                <a:gd name="T67" fmla="*/ 9 h 10"/>
                <a:gd name="T68" fmla="*/ 2 w 12"/>
                <a:gd name="T69" fmla="*/ 9 h 10"/>
                <a:gd name="T70" fmla="*/ 2 w 12"/>
                <a:gd name="T71" fmla="*/ 9 h 10"/>
                <a:gd name="T72" fmla="*/ 4 w 12"/>
                <a:gd name="T73" fmla="*/ 10 h 10"/>
                <a:gd name="T74" fmla="*/ 4 w 12"/>
                <a:gd name="T75" fmla="*/ 10 h 10"/>
                <a:gd name="T76" fmla="*/ 4 w 12"/>
                <a:gd name="T77" fmla="*/ 10 h 10"/>
                <a:gd name="T78" fmla="*/ 6 w 12"/>
                <a:gd name="T79" fmla="*/ 10 h 10"/>
                <a:gd name="T80" fmla="*/ 6 w 12"/>
                <a:gd name="T81" fmla="*/ 10 h 10"/>
                <a:gd name="T82" fmla="*/ 6 w 12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2"/>
                <a:gd name="T127" fmla="*/ 0 h 10"/>
                <a:gd name="T128" fmla="*/ 12 w 12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2" h="10">
                  <a:moveTo>
                    <a:pt x="6" y="10"/>
                  </a:moveTo>
                  <a:lnTo>
                    <a:pt x="7" y="10"/>
                  </a:lnTo>
                  <a:lnTo>
                    <a:pt x="9" y="10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4" y="10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1" name="Freeform 351"/>
            <p:cNvSpPr>
              <a:spLocks/>
            </p:cNvSpPr>
            <p:nvPr/>
          </p:nvSpPr>
          <p:spPr bwMode="auto">
            <a:xfrm>
              <a:off x="2338" y="1102"/>
              <a:ext cx="11" cy="10"/>
            </a:xfrm>
            <a:custGeom>
              <a:avLst/>
              <a:gdLst>
                <a:gd name="T0" fmla="*/ 5 w 11"/>
                <a:gd name="T1" fmla="*/ 10 h 10"/>
                <a:gd name="T2" fmla="*/ 7 w 11"/>
                <a:gd name="T3" fmla="*/ 10 h 10"/>
                <a:gd name="T4" fmla="*/ 7 w 11"/>
                <a:gd name="T5" fmla="*/ 10 h 10"/>
                <a:gd name="T6" fmla="*/ 9 w 11"/>
                <a:gd name="T7" fmla="*/ 10 h 10"/>
                <a:gd name="T8" fmla="*/ 9 w 11"/>
                <a:gd name="T9" fmla="*/ 10 h 10"/>
                <a:gd name="T10" fmla="*/ 9 w 11"/>
                <a:gd name="T11" fmla="*/ 9 h 10"/>
                <a:gd name="T12" fmla="*/ 11 w 11"/>
                <a:gd name="T13" fmla="*/ 9 h 10"/>
                <a:gd name="T14" fmla="*/ 11 w 11"/>
                <a:gd name="T15" fmla="*/ 9 h 10"/>
                <a:gd name="T16" fmla="*/ 11 w 11"/>
                <a:gd name="T17" fmla="*/ 7 h 10"/>
                <a:gd name="T18" fmla="*/ 11 w 11"/>
                <a:gd name="T19" fmla="*/ 7 h 10"/>
                <a:gd name="T20" fmla="*/ 11 w 11"/>
                <a:gd name="T21" fmla="*/ 5 h 10"/>
                <a:gd name="T22" fmla="*/ 11 w 11"/>
                <a:gd name="T23" fmla="*/ 5 h 10"/>
                <a:gd name="T24" fmla="*/ 11 w 11"/>
                <a:gd name="T25" fmla="*/ 3 h 10"/>
                <a:gd name="T26" fmla="*/ 11 w 11"/>
                <a:gd name="T27" fmla="*/ 3 h 10"/>
                <a:gd name="T28" fmla="*/ 11 w 11"/>
                <a:gd name="T29" fmla="*/ 2 h 10"/>
                <a:gd name="T30" fmla="*/ 9 w 11"/>
                <a:gd name="T31" fmla="*/ 2 h 10"/>
                <a:gd name="T32" fmla="*/ 9 w 11"/>
                <a:gd name="T33" fmla="*/ 2 h 10"/>
                <a:gd name="T34" fmla="*/ 9 w 11"/>
                <a:gd name="T35" fmla="*/ 0 h 10"/>
                <a:gd name="T36" fmla="*/ 7 w 11"/>
                <a:gd name="T37" fmla="*/ 0 h 10"/>
                <a:gd name="T38" fmla="*/ 7 w 11"/>
                <a:gd name="T39" fmla="*/ 0 h 10"/>
                <a:gd name="T40" fmla="*/ 5 w 11"/>
                <a:gd name="T41" fmla="*/ 0 h 10"/>
                <a:gd name="T42" fmla="*/ 5 w 11"/>
                <a:gd name="T43" fmla="*/ 0 h 10"/>
                <a:gd name="T44" fmla="*/ 4 w 11"/>
                <a:gd name="T45" fmla="*/ 0 h 10"/>
                <a:gd name="T46" fmla="*/ 4 w 11"/>
                <a:gd name="T47" fmla="*/ 0 h 10"/>
                <a:gd name="T48" fmla="*/ 2 w 11"/>
                <a:gd name="T49" fmla="*/ 2 h 10"/>
                <a:gd name="T50" fmla="*/ 2 w 11"/>
                <a:gd name="T51" fmla="*/ 2 h 10"/>
                <a:gd name="T52" fmla="*/ 2 w 11"/>
                <a:gd name="T53" fmla="*/ 2 h 10"/>
                <a:gd name="T54" fmla="*/ 0 w 11"/>
                <a:gd name="T55" fmla="*/ 3 h 10"/>
                <a:gd name="T56" fmla="*/ 0 w 11"/>
                <a:gd name="T57" fmla="*/ 3 h 10"/>
                <a:gd name="T58" fmla="*/ 0 w 11"/>
                <a:gd name="T59" fmla="*/ 5 h 10"/>
                <a:gd name="T60" fmla="*/ 0 w 11"/>
                <a:gd name="T61" fmla="*/ 5 h 10"/>
                <a:gd name="T62" fmla="*/ 0 w 11"/>
                <a:gd name="T63" fmla="*/ 7 h 10"/>
                <a:gd name="T64" fmla="*/ 0 w 11"/>
                <a:gd name="T65" fmla="*/ 7 h 10"/>
                <a:gd name="T66" fmla="*/ 0 w 11"/>
                <a:gd name="T67" fmla="*/ 9 h 10"/>
                <a:gd name="T68" fmla="*/ 2 w 11"/>
                <a:gd name="T69" fmla="*/ 9 h 10"/>
                <a:gd name="T70" fmla="*/ 2 w 11"/>
                <a:gd name="T71" fmla="*/ 9 h 10"/>
                <a:gd name="T72" fmla="*/ 2 w 11"/>
                <a:gd name="T73" fmla="*/ 10 h 10"/>
                <a:gd name="T74" fmla="*/ 4 w 11"/>
                <a:gd name="T75" fmla="*/ 10 h 10"/>
                <a:gd name="T76" fmla="*/ 4 w 11"/>
                <a:gd name="T77" fmla="*/ 10 h 10"/>
                <a:gd name="T78" fmla="*/ 5 w 11"/>
                <a:gd name="T79" fmla="*/ 10 h 10"/>
                <a:gd name="T80" fmla="*/ 5 w 11"/>
                <a:gd name="T81" fmla="*/ 10 h 10"/>
                <a:gd name="T82" fmla="*/ 5 w 11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"/>
                <a:gd name="T127" fmla="*/ 0 h 10"/>
                <a:gd name="T128" fmla="*/ 11 w 11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" h="10">
                  <a:moveTo>
                    <a:pt x="5" y="10"/>
                  </a:moveTo>
                  <a:lnTo>
                    <a:pt x="7" y="10"/>
                  </a:lnTo>
                  <a:lnTo>
                    <a:pt x="9" y="10"/>
                  </a:lnTo>
                  <a:lnTo>
                    <a:pt x="9" y="9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2" name="Freeform 352"/>
            <p:cNvSpPr>
              <a:spLocks/>
            </p:cNvSpPr>
            <p:nvPr/>
          </p:nvSpPr>
          <p:spPr bwMode="auto">
            <a:xfrm>
              <a:off x="2267" y="1102"/>
              <a:ext cx="12" cy="10"/>
            </a:xfrm>
            <a:custGeom>
              <a:avLst/>
              <a:gdLst>
                <a:gd name="T0" fmla="*/ 5 w 12"/>
                <a:gd name="T1" fmla="*/ 10 h 10"/>
                <a:gd name="T2" fmla="*/ 6 w 12"/>
                <a:gd name="T3" fmla="*/ 10 h 10"/>
                <a:gd name="T4" fmla="*/ 8 w 12"/>
                <a:gd name="T5" fmla="*/ 10 h 10"/>
                <a:gd name="T6" fmla="*/ 8 w 12"/>
                <a:gd name="T7" fmla="*/ 10 h 10"/>
                <a:gd name="T8" fmla="*/ 8 w 12"/>
                <a:gd name="T9" fmla="*/ 10 h 10"/>
                <a:gd name="T10" fmla="*/ 10 w 12"/>
                <a:gd name="T11" fmla="*/ 9 h 10"/>
                <a:gd name="T12" fmla="*/ 10 w 12"/>
                <a:gd name="T13" fmla="*/ 9 h 10"/>
                <a:gd name="T14" fmla="*/ 10 w 12"/>
                <a:gd name="T15" fmla="*/ 9 h 10"/>
                <a:gd name="T16" fmla="*/ 12 w 12"/>
                <a:gd name="T17" fmla="*/ 7 h 10"/>
                <a:gd name="T18" fmla="*/ 12 w 12"/>
                <a:gd name="T19" fmla="*/ 7 h 10"/>
                <a:gd name="T20" fmla="*/ 12 w 12"/>
                <a:gd name="T21" fmla="*/ 5 h 10"/>
                <a:gd name="T22" fmla="*/ 12 w 12"/>
                <a:gd name="T23" fmla="*/ 5 h 10"/>
                <a:gd name="T24" fmla="*/ 12 w 12"/>
                <a:gd name="T25" fmla="*/ 3 h 10"/>
                <a:gd name="T26" fmla="*/ 10 w 12"/>
                <a:gd name="T27" fmla="*/ 3 h 10"/>
                <a:gd name="T28" fmla="*/ 10 w 12"/>
                <a:gd name="T29" fmla="*/ 2 h 10"/>
                <a:gd name="T30" fmla="*/ 10 w 12"/>
                <a:gd name="T31" fmla="*/ 2 h 10"/>
                <a:gd name="T32" fmla="*/ 8 w 12"/>
                <a:gd name="T33" fmla="*/ 2 h 10"/>
                <a:gd name="T34" fmla="*/ 8 w 12"/>
                <a:gd name="T35" fmla="*/ 0 h 10"/>
                <a:gd name="T36" fmla="*/ 8 w 12"/>
                <a:gd name="T37" fmla="*/ 0 h 10"/>
                <a:gd name="T38" fmla="*/ 6 w 12"/>
                <a:gd name="T39" fmla="*/ 0 h 10"/>
                <a:gd name="T40" fmla="*/ 6 w 12"/>
                <a:gd name="T41" fmla="*/ 0 h 10"/>
                <a:gd name="T42" fmla="*/ 5 w 12"/>
                <a:gd name="T43" fmla="*/ 0 h 10"/>
                <a:gd name="T44" fmla="*/ 5 w 12"/>
                <a:gd name="T45" fmla="*/ 0 h 10"/>
                <a:gd name="T46" fmla="*/ 3 w 12"/>
                <a:gd name="T47" fmla="*/ 0 h 10"/>
                <a:gd name="T48" fmla="*/ 3 w 12"/>
                <a:gd name="T49" fmla="*/ 2 h 10"/>
                <a:gd name="T50" fmla="*/ 1 w 12"/>
                <a:gd name="T51" fmla="*/ 2 h 10"/>
                <a:gd name="T52" fmla="*/ 1 w 12"/>
                <a:gd name="T53" fmla="*/ 2 h 10"/>
                <a:gd name="T54" fmla="*/ 1 w 12"/>
                <a:gd name="T55" fmla="*/ 3 h 10"/>
                <a:gd name="T56" fmla="*/ 1 w 12"/>
                <a:gd name="T57" fmla="*/ 3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7 h 10"/>
                <a:gd name="T64" fmla="*/ 1 w 12"/>
                <a:gd name="T65" fmla="*/ 7 h 10"/>
                <a:gd name="T66" fmla="*/ 1 w 12"/>
                <a:gd name="T67" fmla="*/ 9 h 10"/>
                <a:gd name="T68" fmla="*/ 1 w 12"/>
                <a:gd name="T69" fmla="*/ 9 h 10"/>
                <a:gd name="T70" fmla="*/ 1 w 12"/>
                <a:gd name="T71" fmla="*/ 9 h 10"/>
                <a:gd name="T72" fmla="*/ 3 w 12"/>
                <a:gd name="T73" fmla="*/ 10 h 10"/>
                <a:gd name="T74" fmla="*/ 3 w 12"/>
                <a:gd name="T75" fmla="*/ 10 h 10"/>
                <a:gd name="T76" fmla="*/ 5 w 12"/>
                <a:gd name="T77" fmla="*/ 10 h 10"/>
                <a:gd name="T78" fmla="*/ 5 w 12"/>
                <a:gd name="T79" fmla="*/ 10 h 10"/>
                <a:gd name="T80" fmla="*/ 6 w 12"/>
                <a:gd name="T81" fmla="*/ 10 h 10"/>
                <a:gd name="T82" fmla="*/ 6 w 12"/>
                <a:gd name="T83" fmla="*/ 10 h 10"/>
                <a:gd name="T84" fmla="*/ 5 w 12"/>
                <a:gd name="T85" fmla="*/ 10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2"/>
                <a:gd name="T130" fmla="*/ 0 h 10"/>
                <a:gd name="T131" fmla="*/ 12 w 12"/>
                <a:gd name="T132" fmla="*/ 10 h 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2" h="10">
                  <a:moveTo>
                    <a:pt x="5" y="10"/>
                  </a:moveTo>
                  <a:lnTo>
                    <a:pt x="6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9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3" name="Freeform 353"/>
            <p:cNvSpPr>
              <a:spLocks/>
            </p:cNvSpPr>
            <p:nvPr/>
          </p:nvSpPr>
          <p:spPr bwMode="auto">
            <a:xfrm>
              <a:off x="2407" y="1102"/>
              <a:ext cx="12" cy="10"/>
            </a:xfrm>
            <a:custGeom>
              <a:avLst/>
              <a:gdLst>
                <a:gd name="T0" fmla="*/ 5 w 12"/>
                <a:gd name="T1" fmla="*/ 10 h 10"/>
                <a:gd name="T2" fmla="*/ 7 w 12"/>
                <a:gd name="T3" fmla="*/ 10 h 10"/>
                <a:gd name="T4" fmla="*/ 7 w 12"/>
                <a:gd name="T5" fmla="*/ 10 h 10"/>
                <a:gd name="T6" fmla="*/ 8 w 12"/>
                <a:gd name="T7" fmla="*/ 10 h 10"/>
                <a:gd name="T8" fmla="*/ 8 w 12"/>
                <a:gd name="T9" fmla="*/ 10 h 10"/>
                <a:gd name="T10" fmla="*/ 10 w 12"/>
                <a:gd name="T11" fmla="*/ 9 h 10"/>
                <a:gd name="T12" fmla="*/ 10 w 12"/>
                <a:gd name="T13" fmla="*/ 9 h 10"/>
                <a:gd name="T14" fmla="*/ 10 w 12"/>
                <a:gd name="T15" fmla="*/ 9 h 10"/>
                <a:gd name="T16" fmla="*/ 10 w 12"/>
                <a:gd name="T17" fmla="*/ 7 h 10"/>
                <a:gd name="T18" fmla="*/ 12 w 12"/>
                <a:gd name="T19" fmla="*/ 7 h 10"/>
                <a:gd name="T20" fmla="*/ 12 w 12"/>
                <a:gd name="T21" fmla="*/ 5 h 10"/>
                <a:gd name="T22" fmla="*/ 12 w 12"/>
                <a:gd name="T23" fmla="*/ 5 h 10"/>
                <a:gd name="T24" fmla="*/ 10 w 12"/>
                <a:gd name="T25" fmla="*/ 3 h 10"/>
                <a:gd name="T26" fmla="*/ 10 w 12"/>
                <a:gd name="T27" fmla="*/ 3 h 10"/>
                <a:gd name="T28" fmla="*/ 10 w 12"/>
                <a:gd name="T29" fmla="*/ 2 h 10"/>
                <a:gd name="T30" fmla="*/ 10 w 12"/>
                <a:gd name="T31" fmla="*/ 2 h 10"/>
                <a:gd name="T32" fmla="*/ 8 w 12"/>
                <a:gd name="T33" fmla="*/ 2 h 10"/>
                <a:gd name="T34" fmla="*/ 8 w 12"/>
                <a:gd name="T35" fmla="*/ 0 h 10"/>
                <a:gd name="T36" fmla="*/ 7 w 12"/>
                <a:gd name="T37" fmla="*/ 0 h 10"/>
                <a:gd name="T38" fmla="*/ 7 w 12"/>
                <a:gd name="T39" fmla="*/ 0 h 10"/>
                <a:gd name="T40" fmla="*/ 5 w 12"/>
                <a:gd name="T41" fmla="*/ 0 h 10"/>
                <a:gd name="T42" fmla="*/ 5 w 12"/>
                <a:gd name="T43" fmla="*/ 0 h 10"/>
                <a:gd name="T44" fmla="*/ 5 w 12"/>
                <a:gd name="T45" fmla="*/ 0 h 10"/>
                <a:gd name="T46" fmla="*/ 3 w 12"/>
                <a:gd name="T47" fmla="*/ 0 h 10"/>
                <a:gd name="T48" fmla="*/ 3 w 12"/>
                <a:gd name="T49" fmla="*/ 2 h 10"/>
                <a:gd name="T50" fmla="*/ 1 w 12"/>
                <a:gd name="T51" fmla="*/ 2 h 10"/>
                <a:gd name="T52" fmla="*/ 1 w 12"/>
                <a:gd name="T53" fmla="*/ 2 h 10"/>
                <a:gd name="T54" fmla="*/ 1 w 12"/>
                <a:gd name="T55" fmla="*/ 3 h 10"/>
                <a:gd name="T56" fmla="*/ 1 w 12"/>
                <a:gd name="T57" fmla="*/ 3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7 h 10"/>
                <a:gd name="T64" fmla="*/ 1 w 12"/>
                <a:gd name="T65" fmla="*/ 7 h 10"/>
                <a:gd name="T66" fmla="*/ 1 w 12"/>
                <a:gd name="T67" fmla="*/ 9 h 10"/>
                <a:gd name="T68" fmla="*/ 1 w 12"/>
                <a:gd name="T69" fmla="*/ 9 h 10"/>
                <a:gd name="T70" fmla="*/ 1 w 12"/>
                <a:gd name="T71" fmla="*/ 9 h 10"/>
                <a:gd name="T72" fmla="*/ 3 w 12"/>
                <a:gd name="T73" fmla="*/ 10 h 10"/>
                <a:gd name="T74" fmla="*/ 3 w 12"/>
                <a:gd name="T75" fmla="*/ 10 h 10"/>
                <a:gd name="T76" fmla="*/ 5 w 12"/>
                <a:gd name="T77" fmla="*/ 10 h 10"/>
                <a:gd name="T78" fmla="*/ 5 w 12"/>
                <a:gd name="T79" fmla="*/ 10 h 10"/>
                <a:gd name="T80" fmla="*/ 5 w 12"/>
                <a:gd name="T81" fmla="*/ 10 h 10"/>
                <a:gd name="T82" fmla="*/ 5 w 12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2"/>
                <a:gd name="T127" fmla="*/ 0 h 10"/>
                <a:gd name="T128" fmla="*/ 12 w 12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2" h="10">
                  <a:moveTo>
                    <a:pt x="5" y="10"/>
                  </a:moveTo>
                  <a:lnTo>
                    <a:pt x="7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9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4" name="Freeform 354"/>
            <p:cNvSpPr>
              <a:spLocks/>
            </p:cNvSpPr>
            <p:nvPr/>
          </p:nvSpPr>
          <p:spPr bwMode="auto">
            <a:xfrm>
              <a:off x="2443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6 w 10"/>
                <a:gd name="T3" fmla="*/ 10 h 10"/>
                <a:gd name="T4" fmla="*/ 6 w 10"/>
                <a:gd name="T5" fmla="*/ 10 h 10"/>
                <a:gd name="T6" fmla="*/ 8 w 10"/>
                <a:gd name="T7" fmla="*/ 10 h 10"/>
                <a:gd name="T8" fmla="*/ 8 w 10"/>
                <a:gd name="T9" fmla="*/ 10 h 10"/>
                <a:gd name="T10" fmla="*/ 10 w 10"/>
                <a:gd name="T11" fmla="*/ 9 h 10"/>
                <a:gd name="T12" fmla="*/ 10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10 w 10"/>
                <a:gd name="T29" fmla="*/ 2 h 10"/>
                <a:gd name="T30" fmla="*/ 10 w 10"/>
                <a:gd name="T31" fmla="*/ 2 h 10"/>
                <a:gd name="T32" fmla="*/ 8 w 10"/>
                <a:gd name="T33" fmla="*/ 2 h 10"/>
                <a:gd name="T34" fmla="*/ 8 w 10"/>
                <a:gd name="T35" fmla="*/ 0 h 10"/>
                <a:gd name="T36" fmla="*/ 6 w 10"/>
                <a:gd name="T37" fmla="*/ 0 h 10"/>
                <a:gd name="T38" fmla="*/ 6 w 10"/>
                <a:gd name="T39" fmla="*/ 0 h 10"/>
                <a:gd name="T40" fmla="*/ 5 w 10"/>
                <a:gd name="T41" fmla="*/ 0 h 10"/>
                <a:gd name="T42" fmla="*/ 5 w 10"/>
                <a:gd name="T43" fmla="*/ 0 h 10"/>
                <a:gd name="T44" fmla="*/ 3 w 10"/>
                <a:gd name="T45" fmla="*/ 0 h 10"/>
                <a:gd name="T46" fmla="*/ 3 w 10"/>
                <a:gd name="T47" fmla="*/ 0 h 10"/>
                <a:gd name="T48" fmla="*/ 1 w 10"/>
                <a:gd name="T49" fmla="*/ 2 h 10"/>
                <a:gd name="T50" fmla="*/ 1 w 10"/>
                <a:gd name="T51" fmla="*/ 2 h 10"/>
                <a:gd name="T52" fmla="*/ 1 w 10"/>
                <a:gd name="T53" fmla="*/ 2 h 10"/>
                <a:gd name="T54" fmla="*/ 1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1 w 10"/>
                <a:gd name="T67" fmla="*/ 9 h 10"/>
                <a:gd name="T68" fmla="*/ 1 w 10"/>
                <a:gd name="T69" fmla="*/ 9 h 10"/>
                <a:gd name="T70" fmla="*/ 1 w 10"/>
                <a:gd name="T71" fmla="*/ 9 h 10"/>
                <a:gd name="T72" fmla="*/ 1 w 10"/>
                <a:gd name="T73" fmla="*/ 10 h 10"/>
                <a:gd name="T74" fmla="*/ 3 w 10"/>
                <a:gd name="T75" fmla="*/ 10 h 10"/>
                <a:gd name="T76" fmla="*/ 3 w 10"/>
                <a:gd name="T77" fmla="*/ 10 h 10"/>
                <a:gd name="T78" fmla="*/ 5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8" y="10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5" name="Freeform 355"/>
            <p:cNvSpPr>
              <a:spLocks/>
            </p:cNvSpPr>
            <p:nvPr/>
          </p:nvSpPr>
          <p:spPr bwMode="auto">
            <a:xfrm>
              <a:off x="2373" y="1102"/>
              <a:ext cx="10" cy="10"/>
            </a:xfrm>
            <a:custGeom>
              <a:avLst/>
              <a:gdLst>
                <a:gd name="T0" fmla="*/ 3 w 10"/>
                <a:gd name="T1" fmla="*/ 10 h 10"/>
                <a:gd name="T2" fmla="*/ 5 w 10"/>
                <a:gd name="T3" fmla="*/ 10 h 10"/>
                <a:gd name="T4" fmla="*/ 6 w 10"/>
                <a:gd name="T5" fmla="*/ 10 h 10"/>
                <a:gd name="T6" fmla="*/ 6 w 10"/>
                <a:gd name="T7" fmla="*/ 10 h 10"/>
                <a:gd name="T8" fmla="*/ 8 w 10"/>
                <a:gd name="T9" fmla="*/ 10 h 10"/>
                <a:gd name="T10" fmla="*/ 8 w 10"/>
                <a:gd name="T11" fmla="*/ 9 h 10"/>
                <a:gd name="T12" fmla="*/ 8 w 10"/>
                <a:gd name="T13" fmla="*/ 9 h 10"/>
                <a:gd name="T14" fmla="*/ 8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8 w 10"/>
                <a:gd name="T27" fmla="*/ 3 h 10"/>
                <a:gd name="T28" fmla="*/ 8 w 10"/>
                <a:gd name="T29" fmla="*/ 2 h 10"/>
                <a:gd name="T30" fmla="*/ 8 w 10"/>
                <a:gd name="T31" fmla="*/ 2 h 10"/>
                <a:gd name="T32" fmla="*/ 8 w 10"/>
                <a:gd name="T33" fmla="*/ 2 h 10"/>
                <a:gd name="T34" fmla="*/ 6 w 10"/>
                <a:gd name="T35" fmla="*/ 0 h 10"/>
                <a:gd name="T36" fmla="*/ 6 w 10"/>
                <a:gd name="T37" fmla="*/ 0 h 10"/>
                <a:gd name="T38" fmla="*/ 5 w 10"/>
                <a:gd name="T39" fmla="*/ 0 h 10"/>
                <a:gd name="T40" fmla="*/ 5 w 10"/>
                <a:gd name="T41" fmla="*/ 0 h 10"/>
                <a:gd name="T42" fmla="*/ 3 w 10"/>
                <a:gd name="T43" fmla="*/ 0 h 10"/>
                <a:gd name="T44" fmla="*/ 3 w 10"/>
                <a:gd name="T45" fmla="*/ 0 h 10"/>
                <a:gd name="T46" fmla="*/ 1 w 10"/>
                <a:gd name="T47" fmla="*/ 0 h 10"/>
                <a:gd name="T48" fmla="*/ 1 w 10"/>
                <a:gd name="T49" fmla="*/ 2 h 10"/>
                <a:gd name="T50" fmla="*/ 0 w 10"/>
                <a:gd name="T51" fmla="*/ 2 h 10"/>
                <a:gd name="T52" fmla="*/ 0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0 w 10"/>
                <a:gd name="T69" fmla="*/ 9 h 10"/>
                <a:gd name="T70" fmla="*/ 0 w 10"/>
                <a:gd name="T71" fmla="*/ 9 h 10"/>
                <a:gd name="T72" fmla="*/ 1 w 10"/>
                <a:gd name="T73" fmla="*/ 10 h 10"/>
                <a:gd name="T74" fmla="*/ 1 w 10"/>
                <a:gd name="T75" fmla="*/ 10 h 10"/>
                <a:gd name="T76" fmla="*/ 3 w 10"/>
                <a:gd name="T77" fmla="*/ 10 h 10"/>
                <a:gd name="T78" fmla="*/ 3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3 w 10"/>
                <a:gd name="T85" fmla="*/ 10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"/>
                <a:gd name="T130" fmla="*/ 0 h 10"/>
                <a:gd name="T131" fmla="*/ 10 w 10"/>
                <a:gd name="T132" fmla="*/ 10 h 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" h="10">
                  <a:moveTo>
                    <a:pt x="3" y="10"/>
                  </a:moveTo>
                  <a:lnTo>
                    <a:pt x="5" y="10"/>
                  </a:lnTo>
                  <a:lnTo>
                    <a:pt x="6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3"/>
                  </a:lnTo>
                  <a:lnTo>
                    <a:pt x="8" y="2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6" name="Freeform 356"/>
            <p:cNvSpPr>
              <a:spLocks/>
            </p:cNvSpPr>
            <p:nvPr/>
          </p:nvSpPr>
          <p:spPr bwMode="auto">
            <a:xfrm>
              <a:off x="2514" y="1102"/>
              <a:ext cx="11" cy="10"/>
            </a:xfrm>
            <a:custGeom>
              <a:avLst/>
              <a:gdLst>
                <a:gd name="T0" fmla="*/ 6 w 11"/>
                <a:gd name="T1" fmla="*/ 10 h 10"/>
                <a:gd name="T2" fmla="*/ 7 w 11"/>
                <a:gd name="T3" fmla="*/ 10 h 10"/>
                <a:gd name="T4" fmla="*/ 7 w 11"/>
                <a:gd name="T5" fmla="*/ 10 h 10"/>
                <a:gd name="T6" fmla="*/ 7 w 11"/>
                <a:gd name="T7" fmla="*/ 10 h 10"/>
                <a:gd name="T8" fmla="*/ 9 w 11"/>
                <a:gd name="T9" fmla="*/ 10 h 10"/>
                <a:gd name="T10" fmla="*/ 9 w 11"/>
                <a:gd name="T11" fmla="*/ 9 h 10"/>
                <a:gd name="T12" fmla="*/ 11 w 11"/>
                <a:gd name="T13" fmla="*/ 9 h 10"/>
                <a:gd name="T14" fmla="*/ 11 w 11"/>
                <a:gd name="T15" fmla="*/ 9 h 10"/>
                <a:gd name="T16" fmla="*/ 11 w 11"/>
                <a:gd name="T17" fmla="*/ 7 h 10"/>
                <a:gd name="T18" fmla="*/ 11 w 11"/>
                <a:gd name="T19" fmla="*/ 7 h 10"/>
                <a:gd name="T20" fmla="*/ 11 w 11"/>
                <a:gd name="T21" fmla="*/ 5 h 10"/>
                <a:gd name="T22" fmla="*/ 11 w 11"/>
                <a:gd name="T23" fmla="*/ 5 h 10"/>
                <a:gd name="T24" fmla="*/ 11 w 11"/>
                <a:gd name="T25" fmla="*/ 3 h 10"/>
                <a:gd name="T26" fmla="*/ 11 w 11"/>
                <a:gd name="T27" fmla="*/ 3 h 10"/>
                <a:gd name="T28" fmla="*/ 11 w 11"/>
                <a:gd name="T29" fmla="*/ 2 h 10"/>
                <a:gd name="T30" fmla="*/ 9 w 11"/>
                <a:gd name="T31" fmla="*/ 2 h 10"/>
                <a:gd name="T32" fmla="*/ 9 w 11"/>
                <a:gd name="T33" fmla="*/ 2 h 10"/>
                <a:gd name="T34" fmla="*/ 7 w 11"/>
                <a:gd name="T35" fmla="*/ 0 h 10"/>
                <a:gd name="T36" fmla="*/ 7 w 11"/>
                <a:gd name="T37" fmla="*/ 0 h 10"/>
                <a:gd name="T38" fmla="*/ 7 w 11"/>
                <a:gd name="T39" fmla="*/ 0 h 10"/>
                <a:gd name="T40" fmla="*/ 6 w 11"/>
                <a:gd name="T41" fmla="*/ 0 h 10"/>
                <a:gd name="T42" fmla="*/ 4 w 11"/>
                <a:gd name="T43" fmla="*/ 0 h 10"/>
                <a:gd name="T44" fmla="*/ 4 w 11"/>
                <a:gd name="T45" fmla="*/ 0 h 10"/>
                <a:gd name="T46" fmla="*/ 4 w 11"/>
                <a:gd name="T47" fmla="*/ 0 h 10"/>
                <a:gd name="T48" fmla="*/ 2 w 11"/>
                <a:gd name="T49" fmla="*/ 2 h 10"/>
                <a:gd name="T50" fmla="*/ 2 w 11"/>
                <a:gd name="T51" fmla="*/ 2 h 10"/>
                <a:gd name="T52" fmla="*/ 0 w 11"/>
                <a:gd name="T53" fmla="*/ 2 h 10"/>
                <a:gd name="T54" fmla="*/ 0 w 11"/>
                <a:gd name="T55" fmla="*/ 3 h 10"/>
                <a:gd name="T56" fmla="*/ 0 w 11"/>
                <a:gd name="T57" fmla="*/ 3 h 10"/>
                <a:gd name="T58" fmla="*/ 0 w 11"/>
                <a:gd name="T59" fmla="*/ 5 h 10"/>
                <a:gd name="T60" fmla="*/ 0 w 11"/>
                <a:gd name="T61" fmla="*/ 5 h 10"/>
                <a:gd name="T62" fmla="*/ 0 w 11"/>
                <a:gd name="T63" fmla="*/ 7 h 10"/>
                <a:gd name="T64" fmla="*/ 0 w 11"/>
                <a:gd name="T65" fmla="*/ 7 h 10"/>
                <a:gd name="T66" fmla="*/ 0 w 11"/>
                <a:gd name="T67" fmla="*/ 9 h 10"/>
                <a:gd name="T68" fmla="*/ 0 w 11"/>
                <a:gd name="T69" fmla="*/ 9 h 10"/>
                <a:gd name="T70" fmla="*/ 2 w 11"/>
                <a:gd name="T71" fmla="*/ 9 h 10"/>
                <a:gd name="T72" fmla="*/ 2 w 11"/>
                <a:gd name="T73" fmla="*/ 10 h 10"/>
                <a:gd name="T74" fmla="*/ 4 w 11"/>
                <a:gd name="T75" fmla="*/ 10 h 10"/>
                <a:gd name="T76" fmla="*/ 4 w 11"/>
                <a:gd name="T77" fmla="*/ 10 h 10"/>
                <a:gd name="T78" fmla="*/ 4 w 11"/>
                <a:gd name="T79" fmla="*/ 10 h 10"/>
                <a:gd name="T80" fmla="*/ 6 w 11"/>
                <a:gd name="T81" fmla="*/ 10 h 10"/>
                <a:gd name="T82" fmla="*/ 6 w 11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1"/>
                <a:gd name="T127" fmla="*/ 0 h 10"/>
                <a:gd name="T128" fmla="*/ 11 w 11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1" h="10">
                  <a:moveTo>
                    <a:pt x="6" y="10"/>
                  </a:moveTo>
                  <a:lnTo>
                    <a:pt x="7" y="10"/>
                  </a:lnTo>
                  <a:lnTo>
                    <a:pt x="9" y="10"/>
                  </a:lnTo>
                  <a:lnTo>
                    <a:pt x="9" y="9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9" y="2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6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7" name="Freeform 357"/>
            <p:cNvSpPr>
              <a:spLocks/>
            </p:cNvSpPr>
            <p:nvPr/>
          </p:nvSpPr>
          <p:spPr bwMode="auto">
            <a:xfrm>
              <a:off x="2550" y="1102"/>
              <a:ext cx="11" cy="10"/>
            </a:xfrm>
            <a:custGeom>
              <a:avLst/>
              <a:gdLst>
                <a:gd name="T0" fmla="*/ 4 w 11"/>
                <a:gd name="T1" fmla="*/ 10 h 10"/>
                <a:gd name="T2" fmla="*/ 5 w 11"/>
                <a:gd name="T3" fmla="*/ 10 h 10"/>
                <a:gd name="T4" fmla="*/ 7 w 11"/>
                <a:gd name="T5" fmla="*/ 10 h 10"/>
                <a:gd name="T6" fmla="*/ 7 w 11"/>
                <a:gd name="T7" fmla="*/ 10 h 10"/>
                <a:gd name="T8" fmla="*/ 9 w 11"/>
                <a:gd name="T9" fmla="*/ 10 h 10"/>
                <a:gd name="T10" fmla="*/ 9 w 11"/>
                <a:gd name="T11" fmla="*/ 9 h 10"/>
                <a:gd name="T12" fmla="*/ 9 w 11"/>
                <a:gd name="T13" fmla="*/ 9 h 10"/>
                <a:gd name="T14" fmla="*/ 11 w 11"/>
                <a:gd name="T15" fmla="*/ 9 h 10"/>
                <a:gd name="T16" fmla="*/ 11 w 11"/>
                <a:gd name="T17" fmla="*/ 7 h 10"/>
                <a:gd name="T18" fmla="*/ 11 w 11"/>
                <a:gd name="T19" fmla="*/ 7 h 10"/>
                <a:gd name="T20" fmla="*/ 11 w 11"/>
                <a:gd name="T21" fmla="*/ 5 h 10"/>
                <a:gd name="T22" fmla="*/ 11 w 11"/>
                <a:gd name="T23" fmla="*/ 5 h 10"/>
                <a:gd name="T24" fmla="*/ 11 w 11"/>
                <a:gd name="T25" fmla="*/ 3 h 10"/>
                <a:gd name="T26" fmla="*/ 11 w 11"/>
                <a:gd name="T27" fmla="*/ 3 h 10"/>
                <a:gd name="T28" fmla="*/ 9 w 11"/>
                <a:gd name="T29" fmla="*/ 2 h 10"/>
                <a:gd name="T30" fmla="*/ 9 w 11"/>
                <a:gd name="T31" fmla="*/ 2 h 10"/>
                <a:gd name="T32" fmla="*/ 9 w 11"/>
                <a:gd name="T33" fmla="*/ 2 h 10"/>
                <a:gd name="T34" fmla="*/ 7 w 11"/>
                <a:gd name="T35" fmla="*/ 0 h 10"/>
                <a:gd name="T36" fmla="*/ 7 w 11"/>
                <a:gd name="T37" fmla="*/ 0 h 10"/>
                <a:gd name="T38" fmla="*/ 5 w 11"/>
                <a:gd name="T39" fmla="*/ 0 h 10"/>
                <a:gd name="T40" fmla="*/ 5 w 11"/>
                <a:gd name="T41" fmla="*/ 0 h 10"/>
                <a:gd name="T42" fmla="*/ 4 w 11"/>
                <a:gd name="T43" fmla="*/ 0 h 10"/>
                <a:gd name="T44" fmla="*/ 4 w 11"/>
                <a:gd name="T45" fmla="*/ 0 h 10"/>
                <a:gd name="T46" fmla="*/ 2 w 11"/>
                <a:gd name="T47" fmla="*/ 0 h 10"/>
                <a:gd name="T48" fmla="*/ 2 w 11"/>
                <a:gd name="T49" fmla="*/ 2 h 10"/>
                <a:gd name="T50" fmla="*/ 2 w 11"/>
                <a:gd name="T51" fmla="*/ 2 h 10"/>
                <a:gd name="T52" fmla="*/ 0 w 11"/>
                <a:gd name="T53" fmla="*/ 2 h 10"/>
                <a:gd name="T54" fmla="*/ 0 w 11"/>
                <a:gd name="T55" fmla="*/ 3 h 10"/>
                <a:gd name="T56" fmla="*/ 0 w 11"/>
                <a:gd name="T57" fmla="*/ 3 h 10"/>
                <a:gd name="T58" fmla="*/ 0 w 11"/>
                <a:gd name="T59" fmla="*/ 5 h 10"/>
                <a:gd name="T60" fmla="*/ 0 w 11"/>
                <a:gd name="T61" fmla="*/ 5 h 10"/>
                <a:gd name="T62" fmla="*/ 0 w 11"/>
                <a:gd name="T63" fmla="*/ 7 h 10"/>
                <a:gd name="T64" fmla="*/ 0 w 11"/>
                <a:gd name="T65" fmla="*/ 7 h 10"/>
                <a:gd name="T66" fmla="*/ 0 w 11"/>
                <a:gd name="T67" fmla="*/ 9 h 10"/>
                <a:gd name="T68" fmla="*/ 0 w 11"/>
                <a:gd name="T69" fmla="*/ 9 h 10"/>
                <a:gd name="T70" fmla="*/ 2 w 11"/>
                <a:gd name="T71" fmla="*/ 9 h 10"/>
                <a:gd name="T72" fmla="*/ 2 w 11"/>
                <a:gd name="T73" fmla="*/ 10 h 10"/>
                <a:gd name="T74" fmla="*/ 2 w 11"/>
                <a:gd name="T75" fmla="*/ 10 h 10"/>
                <a:gd name="T76" fmla="*/ 4 w 11"/>
                <a:gd name="T77" fmla="*/ 10 h 10"/>
                <a:gd name="T78" fmla="*/ 4 w 11"/>
                <a:gd name="T79" fmla="*/ 10 h 10"/>
                <a:gd name="T80" fmla="*/ 5 w 11"/>
                <a:gd name="T81" fmla="*/ 10 h 10"/>
                <a:gd name="T82" fmla="*/ 5 w 11"/>
                <a:gd name="T83" fmla="*/ 10 h 10"/>
                <a:gd name="T84" fmla="*/ 4 w 11"/>
                <a:gd name="T85" fmla="*/ 10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1"/>
                <a:gd name="T130" fmla="*/ 0 h 10"/>
                <a:gd name="T131" fmla="*/ 11 w 11"/>
                <a:gd name="T132" fmla="*/ 10 h 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1" h="10">
                  <a:moveTo>
                    <a:pt x="4" y="10"/>
                  </a:moveTo>
                  <a:lnTo>
                    <a:pt x="5" y="10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9" y="9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1" y="5"/>
                  </a:lnTo>
                  <a:lnTo>
                    <a:pt x="11" y="3"/>
                  </a:lnTo>
                  <a:lnTo>
                    <a:pt x="9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8" name="Freeform 358"/>
            <p:cNvSpPr>
              <a:spLocks/>
            </p:cNvSpPr>
            <p:nvPr/>
          </p:nvSpPr>
          <p:spPr bwMode="auto">
            <a:xfrm>
              <a:off x="2479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6 w 10"/>
                <a:gd name="T3" fmla="*/ 10 h 10"/>
                <a:gd name="T4" fmla="*/ 6 w 10"/>
                <a:gd name="T5" fmla="*/ 10 h 10"/>
                <a:gd name="T6" fmla="*/ 8 w 10"/>
                <a:gd name="T7" fmla="*/ 10 h 10"/>
                <a:gd name="T8" fmla="*/ 8 w 10"/>
                <a:gd name="T9" fmla="*/ 10 h 10"/>
                <a:gd name="T10" fmla="*/ 8 w 10"/>
                <a:gd name="T11" fmla="*/ 9 h 10"/>
                <a:gd name="T12" fmla="*/ 10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10 w 10"/>
                <a:gd name="T29" fmla="*/ 2 h 10"/>
                <a:gd name="T30" fmla="*/ 8 w 10"/>
                <a:gd name="T31" fmla="*/ 2 h 10"/>
                <a:gd name="T32" fmla="*/ 8 w 10"/>
                <a:gd name="T33" fmla="*/ 2 h 10"/>
                <a:gd name="T34" fmla="*/ 8 w 10"/>
                <a:gd name="T35" fmla="*/ 0 h 10"/>
                <a:gd name="T36" fmla="*/ 6 w 10"/>
                <a:gd name="T37" fmla="*/ 0 h 10"/>
                <a:gd name="T38" fmla="*/ 6 w 10"/>
                <a:gd name="T39" fmla="*/ 0 h 10"/>
                <a:gd name="T40" fmla="*/ 5 w 10"/>
                <a:gd name="T41" fmla="*/ 0 h 10"/>
                <a:gd name="T42" fmla="*/ 5 w 10"/>
                <a:gd name="T43" fmla="*/ 0 h 10"/>
                <a:gd name="T44" fmla="*/ 3 w 10"/>
                <a:gd name="T45" fmla="*/ 0 h 10"/>
                <a:gd name="T46" fmla="*/ 3 w 10"/>
                <a:gd name="T47" fmla="*/ 0 h 10"/>
                <a:gd name="T48" fmla="*/ 1 w 10"/>
                <a:gd name="T49" fmla="*/ 2 h 10"/>
                <a:gd name="T50" fmla="*/ 1 w 10"/>
                <a:gd name="T51" fmla="*/ 2 h 10"/>
                <a:gd name="T52" fmla="*/ 1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1 w 10"/>
                <a:gd name="T69" fmla="*/ 9 h 10"/>
                <a:gd name="T70" fmla="*/ 1 w 10"/>
                <a:gd name="T71" fmla="*/ 9 h 10"/>
                <a:gd name="T72" fmla="*/ 1 w 10"/>
                <a:gd name="T73" fmla="*/ 10 h 10"/>
                <a:gd name="T74" fmla="*/ 3 w 10"/>
                <a:gd name="T75" fmla="*/ 10 h 10"/>
                <a:gd name="T76" fmla="*/ 3 w 10"/>
                <a:gd name="T77" fmla="*/ 10 h 10"/>
                <a:gd name="T78" fmla="*/ 5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6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79" name="Freeform 359"/>
            <p:cNvSpPr>
              <a:spLocks/>
            </p:cNvSpPr>
            <p:nvPr/>
          </p:nvSpPr>
          <p:spPr bwMode="auto">
            <a:xfrm>
              <a:off x="3371" y="1102"/>
              <a:ext cx="10" cy="10"/>
            </a:xfrm>
            <a:custGeom>
              <a:avLst/>
              <a:gdLst>
                <a:gd name="T0" fmla="*/ 3 w 10"/>
                <a:gd name="T1" fmla="*/ 10 h 10"/>
                <a:gd name="T2" fmla="*/ 5 w 10"/>
                <a:gd name="T3" fmla="*/ 10 h 10"/>
                <a:gd name="T4" fmla="*/ 7 w 10"/>
                <a:gd name="T5" fmla="*/ 10 h 10"/>
                <a:gd name="T6" fmla="*/ 7 w 10"/>
                <a:gd name="T7" fmla="*/ 10 h 10"/>
                <a:gd name="T8" fmla="*/ 9 w 10"/>
                <a:gd name="T9" fmla="*/ 10 h 10"/>
                <a:gd name="T10" fmla="*/ 9 w 10"/>
                <a:gd name="T11" fmla="*/ 9 h 10"/>
                <a:gd name="T12" fmla="*/ 9 w 10"/>
                <a:gd name="T13" fmla="*/ 9 h 10"/>
                <a:gd name="T14" fmla="*/ 9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9 w 10"/>
                <a:gd name="T27" fmla="*/ 3 h 10"/>
                <a:gd name="T28" fmla="*/ 9 w 10"/>
                <a:gd name="T29" fmla="*/ 2 h 10"/>
                <a:gd name="T30" fmla="*/ 9 w 10"/>
                <a:gd name="T31" fmla="*/ 2 h 10"/>
                <a:gd name="T32" fmla="*/ 9 w 10"/>
                <a:gd name="T33" fmla="*/ 2 h 10"/>
                <a:gd name="T34" fmla="*/ 7 w 10"/>
                <a:gd name="T35" fmla="*/ 0 h 10"/>
                <a:gd name="T36" fmla="*/ 7 w 10"/>
                <a:gd name="T37" fmla="*/ 0 h 10"/>
                <a:gd name="T38" fmla="*/ 5 w 10"/>
                <a:gd name="T39" fmla="*/ 0 h 10"/>
                <a:gd name="T40" fmla="*/ 5 w 10"/>
                <a:gd name="T41" fmla="*/ 0 h 10"/>
                <a:gd name="T42" fmla="*/ 3 w 10"/>
                <a:gd name="T43" fmla="*/ 0 h 10"/>
                <a:gd name="T44" fmla="*/ 3 w 10"/>
                <a:gd name="T45" fmla="*/ 0 h 10"/>
                <a:gd name="T46" fmla="*/ 2 w 10"/>
                <a:gd name="T47" fmla="*/ 0 h 10"/>
                <a:gd name="T48" fmla="*/ 2 w 10"/>
                <a:gd name="T49" fmla="*/ 2 h 10"/>
                <a:gd name="T50" fmla="*/ 0 w 10"/>
                <a:gd name="T51" fmla="*/ 2 h 10"/>
                <a:gd name="T52" fmla="*/ 0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0 w 10"/>
                <a:gd name="T69" fmla="*/ 9 h 10"/>
                <a:gd name="T70" fmla="*/ 0 w 10"/>
                <a:gd name="T71" fmla="*/ 9 h 10"/>
                <a:gd name="T72" fmla="*/ 2 w 10"/>
                <a:gd name="T73" fmla="*/ 10 h 10"/>
                <a:gd name="T74" fmla="*/ 2 w 10"/>
                <a:gd name="T75" fmla="*/ 10 h 10"/>
                <a:gd name="T76" fmla="*/ 3 w 10"/>
                <a:gd name="T77" fmla="*/ 10 h 10"/>
                <a:gd name="T78" fmla="*/ 3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3 w 10"/>
                <a:gd name="T85" fmla="*/ 10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"/>
                <a:gd name="T130" fmla="*/ 0 h 10"/>
                <a:gd name="T131" fmla="*/ 10 w 10"/>
                <a:gd name="T132" fmla="*/ 10 h 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" h="10">
                  <a:moveTo>
                    <a:pt x="3" y="10"/>
                  </a:moveTo>
                  <a:lnTo>
                    <a:pt x="5" y="10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9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0" name="Freeform 360"/>
            <p:cNvSpPr>
              <a:spLocks/>
            </p:cNvSpPr>
            <p:nvPr/>
          </p:nvSpPr>
          <p:spPr bwMode="auto">
            <a:xfrm>
              <a:off x="3405" y="1102"/>
              <a:ext cx="12" cy="10"/>
            </a:xfrm>
            <a:custGeom>
              <a:avLst/>
              <a:gdLst>
                <a:gd name="T0" fmla="*/ 5 w 12"/>
                <a:gd name="T1" fmla="*/ 10 h 10"/>
                <a:gd name="T2" fmla="*/ 7 w 12"/>
                <a:gd name="T3" fmla="*/ 10 h 10"/>
                <a:gd name="T4" fmla="*/ 9 w 12"/>
                <a:gd name="T5" fmla="*/ 10 h 10"/>
                <a:gd name="T6" fmla="*/ 9 w 12"/>
                <a:gd name="T7" fmla="*/ 10 h 10"/>
                <a:gd name="T8" fmla="*/ 9 w 12"/>
                <a:gd name="T9" fmla="*/ 10 h 10"/>
                <a:gd name="T10" fmla="*/ 11 w 12"/>
                <a:gd name="T11" fmla="*/ 9 h 10"/>
                <a:gd name="T12" fmla="*/ 11 w 12"/>
                <a:gd name="T13" fmla="*/ 9 h 10"/>
                <a:gd name="T14" fmla="*/ 11 w 12"/>
                <a:gd name="T15" fmla="*/ 9 h 10"/>
                <a:gd name="T16" fmla="*/ 11 w 12"/>
                <a:gd name="T17" fmla="*/ 7 h 10"/>
                <a:gd name="T18" fmla="*/ 12 w 12"/>
                <a:gd name="T19" fmla="*/ 7 h 10"/>
                <a:gd name="T20" fmla="*/ 12 w 12"/>
                <a:gd name="T21" fmla="*/ 5 h 10"/>
                <a:gd name="T22" fmla="*/ 12 w 12"/>
                <a:gd name="T23" fmla="*/ 5 h 10"/>
                <a:gd name="T24" fmla="*/ 11 w 12"/>
                <a:gd name="T25" fmla="*/ 3 h 10"/>
                <a:gd name="T26" fmla="*/ 11 w 12"/>
                <a:gd name="T27" fmla="*/ 3 h 10"/>
                <a:gd name="T28" fmla="*/ 11 w 12"/>
                <a:gd name="T29" fmla="*/ 2 h 10"/>
                <a:gd name="T30" fmla="*/ 11 w 12"/>
                <a:gd name="T31" fmla="*/ 2 h 10"/>
                <a:gd name="T32" fmla="*/ 9 w 12"/>
                <a:gd name="T33" fmla="*/ 2 h 10"/>
                <a:gd name="T34" fmla="*/ 9 w 12"/>
                <a:gd name="T35" fmla="*/ 0 h 10"/>
                <a:gd name="T36" fmla="*/ 9 w 12"/>
                <a:gd name="T37" fmla="*/ 0 h 10"/>
                <a:gd name="T38" fmla="*/ 7 w 12"/>
                <a:gd name="T39" fmla="*/ 0 h 10"/>
                <a:gd name="T40" fmla="*/ 7 w 12"/>
                <a:gd name="T41" fmla="*/ 0 h 10"/>
                <a:gd name="T42" fmla="*/ 5 w 12"/>
                <a:gd name="T43" fmla="*/ 0 h 10"/>
                <a:gd name="T44" fmla="*/ 5 w 12"/>
                <a:gd name="T45" fmla="*/ 0 h 10"/>
                <a:gd name="T46" fmla="*/ 4 w 12"/>
                <a:gd name="T47" fmla="*/ 0 h 10"/>
                <a:gd name="T48" fmla="*/ 4 w 12"/>
                <a:gd name="T49" fmla="*/ 2 h 10"/>
                <a:gd name="T50" fmla="*/ 2 w 12"/>
                <a:gd name="T51" fmla="*/ 2 h 10"/>
                <a:gd name="T52" fmla="*/ 2 w 12"/>
                <a:gd name="T53" fmla="*/ 2 h 10"/>
                <a:gd name="T54" fmla="*/ 2 w 12"/>
                <a:gd name="T55" fmla="*/ 3 h 10"/>
                <a:gd name="T56" fmla="*/ 2 w 12"/>
                <a:gd name="T57" fmla="*/ 3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7 h 10"/>
                <a:gd name="T64" fmla="*/ 2 w 12"/>
                <a:gd name="T65" fmla="*/ 7 h 10"/>
                <a:gd name="T66" fmla="*/ 2 w 12"/>
                <a:gd name="T67" fmla="*/ 9 h 10"/>
                <a:gd name="T68" fmla="*/ 2 w 12"/>
                <a:gd name="T69" fmla="*/ 9 h 10"/>
                <a:gd name="T70" fmla="*/ 2 w 12"/>
                <a:gd name="T71" fmla="*/ 9 h 10"/>
                <a:gd name="T72" fmla="*/ 4 w 12"/>
                <a:gd name="T73" fmla="*/ 10 h 10"/>
                <a:gd name="T74" fmla="*/ 4 w 12"/>
                <a:gd name="T75" fmla="*/ 10 h 10"/>
                <a:gd name="T76" fmla="*/ 5 w 12"/>
                <a:gd name="T77" fmla="*/ 10 h 10"/>
                <a:gd name="T78" fmla="*/ 5 w 12"/>
                <a:gd name="T79" fmla="*/ 10 h 10"/>
                <a:gd name="T80" fmla="*/ 7 w 12"/>
                <a:gd name="T81" fmla="*/ 10 h 10"/>
                <a:gd name="T82" fmla="*/ 7 w 12"/>
                <a:gd name="T83" fmla="*/ 10 h 10"/>
                <a:gd name="T84" fmla="*/ 5 w 12"/>
                <a:gd name="T85" fmla="*/ 10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2"/>
                <a:gd name="T130" fmla="*/ 0 h 10"/>
                <a:gd name="T131" fmla="*/ 12 w 12"/>
                <a:gd name="T132" fmla="*/ 10 h 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2" h="10">
                  <a:moveTo>
                    <a:pt x="5" y="10"/>
                  </a:moveTo>
                  <a:lnTo>
                    <a:pt x="7" y="10"/>
                  </a:lnTo>
                  <a:lnTo>
                    <a:pt x="9" y="10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2" y="5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1" name="Freeform 361"/>
            <p:cNvSpPr>
              <a:spLocks/>
            </p:cNvSpPr>
            <p:nvPr/>
          </p:nvSpPr>
          <p:spPr bwMode="auto">
            <a:xfrm>
              <a:off x="3335" y="1102"/>
              <a:ext cx="10" cy="10"/>
            </a:xfrm>
            <a:custGeom>
              <a:avLst/>
              <a:gdLst>
                <a:gd name="T0" fmla="*/ 4 w 10"/>
                <a:gd name="T1" fmla="*/ 10 h 10"/>
                <a:gd name="T2" fmla="*/ 5 w 10"/>
                <a:gd name="T3" fmla="*/ 10 h 10"/>
                <a:gd name="T4" fmla="*/ 7 w 10"/>
                <a:gd name="T5" fmla="*/ 10 h 10"/>
                <a:gd name="T6" fmla="*/ 7 w 10"/>
                <a:gd name="T7" fmla="*/ 10 h 10"/>
                <a:gd name="T8" fmla="*/ 9 w 10"/>
                <a:gd name="T9" fmla="*/ 10 h 10"/>
                <a:gd name="T10" fmla="*/ 9 w 10"/>
                <a:gd name="T11" fmla="*/ 9 h 10"/>
                <a:gd name="T12" fmla="*/ 9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9 w 10"/>
                <a:gd name="T29" fmla="*/ 2 h 10"/>
                <a:gd name="T30" fmla="*/ 9 w 10"/>
                <a:gd name="T31" fmla="*/ 2 h 10"/>
                <a:gd name="T32" fmla="*/ 9 w 10"/>
                <a:gd name="T33" fmla="*/ 2 h 10"/>
                <a:gd name="T34" fmla="*/ 7 w 10"/>
                <a:gd name="T35" fmla="*/ 0 h 10"/>
                <a:gd name="T36" fmla="*/ 7 w 10"/>
                <a:gd name="T37" fmla="*/ 0 h 10"/>
                <a:gd name="T38" fmla="*/ 5 w 10"/>
                <a:gd name="T39" fmla="*/ 0 h 10"/>
                <a:gd name="T40" fmla="*/ 5 w 10"/>
                <a:gd name="T41" fmla="*/ 0 h 10"/>
                <a:gd name="T42" fmla="*/ 4 w 10"/>
                <a:gd name="T43" fmla="*/ 0 h 10"/>
                <a:gd name="T44" fmla="*/ 4 w 10"/>
                <a:gd name="T45" fmla="*/ 0 h 10"/>
                <a:gd name="T46" fmla="*/ 2 w 10"/>
                <a:gd name="T47" fmla="*/ 0 h 10"/>
                <a:gd name="T48" fmla="*/ 2 w 10"/>
                <a:gd name="T49" fmla="*/ 2 h 10"/>
                <a:gd name="T50" fmla="*/ 2 w 10"/>
                <a:gd name="T51" fmla="*/ 2 h 10"/>
                <a:gd name="T52" fmla="*/ 0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0 w 10"/>
                <a:gd name="T69" fmla="*/ 9 h 10"/>
                <a:gd name="T70" fmla="*/ 2 w 10"/>
                <a:gd name="T71" fmla="*/ 9 h 10"/>
                <a:gd name="T72" fmla="*/ 2 w 10"/>
                <a:gd name="T73" fmla="*/ 10 h 10"/>
                <a:gd name="T74" fmla="*/ 2 w 10"/>
                <a:gd name="T75" fmla="*/ 10 h 10"/>
                <a:gd name="T76" fmla="*/ 4 w 10"/>
                <a:gd name="T77" fmla="*/ 10 h 10"/>
                <a:gd name="T78" fmla="*/ 4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4 w 10"/>
                <a:gd name="T85" fmla="*/ 10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"/>
                <a:gd name="T130" fmla="*/ 0 h 10"/>
                <a:gd name="T131" fmla="*/ 10 w 10"/>
                <a:gd name="T132" fmla="*/ 10 h 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" h="10">
                  <a:moveTo>
                    <a:pt x="4" y="10"/>
                  </a:moveTo>
                  <a:lnTo>
                    <a:pt x="5" y="10"/>
                  </a:lnTo>
                  <a:lnTo>
                    <a:pt x="7" y="10"/>
                  </a:lnTo>
                  <a:lnTo>
                    <a:pt x="9" y="10"/>
                  </a:lnTo>
                  <a:lnTo>
                    <a:pt x="9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2" name="Freeform 362"/>
            <p:cNvSpPr>
              <a:spLocks/>
            </p:cNvSpPr>
            <p:nvPr/>
          </p:nvSpPr>
          <p:spPr bwMode="auto">
            <a:xfrm>
              <a:off x="3477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7 w 10"/>
                <a:gd name="T3" fmla="*/ 10 h 10"/>
                <a:gd name="T4" fmla="*/ 7 w 10"/>
                <a:gd name="T5" fmla="*/ 10 h 10"/>
                <a:gd name="T6" fmla="*/ 9 w 10"/>
                <a:gd name="T7" fmla="*/ 10 h 10"/>
                <a:gd name="T8" fmla="*/ 9 w 10"/>
                <a:gd name="T9" fmla="*/ 10 h 10"/>
                <a:gd name="T10" fmla="*/ 9 w 10"/>
                <a:gd name="T11" fmla="*/ 9 h 10"/>
                <a:gd name="T12" fmla="*/ 10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10 w 10"/>
                <a:gd name="T29" fmla="*/ 2 h 10"/>
                <a:gd name="T30" fmla="*/ 9 w 10"/>
                <a:gd name="T31" fmla="*/ 2 h 10"/>
                <a:gd name="T32" fmla="*/ 9 w 10"/>
                <a:gd name="T33" fmla="*/ 2 h 10"/>
                <a:gd name="T34" fmla="*/ 9 w 10"/>
                <a:gd name="T35" fmla="*/ 0 h 10"/>
                <a:gd name="T36" fmla="*/ 7 w 10"/>
                <a:gd name="T37" fmla="*/ 0 h 10"/>
                <a:gd name="T38" fmla="*/ 7 w 10"/>
                <a:gd name="T39" fmla="*/ 0 h 10"/>
                <a:gd name="T40" fmla="*/ 5 w 10"/>
                <a:gd name="T41" fmla="*/ 0 h 10"/>
                <a:gd name="T42" fmla="*/ 5 w 10"/>
                <a:gd name="T43" fmla="*/ 0 h 10"/>
                <a:gd name="T44" fmla="*/ 3 w 10"/>
                <a:gd name="T45" fmla="*/ 0 h 10"/>
                <a:gd name="T46" fmla="*/ 3 w 10"/>
                <a:gd name="T47" fmla="*/ 0 h 10"/>
                <a:gd name="T48" fmla="*/ 2 w 10"/>
                <a:gd name="T49" fmla="*/ 2 h 10"/>
                <a:gd name="T50" fmla="*/ 2 w 10"/>
                <a:gd name="T51" fmla="*/ 2 h 10"/>
                <a:gd name="T52" fmla="*/ 2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2 w 10"/>
                <a:gd name="T69" fmla="*/ 9 h 10"/>
                <a:gd name="T70" fmla="*/ 2 w 10"/>
                <a:gd name="T71" fmla="*/ 9 h 10"/>
                <a:gd name="T72" fmla="*/ 2 w 10"/>
                <a:gd name="T73" fmla="*/ 10 h 10"/>
                <a:gd name="T74" fmla="*/ 3 w 10"/>
                <a:gd name="T75" fmla="*/ 10 h 10"/>
                <a:gd name="T76" fmla="*/ 3 w 10"/>
                <a:gd name="T77" fmla="*/ 10 h 10"/>
                <a:gd name="T78" fmla="*/ 5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7" y="10"/>
                  </a:lnTo>
                  <a:lnTo>
                    <a:pt x="9" y="10"/>
                  </a:lnTo>
                  <a:lnTo>
                    <a:pt x="9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3" name="Freeform 363"/>
            <p:cNvSpPr>
              <a:spLocks/>
            </p:cNvSpPr>
            <p:nvPr/>
          </p:nvSpPr>
          <p:spPr bwMode="auto">
            <a:xfrm>
              <a:off x="3513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7 w 10"/>
                <a:gd name="T3" fmla="*/ 10 h 10"/>
                <a:gd name="T4" fmla="*/ 7 w 10"/>
                <a:gd name="T5" fmla="*/ 10 h 10"/>
                <a:gd name="T6" fmla="*/ 7 w 10"/>
                <a:gd name="T7" fmla="*/ 10 h 10"/>
                <a:gd name="T8" fmla="*/ 9 w 10"/>
                <a:gd name="T9" fmla="*/ 10 h 10"/>
                <a:gd name="T10" fmla="*/ 9 w 10"/>
                <a:gd name="T11" fmla="*/ 9 h 10"/>
                <a:gd name="T12" fmla="*/ 10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10 w 10"/>
                <a:gd name="T29" fmla="*/ 2 h 10"/>
                <a:gd name="T30" fmla="*/ 9 w 10"/>
                <a:gd name="T31" fmla="*/ 2 h 10"/>
                <a:gd name="T32" fmla="*/ 9 w 10"/>
                <a:gd name="T33" fmla="*/ 2 h 10"/>
                <a:gd name="T34" fmla="*/ 7 w 10"/>
                <a:gd name="T35" fmla="*/ 0 h 10"/>
                <a:gd name="T36" fmla="*/ 7 w 10"/>
                <a:gd name="T37" fmla="*/ 0 h 10"/>
                <a:gd name="T38" fmla="*/ 7 w 10"/>
                <a:gd name="T39" fmla="*/ 0 h 10"/>
                <a:gd name="T40" fmla="*/ 5 w 10"/>
                <a:gd name="T41" fmla="*/ 0 h 10"/>
                <a:gd name="T42" fmla="*/ 5 w 10"/>
                <a:gd name="T43" fmla="*/ 0 h 10"/>
                <a:gd name="T44" fmla="*/ 3 w 10"/>
                <a:gd name="T45" fmla="*/ 0 h 10"/>
                <a:gd name="T46" fmla="*/ 3 w 10"/>
                <a:gd name="T47" fmla="*/ 0 h 10"/>
                <a:gd name="T48" fmla="*/ 2 w 10"/>
                <a:gd name="T49" fmla="*/ 2 h 10"/>
                <a:gd name="T50" fmla="*/ 2 w 10"/>
                <a:gd name="T51" fmla="*/ 2 h 10"/>
                <a:gd name="T52" fmla="*/ 2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2 w 10"/>
                <a:gd name="T69" fmla="*/ 9 h 10"/>
                <a:gd name="T70" fmla="*/ 2 w 10"/>
                <a:gd name="T71" fmla="*/ 9 h 10"/>
                <a:gd name="T72" fmla="*/ 2 w 10"/>
                <a:gd name="T73" fmla="*/ 10 h 10"/>
                <a:gd name="T74" fmla="*/ 3 w 10"/>
                <a:gd name="T75" fmla="*/ 10 h 10"/>
                <a:gd name="T76" fmla="*/ 3 w 10"/>
                <a:gd name="T77" fmla="*/ 10 h 10"/>
                <a:gd name="T78" fmla="*/ 5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7" y="10"/>
                  </a:lnTo>
                  <a:lnTo>
                    <a:pt x="9" y="10"/>
                  </a:lnTo>
                  <a:lnTo>
                    <a:pt x="9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4" name="Freeform 364"/>
            <p:cNvSpPr>
              <a:spLocks/>
            </p:cNvSpPr>
            <p:nvPr/>
          </p:nvSpPr>
          <p:spPr bwMode="auto">
            <a:xfrm>
              <a:off x="3441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7 w 10"/>
                <a:gd name="T3" fmla="*/ 10 h 10"/>
                <a:gd name="T4" fmla="*/ 7 w 10"/>
                <a:gd name="T5" fmla="*/ 10 h 10"/>
                <a:gd name="T6" fmla="*/ 9 w 10"/>
                <a:gd name="T7" fmla="*/ 10 h 10"/>
                <a:gd name="T8" fmla="*/ 9 w 10"/>
                <a:gd name="T9" fmla="*/ 10 h 10"/>
                <a:gd name="T10" fmla="*/ 10 w 10"/>
                <a:gd name="T11" fmla="*/ 9 h 10"/>
                <a:gd name="T12" fmla="*/ 10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10 w 10"/>
                <a:gd name="T29" fmla="*/ 2 h 10"/>
                <a:gd name="T30" fmla="*/ 10 w 10"/>
                <a:gd name="T31" fmla="*/ 2 h 10"/>
                <a:gd name="T32" fmla="*/ 9 w 10"/>
                <a:gd name="T33" fmla="*/ 2 h 10"/>
                <a:gd name="T34" fmla="*/ 9 w 10"/>
                <a:gd name="T35" fmla="*/ 0 h 10"/>
                <a:gd name="T36" fmla="*/ 7 w 10"/>
                <a:gd name="T37" fmla="*/ 0 h 10"/>
                <a:gd name="T38" fmla="*/ 7 w 10"/>
                <a:gd name="T39" fmla="*/ 0 h 10"/>
                <a:gd name="T40" fmla="*/ 5 w 10"/>
                <a:gd name="T41" fmla="*/ 0 h 10"/>
                <a:gd name="T42" fmla="*/ 5 w 10"/>
                <a:gd name="T43" fmla="*/ 0 h 10"/>
                <a:gd name="T44" fmla="*/ 4 w 10"/>
                <a:gd name="T45" fmla="*/ 0 h 10"/>
                <a:gd name="T46" fmla="*/ 4 w 10"/>
                <a:gd name="T47" fmla="*/ 0 h 10"/>
                <a:gd name="T48" fmla="*/ 4 w 10"/>
                <a:gd name="T49" fmla="*/ 2 h 10"/>
                <a:gd name="T50" fmla="*/ 2 w 10"/>
                <a:gd name="T51" fmla="*/ 2 h 10"/>
                <a:gd name="T52" fmla="*/ 2 w 10"/>
                <a:gd name="T53" fmla="*/ 2 h 10"/>
                <a:gd name="T54" fmla="*/ 2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2 w 10"/>
                <a:gd name="T67" fmla="*/ 9 h 10"/>
                <a:gd name="T68" fmla="*/ 2 w 10"/>
                <a:gd name="T69" fmla="*/ 9 h 10"/>
                <a:gd name="T70" fmla="*/ 2 w 10"/>
                <a:gd name="T71" fmla="*/ 9 h 10"/>
                <a:gd name="T72" fmla="*/ 4 w 10"/>
                <a:gd name="T73" fmla="*/ 10 h 10"/>
                <a:gd name="T74" fmla="*/ 4 w 10"/>
                <a:gd name="T75" fmla="*/ 10 h 10"/>
                <a:gd name="T76" fmla="*/ 4 w 10"/>
                <a:gd name="T77" fmla="*/ 10 h 10"/>
                <a:gd name="T78" fmla="*/ 5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7" y="10"/>
                  </a:lnTo>
                  <a:lnTo>
                    <a:pt x="9" y="10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4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5" name="Freeform 365"/>
            <p:cNvSpPr>
              <a:spLocks/>
            </p:cNvSpPr>
            <p:nvPr/>
          </p:nvSpPr>
          <p:spPr bwMode="auto">
            <a:xfrm>
              <a:off x="2619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7 w 10"/>
                <a:gd name="T3" fmla="*/ 10 h 10"/>
                <a:gd name="T4" fmla="*/ 7 w 10"/>
                <a:gd name="T5" fmla="*/ 10 h 10"/>
                <a:gd name="T6" fmla="*/ 8 w 10"/>
                <a:gd name="T7" fmla="*/ 10 h 10"/>
                <a:gd name="T8" fmla="*/ 8 w 10"/>
                <a:gd name="T9" fmla="*/ 10 h 10"/>
                <a:gd name="T10" fmla="*/ 8 w 10"/>
                <a:gd name="T11" fmla="*/ 9 h 10"/>
                <a:gd name="T12" fmla="*/ 10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10 w 10"/>
                <a:gd name="T29" fmla="*/ 2 h 10"/>
                <a:gd name="T30" fmla="*/ 8 w 10"/>
                <a:gd name="T31" fmla="*/ 2 h 10"/>
                <a:gd name="T32" fmla="*/ 8 w 10"/>
                <a:gd name="T33" fmla="*/ 2 h 10"/>
                <a:gd name="T34" fmla="*/ 8 w 10"/>
                <a:gd name="T35" fmla="*/ 0 h 10"/>
                <a:gd name="T36" fmla="*/ 7 w 10"/>
                <a:gd name="T37" fmla="*/ 0 h 10"/>
                <a:gd name="T38" fmla="*/ 7 w 10"/>
                <a:gd name="T39" fmla="*/ 0 h 10"/>
                <a:gd name="T40" fmla="*/ 5 w 10"/>
                <a:gd name="T41" fmla="*/ 0 h 10"/>
                <a:gd name="T42" fmla="*/ 5 w 10"/>
                <a:gd name="T43" fmla="*/ 0 h 10"/>
                <a:gd name="T44" fmla="*/ 3 w 10"/>
                <a:gd name="T45" fmla="*/ 0 h 10"/>
                <a:gd name="T46" fmla="*/ 3 w 10"/>
                <a:gd name="T47" fmla="*/ 0 h 10"/>
                <a:gd name="T48" fmla="*/ 1 w 10"/>
                <a:gd name="T49" fmla="*/ 2 h 10"/>
                <a:gd name="T50" fmla="*/ 1 w 10"/>
                <a:gd name="T51" fmla="*/ 2 h 10"/>
                <a:gd name="T52" fmla="*/ 1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1 w 10"/>
                <a:gd name="T69" fmla="*/ 9 h 10"/>
                <a:gd name="T70" fmla="*/ 1 w 10"/>
                <a:gd name="T71" fmla="*/ 9 h 10"/>
                <a:gd name="T72" fmla="*/ 1 w 10"/>
                <a:gd name="T73" fmla="*/ 10 h 10"/>
                <a:gd name="T74" fmla="*/ 3 w 10"/>
                <a:gd name="T75" fmla="*/ 10 h 10"/>
                <a:gd name="T76" fmla="*/ 3 w 10"/>
                <a:gd name="T77" fmla="*/ 10 h 10"/>
                <a:gd name="T78" fmla="*/ 5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6" name="Freeform 366"/>
            <p:cNvSpPr>
              <a:spLocks/>
            </p:cNvSpPr>
            <p:nvPr/>
          </p:nvSpPr>
          <p:spPr bwMode="auto">
            <a:xfrm>
              <a:off x="2655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5 w 10"/>
                <a:gd name="T3" fmla="*/ 10 h 10"/>
                <a:gd name="T4" fmla="*/ 7 w 10"/>
                <a:gd name="T5" fmla="*/ 10 h 10"/>
                <a:gd name="T6" fmla="*/ 7 w 10"/>
                <a:gd name="T7" fmla="*/ 10 h 10"/>
                <a:gd name="T8" fmla="*/ 8 w 10"/>
                <a:gd name="T9" fmla="*/ 10 h 10"/>
                <a:gd name="T10" fmla="*/ 8 w 10"/>
                <a:gd name="T11" fmla="*/ 9 h 10"/>
                <a:gd name="T12" fmla="*/ 8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8 w 10"/>
                <a:gd name="T29" fmla="*/ 2 h 10"/>
                <a:gd name="T30" fmla="*/ 8 w 10"/>
                <a:gd name="T31" fmla="*/ 2 h 10"/>
                <a:gd name="T32" fmla="*/ 8 w 10"/>
                <a:gd name="T33" fmla="*/ 2 h 10"/>
                <a:gd name="T34" fmla="*/ 7 w 10"/>
                <a:gd name="T35" fmla="*/ 0 h 10"/>
                <a:gd name="T36" fmla="*/ 7 w 10"/>
                <a:gd name="T37" fmla="*/ 0 h 10"/>
                <a:gd name="T38" fmla="*/ 5 w 10"/>
                <a:gd name="T39" fmla="*/ 0 h 10"/>
                <a:gd name="T40" fmla="*/ 5 w 10"/>
                <a:gd name="T41" fmla="*/ 0 h 10"/>
                <a:gd name="T42" fmla="*/ 3 w 10"/>
                <a:gd name="T43" fmla="*/ 0 h 10"/>
                <a:gd name="T44" fmla="*/ 3 w 10"/>
                <a:gd name="T45" fmla="*/ 0 h 10"/>
                <a:gd name="T46" fmla="*/ 3 w 10"/>
                <a:gd name="T47" fmla="*/ 0 h 10"/>
                <a:gd name="T48" fmla="*/ 1 w 10"/>
                <a:gd name="T49" fmla="*/ 2 h 10"/>
                <a:gd name="T50" fmla="*/ 1 w 10"/>
                <a:gd name="T51" fmla="*/ 2 h 10"/>
                <a:gd name="T52" fmla="*/ 0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0 w 10"/>
                <a:gd name="T69" fmla="*/ 9 h 10"/>
                <a:gd name="T70" fmla="*/ 1 w 10"/>
                <a:gd name="T71" fmla="*/ 9 h 10"/>
                <a:gd name="T72" fmla="*/ 1 w 10"/>
                <a:gd name="T73" fmla="*/ 10 h 10"/>
                <a:gd name="T74" fmla="*/ 3 w 10"/>
                <a:gd name="T75" fmla="*/ 10 h 10"/>
                <a:gd name="T76" fmla="*/ 3 w 10"/>
                <a:gd name="T77" fmla="*/ 10 h 10"/>
                <a:gd name="T78" fmla="*/ 3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5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7" name="Freeform 367"/>
            <p:cNvSpPr>
              <a:spLocks/>
            </p:cNvSpPr>
            <p:nvPr/>
          </p:nvSpPr>
          <p:spPr bwMode="auto">
            <a:xfrm>
              <a:off x="2583" y="1102"/>
              <a:ext cx="10" cy="10"/>
            </a:xfrm>
            <a:custGeom>
              <a:avLst/>
              <a:gdLst>
                <a:gd name="T0" fmla="*/ 5 w 10"/>
                <a:gd name="T1" fmla="*/ 10 h 10"/>
                <a:gd name="T2" fmla="*/ 7 w 10"/>
                <a:gd name="T3" fmla="*/ 10 h 10"/>
                <a:gd name="T4" fmla="*/ 7 w 10"/>
                <a:gd name="T5" fmla="*/ 10 h 10"/>
                <a:gd name="T6" fmla="*/ 8 w 10"/>
                <a:gd name="T7" fmla="*/ 10 h 10"/>
                <a:gd name="T8" fmla="*/ 8 w 10"/>
                <a:gd name="T9" fmla="*/ 10 h 10"/>
                <a:gd name="T10" fmla="*/ 8 w 10"/>
                <a:gd name="T11" fmla="*/ 9 h 10"/>
                <a:gd name="T12" fmla="*/ 10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10 w 10"/>
                <a:gd name="T29" fmla="*/ 2 h 10"/>
                <a:gd name="T30" fmla="*/ 8 w 10"/>
                <a:gd name="T31" fmla="*/ 2 h 10"/>
                <a:gd name="T32" fmla="*/ 8 w 10"/>
                <a:gd name="T33" fmla="*/ 2 h 10"/>
                <a:gd name="T34" fmla="*/ 8 w 10"/>
                <a:gd name="T35" fmla="*/ 0 h 10"/>
                <a:gd name="T36" fmla="*/ 7 w 10"/>
                <a:gd name="T37" fmla="*/ 0 h 10"/>
                <a:gd name="T38" fmla="*/ 7 w 10"/>
                <a:gd name="T39" fmla="*/ 0 h 10"/>
                <a:gd name="T40" fmla="*/ 5 w 10"/>
                <a:gd name="T41" fmla="*/ 0 h 10"/>
                <a:gd name="T42" fmla="*/ 5 w 10"/>
                <a:gd name="T43" fmla="*/ 0 h 10"/>
                <a:gd name="T44" fmla="*/ 3 w 10"/>
                <a:gd name="T45" fmla="*/ 0 h 10"/>
                <a:gd name="T46" fmla="*/ 3 w 10"/>
                <a:gd name="T47" fmla="*/ 0 h 10"/>
                <a:gd name="T48" fmla="*/ 2 w 10"/>
                <a:gd name="T49" fmla="*/ 2 h 10"/>
                <a:gd name="T50" fmla="*/ 2 w 10"/>
                <a:gd name="T51" fmla="*/ 2 h 10"/>
                <a:gd name="T52" fmla="*/ 2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2 w 10"/>
                <a:gd name="T69" fmla="*/ 9 h 10"/>
                <a:gd name="T70" fmla="*/ 2 w 10"/>
                <a:gd name="T71" fmla="*/ 9 h 10"/>
                <a:gd name="T72" fmla="*/ 2 w 10"/>
                <a:gd name="T73" fmla="*/ 10 h 10"/>
                <a:gd name="T74" fmla="*/ 3 w 10"/>
                <a:gd name="T75" fmla="*/ 10 h 10"/>
                <a:gd name="T76" fmla="*/ 3 w 10"/>
                <a:gd name="T77" fmla="*/ 10 h 10"/>
                <a:gd name="T78" fmla="*/ 5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"/>
                <a:gd name="T127" fmla="*/ 0 h 10"/>
                <a:gd name="T128" fmla="*/ 10 w 10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" h="10">
                  <a:moveTo>
                    <a:pt x="5" y="10"/>
                  </a:move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8" y="2"/>
                  </a:lnTo>
                  <a:lnTo>
                    <a:pt x="8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5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8" name="Freeform 368"/>
            <p:cNvSpPr>
              <a:spLocks/>
            </p:cNvSpPr>
            <p:nvPr/>
          </p:nvSpPr>
          <p:spPr bwMode="auto">
            <a:xfrm>
              <a:off x="2689" y="1102"/>
              <a:ext cx="10" cy="10"/>
            </a:xfrm>
            <a:custGeom>
              <a:avLst/>
              <a:gdLst>
                <a:gd name="T0" fmla="*/ 3 w 10"/>
                <a:gd name="T1" fmla="*/ 10 h 10"/>
                <a:gd name="T2" fmla="*/ 5 w 10"/>
                <a:gd name="T3" fmla="*/ 10 h 10"/>
                <a:gd name="T4" fmla="*/ 7 w 10"/>
                <a:gd name="T5" fmla="*/ 10 h 10"/>
                <a:gd name="T6" fmla="*/ 7 w 10"/>
                <a:gd name="T7" fmla="*/ 10 h 10"/>
                <a:gd name="T8" fmla="*/ 8 w 10"/>
                <a:gd name="T9" fmla="*/ 10 h 10"/>
                <a:gd name="T10" fmla="*/ 8 w 10"/>
                <a:gd name="T11" fmla="*/ 9 h 10"/>
                <a:gd name="T12" fmla="*/ 8 w 10"/>
                <a:gd name="T13" fmla="*/ 9 h 10"/>
                <a:gd name="T14" fmla="*/ 10 w 10"/>
                <a:gd name="T15" fmla="*/ 9 h 10"/>
                <a:gd name="T16" fmla="*/ 10 w 10"/>
                <a:gd name="T17" fmla="*/ 7 h 10"/>
                <a:gd name="T18" fmla="*/ 10 w 10"/>
                <a:gd name="T19" fmla="*/ 7 h 10"/>
                <a:gd name="T20" fmla="*/ 10 w 10"/>
                <a:gd name="T21" fmla="*/ 5 h 10"/>
                <a:gd name="T22" fmla="*/ 10 w 10"/>
                <a:gd name="T23" fmla="*/ 5 h 10"/>
                <a:gd name="T24" fmla="*/ 10 w 10"/>
                <a:gd name="T25" fmla="*/ 3 h 10"/>
                <a:gd name="T26" fmla="*/ 10 w 10"/>
                <a:gd name="T27" fmla="*/ 3 h 10"/>
                <a:gd name="T28" fmla="*/ 8 w 10"/>
                <a:gd name="T29" fmla="*/ 2 h 10"/>
                <a:gd name="T30" fmla="*/ 8 w 10"/>
                <a:gd name="T31" fmla="*/ 2 h 10"/>
                <a:gd name="T32" fmla="*/ 8 w 10"/>
                <a:gd name="T33" fmla="*/ 2 h 10"/>
                <a:gd name="T34" fmla="*/ 7 w 10"/>
                <a:gd name="T35" fmla="*/ 0 h 10"/>
                <a:gd name="T36" fmla="*/ 7 w 10"/>
                <a:gd name="T37" fmla="*/ 0 h 10"/>
                <a:gd name="T38" fmla="*/ 5 w 10"/>
                <a:gd name="T39" fmla="*/ 0 h 10"/>
                <a:gd name="T40" fmla="*/ 5 w 10"/>
                <a:gd name="T41" fmla="*/ 0 h 10"/>
                <a:gd name="T42" fmla="*/ 3 w 10"/>
                <a:gd name="T43" fmla="*/ 0 h 10"/>
                <a:gd name="T44" fmla="*/ 3 w 10"/>
                <a:gd name="T45" fmla="*/ 0 h 10"/>
                <a:gd name="T46" fmla="*/ 2 w 10"/>
                <a:gd name="T47" fmla="*/ 0 h 10"/>
                <a:gd name="T48" fmla="*/ 2 w 10"/>
                <a:gd name="T49" fmla="*/ 2 h 10"/>
                <a:gd name="T50" fmla="*/ 2 w 10"/>
                <a:gd name="T51" fmla="*/ 2 h 10"/>
                <a:gd name="T52" fmla="*/ 0 w 10"/>
                <a:gd name="T53" fmla="*/ 2 h 10"/>
                <a:gd name="T54" fmla="*/ 0 w 10"/>
                <a:gd name="T55" fmla="*/ 3 h 10"/>
                <a:gd name="T56" fmla="*/ 0 w 10"/>
                <a:gd name="T57" fmla="*/ 3 h 10"/>
                <a:gd name="T58" fmla="*/ 0 w 10"/>
                <a:gd name="T59" fmla="*/ 5 h 10"/>
                <a:gd name="T60" fmla="*/ 0 w 10"/>
                <a:gd name="T61" fmla="*/ 5 h 10"/>
                <a:gd name="T62" fmla="*/ 0 w 10"/>
                <a:gd name="T63" fmla="*/ 7 h 10"/>
                <a:gd name="T64" fmla="*/ 0 w 10"/>
                <a:gd name="T65" fmla="*/ 7 h 10"/>
                <a:gd name="T66" fmla="*/ 0 w 10"/>
                <a:gd name="T67" fmla="*/ 9 h 10"/>
                <a:gd name="T68" fmla="*/ 0 w 10"/>
                <a:gd name="T69" fmla="*/ 9 h 10"/>
                <a:gd name="T70" fmla="*/ 2 w 10"/>
                <a:gd name="T71" fmla="*/ 9 h 10"/>
                <a:gd name="T72" fmla="*/ 2 w 10"/>
                <a:gd name="T73" fmla="*/ 10 h 10"/>
                <a:gd name="T74" fmla="*/ 2 w 10"/>
                <a:gd name="T75" fmla="*/ 10 h 10"/>
                <a:gd name="T76" fmla="*/ 3 w 10"/>
                <a:gd name="T77" fmla="*/ 10 h 10"/>
                <a:gd name="T78" fmla="*/ 3 w 10"/>
                <a:gd name="T79" fmla="*/ 10 h 10"/>
                <a:gd name="T80" fmla="*/ 5 w 10"/>
                <a:gd name="T81" fmla="*/ 10 h 10"/>
                <a:gd name="T82" fmla="*/ 5 w 10"/>
                <a:gd name="T83" fmla="*/ 10 h 10"/>
                <a:gd name="T84" fmla="*/ 3 w 10"/>
                <a:gd name="T85" fmla="*/ 10 h 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0"/>
                <a:gd name="T130" fmla="*/ 0 h 10"/>
                <a:gd name="T131" fmla="*/ 10 w 10"/>
                <a:gd name="T132" fmla="*/ 10 h 1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0" h="10">
                  <a:moveTo>
                    <a:pt x="3" y="10"/>
                  </a:moveTo>
                  <a:lnTo>
                    <a:pt x="5" y="10"/>
                  </a:lnTo>
                  <a:lnTo>
                    <a:pt x="7" y="10"/>
                  </a:lnTo>
                  <a:lnTo>
                    <a:pt x="8" y="10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7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3" y="10"/>
                  </a:lnTo>
                  <a:lnTo>
                    <a:pt x="5" y="10"/>
                  </a:lnTo>
                  <a:lnTo>
                    <a:pt x="3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89" name="Freeform 369"/>
            <p:cNvSpPr>
              <a:spLocks noEditPoints="1"/>
            </p:cNvSpPr>
            <p:nvPr/>
          </p:nvSpPr>
          <p:spPr bwMode="auto">
            <a:xfrm>
              <a:off x="2101" y="1990"/>
              <a:ext cx="25" cy="19"/>
            </a:xfrm>
            <a:custGeom>
              <a:avLst/>
              <a:gdLst>
                <a:gd name="T0" fmla="*/ 0 w 25"/>
                <a:gd name="T1" fmla="*/ 0 h 19"/>
                <a:gd name="T2" fmla="*/ 25 w 25"/>
                <a:gd name="T3" fmla="*/ 1 h 19"/>
                <a:gd name="T4" fmla="*/ 25 w 25"/>
                <a:gd name="T5" fmla="*/ 5 h 19"/>
                <a:gd name="T6" fmla="*/ 0 w 25"/>
                <a:gd name="T7" fmla="*/ 5 h 19"/>
                <a:gd name="T8" fmla="*/ 0 w 25"/>
                <a:gd name="T9" fmla="*/ 1 h 19"/>
                <a:gd name="T10" fmla="*/ 0 w 25"/>
                <a:gd name="T11" fmla="*/ 1 h 19"/>
                <a:gd name="T12" fmla="*/ 0 w 25"/>
                <a:gd name="T13" fmla="*/ 0 h 19"/>
                <a:gd name="T14" fmla="*/ 0 w 25"/>
                <a:gd name="T15" fmla="*/ 13 h 19"/>
                <a:gd name="T16" fmla="*/ 25 w 25"/>
                <a:gd name="T17" fmla="*/ 13 h 19"/>
                <a:gd name="T18" fmla="*/ 25 w 25"/>
                <a:gd name="T19" fmla="*/ 19 h 19"/>
                <a:gd name="T20" fmla="*/ 0 w 25"/>
                <a:gd name="T21" fmla="*/ 19 h 19"/>
                <a:gd name="T22" fmla="*/ 0 w 25"/>
                <a:gd name="T23" fmla="*/ 13 h 19"/>
                <a:gd name="T24" fmla="*/ 0 w 25"/>
                <a:gd name="T25" fmla="*/ 13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19"/>
                <a:gd name="T41" fmla="*/ 25 w 25"/>
                <a:gd name="T42" fmla="*/ 19 h 1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19">
                  <a:moveTo>
                    <a:pt x="0" y="0"/>
                  </a:moveTo>
                  <a:lnTo>
                    <a:pt x="25" y="1"/>
                  </a:lnTo>
                  <a:lnTo>
                    <a:pt x="25" y="5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close/>
                  <a:moveTo>
                    <a:pt x="0" y="13"/>
                  </a:moveTo>
                  <a:lnTo>
                    <a:pt x="25" y="13"/>
                  </a:lnTo>
                  <a:lnTo>
                    <a:pt x="25" y="19"/>
                  </a:lnTo>
                  <a:lnTo>
                    <a:pt x="0" y="1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90" name="Freeform 370"/>
            <p:cNvSpPr>
              <a:spLocks noEditPoints="1"/>
            </p:cNvSpPr>
            <p:nvPr/>
          </p:nvSpPr>
          <p:spPr bwMode="auto">
            <a:xfrm>
              <a:off x="2101" y="1913"/>
              <a:ext cx="25" cy="17"/>
            </a:xfrm>
            <a:custGeom>
              <a:avLst/>
              <a:gdLst>
                <a:gd name="T0" fmla="*/ 0 w 25"/>
                <a:gd name="T1" fmla="*/ 0 h 17"/>
                <a:gd name="T2" fmla="*/ 25 w 25"/>
                <a:gd name="T3" fmla="*/ 0 h 17"/>
                <a:gd name="T4" fmla="*/ 25 w 25"/>
                <a:gd name="T5" fmla="*/ 5 h 17"/>
                <a:gd name="T6" fmla="*/ 0 w 25"/>
                <a:gd name="T7" fmla="*/ 5 h 17"/>
                <a:gd name="T8" fmla="*/ 0 w 25"/>
                <a:gd name="T9" fmla="*/ 0 h 17"/>
                <a:gd name="T10" fmla="*/ 0 w 25"/>
                <a:gd name="T11" fmla="*/ 0 h 17"/>
                <a:gd name="T12" fmla="*/ 0 w 25"/>
                <a:gd name="T13" fmla="*/ 13 h 17"/>
                <a:gd name="T14" fmla="*/ 25 w 25"/>
                <a:gd name="T15" fmla="*/ 13 h 17"/>
                <a:gd name="T16" fmla="*/ 25 w 25"/>
                <a:gd name="T17" fmla="*/ 17 h 17"/>
                <a:gd name="T18" fmla="*/ 0 w 25"/>
                <a:gd name="T19" fmla="*/ 17 h 17"/>
                <a:gd name="T20" fmla="*/ 0 w 25"/>
                <a:gd name="T21" fmla="*/ 13 h 17"/>
                <a:gd name="T22" fmla="*/ 0 w 25"/>
                <a:gd name="T23" fmla="*/ 13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"/>
                <a:gd name="T37" fmla="*/ 0 h 17"/>
                <a:gd name="T38" fmla="*/ 25 w 25"/>
                <a:gd name="T39" fmla="*/ 17 h 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" h="17">
                  <a:moveTo>
                    <a:pt x="0" y="0"/>
                  </a:moveTo>
                  <a:lnTo>
                    <a:pt x="25" y="0"/>
                  </a:lnTo>
                  <a:lnTo>
                    <a:pt x="2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13"/>
                  </a:moveTo>
                  <a:lnTo>
                    <a:pt x="25" y="13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91" name="Freeform 371"/>
            <p:cNvSpPr>
              <a:spLocks noEditPoints="1"/>
            </p:cNvSpPr>
            <p:nvPr/>
          </p:nvSpPr>
          <p:spPr bwMode="auto">
            <a:xfrm>
              <a:off x="2101" y="1832"/>
              <a:ext cx="25" cy="17"/>
            </a:xfrm>
            <a:custGeom>
              <a:avLst/>
              <a:gdLst>
                <a:gd name="T0" fmla="*/ 0 w 25"/>
                <a:gd name="T1" fmla="*/ 0 h 17"/>
                <a:gd name="T2" fmla="*/ 25 w 25"/>
                <a:gd name="T3" fmla="*/ 0 h 17"/>
                <a:gd name="T4" fmla="*/ 25 w 25"/>
                <a:gd name="T5" fmla="*/ 5 h 17"/>
                <a:gd name="T6" fmla="*/ 0 w 25"/>
                <a:gd name="T7" fmla="*/ 5 h 17"/>
                <a:gd name="T8" fmla="*/ 0 w 25"/>
                <a:gd name="T9" fmla="*/ 0 h 17"/>
                <a:gd name="T10" fmla="*/ 0 w 25"/>
                <a:gd name="T11" fmla="*/ 0 h 17"/>
                <a:gd name="T12" fmla="*/ 0 w 25"/>
                <a:gd name="T13" fmla="*/ 14 h 17"/>
                <a:gd name="T14" fmla="*/ 25 w 25"/>
                <a:gd name="T15" fmla="*/ 14 h 17"/>
                <a:gd name="T16" fmla="*/ 25 w 25"/>
                <a:gd name="T17" fmla="*/ 17 h 17"/>
                <a:gd name="T18" fmla="*/ 0 w 25"/>
                <a:gd name="T19" fmla="*/ 17 h 17"/>
                <a:gd name="T20" fmla="*/ 0 w 25"/>
                <a:gd name="T21" fmla="*/ 14 h 17"/>
                <a:gd name="T22" fmla="*/ 0 w 25"/>
                <a:gd name="T23" fmla="*/ 14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"/>
                <a:gd name="T37" fmla="*/ 0 h 17"/>
                <a:gd name="T38" fmla="*/ 25 w 25"/>
                <a:gd name="T39" fmla="*/ 17 h 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" h="17">
                  <a:moveTo>
                    <a:pt x="0" y="0"/>
                  </a:moveTo>
                  <a:lnTo>
                    <a:pt x="25" y="0"/>
                  </a:lnTo>
                  <a:lnTo>
                    <a:pt x="2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14"/>
                  </a:moveTo>
                  <a:lnTo>
                    <a:pt x="25" y="14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92" name="Freeform 372"/>
            <p:cNvSpPr>
              <a:spLocks noEditPoints="1"/>
            </p:cNvSpPr>
            <p:nvPr/>
          </p:nvSpPr>
          <p:spPr bwMode="auto">
            <a:xfrm>
              <a:off x="2101" y="1752"/>
              <a:ext cx="25" cy="19"/>
            </a:xfrm>
            <a:custGeom>
              <a:avLst/>
              <a:gdLst>
                <a:gd name="T0" fmla="*/ 0 w 25"/>
                <a:gd name="T1" fmla="*/ 0 h 19"/>
                <a:gd name="T2" fmla="*/ 25 w 25"/>
                <a:gd name="T3" fmla="*/ 2 h 19"/>
                <a:gd name="T4" fmla="*/ 25 w 25"/>
                <a:gd name="T5" fmla="*/ 5 h 19"/>
                <a:gd name="T6" fmla="*/ 0 w 25"/>
                <a:gd name="T7" fmla="*/ 5 h 19"/>
                <a:gd name="T8" fmla="*/ 0 w 25"/>
                <a:gd name="T9" fmla="*/ 2 h 19"/>
                <a:gd name="T10" fmla="*/ 0 w 25"/>
                <a:gd name="T11" fmla="*/ 2 h 19"/>
                <a:gd name="T12" fmla="*/ 0 w 25"/>
                <a:gd name="T13" fmla="*/ 0 h 19"/>
                <a:gd name="T14" fmla="*/ 0 w 25"/>
                <a:gd name="T15" fmla="*/ 14 h 19"/>
                <a:gd name="T16" fmla="*/ 25 w 25"/>
                <a:gd name="T17" fmla="*/ 14 h 19"/>
                <a:gd name="T18" fmla="*/ 25 w 25"/>
                <a:gd name="T19" fmla="*/ 19 h 19"/>
                <a:gd name="T20" fmla="*/ 0 w 25"/>
                <a:gd name="T21" fmla="*/ 19 h 19"/>
                <a:gd name="T22" fmla="*/ 0 w 25"/>
                <a:gd name="T23" fmla="*/ 14 h 19"/>
                <a:gd name="T24" fmla="*/ 0 w 25"/>
                <a:gd name="T25" fmla="*/ 14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5"/>
                <a:gd name="T40" fmla="*/ 0 h 19"/>
                <a:gd name="T41" fmla="*/ 25 w 25"/>
                <a:gd name="T42" fmla="*/ 19 h 1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5" h="19">
                  <a:moveTo>
                    <a:pt x="0" y="0"/>
                  </a:moveTo>
                  <a:lnTo>
                    <a:pt x="25" y="2"/>
                  </a:lnTo>
                  <a:lnTo>
                    <a:pt x="25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close/>
                  <a:moveTo>
                    <a:pt x="0" y="14"/>
                  </a:moveTo>
                  <a:lnTo>
                    <a:pt x="25" y="14"/>
                  </a:lnTo>
                  <a:lnTo>
                    <a:pt x="25" y="19"/>
                  </a:lnTo>
                  <a:lnTo>
                    <a:pt x="0" y="19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93" name="Freeform 373"/>
            <p:cNvSpPr>
              <a:spLocks noEditPoints="1"/>
            </p:cNvSpPr>
            <p:nvPr/>
          </p:nvSpPr>
          <p:spPr bwMode="auto">
            <a:xfrm>
              <a:off x="2101" y="1677"/>
              <a:ext cx="25" cy="17"/>
            </a:xfrm>
            <a:custGeom>
              <a:avLst/>
              <a:gdLst>
                <a:gd name="T0" fmla="*/ 0 w 25"/>
                <a:gd name="T1" fmla="*/ 0 h 17"/>
                <a:gd name="T2" fmla="*/ 25 w 25"/>
                <a:gd name="T3" fmla="*/ 0 h 17"/>
                <a:gd name="T4" fmla="*/ 25 w 25"/>
                <a:gd name="T5" fmla="*/ 5 h 17"/>
                <a:gd name="T6" fmla="*/ 0 w 25"/>
                <a:gd name="T7" fmla="*/ 5 h 17"/>
                <a:gd name="T8" fmla="*/ 0 w 25"/>
                <a:gd name="T9" fmla="*/ 0 h 17"/>
                <a:gd name="T10" fmla="*/ 0 w 25"/>
                <a:gd name="T11" fmla="*/ 0 h 17"/>
                <a:gd name="T12" fmla="*/ 0 w 25"/>
                <a:gd name="T13" fmla="*/ 12 h 17"/>
                <a:gd name="T14" fmla="*/ 25 w 25"/>
                <a:gd name="T15" fmla="*/ 12 h 17"/>
                <a:gd name="T16" fmla="*/ 25 w 25"/>
                <a:gd name="T17" fmla="*/ 17 h 17"/>
                <a:gd name="T18" fmla="*/ 0 w 25"/>
                <a:gd name="T19" fmla="*/ 17 h 17"/>
                <a:gd name="T20" fmla="*/ 0 w 25"/>
                <a:gd name="T21" fmla="*/ 12 h 17"/>
                <a:gd name="T22" fmla="*/ 0 w 25"/>
                <a:gd name="T23" fmla="*/ 12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"/>
                <a:gd name="T37" fmla="*/ 0 h 17"/>
                <a:gd name="T38" fmla="*/ 25 w 25"/>
                <a:gd name="T39" fmla="*/ 17 h 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" h="17">
                  <a:moveTo>
                    <a:pt x="0" y="0"/>
                  </a:moveTo>
                  <a:lnTo>
                    <a:pt x="25" y="0"/>
                  </a:lnTo>
                  <a:lnTo>
                    <a:pt x="2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12"/>
                  </a:moveTo>
                  <a:lnTo>
                    <a:pt x="25" y="12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4994" name="Freeform 374"/>
            <p:cNvSpPr>
              <a:spLocks noEditPoints="1"/>
            </p:cNvSpPr>
            <p:nvPr/>
          </p:nvSpPr>
          <p:spPr bwMode="auto">
            <a:xfrm>
              <a:off x="2101" y="1600"/>
              <a:ext cx="25" cy="17"/>
            </a:xfrm>
            <a:custGeom>
              <a:avLst/>
              <a:gdLst>
                <a:gd name="T0" fmla="*/ 0 w 25"/>
                <a:gd name="T1" fmla="*/ 0 h 17"/>
                <a:gd name="T2" fmla="*/ 25 w 25"/>
                <a:gd name="T3" fmla="*/ 0 h 17"/>
                <a:gd name="T4" fmla="*/ 25 w 25"/>
                <a:gd name="T5" fmla="*/ 5 h 17"/>
                <a:gd name="T6" fmla="*/ 0 w 25"/>
                <a:gd name="T7" fmla="*/ 5 h 17"/>
                <a:gd name="T8" fmla="*/ 0 w 25"/>
                <a:gd name="T9" fmla="*/ 0 h 17"/>
                <a:gd name="T10" fmla="*/ 0 w 25"/>
                <a:gd name="T11" fmla="*/ 0 h 17"/>
                <a:gd name="T12" fmla="*/ 0 w 25"/>
                <a:gd name="T13" fmla="*/ 13 h 17"/>
                <a:gd name="T14" fmla="*/ 25 w 25"/>
                <a:gd name="T15" fmla="*/ 13 h 17"/>
                <a:gd name="T16" fmla="*/ 25 w 25"/>
                <a:gd name="T17" fmla="*/ 17 h 17"/>
                <a:gd name="T18" fmla="*/ 0 w 25"/>
                <a:gd name="T19" fmla="*/ 17 h 17"/>
                <a:gd name="T20" fmla="*/ 0 w 25"/>
                <a:gd name="T21" fmla="*/ 13 h 17"/>
                <a:gd name="T22" fmla="*/ 0 w 25"/>
                <a:gd name="T23" fmla="*/ 13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5"/>
                <a:gd name="T37" fmla="*/ 0 h 17"/>
                <a:gd name="T38" fmla="*/ 25 w 25"/>
                <a:gd name="T39" fmla="*/ 17 h 1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5" h="17">
                  <a:moveTo>
                    <a:pt x="0" y="0"/>
                  </a:moveTo>
                  <a:lnTo>
                    <a:pt x="25" y="0"/>
                  </a:lnTo>
                  <a:lnTo>
                    <a:pt x="25" y="5"/>
                  </a:lnTo>
                  <a:lnTo>
                    <a:pt x="0" y="5"/>
                  </a:lnTo>
                  <a:lnTo>
                    <a:pt x="0" y="0"/>
                  </a:lnTo>
                  <a:close/>
                  <a:moveTo>
                    <a:pt x="0" y="13"/>
                  </a:moveTo>
                  <a:lnTo>
                    <a:pt x="25" y="13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4819" name="Text Box 375"/>
          <p:cNvSpPr txBox="1">
            <a:spLocks noChangeArrowheads="1"/>
          </p:cNvSpPr>
          <p:nvPr/>
        </p:nvSpPr>
        <p:spPr bwMode="auto">
          <a:xfrm>
            <a:off x="457200" y="2274818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1. ITLB lookup</a:t>
            </a:r>
          </a:p>
        </p:txBody>
      </p:sp>
      <p:sp>
        <p:nvSpPr>
          <p:cNvPr id="34820" name="Text Box 376"/>
          <p:cNvSpPr txBox="1">
            <a:spLocks noChangeArrowheads="1"/>
          </p:cNvSpPr>
          <p:nvPr/>
        </p:nvSpPr>
        <p:spPr bwMode="auto">
          <a:xfrm>
            <a:off x="457200" y="4433442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3. access I$</a:t>
            </a:r>
          </a:p>
        </p:txBody>
      </p:sp>
      <p:sp>
        <p:nvSpPr>
          <p:cNvPr id="34821" name="Text Box 377"/>
          <p:cNvSpPr txBox="1">
            <a:spLocks noChangeArrowheads="1"/>
          </p:cNvSpPr>
          <p:nvPr/>
        </p:nvSpPr>
        <p:spPr bwMode="auto">
          <a:xfrm>
            <a:off x="457200" y="3570218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2. translate VA to PA</a:t>
            </a:r>
          </a:p>
        </p:txBody>
      </p:sp>
      <p:sp>
        <p:nvSpPr>
          <p:cNvPr id="34822" name="Text Box 378"/>
          <p:cNvSpPr txBox="1">
            <a:spLocks noChangeArrowheads="1"/>
          </p:cNvSpPr>
          <p:nvPr/>
        </p:nvSpPr>
        <p:spPr bwMode="auto">
          <a:xfrm>
            <a:off x="482606" y="5264636"/>
            <a:ext cx="21146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en-US" b="1" dirty="0"/>
              <a:t>Q: how many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b="1"/>
              <a:t>cycles?</a:t>
            </a: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0"/>
            <a:ext cx="7543800" cy="11430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</a:pPr>
            <a:r>
              <a:rPr lang="en-US" altLang="en-US" sz="3600" b="1" dirty="0">
                <a:latin typeface="Arial  " charset="0"/>
              </a:rPr>
              <a:t>When to do address translation?</a:t>
            </a:r>
            <a:endParaRPr lang="en-US" altLang="en-US" b="1" dirty="0">
              <a:latin typeface="Arial  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67817" y="1384300"/>
            <a:ext cx="1322921" cy="4822840"/>
            <a:chOff x="767817" y="1384300"/>
            <a:chExt cx="1322921" cy="4822840"/>
          </a:xfrm>
        </p:grpSpPr>
        <p:sp>
          <p:nvSpPr>
            <p:cNvPr id="36866" name="Rectangle 3"/>
            <p:cNvSpPr>
              <a:spLocks noChangeArrowheads="1"/>
            </p:cNvSpPr>
            <p:nvPr/>
          </p:nvSpPr>
          <p:spPr bwMode="auto">
            <a:xfrm>
              <a:off x="1009650" y="13843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CPU</a:t>
              </a:r>
            </a:p>
          </p:txBody>
        </p:sp>
        <p:sp>
          <p:nvSpPr>
            <p:cNvPr id="36867" name="Rectangle 4"/>
            <p:cNvSpPr>
              <a:spLocks noChangeArrowheads="1"/>
            </p:cNvSpPr>
            <p:nvPr/>
          </p:nvSpPr>
          <p:spPr bwMode="auto">
            <a:xfrm>
              <a:off x="1009650" y="24511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/>
                <a:t>TLB</a:t>
              </a:r>
            </a:p>
          </p:txBody>
        </p:sp>
        <p:sp>
          <p:nvSpPr>
            <p:cNvPr id="36868" name="Rectangle 5"/>
            <p:cNvSpPr>
              <a:spLocks noChangeArrowheads="1"/>
            </p:cNvSpPr>
            <p:nvPr/>
          </p:nvSpPr>
          <p:spPr bwMode="auto">
            <a:xfrm>
              <a:off x="1009650" y="34798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$</a:t>
              </a:r>
            </a:p>
          </p:txBody>
        </p:sp>
        <p:sp>
          <p:nvSpPr>
            <p:cNvPr id="36869" name="Rectangle 6"/>
            <p:cNvSpPr>
              <a:spLocks noChangeArrowheads="1"/>
            </p:cNvSpPr>
            <p:nvPr/>
          </p:nvSpPr>
          <p:spPr bwMode="auto">
            <a:xfrm>
              <a:off x="1009650" y="45466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MEM</a:t>
              </a:r>
            </a:p>
          </p:txBody>
        </p:sp>
        <p:sp>
          <p:nvSpPr>
            <p:cNvPr id="36870" name="Line 7"/>
            <p:cNvSpPr>
              <a:spLocks noChangeShapeType="1"/>
            </p:cNvSpPr>
            <p:nvPr/>
          </p:nvSpPr>
          <p:spPr bwMode="auto">
            <a:xfrm>
              <a:off x="1416050" y="197485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71" name="Line 8"/>
            <p:cNvSpPr>
              <a:spLocks noChangeShapeType="1"/>
            </p:cNvSpPr>
            <p:nvPr/>
          </p:nvSpPr>
          <p:spPr bwMode="auto">
            <a:xfrm>
              <a:off x="1416050" y="302260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72" name="Line 9"/>
            <p:cNvSpPr>
              <a:spLocks noChangeShapeType="1"/>
            </p:cNvSpPr>
            <p:nvPr/>
          </p:nvSpPr>
          <p:spPr bwMode="auto">
            <a:xfrm>
              <a:off x="1416050" y="407035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73" name="Rectangle 10"/>
            <p:cNvSpPr>
              <a:spLocks noChangeArrowheads="1"/>
            </p:cNvSpPr>
            <p:nvPr/>
          </p:nvSpPr>
          <p:spPr bwMode="auto">
            <a:xfrm>
              <a:off x="1585913" y="204787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VA</a:t>
              </a:r>
            </a:p>
          </p:txBody>
        </p:sp>
        <p:sp>
          <p:nvSpPr>
            <p:cNvPr id="36874" name="Rectangle 11"/>
            <p:cNvSpPr>
              <a:spLocks noChangeArrowheads="1"/>
            </p:cNvSpPr>
            <p:nvPr/>
          </p:nvSpPr>
          <p:spPr bwMode="auto">
            <a:xfrm>
              <a:off x="1585913" y="303847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PA</a:t>
              </a:r>
            </a:p>
          </p:txBody>
        </p:sp>
        <p:sp>
          <p:nvSpPr>
            <p:cNvPr id="36875" name="Rectangle 12"/>
            <p:cNvSpPr>
              <a:spLocks noChangeArrowheads="1"/>
            </p:cNvSpPr>
            <p:nvPr/>
          </p:nvSpPr>
          <p:spPr bwMode="auto">
            <a:xfrm>
              <a:off x="1604963" y="408622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PA</a:t>
              </a:r>
            </a:p>
          </p:txBody>
        </p:sp>
        <p:sp>
          <p:nvSpPr>
            <p:cNvPr id="36876" name="Rectangle 13"/>
            <p:cNvSpPr>
              <a:spLocks noChangeArrowheads="1"/>
            </p:cNvSpPr>
            <p:nvPr/>
          </p:nvSpPr>
          <p:spPr bwMode="auto">
            <a:xfrm>
              <a:off x="767817" y="5286375"/>
              <a:ext cx="1259961" cy="920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physically</a:t>
              </a:r>
            </a:p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addressed</a:t>
              </a:r>
            </a:p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cache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062136" y="1384300"/>
            <a:ext cx="2810402" cy="4129939"/>
            <a:chOff x="6062136" y="1384300"/>
            <a:chExt cx="2810402" cy="4129939"/>
          </a:xfrm>
        </p:grpSpPr>
        <p:sp>
          <p:nvSpPr>
            <p:cNvPr id="36888" name="Rectangle 25"/>
            <p:cNvSpPr>
              <a:spLocks noChangeArrowheads="1"/>
            </p:cNvSpPr>
            <p:nvPr/>
          </p:nvSpPr>
          <p:spPr bwMode="auto">
            <a:xfrm>
              <a:off x="6724650" y="13843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CPU</a:t>
              </a:r>
            </a:p>
          </p:txBody>
        </p:sp>
        <p:sp>
          <p:nvSpPr>
            <p:cNvPr id="36889" name="Rectangle 26"/>
            <p:cNvSpPr>
              <a:spLocks noChangeArrowheads="1"/>
            </p:cNvSpPr>
            <p:nvPr/>
          </p:nvSpPr>
          <p:spPr bwMode="auto">
            <a:xfrm>
              <a:off x="6724650" y="24511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$</a:t>
              </a:r>
            </a:p>
          </p:txBody>
        </p:sp>
        <p:sp>
          <p:nvSpPr>
            <p:cNvPr id="36890" name="Rectangle 27"/>
            <p:cNvSpPr>
              <a:spLocks noChangeArrowheads="1"/>
            </p:cNvSpPr>
            <p:nvPr/>
          </p:nvSpPr>
          <p:spPr bwMode="auto">
            <a:xfrm>
              <a:off x="7905750" y="24511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/>
                <a:t>TLB</a:t>
              </a:r>
            </a:p>
          </p:txBody>
        </p:sp>
        <p:sp>
          <p:nvSpPr>
            <p:cNvPr id="36891" name="Rectangle 28"/>
            <p:cNvSpPr>
              <a:spLocks noChangeArrowheads="1"/>
            </p:cNvSpPr>
            <p:nvPr/>
          </p:nvSpPr>
          <p:spPr bwMode="auto">
            <a:xfrm>
              <a:off x="7334250" y="397510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MEM</a:t>
              </a:r>
            </a:p>
          </p:txBody>
        </p:sp>
        <p:sp>
          <p:nvSpPr>
            <p:cNvPr id="36892" name="Line 29"/>
            <p:cNvSpPr>
              <a:spLocks noChangeShapeType="1"/>
            </p:cNvSpPr>
            <p:nvPr/>
          </p:nvSpPr>
          <p:spPr bwMode="auto">
            <a:xfrm>
              <a:off x="7131050" y="197485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93" name="Line 30"/>
            <p:cNvSpPr>
              <a:spLocks noChangeShapeType="1"/>
            </p:cNvSpPr>
            <p:nvPr/>
          </p:nvSpPr>
          <p:spPr bwMode="auto">
            <a:xfrm>
              <a:off x="7131050" y="302260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94" name="Line 31"/>
            <p:cNvSpPr>
              <a:spLocks noChangeShapeType="1"/>
            </p:cNvSpPr>
            <p:nvPr/>
          </p:nvSpPr>
          <p:spPr bwMode="auto">
            <a:xfrm>
              <a:off x="7740650" y="349885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95" name="Rectangle 32"/>
            <p:cNvSpPr>
              <a:spLocks noChangeArrowheads="1"/>
            </p:cNvSpPr>
            <p:nvPr/>
          </p:nvSpPr>
          <p:spPr bwMode="auto">
            <a:xfrm>
              <a:off x="6500813" y="200977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VA</a:t>
              </a:r>
            </a:p>
          </p:txBody>
        </p:sp>
        <p:sp>
          <p:nvSpPr>
            <p:cNvPr id="36896" name="Rectangle 33"/>
            <p:cNvSpPr>
              <a:spLocks noChangeArrowheads="1"/>
            </p:cNvSpPr>
            <p:nvPr/>
          </p:nvSpPr>
          <p:spPr bwMode="auto">
            <a:xfrm>
              <a:off x="6062136" y="2428875"/>
              <a:ext cx="618760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/>
                <a:t>PA</a:t>
              </a:r>
            </a:p>
            <a:p>
              <a:pPr algn="ctr"/>
              <a:r>
                <a:rPr lang="en-US" altLang="en-US" sz="1800" dirty="0"/>
                <a:t>tags</a:t>
              </a:r>
            </a:p>
          </p:txBody>
        </p:sp>
        <p:sp>
          <p:nvSpPr>
            <p:cNvPr id="36897" name="Rectangle 34"/>
            <p:cNvSpPr>
              <a:spLocks noChangeArrowheads="1"/>
            </p:cNvSpPr>
            <p:nvPr/>
          </p:nvSpPr>
          <p:spPr bwMode="auto">
            <a:xfrm>
              <a:off x="8386763" y="303847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PA</a:t>
              </a:r>
            </a:p>
          </p:txBody>
        </p:sp>
        <p:sp>
          <p:nvSpPr>
            <p:cNvPr id="36898" name="Line 35"/>
            <p:cNvSpPr>
              <a:spLocks noChangeShapeType="1"/>
            </p:cNvSpPr>
            <p:nvPr/>
          </p:nvSpPr>
          <p:spPr bwMode="auto">
            <a:xfrm>
              <a:off x="8331200" y="2051050"/>
              <a:ext cx="19050" cy="3746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99" name="Line 36"/>
            <p:cNvSpPr>
              <a:spLocks noChangeShapeType="1"/>
            </p:cNvSpPr>
            <p:nvPr/>
          </p:nvSpPr>
          <p:spPr bwMode="auto">
            <a:xfrm flipH="1">
              <a:off x="7118350" y="2057400"/>
              <a:ext cx="1244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00" name="Line 37"/>
            <p:cNvSpPr>
              <a:spLocks noChangeShapeType="1"/>
            </p:cNvSpPr>
            <p:nvPr/>
          </p:nvSpPr>
          <p:spPr bwMode="auto">
            <a:xfrm>
              <a:off x="8331200" y="306070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01" name="Line 38"/>
            <p:cNvSpPr>
              <a:spLocks noChangeShapeType="1"/>
            </p:cNvSpPr>
            <p:nvPr/>
          </p:nvSpPr>
          <p:spPr bwMode="auto">
            <a:xfrm>
              <a:off x="7143750" y="3486150"/>
              <a:ext cx="1193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902" name="Rectangle 39"/>
            <p:cNvSpPr>
              <a:spLocks noChangeArrowheads="1"/>
            </p:cNvSpPr>
            <p:nvPr/>
          </p:nvSpPr>
          <p:spPr bwMode="auto">
            <a:xfrm>
              <a:off x="6441754" y="4870473"/>
              <a:ext cx="2127891" cy="6437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overlap $ access</a:t>
              </a:r>
            </a:p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with VA translation</a:t>
              </a:r>
            </a:p>
          </p:txBody>
        </p:sp>
        <p:sp>
          <p:nvSpPr>
            <p:cNvPr id="36904" name="Rectangle 41"/>
            <p:cNvSpPr>
              <a:spLocks noChangeArrowheads="1"/>
            </p:cNvSpPr>
            <p:nvPr/>
          </p:nvSpPr>
          <p:spPr bwMode="auto">
            <a:xfrm>
              <a:off x="7505700" y="3346450"/>
              <a:ext cx="565150" cy="2984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L2 $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177342" y="1365250"/>
            <a:ext cx="1770896" cy="4841890"/>
            <a:chOff x="3177342" y="1365250"/>
            <a:chExt cx="1770896" cy="4841890"/>
          </a:xfrm>
        </p:grpSpPr>
        <p:sp>
          <p:nvSpPr>
            <p:cNvPr id="36877" name="Rectangle 14"/>
            <p:cNvSpPr>
              <a:spLocks noChangeArrowheads="1"/>
            </p:cNvSpPr>
            <p:nvPr/>
          </p:nvSpPr>
          <p:spPr bwMode="auto">
            <a:xfrm>
              <a:off x="3867150" y="136525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CPU</a:t>
              </a:r>
            </a:p>
          </p:txBody>
        </p:sp>
        <p:sp>
          <p:nvSpPr>
            <p:cNvPr id="36878" name="Rectangle 15"/>
            <p:cNvSpPr>
              <a:spLocks noChangeArrowheads="1"/>
            </p:cNvSpPr>
            <p:nvPr/>
          </p:nvSpPr>
          <p:spPr bwMode="auto">
            <a:xfrm>
              <a:off x="3867150" y="243205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$</a:t>
              </a:r>
            </a:p>
          </p:txBody>
        </p:sp>
        <p:sp>
          <p:nvSpPr>
            <p:cNvPr id="36879" name="Rectangle 16"/>
            <p:cNvSpPr>
              <a:spLocks noChangeArrowheads="1"/>
            </p:cNvSpPr>
            <p:nvPr/>
          </p:nvSpPr>
          <p:spPr bwMode="auto">
            <a:xfrm>
              <a:off x="3867150" y="346075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/>
                <a:t>TLB</a:t>
              </a:r>
            </a:p>
          </p:txBody>
        </p:sp>
        <p:sp>
          <p:nvSpPr>
            <p:cNvPr id="36880" name="Rectangle 17"/>
            <p:cNvSpPr>
              <a:spLocks noChangeArrowheads="1"/>
            </p:cNvSpPr>
            <p:nvPr/>
          </p:nvSpPr>
          <p:spPr bwMode="auto">
            <a:xfrm>
              <a:off x="3867150" y="4527550"/>
              <a:ext cx="850900" cy="5461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/>
                <a:t>MEM</a:t>
              </a:r>
            </a:p>
          </p:txBody>
        </p:sp>
        <p:sp>
          <p:nvSpPr>
            <p:cNvPr id="36881" name="Line 18"/>
            <p:cNvSpPr>
              <a:spLocks noChangeShapeType="1"/>
            </p:cNvSpPr>
            <p:nvPr/>
          </p:nvSpPr>
          <p:spPr bwMode="auto">
            <a:xfrm>
              <a:off x="4273550" y="195580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82" name="Line 19"/>
            <p:cNvSpPr>
              <a:spLocks noChangeShapeType="1"/>
            </p:cNvSpPr>
            <p:nvPr/>
          </p:nvSpPr>
          <p:spPr bwMode="auto">
            <a:xfrm>
              <a:off x="4273550" y="300355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83" name="Line 20"/>
            <p:cNvSpPr>
              <a:spLocks noChangeShapeType="1"/>
            </p:cNvSpPr>
            <p:nvPr/>
          </p:nvSpPr>
          <p:spPr bwMode="auto">
            <a:xfrm>
              <a:off x="4273550" y="4051300"/>
              <a:ext cx="0" cy="4508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6884" name="Rectangle 21"/>
            <p:cNvSpPr>
              <a:spLocks noChangeArrowheads="1"/>
            </p:cNvSpPr>
            <p:nvPr/>
          </p:nvSpPr>
          <p:spPr bwMode="auto">
            <a:xfrm>
              <a:off x="4443413" y="202882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VA</a:t>
              </a:r>
            </a:p>
          </p:txBody>
        </p:sp>
        <p:sp>
          <p:nvSpPr>
            <p:cNvPr id="36885" name="Rectangle 22"/>
            <p:cNvSpPr>
              <a:spLocks noChangeArrowheads="1"/>
            </p:cNvSpPr>
            <p:nvPr/>
          </p:nvSpPr>
          <p:spPr bwMode="auto">
            <a:xfrm>
              <a:off x="4443413" y="301942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VA</a:t>
              </a:r>
            </a:p>
          </p:txBody>
        </p:sp>
        <p:sp>
          <p:nvSpPr>
            <p:cNvPr id="36886" name="Rectangle 23"/>
            <p:cNvSpPr>
              <a:spLocks noChangeArrowheads="1"/>
            </p:cNvSpPr>
            <p:nvPr/>
          </p:nvSpPr>
          <p:spPr bwMode="auto">
            <a:xfrm>
              <a:off x="4462463" y="4067175"/>
              <a:ext cx="485775" cy="363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r>
                <a:rPr lang="en-US" altLang="en-US" sz="1800"/>
                <a:t>PA</a:t>
              </a:r>
            </a:p>
          </p:txBody>
        </p:sp>
        <p:sp>
          <p:nvSpPr>
            <p:cNvPr id="36903" name="Rectangle 40"/>
            <p:cNvSpPr>
              <a:spLocks noChangeArrowheads="1"/>
            </p:cNvSpPr>
            <p:nvPr/>
          </p:nvSpPr>
          <p:spPr bwMode="auto">
            <a:xfrm>
              <a:off x="3177342" y="2371725"/>
              <a:ext cx="618760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/>
                <a:t>VA</a:t>
              </a:r>
            </a:p>
            <a:p>
              <a:pPr algn="ctr"/>
              <a:r>
                <a:rPr lang="en-US" altLang="en-US" sz="1800" dirty="0"/>
                <a:t>tags</a:t>
              </a:r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3542729" y="5286375"/>
              <a:ext cx="1259961" cy="920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virtually</a:t>
              </a:r>
            </a:p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addressed</a:t>
              </a:r>
            </a:p>
            <a:p>
              <a:pPr algn="ctr"/>
              <a:r>
                <a:rPr lang="en-US" altLang="en-US" sz="1800" dirty="0">
                  <a:ea typeface="Arial" charset="0"/>
                  <a:cs typeface="Arial" charset="0"/>
                </a:rPr>
                <a:t>cache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US" b="1" dirty="0">
                <a:latin typeface="Arial  " charset="0"/>
              </a:rPr>
              <a:t>Virtually addressed L1 caches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235121"/>
            <a:ext cx="7772400" cy="675564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      ...what must happen on a context switch?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427895" y="2159002"/>
            <a:ext cx="5668015" cy="4597400"/>
            <a:chOff x="1960158" y="2145354"/>
            <a:chExt cx="5668015" cy="4597400"/>
          </a:xfrm>
        </p:grpSpPr>
        <p:grpSp>
          <p:nvGrpSpPr>
            <p:cNvPr id="5" name="Group 4"/>
            <p:cNvGrpSpPr/>
            <p:nvPr/>
          </p:nvGrpSpPr>
          <p:grpSpPr>
            <a:xfrm>
              <a:off x="1960158" y="2145354"/>
              <a:ext cx="5572125" cy="4597400"/>
              <a:chOff x="472550" y="2145354"/>
              <a:chExt cx="5572125" cy="4597400"/>
            </a:xfrm>
          </p:grpSpPr>
          <p:pic>
            <p:nvPicPr>
              <p:cNvPr id="43011" name="Picture 4" descr="AppC-fig1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550" y="2145354"/>
                <a:ext cx="5572125" cy="459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" name="Rectangle 3"/>
              <p:cNvSpPr/>
              <p:nvPr/>
            </p:nvSpPr>
            <p:spPr bwMode="auto">
              <a:xfrm>
                <a:off x="3398293" y="2987915"/>
                <a:ext cx="1296537" cy="80521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CA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-106" charset="-52"/>
                  <a:ea typeface="ＭＳ Ｐゴシック" pitchFamily="-106" charset="-128"/>
                  <a:cs typeface="ＭＳ Ｐゴシック" pitchFamily="-106" charset="-128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694830" y="2889726"/>
              <a:ext cx="2933343" cy="646331"/>
              <a:chOff x="5548922" y="3267122"/>
              <a:chExt cx="2933343" cy="646331"/>
            </a:xfrm>
          </p:grpSpPr>
          <p:sp>
            <p:nvSpPr>
              <p:cNvPr id="6" name="Rectangle 5"/>
              <p:cNvSpPr/>
              <p:nvPr/>
            </p:nvSpPr>
            <p:spPr bwMode="auto">
              <a:xfrm>
                <a:off x="5548922" y="3404172"/>
                <a:ext cx="387260" cy="395785"/>
              </a:xfrm>
              <a:prstGeom prst="rect">
                <a:avLst/>
              </a:prstGeom>
              <a:solidFill>
                <a:srgbClr val="BEBFC3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CA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-106" charset="-52"/>
                  <a:ea typeface="ＭＳ Ｐゴシック" pitchFamily="-106" charset="-128"/>
                  <a:cs typeface="ＭＳ Ｐゴシック" pitchFamily="-106" charset="-128"/>
                </a:endParaRPr>
              </a:p>
            </p:txBody>
          </p:sp>
          <p:sp>
            <p:nvSpPr>
              <p:cNvPr id="3" name="TextBox 2"/>
              <p:cNvSpPr txBox="1"/>
              <p:nvPr/>
            </p:nvSpPr>
            <p:spPr>
              <a:xfrm>
                <a:off x="6044675" y="3267122"/>
                <a:ext cx="24375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1800" dirty="0"/>
                  <a:t>misses because of</a:t>
                </a:r>
                <a:br>
                  <a:rPr lang="en-CA" sz="1800" dirty="0"/>
                </a:br>
                <a:r>
                  <a:rPr lang="en-CA" sz="1800" dirty="0"/>
                  <a:t>flushing VA L1 caches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Virtually addressed L1 caches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okies</a:t>
            </a:r>
            <a:r>
              <a:rPr lang="en-CA" dirty="0"/>
              <a:t>, so use {ASID, VA} to address L1 D$?</a:t>
            </a:r>
          </a:p>
          <a:p>
            <a:endParaRPr lang="en-CA" dirty="0"/>
          </a:p>
          <a:p>
            <a:r>
              <a:rPr lang="en-CA" dirty="0"/>
              <a:t>what if a memory region is </a:t>
            </a:r>
            <a:r>
              <a:rPr lang="en-CA" b="1" dirty="0"/>
              <a:t>shared </a:t>
            </a:r>
            <a:r>
              <a:rPr lang="en-CA" dirty="0"/>
              <a:t>among</a:t>
            </a:r>
            <a:br>
              <a:rPr lang="en-CA" dirty="0"/>
            </a:br>
            <a:r>
              <a:rPr lang="en-CA" dirty="0"/>
              <a:t>different processes (</a:t>
            </a:r>
            <a:r>
              <a:rPr lang="en-CA" dirty="0">
                <a:sym typeface="Wingdings"/>
              </a:rPr>
              <a:t>and so diff. ASIDs)?</a:t>
            </a:r>
          </a:p>
          <a:p>
            <a:endParaRPr lang="en-CA" dirty="0">
              <a:sym typeface="Wingdings"/>
            </a:endParaRPr>
          </a:p>
          <a:p>
            <a:r>
              <a:rPr lang="en-CA" dirty="0"/>
              <a:t>problem: </a:t>
            </a:r>
            <a:r>
              <a:rPr lang="en-CA" b="1" dirty="0"/>
              <a:t>same page in D$ multiple times</a:t>
            </a:r>
          </a:p>
          <a:p>
            <a:endParaRPr lang="en-CA" dirty="0"/>
          </a:p>
          <a:p>
            <a:r>
              <a:rPr lang="en-CA" dirty="0"/>
              <a:t>what if we want to </a:t>
            </a:r>
            <a:r>
              <a:rPr lang="en-CA" b="1" dirty="0"/>
              <a:t>write </a:t>
            </a:r>
            <a:r>
              <a:rPr lang="en-CA" dirty="0"/>
              <a:t>to one of them?</a:t>
            </a:r>
          </a:p>
        </p:txBody>
      </p:sp>
    </p:spTree>
    <p:extLst>
      <p:ext uri="{BB962C8B-B14F-4D97-AF65-F5344CB8AC3E}">
        <p14:creationId xmlns:p14="http://schemas.microsoft.com/office/powerpoint/2010/main" val="209580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"/>
            <a:ext cx="9144000" cy="812800"/>
          </a:xfrm>
          <a:noFill/>
        </p:spPr>
        <p:txBody>
          <a:bodyPr/>
          <a:lstStyle/>
          <a:p>
            <a:pPr marL="25400" eaLnBrk="1" hangingPunct="1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b="1" dirty="0">
                <a:latin typeface="Arial" charset="0"/>
                <a:ea typeface="Arial" charset="0"/>
                <a:cs typeface="Arial" charset="0"/>
              </a:rPr>
              <a:t>Overlapping TLB &amp; L1 D$ </a:t>
            </a:r>
            <a:r>
              <a:rPr lang="en-US" altLang="en-US" sz="3600" b="1" dirty="0" err="1">
                <a:latin typeface="Arial" charset="0"/>
                <a:ea typeface="Arial" charset="0"/>
                <a:cs typeface="Arial" charset="0"/>
              </a:rPr>
              <a:t>accessses</a:t>
            </a:r>
            <a:endParaRPr lang="en-US" altLang="en-US" b="1" dirty="0"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81600" y="2371729"/>
            <a:ext cx="3568700" cy="261938"/>
            <a:chOff x="3241" y="1384"/>
            <a:chExt cx="2248" cy="165"/>
          </a:xfrm>
        </p:grpSpPr>
        <p:sp>
          <p:nvSpPr>
            <p:cNvPr id="37975" name="Text Box 14"/>
            <p:cNvSpPr txBox="1">
              <a:spLocks noChangeArrowheads="1"/>
            </p:cNvSpPr>
            <p:nvPr/>
          </p:nvSpPr>
          <p:spPr bwMode="auto">
            <a:xfrm>
              <a:off x="4045" y="1384"/>
              <a:ext cx="57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sz="1700" b="1">
                  <a:solidFill>
                    <a:srgbClr val="053DE8"/>
                  </a:solidFill>
                  <a:ea typeface="Arial" charset="0"/>
                  <a:cs typeface="Arial" charset="0"/>
                </a:rPr>
                <a:t>Valid</a:t>
              </a:r>
            </a:p>
          </p:txBody>
        </p:sp>
        <p:sp>
          <p:nvSpPr>
            <p:cNvPr id="37976" name="Text Box 27"/>
            <p:cNvSpPr txBox="1">
              <a:spLocks noChangeArrowheads="1"/>
            </p:cNvSpPr>
            <p:nvPr/>
          </p:nvSpPr>
          <p:spPr bwMode="auto">
            <a:xfrm>
              <a:off x="3241" y="1384"/>
              <a:ext cx="9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sz="1700" b="1">
                  <a:solidFill>
                    <a:srgbClr val="053DE8"/>
                  </a:solidFill>
                  <a:ea typeface="Arial" charset="0"/>
                  <a:cs typeface="Arial" charset="0"/>
                </a:rPr>
                <a:t>Cache Tags</a:t>
              </a:r>
            </a:p>
          </p:txBody>
        </p:sp>
        <p:sp>
          <p:nvSpPr>
            <p:cNvPr id="37977" name="Text Box 40"/>
            <p:cNvSpPr txBox="1">
              <a:spLocks noChangeArrowheads="1"/>
            </p:cNvSpPr>
            <p:nvPr/>
          </p:nvSpPr>
          <p:spPr bwMode="auto">
            <a:xfrm>
              <a:off x="4497" y="1384"/>
              <a:ext cx="9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sz="1700" b="1">
                  <a:solidFill>
                    <a:srgbClr val="053DE8"/>
                  </a:solidFill>
                  <a:ea typeface="Arial" charset="0"/>
                  <a:cs typeface="Arial" charset="0"/>
                </a:rPr>
                <a:t>Cache Data</a:t>
              </a:r>
            </a:p>
          </p:txBody>
        </p:sp>
      </p:grp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6261100" y="1866900"/>
            <a:ext cx="6350" cy="311150"/>
            <a:chOff x="3453" y="1029"/>
            <a:chExt cx="4" cy="196"/>
          </a:xfrm>
        </p:grpSpPr>
        <p:sp>
          <p:nvSpPr>
            <p:cNvPr id="37971" name="Line 54"/>
            <p:cNvSpPr>
              <a:spLocks noChangeShapeType="1"/>
            </p:cNvSpPr>
            <p:nvPr/>
          </p:nvSpPr>
          <p:spPr bwMode="auto">
            <a:xfrm>
              <a:off x="3453" y="1029"/>
              <a:ext cx="4" cy="196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72" name="Line 55"/>
            <p:cNvSpPr>
              <a:spLocks noChangeShapeType="1"/>
            </p:cNvSpPr>
            <p:nvPr/>
          </p:nvSpPr>
          <p:spPr bwMode="auto">
            <a:xfrm>
              <a:off x="3437" y="1213"/>
              <a:ext cx="1719" cy="0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778296" name="Line 56"/>
            <p:cNvSpPr>
              <a:spLocks noChangeShapeType="1"/>
            </p:cNvSpPr>
            <p:nvPr/>
          </p:nvSpPr>
          <p:spPr bwMode="auto">
            <a:xfrm>
              <a:off x="5149" y="1221"/>
              <a:ext cx="0" cy="1096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778297" name="Line 57"/>
            <p:cNvSpPr>
              <a:spLocks noChangeShapeType="1"/>
            </p:cNvSpPr>
            <p:nvPr/>
          </p:nvSpPr>
          <p:spPr bwMode="auto">
            <a:xfrm flipH="1">
              <a:off x="4973" y="2325"/>
              <a:ext cx="184" cy="0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7067550" y="1828800"/>
            <a:ext cx="1911350" cy="4818063"/>
            <a:chOff x="3895" y="1008"/>
            <a:chExt cx="1204" cy="3035"/>
          </a:xfrm>
        </p:grpSpPr>
        <p:sp>
          <p:nvSpPr>
            <p:cNvPr id="778299" name="Line 59"/>
            <p:cNvSpPr>
              <a:spLocks noChangeShapeType="1"/>
            </p:cNvSpPr>
            <p:nvPr/>
          </p:nvSpPr>
          <p:spPr bwMode="auto">
            <a:xfrm>
              <a:off x="4499" y="3640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778300" name="Line 60"/>
            <p:cNvSpPr>
              <a:spLocks noChangeShapeType="1"/>
            </p:cNvSpPr>
            <p:nvPr/>
          </p:nvSpPr>
          <p:spPr bwMode="auto">
            <a:xfrm>
              <a:off x="4843" y="1008"/>
              <a:ext cx="0" cy="5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70" name="Text Box 61"/>
            <p:cNvSpPr txBox="1">
              <a:spLocks noChangeArrowheads="1"/>
            </p:cNvSpPr>
            <p:nvPr/>
          </p:nvSpPr>
          <p:spPr bwMode="auto">
            <a:xfrm>
              <a:off x="3895" y="3830"/>
              <a:ext cx="120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en-US" sz="2200" b="1" dirty="0">
                  <a:ea typeface="Arial" charset="0"/>
                  <a:cs typeface="Arial" charset="0"/>
                </a:rPr>
                <a:t>data out</a:t>
              </a:r>
            </a:p>
          </p:txBody>
        </p:sp>
      </p:grpSp>
      <p:graphicFrame>
        <p:nvGraphicFramePr>
          <p:cNvPr id="778302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64727"/>
              </p:ext>
            </p:extLst>
          </p:nvPr>
        </p:nvGraphicFramePr>
        <p:xfrm>
          <a:off x="292100" y="863600"/>
          <a:ext cx="8483600" cy="4318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9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Virtual Page Number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9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Page Offset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01" name="Freeform 70"/>
          <p:cNvSpPr>
            <a:spLocks/>
          </p:cNvSpPr>
          <p:nvPr/>
        </p:nvSpPr>
        <p:spPr bwMode="auto">
          <a:xfrm>
            <a:off x="190500" y="1320800"/>
            <a:ext cx="5378450" cy="565150"/>
          </a:xfrm>
          <a:custGeom>
            <a:avLst/>
            <a:gdLst>
              <a:gd name="T0" fmla="*/ 0 w 10000"/>
              <a:gd name="T1" fmla="*/ 0 h 10000"/>
              <a:gd name="T2" fmla="*/ 2147483647 w 10000"/>
              <a:gd name="T3" fmla="*/ 0 h 10000"/>
              <a:gd name="T4" fmla="*/ 2147483647 w 10000"/>
              <a:gd name="T5" fmla="*/ 2147483647 h 10000"/>
              <a:gd name="T6" fmla="*/ 0 w 10000"/>
              <a:gd name="T7" fmla="*/ 2147483647 h 10000"/>
              <a:gd name="T8" fmla="*/ 0 w 10000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00"/>
              <a:gd name="T16" fmla="*/ 0 h 10000"/>
              <a:gd name="T17" fmla="*/ 10000 w 10000"/>
              <a:gd name="T18" fmla="*/ 10000 h 1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/>
          <a:p>
            <a:endParaRPr lang="en-CA">
              <a:ea typeface="Arial" charset="0"/>
              <a:cs typeface="Arial" charset="0"/>
            </a:endParaRPr>
          </a:p>
        </p:txBody>
      </p:sp>
      <p:grpSp>
        <p:nvGrpSpPr>
          <p:cNvPr id="5" name="Group 71"/>
          <p:cNvGrpSpPr>
            <a:grpSpLocks/>
          </p:cNvGrpSpPr>
          <p:nvPr/>
        </p:nvGrpSpPr>
        <p:grpSpPr bwMode="auto">
          <a:xfrm>
            <a:off x="1976438" y="1308100"/>
            <a:ext cx="2070100" cy="2149475"/>
            <a:chOff x="1089" y="721"/>
            <a:chExt cx="1304" cy="1354"/>
          </a:xfrm>
        </p:grpSpPr>
        <p:sp>
          <p:nvSpPr>
            <p:cNvPr id="37963" name="Line 72"/>
            <p:cNvSpPr>
              <a:spLocks noChangeShapeType="1"/>
            </p:cNvSpPr>
            <p:nvPr/>
          </p:nvSpPr>
          <p:spPr bwMode="auto">
            <a:xfrm>
              <a:off x="1708" y="721"/>
              <a:ext cx="0" cy="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64" name="Freeform 73"/>
            <p:cNvSpPr>
              <a:spLocks/>
            </p:cNvSpPr>
            <p:nvPr/>
          </p:nvSpPr>
          <p:spPr bwMode="auto">
            <a:xfrm>
              <a:off x="1089" y="1234"/>
              <a:ext cx="1304" cy="683"/>
            </a:xfrm>
            <a:custGeom>
              <a:avLst/>
              <a:gdLst>
                <a:gd name="T0" fmla="*/ 0 w 10000"/>
                <a:gd name="T1" fmla="*/ 0 h 10000"/>
                <a:gd name="T2" fmla="*/ 0 w 10000"/>
                <a:gd name="T3" fmla="*/ 0 h 10000"/>
                <a:gd name="T4" fmla="*/ 0 w 10000"/>
                <a:gd name="T5" fmla="*/ 0 h 10000"/>
                <a:gd name="T6" fmla="*/ 0 w 10000"/>
                <a:gd name="T7" fmla="*/ 0 h 10000"/>
                <a:gd name="T8" fmla="*/ 0 w 10000"/>
                <a:gd name="T9" fmla="*/ 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0"/>
                  </a:lnTo>
                  <a:close/>
                  <a:moveTo>
                    <a:pt x="0" y="0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65" name="Text Box 74"/>
            <p:cNvSpPr txBox="1">
              <a:spLocks noChangeArrowheads="1"/>
            </p:cNvSpPr>
            <p:nvPr/>
          </p:nvSpPr>
          <p:spPr bwMode="auto">
            <a:xfrm>
              <a:off x="1580" y="1560"/>
              <a:ext cx="346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ts val="2200"/>
                </a:lnSpc>
              </a:pPr>
              <a:r>
                <a:rPr lang="en-US" altLang="en-US" sz="2200" b="1">
                  <a:solidFill>
                    <a:srgbClr val="053DE8"/>
                  </a:solidFill>
                  <a:ea typeface="Arial" charset="0"/>
                  <a:cs typeface="Arial" charset="0"/>
                </a:rPr>
                <a:t>TLB</a:t>
              </a:r>
              <a:endParaRPr lang="en-US" altLang="en-US" sz="2200" b="1" dirty="0">
                <a:solidFill>
                  <a:srgbClr val="053DE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7966" name="Text Box 75"/>
            <p:cNvSpPr txBox="1">
              <a:spLocks noChangeArrowheads="1"/>
            </p:cNvSpPr>
            <p:nvPr/>
          </p:nvSpPr>
          <p:spPr bwMode="auto">
            <a:xfrm>
              <a:off x="1574" y="1121"/>
              <a:ext cx="32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ts val="700"/>
                </a:lnSpc>
              </a:pPr>
              <a:r>
                <a:rPr lang="en-US" altLang="en-US" sz="1300" b="1">
                  <a:ea typeface="Arial" charset="0"/>
                  <a:cs typeface="Arial" charset="0"/>
                </a:rPr>
                <a:t>Virtual</a:t>
              </a:r>
            </a:p>
          </p:txBody>
        </p:sp>
        <p:sp>
          <p:nvSpPr>
            <p:cNvPr id="37967" name="Text Box 76"/>
            <p:cNvSpPr txBox="1">
              <a:spLocks noChangeArrowheads="1"/>
            </p:cNvSpPr>
            <p:nvPr/>
          </p:nvSpPr>
          <p:spPr bwMode="auto">
            <a:xfrm>
              <a:off x="1523" y="2009"/>
              <a:ext cx="427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ts val="700"/>
                </a:lnSpc>
              </a:pPr>
              <a:r>
                <a:rPr lang="en-US" altLang="en-US" sz="1300" b="1">
                  <a:ea typeface="Arial" charset="0"/>
                  <a:cs typeface="Arial" charset="0"/>
                </a:rPr>
                <a:t>Physical</a:t>
              </a:r>
            </a:p>
          </p:txBody>
        </p:sp>
      </p:grpSp>
      <p:grpSp>
        <p:nvGrpSpPr>
          <p:cNvPr id="6" name="Group 77"/>
          <p:cNvGrpSpPr>
            <a:grpSpLocks/>
          </p:cNvGrpSpPr>
          <p:nvPr/>
        </p:nvGrpSpPr>
        <p:grpSpPr bwMode="auto">
          <a:xfrm>
            <a:off x="2971800" y="3600450"/>
            <a:ext cx="2400300" cy="1146175"/>
            <a:chOff x="1638" y="1984"/>
            <a:chExt cx="1512" cy="722"/>
          </a:xfrm>
        </p:grpSpPr>
        <p:sp>
          <p:nvSpPr>
            <p:cNvPr id="778318" name="Line 78"/>
            <p:cNvSpPr>
              <a:spLocks noChangeShapeType="1"/>
            </p:cNvSpPr>
            <p:nvPr/>
          </p:nvSpPr>
          <p:spPr bwMode="auto">
            <a:xfrm flipH="1">
              <a:off x="2966" y="2188"/>
              <a:ext cx="1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56" name="Freeform 79"/>
            <p:cNvSpPr>
              <a:spLocks/>
            </p:cNvSpPr>
            <p:nvPr/>
          </p:nvSpPr>
          <p:spPr bwMode="auto">
            <a:xfrm>
              <a:off x="2694" y="2084"/>
              <a:ext cx="263" cy="224"/>
            </a:xfrm>
            <a:custGeom>
              <a:avLst/>
              <a:gdLst>
                <a:gd name="T0" fmla="*/ 0 w 9111"/>
                <a:gd name="T1" fmla="*/ 0 h 9111"/>
                <a:gd name="T2" fmla="*/ 0 w 9111"/>
                <a:gd name="T3" fmla="*/ 0 h 9111"/>
                <a:gd name="T4" fmla="*/ 0 w 9111"/>
                <a:gd name="T5" fmla="*/ 0 h 9111"/>
                <a:gd name="T6" fmla="*/ 0 w 9111"/>
                <a:gd name="T7" fmla="*/ 0 h 9111"/>
                <a:gd name="T8" fmla="*/ 0 w 9111"/>
                <a:gd name="T9" fmla="*/ 0 h 9111"/>
                <a:gd name="T10" fmla="*/ 0 w 9111"/>
                <a:gd name="T11" fmla="*/ 0 h 91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111"/>
                <a:gd name="T19" fmla="*/ 0 h 9111"/>
                <a:gd name="T20" fmla="*/ 9111 w 9111"/>
                <a:gd name="T21" fmla="*/ 9111 h 911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57" name="Text Box 80"/>
            <p:cNvSpPr txBox="1">
              <a:spLocks noChangeArrowheads="1"/>
            </p:cNvSpPr>
            <p:nvPr/>
          </p:nvSpPr>
          <p:spPr bwMode="auto">
            <a:xfrm>
              <a:off x="2792" y="2189"/>
              <a:ext cx="76" cy="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96900" algn="l"/>
                  <a:tab pos="1511300" algn="l"/>
                  <a:tab pos="2425700" algn="l"/>
                  <a:tab pos="3340100" algn="l"/>
                  <a:tab pos="4254500" algn="l"/>
                  <a:tab pos="5168900" algn="l"/>
                  <a:tab pos="6083300" algn="l"/>
                  <a:tab pos="69977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>
                <a:lnSpc>
                  <a:spcPts val="1000"/>
                </a:lnSpc>
              </a:pPr>
              <a:r>
                <a:rPr lang="en-US" altLang="en-US" sz="1600" b="1">
                  <a:ea typeface="Arial" charset="0"/>
                  <a:cs typeface="Arial" charset="0"/>
                </a:rPr>
                <a:t>=</a:t>
              </a:r>
            </a:p>
          </p:txBody>
        </p:sp>
        <p:sp>
          <p:nvSpPr>
            <p:cNvPr id="37958" name="Text Box 81"/>
            <p:cNvSpPr txBox="1">
              <a:spLocks noChangeArrowheads="1"/>
            </p:cNvSpPr>
            <p:nvPr/>
          </p:nvSpPr>
          <p:spPr bwMode="auto">
            <a:xfrm>
              <a:off x="2690" y="2522"/>
              <a:ext cx="32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900" b="1" dirty="0">
                  <a:solidFill>
                    <a:srgbClr val="053DE8"/>
                  </a:solidFill>
                  <a:ea typeface="Arial" charset="0"/>
                  <a:cs typeface="Arial" charset="0"/>
                </a:rPr>
                <a:t>hit?</a:t>
              </a:r>
            </a:p>
          </p:txBody>
        </p:sp>
        <p:sp>
          <p:nvSpPr>
            <p:cNvPr id="778322" name="Line 82"/>
            <p:cNvSpPr>
              <a:spLocks noChangeShapeType="1"/>
            </p:cNvSpPr>
            <p:nvPr/>
          </p:nvSpPr>
          <p:spPr bwMode="auto">
            <a:xfrm>
              <a:off x="2830" y="2316"/>
              <a:ext cx="0" cy="192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60" name="Line 83"/>
            <p:cNvSpPr>
              <a:spLocks noChangeShapeType="1"/>
            </p:cNvSpPr>
            <p:nvPr/>
          </p:nvSpPr>
          <p:spPr bwMode="auto">
            <a:xfrm>
              <a:off x="1643" y="1984"/>
              <a:ext cx="3" cy="2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778324" name="Line 84"/>
            <p:cNvSpPr>
              <a:spLocks noChangeShapeType="1"/>
            </p:cNvSpPr>
            <p:nvPr/>
          </p:nvSpPr>
          <p:spPr bwMode="auto">
            <a:xfrm flipH="1">
              <a:off x="1638" y="2202"/>
              <a:ext cx="1047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med"/>
              <a:tailEnd/>
            </a:ln>
            <a:effectLst>
              <a:outerShdw blurRad="63500" dist="76199" dir="3420002" algn="ctr" rotWithShape="0">
                <a:srgbClr val="053DE8">
                  <a:alpha val="2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>
                <a:ea typeface="Arial" charset="0"/>
                <a:cs typeface="Arial" charset="0"/>
              </a:endParaRPr>
            </a:p>
          </p:txBody>
        </p:sp>
        <p:sp>
          <p:nvSpPr>
            <p:cNvPr id="37962" name="Text Box 85"/>
            <p:cNvSpPr txBox="1">
              <a:spLocks noChangeArrowheads="1"/>
            </p:cNvSpPr>
            <p:nvPr/>
          </p:nvSpPr>
          <p:spPr bwMode="auto">
            <a:xfrm>
              <a:off x="1754" y="2018"/>
              <a:ext cx="804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n-US" altLang="en-US" sz="1900" b="1" dirty="0">
                  <a:solidFill>
                    <a:srgbClr val="053DE8"/>
                  </a:solidFill>
                  <a:ea typeface="Arial" charset="0"/>
                  <a:cs typeface="Arial" charset="0"/>
                </a:rPr>
                <a:t>cache tag</a:t>
              </a:r>
            </a:p>
          </p:txBody>
        </p:sp>
      </p:grpSp>
      <p:graphicFrame>
        <p:nvGraphicFramePr>
          <p:cNvPr id="77824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660419"/>
              </p:ext>
            </p:extLst>
          </p:nvPr>
        </p:nvGraphicFramePr>
        <p:xfrm>
          <a:off x="292100" y="1397000"/>
          <a:ext cx="8496300" cy="45720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9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Index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r>
                        <a:rPr kumimoji="0" lang="en-US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Byte Select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8255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59243"/>
              </p:ext>
            </p:extLst>
          </p:nvPr>
        </p:nvGraphicFramePr>
        <p:xfrm>
          <a:off x="7264400" y="2717800"/>
          <a:ext cx="1384300" cy="3263900"/>
        </p:xfrm>
        <a:graphic>
          <a:graphicData uri="http://schemas.openxmlformats.org/drawingml/2006/table">
            <a:tbl>
              <a:tblPr/>
              <a:tblGrid>
                <a:gridCol w="13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</a:pPr>
                      <a:r>
                        <a:rPr kumimoji="0" lang="en-US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53DE8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Cache Block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00">
                        <a:alpha val="4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</a:pPr>
                      <a:r>
                        <a:rPr kumimoji="0" lang="en-US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53DE8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Cache Block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>
                        <a:alpha val="1607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6705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7097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7826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162402"/>
              </p:ext>
            </p:extLst>
          </p:nvPr>
        </p:nvGraphicFramePr>
        <p:xfrm>
          <a:off x="5372100" y="2730500"/>
          <a:ext cx="1181100" cy="3263900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78281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0230"/>
              </p:ext>
            </p:extLst>
          </p:nvPr>
        </p:nvGraphicFramePr>
        <p:xfrm>
          <a:off x="6819900" y="2730500"/>
          <a:ext cx="215900" cy="3263900"/>
        </p:xfrm>
        <a:graphic>
          <a:graphicData uri="http://schemas.openxmlformats.org/drawingml/2006/table">
            <a:tbl>
              <a:tblPr/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F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54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  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-128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CA" b="1" dirty="0"/>
              <a:t>Virtually </a:t>
            </a:r>
            <a:r>
              <a:rPr lang="en-CA" b="1" dirty="0" err="1"/>
              <a:t>addr’d</a:t>
            </a:r>
            <a:r>
              <a:rPr lang="en-CA" b="1" dirty="0"/>
              <a:t>, physically tagged $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8458200" cy="5486400"/>
          </a:xfrm>
        </p:spPr>
        <p:txBody>
          <a:bodyPr/>
          <a:lstStyle/>
          <a:p>
            <a:r>
              <a:rPr lang="en-CA" dirty="0"/>
              <a:t>problem: some address bits </a:t>
            </a:r>
            <a:r>
              <a:rPr lang="en-CA" b="1" dirty="0"/>
              <a:t>change</a:t>
            </a:r>
            <a:r>
              <a:rPr lang="en-CA" dirty="0"/>
              <a:t> (VA</a:t>
            </a:r>
            <a:r>
              <a:rPr lang="en-CA" dirty="0">
                <a:sym typeface="Wingdings"/>
              </a:rPr>
              <a:t>PA)</a:t>
            </a:r>
          </a:p>
          <a:p>
            <a:r>
              <a:rPr lang="en-CA" dirty="0">
                <a:sym typeface="Wingdings"/>
              </a:rPr>
              <a:t>but we need those bits to </a:t>
            </a:r>
            <a:r>
              <a:rPr lang="en-CA" b="1" dirty="0">
                <a:sym typeface="Wingdings"/>
              </a:rPr>
              <a:t>index the cache</a:t>
            </a:r>
            <a:r>
              <a:rPr lang="en-CA" dirty="0">
                <a:sym typeface="Wingdings"/>
              </a:rPr>
              <a:t>!</a:t>
            </a:r>
          </a:p>
          <a:p>
            <a:endParaRPr lang="en-CA" dirty="0">
              <a:sym typeface="Wingdings"/>
            </a:endParaRPr>
          </a:p>
          <a:p>
            <a:endParaRPr lang="en-CA" dirty="0">
              <a:sym typeface="Wingdings"/>
            </a:endParaRPr>
          </a:p>
          <a:p>
            <a:endParaRPr lang="en-CA" dirty="0">
              <a:sym typeface="Wingdings"/>
            </a:endParaRPr>
          </a:p>
          <a:p>
            <a:endParaRPr lang="en-CA" dirty="0">
              <a:sym typeface="Wingdings"/>
            </a:endParaRPr>
          </a:p>
          <a:p>
            <a:r>
              <a:rPr lang="en-CA" dirty="0">
                <a:sym typeface="Wingdings"/>
              </a:rPr>
              <a:t>possible solutions</a:t>
            </a:r>
          </a:p>
          <a:p>
            <a:pPr lvl="1"/>
            <a:r>
              <a:rPr lang="en-CA" dirty="0">
                <a:sym typeface="Wingdings"/>
              </a:rPr>
              <a:t>bigger page sizes (8 KB in this case)</a:t>
            </a:r>
          </a:p>
          <a:p>
            <a:pPr lvl="1"/>
            <a:r>
              <a:rPr lang="en-CA" dirty="0">
                <a:sym typeface="Wingdings"/>
              </a:rPr>
              <a:t>more associativity (2-way set-associative here)</a:t>
            </a:r>
          </a:p>
          <a:p>
            <a:pPr lvl="1"/>
            <a:r>
              <a:rPr lang="en-CA" dirty="0">
                <a:sym typeface="Wingdings"/>
              </a:rPr>
              <a:t>OS guarantees VA[13] == PA[13] (harder if many bits)</a:t>
            </a:r>
          </a:p>
          <a:p>
            <a:pPr lvl="1"/>
            <a:r>
              <a:rPr lang="en-CA" dirty="0">
                <a:sym typeface="Wingdings"/>
              </a:rPr>
              <a:t>bite the bullet and deal w/ the </a:t>
            </a:r>
            <a:r>
              <a:rPr lang="en-CA" b="1" dirty="0">
                <a:sym typeface="Wingdings"/>
              </a:rPr>
              <a:t>synonym problem</a:t>
            </a:r>
            <a:endParaRPr lang="en-CA" b="1" dirty="0"/>
          </a:p>
        </p:txBody>
      </p:sp>
      <p:grpSp>
        <p:nvGrpSpPr>
          <p:cNvPr id="41" name="Group 40"/>
          <p:cNvGrpSpPr/>
          <p:nvPr/>
        </p:nvGrpSpPr>
        <p:grpSpPr>
          <a:xfrm>
            <a:off x="1647018" y="2527300"/>
            <a:ext cx="6033641" cy="1646238"/>
            <a:chOff x="2070100" y="2527300"/>
            <a:chExt cx="6033641" cy="1646238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2133600" y="2806700"/>
              <a:ext cx="2590800" cy="3175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070100" y="3860800"/>
              <a:ext cx="2628900" cy="304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4243124" y="2806700"/>
              <a:ext cx="0" cy="317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3606800" y="2806700"/>
              <a:ext cx="0" cy="317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771900" y="2527300"/>
              <a:ext cx="256480" cy="28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800" b="1" dirty="0"/>
                <a:t>7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457700" y="2527300"/>
              <a:ext cx="25717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800" b="1" dirty="0"/>
                <a:t>6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381500" y="2882900"/>
              <a:ext cx="373949" cy="208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200" dirty="0"/>
                <a:t>offs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2095500" y="3886200"/>
              <a:ext cx="12827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800" b="1"/>
                <a:t>virt page #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3873500" y="3886200"/>
              <a:ext cx="756617" cy="286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800" b="1" dirty="0"/>
                <a:t>offset</a:t>
              </a: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606800" y="3860800"/>
              <a:ext cx="0" cy="292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2552700" y="3606800"/>
              <a:ext cx="38417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800" b="1"/>
                <a:t>20</a:t>
              </a: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3949700" y="3568700"/>
              <a:ext cx="384175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800" b="1"/>
                <a:t>12</a:t>
              </a:r>
            </a:p>
          </p:txBody>
        </p:sp>
        <p:sp>
          <p:nvSpPr>
            <p:cNvPr id="16" name="Rectangle 16" descr="50%"/>
            <p:cNvSpPr>
              <a:spLocks noChangeArrowheads="1"/>
            </p:cNvSpPr>
            <p:nvPr/>
          </p:nvSpPr>
          <p:spPr bwMode="auto">
            <a:xfrm>
              <a:off x="3530600" y="2806700"/>
              <a:ext cx="63500" cy="330200"/>
            </a:xfrm>
            <a:prstGeom prst="rect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990072" y="2642548"/>
              <a:ext cx="2667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3505200" y="2641600"/>
              <a:ext cx="2921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3646135" y="2755900"/>
              <a:ext cx="535055" cy="352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>
                <a:lnSpc>
                  <a:spcPct val="70000"/>
                </a:lnSpc>
              </a:pPr>
              <a:endParaRPr lang="en-US" altLang="en-US" sz="1400" dirty="0"/>
            </a:p>
            <a:p>
              <a:pPr algn="ctr">
                <a:lnSpc>
                  <a:spcPct val="70000"/>
                </a:lnSpc>
              </a:pPr>
              <a:r>
                <a:rPr lang="en-US" altLang="en-US" sz="1400" dirty="0"/>
                <a:t>$ </a:t>
              </a:r>
              <a:r>
                <a:rPr lang="en-US" altLang="en-US" sz="1400" dirty="0" err="1"/>
                <a:t>idx</a:t>
              </a:r>
              <a:endParaRPr lang="en-US" altLang="en-US" sz="1400" dirty="0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3568700" y="3136900"/>
              <a:ext cx="0" cy="342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581400" y="3467100"/>
              <a:ext cx="17145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3606800" y="3162300"/>
              <a:ext cx="0" cy="67310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5359400" y="3200400"/>
              <a:ext cx="2744341" cy="522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altLang="en-US" sz="1800" b="1" dirty="0"/>
                <a:t>bit changed by VA</a:t>
              </a:r>
              <a:r>
                <a:rPr lang="en-US" altLang="en-US" sz="1800" b="1" dirty="0">
                  <a:sym typeface="Wingdings"/>
                </a:rPr>
                <a:t>PA</a:t>
              </a:r>
            </a:p>
            <a:p>
              <a:pPr>
                <a:lnSpc>
                  <a:spcPct val="85000"/>
                </a:lnSpc>
              </a:pPr>
              <a:r>
                <a:rPr lang="en-US" altLang="en-US" sz="1800" b="1" dirty="0">
                  <a:sym typeface="Wingdings"/>
                </a:rPr>
                <a:t>but needed to index D$</a:t>
              </a:r>
              <a:endParaRPr lang="en-US" altLang="en-US" sz="1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6450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Synonym problem: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599"/>
            <a:ext cx="7772400" cy="5302155"/>
          </a:xfrm>
        </p:spPr>
        <p:txBody>
          <a:bodyPr/>
          <a:lstStyle/>
          <a:p>
            <a:r>
              <a:rPr lang="en-CA" dirty="0"/>
              <a:t>64 KB direct-mapped $, 16-byte blocks</a:t>
            </a:r>
          </a:p>
          <a:p>
            <a:pPr lvl="1"/>
            <a:r>
              <a:rPr lang="en-CA" dirty="0"/>
              <a:t>block offset: </a:t>
            </a:r>
            <a:r>
              <a:rPr lang="en-CA" dirty="0" err="1"/>
              <a:t>addr</a:t>
            </a:r>
            <a:r>
              <a:rPr lang="en-CA" dirty="0"/>
              <a:t>[3:0]</a:t>
            </a:r>
          </a:p>
          <a:p>
            <a:pPr lvl="1"/>
            <a:r>
              <a:rPr lang="en-CA" dirty="0"/>
              <a:t>cache index: </a:t>
            </a:r>
            <a:r>
              <a:rPr lang="en-CA" dirty="0" err="1"/>
              <a:t>addr</a:t>
            </a:r>
            <a:r>
              <a:rPr lang="en-CA" dirty="0"/>
              <a:t>[15:4]</a:t>
            </a:r>
          </a:p>
          <a:p>
            <a:r>
              <a:rPr lang="en-CA" dirty="0"/>
              <a:t>4 KB pages</a:t>
            </a:r>
          </a:p>
          <a:p>
            <a:pPr lvl="1"/>
            <a:r>
              <a:rPr lang="en-CA" dirty="0"/>
              <a:t>page offset: </a:t>
            </a:r>
            <a:r>
              <a:rPr lang="en-CA" dirty="0" err="1"/>
              <a:t>addr</a:t>
            </a:r>
            <a:r>
              <a:rPr lang="en-CA" dirty="0"/>
              <a:t>[11:0]</a:t>
            </a:r>
          </a:p>
          <a:p>
            <a:r>
              <a:rPr lang="en-CA" dirty="0"/>
              <a:t>16 synonym locations for each PA</a:t>
            </a:r>
          </a:p>
          <a:p>
            <a:pPr lvl="1"/>
            <a:r>
              <a:rPr lang="en-CA" dirty="0"/>
              <a:t>4 virtual bits used to index $: </a:t>
            </a:r>
            <a:r>
              <a:rPr lang="en-CA" dirty="0" err="1"/>
              <a:t>addr</a:t>
            </a:r>
            <a:r>
              <a:rPr lang="en-CA" dirty="0"/>
              <a:t>[15:12]:</a:t>
            </a:r>
          </a:p>
          <a:p>
            <a:pPr lvl="2"/>
            <a:r>
              <a:rPr lang="en-US" dirty="0"/>
              <a:t>process</a:t>
            </a:r>
            <a:r>
              <a:rPr lang="mr-IN" dirty="0"/>
              <a:t> 1  VA 0x0000  000  0 -&gt;  PA 0xFF000000</a:t>
            </a:r>
            <a:endParaRPr lang="en-US" dirty="0"/>
          </a:p>
          <a:p>
            <a:pPr lvl="2"/>
            <a:r>
              <a:rPr lang="en-US" dirty="0"/>
              <a:t>process</a:t>
            </a:r>
            <a:r>
              <a:rPr lang="mr-IN" dirty="0"/>
              <a:t> 2  VA 0x0000  F00  0 -&gt;  PA 0xFF000000</a:t>
            </a:r>
            <a:endParaRPr lang="en-US" dirty="0"/>
          </a:p>
          <a:p>
            <a:pPr lvl="2"/>
            <a:r>
              <a:rPr lang="en-US" dirty="0"/>
              <a:t>process</a:t>
            </a:r>
            <a:r>
              <a:rPr lang="mr-IN" dirty="0"/>
              <a:t> 1 </a:t>
            </a:r>
            <a:r>
              <a:rPr lang="en-US" dirty="0"/>
              <a:t>index</a:t>
            </a:r>
            <a:r>
              <a:rPr lang="mr-IN" dirty="0"/>
              <a:t> = 0x000  (</a:t>
            </a:r>
            <a:r>
              <a:rPr lang="mr-IN" dirty="0" err="1"/>
              <a:t>tag</a:t>
            </a:r>
            <a:r>
              <a:rPr lang="mr-IN" dirty="0"/>
              <a:t> = 0xFF000)</a:t>
            </a:r>
            <a:endParaRPr lang="en-US" dirty="0"/>
          </a:p>
          <a:p>
            <a:pPr lvl="2"/>
            <a:r>
              <a:rPr lang="en-US" dirty="0"/>
              <a:t>process 2 index </a:t>
            </a:r>
            <a:r>
              <a:rPr lang="mr-IN" dirty="0"/>
              <a:t>= 0xF00  (</a:t>
            </a:r>
            <a:r>
              <a:rPr lang="mr-IN" dirty="0" err="1"/>
              <a:t>tag</a:t>
            </a:r>
            <a:r>
              <a:rPr lang="mr-IN" dirty="0"/>
              <a:t> = 0xFF000)</a:t>
            </a:r>
            <a:endParaRPr lang="en-US" dirty="0"/>
          </a:p>
          <a:p>
            <a:pPr lvl="2"/>
            <a:r>
              <a:rPr lang="en-US" dirty="0"/>
              <a:t>what if process 1 writes, process 2 reads?</a:t>
            </a:r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0280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Z:\WOMAT\Production\Artfinal\0000000038\MKCAD\978-0-12-811905-1\0003165541\XMLLowres\f02-20-9780128119051.jpg">
            <a:extLst>
              <a:ext uri="{FF2B5EF4-FFF2-40B4-BE49-F238E27FC236}">
                <a16:creationId xmlns:a16="http://schemas.microsoft.com/office/drawing/2014/main" id="{AA3EB6FB-C06D-0F42-A476-31B7FE63D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" t="38923" b="1653"/>
          <a:stretch/>
        </p:blipFill>
        <p:spPr bwMode="auto">
          <a:xfrm>
            <a:off x="956603" y="158261"/>
            <a:ext cx="7835703" cy="6541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90F23-997D-A043-B0B5-A13FE2647E8E}"/>
              </a:ext>
            </a:extLst>
          </p:cNvPr>
          <p:cNvSpPr txBox="1"/>
          <p:nvPr/>
        </p:nvSpPr>
        <p:spPr>
          <a:xfrm>
            <a:off x="0" y="6063177"/>
            <a:ext cx="24776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ARM Cortex A53</a:t>
            </a:r>
          </a:p>
          <a:p>
            <a:r>
              <a:rPr lang="en-CA" dirty="0"/>
              <a:t>(data path)</a:t>
            </a:r>
          </a:p>
        </p:txBody>
      </p:sp>
    </p:spTree>
    <p:extLst>
      <p:ext uri="{BB962C8B-B14F-4D97-AF65-F5344CB8AC3E}">
        <p14:creationId xmlns:p14="http://schemas.microsoft.com/office/powerpoint/2010/main" val="918734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Z:\WOMAT\Production\Artfinal\0000000038\MKCAD\978-0-12-811905-1\0003165541\XMLLowres\f02-25-9780128119051.jpg">
            <a:extLst>
              <a:ext uri="{FF2B5EF4-FFF2-40B4-BE49-F238E27FC236}">
                <a16:creationId xmlns:a16="http://schemas.microsoft.com/office/drawing/2014/main" id="{1E7C7A95-18FF-1648-A83F-F38659C41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606" y="123335"/>
            <a:ext cx="6020972" cy="673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B59F09-2802-9749-917B-5844E5130BDA}"/>
              </a:ext>
            </a:extLst>
          </p:cNvPr>
          <p:cNvSpPr txBox="1"/>
          <p:nvPr/>
        </p:nvSpPr>
        <p:spPr>
          <a:xfrm>
            <a:off x="0" y="6063177"/>
            <a:ext cx="18453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Intel Core i7</a:t>
            </a:r>
          </a:p>
          <a:p>
            <a:r>
              <a:rPr lang="en-CA" dirty="0"/>
              <a:t>(everything)</a:t>
            </a:r>
          </a:p>
        </p:txBody>
      </p:sp>
    </p:spTree>
    <p:extLst>
      <p:ext uri="{BB962C8B-B14F-4D97-AF65-F5344CB8AC3E}">
        <p14:creationId xmlns:p14="http://schemas.microsoft.com/office/powerpoint/2010/main" val="2109834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BCD8-B218-1F42-8AC2-6562DF54B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Updating PTEs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A7E3D-DA62-614A-A03C-E97082AE2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8210774" cy="4724400"/>
          </a:xfrm>
        </p:spPr>
        <p:txBody>
          <a:bodyPr/>
          <a:lstStyle/>
          <a:p>
            <a:r>
              <a:rPr lang="en-CA" dirty="0"/>
              <a:t>when updating PTEs, what needs to be done?</a:t>
            </a:r>
          </a:p>
          <a:p>
            <a:endParaRPr lang="en-CA" dirty="0"/>
          </a:p>
          <a:p>
            <a:r>
              <a:rPr lang="en-CA" b="1" dirty="0"/>
              <a:t>synchronize</a:t>
            </a:r>
            <a:r>
              <a:rPr lang="en-CA" dirty="0"/>
              <a:t> PTE writes w/ </a:t>
            </a:r>
            <a:r>
              <a:rPr lang="en-CA" dirty="0" err="1"/>
              <a:t>addr</a:t>
            </a:r>
            <a:r>
              <a:rPr lang="en-CA" dirty="0"/>
              <a:t> translation HW</a:t>
            </a:r>
          </a:p>
          <a:p>
            <a:pPr lvl="1"/>
            <a:r>
              <a:rPr lang="en-CA" dirty="0"/>
              <a:t>flush any translation caches (TLBs)</a:t>
            </a:r>
          </a:p>
          <a:p>
            <a:pPr lvl="1"/>
            <a:r>
              <a:rPr lang="en-CA" dirty="0"/>
              <a:t>in multicores, also remote TLBs (TLB shootdown)</a:t>
            </a:r>
          </a:p>
          <a:p>
            <a:endParaRPr lang="en-CA" dirty="0"/>
          </a:p>
          <a:p>
            <a:r>
              <a:rPr lang="en-CA" dirty="0"/>
              <a:t>implementation options?</a:t>
            </a:r>
          </a:p>
          <a:p>
            <a:pPr lvl="1"/>
            <a:r>
              <a:rPr lang="en-CA" dirty="0"/>
              <a:t>instruction in fault handler, e.g., </a:t>
            </a:r>
            <a:r>
              <a:rPr lang="en-CA" dirty="0" err="1">
                <a:latin typeface="Inconsolata" panose="020B0609030003000000" pitchFamily="49" charset="0"/>
              </a:rPr>
              <a:t>sfence.vma</a:t>
            </a:r>
            <a:endParaRPr lang="en-CA" dirty="0">
              <a:latin typeface="Inconsolata" panose="020B0609030003000000" pitchFamily="49" charset="0"/>
            </a:endParaRPr>
          </a:p>
          <a:p>
            <a:pPr lvl="1"/>
            <a:r>
              <a:rPr lang="en-CA" dirty="0"/>
              <a:t>detect write to PT in HW, trigger TLB shootdown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4633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Why virtual addressing?</a:t>
            </a:r>
          </a:p>
          <a:p>
            <a:endParaRPr lang="en-CA" dirty="0"/>
          </a:p>
          <a:p>
            <a:r>
              <a:rPr lang="en-CA" dirty="0"/>
              <a:t>Page tables and VA</a:t>
            </a:r>
            <a:r>
              <a:rPr lang="en-CA" dirty="0">
                <a:sym typeface="Wingdings"/>
              </a:rPr>
              <a:t>PA translation</a:t>
            </a:r>
          </a:p>
          <a:p>
            <a:endParaRPr lang="en-CA" dirty="0">
              <a:sym typeface="Wingdings"/>
            </a:endParaRPr>
          </a:p>
          <a:p>
            <a:r>
              <a:rPr lang="en-CA" dirty="0">
                <a:sym typeface="Wingdings"/>
              </a:rPr>
              <a:t>TLB = a cache for the page table</a:t>
            </a:r>
          </a:p>
          <a:p>
            <a:endParaRPr lang="en-CA" dirty="0">
              <a:sym typeface="Wingdings"/>
            </a:endParaRPr>
          </a:p>
          <a:p>
            <a:r>
              <a:rPr lang="en-CA" dirty="0">
                <a:sym typeface="Wingdings"/>
              </a:rPr>
              <a:t>Virtually addressed, physically tagged cache</a:t>
            </a:r>
          </a:p>
          <a:p>
            <a:endParaRPr lang="en-CA" dirty="0">
              <a:sym typeface="Wingdings"/>
            </a:endParaRPr>
          </a:p>
          <a:p>
            <a:r>
              <a:rPr lang="en-CA" dirty="0">
                <a:sym typeface="Wingdings"/>
              </a:rPr>
              <a:t>The synonym problem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83216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ＭＳ Ｐゴシック"/>
        <a:cs typeface="ＭＳ Ｐゴシック"/>
      </a:majorFont>
      <a:minorFont>
        <a:latin typeface="Comic Sans M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6" charset="-52"/>
            <a:ea typeface="ＭＳ Ｐゴシック" pitchFamily="-106" charset="-128"/>
            <a:cs typeface="ＭＳ Ｐゴシック" pitchFamily="-106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41914</TotalTime>
  <Words>1849</Words>
  <Application>Microsoft Macintosh PowerPoint</Application>
  <PresentationFormat>On-screen Show (4:3)</PresentationFormat>
  <Paragraphs>968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Arial  </vt:lpstr>
      <vt:lpstr>Comic Sans MS</vt:lpstr>
      <vt:lpstr>Inconsolata</vt:lpstr>
      <vt:lpstr>Wingdings</vt:lpstr>
      <vt:lpstr>Blank Presentation</vt:lpstr>
      <vt:lpstr>CPEN 411: Computer Architecture  Virtual Memory</vt:lpstr>
      <vt:lpstr>Learning Objectives</vt:lpstr>
      <vt:lpstr>Virtual memory</vt:lpstr>
      <vt:lpstr>Multiple Programs Using Memory</vt:lpstr>
      <vt:lpstr>Fragmentation</vt:lpstr>
      <vt:lpstr>Paged virtual memory</vt:lpstr>
      <vt:lpstr>Address Translation</vt:lpstr>
      <vt:lpstr>Page Table</vt:lpstr>
      <vt:lpstr>Page Table Translation Structure</vt:lpstr>
      <vt:lpstr>Where to put the page table?</vt:lpstr>
      <vt:lpstr>Efficient Page Table Storage</vt:lpstr>
      <vt:lpstr>So what’s in a PTE?</vt:lpstr>
      <vt:lpstr>Translation-related exceptions</vt:lpstr>
      <vt:lpstr>Faster page table access</vt:lpstr>
      <vt:lpstr>TLB: Translation Lookaside Buffer</vt:lpstr>
      <vt:lpstr>Writes and evictions</vt:lpstr>
      <vt:lpstr>I$ access w/ address translation</vt:lpstr>
      <vt:lpstr>When to do address translation?</vt:lpstr>
      <vt:lpstr>Virtually addressed L1 caches</vt:lpstr>
      <vt:lpstr>Virtually addressed L1 caches</vt:lpstr>
      <vt:lpstr>Overlapping TLB &amp; L1 D$ accessses</vt:lpstr>
      <vt:lpstr>Virtually addr’d, physically tagged $</vt:lpstr>
      <vt:lpstr>Synonym problem: example</vt:lpstr>
      <vt:lpstr>PowerPoint Presentation</vt:lpstr>
      <vt:lpstr>PowerPoint Presentation</vt:lpstr>
      <vt:lpstr>Updating PTEs</vt:lpstr>
      <vt:lpstr>Summary</vt:lpstr>
    </vt:vector>
  </TitlesOfParts>
  <Company>Tor M. Aamodt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</dc:title>
  <cp:lastModifiedBy>Tor Aamodt</cp:lastModifiedBy>
  <cp:revision>823</cp:revision>
  <cp:lastPrinted>2007-10-31T22:36:30Z</cp:lastPrinted>
  <dcterms:modified xsi:type="dcterms:W3CDTF">2025-09-24T14:08:08Z</dcterms:modified>
</cp:coreProperties>
</file>