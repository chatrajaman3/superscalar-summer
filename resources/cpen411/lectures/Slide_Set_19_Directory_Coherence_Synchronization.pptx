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handoutMasterIdLst>
    <p:handoutMasterId r:id="rId31"/>
  </p:handoutMasterIdLst>
  <p:sldIdLst>
    <p:sldId id="571" r:id="rId2"/>
    <p:sldId id="487" r:id="rId3"/>
    <p:sldId id="535" r:id="rId4"/>
    <p:sldId id="536" r:id="rId5"/>
    <p:sldId id="537" r:id="rId6"/>
    <p:sldId id="528" r:id="rId7"/>
    <p:sldId id="529" r:id="rId8"/>
    <p:sldId id="530" r:id="rId9"/>
    <p:sldId id="563" r:id="rId10"/>
    <p:sldId id="564" r:id="rId11"/>
    <p:sldId id="565" r:id="rId12"/>
    <p:sldId id="593" r:id="rId13"/>
    <p:sldId id="515" r:id="rId14"/>
    <p:sldId id="540" r:id="rId15"/>
    <p:sldId id="598" r:id="rId16"/>
    <p:sldId id="543" r:id="rId17"/>
    <p:sldId id="545" r:id="rId18"/>
    <p:sldId id="580" r:id="rId19"/>
    <p:sldId id="502" r:id="rId20"/>
    <p:sldId id="586" r:id="rId21"/>
    <p:sldId id="587" r:id="rId22"/>
    <p:sldId id="588" r:id="rId23"/>
    <p:sldId id="589" r:id="rId24"/>
    <p:sldId id="590" r:id="rId25"/>
    <p:sldId id="594" r:id="rId26"/>
    <p:sldId id="595" r:id="rId27"/>
    <p:sldId id="591" r:id="rId28"/>
    <p:sldId id="596" r:id="rId29"/>
  </p:sldIdLst>
  <p:sldSz cx="9144000" cy="6858000" type="screen4x3"/>
  <p:notesSz cx="6858000" cy="9144000"/>
  <p:defaultTex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82"/>
    <p:restoredTop sz="94658"/>
  </p:normalViewPr>
  <p:slideViewPr>
    <p:cSldViewPr snapToGrid="0">
      <p:cViewPr varScale="1">
        <p:scale>
          <a:sx n="106" d="100"/>
          <a:sy n="106" d="100"/>
        </p:scale>
        <p:origin x="1848" y="4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8E6D239F-69A7-B48B-B887-678927AE85C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492547" name="Rectangle 3">
            <a:extLst>
              <a:ext uri="{FF2B5EF4-FFF2-40B4-BE49-F238E27FC236}">
                <a16:creationId xmlns:a16="http://schemas.microsoft.com/office/drawing/2014/main" id="{45A60A34-45E5-6ED7-DF77-832F07F6E80F}"/>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492548" name="Rectangle 4">
            <a:extLst>
              <a:ext uri="{FF2B5EF4-FFF2-40B4-BE49-F238E27FC236}">
                <a16:creationId xmlns:a16="http://schemas.microsoft.com/office/drawing/2014/main" id="{49D2210F-D96F-8957-DF54-94B806A7BC80}"/>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492549" name="Rectangle 5">
            <a:extLst>
              <a:ext uri="{FF2B5EF4-FFF2-40B4-BE49-F238E27FC236}">
                <a16:creationId xmlns:a16="http://schemas.microsoft.com/office/drawing/2014/main" id="{DDA3C30D-8E83-2B26-DB37-C942B0685900}"/>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53BCF0D2-DDD4-3142-933C-088ED6C78359}"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5F5EB5C-2E1D-1105-D53C-D75E7AEEF4E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10243" name="Rectangle 3">
            <a:extLst>
              <a:ext uri="{FF2B5EF4-FFF2-40B4-BE49-F238E27FC236}">
                <a16:creationId xmlns:a16="http://schemas.microsoft.com/office/drawing/2014/main" id="{D80B07AA-C4C8-7E6D-E225-AE95B5FBE1F3}"/>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30724" name="Rectangle 4">
            <a:extLst>
              <a:ext uri="{FF2B5EF4-FFF2-40B4-BE49-F238E27FC236}">
                <a16:creationId xmlns:a16="http://schemas.microsoft.com/office/drawing/2014/main" id="{51025720-BDE3-3F79-7BD2-E94F649AA4E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a:extLst>
              <a:ext uri="{FF2B5EF4-FFF2-40B4-BE49-F238E27FC236}">
                <a16:creationId xmlns:a16="http://schemas.microsoft.com/office/drawing/2014/main" id="{8FE5C113-9794-6DC2-2D18-E39FE65FBD4A}"/>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a:extLst>
              <a:ext uri="{FF2B5EF4-FFF2-40B4-BE49-F238E27FC236}">
                <a16:creationId xmlns:a16="http://schemas.microsoft.com/office/drawing/2014/main" id="{C21CBF91-C290-42DE-63F6-3E24151F5919}"/>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10247" name="Rectangle 7">
            <a:extLst>
              <a:ext uri="{FF2B5EF4-FFF2-40B4-BE49-F238E27FC236}">
                <a16:creationId xmlns:a16="http://schemas.microsoft.com/office/drawing/2014/main" id="{501A6647-7979-C4FD-BFF3-5EBAD7BBC2FD}"/>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48C591F9-C119-7341-B600-CD94B5A8599E}"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CB1E248E-5FA5-642B-1CD6-6FC3DDBE03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CCEAE17-83EC-7A4E-B1D9-FABD55768336}" type="slidenum">
              <a:rPr lang="en-US" altLang="en-US" sz="1200"/>
              <a:pPr/>
              <a:t>2</a:t>
            </a:fld>
            <a:endParaRPr lang="en-US" altLang="en-US" sz="1200"/>
          </a:p>
        </p:txBody>
      </p:sp>
      <p:sp>
        <p:nvSpPr>
          <p:cNvPr id="31747" name="Rectangle 2">
            <a:extLst>
              <a:ext uri="{FF2B5EF4-FFF2-40B4-BE49-F238E27FC236}">
                <a16:creationId xmlns:a16="http://schemas.microsoft.com/office/drawing/2014/main" id="{F6BAA52A-7831-DC78-614C-A7323F001093}"/>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96A23555-FA65-54AD-5FC1-77ADEB7D59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DD561C45-EB31-40CB-B6A7-6D20C0321E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94C90AFC-462D-2D4E-88BE-93FE83D509C1}" type="slidenum">
              <a:rPr lang="en-US" altLang="en-US" sz="1200"/>
              <a:pPr/>
              <a:t>14</a:t>
            </a:fld>
            <a:endParaRPr lang="en-US" altLang="en-US" sz="1200"/>
          </a:p>
        </p:txBody>
      </p:sp>
      <p:sp>
        <p:nvSpPr>
          <p:cNvPr id="32771" name="Rectangle 2">
            <a:extLst>
              <a:ext uri="{FF2B5EF4-FFF2-40B4-BE49-F238E27FC236}">
                <a16:creationId xmlns:a16="http://schemas.microsoft.com/office/drawing/2014/main" id="{A193AB58-7B9A-7BA1-9EE9-41FCC2268160}"/>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32772" name="Rectangle 3">
            <a:extLst>
              <a:ext uri="{FF2B5EF4-FFF2-40B4-BE49-F238E27FC236}">
                <a16:creationId xmlns:a16="http://schemas.microsoft.com/office/drawing/2014/main" id="{52D2BF72-5693-EE9A-BF1F-B73C55898499}"/>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FDFB900F-7AF5-6D26-3A2A-5759972461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7ED5284-61C3-384A-96F0-B8DEE72656A3}" type="slidenum">
              <a:rPr lang="en-US" altLang="en-US" sz="1200"/>
              <a:pPr/>
              <a:t>15</a:t>
            </a:fld>
            <a:endParaRPr lang="en-US" altLang="en-US" sz="1200"/>
          </a:p>
        </p:txBody>
      </p:sp>
      <p:sp>
        <p:nvSpPr>
          <p:cNvPr id="33795" name="Rectangle 2">
            <a:extLst>
              <a:ext uri="{FF2B5EF4-FFF2-40B4-BE49-F238E27FC236}">
                <a16:creationId xmlns:a16="http://schemas.microsoft.com/office/drawing/2014/main" id="{5A8E55BC-63B5-06C4-BB5F-03B2A9B6668F}"/>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33796" name="Rectangle 3">
            <a:extLst>
              <a:ext uri="{FF2B5EF4-FFF2-40B4-BE49-F238E27FC236}">
                <a16:creationId xmlns:a16="http://schemas.microsoft.com/office/drawing/2014/main" id="{CEC43517-FD47-6D13-D300-FDC108B213FD}"/>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5AEB9E0E-5CA7-04CA-CBCC-E78C8628D9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C7C6BB8E-82F1-2549-80AB-574F6CD91B50}" type="slidenum">
              <a:rPr lang="en-US" altLang="en-US" sz="1200"/>
              <a:pPr/>
              <a:t>16</a:t>
            </a:fld>
            <a:endParaRPr lang="en-US" altLang="en-US" sz="1200"/>
          </a:p>
        </p:txBody>
      </p:sp>
      <p:sp>
        <p:nvSpPr>
          <p:cNvPr id="34819" name="Rectangle 2">
            <a:extLst>
              <a:ext uri="{FF2B5EF4-FFF2-40B4-BE49-F238E27FC236}">
                <a16:creationId xmlns:a16="http://schemas.microsoft.com/office/drawing/2014/main" id="{7BD9F7D1-DCEE-911F-89BD-49621B6D5F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9" tIns="44446" rIns="90479" bIns="44446"/>
          <a:lstStyle/>
          <a:p>
            <a:pPr eaLnBrk="1" hangingPunct="1"/>
            <a:r>
              <a:rPr lang="en-US" altLang="en-US">
                <a:latin typeface="Arial" panose="020B0604020202020204" pitchFamily="34" charset="0"/>
                <a:ea typeface="ＭＳ Ｐゴシック" panose="020B0600070205080204" pitchFamily="34" charset="-128"/>
              </a:rPr>
              <a:t>Invalid:</a:t>
            </a:r>
          </a:p>
          <a:p>
            <a:pPr eaLnBrk="1" hangingPunct="1"/>
            <a:r>
              <a:rPr lang="en-US" altLang="en-US">
                <a:latin typeface="Arial" panose="020B0604020202020204" pitchFamily="34" charset="0"/>
                <a:ea typeface="ＭＳ Ｐゴシック" panose="020B0600070205080204" pitchFamily="34" charset="-128"/>
              </a:rPr>
              <a:t>read =&gt; shared</a:t>
            </a:r>
          </a:p>
          <a:p>
            <a:pPr eaLnBrk="1" hangingPunct="1"/>
            <a:r>
              <a:rPr lang="en-US" altLang="en-US">
                <a:latin typeface="Arial" panose="020B0604020202020204" pitchFamily="34" charset="0"/>
                <a:ea typeface="ＭＳ Ｐゴシック" panose="020B0600070205080204" pitchFamily="34" charset="-128"/>
              </a:rPr>
              <a:t>write =&gt; dirty</a:t>
            </a:r>
          </a:p>
          <a:p>
            <a:pPr eaLnBrk="1" hangingPunct="1"/>
            <a:endParaRPr lang="en-US" altLang="en-US">
              <a:latin typeface="Arial" panose="020B0604020202020204" pitchFamily="34"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shared looks the same</a:t>
            </a:r>
          </a:p>
        </p:txBody>
      </p:sp>
      <p:sp>
        <p:nvSpPr>
          <p:cNvPr id="34820" name="Rectangle 3">
            <a:extLst>
              <a:ext uri="{FF2B5EF4-FFF2-40B4-BE49-F238E27FC236}">
                <a16:creationId xmlns:a16="http://schemas.microsoft.com/office/drawing/2014/main" id="{FE986BF9-D701-E5DD-156C-1B47158AD49F}"/>
              </a:ext>
            </a:extLst>
          </p:cNvPr>
          <p:cNvSpPr>
            <a:spLocks noGrp="1" noRot="1" noChangeAspect="1" noChangeArrowheads="1" noTextEdit="1"/>
          </p:cNvSpPr>
          <p:nvPr>
            <p:ph type="sldImg"/>
          </p:nvPr>
        </p:nvSpPr>
        <p:spPr>
          <a:xfrm>
            <a:off x="1144588" y="685800"/>
            <a:ext cx="4572000" cy="3429000"/>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AE27B52A-642B-755D-29E5-DF43371FBE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E6C4BE16-52BE-1845-A538-018723A94D29}" type="slidenum">
              <a:rPr lang="en-US" altLang="en-US" sz="1200"/>
              <a:pPr/>
              <a:t>17</a:t>
            </a:fld>
            <a:endParaRPr lang="en-US" altLang="en-US" sz="1200"/>
          </a:p>
        </p:txBody>
      </p:sp>
      <p:sp>
        <p:nvSpPr>
          <p:cNvPr id="35843" name="Rectangle 2">
            <a:extLst>
              <a:ext uri="{FF2B5EF4-FFF2-40B4-BE49-F238E27FC236}">
                <a16:creationId xmlns:a16="http://schemas.microsoft.com/office/drawing/2014/main" id="{7138649B-292B-D97E-D0D8-97534DDD2E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9" tIns="44446" rIns="90479" bIns="44446"/>
          <a:lstStyle/>
          <a:p>
            <a:pPr eaLnBrk="1" hangingPunct="1"/>
            <a:r>
              <a:rPr lang="en-US" altLang="en-US">
                <a:latin typeface="Arial" panose="020B0604020202020204" pitchFamily="34" charset="0"/>
                <a:ea typeface="ＭＳ Ｐゴシック" panose="020B0600070205080204" pitchFamily="34" charset="-128"/>
              </a:rPr>
              <a:t>Invalid:</a:t>
            </a:r>
          </a:p>
          <a:p>
            <a:pPr eaLnBrk="1" hangingPunct="1"/>
            <a:r>
              <a:rPr lang="en-US" altLang="en-US">
                <a:latin typeface="Arial" panose="020B0604020202020204" pitchFamily="34" charset="0"/>
                <a:ea typeface="ＭＳ Ｐゴシック" panose="020B0600070205080204" pitchFamily="34" charset="-128"/>
              </a:rPr>
              <a:t>read =&gt; shared</a:t>
            </a:r>
          </a:p>
          <a:p>
            <a:pPr eaLnBrk="1" hangingPunct="1"/>
            <a:r>
              <a:rPr lang="en-US" altLang="en-US">
                <a:latin typeface="Arial" panose="020B0604020202020204" pitchFamily="34" charset="0"/>
                <a:ea typeface="ＭＳ Ｐゴシック" panose="020B0600070205080204" pitchFamily="34" charset="-128"/>
              </a:rPr>
              <a:t>write =&gt; dirty</a:t>
            </a:r>
          </a:p>
          <a:p>
            <a:pPr eaLnBrk="1" hangingPunct="1"/>
            <a:endParaRPr lang="en-US" altLang="en-US">
              <a:latin typeface="Arial" panose="020B0604020202020204" pitchFamily="34"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shared looks the same</a:t>
            </a:r>
          </a:p>
        </p:txBody>
      </p:sp>
      <p:sp>
        <p:nvSpPr>
          <p:cNvPr id="35844" name="Rectangle 3">
            <a:extLst>
              <a:ext uri="{FF2B5EF4-FFF2-40B4-BE49-F238E27FC236}">
                <a16:creationId xmlns:a16="http://schemas.microsoft.com/office/drawing/2014/main" id="{B54088D9-FAC3-EBA8-880E-EB010211491E}"/>
              </a:ext>
            </a:extLst>
          </p:cNvPr>
          <p:cNvSpPr>
            <a:spLocks noGrp="1" noRot="1" noChangeAspect="1" noChangeArrowheads="1" noTextEdit="1"/>
          </p:cNvSpPr>
          <p:nvPr>
            <p:ph type="sldImg"/>
          </p:nvPr>
        </p:nvSpPr>
        <p:spPr>
          <a:xfrm>
            <a:off x="1144588" y="685800"/>
            <a:ext cx="4572000" cy="3429000"/>
          </a:xfrm>
          <a:ln w="12700" cap="flat">
            <a:solidFill>
              <a:schemeClr val="tx1"/>
            </a:solid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C14A402F-F10E-136E-7D5A-2A1728E365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E7BFE271-8537-6D44-9014-7196196D7916}" type="slidenum">
              <a:rPr lang="en-US" altLang="en-US" sz="1200"/>
              <a:pPr/>
              <a:t>19</a:t>
            </a:fld>
            <a:endParaRPr lang="en-US" altLang="en-US" sz="1200"/>
          </a:p>
        </p:txBody>
      </p:sp>
      <p:sp>
        <p:nvSpPr>
          <p:cNvPr id="36867" name="Rectangle 2">
            <a:extLst>
              <a:ext uri="{FF2B5EF4-FFF2-40B4-BE49-F238E27FC236}">
                <a16:creationId xmlns:a16="http://schemas.microsoft.com/office/drawing/2014/main" id="{8418AE2E-6D01-ED4B-6DD6-7B6FFB723943}"/>
              </a:ext>
            </a:extLst>
          </p:cNvPr>
          <p:cNvSpPr>
            <a:spLocks noGrp="1" noRot="1" noChangeAspect="1" noChangeArrowheads="1" noTextEdit="1"/>
          </p:cNvSpPr>
          <p:nvPr>
            <p:ph type="sldImg"/>
          </p:nvPr>
        </p:nvSpPr>
        <p:spPr>
          <a:xfrm>
            <a:off x="1400175" y="877888"/>
            <a:ext cx="4059238" cy="3044825"/>
          </a:xfrm>
          <a:solidFill>
            <a:srgbClr val="FFFFFF"/>
          </a:solidFill>
          <a:ln/>
        </p:spPr>
      </p:sp>
      <p:sp>
        <p:nvSpPr>
          <p:cNvPr id="36868" name="Rectangle 3">
            <a:extLst>
              <a:ext uri="{FF2B5EF4-FFF2-40B4-BE49-F238E27FC236}">
                <a16:creationId xmlns:a16="http://schemas.microsoft.com/office/drawing/2014/main" id="{5A8E2F12-7619-C664-8D06-D6E5A0A33188}"/>
              </a:ext>
            </a:extLst>
          </p:cNvPr>
          <p:cNvSpPr>
            <a:spLocks noGrp="1" noChangeArrowheads="1"/>
          </p:cNvSpPr>
          <p:nvPr>
            <p:ph type="body" idx="1"/>
          </p:nvPr>
        </p:nvSpPr>
        <p:spPr>
          <a:solidFill>
            <a:srgbClr val="FFFFFF"/>
          </a:solidFill>
          <a:ln>
            <a:solidFill>
              <a:srgbClr val="000000"/>
            </a:solidFill>
          </a:ln>
        </p:spPr>
        <p:txBody>
          <a:bodyPr lIns="81363" tIns="40682" rIns="81363" bIns="40682"/>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4A900AA9-C992-BB2C-6E7C-0AA3EB0B28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0823498-F6BB-9B45-BD8C-DC21592840CB}" type="slidenum">
              <a:rPr lang="en-US" altLang="en-US" sz="1200"/>
              <a:pPr/>
              <a:t>20</a:t>
            </a:fld>
            <a:endParaRPr lang="en-US" altLang="en-US" sz="1200"/>
          </a:p>
        </p:txBody>
      </p:sp>
      <p:sp>
        <p:nvSpPr>
          <p:cNvPr id="37891" name="Rectangle 2">
            <a:extLst>
              <a:ext uri="{FF2B5EF4-FFF2-40B4-BE49-F238E27FC236}">
                <a16:creationId xmlns:a16="http://schemas.microsoft.com/office/drawing/2014/main" id="{E4382270-0A7A-4E59-8FF2-16EA4872071B}"/>
              </a:ext>
            </a:extLst>
          </p:cNvPr>
          <p:cNvSpPr>
            <a:spLocks noGrp="1" noRot="1" noChangeAspect="1" noChangeArrowheads="1" noTextEdit="1"/>
          </p:cNvSpPr>
          <p:nvPr>
            <p:ph type="sldImg"/>
          </p:nvPr>
        </p:nvSpPr>
        <p:spPr>
          <a:xfrm>
            <a:off x="1400175" y="877888"/>
            <a:ext cx="4059238" cy="3044825"/>
          </a:xfrm>
          <a:solidFill>
            <a:srgbClr val="FFFFFF"/>
          </a:solidFill>
          <a:ln/>
        </p:spPr>
      </p:sp>
      <p:sp>
        <p:nvSpPr>
          <p:cNvPr id="37892" name="Rectangle 3">
            <a:extLst>
              <a:ext uri="{FF2B5EF4-FFF2-40B4-BE49-F238E27FC236}">
                <a16:creationId xmlns:a16="http://schemas.microsoft.com/office/drawing/2014/main" id="{9DAA07A9-AE83-2F95-85D2-C09D672D383E}"/>
              </a:ext>
            </a:extLst>
          </p:cNvPr>
          <p:cNvSpPr>
            <a:spLocks noGrp="1" noChangeArrowheads="1"/>
          </p:cNvSpPr>
          <p:nvPr>
            <p:ph type="body" idx="1"/>
          </p:nvPr>
        </p:nvSpPr>
        <p:spPr>
          <a:solidFill>
            <a:srgbClr val="FFFFFF"/>
          </a:solidFill>
          <a:ln>
            <a:solidFill>
              <a:srgbClr val="000000"/>
            </a:solidFill>
          </a:ln>
        </p:spPr>
        <p:txBody>
          <a:bodyPr lIns="81363" tIns="40682" rIns="81363" bIns="40682"/>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9E5643AF-FF97-8F5B-DEB0-07E2F89B69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7D3F47A8-AAC5-E343-BDD0-4ACCB19298CF}" type="slidenum">
              <a:rPr lang="en-US" altLang="en-US" sz="1200"/>
              <a:pPr/>
              <a:t>21</a:t>
            </a:fld>
            <a:endParaRPr lang="en-US" altLang="en-US" sz="1200"/>
          </a:p>
        </p:txBody>
      </p:sp>
      <p:sp>
        <p:nvSpPr>
          <p:cNvPr id="38915" name="Rectangle 2">
            <a:extLst>
              <a:ext uri="{FF2B5EF4-FFF2-40B4-BE49-F238E27FC236}">
                <a16:creationId xmlns:a16="http://schemas.microsoft.com/office/drawing/2014/main" id="{9EFE60B1-E072-92CF-D17D-01B7D43909C1}"/>
              </a:ext>
            </a:extLst>
          </p:cNvPr>
          <p:cNvSpPr>
            <a:spLocks noGrp="1" noRot="1" noChangeAspect="1" noChangeArrowheads="1" noTextEdit="1"/>
          </p:cNvSpPr>
          <p:nvPr>
            <p:ph type="sldImg"/>
          </p:nvPr>
        </p:nvSpPr>
        <p:spPr>
          <a:xfrm>
            <a:off x="1400175" y="877888"/>
            <a:ext cx="4059238" cy="3044825"/>
          </a:xfrm>
          <a:solidFill>
            <a:srgbClr val="FFFFFF"/>
          </a:solidFill>
          <a:ln/>
        </p:spPr>
      </p:sp>
      <p:sp>
        <p:nvSpPr>
          <p:cNvPr id="38916" name="Rectangle 3">
            <a:extLst>
              <a:ext uri="{FF2B5EF4-FFF2-40B4-BE49-F238E27FC236}">
                <a16:creationId xmlns:a16="http://schemas.microsoft.com/office/drawing/2014/main" id="{39928B87-F28B-9E14-1625-9B27FE7613DD}"/>
              </a:ext>
            </a:extLst>
          </p:cNvPr>
          <p:cNvSpPr>
            <a:spLocks noGrp="1" noChangeArrowheads="1"/>
          </p:cNvSpPr>
          <p:nvPr>
            <p:ph type="body" idx="1"/>
          </p:nvPr>
        </p:nvSpPr>
        <p:spPr>
          <a:solidFill>
            <a:srgbClr val="FFFFFF"/>
          </a:solidFill>
          <a:ln>
            <a:solidFill>
              <a:srgbClr val="000000"/>
            </a:solidFill>
          </a:ln>
        </p:spPr>
        <p:txBody>
          <a:bodyPr lIns="81363" tIns="40682" rIns="81363" bIns="40682"/>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B5EB9D1-F890-A613-4F2A-F6CC46526C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988086D4-2AD4-C447-A032-9993F7036D89}" type="slidenum">
              <a:rPr lang="en-US" altLang="en-US" sz="1200"/>
              <a:pPr/>
              <a:t>22</a:t>
            </a:fld>
            <a:endParaRPr lang="en-US" altLang="en-US" sz="1200"/>
          </a:p>
        </p:txBody>
      </p:sp>
      <p:sp>
        <p:nvSpPr>
          <p:cNvPr id="39939" name="Rectangle 2">
            <a:extLst>
              <a:ext uri="{FF2B5EF4-FFF2-40B4-BE49-F238E27FC236}">
                <a16:creationId xmlns:a16="http://schemas.microsoft.com/office/drawing/2014/main" id="{F219A1CC-3F1D-A7F1-DF3E-29A52A3349C1}"/>
              </a:ext>
            </a:extLst>
          </p:cNvPr>
          <p:cNvSpPr>
            <a:spLocks noGrp="1" noRot="1" noChangeAspect="1" noChangeArrowheads="1" noTextEdit="1"/>
          </p:cNvSpPr>
          <p:nvPr>
            <p:ph type="sldImg"/>
          </p:nvPr>
        </p:nvSpPr>
        <p:spPr>
          <a:xfrm>
            <a:off x="1400175" y="877888"/>
            <a:ext cx="4059238" cy="3044825"/>
          </a:xfrm>
          <a:solidFill>
            <a:srgbClr val="FFFFFF"/>
          </a:solidFill>
          <a:ln/>
        </p:spPr>
      </p:sp>
      <p:sp>
        <p:nvSpPr>
          <p:cNvPr id="39940" name="Rectangle 3">
            <a:extLst>
              <a:ext uri="{FF2B5EF4-FFF2-40B4-BE49-F238E27FC236}">
                <a16:creationId xmlns:a16="http://schemas.microsoft.com/office/drawing/2014/main" id="{BED8462F-83B7-C4B0-9A33-97C958C1D7AF}"/>
              </a:ext>
            </a:extLst>
          </p:cNvPr>
          <p:cNvSpPr>
            <a:spLocks noGrp="1" noChangeArrowheads="1"/>
          </p:cNvSpPr>
          <p:nvPr>
            <p:ph type="body" idx="1"/>
          </p:nvPr>
        </p:nvSpPr>
        <p:spPr>
          <a:solidFill>
            <a:srgbClr val="FFFFFF"/>
          </a:solidFill>
          <a:ln>
            <a:solidFill>
              <a:srgbClr val="000000"/>
            </a:solidFill>
          </a:ln>
        </p:spPr>
        <p:txBody>
          <a:bodyPr lIns="81363" tIns="40682" rIns="81363" bIns="40682"/>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8A202C78-B76E-AE2A-610E-EFBE59E795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E4D6431F-E734-E94A-B130-1F8275ABAE13}" type="slidenum">
              <a:rPr lang="en-US" altLang="en-US" sz="1200"/>
              <a:pPr/>
              <a:t>23</a:t>
            </a:fld>
            <a:endParaRPr lang="en-US" altLang="en-US" sz="1200"/>
          </a:p>
        </p:txBody>
      </p:sp>
      <p:sp>
        <p:nvSpPr>
          <p:cNvPr id="40963" name="Rectangle 2">
            <a:extLst>
              <a:ext uri="{FF2B5EF4-FFF2-40B4-BE49-F238E27FC236}">
                <a16:creationId xmlns:a16="http://schemas.microsoft.com/office/drawing/2014/main" id="{A7CB7114-5A0D-1590-5801-7FB141AFF6D0}"/>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40964" name="Rectangle 3">
            <a:extLst>
              <a:ext uri="{FF2B5EF4-FFF2-40B4-BE49-F238E27FC236}">
                <a16:creationId xmlns:a16="http://schemas.microsoft.com/office/drawing/2014/main" id="{0AA91EFF-7542-E182-0046-3CBFA3B3FA29}"/>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9EA4AC11-77B5-EB13-A544-2C7A56D42D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9F01E505-68EC-2A4A-9DF6-CDF3F93A1C17}" type="slidenum">
              <a:rPr lang="en-US" altLang="en-US" sz="1200"/>
              <a:pPr/>
              <a:t>24</a:t>
            </a:fld>
            <a:endParaRPr lang="en-US" altLang="en-US" sz="1200"/>
          </a:p>
        </p:txBody>
      </p:sp>
      <p:sp>
        <p:nvSpPr>
          <p:cNvPr id="41987" name="Rectangle 2">
            <a:extLst>
              <a:ext uri="{FF2B5EF4-FFF2-40B4-BE49-F238E27FC236}">
                <a16:creationId xmlns:a16="http://schemas.microsoft.com/office/drawing/2014/main" id="{DA76F50A-B96B-9FAA-99B4-1F1CC14B57D2}"/>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41988" name="Rectangle 3">
            <a:extLst>
              <a:ext uri="{FF2B5EF4-FFF2-40B4-BE49-F238E27FC236}">
                <a16:creationId xmlns:a16="http://schemas.microsoft.com/office/drawing/2014/main" id="{A7EE2745-9C12-463D-EFE7-C24F7136443F}"/>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4CEF63B-710D-A981-D0F9-24A01B7A24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E6CBEEE8-B08E-DD4D-A739-BD4B7A766ACD}" type="slidenum">
              <a:rPr lang="en-US" altLang="en-US" sz="1200"/>
              <a:pPr/>
              <a:t>25</a:t>
            </a:fld>
            <a:endParaRPr lang="en-US" altLang="en-US" sz="1200"/>
          </a:p>
        </p:txBody>
      </p:sp>
      <p:sp>
        <p:nvSpPr>
          <p:cNvPr id="43011" name="Rectangle 2">
            <a:extLst>
              <a:ext uri="{FF2B5EF4-FFF2-40B4-BE49-F238E27FC236}">
                <a16:creationId xmlns:a16="http://schemas.microsoft.com/office/drawing/2014/main" id="{7F3A601B-6D61-12AF-0294-E352ECEFB452}"/>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43012" name="Rectangle 3">
            <a:extLst>
              <a:ext uri="{FF2B5EF4-FFF2-40B4-BE49-F238E27FC236}">
                <a16:creationId xmlns:a16="http://schemas.microsoft.com/office/drawing/2014/main" id="{C7EF5D15-DDD8-E12A-3D4E-6A04741867A7}"/>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7864040C-8441-81C6-D6C3-B20E1D872F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BC66672-5F93-4742-8C1C-0AD8FEDD94D0}" type="slidenum">
              <a:rPr lang="en-US" altLang="en-US" sz="1200"/>
              <a:pPr/>
              <a:t>26</a:t>
            </a:fld>
            <a:endParaRPr lang="en-US" altLang="en-US" sz="1200"/>
          </a:p>
        </p:txBody>
      </p:sp>
      <p:sp>
        <p:nvSpPr>
          <p:cNvPr id="44035" name="Rectangle 2">
            <a:extLst>
              <a:ext uri="{FF2B5EF4-FFF2-40B4-BE49-F238E27FC236}">
                <a16:creationId xmlns:a16="http://schemas.microsoft.com/office/drawing/2014/main" id="{F889D650-8CCB-5100-487C-6F33AF8C9B64}"/>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44036" name="Rectangle 3">
            <a:extLst>
              <a:ext uri="{FF2B5EF4-FFF2-40B4-BE49-F238E27FC236}">
                <a16:creationId xmlns:a16="http://schemas.microsoft.com/office/drawing/2014/main" id="{A35691C6-F7A2-4423-7302-797C3EF10137}"/>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D759848E-8DCE-0316-4D9A-9291594948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A64E878E-4498-E94A-8388-5B0D884AA509}" type="slidenum">
              <a:rPr lang="en-US" altLang="en-US" sz="1200"/>
              <a:pPr/>
              <a:t>27</a:t>
            </a:fld>
            <a:endParaRPr lang="en-US" altLang="en-US" sz="1200"/>
          </a:p>
        </p:txBody>
      </p:sp>
      <p:sp>
        <p:nvSpPr>
          <p:cNvPr id="45059" name="Rectangle 2">
            <a:extLst>
              <a:ext uri="{FF2B5EF4-FFF2-40B4-BE49-F238E27FC236}">
                <a16:creationId xmlns:a16="http://schemas.microsoft.com/office/drawing/2014/main" id="{9CA40799-002E-60D3-D9DE-B2E821226F86}"/>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45060" name="Rectangle 3">
            <a:extLst>
              <a:ext uri="{FF2B5EF4-FFF2-40B4-BE49-F238E27FC236}">
                <a16:creationId xmlns:a16="http://schemas.microsoft.com/office/drawing/2014/main" id="{2700691F-E34A-4047-36DC-6B144152962B}"/>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450B5C1-5DDE-A822-ED62-019C4B3DB8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B96A601-C8BE-9448-A1D3-927CCA83DF5F}" type="slidenum">
              <a:rPr lang="en-US" altLang="en-US" sz="1200"/>
              <a:pPr/>
              <a:t>28</a:t>
            </a:fld>
            <a:endParaRPr lang="en-US" altLang="en-US" sz="1200"/>
          </a:p>
        </p:txBody>
      </p:sp>
      <p:sp>
        <p:nvSpPr>
          <p:cNvPr id="46083" name="Rectangle 2">
            <a:extLst>
              <a:ext uri="{FF2B5EF4-FFF2-40B4-BE49-F238E27FC236}">
                <a16:creationId xmlns:a16="http://schemas.microsoft.com/office/drawing/2014/main" id="{0382FD06-A631-95B2-B0C4-4AA4DC96EC45}"/>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46084" name="Rectangle 3">
            <a:extLst>
              <a:ext uri="{FF2B5EF4-FFF2-40B4-BE49-F238E27FC236}">
                <a16:creationId xmlns:a16="http://schemas.microsoft.com/office/drawing/2014/main" id="{2F6295EF-F9F1-1F0A-95E9-0FDABFB87A97}"/>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a:t>Click to edit Master subtitle style</a:t>
            </a:r>
            <a:endParaRPr lang="en-US"/>
          </a:p>
        </p:txBody>
      </p:sp>
      <p:sp>
        <p:nvSpPr>
          <p:cNvPr id="4" name="Rectangle 4">
            <a:extLst>
              <a:ext uri="{FF2B5EF4-FFF2-40B4-BE49-F238E27FC236}">
                <a16:creationId xmlns:a16="http://schemas.microsoft.com/office/drawing/2014/main" id="{8BF3C3DD-63E7-75D3-6E0E-E5825D2396B0}"/>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5" name="Rectangle 5">
            <a:extLst>
              <a:ext uri="{FF2B5EF4-FFF2-40B4-BE49-F238E27FC236}">
                <a16:creationId xmlns:a16="http://schemas.microsoft.com/office/drawing/2014/main" id="{0FE0FC17-AFC8-BDAF-9158-E906413A5C82}"/>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6" name="Rectangle 6">
            <a:extLst>
              <a:ext uri="{FF2B5EF4-FFF2-40B4-BE49-F238E27FC236}">
                <a16:creationId xmlns:a16="http://schemas.microsoft.com/office/drawing/2014/main" id="{4AE002B1-167E-5670-21AE-CDF4B95830F6}"/>
              </a:ext>
            </a:extLst>
          </p:cNvPr>
          <p:cNvSpPr>
            <a:spLocks noGrp="1" noChangeArrowheads="1"/>
          </p:cNvSpPr>
          <p:nvPr>
            <p:ph type="sldNum" sz="quarter" idx="12"/>
          </p:nvPr>
        </p:nvSpPr>
        <p:spPr>
          <a:ln/>
        </p:spPr>
        <p:txBody>
          <a:bodyPr/>
          <a:lstStyle>
            <a:lvl1pPr>
              <a:defRPr/>
            </a:lvl1pPr>
          </a:lstStyle>
          <a:p>
            <a:fld id="{9460B6DF-1C02-CB4E-B813-8C60AD796A81}" type="slidenum">
              <a:rPr lang="en-US" altLang="en-US"/>
              <a:pPr/>
              <a:t>‹#›</a:t>
            </a:fld>
            <a:r>
              <a:rPr lang="en-US" altLang="en-US"/>
              <a:t> </a:t>
            </a:r>
          </a:p>
        </p:txBody>
      </p:sp>
    </p:spTree>
    <p:extLst>
      <p:ext uri="{BB962C8B-B14F-4D97-AF65-F5344CB8AC3E}">
        <p14:creationId xmlns:p14="http://schemas.microsoft.com/office/powerpoint/2010/main" val="2489388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CA"/>
              <a:t>Click to edit Master title style</a:t>
            </a:r>
            <a:endParaRPr lang="en-US"/>
          </a:p>
        </p:txBody>
      </p:sp>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4" name="Rectangle 4">
            <a:extLst>
              <a:ext uri="{FF2B5EF4-FFF2-40B4-BE49-F238E27FC236}">
                <a16:creationId xmlns:a16="http://schemas.microsoft.com/office/drawing/2014/main" id="{CA89D698-763C-0934-4B66-B62C92443BB3}"/>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5" name="Rectangle 5">
            <a:extLst>
              <a:ext uri="{FF2B5EF4-FFF2-40B4-BE49-F238E27FC236}">
                <a16:creationId xmlns:a16="http://schemas.microsoft.com/office/drawing/2014/main" id="{0B93B011-84D7-5643-FEF3-2553F3822912}"/>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6" name="Rectangle 6">
            <a:extLst>
              <a:ext uri="{FF2B5EF4-FFF2-40B4-BE49-F238E27FC236}">
                <a16:creationId xmlns:a16="http://schemas.microsoft.com/office/drawing/2014/main" id="{68D3749D-0DF7-C90D-1F92-F28BF8B0AEF4}"/>
              </a:ext>
            </a:extLst>
          </p:cNvPr>
          <p:cNvSpPr>
            <a:spLocks noGrp="1" noChangeArrowheads="1"/>
          </p:cNvSpPr>
          <p:nvPr>
            <p:ph type="sldNum" sz="quarter" idx="12"/>
          </p:nvPr>
        </p:nvSpPr>
        <p:spPr>
          <a:ln/>
        </p:spPr>
        <p:txBody>
          <a:bodyPr/>
          <a:lstStyle>
            <a:lvl1pPr>
              <a:defRPr/>
            </a:lvl1pPr>
          </a:lstStyle>
          <a:p>
            <a:fld id="{DE90159F-4C86-B34D-BB26-3AFC4E9066E8}" type="slidenum">
              <a:rPr lang="en-US" altLang="en-US"/>
              <a:pPr/>
              <a:t>‹#›</a:t>
            </a:fld>
            <a:r>
              <a:rPr lang="en-US" altLang="en-US"/>
              <a:t> </a:t>
            </a:r>
          </a:p>
        </p:txBody>
      </p:sp>
    </p:spTree>
    <p:extLst>
      <p:ext uri="{BB962C8B-B14F-4D97-AF65-F5344CB8AC3E}">
        <p14:creationId xmlns:p14="http://schemas.microsoft.com/office/powerpoint/2010/main" val="3823257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a:t>Click to edit Master text styles</a:t>
            </a:r>
          </a:p>
        </p:txBody>
      </p:sp>
      <p:sp>
        <p:nvSpPr>
          <p:cNvPr id="4" name="Rectangle 4">
            <a:extLst>
              <a:ext uri="{FF2B5EF4-FFF2-40B4-BE49-F238E27FC236}">
                <a16:creationId xmlns:a16="http://schemas.microsoft.com/office/drawing/2014/main" id="{F095FDD8-BB8E-1391-8067-0C134E93EE2F}"/>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5" name="Rectangle 5">
            <a:extLst>
              <a:ext uri="{FF2B5EF4-FFF2-40B4-BE49-F238E27FC236}">
                <a16:creationId xmlns:a16="http://schemas.microsoft.com/office/drawing/2014/main" id="{00256513-1289-DF99-59E6-2845DE4D57B8}"/>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6" name="Rectangle 6">
            <a:extLst>
              <a:ext uri="{FF2B5EF4-FFF2-40B4-BE49-F238E27FC236}">
                <a16:creationId xmlns:a16="http://schemas.microsoft.com/office/drawing/2014/main" id="{B5F951A5-4BC4-4ED5-A32B-382C4AA1DC68}"/>
              </a:ext>
            </a:extLst>
          </p:cNvPr>
          <p:cNvSpPr>
            <a:spLocks noGrp="1" noChangeArrowheads="1"/>
          </p:cNvSpPr>
          <p:nvPr>
            <p:ph type="sldNum" sz="quarter" idx="12"/>
          </p:nvPr>
        </p:nvSpPr>
        <p:spPr>
          <a:ln/>
        </p:spPr>
        <p:txBody>
          <a:bodyPr/>
          <a:lstStyle>
            <a:lvl1pPr>
              <a:defRPr/>
            </a:lvl1pPr>
          </a:lstStyle>
          <a:p>
            <a:fld id="{D58E5B88-E657-DA46-A073-69AF6C3EA2FE}" type="slidenum">
              <a:rPr lang="en-US" altLang="en-US"/>
              <a:pPr/>
              <a:t>‹#›</a:t>
            </a:fld>
            <a:r>
              <a:rPr lang="en-US" altLang="en-US"/>
              <a:t> </a:t>
            </a:r>
          </a:p>
        </p:txBody>
      </p:sp>
    </p:spTree>
    <p:extLst>
      <p:ext uri="{BB962C8B-B14F-4D97-AF65-F5344CB8AC3E}">
        <p14:creationId xmlns:p14="http://schemas.microsoft.com/office/powerpoint/2010/main" val="228424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6858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82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Rectangle 4">
            <a:extLst>
              <a:ext uri="{FF2B5EF4-FFF2-40B4-BE49-F238E27FC236}">
                <a16:creationId xmlns:a16="http://schemas.microsoft.com/office/drawing/2014/main" id="{7473C222-A8FA-A001-418D-0293CC4BA95E}"/>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6" name="Rectangle 5">
            <a:extLst>
              <a:ext uri="{FF2B5EF4-FFF2-40B4-BE49-F238E27FC236}">
                <a16:creationId xmlns:a16="http://schemas.microsoft.com/office/drawing/2014/main" id="{E3390AE6-76BB-56DC-CC34-DC174A83E0C0}"/>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7" name="Rectangle 6">
            <a:extLst>
              <a:ext uri="{FF2B5EF4-FFF2-40B4-BE49-F238E27FC236}">
                <a16:creationId xmlns:a16="http://schemas.microsoft.com/office/drawing/2014/main" id="{89AAF916-1DB9-45BB-835A-66ACDDBA5E06}"/>
              </a:ext>
            </a:extLst>
          </p:cNvPr>
          <p:cNvSpPr>
            <a:spLocks noGrp="1" noChangeArrowheads="1"/>
          </p:cNvSpPr>
          <p:nvPr>
            <p:ph type="sldNum" sz="quarter" idx="12"/>
          </p:nvPr>
        </p:nvSpPr>
        <p:spPr>
          <a:ln/>
        </p:spPr>
        <p:txBody>
          <a:bodyPr/>
          <a:lstStyle>
            <a:lvl1pPr>
              <a:defRPr/>
            </a:lvl1pPr>
          </a:lstStyle>
          <a:p>
            <a:fld id="{F360480B-EF6F-DB4C-8EC4-166011367F5C}" type="slidenum">
              <a:rPr lang="en-US" altLang="en-US"/>
              <a:pPr/>
              <a:t>‹#›</a:t>
            </a:fld>
            <a:r>
              <a:rPr lang="en-US" altLang="en-US"/>
              <a:t> </a:t>
            </a:r>
          </a:p>
        </p:txBody>
      </p:sp>
    </p:spTree>
    <p:extLst>
      <p:ext uri="{BB962C8B-B14F-4D97-AF65-F5344CB8AC3E}">
        <p14:creationId xmlns:p14="http://schemas.microsoft.com/office/powerpoint/2010/main" val="2908801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Rectangle 4">
            <a:extLst>
              <a:ext uri="{FF2B5EF4-FFF2-40B4-BE49-F238E27FC236}">
                <a16:creationId xmlns:a16="http://schemas.microsoft.com/office/drawing/2014/main" id="{36D2E7BB-214E-7E91-77E6-E08D997F9767}"/>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8" name="Rectangle 5">
            <a:extLst>
              <a:ext uri="{FF2B5EF4-FFF2-40B4-BE49-F238E27FC236}">
                <a16:creationId xmlns:a16="http://schemas.microsoft.com/office/drawing/2014/main" id="{5837EC28-037C-BC74-B492-1DE633B2EA33}"/>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9" name="Rectangle 6">
            <a:extLst>
              <a:ext uri="{FF2B5EF4-FFF2-40B4-BE49-F238E27FC236}">
                <a16:creationId xmlns:a16="http://schemas.microsoft.com/office/drawing/2014/main" id="{AEDF1950-97E1-2278-FA91-28CB54BAA221}"/>
              </a:ext>
            </a:extLst>
          </p:cNvPr>
          <p:cNvSpPr>
            <a:spLocks noGrp="1" noChangeArrowheads="1"/>
          </p:cNvSpPr>
          <p:nvPr>
            <p:ph type="sldNum" sz="quarter" idx="12"/>
          </p:nvPr>
        </p:nvSpPr>
        <p:spPr>
          <a:ln/>
        </p:spPr>
        <p:txBody>
          <a:bodyPr/>
          <a:lstStyle>
            <a:lvl1pPr>
              <a:defRPr/>
            </a:lvl1pPr>
          </a:lstStyle>
          <a:p>
            <a:fld id="{5F1A3A80-E7C2-A84D-9F26-5807F8EC729C}" type="slidenum">
              <a:rPr lang="en-US" altLang="en-US"/>
              <a:pPr/>
              <a:t>‹#›</a:t>
            </a:fld>
            <a:r>
              <a:rPr lang="en-US" altLang="en-US"/>
              <a:t> </a:t>
            </a:r>
          </a:p>
        </p:txBody>
      </p:sp>
    </p:spTree>
    <p:extLst>
      <p:ext uri="{BB962C8B-B14F-4D97-AF65-F5344CB8AC3E}">
        <p14:creationId xmlns:p14="http://schemas.microsoft.com/office/powerpoint/2010/main" val="147907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Rectangle 4">
            <a:extLst>
              <a:ext uri="{FF2B5EF4-FFF2-40B4-BE49-F238E27FC236}">
                <a16:creationId xmlns:a16="http://schemas.microsoft.com/office/drawing/2014/main" id="{C3D64FF3-B279-D8C3-C970-CD09E4ED82BC}"/>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4" name="Rectangle 5">
            <a:extLst>
              <a:ext uri="{FF2B5EF4-FFF2-40B4-BE49-F238E27FC236}">
                <a16:creationId xmlns:a16="http://schemas.microsoft.com/office/drawing/2014/main" id="{552E71AC-6400-D3D7-8984-33C4FE5C6257}"/>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5" name="Rectangle 6">
            <a:extLst>
              <a:ext uri="{FF2B5EF4-FFF2-40B4-BE49-F238E27FC236}">
                <a16:creationId xmlns:a16="http://schemas.microsoft.com/office/drawing/2014/main" id="{AFFF28FE-3059-92F4-1C07-302D5B8D6C5F}"/>
              </a:ext>
            </a:extLst>
          </p:cNvPr>
          <p:cNvSpPr>
            <a:spLocks noGrp="1" noChangeArrowheads="1"/>
          </p:cNvSpPr>
          <p:nvPr>
            <p:ph type="sldNum" sz="quarter" idx="12"/>
          </p:nvPr>
        </p:nvSpPr>
        <p:spPr>
          <a:ln/>
        </p:spPr>
        <p:txBody>
          <a:bodyPr/>
          <a:lstStyle>
            <a:lvl1pPr>
              <a:defRPr/>
            </a:lvl1pPr>
          </a:lstStyle>
          <a:p>
            <a:fld id="{C7EB28E7-308B-3549-B296-690155153D4E}" type="slidenum">
              <a:rPr lang="en-US" altLang="en-US"/>
              <a:pPr/>
              <a:t>‹#›</a:t>
            </a:fld>
            <a:r>
              <a:rPr lang="en-US" altLang="en-US"/>
              <a:t> </a:t>
            </a:r>
          </a:p>
        </p:txBody>
      </p:sp>
    </p:spTree>
    <p:extLst>
      <p:ext uri="{BB962C8B-B14F-4D97-AF65-F5344CB8AC3E}">
        <p14:creationId xmlns:p14="http://schemas.microsoft.com/office/powerpoint/2010/main" val="130386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50DB0BB-C85D-C81D-BC64-D36F08B14F38}"/>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3" name="Rectangle 5">
            <a:extLst>
              <a:ext uri="{FF2B5EF4-FFF2-40B4-BE49-F238E27FC236}">
                <a16:creationId xmlns:a16="http://schemas.microsoft.com/office/drawing/2014/main" id="{93FB2271-D810-F0BD-FA26-02D4FDDAB98E}"/>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4" name="Rectangle 6">
            <a:extLst>
              <a:ext uri="{FF2B5EF4-FFF2-40B4-BE49-F238E27FC236}">
                <a16:creationId xmlns:a16="http://schemas.microsoft.com/office/drawing/2014/main" id="{3C141405-4D52-FACA-DCAE-B0CEE392DD46}"/>
              </a:ext>
            </a:extLst>
          </p:cNvPr>
          <p:cNvSpPr>
            <a:spLocks noGrp="1" noChangeArrowheads="1"/>
          </p:cNvSpPr>
          <p:nvPr>
            <p:ph type="sldNum" sz="quarter" idx="12"/>
          </p:nvPr>
        </p:nvSpPr>
        <p:spPr>
          <a:ln/>
        </p:spPr>
        <p:txBody>
          <a:bodyPr/>
          <a:lstStyle>
            <a:lvl1pPr>
              <a:defRPr/>
            </a:lvl1pPr>
          </a:lstStyle>
          <a:p>
            <a:fld id="{0837BCA1-2DD0-DB43-975D-59AFB89822F1}" type="slidenum">
              <a:rPr lang="en-US" altLang="en-US"/>
              <a:pPr/>
              <a:t>‹#›</a:t>
            </a:fld>
            <a:r>
              <a:rPr lang="en-US" altLang="en-US"/>
              <a:t> </a:t>
            </a:r>
          </a:p>
        </p:txBody>
      </p:sp>
    </p:spTree>
    <p:extLst>
      <p:ext uri="{BB962C8B-B14F-4D97-AF65-F5344CB8AC3E}">
        <p14:creationId xmlns:p14="http://schemas.microsoft.com/office/powerpoint/2010/main" val="2639271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Rectangle 4">
            <a:extLst>
              <a:ext uri="{FF2B5EF4-FFF2-40B4-BE49-F238E27FC236}">
                <a16:creationId xmlns:a16="http://schemas.microsoft.com/office/drawing/2014/main" id="{0CD55DBE-0161-AD5F-ECC3-1F8D245610FA}"/>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6" name="Rectangle 5">
            <a:extLst>
              <a:ext uri="{FF2B5EF4-FFF2-40B4-BE49-F238E27FC236}">
                <a16:creationId xmlns:a16="http://schemas.microsoft.com/office/drawing/2014/main" id="{D7E77DBD-403C-B7CA-DB41-725070623BD7}"/>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7" name="Rectangle 6">
            <a:extLst>
              <a:ext uri="{FF2B5EF4-FFF2-40B4-BE49-F238E27FC236}">
                <a16:creationId xmlns:a16="http://schemas.microsoft.com/office/drawing/2014/main" id="{1718454A-E20C-A07E-D42D-2E023FCE0191}"/>
              </a:ext>
            </a:extLst>
          </p:cNvPr>
          <p:cNvSpPr>
            <a:spLocks noGrp="1" noChangeArrowheads="1"/>
          </p:cNvSpPr>
          <p:nvPr>
            <p:ph type="sldNum" sz="quarter" idx="12"/>
          </p:nvPr>
        </p:nvSpPr>
        <p:spPr>
          <a:ln/>
        </p:spPr>
        <p:txBody>
          <a:bodyPr/>
          <a:lstStyle>
            <a:lvl1pPr>
              <a:defRPr/>
            </a:lvl1pPr>
          </a:lstStyle>
          <a:p>
            <a:fld id="{107D1D04-7CAB-4D40-83B7-93F99252FAAC}" type="slidenum">
              <a:rPr lang="en-US" altLang="en-US"/>
              <a:pPr/>
              <a:t>‹#›</a:t>
            </a:fld>
            <a:r>
              <a:rPr lang="en-US" altLang="en-US"/>
              <a:t> </a:t>
            </a:r>
          </a:p>
        </p:txBody>
      </p:sp>
    </p:spTree>
    <p:extLst>
      <p:ext uri="{BB962C8B-B14F-4D97-AF65-F5344CB8AC3E}">
        <p14:creationId xmlns:p14="http://schemas.microsoft.com/office/powerpoint/2010/main" val="3484289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Rectangle 4">
            <a:extLst>
              <a:ext uri="{FF2B5EF4-FFF2-40B4-BE49-F238E27FC236}">
                <a16:creationId xmlns:a16="http://schemas.microsoft.com/office/drawing/2014/main" id="{86F395E3-3BA6-894A-99F8-C2DB07DEF03C}"/>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6" name="Rectangle 5">
            <a:extLst>
              <a:ext uri="{FF2B5EF4-FFF2-40B4-BE49-F238E27FC236}">
                <a16:creationId xmlns:a16="http://schemas.microsoft.com/office/drawing/2014/main" id="{F8D318C1-5B86-8B76-8E3C-0B58E2DCA212}"/>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7" name="Rectangle 6">
            <a:extLst>
              <a:ext uri="{FF2B5EF4-FFF2-40B4-BE49-F238E27FC236}">
                <a16:creationId xmlns:a16="http://schemas.microsoft.com/office/drawing/2014/main" id="{A22B6D6F-BC70-4B3E-10BA-D73884F888FD}"/>
              </a:ext>
            </a:extLst>
          </p:cNvPr>
          <p:cNvSpPr>
            <a:spLocks noGrp="1" noChangeArrowheads="1"/>
          </p:cNvSpPr>
          <p:nvPr>
            <p:ph type="sldNum" sz="quarter" idx="12"/>
          </p:nvPr>
        </p:nvSpPr>
        <p:spPr>
          <a:ln/>
        </p:spPr>
        <p:txBody>
          <a:bodyPr/>
          <a:lstStyle>
            <a:lvl1pPr>
              <a:defRPr/>
            </a:lvl1pPr>
          </a:lstStyle>
          <a:p>
            <a:fld id="{D3078FD3-F765-C346-A53C-F228E3CCB2A2}" type="slidenum">
              <a:rPr lang="en-US" altLang="en-US"/>
              <a:pPr/>
              <a:t>‹#›</a:t>
            </a:fld>
            <a:r>
              <a:rPr lang="en-US" altLang="en-US"/>
              <a:t> </a:t>
            </a:r>
          </a:p>
        </p:txBody>
      </p:sp>
    </p:spTree>
    <p:extLst>
      <p:ext uri="{BB962C8B-B14F-4D97-AF65-F5344CB8AC3E}">
        <p14:creationId xmlns:p14="http://schemas.microsoft.com/office/powerpoint/2010/main" val="563573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a:extLst>
              <a:ext uri="{FF2B5EF4-FFF2-40B4-BE49-F238E27FC236}">
                <a16:creationId xmlns:a16="http://schemas.microsoft.com/office/drawing/2014/main" id="{FF03BE29-B4CA-15CA-5A20-98CB7BE737E9}"/>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5" name="Rectangle 5">
            <a:extLst>
              <a:ext uri="{FF2B5EF4-FFF2-40B4-BE49-F238E27FC236}">
                <a16:creationId xmlns:a16="http://schemas.microsoft.com/office/drawing/2014/main" id="{83DDE766-A62B-81CC-EF9E-1F9D0C00F53C}"/>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6" name="Rectangle 6">
            <a:extLst>
              <a:ext uri="{FF2B5EF4-FFF2-40B4-BE49-F238E27FC236}">
                <a16:creationId xmlns:a16="http://schemas.microsoft.com/office/drawing/2014/main" id="{A93C110D-6C0F-7565-D5E1-68D4561FC965}"/>
              </a:ext>
            </a:extLst>
          </p:cNvPr>
          <p:cNvSpPr>
            <a:spLocks noGrp="1" noChangeArrowheads="1"/>
          </p:cNvSpPr>
          <p:nvPr>
            <p:ph type="sldNum" sz="quarter" idx="12"/>
          </p:nvPr>
        </p:nvSpPr>
        <p:spPr>
          <a:ln/>
        </p:spPr>
        <p:txBody>
          <a:bodyPr/>
          <a:lstStyle>
            <a:lvl1pPr>
              <a:defRPr/>
            </a:lvl1pPr>
          </a:lstStyle>
          <a:p>
            <a:fld id="{1A352E6C-2729-6543-AAC9-8FD298E820AD}" type="slidenum">
              <a:rPr lang="en-US" altLang="en-US"/>
              <a:pPr/>
              <a:t>‹#›</a:t>
            </a:fld>
            <a:r>
              <a:rPr lang="en-US" altLang="en-US"/>
              <a:t> </a:t>
            </a:r>
          </a:p>
        </p:txBody>
      </p:sp>
    </p:spTree>
    <p:extLst>
      <p:ext uri="{BB962C8B-B14F-4D97-AF65-F5344CB8AC3E}">
        <p14:creationId xmlns:p14="http://schemas.microsoft.com/office/powerpoint/2010/main" val="982595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0"/>
            <a:ext cx="1943100" cy="6096000"/>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685800" y="0"/>
            <a:ext cx="5676900" cy="6096000"/>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a:extLst>
              <a:ext uri="{FF2B5EF4-FFF2-40B4-BE49-F238E27FC236}">
                <a16:creationId xmlns:a16="http://schemas.microsoft.com/office/drawing/2014/main" id="{964998FC-A110-F849-7FED-A0605F4841EE}"/>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5" name="Rectangle 5">
            <a:extLst>
              <a:ext uri="{FF2B5EF4-FFF2-40B4-BE49-F238E27FC236}">
                <a16:creationId xmlns:a16="http://schemas.microsoft.com/office/drawing/2014/main" id="{242A9B78-14E8-660D-12C2-FC37333813F4}"/>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6" name="Rectangle 6">
            <a:extLst>
              <a:ext uri="{FF2B5EF4-FFF2-40B4-BE49-F238E27FC236}">
                <a16:creationId xmlns:a16="http://schemas.microsoft.com/office/drawing/2014/main" id="{83E11909-3D27-5D1F-7DAA-8802D6D8DB7A}"/>
              </a:ext>
            </a:extLst>
          </p:cNvPr>
          <p:cNvSpPr>
            <a:spLocks noGrp="1" noChangeArrowheads="1"/>
          </p:cNvSpPr>
          <p:nvPr>
            <p:ph type="sldNum" sz="quarter" idx="12"/>
          </p:nvPr>
        </p:nvSpPr>
        <p:spPr>
          <a:ln/>
        </p:spPr>
        <p:txBody>
          <a:bodyPr/>
          <a:lstStyle>
            <a:lvl1pPr>
              <a:defRPr/>
            </a:lvl1pPr>
          </a:lstStyle>
          <a:p>
            <a:fld id="{B846D936-C751-2A4B-8489-15DB3B573765}" type="slidenum">
              <a:rPr lang="en-US" altLang="en-US"/>
              <a:pPr/>
              <a:t>‹#›</a:t>
            </a:fld>
            <a:r>
              <a:rPr lang="en-US" altLang="en-US"/>
              <a:t> </a:t>
            </a:r>
          </a:p>
        </p:txBody>
      </p:sp>
    </p:spTree>
    <p:extLst>
      <p:ext uri="{BB962C8B-B14F-4D97-AF65-F5344CB8AC3E}">
        <p14:creationId xmlns:p14="http://schemas.microsoft.com/office/powerpoint/2010/main" val="3765417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3000"/>
          </a:xfrm>
        </p:spPr>
        <p:txBody>
          <a:bodyPr/>
          <a:lstStyle/>
          <a:p>
            <a:r>
              <a:rPr lang="en-CA"/>
              <a:t>Click to edit Master title style</a:t>
            </a:r>
            <a:endParaRPr lang="en-US"/>
          </a:p>
        </p:txBody>
      </p:sp>
      <p:sp>
        <p:nvSpPr>
          <p:cNvPr id="3" name="Table Placeholder 2"/>
          <p:cNvSpPr>
            <a:spLocks noGrp="1"/>
          </p:cNvSpPr>
          <p:nvPr>
            <p:ph type="tbl" idx="1"/>
          </p:nvPr>
        </p:nvSpPr>
        <p:spPr>
          <a:xfrm>
            <a:off x="685800" y="1371600"/>
            <a:ext cx="7772400" cy="4724400"/>
          </a:xfrm>
        </p:spPr>
        <p:txBody>
          <a:bodyPr/>
          <a:lstStyle/>
          <a:p>
            <a:pPr lvl="0"/>
            <a:endParaRPr lang="en-US" noProof="0"/>
          </a:p>
        </p:txBody>
      </p:sp>
      <p:sp>
        <p:nvSpPr>
          <p:cNvPr id="4" name="Rectangle 4">
            <a:extLst>
              <a:ext uri="{FF2B5EF4-FFF2-40B4-BE49-F238E27FC236}">
                <a16:creationId xmlns:a16="http://schemas.microsoft.com/office/drawing/2014/main" id="{A751C294-E213-9A5D-CC84-F8DBF3AF417D}"/>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5" name="Rectangle 5">
            <a:extLst>
              <a:ext uri="{FF2B5EF4-FFF2-40B4-BE49-F238E27FC236}">
                <a16:creationId xmlns:a16="http://schemas.microsoft.com/office/drawing/2014/main" id="{39E9113A-4A2D-D07B-0F72-16E46710269F}"/>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6" name="Rectangle 6">
            <a:extLst>
              <a:ext uri="{FF2B5EF4-FFF2-40B4-BE49-F238E27FC236}">
                <a16:creationId xmlns:a16="http://schemas.microsoft.com/office/drawing/2014/main" id="{E5326D2C-AEB7-91BC-2C3D-262160BBE025}"/>
              </a:ext>
            </a:extLst>
          </p:cNvPr>
          <p:cNvSpPr>
            <a:spLocks noGrp="1" noChangeArrowheads="1"/>
          </p:cNvSpPr>
          <p:nvPr>
            <p:ph type="sldNum" sz="quarter" idx="12"/>
          </p:nvPr>
        </p:nvSpPr>
        <p:spPr>
          <a:ln/>
        </p:spPr>
        <p:txBody>
          <a:bodyPr/>
          <a:lstStyle>
            <a:lvl1pPr>
              <a:defRPr/>
            </a:lvl1pPr>
          </a:lstStyle>
          <a:p>
            <a:fld id="{FC29C5A6-A962-A842-A9AA-0D945DD966A0}" type="slidenum">
              <a:rPr lang="en-US" altLang="en-US"/>
              <a:pPr/>
              <a:t>‹#›</a:t>
            </a:fld>
            <a:r>
              <a:rPr lang="en-US" altLang="en-US"/>
              <a:t> </a:t>
            </a:r>
          </a:p>
        </p:txBody>
      </p:sp>
    </p:spTree>
    <p:extLst>
      <p:ext uri="{BB962C8B-B14F-4D97-AF65-F5344CB8AC3E}">
        <p14:creationId xmlns:p14="http://schemas.microsoft.com/office/powerpoint/2010/main" val="1050027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3000"/>
          </a:xfrm>
        </p:spPr>
        <p:txBody>
          <a:bodyPr/>
          <a:lstStyle/>
          <a:p>
            <a:r>
              <a:rPr lang="en-CA"/>
              <a:t>Click to edit Master title style</a:t>
            </a:r>
            <a:endParaRPr lang="en-US"/>
          </a:p>
        </p:txBody>
      </p:sp>
      <p:sp>
        <p:nvSpPr>
          <p:cNvPr id="3" name="Chart Placeholder 2"/>
          <p:cNvSpPr>
            <a:spLocks noGrp="1"/>
          </p:cNvSpPr>
          <p:nvPr>
            <p:ph type="chart" idx="1"/>
          </p:nvPr>
        </p:nvSpPr>
        <p:spPr>
          <a:xfrm>
            <a:off x="685800" y="1371600"/>
            <a:ext cx="7772400" cy="4724400"/>
          </a:xfrm>
        </p:spPr>
        <p:txBody>
          <a:bodyPr/>
          <a:lstStyle/>
          <a:p>
            <a:pPr lvl="0"/>
            <a:endParaRPr lang="en-US" noProof="0"/>
          </a:p>
        </p:txBody>
      </p:sp>
      <p:sp>
        <p:nvSpPr>
          <p:cNvPr id="4" name="Rectangle 4">
            <a:extLst>
              <a:ext uri="{FF2B5EF4-FFF2-40B4-BE49-F238E27FC236}">
                <a16:creationId xmlns:a16="http://schemas.microsoft.com/office/drawing/2014/main" id="{5F2E9513-1C39-E02B-B32F-E8923732EF8B}"/>
              </a:ext>
            </a:extLst>
          </p:cNvPr>
          <p:cNvSpPr>
            <a:spLocks noGrp="1" noChangeArrowheads="1"/>
          </p:cNvSpPr>
          <p:nvPr>
            <p:ph type="dt" sz="half" idx="10"/>
          </p:nvPr>
        </p:nvSpPr>
        <p:spPr>
          <a:ln/>
        </p:spPr>
        <p:txBody>
          <a:bodyPr/>
          <a:lstStyle>
            <a:lvl1pPr>
              <a:defRPr/>
            </a:lvl1pPr>
          </a:lstStyle>
          <a:p>
            <a:pPr>
              <a:defRPr/>
            </a:pPr>
            <a:r>
              <a:rPr lang="en-US"/>
              <a:t>Nov. 19, 2008</a:t>
            </a:r>
          </a:p>
        </p:txBody>
      </p:sp>
      <p:sp>
        <p:nvSpPr>
          <p:cNvPr id="5" name="Rectangle 5">
            <a:extLst>
              <a:ext uri="{FF2B5EF4-FFF2-40B4-BE49-F238E27FC236}">
                <a16:creationId xmlns:a16="http://schemas.microsoft.com/office/drawing/2014/main" id="{072B964D-8F7B-F61E-41BA-81C31AE0DCAB}"/>
              </a:ext>
            </a:extLst>
          </p:cNvPr>
          <p:cNvSpPr>
            <a:spLocks noGrp="1" noChangeArrowheads="1"/>
          </p:cNvSpPr>
          <p:nvPr>
            <p:ph type="ftr" sz="quarter" idx="11"/>
          </p:nvPr>
        </p:nvSpPr>
        <p:spPr>
          <a:ln/>
        </p:spPr>
        <p:txBody>
          <a:bodyPr/>
          <a:lstStyle>
            <a:lvl1pPr>
              <a:defRPr/>
            </a:lvl1pPr>
          </a:lstStyle>
          <a:p>
            <a:pPr>
              <a:defRPr/>
            </a:pPr>
            <a:r>
              <a:rPr lang="en-US"/>
              <a:t>EECE 476 - Slide Set 14</a:t>
            </a:r>
          </a:p>
        </p:txBody>
      </p:sp>
      <p:sp>
        <p:nvSpPr>
          <p:cNvPr id="6" name="Rectangle 6">
            <a:extLst>
              <a:ext uri="{FF2B5EF4-FFF2-40B4-BE49-F238E27FC236}">
                <a16:creationId xmlns:a16="http://schemas.microsoft.com/office/drawing/2014/main" id="{92D813B3-86A8-E0D5-D3DE-5FD2B18A2775}"/>
              </a:ext>
            </a:extLst>
          </p:cNvPr>
          <p:cNvSpPr>
            <a:spLocks noGrp="1" noChangeArrowheads="1"/>
          </p:cNvSpPr>
          <p:nvPr>
            <p:ph type="sldNum" sz="quarter" idx="12"/>
          </p:nvPr>
        </p:nvSpPr>
        <p:spPr>
          <a:ln/>
        </p:spPr>
        <p:txBody>
          <a:bodyPr/>
          <a:lstStyle>
            <a:lvl1pPr>
              <a:defRPr/>
            </a:lvl1pPr>
          </a:lstStyle>
          <a:p>
            <a:fld id="{F4817480-1AE9-2F47-BE75-9DB8623B0AA6}" type="slidenum">
              <a:rPr lang="en-US" altLang="en-US"/>
              <a:pPr/>
              <a:t>‹#›</a:t>
            </a:fld>
            <a:r>
              <a:rPr lang="en-US" altLang="en-US"/>
              <a:t> </a:t>
            </a:r>
          </a:p>
        </p:txBody>
      </p:sp>
    </p:spTree>
    <p:extLst>
      <p:ext uri="{BB962C8B-B14F-4D97-AF65-F5344CB8AC3E}">
        <p14:creationId xmlns:p14="http://schemas.microsoft.com/office/powerpoint/2010/main" val="1314032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2BC08BE-8467-B045-51A7-F748A09450EE}"/>
              </a:ext>
            </a:extLst>
          </p:cNvPr>
          <p:cNvSpPr>
            <a:spLocks noGrp="1" noChangeArrowheads="1"/>
          </p:cNvSpPr>
          <p:nvPr>
            <p:ph type="title"/>
          </p:nvPr>
        </p:nvSpPr>
        <p:spPr bwMode="auto">
          <a:xfrm>
            <a:off x="685800"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Rectangle 3">
            <a:extLst>
              <a:ext uri="{FF2B5EF4-FFF2-40B4-BE49-F238E27FC236}">
                <a16:creationId xmlns:a16="http://schemas.microsoft.com/office/drawing/2014/main" id="{B17735D8-BA19-78D0-FD74-34B1E72AE87B}"/>
              </a:ext>
            </a:extLst>
          </p:cNvPr>
          <p:cNvSpPr>
            <a:spLocks noGrp="1" noChangeArrowheads="1"/>
          </p:cNvSpPr>
          <p:nvPr>
            <p:ph type="body" idx="1"/>
          </p:nvPr>
        </p:nvSpPr>
        <p:spPr bwMode="auto">
          <a:xfrm>
            <a:off x="685800"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3089053-ED59-5CA2-A59D-D313AFF05F4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mtClean="0">
                <a:latin typeface="Comic Sans MS" pitchFamily="66" charset="0"/>
              </a:defRPr>
            </a:lvl1pPr>
          </a:lstStyle>
          <a:p>
            <a:pPr>
              <a:defRPr/>
            </a:pPr>
            <a:r>
              <a:rPr lang="en-US"/>
              <a:t>Nov. 19, 2008</a:t>
            </a:r>
          </a:p>
        </p:txBody>
      </p:sp>
      <p:sp>
        <p:nvSpPr>
          <p:cNvPr id="1029" name="Rectangle 5">
            <a:extLst>
              <a:ext uri="{FF2B5EF4-FFF2-40B4-BE49-F238E27FC236}">
                <a16:creationId xmlns:a16="http://schemas.microsoft.com/office/drawing/2014/main" id="{A9AD45C7-B25C-BD56-10F7-E028FEEE769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mtClean="0">
                <a:latin typeface="Comic Sans MS" pitchFamily="66" charset="0"/>
              </a:defRPr>
            </a:lvl1pPr>
          </a:lstStyle>
          <a:p>
            <a:pPr>
              <a:defRPr/>
            </a:pPr>
            <a:r>
              <a:rPr lang="en-US"/>
              <a:t>EECE 476 - Slide Set 14</a:t>
            </a:r>
          </a:p>
        </p:txBody>
      </p:sp>
      <p:sp>
        <p:nvSpPr>
          <p:cNvPr id="1030" name="Rectangle 6">
            <a:extLst>
              <a:ext uri="{FF2B5EF4-FFF2-40B4-BE49-F238E27FC236}">
                <a16:creationId xmlns:a16="http://schemas.microsoft.com/office/drawing/2014/main" id="{FE3E2572-96A8-2A78-D101-63E3770C5FC2}"/>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a:cs typeface="Arial" panose="020B0604020202020204" pitchFamily="34" charset="0"/>
              </a:defRPr>
            </a:lvl1pPr>
          </a:lstStyle>
          <a:p>
            <a:fld id="{1623F0E7-4B60-7941-A02B-58424C35395D}" type="slidenum">
              <a:rPr lang="en-US" altLang="en-US"/>
              <a:pPr/>
              <a:t>‹#›</a:t>
            </a:fld>
            <a:r>
              <a:rPr lang="en-US" altLang="en-US"/>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0" fontAlgn="base" hangingPunct="0">
        <a:spcBef>
          <a:spcPct val="0"/>
        </a:spcBef>
        <a:spcAft>
          <a:spcPct val="0"/>
        </a:spcAft>
        <a:defRPr sz="40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000">
          <a:solidFill>
            <a:schemeClr val="tx2"/>
          </a:solidFill>
          <a:latin typeface="Arial" pitchFamily="34" charset="0"/>
          <a:ea typeface="ＭＳ Ｐゴシック" pitchFamily="-106" charset="-128"/>
          <a:cs typeface="Arial" pitchFamily="34" charset="0"/>
        </a:defRPr>
      </a:lvl2pPr>
      <a:lvl3pPr algn="ctr" rtl="0" eaLnBrk="0" fontAlgn="base" hangingPunct="0">
        <a:spcBef>
          <a:spcPct val="0"/>
        </a:spcBef>
        <a:spcAft>
          <a:spcPct val="0"/>
        </a:spcAft>
        <a:defRPr sz="4000">
          <a:solidFill>
            <a:schemeClr val="tx2"/>
          </a:solidFill>
          <a:latin typeface="Arial" pitchFamily="34" charset="0"/>
          <a:ea typeface="ＭＳ Ｐゴシック" pitchFamily="-106" charset="-128"/>
          <a:cs typeface="Arial" pitchFamily="34" charset="0"/>
        </a:defRPr>
      </a:lvl3pPr>
      <a:lvl4pPr algn="ctr" rtl="0" eaLnBrk="0" fontAlgn="base" hangingPunct="0">
        <a:spcBef>
          <a:spcPct val="0"/>
        </a:spcBef>
        <a:spcAft>
          <a:spcPct val="0"/>
        </a:spcAft>
        <a:defRPr sz="4000">
          <a:solidFill>
            <a:schemeClr val="tx2"/>
          </a:solidFill>
          <a:latin typeface="Arial" pitchFamily="34" charset="0"/>
          <a:ea typeface="ＭＳ Ｐゴシック" pitchFamily="-106" charset="-128"/>
          <a:cs typeface="Arial" pitchFamily="34" charset="0"/>
        </a:defRPr>
      </a:lvl4pPr>
      <a:lvl5pPr algn="ctr" rtl="0" eaLnBrk="0" fontAlgn="base" hangingPunct="0">
        <a:spcBef>
          <a:spcPct val="0"/>
        </a:spcBef>
        <a:spcAft>
          <a:spcPct val="0"/>
        </a:spcAft>
        <a:defRPr sz="4000">
          <a:solidFill>
            <a:schemeClr val="tx2"/>
          </a:solidFill>
          <a:latin typeface="Arial" pitchFamily="34" charset="0"/>
          <a:ea typeface="ＭＳ Ｐゴシック" pitchFamily="-106" charset="-128"/>
          <a:cs typeface="Arial" pitchFamily="34" charset="0"/>
        </a:defRPr>
      </a:lvl5pPr>
      <a:lvl6pPr marL="4572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6pPr>
      <a:lvl7pPr marL="9144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7pPr>
      <a:lvl8pPr marL="13716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8pPr>
      <a:lvl9pPr marL="18288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9pPr>
    </p:titleStyle>
    <p:bodyStyle>
      <a:lvl1pPr marL="342900" indent="-342900" algn="l" rtl="0" eaLnBrk="0" fontAlgn="base" hangingPunct="0">
        <a:spcBef>
          <a:spcPct val="20000"/>
        </a:spcBef>
        <a:spcAft>
          <a:spcPct val="0"/>
        </a:spcAft>
        <a:buChar char="•"/>
        <a:defRPr sz="28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Char char="–"/>
        <a:defRPr sz="24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Char char="•"/>
        <a:defRPr sz="20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Char char="–"/>
        <a:defRPr>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Char char="»"/>
        <a:defRPr>
          <a:solidFill>
            <a:schemeClr val="tx1"/>
          </a:solidFill>
          <a:latin typeface="Arial" pitchFamily="34" charset="0"/>
          <a:ea typeface="+mn-ea"/>
          <a:cs typeface="Arial" pitchFamily="34" charset="0"/>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nehalem-1.jpg">
            <a:extLst>
              <a:ext uri="{FF2B5EF4-FFF2-40B4-BE49-F238E27FC236}">
                <a16:creationId xmlns:a16="http://schemas.microsoft.com/office/drawing/2014/main" id="{5788A198-1E9E-D10F-E0D8-A8036E6056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8585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Title 1">
            <a:extLst>
              <a:ext uri="{FF2B5EF4-FFF2-40B4-BE49-F238E27FC236}">
                <a16:creationId xmlns:a16="http://schemas.microsoft.com/office/drawing/2014/main" id="{A1C0300C-A3D0-044F-77FC-026D4FEE4D81}"/>
              </a:ext>
            </a:extLst>
          </p:cNvPr>
          <p:cNvSpPr>
            <a:spLocks noGrp="1"/>
          </p:cNvSpPr>
          <p:nvPr>
            <p:ph type="ctrTitle"/>
          </p:nvPr>
        </p:nvSpPr>
        <p:spPr>
          <a:xfrm>
            <a:off x="806116" y="2093495"/>
            <a:ext cx="7303168" cy="3350794"/>
          </a:xfrm>
          <a:solidFill>
            <a:schemeClr val="bg1">
              <a:alpha val="66570"/>
            </a:schemeClr>
          </a:solidFill>
        </p:spPr>
        <p:txBody>
          <a:bodyPr/>
          <a:lstStyle/>
          <a:p>
            <a:r>
              <a:rPr lang="en-US" altLang="en-US" sz="3200" dirty="0">
                <a:solidFill>
                  <a:srgbClr val="0432FF"/>
                </a:solidFill>
                <a:latin typeface="Arial  " charset="0"/>
              </a:rPr>
              <a:t>CPEN 411: Computer Architecture</a:t>
            </a:r>
            <a:br>
              <a:rPr lang="en-US" altLang="en-US" sz="2400" dirty="0">
                <a:solidFill>
                  <a:srgbClr val="0432FF"/>
                </a:solidFill>
                <a:latin typeface="Arial  " charset="0"/>
              </a:rPr>
            </a:br>
            <a:br>
              <a:rPr lang="en-US" altLang="en-US" dirty="0">
                <a:solidFill>
                  <a:srgbClr val="0432FF"/>
                </a:solidFill>
                <a:latin typeface="Arial  " charset="0"/>
              </a:rPr>
            </a:br>
            <a:r>
              <a:rPr lang="en-US" altLang="en-US" sz="2800" dirty="0">
                <a:solidFill>
                  <a:srgbClr val="0432FF"/>
                </a:solidFill>
                <a:latin typeface="Arial  " charset="0"/>
              </a:rPr>
              <a:t>Slide Set #19: Cache Coherence, Part 2</a:t>
            </a:r>
            <a:br>
              <a:rPr lang="en-US" altLang="en-US" sz="2800" dirty="0">
                <a:solidFill>
                  <a:srgbClr val="0432FF"/>
                </a:solidFill>
                <a:latin typeface="Arial  " charset="0"/>
              </a:rPr>
            </a:br>
            <a:br>
              <a:rPr lang="en-US" altLang="en-US" sz="2800" dirty="0">
                <a:solidFill>
                  <a:srgbClr val="0432FF"/>
                </a:solidFill>
                <a:latin typeface="Arial  " charset="0"/>
              </a:rPr>
            </a:br>
            <a:r>
              <a:rPr lang="en-US" altLang="en-US" sz="2800" dirty="0">
                <a:solidFill>
                  <a:srgbClr val="0432FF"/>
                </a:solidFill>
                <a:latin typeface="Arial  " charset="0"/>
              </a:rPr>
              <a:t>Instructor: Dr. Tor M. Aamodt</a:t>
            </a:r>
            <a:br>
              <a:rPr lang="en-US" altLang="en-US" sz="2800" dirty="0">
                <a:solidFill>
                  <a:srgbClr val="0432FF"/>
                </a:solidFill>
                <a:latin typeface="Arial  " charset="0"/>
              </a:rPr>
            </a:br>
            <a:r>
              <a:rPr lang="en-US" altLang="en-US" sz="2800" dirty="0" err="1">
                <a:solidFill>
                  <a:srgbClr val="0432FF"/>
                </a:solidFill>
                <a:latin typeface="Arial  " charset="0"/>
              </a:rPr>
              <a:t>aamodt@ece.ubc.ca</a:t>
            </a:r>
            <a:br>
              <a:rPr lang="en-US" altLang="en-US" sz="2800" dirty="0">
                <a:latin typeface="Arial  " charset="0"/>
              </a:rPr>
            </a:br>
            <a:endParaRPr lang="en-US" altLang="en-US" sz="2800" dirty="0">
              <a:solidFill>
                <a:srgbClr val="0432FF"/>
              </a:solidFill>
              <a:latin typeface="Arial  " charset="0"/>
            </a:endParaRPr>
          </a:p>
        </p:txBody>
      </p:sp>
      <p:sp>
        <p:nvSpPr>
          <p:cNvPr id="4100" name="Slide Number Placeholder 5">
            <a:extLst>
              <a:ext uri="{FF2B5EF4-FFF2-40B4-BE49-F238E27FC236}">
                <a16:creationId xmlns:a16="http://schemas.microsoft.com/office/drawing/2014/main" id="{F812CB22-4CA8-0746-ABA0-54DCCEF180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524C28F-F8B0-3947-84DA-5BF358547AD4}" type="slidenum">
              <a:rPr lang="en-GB" altLang="en-US"/>
              <a:pPr/>
              <a:t>1</a:t>
            </a:fld>
            <a:r>
              <a:rPr lang="en-GB" altLang="en-US"/>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F41376B-986E-29F6-C78B-EB9E0AD33550}"/>
              </a:ext>
            </a:extLst>
          </p:cNvPr>
          <p:cNvSpPr>
            <a:spLocks noGrp="1" noChangeArrowheads="1"/>
          </p:cNvSpPr>
          <p:nvPr>
            <p:ph type="title"/>
          </p:nvPr>
        </p:nvSpPr>
        <p:spPr/>
        <p:txBody>
          <a:bodyPr/>
          <a:lstStyle/>
          <a:p>
            <a:pPr eaLnBrk="1" hangingPunct="1"/>
            <a:r>
              <a:rPr lang="en-US" altLang="en-US"/>
              <a:t>Learning Objectives</a:t>
            </a:r>
          </a:p>
        </p:txBody>
      </p:sp>
      <p:sp>
        <p:nvSpPr>
          <p:cNvPr id="5123" name="Rectangle 3">
            <a:extLst>
              <a:ext uri="{FF2B5EF4-FFF2-40B4-BE49-F238E27FC236}">
                <a16:creationId xmlns:a16="http://schemas.microsoft.com/office/drawing/2014/main" id="{C05517AD-E464-E0BB-69C2-F19DC87C0A26}"/>
              </a:ext>
            </a:extLst>
          </p:cNvPr>
          <p:cNvSpPr>
            <a:spLocks noGrp="1" noChangeArrowheads="1"/>
          </p:cNvSpPr>
          <p:nvPr>
            <p:ph type="body" idx="1"/>
          </p:nvPr>
        </p:nvSpPr>
        <p:spPr>
          <a:xfrm>
            <a:off x="749300" y="1398588"/>
            <a:ext cx="7626350" cy="4673600"/>
          </a:xfrm>
        </p:spPr>
        <p:txBody>
          <a:bodyPr/>
          <a:lstStyle/>
          <a:p>
            <a:pPr eaLnBrk="1" hangingPunct="1">
              <a:lnSpc>
                <a:spcPct val="90000"/>
              </a:lnSpc>
              <a:buFontTx/>
              <a:buNone/>
            </a:pPr>
            <a:r>
              <a:rPr lang="en-US" altLang="en-US" sz="2000" dirty="0"/>
              <a:t>     By the time we finish talking about this slide set in lectures you should be able to:</a:t>
            </a:r>
          </a:p>
          <a:p>
            <a:pPr eaLnBrk="1" hangingPunct="1">
              <a:lnSpc>
                <a:spcPct val="90000"/>
              </a:lnSpc>
              <a:buFontTx/>
              <a:buNone/>
            </a:pPr>
            <a:endParaRPr lang="en-US" altLang="en-US" sz="1800" dirty="0"/>
          </a:p>
          <a:p>
            <a:pPr lvl="1" eaLnBrk="1" hangingPunct="1">
              <a:lnSpc>
                <a:spcPct val="90000"/>
              </a:lnSpc>
            </a:pPr>
            <a:r>
              <a:rPr lang="en-US" altLang="en-US" sz="2000" dirty="0"/>
              <a:t>Define true and false sharing, and coherency misses</a:t>
            </a:r>
          </a:p>
          <a:p>
            <a:pPr lvl="1" eaLnBrk="1" hangingPunct="1">
              <a:lnSpc>
                <a:spcPct val="90000"/>
              </a:lnSpc>
            </a:pPr>
            <a:r>
              <a:rPr lang="en-US" altLang="en-US" sz="2000" dirty="0"/>
              <a:t>List three approaches to reduce false sharing</a:t>
            </a:r>
          </a:p>
          <a:p>
            <a:pPr lvl="1" eaLnBrk="1" hangingPunct="1">
              <a:lnSpc>
                <a:spcPct val="90000"/>
              </a:lnSpc>
            </a:pPr>
            <a:r>
              <a:rPr lang="en-US" altLang="en-US" sz="2000" dirty="0"/>
              <a:t>Describe how a directory based cache coherence protocol differs from a snooping cache coherence protocol</a:t>
            </a:r>
          </a:p>
          <a:p>
            <a:pPr lvl="1" eaLnBrk="1" hangingPunct="1">
              <a:lnSpc>
                <a:spcPct val="90000"/>
              </a:lnSpc>
            </a:pPr>
            <a:r>
              <a:rPr lang="en-US" altLang="en-US" sz="2000" dirty="0"/>
              <a:t>Evaluate which events are generated when loads and stores operate with a simple directory cache coherence protocol</a:t>
            </a:r>
          </a:p>
          <a:p>
            <a:pPr lvl="1" eaLnBrk="1" hangingPunct="1">
              <a:lnSpc>
                <a:spcPct val="90000"/>
              </a:lnSpc>
            </a:pPr>
            <a:r>
              <a:rPr lang="en-US" altLang="en-US" sz="2000" dirty="0"/>
              <a:t>List/define several synchronization primitives</a:t>
            </a:r>
          </a:p>
          <a:p>
            <a:pPr lvl="1" eaLnBrk="1" hangingPunct="1">
              <a:lnSpc>
                <a:spcPct val="90000"/>
              </a:lnSpc>
            </a:pPr>
            <a:r>
              <a:rPr lang="en-US" altLang="en-US" sz="2000" dirty="0"/>
              <a:t>Explain sequential consistency.  </a:t>
            </a:r>
            <a:endParaRPr lang="en-US" altLang="en-US" sz="2800" dirty="0"/>
          </a:p>
        </p:txBody>
      </p:sp>
      <p:sp>
        <p:nvSpPr>
          <p:cNvPr id="5124" name="Slide Number Placeholder 6">
            <a:extLst>
              <a:ext uri="{FF2B5EF4-FFF2-40B4-BE49-F238E27FC236}">
                <a16:creationId xmlns:a16="http://schemas.microsoft.com/office/drawing/2014/main" id="{3EEE216A-442D-1511-15EC-96493A1618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67809EB-08D9-0F41-8FF2-A7CD7BD52A6D}" type="slidenum">
              <a:rPr lang="en-US" altLang="en-US"/>
              <a:pPr/>
              <a:t>2</a:t>
            </a:fld>
            <a:r>
              <a:rPr lang="en-US" altLang="en-US"/>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2BC3770-65DD-4798-8765-FE6BF3203922}"/>
              </a:ext>
            </a:extLst>
          </p:cNvPr>
          <p:cNvSpPr>
            <a:spLocks noGrp="1" noChangeArrowheads="1"/>
          </p:cNvSpPr>
          <p:nvPr>
            <p:ph type="title"/>
          </p:nvPr>
        </p:nvSpPr>
        <p:spPr>
          <a:xfrm>
            <a:off x="787400" y="0"/>
            <a:ext cx="7772400" cy="1143000"/>
          </a:xfrm>
        </p:spPr>
        <p:txBody>
          <a:bodyPr/>
          <a:lstStyle/>
          <a:p>
            <a:pPr eaLnBrk="1" hangingPunct="1"/>
            <a:r>
              <a:rPr lang="en-US" altLang="en-US"/>
              <a:t>Coherence Misses</a:t>
            </a:r>
            <a:endParaRPr lang="en-US" altLang="en-US" sz="4400" b="1"/>
          </a:p>
        </p:txBody>
      </p:sp>
      <p:sp>
        <p:nvSpPr>
          <p:cNvPr id="6147" name="Rectangle 3">
            <a:extLst>
              <a:ext uri="{FF2B5EF4-FFF2-40B4-BE49-F238E27FC236}">
                <a16:creationId xmlns:a16="http://schemas.microsoft.com/office/drawing/2014/main" id="{55704AF2-0E61-5008-6F96-204F6B92D390}"/>
              </a:ext>
            </a:extLst>
          </p:cNvPr>
          <p:cNvSpPr>
            <a:spLocks noGrp="1" noChangeArrowheads="1"/>
          </p:cNvSpPr>
          <p:nvPr>
            <p:ph type="body" idx="1"/>
          </p:nvPr>
        </p:nvSpPr>
        <p:spPr>
          <a:xfrm>
            <a:off x="698500" y="1446213"/>
            <a:ext cx="7772400" cy="4657725"/>
          </a:xfrm>
        </p:spPr>
        <p:txBody>
          <a:bodyPr/>
          <a:lstStyle/>
          <a:p>
            <a:pPr marL="457200" indent="-457200" eaLnBrk="1" hangingPunct="1">
              <a:buFontTx/>
              <a:buNone/>
            </a:pPr>
            <a:r>
              <a:rPr lang="en-US" altLang="en-US"/>
              <a:t>Recall: Uniprocessor cache miss traffic</a:t>
            </a:r>
          </a:p>
          <a:p>
            <a:pPr marL="800100" lvl="1" indent="-342900" eaLnBrk="1" hangingPunct="1">
              <a:buFont typeface="Wingdings" pitchFamily="2" charset="2"/>
              <a:buChar char="§"/>
            </a:pPr>
            <a:r>
              <a:rPr lang="en-US" altLang="en-US"/>
              <a:t>3 C’s: Compulsory, Capacity, Conflict</a:t>
            </a:r>
          </a:p>
          <a:p>
            <a:pPr marL="800100" lvl="1" indent="-342900" eaLnBrk="1" hangingPunct="1">
              <a:buFontTx/>
              <a:buChar char="•"/>
            </a:pPr>
            <a:endParaRPr lang="en-US" altLang="en-US"/>
          </a:p>
          <a:p>
            <a:pPr marL="800100" lvl="1" indent="-342900" eaLnBrk="1" hangingPunct="1">
              <a:buFontTx/>
              <a:buChar char="•"/>
            </a:pPr>
            <a:endParaRPr lang="en-US" altLang="en-US"/>
          </a:p>
          <a:p>
            <a:pPr marL="457200" indent="-457200" eaLnBrk="1" hangingPunct="1">
              <a:buFontTx/>
              <a:buNone/>
            </a:pPr>
            <a:r>
              <a:rPr lang="en-US" altLang="en-US"/>
              <a:t>New: Cache misses caused by </a:t>
            </a:r>
            <a:r>
              <a:rPr lang="en-US" altLang="en-US" u="sng"/>
              <a:t>communication </a:t>
            </a:r>
          </a:p>
          <a:p>
            <a:pPr marL="800100" lvl="1" indent="-342900" eaLnBrk="1" hangingPunct="1">
              <a:buFont typeface="Wingdings" pitchFamily="2" charset="2"/>
              <a:buChar char="§"/>
            </a:pPr>
            <a:r>
              <a:rPr lang="en-US" altLang="en-US"/>
              <a:t>Writing block in remote cache causes invalidation</a:t>
            </a:r>
          </a:p>
          <a:p>
            <a:pPr marL="800100" lvl="1" indent="-342900" eaLnBrk="1" hangingPunct="1">
              <a:buFont typeface="Wingdings" pitchFamily="2" charset="2"/>
              <a:buChar char="§"/>
            </a:pPr>
            <a:r>
              <a:rPr lang="en-US" altLang="en-US"/>
              <a:t>4</a:t>
            </a:r>
            <a:r>
              <a:rPr lang="en-US" altLang="en-US" baseline="30000"/>
              <a:t>th</a:t>
            </a:r>
            <a:r>
              <a:rPr lang="en-US" altLang="en-US"/>
              <a:t> C: </a:t>
            </a:r>
            <a:r>
              <a:rPr lang="en-US" altLang="en-US" i="1">
                <a:solidFill>
                  <a:srgbClr val="0332B7"/>
                </a:solidFill>
              </a:rPr>
              <a:t>Coherence miss</a:t>
            </a:r>
            <a:endParaRPr lang="en-US" altLang="en-US">
              <a:solidFill>
                <a:srgbClr val="0332B7"/>
              </a:solidFill>
            </a:endParaRPr>
          </a:p>
          <a:p>
            <a:pPr marL="800100" lvl="1" indent="-342900" eaLnBrk="1" hangingPunct="1"/>
            <a:endParaRPr lang="en-US" altLang="en-US" sz="2800"/>
          </a:p>
        </p:txBody>
      </p:sp>
      <p:sp>
        <p:nvSpPr>
          <p:cNvPr id="6148" name="Slide Number Placeholder 8">
            <a:extLst>
              <a:ext uri="{FF2B5EF4-FFF2-40B4-BE49-F238E27FC236}">
                <a16:creationId xmlns:a16="http://schemas.microsoft.com/office/drawing/2014/main" id="{BB91F5BB-9026-792C-F180-DA035E0760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141807F7-AA71-8840-97DD-7C004FE40380}" type="slidenum">
              <a:rPr lang="en-US" altLang="en-US"/>
              <a:pPr/>
              <a:t>3</a:t>
            </a:fld>
            <a:r>
              <a:rPr lang="en-US" altLang="en-US"/>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28E512-F76A-5860-61C3-181BAD1069EE}"/>
              </a:ext>
            </a:extLst>
          </p:cNvPr>
          <p:cNvSpPr>
            <a:spLocks noGrp="1" noChangeArrowheads="1"/>
          </p:cNvSpPr>
          <p:nvPr>
            <p:ph type="title"/>
          </p:nvPr>
        </p:nvSpPr>
        <p:spPr/>
        <p:txBody>
          <a:bodyPr/>
          <a:lstStyle/>
          <a:p>
            <a:pPr eaLnBrk="1" hangingPunct="1"/>
            <a:r>
              <a:rPr lang="en-US" altLang="en-US"/>
              <a:t>Coherence Misses</a:t>
            </a:r>
          </a:p>
        </p:txBody>
      </p:sp>
      <p:sp>
        <p:nvSpPr>
          <p:cNvPr id="7171" name="Rectangle 3">
            <a:extLst>
              <a:ext uri="{FF2B5EF4-FFF2-40B4-BE49-F238E27FC236}">
                <a16:creationId xmlns:a16="http://schemas.microsoft.com/office/drawing/2014/main" id="{2B724518-1A68-7FE2-CA95-4D50058C7AEF}"/>
              </a:ext>
            </a:extLst>
          </p:cNvPr>
          <p:cNvSpPr>
            <a:spLocks noGrp="1" noChangeArrowheads="1"/>
          </p:cNvSpPr>
          <p:nvPr>
            <p:ph type="body" idx="1"/>
          </p:nvPr>
        </p:nvSpPr>
        <p:spPr>
          <a:xfrm>
            <a:off x="673100" y="1117600"/>
            <a:ext cx="8045450" cy="4724400"/>
          </a:xfrm>
        </p:spPr>
        <p:txBody>
          <a:bodyPr/>
          <a:lstStyle/>
          <a:p>
            <a:pPr marL="457200" indent="-457200" eaLnBrk="1" hangingPunct="1">
              <a:lnSpc>
                <a:spcPct val="90000"/>
              </a:lnSpc>
              <a:buFontTx/>
              <a:buAutoNum type="arabicPeriod"/>
            </a:pPr>
            <a:r>
              <a:rPr lang="en-US" altLang="en-US" sz="2400">
                <a:solidFill>
                  <a:srgbClr val="114FFB"/>
                </a:solidFill>
              </a:rPr>
              <a:t>True sharing misses</a:t>
            </a:r>
            <a:r>
              <a:rPr lang="en-US" altLang="en-US" sz="2400"/>
              <a:t> arise from the communication of data through the cache coherence mechanism</a:t>
            </a:r>
          </a:p>
          <a:p>
            <a:pPr marL="800100" lvl="1" indent="-342900" eaLnBrk="1" hangingPunct="1">
              <a:lnSpc>
                <a:spcPct val="90000"/>
              </a:lnSpc>
              <a:buFontTx/>
              <a:buChar char="•"/>
            </a:pPr>
            <a:r>
              <a:rPr lang="en-US" altLang="en-US" sz="2000"/>
              <a:t>First write to shared block</a:t>
            </a:r>
          </a:p>
          <a:p>
            <a:pPr marL="800100" lvl="1" indent="-342900" eaLnBrk="1" hangingPunct="1">
              <a:lnSpc>
                <a:spcPct val="90000"/>
              </a:lnSpc>
              <a:buFontTx/>
              <a:buChar char="•"/>
            </a:pPr>
            <a:r>
              <a:rPr lang="en-US" altLang="en-US" sz="2000"/>
              <a:t>Read miss of word modified by remote processor</a:t>
            </a:r>
          </a:p>
          <a:p>
            <a:pPr marL="800100" lvl="1" indent="-342900" eaLnBrk="1" hangingPunct="1">
              <a:lnSpc>
                <a:spcPct val="90000"/>
              </a:lnSpc>
              <a:buFontTx/>
              <a:buChar char="•"/>
            </a:pPr>
            <a:r>
              <a:rPr lang="en-US" altLang="en-US" sz="2000">
                <a:solidFill>
                  <a:srgbClr val="FF0000"/>
                </a:solidFill>
              </a:rPr>
              <a:t>Note: Miss would still occur if block size were 1 word</a:t>
            </a:r>
          </a:p>
          <a:p>
            <a:pPr marL="800100" lvl="1" indent="-342900" eaLnBrk="1" hangingPunct="1">
              <a:lnSpc>
                <a:spcPct val="90000"/>
              </a:lnSpc>
              <a:buFontTx/>
              <a:buNone/>
            </a:pPr>
            <a:endParaRPr lang="en-US" altLang="en-US" sz="2000">
              <a:solidFill>
                <a:srgbClr val="FF0000"/>
              </a:solidFill>
            </a:endParaRPr>
          </a:p>
          <a:p>
            <a:pPr marL="457200" indent="-457200" eaLnBrk="1" hangingPunct="1">
              <a:lnSpc>
                <a:spcPct val="90000"/>
              </a:lnSpc>
              <a:buFontTx/>
              <a:buAutoNum type="arabicPeriod"/>
            </a:pPr>
            <a:r>
              <a:rPr lang="en-US" altLang="en-US" sz="2400">
                <a:solidFill>
                  <a:srgbClr val="114FFB"/>
                </a:solidFill>
              </a:rPr>
              <a:t>False sharing misses</a:t>
            </a:r>
            <a:r>
              <a:rPr lang="en-US" altLang="en-US" sz="2400"/>
              <a:t> arise when a block was invalidated because some word in the block was written to other than the one now being read or written</a:t>
            </a:r>
          </a:p>
          <a:p>
            <a:pPr marL="800100" lvl="1" indent="-342900" eaLnBrk="1" hangingPunct="1">
              <a:lnSpc>
                <a:spcPct val="90000"/>
              </a:lnSpc>
              <a:buFontTx/>
              <a:buChar char="•"/>
            </a:pPr>
            <a:r>
              <a:rPr lang="en-US" altLang="en-US" sz="2000"/>
              <a:t>Invalidation does not cause a new value to be communicated, but only causes an extra cache miss</a:t>
            </a:r>
          </a:p>
          <a:p>
            <a:pPr marL="800100" lvl="1" indent="-342900" eaLnBrk="1" hangingPunct="1">
              <a:lnSpc>
                <a:spcPct val="90000"/>
              </a:lnSpc>
              <a:buFontTx/>
              <a:buChar char="•"/>
            </a:pPr>
            <a:r>
              <a:rPr lang="en-US" altLang="en-US" sz="2000"/>
              <a:t>Block is shared, but no word in block is actually shared</a:t>
            </a:r>
          </a:p>
          <a:p>
            <a:pPr marL="800100" lvl="1" indent="-342900" eaLnBrk="1" hangingPunct="1">
              <a:lnSpc>
                <a:spcPct val="90000"/>
              </a:lnSpc>
              <a:buFontTx/>
              <a:buChar char="•"/>
            </a:pPr>
            <a:r>
              <a:rPr lang="en-US" altLang="en-US" sz="2000">
                <a:solidFill>
                  <a:srgbClr val="FF0000"/>
                </a:solidFill>
              </a:rPr>
              <a:t>Note: Miss would </a:t>
            </a:r>
            <a:r>
              <a:rPr lang="en-US" altLang="en-US" sz="2000" u="sng">
                <a:solidFill>
                  <a:srgbClr val="FF0000"/>
                </a:solidFill>
              </a:rPr>
              <a:t>not</a:t>
            </a:r>
            <a:r>
              <a:rPr lang="en-US" altLang="en-US" sz="2000">
                <a:solidFill>
                  <a:srgbClr val="FF0000"/>
                </a:solidFill>
              </a:rPr>
              <a:t> occur if block size were 1 word</a:t>
            </a:r>
          </a:p>
          <a:p>
            <a:pPr marL="800100" lvl="1" indent="-342900" eaLnBrk="1" hangingPunct="1">
              <a:lnSpc>
                <a:spcPct val="90000"/>
              </a:lnSpc>
              <a:buFontTx/>
              <a:buChar char="•"/>
            </a:pPr>
            <a:endParaRPr lang="en-US" altLang="en-US" sz="2000"/>
          </a:p>
        </p:txBody>
      </p:sp>
      <p:sp>
        <p:nvSpPr>
          <p:cNvPr id="7172" name="Slide Number Placeholder 6">
            <a:extLst>
              <a:ext uri="{FF2B5EF4-FFF2-40B4-BE49-F238E27FC236}">
                <a16:creationId xmlns:a16="http://schemas.microsoft.com/office/drawing/2014/main" id="{682A6107-D909-79D1-7711-17F5B48377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EC35018A-236E-BF43-9B66-C1B6642E2242}" type="slidenum">
              <a:rPr lang="en-US" altLang="en-US"/>
              <a:pPr/>
              <a:t>4</a:t>
            </a:fld>
            <a:r>
              <a:rPr lang="en-US" altLang="en-US"/>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A9544DD-F183-704B-5B23-1B354AF95FA5}"/>
              </a:ext>
            </a:extLst>
          </p:cNvPr>
          <p:cNvSpPr>
            <a:spLocks noGrp="1" noChangeArrowheads="1"/>
          </p:cNvSpPr>
          <p:nvPr>
            <p:ph type="title"/>
          </p:nvPr>
        </p:nvSpPr>
        <p:spPr/>
        <p:txBody>
          <a:bodyPr/>
          <a:lstStyle/>
          <a:p>
            <a:pPr eaLnBrk="1" hangingPunct="1"/>
            <a:r>
              <a:rPr lang="en-US" altLang="en-US" sz="3200" dirty="0"/>
              <a:t>Example: True v. False Sharing v. Hit?</a:t>
            </a:r>
            <a:endParaRPr lang="en-US" altLang="en-US" dirty="0"/>
          </a:p>
        </p:txBody>
      </p:sp>
      <p:graphicFrame>
        <p:nvGraphicFramePr>
          <p:cNvPr id="1017903" name="Group 47">
            <a:extLst>
              <a:ext uri="{FF2B5EF4-FFF2-40B4-BE49-F238E27FC236}">
                <a16:creationId xmlns:a16="http://schemas.microsoft.com/office/drawing/2014/main" id="{53492EC9-AADB-C71D-4C32-D7C185F5B542}"/>
              </a:ext>
            </a:extLst>
          </p:cNvPr>
          <p:cNvGraphicFramePr>
            <a:graphicFrameLocks noGrp="1"/>
          </p:cNvGraphicFramePr>
          <p:nvPr>
            <p:ph idx="1"/>
          </p:nvPr>
        </p:nvGraphicFramePr>
        <p:xfrm>
          <a:off x="584200" y="2463800"/>
          <a:ext cx="8102600" cy="3276600"/>
        </p:xfrm>
        <a:graphic>
          <a:graphicData uri="http://schemas.openxmlformats.org/drawingml/2006/table">
            <a:tbl>
              <a:tblPr/>
              <a:tblGrid>
                <a:gridCol w="868363">
                  <a:extLst>
                    <a:ext uri="{9D8B030D-6E8A-4147-A177-3AD203B41FA5}">
                      <a16:colId xmlns:a16="http://schemas.microsoft.com/office/drawing/2014/main" val="20000"/>
                    </a:ext>
                  </a:extLst>
                </a:gridCol>
                <a:gridCol w="1446212">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4340225">
                  <a:extLst>
                    <a:ext uri="{9D8B030D-6E8A-4147-A177-3AD203B41FA5}">
                      <a16:colId xmlns:a16="http://schemas.microsoft.com/office/drawing/2014/main" val="20003"/>
                    </a:ext>
                  </a:extLst>
                </a:gridCol>
              </a:tblGrid>
              <a:tr h="5461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Time</a:t>
                      </a:r>
                    </a:p>
                  </a:txBody>
                  <a:tcPr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rgbClr val="0000FF"/>
                          </a:solidFill>
                          <a:effectLst/>
                          <a:latin typeface="Arial" pitchFamily="34" charset="0"/>
                          <a:ea typeface="ＭＳ Ｐゴシック" pitchFamily="34" charset="-128"/>
                          <a:cs typeface="Arial" pitchFamily="34" charset="0"/>
                        </a:rPr>
                        <a:t>P1</a:t>
                      </a:r>
                      <a:endPar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rgbClr val="00FF00"/>
                          </a:solidFill>
                          <a:effectLst/>
                          <a:latin typeface="Arial" pitchFamily="34" charset="0"/>
                          <a:ea typeface="ＭＳ Ｐゴシック" pitchFamily="34" charset="-128"/>
                          <a:cs typeface="Arial" pitchFamily="34" charset="0"/>
                        </a:rPr>
                        <a:t>P2</a:t>
                      </a:r>
                      <a:endPar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 True, False, Hit? Why?</a:t>
                      </a:r>
                    </a:p>
                  </a:txBody>
                  <a:tcPr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61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p>
                  </a:txBody>
                  <a:tcPr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Write x1</a:t>
                      </a: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61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2</a:t>
                      </a:r>
                    </a:p>
                  </a:txBody>
                  <a:tcPr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Read x2</a:t>
                      </a: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1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3</a:t>
                      </a:r>
                    </a:p>
                  </a:txBody>
                  <a:tcPr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Write x1</a:t>
                      </a: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61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4</a:t>
                      </a:r>
                    </a:p>
                  </a:txBody>
                  <a:tcPr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Write x2</a:t>
                      </a: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61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5</a:t>
                      </a:r>
                    </a:p>
                  </a:txBody>
                  <a:tcPr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Arial" pitchFamily="34" charset="0"/>
                          <a:ea typeface="ＭＳ Ｐゴシック" pitchFamily="34" charset="-128"/>
                          <a:cs typeface="Arial" pitchFamily="34" charset="0"/>
                        </a:rPr>
                        <a:t>Read x2</a:t>
                      </a: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232" name="Text Box 40">
            <a:extLst>
              <a:ext uri="{FF2B5EF4-FFF2-40B4-BE49-F238E27FC236}">
                <a16:creationId xmlns:a16="http://schemas.microsoft.com/office/drawing/2014/main" id="{3A9CB8DF-7A8A-B807-EBD8-77413CF5200D}"/>
              </a:ext>
            </a:extLst>
          </p:cNvPr>
          <p:cNvSpPr txBox="1">
            <a:spLocks noChangeArrowheads="1"/>
          </p:cNvSpPr>
          <p:nvPr/>
        </p:nvSpPr>
        <p:spPr bwMode="auto">
          <a:xfrm>
            <a:off x="571500" y="1295400"/>
            <a:ext cx="685800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buFontTx/>
              <a:buChar char="•"/>
            </a:pPr>
            <a:r>
              <a:rPr lang="en-US" altLang="en-US" sz="2000" b="1">
                <a:solidFill>
                  <a:srgbClr val="FF0000"/>
                </a:solidFill>
                <a:cs typeface="Arial" panose="020B0604020202020204" pitchFamily="34" charset="0"/>
              </a:rPr>
              <a:t> Assume x1 and x2 in same cache block</a:t>
            </a:r>
            <a:r>
              <a:rPr lang="en-US" altLang="en-US" sz="2000" b="1">
                <a:cs typeface="Arial" panose="020B0604020202020204" pitchFamily="34" charset="0"/>
              </a:rPr>
              <a:t>. </a:t>
            </a:r>
            <a:br>
              <a:rPr lang="en-US" altLang="en-US" sz="2000" b="1">
                <a:cs typeface="Arial" panose="020B0604020202020204" pitchFamily="34" charset="0"/>
              </a:rPr>
            </a:br>
            <a:r>
              <a:rPr lang="en-US" altLang="en-US" sz="2000" b="1">
                <a:cs typeface="Arial" panose="020B0604020202020204" pitchFamily="34" charset="0"/>
              </a:rPr>
              <a:t>  </a:t>
            </a:r>
            <a:r>
              <a:rPr lang="en-US" altLang="en-US" sz="2000" b="1">
                <a:solidFill>
                  <a:srgbClr val="0000FF"/>
                </a:solidFill>
                <a:cs typeface="Arial" panose="020B0604020202020204" pitchFamily="34" charset="0"/>
              </a:rPr>
              <a:t>P1</a:t>
            </a:r>
            <a:r>
              <a:rPr lang="en-US" altLang="en-US" sz="2000" b="1">
                <a:cs typeface="Arial" panose="020B0604020202020204" pitchFamily="34" charset="0"/>
              </a:rPr>
              <a:t> and </a:t>
            </a:r>
            <a:r>
              <a:rPr lang="en-US" altLang="en-US" sz="2000" b="1">
                <a:solidFill>
                  <a:srgbClr val="00FF00"/>
                </a:solidFill>
                <a:cs typeface="Arial" panose="020B0604020202020204" pitchFamily="34" charset="0"/>
              </a:rPr>
              <a:t>P2</a:t>
            </a:r>
            <a:r>
              <a:rPr lang="en-US" altLang="en-US" sz="2000" b="1">
                <a:cs typeface="Arial" panose="020B0604020202020204" pitchFamily="34" charset="0"/>
              </a:rPr>
              <a:t> both read x1 </a:t>
            </a:r>
            <a:r>
              <a:rPr lang="en-US" altLang="en-US" sz="2000" b="1" u="sng">
                <a:cs typeface="Arial" panose="020B0604020202020204" pitchFamily="34" charset="0"/>
              </a:rPr>
              <a:t>and</a:t>
            </a:r>
            <a:r>
              <a:rPr lang="en-US" altLang="en-US" sz="2000" b="1">
                <a:cs typeface="Arial" panose="020B0604020202020204" pitchFamily="34" charset="0"/>
              </a:rPr>
              <a:t> x2 before.</a:t>
            </a:r>
          </a:p>
        </p:txBody>
      </p:sp>
      <p:sp>
        <p:nvSpPr>
          <p:cNvPr id="8233" name="Text Box 41">
            <a:extLst>
              <a:ext uri="{FF2B5EF4-FFF2-40B4-BE49-F238E27FC236}">
                <a16:creationId xmlns:a16="http://schemas.microsoft.com/office/drawing/2014/main" id="{500E893C-515E-2EE8-EA75-8441A9CC6B32}"/>
              </a:ext>
            </a:extLst>
          </p:cNvPr>
          <p:cNvSpPr txBox="1">
            <a:spLocks noChangeArrowheads="1"/>
          </p:cNvSpPr>
          <p:nvPr/>
        </p:nvSpPr>
        <p:spPr bwMode="auto">
          <a:xfrm>
            <a:off x="4605338" y="3082925"/>
            <a:ext cx="3735387"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2000" b="1">
                <a:solidFill>
                  <a:schemeClr val="accent2"/>
                </a:solidFill>
              </a:rPr>
              <a:t>True miss; invalidate x1 in P2</a:t>
            </a:r>
          </a:p>
        </p:txBody>
      </p:sp>
      <p:sp>
        <p:nvSpPr>
          <p:cNvPr id="8234" name="Text Box 42">
            <a:extLst>
              <a:ext uri="{FF2B5EF4-FFF2-40B4-BE49-F238E27FC236}">
                <a16:creationId xmlns:a16="http://schemas.microsoft.com/office/drawing/2014/main" id="{7D3F8408-3964-A8F1-FA44-7124BFFF1A14}"/>
              </a:ext>
            </a:extLst>
          </p:cNvPr>
          <p:cNvSpPr txBox="1">
            <a:spLocks noChangeArrowheads="1"/>
          </p:cNvSpPr>
          <p:nvPr/>
        </p:nvSpPr>
        <p:spPr bwMode="auto">
          <a:xfrm>
            <a:off x="4559300" y="3616325"/>
            <a:ext cx="38623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2000" b="1">
                <a:solidFill>
                  <a:srgbClr val="FF0000"/>
                </a:solidFill>
              </a:rPr>
              <a:t>False miss; x2 irrelevant to P1</a:t>
            </a:r>
          </a:p>
        </p:txBody>
      </p:sp>
      <p:sp>
        <p:nvSpPr>
          <p:cNvPr id="8235" name="Text Box 43">
            <a:extLst>
              <a:ext uri="{FF2B5EF4-FFF2-40B4-BE49-F238E27FC236}">
                <a16:creationId xmlns:a16="http://schemas.microsoft.com/office/drawing/2014/main" id="{1F3B3293-67FB-284C-F262-21B23B189B8B}"/>
              </a:ext>
            </a:extLst>
          </p:cNvPr>
          <p:cNvSpPr txBox="1">
            <a:spLocks noChangeArrowheads="1"/>
          </p:cNvSpPr>
          <p:nvPr/>
        </p:nvSpPr>
        <p:spPr bwMode="auto">
          <a:xfrm>
            <a:off x="4559300" y="4149725"/>
            <a:ext cx="381952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2000" b="1">
                <a:solidFill>
                  <a:srgbClr val="FF0000"/>
                </a:solidFill>
              </a:rPr>
              <a:t>False miss; x1 irrelevant to P2</a:t>
            </a:r>
          </a:p>
        </p:txBody>
      </p:sp>
      <p:sp>
        <p:nvSpPr>
          <p:cNvPr id="8236" name="Text Box 44">
            <a:extLst>
              <a:ext uri="{FF2B5EF4-FFF2-40B4-BE49-F238E27FC236}">
                <a16:creationId xmlns:a16="http://schemas.microsoft.com/office/drawing/2014/main" id="{7A3F3FF6-0C74-2C20-D7A6-D8723B866CFC}"/>
              </a:ext>
            </a:extLst>
          </p:cNvPr>
          <p:cNvSpPr txBox="1">
            <a:spLocks noChangeArrowheads="1"/>
          </p:cNvSpPr>
          <p:nvPr/>
        </p:nvSpPr>
        <p:spPr bwMode="auto">
          <a:xfrm>
            <a:off x="4559300" y="4683125"/>
            <a:ext cx="38623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2000" b="1">
                <a:solidFill>
                  <a:srgbClr val="FF0000"/>
                </a:solidFill>
              </a:rPr>
              <a:t>False miss; x2 irrelevant to P1</a:t>
            </a:r>
          </a:p>
        </p:txBody>
      </p:sp>
      <p:sp>
        <p:nvSpPr>
          <p:cNvPr id="8237" name="Text Box 45">
            <a:extLst>
              <a:ext uri="{FF2B5EF4-FFF2-40B4-BE49-F238E27FC236}">
                <a16:creationId xmlns:a16="http://schemas.microsoft.com/office/drawing/2014/main" id="{07EB912D-DA1F-0B7F-0928-4848424EACE5}"/>
              </a:ext>
            </a:extLst>
          </p:cNvPr>
          <p:cNvSpPr txBox="1">
            <a:spLocks noChangeArrowheads="1"/>
          </p:cNvSpPr>
          <p:nvPr/>
        </p:nvSpPr>
        <p:spPr bwMode="auto">
          <a:xfrm>
            <a:off x="4559300" y="5292725"/>
            <a:ext cx="396240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2000" b="1">
                <a:solidFill>
                  <a:schemeClr val="accent2"/>
                </a:solidFill>
              </a:rPr>
              <a:t>True miss; x2 wr in P2, rd in P1</a:t>
            </a:r>
          </a:p>
        </p:txBody>
      </p:sp>
      <p:sp>
        <p:nvSpPr>
          <p:cNvPr id="1017904" name="Rectangle 48">
            <a:extLst>
              <a:ext uri="{FF2B5EF4-FFF2-40B4-BE49-F238E27FC236}">
                <a16:creationId xmlns:a16="http://schemas.microsoft.com/office/drawing/2014/main" id="{C175C7D6-38EF-7E01-B004-6CCCFCFF908B}"/>
              </a:ext>
            </a:extLst>
          </p:cNvPr>
          <p:cNvSpPr>
            <a:spLocks noChangeArrowheads="1"/>
          </p:cNvSpPr>
          <p:nvPr/>
        </p:nvSpPr>
        <p:spPr bwMode="auto">
          <a:xfrm>
            <a:off x="4521200" y="3081338"/>
            <a:ext cx="3792538" cy="355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17905" name="Rectangle 49">
            <a:extLst>
              <a:ext uri="{FF2B5EF4-FFF2-40B4-BE49-F238E27FC236}">
                <a16:creationId xmlns:a16="http://schemas.microsoft.com/office/drawing/2014/main" id="{E012184A-6CBB-D4F6-DCAA-1B74FEAB04FE}"/>
              </a:ext>
            </a:extLst>
          </p:cNvPr>
          <p:cNvSpPr>
            <a:spLocks noChangeArrowheads="1"/>
          </p:cNvSpPr>
          <p:nvPr/>
        </p:nvSpPr>
        <p:spPr bwMode="auto">
          <a:xfrm>
            <a:off x="4584700" y="3673475"/>
            <a:ext cx="3792538" cy="355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17906" name="Rectangle 50">
            <a:extLst>
              <a:ext uri="{FF2B5EF4-FFF2-40B4-BE49-F238E27FC236}">
                <a16:creationId xmlns:a16="http://schemas.microsoft.com/office/drawing/2014/main" id="{9750FCF8-0359-5971-640D-B2885909516C}"/>
              </a:ext>
            </a:extLst>
          </p:cNvPr>
          <p:cNvSpPr>
            <a:spLocks noChangeArrowheads="1"/>
          </p:cNvSpPr>
          <p:nvPr/>
        </p:nvSpPr>
        <p:spPr bwMode="auto">
          <a:xfrm>
            <a:off x="4572000" y="4181475"/>
            <a:ext cx="3792538" cy="355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17907" name="Rectangle 51">
            <a:extLst>
              <a:ext uri="{FF2B5EF4-FFF2-40B4-BE49-F238E27FC236}">
                <a16:creationId xmlns:a16="http://schemas.microsoft.com/office/drawing/2014/main" id="{6B6FB3E5-916D-A773-26B6-7E1A77892282}"/>
              </a:ext>
            </a:extLst>
          </p:cNvPr>
          <p:cNvSpPr>
            <a:spLocks noChangeArrowheads="1"/>
          </p:cNvSpPr>
          <p:nvPr/>
        </p:nvSpPr>
        <p:spPr bwMode="auto">
          <a:xfrm>
            <a:off x="4554538" y="4745038"/>
            <a:ext cx="3792537" cy="355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17908" name="Rectangle 52">
            <a:extLst>
              <a:ext uri="{FF2B5EF4-FFF2-40B4-BE49-F238E27FC236}">
                <a16:creationId xmlns:a16="http://schemas.microsoft.com/office/drawing/2014/main" id="{BF545ACF-6C33-49B3-9433-440F100489DA}"/>
              </a:ext>
            </a:extLst>
          </p:cNvPr>
          <p:cNvSpPr>
            <a:spLocks noChangeArrowheads="1"/>
          </p:cNvSpPr>
          <p:nvPr/>
        </p:nvSpPr>
        <p:spPr bwMode="auto">
          <a:xfrm>
            <a:off x="4562475" y="5295900"/>
            <a:ext cx="3792538" cy="355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aphicFrame>
        <p:nvGraphicFramePr>
          <p:cNvPr id="1017985" name="Group 129">
            <a:extLst>
              <a:ext uri="{FF2B5EF4-FFF2-40B4-BE49-F238E27FC236}">
                <a16:creationId xmlns:a16="http://schemas.microsoft.com/office/drawing/2014/main" id="{EE0527CA-83AB-3ED0-5CAD-3C4E16B267A1}"/>
              </a:ext>
            </a:extLst>
          </p:cNvPr>
          <p:cNvGraphicFramePr>
            <a:graphicFrameLocks noGrp="1"/>
          </p:cNvGraphicFramePr>
          <p:nvPr/>
        </p:nvGraphicFramePr>
        <p:xfrm>
          <a:off x="6654800" y="1371600"/>
          <a:ext cx="2278079" cy="762000"/>
        </p:xfrm>
        <a:graphic>
          <a:graphicData uri="http://schemas.openxmlformats.org/drawingml/2006/table">
            <a:tbl>
              <a:tblPr/>
              <a:tblGrid>
                <a:gridCol w="208230">
                  <a:extLst>
                    <a:ext uri="{9D8B030D-6E8A-4147-A177-3AD203B41FA5}">
                      <a16:colId xmlns:a16="http://schemas.microsoft.com/office/drawing/2014/main" val="20000"/>
                    </a:ext>
                  </a:extLst>
                </a:gridCol>
                <a:gridCol w="208230">
                  <a:extLst>
                    <a:ext uri="{9D8B030D-6E8A-4147-A177-3AD203B41FA5}">
                      <a16:colId xmlns:a16="http://schemas.microsoft.com/office/drawing/2014/main" val="20001"/>
                    </a:ext>
                  </a:extLst>
                </a:gridCol>
                <a:gridCol w="625301">
                  <a:extLst>
                    <a:ext uri="{9D8B030D-6E8A-4147-A177-3AD203B41FA5}">
                      <a16:colId xmlns:a16="http://schemas.microsoft.com/office/drawing/2014/main" val="20002"/>
                    </a:ext>
                  </a:extLst>
                </a:gridCol>
                <a:gridCol w="1236318">
                  <a:extLst>
                    <a:ext uri="{9D8B030D-6E8A-4147-A177-3AD203B41FA5}">
                      <a16:colId xmlns:a16="http://schemas.microsoft.com/office/drawing/2014/main" val="20003"/>
                    </a:ext>
                  </a:extLst>
                </a:gridCol>
              </a:tblGrid>
              <a:tr h="1301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85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01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01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85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400" b="0" i="0" u="none" strike="noStrike" cap="none" normalizeH="0" baseline="0">
                        <a:ln>
                          <a:noFill/>
                        </a:ln>
                        <a:solidFill>
                          <a:schemeClr val="tx1"/>
                        </a:solidFill>
                        <a:effectLst/>
                        <a:latin typeface="Comic Sans MS" pitchFamily="66" charset="0"/>
                        <a:ea typeface="ＭＳ Ｐゴシック" pitchFamily="34" charset="-128"/>
                      </a:endParaRPr>
                    </a:p>
                  </a:txBody>
                  <a:tcPr marL="91415" marR="914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275" name="Rectangle 121">
            <a:extLst>
              <a:ext uri="{FF2B5EF4-FFF2-40B4-BE49-F238E27FC236}">
                <a16:creationId xmlns:a16="http://schemas.microsoft.com/office/drawing/2014/main" id="{0474AB41-0851-1ADC-14D7-8B9BAD7277C0}"/>
              </a:ext>
            </a:extLst>
          </p:cNvPr>
          <p:cNvSpPr>
            <a:spLocks noChangeArrowheads="1"/>
          </p:cNvSpPr>
          <p:nvPr/>
        </p:nvSpPr>
        <p:spPr bwMode="auto">
          <a:xfrm>
            <a:off x="6610350" y="1816100"/>
            <a:ext cx="2368550" cy="190500"/>
          </a:xfrm>
          <a:prstGeom prst="rect">
            <a:avLst/>
          </a:prstGeom>
          <a:solidFill>
            <a:srgbClr val="FF0000">
              <a:alpha val="3882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276" name="Text Box 122">
            <a:extLst>
              <a:ext uri="{FF2B5EF4-FFF2-40B4-BE49-F238E27FC236}">
                <a16:creationId xmlns:a16="http://schemas.microsoft.com/office/drawing/2014/main" id="{6205596E-96DF-38CE-AE67-2CD9F73B40F3}"/>
              </a:ext>
            </a:extLst>
          </p:cNvPr>
          <p:cNvSpPr txBox="1">
            <a:spLocks noChangeArrowheads="1"/>
          </p:cNvSpPr>
          <p:nvPr/>
        </p:nvSpPr>
        <p:spPr bwMode="auto">
          <a:xfrm>
            <a:off x="6651625" y="1760538"/>
            <a:ext cx="2682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200"/>
              <a:t>1</a:t>
            </a:r>
            <a:endParaRPr lang="en-US" altLang="en-US"/>
          </a:p>
        </p:txBody>
      </p:sp>
      <p:sp>
        <p:nvSpPr>
          <p:cNvPr id="8277" name="Text Box 123">
            <a:extLst>
              <a:ext uri="{FF2B5EF4-FFF2-40B4-BE49-F238E27FC236}">
                <a16:creationId xmlns:a16="http://schemas.microsoft.com/office/drawing/2014/main" id="{054AF70B-AA8A-703D-72CE-DDF4784AEC5C}"/>
              </a:ext>
            </a:extLst>
          </p:cNvPr>
          <p:cNvSpPr txBox="1">
            <a:spLocks noChangeArrowheads="1"/>
          </p:cNvSpPr>
          <p:nvPr/>
        </p:nvSpPr>
        <p:spPr bwMode="auto">
          <a:xfrm>
            <a:off x="6816725" y="1760538"/>
            <a:ext cx="2682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200"/>
              <a:t>0</a:t>
            </a:r>
            <a:endParaRPr lang="en-US" altLang="en-US"/>
          </a:p>
        </p:txBody>
      </p:sp>
      <p:sp>
        <p:nvSpPr>
          <p:cNvPr id="8278" name="Text Box 125">
            <a:extLst>
              <a:ext uri="{FF2B5EF4-FFF2-40B4-BE49-F238E27FC236}">
                <a16:creationId xmlns:a16="http://schemas.microsoft.com/office/drawing/2014/main" id="{4EDEA655-7D74-FF68-3BA2-BD4CDFB7A231}"/>
              </a:ext>
            </a:extLst>
          </p:cNvPr>
          <p:cNvSpPr txBox="1">
            <a:spLocks noChangeArrowheads="1"/>
          </p:cNvSpPr>
          <p:nvPr/>
        </p:nvSpPr>
        <p:spPr bwMode="auto">
          <a:xfrm>
            <a:off x="6384925" y="1141413"/>
            <a:ext cx="20986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t>Valid Dirty       Tag         Data</a:t>
            </a:r>
          </a:p>
        </p:txBody>
      </p:sp>
      <p:sp>
        <p:nvSpPr>
          <p:cNvPr id="8279" name="Text Box 126">
            <a:extLst>
              <a:ext uri="{FF2B5EF4-FFF2-40B4-BE49-F238E27FC236}">
                <a16:creationId xmlns:a16="http://schemas.microsoft.com/office/drawing/2014/main" id="{52501CBF-18F0-74C0-E988-4B27281983BF}"/>
              </a:ext>
            </a:extLst>
          </p:cNvPr>
          <p:cNvSpPr txBox="1">
            <a:spLocks noChangeArrowheads="1"/>
          </p:cNvSpPr>
          <p:nvPr/>
        </p:nvSpPr>
        <p:spPr bwMode="auto">
          <a:xfrm>
            <a:off x="7667625" y="1747838"/>
            <a:ext cx="1066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200"/>
              <a:t>…x1 … x2 ...</a:t>
            </a:r>
            <a:endParaRPr lang="en-US" altLang="en-US"/>
          </a:p>
        </p:txBody>
      </p:sp>
      <p:sp>
        <p:nvSpPr>
          <p:cNvPr id="8280" name="Text Box 130">
            <a:extLst>
              <a:ext uri="{FF2B5EF4-FFF2-40B4-BE49-F238E27FC236}">
                <a16:creationId xmlns:a16="http://schemas.microsoft.com/office/drawing/2014/main" id="{0E57CFE8-07D2-E877-082D-6B67E9A28452}"/>
              </a:ext>
            </a:extLst>
          </p:cNvPr>
          <p:cNvSpPr txBox="1">
            <a:spLocks noChangeArrowheads="1"/>
          </p:cNvSpPr>
          <p:nvPr/>
        </p:nvSpPr>
        <p:spPr bwMode="auto">
          <a:xfrm>
            <a:off x="6334125" y="925513"/>
            <a:ext cx="26177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u="sng"/>
              <a:t>Initial conditions (both caches):</a:t>
            </a:r>
            <a:endParaRPr lang="en-US" altLang="en-US"/>
          </a:p>
        </p:txBody>
      </p:sp>
      <p:sp>
        <p:nvSpPr>
          <p:cNvPr id="8281" name="Slide Number Placeholder 25">
            <a:extLst>
              <a:ext uri="{FF2B5EF4-FFF2-40B4-BE49-F238E27FC236}">
                <a16:creationId xmlns:a16="http://schemas.microsoft.com/office/drawing/2014/main" id="{1AE1BC3C-A32C-4868-48B2-1A56FA6EBB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8C2817B-7183-F74A-A7C3-C75B81EB407B}" type="slidenum">
              <a:rPr lang="en-US" altLang="en-US"/>
              <a:pPr/>
              <a:t>5</a:t>
            </a:fld>
            <a:r>
              <a:rPr lang="en-US"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499"/>
                                          </p:stCondLst>
                                        </p:cTn>
                                        <p:tgtEl>
                                          <p:spTgt spid="101790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499"/>
                                          </p:stCondLst>
                                        </p:cTn>
                                        <p:tgtEl>
                                          <p:spTgt spid="1017905"/>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499"/>
                                          </p:stCondLst>
                                        </p:cTn>
                                        <p:tgtEl>
                                          <p:spTgt spid="1017906"/>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499"/>
                                          </p:stCondLst>
                                        </p:cTn>
                                        <p:tgtEl>
                                          <p:spTgt spid="1017907"/>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499"/>
                                          </p:stCondLst>
                                        </p:cTn>
                                        <p:tgtEl>
                                          <p:spTgt spid="10179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904" grpId="0" animBg="1"/>
      <p:bldP spid="1017905" grpId="0" animBg="1"/>
      <p:bldP spid="1017906" grpId="0" animBg="1"/>
      <p:bldP spid="1017907" grpId="0" animBg="1"/>
      <p:bldP spid="101790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7498482B-6B3E-5D81-F9B1-44579AB2D31E}"/>
              </a:ext>
            </a:extLst>
          </p:cNvPr>
          <p:cNvSpPr>
            <a:spLocks noGrp="1" noChangeArrowheads="1"/>
          </p:cNvSpPr>
          <p:nvPr>
            <p:ph type="title"/>
          </p:nvPr>
        </p:nvSpPr>
        <p:spPr>
          <a:xfrm>
            <a:off x="0" y="0"/>
            <a:ext cx="9144000" cy="1143000"/>
          </a:xfrm>
        </p:spPr>
        <p:txBody>
          <a:bodyPr/>
          <a:lstStyle/>
          <a:p>
            <a:pPr eaLnBrk="1" hangingPunct="1"/>
            <a:r>
              <a:rPr lang="en-US" altLang="en-US" sz="3600"/>
              <a:t>Impact on Coherence Misses: Cache Size</a:t>
            </a:r>
          </a:p>
        </p:txBody>
      </p:sp>
      <p:sp>
        <p:nvSpPr>
          <p:cNvPr id="1028" name="Text Box 5">
            <a:extLst>
              <a:ext uri="{FF2B5EF4-FFF2-40B4-BE49-F238E27FC236}">
                <a16:creationId xmlns:a16="http://schemas.microsoft.com/office/drawing/2014/main" id="{CE7D1989-2BD7-61F6-7AB5-72BC2F52B7FF}"/>
              </a:ext>
            </a:extLst>
          </p:cNvPr>
          <p:cNvSpPr txBox="1">
            <a:spLocks noChangeArrowheads="1"/>
          </p:cNvSpPr>
          <p:nvPr/>
        </p:nvSpPr>
        <p:spPr bwMode="auto">
          <a:xfrm>
            <a:off x="584200" y="1550988"/>
            <a:ext cx="2682875" cy="349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buFontTx/>
              <a:buChar char="•"/>
            </a:pPr>
            <a:r>
              <a:rPr lang="en-US" altLang="en-US" sz="1600" b="1">
                <a:cs typeface="Arial" panose="020B0604020202020204" pitchFamily="34" charset="0"/>
              </a:rPr>
              <a:t> Uniprocessor cache misses improve with</a:t>
            </a:r>
            <a:br>
              <a:rPr lang="en-US" altLang="en-US" sz="1600" b="1">
                <a:cs typeface="Arial" panose="020B0604020202020204" pitchFamily="34" charset="0"/>
              </a:rPr>
            </a:br>
            <a:r>
              <a:rPr lang="en-US" altLang="en-US" sz="1600" b="1">
                <a:cs typeface="Arial" panose="020B0604020202020204" pitchFamily="34" charset="0"/>
              </a:rPr>
              <a:t>cache size increase (Instruction, Capacity/Conflict,</a:t>
            </a:r>
            <a:br>
              <a:rPr lang="en-US" altLang="en-US" sz="1600" b="1">
                <a:cs typeface="Arial" panose="020B0604020202020204" pitchFamily="34" charset="0"/>
              </a:rPr>
            </a:br>
            <a:r>
              <a:rPr lang="en-US" altLang="en-US" sz="1600" b="1">
                <a:cs typeface="Arial" panose="020B0604020202020204" pitchFamily="34" charset="0"/>
              </a:rPr>
              <a:t>Compulsory)</a:t>
            </a:r>
          </a:p>
          <a:p>
            <a:pPr>
              <a:buFontTx/>
              <a:buChar char="•"/>
            </a:pPr>
            <a:endParaRPr lang="en-US" altLang="en-US" sz="1600" b="1">
              <a:cs typeface="Arial" panose="020B0604020202020204" pitchFamily="34" charset="0"/>
            </a:endParaRPr>
          </a:p>
          <a:p>
            <a:pPr>
              <a:buFontTx/>
              <a:buChar char="•"/>
            </a:pPr>
            <a:r>
              <a:rPr lang="en-US" altLang="en-US" sz="1600" b="1">
                <a:solidFill>
                  <a:srgbClr val="0000FF"/>
                </a:solidFill>
                <a:cs typeface="Arial" panose="020B0604020202020204" pitchFamily="34" charset="0"/>
              </a:rPr>
              <a:t>True sharing and false sharing unchanged going from 1 MB to 8 MB (L3 cache)</a:t>
            </a:r>
            <a:br>
              <a:rPr lang="en-US" altLang="en-US" sz="1600" b="1">
                <a:cs typeface="Arial" panose="020B0604020202020204" pitchFamily="34" charset="0"/>
              </a:rPr>
            </a:br>
            <a:endParaRPr lang="en-US" altLang="en-US" sz="1600" b="1">
              <a:cs typeface="Arial" panose="020B0604020202020204" pitchFamily="34" charset="0"/>
            </a:endParaRPr>
          </a:p>
          <a:p>
            <a:pPr>
              <a:buFontTx/>
              <a:buChar char="•"/>
            </a:pPr>
            <a:endParaRPr lang="en-US" altLang="en-US" sz="1600" b="1">
              <a:cs typeface="Arial" panose="020B0604020202020204" pitchFamily="34" charset="0"/>
            </a:endParaRPr>
          </a:p>
          <a:p>
            <a:endParaRPr lang="en-US" altLang="en-US" sz="1600" b="1">
              <a:cs typeface="Arial" panose="020B0604020202020204" pitchFamily="34" charset="0"/>
            </a:endParaRPr>
          </a:p>
        </p:txBody>
      </p:sp>
      <p:graphicFrame>
        <p:nvGraphicFramePr>
          <p:cNvPr id="1026" name="Object 2">
            <a:extLst>
              <a:ext uri="{FF2B5EF4-FFF2-40B4-BE49-F238E27FC236}">
                <a16:creationId xmlns:a16="http://schemas.microsoft.com/office/drawing/2014/main" id="{0E922789-A128-55D5-F81A-0674CA7132BC}"/>
              </a:ext>
            </a:extLst>
          </p:cNvPr>
          <p:cNvGraphicFramePr>
            <a:graphicFrameLocks noChangeAspect="1"/>
          </p:cNvGraphicFramePr>
          <p:nvPr/>
        </p:nvGraphicFramePr>
        <p:xfrm>
          <a:off x="3522663" y="1547813"/>
          <a:ext cx="5837237" cy="3990975"/>
        </p:xfrm>
        <a:graphic>
          <a:graphicData uri="http://schemas.openxmlformats.org/presentationml/2006/ole">
            <mc:AlternateContent xmlns:mc="http://schemas.openxmlformats.org/markup-compatibility/2006">
              <mc:Choice xmlns:v="urn:schemas-microsoft-com:vml" Requires="v">
                <p:oleObj name="Worksheet" r:id="rId2" imgW="6248400" imgH="4267200" progId="Excel.Sheet.8">
                  <p:embed/>
                </p:oleObj>
              </mc:Choice>
              <mc:Fallback>
                <p:oleObj name="Worksheet" r:id="rId2" imgW="6248400" imgH="4267200" progId="Excel.Shee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2663" y="1547813"/>
                        <a:ext cx="5837237" cy="3990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Text Box 7">
            <a:extLst>
              <a:ext uri="{FF2B5EF4-FFF2-40B4-BE49-F238E27FC236}">
                <a16:creationId xmlns:a16="http://schemas.microsoft.com/office/drawing/2014/main" id="{23126776-42A3-0EA4-8FA6-06EC08CBD646}"/>
              </a:ext>
            </a:extLst>
          </p:cNvPr>
          <p:cNvSpPr txBox="1">
            <a:spLocks noChangeArrowheads="1"/>
          </p:cNvSpPr>
          <p:nvPr/>
        </p:nvSpPr>
        <p:spPr bwMode="auto">
          <a:xfrm rot="-5400000">
            <a:off x="2202656" y="3305970"/>
            <a:ext cx="2892425" cy="2587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b="1"/>
              <a:t>(Memory) Cycles per Instruction</a:t>
            </a:r>
          </a:p>
        </p:txBody>
      </p:sp>
      <p:sp>
        <p:nvSpPr>
          <p:cNvPr id="1030" name="Slide Number Placeholder 8">
            <a:extLst>
              <a:ext uri="{FF2B5EF4-FFF2-40B4-BE49-F238E27FC236}">
                <a16:creationId xmlns:a16="http://schemas.microsoft.com/office/drawing/2014/main" id="{858DA31C-1B5F-26E6-0314-4267B3A057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C679F9A8-BB49-C644-A66A-91EAED91F3E2}" type="slidenum">
              <a:rPr lang="en-US" altLang="en-US"/>
              <a:pPr/>
              <a:t>6</a:t>
            </a:fld>
            <a:r>
              <a:rPr lang="en-US" altLang="en-US"/>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a:extLst>
              <a:ext uri="{FF2B5EF4-FFF2-40B4-BE49-F238E27FC236}">
                <a16:creationId xmlns:a16="http://schemas.microsoft.com/office/drawing/2014/main" id="{E6F0D607-AB61-D12C-D207-74AF4D20A310}"/>
              </a:ext>
            </a:extLst>
          </p:cNvPr>
          <p:cNvSpPr>
            <a:spLocks noGrp="1" noChangeArrowheads="1"/>
          </p:cNvSpPr>
          <p:nvPr>
            <p:ph type="title"/>
          </p:nvPr>
        </p:nvSpPr>
        <p:spPr/>
        <p:txBody>
          <a:bodyPr/>
          <a:lstStyle/>
          <a:p>
            <a:pPr eaLnBrk="1" hangingPunct="1"/>
            <a:r>
              <a:rPr lang="en-US" altLang="en-US"/>
              <a:t>Impact on Coherence Misses: Processor Count</a:t>
            </a:r>
          </a:p>
        </p:txBody>
      </p:sp>
      <p:sp>
        <p:nvSpPr>
          <p:cNvPr id="2052" name="Rectangle 3">
            <a:extLst>
              <a:ext uri="{FF2B5EF4-FFF2-40B4-BE49-F238E27FC236}">
                <a16:creationId xmlns:a16="http://schemas.microsoft.com/office/drawing/2014/main" id="{22384248-0CDD-B19C-E8DC-C2B5B664D637}"/>
              </a:ext>
            </a:extLst>
          </p:cNvPr>
          <p:cNvSpPr>
            <a:spLocks noGrp="1" noChangeArrowheads="1"/>
          </p:cNvSpPr>
          <p:nvPr>
            <p:ph type="body" idx="1"/>
          </p:nvPr>
        </p:nvSpPr>
        <p:spPr>
          <a:xfrm>
            <a:off x="685800" y="5689600"/>
            <a:ext cx="7772400" cy="406400"/>
          </a:xfrm>
        </p:spPr>
        <p:txBody>
          <a:bodyPr/>
          <a:lstStyle/>
          <a:p>
            <a:pPr eaLnBrk="1" hangingPunct="1">
              <a:lnSpc>
                <a:spcPct val="90000"/>
              </a:lnSpc>
            </a:pPr>
            <a:endParaRPr lang="en-US" altLang="en-US" sz="2400"/>
          </a:p>
        </p:txBody>
      </p:sp>
      <p:sp>
        <p:nvSpPr>
          <p:cNvPr id="2053" name="Text Box 5">
            <a:extLst>
              <a:ext uri="{FF2B5EF4-FFF2-40B4-BE49-F238E27FC236}">
                <a16:creationId xmlns:a16="http://schemas.microsoft.com/office/drawing/2014/main" id="{F8E8C3C8-3D57-9F61-B983-D15D618B57D2}"/>
              </a:ext>
            </a:extLst>
          </p:cNvPr>
          <p:cNvSpPr txBox="1">
            <a:spLocks noChangeArrowheads="1"/>
          </p:cNvSpPr>
          <p:nvPr/>
        </p:nvSpPr>
        <p:spPr bwMode="auto">
          <a:xfrm>
            <a:off x="622300" y="2438400"/>
            <a:ext cx="2682875"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buFontTx/>
              <a:buChar char="•"/>
            </a:pPr>
            <a:r>
              <a:rPr lang="en-US" altLang="en-US" sz="2000" b="1">
                <a:cs typeface="Arial" panose="020B0604020202020204" pitchFamily="34" charset="0"/>
              </a:rPr>
              <a:t> True sharing,</a:t>
            </a:r>
            <a:br>
              <a:rPr lang="en-US" altLang="en-US" sz="2000" b="1">
                <a:cs typeface="Arial" panose="020B0604020202020204" pitchFamily="34" charset="0"/>
              </a:rPr>
            </a:br>
            <a:r>
              <a:rPr lang="en-US" altLang="en-US" sz="2000" b="1">
                <a:cs typeface="Arial" panose="020B0604020202020204" pitchFamily="34" charset="0"/>
              </a:rPr>
              <a:t>false sharing increase going from 1 to 8 CPUs</a:t>
            </a:r>
            <a:endParaRPr lang="en-US" altLang="en-US" sz="2400" b="1">
              <a:cs typeface="Arial" panose="020B0604020202020204" pitchFamily="34" charset="0"/>
            </a:endParaRPr>
          </a:p>
        </p:txBody>
      </p:sp>
      <p:graphicFrame>
        <p:nvGraphicFramePr>
          <p:cNvPr id="2050" name="Object 2">
            <a:extLst>
              <a:ext uri="{FF2B5EF4-FFF2-40B4-BE49-F238E27FC236}">
                <a16:creationId xmlns:a16="http://schemas.microsoft.com/office/drawing/2014/main" id="{994134E9-741B-2213-67DB-0F3C362A5CDB}"/>
              </a:ext>
            </a:extLst>
          </p:cNvPr>
          <p:cNvGraphicFramePr>
            <a:graphicFrameLocks noChangeAspect="1"/>
          </p:cNvGraphicFramePr>
          <p:nvPr/>
        </p:nvGraphicFramePr>
        <p:xfrm>
          <a:off x="3568700" y="1295400"/>
          <a:ext cx="6007100" cy="4108450"/>
        </p:xfrm>
        <a:graphic>
          <a:graphicData uri="http://schemas.openxmlformats.org/presentationml/2006/ole">
            <mc:AlternateContent xmlns:mc="http://schemas.openxmlformats.org/markup-compatibility/2006">
              <mc:Choice xmlns:v="urn:schemas-microsoft-com:vml" Requires="v">
                <p:oleObj name="Worksheet" r:id="rId2" imgW="6248400" imgH="4267200" progId="Excel.Sheet.8">
                  <p:embed/>
                </p:oleObj>
              </mc:Choice>
              <mc:Fallback>
                <p:oleObj name="Worksheet" r:id="rId2" imgW="6248400" imgH="4267200" progId="Excel.Shee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8700" y="1295400"/>
                        <a:ext cx="6007100" cy="4108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4" name="Text Box 7">
            <a:extLst>
              <a:ext uri="{FF2B5EF4-FFF2-40B4-BE49-F238E27FC236}">
                <a16:creationId xmlns:a16="http://schemas.microsoft.com/office/drawing/2014/main" id="{96E6CBEC-9493-D0C2-171C-C1FA2F31A89F}"/>
              </a:ext>
            </a:extLst>
          </p:cNvPr>
          <p:cNvSpPr txBox="1">
            <a:spLocks noChangeArrowheads="1"/>
          </p:cNvSpPr>
          <p:nvPr/>
        </p:nvSpPr>
        <p:spPr bwMode="auto">
          <a:xfrm rot="-5400000">
            <a:off x="2264569" y="3090069"/>
            <a:ext cx="2892425" cy="2587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b="1"/>
              <a:t>(Memory) Cycles per Instruction</a:t>
            </a:r>
          </a:p>
        </p:txBody>
      </p:sp>
      <p:sp>
        <p:nvSpPr>
          <p:cNvPr id="2055" name="Slide Number Placeholder 9">
            <a:extLst>
              <a:ext uri="{FF2B5EF4-FFF2-40B4-BE49-F238E27FC236}">
                <a16:creationId xmlns:a16="http://schemas.microsoft.com/office/drawing/2014/main" id="{47FBEDC6-5439-6CCD-70D2-95EAA58A1F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6AA50EB-9A8E-944F-9935-B257AA71D891}" type="slidenum">
              <a:rPr lang="en-US" altLang="en-US"/>
              <a:pPr/>
              <a:t>7</a:t>
            </a:fld>
            <a:r>
              <a:rPr lang="en-US" altLang="en-US"/>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780AF5D-2241-2516-914B-E87F3E1F54F1}"/>
              </a:ext>
            </a:extLst>
          </p:cNvPr>
          <p:cNvSpPr>
            <a:spLocks noGrp="1" noChangeArrowheads="1"/>
          </p:cNvSpPr>
          <p:nvPr>
            <p:ph type="title"/>
          </p:nvPr>
        </p:nvSpPr>
        <p:spPr>
          <a:xfrm>
            <a:off x="673100" y="0"/>
            <a:ext cx="7772400" cy="1143000"/>
          </a:xfrm>
        </p:spPr>
        <p:txBody>
          <a:bodyPr/>
          <a:lstStyle/>
          <a:p>
            <a:pPr eaLnBrk="1" hangingPunct="1"/>
            <a:r>
              <a:rPr lang="en-US" altLang="en-US"/>
              <a:t>Impact on Coherence Misses: Cache Size: Block Size</a:t>
            </a:r>
          </a:p>
        </p:txBody>
      </p:sp>
      <p:sp>
        <p:nvSpPr>
          <p:cNvPr id="9219" name="Rectangle 3">
            <a:extLst>
              <a:ext uri="{FF2B5EF4-FFF2-40B4-BE49-F238E27FC236}">
                <a16:creationId xmlns:a16="http://schemas.microsoft.com/office/drawing/2014/main" id="{FAEA43DA-02EB-EE0F-750A-09BFF5D998A3}"/>
              </a:ext>
            </a:extLst>
          </p:cNvPr>
          <p:cNvSpPr>
            <a:spLocks noGrp="1" noChangeArrowheads="1"/>
          </p:cNvSpPr>
          <p:nvPr>
            <p:ph type="body" idx="1"/>
          </p:nvPr>
        </p:nvSpPr>
        <p:spPr>
          <a:xfrm>
            <a:off x="647700" y="1898650"/>
            <a:ext cx="2654300" cy="4279900"/>
          </a:xfrm>
        </p:spPr>
        <p:txBody>
          <a:bodyPr/>
          <a:lstStyle/>
          <a:p>
            <a:pPr eaLnBrk="1" hangingPunct="1"/>
            <a:r>
              <a:rPr lang="en-US" altLang="en-US" sz="2000"/>
              <a:t>True sharing misses </a:t>
            </a:r>
            <a:r>
              <a:rPr lang="en-US" altLang="en-US" sz="2000" u="sng"/>
              <a:t>decrease</a:t>
            </a:r>
            <a:r>
              <a:rPr lang="en-US" altLang="en-US" sz="2000"/>
              <a:t> due to locality in sharing patterns.</a:t>
            </a:r>
          </a:p>
          <a:p>
            <a:pPr eaLnBrk="1" hangingPunct="1"/>
            <a:endParaRPr lang="en-US" altLang="en-US" sz="2000"/>
          </a:p>
          <a:p>
            <a:pPr eaLnBrk="1" hangingPunct="1"/>
            <a:r>
              <a:rPr lang="en-US" altLang="en-US" sz="2000"/>
              <a:t>False sharing misses </a:t>
            </a:r>
            <a:r>
              <a:rPr lang="en-US" altLang="en-US" sz="2000" u="sng"/>
              <a:t>increase</a:t>
            </a:r>
            <a:r>
              <a:rPr lang="en-US" altLang="en-US" sz="2000"/>
              <a:t> (more likely to have unrelated data stored on same cache block) </a:t>
            </a:r>
          </a:p>
        </p:txBody>
      </p:sp>
      <p:pic>
        <p:nvPicPr>
          <p:cNvPr id="9220" name="Picture 4" descr="Ch6-fig17">
            <a:extLst>
              <a:ext uri="{FF2B5EF4-FFF2-40B4-BE49-F238E27FC236}">
                <a16:creationId xmlns:a16="http://schemas.microsoft.com/office/drawing/2014/main" id="{EFAB0CA3-B1F3-FE03-69B9-CE48D48B60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988" y="1390650"/>
            <a:ext cx="5254625"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Slide Number Placeholder 7">
            <a:extLst>
              <a:ext uri="{FF2B5EF4-FFF2-40B4-BE49-F238E27FC236}">
                <a16:creationId xmlns:a16="http://schemas.microsoft.com/office/drawing/2014/main" id="{E9BE787B-4AB4-F44B-5B9D-CE88B3E34F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8E266E7-FE7E-7C42-A91D-C2395F217048}" type="slidenum">
              <a:rPr lang="en-US" altLang="en-US"/>
              <a:pPr/>
              <a:t>8</a:t>
            </a:fld>
            <a:r>
              <a:rPr lang="en-US" altLang="en-US"/>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C309CB3-7CAB-7435-A527-42B84B7E6C6B}"/>
              </a:ext>
            </a:extLst>
          </p:cNvPr>
          <p:cNvSpPr>
            <a:spLocks noGrp="1" noChangeArrowheads="1"/>
          </p:cNvSpPr>
          <p:nvPr>
            <p:ph type="title"/>
          </p:nvPr>
        </p:nvSpPr>
        <p:spPr/>
        <p:txBody>
          <a:bodyPr/>
          <a:lstStyle/>
          <a:p>
            <a:pPr eaLnBrk="1" hangingPunct="1"/>
            <a:r>
              <a:rPr lang="en-US" altLang="en-US"/>
              <a:t>Reducing False Sharing (1)</a:t>
            </a:r>
          </a:p>
        </p:txBody>
      </p:sp>
      <p:pic>
        <p:nvPicPr>
          <p:cNvPr id="10243" name="Picture 4" descr="false_sharing">
            <a:extLst>
              <a:ext uri="{FF2B5EF4-FFF2-40B4-BE49-F238E27FC236}">
                <a16:creationId xmlns:a16="http://schemas.microsoft.com/office/drawing/2014/main" id="{481724CF-89F2-03DD-3C8F-7B662A6D5F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 y="939800"/>
            <a:ext cx="7288213" cy="385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Slide Number Placeholder 7">
            <a:extLst>
              <a:ext uri="{FF2B5EF4-FFF2-40B4-BE49-F238E27FC236}">
                <a16:creationId xmlns:a16="http://schemas.microsoft.com/office/drawing/2014/main" id="{A6D68565-7B93-6D80-BE82-9BABD66C07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F8386211-45E9-684F-A43B-90504E97451F}" type="slidenum">
              <a:rPr lang="en-US" altLang="en-US"/>
              <a:pPr/>
              <a:t>9</a:t>
            </a:fld>
            <a:r>
              <a:rPr lang="en-US" altLang="en-US"/>
              <a:t> </a:t>
            </a:r>
          </a:p>
        </p:txBody>
      </p:sp>
      <p:cxnSp>
        <p:nvCxnSpPr>
          <p:cNvPr id="10245" name="Straight Arrow Connector 9">
            <a:extLst>
              <a:ext uri="{FF2B5EF4-FFF2-40B4-BE49-F238E27FC236}">
                <a16:creationId xmlns:a16="http://schemas.microsoft.com/office/drawing/2014/main" id="{C2B96278-6BE3-1B52-4795-7BF2FCC28F4D}"/>
              </a:ext>
            </a:extLst>
          </p:cNvPr>
          <p:cNvCxnSpPr>
            <a:cxnSpLocks noChangeShapeType="1"/>
          </p:cNvCxnSpPr>
          <p:nvPr/>
        </p:nvCxnSpPr>
        <p:spPr bwMode="auto">
          <a:xfrm rot="16200000" flipH="1">
            <a:off x="247650" y="2127250"/>
            <a:ext cx="762000" cy="127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46" name="Straight Arrow Connector 10">
            <a:extLst>
              <a:ext uri="{FF2B5EF4-FFF2-40B4-BE49-F238E27FC236}">
                <a16:creationId xmlns:a16="http://schemas.microsoft.com/office/drawing/2014/main" id="{2EE95126-8F75-C6EF-0B1C-C831A5387584}"/>
              </a:ext>
            </a:extLst>
          </p:cNvPr>
          <p:cNvCxnSpPr>
            <a:cxnSpLocks noChangeShapeType="1"/>
          </p:cNvCxnSpPr>
          <p:nvPr/>
        </p:nvCxnSpPr>
        <p:spPr bwMode="auto">
          <a:xfrm flipV="1">
            <a:off x="887413" y="1409700"/>
            <a:ext cx="636587" cy="142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0247" name="TextBox 13">
            <a:extLst>
              <a:ext uri="{FF2B5EF4-FFF2-40B4-BE49-F238E27FC236}">
                <a16:creationId xmlns:a16="http://schemas.microsoft.com/office/drawing/2014/main" id="{3BBCE5B7-A5D0-5ACF-1B99-147AEAA3A518}"/>
              </a:ext>
            </a:extLst>
          </p:cNvPr>
          <p:cNvSpPr txBox="1">
            <a:spLocks noChangeArrowheads="1"/>
          </p:cNvSpPr>
          <p:nvPr/>
        </p:nvSpPr>
        <p:spPr bwMode="auto">
          <a:xfrm>
            <a:off x="342900" y="1993900"/>
            <a:ext cx="2238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a:t>i</a:t>
            </a:r>
          </a:p>
        </p:txBody>
      </p:sp>
      <p:sp>
        <p:nvSpPr>
          <p:cNvPr id="10248" name="TextBox 14">
            <a:extLst>
              <a:ext uri="{FF2B5EF4-FFF2-40B4-BE49-F238E27FC236}">
                <a16:creationId xmlns:a16="http://schemas.microsoft.com/office/drawing/2014/main" id="{6573796E-215B-98FB-D4D2-AE3328F18093}"/>
              </a:ext>
            </a:extLst>
          </p:cNvPr>
          <p:cNvSpPr txBox="1">
            <a:spLocks noChangeArrowheads="1"/>
          </p:cNvSpPr>
          <p:nvPr/>
        </p:nvSpPr>
        <p:spPr bwMode="auto">
          <a:xfrm>
            <a:off x="1104900" y="1054100"/>
            <a:ext cx="238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a:t>j</a:t>
            </a:r>
          </a:p>
        </p:txBody>
      </p:sp>
      <p:sp>
        <p:nvSpPr>
          <p:cNvPr id="10249" name="TextBox 15">
            <a:extLst>
              <a:ext uri="{FF2B5EF4-FFF2-40B4-BE49-F238E27FC236}">
                <a16:creationId xmlns:a16="http://schemas.microsoft.com/office/drawing/2014/main" id="{FA4FCABA-A6B0-4140-D976-FD11182B9E82}"/>
              </a:ext>
            </a:extLst>
          </p:cNvPr>
          <p:cNvSpPr txBox="1">
            <a:spLocks noChangeArrowheads="1"/>
          </p:cNvSpPr>
          <p:nvPr/>
        </p:nvSpPr>
        <p:spPr bwMode="auto">
          <a:xfrm>
            <a:off x="3048000" y="4254500"/>
            <a:ext cx="1266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0000FF"/>
                </a:solidFill>
              </a:rPr>
              <a:t>“float A[N][N]”</a:t>
            </a:r>
          </a:p>
        </p:txBody>
      </p:sp>
      <p:sp>
        <p:nvSpPr>
          <p:cNvPr id="10250" name="TextBox 16">
            <a:extLst>
              <a:ext uri="{FF2B5EF4-FFF2-40B4-BE49-F238E27FC236}">
                <a16:creationId xmlns:a16="http://schemas.microsoft.com/office/drawing/2014/main" id="{1078FFD8-8AB2-415A-A4A0-7D7837FB4A13}"/>
              </a:ext>
            </a:extLst>
          </p:cNvPr>
          <p:cNvSpPr txBox="1">
            <a:spLocks noChangeArrowheads="1"/>
          </p:cNvSpPr>
          <p:nvPr/>
        </p:nvSpPr>
        <p:spPr bwMode="auto">
          <a:xfrm>
            <a:off x="7137400" y="4305300"/>
            <a:ext cx="1965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0000FF"/>
                </a:solidFill>
              </a:rPr>
              <a:t>“float A[N/b][N/b][b][b]”</a:t>
            </a:r>
          </a:p>
        </p:txBody>
      </p:sp>
      <p:sp>
        <p:nvSpPr>
          <p:cNvPr id="10251" name="Rectangle 3">
            <a:extLst>
              <a:ext uri="{FF2B5EF4-FFF2-40B4-BE49-F238E27FC236}">
                <a16:creationId xmlns:a16="http://schemas.microsoft.com/office/drawing/2014/main" id="{0513FE6D-918C-19A2-51D7-D3FF447670A9}"/>
              </a:ext>
            </a:extLst>
          </p:cNvPr>
          <p:cNvSpPr>
            <a:spLocks noGrp="1" noChangeArrowheads="1"/>
          </p:cNvSpPr>
          <p:nvPr>
            <p:ph type="body" idx="1"/>
          </p:nvPr>
        </p:nvSpPr>
        <p:spPr>
          <a:xfrm>
            <a:off x="558800" y="4673600"/>
            <a:ext cx="7937500" cy="1651000"/>
          </a:xfrm>
        </p:spPr>
        <p:txBody>
          <a:bodyPr/>
          <a:lstStyle/>
          <a:p>
            <a:pPr eaLnBrk="1" hangingPunct="1">
              <a:lnSpc>
                <a:spcPct val="90000"/>
              </a:lnSpc>
            </a:pPr>
            <a:r>
              <a:rPr lang="en-US" altLang="en-US" sz="1800"/>
              <a:t>Consider how “float A[N][N];” is stored in memory:  A[i][j+1] is adjacent to A[i][j] in memory, but A[i+1][j] is not adjacent to A[i][j]. </a:t>
            </a:r>
          </a:p>
          <a:p>
            <a:pPr eaLnBrk="1" hangingPunct="1">
              <a:lnSpc>
                <a:spcPct val="90000"/>
              </a:lnSpc>
            </a:pPr>
            <a:r>
              <a:rPr lang="en-US" altLang="en-US" sz="1800"/>
              <a:t>Reduce false sharing by structure data to reduce “spatial interleaving” (e.g., using “higher order” arrays as illustrated in “b” above)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BFC7027-D89F-14B5-377E-B78A4B7CCBFE}"/>
              </a:ext>
            </a:extLst>
          </p:cNvPr>
          <p:cNvSpPr>
            <a:spLocks noGrp="1" noChangeArrowheads="1"/>
          </p:cNvSpPr>
          <p:nvPr>
            <p:ph type="title"/>
          </p:nvPr>
        </p:nvSpPr>
        <p:spPr>
          <a:xfrm>
            <a:off x="685800" y="0"/>
            <a:ext cx="7772400" cy="876300"/>
          </a:xfrm>
        </p:spPr>
        <p:txBody>
          <a:bodyPr/>
          <a:lstStyle/>
          <a:p>
            <a:pPr eaLnBrk="1" hangingPunct="1"/>
            <a:r>
              <a:rPr lang="en-US" altLang="en-US"/>
              <a:t>Reducing False Sharing (2)</a:t>
            </a:r>
          </a:p>
        </p:txBody>
      </p:sp>
      <p:sp>
        <p:nvSpPr>
          <p:cNvPr id="11267" name="Rectangle 3">
            <a:extLst>
              <a:ext uri="{FF2B5EF4-FFF2-40B4-BE49-F238E27FC236}">
                <a16:creationId xmlns:a16="http://schemas.microsoft.com/office/drawing/2014/main" id="{B7080BC1-FE33-F7EE-5FE2-338120BB9C78}"/>
              </a:ext>
            </a:extLst>
          </p:cNvPr>
          <p:cNvSpPr>
            <a:spLocks noGrp="1" noChangeArrowheads="1"/>
          </p:cNvSpPr>
          <p:nvPr>
            <p:ph type="body" idx="1"/>
          </p:nvPr>
        </p:nvSpPr>
        <p:spPr>
          <a:xfrm>
            <a:off x="419100" y="1054100"/>
            <a:ext cx="8318500" cy="4724400"/>
          </a:xfrm>
        </p:spPr>
        <p:txBody>
          <a:bodyPr/>
          <a:lstStyle/>
          <a:p>
            <a:pPr eaLnBrk="1" hangingPunct="1"/>
            <a:r>
              <a:rPr lang="en-US" altLang="en-US" sz="2400"/>
              <a:t>Beware using thread/process ID to index arrays:</a:t>
            </a:r>
          </a:p>
          <a:p>
            <a:pPr eaLnBrk="1" hangingPunct="1">
              <a:buFontTx/>
              <a:buNone/>
            </a:pPr>
            <a:r>
              <a:rPr lang="en-US" altLang="en-US" sz="2400"/>
              <a:t> </a:t>
            </a:r>
          </a:p>
          <a:p>
            <a:pPr lvl="1" eaLnBrk="1" hangingPunct="1">
              <a:buFontTx/>
              <a:buNone/>
            </a:pPr>
            <a:r>
              <a:rPr lang="en-US" altLang="en-US" sz="1400">
                <a:latin typeface="Courier New" panose="02070309020205020404" pitchFamily="49" charset="0"/>
                <a:cs typeface="Courier New" panose="02070309020205020404" pitchFamily="49" charset="0"/>
              </a:rPr>
              <a:t>	#define NCORES 4</a:t>
            </a:r>
          </a:p>
          <a:p>
            <a:pPr lvl="1" eaLnBrk="1" hangingPunct="1">
              <a:buFontTx/>
              <a:buNone/>
            </a:pPr>
            <a:r>
              <a:rPr lang="en-US" altLang="en-US" sz="1400">
                <a:latin typeface="Courier New" panose="02070309020205020404" pitchFamily="49" charset="0"/>
                <a:cs typeface="Courier New" panose="02070309020205020404" pitchFamily="49" charset="0"/>
              </a:rPr>
              <a:t>	int g_foo[NCORES];</a:t>
            </a:r>
          </a:p>
          <a:p>
            <a:pPr lvl="1" eaLnBrk="1" hangingPunct="1">
              <a:buFontTx/>
              <a:buNone/>
            </a:pPr>
            <a:r>
              <a:rPr lang="en-US" altLang="en-US" sz="1400">
                <a:latin typeface="Courier New" panose="02070309020205020404" pitchFamily="49" charset="0"/>
                <a:cs typeface="Courier New" panose="02070309020205020404" pitchFamily="49" charset="0"/>
              </a:rPr>
              <a:t>	...</a:t>
            </a:r>
          </a:p>
          <a:p>
            <a:pPr lvl="1" eaLnBrk="1" hangingPunct="1">
              <a:buFontTx/>
              <a:buNone/>
            </a:pPr>
            <a:r>
              <a:rPr lang="en-US" altLang="en-US" sz="1400">
                <a:latin typeface="Courier New" panose="02070309020205020404" pitchFamily="49" charset="0"/>
                <a:cs typeface="Courier New" panose="02070309020205020404" pitchFamily="49" charset="0"/>
              </a:rPr>
              <a:t>	g_foo[ tid ] ++;	</a:t>
            </a:r>
            <a:r>
              <a:rPr lang="en-US" altLang="en-US" sz="1400" b="1">
                <a:solidFill>
                  <a:srgbClr val="FF0000"/>
                </a:solidFill>
                <a:latin typeface="Courier New" panose="02070309020205020404" pitchFamily="49" charset="0"/>
                <a:cs typeface="Courier New" panose="02070309020205020404" pitchFamily="49" charset="0"/>
              </a:rPr>
              <a:t>// BAD!  FALSE SHARING!</a:t>
            </a:r>
          </a:p>
          <a:p>
            <a:pPr eaLnBrk="1" hangingPunct="1">
              <a:buFontTx/>
              <a:buNone/>
            </a:pPr>
            <a:endParaRPr lang="en-US" altLang="en-US" sz="2400"/>
          </a:p>
          <a:p>
            <a:pPr eaLnBrk="1" hangingPunct="1"/>
            <a:r>
              <a:rPr lang="en-US" altLang="en-US" sz="2400"/>
              <a:t>Instead, “pad” to cache block size (so each processor accesses an element of g_foo on a different block)</a:t>
            </a:r>
          </a:p>
          <a:p>
            <a:pPr eaLnBrk="1" hangingPunct="1"/>
            <a:endParaRPr lang="en-US" altLang="en-US" sz="2400"/>
          </a:p>
          <a:p>
            <a:pPr lvl="1" eaLnBrk="1" hangingPunct="1">
              <a:buFontTx/>
              <a:buNone/>
            </a:pPr>
            <a:r>
              <a:rPr lang="en-US" altLang="en-US" sz="1400">
                <a:latin typeface="Courier New" panose="02070309020205020404" pitchFamily="49" charset="0"/>
                <a:cs typeface="Courier New" panose="02070309020205020404" pitchFamily="49" charset="0"/>
              </a:rPr>
              <a:t>	#define NCORES 4</a:t>
            </a:r>
          </a:p>
          <a:p>
            <a:pPr lvl="1" eaLnBrk="1" hangingPunct="1">
              <a:buFontTx/>
              <a:buNone/>
            </a:pPr>
            <a:r>
              <a:rPr lang="en-US" altLang="en-US" sz="1400">
                <a:latin typeface="Courier New" panose="02070309020205020404" pitchFamily="49" charset="0"/>
                <a:cs typeface="Courier New" panose="02070309020205020404" pitchFamily="49" charset="0"/>
              </a:rPr>
              <a:t>	#define INTS_PER_BLOCK (32/sizeof(int)) /* for 32 B cache blocks */</a:t>
            </a:r>
          </a:p>
          <a:p>
            <a:pPr lvl="1" eaLnBrk="1" hangingPunct="1">
              <a:buFontTx/>
              <a:buNone/>
            </a:pPr>
            <a:r>
              <a:rPr lang="en-US" altLang="en-US" sz="1400">
                <a:latin typeface="Courier New" panose="02070309020205020404" pitchFamily="49" charset="0"/>
                <a:cs typeface="Courier New" panose="02070309020205020404" pitchFamily="49" charset="0"/>
              </a:rPr>
              <a:t>	int g_foo[NCORES*INTS_PER_BLOCK];</a:t>
            </a:r>
          </a:p>
          <a:p>
            <a:pPr lvl="1" eaLnBrk="1" hangingPunct="1">
              <a:buFontTx/>
              <a:buNone/>
            </a:pPr>
            <a:r>
              <a:rPr lang="en-US" altLang="en-US" sz="1400">
                <a:latin typeface="Courier New" panose="02070309020205020404" pitchFamily="49" charset="0"/>
                <a:cs typeface="Courier New" panose="02070309020205020404" pitchFamily="49" charset="0"/>
              </a:rPr>
              <a:t>	...</a:t>
            </a:r>
          </a:p>
          <a:p>
            <a:pPr lvl="1" eaLnBrk="1" hangingPunct="1">
              <a:buFontTx/>
              <a:buNone/>
            </a:pPr>
            <a:r>
              <a:rPr lang="en-US" altLang="en-US" sz="1400">
                <a:latin typeface="Courier New" panose="02070309020205020404" pitchFamily="49" charset="0"/>
                <a:cs typeface="Courier New" panose="02070309020205020404" pitchFamily="49" charset="0"/>
              </a:rPr>
              <a:t>	g_foo[ tid*INTS_PER_BLOCK ] ++; </a:t>
            </a:r>
            <a:r>
              <a:rPr lang="en-US" altLang="en-US" sz="1400" b="1">
                <a:solidFill>
                  <a:srgbClr val="0000FF"/>
                </a:solidFill>
                <a:latin typeface="Courier New" panose="02070309020205020404" pitchFamily="49" charset="0"/>
                <a:cs typeface="Courier New" panose="02070309020205020404" pitchFamily="49" charset="0"/>
              </a:rPr>
              <a:t>// GOOD!  NO FALSE SHARING.</a:t>
            </a:r>
          </a:p>
          <a:p>
            <a:pPr eaLnBrk="1" hangingPunct="1">
              <a:buFontTx/>
              <a:buNone/>
            </a:pPr>
            <a:endParaRPr lang="en-US" altLang="en-US" sz="2400"/>
          </a:p>
        </p:txBody>
      </p:sp>
      <p:sp>
        <p:nvSpPr>
          <p:cNvPr id="11268" name="Slide Number Placeholder 6">
            <a:extLst>
              <a:ext uri="{FF2B5EF4-FFF2-40B4-BE49-F238E27FC236}">
                <a16:creationId xmlns:a16="http://schemas.microsoft.com/office/drawing/2014/main" id="{293CF1C9-18F0-E08D-ED43-335C741B74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65075D4-984A-514D-ABDF-1923955A755F}" type="slidenum">
              <a:rPr lang="en-US" altLang="en-US"/>
              <a:pPr/>
              <a:t>10</a:t>
            </a:fld>
            <a:r>
              <a:rPr lang="en-US" altLang="en-US"/>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E6314A3-D4EB-94B8-DA49-21644FD86FFC}"/>
              </a:ext>
            </a:extLst>
          </p:cNvPr>
          <p:cNvSpPr>
            <a:spLocks noGrp="1" noChangeArrowheads="1"/>
          </p:cNvSpPr>
          <p:nvPr>
            <p:ph type="title"/>
          </p:nvPr>
        </p:nvSpPr>
        <p:spPr/>
        <p:txBody>
          <a:bodyPr/>
          <a:lstStyle/>
          <a:p>
            <a:pPr eaLnBrk="1" hangingPunct="1"/>
            <a:r>
              <a:rPr lang="en-US" altLang="en-US"/>
              <a:t>Reducing False Sharing (3)</a:t>
            </a:r>
          </a:p>
        </p:txBody>
      </p:sp>
      <p:sp>
        <p:nvSpPr>
          <p:cNvPr id="12291" name="Rectangle 3">
            <a:extLst>
              <a:ext uri="{FF2B5EF4-FFF2-40B4-BE49-F238E27FC236}">
                <a16:creationId xmlns:a16="http://schemas.microsoft.com/office/drawing/2014/main" id="{64CA9BCF-4C52-BB55-DF01-C28709B617BA}"/>
              </a:ext>
            </a:extLst>
          </p:cNvPr>
          <p:cNvSpPr>
            <a:spLocks noGrp="1" noChangeArrowheads="1"/>
          </p:cNvSpPr>
          <p:nvPr>
            <p:ph type="body" idx="1"/>
          </p:nvPr>
        </p:nvSpPr>
        <p:spPr>
          <a:xfrm>
            <a:off x="482600" y="1143000"/>
            <a:ext cx="7772400" cy="4724400"/>
          </a:xfrm>
        </p:spPr>
        <p:txBody>
          <a:bodyPr/>
          <a:lstStyle/>
          <a:p>
            <a:pPr eaLnBrk="1" hangingPunct="1"/>
            <a:r>
              <a:rPr lang="en-US" altLang="en-US"/>
              <a:t>Consider carefully how to organize arrays of “structs” (or arrays of “objects”):</a:t>
            </a:r>
          </a:p>
        </p:txBody>
      </p:sp>
      <p:pic>
        <p:nvPicPr>
          <p:cNvPr id="12292" name="Picture 4" descr="File0003">
            <a:extLst>
              <a:ext uri="{FF2B5EF4-FFF2-40B4-BE49-F238E27FC236}">
                <a16:creationId xmlns:a16="http://schemas.microsoft.com/office/drawing/2014/main" id="{F04A09FE-B737-697F-221C-A005BA0F4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050" y="2163763"/>
            <a:ext cx="5967413" cy="352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Slide Number Placeholder 7">
            <a:extLst>
              <a:ext uri="{FF2B5EF4-FFF2-40B4-BE49-F238E27FC236}">
                <a16:creationId xmlns:a16="http://schemas.microsoft.com/office/drawing/2014/main" id="{3A939BEC-6FB7-8981-7F4B-7747B41852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DA1260FE-4B1A-3F4C-89C1-A922F378CBE2}" type="slidenum">
              <a:rPr lang="en-US" altLang="en-US"/>
              <a:pPr/>
              <a:t>11</a:t>
            </a:fld>
            <a:r>
              <a:rPr lang="en-US" altLang="en-US"/>
              <a:t> </a:t>
            </a:r>
          </a:p>
        </p:txBody>
      </p:sp>
      <p:sp>
        <p:nvSpPr>
          <p:cNvPr id="12294" name="TextBox 9">
            <a:extLst>
              <a:ext uri="{FF2B5EF4-FFF2-40B4-BE49-F238E27FC236}">
                <a16:creationId xmlns:a16="http://schemas.microsoft.com/office/drawing/2014/main" id="{EA6AC0C2-889E-E8C5-3FB5-C118C7245497}"/>
              </a:ext>
            </a:extLst>
          </p:cNvPr>
          <p:cNvSpPr txBox="1">
            <a:spLocks noChangeArrowheads="1"/>
          </p:cNvSpPr>
          <p:nvPr/>
        </p:nvSpPr>
        <p:spPr bwMode="auto">
          <a:xfrm>
            <a:off x="5511800" y="3098800"/>
            <a:ext cx="3349625" cy="31083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a:cs typeface="Arial" panose="020B0604020202020204" pitchFamily="34" charset="0"/>
              </a:rPr>
              <a:t>Consider “n-body problem” (physics).  </a:t>
            </a:r>
          </a:p>
          <a:p>
            <a:r>
              <a:rPr lang="en-US" altLang="en-US">
                <a:cs typeface="Arial" panose="020B0604020202020204" pitchFamily="34" charset="0"/>
              </a:rPr>
              <a:t>Need to know position of all “particles” </a:t>
            </a:r>
          </a:p>
          <a:p>
            <a:r>
              <a:rPr lang="en-US" altLang="en-US">
                <a:cs typeface="Arial" panose="020B0604020202020204" pitchFamily="34" charset="0"/>
              </a:rPr>
              <a:t>to compute force on any given particle. </a:t>
            </a:r>
          </a:p>
          <a:p>
            <a:r>
              <a:rPr lang="en-US" altLang="en-US">
                <a:cs typeface="Arial" panose="020B0604020202020204" pitchFamily="34" charset="0"/>
              </a:rPr>
              <a:t>Parallelize so each processor computes</a:t>
            </a:r>
          </a:p>
          <a:p>
            <a:r>
              <a:rPr lang="en-US" altLang="en-US">
                <a:cs typeface="Arial" panose="020B0604020202020204" pitchFamily="34" charset="0"/>
              </a:rPr>
              <a:t>force on a particular particle.</a:t>
            </a:r>
          </a:p>
          <a:p>
            <a:endParaRPr lang="en-US" altLang="en-US">
              <a:cs typeface="Arial" panose="020B0604020202020204" pitchFamily="34" charset="0"/>
            </a:endParaRPr>
          </a:p>
          <a:p>
            <a:r>
              <a:rPr lang="en-US" altLang="en-US">
                <a:cs typeface="Arial" panose="020B0604020202020204" pitchFamily="34" charset="0"/>
              </a:rPr>
              <a:t>Each processor wants to read position</a:t>
            </a:r>
          </a:p>
          <a:p>
            <a:r>
              <a:rPr lang="en-US" altLang="en-US">
                <a:cs typeface="Arial" panose="020B0604020202020204" pitchFamily="34" charset="0"/>
              </a:rPr>
              <a:t>of other particles to update force and </a:t>
            </a:r>
          </a:p>
          <a:p>
            <a:r>
              <a:rPr lang="en-US" altLang="en-US">
                <a:cs typeface="Arial" panose="020B0604020202020204" pitchFamily="34" charset="0"/>
              </a:rPr>
              <a:t>velocity of particle it is processing.</a:t>
            </a:r>
          </a:p>
          <a:p>
            <a:endParaRPr lang="en-US" altLang="en-US">
              <a:cs typeface="Arial" panose="020B0604020202020204" pitchFamily="34" charset="0"/>
            </a:endParaRPr>
          </a:p>
          <a:p>
            <a:r>
              <a:rPr lang="en-US" altLang="en-US">
                <a:cs typeface="Arial" panose="020B0604020202020204" pitchFamily="34" charset="0"/>
              </a:rPr>
              <a:t>Position for each particle could be in </a:t>
            </a:r>
          </a:p>
          <a:p>
            <a:r>
              <a:rPr lang="en-US" altLang="en-US">
                <a:cs typeface="Arial" panose="020B0604020202020204" pitchFamily="34" charset="0"/>
              </a:rPr>
              <a:t>“shared state” in all processor caches, </a:t>
            </a:r>
          </a:p>
          <a:p>
            <a:r>
              <a:rPr lang="en-US" altLang="en-US">
                <a:cs typeface="Arial" panose="020B0604020202020204" pitchFamily="34" charset="0"/>
              </a:rPr>
              <a:t>but updates to force or velocity increase</a:t>
            </a:r>
          </a:p>
          <a:p>
            <a:r>
              <a:rPr lang="en-US" altLang="en-US">
                <a:cs typeface="Arial" panose="020B0604020202020204" pitchFamily="34" charset="0"/>
              </a:rPr>
              <a:t>false sharing misses in (a) versus (b).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45">
            <a:extLst>
              <a:ext uri="{FF2B5EF4-FFF2-40B4-BE49-F238E27FC236}">
                <a16:creationId xmlns:a16="http://schemas.microsoft.com/office/drawing/2014/main" id="{CA0FB1AC-8A6E-5FC0-170F-9AF7FD9836EC}"/>
              </a:ext>
            </a:extLst>
          </p:cNvPr>
          <p:cNvSpPr>
            <a:spLocks noChangeArrowheads="1"/>
          </p:cNvSpPr>
          <p:nvPr/>
        </p:nvSpPr>
        <p:spPr bwMode="auto">
          <a:xfrm>
            <a:off x="1262063" y="4133850"/>
            <a:ext cx="2176462" cy="1738313"/>
          </a:xfrm>
          <a:prstGeom prst="rect">
            <a:avLst/>
          </a:prstGeom>
          <a:solidFill>
            <a:schemeClr val="accent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15" name="Title 1">
            <a:extLst>
              <a:ext uri="{FF2B5EF4-FFF2-40B4-BE49-F238E27FC236}">
                <a16:creationId xmlns:a16="http://schemas.microsoft.com/office/drawing/2014/main" id="{F4BE6C71-6C8E-2DE8-907E-BE7B46BDD95D}"/>
              </a:ext>
            </a:extLst>
          </p:cNvPr>
          <p:cNvSpPr>
            <a:spLocks noGrp="1"/>
          </p:cNvSpPr>
          <p:nvPr>
            <p:ph type="title"/>
          </p:nvPr>
        </p:nvSpPr>
        <p:spPr/>
        <p:txBody>
          <a:bodyPr/>
          <a:lstStyle/>
          <a:p>
            <a:r>
              <a:rPr lang="en-CA" altLang="en-US"/>
              <a:t>Directory Based Coherence</a:t>
            </a:r>
          </a:p>
        </p:txBody>
      </p:sp>
      <p:sp>
        <p:nvSpPr>
          <p:cNvPr id="13316" name="Content Placeholder 2">
            <a:extLst>
              <a:ext uri="{FF2B5EF4-FFF2-40B4-BE49-F238E27FC236}">
                <a16:creationId xmlns:a16="http://schemas.microsoft.com/office/drawing/2014/main" id="{BE0B00F7-ECDD-0D1E-6B8C-188CB95C06F2}"/>
              </a:ext>
            </a:extLst>
          </p:cNvPr>
          <p:cNvSpPr>
            <a:spLocks noGrp="1"/>
          </p:cNvSpPr>
          <p:nvPr>
            <p:ph idx="1"/>
          </p:nvPr>
        </p:nvSpPr>
        <p:spPr>
          <a:xfrm>
            <a:off x="685800" y="1371600"/>
            <a:ext cx="7772400" cy="2582863"/>
          </a:xfrm>
        </p:spPr>
        <p:txBody>
          <a:bodyPr/>
          <a:lstStyle/>
          <a:p>
            <a:r>
              <a:rPr lang="en-CA" altLang="en-US" sz="2400"/>
              <a:t>Problem:  As number of processors increases, broadcast becomes too expensive.</a:t>
            </a:r>
          </a:p>
          <a:p>
            <a:endParaRPr lang="en-CA" altLang="en-US" sz="2400"/>
          </a:p>
          <a:p>
            <a:r>
              <a:rPr lang="en-CA" altLang="en-US" sz="2400"/>
              <a:t>Solution:  Replace bus with scalable interconnection network (e.g., 2D mesh)  and only send messages to caches containing blocks that need to change state.</a:t>
            </a:r>
          </a:p>
          <a:p>
            <a:endParaRPr lang="en-CA" altLang="en-US" sz="2400"/>
          </a:p>
        </p:txBody>
      </p:sp>
      <p:sp>
        <p:nvSpPr>
          <p:cNvPr id="13317" name="Slide Number Placeholder 3">
            <a:extLst>
              <a:ext uri="{FF2B5EF4-FFF2-40B4-BE49-F238E27FC236}">
                <a16:creationId xmlns:a16="http://schemas.microsoft.com/office/drawing/2014/main" id="{3ED54033-0836-416C-3F89-8A896D1F2E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59FFC8F-2664-E44A-B8BF-3D698E6C0172}" type="slidenum">
              <a:rPr lang="en-US" altLang="en-US"/>
              <a:pPr/>
              <a:t>12</a:t>
            </a:fld>
            <a:r>
              <a:rPr lang="en-US" altLang="en-US"/>
              <a:t> </a:t>
            </a:r>
          </a:p>
        </p:txBody>
      </p:sp>
      <p:sp>
        <p:nvSpPr>
          <p:cNvPr id="13318" name="Rectangle 4">
            <a:extLst>
              <a:ext uri="{FF2B5EF4-FFF2-40B4-BE49-F238E27FC236}">
                <a16:creationId xmlns:a16="http://schemas.microsoft.com/office/drawing/2014/main" id="{FBCABDDE-E3DA-4D8C-C74C-FD9B35F086BA}"/>
              </a:ext>
            </a:extLst>
          </p:cNvPr>
          <p:cNvSpPr>
            <a:spLocks noChangeArrowheads="1"/>
          </p:cNvSpPr>
          <p:nvPr/>
        </p:nvSpPr>
        <p:spPr bwMode="auto">
          <a:xfrm>
            <a:off x="1493838" y="4198938"/>
            <a:ext cx="157162"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19" name="Rectangle 5">
            <a:extLst>
              <a:ext uri="{FF2B5EF4-FFF2-40B4-BE49-F238E27FC236}">
                <a16:creationId xmlns:a16="http://schemas.microsoft.com/office/drawing/2014/main" id="{37FCE5E3-2ADC-4633-044C-A8F882A96DCE}"/>
              </a:ext>
            </a:extLst>
          </p:cNvPr>
          <p:cNvSpPr>
            <a:spLocks noChangeArrowheads="1"/>
          </p:cNvSpPr>
          <p:nvPr/>
        </p:nvSpPr>
        <p:spPr bwMode="auto">
          <a:xfrm>
            <a:off x="1831975" y="4532313"/>
            <a:ext cx="80963"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20" name="Rectangle 6">
            <a:extLst>
              <a:ext uri="{FF2B5EF4-FFF2-40B4-BE49-F238E27FC236}">
                <a16:creationId xmlns:a16="http://schemas.microsoft.com/office/drawing/2014/main" id="{F0955FBE-240F-A1EA-1AAF-632C7DDFC387}"/>
              </a:ext>
            </a:extLst>
          </p:cNvPr>
          <p:cNvSpPr>
            <a:spLocks noChangeArrowheads="1"/>
          </p:cNvSpPr>
          <p:nvPr/>
        </p:nvSpPr>
        <p:spPr bwMode="auto">
          <a:xfrm>
            <a:off x="1655763" y="4198938"/>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sp>
        <p:nvSpPr>
          <p:cNvPr id="13321" name="Rectangle 18">
            <a:extLst>
              <a:ext uri="{FF2B5EF4-FFF2-40B4-BE49-F238E27FC236}">
                <a16:creationId xmlns:a16="http://schemas.microsoft.com/office/drawing/2014/main" id="{09FB350F-F157-6D07-6E3A-4C3581FCDFB6}"/>
              </a:ext>
            </a:extLst>
          </p:cNvPr>
          <p:cNvSpPr>
            <a:spLocks noChangeArrowheads="1"/>
          </p:cNvSpPr>
          <p:nvPr/>
        </p:nvSpPr>
        <p:spPr bwMode="auto">
          <a:xfrm>
            <a:off x="1922463" y="4194175"/>
            <a:ext cx="157162" cy="334963"/>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22" name="Rectangle 19">
            <a:extLst>
              <a:ext uri="{FF2B5EF4-FFF2-40B4-BE49-F238E27FC236}">
                <a16:creationId xmlns:a16="http://schemas.microsoft.com/office/drawing/2014/main" id="{6ADACF83-2BBB-B27F-54B5-C7B88D9752B0}"/>
              </a:ext>
            </a:extLst>
          </p:cNvPr>
          <p:cNvSpPr>
            <a:spLocks noChangeArrowheads="1"/>
          </p:cNvSpPr>
          <p:nvPr/>
        </p:nvSpPr>
        <p:spPr bwMode="auto">
          <a:xfrm>
            <a:off x="2260600" y="4527550"/>
            <a:ext cx="80963"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23" name="Rectangle 20">
            <a:extLst>
              <a:ext uri="{FF2B5EF4-FFF2-40B4-BE49-F238E27FC236}">
                <a16:creationId xmlns:a16="http://schemas.microsoft.com/office/drawing/2014/main" id="{308617AB-1D7C-D9E1-D2C1-175A7691BB93}"/>
              </a:ext>
            </a:extLst>
          </p:cNvPr>
          <p:cNvSpPr>
            <a:spLocks noChangeArrowheads="1"/>
          </p:cNvSpPr>
          <p:nvPr/>
        </p:nvSpPr>
        <p:spPr bwMode="auto">
          <a:xfrm>
            <a:off x="2084388" y="4194175"/>
            <a:ext cx="171450" cy="334963"/>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24" name="Straight Connector 21">
            <a:extLst>
              <a:ext uri="{FF2B5EF4-FFF2-40B4-BE49-F238E27FC236}">
                <a16:creationId xmlns:a16="http://schemas.microsoft.com/office/drawing/2014/main" id="{18105E1A-E6C5-6E49-6CDD-2F29AD5DA14D}"/>
              </a:ext>
            </a:extLst>
          </p:cNvPr>
          <p:cNvCxnSpPr>
            <a:cxnSpLocks noChangeShapeType="1"/>
          </p:cNvCxnSpPr>
          <p:nvPr/>
        </p:nvCxnSpPr>
        <p:spPr bwMode="auto">
          <a:xfrm>
            <a:off x="1898650" y="4572000"/>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25" name="Rectangle 23">
            <a:extLst>
              <a:ext uri="{FF2B5EF4-FFF2-40B4-BE49-F238E27FC236}">
                <a16:creationId xmlns:a16="http://schemas.microsoft.com/office/drawing/2014/main" id="{DAA3D096-6312-7DB2-CB04-3CAD06265D38}"/>
              </a:ext>
            </a:extLst>
          </p:cNvPr>
          <p:cNvSpPr>
            <a:spLocks noChangeArrowheads="1"/>
          </p:cNvSpPr>
          <p:nvPr/>
        </p:nvSpPr>
        <p:spPr bwMode="auto">
          <a:xfrm>
            <a:off x="1484313" y="4618038"/>
            <a:ext cx="157162"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26" name="Rectangle 24">
            <a:extLst>
              <a:ext uri="{FF2B5EF4-FFF2-40B4-BE49-F238E27FC236}">
                <a16:creationId xmlns:a16="http://schemas.microsoft.com/office/drawing/2014/main" id="{1A8D100D-A964-5DD0-A534-1A7AB1364A22}"/>
              </a:ext>
            </a:extLst>
          </p:cNvPr>
          <p:cNvSpPr>
            <a:spLocks noChangeArrowheads="1"/>
          </p:cNvSpPr>
          <p:nvPr/>
        </p:nvSpPr>
        <p:spPr bwMode="auto">
          <a:xfrm>
            <a:off x="1822450" y="4951413"/>
            <a:ext cx="80963"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27" name="Rectangle 25">
            <a:extLst>
              <a:ext uri="{FF2B5EF4-FFF2-40B4-BE49-F238E27FC236}">
                <a16:creationId xmlns:a16="http://schemas.microsoft.com/office/drawing/2014/main" id="{AB86AA57-F3E8-8096-2615-59DB26F6D306}"/>
              </a:ext>
            </a:extLst>
          </p:cNvPr>
          <p:cNvSpPr>
            <a:spLocks noChangeArrowheads="1"/>
          </p:cNvSpPr>
          <p:nvPr/>
        </p:nvSpPr>
        <p:spPr bwMode="auto">
          <a:xfrm>
            <a:off x="1646238" y="4618038"/>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28" name="Straight Connector 27">
            <a:extLst>
              <a:ext uri="{FF2B5EF4-FFF2-40B4-BE49-F238E27FC236}">
                <a16:creationId xmlns:a16="http://schemas.microsoft.com/office/drawing/2014/main" id="{9AB0951F-E0FD-B55A-20E5-E1E930C47D4B}"/>
              </a:ext>
            </a:extLst>
          </p:cNvPr>
          <p:cNvCxnSpPr>
            <a:cxnSpLocks noChangeShapeType="1"/>
          </p:cNvCxnSpPr>
          <p:nvPr/>
        </p:nvCxnSpPr>
        <p:spPr bwMode="auto">
          <a:xfrm rot="5400000">
            <a:off x="1684337" y="4791076"/>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29" name="Rectangle 28">
            <a:extLst>
              <a:ext uri="{FF2B5EF4-FFF2-40B4-BE49-F238E27FC236}">
                <a16:creationId xmlns:a16="http://schemas.microsoft.com/office/drawing/2014/main" id="{181BD698-6D0E-E4A5-CBC2-1306657CDCD4}"/>
              </a:ext>
            </a:extLst>
          </p:cNvPr>
          <p:cNvSpPr>
            <a:spLocks noChangeArrowheads="1"/>
          </p:cNvSpPr>
          <p:nvPr/>
        </p:nvSpPr>
        <p:spPr bwMode="auto">
          <a:xfrm>
            <a:off x="1922463" y="4618038"/>
            <a:ext cx="157162"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30" name="Rectangle 29">
            <a:extLst>
              <a:ext uri="{FF2B5EF4-FFF2-40B4-BE49-F238E27FC236}">
                <a16:creationId xmlns:a16="http://schemas.microsoft.com/office/drawing/2014/main" id="{066B1012-C816-2792-2207-B077B3133A1D}"/>
              </a:ext>
            </a:extLst>
          </p:cNvPr>
          <p:cNvSpPr>
            <a:spLocks noChangeArrowheads="1"/>
          </p:cNvSpPr>
          <p:nvPr/>
        </p:nvSpPr>
        <p:spPr bwMode="auto">
          <a:xfrm>
            <a:off x="2260600" y="4951413"/>
            <a:ext cx="80963"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31" name="Rectangle 30">
            <a:extLst>
              <a:ext uri="{FF2B5EF4-FFF2-40B4-BE49-F238E27FC236}">
                <a16:creationId xmlns:a16="http://schemas.microsoft.com/office/drawing/2014/main" id="{0C262D6C-172C-2935-F791-B4041038A42B}"/>
              </a:ext>
            </a:extLst>
          </p:cNvPr>
          <p:cNvSpPr>
            <a:spLocks noChangeArrowheads="1"/>
          </p:cNvSpPr>
          <p:nvPr/>
        </p:nvSpPr>
        <p:spPr bwMode="auto">
          <a:xfrm>
            <a:off x="2084388" y="4618038"/>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32" name="Straight Connector 31">
            <a:extLst>
              <a:ext uri="{FF2B5EF4-FFF2-40B4-BE49-F238E27FC236}">
                <a16:creationId xmlns:a16="http://schemas.microsoft.com/office/drawing/2014/main" id="{57FF4DE4-428D-B554-71A1-4E6CCE6AB450}"/>
              </a:ext>
            </a:extLst>
          </p:cNvPr>
          <p:cNvCxnSpPr>
            <a:cxnSpLocks noChangeShapeType="1"/>
          </p:cNvCxnSpPr>
          <p:nvPr/>
        </p:nvCxnSpPr>
        <p:spPr bwMode="auto">
          <a:xfrm>
            <a:off x="1898650" y="4995863"/>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33" name="Straight Connector 32">
            <a:extLst>
              <a:ext uri="{FF2B5EF4-FFF2-40B4-BE49-F238E27FC236}">
                <a16:creationId xmlns:a16="http://schemas.microsoft.com/office/drawing/2014/main" id="{DCCCFE1B-5F6F-F21F-D919-C1809559637F}"/>
              </a:ext>
            </a:extLst>
          </p:cNvPr>
          <p:cNvCxnSpPr>
            <a:cxnSpLocks noChangeShapeType="1"/>
          </p:cNvCxnSpPr>
          <p:nvPr/>
        </p:nvCxnSpPr>
        <p:spPr bwMode="auto">
          <a:xfrm rot="5400000">
            <a:off x="2122487" y="4791076"/>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34" name="Rectangle 33">
            <a:extLst>
              <a:ext uri="{FF2B5EF4-FFF2-40B4-BE49-F238E27FC236}">
                <a16:creationId xmlns:a16="http://schemas.microsoft.com/office/drawing/2014/main" id="{3F371F62-A7DF-99DA-8C34-3E7665834957}"/>
              </a:ext>
            </a:extLst>
          </p:cNvPr>
          <p:cNvSpPr>
            <a:spLocks noChangeArrowheads="1"/>
          </p:cNvSpPr>
          <p:nvPr/>
        </p:nvSpPr>
        <p:spPr bwMode="auto">
          <a:xfrm>
            <a:off x="2355850" y="4189413"/>
            <a:ext cx="157163"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35" name="Rectangle 34">
            <a:extLst>
              <a:ext uri="{FF2B5EF4-FFF2-40B4-BE49-F238E27FC236}">
                <a16:creationId xmlns:a16="http://schemas.microsoft.com/office/drawing/2014/main" id="{8A71D799-6012-309E-187B-C1B9139011A8}"/>
              </a:ext>
            </a:extLst>
          </p:cNvPr>
          <p:cNvSpPr>
            <a:spLocks noChangeArrowheads="1"/>
          </p:cNvSpPr>
          <p:nvPr/>
        </p:nvSpPr>
        <p:spPr bwMode="auto">
          <a:xfrm>
            <a:off x="2693988" y="4522788"/>
            <a:ext cx="80962"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36" name="Rectangle 35">
            <a:extLst>
              <a:ext uri="{FF2B5EF4-FFF2-40B4-BE49-F238E27FC236}">
                <a16:creationId xmlns:a16="http://schemas.microsoft.com/office/drawing/2014/main" id="{5DF3924B-CD76-01C7-78AD-55B5C0971112}"/>
              </a:ext>
            </a:extLst>
          </p:cNvPr>
          <p:cNvSpPr>
            <a:spLocks noChangeArrowheads="1"/>
          </p:cNvSpPr>
          <p:nvPr/>
        </p:nvSpPr>
        <p:spPr bwMode="auto">
          <a:xfrm>
            <a:off x="2517775" y="4189413"/>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37" name="Straight Connector 36">
            <a:extLst>
              <a:ext uri="{FF2B5EF4-FFF2-40B4-BE49-F238E27FC236}">
                <a16:creationId xmlns:a16="http://schemas.microsoft.com/office/drawing/2014/main" id="{4257BBA2-CFA8-03E3-9598-3542DDB715E0}"/>
              </a:ext>
            </a:extLst>
          </p:cNvPr>
          <p:cNvCxnSpPr>
            <a:cxnSpLocks noChangeShapeType="1"/>
          </p:cNvCxnSpPr>
          <p:nvPr/>
        </p:nvCxnSpPr>
        <p:spPr bwMode="auto">
          <a:xfrm>
            <a:off x="2332038" y="4567238"/>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38" name="Rectangle 38">
            <a:extLst>
              <a:ext uri="{FF2B5EF4-FFF2-40B4-BE49-F238E27FC236}">
                <a16:creationId xmlns:a16="http://schemas.microsoft.com/office/drawing/2014/main" id="{FA91658A-9366-5CEC-E154-1CB0EDDD7D63}"/>
              </a:ext>
            </a:extLst>
          </p:cNvPr>
          <p:cNvSpPr>
            <a:spLocks noChangeArrowheads="1"/>
          </p:cNvSpPr>
          <p:nvPr/>
        </p:nvSpPr>
        <p:spPr bwMode="auto">
          <a:xfrm>
            <a:off x="2784475" y="4184650"/>
            <a:ext cx="157163" cy="334963"/>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39" name="Rectangle 39">
            <a:extLst>
              <a:ext uri="{FF2B5EF4-FFF2-40B4-BE49-F238E27FC236}">
                <a16:creationId xmlns:a16="http://schemas.microsoft.com/office/drawing/2014/main" id="{9B8B02E1-7A57-326D-EA4B-4A840BCCA349}"/>
              </a:ext>
            </a:extLst>
          </p:cNvPr>
          <p:cNvSpPr>
            <a:spLocks noChangeArrowheads="1"/>
          </p:cNvSpPr>
          <p:nvPr/>
        </p:nvSpPr>
        <p:spPr bwMode="auto">
          <a:xfrm>
            <a:off x="3122613" y="4518025"/>
            <a:ext cx="80962"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40" name="Rectangle 40">
            <a:extLst>
              <a:ext uri="{FF2B5EF4-FFF2-40B4-BE49-F238E27FC236}">
                <a16:creationId xmlns:a16="http://schemas.microsoft.com/office/drawing/2014/main" id="{C97B34D3-36D7-3976-D6EF-45A6BEB9BED2}"/>
              </a:ext>
            </a:extLst>
          </p:cNvPr>
          <p:cNvSpPr>
            <a:spLocks noChangeArrowheads="1"/>
          </p:cNvSpPr>
          <p:nvPr/>
        </p:nvSpPr>
        <p:spPr bwMode="auto">
          <a:xfrm>
            <a:off x="2946400" y="4184650"/>
            <a:ext cx="171450" cy="334963"/>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41" name="Straight Connector 41">
            <a:extLst>
              <a:ext uri="{FF2B5EF4-FFF2-40B4-BE49-F238E27FC236}">
                <a16:creationId xmlns:a16="http://schemas.microsoft.com/office/drawing/2014/main" id="{FAAC14B9-F9CF-84F3-E0F5-628B485EC8AE}"/>
              </a:ext>
            </a:extLst>
          </p:cNvPr>
          <p:cNvCxnSpPr>
            <a:cxnSpLocks noChangeShapeType="1"/>
          </p:cNvCxnSpPr>
          <p:nvPr/>
        </p:nvCxnSpPr>
        <p:spPr bwMode="auto">
          <a:xfrm>
            <a:off x="2760663" y="4562475"/>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42" name="Rectangle 43">
            <a:extLst>
              <a:ext uri="{FF2B5EF4-FFF2-40B4-BE49-F238E27FC236}">
                <a16:creationId xmlns:a16="http://schemas.microsoft.com/office/drawing/2014/main" id="{FA5B2FD0-14A2-4A33-9C30-EB3AB9C298EA}"/>
              </a:ext>
            </a:extLst>
          </p:cNvPr>
          <p:cNvSpPr>
            <a:spLocks noChangeArrowheads="1"/>
          </p:cNvSpPr>
          <p:nvPr/>
        </p:nvSpPr>
        <p:spPr bwMode="auto">
          <a:xfrm>
            <a:off x="2346325" y="4608513"/>
            <a:ext cx="157163"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43" name="Rectangle 44">
            <a:extLst>
              <a:ext uri="{FF2B5EF4-FFF2-40B4-BE49-F238E27FC236}">
                <a16:creationId xmlns:a16="http://schemas.microsoft.com/office/drawing/2014/main" id="{7F26BCB3-9F24-5F2F-BE69-AC4CE7709CE0}"/>
              </a:ext>
            </a:extLst>
          </p:cNvPr>
          <p:cNvSpPr>
            <a:spLocks noChangeArrowheads="1"/>
          </p:cNvSpPr>
          <p:nvPr/>
        </p:nvSpPr>
        <p:spPr bwMode="auto">
          <a:xfrm>
            <a:off x="2684463" y="4941888"/>
            <a:ext cx="80962"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44" name="Rectangle 45">
            <a:extLst>
              <a:ext uri="{FF2B5EF4-FFF2-40B4-BE49-F238E27FC236}">
                <a16:creationId xmlns:a16="http://schemas.microsoft.com/office/drawing/2014/main" id="{4997D62C-86F4-BB4C-E9A7-EA0767E43EC9}"/>
              </a:ext>
            </a:extLst>
          </p:cNvPr>
          <p:cNvSpPr>
            <a:spLocks noChangeArrowheads="1"/>
          </p:cNvSpPr>
          <p:nvPr/>
        </p:nvSpPr>
        <p:spPr bwMode="auto">
          <a:xfrm>
            <a:off x="2508250" y="4608513"/>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45" name="Straight Connector 46">
            <a:extLst>
              <a:ext uri="{FF2B5EF4-FFF2-40B4-BE49-F238E27FC236}">
                <a16:creationId xmlns:a16="http://schemas.microsoft.com/office/drawing/2014/main" id="{40F13F19-F937-F073-C4C4-E3ABF5BA87CD}"/>
              </a:ext>
            </a:extLst>
          </p:cNvPr>
          <p:cNvCxnSpPr>
            <a:cxnSpLocks noChangeShapeType="1"/>
          </p:cNvCxnSpPr>
          <p:nvPr/>
        </p:nvCxnSpPr>
        <p:spPr bwMode="auto">
          <a:xfrm>
            <a:off x="2322513" y="4986338"/>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46" name="Straight Connector 47">
            <a:extLst>
              <a:ext uri="{FF2B5EF4-FFF2-40B4-BE49-F238E27FC236}">
                <a16:creationId xmlns:a16="http://schemas.microsoft.com/office/drawing/2014/main" id="{DFBCA37B-6BE7-BA02-7A08-239B6222330E}"/>
              </a:ext>
            </a:extLst>
          </p:cNvPr>
          <p:cNvCxnSpPr>
            <a:cxnSpLocks noChangeShapeType="1"/>
          </p:cNvCxnSpPr>
          <p:nvPr/>
        </p:nvCxnSpPr>
        <p:spPr bwMode="auto">
          <a:xfrm rot="5400000">
            <a:off x="2546350" y="4781551"/>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47" name="Rectangle 48">
            <a:extLst>
              <a:ext uri="{FF2B5EF4-FFF2-40B4-BE49-F238E27FC236}">
                <a16:creationId xmlns:a16="http://schemas.microsoft.com/office/drawing/2014/main" id="{F205EE32-4363-FBF3-738B-472E45463D50}"/>
              </a:ext>
            </a:extLst>
          </p:cNvPr>
          <p:cNvSpPr>
            <a:spLocks noChangeArrowheads="1"/>
          </p:cNvSpPr>
          <p:nvPr/>
        </p:nvSpPr>
        <p:spPr bwMode="auto">
          <a:xfrm>
            <a:off x="2784475" y="4608513"/>
            <a:ext cx="157163"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48" name="Rectangle 49">
            <a:extLst>
              <a:ext uri="{FF2B5EF4-FFF2-40B4-BE49-F238E27FC236}">
                <a16:creationId xmlns:a16="http://schemas.microsoft.com/office/drawing/2014/main" id="{D629A126-C75E-056F-5AAB-74044BCD3858}"/>
              </a:ext>
            </a:extLst>
          </p:cNvPr>
          <p:cNvSpPr>
            <a:spLocks noChangeArrowheads="1"/>
          </p:cNvSpPr>
          <p:nvPr/>
        </p:nvSpPr>
        <p:spPr bwMode="auto">
          <a:xfrm>
            <a:off x="3122613" y="4941888"/>
            <a:ext cx="80962"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49" name="Rectangle 50">
            <a:extLst>
              <a:ext uri="{FF2B5EF4-FFF2-40B4-BE49-F238E27FC236}">
                <a16:creationId xmlns:a16="http://schemas.microsoft.com/office/drawing/2014/main" id="{501A764B-128B-D3ED-4230-4ABC07B6BF91}"/>
              </a:ext>
            </a:extLst>
          </p:cNvPr>
          <p:cNvSpPr>
            <a:spLocks noChangeArrowheads="1"/>
          </p:cNvSpPr>
          <p:nvPr/>
        </p:nvSpPr>
        <p:spPr bwMode="auto">
          <a:xfrm>
            <a:off x="2946400" y="4608513"/>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50" name="Straight Connector 51">
            <a:extLst>
              <a:ext uri="{FF2B5EF4-FFF2-40B4-BE49-F238E27FC236}">
                <a16:creationId xmlns:a16="http://schemas.microsoft.com/office/drawing/2014/main" id="{0A001916-3B12-254A-3F89-462B94BD4537}"/>
              </a:ext>
            </a:extLst>
          </p:cNvPr>
          <p:cNvCxnSpPr>
            <a:cxnSpLocks noChangeShapeType="1"/>
          </p:cNvCxnSpPr>
          <p:nvPr/>
        </p:nvCxnSpPr>
        <p:spPr bwMode="auto">
          <a:xfrm>
            <a:off x="2760663" y="4986338"/>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51" name="Straight Connector 52">
            <a:extLst>
              <a:ext uri="{FF2B5EF4-FFF2-40B4-BE49-F238E27FC236}">
                <a16:creationId xmlns:a16="http://schemas.microsoft.com/office/drawing/2014/main" id="{1774A353-805B-A67B-9077-11F1E33EFB24}"/>
              </a:ext>
            </a:extLst>
          </p:cNvPr>
          <p:cNvCxnSpPr>
            <a:cxnSpLocks noChangeShapeType="1"/>
          </p:cNvCxnSpPr>
          <p:nvPr/>
        </p:nvCxnSpPr>
        <p:spPr bwMode="auto">
          <a:xfrm rot="5400000">
            <a:off x="2984500" y="4781551"/>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52" name="Rectangle 53">
            <a:extLst>
              <a:ext uri="{FF2B5EF4-FFF2-40B4-BE49-F238E27FC236}">
                <a16:creationId xmlns:a16="http://schemas.microsoft.com/office/drawing/2014/main" id="{0C2EB6BA-CBB3-33F9-32F3-749C94670F61}"/>
              </a:ext>
            </a:extLst>
          </p:cNvPr>
          <p:cNvSpPr>
            <a:spLocks noChangeArrowheads="1"/>
          </p:cNvSpPr>
          <p:nvPr/>
        </p:nvSpPr>
        <p:spPr bwMode="auto">
          <a:xfrm>
            <a:off x="1484313" y="5037138"/>
            <a:ext cx="157162"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53" name="Rectangle 54">
            <a:extLst>
              <a:ext uri="{FF2B5EF4-FFF2-40B4-BE49-F238E27FC236}">
                <a16:creationId xmlns:a16="http://schemas.microsoft.com/office/drawing/2014/main" id="{2D17B9FF-BAB1-2D72-12A0-7A058C543668}"/>
              </a:ext>
            </a:extLst>
          </p:cNvPr>
          <p:cNvSpPr>
            <a:spLocks noChangeArrowheads="1"/>
          </p:cNvSpPr>
          <p:nvPr/>
        </p:nvSpPr>
        <p:spPr bwMode="auto">
          <a:xfrm>
            <a:off x="1822450" y="5370513"/>
            <a:ext cx="80963"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54" name="Rectangle 55">
            <a:extLst>
              <a:ext uri="{FF2B5EF4-FFF2-40B4-BE49-F238E27FC236}">
                <a16:creationId xmlns:a16="http://schemas.microsoft.com/office/drawing/2014/main" id="{0A8C4409-ED03-9565-3791-48813C79F919}"/>
              </a:ext>
            </a:extLst>
          </p:cNvPr>
          <p:cNvSpPr>
            <a:spLocks noChangeArrowheads="1"/>
          </p:cNvSpPr>
          <p:nvPr/>
        </p:nvSpPr>
        <p:spPr bwMode="auto">
          <a:xfrm>
            <a:off x="1646238" y="5037138"/>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55" name="Straight Connector 57">
            <a:extLst>
              <a:ext uri="{FF2B5EF4-FFF2-40B4-BE49-F238E27FC236}">
                <a16:creationId xmlns:a16="http://schemas.microsoft.com/office/drawing/2014/main" id="{BC14DF1A-9C6A-FE8F-9407-9A1D685E0160}"/>
              </a:ext>
            </a:extLst>
          </p:cNvPr>
          <p:cNvCxnSpPr>
            <a:cxnSpLocks noChangeShapeType="1"/>
          </p:cNvCxnSpPr>
          <p:nvPr/>
        </p:nvCxnSpPr>
        <p:spPr bwMode="auto">
          <a:xfrm rot="5400000">
            <a:off x="1684337" y="5210176"/>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56" name="Rectangle 58">
            <a:extLst>
              <a:ext uri="{FF2B5EF4-FFF2-40B4-BE49-F238E27FC236}">
                <a16:creationId xmlns:a16="http://schemas.microsoft.com/office/drawing/2014/main" id="{42437E3C-F8F8-628D-ED42-01A4B3DC1C02}"/>
              </a:ext>
            </a:extLst>
          </p:cNvPr>
          <p:cNvSpPr>
            <a:spLocks noChangeArrowheads="1"/>
          </p:cNvSpPr>
          <p:nvPr/>
        </p:nvSpPr>
        <p:spPr bwMode="auto">
          <a:xfrm>
            <a:off x="1912938" y="5032375"/>
            <a:ext cx="157162" cy="334963"/>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57" name="Rectangle 59">
            <a:extLst>
              <a:ext uri="{FF2B5EF4-FFF2-40B4-BE49-F238E27FC236}">
                <a16:creationId xmlns:a16="http://schemas.microsoft.com/office/drawing/2014/main" id="{38D53B21-F3DF-2A94-A30C-A053E897B885}"/>
              </a:ext>
            </a:extLst>
          </p:cNvPr>
          <p:cNvSpPr>
            <a:spLocks noChangeArrowheads="1"/>
          </p:cNvSpPr>
          <p:nvPr/>
        </p:nvSpPr>
        <p:spPr bwMode="auto">
          <a:xfrm>
            <a:off x="2251075" y="5365750"/>
            <a:ext cx="80963"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58" name="Rectangle 60">
            <a:extLst>
              <a:ext uri="{FF2B5EF4-FFF2-40B4-BE49-F238E27FC236}">
                <a16:creationId xmlns:a16="http://schemas.microsoft.com/office/drawing/2014/main" id="{AF05B8D3-F2B7-970B-8ED2-BA34D0D03297}"/>
              </a:ext>
            </a:extLst>
          </p:cNvPr>
          <p:cNvSpPr>
            <a:spLocks noChangeArrowheads="1"/>
          </p:cNvSpPr>
          <p:nvPr/>
        </p:nvSpPr>
        <p:spPr bwMode="auto">
          <a:xfrm>
            <a:off x="2074863" y="5032375"/>
            <a:ext cx="171450" cy="334963"/>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59" name="Straight Connector 61">
            <a:extLst>
              <a:ext uri="{FF2B5EF4-FFF2-40B4-BE49-F238E27FC236}">
                <a16:creationId xmlns:a16="http://schemas.microsoft.com/office/drawing/2014/main" id="{A9208A54-8021-69A9-2229-5662C7F80EAB}"/>
              </a:ext>
            </a:extLst>
          </p:cNvPr>
          <p:cNvCxnSpPr>
            <a:cxnSpLocks noChangeShapeType="1"/>
          </p:cNvCxnSpPr>
          <p:nvPr/>
        </p:nvCxnSpPr>
        <p:spPr bwMode="auto">
          <a:xfrm>
            <a:off x="1889125" y="5410200"/>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60" name="Straight Connector 62">
            <a:extLst>
              <a:ext uri="{FF2B5EF4-FFF2-40B4-BE49-F238E27FC236}">
                <a16:creationId xmlns:a16="http://schemas.microsoft.com/office/drawing/2014/main" id="{06808489-4CB2-40FD-5088-C7B2CB076D32}"/>
              </a:ext>
            </a:extLst>
          </p:cNvPr>
          <p:cNvCxnSpPr>
            <a:cxnSpLocks noChangeShapeType="1"/>
          </p:cNvCxnSpPr>
          <p:nvPr/>
        </p:nvCxnSpPr>
        <p:spPr bwMode="auto">
          <a:xfrm rot="5400000">
            <a:off x="2112962" y="5205413"/>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61" name="Rectangle 63">
            <a:extLst>
              <a:ext uri="{FF2B5EF4-FFF2-40B4-BE49-F238E27FC236}">
                <a16:creationId xmlns:a16="http://schemas.microsoft.com/office/drawing/2014/main" id="{AB4CFB77-AC8E-B548-CEE8-20D32B8424BF}"/>
              </a:ext>
            </a:extLst>
          </p:cNvPr>
          <p:cNvSpPr>
            <a:spLocks noChangeArrowheads="1"/>
          </p:cNvSpPr>
          <p:nvPr/>
        </p:nvSpPr>
        <p:spPr bwMode="auto">
          <a:xfrm>
            <a:off x="1474788" y="5456238"/>
            <a:ext cx="157162"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62" name="Rectangle 64">
            <a:extLst>
              <a:ext uri="{FF2B5EF4-FFF2-40B4-BE49-F238E27FC236}">
                <a16:creationId xmlns:a16="http://schemas.microsoft.com/office/drawing/2014/main" id="{C1F283A0-8DAF-28B3-5A69-E32BF31774A4}"/>
              </a:ext>
            </a:extLst>
          </p:cNvPr>
          <p:cNvSpPr>
            <a:spLocks noChangeArrowheads="1"/>
          </p:cNvSpPr>
          <p:nvPr/>
        </p:nvSpPr>
        <p:spPr bwMode="auto">
          <a:xfrm>
            <a:off x="1812925" y="5789613"/>
            <a:ext cx="80963"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63" name="Rectangle 65">
            <a:extLst>
              <a:ext uri="{FF2B5EF4-FFF2-40B4-BE49-F238E27FC236}">
                <a16:creationId xmlns:a16="http://schemas.microsoft.com/office/drawing/2014/main" id="{CC14B22A-88EE-7CC9-FC2C-5632CD2E44F6}"/>
              </a:ext>
            </a:extLst>
          </p:cNvPr>
          <p:cNvSpPr>
            <a:spLocks noChangeArrowheads="1"/>
          </p:cNvSpPr>
          <p:nvPr/>
        </p:nvSpPr>
        <p:spPr bwMode="auto">
          <a:xfrm>
            <a:off x="1636713" y="5456238"/>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64" name="Straight Connector 67">
            <a:extLst>
              <a:ext uri="{FF2B5EF4-FFF2-40B4-BE49-F238E27FC236}">
                <a16:creationId xmlns:a16="http://schemas.microsoft.com/office/drawing/2014/main" id="{165B634F-4D20-A9FD-7155-6CC0094F6676}"/>
              </a:ext>
            </a:extLst>
          </p:cNvPr>
          <p:cNvCxnSpPr>
            <a:cxnSpLocks noChangeShapeType="1"/>
          </p:cNvCxnSpPr>
          <p:nvPr/>
        </p:nvCxnSpPr>
        <p:spPr bwMode="auto">
          <a:xfrm rot="5400000">
            <a:off x="1674812" y="5629276"/>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65" name="Rectangle 68">
            <a:extLst>
              <a:ext uri="{FF2B5EF4-FFF2-40B4-BE49-F238E27FC236}">
                <a16:creationId xmlns:a16="http://schemas.microsoft.com/office/drawing/2014/main" id="{47439A42-FF0A-F056-B91F-0890C73DE101}"/>
              </a:ext>
            </a:extLst>
          </p:cNvPr>
          <p:cNvSpPr>
            <a:spLocks noChangeArrowheads="1"/>
          </p:cNvSpPr>
          <p:nvPr/>
        </p:nvSpPr>
        <p:spPr bwMode="auto">
          <a:xfrm>
            <a:off x="1912938" y="5456238"/>
            <a:ext cx="157162"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66" name="Rectangle 69">
            <a:extLst>
              <a:ext uri="{FF2B5EF4-FFF2-40B4-BE49-F238E27FC236}">
                <a16:creationId xmlns:a16="http://schemas.microsoft.com/office/drawing/2014/main" id="{9D5D0738-D60E-460F-ABBE-918558E4F053}"/>
              </a:ext>
            </a:extLst>
          </p:cNvPr>
          <p:cNvSpPr>
            <a:spLocks noChangeArrowheads="1"/>
          </p:cNvSpPr>
          <p:nvPr/>
        </p:nvSpPr>
        <p:spPr bwMode="auto">
          <a:xfrm>
            <a:off x="2251075" y="5789613"/>
            <a:ext cx="80963"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67" name="Rectangle 70">
            <a:extLst>
              <a:ext uri="{FF2B5EF4-FFF2-40B4-BE49-F238E27FC236}">
                <a16:creationId xmlns:a16="http://schemas.microsoft.com/office/drawing/2014/main" id="{DBF1C401-679F-8BC2-4DC1-38EFBE53275B}"/>
              </a:ext>
            </a:extLst>
          </p:cNvPr>
          <p:cNvSpPr>
            <a:spLocks noChangeArrowheads="1"/>
          </p:cNvSpPr>
          <p:nvPr/>
        </p:nvSpPr>
        <p:spPr bwMode="auto">
          <a:xfrm>
            <a:off x="2074863" y="5456238"/>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68" name="Straight Connector 71">
            <a:extLst>
              <a:ext uri="{FF2B5EF4-FFF2-40B4-BE49-F238E27FC236}">
                <a16:creationId xmlns:a16="http://schemas.microsoft.com/office/drawing/2014/main" id="{7B921547-F8D2-D738-CD90-C52A33D25D92}"/>
              </a:ext>
            </a:extLst>
          </p:cNvPr>
          <p:cNvCxnSpPr>
            <a:cxnSpLocks noChangeShapeType="1"/>
          </p:cNvCxnSpPr>
          <p:nvPr/>
        </p:nvCxnSpPr>
        <p:spPr bwMode="auto">
          <a:xfrm>
            <a:off x="1889125" y="5834063"/>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69" name="Straight Connector 72">
            <a:extLst>
              <a:ext uri="{FF2B5EF4-FFF2-40B4-BE49-F238E27FC236}">
                <a16:creationId xmlns:a16="http://schemas.microsoft.com/office/drawing/2014/main" id="{EEEF7D56-E03C-530E-48AD-070694029807}"/>
              </a:ext>
            </a:extLst>
          </p:cNvPr>
          <p:cNvCxnSpPr>
            <a:cxnSpLocks noChangeShapeType="1"/>
          </p:cNvCxnSpPr>
          <p:nvPr/>
        </p:nvCxnSpPr>
        <p:spPr bwMode="auto">
          <a:xfrm rot="5400000">
            <a:off x="2112962" y="5629276"/>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70" name="Rectangle 73">
            <a:extLst>
              <a:ext uri="{FF2B5EF4-FFF2-40B4-BE49-F238E27FC236}">
                <a16:creationId xmlns:a16="http://schemas.microsoft.com/office/drawing/2014/main" id="{EA706128-231B-6028-022B-A08C95F1AA2E}"/>
              </a:ext>
            </a:extLst>
          </p:cNvPr>
          <p:cNvSpPr>
            <a:spLocks noChangeArrowheads="1"/>
          </p:cNvSpPr>
          <p:nvPr/>
        </p:nvSpPr>
        <p:spPr bwMode="auto">
          <a:xfrm>
            <a:off x="2346325" y="5027613"/>
            <a:ext cx="157163"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71" name="Rectangle 74">
            <a:extLst>
              <a:ext uri="{FF2B5EF4-FFF2-40B4-BE49-F238E27FC236}">
                <a16:creationId xmlns:a16="http://schemas.microsoft.com/office/drawing/2014/main" id="{40C91177-5555-441A-601A-BD9E4ADF1D9C}"/>
              </a:ext>
            </a:extLst>
          </p:cNvPr>
          <p:cNvSpPr>
            <a:spLocks noChangeArrowheads="1"/>
          </p:cNvSpPr>
          <p:nvPr/>
        </p:nvSpPr>
        <p:spPr bwMode="auto">
          <a:xfrm>
            <a:off x="2684463" y="5360988"/>
            <a:ext cx="80962"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72" name="Rectangle 75">
            <a:extLst>
              <a:ext uri="{FF2B5EF4-FFF2-40B4-BE49-F238E27FC236}">
                <a16:creationId xmlns:a16="http://schemas.microsoft.com/office/drawing/2014/main" id="{5211757E-20BA-21B9-F7A6-2C896C39ECDF}"/>
              </a:ext>
            </a:extLst>
          </p:cNvPr>
          <p:cNvSpPr>
            <a:spLocks noChangeArrowheads="1"/>
          </p:cNvSpPr>
          <p:nvPr/>
        </p:nvSpPr>
        <p:spPr bwMode="auto">
          <a:xfrm>
            <a:off x="2508250" y="5027613"/>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73" name="Straight Connector 76">
            <a:extLst>
              <a:ext uri="{FF2B5EF4-FFF2-40B4-BE49-F238E27FC236}">
                <a16:creationId xmlns:a16="http://schemas.microsoft.com/office/drawing/2014/main" id="{E41F5CE4-EDFA-D340-F866-BD5598EE7C79}"/>
              </a:ext>
            </a:extLst>
          </p:cNvPr>
          <p:cNvCxnSpPr>
            <a:cxnSpLocks noChangeShapeType="1"/>
          </p:cNvCxnSpPr>
          <p:nvPr/>
        </p:nvCxnSpPr>
        <p:spPr bwMode="auto">
          <a:xfrm>
            <a:off x="2322513" y="5405438"/>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74" name="Straight Connector 77">
            <a:extLst>
              <a:ext uri="{FF2B5EF4-FFF2-40B4-BE49-F238E27FC236}">
                <a16:creationId xmlns:a16="http://schemas.microsoft.com/office/drawing/2014/main" id="{C9BE9167-2D58-3D1E-BD13-CA28B3153914}"/>
              </a:ext>
            </a:extLst>
          </p:cNvPr>
          <p:cNvCxnSpPr>
            <a:cxnSpLocks noChangeShapeType="1"/>
          </p:cNvCxnSpPr>
          <p:nvPr/>
        </p:nvCxnSpPr>
        <p:spPr bwMode="auto">
          <a:xfrm rot="5400000">
            <a:off x="2546350" y="5200651"/>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75" name="Rectangle 78">
            <a:extLst>
              <a:ext uri="{FF2B5EF4-FFF2-40B4-BE49-F238E27FC236}">
                <a16:creationId xmlns:a16="http://schemas.microsoft.com/office/drawing/2014/main" id="{F94CB691-7B94-CD0B-131B-29D11881A2D6}"/>
              </a:ext>
            </a:extLst>
          </p:cNvPr>
          <p:cNvSpPr>
            <a:spLocks noChangeArrowheads="1"/>
          </p:cNvSpPr>
          <p:nvPr/>
        </p:nvSpPr>
        <p:spPr bwMode="auto">
          <a:xfrm>
            <a:off x="2774950" y="5022850"/>
            <a:ext cx="157163" cy="334963"/>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76" name="Rectangle 79">
            <a:extLst>
              <a:ext uri="{FF2B5EF4-FFF2-40B4-BE49-F238E27FC236}">
                <a16:creationId xmlns:a16="http://schemas.microsoft.com/office/drawing/2014/main" id="{03821020-D444-ABDC-9CC6-2B126F5B3BE2}"/>
              </a:ext>
            </a:extLst>
          </p:cNvPr>
          <p:cNvSpPr>
            <a:spLocks noChangeArrowheads="1"/>
          </p:cNvSpPr>
          <p:nvPr/>
        </p:nvSpPr>
        <p:spPr bwMode="auto">
          <a:xfrm>
            <a:off x="3113088" y="5356225"/>
            <a:ext cx="80962"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77" name="Rectangle 80">
            <a:extLst>
              <a:ext uri="{FF2B5EF4-FFF2-40B4-BE49-F238E27FC236}">
                <a16:creationId xmlns:a16="http://schemas.microsoft.com/office/drawing/2014/main" id="{7E2288F8-5F52-BFCE-7150-D270D5373BCA}"/>
              </a:ext>
            </a:extLst>
          </p:cNvPr>
          <p:cNvSpPr>
            <a:spLocks noChangeArrowheads="1"/>
          </p:cNvSpPr>
          <p:nvPr/>
        </p:nvSpPr>
        <p:spPr bwMode="auto">
          <a:xfrm>
            <a:off x="2936875" y="5022850"/>
            <a:ext cx="171450" cy="334963"/>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78" name="Straight Connector 81">
            <a:extLst>
              <a:ext uri="{FF2B5EF4-FFF2-40B4-BE49-F238E27FC236}">
                <a16:creationId xmlns:a16="http://schemas.microsoft.com/office/drawing/2014/main" id="{EF42362C-1A22-D31F-7C53-35DA5EDE8F9F}"/>
              </a:ext>
            </a:extLst>
          </p:cNvPr>
          <p:cNvCxnSpPr>
            <a:cxnSpLocks noChangeShapeType="1"/>
          </p:cNvCxnSpPr>
          <p:nvPr/>
        </p:nvCxnSpPr>
        <p:spPr bwMode="auto">
          <a:xfrm>
            <a:off x="2751138" y="5400675"/>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79" name="Straight Connector 82">
            <a:extLst>
              <a:ext uri="{FF2B5EF4-FFF2-40B4-BE49-F238E27FC236}">
                <a16:creationId xmlns:a16="http://schemas.microsoft.com/office/drawing/2014/main" id="{4B3A9793-D776-746D-E033-164EBF1EF2C4}"/>
              </a:ext>
            </a:extLst>
          </p:cNvPr>
          <p:cNvCxnSpPr>
            <a:cxnSpLocks noChangeShapeType="1"/>
          </p:cNvCxnSpPr>
          <p:nvPr/>
        </p:nvCxnSpPr>
        <p:spPr bwMode="auto">
          <a:xfrm rot="5400000">
            <a:off x="2974975" y="5195888"/>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80" name="Rectangle 83">
            <a:extLst>
              <a:ext uri="{FF2B5EF4-FFF2-40B4-BE49-F238E27FC236}">
                <a16:creationId xmlns:a16="http://schemas.microsoft.com/office/drawing/2014/main" id="{D364034C-6F0E-9304-4152-E832D9382136}"/>
              </a:ext>
            </a:extLst>
          </p:cNvPr>
          <p:cNvSpPr>
            <a:spLocks noChangeArrowheads="1"/>
          </p:cNvSpPr>
          <p:nvPr/>
        </p:nvSpPr>
        <p:spPr bwMode="auto">
          <a:xfrm>
            <a:off x="2336800" y="5446713"/>
            <a:ext cx="157163"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81" name="Rectangle 84">
            <a:extLst>
              <a:ext uri="{FF2B5EF4-FFF2-40B4-BE49-F238E27FC236}">
                <a16:creationId xmlns:a16="http://schemas.microsoft.com/office/drawing/2014/main" id="{16AA3546-9B53-B718-1619-534326486BF0}"/>
              </a:ext>
            </a:extLst>
          </p:cNvPr>
          <p:cNvSpPr>
            <a:spLocks noChangeArrowheads="1"/>
          </p:cNvSpPr>
          <p:nvPr/>
        </p:nvSpPr>
        <p:spPr bwMode="auto">
          <a:xfrm>
            <a:off x="2674938" y="5780088"/>
            <a:ext cx="80962"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82" name="Rectangle 85">
            <a:extLst>
              <a:ext uri="{FF2B5EF4-FFF2-40B4-BE49-F238E27FC236}">
                <a16:creationId xmlns:a16="http://schemas.microsoft.com/office/drawing/2014/main" id="{23098A9A-0E91-016E-DFFA-C21D489D6F6D}"/>
              </a:ext>
            </a:extLst>
          </p:cNvPr>
          <p:cNvSpPr>
            <a:spLocks noChangeArrowheads="1"/>
          </p:cNvSpPr>
          <p:nvPr/>
        </p:nvSpPr>
        <p:spPr bwMode="auto">
          <a:xfrm>
            <a:off x="2498725" y="5446713"/>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83" name="Straight Connector 86">
            <a:extLst>
              <a:ext uri="{FF2B5EF4-FFF2-40B4-BE49-F238E27FC236}">
                <a16:creationId xmlns:a16="http://schemas.microsoft.com/office/drawing/2014/main" id="{8C0E5935-8F08-86D9-7524-92F339F13152}"/>
              </a:ext>
            </a:extLst>
          </p:cNvPr>
          <p:cNvCxnSpPr>
            <a:cxnSpLocks noChangeShapeType="1"/>
          </p:cNvCxnSpPr>
          <p:nvPr/>
        </p:nvCxnSpPr>
        <p:spPr bwMode="auto">
          <a:xfrm>
            <a:off x="2312988" y="5824538"/>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84" name="Straight Connector 87">
            <a:extLst>
              <a:ext uri="{FF2B5EF4-FFF2-40B4-BE49-F238E27FC236}">
                <a16:creationId xmlns:a16="http://schemas.microsoft.com/office/drawing/2014/main" id="{4E108405-68C5-46DA-4C43-D184C88D314E}"/>
              </a:ext>
            </a:extLst>
          </p:cNvPr>
          <p:cNvCxnSpPr>
            <a:cxnSpLocks noChangeShapeType="1"/>
          </p:cNvCxnSpPr>
          <p:nvPr/>
        </p:nvCxnSpPr>
        <p:spPr bwMode="auto">
          <a:xfrm rot="5400000">
            <a:off x="2536825" y="5619751"/>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85" name="Rectangle 88">
            <a:extLst>
              <a:ext uri="{FF2B5EF4-FFF2-40B4-BE49-F238E27FC236}">
                <a16:creationId xmlns:a16="http://schemas.microsoft.com/office/drawing/2014/main" id="{54AF8DBB-51B0-A3AD-6C47-729F6A74D36E}"/>
              </a:ext>
            </a:extLst>
          </p:cNvPr>
          <p:cNvSpPr>
            <a:spLocks noChangeArrowheads="1"/>
          </p:cNvSpPr>
          <p:nvPr/>
        </p:nvSpPr>
        <p:spPr bwMode="auto">
          <a:xfrm>
            <a:off x="2774950" y="5446713"/>
            <a:ext cx="157163" cy="334962"/>
          </a:xfrm>
          <a:prstGeom prst="rect">
            <a:avLst/>
          </a:prstGeom>
          <a:solidFill>
            <a:schemeClr val="accent1"/>
          </a:solidFill>
          <a:ln w="9525">
            <a:solidFill>
              <a:schemeClr val="tx1"/>
            </a:solidFill>
            <a:round/>
            <a:headEnd/>
            <a:tailEnd/>
          </a:ln>
        </p:spPr>
        <p:txBody>
          <a:bodyPr lIns="0" tIns="7200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900"/>
              <a:t>CPU</a:t>
            </a:r>
          </a:p>
        </p:txBody>
      </p:sp>
      <p:sp>
        <p:nvSpPr>
          <p:cNvPr id="13386" name="Rectangle 89">
            <a:extLst>
              <a:ext uri="{FF2B5EF4-FFF2-40B4-BE49-F238E27FC236}">
                <a16:creationId xmlns:a16="http://schemas.microsoft.com/office/drawing/2014/main" id="{1DC35855-8DA5-C497-40E1-383048978BD2}"/>
              </a:ext>
            </a:extLst>
          </p:cNvPr>
          <p:cNvSpPr>
            <a:spLocks noChangeArrowheads="1"/>
          </p:cNvSpPr>
          <p:nvPr/>
        </p:nvSpPr>
        <p:spPr bwMode="auto">
          <a:xfrm>
            <a:off x="3113088" y="5780088"/>
            <a:ext cx="80962" cy="73025"/>
          </a:xfrm>
          <a:prstGeom prst="rect">
            <a:avLst/>
          </a:prstGeom>
          <a:solidFill>
            <a:schemeClr val="tx1"/>
          </a:solidFill>
          <a:ln w="9525">
            <a:solidFill>
              <a:schemeClr val="tx1"/>
            </a:solidFill>
            <a:round/>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CA" altLang="en-US"/>
          </a:p>
        </p:txBody>
      </p:sp>
      <p:sp>
        <p:nvSpPr>
          <p:cNvPr id="13387" name="Rectangle 90">
            <a:extLst>
              <a:ext uri="{FF2B5EF4-FFF2-40B4-BE49-F238E27FC236}">
                <a16:creationId xmlns:a16="http://schemas.microsoft.com/office/drawing/2014/main" id="{364D4A16-1E2D-991F-0D6D-2F9E8A85F57E}"/>
              </a:ext>
            </a:extLst>
          </p:cNvPr>
          <p:cNvSpPr>
            <a:spLocks noChangeArrowheads="1"/>
          </p:cNvSpPr>
          <p:nvPr/>
        </p:nvSpPr>
        <p:spPr bwMode="auto">
          <a:xfrm>
            <a:off x="2936875" y="5446713"/>
            <a:ext cx="171450" cy="334962"/>
          </a:xfrm>
          <a:prstGeom prst="rect">
            <a:avLst/>
          </a:prstGeom>
          <a:solidFill>
            <a:srgbClr val="FFFF00"/>
          </a:solidFill>
          <a:ln w="9525">
            <a:solidFill>
              <a:schemeClr val="tx1"/>
            </a:solidFill>
            <a:round/>
            <a:headEnd/>
            <a:tailEnd/>
          </a:ln>
        </p:spPr>
        <p:txBody>
          <a:bodyPr lIns="0" tIns="46800" rIns="0" anchor="ctr" anchorCtr="1"/>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a:t>
            </a:r>
          </a:p>
        </p:txBody>
      </p:sp>
      <p:cxnSp>
        <p:nvCxnSpPr>
          <p:cNvPr id="13388" name="Straight Connector 91">
            <a:extLst>
              <a:ext uri="{FF2B5EF4-FFF2-40B4-BE49-F238E27FC236}">
                <a16:creationId xmlns:a16="http://schemas.microsoft.com/office/drawing/2014/main" id="{83420954-D79D-A18C-5A0D-A93AA6D378B6}"/>
              </a:ext>
            </a:extLst>
          </p:cNvPr>
          <p:cNvCxnSpPr>
            <a:cxnSpLocks noChangeShapeType="1"/>
          </p:cNvCxnSpPr>
          <p:nvPr/>
        </p:nvCxnSpPr>
        <p:spPr bwMode="auto">
          <a:xfrm>
            <a:off x="2751138" y="5824538"/>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89" name="Straight Connector 92">
            <a:extLst>
              <a:ext uri="{FF2B5EF4-FFF2-40B4-BE49-F238E27FC236}">
                <a16:creationId xmlns:a16="http://schemas.microsoft.com/office/drawing/2014/main" id="{8701EB17-FEF2-48B4-1DAF-4209B9498C89}"/>
              </a:ext>
            </a:extLst>
          </p:cNvPr>
          <p:cNvCxnSpPr>
            <a:cxnSpLocks noChangeShapeType="1"/>
          </p:cNvCxnSpPr>
          <p:nvPr/>
        </p:nvCxnSpPr>
        <p:spPr bwMode="auto">
          <a:xfrm rot="5400000">
            <a:off x="2974975" y="5619751"/>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13390" name="Group 3">
            <a:extLst>
              <a:ext uri="{FF2B5EF4-FFF2-40B4-BE49-F238E27FC236}">
                <a16:creationId xmlns:a16="http://schemas.microsoft.com/office/drawing/2014/main" id="{51EB1118-E4F0-6D2B-96B7-5E215068DC93}"/>
              </a:ext>
            </a:extLst>
          </p:cNvPr>
          <p:cNvGrpSpPr>
            <a:grpSpLocks/>
          </p:cNvGrpSpPr>
          <p:nvPr/>
        </p:nvGrpSpPr>
        <p:grpSpPr bwMode="auto">
          <a:xfrm>
            <a:off x="4202113" y="3832225"/>
            <a:ext cx="3922712" cy="2078038"/>
            <a:chOff x="2983" y="2798"/>
            <a:chExt cx="2471" cy="1309"/>
          </a:xfrm>
        </p:grpSpPr>
        <p:sp>
          <p:nvSpPr>
            <p:cNvPr id="13401" name="Freeform 4">
              <a:extLst>
                <a:ext uri="{FF2B5EF4-FFF2-40B4-BE49-F238E27FC236}">
                  <a16:creationId xmlns:a16="http://schemas.microsoft.com/office/drawing/2014/main" id="{6285D52E-053C-7EC7-4537-7A5FBFABA2AF}"/>
                </a:ext>
              </a:extLst>
            </p:cNvPr>
            <p:cNvSpPr>
              <a:spLocks/>
            </p:cNvSpPr>
            <p:nvPr/>
          </p:nvSpPr>
          <p:spPr bwMode="auto">
            <a:xfrm>
              <a:off x="2983" y="2798"/>
              <a:ext cx="319" cy="318"/>
            </a:xfrm>
            <a:custGeom>
              <a:avLst/>
              <a:gdLst>
                <a:gd name="T0" fmla="*/ 319 w 319"/>
                <a:gd name="T1" fmla="*/ 157 h 318"/>
                <a:gd name="T2" fmla="*/ 316 w 319"/>
                <a:gd name="T3" fmla="*/ 186 h 318"/>
                <a:gd name="T4" fmla="*/ 311 w 319"/>
                <a:gd name="T5" fmla="*/ 210 h 318"/>
                <a:gd name="T6" fmla="*/ 300 w 319"/>
                <a:gd name="T7" fmla="*/ 231 h 318"/>
                <a:gd name="T8" fmla="*/ 289 w 319"/>
                <a:gd name="T9" fmla="*/ 252 h 318"/>
                <a:gd name="T10" fmla="*/ 273 w 319"/>
                <a:gd name="T11" fmla="*/ 271 h 318"/>
                <a:gd name="T12" fmla="*/ 255 w 319"/>
                <a:gd name="T13" fmla="*/ 287 h 318"/>
                <a:gd name="T14" fmla="*/ 234 w 319"/>
                <a:gd name="T15" fmla="*/ 300 h 318"/>
                <a:gd name="T16" fmla="*/ 210 w 319"/>
                <a:gd name="T17" fmla="*/ 310 h 318"/>
                <a:gd name="T18" fmla="*/ 186 w 319"/>
                <a:gd name="T19" fmla="*/ 316 h 318"/>
                <a:gd name="T20" fmla="*/ 159 w 319"/>
                <a:gd name="T21" fmla="*/ 318 h 318"/>
                <a:gd name="T22" fmla="*/ 133 w 319"/>
                <a:gd name="T23" fmla="*/ 316 h 318"/>
                <a:gd name="T24" fmla="*/ 109 w 319"/>
                <a:gd name="T25" fmla="*/ 310 h 318"/>
                <a:gd name="T26" fmla="*/ 88 w 319"/>
                <a:gd name="T27" fmla="*/ 300 h 318"/>
                <a:gd name="T28" fmla="*/ 67 w 319"/>
                <a:gd name="T29" fmla="*/ 287 h 318"/>
                <a:gd name="T30" fmla="*/ 48 w 319"/>
                <a:gd name="T31" fmla="*/ 271 h 318"/>
                <a:gd name="T32" fmla="*/ 32 w 319"/>
                <a:gd name="T33" fmla="*/ 252 h 318"/>
                <a:gd name="T34" fmla="*/ 19 w 319"/>
                <a:gd name="T35" fmla="*/ 231 h 318"/>
                <a:gd name="T36" fmla="*/ 8 w 319"/>
                <a:gd name="T37" fmla="*/ 210 h 318"/>
                <a:gd name="T38" fmla="*/ 3 w 319"/>
                <a:gd name="T39" fmla="*/ 186 h 318"/>
                <a:gd name="T40" fmla="*/ 0 w 319"/>
                <a:gd name="T41" fmla="*/ 159 h 318"/>
                <a:gd name="T42" fmla="*/ 3 w 319"/>
                <a:gd name="T43" fmla="*/ 133 h 318"/>
                <a:gd name="T44" fmla="*/ 8 w 319"/>
                <a:gd name="T45" fmla="*/ 109 h 318"/>
                <a:gd name="T46" fmla="*/ 19 w 319"/>
                <a:gd name="T47" fmla="*/ 85 h 318"/>
                <a:gd name="T48" fmla="*/ 32 w 319"/>
                <a:gd name="T49" fmla="*/ 64 h 318"/>
                <a:gd name="T50" fmla="*/ 48 w 319"/>
                <a:gd name="T51" fmla="*/ 45 h 318"/>
                <a:gd name="T52" fmla="*/ 67 w 319"/>
                <a:gd name="T53" fmla="*/ 29 h 318"/>
                <a:gd name="T54" fmla="*/ 88 w 319"/>
                <a:gd name="T55" fmla="*/ 19 h 318"/>
                <a:gd name="T56" fmla="*/ 109 w 319"/>
                <a:gd name="T57" fmla="*/ 8 h 318"/>
                <a:gd name="T58" fmla="*/ 133 w 319"/>
                <a:gd name="T59" fmla="*/ 3 h 318"/>
                <a:gd name="T60" fmla="*/ 159 w 319"/>
                <a:gd name="T61" fmla="*/ 0 h 318"/>
                <a:gd name="T62" fmla="*/ 186 w 319"/>
                <a:gd name="T63" fmla="*/ 3 h 318"/>
                <a:gd name="T64" fmla="*/ 210 w 319"/>
                <a:gd name="T65" fmla="*/ 8 h 318"/>
                <a:gd name="T66" fmla="*/ 234 w 319"/>
                <a:gd name="T67" fmla="*/ 19 h 318"/>
                <a:gd name="T68" fmla="*/ 255 w 319"/>
                <a:gd name="T69" fmla="*/ 29 h 318"/>
                <a:gd name="T70" fmla="*/ 273 w 319"/>
                <a:gd name="T71" fmla="*/ 45 h 318"/>
                <a:gd name="T72" fmla="*/ 289 w 319"/>
                <a:gd name="T73" fmla="*/ 64 h 318"/>
                <a:gd name="T74" fmla="*/ 300 w 319"/>
                <a:gd name="T75" fmla="*/ 85 h 318"/>
                <a:gd name="T76" fmla="*/ 311 w 319"/>
                <a:gd name="T77" fmla="*/ 109 h 318"/>
                <a:gd name="T78" fmla="*/ 316 w 319"/>
                <a:gd name="T79" fmla="*/ 133 h 318"/>
                <a:gd name="T80" fmla="*/ 319 w 319"/>
                <a:gd name="T81" fmla="*/ 159 h 318"/>
                <a:gd name="T82" fmla="*/ 319 w 319"/>
                <a:gd name="T83" fmla="*/ 157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9" y="157"/>
                  </a:moveTo>
                  <a:lnTo>
                    <a:pt x="316" y="186"/>
                  </a:lnTo>
                  <a:lnTo>
                    <a:pt x="311" y="210"/>
                  </a:lnTo>
                  <a:lnTo>
                    <a:pt x="300" y="231"/>
                  </a:lnTo>
                  <a:lnTo>
                    <a:pt x="289" y="252"/>
                  </a:lnTo>
                  <a:lnTo>
                    <a:pt x="273" y="271"/>
                  </a:lnTo>
                  <a:lnTo>
                    <a:pt x="255" y="287"/>
                  </a:lnTo>
                  <a:lnTo>
                    <a:pt x="234" y="300"/>
                  </a:lnTo>
                  <a:lnTo>
                    <a:pt x="210" y="310"/>
                  </a:lnTo>
                  <a:lnTo>
                    <a:pt x="186" y="316"/>
                  </a:lnTo>
                  <a:lnTo>
                    <a:pt x="159" y="318"/>
                  </a:lnTo>
                  <a:lnTo>
                    <a:pt x="133" y="316"/>
                  </a:lnTo>
                  <a:lnTo>
                    <a:pt x="109" y="310"/>
                  </a:lnTo>
                  <a:lnTo>
                    <a:pt x="88" y="300"/>
                  </a:lnTo>
                  <a:lnTo>
                    <a:pt x="67" y="287"/>
                  </a:lnTo>
                  <a:lnTo>
                    <a:pt x="48" y="271"/>
                  </a:lnTo>
                  <a:lnTo>
                    <a:pt x="32" y="252"/>
                  </a:lnTo>
                  <a:lnTo>
                    <a:pt x="19" y="231"/>
                  </a:lnTo>
                  <a:lnTo>
                    <a:pt x="8" y="210"/>
                  </a:lnTo>
                  <a:lnTo>
                    <a:pt x="3" y="186"/>
                  </a:lnTo>
                  <a:lnTo>
                    <a:pt x="0" y="159"/>
                  </a:lnTo>
                  <a:lnTo>
                    <a:pt x="3" y="133"/>
                  </a:lnTo>
                  <a:lnTo>
                    <a:pt x="8" y="109"/>
                  </a:lnTo>
                  <a:lnTo>
                    <a:pt x="19" y="85"/>
                  </a:lnTo>
                  <a:lnTo>
                    <a:pt x="32" y="64"/>
                  </a:lnTo>
                  <a:lnTo>
                    <a:pt x="48" y="45"/>
                  </a:lnTo>
                  <a:lnTo>
                    <a:pt x="67" y="29"/>
                  </a:lnTo>
                  <a:lnTo>
                    <a:pt x="88" y="19"/>
                  </a:lnTo>
                  <a:lnTo>
                    <a:pt x="109" y="8"/>
                  </a:lnTo>
                  <a:lnTo>
                    <a:pt x="133" y="3"/>
                  </a:lnTo>
                  <a:lnTo>
                    <a:pt x="159" y="0"/>
                  </a:lnTo>
                  <a:lnTo>
                    <a:pt x="186" y="3"/>
                  </a:lnTo>
                  <a:lnTo>
                    <a:pt x="210" y="8"/>
                  </a:lnTo>
                  <a:lnTo>
                    <a:pt x="234" y="19"/>
                  </a:lnTo>
                  <a:lnTo>
                    <a:pt x="255" y="29"/>
                  </a:lnTo>
                  <a:lnTo>
                    <a:pt x="273" y="45"/>
                  </a:lnTo>
                  <a:lnTo>
                    <a:pt x="289" y="64"/>
                  </a:lnTo>
                  <a:lnTo>
                    <a:pt x="300" y="85"/>
                  </a:lnTo>
                  <a:lnTo>
                    <a:pt x="311" y="109"/>
                  </a:lnTo>
                  <a:lnTo>
                    <a:pt x="316" y="133"/>
                  </a:lnTo>
                  <a:lnTo>
                    <a:pt x="319" y="159"/>
                  </a:lnTo>
                  <a:lnTo>
                    <a:pt x="319" y="15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2" name="Freeform 5">
              <a:extLst>
                <a:ext uri="{FF2B5EF4-FFF2-40B4-BE49-F238E27FC236}">
                  <a16:creationId xmlns:a16="http://schemas.microsoft.com/office/drawing/2014/main" id="{71BA3FC5-1D44-2C06-20D1-B1F94D142A27}"/>
                </a:ext>
              </a:extLst>
            </p:cNvPr>
            <p:cNvSpPr>
              <a:spLocks/>
            </p:cNvSpPr>
            <p:nvPr/>
          </p:nvSpPr>
          <p:spPr bwMode="auto">
            <a:xfrm>
              <a:off x="3408" y="2928"/>
              <a:ext cx="319" cy="318"/>
            </a:xfrm>
            <a:custGeom>
              <a:avLst/>
              <a:gdLst>
                <a:gd name="T0" fmla="*/ 319 w 319"/>
                <a:gd name="T1" fmla="*/ 157 h 318"/>
                <a:gd name="T2" fmla="*/ 316 w 319"/>
                <a:gd name="T3" fmla="*/ 133 h 318"/>
                <a:gd name="T4" fmla="*/ 311 w 319"/>
                <a:gd name="T5" fmla="*/ 109 h 318"/>
                <a:gd name="T6" fmla="*/ 300 w 319"/>
                <a:gd name="T7" fmla="*/ 85 h 318"/>
                <a:gd name="T8" fmla="*/ 289 w 319"/>
                <a:gd name="T9" fmla="*/ 64 h 318"/>
                <a:gd name="T10" fmla="*/ 273 w 319"/>
                <a:gd name="T11" fmla="*/ 45 h 318"/>
                <a:gd name="T12" fmla="*/ 255 w 319"/>
                <a:gd name="T13" fmla="*/ 29 h 318"/>
                <a:gd name="T14" fmla="*/ 234 w 319"/>
                <a:gd name="T15" fmla="*/ 19 h 318"/>
                <a:gd name="T16" fmla="*/ 210 w 319"/>
                <a:gd name="T17" fmla="*/ 8 h 318"/>
                <a:gd name="T18" fmla="*/ 186 w 319"/>
                <a:gd name="T19" fmla="*/ 3 h 318"/>
                <a:gd name="T20" fmla="*/ 159 w 319"/>
                <a:gd name="T21" fmla="*/ 0 h 318"/>
                <a:gd name="T22" fmla="*/ 133 w 319"/>
                <a:gd name="T23" fmla="*/ 3 h 318"/>
                <a:gd name="T24" fmla="*/ 109 w 319"/>
                <a:gd name="T25" fmla="*/ 8 h 318"/>
                <a:gd name="T26" fmla="*/ 88 w 319"/>
                <a:gd name="T27" fmla="*/ 19 h 318"/>
                <a:gd name="T28" fmla="*/ 67 w 319"/>
                <a:gd name="T29" fmla="*/ 29 h 318"/>
                <a:gd name="T30" fmla="*/ 48 w 319"/>
                <a:gd name="T31" fmla="*/ 45 h 318"/>
                <a:gd name="T32" fmla="*/ 32 w 319"/>
                <a:gd name="T33" fmla="*/ 64 h 318"/>
                <a:gd name="T34" fmla="*/ 19 w 319"/>
                <a:gd name="T35" fmla="*/ 85 h 318"/>
                <a:gd name="T36" fmla="*/ 8 w 319"/>
                <a:gd name="T37" fmla="*/ 109 h 318"/>
                <a:gd name="T38" fmla="*/ 3 w 319"/>
                <a:gd name="T39" fmla="*/ 133 h 318"/>
                <a:gd name="T40" fmla="*/ 0 w 319"/>
                <a:gd name="T41" fmla="*/ 159 h 318"/>
                <a:gd name="T42" fmla="*/ 3 w 319"/>
                <a:gd name="T43" fmla="*/ 186 h 318"/>
                <a:gd name="T44" fmla="*/ 8 w 319"/>
                <a:gd name="T45" fmla="*/ 210 h 318"/>
                <a:gd name="T46" fmla="*/ 19 w 319"/>
                <a:gd name="T47" fmla="*/ 231 h 318"/>
                <a:gd name="T48" fmla="*/ 32 w 319"/>
                <a:gd name="T49" fmla="*/ 252 h 318"/>
                <a:gd name="T50" fmla="*/ 48 w 319"/>
                <a:gd name="T51" fmla="*/ 271 h 318"/>
                <a:gd name="T52" fmla="*/ 67 w 319"/>
                <a:gd name="T53" fmla="*/ 287 h 318"/>
                <a:gd name="T54" fmla="*/ 88 w 319"/>
                <a:gd name="T55" fmla="*/ 300 h 318"/>
                <a:gd name="T56" fmla="*/ 109 w 319"/>
                <a:gd name="T57" fmla="*/ 310 h 318"/>
                <a:gd name="T58" fmla="*/ 133 w 319"/>
                <a:gd name="T59" fmla="*/ 316 h 318"/>
                <a:gd name="T60" fmla="*/ 159 w 319"/>
                <a:gd name="T61" fmla="*/ 318 h 318"/>
                <a:gd name="T62" fmla="*/ 186 w 319"/>
                <a:gd name="T63" fmla="*/ 316 h 318"/>
                <a:gd name="T64" fmla="*/ 210 w 319"/>
                <a:gd name="T65" fmla="*/ 310 h 318"/>
                <a:gd name="T66" fmla="*/ 234 w 319"/>
                <a:gd name="T67" fmla="*/ 300 h 318"/>
                <a:gd name="T68" fmla="*/ 255 w 319"/>
                <a:gd name="T69" fmla="*/ 287 h 318"/>
                <a:gd name="T70" fmla="*/ 273 w 319"/>
                <a:gd name="T71" fmla="*/ 271 h 318"/>
                <a:gd name="T72" fmla="*/ 289 w 319"/>
                <a:gd name="T73" fmla="*/ 252 h 318"/>
                <a:gd name="T74" fmla="*/ 300 w 319"/>
                <a:gd name="T75" fmla="*/ 231 h 318"/>
                <a:gd name="T76" fmla="*/ 311 w 319"/>
                <a:gd name="T77" fmla="*/ 210 h 318"/>
                <a:gd name="T78" fmla="*/ 316 w 319"/>
                <a:gd name="T79" fmla="*/ 186 h 318"/>
                <a:gd name="T80" fmla="*/ 319 w 319"/>
                <a:gd name="T81" fmla="*/ 159 h 318"/>
                <a:gd name="T82" fmla="*/ 319 w 319"/>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9" y="157"/>
                  </a:moveTo>
                  <a:lnTo>
                    <a:pt x="316" y="133"/>
                  </a:lnTo>
                  <a:lnTo>
                    <a:pt x="311" y="109"/>
                  </a:lnTo>
                  <a:lnTo>
                    <a:pt x="300" y="85"/>
                  </a:lnTo>
                  <a:lnTo>
                    <a:pt x="289" y="64"/>
                  </a:lnTo>
                  <a:lnTo>
                    <a:pt x="273" y="45"/>
                  </a:lnTo>
                  <a:lnTo>
                    <a:pt x="255" y="29"/>
                  </a:lnTo>
                  <a:lnTo>
                    <a:pt x="234" y="19"/>
                  </a:lnTo>
                  <a:lnTo>
                    <a:pt x="210" y="8"/>
                  </a:lnTo>
                  <a:lnTo>
                    <a:pt x="186" y="3"/>
                  </a:lnTo>
                  <a:lnTo>
                    <a:pt x="159" y="0"/>
                  </a:lnTo>
                  <a:lnTo>
                    <a:pt x="133" y="3"/>
                  </a:lnTo>
                  <a:lnTo>
                    <a:pt x="109" y="8"/>
                  </a:lnTo>
                  <a:lnTo>
                    <a:pt x="88" y="19"/>
                  </a:lnTo>
                  <a:lnTo>
                    <a:pt x="67" y="29"/>
                  </a:lnTo>
                  <a:lnTo>
                    <a:pt x="48" y="45"/>
                  </a:lnTo>
                  <a:lnTo>
                    <a:pt x="32" y="64"/>
                  </a:lnTo>
                  <a:lnTo>
                    <a:pt x="19" y="85"/>
                  </a:lnTo>
                  <a:lnTo>
                    <a:pt x="8" y="109"/>
                  </a:lnTo>
                  <a:lnTo>
                    <a:pt x="3" y="133"/>
                  </a:lnTo>
                  <a:lnTo>
                    <a:pt x="0" y="159"/>
                  </a:lnTo>
                  <a:lnTo>
                    <a:pt x="3" y="186"/>
                  </a:lnTo>
                  <a:lnTo>
                    <a:pt x="8" y="210"/>
                  </a:lnTo>
                  <a:lnTo>
                    <a:pt x="19" y="231"/>
                  </a:lnTo>
                  <a:lnTo>
                    <a:pt x="32" y="252"/>
                  </a:lnTo>
                  <a:lnTo>
                    <a:pt x="48" y="271"/>
                  </a:lnTo>
                  <a:lnTo>
                    <a:pt x="67" y="287"/>
                  </a:lnTo>
                  <a:lnTo>
                    <a:pt x="88" y="300"/>
                  </a:lnTo>
                  <a:lnTo>
                    <a:pt x="109" y="310"/>
                  </a:lnTo>
                  <a:lnTo>
                    <a:pt x="133" y="316"/>
                  </a:lnTo>
                  <a:lnTo>
                    <a:pt x="159" y="318"/>
                  </a:lnTo>
                  <a:lnTo>
                    <a:pt x="186" y="316"/>
                  </a:lnTo>
                  <a:lnTo>
                    <a:pt x="210" y="310"/>
                  </a:lnTo>
                  <a:lnTo>
                    <a:pt x="234" y="300"/>
                  </a:lnTo>
                  <a:lnTo>
                    <a:pt x="255" y="287"/>
                  </a:lnTo>
                  <a:lnTo>
                    <a:pt x="273" y="271"/>
                  </a:lnTo>
                  <a:lnTo>
                    <a:pt x="289" y="252"/>
                  </a:lnTo>
                  <a:lnTo>
                    <a:pt x="300" y="231"/>
                  </a:lnTo>
                  <a:lnTo>
                    <a:pt x="311" y="210"/>
                  </a:lnTo>
                  <a:lnTo>
                    <a:pt x="316" y="186"/>
                  </a:lnTo>
                  <a:lnTo>
                    <a:pt x="319" y="15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03" name="Freeform 6">
              <a:extLst>
                <a:ext uri="{FF2B5EF4-FFF2-40B4-BE49-F238E27FC236}">
                  <a16:creationId xmlns:a16="http://schemas.microsoft.com/office/drawing/2014/main" id="{6A9D2B5A-CAF1-140B-A2D0-1AD2EEA4E2A4}"/>
                </a:ext>
              </a:extLst>
            </p:cNvPr>
            <p:cNvSpPr>
              <a:spLocks/>
            </p:cNvSpPr>
            <p:nvPr/>
          </p:nvSpPr>
          <p:spPr bwMode="auto">
            <a:xfrm>
              <a:off x="5136" y="2928"/>
              <a:ext cx="318" cy="318"/>
            </a:xfrm>
            <a:custGeom>
              <a:avLst/>
              <a:gdLst>
                <a:gd name="T0" fmla="*/ 318 w 318"/>
                <a:gd name="T1" fmla="*/ 159 h 318"/>
                <a:gd name="T2" fmla="*/ 316 w 318"/>
                <a:gd name="T3" fmla="*/ 135 h 318"/>
                <a:gd name="T4" fmla="*/ 311 w 318"/>
                <a:gd name="T5" fmla="*/ 108 h 318"/>
                <a:gd name="T6" fmla="*/ 300 w 318"/>
                <a:gd name="T7" fmla="*/ 87 h 318"/>
                <a:gd name="T8" fmla="*/ 289 w 318"/>
                <a:gd name="T9" fmla="*/ 66 h 318"/>
                <a:gd name="T10" fmla="*/ 273 w 318"/>
                <a:gd name="T11" fmla="*/ 47 h 318"/>
                <a:gd name="T12" fmla="*/ 255 w 318"/>
                <a:gd name="T13" fmla="*/ 31 h 318"/>
                <a:gd name="T14" fmla="*/ 234 w 318"/>
                <a:gd name="T15" fmla="*/ 18 h 318"/>
                <a:gd name="T16" fmla="*/ 210 w 318"/>
                <a:gd name="T17" fmla="*/ 8 h 318"/>
                <a:gd name="T18" fmla="*/ 186 w 318"/>
                <a:gd name="T19" fmla="*/ 2 h 318"/>
                <a:gd name="T20" fmla="*/ 159 w 318"/>
                <a:gd name="T21" fmla="*/ 0 h 318"/>
                <a:gd name="T22" fmla="*/ 133 w 318"/>
                <a:gd name="T23" fmla="*/ 2 h 318"/>
                <a:gd name="T24" fmla="*/ 109 w 318"/>
                <a:gd name="T25" fmla="*/ 8 h 318"/>
                <a:gd name="T26" fmla="*/ 88 w 318"/>
                <a:gd name="T27" fmla="*/ 18 h 318"/>
                <a:gd name="T28" fmla="*/ 67 w 318"/>
                <a:gd name="T29" fmla="*/ 31 h 318"/>
                <a:gd name="T30" fmla="*/ 48 w 318"/>
                <a:gd name="T31" fmla="*/ 47 h 318"/>
                <a:gd name="T32" fmla="*/ 32 w 318"/>
                <a:gd name="T33" fmla="*/ 66 h 318"/>
                <a:gd name="T34" fmla="*/ 19 w 318"/>
                <a:gd name="T35" fmla="*/ 87 h 318"/>
                <a:gd name="T36" fmla="*/ 8 w 318"/>
                <a:gd name="T37" fmla="*/ 108 h 318"/>
                <a:gd name="T38" fmla="*/ 3 w 318"/>
                <a:gd name="T39" fmla="*/ 135 h 318"/>
                <a:gd name="T40" fmla="*/ 0 w 318"/>
                <a:gd name="T41" fmla="*/ 159 h 318"/>
                <a:gd name="T42" fmla="*/ 3 w 318"/>
                <a:gd name="T43" fmla="*/ 185 h 318"/>
                <a:gd name="T44" fmla="*/ 8 w 318"/>
                <a:gd name="T45" fmla="*/ 209 h 318"/>
                <a:gd name="T46" fmla="*/ 19 w 318"/>
                <a:gd name="T47" fmla="*/ 233 h 318"/>
                <a:gd name="T48" fmla="*/ 32 w 318"/>
                <a:gd name="T49" fmla="*/ 254 h 318"/>
                <a:gd name="T50" fmla="*/ 48 w 318"/>
                <a:gd name="T51" fmla="*/ 273 h 318"/>
                <a:gd name="T52" fmla="*/ 67 w 318"/>
                <a:gd name="T53" fmla="*/ 289 h 318"/>
                <a:gd name="T54" fmla="*/ 88 w 318"/>
                <a:gd name="T55" fmla="*/ 302 h 318"/>
                <a:gd name="T56" fmla="*/ 109 w 318"/>
                <a:gd name="T57" fmla="*/ 310 h 318"/>
                <a:gd name="T58" fmla="*/ 133 w 318"/>
                <a:gd name="T59" fmla="*/ 318 h 318"/>
                <a:gd name="T60" fmla="*/ 159 w 318"/>
                <a:gd name="T61" fmla="*/ 318 h 318"/>
                <a:gd name="T62" fmla="*/ 186 w 318"/>
                <a:gd name="T63" fmla="*/ 318 h 318"/>
                <a:gd name="T64" fmla="*/ 210 w 318"/>
                <a:gd name="T65" fmla="*/ 310 h 318"/>
                <a:gd name="T66" fmla="*/ 234 w 318"/>
                <a:gd name="T67" fmla="*/ 302 h 318"/>
                <a:gd name="T68" fmla="*/ 255 w 318"/>
                <a:gd name="T69" fmla="*/ 289 h 318"/>
                <a:gd name="T70" fmla="*/ 273 w 318"/>
                <a:gd name="T71" fmla="*/ 273 h 318"/>
                <a:gd name="T72" fmla="*/ 289 w 318"/>
                <a:gd name="T73" fmla="*/ 254 h 318"/>
                <a:gd name="T74" fmla="*/ 300 w 318"/>
                <a:gd name="T75" fmla="*/ 233 h 318"/>
                <a:gd name="T76" fmla="*/ 311 w 318"/>
                <a:gd name="T77" fmla="*/ 209 h 318"/>
                <a:gd name="T78" fmla="*/ 316 w 318"/>
                <a:gd name="T79" fmla="*/ 185 h 318"/>
                <a:gd name="T80" fmla="*/ 318 w 318"/>
                <a:gd name="T81" fmla="*/ 159 h 318"/>
                <a:gd name="T82" fmla="*/ 318 w 318"/>
                <a:gd name="T83" fmla="*/ 159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8" y="159"/>
                  </a:moveTo>
                  <a:lnTo>
                    <a:pt x="316" y="135"/>
                  </a:lnTo>
                  <a:lnTo>
                    <a:pt x="311" y="108"/>
                  </a:lnTo>
                  <a:lnTo>
                    <a:pt x="300" y="87"/>
                  </a:lnTo>
                  <a:lnTo>
                    <a:pt x="289" y="66"/>
                  </a:lnTo>
                  <a:lnTo>
                    <a:pt x="273" y="47"/>
                  </a:lnTo>
                  <a:lnTo>
                    <a:pt x="255" y="31"/>
                  </a:lnTo>
                  <a:lnTo>
                    <a:pt x="234" y="18"/>
                  </a:lnTo>
                  <a:lnTo>
                    <a:pt x="210" y="8"/>
                  </a:lnTo>
                  <a:lnTo>
                    <a:pt x="186" y="2"/>
                  </a:lnTo>
                  <a:lnTo>
                    <a:pt x="159" y="0"/>
                  </a:lnTo>
                  <a:lnTo>
                    <a:pt x="133" y="2"/>
                  </a:lnTo>
                  <a:lnTo>
                    <a:pt x="109" y="8"/>
                  </a:lnTo>
                  <a:lnTo>
                    <a:pt x="88" y="18"/>
                  </a:lnTo>
                  <a:lnTo>
                    <a:pt x="67" y="31"/>
                  </a:lnTo>
                  <a:lnTo>
                    <a:pt x="48" y="47"/>
                  </a:lnTo>
                  <a:lnTo>
                    <a:pt x="32" y="66"/>
                  </a:lnTo>
                  <a:lnTo>
                    <a:pt x="19" y="87"/>
                  </a:lnTo>
                  <a:lnTo>
                    <a:pt x="8" y="108"/>
                  </a:lnTo>
                  <a:lnTo>
                    <a:pt x="3" y="135"/>
                  </a:lnTo>
                  <a:lnTo>
                    <a:pt x="0" y="159"/>
                  </a:lnTo>
                  <a:lnTo>
                    <a:pt x="3" y="185"/>
                  </a:lnTo>
                  <a:lnTo>
                    <a:pt x="8" y="209"/>
                  </a:lnTo>
                  <a:lnTo>
                    <a:pt x="19" y="233"/>
                  </a:lnTo>
                  <a:lnTo>
                    <a:pt x="32" y="254"/>
                  </a:lnTo>
                  <a:lnTo>
                    <a:pt x="48" y="273"/>
                  </a:lnTo>
                  <a:lnTo>
                    <a:pt x="67" y="289"/>
                  </a:lnTo>
                  <a:lnTo>
                    <a:pt x="88" y="302"/>
                  </a:lnTo>
                  <a:lnTo>
                    <a:pt x="109" y="310"/>
                  </a:lnTo>
                  <a:lnTo>
                    <a:pt x="133" y="318"/>
                  </a:lnTo>
                  <a:lnTo>
                    <a:pt x="159" y="318"/>
                  </a:lnTo>
                  <a:lnTo>
                    <a:pt x="186" y="318"/>
                  </a:lnTo>
                  <a:lnTo>
                    <a:pt x="210" y="310"/>
                  </a:lnTo>
                  <a:lnTo>
                    <a:pt x="234" y="302"/>
                  </a:lnTo>
                  <a:lnTo>
                    <a:pt x="255" y="289"/>
                  </a:lnTo>
                  <a:lnTo>
                    <a:pt x="273" y="273"/>
                  </a:lnTo>
                  <a:lnTo>
                    <a:pt x="289" y="254"/>
                  </a:lnTo>
                  <a:lnTo>
                    <a:pt x="300" y="233"/>
                  </a:lnTo>
                  <a:lnTo>
                    <a:pt x="311" y="209"/>
                  </a:lnTo>
                  <a:lnTo>
                    <a:pt x="316" y="185"/>
                  </a:lnTo>
                  <a:lnTo>
                    <a:pt x="318" y="15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3404" name="Group 7">
              <a:extLst>
                <a:ext uri="{FF2B5EF4-FFF2-40B4-BE49-F238E27FC236}">
                  <a16:creationId xmlns:a16="http://schemas.microsoft.com/office/drawing/2014/main" id="{93A755CD-F6CA-194A-1EEB-F07D879D9520}"/>
                </a:ext>
              </a:extLst>
            </p:cNvPr>
            <p:cNvGrpSpPr>
              <a:grpSpLocks/>
            </p:cNvGrpSpPr>
            <p:nvPr/>
          </p:nvGrpSpPr>
          <p:grpSpPr bwMode="auto">
            <a:xfrm>
              <a:off x="3024" y="3024"/>
              <a:ext cx="2393" cy="1083"/>
              <a:chOff x="2586" y="2742"/>
              <a:chExt cx="2393" cy="1083"/>
            </a:xfrm>
          </p:grpSpPr>
          <p:sp>
            <p:nvSpPr>
              <p:cNvPr id="13405" name="Line 8">
                <a:extLst>
                  <a:ext uri="{FF2B5EF4-FFF2-40B4-BE49-F238E27FC236}">
                    <a16:creationId xmlns:a16="http://schemas.microsoft.com/office/drawing/2014/main" id="{5410D17D-2561-E430-7D15-09296908F705}"/>
                  </a:ext>
                </a:extLst>
              </p:cNvPr>
              <p:cNvSpPr>
                <a:spLocks noChangeShapeType="1"/>
              </p:cNvSpPr>
              <p:nvPr/>
            </p:nvSpPr>
            <p:spPr bwMode="auto">
              <a:xfrm>
                <a:off x="4820" y="3248"/>
                <a:ext cx="1"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06" name="Line 9">
                <a:extLst>
                  <a:ext uri="{FF2B5EF4-FFF2-40B4-BE49-F238E27FC236}">
                    <a16:creationId xmlns:a16="http://schemas.microsoft.com/office/drawing/2014/main" id="{0481BFB9-FF19-2F9C-2F9A-E6F2AB735A85}"/>
                  </a:ext>
                </a:extLst>
              </p:cNvPr>
              <p:cNvSpPr>
                <a:spLocks noChangeShapeType="1"/>
              </p:cNvSpPr>
              <p:nvPr/>
            </p:nvSpPr>
            <p:spPr bwMode="auto">
              <a:xfrm>
                <a:off x="3142" y="3251"/>
                <a:ext cx="1"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07" name="Rectangle 10">
                <a:extLst>
                  <a:ext uri="{FF2B5EF4-FFF2-40B4-BE49-F238E27FC236}">
                    <a16:creationId xmlns:a16="http://schemas.microsoft.com/office/drawing/2014/main" id="{A5BF9888-9A17-8C4F-C36A-8D4CB476A1DC}"/>
                  </a:ext>
                </a:extLst>
              </p:cNvPr>
              <p:cNvSpPr>
                <a:spLocks noChangeArrowheads="1"/>
              </p:cNvSpPr>
              <p:nvPr/>
            </p:nvSpPr>
            <p:spPr bwMode="auto">
              <a:xfrm>
                <a:off x="2594" y="3447"/>
                <a:ext cx="2385" cy="2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08" name="Rectangle 11">
                <a:extLst>
                  <a:ext uri="{FF2B5EF4-FFF2-40B4-BE49-F238E27FC236}">
                    <a16:creationId xmlns:a16="http://schemas.microsoft.com/office/drawing/2014/main" id="{3A369059-5672-DD57-A93A-1BD40D502D5B}"/>
                  </a:ext>
                </a:extLst>
              </p:cNvPr>
              <p:cNvSpPr>
                <a:spLocks noChangeArrowheads="1"/>
              </p:cNvSpPr>
              <p:nvPr/>
            </p:nvSpPr>
            <p:spPr bwMode="auto">
              <a:xfrm>
                <a:off x="2594" y="3447"/>
                <a:ext cx="2385" cy="23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09" name="Line 12">
                <a:extLst>
                  <a:ext uri="{FF2B5EF4-FFF2-40B4-BE49-F238E27FC236}">
                    <a16:creationId xmlns:a16="http://schemas.microsoft.com/office/drawing/2014/main" id="{F9116F9F-6A19-6FC0-E4BE-D0A9781D0DDB}"/>
                  </a:ext>
                </a:extLst>
              </p:cNvPr>
              <p:cNvSpPr>
                <a:spLocks noChangeShapeType="1"/>
              </p:cNvSpPr>
              <p:nvPr/>
            </p:nvSpPr>
            <p:spPr bwMode="auto">
              <a:xfrm>
                <a:off x="2904" y="3320"/>
                <a:ext cx="23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0" name="Line 13">
                <a:extLst>
                  <a:ext uri="{FF2B5EF4-FFF2-40B4-BE49-F238E27FC236}">
                    <a16:creationId xmlns:a16="http://schemas.microsoft.com/office/drawing/2014/main" id="{6E40AE7B-012C-9C1B-D12B-9BA1218507E8}"/>
                  </a:ext>
                </a:extLst>
              </p:cNvPr>
              <p:cNvSpPr>
                <a:spLocks noChangeShapeType="1"/>
              </p:cNvSpPr>
              <p:nvPr/>
            </p:nvSpPr>
            <p:spPr bwMode="auto">
              <a:xfrm>
                <a:off x="3142" y="2972"/>
                <a:ext cx="1" cy="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1" name="Rectangle 14">
                <a:extLst>
                  <a:ext uri="{FF2B5EF4-FFF2-40B4-BE49-F238E27FC236}">
                    <a16:creationId xmlns:a16="http://schemas.microsoft.com/office/drawing/2014/main" id="{EC038155-3B79-6A5B-29F0-E2AEEF0909A9}"/>
                  </a:ext>
                </a:extLst>
              </p:cNvPr>
              <p:cNvSpPr>
                <a:spLocks noChangeArrowheads="1"/>
              </p:cNvSpPr>
              <p:nvPr/>
            </p:nvSpPr>
            <p:spPr bwMode="auto">
              <a:xfrm>
                <a:off x="2983" y="3052"/>
                <a:ext cx="319" cy="1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12" name="Rectangle 15">
                <a:extLst>
                  <a:ext uri="{FF2B5EF4-FFF2-40B4-BE49-F238E27FC236}">
                    <a16:creationId xmlns:a16="http://schemas.microsoft.com/office/drawing/2014/main" id="{15A3631F-1A3E-3C28-D5E0-06C686E0378F}"/>
                  </a:ext>
                </a:extLst>
              </p:cNvPr>
              <p:cNvSpPr>
                <a:spLocks noChangeArrowheads="1"/>
              </p:cNvSpPr>
              <p:nvPr/>
            </p:nvSpPr>
            <p:spPr bwMode="auto">
              <a:xfrm>
                <a:off x="2983" y="3052"/>
                <a:ext cx="319" cy="199"/>
              </a:xfrm>
              <a:prstGeom prst="rect">
                <a:avLst/>
              </a:prstGeom>
              <a:solidFill>
                <a:srgbClr val="FFFF00"/>
              </a:solidFill>
              <a:ln w="7938">
                <a:solidFill>
                  <a:srgbClr val="000000"/>
                </a:solidFill>
                <a:miter lim="800000"/>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13" name="Rectangle 16">
                <a:extLst>
                  <a:ext uri="{FF2B5EF4-FFF2-40B4-BE49-F238E27FC236}">
                    <a16:creationId xmlns:a16="http://schemas.microsoft.com/office/drawing/2014/main" id="{A5E6FDB4-DC00-C481-2A95-41E6EEF1DA70}"/>
                  </a:ext>
                </a:extLst>
              </p:cNvPr>
              <p:cNvSpPr>
                <a:spLocks noChangeArrowheads="1"/>
              </p:cNvSpPr>
              <p:nvPr/>
            </p:nvSpPr>
            <p:spPr bwMode="auto">
              <a:xfrm>
                <a:off x="3097" y="2761"/>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500">
                    <a:solidFill>
                      <a:srgbClr val="000000"/>
                    </a:solidFill>
                  </a:rPr>
                  <a:t>P</a:t>
                </a:r>
                <a:endParaRPr lang="en-US" altLang="en-US" sz="1800" b="1"/>
              </a:p>
            </p:txBody>
          </p:sp>
          <p:sp>
            <p:nvSpPr>
              <p:cNvPr id="13414" name="Rectangle 17">
                <a:extLst>
                  <a:ext uri="{FF2B5EF4-FFF2-40B4-BE49-F238E27FC236}">
                    <a16:creationId xmlns:a16="http://schemas.microsoft.com/office/drawing/2014/main" id="{78AD1F9D-E27F-DE7A-DE93-4931632F50B8}"/>
                  </a:ext>
                </a:extLst>
              </p:cNvPr>
              <p:cNvSpPr>
                <a:spLocks noChangeArrowheads="1"/>
              </p:cNvSpPr>
              <p:nvPr/>
            </p:nvSpPr>
            <p:spPr bwMode="auto">
              <a:xfrm>
                <a:off x="3142" y="279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200">
                    <a:solidFill>
                      <a:srgbClr val="000000"/>
                    </a:solidFill>
                  </a:rPr>
                  <a:t>1</a:t>
                </a:r>
                <a:endParaRPr lang="en-US" altLang="en-US" sz="1800" b="1"/>
              </a:p>
            </p:txBody>
          </p:sp>
          <p:sp>
            <p:nvSpPr>
              <p:cNvPr id="13415" name="Rectangle 18">
                <a:extLst>
                  <a:ext uri="{FF2B5EF4-FFF2-40B4-BE49-F238E27FC236}">
                    <a16:creationId xmlns:a16="http://schemas.microsoft.com/office/drawing/2014/main" id="{656FB2CD-E422-8093-DD73-28AF2687761D}"/>
                  </a:ext>
                </a:extLst>
              </p:cNvPr>
              <p:cNvSpPr>
                <a:spLocks noChangeArrowheads="1"/>
              </p:cNvSpPr>
              <p:nvPr/>
            </p:nvSpPr>
            <p:spPr bwMode="auto">
              <a:xfrm>
                <a:off x="3113" y="3092"/>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700">
                    <a:solidFill>
                      <a:srgbClr val="000000"/>
                    </a:solidFill>
                  </a:rPr>
                  <a:t>$</a:t>
                </a:r>
                <a:endParaRPr lang="en-US" altLang="en-US" sz="1800" b="1"/>
              </a:p>
            </p:txBody>
          </p:sp>
          <p:sp>
            <p:nvSpPr>
              <p:cNvPr id="13416" name="Rectangle 19">
                <a:extLst>
                  <a:ext uri="{FF2B5EF4-FFF2-40B4-BE49-F238E27FC236}">
                    <a16:creationId xmlns:a16="http://schemas.microsoft.com/office/drawing/2014/main" id="{04BDC201-0466-15B1-785C-8E8739E0981F}"/>
                  </a:ext>
                </a:extLst>
              </p:cNvPr>
              <p:cNvSpPr>
                <a:spLocks noChangeArrowheads="1"/>
              </p:cNvSpPr>
              <p:nvPr/>
            </p:nvSpPr>
            <p:spPr bwMode="auto">
              <a:xfrm>
                <a:off x="2586" y="3052"/>
                <a:ext cx="318" cy="3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17" name="Rectangle 20">
                <a:extLst>
                  <a:ext uri="{FF2B5EF4-FFF2-40B4-BE49-F238E27FC236}">
                    <a16:creationId xmlns:a16="http://schemas.microsoft.com/office/drawing/2014/main" id="{040CBCA0-9B08-E481-92A4-0B2AD33CD487}"/>
                  </a:ext>
                </a:extLst>
              </p:cNvPr>
              <p:cNvSpPr>
                <a:spLocks noChangeArrowheads="1"/>
              </p:cNvSpPr>
              <p:nvPr/>
            </p:nvSpPr>
            <p:spPr bwMode="auto">
              <a:xfrm>
                <a:off x="2586" y="3052"/>
                <a:ext cx="318" cy="318"/>
              </a:xfrm>
              <a:prstGeom prst="rect">
                <a:avLst/>
              </a:prstGeom>
              <a:solidFill>
                <a:srgbClr val="0000FF"/>
              </a:solidFill>
              <a:ln w="7938">
                <a:solidFill>
                  <a:srgbClr val="000000"/>
                </a:solidFill>
                <a:miter lim="800000"/>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18" name="Rectangle 21">
                <a:extLst>
                  <a:ext uri="{FF2B5EF4-FFF2-40B4-BE49-F238E27FC236}">
                    <a16:creationId xmlns:a16="http://schemas.microsoft.com/office/drawing/2014/main" id="{B2845857-1D8A-3E00-F44F-B4F6E68A3E91}"/>
                  </a:ext>
                </a:extLst>
              </p:cNvPr>
              <p:cNvSpPr>
                <a:spLocks noChangeArrowheads="1"/>
              </p:cNvSpPr>
              <p:nvPr/>
            </p:nvSpPr>
            <p:spPr bwMode="auto">
              <a:xfrm>
                <a:off x="3323" y="3505"/>
                <a:ext cx="128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500">
                    <a:solidFill>
                      <a:srgbClr val="000000"/>
                    </a:solidFill>
                  </a:rPr>
                  <a:t>Interconnection network</a:t>
                </a:r>
                <a:endParaRPr lang="en-US" altLang="en-US" sz="1500" b="1"/>
              </a:p>
              <a:p>
                <a:endParaRPr lang="en-US" altLang="en-US" sz="1800" b="1"/>
              </a:p>
            </p:txBody>
          </p:sp>
          <p:sp>
            <p:nvSpPr>
              <p:cNvPr id="13419" name="Line 23">
                <a:extLst>
                  <a:ext uri="{FF2B5EF4-FFF2-40B4-BE49-F238E27FC236}">
                    <a16:creationId xmlns:a16="http://schemas.microsoft.com/office/drawing/2014/main" id="{5C1A68E3-95DF-93CE-6547-D5B3E3355FC8}"/>
                  </a:ext>
                </a:extLst>
              </p:cNvPr>
              <p:cNvSpPr>
                <a:spLocks noChangeShapeType="1"/>
              </p:cNvSpPr>
              <p:nvPr/>
            </p:nvSpPr>
            <p:spPr bwMode="auto">
              <a:xfrm>
                <a:off x="4582" y="3317"/>
                <a:ext cx="23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0" name="Line 24">
                <a:extLst>
                  <a:ext uri="{FF2B5EF4-FFF2-40B4-BE49-F238E27FC236}">
                    <a16:creationId xmlns:a16="http://schemas.microsoft.com/office/drawing/2014/main" id="{75F25699-6B75-FE0E-03BE-6EE64CE3CDFC}"/>
                  </a:ext>
                </a:extLst>
              </p:cNvPr>
              <p:cNvSpPr>
                <a:spLocks noChangeShapeType="1"/>
              </p:cNvSpPr>
              <p:nvPr/>
            </p:nvSpPr>
            <p:spPr bwMode="auto">
              <a:xfrm>
                <a:off x="4820" y="2970"/>
                <a:ext cx="1" cy="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1" name="Rectangle 25">
                <a:extLst>
                  <a:ext uri="{FF2B5EF4-FFF2-40B4-BE49-F238E27FC236}">
                    <a16:creationId xmlns:a16="http://schemas.microsoft.com/office/drawing/2014/main" id="{8109687F-ABD3-1806-0624-5633F5322B9D}"/>
                  </a:ext>
                </a:extLst>
              </p:cNvPr>
              <p:cNvSpPr>
                <a:spLocks noChangeArrowheads="1"/>
              </p:cNvSpPr>
              <p:nvPr/>
            </p:nvSpPr>
            <p:spPr bwMode="auto">
              <a:xfrm>
                <a:off x="4661" y="3049"/>
                <a:ext cx="318" cy="19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22" name="Rectangle 26">
                <a:extLst>
                  <a:ext uri="{FF2B5EF4-FFF2-40B4-BE49-F238E27FC236}">
                    <a16:creationId xmlns:a16="http://schemas.microsoft.com/office/drawing/2014/main" id="{6FED87CB-B673-86BE-8370-6A3ACF66AE98}"/>
                  </a:ext>
                </a:extLst>
              </p:cNvPr>
              <p:cNvSpPr>
                <a:spLocks noChangeArrowheads="1"/>
              </p:cNvSpPr>
              <p:nvPr/>
            </p:nvSpPr>
            <p:spPr bwMode="auto">
              <a:xfrm>
                <a:off x="4661" y="3049"/>
                <a:ext cx="318" cy="199"/>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23" name="Rectangle 27">
                <a:extLst>
                  <a:ext uri="{FF2B5EF4-FFF2-40B4-BE49-F238E27FC236}">
                    <a16:creationId xmlns:a16="http://schemas.microsoft.com/office/drawing/2014/main" id="{8FD07700-1AC7-5DFA-63CB-5E48798EC216}"/>
                  </a:ext>
                </a:extLst>
              </p:cNvPr>
              <p:cNvSpPr>
                <a:spLocks noChangeArrowheads="1"/>
              </p:cNvSpPr>
              <p:nvPr/>
            </p:nvSpPr>
            <p:spPr bwMode="auto">
              <a:xfrm>
                <a:off x="4794" y="3097"/>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500">
                    <a:solidFill>
                      <a:srgbClr val="000000"/>
                    </a:solidFill>
                  </a:rPr>
                  <a:t>$</a:t>
                </a:r>
                <a:endParaRPr lang="en-US" altLang="en-US" sz="1800" b="1"/>
              </a:p>
            </p:txBody>
          </p:sp>
          <p:sp>
            <p:nvSpPr>
              <p:cNvPr id="13424" name="Rectangle 28">
                <a:extLst>
                  <a:ext uri="{FF2B5EF4-FFF2-40B4-BE49-F238E27FC236}">
                    <a16:creationId xmlns:a16="http://schemas.microsoft.com/office/drawing/2014/main" id="{1B56DF9C-CFD2-471B-8FAB-78E1E8B91B39}"/>
                  </a:ext>
                </a:extLst>
              </p:cNvPr>
              <p:cNvSpPr>
                <a:spLocks noChangeArrowheads="1"/>
              </p:cNvSpPr>
              <p:nvPr/>
            </p:nvSpPr>
            <p:spPr bwMode="auto">
              <a:xfrm>
                <a:off x="4264" y="3049"/>
                <a:ext cx="318" cy="3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25" name="Rectangle 29">
                <a:extLst>
                  <a:ext uri="{FF2B5EF4-FFF2-40B4-BE49-F238E27FC236}">
                    <a16:creationId xmlns:a16="http://schemas.microsoft.com/office/drawing/2014/main" id="{777C5178-8628-8960-E1AC-124BDD7E5824}"/>
                  </a:ext>
                </a:extLst>
              </p:cNvPr>
              <p:cNvSpPr>
                <a:spLocks noChangeArrowheads="1"/>
              </p:cNvSpPr>
              <p:nvPr/>
            </p:nvSpPr>
            <p:spPr bwMode="auto">
              <a:xfrm>
                <a:off x="4264" y="3049"/>
                <a:ext cx="318" cy="318"/>
              </a:xfrm>
              <a:prstGeom prst="rect">
                <a:avLst/>
              </a:prstGeom>
              <a:solidFill>
                <a:srgbClr val="0000FF"/>
              </a:solidFill>
              <a:ln w="7938">
                <a:solidFill>
                  <a:srgbClr val="000000"/>
                </a:solidFill>
                <a:miter lim="800000"/>
                <a:headEnd/>
                <a:tailEnd/>
              </a:ln>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3426" name="Rectangle 30">
                <a:extLst>
                  <a:ext uri="{FF2B5EF4-FFF2-40B4-BE49-F238E27FC236}">
                    <a16:creationId xmlns:a16="http://schemas.microsoft.com/office/drawing/2014/main" id="{2028AF6A-0C55-878B-1B80-FF91D32F563A}"/>
                  </a:ext>
                </a:extLst>
              </p:cNvPr>
              <p:cNvSpPr>
                <a:spLocks noChangeArrowheads="1"/>
              </p:cNvSpPr>
              <p:nvPr/>
            </p:nvSpPr>
            <p:spPr bwMode="auto">
              <a:xfrm>
                <a:off x="4778" y="2742"/>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500">
                    <a:solidFill>
                      <a:srgbClr val="000000"/>
                    </a:solidFill>
                  </a:rPr>
                  <a:t>P</a:t>
                </a:r>
                <a:endParaRPr lang="en-US" altLang="en-US" sz="1800" b="1"/>
              </a:p>
            </p:txBody>
          </p:sp>
          <p:sp>
            <p:nvSpPr>
              <p:cNvPr id="13427" name="Rectangle 31">
                <a:extLst>
                  <a:ext uri="{FF2B5EF4-FFF2-40B4-BE49-F238E27FC236}">
                    <a16:creationId xmlns:a16="http://schemas.microsoft.com/office/drawing/2014/main" id="{88F60F05-9C12-87A1-AE8D-CB3971CE81A2}"/>
                  </a:ext>
                </a:extLst>
              </p:cNvPr>
              <p:cNvSpPr>
                <a:spLocks noChangeArrowheads="1"/>
              </p:cNvSpPr>
              <p:nvPr/>
            </p:nvSpPr>
            <p:spPr bwMode="auto">
              <a:xfrm>
                <a:off x="4820" y="2779"/>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200">
                    <a:solidFill>
                      <a:srgbClr val="000000"/>
                    </a:solidFill>
                  </a:rPr>
                  <a:t>n</a:t>
                </a:r>
                <a:endParaRPr lang="en-US" altLang="en-US" sz="1800" b="1"/>
              </a:p>
            </p:txBody>
          </p:sp>
          <p:sp>
            <p:nvSpPr>
              <p:cNvPr id="13428" name="Rectangle 32">
                <a:extLst>
                  <a:ext uri="{FF2B5EF4-FFF2-40B4-BE49-F238E27FC236}">
                    <a16:creationId xmlns:a16="http://schemas.microsoft.com/office/drawing/2014/main" id="{9E6F7525-36EF-3417-A183-1DF889DE330D}"/>
                  </a:ext>
                </a:extLst>
              </p:cNvPr>
              <p:cNvSpPr>
                <a:spLocks noChangeArrowheads="1"/>
              </p:cNvSpPr>
              <p:nvPr/>
            </p:nvSpPr>
            <p:spPr bwMode="auto">
              <a:xfrm>
                <a:off x="2606" y="3145"/>
                <a:ext cx="2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500">
                    <a:solidFill>
                      <a:srgbClr val="000000"/>
                    </a:solidFill>
                  </a:rPr>
                  <a:t>Mem</a:t>
                </a:r>
                <a:endParaRPr lang="en-US" altLang="en-US" sz="1800" b="1"/>
              </a:p>
            </p:txBody>
          </p:sp>
          <p:sp>
            <p:nvSpPr>
              <p:cNvPr id="13429" name="Rectangle 33">
                <a:extLst>
                  <a:ext uri="{FF2B5EF4-FFF2-40B4-BE49-F238E27FC236}">
                    <a16:creationId xmlns:a16="http://schemas.microsoft.com/office/drawing/2014/main" id="{EEB3E58C-A5A2-2AF6-59B2-EAECA6B6DCE4}"/>
                  </a:ext>
                </a:extLst>
              </p:cNvPr>
              <p:cNvSpPr>
                <a:spLocks noChangeArrowheads="1"/>
              </p:cNvSpPr>
              <p:nvPr/>
            </p:nvSpPr>
            <p:spPr bwMode="auto">
              <a:xfrm>
                <a:off x="4284" y="3150"/>
                <a:ext cx="2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500">
                    <a:solidFill>
                      <a:srgbClr val="000000"/>
                    </a:solidFill>
                  </a:rPr>
                  <a:t>Mem</a:t>
                </a:r>
                <a:endParaRPr lang="en-US" altLang="en-US" sz="1800" b="1"/>
              </a:p>
            </p:txBody>
          </p:sp>
          <p:sp>
            <p:nvSpPr>
              <p:cNvPr id="13430" name="Freeform 34">
                <a:extLst>
                  <a:ext uri="{FF2B5EF4-FFF2-40B4-BE49-F238E27FC236}">
                    <a16:creationId xmlns:a16="http://schemas.microsoft.com/office/drawing/2014/main" id="{E786F7E0-99C0-ADE7-020E-7F7145D10DCD}"/>
                  </a:ext>
                </a:extLst>
              </p:cNvPr>
              <p:cNvSpPr>
                <a:spLocks/>
              </p:cNvSpPr>
              <p:nvPr/>
            </p:nvSpPr>
            <p:spPr bwMode="auto">
              <a:xfrm>
                <a:off x="3575" y="3161"/>
                <a:ext cx="45" cy="45"/>
              </a:xfrm>
              <a:custGeom>
                <a:avLst/>
                <a:gdLst>
                  <a:gd name="T0" fmla="*/ 42 w 45"/>
                  <a:gd name="T1" fmla="*/ 21 h 45"/>
                  <a:gd name="T2" fmla="*/ 42 w 45"/>
                  <a:gd name="T3" fmla="*/ 26 h 45"/>
                  <a:gd name="T4" fmla="*/ 42 w 45"/>
                  <a:gd name="T5" fmla="*/ 29 h 45"/>
                  <a:gd name="T6" fmla="*/ 42 w 45"/>
                  <a:gd name="T7" fmla="*/ 34 h 45"/>
                  <a:gd name="T8" fmla="*/ 39 w 45"/>
                  <a:gd name="T9" fmla="*/ 37 h 45"/>
                  <a:gd name="T10" fmla="*/ 37 w 45"/>
                  <a:gd name="T11" fmla="*/ 39 h 45"/>
                  <a:gd name="T12" fmla="*/ 34 w 45"/>
                  <a:gd name="T13" fmla="*/ 39 h 45"/>
                  <a:gd name="T14" fmla="*/ 31 w 45"/>
                  <a:gd name="T15" fmla="*/ 42 h 45"/>
                  <a:gd name="T16" fmla="*/ 29 w 45"/>
                  <a:gd name="T17" fmla="*/ 45 h 45"/>
                  <a:gd name="T18" fmla="*/ 26 w 45"/>
                  <a:gd name="T19" fmla="*/ 45 h 45"/>
                  <a:gd name="T20" fmla="*/ 21 w 45"/>
                  <a:gd name="T21" fmla="*/ 45 h 45"/>
                  <a:gd name="T22" fmla="*/ 18 w 45"/>
                  <a:gd name="T23" fmla="*/ 45 h 45"/>
                  <a:gd name="T24" fmla="*/ 13 w 45"/>
                  <a:gd name="T25" fmla="*/ 45 h 45"/>
                  <a:gd name="T26" fmla="*/ 10 w 45"/>
                  <a:gd name="T27" fmla="*/ 42 h 45"/>
                  <a:gd name="T28" fmla="*/ 8 w 45"/>
                  <a:gd name="T29" fmla="*/ 39 h 45"/>
                  <a:gd name="T30" fmla="*/ 5 w 45"/>
                  <a:gd name="T31" fmla="*/ 39 h 45"/>
                  <a:gd name="T32" fmla="*/ 2 w 45"/>
                  <a:gd name="T33" fmla="*/ 37 h 45"/>
                  <a:gd name="T34" fmla="*/ 2 w 45"/>
                  <a:gd name="T35" fmla="*/ 34 h 45"/>
                  <a:gd name="T36" fmla="*/ 0 w 45"/>
                  <a:gd name="T37" fmla="*/ 29 h 45"/>
                  <a:gd name="T38" fmla="*/ 0 w 45"/>
                  <a:gd name="T39" fmla="*/ 26 h 45"/>
                  <a:gd name="T40" fmla="*/ 0 w 45"/>
                  <a:gd name="T41" fmla="*/ 23 h 45"/>
                  <a:gd name="T42" fmla="*/ 0 w 45"/>
                  <a:gd name="T43" fmla="*/ 18 h 45"/>
                  <a:gd name="T44" fmla="*/ 0 w 45"/>
                  <a:gd name="T45" fmla="*/ 16 h 45"/>
                  <a:gd name="T46" fmla="*/ 2 w 45"/>
                  <a:gd name="T47" fmla="*/ 13 h 45"/>
                  <a:gd name="T48" fmla="*/ 2 w 45"/>
                  <a:gd name="T49" fmla="*/ 10 h 45"/>
                  <a:gd name="T50" fmla="*/ 5 w 45"/>
                  <a:gd name="T51" fmla="*/ 8 h 45"/>
                  <a:gd name="T52" fmla="*/ 8 w 45"/>
                  <a:gd name="T53" fmla="*/ 5 h 45"/>
                  <a:gd name="T54" fmla="*/ 10 w 45"/>
                  <a:gd name="T55" fmla="*/ 2 h 45"/>
                  <a:gd name="T56" fmla="*/ 13 w 45"/>
                  <a:gd name="T57" fmla="*/ 2 h 45"/>
                  <a:gd name="T58" fmla="*/ 18 w 45"/>
                  <a:gd name="T59" fmla="*/ 0 h 45"/>
                  <a:gd name="T60" fmla="*/ 21 w 45"/>
                  <a:gd name="T61" fmla="*/ 0 h 45"/>
                  <a:gd name="T62" fmla="*/ 26 w 45"/>
                  <a:gd name="T63" fmla="*/ 0 h 45"/>
                  <a:gd name="T64" fmla="*/ 29 w 45"/>
                  <a:gd name="T65" fmla="*/ 2 h 45"/>
                  <a:gd name="T66" fmla="*/ 31 w 45"/>
                  <a:gd name="T67" fmla="*/ 2 h 45"/>
                  <a:gd name="T68" fmla="*/ 34 w 45"/>
                  <a:gd name="T69" fmla="*/ 5 h 45"/>
                  <a:gd name="T70" fmla="*/ 37 w 45"/>
                  <a:gd name="T71" fmla="*/ 8 h 45"/>
                  <a:gd name="T72" fmla="*/ 39 w 45"/>
                  <a:gd name="T73" fmla="*/ 10 h 45"/>
                  <a:gd name="T74" fmla="*/ 42 w 45"/>
                  <a:gd name="T75" fmla="*/ 13 h 45"/>
                  <a:gd name="T76" fmla="*/ 42 w 45"/>
                  <a:gd name="T77" fmla="*/ 16 h 45"/>
                  <a:gd name="T78" fmla="*/ 42 w 45"/>
                  <a:gd name="T79" fmla="*/ 18 h 45"/>
                  <a:gd name="T80" fmla="*/ 45 w 45"/>
                  <a:gd name="T81" fmla="*/ 23 h 45"/>
                  <a:gd name="T82" fmla="*/ 42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26"/>
                    </a:lnTo>
                    <a:lnTo>
                      <a:pt x="42" y="29"/>
                    </a:lnTo>
                    <a:lnTo>
                      <a:pt x="42" y="34"/>
                    </a:lnTo>
                    <a:lnTo>
                      <a:pt x="39" y="37"/>
                    </a:lnTo>
                    <a:lnTo>
                      <a:pt x="37" y="39"/>
                    </a:lnTo>
                    <a:lnTo>
                      <a:pt x="34" y="39"/>
                    </a:lnTo>
                    <a:lnTo>
                      <a:pt x="31" y="42"/>
                    </a:lnTo>
                    <a:lnTo>
                      <a:pt x="29" y="45"/>
                    </a:lnTo>
                    <a:lnTo>
                      <a:pt x="26" y="45"/>
                    </a:lnTo>
                    <a:lnTo>
                      <a:pt x="21" y="45"/>
                    </a:lnTo>
                    <a:lnTo>
                      <a:pt x="18" y="45"/>
                    </a:lnTo>
                    <a:lnTo>
                      <a:pt x="13" y="45"/>
                    </a:lnTo>
                    <a:lnTo>
                      <a:pt x="10" y="42"/>
                    </a:lnTo>
                    <a:lnTo>
                      <a:pt x="8" y="39"/>
                    </a:lnTo>
                    <a:lnTo>
                      <a:pt x="5" y="39"/>
                    </a:lnTo>
                    <a:lnTo>
                      <a:pt x="2" y="37"/>
                    </a:lnTo>
                    <a:lnTo>
                      <a:pt x="2" y="34"/>
                    </a:lnTo>
                    <a:lnTo>
                      <a:pt x="0" y="29"/>
                    </a:lnTo>
                    <a:lnTo>
                      <a:pt x="0" y="26"/>
                    </a:lnTo>
                    <a:lnTo>
                      <a:pt x="0" y="23"/>
                    </a:lnTo>
                    <a:lnTo>
                      <a:pt x="0" y="18"/>
                    </a:lnTo>
                    <a:lnTo>
                      <a:pt x="0" y="16"/>
                    </a:lnTo>
                    <a:lnTo>
                      <a:pt x="2" y="13"/>
                    </a:lnTo>
                    <a:lnTo>
                      <a:pt x="2" y="10"/>
                    </a:lnTo>
                    <a:lnTo>
                      <a:pt x="5" y="8"/>
                    </a:lnTo>
                    <a:lnTo>
                      <a:pt x="8" y="5"/>
                    </a:lnTo>
                    <a:lnTo>
                      <a:pt x="10" y="2"/>
                    </a:lnTo>
                    <a:lnTo>
                      <a:pt x="13" y="2"/>
                    </a:lnTo>
                    <a:lnTo>
                      <a:pt x="18" y="0"/>
                    </a:lnTo>
                    <a:lnTo>
                      <a:pt x="21" y="0"/>
                    </a:lnTo>
                    <a:lnTo>
                      <a:pt x="26" y="0"/>
                    </a:lnTo>
                    <a:lnTo>
                      <a:pt x="29" y="2"/>
                    </a:lnTo>
                    <a:lnTo>
                      <a:pt x="31" y="2"/>
                    </a:lnTo>
                    <a:lnTo>
                      <a:pt x="34" y="5"/>
                    </a:lnTo>
                    <a:lnTo>
                      <a:pt x="37" y="8"/>
                    </a:lnTo>
                    <a:lnTo>
                      <a:pt x="39" y="10"/>
                    </a:lnTo>
                    <a:lnTo>
                      <a:pt x="42" y="13"/>
                    </a:lnTo>
                    <a:lnTo>
                      <a:pt x="42" y="16"/>
                    </a:lnTo>
                    <a:lnTo>
                      <a:pt x="42" y="18"/>
                    </a:lnTo>
                    <a:lnTo>
                      <a:pt x="45" y="23"/>
                    </a:lnTo>
                    <a:lnTo>
                      <a:pt x="4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31" name="Freeform 35">
                <a:extLst>
                  <a:ext uri="{FF2B5EF4-FFF2-40B4-BE49-F238E27FC236}">
                    <a16:creationId xmlns:a16="http://schemas.microsoft.com/office/drawing/2014/main" id="{048F86A3-B539-3C12-0E94-3B76F695C0E3}"/>
                  </a:ext>
                </a:extLst>
              </p:cNvPr>
              <p:cNvSpPr>
                <a:spLocks/>
              </p:cNvSpPr>
              <p:nvPr/>
            </p:nvSpPr>
            <p:spPr bwMode="auto">
              <a:xfrm>
                <a:off x="3575" y="3161"/>
                <a:ext cx="45" cy="45"/>
              </a:xfrm>
              <a:custGeom>
                <a:avLst/>
                <a:gdLst>
                  <a:gd name="T0" fmla="*/ 42 w 45"/>
                  <a:gd name="T1" fmla="*/ 21 h 45"/>
                  <a:gd name="T2" fmla="*/ 42 w 45"/>
                  <a:gd name="T3" fmla="*/ 18 h 45"/>
                  <a:gd name="T4" fmla="*/ 42 w 45"/>
                  <a:gd name="T5" fmla="*/ 16 h 45"/>
                  <a:gd name="T6" fmla="*/ 42 w 45"/>
                  <a:gd name="T7" fmla="*/ 13 h 45"/>
                  <a:gd name="T8" fmla="*/ 39 w 45"/>
                  <a:gd name="T9" fmla="*/ 10 h 45"/>
                  <a:gd name="T10" fmla="*/ 37 w 45"/>
                  <a:gd name="T11" fmla="*/ 8 h 45"/>
                  <a:gd name="T12" fmla="*/ 34 w 45"/>
                  <a:gd name="T13" fmla="*/ 5 h 45"/>
                  <a:gd name="T14" fmla="*/ 31 w 45"/>
                  <a:gd name="T15" fmla="*/ 2 h 45"/>
                  <a:gd name="T16" fmla="*/ 29 w 45"/>
                  <a:gd name="T17" fmla="*/ 2 h 45"/>
                  <a:gd name="T18" fmla="*/ 26 w 45"/>
                  <a:gd name="T19" fmla="*/ 0 h 45"/>
                  <a:gd name="T20" fmla="*/ 21 w 45"/>
                  <a:gd name="T21" fmla="*/ 0 h 45"/>
                  <a:gd name="T22" fmla="*/ 18 w 45"/>
                  <a:gd name="T23" fmla="*/ 0 h 45"/>
                  <a:gd name="T24" fmla="*/ 13 w 45"/>
                  <a:gd name="T25" fmla="*/ 2 h 45"/>
                  <a:gd name="T26" fmla="*/ 10 w 45"/>
                  <a:gd name="T27" fmla="*/ 2 h 45"/>
                  <a:gd name="T28" fmla="*/ 8 w 45"/>
                  <a:gd name="T29" fmla="*/ 5 h 45"/>
                  <a:gd name="T30" fmla="*/ 5 w 45"/>
                  <a:gd name="T31" fmla="*/ 8 h 45"/>
                  <a:gd name="T32" fmla="*/ 2 w 45"/>
                  <a:gd name="T33" fmla="*/ 10 h 45"/>
                  <a:gd name="T34" fmla="*/ 2 w 45"/>
                  <a:gd name="T35" fmla="*/ 13 h 45"/>
                  <a:gd name="T36" fmla="*/ 0 w 45"/>
                  <a:gd name="T37" fmla="*/ 16 h 45"/>
                  <a:gd name="T38" fmla="*/ 0 w 45"/>
                  <a:gd name="T39" fmla="*/ 18 h 45"/>
                  <a:gd name="T40" fmla="*/ 0 w 45"/>
                  <a:gd name="T41" fmla="*/ 23 h 45"/>
                  <a:gd name="T42" fmla="*/ 0 w 45"/>
                  <a:gd name="T43" fmla="*/ 26 h 45"/>
                  <a:gd name="T44" fmla="*/ 0 w 45"/>
                  <a:gd name="T45" fmla="*/ 29 h 45"/>
                  <a:gd name="T46" fmla="*/ 2 w 45"/>
                  <a:gd name="T47" fmla="*/ 34 h 45"/>
                  <a:gd name="T48" fmla="*/ 2 w 45"/>
                  <a:gd name="T49" fmla="*/ 37 h 45"/>
                  <a:gd name="T50" fmla="*/ 5 w 45"/>
                  <a:gd name="T51" fmla="*/ 39 h 45"/>
                  <a:gd name="T52" fmla="*/ 8 w 45"/>
                  <a:gd name="T53" fmla="*/ 39 h 45"/>
                  <a:gd name="T54" fmla="*/ 10 w 45"/>
                  <a:gd name="T55" fmla="*/ 42 h 45"/>
                  <a:gd name="T56" fmla="*/ 13 w 45"/>
                  <a:gd name="T57" fmla="*/ 45 h 45"/>
                  <a:gd name="T58" fmla="*/ 18 w 45"/>
                  <a:gd name="T59" fmla="*/ 45 h 45"/>
                  <a:gd name="T60" fmla="*/ 21 w 45"/>
                  <a:gd name="T61" fmla="*/ 45 h 45"/>
                  <a:gd name="T62" fmla="*/ 26 w 45"/>
                  <a:gd name="T63" fmla="*/ 45 h 45"/>
                  <a:gd name="T64" fmla="*/ 29 w 45"/>
                  <a:gd name="T65" fmla="*/ 45 h 45"/>
                  <a:gd name="T66" fmla="*/ 31 w 45"/>
                  <a:gd name="T67" fmla="*/ 42 h 45"/>
                  <a:gd name="T68" fmla="*/ 34 w 45"/>
                  <a:gd name="T69" fmla="*/ 39 h 45"/>
                  <a:gd name="T70" fmla="*/ 37 w 45"/>
                  <a:gd name="T71" fmla="*/ 39 h 45"/>
                  <a:gd name="T72" fmla="*/ 39 w 45"/>
                  <a:gd name="T73" fmla="*/ 37 h 45"/>
                  <a:gd name="T74" fmla="*/ 42 w 45"/>
                  <a:gd name="T75" fmla="*/ 34 h 45"/>
                  <a:gd name="T76" fmla="*/ 42 w 45"/>
                  <a:gd name="T77" fmla="*/ 29 h 45"/>
                  <a:gd name="T78" fmla="*/ 42 w 45"/>
                  <a:gd name="T79" fmla="*/ 26 h 45"/>
                  <a:gd name="T80" fmla="*/ 45 w 45"/>
                  <a:gd name="T81" fmla="*/ 23 h 45"/>
                  <a:gd name="T82" fmla="*/ 45 w 45"/>
                  <a:gd name="T83" fmla="*/ 23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18"/>
                    </a:lnTo>
                    <a:lnTo>
                      <a:pt x="42" y="16"/>
                    </a:lnTo>
                    <a:lnTo>
                      <a:pt x="42" y="13"/>
                    </a:lnTo>
                    <a:lnTo>
                      <a:pt x="39" y="10"/>
                    </a:lnTo>
                    <a:lnTo>
                      <a:pt x="37" y="8"/>
                    </a:lnTo>
                    <a:lnTo>
                      <a:pt x="34" y="5"/>
                    </a:lnTo>
                    <a:lnTo>
                      <a:pt x="31" y="2"/>
                    </a:lnTo>
                    <a:lnTo>
                      <a:pt x="29" y="2"/>
                    </a:lnTo>
                    <a:lnTo>
                      <a:pt x="26" y="0"/>
                    </a:lnTo>
                    <a:lnTo>
                      <a:pt x="21" y="0"/>
                    </a:lnTo>
                    <a:lnTo>
                      <a:pt x="18" y="0"/>
                    </a:lnTo>
                    <a:lnTo>
                      <a:pt x="13" y="2"/>
                    </a:lnTo>
                    <a:lnTo>
                      <a:pt x="10" y="2"/>
                    </a:lnTo>
                    <a:lnTo>
                      <a:pt x="8" y="5"/>
                    </a:lnTo>
                    <a:lnTo>
                      <a:pt x="5" y="8"/>
                    </a:lnTo>
                    <a:lnTo>
                      <a:pt x="2" y="10"/>
                    </a:lnTo>
                    <a:lnTo>
                      <a:pt x="2" y="13"/>
                    </a:lnTo>
                    <a:lnTo>
                      <a:pt x="0" y="16"/>
                    </a:lnTo>
                    <a:lnTo>
                      <a:pt x="0" y="18"/>
                    </a:lnTo>
                    <a:lnTo>
                      <a:pt x="0" y="23"/>
                    </a:lnTo>
                    <a:lnTo>
                      <a:pt x="0" y="26"/>
                    </a:lnTo>
                    <a:lnTo>
                      <a:pt x="0" y="29"/>
                    </a:lnTo>
                    <a:lnTo>
                      <a:pt x="2" y="34"/>
                    </a:lnTo>
                    <a:lnTo>
                      <a:pt x="2" y="37"/>
                    </a:lnTo>
                    <a:lnTo>
                      <a:pt x="5" y="39"/>
                    </a:lnTo>
                    <a:lnTo>
                      <a:pt x="8" y="39"/>
                    </a:lnTo>
                    <a:lnTo>
                      <a:pt x="10" y="42"/>
                    </a:lnTo>
                    <a:lnTo>
                      <a:pt x="13" y="45"/>
                    </a:lnTo>
                    <a:lnTo>
                      <a:pt x="18" y="45"/>
                    </a:lnTo>
                    <a:lnTo>
                      <a:pt x="21" y="45"/>
                    </a:lnTo>
                    <a:lnTo>
                      <a:pt x="26" y="45"/>
                    </a:lnTo>
                    <a:lnTo>
                      <a:pt x="29" y="45"/>
                    </a:lnTo>
                    <a:lnTo>
                      <a:pt x="31" y="42"/>
                    </a:lnTo>
                    <a:lnTo>
                      <a:pt x="34" y="39"/>
                    </a:lnTo>
                    <a:lnTo>
                      <a:pt x="37" y="39"/>
                    </a:lnTo>
                    <a:lnTo>
                      <a:pt x="39" y="37"/>
                    </a:lnTo>
                    <a:lnTo>
                      <a:pt x="42" y="34"/>
                    </a:lnTo>
                    <a:lnTo>
                      <a:pt x="42" y="29"/>
                    </a:lnTo>
                    <a:lnTo>
                      <a:pt x="42" y="26"/>
                    </a:lnTo>
                    <a:lnTo>
                      <a:pt x="45" y="23"/>
                    </a:lnTo>
                  </a:path>
                </a:pathLst>
              </a:custGeom>
              <a:noFill/>
              <a:ln w="333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32" name="Freeform 36">
                <a:extLst>
                  <a:ext uri="{FF2B5EF4-FFF2-40B4-BE49-F238E27FC236}">
                    <a16:creationId xmlns:a16="http://schemas.microsoft.com/office/drawing/2014/main" id="{41ED8F63-769F-7D5C-43F2-E564BB028B91}"/>
                  </a:ext>
                </a:extLst>
              </p:cNvPr>
              <p:cNvSpPr>
                <a:spLocks/>
              </p:cNvSpPr>
              <p:nvPr/>
            </p:nvSpPr>
            <p:spPr bwMode="auto">
              <a:xfrm>
                <a:off x="3757" y="3161"/>
                <a:ext cx="46" cy="45"/>
              </a:xfrm>
              <a:custGeom>
                <a:avLst/>
                <a:gdLst>
                  <a:gd name="T0" fmla="*/ 43 w 46"/>
                  <a:gd name="T1" fmla="*/ 21 h 45"/>
                  <a:gd name="T2" fmla="*/ 43 w 46"/>
                  <a:gd name="T3" fmla="*/ 26 h 45"/>
                  <a:gd name="T4" fmla="*/ 43 w 46"/>
                  <a:gd name="T5" fmla="*/ 29 h 45"/>
                  <a:gd name="T6" fmla="*/ 43 w 46"/>
                  <a:gd name="T7" fmla="*/ 34 h 45"/>
                  <a:gd name="T8" fmla="*/ 40 w 46"/>
                  <a:gd name="T9" fmla="*/ 37 h 45"/>
                  <a:gd name="T10" fmla="*/ 38 w 46"/>
                  <a:gd name="T11" fmla="*/ 39 h 45"/>
                  <a:gd name="T12" fmla="*/ 35 w 46"/>
                  <a:gd name="T13" fmla="*/ 39 h 45"/>
                  <a:gd name="T14" fmla="*/ 32 w 46"/>
                  <a:gd name="T15" fmla="*/ 42 h 45"/>
                  <a:gd name="T16" fmla="*/ 30 w 46"/>
                  <a:gd name="T17" fmla="*/ 45 h 45"/>
                  <a:gd name="T18" fmla="*/ 27 w 46"/>
                  <a:gd name="T19" fmla="*/ 45 h 45"/>
                  <a:gd name="T20" fmla="*/ 22 w 46"/>
                  <a:gd name="T21" fmla="*/ 45 h 45"/>
                  <a:gd name="T22" fmla="*/ 19 w 46"/>
                  <a:gd name="T23" fmla="*/ 45 h 45"/>
                  <a:gd name="T24" fmla="*/ 14 w 46"/>
                  <a:gd name="T25" fmla="*/ 45 h 45"/>
                  <a:gd name="T26" fmla="*/ 11 w 46"/>
                  <a:gd name="T27" fmla="*/ 42 h 45"/>
                  <a:gd name="T28" fmla="*/ 8 w 46"/>
                  <a:gd name="T29" fmla="*/ 39 h 45"/>
                  <a:gd name="T30" fmla="*/ 6 w 46"/>
                  <a:gd name="T31" fmla="*/ 39 h 45"/>
                  <a:gd name="T32" fmla="*/ 3 w 46"/>
                  <a:gd name="T33" fmla="*/ 37 h 45"/>
                  <a:gd name="T34" fmla="*/ 3 w 46"/>
                  <a:gd name="T35" fmla="*/ 34 h 45"/>
                  <a:gd name="T36" fmla="*/ 0 w 46"/>
                  <a:gd name="T37" fmla="*/ 29 h 45"/>
                  <a:gd name="T38" fmla="*/ 0 w 46"/>
                  <a:gd name="T39" fmla="*/ 26 h 45"/>
                  <a:gd name="T40" fmla="*/ 0 w 46"/>
                  <a:gd name="T41" fmla="*/ 23 h 45"/>
                  <a:gd name="T42" fmla="*/ 0 w 46"/>
                  <a:gd name="T43" fmla="*/ 18 h 45"/>
                  <a:gd name="T44" fmla="*/ 0 w 46"/>
                  <a:gd name="T45" fmla="*/ 16 h 45"/>
                  <a:gd name="T46" fmla="*/ 3 w 46"/>
                  <a:gd name="T47" fmla="*/ 13 h 45"/>
                  <a:gd name="T48" fmla="*/ 3 w 46"/>
                  <a:gd name="T49" fmla="*/ 10 h 45"/>
                  <a:gd name="T50" fmla="*/ 6 w 46"/>
                  <a:gd name="T51" fmla="*/ 8 h 45"/>
                  <a:gd name="T52" fmla="*/ 8 w 46"/>
                  <a:gd name="T53" fmla="*/ 5 h 45"/>
                  <a:gd name="T54" fmla="*/ 11 w 46"/>
                  <a:gd name="T55" fmla="*/ 2 h 45"/>
                  <a:gd name="T56" fmla="*/ 14 w 46"/>
                  <a:gd name="T57" fmla="*/ 2 h 45"/>
                  <a:gd name="T58" fmla="*/ 19 w 46"/>
                  <a:gd name="T59" fmla="*/ 0 h 45"/>
                  <a:gd name="T60" fmla="*/ 22 w 46"/>
                  <a:gd name="T61" fmla="*/ 0 h 45"/>
                  <a:gd name="T62" fmla="*/ 27 w 46"/>
                  <a:gd name="T63" fmla="*/ 0 h 45"/>
                  <a:gd name="T64" fmla="*/ 30 w 46"/>
                  <a:gd name="T65" fmla="*/ 2 h 45"/>
                  <a:gd name="T66" fmla="*/ 32 w 46"/>
                  <a:gd name="T67" fmla="*/ 2 h 45"/>
                  <a:gd name="T68" fmla="*/ 35 w 46"/>
                  <a:gd name="T69" fmla="*/ 5 h 45"/>
                  <a:gd name="T70" fmla="*/ 38 w 46"/>
                  <a:gd name="T71" fmla="*/ 8 h 45"/>
                  <a:gd name="T72" fmla="*/ 40 w 46"/>
                  <a:gd name="T73" fmla="*/ 10 h 45"/>
                  <a:gd name="T74" fmla="*/ 43 w 46"/>
                  <a:gd name="T75" fmla="*/ 13 h 45"/>
                  <a:gd name="T76" fmla="*/ 43 w 46"/>
                  <a:gd name="T77" fmla="*/ 16 h 45"/>
                  <a:gd name="T78" fmla="*/ 43 w 46"/>
                  <a:gd name="T79" fmla="*/ 18 h 45"/>
                  <a:gd name="T80" fmla="*/ 46 w 46"/>
                  <a:gd name="T81" fmla="*/ 23 h 45"/>
                  <a:gd name="T82" fmla="*/ 43 w 46"/>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
                  <a:gd name="T127" fmla="*/ 0 h 45"/>
                  <a:gd name="T128" fmla="*/ 46 w 46"/>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 h="45">
                    <a:moveTo>
                      <a:pt x="43" y="21"/>
                    </a:moveTo>
                    <a:lnTo>
                      <a:pt x="43" y="26"/>
                    </a:lnTo>
                    <a:lnTo>
                      <a:pt x="43" y="29"/>
                    </a:lnTo>
                    <a:lnTo>
                      <a:pt x="43" y="34"/>
                    </a:lnTo>
                    <a:lnTo>
                      <a:pt x="40" y="37"/>
                    </a:lnTo>
                    <a:lnTo>
                      <a:pt x="38" y="39"/>
                    </a:lnTo>
                    <a:lnTo>
                      <a:pt x="35" y="39"/>
                    </a:lnTo>
                    <a:lnTo>
                      <a:pt x="32" y="42"/>
                    </a:lnTo>
                    <a:lnTo>
                      <a:pt x="30" y="45"/>
                    </a:lnTo>
                    <a:lnTo>
                      <a:pt x="27" y="45"/>
                    </a:lnTo>
                    <a:lnTo>
                      <a:pt x="22" y="45"/>
                    </a:lnTo>
                    <a:lnTo>
                      <a:pt x="19" y="45"/>
                    </a:lnTo>
                    <a:lnTo>
                      <a:pt x="14" y="45"/>
                    </a:lnTo>
                    <a:lnTo>
                      <a:pt x="11" y="42"/>
                    </a:lnTo>
                    <a:lnTo>
                      <a:pt x="8" y="39"/>
                    </a:lnTo>
                    <a:lnTo>
                      <a:pt x="6" y="39"/>
                    </a:lnTo>
                    <a:lnTo>
                      <a:pt x="3" y="37"/>
                    </a:lnTo>
                    <a:lnTo>
                      <a:pt x="3" y="34"/>
                    </a:lnTo>
                    <a:lnTo>
                      <a:pt x="0" y="29"/>
                    </a:lnTo>
                    <a:lnTo>
                      <a:pt x="0" y="26"/>
                    </a:lnTo>
                    <a:lnTo>
                      <a:pt x="0" y="23"/>
                    </a:lnTo>
                    <a:lnTo>
                      <a:pt x="0" y="18"/>
                    </a:lnTo>
                    <a:lnTo>
                      <a:pt x="0" y="16"/>
                    </a:lnTo>
                    <a:lnTo>
                      <a:pt x="3" y="13"/>
                    </a:lnTo>
                    <a:lnTo>
                      <a:pt x="3" y="10"/>
                    </a:lnTo>
                    <a:lnTo>
                      <a:pt x="6" y="8"/>
                    </a:lnTo>
                    <a:lnTo>
                      <a:pt x="8" y="5"/>
                    </a:lnTo>
                    <a:lnTo>
                      <a:pt x="11" y="2"/>
                    </a:lnTo>
                    <a:lnTo>
                      <a:pt x="14" y="2"/>
                    </a:lnTo>
                    <a:lnTo>
                      <a:pt x="19" y="0"/>
                    </a:lnTo>
                    <a:lnTo>
                      <a:pt x="22" y="0"/>
                    </a:lnTo>
                    <a:lnTo>
                      <a:pt x="27" y="0"/>
                    </a:lnTo>
                    <a:lnTo>
                      <a:pt x="30" y="2"/>
                    </a:lnTo>
                    <a:lnTo>
                      <a:pt x="32" y="2"/>
                    </a:lnTo>
                    <a:lnTo>
                      <a:pt x="35" y="5"/>
                    </a:lnTo>
                    <a:lnTo>
                      <a:pt x="38" y="8"/>
                    </a:lnTo>
                    <a:lnTo>
                      <a:pt x="40" y="10"/>
                    </a:lnTo>
                    <a:lnTo>
                      <a:pt x="43" y="13"/>
                    </a:lnTo>
                    <a:lnTo>
                      <a:pt x="43" y="16"/>
                    </a:lnTo>
                    <a:lnTo>
                      <a:pt x="43" y="18"/>
                    </a:lnTo>
                    <a:lnTo>
                      <a:pt x="46" y="23"/>
                    </a:lnTo>
                    <a:lnTo>
                      <a:pt x="43"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33" name="Freeform 37">
                <a:extLst>
                  <a:ext uri="{FF2B5EF4-FFF2-40B4-BE49-F238E27FC236}">
                    <a16:creationId xmlns:a16="http://schemas.microsoft.com/office/drawing/2014/main" id="{66D6D276-5A04-CC38-1184-723618902E89}"/>
                  </a:ext>
                </a:extLst>
              </p:cNvPr>
              <p:cNvSpPr>
                <a:spLocks/>
              </p:cNvSpPr>
              <p:nvPr/>
            </p:nvSpPr>
            <p:spPr bwMode="auto">
              <a:xfrm>
                <a:off x="3757" y="3161"/>
                <a:ext cx="46" cy="45"/>
              </a:xfrm>
              <a:custGeom>
                <a:avLst/>
                <a:gdLst>
                  <a:gd name="T0" fmla="*/ 43 w 46"/>
                  <a:gd name="T1" fmla="*/ 21 h 45"/>
                  <a:gd name="T2" fmla="*/ 43 w 46"/>
                  <a:gd name="T3" fmla="*/ 18 h 45"/>
                  <a:gd name="T4" fmla="*/ 43 w 46"/>
                  <a:gd name="T5" fmla="*/ 16 h 45"/>
                  <a:gd name="T6" fmla="*/ 43 w 46"/>
                  <a:gd name="T7" fmla="*/ 13 h 45"/>
                  <a:gd name="T8" fmla="*/ 40 w 46"/>
                  <a:gd name="T9" fmla="*/ 10 h 45"/>
                  <a:gd name="T10" fmla="*/ 38 w 46"/>
                  <a:gd name="T11" fmla="*/ 8 h 45"/>
                  <a:gd name="T12" fmla="*/ 35 w 46"/>
                  <a:gd name="T13" fmla="*/ 5 h 45"/>
                  <a:gd name="T14" fmla="*/ 32 w 46"/>
                  <a:gd name="T15" fmla="*/ 2 h 45"/>
                  <a:gd name="T16" fmla="*/ 30 w 46"/>
                  <a:gd name="T17" fmla="*/ 2 h 45"/>
                  <a:gd name="T18" fmla="*/ 27 w 46"/>
                  <a:gd name="T19" fmla="*/ 0 h 45"/>
                  <a:gd name="T20" fmla="*/ 22 w 46"/>
                  <a:gd name="T21" fmla="*/ 0 h 45"/>
                  <a:gd name="T22" fmla="*/ 19 w 46"/>
                  <a:gd name="T23" fmla="*/ 0 h 45"/>
                  <a:gd name="T24" fmla="*/ 14 w 46"/>
                  <a:gd name="T25" fmla="*/ 2 h 45"/>
                  <a:gd name="T26" fmla="*/ 11 w 46"/>
                  <a:gd name="T27" fmla="*/ 2 h 45"/>
                  <a:gd name="T28" fmla="*/ 8 w 46"/>
                  <a:gd name="T29" fmla="*/ 5 h 45"/>
                  <a:gd name="T30" fmla="*/ 6 w 46"/>
                  <a:gd name="T31" fmla="*/ 8 h 45"/>
                  <a:gd name="T32" fmla="*/ 3 w 46"/>
                  <a:gd name="T33" fmla="*/ 10 h 45"/>
                  <a:gd name="T34" fmla="*/ 3 w 46"/>
                  <a:gd name="T35" fmla="*/ 13 h 45"/>
                  <a:gd name="T36" fmla="*/ 0 w 46"/>
                  <a:gd name="T37" fmla="*/ 16 h 45"/>
                  <a:gd name="T38" fmla="*/ 0 w 46"/>
                  <a:gd name="T39" fmla="*/ 18 h 45"/>
                  <a:gd name="T40" fmla="*/ 0 w 46"/>
                  <a:gd name="T41" fmla="*/ 23 h 45"/>
                  <a:gd name="T42" fmla="*/ 0 w 46"/>
                  <a:gd name="T43" fmla="*/ 26 h 45"/>
                  <a:gd name="T44" fmla="*/ 0 w 46"/>
                  <a:gd name="T45" fmla="*/ 29 h 45"/>
                  <a:gd name="T46" fmla="*/ 3 w 46"/>
                  <a:gd name="T47" fmla="*/ 34 h 45"/>
                  <a:gd name="T48" fmla="*/ 3 w 46"/>
                  <a:gd name="T49" fmla="*/ 37 h 45"/>
                  <a:gd name="T50" fmla="*/ 6 w 46"/>
                  <a:gd name="T51" fmla="*/ 39 h 45"/>
                  <a:gd name="T52" fmla="*/ 8 w 46"/>
                  <a:gd name="T53" fmla="*/ 39 h 45"/>
                  <a:gd name="T54" fmla="*/ 11 w 46"/>
                  <a:gd name="T55" fmla="*/ 42 h 45"/>
                  <a:gd name="T56" fmla="*/ 14 w 46"/>
                  <a:gd name="T57" fmla="*/ 45 h 45"/>
                  <a:gd name="T58" fmla="*/ 19 w 46"/>
                  <a:gd name="T59" fmla="*/ 45 h 45"/>
                  <a:gd name="T60" fmla="*/ 22 w 46"/>
                  <a:gd name="T61" fmla="*/ 45 h 45"/>
                  <a:gd name="T62" fmla="*/ 27 w 46"/>
                  <a:gd name="T63" fmla="*/ 45 h 45"/>
                  <a:gd name="T64" fmla="*/ 30 w 46"/>
                  <a:gd name="T65" fmla="*/ 45 h 45"/>
                  <a:gd name="T66" fmla="*/ 32 w 46"/>
                  <a:gd name="T67" fmla="*/ 42 h 45"/>
                  <a:gd name="T68" fmla="*/ 35 w 46"/>
                  <a:gd name="T69" fmla="*/ 39 h 45"/>
                  <a:gd name="T70" fmla="*/ 38 w 46"/>
                  <a:gd name="T71" fmla="*/ 39 h 45"/>
                  <a:gd name="T72" fmla="*/ 40 w 46"/>
                  <a:gd name="T73" fmla="*/ 37 h 45"/>
                  <a:gd name="T74" fmla="*/ 43 w 46"/>
                  <a:gd name="T75" fmla="*/ 34 h 45"/>
                  <a:gd name="T76" fmla="*/ 43 w 46"/>
                  <a:gd name="T77" fmla="*/ 29 h 45"/>
                  <a:gd name="T78" fmla="*/ 43 w 46"/>
                  <a:gd name="T79" fmla="*/ 26 h 45"/>
                  <a:gd name="T80" fmla="*/ 46 w 46"/>
                  <a:gd name="T81" fmla="*/ 23 h 45"/>
                  <a:gd name="T82" fmla="*/ 46 w 46"/>
                  <a:gd name="T83" fmla="*/ 23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
                  <a:gd name="T127" fmla="*/ 0 h 45"/>
                  <a:gd name="T128" fmla="*/ 46 w 46"/>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 h="45">
                    <a:moveTo>
                      <a:pt x="43" y="21"/>
                    </a:moveTo>
                    <a:lnTo>
                      <a:pt x="43" y="18"/>
                    </a:lnTo>
                    <a:lnTo>
                      <a:pt x="43" y="16"/>
                    </a:lnTo>
                    <a:lnTo>
                      <a:pt x="43" y="13"/>
                    </a:lnTo>
                    <a:lnTo>
                      <a:pt x="40" y="10"/>
                    </a:lnTo>
                    <a:lnTo>
                      <a:pt x="38" y="8"/>
                    </a:lnTo>
                    <a:lnTo>
                      <a:pt x="35" y="5"/>
                    </a:lnTo>
                    <a:lnTo>
                      <a:pt x="32" y="2"/>
                    </a:lnTo>
                    <a:lnTo>
                      <a:pt x="30" y="2"/>
                    </a:lnTo>
                    <a:lnTo>
                      <a:pt x="27" y="0"/>
                    </a:lnTo>
                    <a:lnTo>
                      <a:pt x="22" y="0"/>
                    </a:lnTo>
                    <a:lnTo>
                      <a:pt x="19" y="0"/>
                    </a:lnTo>
                    <a:lnTo>
                      <a:pt x="14" y="2"/>
                    </a:lnTo>
                    <a:lnTo>
                      <a:pt x="11" y="2"/>
                    </a:lnTo>
                    <a:lnTo>
                      <a:pt x="8" y="5"/>
                    </a:lnTo>
                    <a:lnTo>
                      <a:pt x="6" y="8"/>
                    </a:lnTo>
                    <a:lnTo>
                      <a:pt x="3" y="10"/>
                    </a:lnTo>
                    <a:lnTo>
                      <a:pt x="3" y="13"/>
                    </a:lnTo>
                    <a:lnTo>
                      <a:pt x="0" y="16"/>
                    </a:lnTo>
                    <a:lnTo>
                      <a:pt x="0" y="18"/>
                    </a:lnTo>
                    <a:lnTo>
                      <a:pt x="0" y="23"/>
                    </a:lnTo>
                    <a:lnTo>
                      <a:pt x="0" y="26"/>
                    </a:lnTo>
                    <a:lnTo>
                      <a:pt x="0" y="29"/>
                    </a:lnTo>
                    <a:lnTo>
                      <a:pt x="3" y="34"/>
                    </a:lnTo>
                    <a:lnTo>
                      <a:pt x="3" y="37"/>
                    </a:lnTo>
                    <a:lnTo>
                      <a:pt x="6" y="39"/>
                    </a:lnTo>
                    <a:lnTo>
                      <a:pt x="8" y="39"/>
                    </a:lnTo>
                    <a:lnTo>
                      <a:pt x="11" y="42"/>
                    </a:lnTo>
                    <a:lnTo>
                      <a:pt x="14" y="45"/>
                    </a:lnTo>
                    <a:lnTo>
                      <a:pt x="19" y="45"/>
                    </a:lnTo>
                    <a:lnTo>
                      <a:pt x="22" y="45"/>
                    </a:lnTo>
                    <a:lnTo>
                      <a:pt x="27" y="45"/>
                    </a:lnTo>
                    <a:lnTo>
                      <a:pt x="30" y="45"/>
                    </a:lnTo>
                    <a:lnTo>
                      <a:pt x="32" y="42"/>
                    </a:lnTo>
                    <a:lnTo>
                      <a:pt x="35" y="39"/>
                    </a:lnTo>
                    <a:lnTo>
                      <a:pt x="38" y="39"/>
                    </a:lnTo>
                    <a:lnTo>
                      <a:pt x="40" y="37"/>
                    </a:lnTo>
                    <a:lnTo>
                      <a:pt x="43" y="34"/>
                    </a:lnTo>
                    <a:lnTo>
                      <a:pt x="43" y="29"/>
                    </a:lnTo>
                    <a:lnTo>
                      <a:pt x="43" y="26"/>
                    </a:lnTo>
                    <a:lnTo>
                      <a:pt x="46" y="23"/>
                    </a:lnTo>
                  </a:path>
                </a:pathLst>
              </a:custGeom>
              <a:noFill/>
              <a:ln w="333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34" name="Freeform 38">
                <a:extLst>
                  <a:ext uri="{FF2B5EF4-FFF2-40B4-BE49-F238E27FC236}">
                    <a16:creationId xmlns:a16="http://schemas.microsoft.com/office/drawing/2014/main" id="{28F6564F-890D-03F8-5776-220FF6450243}"/>
                  </a:ext>
                </a:extLst>
              </p:cNvPr>
              <p:cNvSpPr>
                <a:spLocks/>
              </p:cNvSpPr>
              <p:nvPr/>
            </p:nvSpPr>
            <p:spPr bwMode="auto">
              <a:xfrm>
                <a:off x="3956" y="3161"/>
                <a:ext cx="45" cy="45"/>
              </a:xfrm>
              <a:custGeom>
                <a:avLst/>
                <a:gdLst>
                  <a:gd name="T0" fmla="*/ 43 w 45"/>
                  <a:gd name="T1" fmla="*/ 21 h 45"/>
                  <a:gd name="T2" fmla="*/ 43 w 45"/>
                  <a:gd name="T3" fmla="*/ 26 h 45"/>
                  <a:gd name="T4" fmla="*/ 43 w 45"/>
                  <a:gd name="T5" fmla="*/ 29 h 45"/>
                  <a:gd name="T6" fmla="*/ 43 w 45"/>
                  <a:gd name="T7" fmla="*/ 34 h 45"/>
                  <a:gd name="T8" fmla="*/ 40 w 45"/>
                  <a:gd name="T9" fmla="*/ 37 h 45"/>
                  <a:gd name="T10" fmla="*/ 37 w 45"/>
                  <a:gd name="T11" fmla="*/ 39 h 45"/>
                  <a:gd name="T12" fmla="*/ 35 w 45"/>
                  <a:gd name="T13" fmla="*/ 39 h 45"/>
                  <a:gd name="T14" fmla="*/ 32 w 45"/>
                  <a:gd name="T15" fmla="*/ 42 h 45"/>
                  <a:gd name="T16" fmla="*/ 29 w 45"/>
                  <a:gd name="T17" fmla="*/ 45 h 45"/>
                  <a:gd name="T18" fmla="*/ 27 w 45"/>
                  <a:gd name="T19" fmla="*/ 45 h 45"/>
                  <a:gd name="T20" fmla="*/ 21 w 45"/>
                  <a:gd name="T21" fmla="*/ 45 h 45"/>
                  <a:gd name="T22" fmla="*/ 19 w 45"/>
                  <a:gd name="T23" fmla="*/ 45 h 45"/>
                  <a:gd name="T24" fmla="*/ 14 w 45"/>
                  <a:gd name="T25" fmla="*/ 45 h 45"/>
                  <a:gd name="T26" fmla="*/ 11 w 45"/>
                  <a:gd name="T27" fmla="*/ 42 h 45"/>
                  <a:gd name="T28" fmla="*/ 8 w 45"/>
                  <a:gd name="T29" fmla="*/ 39 h 45"/>
                  <a:gd name="T30" fmla="*/ 6 w 45"/>
                  <a:gd name="T31" fmla="*/ 39 h 45"/>
                  <a:gd name="T32" fmla="*/ 3 w 45"/>
                  <a:gd name="T33" fmla="*/ 37 h 45"/>
                  <a:gd name="T34" fmla="*/ 3 w 45"/>
                  <a:gd name="T35" fmla="*/ 34 h 45"/>
                  <a:gd name="T36" fmla="*/ 0 w 45"/>
                  <a:gd name="T37" fmla="*/ 29 h 45"/>
                  <a:gd name="T38" fmla="*/ 0 w 45"/>
                  <a:gd name="T39" fmla="*/ 26 h 45"/>
                  <a:gd name="T40" fmla="*/ 0 w 45"/>
                  <a:gd name="T41" fmla="*/ 23 h 45"/>
                  <a:gd name="T42" fmla="*/ 0 w 45"/>
                  <a:gd name="T43" fmla="*/ 18 h 45"/>
                  <a:gd name="T44" fmla="*/ 0 w 45"/>
                  <a:gd name="T45" fmla="*/ 16 h 45"/>
                  <a:gd name="T46" fmla="*/ 3 w 45"/>
                  <a:gd name="T47" fmla="*/ 13 h 45"/>
                  <a:gd name="T48" fmla="*/ 3 w 45"/>
                  <a:gd name="T49" fmla="*/ 10 h 45"/>
                  <a:gd name="T50" fmla="*/ 6 w 45"/>
                  <a:gd name="T51" fmla="*/ 8 h 45"/>
                  <a:gd name="T52" fmla="*/ 8 w 45"/>
                  <a:gd name="T53" fmla="*/ 5 h 45"/>
                  <a:gd name="T54" fmla="*/ 11 w 45"/>
                  <a:gd name="T55" fmla="*/ 2 h 45"/>
                  <a:gd name="T56" fmla="*/ 14 w 45"/>
                  <a:gd name="T57" fmla="*/ 2 h 45"/>
                  <a:gd name="T58" fmla="*/ 19 w 45"/>
                  <a:gd name="T59" fmla="*/ 0 h 45"/>
                  <a:gd name="T60" fmla="*/ 21 w 45"/>
                  <a:gd name="T61" fmla="*/ 0 h 45"/>
                  <a:gd name="T62" fmla="*/ 27 w 45"/>
                  <a:gd name="T63" fmla="*/ 0 h 45"/>
                  <a:gd name="T64" fmla="*/ 29 w 45"/>
                  <a:gd name="T65" fmla="*/ 2 h 45"/>
                  <a:gd name="T66" fmla="*/ 32 w 45"/>
                  <a:gd name="T67" fmla="*/ 2 h 45"/>
                  <a:gd name="T68" fmla="*/ 35 w 45"/>
                  <a:gd name="T69" fmla="*/ 5 h 45"/>
                  <a:gd name="T70" fmla="*/ 37 w 45"/>
                  <a:gd name="T71" fmla="*/ 8 h 45"/>
                  <a:gd name="T72" fmla="*/ 40 w 45"/>
                  <a:gd name="T73" fmla="*/ 10 h 45"/>
                  <a:gd name="T74" fmla="*/ 43 w 45"/>
                  <a:gd name="T75" fmla="*/ 13 h 45"/>
                  <a:gd name="T76" fmla="*/ 43 w 45"/>
                  <a:gd name="T77" fmla="*/ 16 h 45"/>
                  <a:gd name="T78" fmla="*/ 43 w 45"/>
                  <a:gd name="T79" fmla="*/ 18 h 45"/>
                  <a:gd name="T80" fmla="*/ 45 w 45"/>
                  <a:gd name="T81" fmla="*/ 23 h 45"/>
                  <a:gd name="T82" fmla="*/ 43 w 45"/>
                  <a:gd name="T83" fmla="*/ 2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3" y="21"/>
                    </a:moveTo>
                    <a:lnTo>
                      <a:pt x="43" y="26"/>
                    </a:lnTo>
                    <a:lnTo>
                      <a:pt x="43" y="29"/>
                    </a:lnTo>
                    <a:lnTo>
                      <a:pt x="43" y="34"/>
                    </a:lnTo>
                    <a:lnTo>
                      <a:pt x="40" y="37"/>
                    </a:lnTo>
                    <a:lnTo>
                      <a:pt x="37" y="39"/>
                    </a:lnTo>
                    <a:lnTo>
                      <a:pt x="35" y="39"/>
                    </a:lnTo>
                    <a:lnTo>
                      <a:pt x="32" y="42"/>
                    </a:lnTo>
                    <a:lnTo>
                      <a:pt x="29" y="45"/>
                    </a:lnTo>
                    <a:lnTo>
                      <a:pt x="27" y="45"/>
                    </a:lnTo>
                    <a:lnTo>
                      <a:pt x="21" y="45"/>
                    </a:lnTo>
                    <a:lnTo>
                      <a:pt x="19" y="45"/>
                    </a:lnTo>
                    <a:lnTo>
                      <a:pt x="14" y="45"/>
                    </a:lnTo>
                    <a:lnTo>
                      <a:pt x="11" y="42"/>
                    </a:lnTo>
                    <a:lnTo>
                      <a:pt x="8" y="39"/>
                    </a:lnTo>
                    <a:lnTo>
                      <a:pt x="6" y="39"/>
                    </a:lnTo>
                    <a:lnTo>
                      <a:pt x="3" y="37"/>
                    </a:lnTo>
                    <a:lnTo>
                      <a:pt x="3" y="34"/>
                    </a:lnTo>
                    <a:lnTo>
                      <a:pt x="0" y="29"/>
                    </a:lnTo>
                    <a:lnTo>
                      <a:pt x="0" y="26"/>
                    </a:lnTo>
                    <a:lnTo>
                      <a:pt x="0" y="23"/>
                    </a:lnTo>
                    <a:lnTo>
                      <a:pt x="0" y="18"/>
                    </a:lnTo>
                    <a:lnTo>
                      <a:pt x="0" y="16"/>
                    </a:lnTo>
                    <a:lnTo>
                      <a:pt x="3" y="13"/>
                    </a:lnTo>
                    <a:lnTo>
                      <a:pt x="3" y="10"/>
                    </a:lnTo>
                    <a:lnTo>
                      <a:pt x="6" y="8"/>
                    </a:lnTo>
                    <a:lnTo>
                      <a:pt x="8" y="5"/>
                    </a:lnTo>
                    <a:lnTo>
                      <a:pt x="11" y="2"/>
                    </a:lnTo>
                    <a:lnTo>
                      <a:pt x="14" y="2"/>
                    </a:lnTo>
                    <a:lnTo>
                      <a:pt x="19" y="0"/>
                    </a:lnTo>
                    <a:lnTo>
                      <a:pt x="21" y="0"/>
                    </a:lnTo>
                    <a:lnTo>
                      <a:pt x="27" y="0"/>
                    </a:lnTo>
                    <a:lnTo>
                      <a:pt x="29" y="2"/>
                    </a:lnTo>
                    <a:lnTo>
                      <a:pt x="32" y="2"/>
                    </a:lnTo>
                    <a:lnTo>
                      <a:pt x="35" y="5"/>
                    </a:lnTo>
                    <a:lnTo>
                      <a:pt x="37" y="8"/>
                    </a:lnTo>
                    <a:lnTo>
                      <a:pt x="40" y="10"/>
                    </a:lnTo>
                    <a:lnTo>
                      <a:pt x="43" y="13"/>
                    </a:lnTo>
                    <a:lnTo>
                      <a:pt x="43" y="16"/>
                    </a:lnTo>
                    <a:lnTo>
                      <a:pt x="43" y="18"/>
                    </a:lnTo>
                    <a:lnTo>
                      <a:pt x="45" y="23"/>
                    </a:lnTo>
                    <a:lnTo>
                      <a:pt x="43"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35" name="Freeform 39">
                <a:extLst>
                  <a:ext uri="{FF2B5EF4-FFF2-40B4-BE49-F238E27FC236}">
                    <a16:creationId xmlns:a16="http://schemas.microsoft.com/office/drawing/2014/main" id="{5E05BCB8-9A2B-3959-40BA-DE4CDC7E2F25}"/>
                  </a:ext>
                </a:extLst>
              </p:cNvPr>
              <p:cNvSpPr>
                <a:spLocks/>
              </p:cNvSpPr>
              <p:nvPr/>
            </p:nvSpPr>
            <p:spPr bwMode="auto">
              <a:xfrm>
                <a:off x="3956" y="3161"/>
                <a:ext cx="45" cy="45"/>
              </a:xfrm>
              <a:custGeom>
                <a:avLst/>
                <a:gdLst>
                  <a:gd name="T0" fmla="*/ 43 w 45"/>
                  <a:gd name="T1" fmla="*/ 21 h 45"/>
                  <a:gd name="T2" fmla="*/ 43 w 45"/>
                  <a:gd name="T3" fmla="*/ 18 h 45"/>
                  <a:gd name="T4" fmla="*/ 43 w 45"/>
                  <a:gd name="T5" fmla="*/ 16 h 45"/>
                  <a:gd name="T6" fmla="*/ 43 w 45"/>
                  <a:gd name="T7" fmla="*/ 13 h 45"/>
                  <a:gd name="T8" fmla="*/ 40 w 45"/>
                  <a:gd name="T9" fmla="*/ 10 h 45"/>
                  <a:gd name="T10" fmla="*/ 37 w 45"/>
                  <a:gd name="T11" fmla="*/ 8 h 45"/>
                  <a:gd name="T12" fmla="*/ 35 w 45"/>
                  <a:gd name="T13" fmla="*/ 5 h 45"/>
                  <a:gd name="T14" fmla="*/ 32 w 45"/>
                  <a:gd name="T15" fmla="*/ 2 h 45"/>
                  <a:gd name="T16" fmla="*/ 29 w 45"/>
                  <a:gd name="T17" fmla="*/ 2 h 45"/>
                  <a:gd name="T18" fmla="*/ 27 w 45"/>
                  <a:gd name="T19" fmla="*/ 0 h 45"/>
                  <a:gd name="T20" fmla="*/ 21 w 45"/>
                  <a:gd name="T21" fmla="*/ 0 h 45"/>
                  <a:gd name="T22" fmla="*/ 19 w 45"/>
                  <a:gd name="T23" fmla="*/ 0 h 45"/>
                  <a:gd name="T24" fmla="*/ 14 w 45"/>
                  <a:gd name="T25" fmla="*/ 2 h 45"/>
                  <a:gd name="T26" fmla="*/ 11 w 45"/>
                  <a:gd name="T27" fmla="*/ 2 h 45"/>
                  <a:gd name="T28" fmla="*/ 8 w 45"/>
                  <a:gd name="T29" fmla="*/ 5 h 45"/>
                  <a:gd name="T30" fmla="*/ 6 w 45"/>
                  <a:gd name="T31" fmla="*/ 8 h 45"/>
                  <a:gd name="T32" fmla="*/ 3 w 45"/>
                  <a:gd name="T33" fmla="*/ 10 h 45"/>
                  <a:gd name="T34" fmla="*/ 3 w 45"/>
                  <a:gd name="T35" fmla="*/ 13 h 45"/>
                  <a:gd name="T36" fmla="*/ 0 w 45"/>
                  <a:gd name="T37" fmla="*/ 16 h 45"/>
                  <a:gd name="T38" fmla="*/ 0 w 45"/>
                  <a:gd name="T39" fmla="*/ 18 h 45"/>
                  <a:gd name="T40" fmla="*/ 0 w 45"/>
                  <a:gd name="T41" fmla="*/ 23 h 45"/>
                  <a:gd name="T42" fmla="*/ 0 w 45"/>
                  <a:gd name="T43" fmla="*/ 26 h 45"/>
                  <a:gd name="T44" fmla="*/ 0 w 45"/>
                  <a:gd name="T45" fmla="*/ 29 h 45"/>
                  <a:gd name="T46" fmla="*/ 3 w 45"/>
                  <a:gd name="T47" fmla="*/ 34 h 45"/>
                  <a:gd name="T48" fmla="*/ 3 w 45"/>
                  <a:gd name="T49" fmla="*/ 37 h 45"/>
                  <a:gd name="T50" fmla="*/ 6 w 45"/>
                  <a:gd name="T51" fmla="*/ 39 h 45"/>
                  <a:gd name="T52" fmla="*/ 8 w 45"/>
                  <a:gd name="T53" fmla="*/ 39 h 45"/>
                  <a:gd name="T54" fmla="*/ 11 w 45"/>
                  <a:gd name="T55" fmla="*/ 42 h 45"/>
                  <a:gd name="T56" fmla="*/ 14 w 45"/>
                  <a:gd name="T57" fmla="*/ 45 h 45"/>
                  <a:gd name="T58" fmla="*/ 19 w 45"/>
                  <a:gd name="T59" fmla="*/ 45 h 45"/>
                  <a:gd name="T60" fmla="*/ 21 w 45"/>
                  <a:gd name="T61" fmla="*/ 45 h 45"/>
                  <a:gd name="T62" fmla="*/ 27 w 45"/>
                  <a:gd name="T63" fmla="*/ 45 h 45"/>
                  <a:gd name="T64" fmla="*/ 29 w 45"/>
                  <a:gd name="T65" fmla="*/ 45 h 45"/>
                  <a:gd name="T66" fmla="*/ 32 w 45"/>
                  <a:gd name="T67" fmla="*/ 42 h 45"/>
                  <a:gd name="T68" fmla="*/ 35 w 45"/>
                  <a:gd name="T69" fmla="*/ 39 h 45"/>
                  <a:gd name="T70" fmla="*/ 37 w 45"/>
                  <a:gd name="T71" fmla="*/ 39 h 45"/>
                  <a:gd name="T72" fmla="*/ 40 w 45"/>
                  <a:gd name="T73" fmla="*/ 37 h 45"/>
                  <a:gd name="T74" fmla="*/ 43 w 45"/>
                  <a:gd name="T75" fmla="*/ 34 h 45"/>
                  <a:gd name="T76" fmla="*/ 43 w 45"/>
                  <a:gd name="T77" fmla="*/ 29 h 45"/>
                  <a:gd name="T78" fmla="*/ 43 w 45"/>
                  <a:gd name="T79" fmla="*/ 26 h 45"/>
                  <a:gd name="T80" fmla="*/ 45 w 45"/>
                  <a:gd name="T81" fmla="*/ 23 h 45"/>
                  <a:gd name="T82" fmla="*/ 45 w 45"/>
                  <a:gd name="T83" fmla="*/ 23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3" y="21"/>
                    </a:moveTo>
                    <a:lnTo>
                      <a:pt x="43" y="18"/>
                    </a:lnTo>
                    <a:lnTo>
                      <a:pt x="43" y="16"/>
                    </a:lnTo>
                    <a:lnTo>
                      <a:pt x="43" y="13"/>
                    </a:lnTo>
                    <a:lnTo>
                      <a:pt x="40" y="10"/>
                    </a:lnTo>
                    <a:lnTo>
                      <a:pt x="37" y="8"/>
                    </a:lnTo>
                    <a:lnTo>
                      <a:pt x="35" y="5"/>
                    </a:lnTo>
                    <a:lnTo>
                      <a:pt x="32" y="2"/>
                    </a:lnTo>
                    <a:lnTo>
                      <a:pt x="29" y="2"/>
                    </a:lnTo>
                    <a:lnTo>
                      <a:pt x="27" y="0"/>
                    </a:lnTo>
                    <a:lnTo>
                      <a:pt x="21" y="0"/>
                    </a:lnTo>
                    <a:lnTo>
                      <a:pt x="19" y="0"/>
                    </a:lnTo>
                    <a:lnTo>
                      <a:pt x="14" y="2"/>
                    </a:lnTo>
                    <a:lnTo>
                      <a:pt x="11" y="2"/>
                    </a:lnTo>
                    <a:lnTo>
                      <a:pt x="8" y="5"/>
                    </a:lnTo>
                    <a:lnTo>
                      <a:pt x="6" y="8"/>
                    </a:lnTo>
                    <a:lnTo>
                      <a:pt x="3" y="10"/>
                    </a:lnTo>
                    <a:lnTo>
                      <a:pt x="3" y="13"/>
                    </a:lnTo>
                    <a:lnTo>
                      <a:pt x="0" y="16"/>
                    </a:lnTo>
                    <a:lnTo>
                      <a:pt x="0" y="18"/>
                    </a:lnTo>
                    <a:lnTo>
                      <a:pt x="0" y="23"/>
                    </a:lnTo>
                    <a:lnTo>
                      <a:pt x="0" y="26"/>
                    </a:lnTo>
                    <a:lnTo>
                      <a:pt x="0" y="29"/>
                    </a:lnTo>
                    <a:lnTo>
                      <a:pt x="3" y="34"/>
                    </a:lnTo>
                    <a:lnTo>
                      <a:pt x="3" y="37"/>
                    </a:lnTo>
                    <a:lnTo>
                      <a:pt x="6" y="39"/>
                    </a:lnTo>
                    <a:lnTo>
                      <a:pt x="8" y="39"/>
                    </a:lnTo>
                    <a:lnTo>
                      <a:pt x="11" y="42"/>
                    </a:lnTo>
                    <a:lnTo>
                      <a:pt x="14" y="45"/>
                    </a:lnTo>
                    <a:lnTo>
                      <a:pt x="19" y="45"/>
                    </a:lnTo>
                    <a:lnTo>
                      <a:pt x="21" y="45"/>
                    </a:lnTo>
                    <a:lnTo>
                      <a:pt x="27" y="45"/>
                    </a:lnTo>
                    <a:lnTo>
                      <a:pt x="29" y="45"/>
                    </a:lnTo>
                    <a:lnTo>
                      <a:pt x="32" y="42"/>
                    </a:lnTo>
                    <a:lnTo>
                      <a:pt x="35" y="39"/>
                    </a:lnTo>
                    <a:lnTo>
                      <a:pt x="37" y="39"/>
                    </a:lnTo>
                    <a:lnTo>
                      <a:pt x="40" y="37"/>
                    </a:lnTo>
                    <a:lnTo>
                      <a:pt x="43" y="34"/>
                    </a:lnTo>
                    <a:lnTo>
                      <a:pt x="43" y="29"/>
                    </a:lnTo>
                    <a:lnTo>
                      <a:pt x="43" y="26"/>
                    </a:lnTo>
                    <a:lnTo>
                      <a:pt x="45" y="23"/>
                    </a:lnTo>
                  </a:path>
                </a:pathLst>
              </a:custGeom>
              <a:noFill/>
              <a:ln w="333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cxnSp>
        <p:nvCxnSpPr>
          <p:cNvPr id="13391" name="Straight Connector 133">
            <a:extLst>
              <a:ext uri="{FF2B5EF4-FFF2-40B4-BE49-F238E27FC236}">
                <a16:creationId xmlns:a16="http://schemas.microsoft.com/office/drawing/2014/main" id="{76D377FD-868F-0497-D6EF-150763366B19}"/>
              </a:ext>
            </a:extLst>
          </p:cNvPr>
          <p:cNvCxnSpPr>
            <a:cxnSpLocks noChangeShapeType="1"/>
          </p:cNvCxnSpPr>
          <p:nvPr/>
        </p:nvCxnSpPr>
        <p:spPr bwMode="auto">
          <a:xfrm>
            <a:off x="1385888" y="4572000"/>
            <a:ext cx="4460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3392" name="Straight Connector 138">
            <a:extLst>
              <a:ext uri="{FF2B5EF4-FFF2-40B4-BE49-F238E27FC236}">
                <a16:creationId xmlns:a16="http://schemas.microsoft.com/office/drawing/2014/main" id="{ED8DE8B1-9D53-1432-4308-E2F1FD04848F}"/>
              </a:ext>
            </a:extLst>
          </p:cNvPr>
          <p:cNvCxnSpPr>
            <a:cxnSpLocks noChangeShapeType="1"/>
          </p:cNvCxnSpPr>
          <p:nvPr/>
        </p:nvCxnSpPr>
        <p:spPr bwMode="auto">
          <a:xfrm>
            <a:off x="1381125" y="5410200"/>
            <a:ext cx="446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93" name="Rectangle 139">
            <a:extLst>
              <a:ext uri="{FF2B5EF4-FFF2-40B4-BE49-F238E27FC236}">
                <a16:creationId xmlns:a16="http://schemas.microsoft.com/office/drawing/2014/main" id="{6B157A70-90AC-403D-FBAF-5D3DDBB252F0}"/>
              </a:ext>
            </a:extLst>
          </p:cNvPr>
          <p:cNvSpPr>
            <a:spLocks noChangeArrowheads="1"/>
          </p:cNvSpPr>
          <p:nvPr/>
        </p:nvSpPr>
        <p:spPr bwMode="auto">
          <a:xfrm>
            <a:off x="3248025" y="4533900"/>
            <a:ext cx="152400" cy="471488"/>
          </a:xfrm>
          <a:prstGeom prst="rect">
            <a:avLst/>
          </a:prstGeom>
          <a:solidFill>
            <a:srgbClr val="0000FF"/>
          </a:solidFill>
          <a:ln w="9525">
            <a:solidFill>
              <a:schemeClr val="tx1"/>
            </a:solidFill>
            <a:round/>
            <a:headEnd/>
            <a:tailEnd/>
          </a:ln>
        </p:spPr>
        <p:txBody>
          <a:bodyPr lIns="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1200"/>
              <a:t>MEM</a:t>
            </a:r>
          </a:p>
        </p:txBody>
      </p:sp>
      <p:cxnSp>
        <p:nvCxnSpPr>
          <p:cNvPr id="13394" name="Straight Connector 142">
            <a:extLst>
              <a:ext uri="{FF2B5EF4-FFF2-40B4-BE49-F238E27FC236}">
                <a16:creationId xmlns:a16="http://schemas.microsoft.com/office/drawing/2014/main" id="{FDE2631F-9B00-3B38-BB3B-F9DCFD537BBD}"/>
              </a:ext>
            </a:extLst>
          </p:cNvPr>
          <p:cNvCxnSpPr>
            <a:cxnSpLocks noChangeShapeType="1"/>
          </p:cNvCxnSpPr>
          <p:nvPr/>
        </p:nvCxnSpPr>
        <p:spPr bwMode="auto">
          <a:xfrm>
            <a:off x="2841625" y="4986338"/>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95" name="Rectangle 143">
            <a:extLst>
              <a:ext uri="{FF2B5EF4-FFF2-40B4-BE49-F238E27FC236}">
                <a16:creationId xmlns:a16="http://schemas.microsoft.com/office/drawing/2014/main" id="{811A8203-E427-69A9-9063-2002E18F0469}"/>
              </a:ext>
            </a:extLst>
          </p:cNvPr>
          <p:cNvSpPr>
            <a:spLocks noChangeArrowheads="1"/>
          </p:cNvSpPr>
          <p:nvPr/>
        </p:nvSpPr>
        <p:spPr bwMode="auto">
          <a:xfrm>
            <a:off x="3248025" y="5391150"/>
            <a:ext cx="152400" cy="471488"/>
          </a:xfrm>
          <a:prstGeom prst="rect">
            <a:avLst/>
          </a:prstGeom>
          <a:solidFill>
            <a:srgbClr val="0000FF"/>
          </a:solidFill>
          <a:ln w="9525">
            <a:solidFill>
              <a:schemeClr val="tx1"/>
            </a:solidFill>
            <a:round/>
            <a:headEnd/>
            <a:tailEnd/>
          </a:ln>
        </p:spPr>
        <p:txBody>
          <a:bodyPr lIns="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1200"/>
              <a:t>MEM</a:t>
            </a:r>
          </a:p>
        </p:txBody>
      </p:sp>
      <p:cxnSp>
        <p:nvCxnSpPr>
          <p:cNvPr id="13396" name="Straight Connector 144">
            <a:extLst>
              <a:ext uri="{FF2B5EF4-FFF2-40B4-BE49-F238E27FC236}">
                <a16:creationId xmlns:a16="http://schemas.microsoft.com/office/drawing/2014/main" id="{1AAE1253-E76F-B34F-541E-C196403FDBF1}"/>
              </a:ext>
            </a:extLst>
          </p:cNvPr>
          <p:cNvCxnSpPr>
            <a:cxnSpLocks noChangeShapeType="1"/>
          </p:cNvCxnSpPr>
          <p:nvPr/>
        </p:nvCxnSpPr>
        <p:spPr bwMode="auto">
          <a:xfrm>
            <a:off x="2846388" y="5824538"/>
            <a:ext cx="409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397" name="Rectangle 130">
            <a:extLst>
              <a:ext uri="{FF2B5EF4-FFF2-40B4-BE49-F238E27FC236}">
                <a16:creationId xmlns:a16="http://schemas.microsoft.com/office/drawing/2014/main" id="{5161467C-3325-F9A1-3279-24BB634A81CA}"/>
              </a:ext>
            </a:extLst>
          </p:cNvPr>
          <p:cNvSpPr>
            <a:spLocks noChangeArrowheads="1"/>
          </p:cNvSpPr>
          <p:nvPr/>
        </p:nvSpPr>
        <p:spPr bwMode="auto">
          <a:xfrm>
            <a:off x="1300163" y="4200525"/>
            <a:ext cx="152400" cy="471488"/>
          </a:xfrm>
          <a:prstGeom prst="rect">
            <a:avLst/>
          </a:prstGeom>
          <a:solidFill>
            <a:srgbClr val="0000FF"/>
          </a:solidFill>
          <a:ln w="9525">
            <a:solidFill>
              <a:schemeClr val="tx1"/>
            </a:solidFill>
            <a:round/>
            <a:headEnd/>
            <a:tailEnd/>
          </a:ln>
        </p:spPr>
        <p:txBody>
          <a:bodyPr lIns="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1200"/>
              <a:t>MEM</a:t>
            </a:r>
          </a:p>
        </p:txBody>
      </p:sp>
      <p:sp>
        <p:nvSpPr>
          <p:cNvPr id="13398" name="Rectangle 137">
            <a:extLst>
              <a:ext uri="{FF2B5EF4-FFF2-40B4-BE49-F238E27FC236}">
                <a16:creationId xmlns:a16="http://schemas.microsoft.com/office/drawing/2014/main" id="{1EE26B51-D529-F05D-E967-522C17DE58CA}"/>
              </a:ext>
            </a:extLst>
          </p:cNvPr>
          <p:cNvSpPr>
            <a:spLocks noChangeArrowheads="1"/>
          </p:cNvSpPr>
          <p:nvPr/>
        </p:nvSpPr>
        <p:spPr bwMode="auto">
          <a:xfrm>
            <a:off x="1295400" y="4991100"/>
            <a:ext cx="152400" cy="471488"/>
          </a:xfrm>
          <a:prstGeom prst="rect">
            <a:avLst/>
          </a:prstGeom>
          <a:solidFill>
            <a:srgbClr val="0000FF"/>
          </a:solidFill>
          <a:ln w="9525">
            <a:solidFill>
              <a:schemeClr val="tx1"/>
            </a:solidFill>
            <a:round/>
            <a:headEnd/>
            <a:tailEnd/>
          </a:ln>
        </p:spPr>
        <p:txBody>
          <a:bodyPr lIns="0" r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lnSpc>
                <a:spcPct val="75000"/>
              </a:lnSpc>
            </a:pPr>
            <a:r>
              <a:rPr lang="en-CA" altLang="en-US" sz="1200"/>
              <a:t>MEM</a:t>
            </a:r>
          </a:p>
        </p:txBody>
      </p:sp>
      <p:sp>
        <p:nvSpPr>
          <p:cNvPr id="13399" name="TextBox 146">
            <a:extLst>
              <a:ext uri="{FF2B5EF4-FFF2-40B4-BE49-F238E27FC236}">
                <a16:creationId xmlns:a16="http://schemas.microsoft.com/office/drawing/2014/main" id="{56F3E0AF-9487-7B09-1ABA-1781A0865E67}"/>
              </a:ext>
            </a:extLst>
          </p:cNvPr>
          <p:cNvSpPr txBox="1">
            <a:spLocks noChangeArrowheads="1"/>
          </p:cNvSpPr>
          <p:nvPr/>
        </p:nvSpPr>
        <p:spPr bwMode="auto">
          <a:xfrm>
            <a:off x="863600" y="6027738"/>
            <a:ext cx="290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Multicore Processor with 2D mesh</a:t>
            </a:r>
          </a:p>
        </p:txBody>
      </p:sp>
      <p:sp>
        <p:nvSpPr>
          <p:cNvPr id="13400" name="TextBox 147">
            <a:extLst>
              <a:ext uri="{FF2B5EF4-FFF2-40B4-BE49-F238E27FC236}">
                <a16:creationId xmlns:a16="http://schemas.microsoft.com/office/drawing/2014/main" id="{4AB6D815-6CD2-0B0E-FE9B-9E6E8AD25270}"/>
              </a:ext>
            </a:extLst>
          </p:cNvPr>
          <p:cNvSpPr txBox="1">
            <a:spLocks noChangeArrowheads="1"/>
          </p:cNvSpPr>
          <p:nvPr/>
        </p:nvSpPr>
        <p:spPr bwMode="auto">
          <a:xfrm>
            <a:off x="4492625" y="6024563"/>
            <a:ext cx="3595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Distributed shared memory multiprocessor </a:t>
            </a:r>
          </a:p>
          <a:p>
            <a:r>
              <a:rPr lang="en-CA" altLang="en-US"/>
              <a:t>(interconnect might be 2D torus topology)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7BB0E60-6A2C-973C-BA0A-6017F1E2AEB4}"/>
              </a:ext>
            </a:extLst>
          </p:cNvPr>
          <p:cNvSpPr>
            <a:spLocks noGrp="1" noChangeArrowheads="1"/>
          </p:cNvSpPr>
          <p:nvPr>
            <p:ph type="title"/>
          </p:nvPr>
        </p:nvSpPr>
        <p:spPr>
          <a:xfrm>
            <a:off x="1177925" y="0"/>
            <a:ext cx="7019925" cy="660400"/>
          </a:xfrm>
          <a:noFill/>
        </p:spPr>
        <p:txBody>
          <a:bodyPr wrap="none" lIns="63500" tIns="25400" rIns="63500" bIns="25400" anchor="t">
            <a:spAutoFit/>
          </a:bodyPr>
          <a:lstStyle/>
          <a:p>
            <a:pPr eaLnBrk="1" hangingPunct="1"/>
            <a:r>
              <a:rPr lang="en-US" altLang="en-US"/>
              <a:t>Basic Operation of Directory</a:t>
            </a:r>
          </a:p>
        </p:txBody>
      </p:sp>
      <p:pic>
        <p:nvPicPr>
          <p:cNvPr id="14339" name="Picture 4">
            <a:extLst>
              <a:ext uri="{FF2B5EF4-FFF2-40B4-BE49-F238E27FC236}">
                <a16:creationId xmlns:a16="http://schemas.microsoft.com/office/drawing/2014/main" id="{5A84279D-3149-CFE1-53A2-C2C1FA907C3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25500"/>
            <a:ext cx="43307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4340" name="Rectangle 5">
            <a:extLst>
              <a:ext uri="{FF2B5EF4-FFF2-40B4-BE49-F238E27FC236}">
                <a16:creationId xmlns:a16="http://schemas.microsoft.com/office/drawing/2014/main" id="{AE1CD30E-9A65-60E9-B0C1-0753D66CED38}"/>
              </a:ext>
            </a:extLst>
          </p:cNvPr>
          <p:cNvSpPr>
            <a:spLocks noGrp="1" noChangeArrowheads="1"/>
          </p:cNvSpPr>
          <p:nvPr>
            <p:ph type="body" idx="1"/>
          </p:nvPr>
        </p:nvSpPr>
        <p:spPr>
          <a:xfrm>
            <a:off x="341313" y="3916363"/>
            <a:ext cx="8534400" cy="2206625"/>
          </a:xfrm>
          <a:noFill/>
        </p:spPr>
        <p:txBody>
          <a:bodyPr lIns="63500" tIns="25400" rIns="63500" bIns="25400">
            <a:spAutoFit/>
          </a:bodyPr>
          <a:lstStyle/>
          <a:p>
            <a:pPr marL="0" indent="0" eaLnBrk="1" hangingPunct="1">
              <a:spcBef>
                <a:spcPct val="0"/>
              </a:spcBef>
              <a:buFontTx/>
              <a:buNone/>
            </a:pPr>
            <a:r>
              <a:rPr lang="en-US" altLang="en-US" sz="2000"/>
              <a:t>Each block </a:t>
            </a:r>
            <a:r>
              <a:rPr lang="en-US" altLang="en-US" sz="2000" u="sng"/>
              <a:t>in memory</a:t>
            </a:r>
            <a:r>
              <a:rPr lang="en-US" altLang="en-US" sz="2000"/>
              <a:t> has a corresponding directory entry.</a:t>
            </a:r>
          </a:p>
          <a:p>
            <a:pPr marL="0" indent="0" eaLnBrk="1" hangingPunct="1">
              <a:spcBef>
                <a:spcPct val="0"/>
              </a:spcBef>
              <a:buFontTx/>
              <a:buNone/>
            </a:pPr>
            <a:endParaRPr lang="en-US" altLang="en-US" sz="2000"/>
          </a:p>
          <a:p>
            <a:pPr marL="0" indent="0" eaLnBrk="1" hangingPunct="1">
              <a:spcBef>
                <a:spcPct val="0"/>
              </a:spcBef>
              <a:buFontTx/>
              <a:buNone/>
            </a:pPr>
            <a:r>
              <a:rPr lang="en-US" altLang="en-US" sz="2000"/>
              <a:t>Directory entry contains “presence bits” and dirty bit.</a:t>
            </a:r>
          </a:p>
          <a:p>
            <a:pPr marL="0" indent="0" eaLnBrk="1" hangingPunct="1">
              <a:spcBef>
                <a:spcPct val="0"/>
              </a:spcBef>
              <a:buFontTx/>
              <a:buNone/>
            </a:pPr>
            <a:endParaRPr lang="en-US" altLang="en-US" sz="2000"/>
          </a:p>
          <a:p>
            <a:pPr marL="0" indent="0" eaLnBrk="1" hangingPunct="1">
              <a:spcBef>
                <a:spcPct val="0"/>
              </a:spcBef>
              <a:buFontTx/>
              <a:buNone/>
            </a:pPr>
            <a:r>
              <a:rPr lang="en-US" altLang="en-US" sz="2000"/>
              <a:t>If copy of block is in cache “i” then presence bit “i” is set to 1 (dot in figure).</a:t>
            </a:r>
          </a:p>
          <a:p>
            <a:pPr marL="0" indent="0" eaLnBrk="1" hangingPunct="1">
              <a:spcBef>
                <a:spcPct val="0"/>
              </a:spcBef>
              <a:buFontTx/>
              <a:buNone/>
            </a:pPr>
            <a:endParaRPr lang="en-US" altLang="en-US" sz="2000"/>
          </a:p>
          <a:p>
            <a:pPr marL="0" indent="0" eaLnBrk="1" hangingPunct="1">
              <a:spcBef>
                <a:spcPct val="0"/>
              </a:spcBef>
              <a:buFontTx/>
              <a:buNone/>
            </a:pPr>
            <a:r>
              <a:rPr lang="en-US" altLang="en-US" sz="2000"/>
              <a:t>Invalidate by sending messages to processors with presence bit set.</a:t>
            </a:r>
          </a:p>
        </p:txBody>
      </p:sp>
      <p:sp>
        <p:nvSpPr>
          <p:cNvPr id="14341" name="Slide Number Placeholder 8">
            <a:extLst>
              <a:ext uri="{FF2B5EF4-FFF2-40B4-BE49-F238E27FC236}">
                <a16:creationId xmlns:a16="http://schemas.microsoft.com/office/drawing/2014/main" id="{F4113C5B-908C-EFC4-8D54-9BC1793092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80A6CCF-9F9A-2F49-B35F-1C9663DD6067}" type="slidenum">
              <a:rPr lang="en-US" altLang="en-US"/>
              <a:pPr/>
              <a:t>13</a:t>
            </a:fld>
            <a:r>
              <a:rPr lang="en-US" altLang="en-US"/>
              <a:t> </a:t>
            </a:r>
          </a:p>
        </p:txBody>
      </p:sp>
      <p:sp>
        <p:nvSpPr>
          <p:cNvPr id="14342" name="TextBox 8">
            <a:extLst>
              <a:ext uri="{FF2B5EF4-FFF2-40B4-BE49-F238E27FC236}">
                <a16:creationId xmlns:a16="http://schemas.microsoft.com/office/drawing/2014/main" id="{137AFFA8-486B-22CD-B387-693B1443A02E}"/>
              </a:ext>
            </a:extLst>
          </p:cNvPr>
          <p:cNvSpPr txBox="1">
            <a:spLocks noChangeArrowheads="1"/>
          </p:cNvSpPr>
          <p:nvPr/>
        </p:nvSpPr>
        <p:spPr bwMode="auto">
          <a:xfrm>
            <a:off x="2660650" y="2598738"/>
            <a:ext cx="2063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sz="1000">
                <a:sym typeface="Wingdings 2" pitchFamily="2" charset="2"/>
              </a:rPr>
              <a:t></a:t>
            </a:r>
            <a:endParaRPr lang="en-CA" altLang="en-US" sz="1000"/>
          </a:p>
        </p:txBody>
      </p:sp>
      <p:sp>
        <p:nvSpPr>
          <p:cNvPr id="14343" name="TextBox 9">
            <a:extLst>
              <a:ext uri="{FF2B5EF4-FFF2-40B4-BE49-F238E27FC236}">
                <a16:creationId xmlns:a16="http://schemas.microsoft.com/office/drawing/2014/main" id="{A02EBF4E-0DC3-5269-FFFD-39E0CACA1367}"/>
              </a:ext>
            </a:extLst>
          </p:cNvPr>
          <p:cNvSpPr txBox="1">
            <a:spLocks noChangeArrowheads="1"/>
          </p:cNvSpPr>
          <p:nvPr/>
        </p:nvSpPr>
        <p:spPr bwMode="auto">
          <a:xfrm>
            <a:off x="2784475" y="2598738"/>
            <a:ext cx="2063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sz="1000">
                <a:sym typeface="Wingdings 2" pitchFamily="2" charset="2"/>
              </a:rPr>
              <a:t></a:t>
            </a:r>
            <a:endParaRPr lang="en-CA" altLang="en-US" sz="1000"/>
          </a:p>
        </p:txBody>
      </p:sp>
      <p:sp>
        <p:nvSpPr>
          <p:cNvPr id="14344" name="TextBox 10">
            <a:extLst>
              <a:ext uri="{FF2B5EF4-FFF2-40B4-BE49-F238E27FC236}">
                <a16:creationId xmlns:a16="http://schemas.microsoft.com/office/drawing/2014/main" id="{6ED702BE-9FB1-E5E3-BF44-1F9927C24612}"/>
              </a:ext>
            </a:extLst>
          </p:cNvPr>
          <p:cNvSpPr txBox="1">
            <a:spLocks noChangeArrowheads="1"/>
          </p:cNvSpPr>
          <p:nvPr/>
        </p:nvSpPr>
        <p:spPr bwMode="auto">
          <a:xfrm>
            <a:off x="3122613" y="2598738"/>
            <a:ext cx="2063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sz="1000">
                <a:sym typeface="Wingdings 2" pitchFamily="2" charset="2"/>
              </a:rPr>
              <a:t></a:t>
            </a:r>
            <a:endParaRPr lang="en-CA" altLang="en-US" sz="100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BF29A32-C6E6-C724-DF58-B4137DF0335E}"/>
              </a:ext>
            </a:extLst>
          </p:cNvPr>
          <p:cNvSpPr>
            <a:spLocks noGrp="1" noChangeArrowheads="1"/>
          </p:cNvSpPr>
          <p:nvPr>
            <p:ph type="title"/>
          </p:nvPr>
        </p:nvSpPr>
        <p:spPr>
          <a:noFill/>
        </p:spPr>
        <p:txBody>
          <a:bodyPr lIns="90487" tIns="44450" rIns="90487" bIns="44450"/>
          <a:lstStyle/>
          <a:p>
            <a:pPr eaLnBrk="1" hangingPunct="1"/>
            <a:r>
              <a:rPr lang="en-US" altLang="en-US"/>
              <a:t>Directory Protocol</a:t>
            </a:r>
          </a:p>
        </p:txBody>
      </p:sp>
      <p:sp>
        <p:nvSpPr>
          <p:cNvPr id="15363" name="Rectangle 3">
            <a:extLst>
              <a:ext uri="{FF2B5EF4-FFF2-40B4-BE49-F238E27FC236}">
                <a16:creationId xmlns:a16="http://schemas.microsoft.com/office/drawing/2014/main" id="{B60B0250-E2A6-D4AA-2B98-ED3D23337EDA}"/>
              </a:ext>
            </a:extLst>
          </p:cNvPr>
          <p:cNvSpPr>
            <a:spLocks noGrp="1" noChangeArrowheads="1"/>
          </p:cNvSpPr>
          <p:nvPr>
            <p:ph type="body" idx="1"/>
          </p:nvPr>
        </p:nvSpPr>
        <p:spPr>
          <a:xfrm>
            <a:off x="398463" y="1231900"/>
            <a:ext cx="7772400" cy="4724400"/>
          </a:xfrm>
          <a:noFill/>
        </p:spPr>
        <p:txBody>
          <a:bodyPr lIns="90487" tIns="44450" rIns="90487" bIns="44450"/>
          <a:lstStyle/>
          <a:p>
            <a:pPr eaLnBrk="1" hangingPunct="1">
              <a:lnSpc>
                <a:spcPct val="90000"/>
              </a:lnSpc>
            </a:pPr>
            <a:r>
              <a:rPr lang="en-US" altLang="en-US" sz="2400"/>
              <a:t>Terminology: three processors involved</a:t>
            </a:r>
          </a:p>
          <a:p>
            <a:pPr lvl="1" eaLnBrk="1" hangingPunct="1">
              <a:lnSpc>
                <a:spcPct val="90000"/>
              </a:lnSpc>
            </a:pPr>
            <a:r>
              <a:rPr lang="en-US" altLang="en-US" sz="2000">
                <a:solidFill>
                  <a:srgbClr val="0000FF"/>
                </a:solidFill>
              </a:rPr>
              <a:t>Local node </a:t>
            </a:r>
            <a:r>
              <a:rPr lang="en-US" altLang="en-US" sz="2000"/>
              <a:t>where a request originates</a:t>
            </a:r>
          </a:p>
          <a:p>
            <a:pPr lvl="1" eaLnBrk="1" hangingPunct="1">
              <a:lnSpc>
                <a:spcPct val="90000"/>
              </a:lnSpc>
            </a:pPr>
            <a:r>
              <a:rPr lang="en-US" altLang="en-US" sz="2000">
                <a:solidFill>
                  <a:srgbClr val="0000FF"/>
                </a:solidFill>
              </a:rPr>
              <a:t>Home node </a:t>
            </a:r>
            <a:r>
              <a:rPr lang="en-US" altLang="en-US" sz="2000"/>
              <a:t>where the memory location </a:t>
            </a:r>
            <a:br>
              <a:rPr lang="en-US" altLang="en-US" sz="2000"/>
            </a:br>
            <a:r>
              <a:rPr lang="en-US" altLang="en-US" sz="2000"/>
              <a:t>of an address resides</a:t>
            </a:r>
          </a:p>
          <a:p>
            <a:pPr lvl="1" eaLnBrk="1" hangingPunct="1">
              <a:lnSpc>
                <a:spcPct val="90000"/>
              </a:lnSpc>
            </a:pPr>
            <a:r>
              <a:rPr lang="en-US" altLang="en-US" sz="2000">
                <a:solidFill>
                  <a:srgbClr val="0000FF"/>
                </a:solidFill>
              </a:rPr>
              <a:t>Remote node </a:t>
            </a:r>
            <a:r>
              <a:rPr lang="en-US" altLang="en-US" sz="2000"/>
              <a:t>has a copy of a cache </a:t>
            </a:r>
            <a:br>
              <a:rPr lang="en-US" altLang="en-US" sz="2000"/>
            </a:br>
            <a:r>
              <a:rPr lang="en-US" altLang="en-US" sz="2000"/>
              <a:t>block, whether modified or shared</a:t>
            </a:r>
          </a:p>
          <a:p>
            <a:pPr eaLnBrk="1" hangingPunct="1">
              <a:lnSpc>
                <a:spcPct val="90000"/>
              </a:lnSpc>
            </a:pPr>
            <a:r>
              <a:rPr lang="en-US" altLang="en-US" sz="2400"/>
              <a:t>Example messages on next slide: </a:t>
            </a:r>
            <a:br>
              <a:rPr lang="en-US" altLang="en-US" sz="2400"/>
            </a:br>
            <a:r>
              <a:rPr lang="en-US" altLang="en-US" sz="2400"/>
              <a:t>P = processor number, A = address</a:t>
            </a:r>
          </a:p>
        </p:txBody>
      </p:sp>
      <p:grpSp>
        <p:nvGrpSpPr>
          <p:cNvPr id="15364" name="Group 69">
            <a:extLst>
              <a:ext uri="{FF2B5EF4-FFF2-40B4-BE49-F238E27FC236}">
                <a16:creationId xmlns:a16="http://schemas.microsoft.com/office/drawing/2014/main" id="{25D48996-D941-687C-0AAD-387074BA5C3F}"/>
              </a:ext>
            </a:extLst>
          </p:cNvPr>
          <p:cNvGrpSpPr>
            <a:grpSpLocks/>
          </p:cNvGrpSpPr>
          <p:nvPr/>
        </p:nvGrpSpPr>
        <p:grpSpPr bwMode="auto">
          <a:xfrm>
            <a:off x="5942013" y="3378200"/>
            <a:ext cx="2979737" cy="1352550"/>
            <a:chOff x="3743" y="2128"/>
            <a:chExt cx="1877" cy="852"/>
          </a:xfrm>
        </p:grpSpPr>
        <p:sp>
          <p:nvSpPr>
            <p:cNvPr id="15370" name="Freeform 5">
              <a:extLst>
                <a:ext uri="{FF2B5EF4-FFF2-40B4-BE49-F238E27FC236}">
                  <a16:creationId xmlns:a16="http://schemas.microsoft.com/office/drawing/2014/main" id="{89B85685-29EA-2240-D37C-CFB0478A8D4E}"/>
                </a:ext>
              </a:extLst>
            </p:cNvPr>
            <p:cNvSpPr>
              <a:spLocks noChangeAspect="1"/>
            </p:cNvSpPr>
            <p:nvPr/>
          </p:nvSpPr>
          <p:spPr bwMode="auto">
            <a:xfrm>
              <a:off x="3856" y="2203"/>
              <a:ext cx="212" cy="211"/>
            </a:xfrm>
            <a:custGeom>
              <a:avLst/>
              <a:gdLst>
                <a:gd name="T0" fmla="*/ 1 w 319"/>
                <a:gd name="T1" fmla="*/ 1 h 318"/>
                <a:gd name="T2" fmla="*/ 1 w 319"/>
                <a:gd name="T3" fmla="*/ 1 h 318"/>
                <a:gd name="T4" fmla="*/ 1 w 319"/>
                <a:gd name="T5" fmla="*/ 1 h 318"/>
                <a:gd name="T6" fmla="*/ 1 w 319"/>
                <a:gd name="T7" fmla="*/ 1 h 318"/>
                <a:gd name="T8" fmla="*/ 1 w 319"/>
                <a:gd name="T9" fmla="*/ 1 h 318"/>
                <a:gd name="T10" fmla="*/ 1 w 319"/>
                <a:gd name="T11" fmla="*/ 1 h 318"/>
                <a:gd name="T12" fmla="*/ 1 w 319"/>
                <a:gd name="T13" fmla="*/ 1 h 318"/>
                <a:gd name="T14" fmla="*/ 1 w 319"/>
                <a:gd name="T15" fmla="*/ 1 h 318"/>
                <a:gd name="T16" fmla="*/ 1 w 319"/>
                <a:gd name="T17" fmla="*/ 1 h 318"/>
                <a:gd name="T18" fmla="*/ 1 w 319"/>
                <a:gd name="T19" fmla="*/ 1 h 318"/>
                <a:gd name="T20" fmla="*/ 1 w 319"/>
                <a:gd name="T21" fmla="*/ 1 h 318"/>
                <a:gd name="T22" fmla="*/ 1 w 319"/>
                <a:gd name="T23" fmla="*/ 1 h 318"/>
                <a:gd name="T24" fmla="*/ 1 w 319"/>
                <a:gd name="T25" fmla="*/ 1 h 318"/>
                <a:gd name="T26" fmla="*/ 1 w 319"/>
                <a:gd name="T27" fmla="*/ 1 h 318"/>
                <a:gd name="T28" fmla="*/ 1 w 319"/>
                <a:gd name="T29" fmla="*/ 1 h 318"/>
                <a:gd name="T30" fmla="*/ 1 w 319"/>
                <a:gd name="T31" fmla="*/ 1 h 318"/>
                <a:gd name="T32" fmla="*/ 1 w 319"/>
                <a:gd name="T33" fmla="*/ 1 h 318"/>
                <a:gd name="T34" fmla="*/ 1 w 319"/>
                <a:gd name="T35" fmla="*/ 1 h 318"/>
                <a:gd name="T36" fmla="*/ 1 w 319"/>
                <a:gd name="T37" fmla="*/ 1 h 318"/>
                <a:gd name="T38" fmla="*/ 1 w 319"/>
                <a:gd name="T39" fmla="*/ 1 h 318"/>
                <a:gd name="T40" fmla="*/ 0 w 319"/>
                <a:gd name="T41" fmla="*/ 1 h 318"/>
                <a:gd name="T42" fmla="*/ 1 w 319"/>
                <a:gd name="T43" fmla="*/ 1 h 318"/>
                <a:gd name="T44" fmla="*/ 1 w 319"/>
                <a:gd name="T45" fmla="*/ 1 h 318"/>
                <a:gd name="T46" fmla="*/ 1 w 319"/>
                <a:gd name="T47" fmla="*/ 1 h 318"/>
                <a:gd name="T48" fmla="*/ 1 w 319"/>
                <a:gd name="T49" fmla="*/ 1 h 318"/>
                <a:gd name="T50" fmla="*/ 1 w 319"/>
                <a:gd name="T51" fmla="*/ 1 h 318"/>
                <a:gd name="T52" fmla="*/ 1 w 319"/>
                <a:gd name="T53" fmla="*/ 1 h 318"/>
                <a:gd name="T54" fmla="*/ 1 w 319"/>
                <a:gd name="T55" fmla="*/ 1 h 318"/>
                <a:gd name="T56" fmla="*/ 1 w 319"/>
                <a:gd name="T57" fmla="*/ 1 h 318"/>
                <a:gd name="T58" fmla="*/ 1 w 319"/>
                <a:gd name="T59" fmla="*/ 1 h 318"/>
                <a:gd name="T60" fmla="*/ 1 w 319"/>
                <a:gd name="T61" fmla="*/ 0 h 318"/>
                <a:gd name="T62" fmla="*/ 1 w 319"/>
                <a:gd name="T63" fmla="*/ 1 h 318"/>
                <a:gd name="T64" fmla="*/ 1 w 319"/>
                <a:gd name="T65" fmla="*/ 1 h 318"/>
                <a:gd name="T66" fmla="*/ 1 w 319"/>
                <a:gd name="T67" fmla="*/ 1 h 318"/>
                <a:gd name="T68" fmla="*/ 1 w 319"/>
                <a:gd name="T69" fmla="*/ 1 h 318"/>
                <a:gd name="T70" fmla="*/ 1 w 319"/>
                <a:gd name="T71" fmla="*/ 1 h 318"/>
                <a:gd name="T72" fmla="*/ 1 w 319"/>
                <a:gd name="T73" fmla="*/ 1 h 318"/>
                <a:gd name="T74" fmla="*/ 1 w 319"/>
                <a:gd name="T75" fmla="*/ 1 h 318"/>
                <a:gd name="T76" fmla="*/ 1 w 319"/>
                <a:gd name="T77" fmla="*/ 1 h 318"/>
                <a:gd name="T78" fmla="*/ 1 w 319"/>
                <a:gd name="T79" fmla="*/ 1 h 318"/>
                <a:gd name="T80" fmla="*/ 1 w 319"/>
                <a:gd name="T81" fmla="*/ 1 h 318"/>
                <a:gd name="T82" fmla="*/ 1 w 319"/>
                <a:gd name="T83" fmla="*/ 1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9" y="157"/>
                  </a:moveTo>
                  <a:lnTo>
                    <a:pt x="316" y="186"/>
                  </a:lnTo>
                  <a:lnTo>
                    <a:pt x="311" y="210"/>
                  </a:lnTo>
                  <a:lnTo>
                    <a:pt x="300" y="231"/>
                  </a:lnTo>
                  <a:lnTo>
                    <a:pt x="289" y="252"/>
                  </a:lnTo>
                  <a:lnTo>
                    <a:pt x="273" y="271"/>
                  </a:lnTo>
                  <a:lnTo>
                    <a:pt x="255" y="287"/>
                  </a:lnTo>
                  <a:lnTo>
                    <a:pt x="234" y="300"/>
                  </a:lnTo>
                  <a:lnTo>
                    <a:pt x="210" y="310"/>
                  </a:lnTo>
                  <a:lnTo>
                    <a:pt x="186" y="316"/>
                  </a:lnTo>
                  <a:lnTo>
                    <a:pt x="159" y="318"/>
                  </a:lnTo>
                  <a:lnTo>
                    <a:pt x="133" y="316"/>
                  </a:lnTo>
                  <a:lnTo>
                    <a:pt x="109" y="310"/>
                  </a:lnTo>
                  <a:lnTo>
                    <a:pt x="88" y="300"/>
                  </a:lnTo>
                  <a:lnTo>
                    <a:pt x="67" y="287"/>
                  </a:lnTo>
                  <a:lnTo>
                    <a:pt x="48" y="271"/>
                  </a:lnTo>
                  <a:lnTo>
                    <a:pt x="32" y="252"/>
                  </a:lnTo>
                  <a:lnTo>
                    <a:pt x="19" y="231"/>
                  </a:lnTo>
                  <a:lnTo>
                    <a:pt x="8" y="210"/>
                  </a:lnTo>
                  <a:lnTo>
                    <a:pt x="3" y="186"/>
                  </a:lnTo>
                  <a:lnTo>
                    <a:pt x="0" y="159"/>
                  </a:lnTo>
                  <a:lnTo>
                    <a:pt x="3" y="133"/>
                  </a:lnTo>
                  <a:lnTo>
                    <a:pt x="8" y="109"/>
                  </a:lnTo>
                  <a:lnTo>
                    <a:pt x="19" y="85"/>
                  </a:lnTo>
                  <a:lnTo>
                    <a:pt x="32" y="64"/>
                  </a:lnTo>
                  <a:lnTo>
                    <a:pt x="48" y="45"/>
                  </a:lnTo>
                  <a:lnTo>
                    <a:pt x="67" y="29"/>
                  </a:lnTo>
                  <a:lnTo>
                    <a:pt x="88" y="19"/>
                  </a:lnTo>
                  <a:lnTo>
                    <a:pt x="109" y="8"/>
                  </a:lnTo>
                  <a:lnTo>
                    <a:pt x="133" y="3"/>
                  </a:lnTo>
                  <a:lnTo>
                    <a:pt x="159" y="0"/>
                  </a:lnTo>
                  <a:lnTo>
                    <a:pt x="186" y="3"/>
                  </a:lnTo>
                  <a:lnTo>
                    <a:pt x="210" y="8"/>
                  </a:lnTo>
                  <a:lnTo>
                    <a:pt x="234" y="19"/>
                  </a:lnTo>
                  <a:lnTo>
                    <a:pt x="255" y="29"/>
                  </a:lnTo>
                  <a:lnTo>
                    <a:pt x="273" y="45"/>
                  </a:lnTo>
                  <a:lnTo>
                    <a:pt x="289" y="64"/>
                  </a:lnTo>
                  <a:lnTo>
                    <a:pt x="300" y="85"/>
                  </a:lnTo>
                  <a:lnTo>
                    <a:pt x="311" y="109"/>
                  </a:lnTo>
                  <a:lnTo>
                    <a:pt x="316" y="133"/>
                  </a:lnTo>
                  <a:lnTo>
                    <a:pt x="319" y="159"/>
                  </a:lnTo>
                  <a:lnTo>
                    <a:pt x="319" y="15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1" name="Freeform 6">
              <a:extLst>
                <a:ext uri="{FF2B5EF4-FFF2-40B4-BE49-F238E27FC236}">
                  <a16:creationId xmlns:a16="http://schemas.microsoft.com/office/drawing/2014/main" id="{5530AA0B-2DB9-0DB3-91C2-9E73EE1C1EC4}"/>
                </a:ext>
              </a:extLst>
            </p:cNvPr>
            <p:cNvSpPr>
              <a:spLocks noChangeAspect="1"/>
            </p:cNvSpPr>
            <p:nvPr/>
          </p:nvSpPr>
          <p:spPr bwMode="auto">
            <a:xfrm>
              <a:off x="4138" y="2289"/>
              <a:ext cx="212" cy="212"/>
            </a:xfrm>
            <a:custGeom>
              <a:avLst/>
              <a:gdLst>
                <a:gd name="T0" fmla="*/ 1 w 319"/>
                <a:gd name="T1" fmla="*/ 1 h 318"/>
                <a:gd name="T2" fmla="*/ 1 w 319"/>
                <a:gd name="T3" fmla="*/ 1 h 318"/>
                <a:gd name="T4" fmla="*/ 1 w 319"/>
                <a:gd name="T5" fmla="*/ 1 h 318"/>
                <a:gd name="T6" fmla="*/ 1 w 319"/>
                <a:gd name="T7" fmla="*/ 1 h 318"/>
                <a:gd name="T8" fmla="*/ 1 w 319"/>
                <a:gd name="T9" fmla="*/ 1 h 318"/>
                <a:gd name="T10" fmla="*/ 1 w 319"/>
                <a:gd name="T11" fmla="*/ 1 h 318"/>
                <a:gd name="T12" fmla="*/ 1 w 319"/>
                <a:gd name="T13" fmla="*/ 1 h 318"/>
                <a:gd name="T14" fmla="*/ 1 w 319"/>
                <a:gd name="T15" fmla="*/ 1 h 318"/>
                <a:gd name="T16" fmla="*/ 1 w 319"/>
                <a:gd name="T17" fmla="*/ 1 h 318"/>
                <a:gd name="T18" fmla="*/ 1 w 319"/>
                <a:gd name="T19" fmla="*/ 1 h 318"/>
                <a:gd name="T20" fmla="*/ 1 w 319"/>
                <a:gd name="T21" fmla="*/ 0 h 318"/>
                <a:gd name="T22" fmla="*/ 1 w 319"/>
                <a:gd name="T23" fmla="*/ 1 h 318"/>
                <a:gd name="T24" fmla="*/ 1 w 319"/>
                <a:gd name="T25" fmla="*/ 1 h 318"/>
                <a:gd name="T26" fmla="*/ 1 w 319"/>
                <a:gd name="T27" fmla="*/ 1 h 318"/>
                <a:gd name="T28" fmla="*/ 1 w 319"/>
                <a:gd name="T29" fmla="*/ 1 h 318"/>
                <a:gd name="T30" fmla="*/ 1 w 319"/>
                <a:gd name="T31" fmla="*/ 1 h 318"/>
                <a:gd name="T32" fmla="*/ 1 w 319"/>
                <a:gd name="T33" fmla="*/ 1 h 318"/>
                <a:gd name="T34" fmla="*/ 1 w 319"/>
                <a:gd name="T35" fmla="*/ 1 h 318"/>
                <a:gd name="T36" fmla="*/ 1 w 319"/>
                <a:gd name="T37" fmla="*/ 1 h 318"/>
                <a:gd name="T38" fmla="*/ 1 w 319"/>
                <a:gd name="T39" fmla="*/ 1 h 318"/>
                <a:gd name="T40" fmla="*/ 0 w 319"/>
                <a:gd name="T41" fmla="*/ 1 h 318"/>
                <a:gd name="T42" fmla="*/ 1 w 319"/>
                <a:gd name="T43" fmla="*/ 1 h 318"/>
                <a:gd name="T44" fmla="*/ 1 w 319"/>
                <a:gd name="T45" fmla="*/ 1 h 318"/>
                <a:gd name="T46" fmla="*/ 1 w 319"/>
                <a:gd name="T47" fmla="*/ 1 h 318"/>
                <a:gd name="T48" fmla="*/ 1 w 319"/>
                <a:gd name="T49" fmla="*/ 1 h 318"/>
                <a:gd name="T50" fmla="*/ 1 w 319"/>
                <a:gd name="T51" fmla="*/ 1 h 318"/>
                <a:gd name="T52" fmla="*/ 1 w 319"/>
                <a:gd name="T53" fmla="*/ 1 h 318"/>
                <a:gd name="T54" fmla="*/ 1 w 319"/>
                <a:gd name="T55" fmla="*/ 1 h 318"/>
                <a:gd name="T56" fmla="*/ 1 w 319"/>
                <a:gd name="T57" fmla="*/ 1 h 318"/>
                <a:gd name="T58" fmla="*/ 1 w 319"/>
                <a:gd name="T59" fmla="*/ 1 h 318"/>
                <a:gd name="T60" fmla="*/ 1 w 319"/>
                <a:gd name="T61" fmla="*/ 1 h 318"/>
                <a:gd name="T62" fmla="*/ 1 w 319"/>
                <a:gd name="T63" fmla="*/ 1 h 318"/>
                <a:gd name="T64" fmla="*/ 1 w 319"/>
                <a:gd name="T65" fmla="*/ 1 h 318"/>
                <a:gd name="T66" fmla="*/ 1 w 319"/>
                <a:gd name="T67" fmla="*/ 1 h 318"/>
                <a:gd name="T68" fmla="*/ 1 w 319"/>
                <a:gd name="T69" fmla="*/ 1 h 318"/>
                <a:gd name="T70" fmla="*/ 1 w 319"/>
                <a:gd name="T71" fmla="*/ 1 h 318"/>
                <a:gd name="T72" fmla="*/ 1 w 319"/>
                <a:gd name="T73" fmla="*/ 1 h 318"/>
                <a:gd name="T74" fmla="*/ 1 w 319"/>
                <a:gd name="T75" fmla="*/ 1 h 318"/>
                <a:gd name="T76" fmla="*/ 1 w 319"/>
                <a:gd name="T77" fmla="*/ 1 h 318"/>
                <a:gd name="T78" fmla="*/ 1 w 319"/>
                <a:gd name="T79" fmla="*/ 1 h 318"/>
                <a:gd name="T80" fmla="*/ 1 w 319"/>
                <a:gd name="T81" fmla="*/ 1 h 318"/>
                <a:gd name="T82" fmla="*/ 1 w 319"/>
                <a:gd name="T83" fmla="*/ 1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9" y="157"/>
                  </a:moveTo>
                  <a:lnTo>
                    <a:pt x="316" y="133"/>
                  </a:lnTo>
                  <a:lnTo>
                    <a:pt x="311" y="109"/>
                  </a:lnTo>
                  <a:lnTo>
                    <a:pt x="300" y="85"/>
                  </a:lnTo>
                  <a:lnTo>
                    <a:pt x="289" y="64"/>
                  </a:lnTo>
                  <a:lnTo>
                    <a:pt x="273" y="45"/>
                  </a:lnTo>
                  <a:lnTo>
                    <a:pt x="255" y="29"/>
                  </a:lnTo>
                  <a:lnTo>
                    <a:pt x="234" y="19"/>
                  </a:lnTo>
                  <a:lnTo>
                    <a:pt x="210" y="8"/>
                  </a:lnTo>
                  <a:lnTo>
                    <a:pt x="186" y="3"/>
                  </a:lnTo>
                  <a:lnTo>
                    <a:pt x="159" y="0"/>
                  </a:lnTo>
                  <a:lnTo>
                    <a:pt x="133" y="3"/>
                  </a:lnTo>
                  <a:lnTo>
                    <a:pt x="109" y="8"/>
                  </a:lnTo>
                  <a:lnTo>
                    <a:pt x="88" y="19"/>
                  </a:lnTo>
                  <a:lnTo>
                    <a:pt x="67" y="29"/>
                  </a:lnTo>
                  <a:lnTo>
                    <a:pt x="48" y="45"/>
                  </a:lnTo>
                  <a:lnTo>
                    <a:pt x="32" y="64"/>
                  </a:lnTo>
                  <a:lnTo>
                    <a:pt x="19" y="85"/>
                  </a:lnTo>
                  <a:lnTo>
                    <a:pt x="8" y="109"/>
                  </a:lnTo>
                  <a:lnTo>
                    <a:pt x="3" y="133"/>
                  </a:lnTo>
                  <a:lnTo>
                    <a:pt x="0" y="159"/>
                  </a:lnTo>
                  <a:lnTo>
                    <a:pt x="3" y="186"/>
                  </a:lnTo>
                  <a:lnTo>
                    <a:pt x="8" y="210"/>
                  </a:lnTo>
                  <a:lnTo>
                    <a:pt x="19" y="231"/>
                  </a:lnTo>
                  <a:lnTo>
                    <a:pt x="32" y="252"/>
                  </a:lnTo>
                  <a:lnTo>
                    <a:pt x="48" y="271"/>
                  </a:lnTo>
                  <a:lnTo>
                    <a:pt x="67" y="287"/>
                  </a:lnTo>
                  <a:lnTo>
                    <a:pt x="88" y="300"/>
                  </a:lnTo>
                  <a:lnTo>
                    <a:pt x="109" y="310"/>
                  </a:lnTo>
                  <a:lnTo>
                    <a:pt x="133" y="316"/>
                  </a:lnTo>
                  <a:lnTo>
                    <a:pt x="159" y="318"/>
                  </a:lnTo>
                  <a:lnTo>
                    <a:pt x="186" y="316"/>
                  </a:lnTo>
                  <a:lnTo>
                    <a:pt x="210" y="310"/>
                  </a:lnTo>
                  <a:lnTo>
                    <a:pt x="234" y="300"/>
                  </a:lnTo>
                  <a:lnTo>
                    <a:pt x="255" y="287"/>
                  </a:lnTo>
                  <a:lnTo>
                    <a:pt x="273" y="271"/>
                  </a:lnTo>
                  <a:lnTo>
                    <a:pt x="289" y="252"/>
                  </a:lnTo>
                  <a:lnTo>
                    <a:pt x="300" y="231"/>
                  </a:lnTo>
                  <a:lnTo>
                    <a:pt x="311" y="210"/>
                  </a:lnTo>
                  <a:lnTo>
                    <a:pt x="316" y="186"/>
                  </a:lnTo>
                  <a:lnTo>
                    <a:pt x="319" y="15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2" name="Freeform 7">
              <a:extLst>
                <a:ext uri="{FF2B5EF4-FFF2-40B4-BE49-F238E27FC236}">
                  <a16:creationId xmlns:a16="http://schemas.microsoft.com/office/drawing/2014/main" id="{1FA50C5E-C7B8-EA14-DAC6-57DFFF1D862B}"/>
                </a:ext>
              </a:extLst>
            </p:cNvPr>
            <p:cNvSpPr>
              <a:spLocks noChangeAspect="1"/>
            </p:cNvSpPr>
            <p:nvPr/>
          </p:nvSpPr>
          <p:spPr bwMode="auto">
            <a:xfrm>
              <a:off x="5409" y="2295"/>
              <a:ext cx="211" cy="212"/>
            </a:xfrm>
            <a:custGeom>
              <a:avLst/>
              <a:gdLst>
                <a:gd name="T0" fmla="*/ 1 w 318"/>
                <a:gd name="T1" fmla="*/ 1 h 318"/>
                <a:gd name="T2" fmla="*/ 1 w 318"/>
                <a:gd name="T3" fmla="*/ 1 h 318"/>
                <a:gd name="T4" fmla="*/ 1 w 318"/>
                <a:gd name="T5" fmla="*/ 1 h 318"/>
                <a:gd name="T6" fmla="*/ 1 w 318"/>
                <a:gd name="T7" fmla="*/ 1 h 318"/>
                <a:gd name="T8" fmla="*/ 1 w 318"/>
                <a:gd name="T9" fmla="*/ 1 h 318"/>
                <a:gd name="T10" fmla="*/ 1 w 318"/>
                <a:gd name="T11" fmla="*/ 1 h 318"/>
                <a:gd name="T12" fmla="*/ 1 w 318"/>
                <a:gd name="T13" fmla="*/ 1 h 318"/>
                <a:gd name="T14" fmla="*/ 1 w 318"/>
                <a:gd name="T15" fmla="*/ 1 h 318"/>
                <a:gd name="T16" fmla="*/ 1 w 318"/>
                <a:gd name="T17" fmla="*/ 1 h 318"/>
                <a:gd name="T18" fmla="*/ 1 w 318"/>
                <a:gd name="T19" fmla="*/ 1 h 318"/>
                <a:gd name="T20" fmla="*/ 1 w 318"/>
                <a:gd name="T21" fmla="*/ 0 h 318"/>
                <a:gd name="T22" fmla="*/ 1 w 318"/>
                <a:gd name="T23" fmla="*/ 1 h 318"/>
                <a:gd name="T24" fmla="*/ 1 w 318"/>
                <a:gd name="T25" fmla="*/ 1 h 318"/>
                <a:gd name="T26" fmla="*/ 1 w 318"/>
                <a:gd name="T27" fmla="*/ 1 h 318"/>
                <a:gd name="T28" fmla="*/ 1 w 318"/>
                <a:gd name="T29" fmla="*/ 1 h 318"/>
                <a:gd name="T30" fmla="*/ 1 w 318"/>
                <a:gd name="T31" fmla="*/ 1 h 318"/>
                <a:gd name="T32" fmla="*/ 1 w 318"/>
                <a:gd name="T33" fmla="*/ 1 h 318"/>
                <a:gd name="T34" fmla="*/ 1 w 318"/>
                <a:gd name="T35" fmla="*/ 1 h 318"/>
                <a:gd name="T36" fmla="*/ 1 w 318"/>
                <a:gd name="T37" fmla="*/ 1 h 318"/>
                <a:gd name="T38" fmla="*/ 1 w 318"/>
                <a:gd name="T39" fmla="*/ 1 h 318"/>
                <a:gd name="T40" fmla="*/ 0 w 318"/>
                <a:gd name="T41" fmla="*/ 1 h 318"/>
                <a:gd name="T42" fmla="*/ 1 w 318"/>
                <a:gd name="T43" fmla="*/ 1 h 318"/>
                <a:gd name="T44" fmla="*/ 1 w 318"/>
                <a:gd name="T45" fmla="*/ 1 h 318"/>
                <a:gd name="T46" fmla="*/ 1 w 318"/>
                <a:gd name="T47" fmla="*/ 1 h 318"/>
                <a:gd name="T48" fmla="*/ 1 w 318"/>
                <a:gd name="T49" fmla="*/ 1 h 318"/>
                <a:gd name="T50" fmla="*/ 1 w 318"/>
                <a:gd name="T51" fmla="*/ 1 h 318"/>
                <a:gd name="T52" fmla="*/ 1 w 318"/>
                <a:gd name="T53" fmla="*/ 1 h 318"/>
                <a:gd name="T54" fmla="*/ 1 w 318"/>
                <a:gd name="T55" fmla="*/ 1 h 318"/>
                <a:gd name="T56" fmla="*/ 1 w 318"/>
                <a:gd name="T57" fmla="*/ 1 h 318"/>
                <a:gd name="T58" fmla="*/ 1 w 318"/>
                <a:gd name="T59" fmla="*/ 1 h 318"/>
                <a:gd name="T60" fmla="*/ 1 w 318"/>
                <a:gd name="T61" fmla="*/ 1 h 318"/>
                <a:gd name="T62" fmla="*/ 1 w 318"/>
                <a:gd name="T63" fmla="*/ 1 h 318"/>
                <a:gd name="T64" fmla="*/ 1 w 318"/>
                <a:gd name="T65" fmla="*/ 1 h 318"/>
                <a:gd name="T66" fmla="*/ 1 w 318"/>
                <a:gd name="T67" fmla="*/ 1 h 318"/>
                <a:gd name="T68" fmla="*/ 1 w 318"/>
                <a:gd name="T69" fmla="*/ 1 h 318"/>
                <a:gd name="T70" fmla="*/ 1 w 318"/>
                <a:gd name="T71" fmla="*/ 1 h 318"/>
                <a:gd name="T72" fmla="*/ 1 w 318"/>
                <a:gd name="T73" fmla="*/ 1 h 318"/>
                <a:gd name="T74" fmla="*/ 1 w 318"/>
                <a:gd name="T75" fmla="*/ 1 h 318"/>
                <a:gd name="T76" fmla="*/ 1 w 318"/>
                <a:gd name="T77" fmla="*/ 1 h 318"/>
                <a:gd name="T78" fmla="*/ 1 w 318"/>
                <a:gd name="T79" fmla="*/ 1 h 318"/>
                <a:gd name="T80" fmla="*/ 1 w 318"/>
                <a:gd name="T81" fmla="*/ 1 h 318"/>
                <a:gd name="T82" fmla="*/ 1 w 318"/>
                <a:gd name="T83" fmla="*/ 1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8"/>
                <a:gd name="T127" fmla="*/ 0 h 318"/>
                <a:gd name="T128" fmla="*/ 318 w 318"/>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8" h="318">
                  <a:moveTo>
                    <a:pt x="318" y="159"/>
                  </a:moveTo>
                  <a:lnTo>
                    <a:pt x="316" y="135"/>
                  </a:lnTo>
                  <a:lnTo>
                    <a:pt x="311" y="108"/>
                  </a:lnTo>
                  <a:lnTo>
                    <a:pt x="300" y="87"/>
                  </a:lnTo>
                  <a:lnTo>
                    <a:pt x="289" y="66"/>
                  </a:lnTo>
                  <a:lnTo>
                    <a:pt x="273" y="47"/>
                  </a:lnTo>
                  <a:lnTo>
                    <a:pt x="255" y="31"/>
                  </a:lnTo>
                  <a:lnTo>
                    <a:pt x="234" y="18"/>
                  </a:lnTo>
                  <a:lnTo>
                    <a:pt x="210" y="8"/>
                  </a:lnTo>
                  <a:lnTo>
                    <a:pt x="186" y="2"/>
                  </a:lnTo>
                  <a:lnTo>
                    <a:pt x="159" y="0"/>
                  </a:lnTo>
                  <a:lnTo>
                    <a:pt x="133" y="2"/>
                  </a:lnTo>
                  <a:lnTo>
                    <a:pt x="109" y="8"/>
                  </a:lnTo>
                  <a:lnTo>
                    <a:pt x="88" y="18"/>
                  </a:lnTo>
                  <a:lnTo>
                    <a:pt x="67" y="31"/>
                  </a:lnTo>
                  <a:lnTo>
                    <a:pt x="48" y="47"/>
                  </a:lnTo>
                  <a:lnTo>
                    <a:pt x="32" y="66"/>
                  </a:lnTo>
                  <a:lnTo>
                    <a:pt x="19" y="87"/>
                  </a:lnTo>
                  <a:lnTo>
                    <a:pt x="8" y="108"/>
                  </a:lnTo>
                  <a:lnTo>
                    <a:pt x="3" y="135"/>
                  </a:lnTo>
                  <a:lnTo>
                    <a:pt x="0" y="159"/>
                  </a:lnTo>
                  <a:lnTo>
                    <a:pt x="3" y="185"/>
                  </a:lnTo>
                  <a:lnTo>
                    <a:pt x="8" y="209"/>
                  </a:lnTo>
                  <a:lnTo>
                    <a:pt x="19" y="233"/>
                  </a:lnTo>
                  <a:lnTo>
                    <a:pt x="32" y="254"/>
                  </a:lnTo>
                  <a:lnTo>
                    <a:pt x="48" y="273"/>
                  </a:lnTo>
                  <a:lnTo>
                    <a:pt x="67" y="289"/>
                  </a:lnTo>
                  <a:lnTo>
                    <a:pt x="88" y="302"/>
                  </a:lnTo>
                  <a:lnTo>
                    <a:pt x="109" y="310"/>
                  </a:lnTo>
                  <a:lnTo>
                    <a:pt x="133" y="318"/>
                  </a:lnTo>
                  <a:lnTo>
                    <a:pt x="159" y="318"/>
                  </a:lnTo>
                  <a:lnTo>
                    <a:pt x="186" y="318"/>
                  </a:lnTo>
                  <a:lnTo>
                    <a:pt x="210" y="310"/>
                  </a:lnTo>
                  <a:lnTo>
                    <a:pt x="234" y="302"/>
                  </a:lnTo>
                  <a:lnTo>
                    <a:pt x="255" y="289"/>
                  </a:lnTo>
                  <a:lnTo>
                    <a:pt x="273" y="273"/>
                  </a:lnTo>
                  <a:lnTo>
                    <a:pt x="289" y="254"/>
                  </a:lnTo>
                  <a:lnTo>
                    <a:pt x="300" y="233"/>
                  </a:lnTo>
                  <a:lnTo>
                    <a:pt x="311" y="209"/>
                  </a:lnTo>
                  <a:lnTo>
                    <a:pt x="316" y="185"/>
                  </a:lnTo>
                  <a:lnTo>
                    <a:pt x="318" y="15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3" name="Line 9">
              <a:extLst>
                <a:ext uri="{FF2B5EF4-FFF2-40B4-BE49-F238E27FC236}">
                  <a16:creationId xmlns:a16="http://schemas.microsoft.com/office/drawing/2014/main" id="{D1A73884-96F4-DF0C-357B-BAB9A2FC6C32}"/>
                </a:ext>
              </a:extLst>
            </p:cNvPr>
            <p:cNvSpPr>
              <a:spLocks noChangeAspect="1" noChangeShapeType="1"/>
            </p:cNvSpPr>
            <p:nvPr/>
          </p:nvSpPr>
          <p:spPr bwMode="auto">
            <a:xfrm>
              <a:off x="5489" y="2695"/>
              <a:ext cx="1" cy="1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4" name="Line 10">
              <a:extLst>
                <a:ext uri="{FF2B5EF4-FFF2-40B4-BE49-F238E27FC236}">
                  <a16:creationId xmlns:a16="http://schemas.microsoft.com/office/drawing/2014/main" id="{3EA4D51F-EEE3-00A5-9B5B-3AF577685D9E}"/>
                </a:ext>
              </a:extLst>
            </p:cNvPr>
            <p:cNvSpPr>
              <a:spLocks noChangeAspect="1" noChangeShapeType="1"/>
            </p:cNvSpPr>
            <p:nvPr/>
          </p:nvSpPr>
          <p:spPr bwMode="auto">
            <a:xfrm>
              <a:off x="4252" y="2691"/>
              <a:ext cx="1" cy="1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5" name="Rectangle 11">
              <a:extLst>
                <a:ext uri="{FF2B5EF4-FFF2-40B4-BE49-F238E27FC236}">
                  <a16:creationId xmlns:a16="http://schemas.microsoft.com/office/drawing/2014/main" id="{DB0A9920-A8CC-CD69-CA52-0F114D464AEA}"/>
                </a:ext>
              </a:extLst>
            </p:cNvPr>
            <p:cNvSpPr>
              <a:spLocks noChangeAspect="1" noChangeArrowheads="1"/>
            </p:cNvSpPr>
            <p:nvPr/>
          </p:nvSpPr>
          <p:spPr bwMode="auto">
            <a:xfrm>
              <a:off x="3888" y="2822"/>
              <a:ext cx="1713" cy="15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76" name="Rectangle 12">
              <a:extLst>
                <a:ext uri="{FF2B5EF4-FFF2-40B4-BE49-F238E27FC236}">
                  <a16:creationId xmlns:a16="http://schemas.microsoft.com/office/drawing/2014/main" id="{584CBAAE-01D2-21EA-E802-088A329863F7}"/>
                </a:ext>
              </a:extLst>
            </p:cNvPr>
            <p:cNvSpPr>
              <a:spLocks noChangeAspect="1" noChangeArrowheads="1"/>
            </p:cNvSpPr>
            <p:nvPr/>
          </p:nvSpPr>
          <p:spPr bwMode="auto">
            <a:xfrm>
              <a:off x="3888" y="2822"/>
              <a:ext cx="1708" cy="15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77" name="Line 13">
              <a:extLst>
                <a:ext uri="{FF2B5EF4-FFF2-40B4-BE49-F238E27FC236}">
                  <a16:creationId xmlns:a16="http://schemas.microsoft.com/office/drawing/2014/main" id="{FB25EFF7-1137-0E99-087D-5AD6A6849A70}"/>
                </a:ext>
              </a:extLst>
            </p:cNvPr>
            <p:cNvSpPr>
              <a:spLocks noChangeAspect="1" noChangeShapeType="1"/>
            </p:cNvSpPr>
            <p:nvPr/>
          </p:nvSpPr>
          <p:spPr bwMode="auto">
            <a:xfrm>
              <a:off x="4094" y="2737"/>
              <a:ext cx="15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8" name="Line 14">
              <a:extLst>
                <a:ext uri="{FF2B5EF4-FFF2-40B4-BE49-F238E27FC236}">
                  <a16:creationId xmlns:a16="http://schemas.microsoft.com/office/drawing/2014/main" id="{A438DC48-F9C2-2B93-21CE-6B5F207BA531}"/>
                </a:ext>
              </a:extLst>
            </p:cNvPr>
            <p:cNvSpPr>
              <a:spLocks noChangeAspect="1" noChangeShapeType="1"/>
            </p:cNvSpPr>
            <p:nvPr/>
          </p:nvSpPr>
          <p:spPr bwMode="auto">
            <a:xfrm>
              <a:off x="4252" y="2506"/>
              <a:ext cx="1" cy="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9" name="Rectangle 15">
              <a:extLst>
                <a:ext uri="{FF2B5EF4-FFF2-40B4-BE49-F238E27FC236}">
                  <a16:creationId xmlns:a16="http://schemas.microsoft.com/office/drawing/2014/main" id="{11E40687-AA1F-E541-B35C-C0A105F88809}"/>
                </a:ext>
              </a:extLst>
            </p:cNvPr>
            <p:cNvSpPr>
              <a:spLocks noChangeAspect="1" noChangeArrowheads="1"/>
            </p:cNvSpPr>
            <p:nvPr/>
          </p:nvSpPr>
          <p:spPr bwMode="auto">
            <a:xfrm>
              <a:off x="4147" y="2559"/>
              <a:ext cx="212" cy="1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80" name="Rectangle 16">
              <a:extLst>
                <a:ext uri="{FF2B5EF4-FFF2-40B4-BE49-F238E27FC236}">
                  <a16:creationId xmlns:a16="http://schemas.microsoft.com/office/drawing/2014/main" id="{B0B29220-7FA4-73A1-1387-D61AA78F7419}"/>
                </a:ext>
              </a:extLst>
            </p:cNvPr>
            <p:cNvSpPr>
              <a:spLocks noChangeAspect="1" noChangeArrowheads="1"/>
            </p:cNvSpPr>
            <p:nvPr/>
          </p:nvSpPr>
          <p:spPr bwMode="auto">
            <a:xfrm>
              <a:off x="4147" y="2559"/>
              <a:ext cx="212" cy="132"/>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81" name="Rectangle 17">
              <a:extLst>
                <a:ext uri="{FF2B5EF4-FFF2-40B4-BE49-F238E27FC236}">
                  <a16:creationId xmlns:a16="http://schemas.microsoft.com/office/drawing/2014/main" id="{109F497F-B475-68E1-EFF6-4DB40750CBDC}"/>
                </a:ext>
              </a:extLst>
            </p:cNvPr>
            <p:cNvSpPr>
              <a:spLocks noChangeAspect="1" noChangeArrowheads="1"/>
            </p:cNvSpPr>
            <p:nvPr/>
          </p:nvSpPr>
          <p:spPr bwMode="auto">
            <a:xfrm>
              <a:off x="4207" y="2354"/>
              <a:ext cx="5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P</a:t>
              </a:r>
              <a:endParaRPr lang="en-US" altLang="en-US" sz="1200" b="1"/>
            </a:p>
          </p:txBody>
        </p:sp>
        <p:sp>
          <p:nvSpPr>
            <p:cNvPr id="15382" name="Rectangle 18">
              <a:extLst>
                <a:ext uri="{FF2B5EF4-FFF2-40B4-BE49-F238E27FC236}">
                  <a16:creationId xmlns:a16="http://schemas.microsoft.com/office/drawing/2014/main" id="{64203DE0-965D-144E-586D-8EDA062D390B}"/>
                </a:ext>
              </a:extLst>
            </p:cNvPr>
            <p:cNvSpPr>
              <a:spLocks noChangeAspect="1" noChangeArrowheads="1"/>
            </p:cNvSpPr>
            <p:nvPr/>
          </p:nvSpPr>
          <p:spPr bwMode="auto">
            <a:xfrm>
              <a:off x="4262" y="2388"/>
              <a:ext cx="3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800" b="1">
                  <a:solidFill>
                    <a:srgbClr val="0000FF"/>
                  </a:solidFill>
                </a:rPr>
                <a:t>L</a:t>
              </a:r>
              <a:endParaRPr lang="en-US" altLang="en-US" sz="1200" b="1">
                <a:solidFill>
                  <a:srgbClr val="0000FF"/>
                </a:solidFill>
              </a:endParaRPr>
            </a:p>
          </p:txBody>
        </p:sp>
        <p:sp>
          <p:nvSpPr>
            <p:cNvPr id="15383" name="Rectangle 19">
              <a:extLst>
                <a:ext uri="{FF2B5EF4-FFF2-40B4-BE49-F238E27FC236}">
                  <a16:creationId xmlns:a16="http://schemas.microsoft.com/office/drawing/2014/main" id="{2340CC88-AD3D-5BF7-5A2A-43437820AB33}"/>
                </a:ext>
              </a:extLst>
            </p:cNvPr>
            <p:cNvSpPr>
              <a:spLocks noChangeAspect="1" noChangeArrowheads="1"/>
            </p:cNvSpPr>
            <p:nvPr/>
          </p:nvSpPr>
          <p:spPr bwMode="auto">
            <a:xfrm>
              <a:off x="4232" y="2586"/>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100">
                  <a:solidFill>
                    <a:srgbClr val="000000"/>
                  </a:solidFill>
                </a:rPr>
                <a:t>$</a:t>
              </a:r>
              <a:endParaRPr lang="en-US" altLang="en-US" sz="1200" b="1"/>
            </a:p>
          </p:txBody>
        </p:sp>
        <p:sp>
          <p:nvSpPr>
            <p:cNvPr id="15384" name="Rectangle 20">
              <a:extLst>
                <a:ext uri="{FF2B5EF4-FFF2-40B4-BE49-F238E27FC236}">
                  <a16:creationId xmlns:a16="http://schemas.microsoft.com/office/drawing/2014/main" id="{403DD397-4174-1C2E-940F-B52C718DBBDC}"/>
                </a:ext>
              </a:extLst>
            </p:cNvPr>
            <p:cNvSpPr>
              <a:spLocks noChangeAspect="1" noChangeArrowheads="1"/>
            </p:cNvSpPr>
            <p:nvPr/>
          </p:nvSpPr>
          <p:spPr bwMode="auto">
            <a:xfrm>
              <a:off x="3883" y="2559"/>
              <a:ext cx="211"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85" name="Rectangle 21">
              <a:extLst>
                <a:ext uri="{FF2B5EF4-FFF2-40B4-BE49-F238E27FC236}">
                  <a16:creationId xmlns:a16="http://schemas.microsoft.com/office/drawing/2014/main" id="{93BDE357-3C38-701D-5007-010C1D9DB788}"/>
                </a:ext>
              </a:extLst>
            </p:cNvPr>
            <p:cNvSpPr>
              <a:spLocks noChangeAspect="1" noChangeArrowheads="1"/>
            </p:cNvSpPr>
            <p:nvPr/>
          </p:nvSpPr>
          <p:spPr bwMode="auto">
            <a:xfrm>
              <a:off x="3883" y="2559"/>
              <a:ext cx="211" cy="212"/>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86" name="Rectangle 22">
              <a:extLst>
                <a:ext uri="{FF2B5EF4-FFF2-40B4-BE49-F238E27FC236}">
                  <a16:creationId xmlns:a16="http://schemas.microsoft.com/office/drawing/2014/main" id="{9B24CC71-8B31-C530-F059-2469B57B2B28}"/>
                </a:ext>
              </a:extLst>
            </p:cNvPr>
            <p:cNvSpPr>
              <a:spLocks noChangeAspect="1" noChangeArrowheads="1"/>
            </p:cNvSpPr>
            <p:nvPr/>
          </p:nvSpPr>
          <p:spPr bwMode="auto">
            <a:xfrm>
              <a:off x="4373" y="2860"/>
              <a:ext cx="15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Inter</a:t>
              </a:r>
              <a:endParaRPr lang="en-US" altLang="en-US" sz="1200" b="1"/>
            </a:p>
          </p:txBody>
        </p:sp>
        <p:sp>
          <p:nvSpPr>
            <p:cNvPr id="15387" name="Rectangle 23">
              <a:extLst>
                <a:ext uri="{FF2B5EF4-FFF2-40B4-BE49-F238E27FC236}">
                  <a16:creationId xmlns:a16="http://schemas.microsoft.com/office/drawing/2014/main" id="{D81FA480-932D-D7D1-79C8-125B581B7706}"/>
                </a:ext>
              </a:extLst>
            </p:cNvPr>
            <p:cNvSpPr>
              <a:spLocks noChangeAspect="1" noChangeArrowheads="1"/>
            </p:cNvSpPr>
            <p:nvPr/>
          </p:nvSpPr>
          <p:spPr bwMode="auto">
            <a:xfrm>
              <a:off x="4489" y="2860"/>
              <a:ext cx="68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connection network</a:t>
              </a:r>
              <a:endParaRPr lang="en-US" altLang="en-US" sz="1200" b="1"/>
            </a:p>
          </p:txBody>
        </p:sp>
        <p:sp>
          <p:nvSpPr>
            <p:cNvPr id="15388" name="Line 24">
              <a:extLst>
                <a:ext uri="{FF2B5EF4-FFF2-40B4-BE49-F238E27FC236}">
                  <a16:creationId xmlns:a16="http://schemas.microsoft.com/office/drawing/2014/main" id="{1BFD5070-39AE-698E-F105-0B41731C01C5}"/>
                </a:ext>
              </a:extLst>
            </p:cNvPr>
            <p:cNvSpPr>
              <a:spLocks noChangeAspect="1" noChangeShapeType="1"/>
            </p:cNvSpPr>
            <p:nvPr/>
          </p:nvSpPr>
          <p:spPr bwMode="auto">
            <a:xfrm>
              <a:off x="5331" y="2741"/>
              <a:ext cx="15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9" name="Line 25">
              <a:extLst>
                <a:ext uri="{FF2B5EF4-FFF2-40B4-BE49-F238E27FC236}">
                  <a16:creationId xmlns:a16="http://schemas.microsoft.com/office/drawing/2014/main" id="{821D17C6-C00C-80F0-DE11-CF33CC6782F4}"/>
                </a:ext>
              </a:extLst>
            </p:cNvPr>
            <p:cNvSpPr>
              <a:spLocks noChangeAspect="1" noChangeShapeType="1"/>
            </p:cNvSpPr>
            <p:nvPr/>
          </p:nvSpPr>
          <p:spPr bwMode="auto">
            <a:xfrm>
              <a:off x="5489" y="2511"/>
              <a:ext cx="1" cy="5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0" name="Rectangle 26">
              <a:extLst>
                <a:ext uri="{FF2B5EF4-FFF2-40B4-BE49-F238E27FC236}">
                  <a16:creationId xmlns:a16="http://schemas.microsoft.com/office/drawing/2014/main" id="{18C46208-37E5-8A3C-A226-1DD30E75E759}"/>
                </a:ext>
              </a:extLst>
            </p:cNvPr>
            <p:cNvSpPr>
              <a:spLocks noChangeAspect="1" noChangeArrowheads="1"/>
            </p:cNvSpPr>
            <p:nvPr/>
          </p:nvSpPr>
          <p:spPr bwMode="auto">
            <a:xfrm>
              <a:off x="5384" y="2563"/>
              <a:ext cx="211" cy="1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91" name="Rectangle 27">
              <a:extLst>
                <a:ext uri="{FF2B5EF4-FFF2-40B4-BE49-F238E27FC236}">
                  <a16:creationId xmlns:a16="http://schemas.microsoft.com/office/drawing/2014/main" id="{032DB412-D04A-C659-0102-678724DF9912}"/>
                </a:ext>
              </a:extLst>
            </p:cNvPr>
            <p:cNvSpPr>
              <a:spLocks noChangeAspect="1" noChangeArrowheads="1"/>
            </p:cNvSpPr>
            <p:nvPr/>
          </p:nvSpPr>
          <p:spPr bwMode="auto">
            <a:xfrm>
              <a:off x="5384" y="2563"/>
              <a:ext cx="211" cy="132"/>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92" name="Rectangle 28">
              <a:extLst>
                <a:ext uri="{FF2B5EF4-FFF2-40B4-BE49-F238E27FC236}">
                  <a16:creationId xmlns:a16="http://schemas.microsoft.com/office/drawing/2014/main" id="{EBB404AF-356A-157C-5EF0-A91F34E53CDF}"/>
                </a:ext>
              </a:extLst>
            </p:cNvPr>
            <p:cNvSpPr>
              <a:spLocks noChangeAspect="1" noChangeArrowheads="1"/>
            </p:cNvSpPr>
            <p:nvPr/>
          </p:nvSpPr>
          <p:spPr bwMode="auto">
            <a:xfrm>
              <a:off x="5471" y="2595"/>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a:t>
              </a:r>
              <a:endParaRPr lang="en-US" altLang="en-US" sz="1200" b="1"/>
            </a:p>
          </p:txBody>
        </p:sp>
        <p:sp>
          <p:nvSpPr>
            <p:cNvPr id="15393" name="Rectangle 29">
              <a:extLst>
                <a:ext uri="{FF2B5EF4-FFF2-40B4-BE49-F238E27FC236}">
                  <a16:creationId xmlns:a16="http://schemas.microsoft.com/office/drawing/2014/main" id="{F9BD1521-BFCB-843C-56C1-54BB4B0AB492}"/>
                </a:ext>
              </a:extLst>
            </p:cNvPr>
            <p:cNvSpPr>
              <a:spLocks noChangeAspect="1" noChangeArrowheads="1"/>
            </p:cNvSpPr>
            <p:nvPr/>
          </p:nvSpPr>
          <p:spPr bwMode="auto">
            <a:xfrm>
              <a:off x="5155" y="2563"/>
              <a:ext cx="211"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94" name="Rectangle 30">
              <a:extLst>
                <a:ext uri="{FF2B5EF4-FFF2-40B4-BE49-F238E27FC236}">
                  <a16:creationId xmlns:a16="http://schemas.microsoft.com/office/drawing/2014/main" id="{14B9EF44-152F-4DCD-0042-F0FB37A51244}"/>
                </a:ext>
              </a:extLst>
            </p:cNvPr>
            <p:cNvSpPr>
              <a:spLocks noChangeAspect="1" noChangeArrowheads="1"/>
            </p:cNvSpPr>
            <p:nvPr/>
          </p:nvSpPr>
          <p:spPr bwMode="auto">
            <a:xfrm>
              <a:off x="5188" y="2563"/>
              <a:ext cx="178" cy="212"/>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95" name="Rectangle 31">
              <a:extLst>
                <a:ext uri="{FF2B5EF4-FFF2-40B4-BE49-F238E27FC236}">
                  <a16:creationId xmlns:a16="http://schemas.microsoft.com/office/drawing/2014/main" id="{2FF4D421-6F31-2860-A746-59B8BE7E3B26}"/>
                </a:ext>
              </a:extLst>
            </p:cNvPr>
            <p:cNvSpPr>
              <a:spLocks noChangeAspect="1" noChangeArrowheads="1"/>
            </p:cNvSpPr>
            <p:nvPr/>
          </p:nvSpPr>
          <p:spPr bwMode="auto">
            <a:xfrm>
              <a:off x="5481" y="2347"/>
              <a:ext cx="5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P</a:t>
              </a:r>
              <a:endParaRPr lang="en-US" altLang="en-US" sz="1200" b="1"/>
            </a:p>
          </p:txBody>
        </p:sp>
        <p:sp>
          <p:nvSpPr>
            <p:cNvPr id="15396" name="Rectangle 32">
              <a:extLst>
                <a:ext uri="{FF2B5EF4-FFF2-40B4-BE49-F238E27FC236}">
                  <a16:creationId xmlns:a16="http://schemas.microsoft.com/office/drawing/2014/main" id="{52E1BC5F-89BE-4021-7450-E0EB8BA7D5A4}"/>
                </a:ext>
              </a:extLst>
            </p:cNvPr>
            <p:cNvSpPr>
              <a:spLocks noChangeAspect="1" noChangeArrowheads="1"/>
            </p:cNvSpPr>
            <p:nvPr/>
          </p:nvSpPr>
          <p:spPr bwMode="auto">
            <a:xfrm>
              <a:off x="5520" y="2397"/>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800" b="1">
                  <a:solidFill>
                    <a:srgbClr val="0000FF"/>
                  </a:solidFill>
                </a:rPr>
                <a:t>R</a:t>
              </a:r>
              <a:endParaRPr lang="en-US" altLang="en-US" sz="1200" b="1">
                <a:solidFill>
                  <a:srgbClr val="0000FF"/>
                </a:solidFill>
              </a:endParaRPr>
            </a:p>
          </p:txBody>
        </p:sp>
        <p:sp>
          <p:nvSpPr>
            <p:cNvPr id="15397" name="Rectangle 33">
              <a:extLst>
                <a:ext uri="{FF2B5EF4-FFF2-40B4-BE49-F238E27FC236}">
                  <a16:creationId xmlns:a16="http://schemas.microsoft.com/office/drawing/2014/main" id="{818B563F-51EA-1408-FA9C-E01300A7EEEF}"/>
                </a:ext>
              </a:extLst>
            </p:cNvPr>
            <p:cNvSpPr>
              <a:spLocks noChangeAspect="1" noChangeArrowheads="1"/>
            </p:cNvSpPr>
            <p:nvPr/>
          </p:nvSpPr>
          <p:spPr bwMode="auto">
            <a:xfrm>
              <a:off x="3924" y="2632"/>
              <a:ext cx="17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Mem</a:t>
              </a:r>
              <a:endParaRPr lang="en-US" altLang="en-US" sz="1200" b="1"/>
            </a:p>
          </p:txBody>
        </p:sp>
        <p:sp>
          <p:nvSpPr>
            <p:cNvPr id="15398" name="Rectangle 34">
              <a:extLst>
                <a:ext uri="{FF2B5EF4-FFF2-40B4-BE49-F238E27FC236}">
                  <a16:creationId xmlns:a16="http://schemas.microsoft.com/office/drawing/2014/main" id="{3CC7DF12-00A5-5ACF-D789-DA2C318CB810}"/>
                </a:ext>
              </a:extLst>
            </p:cNvPr>
            <p:cNvSpPr>
              <a:spLocks noChangeAspect="1" noChangeArrowheads="1"/>
            </p:cNvSpPr>
            <p:nvPr/>
          </p:nvSpPr>
          <p:spPr bwMode="auto">
            <a:xfrm>
              <a:off x="5195" y="2641"/>
              <a:ext cx="17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Mem</a:t>
              </a:r>
              <a:endParaRPr lang="en-US" altLang="en-US" sz="1200" b="1"/>
            </a:p>
          </p:txBody>
        </p:sp>
        <p:sp>
          <p:nvSpPr>
            <p:cNvPr id="15399" name="Freeform 35">
              <a:extLst>
                <a:ext uri="{FF2B5EF4-FFF2-40B4-BE49-F238E27FC236}">
                  <a16:creationId xmlns:a16="http://schemas.microsoft.com/office/drawing/2014/main" id="{11BBA213-8AAA-8A0E-9502-5CDFE3FE7C3F}"/>
                </a:ext>
              </a:extLst>
            </p:cNvPr>
            <p:cNvSpPr>
              <a:spLocks noChangeAspect="1"/>
            </p:cNvSpPr>
            <p:nvPr/>
          </p:nvSpPr>
          <p:spPr bwMode="auto">
            <a:xfrm>
              <a:off x="4858" y="2648"/>
              <a:ext cx="30" cy="30"/>
            </a:xfrm>
            <a:custGeom>
              <a:avLst/>
              <a:gdLst>
                <a:gd name="T0" fmla="*/ 1 w 45"/>
                <a:gd name="T1" fmla="*/ 1 h 45"/>
                <a:gd name="T2" fmla="*/ 1 w 45"/>
                <a:gd name="T3" fmla="*/ 1 h 45"/>
                <a:gd name="T4" fmla="*/ 1 w 45"/>
                <a:gd name="T5" fmla="*/ 1 h 45"/>
                <a:gd name="T6" fmla="*/ 1 w 45"/>
                <a:gd name="T7" fmla="*/ 1 h 45"/>
                <a:gd name="T8" fmla="*/ 1 w 45"/>
                <a:gd name="T9" fmla="*/ 1 h 45"/>
                <a:gd name="T10" fmla="*/ 1 w 45"/>
                <a:gd name="T11" fmla="*/ 1 h 45"/>
                <a:gd name="T12" fmla="*/ 1 w 45"/>
                <a:gd name="T13" fmla="*/ 1 h 45"/>
                <a:gd name="T14" fmla="*/ 1 w 45"/>
                <a:gd name="T15" fmla="*/ 1 h 45"/>
                <a:gd name="T16" fmla="*/ 1 w 45"/>
                <a:gd name="T17" fmla="*/ 1 h 45"/>
                <a:gd name="T18" fmla="*/ 1 w 45"/>
                <a:gd name="T19" fmla="*/ 1 h 45"/>
                <a:gd name="T20" fmla="*/ 1 w 45"/>
                <a:gd name="T21" fmla="*/ 1 h 45"/>
                <a:gd name="T22" fmla="*/ 1 w 45"/>
                <a:gd name="T23" fmla="*/ 1 h 45"/>
                <a:gd name="T24" fmla="*/ 1 w 45"/>
                <a:gd name="T25" fmla="*/ 1 h 45"/>
                <a:gd name="T26" fmla="*/ 1 w 45"/>
                <a:gd name="T27" fmla="*/ 1 h 45"/>
                <a:gd name="T28" fmla="*/ 1 w 45"/>
                <a:gd name="T29" fmla="*/ 1 h 45"/>
                <a:gd name="T30" fmla="*/ 1 w 45"/>
                <a:gd name="T31" fmla="*/ 1 h 45"/>
                <a:gd name="T32" fmla="*/ 1 w 45"/>
                <a:gd name="T33" fmla="*/ 1 h 45"/>
                <a:gd name="T34" fmla="*/ 1 w 45"/>
                <a:gd name="T35" fmla="*/ 1 h 45"/>
                <a:gd name="T36" fmla="*/ 0 w 45"/>
                <a:gd name="T37" fmla="*/ 1 h 45"/>
                <a:gd name="T38" fmla="*/ 0 w 45"/>
                <a:gd name="T39" fmla="*/ 1 h 45"/>
                <a:gd name="T40" fmla="*/ 0 w 45"/>
                <a:gd name="T41" fmla="*/ 1 h 45"/>
                <a:gd name="T42" fmla="*/ 0 w 45"/>
                <a:gd name="T43" fmla="*/ 1 h 45"/>
                <a:gd name="T44" fmla="*/ 0 w 45"/>
                <a:gd name="T45" fmla="*/ 1 h 45"/>
                <a:gd name="T46" fmla="*/ 1 w 45"/>
                <a:gd name="T47" fmla="*/ 1 h 45"/>
                <a:gd name="T48" fmla="*/ 1 w 45"/>
                <a:gd name="T49" fmla="*/ 1 h 45"/>
                <a:gd name="T50" fmla="*/ 1 w 45"/>
                <a:gd name="T51" fmla="*/ 1 h 45"/>
                <a:gd name="T52" fmla="*/ 1 w 45"/>
                <a:gd name="T53" fmla="*/ 1 h 45"/>
                <a:gd name="T54" fmla="*/ 1 w 45"/>
                <a:gd name="T55" fmla="*/ 1 h 45"/>
                <a:gd name="T56" fmla="*/ 1 w 45"/>
                <a:gd name="T57" fmla="*/ 1 h 45"/>
                <a:gd name="T58" fmla="*/ 1 w 45"/>
                <a:gd name="T59" fmla="*/ 0 h 45"/>
                <a:gd name="T60" fmla="*/ 1 w 45"/>
                <a:gd name="T61" fmla="*/ 0 h 45"/>
                <a:gd name="T62" fmla="*/ 1 w 45"/>
                <a:gd name="T63" fmla="*/ 0 h 45"/>
                <a:gd name="T64" fmla="*/ 1 w 45"/>
                <a:gd name="T65" fmla="*/ 1 h 45"/>
                <a:gd name="T66" fmla="*/ 1 w 45"/>
                <a:gd name="T67" fmla="*/ 1 h 45"/>
                <a:gd name="T68" fmla="*/ 1 w 45"/>
                <a:gd name="T69" fmla="*/ 1 h 45"/>
                <a:gd name="T70" fmla="*/ 1 w 45"/>
                <a:gd name="T71" fmla="*/ 1 h 45"/>
                <a:gd name="T72" fmla="*/ 1 w 45"/>
                <a:gd name="T73" fmla="*/ 1 h 45"/>
                <a:gd name="T74" fmla="*/ 1 w 45"/>
                <a:gd name="T75" fmla="*/ 1 h 45"/>
                <a:gd name="T76" fmla="*/ 1 w 45"/>
                <a:gd name="T77" fmla="*/ 1 h 45"/>
                <a:gd name="T78" fmla="*/ 1 w 45"/>
                <a:gd name="T79" fmla="*/ 1 h 45"/>
                <a:gd name="T80" fmla="*/ 1 w 45"/>
                <a:gd name="T81" fmla="*/ 1 h 45"/>
                <a:gd name="T82" fmla="*/ 1 w 45"/>
                <a:gd name="T83" fmla="*/ 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26"/>
                  </a:lnTo>
                  <a:lnTo>
                    <a:pt x="42" y="29"/>
                  </a:lnTo>
                  <a:lnTo>
                    <a:pt x="42" y="34"/>
                  </a:lnTo>
                  <a:lnTo>
                    <a:pt x="39" y="37"/>
                  </a:lnTo>
                  <a:lnTo>
                    <a:pt x="37" y="39"/>
                  </a:lnTo>
                  <a:lnTo>
                    <a:pt x="34" y="39"/>
                  </a:lnTo>
                  <a:lnTo>
                    <a:pt x="31" y="42"/>
                  </a:lnTo>
                  <a:lnTo>
                    <a:pt x="29" y="45"/>
                  </a:lnTo>
                  <a:lnTo>
                    <a:pt x="26" y="45"/>
                  </a:lnTo>
                  <a:lnTo>
                    <a:pt x="21" y="45"/>
                  </a:lnTo>
                  <a:lnTo>
                    <a:pt x="18" y="45"/>
                  </a:lnTo>
                  <a:lnTo>
                    <a:pt x="13" y="45"/>
                  </a:lnTo>
                  <a:lnTo>
                    <a:pt x="10" y="42"/>
                  </a:lnTo>
                  <a:lnTo>
                    <a:pt x="8" y="39"/>
                  </a:lnTo>
                  <a:lnTo>
                    <a:pt x="5" y="39"/>
                  </a:lnTo>
                  <a:lnTo>
                    <a:pt x="2" y="37"/>
                  </a:lnTo>
                  <a:lnTo>
                    <a:pt x="2" y="34"/>
                  </a:lnTo>
                  <a:lnTo>
                    <a:pt x="0" y="29"/>
                  </a:lnTo>
                  <a:lnTo>
                    <a:pt x="0" y="26"/>
                  </a:lnTo>
                  <a:lnTo>
                    <a:pt x="0" y="23"/>
                  </a:lnTo>
                  <a:lnTo>
                    <a:pt x="0" y="18"/>
                  </a:lnTo>
                  <a:lnTo>
                    <a:pt x="0" y="16"/>
                  </a:lnTo>
                  <a:lnTo>
                    <a:pt x="2" y="13"/>
                  </a:lnTo>
                  <a:lnTo>
                    <a:pt x="2" y="10"/>
                  </a:lnTo>
                  <a:lnTo>
                    <a:pt x="5" y="8"/>
                  </a:lnTo>
                  <a:lnTo>
                    <a:pt x="8" y="5"/>
                  </a:lnTo>
                  <a:lnTo>
                    <a:pt x="10" y="2"/>
                  </a:lnTo>
                  <a:lnTo>
                    <a:pt x="13" y="2"/>
                  </a:lnTo>
                  <a:lnTo>
                    <a:pt x="18" y="0"/>
                  </a:lnTo>
                  <a:lnTo>
                    <a:pt x="21" y="0"/>
                  </a:lnTo>
                  <a:lnTo>
                    <a:pt x="26" y="0"/>
                  </a:lnTo>
                  <a:lnTo>
                    <a:pt x="29" y="2"/>
                  </a:lnTo>
                  <a:lnTo>
                    <a:pt x="31" y="2"/>
                  </a:lnTo>
                  <a:lnTo>
                    <a:pt x="34" y="5"/>
                  </a:lnTo>
                  <a:lnTo>
                    <a:pt x="37" y="8"/>
                  </a:lnTo>
                  <a:lnTo>
                    <a:pt x="39" y="10"/>
                  </a:lnTo>
                  <a:lnTo>
                    <a:pt x="42" y="13"/>
                  </a:lnTo>
                  <a:lnTo>
                    <a:pt x="42" y="16"/>
                  </a:lnTo>
                  <a:lnTo>
                    <a:pt x="42" y="18"/>
                  </a:lnTo>
                  <a:lnTo>
                    <a:pt x="45" y="23"/>
                  </a:lnTo>
                  <a:lnTo>
                    <a:pt x="4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0" name="Freeform 36">
              <a:extLst>
                <a:ext uri="{FF2B5EF4-FFF2-40B4-BE49-F238E27FC236}">
                  <a16:creationId xmlns:a16="http://schemas.microsoft.com/office/drawing/2014/main" id="{12AFA0DA-B069-2611-FAFC-39C68EE1BBC8}"/>
                </a:ext>
              </a:extLst>
            </p:cNvPr>
            <p:cNvSpPr>
              <a:spLocks noChangeAspect="1"/>
            </p:cNvSpPr>
            <p:nvPr/>
          </p:nvSpPr>
          <p:spPr bwMode="auto">
            <a:xfrm>
              <a:off x="4858" y="2648"/>
              <a:ext cx="30" cy="30"/>
            </a:xfrm>
            <a:custGeom>
              <a:avLst/>
              <a:gdLst>
                <a:gd name="T0" fmla="*/ 1 w 45"/>
                <a:gd name="T1" fmla="*/ 1 h 45"/>
                <a:gd name="T2" fmla="*/ 1 w 45"/>
                <a:gd name="T3" fmla="*/ 1 h 45"/>
                <a:gd name="T4" fmla="*/ 1 w 45"/>
                <a:gd name="T5" fmla="*/ 1 h 45"/>
                <a:gd name="T6" fmla="*/ 1 w 45"/>
                <a:gd name="T7" fmla="*/ 1 h 45"/>
                <a:gd name="T8" fmla="*/ 1 w 45"/>
                <a:gd name="T9" fmla="*/ 1 h 45"/>
                <a:gd name="T10" fmla="*/ 1 w 45"/>
                <a:gd name="T11" fmla="*/ 1 h 45"/>
                <a:gd name="T12" fmla="*/ 1 w 45"/>
                <a:gd name="T13" fmla="*/ 1 h 45"/>
                <a:gd name="T14" fmla="*/ 1 w 45"/>
                <a:gd name="T15" fmla="*/ 1 h 45"/>
                <a:gd name="T16" fmla="*/ 1 w 45"/>
                <a:gd name="T17" fmla="*/ 1 h 45"/>
                <a:gd name="T18" fmla="*/ 1 w 45"/>
                <a:gd name="T19" fmla="*/ 0 h 45"/>
                <a:gd name="T20" fmla="*/ 1 w 45"/>
                <a:gd name="T21" fmla="*/ 0 h 45"/>
                <a:gd name="T22" fmla="*/ 1 w 45"/>
                <a:gd name="T23" fmla="*/ 0 h 45"/>
                <a:gd name="T24" fmla="*/ 1 w 45"/>
                <a:gd name="T25" fmla="*/ 1 h 45"/>
                <a:gd name="T26" fmla="*/ 1 w 45"/>
                <a:gd name="T27" fmla="*/ 1 h 45"/>
                <a:gd name="T28" fmla="*/ 1 w 45"/>
                <a:gd name="T29" fmla="*/ 1 h 45"/>
                <a:gd name="T30" fmla="*/ 1 w 45"/>
                <a:gd name="T31" fmla="*/ 1 h 45"/>
                <a:gd name="T32" fmla="*/ 1 w 45"/>
                <a:gd name="T33" fmla="*/ 1 h 45"/>
                <a:gd name="T34" fmla="*/ 1 w 45"/>
                <a:gd name="T35" fmla="*/ 1 h 45"/>
                <a:gd name="T36" fmla="*/ 0 w 45"/>
                <a:gd name="T37" fmla="*/ 1 h 45"/>
                <a:gd name="T38" fmla="*/ 0 w 45"/>
                <a:gd name="T39" fmla="*/ 1 h 45"/>
                <a:gd name="T40" fmla="*/ 0 w 45"/>
                <a:gd name="T41" fmla="*/ 1 h 45"/>
                <a:gd name="T42" fmla="*/ 0 w 45"/>
                <a:gd name="T43" fmla="*/ 1 h 45"/>
                <a:gd name="T44" fmla="*/ 0 w 45"/>
                <a:gd name="T45" fmla="*/ 1 h 45"/>
                <a:gd name="T46" fmla="*/ 1 w 45"/>
                <a:gd name="T47" fmla="*/ 1 h 45"/>
                <a:gd name="T48" fmla="*/ 1 w 45"/>
                <a:gd name="T49" fmla="*/ 1 h 45"/>
                <a:gd name="T50" fmla="*/ 1 w 45"/>
                <a:gd name="T51" fmla="*/ 1 h 45"/>
                <a:gd name="T52" fmla="*/ 1 w 45"/>
                <a:gd name="T53" fmla="*/ 1 h 45"/>
                <a:gd name="T54" fmla="*/ 1 w 45"/>
                <a:gd name="T55" fmla="*/ 1 h 45"/>
                <a:gd name="T56" fmla="*/ 1 w 45"/>
                <a:gd name="T57" fmla="*/ 1 h 45"/>
                <a:gd name="T58" fmla="*/ 1 w 45"/>
                <a:gd name="T59" fmla="*/ 1 h 45"/>
                <a:gd name="T60" fmla="*/ 1 w 45"/>
                <a:gd name="T61" fmla="*/ 1 h 45"/>
                <a:gd name="T62" fmla="*/ 1 w 45"/>
                <a:gd name="T63" fmla="*/ 1 h 45"/>
                <a:gd name="T64" fmla="*/ 1 w 45"/>
                <a:gd name="T65" fmla="*/ 1 h 45"/>
                <a:gd name="T66" fmla="*/ 1 w 45"/>
                <a:gd name="T67" fmla="*/ 1 h 45"/>
                <a:gd name="T68" fmla="*/ 1 w 45"/>
                <a:gd name="T69" fmla="*/ 1 h 45"/>
                <a:gd name="T70" fmla="*/ 1 w 45"/>
                <a:gd name="T71" fmla="*/ 1 h 45"/>
                <a:gd name="T72" fmla="*/ 1 w 45"/>
                <a:gd name="T73" fmla="*/ 1 h 45"/>
                <a:gd name="T74" fmla="*/ 1 w 45"/>
                <a:gd name="T75" fmla="*/ 1 h 45"/>
                <a:gd name="T76" fmla="*/ 1 w 45"/>
                <a:gd name="T77" fmla="*/ 1 h 45"/>
                <a:gd name="T78" fmla="*/ 1 w 45"/>
                <a:gd name="T79" fmla="*/ 1 h 45"/>
                <a:gd name="T80" fmla="*/ 1 w 45"/>
                <a:gd name="T81" fmla="*/ 1 h 45"/>
                <a:gd name="T82" fmla="*/ 1 w 45"/>
                <a:gd name="T83" fmla="*/ 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
                <a:gd name="T127" fmla="*/ 0 h 45"/>
                <a:gd name="T128" fmla="*/ 45 w 45"/>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 h="45">
                  <a:moveTo>
                    <a:pt x="42" y="21"/>
                  </a:moveTo>
                  <a:lnTo>
                    <a:pt x="42" y="18"/>
                  </a:lnTo>
                  <a:lnTo>
                    <a:pt x="42" y="16"/>
                  </a:lnTo>
                  <a:lnTo>
                    <a:pt x="42" y="13"/>
                  </a:lnTo>
                  <a:lnTo>
                    <a:pt x="39" y="10"/>
                  </a:lnTo>
                  <a:lnTo>
                    <a:pt x="37" y="8"/>
                  </a:lnTo>
                  <a:lnTo>
                    <a:pt x="34" y="5"/>
                  </a:lnTo>
                  <a:lnTo>
                    <a:pt x="31" y="2"/>
                  </a:lnTo>
                  <a:lnTo>
                    <a:pt x="29" y="2"/>
                  </a:lnTo>
                  <a:lnTo>
                    <a:pt x="26" y="0"/>
                  </a:lnTo>
                  <a:lnTo>
                    <a:pt x="21" y="0"/>
                  </a:lnTo>
                  <a:lnTo>
                    <a:pt x="18" y="0"/>
                  </a:lnTo>
                  <a:lnTo>
                    <a:pt x="13" y="2"/>
                  </a:lnTo>
                  <a:lnTo>
                    <a:pt x="10" y="2"/>
                  </a:lnTo>
                  <a:lnTo>
                    <a:pt x="8" y="5"/>
                  </a:lnTo>
                  <a:lnTo>
                    <a:pt x="5" y="8"/>
                  </a:lnTo>
                  <a:lnTo>
                    <a:pt x="2" y="10"/>
                  </a:lnTo>
                  <a:lnTo>
                    <a:pt x="2" y="13"/>
                  </a:lnTo>
                  <a:lnTo>
                    <a:pt x="0" y="16"/>
                  </a:lnTo>
                  <a:lnTo>
                    <a:pt x="0" y="18"/>
                  </a:lnTo>
                  <a:lnTo>
                    <a:pt x="0" y="23"/>
                  </a:lnTo>
                  <a:lnTo>
                    <a:pt x="0" y="26"/>
                  </a:lnTo>
                  <a:lnTo>
                    <a:pt x="0" y="29"/>
                  </a:lnTo>
                  <a:lnTo>
                    <a:pt x="2" y="34"/>
                  </a:lnTo>
                  <a:lnTo>
                    <a:pt x="2" y="37"/>
                  </a:lnTo>
                  <a:lnTo>
                    <a:pt x="5" y="39"/>
                  </a:lnTo>
                  <a:lnTo>
                    <a:pt x="8" y="39"/>
                  </a:lnTo>
                  <a:lnTo>
                    <a:pt x="10" y="42"/>
                  </a:lnTo>
                  <a:lnTo>
                    <a:pt x="13" y="45"/>
                  </a:lnTo>
                  <a:lnTo>
                    <a:pt x="18" y="45"/>
                  </a:lnTo>
                  <a:lnTo>
                    <a:pt x="21" y="45"/>
                  </a:lnTo>
                  <a:lnTo>
                    <a:pt x="26" y="45"/>
                  </a:lnTo>
                  <a:lnTo>
                    <a:pt x="29" y="45"/>
                  </a:lnTo>
                  <a:lnTo>
                    <a:pt x="31" y="42"/>
                  </a:lnTo>
                  <a:lnTo>
                    <a:pt x="34" y="39"/>
                  </a:lnTo>
                  <a:lnTo>
                    <a:pt x="37" y="39"/>
                  </a:lnTo>
                  <a:lnTo>
                    <a:pt x="39" y="37"/>
                  </a:lnTo>
                  <a:lnTo>
                    <a:pt x="42" y="34"/>
                  </a:lnTo>
                  <a:lnTo>
                    <a:pt x="42" y="29"/>
                  </a:lnTo>
                  <a:lnTo>
                    <a:pt x="42" y="26"/>
                  </a:lnTo>
                  <a:lnTo>
                    <a:pt x="45" y="23"/>
                  </a:lnTo>
                </a:path>
              </a:pathLst>
            </a:custGeom>
            <a:noFill/>
            <a:ln w="333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401" name="Freeform 37">
              <a:extLst>
                <a:ext uri="{FF2B5EF4-FFF2-40B4-BE49-F238E27FC236}">
                  <a16:creationId xmlns:a16="http://schemas.microsoft.com/office/drawing/2014/main" id="{463B3D55-80C3-88E3-1A31-BDD5E57E9A95}"/>
                </a:ext>
              </a:extLst>
            </p:cNvPr>
            <p:cNvSpPr>
              <a:spLocks noChangeAspect="1"/>
            </p:cNvSpPr>
            <p:nvPr/>
          </p:nvSpPr>
          <p:spPr bwMode="auto">
            <a:xfrm>
              <a:off x="4931" y="2648"/>
              <a:ext cx="31" cy="30"/>
            </a:xfrm>
            <a:custGeom>
              <a:avLst/>
              <a:gdLst>
                <a:gd name="T0" fmla="*/ 1 w 46"/>
                <a:gd name="T1" fmla="*/ 1 h 45"/>
                <a:gd name="T2" fmla="*/ 1 w 46"/>
                <a:gd name="T3" fmla="*/ 1 h 45"/>
                <a:gd name="T4" fmla="*/ 1 w 46"/>
                <a:gd name="T5" fmla="*/ 1 h 45"/>
                <a:gd name="T6" fmla="*/ 1 w 46"/>
                <a:gd name="T7" fmla="*/ 1 h 45"/>
                <a:gd name="T8" fmla="*/ 1 w 46"/>
                <a:gd name="T9" fmla="*/ 1 h 45"/>
                <a:gd name="T10" fmla="*/ 1 w 46"/>
                <a:gd name="T11" fmla="*/ 1 h 45"/>
                <a:gd name="T12" fmla="*/ 1 w 46"/>
                <a:gd name="T13" fmla="*/ 1 h 45"/>
                <a:gd name="T14" fmla="*/ 1 w 46"/>
                <a:gd name="T15" fmla="*/ 1 h 45"/>
                <a:gd name="T16" fmla="*/ 1 w 46"/>
                <a:gd name="T17" fmla="*/ 1 h 45"/>
                <a:gd name="T18" fmla="*/ 1 w 46"/>
                <a:gd name="T19" fmla="*/ 1 h 45"/>
                <a:gd name="T20" fmla="*/ 1 w 46"/>
                <a:gd name="T21" fmla="*/ 1 h 45"/>
                <a:gd name="T22" fmla="*/ 1 w 46"/>
                <a:gd name="T23" fmla="*/ 1 h 45"/>
                <a:gd name="T24" fmla="*/ 1 w 46"/>
                <a:gd name="T25" fmla="*/ 1 h 45"/>
                <a:gd name="T26" fmla="*/ 1 w 46"/>
                <a:gd name="T27" fmla="*/ 1 h 45"/>
                <a:gd name="T28" fmla="*/ 1 w 46"/>
                <a:gd name="T29" fmla="*/ 1 h 45"/>
                <a:gd name="T30" fmla="*/ 1 w 46"/>
                <a:gd name="T31" fmla="*/ 1 h 45"/>
                <a:gd name="T32" fmla="*/ 1 w 46"/>
                <a:gd name="T33" fmla="*/ 1 h 45"/>
                <a:gd name="T34" fmla="*/ 1 w 46"/>
                <a:gd name="T35" fmla="*/ 1 h 45"/>
                <a:gd name="T36" fmla="*/ 0 w 46"/>
                <a:gd name="T37" fmla="*/ 1 h 45"/>
                <a:gd name="T38" fmla="*/ 0 w 46"/>
                <a:gd name="T39" fmla="*/ 1 h 45"/>
                <a:gd name="T40" fmla="*/ 0 w 46"/>
                <a:gd name="T41" fmla="*/ 1 h 45"/>
                <a:gd name="T42" fmla="*/ 0 w 46"/>
                <a:gd name="T43" fmla="*/ 1 h 45"/>
                <a:gd name="T44" fmla="*/ 0 w 46"/>
                <a:gd name="T45" fmla="*/ 1 h 45"/>
                <a:gd name="T46" fmla="*/ 1 w 46"/>
                <a:gd name="T47" fmla="*/ 1 h 45"/>
                <a:gd name="T48" fmla="*/ 1 w 46"/>
                <a:gd name="T49" fmla="*/ 1 h 45"/>
                <a:gd name="T50" fmla="*/ 1 w 46"/>
                <a:gd name="T51" fmla="*/ 1 h 45"/>
                <a:gd name="T52" fmla="*/ 1 w 46"/>
                <a:gd name="T53" fmla="*/ 1 h 45"/>
                <a:gd name="T54" fmla="*/ 1 w 46"/>
                <a:gd name="T55" fmla="*/ 1 h 45"/>
                <a:gd name="T56" fmla="*/ 1 w 46"/>
                <a:gd name="T57" fmla="*/ 1 h 45"/>
                <a:gd name="T58" fmla="*/ 1 w 46"/>
                <a:gd name="T59" fmla="*/ 0 h 45"/>
                <a:gd name="T60" fmla="*/ 1 w 46"/>
                <a:gd name="T61" fmla="*/ 0 h 45"/>
                <a:gd name="T62" fmla="*/ 1 w 46"/>
                <a:gd name="T63" fmla="*/ 0 h 45"/>
                <a:gd name="T64" fmla="*/ 1 w 46"/>
                <a:gd name="T65" fmla="*/ 1 h 45"/>
                <a:gd name="T66" fmla="*/ 1 w 46"/>
                <a:gd name="T67" fmla="*/ 1 h 45"/>
                <a:gd name="T68" fmla="*/ 1 w 46"/>
                <a:gd name="T69" fmla="*/ 1 h 45"/>
                <a:gd name="T70" fmla="*/ 1 w 46"/>
                <a:gd name="T71" fmla="*/ 1 h 45"/>
                <a:gd name="T72" fmla="*/ 1 w 46"/>
                <a:gd name="T73" fmla="*/ 1 h 45"/>
                <a:gd name="T74" fmla="*/ 1 w 46"/>
                <a:gd name="T75" fmla="*/ 1 h 45"/>
                <a:gd name="T76" fmla="*/ 1 w 46"/>
                <a:gd name="T77" fmla="*/ 1 h 45"/>
                <a:gd name="T78" fmla="*/ 1 w 46"/>
                <a:gd name="T79" fmla="*/ 1 h 45"/>
                <a:gd name="T80" fmla="*/ 1 w 46"/>
                <a:gd name="T81" fmla="*/ 1 h 45"/>
                <a:gd name="T82" fmla="*/ 1 w 46"/>
                <a:gd name="T83" fmla="*/ 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
                <a:gd name="T127" fmla="*/ 0 h 45"/>
                <a:gd name="T128" fmla="*/ 46 w 46"/>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 h="45">
                  <a:moveTo>
                    <a:pt x="43" y="21"/>
                  </a:moveTo>
                  <a:lnTo>
                    <a:pt x="43" y="26"/>
                  </a:lnTo>
                  <a:lnTo>
                    <a:pt x="43" y="29"/>
                  </a:lnTo>
                  <a:lnTo>
                    <a:pt x="43" y="34"/>
                  </a:lnTo>
                  <a:lnTo>
                    <a:pt x="40" y="37"/>
                  </a:lnTo>
                  <a:lnTo>
                    <a:pt x="38" y="39"/>
                  </a:lnTo>
                  <a:lnTo>
                    <a:pt x="35" y="39"/>
                  </a:lnTo>
                  <a:lnTo>
                    <a:pt x="32" y="42"/>
                  </a:lnTo>
                  <a:lnTo>
                    <a:pt x="30" y="45"/>
                  </a:lnTo>
                  <a:lnTo>
                    <a:pt x="27" y="45"/>
                  </a:lnTo>
                  <a:lnTo>
                    <a:pt x="22" y="45"/>
                  </a:lnTo>
                  <a:lnTo>
                    <a:pt x="19" y="45"/>
                  </a:lnTo>
                  <a:lnTo>
                    <a:pt x="14" y="45"/>
                  </a:lnTo>
                  <a:lnTo>
                    <a:pt x="11" y="42"/>
                  </a:lnTo>
                  <a:lnTo>
                    <a:pt x="8" y="39"/>
                  </a:lnTo>
                  <a:lnTo>
                    <a:pt x="6" y="39"/>
                  </a:lnTo>
                  <a:lnTo>
                    <a:pt x="3" y="37"/>
                  </a:lnTo>
                  <a:lnTo>
                    <a:pt x="3" y="34"/>
                  </a:lnTo>
                  <a:lnTo>
                    <a:pt x="0" y="29"/>
                  </a:lnTo>
                  <a:lnTo>
                    <a:pt x="0" y="26"/>
                  </a:lnTo>
                  <a:lnTo>
                    <a:pt x="0" y="23"/>
                  </a:lnTo>
                  <a:lnTo>
                    <a:pt x="0" y="18"/>
                  </a:lnTo>
                  <a:lnTo>
                    <a:pt x="0" y="16"/>
                  </a:lnTo>
                  <a:lnTo>
                    <a:pt x="3" y="13"/>
                  </a:lnTo>
                  <a:lnTo>
                    <a:pt x="3" y="10"/>
                  </a:lnTo>
                  <a:lnTo>
                    <a:pt x="6" y="8"/>
                  </a:lnTo>
                  <a:lnTo>
                    <a:pt x="8" y="5"/>
                  </a:lnTo>
                  <a:lnTo>
                    <a:pt x="11" y="2"/>
                  </a:lnTo>
                  <a:lnTo>
                    <a:pt x="14" y="2"/>
                  </a:lnTo>
                  <a:lnTo>
                    <a:pt x="19" y="0"/>
                  </a:lnTo>
                  <a:lnTo>
                    <a:pt x="22" y="0"/>
                  </a:lnTo>
                  <a:lnTo>
                    <a:pt x="27" y="0"/>
                  </a:lnTo>
                  <a:lnTo>
                    <a:pt x="30" y="2"/>
                  </a:lnTo>
                  <a:lnTo>
                    <a:pt x="32" y="2"/>
                  </a:lnTo>
                  <a:lnTo>
                    <a:pt x="35" y="5"/>
                  </a:lnTo>
                  <a:lnTo>
                    <a:pt x="38" y="8"/>
                  </a:lnTo>
                  <a:lnTo>
                    <a:pt x="40" y="10"/>
                  </a:lnTo>
                  <a:lnTo>
                    <a:pt x="43" y="13"/>
                  </a:lnTo>
                  <a:lnTo>
                    <a:pt x="43" y="16"/>
                  </a:lnTo>
                  <a:lnTo>
                    <a:pt x="43" y="18"/>
                  </a:lnTo>
                  <a:lnTo>
                    <a:pt x="46" y="23"/>
                  </a:lnTo>
                  <a:lnTo>
                    <a:pt x="43"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2" name="Freeform 38">
              <a:extLst>
                <a:ext uri="{FF2B5EF4-FFF2-40B4-BE49-F238E27FC236}">
                  <a16:creationId xmlns:a16="http://schemas.microsoft.com/office/drawing/2014/main" id="{44935B68-313C-BFBB-FBEB-EA0F5BCCFE61}"/>
                </a:ext>
              </a:extLst>
            </p:cNvPr>
            <p:cNvSpPr>
              <a:spLocks noChangeAspect="1"/>
            </p:cNvSpPr>
            <p:nvPr/>
          </p:nvSpPr>
          <p:spPr bwMode="auto">
            <a:xfrm>
              <a:off x="4931" y="2648"/>
              <a:ext cx="31" cy="30"/>
            </a:xfrm>
            <a:custGeom>
              <a:avLst/>
              <a:gdLst>
                <a:gd name="T0" fmla="*/ 1 w 46"/>
                <a:gd name="T1" fmla="*/ 1 h 45"/>
                <a:gd name="T2" fmla="*/ 1 w 46"/>
                <a:gd name="T3" fmla="*/ 1 h 45"/>
                <a:gd name="T4" fmla="*/ 1 w 46"/>
                <a:gd name="T5" fmla="*/ 1 h 45"/>
                <a:gd name="T6" fmla="*/ 1 w 46"/>
                <a:gd name="T7" fmla="*/ 1 h 45"/>
                <a:gd name="T8" fmla="*/ 1 w 46"/>
                <a:gd name="T9" fmla="*/ 1 h 45"/>
                <a:gd name="T10" fmla="*/ 1 w 46"/>
                <a:gd name="T11" fmla="*/ 1 h 45"/>
                <a:gd name="T12" fmla="*/ 1 w 46"/>
                <a:gd name="T13" fmla="*/ 1 h 45"/>
                <a:gd name="T14" fmla="*/ 1 w 46"/>
                <a:gd name="T15" fmla="*/ 1 h 45"/>
                <a:gd name="T16" fmla="*/ 1 w 46"/>
                <a:gd name="T17" fmla="*/ 1 h 45"/>
                <a:gd name="T18" fmla="*/ 1 w 46"/>
                <a:gd name="T19" fmla="*/ 0 h 45"/>
                <a:gd name="T20" fmla="*/ 1 w 46"/>
                <a:gd name="T21" fmla="*/ 0 h 45"/>
                <a:gd name="T22" fmla="*/ 1 w 46"/>
                <a:gd name="T23" fmla="*/ 0 h 45"/>
                <a:gd name="T24" fmla="*/ 1 w 46"/>
                <a:gd name="T25" fmla="*/ 1 h 45"/>
                <a:gd name="T26" fmla="*/ 1 w 46"/>
                <a:gd name="T27" fmla="*/ 1 h 45"/>
                <a:gd name="T28" fmla="*/ 1 w 46"/>
                <a:gd name="T29" fmla="*/ 1 h 45"/>
                <a:gd name="T30" fmla="*/ 1 w 46"/>
                <a:gd name="T31" fmla="*/ 1 h 45"/>
                <a:gd name="T32" fmla="*/ 1 w 46"/>
                <a:gd name="T33" fmla="*/ 1 h 45"/>
                <a:gd name="T34" fmla="*/ 1 w 46"/>
                <a:gd name="T35" fmla="*/ 1 h 45"/>
                <a:gd name="T36" fmla="*/ 0 w 46"/>
                <a:gd name="T37" fmla="*/ 1 h 45"/>
                <a:gd name="T38" fmla="*/ 0 w 46"/>
                <a:gd name="T39" fmla="*/ 1 h 45"/>
                <a:gd name="T40" fmla="*/ 0 w 46"/>
                <a:gd name="T41" fmla="*/ 1 h 45"/>
                <a:gd name="T42" fmla="*/ 0 w 46"/>
                <a:gd name="T43" fmla="*/ 1 h 45"/>
                <a:gd name="T44" fmla="*/ 0 w 46"/>
                <a:gd name="T45" fmla="*/ 1 h 45"/>
                <a:gd name="T46" fmla="*/ 1 w 46"/>
                <a:gd name="T47" fmla="*/ 1 h 45"/>
                <a:gd name="T48" fmla="*/ 1 w 46"/>
                <a:gd name="T49" fmla="*/ 1 h 45"/>
                <a:gd name="T50" fmla="*/ 1 w 46"/>
                <a:gd name="T51" fmla="*/ 1 h 45"/>
                <a:gd name="T52" fmla="*/ 1 w 46"/>
                <a:gd name="T53" fmla="*/ 1 h 45"/>
                <a:gd name="T54" fmla="*/ 1 w 46"/>
                <a:gd name="T55" fmla="*/ 1 h 45"/>
                <a:gd name="T56" fmla="*/ 1 w 46"/>
                <a:gd name="T57" fmla="*/ 1 h 45"/>
                <a:gd name="T58" fmla="*/ 1 w 46"/>
                <a:gd name="T59" fmla="*/ 1 h 45"/>
                <a:gd name="T60" fmla="*/ 1 w 46"/>
                <a:gd name="T61" fmla="*/ 1 h 45"/>
                <a:gd name="T62" fmla="*/ 1 w 46"/>
                <a:gd name="T63" fmla="*/ 1 h 45"/>
                <a:gd name="T64" fmla="*/ 1 w 46"/>
                <a:gd name="T65" fmla="*/ 1 h 45"/>
                <a:gd name="T66" fmla="*/ 1 w 46"/>
                <a:gd name="T67" fmla="*/ 1 h 45"/>
                <a:gd name="T68" fmla="*/ 1 w 46"/>
                <a:gd name="T69" fmla="*/ 1 h 45"/>
                <a:gd name="T70" fmla="*/ 1 w 46"/>
                <a:gd name="T71" fmla="*/ 1 h 45"/>
                <a:gd name="T72" fmla="*/ 1 w 46"/>
                <a:gd name="T73" fmla="*/ 1 h 45"/>
                <a:gd name="T74" fmla="*/ 1 w 46"/>
                <a:gd name="T75" fmla="*/ 1 h 45"/>
                <a:gd name="T76" fmla="*/ 1 w 46"/>
                <a:gd name="T77" fmla="*/ 1 h 45"/>
                <a:gd name="T78" fmla="*/ 1 w 46"/>
                <a:gd name="T79" fmla="*/ 1 h 45"/>
                <a:gd name="T80" fmla="*/ 1 w 46"/>
                <a:gd name="T81" fmla="*/ 1 h 45"/>
                <a:gd name="T82" fmla="*/ 1 w 46"/>
                <a:gd name="T83" fmla="*/ 1 h 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
                <a:gd name="T127" fmla="*/ 0 h 45"/>
                <a:gd name="T128" fmla="*/ 46 w 46"/>
                <a:gd name="T129" fmla="*/ 45 h 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 h="45">
                  <a:moveTo>
                    <a:pt x="43" y="21"/>
                  </a:moveTo>
                  <a:lnTo>
                    <a:pt x="43" y="18"/>
                  </a:lnTo>
                  <a:lnTo>
                    <a:pt x="43" y="16"/>
                  </a:lnTo>
                  <a:lnTo>
                    <a:pt x="43" y="13"/>
                  </a:lnTo>
                  <a:lnTo>
                    <a:pt x="40" y="10"/>
                  </a:lnTo>
                  <a:lnTo>
                    <a:pt x="38" y="8"/>
                  </a:lnTo>
                  <a:lnTo>
                    <a:pt x="35" y="5"/>
                  </a:lnTo>
                  <a:lnTo>
                    <a:pt x="32" y="2"/>
                  </a:lnTo>
                  <a:lnTo>
                    <a:pt x="30" y="2"/>
                  </a:lnTo>
                  <a:lnTo>
                    <a:pt x="27" y="0"/>
                  </a:lnTo>
                  <a:lnTo>
                    <a:pt x="22" y="0"/>
                  </a:lnTo>
                  <a:lnTo>
                    <a:pt x="19" y="0"/>
                  </a:lnTo>
                  <a:lnTo>
                    <a:pt x="14" y="2"/>
                  </a:lnTo>
                  <a:lnTo>
                    <a:pt x="11" y="2"/>
                  </a:lnTo>
                  <a:lnTo>
                    <a:pt x="8" y="5"/>
                  </a:lnTo>
                  <a:lnTo>
                    <a:pt x="6" y="8"/>
                  </a:lnTo>
                  <a:lnTo>
                    <a:pt x="3" y="10"/>
                  </a:lnTo>
                  <a:lnTo>
                    <a:pt x="3" y="13"/>
                  </a:lnTo>
                  <a:lnTo>
                    <a:pt x="0" y="16"/>
                  </a:lnTo>
                  <a:lnTo>
                    <a:pt x="0" y="18"/>
                  </a:lnTo>
                  <a:lnTo>
                    <a:pt x="0" y="23"/>
                  </a:lnTo>
                  <a:lnTo>
                    <a:pt x="0" y="26"/>
                  </a:lnTo>
                  <a:lnTo>
                    <a:pt x="0" y="29"/>
                  </a:lnTo>
                  <a:lnTo>
                    <a:pt x="3" y="34"/>
                  </a:lnTo>
                  <a:lnTo>
                    <a:pt x="3" y="37"/>
                  </a:lnTo>
                  <a:lnTo>
                    <a:pt x="6" y="39"/>
                  </a:lnTo>
                  <a:lnTo>
                    <a:pt x="8" y="39"/>
                  </a:lnTo>
                  <a:lnTo>
                    <a:pt x="11" y="42"/>
                  </a:lnTo>
                  <a:lnTo>
                    <a:pt x="14" y="45"/>
                  </a:lnTo>
                  <a:lnTo>
                    <a:pt x="19" y="45"/>
                  </a:lnTo>
                  <a:lnTo>
                    <a:pt x="22" y="45"/>
                  </a:lnTo>
                  <a:lnTo>
                    <a:pt x="27" y="45"/>
                  </a:lnTo>
                  <a:lnTo>
                    <a:pt x="30" y="45"/>
                  </a:lnTo>
                  <a:lnTo>
                    <a:pt x="32" y="42"/>
                  </a:lnTo>
                  <a:lnTo>
                    <a:pt x="35" y="39"/>
                  </a:lnTo>
                  <a:lnTo>
                    <a:pt x="38" y="39"/>
                  </a:lnTo>
                  <a:lnTo>
                    <a:pt x="40" y="37"/>
                  </a:lnTo>
                  <a:lnTo>
                    <a:pt x="43" y="34"/>
                  </a:lnTo>
                  <a:lnTo>
                    <a:pt x="43" y="29"/>
                  </a:lnTo>
                  <a:lnTo>
                    <a:pt x="43" y="26"/>
                  </a:lnTo>
                  <a:lnTo>
                    <a:pt x="46" y="23"/>
                  </a:lnTo>
                </a:path>
              </a:pathLst>
            </a:custGeom>
            <a:noFill/>
            <a:ln w="333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403" name="Freeform 41">
              <a:extLst>
                <a:ext uri="{FF2B5EF4-FFF2-40B4-BE49-F238E27FC236}">
                  <a16:creationId xmlns:a16="http://schemas.microsoft.com/office/drawing/2014/main" id="{5B1BD793-A25D-0A0B-F8F5-1F45A766C82F}"/>
                </a:ext>
              </a:extLst>
            </p:cNvPr>
            <p:cNvSpPr>
              <a:spLocks noChangeAspect="1"/>
            </p:cNvSpPr>
            <p:nvPr/>
          </p:nvSpPr>
          <p:spPr bwMode="auto">
            <a:xfrm>
              <a:off x="4502" y="2203"/>
              <a:ext cx="212" cy="211"/>
            </a:xfrm>
            <a:custGeom>
              <a:avLst/>
              <a:gdLst>
                <a:gd name="T0" fmla="*/ 1 w 319"/>
                <a:gd name="T1" fmla="*/ 1 h 318"/>
                <a:gd name="T2" fmla="*/ 1 w 319"/>
                <a:gd name="T3" fmla="*/ 1 h 318"/>
                <a:gd name="T4" fmla="*/ 1 w 319"/>
                <a:gd name="T5" fmla="*/ 1 h 318"/>
                <a:gd name="T6" fmla="*/ 1 w 319"/>
                <a:gd name="T7" fmla="*/ 1 h 318"/>
                <a:gd name="T8" fmla="*/ 1 w 319"/>
                <a:gd name="T9" fmla="*/ 1 h 318"/>
                <a:gd name="T10" fmla="*/ 1 w 319"/>
                <a:gd name="T11" fmla="*/ 1 h 318"/>
                <a:gd name="T12" fmla="*/ 1 w 319"/>
                <a:gd name="T13" fmla="*/ 1 h 318"/>
                <a:gd name="T14" fmla="*/ 1 w 319"/>
                <a:gd name="T15" fmla="*/ 1 h 318"/>
                <a:gd name="T16" fmla="*/ 1 w 319"/>
                <a:gd name="T17" fmla="*/ 1 h 318"/>
                <a:gd name="T18" fmla="*/ 1 w 319"/>
                <a:gd name="T19" fmla="*/ 1 h 318"/>
                <a:gd name="T20" fmla="*/ 1 w 319"/>
                <a:gd name="T21" fmla="*/ 1 h 318"/>
                <a:gd name="T22" fmla="*/ 1 w 319"/>
                <a:gd name="T23" fmla="*/ 1 h 318"/>
                <a:gd name="T24" fmla="*/ 1 w 319"/>
                <a:gd name="T25" fmla="*/ 1 h 318"/>
                <a:gd name="T26" fmla="*/ 1 w 319"/>
                <a:gd name="T27" fmla="*/ 1 h 318"/>
                <a:gd name="T28" fmla="*/ 1 w 319"/>
                <a:gd name="T29" fmla="*/ 1 h 318"/>
                <a:gd name="T30" fmla="*/ 1 w 319"/>
                <a:gd name="T31" fmla="*/ 1 h 318"/>
                <a:gd name="T32" fmla="*/ 1 w 319"/>
                <a:gd name="T33" fmla="*/ 1 h 318"/>
                <a:gd name="T34" fmla="*/ 1 w 319"/>
                <a:gd name="T35" fmla="*/ 1 h 318"/>
                <a:gd name="T36" fmla="*/ 1 w 319"/>
                <a:gd name="T37" fmla="*/ 1 h 318"/>
                <a:gd name="T38" fmla="*/ 1 w 319"/>
                <a:gd name="T39" fmla="*/ 1 h 318"/>
                <a:gd name="T40" fmla="*/ 0 w 319"/>
                <a:gd name="T41" fmla="*/ 1 h 318"/>
                <a:gd name="T42" fmla="*/ 1 w 319"/>
                <a:gd name="T43" fmla="*/ 1 h 318"/>
                <a:gd name="T44" fmla="*/ 1 w 319"/>
                <a:gd name="T45" fmla="*/ 1 h 318"/>
                <a:gd name="T46" fmla="*/ 1 w 319"/>
                <a:gd name="T47" fmla="*/ 1 h 318"/>
                <a:gd name="T48" fmla="*/ 1 w 319"/>
                <a:gd name="T49" fmla="*/ 1 h 318"/>
                <a:gd name="T50" fmla="*/ 1 w 319"/>
                <a:gd name="T51" fmla="*/ 1 h 318"/>
                <a:gd name="T52" fmla="*/ 1 w 319"/>
                <a:gd name="T53" fmla="*/ 1 h 318"/>
                <a:gd name="T54" fmla="*/ 1 w 319"/>
                <a:gd name="T55" fmla="*/ 1 h 318"/>
                <a:gd name="T56" fmla="*/ 1 w 319"/>
                <a:gd name="T57" fmla="*/ 1 h 318"/>
                <a:gd name="T58" fmla="*/ 1 w 319"/>
                <a:gd name="T59" fmla="*/ 1 h 318"/>
                <a:gd name="T60" fmla="*/ 1 w 319"/>
                <a:gd name="T61" fmla="*/ 0 h 318"/>
                <a:gd name="T62" fmla="*/ 1 w 319"/>
                <a:gd name="T63" fmla="*/ 1 h 318"/>
                <a:gd name="T64" fmla="*/ 1 w 319"/>
                <a:gd name="T65" fmla="*/ 1 h 318"/>
                <a:gd name="T66" fmla="*/ 1 w 319"/>
                <a:gd name="T67" fmla="*/ 1 h 318"/>
                <a:gd name="T68" fmla="*/ 1 w 319"/>
                <a:gd name="T69" fmla="*/ 1 h 318"/>
                <a:gd name="T70" fmla="*/ 1 w 319"/>
                <a:gd name="T71" fmla="*/ 1 h 318"/>
                <a:gd name="T72" fmla="*/ 1 w 319"/>
                <a:gd name="T73" fmla="*/ 1 h 318"/>
                <a:gd name="T74" fmla="*/ 1 w 319"/>
                <a:gd name="T75" fmla="*/ 1 h 318"/>
                <a:gd name="T76" fmla="*/ 1 w 319"/>
                <a:gd name="T77" fmla="*/ 1 h 318"/>
                <a:gd name="T78" fmla="*/ 1 w 319"/>
                <a:gd name="T79" fmla="*/ 1 h 318"/>
                <a:gd name="T80" fmla="*/ 1 w 319"/>
                <a:gd name="T81" fmla="*/ 1 h 318"/>
                <a:gd name="T82" fmla="*/ 1 w 319"/>
                <a:gd name="T83" fmla="*/ 1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9" y="157"/>
                  </a:moveTo>
                  <a:lnTo>
                    <a:pt x="316" y="186"/>
                  </a:lnTo>
                  <a:lnTo>
                    <a:pt x="311" y="210"/>
                  </a:lnTo>
                  <a:lnTo>
                    <a:pt x="300" y="231"/>
                  </a:lnTo>
                  <a:lnTo>
                    <a:pt x="289" y="252"/>
                  </a:lnTo>
                  <a:lnTo>
                    <a:pt x="273" y="271"/>
                  </a:lnTo>
                  <a:lnTo>
                    <a:pt x="255" y="287"/>
                  </a:lnTo>
                  <a:lnTo>
                    <a:pt x="234" y="300"/>
                  </a:lnTo>
                  <a:lnTo>
                    <a:pt x="210" y="310"/>
                  </a:lnTo>
                  <a:lnTo>
                    <a:pt x="186" y="316"/>
                  </a:lnTo>
                  <a:lnTo>
                    <a:pt x="159" y="318"/>
                  </a:lnTo>
                  <a:lnTo>
                    <a:pt x="133" y="316"/>
                  </a:lnTo>
                  <a:lnTo>
                    <a:pt x="109" y="310"/>
                  </a:lnTo>
                  <a:lnTo>
                    <a:pt x="88" y="300"/>
                  </a:lnTo>
                  <a:lnTo>
                    <a:pt x="67" y="287"/>
                  </a:lnTo>
                  <a:lnTo>
                    <a:pt x="48" y="271"/>
                  </a:lnTo>
                  <a:lnTo>
                    <a:pt x="32" y="252"/>
                  </a:lnTo>
                  <a:lnTo>
                    <a:pt x="19" y="231"/>
                  </a:lnTo>
                  <a:lnTo>
                    <a:pt x="8" y="210"/>
                  </a:lnTo>
                  <a:lnTo>
                    <a:pt x="3" y="186"/>
                  </a:lnTo>
                  <a:lnTo>
                    <a:pt x="0" y="159"/>
                  </a:lnTo>
                  <a:lnTo>
                    <a:pt x="3" y="133"/>
                  </a:lnTo>
                  <a:lnTo>
                    <a:pt x="8" y="109"/>
                  </a:lnTo>
                  <a:lnTo>
                    <a:pt x="19" y="85"/>
                  </a:lnTo>
                  <a:lnTo>
                    <a:pt x="32" y="64"/>
                  </a:lnTo>
                  <a:lnTo>
                    <a:pt x="48" y="45"/>
                  </a:lnTo>
                  <a:lnTo>
                    <a:pt x="67" y="29"/>
                  </a:lnTo>
                  <a:lnTo>
                    <a:pt x="88" y="19"/>
                  </a:lnTo>
                  <a:lnTo>
                    <a:pt x="109" y="8"/>
                  </a:lnTo>
                  <a:lnTo>
                    <a:pt x="133" y="3"/>
                  </a:lnTo>
                  <a:lnTo>
                    <a:pt x="159" y="0"/>
                  </a:lnTo>
                  <a:lnTo>
                    <a:pt x="186" y="3"/>
                  </a:lnTo>
                  <a:lnTo>
                    <a:pt x="210" y="8"/>
                  </a:lnTo>
                  <a:lnTo>
                    <a:pt x="234" y="19"/>
                  </a:lnTo>
                  <a:lnTo>
                    <a:pt x="255" y="29"/>
                  </a:lnTo>
                  <a:lnTo>
                    <a:pt x="273" y="45"/>
                  </a:lnTo>
                  <a:lnTo>
                    <a:pt x="289" y="64"/>
                  </a:lnTo>
                  <a:lnTo>
                    <a:pt x="300" y="85"/>
                  </a:lnTo>
                  <a:lnTo>
                    <a:pt x="311" y="109"/>
                  </a:lnTo>
                  <a:lnTo>
                    <a:pt x="316" y="133"/>
                  </a:lnTo>
                  <a:lnTo>
                    <a:pt x="319" y="159"/>
                  </a:lnTo>
                  <a:lnTo>
                    <a:pt x="319" y="15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4" name="Freeform 42">
              <a:extLst>
                <a:ext uri="{FF2B5EF4-FFF2-40B4-BE49-F238E27FC236}">
                  <a16:creationId xmlns:a16="http://schemas.microsoft.com/office/drawing/2014/main" id="{6AD35736-AAFE-607F-F65C-5C19E7B39145}"/>
                </a:ext>
              </a:extLst>
            </p:cNvPr>
            <p:cNvSpPr>
              <a:spLocks noChangeAspect="1"/>
            </p:cNvSpPr>
            <p:nvPr/>
          </p:nvSpPr>
          <p:spPr bwMode="auto">
            <a:xfrm>
              <a:off x="4784" y="2289"/>
              <a:ext cx="212" cy="212"/>
            </a:xfrm>
            <a:custGeom>
              <a:avLst/>
              <a:gdLst>
                <a:gd name="T0" fmla="*/ 1 w 319"/>
                <a:gd name="T1" fmla="*/ 1 h 318"/>
                <a:gd name="T2" fmla="*/ 1 w 319"/>
                <a:gd name="T3" fmla="*/ 1 h 318"/>
                <a:gd name="T4" fmla="*/ 1 w 319"/>
                <a:gd name="T5" fmla="*/ 1 h 318"/>
                <a:gd name="T6" fmla="*/ 1 w 319"/>
                <a:gd name="T7" fmla="*/ 1 h 318"/>
                <a:gd name="T8" fmla="*/ 1 w 319"/>
                <a:gd name="T9" fmla="*/ 1 h 318"/>
                <a:gd name="T10" fmla="*/ 1 w 319"/>
                <a:gd name="T11" fmla="*/ 1 h 318"/>
                <a:gd name="T12" fmla="*/ 1 w 319"/>
                <a:gd name="T13" fmla="*/ 1 h 318"/>
                <a:gd name="T14" fmla="*/ 1 w 319"/>
                <a:gd name="T15" fmla="*/ 1 h 318"/>
                <a:gd name="T16" fmla="*/ 1 w 319"/>
                <a:gd name="T17" fmla="*/ 1 h 318"/>
                <a:gd name="T18" fmla="*/ 1 w 319"/>
                <a:gd name="T19" fmla="*/ 1 h 318"/>
                <a:gd name="T20" fmla="*/ 1 w 319"/>
                <a:gd name="T21" fmla="*/ 0 h 318"/>
                <a:gd name="T22" fmla="*/ 1 w 319"/>
                <a:gd name="T23" fmla="*/ 1 h 318"/>
                <a:gd name="T24" fmla="*/ 1 w 319"/>
                <a:gd name="T25" fmla="*/ 1 h 318"/>
                <a:gd name="T26" fmla="*/ 1 w 319"/>
                <a:gd name="T27" fmla="*/ 1 h 318"/>
                <a:gd name="T28" fmla="*/ 1 w 319"/>
                <a:gd name="T29" fmla="*/ 1 h 318"/>
                <a:gd name="T30" fmla="*/ 1 w 319"/>
                <a:gd name="T31" fmla="*/ 1 h 318"/>
                <a:gd name="T32" fmla="*/ 1 w 319"/>
                <a:gd name="T33" fmla="*/ 1 h 318"/>
                <a:gd name="T34" fmla="*/ 1 w 319"/>
                <a:gd name="T35" fmla="*/ 1 h 318"/>
                <a:gd name="T36" fmla="*/ 1 w 319"/>
                <a:gd name="T37" fmla="*/ 1 h 318"/>
                <a:gd name="T38" fmla="*/ 1 w 319"/>
                <a:gd name="T39" fmla="*/ 1 h 318"/>
                <a:gd name="T40" fmla="*/ 0 w 319"/>
                <a:gd name="T41" fmla="*/ 1 h 318"/>
                <a:gd name="T42" fmla="*/ 1 w 319"/>
                <a:gd name="T43" fmla="*/ 1 h 318"/>
                <a:gd name="T44" fmla="*/ 1 w 319"/>
                <a:gd name="T45" fmla="*/ 1 h 318"/>
                <a:gd name="T46" fmla="*/ 1 w 319"/>
                <a:gd name="T47" fmla="*/ 1 h 318"/>
                <a:gd name="T48" fmla="*/ 1 w 319"/>
                <a:gd name="T49" fmla="*/ 1 h 318"/>
                <a:gd name="T50" fmla="*/ 1 w 319"/>
                <a:gd name="T51" fmla="*/ 1 h 318"/>
                <a:gd name="T52" fmla="*/ 1 w 319"/>
                <a:gd name="T53" fmla="*/ 1 h 318"/>
                <a:gd name="T54" fmla="*/ 1 w 319"/>
                <a:gd name="T55" fmla="*/ 1 h 318"/>
                <a:gd name="T56" fmla="*/ 1 w 319"/>
                <a:gd name="T57" fmla="*/ 1 h 318"/>
                <a:gd name="T58" fmla="*/ 1 w 319"/>
                <a:gd name="T59" fmla="*/ 1 h 318"/>
                <a:gd name="T60" fmla="*/ 1 w 319"/>
                <a:gd name="T61" fmla="*/ 1 h 318"/>
                <a:gd name="T62" fmla="*/ 1 w 319"/>
                <a:gd name="T63" fmla="*/ 1 h 318"/>
                <a:gd name="T64" fmla="*/ 1 w 319"/>
                <a:gd name="T65" fmla="*/ 1 h 318"/>
                <a:gd name="T66" fmla="*/ 1 w 319"/>
                <a:gd name="T67" fmla="*/ 1 h 318"/>
                <a:gd name="T68" fmla="*/ 1 w 319"/>
                <a:gd name="T69" fmla="*/ 1 h 318"/>
                <a:gd name="T70" fmla="*/ 1 w 319"/>
                <a:gd name="T71" fmla="*/ 1 h 318"/>
                <a:gd name="T72" fmla="*/ 1 w 319"/>
                <a:gd name="T73" fmla="*/ 1 h 318"/>
                <a:gd name="T74" fmla="*/ 1 w 319"/>
                <a:gd name="T75" fmla="*/ 1 h 318"/>
                <a:gd name="T76" fmla="*/ 1 w 319"/>
                <a:gd name="T77" fmla="*/ 1 h 318"/>
                <a:gd name="T78" fmla="*/ 1 w 319"/>
                <a:gd name="T79" fmla="*/ 1 h 318"/>
                <a:gd name="T80" fmla="*/ 1 w 319"/>
                <a:gd name="T81" fmla="*/ 1 h 318"/>
                <a:gd name="T82" fmla="*/ 1 w 319"/>
                <a:gd name="T83" fmla="*/ 1 h 3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9"/>
                <a:gd name="T127" fmla="*/ 0 h 318"/>
                <a:gd name="T128" fmla="*/ 319 w 319"/>
                <a:gd name="T129" fmla="*/ 318 h 3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9" h="318">
                  <a:moveTo>
                    <a:pt x="319" y="157"/>
                  </a:moveTo>
                  <a:lnTo>
                    <a:pt x="316" y="133"/>
                  </a:lnTo>
                  <a:lnTo>
                    <a:pt x="311" y="109"/>
                  </a:lnTo>
                  <a:lnTo>
                    <a:pt x="300" y="85"/>
                  </a:lnTo>
                  <a:lnTo>
                    <a:pt x="289" y="64"/>
                  </a:lnTo>
                  <a:lnTo>
                    <a:pt x="273" y="45"/>
                  </a:lnTo>
                  <a:lnTo>
                    <a:pt x="255" y="29"/>
                  </a:lnTo>
                  <a:lnTo>
                    <a:pt x="234" y="19"/>
                  </a:lnTo>
                  <a:lnTo>
                    <a:pt x="210" y="8"/>
                  </a:lnTo>
                  <a:lnTo>
                    <a:pt x="186" y="3"/>
                  </a:lnTo>
                  <a:lnTo>
                    <a:pt x="159" y="0"/>
                  </a:lnTo>
                  <a:lnTo>
                    <a:pt x="133" y="3"/>
                  </a:lnTo>
                  <a:lnTo>
                    <a:pt x="109" y="8"/>
                  </a:lnTo>
                  <a:lnTo>
                    <a:pt x="88" y="19"/>
                  </a:lnTo>
                  <a:lnTo>
                    <a:pt x="67" y="29"/>
                  </a:lnTo>
                  <a:lnTo>
                    <a:pt x="48" y="45"/>
                  </a:lnTo>
                  <a:lnTo>
                    <a:pt x="32" y="64"/>
                  </a:lnTo>
                  <a:lnTo>
                    <a:pt x="19" y="85"/>
                  </a:lnTo>
                  <a:lnTo>
                    <a:pt x="8" y="109"/>
                  </a:lnTo>
                  <a:lnTo>
                    <a:pt x="3" y="133"/>
                  </a:lnTo>
                  <a:lnTo>
                    <a:pt x="0" y="159"/>
                  </a:lnTo>
                  <a:lnTo>
                    <a:pt x="3" y="186"/>
                  </a:lnTo>
                  <a:lnTo>
                    <a:pt x="8" y="210"/>
                  </a:lnTo>
                  <a:lnTo>
                    <a:pt x="19" y="231"/>
                  </a:lnTo>
                  <a:lnTo>
                    <a:pt x="32" y="252"/>
                  </a:lnTo>
                  <a:lnTo>
                    <a:pt x="48" y="271"/>
                  </a:lnTo>
                  <a:lnTo>
                    <a:pt x="67" y="287"/>
                  </a:lnTo>
                  <a:lnTo>
                    <a:pt x="88" y="300"/>
                  </a:lnTo>
                  <a:lnTo>
                    <a:pt x="109" y="310"/>
                  </a:lnTo>
                  <a:lnTo>
                    <a:pt x="133" y="316"/>
                  </a:lnTo>
                  <a:lnTo>
                    <a:pt x="159" y="318"/>
                  </a:lnTo>
                  <a:lnTo>
                    <a:pt x="186" y="316"/>
                  </a:lnTo>
                  <a:lnTo>
                    <a:pt x="210" y="310"/>
                  </a:lnTo>
                  <a:lnTo>
                    <a:pt x="234" y="300"/>
                  </a:lnTo>
                  <a:lnTo>
                    <a:pt x="255" y="287"/>
                  </a:lnTo>
                  <a:lnTo>
                    <a:pt x="273" y="271"/>
                  </a:lnTo>
                  <a:lnTo>
                    <a:pt x="289" y="252"/>
                  </a:lnTo>
                  <a:lnTo>
                    <a:pt x="300" y="231"/>
                  </a:lnTo>
                  <a:lnTo>
                    <a:pt x="311" y="210"/>
                  </a:lnTo>
                  <a:lnTo>
                    <a:pt x="316" y="186"/>
                  </a:lnTo>
                  <a:lnTo>
                    <a:pt x="319" y="15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405" name="Line 43">
              <a:extLst>
                <a:ext uri="{FF2B5EF4-FFF2-40B4-BE49-F238E27FC236}">
                  <a16:creationId xmlns:a16="http://schemas.microsoft.com/office/drawing/2014/main" id="{A7F6B7B7-3DDD-E7E7-9BB8-014C78D60001}"/>
                </a:ext>
              </a:extLst>
            </p:cNvPr>
            <p:cNvSpPr>
              <a:spLocks noChangeAspect="1" noChangeShapeType="1"/>
            </p:cNvSpPr>
            <p:nvPr/>
          </p:nvSpPr>
          <p:spPr bwMode="auto">
            <a:xfrm>
              <a:off x="4898" y="2691"/>
              <a:ext cx="1" cy="1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6" name="Line 44">
              <a:extLst>
                <a:ext uri="{FF2B5EF4-FFF2-40B4-BE49-F238E27FC236}">
                  <a16:creationId xmlns:a16="http://schemas.microsoft.com/office/drawing/2014/main" id="{CF2D97DE-6E5D-8AFC-203B-C10B82BE2766}"/>
                </a:ext>
              </a:extLst>
            </p:cNvPr>
            <p:cNvSpPr>
              <a:spLocks noChangeAspect="1" noChangeShapeType="1"/>
            </p:cNvSpPr>
            <p:nvPr/>
          </p:nvSpPr>
          <p:spPr bwMode="auto">
            <a:xfrm>
              <a:off x="4740" y="2737"/>
              <a:ext cx="15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7" name="Line 45">
              <a:extLst>
                <a:ext uri="{FF2B5EF4-FFF2-40B4-BE49-F238E27FC236}">
                  <a16:creationId xmlns:a16="http://schemas.microsoft.com/office/drawing/2014/main" id="{CDF413B6-5134-6450-4E9C-2BB71FAB0C35}"/>
                </a:ext>
              </a:extLst>
            </p:cNvPr>
            <p:cNvSpPr>
              <a:spLocks noChangeAspect="1" noChangeShapeType="1"/>
            </p:cNvSpPr>
            <p:nvPr/>
          </p:nvSpPr>
          <p:spPr bwMode="auto">
            <a:xfrm>
              <a:off x="4898" y="2506"/>
              <a:ext cx="1" cy="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8" name="Rectangle 46">
              <a:extLst>
                <a:ext uri="{FF2B5EF4-FFF2-40B4-BE49-F238E27FC236}">
                  <a16:creationId xmlns:a16="http://schemas.microsoft.com/office/drawing/2014/main" id="{6A6D2CE7-53A8-E6E0-1300-FA7394162E85}"/>
                </a:ext>
              </a:extLst>
            </p:cNvPr>
            <p:cNvSpPr>
              <a:spLocks noChangeAspect="1" noChangeArrowheads="1"/>
            </p:cNvSpPr>
            <p:nvPr/>
          </p:nvSpPr>
          <p:spPr bwMode="auto">
            <a:xfrm>
              <a:off x="4793" y="2559"/>
              <a:ext cx="212" cy="1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409" name="Rectangle 47">
              <a:extLst>
                <a:ext uri="{FF2B5EF4-FFF2-40B4-BE49-F238E27FC236}">
                  <a16:creationId xmlns:a16="http://schemas.microsoft.com/office/drawing/2014/main" id="{A2FEFEC0-7236-697C-4693-A6F771AEB565}"/>
                </a:ext>
              </a:extLst>
            </p:cNvPr>
            <p:cNvSpPr>
              <a:spLocks noChangeAspect="1" noChangeArrowheads="1"/>
            </p:cNvSpPr>
            <p:nvPr/>
          </p:nvSpPr>
          <p:spPr bwMode="auto">
            <a:xfrm>
              <a:off x="4793" y="2559"/>
              <a:ext cx="212" cy="132"/>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410" name="Rectangle 48">
              <a:extLst>
                <a:ext uri="{FF2B5EF4-FFF2-40B4-BE49-F238E27FC236}">
                  <a16:creationId xmlns:a16="http://schemas.microsoft.com/office/drawing/2014/main" id="{098F3490-9371-1E48-B6F6-849134FA7889}"/>
                </a:ext>
              </a:extLst>
            </p:cNvPr>
            <p:cNvSpPr>
              <a:spLocks noChangeAspect="1" noChangeArrowheads="1"/>
            </p:cNvSpPr>
            <p:nvPr/>
          </p:nvSpPr>
          <p:spPr bwMode="auto">
            <a:xfrm>
              <a:off x="4857" y="2346"/>
              <a:ext cx="5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P</a:t>
              </a:r>
              <a:endParaRPr lang="en-US" altLang="en-US" sz="1200" b="1"/>
            </a:p>
          </p:txBody>
        </p:sp>
        <p:sp>
          <p:nvSpPr>
            <p:cNvPr id="15411" name="Rectangle 49">
              <a:extLst>
                <a:ext uri="{FF2B5EF4-FFF2-40B4-BE49-F238E27FC236}">
                  <a16:creationId xmlns:a16="http://schemas.microsoft.com/office/drawing/2014/main" id="{D4ADEB6B-6EEA-13F1-1395-137C730147DC}"/>
                </a:ext>
              </a:extLst>
            </p:cNvPr>
            <p:cNvSpPr>
              <a:spLocks noChangeAspect="1" noChangeArrowheads="1"/>
            </p:cNvSpPr>
            <p:nvPr/>
          </p:nvSpPr>
          <p:spPr bwMode="auto">
            <a:xfrm>
              <a:off x="4898" y="2398"/>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800" b="1">
                  <a:solidFill>
                    <a:srgbClr val="0000FF"/>
                  </a:solidFill>
                </a:rPr>
                <a:t>H</a:t>
              </a:r>
              <a:endParaRPr lang="en-US" altLang="en-US" sz="1200" b="1">
                <a:solidFill>
                  <a:srgbClr val="0000FF"/>
                </a:solidFill>
              </a:endParaRPr>
            </a:p>
          </p:txBody>
        </p:sp>
        <p:sp>
          <p:nvSpPr>
            <p:cNvPr id="15412" name="Rectangle 50">
              <a:extLst>
                <a:ext uri="{FF2B5EF4-FFF2-40B4-BE49-F238E27FC236}">
                  <a16:creationId xmlns:a16="http://schemas.microsoft.com/office/drawing/2014/main" id="{B6F6A58B-B59C-4F43-DA06-AD00B11E1EC6}"/>
                </a:ext>
              </a:extLst>
            </p:cNvPr>
            <p:cNvSpPr>
              <a:spLocks noChangeAspect="1" noChangeArrowheads="1"/>
            </p:cNvSpPr>
            <p:nvPr/>
          </p:nvSpPr>
          <p:spPr bwMode="auto">
            <a:xfrm>
              <a:off x="4878" y="2586"/>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100">
                  <a:solidFill>
                    <a:srgbClr val="000000"/>
                  </a:solidFill>
                </a:rPr>
                <a:t>$</a:t>
              </a:r>
              <a:endParaRPr lang="en-US" altLang="en-US" sz="1200" b="1"/>
            </a:p>
          </p:txBody>
        </p:sp>
        <p:sp>
          <p:nvSpPr>
            <p:cNvPr id="15413" name="Rectangle 51">
              <a:extLst>
                <a:ext uri="{FF2B5EF4-FFF2-40B4-BE49-F238E27FC236}">
                  <a16:creationId xmlns:a16="http://schemas.microsoft.com/office/drawing/2014/main" id="{2FF32D82-1154-F23F-A826-6F417E123B1D}"/>
                </a:ext>
              </a:extLst>
            </p:cNvPr>
            <p:cNvSpPr>
              <a:spLocks noChangeAspect="1" noChangeArrowheads="1"/>
            </p:cNvSpPr>
            <p:nvPr/>
          </p:nvSpPr>
          <p:spPr bwMode="auto">
            <a:xfrm>
              <a:off x="4529" y="2559"/>
              <a:ext cx="211"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414" name="Rectangle 52">
              <a:extLst>
                <a:ext uri="{FF2B5EF4-FFF2-40B4-BE49-F238E27FC236}">
                  <a16:creationId xmlns:a16="http://schemas.microsoft.com/office/drawing/2014/main" id="{A06CAEA6-A077-991B-DB6B-A41A9668D341}"/>
                </a:ext>
              </a:extLst>
            </p:cNvPr>
            <p:cNvSpPr>
              <a:spLocks noChangeAspect="1" noChangeArrowheads="1"/>
            </p:cNvSpPr>
            <p:nvPr/>
          </p:nvSpPr>
          <p:spPr bwMode="auto">
            <a:xfrm>
              <a:off x="4529" y="2559"/>
              <a:ext cx="211" cy="212"/>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415" name="Rectangle 53">
              <a:extLst>
                <a:ext uri="{FF2B5EF4-FFF2-40B4-BE49-F238E27FC236}">
                  <a16:creationId xmlns:a16="http://schemas.microsoft.com/office/drawing/2014/main" id="{279C9422-E34A-7C61-1E00-E9E0B8FF68D1}"/>
                </a:ext>
              </a:extLst>
            </p:cNvPr>
            <p:cNvSpPr>
              <a:spLocks noChangeAspect="1" noChangeArrowheads="1"/>
            </p:cNvSpPr>
            <p:nvPr/>
          </p:nvSpPr>
          <p:spPr bwMode="auto">
            <a:xfrm>
              <a:off x="4570" y="2632"/>
              <a:ext cx="17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rgbClr val="000000"/>
                  </a:solidFill>
                </a:rPr>
                <a:t>Mem</a:t>
              </a:r>
              <a:endParaRPr lang="en-US" altLang="en-US" sz="1200" b="1"/>
            </a:p>
          </p:txBody>
        </p:sp>
        <p:sp>
          <p:nvSpPr>
            <p:cNvPr id="15416" name="Rectangle 54">
              <a:extLst>
                <a:ext uri="{FF2B5EF4-FFF2-40B4-BE49-F238E27FC236}">
                  <a16:creationId xmlns:a16="http://schemas.microsoft.com/office/drawing/2014/main" id="{3B21B804-4FE2-3979-00AF-5E841CD3CA16}"/>
                </a:ext>
              </a:extLst>
            </p:cNvPr>
            <p:cNvSpPr>
              <a:spLocks noChangeArrowheads="1"/>
            </p:cNvSpPr>
            <p:nvPr/>
          </p:nvSpPr>
          <p:spPr bwMode="auto">
            <a:xfrm>
              <a:off x="4531" y="2592"/>
              <a:ext cx="214" cy="32"/>
            </a:xfrm>
            <a:prstGeom prst="rect">
              <a:avLst/>
            </a:prstGeom>
            <a:solidFill>
              <a:srgbClr val="0000FF"/>
            </a:solidFill>
            <a:ln w="9525">
              <a:solidFill>
                <a:schemeClr val="tx1"/>
              </a:solidFill>
              <a:miter lim="800000"/>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417" name="Rectangle 55">
              <a:extLst>
                <a:ext uri="{FF2B5EF4-FFF2-40B4-BE49-F238E27FC236}">
                  <a16:creationId xmlns:a16="http://schemas.microsoft.com/office/drawing/2014/main" id="{86BBB8BC-8F8E-4C48-5306-0C65B53E093A}"/>
                </a:ext>
              </a:extLst>
            </p:cNvPr>
            <p:cNvSpPr>
              <a:spLocks noChangeArrowheads="1"/>
            </p:cNvSpPr>
            <p:nvPr/>
          </p:nvSpPr>
          <p:spPr bwMode="auto">
            <a:xfrm>
              <a:off x="5386" y="2563"/>
              <a:ext cx="214" cy="32"/>
            </a:xfrm>
            <a:prstGeom prst="rect">
              <a:avLst/>
            </a:prstGeom>
            <a:solidFill>
              <a:srgbClr val="0000FF"/>
            </a:solidFill>
            <a:ln w="9525">
              <a:solidFill>
                <a:schemeClr val="tx1"/>
              </a:solidFill>
              <a:miter lim="800000"/>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418" name="Text Box 56">
              <a:extLst>
                <a:ext uri="{FF2B5EF4-FFF2-40B4-BE49-F238E27FC236}">
                  <a16:creationId xmlns:a16="http://schemas.microsoft.com/office/drawing/2014/main" id="{B6A9A48B-7113-AB86-A45D-D24A1D44CF56}"/>
                </a:ext>
              </a:extLst>
            </p:cNvPr>
            <p:cNvSpPr txBox="1">
              <a:spLocks noChangeArrowheads="1"/>
            </p:cNvSpPr>
            <p:nvPr/>
          </p:nvSpPr>
          <p:spPr bwMode="auto">
            <a:xfrm>
              <a:off x="3866" y="2128"/>
              <a:ext cx="72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US" sz="1200" b="1">
                  <a:solidFill>
                    <a:srgbClr val="0000FF"/>
                  </a:solidFill>
                  <a:cs typeface="Arial" panose="020B0604020202020204" pitchFamily="34" charset="0"/>
                </a:rPr>
                <a:t>LD R1,0(R2)</a:t>
              </a:r>
              <a:endParaRPr lang="en-US" altLang="en-US">
                <a:solidFill>
                  <a:srgbClr val="0000FF"/>
                </a:solidFill>
                <a:cs typeface="Arial" panose="020B0604020202020204" pitchFamily="34" charset="0"/>
              </a:endParaRPr>
            </a:p>
          </p:txBody>
        </p:sp>
        <p:sp>
          <p:nvSpPr>
            <p:cNvPr id="15419" name="Line 63">
              <a:extLst>
                <a:ext uri="{FF2B5EF4-FFF2-40B4-BE49-F238E27FC236}">
                  <a16:creationId xmlns:a16="http://schemas.microsoft.com/office/drawing/2014/main" id="{E06839B9-AE4A-912E-BC4E-B48B3A10B077}"/>
                </a:ext>
              </a:extLst>
            </p:cNvPr>
            <p:cNvSpPr>
              <a:spLocks noChangeShapeType="1"/>
            </p:cNvSpPr>
            <p:nvPr/>
          </p:nvSpPr>
          <p:spPr bwMode="auto">
            <a:xfrm>
              <a:off x="5130" y="2737"/>
              <a:ext cx="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20" name="Rectangle 61">
              <a:extLst>
                <a:ext uri="{FF2B5EF4-FFF2-40B4-BE49-F238E27FC236}">
                  <a16:creationId xmlns:a16="http://schemas.microsoft.com/office/drawing/2014/main" id="{4D281342-8C38-FB5A-2CB4-E9034F733D9C}"/>
                </a:ext>
              </a:extLst>
            </p:cNvPr>
            <p:cNvSpPr>
              <a:spLocks noChangeArrowheads="1"/>
            </p:cNvSpPr>
            <p:nvPr/>
          </p:nvSpPr>
          <p:spPr bwMode="auto">
            <a:xfrm>
              <a:off x="5055" y="2567"/>
              <a:ext cx="90" cy="208"/>
            </a:xfrm>
            <a:prstGeom prst="rect">
              <a:avLst/>
            </a:prstGeom>
            <a:solidFill>
              <a:schemeClr val="bg1"/>
            </a:solidFill>
            <a:ln w="9525">
              <a:solidFill>
                <a:schemeClr val="tx1"/>
              </a:solidFill>
              <a:miter lim="800000"/>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000"/>
                <a:t>D</a:t>
              </a:r>
              <a:endParaRPr lang="en-US" altLang="en-US"/>
            </a:p>
          </p:txBody>
        </p:sp>
        <p:sp>
          <p:nvSpPr>
            <p:cNvPr id="15421" name="Line 64">
              <a:extLst>
                <a:ext uri="{FF2B5EF4-FFF2-40B4-BE49-F238E27FC236}">
                  <a16:creationId xmlns:a16="http://schemas.microsoft.com/office/drawing/2014/main" id="{E3B83C9D-2F82-DA6C-E22C-EDA928465DFF}"/>
                </a:ext>
              </a:extLst>
            </p:cNvPr>
            <p:cNvSpPr>
              <a:spLocks noChangeShapeType="1"/>
            </p:cNvSpPr>
            <p:nvPr/>
          </p:nvSpPr>
          <p:spPr bwMode="auto">
            <a:xfrm>
              <a:off x="3818" y="2731"/>
              <a:ext cx="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22" name="Rectangle 65">
              <a:extLst>
                <a:ext uri="{FF2B5EF4-FFF2-40B4-BE49-F238E27FC236}">
                  <a16:creationId xmlns:a16="http://schemas.microsoft.com/office/drawing/2014/main" id="{4AF3C871-4B42-E398-97CB-4ACFA982ABFA}"/>
                </a:ext>
              </a:extLst>
            </p:cNvPr>
            <p:cNvSpPr>
              <a:spLocks noChangeArrowheads="1"/>
            </p:cNvSpPr>
            <p:nvPr/>
          </p:nvSpPr>
          <p:spPr bwMode="auto">
            <a:xfrm>
              <a:off x="3743" y="2561"/>
              <a:ext cx="90" cy="208"/>
            </a:xfrm>
            <a:prstGeom prst="rect">
              <a:avLst/>
            </a:prstGeom>
            <a:solidFill>
              <a:schemeClr val="bg1"/>
            </a:solidFill>
            <a:ln w="9525">
              <a:solidFill>
                <a:schemeClr val="tx1"/>
              </a:solidFill>
              <a:miter lim="800000"/>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000"/>
                <a:t>D</a:t>
              </a:r>
              <a:endParaRPr lang="en-US" altLang="en-US"/>
            </a:p>
          </p:txBody>
        </p:sp>
        <p:sp>
          <p:nvSpPr>
            <p:cNvPr id="15423" name="Line 66">
              <a:extLst>
                <a:ext uri="{FF2B5EF4-FFF2-40B4-BE49-F238E27FC236}">
                  <a16:creationId xmlns:a16="http://schemas.microsoft.com/office/drawing/2014/main" id="{137CC352-E0E9-4CAC-0345-EAA588135C3B}"/>
                </a:ext>
              </a:extLst>
            </p:cNvPr>
            <p:cNvSpPr>
              <a:spLocks noChangeShapeType="1"/>
            </p:cNvSpPr>
            <p:nvPr/>
          </p:nvSpPr>
          <p:spPr bwMode="auto">
            <a:xfrm>
              <a:off x="4469" y="2732"/>
              <a:ext cx="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24" name="Rectangle 67">
              <a:extLst>
                <a:ext uri="{FF2B5EF4-FFF2-40B4-BE49-F238E27FC236}">
                  <a16:creationId xmlns:a16="http://schemas.microsoft.com/office/drawing/2014/main" id="{424E5147-9591-5258-EA8F-4A8AEEA20FB5}"/>
                </a:ext>
              </a:extLst>
            </p:cNvPr>
            <p:cNvSpPr>
              <a:spLocks noChangeArrowheads="1"/>
            </p:cNvSpPr>
            <p:nvPr/>
          </p:nvSpPr>
          <p:spPr bwMode="auto">
            <a:xfrm>
              <a:off x="4394" y="2562"/>
              <a:ext cx="90" cy="208"/>
            </a:xfrm>
            <a:prstGeom prst="rect">
              <a:avLst/>
            </a:prstGeom>
            <a:solidFill>
              <a:schemeClr val="bg1"/>
            </a:solidFill>
            <a:ln w="9525">
              <a:solidFill>
                <a:schemeClr val="tx1"/>
              </a:solidFill>
              <a:miter lim="800000"/>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000"/>
                <a:t>D</a:t>
              </a:r>
              <a:endParaRPr lang="en-US" altLang="en-US"/>
            </a:p>
          </p:txBody>
        </p:sp>
        <p:sp>
          <p:nvSpPr>
            <p:cNvPr id="15425" name="Rectangle 68">
              <a:extLst>
                <a:ext uri="{FF2B5EF4-FFF2-40B4-BE49-F238E27FC236}">
                  <a16:creationId xmlns:a16="http://schemas.microsoft.com/office/drawing/2014/main" id="{82FC69C9-1895-8FA4-32A7-FBBBE19DB80C}"/>
                </a:ext>
              </a:extLst>
            </p:cNvPr>
            <p:cNvSpPr>
              <a:spLocks noChangeArrowheads="1"/>
            </p:cNvSpPr>
            <p:nvPr/>
          </p:nvSpPr>
          <p:spPr bwMode="auto">
            <a:xfrm>
              <a:off x="4395" y="2592"/>
              <a:ext cx="96" cy="32"/>
            </a:xfrm>
            <a:prstGeom prst="rect">
              <a:avLst/>
            </a:prstGeom>
            <a:solidFill>
              <a:srgbClr val="0000FF"/>
            </a:solidFill>
            <a:ln w="9525">
              <a:solidFill>
                <a:schemeClr val="tx1"/>
              </a:solidFill>
              <a:miter lim="800000"/>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1022022" name="Freeform 70">
            <a:extLst>
              <a:ext uri="{FF2B5EF4-FFF2-40B4-BE49-F238E27FC236}">
                <a16:creationId xmlns:a16="http://schemas.microsoft.com/office/drawing/2014/main" id="{96B7FA9A-0727-5320-FA01-8B3D1504565E}"/>
              </a:ext>
            </a:extLst>
          </p:cNvPr>
          <p:cNvSpPr>
            <a:spLocks/>
          </p:cNvSpPr>
          <p:nvPr/>
        </p:nvSpPr>
        <p:spPr bwMode="auto">
          <a:xfrm>
            <a:off x="6699250" y="3902075"/>
            <a:ext cx="1098550" cy="785813"/>
          </a:xfrm>
          <a:custGeom>
            <a:avLst/>
            <a:gdLst>
              <a:gd name="T0" fmla="*/ 2147483647 w 692"/>
              <a:gd name="T1" fmla="*/ 0 h 495"/>
              <a:gd name="T2" fmla="*/ 2147483647 w 692"/>
              <a:gd name="T3" fmla="*/ 2147483647 h 495"/>
              <a:gd name="T4" fmla="*/ 2147483647 w 692"/>
              <a:gd name="T5" fmla="*/ 2147483647 h 495"/>
              <a:gd name="T6" fmla="*/ 2147483647 w 692"/>
              <a:gd name="T7" fmla="*/ 2147483647 h 495"/>
              <a:gd name="T8" fmla="*/ 2147483647 w 692"/>
              <a:gd name="T9" fmla="*/ 2147483647 h 495"/>
              <a:gd name="T10" fmla="*/ 2147483647 w 692"/>
              <a:gd name="T11" fmla="*/ 2147483647 h 495"/>
              <a:gd name="T12" fmla="*/ 0 60000 65536"/>
              <a:gd name="T13" fmla="*/ 0 60000 65536"/>
              <a:gd name="T14" fmla="*/ 0 60000 65536"/>
              <a:gd name="T15" fmla="*/ 0 60000 65536"/>
              <a:gd name="T16" fmla="*/ 0 60000 65536"/>
              <a:gd name="T17" fmla="*/ 0 60000 65536"/>
              <a:gd name="T18" fmla="*/ 0 w 692"/>
              <a:gd name="T19" fmla="*/ 0 h 495"/>
              <a:gd name="T20" fmla="*/ 692 w 692"/>
              <a:gd name="T21" fmla="*/ 495 h 495"/>
            </a:gdLst>
            <a:ahLst/>
            <a:cxnLst>
              <a:cxn ang="T12">
                <a:pos x="T0" y="T1"/>
              </a:cxn>
              <a:cxn ang="T13">
                <a:pos x="T2" y="T3"/>
              </a:cxn>
              <a:cxn ang="T14">
                <a:pos x="T4" y="T5"/>
              </a:cxn>
              <a:cxn ang="T15">
                <a:pos x="T6" y="T7"/>
              </a:cxn>
              <a:cxn ang="T16">
                <a:pos x="T8" y="T9"/>
              </a:cxn>
              <a:cxn ang="T17">
                <a:pos x="T10" y="T11"/>
              </a:cxn>
            </a:cxnLst>
            <a:rect l="T18" t="T19" r="T20" b="T21"/>
            <a:pathLst>
              <a:path w="692" h="495">
                <a:moveTo>
                  <a:pt x="4" y="0"/>
                </a:moveTo>
                <a:cubicBezTo>
                  <a:pt x="2" y="168"/>
                  <a:pt x="0" y="337"/>
                  <a:pt x="47" y="416"/>
                </a:cubicBezTo>
                <a:cubicBezTo>
                  <a:pt x="94" y="495"/>
                  <a:pt x="188" y="472"/>
                  <a:pt x="287" y="475"/>
                </a:cubicBezTo>
                <a:cubicBezTo>
                  <a:pt x="386" y="478"/>
                  <a:pt x="586" y="461"/>
                  <a:pt x="639" y="432"/>
                </a:cubicBezTo>
                <a:cubicBezTo>
                  <a:pt x="692" y="403"/>
                  <a:pt x="649" y="340"/>
                  <a:pt x="607" y="299"/>
                </a:cubicBezTo>
                <a:cubicBezTo>
                  <a:pt x="565" y="258"/>
                  <a:pt x="476" y="222"/>
                  <a:pt x="388" y="187"/>
                </a:cubicBezTo>
              </a:path>
            </a:pathLst>
          </a:custGeom>
          <a:noFill/>
          <a:ln w="28575">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2023" name="Freeform 71">
            <a:extLst>
              <a:ext uri="{FF2B5EF4-FFF2-40B4-BE49-F238E27FC236}">
                <a16:creationId xmlns:a16="http://schemas.microsoft.com/office/drawing/2014/main" id="{ADC848AA-767A-D5D0-B60E-2CAA8680FCC8}"/>
              </a:ext>
            </a:extLst>
          </p:cNvPr>
          <p:cNvSpPr>
            <a:spLocks/>
          </p:cNvSpPr>
          <p:nvPr/>
        </p:nvSpPr>
        <p:spPr bwMode="auto">
          <a:xfrm>
            <a:off x="7315200" y="4224338"/>
            <a:ext cx="1492250" cy="441325"/>
          </a:xfrm>
          <a:custGeom>
            <a:avLst/>
            <a:gdLst>
              <a:gd name="T0" fmla="*/ 0 w 940"/>
              <a:gd name="T1" fmla="*/ 2147483647 h 278"/>
              <a:gd name="T2" fmla="*/ 2147483647 w 940"/>
              <a:gd name="T3" fmla="*/ 2147483647 h 278"/>
              <a:gd name="T4" fmla="*/ 2147483647 w 940"/>
              <a:gd name="T5" fmla="*/ 2147483647 h 278"/>
              <a:gd name="T6" fmla="*/ 2147483647 w 940"/>
              <a:gd name="T7" fmla="*/ 2147483647 h 278"/>
              <a:gd name="T8" fmla="*/ 2147483647 w 940"/>
              <a:gd name="T9" fmla="*/ 0 h 278"/>
              <a:gd name="T10" fmla="*/ 0 60000 65536"/>
              <a:gd name="T11" fmla="*/ 0 60000 65536"/>
              <a:gd name="T12" fmla="*/ 0 60000 65536"/>
              <a:gd name="T13" fmla="*/ 0 60000 65536"/>
              <a:gd name="T14" fmla="*/ 0 60000 65536"/>
              <a:gd name="T15" fmla="*/ 0 w 940"/>
              <a:gd name="T16" fmla="*/ 0 h 278"/>
              <a:gd name="T17" fmla="*/ 940 w 940"/>
              <a:gd name="T18" fmla="*/ 278 h 278"/>
            </a:gdLst>
            <a:ahLst/>
            <a:cxnLst>
              <a:cxn ang="T10">
                <a:pos x="T0" y="T1"/>
              </a:cxn>
              <a:cxn ang="T11">
                <a:pos x="T2" y="T3"/>
              </a:cxn>
              <a:cxn ang="T12">
                <a:pos x="T4" y="T5"/>
              </a:cxn>
              <a:cxn ang="T13">
                <a:pos x="T6" y="T7"/>
              </a:cxn>
              <a:cxn ang="T14">
                <a:pos x="T8" y="T9"/>
              </a:cxn>
            </a:cxnLst>
            <a:rect l="T15" t="T16" r="T17" b="T18"/>
            <a:pathLst>
              <a:path w="940" h="278">
                <a:moveTo>
                  <a:pt x="0" y="80"/>
                </a:moveTo>
                <a:cubicBezTo>
                  <a:pt x="114" y="67"/>
                  <a:pt x="229" y="55"/>
                  <a:pt x="288" y="80"/>
                </a:cubicBezTo>
                <a:cubicBezTo>
                  <a:pt x="347" y="105"/>
                  <a:pt x="263" y="203"/>
                  <a:pt x="357" y="230"/>
                </a:cubicBezTo>
                <a:cubicBezTo>
                  <a:pt x="451" y="257"/>
                  <a:pt x="766" y="278"/>
                  <a:pt x="853" y="240"/>
                </a:cubicBezTo>
                <a:cubicBezTo>
                  <a:pt x="940" y="202"/>
                  <a:pt x="910" y="101"/>
                  <a:pt x="880" y="0"/>
                </a:cubicBezTo>
              </a:path>
            </a:pathLst>
          </a:custGeom>
          <a:noFill/>
          <a:ln w="28575">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2024" name="Freeform 72">
            <a:extLst>
              <a:ext uri="{FF2B5EF4-FFF2-40B4-BE49-F238E27FC236}">
                <a16:creationId xmlns:a16="http://schemas.microsoft.com/office/drawing/2014/main" id="{E7C2AB74-1984-3AFD-B9CE-7C17D5551916}"/>
              </a:ext>
            </a:extLst>
          </p:cNvPr>
          <p:cNvSpPr>
            <a:spLocks/>
          </p:cNvSpPr>
          <p:nvPr/>
        </p:nvSpPr>
        <p:spPr bwMode="auto">
          <a:xfrm>
            <a:off x="7313613" y="4227513"/>
            <a:ext cx="1492250" cy="441325"/>
          </a:xfrm>
          <a:custGeom>
            <a:avLst/>
            <a:gdLst>
              <a:gd name="T0" fmla="*/ 0 w 940"/>
              <a:gd name="T1" fmla="*/ 2147483647 h 278"/>
              <a:gd name="T2" fmla="*/ 2147483647 w 940"/>
              <a:gd name="T3" fmla="*/ 2147483647 h 278"/>
              <a:gd name="T4" fmla="*/ 2147483647 w 940"/>
              <a:gd name="T5" fmla="*/ 2147483647 h 278"/>
              <a:gd name="T6" fmla="*/ 2147483647 w 940"/>
              <a:gd name="T7" fmla="*/ 2147483647 h 278"/>
              <a:gd name="T8" fmla="*/ 2147483647 w 940"/>
              <a:gd name="T9" fmla="*/ 0 h 278"/>
              <a:gd name="T10" fmla="*/ 0 60000 65536"/>
              <a:gd name="T11" fmla="*/ 0 60000 65536"/>
              <a:gd name="T12" fmla="*/ 0 60000 65536"/>
              <a:gd name="T13" fmla="*/ 0 60000 65536"/>
              <a:gd name="T14" fmla="*/ 0 60000 65536"/>
              <a:gd name="T15" fmla="*/ 0 w 940"/>
              <a:gd name="T16" fmla="*/ 0 h 278"/>
              <a:gd name="T17" fmla="*/ 940 w 940"/>
              <a:gd name="T18" fmla="*/ 278 h 278"/>
            </a:gdLst>
            <a:ahLst/>
            <a:cxnLst>
              <a:cxn ang="T10">
                <a:pos x="T0" y="T1"/>
              </a:cxn>
              <a:cxn ang="T11">
                <a:pos x="T2" y="T3"/>
              </a:cxn>
              <a:cxn ang="T12">
                <a:pos x="T4" y="T5"/>
              </a:cxn>
              <a:cxn ang="T13">
                <a:pos x="T6" y="T7"/>
              </a:cxn>
              <a:cxn ang="T14">
                <a:pos x="T8" y="T9"/>
              </a:cxn>
            </a:cxnLst>
            <a:rect l="T15" t="T16" r="T17" b="T18"/>
            <a:pathLst>
              <a:path w="940" h="278">
                <a:moveTo>
                  <a:pt x="0" y="80"/>
                </a:moveTo>
                <a:cubicBezTo>
                  <a:pt x="114" y="67"/>
                  <a:pt x="229" y="55"/>
                  <a:pt x="288" y="80"/>
                </a:cubicBezTo>
                <a:cubicBezTo>
                  <a:pt x="347" y="105"/>
                  <a:pt x="263" y="203"/>
                  <a:pt x="357" y="230"/>
                </a:cubicBezTo>
                <a:cubicBezTo>
                  <a:pt x="451" y="257"/>
                  <a:pt x="766" y="278"/>
                  <a:pt x="853" y="240"/>
                </a:cubicBezTo>
                <a:cubicBezTo>
                  <a:pt x="940" y="202"/>
                  <a:pt x="910" y="101"/>
                  <a:pt x="880" y="0"/>
                </a:cubicBezTo>
              </a:path>
            </a:pathLst>
          </a:custGeom>
          <a:noFill/>
          <a:ln w="28575">
            <a:solidFill>
              <a:srgbClr val="0000FF"/>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2025" name="Freeform 73">
            <a:extLst>
              <a:ext uri="{FF2B5EF4-FFF2-40B4-BE49-F238E27FC236}">
                <a16:creationId xmlns:a16="http://schemas.microsoft.com/office/drawing/2014/main" id="{88270662-51C1-1727-AD8C-0F88E21AB999}"/>
              </a:ext>
            </a:extLst>
          </p:cNvPr>
          <p:cNvSpPr>
            <a:spLocks/>
          </p:cNvSpPr>
          <p:nvPr/>
        </p:nvSpPr>
        <p:spPr bwMode="auto">
          <a:xfrm>
            <a:off x="6700838" y="3905250"/>
            <a:ext cx="1098550" cy="785813"/>
          </a:xfrm>
          <a:custGeom>
            <a:avLst/>
            <a:gdLst>
              <a:gd name="T0" fmla="*/ 2147483647 w 692"/>
              <a:gd name="T1" fmla="*/ 0 h 495"/>
              <a:gd name="T2" fmla="*/ 2147483647 w 692"/>
              <a:gd name="T3" fmla="*/ 2147483647 h 495"/>
              <a:gd name="T4" fmla="*/ 2147483647 w 692"/>
              <a:gd name="T5" fmla="*/ 2147483647 h 495"/>
              <a:gd name="T6" fmla="*/ 2147483647 w 692"/>
              <a:gd name="T7" fmla="*/ 2147483647 h 495"/>
              <a:gd name="T8" fmla="*/ 2147483647 w 692"/>
              <a:gd name="T9" fmla="*/ 2147483647 h 495"/>
              <a:gd name="T10" fmla="*/ 2147483647 w 692"/>
              <a:gd name="T11" fmla="*/ 2147483647 h 495"/>
              <a:gd name="T12" fmla="*/ 0 60000 65536"/>
              <a:gd name="T13" fmla="*/ 0 60000 65536"/>
              <a:gd name="T14" fmla="*/ 0 60000 65536"/>
              <a:gd name="T15" fmla="*/ 0 60000 65536"/>
              <a:gd name="T16" fmla="*/ 0 60000 65536"/>
              <a:gd name="T17" fmla="*/ 0 60000 65536"/>
              <a:gd name="T18" fmla="*/ 0 w 692"/>
              <a:gd name="T19" fmla="*/ 0 h 495"/>
              <a:gd name="T20" fmla="*/ 692 w 692"/>
              <a:gd name="T21" fmla="*/ 495 h 495"/>
            </a:gdLst>
            <a:ahLst/>
            <a:cxnLst>
              <a:cxn ang="T12">
                <a:pos x="T0" y="T1"/>
              </a:cxn>
              <a:cxn ang="T13">
                <a:pos x="T2" y="T3"/>
              </a:cxn>
              <a:cxn ang="T14">
                <a:pos x="T4" y="T5"/>
              </a:cxn>
              <a:cxn ang="T15">
                <a:pos x="T6" y="T7"/>
              </a:cxn>
              <a:cxn ang="T16">
                <a:pos x="T8" y="T9"/>
              </a:cxn>
              <a:cxn ang="T17">
                <a:pos x="T10" y="T11"/>
              </a:cxn>
            </a:cxnLst>
            <a:rect l="T18" t="T19" r="T20" b="T21"/>
            <a:pathLst>
              <a:path w="692" h="495">
                <a:moveTo>
                  <a:pt x="4" y="0"/>
                </a:moveTo>
                <a:cubicBezTo>
                  <a:pt x="2" y="168"/>
                  <a:pt x="0" y="337"/>
                  <a:pt x="47" y="416"/>
                </a:cubicBezTo>
                <a:cubicBezTo>
                  <a:pt x="94" y="495"/>
                  <a:pt x="188" y="472"/>
                  <a:pt x="287" y="475"/>
                </a:cubicBezTo>
                <a:cubicBezTo>
                  <a:pt x="386" y="478"/>
                  <a:pt x="586" y="461"/>
                  <a:pt x="639" y="432"/>
                </a:cubicBezTo>
                <a:cubicBezTo>
                  <a:pt x="692" y="403"/>
                  <a:pt x="649" y="340"/>
                  <a:pt x="607" y="299"/>
                </a:cubicBezTo>
                <a:cubicBezTo>
                  <a:pt x="565" y="258"/>
                  <a:pt x="476" y="222"/>
                  <a:pt x="388" y="187"/>
                </a:cubicBezTo>
              </a:path>
            </a:pathLst>
          </a:custGeom>
          <a:noFill/>
          <a:ln w="28575">
            <a:solidFill>
              <a:srgbClr val="0000FF"/>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69" name="Slide Number Placeholder 67">
            <a:extLst>
              <a:ext uri="{FF2B5EF4-FFF2-40B4-BE49-F238E27FC236}">
                <a16:creationId xmlns:a16="http://schemas.microsoft.com/office/drawing/2014/main" id="{993BA88A-C926-85D6-9A9D-DE12CDBEAB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59396889-6DBA-3448-B4E4-BE8CF020AC94}" type="slidenum">
              <a:rPr lang="en-US" altLang="en-US"/>
              <a:pPr/>
              <a:t>14</a:t>
            </a:fld>
            <a:r>
              <a:rPr lang="en-US" altLang="en-US"/>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22022"/>
                                        </p:tgtEl>
                                        <p:attrNameLst>
                                          <p:attrName>style.visibility</p:attrName>
                                        </p:attrNameLst>
                                      </p:cBhvr>
                                      <p:to>
                                        <p:strVal val="visible"/>
                                      </p:to>
                                    </p:set>
                                  </p:childTnLst>
                                  <p:subTnLst>
                                    <p:set>
                                      <p:cBhvr override="childStyle">
                                        <p:cTn dur="1" fill="hold" display="0" masterRel="nextClick" afterEffect="1"/>
                                        <p:tgtEl>
                                          <p:spTgt spid="102202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022023"/>
                                        </p:tgtEl>
                                        <p:attrNameLst>
                                          <p:attrName>style.visibility</p:attrName>
                                        </p:attrNameLst>
                                      </p:cBhvr>
                                      <p:to>
                                        <p:strVal val="visible"/>
                                      </p:to>
                                    </p:set>
                                  </p:childTnLst>
                                  <p:subTnLst>
                                    <p:set>
                                      <p:cBhvr override="childStyle">
                                        <p:cTn dur="1" fill="hold" display="0" masterRel="nextClick" afterEffect="1"/>
                                        <p:tgtEl>
                                          <p:spTgt spid="102202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022024"/>
                                        </p:tgtEl>
                                        <p:attrNameLst>
                                          <p:attrName>style.visibility</p:attrName>
                                        </p:attrNameLst>
                                      </p:cBhvr>
                                      <p:to>
                                        <p:strVal val="visible"/>
                                      </p:to>
                                    </p:set>
                                  </p:childTnLst>
                                  <p:subTnLst>
                                    <p:set>
                                      <p:cBhvr override="childStyle">
                                        <p:cTn dur="1" fill="hold" display="0" masterRel="nextClick" afterEffect="1"/>
                                        <p:tgtEl>
                                          <p:spTgt spid="1022024"/>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022025"/>
                                        </p:tgtEl>
                                        <p:attrNameLst>
                                          <p:attrName>style.visibility</p:attrName>
                                        </p:attrNameLst>
                                      </p:cBhvr>
                                      <p:to>
                                        <p:strVal val="visible"/>
                                      </p:to>
                                    </p:set>
                                  </p:childTnLst>
                                  <p:subTnLst>
                                    <p:set>
                                      <p:cBhvr override="childStyle">
                                        <p:cTn dur="1" fill="hold" display="0" masterRel="nextClick" afterEffect="1"/>
                                        <p:tgtEl>
                                          <p:spTgt spid="102202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AFEB94C-394F-20FE-A0A9-A5961A2BFF27}"/>
              </a:ext>
            </a:extLst>
          </p:cNvPr>
          <p:cNvSpPr>
            <a:spLocks noGrp="1" noChangeArrowheads="1"/>
          </p:cNvSpPr>
          <p:nvPr>
            <p:ph type="title"/>
          </p:nvPr>
        </p:nvSpPr>
        <p:spPr>
          <a:xfrm>
            <a:off x="863600" y="203200"/>
            <a:ext cx="7747000" cy="381000"/>
          </a:xfrm>
          <a:noFill/>
        </p:spPr>
        <p:txBody>
          <a:bodyPr lIns="90487" tIns="44450" rIns="90487" bIns="44450"/>
          <a:lstStyle/>
          <a:p>
            <a:pPr eaLnBrk="1" hangingPunct="1"/>
            <a:r>
              <a:rPr lang="en-US" altLang="en-US" sz="3200"/>
              <a:t>Directory Protocol Messages</a:t>
            </a:r>
          </a:p>
        </p:txBody>
      </p:sp>
      <p:sp>
        <p:nvSpPr>
          <p:cNvPr id="16387" name="Rectangle 3">
            <a:extLst>
              <a:ext uri="{FF2B5EF4-FFF2-40B4-BE49-F238E27FC236}">
                <a16:creationId xmlns:a16="http://schemas.microsoft.com/office/drawing/2014/main" id="{8A20C527-30B3-4738-DA4B-CCFF5FD1A5D6}"/>
              </a:ext>
            </a:extLst>
          </p:cNvPr>
          <p:cNvSpPr>
            <a:spLocks noGrp="1" noChangeArrowheads="1"/>
          </p:cNvSpPr>
          <p:nvPr>
            <p:ph type="body" idx="1"/>
          </p:nvPr>
        </p:nvSpPr>
        <p:spPr>
          <a:xfrm>
            <a:off x="241300" y="971550"/>
            <a:ext cx="8902700" cy="5340350"/>
          </a:xfrm>
          <a:solidFill>
            <a:schemeClr val="bg1"/>
          </a:solidFill>
        </p:spPr>
        <p:txBody>
          <a:bodyPr lIns="90487" tIns="44450" rIns="90487" bIns="44450"/>
          <a:lstStyle/>
          <a:p>
            <a:pPr marL="285750" indent="-285750" eaLnBrk="1" hangingPunct="1">
              <a:lnSpc>
                <a:spcPct val="90000"/>
              </a:lnSpc>
              <a:buFontTx/>
              <a:buNone/>
              <a:tabLst>
                <a:tab pos="2057400" algn="l"/>
                <a:tab pos="4286250" algn="l"/>
                <a:tab pos="6743700" algn="l"/>
              </a:tabLst>
            </a:pPr>
            <a:r>
              <a:rPr lang="en-US" altLang="en-US" sz="1200" i="1"/>
              <a:t>Message type	Source	Destination	Msg Content</a:t>
            </a:r>
            <a:r>
              <a:rPr lang="en-US" altLang="en-US" sz="1200"/>
              <a:t>	</a:t>
            </a:r>
          </a:p>
          <a:p>
            <a:pPr marL="285750" indent="-285750" eaLnBrk="1" hangingPunct="1">
              <a:lnSpc>
                <a:spcPct val="90000"/>
              </a:lnSpc>
              <a:buFontTx/>
              <a:buNone/>
              <a:tabLst>
                <a:tab pos="2057400" algn="l"/>
                <a:tab pos="4286250" algn="l"/>
                <a:tab pos="6743700" algn="l"/>
              </a:tabLst>
            </a:pPr>
            <a:r>
              <a:rPr lang="en-US" altLang="en-US" sz="1200">
                <a:solidFill>
                  <a:schemeClr val="hlink"/>
                </a:solidFill>
                <a:latin typeface="Helvetica" pitchFamily="2" charset="0"/>
              </a:rPr>
              <a:t>Read miss</a:t>
            </a:r>
            <a:r>
              <a:rPr lang="en-US" altLang="en-US" sz="1200"/>
              <a:t>	</a:t>
            </a:r>
            <a:r>
              <a:rPr lang="en-US" altLang="en-US" sz="1200">
                <a:solidFill>
                  <a:srgbClr val="FF0000"/>
                </a:solidFill>
              </a:rPr>
              <a:t>Local cache</a:t>
            </a:r>
            <a:r>
              <a:rPr lang="en-US" altLang="en-US" sz="1200"/>
              <a:t>	</a:t>
            </a:r>
            <a:r>
              <a:rPr lang="en-US" altLang="en-US" sz="1200">
                <a:solidFill>
                  <a:srgbClr val="FE9B03"/>
                </a:solidFill>
              </a:rPr>
              <a:t>Home directory</a:t>
            </a:r>
            <a:r>
              <a:rPr lang="en-US" altLang="en-US" sz="1200"/>
              <a:t>	P, A</a:t>
            </a:r>
          </a:p>
          <a:p>
            <a:pPr marL="685800" lvl="1" indent="-228600" eaLnBrk="1" hangingPunct="1">
              <a:lnSpc>
                <a:spcPct val="90000"/>
              </a:lnSpc>
              <a:tabLst>
                <a:tab pos="2057400" algn="l"/>
                <a:tab pos="4286250" algn="l"/>
                <a:tab pos="6743700" algn="l"/>
              </a:tabLst>
            </a:pPr>
            <a:r>
              <a:rPr lang="en-US" altLang="en-US" sz="1400" i="1"/>
              <a:t>Processor P reads data at address A; </a:t>
            </a:r>
            <a:br>
              <a:rPr lang="en-US" altLang="en-US" sz="1400" i="1"/>
            </a:br>
            <a:r>
              <a:rPr lang="en-US" altLang="en-US" sz="1400" i="1"/>
              <a:t>make P a read sharer and request data</a:t>
            </a:r>
          </a:p>
          <a:p>
            <a:pPr marL="285750" indent="-285750" eaLnBrk="1" hangingPunct="1">
              <a:lnSpc>
                <a:spcPct val="90000"/>
              </a:lnSpc>
              <a:buFontTx/>
              <a:buNone/>
              <a:tabLst>
                <a:tab pos="2057400" algn="l"/>
                <a:tab pos="4286250" algn="l"/>
                <a:tab pos="6743700" algn="l"/>
              </a:tabLst>
            </a:pPr>
            <a:r>
              <a:rPr lang="en-US" altLang="en-US" sz="1200">
                <a:solidFill>
                  <a:schemeClr val="hlink"/>
                </a:solidFill>
                <a:latin typeface="Helvetica" pitchFamily="2" charset="0"/>
              </a:rPr>
              <a:t>Write miss</a:t>
            </a:r>
            <a:r>
              <a:rPr lang="en-US" altLang="en-US" sz="1200"/>
              <a:t>	 </a:t>
            </a:r>
            <a:r>
              <a:rPr lang="en-US" altLang="en-US" sz="1200">
                <a:solidFill>
                  <a:srgbClr val="FF0000"/>
                </a:solidFill>
              </a:rPr>
              <a:t>Local cache </a:t>
            </a:r>
            <a:r>
              <a:rPr lang="en-US" altLang="en-US" sz="1200"/>
              <a:t>	 </a:t>
            </a:r>
            <a:r>
              <a:rPr lang="en-US" altLang="en-US" sz="1200">
                <a:solidFill>
                  <a:srgbClr val="FE9B03"/>
                </a:solidFill>
              </a:rPr>
              <a:t>Home directory</a:t>
            </a:r>
            <a:r>
              <a:rPr lang="en-US" altLang="en-US" sz="1200"/>
              <a:t> 	P, A</a:t>
            </a:r>
          </a:p>
          <a:p>
            <a:pPr marL="685800" lvl="1" indent="-228600" eaLnBrk="1" hangingPunct="1">
              <a:lnSpc>
                <a:spcPct val="90000"/>
              </a:lnSpc>
              <a:tabLst>
                <a:tab pos="2057400" algn="l"/>
                <a:tab pos="4286250" algn="l"/>
                <a:tab pos="6743700" algn="l"/>
              </a:tabLst>
            </a:pPr>
            <a:r>
              <a:rPr lang="en-US" altLang="en-US" sz="1400" i="1"/>
              <a:t>Processor P has a write miss at address A; </a:t>
            </a:r>
            <a:br>
              <a:rPr lang="en-US" altLang="en-US" sz="1400" i="1"/>
            </a:br>
            <a:r>
              <a:rPr lang="en-US" altLang="en-US" sz="1400" i="1"/>
              <a:t>make P the exclusive owner and request data</a:t>
            </a:r>
          </a:p>
          <a:p>
            <a:pPr marL="285750" indent="-285750" eaLnBrk="1" hangingPunct="1">
              <a:lnSpc>
                <a:spcPct val="90000"/>
              </a:lnSpc>
              <a:buFontTx/>
              <a:buNone/>
              <a:tabLst>
                <a:tab pos="2057400" algn="l"/>
                <a:tab pos="4286250" algn="l"/>
                <a:tab pos="6743700" algn="l"/>
              </a:tabLst>
            </a:pPr>
            <a:r>
              <a:rPr lang="en-US" altLang="en-US" sz="1200">
                <a:solidFill>
                  <a:schemeClr val="hlink"/>
                </a:solidFill>
                <a:latin typeface="Helvetica" pitchFamily="2" charset="0"/>
              </a:rPr>
              <a:t>Invalidate</a:t>
            </a:r>
            <a:r>
              <a:rPr lang="en-US" altLang="en-US" sz="1200"/>
              <a:t>	</a:t>
            </a:r>
            <a:r>
              <a:rPr lang="en-US" altLang="en-US" sz="1200">
                <a:solidFill>
                  <a:srgbClr val="FE9B03"/>
                </a:solidFill>
              </a:rPr>
              <a:t>Home directory</a:t>
            </a:r>
            <a:r>
              <a:rPr lang="en-US" altLang="en-US" sz="1200"/>
              <a:t> 	</a:t>
            </a:r>
            <a:r>
              <a:rPr lang="en-US" altLang="en-US" sz="1200">
                <a:solidFill>
                  <a:srgbClr val="0000FF"/>
                </a:solidFill>
              </a:rPr>
              <a:t>Remote caches</a:t>
            </a:r>
            <a:r>
              <a:rPr lang="en-US" altLang="en-US" sz="1200"/>
              <a:t>	A</a:t>
            </a:r>
          </a:p>
          <a:p>
            <a:pPr marL="685800" lvl="1" indent="-228600" eaLnBrk="1" hangingPunct="1">
              <a:lnSpc>
                <a:spcPct val="90000"/>
              </a:lnSpc>
              <a:tabLst>
                <a:tab pos="2057400" algn="l"/>
                <a:tab pos="4286250" algn="l"/>
                <a:tab pos="6743700" algn="l"/>
              </a:tabLst>
            </a:pPr>
            <a:r>
              <a:rPr lang="en-US" altLang="en-US" sz="1400" i="1"/>
              <a:t>Invalidate a shared copy at address A</a:t>
            </a:r>
          </a:p>
          <a:p>
            <a:pPr marL="285750" indent="-285750" eaLnBrk="1" hangingPunct="1">
              <a:lnSpc>
                <a:spcPct val="90000"/>
              </a:lnSpc>
              <a:buFontTx/>
              <a:buNone/>
              <a:tabLst>
                <a:tab pos="2057400" algn="l"/>
                <a:tab pos="4286250" algn="l"/>
                <a:tab pos="6743700" algn="l"/>
              </a:tabLst>
            </a:pPr>
            <a:r>
              <a:rPr lang="en-US" altLang="en-US" sz="1200">
                <a:solidFill>
                  <a:schemeClr val="hlink"/>
                </a:solidFill>
                <a:latin typeface="Helvetica" pitchFamily="2" charset="0"/>
              </a:rPr>
              <a:t>Fetch</a:t>
            </a:r>
            <a:r>
              <a:rPr lang="en-US" altLang="en-US" sz="1200"/>
              <a:t>	 </a:t>
            </a:r>
            <a:r>
              <a:rPr lang="en-US" altLang="en-US" sz="1200">
                <a:solidFill>
                  <a:srgbClr val="FE9B03"/>
                </a:solidFill>
              </a:rPr>
              <a:t>Home directory</a:t>
            </a:r>
            <a:r>
              <a:rPr lang="en-US" altLang="en-US" sz="1200"/>
              <a:t> 	 </a:t>
            </a:r>
            <a:r>
              <a:rPr lang="en-US" altLang="en-US" sz="1200">
                <a:solidFill>
                  <a:srgbClr val="0000FF"/>
                </a:solidFill>
              </a:rPr>
              <a:t>Remote cache </a:t>
            </a:r>
            <a:r>
              <a:rPr lang="en-US" altLang="en-US" sz="1200"/>
              <a:t>	A</a:t>
            </a:r>
          </a:p>
          <a:p>
            <a:pPr marL="685800" lvl="1" indent="-228600" eaLnBrk="1" hangingPunct="1">
              <a:lnSpc>
                <a:spcPct val="90000"/>
              </a:lnSpc>
              <a:tabLst>
                <a:tab pos="2057400" algn="l"/>
                <a:tab pos="4286250" algn="l"/>
                <a:tab pos="6743700" algn="l"/>
              </a:tabLst>
            </a:pPr>
            <a:r>
              <a:rPr lang="en-US" altLang="en-US" sz="1400" i="1"/>
              <a:t>Fetch the block at address A and send it to its home directory;</a:t>
            </a:r>
            <a:br>
              <a:rPr lang="en-US" altLang="en-US" sz="1400" i="1"/>
            </a:br>
            <a:r>
              <a:rPr lang="en-US" altLang="en-US" sz="1400" i="1"/>
              <a:t>change the state of A in the remote cache to shared</a:t>
            </a:r>
          </a:p>
          <a:p>
            <a:pPr marL="285750" indent="-285750" eaLnBrk="1" hangingPunct="1">
              <a:lnSpc>
                <a:spcPct val="90000"/>
              </a:lnSpc>
              <a:buFontTx/>
              <a:buNone/>
              <a:tabLst>
                <a:tab pos="2057400" algn="l"/>
                <a:tab pos="4286250" algn="l"/>
                <a:tab pos="6743700" algn="l"/>
              </a:tabLst>
            </a:pPr>
            <a:r>
              <a:rPr lang="en-US" altLang="en-US" sz="1200">
                <a:solidFill>
                  <a:schemeClr val="hlink"/>
                </a:solidFill>
                <a:latin typeface="Helvetica" pitchFamily="2" charset="0"/>
              </a:rPr>
              <a:t>Fetch/Invalidate</a:t>
            </a:r>
            <a:r>
              <a:rPr lang="en-US" altLang="en-US" sz="1200"/>
              <a:t>	 </a:t>
            </a:r>
            <a:r>
              <a:rPr lang="en-US" altLang="en-US" sz="1200">
                <a:solidFill>
                  <a:srgbClr val="FE9B03"/>
                </a:solidFill>
              </a:rPr>
              <a:t>Home directory</a:t>
            </a:r>
            <a:r>
              <a:rPr lang="en-US" altLang="en-US" sz="1200"/>
              <a:t> 	 </a:t>
            </a:r>
            <a:r>
              <a:rPr lang="en-US" altLang="en-US" sz="1200">
                <a:solidFill>
                  <a:srgbClr val="0000FF"/>
                </a:solidFill>
              </a:rPr>
              <a:t>Remote cache </a:t>
            </a:r>
            <a:r>
              <a:rPr lang="en-US" altLang="en-US" sz="1200"/>
              <a:t>	A</a:t>
            </a:r>
          </a:p>
          <a:p>
            <a:pPr marL="685800" lvl="1" indent="-228600" eaLnBrk="1" hangingPunct="1">
              <a:lnSpc>
                <a:spcPct val="90000"/>
              </a:lnSpc>
              <a:tabLst>
                <a:tab pos="2057400" algn="l"/>
                <a:tab pos="4286250" algn="l"/>
                <a:tab pos="6743700" algn="l"/>
              </a:tabLst>
            </a:pPr>
            <a:r>
              <a:rPr lang="en-US" altLang="en-US" sz="1400" i="1"/>
              <a:t>Fetch the block at address A and send it to its home directory; </a:t>
            </a:r>
            <a:br>
              <a:rPr lang="en-US" altLang="en-US" sz="1400" i="1"/>
            </a:br>
            <a:r>
              <a:rPr lang="en-US" altLang="en-US" sz="1400" i="1"/>
              <a:t>invalidate the block in the cache</a:t>
            </a:r>
          </a:p>
          <a:p>
            <a:pPr marL="285750" indent="-285750" eaLnBrk="1" hangingPunct="1">
              <a:lnSpc>
                <a:spcPct val="90000"/>
              </a:lnSpc>
              <a:buFontTx/>
              <a:buNone/>
              <a:tabLst>
                <a:tab pos="2057400" algn="l"/>
                <a:tab pos="4286250" algn="l"/>
                <a:tab pos="6743700" algn="l"/>
              </a:tabLst>
            </a:pPr>
            <a:r>
              <a:rPr lang="en-US" altLang="en-US" sz="1200">
                <a:solidFill>
                  <a:schemeClr val="hlink"/>
                </a:solidFill>
                <a:latin typeface="Helvetica" pitchFamily="2" charset="0"/>
              </a:rPr>
              <a:t>Data value reply</a:t>
            </a:r>
            <a:r>
              <a:rPr lang="en-US" altLang="en-US" sz="1200"/>
              <a:t> 	</a:t>
            </a:r>
            <a:r>
              <a:rPr lang="en-US" altLang="en-US" sz="1200">
                <a:solidFill>
                  <a:srgbClr val="FE9B03"/>
                </a:solidFill>
              </a:rPr>
              <a:t>Home directory</a:t>
            </a:r>
            <a:r>
              <a:rPr lang="en-US" altLang="en-US" sz="1200"/>
              <a:t> 	</a:t>
            </a:r>
            <a:r>
              <a:rPr lang="en-US" altLang="en-US" sz="1200">
                <a:solidFill>
                  <a:srgbClr val="FF0000"/>
                </a:solidFill>
              </a:rPr>
              <a:t> Local cache </a:t>
            </a:r>
            <a:r>
              <a:rPr lang="en-US" altLang="en-US" sz="1200"/>
              <a:t>	A, Data</a:t>
            </a:r>
          </a:p>
          <a:p>
            <a:pPr marL="685800" lvl="1" indent="-228600" eaLnBrk="1" hangingPunct="1">
              <a:lnSpc>
                <a:spcPct val="90000"/>
              </a:lnSpc>
              <a:tabLst>
                <a:tab pos="2057400" algn="l"/>
                <a:tab pos="4286250" algn="l"/>
                <a:tab pos="6743700" algn="l"/>
              </a:tabLst>
            </a:pPr>
            <a:r>
              <a:rPr lang="en-US" altLang="en-US" sz="1400" i="1"/>
              <a:t>Return a data value from the home memory (read miss response)</a:t>
            </a:r>
          </a:p>
          <a:p>
            <a:pPr marL="285750" indent="-285750" eaLnBrk="1" hangingPunct="1">
              <a:lnSpc>
                <a:spcPct val="90000"/>
              </a:lnSpc>
              <a:buFontTx/>
              <a:buNone/>
              <a:tabLst>
                <a:tab pos="2057400" algn="l"/>
                <a:tab pos="4286250" algn="l"/>
                <a:tab pos="6743700" algn="l"/>
              </a:tabLst>
            </a:pPr>
            <a:r>
              <a:rPr lang="en-US" altLang="en-US" sz="1200">
                <a:solidFill>
                  <a:schemeClr val="hlink"/>
                </a:solidFill>
                <a:latin typeface="Helvetica" pitchFamily="2" charset="0"/>
              </a:rPr>
              <a:t>Data write back</a:t>
            </a:r>
            <a:r>
              <a:rPr lang="en-US" altLang="en-US" sz="1200"/>
              <a:t>	</a:t>
            </a:r>
            <a:r>
              <a:rPr lang="en-US" altLang="en-US" sz="1200">
                <a:solidFill>
                  <a:srgbClr val="0000FF"/>
                </a:solidFill>
              </a:rPr>
              <a:t>Remote cache </a:t>
            </a:r>
            <a:r>
              <a:rPr lang="en-US" altLang="en-US" sz="1200"/>
              <a:t>	</a:t>
            </a:r>
            <a:r>
              <a:rPr lang="en-US" altLang="en-US" sz="1200">
                <a:solidFill>
                  <a:srgbClr val="FE9B03"/>
                </a:solidFill>
              </a:rPr>
              <a:t>Home directory</a:t>
            </a:r>
            <a:r>
              <a:rPr lang="en-US" altLang="en-US" sz="1200"/>
              <a:t> 	A, Data</a:t>
            </a:r>
          </a:p>
          <a:p>
            <a:pPr marL="685800" lvl="1" indent="-228600" eaLnBrk="1" hangingPunct="1">
              <a:lnSpc>
                <a:spcPct val="90000"/>
              </a:lnSpc>
              <a:tabLst>
                <a:tab pos="2057400" algn="l"/>
                <a:tab pos="4286250" algn="l"/>
                <a:tab pos="6743700" algn="l"/>
              </a:tabLst>
            </a:pPr>
            <a:r>
              <a:rPr lang="en-US" altLang="en-US" sz="1400" i="1"/>
              <a:t>Write back a data value for address A</a:t>
            </a:r>
          </a:p>
          <a:p>
            <a:pPr marL="285750" indent="-285750" eaLnBrk="1" hangingPunct="1">
              <a:lnSpc>
                <a:spcPct val="90000"/>
              </a:lnSpc>
              <a:tabLst>
                <a:tab pos="2057400" algn="l"/>
                <a:tab pos="4286250" algn="l"/>
                <a:tab pos="6743700" algn="l"/>
              </a:tabLst>
            </a:pPr>
            <a:endParaRPr lang="en-US" altLang="en-US" sz="1400" i="1"/>
          </a:p>
        </p:txBody>
      </p:sp>
      <p:sp>
        <p:nvSpPr>
          <p:cNvPr id="16388" name="Line 4">
            <a:extLst>
              <a:ext uri="{FF2B5EF4-FFF2-40B4-BE49-F238E27FC236}">
                <a16:creationId xmlns:a16="http://schemas.microsoft.com/office/drawing/2014/main" id="{832C809C-38B0-8944-C241-6C3E30B40EBC}"/>
              </a:ext>
            </a:extLst>
          </p:cNvPr>
          <p:cNvSpPr>
            <a:spLocks noChangeShapeType="1"/>
          </p:cNvSpPr>
          <p:nvPr/>
        </p:nvSpPr>
        <p:spPr bwMode="auto">
          <a:xfrm>
            <a:off x="0" y="2463800"/>
            <a:ext cx="9080500" cy="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89" name="Line 5">
            <a:extLst>
              <a:ext uri="{FF2B5EF4-FFF2-40B4-BE49-F238E27FC236}">
                <a16:creationId xmlns:a16="http://schemas.microsoft.com/office/drawing/2014/main" id="{55A9A1C8-399D-389B-B528-4BE85E487D2F}"/>
              </a:ext>
            </a:extLst>
          </p:cNvPr>
          <p:cNvSpPr>
            <a:spLocks noChangeShapeType="1"/>
          </p:cNvSpPr>
          <p:nvPr/>
        </p:nvSpPr>
        <p:spPr bwMode="auto">
          <a:xfrm>
            <a:off x="50800" y="5105400"/>
            <a:ext cx="9080500" cy="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0" name="Line 6">
            <a:extLst>
              <a:ext uri="{FF2B5EF4-FFF2-40B4-BE49-F238E27FC236}">
                <a16:creationId xmlns:a16="http://schemas.microsoft.com/office/drawing/2014/main" id="{268A3E6D-B350-98D7-1791-A212BB53DB4B}"/>
              </a:ext>
            </a:extLst>
          </p:cNvPr>
          <p:cNvSpPr>
            <a:spLocks noChangeShapeType="1"/>
          </p:cNvSpPr>
          <p:nvPr/>
        </p:nvSpPr>
        <p:spPr bwMode="auto">
          <a:xfrm>
            <a:off x="0" y="4165600"/>
            <a:ext cx="9080500" cy="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1" name="Slide Number Placeholder 9">
            <a:extLst>
              <a:ext uri="{FF2B5EF4-FFF2-40B4-BE49-F238E27FC236}">
                <a16:creationId xmlns:a16="http://schemas.microsoft.com/office/drawing/2014/main" id="{4B18CC56-941C-5E95-F02F-CA1D68F5BA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506F701-D82C-1049-B4B2-015B7CB8B526}" type="slidenum">
              <a:rPr lang="en-US" altLang="en-US"/>
              <a:pPr/>
              <a:t>15</a:t>
            </a:fld>
            <a:r>
              <a:rPr lang="en-US" altLang="en-US"/>
              <a:t> </a:t>
            </a:r>
          </a:p>
        </p:txBody>
      </p:sp>
      <p:sp>
        <p:nvSpPr>
          <p:cNvPr id="16392" name="TextBox 9">
            <a:extLst>
              <a:ext uri="{FF2B5EF4-FFF2-40B4-BE49-F238E27FC236}">
                <a16:creationId xmlns:a16="http://schemas.microsoft.com/office/drawing/2014/main" id="{F1073BDF-1F8A-025A-AB59-41C098B1C68F}"/>
              </a:ext>
            </a:extLst>
          </p:cNvPr>
          <p:cNvSpPr txBox="1">
            <a:spLocks noChangeArrowheads="1"/>
          </p:cNvSpPr>
          <p:nvPr/>
        </p:nvSpPr>
        <p:spPr bwMode="auto">
          <a:xfrm>
            <a:off x="584200" y="5397500"/>
            <a:ext cx="7326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a:t>Other messages that might be used in a real implementation: Acknowledgements (ACK’s) </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87E686C-CAA6-D554-CF63-BD3BAB132B15}"/>
              </a:ext>
            </a:extLst>
          </p:cNvPr>
          <p:cNvGrpSpPr>
            <a:grpSpLocks/>
          </p:cNvGrpSpPr>
          <p:nvPr/>
        </p:nvGrpSpPr>
        <p:grpSpPr bwMode="auto">
          <a:xfrm>
            <a:off x="2743200" y="4457700"/>
            <a:ext cx="762000" cy="762000"/>
            <a:chOff x="4080" y="672"/>
            <a:chExt cx="480" cy="480"/>
          </a:xfrm>
        </p:grpSpPr>
        <p:sp>
          <p:nvSpPr>
            <p:cNvPr id="17461" name="Oval 3">
              <a:extLst>
                <a:ext uri="{FF2B5EF4-FFF2-40B4-BE49-F238E27FC236}">
                  <a16:creationId xmlns:a16="http://schemas.microsoft.com/office/drawing/2014/main" id="{0A5575DA-C3BC-0429-7B58-114F1714EE6C}"/>
                </a:ext>
              </a:extLst>
            </p:cNvPr>
            <p:cNvSpPr>
              <a:spLocks noChangeArrowheads="1"/>
            </p:cNvSpPr>
            <p:nvPr/>
          </p:nvSpPr>
          <p:spPr bwMode="auto">
            <a:xfrm>
              <a:off x="4080" y="672"/>
              <a:ext cx="480" cy="4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62" name="Line 4">
              <a:extLst>
                <a:ext uri="{FF2B5EF4-FFF2-40B4-BE49-F238E27FC236}">
                  <a16:creationId xmlns:a16="http://schemas.microsoft.com/office/drawing/2014/main" id="{0211792D-CE2C-37A1-A18D-234F4FCEC588}"/>
                </a:ext>
              </a:extLst>
            </p:cNvPr>
            <p:cNvSpPr>
              <a:spLocks noChangeShapeType="1"/>
            </p:cNvSpPr>
            <p:nvPr/>
          </p:nvSpPr>
          <p:spPr bwMode="auto">
            <a:xfrm flipH="1" flipV="1">
              <a:off x="4512" y="768"/>
              <a:ext cx="48" cy="96"/>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bIns="0"/>
            <a:lstStyle/>
            <a:p>
              <a:endParaRPr lang="en-US"/>
            </a:p>
          </p:txBody>
        </p:sp>
      </p:grpSp>
      <p:grpSp>
        <p:nvGrpSpPr>
          <p:cNvPr id="3" name="Group 5">
            <a:extLst>
              <a:ext uri="{FF2B5EF4-FFF2-40B4-BE49-F238E27FC236}">
                <a16:creationId xmlns:a16="http://schemas.microsoft.com/office/drawing/2014/main" id="{3EAD27EA-401D-7F9D-9A13-6F63697A1D3F}"/>
              </a:ext>
            </a:extLst>
          </p:cNvPr>
          <p:cNvGrpSpPr>
            <a:grpSpLocks/>
          </p:cNvGrpSpPr>
          <p:nvPr/>
        </p:nvGrpSpPr>
        <p:grpSpPr bwMode="auto">
          <a:xfrm>
            <a:off x="4495800" y="5295900"/>
            <a:ext cx="762000" cy="762000"/>
            <a:chOff x="4752" y="1440"/>
            <a:chExt cx="480" cy="480"/>
          </a:xfrm>
        </p:grpSpPr>
        <p:sp>
          <p:nvSpPr>
            <p:cNvPr id="17459" name="Oval 6">
              <a:extLst>
                <a:ext uri="{FF2B5EF4-FFF2-40B4-BE49-F238E27FC236}">
                  <a16:creationId xmlns:a16="http://schemas.microsoft.com/office/drawing/2014/main" id="{24039310-D826-8EDC-D23E-4316D2E86C52}"/>
                </a:ext>
              </a:extLst>
            </p:cNvPr>
            <p:cNvSpPr>
              <a:spLocks noChangeArrowheads="1"/>
            </p:cNvSpPr>
            <p:nvPr/>
          </p:nvSpPr>
          <p:spPr bwMode="auto">
            <a:xfrm>
              <a:off x="4752" y="1440"/>
              <a:ext cx="480" cy="480"/>
            </a:xfrm>
            <a:prstGeom prst="ellipse">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60" name="Line 7">
              <a:extLst>
                <a:ext uri="{FF2B5EF4-FFF2-40B4-BE49-F238E27FC236}">
                  <a16:creationId xmlns:a16="http://schemas.microsoft.com/office/drawing/2014/main" id="{EB97293D-E602-668F-64CD-88D83A12D6C6}"/>
                </a:ext>
              </a:extLst>
            </p:cNvPr>
            <p:cNvSpPr>
              <a:spLocks noChangeShapeType="1"/>
            </p:cNvSpPr>
            <p:nvPr/>
          </p:nvSpPr>
          <p:spPr bwMode="auto">
            <a:xfrm>
              <a:off x="4752" y="1680"/>
              <a:ext cx="48" cy="144"/>
            </a:xfrm>
            <a:prstGeom prst="line">
              <a:avLst/>
            </a:prstGeom>
            <a:noFill/>
            <a:ln w="57150">
              <a:solidFill>
                <a:schemeClr val="hlink"/>
              </a:solidFill>
              <a:round/>
              <a:headEnd type="triangle" w="med" len="med"/>
              <a:tailEnd/>
            </a:ln>
            <a:extLst>
              <a:ext uri="{909E8E84-426E-40DD-AFC4-6F175D3DCCD1}">
                <a14:hiddenFill xmlns:a14="http://schemas.microsoft.com/office/drawing/2010/main">
                  <a:noFill/>
                </a14:hiddenFill>
              </a:ext>
            </a:extLst>
          </p:spPr>
          <p:txBody>
            <a:bodyPr bIns="0"/>
            <a:lstStyle/>
            <a:p>
              <a:endParaRPr lang="en-US"/>
            </a:p>
          </p:txBody>
        </p:sp>
      </p:grpSp>
      <p:sp>
        <p:nvSpPr>
          <p:cNvPr id="17412" name="Oval 8">
            <a:extLst>
              <a:ext uri="{FF2B5EF4-FFF2-40B4-BE49-F238E27FC236}">
                <a16:creationId xmlns:a16="http://schemas.microsoft.com/office/drawing/2014/main" id="{700CBC04-C713-D19B-38B2-E4BFE07D4135}"/>
              </a:ext>
            </a:extLst>
          </p:cNvPr>
          <p:cNvSpPr>
            <a:spLocks noChangeArrowheads="1"/>
          </p:cNvSpPr>
          <p:nvPr/>
        </p:nvSpPr>
        <p:spPr bwMode="auto">
          <a:xfrm>
            <a:off x="3270250" y="4584700"/>
            <a:ext cx="1403350" cy="1346200"/>
          </a:xfrm>
          <a:prstGeom prst="ellipse">
            <a:avLst/>
          </a:prstGeom>
          <a:solidFill>
            <a:schemeClr val="bg1"/>
          </a:solidFill>
          <a:ln w="25400">
            <a:solidFill>
              <a:schemeClr val="tx1"/>
            </a:solidFill>
            <a:round/>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13" name="Rectangle 9">
            <a:extLst>
              <a:ext uri="{FF2B5EF4-FFF2-40B4-BE49-F238E27FC236}">
                <a16:creationId xmlns:a16="http://schemas.microsoft.com/office/drawing/2014/main" id="{08D6DE31-61B4-EA01-AD0E-223A97340997}"/>
              </a:ext>
            </a:extLst>
          </p:cNvPr>
          <p:cNvSpPr>
            <a:spLocks noGrp="1" noChangeArrowheads="1"/>
          </p:cNvSpPr>
          <p:nvPr>
            <p:ph type="title"/>
          </p:nvPr>
        </p:nvSpPr>
        <p:spPr>
          <a:xfrm>
            <a:off x="209550" y="209550"/>
            <a:ext cx="7689850" cy="533400"/>
          </a:xfrm>
          <a:noFill/>
        </p:spPr>
        <p:txBody>
          <a:bodyPr lIns="90487" tIns="44450" rIns="90487" bIns="44450"/>
          <a:lstStyle/>
          <a:p>
            <a:pPr eaLnBrk="1" hangingPunct="1"/>
            <a:r>
              <a:rPr lang="en-US" altLang="en-US" sz="3600" u="sng"/>
              <a:t>CPU </a:t>
            </a:r>
            <a:r>
              <a:rPr lang="en-US" altLang="en-US" sz="3600"/>
              <a:t>-Cache State Machine</a:t>
            </a:r>
            <a:endParaRPr lang="en-US" altLang="en-US"/>
          </a:p>
        </p:txBody>
      </p:sp>
      <p:sp>
        <p:nvSpPr>
          <p:cNvPr id="46088" name="Rectangle 10">
            <a:extLst>
              <a:ext uri="{FF2B5EF4-FFF2-40B4-BE49-F238E27FC236}">
                <a16:creationId xmlns:a16="http://schemas.microsoft.com/office/drawing/2014/main" id="{B65308E9-9DD2-8B7E-0231-6072C92A9ED6}"/>
              </a:ext>
            </a:extLst>
          </p:cNvPr>
          <p:cNvSpPr>
            <a:spLocks noGrp="1" noChangeArrowheads="1"/>
          </p:cNvSpPr>
          <p:nvPr>
            <p:ph type="body" idx="1"/>
          </p:nvPr>
        </p:nvSpPr>
        <p:spPr>
          <a:xfrm>
            <a:off x="0" y="908050"/>
            <a:ext cx="3619500" cy="971550"/>
          </a:xfrm>
          <a:ln>
            <a:miter lim="800000"/>
            <a:headEnd/>
            <a:tailEnd/>
          </a:ln>
        </p:spPr>
        <p:txBody>
          <a:bodyPr lIns="90487" tIns="44450" rIns="90487" bIns="44450"/>
          <a:lstStyle/>
          <a:p>
            <a:pPr eaLnBrk="1" hangingPunct="1">
              <a:lnSpc>
                <a:spcPct val="90000"/>
              </a:lnSpc>
              <a:defRPr/>
            </a:pPr>
            <a:r>
              <a:rPr lang="en-US" sz="2400" dirty="0"/>
              <a:t>State machine</a:t>
            </a:r>
            <a:br>
              <a:rPr lang="en-US" sz="2400" dirty="0"/>
            </a:br>
            <a:r>
              <a:rPr lang="en-US" sz="2400" dirty="0"/>
              <a:t>for </a:t>
            </a:r>
            <a:r>
              <a:rPr lang="en-US" sz="2400" i="1" u="sng" dirty="0">
                <a:solidFill>
                  <a:srgbClr val="7B00E4"/>
                </a:solidFill>
              </a:rPr>
              <a:t>CPU</a:t>
            </a:r>
            <a:r>
              <a:rPr lang="en-US" sz="2400" i="1" dirty="0">
                <a:solidFill>
                  <a:schemeClr val="accent1"/>
                </a:solidFill>
              </a:rPr>
              <a:t>  </a:t>
            </a:r>
            <a:r>
              <a:rPr lang="en-US" sz="2400" dirty="0"/>
              <a:t>requests</a:t>
            </a:r>
            <a:br>
              <a:rPr lang="en-US" sz="2400" dirty="0"/>
            </a:br>
            <a:r>
              <a:rPr lang="en-US" sz="2400" dirty="0">
                <a:ln>
                  <a:solidFill>
                    <a:schemeClr val="tx1"/>
                  </a:solidFill>
                </a:ln>
                <a:solidFill>
                  <a:srgbClr val="80FFFF"/>
                </a:solidFill>
              </a:rPr>
              <a:t>(+ requests from</a:t>
            </a:r>
          </a:p>
          <a:p>
            <a:pPr eaLnBrk="1" hangingPunct="1">
              <a:lnSpc>
                <a:spcPct val="90000"/>
              </a:lnSpc>
              <a:buFontTx/>
              <a:buNone/>
              <a:defRPr/>
            </a:pPr>
            <a:r>
              <a:rPr lang="en-US" sz="2400" dirty="0">
                <a:ln>
                  <a:solidFill>
                    <a:schemeClr val="tx1"/>
                  </a:solidFill>
                </a:ln>
                <a:solidFill>
                  <a:srgbClr val="80FFFF"/>
                </a:solidFill>
              </a:rPr>
              <a:t>    home node) </a:t>
            </a:r>
            <a:r>
              <a:rPr lang="en-US" sz="2400" dirty="0"/>
              <a:t>for </a:t>
            </a:r>
          </a:p>
          <a:p>
            <a:pPr eaLnBrk="1" hangingPunct="1">
              <a:lnSpc>
                <a:spcPct val="90000"/>
              </a:lnSpc>
              <a:buFontTx/>
              <a:buNone/>
              <a:defRPr/>
            </a:pPr>
            <a:r>
              <a:rPr lang="en-US" sz="2400" dirty="0"/>
              <a:t>	each </a:t>
            </a:r>
            <a:r>
              <a:rPr lang="en-US" sz="2400" u="sng" dirty="0">
                <a:solidFill>
                  <a:srgbClr val="7B00E4"/>
                </a:solidFill>
              </a:rPr>
              <a:t>memory block</a:t>
            </a:r>
          </a:p>
          <a:p>
            <a:pPr eaLnBrk="1" hangingPunct="1">
              <a:lnSpc>
                <a:spcPct val="90000"/>
              </a:lnSpc>
              <a:defRPr/>
            </a:pPr>
            <a:r>
              <a:rPr lang="en-US" sz="2400" dirty="0"/>
              <a:t>Invalid state</a:t>
            </a:r>
            <a:br>
              <a:rPr lang="en-US" sz="2400" dirty="0"/>
            </a:br>
            <a:r>
              <a:rPr lang="en-US" sz="2400" dirty="0"/>
              <a:t>if in memory</a:t>
            </a:r>
          </a:p>
        </p:txBody>
      </p:sp>
      <p:sp>
        <p:nvSpPr>
          <p:cNvPr id="1028107" name="Rectangle 11">
            <a:extLst>
              <a:ext uri="{FF2B5EF4-FFF2-40B4-BE49-F238E27FC236}">
                <a16:creationId xmlns:a16="http://schemas.microsoft.com/office/drawing/2014/main" id="{E4E724BE-DAB9-8ED3-0F74-5607AF00DE58}"/>
              </a:ext>
            </a:extLst>
          </p:cNvPr>
          <p:cNvSpPr>
            <a:spLocks noChangeArrowheads="1"/>
          </p:cNvSpPr>
          <p:nvPr/>
        </p:nvSpPr>
        <p:spPr bwMode="auto">
          <a:xfrm>
            <a:off x="1770063" y="3468688"/>
            <a:ext cx="19081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r"/>
            <a:r>
              <a:rPr lang="en-US" altLang="en-US" sz="1800" b="1">
                <a:solidFill>
                  <a:srgbClr val="00FFFF"/>
                </a:solidFill>
              </a:rPr>
              <a:t>Fetch/Invalidate</a:t>
            </a:r>
            <a:endParaRPr lang="en-US" altLang="en-US" sz="1800" b="1"/>
          </a:p>
        </p:txBody>
      </p:sp>
      <p:sp>
        <p:nvSpPr>
          <p:cNvPr id="1028108" name="Rectangle 12">
            <a:extLst>
              <a:ext uri="{FF2B5EF4-FFF2-40B4-BE49-F238E27FC236}">
                <a16:creationId xmlns:a16="http://schemas.microsoft.com/office/drawing/2014/main" id="{35E8F10D-471D-C817-ADC0-F5044D704083}"/>
              </a:ext>
            </a:extLst>
          </p:cNvPr>
          <p:cNvSpPr>
            <a:spLocks noChangeArrowheads="1"/>
          </p:cNvSpPr>
          <p:nvPr/>
        </p:nvSpPr>
        <p:spPr bwMode="auto">
          <a:xfrm>
            <a:off x="4532313" y="1152525"/>
            <a:ext cx="2273300" cy="638175"/>
          </a:xfrm>
          <a:prstGeom prst="rect">
            <a:avLst/>
          </a:prstGeom>
          <a:solidFill>
            <a:schemeClr val="bg1"/>
          </a:solidFill>
          <a:ln w="12700">
            <a:noFill/>
            <a:miter lim="800000"/>
            <a:headEnd/>
            <a:tailEnd/>
          </a:ln>
        </p:spPr>
        <p:txBody>
          <a:bodyPr lIns="90487" tIns="44450" rIns="90487" bIns="44450">
            <a:spAutoFit/>
          </a:bodyPr>
          <a:lstStyle/>
          <a:p>
            <a:pPr algn="ctr">
              <a:defRPr/>
            </a:pPr>
            <a:r>
              <a:rPr lang="en-US" sz="1800" b="1" dirty="0">
                <a:ln>
                  <a:solidFill>
                    <a:srgbClr val="000000"/>
                  </a:solidFill>
                </a:ln>
                <a:solidFill>
                  <a:srgbClr val="00FFFF"/>
                </a:solidFill>
                <a:latin typeface="Arial" pitchFamily="-106" charset="-52"/>
                <a:ea typeface="+mn-ea"/>
              </a:rPr>
              <a:t>Invalidate</a:t>
            </a:r>
            <a:br>
              <a:rPr lang="en-US" sz="1800" b="1" dirty="0">
                <a:solidFill>
                  <a:srgbClr val="00FFFF"/>
                </a:solidFill>
                <a:latin typeface="Arial" pitchFamily="-106" charset="-52"/>
                <a:ea typeface="+mn-ea"/>
              </a:rPr>
            </a:br>
            <a:endParaRPr lang="en-US" sz="1800" b="1" dirty="0">
              <a:solidFill>
                <a:srgbClr val="00FFFF"/>
              </a:solidFill>
              <a:latin typeface="Arial" pitchFamily="-106" charset="-52"/>
              <a:ea typeface="+mn-ea"/>
            </a:endParaRPr>
          </a:p>
        </p:txBody>
      </p:sp>
      <p:sp>
        <p:nvSpPr>
          <p:cNvPr id="17417" name="Rectangle 13">
            <a:extLst>
              <a:ext uri="{FF2B5EF4-FFF2-40B4-BE49-F238E27FC236}">
                <a16:creationId xmlns:a16="http://schemas.microsoft.com/office/drawing/2014/main" id="{A07CE9FC-AF2E-E4BF-4540-1AB90A88C2F1}"/>
              </a:ext>
            </a:extLst>
          </p:cNvPr>
          <p:cNvSpPr>
            <a:spLocks noChangeArrowheads="1"/>
          </p:cNvSpPr>
          <p:nvPr/>
        </p:nvSpPr>
        <p:spPr bwMode="auto">
          <a:xfrm>
            <a:off x="2800350" y="781050"/>
            <a:ext cx="6350" cy="635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18" name="Rectangle 14">
            <a:extLst>
              <a:ext uri="{FF2B5EF4-FFF2-40B4-BE49-F238E27FC236}">
                <a16:creationId xmlns:a16="http://schemas.microsoft.com/office/drawing/2014/main" id="{406011E9-238C-2F47-AB60-4DE8D0146C12}"/>
              </a:ext>
            </a:extLst>
          </p:cNvPr>
          <p:cNvSpPr>
            <a:spLocks noChangeArrowheads="1"/>
          </p:cNvSpPr>
          <p:nvPr/>
        </p:nvSpPr>
        <p:spPr bwMode="auto">
          <a:xfrm>
            <a:off x="3503613" y="1590675"/>
            <a:ext cx="841375" cy="3635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a:t>Invalid</a:t>
            </a:r>
          </a:p>
        </p:txBody>
      </p:sp>
      <p:sp>
        <p:nvSpPr>
          <p:cNvPr id="17419" name="Rectangle 15">
            <a:extLst>
              <a:ext uri="{FF2B5EF4-FFF2-40B4-BE49-F238E27FC236}">
                <a16:creationId xmlns:a16="http://schemas.microsoft.com/office/drawing/2014/main" id="{390369B2-19EE-3A4E-C659-023481AF4453}"/>
              </a:ext>
            </a:extLst>
          </p:cNvPr>
          <p:cNvSpPr>
            <a:spLocks noChangeArrowheads="1"/>
          </p:cNvSpPr>
          <p:nvPr/>
        </p:nvSpPr>
        <p:spPr bwMode="auto">
          <a:xfrm>
            <a:off x="3238500" y="4737100"/>
            <a:ext cx="1452563"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800"/>
              <a:t>Modified</a:t>
            </a:r>
          </a:p>
          <a:p>
            <a:pPr algn="ctr"/>
            <a:r>
              <a:rPr lang="en-US" altLang="en-US" sz="1800"/>
              <a:t>(&amp;Exclusive)</a:t>
            </a:r>
          </a:p>
          <a:p>
            <a:pPr algn="ctr"/>
            <a:r>
              <a:rPr lang="en-US" altLang="en-US" sz="1800"/>
              <a:t>(read/write)</a:t>
            </a:r>
          </a:p>
        </p:txBody>
      </p:sp>
      <p:sp>
        <p:nvSpPr>
          <p:cNvPr id="1028112" name="Rectangle 16">
            <a:extLst>
              <a:ext uri="{FF2B5EF4-FFF2-40B4-BE49-F238E27FC236}">
                <a16:creationId xmlns:a16="http://schemas.microsoft.com/office/drawing/2014/main" id="{BBC8BA4F-5620-1452-0CBF-4181B0EB3DCD}"/>
              </a:ext>
            </a:extLst>
          </p:cNvPr>
          <p:cNvSpPr>
            <a:spLocks noChangeArrowheads="1"/>
          </p:cNvSpPr>
          <p:nvPr/>
        </p:nvSpPr>
        <p:spPr bwMode="auto">
          <a:xfrm>
            <a:off x="4722813" y="1819275"/>
            <a:ext cx="1285875" cy="3635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7B00E4"/>
                </a:solidFill>
              </a:rPr>
              <a:t>CPU Read</a:t>
            </a:r>
          </a:p>
        </p:txBody>
      </p:sp>
      <p:sp>
        <p:nvSpPr>
          <p:cNvPr id="1028113" name="Rectangle 17">
            <a:extLst>
              <a:ext uri="{FF2B5EF4-FFF2-40B4-BE49-F238E27FC236}">
                <a16:creationId xmlns:a16="http://schemas.microsoft.com/office/drawing/2014/main" id="{819DD692-E257-4BED-AA98-4951AB7D08E8}"/>
              </a:ext>
            </a:extLst>
          </p:cNvPr>
          <p:cNvSpPr>
            <a:spLocks noChangeArrowheads="1"/>
          </p:cNvSpPr>
          <p:nvPr/>
        </p:nvSpPr>
        <p:spPr bwMode="auto">
          <a:xfrm>
            <a:off x="7218363" y="200025"/>
            <a:ext cx="1628775" cy="3635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7B00E4"/>
                </a:solidFill>
              </a:rPr>
              <a:t>CPU Read hit</a:t>
            </a:r>
          </a:p>
        </p:txBody>
      </p:sp>
      <p:sp>
        <p:nvSpPr>
          <p:cNvPr id="1028114" name="Rectangle 18">
            <a:extLst>
              <a:ext uri="{FF2B5EF4-FFF2-40B4-BE49-F238E27FC236}">
                <a16:creationId xmlns:a16="http://schemas.microsoft.com/office/drawing/2014/main" id="{1CE93AB9-E1D1-90D8-6F0F-D1E18CFC4E53}"/>
              </a:ext>
            </a:extLst>
          </p:cNvPr>
          <p:cNvSpPr>
            <a:spLocks noChangeArrowheads="1"/>
          </p:cNvSpPr>
          <p:nvPr/>
        </p:nvSpPr>
        <p:spPr bwMode="auto">
          <a:xfrm>
            <a:off x="4741863" y="2105025"/>
            <a:ext cx="1933575" cy="63817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800" b="1"/>
              <a:t>Send Read Miss</a:t>
            </a:r>
          </a:p>
          <a:p>
            <a:pPr algn="ctr"/>
            <a:r>
              <a:rPr lang="en-US" altLang="en-US" sz="1800" b="1"/>
              <a:t>message</a:t>
            </a:r>
          </a:p>
        </p:txBody>
      </p:sp>
      <p:sp>
        <p:nvSpPr>
          <p:cNvPr id="1028115" name="Rectangle 19">
            <a:extLst>
              <a:ext uri="{FF2B5EF4-FFF2-40B4-BE49-F238E27FC236}">
                <a16:creationId xmlns:a16="http://schemas.microsoft.com/office/drawing/2014/main" id="{81CA35DA-0D66-D833-A3A5-A77682342130}"/>
              </a:ext>
            </a:extLst>
          </p:cNvPr>
          <p:cNvSpPr>
            <a:spLocks noChangeArrowheads="1"/>
          </p:cNvSpPr>
          <p:nvPr/>
        </p:nvSpPr>
        <p:spPr bwMode="auto">
          <a:xfrm>
            <a:off x="3903663" y="2714625"/>
            <a:ext cx="14382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FF0000"/>
                </a:solidFill>
              </a:rPr>
              <a:t>CPU Write:</a:t>
            </a:r>
            <a:r>
              <a:rPr lang="en-US" altLang="en-US" sz="1800" b="1"/>
              <a:t> </a:t>
            </a:r>
          </a:p>
        </p:txBody>
      </p:sp>
      <p:sp>
        <p:nvSpPr>
          <p:cNvPr id="1028116" name="Rectangle 20">
            <a:extLst>
              <a:ext uri="{FF2B5EF4-FFF2-40B4-BE49-F238E27FC236}">
                <a16:creationId xmlns:a16="http://schemas.microsoft.com/office/drawing/2014/main" id="{AED832B9-055F-09E2-7B68-DB0D11EE0F29}"/>
              </a:ext>
            </a:extLst>
          </p:cNvPr>
          <p:cNvSpPr>
            <a:spLocks noChangeArrowheads="1"/>
          </p:cNvSpPr>
          <p:nvPr/>
        </p:nvSpPr>
        <p:spPr bwMode="auto">
          <a:xfrm>
            <a:off x="6413500" y="3060700"/>
            <a:ext cx="1374775" cy="3635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FF0000"/>
                </a:solidFill>
              </a:rPr>
              <a:t>CPU Write:</a:t>
            </a:r>
            <a:endParaRPr lang="en-US" altLang="en-US" sz="1800" b="1"/>
          </a:p>
        </p:txBody>
      </p:sp>
      <p:sp>
        <p:nvSpPr>
          <p:cNvPr id="1028117" name="Rectangle 21">
            <a:extLst>
              <a:ext uri="{FF2B5EF4-FFF2-40B4-BE49-F238E27FC236}">
                <a16:creationId xmlns:a16="http://schemas.microsoft.com/office/drawing/2014/main" id="{65613BC9-4F42-4753-4709-2341DC1DF462}"/>
              </a:ext>
            </a:extLst>
          </p:cNvPr>
          <p:cNvSpPr>
            <a:spLocks noChangeArrowheads="1"/>
          </p:cNvSpPr>
          <p:nvPr/>
        </p:nvSpPr>
        <p:spPr bwMode="auto">
          <a:xfrm>
            <a:off x="1693863" y="5381625"/>
            <a:ext cx="16033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7B00E4"/>
                </a:solidFill>
              </a:rPr>
              <a:t>CPU read hit</a:t>
            </a:r>
          </a:p>
          <a:p>
            <a:r>
              <a:rPr lang="en-US" altLang="en-US" sz="1800" b="1">
                <a:solidFill>
                  <a:schemeClr val="hlink"/>
                </a:solidFill>
              </a:rPr>
              <a:t>CPU write hit</a:t>
            </a:r>
          </a:p>
        </p:txBody>
      </p:sp>
      <p:sp>
        <p:nvSpPr>
          <p:cNvPr id="1028118" name="Line 22">
            <a:extLst>
              <a:ext uri="{FF2B5EF4-FFF2-40B4-BE49-F238E27FC236}">
                <a16:creationId xmlns:a16="http://schemas.microsoft.com/office/drawing/2014/main" id="{320DB6C9-92BD-6F6D-5F77-45D8699B03F2}"/>
              </a:ext>
            </a:extLst>
          </p:cNvPr>
          <p:cNvSpPr>
            <a:spLocks noChangeShapeType="1"/>
          </p:cNvSpPr>
          <p:nvPr/>
        </p:nvSpPr>
        <p:spPr bwMode="auto">
          <a:xfrm>
            <a:off x="4699000" y="1847850"/>
            <a:ext cx="1974850" cy="0"/>
          </a:xfrm>
          <a:prstGeom prst="line">
            <a:avLst/>
          </a:prstGeom>
          <a:noFill/>
          <a:ln w="38100">
            <a:solidFill>
              <a:srgbClr val="7B00E4"/>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8119" name="Line 23">
            <a:extLst>
              <a:ext uri="{FF2B5EF4-FFF2-40B4-BE49-F238E27FC236}">
                <a16:creationId xmlns:a16="http://schemas.microsoft.com/office/drawing/2014/main" id="{2051DA1C-9963-97C8-E736-ABF50666333B}"/>
              </a:ext>
            </a:extLst>
          </p:cNvPr>
          <p:cNvSpPr>
            <a:spLocks noChangeShapeType="1"/>
          </p:cNvSpPr>
          <p:nvPr/>
        </p:nvSpPr>
        <p:spPr bwMode="auto">
          <a:xfrm>
            <a:off x="3943350" y="2451100"/>
            <a:ext cx="0" cy="20891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8120" name="Line 24">
            <a:extLst>
              <a:ext uri="{FF2B5EF4-FFF2-40B4-BE49-F238E27FC236}">
                <a16:creationId xmlns:a16="http://schemas.microsoft.com/office/drawing/2014/main" id="{2CFEFBCA-613B-1F14-4F96-35C2D01AD290}"/>
              </a:ext>
            </a:extLst>
          </p:cNvPr>
          <p:cNvSpPr>
            <a:spLocks noChangeShapeType="1"/>
          </p:cNvSpPr>
          <p:nvPr/>
        </p:nvSpPr>
        <p:spPr bwMode="auto">
          <a:xfrm>
            <a:off x="3695700" y="2393950"/>
            <a:ext cx="0" cy="2222500"/>
          </a:xfrm>
          <a:prstGeom prst="line">
            <a:avLst/>
          </a:prstGeom>
          <a:noFill/>
          <a:ln w="38100">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8121" name="Line 25">
            <a:extLst>
              <a:ext uri="{FF2B5EF4-FFF2-40B4-BE49-F238E27FC236}">
                <a16:creationId xmlns:a16="http://schemas.microsoft.com/office/drawing/2014/main" id="{B7ECB597-A8C1-A673-8875-3193D9DCA28F}"/>
              </a:ext>
            </a:extLst>
          </p:cNvPr>
          <p:cNvSpPr>
            <a:spLocks noChangeShapeType="1"/>
          </p:cNvSpPr>
          <p:nvPr/>
        </p:nvSpPr>
        <p:spPr bwMode="auto">
          <a:xfrm>
            <a:off x="4699000" y="1638300"/>
            <a:ext cx="1974850" cy="0"/>
          </a:xfrm>
          <a:prstGeom prst="line">
            <a:avLst/>
          </a:prstGeom>
          <a:noFill/>
          <a:ln w="38100">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0" name="Oval 26">
            <a:extLst>
              <a:ext uri="{FF2B5EF4-FFF2-40B4-BE49-F238E27FC236}">
                <a16:creationId xmlns:a16="http://schemas.microsoft.com/office/drawing/2014/main" id="{06F09315-6F5B-AEEF-4D73-5198ABE91FB6}"/>
              </a:ext>
            </a:extLst>
          </p:cNvPr>
          <p:cNvSpPr>
            <a:spLocks noChangeArrowheads="1"/>
          </p:cNvSpPr>
          <p:nvPr/>
        </p:nvSpPr>
        <p:spPr bwMode="auto">
          <a:xfrm>
            <a:off x="3270250" y="1098550"/>
            <a:ext cx="1403350" cy="1346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8123" name="Line 27">
            <a:extLst>
              <a:ext uri="{FF2B5EF4-FFF2-40B4-BE49-F238E27FC236}">
                <a16:creationId xmlns:a16="http://schemas.microsoft.com/office/drawing/2014/main" id="{2FBFCB1B-9E8B-332E-78E5-812DE34F1FBA}"/>
              </a:ext>
            </a:extLst>
          </p:cNvPr>
          <p:cNvSpPr>
            <a:spLocks noChangeShapeType="1"/>
          </p:cNvSpPr>
          <p:nvPr/>
        </p:nvSpPr>
        <p:spPr bwMode="auto">
          <a:xfrm flipH="1">
            <a:off x="4267200" y="2413000"/>
            <a:ext cx="2857500" cy="22606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8124" name="Line 28">
            <a:extLst>
              <a:ext uri="{FF2B5EF4-FFF2-40B4-BE49-F238E27FC236}">
                <a16:creationId xmlns:a16="http://schemas.microsoft.com/office/drawing/2014/main" id="{389D5703-0033-08F5-F225-DC3E5DFD58DC}"/>
              </a:ext>
            </a:extLst>
          </p:cNvPr>
          <p:cNvSpPr>
            <a:spLocks noChangeShapeType="1"/>
          </p:cNvSpPr>
          <p:nvPr/>
        </p:nvSpPr>
        <p:spPr bwMode="auto">
          <a:xfrm flipH="1">
            <a:off x="4629150" y="2203450"/>
            <a:ext cx="2228850" cy="2717800"/>
          </a:xfrm>
          <a:prstGeom prst="line">
            <a:avLst/>
          </a:prstGeom>
          <a:noFill/>
          <a:ln w="38100">
            <a:solidFill>
              <a:srgbClr val="7B00E4"/>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8125" name="Rectangle 29">
            <a:extLst>
              <a:ext uri="{FF2B5EF4-FFF2-40B4-BE49-F238E27FC236}">
                <a16:creationId xmlns:a16="http://schemas.microsoft.com/office/drawing/2014/main" id="{210E3802-01A2-1503-0BD4-8F99843745C6}"/>
              </a:ext>
            </a:extLst>
          </p:cNvPr>
          <p:cNvSpPr>
            <a:spLocks noChangeArrowheads="1"/>
          </p:cNvSpPr>
          <p:nvPr/>
        </p:nvSpPr>
        <p:spPr bwMode="auto">
          <a:xfrm>
            <a:off x="5340350" y="3924300"/>
            <a:ext cx="33464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chemeClr val="accent2"/>
                </a:solidFill>
              </a:rPr>
              <a:t>Fetch:</a:t>
            </a:r>
            <a:endParaRPr lang="en-US" altLang="en-US" sz="1800" b="1"/>
          </a:p>
        </p:txBody>
      </p:sp>
      <p:sp>
        <p:nvSpPr>
          <p:cNvPr id="1028126" name="Rectangle 30">
            <a:extLst>
              <a:ext uri="{FF2B5EF4-FFF2-40B4-BE49-F238E27FC236}">
                <a16:creationId xmlns:a16="http://schemas.microsoft.com/office/drawing/2014/main" id="{0A5A26FB-E540-B76A-A1F6-A9A7B589A57D}"/>
              </a:ext>
            </a:extLst>
          </p:cNvPr>
          <p:cNvSpPr>
            <a:spLocks noChangeArrowheads="1"/>
          </p:cNvSpPr>
          <p:nvPr/>
        </p:nvSpPr>
        <p:spPr bwMode="auto">
          <a:xfrm>
            <a:off x="7023100" y="2447925"/>
            <a:ext cx="22733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800" b="1">
                <a:solidFill>
                  <a:srgbClr val="7B00E4"/>
                </a:solidFill>
              </a:rPr>
              <a:t>CPU read miss:</a:t>
            </a:r>
            <a:endParaRPr lang="en-US" altLang="en-US" sz="1800" b="1">
              <a:solidFill>
                <a:schemeClr val="accent1"/>
              </a:solidFill>
            </a:endParaRPr>
          </a:p>
        </p:txBody>
      </p:sp>
      <p:sp>
        <p:nvSpPr>
          <p:cNvPr id="1028127" name="Rectangle 31">
            <a:extLst>
              <a:ext uri="{FF2B5EF4-FFF2-40B4-BE49-F238E27FC236}">
                <a16:creationId xmlns:a16="http://schemas.microsoft.com/office/drawing/2014/main" id="{93A9156A-112F-AB10-75F6-CB78C558DD5F}"/>
              </a:ext>
            </a:extLst>
          </p:cNvPr>
          <p:cNvSpPr>
            <a:spLocks noChangeArrowheads="1"/>
          </p:cNvSpPr>
          <p:nvPr/>
        </p:nvSpPr>
        <p:spPr bwMode="auto">
          <a:xfrm>
            <a:off x="5334000" y="5403850"/>
            <a:ext cx="3810000" cy="3635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FF0000"/>
                </a:solidFill>
              </a:rPr>
              <a:t>CPU write miss:</a:t>
            </a:r>
          </a:p>
        </p:txBody>
      </p:sp>
      <p:sp>
        <p:nvSpPr>
          <p:cNvPr id="1028128" name="Rectangle 32">
            <a:extLst>
              <a:ext uri="{FF2B5EF4-FFF2-40B4-BE49-F238E27FC236}">
                <a16:creationId xmlns:a16="http://schemas.microsoft.com/office/drawing/2014/main" id="{423DE422-C596-F95D-C967-65A4C131E958}"/>
              </a:ext>
            </a:extLst>
          </p:cNvPr>
          <p:cNvSpPr>
            <a:spLocks noChangeArrowheads="1"/>
          </p:cNvSpPr>
          <p:nvPr/>
        </p:nvSpPr>
        <p:spPr bwMode="auto">
          <a:xfrm>
            <a:off x="4883150" y="4457700"/>
            <a:ext cx="33464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7B00E4"/>
                </a:solidFill>
              </a:rPr>
              <a:t>CPU read miss:</a:t>
            </a:r>
            <a:endParaRPr lang="en-US" altLang="en-US" sz="1800" b="1"/>
          </a:p>
        </p:txBody>
      </p:sp>
      <p:sp>
        <p:nvSpPr>
          <p:cNvPr id="1028129" name="Line 33">
            <a:extLst>
              <a:ext uri="{FF2B5EF4-FFF2-40B4-BE49-F238E27FC236}">
                <a16:creationId xmlns:a16="http://schemas.microsoft.com/office/drawing/2014/main" id="{C82D573F-5105-FCE5-7BEB-3DD83B3A511A}"/>
              </a:ext>
            </a:extLst>
          </p:cNvPr>
          <p:cNvSpPr>
            <a:spLocks noChangeShapeType="1"/>
          </p:cNvSpPr>
          <p:nvPr/>
        </p:nvSpPr>
        <p:spPr bwMode="auto">
          <a:xfrm flipV="1">
            <a:off x="4495800" y="2324100"/>
            <a:ext cx="2438400" cy="243840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 name="Group 34">
            <a:extLst>
              <a:ext uri="{FF2B5EF4-FFF2-40B4-BE49-F238E27FC236}">
                <a16:creationId xmlns:a16="http://schemas.microsoft.com/office/drawing/2014/main" id="{67FD3B23-BB26-9079-04EA-7156D53D16D1}"/>
              </a:ext>
            </a:extLst>
          </p:cNvPr>
          <p:cNvGrpSpPr>
            <a:grpSpLocks/>
          </p:cNvGrpSpPr>
          <p:nvPr/>
        </p:nvGrpSpPr>
        <p:grpSpPr bwMode="auto">
          <a:xfrm>
            <a:off x="7848600" y="1714500"/>
            <a:ext cx="762000" cy="762000"/>
            <a:chOff x="4944" y="1248"/>
            <a:chExt cx="480" cy="480"/>
          </a:xfrm>
        </p:grpSpPr>
        <p:sp>
          <p:nvSpPr>
            <p:cNvPr id="17457" name="Oval 35">
              <a:extLst>
                <a:ext uri="{FF2B5EF4-FFF2-40B4-BE49-F238E27FC236}">
                  <a16:creationId xmlns:a16="http://schemas.microsoft.com/office/drawing/2014/main" id="{484E4CDC-6374-F4F1-47A7-4D33A89B896E}"/>
                </a:ext>
              </a:extLst>
            </p:cNvPr>
            <p:cNvSpPr>
              <a:spLocks noChangeArrowheads="1"/>
            </p:cNvSpPr>
            <p:nvPr/>
          </p:nvSpPr>
          <p:spPr bwMode="auto">
            <a:xfrm>
              <a:off x="4944" y="1248"/>
              <a:ext cx="480" cy="480"/>
            </a:xfrm>
            <a:prstGeom prst="ellipse">
              <a:avLst/>
            </a:prstGeom>
            <a:noFill/>
            <a:ln w="38100">
              <a:solidFill>
                <a:srgbClr val="7B00E4"/>
              </a:solidFill>
              <a:round/>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58" name="Line 36">
              <a:extLst>
                <a:ext uri="{FF2B5EF4-FFF2-40B4-BE49-F238E27FC236}">
                  <a16:creationId xmlns:a16="http://schemas.microsoft.com/office/drawing/2014/main" id="{1E78ED35-934E-B56A-F4B6-10142F20C610}"/>
                </a:ext>
              </a:extLst>
            </p:cNvPr>
            <p:cNvSpPr>
              <a:spLocks noChangeShapeType="1"/>
            </p:cNvSpPr>
            <p:nvPr/>
          </p:nvSpPr>
          <p:spPr bwMode="auto">
            <a:xfrm>
              <a:off x="4944" y="1488"/>
              <a:ext cx="48" cy="144"/>
            </a:xfrm>
            <a:prstGeom prst="line">
              <a:avLst/>
            </a:prstGeom>
            <a:noFill/>
            <a:ln w="57150">
              <a:solidFill>
                <a:srgbClr val="7B00E4"/>
              </a:solidFill>
              <a:round/>
              <a:headEnd type="triangle" w="med" len="med"/>
              <a:tailEnd/>
            </a:ln>
            <a:extLst>
              <a:ext uri="{909E8E84-426E-40DD-AFC4-6F175D3DCCD1}">
                <a14:hiddenFill xmlns:a14="http://schemas.microsoft.com/office/drawing/2010/main">
                  <a:noFill/>
                </a14:hiddenFill>
              </a:ext>
            </a:extLst>
          </p:spPr>
          <p:txBody>
            <a:bodyPr bIns="0"/>
            <a:lstStyle/>
            <a:p>
              <a:endParaRPr lang="en-US"/>
            </a:p>
          </p:txBody>
        </p:sp>
      </p:grpSp>
      <p:grpSp>
        <p:nvGrpSpPr>
          <p:cNvPr id="5" name="Group 37">
            <a:extLst>
              <a:ext uri="{FF2B5EF4-FFF2-40B4-BE49-F238E27FC236}">
                <a16:creationId xmlns:a16="http://schemas.microsoft.com/office/drawing/2014/main" id="{45205511-30E9-A3C4-CFA0-6BAD82C837A8}"/>
              </a:ext>
            </a:extLst>
          </p:cNvPr>
          <p:cNvGrpSpPr>
            <a:grpSpLocks/>
          </p:cNvGrpSpPr>
          <p:nvPr/>
        </p:nvGrpSpPr>
        <p:grpSpPr bwMode="auto">
          <a:xfrm>
            <a:off x="7391400" y="571500"/>
            <a:ext cx="762000" cy="762000"/>
            <a:chOff x="4656" y="528"/>
            <a:chExt cx="480" cy="480"/>
          </a:xfrm>
        </p:grpSpPr>
        <p:sp>
          <p:nvSpPr>
            <p:cNvPr id="17455" name="Oval 38">
              <a:extLst>
                <a:ext uri="{FF2B5EF4-FFF2-40B4-BE49-F238E27FC236}">
                  <a16:creationId xmlns:a16="http://schemas.microsoft.com/office/drawing/2014/main" id="{5D1058E7-DBB1-173E-61BA-A1A43AD0013A}"/>
                </a:ext>
              </a:extLst>
            </p:cNvPr>
            <p:cNvSpPr>
              <a:spLocks noChangeArrowheads="1"/>
            </p:cNvSpPr>
            <p:nvPr/>
          </p:nvSpPr>
          <p:spPr bwMode="auto">
            <a:xfrm>
              <a:off x="4656" y="528"/>
              <a:ext cx="480" cy="480"/>
            </a:xfrm>
            <a:prstGeom prst="ellipse">
              <a:avLst/>
            </a:prstGeom>
            <a:solidFill>
              <a:schemeClr val="bg1"/>
            </a:solidFill>
            <a:ln w="38100">
              <a:solidFill>
                <a:srgbClr val="7B00E4"/>
              </a:solidFill>
              <a:round/>
              <a:headEnd/>
              <a:tailEnd/>
            </a:ln>
          </p:spPr>
          <p:txBody>
            <a:bodyPr wrap="none"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56" name="Line 39">
              <a:extLst>
                <a:ext uri="{FF2B5EF4-FFF2-40B4-BE49-F238E27FC236}">
                  <a16:creationId xmlns:a16="http://schemas.microsoft.com/office/drawing/2014/main" id="{7EEA4392-A4E2-282B-1B8B-DD4477E96F40}"/>
                </a:ext>
              </a:extLst>
            </p:cNvPr>
            <p:cNvSpPr>
              <a:spLocks noChangeShapeType="1"/>
            </p:cNvSpPr>
            <p:nvPr/>
          </p:nvSpPr>
          <p:spPr bwMode="auto">
            <a:xfrm rot="4846565" flipH="1" flipV="1">
              <a:off x="4968" y="936"/>
              <a:ext cx="48" cy="96"/>
            </a:xfrm>
            <a:prstGeom prst="line">
              <a:avLst/>
            </a:prstGeom>
            <a:noFill/>
            <a:ln w="57150">
              <a:solidFill>
                <a:srgbClr val="7B00E4"/>
              </a:solidFill>
              <a:round/>
              <a:headEnd type="triangle" w="med" len="med"/>
              <a:tailEnd/>
            </a:ln>
            <a:extLst>
              <a:ext uri="{909E8E84-426E-40DD-AFC4-6F175D3DCCD1}">
                <a14:hiddenFill xmlns:a14="http://schemas.microsoft.com/office/drawing/2010/main">
                  <a:noFill/>
                </a14:hiddenFill>
              </a:ext>
            </a:extLst>
          </p:spPr>
          <p:txBody>
            <a:bodyPr bIns="0"/>
            <a:lstStyle/>
            <a:p>
              <a:endParaRPr lang="en-US"/>
            </a:p>
          </p:txBody>
        </p:sp>
      </p:grpSp>
      <p:sp>
        <p:nvSpPr>
          <p:cNvPr id="17440" name="Oval 40">
            <a:extLst>
              <a:ext uri="{FF2B5EF4-FFF2-40B4-BE49-F238E27FC236}">
                <a16:creationId xmlns:a16="http://schemas.microsoft.com/office/drawing/2014/main" id="{E1379D04-4D58-D3D9-D3F1-A25F0D085452}"/>
              </a:ext>
            </a:extLst>
          </p:cNvPr>
          <p:cNvSpPr>
            <a:spLocks noChangeArrowheads="1"/>
          </p:cNvSpPr>
          <p:nvPr/>
        </p:nvSpPr>
        <p:spPr bwMode="auto">
          <a:xfrm>
            <a:off x="6661150" y="1098550"/>
            <a:ext cx="1403350" cy="1346200"/>
          </a:xfrm>
          <a:prstGeom prst="ellipse">
            <a:avLst/>
          </a:prstGeom>
          <a:solidFill>
            <a:schemeClr val="bg1"/>
          </a:solidFill>
          <a:ln w="25400">
            <a:solidFill>
              <a:schemeClr val="tx1"/>
            </a:solidFill>
            <a:round/>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41" name="Rectangle 41">
            <a:extLst>
              <a:ext uri="{FF2B5EF4-FFF2-40B4-BE49-F238E27FC236}">
                <a16:creationId xmlns:a16="http://schemas.microsoft.com/office/drawing/2014/main" id="{A13EB729-A5FF-4A60-3825-75C8BFFC9D2C}"/>
              </a:ext>
            </a:extLst>
          </p:cNvPr>
          <p:cNvSpPr>
            <a:spLocks noChangeArrowheads="1"/>
          </p:cNvSpPr>
          <p:nvPr/>
        </p:nvSpPr>
        <p:spPr bwMode="auto">
          <a:xfrm>
            <a:off x="6742113" y="1419225"/>
            <a:ext cx="13017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800"/>
              <a:t>Shared</a:t>
            </a:r>
          </a:p>
          <a:p>
            <a:pPr algn="ctr"/>
            <a:r>
              <a:rPr lang="en-US" altLang="en-US" sz="1800"/>
              <a:t>(read/only)</a:t>
            </a:r>
          </a:p>
        </p:txBody>
      </p:sp>
      <p:sp>
        <p:nvSpPr>
          <p:cNvPr id="1028138" name="Rectangle 42">
            <a:extLst>
              <a:ext uri="{FF2B5EF4-FFF2-40B4-BE49-F238E27FC236}">
                <a16:creationId xmlns:a16="http://schemas.microsoft.com/office/drawing/2014/main" id="{32E28E16-0994-F566-85DB-53B265E70531}"/>
              </a:ext>
            </a:extLst>
          </p:cNvPr>
          <p:cNvSpPr>
            <a:spLocks noChangeArrowheads="1"/>
          </p:cNvSpPr>
          <p:nvPr/>
        </p:nvSpPr>
        <p:spPr bwMode="auto">
          <a:xfrm>
            <a:off x="7004050" y="2701925"/>
            <a:ext cx="22733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800" b="1"/>
              <a:t>Send Read Miss</a:t>
            </a:r>
            <a:endParaRPr lang="en-US" altLang="en-US" sz="1800" b="1">
              <a:solidFill>
                <a:schemeClr val="accent1"/>
              </a:solidFill>
            </a:endParaRPr>
          </a:p>
        </p:txBody>
      </p:sp>
      <p:sp>
        <p:nvSpPr>
          <p:cNvPr id="1028139" name="Rectangle 43">
            <a:extLst>
              <a:ext uri="{FF2B5EF4-FFF2-40B4-BE49-F238E27FC236}">
                <a16:creationId xmlns:a16="http://schemas.microsoft.com/office/drawing/2014/main" id="{F33FBF67-E218-B5B8-A608-0632969AF54F}"/>
              </a:ext>
            </a:extLst>
          </p:cNvPr>
          <p:cNvSpPr>
            <a:spLocks noChangeArrowheads="1"/>
          </p:cNvSpPr>
          <p:nvPr/>
        </p:nvSpPr>
        <p:spPr bwMode="auto">
          <a:xfrm>
            <a:off x="3919538" y="2951163"/>
            <a:ext cx="2009775"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t>Send Write Miss </a:t>
            </a:r>
          </a:p>
          <a:p>
            <a:r>
              <a:rPr lang="en-US" altLang="en-US" sz="1800" b="1"/>
              <a:t>msg to home</a:t>
            </a:r>
            <a:br>
              <a:rPr lang="en-US" altLang="en-US" sz="1800" b="1"/>
            </a:br>
            <a:r>
              <a:rPr lang="en-US" altLang="en-US" sz="1800" b="1"/>
              <a:t>directory</a:t>
            </a:r>
          </a:p>
        </p:txBody>
      </p:sp>
      <p:sp>
        <p:nvSpPr>
          <p:cNvPr id="1028140" name="Rectangle 44">
            <a:extLst>
              <a:ext uri="{FF2B5EF4-FFF2-40B4-BE49-F238E27FC236}">
                <a16:creationId xmlns:a16="http://schemas.microsoft.com/office/drawing/2014/main" id="{DBD6F885-DCB7-4FCF-F718-83E0A0441876}"/>
              </a:ext>
            </a:extLst>
          </p:cNvPr>
          <p:cNvSpPr>
            <a:spLocks noChangeArrowheads="1"/>
          </p:cNvSpPr>
          <p:nvPr/>
        </p:nvSpPr>
        <p:spPr bwMode="auto">
          <a:xfrm>
            <a:off x="6413500" y="3054350"/>
            <a:ext cx="236537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FF0000"/>
                </a:solidFill>
              </a:rPr>
              <a:t>CPU Write:</a:t>
            </a:r>
            <a:r>
              <a:rPr lang="en-US" altLang="en-US" sz="1800" b="1">
                <a:solidFill>
                  <a:schemeClr val="hlink"/>
                </a:solidFill>
              </a:rPr>
              <a:t> </a:t>
            </a:r>
            <a:r>
              <a:rPr lang="en-US" altLang="en-US" sz="1800" b="1"/>
              <a:t>Send </a:t>
            </a:r>
            <a:br>
              <a:rPr lang="en-US" altLang="en-US" sz="1800" b="1"/>
            </a:br>
            <a:r>
              <a:rPr lang="en-US" altLang="en-US" sz="1800" b="1"/>
              <a:t>Write Miss message</a:t>
            </a:r>
          </a:p>
          <a:p>
            <a:r>
              <a:rPr lang="en-US" altLang="en-US" sz="1800" b="1"/>
              <a:t>to home directory</a:t>
            </a:r>
          </a:p>
        </p:txBody>
      </p:sp>
      <p:sp>
        <p:nvSpPr>
          <p:cNvPr id="1028141" name="Rectangle 45">
            <a:extLst>
              <a:ext uri="{FF2B5EF4-FFF2-40B4-BE49-F238E27FC236}">
                <a16:creationId xmlns:a16="http://schemas.microsoft.com/office/drawing/2014/main" id="{2C05A2F6-0FA6-AD24-6F9F-4FBC95E3D58A}"/>
              </a:ext>
            </a:extLst>
          </p:cNvPr>
          <p:cNvSpPr>
            <a:spLocks noChangeArrowheads="1"/>
          </p:cNvSpPr>
          <p:nvPr/>
        </p:nvSpPr>
        <p:spPr bwMode="auto">
          <a:xfrm>
            <a:off x="5341938" y="3925888"/>
            <a:ext cx="3346450" cy="366767"/>
          </a:xfrm>
          <a:prstGeom prst="rect">
            <a:avLst/>
          </a:prstGeom>
          <a:noFill/>
          <a:ln w="12700">
            <a:noFill/>
            <a:miter lim="800000"/>
            <a:headEnd/>
            <a:tailEnd/>
          </a:ln>
        </p:spPr>
        <p:txBody>
          <a:bodyPr lIns="90487" tIns="44450" rIns="90487" bIns="44450">
            <a:spAutoFit/>
          </a:bodyPr>
          <a:lstStyle/>
          <a:p>
            <a:pPr>
              <a:defRPr/>
            </a:pPr>
            <a:r>
              <a:rPr lang="en-US" sz="1800" b="1" dirty="0">
                <a:ln>
                  <a:solidFill>
                    <a:srgbClr val="000000"/>
                  </a:solidFill>
                </a:ln>
                <a:solidFill>
                  <a:srgbClr val="80FFFF"/>
                </a:solidFill>
                <a:latin typeface="Arial" pitchFamily="-106" charset="-52"/>
                <a:ea typeface="+mn-ea"/>
              </a:rPr>
              <a:t>Fetch</a:t>
            </a:r>
            <a:r>
              <a:rPr lang="en-US" sz="1800" b="1" dirty="0">
                <a:solidFill>
                  <a:schemeClr val="accent2"/>
                </a:solidFill>
                <a:latin typeface="Arial" pitchFamily="-106" charset="-52"/>
                <a:ea typeface="+mn-ea"/>
              </a:rPr>
              <a:t>:</a:t>
            </a:r>
            <a:endParaRPr lang="en-US" sz="1800" b="1" dirty="0">
              <a:latin typeface="Arial" pitchFamily="-106" charset="-52"/>
              <a:ea typeface="+mn-ea"/>
            </a:endParaRPr>
          </a:p>
        </p:txBody>
      </p:sp>
      <p:sp>
        <p:nvSpPr>
          <p:cNvPr id="1028142" name="Rectangle 46">
            <a:extLst>
              <a:ext uri="{FF2B5EF4-FFF2-40B4-BE49-F238E27FC236}">
                <a16:creationId xmlns:a16="http://schemas.microsoft.com/office/drawing/2014/main" id="{CAA11FAF-528F-E27F-9AEE-31CC12821A8D}"/>
              </a:ext>
            </a:extLst>
          </p:cNvPr>
          <p:cNvSpPr>
            <a:spLocks noChangeArrowheads="1"/>
          </p:cNvSpPr>
          <p:nvPr/>
        </p:nvSpPr>
        <p:spPr bwMode="auto">
          <a:xfrm>
            <a:off x="4881563" y="4457700"/>
            <a:ext cx="33464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7B00E4"/>
                </a:solidFill>
              </a:rPr>
              <a:t>CPU read miss:</a:t>
            </a:r>
            <a:r>
              <a:rPr lang="en-US" altLang="en-US" sz="1800" b="1">
                <a:solidFill>
                  <a:schemeClr val="accent2"/>
                </a:solidFill>
              </a:rPr>
              <a:t> </a:t>
            </a:r>
            <a:r>
              <a:rPr lang="en-US" altLang="en-US" sz="1800" b="1"/>
              <a:t>send Data Write Back message and read miss to home directory</a:t>
            </a:r>
          </a:p>
        </p:txBody>
      </p:sp>
      <p:sp>
        <p:nvSpPr>
          <p:cNvPr id="1028143" name="Rectangle 47">
            <a:extLst>
              <a:ext uri="{FF2B5EF4-FFF2-40B4-BE49-F238E27FC236}">
                <a16:creationId xmlns:a16="http://schemas.microsoft.com/office/drawing/2014/main" id="{2DE2ECD8-BD25-0681-7C41-EBAA7B71813F}"/>
              </a:ext>
            </a:extLst>
          </p:cNvPr>
          <p:cNvSpPr>
            <a:spLocks noChangeArrowheads="1"/>
          </p:cNvSpPr>
          <p:nvPr/>
        </p:nvSpPr>
        <p:spPr bwMode="auto">
          <a:xfrm>
            <a:off x="5334000" y="5384800"/>
            <a:ext cx="3810000" cy="9128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rgbClr val="FF0000"/>
                </a:solidFill>
              </a:rPr>
              <a:t>CPU write miss:</a:t>
            </a:r>
          </a:p>
          <a:p>
            <a:r>
              <a:rPr lang="en-US" altLang="en-US" sz="1800" b="1"/>
              <a:t>send Data Write Back message </a:t>
            </a:r>
          </a:p>
          <a:p>
            <a:r>
              <a:rPr lang="en-US" altLang="en-US" sz="1800" b="1"/>
              <a:t>and Write Miss to home directory</a:t>
            </a:r>
          </a:p>
        </p:txBody>
      </p:sp>
      <p:sp>
        <p:nvSpPr>
          <p:cNvPr id="1028144" name="Rectangle 48">
            <a:extLst>
              <a:ext uri="{FF2B5EF4-FFF2-40B4-BE49-F238E27FC236}">
                <a16:creationId xmlns:a16="http://schemas.microsoft.com/office/drawing/2014/main" id="{B1E989EE-1811-B220-C84B-E0F416DEE3CE}"/>
              </a:ext>
            </a:extLst>
          </p:cNvPr>
          <p:cNvSpPr>
            <a:spLocks noChangeArrowheads="1"/>
          </p:cNvSpPr>
          <p:nvPr/>
        </p:nvSpPr>
        <p:spPr bwMode="auto">
          <a:xfrm>
            <a:off x="55563" y="3470275"/>
            <a:ext cx="3622675" cy="912813"/>
          </a:xfrm>
          <a:prstGeom prst="rect">
            <a:avLst/>
          </a:prstGeom>
          <a:solidFill>
            <a:schemeClr val="bg1"/>
          </a:solidFill>
          <a:ln w="12700">
            <a:noFill/>
            <a:miter lim="800000"/>
            <a:headEnd/>
            <a:tailEnd/>
          </a:ln>
        </p:spPr>
        <p:txBody>
          <a:bodyPr wrap="none" lIns="90487" tIns="44450" rIns="90487" bIns="44450">
            <a:spAutoFit/>
          </a:bodyPr>
          <a:lstStyle/>
          <a:p>
            <a:pPr algn="r">
              <a:defRPr/>
            </a:pPr>
            <a:r>
              <a:rPr lang="en-US" sz="1800" b="1" dirty="0">
                <a:ln>
                  <a:solidFill>
                    <a:srgbClr val="000000"/>
                  </a:solidFill>
                </a:ln>
                <a:solidFill>
                  <a:srgbClr val="00FFFF"/>
                </a:solidFill>
                <a:latin typeface="Arial" pitchFamily="-106" charset="-52"/>
                <a:ea typeface="+mn-ea"/>
              </a:rPr>
              <a:t>Fetch/Invalidate</a:t>
            </a:r>
          </a:p>
          <a:p>
            <a:pPr algn="r">
              <a:defRPr/>
            </a:pPr>
            <a:r>
              <a:rPr lang="en-US" sz="1800" b="1" dirty="0">
                <a:latin typeface="Arial" pitchFamily="-106" charset="-52"/>
                <a:ea typeface="+mn-ea"/>
              </a:rPr>
              <a:t>send Data Write Back message </a:t>
            </a:r>
          </a:p>
          <a:p>
            <a:pPr algn="r">
              <a:defRPr/>
            </a:pPr>
            <a:r>
              <a:rPr lang="en-US" sz="1800" b="1" dirty="0">
                <a:latin typeface="Arial" pitchFamily="-106" charset="-52"/>
                <a:ea typeface="+mn-ea"/>
              </a:rPr>
              <a:t>to home directory</a:t>
            </a:r>
          </a:p>
        </p:txBody>
      </p:sp>
      <p:sp>
        <p:nvSpPr>
          <p:cNvPr id="17449" name="Slide Number Placeholder 51">
            <a:extLst>
              <a:ext uri="{FF2B5EF4-FFF2-40B4-BE49-F238E27FC236}">
                <a16:creationId xmlns:a16="http://schemas.microsoft.com/office/drawing/2014/main" id="{8DC6830A-DA9D-487C-AA9D-FA5C02FF44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55912D7F-1DD0-AE48-AEE3-AE5F72B6E1EB}" type="slidenum">
              <a:rPr lang="en-US" altLang="en-US"/>
              <a:pPr/>
              <a:t>16</a:t>
            </a:fld>
            <a:r>
              <a:rPr lang="en-US" altLang="en-US"/>
              <a:t> </a:t>
            </a:r>
          </a:p>
        </p:txBody>
      </p:sp>
      <p:sp>
        <p:nvSpPr>
          <p:cNvPr id="54" name="Rectangle 45">
            <a:extLst>
              <a:ext uri="{FF2B5EF4-FFF2-40B4-BE49-F238E27FC236}">
                <a16:creationId xmlns:a16="http://schemas.microsoft.com/office/drawing/2014/main" id="{24FEAC4A-40AE-BF36-36C2-655AEB6F3119}"/>
              </a:ext>
            </a:extLst>
          </p:cNvPr>
          <p:cNvSpPr>
            <a:spLocks noChangeArrowheads="1"/>
          </p:cNvSpPr>
          <p:nvPr/>
        </p:nvSpPr>
        <p:spPr bwMode="auto">
          <a:xfrm>
            <a:off x="5334000" y="3932238"/>
            <a:ext cx="33464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t>           send Data Write Back message to home directory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81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81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02811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281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2812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02813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02810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102812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02811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028139"/>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102811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028117"/>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028143"/>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02812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3"/>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028128"/>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028142"/>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1028124"/>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028125"/>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499"/>
                                          </p:stCondLst>
                                        </p:cTn>
                                        <p:tgtEl>
                                          <p:spTgt spid="102814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499"/>
                                          </p:stCondLst>
                                        </p:cTn>
                                        <p:tgtEl>
                                          <p:spTgt spid="5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499"/>
                                          </p:stCondLst>
                                        </p:cTn>
                                        <p:tgtEl>
                                          <p:spTgt spid="1028129"/>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1028107"/>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499"/>
                                          </p:stCondLst>
                                        </p:cTn>
                                        <p:tgtEl>
                                          <p:spTgt spid="1028120"/>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grpId="0" nodeType="clickEffect">
                                  <p:stCondLst>
                                    <p:cond delay="0"/>
                                  </p:stCondLst>
                                  <p:childTnLst>
                                    <p:set>
                                      <p:cBhvr>
                                        <p:cTn id="110" dur="1" fill="hold">
                                          <p:stCondLst>
                                            <p:cond delay="499"/>
                                          </p:stCondLst>
                                        </p:cTn>
                                        <p:tgtEl>
                                          <p:spTgt spid="1028140"/>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grpId="0" nodeType="clickEffect">
                                  <p:stCondLst>
                                    <p:cond delay="0"/>
                                  </p:stCondLst>
                                  <p:childTnLst>
                                    <p:set>
                                      <p:cBhvr>
                                        <p:cTn id="114" dur="1" fill="hold">
                                          <p:stCondLst>
                                            <p:cond delay="499"/>
                                          </p:stCondLst>
                                        </p:cTn>
                                        <p:tgtEl>
                                          <p:spTgt spid="1028116"/>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499"/>
                                          </p:stCondLst>
                                        </p:cTn>
                                        <p:tgtEl>
                                          <p:spTgt spid="1028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107" grpId="0" autoUpdateAnimBg="0"/>
      <p:bldP spid="1028112" grpId="0" animBg="1" autoUpdateAnimBg="0"/>
      <p:bldP spid="1028113" grpId="0" animBg="1" autoUpdateAnimBg="0"/>
      <p:bldP spid="1028114" grpId="0" animBg="1" autoUpdateAnimBg="0"/>
      <p:bldP spid="1028115" grpId="0" autoUpdateAnimBg="0"/>
      <p:bldP spid="1028116" grpId="0" animBg="1" autoUpdateAnimBg="0"/>
      <p:bldP spid="1028117" grpId="0" autoUpdateAnimBg="0"/>
      <p:bldP spid="1028125" grpId="0" autoUpdateAnimBg="0"/>
      <p:bldP spid="1028126" grpId="0" autoUpdateAnimBg="0"/>
      <p:bldP spid="1028127" grpId="0" animBg="1" autoUpdateAnimBg="0"/>
      <p:bldP spid="1028128" grpId="0" autoUpdateAnimBg="0"/>
      <p:bldP spid="1028138" grpId="0" autoUpdateAnimBg="0"/>
      <p:bldP spid="1028139" grpId="0" autoUpdateAnimBg="0"/>
      <p:bldP spid="1028140" grpId="0" autoUpdateAnimBg="0"/>
      <p:bldP spid="1028142" grpId="0" autoUpdateAnimBg="0"/>
      <p:bldP spid="1028143" grpId="0" animBg="1" autoUpdateAnimBg="0"/>
      <p:bldP spid="5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E43A72F-0010-0F62-304F-5D0576DD2067}"/>
              </a:ext>
            </a:extLst>
          </p:cNvPr>
          <p:cNvGrpSpPr>
            <a:grpSpLocks/>
          </p:cNvGrpSpPr>
          <p:nvPr/>
        </p:nvGrpSpPr>
        <p:grpSpPr bwMode="auto">
          <a:xfrm>
            <a:off x="7848600" y="1308100"/>
            <a:ext cx="762000" cy="838200"/>
            <a:chOff x="4944" y="1008"/>
            <a:chExt cx="480" cy="528"/>
          </a:xfrm>
        </p:grpSpPr>
        <p:sp>
          <p:nvSpPr>
            <p:cNvPr id="18470" name="Oval 3">
              <a:extLst>
                <a:ext uri="{FF2B5EF4-FFF2-40B4-BE49-F238E27FC236}">
                  <a16:creationId xmlns:a16="http://schemas.microsoft.com/office/drawing/2014/main" id="{B9C0A2E5-4420-E9AB-A532-C4C7672F5E1C}"/>
                </a:ext>
              </a:extLst>
            </p:cNvPr>
            <p:cNvSpPr>
              <a:spLocks noChangeArrowheads="1"/>
            </p:cNvSpPr>
            <p:nvPr/>
          </p:nvSpPr>
          <p:spPr bwMode="auto">
            <a:xfrm>
              <a:off x="4944" y="1008"/>
              <a:ext cx="480" cy="480"/>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71" name="Line 4">
              <a:extLst>
                <a:ext uri="{FF2B5EF4-FFF2-40B4-BE49-F238E27FC236}">
                  <a16:creationId xmlns:a16="http://schemas.microsoft.com/office/drawing/2014/main" id="{66AD2FEA-6D06-E350-66DF-662B4049D1B2}"/>
                </a:ext>
              </a:extLst>
            </p:cNvPr>
            <p:cNvSpPr>
              <a:spLocks noChangeShapeType="1"/>
            </p:cNvSpPr>
            <p:nvPr/>
          </p:nvSpPr>
          <p:spPr bwMode="auto">
            <a:xfrm rot="8151383" flipH="1" flipV="1">
              <a:off x="5088" y="1440"/>
              <a:ext cx="48" cy="96"/>
            </a:xfrm>
            <a:prstGeom prst="line">
              <a:avLst/>
            </a:prstGeom>
            <a:noFill/>
            <a:ln w="57150">
              <a:solidFill>
                <a:schemeClr val="accent2"/>
              </a:solidFill>
              <a:round/>
              <a:headEnd type="triangle" w="med" len="med"/>
              <a:tailEnd/>
            </a:ln>
            <a:extLst>
              <a:ext uri="{909E8E84-426E-40DD-AFC4-6F175D3DCCD1}">
                <a14:hiddenFill xmlns:a14="http://schemas.microsoft.com/office/drawing/2010/main">
                  <a:noFill/>
                </a14:hiddenFill>
              </a:ext>
            </a:extLst>
          </p:spPr>
          <p:txBody>
            <a:bodyPr bIns="0"/>
            <a:lstStyle/>
            <a:p>
              <a:endParaRPr lang="en-US"/>
            </a:p>
          </p:txBody>
        </p:sp>
      </p:grpSp>
      <p:sp>
        <p:nvSpPr>
          <p:cNvPr id="18435" name="Oval 5">
            <a:extLst>
              <a:ext uri="{FF2B5EF4-FFF2-40B4-BE49-F238E27FC236}">
                <a16:creationId xmlns:a16="http://schemas.microsoft.com/office/drawing/2014/main" id="{496683F9-226C-C1B7-F3A8-5D20680F24F9}"/>
              </a:ext>
            </a:extLst>
          </p:cNvPr>
          <p:cNvSpPr>
            <a:spLocks noChangeArrowheads="1"/>
          </p:cNvSpPr>
          <p:nvPr/>
        </p:nvSpPr>
        <p:spPr bwMode="auto">
          <a:xfrm>
            <a:off x="6661150" y="1416050"/>
            <a:ext cx="1403350" cy="1346200"/>
          </a:xfrm>
          <a:prstGeom prst="ellipse">
            <a:avLst/>
          </a:prstGeom>
          <a:solidFill>
            <a:schemeClr val="bg1"/>
          </a:solidFill>
          <a:ln w="25400">
            <a:solidFill>
              <a:schemeClr val="tx1"/>
            </a:solidFill>
            <a:round/>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 name="Group 6">
            <a:extLst>
              <a:ext uri="{FF2B5EF4-FFF2-40B4-BE49-F238E27FC236}">
                <a16:creationId xmlns:a16="http://schemas.microsoft.com/office/drawing/2014/main" id="{5D3C8F89-22C1-9DDD-EAEA-5F2A078AD888}"/>
              </a:ext>
            </a:extLst>
          </p:cNvPr>
          <p:cNvGrpSpPr>
            <a:grpSpLocks/>
          </p:cNvGrpSpPr>
          <p:nvPr/>
        </p:nvGrpSpPr>
        <p:grpSpPr bwMode="auto">
          <a:xfrm>
            <a:off x="2743200" y="4813300"/>
            <a:ext cx="762000" cy="762000"/>
            <a:chOff x="1728" y="3216"/>
            <a:chExt cx="480" cy="480"/>
          </a:xfrm>
        </p:grpSpPr>
        <p:sp>
          <p:nvSpPr>
            <p:cNvPr id="18468" name="Oval 7">
              <a:extLst>
                <a:ext uri="{FF2B5EF4-FFF2-40B4-BE49-F238E27FC236}">
                  <a16:creationId xmlns:a16="http://schemas.microsoft.com/office/drawing/2014/main" id="{2884117A-D441-7DAF-54C2-DF42AD392429}"/>
                </a:ext>
              </a:extLst>
            </p:cNvPr>
            <p:cNvSpPr>
              <a:spLocks noChangeArrowheads="1"/>
            </p:cNvSpPr>
            <p:nvPr/>
          </p:nvSpPr>
          <p:spPr bwMode="auto">
            <a:xfrm>
              <a:off x="1728" y="3216"/>
              <a:ext cx="480" cy="480"/>
            </a:xfrm>
            <a:prstGeom prst="ellipse">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69" name="Line 8">
              <a:extLst>
                <a:ext uri="{FF2B5EF4-FFF2-40B4-BE49-F238E27FC236}">
                  <a16:creationId xmlns:a16="http://schemas.microsoft.com/office/drawing/2014/main" id="{3957CD90-1B56-D8C5-4D8D-7FF826B092DF}"/>
                </a:ext>
              </a:extLst>
            </p:cNvPr>
            <p:cNvSpPr>
              <a:spLocks noChangeShapeType="1"/>
            </p:cNvSpPr>
            <p:nvPr/>
          </p:nvSpPr>
          <p:spPr bwMode="auto">
            <a:xfrm flipH="1" flipV="1">
              <a:off x="2160" y="3312"/>
              <a:ext cx="48" cy="96"/>
            </a:xfrm>
            <a:prstGeom prst="line">
              <a:avLst/>
            </a:prstGeom>
            <a:noFill/>
            <a:ln w="57150">
              <a:solidFill>
                <a:schemeClr val="hlink"/>
              </a:solidFill>
              <a:round/>
              <a:headEnd type="triangle" w="med" len="med"/>
              <a:tailEnd/>
            </a:ln>
            <a:extLst>
              <a:ext uri="{909E8E84-426E-40DD-AFC4-6F175D3DCCD1}">
                <a14:hiddenFill xmlns:a14="http://schemas.microsoft.com/office/drawing/2010/main">
                  <a:noFill/>
                </a14:hiddenFill>
              </a:ext>
            </a:extLst>
          </p:spPr>
          <p:txBody>
            <a:bodyPr bIns="0"/>
            <a:lstStyle/>
            <a:p>
              <a:endParaRPr lang="en-US"/>
            </a:p>
          </p:txBody>
        </p:sp>
      </p:grpSp>
      <p:sp>
        <p:nvSpPr>
          <p:cNvPr id="18437" name="Oval 9">
            <a:extLst>
              <a:ext uri="{FF2B5EF4-FFF2-40B4-BE49-F238E27FC236}">
                <a16:creationId xmlns:a16="http://schemas.microsoft.com/office/drawing/2014/main" id="{47346E4E-DE44-AA0F-8430-38118CFAE008}"/>
              </a:ext>
            </a:extLst>
          </p:cNvPr>
          <p:cNvSpPr>
            <a:spLocks noChangeArrowheads="1"/>
          </p:cNvSpPr>
          <p:nvPr/>
        </p:nvSpPr>
        <p:spPr bwMode="auto">
          <a:xfrm>
            <a:off x="3270250" y="4902200"/>
            <a:ext cx="1403350" cy="1346200"/>
          </a:xfrm>
          <a:prstGeom prst="ellipse">
            <a:avLst/>
          </a:prstGeom>
          <a:solidFill>
            <a:schemeClr val="bg1"/>
          </a:solidFill>
          <a:ln w="25400">
            <a:solidFill>
              <a:schemeClr val="tx1"/>
            </a:solidFill>
            <a:round/>
            <a:headEnd/>
            <a:tailEnd/>
          </a:ln>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38" name="Rectangle 10">
            <a:extLst>
              <a:ext uri="{FF2B5EF4-FFF2-40B4-BE49-F238E27FC236}">
                <a16:creationId xmlns:a16="http://schemas.microsoft.com/office/drawing/2014/main" id="{8485D5D1-19B2-1BCB-491E-D3FF9D6302F8}"/>
              </a:ext>
            </a:extLst>
          </p:cNvPr>
          <p:cNvSpPr>
            <a:spLocks noGrp="1" noChangeArrowheads="1"/>
          </p:cNvSpPr>
          <p:nvPr>
            <p:ph type="title"/>
          </p:nvPr>
        </p:nvSpPr>
        <p:spPr>
          <a:xfrm>
            <a:off x="203200" y="190500"/>
            <a:ext cx="7016750" cy="533400"/>
          </a:xfrm>
          <a:noFill/>
        </p:spPr>
        <p:txBody>
          <a:bodyPr lIns="90487" tIns="44450" rIns="90487" bIns="44450"/>
          <a:lstStyle/>
          <a:p>
            <a:pPr eaLnBrk="1" hangingPunct="1"/>
            <a:r>
              <a:rPr lang="en-US" altLang="en-US" sz="3600" u="sng"/>
              <a:t>Directory </a:t>
            </a:r>
            <a:r>
              <a:rPr lang="en-US" altLang="en-US" sz="3600"/>
              <a:t>State Machine</a:t>
            </a:r>
          </a:p>
        </p:txBody>
      </p:sp>
      <p:sp>
        <p:nvSpPr>
          <p:cNvPr id="18439" name="Rectangle 11">
            <a:extLst>
              <a:ext uri="{FF2B5EF4-FFF2-40B4-BE49-F238E27FC236}">
                <a16:creationId xmlns:a16="http://schemas.microsoft.com/office/drawing/2014/main" id="{030BD448-8790-E653-A118-4A6D76B622E4}"/>
              </a:ext>
            </a:extLst>
          </p:cNvPr>
          <p:cNvSpPr>
            <a:spLocks noGrp="1" noChangeArrowheads="1"/>
          </p:cNvSpPr>
          <p:nvPr>
            <p:ph type="body" idx="1"/>
          </p:nvPr>
        </p:nvSpPr>
        <p:spPr>
          <a:xfrm>
            <a:off x="0" y="730250"/>
            <a:ext cx="3619500" cy="971550"/>
          </a:xfrm>
          <a:noFill/>
        </p:spPr>
        <p:txBody>
          <a:bodyPr lIns="90487" tIns="44450" rIns="90487" bIns="44450"/>
          <a:lstStyle/>
          <a:p>
            <a:pPr eaLnBrk="1" hangingPunct="1">
              <a:lnSpc>
                <a:spcPct val="90000"/>
              </a:lnSpc>
            </a:pPr>
            <a:r>
              <a:rPr lang="en-US" altLang="en-US" sz="2400"/>
              <a:t>State machine</a:t>
            </a:r>
            <a:br>
              <a:rPr lang="en-US" altLang="en-US" sz="2400"/>
            </a:br>
            <a:r>
              <a:rPr lang="en-US" altLang="en-US" sz="2400"/>
              <a:t>for </a:t>
            </a:r>
            <a:r>
              <a:rPr lang="en-US" altLang="en-US" sz="2400" i="1" u="sng">
                <a:solidFill>
                  <a:schemeClr val="accent1"/>
                </a:solidFill>
              </a:rPr>
              <a:t>Directory </a:t>
            </a:r>
            <a:r>
              <a:rPr lang="en-US" altLang="en-US" sz="2400"/>
              <a:t>requests for each </a:t>
            </a:r>
            <a:br>
              <a:rPr lang="en-US" altLang="en-US" sz="2400"/>
            </a:br>
            <a:r>
              <a:rPr lang="en-US" altLang="en-US" sz="2400" u="sng">
                <a:solidFill>
                  <a:schemeClr val="accent2"/>
                </a:solidFill>
              </a:rPr>
              <a:t>memory block</a:t>
            </a:r>
          </a:p>
          <a:p>
            <a:pPr eaLnBrk="1" hangingPunct="1">
              <a:lnSpc>
                <a:spcPct val="90000"/>
              </a:lnSpc>
            </a:pPr>
            <a:r>
              <a:rPr lang="en-US" altLang="en-US" sz="2400"/>
              <a:t>Uncached state</a:t>
            </a:r>
            <a:br>
              <a:rPr lang="en-US" altLang="en-US" sz="2400"/>
            </a:br>
            <a:r>
              <a:rPr lang="en-US" altLang="en-US" sz="2400"/>
              <a:t>if in memory</a:t>
            </a:r>
          </a:p>
        </p:txBody>
      </p:sp>
      <p:sp>
        <p:nvSpPr>
          <p:cNvPr id="1032204" name="Rectangle 12">
            <a:extLst>
              <a:ext uri="{FF2B5EF4-FFF2-40B4-BE49-F238E27FC236}">
                <a16:creationId xmlns:a16="http://schemas.microsoft.com/office/drawing/2014/main" id="{BFF42350-A65C-C2B3-E943-65416E168695}"/>
              </a:ext>
            </a:extLst>
          </p:cNvPr>
          <p:cNvSpPr>
            <a:spLocks noChangeArrowheads="1"/>
          </p:cNvSpPr>
          <p:nvPr/>
        </p:nvSpPr>
        <p:spPr bwMode="auto">
          <a:xfrm>
            <a:off x="1668463" y="3222625"/>
            <a:ext cx="200977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r"/>
            <a:r>
              <a:rPr lang="en-US" altLang="en-US" sz="1800" b="1">
                <a:solidFill>
                  <a:schemeClr val="hlink"/>
                </a:solidFill>
              </a:rPr>
              <a:t>Data Write Back:</a:t>
            </a:r>
          </a:p>
          <a:p>
            <a:pPr algn="r"/>
            <a:r>
              <a:rPr lang="en-US" altLang="en-US" sz="1800" b="1">
                <a:solidFill>
                  <a:schemeClr val="hlink"/>
                </a:solidFill>
              </a:rPr>
              <a:t>Sharers = {}</a:t>
            </a:r>
            <a:endParaRPr lang="en-US" altLang="en-US" sz="1800" b="1">
              <a:solidFill>
                <a:schemeClr val="accent1"/>
              </a:solidFill>
            </a:endParaRPr>
          </a:p>
          <a:p>
            <a:pPr algn="r"/>
            <a:r>
              <a:rPr lang="en-US" altLang="en-US" sz="1800" i="1"/>
              <a:t>(Write back block)</a:t>
            </a:r>
          </a:p>
        </p:txBody>
      </p:sp>
      <p:sp>
        <p:nvSpPr>
          <p:cNvPr id="18441" name="Rectangle 13">
            <a:extLst>
              <a:ext uri="{FF2B5EF4-FFF2-40B4-BE49-F238E27FC236}">
                <a16:creationId xmlns:a16="http://schemas.microsoft.com/office/drawing/2014/main" id="{688C2CBD-1799-B1B3-68C5-269350FE5E4E}"/>
              </a:ext>
            </a:extLst>
          </p:cNvPr>
          <p:cNvSpPr>
            <a:spLocks noChangeArrowheads="1"/>
          </p:cNvSpPr>
          <p:nvPr/>
        </p:nvSpPr>
        <p:spPr bwMode="auto">
          <a:xfrm>
            <a:off x="2800350" y="1098550"/>
            <a:ext cx="6350" cy="635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42" name="Rectangle 14">
            <a:extLst>
              <a:ext uri="{FF2B5EF4-FFF2-40B4-BE49-F238E27FC236}">
                <a16:creationId xmlns:a16="http://schemas.microsoft.com/office/drawing/2014/main" id="{6F9EE597-EB95-0D45-6355-1EB0AB5838EE}"/>
              </a:ext>
            </a:extLst>
          </p:cNvPr>
          <p:cNvSpPr>
            <a:spLocks noChangeArrowheads="1"/>
          </p:cNvSpPr>
          <p:nvPr/>
        </p:nvSpPr>
        <p:spPr bwMode="auto">
          <a:xfrm>
            <a:off x="3370263" y="1908175"/>
            <a:ext cx="1209675" cy="3635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a:t>Uncached</a:t>
            </a:r>
          </a:p>
        </p:txBody>
      </p:sp>
      <p:sp>
        <p:nvSpPr>
          <p:cNvPr id="18443" name="Rectangle 15">
            <a:extLst>
              <a:ext uri="{FF2B5EF4-FFF2-40B4-BE49-F238E27FC236}">
                <a16:creationId xmlns:a16="http://schemas.microsoft.com/office/drawing/2014/main" id="{7121D97A-5A78-362C-B3AF-05DCD6D71DD6}"/>
              </a:ext>
            </a:extLst>
          </p:cNvPr>
          <p:cNvSpPr>
            <a:spLocks noChangeArrowheads="1"/>
          </p:cNvSpPr>
          <p:nvPr/>
        </p:nvSpPr>
        <p:spPr bwMode="auto">
          <a:xfrm>
            <a:off x="6742113" y="1736725"/>
            <a:ext cx="13017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800"/>
              <a:t>Shared</a:t>
            </a:r>
          </a:p>
          <a:p>
            <a:pPr algn="ctr"/>
            <a:r>
              <a:rPr lang="en-US" altLang="en-US" sz="1800"/>
              <a:t>(read only)</a:t>
            </a:r>
          </a:p>
        </p:txBody>
      </p:sp>
      <p:sp>
        <p:nvSpPr>
          <p:cNvPr id="1032209" name="Rectangle 17">
            <a:extLst>
              <a:ext uri="{FF2B5EF4-FFF2-40B4-BE49-F238E27FC236}">
                <a16:creationId xmlns:a16="http://schemas.microsoft.com/office/drawing/2014/main" id="{317433C2-A760-4EED-503E-865F99B3C2AC}"/>
              </a:ext>
            </a:extLst>
          </p:cNvPr>
          <p:cNvSpPr>
            <a:spLocks noChangeArrowheads="1"/>
          </p:cNvSpPr>
          <p:nvPr/>
        </p:nvSpPr>
        <p:spPr bwMode="auto">
          <a:xfrm>
            <a:off x="4684713" y="993775"/>
            <a:ext cx="2009775"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chemeClr val="accent2"/>
                </a:solidFill>
              </a:rPr>
              <a:t>Read miss:</a:t>
            </a:r>
          </a:p>
          <a:p>
            <a:r>
              <a:rPr lang="en-US" altLang="en-US" sz="1800" b="1">
                <a:solidFill>
                  <a:schemeClr val="accent2"/>
                </a:solidFill>
              </a:rPr>
              <a:t>Sharers = {P}</a:t>
            </a:r>
          </a:p>
          <a:p>
            <a:r>
              <a:rPr lang="en-US" altLang="en-US" sz="1800" b="1">
                <a:solidFill>
                  <a:schemeClr val="accent2"/>
                </a:solidFill>
              </a:rPr>
              <a:t>send Data Value </a:t>
            </a:r>
          </a:p>
          <a:p>
            <a:r>
              <a:rPr lang="en-US" altLang="en-US" sz="1800" b="1">
                <a:solidFill>
                  <a:schemeClr val="accent2"/>
                </a:solidFill>
              </a:rPr>
              <a:t>Reply</a:t>
            </a:r>
          </a:p>
          <a:p>
            <a:endParaRPr lang="en-US" altLang="en-US" sz="1800" b="1">
              <a:solidFill>
                <a:schemeClr val="accent2"/>
              </a:solidFill>
            </a:endParaRPr>
          </a:p>
        </p:txBody>
      </p:sp>
      <p:sp>
        <p:nvSpPr>
          <p:cNvPr id="1032210" name="Rectangle 18">
            <a:extLst>
              <a:ext uri="{FF2B5EF4-FFF2-40B4-BE49-F238E27FC236}">
                <a16:creationId xmlns:a16="http://schemas.microsoft.com/office/drawing/2014/main" id="{B7E05744-58D0-A968-2948-AE297C3EEB02}"/>
              </a:ext>
            </a:extLst>
          </p:cNvPr>
          <p:cNvSpPr>
            <a:spLocks noChangeArrowheads="1"/>
          </p:cNvSpPr>
          <p:nvPr/>
        </p:nvSpPr>
        <p:spPr bwMode="auto">
          <a:xfrm>
            <a:off x="6616700" y="2917825"/>
            <a:ext cx="2244725" cy="201136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chemeClr val="hlink"/>
                </a:solidFill>
              </a:rPr>
              <a:t>Write Miss: </a:t>
            </a:r>
          </a:p>
          <a:p>
            <a:r>
              <a:rPr lang="en-US" altLang="en-US" sz="1800" b="1">
                <a:solidFill>
                  <a:schemeClr val="hlink"/>
                </a:solidFill>
              </a:rPr>
              <a:t>send Invalidate </a:t>
            </a:r>
          </a:p>
          <a:p>
            <a:r>
              <a:rPr lang="en-US" altLang="en-US" sz="1800" b="1">
                <a:solidFill>
                  <a:schemeClr val="hlink"/>
                </a:solidFill>
              </a:rPr>
              <a:t>to Sharers;</a:t>
            </a:r>
          </a:p>
          <a:p>
            <a:r>
              <a:rPr lang="en-US" altLang="en-US" sz="1800" b="1">
                <a:solidFill>
                  <a:schemeClr val="hlink"/>
                </a:solidFill>
              </a:rPr>
              <a:t>then Sharers = {P};</a:t>
            </a:r>
          </a:p>
          <a:p>
            <a:r>
              <a:rPr lang="en-US" altLang="en-US" sz="1800" b="1">
                <a:solidFill>
                  <a:schemeClr val="hlink"/>
                </a:solidFill>
              </a:rPr>
              <a:t>send Data Value </a:t>
            </a:r>
          </a:p>
          <a:p>
            <a:r>
              <a:rPr lang="en-US" altLang="en-US" sz="1800" b="1">
                <a:solidFill>
                  <a:schemeClr val="hlink"/>
                </a:solidFill>
              </a:rPr>
              <a:t>Reply msg</a:t>
            </a:r>
          </a:p>
          <a:p>
            <a:endParaRPr lang="en-US" altLang="en-US" sz="1800" b="1">
              <a:solidFill>
                <a:schemeClr val="hlink"/>
              </a:solidFill>
            </a:endParaRPr>
          </a:p>
        </p:txBody>
      </p:sp>
      <p:sp>
        <p:nvSpPr>
          <p:cNvPr id="1032211" name="Line 19">
            <a:extLst>
              <a:ext uri="{FF2B5EF4-FFF2-40B4-BE49-F238E27FC236}">
                <a16:creationId xmlns:a16="http://schemas.microsoft.com/office/drawing/2014/main" id="{1B5EBFE9-4417-56CC-7A8E-ECA8F7E33D02}"/>
              </a:ext>
            </a:extLst>
          </p:cNvPr>
          <p:cNvSpPr>
            <a:spLocks noChangeShapeType="1"/>
          </p:cNvSpPr>
          <p:nvPr/>
        </p:nvSpPr>
        <p:spPr bwMode="auto">
          <a:xfrm>
            <a:off x="4699000" y="2165350"/>
            <a:ext cx="1974850" cy="0"/>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32212" name="Line 20">
            <a:extLst>
              <a:ext uri="{FF2B5EF4-FFF2-40B4-BE49-F238E27FC236}">
                <a16:creationId xmlns:a16="http://schemas.microsoft.com/office/drawing/2014/main" id="{3A96ECF4-5DFA-FA1E-E8E4-485A05FC1D47}"/>
              </a:ext>
            </a:extLst>
          </p:cNvPr>
          <p:cNvSpPr>
            <a:spLocks noChangeShapeType="1"/>
          </p:cNvSpPr>
          <p:nvPr/>
        </p:nvSpPr>
        <p:spPr bwMode="auto">
          <a:xfrm>
            <a:off x="3943350" y="2768600"/>
            <a:ext cx="0" cy="208915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32213" name="Line 21">
            <a:extLst>
              <a:ext uri="{FF2B5EF4-FFF2-40B4-BE49-F238E27FC236}">
                <a16:creationId xmlns:a16="http://schemas.microsoft.com/office/drawing/2014/main" id="{079C0950-12EB-B221-3F0D-571BB05B4DDC}"/>
              </a:ext>
            </a:extLst>
          </p:cNvPr>
          <p:cNvSpPr>
            <a:spLocks noChangeShapeType="1"/>
          </p:cNvSpPr>
          <p:nvPr/>
        </p:nvSpPr>
        <p:spPr bwMode="auto">
          <a:xfrm>
            <a:off x="3695700" y="2711450"/>
            <a:ext cx="0" cy="2222500"/>
          </a:xfrm>
          <a:prstGeom prst="line">
            <a:avLst/>
          </a:prstGeom>
          <a:noFill/>
          <a:ln w="38100">
            <a:solidFill>
              <a:schemeClr val="hlink"/>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2214" name="Rectangle 22">
            <a:extLst>
              <a:ext uri="{FF2B5EF4-FFF2-40B4-BE49-F238E27FC236}">
                <a16:creationId xmlns:a16="http://schemas.microsoft.com/office/drawing/2014/main" id="{EED89C4E-A9C0-1E99-3A39-7E0DFBAD09E7}"/>
              </a:ext>
            </a:extLst>
          </p:cNvPr>
          <p:cNvSpPr>
            <a:spLocks noChangeArrowheads="1"/>
          </p:cNvSpPr>
          <p:nvPr/>
        </p:nvSpPr>
        <p:spPr bwMode="auto">
          <a:xfrm>
            <a:off x="4017963" y="2784475"/>
            <a:ext cx="1762125" cy="146208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chemeClr val="hlink"/>
                </a:solidFill>
              </a:rPr>
              <a:t>Write Miss:</a:t>
            </a:r>
          </a:p>
          <a:p>
            <a:r>
              <a:rPr lang="en-US" altLang="en-US" sz="1800" b="1">
                <a:solidFill>
                  <a:schemeClr val="hlink"/>
                </a:solidFill>
              </a:rPr>
              <a:t>Sharers = {P}; </a:t>
            </a:r>
          </a:p>
          <a:p>
            <a:r>
              <a:rPr lang="en-US" altLang="en-US" sz="1800" b="1">
                <a:solidFill>
                  <a:schemeClr val="hlink"/>
                </a:solidFill>
              </a:rPr>
              <a:t>send Data </a:t>
            </a:r>
          </a:p>
          <a:p>
            <a:r>
              <a:rPr lang="en-US" altLang="en-US" sz="1800" b="1">
                <a:solidFill>
                  <a:schemeClr val="hlink"/>
                </a:solidFill>
              </a:rPr>
              <a:t>Value Reply</a:t>
            </a:r>
          </a:p>
          <a:p>
            <a:r>
              <a:rPr lang="en-US" altLang="en-US" sz="1800" b="1">
                <a:solidFill>
                  <a:schemeClr val="hlink"/>
                </a:solidFill>
              </a:rPr>
              <a:t>msg</a:t>
            </a:r>
          </a:p>
        </p:txBody>
      </p:sp>
      <p:sp>
        <p:nvSpPr>
          <p:cNvPr id="18450" name="Oval 23">
            <a:extLst>
              <a:ext uri="{FF2B5EF4-FFF2-40B4-BE49-F238E27FC236}">
                <a16:creationId xmlns:a16="http://schemas.microsoft.com/office/drawing/2014/main" id="{7D50246A-C6D9-8BFD-2846-8972B56C5FE2}"/>
              </a:ext>
            </a:extLst>
          </p:cNvPr>
          <p:cNvSpPr>
            <a:spLocks noChangeArrowheads="1"/>
          </p:cNvSpPr>
          <p:nvPr/>
        </p:nvSpPr>
        <p:spPr bwMode="auto">
          <a:xfrm>
            <a:off x="3270250" y="1416050"/>
            <a:ext cx="1403350" cy="1346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2216" name="Line 24">
            <a:extLst>
              <a:ext uri="{FF2B5EF4-FFF2-40B4-BE49-F238E27FC236}">
                <a16:creationId xmlns:a16="http://schemas.microsoft.com/office/drawing/2014/main" id="{137AB475-026C-0C8C-C0BB-2A7CE227BB61}"/>
              </a:ext>
            </a:extLst>
          </p:cNvPr>
          <p:cNvSpPr>
            <a:spLocks noChangeShapeType="1"/>
          </p:cNvSpPr>
          <p:nvPr/>
        </p:nvSpPr>
        <p:spPr bwMode="auto">
          <a:xfrm flipH="1">
            <a:off x="4267200" y="2679700"/>
            <a:ext cx="2743200" cy="225425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32217" name="Line 25">
            <a:extLst>
              <a:ext uri="{FF2B5EF4-FFF2-40B4-BE49-F238E27FC236}">
                <a16:creationId xmlns:a16="http://schemas.microsoft.com/office/drawing/2014/main" id="{D27E592E-0436-657B-ADEF-7E487F799B48}"/>
              </a:ext>
            </a:extLst>
          </p:cNvPr>
          <p:cNvSpPr>
            <a:spLocks noChangeShapeType="1"/>
          </p:cNvSpPr>
          <p:nvPr/>
        </p:nvSpPr>
        <p:spPr bwMode="auto">
          <a:xfrm flipH="1">
            <a:off x="4610100" y="2451100"/>
            <a:ext cx="2171700" cy="2768600"/>
          </a:xfrm>
          <a:prstGeom prst="line">
            <a:avLst/>
          </a:prstGeom>
          <a:noFill/>
          <a:ln w="38100">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2218" name="Rectangle 26">
            <a:extLst>
              <a:ext uri="{FF2B5EF4-FFF2-40B4-BE49-F238E27FC236}">
                <a16:creationId xmlns:a16="http://schemas.microsoft.com/office/drawing/2014/main" id="{92AD5BBE-8733-CCEB-3279-299C6188F26D}"/>
              </a:ext>
            </a:extLst>
          </p:cNvPr>
          <p:cNvSpPr>
            <a:spLocks noChangeArrowheads="1"/>
          </p:cNvSpPr>
          <p:nvPr/>
        </p:nvSpPr>
        <p:spPr bwMode="auto">
          <a:xfrm>
            <a:off x="5156200" y="4632325"/>
            <a:ext cx="2768600" cy="17367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chemeClr val="accent2"/>
                </a:solidFill>
              </a:rPr>
              <a:t>Read miss:</a:t>
            </a:r>
          </a:p>
          <a:p>
            <a:r>
              <a:rPr lang="en-US" altLang="en-US" sz="1800" b="1">
                <a:solidFill>
                  <a:schemeClr val="accent2"/>
                </a:solidFill>
              </a:rPr>
              <a:t>Sharers += {P}; </a:t>
            </a:r>
          </a:p>
          <a:p>
            <a:r>
              <a:rPr lang="en-US" altLang="en-US" sz="1800" b="1">
                <a:solidFill>
                  <a:schemeClr val="accent2"/>
                </a:solidFill>
              </a:rPr>
              <a:t>send Fetch;</a:t>
            </a:r>
          </a:p>
          <a:p>
            <a:r>
              <a:rPr lang="en-US" altLang="en-US" sz="1800" b="1">
                <a:solidFill>
                  <a:schemeClr val="accent2"/>
                </a:solidFill>
              </a:rPr>
              <a:t>send Data Value Reply</a:t>
            </a:r>
          </a:p>
          <a:p>
            <a:r>
              <a:rPr lang="en-US" altLang="en-US" sz="1800" b="1">
                <a:solidFill>
                  <a:schemeClr val="accent2"/>
                </a:solidFill>
              </a:rPr>
              <a:t>msg to remote cache</a:t>
            </a:r>
          </a:p>
          <a:p>
            <a:r>
              <a:rPr lang="en-US" altLang="en-US" sz="1800" i="1"/>
              <a:t>(Write back block)</a:t>
            </a:r>
          </a:p>
        </p:txBody>
      </p:sp>
      <p:sp>
        <p:nvSpPr>
          <p:cNvPr id="1032219" name="Rectangle 27">
            <a:extLst>
              <a:ext uri="{FF2B5EF4-FFF2-40B4-BE49-F238E27FC236}">
                <a16:creationId xmlns:a16="http://schemas.microsoft.com/office/drawing/2014/main" id="{CF1A9F0D-F6CC-DFE4-1417-2AFBC1C6C347}"/>
              </a:ext>
            </a:extLst>
          </p:cNvPr>
          <p:cNvSpPr>
            <a:spLocks noChangeArrowheads="1"/>
          </p:cNvSpPr>
          <p:nvPr/>
        </p:nvSpPr>
        <p:spPr bwMode="auto">
          <a:xfrm>
            <a:off x="6511925" y="304800"/>
            <a:ext cx="2632075" cy="9128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chemeClr val="accent2"/>
                </a:solidFill>
              </a:rPr>
              <a:t>Read miss: </a:t>
            </a:r>
          </a:p>
          <a:p>
            <a:r>
              <a:rPr lang="en-US" altLang="en-US" sz="1800" b="1">
                <a:solidFill>
                  <a:schemeClr val="accent2"/>
                </a:solidFill>
              </a:rPr>
              <a:t>Sharers += {P};</a:t>
            </a:r>
          </a:p>
          <a:p>
            <a:r>
              <a:rPr lang="en-US" altLang="en-US" sz="1800" b="1">
                <a:solidFill>
                  <a:schemeClr val="accent2"/>
                </a:solidFill>
              </a:rPr>
              <a:t>send Data Value Reply</a:t>
            </a:r>
          </a:p>
        </p:txBody>
      </p:sp>
      <p:sp>
        <p:nvSpPr>
          <p:cNvPr id="1032220" name="Rectangle 28">
            <a:extLst>
              <a:ext uri="{FF2B5EF4-FFF2-40B4-BE49-F238E27FC236}">
                <a16:creationId xmlns:a16="http://schemas.microsoft.com/office/drawing/2014/main" id="{D62ED80C-94A8-E4E0-D9ED-A65051A325BC}"/>
              </a:ext>
            </a:extLst>
          </p:cNvPr>
          <p:cNvSpPr>
            <a:spLocks noChangeArrowheads="1"/>
          </p:cNvSpPr>
          <p:nvPr/>
        </p:nvSpPr>
        <p:spPr bwMode="auto">
          <a:xfrm>
            <a:off x="228600" y="4584700"/>
            <a:ext cx="27686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800" b="1">
                <a:solidFill>
                  <a:schemeClr val="hlink"/>
                </a:solidFill>
              </a:rPr>
              <a:t>Write Miss:</a:t>
            </a:r>
          </a:p>
          <a:p>
            <a:r>
              <a:rPr lang="en-US" altLang="en-US" sz="1800" b="1">
                <a:solidFill>
                  <a:schemeClr val="hlink"/>
                </a:solidFill>
              </a:rPr>
              <a:t>Sharers = {P}; </a:t>
            </a:r>
          </a:p>
          <a:p>
            <a:r>
              <a:rPr lang="en-US" altLang="en-US" sz="1800" b="1">
                <a:solidFill>
                  <a:schemeClr val="hlink"/>
                </a:solidFill>
              </a:rPr>
              <a:t>send Fetch/Invalidate;</a:t>
            </a:r>
          </a:p>
          <a:p>
            <a:r>
              <a:rPr lang="en-US" altLang="en-US" sz="1800" b="1">
                <a:solidFill>
                  <a:schemeClr val="hlink"/>
                </a:solidFill>
              </a:rPr>
              <a:t>send Data Value Reply</a:t>
            </a:r>
          </a:p>
          <a:p>
            <a:r>
              <a:rPr lang="en-US" altLang="en-US" sz="1800" b="1">
                <a:solidFill>
                  <a:schemeClr val="hlink"/>
                </a:solidFill>
              </a:rPr>
              <a:t>msg to remote cache</a:t>
            </a:r>
          </a:p>
        </p:txBody>
      </p:sp>
      <p:sp>
        <p:nvSpPr>
          <p:cNvPr id="18456" name="Rectangle 29">
            <a:extLst>
              <a:ext uri="{FF2B5EF4-FFF2-40B4-BE49-F238E27FC236}">
                <a16:creationId xmlns:a16="http://schemas.microsoft.com/office/drawing/2014/main" id="{BF529C01-6D16-2C6F-2049-798F80F6E533}"/>
              </a:ext>
            </a:extLst>
          </p:cNvPr>
          <p:cNvSpPr>
            <a:spLocks noChangeArrowheads="1"/>
          </p:cNvSpPr>
          <p:nvPr/>
        </p:nvSpPr>
        <p:spPr bwMode="auto">
          <a:xfrm>
            <a:off x="3225800" y="5067300"/>
            <a:ext cx="1452563"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en-US" altLang="en-US" sz="1800"/>
              <a:t>Modified</a:t>
            </a:r>
          </a:p>
          <a:p>
            <a:pPr algn="ctr"/>
            <a:r>
              <a:rPr lang="en-US" altLang="en-US" sz="1800"/>
              <a:t>(&amp;Exclusive)</a:t>
            </a:r>
          </a:p>
          <a:p>
            <a:pPr algn="ctr"/>
            <a:r>
              <a:rPr lang="en-US" altLang="en-US" sz="1800"/>
              <a:t>(read/write)</a:t>
            </a:r>
          </a:p>
        </p:txBody>
      </p:sp>
      <p:sp>
        <p:nvSpPr>
          <p:cNvPr id="18457" name="Slide Number Placeholder 31">
            <a:extLst>
              <a:ext uri="{FF2B5EF4-FFF2-40B4-BE49-F238E27FC236}">
                <a16:creationId xmlns:a16="http://schemas.microsoft.com/office/drawing/2014/main" id="{932C1CF7-8597-25D2-5566-D46E4245D3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CD85205-9911-BB4C-A943-5A075C7702BC}" type="slidenum">
              <a:rPr lang="en-US" altLang="en-US"/>
              <a:pPr/>
              <a:t>17</a:t>
            </a:fld>
            <a:r>
              <a:rPr lang="en-US" altLang="en-US"/>
              <a:t> </a:t>
            </a: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03220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10322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0322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0322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103221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322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3220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499"/>
                                          </p:stCondLst>
                                        </p:cTn>
                                        <p:tgtEl>
                                          <p:spTgt spid="103221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03221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10322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499"/>
                                          </p:stCondLst>
                                        </p:cTn>
                                        <p:tgtEl>
                                          <p:spTgt spid="10322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499"/>
                                          </p:stCondLst>
                                        </p:cTn>
                                        <p:tgtEl>
                                          <p:spTgt spid="1032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204" grpId="0" autoUpdateAnimBg="0"/>
      <p:bldP spid="1032209" grpId="0" autoUpdateAnimBg="0"/>
      <p:bldP spid="1032210" grpId="0" animBg="1" autoUpdateAnimBg="0"/>
      <p:bldP spid="1032214" grpId="0" animBg="1" autoUpdateAnimBg="0"/>
      <p:bldP spid="1032218" grpId="0" animBg="1" autoUpdateAnimBg="0"/>
      <p:bldP spid="1032219" grpId="0" animBg="1" autoUpdateAnimBg="0"/>
      <p:bldP spid="103222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8FA6513A-D2F0-410B-194F-1C10BAA8A2BB}"/>
              </a:ext>
            </a:extLst>
          </p:cNvPr>
          <p:cNvSpPr>
            <a:spLocks noGrp="1"/>
          </p:cNvSpPr>
          <p:nvPr>
            <p:ph type="title"/>
          </p:nvPr>
        </p:nvSpPr>
        <p:spPr>
          <a:xfrm>
            <a:off x="685800" y="0"/>
            <a:ext cx="7772400" cy="604838"/>
          </a:xfrm>
        </p:spPr>
        <p:txBody>
          <a:bodyPr/>
          <a:lstStyle/>
          <a:p>
            <a:r>
              <a:rPr lang="en-CA" altLang="en-US"/>
              <a:t>Example Question</a:t>
            </a:r>
          </a:p>
        </p:txBody>
      </p:sp>
      <p:sp>
        <p:nvSpPr>
          <p:cNvPr id="19459" name="Slide Number Placeholder 3">
            <a:extLst>
              <a:ext uri="{FF2B5EF4-FFF2-40B4-BE49-F238E27FC236}">
                <a16:creationId xmlns:a16="http://schemas.microsoft.com/office/drawing/2014/main" id="{F8B7D0B3-1B4A-31C5-B724-D796010CCC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0147B59-4DF5-0D46-AB8A-47A932C9EF7D}" type="slidenum">
              <a:rPr lang="en-US" altLang="en-US"/>
              <a:pPr/>
              <a:t>18</a:t>
            </a:fld>
            <a:r>
              <a:rPr lang="en-US" altLang="en-US"/>
              <a:t> </a:t>
            </a:r>
          </a:p>
        </p:txBody>
      </p:sp>
      <p:graphicFrame>
        <p:nvGraphicFramePr>
          <p:cNvPr id="33" name="Table 32">
            <a:extLst>
              <a:ext uri="{FF2B5EF4-FFF2-40B4-BE49-F238E27FC236}">
                <a16:creationId xmlns:a16="http://schemas.microsoft.com/office/drawing/2014/main" id="{926CAAA8-7625-1485-56BA-9CD136702E79}"/>
              </a:ext>
            </a:extLst>
          </p:cNvPr>
          <p:cNvGraphicFramePr>
            <a:graphicFrameLocks noGrp="1"/>
          </p:cNvGraphicFramePr>
          <p:nvPr/>
        </p:nvGraphicFramePr>
        <p:xfrm>
          <a:off x="712788" y="1468438"/>
          <a:ext cx="1501775" cy="731836"/>
        </p:xfrm>
        <a:graphic>
          <a:graphicData uri="http://schemas.openxmlformats.org/drawingml/2006/table">
            <a:tbl>
              <a:tblPr/>
              <a:tblGrid>
                <a:gridCol w="376237">
                  <a:extLst>
                    <a:ext uri="{9D8B030D-6E8A-4147-A177-3AD203B41FA5}">
                      <a16:colId xmlns:a16="http://schemas.microsoft.com/office/drawing/2014/main" val="20000"/>
                    </a:ext>
                  </a:extLst>
                </a:gridCol>
                <a:gridCol w="374650">
                  <a:extLst>
                    <a:ext uri="{9D8B030D-6E8A-4147-A177-3AD203B41FA5}">
                      <a16:colId xmlns:a16="http://schemas.microsoft.com/office/drawing/2014/main" val="20001"/>
                    </a:ext>
                  </a:extLst>
                </a:gridCol>
                <a:gridCol w="376238">
                  <a:extLst>
                    <a:ext uri="{9D8B030D-6E8A-4147-A177-3AD203B41FA5}">
                      <a16:colId xmlns:a16="http://schemas.microsoft.com/office/drawing/2014/main" val="20002"/>
                    </a:ext>
                  </a:extLst>
                </a:gridCol>
                <a:gridCol w="374650">
                  <a:extLst>
                    <a:ext uri="{9D8B030D-6E8A-4147-A177-3AD203B41FA5}">
                      <a16:colId xmlns:a16="http://schemas.microsoft.com/office/drawing/2014/main" val="20003"/>
                    </a:ext>
                  </a:extLst>
                </a:gridCol>
              </a:tblGrid>
              <a:tr h="18295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I</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100</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00</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80</a:t>
                      </a:r>
                    </a:p>
                  </a:txBody>
                  <a:tcPr marL="36000" marR="3600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295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S</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108</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10</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20</a:t>
                      </a:r>
                    </a:p>
                  </a:txBody>
                  <a:tcPr marL="36000" marR="3600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295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M</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110</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00</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01</a:t>
                      </a:r>
                    </a:p>
                  </a:txBody>
                  <a:tcPr marL="36000" marR="3600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95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S</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118</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80</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CA" sz="1200" b="0" i="0" u="none" strike="noStrike" cap="none" normalizeH="0" baseline="0">
                          <a:ln>
                            <a:noFill/>
                          </a:ln>
                          <a:solidFill>
                            <a:schemeClr val="tx1"/>
                          </a:solidFill>
                          <a:effectLst/>
                          <a:latin typeface="Arial" pitchFamily="34" charset="0"/>
                          <a:ea typeface="ＭＳ Ｐゴシック" pitchFamily="34" charset="-128"/>
                          <a:cs typeface="Arial" pitchFamily="34" charset="0"/>
                        </a:rPr>
                        <a:t>40</a:t>
                      </a:r>
                    </a:p>
                  </a:txBody>
                  <a:tcPr marL="36000" marR="3600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487" name="TextBox 33">
            <a:extLst>
              <a:ext uri="{FF2B5EF4-FFF2-40B4-BE49-F238E27FC236}">
                <a16:creationId xmlns:a16="http://schemas.microsoft.com/office/drawing/2014/main" id="{8A31A94B-B6D0-6E26-A454-46095B0D579C}"/>
              </a:ext>
            </a:extLst>
          </p:cNvPr>
          <p:cNvSpPr txBox="1">
            <a:spLocks noChangeArrowheads="1"/>
          </p:cNvSpPr>
          <p:nvPr/>
        </p:nvSpPr>
        <p:spPr bwMode="auto">
          <a:xfrm>
            <a:off x="669925" y="1196975"/>
            <a:ext cx="1393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latin typeface="Times New Roman" panose="02020603050405020304" pitchFamily="18" charset="0"/>
                <a:cs typeface="Times New Roman" panose="02020603050405020304" pitchFamily="18" charset="0"/>
              </a:rPr>
              <a:t>state  tag      data</a:t>
            </a:r>
          </a:p>
        </p:txBody>
      </p:sp>
      <p:graphicFrame>
        <p:nvGraphicFramePr>
          <p:cNvPr id="35" name="Table 34">
            <a:extLst>
              <a:ext uri="{FF2B5EF4-FFF2-40B4-BE49-F238E27FC236}">
                <a16:creationId xmlns:a16="http://schemas.microsoft.com/office/drawing/2014/main" id="{ACC49A76-0118-1EE6-66EC-6E3D76A56114}"/>
              </a:ext>
            </a:extLst>
          </p:cNvPr>
          <p:cNvGraphicFramePr>
            <a:graphicFrameLocks noGrp="1"/>
          </p:cNvGraphicFramePr>
          <p:nvPr/>
        </p:nvGraphicFramePr>
        <p:xfrm>
          <a:off x="2744788" y="1454150"/>
          <a:ext cx="1501775" cy="731840"/>
        </p:xfrm>
        <a:graphic>
          <a:graphicData uri="http://schemas.openxmlformats.org/drawingml/2006/table">
            <a:tbl>
              <a:tblPr/>
              <a:tblGrid>
                <a:gridCol w="376237">
                  <a:extLst>
                    <a:ext uri="{9D8B030D-6E8A-4147-A177-3AD203B41FA5}">
                      <a16:colId xmlns:a16="http://schemas.microsoft.com/office/drawing/2014/main" val="20000"/>
                    </a:ext>
                  </a:extLst>
                </a:gridCol>
                <a:gridCol w="374650">
                  <a:extLst>
                    <a:ext uri="{9D8B030D-6E8A-4147-A177-3AD203B41FA5}">
                      <a16:colId xmlns:a16="http://schemas.microsoft.com/office/drawing/2014/main" val="20001"/>
                    </a:ext>
                  </a:extLst>
                </a:gridCol>
                <a:gridCol w="376238">
                  <a:extLst>
                    <a:ext uri="{9D8B030D-6E8A-4147-A177-3AD203B41FA5}">
                      <a16:colId xmlns:a16="http://schemas.microsoft.com/office/drawing/2014/main" val="20002"/>
                    </a:ext>
                  </a:extLst>
                </a:gridCol>
                <a:gridCol w="374650">
                  <a:extLst>
                    <a:ext uri="{9D8B030D-6E8A-4147-A177-3AD203B41FA5}">
                      <a16:colId xmlns:a16="http://schemas.microsoft.com/office/drawing/2014/main" val="20003"/>
                    </a:ext>
                  </a:extLst>
                </a:gridCol>
              </a:tblGrid>
              <a:tr h="18296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I</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100</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02</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34</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296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S</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108</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20</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296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I</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110</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80</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96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I</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118</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42</a:t>
                      </a:r>
                      <a:endParaRPr kumimoji="0" lang="en-CA" sz="18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36" name="Table 35">
            <a:extLst>
              <a:ext uri="{FF2B5EF4-FFF2-40B4-BE49-F238E27FC236}">
                <a16:creationId xmlns:a16="http://schemas.microsoft.com/office/drawing/2014/main" id="{3C9ADB66-2A29-91C3-BC40-2474171A7285}"/>
              </a:ext>
            </a:extLst>
          </p:cNvPr>
          <p:cNvGraphicFramePr>
            <a:graphicFrameLocks noGrp="1"/>
          </p:cNvGraphicFramePr>
          <p:nvPr/>
        </p:nvGraphicFramePr>
        <p:xfrm>
          <a:off x="4854575" y="1450975"/>
          <a:ext cx="1501775" cy="731840"/>
        </p:xfrm>
        <a:graphic>
          <a:graphicData uri="http://schemas.openxmlformats.org/drawingml/2006/table">
            <a:tbl>
              <a:tblPr/>
              <a:tblGrid>
                <a:gridCol w="376238">
                  <a:extLst>
                    <a:ext uri="{9D8B030D-6E8A-4147-A177-3AD203B41FA5}">
                      <a16:colId xmlns:a16="http://schemas.microsoft.com/office/drawing/2014/main" val="20000"/>
                    </a:ext>
                  </a:extLst>
                </a:gridCol>
                <a:gridCol w="374650">
                  <a:extLst>
                    <a:ext uri="{9D8B030D-6E8A-4147-A177-3AD203B41FA5}">
                      <a16:colId xmlns:a16="http://schemas.microsoft.com/office/drawing/2014/main" val="20001"/>
                    </a:ext>
                  </a:extLst>
                </a:gridCol>
                <a:gridCol w="376237">
                  <a:extLst>
                    <a:ext uri="{9D8B030D-6E8A-4147-A177-3AD203B41FA5}">
                      <a16:colId xmlns:a16="http://schemas.microsoft.com/office/drawing/2014/main" val="20002"/>
                    </a:ext>
                  </a:extLst>
                </a:gridCol>
                <a:gridCol w="374650">
                  <a:extLst>
                    <a:ext uri="{9D8B030D-6E8A-4147-A177-3AD203B41FA5}">
                      <a16:colId xmlns:a16="http://schemas.microsoft.com/office/drawing/2014/main" val="20003"/>
                    </a:ext>
                  </a:extLst>
                </a:gridCol>
              </a:tblGrid>
              <a:tr h="18296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I</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02</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34</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296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S</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108</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20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296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I</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110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96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S</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118</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80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40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37" name="Table 36">
            <a:extLst>
              <a:ext uri="{FF2B5EF4-FFF2-40B4-BE49-F238E27FC236}">
                <a16:creationId xmlns:a16="http://schemas.microsoft.com/office/drawing/2014/main" id="{9F3F948D-505A-9621-D9A3-3530F93258F6}"/>
              </a:ext>
            </a:extLst>
          </p:cNvPr>
          <p:cNvGraphicFramePr>
            <a:graphicFrameLocks noGrp="1"/>
          </p:cNvGraphicFramePr>
          <p:nvPr/>
        </p:nvGraphicFramePr>
        <p:xfrm>
          <a:off x="6888163" y="1436688"/>
          <a:ext cx="1501775" cy="731836"/>
        </p:xfrm>
        <a:graphic>
          <a:graphicData uri="http://schemas.openxmlformats.org/drawingml/2006/table">
            <a:tbl>
              <a:tblPr/>
              <a:tblGrid>
                <a:gridCol w="376237">
                  <a:extLst>
                    <a:ext uri="{9D8B030D-6E8A-4147-A177-3AD203B41FA5}">
                      <a16:colId xmlns:a16="http://schemas.microsoft.com/office/drawing/2014/main" val="20000"/>
                    </a:ext>
                  </a:extLst>
                </a:gridCol>
                <a:gridCol w="374650">
                  <a:extLst>
                    <a:ext uri="{9D8B030D-6E8A-4147-A177-3AD203B41FA5}">
                      <a16:colId xmlns:a16="http://schemas.microsoft.com/office/drawing/2014/main" val="20001"/>
                    </a:ext>
                  </a:extLst>
                </a:gridCol>
                <a:gridCol w="376238">
                  <a:extLst>
                    <a:ext uri="{9D8B030D-6E8A-4147-A177-3AD203B41FA5}">
                      <a16:colId xmlns:a16="http://schemas.microsoft.com/office/drawing/2014/main" val="20002"/>
                    </a:ext>
                  </a:extLst>
                </a:gridCol>
                <a:gridCol w="374650">
                  <a:extLst>
                    <a:ext uri="{9D8B030D-6E8A-4147-A177-3AD203B41FA5}">
                      <a16:colId xmlns:a16="http://schemas.microsoft.com/office/drawing/2014/main" val="20003"/>
                    </a:ext>
                  </a:extLst>
                </a:gridCol>
              </a:tblGrid>
              <a:tr h="182959">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I</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2959">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I</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108</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42</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2959">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M</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130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02</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959">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I</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118</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36830" marR="36830" marT="0" marB="0"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569" name="TextBox 37">
            <a:extLst>
              <a:ext uri="{FF2B5EF4-FFF2-40B4-BE49-F238E27FC236}">
                <a16:creationId xmlns:a16="http://schemas.microsoft.com/office/drawing/2014/main" id="{5CE5F5CB-6810-192D-2F2D-BD971F4ADCE5}"/>
              </a:ext>
            </a:extLst>
          </p:cNvPr>
          <p:cNvSpPr txBox="1">
            <a:spLocks noChangeArrowheads="1"/>
          </p:cNvSpPr>
          <p:nvPr/>
        </p:nvSpPr>
        <p:spPr bwMode="auto">
          <a:xfrm>
            <a:off x="2676525" y="1195388"/>
            <a:ext cx="1438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latin typeface="Times New Roman" panose="02020603050405020304" pitchFamily="18" charset="0"/>
                <a:cs typeface="Times New Roman" panose="02020603050405020304" pitchFamily="18" charset="0"/>
              </a:rPr>
              <a:t>state  tag       data</a:t>
            </a:r>
          </a:p>
        </p:txBody>
      </p:sp>
      <p:sp>
        <p:nvSpPr>
          <p:cNvPr id="19570" name="TextBox 38">
            <a:extLst>
              <a:ext uri="{FF2B5EF4-FFF2-40B4-BE49-F238E27FC236}">
                <a16:creationId xmlns:a16="http://schemas.microsoft.com/office/drawing/2014/main" id="{282CBCED-C56E-3B1D-FD4D-E596C73AAA47}"/>
              </a:ext>
            </a:extLst>
          </p:cNvPr>
          <p:cNvSpPr txBox="1">
            <a:spLocks noChangeArrowheads="1"/>
          </p:cNvSpPr>
          <p:nvPr/>
        </p:nvSpPr>
        <p:spPr bwMode="auto">
          <a:xfrm>
            <a:off x="4760913" y="1193800"/>
            <a:ext cx="1482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latin typeface="Times New Roman" panose="02020603050405020304" pitchFamily="18" charset="0"/>
                <a:cs typeface="Times New Roman" panose="02020603050405020304" pitchFamily="18" charset="0"/>
              </a:rPr>
              <a:t>state  tag       data</a:t>
            </a:r>
          </a:p>
        </p:txBody>
      </p:sp>
      <p:sp>
        <p:nvSpPr>
          <p:cNvPr id="19571" name="TextBox 39">
            <a:extLst>
              <a:ext uri="{FF2B5EF4-FFF2-40B4-BE49-F238E27FC236}">
                <a16:creationId xmlns:a16="http://schemas.microsoft.com/office/drawing/2014/main" id="{07B57F4B-5889-681D-D282-5E51BABCC05B}"/>
              </a:ext>
            </a:extLst>
          </p:cNvPr>
          <p:cNvSpPr txBox="1">
            <a:spLocks noChangeArrowheads="1"/>
          </p:cNvSpPr>
          <p:nvPr/>
        </p:nvSpPr>
        <p:spPr bwMode="auto">
          <a:xfrm>
            <a:off x="6807200" y="1190625"/>
            <a:ext cx="1482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latin typeface="Times New Roman" panose="02020603050405020304" pitchFamily="18" charset="0"/>
                <a:cs typeface="Times New Roman" panose="02020603050405020304" pitchFamily="18" charset="0"/>
              </a:rPr>
              <a:t>state  tag       data</a:t>
            </a:r>
          </a:p>
        </p:txBody>
      </p:sp>
      <p:sp>
        <p:nvSpPr>
          <p:cNvPr id="19572" name="TextBox 40">
            <a:extLst>
              <a:ext uri="{FF2B5EF4-FFF2-40B4-BE49-F238E27FC236}">
                <a16:creationId xmlns:a16="http://schemas.microsoft.com/office/drawing/2014/main" id="{F19098A5-04A3-20C7-23E8-DE35506EF218}"/>
              </a:ext>
            </a:extLst>
          </p:cNvPr>
          <p:cNvSpPr txBox="1">
            <a:spLocks noChangeArrowheads="1"/>
          </p:cNvSpPr>
          <p:nvPr/>
        </p:nvSpPr>
        <p:spPr bwMode="auto">
          <a:xfrm>
            <a:off x="358775" y="1427163"/>
            <a:ext cx="40322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CA" altLang="en-US">
                <a:latin typeface="Times New Roman" panose="02020603050405020304" pitchFamily="18" charset="0"/>
                <a:cs typeface="Times New Roman" panose="02020603050405020304" pitchFamily="18" charset="0"/>
              </a:rPr>
              <a:t>B0</a:t>
            </a:r>
          </a:p>
          <a:p>
            <a:pPr>
              <a:lnSpc>
                <a:spcPct val="90000"/>
              </a:lnSpc>
            </a:pPr>
            <a:r>
              <a:rPr lang="en-CA" altLang="en-US">
                <a:latin typeface="Times New Roman" panose="02020603050405020304" pitchFamily="18" charset="0"/>
                <a:cs typeface="Times New Roman" panose="02020603050405020304" pitchFamily="18" charset="0"/>
              </a:rPr>
              <a:t>B1</a:t>
            </a:r>
          </a:p>
          <a:p>
            <a:pPr>
              <a:lnSpc>
                <a:spcPct val="90000"/>
              </a:lnSpc>
            </a:pPr>
            <a:r>
              <a:rPr lang="en-CA" altLang="en-US">
                <a:latin typeface="Times New Roman" panose="02020603050405020304" pitchFamily="18" charset="0"/>
                <a:cs typeface="Times New Roman" panose="02020603050405020304" pitchFamily="18" charset="0"/>
              </a:rPr>
              <a:t>B2</a:t>
            </a:r>
          </a:p>
          <a:p>
            <a:pPr>
              <a:lnSpc>
                <a:spcPct val="90000"/>
              </a:lnSpc>
            </a:pPr>
            <a:r>
              <a:rPr lang="en-CA" altLang="en-US">
                <a:latin typeface="Times New Roman" panose="02020603050405020304" pitchFamily="18" charset="0"/>
                <a:cs typeface="Times New Roman" panose="02020603050405020304" pitchFamily="18" charset="0"/>
              </a:rPr>
              <a:t>B3</a:t>
            </a:r>
          </a:p>
        </p:txBody>
      </p:sp>
      <p:sp>
        <p:nvSpPr>
          <p:cNvPr id="19573" name="TextBox 41">
            <a:extLst>
              <a:ext uri="{FF2B5EF4-FFF2-40B4-BE49-F238E27FC236}">
                <a16:creationId xmlns:a16="http://schemas.microsoft.com/office/drawing/2014/main" id="{1B69194A-946D-FC12-4F63-C571BBB7BA90}"/>
              </a:ext>
            </a:extLst>
          </p:cNvPr>
          <p:cNvSpPr txBox="1">
            <a:spLocks noChangeArrowheads="1"/>
          </p:cNvSpPr>
          <p:nvPr/>
        </p:nvSpPr>
        <p:spPr bwMode="auto">
          <a:xfrm>
            <a:off x="2430463" y="1412875"/>
            <a:ext cx="4032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CA" altLang="en-US">
                <a:latin typeface="Times New Roman" panose="02020603050405020304" pitchFamily="18" charset="0"/>
                <a:cs typeface="Times New Roman" panose="02020603050405020304" pitchFamily="18" charset="0"/>
              </a:rPr>
              <a:t>B0</a:t>
            </a:r>
          </a:p>
          <a:p>
            <a:pPr>
              <a:lnSpc>
                <a:spcPct val="90000"/>
              </a:lnSpc>
            </a:pPr>
            <a:r>
              <a:rPr lang="en-CA" altLang="en-US">
                <a:latin typeface="Times New Roman" panose="02020603050405020304" pitchFamily="18" charset="0"/>
                <a:cs typeface="Times New Roman" panose="02020603050405020304" pitchFamily="18" charset="0"/>
              </a:rPr>
              <a:t>B1</a:t>
            </a:r>
          </a:p>
          <a:p>
            <a:pPr>
              <a:lnSpc>
                <a:spcPct val="90000"/>
              </a:lnSpc>
            </a:pPr>
            <a:r>
              <a:rPr lang="en-CA" altLang="en-US">
                <a:latin typeface="Times New Roman" panose="02020603050405020304" pitchFamily="18" charset="0"/>
                <a:cs typeface="Times New Roman" panose="02020603050405020304" pitchFamily="18" charset="0"/>
              </a:rPr>
              <a:t>B2</a:t>
            </a:r>
          </a:p>
          <a:p>
            <a:pPr>
              <a:lnSpc>
                <a:spcPct val="90000"/>
              </a:lnSpc>
            </a:pPr>
            <a:r>
              <a:rPr lang="en-CA" altLang="en-US">
                <a:latin typeface="Times New Roman" panose="02020603050405020304" pitchFamily="18" charset="0"/>
                <a:cs typeface="Times New Roman" panose="02020603050405020304" pitchFamily="18" charset="0"/>
              </a:rPr>
              <a:t>B3</a:t>
            </a:r>
          </a:p>
        </p:txBody>
      </p:sp>
      <p:sp>
        <p:nvSpPr>
          <p:cNvPr id="19574" name="TextBox 42">
            <a:extLst>
              <a:ext uri="{FF2B5EF4-FFF2-40B4-BE49-F238E27FC236}">
                <a16:creationId xmlns:a16="http://schemas.microsoft.com/office/drawing/2014/main" id="{43870D89-B4CC-55A6-E828-16318E0716AD}"/>
              </a:ext>
            </a:extLst>
          </p:cNvPr>
          <p:cNvSpPr txBox="1">
            <a:spLocks noChangeArrowheads="1"/>
          </p:cNvSpPr>
          <p:nvPr/>
        </p:nvSpPr>
        <p:spPr bwMode="auto">
          <a:xfrm>
            <a:off x="4527550" y="1397000"/>
            <a:ext cx="40322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CA" altLang="en-US">
                <a:latin typeface="Times New Roman" panose="02020603050405020304" pitchFamily="18" charset="0"/>
                <a:cs typeface="Times New Roman" panose="02020603050405020304" pitchFamily="18" charset="0"/>
              </a:rPr>
              <a:t>B0</a:t>
            </a:r>
          </a:p>
          <a:p>
            <a:pPr>
              <a:lnSpc>
                <a:spcPct val="90000"/>
              </a:lnSpc>
            </a:pPr>
            <a:r>
              <a:rPr lang="en-CA" altLang="en-US">
                <a:latin typeface="Times New Roman" panose="02020603050405020304" pitchFamily="18" charset="0"/>
                <a:cs typeface="Times New Roman" panose="02020603050405020304" pitchFamily="18" charset="0"/>
              </a:rPr>
              <a:t>B1</a:t>
            </a:r>
          </a:p>
          <a:p>
            <a:pPr>
              <a:lnSpc>
                <a:spcPct val="90000"/>
              </a:lnSpc>
            </a:pPr>
            <a:r>
              <a:rPr lang="en-CA" altLang="en-US">
                <a:latin typeface="Times New Roman" panose="02020603050405020304" pitchFamily="18" charset="0"/>
                <a:cs typeface="Times New Roman" panose="02020603050405020304" pitchFamily="18" charset="0"/>
              </a:rPr>
              <a:t>B2</a:t>
            </a:r>
          </a:p>
          <a:p>
            <a:pPr>
              <a:lnSpc>
                <a:spcPct val="90000"/>
              </a:lnSpc>
            </a:pPr>
            <a:r>
              <a:rPr lang="en-CA" altLang="en-US">
                <a:latin typeface="Times New Roman" panose="02020603050405020304" pitchFamily="18" charset="0"/>
                <a:cs typeface="Times New Roman" panose="02020603050405020304" pitchFamily="18" charset="0"/>
              </a:rPr>
              <a:t>B3</a:t>
            </a:r>
          </a:p>
        </p:txBody>
      </p:sp>
      <p:sp>
        <p:nvSpPr>
          <p:cNvPr id="19575" name="TextBox 43">
            <a:extLst>
              <a:ext uri="{FF2B5EF4-FFF2-40B4-BE49-F238E27FC236}">
                <a16:creationId xmlns:a16="http://schemas.microsoft.com/office/drawing/2014/main" id="{F9A9E9BF-6FB8-CA2E-AFC3-F05999490158}"/>
              </a:ext>
            </a:extLst>
          </p:cNvPr>
          <p:cNvSpPr txBox="1">
            <a:spLocks noChangeArrowheads="1"/>
          </p:cNvSpPr>
          <p:nvPr/>
        </p:nvSpPr>
        <p:spPr bwMode="auto">
          <a:xfrm>
            <a:off x="6584950" y="1395413"/>
            <a:ext cx="404813"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CA" altLang="en-US">
                <a:latin typeface="Times New Roman" panose="02020603050405020304" pitchFamily="18" charset="0"/>
                <a:cs typeface="Times New Roman" panose="02020603050405020304" pitchFamily="18" charset="0"/>
              </a:rPr>
              <a:t>B0</a:t>
            </a:r>
          </a:p>
          <a:p>
            <a:pPr>
              <a:lnSpc>
                <a:spcPct val="90000"/>
              </a:lnSpc>
            </a:pPr>
            <a:r>
              <a:rPr lang="en-CA" altLang="en-US">
                <a:latin typeface="Times New Roman" panose="02020603050405020304" pitchFamily="18" charset="0"/>
                <a:cs typeface="Times New Roman" panose="02020603050405020304" pitchFamily="18" charset="0"/>
              </a:rPr>
              <a:t>B1</a:t>
            </a:r>
          </a:p>
          <a:p>
            <a:pPr>
              <a:lnSpc>
                <a:spcPct val="90000"/>
              </a:lnSpc>
            </a:pPr>
            <a:r>
              <a:rPr lang="en-CA" altLang="en-US">
                <a:latin typeface="Times New Roman" panose="02020603050405020304" pitchFamily="18" charset="0"/>
                <a:cs typeface="Times New Roman" panose="02020603050405020304" pitchFamily="18" charset="0"/>
              </a:rPr>
              <a:t>B2</a:t>
            </a:r>
          </a:p>
          <a:p>
            <a:pPr>
              <a:lnSpc>
                <a:spcPct val="90000"/>
              </a:lnSpc>
            </a:pPr>
            <a:r>
              <a:rPr lang="en-CA" altLang="en-US">
                <a:latin typeface="Times New Roman" panose="02020603050405020304" pitchFamily="18" charset="0"/>
                <a:cs typeface="Times New Roman" panose="02020603050405020304" pitchFamily="18" charset="0"/>
              </a:rPr>
              <a:t>B3</a:t>
            </a:r>
          </a:p>
        </p:txBody>
      </p:sp>
      <p:sp>
        <p:nvSpPr>
          <p:cNvPr id="19576" name="Rectangle 44">
            <a:extLst>
              <a:ext uri="{FF2B5EF4-FFF2-40B4-BE49-F238E27FC236}">
                <a16:creationId xmlns:a16="http://schemas.microsoft.com/office/drawing/2014/main" id="{994EB09C-250E-E11D-D6E6-2F3BC05385D3}"/>
              </a:ext>
            </a:extLst>
          </p:cNvPr>
          <p:cNvSpPr>
            <a:spLocks noChangeArrowheads="1"/>
          </p:cNvSpPr>
          <p:nvPr/>
        </p:nvSpPr>
        <p:spPr bwMode="auto">
          <a:xfrm>
            <a:off x="334963" y="939800"/>
            <a:ext cx="1982787" cy="13906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P0</a:t>
            </a:r>
          </a:p>
        </p:txBody>
      </p:sp>
      <p:sp>
        <p:nvSpPr>
          <p:cNvPr id="19577" name="Rectangle 45">
            <a:extLst>
              <a:ext uri="{FF2B5EF4-FFF2-40B4-BE49-F238E27FC236}">
                <a16:creationId xmlns:a16="http://schemas.microsoft.com/office/drawing/2014/main" id="{33F9E38A-98DD-A04B-FA53-8B38E6996986}"/>
              </a:ext>
            </a:extLst>
          </p:cNvPr>
          <p:cNvSpPr>
            <a:spLocks noChangeArrowheads="1"/>
          </p:cNvSpPr>
          <p:nvPr/>
        </p:nvSpPr>
        <p:spPr bwMode="auto">
          <a:xfrm>
            <a:off x="2432050" y="938213"/>
            <a:ext cx="1982788" cy="13906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P1</a:t>
            </a:r>
          </a:p>
        </p:txBody>
      </p:sp>
      <p:sp>
        <p:nvSpPr>
          <p:cNvPr id="19578" name="Rectangle 46">
            <a:extLst>
              <a:ext uri="{FF2B5EF4-FFF2-40B4-BE49-F238E27FC236}">
                <a16:creationId xmlns:a16="http://schemas.microsoft.com/office/drawing/2014/main" id="{F9F87818-5D43-0FAA-E79E-A2C4CA3E3ECC}"/>
              </a:ext>
            </a:extLst>
          </p:cNvPr>
          <p:cNvSpPr>
            <a:spLocks noChangeArrowheads="1"/>
          </p:cNvSpPr>
          <p:nvPr/>
        </p:nvSpPr>
        <p:spPr bwMode="auto">
          <a:xfrm>
            <a:off x="4529138" y="922338"/>
            <a:ext cx="1982787" cy="13922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P2</a:t>
            </a:r>
          </a:p>
        </p:txBody>
      </p:sp>
      <p:sp>
        <p:nvSpPr>
          <p:cNvPr id="19579" name="Rectangle 47">
            <a:extLst>
              <a:ext uri="{FF2B5EF4-FFF2-40B4-BE49-F238E27FC236}">
                <a16:creationId xmlns:a16="http://schemas.microsoft.com/office/drawing/2014/main" id="{DCA2FD2D-ABBB-BCEF-5AD4-C6E9EC78BAFD}"/>
              </a:ext>
            </a:extLst>
          </p:cNvPr>
          <p:cNvSpPr>
            <a:spLocks noChangeArrowheads="1"/>
          </p:cNvSpPr>
          <p:nvPr/>
        </p:nvSpPr>
        <p:spPr bwMode="auto">
          <a:xfrm>
            <a:off x="6638925" y="933450"/>
            <a:ext cx="1982788" cy="13906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CA" altLang="en-US"/>
              <a:t>P3</a:t>
            </a:r>
          </a:p>
        </p:txBody>
      </p:sp>
      <p:cxnSp>
        <p:nvCxnSpPr>
          <p:cNvPr id="19580" name="Straight Connector 49">
            <a:extLst>
              <a:ext uri="{FF2B5EF4-FFF2-40B4-BE49-F238E27FC236}">
                <a16:creationId xmlns:a16="http://schemas.microsoft.com/office/drawing/2014/main" id="{DED5F872-7698-CC45-0755-6D7E0976EB54}"/>
              </a:ext>
            </a:extLst>
          </p:cNvPr>
          <p:cNvCxnSpPr>
            <a:cxnSpLocks noChangeShapeType="1"/>
          </p:cNvCxnSpPr>
          <p:nvPr/>
        </p:nvCxnSpPr>
        <p:spPr bwMode="auto">
          <a:xfrm>
            <a:off x="760413" y="2730500"/>
            <a:ext cx="7507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9581" name="Straight Arrow Connector 51">
            <a:extLst>
              <a:ext uri="{FF2B5EF4-FFF2-40B4-BE49-F238E27FC236}">
                <a16:creationId xmlns:a16="http://schemas.microsoft.com/office/drawing/2014/main" id="{847AA893-3D4A-E67B-E665-E82D23CAB8C9}"/>
              </a:ext>
            </a:extLst>
          </p:cNvPr>
          <p:cNvCxnSpPr>
            <a:cxnSpLocks noChangeShapeType="1"/>
            <a:stCxn id="19576" idx="2"/>
          </p:cNvCxnSpPr>
          <p:nvPr/>
        </p:nvCxnSpPr>
        <p:spPr bwMode="auto">
          <a:xfrm rot="5400000">
            <a:off x="1133475" y="2524125"/>
            <a:ext cx="387350" cy="0"/>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9582" name="Straight Arrow Connector 52">
            <a:extLst>
              <a:ext uri="{FF2B5EF4-FFF2-40B4-BE49-F238E27FC236}">
                <a16:creationId xmlns:a16="http://schemas.microsoft.com/office/drawing/2014/main" id="{4B02F1B8-2674-15B6-CECC-7F066AB1158D}"/>
              </a:ext>
            </a:extLst>
          </p:cNvPr>
          <p:cNvCxnSpPr>
            <a:cxnSpLocks noChangeShapeType="1"/>
          </p:cNvCxnSpPr>
          <p:nvPr/>
        </p:nvCxnSpPr>
        <p:spPr bwMode="auto">
          <a:xfrm rot="5400000">
            <a:off x="3191669" y="2521744"/>
            <a:ext cx="385762" cy="0"/>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9583" name="Straight Arrow Connector 53">
            <a:extLst>
              <a:ext uri="{FF2B5EF4-FFF2-40B4-BE49-F238E27FC236}">
                <a16:creationId xmlns:a16="http://schemas.microsoft.com/office/drawing/2014/main" id="{D268195E-1DA6-C968-D8DE-3EAAA4BD5FAA}"/>
              </a:ext>
            </a:extLst>
          </p:cNvPr>
          <p:cNvCxnSpPr>
            <a:cxnSpLocks noChangeShapeType="1"/>
          </p:cNvCxnSpPr>
          <p:nvPr/>
        </p:nvCxnSpPr>
        <p:spPr bwMode="auto">
          <a:xfrm rot="5400000">
            <a:off x="5379243" y="2520157"/>
            <a:ext cx="385763" cy="0"/>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9584" name="Straight Arrow Connector 55">
            <a:extLst>
              <a:ext uri="{FF2B5EF4-FFF2-40B4-BE49-F238E27FC236}">
                <a16:creationId xmlns:a16="http://schemas.microsoft.com/office/drawing/2014/main" id="{73BFB41E-B6E7-78D1-D1BB-32704F1D8B50}"/>
              </a:ext>
            </a:extLst>
          </p:cNvPr>
          <p:cNvCxnSpPr>
            <a:cxnSpLocks noChangeShapeType="1"/>
          </p:cNvCxnSpPr>
          <p:nvPr/>
        </p:nvCxnSpPr>
        <p:spPr bwMode="auto">
          <a:xfrm rot="5400000">
            <a:off x="7425532" y="2543969"/>
            <a:ext cx="385762" cy="0"/>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aphicFrame>
        <p:nvGraphicFramePr>
          <p:cNvPr id="57" name="Table 56">
            <a:extLst>
              <a:ext uri="{FF2B5EF4-FFF2-40B4-BE49-F238E27FC236}">
                <a16:creationId xmlns:a16="http://schemas.microsoft.com/office/drawing/2014/main" id="{A26D9126-70A6-9F6E-F418-D34F7C833F3D}"/>
              </a:ext>
            </a:extLst>
          </p:cNvPr>
          <p:cNvGraphicFramePr>
            <a:graphicFrameLocks noGrp="1"/>
          </p:cNvGraphicFramePr>
          <p:nvPr/>
        </p:nvGraphicFramePr>
        <p:xfrm>
          <a:off x="503238" y="3184525"/>
          <a:ext cx="2530475" cy="1000125"/>
        </p:xfrm>
        <a:graphic>
          <a:graphicData uri="http://schemas.openxmlformats.org/drawingml/2006/table">
            <a:tbl>
              <a:tblPr/>
              <a:tblGrid>
                <a:gridCol w="477837">
                  <a:extLst>
                    <a:ext uri="{9D8B030D-6E8A-4147-A177-3AD203B41FA5}">
                      <a16:colId xmlns:a16="http://schemas.microsoft.com/office/drawing/2014/main" val="20000"/>
                    </a:ext>
                  </a:extLst>
                </a:gridCol>
                <a:gridCol w="423863">
                  <a:extLst>
                    <a:ext uri="{9D8B030D-6E8A-4147-A177-3AD203B41FA5}">
                      <a16:colId xmlns:a16="http://schemas.microsoft.com/office/drawing/2014/main" val="20001"/>
                    </a:ext>
                  </a:extLst>
                </a:gridCol>
                <a:gridCol w="887412">
                  <a:extLst>
                    <a:ext uri="{9D8B030D-6E8A-4147-A177-3AD203B41FA5}">
                      <a16:colId xmlns:a16="http://schemas.microsoft.com/office/drawing/2014/main" val="20002"/>
                    </a:ext>
                  </a:extLst>
                </a:gridCol>
                <a:gridCol w="384175">
                  <a:extLst>
                    <a:ext uri="{9D8B030D-6E8A-4147-A177-3AD203B41FA5}">
                      <a16:colId xmlns:a16="http://schemas.microsoft.com/office/drawing/2014/main" val="20003"/>
                    </a:ext>
                  </a:extLst>
                </a:gridCol>
                <a:gridCol w="357188">
                  <a:extLst>
                    <a:ext uri="{9D8B030D-6E8A-4147-A177-3AD203B41FA5}">
                      <a16:colId xmlns:a16="http://schemas.microsoft.com/office/drawing/2014/main" val="20004"/>
                    </a:ext>
                  </a:extLst>
                </a:gridCol>
              </a:tblGrid>
              <a:tr h="20002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DI</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002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108</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DS</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P0,P1,P2</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20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002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110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DM</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P0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80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002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118</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DS</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P0,P2</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80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40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002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120</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DI</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02</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rPr>
                        <a:t>01</a:t>
                      </a:r>
                      <a:endParaRPr kumimoji="0" lang="en-CA" sz="1200" b="0" i="0" u="none" strike="noStrike" cap="none" normalizeH="0" baseline="0">
                        <a:ln>
                          <a:noFill/>
                        </a:ln>
                        <a:solidFill>
                          <a:schemeClr val="tx1"/>
                        </a:solidFill>
                        <a:effectLst/>
                        <a:latin typeface="Arial" pitchFamily="34" charset="0"/>
                        <a:ea typeface="Times New Roman" pitchFamily="18" charset="0"/>
                      </a:endParaRPr>
                    </a:p>
                  </a:txBody>
                  <a:tcPr marL="68580" marR="68580" marT="0" marB="0"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19623" name="Straight Arrow Connector 57">
            <a:extLst>
              <a:ext uri="{FF2B5EF4-FFF2-40B4-BE49-F238E27FC236}">
                <a16:creationId xmlns:a16="http://schemas.microsoft.com/office/drawing/2014/main" id="{C1A64291-6B92-971B-7BA7-26D358312F9D}"/>
              </a:ext>
            </a:extLst>
          </p:cNvPr>
          <p:cNvCxnSpPr>
            <a:cxnSpLocks noChangeShapeType="1"/>
          </p:cNvCxnSpPr>
          <p:nvPr/>
        </p:nvCxnSpPr>
        <p:spPr bwMode="auto">
          <a:xfrm rot="5400000">
            <a:off x="1645444" y="2963069"/>
            <a:ext cx="385762" cy="0"/>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19624" name="Content Placeholder 2">
            <a:extLst>
              <a:ext uri="{FF2B5EF4-FFF2-40B4-BE49-F238E27FC236}">
                <a16:creationId xmlns:a16="http://schemas.microsoft.com/office/drawing/2014/main" id="{93272462-CD8D-9CBE-80F3-3DA9BCCA3C9F}"/>
              </a:ext>
            </a:extLst>
          </p:cNvPr>
          <p:cNvSpPr>
            <a:spLocks noGrp="1"/>
          </p:cNvSpPr>
          <p:nvPr>
            <p:ph idx="1"/>
          </p:nvPr>
        </p:nvSpPr>
        <p:spPr>
          <a:xfrm>
            <a:off x="0" y="4906963"/>
            <a:ext cx="4816475" cy="1951037"/>
          </a:xfrm>
        </p:spPr>
        <p:txBody>
          <a:bodyPr/>
          <a:lstStyle/>
          <a:p>
            <a:r>
              <a:rPr lang="en-US" altLang="en-US" sz="1800"/>
              <a:t>Writeback invalidate directory protocol. </a:t>
            </a:r>
          </a:p>
          <a:p>
            <a:r>
              <a:rPr lang="en-US" altLang="en-US" sz="1800"/>
              <a:t>Direct-mapped caches: 4 blocks, each with 2 words (word = 4B). two words separated by dotted line (smaller addresses on the right).</a:t>
            </a:r>
          </a:p>
          <a:p>
            <a:r>
              <a:rPr lang="en-US" altLang="en-US" sz="1800"/>
              <a:t>Tag contains the full address (in hex).</a:t>
            </a:r>
            <a:endParaRPr lang="en-CA" altLang="en-US" sz="1800"/>
          </a:p>
          <a:p>
            <a:endParaRPr lang="en-CA"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0A45F79-E442-C023-A22C-1B870B3637BF}"/>
              </a:ext>
            </a:extLst>
          </p:cNvPr>
          <p:cNvSpPr>
            <a:spLocks noGrp="1" noChangeArrowheads="1"/>
          </p:cNvSpPr>
          <p:nvPr>
            <p:ph type="title"/>
          </p:nvPr>
        </p:nvSpPr>
        <p:spPr>
          <a:xfrm>
            <a:off x="698500" y="304800"/>
            <a:ext cx="8001000" cy="736600"/>
          </a:xfrm>
        </p:spPr>
        <p:txBody>
          <a:bodyPr/>
          <a:lstStyle/>
          <a:p>
            <a:pPr eaLnBrk="1" hangingPunct="1"/>
            <a:r>
              <a:rPr lang="en-US" altLang="en-US"/>
              <a:t>Synchronization</a:t>
            </a:r>
          </a:p>
        </p:txBody>
      </p:sp>
      <p:sp>
        <p:nvSpPr>
          <p:cNvPr id="20483" name="Rectangle 3">
            <a:extLst>
              <a:ext uri="{FF2B5EF4-FFF2-40B4-BE49-F238E27FC236}">
                <a16:creationId xmlns:a16="http://schemas.microsoft.com/office/drawing/2014/main" id="{7392195A-3AE5-DB90-F277-CED1E45576E4}"/>
              </a:ext>
            </a:extLst>
          </p:cNvPr>
          <p:cNvSpPr>
            <a:spLocks noGrp="1" noChangeArrowheads="1"/>
          </p:cNvSpPr>
          <p:nvPr>
            <p:ph type="body" idx="1"/>
          </p:nvPr>
        </p:nvSpPr>
        <p:spPr>
          <a:xfrm>
            <a:off x="685800" y="1562100"/>
            <a:ext cx="7772400" cy="4533900"/>
          </a:xfrm>
        </p:spPr>
        <p:txBody>
          <a:bodyPr/>
          <a:lstStyle/>
          <a:p>
            <a:pPr eaLnBrk="1" hangingPunct="1">
              <a:lnSpc>
                <a:spcPct val="90000"/>
              </a:lnSpc>
            </a:pPr>
            <a:r>
              <a:rPr lang="en-US" altLang="en-US" sz="2400"/>
              <a:t>Acquire method</a:t>
            </a:r>
          </a:p>
          <a:p>
            <a:pPr lvl="1" eaLnBrk="1" hangingPunct="1">
              <a:lnSpc>
                <a:spcPct val="90000"/>
              </a:lnSpc>
            </a:pPr>
            <a:r>
              <a:rPr lang="en-US" altLang="en-US" sz="2000"/>
              <a:t>Acquire right to enter critical section, go past event</a:t>
            </a:r>
          </a:p>
          <a:p>
            <a:pPr eaLnBrk="1" hangingPunct="1">
              <a:lnSpc>
                <a:spcPct val="90000"/>
              </a:lnSpc>
            </a:pPr>
            <a:r>
              <a:rPr lang="en-US" altLang="en-US" sz="2400"/>
              <a:t>Waiting algorithm</a:t>
            </a:r>
          </a:p>
          <a:p>
            <a:pPr lvl="1" eaLnBrk="1" hangingPunct="1">
              <a:lnSpc>
                <a:spcPct val="90000"/>
              </a:lnSpc>
            </a:pPr>
            <a:r>
              <a:rPr lang="en-US" altLang="en-US" sz="2000"/>
              <a:t>Wait for synch to become available when it isn’t</a:t>
            </a:r>
          </a:p>
          <a:p>
            <a:pPr lvl="1" eaLnBrk="1" hangingPunct="1">
              <a:lnSpc>
                <a:spcPct val="90000"/>
              </a:lnSpc>
            </a:pPr>
            <a:r>
              <a:rPr lang="en-US" altLang="en-US" sz="2000">
                <a:solidFill>
                  <a:srgbClr val="0000FF"/>
                </a:solidFill>
              </a:rPr>
              <a:t>busy-waiting, blocking, or hybrid</a:t>
            </a:r>
          </a:p>
          <a:p>
            <a:pPr eaLnBrk="1" hangingPunct="1">
              <a:lnSpc>
                <a:spcPct val="90000"/>
              </a:lnSpc>
            </a:pPr>
            <a:r>
              <a:rPr lang="en-US" altLang="en-US" sz="2400"/>
              <a:t>Release method</a:t>
            </a:r>
          </a:p>
          <a:p>
            <a:pPr lvl="1" eaLnBrk="1" hangingPunct="1">
              <a:lnSpc>
                <a:spcPct val="90000"/>
              </a:lnSpc>
            </a:pPr>
            <a:r>
              <a:rPr lang="en-US" altLang="en-US" sz="2000"/>
              <a:t>Enable other processors to acquire right to the synch</a:t>
            </a:r>
          </a:p>
          <a:p>
            <a:pPr lvl="1" eaLnBrk="1" hangingPunct="1">
              <a:lnSpc>
                <a:spcPct val="90000"/>
              </a:lnSpc>
              <a:buFontTx/>
              <a:buNone/>
            </a:pPr>
            <a:endParaRPr lang="en-US" altLang="en-US" sz="2000"/>
          </a:p>
          <a:p>
            <a:pPr eaLnBrk="1" hangingPunct="1">
              <a:lnSpc>
                <a:spcPct val="90000"/>
              </a:lnSpc>
            </a:pPr>
            <a:r>
              <a:rPr lang="en-US" altLang="en-US" sz="2400"/>
              <a:t>Waiting algorithm is independent of type of synchronization</a:t>
            </a:r>
          </a:p>
          <a:p>
            <a:pPr lvl="1" eaLnBrk="1" hangingPunct="1">
              <a:lnSpc>
                <a:spcPct val="90000"/>
              </a:lnSpc>
            </a:pPr>
            <a:r>
              <a:rPr lang="en-US" altLang="en-US" sz="2000"/>
              <a:t>makes no sense to put in hardware</a:t>
            </a:r>
          </a:p>
        </p:txBody>
      </p:sp>
      <p:sp>
        <p:nvSpPr>
          <p:cNvPr id="20484" name="Slide Number Placeholder 6">
            <a:extLst>
              <a:ext uri="{FF2B5EF4-FFF2-40B4-BE49-F238E27FC236}">
                <a16:creationId xmlns:a16="http://schemas.microsoft.com/office/drawing/2014/main" id="{562BDB73-596F-DD47-D833-7528D1D865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854F872-C044-BD48-B329-7100D5518E75}" type="slidenum">
              <a:rPr lang="en-US" altLang="en-US"/>
              <a:pPr/>
              <a:t>19</a:t>
            </a:fld>
            <a:r>
              <a:rPr lang="en-US" altLang="en-US"/>
              <a:t> </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6672D6F-A8E8-66F4-7271-30175E7A55E8}"/>
              </a:ext>
            </a:extLst>
          </p:cNvPr>
          <p:cNvSpPr>
            <a:spLocks noGrp="1" noChangeArrowheads="1"/>
          </p:cNvSpPr>
          <p:nvPr>
            <p:ph type="title"/>
          </p:nvPr>
        </p:nvSpPr>
        <p:spPr>
          <a:noFill/>
        </p:spPr>
        <p:txBody>
          <a:bodyPr lIns="90487" tIns="44450" rIns="90487" bIns="44450"/>
          <a:lstStyle/>
          <a:p>
            <a:pPr eaLnBrk="1" hangingPunct="1"/>
            <a:r>
              <a:rPr lang="en-US" altLang="en-US"/>
              <a:t>Strawman Lock</a:t>
            </a:r>
          </a:p>
        </p:txBody>
      </p:sp>
      <p:sp>
        <p:nvSpPr>
          <p:cNvPr id="21507" name="Rectangle 3">
            <a:extLst>
              <a:ext uri="{FF2B5EF4-FFF2-40B4-BE49-F238E27FC236}">
                <a16:creationId xmlns:a16="http://schemas.microsoft.com/office/drawing/2014/main" id="{00A2445D-A9C6-7331-B0EA-E4DF4E125E49}"/>
              </a:ext>
            </a:extLst>
          </p:cNvPr>
          <p:cNvSpPr>
            <a:spLocks noGrp="1" noChangeArrowheads="1"/>
          </p:cNvSpPr>
          <p:nvPr>
            <p:ph type="body" idx="1"/>
          </p:nvPr>
        </p:nvSpPr>
        <p:spPr>
          <a:xfrm>
            <a:off x="685800" y="2068513"/>
            <a:ext cx="7772400" cy="4027487"/>
          </a:xfrm>
          <a:noFill/>
        </p:spPr>
        <p:txBody>
          <a:bodyPr lIns="90487" tIns="44450" rIns="90487" bIns="44450"/>
          <a:lstStyle/>
          <a:p>
            <a:pPr marL="0" indent="0" eaLnBrk="1" hangingPunct="1">
              <a:buFontTx/>
              <a:buNone/>
              <a:tabLst>
                <a:tab pos="977900" algn="l"/>
                <a:tab pos="1490663" algn="l"/>
                <a:tab pos="3997325" algn="l"/>
              </a:tabLst>
            </a:pPr>
            <a:r>
              <a:rPr lang="en-US" altLang="en-US" sz="1600" dirty="0">
                <a:latin typeface="Courier" panose="02070309020205020404" pitchFamily="49" charset="0"/>
              </a:rPr>
              <a:t>lock:	LD	 R1,location</a:t>
            </a:r>
            <a:r>
              <a:rPr lang="en-US" altLang="en-US" sz="1600" dirty="0"/>
              <a:t>            	</a:t>
            </a:r>
            <a:r>
              <a:rPr lang="en-US" altLang="en-US" sz="1600" i="1" dirty="0">
                <a:solidFill>
                  <a:srgbClr val="0000FF"/>
                </a:solidFill>
              </a:rPr>
              <a:t>/* copy location to register */</a:t>
            </a:r>
            <a:endParaRPr lang="en-US" altLang="en-US" sz="1600" dirty="0">
              <a:solidFill>
                <a:srgbClr val="0000FF"/>
              </a:solidFill>
            </a:endParaRPr>
          </a:p>
          <a:p>
            <a:pPr marL="0" indent="0" eaLnBrk="1" hangingPunct="1">
              <a:buFontTx/>
              <a:buNone/>
              <a:tabLst>
                <a:tab pos="977900" algn="l"/>
                <a:tab pos="1490663" algn="l"/>
                <a:tab pos="3997325" algn="l"/>
              </a:tabLst>
            </a:pPr>
            <a:r>
              <a:rPr lang="en-US" altLang="en-US" sz="1600" dirty="0"/>
              <a:t>	</a:t>
            </a:r>
            <a:r>
              <a:rPr lang="en-US" altLang="en-US" sz="1600" dirty="0">
                <a:latin typeface="Courier" panose="02070309020205020404" pitchFamily="49" charset="0"/>
              </a:rPr>
              <a:t>BNEZ R1,lock          	</a:t>
            </a:r>
            <a:r>
              <a:rPr lang="en-US" altLang="en-US" sz="1600" i="1" dirty="0">
                <a:solidFill>
                  <a:srgbClr val="0000FF"/>
                </a:solidFill>
              </a:rPr>
              <a:t>/* compare with 0, if not 0, try again */</a:t>
            </a:r>
            <a:endParaRPr lang="en-US" altLang="en-US" sz="1600" dirty="0">
              <a:solidFill>
                <a:srgbClr val="0000FF"/>
              </a:solidFill>
            </a:endParaRPr>
          </a:p>
          <a:p>
            <a:pPr marL="0" indent="0" eaLnBrk="1" hangingPunct="1">
              <a:buFontTx/>
              <a:buNone/>
              <a:tabLst>
                <a:tab pos="977900" algn="l"/>
                <a:tab pos="1490663" algn="l"/>
                <a:tab pos="3997325" algn="l"/>
              </a:tabLst>
            </a:pPr>
            <a:r>
              <a:rPr lang="en-US" altLang="en-US" sz="1600" dirty="0"/>
              <a:t>	</a:t>
            </a:r>
            <a:r>
              <a:rPr lang="en-US" altLang="en-US" sz="1600" dirty="0">
                <a:latin typeface="Courier" panose="02070309020205020404" pitchFamily="49" charset="0"/>
              </a:rPr>
              <a:t>SD      location, #1</a:t>
            </a:r>
            <a:r>
              <a:rPr lang="en-US" altLang="en-US" sz="1600" dirty="0"/>
              <a:t>   	</a:t>
            </a:r>
            <a:r>
              <a:rPr lang="en-US" altLang="en-US" sz="1600" i="1" dirty="0">
                <a:solidFill>
                  <a:srgbClr val="0000FF"/>
                </a:solidFill>
              </a:rPr>
              <a:t>/* store 1 to mark it locked */</a:t>
            </a:r>
            <a:endParaRPr lang="en-US" altLang="en-US" sz="1600" dirty="0">
              <a:solidFill>
                <a:srgbClr val="0000FF"/>
              </a:solidFill>
            </a:endParaRPr>
          </a:p>
          <a:p>
            <a:pPr marL="0" indent="0" eaLnBrk="1" hangingPunct="1">
              <a:buFontTx/>
              <a:buNone/>
              <a:tabLst>
                <a:tab pos="977900" algn="l"/>
                <a:tab pos="1490663" algn="l"/>
                <a:tab pos="3997325" algn="l"/>
              </a:tabLst>
            </a:pPr>
            <a:r>
              <a:rPr lang="en-US" altLang="en-US" sz="1600" dirty="0"/>
              <a:t>	</a:t>
            </a:r>
            <a:r>
              <a:rPr lang="en-US" altLang="en-US" sz="1600" dirty="0">
                <a:latin typeface="Courier" panose="02070309020205020404" pitchFamily="49" charset="0"/>
              </a:rPr>
              <a:t>RET</a:t>
            </a:r>
            <a:r>
              <a:rPr lang="en-US" altLang="en-US" sz="1600" dirty="0"/>
              <a:t>	                             	</a:t>
            </a:r>
            <a:r>
              <a:rPr lang="en-US" altLang="en-US" sz="1600" i="1" dirty="0">
                <a:solidFill>
                  <a:srgbClr val="0000FF"/>
                </a:solidFill>
              </a:rPr>
              <a:t>/* return control to caller */</a:t>
            </a:r>
            <a:endParaRPr lang="en-US" altLang="en-US" sz="1600" dirty="0">
              <a:solidFill>
                <a:srgbClr val="0000FF"/>
              </a:solidFill>
            </a:endParaRPr>
          </a:p>
          <a:p>
            <a:pPr marL="0" indent="0" eaLnBrk="1" hangingPunct="1">
              <a:buFontTx/>
              <a:buNone/>
              <a:tabLst>
                <a:tab pos="977900" algn="l"/>
                <a:tab pos="1490663" algn="l"/>
                <a:tab pos="3997325" algn="l"/>
              </a:tabLst>
            </a:pPr>
            <a:endParaRPr lang="en-US" altLang="en-US" sz="1600" dirty="0"/>
          </a:p>
          <a:p>
            <a:pPr marL="0" indent="0" eaLnBrk="1" hangingPunct="1">
              <a:buFontTx/>
              <a:buNone/>
              <a:tabLst>
                <a:tab pos="977900" algn="l"/>
                <a:tab pos="1490663" algn="l"/>
                <a:tab pos="3997325" algn="l"/>
              </a:tabLst>
            </a:pPr>
            <a:r>
              <a:rPr lang="en-US" altLang="en-US" sz="1600" dirty="0">
                <a:latin typeface="Courier" panose="02070309020205020404" pitchFamily="49" charset="0"/>
              </a:rPr>
              <a:t>unlock:	SD	location, #0</a:t>
            </a:r>
            <a:r>
              <a:rPr lang="en-US" altLang="en-US" sz="1600" dirty="0"/>
              <a:t>            	</a:t>
            </a:r>
            <a:r>
              <a:rPr lang="en-US" altLang="en-US" sz="1600" i="1" dirty="0">
                <a:solidFill>
                  <a:srgbClr val="0000FF"/>
                </a:solidFill>
              </a:rPr>
              <a:t>/* write 0 to location */</a:t>
            </a:r>
            <a:endParaRPr lang="en-US" altLang="en-US" sz="1600" dirty="0">
              <a:solidFill>
                <a:srgbClr val="0000FF"/>
              </a:solidFill>
            </a:endParaRPr>
          </a:p>
          <a:p>
            <a:pPr marL="0" indent="0" eaLnBrk="1" hangingPunct="1">
              <a:buFontTx/>
              <a:buNone/>
              <a:tabLst>
                <a:tab pos="977900" algn="l"/>
                <a:tab pos="1490663" algn="l"/>
                <a:tab pos="3997325" algn="l"/>
              </a:tabLst>
            </a:pPr>
            <a:r>
              <a:rPr lang="en-US" altLang="en-US" sz="1600" dirty="0"/>
              <a:t>	</a:t>
            </a:r>
            <a:r>
              <a:rPr lang="en-US" altLang="en-US" sz="1600" dirty="0">
                <a:latin typeface="Courier" panose="02070309020205020404" pitchFamily="49" charset="0"/>
              </a:rPr>
              <a:t>RET	                	</a:t>
            </a:r>
            <a:r>
              <a:rPr lang="en-US" altLang="en-US" sz="1600" i="1" dirty="0">
                <a:solidFill>
                  <a:srgbClr val="0000FF"/>
                </a:solidFill>
              </a:rPr>
              <a:t>/* return control to caller */</a:t>
            </a:r>
            <a:endParaRPr lang="en-US" altLang="en-US" sz="1800" dirty="0">
              <a:solidFill>
                <a:srgbClr val="0000FF"/>
              </a:solidFill>
            </a:endParaRPr>
          </a:p>
        </p:txBody>
      </p:sp>
      <p:sp>
        <p:nvSpPr>
          <p:cNvPr id="21508" name="Rectangle 4">
            <a:extLst>
              <a:ext uri="{FF2B5EF4-FFF2-40B4-BE49-F238E27FC236}">
                <a16:creationId xmlns:a16="http://schemas.microsoft.com/office/drawing/2014/main" id="{75E6DE49-28C8-2D6C-3A11-38A2E8864D37}"/>
              </a:ext>
            </a:extLst>
          </p:cNvPr>
          <p:cNvSpPr>
            <a:spLocks noChangeArrowheads="1"/>
          </p:cNvSpPr>
          <p:nvPr/>
        </p:nvSpPr>
        <p:spPr bwMode="auto">
          <a:xfrm>
            <a:off x="1689100" y="2057400"/>
            <a:ext cx="2181151" cy="633413"/>
          </a:xfrm>
          <a:prstGeom prst="rect">
            <a:avLst/>
          </a:prstGeom>
          <a:noFill/>
          <a:ln w="12700">
            <a:solidFill>
              <a:srgbClr val="114FFB"/>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1509" name="Text Box 5">
            <a:extLst>
              <a:ext uri="{FF2B5EF4-FFF2-40B4-BE49-F238E27FC236}">
                <a16:creationId xmlns:a16="http://schemas.microsoft.com/office/drawing/2014/main" id="{2719017C-9D5D-E93B-9BC5-D232D694E874}"/>
              </a:ext>
            </a:extLst>
          </p:cNvPr>
          <p:cNvSpPr txBox="1">
            <a:spLocks noChangeArrowheads="1"/>
          </p:cNvSpPr>
          <p:nvPr/>
        </p:nvSpPr>
        <p:spPr bwMode="auto">
          <a:xfrm>
            <a:off x="3336925" y="1535113"/>
            <a:ext cx="1050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114FFB"/>
                </a:solidFill>
              </a:rPr>
              <a:t>Busy-Wait</a:t>
            </a:r>
          </a:p>
        </p:txBody>
      </p:sp>
      <p:sp>
        <p:nvSpPr>
          <p:cNvPr id="21510" name="Line 6">
            <a:extLst>
              <a:ext uri="{FF2B5EF4-FFF2-40B4-BE49-F238E27FC236}">
                <a16:creationId xmlns:a16="http://schemas.microsoft.com/office/drawing/2014/main" id="{1547919E-F937-624E-38FD-B72028EA9F13}"/>
              </a:ext>
            </a:extLst>
          </p:cNvPr>
          <p:cNvSpPr>
            <a:spLocks noChangeShapeType="1"/>
          </p:cNvSpPr>
          <p:nvPr/>
        </p:nvSpPr>
        <p:spPr bwMode="auto">
          <a:xfrm flipH="1">
            <a:off x="3124200" y="1752600"/>
            <a:ext cx="228600" cy="304800"/>
          </a:xfrm>
          <a:prstGeom prst="line">
            <a:avLst/>
          </a:prstGeom>
          <a:noFill/>
          <a:ln w="12700">
            <a:solidFill>
              <a:srgbClr val="114FFB"/>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5063" name="Text Box 7">
            <a:extLst>
              <a:ext uri="{FF2B5EF4-FFF2-40B4-BE49-F238E27FC236}">
                <a16:creationId xmlns:a16="http://schemas.microsoft.com/office/drawing/2014/main" id="{5D172517-7189-F6FE-7D03-334CFCCB6B2C}"/>
              </a:ext>
            </a:extLst>
          </p:cNvPr>
          <p:cNvSpPr txBox="1">
            <a:spLocks noChangeArrowheads="1"/>
          </p:cNvSpPr>
          <p:nvPr/>
        </p:nvSpPr>
        <p:spPr bwMode="auto">
          <a:xfrm>
            <a:off x="698500" y="5130800"/>
            <a:ext cx="73914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50000"/>
              </a:spcBef>
            </a:pPr>
            <a:r>
              <a:rPr lang="en-US" altLang="en-US" sz="1800" b="1" dirty="0">
                <a:cs typeface="Arial" panose="020B0604020202020204" pitchFamily="34" charset="0"/>
              </a:rPr>
              <a:t>Why doesn’t the acquire method (“lock”) work?</a:t>
            </a:r>
          </a:p>
          <a:p>
            <a:pPr>
              <a:lnSpc>
                <a:spcPct val="80000"/>
              </a:lnSpc>
              <a:spcBef>
                <a:spcPct val="50000"/>
              </a:spcBef>
            </a:pPr>
            <a:r>
              <a:rPr lang="en-US" altLang="en-US" sz="1800" b="1" dirty="0">
                <a:cs typeface="Arial" panose="020B0604020202020204" pitchFamily="34" charset="0"/>
              </a:rPr>
              <a:t>Release method OK?</a:t>
            </a:r>
          </a:p>
        </p:txBody>
      </p:sp>
      <p:sp>
        <p:nvSpPr>
          <p:cNvPr id="21512" name="Slide Number Placeholder 10">
            <a:extLst>
              <a:ext uri="{FF2B5EF4-FFF2-40B4-BE49-F238E27FC236}">
                <a16:creationId xmlns:a16="http://schemas.microsoft.com/office/drawing/2014/main" id="{95D3A16E-C0B1-50C4-CF66-7662DBDBCA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770B08B0-B23D-6F46-ADB5-D642FEABDCE7}" type="slidenum">
              <a:rPr lang="en-US" altLang="en-US"/>
              <a:pPr/>
              <a:t>20</a:t>
            </a:fld>
            <a:r>
              <a:rPr lang="en-US" altLang="en-US"/>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CD8223-2703-859B-76CE-B2557CA03745}"/>
              </a:ext>
            </a:extLst>
          </p:cNvPr>
          <p:cNvSpPr>
            <a:spLocks noGrp="1" noChangeArrowheads="1"/>
          </p:cNvSpPr>
          <p:nvPr>
            <p:ph type="title"/>
          </p:nvPr>
        </p:nvSpPr>
        <p:spPr>
          <a:noFill/>
        </p:spPr>
        <p:txBody>
          <a:bodyPr lIns="90487" tIns="44450" rIns="90487" bIns="44450"/>
          <a:lstStyle/>
          <a:p>
            <a:pPr eaLnBrk="1" hangingPunct="1"/>
            <a:r>
              <a:rPr lang="en-US" altLang="en-US"/>
              <a:t>Atomic Instructions</a:t>
            </a:r>
          </a:p>
        </p:txBody>
      </p:sp>
      <p:sp>
        <p:nvSpPr>
          <p:cNvPr id="22531" name="Rectangle 3">
            <a:extLst>
              <a:ext uri="{FF2B5EF4-FFF2-40B4-BE49-F238E27FC236}">
                <a16:creationId xmlns:a16="http://schemas.microsoft.com/office/drawing/2014/main" id="{B3BAC1EA-1B9F-896D-5643-1DAA96B10FB5}"/>
              </a:ext>
            </a:extLst>
          </p:cNvPr>
          <p:cNvSpPr>
            <a:spLocks noGrp="1" noChangeArrowheads="1"/>
          </p:cNvSpPr>
          <p:nvPr>
            <p:ph type="body" idx="1"/>
          </p:nvPr>
        </p:nvSpPr>
        <p:spPr>
          <a:xfrm>
            <a:off x="647700" y="1662113"/>
            <a:ext cx="8218488" cy="4192587"/>
          </a:xfrm>
          <a:noFill/>
        </p:spPr>
        <p:txBody>
          <a:bodyPr lIns="90487" tIns="44450" rIns="90487" bIns="44450"/>
          <a:lstStyle/>
          <a:p>
            <a:pPr eaLnBrk="1" hangingPunct="1"/>
            <a:r>
              <a:rPr lang="en-US" altLang="en-US" sz="2400"/>
              <a:t>Specifies a memory location, register, and an atomic operation</a:t>
            </a:r>
          </a:p>
          <a:p>
            <a:pPr lvl="1" eaLnBrk="1" hangingPunct="1"/>
            <a:r>
              <a:rPr lang="en-US" altLang="en-US" sz="2000"/>
              <a:t>Value in location read into a register</a:t>
            </a:r>
          </a:p>
          <a:p>
            <a:pPr lvl="1" eaLnBrk="1" hangingPunct="1"/>
            <a:r>
              <a:rPr lang="en-US" altLang="en-US" sz="2000"/>
              <a:t>Another value (maybe function of value read) stored into location</a:t>
            </a:r>
          </a:p>
          <a:p>
            <a:pPr eaLnBrk="1" hangingPunct="1"/>
            <a:r>
              <a:rPr lang="en-US" altLang="en-US" sz="2400"/>
              <a:t>Many variants</a:t>
            </a:r>
          </a:p>
          <a:p>
            <a:pPr lvl="1" eaLnBrk="1" hangingPunct="1"/>
            <a:r>
              <a:rPr lang="en-US" altLang="en-US" sz="2000"/>
              <a:t>Varying degrees of flexibility in what is stored into location</a:t>
            </a:r>
          </a:p>
        </p:txBody>
      </p:sp>
      <p:sp>
        <p:nvSpPr>
          <p:cNvPr id="22532" name="Slide Number Placeholder 6">
            <a:extLst>
              <a:ext uri="{FF2B5EF4-FFF2-40B4-BE49-F238E27FC236}">
                <a16:creationId xmlns:a16="http://schemas.microsoft.com/office/drawing/2014/main" id="{7F2ECE26-FB70-5A02-EB88-CCD5F27B027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9BE2D10-F3E9-6C42-A436-522455B2ACDF}" type="slidenum">
              <a:rPr lang="en-US" altLang="en-US"/>
              <a:pPr/>
              <a:t>21</a:t>
            </a:fld>
            <a:r>
              <a:rPr lang="en-US" altLang="en-US"/>
              <a:t> </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E7DF543-B8B9-51BF-42C1-30CD3C61E037}"/>
              </a:ext>
            </a:extLst>
          </p:cNvPr>
          <p:cNvSpPr>
            <a:spLocks noGrp="1" noChangeArrowheads="1"/>
          </p:cNvSpPr>
          <p:nvPr>
            <p:ph type="title"/>
          </p:nvPr>
        </p:nvSpPr>
        <p:spPr>
          <a:noFill/>
        </p:spPr>
        <p:txBody>
          <a:bodyPr lIns="90487" tIns="44450" rIns="90487" bIns="44450"/>
          <a:lstStyle/>
          <a:p>
            <a:pPr eaLnBrk="1" hangingPunct="1"/>
            <a:r>
              <a:rPr lang="en-US" altLang="en-US"/>
              <a:t>Simple Test &amp; Set Lock</a:t>
            </a:r>
          </a:p>
        </p:txBody>
      </p:sp>
      <p:sp>
        <p:nvSpPr>
          <p:cNvPr id="23555" name="Rectangle 3">
            <a:extLst>
              <a:ext uri="{FF2B5EF4-FFF2-40B4-BE49-F238E27FC236}">
                <a16:creationId xmlns:a16="http://schemas.microsoft.com/office/drawing/2014/main" id="{A55E7D09-2F0E-72CE-CDF4-534F891DC010}"/>
              </a:ext>
            </a:extLst>
          </p:cNvPr>
          <p:cNvSpPr>
            <a:spLocks noGrp="1" noChangeArrowheads="1"/>
          </p:cNvSpPr>
          <p:nvPr>
            <p:ph type="body" idx="1"/>
          </p:nvPr>
        </p:nvSpPr>
        <p:spPr>
          <a:xfrm>
            <a:off x="609600" y="1231900"/>
            <a:ext cx="8077200" cy="4953000"/>
          </a:xfrm>
          <a:noFill/>
        </p:spPr>
        <p:txBody>
          <a:bodyPr lIns="90487" tIns="44450" rIns="90487" bIns="44450"/>
          <a:lstStyle/>
          <a:p>
            <a:pPr marL="0" indent="0" eaLnBrk="1" hangingPunct="1">
              <a:lnSpc>
                <a:spcPct val="90000"/>
              </a:lnSpc>
              <a:buFontTx/>
              <a:buNone/>
              <a:tabLst>
                <a:tab pos="1316038" algn="l"/>
                <a:tab pos="2005013" algn="l"/>
                <a:tab pos="4575175" algn="l"/>
              </a:tabLst>
            </a:pPr>
            <a:r>
              <a:rPr lang="en-US" altLang="en-US" sz="1800" dirty="0">
                <a:latin typeface="Courier" panose="02070309020205020404" pitchFamily="49" charset="0"/>
              </a:rPr>
              <a:t>lock:	</a:t>
            </a:r>
            <a:r>
              <a:rPr lang="en-US" altLang="en-US" sz="1800" dirty="0" err="1">
                <a:latin typeface="Courier" panose="02070309020205020404" pitchFamily="49" charset="0"/>
              </a:rPr>
              <a:t>t&amp;s</a:t>
            </a:r>
            <a:r>
              <a:rPr lang="en-US" altLang="en-US" sz="1800" dirty="0">
                <a:latin typeface="Courier" panose="02070309020205020404" pitchFamily="49" charset="0"/>
              </a:rPr>
              <a:t>	register, location</a:t>
            </a:r>
            <a:r>
              <a:rPr lang="en-US" altLang="en-US" sz="1800" dirty="0"/>
              <a:t> 	</a:t>
            </a:r>
          </a:p>
          <a:p>
            <a:pPr marL="0" indent="0" eaLnBrk="1" hangingPunct="1">
              <a:lnSpc>
                <a:spcPct val="90000"/>
              </a:lnSpc>
              <a:buFontTx/>
              <a:buNone/>
              <a:tabLst>
                <a:tab pos="1316038" algn="l"/>
                <a:tab pos="2005013" algn="l"/>
                <a:tab pos="4575175" algn="l"/>
              </a:tabLst>
            </a:pPr>
            <a:r>
              <a:rPr lang="en-US" altLang="en-US" sz="1800" dirty="0"/>
              <a:t>	</a:t>
            </a:r>
            <a:r>
              <a:rPr lang="en-US" altLang="en-US" sz="1800" dirty="0" err="1">
                <a:latin typeface="Courier" panose="02070309020205020404" pitchFamily="49" charset="0"/>
              </a:rPr>
              <a:t>bnez</a:t>
            </a:r>
            <a:r>
              <a:rPr lang="en-US" altLang="en-US" sz="1800" dirty="0">
                <a:latin typeface="Courier" panose="02070309020205020404" pitchFamily="49" charset="0"/>
              </a:rPr>
              <a:t> register, lock</a:t>
            </a:r>
            <a:r>
              <a:rPr lang="en-US" altLang="en-US" sz="1800" dirty="0"/>
              <a:t>           </a:t>
            </a:r>
            <a:r>
              <a:rPr lang="en-US" altLang="en-US" sz="1800" i="1" dirty="0">
                <a:solidFill>
                  <a:srgbClr val="0000FF"/>
                </a:solidFill>
              </a:rPr>
              <a:t>/* if not 0, try again */</a:t>
            </a:r>
            <a:endParaRPr lang="en-US" altLang="en-US" sz="1800" dirty="0">
              <a:solidFill>
                <a:srgbClr val="0000FF"/>
              </a:solidFill>
            </a:endParaRPr>
          </a:p>
          <a:p>
            <a:pPr marL="0" indent="0" eaLnBrk="1" hangingPunct="1">
              <a:lnSpc>
                <a:spcPct val="90000"/>
              </a:lnSpc>
              <a:buFontTx/>
              <a:buNone/>
              <a:tabLst>
                <a:tab pos="1316038" algn="l"/>
                <a:tab pos="2005013" algn="l"/>
                <a:tab pos="4575175" algn="l"/>
              </a:tabLst>
            </a:pPr>
            <a:r>
              <a:rPr lang="en-US" altLang="en-US" sz="1800" dirty="0"/>
              <a:t>	</a:t>
            </a:r>
            <a:r>
              <a:rPr lang="en-US" altLang="en-US" sz="1800" dirty="0">
                <a:latin typeface="Courier" panose="02070309020205020404" pitchFamily="49" charset="0"/>
              </a:rPr>
              <a:t>ret</a:t>
            </a:r>
            <a:r>
              <a:rPr lang="en-US" altLang="en-US" sz="1800" dirty="0"/>
              <a:t>		</a:t>
            </a:r>
            <a:r>
              <a:rPr lang="en-US" altLang="en-US" sz="1800" i="1" dirty="0">
                <a:solidFill>
                  <a:srgbClr val="0000FF"/>
                </a:solidFill>
              </a:rPr>
              <a:t>/* return control to caller */</a:t>
            </a:r>
          </a:p>
          <a:p>
            <a:pPr marL="0" indent="0" eaLnBrk="1" hangingPunct="1">
              <a:lnSpc>
                <a:spcPct val="90000"/>
              </a:lnSpc>
              <a:buFontTx/>
              <a:buNone/>
              <a:tabLst>
                <a:tab pos="1316038" algn="l"/>
                <a:tab pos="2005013" algn="l"/>
                <a:tab pos="4575175" algn="l"/>
              </a:tabLst>
            </a:pPr>
            <a:endParaRPr lang="en-US" altLang="en-US" sz="1800" dirty="0"/>
          </a:p>
          <a:p>
            <a:pPr marL="0" indent="0" eaLnBrk="1" hangingPunct="1">
              <a:lnSpc>
                <a:spcPct val="90000"/>
              </a:lnSpc>
              <a:buFontTx/>
              <a:buNone/>
              <a:tabLst>
                <a:tab pos="1316038" algn="l"/>
                <a:tab pos="2005013" algn="l"/>
                <a:tab pos="4575175" algn="l"/>
              </a:tabLst>
            </a:pPr>
            <a:r>
              <a:rPr lang="en-US" altLang="en-US" sz="1800" dirty="0">
                <a:latin typeface="Courier" panose="02070309020205020404" pitchFamily="49" charset="0"/>
              </a:rPr>
              <a:t>unlock:	</a:t>
            </a:r>
            <a:r>
              <a:rPr lang="en-US" altLang="en-US" sz="1800" dirty="0" err="1">
                <a:latin typeface="Courier" panose="02070309020205020404" pitchFamily="49" charset="0"/>
              </a:rPr>
              <a:t>sw</a:t>
            </a:r>
            <a:r>
              <a:rPr lang="en-US" altLang="en-US" sz="1800" dirty="0">
                <a:latin typeface="Courier" panose="02070309020205020404" pitchFamily="49" charset="0"/>
              </a:rPr>
              <a:t> 	location, #0</a:t>
            </a:r>
            <a:r>
              <a:rPr lang="en-US" altLang="en-US" sz="1800" dirty="0"/>
              <a:t>	</a:t>
            </a:r>
            <a:r>
              <a:rPr lang="en-US" altLang="en-US" sz="1800" i="1" dirty="0">
                <a:solidFill>
                  <a:srgbClr val="0000FF"/>
                </a:solidFill>
              </a:rPr>
              <a:t>/* write 0 to location */</a:t>
            </a:r>
            <a:endParaRPr lang="en-US" altLang="en-US" sz="1800" dirty="0">
              <a:solidFill>
                <a:srgbClr val="0000FF"/>
              </a:solidFill>
            </a:endParaRPr>
          </a:p>
          <a:p>
            <a:pPr marL="0" indent="0" eaLnBrk="1" hangingPunct="1">
              <a:lnSpc>
                <a:spcPct val="90000"/>
              </a:lnSpc>
              <a:buFontTx/>
              <a:buNone/>
              <a:tabLst>
                <a:tab pos="1316038" algn="l"/>
                <a:tab pos="2005013" algn="l"/>
                <a:tab pos="4575175" algn="l"/>
              </a:tabLst>
            </a:pPr>
            <a:r>
              <a:rPr lang="en-US" altLang="en-US" sz="1800" dirty="0"/>
              <a:t>	</a:t>
            </a:r>
            <a:r>
              <a:rPr lang="en-US" altLang="en-US" sz="1800" dirty="0">
                <a:latin typeface="Courier" panose="02070309020205020404" pitchFamily="49" charset="0"/>
              </a:rPr>
              <a:t>ret</a:t>
            </a:r>
            <a:r>
              <a:rPr lang="en-US" altLang="en-US" sz="1800" dirty="0"/>
              <a:t>		</a:t>
            </a:r>
            <a:r>
              <a:rPr lang="en-US" altLang="en-US" sz="1800" i="1" dirty="0">
                <a:solidFill>
                  <a:srgbClr val="0000FF"/>
                </a:solidFill>
              </a:rPr>
              <a:t>/* return control to caller */</a:t>
            </a:r>
            <a:endParaRPr lang="en-US" altLang="en-US" sz="1800" dirty="0">
              <a:solidFill>
                <a:srgbClr val="0000FF"/>
              </a:solidFill>
            </a:endParaRPr>
          </a:p>
          <a:p>
            <a:pPr marL="0" indent="0" eaLnBrk="1" hangingPunct="1">
              <a:lnSpc>
                <a:spcPct val="90000"/>
              </a:lnSpc>
              <a:buFontTx/>
              <a:buNone/>
              <a:tabLst>
                <a:tab pos="1316038" algn="l"/>
                <a:tab pos="2005013" algn="l"/>
                <a:tab pos="4575175" algn="l"/>
              </a:tabLst>
            </a:pPr>
            <a:endParaRPr lang="en-US" altLang="en-US" sz="2400" dirty="0"/>
          </a:p>
          <a:p>
            <a:pPr marL="0" indent="0" eaLnBrk="1" hangingPunct="1">
              <a:lnSpc>
                <a:spcPct val="90000"/>
              </a:lnSpc>
              <a:buFontTx/>
              <a:buNone/>
              <a:tabLst>
                <a:tab pos="1316038" algn="l"/>
                <a:tab pos="2005013" algn="l"/>
                <a:tab pos="4575175" algn="l"/>
              </a:tabLst>
            </a:pPr>
            <a:r>
              <a:rPr lang="en-US" altLang="en-US" sz="2400" dirty="0" err="1"/>
              <a:t>Test&amp;set</a:t>
            </a:r>
            <a:r>
              <a:rPr lang="en-US" altLang="en-US" sz="2400" dirty="0"/>
              <a:t> (</a:t>
            </a:r>
            <a:r>
              <a:rPr lang="en-US" altLang="en-US" sz="2400" dirty="0" err="1"/>
              <a:t>t&amp;s</a:t>
            </a:r>
            <a:r>
              <a:rPr lang="en-US" altLang="en-US" sz="2400" dirty="0"/>
              <a:t>) instruction:</a:t>
            </a:r>
          </a:p>
          <a:p>
            <a:pPr marL="342900" lvl="1" indent="-228600" eaLnBrk="1" hangingPunct="1">
              <a:lnSpc>
                <a:spcPct val="90000"/>
              </a:lnSpc>
              <a:tabLst>
                <a:tab pos="1316038" algn="l"/>
                <a:tab pos="2005013" algn="l"/>
                <a:tab pos="4575175" algn="l"/>
              </a:tabLst>
            </a:pPr>
            <a:r>
              <a:rPr lang="en-US" altLang="en-US" sz="2000" dirty="0"/>
              <a:t>Value in location read into a specified register</a:t>
            </a:r>
          </a:p>
          <a:p>
            <a:pPr marL="342900" lvl="1" indent="-228600" eaLnBrk="1" hangingPunct="1">
              <a:lnSpc>
                <a:spcPct val="90000"/>
              </a:lnSpc>
              <a:tabLst>
                <a:tab pos="1316038" algn="l"/>
                <a:tab pos="2005013" algn="l"/>
                <a:tab pos="4575175" algn="l"/>
              </a:tabLst>
            </a:pPr>
            <a:r>
              <a:rPr lang="en-US" altLang="en-US" sz="2000" dirty="0"/>
              <a:t>Constant 1 stored into location</a:t>
            </a:r>
          </a:p>
          <a:p>
            <a:pPr marL="342900" lvl="1" indent="-228600" eaLnBrk="1" hangingPunct="1">
              <a:lnSpc>
                <a:spcPct val="90000"/>
              </a:lnSpc>
              <a:tabLst>
                <a:tab pos="1316038" algn="l"/>
                <a:tab pos="2005013" algn="l"/>
                <a:tab pos="4575175" algn="l"/>
              </a:tabLst>
            </a:pPr>
            <a:r>
              <a:rPr lang="en-US" altLang="en-US" sz="2000" dirty="0"/>
              <a:t>Successful if value loaded into register is 0</a:t>
            </a:r>
          </a:p>
          <a:p>
            <a:pPr marL="342900" lvl="1" indent="-228600" eaLnBrk="1" hangingPunct="1">
              <a:lnSpc>
                <a:spcPct val="90000"/>
              </a:lnSpc>
              <a:tabLst>
                <a:tab pos="1316038" algn="l"/>
                <a:tab pos="2005013" algn="l"/>
                <a:tab pos="4575175" algn="l"/>
              </a:tabLst>
            </a:pPr>
            <a:r>
              <a:rPr lang="en-US" altLang="en-US" sz="2000" dirty="0"/>
              <a:t>Other constants could be used instead of 1 and 0</a:t>
            </a:r>
          </a:p>
          <a:p>
            <a:pPr marL="342900" lvl="1" indent="-228600" eaLnBrk="1" hangingPunct="1">
              <a:lnSpc>
                <a:spcPct val="90000"/>
              </a:lnSpc>
              <a:tabLst>
                <a:tab pos="1316038" algn="l"/>
                <a:tab pos="2005013" algn="l"/>
                <a:tab pos="4575175" algn="l"/>
              </a:tabLst>
            </a:pPr>
            <a:endParaRPr lang="en-US" altLang="en-US" sz="2000" dirty="0"/>
          </a:p>
        </p:txBody>
      </p:sp>
      <p:sp>
        <p:nvSpPr>
          <p:cNvPr id="23556" name="Slide Number Placeholder 6">
            <a:extLst>
              <a:ext uri="{FF2B5EF4-FFF2-40B4-BE49-F238E27FC236}">
                <a16:creationId xmlns:a16="http://schemas.microsoft.com/office/drawing/2014/main" id="{B1938423-2768-EF9C-4A8F-670199EDE71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F3317491-CF77-624A-AC5F-F8EC7D9AFE28}" type="slidenum">
              <a:rPr lang="en-US" altLang="en-US"/>
              <a:pPr/>
              <a:t>22</a:t>
            </a:fld>
            <a:r>
              <a:rPr lang="en-US" altLang="en-US"/>
              <a:t>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BA68FEC-D3CC-AC83-8368-CBB6A9AC44D4}"/>
              </a:ext>
            </a:extLst>
          </p:cNvPr>
          <p:cNvSpPr>
            <a:spLocks noGrp="1" noChangeArrowheads="1"/>
          </p:cNvSpPr>
          <p:nvPr>
            <p:ph type="title"/>
          </p:nvPr>
        </p:nvSpPr>
        <p:spPr>
          <a:xfrm>
            <a:off x="673100" y="292100"/>
            <a:ext cx="7772400" cy="1143000"/>
          </a:xfrm>
          <a:noFill/>
        </p:spPr>
        <p:txBody>
          <a:bodyPr lIns="90487" tIns="44450" rIns="90487" bIns="44450"/>
          <a:lstStyle/>
          <a:p>
            <a:pPr eaLnBrk="1" hangingPunct="1"/>
            <a:r>
              <a:rPr lang="en-US" altLang="en-US" sz="3600"/>
              <a:t>Other Atomic Instructions</a:t>
            </a:r>
            <a:endParaRPr lang="en-US" altLang="en-US"/>
          </a:p>
        </p:txBody>
      </p:sp>
      <p:sp>
        <p:nvSpPr>
          <p:cNvPr id="24579" name="Rectangle 3">
            <a:extLst>
              <a:ext uri="{FF2B5EF4-FFF2-40B4-BE49-F238E27FC236}">
                <a16:creationId xmlns:a16="http://schemas.microsoft.com/office/drawing/2014/main" id="{489C8C34-3D59-0C2A-3F25-58CE26146E5E}"/>
              </a:ext>
            </a:extLst>
          </p:cNvPr>
          <p:cNvSpPr>
            <a:spLocks noGrp="1" noChangeArrowheads="1"/>
          </p:cNvSpPr>
          <p:nvPr>
            <p:ph type="body" idx="1"/>
          </p:nvPr>
        </p:nvSpPr>
        <p:spPr>
          <a:xfrm>
            <a:off x="406400" y="1854200"/>
            <a:ext cx="8458200" cy="4114800"/>
          </a:xfrm>
          <a:noFill/>
        </p:spPr>
        <p:txBody>
          <a:bodyPr lIns="90487" tIns="44450" rIns="90487" bIns="44450"/>
          <a:lstStyle/>
          <a:p>
            <a:pPr eaLnBrk="1" hangingPunct="1">
              <a:buClr>
                <a:schemeClr val="tx1"/>
              </a:buClr>
            </a:pPr>
            <a:r>
              <a:rPr lang="en-US" altLang="en-US" sz="1800">
                <a:solidFill>
                  <a:srgbClr val="0000FF"/>
                </a:solidFill>
              </a:rPr>
              <a:t>Atomic exchange</a:t>
            </a:r>
            <a:r>
              <a:rPr lang="en-US" altLang="en-US" sz="1800"/>
              <a:t>: interchange a value in a register for a value in memory</a:t>
            </a:r>
            <a:endParaRPr lang="en-US" altLang="en-US" sz="1400"/>
          </a:p>
          <a:p>
            <a:pPr lvl="1" eaLnBrk="1" hangingPunct="1">
              <a:buFontTx/>
              <a:buNone/>
            </a:pPr>
            <a:r>
              <a:rPr lang="en-US" altLang="en-US" sz="1600"/>
              <a:t>0 </a:t>
            </a:r>
            <a:r>
              <a:rPr lang="en-US" altLang="en-US" sz="1600">
                <a:sym typeface="Symbol" pitchFamily="2" charset="2"/>
              </a:rPr>
              <a:t></a:t>
            </a:r>
            <a:r>
              <a:rPr lang="en-US" altLang="en-US" sz="1600"/>
              <a:t> synchronization variable is free </a:t>
            </a:r>
          </a:p>
          <a:p>
            <a:pPr lvl="1" eaLnBrk="1" hangingPunct="1">
              <a:buFontTx/>
              <a:buNone/>
            </a:pPr>
            <a:r>
              <a:rPr lang="en-US" altLang="en-US" sz="1600"/>
              <a:t>1 </a:t>
            </a:r>
            <a:r>
              <a:rPr lang="en-US" altLang="en-US" sz="1600">
                <a:sym typeface="Symbol" pitchFamily="2" charset="2"/>
              </a:rPr>
              <a:t></a:t>
            </a:r>
            <a:r>
              <a:rPr lang="en-US" altLang="en-US" sz="1600"/>
              <a:t> synchronization variable is locked and unavailable</a:t>
            </a:r>
          </a:p>
          <a:p>
            <a:pPr lvl="1" eaLnBrk="1" hangingPunct="1"/>
            <a:r>
              <a:rPr lang="en-US" altLang="en-US" sz="1600"/>
              <a:t>Use to implement test-and-set:  Set register to 1 and then do atomic exchange. New value in register determines success in getting lock	 		0 if you succeeded in setting the lock (you were first)</a:t>
            </a:r>
            <a:br>
              <a:rPr lang="en-US" altLang="en-US" sz="1600"/>
            </a:br>
            <a:r>
              <a:rPr lang="en-US" altLang="en-US" sz="1600"/>
              <a:t>	1 if other processor had already claimed access</a:t>
            </a:r>
          </a:p>
          <a:p>
            <a:pPr lvl="1" eaLnBrk="1" hangingPunct="1"/>
            <a:endParaRPr lang="en-US" altLang="en-US" sz="1600"/>
          </a:p>
          <a:p>
            <a:pPr eaLnBrk="1" hangingPunct="1">
              <a:buClr>
                <a:schemeClr val="tx1"/>
              </a:buClr>
            </a:pPr>
            <a:r>
              <a:rPr lang="en-US" altLang="en-US" sz="1800">
                <a:solidFill>
                  <a:srgbClr val="0000FF"/>
                </a:solidFill>
              </a:rPr>
              <a:t>Fetch-and-increment</a:t>
            </a:r>
            <a:r>
              <a:rPr lang="en-US" altLang="en-US" sz="1800"/>
              <a:t>: returns the value of a memory location and atomically increments it</a:t>
            </a:r>
          </a:p>
          <a:p>
            <a:pPr lvl="1" eaLnBrk="1" hangingPunct="1"/>
            <a:r>
              <a:rPr lang="en-US" altLang="en-US" sz="1600"/>
              <a:t>0 </a:t>
            </a:r>
            <a:r>
              <a:rPr lang="en-US" altLang="en-US" sz="1600">
                <a:sym typeface="Symbol" pitchFamily="2" charset="2"/>
              </a:rPr>
              <a:t></a:t>
            </a:r>
            <a:r>
              <a:rPr lang="en-US" altLang="en-US" sz="1600"/>
              <a:t> synchronization variable is free</a:t>
            </a:r>
            <a:r>
              <a:rPr lang="en-US" altLang="en-US" sz="2000"/>
              <a:t> </a:t>
            </a:r>
          </a:p>
        </p:txBody>
      </p:sp>
      <p:sp>
        <p:nvSpPr>
          <p:cNvPr id="24580" name="Slide Number Placeholder 6">
            <a:extLst>
              <a:ext uri="{FF2B5EF4-FFF2-40B4-BE49-F238E27FC236}">
                <a16:creationId xmlns:a16="http://schemas.microsoft.com/office/drawing/2014/main" id="{A41D0E05-292B-2A8B-24D0-31038A21BD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6632CE1-3E7A-BA44-B982-62EE75649F55}" type="slidenum">
              <a:rPr lang="en-US" altLang="en-US"/>
              <a:pPr/>
              <a:t>23</a:t>
            </a:fld>
            <a:r>
              <a:rPr lang="en-US" altLang="en-US"/>
              <a:t>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BFC1342-C632-2503-E1D1-16515FFECBA8}"/>
              </a:ext>
            </a:extLst>
          </p:cNvPr>
          <p:cNvSpPr>
            <a:spLocks noGrp="1" noChangeArrowheads="1"/>
          </p:cNvSpPr>
          <p:nvPr>
            <p:ph type="title"/>
          </p:nvPr>
        </p:nvSpPr>
        <p:spPr>
          <a:xfrm>
            <a:off x="977900" y="0"/>
            <a:ext cx="7162800" cy="1143000"/>
          </a:xfrm>
          <a:noFill/>
        </p:spPr>
        <p:txBody>
          <a:bodyPr lIns="90487" tIns="44450" rIns="90487" bIns="44450"/>
          <a:lstStyle/>
          <a:p>
            <a:pPr eaLnBrk="1" hangingPunct="1"/>
            <a:r>
              <a:rPr lang="en-US" altLang="en-US" sz="3600"/>
              <a:t>Load Locked, Store Conditional</a:t>
            </a:r>
            <a:endParaRPr lang="en-US" altLang="en-US"/>
          </a:p>
        </p:txBody>
      </p:sp>
      <p:sp>
        <p:nvSpPr>
          <p:cNvPr id="25603" name="Rectangle 3">
            <a:extLst>
              <a:ext uri="{FF2B5EF4-FFF2-40B4-BE49-F238E27FC236}">
                <a16:creationId xmlns:a16="http://schemas.microsoft.com/office/drawing/2014/main" id="{FF3EAE23-9032-8340-59FC-97A941B4E883}"/>
              </a:ext>
            </a:extLst>
          </p:cNvPr>
          <p:cNvSpPr>
            <a:spLocks noGrp="1" noChangeArrowheads="1"/>
          </p:cNvSpPr>
          <p:nvPr>
            <p:ph type="body" idx="1"/>
          </p:nvPr>
        </p:nvSpPr>
        <p:spPr>
          <a:xfrm>
            <a:off x="317500" y="1778000"/>
            <a:ext cx="8413750" cy="4344988"/>
          </a:xfrm>
          <a:noFill/>
        </p:spPr>
        <p:txBody>
          <a:bodyPr lIns="90487" tIns="44450" rIns="90487" bIns="44450"/>
          <a:lstStyle/>
          <a:p>
            <a:pPr eaLnBrk="1" hangingPunct="1">
              <a:lnSpc>
                <a:spcPct val="90000"/>
              </a:lnSpc>
            </a:pPr>
            <a:r>
              <a:rPr lang="en-US" altLang="en-US" sz="2400"/>
              <a:t>Implementing atomic read-modify-write requires significant hardware changes and can cause poor performance for unrelated memory accesses.</a:t>
            </a:r>
          </a:p>
          <a:p>
            <a:pPr eaLnBrk="1" hangingPunct="1">
              <a:lnSpc>
                <a:spcPct val="90000"/>
              </a:lnSpc>
            </a:pPr>
            <a:endParaRPr lang="en-US" altLang="en-US" sz="2400"/>
          </a:p>
          <a:p>
            <a:pPr eaLnBrk="1" hangingPunct="1">
              <a:lnSpc>
                <a:spcPct val="90000"/>
              </a:lnSpc>
            </a:pPr>
            <a:endParaRPr lang="en-US" altLang="en-US" sz="2400"/>
          </a:p>
          <a:p>
            <a:pPr eaLnBrk="1" hangingPunct="1">
              <a:lnSpc>
                <a:spcPct val="90000"/>
              </a:lnSpc>
            </a:pPr>
            <a:r>
              <a:rPr lang="en-US" altLang="en-US" sz="2400"/>
              <a:t>An alternative to forcing the read-modify-write to be atomic is to instead detect when a read-modify-write did not execute atomically (some other operation accessed the value between the read and write).  </a:t>
            </a:r>
          </a:p>
          <a:p>
            <a:pPr eaLnBrk="1" hangingPunct="1">
              <a:lnSpc>
                <a:spcPct val="90000"/>
              </a:lnSpc>
            </a:pPr>
            <a:endParaRPr lang="en-US" altLang="en-US" sz="2400"/>
          </a:p>
          <a:p>
            <a:pPr eaLnBrk="1" hangingPunct="1">
              <a:lnSpc>
                <a:spcPct val="90000"/>
              </a:lnSpc>
            </a:pPr>
            <a:r>
              <a:rPr lang="en-US" altLang="en-US" sz="2400"/>
              <a:t>“Load locked” also sometimes called “load linked”.</a:t>
            </a:r>
          </a:p>
        </p:txBody>
      </p:sp>
      <p:sp>
        <p:nvSpPr>
          <p:cNvPr id="25604" name="Slide Number Placeholder 6">
            <a:extLst>
              <a:ext uri="{FF2B5EF4-FFF2-40B4-BE49-F238E27FC236}">
                <a16:creationId xmlns:a16="http://schemas.microsoft.com/office/drawing/2014/main" id="{ADF53840-7F2C-9111-62BC-0C91446684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D092A2D-2CD6-B74E-AC68-43A2B1C24991}" type="slidenum">
              <a:rPr lang="en-US" altLang="en-US"/>
              <a:pPr/>
              <a:t>24</a:t>
            </a:fld>
            <a:r>
              <a:rPr lang="en-US" altLang="en-US"/>
              <a:t>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AB2B206-9AF3-043C-3FA9-6961AC0C8C0F}"/>
              </a:ext>
            </a:extLst>
          </p:cNvPr>
          <p:cNvSpPr>
            <a:spLocks noGrp="1" noChangeArrowheads="1"/>
          </p:cNvSpPr>
          <p:nvPr>
            <p:ph type="title"/>
          </p:nvPr>
        </p:nvSpPr>
        <p:spPr>
          <a:xfrm>
            <a:off x="977900" y="0"/>
            <a:ext cx="7162800" cy="1143000"/>
          </a:xfrm>
          <a:noFill/>
        </p:spPr>
        <p:txBody>
          <a:bodyPr lIns="90487" tIns="44450" rIns="90487" bIns="44450"/>
          <a:lstStyle/>
          <a:p>
            <a:pPr eaLnBrk="1" hangingPunct="1"/>
            <a:r>
              <a:rPr lang="en-US" altLang="en-US" sz="3600"/>
              <a:t>Load Locked, Store Conditional</a:t>
            </a:r>
            <a:endParaRPr lang="en-US" altLang="en-US"/>
          </a:p>
        </p:txBody>
      </p:sp>
      <p:sp>
        <p:nvSpPr>
          <p:cNvPr id="26627" name="Rectangle 3">
            <a:extLst>
              <a:ext uri="{FF2B5EF4-FFF2-40B4-BE49-F238E27FC236}">
                <a16:creationId xmlns:a16="http://schemas.microsoft.com/office/drawing/2014/main" id="{ACD285DE-6EE3-621D-4126-0E0973D81736}"/>
              </a:ext>
            </a:extLst>
          </p:cNvPr>
          <p:cNvSpPr>
            <a:spLocks noGrp="1" noChangeArrowheads="1"/>
          </p:cNvSpPr>
          <p:nvPr>
            <p:ph type="body" idx="1"/>
          </p:nvPr>
        </p:nvSpPr>
        <p:spPr>
          <a:xfrm>
            <a:off x="317500" y="1312863"/>
            <a:ext cx="8272463" cy="4810125"/>
          </a:xfrm>
          <a:noFill/>
        </p:spPr>
        <p:txBody>
          <a:bodyPr lIns="90487" tIns="44450" rIns="90487" bIns="44450"/>
          <a:lstStyle/>
          <a:p>
            <a:pPr eaLnBrk="1" hangingPunct="1">
              <a:lnSpc>
                <a:spcPct val="90000"/>
              </a:lnSpc>
            </a:pPr>
            <a:r>
              <a:rPr lang="en-US" altLang="en-US">
                <a:solidFill>
                  <a:srgbClr val="0000FF"/>
                </a:solidFill>
              </a:rPr>
              <a:t>Load locked </a:t>
            </a:r>
            <a:r>
              <a:rPr lang="en-US" altLang="en-US"/>
              <a:t>+ </a:t>
            </a:r>
            <a:r>
              <a:rPr lang="en-US" altLang="en-US">
                <a:solidFill>
                  <a:srgbClr val="0000FF"/>
                </a:solidFill>
              </a:rPr>
              <a:t>store conditional</a:t>
            </a:r>
            <a:endParaRPr lang="en-US" altLang="en-US" sz="2000">
              <a:solidFill>
                <a:srgbClr val="0000FF"/>
              </a:solidFill>
            </a:endParaRPr>
          </a:p>
          <a:p>
            <a:pPr lvl="1" eaLnBrk="1" hangingPunct="1">
              <a:lnSpc>
                <a:spcPct val="90000"/>
              </a:lnSpc>
            </a:pPr>
            <a:r>
              <a:rPr lang="en-US" altLang="en-US"/>
              <a:t>Load locked returns initial value of memory location.</a:t>
            </a:r>
          </a:p>
          <a:p>
            <a:pPr lvl="1" eaLnBrk="1" hangingPunct="1">
              <a:lnSpc>
                <a:spcPct val="90000"/>
              </a:lnSpc>
            </a:pPr>
            <a:r>
              <a:rPr lang="en-US" altLang="en-US"/>
              <a:t>Store conditional returns “1” if no other store wrote to same memory location since preceding load locked, and returns 0 otherwise.  </a:t>
            </a:r>
          </a:p>
          <a:p>
            <a:pPr lvl="1" eaLnBrk="1" hangingPunct="1">
              <a:lnSpc>
                <a:spcPct val="90000"/>
              </a:lnSpc>
            </a:pPr>
            <a:r>
              <a:rPr lang="en-US" altLang="en-US"/>
              <a:t>A return value of 0 means the sequence of load-locked and store conditional did not execute atomically.  In this case, we might repeat the load locked and store conditional to try again.</a:t>
            </a:r>
          </a:p>
          <a:p>
            <a:pPr lvl="1" eaLnBrk="1" hangingPunct="1">
              <a:lnSpc>
                <a:spcPct val="90000"/>
              </a:lnSpc>
            </a:pPr>
            <a:r>
              <a:rPr lang="en-US" altLang="en-US"/>
              <a:t>Load locked and store conditional can be used to implement a wide variety of atomic operations</a:t>
            </a:r>
          </a:p>
        </p:txBody>
      </p:sp>
      <p:sp>
        <p:nvSpPr>
          <p:cNvPr id="26628" name="Slide Number Placeholder 6">
            <a:extLst>
              <a:ext uri="{FF2B5EF4-FFF2-40B4-BE49-F238E27FC236}">
                <a16:creationId xmlns:a16="http://schemas.microsoft.com/office/drawing/2014/main" id="{8F925002-6054-8784-B879-50E3793B70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2C48730-C6AB-984B-B4F6-301A96C4041F}" type="slidenum">
              <a:rPr lang="en-US" altLang="en-US"/>
              <a:pPr/>
              <a:t>25</a:t>
            </a:fld>
            <a:r>
              <a:rPr lang="en-US" altLang="en-US"/>
              <a:t>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AF8E3B2-1EB0-4F75-F84C-975F5B65A1F9}"/>
              </a:ext>
            </a:extLst>
          </p:cNvPr>
          <p:cNvSpPr>
            <a:spLocks noGrp="1" noChangeArrowheads="1"/>
          </p:cNvSpPr>
          <p:nvPr>
            <p:ph type="title"/>
          </p:nvPr>
        </p:nvSpPr>
        <p:spPr>
          <a:xfrm>
            <a:off x="977900" y="0"/>
            <a:ext cx="7162800" cy="1143000"/>
          </a:xfrm>
          <a:noFill/>
        </p:spPr>
        <p:txBody>
          <a:bodyPr lIns="90487" tIns="44450" rIns="90487" bIns="44450"/>
          <a:lstStyle/>
          <a:p>
            <a:pPr eaLnBrk="1" hangingPunct="1"/>
            <a:r>
              <a:rPr lang="en-US" altLang="en-US" sz="3600"/>
              <a:t>Examples</a:t>
            </a:r>
            <a:endParaRPr lang="en-US" altLang="en-US"/>
          </a:p>
        </p:txBody>
      </p:sp>
      <p:sp>
        <p:nvSpPr>
          <p:cNvPr id="27651" name="Rectangle 3">
            <a:extLst>
              <a:ext uri="{FF2B5EF4-FFF2-40B4-BE49-F238E27FC236}">
                <a16:creationId xmlns:a16="http://schemas.microsoft.com/office/drawing/2014/main" id="{2222B0C0-476B-0B68-A8A2-BA273552275D}"/>
              </a:ext>
            </a:extLst>
          </p:cNvPr>
          <p:cNvSpPr>
            <a:spLocks noGrp="1" noChangeArrowheads="1"/>
          </p:cNvSpPr>
          <p:nvPr>
            <p:ph type="body" idx="1"/>
          </p:nvPr>
        </p:nvSpPr>
        <p:spPr>
          <a:xfrm>
            <a:off x="317500" y="1141413"/>
            <a:ext cx="8645525" cy="4981575"/>
          </a:xfrm>
          <a:noFill/>
        </p:spPr>
        <p:txBody>
          <a:bodyPr lIns="90487" tIns="44450" rIns="90487" bIns="44450"/>
          <a:lstStyle/>
          <a:p>
            <a:pPr lvl="1" eaLnBrk="1" hangingPunct="1">
              <a:lnSpc>
                <a:spcPct val="90000"/>
              </a:lnSpc>
            </a:pPr>
            <a:endParaRPr lang="en-US" altLang="en-US"/>
          </a:p>
          <a:p>
            <a:pPr eaLnBrk="1" hangingPunct="1">
              <a:lnSpc>
                <a:spcPct val="90000"/>
              </a:lnSpc>
            </a:pPr>
            <a:r>
              <a:rPr lang="en-US" altLang="en-US"/>
              <a:t>Atomic swap of “Regs[R4]” and “Mem[Regs[R1]]”</a:t>
            </a:r>
          </a:p>
          <a:p>
            <a:pPr eaLnBrk="1" hangingPunct="1">
              <a:lnSpc>
                <a:spcPct val="90000"/>
              </a:lnSpc>
              <a:buFontTx/>
              <a:buNone/>
            </a:pPr>
            <a:r>
              <a:rPr lang="en-US" altLang="en-US" sz="2000"/>
              <a:t>	try:   mov      R3,R4		; copy R4</a:t>
            </a:r>
            <a:br>
              <a:rPr lang="en-US" altLang="en-US" sz="2000"/>
            </a:br>
            <a:r>
              <a:rPr lang="en-US" altLang="en-US" sz="2000"/>
              <a:t>	</a:t>
            </a:r>
            <a:r>
              <a:rPr lang="en-US" altLang="en-US" sz="2000">
                <a:solidFill>
                  <a:srgbClr val="0000FF"/>
                </a:solidFill>
              </a:rPr>
              <a:t>ll</a:t>
            </a:r>
            <a:r>
              <a:rPr lang="en-US" altLang="en-US" sz="2000"/>
              <a:t>	R2,0(R1)	; load locked</a:t>
            </a:r>
            <a:br>
              <a:rPr lang="en-US" altLang="en-US" sz="2000"/>
            </a:br>
            <a:r>
              <a:rPr lang="en-US" altLang="en-US" sz="2000"/>
              <a:t>	</a:t>
            </a:r>
            <a:r>
              <a:rPr lang="en-US" altLang="en-US" sz="2000">
                <a:solidFill>
                  <a:srgbClr val="0000FF"/>
                </a:solidFill>
              </a:rPr>
              <a:t>sc</a:t>
            </a:r>
            <a:r>
              <a:rPr lang="en-US" altLang="en-US" sz="2000"/>
              <a:t>	R3,0(R1)	; store conditional</a:t>
            </a:r>
            <a:br>
              <a:rPr lang="en-US" altLang="en-US" sz="2000"/>
            </a:br>
            <a:r>
              <a:rPr lang="en-US" altLang="en-US" sz="2000"/>
              <a:t>	beqz	R3,try  		; branch if store conditional fails (R3 = 0)</a:t>
            </a:r>
            <a:br>
              <a:rPr lang="en-US" altLang="en-US" sz="2000"/>
            </a:br>
            <a:r>
              <a:rPr lang="en-US" altLang="en-US" sz="2000"/>
              <a:t>	mov	R4,R2  		; put load value in R4</a:t>
            </a:r>
          </a:p>
          <a:p>
            <a:pPr eaLnBrk="1" hangingPunct="1">
              <a:lnSpc>
                <a:spcPct val="90000"/>
              </a:lnSpc>
              <a:buFontTx/>
              <a:buNone/>
            </a:pPr>
            <a:endParaRPr lang="en-US" altLang="en-US" sz="2000"/>
          </a:p>
          <a:p>
            <a:pPr eaLnBrk="1" hangingPunct="1">
              <a:lnSpc>
                <a:spcPct val="90000"/>
              </a:lnSpc>
              <a:buFontTx/>
              <a:buNone/>
            </a:pPr>
            <a:endParaRPr lang="en-US" altLang="en-US" sz="2000"/>
          </a:p>
          <a:p>
            <a:pPr eaLnBrk="1" hangingPunct="1">
              <a:lnSpc>
                <a:spcPct val="90000"/>
              </a:lnSpc>
            </a:pPr>
            <a:r>
              <a:rPr lang="en-US" altLang="en-US"/>
              <a:t>Fetch &amp; increment of “Mem[Regs[R1]]”</a:t>
            </a:r>
          </a:p>
          <a:p>
            <a:pPr eaLnBrk="1" hangingPunct="1">
              <a:lnSpc>
                <a:spcPct val="90000"/>
              </a:lnSpc>
              <a:buFontTx/>
              <a:buNone/>
            </a:pPr>
            <a:r>
              <a:rPr lang="en-US" altLang="en-US" sz="2000"/>
              <a:t>	try:   </a:t>
            </a:r>
            <a:r>
              <a:rPr lang="en-US" altLang="en-US" sz="2000">
                <a:solidFill>
                  <a:srgbClr val="0000FF"/>
                </a:solidFill>
              </a:rPr>
              <a:t>ll</a:t>
            </a:r>
            <a:r>
              <a:rPr lang="en-US" altLang="en-US" sz="2000"/>
              <a:t>	R2,0(R1)    	; load locked</a:t>
            </a:r>
            <a:br>
              <a:rPr lang="en-US" altLang="en-US" sz="2000"/>
            </a:br>
            <a:r>
              <a:rPr lang="en-US" altLang="en-US" sz="2000"/>
              <a:t>	addi	R2,R2,#1 	; increment (OK if reg–reg)</a:t>
            </a:r>
            <a:br>
              <a:rPr lang="en-US" altLang="en-US" sz="2000"/>
            </a:br>
            <a:r>
              <a:rPr lang="en-US" altLang="en-US" sz="2000"/>
              <a:t>	</a:t>
            </a:r>
            <a:r>
              <a:rPr lang="en-US" altLang="en-US" sz="2000">
                <a:solidFill>
                  <a:srgbClr val="0000FF"/>
                </a:solidFill>
              </a:rPr>
              <a:t>sc</a:t>
            </a:r>
            <a:r>
              <a:rPr lang="en-US" altLang="en-US" sz="2000"/>
              <a:t>	R2,0(R1) 	; store conditional </a:t>
            </a:r>
            <a:br>
              <a:rPr lang="en-US" altLang="en-US" sz="2000"/>
            </a:br>
            <a:r>
              <a:rPr lang="en-US" altLang="en-US" sz="2000"/>
              <a:t>	beqz	R2,try  		; branch store fails (R2 = 0)</a:t>
            </a:r>
            <a:endParaRPr lang="en-US" altLang="en-US"/>
          </a:p>
        </p:txBody>
      </p:sp>
      <p:sp>
        <p:nvSpPr>
          <p:cNvPr id="27652" name="Slide Number Placeholder 6">
            <a:extLst>
              <a:ext uri="{FF2B5EF4-FFF2-40B4-BE49-F238E27FC236}">
                <a16:creationId xmlns:a16="http://schemas.microsoft.com/office/drawing/2014/main" id="{65E6FF8B-628E-99BD-00C4-AF9C2D3073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FF85EE8-8BA6-824A-A76E-CEA17073035B}" type="slidenum">
              <a:rPr lang="en-US" altLang="en-US"/>
              <a:pPr/>
              <a:t>26</a:t>
            </a:fld>
            <a:r>
              <a:rPr lang="en-US" altLang="en-US"/>
              <a:t>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85A0D0E-5157-8272-7CD7-7655F07946AB}"/>
              </a:ext>
            </a:extLst>
          </p:cNvPr>
          <p:cNvSpPr>
            <a:spLocks noGrp="1" noChangeArrowheads="1"/>
          </p:cNvSpPr>
          <p:nvPr>
            <p:ph type="title"/>
          </p:nvPr>
        </p:nvSpPr>
        <p:spPr>
          <a:xfrm>
            <a:off x="685800" y="0"/>
            <a:ext cx="8458200" cy="895350"/>
          </a:xfrm>
          <a:noFill/>
        </p:spPr>
        <p:txBody>
          <a:bodyPr lIns="90487" tIns="44450" rIns="90487" bIns="44450"/>
          <a:lstStyle/>
          <a:p>
            <a:pPr eaLnBrk="1" hangingPunct="1"/>
            <a:r>
              <a:rPr lang="en-US" altLang="en-US"/>
              <a:t>Spin Lock Performance</a:t>
            </a:r>
          </a:p>
        </p:txBody>
      </p:sp>
      <p:sp>
        <p:nvSpPr>
          <p:cNvPr id="28675" name="Rectangle 3">
            <a:extLst>
              <a:ext uri="{FF2B5EF4-FFF2-40B4-BE49-F238E27FC236}">
                <a16:creationId xmlns:a16="http://schemas.microsoft.com/office/drawing/2014/main" id="{D237210A-A9C1-4883-56BD-E9C71B0F25DD}"/>
              </a:ext>
            </a:extLst>
          </p:cNvPr>
          <p:cNvSpPr>
            <a:spLocks noGrp="1" noChangeArrowheads="1"/>
          </p:cNvSpPr>
          <p:nvPr>
            <p:ph type="body" idx="1"/>
          </p:nvPr>
        </p:nvSpPr>
        <p:spPr>
          <a:xfrm>
            <a:off x="198438" y="1260475"/>
            <a:ext cx="8547100" cy="4743450"/>
          </a:xfrm>
          <a:noFill/>
        </p:spPr>
        <p:txBody>
          <a:bodyPr lIns="90487" tIns="44450" rIns="90487" bIns="44450"/>
          <a:lstStyle/>
          <a:p>
            <a:pPr marL="285750" indent="-285750" eaLnBrk="1" hangingPunct="1">
              <a:lnSpc>
                <a:spcPct val="70000"/>
              </a:lnSpc>
            </a:pPr>
            <a:r>
              <a:rPr lang="en-US" altLang="en-US" sz="2000">
                <a:solidFill>
                  <a:srgbClr val="0000FF"/>
                </a:solidFill>
              </a:rPr>
              <a:t>Spin locks</a:t>
            </a:r>
            <a:r>
              <a:rPr lang="en-US" altLang="en-US" sz="2000"/>
              <a:t>: processor continuously tries to acquire, spinning around a loop trying to get the lock</a:t>
            </a:r>
          </a:p>
          <a:p>
            <a:pPr marL="285750" indent="-285750" eaLnBrk="1" hangingPunct="1">
              <a:lnSpc>
                <a:spcPct val="70000"/>
              </a:lnSpc>
              <a:buFontTx/>
              <a:buNone/>
            </a:pPr>
            <a:br>
              <a:rPr lang="en-US" altLang="en-US" sz="1600"/>
            </a:br>
            <a:endParaRPr lang="en-US" altLang="en-US" sz="800"/>
          </a:p>
          <a:p>
            <a:pPr marL="285750" indent="-285750" eaLnBrk="1" hangingPunct="1">
              <a:lnSpc>
                <a:spcPct val="70000"/>
              </a:lnSpc>
              <a:buFontTx/>
              <a:buNone/>
            </a:pPr>
            <a:r>
              <a:rPr lang="en-US" altLang="en-US" sz="1600">
                <a:latin typeface="Courier New" panose="02070309020205020404" pitchFamily="49" charset="0"/>
              </a:rPr>
              <a:t> 			ld	R2,#1		</a:t>
            </a:r>
            <a:br>
              <a:rPr lang="en-US" altLang="en-US" sz="1600">
                <a:latin typeface="Courier New" panose="02070309020205020404" pitchFamily="49" charset="0"/>
              </a:rPr>
            </a:br>
            <a:r>
              <a:rPr lang="en-US" altLang="en-US" sz="1600">
                <a:latin typeface="Courier New" panose="02070309020205020404" pitchFamily="49" charset="0"/>
              </a:rPr>
              <a:t>lockit:	exch	R2,0(R1)     	;atomic exchange</a:t>
            </a:r>
            <a:br>
              <a:rPr lang="en-US" altLang="en-US" sz="1600">
                <a:latin typeface="Courier New" panose="02070309020205020404" pitchFamily="49" charset="0"/>
              </a:rPr>
            </a:br>
            <a:r>
              <a:rPr lang="en-US" altLang="en-US" sz="1600">
                <a:latin typeface="Courier New" panose="02070309020205020404" pitchFamily="49" charset="0"/>
              </a:rPr>
              <a:t>		bnez    R2,lockit   	;already locked?</a:t>
            </a:r>
          </a:p>
          <a:p>
            <a:pPr marL="285750" indent="-285750" eaLnBrk="1" hangingPunct="1">
              <a:lnSpc>
                <a:spcPct val="90000"/>
              </a:lnSpc>
            </a:pPr>
            <a:endParaRPr lang="en-US" altLang="en-US" sz="2000"/>
          </a:p>
          <a:p>
            <a:pPr marL="285750" indent="-285750" eaLnBrk="1" hangingPunct="1">
              <a:lnSpc>
                <a:spcPct val="90000"/>
              </a:lnSpc>
            </a:pPr>
            <a:endParaRPr lang="en-US" altLang="en-US" sz="2000"/>
          </a:p>
          <a:p>
            <a:pPr marL="285750" indent="-285750" eaLnBrk="1" hangingPunct="1">
              <a:lnSpc>
                <a:spcPct val="90000"/>
              </a:lnSpc>
            </a:pPr>
            <a:endParaRPr lang="en-US" altLang="en-US" sz="2000"/>
          </a:p>
          <a:p>
            <a:pPr marL="285750" indent="-285750" eaLnBrk="1" hangingPunct="1">
              <a:lnSpc>
                <a:spcPct val="90000"/>
              </a:lnSpc>
            </a:pPr>
            <a:endParaRPr lang="en-US" altLang="en-US" sz="2000"/>
          </a:p>
          <a:p>
            <a:pPr marL="285750" indent="-285750" eaLnBrk="1" hangingPunct="1">
              <a:lnSpc>
                <a:spcPct val="90000"/>
              </a:lnSpc>
            </a:pPr>
            <a:r>
              <a:rPr lang="en-US" altLang="en-US" sz="2000"/>
              <a:t>What about cache coherency?</a:t>
            </a:r>
          </a:p>
          <a:p>
            <a:pPr marL="285750" indent="-285750" eaLnBrk="1" hangingPunct="1">
              <a:lnSpc>
                <a:spcPct val="90000"/>
              </a:lnSpc>
            </a:pPr>
            <a:endParaRPr lang="en-US" altLang="en-US" sz="2000"/>
          </a:p>
          <a:p>
            <a:pPr marL="285750" indent="-285750" eaLnBrk="1" hangingPunct="1">
              <a:lnSpc>
                <a:spcPct val="90000"/>
              </a:lnSpc>
            </a:pPr>
            <a:r>
              <a:rPr lang="en-US" altLang="en-US" sz="2000"/>
              <a:t>Problem: exchange includes a write, which invalidates all other copies; this generates considerable bus traffic.</a:t>
            </a:r>
            <a:endParaRPr lang="en-US" altLang="en-US" sz="1600"/>
          </a:p>
        </p:txBody>
      </p:sp>
      <p:sp>
        <p:nvSpPr>
          <p:cNvPr id="28676" name="Slide Number Placeholder 6">
            <a:extLst>
              <a:ext uri="{FF2B5EF4-FFF2-40B4-BE49-F238E27FC236}">
                <a16:creationId xmlns:a16="http://schemas.microsoft.com/office/drawing/2014/main" id="{9386FA97-1F04-C20B-3131-948F7ECC4D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8AE116D-20BD-E54E-B156-7354E8A8ABEC}" type="slidenum">
              <a:rPr lang="en-US" altLang="en-US"/>
              <a:pPr/>
              <a:t>27</a:t>
            </a:fld>
            <a:r>
              <a:rPr lang="en-US" altLang="en-US"/>
              <a:t>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814D597-49AE-2EE8-6380-C65A37AE42C4}"/>
              </a:ext>
            </a:extLst>
          </p:cNvPr>
          <p:cNvSpPr>
            <a:spLocks noGrp="1" noChangeArrowheads="1"/>
          </p:cNvSpPr>
          <p:nvPr>
            <p:ph type="title"/>
          </p:nvPr>
        </p:nvSpPr>
        <p:spPr>
          <a:xfrm>
            <a:off x="0" y="0"/>
            <a:ext cx="9144000" cy="895350"/>
          </a:xfrm>
          <a:noFill/>
        </p:spPr>
        <p:txBody>
          <a:bodyPr lIns="90487" tIns="44450" rIns="90487" bIns="44450"/>
          <a:lstStyle/>
          <a:p>
            <a:pPr eaLnBrk="1" hangingPunct="1"/>
            <a:r>
              <a:rPr lang="en-US" altLang="en-US"/>
              <a:t>Test and test and set</a:t>
            </a:r>
          </a:p>
        </p:txBody>
      </p:sp>
      <p:sp>
        <p:nvSpPr>
          <p:cNvPr id="29699" name="Rectangle 3">
            <a:extLst>
              <a:ext uri="{FF2B5EF4-FFF2-40B4-BE49-F238E27FC236}">
                <a16:creationId xmlns:a16="http://schemas.microsoft.com/office/drawing/2014/main" id="{8CAB438C-E328-F1C0-7066-169F42697DF7}"/>
              </a:ext>
            </a:extLst>
          </p:cNvPr>
          <p:cNvSpPr>
            <a:spLocks noGrp="1" noChangeArrowheads="1"/>
          </p:cNvSpPr>
          <p:nvPr>
            <p:ph type="body" idx="1"/>
          </p:nvPr>
        </p:nvSpPr>
        <p:spPr>
          <a:xfrm>
            <a:off x="223838" y="950913"/>
            <a:ext cx="8547100" cy="5218112"/>
          </a:xfrm>
          <a:noFill/>
        </p:spPr>
        <p:txBody>
          <a:bodyPr lIns="90487" tIns="44450" rIns="90487" bIns="44450"/>
          <a:lstStyle/>
          <a:p>
            <a:pPr marL="285750" indent="-285750" eaLnBrk="1" hangingPunct="1">
              <a:lnSpc>
                <a:spcPct val="90000"/>
              </a:lnSpc>
            </a:pPr>
            <a:r>
              <a:rPr lang="en-US" altLang="en-US" sz="2000"/>
              <a:t>For parallel programs with long critical sections, we can reduce bus traffic by first reading the variable using a normal load instruction which will cause a shared copy of the lock variable to be placed in the cache attached to the processor.</a:t>
            </a:r>
          </a:p>
          <a:p>
            <a:pPr marL="285750" indent="-285750" eaLnBrk="1" hangingPunct="1">
              <a:lnSpc>
                <a:spcPct val="90000"/>
              </a:lnSpc>
            </a:pPr>
            <a:endParaRPr lang="en-US" altLang="en-US" sz="2000"/>
          </a:p>
          <a:p>
            <a:pPr marL="285750" indent="-285750" eaLnBrk="1" hangingPunct="1">
              <a:lnSpc>
                <a:spcPct val="90000"/>
              </a:lnSpc>
            </a:pPr>
            <a:r>
              <a:rPr lang="en-US" altLang="en-US" sz="2000"/>
              <a:t>When a different processor modifies the location (to release the lock), the local version gets invalidated, then reloaded the next time the normal load instruction reads it.  The new value of the memory location might indicate the lock is available and only then will we attempt to atomically perform a read-modify-write using a test and set instruction.</a:t>
            </a:r>
          </a:p>
          <a:p>
            <a:pPr marL="285750" indent="-285750" eaLnBrk="1" hangingPunct="1">
              <a:lnSpc>
                <a:spcPct val="90000"/>
              </a:lnSpc>
              <a:buFontTx/>
              <a:buNone/>
            </a:pPr>
            <a:endParaRPr lang="en-US" altLang="en-US" sz="2000"/>
          </a:p>
          <a:p>
            <a:pPr marL="285750" indent="-285750" eaLnBrk="1" hangingPunct="1">
              <a:lnSpc>
                <a:spcPct val="90000"/>
              </a:lnSpc>
            </a:pPr>
            <a:r>
              <a:rPr lang="en-US" altLang="en-US" sz="2000"/>
              <a:t>This is known as a “test and test&amp;set” lock.  </a:t>
            </a:r>
          </a:p>
          <a:p>
            <a:pPr marL="285750" indent="-285750" eaLnBrk="1" hangingPunct="1">
              <a:lnSpc>
                <a:spcPct val="90000"/>
              </a:lnSpc>
            </a:pPr>
            <a:endParaRPr lang="en-US" altLang="en-US" sz="2000"/>
          </a:p>
          <a:p>
            <a:pPr marL="285750" indent="-285750" eaLnBrk="1" hangingPunct="1">
              <a:lnSpc>
                <a:spcPct val="90000"/>
              </a:lnSpc>
            </a:pPr>
            <a:r>
              <a:rPr lang="en-US" altLang="en-US" sz="2000"/>
              <a:t>Example “test and test&amp;set” using an atomic exchange instruction:</a:t>
            </a:r>
            <a:endParaRPr lang="en-US" altLang="en-US" sz="1600"/>
          </a:p>
          <a:p>
            <a:pPr marL="285750" indent="-285750" eaLnBrk="1" hangingPunct="1">
              <a:lnSpc>
                <a:spcPct val="90000"/>
              </a:lnSpc>
              <a:buFontTx/>
              <a:buNone/>
            </a:pPr>
            <a:r>
              <a:rPr lang="en-US" altLang="en-US" sz="1800">
                <a:latin typeface="Courier New" panose="02070309020205020404" pitchFamily="49" charset="0"/>
              </a:rPr>
              <a:t>	</a:t>
            </a:r>
            <a:r>
              <a:rPr lang="en-US" altLang="en-US" sz="1400">
                <a:latin typeface="Courier New" panose="02070309020205020404" pitchFamily="49" charset="0"/>
              </a:rPr>
              <a:t>try:	     	addui	R2,R0,#1		</a:t>
            </a:r>
            <a:br>
              <a:rPr lang="en-US" altLang="en-US" sz="1400">
                <a:latin typeface="Courier New" panose="02070309020205020404" pitchFamily="49" charset="0"/>
              </a:rPr>
            </a:br>
            <a:r>
              <a:rPr lang="en-US" altLang="en-US" sz="1400">
                <a:latin typeface="Courier New" panose="02070309020205020404" pitchFamily="49" charset="0"/>
              </a:rPr>
              <a:t>lockit:    	ld	R3,0(R1) 	;normal load of Mem[Regs[R1]]</a:t>
            </a:r>
            <a:br>
              <a:rPr lang="en-US" altLang="en-US" sz="1400">
                <a:latin typeface="Courier New" panose="02070309020205020404" pitchFamily="49" charset="0"/>
              </a:rPr>
            </a:br>
            <a:r>
              <a:rPr lang="en-US" altLang="en-US" sz="1400">
                <a:latin typeface="Courier New" panose="02070309020205020404" pitchFamily="49" charset="0"/>
              </a:rPr>
              <a:t>		bnez	R3,lockit 	; ≠ 0 </a:t>
            </a:r>
            <a:r>
              <a:rPr lang="en-US" altLang="en-US" sz="1400">
                <a:latin typeface="Courier New" panose="02070309020205020404" pitchFamily="49" charset="0"/>
                <a:sym typeface="Symbol" pitchFamily="2" charset="2"/>
              </a:rPr>
              <a:t> n</a:t>
            </a:r>
            <a:r>
              <a:rPr lang="en-US" altLang="en-US" sz="1400">
                <a:latin typeface="Courier New" panose="02070309020205020404" pitchFamily="49" charset="0"/>
              </a:rPr>
              <a:t>ot free </a:t>
            </a:r>
            <a:r>
              <a:rPr lang="en-US" altLang="en-US" sz="1400">
                <a:latin typeface="Courier New" panose="02070309020205020404" pitchFamily="49" charset="0"/>
                <a:sym typeface="Symbol" pitchFamily="2" charset="2"/>
              </a:rPr>
              <a:t> </a:t>
            </a:r>
            <a:r>
              <a:rPr lang="en-US" altLang="en-US" sz="1400">
                <a:latin typeface="Courier New" panose="02070309020205020404" pitchFamily="49" charset="0"/>
              </a:rPr>
              <a:t>spin</a:t>
            </a:r>
            <a:br>
              <a:rPr lang="en-US" altLang="en-US" sz="1400">
                <a:latin typeface="Courier New" panose="02070309020205020404" pitchFamily="49" charset="0"/>
              </a:rPr>
            </a:br>
            <a:r>
              <a:rPr lang="en-US" altLang="en-US" sz="1400">
                <a:latin typeface="Courier New" panose="02070309020205020404" pitchFamily="49" charset="0"/>
              </a:rPr>
              <a:t>		exch	R2,0(R1) 	;atomic exchange</a:t>
            </a:r>
            <a:br>
              <a:rPr lang="en-US" altLang="en-US" sz="1400">
                <a:latin typeface="Courier New" panose="02070309020205020404" pitchFamily="49" charset="0"/>
              </a:rPr>
            </a:br>
            <a:r>
              <a:rPr lang="en-US" altLang="en-US" sz="1400">
                <a:latin typeface="Courier New" panose="02070309020205020404" pitchFamily="49" charset="0"/>
              </a:rPr>
              <a:t>		bnez	R2,try 		;already locked?</a:t>
            </a:r>
          </a:p>
        </p:txBody>
      </p:sp>
      <p:sp>
        <p:nvSpPr>
          <p:cNvPr id="29700" name="Slide Number Placeholder 6">
            <a:extLst>
              <a:ext uri="{FF2B5EF4-FFF2-40B4-BE49-F238E27FC236}">
                <a16:creationId xmlns:a16="http://schemas.microsoft.com/office/drawing/2014/main" id="{63549708-A46E-9E38-31E7-A8464ED078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1BDE70FA-B65F-9545-9B26-C55731BA6185}" type="slidenum">
              <a:rPr lang="en-US" altLang="en-US"/>
              <a:pPr/>
              <a:t>28</a:t>
            </a:fld>
            <a:r>
              <a:rPr lang="en-US" altLang="en-US"/>
              <a:t> </a:t>
            </a:r>
          </a:p>
        </p:txBody>
      </p:sp>
    </p:spTree>
  </p:cSld>
  <p:clrMapOvr>
    <a:masterClrMapping/>
  </p:clrMapOvr>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Comic Sans MS"/>
        <a:ea typeface="ＭＳ Ｐゴシック"/>
        <a:cs typeface="ＭＳ Ｐゴシック"/>
      </a:majorFont>
      <a:minorFont>
        <a:latin typeface="Comic Sans MS"/>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themeOverride>
</file>

<file path=docProps/app.xml><?xml version="1.0" encoding="utf-8"?>
<Properties xmlns="http://schemas.openxmlformats.org/officeDocument/2006/extended-properties" xmlns:vt="http://schemas.openxmlformats.org/officeDocument/2006/docPropsVTypes">
  <TotalTime>43976</TotalTime>
  <Words>2912</Words>
  <Application>Microsoft Macintosh PowerPoint</Application>
  <PresentationFormat>On-screen Show (4:3)</PresentationFormat>
  <Paragraphs>546</Paragraphs>
  <Slides>28</Slides>
  <Notes>15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40" baseType="lpstr">
      <vt:lpstr>Arial</vt:lpstr>
      <vt:lpstr>Arial  </vt:lpstr>
      <vt:lpstr>Comic Sans MS</vt:lpstr>
      <vt:lpstr>Courier</vt:lpstr>
      <vt:lpstr>Courier New</vt:lpstr>
      <vt:lpstr>Helvetica</vt:lpstr>
      <vt:lpstr>Symbol</vt:lpstr>
      <vt:lpstr>Times New Roman</vt:lpstr>
      <vt:lpstr>Wingdings</vt:lpstr>
      <vt:lpstr>Wingdings 2</vt:lpstr>
      <vt:lpstr>Blank Presentation</vt:lpstr>
      <vt:lpstr>Worksheet</vt:lpstr>
      <vt:lpstr>CPEN 411: Computer Architecture  Slide Set #19: Cache Coherence, Part 2  Instructor: Dr. Tor M. Aamodt aamodt@ece.ubc.ca </vt:lpstr>
      <vt:lpstr>Learning Objectives</vt:lpstr>
      <vt:lpstr>Coherence Misses</vt:lpstr>
      <vt:lpstr>Coherence Misses</vt:lpstr>
      <vt:lpstr>Example: True v. False Sharing v. Hit?</vt:lpstr>
      <vt:lpstr>Impact on Coherence Misses: Cache Size</vt:lpstr>
      <vt:lpstr>Impact on Coherence Misses: Processor Count</vt:lpstr>
      <vt:lpstr>Impact on Coherence Misses: Cache Size: Block Size</vt:lpstr>
      <vt:lpstr>Reducing False Sharing (1)</vt:lpstr>
      <vt:lpstr>Reducing False Sharing (2)</vt:lpstr>
      <vt:lpstr>Reducing False Sharing (3)</vt:lpstr>
      <vt:lpstr>Directory Based Coherence</vt:lpstr>
      <vt:lpstr>Basic Operation of Directory</vt:lpstr>
      <vt:lpstr>Directory Protocol</vt:lpstr>
      <vt:lpstr>Directory Protocol Messages</vt:lpstr>
      <vt:lpstr>CPU -Cache State Machine</vt:lpstr>
      <vt:lpstr>Directory State Machine</vt:lpstr>
      <vt:lpstr>Example Question</vt:lpstr>
      <vt:lpstr>Synchronization</vt:lpstr>
      <vt:lpstr>Strawman Lock</vt:lpstr>
      <vt:lpstr>Atomic Instructions</vt:lpstr>
      <vt:lpstr>Simple Test &amp; Set Lock</vt:lpstr>
      <vt:lpstr>Other Atomic Instructions</vt:lpstr>
      <vt:lpstr>Load Locked, Store Conditional</vt:lpstr>
      <vt:lpstr>Load Locked, Store Conditional</vt:lpstr>
      <vt:lpstr>Examples</vt:lpstr>
      <vt:lpstr>Spin Lock Performance</vt:lpstr>
      <vt:lpstr>Test and test and set</vt:lpstr>
    </vt:vector>
  </TitlesOfParts>
  <Company>Tor M. Aamodt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does a cache work?</dc:title>
  <dc:creator>Tor M. Aamodt</dc:creator>
  <cp:lastModifiedBy>Tor Aamodt</cp:lastModifiedBy>
  <cp:revision>176</cp:revision>
  <cp:lastPrinted>2008-11-19T17:09:59Z</cp:lastPrinted>
  <dcterms:created xsi:type="dcterms:W3CDTF">2009-09-04T13:29:17Z</dcterms:created>
  <dcterms:modified xsi:type="dcterms:W3CDTF">2025-12-01T20:33:38Z</dcterms:modified>
</cp:coreProperties>
</file>