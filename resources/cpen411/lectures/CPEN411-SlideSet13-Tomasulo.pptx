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5"/>
  </p:notesMasterIdLst>
  <p:handoutMasterIdLst>
    <p:handoutMasterId r:id="rId46"/>
  </p:handoutMasterIdLst>
  <p:sldIdLst>
    <p:sldId id="347" r:id="rId2"/>
    <p:sldId id="479" r:id="rId3"/>
    <p:sldId id="348" r:id="rId4"/>
    <p:sldId id="261" r:id="rId5"/>
    <p:sldId id="263" r:id="rId6"/>
    <p:sldId id="480" r:id="rId7"/>
    <p:sldId id="481" r:id="rId8"/>
    <p:sldId id="349" r:id="rId9"/>
    <p:sldId id="350" r:id="rId10"/>
    <p:sldId id="346" r:id="rId11"/>
    <p:sldId id="265" r:id="rId12"/>
    <p:sldId id="267" r:id="rId13"/>
    <p:sldId id="266" r:id="rId14"/>
    <p:sldId id="268" r:id="rId15"/>
    <p:sldId id="359" r:id="rId16"/>
    <p:sldId id="351" r:id="rId17"/>
    <p:sldId id="353" r:id="rId18"/>
    <p:sldId id="356" r:id="rId19"/>
    <p:sldId id="354" r:id="rId20"/>
    <p:sldId id="355" r:id="rId21"/>
    <p:sldId id="358" r:id="rId22"/>
    <p:sldId id="318" r:id="rId23"/>
    <p:sldId id="319" r:id="rId24"/>
    <p:sldId id="320" r:id="rId25"/>
    <p:sldId id="321" r:id="rId26"/>
    <p:sldId id="322" r:id="rId27"/>
    <p:sldId id="323" r:id="rId28"/>
    <p:sldId id="324" r:id="rId29"/>
    <p:sldId id="325" r:id="rId30"/>
    <p:sldId id="326" r:id="rId31"/>
    <p:sldId id="327" r:id="rId32"/>
    <p:sldId id="328" r:id="rId33"/>
    <p:sldId id="329" r:id="rId34"/>
    <p:sldId id="330" r:id="rId35"/>
    <p:sldId id="331" r:id="rId36"/>
    <p:sldId id="332" r:id="rId37"/>
    <p:sldId id="333" r:id="rId38"/>
    <p:sldId id="334" r:id="rId39"/>
    <p:sldId id="335" r:id="rId40"/>
    <p:sldId id="336" r:id="rId41"/>
    <p:sldId id="337" r:id="rId42"/>
    <p:sldId id="338" r:id="rId43"/>
    <p:sldId id="291" r:id="rId44"/>
  </p:sldIdLst>
  <p:sldSz cx="9144000" cy="6858000" type="screen4x3"/>
  <p:notesSz cx="6858000" cy="9296400"/>
  <p:defaultTextStyle>
    <a:defPPr>
      <a:defRPr lang="en-GB"/>
    </a:defPPr>
    <a:lvl1pPr algn="l" defTabSz="449263" rtl="0" eaLnBrk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Arial" pitchFamily="34" charset="0"/>
      <a:defRPr sz="2400" kern="1200">
        <a:solidFill>
          <a:schemeClr val="bg1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defTabSz="449263" rtl="0" eaLnBrk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Arial" pitchFamily="34" charset="0"/>
      <a:defRPr sz="2400" kern="1200">
        <a:solidFill>
          <a:schemeClr val="bg1"/>
        </a:solidFill>
        <a:latin typeface="Arial" pitchFamily="34" charset="0"/>
        <a:ea typeface="ＭＳ Ｐゴシック" pitchFamily="34" charset="-128"/>
        <a:cs typeface="+mn-cs"/>
      </a:defRPr>
    </a:lvl2pPr>
    <a:lvl3pPr marL="914400" algn="l" defTabSz="449263" rtl="0" eaLnBrk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Arial" pitchFamily="34" charset="0"/>
      <a:defRPr sz="2400" kern="1200">
        <a:solidFill>
          <a:schemeClr val="bg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l" defTabSz="449263" rtl="0" eaLnBrk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Arial" pitchFamily="34" charset="0"/>
      <a:defRPr sz="2400" kern="1200">
        <a:solidFill>
          <a:schemeClr val="bg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l" defTabSz="449263" rtl="0" eaLnBrk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Arial" pitchFamily="34" charset="0"/>
      <a:defRPr sz="2400" kern="1200">
        <a:solidFill>
          <a:schemeClr val="bg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bg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bg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bg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bg1"/>
        </a:solidFill>
        <a:latin typeface="Arial" pitchFamily="34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80"/>
    <a:srgbClr val="0000FF"/>
    <a:srgbClr val="FF0000"/>
    <a:srgbClr val="CCFFCC"/>
    <a:srgbClr val="99FFCC"/>
    <a:srgbClr val="FF00FF"/>
    <a:srgbClr val="FFFFFF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8" autoAdjust="0"/>
    <p:restoredTop sz="75000" autoAdjust="0"/>
  </p:normalViewPr>
  <p:slideViewPr>
    <p:cSldViewPr snapToGrid="0">
      <p:cViewPr varScale="1">
        <p:scale>
          <a:sx n="80" d="100"/>
          <a:sy n="80" d="100"/>
        </p:scale>
        <p:origin x="2688" y="472"/>
      </p:cViewPr>
      <p:guideLst>
        <p:guide orient="horz" pos="2160"/>
        <p:guide pos="2880"/>
      </p:guideLst>
    </p:cSldViewPr>
  </p:slideViewPr>
  <p:outlineViewPr>
    <p:cViewPr>
      <p:scale>
        <a:sx n="25" d="100"/>
        <a:sy n="25" d="100"/>
      </p:scale>
      <p:origin x="-784" y="-8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2022"/>
    </p:cViewPr>
  </p:sorterViewPr>
  <p:notesViewPr>
    <p:cSldViewPr snapToGrid="0">
      <p:cViewPr varScale="1">
        <p:scale>
          <a:sx n="60" d="100"/>
          <a:sy n="60" d="100"/>
        </p:scale>
        <p:origin x="-2478" y="-78"/>
      </p:cViewPr>
      <p:guideLst>
        <p:guide orient="horz" pos="2928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51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71800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29675"/>
            <a:ext cx="2971800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66DF1FA-4821-42B3-A4FD-FDD6451FA5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AutoShape 1"/>
          <p:cNvSpPr>
            <a:spLocks noChangeArrowheads="1"/>
          </p:cNvSpPr>
          <p:nvPr/>
        </p:nvSpPr>
        <p:spPr bwMode="auto">
          <a:xfrm>
            <a:off x="0" y="0"/>
            <a:ext cx="6858000" cy="92964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2970213" cy="4635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3886200" y="0"/>
            <a:ext cx="2970213" cy="4635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037" name="Rectangle 4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696913"/>
            <a:ext cx="4643437" cy="34845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/>
          </p:nvPr>
        </p:nvSpPr>
        <p:spPr bwMode="auto">
          <a:xfrm>
            <a:off x="914400" y="4416425"/>
            <a:ext cx="5027613" cy="4181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/>
          </p:nvPr>
        </p:nvSpPr>
        <p:spPr bwMode="auto">
          <a:xfrm>
            <a:off x="0" y="8831263"/>
            <a:ext cx="2970213" cy="4635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3886200" y="8831263"/>
            <a:ext cx="2970213" cy="4635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A096C446-B236-4A8B-9133-AD47FE20B36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-106" charset="-52"/>
        <a:ea typeface="ＭＳ Ｐゴシック" pitchFamily="-111" charset="-128"/>
        <a:cs typeface="ＭＳ Ｐゴシック" pitchFamily="-111" charset="-128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-106" charset="-52"/>
        <a:ea typeface="ＭＳ Ｐゴシック" pitchFamily="-106" charset="-128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-106" charset="-52"/>
        <a:ea typeface="ＭＳ Ｐゴシック" pitchFamily="-106" charset="-128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-106" charset="-52"/>
        <a:ea typeface="ＭＳ Ｐゴシック" pitchFamily="-106" charset="-128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-106" charset="-52"/>
        <a:ea typeface="ＭＳ Ｐゴシック" pitchFamily="-106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81EE581A-2174-449D-B807-DD6858FF0690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45059" name="Text Box 1"/>
          <p:cNvSpPr txBox="1">
            <a:spLocks noChangeArrowheads="1"/>
          </p:cNvSpPr>
          <p:nvPr/>
        </p:nvSpPr>
        <p:spPr bwMode="auto">
          <a:xfrm>
            <a:off x="1143000" y="696913"/>
            <a:ext cx="4572000" cy="34861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060" name="Text Box 2"/>
          <p:cNvSpPr>
            <a:spLocks noGrp="1" noChangeArrowheads="1"/>
          </p:cNvSpPr>
          <p:nvPr>
            <p:ph type="body"/>
          </p:nvPr>
        </p:nvSpPr>
        <p:spPr>
          <a:xfrm>
            <a:off x="914400" y="4416425"/>
            <a:ext cx="5029200" cy="4192588"/>
          </a:xfrm>
          <a:solidFill>
            <a:srgbClr val="FFFFFF"/>
          </a:solidFill>
          <a:ln w="9360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D662D127-CDF8-49E1-969B-ED6F5A3D7078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46083" name="Text Box 1"/>
          <p:cNvSpPr txBox="1">
            <a:spLocks noChangeArrowheads="1"/>
          </p:cNvSpPr>
          <p:nvPr/>
        </p:nvSpPr>
        <p:spPr bwMode="auto">
          <a:xfrm>
            <a:off x="1143000" y="696913"/>
            <a:ext cx="4572000" cy="34861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6084" name="Text Box 2"/>
          <p:cNvSpPr>
            <a:spLocks noGrp="1" noChangeArrowheads="1"/>
          </p:cNvSpPr>
          <p:nvPr>
            <p:ph type="body"/>
          </p:nvPr>
        </p:nvSpPr>
        <p:spPr>
          <a:xfrm>
            <a:off x="914400" y="4416425"/>
            <a:ext cx="5029200" cy="4183063"/>
          </a:xfrm>
          <a:noFill/>
          <a:ln/>
        </p:spPr>
        <p:txBody>
          <a:bodyPr wrap="none" anchor="ctr"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1943D5-5083-7E22-9A5B-9C5E31E34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EC5236EC-E8D5-7026-CD74-F2C43AA6DE6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D662D127-CDF8-49E1-969B-ED6F5A3D7078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46083" name="Text Box 1">
            <a:extLst>
              <a:ext uri="{FF2B5EF4-FFF2-40B4-BE49-F238E27FC236}">
                <a16:creationId xmlns:a16="http://schemas.microsoft.com/office/drawing/2014/main" id="{C074E3C0-C4BE-1A13-C0A7-7BFB15BDE8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96913"/>
            <a:ext cx="4572000" cy="34861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6084" name="Text Box 2">
            <a:extLst>
              <a:ext uri="{FF2B5EF4-FFF2-40B4-BE49-F238E27FC236}">
                <a16:creationId xmlns:a16="http://schemas.microsoft.com/office/drawing/2014/main" id="{654DDEDE-8BB6-FCAB-94A5-8A1E74F330DA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416425"/>
            <a:ext cx="5029200" cy="4183063"/>
          </a:xfrm>
          <a:noFill/>
          <a:ln/>
        </p:spPr>
        <p:txBody>
          <a:bodyPr wrap="none" anchor="ctr"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811274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A096C446-B236-4A8B-9133-AD47FE20B368}" type="slidenum">
              <a:rPr lang="en-GB" smtClean="0"/>
              <a:pPr>
                <a:defRPr/>
              </a:pPr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14469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FE4125A0-1D8A-434D-9688-375F095DC8C6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47107" name="Text Box 1"/>
          <p:cNvSpPr txBox="1">
            <a:spLocks noChangeArrowheads="1"/>
          </p:cNvSpPr>
          <p:nvPr/>
        </p:nvSpPr>
        <p:spPr bwMode="auto">
          <a:xfrm>
            <a:off x="1143000" y="696913"/>
            <a:ext cx="4572000" cy="34861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08" name="Text Box 2"/>
          <p:cNvSpPr>
            <a:spLocks noGrp="1" noChangeArrowheads="1"/>
          </p:cNvSpPr>
          <p:nvPr>
            <p:ph type="body"/>
          </p:nvPr>
        </p:nvSpPr>
        <p:spPr>
          <a:xfrm>
            <a:off x="914400" y="4416425"/>
            <a:ext cx="5029200" cy="4183063"/>
          </a:xfrm>
          <a:noFill/>
          <a:ln/>
        </p:spPr>
        <p:txBody>
          <a:bodyPr wrap="none" anchor="ctr"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2E14835A-AD78-474A-92A3-27F0BB001F69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48131" name="Text Box 1"/>
          <p:cNvSpPr txBox="1">
            <a:spLocks noChangeArrowheads="1"/>
          </p:cNvSpPr>
          <p:nvPr/>
        </p:nvSpPr>
        <p:spPr bwMode="auto">
          <a:xfrm>
            <a:off x="3886200" y="8831263"/>
            <a:ext cx="2971800" cy="46513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b"/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0375405-284A-47F1-8D6A-664708AC8098}" type="slidenum">
              <a:rPr lang="en-GB" sz="1200">
                <a:solidFill>
                  <a:srgbClr val="000000"/>
                </a:solidFill>
              </a:rPr>
              <a:pPr algn="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11</a:t>
            </a:fld>
            <a:endParaRPr lang="en-GB" sz="1200">
              <a:solidFill>
                <a:srgbClr val="000000"/>
              </a:solidFill>
            </a:endParaRPr>
          </a:p>
        </p:txBody>
      </p:sp>
      <p:sp>
        <p:nvSpPr>
          <p:cNvPr id="48132" name="Text Box 2"/>
          <p:cNvSpPr txBox="1">
            <a:spLocks noChangeArrowheads="1"/>
          </p:cNvSpPr>
          <p:nvPr/>
        </p:nvSpPr>
        <p:spPr bwMode="auto">
          <a:xfrm>
            <a:off x="0" y="8831263"/>
            <a:ext cx="2971800" cy="46513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b"/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8133" name="Text Box 3"/>
          <p:cNvSpPr txBox="1">
            <a:spLocks noChangeArrowheads="1"/>
          </p:cNvSpPr>
          <p:nvPr/>
        </p:nvSpPr>
        <p:spPr bwMode="auto">
          <a:xfrm>
            <a:off x="0" y="0"/>
            <a:ext cx="2971800" cy="465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8134" name="Text Box 4"/>
          <p:cNvSpPr txBox="1">
            <a:spLocks noChangeArrowheads="1"/>
          </p:cNvSpPr>
          <p:nvPr/>
        </p:nvSpPr>
        <p:spPr bwMode="auto">
          <a:xfrm>
            <a:off x="3886200" y="0"/>
            <a:ext cx="2971800" cy="465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/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8135" name="Text Box 5"/>
          <p:cNvSpPr>
            <a:spLocks noGrp="1" noChangeArrowheads="1"/>
          </p:cNvSpPr>
          <p:nvPr>
            <p:ph type="body"/>
          </p:nvPr>
        </p:nvSpPr>
        <p:spPr>
          <a:xfrm>
            <a:off x="914400" y="4414838"/>
            <a:ext cx="5029200" cy="4184650"/>
          </a:xfrm>
          <a:noFill/>
          <a:ln/>
        </p:spPr>
        <p:txBody>
          <a:bodyPr lIns="90360" tIns="44280" rIns="90360" bIns="44280"/>
          <a:lstStyle/>
          <a:p>
            <a:pPr eaLnBrk="1" hangingPunct="1">
              <a:spcBef>
                <a:spcPts val="450"/>
              </a:spcBef>
              <a:buFont typeface="Arial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latin typeface="Arial" pitchFamily="34" charset="0"/>
                <a:ea typeface="ＭＳ Ｐゴシック" pitchFamily="34" charset="-128"/>
              </a:rPr>
              <a:t>Resolve RAW memory conflict? (address in memory buffers)‏</a:t>
            </a:r>
          </a:p>
          <a:p>
            <a:pPr eaLnBrk="1" hangingPunct="1">
              <a:spcBef>
                <a:spcPts val="450"/>
              </a:spcBef>
              <a:buFont typeface="Arial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latin typeface="Arial" pitchFamily="34" charset="0"/>
                <a:ea typeface="ＭＳ Ｐゴシック" pitchFamily="34" charset="-128"/>
              </a:rPr>
              <a:t>Integer unit executes in parallel</a:t>
            </a:r>
          </a:p>
        </p:txBody>
      </p:sp>
      <p:sp>
        <p:nvSpPr>
          <p:cNvPr id="48136" name="Text Box 6"/>
          <p:cNvSpPr txBox="1">
            <a:spLocks noChangeArrowheads="1"/>
          </p:cNvSpPr>
          <p:nvPr/>
        </p:nvSpPr>
        <p:spPr bwMode="auto">
          <a:xfrm>
            <a:off x="1152525" y="703263"/>
            <a:ext cx="4554538" cy="34734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ED6B2D5D-FBFD-4853-9D97-AAC0D54CAE25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49155" name="Text Box 1"/>
          <p:cNvSpPr txBox="1">
            <a:spLocks noChangeArrowheads="1"/>
          </p:cNvSpPr>
          <p:nvPr/>
        </p:nvSpPr>
        <p:spPr bwMode="auto">
          <a:xfrm>
            <a:off x="1143000" y="696913"/>
            <a:ext cx="4572000" cy="34861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56" name="Text Box 2"/>
          <p:cNvSpPr>
            <a:spLocks noGrp="1" noChangeArrowheads="1"/>
          </p:cNvSpPr>
          <p:nvPr>
            <p:ph type="body"/>
          </p:nvPr>
        </p:nvSpPr>
        <p:spPr>
          <a:xfrm>
            <a:off x="914400" y="4416425"/>
            <a:ext cx="5029200" cy="4183063"/>
          </a:xfrm>
          <a:noFill/>
          <a:ln/>
        </p:spPr>
        <p:txBody>
          <a:bodyPr wrap="none" anchor="ctr"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D72BAC00-6AD6-42AC-90C9-2B80B48D32AC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50179" name="Text Box 1"/>
          <p:cNvSpPr txBox="1">
            <a:spLocks noChangeArrowheads="1"/>
          </p:cNvSpPr>
          <p:nvPr/>
        </p:nvSpPr>
        <p:spPr bwMode="auto">
          <a:xfrm>
            <a:off x="3886200" y="8831263"/>
            <a:ext cx="2971800" cy="46513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b"/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05D75FE-33BC-4460-8804-04D43E9F6845}" type="slidenum">
              <a:rPr lang="en-GB" sz="1200">
                <a:solidFill>
                  <a:srgbClr val="000000"/>
                </a:solidFill>
              </a:rPr>
              <a:pPr algn="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13</a:t>
            </a:fld>
            <a:endParaRPr lang="en-GB" sz="1200">
              <a:solidFill>
                <a:srgbClr val="000000"/>
              </a:solidFill>
            </a:endParaRPr>
          </a:p>
        </p:txBody>
      </p:sp>
      <p:sp>
        <p:nvSpPr>
          <p:cNvPr id="50180" name="Text Box 2"/>
          <p:cNvSpPr txBox="1">
            <a:spLocks noChangeArrowheads="1"/>
          </p:cNvSpPr>
          <p:nvPr/>
        </p:nvSpPr>
        <p:spPr bwMode="auto">
          <a:xfrm>
            <a:off x="0" y="8831263"/>
            <a:ext cx="2971800" cy="46513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b"/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50181" name="Text Box 3"/>
          <p:cNvSpPr txBox="1">
            <a:spLocks noChangeArrowheads="1"/>
          </p:cNvSpPr>
          <p:nvPr/>
        </p:nvSpPr>
        <p:spPr bwMode="auto">
          <a:xfrm>
            <a:off x="0" y="0"/>
            <a:ext cx="2971800" cy="465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50182" name="Text Box 4"/>
          <p:cNvSpPr txBox="1">
            <a:spLocks noChangeArrowheads="1"/>
          </p:cNvSpPr>
          <p:nvPr/>
        </p:nvSpPr>
        <p:spPr bwMode="auto">
          <a:xfrm>
            <a:off x="3886200" y="0"/>
            <a:ext cx="2971800" cy="465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/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50183" name="Text Box 5"/>
          <p:cNvSpPr>
            <a:spLocks noGrp="1" noChangeArrowheads="1"/>
          </p:cNvSpPr>
          <p:nvPr>
            <p:ph type="body"/>
          </p:nvPr>
        </p:nvSpPr>
        <p:spPr>
          <a:xfrm>
            <a:off x="914400" y="4414838"/>
            <a:ext cx="5029200" cy="4184650"/>
          </a:xfrm>
          <a:noFill/>
          <a:ln/>
        </p:spPr>
        <p:txBody>
          <a:bodyPr lIns="90360" tIns="44280" rIns="90360" bIns="44280"/>
          <a:lstStyle/>
          <a:p>
            <a:pPr eaLnBrk="1" hangingPunct="1">
              <a:spcBef>
                <a:spcPts val="450"/>
              </a:spcBef>
              <a:buFont typeface="Arial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>
                <a:latin typeface="Arial" pitchFamily="34" charset="0"/>
                <a:ea typeface="ＭＳ Ｐゴシック" pitchFamily="34" charset="-128"/>
              </a:rPr>
              <a:t>What you might have thought</a:t>
            </a:r>
          </a:p>
          <a:p>
            <a:pPr eaLnBrk="1" hangingPunct="1">
              <a:spcBef>
                <a:spcPts val="450"/>
              </a:spcBef>
              <a:buFont typeface="Arial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>
                <a:latin typeface="Arial" pitchFamily="34" charset="0"/>
                <a:ea typeface="ＭＳ Ｐゴシック" pitchFamily="34" charset="-128"/>
              </a:rPr>
              <a:t>1. 4 stages of instruction </a:t>
            </a:r>
            <a:r>
              <a:rPr lang="en-GB" dirty="0" err="1">
                <a:latin typeface="Arial" pitchFamily="34" charset="0"/>
                <a:ea typeface="ＭＳ Ｐゴシック" pitchFamily="34" charset="-128"/>
              </a:rPr>
              <a:t>executino</a:t>
            </a:r>
            <a:endParaRPr lang="en-GB" dirty="0">
              <a:latin typeface="Arial" pitchFamily="34" charset="0"/>
              <a:ea typeface="ＭＳ Ｐゴシック" pitchFamily="34" charset="-128"/>
            </a:endParaRPr>
          </a:p>
          <a:p>
            <a:pPr eaLnBrk="1" hangingPunct="1">
              <a:spcBef>
                <a:spcPts val="450"/>
              </a:spcBef>
              <a:buFont typeface="Arial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>
                <a:latin typeface="Arial" pitchFamily="34" charset="0"/>
                <a:ea typeface="ＭＳ Ｐゴシック" pitchFamily="34" charset="-128"/>
              </a:rPr>
              <a:t>2.Status of FU:  Normal things to keep track of (RAW &amp; </a:t>
            </a:r>
            <a:r>
              <a:rPr lang="en-GB" dirty="0" err="1">
                <a:latin typeface="Arial" pitchFamily="34" charset="0"/>
                <a:ea typeface="ＭＳ Ｐゴシック" pitchFamily="34" charset="-128"/>
              </a:rPr>
              <a:t>structura</a:t>
            </a:r>
            <a:r>
              <a:rPr lang="en-GB" dirty="0">
                <a:latin typeface="Arial" pitchFamily="34" charset="0"/>
                <a:ea typeface="ＭＳ Ｐゴシック" pitchFamily="34" charset="-128"/>
              </a:rPr>
              <a:t> for </a:t>
            </a:r>
            <a:r>
              <a:rPr lang="en-GB" dirty="0" err="1">
                <a:latin typeface="Arial" pitchFamily="34" charset="0"/>
                <a:ea typeface="ＭＳ Ｐゴシック" pitchFamily="34" charset="-128"/>
              </a:rPr>
              <a:t>busyl</a:t>
            </a:r>
            <a:r>
              <a:rPr lang="en-GB" dirty="0">
                <a:latin typeface="Arial" pitchFamily="34" charset="0"/>
                <a:ea typeface="ＭＳ Ｐゴシック" pitchFamily="34" charset="-128"/>
              </a:rPr>
              <a:t>):</a:t>
            </a:r>
          </a:p>
          <a:p>
            <a:pPr eaLnBrk="1" hangingPunct="1">
              <a:spcBef>
                <a:spcPts val="450"/>
              </a:spcBef>
              <a:buFont typeface="Arial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>
                <a:latin typeface="Arial" pitchFamily="34" charset="0"/>
                <a:ea typeface="ＭＳ Ｐゴシック" pitchFamily="34" charset="-128"/>
              </a:rPr>
              <a:t>Fi from instruction format of the </a:t>
            </a:r>
            <a:r>
              <a:rPr lang="en-GB" dirty="0" err="1">
                <a:latin typeface="Arial" pitchFamily="34" charset="0"/>
                <a:ea typeface="ＭＳ Ｐゴシック" pitchFamily="34" charset="-128"/>
              </a:rPr>
              <a:t>mahine</a:t>
            </a:r>
            <a:r>
              <a:rPr lang="en-GB" dirty="0">
                <a:latin typeface="Arial" pitchFamily="34" charset="0"/>
                <a:ea typeface="ＭＳ Ｐゴシック" pitchFamily="34" charset="-128"/>
              </a:rPr>
              <a:t> (Fi is </a:t>
            </a:r>
            <a:r>
              <a:rPr lang="en-GB" dirty="0" err="1">
                <a:latin typeface="Arial" pitchFamily="34" charset="0"/>
                <a:ea typeface="ＭＳ Ｐゴシック" pitchFamily="34" charset="-128"/>
              </a:rPr>
              <a:t>dest</a:t>
            </a:r>
            <a:r>
              <a:rPr lang="en-GB" dirty="0">
                <a:latin typeface="Arial" pitchFamily="34" charset="0"/>
                <a:ea typeface="ＭＳ Ｐゴシック" pitchFamily="34" charset="-128"/>
              </a:rPr>
              <a:t>)‏</a:t>
            </a:r>
          </a:p>
          <a:p>
            <a:pPr eaLnBrk="1" hangingPunct="1">
              <a:spcBef>
                <a:spcPts val="450"/>
              </a:spcBef>
              <a:buFont typeface="Arial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>
                <a:latin typeface="Arial" pitchFamily="34" charset="0"/>
                <a:ea typeface="ＭＳ Ｐゴシック" pitchFamily="34" charset="-128"/>
              </a:rPr>
              <a:t>Add unit can Add or Sub</a:t>
            </a:r>
          </a:p>
          <a:p>
            <a:pPr eaLnBrk="1" hangingPunct="1">
              <a:spcBef>
                <a:spcPts val="450"/>
              </a:spcBef>
              <a:buFont typeface="Arial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err="1">
                <a:latin typeface="Arial" pitchFamily="34" charset="0"/>
                <a:ea typeface="ＭＳ Ｐゴシック" pitchFamily="34" charset="-128"/>
              </a:rPr>
              <a:t>Rj</a:t>
            </a:r>
            <a:r>
              <a:rPr lang="en-GB" dirty="0">
                <a:latin typeface="Arial" pitchFamily="34" charset="0"/>
                <a:ea typeface="ＭＳ Ｐゴシック" pitchFamily="34" charset="-128"/>
              </a:rPr>
              <a:t>, </a:t>
            </a:r>
            <a:r>
              <a:rPr lang="en-GB" dirty="0" err="1">
                <a:latin typeface="Arial" pitchFamily="34" charset="0"/>
                <a:ea typeface="ＭＳ Ｐゴシック" pitchFamily="34" charset="-128"/>
              </a:rPr>
              <a:t>Rk</a:t>
            </a:r>
            <a:r>
              <a:rPr lang="en-GB" dirty="0">
                <a:latin typeface="Arial" pitchFamily="34" charset="0"/>
                <a:ea typeface="ＭＳ Ｐゴシック" pitchFamily="34" charset="-128"/>
              </a:rPr>
              <a:t> - status of registers (Yes means ready)‏</a:t>
            </a:r>
          </a:p>
          <a:p>
            <a:pPr eaLnBrk="1" hangingPunct="1">
              <a:spcBef>
                <a:spcPts val="450"/>
              </a:spcBef>
              <a:buFont typeface="Arial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err="1">
                <a:latin typeface="Arial" pitchFamily="34" charset="0"/>
                <a:ea typeface="ＭＳ Ｐゴシック" pitchFamily="34" charset="-128"/>
              </a:rPr>
              <a:t>Qj,Qk</a:t>
            </a:r>
            <a:r>
              <a:rPr lang="en-GB" dirty="0">
                <a:latin typeface="Arial" pitchFamily="34" charset="0"/>
                <a:ea typeface="ＭＳ Ｐゴシック" pitchFamily="34" charset="-128"/>
              </a:rPr>
              <a:t> - If a no in </a:t>
            </a:r>
            <a:r>
              <a:rPr lang="en-GB" dirty="0" err="1">
                <a:latin typeface="Arial" pitchFamily="34" charset="0"/>
                <a:ea typeface="ＭＳ Ｐゴシック" pitchFamily="34" charset="-128"/>
              </a:rPr>
              <a:t>Rj</a:t>
            </a:r>
            <a:r>
              <a:rPr lang="en-GB" dirty="0">
                <a:latin typeface="Arial" pitchFamily="34" charset="0"/>
                <a:ea typeface="ＭＳ Ｐゴシック" pitchFamily="34" charset="-128"/>
              </a:rPr>
              <a:t>, </a:t>
            </a:r>
            <a:r>
              <a:rPr lang="en-GB" dirty="0" err="1">
                <a:latin typeface="Arial" pitchFamily="34" charset="0"/>
                <a:ea typeface="ＭＳ Ｐゴシック" pitchFamily="34" charset="-128"/>
              </a:rPr>
              <a:t>Rk</a:t>
            </a:r>
            <a:r>
              <a:rPr lang="en-GB" dirty="0">
                <a:latin typeface="Arial" pitchFamily="34" charset="0"/>
                <a:ea typeface="ＭＳ Ｐゴシック" pitchFamily="34" charset="-128"/>
              </a:rPr>
              <a:t>, means waiting for a FU to write result; </a:t>
            </a:r>
            <a:r>
              <a:rPr lang="en-GB" dirty="0" err="1">
                <a:latin typeface="Arial" pitchFamily="34" charset="0"/>
                <a:ea typeface="ＭＳ Ｐゴシック" pitchFamily="34" charset="-128"/>
              </a:rPr>
              <a:t>Qj</a:t>
            </a:r>
            <a:r>
              <a:rPr lang="en-GB" dirty="0">
                <a:latin typeface="Arial" pitchFamily="34" charset="0"/>
                <a:ea typeface="ＭＳ Ｐゴシック" pitchFamily="34" charset="-128"/>
              </a:rPr>
              <a:t>, </a:t>
            </a:r>
            <a:r>
              <a:rPr lang="en-GB" dirty="0" err="1">
                <a:latin typeface="Arial" pitchFamily="34" charset="0"/>
                <a:ea typeface="ＭＳ Ｐゴシック" pitchFamily="34" charset="-128"/>
              </a:rPr>
              <a:t>Qk</a:t>
            </a:r>
            <a:r>
              <a:rPr lang="en-GB" dirty="0">
                <a:latin typeface="Arial" pitchFamily="34" charset="0"/>
                <a:ea typeface="ＭＳ Ｐゴシック" pitchFamily="34" charset="-128"/>
              </a:rPr>
              <a:t> means </a:t>
            </a:r>
            <a:r>
              <a:rPr lang="en-GB" dirty="0" err="1">
                <a:latin typeface="Arial" pitchFamily="34" charset="0"/>
                <a:ea typeface="ＭＳ Ｐゴシック" pitchFamily="34" charset="-128"/>
              </a:rPr>
              <a:t>wihch</a:t>
            </a:r>
            <a:r>
              <a:rPr lang="en-GB" dirty="0">
                <a:latin typeface="Arial" pitchFamily="34" charset="0"/>
                <a:ea typeface="ＭＳ Ｐゴシック" pitchFamily="34" charset="-128"/>
              </a:rPr>
              <a:t> FU waiting for it</a:t>
            </a:r>
          </a:p>
          <a:p>
            <a:pPr eaLnBrk="1" hangingPunct="1">
              <a:spcBef>
                <a:spcPts val="450"/>
              </a:spcBef>
              <a:buFont typeface="Arial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>
                <a:latin typeface="Arial" pitchFamily="34" charset="0"/>
                <a:ea typeface="ＭＳ Ｐゴシック" pitchFamily="34" charset="-128"/>
              </a:rPr>
              <a:t>3.Status of register result (WAW &amp;WAR)s:</a:t>
            </a:r>
          </a:p>
          <a:p>
            <a:pPr eaLnBrk="1" hangingPunct="1">
              <a:spcBef>
                <a:spcPts val="450"/>
              </a:spcBef>
              <a:buFont typeface="Arial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>
                <a:latin typeface="Arial" pitchFamily="34" charset="0"/>
                <a:ea typeface="ＭＳ Ｐゴシック" pitchFamily="34" charset="-128"/>
              </a:rPr>
              <a:t>which FU is going to write into registers</a:t>
            </a:r>
          </a:p>
          <a:p>
            <a:pPr eaLnBrk="1" hangingPunct="1">
              <a:spcBef>
                <a:spcPts val="450"/>
              </a:spcBef>
              <a:buFont typeface="Arial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>
                <a:latin typeface="Arial" pitchFamily="34" charset="0"/>
                <a:ea typeface="ＭＳ Ｐゴシック" pitchFamily="34" charset="-128"/>
              </a:rPr>
              <a:t>Scoreboard on 6600 = size of FU</a:t>
            </a:r>
          </a:p>
          <a:p>
            <a:pPr eaLnBrk="1" hangingPunct="1">
              <a:spcBef>
                <a:spcPts val="450"/>
              </a:spcBef>
              <a:buFont typeface="Arial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>
                <a:latin typeface="Arial" pitchFamily="34" charset="0"/>
                <a:ea typeface="ＭＳ Ｐゴシック" pitchFamily="34" charset="-128"/>
              </a:rPr>
              <a:t>6.7, 6.8, 6.9, 6.12, 6.13, 6.16, 6.17</a:t>
            </a:r>
          </a:p>
          <a:p>
            <a:pPr eaLnBrk="1" hangingPunct="1">
              <a:spcBef>
                <a:spcPts val="450"/>
              </a:spcBef>
              <a:buFont typeface="Arial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>
                <a:latin typeface="Arial" pitchFamily="34" charset="0"/>
                <a:ea typeface="ＭＳ Ｐゴシック" pitchFamily="34" charset="-128"/>
              </a:rPr>
              <a:t>FU latencies: Add 2, Mult 10, Div 40 clocks</a:t>
            </a:r>
          </a:p>
        </p:txBody>
      </p:sp>
      <p:sp>
        <p:nvSpPr>
          <p:cNvPr id="50184" name="Text Box 6"/>
          <p:cNvSpPr txBox="1">
            <a:spLocks noChangeArrowheads="1"/>
          </p:cNvSpPr>
          <p:nvPr/>
        </p:nvSpPr>
        <p:spPr bwMode="auto">
          <a:xfrm>
            <a:off x="1152525" y="703263"/>
            <a:ext cx="4554538" cy="34734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06C6E88C-0F7C-4E79-BAAE-D5382D7B9D39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51203" name="Text Box 1"/>
          <p:cNvSpPr txBox="1">
            <a:spLocks noChangeArrowheads="1"/>
          </p:cNvSpPr>
          <p:nvPr/>
        </p:nvSpPr>
        <p:spPr bwMode="auto">
          <a:xfrm>
            <a:off x="3886200" y="8831263"/>
            <a:ext cx="2971800" cy="46513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b"/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118EB63-2374-47F6-89BC-311D0EC31DC5}" type="slidenum">
              <a:rPr lang="en-GB" sz="1200">
                <a:solidFill>
                  <a:srgbClr val="000000"/>
                </a:solidFill>
              </a:rPr>
              <a:pPr algn="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14</a:t>
            </a:fld>
            <a:endParaRPr lang="en-GB" sz="1200">
              <a:solidFill>
                <a:srgbClr val="000000"/>
              </a:solidFill>
            </a:endParaRPr>
          </a:p>
        </p:txBody>
      </p:sp>
      <p:sp>
        <p:nvSpPr>
          <p:cNvPr id="51204" name="Text Box 2"/>
          <p:cNvSpPr txBox="1">
            <a:spLocks noChangeArrowheads="1"/>
          </p:cNvSpPr>
          <p:nvPr/>
        </p:nvSpPr>
        <p:spPr bwMode="auto">
          <a:xfrm>
            <a:off x="0" y="8831263"/>
            <a:ext cx="2971800" cy="46513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b"/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51205" name="Text Box 3"/>
          <p:cNvSpPr txBox="1">
            <a:spLocks noChangeArrowheads="1"/>
          </p:cNvSpPr>
          <p:nvPr/>
        </p:nvSpPr>
        <p:spPr bwMode="auto">
          <a:xfrm>
            <a:off x="0" y="0"/>
            <a:ext cx="2971800" cy="465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51206" name="Text Box 4"/>
          <p:cNvSpPr txBox="1">
            <a:spLocks noChangeArrowheads="1"/>
          </p:cNvSpPr>
          <p:nvPr/>
        </p:nvSpPr>
        <p:spPr bwMode="auto">
          <a:xfrm>
            <a:off x="3886200" y="0"/>
            <a:ext cx="2971800" cy="465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/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51207" name="Text Box 5"/>
          <p:cNvSpPr>
            <a:spLocks noGrp="1" noChangeArrowheads="1"/>
          </p:cNvSpPr>
          <p:nvPr>
            <p:ph type="body"/>
          </p:nvPr>
        </p:nvSpPr>
        <p:spPr>
          <a:xfrm>
            <a:off x="914400" y="4414838"/>
            <a:ext cx="5029200" cy="4184650"/>
          </a:xfrm>
          <a:noFill/>
          <a:ln/>
        </p:spPr>
        <p:txBody>
          <a:bodyPr lIns="90360" tIns="44280" rIns="90360" bIns="44280"/>
          <a:lstStyle/>
          <a:p>
            <a:pPr eaLnBrk="1" hangingPunct="1">
              <a:spcBef>
                <a:spcPts val="450"/>
              </a:spcBef>
              <a:buFont typeface="Arial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latin typeface="Arial" pitchFamily="34" charset="0"/>
                <a:ea typeface="ＭＳ Ｐゴシック" pitchFamily="34" charset="-128"/>
              </a:rPr>
              <a:t>Resolve RAW memory conflict? (address in memory buffers)‏</a:t>
            </a:r>
          </a:p>
          <a:p>
            <a:pPr eaLnBrk="1" hangingPunct="1">
              <a:spcBef>
                <a:spcPts val="450"/>
              </a:spcBef>
              <a:buFont typeface="Arial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latin typeface="Arial" pitchFamily="34" charset="0"/>
                <a:ea typeface="ＭＳ Ｐゴシック" pitchFamily="34" charset="-128"/>
              </a:rPr>
              <a:t>Integer unit executes in parallel</a:t>
            </a:r>
          </a:p>
        </p:txBody>
      </p:sp>
      <p:sp>
        <p:nvSpPr>
          <p:cNvPr id="51208" name="Text Box 6"/>
          <p:cNvSpPr txBox="1">
            <a:spLocks noChangeArrowheads="1"/>
          </p:cNvSpPr>
          <p:nvPr/>
        </p:nvSpPr>
        <p:spPr bwMode="auto">
          <a:xfrm>
            <a:off x="1152525" y="703263"/>
            <a:ext cx="4554538" cy="34734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D7F94350-6D11-4036-950B-870B7F04DF29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74755" name="Text Box 1"/>
          <p:cNvSpPr txBox="1">
            <a:spLocks noChangeArrowheads="1"/>
          </p:cNvSpPr>
          <p:nvPr/>
        </p:nvSpPr>
        <p:spPr bwMode="auto">
          <a:xfrm>
            <a:off x="1143000" y="696913"/>
            <a:ext cx="4572000" cy="34861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4756" name="Text Box 2"/>
          <p:cNvSpPr>
            <a:spLocks noGrp="1" noChangeArrowheads="1"/>
          </p:cNvSpPr>
          <p:nvPr>
            <p:ph type="body"/>
          </p:nvPr>
        </p:nvSpPr>
        <p:spPr>
          <a:xfrm>
            <a:off x="914400" y="4416425"/>
            <a:ext cx="5029200" cy="4183063"/>
          </a:xfrm>
          <a:noFill/>
          <a:ln/>
        </p:spPr>
        <p:txBody>
          <a:bodyPr wrap="none" anchor="ctr"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094222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07731B3D-4E49-4AA6-929E-7CD3B02AC149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75779" name="Text Box 1"/>
          <p:cNvSpPr txBox="1">
            <a:spLocks noChangeArrowheads="1"/>
          </p:cNvSpPr>
          <p:nvPr/>
        </p:nvSpPr>
        <p:spPr bwMode="auto">
          <a:xfrm>
            <a:off x="3886200" y="8831263"/>
            <a:ext cx="2971800" cy="46513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b"/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93C03F7-4F26-47EB-B09A-C6E9B80D81E3}" type="slidenum">
              <a:rPr lang="en-GB" sz="1200">
                <a:solidFill>
                  <a:srgbClr val="000000"/>
                </a:solidFill>
              </a:rPr>
              <a:pPr algn="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16</a:t>
            </a:fld>
            <a:endParaRPr lang="en-GB" sz="1200">
              <a:solidFill>
                <a:srgbClr val="000000"/>
              </a:solidFill>
            </a:endParaRPr>
          </a:p>
        </p:txBody>
      </p:sp>
      <p:sp>
        <p:nvSpPr>
          <p:cNvPr id="75780" name="Text Box 2"/>
          <p:cNvSpPr txBox="1">
            <a:spLocks noChangeArrowheads="1"/>
          </p:cNvSpPr>
          <p:nvPr/>
        </p:nvSpPr>
        <p:spPr bwMode="auto">
          <a:xfrm>
            <a:off x="0" y="8831263"/>
            <a:ext cx="2971800" cy="46513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b"/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75781" name="Text Box 3"/>
          <p:cNvSpPr txBox="1">
            <a:spLocks noChangeArrowheads="1"/>
          </p:cNvSpPr>
          <p:nvPr/>
        </p:nvSpPr>
        <p:spPr bwMode="auto">
          <a:xfrm>
            <a:off x="0" y="0"/>
            <a:ext cx="2971800" cy="465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75782" name="Text Box 4"/>
          <p:cNvSpPr txBox="1">
            <a:spLocks noChangeArrowheads="1"/>
          </p:cNvSpPr>
          <p:nvPr/>
        </p:nvSpPr>
        <p:spPr bwMode="auto">
          <a:xfrm>
            <a:off x="3886200" y="0"/>
            <a:ext cx="2971800" cy="465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/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75783" name="Text Box 5"/>
          <p:cNvSpPr>
            <a:spLocks noGrp="1" noChangeArrowheads="1"/>
          </p:cNvSpPr>
          <p:nvPr>
            <p:ph type="body"/>
          </p:nvPr>
        </p:nvSpPr>
        <p:spPr>
          <a:xfrm>
            <a:off x="914400" y="4414838"/>
            <a:ext cx="5029200" cy="4184650"/>
          </a:xfrm>
          <a:noFill/>
          <a:ln/>
        </p:spPr>
        <p:txBody>
          <a:bodyPr lIns="90360" tIns="44280" rIns="90360" bIns="44280"/>
          <a:lstStyle/>
          <a:p>
            <a:pPr eaLnBrk="1" hangingPunct="1">
              <a:spcBef>
                <a:spcPts val="450"/>
              </a:spcBef>
              <a:buFont typeface="Arial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>
              <a:latin typeface="Arial" pitchFamily="34" charset="0"/>
              <a:ea typeface="ＭＳ Ｐゴシック" pitchFamily="34" charset="-128"/>
            </a:endParaRPr>
          </a:p>
        </p:txBody>
      </p:sp>
      <p:sp>
        <p:nvSpPr>
          <p:cNvPr id="75784" name="Text Box 6"/>
          <p:cNvSpPr txBox="1">
            <a:spLocks noChangeArrowheads="1"/>
          </p:cNvSpPr>
          <p:nvPr/>
        </p:nvSpPr>
        <p:spPr bwMode="auto">
          <a:xfrm>
            <a:off x="1152525" y="703263"/>
            <a:ext cx="4554538" cy="34734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2501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BDE597B8-0B63-4D0D-A518-294835B678DB}" type="slidenum">
              <a:rPr lang="en-GB" smtClean="0"/>
              <a:pPr/>
              <a:t>17</a:t>
            </a:fld>
            <a:endParaRPr lang="en-GB"/>
          </a:p>
        </p:txBody>
      </p:sp>
      <p:sp>
        <p:nvSpPr>
          <p:cNvPr id="76803" name="Text Box 1"/>
          <p:cNvSpPr txBox="1">
            <a:spLocks noChangeArrowheads="1"/>
          </p:cNvSpPr>
          <p:nvPr/>
        </p:nvSpPr>
        <p:spPr bwMode="auto">
          <a:xfrm>
            <a:off x="3886200" y="8831263"/>
            <a:ext cx="2971800" cy="46513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b"/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58F33C7-C331-4EB8-831A-B8477D288F9B}" type="slidenum">
              <a:rPr lang="en-GB" sz="1200">
                <a:solidFill>
                  <a:srgbClr val="000000"/>
                </a:solidFill>
              </a:rPr>
              <a:pPr algn="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17</a:t>
            </a:fld>
            <a:endParaRPr lang="en-GB" sz="1200">
              <a:solidFill>
                <a:srgbClr val="000000"/>
              </a:solidFill>
            </a:endParaRPr>
          </a:p>
        </p:txBody>
      </p:sp>
      <p:sp>
        <p:nvSpPr>
          <p:cNvPr id="76804" name="Text Box 2"/>
          <p:cNvSpPr txBox="1">
            <a:spLocks noChangeArrowheads="1"/>
          </p:cNvSpPr>
          <p:nvPr/>
        </p:nvSpPr>
        <p:spPr bwMode="auto">
          <a:xfrm>
            <a:off x="0" y="8831263"/>
            <a:ext cx="2971800" cy="46513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b"/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76805" name="Text Box 3"/>
          <p:cNvSpPr txBox="1">
            <a:spLocks noChangeArrowheads="1"/>
          </p:cNvSpPr>
          <p:nvPr/>
        </p:nvSpPr>
        <p:spPr bwMode="auto">
          <a:xfrm>
            <a:off x="0" y="0"/>
            <a:ext cx="2971800" cy="465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76806" name="Text Box 4"/>
          <p:cNvSpPr txBox="1">
            <a:spLocks noChangeArrowheads="1"/>
          </p:cNvSpPr>
          <p:nvPr/>
        </p:nvSpPr>
        <p:spPr bwMode="auto">
          <a:xfrm>
            <a:off x="3886200" y="0"/>
            <a:ext cx="2971800" cy="465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/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76807" name="Text Box 5"/>
          <p:cNvSpPr>
            <a:spLocks noGrp="1" noChangeArrowheads="1"/>
          </p:cNvSpPr>
          <p:nvPr>
            <p:ph type="body"/>
          </p:nvPr>
        </p:nvSpPr>
        <p:spPr>
          <a:xfrm>
            <a:off x="914400" y="4414838"/>
            <a:ext cx="5029200" cy="4184650"/>
          </a:xfrm>
          <a:noFill/>
          <a:ln/>
        </p:spPr>
        <p:txBody>
          <a:bodyPr lIns="90360" tIns="44280" rIns="90360" bIns="44280"/>
          <a:lstStyle/>
          <a:p>
            <a:pPr eaLnBrk="1" hangingPunct="1">
              <a:spcBef>
                <a:spcPts val="450"/>
              </a:spcBef>
              <a:buFont typeface="Arial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>
              <a:latin typeface="Arial" pitchFamily="34" charset="0"/>
              <a:ea typeface="ＭＳ Ｐゴシック" pitchFamily="34" charset="-128"/>
            </a:endParaRPr>
          </a:p>
        </p:txBody>
      </p:sp>
      <p:sp>
        <p:nvSpPr>
          <p:cNvPr id="76808" name="Text Box 6"/>
          <p:cNvSpPr txBox="1">
            <a:spLocks noChangeArrowheads="1"/>
          </p:cNvSpPr>
          <p:nvPr/>
        </p:nvSpPr>
        <p:spPr bwMode="auto">
          <a:xfrm>
            <a:off x="1152525" y="703263"/>
            <a:ext cx="4554538" cy="34734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7311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DF96821-BF0F-4FF2-A200-EB90E780CEA9}" type="slidenum">
              <a:rPr lang="en-GB" smtClean="0"/>
              <a:pPr/>
              <a:t>18</a:t>
            </a:fld>
            <a:endParaRPr lang="en-GB"/>
          </a:p>
        </p:txBody>
      </p:sp>
      <p:sp>
        <p:nvSpPr>
          <p:cNvPr id="77827" name="Text Box 1"/>
          <p:cNvSpPr txBox="1">
            <a:spLocks noChangeArrowheads="1"/>
          </p:cNvSpPr>
          <p:nvPr/>
        </p:nvSpPr>
        <p:spPr bwMode="auto">
          <a:xfrm>
            <a:off x="3886200" y="8831263"/>
            <a:ext cx="2971800" cy="46513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b"/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4AA2792-2F3D-4D5D-BFF8-EDEDC6B659C7}" type="slidenum">
              <a:rPr lang="en-GB" sz="1200">
                <a:solidFill>
                  <a:srgbClr val="000000"/>
                </a:solidFill>
              </a:rPr>
              <a:pPr algn="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18</a:t>
            </a:fld>
            <a:endParaRPr lang="en-GB" sz="1200">
              <a:solidFill>
                <a:srgbClr val="000000"/>
              </a:solidFill>
            </a:endParaRPr>
          </a:p>
        </p:txBody>
      </p:sp>
      <p:sp>
        <p:nvSpPr>
          <p:cNvPr id="77828" name="Text Box 2"/>
          <p:cNvSpPr txBox="1">
            <a:spLocks noChangeArrowheads="1"/>
          </p:cNvSpPr>
          <p:nvPr/>
        </p:nvSpPr>
        <p:spPr bwMode="auto">
          <a:xfrm>
            <a:off x="0" y="8831263"/>
            <a:ext cx="2971800" cy="46513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b"/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77829" name="Text Box 3"/>
          <p:cNvSpPr txBox="1">
            <a:spLocks noChangeArrowheads="1"/>
          </p:cNvSpPr>
          <p:nvPr/>
        </p:nvSpPr>
        <p:spPr bwMode="auto">
          <a:xfrm>
            <a:off x="0" y="0"/>
            <a:ext cx="2971800" cy="465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77830" name="Text Box 4"/>
          <p:cNvSpPr txBox="1">
            <a:spLocks noChangeArrowheads="1"/>
          </p:cNvSpPr>
          <p:nvPr/>
        </p:nvSpPr>
        <p:spPr bwMode="auto">
          <a:xfrm>
            <a:off x="3886200" y="0"/>
            <a:ext cx="2971800" cy="465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/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77831" name="Text Box 5"/>
          <p:cNvSpPr>
            <a:spLocks noGrp="1" noChangeArrowheads="1"/>
          </p:cNvSpPr>
          <p:nvPr>
            <p:ph type="body"/>
          </p:nvPr>
        </p:nvSpPr>
        <p:spPr>
          <a:xfrm>
            <a:off x="914400" y="4414838"/>
            <a:ext cx="5029200" cy="4184650"/>
          </a:xfrm>
          <a:noFill/>
          <a:ln/>
        </p:spPr>
        <p:txBody>
          <a:bodyPr lIns="90360" tIns="44280" rIns="90360" bIns="44280"/>
          <a:lstStyle/>
          <a:p>
            <a:pPr eaLnBrk="1" hangingPunct="1">
              <a:spcBef>
                <a:spcPts val="450"/>
              </a:spcBef>
              <a:buFont typeface="Arial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>
              <a:latin typeface="Arial" pitchFamily="34" charset="0"/>
              <a:ea typeface="ＭＳ Ｐゴシック" pitchFamily="34" charset="-128"/>
            </a:endParaRPr>
          </a:p>
        </p:txBody>
      </p:sp>
      <p:sp>
        <p:nvSpPr>
          <p:cNvPr id="77832" name="Text Box 6"/>
          <p:cNvSpPr txBox="1">
            <a:spLocks noChangeArrowheads="1"/>
          </p:cNvSpPr>
          <p:nvPr/>
        </p:nvSpPr>
        <p:spPr bwMode="auto">
          <a:xfrm>
            <a:off x="1152525" y="703263"/>
            <a:ext cx="4554538" cy="34734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0894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A078232B-8FB9-47EA-866C-482C398922D3}" type="slidenum">
              <a:rPr lang="en-GB" smtClean="0"/>
              <a:pPr/>
              <a:t>19</a:t>
            </a:fld>
            <a:endParaRPr lang="en-GB"/>
          </a:p>
        </p:txBody>
      </p:sp>
      <p:sp>
        <p:nvSpPr>
          <p:cNvPr id="78851" name="Text Box 1"/>
          <p:cNvSpPr txBox="1">
            <a:spLocks noChangeArrowheads="1"/>
          </p:cNvSpPr>
          <p:nvPr/>
        </p:nvSpPr>
        <p:spPr bwMode="auto">
          <a:xfrm>
            <a:off x="3886200" y="8831263"/>
            <a:ext cx="2971800" cy="46513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b"/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72B102D-0BC1-4411-BA1A-8E71871654E2}" type="slidenum">
              <a:rPr lang="en-GB" sz="1200">
                <a:solidFill>
                  <a:srgbClr val="000000"/>
                </a:solidFill>
              </a:rPr>
              <a:pPr algn="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19</a:t>
            </a:fld>
            <a:endParaRPr lang="en-GB" sz="1200">
              <a:solidFill>
                <a:srgbClr val="000000"/>
              </a:solidFill>
            </a:endParaRPr>
          </a:p>
        </p:txBody>
      </p:sp>
      <p:sp>
        <p:nvSpPr>
          <p:cNvPr id="78852" name="Text Box 2"/>
          <p:cNvSpPr txBox="1">
            <a:spLocks noChangeArrowheads="1"/>
          </p:cNvSpPr>
          <p:nvPr/>
        </p:nvSpPr>
        <p:spPr bwMode="auto">
          <a:xfrm>
            <a:off x="0" y="8831263"/>
            <a:ext cx="2971800" cy="46513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b"/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78853" name="Text Box 3"/>
          <p:cNvSpPr txBox="1">
            <a:spLocks noChangeArrowheads="1"/>
          </p:cNvSpPr>
          <p:nvPr/>
        </p:nvSpPr>
        <p:spPr bwMode="auto">
          <a:xfrm>
            <a:off x="0" y="0"/>
            <a:ext cx="2971800" cy="465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78854" name="Text Box 4"/>
          <p:cNvSpPr txBox="1">
            <a:spLocks noChangeArrowheads="1"/>
          </p:cNvSpPr>
          <p:nvPr/>
        </p:nvSpPr>
        <p:spPr bwMode="auto">
          <a:xfrm>
            <a:off x="3886200" y="0"/>
            <a:ext cx="2971800" cy="465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/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78855" name="Text Box 5"/>
          <p:cNvSpPr>
            <a:spLocks noGrp="1" noChangeArrowheads="1"/>
          </p:cNvSpPr>
          <p:nvPr>
            <p:ph type="body"/>
          </p:nvPr>
        </p:nvSpPr>
        <p:spPr>
          <a:xfrm>
            <a:off x="914400" y="4414838"/>
            <a:ext cx="5029200" cy="4184650"/>
          </a:xfrm>
          <a:noFill/>
          <a:ln/>
        </p:spPr>
        <p:txBody>
          <a:bodyPr lIns="90360" tIns="44280" rIns="90360" bIns="44280"/>
          <a:lstStyle/>
          <a:p>
            <a:pPr eaLnBrk="1" hangingPunct="1">
              <a:spcBef>
                <a:spcPts val="450"/>
              </a:spcBef>
              <a:buFont typeface="Arial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>
              <a:latin typeface="Arial" pitchFamily="34" charset="0"/>
              <a:ea typeface="ＭＳ Ｐゴシック" pitchFamily="34" charset="-128"/>
            </a:endParaRPr>
          </a:p>
        </p:txBody>
      </p:sp>
      <p:sp>
        <p:nvSpPr>
          <p:cNvPr id="78856" name="Text Box 6"/>
          <p:cNvSpPr txBox="1">
            <a:spLocks noChangeArrowheads="1"/>
          </p:cNvSpPr>
          <p:nvPr/>
        </p:nvSpPr>
        <p:spPr bwMode="auto">
          <a:xfrm>
            <a:off x="1152525" y="703263"/>
            <a:ext cx="4554538" cy="34734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5190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54853DEA-C7BF-4CA1-ABD9-99399979DA89}" type="slidenum">
              <a:rPr lang="en-GB" smtClean="0"/>
              <a:pPr/>
              <a:t>20</a:t>
            </a:fld>
            <a:endParaRPr lang="en-GB"/>
          </a:p>
        </p:txBody>
      </p:sp>
      <p:sp>
        <p:nvSpPr>
          <p:cNvPr id="79875" name="Text Box 1"/>
          <p:cNvSpPr txBox="1">
            <a:spLocks noChangeArrowheads="1"/>
          </p:cNvSpPr>
          <p:nvPr/>
        </p:nvSpPr>
        <p:spPr bwMode="auto">
          <a:xfrm>
            <a:off x="3886200" y="8831263"/>
            <a:ext cx="2971800" cy="46513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b"/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CC69F90-99A5-4D76-874E-FA1C3F10D63E}" type="slidenum">
              <a:rPr lang="en-GB" sz="1200">
                <a:solidFill>
                  <a:srgbClr val="000000"/>
                </a:solidFill>
              </a:rPr>
              <a:pPr algn="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20</a:t>
            </a:fld>
            <a:endParaRPr lang="en-GB" sz="1200">
              <a:solidFill>
                <a:srgbClr val="000000"/>
              </a:solidFill>
            </a:endParaRPr>
          </a:p>
        </p:txBody>
      </p:sp>
      <p:sp>
        <p:nvSpPr>
          <p:cNvPr id="79876" name="Text Box 2"/>
          <p:cNvSpPr txBox="1">
            <a:spLocks noChangeArrowheads="1"/>
          </p:cNvSpPr>
          <p:nvPr/>
        </p:nvSpPr>
        <p:spPr bwMode="auto">
          <a:xfrm>
            <a:off x="0" y="8831263"/>
            <a:ext cx="2971800" cy="46513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b"/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79877" name="Text Box 3"/>
          <p:cNvSpPr txBox="1">
            <a:spLocks noChangeArrowheads="1"/>
          </p:cNvSpPr>
          <p:nvPr/>
        </p:nvSpPr>
        <p:spPr bwMode="auto">
          <a:xfrm>
            <a:off x="0" y="0"/>
            <a:ext cx="2971800" cy="465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79878" name="Text Box 4"/>
          <p:cNvSpPr txBox="1">
            <a:spLocks noChangeArrowheads="1"/>
          </p:cNvSpPr>
          <p:nvPr/>
        </p:nvSpPr>
        <p:spPr bwMode="auto">
          <a:xfrm>
            <a:off x="3886200" y="0"/>
            <a:ext cx="2971800" cy="465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/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79879" name="Text Box 5"/>
          <p:cNvSpPr>
            <a:spLocks noGrp="1" noChangeArrowheads="1"/>
          </p:cNvSpPr>
          <p:nvPr>
            <p:ph type="body"/>
          </p:nvPr>
        </p:nvSpPr>
        <p:spPr>
          <a:xfrm>
            <a:off x="914400" y="4414838"/>
            <a:ext cx="5029200" cy="4184650"/>
          </a:xfrm>
          <a:noFill/>
          <a:ln/>
        </p:spPr>
        <p:txBody>
          <a:bodyPr lIns="90360" tIns="44280" rIns="90360" bIns="44280"/>
          <a:lstStyle/>
          <a:p>
            <a:pPr eaLnBrk="1" hangingPunct="1">
              <a:spcBef>
                <a:spcPts val="450"/>
              </a:spcBef>
              <a:buFont typeface="Arial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>
              <a:latin typeface="Arial" pitchFamily="34" charset="0"/>
              <a:ea typeface="ＭＳ Ｐゴシック" pitchFamily="34" charset="-128"/>
            </a:endParaRPr>
          </a:p>
        </p:txBody>
      </p:sp>
      <p:sp>
        <p:nvSpPr>
          <p:cNvPr id="79880" name="Text Box 6"/>
          <p:cNvSpPr txBox="1">
            <a:spLocks noChangeArrowheads="1"/>
          </p:cNvSpPr>
          <p:nvPr/>
        </p:nvSpPr>
        <p:spPr bwMode="auto">
          <a:xfrm>
            <a:off x="1152525" y="703263"/>
            <a:ext cx="4554538" cy="34734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6552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011C263D-3F55-47E6-8DDF-B79BA89EC0B1}" type="slidenum">
              <a:rPr lang="en-GB" smtClean="0"/>
              <a:pPr/>
              <a:t>21</a:t>
            </a:fld>
            <a:endParaRPr lang="en-GB"/>
          </a:p>
        </p:txBody>
      </p:sp>
      <p:sp>
        <p:nvSpPr>
          <p:cNvPr id="80899" name="Text Box 1"/>
          <p:cNvSpPr txBox="1">
            <a:spLocks noChangeArrowheads="1"/>
          </p:cNvSpPr>
          <p:nvPr/>
        </p:nvSpPr>
        <p:spPr bwMode="auto">
          <a:xfrm>
            <a:off x="3886200" y="8831263"/>
            <a:ext cx="2971800" cy="46513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b"/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F23BE06-BE0A-4E22-BA37-4E906F832166}" type="slidenum">
              <a:rPr lang="en-GB" sz="1200">
                <a:solidFill>
                  <a:srgbClr val="000000"/>
                </a:solidFill>
              </a:rPr>
              <a:pPr algn="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21</a:t>
            </a:fld>
            <a:endParaRPr lang="en-GB" sz="1200">
              <a:solidFill>
                <a:srgbClr val="000000"/>
              </a:solidFill>
            </a:endParaRPr>
          </a:p>
        </p:txBody>
      </p:sp>
      <p:sp>
        <p:nvSpPr>
          <p:cNvPr id="80900" name="Text Box 2"/>
          <p:cNvSpPr txBox="1">
            <a:spLocks noChangeArrowheads="1"/>
          </p:cNvSpPr>
          <p:nvPr/>
        </p:nvSpPr>
        <p:spPr bwMode="auto">
          <a:xfrm>
            <a:off x="0" y="8831263"/>
            <a:ext cx="2971800" cy="46513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b"/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80901" name="Text Box 3"/>
          <p:cNvSpPr txBox="1">
            <a:spLocks noChangeArrowheads="1"/>
          </p:cNvSpPr>
          <p:nvPr/>
        </p:nvSpPr>
        <p:spPr bwMode="auto">
          <a:xfrm>
            <a:off x="0" y="0"/>
            <a:ext cx="2971800" cy="465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80902" name="Text Box 4"/>
          <p:cNvSpPr txBox="1">
            <a:spLocks noChangeArrowheads="1"/>
          </p:cNvSpPr>
          <p:nvPr/>
        </p:nvSpPr>
        <p:spPr bwMode="auto">
          <a:xfrm>
            <a:off x="3886200" y="0"/>
            <a:ext cx="2971800" cy="465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/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80903" name="Text Box 5"/>
          <p:cNvSpPr>
            <a:spLocks noGrp="1" noChangeArrowheads="1"/>
          </p:cNvSpPr>
          <p:nvPr>
            <p:ph type="body"/>
          </p:nvPr>
        </p:nvSpPr>
        <p:spPr>
          <a:xfrm>
            <a:off x="914400" y="4414838"/>
            <a:ext cx="5029200" cy="4184650"/>
          </a:xfrm>
          <a:noFill/>
          <a:ln/>
        </p:spPr>
        <p:txBody>
          <a:bodyPr lIns="90360" tIns="44280" rIns="90360" bIns="44280"/>
          <a:lstStyle/>
          <a:p>
            <a:pPr eaLnBrk="1" hangingPunct="1">
              <a:spcBef>
                <a:spcPts val="450"/>
              </a:spcBef>
              <a:buFont typeface="Arial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>
              <a:latin typeface="Arial" pitchFamily="34" charset="0"/>
              <a:ea typeface="ＭＳ Ｐゴシック" pitchFamily="34" charset="-128"/>
            </a:endParaRPr>
          </a:p>
        </p:txBody>
      </p:sp>
      <p:sp>
        <p:nvSpPr>
          <p:cNvPr id="80904" name="Text Box 6"/>
          <p:cNvSpPr txBox="1">
            <a:spLocks noChangeArrowheads="1"/>
          </p:cNvSpPr>
          <p:nvPr/>
        </p:nvSpPr>
        <p:spPr bwMode="auto">
          <a:xfrm>
            <a:off x="1152525" y="703263"/>
            <a:ext cx="4554538" cy="34734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9535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A8F78A27-D301-45EF-9C49-80EC47D66C32}" type="slidenum">
              <a:rPr lang="en-GB" smtClean="0"/>
              <a:pPr/>
              <a:t>23</a:t>
            </a:fld>
            <a:endParaRPr lang="en-GB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4900" y="696913"/>
            <a:ext cx="4648200" cy="3486150"/>
          </a:xfrm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416425"/>
            <a:ext cx="5029200" cy="418306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6EAD903D-4627-49DB-BFCD-6E8479820195}" type="slidenum">
              <a:rPr lang="en-GB" smtClean="0"/>
              <a:pPr/>
              <a:t>24</a:t>
            </a:fld>
            <a:endParaRPr lang="en-GB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4900" y="696913"/>
            <a:ext cx="4648200" cy="3486150"/>
          </a:xfrm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416425"/>
            <a:ext cx="5029200" cy="418306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913190AA-DE8C-4CF2-B75A-ABF9F16DA3FF}" type="slidenum">
              <a:rPr lang="en-GB" smtClean="0"/>
              <a:pPr/>
              <a:t>25</a:t>
            </a:fld>
            <a:endParaRPr lang="en-GB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4900" y="696913"/>
            <a:ext cx="4648200" cy="3486150"/>
          </a:xfrm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416425"/>
            <a:ext cx="5029200" cy="418306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0FC7C2F8-40BB-43E5-9009-09F4D764DBB3}" type="slidenum">
              <a:rPr lang="en-GB" smtClean="0"/>
              <a:pPr/>
              <a:t>26</a:t>
            </a:fld>
            <a:endParaRPr lang="en-GB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4900" y="696913"/>
            <a:ext cx="4648200" cy="3486150"/>
          </a:xfrm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416425"/>
            <a:ext cx="5029200" cy="418306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102F0417-F600-4C4A-AB3E-E4A095D6F982}" type="slidenum">
              <a:rPr lang="en-GB" smtClean="0"/>
              <a:pPr/>
              <a:t>27</a:t>
            </a:fld>
            <a:endParaRPr lang="en-GB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4900" y="696913"/>
            <a:ext cx="4648200" cy="3486150"/>
          </a:xfrm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416425"/>
            <a:ext cx="5029200" cy="418306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688869F6-A4B5-4178-BBF4-9F1A1797049B}" type="slidenum">
              <a:rPr lang="en-GB" smtClean="0"/>
              <a:pPr/>
              <a:t>28</a:t>
            </a:fld>
            <a:endParaRPr lang="en-GB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4900" y="696913"/>
            <a:ext cx="4648200" cy="3486150"/>
          </a:xfrm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416425"/>
            <a:ext cx="5029200" cy="418306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ED3457E6-2F82-40CA-90C4-708BF33886CD}" type="slidenum">
              <a:rPr lang="en-GB" smtClean="0"/>
              <a:pPr/>
              <a:t>29</a:t>
            </a:fld>
            <a:endParaRPr lang="en-GB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4900" y="696913"/>
            <a:ext cx="4648200" cy="3486150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416425"/>
            <a:ext cx="5029200" cy="418306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58DE9FCE-E1ED-4AC5-9205-710BBC1CA24E}" type="slidenum">
              <a:rPr lang="en-GB" smtClean="0"/>
              <a:pPr/>
              <a:t>30</a:t>
            </a:fld>
            <a:endParaRPr lang="en-GB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4900" y="696913"/>
            <a:ext cx="4648200" cy="3486150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416425"/>
            <a:ext cx="5029200" cy="418306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A14E1F5-16CF-479C-B286-4881F30FAB80}" type="slidenum">
              <a:rPr lang="en-GB" smtClean="0"/>
              <a:pPr/>
              <a:t>31</a:t>
            </a:fld>
            <a:endParaRPr lang="en-GB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4900" y="696913"/>
            <a:ext cx="4648200" cy="3486150"/>
          </a:xfrm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416425"/>
            <a:ext cx="5029200" cy="418306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1270FBF3-98D1-4615-B6AF-B5E843277844}" type="slidenum">
              <a:rPr lang="en-GB" smtClean="0"/>
              <a:pPr/>
              <a:t>32</a:t>
            </a:fld>
            <a:endParaRPr lang="en-GB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4900" y="696913"/>
            <a:ext cx="4648200" cy="3486150"/>
          </a:xfrm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416425"/>
            <a:ext cx="5029200" cy="418306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CFFDEAB6-644C-40C1-8688-7F7CBCF60620}" type="slidenum">
              <a:rPr lang="en-GB" smtClean="0"/>
              <a:pPr/>
              <a:t>33</a:t>
            </a:fld>
            <a:endParaRPr lang="en-GB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4900" y="696913"/>
            <a:ext cx="4648200" cy="3486150"/>
          </a:xfrm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416425"/>
            <a:ext cx="5029200" cy="418306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9630A215-F9FB-443A-8C0C-C5EDC272F4BC}" type="slidenum">
              <a:rPr lang="en-GB" smtClean="0"/>
              <a:pPr/>
              <a:t>34</a:t>
            </a:fld>
            <a:endParaRPr lang="en-GB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4900" y="696913"/>
            <a:ext cx="4648200" cy="3486150"/>
          </a:xfrm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416425"/>
            <a:ext cx="5029200" cy="418306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0DCE325B-FC36-4533-BE9E-5E272C704DA3}" type="slidenum">
              <a:rPr lang="en-GB" smtClean="0"/>
              <a:pPr/>
              <a:t>35</a:t>
            </a:fld>
            <a:endParaRPr lang="en-GB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4900" y="696913"/>
            <a:ext cx="4648200" cy="3486150"/>
          </a:xfrm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416425"/>
            <a:ext cx="5029200" cy="418306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C31178ED-65D8-4566-831B-FCE6C09DC3E0}" type="slidenum">
              <a:rPr lang="en-GB" smtClean="0"/>
              <a:pPr/>
              <a:t>36</a:t>
            </a:fld>
            <a:endParaRPr lang="en-GB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4900" y="696913"/>
            <a:ext cx="4648200" cy="3486150"/>
          </a:xfrm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416425"/>
            <a:ext cx="5029200" cy="418306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0907A53-E045-4170-8779-22265367ABFA}" type="slidenum">
              <a:rPr lang="en-GB" smtClean="0"/>
              <a:pPr/>
              <a:t>37</a:t>
            </a:fld>
            <a:endParaRPr lang="en-GB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4900" y="696913"/>
            <a:ext cx="4648200" cy="3486150"/>
          </a:xfrm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416425"/>
            <a:ext cx="5029200" cy="418306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C0AA934A-F7B6-4237-B4B0-0C4A98445514}" type="slidenum">
              <a:rPr lang="en-GB" smtClean="0"/>
              <a:pPr/>
              <a:t>38</a:t>
            </a:fld>
            <a:endParaRPr lang="en-GB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4900" y="696913"/>
            <a:ext cx="4648200" cy="3486150"/>
          </a:xfrm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416425"/>
            <a:ext cx="5029200" cy="418306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A9297ABF-BCA0-4F2E-A540-C3DE34D321F7}" type="slidenum">
              <a:rPr lang="en-GB" smtClean="0"/>
              <a:pPr/>
              <a:t>39</a:t>
            </a:fld>
            <a:endParaRPr lang="en-GB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4900" y="696913"/>
            <a:ext cx="4648200" cy="3486150"/>
          </a:xfrm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416425"/>
            <a:ext cx="5029200" cy="418306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FD5B3C4D-FEF0-4987-B060-5FC40DE96F67}" type="slidenum">
              <a:rPr lang="en-GB" smtClean="0"/>
              <a:pPr/>
              <a:t>40</a:t>
            </a:fld>
            <a:endParaRPr lang="en-GB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4900" y="696913"/>
            <a:ext cx="4648200" cy="3486150"/>
          </a:xfrm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416425"/>
            <a:ext cx="5029200" cy="418306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51D9A20B-F71D-4212-8174-4E6638894263}" type="slidenum">
              <a:rPr lang="en-GB" smtClean="0"/>
              <a:pPr/>
              <a:t>41</a:t>
            </a:fld>
            <a:endParaRPr lang="en-GB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4900" y="696913"/>
            <a:ext cx="4648200" cy="3486150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416425"/>
            <a:ext cx="5029200" cy="418306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3F5AA019-DC65-41A7-A140-8FB0187B931D}" type="slidenum">
              <a:rPr lang="en-GB" smtClean="0"/>
              <a:pPr/>
              <a:t>42</a:t>
            </a:fld>
            <a:endParaRPr lang="en-GB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4900" y="696913"/>
            <a:ext cx="4648200" cy="3486150"/>
          </a:xfrm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416425"/>
            <a:ext cx="5029200" cy="418306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25C7111D-E03E-4966-B23B-11876C5CCB8F}" type="slidenum">
              <a:rPr lang="en-GB" smtClean="0"/>
              <a:pPr/>
              <a:t>43</a:t>
            </a:fld>
            <a:endParaRPr lang="en-GB"/>
          </a:p>
        </p:txBody>
      </p:sp>
      <p:sp>
        <p:nvSpPr>
          <p:cNvPr id="72707" name="Text Box 1"/>
          <p:cNvSpPr txBox="1">
            <a:spLocks noChangeArrowheads="1"/>
          </p:cNvSpPr>
          <p:nvPr/>
        </p:nvSpPr>
        <p:spPr bwMode="auto">
          <a:xfrm>
            <a:off x="1143000" y="696913"/>
            <a:ext cx="4572000" cy="34861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708" name="Text Box 2"/>
          <p:cNvSpPr>
            <a:spLocks noGrp="1" noChangeArrowheads="1"/>
          </p:cNvSpPr>
          <p:nvPr>
            <p:ph type="body"/>
          </p:nvPr>
        </p:nvSpPr>
        <p:spPr>
          <a:xfrm>
            <a:off x="914400" y="4416425"/>
            <a:ext cx="5029200" cy="4183063"/>
          </a:xfrm>
          <a:noFill/>
          <a:ln/>
        </p:spPr>
        <p:txBody>
          <a:bodyPr wrap="none" anchor="ctr"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CA"/>
              <a:t>Click to edit Master subtitle style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Oct. 8, 2008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EECE 476 - Slide Set #7</a:t>
            </a: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5DD64E-7542-448D-BE93-536256B6D2BC}" type="slidenum">
              <a:rPr lang="en-GB"/>
              <a:pPr>
                <a:defRPr/>
              </a:pPr>
              <a:t>‹#›</a:t>
            </a:fld>
            <a:r>
              <a:rPr lang="en-GB"/>
              <a:t> 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Oct. 8, 2008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EECE 476 - Slide Set #7</a:t>
            </a: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FB2395-968E-4763-A4FB-083BEBBAE4BC}" type="slidenum">
              <a:rPr lang="en-GB"/>
              <a:pPr>
                <a:defRPr/>
              </a:pPr>
              <a:t>‹#›</a:t>
            </a:fld>
            <a:r>
              <a:rPr lang="en-GB"/>
              <a:t>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Oct. 8, 2008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EECE 476 - Slide Set #7</a:t>
            </a: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91FCCD-9412-45FD-9A00-53C454A9E1D5}" type="slidenum">
              <a:rPr lang="en-GB"/>
              <a:pPr>
                <a:defRPr/>
              </a:pPr>
              <a:t>‹#›</a:t>
            </a:fld>
            <a:r>
              <a:rPr lang="en-GB"/>
              <a:t> 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371600"/>
            <a:ext cx="3808413" cy="47228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371600"/>
            <a:ext cx="3810000" cy="47228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Oct. 8, 2008</a:t>
            </a: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EECE 476 - Slide Set #7</a:t>
            </a:r>
            <a:endParaRPr lang="en-GB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A2A789-C2C9-493D-8149-F03C7337CAF6}" type="slidenum">
              <a:rPr lang="en-GB"/>
              <a:pPr>
                <a:defRPr/>
              </a:pPr>
              <a:t>‹#›</a:t>
            </a:fld>
            <a:r>
              <a:rPr lang="en-GB"/>
              <a:t> 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Oct. 8, 2008</a:t>
            </a:r>
            <a:endParaRPr lang="en-GB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EECE 476 - Slide Set #7</a:t>
            </a:r>
            <a:endParaRPr lang="en-GB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71E191-B85C-47A1-9CF1-A70BE521C518}" type="slidenum">
              <a:rPr lang="en-GB"/>
              <a:pPr>
                <a:defRPr/>
              </a:pPr>
              <a:t>‹#›</a:t>
            </a:fld>
            <a:r>
              <a:rPr lang="en-GB"/>
              <a:t> 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Oct. 8, 2008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EECE 476 - Slide Set #7</a:t>
            </a: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180B79-1C05-4D80-8A52-50282EB7E387}" type="slidenum">
              <a:rPr lang="en-GB"/>
              <a:pPr>
                <a:defRPr/>
              </a:pPr>
              <a:t>‹#›</a:t>
            </a:fld>
            <a:r>
              <a:rPr lang="en-GB"/>
              <a:t> 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Oct. 8, 2008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EECE 476 - Slide Set #7</a:t>
            </a: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BD3AF0-013C-452C-8A5E-FEF9E86BF677}" type="slidenum">
              <a:rPr lang="en-GB"/>
              <a:pPr>
                <a:defRPr/>
              </a:pPr>
              <a:t>‹#›</a:t>
            </a:fld>
            <a:r>
              <a:rPr lang="en-GB"/>
              <a:t> 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Oct. 8, 2008</a:t>
            </a: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EECE 476 - Slide Set #7</a:t>
            </a:r>
            <a:endParaRPr lang="en-GB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10FEAF-9636-4F55-B2E3-3BD8020A298A}" type="slidenum">
              <a:rPr lang="en-GB"/>
              <a:pPr>
                <a:defRPr/>
              </a:pPr>
              <a:t>‹#›</a:t>
            </a:fld>
            <a:r>
              <a:rPr lang="en-GB"/>
              <a:t> 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Oct. 8, 2008</a:t>
            </a: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EECE 476 - Slide Set #7</a:t>
            </a:r>
            <a:endParaRPr lang="en-GB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CC733D-905B-49B0-BCF3-0866BCD7C409}" type="slidenum">
              <a:rPr lang="en-GB"/>
              <a:pPr>
                <a:defRPr/>
              </a:pPr>
              <a:t>‹#›</a:t>
            </a:fld>
            <a:r>
              <a:rPr lang="en-GB"/>
              <a:t> 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Oct. 8, 2008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EECE 476 - Slide Set #7</a:t>
            </a: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7CB809-58AB-4055-8570-5FD4C2D53696}" type="slidenum">
              <a:rPr lang="en-GB"/>
              <a:pPr>
                <a:defRPr/>
              </a:pPr>
              <a:t>‹#›</a:t>
            </a:fld>
            <a:r>
              <a:rPr lang="en-GB"/>
              <a:t> 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-85725"/>
            <a:ext cx="1941513" cy="6180138"/>
          </a:xfrm>
        </p:spPr>
        <p:txBody>
          <a:bodyPr vert="eaVert"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-85725"/>
            <a:ext cx="5676900" cy="6180138"/>
          </a:xfrm>
        </p:spPr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Oct. 8, 2008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EECE 476 - Slide Set #7</a:t>
            </a: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742CD1-53C3-40C0-8C3B-6674134A4D09}" type="slidenum">
              <a:rPr lang="en-GB"/>
              <a:pPr>
                <a:defRPr/>
              </a:pPr>
              <a:t>‹#›</a:t>
            </a:fld>
            <a:r>
              <a:rPr lang="en-GB"/>
              <a:t> 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85725"/>
            <a:ext cx="7770813" cy="1311275"/>
          </a:xfrm>
        </p:spPr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371600"/>
            <a:ext cx="7770813" cy="2284413"/>
          </a:xfrm>
        </p:spPr>
        <p:txBody>
          <a:bodyPr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808413"/>
            <a:ext cx="7770813" cy="2286000"/>
          </a:xfrm>
        </p:spPr>
        <p:txBody>
          <a:bodyPr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Oct. 8, 2008</a:t>
            </a: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EECE 476 - Slide Set #7</a:t>
            </a:r>
            <a:endParaRPr lang="en-GB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8AF381-26EE-4F40-A1F2-7F3925D90EC5}" type="slidenum">
              <a:rPr lang="en-GB"/>
              <a:pPr>
                <a:defRPr/>
              </a:pPr>
              <a:t>‹#›</a:t>
            </a:fld>
            <a:r>
              <a:rPr lang="en-GB"/>
              <a:t> 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-85725"/>
            <a:ext cx="7770813" cy="13112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371600"/>
            <a:ext cx="7770813" cy="47228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685800" y="6248400"/>
            <a:ext cx="1903413" cy="5540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 typeface="Comic Sans MS" pitchFamily="66" charset="0"/>
              <a:buNone/>
              <a:defRPr sz="1400">
                <a:solidFill>
                  <a:srgbClr val="000000"/>
                </a:solidFill>
                <a:latin typeface="Arial  " charset="0"/>
              </a:defRPr>
            </a:lvl1pPr>
          </a:lstStyle>
          <a:p>
            <a:pPr>
              <a:defRPr/>
            </a:pPr>
            <a:r>
              <a:rPr lang="en-US"/>
              <a:t>Oct. 8, 2008</a:t>
            </a:r>
            <a:endParaRPr lang="en-GB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2730500" y="6248400"/>
            <a:ext cx="3694113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buFont typeface="Comic Sans MS" pitchFamily="66" charset="0"/>
              <a:buNone/>
              <a:defRPr sz="1400">
                <a:solidFill>
                  <a:srgbClr val="000000"/>
                </a:solidFill>
                <a:latin typeface="Arial  " charset="0"/>
              </a:defRPr>
            </a:lvl1pPr>
          </a:lstStyle>
          <a:p>
            <a:pPr>
              <a:defRPr/>
            </a:pPr>
            <a:r>
              <a:rPr lang="en-US"/>
              <a:t>EECE 476 - Slide Set #7</a:t>
            </a: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8400"/>
            <a:ext cx="1903413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 typeface="Comic Sans MS" pitchFamily="66" charset="0"/>
              <a:buNone/>
              <a:defRPr sz="1400">
                <a:solidFill>
                  <a:srgbClr val="000000"/>
                </a:solidFill>
                <a:latin typeface="Arial  " charset="0"/>
              </a:defRPr>
            </a:lvl1pPr>
          </a:lstStyle>
          <a:p>
            <a:pPr>
              <a:defRPr/>
            </a:pPr>
            <a:fld id="{1AB7D1AE-E34E-4496-9AEB-3ECE1ADBEFAA}" type="slidenum">
              <a:rPr lang="en-GB"/>
              <a:pPr>
                <a:defRPr/>
              </a:pPr>
              <a:t>‹#›</a:t>
            </a:fld>
            <a:r>
              <a:rPr lang="en-GB"/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449263" rtl="0" eaLnBrk="0" fontAlgn="base" hangingPunct="0">
        <a:lnSpc>
          <a:spcPct val="116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Comic Sans MS" pitchFamily="66" charset="0"/>
        <a:defRPr sz="4000">
          <a:solidFill>
            <a:srgbClr val="000000"/>
          </a:solidFill>
          <a:latin typeface="Arial  "/>
          <a:ea typeface="+mj-ea"/>
          <a:cs typeface="Arial  "/>
        </a:defRPr>
      </a:lvl1pPr>
      <a:lvl2pPr algn="ctr" defTabSz="449263" rtl="0" eaLnBrk="0" fontAlgn="base" hangingPunct="0">
        <a:lnSpc>
          <a:spcPct val="116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Comic Sans MS" pitchFamily="66" charset="0"/>
        <a:defRPr sz="4000">
          <a:solidFill>
            <a:srgbClr val="000000"/>
          </a:solidFill>
          <a:latin typeface="Arial  " charset="0"/>
          <a:ea typeface="ＭＳ Ｐゴシック" pitchFamily="-106" charset="-128"/>
          <a:cs typeface="Arial  " charset="0"/>
        </a:defRPr>
      </a:lvl2pPr>
      <a:lvl3pPr algn="ctr" defTabSz="449263" rtl="0" eaLnBrk="0" fontAlgn="base" hangingPunct="0">
        <a:lnSpc>
          <a:spcPct val="116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Comic Sans MS" pitchFamily="66" charset="0"/>
        <a:defRPr sz="4000">
          <a:solidFill>
            <a:srgbClr val="000000"/>
          </a:solidFill>
          <a:latin typeface="Arial  " charset="0"/>
          <a:ea typeface="ＭＳ Ｐゴシック" pitchFamily="-106" charset="-128"/>
          <a:cs typeface="Arial  " charset="0"/>
        </a:defRPr>
      </a:lvl3pPr>
      <a:lvl4pPr algn="ctr" defTabSz="449263" rtl="0" eaLnBrk="0" fontAlgn="base" hangingPunct="0">
        <a:lnSpc>
          <a:spcPct val="116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Comic Sans MS" pitchFamily="66" charset="0"/>
        <a:defRPr sz="4000">
          <a:solidFill>
            <a:srgbClr val="000000"/>
          </a:solidFill>
          <a:latin typeface="Arial  " charset="0"/>
          <a:ea typeface="ＭＳ Ｐゴシック" pitchFamily="-106" charset="-128"/>
          <a:cs typeface="Arial  " charset="0"/>
        </a:defRPr>
      </a:lvl4pPr>
      <a:lvl5pPr algn="ctr" defTabSz="449263" rtl="0" eaLnBrk="0" fontAlgn="base" hangingPunct="0">
        <a:lnSpc>
          <a:spcPct val="116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Comic Sans MS" pitchFamily="66" charset="0"/>
        <a:defRPr sz="4000">
          <a:solidFill>
            <a:srgbClr val="000000"/>
          </a:solidFill>
          <a:latin typeface="Arial  " charset="0"/>
          <a:ea typeface="ＭＳ Ｐゴシック" pitchFamily="-106" charset="-128"/>
          <a:cs typeface="Arial  " charset="0"/>
        </a:defRPr>
      </a:lvl5pPr>
      <a:lvl6pPr marL="457200" algn="ctr" defTabSz="449263" rtl="0" fontAlgn="base">
        <a:lnSpc>
          <a:spcPct val="116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Comic Sans MS" pitchFamily="-106" charset="0"/>
        <a:defRPr sz="4000">
          <a:solidFill>
            <a:srgbClr val="000000"/>
          </a:solidFill>
          <a:latin typeface="Comic Sans MS" pitchFamily="-106" charset="0"/>
          <a:ea typeface="ＭＳ Ｐゴシック" pitchFamily="-106" charset="-128"/>
        </a:defRPr>
      </a:lvl6pPr>
      <a:lvl7pPr marL="914400" algn="ctr" defTabSz="449263" rtl="0" fontAlgn="base">
        <a:lnSpc>
          <a:spcPct val="116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Comic Sans MS" pitchFamily="-106" charset="0"/>
        <a:defRPr sz="4000">
          <a:solidFill>
            <a:srgbClr val="000000"/>
          </a:solidFill>
          <a:latin typeface="Comic Sans MS" pitchFamily="-106" charset="0"/>
          <a:ea typeface="ＭＳ Ｐゴシック" pitchFamily="-106" charset="-128"/>
        </a:defRPr>
      </a:lvl7pPr>
      <a:lvl8pPr marL="1371600" algn="ctr" defTabSz="449263" rtl="0" fontAlgn="base">
        <a:lnSpc>
          <a:spcPct val="116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Comic Sans MS" pitchFamily="-106" charset="0"/>
        <a:defRPr sz="4000">
          <a:solidFill>
            <a:srgbClr val="000000"/>
          </a:solidFill>
          <a:latin typeface="Comic Sans MS" pitchFamily="-106" charset="0"/>
          <a:ea typeface="ＭＳ Ｐゴシック" pitchFamily="-106" charset="-128"/>
        </a:defRPr>
      </a:lvl8pPr>
      <a:lvl9pPr marL="1828800" algn="ctr" defTabSz="449263" rtl="0" fontAlgn="base">
        <a:lnSpc>
          <a:spcPct val="116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Comic Sans MS" pitchFamily="-106" charset="0"/>
        <a:defRPr sz="4000">
          <a:solidFill>
            <a:srgbClr val="000000"/>
          </a:solidFill>
          <a:latin typeface="Comic Sans MS" pitchFamily="-106" charset="0"/>
          <a:ea typeface="ＭＳ Ｐゴシック" pitchFamily="-106" charset="-128"/>
        </a:defRPr>
      </a:lvl9pPr>
    </p:titleStyle>
    <p:bodyStyle>
      <a:lvl1pPr marL="341313" indent="-341313" algn="l" defTabSz="449263" rtl="0" eaLnBrk="0" fontAlgn="base" hangingPunct="0">
        <a:lnSpc>
          <a:spcPct val="116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Comic Sans MS" pitchFamily="66" charset="0"/>
        <a:buChar char="•"/>
        <a:defRPr sz="2800">
          <a:solidFill>
            <a:srgbClr val="000000"/>
          </a:solidFill>
          <a:latin typeface="Arial  "/>
          <a:ea typeface="+mn-ea"/>
          <a:cs typeface="Arial  "/>
        </a:defRPr>
      </a:lvl1pPr>
      <a:lvl2pPr marL="741363" indent="-284163" algn="l" defTabSz="449263" rtl="0" eaLnBrk="0" fontAlgn="base" hangingPunct="0">
        <a:lnSpc>
          <a:spcPct val="116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Comic Sans MS" pitchFamily="66" charset="0"/>
        <a:buChar char="–"/>
        <a:defRPr sz="2400">
          <a:solidFill>
            <a:srgbClr val="000000"/>
          </a:solidFill>
          <a:latin typeface="Arial  "/>
          <a:ea typeface="+mn-ea"/>
          <a:cs typeface="Arial  "/>
        </a:defRPr>
      </a:lvl2pPr>
      <a:lvl3pPr marL="1143000" indent="-228600" algn="l" defTabSz="449263" rtl="0" eaLnBrk="0" fontAlgn="base" hangingPunct="0">
        <a:lnSpc>
          <a:spcPct val="116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Comic Sans MS" pitchFamily="66" charset="0"/>
        <a:buChar char="•"/>
        <a:defRPr sz="2000">
          <a:solidFill>
            <a:srgbClr val="000000"/>
          </a:solidFill>
          <a:latin typeface="Arial  "/>
          <a:ea typeface="+mn-ea"/>
          <a:cs typeface="Arial  "/>
        </a:defRPr>
      </a:lvl3pPr>
      <a:lvl4pPr marL="1600200" indent="-228600" algn="l" defTabSz="449263" rtl="0" eaLnBrk="0" fontAlgn="base" hangingPunct="0">
        <a:lnSpc>
          <a:spcPct val="116000"/>
        </a:lnSpc>
        <a:spcBef>
          <a:spcPts val="450"/>
        </a:spcBef>
        <a:spcAft>
          <a:spcPct val="0"/>
        </a:spcAft>
        <a:buClr>
          <a:srgbClr val="000000"/>
        </a:buClr>
        <a:buSzPct val="100000"/>
        <a:buFont typeface="Comic Sans MS" pitchFamily="66" charset="0"/>
        <a:buChar char="–"/>
        <a:defRPr>
          <a:solidFill>
            <a:srgbClr val="000000"/>
          </a:solidFill>
          <a:latin typeface="Arial  "/>
          <a:ea typeface="+mn-ea"/>
          <a:cs typeface="Arial  "/>
        </a:defRPr>
      </a:lvl4pPr>
      <a:lvl5pPr marL="2057400" indent="-228600" algn="l" defTabSz="449263" rtl="0" eaLnBrk="0" fontAlgn="base" hangingPunct="0">
        <a:lnSpc>
          <a:spcPct val="116000"/>
        </a:lnSpc>
        <a:spcBef>
          <a:spcPts val="450"/>
        </a:spcBef>
        <a:spcAft>
          <a:spcPct val="0"/>
        </a:spcAft>
        <a:buClr>
          <a:srgbClr val="000000"/>
        </a:buClr>
        <a:buSzPct val="100000"/>
        <a:buFont typeface="Comic Sans MS" pitchFamily="66" charset="0"/>
        <a:buChar char="»"/>
        <a:defRPr>
          <a:solidFill>
            <a:srgbClr val="000000"/>
          </a:solidFill>
          <a:latin typeface="Arial  "/>
          <a:ea typeface="+mn-ea"/>
          <a:cs typeface="Arial  "/>
        </a:defRPr>
      </a:lvl5pPr>
      <a:lvl6pPr marL="2514600" indent="-228600" algn="l" defTabSz="449263" rtl="0" fontAlgn="base">
        <a:lnSpc>
          <a:spcPct val="116000"/>
        </a:lnSpc>
        <a:spcBef>
          <a:spcPts val="450"/>
        </a:spcBef>
        <a:spcAft>
          <a:spcPct val="0"/>
        </a:spcAft>
        <a:buClr>
          <a:srgbClr val="000000"/>
        </a:buClr>
        <a:buSzPct val="100000"/>
        <a:buFont typeface="Comic Sans MS" pitchFamily="-106" charset="0"/>
        <a:buChar char="»"/>
        <a:defRPr>
          <a:solidFill>
            <a:srgbClr val="000000"/>
          </a:solidFill>
          <a:latin typeface="+mn-lt"/>
          <a:ea typeface="+mn-ea"/>
        </a:defRPr>
      </a:lvl6pPr>
      <a:lvl7pPr marL="2971800" indent="-228600" algn="l" defTabSz="449263" rtl="0" fontAlgn="base">
        <a:lnSpc>
          <a:spcPct val="116000"/>
        </a:lnSpc>
        <a:spcBef>
          <a:spcPts val="450"/>
        </a:spcBef>
        <a:spcAft>
          <a:spcPct val="0"/>
        </a:spcAft>
        <a:buClr>
          <a:srgbClr val="000000"/>
        </a:buClr>
        <a:buSzPct val="100000"/>
        <a:buFont typeface="Comic Sans MS" pitchFamily="-106" charset="0"/>
        <a:buChar char="»"/>
        <a:defRPr>
          <a:solidFill>
            <a:srgbClr val="000000"/>
          </a:solidFill>
          <a:latin typeface="+mn-lt"/>
          <a:ea typeface="+mn-ea"/>
        </a:defRPr>
      </a:lvl7pPr>
      <a:lvl8pPr marL="3429000" indent="-228600" algn="l" defTabSz="449263" rtl="0" fontAlgn="base">
        <a:lnSpc>
          <a:spcPct val="116000"/>
        </a:lnSpc>
        <a:spcBef>
          <a:spcPts val="450"/>
        </a:spcBef>
        <a:spcAft>
          <a:spcPct val="0"/>
        </a:spcAft>
        <a:buClr>
          <a:srgbClr val="000000"/>
        </a:buClr>
        <a:buSzPct val="100000"/>
        <a:buFont typeface="Comic Sans MS" pitchFamily="-106" charset="0"/>
        <a:buChar char="»"/>
        <a:defRPr>
          <a:solidFill>
            <a:srgbClr val="000000"/>
          </a:solidFill>
          <a:latin typeface="+mn-lt"/>
          <a:ea typeface="+mn-ea"/>
        </a:defRPr>
      </a:lvl8pPr>
      <a:lvl9pPr marL="3886200" indent="-228600" algn="l" defTabSz="449263" rtl="0" fontAlgn="base">
        <a:lnSpc>
          <a:spcPct val="116000"/>
        </a:lnSpc>
        <a:spcBef>
          <a:spcPts val="450"/>
        </a:spcBef>
        <a:spcAft>
          <a:spcPct val="0"/>
        </a:spcAft>
        <a:buClr>
          <a:srgbClr val="000000"/>
        </a:buClr>
        <a:buSzPct val="100000"/>
        <a:buFont typeface="Comic Sans MS" pitchFamily="-106" charset="0"/>
        <a:buChar char="»"/>
        <a:defRPr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emf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emf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4" descr="pprob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825500" y="-422275"/>
            <a:ext cx="9969500" cy="998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07" name="Rectangle 5"/>
          <p:cNvSpPr>
            <a:spLocks noChangeArrowheads="1"/>
          </p:cNvSpPr>
          <p:nvPr/>
        </p:nvSpPr>
        <p:spPr bwMode="auto">
          <a:xfrm>
            <a:off x="1011238" y="1190625"/>
            <a:ext cx="7061200" cy="3913188"/>
          </a:xfrm>
          <a:prstGeom prst="rect">
            <a:avLst/>
          </a:prstGeom>
          <a:solidFill>
            <a:schemeClr val="bg1">
              <a:alpha val="83136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21508" name="Title 1"/>
          <p:cNvSpPr>
            <a:spLocks noGrp="1"/>
          </p:cNvSpPr>
          <p:nvPr>
            <p:ph type="ctrTitle"/>
          </p:nvPr>
        </p:nvSpPr>
        <p:spPr>
          <a:xfrm>
            <a:off x="0" y="990600"/>
            <a:ext cx="9144000" cy="2819400"/>
          </a:xfrm>
        </p:spPr>
        <p:txBody>
          <a:bodyPr/>
          <a:lstStyle/>
          <a:p>
            <a:r>
              <a:rPr lang="en-US" sz="3200" dirty="0">
                <a:solidFill>
                  <a:schemeClr val="accent2"/>
                </a:solidFill>
                <a:latin typeface="Arial  " charset="0"/>
                <a:cs typeface="Arial  " charset="0"/>
              </a:rPr>
              <a:t>CPEN 411: Computer Architecture</a:t>
            </a:r>
            <a:br>
              <a:rPr lang="en-US" sz="2400" dirty="0">
                <a:solidFill>
                  <a:schemeClr val="accent2"/>
                </a:solidFill>
                <a:latin typeface="Arial  " charset="0"/>
                <a:cs typeface="Arial  " charset="0"/>
              </a:rPr>
            </a:br>
            <a:br>
              <a:rPr lang="en-US" dirty="0">
                <a:solidFill>
                  <a:schemeClr val="accent2"/>
                </a:solidFill>
                <a:latin typeface="Arial  " charset="0"/>
                <a:cs typeface="Arial  " charset="0"/>
              </a:rPr>
            </a:br>
            <a:r>
              <a:rPr lang="en-US" sz="2800" dirty="0">
                <a:solidFill>
                  <a:schemeClr val="accent2"/>
                </a:solidFill>
                <a:latin typeface="Arial  " charset="0"/>
                <a:cs typeface="Arial  " charset="0"/>
              </a:rPr>
              <a:t>Slide Set #13: Tomasulo’s Algorithm</a:t>
            </a:r>
            <a:br>
              <a:rPr lang="en-US" sz="2800" dirty="0">
                <a:solidFill>
                  <a:schemeClr val="accent2"/>
                </a:solidFill>
                <a:latin typeface="Arial  " charset="0"/>
                <a:cs typeface="Arial  " charset="0"/>
              </a:rPr>
            </a:br>
            <a:r>
              <a:rPr lang="en-US" sz="2800" dirty="0">
                <a:solidFill>
                  <a:schemeClr val="accent2"/>
                </a:solidFill>
                <a:latin typeface="Arial  " charset="0"/>
                <a:cs typeface="Arial  " charset="0"/>
              </a:rPr>
              <a:t>(Textbook: 2.1, 2.4, 2.5)</a:t>
            </a:r>
          </a:p>
        </p:txBody>
      </p:sp>
      <p:sp>
        <p:nvSpPr>
          <p:cNvPr id="21509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>
                <a:solidFill>
                  <a:schemeClr val="accent2"/>
                </a:solidFill>
                <a:latin typeface="Arial  " charset="0"/>
                <a:cs typeface="Arial  " charset="0"/>
              </a:rPr>
              <a:t>Instructor: Dr. Tor M. Aamodt</a:t>
            </a:r>
          </a:p>
          <a:p>
            <a:r>
              <a:rPr lang="en-US">
                <a:solidFill>
                  <a:schemeClr val="accent2"/>
                </a:solidFill>
                <a:latin typeface="Arial  " charset="0"/>
                <a:cs typeface="Arial  " charset="0"/>
              </a:rPr>
              <a:t>aamodt@ece.ubc.ca</a:t>
            </a:r>
          </a:p>
        </p:txBody>
      </p:sp>
      <p:sp>
        <p:nvSpPr>
          <p:cNvPr id="215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1EFA4EE-39FF-479D-84D8-69E65192AB95}" type="slidenum">
              <a:rPr lang="en-GB" smtClean="0"/>
              <a:pPr/>
              <a:t>1</a:t>
            </a:fld>
            <a:r>
              <a:rPr lang="en-GB"/>
              <a:t> </a:t>
            </a:r>
          </a:p>
        </p:txBody>
      </p:sp>
      <p:sp>
        <p:nvSpPr>
          <p:cNvPr id="21511" name="TextBox 6"/>
          <p:cNvSpPr txBox="1">
            <a:spLocks noChangeArrowheads="1"/>
          </p:cNvSpPr>
          <p:nvPr/>
        </p:nvSpPr>
        <p:spPr bwMode="auto">
          <a:xfrm>
            <a:off x="1260475" y="5610225"/>
            <a:ext cx="6746875" cy="320675"/>
          </a:xfrm>
          <a:prstGeom prst="rect">
            <a:avLst/>
          </a:prstGeom>
          <a:solidFill>
            <a:srgbClr val="FFFFFF">
              <a:alpha val="81960"/>
            </a:srgb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 sz="1600">
                <a:solidFill>
                  <a:schemeClr val="accent2"/>
                </a:solidFill>
              </a:rPr>
              <a:t>Background: Pentium Pro die photo (first x86 with out of order execution)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65A85-331D-3C97-1610-0F74763EC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A9EB4-5B85-BBC0-0605-177AB9DB5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E5279F-BD47-3A6A-89C0-BDD8C5762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33FC64-B10B-44E9-B461-0CAF92012731}" type="slidenum">
              <a:rPr lang="en-US" smtClean="0"/>
              <a:pPr>
                <a:defRPr/>
              </a:pPr>
              <a:t>2</a:t>
            </a:fld>
            <a:r>
              <a:rPr lang="en-US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87BF4E-0B5D-0243-A1DB-95A810524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97673"/>
            <a:ext cx="7772400" cy="6262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741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>
                <a:latin typeface="Arial  " charset="0"/>
                <a:cs typeface="Arial  " charset="0"/>
              </a:rPr>
              <a:t>Introduction to Slide Set 13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685800" y="1181100"/>
            <a:ext cx="7770813" cy="5327650"/>
          </a:xfrm>
        </p:spPr>
        <p:txBody>
          <a:bodyPr/>
          <a:lstStyle/>
          <a:p>
            <a:r>
              <a:rPr lang="en-CA" sz="2000" dirty="0">
                <a:latin typeface="Arial  " charset="0"/>
                <a:cs typeface="Arial  " charset="0"/>
              </a:rPr>
              <a:t>Once we enable out-of-order execution we have to consider both WAW and WAR hazards.   The (out-of-order) scoreboard algorithm handles these hazards by </a:t>
            </a:r>
            <a:r>
              <a:rPr lang="en-CA" sz="2000" b="1" u="sng" dirty="0">
                <a:latin typeface="Arial  " charset="0"/>
                <a:cs typeface="Arial  " charset="0"/>
              </a:rPr>
              <a:t>stalling</a:t>
            </a:r>
            <a:r>
              <a:rPr lang="en-CA" sz="2000" dirty="0">
                <a:latin typeface="Arial  " charset="0"/>
                <a:cs typeface="Arial  " charset="0"/>
              </a:rPr>
              <a:t>.</a:t>
            </a:r>
          </a:p>
          <a:p>
            <a:r>
              <a:rPr lang="en-CA" sz="2000" dirty="0">
                <a:latin typeface="Arial  " charset="0"/>
                <a:cs typeface="Arial  " charset="0"/>
              </a:rPr>
              <a:t>Notice that no value is communicated between instructions involved in these WAW or WAR hazards.  </a:t>
            </a:r>
          </a:p>
          <a:p>
            <a:r>
              <a:rPr lang="en-CA" sz="2000" dirty="0">
                <a:latin typeface="Arial  " charset="0"/>
                <a:cs typeface="Arial  " charset="0"/>
              </a:rPr>
              <a:t>In this lecture we will see that it is possible to eliminate the “name dependencies” that require stalling by having the hardware “rename” the locations causing the “name dependencies”.</a:t>
            </a:r>
          </a:p>
          <a:p>
            <a:endParaRPr lang="en-CA" sz="2000" dirty="0">
              <a:latin typeface="Arial  " charset="0"/>
              <a:cs typeface="Arial  " charset="0"/>
            </a:endParaRPr>
          </a:p>
          <a:p>
            <a:r>
              <a:rPr lang="en-CA" sz="2000" dirty="0">
                <a:latin typeface="Arial  " charset="0"/>
                <a:cs typeface="Arial  " charset="0"/>
              </a:rPr>
              <a:t>The specific hardware algorithm we will examine for doing this is called “Tomasulo’s Algorithm”.  It is widely used in today’s computers.</a:t>
            </a:r>
          </a:p>
          <a:p>
            <a:endParaRPr lang="en-CA" sz="2000" dirty="0">
              <a:latin typeface="Arial  " charset="0"/>
              <a:cs typeface="Arial  " charset="0"/>
            </a:endParaRPr>
          </a:p>
          <a:p>
            <a:endParaRPr lang="en-CA" sz="2000" dirty="0">
              <a:latin typeface="Arial  " charset="0"/>
              <a:cs typeface="Arial  " charset="0"/>
            </a:endParaRPr>
          </a:p>
          <a:p>
            <a:endParaRPr lang="en-CA" sz="2000" dirty="0">
              <a:latin typeface="Arial  " charset="0"/>
              <a:cs typeface="Arial  " charset="0"/>
            </a:endParaRPr>
          </a:p>
          <a:p>
            <a:endParaRPr lang="en-CA" sz="2000" dirty="0">
              <a:latin typeface="Arial  " charset="0"/>
              <a:cs typeface="Arial  " charset="0"/>
            </a:endParaRPr>
          </a:p>
        </p:txBody>
      </p:sp>
      <p:sp>
        <p:nvSpPr>
          <p:cNvPr id="2253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531D58C-BA6D-4222-878A-60E51884CB8F}" type="slidenum">
              <a:rPr lang="en-GB" smtClean="0"/>
              <a:pPr/>
              <a:t>3</a:t>
            </a:fld>
            <a:r>
              <a:rPr lang="en-GB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latin typeface="Arial  " charset="0"/>
                <a:cs typeface="Arial  " charset="0"/>
              </a:rPr>
              <a:t>Learning Objectives</a:t>
            </a: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98500" y="1516063"/>
            <a:ext cx="7772400" cy="4414837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ts val="500"/>
              </a:spcBef>
              <a:buFont typeface="Comic Sans MS" pitchFamily="66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>
                <a:latin typeface="Arial  " charset="0"/>
                <a:cs typeface="Arial  " charset="0"/>
              </a:rPr>
              <a:t>After we finish going through these slides you will be able to…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>
                <a:latin typeface="Arial  " charset="0"/>
                <a:cs typeface="Arial  " charset="0"/>
              </a:rPr>
              <a:t>Describe Tomasulo’s algorithm in detail.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>
                <a:latin typeface="Arial  " charset="0"/>
                <a:cs typeface="Arial  " charset="0"/>
              </a:rPr>
              <a:t>Explain the key difference between the Scoreboard algorithm and Tomasulo’s algorithm.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>
                <a:latin typeface="Arial  " charset="0"/>
                <a:cs typeface="Arial  " charset="0"/>
              </a:rPr>
              <a:t>Evaluate instruction timing of MIPS assembly code sequences using Tomasulo’s algorithm.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sz="2000">
              <a:latin typeface="Arial  " charset="0"/>
              <a:cs typeface="Arial  " charset="0"/>
            </a:endParaRP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Font typeface="Comic Sans MS" pitchFamily="66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sz="2000">
              <a:latin typeface="Arial  " charset="0"/>
              <a:cs typeface="Arial  " charset="0"/>
            </a:endParaRPr>
          </a:p>
        </p:txBody>
      </p:sp>
      <p:sp>
        <p:nvSpPr>
          <p:cNvPr id="23556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5CF7CD5-C281-43B7-9B74-88DB24D33462}" type="slidenum">
              <a:rPr lang="en-GB" smtClean="0"/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4</a:t>
            </a:fld>
            <a:r>
              <a:rPr lang="en-GB"/>
              <a:t>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"/>
          <p:cNvSpPr>
            <a:spLocks noGrp="1" noChangeArrowheads="1"/>
          </p:cNvSpPr>
          <p:nvPr>
            <p:ph type="title"/>
          </p:nvPr>
        </p:nvSpPr>
        <p:spPr>
          <a:xfrm>
            <a:off x="971550" y="0"/>
            <a:ext cx="7835900" cy="1143000"/>
          </a:xfrm>
        </p:spPr>
        <p:txBody>
          <a:bodyPr lIns="90360" tIns="44280" rIns="90360" bIns="44280"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latin typeface="Arial  " charset="0"/>
                <a:cs typeface="Arial  " charset="0"/>
              </a:rPr>
              <a:t>Removing Name Dependencies</a:t>
            </a:r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09550" y="985838"/>
            <a:ext cx="8788400" cy="5667375"/>
          </a:xfrm>
        </p:spPr>
        <p:txBody>
          <a:bodyPr lIns="90360" tIns="44280" rIns="90360" bIns="44280"/>
          <a:lstStyle/>
          <a:p>
            <a:pPr eaLnBrk="1" hangingPunct="1">
              <a:lnSpc>
                <a:spcPct val="10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>
                <a:latin typeface="Arial  " charset="0"/>
                <a:cs typeface="Arial  " charset="0"/>
              </a:rPr>
              <a:t>Name dependencies result from reusing a register: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sz="2400" dirty="0">
              <a:latin typeface="Arial  " charset="0"/>
              <a:cs typeface="Arial  " charset="0"/>
            </a:endParaRP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Comic Sans MS" pitchFamily="66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>
                <a:latin typeface="Arial  " charset="0"/>
                <a:cs typeface="Arial  " charset="0"/>
              </a:rPr>
              <a:t>			LD 		R1, 0(R2)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Comic Sans MS" pitchFamily="66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>
                <a:latin typeface="Arial  " charset="0"/>
                <a:cs typeface="Arial  " charset="0"/>
              </a:rPr>
              <a:t>			DADD 	R3,R1,R3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Comic Sans MS" pitchFamily="66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>
                <a:latin typeface="Arial  " charset="0"/>
                <a:cs typeface="Arial  " charset="0"/>
              </a:rPr>
              <a:t>			DADDUI 	R2,R2,#8	; reuse R2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Comic Sans MS" pitchFamily="66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>
                <a:latin typeface="Arial  " charset="0"/>
                <a:cs typeface="Arial  " charset="0"/>
              </a:rPr>
              <a:t>			LD		R1, 0(R2)	; reuse R1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sz="1000" dirty="0">
              <a:latin typeface="Arial  " charset="0"/>
              <a:cs typeface="Arial  " charset="0"/>
            </a:endParaRP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>
                <a:latin typeface="Arial  " charset="0"/>
                <a:cs typeface="Arial  " charset="0"/>
              </a:rPr>
              <a:t>Adding registers to the hardware we have seen previously will </a:t>
            </a:r>
            <a:r>
              <a:rPr lang="en-GB" sz="2400" u="sng" dirty="0">
                <a:latin typeface="Arial  " charset="0"/>
                <a:cs typeface="Arial  " charset="0"/>
              </a:rPr>
              <a:t>reduce</a:t>
            </a:r>
            <a:r>
              <a:rPr lang="en-GB" sz="2400" dirty="0">
                <a:latin typeface="Arial  " charset="0"/>
                <a:cs typeface="Arial  " charset="0"/>
              </a:rPr>
              <a:t> name dependencies but only if software is recompiled to use the additional registers. 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>
                <a:latin typeface="Arial  " charset="0"/>
                <a:cs typeface="Arial  " charset="0"/>
              </a:rPr>
              <a:t>It is desirable to be able to add registers to hardware and have hardware use them </a:t>
            </a:r>
            <a:r>
              <a:rPr lang="en-GB" sz="2400" u="sng" dirty="0">
                <a:latin typeface="Arial  " charset="0"/>
                <a:cs typeface="Arial  " charset="0"/>
              </a:rPr>
              <a:t>without</a:t>
            </a:r>
            <a:r>
              <a:rPr lang="en-GB" sz="2400" dirty="0">
                <a:latin typeface="Arial  " charset="0"/>
                <a:cs typeface="Arial  " charset="0"/>
              </a:rPr>
              <a:t> requiring recompilation.  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>
                <a:latin typeface="Arial  " charset="0"/>
                <a:cs typeface="Arial  " charset="0"/>
              </a:rPr>
              <a:t>If we </a:t>
            </a:r>
            <a:r>
              <a:rPr lang="en-GB" sz="2400" u="sng" dirty="0">
                <a:latin typeface="Arial  " charset="0"/>
                <a:cs typeface="Arial  " charset="0"/>
              </a:rPr>
              <a:t>remove</a:t>
            </a:r>
            <a:r>
              <a:rPr lang="en-GB" sz="2400" dirty="0">
                <a:latin typeface="Arial  " charset="0"/>
                <a:cs typeface="Arial  " charset="0"/>
              </a:rPr>
              <a:t> the name dependencies, we don’t encounter WAW or WAR hazards at all (but still have RAW hazards).</a:t>
            </a:r>
          </a:p>
        </p:txBody>
      </p:sp>
      <p:sp>
        <p:nvSpPr>
          <p:cNvPr id="24580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7240588" y="6557963"/>
            <a:ext cx="1903412" cy="300037"/>
          </a:xfrm>
          <a:noFill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ABDDEBC-6547-4A70-9D29-0DA691EDE674}" type="slidenum">
              <a:rPr lang="en-GB" smtClean="0"/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5</a:t>
            </a:fld>
            <a:r>
              <a:rPr lang="en-GB"/>
              <a:t> </a:t>
            </a:r>
          </a:p>
        </p:txBody>
      </p:sp>
      <p:cxnSp>
        <p:nvCxnSpPr>
          <p:cNvPr id="26629" name="Straight Arrow Connector 7"/>
          <p:cNvCxnSpPr>
            <a:cxnSpLocks noChangeShapeType="1"/>
          </p:cNvCxnSpPr>
          <p:nvPr/>
        </p:nvCxnSpPr>
        <p:spPr bwMode="auto">
          <a:xfrm rot="5400000">
            <a:off x="4198938" y="2165350"/>
            <a:ext cx="758825" cy="638175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arrow" w="med" len="med"/>
          </a:ln>
        </p:spPr>
      </p:cxnSp>
      <p:sp>
        <p:nvSpPr>
          <p:cNvPr id="26630" name="Freeform 11"/>
          <p:cNvSpPr>
            <a:spLocks/>
          </p:cNvSpPr>
          <p:nvPr/>
        </p:nvSpPr>
        <p:spPr bwMode="auto">
          <a:xfrm>
            <a:off x="3705225" y="2081213"/>
            <a:ext cx="241300" cy="1300162"/>
          </a:xfrm>
          <a:custGeom>
            <a:avLst/>
            <a:gdLst>
              <a:gd name="T0" fmla="*/ 245347 w 240632"/>
              <a:gd name="T1" fmla="*/ 0 h 1299411"/>
              <a:gd name="T2" fmla="*/ 0 w 240632"/>
              <a:gd name="T3" fmla="*/ 700660 h 1299411"/>
              <a:gd name="T4" fmla="*/ 245347 w 240632"/>
              <a:gd name="T5" fmla="*/ 1304677 h 1299411"/>
              <a:gd name="T6" fmla="*/ 0 60000 65536"/>
              <a:gd name="T7" fmla="*/ 0 60000 65536"/>
              <a:gd name="T8" fmla="*/ 0 60000 65536"/>
              <a:gd name="T9" fmla="*/ 0 w 240632"/>
              <a:gd name="T10" fmla="*/ 0 h 1299411"/>
              <a:gd name="T11" fmla="*/ 240632 w 240632"/>
              <a:gd name="T12" fmla="*/ 1299411 h 129941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0632" h="1299411">
                <a:moveTo>
                  <a:pt x="240632" y="0"/>
                </a:moveTo>
                <a:cubicBezTo>
                  <a:pt x="120316" y="240632"/>
                  <a:pt x="0" y="481264"/>
                  <a:pt x="0" y="697832"/>
                </a:cubicBezTo>
                <a:cubicBezTo>
                  <a:pt x="0" y="914400"/>
                  <a:pt x="120316" y="1106905"/>
                  <a:pt x="240632" y="1299411"/>
                </a:cubicBezTo>
              </a:path>
            </a:pathLst>
          </a:cu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A3FDB-4552-A4BF-4F14-4C4233645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">
            <a:extLst>
              <a:ext uri="{FF2B5EF4-FFF2-40B4-BE49-F238E27FC236}">
                <a16:creationId xmlns:a16="http://schemas.microsoft.com/office/drawing/2014/main" id="{75EAF35D-9176-83E0-226E-E61CF35E3F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1550" y="0"/>
            <a:ext cx="7835900" cy="1143000"/>
          </a:xfrm>
        </p:spPr>
        <p:txBody>
          <a:bodyPr lIns="90360" tIns="44280" rIns="90360" bIns="44280"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>
                <a:latin typeface="Arial  " charset="0"/>
                <a:cs typeface="Arial  " charset="0"/>
              </a:rPr>
              <a:t>Removing Name Dependencies</a:t>
            </a:r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85265059-27F4-7F8F-28A2-A4F5215DF6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9550" y="985838"/>
            <a:ext cx="8788400" cy="5667375"/>
          </a:xfrm>
        </p:spPr>
        <p:txBody>
          <a:bodyPr lIns="90360" tIns="44280" rIns="90360" bIns="44280"/>
          <a:lstStyle/>
          <a:p>
            <a:pPr eaLnBrk="1" hangingPunct="1">
              <a:lnSpc>
                <a:spcPct val="10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>
                <a:latin typeface="Arial  " charset="0"/>
                <a:cs typeface="Arial  " charset="0"/>
              </a:rPr>
              <a:t>Basic idea: Introduce new name for each value created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>
                <a:latin typeface="Arial  " charset="0"/>
                <a:cs typeface="Arial  " charset="0"/>
              </a:rPr>
              <a:t>Before: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Comic Sans MS" pitchFamily="66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>
                <a:latin typeface="Arial  " charset="0"/>
                <a:cs typeface="Arial  " charset="0"/>
              </a:rPr>
              <a:t>			LD 		R1, 0(R2)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Comic Sans MS" pitchFamily="66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>
                <a:latin typeface="Arial  " charset="0"/>
                <a:cs typeface="Arial  " charset="0"/>
              </a:rPr>
              <a:t>			DADD 	R3, R1, R3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Comic Sans MS" pitchFamily="66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>
                <a:latin typeface="Arial  " charset="0"/>
                <a:cs typeface="Arial  " charset="0"/>
              </a:rPr>
              <a:t>			DADDUI 	R2, R2,#8	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Comic Sans MS" pitchFamily="66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>
                <a:latin typeface="Arial  " charset="0"/>
                <a:cs typeface="Arial  " charset="0"/>
              </a:rPr>
              <a:t>			LD		R1, 0(R2)	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>
                <a:latin typeface="Arial  " charset="0"/>
                <a:cs typeface="Arial  " charset="0"/>
              </a:rPr>
              <a:t>After:</a:t>
            </a:r>
            <a:endParaRPr lang="en-GB" sz="1000" dirty="0">
              <a:latin typeface="Arial  " charset="0"/>
              <a:cs typeface="Arial  " charset="0"/>
            </a:endParaRP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>
                <a:latin typeface="Arial  " charset="0"/>
                <a:cs typeface="Arial  " charset="0"/>
              </a:rPr>
              <a:t>			LD 		T1, 0(R2)	</a:t>
            </a:r>
            <a:r>
              <a:rPr lang="en-GB" sz="2400" i="1" dirty="0">
                <a:solidFill>
                  <a:srgbClr val="008080"/>
                </a:solidFill>
                <a:latin typeface="Arial  " charset="0"/>
                <a:cs typeface="Arial  " charset="0"/>
              </a:rPr>
              <a:t>; R1 -&gt; T1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>
                <a:latin typeface="Arial  " charset="0"/>
                <a:cs typeface="Arial  " charset="0"/>
              </a:rPr>
              <a:t>			DADD 	T2, T1, R3	</a:t>
            </a:r>
            <a:r>
              <a:rPr lang="en-GB" sz="2400" i="1" dirty="0">
                <a:solidFill>
                  <a:srgbClr val="008080"/>
                </a:solidFill>
                <a:latin typeface="Arial  " charset="0"/>
                <a:cs typeface="Arial  " charset="0"/>
              </a:rPr>
              <a:t>; R3 -&gt; T2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>
                <a:latin typeface="Arial  " charset="0"/>
                <a:cs typeface="Arial  " charset="0"/>
              </a:rPr>
              <a:t>			DADDUI 	T3, R2, #8	</a:t>
            </a:r>
            <a:r>
              <a:rPr lang="en-GB" sz="2400" i="1" dirty="0">
                <a:solidFill>
                  <a:srgbClr val="008080"/>
                </a:solidFill>
                <a:latin typeface="Arial  " charset="0"/>
                <a:cs typeface="Arial  " charset="0"/>
              </a:rPr>
              <a:t>; R2 -&gt; T3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>
                <a:latin typeface="Arial  " charset="0"/>
                <a:cs typeface="Arial  " charset="0"/>
              </a:rPr>
              <a:t>			LD		T4, 0(T3)	</a:t>
            </a:r>
            <a:r>
              <a:rPr lang="en-GB" sz="2400" i="1" dirty="0">
                <a:solidFill>
                  <a:srgbClr val="008080"/>
                </a:solidFill>
                <a:latin typeface="Arial  " charset="0"/>
                <a:cs typeface="Arial  " charset="0"/>
              </a:rPr>
              <a:t>; R1 -&gt; T4</a:t>
            </a:r>
          </a:p>
          <a:p>
            <a:pPr marL="0" indent="0" eaLnBrk="1" hangingPunct="1">
              <a:lnSpc>
                <a:spcPct val="100000"/>
              </a:lnSpc>
              <a:spcBef>
                <a:spcPts val="60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sz="2400" dirty="0">
              <a:latin typeface="Arial  " charset="0"/>
              <a:cs typeface="Arial  " charset="0"/>
            </a:endParaRPr>
          </a:p>
        </p:txBody>
      </p:sp>
      <p:sp>
        <p:nvSpPr>
          <p:cNvPr id="24580" name="Slide Number Placeholder 7">
            <a:extLst>
              <a:ext uri="{FF2B5EF4-FFF2-40B4-BE49-F238E27FC236}">
                <a16:creationId xmlns:a16="http://schemas.microsoft.com/office/drawing/2014/main" id="{80C091D3-0689-FBE3-F357-AF14364C1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40588" y="6557963"/>
            <a:ext cx="1903412" cy="300037"/>
          </a:xfrm>
          <a:noFill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ABDDEBC-6547-4A70-9D29-0DA691EDE674}" type="slidenum">
              <a:rPr lang="en-GB" smtClean="0"/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6</a:t>
            </a:fld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97227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60B45-3C1B-918F-99D3-65A346ECB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-150813"/>
            <a:ext cx="7770813" cy="1071563"/>
          </a:xfrm>
        </p:spPr>
        <p:txBody>
          <a:bodyPr/>
          <a:lstStyle/>
          <a:p>
            <a:r>
              <a:rPr lang="en-US" dirty="0"/>
              <a:t>Observation and Insight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BAFC7-149B-48F1-F8B7-D9A52E58C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8" y="766365"/>
            <a:ext cx="7770813" cy="5482035"/>
          </a:xfrm>
        </p:spPr>
        <p:txBody>
          <a:bodyPr/>
          <a:lstStyle/>
          <a:p>
            <a:r>
              <a:rPr lang="en-US" sz="2400" dirty="0"/>
              <a:t>WAW and WAR can only occur for instructions in the pipeline at the same time.</a:t>
            </a:r>
          </a:p>
          <a:p>
            <a:pPr lvl="1"/>
            <a:r>
              <a:rPr lang="en-US" sz="2000" dirty="0"/>
              <a:t>So, we don’t really need infinite # of registers!</a:t>
            </a:r>
          </a:p>
          <a:p>
            <a:pPr lvl="1"/>
            <a:r>
              <a:rPr lang="en-US" sz="2000" dirty="0"/>
              <a:t>One “rename register” per “in flight” instruction</a:t>
            </a:r>
          </a:p>
          <a:p>
            <a:r>
              <a:rPr lang="en-US" sz="2400" dirty="0"/>
              <a:t>How to implement renaming in hardware?</a:t>
            </a:r>
          </a:p>
          <a:p>
            <a:pPr lvl="1"/>
            <a:r>
              <a:rPr lang="en-US" sz="2000" dirty="0"/>
              <a:t>Distinguish architecture reg. from rename reg.</a:t>
            </a:r>
          </a:p>
          <a:p>
            <a:pPr lvl="1"/>
            <a:r>
              <a:rPr lang="en-US" sz="2000" dirty="0"/>
              <a:t>Associate new name (“rename register”, “physical register”, “reservation station ID”, “</a:t>
            </a:r>
            <a:r>
              <a:rPr lang="en-US" sz="2000" b="1" dirty="0"/>
              <a:t>tag</a:t>
            </a:r>
            <a:r>
              <a:rPr lang="en-US" sz="2000" dirty="0"/>
              <a:t>”) with each inflight instruction updating an arch. reg. </a:t>
            </a:r>
          </a:p>
          <a:p>
            <a:pPr lvl="1"/>
            <a:r>
              <a:rPr lang="en-US" sz="2000" dirty="0"/>
              <a:t>Use table (“rename table”, “register result status”) to map from architecture register → </a:t>
            </a:r>
            <a:r>
              <a:rPr lang="en-US" sz="2000" b="1" dirty="0"/>
              <a:t>tag</a:t>
            </a:r>
            <a:r>
              <a:rPr lang="en-US" sz="2000" dirty="0"/>
              <a:t> (most recent instruction writing this arch. register)</a:t>
            </a:r>
          </a:p>
          <a:p>
            <a:pPr lvl="1"/>
            <a:r>
              <a:rPr lang="en-US" sz="2000" dirty="0"/>
              <a:t>“Recycle” </a:t>
            </a:r>
            <a:r>
              <a:rPr lang="en-US" sz="2000" b="1" dirty="0"/>
              <a:t>tag</a:t>
            </a:r>
            <a:r>
              <a:rPr lang="en-US" sz="2000" dirty="0"/>
              <a:t> after instruction is complete.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358B2A-7743-D356-3190-8243925DC4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E7FB2395-968E-4763-A4FB-083BEBBAE4BC}" type="slidenum">
              <a:rPr lang="en-GB" smtClean="0"/>
              <a:pPr>
                <a:defRPr/>
              </a:pPr>
              <a:t>7</a:t>
            </a:fld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18411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"/>
          <p:cNvSpPr>
            <a:spLocks noGrp="1" noChangeArrowheads="1"/>
          </p:cNvSpPr>
          <p:nvPr>
            <p:ph type="title"/>
          </p:nvPr>
        </p:nvSpPr>
        <p:spPr>
          <a:xfrm>
            <a:off x="601663" y="0"/>
            <a:ext cx="8542337" cy="769938"/>
          </a:xfrm>
        </p:spPr>
        <p:txBody>
          <a:bodyPr lIns="90360" tIns="44280" rIns="90360" bIns="44280"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600">
                <a:latin typeface="Arial  " charset="0"/>
                <a:cs typeface="Arial  " charset="0"/>
              </a:rPr>
              <a:t>Tomasulo Algorithm: Historical Context</a:t>
            </a: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68300" y="838200"/>
            <a:ext cx="8355013" cy="2349500"/>
          </a:xfrm>
        </p:spPr>
        <p:txBody>
          <a:bodyPr lIns="90360" tIns="44280" rIns="90360" bIns="44280"/>
          <a:lstStyle/>
          <a:p>
            <a:pPr eaLnBrk="1" hangingPunct="1">
              <a:lnSpc>
                <a:spcPct val="10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>
                <a:latin typeface="Arial  " charset="0"/>
                <a:cs typeface="Arial  " charset="0"/>
              </a:rPr>
              <a:t>Developed in mid 1960’s for floating-point unit of IBM 360 model 91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>
                <a:latin typeface="Arial  " charset="0"/>
                <a:cs typeface="Arial  " charset="0"/>
              </a:rPr>
              <a:t>IBM 360 model 91 designed for scientific computing (e.g., NASA)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>
                <a:latin typeface="Arial  " charset="0"/>
                <a:cs typeface="Arial  " charset="0"/>
              </a:rPr>
              <a:t>Notion of instruction set compatibility invented for IBM System/360.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>
                <a:latin typeface="Arial  " charset="0"/>
                <a:cs typeface="Arial  " charset="0"/>
              </a:rPr>
              <a:t>4 FP registers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>
                <a:latin typeface="Arial  " charset="0"/>
                <a:cs typeface="Arial  " charset="0"/>
              </a:rPr>
              <a:t>Anticipated FP unit latencies  of  6 cycles for multiply, 18 for divide, 2 for addition; 8 cycles to access memory; no cache.</a:t>
            </a:r>
          </a:p>
        </p:txBody>
      </p:sp>
      <p:sp>
        <p:nvSpPr>
          <p:cNvPr id="25604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8672B94-A92D-49BF-AEBF-159DFDB4461A}" type="slidenum">
              <a:rPr lang="en-GB" smtClean="0"/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8</a:t>
            </a:fld>
            <a:r>
              <a:rPr lang="en-GB"/>
              <a:t> </a:t>
            </a:r>
          </a:p>
        </p:txBody>
      </p:sp>
      <p:pic>
        <p:nvPicPr>
          <p:cNvPr id="25605" name="Picture 6" descr="36091-ibm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9250" y="4141788"/>
            <a:ext cx="4194175" cy="2030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6" name="Picture 7" descr="36091-museum-1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22863" y="3186113"/>
            <a:ext cx="3479800" cy="294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685800" y="-85725"/>
            <a:ext cx="7770813" cy="925513"/>
          </a:xfrm>
        </p:spPr>
        <p:txBody>
          <a:bodyPr/>
          <a:lstStyle/>
          <a:p>
            <a:r>
              <a:rPr lang="en-CA">
                <a:latin typeface="Arial  " charset="0"/>
                <a:cs typeface="Arial  " charset="0"/>
              </a:rPr>
              <a:t>Historical Motivation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481013" y="709613"/>
            <a:ext cx="8453437" cy="5651500"/>
          </a:xfrm>
        </p:spPr>
        <p:txBody>
          <a:bodyPr/>
          <a:lstStyle/>
          <a:p>
            <a:pPr>
              <a:defRPr/>
            </a:pPr>
            <a:r>
              <a:rPr lang="en-CA" sz="1800" dirty="0">
                <a:latin typeface="Arial  " charset="0"/>
                <a:cs typeface="Arial  " charset="0"/>
              </a:rPr>
              <a:t>Design goal for System/360 model 91:</a:t>
            </a:r>
          </a:p>
          <a:p>
            <a:pPr lvl="1">
              <a:defRPr/>
            </a:pPr>
            <a:r>
              <a:rPr lang="en-CA" sz="1600" dirty="0">
                <a:latin typeface="Arial  " charset="0"/>
                <a:cs typeface="Arial  " charset="0"/>
              </a:rPr>
              <a:t>Sustain CPI as close as possible to 1 on floating-point code</a:t>
            </a:r>
          </a:p>
          <a:p>
            <a:pPr>
              <a:defRPr/>
            </a:pPr>
            <a:r>
              <a:rPr lang="en-CA" sz="1800" dirty="0">
                <a:latin typeface="Arial  " charset="0"/>
                <a:cs typeface="Arial  " charset="0"/>
              </a:rPr>
              <a:t>Constraints:</a:t>
            </a: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en-CA" sz="1600" dirty="0">
                <a:latin typeface="Arial  " charset="0"/>
                <a:cs typeface="Arial  " charset="0"/>
              </a:rPr>
              <a:t>Binary compatibility had to be maintained. Four registers visible to programmer. Code with many WAW hazards since required fewer instructions in 360/91 ISA.</a:t>
            </a: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en-CA" sz="1600" dirty="0">
                <a:latin typeface="Arial  " charset="0"/>
                <a:cs typeface="Arial  " charset="0"/>
              </a:rPr>
              <a:t>Long floating-point function unit latencies</a:t>
            </a: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en-CA" sz="1600" dirty="0">
                <a:latin typeface="Arial  " charset="0"/>
                <a:cs typeface="Arial  " charset="0"/>
              </a:rPr>
              <a:t>Separate pipelined floating point adder and multiplier (higher clock frequency)</a:t>
            </a:r>
          </a:p>
          <a:p>
            <a:pPr marL="800100" lvl="1" indent="-342900">
              <a:defRPr/>
            </a:pPr>
            <a:r>
              <a:rPr lang="en-CA" sz="1600" b="1" dirty="0">
                <a:latin typeface="Arial  " charset="0"/>
                <a:cs typeface="Arial  " charset="0"/>
              </a:rPr>
              <a:t>Today’s Motivation:</a:t>
            </a:r>
            <a:r>
              <a:rPr lang="en-CA" sz="1600" dirty="0">
                <a:latin typeface="Arial  " charset="0"/>
                <a:cs typeface="Arial  " charset="0"/>
              </a:rPr>
              <a:t>  Above + cache misses + parallelism between branches &lt; 2.</a:t>
            </a:r>
          </a:p>
          <a:p>
            <a:pPr>
              <a:defRPr/>
            </a:pPr>
            <a:r>
              <a:rPr lang="en-CA" sz="1800" dirty="0">
                <a:latin typeface="Arial  " charset="0"/>
                <a:cs typeface="Arial  " charset="0"/>
              </a:rPr>
              <a:t>Design tradeoffs </a:t>
            </a:r>
            <a:r>
              <a:rPr lang="en-CA" sz="1800" dirty="0" err="1">
                <a:latin typeface="Arial  " charset="0"/>
                <a:cs typeface="Arial  " charset="0"/>
              </a:rPr>
              <a:t>Tomasulo</a:t>
            </a:r>
            <a:r>
              <a:rPr lang="en-CA" sz="1800" dirty="0">
                <a:latin typeface="Arial  " charset="0"/>
                <a:cs typeface="Arial  " charset="0"/>
              </a:rPr>
              <a:t> </a:t>
            </a:r>
            <a:r>
              <a:rPr lang="en-CA" sz="1800" u="sng" dirty="0">
                <a:latin typeface="Arial  " charset="0"/>
                <a:cs typeface="Arial  " charset="0"/>
              </a:rPr>
              <a:t>considered</a:t>
            </a:r>
          </a:p>
          <a:p>
            <a:pPr lvl="1">
              <a:defRPr/>
            </a:pPr>
            <a:r>
              <a:rPr lang="en-CA" sz="1600" dirty="0">
                <a:latin typeface="Arial  " charset="0"/>
                <a:cs typeface="Arial  " charset="0"/>
              </a:rPr>
              <a:t>Adding busy bits to register file (in-order scoreboard)</a:t>
            </a:r>
          </a:p>
          <a:p>
            <a:pPr lvl="1">
              <a:defRPr/>
            </a:pPr>
            <a:r>
              <a:rPr lang="en-CA" sz="1600" dirty="0">
                <a:latin typeface="Arial  " charset="0"/>
                <a:cs typeface="Arial  " charset="0"/>
              </a:rPr>
              <a:t>Adding “working registers” near function units to improve clock frequency</a:t>
            </a:r>
          </a:p>
          <a:p>
            <a:pPr lvl="1">
              <a:defRPr/>
            </a:pPr>
            <a:r>
              <a:rPr lang="en-CA" sz="1600" dirty="0">
                <a:latin typeface="Arial  " charset="0"/>
                <a:cs typeface="Arial  " charset="0"/>
              </a:rPr>
              <a:t>Additional function units to eliminate structural hazards</a:t>
            </a:r>
          </a:p>
          <a:p>
            <a:pPr lvl="1">
              <a:defRPr/>
            </a:pPr>
            <a:r>
              <a:rPr lang="en-CA" sz="1600" dirty="0">
                <a:latin typeface="Arial  " charset="0"/>
                <a:cs typeface="Arial  " charset="0"/>
              </a:rPr>
              <a:t>Impact of software techniques such as “loop unrolling”</a:t>
            </a:r>
          </a:p>
          <a:p>
            <a:pPr>
              <a:defRPr/>
            </a:pPr>
            <a:r>
              <a:rPr lang="en-CA" sz="1800" dirty="0">
                <a:latin typeface="Arial  " charset="0"/>
                <a:cs typeface="Arial  " charset="0"/>
              </a:rPr>
              <a:t>However, </a:t>
            </a:r>
            <a:r>
              <a:rPr lang="en-CA" sz="1800" dirty="0" err="1">
                <a:latin typeface="Arial  " charset="0"/>
                <a:cs typeface="Arial  " charset="0"/>
              </a:rPr>
              <a:t>Tomasulo</a:t>
            </a:r>
            <a:r>
              <a:rPr lang="en-CA" sz="1800" dirty="0">
                <a:latin typeface="Arial  " charset="0"/>
                <a:cs typeface="Arial  " charset="0"/>
              </a:rPr>
              <a:t> ended up with a different design…</a:t>
            </a:r>
          </a:p>
          <a:p>
            <a:pPr>
              <a:defRPr/>
            </a:pPr>
            <a:endParaRPr lang="en-CA" sz="1800" dirty="0">
              <a:latin typeface="Arial  " charset="0"/>
              <a:cs typeface="Arial  " charset="0"/>
            </a:endParaRPr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240588" y="6524625"/>
            <a:ext cx="1903412" cy="333375"/>
          </a:xfrm>
          <a:noFill/>
        </p:spPr>
        <p:txBody>
          <a:bodyPr/>
          <a:lstStyle/>
          <a:p>
            <a:fld id="{B7E89E7D-42A3-4677-B691-CB91B4879994}" type="slidenum">
              <a:rPr lang="en-GB" smtClean="0"/>
              <a:pPr/>
              <a:t>9</a:t>
            </a:fld>
            <a:r>
              <a:rPr lang="en-GB"/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685800" y="-85725"/>
            <a:ext cx="7770813" cy="1012825"/>
          </a:xfrm>
        </p:spPr>
        <p:txBody>
          <a:bodyPr/>
          <a:lstStyle/>
          <a:p>
            <a:r>
              <a:rPr lang="en-GB">
                <a:latin typeface="Arial  " charset="0"/>
                <a:cs typeface="Arial  " charset="0"/>
              </a:rPr>
              <a:t>Tomasulo Algorithm</a:t>
            </a:r>
            <a:endParaRPr lang="en-US">
              <a:latin typeface="Arial  " charset="0"/>
              <a:cs typeface="Arial  " charset="0"/>
            </a:endParaRP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736600" y="977900"/>
            <a:ext cx="7770813" cy="5219700"/>
          </a:xfrm>
        </p:spPr>
        <p:txBody>
          <a:bodyPr/>
          <a:lstStyle/>
          <a:p>
            <a:r>
              <a:rPr lang="en-US" sz="1800" dirty="0">
                <a:latin typeface="Arial  " charset="0"/>
                <a:cs typeface="Arial  " charset="0"/>
              </a:rPr>
              <a:t>Control &amp; buffers distributed with Function Units (FU)</a:t>
            </a:r>
          </a:p>
          <a:p>
            <a:pPr lvl="1"/>
            <a:r>
              <a:rPr lang="en-US" sz="1600" dirty="0">
                <a:latin typeface="Arial  " charset="0"/>
                <a:cs typeface="Arial  " charset="0"/>
              </a:rPr>
              <a:t>Buffers called </a:t>
            </a:r>
            <a:r>
              <a:rPr lang="en-US" sz="1600" u="sng" dirty="0">
                <a:solidFill>
                  <a:srgbClr val="FF0000"/>
                </a:solidFill>
                <a:latin typeface="Arial  " charset="0"/>
                <a:cs typeface="Arial  " charset="0"/>
              </a:rPr>
              <a:t>reservation stations</a:t>
            </a:r>
            <a:r>
              <a:rPr lang="en-US" sz="1600" dirty="0">
                <a:latin typeface="Arial  " charset="0"/>
                <a:cs typeface="Arial  " charset="0"/>
              </a:rPr>
              <a:t>; contain pending operands</a:t>
            </a:r>
          </a:p>
          <a:p>
            <a:r>
              <a:rPr lang="en-US" sz="1800" dirty="0">
                <a:latin typeface="Arial  " charset="0"/>
                <a:cs typeface="Arial  " charset="0"/>
              </a:rPr>
              <a:t>Register numbers in instructions get replaced by “tags” each of which “points to” a reservation station (RS) </a:t>
            </a:r>
          </a:p>
          <a:p>
            <a:pPr lvl="1"/>
            <a:r>
              <a:rPr lang="en-US" sz="1600" dirty="0">
                <a:latin typeface="Arial  " charset="0"/>
                <a:cs typeface="Arial  " charset="0"/>
              </a:rPr>
              <a:t>Effect of this is to “</a:t>
            </a:r>
            <a:r>
              <a:rPr lang="en-US" sz="1600" dirty="0">
                <a:solidFill>
                  <a:srgbClr val="FF0000"/>
                </a:solidFill>
                <a:latin typeface="Arial  " charset="0"/>
                <a:cs typeface="Arial  " charset="0"/>
              </a:rPr>
              <a:t>rename</a:t>
            </a:r>
            <a:r>
              <a:rPr lang="en-US" sz="1600" dirty="0">
                <a:latin typeface="Arial  " charset="0"/>
                <a:cs typeface="Arial  " charset="0"/>
              </a:rPr>
              <a:t>” registers</a:t>
            </a:r>
          </a:p>
          <a:p>
            <a:pPr lvl="1"/>
            <a:r>
              <a:rPr lang="en-US" sz="1600" dirty="0">
                <a:latin typeface="Arial  " charset="0"/>
                <a:cs typeface="Arial  " charset="0"/>
              </a:rPr>
              <a:t>This “renaming” avoids WAR, WAW hazards which result from reusing the same register name even though no data is passed between the instructions involved.</a:t>
            </a:r>
          </a:p>
          <a:p>
            <a:pPr lvl="1"/>
            <a:r>
              <a:rPr lang="en-US" sz="1600" dirty="0">
                <a:latin typeface="Arial  " charset="0"/>
                <a:cs typeface="Arial  " charset="0"/>
              </a:rPr>
              <a:t>Renaming allowed more reservation stations than registers</a:t>
            </a:r>
          </a:p>
          <a:p>
            <a:pPr lvl="1"/>
            <a:r>
              <a:rPr lang="en-US" sz="1600" dirty="0">
                <a:latin typeface="Arial  " charset="0"/>
                <a:cs typeface="Arial  " charset="0"/>
              </a:rPr>
              <a:t>Results sent over a “Common Data Bus” which broadcasts results to all Function Units (Fus), and identifies producer “tag” not the consumer</a:t>
            </a:r>
          </a:p>
          <a:p>
            <a:r>
              <a:rPr lang="en-US" sz="1800" dirty="0">
                <a:latin typeface="Arial  " charset="0"/>
                <a:cs typeface="Arial  " charset="0"/>
              </a:rPr>
              <a:t>Load and Stores treated as function units with RSs as well</a:t>
            </a:r>
          </a:p>
          <a:p>
            <a:r>
              <a:rPr lang="en-US" sz="1800" dirty="0">
                <a:latin typeface="Arial  " charset="0"/>
                <a:cs typeface="Arial  " charset="0"/>
              </a:rPr>
              <a:t>Tomasulo was working on floating-point hardware unit (similar to example in next few slides). Idea extends to integer instructions as well.</a:t>
            </a:r>
          </a:p>
          <a:p>
            <a:endParaRPr lang="en-US" sz="1800" dirty="0">
              <a:latin typeface="Arial  " charset="0"/>
              <a:cs typeface="Arial  " charset="0"/>
            </a:endParaRPr>
          </a:p>
        </p:txBody>
      </p:sp>
      <p:sp>
        <p:nvSpPr>
          <p:cNvPr id="2765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D9642F7-16BD-493D-95EF-C9146FD68710}" type="slidenum">
              <a:rPr lang="en-GB" smtClean="0"/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10</a:t>
            </a:fld>
            <a:r>
              <a:rPr lang="en-GB"/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0"/>
            <a:ext cx="8402637" cy="1022350"/>
          </a:xfrm>
        </p:spPr>
        <p:txBody>
          <a:bodyPr lIns="90360" tIns="44280" rIns="90360" bIns="44280"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latin typeface="Arial  " charset="0"/>
                <a:cs typeface="Arial  " charset="0"/>
              </a:rPr>
              <a:t>Tomasulo Algorithm</a:t>
            </a:r>
          </a:p>
        </p:txBody>
      </p:sp>
      <p:sp>
        <p:nvSpPr>
          <p:cNvPr id="28675" name="Slide Number Placeholder 7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DEC6FE2-D963-44E7-9F27-D84271B72300}" type="slidenum">
              <a:rPr lang="en-GB" smtClean="0"/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11</a:t>
            </a:fld>
            <a:r>
              <a:rPr lang="en-GB"/>
              <a:t> </a:t>
            </a:r>
          </a:p>
        </p:txBody>
      </p:sp>
      <p:grpSp>
        <p:nvGrpSpPr>
          <p:cNvPr id="28676" name="Group 88"/>
          <p:cNvGrpSpPr>
            <a:grpSpLocks/>
          </p:cNvGrpSpPr>
          <p:nvPr/>
        </p:nvGrpSpPr>
        <p:grpSpPr bwMode="auto">
          <a:xfrm>
            <a:off x="77788" y="1155700"/>
            <a:ext cx="8821737" cy="5259388"/>
            <a:chOff x="77235" y="1156475"/>
            <a:chExt cx="8822299" cy="5258954"/>
          </a:xfrm>
        </p:grpSpPr>
        <p:grpSp>
          <p:nvGrpSpPr>
            <p:cNvPr id="28677" name="Group 2"/>
            <p:cNvGrpSpPr>
              <a:grpSpLocks/>
            </p:cNvGrpSpPr>
            <p:nvPr/>
          </p:nvGrpSpPr>
          <p:grpSpPr bwMode="auto">
            <a:xfrm>
              <a:off x="725488" y="2225675"/>
              <a:ext cx="912812" cy="1217613"/>
              <a:chOff x="457" y="1402"/>
              <a:chExt cx="575" cy="767"/>
            </a:xfrm>
          </p:grpSpPr>
          <p:sp>
            <p:nvSpPr>
              <p:cNvPr id="12291" name="Rectangle 3"/>
              <p:cNvSpPr>
                <a:spLocks noChangeArrowheads="1"/>
              </p:cNvSpPr>
              <p:nvPr/>
            </p:nvSpPr>
            <p:spPr bwMode="auto">
              <a:xfrm>
                <a:off x="457" y="1402"/>
                <a:ext cx="576" cy="128"/>
              </a:xfrm>
              <a:prstGeom prst="rect">
                <a:avLst/>
              </a:prstGeom>
              <a:solidFill>
                <a:srgbClr val="FFFFFF"/>
              </a:solidFill>
              <a:ln w="2844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63500" dist="107933" dir="2700000" algn="ctr" rotWithShape="0">
                  <a:srgbClr val="000000">
                    <a:alpha val="74998"/>
                  </a:srgb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Arial" pitchFamily="34" charset="0"/>
                </a:endParaRPr>
              </a:p>
            </p:txBody>
          </p:sp>
          <p:sp>
            <p:nvSpPr>
              <p:cNvPr id="12292" name="Rectangle 4"/>
              <p:cNvSpPr>
                <a:spLocks noChangeArrowheads="1"/>
              </p:cNvSpPr>
              <p:nvPr/>
            </p:nvSpPr>
            <p:spPr bwMode="auto">
              <a:xfrm>
                <a:off x="457" y="1530"/>
                <a:ext cx="576" cy="128"/>
              </a:xfrm>
              <a:prstGeom prst="rect">
                <a:avLst/>
              </a:prstGeom>
              <a:solidFill>
                <a:srgbClr val="FFFFFF"/>
              </a:solidFill>
              <a:ln w="2844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63500" dist="107933" dir="2700000" algn="ctr" rotWithShape="0">
                  <a:srgbClr val="000000">
                    <a:alpha val="74998"/>
                  </a:srgb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Arial" pitchFamily="34" charset="0"/>
                </a:endParaRPr>
              </a:p>
            </p:txBody>
          </p:sp>
          <p:sp>
            <p:nvSpPr>
              <p:cNvPr id="12293" name="Rectangle 5"/>
              <p:cNvSpPr>
                <a:spLocks noChangeArrowheads="1"/>
              </p:cNvSpPr>
              <p:nvPr/>
            </p:nvSpPr>
            <p:spPr bwMode="auto">
              <a:xfrm>
                <a:off x="457" y="1658"/>
                <a:ext cx="576" cy="128"/>
              </a:xfrm>
              <a:prstGeom prst="rect">
                <a:avLst/>
              </a:prstGeom>
              <a:solidFill>
                <a:srgbClr val="FFFFFF"/>
              </a:solidFill>
              <a:ln w="2844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63500" dist="107933" dir="2700000" algn="ctr" rotWithShape="0">
                  <a:srgbClr val="000000">
                    <a:alpha val="74998"/>
                  </a:srgb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Arial" pitchFamily="34" charset="0"/>
                </a:endParaRPr>
              </a:p>
            </p:txBody>
          </p:sp>
          <p:sp>
            <p:nvSpPr>
              <p:cNvPr id="12294" name="Rectangle 6"/>
              <p:cNvSpPr>
                <a:spLocks noChangeArrowheads="1"/>
              </p:cNvSpPr>
              <p:nvPr/>
            </p:nvSpPr>
            <p:spPr bwMode="auto">
              <a:xfrm>
                <a:off x="457" y="1786"/>
                <a:ext cx="576" cy="128"/>
              </a:xfrm>
              <a:prstGeom prst="rect">
                <a:avLst/>
              </a:prstGeom>
              <a:solidFill>
                <a:srgbClr val="FFFFFF"/>
              </a:solidFill>
              <a:ln w="2844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63500" dist="107933" dir="2700000" algn="ctr" rotWithShape="0">
                  <a:srgbClr val="000000">
                    <a:alpha val="74998"/>
                  </a:srgb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Arial" pitchFamily="34" charset="0"/>
                </a:endParaRPr>
              </a:p>
            </p:txBody>
          </p:sp>
          <p:sp>
            <p:nvSpPr>
              <p:cNvPr id="12295" name="Rectangle 7"/>
              <p:cNvSpPr>
                <a:spLocks noChangeArrowheads="1"/>
              </p:cNvSpPr>
              <p:nvPr/>
            </p:nvSpPr>
            <p:spPr bwMode="auto">
              <a:xfrm>
                <a:off x="457" y="1914"/>
                <a:ext cx="576" cy="128"/>
              </a:xfrm>
              <a:prstGeom prst="rect">
                <a:avLst/>
              </a:prstGeom>
              <a:solidFill>
                <a:srgbClr val="FFFFFF"/>
              </a:solidFill>
              <a:ln w="2844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63500" dist="107933" dir="2700000" algn="ctr" rotWithShape="0">
                  <a:srgbClr val="000000">
                    <a:alpha val="74998"/>
                  </a:srgb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Arial" pitchFamily="34" charset="0"/>
                </a:endParaRPr>
              </a:p>
            </p:txBody>
          </p:sp>
          <p:sp>
            <p:nvSpPr>
              <p:cNvPr id="12296" name="Rectangle 8"/>
              <p:cNvSpPr>
                <a:spLocks noChangeArrowheads="1"/>
              </p:cNvSpPr>
              <p:nvPr/>
            </p:nvSpPr>
            <p:spPr bwMode="auto">
              <a:xfrm>
                <a:off x="457" y="2042"/>
                <a:ext cx="576" cy="128"/>
              </a:xfrm>
              <a:prstGeom prst="rect">
                <a:avLst/>
              </a:prstGeom>
              <a:solidFill>
                <a:srgbClr val="FFFFFF"/>
              </a:solidFill>
              <a:ln w="2844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63500" dist="107933" dir="2700000" algn="ctr" rotWithShape="0">
                  <a:srgbClr val="000000">
                    <a:alpha val="74998"/>
                  </a:srgb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Arial" pitchFamily="34" charset="0"/>
                </a:endParaRPr>
              </a:p>
            </p:txBody>
          </p:sp>
        </p:grpSp>
        <p:sp>
          <p:nvSpPr>
            <p:cNvPr id="28678" name="Line 9"/>
            <p:cNvSpPr>
              <a:spLocks noChangeShapeType="1"/>
            </p:cNvSpPr>
            <p:nvPr/>
          </p:nvSpPr>
          <p:spPr bwMode="auto">
            <a:xfrm>
              <a:off x="1106488" y="1616075"/>
              <a:ext cx="1587" cy="609600"/>
            </a:xfrm>
            <a:prstGeom prst="line">
              <a:avLst/>
            </a:prstGeom>
            <a:noFill/>
            <a:ln w="5724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grpSp>
          <p:nvGrpSpPr>
            <p:cNvPr id="28679" name="Group 10"/>
            <p:cNvGrpSpPr>
              <a:grpSpLocks/>
            </p:cNvGrpSpPr>
            <p:nvPr/>
          </p:nvGrpSpPr>
          <p:grpSpPr bwMode="auto">
            <a:xfrm>
              <a:off x="2833471" y="1246188"/>
              <a:ext cx="1664388" cy="1217612"/>
              <a:chOff x="2104" y="785"/>
              <a:chExt cx="575" cy="767"/>
            </a:xfrm>
          </p:grpSpPr>
          <p:sp>
            <p:nvSpPr>
              <p:cNvPr id="12299" name="Rectangle 11"/>
              <p:cNvSpPr>
                <a:spLocks noChangeArrowheads="1"/>
              </p:cNvSpPr>
              <p:nvPr/>
            </p:nvSpPr>
            <p:spPr bwMode="auto">
              <a:xfrm>
                <a:off x="2104" y="785"/>
                <a:ext cx="576" cy="128"/>
              </a:xfrm>
              <a:prstGeom prst="rect">
                <a:avLst/>
              </a:prstGeom>
              <a:solidFill>
                <a:srgbClr val="FFFFFF"/>
              </a:solidFill>
              <a:ln w="2844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63500" dist="107933" dir="2700000" algn="ctr" rotWithShape="0">
                  <a:srgbClr val="000000">
                    <a:alpha val="74998"/>
                  </a:srgb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Arial" pitchFamily="34" charset="0"/>
                </a:endParaRPr>
              </a:p>
            </p:txBody>
          </p:sp>
          <p:sp>
            <p:nvSpPr>
              <p:cNvPr id="12300" name="Rectangle 12"/>
              <p:cNvSpPr>
                <a:spLocks noChangeArrowheads="1"/>
              </p:cNvSpPr>
              <p:nvPr/>
            </p:nvSpPr>
            <p:spPr bwMode="auto">
              <a:xfrm>
                <a:off x="2104" y="913"/>
                <a:ext cx="576" cy="128"/>
              </a:xfrm>
              <a:prstGeom prst="rect">
                <a:avLst/>
              </a:prstGeom>
              <a:solidFill>
                <a:srgbClr val="FFFFFF"/>
              </a:solidFill>
              <a:ln w="2844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63500" dist="107933" dir="2700000" algn="ctr" rotWithShape="0">
                  <a:srgbClr val="000000">
                    <a:alpha val="74998"/>
                  </a:srgb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Arial" pitchFamily="34" charset="0"/>
                </a:endParaRPr>
              </a:p>
            </p:txBody>
          </p:sp>
          <p:sp>
            <p:nvSpPr>
              <p:cNvPr id="12301" name="Rectangle 13"/>
              <p:cNvSpPr>
                <a:spLocks noChangeArrowheads="1"/>
              </p:cNvSpPr>
              <p:nvPr/>
            </p:nvSpPr>
            <p:spPr bwMode="auto">
              <a:xfrm>
                <a:off x="2104" y="1041"/>
                <a:ext cx="576" cy="128"/>
              </a:xfrm>
              <a:prstGeom prst="rect">
                <a:avLst/>
              </a:prstGeom>
              <a:solidFill>
                <a:srgbClr val="FFFFFF"/>
              </a:solidFill>
              <a:ln w="2844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63500" dist="107933" dir="2700000" algn="ctr" rotWithShape="0">
                  <a:srgbClr val="000000">
                    <a:alpha val="74998"/>
                  </a:srgb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Arial" pitchFamily="34" charset="0"/>
                </a:endParaRPr>
              </a:p>
            </p:txBody>
          </p:sp>
          <p:sp>
            <p:nvSpPr>
              <p:cNvPr id="12302" name="Rectangle 14"/>
              <p:cNvSpPr>
                <a:spLocks noChangeArrowheads="1"/>
              </p:cNvSpPr>
              <p:nvPr/>
            </p:nvSpPr>
            <p:spPr bwMode="auto">
              <a:xfrm>
                <a:off x="2104" y="1169"/>
                <a:ext cx="576" cy="128"/>
              </a:xfrm>
              <a:prstGeom prst="rect">
                <a:avLst/>
              </a:prstGeom>
              <a:solidFill>
                <a:srgbClr val="FFFFFF"/>
              </a:solidFill>
              <a:ln w="2844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63500" dist="107933" dir="2700000" algn="ctr" rotWithShape="0">
                  <a:srgbClr val="000000">
                    <a:alpha val="74998"/>
                  </a:srgb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Arial" pitchFamily="34" charset="0"/>
                </a:endParaRPr>
              </a:p>
            </p:txBody>
          </p:sp>
          <p:sp>
            <p:nvSpPr>
              <p:cNvPr id="12303" name="Rectangle 15"/>
              <p:cNvSpPr>
                <a:spLocks noChangeArrowheads="1"/>
              </p:cNvSpPr>
              <p:nvPr/>
            </p:nvSpPr>
            <p:spPr bwMode="auto">
              <a:xfrm>
                <a:off x="2104" y="1297"/>
                <a:ext cx="576" cy="128"/>
              </a:xfrm>
              <a:prstGeom prst="rect">
                <a:avLst/>
              </a:prstGeom>
              <a:solidFill>
                <a:srgbClr val="FFFFFF"/>
              </a:solidFill>
              <a:ln w="2844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63500" dist="107933" dir="2700000" algn="ctr" rotWithShape="0">
                  <a:srgbClr val="000000">
                    <a:alpha val="74998"/>
                  </a:srgb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Arial" pitchFamily="34" charset="0"/>
                </a:endParaRPr>
              </a:p>
            </p:txBody>
          </p:sp>
          <p:sp>
            <p:nvSpPr>
              <p:cNvPr id="12304" name="Rectangle 16"/>
              <p:cNvSpPr>
                <a:spLocks noChangeArrowheads="1"/>
              </p:cNvSpPr>
              <p:nvPr/>
            </p:nvSpPr>
            <p:spPr bwMode="auto">
              <a:xfrm>
                <a:off x="2104" y="1425"/>
                <a:ext cx="576" cy="128"/>
              </a:xfrm>
              <a:prstGeom prst="rect">
                <a:avLst/>
              </a:prstGeom>
              <a:solidFill>
                <a:srgbClr val="FFFFFF"/>
              </a:solidFill>
              <a:ln w="2844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63500" dist="107933" dir="2700000" algn="ctr" rotWithShape="0">
                  <a:srgbClr val="000000">
                    <a:alpha val="74998"/>
                  </a:srgb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Arial" pitchFamily="34" charset="0"/>
                </a:endParaRPr>
              </a:p>
            </p:txBody>
          </p:sp>
        </p:grpSp>
        <p:grpSp>
          <p:nvGrpSpPr>
            <p:cNvPr id="28680" name="Group 17"/>
            <p:cNvGrpSpPr>
              <a:grpSpLocks/>
            </p:cNvGrpSpPr>
            <p:nvPr/>
          </p:nvGrpSpPr>
          <p:grpSpPr bwMode="auto">
            <a:xfrm>
              <a:off x="5168900" y="1474788"/>
              <a:ext cx="2208213" cy="811212"/>
              <a:chOff x="3256" y="929"/>
              <a:chExt cx="1391" cy="511"/>
            </a:xfrm>
          </p:grpSpPr>
          <p:sp>
            <p:nvSpPr>
              <p:cNvPr id="12306" name="Rectangle 18"/>
              <p:cNvSpPr>
                <a:spLocks noChangeArrowheads="1"/>
              </p:cNvSpPr>
              <p:nvPr/>
            </p:nvSpPr>
            <p:spPr bwMode="auto">
              <a:xfrm>
                <a:off x="3256" y="929"/>
                <a:ext cx="1392" cy="128"/>
              </a:xfrm>
              <a:prstGeom prst="rect">
                <a:avLst/>
              </a:prstGeom>
              <a:solidFill>
                <a:srgbClr val="FFFFFF"/>
              </a:solidFill>
              <a:ln w="2844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63500" dist="107933" dir="2700000" algn="ctr" rotWithShape="0">
                  <a:srgbClr val="000000">
                    <a:alpha val="74998"/>
                  </a:srgb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Arial" pitchFamily="34" charset="0"/>
                </a:endParaRPr>
              </a:p>
            </p:txBody>
          </p:sp>
          <p:sp>
            <p:nvSpPr>
              <p:cNvPr id="12307" name="Rectangle 19"/>
              <p:cNvSpPr>
                <a:spLocks noChangeArrowheads="1"/>
              </p:cNvSpPr>
              <p:nvPr/>
            </p:nvSpPr>
            <p:spPr bwMode="auto">
              <a:xfrm>
                <a:off x="3256" y="1057"/>
                <a:ext cx="1392" cy="128"/>
              </a:xfrm>
              <a:prstGeom prst="rect">
                <a:avLst/>
              </a:prstGeom>
              <a:solidFill>
                <a:srgbClr val="FFFFFF"/>
              </a:solidFill>
              <a:ln w="2844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63500" dist="107933" dir="2700000" algn="ctr" rotWithShape="0">
                  <a:srgbClr val="000000">
                    <a:alpha val="74998"/>
                  </a:srgb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Arial" pitchFamily="34" charset="0"/>
                </a:endParaRPr>
              </a:p>
            </p:txBody>
          </p:sp>
          <p:sp>
            <p:nvSpPr>
              <p:cNvPr id="12308" name="Rectangle 20"/>
              <p:cNvSpPr>
                <a:spLocks noChangeArrowheads="1"/>
              </p:cNvSpPr>
              <p:nvPr/>
            </p:nvSpPr>
            <p:spPr bwMode="auto">
              <a:xfrm>
                <a:off x="3256" y="1185"/>
                <a:ext cx="1392" cy="128"/>
              </a:xfrm>
              <a:prstGeom prst="rect">
                <a:avLst/>
              </a:prstGeom>
              <a:solidFill>
                <a:srgbClr val="FFFFFF"/>
              </a:solidFill>
              <a:ln w="2844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63500" dist="107933" dir="2700000" algn="ctr" rotWithShape="0">
                  <a:srgbClr val="000000">
                    <a:alpha val="74998"/>
                  </a:srgb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Arial" pitchFamily="34" charset="0"/>
                </a:endParaRPr>
              </a:p>
            </p:txBody>
          </p:sp>
          <p:sp>
            <p:nvSpPr>
              <p:cNvPr id="12309" name="Rectangle 21"/>
              <p:cNvSpPr>
                <a:spLocks noChangeArrowheads="1"/>
              </p:cNvSpPr>
              <p:nvPr/>
            </p:nvSpPr>
            <p:spPr bwMode="auto">
              <a:xfrm>
                <a:off x="3256" y="1313"/>
                <a:ext cx="1392" cy="128"/>
              </a:xfrm>
              <a:prstGeom prst="rect">
                <a:avLst/>
              </a:prstGeom>
              <a:solidFill>
                <a:srgbClr val="FFFFFF"/>
              </a:solidFill>
              <a:ln w="2844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63500" dist="107933" dir="2700000" algn="ctr" rotWithShape="0">
                  <a:srgbClr val="000000">
                    <a:alpha val="74998"/>
                  </a:srgb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Arial" pitchFamily="34" charset="0"/>
                </a:endParaRPr>
              </a:p>
            </p:txBody>
          </p:sp>
        </p:grpSp>
        <p:grpSp>
          <p:nvGrpSpPr>
            <p:cNvPr id="28681" name="Group 22"/>
            <p:cNvGrpSpPr>
              <a:grpSpLocks/>
            </p:cNvGrpSpPr>
            <p:nvPr/>
          </p:nvGrpSpPr>
          <p:grpSpPr bwMode="auto">
            <a:xfrm>
              <a:off x="7583488" y="3368675"/>
              <a:ext cx="912812" cy="608013"/>
              <a:chOff x="4777" y="2122"/>
              <a:chExt cx="575" cy="383"/>
            </a:xfrm>
          </p:grpSpPr>
          <p:sp>
            <p:nvSpPr>
              <p:cNvPr id="12311" name="Rectangle 23"/>
              <p:cNvSpPr>
                <a:spLocks noChangeArrowheads="1"/>
              </p:cNvSpPr>
              <p:nvPr/>
            </p:nvSpPr>
            <p:spPr bwMode="auto">
              <a:xfrm>
                <a:off x="4777" y="2122"/>
                <a:ext cx="576" cy="128"/>
              </a:xfrm>
              <a:prstGeom prst="rect">
                <a:avLst/>
              </a:prstGeom>
              <a:solidFill>
                <a:srgbClr val="FFFFFF"/>
              </a:solidFill>
              <a:ln w="2844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63500" dist="107933" dir="2700000" algn="ctr" rotWithShape="0">
                  <a:srgbClr val="000000">
                    <a:alpha val="74998"/>
                  </a:srgb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Arial" pitchFamily="34" charset="0"/>
                </a:endParaRPr>
              </a:p>
            </p:txBody>
          </p:sp>
          <p:sp>
            <p:nvSpPr>
              <p:cNvPr id="12312" name="Rectangle 24"/>
              <p:cNvSpPr>
                <a:spLocks noChangeArrowheads="1"/>
              </p:cNvSpPr>
              <p:nvPr/>
            </p:nvSpPr>
            <p:spPr bwMode="auto">
              <a:xfrm>
                <a:off x="4777" y="2250"/>
                <a:ext cx="576" cy="128"/>
              </a:xfrm>
              <a:prstGeom prst="rect">
                <a:avLst/>
              </a:prstGeom>
              <a:solidFill>
                <a:srgbClr val="FFFFFF"/>
              </a:solidFill>
              <a:ln w="2844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63500" dist="107933" dir="2700000" algn="ctr" rotWithShape="0">
                  <a:srgbClr val="000000">
                    <a:alpha val="74998"/>
                  </a:srgb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Arial" pitchFamily="34" charset="0"/>
                </a:endParaRPr>
              </a:p>
            </p:txBody>
          </p:sp>
          <p:sp>
            <p:nvSpPr>
              <p:cNvPr id="12313" name="Rectangle 25"/>
              <p:cNvSpPr>
                <a:spLocks noChangeArrowheads="1"/>
              </p:cNvSpPr>
              <p:nvPr/>
            </p:nvSpPr>
            <p:spPr bwMode="auto">
              <a:xfrm>
                <a:off x="4777" y="2378"/>
                <a:ext cx="576" cy="128"/>
              </a:xfrm>
              <a:prstGeom prst="rect">
                <a:avLst/>
              </a:prstGeom>
              <a:solidFill>
                <a:srgbClr val="FFFFFF"/>
              </a:solidFill>
              <a:ln w="2844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63500" dist="107933" dir="2700000" algn="ctr" rotWithShape="0">
                  <a:srgbClr val="000000">
                    <a:alpha val="74998"/>
                  </a:srgb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Arial" pitchFamily="34" charset="0"/>
                </a:endParaRPr>
              </a:p>
            </p:txBody>
          </p:sp>
        </p:grpSp>
        <p:grpSp>
          <p:nvGrpSpPr>
            <p:cNvPr id="28682" name="Group 26"/>
            <p:cNvGrpSpPr>
              <a:grpSpLocks/>
            </p:cNvGrpSpPr>
            <p:nvPr/>
          </p:nvGrpSpPr>
          <p:grpSpPr bwMode="auto">
            <a:xfrm>
              <a:off x="1677988" y="3913188"/>
              <a:ext cx="2208212" cy="608012"/>
              <a:chOff x="1057" y="2465"/>
              <a:chExt cx="1391" cy="383"/>
            </a:xfrm>
          </p:grpSpPr>
          <p:sp>
            <p:nvSpPr>
              <p:cNvPr id="12315" name="Rectangle 27"/>
              <p:cNvSpPr>
                <a:spLocks noChangeArrowheads="1"/>
              </p:cNvSpPr>
              <p:nvPr/>
            </p:nvSpPr>
            <p:spPr bwMode="auto">
              <a:xfrm>
                <a:off x="1057" y="2465"/>
                <a:ext cx="1392" cy="128"/>
              </a:xfrm>
              <a:prstGeom prst="rect">
                <a:avLst/>
              </a:prstGeom>
              <a:solidFill>
                <a:srgbClr val="BBE0E3"/>
              </a:solidFill>
              <a:ln w="2844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63500" dist="107933" dir="2700000" algn="ctr" rotWithShape="0">
                  <a:srgbClr val="000000">
                    <a:alpha val="74998"/>
                  </a:srgb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Arial" pitchFamily="34" charset="0"/>
                </a:endParaRPr>
              </a:p>
            </p:txBody>
          </p:sp>
          <p:sp>
            <p:nvSpPr>
              <p:cNvPr id="12316" name="Rectangle 28"/>
              <p:cNvSpPr>
                <a:spLocks noChangeArrowheads="1"/>
              </p:cNvSpPr>
              <p:nvPr/>
            </p:nvSpPr>
            <p:spPr bwMode="auto">
              <a:xfrm>
                <a:off x="1057" y="2593"/>
                <a:ext cx="1392" cy="128"/>
              </a:xfrm>
              <a:prstGeom prst="rect">
                <a:avLst/>
              </a:prstGeom>
              <a:solidFill>
                <a:srgbClr val="BBE0E3"/>
              </a:solidFill>
              <a:ln w="2844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63500" dist="107933" dir="2700000" algn="ctr" rotWithShape="0">
                  <a:srgbClr val="000000">
                    <a:alpha val="74998"/>
                  </a:srgb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Arial" pitchFamily="34" charset="0"/>
                </a:endParaRPr>
              </a:p>
            </p:txBody>
          </p:sp>
          <p:sp>
            <p:nvSpPr>
              <p:cNvPr id="12317" name="Rectangle 29"/>
              <p:cNvSpPr>
                <a:spLocks noChangeArrowheads="1"/>
              </p:cNvSpPr>
              <p:nvPr/>
            </p:nvSpPr>
            <p:spPr bwMode="auto">
              <a:xfrm>
                <a:off x="1057" y="2721"/>
                <a:ext cx="1392" cy="128"/>
              </a:xfrm>
              <a:prstGeom prst="rect">
                <a:avLst/>
              </a:prstGeom>
              <a:solidFill>
                <a:srgbClr val="BBE0E3"/>
              </a:solidFill>
              <a:ln w="2844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63500" dist="107933" dir="2700000" algn="ctr" rotWithShape="0">
                  <a:srgbClr val="000000">
                    <a:alpha val="74998"/>
                  </a:srgb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Arial" pitchFamily="34" charset="0"/>
                </a:endParaRPr>
              </a:p>
            </p:txBody>
          </p:sp>
        </p:grpSp>
        <p:sp>
          <p:nvSpPr>
            <p:cNvPr id="28683" name="Rectangle 30"/>
            <p:cNvSpPr>
              <a:spLocks noChangeArrowheads="1"/>
            </p:cNvSpPr>
            <p:nvPr/>
          </p:nvSpPr>
          <p:spPr bwMode="auto">
            <a:xfrm>
              <a:off x="2019858" y="3913188"/>
              <a:ext cx="337923" cy="609600"/>
            </a:xfrm>
            <a:prstGeom prst="rect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cs typeface="Arial" pitchFamily="34" charset="0"/>
              </a:endParaRPr>
            </a:p>
          </p:txBody>
        </p:sp>
        <p:sp>
          <p:nvSpPr>
            <p:cNvPr id="12319" name="Rectangle 31"/>
            <p:cNvSpPr>
              <a:spLocks noChangeArrowheads="1"/>
            </p:cNvSpPr>
            <p:nvPr/>
          </p:nvSpPr>
          <p:spPr bwMode="auto">
            <a:xfrm>
              <a:off x="2249073" y="5056641"/>
              <a:ext cx="1066868" cy="304775"/>
            </a:xfrm>
            <a:prstGeom prst="rect">
              <a:avLst/>
            </a:prstGeom>
            <a:solidFill>
              <a:srgbClr val="BBE0E3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100000"/>
                </a:lnSpc>
                <a:buFont typeface="Comic Sans MS" pitchFamily="66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lang="en-GB" sz="1600" b="1">
                  <a:solidFill>
                    <a:srgbClr val="000000"/>
                  </a:solidFill>
                  <a:cs typeface="Arial" pitchFamily="34" charset="0"/>
                </a:rPr>
                <a:t>FP adders</a:t>
              </a:r>
            </a:p>
          </p:txBody>
        </p:sp>
        <p:sp>
          <p:nvSpPr>
            <p:cNvPr id="28685" name="Text Box 32"/>
            <p:cNvSpPr txBox="1">
              <a:spLocks noChangeArrowheads="1"/>
            </p:cNvSpPr>
            <p:nvPr/>
          </p:nvSpPr>
          <p:spPr bwMode="auto">
            <a:xfrm>
              <a:off x="1096791" y="3837700"/>
              <a:ext cx="628995" cy="719300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100000"/>
                </a:lnSpc>
                <a:buClr>
                  <a:srgbClr val="009999"/>
                </a:buClr>
                <a:buFont typeface="Comic Sans MS" pitchFamily="66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b="1">
                  <a:solidFill>
                    <a:srgbClr val="009999"/>
                  </a:solidFill>
                  <a:cs typeface="Arial" pitchFamily="34" charset="0"/>
                </a:rPr>
                <a:t>Add1</a:t>
              </a:r>
            </a:p>
            <a:p>
              <a:pPr algn="ctr">
                <a:lnSpc>
                  <a:spcPct val="100000"/>
                </a:lnSpc>
                <a:buClr>
                  <a:srgbClr val="009999"/>
                </a:buClr>
                <a:buFont typeface="Comic Sans MS" pitchFamily="66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b="1">
                  <a:solidFill>
                    <a:srgbClr val="009999"/>
                  </a:solidFill>
                  <a:cs typeface="Arial" pitchFamily="34" charset="0"/>
                </a:rPr>
                <a:t>Add2</a:t>
              </a:r>
            </a:p>
            <a:p>
              <a:pPr algn="ctr">
                <a:lnSpc>
                  <a:spcPct val="90000"/>
                </a:lnSpc>
                <a:buClr>
                  <a:srgbClr val="009999"/>
                </a:buClr>
                <a:buFont typeface="Comic Sans MS" pitchFamily="66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b="1">
                  <a:solidFill>
                    <a:srgbClr val="009999"/>
                  </a:solidFill>
                  <a:cs typeface="Arial" pitchFamily="34" charset="0"/>
                </a:rPr>
                <a:t>Add3</a:t>
              </a:r>
            </a:p>
          </p:txBody>
        </p:sp>
        <p:grpSp>
          <p:nvGrpSpPr>
            <p:cNvPr id="28686" name="Group 33"/>
            <p:cNvGrpSpPr>
              <a:grpSpLocks/>
            </p:cNvGrpSpPr>
            <p:nvPr/>
          </p:nvGrpSpPr>
          <p:grpSpPr bwMode="auto">
            <a:xfrm>
              <a:off x="4864100" y="4065588"/>
              <a:ext cx="2208213" cy="379412"/>
              <a:chOff x="3064" y="2561"/>
              <a:chExt cx="1391" cy="239"/>
            </a:xfrm>
          </p:grpSpPr>
          <p:sp>
            <p:nvSpPr>
              <p:cNvPr id="12322" name="Rectangle 34"/>
              <p:cNvSpPr>
                <a:spLocks noChangeArrowheads="1"/>
              </p:cNvSpPr>
              <p:nvPr/>
            </p:nvSpPr>
            <p:spPr bwMode="auto">
              <a:xfrm>
                <a:off x="3064" y="2561"/>
                <a:ext cx="1392" cy="120"/>
              </a:xfrm>
              <a:prstGeom prst="rect">
                <a:avLst/>
              </a:prstGeom>
              <a:solidFill>
                <a:srgbClr val="BBE0E3"/>
              </a:solidFill>
              <a:ln w="2844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63500" dist="107933" dir="2700000" algn="ctr" rotWithShape="0">
                  <a:srgbClr val="000000">
                    <a:alpha val="74998"/>
                  </a:srgb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Arial" pitchFamily="34" charset="0"/>
                </a:endParaRPr>
              </a:p>
            </p:txBody>
          </p:sp>
          <p:sp>
            <p:nvSpPr>
              <p:cNvPr id="12323" name="Rectangle 35"/>
              <p:cNvSpPr>
                <a:spLocks noChangeArrowheads="1"/>
              </p:cNvSpPr>
              <p:nvPr/>
            </p:nvSpPr>
            <p:spPr bwMode="auto">
              <a:xfrm>
                <a:off x="3064" y="2681"/>
                <a:ext cx="1392" cy="120"/>
              </a:xfrm>
              <a:prstGeom prst="rect">
                <a:avLst/>
              </a:prstGeom>
              <a:solidFill>
                <a:srgbClr val="BBE0E3"/>
              </a:solidFill>
              <a:ln w="2844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63500" dist="107933" dir="2700000" algn="ctr" rotWithShape="0">
                  <a:srgbClr val="000000">
                    <a:alpha val="74998"/>
                  </a:srgb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Arial" pitchFamily="34" charset="0"/>
                </a:endParaRPr>
              </a:p>
            </p:txBody>
          </p:sp>
        </p:grpSp>
        <p:sp>
          <p:nvSpPr>
            <p:cNvPr id="28687" name="Rectangle 36"/>
            <p:cNvSpPr>
              <a:spLocks noChangeArrowheads="1"/>
            </p:cNvSpPr>
            <p:nvPr/>
          </p:nvSpPr>
          <p:spPr bwMode="auto">
            <a:xfrm>
              <a:off x="5218327" y="4065588"/>
              <a:ext cx="340057" cy="381000"/>
            </a:xfrm>
            <a:prstGeom prst="rect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cs typeface="Arial" pitchFamily="34" charset="0"/>
              </a:endParaRPr>
            </a:p>
          </p:txBody>
        </p:sp>
        <p:sp>
          <p:nvSpPr>
            <p:cNvPr id="12325" name="Rectangle 37"/>
            <p:cNvSpPr>
              <a:spLocks noChangeArrowheads="1"/>
            </p:cNvSpPr>
            <p:nvPr/>
          </p:nvSpPr>
          <p:spPr bwMode="auto">
            <a:xfrm>
              <a:off x="5321081" y="5056641"/>
              <a:ext cx="1447892" cy="304775"/>
            </a:xfrm>
            <a:prstGeom prst="rect">
              <a:avLst/>
            </a:prstGeom>
            <a:solidFill>
              <a:srgbClr val="BBE0E3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100000"/>
                </a:lnSpc>
                <a:buFont typeface="Comic Sans MS" pitchFamily="66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lang="en-GB" sz="1600" b="1">
                  <a:solidFill>
                    <a:srgbClr val="000000"/>
                  </a:solidFill>
                  <a:cs typeface="Arial" pitchFamily="34" charset="0"/>
                </a:rPr>
                <a:t>FP multipliers</a:t>
              </a:r>
            </a:p>
          </p:txBody>
        </p:sp>
        <p:sp>
          <p:nvSpPr>
            <p:cNvPr id="28689" name="Text Box 38"/>
            <p:cNvSpPr txBox="1">
              <a:spLocks noChangeArrowheads="1"/>
            </p:cNvSpPr>
            <p:nvPr/>
          </p:nvSpPr>
          <p:spPr bwMode="auto">
            <a:xfrm>
              <a:off x="4243916" y="4051444"/>
              <a:ext cx="648231" cy="4823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90000"/>
                </a:lnSpc>
                <a:buClr>
                  <a:srgbClr val="009999"/>
                </a:buClr>
                <a:buFont typeface="Comic Sans MS" pitchFamily="66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b="1">
                  <a:solidFill>
                    <a:srgbClr val="009999"/>
                  </a:solidFill>
                  <a:cs typeface="Arial" pitchFamily="34" charset="0"/>
                </a:rPr>
                <a:t>Mult1</a:t>
              </a:r>
            </a:p>
            <a:p>
              <a:pPr algn="ctr">
                <a:lnSpc>
                  <a:spcPct val="90000"/>
                </a:lnSpc>
                <a:buClr>
                  <a:srgbClr val="009999"/>
                </a:buClr>
                <a:buFont typeface="Comic Sans MS" pitchFamily="66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b="1">
                  <a:solidFill>
                    <a:srgbClr val="009999"/>
                  </a:solidFill>
                  <a:cs typeface="Arial" pitchFamily="34" charset="0"/>
                </a:rPr>
                <a:t>Mult2</a:t>
              </a:r>
            </a:p>
          </p:txBody>
        </p:sp>
        <p:sp>
          <p:nvSpPr>
            <p:cNvPr id="28690" name="Line 39"/>
            <p:cNvSpPr>
              <a:spLocks noChangeShapeType="1"/>
            </p:cNvSpPr>
            <p:nvPr/>
          </p:nvSpPr>
          <p:spPr bwMode="auto">
            <a:xfrm>
              <a:off x="2425700" y="4522788"/>
              <a:ext cx="1588" cy="533400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8691" name="Line 40"/>
            <p:cNvSpPr>
              <a:spLocks noChangeShapeType="1"/>
            </p:cNvSpPr>
            <p:nvPr/>
          </p:nvSpPr>
          <p:spPr bwMode="auto">
            <a:xfrm>
              <a:off x="3111500" y="4522788"/>
              <a:ext cx="1588" cy="533400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8692" name="Line 41"/>
            <p:cNvSpPr>
              <a:spLocks noChangeShapeType="1"/>
            </p:cNvSpPr>
            <p:nvPr/>
          </p:nvSpPr>
          <p:spPr bwMode="auto">
            <a:xfrm>
              <a:off x="5549900" y="4446588"/>
              <a:ext cx="1588" cy="609600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8693" name="Line 42"/>
            <p:cNvSpPr>
              <a:spLocks noChangeShapeType="1"/>
            </p:cNvSpPr>
            <p:nvPr/>
          </p:nvSpPr>
          <p:spPr bwMode="auto">
            <a:xfrm>
              <a:off x="6464300" y="4446588"/>
              <a:ext cx="1588" cy="609600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8694" name="Freeform 43"/>
            <p:cNvSpPr>
              <a:spLocks/>
            </p:cNvSpPr>
            <p:nvPr/>
          </p:nvSpPr>
          <p:spPr bwMode="auto">
            <a:xfrm>
              <a:off x="1816100" y="2465388"/>
              <a:ext cx="1981200" cy="1447800"/>
            </a:xfrm>
            <a:custGeom>
              <a:avLst/>
              <a:gdLst>
                <a:gd name="T0" fmla="*/ 2147483647 w 1248"/>
                <a:gd name="T1" fmla="*/ 0 h 912"/>
                <a:gd name="T2" fmla="*/ 2147483647 w 1248"/>
                <a:gd name="T3" fmla="*/ 2147483647 h 912"/>
                <a:gd name="T4" fmla="*/ 0 w 1248"/>
                <a:gd name="T5" fmla="*/ 2147483647 h 912"/>
                <a:gd name="T6" fmla="*/ 0 w 1248"/>
                <a:gd name="T7" fmla="*/ 2147483647 h 91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48"/>
                <a:gd name="T13" fmla="*/ 0 h 912"/>
                <a:gd name="T14" fmla="*/ 1248 w 1248"/>
                <a:gd name="T15" fmla="*/ 912 h 91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48" h="912">
                  <a:moveTo>
                    <a:pt x="1248" y="0"/>
                  </a:moveTo>
                  <a:lnTo>
                    <a:pt x="1248" y="672"/>
                  </a:lnTo>
                  <a:lnTo>
                    <a:pt x="0" y="672"/>
                  </a:lnTo>
                  <a:lnTo>
                    <a:pt x="0" y="912"/>
                  </a:lnTo>
                </a:path>
              </a:pathLst>
            </a:custGeom>
            <a:noFill/>
            <a:ln w="2844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8695" name="Freeform 44"/>
            <p:cNvSpPr>
              <a:spLocks/>
            </p:cNvSpPr>
            <p:nvPr/>
          </p:nvSpPr>
          <p:spPr bwMode="auto">
            <a:xfrm>
              <a:off x="3797300" y="3532188"/>
              <a:ext cx="1219200" cy="533400"/>
            </a:xfrm>
            <a:custGeom>
              <a:avLst/>
              <a:gdLst>
                <a:gd name="T0" fmla="*/ 0 w 768"/>
                <a:gd name="T1" fmla="*/ 0 h 336"/>
                <a:gd name="T2" fmla="*/ 2147483647 w 768"/>
                <a:gd name="T3" fmla="*/ 0 h 336"/>
                <a:gd name="T4" fmla="*/ 2147483647 w 768"/>
                <a:gd name="T5" fmla="*/ 2147483647 h 336"/>
                <a:gd name="T6" fmla="*/ 0 60000 65536"/>
                <a:gd name="T7" fmla="*/ 0 60000 65536"/>
                <a:gd name="T8" fmla="*/ 0 60000 65536"/>
                <a:gd name="T9" fmla="*/ 0 w 768"/>
                <a:gd name="T10" fmla="*/ 0 h 336"/>
                <a:gd name="T11" fmla="*/ 768 w 768"/>
                <a:gd name="T12" fmla="*/ 336 h 3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8" h="336">
                  <a:moveTo>
                    <a:pt x="0" y="0"/>
                  </a:moveTo>
                  <a:lnTo>
                    <a:pt x="768" y="0"/>
                  </a:lnTo>
                  <a:lnTo>
                    <a:pt x="768" y="336"/>
                  </a:lnTo>
                </a:path>
              </a:pathLst>
            </a:custGeom>
            <a:noFill/>
            <a:ln w="2844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8696" name="Freeform 45"/>
            <p:cNvSpPr>
              <a:spLocks/>
            </p:cNvSpPr>
            <p:nvPr/>
          </p:nvSpPr>
          <p:spPr bwMode="auto">
            <a:xfrm>
              <a:off x="2113006" y="2312988"/>
              <a:ext cx="3225114" cy="1600200"/>
            </a:xfrm>
            <a:custGeom>
              <a:avLst/>
              <a:gdLst>
                <a:gd name="T0" fmla="*/ 2147483647 w 1968"/>
                <a:gd name="T1" fmla="*/ 0 h 1008"/>
                <a:gd name="T2" fmla="*/ 2147483647 w 1968"/>
                <a:gd name="T3" fmla="*/ 2147483647 h 1008"/>
                <a:gd name="T4" fmla="*/ 0 w 1968"/>
                <a:gd name="T5" fmla="*/ 2147483647 h 1008"/>
                <a:gd name="T6" fmla="*/ 0 w 1968"/>
                <a:gd name="T7" fmla="*/ 2147483647 h 10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68"/>
                <a:gd name="T13" fmla="*/ 0 h 1008"/>
                <a:gd name="T14" fmla="*/ 1968 w 1968"/>
                <a:gd name="T15" fmla="*/ 1008 h 10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68" h="1008">
                  <a:moveTo>
                    <a:pt x="1968" y="0"/>
                  </a:moveTo>
                  <a:lnTo>
                    <a:pt x="1968" y="528"/>
                  </a:lnTo>
                  <a:lnTo>
                    <a:pt x="0" y="528"/>
                  </a:lnTo>
                  <a:lnTo>
                    <a:pt x="0" y="1008"/>
                  </a:lnTo>
                </a:path>
              </a:pathLst>
            </a:custGeom>
            <a:noFill/>
            <a:ln w="2844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8697" name="Line 46"/>
            <p:cNvSpPr>
              <a:spLocks noChangeShapeType="1"/>
            </p:cNvSpPr>
            <p:nvPr/>
          </p:nvSpPr>
          <p:spPr bwMode="auto">
            <a:xfrm>
              <a:off x="5337773" y="3151188"/>
              <a:ext cx="1588" cy="914400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8698" name="Line 47"/>
            <p:cNvSpPr>
              <a:spLocks noChangeShapeType="1"/>
            </p:cNvSpPr>
            <p:nvPr/>
          </p:nvSpPr>
          <p:spPr bwMode="auto">
            <a:xfrm>
              <a:off x="6571397" y="2312988"/>
              <a:ext cx="1588" cy="1752600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8699" name="Freeform 48"/>
            <p:cNvSpPr>
              <a:spLocks/>
            </p:cNvSpPr>
            <p:nvPr/>
          </p:nvSpPr>
          <p:spPr bwMode="auto">
            <a:xfrm>
              <a:off x="3398108" y="3348680"/>
              <a:ext cx="3163330" cy="564507"/>
            </a:xfrm>
            <a:custGeom>
              <a:avLst/>
              <a:gdLst>
                <a:gd name="T0" fmla="*/ 2147483647 w 1920"/>
                <a:gd name="T1" fmla="*/ 0 h 384"/>
                <a:gd name="T2" fmla="*/ 0 w 1920"/>
                <a:gd name="T3" fmla="*/ 0 h 384"/>
                <a:gd name="T4" fmla="*/ 0 w 1920"/>
                <a:gd name="T5" fmla="*/ 2147483647 h 384"/>
                <a:gd name="T6" fmla="*/ 0 60000 65536"/>
                <a:gd name="T7" fmla="*/ 0 60000 65536"/>
                <a:gd name="T8" fmla="*/ 0 60000 65536"/>
                <a:gd name="T9" fmla="*/ 0 w 1920"/>
                <a:gd name="T10" fmla="*/ 0 h 384"/>
                <a:gd name="T11" fmla="*/ 1920 w 1920"/>
                <a:gd name="T12" fmla="*/ 384 h 3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20" h="384">
                  <a:moveTo>
                    <a:pt x="1920" y="0"/>
                  </a:moveTo>
                  <a:lnTo>
                    <a:pt x="0" y="0"/>
                  </a:lnTo>
                  <a:lnTo>
                    <a:pt x="0" y="384"/>
                  </a:lnTo>
                </a:path>
              </a:pathLst>
            </a:custGeom>
            <a:noFill/>
            <a:ln w="2844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8700" name="Freeform 49"/>
            <p:cNvSpPr>
              <a:spLocks/>
            </p:cNvSpPr>
            <p:nvPr/>
          </p:nvSpPr>
          <p:spPr bwMode="auto">
            <a:xfrm>
              <a:off x="6573796" y="2835275"/>
              <a:ext cx="1408670" cy="533400"/>
            </a:xfrm>
            <a:custGeom>
              <a:avLst/>
              <a:gdLst>
                <a:gd name="T0" fmla="*/ 0 w 1008"/>
                <a:gd name="T1" fmla="*/ 0 h 144"/>
                <a:gd name="T2" fmla="*/ 2147483647 w 1008"/>
                <a:gd name="T3" fmla="*/ 0 h 144"/>
                <a:gd name="T4" fmla="*/ 2147483647 w 1008"/>
                <a:gd name="T5" fmla="*/ 2147483647 h 144"/>
                <a:gd name="T6" fmla="*/ 0 60000 65536"/>
                <a:gd name="T7" fmla="*/ 0 60000 65536"/>
                <a:gd name="T8" fmla="*/ 0 60000 65536"/>
                <a:gd name="T9" fmla="*/ 0 w 1008"/>
                <a:gd name="T10" fmla="*/ 0 h 144"/>
                <a:gd name="T11" fmla="*/ 1008 w 1008"/>
                <a:gd name="T12" fmla="*/ 144 h 1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08" h="144">
                  <a:moveTo>
                    <a:pt x="0" y="0"/>
                  </a:moveTo>
                  <a:lnTo>
                    <a:pt x="1008" y="0"/>
                  </a:lnTo>
                  <a:lnTo>
                    <a:pt x="1008" y="144"/>
                  </a:lnTo>
                </a:path>
              </a:pathLst>
            </a:custGeom>
            <a:noFill/>
            <a:ln w="2844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8701" name="Line 50"/>
            <p:cNvSpPr>
              <a:spLocks noChangeShapeType="1"/>
            </p:cNvSpPr>
            <p:nvPr/>
          </p:nvSpPr>
          <p:spPr bwMode="auto">
            <a:xfrm>
              <a:off x="1050324" y="6030096"/>
              <a:ext cx="7846540" cy="12357"/>
            </a:xfrm>
            <a:prstGeom prst="line">
              <a:avLst/>
            </a:prstGeom>
            <a:noFill/>
            <a:ln w="57240">
              <a:solidFill>
                <a:srgbClr val="00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8702" name="Line 51"/>
            <p:cNvSpPr>
              <a:spLocks noChangeShapeType="1"/>
            </p:cNvSpPr>
            <p:nvPr/>
          </p:nvSpPr>
          <p:spPr bwMode="auto">
            <a:xfrm flipH="1" flipV="1">
              <a:off x="8575588" y="3669956"/>
              <a:ext cx="304885" cy="3518"/>
            </a:xfrm>
            <a:prstGeom prst="line">
              <a:avLst/>
            </a:prstGeom>
            <a:noFill/>
            <a:ln w="57240">
              <a:solidFill>
                <a:srgbClr val="009999"/>
              </a:solidFill>
              <a:miter lim="800000"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8703" name="Freeform 52"/>
            <p:cNvSpPr>
              <a:spLocks/>
            </p:cNvSpPr>
            <p:nvPr/>
          </p:nvSpPr>
          <p:spPr bwMode="auto">
            <a:xfrm>
              <a:off x="7438768" y="1844675"/>
              <a:ext cx="1440120" cy="4191000"/>
            </a:xfrm>
            <a:custGeom>
              <a:avLst/>
              <a:gdLst>
                <a:gd name="T0" fmla="*/ 2147483647 w 960"/>
                <a:gd name="T1" fmla="*/ 2147483647 h 2448"/>
                <a:gd name="T2" fmla="*/ 2147483647 w 960"/>
                <a:gd name="T3" fmla="*/ 0 h 2448"/>
                <a:gd name="T4" fmla="*/ 0 w 960"/>
                <a:gd name="T5" fmla="*/ 0 h 2448"/>
                <a:gd name="T6" fmla="*/ 0 60000 65536"/>
                <a:gd name="T7" fmla="*/ 0 60000 65536"/>
                <a:gd name="T8" fmla="*/ 0 60000 65536"/>
                <a:gd name="T9" fmla="*/ 0 w 960"/>
                <a:gd name="T10" fmla="*/ 0 h 2448"/>
                <a:gd name="T11" fmla="*/ 960 w 960"/>
                <a:gd name="T12" fmla="*/ 2448 h 24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60" h="2448">
                  <a:moveTo>
                    <a:pt x="960" y="2448"/>
                  </a:moveTo>
                  <a:lnTo>
                    <a:pt x="960" y="0"/>
                  </a:lnTo>
                  <a:lnTo>
                    <a:pt x="0" y="0"/>
                  </a:lnTo>
                </a:path>
              </a:pathLst>
            </a:custGeom>
            <a:noFill/>
            <a:ln w="57240">
              <a:solidFill>
                <a:srgbClr val="009999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8704" name="Line 53"/>
            <p:cNvSpPr>
              <a:spLocks noChangeShapeType="1"/>
            </p:cNvSpPr>
            <p:nvPr/>
          </p:nvSpPr>
          <p:spPr bwMode="auto">
            <a:xfrm>
              <a:off x="1106488" y="3444875"/>
              <a:ext cx="1587" cy="2590800"/>
            </a:xfrm>
            <a:prstGeom prst="line">
              <a:avLst/>
            </a:prstGeom>
            <a:noFill/>
            <a:ln w="57240">
              <a:solidFill>
                <a:srgbClr val="009999"/>
              </a:solidFill>
              <a:miter lim="800000"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8705" name="Line 54"/>
            <p:cNvSpPr>
              <a:spLocks noChangeShapeType="1"/>
            </p:cNvSpPr>
            <p:nvPr/>
          </p:nvSpPr>
          <p:spPr bwMode="auto">
            <a:xfrm>
              <a:off x="6059488" y="5349875"/>
              <a:ext cx="1587" cy="685800"/>
            </a:xfrm>
            <a:prstGeom prst="line">
              <a:avLst/>
            </a:prstGeom>
            <a:noFill/>
            <a:ln w="57240">
              <a:solidFill>
                <a:srgbClr val="009999"/>
              </a:solidFill>
              <a:miter lim="800000"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8706" name="Line 55"/>
            <p:cNvSpPr>
              <a:spLocks noChangeShapeType="1"/>
            </p:cNvSpPr>
            <p:nvPr/>
          </p:nvSpPr>
          <p:spPr bwMode="auto">
            <a:xfrm>
              <a:off x="2782888" y="5349875"/>
              <a:ext cx="1587" cy="685800"/>
            </a:xfrm>
            <a:prstGeom prst="line">
              <a:avLst/>
            </a:prstGeom>
            <a:noFill/>
            <a:ln w="57240">
              <a:solidFill>
                <a:srgbClr val="009999"/>
              </a:solidFill>
              <a:miter lim="800000"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8707" name="Line 56"/>
            <p:cNvSpPr>
              <a:spLocks noChangeShapeType="1"/>
            </p:cNvSpPr>
            <p:nvPr/>
          </p:nvSpPr>
          <p:spPr bwMode="auto">
            <a:xfrm>
              <a:off x="8040688" y="3978275"/>
              <a:ext cx="1587" cy="609600"/>
            </a:xfrm>
            <a:prstGeom prst="line">
              <a:avLst/>
            </a:prstGeom>
            <a:noFill/>
            <a:ln w="5724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8708" name="Text Box 57"/>
            <p:cNvSpPr txBox="1">
              <a:spLocks noChangeArrowheads="1"/>
            </p:cNvSpPr>
            <p:nvPr/>
          </p:nvSpPr>
          <p:spPr bwMode="auto">
            <a:xfrm>
              <a:off x="341628" y="1232675"/>
              <a:ext cx="1348745" cy="3715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100000"/>
                </a:lnSpc>
                <a:buFont typeface="Comic Sans MS" pitchFamily="66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>
                  <a:solidFill>
                    <a:srgbClr val="000000"/>
                  </a:solidFill>
                  <a:cs typeface="Arial" pitchFamily="34" charset="0"/>
                </a:rPr>
                <a:t>From Mem</a:t>
              </a:r>
            </a:p>
          </p:txBody>
        </p:sp>
        <p:sp>
          <p:nvSpPr>
            <p:cNvPr id="28709" name="Text Box 58"/>
            <p:cNvSpPr txBox="1">
              <a:spLocks noChangeArrowheads="1"/>
            </p:cNvSpPr>
            <p:nvPr/>
          </p:nvSpPr>
          <p:spPr bwMode="auto">
            <a:xfrm>
              <a:off x="5418565" y="1156475"/>
              <a:ext cx="1588233" cy="3715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100000"/>
                </a:lnSpc>
                <a:buFont typeface="Comic Sans MS" pitchFamily="66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>
                  <a:solidFill>
                    <a:srgbClr val="000000"/>
                  </a:solidFill>
                  <a:cs typeface="Arial" pitchFamily="34" charset="0"/>
                </a:rPr>
                <a:t>FP Registers</a:t>
              </a:r>
            </a:p>
          </p:txBody>
        </p:sp>
        <p:sp>
          <p:nvSpPr>
            <p:cNvPr id="28710" name="Text Box 59"/>
            <p:cNvSpPr txBox="1">
              <a:spLocks noChangeArrowheads="1"/>
            </p:cNvSpPr>
            <p:nvPr/>
          </p:nvSpPr>
          <p:spPr bwMode="auto">
            <a:xfrm>
              <a:off x="3720362" y="4546194"/>
              <a:ext cx="1566752" cy="64851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100000"/>
                </a:lnSpc>
                <a:buFont typeface="Comic Sans MS" pitchFamily="66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>
                  <a:solidFill>
                    <a:srgbClr val="000000"/>
                  </a:solidFill>
                  <a:cs typeface="Arial" pitchFamily="34" charset="0"/>
                </a:rPr>
                <a:t>Reservation </a:t>
              </a:r>
            </a:p>
            <a:p>
              <a:pPr algn="ctr">
                <a:lnSpc>
                  <a:spcPct val="100000"/>
                </a:lnSpc>
                <a:buFont typeface="Comic Sans MS" pitchFamily="66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>
                  <a:solidFill>
                    <a:srgbClr val="000000"/>
                  </a:solidFill>
                  <a:cs typeface="Arial" pitchFamily="34" charset="0"/>
                </a:rPr>
                <a:t>Stations</a:t>
              </a:r>
            </a:p>
          </p:txBody>
        </p:sp>
        <p:sp>
          <p:nvSpPr>
            <p:cNvPr id="28711" name="Line 60"/>
            <p:cNvSpPr>
              <a:spLocks noChangeShapeType="1"/>
            </p:cNvSpPr>
            <p:nvPr/>
          </p:nvSpPr>
          <p:spPr bwMode="auto">
            <a:xfrm flipV="1">
              <a:off x="3544888" y="4510088"/>
              <a:ext cx="1587" cy="1222375"/>
            </a:xfrm>
            <a:prstGeom prst="line">
              <a:avLst/>
            </a:prstGeom>
            <a:noFill/>
            <a:ln w="38160">
              <a:solidFill>
                <a:srgbClr val="333399"/>
              </a:solidFill>
              <a:miter lim="800000"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8712" name="Line 61"/>
            <p:cNvSpPr>
              <a:spLocks noChangeShapeType="1"/>
            </p:cNvSpPr>
            <p:nvPr/>
          </p:nvSpPr>
          <p:spPr bwMode="auto">
            <a:xfrm flipH="1" flipV="1">
              <a:off x="3534033" y="4584356"/>
              <a:ext cx="10856" cy="1452906"/>
            </a:xfrm>
            <a:prstGeom prst="line">
              <a:avLst/>
            </a:prstGeom>
            <a:noFill/>
            <a:ln w="57240">
              <a:solidFill>
                <a:srgbClr val="009999"/>
              </a:solidFill>
              <a:miter lim="800000"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8713" name="Line 62"/>
            <p:cNvSpPr>
              <a:spLocks noChangeShapeType="1"/>
            </p:cNvSpPr>
            <p:nvPr/>
          </p:nvSpPr>
          <p:spPr bwMode="auto">
            <a:xfrm flipH="1" flipV="1">
              <a:off x="6895071" y="4497858"/>
              <a:ext cx="2618" cy="1539404"/>
            </a:xfrm>
            <a:prstGeom prst="line">
              <a:avLst/>
            </a:prstGeom>
            <a:noFill/>
            <a:ln w="57240">
              <a:solidFill>
                <a:srgbClr val="009999"/>
              </a:solidFill>
              <a:miter lim="800000"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8714" name="Text Box 63"/>
            <p:cNvSpPr txBox="1">
              <a:spLocks noChangeArrowheads="1"/>
            </p:cNvSpPr>
            <p:nvPr/>
          </p:nvSpPr>
          <p:spPr bwMode="auto">
            <a:xfrm>
              <a:off x="3421158" y="6043916"/>
              <a:ext cx="2964571" cy="3715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100000"/>
                </a:lnSpc>
                <a:buFont typeface="Comic Sans MS" pitchFamily="66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>
                  <a:solidFill>
                    <a:srgbClr val="000000"/>
                  </a:solidFill>
                  <a:cs typeface="Arial" pitchFamily="34" charset="0"/>
                </a:rPr>
                <a:t>Common Data Bus (CDB)</a:t>
              </a:r>
              <a:r>
                <a:rPr lang="ar-SA" sz="1800" b="1">
                  <a:solidFill>
                    <a:srgbClr val="000000"/>
                  </a:solidFill>
                  <a:cs typeface="Arial" pitchFamily="34" charset="0"/>
                </a:rPr>
                <a:t>‏</a:t>
              </a:r>
              <a:endParaRPr lang="en-GB" sz="180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28715" name="Text Box 64"/>
            <p:cNvSpPr txBox="1">
              <a:spLocks noChangeArrowheads="1"/>
            </p:cNvSpPr>
            <p:nvPr/>
          </p:nvSpPr>
          <p:spPr bwMode="auto">
            <a:xfrm>
              <a:off x="7489014" y="4585475"/>
              <a:ext cx="1036672" cy="3715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100000"/>
                </a:lnSpc>
                <a:buFont typeface="Comic Sans MS" pitchFamily="66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>
                  <a:solidFill>
                    <a:srgbClr val="000000"/>
                  </a:solidFill>
                  <a:cs typeface="Arial" pitchFamily="34" charset="0"/>
                </a:rPr>
                <a:t>To Mem</a:t>
              </a:r>
            </a:p>
          </p:txBody>
        </p:sp>
        <p:sp>
          <p:nvSpPr>
            <p:cNvPr id="28716" name="Text Box 65"/>
            <p:cNvSpPr txBox="1">
              <a:spLocks noChangeArrowheads="1"/>
            </p:cNvSpPr>
            <p:nvPr/>
          </p:nvSpPr>
          <p:spPr bwMode="auto">
            <a:xfrm>
              <a:off x="1911347" y="1220726"/>
              <a:ext cx="899904" cy="64851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100000"/>
                </a:lnSpc>
                <a:buFont typeface="Comic Sans MS" pitchFamily="66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>
                  <a:solidFill>
                    <a:srgbClr val="000000"/>
                  </a:solidFill>
                  <a:cs typeface="Arial" pitchFamily="34" charset="0"/>
                </a:rPr>
                <a:t>FP Op</a:t>
              </a:r>
            </a:p>
            <a:p>
              <a:pPr algn="ctr">
                <a:lnSpc>
                  <a:spcPct val="100000"/>
                </a:lnSpc>
                <a:buFont typeface="Comic Sans MS" pitchFamily="66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>
                  <a:solidFill>
                    <a:srgbClr val="000000"/>
                  </a:solidFill>
                  <a:cs typeface="Arial" pitchFamily="34" charset="0"/>
                </a:rPr>
                <a:t>Queue</a:t>
              </a:r>
            </a:p>
          </p:txBody>
        </p:sp>
        <p:sp>
          <p:nvSpPr>
            <p:cNvPr id="28717" name="Text Box 66"/>
            <p:cNvSpPr txBox="1">
              <a:spLocks noChangeArrowheads="1"/>
            </p:cNvSpPr>
            <p:nvPr/>
          </p:nvSpPr>
          <p:spPr bwMode="auto">
            <a:xfrm>
              <a:off x="1672902" y="2544550"/>
              <a:ext cx="1605224" cy="3715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100000"/>
                </a:lnSpc>
                <a:buFont typeface="Comic Sans MS" pitchFamily="66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>
                  <a:solidFill>
                    <a:srgbClr val="000000"/>
                  </a:solidFill>
                  <a:cs typeface="Arial" pitchFamily="34" charset="0"/>
                </a:rPr>
                <a:t>Load Buffers</a:t>
              </a:r>
            </a:p>
          </p:txBody>
        </p:sp>
        <p:sp>
          <p:nvSpPr>
            <p:cNvPr id="28718" name="Text Box 67"/>
            <p:cNvSpPr txBox="1">
              <a:spLocks noChangeArrowheads="1"/>
            </p:cNvSpPr>
            <p:nvPr/>
          </p:nvSpPr>
          <p:spPr bwMode="auto">
            <a:xfrm>
              <a:off x="7909863" y="2652050"/>
              <a:ext cx="989671" cy="64851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100000"/>
                </a:lnSpc>
                <a:buFont typeface="Comic Sans MS" pitchFamily="66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>
                  <a:solidFill>
                    <a:srgbClr val="000000"/>
                  </a:solidFill>
                  <a:cs typeface="Arial" pitchFamily="34" charset="0"/>
                </a:rPr>
                <a:t>Store </a:t>
              </a:r>
            </a:p>
            <a:p>
              <a:pPr algn="ctr">
                <a:lnSpc>
                  <a:spcPct val="100000"/>
                </a:lnSpc>
                <a:buFont typeface="Comic Sans MS" pitchFamily="66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>
                  <a:solidFill>
                    <a:srgbClr val="000000"/>
                  </a:solidFill>
                  <a:cs typeface="Arial" pitchFamily="34" charset="0"/>
                </a:rPr>
                <a:t>Buffers</a:t>
              </a:r>
            </a:p>
          </p:txBody>
        </p:sp>
        <p:sp>
          <p:nvSpPr>
            <p:cNvPr id="28719" name="Text Box 68"/>
            <p:cNvSpPr txBox="1">
              <a:spLocks noChangeArrowheads="1"/>
            </p:cNvSpPr>
            <p:nvPr/>
          </p:nvSpPr>
          <p:spPr bwMode="auto">
            <a:xfrm>
              <a:off x="77235" y="2203146"/>
              <a:ext cx="707544" cy="1257909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90000"/>
                </a:lnSpc>
                <a:buClr>
                  <a:srgbClr val="009999"/>
                </a:buClr>
                <a:buFont typeface="Comic Sans MS" pitchFamily="66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b="1">
                  <a:solidFill>
                    <a:srgbClr val="009999"/>
                  </a:solidFill>
                  <a:cs typeface="Arial" pitchFamily="34" charset="0"/>
                </a:rPr>
                <a:t>Load1</a:t>
              </a:r>
            </a:p>
            <a:p>
              <a:pPr algn="ctr">
                <a:lnSpc>
                  <a:spcPct val="90000"/>
                </a:lnSpc>
                <a:buClr>
                  <a:srgbClr val="009999"/>
                </a:buClr>
                <a:buFont typeface="Comic Sans MS" pitchFamily="66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b="1">
                  <a:solidFill>
                    <a:srgbClr val="009999"/>
                  </a:solidFill>
                  <a:cs typeface="Arial" pitchFamily="34" charset="0"/>
                </a:rPr>
                <a:t>Load2</a:t>
              </a:r>
            </a:p>
            <a:p>
              <a:pPr algn="ctr">
                <a:lnSpc>
                  <a:spcPct val="90000"/>
                </a:lnSpc>
                <a:buClr>
                  <a:srgbClr val="009999"/>
                </a:buClr>
                <a:buFont typeface="Comic Sans MS" pitchFamily="66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b="1">
                  <a:solidFill>
                    <a:srgbClr val="009999"/>
                  </a:solidFill>
                  <a:cs typeface="Arial" pitchFamily="34" charset="0"/>
                </a:rPr>
                <a:t>Load3</a:t>
              </a:r>
            </a:p>
            <a:p>
              <a:pPr algn="ctr">
                <a:lnSpc>
                  <a:spcPct val="90000"/>
                </a:lnSpc>
                <a:buClr>
                  <a:srgbClr val="009999"/>
                </a:buClr>
                <a:buFont typeface="Comic Sans MS" pitchFamily="66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b="1">
                  <a:solidFill>
                    <a:srgbClr val="009999"/>
                  </a:solidFill>
                  <a:cs typeface="Arial" pitchFamily="34" charset="0"/>
                </a:rPr>
                <a:t>Load4</a:t>
              </a:r>
            </a:p>
            <a:p>
              <a:pPr algn="ctr">
                <a:lnSpc>
                  <a:spcPct val="90000"/>
                </a:lnSpc>
                <a:buClr>
                  <a:srgbClr val="009999"/>
                </a:buClr>
                <a:buFont typeface="Comic Sans MS" pitchFamily="66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b="1">
                  <a:solidFill>
                    <a:srgbClr val="009999"/>
                  </a:solidFill>
                  <a:cs typeface="Arial" pitchFamily="34" charset="0"/>
                </a:rPr>
                <a:t>Load5</a:t>
              </a:r>
            </a:p>
            <a:p>
              <a:pPr algn="ctr">
                <a:lnSpc>
                  <a:spcPct val="90000"/>
                </a:lnSpc>
                <a:buClr>
                  <a:srgbClr val="009999"/>
                </a:buClr>
                <a:buFont typeface="Comic Sans MS" pitchFamily="66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b="1">
                  <a:solidFill>
                    <a:srgbClr val="009999"/>
                  </a:solidFill>
                  <a:cs typeface="Arial" pitchFamily="34" charset="0"/>
                </a:rPr>
                <a:t>Load6</a:t>
              </a:r>
            </a:p>
          </p:txBody>
        </p:sp>
        <p:sp>
          <p:nvSpPr>
            <p:cNvPr id="28720" name="Rectangle 30"/>
            <p:cNvSpPr>
              <a:spLocks noChangeArrowheads="1"/>
            </p:cNvSpPr>
            <p:nvPr/>
          </p:nvSpPr>
          <p:spPr bwMode="auto">
            <a:xfrm>
              <a:off x="2938377" y="3917306"/>
              <a:ext cx="321831" cy="609600"/>
            </a:xfrm>
            <a:prstGeom prst="rect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cs typeface="Arial" pitchFamily="34" charset="0"/>
              </a:endParaRPr>
            </a:p>
          </p:txBody>
        </p:sp>
        <p:sp>
          <p:nvSpPr>
            <p:cNvPr id="28721" name="Rectangle 36"/>
            <p:cNvSpPr>
              <a:spLocks noChangeArrowheads="1"/>
            </p:cNvSpPr>
            <p:nvPr/>
          </p:nvSpPr>
          <p:spPr bwMode="auto">
            <a:xfrm>
              <a:off x="6099776" y="4069707"/>
              <a:ext cx="336971" cy="381000"/>
            </a:xfrm>
            <a:prstGeom prst="rect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cs typeface="Arial" pitchFamily="34" charset="0"/>
              </a:endParaRPr>
            </a:p>
          </p:txBody>
        </p:sp>
        <p:sp>
          <p:nvSpPr>
            <p:cNvPr id="28722" name="Rectangle 36"/>
            <p:cNvSpPr>
              <a:spLocks noChangeArrowheads="1"/>
            </p:cNvSpPr>
            <p:nvPr/>
          </p:nvSpPr>
          <p:spPr bwMode="auto">
            <a:xfrm>
              <a:off x="5164780" y="1470454"/>
              <a:ext cx="482257" cy="815546"/>
            </a:xfrm>
            <a:prstGeom prst="rect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cs typeface="Arial" pitchFamily="34" charset="0"/>
              </a:endParaRPr>
            </a:p>
          </p:txBody>
        </p:sp>
        <p:sp>
          <p:nvSpPr>
            <p:cNvPr id="28723" name="Rectangle 36"/>
            <p:cNvSpPr>
              <a:spLocks noChangeArrowheads="1"/>
            </p:cNvSpPr>
            <p:nvPr/>
          </p:nvSpPr>
          <p:spPr bwMode="auto">
            <a:xfrm>
              <a:off x="7590824" y="3373394"/>
              <a:ext cx="337935" cy="605481"/>
            </a:xfrm>
            <a:prstGeom prst="rect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cs typeface="Arial" pitchFamily="34" charset="0"/>
              </a:endParaRPr>
            </a:p>
          </p:txBody>
        </p:sp>
        <p:sp>
          <p:nvSpPr>
            <p:cNvPr id="28724" name="Line 46"/>
            <p:cNvSpPr>
              <a:spLocks noChangeShapeType="1"/>
            </p:cNvSpPr>
            <p:nvPr/>
          </p:nvSpPr>
          <p:spPr bwMode="auto">
            <a:xfrm>
              <a:off x="5733535" y="3361038"/>
              <a:ext cx="5360" cy="708668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8725" name="Oval 76"/>
            <p:cNvSpPr>
              <a:spLocks noChangeArrowheads="1"/>
            </p:cNvSpPr>
            <p:nvPr/>
          </p:nvSpPr>
          <p:spPr bwMode="auto">
            <a:xfrm>
              <a:off x="3758642" y="3488532"/>
              <a:ext cx="75170" cy="72982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8726" name="Oval 77"/>
            <p:cNvSpPr>
              <a:spLocks noChangeArrowheads="1"/>
            </p:cNvSpPr>
            <p:nvPr/>
          </p:nvSpPr>
          <p:spPr bwMode="auto">
            <a:xfrm>
              <a:off x="5295126" y="3102770"/>
              <a:ext cx="75170" cy="72982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8727" name="Line 46"/>
            <p:cNvSpPr>
              <a:spLocks noChangeShapeType="1"/>
            </p:cNvSpPr>
            <p:nvPr/>
          </p:nvSpPr>
          <p:spPr bwMode="auto">
            <a:xfrm flipH="1">
              <a:off x="3064476" y="3138617"/>
              <a:ext cx="0" cy="766118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8728" name="Oval 79"/>
            <p:cNvSpPr>
              <a:spLocks noChangeArrowheads="1"/>
            </p:cNvSpPr>
            <p:nvPr/>
          </p:nvSpPr>
          <p:spPr bwMode="auto">
            <a:xfrm>
              <a:off x="3021338" y="3121938"/>
              <a:ext cx="75170" cy="72982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8729" name="Freeform 49"/>
            <p:cNvSpPr>
              <a:spLocks/>
            </p:cNvSpPr>
            <p:nvPr/>
          </p:nvSpPr>
          <p:spPr bwMode="auto">
            <a:xfrm>
              <a:off x="5280455" y="3150973"/>
              <a:ext cx="959708" cy="902042"/>
            </a:xfrm>
            <a:custGeom>
              <a:avLst/>
              <a:gdLst>
                <a:gd name="T0" fmla="*/ 0 w 1008"/>
                <a:gd name="T1" fmla="*/ 0 h 144"/>
                <a:gd name="T2" fmla="*/ 2147483647 w 1008"/>
                <a:gd name="T3" fmla="*/ 0 h 144"/>
                <a:gd name="T4" fmla="*/ 2147483647 w 1008"/>
                <a:gd name="T5" fmla="*/ 2147483647 h 144"/>
                <a:gd name="T6" fmla="*/ 0 60000 65536"/>
                <a:gd name="T7" fmla="*/ 0 60000 65536"/>
                <a:gd name="T8" fmla="*/ 0 60000 65536"/>
                <a:gd name="T9" fmla="*/ 0 w 1008"/>
                <a:gd name="T10" fmla="*/ 0 h 144"/>
                <a:gd name="T11" fmla="*/ 1008 w 1008"/>
                <a:gd name="T12" fmla="*/ 144 h 1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08" h="144">
                  <a:moveTo>
                    <a:pt x="0" y="0"/>
                  </a:moveTo>
                  <a:lnTo>
                    <a:pt x="1008" y="0"/>
                  </a:lnTo>
                  <a:lnTo>
                    <a:pt x="1008" y="144"/>
                  </a:lnTo>
                </a:path>
              </a:pathLst>
            </a:custGeom>
            <a:noFill/>
            <a:ln w="2844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8730" name="Oval 81"/>
            <p:cNvSpPr>
              <a:spLocks noChangeArrowheads="1"/>
            </p:cNvSpPr>
            <p:nvPr/>
          </p:nvSpPr>
          <p:spPr bwMode="auto">
            <a:xfrm>
              <a:off x="5690450" y="3319650"/>
              <a:ext cx="75170" cy="72982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8731" name="Oval 82"/>
            <p:cNvSpPr>
              <a:spLocks noChangeArrowheads="1"/>
            </p:cNvSpPr>
            <p:nvPr/>
          </p:nvSpPr>
          <p:spPr bwMode="auto">
            <a:xfrm>
              <a:off x="6534842" y="3311409"/>
              <a:ext cx="75170" cy="72982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8732" name="Oval 83"/>
            <p:cNvSpPr>
              <a:spLocks noChangeArrowheads="1"/>
            </p:cNvSpPr>
            <p:nvPr/>
          </p:nvSpPr>
          <p:spPr bwMode="auto">
            <a:xfrm>
              <a:off x="6538958" y="2796531"/>
              <a:ext cx="75170" cy="72982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8733" name="Freeform 48"/>
            <p:cNvSpPr>
              <a:spLocks/>
            </p:cNvSpPr>
            <p:nvPr/>
          </p:nvSpPr>
          <p:spPr bwMode="auto">
            <a:xfrm>
              <a:off x="2537254" y="3352799"/>
              <a:ext cx="922638" cy="564507"/>
            </a:xfrm>
            <a:custGeom>
              <a:avLst/>
              <a:gdLst>
                <a:gd name="T0" fmla="*/ 2147483647 w 1920"/>
                <a:gd name="T1" fmla="*/ 0 h 384"/>
                <a:gd name="T2" fmla="*/ 0 w 1920"/>
                <a:gd name="T3" fmla="*/ 0 h 384"/>
                <a:gd name="T4" fmla="*/ 0 w 1920"/>
                <a:gd name="T5" fmla="*/ 2147483647 h 384"/>
                <a:gd name="T6" fmla="*/ 0 60000 65536"/>
                <a:gd name="T7" fmla="*/ 0 60000 65536"/>
                <a:gd name="T8" fmla="*/ 0 60000 65536"/>
                <a:gd name="T9" fmla="*/ 0 w 1920"/>
                <a:gd name="T10" fmla="*/ 0 h 384"/>
                <a:gd name="T11" fmla="*/ 1920 w 1920"/>
                <a:gd name="T12" fmla="*/ 384 h 3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20" h="384">
                  <a:moveTo>
                    <a:pt x="1920" y="0"/>
                  </a:moveTo>
                  <a:lnTo>
                    <a:pt x="0" y="0"/>
                  </a:lnTo>
                  <a:lnTo>
                    <a:pt x="0" y="384"/>
                  </a:lnTo>
                </a:path>
              </a:pathLst>
            </a:custGeom>
            <a:noFill/>
            <a:ln w="2844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8734" name="Oval 85"/>
            <p:cNvSpPr>
              <a:spLocks noChangeArrowheads="1"/>
            </p:cNvSpPr>
            <p:nvPr/>
          </p:nvSpPr>
          <p:spPr bwMode="auto">
            <a:xfrm>
              <a:off x="3354977" y="3307293"/>
              <a:ext cx="75170" cy="72982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8735" name="Freeform 49"/>
            <p:cNvSpPr>
              <a:spLocks/>
            </p:cNvSpPr>
            <p:nvPr/>
          </p:nvSpPr>
          <p:spPr bwMode="auto">
            <a:xfrm>
              <a:off x="6054811" y="3150973"/>
              <a:ext cx="1705232" cy="222422"/>
            </a:xfrm>
            <a:custGeom>
              <a:avLst/>
              <a:gdLst>
                <a:gd name="T0" fmla="*/ 0 w 1008"/>
                <a:gd name="T1" fmla="*/ 0 h 144"/>
                <a:gd name="T2" fmla="*/ 2147483647 w 1008"/>
                <a:gd name="T3" fmla="*/ 0 h 144"/>
                <a:gd name="T4" fmla="*/ 2147483647 w 1008"/>
                <a:gd name="T5" fmla="*/ 2147483647 h 144"/>
                <a:gd name="T6" fmla="*/ 0 60000 65536"/>
                <a:gd name="T7" fmla="*/ 0 60000 65536"/>
                <a:gd name="T8" fmla="*/ 0 60000 65536"/>
                <a:gd name="T9" fmla="*/ 0 w 1008"/>
                <a:gd name="T10" fmla="*/ 0 h 144"/>
                <a:gd name="T11" fmla="*/ 1008 w 1008"/>
                <a:gd name="T12" fmla="*/ 144 h 1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08" h="144">
                  <a:moveTo>
                    <a:pt x="0" y="0"/>
                  </a:moveTo>
                  <a:lnTo>
                    <a:pt x="1008" y="0"/>
                  </a:lnTo>
                  <a:lnTo>
                    <a:pt x="1008" y="144"/>
                  </a:lnTo>
                </a:path>
              </a:pathLst>
            </a:custGeom>
            <a:noFill/>
            <a:ln w="2844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8736" name="Oval 87"/>
            <p:cNvSpPr>
              <a:spLocks noChangeArrowheads="1"/>
            </p:cNvSpPr>
            <p:nvPr/>
          </p:nvSpPr>
          <p:spPr bwMode="auto">
            <a:xfrm>
              <a:off x="6201303" y="3106886"/>
              <a:ext cx="75170" cy="72982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"/>
          <p:cNvSpPr>
            <a:spLocks noGrp="1" noChangeArrowheads="1"/>
          </p:cNvSpPr>
          <p:nvPr>
            <p:ph type="title"/>
          </p:nvPr>
        </p:nvSpPr>
        <p:spPr>
          <a:xfrm>
            <a:off x="692150" y="0"/>
            <a:ext cx="8191500" cy="854075"/>
          </a:xfrm>
        </p:spPr>
        <p:txBody>
          <a:bodyPr lIns="90360" tIns="44280" rIns="90360" bIns="44280"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600">
                <a:latin typeface="Arial  " charset="0"/>
                <a:cs typeface="Arial  " charset="0"/>
              </a:rPr>
              <a:t>Three Stages of Tomasulo Algorithm</a:t>
            </a:r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92150" y="884238"/>
            <a:ext cx="8261350" cy="5973762"/>
          </a:xfrm>
        </p:spPr>
        <p:txBody>
          <a:bodyPr lIns="90360" tIns="44280" rIns="90360" bIns="44280"/>
          <a:lstStyle/>
          <a:p>
            <a:pPr marL="284163" indent="-284163" eaLnBrk="1" hangingPunct="1">
              <a:lnSpc>
                <a:spcPct val="80000"/>
              </a:lnSpc>
              <a:spcBef>
                <a:spcPts val="500"/>
              </a:spcBef>
              <a:buClr>
                <a:srgbClr val="0000FF"/>
              </a:buClr>
              <a:buFont typeface="Helvetica" pitchFamily="-106" charset="0"/>
              <a:buNone/>
              <a:tabLst>
                <a:tab pos="284163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 dirty="0">
                <a:solidFill>
                  <a:srgbClr val="0000FF"/>
                </a:solidFill>
                <a:latin typeface="Helvetica" pitchFamily="-106" charset="0"/>
                <a:cs typeface="Arial  " charset="0"/>
              </a:rPr>
              <a:t>1.	Issue</a:t>
            </a:r>
            <a:r>
              <a:rPr lang="en-GB" sz="2000" dirty="0">
                <a:latin typeface="Arial  " charset="0"/>
                <a:cs typeface="Arial  " charset="0"/>
              </a:rPr>
              <a:t>—Get instruction from FP Op Queue</a:t>
            </a:r>
          </a:p>
          <a:p>
            <a:pPr marL="685800" lvl="1" indent="-228600" eaLnBrk="1" hangingPunct="1">
              <a:lnSpc>
                <a:spcPct val="80000"/>
              </a:lnSpc>
              <a:spcBef>
                <a:spcPts val="450"/>
              </a:spcBef>
              <a:buFont typeface="Comic Sans MS" pitchFamily="66" charset="0"/>
              <a:buNone/>
              <a:tabLst>
                <a:tab pos="284163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800" dirty="0">
                <a:latin typeface="Arial  " charset="0"/>
                <a:cs typeface="Arial  " charset="0"/>
              </a:rPr>
              <a:t> 	</a:t>
            </a:r>
            <a:r>
              <a:rPr lang="en-GB" sz="1800" dirty="0">
                <a:solidFill>
                  <a:schemeClr val="bg2"/>
                </a:solidFill>
                <a:latin typeface="Arial  " charset="0"/>
                <a:cs typeface="Arial  " charset="0"/>
              </a:rPr>
              <a:t>(called “dispatch” in superscalar processors)</a:t>
            </a:r>
          </a:p>
          <a:p>
            <a:pPr marL="685800" lvl="1" indent="-228600" eaLnBrk="1" hangingPunct="1">
              <a:lnSpc>
                <a:spcPct val="80000"/>
              </a:lnSpc>
              <a:spcBef>
                <a:spcPts val="450"/>
              </a:spcBef>
              <a:buFont typeface="Comic Sans MS" pitchFamily="66" charset="0"/>
              <a:buNone/>
              <a:tabLst>
                <a:tab pos="284163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800" dirty="0">
                <a:latin typeface="Arial  " charset="0"/>
                <a:cs typeface="Arial  " charset="0"/>
              </a:rPr>
              <a:t>	If reservation station free (no structural hazard), </a:t>
            </a:r>
            <a:endParaRPr lang="en-GB" sz="1800" dirty="0">
              <a:solidFill>
                <a:srgbClr val="0000FF"/>
              </a:solidFill>
              <a:latin typeface="Arial  " charset="0"/>
              <a:cs typeface="Arial  " charset="0"/>
            </a:endParaRPr>
          </a:p>
          <a:p>
            <a:pPr marL="685800" lvl="1" indent="-228600">
              <a:lnSpc>
                <a:spcPct val="80000"/>
              </a:lnSpc>
              <a:spcBef>
                <a:spcPts val="450"/>
              </a:spcBef>
              <a:buFontTx/>
              <a:buNone/>
              <a:tabLst>
                <a:tab pos="284163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800" dirty="0">
                <a:solidFill>
                  <a:schemeClr val="tx1"/>
                </a:solidFill>
                <a:latin typeface="Arial  " charset="0"/>
                <a:cs typeface="Arial  " charset="0"/>
              </a:rPr>
              <a:t>	(a) lookup source operand registers in “register result status” table while   </a:t>
            </a:r>
          </a:p>
          <a:p>
            <a:pPr marL="685800" lvl="1" indent="-228600">
              <a:lnSpc>
                <a:spcPct val="80000"/>
              </a:lnSpc>
              <a:spcBef>
                <a:spcPts val="450"/>
              </a:spcBef>
              <a:buFontTx/>
              <a:buNone/>
              <a:tabLst>
                <a:tab pos="284163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800" dirty="0">
                <a:solidFill>
                  <a:schemeClr val="tx1"/>
                </a:solidFill>
                <a:latin typeface="Arial  " charset="0"/>
                <a:cs typeface="Arial  " charset="0"/>
              </a:rPr>
              <a:t>         allocating reservation station.</a:t>
            </a:r>
          </a:p>
          <a:p>
            <a:pPr marL="685800" lvl="1" indent="-228600">
              <a:lnSpc>
                <a:spcPct val="80000"/>
              </a:lnSpc>
              <a:spcBef>
                <a:spcPts val="450"/>
              </a:spcBef>
              <a:buFontTx/>
              <a:buNone/>
              <a:tabLst>
                <a:tab pos="284163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800" dirty="0">
                <a:solidFill>
                  <a:schemeClr val="tx1"/>
                </a:solidFill>
                <a:latin typeface="Arial  " charset="0"/>
                <a:cs typeface="Arial  " charset="0"/>
              </a:rPr>
              <a:t>    (b) update “register result status” table entry of destination register with</a:t>
            </a:r>
          </a:p>
          <a:p>
            <a:pPr marL="685800" lvl="1" indent="-228600">
              <a:lnSpc>
                <a:spcPct val="80000"/>
              </a:lnSpc>
              <a:spcBef>
                <a:spcPts val="450"/>
              </a:spcBef>
              <a:buFontTx/>
              <a:buNone/>
              <a:tabLst>
                <a:tab pos="284163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800" dirty="0">
                <a:solidFill>
                  <a:schemeClr val="tx1"/>
                </a:solidFill>
                <a:latin typeface="Arial  " charset="0"/>
                <a:cs typeface="Arial  " charset="0"/>
              </a:rPr>
              <a:t>         reservation station (this renames destination register)</a:t>
            </a:r>
          </a:p>
          <a:p>
            <a:pPr marL="284163" indent="-284163" eaLnBrk="1" hangingPunct="1">
              <a:lnSpc>
                <a:spcPct val="80000"/>
              </a:lnSpc>
              <a:spcBef>
                <a:spcPts val="500"/>
              </a:spcBef>
              <a:buClr>
                <a:srgbClr val="0000FF"/>
              </a:buClr>
              <a:buFont typeface="Helvetica" pitchFamily="-106" charset="0"/>
              <a:buNone/>
              <a:tabLst>
                <a:tab pos="284163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 dirty="0">
                <a:solidFill>
                  <a:srgbClr val="0000FF"/>
                </a:solidFill>
                <a:latin typeface="Helvetica" pitchFamily="-106" charset="0"/>
                <a:cs typeface="Arial  " charset="0"/>
              </a:rPr>
              <a:t>2.	Execute</a:t>
            </a:r>
            <a:r>
              <a:rPr lang="en-GB" sz="2000" dirty="0">
                <a:latin typeface="Arial  " charset="0"/>
                <a:cs typeface="Arial  " charset="0"/>
              </a:rPr>
              <a:t>—Operate on operands</a:t>
            </a:r>
          </a:p>
          <a:p>
            <a:pPr marL="685800" lvl="1" indent="-228600" eaLnBrk="1" hangingPunct="1">
              <a:lnSpc>
                <a:spcPct val="80000"/>
              </a:lnSpc>
              <a:spcBef>
                <a:spcPts val="450"/>
              </a:spcBef>
              <a:buFont typeface="Comic Sans MS" pitchFamily="66" charset="0"/>
              <a:buNone/>
              <a:tabLst>
                <a:tab pos="284163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800" dirty="0">
                <a:latin typeface="Arial  " charset="0"/>
                <a:cs typeface="Arial  " charset="0"/>
              </a:rPr>
              <a:t> 	 </a:t>
            </a:r>
            <a:r>
              <a:rPr lang="en-GB" sz="1800" dirty="0">
                <a:solidFill>
                  <a:schemeClr val="bg2"/>
                </a:solidFill>
                <a:latin typeface="Arial  " charset="0"/>
                <a:cs typeface="Arial  " charset="0"/>
              </a:rPr>
              <a:t>(called “issue” in superscalar processors)</a:t>
            </a:r>
          </a:p>
          <a:p>
            <a:pPr marL="685800" lvl="1" indent="-228600" eaLnBrk="1" hangingPunct="1">
              <a:lnSpc>
                <a:spcPct val="80000"/>
              </a:lnSpc>
              <a:spcBef>
                <a:spcPts val="450"/>
              </a:spcBef>
              <a:buFont typeface="Comic Sans MS" pitchFamily="66" charset="0"/>
              <a:buNone/>
              <a:tabLst>
                <a:tab pos="284163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800" dirty="0">
                <a:latin typeface="Arial  " charset="0"/>
                <a:cs typeface="Arial  " charset="0"/>
              </a:rPr>
              <a:t>	 When both operands ready then execute;</a:t>
            </a:r>
            <a:br>
              <a:rPr lang="en-GB" sz="1800" dirty="0">
                <a:latin typeface="Arial  " charset="0"/>
                <a:cs typeface="Arial  " charset="0"/>
              </a:rPr>
            </a:br>
            <a:r>
              <a:rPr lang="en-GB" sz="1800" dirty="0">
                <a:latin typeface="Arial  " charset="0"/>
                <a:cs typeface="Arial  " charset="0"/>
              </a:rPr>
              <a:t> if not ready, watch Common Data Bus for result</a:t>
            </a:r>
          </a:p>
          <a:p>
            <a:pPr marL="284163" indent="-284163" eaLnBrk="1" hangingPunct="1">
              <a:lnSpc>
                <a:spcPct val="80000"/>
              </a:lnSpc>
              <a:spcBef>
                <a:spcPts val="500"/>
              </a:spcBef>
              <a:buClr>
                <a:srgbClr val="0000FF"/>
              </a:buClr>
              <a:buFont typeface="Helvetica" pitchFamily="-106" charset="0"/>
              <a:buNone/>
              <a:tabLst>
                <a:tab pos="284163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 dirty="0">
                <a:solidFill>
                  <a:srgbClr val="0000FF"/>
                </a:solidFill>
                <a:latin typeface="Helvetica" pitchFamily="-106" charset="0"/>
                <a:cs typeface="Arial  " charset="0"/>
              </a:rPr>
              <a:t>3.	Write result</a:t>
            </a:r>
            <a:r>
              <a:rPr lang="en-GB" sz="2000" dirty="0">
                <a:latin typeface="Arial  " charset="0"/>
                <a:cs typeface="Arial  " charset="0"/>
              </a:rPr>
              <a:t>—Finish execution</a:t>
            </a:r>
          </a:p>
          <a:p>
            <a:pPr marL="685800" lvl="1" indent="-228600" eaLnBrk="1" hangingPunct="1">
              <a:lnSpc>
                <a:spcPct val="80000"/>
              </a:lnSpc>
              <a:spcBef>
                <a:spcPts val="450"/>
              </a:spcBef>
              <a:buFont typeface="Comic Sans MS" pitchFamily="66" charset="0"/>
              <a:buNone/>
              <a:tabLst>
                <a:tab pos="284163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800" dirty="0">
                <a:latin typeface="Arial  " charset="0"/>
                <a:cs typeface="Arial  " charset="0"/>
              </a:rPr>
              <a:t> 	Write on Common Data Bus to all units waiting for result; </a:t>
            </a:r>
            <a:br>
              <a:rPr lang="en-GB" sz="1800" dirty="0">
                <a:latin typeface="Arial  " charset="0"/>
                <a:cs typeface="Arial  " charset="0"/>
              </a:rPr>
            </a:br>
            <a:r>
              <a:rPr lang="en-GB" sz="1800" dirty="0">
                <a:latin typeface="Arial  " charset="0"/>
                <a:cs typeface="Arial  " charset="0"/>
              </a:rPr>
              <a:t>mark reservation station available</a:t>
            </a:r>
          </a:p>
          <a:p>
            <a:pPr marL="685800" lvl="1" indent="-228600" eaLnBrk="1" hangingPunct="1">
              <a:lnSpc>
                <a:spcPct val="80000"/>
              </a:lnSpc>
              <a:spcBef>
                <a:spcPts val="450"/>
              </a:spcBef>
              <a:buFont typeface="Comic Sans MS" pitchFamily="66" charset="0"/>
              <a:buNone/>
              <a:tabLst>
                <a:tab pos="284163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sz="1800" dirty="0">
              <a:latin typeface="Arial  " charset="0"/>
              <a:cs typeface="Arial  " charset="0"/>
            </a:endParaRPr>
          </a:p>
          <a:p>
            <a:pPr marL="284163" indent="-284163" eaLnBrk="1" hangingPunct="1">
              <a:lnSpc>
                <a:spcPct val="80000"/>
              </a:lnSpc>
              <a:spcBef>
                <a:spcPts val="500"/>
              </a:spcBef>
              <a:tabLst>
                <a:tab pos="284163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 u="sng" dirty="0">
                <a:latin typeface="Arial  " charset="0"/>
                <a:cs typeface="Arial  " charset="0"/>
              </a:rPr>
              <a:t>Normal data bus </a:t>
            </a:r>
            <a:r>
              <a:rPr lang="en-GB" sz="2000" dirty="0">
                <a:latin typeface="Arial  " charset="0"/>
                <a:cs typeface="Arial  " charset="0"/>
              </a:rPr>
              <a:t>= data + destination address (“go to” bus)</a:t>
            </a:r>
          </a:p>
          <a:p>
            <a:pPr marL="284163" indent="-284163" eaLnBrk="1" hangingPunct="1">
              <a:lnSpc>
                <a:spcPct val="80000"/>
              </a:lnSpc>
              <a:spcBef>
                <a:spcPts val="500"/>
              </a:spcBef>
              <a:tabLst>
                <a:tab pos="284163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sz="2000" dirty="0">
              <a:latin typeface="Arial  " charset="0"/>
              <a:cs typeface="Arial  " charset="0"/>
            </a:endParaRPr>
          </a:p>
          <a:p>
            <a:pPr marL="284163" indent="-284163" eaLnBrk="1" hangingPunct="1">
              <a:lnSpc>
                <a:spcPct val="80000"/>
              </a:lnSpc>
              <a:spcBef>
                <a:spcPts val="500"/>
              </a:spcBef>
              <a:buClr>
                <a:srgbClr val="0000FF"/>
              </a:buClr>
              <a:tabLst>
                <a:tab pos="284163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 u="sng" dirty="0">
                <a:solidFill>
                  <a:srgbClr val="0000FF"/>
                </a:solidFill>
                <a:latin typeface="Arial  " charset="0"/>
                <a:cs typeface="Arial  " charset="0"/>
              </a:rPr>
              <a:t>Common data bus</a:t>
            </a:r>
            <a:r>
              <a:rPr lang="en-GB" sz="2000" dirty="0">
                <a:latin typeface="Arial  " charset="0"/>
                <a:cs typeface="Arial  " charset="0"/>
              </a:rPr>
              <a:t> = data + </a:t>
            </a:r>
            <a:r>
              <a:rPr lang="en-GB" sz="2000" u="sng" dirty="0">
                <a:solidFill>
                  <a:srgbClr val="0000FF"/>
                </a:solidFill>
                <a:latin typeface="Arial  " charset="0"/>
                <a:cs typeface="Arial  " charset="0"/>
              </a:rPr>
              <a:t>source tag</a:t>
            </a:r>
            <a:r>
              <a:rPr lang="en-GB" sz="2000" dirty="0">
                <a:latin typeface="Arial  " charset="0"/>
                <a:cs typeface="Arial  " charset="0"/>
              </a:rPr>
              <a:t>  (“</a:t>
            </a:r>
            <a:r>
              <a:rPr lang="en-GB" sz="2000" u="sng" dirty="0">
                <a:solidFill>
                  <a:srgbClr val="0000FF"/>
                </a:solidFill>
                <a:latin typeface="Arial  " charset="0"/>
                <a:cs typeface="Arial  " charset="0"/>
              </a:rPr>
              <a:t>come from</a:t>
            </a:r>
            <a:r>
              <a:rPr lang="en-GB" sz="2000" dirty="0">
                <a:latin typeface="Arial  " charset="0"/>
                <a:cs typeface="Arial  " charset="0"/>
              </a:rPr>
              <a:t>” bus)</a:t>
            </a:r>
          </a:p>
          <a:p>
            <a:pPr marL="685800" lvl="1" indent="-228600" eaLnBrk="1" hangingPunct="1">
              <a:lnSpc>
                <a:spcPct val="80000"/>
              </a:lnSpc>
              <a:spcBef>
                <a:spcPts val="450"/>
              </a:spcBef>
              <a:tabLst>
                <a:tab pos="284163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800" dirty="0">
                <a:latin typeface="Arial  " charset="0"/>
                <a:cs typeface="Arial  " charset="0"/>
              </a:rPr>
              <a:t>64 bits of data + 4 bits of Reservation Station </a:t>
            </a:r>
            <a:r>
              <a:rPr lang="en-GB" sz="1800" u="sng" dirty="0">
                <a:solidFill>
                  <a:srgbClr val="0000FF"/>
                </a:solidFill>
                <a:latin typeface="Arial  " charset="0"/>
                <a:cs typeface="Arial  " charset="0"/>
              </a:rPr>
              <a:t>source</a:t>
            </a:r>
            <a:r>
              <a:rPr lang="en-GB" sz="1800" dirty="0">
                <a:latin typeface="Arial  " charset="0"/>
                <a:cs typeface="Arial  " charset="0"/>
              </a:rPr>
              <a:t> address (tag)</a:t>
            </a:r>
          </a:p>
        </p:txBody>
      </p:sp>
      <p:sp>
        <p:nvSpPr>
          <p:cNvPr id="29700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B5E4AB-49EA-4033-92B2-6E97BE230DE6}" type="slidenum">
              <a:rPr lang="en-GB" smtClean="0"/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12</a:t>
            </a:fld>
            <a:r>
              <a:rPr lang="en-GB"/>
              <a:t> 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305800" cy="1143000"/>
          </a:xfrm>
        </p:spPr>
        <p:txBody>
          <a:bodyPr lIns="90360" tIns="44280" rIns="90360" bIns="44280"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latin typeface="Arial  " charset="0"/>
                <a:cs typeface="Arial  " charset="0"/>
              </a:rPr>
              <a:t>Tomasulo Algorithm Components</a:t>
            </a: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04800" y="1104900"/>
            <a:ext cx="8534400" cy="5319713"/>
          </a:xfrm>
        </p:spPr>
        <p:txBody>
          <a:bodyPr lIns="90360" tIns="44280" rIns="90360" bIns="44280"/>
          <a:lstStyle/>
          <a:p>
            <a:pPr eaLnBrk="1" hangingPunct="1">
              <a:lnSpc>
                <a:spcPct val="90000"/>
              </a:lnSpc>
              <a:spcBef>
                <a:spcPts val="450"/>
              </a:spcBef>
              <a:buFont typeface="Comic Sans MS" pitchFamily="66" charset="0"/>
              <a:buNone/>
              <a:tabLst>
                <a:tab pos="341313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sz="2000" dirty="0">
              <a:latin typeface="Arial  " charset="0"/>
              <a:cs typeface="Arial  " charset="0"/>
            </a:endParaRPr>
          </a:p>
          <a:p>
            <a:pPr eaLnBrk="1" hangingPunct="1">
              <a:lnSpc>
                <a:spcPct val="90000"/>
              </a:lnSpc>
              <a:spcBef>
                <a:spcPts val="450"/>
              </a:spcBef>
              <a:buFont typeface="Comic Sans MS" pitchFamily="66" charset="0"/>
              <a:buNone/>
              <a:tabLst>
                <a:tab pos="341313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sz="2000" dirty="0">
              <a:latin typeface="Arial  " charset="0"/>
              <a:cs typeface="Arial  " charset="0"/>
            </a:endParaRPr>
          </a:p>
          <a:p>
            <a:pPr eaLnBrk="1" hangingPunct="1">
              <a:lnSpc>
                <a:spcPct val="90000"/>
              </a:lnSpc>
              <a:spcBef>
                <a:spcPts val="450"/>
              </a:spcBef>
              <a:buFont typeface="Comic Sans MS" pitchFamily="66" charset="0"/>
              <a:buNone/>
              <a:tabLst>
                <a:tab pos="341313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 dirty="0">
                <a:latin typeface="Arial  " charset="0"/>
                <a:cs typeface="Arial  " charset="0"/>
              </a:rPr>
              <a:t>Reservation Station:</a:t>
            </a:r>
            <a:r>
              <a:rPr lang="en-GB" sz="1800" dirty="0">
                <a:latin typeface="Arial  " charset="0"/>
                <a:cs typeface="Arial  " charset="0"/>
              </a:rPr>
              <a:t>	</a:t>
            </a:r>
          </a:p>
          <a:p>
            <a:pPr eaLnBrk="1" hangingPunct="1">
              <a:lnSpc>
                <a:spcPct val="90000"/>
              </a:lnSpc>
              <a:spcBef>
                <a:spcPts val="450"/>
              </a:spcBef>
              <a:buFont typeface="Comic Sans MS" pitchFamily="66" charset="0"/>
              <a:buNone/>
              <a:tabLst>
                <a:tab pos="341313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800" dirty="0">
                <a:solidFill>
                  <a:srgbClr val="0000FF"/>
                </a:solidFill>
                <a:latin typeface="Arial  " charset="0"/>
                <a:cs typeface="Arial  " charset="0"/>
              </a:rPr>
              <a:t>	Busy:</a:t>
            </a:r>
            <a:r>
              <a:rPr lang="en-GB" sz="1800" dirty="0">
                <a:solidFill>
                  <a:srgbClr val="BBE0E3"/>
                </a:solidFill>
                <a:latin typeface="Arial  " charset="0"/>
                <a:cs typeface="Arial  " charset="0"/>
              </a:rPr>
              <a:t>        </a:t>
            </a:r>
            <a:r>
              <a:rPr lang="en-GB" sz="1800" dirty="0">
                <a:latin typeface="Arial  " charset="0"/>
                <a:cs typeface="Arial  " charset="0"/>
              </a:rPr>
              <a:t>Indicates whether reservation station is busy</a:t>
            </a:r>
          </a:p>
          <a:p>
            <a:pPr eaLnBrk="1" hangingPunct="1">
              <a:lnSpc>
                <a:spcPct val="90000"/>
              </a:lnSpc>
              <a:spcBef>
                <a:spcPts val="450"/>
              </a:spcBef>
              <a:buClr>
                <a:srgbClr val="0000FF"/>
              </a:buClr>
              <a:buFont typeface="Comic Sans MS" pitchFamily="66" charset="0"/>
              <a:buNone/>
              <a:tabLst>
                <a:tab pos="341313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800" dirty="0">
                <a:solidFill>
                  <a:srgbClr val="0000FF"/>
                </a:solidFill>
                <a:latin typeface="Arial  " charset="0"/>
                <a:cs typeface="Arial  " charset="0"/>
              </a:rPr>
              <a:t>	Op:          </a:t>
            </a:r>
            <a:r>
              <a:rPr lang="en-GB" sz="1200" dirty="0">
                <a:solidFill>
                  <a:srgbClr val="0000FF"/>
                </a:solidFill>
                <a:latin typeface="Arial  " charset="0"/>
                <a:cs typeface="Arial  " charset="0"/>
              </a:rPr>
              <a:t> </a:t>
            </a:r>
            <a:r>
              <a:rPr lang="en-GB" sz="1800" dirty="0">
                <a:latin typeface="Arial  " charset="0"/>
                <a:cs typeface="Arial  " charset="0"/>
              </a:rPr>
              <a:t>Operation to perform in FU (e.g., “add” or “subtract”)</a:t>
            </a:r>
            <a:r>
              <a:rPr lang="ar-SA" sz="1800" dirty="0">
                <a:latin typeface="Arial  " charset="0"/>
                <a:cs typeface="Arial" pitchFamily="34" charset="0"/>
              </a:rPr>
              <a:t>‏</a:t>
            </a:r>
            <a:endParaRPr lang="en-GB" sz="1800" dirty="0">
              <a:latin typeface="Arial  " charset="0"/>
              <a:cs typeface="Arial  " charset="0"/>
            </a:endParaRPr>
          </a:p>
          <a:p>
            <a:pPr eaLnBrk="1" hangingPunct="1">
              <a:lnSpc>
                <a:spcPct val="90000"/>
              </a:lnSpc>
              <a:spcBef>
                <a:spcPts val="450"/>
              </a:spcBef>
              <a:buFont typeface="Comic Sans MS" pitchFamily="66" charset="0"/>
              <a:buNone/>
              <a:tabLst>
                <a:tab pos="341313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800" dirty="0">
                <a:latin typeface="Arial  " charset="0"/>
                <a:cs typeface="Arial  " charset="0"/>
              </a:rPr>
              <a:t>	</a:t>
            </a:r>
            <a:r>
              <a:rPr lang="en-GB" sz="1800" dirty="0" err="1">
                <a:solidFill>
                  <a:srgbClr val="0000FF"/>
                </a:solidFill>
                <a:latin typeface="Arial  " charset="0"/>
                <a:cs typeface="Arial  " charset="0"/>
              </a:rPr>
              <a:t>Vj</a:t>
            </a:r>
            <a:r>
              <a:rPr lang="en-GB" sz="1800" dirty="0">
                <a:solidFill>
                  <a:srgbClr val="0000FF"/>
                </a:solidFill>
                <a:latin typeface="Arial  " charset="0"/>
                <a:cs typeface="Arial  " charset="0"/>
              </a:rPr>
              <a:t>, </a:t>
            </a:r>
            <a:r>
              <a:rPr lang="en-GB" sz="1800" dirty="0" err="1">
                <a:solidFill>
                  <a:srgbClr val="0000FF"/>
                </a:solidFill>
                <a:latin typeface="Arial  " charset="0"/>
                <a:cs typeface="Arial  " charset="0"/>
              </a:rPr>
              <a:t>Vk</a:t>
            </a:r>
            <a:r>
              <a:rPr lang="en-GB" sz="1800" dirty="0">
                <a:solidFill>
                  <a:srgbClr val="0000FF"/>
                </a:solidFill>
                <a:latin typeface="Arial  " charset="0"/>
                <a:cs typeface="Arial  " charset="0"/>
              </a:rPr>
              <a:t>:</a:t>
            </a:r>
            <a:r>
              <a:rPr lang="en-GB" sz="1800" dirty="0">
                <a:solidFill>
                  <a:srgbClr val="BBE0E3"/>
                </a:solidFill>
                <a:latin typeface="Arial  " charset="0"/>
                <a:cs typeface="Arial  " charset="0"/>
              </a:rPr>
              <a:t>      </a:t>
            </a:r>
            <a:r>
              <a:rPr lang="en-GB" sz="1800" b="1" dirty="0">
                <a:latin typeface="Arial  " charset="0"/>
                <a:cs typeface="Arial  " charset="0"/>
              </a:rPr>
              <a:t>Value</a:t>
            </a:r>
            <a:r>
              <a:rPr lang="en-GB" sz="1800" dirty="0">
                <a:latin typeface="Arial  " charset="0"/>
                <a:cs typeface="Arial  " charset="0"/>
              </a:rPr>
              <a:t> of Source operands</a:t>
            </a:r>
          </a:p>
          <a:p>
            <a:pPr eaLnBrk="1" hangingPunct="1">
              <a:lnSpc>
                <a:spcPct val="90000"/>
              </a:lnSpc>
              <a:spcBef>
                <a:spcPts val="450"/>
              </a:spcBef>
              <a:buClr>
                <a:srgbClr val="BBE0E3"/>
              </a:buClr>
              <a:buFont typeface="Comic Sans MS" pitchFamily="66" charset="0"/>
              <a:buNone/>
              <a:tabLst>
                <a:tab pos="341313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800" dirty="0">
                <a:solidFill>
                  <a:srgbClr val="BBE0E3"/>
                </a:solidFill>
                <a:latin typeface="Arial  " charset="0"/>
                <a:cs typeface="Arial  " charset="0"/>
              </a:rPr>
              <a:t>	</a:t>
            </a:r>
            <a:r>
              <a:rPr lang="en-GB" sz="1800" dirty="0" err="1">
                <a:solidFill>
                  <a:srgbClr val="0000FF"/>
                </a:solidFill>
                <a:latin typeface="Arial  " charset="0"/>
                <a:cs typeface="Arial  " charset="0"/>
              </a:rPr>
              <a:t>Qj</a:t>
            </a:r>
            <a:r>
              <a:rPr lang="en-GB" sz="1800" dirty="0">
                <a:solidFill>
                  <a:srgbClr val="0000FF"/>
                </a:solidFill>
                <a:latin typeface="Arial  " charset="0"/>
                <a:cs typeface="Arial  " charset="0"/>
              </a:rPr>
              <a:t>, </a:t>
            </a:r>
            <a:r>
              <a:rPr lang="en-GB" sz="1800" dirty="0" err="1">
                <a:solidFill>
                  <a:srgbClr val="0000FF"/>
                </a:solidFill>
                <a:latin typeface="Arial  " charset="0"/>
                <a:cs typeface="Arial  " charset="0"/>
              </a:rPr>
              <a:t>Qk</a:t>
            </a:r>
            <a:r>
              <a:rPr lang="en-GB" sz="1800" dirty="0">
                <a:solidFill>
                  <a:srgbClr val="0000FF"/>
                </a:solidFill>
                <a:latin typeface="Arial  " charset="0"/>
                <a:cs typeface="Arial  " charset="0"/>
              </a:rPr>
              <a:t>:</a:t>
            </a:r>
            <a:r>
              <a:rPr lang="en-GB" sz="1800" dirty="0">
                <a:solidFill>
                  <a:srgbClr val="BBE0E3"/>
                </a:solidFill>
                <a:latin typeface="Arial  " charset="0"/>
                <a:cs typeface="Arial  " charset="0"/>
              </a:rPr>
              <a:t>     </a:t>
            </a:r>
            <a:r>
              <a:rPr lang="en-GB" sz="1800" b="1" dirty="0">
                <a:solidFill>
                  <a:schemeClr val="tx1"/>
                </a:solidFill>
                <a:latin typeface="Arial  " charset="0"/>
                <a:cs typeface="Arial  " charset="0"/>
              </a:rPr>
              <a:t>Tags</a:t>
            </a:r>
            <a:r>
              <a:rPr lang="en-GB" sz="1800" dirty="0">
                <a:solidFill>
                  <a:schemeClr val="tx1"/>
                </a:solidFill>
                <a:latin typeface="Arial  " charset="0"/>
                <a:cs typeface="Arial  " charset="0"/>
              </a:rPr>
              <a:t>: Identify </a:t>
            </a:r>
            <a:r>
              <a:rPr lang="en-GB" sz="1800" dirty="0">
                <a:latin typeface="Arial  " charset="0"/>
                <a:cs typeface="Arial  " charset="0"/>
              </a:rPr>
              <a:t>reservation station producing </a:t>
            </a:r>
            <a:r>
              <a:rPr lang="en-GB" sz="1800" dirty="0" err="1">
                <a:latin typeface="Arial  " charset="0"/>
                <a:cs typeface="Arial  " charset="0"/>
              </a:rPr>
              <a:t>Vj</a:t>
            </a:r>
            <a:r>
              <a:rPr lang="en-GB" sz="1800" dirty="0">
                <a:latin typeface="Arial  " charset="0"/>
                <a:cs typeface="Arial  " charset="0"/>
              </a:rPr>
              <a:t>, </a:t>
            </a:r>
            <a:r>
              <a:rPr lang="en-GB" sz="1800" dirty="0" err="1">
                <a:latin typeface="Arial  " charset="0"/>
                <a:cs typeface="Arial  " charset="0"/>
              </a:rPr>
              <a:t>Vk</a:t>
            </a:r>
            <a:r>
              <a:rPr lang="en-GB" sz="1800" dirty="0">
                <a:latin typeface="Arial  " charset="0"/>
                <a:cs typeface="Arial  " charset="0"/>
              </a:rPr>
              <a:t> </a:t>
            </a:r>
          </a:p>
          <a:p>
            <a:pPr eaLnBrk="1" hangingPunct="1">
              <a:lnSpc>
                <a:spcPct val="90000"/>
              </a:lnSpc>
              <a:spcBef>
                <a:spcPts val="450"/>
              </a:spcBef>
              <a:buClr>
                <a:srgbClr val="BBE0E3"/>
              </a:buClr>
              <a:buFont typeface="Comic Sans MS" pitchFamily="66" charset="0"/>
              <a:buNone/>
              <a:tabLst>
                <a:tab pos="341313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800" dirty="0">
                <a:latin typeface="Arial  " charset="0"/>
                <a:cs typeface="Arial  " charset="0"/>
              </a:rPr>
              <a:t>		        When </a:t>
            </a:r>
            <a:r>
              <a:rPr lang="en-GB" sz="1800" dirty="0" err="1">
                <a:latin typeface="Arial  " charset="0"/>
                <a:cs typeface="Arial  " charset="0"/>
              </a:rPr>
              <a:t>Qj</a:t>
            </a:r>
            <a:r>
              <a:rPr lang="en-GB" sz="1800" dirty="0">
                <a:latin typeface="Arial  " charset="0"/>
                <a:cs typeface="Arial  " charset="0"/>
              </a:rPr>
              <a:t>=0 (no tag), </a:t>
            </a:r>
            <a:r>
              <a:rPr lang="en-GB" sz="1800" dirty="0" err="1">
                <a:latin typeface="Arial  " charset="0"/>
                <a:cs typeface="Arial  " charset="0"/>
              </a:rPr>
              <a:t>Vj</a:t>
            </a:r>
            <a:r>
              <a:rPr lang="en-GB" sz="1800" dirty="0">
                <a:latin typeface="Arial  " charset="0"/>
                <a:cs typeface="Arial  " charset="0"/>
              </a:rPr>
              <a:t> holds valid data</a:t>
            </a:r>
          </a:p>
          <a:p>
            <a:pPr eaLnBrk="1" hangingPunct="1">
              <a:lnSpc>
                <a:spcPct val="90000"/>
              </a:lnSpc>
              <a:spcBef>
                <a:spcPts val="450"/>
              </a:spcBef>
              <a:buClr>
                <a:srgbClr val="BBE0E3"/>
              </a:buClr>
              <a:buFont typeface="Comic Sans MS" pitchFamily="66" charset="0"/>
              <a:buNone/>
              <a:tabLst>
                <a:tab pos="341313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800" dirty="0">
                <a:latin typeface="Arial  " charset="0"/>
                <a:cs typeface="Arial  " charset="0"/>
              </a:rPr>
              <a:t>		        When </a:t>
            </a:r>
            <a:r>
              <a:rPr lang="en-GB" sz="1800" dirty="0" err="1">
                <a:latin typeface="Arial  " charset="0"/>
                <a:cs typeface="Arial  " charset="0"/>
              </a:rPr>
              <a:t>Qk</a:t>
            </a:r>
            <a:r>
              <a:rPr lang="en-GB" sz="1800" dirty="0">
                <a:latin typeface="Arial  " charset="0"/>
                <a:cs typeface="Arial  " charset="0"/>
              </a:rPr>
              <a:t>=0 (no tag), </a:t>
            </a:r>
            <a:r>
              <a:rPr lang="en-GB" sz="1800" dirty="0" err="1">
                <a:latin typeface="Arial  " charset="0"/>
                <a:cs typeface="Arial  " charset="0"/>
              </a:rPr>
              <a:t>Vk</a:t>
            </a:r>
            <a:r>
              <a:rPr lang="en-GB" sz="1800" dirty="0">
                <a:latin typeface="Arial  " charset="0"/>
                <a:cs typeface="Arial  " charset="0"/>
              </a:rPr>
              <a:t> holds valid data </a:t>
            </a:r>
          </a:p>
          <a:p>
            <a:pPr eaLnBrk="1" hangingPunct="1">
              <a:lnSpc>
                <a:spcPct val="90000"/>
              </a:lnSpc>
              <a:spcBef>
                <a:spcPts val="450"/>
              </a:spcBef>
              <a:buFont typeface="Comic Sans MS" pitchFamily="66" charset="0"/>
              <a:buNone/>
              <a:tabLst>
                <a:tab pos="341313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200" dirty="0">
                <a:solidFill>
                  <a:srgbClr val="0000FF"/>
                </a:solidFill>
                <a:latin typeface="Arial  " charset="0"/>
                <a:cs typeface="Arial  " charset="0"/>
              </a:rPr>
              <a:t>	</a:t>
            </a:r>
            <a:endParaRPr lang="en-GB" sz="1800" dirty="0">
              <a:latin typeface="Arial  " charset="0"/>
              <a:cs typeface="Arial  " charset="0"/>
            </a:endParaRPr>
          </a:p>
          <a:p>
            <a:pPr eaLnBrk="1" hangingPunct="1">
              <a:lnSpc>
                <a:spcPct val="90000"/>
              </a:lnSpc>
              <a:spcBef>
                <a:spcPts val="450"/>
              </a:spcBef>
              <a:buFont typeface="Comic Sans MS" pitchFamily="66" charset="0"/>
              <a:buNone/>
              <a:tabLst>
                <a:tab pos="341313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800" dirty="0">
                <a:latin typeface="Arial  " charset="0"/>
                <a:cs typeface="Arial  " charset="0"/>
              </a:rPr>
              <a:t>	</a:t>
            </a:r>
            <a:r>
              <a:rPr lang="en-GB" sz="1800" dirty="0">
                <a:solidFill>
                  <a:srgbClr val="0000FF"/>
                </a:solidFill>
                <a:latin typeface="Arial  " charset="0"/>
                <a:cs typeface="Arial  " charset="0"/>
              </a:rPr>
              <a:t>Address</a:t>
            </a:r>
            <a:r>
              <a:rPr lang="en-GB" sz="1800" dirty="0">
                <a:latin typeface="Arial  " charset="0"/>
                <a:cs typeface="Arial  " charset="0"/>
              </a:rPr>
              <a:t>:  Used to hold effective address for memory (initially set to</a:t>
            </a:r>
          </a:p>
          <a:p>
            <a:pPr eaLnBrk="1" hangingPunct="1">
              <a:lnSpc>
                <a:spcPct val="90000"/>
              </a:lnSpc>
              <a:spcBef>
                <a:spcPts val="450"/>
              </a:spcBef>
              <a:buFont typeface="Comic Sans MS" pitchFamily="66" charset="0"/>
              <a:buNone/>
              <a:tabLst>
                <a:tab pos="341313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800" dirty="0">
                <a:latin typeface="Arial  " charset="0"/>
                <a:cs typeface="Arial  " charset="0"/>
              </a:rPr>
              <a:t>                      immediate offset)</a:t>
            </a:r>
            <a:r>
              <a:rPr lang="ar-SA" sz="1800" dirty="0">
                <a:latin typeface="Arial  " charset="0"/>
                <a:cs typeface="Arial" pitchFamily="34" charset="0"/>
              </a:rPr>
              <a:t>‏</a:t>
            </a:r>
            <a:endParaRPr lang="en-GB" sz="1800" dirty="0">
              <a:latin typeface="Arial  " charset="0"/>
              <a:cs typeface="Arial  " charset="0"/>
            </a:endParaRPr>
          </a:p>
          <a:p>
            <a:pPr eaLnBrk="1" hangingPunct="1">
              <a:lnSpc>
                <a:spcPct val="90000"/>
              </a:lnSpc>
              <a:spcBef>
                <a:spcPts val="450"/>
              </a:spcBef>
              <a:buFont typeface="Comic Sans MS" pitchFamily="66" charset="0"/>
              <a:buNone/>
              <a:tabLst>
                <a:tab pos="341313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sz="1800" dirty="0">
              <a:latin typeface="Arial  " charset="0"/>
              <a:cs typeface="Arial  " charset="0"/>
            </a:endParaRPr>
          </a:p>
          <a:p>
            <a:pPr eaLnBrk="1" hangingPunct="1">
              <a:lnSpc>
                <a:spcPct val="90000"/>
              </a:lnSpc>
              <a:spcBef>
                <a:spcPts val="450"/>
              </a:spcBef>
              <a:buFont typeface="Comic Sans MS" pitchFamily="66" charset="0"/>
              <a:buNone/>
              <a:tabLst>
                <a:tab pos="341313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800" dirty="0">
                <a:latin typeface="Arial  " charset="0"/>
                <a:cs typeface="Arial  " charset="0"/>
              </a:rPr>
              <a:t>Register File (each register has):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buClr>
                <a:srgbClr val="009999"/>
              </a:buClr>
              <a:buFont typeface="Comic Sans MS" pitchFamily="66" charset="0"/>
              <a:buNone/>
              <a:tabLst>
                <a:tab pos="341313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800" dirty="0">
                <a:solidFill>
                  <a:srgbClr val="009999"/>
                </a:solidFill>
                <a:latin typeface="Arial  " charset="0"/>
                <a:cs typeface="Arial  " charset="0"/>
              </a:rPr>
              <a:t>	</a:t>
            </a:r>
            <a:r>
              <a:rPr lang="en-GB" sz="1800" dirty="0">
                <a:solidFill>
                  <a:srgbClr val="0000FF"/>
                </a:solidFill>
                <a:latin typeface="Arial  " charset="0"/>
                <a:cs typeface="Arial  " charset="0"/>
              </a:rPr>
              <a:t>Qi</a:t>
            </a:r>
            <a:r>
              <a:rPr lang="en-GB" sz="1800" dirty="0">
                <a:latin typeface="Arial  " charset="0"/>
                <a:cs typeface="Arial  " charset="0"/>
              </a:rPr>
              <a:t>—Indicates which reservation station will write register, if such a 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buClr>
                <a:srgbClr val="009999"/>
              </a:buClr>
              <a:buFont typeface="Comic Sans MS" pitchFamily="66" charset="0"/>
              <a:buNone/>
              <a:tabLst>
                <a:tab pos="341313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800" dirty="0">
                <a:latin typeface="Arial  " charset="0"/>
                <a:cs typeface="Arial  " charset="0"/>
              </a:rPr>
              <a:t>            reservation station exists.  Blank if no pending instructions  write register.</a:t>
            </a:r>
            <a:r>
              <a:rPr lang="en-GB" sz="2400" dirty="0">
                <a:latin typeface="Arial  " charset="0"/>
                <a:cs typeface="Arial  " charset="0"/>
              </a:rPr>
              <a:t> </a:t>
            </a:r>
          </a:p>
        </p:txBody>
      </p:sp>
      <p:sp>
        <p:nvSpPr>
          <p:cNvPr id="30724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18A4B31-356F-4D3A-9A4C-99C5935726E9}" type="slidenum">
              <a:rPr lang="en-GB" smtClean="0"/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13</a:t>
            </a:fld>
            <a:r>
              <a:rPr lang="en-GB"/>
              <a:t> 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"/>
          <p:cNvSpPr>
            <a:spLocks noGrp="1" noChangeArrowheads="1"/>
          </p:cNvSpPr>
          <p:nvPr>
            <p:ph type="title"/>
          </p:nvPr>
        </p:nvSpPr>
        <p:spPr>
          <a:xfrm>
            <a:off x="971550" y="0"/>
            <a:ext cx="7162800" cy="1143000"/>
          </a:xfrm>
        </p:spPr>
        <p:txBody>
          <a:bodyPr lIns="90360" tIns="44280" rIns="90360" bIns="44280"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latin typeface="Arial  " charset="0"/>
                <a:cs typeface="Arial  " charset="0"/>
              </a:rPr>
              <a:t>Tomasulo vs. Scoreboard</a:t>
            </a:r>
          </a:p>
        </p:txBody>
      </p:sp>
      <p:pic>
        <p:nvPicPr>
          <p:cNvPr id="31747" name="Picture 6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10288" y="2068513"/>
            <a:ext cx="2652712" cy="26146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31748" name="Rectangle 70"/>
          <p:cNvSpPr>
            <a:spLocks noChangeArrowheads="1"/>
          </p:cNvSpPr>
          <p:nvPr/>
        </p:nvSpPr>
        <p:spPr bwMode="auto">
          <a:xfrm>
            <a:off x="6443663" y="4273550"/>
            <a:ext cx="1609725" cy="384175"/>
          </a:xfrm>
          <a:prstGeom prst="rect">
            <a:avLst/>
          </a:prstGeom>
          <a:solidFill>
            <a:srgbClr val="FF0000">
              <a:alpha val="12941"/>
            </a:srgbClr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49" name="Text Box 71"/>
          <p:cNvSpPr txBox="1">
            <a:spLocks noChangeArrowheads="1"/>
          </p:cNvSpPr>
          <p:nvPr/>
        </p:nvSpPr>
        <p:spPr bwMode="auto">
          <a:xfrm>
            <a:off x="536575" y="5068888"/>
            <a:ext cx="4510088" cy="120173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rgbClr val="000000"/>
                </a:solidFill>
              </a:rPr>
              <a:t>Tomasulo:</a:t>
            </a: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rgbClr val="000000"/>
                </a:solidFill>
              </a:rPr>
              <a:t>Decentralized Control</a:t>
            </a: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rgbClr val="000000"/>
                </a:solidFill>
              </a:rPr>
              <a:t>Reservation Stations/Renaming</a:t>
            </a:r>
          </a:p>
        </p:txBody>
      </p:sp>
      <p:sp>
        <p:nvSpPr>
          <p:cNvPr id="31750" name="Text Box 72"/>
          <p:cNvSpPr txBox="1">
            <a:spLocks noChangeArrowheads="1"/>
          </p:cNvSpPr>
          <p:nvPr/>
        </p:nvSpPr>
        <p:spPr bwMode="auto">
          <a:xfrm>
            <a:off x="5795963" y="5045075"/>
            <a:ext cx="3008312" cy="11874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rgbClr val="000000"/>
                </a:solidFill>
              </a:rPr>
              <a:t>Scoreboard:</a:t>
            </a: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rgbClr val="000000"/>
                </a:solidFill>
              </a:rPr>
              <a:t>Centralized Control</a:t>
            </a: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rgbClr val="000000"/>
                </a:solidFill>
              </a:rPr>
              <a:t>WAR, WAW hazards</a:t>
            </a:r>
          </a:p>
        </p:txBody>
      </p:sp>
      <p:sp>
        <p:nvSpPr>
          <p:cNvPr id="31751" name="Line 73"/>
          <p:cNvSpPr>
            <a:spLocks noChangeShapeType="1"/>
          </p:cNvSpPr>
          <p:nvPr/>
        </p:nvSpPr>
        <p:spPr bwMode="auto">
          <a:xfrm>
            <a:off x="5600700" y="1054100"/>
            <a:ext cx="1588" cy="5143500"/>
          </a:xfrm>
          <a:prstGeom prst="line">
            <a:avLst/>
          </a:prstGeom>
          <a:noFill/>
          <a:ln w="57240">
            <a:solidFill>
              <a:srgbClr val="FF0000"/>
            </a:solidFill>
            <a:prstDash val="sysDot"/>
            <a:miter lim="800000"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1752" name="Slide Number Placeholder 78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6FC8D53-19A2-467C-82B3-D16D409C648A}" type="slidenum">
              <a:rPr lang="en-GB" smtClean="0"/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14</a:t>
            </a:fld>
            <a:r>
              <a:rPr lang="en-GB"/>
              <a:t> </a:t>
            </a:r>
          </a:p>
        </p:txBody>
      </p:sp>
      <p:grpSp>
        <p:nvGrpSpPr>
          <p:cNvPr id="31753" name="Group 75"/>
          <p:cNvGrpSpPr>
            <a:grpSpLocks/>
          </p:cNvGrpSpPr>
          <p:nvPr/>
        </p:nvGrpSpPr>
        <p:grpSpPr bwMode="auto">
          <a:xfrm>
            <a:off x="203200" y="1503363"/>
            <a:ext cx="5199063" cy="3632200"/>
            <a:chOff x="-21104" y="1151088"/>
            <a:chExt cx="9011295" cy="5264150"/>
          </a:xfrm>
        </p:grpSpPr>
        <p:grpSp>
          <p:nvGrpSpPr>
            <p:cNvPr id="31754" name="Group 76"/>
            <p:cNvGrpSpPr>
              <a:grpSpLocks/>
            </p:cNvGrpSpPr>
            <p:nvPr/>
          </p:nvGrpSpPr>
          <p:grpSpPr bwMode="auto">
            <a:xfrm>
              <a:off x="725488" y="2225674"/>
              <a:ext cx="914399" cy="1219200"/>
              <a:chOff x="457" y="1402"/>
              <a:chExt cx="576" cy="768"/>
            </a:xfrm>
          </p:grpSpPr>
          <p:sp>
            <p:nvSpPr>
              <p:cNvPr id="155" name="Rectangle 3"/>
              <p:cNvSpPr>
                <a:spLocks noChangeArrowheads="1"/>
              </p:cNvSpPr>
              <p:nvPr/>
            </p:nvSpPr>
            <p:spPr bwMode="auto">
              <a:xfrm>
                <a:off x="455" y="1402"/>
                <a:ext cx="582" cy="128"/>
              </a:xfrm>
              <a:prstGeom prst="rect">
                <a:avLst/>
              </a:prstGeom>
              <a:solidFill>
                <a:srgbClr val="FFFFFF"/>
              </a:solidFill>
              <a:ln w="2844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63500" dist="107933" dir="2700000" algn="ctr" rotWithShape="0">
                  <a:srgbClr val="000000">
                    <a:alpha val="74998"/>
                  </a:srgb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 sz="1200">
                  <a:cs typeface="Arial" pitchFamily="34" charset="0"/>
                </a:endParaRPr>
              </a:p>
            </p:txBody>
          </p:sp>
          <p:sp>
            <p:nvSpPr>
              <p:cNvPr id="156" name="Rectangle 4"/>
              <p:cNvSpPr>
                <a:spLocks noChangeArrowheads="1"/>
              </p:cNvSpPr>
              <p:nvPr/>
            </p:nvSpPr>
            <p:spPr bwMode="auto">
              <a:xfrm>
                <a:off x="455" y="1529"/>
                <a:ext cx="582" cy="129"/>
              </a:xfrm>
              <a:prstGeom prst="rect">
                <a:avLst/>
              </a:prstGeom>
              <a:solidFill>
                <a:srgbClr val="FFFFFF"/>
              </a:solidFill>
              <a:ln w="2844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63500" dist="107933" dir="2700000" algn="ctr" rotWithShape="0">
                  <a:srgbClr val="000000">
                    <a:alpha val="74998"/>
                  </a:srgb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 sz="1200">
                  <a:cs typeface="Arial" pitchFamily="34" charset="0"/>
                </a:endParaRPr>
              </a:p>
            </p:txBody>
          </p:sp>
          <p:sp>
            <p:nvSpPr>
              <p:cNvPr id="157" name="Rectangle 5"/>
              <p:cNvSpPr>
                <a:spLocks noChangeArrowheads="1"/>
              </p:cNvSpPr>
              <p:nvPr/>
            </p:nvSpPr>
            <p:spPr bwMode="auto">
              <a:xfrm>
                <a:off x="455" y="1658"/>
                <a:ext cx="582" cy="128"/>
              </a:xfrm>
              <a:prstGeom prst="rect">
                <a:avLst/>
              </a:prstGeom>
              <a:solidFill>
                <a:srgbClr val="FFFFFF"/>
              </a:solidFill>
              <a:ln w="2844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63500" dist="107933" dir="2700000" algn="ctr" rotWithShape="0">
                  <a:srgbClr val="000000">
                    <a:alpha val="74998"/>
                  </a:srgb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 sz="1200">
                  <a:cs typeface="Arial" pitchFamily="34" charset="0"/>
                </a:endParaRPr>
              </a:p>
            </p:txBody>
          </p:sp>
          <p:sp>
            <p:nvSpPr>
              <p:cNvPr id="158" name="Rectangle 6"/>
              <p:cNvSpPr>
                <a:spLocks noChangeArrowheads="1"/>
              </p:cNvSpPr>
              <p:nvPr/>
            </p:nvSpPr>
            <p:spPr bwMode="auto">
              <a:xfrm>
                <a:off x="455" y="1786"/>
                <a:ext cx="582" cy="128"/>
              </a:xfrm>
              <a:prstGeom prst="rect">
                <a:avLst/>
              </a:prstGeom>
              <a:solidFill>
                <a:srgbClr val="FFFFFF"/>
              </a:solidFill>
              <a:ln w="2844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63500" dist="107933" dir="2700000" algn="ctr" rotWithShape="0">
                  <a:srgbClr val="000000">
                    <a:alpha val="74998"/>
                  </a:srgb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 sz="1200">
                  <a:cs typeface="Arial" pitchFamily="34" charset="0"/>
                </a:endParaRPr>
              </a:p>
            </p:txBody>
          </p:sp>
          <p:sp>
            <p:nvSpPr>
              <p:cNvPr id="159" name="Rectangle 7"/>
              <p:cNvSpPr>
                <a:spLocks noChangeArrowheads="1"/>
              </p:cNvSpPr>
              <p:nvPr/>
            </p:nvSpPr>
            <p:spPr bwMode="auto">
              <a:xfrm>
                <a:off x="455" y="1914"/>
                <a:ext cx="582" cy="129"/>
              </a:xfrm>
              <a:prstGeom prst="rect">
                <a:avLst/>
              </a:prstGeom>
              <a:solidFill>
                <a:srgbClr val="FFFFFF"/>
              </a:solidFill>
              <a:ln w="2844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63500" dist="107933" dir="2700000" algn="ctr" rotWithShape="0">
                  <a:srgbClr val="000000">
                    <a:alpha val="74998"/>
                  </a:srgb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 sz="1200">
                  <a:cs typeface="Arial" pitchFamily="34" charset="0"/>
                </a:endParaRPr>
              </a:p>
            </p:txBody>
          </p:sp>
          <p:sp>
            <p:nvSpPr>
              <p:cNvPr id="160" name="Rectangle 8"/>
              <p:cNvSpPr>
                <a:spLocks noChangeArrowheads="1"/>
              </p:cNvSpPr>
              <p:nvPr/>
            </p:nvSpPr>
            <p:spPr bwMode="auto">
              <a:xfrm>
                <a:off x="455" y="2043"/>
                <a:ext cx="582" cy="129"/>
              </a:xfrm>
              <a:prstGeom prst="rect">
                <a:avLst/>
              </a:prstGeom>
              <a:solidFill>
                <a:srgbClr val="FFFFFF"/>
              </a:solidFill>
              <a:ln w="2844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63500" dist="107933" dir="2700000" algn="ctr" rotWithShape="0">
                  <a:srgbClr val="000000">
                    <a:alpha val="74998"/>
                  </a:srgb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 sz="1200">
                  <a:cs typeface="Arial" pitchFamily="34" charset="0"/>
                </a:endParaRPr>
              </a:p>
            </p:txBody>
          </p:sp>
        </p:grpSp>
        <p:sp>
          <p:nvSpPr>
            <p:cNvPr id="31755" name="Line 9"/>
            <p:cNvSpPr>
              <a:spLocks noChangeShapeType="1"/>
            </p:cNvSpPr>
            <p:nvPr/>
          </p:nvSpPr>
          <p:spPr bwMode="auto">
            <a:xfrm>
              <a:off x="1106488" y="1616075"/>
              <a:ext cx="1587" cy="609600"/>
            </a:xfrm>
            <a:prstGeom prst="line">
              <a:avLst/>
            </a:prstGeom>
            <a:noFill/>
            <a:ln w="5724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grpSp>
          <p:nvGrpSpPr>
            <p:cNvPr id="31756" name="Group 10"/>
            <p:cNvGrpSpPr>
              <a:grpSpLocks/>
            </p:cNvGrpSpPr>
            <p:nvPr/>
          </p:nvGrpSpPr>
          <p:grpSpPr bwMode="auto">
            <a:xfrm>
              <a:off x="2833473" y="1246189"/>
              <a:ext cx="1667283" cy="1219200"/>
              <a:chOff x="2104" y="785"/>
              <a:chExt cx="576" cy="768"/>
            </a:xfrm>
          </p:grpSpPr>
          <p:sp>
            <p:nvSpPr>
              <p:cNvPr id="149" name="Rectangle 11"/>
              <p:cNvSpPr>
                <a:spLocks noChangeArrowheads="1"/>
              </p:cNvSpPr>
              <p:nvPr/>
            </p:nvSpPr>
            <p:spPr bwMode="auto">
              <a:xfrm>
                <a:off x="2104" y="785"/>
                <a:ext cx="576" cy="128"/>
              </a:xfrm>
              <a:prstGeom prst="rect">
                <a:avLst/>
              </a:prstGeom>
              <a:solidFill>
                <a:srgbClr val="FFFFFF"/>
              </a:solidFill>
              <a:ln w="2844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63500" dist="107933" dir="2700000" algn="ctr" rotWithShape="0">
                  <a:srgbClr val="000000">
                    <a:alpha val="74998"/>
                  </a:srgb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 sz="1200">
                  <a:cs typeface="Arial" pitchFamily="34" charset="0"/>
                </a:endParaRPr>
              </a:p>
            </p:txBody>
          </p:sp>
          <p:sp>
            <p:nvSpPr>
              <p:cNvPr id="150" name="Rectangle 12"/>
              <p:cNvSpPr>
                <a:spLocks noChangeArrowheads="1"/>
              </p:cNvSpPr>
              <p:nvPr/>
            </p:nvSpPr>
            <p:spPr bwMode="auto">
              <a:xfrm>
                <a:off x="2104" y="912"/>
                <a:ext cx="576" cy="129"/>
              </a:xfrm>
              <a:prstGeom prst="rect">
                <a:avLst/>
              </a:prstGeom>
              <a:solidFill>
                <a:srgbClr val="FFFFFF"/>
              </a:solidFill>
              <a:ln w="2844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63500" dist="107933" dir="2700000" algn="ctr" rotWithShape="0">
                  <a:srgbClr val="000000">
                    <a:alpha val="74998"/>
                  </a:srgb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 sz="1200">
                  <a:cs typeface="Arial" pitchFamily="34" charset="0"/>
                </a:endParaRPr>
              </a:p>
            </p:txBody>
          </p:sp>
          <p:sp>
            <p:nvSpPr>
              <p:cNvPr id="151" name="Rectangle 13"/>
              <p:cNvSpPr>
                <a:spLocks noChangeArrowheads="1"/>
              </p:cNvSpPr>
              <p:nvPr/>
            </p:nvSpPr>
            <p:spPr bwMode="auto">
              <a:xfrm>
                <a:off x="2104" y="1041"/>
                <a:ext cx="576" cy="128"/>
              </a:xfrm>
              <a:prstGeom prst="rect">
                <a:avLst/>
              </a:prstGeom>
              <a:solidFill>
                <a:srgbClr val="FFFFFF"/>
              </a:solidFill>
              <a:ln w="2844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63500" dist="107933" dir="2700000" algn="ctr" rotWithShape="0">
                  <a:srgbClr val="000000">
                    <a:alpha val="74998"/>
                  </a:srgb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 sz="1200">
                  <a:cs typeface="Arial" pitchFamily="34" charset="0"/>
                </a:endParaRPr>
              </a:p>
            </p:txBody>
          </p:sp>
          <p:sp>
            <p:nvSpPr>
              <p:cNvPr id="152" name="Rectangle 14"/>
              <p:cNvSpPr>
                <a:spLocks noChangeArrowheads="1"/>
              </p:cNvSpPr>
              <p:nvPr/>
            </p:nvSpPr>
            <p:spPr bwMode="auto">
              <a:xfrm>
                <a:off x="2104" y="1169"/>
                <a:ext cx="576" cy="128"/>
              </a:xfrm>
              <a:prstGeom prst="rect">
                <a:avLst/>
              </a:prstGeom>
              <a:solidFill>
                <a:srgbClr val="FFFFFF"/>
              </a:solidFill>
              <a:ln w="2844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63500" dist="107933" dir="2700000" algn="ctr" rotWithShape="0">
                  <a:srgbClr val="000000">
                    <a:alpha val="74998"/>
                  </a:srgb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 sz="1200">
                  <a:cs typeface="Arial" pitchFamily="34" charset="0"/>
                </a:endParaRPr>
              </a:p>
            </p:txBody>
          </p:sp>
          <p:sp>
            <p:nvSpPr>
              <p:cNvPr id="153" name="Rectangle 15"/>
              <p:cNvSpPr>
                <a:spLocks noChangeArrowheads="1"/>
              </p:cNvSpPr>
              <p:nvPr/>
            </p:nvSpPr>
            <p:spPr bwMode="auto">
              <a:xfrm>
                <a:off x="2104" y="1296"/>
                <a:ext cx="576" cy="129"/>
              </a:xfrm>
              <a:prstGeom prst="rect">
                <a:avLst/>
              </a:prstGeom>
              <a:solidFill>
                <a:srgbClr val="FFFFFF"/>
              </a:solidFill>
              <a:ln w="2844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63500" dist="107933" dir="2700000" algn="ctr" rotWithShape="0">
                  <a:srgbClr val="000000">
                    <a:alpha val="74998"/>
                  </a:srgb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 sz="1200">
                  <a:cs typeface="Arial" pitchFamily="34" charset="0"/>
                </a:endParaRPr>
              </a:p>
            </p:txBody>
          </p:sp>
          <p:sp>
            <p:nvSpPr>
              <p:cNvPr id="154" name="Rectangle 16"/>
              <p:cNvSpPr>
                <a:spLocks noChangeArrowheads="1"/>
              </p:cNvSpPr>
              <p:nvPr/>
            </p:nvSpPr>
            <p:spPr bwMode="auto">
              <a:xfrm>
                <a:off x="2104" y="1425"/>
                <a:ext cx="576" cy="128"/>
              </a:xfrm>
              <a:prstGeom prst="rect">
                <a:avLst/>
              </a:prstGeom>
              <a:solidFill>
                <a:srgbClr val="FFFFFF"/>
              </a:solidFill>
              <a:ln w="2844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63500" dist="107933" dir="2700000" algn="ctr" rotWithShape="0">
                  <a:srgbClr val="000000">
                    <a:alpha val="74998"/>
                  </a:srgb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 sz="1200">
                  <a:cs typeface="Arial" pitchFamily="34" charset="0"/>
                </a:endParaRPr>
              </a:p>
            </p:txBody>
          </p:sp>
        </p:grpSp>
        <p:grpSp>
          <p:nvGrpSpPr>
            <p:cNvPr id="31757" name="Group 17"/>
            <p:cNvGrpSpPr>
              <a:grpSpLocks/>
            </p:cNvGrpSpPr>
            <p:nvPr/>
          </p:nvGrpSpPr>
          <p:grpSpPr bwMode="auto">
            <a:xfrm>
              <a:off x="5168901" y="1474789"/>
              <a:ext cx="2209801" cy="812800"/>
              <a:chOff x="3256" y="929"/>
              <a:chExt cx="1392" cy="512"/>
            </a:xfrm>
          </p:grpSpPr>
          <p:sp>
            <p:nvSpPr>
              <p:cNvPr id="145" name="Rectangle 18"/>
              <p:cNvSpPr>
                <a:spLocks noChangeArrowheads="1"/>
              </p:cNvSpPr>
              <p:nvPr/>
            </p:nvSpPr>
            <p:spPr bwMode="auto">
              <a:xfrm>
                <a:off x="3256" y="929"/>
                <a:ext cx="1392" cy="128"/>
              </a:xfrm>
              <a:prstGeom prst="rect">
                <a:avLst/>
              </a:prstGeom>
              <a:solidFill>
                <a:srgbClr val="FFFFFF"/>
              </a:solidFill>
              <a:ln w="2844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63500" dist="107933" dir="2700000" algn="ctr" rotWithShape="0">
                  <a:srgbClr val="000000">
                    <a:alpha val="74998"/>
                  </a:srgb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 sz="1200">
                  <a:cs typeface="Arial" pitchFamily="34" charset="0"/>
                </a:endParaRPr>
              </a:p>
            </p:txBody>
          </p:sp>
          <p:sp>
            <p:nvSpPr>
              <p:cNvPr id="146" name="Rectangle 19"/>
              <p:cNvSpPr>
                <a:spLocks noChangeArrowheads="1"/>
              </p:cNvSpPr>
              <p:nvPr/>
            </p:nvSpPr>
            <p:spPr bwMode="auto">
              <a:xfrm>
                <a:off x="3256" y="1057"/>
                <a:ext cx="1392" cy="129"/>
              </a:xfrm>
              <a:prstGeom prst="rect">
                <a:avLst/>
              </a:prstGeom>
              <a:solidFill>
                <a:srgbClr val="FFFFFF"/>
              </a:solidFill>
              <a:ln w="2844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63500" dist="107933" dir="2700000" algn="ctr" rotWithShape="0">
                  <a:srgbClr val="000000">
                    <a:alpha val="74998"/>
                  </a:srgb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 sz="1200">
                  <a:cs typeface="Arial" pitchFamily="34" charset="0"/>
                </a:endParaRPr>
              </a:p>
            </p:txBody>
          </p:sp>
          <p:sp>
            <p:nvSpPr>
              <p:cNvPr id="147" name="Rectangle 20"/>
              <p:cNvSpPr>
                <a:spLocks noChangeArrowheads="1"/>
              </p:cNvSpPr>
              <p:nvPr/>
            </p:nvSpPr>
            <p:spPr bwMode="auto">
              <a:xfrm>
                <a:off x="3256" y="1186"/>
                <a:ext cx="1392" cy="128"/>
              </a:xfrm>
              <a:prstGeom prst="rect">
                <a:avLst/>
              </a:prstGeom>
              <a:solidFill>
                <a:srgbClr val="FFFFFF"/>
              </a:solidFill>
              <a:ln w="2844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63500" dist="107933" dir="2700000" algn="ctr" rotWithShape="0">
                  <a:srgbClr val="000000">
                    <a:alpha val="74998"/>
                  </a:srgb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 sz="1200">
                  <a:cs typeface="Arial" pitchFamily="34" charset="0"/>
                </a:endParaRPr>
              </a:p>
            </p:txBody>
          </p:sp>
          <p:sp>
            <p:nvSpPr>
              <p:cNvPr id="148" name="Rectangle 21"/>
              <p:cNvSpPr>
                <a:spLocks noChangeArrowheads="1"/>
              </p:cNvSpPr>
              <p:nvPr/>
            </p:nvSpPr>
            <p:spPr bwMode="auto">
              <a:xfrm>
                <a:off x="3256" y="1314"/>
                <a:ext cx="1392" cy="129"/>
              </a:xfrm>
              <a:prstGeom prst="rect">
                <a:avLst/>
              </a:prstGeom>
              <a:solidFill>
                <a:srgbClr val="FFFFFF"/>
              </a:solidFill>
              <a:ln w="2844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63500" dist="107933" dir="2700000" algn="ctr" rotWithShape="0">
                  <a:srgbClr val="000000">
                    <a:alpha val="74998"/>
                  </a:srgb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 sz="1200">
                  <a:cs typeface="Arial" pitchFamily="34" charset="0"/>
                </a:endParaRPr>
              </a:p>
            </p:txBody>
          </p:sp>
        </p:grpSp>
        <p:grpSp>
          <p:nvGrpSpPr>
            <p:cNvPr id="31758" name="Group 22"/>
            <p:cNvGrpSpPr>
              <a:grpSpLocks/>
            </p:cNvGrpSpPr>
            <p:nvPr/>
          </p:nvGrpSpPr>
          <p:grpSpPr bwMode="auto">
            <a:xfrm>
              <a:off x="7583484" y="3368672"/>
              <a:ext cx="914399" cy="609600"/>
              <a:chOff x="4777" y="2122"/>
              <a:chExt cx="576" cy="384"/>
            </a:xfrm>
          </p:grpSpPr>
          <p:sp>
            <p:nvSpPr>
              <p:cNvPr id="142" name="Rectangle 23"/>
              <p:cNvSpPr>
                <a:spLocks noChangeArrowheads="1"/>
              </p:cNvSpPr>
              <p:nvPr/>
            </p:nvSpPr>
            <p:spPr bwMode="auto">
              <a:xfrm>
                <a:off x="4777" y="2122"/>
                <a:ext cx="574" cy="128"/>
              </a:xfrm>
              <a:prstGeom prst="rect">
                <a:avLst/>
              </a:prstGeom>
              <a:solidFill>
                <a:srgbClr val="FFFFFF"/>
              </a:solidFill>
              <a:ln w="2844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63500" dist="107933" dir="2700000" algn="ctr" rotWithShape="0">
                  <a:srgbClr val="000000">
                    <a:alpha val="74998"/>
                  </a:srgb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 sz="1200">
                  <a:cs typeface="Arial" pitchFamily="34" charset="0"/>
                </a:endParaRPr>
              </a:p>
            </p:txBody>
          </p:sp>
          <p:sp>
            <p:nvSpPr>
              <p:cNvPr id="143" name="Rectangle 24"/>
              <p:cNvSpPr>
                <a:spLocks noChangeArrowheads="1"/>
              </p:cNvSpPr>
              <p:nvPr/>
            </p:nvSpPr>
            <p:spPr bwMode="auto">
              <a:xfrm>
                <a:off x="4777" y="2250"/>
                <a:ext cx="574" cy="129"/>
              </a:xfrm>
              <a:prstGeom prst="rect">
                <a:avLst/>
              </a:prstGeom>
              <a:solidFill>
                <a:srgbClr val="FFFFFF"/>
              </a:solidFill>
              <a:ln w="2844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63500" dist="107933" dir="2700000" algn="ctr" rotWithShape="0">
                  <a:srgbClr val="000000">
                    <a:alpha val="74998"/>
                  </a:srgb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 sz="1200">
                  <a:cs typeface="Arial" pitchFamily="34" charset="0"/>
                </a:endParaRPr>
              </a:p>
            </p:txBody>
          </p:sp>
          <p:sp>
            <p:nvSpPr>
              <p:cNvPr id="144" name="Rectangle 25"/>
              <p:cNvSpPr>
                <a:spLocks noChangeArrowheads="1"/>
              </p:cNvSpPr>
              <p:nvPr/>
            </p:nvSpPr>
            <p:spPr bwMode="auto">
              <a:xfrm>
                <a:off x="4777" y="2379"/>
                <a:ext cx="574" cy="129"/>
              </a:xfrm>
              <a:prstGeom prst="rect">
                <a:avLst/>
              </a:prstGeom>
              <a:solidFill>
                <a:srgbClr val="FFFFFF"/>
              </a:solidFill>
              <a:ln w="2844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63500" dist="107933" dir="2700000" algn="ctr" rotWithShape="0">
                  <a:srgbClr val="000000">
                    <a:alpha val="74998"/>
                  </a:srgb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 sz="1200">
                  <a:cs typeface="Arial" pitchFamily="34" charset="0"/>
                </a:endParaRPr>
              </a:p>
            </p:txBody>
          </p:sp>
        </p:grpSp>
        <p:grpSp>
          <p:nvGrpSpPr>
            <p:cNvPr id="31759" name="Group 26"/>
            <p:cNvGrpSpPr>
              <a:grpSpLocks/>
            </p:cNvGrpSpPr>
            <p:nvPr/>
          </p:nvGrpSpPr>
          <p:grpSpPr bwMode="auto">
            <a:xfrm>
              <a:off x="1677988" y="3913191"/>
              <a:ext cx="2209799" cy="609600"/>
              <a:chOff x="1057" y="2465"/>
              <a:chExt cx="1392" cy="384"/>
            </a:xfrm>
          </p:grpSpPr>
          <p:sp>
            <p:nvSpPr>
              <p:cNvPr id="139" name="Rectangle 27"/>
              <p:cNvSpPr>
                <a:spLocks noChangeArrowheads="1"/>
              </p:cNvSpPr>
              <p:nvPr/>
            </p:nvSpPr>
            <p:spPr bwMode="auto">
              <a:xfrm>
                <a:off x="1061" y="2467"/>
                <a:ext cx="1392" cy="128"/>
              </a:xfrm>
              <a:prstGeom prst="rect">
                <a:avLst/>
              </a:prstGeom>
              <a:solidFill>
                <a:srgbClr val="BBE0E3"/>
              </a:solidFill>
              <a:ln w="2844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63500" dist="107933" dir="2700000" algn="ctr" rotWithShape="0">
                  <a:srgbClr val="000000">
                    <a:alpha val="74998"/>
                  </a:srgb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 sz="1200">
                  <a:cs typeface="Arial" pitchFamily="34" charset="0"/>
                </a:endParaRPr>
              </a:p>
            </p:txBody>
          </p:sp>
          <p:sp>
            <p:nvSpPr>
              <p:cNvPr id="140" name="Rectangle 28"/>
              <p:cNvSpPr>
                <a:spLocks noChangeArrowheads="1"/>
              </p:cNvSpPr>
              <p:nvPr/>
            </p:nvSpPr>
            <p:spPr bwMode="auto">
              <a:xfrm>
                <a:off x="1061" y="2593"/>
                <a:ext cx="1392" cy="128"/>
              </a:xfrm>
              <a:prstGeom prst="rect">
                <a:avLst/>
              </a:prstGeom>
              <a:solidFill>
                <a:srgbClr val="BBE0E3"/>
              </a:solidFill>
              <a:ln w="2844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63500" dist="107933" dir="2700000" algn="ctr" rotWithShape="0">
                  <a:srgbClr val="000000">
                    <a:alpha val="74998"/>
                  </a:srgb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 sz="1200">
                  <a:cs typeface="Arial" pitchFamily="34" charset="0"/>
                </a:endParaRPr>
              </a:p>
            </p:txBody>
          </p:sp>
          <p:sp>
            <p:nvSpPr>
              <p:cNvPr id="141" name="Rectangle 29"/>
              <p:cNvSpPr>
                <a:spLocks noChangeArrowheads="1"/>
              </p:cNvSpPr>
              <p:nvPr/>
            </p:nvSpPr>
            <p:spPr bwMode="auto">
              <a:xfrm>
                <a:off x="1061" y="2721"/>
                <a:ext cx="1392" cy="128"/>
              </a:xfrm>
              <a:prstGeom prst="rect">
                <a:avLst/>
              </a:prstGeom>
              <a:solidFill>
                <a:srgbClr val="BBE0E3"/>
              </a:solidFill>
              <a:ln w="2844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63500" dist="107933" dir="2700000" algn="ctr" rotWithShape="0">
                  <a:srgbClr val="000000">
                    <a:alpha val="74998"/>
                  </a:srgb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 sz="1200">
                  <a:cs typeface="Arial" pitchFamily="34" charset="0"/>
                </a:endParaRPr>
              </a:p>
            </p:txBody>
          </p:sp>
        </p:grpSp>
        <p:sp>
          <p:nvSpPr>
            <p:cNvPr id="31760" name="Rectangle 30"/>
            <p:cNvSpPr>
              <a:spLocks noChangeArrowheads="1"/>
            </p:cNvSpPr>
            <p:nvPr/>
          </p:nvSpPr>
          <p:spPr bwMode="auto">
            <a:xfrm>
              <a:off x="2019859" y="3913188"/>
              <a:ext cx="253786" cy="609600"/>
            </a:xfrm>
            <a:prstGeom prst="rect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200">
                <a:cs typeface="Arial" pitchFamily="34" charset="0"/>
              </a:endParaRPr>
            </a:p>
          </p:txBody>
        </p:sp>
        <p:sp>
          <p:nvSpPr>
            <p:cNvPr id="84" name="Rectangle 31"/>
            <p:cNvSpPr>
              <a:spLocks noChangeArrowheads="1"/>
            </p:cNvSpPr>
            <p:nvPr/>
          </p:nvSpPr>
          <p:spPr bwMode="auto">
            <a:xfrm>
              <a:off x="2248918" y="5055485"/>
              <a:ext cx="1067598" cy="306002"/>
            </a:xfrm>
            <a:prstGeom prst="rect">
              <a:avLst/>
            </a:prstGeom>
            <a:solidFill>
              <a:srgbClr val="BBE0E3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100000"/>
                </a:lnSpc>
                <a:buFont typeface="Comic Sans MS" pitchFamily="66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lang="en-GB" sz="1000" b="1">
                  <a:solidFill>
                    <a:srgbClr val="000000"/>
                  </a:solidFill>
                  <a:cs typeface="Arial" pitchFamily="34" charset="0"/>
                </a:rPr>
                <a:t>FP adders</a:t>
              </a:r>
            </a:p>
          </p:txBody>
        </p:sp>
        <p:sp>
          <p:nvSpPr>
            <p:cNvPr id="31762" name="Text Box 32"/>
            <p:cNvSpPr txBox="1">
              <a:spLocks noChangeArrowheads="1"/>
            </p:cNvSpPr>
            <p:nvPr/>
          </p:nvSpPr>
          <p:spPr bwMode="auto">
            <a:xfrm>
              <a:off x="1003643" y="3837832"/>
              <a:ext cx="815289" cy="71903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100000"/>
                </a:lnSpc>
                <a:buClr>
                  <a:srgbClr val="009999"/>
                </a:buClr>
                <a:buFont typeface="Comic Sans MS" pitchFamily="66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900" b="1">
                  <a:solidFill>
                    <a:srgbClr val="009999"/>
                  </a:solidFill>
                  <a:cs typeface="Arial" pitchFamily="34" charset="0"/>
                </a:rPr>
                <a:t>Add1</a:t>
              </a:r>
            </a:p>
            <a:p>
              <a:pPr algn="ctr">
                <a:lnSpc>
                  <a:spcPct val="100000"/>
                </a:lnSpc>
                <a:buClr>
                  <a:srgbClr val="009999"/>
                </a:buClr>
                <a:buFont typeface="Comic Sans MS" pitchFamily="66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900" b="1">
                  <a:solidFill>
                    <a:srgbClr val="009999"/>
                  </a:solidFill>
                  <a:cs typeface="Arial" pitchFamily="34" charset="0"/>
                </a:rPr>
                <a:t>Add2</a:t>
              </a:r>
            </a:p>
            <a:p>
              <a:pPr algn="ctr">
                <a:lnSpc>
                  <a:spcPct val="90000"/>
                </a:lnSpc>
                <a:buClr>
                  <a:srgbClr val="009999"/>
                </a:buClr>
                <a:buFont typeface="Comic Sans MS" pitchFamily="66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900" b="1">
                  <a:solidFill>
                    <a:srgbClr val="009999"/>
                  </a:solidFill>
                  <a:cs typeface="Arial" pitchFamily="34" charset="0"/>
                </a:rPr>
                <a:t>Add3</a:t>
              </a:r>
            </a:p>
          </p:txBody>
        </p:sp>
        <p:grpSp>
          <p:nvGrpSpPr>
            <p:cNvPr id="31763" name="Group 33"/>
            <p:cNvGrpSpPr>
              <a:grpSpLocks/>
            </p:cNvGrpSpPr>
            <p:nvPr/>
          </p:nvGrpSpPr>
          <p:grpSpPr bwMode="auto">
            <a:xfrm>
              <a:off x="4864101" y="4065593"/>
              <a:ext cx="2209801" cy="381000"/>
              <a:chOff x="3064" y="2561"/>
              <a:chExt cx="1392" cy="240"/>
            </a:xfrm>
          </p:grpSpPr>
          <p:sp>
            <p:nvSpPr>
              <p:cNvPr id="137" name="Rectangle 34"/>
              <p:cNvSpPr>
                <a:spLocks noChangeArrowheads="1"/>
              </p:cNvSpPr>
              <p:nvPr/>
            </p:nvSpPr>
            <p:spPr bwMode="auto">
              <a:xfrm>
                <a:off x="3060" y="2561"/>
                <a:ext cx="1400" cy="120"/>
              </a:xfrm>
              <a:prstGeom prst="rect">
                <a:avLst/>
              </a:prstGeom>
              <a:solidFill>
                <a:srgbClr val="BBE0E3"/>
              </a:solidFill>
              <a:ln w="2844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63500" dist="107933" dir="2700000" algn="ctr" rotWithShape="0">
                  <a:srgbClr val="000000">
                    <a:alpha val="74998"/>
                  </a:srgb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 sz="1200">
                  <a:cs typeface="Arial" pitchFamily="34" charset="0"/>
                </a:endParaRPr>
              </a:p>
            </p:txBody>
          </p:sp>
          <p:sp>
            <p:nvSpPr>
              <p:cNvPr id="138" name="Rectangle 35"/>
              <p:cNvSpPr>
                <a:spLocks noChangeArrowheads="1"/>
              </p:cNvSpPr>
              <p:nvPr/>
            </p:nvSpPr>
            <p:spPr bwMode="auto">
              <a:xfrm>
                <a:off x="3060" y="2682"/>
                <a:ext cx="1400" cy="119"/>
              </a:xfrm>
              <a:prstGeom prst="rect">
                <a:avLst/>
              </a:prstGeom>
              <a:solidFill>
                <a:srgbClr val="BBE0E3"/>
              </a:solidFill>
              <a:ln w="2844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63500" dist="107933" dir="2700000" algn="ctr" rotWithShape="0">
                  <a:srgbClr val="000000">
                    <a:alpha val="74998"/>
                  </a:srgb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 sz="1200">
                  <a:cs typeface="Arial" pitchFamily="34" charset="0"/>
                </a:endParaRPr>
              </a:p>
            </p:txBody>
          </p:sp>
        </p:grpSp>
        <p:sp>
          <p:nvSpPr>
            <p:cNvPr id="31764" name="Rectangle 36"/>
            <p:cNvSpPr>
              <a:spLocks noChangeArrowheads="1"/>
            </p:cNvSpPr>
            <p:nvPr/>
          </p:nvSpPr>
          <p:spPr bwMode="auto">
            <a:xfrm>
              <a:off x="5218328" y="4065588"/>
              <a:ext cx="268073" cy="381000"/>
            </a:xfrm>
            <a:prstGeom prst="rect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200">
                <a:cs typeface="Arial" pitchFamily="34" charset="0"/>
              </a:endParaRPr>
            </a:p>
          </p:txBody>
        </p:sp>
        <p:sp>
          <p:nvSpPr>
            <p:cNvPr id="88" name="Rectangle 37"/>
            <p:cNvSpPr>
              <a:spLocks noChangeArrowheads="1"/>
            </p:cNvSpPr>
            <p:nvPr/>
          </p:nvSpPr>
          <p:spPr bwMode="auto">
            <a:xfrm>
              <a:off x="5322387" y="5055485"/>
              <a:ext cx="1447310" cy="306002"/>
            </a:xfrm>
            <a:prstGeom prst="rect">
              <a:avLst/>
            </a:prstGeom>
            <a:solidFill>
              <a:srgbClr val="BBE0E3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100000"/>
                </a:lnSpc>
                <a:buFont typeface="Comic Sans MS" pitchFamily="66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lang="en-GB" sz="1000" b="1">
                  <a:solidFill>
                    <a:srgbClr val="000000"/>
                  </a:solidFill>
                  <a:cs typeface="Arial" pitchFamily="34" charset="0"/>
                </a:rPr>
                <a:t>FP multipliers</a:t>
              </a:r>
            </a:p>
          </p:txBody>
        </p:sp>
        <p:sp>
          <p:nvSpPr>
            <p:cNvPr id="31766" name="Text Box 38"/>
            <p:cNvSpPr txBox="1">
              <a:spLocks noChangeArrowheads="1"/>
            </p:cNvSpPr>
            <p:nvPr/>
          </p:nvSpPr>
          <p:spPr bwMode="auto">
            <a:xfrm>
              <a:off x="4149270" y="4043474"/>
              <a:ext cx="837521" cy="498251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90000"/>
                </a:lnSpc>
                <a:buClr>
                  <a:srgbClr val="009999"/>
                </a:buClr>
                <a:buFont typeface="Comic Sans MS" pitchFamily="66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900" b="1">
                  <a:solidFill>
                    <a:srgbClr val="009999"/>
                  </a:solidFill>
                  <a:cs typeface="Arial" pitchFamily="34" charset="0"/>
                </a:rPr>
                <a:t>Mult1</a:t>
              </a:r>
            </a:p>
            <a:p>
              <a:pPr algn="ctr">
                <a:lnSpc>
                  <a:spcPct val="90000"/>
                </a:lnSpc>
                <a:buClr>
                  <a:srgbClr val="009999"/>
                </a:buClr>
                <a:buFont typeface="Comic Sans MS" pitchFamily="66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900" b="1">
                  <a:solidFill>
                    <a:srgbClr val="009999"/>
                  </a:solidFill>
                  <a:cs typeface="Arial" pitchFamily="34" charset="0"/>
                </a:rPr>
                <a:t>Mult2</a:t>
              </a:r>
            </a:p>
          </p:txBody>
        </p:sp>
        <p:sp>
          <p:nvSpPr>
            <p:cNvPr id="31767" name="Line 39"/>
            <p:cNvSpPr>
              <a:spLocks noChangeShapeType="1"/>
            </p:cNvSpPr>
            <p:nvPr/>
          </p:nvSpPr>
          <p:spPr bwMode="auto">
            <a:xfrm>
              <a:off x="2425700" y="4522788"/>
              <a:ext cx="1588" cy="533400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1768" name="Line 40"/>
            <p:cNvSpPr>
              <a:spLocks noChangeShapeType="1"/>
            </p:cNvSpPr>
            <p:nvPr/>
          </p:nvSpPr>
          <p:spPr bwMode="auto">
            <a:xfrm>
              <a:off x="3111500" y="4522788"/>
              <a:ext cx="1588" cy="533400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1769" name="Line 41"/>
            <p:cNvSpPr>
              <a:spLocks noChangeShapeType="1"/>
            </p:cNvSpPr>
            <p:nvPr/>
          </p:nvSpPr>
          <p:spPr bwMode="auto">
            <a:xfrm>
              <a:off x="5549900" y="4446588"/>
              <a:ext cx="1588" cy="609600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1770" name="Line 42"/>
            <p:cNvSpPr>
              <a:spLocks noChangeShapeType="1"/>
            </p:cNvSpPr>
            <p:nvPr/>
          </p:nvSpPr>
          <p:spPr bwMode="auto">
            <a:xfrm>
              <a:off x="6464300" y="4446588"/>
              <a:ext cx="1588" cy="609600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1771" name="Freeform 43"/>
            <p:cNvSpPr>
              <a:spLocks/>
            </p:cNvSpPr>
            <p:nvPr/>
          </p:nvSpPr>
          <p:spPr bwMode="auto">
            <a:xfrm>
              <a:off x="1816100" y="2465388"/>
              <a:ext cx="1981200" cy="1447800"/>
            </a:xfrm>
            <a:custGeom>
              <a:avLst/>
              <a:gdLst>
                <a:gd name="T0" fmla="*/ 2147483647 w 1248"/>
                <a:gd name="T1" fmla="*/ 0 h 912"/>
                <a:gd name="T2" fmla="*/ 2147483647 w 1248"/>
                <a:gd name="T3" fmla="*/ 2147483647 h 912"/>
                <a:gd name="T4" fmla="*/ 0 w 1248"/>
                <a:gd name="T5" fmla="*/ 2147483647 h 912"/>
                <a:gd name="T6" fmla="*/ 0 w 1248"/>
                <a:gd name="T7" fmla="*/ 2147483647 h 91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48"/>
                <a:gd name="T13" fmla="*/ 0 h 912"/>
                <a:gd name="T14" fmla="*/ 1248 w 1248"/>
                <a:gd name="T15" fmla="*/ 912 h 91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48" h="912">
                  <a:moveTo>
                    <a:pt x="1248" y="0"/>
                  </a:moveTo>
                  <a:lnTo>
                    <a:pt x="1248" y="672"/>
                  </a:lnTo>
                  <a:lnTo>
                    <a:pt x="0" y="672"/>
                  </a:lnTo>
                  <a:lnTo>
                    <a:pt x="0" y="912"/>
                  </a:lnTo>
                </a:path>
              </a:pathLst>
            </a:custGeom>
            <a:noFill/>
            <a:ln w="2844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1772" name="Freeform 44"/>
            <p:cNvSpPr>
              <a:spLocks/>
            </p:cNvSpPr>
            <p:nvPr/>
          </p:nvSpPr>
          <p:spPr bwMode="auto">
            <a:xfrm>
              <a:off x="3797300" y="3532188"/>
              <a:ext cx="1219200" cy="533400"/>
            </a:xfrm>
            <a:custGeom>
              <a:avLst/>
              <a:gdLst>
                <a:gd name="T0" fmla="*/ 0 w 768"/>
                <a:gd name="T1" fmla="*/ 0 h 336"/>
                <a:gd name="T2" fmla="*/ 2147483647 w 768"/>
                <a:gd name="T3" fmla="*/ 0 h 336"/>
                <a:gd name="T4" fmla="*/ 2147483647 w 768"/>
                <a:gd name="T5" fmla="*/ 2147483647 h 336"/>
                <a:gd name="T6" fmla="*/ 0 60000 65536"/>
                <a:gd name="T7" fmla="*/ 0 60000 65536"/>
                <a:gd name="T8" fmla="*/ 0 60000 65536"/>
                <a:gd name="T9" fmla="*/ 0 w 768"/>
                <a:gd name="T10" fmla="*/ 0 h 336"/>
                <a:gd name="T11" fmla="*/ 768 w 768"/>
                <a:gd name="T12" fmla="*/ 336 h 3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8" h="336">
                  <a:moveTo>
                    <a:pt x="0" y="0"/>
                  </a:moveTo>
                  <a:lnTo>
                    <a:pt x="768" y="0"/>
                  </a:lnTo>
                  <a:lnTo>
                    <a:pt x="768" y="336"/>
                  </a:lnTo>
                </a:path>
              </a:pathLst>
            </a:custGeom>
            <a:noFill/>
            <a:ln w="2844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1773" name="Freeform 45"/>
            <p:cNvSpPr>
              <a:spLocks/>
            </p:cNvSpPr>
            <p:nvPr/>
          </p:nvSpPr>
          <p:spPr bwMode="auto">
            <a:xfrm>
              <a:off x="2113006" y="2312988"/>
              <a:ext cx="3225114" cy="1600200"/>
            </a:xfrm>
            <a:custGeom>
              <a:avLst/>
              <a:gdLst>
                <a:gd name="T0" fmla="*/ 2147483647 w 1968"/>
                <a:gd name="T1" fmla="*/ 0 h 1008"/>
                <a:gd name="T2" fmla="*/ 2147483647 w 1968"/>
                <a:gd name="T3" fmla="*/ 2147483647 h 1008"/>
                <a:gd name="T4" fmla="*/ 0 w 1968"/>
                <a:gd name="T5" fmla="*/ 2147483647 h 1008"/>
                <a:gd name="T6" fmla="*/ 0 w 1968"/>
                <a:gd name="T7" fmla="*/ 2147483647 h 10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68"/>
                <a:gd name="T13" fmla="*/ 0 h 1008"/>
                <a:gd name="T14" fmla="*/ 1968 w 1968"/>
                <a:gd name="T15" fmla="*/ 1008 h 10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68" h="1008">
                  <a:moveTo>
                    <a:pt x="1968" y="0"/>
                  </a:moveTo>
                  <a:lnTo>
                    <a:pt x="1968" y="528"/>
                  </a:lnTo>
                  <a:lnTo>
                    <a:pt x="0" y="528"/>
                  </a:lnTo>
                  <a:lnTo>
                    <a:pt x="0" y="1008"/>
                  </a:lnTo>
                </a:path>
              </a:pathLst>
            </a:custGeom>
            <a:noFill/>
            <a:ln w="2844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1774" name="Line 46"/>
            <p:cNvSpPr>
              <a:spLocks noChangeShapeType="1"/>
            </p:cNvSpPr>
            <p:nvPr/>
          </p:nvSpPr>
          <p:spPr bwMode="auto">
            <a:xfrm>
              <a:off x="5337773" y="3151188"/>
              <a:ext cx="1588" cy="914400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1775" name="Line 47"/>
            <p:cNvSpPr>
              <a:spLocks noChangeShapeType="1"/>
            </p:cNvSpPr>
            <p:nvPr/>
          </p:nvSpPr>
          <p:spPr bwMode="auto">
            <a:xfrm>
              <a:off x="6571397" y="2312988"/>
              <a:ext cx="1588" cy="1752600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1776" name="Freeform 48"/>
            <p:cNvSpPr>
              <a:spLocks/>
            </p:cNvSpPr>
            <p:nvPr/>
          </p:nvSpPr>
          <p:spPr bwMode="auto">
            <a:xfrm>
              <a:off x="3398108" y="3348680"/>
              <a:ext cx="3163330" cy="564507"/>
            </a:xfrm>
            <a:custGeom>
              <a:avLst/>
              <a:gdLst>
                <a:gd name="T0" fmla="*/ 2147483647 w 1920"/>
                <a:gd name="T1" fmla="*/ 0 h 384"/>
                <a:gd name="T2" fmla="*/ 0 w 1920"/>
                <a:gd name="T3" fmla="*/ 0 h 384"/>
                <a:gd name="T4" fmla="*/ 0 w 1920"/>
                <a:gd name="T5" fmla="*/ 2147483647 h 384"/>
                <a:gd name="T6" fmla="*/ 0 60000 65536"/>
                <a:gd name="T7" fmla="*/ 0 60000 65536"/>
                <a:gd name="T8" fmla="*/ 0 60000 65536"/>
                <a:gd name="T9" fmla="*/ 0 w 1920"/>
                <a:gd name="T10" fmla="*/ 0 h 384"/>
                <a:gd name="T11" fmla="*/ 1920 w 1920"/>
                <a:gd name="T12" fmla="*/ 384 h 3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20" h="384">
                  <a:moveTo>
                    <a:pt x="1920" y="0"/>
                  </a:moveTo>
                  <a:lnTo>
                    <a:pt x="0" y="0"/>
                  </a:lnTo>
                  <a:lnTo>
                    <a:pt x="0" y="384"/>
                  </a:lnTo>
                </a:path>
              </a:pathLst>
            </a:custGeom>
            <a:noFill/>
            <a:ln w="2844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1777" name="Freeform 49"/>
            <p:cNvSpPr>
              <a:spLocks/>
            </p:cNvSpPr>
            <p:nvPr/>
          </p:nvSpPr>
          <p:spPr bwMode="auto">
            <a:xfrm>
              <a:off x="6573796" y="2835275"/>
              <a:ext cx="1408670" cy="533400"/>
            </a:xfrm>
            <a:custGeom>
              <a:avLst/>
              <a:gdLst>
                <a:gd name="T0" fmla="*/ 0 w 1008"/>
                <a:gd name="T1" fmla="*/ 0 h 144"/>
                <a:gd name="T2" fmla="*/ 2147483647 w 1008"/>
                <a:gd name="T3" fmla="*/ 0 h 144"/>
                <a:gd name="T4" fmla="*/ 2147483647 w 1008"/>
                <a:gd name="T5" fmla="*/ 2147483647 h 144"/>
                <a:gd name="T6" fmla="*/ 0 60000 65536"/>
                <a:gd name="T7" fmla="*/ 0 60000 65536"/>
                <a:gd name="T8" fmla="*/ 0 60000 65536"/>
                <a:gd name="T9" fmla="*/ 0 w 1008"/>
                <a:gd name="T10" fmla="*/ 0 h 144"/>
                <a:gd name="T11" fmla="*/ 1008 w 1008"/>
                <a:gd name="T12" fmla="*/ 144 h 1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08" h="144">
                  <a:moveTo>
                    <a:pt x="0" y="0"/>
                  </a:moveTo>
                  <a:lnTo>
                    <a:pt x="1008" y="0"/>
                  </a:lnTo>
                  <a:lnTo>
                    <a:pt x="1008" y="144"/>
                  </a:lnTo>
                </a:path>
              </a:pathLst>
            </a:custGeom>
            <a:noFill/>
            <a:ln w="2844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1778" name="Line 50"/>
            <p:cNvSpPr>
              <a:spLocks noChangeShapeType="1"/>
            </p:cNvSpPr>
            <p:nvPr/>
          </p:nvSpPr>
          <p:spPr bwMode="auto">
            <a:xfrm>
              <a:off x="1050324" y="6030096"/>
              <a:ext cx="7846540" cy="12357"/>
            </a:xfrm>
            <a:prstGeom prst="line">
              <a:avLst/>
            </a:prstGeom>
            <a:noFill/>
            <a:ln w="57240">
              <a:solidFill>
                <a:srgbClr val="00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1779" name="Line 51"/>
            <p:cNvSpPr>
              <a:spLocks noChangeShapeType="1"/>
            </p:cNvSpPr>
            <p:nvPr/>
          </p:nvSpPr>
          <p:spPr bwMode="auto">
            <a:xfrm flipH="1" flipV="1">
              <a:off x="8575588" y="3669956"/>
              <a:ext cx="304885" cy="3518"/>
            </a:xfrm>
            <a:prstGeom prst="line">
              <a:avLst/>
            </a:prstGeom>
            <a:noFill/>
            <a:ln w="57240">
              <a:solidFill>
                <a:srgbClr val="009999"/>
              </a:solidFill>
              <a:miter lim="800000"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1780" name="Freeform 52"/>
            <p:cNvSpPr>
              <a:spLocks/>
            </p:cNvSpPr>
            <p:nvPr/>
          </p:nvSpPr>
          <p:spPr bwMode="auto">
            <a:xfrm>
              <a:off x="7438768" y="1844675"/>
              <a:ext cx="1440120" cy="4191000"/>
            </a:xfrm>
            <a:custGeom>
              <a:avLst/>
              <a:gdLst>
                <a:gd name="T0" fmla="*/ 2147483647 w 960"/>
                <a:gd name="T1" fmla="*/ 2147483647 h 2448"/>
                <a:gd name="T2" fmla="*/ 2147483647 w 960"/>
                <a:gd name="T3" fmla="*/ 0 h 2448"/>
                <a:gd name="T4" fmla="*/ 0 w 960"/>
                <a:gd name="T5" fmla="*/ 0 h 2448"/>
                <a:gd name="T6" fmla="*/ 0 60000 65536"/>
                <a:gd name="T7" fmla="*/ 0 60000 65536"/>
                <a:gd name="T8" fmla="*/ 0 60000 65536"/>
                <a:gd name="T9" fmla="*/ 0 w 960"/>
                <a:gd name="T10" fmla="*/ 0 h 2448"/>
                <a:gd name="T11" fmla="*/ 960 w 960"/>
                <a:gd name="T12" fmla="*/ 2448 h 24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60" h="2448">
                  <a:moveTo>
                    <a:pt x="960" y="2448"/>
                  </a:moveTo>
                  <a:lnTo>
                    <a:pt x="960" y="0"/>
                  </a:lnTo>
                  <a:lnTo>
                    <a:pt x="0" y="0"/>
                  </a:lnTo>
                </a:path>
              </a:pathLst>
            </a:custGeom>
            <a:noFill/>
            <a:ln w="57240">
              <a:solidFill>
                <a:srgbClr val="009999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1781" name="Line 53"/>
            <p:cNvSpPr>
              <a:spLocks noChangeShapeType="1"/>
            </p:cNvSpPr>
            <p:nvPr/>
          </p:nvSpPr>
          <p:spPr bwMode="auto">
            <a:xfrm>
              <a:off x="1106488" y="3444875"/>
              <a:ext cx="1587" cy="2590800"/>
            </a:xfrm>
            <a:prstGeom prst="line">
              <a:avLst/>
            </a:prstGeom>
            <a:noFill/>
            <a:ln w="57240">
              <a:solidFill>
                <a:srgbClr val="009999"/>
              </a:solidFill>
              <a:miter lim="800000"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1782" name="Line 54"/>
            <p:cNvSpPr>
              <a:spLocks noChangeShapeType="1"/>
            </p:cNvSpPr>
            <p:nvPr/>
          </p:nvSpPr>
          <p:spPr bwMode="auto">
            <a:xfrm>
              <a:off x="6059488" y="5349875"/>
              <a:ext cx="1587" cy="685800"/>
            </a:xfrm>
            <a:prstGeom prst="line">
              <a:avLst/>
            </a:prstGeom>
            <a:noFill/>
            <a:ln w="57240">
              <a:solidFill>
                <a:srgbClr val="009999"/>
              </a:solidFill>
              <a:miter lim="800000"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1783" name="Line 55"/>
            <p:cNvSpPr>
              <a:spLocks noChangeShapeType="1"/>
            </p:cNvSpPr>
            <p:nvPr/>
          </p:nvSpPr>
          <p:spPr bwMode="auto">
            <a:xfrm>
              <a:off x="2782888" y="5349875"/>
              <a:ext cx="1587" cy="685800"/>
            </a:xfrm>
            <a:prstGeom prst="line">
              <a:avLst/>
            </a:prstGeom>
            <a:noFill/>
            <a:ln w="57240">
              <a:solidFill>
                <a:srgbClr val="009999"/>
              </a:solidFill>
              <a:miter lim="800000"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1784" name="Line 56"/>
            <p:cNvSpPr>
              <a:spLocks noChangeShapeType="1"/>
            </p:cNvSpPr>
            <p:nvPr/>
          </p:nvSpPr>
          <p:spPr bwMode="auto">
            <a:xfrm>
              <a:off x="8040688" y="3978275"/>
              <a:ext cx="1587" cy="609600"/>
            </a:xfrm>
            <a:prstGeom prst="line">
              <a:avLst/>
            </a:prstGeom>
            <a:noFill/>
            <a:ln w="5724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8" name="Text Box 57"/>
            <p:cNvSpPr txBox="1">
              <a:spLocks noChangeArrowheads="1"/>
            </p:cNvSpPr>
            <p:nvPr/>
          </p:nvSpPr>
          <p:spPr bwMode="auto">
            <a:xfrm>
              <a:off x="240293" y="1227013"/>
              <a:ext cx="1549116" cy="381927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100000"/>
                </a:lnSpc>
                <a:buFont typeface="Comic Sans MS" pitchFamily="66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lang="en-GB" sz="1050" b="1">
                  <a:solidFill>
                    <a:srgbClr val="000000"/>
                  </a:solidFill>
                  <a:cs typeface="Arial" pitchFamily="34" charset="0"/>
                </a:rPr>
                <a:t>From Mem</a:t>
              </a:r>
            </a:p>
          </p:txBody>
        </p:sp>
        <p:sp>
          <p:nvSpPr>
            <p:cNvPr id="109" name="Text Box 58"/>
            <p:cNvSpPr txBox="1">
              <a:spLocks noChangeArrowheads="1"/>
            </p:cNvSpPr>
            <p:nvPr/>
          </p:nvSpPr>
          <p:spPr bwMode="auto">
            <a:xfrm>
              <a:off x="5308630" y="1151088"/>
              <a:ext cx="1807761" cy="381927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100000"/>
                </a:lnSpc>
                <a:buFont typeface="Comic Sans MS" pitchFamily="66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lang="en-GB" sz="1050" b="1" dirty="0">
                  <a:solidFill>
                    <a:srgbClr val="000000"/>
                  </a:solidFill>
                  <a:cs typeface="Arial" pitchFamily="34" charset="0"/>
                </a:rPr>
                <a:t>FP Registers</a:t>
              </a:r>
            </a:p>
          </p:txBody>
        </p:sp>
        <p:sp>
          <p:nvSpPr>
            <p:cNvPr id="110" name="Text Box 59"/>
            <p:cNvSpPr txBox="1">
              <a:spLocks noChangeArrowheads="1"/>
            </p:cNvSpPr>
            <p:nvPr/>
          </p:nvSpPr>
          <p:spPr bwMode="auto">
            <a:xfrm>
              <a:off x="3613681" y="4556220"/>
              <a:ext cx="1780246" cy="628108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100000"/>
                </a:lnSpc>
                <a:buFont typeface="Comic Sans MS" pitchFamily="66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lang="en-GB" sz="1050" b="1">
                  <a:solidFill>
                    <a:srgbClr val="000000"/>
                  </a:solidFill>
                  <a:cs typeface="Arial" pitchFamily="34" charset="0"/>
                </a:rPr>
                <a:t>Reservation </a:t>
              </a:r>
            </a:p>
            <a:p>
              <a:pPr algn="ctr">
                <a:lnSpc>
                  <a:spcPct val="100000"/>
                </a:lnSpc>
                <a:buFont typeface="Comic Sans MS" pitchFamily="66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lang="en-GB" sz="1050" b="1">
                  <a:solidFill>
                    <a:srgbClr val="000000"/>
                  </a:solidFill>
                  <a:cs typeface="Arial" pitchFamily="34" charset="0"/>
                </a:rPr>
                <a:t>Stations</a:t>
              </a:r>
            </a:p>
          </p:txBody>
        </p:sp>
        <p:sp>
          <p:nvSpPr>
            <p:cNvPr id="31788" name="Line 60"/>
            <p:cNvSpPr>
              <a:spLocks noChangeShapeType="1"/>
            </p:cNvSpPr>
            <p:nvPr/>
          </p:nvSpPr>
          <p:spPr bwMode="auto">
            <a:xfrm flipV="1">
              <a:off x="3544888" y="4510088"/>
              <a:ext cx="1587" cy="1222375"/>
            </a:xfrm>
            <a:prstGeom prst="line">
              <a:avLst/>
            </a:prstGeom>
            <a:noFill/>
            <a:ln w="38160">
              <a:solidFill>
                <a:srgbClr val="333399"/>
              </a:solidFill>
              <a:miter lim="800000"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1789" name="Line 61"/>
            <p:cNvSpPr>
              <a:spLocks noChangeShapeType="1"/>
            </p:cNvSpPr>
            <p:nvPr/>
          </p:nvSpPr>
          <p:spPr bwMode="auto">
            <a:xfrm flipH="1" flipV="1">
              <a:off x="3534033" y="4584356"/>
              <a:ext cx="10856" cy="1452906"/>
            </a:xfrm>
            <a:prstGeom prst="line">
              <a:avLst/>
            </a:prstGeom>
            <a:noFill/>
            <a:ln w="57240">
              <a:solidFill>
                <a:srgbClr val="009999"/>
              </a:solidFill>
              <a:miter lim="800000"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1790" name="Line 62"/>
            <p:cNvSpPr>
              <a:spLocks noChangeShapeType="1"/>
            </p:cNvSpPr>
            <p:nvPr/>
          </p:nvSpPr>
          <p:spPr bwMode="auto">
            <a:xfrm flipH="1" flipV="1">
              <a:off x="6895071" y="4497858"/>
              <a:ext cx="2618" cy="1539404"/>
            </a:xfrm>
            <a:prstGeom prst="line">
              <a:avLst/>
            </a:prstGeom>
            <a:noFill/>
            <a:ln w="57240">
              <a:solidFill>
                <a:srgbClr val="009999"/>
              </a:solidFill>
              <a:miter lim="800000"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4" name="Text Box 63"/>
            <p:cNvSpPr txBox="1">
              <a:spLocks noChangeArrowheads="1"/>
            </p:cNvSpPr>
            <p:nvPr/>
          </p:nvSpPr>
          <p:spPr bwMode="auto">
            <a:xfrm>
              <a:off x="3335775" y="6044814"/>
              <a:ext cx="3134005" cy="37042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100000"/>
                </a:lnSpc>
                <a:buFont typeface="Comic Sans MS" pitchFamily="66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lang="en-GB" sz="1050" b="1" dirty="0">
                  <a:solidFill>
                    <a:srgbClr val="000000"/>
                  </a:solidFill>
                  <a:cs typeface="Arial" pitchFamily="34" charset="0"/>
                </a:rPr>
                <a:t>Common Data Bus (CDB)</a:t>
              </a:r>
              <a:r>
                <a:rPr lang="ar-SA" sz="1050" b="1" dirty="0">
                  <a:solidFill>
                    <a:srgbClr val="000000"/>
                  </a:solidFill>
                  <a:cs typeface="Arial" pitchFamily="34" charset="0"/>
                </a:rPr>
                <a:t>‏</a:t>
              </a:r>
              <a:endParaRPr lang="en-GB" sz="1050" b="1" dirty="0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115" name="Text Box 64"/>
            <p:cNvSpPr txBox="1">
              <a:spLocks noChangeArrowheads="1"/>
            </p:cNvSpPr>
            <p:nvPr/>
          </p:nvSpPr>
          <p:spPr bwMode="auto">
            <a:xfrm>
              <a:off x="7388795" y="4579228"/>
              <a:ext cx="1238193" cy="384227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100000"/>
                </a:lnSpc>
                <a:buFont typeface="Comic Sans MS" pitchFamily="66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lang="en-GB" sz="1050" b="1">
                  <a:solidFill>
                    <a:srgbClr val="000000"/>
                  </a:solidFill>
                  <a:cs typeface="Arial" pitchFamily="34" charset="0"/>
                </a:rPr>
                <a:t>To Mem</a:t>
              </a:r>
            </a:p>
          </p:txBody>
        </p:sp>
        <p:sp>
          <p:nvSpPr>
            <p:cNvPr id="116" name="Text Box 65"/>
            <p:cNvSpPr txBox="1">
              <a:spLocks noChangeArrowheads="1"/>
            </p:cNvSpPr>
            <p:nvPr/>
          </p:nvSpPr>
          <p:spPr bwMode="auto">
            <a:xfrm>
              <a:off x="1822428" y="1231614"/>
              <a:ext cx="1075853" cy="628110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100000"/>
                </a:lnSpc>
                <a:buFont typeface="Comic Sans MS" pitchFamily="66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lang="en-GB" sz="1050" b="1" dirty="0">
                  <a:solidFill>
                    <a:srgbClr val="000000"/>
                  </a:solidFill>
                  <a:cs typeface="Arial" pitchFamily="34" charset="0"/>
                </a:rPr>
                <a:t>FP Op</a:t>
              </a:r>
            </a:p>
            <a:p>
              <a:pPr algn="ctr">
                <a:lnSpc>
                  <a:spcPct val="100000"/>
                </a:lnSpc>
                <a:buFont typeface="Comic Sans MS" pitchFamily="66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lang="en-GB" sz="1050" b="1" dirty="0">
                  <a:solidFill>
                    <a:srgbClr val="000000"/>
                  </a:solidFill>
                  <a:cs typeface="Arial" pitchFamily="34" charset="0"/>
                </a:rPr>
                <a:t>Queue</a:t>
              </a:r>
            </a:p>
          </p:txBody>
        </p:sp>
        <p:sp>
          <p:nvSpPr>
            <p:cNvPr id="117" name="Text Box 66"/>
            <p:cNvSpPr txBox="1">
              <a:spLocks noChangeArrowheads="1"/>
            </p:cNvSpPr>
            <p:nvPr/>
          </p:nvSpPr>
          <p:spPr bwMode="auto">
            <a:xfrm>
              <a:off x="1748137" y="2584464"/>
              <a:ext cx="1824270" cy="381927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100000"/>
                </a:lnSpc>
                <a:buFont typeface="Comic Sans MS" pitchFamily="66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lang="en-GB" sz="1050" b="1" dirty="0">
                  <a:solidFill>
                    <a:srgbClr val="000000"/>
                  </a:solidFill>
                  <a:cs typeface="Arial" pitchFamily="34" charset="0"/>
                </a:rPr>
                <a:t>Load Buffers</a:t>
              </a:r>
            </a:p>
          </p:txBody>
        </p:sp>
        <p:sp>
          <p:nvSpPr>
            <p:cNvPr id="118" name="Text Box 67"/>
            <p:cNvSpPr txBox="1">
              <a:spLocks noChangeArrowheads="1"/>
            </p:cNvSpPr>
            <p:nvPr/>
          </p:nvSpPr>
          <p:spPr bwMode="auto">
            <a:xfrm>
              <a:off x="7818035" y="2662690"/>
              <a:ext cx="1172156" cy="628110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100000"/>
                </a:lnSpc>
                <a:buFont typeface="Comic Sans MS" pitchFamily="66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lang="en-GB" sz="1050" b="1" dirty="0">
                  <a:solidFill>
                    <a:srgbClr val="000000"/>
                  </a:solidFill>
                  <a:cs typeface="Arial" pitchFamily="34" charset="0"/>
                </a:rPr>
                <a:t>Store </a:t>
              </a:r>
            </a:p>
            <a:p>
              <a:pPr algn="ctr">
                <a:lnSpc>
                  <a:spcPct val="100000"/>
                </a:lnSpc>
                <a:buFont typeface="Comic Sans MS" pitchFamily="66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lang="en-GB" sz="1050" b="1" dirty="0">
                  <a:solidFill>
                    <a:srgbClr val="000000"/>
                  </a:solidFill>
                  <a:cs typeface="Arial" pitchFamily="34" charset="0"/>
                </a:rPr>
                <a:t>Buffers</a:t>
              </a:r>
            </a:p>
          </p:txBody>
        </p:sp>
        <p:sp>
          <p:nvSpPr>
            <p:cNvPr id="31796" name="Text Box 68"/>
            <p:cNvSpPr txBox="1">
              <a:spLocks noChangeArrowheads="1"/>
            </p:cNvSpPr>
            <p:nvPr/>
          </p:nvSpPr>
          <p:spPr bwMode="auto">
            <a:xfrm>
              <a:off x="-21104" y="2221692"/>
              <a:ext cx="904214" cy="122081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90000"/>
                </a:lnSpc>
                <a:buClr>
                  <a:srgbClr val="009999"/>
                </a:buClr>
                <a:buFont typeface="Comic Sans MS" pitchFamily="66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900" b="1">
                  <a:solidFill>
                    <a:srgbClr val="009999"/>
                  </a:solidFill>
                  <a:cs typeface="Arial" pitchFamily="34" charset="0"/>
                </a:rPr>
                <a:t>Load1</a:t>
              </a:r>
            </a:p>
            <a:p>
              <a:pPr algn="ctr">
                <a:lnSpc>
                  <a:spcPct val="90000"/>
                </a:lnSpc>
                <a:buClr>
                  <a:srgbClr val="009999"/>
                </a:buClr>
                <a:buFont typeface="Comic Sans MS" pitchFamily="66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900" b="1">
                  <a:solidFill>
                    <a:srgbClr val="009999"/>
                  </a:solidFill>
                  <a:cs typeface="Arial" pitchFamily="34" charset="0"/>
                </a:rPr>
                <a:t>Load2</a:t>
              </a:r>
            </a:p>
            <a:p>
              <a:pPr algn="ctr">
                <a:lnSpc>
                  <a:spcPct val="90000"/>
                </a:lnSpc>
                <a:buClr>
                  <a:srgbClr val="009999"/>
                </a:buClr>
                <a:buFont typeface="Comic Sans MS" pitchFamily="66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900" b="1">
                  <a:solidFill>
                    <a:srgbClr val="009999"/>
                  </a:solidFill>
                  <a:cs typeface="Arial" pitchFamily="34" charset="0"/>
                </a:rPr>
                <a:t>Load3</a:t>
              </a:r>
            </a:p>
            <a:p>
              <a:pPr algn="ctr">
                <a:lnSpc>
                  <a:spcPct val="90000"/>
                </a:lnSpc>
                <a:buClr>
                  <a:srgbClr val="009999"/>
                </a:buClr>
                <a:buFont typeface="Comic Sans MS" pitchFamily="66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900" b="1">
                  <a:solidFill>
                    <a:srgbClr val="009999"/>
                  </a:solidFill>
                  <a:cs typeface="Arial" pitchFamily="34" charset="0"/>
                </a:rPr>
                <a:t>Load4</a:t>
              </a:r>
            </a:p>
            <a:p>
              <a:pPr algn="ctr">
                <a:lnSpc>
                  <a:spcPct val="90000"/>
                </a:lnSpc>
                <a:buClr>
                  <a:srgbClr val="009999"/>
                </a:buClr>
                <a:buFont typeface="Comic Sans MS" pitchFamily="66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900" b="1">
                  <a:solidFill>
                    <a:srgbClr val="009999"/>
                  </a:solidFill>
                  <a:cs typeface="Arial" pitchFamily="34" charset="0"/>
                </a:rPr>
                <a:t>Load5</a:t>
              </a:r>
            </a:p>
            <a:p>
              <a:pPr algn="ctr">
                <a:lnSpc>
                  <a:spcPct val="90000"/>
                </a:lnSpc>
                <a:buClr>
                  <a:srgbClr val="009999"/>
                </a:buClr>
                <a:buFont typeface="Comic Sans MS" pitchFamily="66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900" b="1">
                  <a:solidFill>
                    <a:srgbClr val="009999"/>
                  </a:solidFill>
                  <a:cs typeface="Arial" pitchFamily="34" charset="0"/>
                </a:rPr>
                <a:t>Load6</a:t>
              </a:r>
            </a:p>
          </p:txBody>
        </p:sp>
        <p:sp>
          <p:nvSpPr>
            <p:cNvPr id="31797" name="Rectangle 30"/>
            <p:cNvSpPr>
              <a:spLocks noChangeArrowheads="1"/>
            </p:cNvSpPr>
            <p:nvPr/>
          </p:nvSpPr>
          <p:spPr bwMode="auto">
            <a:xfrm>
              <a:off x="2938377" y="3917306"/>
              <a:ext cx="253786" cy="609600"/>
            </a:xfrm>
            <a:prstGeom prst="rect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200">
                <a:cs typeface="Arial" pitchFamily="34" charset="0"/>
              </a:endParaRPr>
            </a:p>
          </p:txBody>
        </p:sp>
        <p:sp>
          <p:nvSpPr>
            <p:cNvPr id="31798" name="Rectangle 36"/>
            <p:cNvSpPr>
              <a:spLocks noChangeArrowheads="1"/>
            </p:cNvSpPr>
            <p:nvPr/>
          </p:nvSpPr>
          <p:spPr bwMode="auto">
            <a:xfrm>
              <a:off x="6099776" y="4069707"/>
              <a:ext cx="268073" cy="381000"/>
            </a:xfrm>
            <a:prstGeom prst="rect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200">
                <a:cs typeface="Arial" pitchFamily="34" charset="0"/>
              </a:endParaRPr>
            </a:p>
          </p:txBody>
        </p:sp>
        <p:sp>
          <p:nvSpPr>
            <p:cNvPr id="31799" name="Rectangle 36"/>
            <p:cNvSpPr>
              <a:spLocks noChangeArrowheads="1"/>
            </p:cNvSpPr>
            <p:nvPr/>
          </p:nvSpPr>
          <p:spPr bwMode="auto">
            <a:xfrm>
              <a:off x="5164780" y="1470454"/>
              <a:ext cx="482257" cy="815546"/>
            </a:xfrm>
            <a:prstGeom prst="rect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200">
                <a:cs typeface="Arial" pitchFamily="34" charset="0"/>
              </a:endParaRPr>
            </a:p>
          </p:txBody>
        </p:sp>
        <p:sp>
          <p:nvSpPr>
            <p:cNvPr id="31800" name="Rectangle 36"/>
            <p:cNvSpPr>
              <a:spLocks noChangeArrowheads="1"/>
            </p:cNvSpPr>
            <p:nvPr/>
          </p:nvSpPr>
          <p:spPr bwMode="auto">
            <a:xfrm>
              <a:off x="7590824" y="3373394"/>
              <a:ext cx="305144" cy="605481"/>
            </a:xfrm>
            <a:prstGeom prst="rect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200">
                <a:cs typeface="Arial" pitchFamily="34" charset="0"/>
              </a:endParaRPr>
            </a:p>
          </p:txBody>
        </p:sp>
        <p:sp>
          <p:nvSpPr>
            <p:cNvPr id="31801" name="Line 46"/>
            <p:cNvSpPr>
              <a:spLocks noChangeShapeType="1"/>
            </p:cNvSpPr>
            <p:nvPr/>
          </p:nvSpPr>
          <p:spPr bwMode="auto">
            <a:xfrm>
              <a:off x="5733535" y="3361038"/>
              <a:ext cx="5360" cy="708668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1802" name="Oval 124"/>
            <p:cNvSpPr>
              <a:spLocks noChangeArrowheads="1"/>
            </p:cNvSpPr>
            <p:nvPr/>
          </p:nvSpPr>
          <p:spPr bwMode="auto">
            <a:xfrm>
              <a:off x="3758642" y="3488532"/>
              <a:ext cx="75170" cy="72982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 sz="1200"/>
            </a:p>
          </p:txBody>
        </p:sp>
        <p:sp>
          <p:nvSpPr>
            <p:cNvPr id="31803" name="Oval 125"/>
            <p:cNvSpPr>
              <a:spLocks noChangeArrowheads="1"/>
            </p:cNvSpPr>
            <p:nvPr/>
          </p:nvSpPr>
          <p:spPr bwMode="auto">
            <a:xfrm>
              <a:off x="5295126" y="3102770"/>
              <a:ext cx="75170" cy="72982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 sz="1200"/>
            </a:p>
          </p:txBody>
        </p:sp>
        <p:sp>
          <p:nvSpPr>
            <p:cNvPr id="31804" name="Line 46"/>
            <p:cNvSpPr>
              <a:spLocks noChangeShapeType="1"/>
            </p:cNvSpPr>
            <p:nvPr/>
          </p:nvSpPr>
          <p:spPr bwMode="auto">
            <a:xfrm flipH="1">
              <a:off x="3064476" y="3138617"/>
              <a:ext cx="0" cy="766118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1805" name="Oval 127"/>
            <p:cNvSpPr>
              <a:spLocks noChangeArrowheads="1"/>
            </p:cNvSpPr>
            <p:nvPr/>
          </p:nvSpPr>
          <p:spPr bwMode="auto">
            <a:xfrm>
              <a:off x="3021338" y="3121938"/>
              <a:ext cx="75170" cy="72982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 sz="1200"/>
            </a:p>
          </p:txBody>
        </p:sp>
        <p:sp>
          <p:nvSpPr>
            <p:cNvPr id="31806" name="Freeform 49"/>
            <p:cNvSpPr>
              <a:spLocks/>
            </p:cNvSpPr>
            <p:nvPr/>
          </p:nvSpPr>
          <p:spPr bwMode="auto">
            <a:xfrm>
              <a:off x="5280455" y="3150973"/>
              <a:ext cx="959708" cy="902042"/>
            </a:xfrm>
            <a:custGeom>
              <a:avLst/>
              <a:gdLst>
                <a:gd name="T0" fmla="*/ 0 w 1008"/>
                <a:gd name="T1" fmla="*/ 0 h 144"/>
                <a:gd name="T2" fmla="*/ 2147483647 w 1008"/>
                <a:gd name="T3" fmla="*/ 0 h 144"/>
                <a:gd name="T4" fmla="*/ 2147483647 w 1008"/>
                <a:gd name="T5" fmla="*/ 2147483647 h 144"/>
                <a:gd name="T6" fmla="*/ 0 60000 65536"/>
                <a:gd name="T7" fmla="*/ 0 60000 65536"/>
                <a:gd name="T8" fmla="*/ 0 60000 65536"/>
                <a:gd name="T9" fmla="*/ 0 w 1008"/>
                <a:gd name="T10" fmla="*/ 0 h 144"/>
                <a:gd name="T11" fmla="*/ 1008 w 1008"/>
                <a:gd name="T12" fmla="*/ 144 h 1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08" h="144">
                  <a:moveTo>
                    <a:pt x="0" y="0"/>
                  </a:moveTo>
                  <a:lnTo>
                    <a:pt x="1008" y="0"/>
                  </a:lnTo>
                  <a:lnTo>
                    <a:pt x="1008" y="144"/>
                  </a:lnTo>
                </a:path>
              </a:pathLst>
            </a:custGeom>
            <a:noFill/>
            <a:ln w="2844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1807" name="Oval 129"/>
            <p:cNvSpPr>
              <a:spLocks noChangeArrowheads="1"/>
            </p:cNvSpPr>
            <p:nvPr/>
          </p:nvSpPr>
          <p:spPr bwMode="auto">
            <a:xfrm>
              <a:off x="5690450" y="3319650"/>
              <a:ext cx="75170" cy="72982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 sz="1200"/>
            </a:p>
          </p:txBody>
        </p:sp>
        <p:sp>
          <p:nvSpPr>
            <p:cNvPr id="31808" name="Oval 130"/>
            <p:cNvSpPr>
              <a:spLocks noChangeArrowheads="1"/>
            </p:cNvSpPr>
            <p:nvPr/>
          </p:nvSpPr>
          <p:spPr bwMode="auto">
            <a:xfrm>
              <a:off x="6534842" y="3311409"/>
              <a:ext cx="75170" cy="72982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 sz="1200"/>
            </a:p>
          </p:txBody>
        </p:sp>
        <p:sp>
          <p:nvSpPr>
            <p:cNvPr id="31809" name="Oval 131"/>
            <p:cNvSpPr>
              <a:spLocks noChangeArrowheads="1"/>
            </p:cNvSpPr>
            <p:nvPr/>
          </p:nvSpPr>
          <p:spPr bwMode="auto">
            <a:xfrm>
              <a:off x="6538958" y="2796531"/>
              <a:ext cx="75170" cy="72982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 sz="1200"/>
            </a:p>
          </p:txBody>
        </p:sp>
        <p:sp>
          <p:nvSpPr>
            <p:cNvPr id="31810" name="Freeform 48"/>
            <p:cNvSpPr>
              <a:spLocks/>
            </p:cNvSpPr>
            <p:nvPr/>
          </p:nvSpPr>
          <p:spPr bwMode="auto">
            <a:xfrm>
              <a:off x="2537254" y="3352799"/>
              <a:ext cx="922638" cy="564507"/>
            </a:xfrm>
            <a:custGeom>
              <a:avLst/>
              <a:gdLst>
                <a:gd name="T0" fmla="*/ 2147483647 w 1920"/>
                <a:gd name="T1" fmla="*/ 0 h 384"/>
                <a:gd name="T2" fmla="*/ 0 w 1920"/>
                <a:gd name="T3" fmla="*/ 0 h 384"/>
                <a:gd name="T4" fmla="*/ 0 w 1920"/>
                <a:gd name="T5" fmla="*/ 2147483647 h 384"/>
                <a:gd name="T6" fmla="*/ 0 60000 65536"/>
                <a:gd name="T7" fmla="*/ 0 60000 65536"/>
                <a:gd name="T8" fmla="*/ 0 60000 65536"/>
                <a:gd name="T9" fmla="*/ 0 w 1920"/>
                <a:gd name="T10" fmla="*/ 0 h 384"/>
                <a:gd name="T11" fmla="*/ 1920 w 1920"/>
                <a:gd name="T12" fmla="*/ 384 h 3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20" h="384">
                  <a:moveTo>
                    <a:pt x="1920" y="0"/>
                  </a:moveTo>
                  <a:lnTo>
                    <a:pt x="0" y="0"/>
                  </a:lnTo>
                  <a:lnTo>
                    <a:pt x="0" y="384"/>
                  </a:lnTo>
                </a:path>
              </a:pathLst>
            </a:custGeom>
            <a:noFill/>
            <a:ln w="2844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1811" name="Oval 133"/>
            <p:cNvSpPr>
              <a:spLocks noChangeArrowheads="1"/>
            </p:cNvSpPr>
            <p:nvPr/>
          </p:nvSpPr>
          <p:spPr bwMode="auto">
            <a:xfrm>
              <a:off x="3354977" y="3307293"/>
              <a:ext cx="75170" cy="72982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 sz="1200"/>
            </a:p>
          </p:txBody>
        </p:sp>
        <p:sp>
          <p:nvSpPr>
            <p:cNvPr id="31812" name="Freeform 49"/>
            <p:cNvSpPr>
              <a:spLocks/>
            </p:cNvSpPr>
            <p:nvPr/>
          </p:nvSpPr>
          <p:spPr bwMode="auto">
            <a:xfrm>
              <a:off x="6054811" y="3150973"/>
              <a:ext cx="1705232" cy="222422"/>
            </a:xfrm>
            <a:custGeom>
              <a:avLst/>
              <a:gdLst>
                <a:gd name="T0" fmla="*/ 0 w 1008"/>
                <a:gd name="T1" fmla="*/ 0 h 144"/>
                <a:gd name="T2" fmla="*/ 2147483647 w 1008"/>
                <a:gd name="T3" fmla="*/ 0 h 144"/>
                <a:gd name="T4" fmla="*/ 2147483647 w 1008"/>
                <a:gd name="T5" fmla="*/ 2147483647 h 144"/>
                <a:gd name="T6" fmla="*/ 0 60000 65536"/>
                <a:gd name="T7" fmla="*/ 0 60000 65536"/>
                <a:gd name="T8" fmla="*/ 0 60000 65536"/>
                <a:gd name="T9" fmla="*/ 0 w 1008"/>
                <a:gd name="T10" fmla="*/ 0 h 144"/>
                <a:gd name="T11" fmla="*/ 1008 w 1008"/>
                <a:gd name="T12" fmla="*/ 144 h 1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08" h="144">
                  <a:moveTo>
                    <a:pt x="0" y="0"/>
                  </a:moveTo>
                  <a:lnTo>
                    <a:pt x="1008" y="0"/>
                  </a:lnTo>
                  <a:lnTo>
                    <a:pt x="1008" y="144"/>
                  </a:lnTo>
                </a:path>
              </a:pathLst>
            </a:custGeom>
            <a:noFill/>
            <a:ln w="2844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1813" name="Oval 135"/>
            <p:cNvSpPr>
              <a:spLocks noChangeArrowheads="1"/>
            </p:cNvSpPr>
            <p:nvPr/>
          </p:nvSpPr>
          <p:spPr bwMode="auto">
            <a:xfrm>
              <a:off x="6201303" y="3106886"/>
              <a:ext cx="75170" cy="72982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 sz="120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58775" y="985838"/>
            <a:ext cx="8785225" cy="5667375"/>
          </a:xfrm>
        </p:spPr>
        <p:txBody>
          <a:bodyPr lIns="90360" tIns="44280" rIns="90360" bIns="44280"/>
          <a:lstStyle/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Comic Sans MS" pitchFamily="66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sz="2400" dirty="0">
                <a:latin typeface="Arial  " charset="0"/>
                <a:cs typeface="Arial  " charset="0"/>
              </a:rPr>
              <a:t>Original code: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Comic Sans MS" pitchFamily="66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sz="2400" dirty="0">
                <a:latin typeface="Arial  " charset="0"/>
                <a:cs typeface="Arial  " charset="0"/>
              </a:rPr>
              <a:t>			LD 		R1, 0(R2)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Comic Sans MS" pitchFamily="66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sz="2400" dirty="0">
                <a:latin typeface="Arial  " charset="0"/>
                <a:cs typeface="Arial  " charset="0"/>
              </a:rPr>
              <a:t>			DADD 	R3,R1,R3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Comic Sans MS" pitchFamily="66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sz="2400" dirty="0">
                <a:latin typeface="Arial  " charset="0"/>
                <a:cs typeface="Arial  " charset="0"/>
              </a:rPr>
              <a:t>			DADDUI 	R2,R2,#8	</a:t>
            </a:r>
            <a:endParaRPr lang="en-GB" sz="2400" dirty="0">
              <a:solidFill>
                <a:schemeClr val="accent1">
                  <a:lumMod val="75000"/>
                </a:schemeClr>
              </a:solidFill>
              <a:latin typeface="Arial  " charset="0"/>
              <a:cs typeface="Arial  " charset="0"/>
            </a:endParaRP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Comic Sans MS" pitchFamily="66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sz="2400" dirty="0">
                <a:latin typeface="Arial  " charset="0"/>
                <a:cs typeface="Arial  " charset="0"/>
              </a:rPr>
              <a:t>			LD		R1, 0(R2)	</a:t>
            </a:r>
            <a:endParaRPr lang="en-GB" sz="1000" dirty="0">
              <a:solidFill>
                <a:schemeClr val="accent1">
                  <a:lumMod val="75000"/>
                </a:schemeClr>
              </a:solidFill>
              <a:latin typeface="Arial  " charset="0"/>
              <a:cs typeface="Arial  " charset="0"/>
            </a:endParaRP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endParaRPr lang="en-GB" sz="2400" dirty="0">
              <a:solidFill>
                <a:schemeClr val="tx1"/>
              </a:solidFill>
              <a:latin typeface="Arial  " charset="0"/>
              <a:cs typeface="Arial  " charset="0"/>
            </a:endParaRP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Comic Sans MS" pitchFamily="66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sz="2400" dirty="0">
                <a:latin typeface="Arial  " charset="0"/>
                <a:cs typeface="Arial  " charset="0"/>
              </a:rPr>
              <a:t>Rewrite using T1, T2, etc…  for each </a:t>
            </a:r>
            <a:r>
              <a:rPr lang="en-GB" sz="2400" u="sng" dirty="0">
                <a:latin typeface="Arial  " charset="0"/>
                <a:cs typeface="Arial  " charset="0"/>
              </a:rPr>
              <a:t>new value</a:t>
            </a:r>
            <a:r>
              <a:rPr lang="en-GB" sz="2400" dirty="0">
                <a:latin typeface="Arial  " charset="0"/>
                <a:cs typeface="Arial  " charset="0"/>
              </a:rPr>
              <a:t>: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Comic Sans MS" pitchFamily="66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sz="2400" dirty="0">
                <a:latin typeface="Arial  " charset="0"/>
                <a:cs typeface="Arial  " charset="0"/>
              </a:rPr>
              <a:t>			LD 		T1, 0(R2)    </a:t>
            </a:r>
            <a:r>
              <a:rPr lang="en-GB" sz="2400" dirty="0">
                <a:solidFill>
                  <a:schemeClr val="accent1">
                    <a:lumMod val="75000"/>
                  </a:schemeClr>
                </a:solidFill>
                <a:latin typeface="Arial  " charset="0"/>
                <a:cs typeface="Arial  " charset="0"/>
              </a:rPr>
              <a:t>; R1 renamed to T1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Comic Sans MS" pitchFamily="66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sz="2400" dirty="0">
                <a:latin typeface="Arial  " charset="0"/>
                <a:cs typeface="Arial  " charset="0"/>
              </a:rPr>
              <a:t>			DADD 	T2,T1,R3    </a:t>
            </a:r>
            <a:r>
              <a:rPr lang="en-GB" sz="2400" dirty="0">
                <a:solidFill>
                  <a:schemeClr val="accent1">
                    <a:lumMod val="75000"/>
                  </a:schemeClr>
                </a:solidFill>
                <a:latin typeface="Arial  " charset="0"/>
                <a:cs typeface="Arial  " charset="0"/>
              </a:rPr>
              <a:t>; R3 renamed to T2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Comic Sans MS" pitchFamily="66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sz="2400" dirty="0">
                <a:latin typeface="Arial  " charset="0"/>
                <a:cs typeface="Arial  " charset="0"/>
              </a:rPr>
              <a:t>			DADDUI 	T3,R2,#8    </a:t>
            </a:r>
            <a:r>
              <a:rPr lang="en-GB" sz="2400" dirty="0">
                <a:solidFill>
                  <a:schemeClr val="accent1">
                    <a:lumMod val="75000"/>
                  </a:schemeClr>
                </a:solidFill>
                <a:latin typeface="Arial  " charset="0"/>
                <a:cs typeface="Arial  " charset="0"/>
              </a:rPr>
              <a:t>; R2 renamed to T3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Comic Sans MS" pitchFamily="66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sz="2400" dirty="0">
                <a:latin typeface="Arial  " charset="0"/>
                <a:cs typeface="Arial  " charset="0"/>
              </a:rPr>
              <a:t>			LD		T4, 0(T3)    </a:t>
            </a:r>
            <a:r>
              <a:rPr lang="en-GB" sz="2400" dirty="0">
                <a:solidFill>
                  <a:schemeClr val="accent1">
                    <a:lumMod val="75000"/>
                  </a:schemeClr>
                </a:solidFill>
                <a:latin typeface="Arial  " charset="0"/>
                <a:cs typeface="Arial  " charset="0"/>
              </a:rPr>
              <a:t>; R1 renamed to T4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Comic Sans MS" pitchFamily="66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endParaRPr lang="en-GB" sz="2400" dirty="0">
              <a:latin typeface="Arial  " charset="0"/>
              <a:cs typeface="Arial  " charset="0"/>
            </a:endParaRPr>
          </a:p>
        </p:txBody>
      </p:sp>
      <p:sp>
        <p:nvSpPr>
          <p:cNvPr id="36867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7240588" y="6557963"/>
            <a:ext cx="1903412" cy="300037"/>
          </a:xfrm>
          <a:noFill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573BE6F-7FEB-4419-BCDA-940BDC480B43}" type="slidenum">
              <a:rPr lang="en-GB" smtClean="0"/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15</a:t>
            </a:fld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03617912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0"/>
            <a:ext cx="8402637" cy="1022350"/>
          </a:xfrm>
        </p:spPr>
        <p:txBody>
          <a:bodyPr lIns="90360" tIns="44280" rIns="90360" bIns="44280"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200">
                <a:latin typeface="Arial  " charset="0"/>
                <a:cs typeface="Arial  " charset="0"/>
              </a:rPr>
              <a:t>Tomasulo Algorithm, Renaming Implemented</a:t>
            </a:r>
          </a:p>
        </p:txBody>
      </p:sp>
      <p:sp>
        <p:nvSpPr>
          <p:cNvPr id="37891" name="Slide Number Placeholder 7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4061D71-4CE4-4C38-8EF3-C8B5D86FECE8}" type="slidenum">
              <a:rPr lang="en-GB" smtClean="0"/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16</a:t>
            </a:fld>
            <a:r>
              <a:rPr lang="en-GB"/>
              <a:t> </a:t>
            </a:r>
          </a:p>
        </p:txBody>
      </p:sp>
      <p:grpSp>
        <p:nvGrpSpPr>
          <p:cNvPr id="37892" name="Group 10"/>
          <p:cNvGrpSpPr>
            <a:grpSpLocks/>
          </p:cNvGrpSpPr>
          <p:nvPr/>
        </p:nvGrpSpPr>
        <p:grpSpPr bwMode="auto">
          <a:xfrm>
            <a:off x="3824288" y="1246188"/>
            <a:ext cx="1663700" cy="1217612"/>
            <a:chOff x="2104" y="785"/>
            <a:chExt cx="575" cy="767"/>
          </a:xfrm>
        </p:grpSpPr>
        <p:sp>
          <p:nvSpPr>
            <p:cNvPr id="12299" name="Rectangle 11"/>
            <p:cNvSpPr>
              <a:spLocks noChangeArrowheads="1"/>
            </p:cNvSpPr>
            <p:nvPr/>
          </p:nvSpPr>
          <p:spPr bwMode="auto">
            <a:xfrm>
              <a:off x="2104" y="785"/>
              <a:ext cx="576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12300" name="Rectangle 12"/>
            <p:cNvSpPr>
              <a:spLocks noChangeArrowheads="1"/>
            </p:cNvSpPr>
            <p:nvPr/>
          </p:nvSpPr>
          <p:spPr bwMode="auto">
            <a:xfrm>
              <a:off x="2104" y="913"/>
              <a:ext cx="576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12301" name="Rectangle 13"/>
            <p:cNvSpPr>
              <a:spLocks noChangeArrowheads="1"/>
            </p:cNvSpPr>
            <p:nvPr/>
          </p:nvSpPr>
          <p:spPr bwMode="auto">
            <a:xfrm>
              <a:off x="2104" y="1041"/>
              <a:ext cx="576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12302" name="Rectangle 14"/>
            <p:cNvSpPr>
              <a:spLocks noChangeArrowheads="1"/>
            </p:cNvSpPr>
            <p:nvPr/>
          </p:nvSpPr>
          <p:spPr bwMode="auto">
            <a:xfrm>
              <a:off x="2104" y="1169"/>
              <a:ext cx="576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12303" name="Rectangle 15"/>
            <p:cNvSpPr>
              <a:spLocks noChangeArrowheads="1"/>
            </p:cNvSpPr>
            <p:nvPr/>
          </p:nvSpPr>
          <p:spPr bwMode="auto">
            <a:xfrm>
              <a:off x="2104" y="1297"/>
              <a:ext cx="576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r>
                <a:rPr lang="en-US" sz="1600" dirty="0">
                  <a:solidFill>
                    <a:schemeClr val="tx1"/>
                  </a:solidFill>
                  <a:cs typeface="Arial" pitchFamily="34" charset="0"/>
                </a:rPr>
                <a:t>MUL.D F2,F1,F4</a:t>
              </a:r>
            </a:p>
          </p:txBody>
        </p:sp>
        <p:sp>
          <p:nvSpPr>
            <p:cNvPr id="12304" name="Rectangle 16"/>
            <p:cNvSpPr>
              <a:spLocks noChangeArrowheads="1"/>
            </p:cNvSpPr>
            <p:nvPr/>
          </p:nvSpPr>
          <p:spPr bwMode="auto">
            <a:xfrm>
              <a:off x="2104" y="1425"/>
              <a:ext cx="576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r>
                <a:rPr lang="en-US" sz="1600" dirty="0">
                  <a:solidFill>
                    <a:schemeClr val="tx1"/>
                  </a:solidFill>
                  <a:cs typeface="Arial" pitchFamily="34" charset="0"/>
                </a:rPr>
                <a:t>ADD.D F1,F2,F1</a:t>
              </a:r>
            </a:p>
          </p:txBody>
        </p:sp>
      </p:grpSp>
      <p:grpSp>
        <p:nvGrpSpPr>
          <p:cNvPr id="37893" name="Group 17"/>
          <p:cNvGrpSpPr>
            <a:grpSpLocks/>
          </p:cNvGrpSpPr>
          <p:nvPr/>
        </p:nvGrpSpPr>
        <p:grpSpPr bwMode="auto">
          <a:xfrm>
            <a:off x="6159500" y="1474788"/>
            <a:ext cx="2208213" cy="811212"/>
            <a:chOff x="3256" y="929"/>
            <a:chExt cx="1391" cy="511"/>
          </a:xfrm>
        </p:grpSpPr>
        <p:sp>
          <p:nvSpPr>
            <p:cNvPr id="12306" name="Rectangle 18"/>
            <p:cNvSpPr>
              <a:spLocks noChangeArrowheads="1"/>
            </p:cNvSpPr>
            <p:nvPr/>
          </p:nvSpPr>
          <p:spPr bwMode="auto">
            <a:xfrm>
              <a:off x="3256" y="929"/>
              <a:ext cx="1392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12307" name="Rectangle 19"/>
            <p:cNvSpPr>
              <a:spLocks noChangeArrowheads="1"/>
            </p:cNvSpPr>
            <p:nvPr/>
          </p:nvSpPr>
          <p:spPr bwMode="auto">
            <a:xfrm>
              <a:off x="3256" y="1057"/>
              <a:ext cx="1392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12308" name="Rectangle 20"/>
            <p:cNvSpPr>
              <a:spLocks noChangeArrowheads="1"/>
            </p:cNvSpPr>
            <p:nvPr/>
          </p:nvSpPr>
          <p:spPr bwMode="auto">
            <a:xfrm>
              <a:off x="3256" y="1185"/>
              <a:ext cx="1392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12309" name="Rectangle 21"/>
            <p:cNvSpPr>
              <a:spLocks noChangeArrowheads="1"/>
            </p:cNvSpPr>
            <p:nvPr/>
          </p:nvSpPr>
          <p:spPr bwMode="auto">
            <a:xfrm>
              <a:off x="3256" y="1313"/>
              <a:ext cx="1392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</p:grpSp>
      <p:sp>
        <p:nvSpPr>
          <p:cNvPr id="37894" name="Freeform 43"/>
          <p:cNvSpPr>
            <a:spLocks/>
          </p:cNvSpPr>
          <p:nvPr/>
        </p:nvSpPr>
        <p:spPr bwMode="auto">
          <a:xfrm>
            <a:off x="2806700" y="2465388"/>
            <a:ext cx="1981200" cy="1447800"/>
          </a:xfrm>
          <a:custGeom>
            <a:avLst/>
            <a:gdLst>
              <a:gd name="T0" fmla="*/ 2147483647 w 1248"/>
              <a:gd name="T1" fmla="*/ 0 h 912"/>
              <a:gd name="T2" fmla="*/ 2147483647 w 1248"/>
              <a:gd name="T3" fmla="*/ 2147483647 h 912"/>
              <a:gd name="T4" fmla="*/ 0 w 1248"/>
              <a:gd name="T5" fmla="*/ 2147483647 h 912"/>
              <a:gd name="T6" fmla="*/ 0 w 1248"/>
              <a:gd name="T7" fmla="*/ 2147483647 h 912"/>
              <a:gd name="T8" fmla="*/ 0 60000 65536"/>
              <a:gd name="T9" fmla="*/ 0 60000 65536"/>
              <a:gd name="T10" fmla="*/ 0 60000 65536"/>
              <a:gd name="T11" fmla="*/ 0 60000 65536"/>
              <a:gd name="T12" fmla="*/ 0 w 1248"/>
              <a:gd name="T13" fmla="*/ 0 h 912"/>
              <a:gd name="T14" fmla="*/ 1248 w 1248"/>
              <a:gd name="T15" fmla="*/ 912 h 9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48" h="912">
                <a:moveTo>
                  <a:pt x="1248" y="0"/>
                </a:moveTo>
                <a:lnTo>
                  <a:pt x="1248" y="672"/>
                </a:lnTo>
                <a:lnTo>
                  <a:pt x="0" y="672"/>
                </a:lnTo>
                <a:lnTo>
                  <a:pt x="0" y="912"/>
                </a:lnTo>
              </a:path>
            </a:pathLst>
          </a:custGeom>
          <a:noFill/>
          <a:ln w="2844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7895" name="Freeform 45"/>
          <p:cNvSpPr>
            <a:spLocks/>
          </p:cNvSpPr>
          <p:nvPr/>
        </p:nvSpPr>
        <p:spPr bwMode="auto">
          <a:xfrm>
            <a:off x="3103563" y="2312988"/>
            <a:ext cx="3225800" cy="1600200"/>
          </a:xfrm>
          <a:custGeom>
            <a:avLst/>
            <a:gdLst>
              <a:gd name="T0" fmla="*/ 2147483647 w 1968"/>
              <a:gd name="T1" fmla="*/ 0 h 1008"/>
              <a:gd name="T2" fmla="*/ 2147483647 w 1968"/>
              <a:gd name="T3" fmla="*/ 2147483647 h 1008"/>
              <a:gd name="T4" fmla="*/ 0 w 1968"/>
              <a:gd name="T5" fmla="*/ 2147483647 h 1008"/>
              <a:gd name="T6" fmla="*/ 0 w 1968"/>
              <a:gd name="T7" fmla="*/ 2147483647 h 1008"/>
              <a:gd name="T8" fmla="*/ 0 60000 65536"/>
              <a:gd name="T9" fmla="*/ 0 60000 65536"/>
              <a:gd name="T10" fmla="*/ 0 60000 65536"/>
              <a:gd name="T11" fmla="*/ 0 60000 65536"/>
              <a:gd name="T12" fmla="*/ 0 w 1968"/>
              <a:gd name="T13" fmla="*/ 0 h 1008"/>
              <a:gd name="T14" fmla="*/ 1968 w 1968"/>
              <a:gd name="T15" fmla="*/ 1008 h 10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68" h="1008">
                <a:moveTo>
                  <a:pt x="1968" y="0"/>
                </a:moveTo>
                <a:lnTo>
                  <a:pt x="1968" y="528"/>
                </a:lnTo>
                <a:lnTo>
                  <a:pt x="0" y="528"/>
                </a:lnTo>
                <a:lnTo>
                  <a:pt x="0" y="1008"/>
                </a:lnTo>
              </a:path>
            </a:pathLst>
          </a:custGeom>
          <a:noFill/>
          <a:ln w="2844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7896" name="Line 47"/>
          <p:cNvSpPr>
            <a:spLocks noChangeShapeType="1"/>
          </p:cNvSpPr>
          <p:nvPr/>
        </p:nvSpPr>
        <p:spPr bwMode="auto">
          <a:xfrm>
            <a:off x="7562850" y="2312988"/>
            <a:ext cx="1588" cy="1752600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37897" name="Line 50"/>
          <p:cNvSpPr>
            <a:spLocks noChangeShapeType="1"/>
          </p:cNvSpPr>
          <p:nvPr/>
        </p:nvSpPr>
        <p:spPr bwMode="auto">
          <a:xfrm>
            <a:off x="3759200" y="6019800"/>
            <a:ext cx="5130800" cy="25400"/>
          </a:xfrm>
          <a:prstGeom prst="line">
            <a:avLst/>
          </a:prstGeom>
          <a:noFill/>
          <a:ln w="57240">
            <a:solidFill>
              <a:srgbClr val="009999"/>
            </a:solidFill>
            <a:miter lim="800000"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7898" name="Freeform 52"/>
          <p:cNvSpPr>
            <a:spLocks/>
          </p:cNvSpPr>
          <p:nvPr/>
        </p:nvSpPr>
        <p:spPr bwMode="auto">
          <a:xfrm>
            <a:off x="8429625" y="1844675"/>
            <a:ext cx="447675" cy="4191000"/>
          </a:xfrm>
          <a:custGeom>
            <a:avLst/>
            <a:gdLst>
              <a:gd name="T0" fmla="*/ 2147483647 w 960"/>
              <a:gd name="T1" fmla="*/ 2147483647 h 2448"/>
              <a:gd name="T2" fmla="*/ 2147483647 w 960"/>
              <a:gd name="T3" fmla="*/ 0 h 2448"/>
              <a:gd name="T4" fmla="*/ 0 w 960"/>
              <a:gd name="T5" fmla="*/ 0 h 2448"/>
              <a:gd name="T6" fmla="*/ 0 60000 65536"/>
              <a:gd name="T7" fmla="*/ 0 60000 65536"/>
              <a:gd name="T8" fmla="*/ 0 60000 65536"/>
              <a:gd name="T9" fmla="*/ 0 w 960"/>
              <a:gd name="T10" fmla="*/ 0 h 2448"/>
              <a:gd name="T11" fmla="*/ 960 w 960"/>
              <a:gd name="T12" fmla="*/ 2448 h 24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0" h="2448">
                <a:moveTo>
                  <a:pt x="960" y="2448"/>
                </a:moveTo>
                <a:lnTo>
                  <a:pt x="960" y="0"/>
                </a:lnTo>
                <a:lnTo>
                  <a:pt x="0" y="0"/>
                </a:lnTo>
              </a:path>
            </a:pathLst>
          </a:custGeom>
          <a:noFill/>
          <a:ln w="57240">
            <a:solidFill>
              <a:srgbClr val="009999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7899" name="Line 54"/>
          <p:cNvSpPr>
            <a:spLocks noChangeShapeType="1"/>
          </p:cNvSpPr>
          <p:nvPr/>
        </p:nvSpPr>
        <p:spPr bwMode="auto">
          <a:xfrm>
            <a:off x="7050088" y="5349875"/>
            <a:ext cx="1587" cy="685800"/>
          </a:xfrm>
          <a:prstGeom prst="line">
            <a:avLst/>
          </a:prstGeom>
          <a:noFill/>
          <a:ln w="57240">
            <a:solidFill>
              <a:srgbClr val="009999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37900" name="Line 55"/>
          <p:cNvSpPr>
            <a:spLocks noChangeShapeType="1"/>
          </p:cNvSpPr>
          <p:nvPr/>
        </p:nvSpPr>
        <p:spPr bwMode="auto">
          <a:xfrm>
            <a:off x="3773488" y="5349875"/>
            <a:ext cx="1587" cy="685800"/>
          </a:xfrm>
          <a:prstGeom prst="line">
            <a:avLst/>
          </a:prstGeom>
          <a:noFill/>
          <a:ln w="57240">
            <a:solidFill>
              <a:srgbClr val="009999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37901" name="Text Box 58"/>
          <p:cNvSpPr txBox="1">
            <a:spLocks noChangeArrowheads="1"/>
          </p:cNvSpPr>
          <p:nvPr/>
        </p:nvSpPr>
        <p:spPr bwMode="auto">
          <a:xfrm>
            <a:off x="6408738" y="1155700"/>
            <a:ext cx="1589087" cy="371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100000"/>
              </a:lnSpc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cs typeface="Arial" pitchFamily="34" charset="0"/>
              </a:rPr>
              <a:t>FP Registers</a:t>
            </a:r>
          </a:p>
        </p:txBody>
      </p:sp>
      <p:sp>
        <p:nvSpPr>
          <p:cNvPr id="37902" name="Line 60"/>
          <p:cNvSpPr>
            <a:spLocks noChangeShapeType="1"/>
          </p:cNvSpPr>
          <p:nvPr/>
        </p:nvSpPr>
        <p:spPr bwMode="auto">
          <a:xfrm flipV="1">
            <a:off x="4535488" y="4510088"/>
            <a:ext cx="1587" cy="1222375"/>
          </a:xfrm>
          <a:prstGeom prst="line">
            <a:avLst/>
          </a:prstGeom>
          <a:noFill/>
          <a:ln w="38160">
            <a:solidFill>
              <a:srgbClr val="333399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37903" name="Line 61"/>
          <p:cNvSpPr>
            <a:spLocks noChangeShapeType="1"/>
          </p:cNvSpPr>
          <p:nvPr/>
        </p:nvSpPr>
        <p:spPr bwMode="auto">
          <a:xfrm flipH="1" flipV="1">
            <a:off x="4524375" y="4583113"/>
            <a:ext cx="11113" cy="1454150"/>
          </a:xfrm>
          <a:prstGeom prst="line">
            <a:avLst/>
          </a:prstGeom>
          <a:noFill/>
          <a:ln w="57240">
            <a:solidFill>
              <a:srgbClr val="009999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37904" name="Line 62"/>
          <p:cNvSpPr>
            <a:spLocks noChangeShapeType="1"/>
          </p:cNvSpPr>
          <p:nvPr/>
        </p:nvSpPr>
        <p:spPr bwMode="auto">
          <a:xfrm flipH="1" flipV="1">
            <a:off x="7885113" y="4497388"/>
            <a:ext cx="3175" cy="1539875"/>
          </a:xfrm>
          <a:prstGeom prst="line">
            <a:avLst/>
          </a:prstGeom>
          <a:noFill/>
          <a:ln w="57240">
            <a:solidFill>
              <a:srgbClr val="009999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37905" name="Text Box 63"/>
          <p:cNvSpPr txBox="1">
            <a:spLocks noChangeArrowheads="1"/>
          </p:cNvSpPr>
          <p:nvPr/>
        </p:nvSpPr>
        <p:spPr bwMode="auto">
          <a:xfrm>
            <a:off x="4411663" y="6043613"/>
            <a:ext cx="2965450" cy="371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100000"/>
              </a:lnSpc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cs typeface="Arial" pitchFamily="34" charset="0"/>
              </a:rPr>
              <a:t>Common Data Bus (CDB)</a:t>
            </a:r>
            <a:r>
              <a:rPr lang="ar-SA" sz="1800" b="1">
                <a:solidFill>
                  <a:srgbClr val="000000"/>
                </a:solidFill>
                <a:cs typeface="Arial" pitchFamily="34" charset="0"/>
              </a:rPr>
              <a:t>‏</a:t>
            </a:r>
            <a:endParaRPr lang="en-GB" sz="1800" b="1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37906" name="Text Box 65"/>
          <p:cNvSpPr txBox="1">
            <a:spLocks noChangeArrowheads="1"/>
          </p:cNvSpPr>
          <p:nvPr/>
        </p:nvSpPr>
        <p:spPr bwMode="auto">
          <a:xfrm>
            <a:off x="2901950" y="1219200"/>
            <a:ext cx="900113" cy="64928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100000"/>
              </a:lnSpc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cs typeface="Arial" pitchFamily="34" charset="0"/>
              </a:rPr>
              <a:t>FP Op</a:t>
            </a:r>
          </a:p>
          <a:p>
            <a:pPr algn="ctr">
              <a:lnSpc>
                <a:spcPct val="100000"/>
              </a:lnSpc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cs typeface="Arial" pitchFamily="34" charset="0"/>
              </a:rPr>
              <a:t>Queue</a:t>
            </a:r>
          </a:p>
        </p:txBody>
      </p:sp>
      <p:sp>
        <p:nvSpPr>
          <p:cNvPr id="37907" name="Rectangle 36"/>
          <p:cNvSpPr>
            <a:spLocks noChangeArrowheads="1"/>
          </p:cNvSpPr>
          <p:nvPr/>
        </p:nvSpPr>
        <p:spPr bwMode="auto">
          <a:xfrm>
            <a:off x="6156325" y="1470025"/>
            <a:ext cx="481013" cy="815975"/>
          </a:xfrm>
          <a:prstGeom prst="rect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cs typeface="Arial" pitchFamily="34" charset="0"/>
            </a:endParaRPr>
          </a:p>
        </p:txBody>
      </p:sp>
      <p:sp>
        <p:nvSpPr>
          <p:cNvPr id="37908" name="TextBox 88"/>
          <p:cNvSpPr txBox="1">
            <a:spLocks noChangeArrowheads="1"/>
          </p:cNvSpPr>
          <p:nvPr/>
        </p:nvSpPr>
        <p:spPr bwMode="auto">
          <a:xfrm>
            <a:off x="0" y="1206500"/>
            <a:ext cx="2873375" cy="1122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 u="sng">
                <a:solidFill>
                  <a:schemeClr val="tx1"/>
                </a:solidFill>
              </a:rPr>
              <a:t>Program:</a:t>
            </a:r>
          </a:p>
          <a:p>
            <a:r>
              <a:rPr lang="en-CA">
                <a:solidFill>
                  <a:schemeClr val="tx1"/>
                </a:solidFill>
              </a:rPr>
              <a:t>ADD.D  F1,F2,F1</a:t>
            </a:r>
          </a:p>
          <a:p>
            <a:r>
              <a:rPr lang="en-CA">
                <a:solidFill>
                  <a:schemeClr val="tx1"/>
                </a:solidFill>
              </a:rPr>
              <a:t>MUL.D  F2,F1,F4</a:t>
            </a:r>
          </a:p>
        </p:txBody>
      </p:sp>
      <p:sp>
        <p:nvSpPr>
          <p:cNvPr id="37909" name="TextBox 89"/>
          <p:cNvSpPr txBox="1">
            <a:spLocks noChangeArrowheads="1"/>
          </p:cNvSpPr>
          <p:nvPr/>
        </p:nvSpPr>
        <p:spPr bwMode="auto">
          <a:xfrm>
            <a:off x="0" y="6421438"/>
            <a:ext cx="1212850" cy="43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CA">
                <a:solidFill>
                  <a:schemeClr val="tx1"/>
                </a:solidFill>
              </a:rPr>
              <a:t>Cycle 1</a:t>
            </a:r>
          </a:p>
        </p:txBody>
      </p:sp>
      <p:sp>
        <p:nvSpPr>
          <p:cNvPr id="37910" name="TextBox 90"/>
          <p:cNvSpPr txBox="1">
            <a:spLocks noChangeArrowheads="1"/>
          </p:cNvSpPr>
          <p:nvPr/>
        </p:nvSpPr>
        <p:spPr bwMode="auto">
          <a:xfrm>
            <a:off x="5764213" y="1420813"/>
            <a:ext cx="392112" cy="893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CA" sz="1400">
                <a:solidFill>
                  <a:schemeClr val="tx1"/>
                </a:solidFill>
              </a:rPr>
              <a:t>F1</a:t>
            </a:r>
          </a:p>
          <a:p>
            <a:r>
              <a:rPr lang="en-CA" sz="1400">
                <a:solidFill>
                  <a:schemeClr val="tx1"/>
                </a:solidFill>
              </a:rPr>
              <a:t>F2</a:t>
            </a:r>
          </a:p>
          <a:p>
            <a:r>
              <a:rPr lang="en-CA" sz="1400">
                <a:solidFill>
                  <a:schemeClr val="tx1"/>
                </a:solidFill>
              </a:rPr>
              <a:t>F3</a:t>
            </a:r>
          </a:p>
          <a:p>
            <a:r>
              <a:rPr lang="en-CA" sz="1400">
                <a:solidFill>
                  <a:schemeClr val="tx1"/>
                </a:solidFill>
              </a:rPr>
              <a:t>F4</a:t>
            </a:r>
          </a:p>
        </p:txBody>
      </p:sp>
      <p:grpSp>
        <p:nvGrpSpPr>
          <p:cNvPr id="37911" name="Group 26"/>
          <p:cNvGrpSpPr>
            <a:grpSpLocks/>
          </p:cNvGrpSpPr>
          <p:nvPr/>
        </p:nvGrpSpPr>
        <p:grpSpPr bwMode="auto">
          <a:xfrm>
            <a:off x="2187575" y="3913188"/>
            <a:ext cx="2689225" cy="608012"/>
            <a:chOff x="1057" y="2465"/>
            <a:chExt cx="1391" cy="383"/>
          </a:xfrm>
        </p:grpSpPr>
        <p:sp>
          <p:nvSpPr>
            <p:cNvPr id="94" name="Rectangle 27"/>
            <p:cNvSpPr>
              <a:spLocks noChangeArrowheads="1"/>
            </p:cNvSpPr>
            <p:nvPr/>
          </p:nvSpPr>
          <p:spPr bwMode="auto">
            <a:xfrm>
              <a:off x="1057" y="2465"/>
              <a:ext cx="1392" cy="128"/>
            </a:xfrm>
            <a:prstGeom prst="rect">
              <a:avLst/>
            </a:prstGeom>
            <a:solidFill>
              <a:srgbClr val="BBE0E3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95" name="Rectangle 28"/>
            <p:cNvSpPr>
              <a:spLocks noChangeArrowheads="1"/>
            </p:cNvSpPr>
            <p:nvPr/>
          </p:nvSpPr>
          <p:spPr bwMode="auto">
            <a:xfrm>
              <a:off x="1057" y="2593"/>
              <a:ext cx="1392" cy="128"/>
            </a:xfrm>
            <a:prstGeom prst="rect">
              <a:avLst/>
            </a:prstGeom>
            <a:solidFill>
              <a:srgbClr val="BBE0E3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96" name="Rectangle 29"/>
            <p:cNvSpPr>
              <a:spLocks noChangeArrowheads="1"/>
            </p:cNvSpPr>
            <p:nvPr/>
          </p:nvSpPr>
          <p:spPr bwMode="auto">
            <a:xfrm>
              <a:off x="1057" y="2721"/>
              <a:ext cx="1392" cy="128"/>
            </a:xfrm>
            <a:prstGeom prst="rect">
              <a:avLst/>
            </a:prstGeom>
            <a:solidFill>
              <a:srgbClr val="BBE0E3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</p:grpSp>
      <p:sp>
        <p:nvSpPr>
          <p:cNvPr id="37912" name="Rectangle 30"/>
          <p:cNvSpPr>
            <a:spLocks noChangeArrowheads="1"/>
          </p:cNvSpPr>
          <p:nvPr/>
        </p:nvSpPr>
        <p:spPr bwMode="auto">
          <a:xfrm>
            <a:off x="3011488" y="3913188"/>
            <a:ext cx="336550" cy="609600"/>
          </a:xfrm>
          <a:prstGeom prst="rect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cs typeface="Arial" pitchFamily="34" charset="0"/>
            </a:endParaRPr>
          </a:p>
        </p:txBody>
      </p:sp>
      <p:sp>
        <p:nvSpPr>
          <p:cNvPr id="98" name="Rectangle 31"/>
          <p:cNvSpPr>
            <a:spLocks noChangeArrowheads="1"/>
          </p:cNvSpPr>
          <p:nvPr/>
        </p:nvSpPr>
        <p:spPr bwMode="auto">
          <a:xfrm>
            <a:off x="3240088" y="5056188"/>
            <a:ext cx="1066800" cy="304800"/>
          </a:xfrm>
          <a:prstGeom prst="rect">
            <a:avLst/>
          </a:prstGeom>
          <a:solidFill>
            <a:srgbClr val="BBE0E3"/>
          </a:solidFill>
          <a:ln w="28440">
            <a:solidFill>
              <a:srgbClr val="000000"/>
            </a:solidFill>
            <a:miter lim="800000"/>
            <a:headEnd/>
            <a:tailEnd/>
          </a:ln>
          <a:effectLst>
            <a:outerShdw blurRad="63500" dist="107933" dir="2700000" algn="ctr" rotWithShape="0">
              <a:srgbClr val="000000">
                <a:alpha val="74998"/>
              </a:srgbClr>
            </a:outerShdw>
          </a:effectLst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600" b="1">
                <a:solidFill>
                  <a:srgbClr val="000000"/>
                </a:solidFill>
                <a:cs typeface="Arial" pitchFamily="34" charset="0"/>
              </a:rPr>
              <a:t>FP adders</a:t>
            </a:r>
          </a:p>
        </p:txBody>
      </p:sp>
      <p:sp>
        <p:nvSpPr>
          <p:cNvPr id="37914" name="Text Box 32"/>
          <p:cNvSpPr txBox="1">
            <a:spLocks noChangeArrowheads="1"/>
          </p:cNvSpPr>
          <p:nvPr/>
        </p:nvSpPr>
        <p:spPr bwMode="auto">
          <a:xfrm>
            <a:off x="1401763" y="3902075"/>
            <a:ext cx="628650" cy="719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100000"/>
              </a:lnSpc>
              <a:buClr>
                <a:srgbClr val="009999"/>
              </a:buClr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009999"/>
                </a:solidFill>
                <a:cs typeface="Arial" pitchFamily="34" charset="0"/>
              </a:rPr>
              <a:t>Add1</a:t>
            </a:r>
          </a:p>
          <a:p>
            <a:pPr algn="ctr">
              <a:lnSpc>
                <a:spcPct val="100000"/>
              </a:lnSpc>
              <a:buClr>
                <a:srgbClr val="009999"/>
              </a:buClr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009999"/>
                </a:solidFill>
                <a:cs typeface="Arial" pitchFamily="34" charset="0"/>
              </a:rPr>
              <a:t>Add2</a:t>
            </a:r>
          </a:p>
          <a:p>
            <a:pPr algn="ctr">
              <a:lnSpc>
                <a:spcPct val="90000"/>
              </a:lnSpc>
              <a:buClr>
                <a:srgbClr val="009999"/>
              </a:buClr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009999"/>
                </a:solidFill>
                <a:cs typeface="Arial" pitchFamily="34" charset="0"/>
              </a:rPr>
              <a:t>Add3</a:t>
            </a:r>
          </a:p>
        </p:txBody>
      </p:sp>
      <p:grpSp>
        <p:nvGrpSpPr>
          <p:cNvPr id="37915" name="Group 33"/>
          <p:cNvGrpSpPr>
            <a:grpSpLocks/>
          </p:cNvGrpSpPr>
          <p:nvPr/>
        </p:nvGrpSpPr>
        <p:grpSpPr bwMode="auto">
          <a:xfrm>
            <a:off x="5438775" y="4065588"/>
            <a:ext cx="2625725" cy="366712"/>
            <a:chOff x="2802" y="2561"/>
            <a:chExt cx="1654" cy="231"/>
          </a:xfrm>
        </p:grpSpPr>
        <p:sp>
          <p:nvSpPr>
            <p:cNvPr id="101" name="Rectangle 34"/>
            <p:cNvSpPr>
              <a:spLocks noChangeArrowheads="1"/>
            </p:cNvSpPr>
            <p:nvPr/>
          </p:nvSpPr>
          <p:spPr bwMode="auto">
            <a:xfrm>
              <a:off x="2802" y="2561"/>
              <a:ext cx="1654" cy="114"/>
            </a:xfrm>
            <a:prstGeom prst="rect">
              <a:avLst/>
            </a:prstGeom>
            <a:solidFill>
              <a:srgbClr val="BBE0E3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102" name="Rectangle 35"/>
            <p:cNvSpPr>
              <a:spLocks noChangeArrowheads="1"/>
            </p:cNvSpPr>
            <p:nvPr/>
          </p:nvSpPr>
          <p:spPr bwMode="auto">
            <a:xfrm>
              <a:off x="2802" y="2676"/>
              <a:ext cx="1654" cy="116"/>
            </a:xfrm>
            <a:prstGeom prst="rect">
              <a:avLst/>
            </a:prstGeom>
            <a:solidFill>
              <a:srgbClr val="BBE0E3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</p:grpSp>
      <p:sp>
        <p:nvSpPr>
          <p:cNvPr id="37916" name="Rectangle 36"/>
          <p:cNvSpPr>
            <a:spLocks noChangeArrowheads="1"/>
          </p:cNvSpPr>
          <p:nvPr/>
        </p:nvSpPr>
        <p:spPr bwMode="auto">
          <a:xfrm>
            <a:off x="6208713" y="4065588"/>
            <a:ext cx="439737" cy="373062"/>
          </a:xfrm>
          <a:prstGeom prst="rect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cs typeface="Arial" pitchFamily="34" charset="0"/>
            </a:endParaRPr>
          </a:p>
        </p:txBody>
      </p:sp>
      <p:sp>
        <p:nvSpPr>
          <p:cNvPr id="104" name="Rectangle 37"/>
          <p:cNvSpPr>
            <a:spLocks noChangeArrowheads="1"/>
          </p:cNvSpPr>
          <p:nvPr/>
        </p:nvSpPr>
        <p:spPr bwMode="auto">
          <a:xfrm>
            <a:off x="6311900" y="5056188"/>
            <a:ext cx="1447800" cy="304800"/>
          </a:xfrm>
          <a:prstGeom prst="rect">
            <a:avLst/>
          </a:prstGeom>
          <a:solidFill>
            <a:srgbClr val="BBE0E3"/>
          </a:solidFill>
          <a:ln w="28440">
            <a:solidFill>
              <a:srgbClr val="000000"/>
            </a:solidFill>
            <a:miter lim="800000"/>
            <a:headEnd/>
            <a:tailEnd/>
          </a:ln>
          <a:effectLst>
            <a:outerShdw blurRad="63500" dist="107933" dir="2700000" algn="ctr" rotWithShape="0">
              <a:srgbClr val="000000">
                <a:alpha val="74998"/>
              </a:srgbClr>
            </a:outerShdw>
          </a:effectLst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600" b="1">
                <a:solidFill>
                  <a:srgbClr val="000000"/>
                </a:solidFill>
                <a:cs typeface="Arial" pitchFamily="34" charset="0"/>
              </a:rPr>
              <a:t>FP multipliers</a:t>
            </a:r>
          </a:p>
        </p:txBody>
      </p:sp>
      <p:sp>
        <p:nvSpPr>
          <p:cNvPr id="37918" name="Text Box 38"/>
          <p:cNvSpPr txBox="1">
            <a:spLocks noChangeArrowheads="1"/>
          </p:cNvSpPr>
          <p:nvPr/>
        </p:nvSpPr>
        <p:spPr bwMode="auto">
          <a:xfrm>
            <a:off x="8105775" y="3986213"/>
            <a:ext cx="588963" cy="4810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0000"/>
              </a:lnSpc>
              <a:buClr>
                <a:srgbClr val="009999"/>
              </a:buClr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009999"/>
                </a:solidFill>
                <a:cs typeface="Arial" pitchFamily="34" charset="0"/>
              </a:rPr>
              <a:t>Mul1</a:t>
            </a:r>
          </a:p>
          <a:p>
            <a:pPr algn="ctr">
              <a:lnSpc>
                <a:spcPct val="90000"/>
              </a:lnSpc>
              <a:buClr>
                <a:srgbClr val="009999"/>
              </a:buClr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009999"/>
                </a:solidFill>
                <a:cs typeface="Arial" pitchFamily="34" charset="0"/>
              </a:rPr>
              <a:t>Mul2</a:t>
            </a:r>
          </a:p>
        </p:txBody>
      </p:sp>
      <p:sp>
        <p:nvSpPr>
          <p:cNvPr id="37919" name="Line 39"/>
          <p:cNvSpPr>
            <a:spLocks noChangeShapeType="1"/>
          </p:cNvSpPr>
          <p:nvPr/>
        </p:nvSpPr>
        <p:spPr bwMode="auto">
          <a:xfrm>
            <a:off x="3416300" y="4522788"/>
            <a:ext cx="1588" cy="533400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37920" name="Line 40"/>
          <p:cNvSpPr>
            <a:spLocks noChangeShapeType="1"/>
          </p:cNvSpPr>
          <p:nvPr/>
        </p:nvSpPr>
        <p:spPr bwMode="auto">
          <a:xfrm>
            <a:off x="4102100" y="4522788"/>
            <a:ext cx="1588" cy="533400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37921" name="Line 41"/>
          <p:cNvSpPr>
            <a:spLocks noChangeShapeType="1"/>
          </p:cNvSpPr>
          <p:nvPr/>
        </p:nvSpPr>
        <p:spPr bwMode="auto">
          <a:xfrm>
            <a:off x="6540500" y="4446588"/>
            <a:ext cx="1588" cy="609600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37922" name="Line 42"/>
          <p:cNvSpPr>
            <a:spLocks noChangeShapeType="1"/>
          </p:cNvSpPr>
          <p:nvPr/>
        </p:nvSpPr>
        <p:spPr bwMode="auto">
          <a:xfrm>
            <a:off x="7454900" y="4446588"/>
            <a:ext cx="1588" cy="609600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37923" name="Freeform 44"/>
          <p:cNvSpPr>
            <a:spLocks/>
          </p:cNvSpPr>
          <p:nvPr/>
        </p:nvSpPr>
        <p:spPr bwMode="auto">
          <a:xfrm>
            <a:off x="4787900" y="3532188"/>
            <a:ext cx="1219200" cy="533400"/>
          </a:xfrm>
          <a:custGeom>
            <a:avLst/>
            <a:gdLst>
              <a:gd name="T0" fmla="*/ 0 w 768"/>
              <a:gd name="T1" fmla="*/ 0 h 336"/>
              <a:gd name="T2" fmla="*/ 2147483647 w 768"/>
              <a:gd name="T3" fmla="*/ 0 h 336"/>
              <a:gd name="T4" fmla="*/ 2147483647 w 768"/>
              <a:gd name="T5" fmla="*/ 2147483647 h 336"/>
              <a:gd name="T6" fmla="*/ 0 60000 65536"/>
              <a:gd name="T7" fmla="*/ 0 60000 65536"/>
              <a:gd name="T8" fmla="*/ 0 60000 65536"/>
              <a:gd name="T9" fmla="*/ 0 w 768"/>
              <a:gd name="T10" fmla="*/ 0 h 336"/>
              <a:gd name="T11" fmla="*/ 768 w 768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68" h="336">
                <a:moveTo>
                  <a:pt x="0" y="0"/>
                </a:moveTo>
                <a:lnTo>
                  <a:pt x="768" y="0"/>
                </a:lnTo>
                <a:lnTo>
                  <a:pt x="768" y="336"/>
                </a:lnTo>
              </a:path>
            </a:pathLst>
          </a:custGeom>
          <a:noFill/>
          <a:ln w="2844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7924" name="Line 46"/>
          <p:cNvSpPr>
            <a:spLocks noChangeShapeType="1"/>
          </p:cNvSpPr>
          <p:nvPr/>
        </p:nvSpPr>
        <p:spPr bwMode="auto">
          <a:xfrm>
            <a:off x="6329363" y="3151188"/>
            <a:ext cx="1587" cy="914400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37925" name="Freeform 48"/>
          <p:cNvSpPr>
            <a:spLocks/>
          </p:cNvSpPr>
          <p:nvPr/>
        </p:nvSpPr>
        <p:spPr bwMode="auto">
          <a:xfrm>
            <a:off x="4389438" y="3348038"/>
            <a:ext cx="3162300" cy="565150"/>
          </a:xfrm>
          <a:custGeom>
            <a:avLst/>
            <a:gdLst>
              <a:gd name="T0" fmla="*/ 2147483647 w 1920"/>
              <a:gd name="T1" fmla="*/ 0 h 384"/>
              <a:gd name="T2" fmla="*/ 0 w 1920"/>
              <a:gd name="T3" fmla="*/ 0 h 384"/>
              <a:gd name="T4" fmla="*/ 0 w 1920"/>
              <a:gd name="T5" fmla="*/ 2147483647 h 384"/>
              <a:gd name="T6" fmla="*/ 0 60000 65536"/>
              <a:gd name="T7" fmla="*/ 0 60000 65536"/>
              <a:gd name="T8" fmla="*/ 0 60000 65536"/>
              <a:gd name="T9" fmla="*/ 0 w 1920"/>
              <a:gd name="T10" fmla="*/ 0 h 384"/>
              <a:gd name="T11" fmla="*/ 1920 w 1920"/>
              <a:gd name="T12" fmla="*/ 384 h 3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0" h="384">
                <a:moveTo>
                  <a:pt x="1920" y="0"/>
                </a:moveTo>
                <a:lnTo>
                  <a:pt x="0" y="0"/>
                </a:lnTo>
                <a:lnTo>
                  <a:pt x="0" y="384"/>
                </a:lnTo>
              </a:path>
            </a:pathLst>
          </a:custGeom>
          <a:noFill/>
          <a:ln w="2844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7926" name="Text Box 59"/>
          <p:cNvSpPr txBox="1">
            <a:spLocks noChangeArrowheads="1"/>
          </p:cNvSpPr>
          <p:nvPr/>
        </p:nvSpPr>
        <p:spPr bwMode="auto">
          <a:xfrm>
            <a:off x="4711700" y="4545013"/>
            <a:ext cx="1566863" cy="64928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100000"/>
              </a:lnSpc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cs typeface="Arial" pitchFamily="34" charset="0"/>
              </a:rPr>
              <a:t>Reservation </a:t>
            </a:r>
          </a:p>
          <a:p>
            <a:pPr algn="ctr">
              <a:lnSpc>
                <a:spcPct val="100000"/>
              </a:lnSpc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cs typeface="Arial" pitchFamily="34" charset="0"/>
              </a:rPr>
              <a:t>Stations</a:t>
            </a:r>
          </a:p>
        </p:txBody>
      </p:sp>
      <p:sp>
        <p:nvSpPr>
          <p:cNvPr id="37927" name="Line 60"/>
          <p:cNvSpPr>
            <a:spLocks noChangeShapeType="1"/>
          </p:cNvSpPr>
          <p:nvPr/>
        </p:nvSpPr>
        <p:spPr bwMode="auto">
          <a:xfrm flipV="1">
            <a:off x="4535488" y="4510088"/>
            <a:ext cx="1587" cy="1222375"/>
          </a:xfrm>
          <a:prstGeom prst="line">
            <a:avLst/>
          </a:prstGeom>
          <a:noFill/>
          <a:ln w="38160">
            <a:solidFill>
              <a:srgbClr val="333399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37928" name="Rectangle 30"/>
          <p:cNvSpPr>
            <a:spLocks noChangeArrowheads="1"/>
          </p:cNvSpPr>
          <p:nvPr/>
        </p:nvSpPr>
        <p:spPr bwMode="auto">
          <a:xfrm>
            <a:off x="3929063" y="3916363"/>
            <a:ext cx="322262" cy="609600"/>
          </a:xfrm>
          <a:prstGeom prst="rect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cs typeface="Arial" pitchFamily="34" charset="0"/>
            </a:endParaRPr>
          </a:p>
        </p:txBody>
      </p:sp>
      <p:sp>
        <p:nvSpPr>
          <p:cNvPr id="37929" name="Rectangle 36"/>
          <p:cNvSpPr>
            <a:spLocks noChangeArrowheads="1"/>
          </p:cNvSpPr>
          <p:nvPr/>
        </p:nvSpPr>
        <p:spPr bwMode="auto">
          <a:xfrm>
            <a:off x="7089775" y="4068763"/>
            <a:ext cx="338138" cy="381000"/>
          </a:xfrm>
          <a:prstGeom prst="rect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cs typeface="Arial" pitchFamily="34" charset="0"/>
            </a:endParaRPr>
          </a:p>
        </p:txBody>
      </p:sp>
      <p:sp>
        <p:nvSpPr>
          <p:cNvPr id="37930" name="Line 46"/>
          <p:cNvSpPr>
            <a:spLocks noChangeShapeType="1"/>
          </p:cNvSpPr>
          <p:nvPr/>
        </p:nvSpPr>
        <p:spPr bwMode="auto">
          <a:xfrm>
            <a:off x="6724650" y="3360738"/>
            <a:ext cx="4763" cy="708025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37931" name="Oval 76"/>
          <p:cNvSpPr>
            <a:spLocks noChangeArrowheads="1"/>
          </p:cNvSpPr>
          <p:nvPr/>
        </p:nvSpPr>
        <p:spPr bwMode="auto">
          <a:xfrm>
            <a:off x="4749800" y="3487738"/>
            <a:ext cx="74613" cy="7302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7932" name="Oval 77"/>
          <p:cNvSpPr>
            <a:spLocks noChangeArrowheads="1"/>
          </p:cNvSpPr>
          <p:nvPr/>
        </p:nvSpPr>
        <p:spPr bwMode="auto">
          <a:xfrm>
            <a:off x="6286500" y="3101975"/>
            <a:ext cx="74613" cy="7302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7933" name="Line 46"/>
          <p:cNvSpPr>
            <a:spLocks noChangeShapeType="1"/>
          </p:cNvSpPr>
          <p:nvPr/>
        </p:nvSpPr>
        <p:spPr bwMode="auto">
          <a:xfrm flipH="1">
            <a:off x="4056063" y="3138488"/>
            <a:ext cx="0" cy="765175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37934" name="Oval 79"/>
          <p:cNvSpPr>
            <a:spLocks noChangeArrowheads="1"/>
          </p:cNvSpPr>
          <p:nvPr/>
        </p:nvSpPr>
        <p:spPr bwMode="auto">
          <a:xfrm>
            <a:off x="4011613" y="3121025"/>
            <a:ext cx="76200" cy="7302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7935" name="Freeform 49"/>
          <p:cNvSpPr>
            <a:spLocks/>
          </p:cNvSpPr>
          <p:nvPr/>
        </p:nvSpPr>
        <p:spPr bwMode="auto">
          <a:xfrm>
            <a:off x="6270625" y="3149600"/>
            <a:ext cx="960438" cy="903288"/>
          </a:xfrm>
          <a:custGeom>
            <a:avLst/>
            <a:gdLst>
              <a:gd name="T0" fmla="*/ 0 w 1008"/>
              <a:gd name="T1" fmla="*/ 0 h 144"/>
              <a:gd name="T2" fmla="*/ 2147483647 w 1008"/>
              <a:gd name="T3" fmla="*/ 0 h 144"/>
              <a:gd name="T4" fmla="*/ 2147483647 w 1008"/>
              <a:gd name="T5" fmla="*/ 2147483647 h 144"/>
              <a:gd name="T6" fmla="*/ 0 60000 65536"/>
              <a:gd name="T7" fmla="*/ 0 60000 65536"/>
              <a:gd name="T8" fmla="*/ 0 60000 65536"/>
              <a:gd name="T9" fmla="*/ 0 w 1008"/>
              <a:gd name="T10" fmla="*/ 0 h 144"/>
              <a:gd name="T11" fmla="*/ 1008 w 1008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08" h="144">
                <a:moveTo>
                  <a:pt x="0" y="0"/>
                </a:moveTo>
                <a:lnTo>
                  <a:pt x="1008" y="0"/>
                </a:lnTo>
                <a:lnTo>
                  <a:pt x="1008" y="144"/>
                </a:lnTo>
              </a:path>
            </a:pathLst>
          </a:custGeom>
          <a:noFill/>
          <a:ln w="2844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7936" name="Oval 81"/>
          <p:cNvSpPr>
            <a:spLocks noChangeArrowheads="1"/>
          </p:cNvSpPr>
          <p:nvPr/>
        </p:nvSpPr>
        <p:spPr bwMode="auto">
          <a:xfrm>
            <a:off x="6681788" y="3319463"/>
            <a:ext cx="74612" cy="7302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7937" name="Oval 82"/>
          <p:cNvSpPr>
            <a:spLocks noChangeArrowheads="1"/>
          </p:cNvSpPr>
          <p:nvPr/>
        </p:nvSpPr>
        <p:spPr bwMode="auto">
          <a:xfrm>
            <a:off x="7526338" y="3311525"/>
            <a:ext cx="74612" cy="7302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7938" name="Freeform 48"/>
          <p:cNvSpPr>
            <a:spLocks/>
          </p:cNvSpPr>
          <p:nvPr/>
        </p:nvSpPr>
        <p:spPr bwMode="auto">
          <a:xfrm>
            <a:off x="3529013" y="3352800"/>
            <a:ext cx="922337" cy="563563"/>
          </a:xfrm>
          <a:custGeom>
            <a:avLst/>
            <a:gdLst>
              <a:gd name="T0" fmla="*/ 2147483647 w 1920"/>
              <a:gd name="T1" fmla="*/ 0 h 384"/>
              <a:gd name="T2" fmla="*/ 0 w 1920"/>
              <a:gd name="T3" fmla="*/ 0 h 384"/>
              <a:gd name="T4" fmla="*/ 0 w 1920"/>
              <a:gd name="T5" fmla="*/ 2147483647 h 384"/>
              <a:gd name="T6" fmla="*/ 0 60000 65536"/>
              <a:gd name="T7" fmla="*/ 0 60000 65536"/>
              <a:gd name="T8" fmla="*/ 0 60000 65536"/>
              <a:gd name="T9" fmla="*/ 0 w 1920"/>
              <a:gd name="T10" fmla="*/ 0 h 384"/>
              <a:gd name="T11" fmla="*/ 1920 w 1920"/>
              <a:gd name="T12" fmla="*/ 384 h 3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0" h="384">
                <a:moveTo>
                  <a:pt x="1920" y="0"/>
                </a:moveTo>
                <a:lnTo>
                  <a:pt x="0" y="0"/>
                </a:lnTo>
                <a:lnTo>
                  <a:pt x="0" y="384"/>
                </a:lnTo>
              </a:path>
            </a:pathLst>
          </a:custGeom>
          <a:noFill/>
          <a:ln w="2844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7939" name="Oval 85"/>
          <p:cNvSpPr>
            <a:spLocks noChangeArrowheads="1"/>
          </p:cNvSpPr>
          <p:nvPr/>
        </p:nvSpPr>
        <p:spPr bwMode="auto">
          <a:xfrm>
            <a:off x="4346575" y="3306763"/>
            <a:ext cx="74613" cy="7302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7940" name="TextBox 128"/>
          <p:cNvSpPr txBox="1">
            <a:spLocks noChangeArrowheads="1"/>
          </p:cNvSpPr>
          <p:nvPr/>
        </p:nvSpPr>
        <p:spPr bwMode="auto">
          <a:xfrm>
            <a:off x="6221413" y="1436688"/>
            <a:ext cx="1520825" cy="893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 sz="1400">
                <a:solidFill>
                  <a:schemeClr val="tx1"/>
                </a:solidFill>
              </a:rPr>
              <a:t>-                 R[F1]</a:t>
            </a:r>
          </a:p>
          <a:p>
            <a:r>
              <a:rPr lang="en-CA" sz="1400">
                <a:solidFill>
                  <a:schemeClr val="tx1"/>
                </a:solidFill>
              </a:rPr>
              <a:t>-                 R[F2]</a:t>
            </a:r>
          </a:p>
          <a:p>
            <a:r>
              <a:rPr lang="en-CA" sz="1400">
                <a:solidFill>
                  <a:schemeClr val="tx1"/>
                </a:solidFill>
              </a:rPr>
              <a:t>-                 R[F3]</a:t>
            </a:r>
          </a:p>
          <a:p>
            <a:r>
              <a:rPr lang="en-CA" sz="1400">
                <a:solidFill>
                  <a:schemeClr val="tx1"/>
                </a:solidFill>
              </a:rPr>
              <a:t>-                 R[F4]</a:t>
            </a:r>
          </a:p>
        </p:txBody>
      </p:sp>
      <p:sp>
        <p:nvSpPr>
          <p:cNvPr id="130" name="TextBox 129"/>
          <p:cNvSpPr txBox="1">
            <a:spLocks noChangeArrowheads="1"/>
          </p:cNvSpPr>
          <p:nvPr/>
        </p:nvSpPr>
        <p:spPr bwMode="auto">
          <a:xfrm>
            <a:off x="538163" y="750888"/>
            <a:ext cx="6302375" cy="379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CA" sz="2000">
                <a:solidFill>
                  <a:srgbClr val="008080"/>
                </a:solidFill>
              </a:rPr>
              <a:t>“Register result status” aka “register alias table” (RAT)</a:t>
            </a:r>
          </a:p>
        </p:txBody>
      </p:sp>
      <p:cxnSp>
        <p:nvCxnSpPr>
          <p:cNvPr id="132" name="Straight Arrow Connector 131"/>
          <p:cNvCxnSpPr/>
          <p:nvPr/>
        </p:nvCxnSpPr>
        <p:spPr bwMode="auto">
          <a:xfrm>
            <a:off x="5894388" y="1109663"/>
            <a:ext cx="376237" cy="327025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33" name="Rectangle 132"/>
          <p:cNvSpPr>
            <a:spLocks noChangeArrowheads="1"/>
          </p:cNvSpPr>
          <p:nvPr/>
        </p:nvSpPr>
        <p:spPr bwMode="auto">
          <a:xfrm>
            <a:off x="6091238" y="1420813"/>
            <a:ext cx="587375" cy="914400"/>
          </a:xfrm>
          <a:prstGeom prst="rect">
            <a:avLst/>
          </a:prstGeom>
          <a:solidFill>
            <a:srgbClr val="FFFF00">
              <a:alpha val="50195"/>
            </a:srgbClr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820650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/>
      <p:bldP spid="13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0"/>
            <a:ext cx="8402637" cy="1022350"/>
          </a:xfrm>
        </p:spPr>
        <p:txBody>
          <a:bodyPr lIns="90360" tIns="44280" rIns="90360" bIns="44280"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200">
                <a:latin typeface="Arial  " charset="0"/>
                <a:cs typeface="Arial  " charset="0"/>
              </a:rPr>
              <a:t>Tomasulo Algorithm, Renaming Implemented</a:t>
            </a:r>
          </a:p>
        </p:txBody>
      </p:sp>
      <p:sp>
        <p:nvSpPr>
          <p:cNvPr id="38915" name="Slide Number Placeholder 73"/>
          <p:cNvSpPr>
            <a:spLocks noGrp="1"/>
          </p:cNvSpPr>
          <p:nvPr>
            <p:ph type="sldNum" sz="quarter" idx="12"/>
          </p:nvPr>
        </p:nvSpPr>
        <p:spPr>
          <a:xfrm>
            <a:off x="7240588" y="6073775"/>
            <a:ext cx="1903412" cy="342900"/>
          </a:xfrm>
          <a:noFill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5A4B5E3-4280-46A3-A963-22B847D92C5A}" type="slidenum">
              <a:rPr lang="en-GB" smtClean="0"/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17</a:t>
            </a:fld>
            <a:r>
              <a:rPr lang="en-GB"/>
              <a:t> </a:t>
            </a:r>
          </a:p>
        </p:txBody>
      </p:sp>
      <p:grpSp>
        <p:nvGrpSpPr>
          <p:cNvPr id="38916" name="Group 10"/>
          <p:cNvGrpSpPr>
            <a:grpSpLocks/>
          </p:cNvGrpSpPr>
          <p:nvPr/>
        </p:nvGrpSpPr>
        <p:grpSpPr bwMode="auto">
          <a:xfrm>
            <a:off x="3824288" y="1246188"/>
            <a:ext cx="1663700" cy="1217612"/>
            <a:chOff x="2104" y="785"/>
            <a:chExt cx="575" cy="767"/>
          </a:xfrm>
        </p:grpSpPr>
        <p:sp>
          <p:nvSpPr>
            <p:cNvPr id="12299" name="Rectangle 11"/>
            <p:cNvSpPr>
              <a:spLocks noChangeArrowheads="1"/>
            </p:cNvSpPr>
            <p:nvPr/>
          </p:nvSpPr>
          <p:spPr bwMode="auto">
            <a:xfrm>
              <a:off x="2104" y="785"/>
              <a:ext cx="576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12300" name="Rectangle 12"/>
            <p:cNvSpPr>
              <a:spLocks noChangeArrowheads="1"/>
            </p:cNvSpPr>
            <p:nvPr/>
          </p:nvSpPr>
          <p:spPr bwMode="auto">
            <a:xfrm>
              <a:off x="2104" y="913"/>
              <a:ext cx="576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12301" name="Rectangle 13"/>
            <p:cNvSpPr>
              <a:spLocks noChangeArrowheads="1"/>
            </p:cNvSpPr>
            <p:nvPr/>
          </p:nvSpPr>
          <p:spPr bwMode="auto">
            <a:xfrm>
              <a:off x="2104" y="1041"/>
              <a:ext cx="576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12302" name="Rectangle 14"/>
            <p:cNvSpPr>
              <a:spLocks noChangeArrowheads="1"/>
            </p:cNvSpPr>
            <p:nvPr/>
          </p:nvSpPr>
          <p:spPr bwMode="auto">
            <a:xfrm>
              <a:off x="2104" y="1169"/>
              <a:ext cx="576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12303" name="Rectangle 15"/>
            <p:cNvSpPr>
              <a:spLocks noChangeArrowheads="1"/>
            </p:cNvSpPr>
            <p:nvPr/>
          </p:nvSpPr>
          <p:spPr bwMode="auto">
            <a:xfrm>
              <a:off x="2104" y="1297"/>
              <a:ext cx="576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 sz="16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12304" name="Rectangle 16"/>
            <p:cNvSpPr>
              <a:spLocks noChangeArrowheads="1"/>
            </p:cNvSpPr>
            <p:nvPr/>
          </p:nvSpPr>
          <p:spPr bwMode="auto">
            <a:xfrm>
              <a:off x="2104" y="1425"/>
              <a:ext cx="576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r>
                <a:rPr lang="en-US" sz="1600" dirty="0">
                  <a:solidFill>
                    <a:schemeClr val="tx1"/>
                  </a:solidFill>
                  <a:cs typeface="Arial" pitchFamily="34" charset="0"/>
                </a:rPr>
                <a:t>MUL.D F2,F1,F4</a:t>
              </a:r>
            </a:p>
          </p:txBody>
        </p:sp>
      </p:grpSp>
      <p:grpSp>
        <p:nvGrpSpPr>
          <p:cNvPr id="38917" name="Group 17"/>
          <p:cNvGrpSpPr>
            <a:grpSpLocks/>
          </p:cNvGrpSpPr>
          <p:nvPr/>
        </p:nvGrpSpPr>
        <p:grpSpPr bwMode="auto">
          <a:xfrm>
            <a:off x="6159500" y="1474788"/>
            <a:ext cx="2208213" cy="811212"/>
            <a:chOff x="3256" y="929"/>
            <a:chExt cx="1391" cy="511"/>
          </a:xfrm>
        </p:grpSpPr>
        <p:sp>
          <p:nvSpPr>
            <p:cNvPr id="12306" name="Rectangle 18"/>
            <p:cNvSpPr>
              <a:spLocks noChangeArrowheads="1"/>
            </p:cNvSpPr>
            <p:nvPr/>
          </p:nvSpPr>
          <p:spPr bwMode="auto">
            <a:xfrm>
              <a:off x="3256" y="929"/>
              <a:ext cx="1392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12307" name="Rectangle 19"/>
            <p:cNvSpPr>
              <a:spLocks noChangeArrowheads="1"/>
            </p:cNvSpPr>
            <p:nvPr/>
          </p:nvSpPr>
          <p:spPr bwMode="auto">
            <a:xfrm>
              <a:off x="3256" y="1057"/>
              <a:ext cx="1392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12308" name="Rectangle 20"/>
            <p:cNvSpPr>
              <a:spLocks noChangeArrowheads="1"/>
            </p:cNvSpPr>
            <p:nvPr/>
          </p:nvSpPr>
          <p:spPr bwMode="auto">
            <a:xfrm>
              <a:off x="3256" y="1185"/>
              <a:ext cx="1392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12309" name="Rectangle 21"/>
            <p:cNvSpPr>
              <a:spLocks noChangeArrowheads="1"/>
            </p:cNvSpPr>
            <p:nvPr/>
          </p:nvSpPr>
          <p:spPr bwMode="auto">
            <a:xfrm>
              <a:off x="3256" y="1313"/>
              <a:ext cx="1392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</p:grpSp>
      <p:sp>
        <p:nvSpPr>
          <p:cNvPr id="38918" name="Freeform 43"/>
          <p:cNvSpPr>
            <a:spLocks/>
          </p:cNvSpPr>
          <p:nvPr/>
        </p:nvSpPr>
        <p:spPr bwMode="auto">
          <a:xfrm>
            <a:off x="2806700" y="2465388"/>
            <a:ext cx="1981200" cy="1447800"/>
          </a:xfrm>
          <a:custGeom>
            <a:avLst/>
            <a:gdLst>
              <a:gd name="T0" fmla="*/ 2147483647 w 1248"/>
              <a:gd name="T1" fmla="*/ 0 h 912"/>
              <a:gd name="T2" fmla="*/ 2147483647 w 1248"/>
              <a:gd name="T3" fmla="*/ 2147483647 h 912"/>
              <a:gd name="T4" fmla="*/ 0 w 1248"/>
              <a:gd name="T5" fmla="*/ 2147483647 h 912"/>
              <a:gd name="T6" fmla="*/ 0 w 1248"/>
              <a:gd name="T7" fmla="*/ 2147483647 h 912"/>
              <a:gd name="T8" fmla="*/ 0 60000 65536"/>
              <a:gd name="T9" fmla="*/ 0 60000 65536"/>
              <a:gd name="T10" fmla="*/ 0 60000 65536"/>
              <a:gd name="T11" fmla="*/ 0 60000 65536"/>
              <a:gd name="T12" fmla="*/ 0 w 1248"/>
              <a:gd name="T13" fmla="*/ 0 h 912"/>
              <a:gd name="T14" fmla="*/ 1248 w 1248"/>
              <a:gd name="T15" fmla="*/ 912 h 9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48" h="912">
                <a:moveTo>
                  <a:pt x="1248" y="0"/>
                </a:moveTo>
                <a:lnTo>
                  <a:pt x="1248" y="672"/>
                </a:lnTo>
                <a:lnTo>
                  <a:pt x="0" y="672"/>
                </a:lnTo>
                <a:lnTo>
                  <a:pt x="0" y="912"/>
                </a:lnTo>
              </a:path>
            </a:pathLst>
          </a:custGeom>
          <a:noFill/>
          <a:ln w="2844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8919" name="Freeform 45"/>
          <p:cNvSpPr>
            <a:spLocks/>
          </p:cNvSpPr>
          <p:nvPr/>
        </p:nvSpPr>
        <p:spPr bwMode="auto">
          <a:xfrm>
            <a:off x="3103563" y="2312988"/>
            <a:ext cx="3225800" cy="1600200"/>
          </a:xfrm>
          <a:custGeom>
            <a:avLst/>
            <a:gdLst>
              <a:gd name="T0" fmla="*/ 2147483647 w 1968"/>
              <a:gd name="T1" fmla="*/ 0 h 1008"/>
              <a:gd name="T2" fmla="*/ 2147483647 w 1968"/>
              <a:gd name="T3" fmla="*/ 2147483647 h 1008"/>
              <a:gd name="T4" fmla="*/ 0 w 1968"/>
              <a:gd name="T5" fmla="*/ 2147483647 h 1008"/>
              <a:gd name="T6" fmla="*/ 0 w 1968"/>
              <a:gd name="T7" fmla="*/ 2147483647 h 1008"/>
              <a:gd name="T8" fmla="*/ 0 60000 65536"/>
              <a:gd name="T9" fmla="*/ 0 60000 65536"/>
              <a:gd name="T10" fmla="*/ 0 60000 65536"/>
              <a:gd name="T11" fmla="*/ 0 60000 65536"/>
              <a:gd name="T12" fmla="*/ 0 w 1968"/>
              <a:gd name="T13" fmla="*/ 0 h 1008"/>
              <a:gd name="T14" fmla="*/ 1968 w 1968"/>
              <a:gd name="T15" fmla="*/ 1008 h 10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68" h="1008">
                <a:moveTo>
                  <a:pt x="1968" y="0"/>
                </a:moveTo>
                <a:lnTo>
                  <a:pt x="1968" y="528"/>
                </a:lnTo>
                <a:lnTo>
                  <a:pt x="0" y="528"/>
                </a:lnTo>
                <a:lnTo>
                  <a:pt x="0" y="1008"/>
                </a:lnTo>
              </a:path>
            </a:pathLst>
          </a:custGeom>
          <a:noFill/>
          <a:ln w="2844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8920" name="Line 47"/>
          <p:cNvSpPr>
            <a:spLocks noChangeShapeType="1"/>
          </p:cNvSpPr>
          <p:nvPr/>
        </p:nvSpPr>
        <p:spPr bwMode="auto">
          <a:xfrm>
            <a:off x="7562850" y="2312988"/>
            <a:ext cx="1588" cy="1752600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38921" name="Line 50"/>
          <p:cNvSpPr>
            <a:spLocks noChangeShapeType="1"/>
          </p:cNvSpPr>
          <p:nvPr/>
        </p:nvSpPr>
        <p:spPr bwMode="auto">
          <a:xfrm>
            <a:off x="3759200" y="6019800"/>
            <a:ext cx="5130800" cy="25400"/>
          </a:xfrm>
          <a:prstGeom prst="line">
            <a:avLst/>
          </a:prstGeom>
          <a:noFill/>
          <a:ln w="57240">
            <a:solidFill>
              <a:srgbClr val="009999"/>
            </a:solidFill>
            <a:miter lim="800000"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8922" name="Freeform 52"/>
          <p:cNvSpPr>
            <a:spLocks/>
          </p:cNvSpPr>
          <p:nvPr/>
        </p:nvSpPr>
        <p:spPr bwMode="auto">
          <a:xfrm>
            <a:off x="8429625" y="1844675"/>
            <a:ext cx="447675" cy="4191000"/>
          </a:xfrm>
          <a:custGeom>
            <a:avLst/>
            <a:gdLst>
              <a:gd name="T0" fmla="*/ 2147483647 w 960"/>
              <a:gd name="T1" fmla="*/ 2147483647 h 2448"/>
              <a:gd name="T2" fmla="*/ 2147483647 w 960"/>
              <a:gd name="T3" fmla="*/ 0 h 2448"/>
              <a:gd name="T4" fmla="*/ 0 w 960"/>
              <a:gd name="T5" fmla="*/ 0 h 2448"/>
              <a:gd name="T6" fmla="*/ 0 60000 65536"/>
              <a:gd name="T7" fmla="*/ 0 60000 65536"/>
              <a:gd name="T8" fmla="*/ 0 60000 65536"/>
              <a:gd name="T9" fmla="*/ 0 w 960"/>
              <a:gd name="T10" fmla="*/ 0 h 2448"/>
              <a:gd name="T11" fmla="*/ 960 w 960"/>
              <a:gd name="T12" fmla="*/ 2448 h 24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0" h="2448">
                <a:moveTo>
                  <a:pt x="960" y="2448"/>
                </a:moveTo>
                <a:lnTo>
                  <a:pt x="960" y="0"/>
                </a:lnTo>
                <a:lnTo>
                  <a:pt x="0" y="0"/>
                </a:lnTo>
              </a:path>
            </a:pathLst>
          </a:custGeom>
          <a:noFill/>
          <a:ln w="57240">
            <a:solidFill>
              <a:srgbClr val="009999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8923" name="Line 54"/>
          <p:cNvSpPr>
            <a:spLocks noChangeShapeType="1"/>
          </p:cNvSpPr>
          <p:nvPr/>
        </p:nvSpPr>
        <p:spPr bwMode="auto">
          <a:xfrm>
            <a:off x="7050088" y="5349875"/>
            <a:ext cx="1587" cy="685800"/>
          </a:xfrm>
          <a:prstGeom prst="line">
            <a:avLst/>
          </a:prstGeom>
          <a:noFill/>
          <a:ln w="57240">
            <a:solidFill>
              <a:srgbClr val="009999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38924" name="Line 55"/>
          <p:cNvSpPr>
            <a:spLocks noChangeShapeType="1"/>
          </p:cNvSpPr>
          <p:nvPr/>
        </p:nvSpPr>
        <p:spPr bwMode="auto">
          <a:xfrm>
            <a:off x="3773488" y="5349875"/>
            <a:ext cx="1587" cy="685800"/>
          </a:xfrm>
          <a:prstGeom prst="line">
            <a:avLst/>
          </a:prstGeom>
          <a:noFill/>
          <a:ln w="57240">
            <a:solidFill>
              <a:srgbClr val="009999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38925" name="Text Box 58"/>
          <p:cNvSpPr txBox="1">
            <a:spLocks noChangeArrowheads="1"/>
          </p:cNvSpPr>
          <p:nvPr/>
        </p:nvSpPr>
        <p:spPr bwMode="auto">
          <a:xfrm>
            <a:off x="6408738" y="1155700"/>
            <a:ext cx="1589087" cy="371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100000"/>
              </a:lnSpc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cs typeface="Arial" pitchFamily="34" charset="0"/>
              </a:rPr>
              <a:t>FP Registers</a:t>
            </a:r>
          </a:p>
        </p:txBody>
      </p:sp>
      <p:sp>
        <p:nvSpPr>
          <p:cNvPr id="38926" name="Line 61"/>
          <p:cNvSpPr>
            <a:spLocks noChangeShapeType="1"/>
          </p:cNvSpPr>
          <p:nvPr/>
        </p:nvSpPr>
        <p:spPr bwMode="auto">
          <a:xfrm flipH="1" flipV="1">
            <a:off x="4524375" y="4583113"/>
            <a:ext cx="11113" cy="1454150"/>
          </a:xfrm>
          <a:prstGeom prst="line">
            <a:avLst/>
          </a:prstGeom>
          <a:noFill/>
          <a:ln w="57240">
            <a:solidFill>
              <a:srgbClr val="009999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38927" name="Line 62"/>
          <p:cNvSpPr>
            <a:spLocks noChangeShapeType="1"/>
          </p:cNvSpPr>
          <p:nvPr/>
        </p:nvSpPr>
        <p:spPr bwMode="auto">
          <a:xfrm flipH="1" flipV="1">
            <a:off x="7885113" y="4497388"/>
            <a:ext cx="3175" cy="1539875"/>
          </a:xfrm>
          <a:prstGeom prst="line">
            <a:avLst/>
          </a:prstGeom>
          <a:noFill/>
          <a:ln w="57240">
            <a:solidFill>
              <a:srgbClr val="009999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38928" name="Text Box 63"/>
          <p:cNvSpPr txBox="1">
            <a:spLocks noChangeArrowheads="1"/>
          </p:cNvSpPr>
          <p:nvPr/>
        </p:nvSpPr>
        <p:spPr bwMode="auto">
          <a:xfrm>
            <a:off x="4411663" y="6043613"/>
            <a:ext cx="2965450" cy="371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100000"/>
              </a:lnSpc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cs typeface="Arial" pitchFamily="34" charset="0"/>
              </a:rPr>
              <a:t>Common Data Bus (CDB)</a:t>
            </a:r>
            <a:r>
              <a:rPr lang="ar-SA" sz="1800" b="1">
                <a:solidFill>
                  <a:srgbClr val="000000"/>
                </a:solidFill>
                <a:cs typeface="Arial" pitchFamily="34" charset="0"/>
              </a:rPr>
              <a:t>‏</a:t>
            </a:r>
            <a:endParaRPr lang="en-GB" sz="1800" b="1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38929" name="Text Box 65"/>
          <p:cNvSpPr txBox="1">
            <a:spLocks noChangeArrowheads="1"/>
          </p:cNvSpPr>
          <p:nvPr/>
        </p:nvSpPr>
        <p:spPr bwMode="auto">
          <a:xfrm>
            <a:off x="2901950" y="1219200"/>
            <a:ext cx="900113" cy="64928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100000"/>
              </a:lnSpc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cs typeface="Arial" pitchFamily="34" charset="0"/>
              </a:rPr>
              <a:t>FP Op</a:t>
            </a:r>
          </a:p>
          <a:p>
            <a:pPr algn="ctr">
              <a:lnSpc>
                <a:spcPct val="100000"/>
              </a:lnSpc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cs typeface="Arial" pitchFamily="34" charset="0"/>
              </a:rPr>
              <a:t>Queue</a:t>
            </a:r>
          </a:p>
        </p:txBody>
      </p:sp>
      <p:sp>
        <p:nvSpPr>
          <p:cNvPr id="38930" name="Rectangle 36"/>
          <p:cNvSpPr>
            <a:spLocks noChangeArrowheads="1"/>
          </p:cNvSpPr>
          <p:nvPr/>
        </p:nvSpPr>
        <p:spPr bwMode="auto">
          <a:xfrm>
            <a:off x="6156325" y="1470025"/>
            <a:ext cx="481013" cy="815975"/>
          </a:xfrm>
          <a:prstGeom prst="rect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cs typeface="Arial" pitchFamily="34" charset="0"/>
            </a:endParaRPr>
          </a:p>
        </p:txBody>
      </p:sp>
      <p:sp>
        <p:nvSpPr>
          <p:cNvPr id="38931" name="TextBox 88"/>
          <p:cNvSpPr txBox="1">
            <a:spLocks noChangeArrowheads="1"/>
          </p:cNvSpPr>
          <p:nvPr/>
        </p:nvSpPr>
        <p:spPr bwMode="auto">
          <a:xfrm>
            <a:off x="0" y="1206500"/>
            <a:ext cx="2824163" cy="1122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 u="sng">
                <a:solidFill>
                  <a:schemeClr val="tx1"/>
                </a:solidFill>
              </a:rPr>
              <a:t>Program:</a:t>
            </a:r>
          </a:p>
          <a:p>
            <a:r>
              <a:rPr lang="en-CA" b="1">
                <a:solidFill>
                  <a:srgbClr val="0000FF"/>
                </a:solidFill>
              </a:rPr>
              <a:t>ADD.D  F1,F2,F1</a:t>
            </a:r>
          </a:p>
          <a:p>
            <a:r>
              <a:rPr lang="en-CA">
                <a:solidFill>
                  <a:schemeClr val="tx1"/>
                </a:solidFill>
              </a:rPr>
              <a:t>MUL.D  F2,F1,F4</a:t>
            </a:r>
          </a:p>
        </p:txBody>
      </p:sp>
      <p:sp>
        <p:nvSpPr>
          <p:cNvPr id="38932" name="TextBox 89"/>
          <p:cNvSpPr txBox="1">
            <a:spLocks noChangeArrowheads="1"/>
          </p:cNvSpPr>
          <p:nvPr/>
        </p:nvSpPr>
        <p:spPr bwMode="auto">
          <a:xfrm>
            <a:off x="0" y="6450013"/>
            <a:ext cx="9144000" cy="406400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 sz="2200" b="1">
                <a:solidFill>
                  <a:srgbClr val="0000FF"/>
                </a:solidFill>
              </a:rPr>
              <a:t>Cycle 2a:  ADD.D reads R[F2] &amp; R[F1] values from FP Registers</a:t>
            </a:r>
          </a:p>
        </p:txBody>
      </p:sp>
      <p:sp>
        <p:nvSpPr>
          <p:cNvPr id="38933" name="TextBox 90"/>
          <p:cNvSpPr txBox="1">
            <a:spLocks noChangeArrowheads="1"/>
          </p:cNvSpPr>
          <p:nvPr/>
        </p:nvSpPr>
        <p:spPr bwMode="auto">
          <a:xfrm>
            <a:off x="5764213" y="1420813"/>
            <a:ext cx="392112" cy="893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CA" sz="1400">
                <a:solidFill>
                  <a:schemeClr val="tx1"/>
                </a:solidFill>
              </a:rPr>
              <a:t>F1</a:t>
            </a:r>
          </a:p>
          <a:p>
            <a:r>
              <a:rPr lang="en-CA" sz="1400">
                <a:solidFill>
                  <a:schemeClr val="tx1"/>
                </a:solidFill>
              </a:rPr>
              <a:t>F2</a:t>
            </a:r>
          </a:p>
          <a:p>
            <a:r>
              <a:rPr lang="en-CA" sz="1400">
                <a:solidFill>
                  <a:schemeClr val="tx1"/>
                </a:solidFill>
              </a:rPr>
              <a:t>F3</a:t>
            </a:r>
          </a:p>
          <a:p>
            <a:r>
              <a:rPr lang="en-CA" sz="1400">
                <a:solidFill>
                  <a:schemeClr val="tx1"/>
                </a:solidFill>
              </a:rPr>
              <a:t>F4</a:t>
            </a:r>
          </a:p>
        </p:txBody>
      </p:sp>
      <p:grpSp>
        <p:nvGrpSpPr>
          <p:cNvPr id="38934" name="Group 26"/>
          <p:cNvGrpSpPr>
            <a:grpSpLocks/>
          </p:cNvGrpSpPr>
          <p:nvPr/>
        </p:nvGrpSpPr>
        <p:grpSpPr bwMode="auto">
          <a:xfrm>
            <a:off x="2187575" y="3913188"/>
            <a:ext cx="2689225" cy="608012"/>
            <a:chOff x="1057" y="2465"/>
            <a:chExt cx="1391" cy="383"/>
          </a:xfrm>
        </p:grpSpPr>
        <p:sp>
          <p:nvSpPr>
            <p:cNvPr id="70" name="Rectangle 27"/>
            <p:cNvSpPr>
              <a:spLocks noChangeArrowheads="1"/>
            </p:cNvSpPr>
            <p:nvPr/>
          </p:nvSpPr>
          <p:spPr bwMode="auto">
            <a:xfrm>
              <a:off x="1057" y="2465"/>
              <a:ext cx="1392" cy="128"/>
            </a:xfrm>
            <a:prstGeom prst="rect">
              <a:avLst/>
            </a:prstGeom>
            <a:solidFill>
              <a:srgbClr val="BBE0E3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71" name="Rectangle 28"/>
            <p:cNvSpPr>
              <a:spLocks noChangeArrowheads="1"/>
            </p:cNvSpPr>
            <p:nvPr/>
          </p:nvSpPr>
          <p:spPr bwMode="auto">
            <a:xfrm>
              <a:off x="1057" y="2593"/>
              <a:ext cx="1392" cy="128"/>
            </a:xfrm>
            <a:prstGeom prst="rect">
              <a:avLst/>
            </a:prstGeom>
            <a:solidFill>
              <a:srgbClr val="BBE0E3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72" name="Rectangle 29"/>
            <p:cNvSpPr>
              <a:spLocks noChangeArrowheads="1"/>
            </p:cNvSpPr>
            <p:nvPr/>
          </p:nvSpPr>
          <p:spPr bwMode="auto">
            <a:xfrm>
              <a:off x="1057" y="2721"/>
              <a:ext cx="1392" cy="128"/>
            </a:xfrm>
            <a:prstGeom prst="rect">
              <a:avLst/>
            </a:prstGeom>
            <a:solidFill>
              <a:srgbClr val="BBE0E3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</p:grpSp>
      <p:sp>
        <p:nvSpPr>
          <p:cNvPr id="38935" name="Rectangle 30"/>
          <p:cNvSpPr>
            <a:spLocks noChangeArrowheads="1"/>
          </p:cNvSpPr>
          <p:nvPr/>
        </p:nvSpPr>
        <p:spPr bwMode="auto">
          <a:xfrm>
            <a:off x="3011488" y="3913188"/>
            <a:ext cx="336550" cy="609600"/>
          </a:xfrm>
          <a:prstGeom prst="rect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cs typeface="Arial" pitchFamily="34" charset="0"/>
            </a:endParaRPr>
          </a:p>
        </p:txBody>
      </p:sp>
      <p:sp>
        <p:nvSpPr>
          <p:cNvPr id="74" name="Rectangle 31"/>
          <p:cNvSpPr>
            <a:spLocks noChangeArrowheads="1"/>
          </p:cNvSpPr>
          <p:nvPr/>
        </p:nvSpPr>
        <p:spPr bwMode="auto">
          <a:xfrm>
            <a:off x="3240088" y="5056188"/>
            <a:ext cx="1066800" cy="304800"/>
          </a:xfrm>
          <a:prstGeom prst="rect">
            <a:avLst/>
          </a:prstGeom>
          <a:solidFill>
            <a:srgbClr val="BBE0E3"/>
          </a:solidFill>
          <a:ln w="28440">
            <a:solidFill>
              <a:srgbClr val="000000"/>
            </a:solidFill>
            <a:miter lim="800000"/>
            <a:headEnd/>
            <a:tailEnd/>
          </a:ln>
          <a:effectLst>
            <a:outerShdw blurRad="63500" dist="107933" dir="2700000" algn="ctr" rotWithShape="0">
              <a:srgbClr val="000000">
                <a:alpha val="74998"/>
              </a:srgbClr>
            </a:outerShdw>
          </a:effectLst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600" b="1">
                <a:solidFill>
                  <a:srgbClr val="000000"/>
                </a:solidFill>
                <a:cs typeface="Arial" pitchFamily="34" charset="0"/>
              </a:rPr>
              <a:t>FP adders</a:t>
            </a:r>
          </a:p>
        </p:txBody>
      </p:sp>
      <p:sp>
        <p:nvSpPr>
          <p:cNvPr id="38937" name="Text Box 32"/>
          <p:cNvSpPr txBox="1">
            <a:spLocks noChangeArrowheads="1"/>
          </p:cNvSpPr>
          <p:nvPr/>
        </p:nvSpPr>
        <p:spPr bwMode="auto">
          <a:xfrm>
            <a:off x="1401763" y="3902075"/>
            <a:ext cx="628650" cy="719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100000"/>
              </a:lnSpc>
              <a:buClr>
                <a:srgbClr val="009999"/>
              </a:buClr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009999"/>
                </a:solidFill>
                <a:cs typeface="Arial" pitchFamily="34" charset="0"/>
              </a:rPr>
              <a:t>Add1</a:t>
            </a:r>
          </a:p>
          <a:p>
            <a:pPr algn="ctr">
              <a:lnSpc>
                <a:spcPct val="100000"/>
              </a:lnSpc>
              <a:buClr>
                <a:srgbClr val="009999"/>
              </a:buClr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009999"/>
                </a:solidFill>
                <a:cs typeface="Arial" pitchFamily="34" charset="0"/>
              </a:rPr>
              <a:t>Add2</a:t>
            </a:r>
          </a:p>
          <a:p>
            <a:pPr algn="ctr">
              <a:lnSpc>
                <a:spcPct val="90000"/>
              </a:lnSpc>
              <a:buClr>
                <a:srgbClr val="009999"/>
              </a:buClr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009999"/>
                </a:solidFill>
                <a:cs typeface="Arial" pitchFamily="34" charset="0"/>
              </a:rPr>
              <a:t>Add3</a:t>
            </a:r>
          </a:p>
        </p:txBody>
      </p:sp>
      <p:grpSp>
        <p:nvGrpSpPr>
          <p:cNvPr id="38938" name="Group 33"/>
          <p:cNvGrpSpPr>
            <a:grpSpLocks/>
          </p:cNvGrpSpPr>
          <p:nvPr/>
        </p:nvGrpSpPr>
        <p:grpSpPr bwMode="auto">
          <a:xfrm>
            <a:off x="5438775" y="4065588"/>
            <a:ext cx="2625725" cy="366712"/>
            <a:chOff x="2802" y="2561"/>
            <a:chExt cx="1654" cy="231"/>
          </a:xfrm>
        </p:grpSpPr>
        <p:sp>
          <p:nvSpPr>
            <p:cNvPr id="77" name="Rectangle 34"/>
            <p:cNvSpPr>
              <a:spLocks noChangeArrowheads="1"/>
            </p:cNvSpPr>
            <p:nvPr/>
          </p:nvSpPr>
          <p:spPr bwMode="auto">
            <a:xfrm>
              <a:off x="2802" y="2561"/>
              <a:ext cx="1654" cy="114"/>
            </a:xfrm>
            <a:prstGeom prst="rect">
              <a:avLst/>
            </a:prstGeom>
            <a:solidFill>
              <a:srgbClr val="BBE0E3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78" name="Rectangle 35"/>
            <p:cNvSpPr>
              <a:spLocks noChangeArrowheads="1"/>
            </p:cNvSpPr>
            <p:nvPr/>
          </p:nvSpPr>
          <p:spPr bwMode="auto">
            <a:xfrm>
              <a:off x="2802" y="2676"/>
              <a:ext cx="1654" cy="116"/>
            </a:xfrm>
            <a:prstGeom prst="rect">
              <a:avLst/>
            </a:prstGeom>
            <a:solidFill>
              <a:srgbClr val="BBE0E3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</p:grpSp>
      <p:sp>
        <p:nvSpPr>
          <p:cNvPr id="38939" name="Rectangle 36"/>
          <p:cNvSpPr>
            <a:spLocks noChangeArrowheads="1"/>
          </p:cNvSpPr>
          <p:nvPr/>
        </p:nvSpPr>
        <p:spPr bwMode="auto">
          <a:xfrm>
            <a:off x="6208713" y="4065588"/>
            <a:ext cx="439737" cy="373062"/>
          </a:xfrm>
          <a:prstGeom prst="rect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cs typeface="Arial" pitchFamily="34" charset="0"/>
            </a:endParaRPr>
          </a:p>
        </p:txBody>
      </p:sp>
      <p:sp>
        <p:nvSpPr>
          <p:cNvPr id="80" name="Rectangle 37"/>
          <p:cNvSpPr>
            <a:spLocks noChangeArrowheads="1"/>
          </p:cNvSpPr>
          <p:nvPr/>
        </p:nvSpPr>
        <p:spPr bwMode="auto">
          <a:xfrm>
            <a:off x="6311900" y="5056188"/>
            <a:ext cx="1447800" cy="304800"/>
          </a:xfrm>
          <a:prstGeom prst="rect">
            <a:avLst/>
          </a:prstGeom>
          <a:solidFill>
            <a:srgbClr val="BBE0E3"/>
          </a:solidFill>
          <a:ln w="28440">
            <a:solidFill>
              <a:srgbClr val="000000"/>
            </a:solidFill>
            <a:miter lim="800000"/>
            <a:headEnd/>
            <a:tailEnd/>
          </a:ln>
          <a:effectLst>
            <a:outerShdw blurRad="63500" dist="107933" dir="2700000" algn="ctr" rotWithShape="0">
              <a:srgbClr val="000000">
                <a:alpha val="74998"/>
              </a:srgbClr>
            </a:outerShdw>
          </a:effectLst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600" b="1">
                <a:solidFill>
                  <a:srgbClr val="000000"/>
                </a:solidFill>
                <a:cs typeface="Arial" pitchFamily="34" charset="0"/>
              </a:rPr>
              <a:t>FP multipliers</a:t>
            </a:r>
          </a:p>
        </p:txBody>
      </p:sp>
      <p:sp>
        <p:nvSpPr>
          <p:cNvPr id="38941" name="Text Box 38"/>
          <p:cNvSpPr txBox="1">
            <a:spLocks noChangeArrowheads="1"/>
          </p:cNvSpPr>
          <p:nvPr/>
        </p:nvSpPr>
        <p:spPr bwMode="auto">
          <a:xfrm>
            <a:off x="8105775" y="3986213"/>
            <a:ext cx="588963" cy="4810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0000"/>
              </a:lnSpc>
              <a:buClr>
                <a:srgbClr val="009999"/>
              </a:buClr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009999"/>
                </a:solidFill>
                <a:cs typeface="Arial" pitchFamily="34" charset="0"/>
              </a:rPr>
              <a:t>Mul1</a:t>
            </a:r>
          </a:p>
          <a:p>
            <a:pPr algn="ctr">
              <a:lnSpc>
                <a:spcPct val="90000"/>
              </a:lnSpc>
              <a:buClr>
                <a:srgbClr val="009999"/>
              </a:buClr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009999"/>
                </a:solidFill>
                <a:cs typeface="Arial" pitchFamily="34" charset="0"/>
              </a:rPr>
              <a:t>Mul2</a:t>
            </a:r>
          </a:p>
        </p:txBody>
      </p:sp>
      <p:sp>
        <p:nvSpPr>
          <p:cNvPr id="38942" name="Line 39"/>
          <p:cNvSpPr>
            <a:spLocks noChangeShapeType="1"/>
          </p:cNvSpPr>
          <p:nvPr/>
        </p:nvSpPr>
        <p:spPr bwMode="auto">
          <a:xfrm>
            <a:off x="3416300" y="4522788"/>
            <a:ext cx="1588" cy="533400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38943" name="Line 40"/>
          <p:cNvSpPr>
            <a:spLocks noChangeShapeType="1"/>
          </p:cNvSpPr>
          <p:nvPr/>
        </p:nvSpPr>
        <p:spPr bwMode="auto">
          <a:xfrm>
            <a:off x="4102100" y="4522788"/>
            <a:ext cx="1588" cy="533400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38944" name="Line 41"/>
          <p:cNvSpPr>
            <a:spLocks noChangeShapeType="1"/>
          </p:cNvSpPr>
          <p:nvPr/>
        </p:nvSpPr>
        <p:spPr bwMode="auto">
          <a:xfrm>
            <a:off x="6540500" y="4446588"/>
            <a:ext cx="1588" cy="609600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38945" name="Line 42"/>
          <p:cNvSpPr>
            <a:spLocks noChangeShapeType="1"/>
          </p:cNvSpPr>
          <p:nvPr/>
        </p:nvSpPr>
        <p:spPr bwMode="auto">
          <a:xfrm>
            <a:off x="7454900" y="4446588"/>
            <a:ext cx="1588" cy="609600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38946" name="Freeform 44"/>
          <p:cNvSpPr>
            <a:spLocks/>
          </p:cNvSpPr>
          <p:nvPr/>
        </p:nvSpPr>
        <p:spPr bwMode="auto">
          <a:xfrm>
            <a:off x="4787900" y="3532188"/>
            <a:ext cx="1219200" cy="533400"/>
          </a:xfrm>
          <a:custGeom>
            <a:avLst/>
            <a:gdLst>
              <a:gd name="T0" fmla="*/ 0 w 768"/>
              <a:gd name="T1" fmla="*/ 0 h 336"/>
              <a:gd name="T2" fmla="*/ 2147483647 w 768"/>
              <a:gd name="T3" fmla="*/ 0 h 336"/>
              <a:gd name="T4" fmla="*/ 2147483647 w 768"/>
              <a:gd name="T5" fmla="*/ 2147483647 h 336"/>
              <a:gd name="T6" fmla="*/ 0 60000 65536"/>
              <a:gd name="T7" fmla="*/ 0 60000 65536"/>
              <a:gd name="T8" fmla="*/ 0 60000 65536"/>
              <a:gd name="T9" fmla="*/ 0 w 768"/>
              <a:gd name="T10" fmla="*/ 0 h 336"/>
              <a:gd name="T11" fmla="*/ 768 w 768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68" h="336">
                <a:moveTo>
                  <a:pt x="0" y="0"/>
                </a:moveTo>
                <a:lnTo>
                  <a:pt x="768" y="0"/>
                </a:lnTo>
                <a:lnTo>
                  <a:pt x="768" y="336"/>
                </a:lnTo>
              </a:path>
            </a:pathLst>
          </a:custGeom>
          <a:noFill/>
          <a:ln w="2844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8947" name="Line 46"/>
          <p:cNvSpPr>
            <a:spLocks noChangeShapeType="1"/>
          </p:cNvSpPr>
          <p:nvPr/>
        </p:nvSpPr>
        <p:spPr bwMode="auto">
          <a:xfrm>
            <a:off x="6329363" y="3151188"/>
            <a:ext cx="1587" cy="914400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38948" name="Freeform 48"/>
          <p:cNvSpPr>
            <a:spLocks/>
          </p:cNvSpPr>
          <p:nvPr/>
        </p:nvSpPr>
        <p:spPr bwMode="auto">
          <a:xfrm>
            <a:off x="4389438" y="3348038"/>
            <a:ext cx="3162300" cy="565150"/>
          </a:xfrm>
          <a:custGeom>
            <a:avLst/>
            <a:gdLst>
              <a:gd name="T0" fmla="*/ 2147483647 w 1920"/>
              <a:gd name="T1" fmla="*/ 0 h 384"/>
              <a:gd name="T2" fmla="*/ 0 w 1920"/>
              <a:gd name="T3" fmla="*/ 0 h 384"/>
              <a:gd name="T4" fmla="*/ 0 w 1920"/>
              <a:gd name="T5" fmla="*/ 2147483647 h 384"/>
              <a:gd name="T6" fmla="*/ 0 60000 65536"/>
              <a:gd name="T7" fmla="*/ 0 60000 65536"/>
              <a:gd name="T8" fmla="*/ 0 60000 65536"/>
              <a:gd name="T9" fmla="*/ 0 w 1920"/>
              <a:gd name="T10" fmla="*/ 0 h 384"/>
              <a:gd name="T11" fmla="*/ 1920 w 1920"/>
              <a:gd name="T12" fmla="*/ 384 h 3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0" h="384">
                <a:moveTo>
                  <a:pt x="1920" y="0"/>
                </a:moveTo>
                <a:lnTo>
                  <a:pt x="0" y="0"/>
                </a:lnTo>
                <a:lnTo>
                  <a:pt x="0" y="384"/>
                </a:lnTo>
              </a:path>
            </a:pathLst>
          </a:custGeom>
          <a:noFill/>
          <a:ln w="2844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8949" name="Text Box 59"/>
          <p:cNvSpPr txBox="1">
            <a:spLocks noChangeArrowheads="1"/>
          </p:cNvSpPr>
          <p:nvPr/>
        </p:nvSpPr>
        <p:spPr bwMode="auto">
          <a:xfrm>
            <a:off x="4711700" y="4545013"/>
            <a:ext cx="1566863" cy="64928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100000"/>
              </a:lnSpc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cs typeface="Arial" pitchFamily="34" charset="0"/>
              </a:rPr>
              <a:t>Reservation </a:t>
            </a:r>
          </a:p>
          <a:p>
            <a:pPr algn="ctr">
              <a:lnSpc>
                <a:spcPct val="100000"/>
              </a:lnSpc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cs typeface="Arial" pitchFamily="34" charset="0"/>
              </a:rPr>
              <a:t>Stations</a:t>
            </a:r>
          </a:p>
        </p:txBody>
      </p:sp>
      <p:sp>
        <p:nvSpPr>
          <p:cNvPr id="38950" name="Rectangle 30"/>
          <p:cNvSpPr>
            <a:spLocks noChangeArrowheads="1"/>
          </p:cNvSpPr>
          <p:nvPr/>
        </p:nvSpPr>
        <p:spPr bwMode="auto">
          <a:xfrm>
            <a:off x="3929063" y="3916363"/>
            <a:ext cx="322262" cy="609600"/>
          </a:xfrm>
          <a:prstGeom prst="rect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cs typeface="Arial" pitchFamily="34" charset="0"/>
            </a:endParaRPr>
          </a:p>
        </p:txBody>
      </p:sp>
      <p:sp>
        <p:nvSpPr>
          <p:cNvPr id="38951" name="Rectangle 36"/>
          <p:cNvSpPr>
            <a:spLocks noChangeArrowheads="1"/>
          </p:cNvSpPr>
          <p:nvPr/>
        </p:nvSpPr>
        <p:spPr bwMode="auto">
          <a:xfrm>
            <a:off x="7089775" y="4068763"/>
            <a:ext cx="338138" cy="381000"/>
          </a:xfrm>
          <a:prstGeom prst="rect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cs typeface="Arial" pitchFamily="34" charset="0"/>
            </a:endParaRPr>
          </a:p>
        </p:txBody>
      </p:sp>
      <p:sp>
        <p:nvSpPr>
          <p:cNvPr id="38952" name="Line 46"/>
          <p:cNvSpPr>
            <a:spLocks noChangeShapeType="1"/>
          </p:cNvSpPr>
          <p:nvPr/>
        </p:nvSpPr>
        <p:spPr bwMode="auto">
          <a:xfrm>
            <a:off x="6724650" y="3360738"/>
            <a:ext cx="4763" cy="708025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38953" name="Oval 76"/>
          <p:cNvSpPr>
            <a:spLocks noChangeArrowheads="1"/>
          </p:cNvSpPr>
          <p:nvPr/>
        </p:nvSpPr>
        <p:spPr bwMode="auto">
          <a:xfrm>
            <a:off x="4749800" y="3487738"/>
            <a:ext cx="74613" cy="7302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8954" name="Oval 77"/>
          <p:cNvSpPr>
            <a:spLocks noChangeArrowheads="1"/>
          </p:cNvSpPr>
          <p:nvPr/>
        </p:nvSpPr>
        <p:spPr bwMode="auto">
          <a:xfrm>
            <a:off x="6286500" y="3101975"/>
            <a:ext cx="74613" cy="7302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8955" name="Line 46"/>
          <p:cNvSpPr>
            <a:spLocks noChangeShapeType="1"/>
          </p:cNvSpPr>
          <p:nvPr/>
        </p:nvSpPr>
        <p:spPr bwMode="auto">
          <a:xfrm flipH="1">
            <a:off x="4056063" y="3138488"/>
            <a:ext cx="0" cy="765175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38956" name="Oval 79"/>
          <p:cNvSpPr>
            <a:spLocks noChangeArrowheads="1"/>
          </p:cNvSpPr>
          <p:nvPr/>
        </p:nvSpPr>
        <p:spPr bwMode="auto">
          <a:xfrm>
            <a:off x="4011613" y="3121025"/>
            <a:ext cx="76200" cy="7302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8957" name="Freeform 49"/>
          <p:cNvSpPr>
            <a:spLocks/>
          </p:cNvSpPr>
          <p:nvPr/>
        </p:nvSpPr>
        <p:spPr bwMode="auto">
          <a:xfrm>
            <a:off x="6270625" y="3149600"/>
            <a:ext cx="960438" cy="903288"/>
          </a:xfrm>
          <a:custGeom>
            <a:avLst/>
            <a:gdLst>
              <a:gd name="T0" fmla="*/ 0 w 1008"/>
              <a:gd name="T1" fmla="*/ 0 h 144"/>
              <a:gd name="T2" fmla="*/ 2147483647 w 1008"/>
              <a:gd name="T3" fmla="*/ 0 h 144"/>
              <a:gd name="T4" fmla="*/ 2147483647 w 1008"/>
              <a:gd name="T5" fmla="*/ 2147483647 h 144"/>
              <a:gd name="T6" fmla="*/ 0 60000 65536"/>
              <a:gd name="T7" fmla="*/ 0 60000 65536"/>
              <a:gd name="T8" fmla="*/ 0 60000 65536"/>
              <a:gd name="T9" fmla="*/ 0 w 1008"/>
              <a:gd name="T10" fmla="*/ 0 h 144"/>
              <a:gd name="T11" fmla="*/ 1008 w 1008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08" h="144">
                <a:moveTo>
                  <a:pt x="0" y="0"/>
                </a:moveTo>
                <a:lnTo>
                  <a:pt x="1008" y="0"/>
                </a:lnTo>
                <a:lnTo>
                  <a:pt x="1008" y="144"/>
                </a:lnTo>
              </a:path>
            </a:pathLst>
          </a:custGeom>
          <a:noFill/>
          <a:ln w="2844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8958" name="Oval 81"/>
          <p:cNvSpPr>
            <a:spLocks noChangeArrowheads="1"/>
          </p:cNvSpPr>
          <p:nvPr/>
        </p:nvSpPr>
        <p:spPr bwMode="auto">
          <a:xfrm>
            <a:off x="6681788" y="3319463"/>
            <a:ext cx="74612" cy="7302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8959" name="Oval 82"/>
          <p:cNvSpPr>
            <a:spLocks noChangeArrowheads="1"/>
          </p:cNvSpPr>
          <p:nvPr/>
        </p:nvSpPr>
        <p:spPr bwMode="auto">
          <a:xfrm>
            <a:off x="7526338" y="3311525"/>
            <a:ext cx="74612" cy="7302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8960" name="Freeform 48"/>
          <p:cNvSpPr>
            <a:spLocks/>
          </p:cNvSpPr>
          <p:nvPr/>
        </p:nvSpPr>
        <p:spPr bwMode="auto">
          <a:xfrm>
            <a:off x="3529013" y="3352800"/>
            <a:ext cx="922337" cy="563563"/>
          </a:xfrm>
          <a:custGeom>
            <a:avLst/>
            <a:gdLst>
              <a:gd name="T0" fmla="*/ 2147483647 w 1920"/>
              <a:gd name="T1" fmla="*/ 0 h 384"/>
              <a:gd name="T2" fmla="*/ 0 w 1920"/>
              <a:gd name="T3" fmla="*/ 0 h 384"/>
              <a:gd name="T4" fmla="*/ 0 w 1920"/>
              <a:gd name="T5" fmla="*/ 2147483647 h 384"/>
              <a:gd name="T6" fmla="*/ 0 60000 65536"/>
              <a:gd name="T7" fmla="*/ 0 60000 65536"/>
              <a:gd name="T8" fmla="*/ 0 60000 65536"/>
              <a:gd name="T9" fmla="*/ 0 w 1920"/>
              <a:gd name="T10" fmla="*/ 0 h 384"/>
              <a:gd name="T11" fmla="*/ 1920 w 1920"/>
              <a:gd name="T12" fmla="*/ 384 h 3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0" h="384">
                <a:moveTo>
                  <a:pt x="1920" y="0"/>
                </a:moveTo>
                <a:lnTo>
                  <a:pt x="0" y="0"/>
                </a:lnTo>
                <a:lnTo>
                  <a:pt x="0" y="384"/>
                </a:lnTo>
              </a:path>
            </a:pathLst>
          </a:custGeom>
          <a:noFill/>
          <a:ln w="2844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8961" name="Oval 85"/>
          <p:cNvSpPr>
            <a:spLocks noChangeArrowheads="1"/>
          </p:cNvSpPr>
          <p:nvPr/>
        </p:nvSpPr>
        <p:spPr bwMode="auto">
          <a:xfrm>
            <a:off x="4346575" y="3306763"/>
            <a:ext cx="74613" cy="7302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8962" name="TextBox 104"/>
          <p:cNvSpPr txBox="1">
            <a:spLocks noChangeArrowheads="1"/>
          </p:cNvSpPr>
          <p:nvPr/>
        </p:nvSpPr>
        <p:spPr bwMode="auto">
          <a:xfrm>
            <a:off x="2187575" y="3870325"/>
            <a:ext cx="2714625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 sz="1400" b="1">
                <a:solidFill>
                  <a:srgbClr val="0000FF"/>
                </a:solidFill>
              </a:rPr>
              <a:t> ADD.D       -   R[F2],   -    R[F1]</a:t>
            </a:r>
          </a:p>
        </p:txBody>
      </p:sp>
      <p:sp>
        <p:nvSpPr>
          <p:cNvPr id="38963" name="TextBox 106"/>
          <p:cNvSpPr txBox="1">
            <a:spLocks noChangeArrowheads="1"/>
          </p:cNvSpPr>
          <p:nvPr/>
        </p:nvSpPr>
        <p:spPr bwMode="auto">
          <a:xfrm>
            <a:off x="6188075" y="1436688"/>
            <a:ext cx="1585913" cy="893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 sz="1400">
                <a:solidFill>
                  <a:schemeClr val="tx1"/>
                </a:solidFill>
              </a:rPr>
              <a:t>-                 R[F1]</a:t>
            </a:r>
          </a:p>
          <a:p>
            <a:r>
              <a:rPr lang="en-CA" sz="1400">
                <a:solidFill>
                  <a:schemeClr val="tx1"/>
                </a:solidFill>
              </a:rPr>
              <a:t>-                 R[F2]</a:t>
            </a:r>
          </a:p>
          <a:p>
            <a:r>
              <a:rPr lang="en-CA" sz="1400">
                <a:solidFill>
                  <a:schemeClr val="tx1"/>
                </a:solidFill>
              </a:rPr>
              <a:t>-                 R[F3]</a:t>
            </a:r>
          </a:p>
          <a:p>
            <a:r>
              <a:rPr lang="en-CA" sz="1400">
                <a:solidFill>
                  <a:schemeClr val="tx1"/>
                </a:solidFill>
              </a:rPr>
              <a:t>-                 R[F4]</a:t>
            </a:r>
          </a:p>
        </p:txBody>
      </p:sp>
    </p:spTree>
    <p:extLst>
      <p:ext uri="{BB962C8B-B14F-4D97-AF65-F5344CB8AC3E}">
        <p14:creationId xmlns:p14="http://schemas.microsoft.com/office/powerpoint/2010/main" val="38441060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0"/>
            <a:ext cx="8402637" cy="1022350"/>
          </a:xfrm>
        </p:spPr>
        <p:txBody>
          <a:bodyPr lIns="90360" tIns="44280" rIns="90360" bIns="44280"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200">
                <a:latin typeface="Arial  " charset="0"/>
                <a:cs typeface="Arial  " charset="0"/>
              </a:rPr>
              <a:t>Tomasulo Algorithm, Renaming Implemented</a:t>
            </a:r>
          </a:p>
        </p:txBody>
      </p:sp>
      <p:sp>
        <p:nvSpPr>
          <p:cNvPr id="39939" name="Slide Number Placeholder 73"/>
          <p:cNvSpPr>
            <a:spLocks noGrp="1"/>
          </p:cNvSpPr>
          <p:nvPr>
            <p:ph type="sldNum" sz="quarter" idx="12"/>
          </p:nvPr>
        </p:nvSpPr>
        <p:spPr>
          <a:xfrm>
            <a:off x="7240588" y="6122988"/>
            <a:ext cx="1903412" cy="311150"/>
          </a:xfrm>
          <a:noFill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B9180D3-5214-431E-B09F-B9461DD10B70}" type="slidenum">
              <a:rPr lang="en-GB" smtClean="0"/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18</a:t>
            </a:fld>
            <a:r>
              <a:rPr lang="en-GB"/>
              <a:t> </a:t>
            </a:r>
          </a:p>
        </p:txBody>
      </p:sp>
      <p:grpSp>
        <p:nvGrpSpPr>
          <p:cNvPr id="39940" name="Group 10"/>
          <p:cNvGrpSpPr>
            <a:grpSpLocks/>
          </p:cNvGrpSpPr>
          <p:nvPr/>
        </p:nvGrpSpPr>
        <p:grpSpPr bwMode="auto">
          <a:xfrm>
            <a:off x="3824288" y="1246188"/>
            <a:ext cx="1663700" cy="1217612"/>
            <a:chOff x="2104" y="785"/>
            <a:chExt cx="575" cy="767"/>
          </a:xfrm>
        </p:grpSpPr>
        <p:sp>
          <p:nvSpPr>
            <p:cNvPr id="12299" name="Rectangle 11"/>
            <p:cNvSpPr>
              <a:spLocks noChangeArrowheads="1"/>
            </p:cNvSpPr>
            <p:nvPr/>
          </p:nvSpPr>
          <p:spPr bwMode="auto">
            <a:xfrm>
              <a:off x="2104" y="785"/>
              <a:ext cx="576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12300" name="Rectangle 12"/>
            <p:cNvSpPr>
              <a:spLocks noChangeArrowheads="1"/>
            </p:cNvSpPr>
            <p:nvPr/>
          </p:nvSpPr>
          <p:spPr bwMode="auto">
            <a:xfrm>
              <a:off x="2104" y="913"/>
              <a:ext cx="576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12301" name="Rectangle 13"/>
            <p:cNvSpPr>
              <a:spLocks noChangeArrowheads="1"/>
            </p:cNvSpPr>
            <p:nvPr/>
          </p:nvSpPr>
          <p:spPr bwMode="auto">
            <a:xfrm>
              <a:off x="2104" y="1041"/>
              <a:ext cx="576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12302" name="Rectangle 14"/>
            <p:cNvSpPr>
              <a:spLocks noChangeArrowheads="1"/>
            </p:cNvSpPr>
            <p:nvPr/>
          </p:nvSpPr>
          <p:spPr bwMode="auto">
            <a:xfrm>
              <a:off x="2104" y="1169"/>
              <a:ext cx="576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12303" name="Rectangle 15"/>
            <p:cNvSpPr>
              <a:spLocks noChangeArrowheads="1"/>
            </p:cNvSpPr>
            <p:nvPr/>
          </p:nvSpPr>
          <p:spPr bwMode="auto">
            <a:xfrm>
              <a:off x="2104" y="1297"/>
              <a:ext cx="576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 sz="16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12304" name="Rectangle 16"/>
            <p:cNvSpPr>
              <a:spLocks noChangeArrowheads="1"/>
            </p:cNvSpPr>
            <p:nvPr/>
          </p:nvSpPr>
          <p:spPr bwMode="auto">
            <a:xfrm>
              <a:off x="2104" y="1425"/>
              <a:ext cx="576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r>
                <a:rPr lang="en-US" sz="1600" dirty="0">
                  <a:solidFill>
                    <a:schemeClr val="tx1"/>
                  </a:solidFill>
                  <a:cs typeface="Arial" pitchFamily="34" charset="0"/>
                </a:rPr>
                <a:t>MUL.D F2,F1,F4</a:t>
              </a:r>
            </a:p>
          </p:txBody>
        </p:sp>
      </p:grpSp>
      <p:grpSp>
        <p:nvGrpSpPr>
          <p:cNvPr id="39941" name="Group 17"/>
          <p:cNvGrpSpPr>
            <a:grpSpLocks/>
          </p:cNvGrpSpPr>
          <p:nvPr/>
        </p:nvGrpSpPr>
        <p:grpSpPr bwMode="auto">
          <a:xfrm>
            <a:off x="6159500" y="1474788"/>
            <a:ext cx="2208213" cy="811212"/>
            <a:chOff x="3256" y="929"/>
            <a:chExt cx="1391" cy="511"/>
          </a:xfrm>
        </p:grpSpPr>
        <p:sp>
          <p:nvSpPr>
            <p:cNvPr id="12306" name="Rectangle 18"/>
            <p:cNvSpPr>
              <a:spLocks noChangeArrowheads="1"/>
            </p:cNvSpPr>
            <p:nvPr/>
          </p:nvSpPr>
          <p:spPr bwMode="auto">
            <a:xfrm>
              <a:off x="3256" y="929"/>
              <a:ext cx="1392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12307" name="Rectangle 19"/>
            <p:cNvSpPr>
              <a:spLocks noChangeArrowheads="1"/>
            </p:cNvSpPr>
            <p:nvPr/>
          </p:nvSpPr>
          <p:spPr bwMode="auto">
            <a:xfrm>
              <a:off x="3256" y="1057"/>
              <a:ext cx="1392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12308" name="Rectangle 20"/>
            <p:cNvSpPr>
              <a:spLocks noChangeArrowheads="1"/>
            </p:cNvSpPr>
            <p:nvPr/>
          </p:nvSpPr>
          <p:spPr bwMode="auto">
            <a:xfrm>
              <a:off x="3256" y="1185"/>
              <a:ext cx="1392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12309" name="Rectangle 21"/>
            <p:cNvSpPr>
              <a:spLocks noChangeArrowheads="1"/>
            </p:cNvSpPr>
            <p:nvPr/>
          </p:nvSpPr>
          <p:spPr bwMode="auto">
            <a:xfrm>
              <a:off x="3256" y="1313"/>
              <a:ext cx="1392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</p:grpSp>
      <p:sp>
        <p:nvSpPr>
          <p:cNvPr id="39942" name="Freeform 43"/>
          <p:cNvSpPr>
            <a:spLocks/>
          </p:cNvSpPr>
          <p:nvPr/>
        </p:nvSpPr>
        <p:spPr bwMode="auto">
          <a:xfrm>
            <a:off x="2806700" y="2465388"/>
            <a:ext cx="1981200" cy="1447800"/>
          </a:xfrm>
          <a:custGeom>
            <a:avLst/>
            <a:gdLst>
              <a:gd name="T0" fmla="*/ 2147483647 w 1248"/>
              <a:gd name="T1" fmla="*/ 0 h 912"/>
              <a:gd name="T2" fmla="*/ 2147483647 w 1248"/>
              <a:gd name="T3" fmla="*/ 2147483647 h 912"/>
              <a:gd name="T4" fmla="*/ 0 w 1248"/>
              <a:gd name="T5" fmla="*/ 2147483647 h 912"/>
              <a:gd name="T6" fmla="*/ 0 w 1248"/>
              <a:gd name="T7" fmla="*/ 2147483647 h 912"/>
              <a:gd name="T8" fmla="*/ 0 60000 65536"/>
              <a:gd name="T9" fmla="*/ 0 60000 65536"/>
              <a:gd name="T10" fmla="*/ 0 60000 65536"/>
              <a:gd name="T11" fmla="*/ 0 60000 65536"/>
              <a:gd name="T12" fmla="*/ 0 w 1248"/>
              <a:gd name="T13" fmla="*/ 0 h 912"/>
              <a:gd name="T14" fmla="*/ 1248 w 1248"/>
              <a:gd name="T15" fmla="*/ 912 h 9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48" h="912">
                <a:moveTo>
                  <a:pt x="1248" y="0"/>
                </a:moveTo>
                <a:lnTo>
                  <a:pt x="1248" y="672"/>
                </a:lnTo>
                <a:lnTo>
                  <a:pt x="0" y="672"/>
                </a:lnTo>
                <a:lnTo>
                  <a:pt x="0" y="912"/>
                </a:lnTo>
              </a:path>
            </a:pathLst>
          </a:custGeom>
          <a:noFill/>
          <a:ln w="2844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9943" name="Freeform 45"/>
          <p:cNvSpPr>
            <a:spLocks/>
          </p:cNvSpPr>
          <p:nvPr/>
        </p:nvSpPr>
        <p:spPr bwMode="auto">
          <a:xfrm>
            <a:off x="3103563" y="2312988"/>
            <a:ext cx="3225800" cy="1600200"/>
          </a:xfrm>
          <a:custGeom>
            <a:avLst/>
            <a:gdLst>
              <a:gd name="T0" fmla="*/ 2147483647 w 1968"/>
              <a:gd name="T1" fmla="*/ 0 h 1008"/>
              <a:gd name="T2" fmla="*/ 2147483647 w 1968"/>
              <a:gd name="T3" fmla="*/ 2147483647 h 1008"/>
              <a:gd name="T4" fmla="*/ 0 w 1968"/>
              <a:gd name="T5" fmla="*/ 2147483647 h 1008"/>
              <a:gd name="T6" fmla="*/ 0 w 1968"/>
              <a:gd name="T7" fmla="*/ 2147483647 h 1008"/>
              <a:gd name="T8" fmla="*/ 0 60000 65536"/>
              <a:gd name="T9" fmla="*/ 0 60000 65536"/>
              <a:gd name="T10" fmla="*/ 0 60000 65536"/>
              <a:gd name="T11" fmla="*/ 0 60000 65536"/>
              <a:gd name="T12" fmla="*/ 0 w 1968"/>
              <a:gd name="T13" fmla="*/ 0 h 1008"/>
              <a:gd name="T14" fmla="*/ 1968 w 1968"/>
              <a:gd name="T15" fmla="*/ 1008 h 10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68" h="1008">
                <a:moveTo>
                  <a:pt x="1968" y="0"/>
                </a:moveTo>
                <a:lnTo>
                  <a:pt x="1968" y="528"/>
                </a:lnTo>
                <a:lnTo>
                  <a:pt x="0" y="528"/>
                </a:lnTo>
                <a:lnTo>
                  <a:pt x="0" y="1008"/>
                </a:lnTo>
              </a:path>
            </a:pathLst>
          </a:custGeom>
          <a:noFill/>
          <a:ln w="2844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9944" name="Line 47"/>
          <p:cNvSpPr>
            <a:spLocks noChangeShapeType="1"/>
          </p:cNvSpPr>
          <p:nvPr/>
        </p:nvSpPr>
        <p:spPr bwMode="auto">
          <a:xfrm>
            <a:off x="7562850" y="2312988"/>
            <a:ext cx="1588" cy="1752600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39945" name="Line 50"/>
          <p:cNvSpPr>
            <a:spLocks noChangeShapeType="1"/>
          </p:cNvSpPr>
          <p:nvPr/>
        </p:nvSpPr>
        <p:spPr bwMode="auto">
          <a:xfrm>
            <a:off x="3759200" y="6019800"/>
            <a:ext cx="5130800" cy="25400"/>
          </a:xfrm>
          <a:prstGeom prst="line">
            <a:avLst/>
          </a:prstGeom>
          <a:noFill/>
          <a:ln w="57240">
            <a:solidFill>
              <a:srgbClr val="009999"/>
            </a:solidFill>
            <a:miter lim="800000"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9946" name="Freeform 52"/>
          <p:cNvSpPr>
            <a:spLocks/>
          </p:cNvSpPr>
          <p:nvPr/>
        </p:nvSpPr>
        <p:spPr bwMode="auto">
          <a:xfrm>
            <a:off x="8429625" y="1844675"/>
            <a:ext cx="447675" cy="4191000"/>
          </a:xfrm>
          <a:custGeom>
            <a:avLst/>
            <a:gdLst>
              <a:gd name="T0" fmla="*/ 2147483647 w 960"/>
              <a:gd name="T1" fmla="*/ 2147483647 h 2448"/>
              <a:gd name="T2" fmla="*/ 2147483647 w 960"/>
              <a:gd name="T3" fmla="*/ 0 h 2448"/>
              <a:gd name="T4" fmla="*/ 0 w 960"/>
              <a:gd name="T5" fmla="*/ 0 h 2448"/>
              <a:gd name="T6" fmla="*/ 0 60000 65536"/>
              <a:gd name="T7" fmla="*/ 0 60000 65536"/>
              <a:gd name="T8" fmla="*/ 0 60000 65536"/>
              <a:gd name="T9" fmla="*/ 0 w 960"/>
              <a:gd name="T10" fmla="*/ 0 h 2448"/>
              <a:gd name="T11" fmla="*/ 960 w 960"/>
              <a:gd name="T12" fmla="*/ 2448 h 24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0" h="2448">
                <a:moveTo>
                  <a:pt x="960" y="2448"/>
                </a:moveTo>
                <a:lnTo>
                  <a:pt x="960" y="0"/>
                </a:lnTo>
                <a:lnTo>
                  <a:pt x="0" y="0"/>
                </a:lnTo>
              </a:path>
            </a:pathLst>
          </a:custGeom>
          <a:noFill/>
          <a:ln w="57240">
            <a:solidFill>
              <a:srgbClr val="009999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9947" name="Line 54"/>
          <p:cNvSpPr>
            <a:spLocks noChangeShapeType="1"/>
          </p:cNvSpPr>
          <p:nvPr/>
        </p:nvSpPr>
        <p:spPr bwMode="auto">
          <a:xfrm>
            <a:off x="7050088" y="5349875"/>
            <a:ext cx="1587" cy="685800"/>
          </a:xfrm>
          <a:prstGeom prst="line">
            <a:avLst/>
          </a:prstGeom>
          <a:noFill/>
          <a:ln w="57240">
            <a:solidFill>
              <a:srgbClr val="009999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39948" name="Line 55"/>
          <p:cNvSpPr>
            <a:spLocks noChangeShapeType="1"/>
          </p:cNvSpPr>
          <p:nvPr/>
        </p:nvSpPr>
        <p:spPr bwMode="auto">
          <a:xfrm>
            <a:off x="3773488" y="5349875"/>
            <a:ext cx="1587" cy="685800"/>
          </a:xfrm>
          <a:prstGeom prst="line">
            <a:avLst/>
          </a:prstGeom>
          <a:noFill/>
          <a:ln w="57240">
            <a:solidFill>
              <a:srgbClr val="009999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39949" name="Text Box 58"/>
          <p:cNvSpPr txBox="1">
            <a:spLocks noChangeArrowheads="1"/>
          </p:cNvSpPr>
          <p:nvPr/>
        </p:nvSpPr>
        <p:spPr bwMode="auto">
          <a:xfrm>
            <a:off x="6408738" y="1155700"/>
            <a:ext cx="1589087" cy="371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100000"/>
              </a:lnSpc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cs typeface="Arial" pitchFamily="34" charset="0"/>
              </a:rPr>
              <a:t>FP Registers</a:t>
            </a:r>
          </a:p>
        </p:txBody>
      </p:sp>
      <p:sp>
        <p:nvSpPr>
          <p:cNvPr id="39950" name="Line 61"/>
          <p:cNvSpPr>
            <a:spLocks noChangeShapeType="1"/>
          </p:cNvSpPr>
          <p:nvPr/>
        </p:nvSpPr>
        <p:spPr bwMode="auto">
          <a:xfrm flipH="1" flipV="1">
            <a:off x="4524375" y="4583113"/>
            <a:ext cx="11113" cy="1454150"/>
          </a:xfrm>
          <a:prstGeom prst="line">
            <a:avLst/>
          </a:prstGeom>
          <a:noFill/>
          <a:ln w="57240">
            <a:solidFill>
              <a:srgbClr val="009999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39951" name="Line 62"/>
          <p:cNvSpPr>
            <a:spLocks noChangeShapeType="1"/>
          </p:cNvSpPr>
          <p:nvPr/>
        </p:nvSpPr>
        <p:spPr bwMode="auto">
          <a:xfrm flipH="1" flipV="1">
            <a:off x="7885113" y="4497388"/>
            <a:ext cx="3175" cy="1539875"/>
          </a:xfrm>
          <a:prstGeom prst="line">
            <a:avLst/>
          </a:prstGeom>
          <a:noFill/>
          <a:ln w="57240">
            <a:solidFill>
              <a:srgbClr val="009999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39952" name="Text Box 63"/>
          <p:cNvSpPr txBox="1">
            <a:spLocks noChangeArrowheads="1"/>
          </p:cNvSpPr>
          <p:nvPr/>
        </p:nvSpPr>
        <p:spPr bwMode="auto">
          <a:xfrm>
            <a:off x="4411663" y="6043613"/>
            <a:ext cx="2965450" cy="371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100000"/>
              </a:lnSpc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cs typeface="Arial" pitchFamily="34" charset="0"/>
              </a:rPr>
              <a:t>Common Data Bus (CDB)</a:t>
            </a:r>
            <a:r>
              <a:rPr lang="ar-SA" sz="1800" b="1">
                <a:solidFill>
                  <a:srgbClr val="000000"/>
                </a:solidFill>
                <a:cs typeface="Arial" pitchFamily="34" charset="0"/>
              </a:rPr>
              <a:t>‏</a:t>
            </a:r>
            <a:endParaRPr lang="en-GB" sz="1800" b="1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39953" name="Text Box 65"/>
          <p:cNvSpPr txBox="1">
            <a:spLocks noChangeArrowheads="1"/>
          </p:cNvSpPr>
          <p:nvPr/>
        </p:nvSpPr>
        <p:spPr bwMode="auto">
          <a:xfrm>
            <a:off x="2901950" y="1219200"/>
            <a:ext cx="900113" cy="64928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100000"/>
              </a:lnSpc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cs typeface="Arial" pitchFamily="34" charset="0"/>
              </a:rPr>
              <a:t>FP Op</a:t>
            </a:r>
          </a:p>
          <a:p>
            <a:pPr algn="ctr">
              <a:lnSpc>
                <a:spcPct val="100000"/>
              </a:lnSpc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cs typeface="Arial" pitchFamily="34" charset="0"/>
              </a:rPr>
              <a:t>Queue</a:t>
            </a:r>
          </a:p>
        </p:txBody>
      </p:sp>
      <p:sp>
        <p:nvSpPr>
          <p:cNvPr id="39954" name="Rectangle 36"/>
          <p:cNvSpPr>
            <a:spLocks noChangeArrowheads="1"/>
          </p:cNvSpPr>
          <p:nvPr/>
        </p:nvSpPr>
        <p:spPr bwMode="auto">
          <a:xfrm>
            <a:off x="6156325" y="1470025"/>
            <a:ext cx="481013" cy="815975"/>
          </a:xfrm>
          <a:prstGeom prst="rect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cs typeface="Arial" pitchFamily="34" charset="0"/>
            </a:endParaRPr>
          </a:p>
        </p:txBody>
      </p:sp>
      <p:sp>
        <p:nvSpPr>
          <p:cNvPr id="39955" name="TextBox 88"/>
          <p:cNvSpPr txBox="1">
            <a:spLocks noChangeArrowheads="1"/>
          </p:cNvSpPr>
          <p:nvPr/>
        </p:nvSpPr>
        <p:spPr bwMode="auto">
          <a:xfrm>
            <a:off x="0" y="1206500"/>
            <a:ext cx="2824163" cy="1122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 u="sng">
                <a:solidFill>
                  <a:schemeClr val="tx1"/>
                </a:solidFill>
              </a:rPr>
              <a:t>Program:</a:t>
            </a:r>
          </a:p>
          <a:p>
            <a:r>
              <a:rPr lang="en-CA" b="1">
                <a:solidFill>
                  <a:srgbClr val="0000FF"/>
                </a:solidFill>
              </a:rPr>
              <a:t>ADD.D  F1,F2,F1</a:t>
            </a:r>
          </a:p>
          <a:p>
            <a:r>
              <a:rPr lang="en-CA">
                <a:solidFill>
                  <a:schemeClr val="tx1"/>
                </a:solidFill>
              </a:rPr>
              <a:t>MUL.D  F2,F1,F4</a:t>
            </a:r>
          </a:p>
        </p:txBody>
      </p:sp>
      <p:sp>
        <p:nvSpPr>
          <p:cNvPr id="39956" name="TextBox 89"/>
          <p:cNvSpPr txBox="1">
            <a:spLocks noChangeArrowheads="1"/>
          </p:cNvSpPr>
          <p:nvPr/>
        </p:nvSpPr>
        <p:spPr bwMode="auto">
          <a:xfrm>
            <a:off x="0" y="6421438"/>
            <a:ext cx="9144000" cy="407987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 sz="2200" b="1">
                <a:solidFill>
                  <a:srgbClr val="0000FF"/>
                </a:solidFill>
              </a:rPr>
              <a:t>Cycle 2b:  F1 “renamed” to “ADD1” (in “register result status”)</a:t>
            </a:r>
          </a:p>
        </p:txBody>
      </p:sp>
      <p:sp>
        <p:nvSpPr>
          <p:cNvPr id="39957" name="TextBox 90"/>
          <p:cNvSpPr txBox="1">
            <a:spLocks noChangeArrowheads="1"/>
          </p:cNvSpPr>
          <p:nvPr/>
        </p:nvSpPr>
        <p:spPr bwMode="auto">
          <a:xfrm>
            <a:off x="5764213" y="1420813"/>
            <a:ext cx="392112" cy="893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CA" sz="1400">
                <a:solidFill>
                  <a:schemeClr val="tx1"/>
                </a:solidFill>
              </a:rPr>
              <a:t>F1</a:t>
            </a:r>
          </a:p>
          <a:p>
            <a:r>
              <a:rPr lang="en-CA" sz="1400">
                <a:solidFill>
                  <a:schemeClr val="tx1"/>
                </a:solidFill>
              </a:rPr>
              <a:t>F2</a:t>
            </a:r>
          </a:p>
          <a:p>
            <a:r>
              <a:rPr lang="en-CA" sz="1400">
                <a:solidFill>
                  <a:schemeClr val="tx1"/>
                </a:solidFill>
              </a:rPr>
              <a:t>F3</a:t>
            </a:r>
          </a:p>
          <a:p>
            <a:r>
              <a:rPr lang="en-CA" sz="1400">
                <a:solidFill>
                  <a:schemeClr val="tx1"/>
                </a:solidFill>
              </a:rPr>
              <a:t>F4</a:t>
            </a:r>
          </a:p>
        </p:txBody>
      </p:sp>
      <p:sp>
        <p:nvSpPr>
          <p:cNvPr id="39958" name="TextBox 66"/>
          <p:cNvSpPr txBox="1">
            <a:spLocks noChangeArrowheads="1"/>
          </p:cNvSpPr>
          <p:nvPr/>
        </p:nvSpPr>
        <p:spPr bwMode="auto">
          <a:xfrm>
            <a:off x="6073775" y="1420813"/>
            <a:ext cx="674688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CA" sz="1400" b="1">
                <a:solidFill>
                  <a:srgbClr val="0000FF"/>
                </a:solidFill>
              </a:rPr>
              <a:t>ADD1</a:t>
            </a:r>
          </a:p>
        </p:txBody>
      </p:sp>
      <p:grpSp>
        <p:nvGrpSpPr>
          <p:cNvPr id="39959" name="Group 26"/>
          <p:cNvGrpSpPr>
            <a:grpSpLocks/>
          </p:cNvGrpSpPr>
          <p:nvPr/>
        </p:nvGrpSpPr>
        <p:grpSpPr bwMode="auto">
          <a:xfrm>
            <a:off x="2187575" y="3913188"/>
            <a:ext cx="2689225" cy="608012"/>
            <a:chOff x="1057" y="2465"/>
            <a:chExt cx="1391" cy="383"/>
          </a:xfrm>
        </p:grpSpPr>
        <p:sp>
          <p:nvSpPr>
            <p:cNvPr id="70" name="Rectangle 27"/>
            <p:cNvSpPr>
              <a:spLocks noChangeArrowheads="1"/>
            </p:cNvSpPr>
            <p:nvPr/>
          </p:nvSpPr>
          <p:spPr bwMode="auto">
            <a:xfrm>
              <a:off x="1057" y="2465"/>
              <a:ext cx="1392" cy="128"/>
            </a:xfrm>
            <a:prstGeom prst="rect">
              <a:avLst/>
            </a:prstGeom>
            <a:solidFill>
              <a:srgbClr val="BBE0E3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71" name="Rectangle 28"/>
            <p:cNvSpPr>
              <a:spLocks noChangeArrowheads="1"/>
            </p:cNvSpPr>
            <p:nvPr/>
          </p:nvSpPr>
          <p:spPr bwMode="auto">
            <a:xfrm>
              <a:off x="1057" y="2593"/>
              <a:ext cx="1392" cy="128"/>
            </a:xfrm>
            <a:prstGeom prst="rect">
              <a:avLst/>
            </a:prstGeom>
            <a:solidFill>
              <a:srgbClr val="BBE0E3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72" name="Rectangle 29"/>
            <p:cNvSpPr>
              <a:spLocks noChangeArrowheads="1"/>
            </p:cNvSpPr>
            <p:nvPr/>
          </p:nvSpPr>
          <p:spPr bwMode="auto">
            <a:xfrm>
              <a:off x="1057" y="2721"/>
              <a:ext cx="1392" cy="128"/>
            </a:xfrm>
            <a:prstGeom prst="rect">
              <a:avLst/>
            </a:prstGeom>
            <a:solidFill>
              <a:srgbClr val="BBE0E3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</p:grpSp>
      <p:sp>
        <p:nvSpPr>
          <p:cNvPr id="39960" name="Rectangle 30"/>
          <p:cNvSpPr>
            <a:spLocks noChangeArrowheads="1"/>
          </p:cNvSpPr>
          <p:nvPr/>
        </p:nvSpPr>
        <p:spPr bwMode="auto">
          <a:xfrm>
            <a:off x="3011488" y="3913188"/>
            <a:ext cx="336550" cy="609600"/>
          </a:xfrm>
          <a:prstGeom prst="rect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cs typeface="Arial" pitchFamily="34" charset="0"/>
            </a:endParaRPr>
          </a:p>
        </p:txBody>
      </p:sp>
      <p:sp>
        <p:nvSpPr>
          <p:cNvPr id="74" name="Rectangle 31"/>
          <p:cNvSpPr>
            <a:spLocks noChangeArrowheads="1"/>
          </p:cNvSpPr>
          <p:nvPr/>
        </p:nvSpPr>
        <p:spPr bwMode="auto">
          <a:xfrm>
            <a:off x="3240088" y="5056188"/>
            <a:ext cx="1066800" cy="304800"/>
          </a:xfrm>
          <a:prstGeom prst="rect">
            <a:avLst/>
          </a:prstGeom>
          <a:solidFill>
            <a:srgbClr val="BBE0E3"/>
          </a:solidFill>
          <a:ln w="28440">
            <a:solidFill>
              <a:srgbClr val="000000"/>
            </a:solidFill>
            <a:miter lim="800000"/>
            <a:headEnd/>
            <a:tailEnd/>
          </a:ln>
          <a:effectLst>
            <a:outerShdw blurRad="63500" dist="107933" dir="2700000" algn="ctr" rotWithShape="0">
              <a:srgbClr val="000000">
                <a:alpha val="74998"/>
              </a:srgbClr>
            </a:outerShdw>
          </a:effectLst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600" b="1">
                <a:solidFill>
                  <a:srgbClr val="000000"/>
                </a:solidFill>
                <a:cs typeface="Arial" pitchFamily="34" charset="0"/>
              </a:rPr>
              <a:t>FP adders</a:t>
            </a:r>
          </a:p>
        </p:txBody>
      </p:sp>
      <p:sp>
        <p:nvSpPr>
          <p:cNvPr id="39962" name="Text Box 32"/>
          <p:cNvSpPr txBox="1">
            <a:spLocks noChangeArrowheads="1"/>
          </p:cNvSpPr>
          <p:nvPr/>
        </p:nvSpPr>
        <p:spPr bwMode="auto">
          <a:xfrm>
            <a:off x="1401763" y="3902075"/>
            <a:ext cx="628650" cy="719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100000"/>
              </a:lnSpc>
              <a:buClr>
                <a:srgbClr val="009999"/>
              </a:buClr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009999"/>
                </a:solidFill>
                <a:cs typeface="Arial" pitchFamily="34" charset="0"/>
              </a:rPr>
              <a:t>Add1</a:t>
            </a:r>
          </a:p>
          <a:p>
            <a:pPr algn="ctr">
              <a:lnSpc>
                <a:spcPct val="100000"/>
              </a:lnSpc>
              <a:buClr>
                <a:srgbClr val="009999"/>
              </a:buClr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009999"/>
                </a:solidFill>
                <a:cs typeface="Arial" pitchFamily="34" charset="0"/>
              </a:rPr>
              <a:t>Add2</a:t>
            </a:r>
          </a:p>
          <a:p>
            <a:pPr algn="ctr">
              <a:lnSpc>
                <a:spcPct val="90000"/>
              </a:lnSpc>
              <a:buClr>
                <a:srgbClr val="009999"/>
              </a:buClr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009999"/>
                </a:solidFill>
                <a:cs typeface="Arial" pitchFamily="34" charset="0"/>
              </a:rPr>
              <a:t>Add3</a:t>
            </a:r>
          </a:p>
        </p:txBody>
      </p:sp>
      <p:grpSp>
        <p:nvGrpSpPr>
          <p:cNvPr id="39963" name="Group 33"/>
          <p:cNvGrpSpPr>
            <a:grpSpLocks/>
          </p:cNvGrpSpPr>
          <p:nvPr/>
        </p:nvGrpSpPr>
        <p:grpSpPr bwMode="auto">
          <a:xfrm>
            <a:off x="5438775" y="4065588"/>
            <a:ext cx="2625725" cy="366712"/>
            <a:chOff x="2802" y="2561"/>
            <a:chExt cx="1654" cy="231"/>
          </a:xfrm>
        </p:grpSpPr>
        <p:sp>
          <p:nvSpPr>
            <p:cNvPr id="77" name="Rectangle 34"/>
            <p:cNvSpPr>
              <a:spLocks noChangeArrowheads="1"/>
            </p:cNvSpPr>
            <p:nvPr/>
          </p:nvSpPr>
          <p:spPr bwMode="auto">
            <a:xfrm>
              <a:off x="2802" y="2561"/>
              <a:ext cx="1654" cy="114"/>
            </a:xfrm>
            <a:prstGeom prst="rect">
              <a:avLst/>
            </a:prstGeom>
            <a:solidFill>
              <a:srgbClr val="BBE0E3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78" name="Rectangle 35"/>
            <p:cNvSpPr>
              <a:spLocks noChangeArrowheads="1"/>
            </p:cNvSpPr>
            <p:nvPr/>
          </p:nvSpPr>
          <p:spPr bwMode="auto">
            <a:xfrm>
              <a:off x="2802" y="2676"/>
              <a:ext cx="1654" cy="116"/>
            </a:xfrm>
            <a:prstGeom prst="rect">
              <a:avLst/>
            </a:prstGeom>
            <a:solidFill>
              <a:srgbClr val="BBE0E3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</p:grpSp>
      <p:sp>
        <p:nvSpPr>
          <p:cNvPr id="39964" name="Rectangle 36"/>
          <p:cNvSpPr>
            <a:spLocks noChangeArrowheads="1"/>
          </p:cNvSpPr>
          <p:nvPr/>
        </p:nvSpPr>
        <p:spPr bwMode="auto">
          <a:xfrm>
            <a:off x="6208713" y="4065588"/>
            <a:ext cx="439737" cy="373062"/>
          </a:xfrm>
          <a:prstGeom prst="rect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cs typeface="Arial" pitchFamily="34" charset="0"/>
            </a:endParaRPr>
          </a:p>
        </p:txBody>
      </p:sp>
      <p:sp>
        <p:nvSpPr>
          <p:cNvPr id="80" name="Rectangle 37"/>
          <p:cNvSpPr>
            <a:spLocks noChangeArrowheads="1"/>
          </p:cNvSpPr>
          <p:nvPr/>
        </p:nvSpPr>
        <p:spPr bwMode="auto">
          <a:xfrm>
            <a:off x="6311900" y="5056188"/>
            <a:ext cx="1447800" cy="304800"/>
          </a:xfrm>
          <a:prstGeom prst="rect">
            <a:avLst/>
          </a:prstGeom>
          <a:solidFill>
            <a:srgbClr val="BBE0E3"/>
          </a:solidFill>
          <a:ln w="28440">
            <a:solidFill>
              <a:srgbClr val="000000"/>
            </a:solidFill>
            <a:miter lim="800000"/>
            <a:headEnd/>
            <a:tailEnd/>
          </a:ln>
          <a:effectLst>
            <a:outerShdw blurRad="63500" dist="107933" dir="2700000" algn="ctr" rotWithShape="0">
              <a:srgbClr val="000000">
                <a:alpha val="74998"/>
              </a:srgbClr>
            </a:outerShdw>
          </a:effectLst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600" b="1">
                <a:solidFill>
                  <a:srgbClr val="000000"/>
                </a:solidFill>
                <a:cs typeface="Arial" pitchFamily="34" charset="0"/>
              </a:rPr>
              <a:t>FP multipliers</a:t>
            </a:r>
          </a:p>
        </p:txBody>
      </p:sp>
      <p:sp>
        <p:nvSpPr>
          <p:cNvPr id="39966" name="Text Box 38"/>
          <p:cNvSpPr txBox="1">
            <a:spLocks noChangeArrowheads="1"/>
          </p:cNvSpPr>
          <p:nvPr/>
        </p:nvSpPr>
        <p:spPr bwMode="auto">
          <a:xfrm>
            <a:off x="8105775" y="3986213"/>
            <a:ext cx="588963" cy="4810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0000"/>
              </a:lnSpc>
              <a:buClr>
                <a:srgbClr val="009999"/>
              </a:buClr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009999"/>
                </a:solidFill>
                <a:cs typeface="Arial" pitchFamily="34" charset="0"/>
              </a:rPr>
              <a:t>Mul1</a:t>
            </a:r>
          </a:p>
          <a:p>
            <a:pPr algn="ctr">
              <a:lnSpc>
                <a:spcPct val="90000"/>
              </a:lnSpc>
              <a:buClr>
                <a:srgbClr val="009999"/>
              </a:buClr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009999"/>
                </a:solidFill>
                <a:cs typeface="Arial" pitchFamily="34" charset="0"/>
              </a:rPr>
              <a:t>Mul2</a:t>
            </a:r>
          </a:p>
        </p:txBody>
      </p:sp>
      <p:sp>
        <p:nvSpPr>
          <p:cNvPr id="39967" name="Line 39"/>
          <p:cNvSpPr>
            <a:spLocks noChangeShapeType="1"/>
          </p:cNvSpPr>
          <p:nvPr/>
        </p:nvSpPr>
        <p:spPr bwMode="auto">
          <a:xfrm>
            <a:off x="3416300" y="4522788"/>
            <a:ext cx="1588" cy="533400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39968" name="Line 40"/>
          <p:cNvSpPr>
            <a:spLocks noChangeShapeType="1"/>
          </p:cNvSpPr>
          <p:nvPr/>
        </p:nvSpPr>
        <p:spPr bwMode="auto">
          <a:xfrm>
            <a:off x="4102100" y="4522788"/>
            <a:ext cx="1588" cy="533400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39969" name="Line 41"/>
          <p:cNvSpPr>
            <a:spLocks noChangeShapeType="1"/>
          </p:cNvSpPr>
          <p:nvPr/>
        </p:nvSpPr>
        <p:spPr bwMode="auto">
          <a:xfrm>
            <a:off x="6540500" y="4446588"/>
            <a:ext cx="1588" cy="609600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39970" name="Line 42"/>
          <p:cNvSpPr>
            <a:spLocks noChangeShapeType="1"/>
          </p:cNvSpPr>
          <p:nvPr/>
        </p:nvSpPr>
        <p:spPr bwMode="auto">
          <a:xfrm>
            <a:off x="7454900" y="4446588"/>
            <a:ext cx="1588" cy="609600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39971" name="Freeform 44"/>
          <p:cNvSpPr>
            <a:spLocks/>
          </p:cNvSpPr>
          <p:nvPr/>
        </p:nvSpPr>
        <p:spPr bwMode="auto">
          <a:xfrm>
            <a:off x="4787900" y="3532188"/>
            <a:ext cx="1219200" cy="533400"/>
          </a:xfrm>
          <a:custGeom>
            <a:avLst/>
            <a:gdLst>
              <a:gd name="T0" fmla="*/ 0 w 768"/>
              <a:gd name="T1" fmla="*/ 0 h 336"/>
              <a:gd name="T2" fmla="*/ 2147483647 w 768"/>
              <a:gd name="T3" fmla="*/ 0 h 336"/>
              <a:gd name="T4" fmla="*/ 2147483647 w 768"/>
              <a:gd name="T5" fmla="*/ 2147483647 h 336"/>
              <a:gd name="T6" fmla="*/ 0 60000 65536"/>
              <a:gd name="T7" fmla="*/ 0 60000 65536"/>
              <a:gd name="T8" fmla="*/ 0 60000 65536"/>
              <a:gd name="T9" fmla="*/ 0 w 768"/>
              <a:gd name="T10" fmla="*/ 0 h 336"/>
              <a:gd name="T11" fmla="*/ 768 w 768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68" h="336">
                <a:moveTo>
                  <a:pt x="0" y="0"/>
                </a:moveTo>
                <a:lnTo>
                  <a:pt x="768" y="0"/>
                </a:lnTo>
                <a:lnTo>
                  <a:pt x="768" y="336"/>
                </a:lnTo>
              </a:path>
            </a:pathLst>
          </a:custGeom>
          <a:noFill/>
          <a:ln w="2844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9972" name="Line 46"/>
          <p:cNvSpPr>
            <a:spLocks noChangeShapeType="1"/>
          </p:cNvSpPr>
          <p:nvPr/>
        </p:nvSpPr>
        <p:spPr bwMode="auto">
          <a:xfrm>
            <a:off x="6329363" y="3151188"/>
            <a:ext cx="1587" cy="914400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39973" name="Freeform 48"/>
          <p:cNvSpPr>
            <a:spLocks/>
          </p:cNvSpPr>
          <p:nvPr/>
        </p:nvSpPr>
        <p:spPr bwMode="auto">
          <a:xfrm>
            <a:off x="4389438" y="3348038"/>
            <a:ext cx="3162300" cy="565150"/>
          </a:xfrm>
          <a:custGeom>
            <a:avLst/>
            <a:gdLst>
              <a:gd name="T0" fmla="*/ 2147483647 w 1920"/>
              <a:gd name="T1" fmla="*/ 0 h 384"/>
              <a:gd name="T2" fmla="*/ 0 w 1920"/>
              <a:gd name="T3" fmla="*/ 0 h 384"/>
              <a:gd name="T4" fmla="*/ 0 w 1920"/>
              <a:gd name="T5" fmla="*/ 2147483647 h 384"/>
              <a:gd name="T6" fmla="*/ 0 60000 65536"/>
              <a:gd name="T7" fmla="*/ 0 60000 65536"/>
              <a:gd name="T8" fmla="*/ 0 60000 65536"/>
              <a:gd name="T9" fmla="*/ 0 w 1920"/>
              <a:gd name="T10" fmla="*/ 0 h 384"/>
              <a:gd name="T11" fmla="*/ 1920 w 1920"/>
              <a:gd name="T12" fmla="*/ 384 h 3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0" h="384">
                <a:moveTo>
                  <a:pt x="1920" y="0"/>
                </a:moveTo>
                <a:lnTo>
                  <a:pt x="0" y="0"/>
                </a:lnTo>
                <a:lnTo>
                  <a:pt x="0" y="384"/>
                </a:lnTo>
              </a:path>
            </a:pathLst>
          </a:custGeom>
          <a:noFill/>
          <a:ln w="2844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9974" name="Text Box 59"/>
          <p:cNvSpPr txBox="1">
            <a:spLocks noChangeArrowheads="1"/>
          </p:cNvSpPr>
          <p:nvPr/>
        </p:nvSpPr>
        <p:spPr bwMode="auto">
          <a:xfrm>
            <a:off x="4711700" y="4545013"/>
            <a:ext cx="1566863" cy="64928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100000"/>
              </a:lnSpc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cs typeface="Arial" pitchFamily="34" charset="0"/>
              </a:rPr>
              <a:t>Reservation </a:t>
            </a:r>
          </a:p>
          <a:p>
            <a:pPr algn="ctr">
              <a:lnSpc>
                <a:spcPct val="100000"/>
              </a:lnSpc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cs typeface="Arial" pitchFamily="34" charset="0"/>
              </a:rPr>
              <a:t>Stations</a:t>
            </a:r>
          </a:p>
        </p:txBody>
      </p:sp>
      <p:sp>
        <p:nvSpPr>
          <p:cNvPr id="39975" name="Rectangle 30"/>
          <p:cNvSpPr>
            <a:spLocks noChangeArrowheads="1"/>
          </p:cNvSpPr>
          <p:nvPr/>
        </p:nvSpPr>
        <p:spPr bwMode="auto">
          <a:xfrm>
            <a:off x="3929063" y="3916363"/>
            <a:ext cx="322262" cy="609600"/>
          </a:xfrm>
          <a:prstGeom prst="rect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cs typeface="Arial" pitchFamily="34" charset="0"/>
            </a:endParaRPr>
          </a:p>
        </p:txBody>
      </p:sp>
      <p:sp>
        <p:nvSpPr>
          <p:cNvPr id="39976" name="Rectangle 36"/>
          <p:cNvSpPr>
            <a:spLocks noChangeArrowheads="1"/>
          </p:cNvSpPr>
          <p:nvPr/>
        </p:nvSpPr>
        <p:spPr bwMode="auto">
          <a:xfrm>
            <a:off x="7089775" y="4068763"/>
            <a:ext cx="338138" cy="381000"/>
          </a:xfrm>
          <a:prstGeom prst="rect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cs typeface="Arial" pitchFamily="34" charset="0"/>
            </a:endParaRPr>
          </a:p>
        </p:txBody>
      </p:sp>
      <p:sp>
        <p:nvSpPr>
          <p:cNvPr id="39977" name="Line 46"/>
          <p:cNvSpPr>
            <a:spLocks noChangeShapeType="1"/>
          </p:cNvSpPr>
          <p:nvPr/>
        </p:nvSpPr>
        <p:spPr bwMode="auto">
          <a:xfrm>
            <a:off x="6724650" y="3360738"/>
            <a:ext cx="4763" cy="708025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39978" name="Oval 76"/>
          <p:cNvSpPr>
            <a:spLocks noChangeArrowheads="1"/>
          </p:cNvSpPr>
          <p:nvPr/>
        </p:nvSpPr>
        <p:spPr bwMode="auto">
          <a:xfrm>
            <a:off x="4749800" y="3487738"/>
            <a:ext cx="74613" cy="7302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9979" name="Oval 77"/>
          <p:cNvSpPr>
            <a:spLocks noChangeArrowheads="1"/>
          </p:cNvSpPr>
          <p:nvPr/>
        </p:nvSpPr>
        <p:spPr bwMode="auto">
          <a:xfrm>
            <a:off x="6286500" y="3101975"/>
            <a:ext cx="74613" cy="7302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9980" name="Line 46"/>
          <p:cNvSpPr>
            <a:spLocks noChangeShapeType="1"/>
          </p:cNvSpPr>
          <p:nvPr/>
        </p:nvSpPr>
        <p:spPr bwMode="auto">
          <a:xfrm flipH="1">
            <a:off x="4056063" y="3138488"/>
            <a:ext cx="0" cy="765175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39981" name="Oval 79"/>
          <p:cNvSpPr>
            <a:spLocks noChangeArrowheads="1"/>
          </p:cNvSpPr>
          <p:nvPr/>
        </p:nvSpPr>
        <p:spPr bwMode="auto">
          <a:xfrm>
            <a:off x="4011613" y="3121025"/>
            <a:ext cx="76200" cy="7302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9982" name="Freeform 49"/>
          <p:cNvSpPr>
            <a:spLocks/>
          </p:cNvSpPr>
          <p:nvPr/>
        </p:nvSpPr>
        <p:spPr bwMode="auto">
          <a:xfrm>
            <a:off x="6270625" y="3149600"/>
            <a:ext cx="960438" cy="903288"/>
          </a:xfrm>
          <a:custGeom>
            <a:avLst/>
            <a:gdLst>
              <a:gd name="T0" fmla="*/ 0 w 1008"/>
              <a:gd name="T1" fmla="*/ 0 h 144"/>
              <a:gd name="T2" fmla="*/ 2147483647 w 1008"/>
              <a:gd name="T3" fmla="*/ 0 h 144"/>
              <a:gd name="T4" fmla="*/ 2147483647 w 1008"/>
              <a:gd name="T5" fmla="*/ 2147483647 h 144"/>
              <a:gd name="T6" fmla="*/ 0 60000 65536"/>
              <a:gd name="T7" fmla="*/ 0 60000 65536"/>
              <a:gd name="T8" fmla="*/ 0 60000 65536"/>
              <a:gd name="T9" fmla="*/ 0 w 1008"/>
              <a:gd name="T10" fmla="*/ 0 h 144"/>
              <a:gd name="T11" fmla="*/ 1008 w 1008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08" h="144">
                <a:moveTo>
                  <a:pt x="0" y="0"/>
                </a:moveTo>
                <a:lnTo>
                  <a:pt x="1008" y="0"/>
                </a:lnTo>
                <a:lnTo>
                  <a:pt x="1008" y="144"/>
                </a:lnTo>
              </a:path>
            </a:pathLst>
          </a:custGeom>
          <a:noFill/>
          <a:ln w="2844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9983" name="Oval 81"/>
          <p:cNvSpPr>
            <a:spLocks noChangeArrowheads="1"/>
          </p:cNvSpPr>
          <p:nvPr/>
        </p:nvSpPr>
        <p:spPr bwMode="auto">
          <a:xfrm>
            <a:off x="6681788" y="3319463"/>
            <a:ext cx="74612" cy="7302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9984" name="Oval 82"/>
          <p:cNvSpPr>
            <a:spLocks noChangeArrowheads="1"/>
          </p:cNvSpPr>
          <p:nvPr/>
        </p:nvSpPr>
        <p:spPr bwMode="auto">
          <a:xfrm>
            <a:off x="7526338" y="3311525"/>
            <a:ext cx="74612" cy="7302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9985" name="Freeform 48"/>
          <p:cNvSpPr>
            <a:spLocks/>
          </p:cNvSpPr>
          <p:nvPr/>
        </p:nvSpPr>
        <p:spPr bwMode="auto">
          <a:xfrm>
            <a:off x="3529013" y="3352800"/>
            <a:ext cx="922337" cy="563563"/>
          </a:xfrm>
          <a:custGeom>
            <a:avLst/>
            <a:gdLst>
              <a:gd name="T0" fmla="*/ 2147483647 w 1920"/>
              <a:gd name="T1" fmla="*/ 0 h 384"/>
              <a:gd name="T2" fmla="*/ 0 w 1920"/>
              <a:gd name="T3" fmla="*/ 0 h 384"/>
              <a:gd name="T4" fmla="*/ 0 w 1920"/>
              <a:gd name="T5" fmla="*/ 2147483647 h 384"/>
              <a:gd name="T6" fmla="*/ 0 60000 65536"/>
              <a:gd name="T7" fmla="*/ 0 60000 65536"/>
              <a:gd name="T8" fmla="*/ 0 60000 65536"/>
              <a:gd name="T9" fmla="*/ 0 w 1920"/>
              <a:gd name="T10" fmla="*/ 0 h 384"/>
              <a:gd name="T11" fmla="*/ 1920 w 1920"/>
              <a:gd name="T12" fmla="*/ 384 h 3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0" h="384">
                <a:moveTo>
                  <a:pt x="1920" y="0"/>
                </a:moveTo>
                <a:lnTo>
                  <a:pt x="0" y="0"/>
                </a:lnTo>
                <a:lnTo>
                  <a:pt x="0" y="384"/>
                </a:lnTo>
              </a:path>
            </a:pathLst>
          </a:custGeom>
          <a:noFill/>
          <a:ln w="2844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9986" name="Oval 85"/>
          <p:cNvSpPr>
            <a:spLocks noChangeArrowheads="1"/>
          </p:cNvSpPr>
          <p:nvPr/>
        </p:nvSpPr>
        <p:spPr bwMode="auto">
          <a:xfrm>
            <a:off x="4346575" y="3306763"/>
            <a:ext cx="74613" cy="7302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9987" name="TextBox 104"/>
          <p:cNvSpPr txBox="1">
            <a:spLocks noChangeArrowheads="1"/>
          </p:cNvSpPr>
          <p:nvPr/>
        </p:nvSpPr>
        <p:spPr bwMode="auto">
          <a:xfrm>
            <a:off x="2187575" y="3870325"/>
            <a:ext cx="2714625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 sz="1400" b="1">
                <a:solidFill>
                  <a:srgbClr val="0000FF"/>
                </a:solidFill>
              </a:rPr>
              <a:t> ADD.D       -   R[F2],   -   R[F1]</a:t>
            </a:r>
          </a:p>
        </p:txBody>
      </p:sp>
      <p:sp>
        <p:nvSpPr>
          <p:cNvPr id="39988" name="TextBox 106"/>
          <p:cNvSpPr txBox="1">
            <a:spLocks noChangeArrowheads="1"/>
          </p:cNvSpPr>
          <p:nvPr/>
        </p:nvSpPr>
        <p:spPr bwMode="auto">
          <a:xfrm>
            <a:off x="6156325" y="1436688"/>
            <a:ext cx="1601788" cy="893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 sz="1400">
                <a:solidFill>
                  <a:schemeClr val="tx1"/>
                </a:solidFill>
              </a:rPr>
              <a:t>                       -</a:t>
            </a:r>
          </a:p>
          <a:p>
            <a:r>
              <a:rPr lang="en-CA" sz="1400">
                <a:solidFill>
                  <a:schemeClr val="tx1"/>
                </a:solidFill>
              </a:rPr>
              <a:t>-                 R[F2]</a:t>
            </a:r>
          </a:p>
          <a:p>
            <a:r>
              <a:rPr lang="en-CA" sz="1400">
                <a:solidFill>
                  <a:schemeClr val="tx1"/>
                </a:solidFill>
              </a:rPr>
              <a:t>-                 R[F3]</a:t>
            </a:r>
          </a:p>
          <a:p>
            <a:r>
              <a:rPr lang="en-CA" sz="1400">
                <a:solidFill>
                  <a:schemeClr val="tx1"/>
                </a:solidFill>
              </a:rPr>
              <a:t>-                 R[F4]</a:t>
            </a:r>
          </a:p>
        </p:txBody>
      </p:sp>
    </p:spTree>
    <p:extLst>
      <p:ext uri="{BB962C8B-B14F-4D97-AF65-F5344CB8AC3E}">
        <p14:creationId xmlns:p14="http://schemas.microsoft.com/office/powerpoint/2010/main" val="26925941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0"/>
            <a:ext cx="8402637" cy="1022350"/>
          </a:xfrm>
        </p:spPr>
        <p:txBody>
          <a:bodyPr lIns="90360" tIns="44280" rIns="90360" bIns="44280"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200">
                <a:latin typeface="Arial  " charset="0"/>
                <a:cs typeface="Arial  " charset="0"/>
              </a:rPr>
              <a:t>Tomasulo Algorithm, Renaming Implemented</a:t>
            </a:r>
          </a:p>
        </p:txBody>
      </p:sp>
      <p:sp>
        <p:nvSpPr>
          <p:cNvPr id="40963" name="Slide Number Placeholder 73"/>
          <p:cNvSpPr>
            <a:spLocks noGrp="1"/>
          </p:cNvSpPr>
          <p:nvPr>
            <p:ph type="sldNum" sz="quarter" idx="12"/>
          </p:nvPr>
        </p:nvSpPr>
        <p:spPr>
          <a:xfrm>
            <a:off x="7240588" y="6402388"/>
            <a:ext cx="1903412" cy="455612"/>
          </a:xfrm>
          <a:noFill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1DB1103-4CA2-48DE-A522-05A0BBC0915F}" type="slidenum">
              <a:rPr lang="en-GB" smtClean="0"/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19</a:t>
            </a:fld>
            <a:r>
              <a:rPr lang="en-GB"/>
              <a:t> </a:t>
            </a:r>
          </a:p>
        </p:txBody>
      </p:sp>
      <p:grpSp>
        <p:nvGrpSpPr>
          <p:cNvPr id="40964" name="Group 10"/>
          <p:cNvGrpSpPr>
            <a:grpSpLocks/>
          </p:cNvGrpSpPr>
          <p:nvPr/>
        </p:nvGrpSpPr>
        <p:grpSpPr bwMode="auto">
          <a:xfrm>
            <a:off x="3824288" y="1246188"/>
            <a:ext cx="1663700" cy="1217612"/>
            <a:chOff x="2104" y="785"/>
            <a:chExt cx="575" cy="767"/>
          </a:xfrm>
        </p:grpSpPr>
        <p:sp>
          <p:nvSpPr>
            <p:cNvPr id="12299" name="Rectangle 11"/>
            <p:cNvSpPr>
              <a:spLocks noChangeArrowheads="1"/>
            </p:cNvSpPr>
            <p:nvPr/>
          </p:nvSpPr>
          <p:spPr bwMode="auto">
            <a:xfrm>
              <a:off x="2104" y="785"/>
              <a:ext cx="576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12300" name="Rectangle 12"/>
            <p:cNvSpPr>
              <a:spLocks noChangeArrowheads="1"/>
            </p:cNvSpPr>
            <p:nvPr/>
          </p:nvSpPr>
          <p:spPr bwMode="auto">
            <a:xfrm>
              <a:off x="2104" y="913"/>
              <a:ext cx="576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12301" name="Rectangle 13"/>
            <p:cNvSpPr>
              <a:spLocks noChangeArrowheads="1"/>
            </p:cNvSpPr>
            <p:nvPr/>
          </p:nvSpPr>
          <p:spPr bwMode="auto">
            <a:xfrm>
              <a:off x="2104" y="1041"/>
              <a:ext cx="576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12302" name="Rectangle 14"/>
            <p:cNvSpPr>
              <a:spLocks noChangeArrowheads="1"/>
            </p:cNvSpPr>
            <p:nvPr/>
          </p:nvSpPr>
          <p:spPr bwMode="auto">
            <a:xfrm>
              <a:off x="2104" y="1169"/>
              <a:ext cx="576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12303" name="Rectangle 15"/>
            <p:cNvSpPr>
              <a:spLocks noChangeArrowheads="1"/>
            </p:cNvSpPr>
            <p:nvPr/>
          </p:nvSpPr>
          <p:spPr bwMode="auto">
            <a:xfrm>
              <a:off x="2104" y="1297"/>
              <a:ext cx="576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 sz="16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12304" name="Rectangle 16"/>
            <p:cNvSpPr>
              <a:spLocks noChangeArrowheads="1"/>
            </p:cNvSpPr>
            <p:nvPr/>
          </p:nvSpPr>
          <p:spPr bwMode="auto">
            <a:xfrm>
              <a:off x="2104" y="1425"/>
              <a:ext cx="576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 sz="16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</p:grpSp>
      <p:grpSp>
        <p:nvGrpSpPr>
          <p:cNvPr id="40965" name="Group 17"/>
          <p:cNvGrpSpPr>
            <a:grpSpLocks/>
          </p:cNvGrpSpPr>
          <p:nvPr/>
        </p:nvGrpSpPr>
        <p:grpSpPr bwMode="auto">
          <a:xfrm>
            <a:off x="6159500" y="1474788"/>
            <a:ext cx="2208213" cy="811212"/>
            <a:chOff x="3256" y="929"/>
            <a:chExt cx="1391" cy="511"/>
          </a:xfrm>
        </p:grpSpPr>
        <p:sp>
          <p:nvSpPr>
            <p:cNvPr id="12306" name="Rectangle 18"/>
            <p:cNvSpPr>
              <a:spLocks noChangeArrowheads="1"/>
            </p:cNvSpPr>
            <p:nvPr/>
          </p:nvSpPr>
          <p:spPr bwMode="auto">
            <a:xfrm>
              <a:off x="3256" y="929"/>
              <a:ext cx="1392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12307" name="Rectangle 19"/>
            <p:cNvSpPr>
              <a:spLocks noChangeArrowheads="1"/>
            </p:cNvSpPr>
            <p:nvPr/>
          </p:nvSpPr>
          <p:spPr bwMode="auto">
            <a:xfrm>
              <a:off x="3256" y="1057"/>
              <a:ext cx="1392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12308" name="Rectangle 20"/>
            <p:cNvSpPr>
              <a:spLocks noChangeArrowheads="1"/>
            </p:cNvSpPr>
            <p:nvPr/>
          </p:nvSpPr>
          <p:spPr bwMode="auto">
            <a:xfrm>
              <a:off x="3256" y="1185"/>
              <a:ext cx="1392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12309" name="Rectangle 21"/>
            <p:cNvSpPr>
              <a:spLocks noChangeArrowheads="1"/>
            </p:cNvSpPr>
            <p:nvPr/>
          </p:nvSpPr>
          <p:spPr bwMode="auto">
            <a:xfrm>
              <a:off x="3256" y="1313"/>
              <a:ext cx="1392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</p:grpSp>
      <p:grpSp>
        <p:nvGrpSpPr>
          <p:cNvPr id="40966" name="Group 26"/>
          <p:cNvGrpSpPr>
            <a:grpSpLocks/>
          </p:cNvGrpSpPr>
          <p:nvPr/>
        </p:nvGrpSpPr>
        <p:grpSpPr bwMode="auto">
          <a:xfrm>
            <a:off x="2187575" y="3913188"/>
            <a:ext cx="2689225" cy="608012"/>
            <a:chOff x="1057" y="2465"/>
            <a:chExt cx="1391" cy="383"/>
          </a:xfrm>
        </p:grpSpPr>
        <p:sp>
          <p:nvSpPr>
            <p:cNvPr id="12315" name="Rectangle 27"/>
            <p:cNvSpPr>
              <a:spLocks noChangeArrowheads="1"/>
            </p:cNvSpPr>
            <p:nvPr/>
          </p:nvSpPr>
          <p:spPr bwMode="auto">
            <a:xfrm>
              <a:off x="1057" y="2465"/>
              <a:ext cx="1392" cy="128"/>
            </a:xfrm>
            <a:prstGeom prst="rect">
              <a:avLst/>
            </a:prstGeom>
            <a:solidFill>
              <a:srgbClr val="BBE0E3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12316" name="Rectangle 28"/>
            <p:cNvSpPr>
              <a:spLocks noChangeArrowheads="1"/>
            </p:cNvSpPr>
            <p:nvPr/>
          </p:nvSpPr>
          <p:spPr bwMode="auto">
            <a:xfrm>
              <a:off x="1057" y="2593"/>
              <a:ext cx="1392" cy="128"/>
            </a:xfrm>
            <a:prstGeom prst="rect">
              <a:avLst/>
            </a:prstGeom>
            <a:solidFill>
              <a:srgbClr val="BBE0E3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12317" name="Rectangle 29"/>
            <p:cNvSpPr>
              <a:spLocks noChangeArrowheads="1"/>
            </p:cNvSpPr>
            <p:nvPr/>
          </p:nvSpPr>
          <p:spPr bwMode="auto">
            <a:xfrm>
              <a:off x="1057" y="2721"/>
              <a:ext cx="1392" cy="128"/>
            </a:xfrm>
            <a:prstGeom prst="rect">
              <a:avLst/>
            </a:prstGeom>
            <a:solidFill>
              <a:srgbClr val="BBE0E3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</p:grpSp>
      <p:sp>
        <p:nvSpPr>
          <p:cNvPr id="40967" name="Rectangle 30"/>
          <p:cNvSpPr>
            <a:spLocks noChangeArrowheads="1"/>
          </p:cNvSpPr>
          <p:nvPr/>
        </p:nvSpPr>
        <p:spPr bwMode="auto">
          <a:xfrm>
            <a:off x="3011488" y="3913188"/>
            <a:ext cx="336550" cy="609600"/>
          </a:xfrm>
          <a:prstGeom prst="rect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cs typeface="Arial" pitchFamily="34" charset="0"/>
            </a:endParaRPr>
          </a:p>
        </p:txBody>
      </p:sp>
      <p:sp>
        <p:nvSpPr>
          <p:cNvPr id="12319" name="Rectangle 31"/>
          <p:cNvSpPr>
            <a:spLocks noChangeArrowheads="1"/>
          </p:cNvSpPr>
          <p:nvPr/>
        </p:nvSpPr>
        <p:spPr bwMode="auto">
          <a:xfrm>
            <a:off x="3240088" y="5056188"/>
            <a:ext cx="1066800" cy="304800"/>
          </a:xfrm>
          <a:prstGeom prst="rect">
            <a:avLst/>
          </a:prstGeom>
          <a:solidFill>
            <a:srgbClr val="BBE0E3"/>
          </a:solidFill>
          <a:ln w="28440">
            <a:solidFill>
              <a:srgbClr val="000000"/>
            </a:solidFill>
            <a:miter lim="800000"/>
            <a:headEnd/>
            <a:tailEnd/>
          </a:ln>
          <a:effectLst>
            <a:outerShdw blurRad="63500" dist="107933" dir="2700000" algn="ctr" rotWithShape="0">
              <a:srgbClr val="000000">
                <a:alpha val="74998"/>
              </a:srgbClr>
            </a:outerShdw>
          </a:effectLst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600" b="1">
                <a:solidFill>
                  <a:srgbClr val="000000"/>
                </a:solidFill>
                <a:cs typeface="Arial" pitchFamily="34" charset="0"/>
              </a:rPr>
              <a:t>FP adders</a:t>
            </a:r>
          </a:p>
        </p:txBody>
      </p:sp>
      <p:sp>
        <p:nvSpPr>
          <p:cNvPr id="40969" name="Text Box 32"/>
          <p:cNvSpPr txBox="1">
            <a:spLocks noChangeArrowheads="1"/>
          </p:cNvSpPr>
          <p:nvPr/>
        </p:nvSpPr>
        <p:spPr bwMode="auto">
          <a:xfrm>
            <a:off x="1401763" y="3902075"/>
            <a:ext cx="628650" cy="719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100000"/>
              </a:lnSpc>
              <a:buClr>
                <a:srgbClr val="009999"/>
              </a:buClr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009999"/>
                </a:solidFill>
                <a:cs typeface="Arial" pitchFamily="34" charset="0"/>
              </a:rPr>
              <a:t>Add1</a:t>
            </a:r>
          </a:p>
          <a:p>
            <a:pPr algn="ctr">
              <a:lnSpc>
                <a:spcPct val="100000"/>
              </a:lnSpc>
              <a:buClr>
                <a:srgbClr val="009999"/>
              </a:buClr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009999"/>
                </a:solidFill>
                <a:cs typeface="Arial" pitchFamily="34" charset="0"/>
              </a:rPr>
              <a:t>Add2</a:t>
            </a:r>
          </a:p>
          <a:p>
            <a:pPr algn="ctr">
              <a:lnSpc>
                <a:spcPct val="90000"/>
              </a:lnSpc>
              <a:buClr>
                <a:srgbClr val="009999"/>
              </a:buClr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009999"/>
                </a:solidFill>
                <a:cs typeface="Arial" pitchFamily="34" charset="0"/>
              </a:rPr>
              <a:t>Add3</a:t>
            </a:r>
          </a:p>
        </p:txBody>
      </p:sp>
      <p:grpSp>
        <p:nvGrpSpPr>
          <p:cNvPr id="40970" name="Group 33"/>
          <p:cNvGrpSpPr>
            <a:grpSpLocks/>
          </p:cNvGrpSpPr>
          <p:nvPr/>
        </p:nvGrpSpPr>
        <p:grpSpPr bwMode="auto">
          <a:xfrm>
            <a:off x="5438775" y="4065588"/>
            <a:ext cx="2625725" cy="366712"/>
            <a:chOff x="2802" y="2561"/>
            <a:chExt cx="1654" cy="231"/>
          </a:xfrm>
        </p:grpSpPr>
        <p:sp>
          <p:nvSpPr>
            <p:cNvPr id="12322" name="Rectangle 34"/>
            <p:cNvSpPr>
              <a:spLocks noChangeArrowheads="1"/>
            </p:cNvSpPr>
            <p:nvPr/>
          </p:nvSpPr>
          <p:spPr bwMode="auto">
            <a:xfrm>
              <a:off x="2802" y="2561"/>
              <a:ext cx="1654" cy="114"/>
            </a:xfrm>
            <a:prstGeom prst="rect">
              <a:avLst/>
            </a:prstGeom>
            <a:solidFill>
              <a:srgbClr val="BBE0E3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12323" name="Rectangle 35"/>
            <p:cNvSpPr>
              <a:spLocks noChangeArrowheads="1"/>
            </p:cNvSpPr>
            <p:nvPr/>
          </p:nvSpPr>
          <p:spPr bwMode="auto">
            <a:xfrm>
              <a:off x="2802" y="2676"/>
              <a:ext cx="1654" cy="116"/>
            </a:xfrm>
            <a:prstGeom prst="rect">
              <a:avLst/>
            </a:prstGeom>
            <a:solidFill>
              <a:srgbClr val="BBE0E3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</p:grpSp>
      <p:sp>
        <p:nvSpPr>
          <p:cNvPr id="40971" name="Rectangle 36"/>
          <p:cNvSpPr>
            <a:spLocks noChangeArrowheads="1"/>
          </p:cNvSpPr>
          <p:nvPr/>
        </p:nvSpPr>
        <p:spPr bwMode="auto">
          <a:xfrm>
            <a:off x="6208713" y="4065588"/>
            <a:ext cx="439737" cy="373062"/>
          </a:xfrm>
          <a:prstGeom prst="rect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cs typeface="Arial" pitchFamily="34" charset="0"/>
            </a:endParaRPr>
          </a:p>
        </p:txBody>
      </p:sp>
      <p:sp>
        <p:nvSpPr>
          <p:cNvPr id="12325" name="Rectangle 37"/>
          <p:cNvSpPr>
            <a:spLocks noChangeArrowheads="1"/>
          </p:cNvSpPr>
          <p:nvPr/>
        </p:nvSpPr>
        <p:spPr bwMode="auto">
          <a:xfrm>
            <a:off x="6311900" y="5056188"/>
            <a:ext cx="1447800" cy="304800"/>
          </a:xfrm>
          <a:prstGeom prst="rect">
            <a:avLst/>
          </a:prstGeom>
          <a:solidFill>
            <a:srgbClr val="BBE0E3"/>
          </a:solidFill>
          <a:ln w="28440">
            <a:solidFill>
              <a:srgbClr val="000000"/>
            </a:solidFill>
            <a:miter lim="800000"/>
            <a:headEnd/>
            <a:tailEnd/>
          </a:ln>
          <a:effectLst>
            <a:outerShdw blurRad="63500" dist="107933" dir="2700000" algn="ctr" rotWithShape="0">
              <a:srgbClr val="000000">
                <a:alpha val="74998"/>
              </a:srgbClr>
            </a:outerShdw>
          </a:effectLst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600" b="1">
                <a:solidFill>
                  <a:srgbClr val="000000"/>
                </a:solidFill>
                <a:cs typeface="Arial" pitchFamily="34" charset="0"/>
              </a:rPr>
              <a:t>FP multipliers</a:t>
            </a:r>
          </a:p>
        </p:txBody>
      </p:sp>
      <p:sp>
        <p:nvSpPr>
          <p:cNvPr id="40973" name="Text Box 38"/>
          <p:cNvSpPr txBox="1">
            <a:spLocks noChangeArrowheads="1"/>
          </p:cNvSpPr>
          <p:nvPr/>
        </p:nvSpPr>
        <p:spPr bwMode="auto">
          <a:xfrm>
            <a:off x="8105775" y="3986213"/>
            <a:ext cx="588963" cy="4810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0000"/>
              </a:lnSpc>
              <a:buClr>
                <a:srgbClr val="009999"/>
              </a:buClr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009999"/>
                </a:solidFill>
                <a:cs typeface="Arial" pitchFamily="34" charset="0"/>
              </a:rPr>
              <a:t>Mul1</a:t>
            </a:r>
          </a:p>
          <a:p>
            <a:pPr algn="ctr">
              <a:lnSpc>
                <a:spcPct val="90000"/>
              </a:lnSpc>
              <a:buClr>
                <a:srgbClr val="009999"/>
              </a:buClr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009999"/>
                </a:solidFill>
                <a:cs typeface="Arial" pitchFamily="34" charset="0"/>
              </a:rPr>
              <a:t>Mul2</a:t>
            </a:r>
          </a:p>
        </p:txBody>
      </p:sp>
      <p:sp>
        <p:nvSpPr>
          <p:cNvPr id="40974" name="Line 39"/>
          <p:cNvSpPr>
            <a:spLocks noChangeShapeType="1"/>
          </p:cNvSpPr>
          <p:nvPr/>
        </p:nvSpPr>
        <p:spPr bwMode="auto">
          <a:xfrm>
            <a:off x="3416300" y="4522788"/>
            <a:ext cx="1588" cy="533400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40975" name="Line 40"/>
          <p:cNvSpPr>
            <a:spLocks noChangeShapeType="1"/>
          </p:cNvSpPr>
          <p:nvPr/>
        </p:nvSpPr>
        <p:spPr bwMode="auto">
          <a:xfrm>
            <a:off x="4102100" y="4522788"/>
            <a:ext cx="1588" cy="533400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40976" name="Line 41"/>
          <p:cNvSpPr>
            <a:spLocks noChangeShapeType="1"/>
          </p:cNvSpPr>
          <p:nvPr/>
        </p:nvSpPr>
        <p:spPr bwMode="auto">
          <a:xfrm>
            <a:off x="6540500" y="4446588"/>
            <a:ext cx="1588" cy="609600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40977" name="Line 42"/>
          <p:cNvSpPr>
            <a:spLocks noChangeShapeType="1"/>
          </p:cNvSpPr>
          <p:nvPr/>
        </p:nvSpPr>
        <p:spPr bwMode="auto">
          <a:xfrm>
            <a:off x="7454900" y="4446588"/>
            <a:ext cx="1588" cy="609600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40978" name="Freeform 43"/>
          <p:cNvSpPr>
            <a:spLocks/>
          </p:cNvSpPr>
          <p:nvPr/>
        </p:nvSpPr>
        <p:spPr bwMode="auto">
          <a:xfrm>
            <a:off x="2806700" y="2465388"/>
            <a:ext cx="1981200" cy="1447800"/>
          </a:xfrm>
          <a:custGeom>
            <a:avLst/>
            <a:gdLst>
              <a:gd name="T0" fmla="*/ 2147483647 w 1248"/>
              <a:gd name="T1" fmla="*/ 0 h 912"/>
              <a:gd name="T2" fmla="*/ 2147483647 w 1248"/>
              <a:gd name="T3" fmla="*/ 2147483647 h 912"/>
              <a:gd name="T4" fmla="*/ 0 w 1248"/>
              <a:gd name="T5" fmla="*/ 2147483647 h 912"/>
              <a:gd name="T6" fmla="*/ 0 w 1248"/>
              <a:gd name="T7" fmla="*/ 2147483647 h 912"/>
              <a:gd name="T8" fmla="*/ 0 60000 65536"/>
              <a:gd name="T9" fmla="*/ 0 60000 65536"/>
              <a:gd name="T10" fmla="*/ 0 60000 65536"/>
              <a:gd name="T11" fmla="*/ 0 60000 65536"/>
              <a:gd name="T12" fmla="*/ 0 w 1248"/>
              <a:gd name="T13" fmla="*/ 0 h 912"/>
              <a:gd name="T14" fmla="*/ 1248 w 1248"/>
              <a:gd name="T15" fmla="*/ 912 h 9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48" h="912">
                <a:moveTo>
                  <a:pt x="1248" y="0"/>
                </a:moveTo>
                <a:lnTo>
                  <a:pt x="1248" y="672"/>
                </a:lnTo>
                <a:lnTo>
                  <a:pt x="0" y="672"/>
                </a:lnTo>
                <a:lnTo>
                  <a:pt x="0" y="912"/>
                </a:lnTo>
              </a:path>
            </a:pathLst>
          </a:custGeom>
          <a:noFill/>
          <a:ln w="2844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40979" name="Freeform 44"/>
          <p:cNvSpPr>
            <a:spLocks/>
          </p:cNvSpPr>
          <p:nvPr/>
        </p:nvSpPr>
        <p:spPr bwMode="auto">
          <a:xfrm>
            <a:off x="4787900" y="3532188"/>
            <a:ext cx="1219200" cy="533400"/>
          </a:xfrm>
          <a:custGeom>
            <a:avLst/>
            <a:gdLst>
              <a:gd name="T0" fmla="*/ 0 w 768"/>
              <a:gd name="T1" fmla="*/ 0 h 336"/>
              <a:gd name="T2" fmla="*/ 2147483647 w 768"/>
              <a:gd name="T3" fmla="*/ 0 h 336"/>
              <a:gd name="T4" fmla="*/ 2147483647 w 768"/>
              <a:gd name="T5" fmla="*/ 2147483647 h 336"/>
              <a:gd name="T6" fmla="*/ 0 60000 65536"/>
              <a:gd name="T7" fmla="*/ 0 60000 65536"/>
              <a:gd name="T8" fmla="*/ 0 60000 65536"/>
              <a:gd name="T9" fmla="*/ 0 w 768"/>
              <a:gd name="T10" fmla="*/ 0 h 336"/>
              <a:gd name="T11" fmla="*/ 768 w 768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68" h="336">
                <a:moveTo>
                  <a:pt x="0" y="0"/>
                </a:moveTo>
                <a:lnTo>
                  <a:pt x="768" y="0"/>
                </a:lnTo>
                <a:lnTo>
                  <a:pt x="768" y="336"/>
                </a:lnTo>
              </a:path>
            </a:pathLst>
          </a:custGeom>
          <a:noFill/>
          <a:ln w="2844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40980" name="Freeform 45"/>
          <p:cNvSpPr>
            <a:spLocks/>
          </p:cNvSpPr>
          <p:nvPr/>
        </p:nvSpPr>
        <p:spPr bwMode="auto">
          <a:xfrm>
            <a:off x="3103563" y="2312988"/>
            <a:ext cx="3225800" cy="1600200"/>
          </a:xfrm>
          <a:custGeom>
            <a:avLst/>
            <a:gdLst>
              <a:gd name="T0" fmla="*/ 2147483647 w 1968"/>
              <a:gd name="T1" fmla="*/ 0 h 1008"/>
              <a:gd name="T2" fmla="*/ 2147483647 w 1968"/>
              <a:gd name="T3" fmla="*/ 2147483647 h 1008"/>
              <a:gd name="T4" fmla="*/ 0 w 1968"/>
              <a:gd name="T5" fmla="*/ 2147483647 h 1008"/>
              <a:gd name="T6" fmla="*/ 0 w 1968"/>
              <a:gd name="T7" fmla="*/ 2147483647 h 1008"/>
              <a:gd name="T8" fmla="*/ 0 60000 65536"/>
              <a:gd name="T9" fmla="*/ 0 60000 65536"/>
              <a:gd name="T10" fmla="*/ 0 60000 65536"/>
              <a:gd name="T11" fmla="*/ 0 60000 65536"/>
              <a:gd name="T12" fmla="*/ 0 w 1968"/>
              <a:gd name="T13" fmla="*/ 0 h 1008"/>
              <a:gd name="T14" fmla="*/ 1968 w 1968"/>
              <a:gd name="T15" fmla="*/ 1008 h 10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68" h="1008">
                <a:moveTo>
                  <a:pt x="1968" y="0"/>
                </a:moveTo>
                <a:lnTo>
                  <a:pt x="1968" y="528"/>
                </a:lnTo>
                <a:lnTo>
                  <a:pt x="0" y="528"/>
                </a:lnTo>
                <a:lnTo>
                  <a:pt x="0" y="1008"/>
                </a:lnTo>
              </a:path>
            </a:pathLst>
          </a:custGeom>
          <a:noFill/>
          <a:ln w="2844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40981" name="Line 46"/>
          <p:cNvSpPr>
            <a:spLocks noChangeShapeType="1"/>
          </p:cNvSpPr>
          <p:nvPr/>
        </p:nvSpPr>
        <p:spPr bwMode="auto">
          <a:xfrm>
            <a:off x="6329363" y="3151188"/>
            <a:ext cx="1587" cy="914400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40982" name="Line 47"/>
          <p:cNvSpPr>
            <a:spLocks noChangeShapeType="1"/>
          </p:cNvSpPr>
          <p:nvPr/>
        </p:nvSpPr>
        <p:spPr bwMode="auto">
          <a:xfrm>
            <a:off x="7562850" y="2312988"/>
            <a:ext cx="1588" cy="1752600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40983" name="Freeform 48"/>
          <p:cNvSpPr>
            <a:spLocks/>
          </p:cNvSpPr>
          <p:nvPr/>
        </p:nvSpPr>
        <p:spPr bwMode="auto">
          <a:xfrm>
            <a:off x="4389438" y="3348038"/>
            <a:ext cx="3162300" cy="565150"/>
          </a:xfrm>
          <a:custGeom>
            <a:avLst/>
            <a:gdLst>
              <a:gd name="T0" fmla="*/ 2147483647 w 1920"/>
              <a:gd name="T1" fmla="*/ 0 h 384"/>
              <a:gd name="T2" fmla="*/ 0 w 1920"/>
              <a:gd name="T3" fmla="*/ 0 h 384"/>
              <a:gd name="T4" fmla="*/ 0 w 1920"/>
              <a:gd name="T5" fmla="*/ 2147483647 h 384"/>
              <a:gd name="T6" fmla="*/ 0 60000 65536"/>
              <a:gd name="T7" fmla="*/ 0 60000 65536"/>
              <a:gd name="T8" fmla="*/ 0 60000 65536"/>
              <a:gd name="T9" fmla="*/ 0 w 1920"/>
              <a:gd name="T10" fmla="*/ 0 h 384"/>
              <a:gd name="T11" fmla="*/ 1920 w 1920"/>
              <a:gd name="T12" fmla="*/ 384 h 3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0" h="384">
                <a:moveTo>
                  <a:pt x="1920" y="0"/>
                </a:moveTo>
                <a:lnTo>
                  <a:pt x="0" y="0"/>
                </a:lnTo>
                <a:lnTo>
                  <a:pt x="0" y="384"/>
                </a:lnTo>
              </a:path>
            </a:pathLst>
          </a:custGeom>
          <a:noFill/>
          <a:ln w="2844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40984" name="Line 50"/>
          <p:cNvSpPr>
            <a:spLocks noChangeShapeType="1"/>
          </p:cNvSpPr>
          <p:nvPr/>
        </p:nvSpPr>
        <p:spPr bwMode="auto">
          <a:xfrm>
            <a:off x="3759200" y="6019800"/>
            <a:ext cx="5130800" cy="25400"/>
          </a:xfrm>
          <a:prstGeom prst="line">
            <a:avLst/>
          </a:prstGeom>
          <a:noFill/>
          <a:ln w="57240">
            <a:solidFill>
              <a:srgbClr val="009999"/>
            </a:solidFill>
            <a:miter lim="800000"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40985" name="Freeform 52"/>
          <p:cNvSpPr>
            <a:spLocks/>
          </p:cNvSpPr>
          <p:nvPr/>
        </p:nvSpPr>
        <p:spPr bwMode="auto">
          <a:xfrm>
            <a:off x="8429625" y="1844675"/>
            <a:ext cx="447675" cy="4191000"/>
          </a:xfrm>
          <a:custGeom>
            <a:avLst/>
            <a:gdLst>
              <a:gd name="T0" fmla="*/ 2147483647 w 960"/>
              <a:gd name="T1" fmla="*/ 2147483647 h 2448"/>
              <a:gd name="T2" fmla="*/ 2147483647 w 960"/>
              <a:gd name="T3" fmla="*/ 0 h 2448"/>
              <a:gd name="T4" fmla="*/ 0 w 960"/>
              <a:gd name="T5" fmla="*/ 0 h 2448"/>
              <a:gd name="T6" fmla="*/ 0 60000 65536"/>
              <a:gd name="T7" fmla="*/ 0 60000 65536"/>
              <a:gd name="T8" fmla="*/ 0 60000 65536"/>
              <a:gd name="T9" fmla="*/ 0 w 960"/>
              <a:gd name="T10" fmla="*/ 0 h 2448"/>
              <a:gd name="T11" fmla="*/ 960 w 960"/>
              <a:gd name="T12" fmla="*/ 2448 h 24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0" h="2448">
                <a:moveTo>
                  <a:pt x="960" y="2448"/>
                </a:moveTo>
                <a:lnTo>
                  <a:pt x="960" y="0"/>
                </a:lnTo>
                <a:lnTo>
                  <a:pt x="0" y="0"/>
                </a:lnTo>
              </a:path>
            </a:pathLst>
          </a:custGeom>
          <a:noFill/>
          <a:ln w="57240">
            <a:solidFill>
              <a:srgbClr val="009999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40986" name="Line 54"/>
          <p:cNvSpPr>
            <a:spLocks noChangeShapeType="1"/>
          </p:cNvSpPr>
          <p:nvPr/>
        </p:nvSpPr>
        <p:spPr bwMode="auto">
          <a:xfrm>
            <a:off x="7050088" y="5349875"/>
            <a:ext cx="1587" cy="685800"/>
          </a:xfrm>
          <a:prstGeom prst="line">
            <a:avLst/>
          </a:prstGeom>
          <a:noFill/>
          <a:ln w="57240">
            <a:solidFill>
              <a:srgbClr val="009999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40987" name="Line 55"/>
          <p:cNvSpPr>
            <a:spLocks noChangeShapeType="1"/>
          </p:cNvSpPr>
          <p:nvPr/>
        </p:nvSpPr>
        <p:spPr bwMode="auto">
          <a:xfrm>
            <a:off x="3773488" y="5349875"/>
            <a:ext cx="1587" cy="685800"/>
          </a:xfrm>
          <a:prstGeom prst="line">
            <a:avLst/>
          </a:prstGeom>
          <a:noFill/>
          <a:ln w="57240">
            <a:solidFill>
              <a:srgbClr val="009999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40988" name="Text Box 58"/>
          <p:cNvSpPr txBox="1">
            <a:spLocks noChangeArrowheads="1"/>
          </p:cNvSpPr>
          <p:nvPr/>
        </p:nvSpPr>
        <p:spPr bwMode="auto">
          <a:xfrm>
            <a:off x="6408738" y="1155700"/>
            <a:ext cx="1589087" cy="371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100000"/>
              </a:lnSpc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cs typeface="Arial" pitchFamily="34" charset="0"/>
              </a:rPr>
              <a:t>FP Registers</a:t>
            </a:r>
          </a:p>
        </p:txBody>
      </p:sp>
      <p:sp>
        <p:nvSpPr>
          <p:cNvPr id="40989" name="Text Box 59"/>
          <p:cNvSpPr txBox="1">
            <a:spLocks noChangeArrowheads="1"/>
          </p:cNvSpPr>
          <p:nvPr/>
        </p:nvSpPr>
        <p:spPr bwMode="auto">
          <a:xfrm>
            <a:off x="4711700" y="4545013"/>
            <a:ext cx="1566863" cy="64928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100000"/>
              </a:lnSpc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cs typeface="Arial" pitchFamily="34" charset="0"/>
              </a:rPr>
              <a:t>Reservation </a:t>
            </a:r>
          </a:p>
          <a:p>
            <a:pPr algn="ctr">
              <a:lnSpc>
                <a:spcPct val="100000"/>
              </a:lnSpc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cs typeface="Arial" pitchFamily="34" charset="0"/>
              </a:rPr>
              <a:t>Stations</a:t>
            </a:r>
          </a:p>
        </p:txBody>
      </p:sp>
      <p:sp>
        <p:nvSpPr>
          <p:cNvPr id="40990" name="Line 60"/>
          <p:cNvSpPr>
            <a:spLocks noChangeShapeType="1"/>
          </p:cNvSpPr>
          <p:nvPr/>
        </p:nvSpPr>
        <p:spPr bwMode="auto">
          <a:xfrm flipV="1">
            <a:off x="4535488" y="4510088"/>
            <a:ext cx="1587" cy="1222375"/>
          </a:xfrm>
          <a:prstGeom prst="line">
            <a:avLst/>
          </a:prstGeom>
          <a:noFill/>
          <a:ln w="38160">
            <a:solidFill>
              <a:srgbClr val="333399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40991" name="Line 61"/>
          <p:cNvSpPr>
            <a:spLocks noChangeShapeType="1"/>
          </p:cNvSpPr>
          <p:nvPr/>
        </p:nvSpPr>
        <p:spPr bwMode="auto">
          <a:xfrm flipH="1" flipV="1">
            <a:off x="4524375" y="4583113"/>
            <a:ext cx="11113" cy="1454150"/>
          </a:xfrm>
          <a:prstGeom prst="line">
            <a:avLst/>
          </a:prstGeom>
          <a:noFill/>
          <a:ln w="57240">
            <a:solidFill>
              <a:srgbClr val="009999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40992" name="Line 62"/>
          <p:cNvSpPr>
            <a:spLocks noChangeShapeType="1"/>
          </p:cNvSpPr>
          <p:nvPr/>
        </p:nvSpPr>
        <p:spPr bwMode="auto">
          <a:xfrm flipH="1" flipV="1">
            <a:off x="7885113" y="4497388"/>
            <a:ext cx="3175" cy="1539875"/>
          </a:xfrm>
          <a:prstGeom prst="line">
            <a:avLst/>
          </a:prstGeom>
          <a:noFill/>
          <a:ln w="57240">
            <a:solidFill>
              <a:srgbClr val="009999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40993" name="Text Box 63"/>
          <p:cNvSpPr txBox="1">
            <a:spLocks noChangeArrowheads="1"/>
          </p:cNvSpPr>
          <p:nvPr/>
        </p:nvSpPr>
        <p:spPr bwMode="auto">
          <a:xfrm>
            <a:off x="4411663" y="6043613"/>
            <a:ext cx="2965450" cy="371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100000"/>
              </a:lnSpc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cs typeface="Arial" pitchFamily="34" charset="0"/>
              </a:rPr>
              <a:t>Common Data Bus (CDB)</a:t>
            </a:r>
            <a:r>
              <a:rPr lang="ar-SA" sz="1800" b="1">
                <a:solidFill>
                  <a:srgbClr val="000000"/>
                </a:solidFill>
                <a:cs typeface="Arial" pitchFamily="34" charset="0"/>
              </a:rPr>
              <a:t>‏</a:t>
            </a:r>
            <a:endParaRPr lang="en-GB" sz="1800" b="1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40994" name="Text Box 65"/>
          <p:cNvSpPr txBox="1">
            <a:spLocks noChangeArrowheads="1"/>
          </p:cNvSpPr>
          <p:nvPr/>
        </p:nvSpPr>
        <p:spPr bwMode="auto">
          <a:xfrm>
            <a:off x="2901950" y="1219200"/>
            <a:ext cx="900113" cy="64928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100000"/>
              </a:lnSpc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cs typeface="Arial" pitchFamily="34" charset="0"/>
              </a:rPr>
              <a:t>FP Op</a:t>
            </a:r>
          </a:p>
          <a:p>
            <a:pPr algn="ctr">
              <a:lnSpc>
                <a:spcPct val="100000"/>
              </a:lnSpc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cs typeface="Arial" pitchFamily="34" charset="0"/>
              </a:rPr>
              <a:t>Queue</a:t>
            </a:r>
          </a:p>
        </p:txBody>
      </p:sp>
      <p:sp>
        <p:nvSpPr>
          <p:cNvPr id="40995" name="Rectangle 30"/>
          <p:cNvSpPr>
            <a:spLocks noChangeArrowheads="1"/>
          </p:cNvSpPr>
          <p:nvPr/>
        </p:nvSpPr>
        <p:spPr bwMode="auto">
          <a:xfrm>
            <a:off x="3929063" y="3916363"/>
            <a:ext cx="322262" cy="609600"/>
          </a:xfrm>
          <a:prstGeom prst="rect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cs typeface="Arial" pitchFamily="34" charset="0"/>
            </a:endParaRPr>
          </a:p>
        </p:txBody>
      </p:sp>
      <p:sp>
        <p:nvSpPr>
          <p:cNvPr id="40996" name="Rectangle 36"/>
          <p:cNvSpPr>
            <a:spLocks noChangeArrowheads="1"/>
          </p:cNvSpPr>
          <p:nvPr/>
        </p:nvSpPr>
        <p:spPr bwMode="auto">
          <a:xfrm>
            <a:off x="7089775" y="4068763"/>
            <a:ext cx="338138" cy="381000"/>
          </a:xfrm>
          <a:prstGeom prst="rect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cs typeface="Arial" pitchFamily="34" charset="0"/>
            </a:endParaRPr>
          </a:p>
        </p:txBody>
      </p:sp>
      <p:sp>
        <p:nvSpPr>
          <p:cNvPr id="40997" name="Rectangle 36"/>
          <p:cNvSpPr>
            <a:spLocks noChangeArrowheads="1"/>
          </p:cNvSpPr>
          <p:nvPr/>
        </p:nvSpPr>
        <p:spPr bwMode="auto">
          <a:xfrm>
            <a:off x="6156325" y="1470025"/>
            <a:ext cx="481013" cy="815975"/>
          </a:xfrm>
          <a:prstGeom prst="rect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cs typeface="Arial" pitchFamily="34" charset="0"/>
            </a:endParaRPr>
          </a:p>
        </p:txBody>
      </p:sp>
      <p:sp>
        <p:nvSpPr>
          <p:cNvPr id="40998" name="Line 46"/>
          <p:cNvSpPr>
            <a:spLocks noChangeShapeType="1"/>
          </p:cNvSpPr>
          <p:nvPr/>
        </p:nvSpPr>
        <p:spPr bwMode="auto">
          <a:xfrm>
            <a:off x="6724650" y="3360738"/>
            <a:ext cx="4763" cy="708025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40999" name="Oval 76"/>
          <p:cNvSpPr>
            <a:spLocks noChangeArrowheads="1"/>
          </p:cNvSpPr>
          <p:nvPr/>
        </p:nvSpPr>
        <p:spPr bwMode="auto">
          <a:xfrm>
            <a:off x="4749800" y="3487738"/>
            <a:ext cx="74613" cy="7302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41000" name="Oval 77"/>
          <p:cNvSpPr>
            <a:spLocks noChangeArrowheads="1"/>
          </p:cNvSpPr>
          <p:nvPr/>
        </p:nvSpPr>
        <p:spPr bwMode="auto">
          <a:xfrm>
            <a:off x="6286500" y="3101975"/>
            <a:ext cx="74613" cy="7302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41001" name="Line 46"/>
          <p:cNvSpPr>
            <a:spLocks noChangeShapeType="1"/>
          </p:cNvSpPr>
          <p:nvPr/>
        </p:nvSpPr>
        <p:spPr bwMode="auto">
          <a:xfrm flipH="1">
            <a:off x="4056063" y="3138488"/>
            <a:ext cx="0" cy="765175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41002" name="Oval 79"/>
          <p:cNvSpPr>
            <a:spLocks noChangeArrowheads="1"/>
          </p:cNvSpPr>
          <p:nvPr/>
        </p:nvSpPr>
        <p:spPr bwMode="auto">
          <a:xfrm>
            <a:off x="4011613" y="3121025"/>
            <a:ext cx="76200" cy="7302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41003" name="Freeform 49"/>
          <p:cNvSpPr>
            <a:spLocks/>
          </p:cNvSpPr>
          <p:nvPr/>
        </p:nvSpPr>
        <p:spPr bwMode="auto">
          <a:xfrm>
            <a:off x="6270625" y="3149600"/>
            <a:ext cx="960438" cy="903288"/>
          </a:xfrm>
          <a:custGeom>
            <a:avLst/>
            <a:gdLst>
              <a:gd name="T0" fmla="*/ 0 w 1008"/>
              <a:gd name="T1" fmla="*/ 0 h 144"/>
              <a:gd name="T2" fmla="*/ 2147483647 w 1008"/>
              <a:gd name="T3" fmla="*/ 0 h 144"/>
              <a:gd name="T4" fmla="*/ 2147483647 w 1008"/>
              <a:gd name="T5" fmla="*/ 2147483647 h 144"/>
              <a:gd name="T6" fmla="*/ 0 60000 65536"/>
              <a:gd name="T7" fmla="*/ 0 60000 65536"/>
              <a:gd name="T8" fmla="*/ 0 60000 65536"/>
              <a:gd name="T9" fmla="*/ 0 w 1008"/>
              <a:gd name="T10" fmla="*/ 0 h 144"/>
              <a:gd name="T11" fmla="*/ 1008 w 1008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08" h="144">
                <a:moveTo>
                  <a:pt x="0" y="0"/>
                </a:moveTo>
                <a:lnTo>
                  <a:pt x="1008" y="0"/>
                </a:lnTo>
                <a:lnTo>
                  <a:pt x="1008" y="144"/>
                </a:lnTo>
              </a:path>
            </a:pathLst>
          </a:custGeom>
          <a:noFill/>
          <a:ln w="2844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41004" name="Oval 81"/>
          <p:cNvSpPr>
            <a:spLocks noChangeArrowheads="1"/>
          </p:cNvSpPr>
          <p:nvPr/>
        </p:nvSpPr>
        <p:spPr bwMode="auto">
          <a:xfrm>
            <a:off x="6681788" y="3319463"/>
            <a:ext cx="74612" cy="7302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41005" name="Oval 82"/>
          <p:cNvSpPr>
            <a:spLocks noChangeArrowheads="1"/>
          </p:cNvSpPr>
          <p:nvPr/>
        </p:nvSpPr>
        <p:spPr bwMode="auto">
          <a:xfrm>
            <a:off x="7526338" y="3311525"/>
            <a:ext cx="74612" cy="7302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41006" name="Freeform 48"/>
          <p:cNvSpPr>
            <a:spLocks/>
          </p:cNvSpPr>
          <p:nvPr/>
        </p:nvSpPr>
        <p:spPr bwMode="auto">
          <a:xfrm>
            <a:off x="3529013" y="3352800"/>
            <a:ext cx="922337" cy="563563"/>
          </a:xfrm>
          <a:custGeom>
            <a:avLst/>
            <a:gdLst>
              <a:gd name="T0" fmla="*/ 2147483647 w 1920"/>
              <a:gd name="T1" fmla="*/ 0 h 384"/>
              <a:gd name="T2" fmla="*/ 0 w 1920"/>
              <a:gd name="T3" fmla="*/ 0 h 384"/>
              <a:gd name="T4" fmla="*/ 0 w 1920"/>
              <a:gd name="T5" fmla="*/ 2147483647 h 384"/>
              <a:gd name="T6" fmla="*/ 0 60000 65536"/>
              <a:gd name="T7" fmla="*/ 0 60000 65536"/>
              <a:gd name="T8" fmla="*/ 0 60000 65536"/>
              <a:gd name="T9" fmla="*/ 0 w 1920"/>
              <a:gd name="T10" fmla="*/ 0 h 384"/>
              <a:gd name="T11" fmla="*/ 1920 w 1920"/>
              <a:gd name="T12" fmla="*/ 384 h 3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0" h="384">
                <a:moveTo>
                  <a:pt x="1920" y="0"/>
                </a:moveTo>
                <a:lnTo>
                  <a:pt x="0" y="0"/>
                </a:lnTo>
                <a:lnTo>
                  <a:pt x="0" y="384"/>
                </a:lnTo>
              </a:path>
            </a:pathLst>
          </a:custGeom>
          <a:noFill/>
          <a:ln w="2844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41007" name="Oval 85"/>
          <p:cNvSpPr>
            <a:spLocks noChangeArrowheads="1"/>
          </p:cNvSpPr>
          <p:nvPr/>
        </p:nvSpPr>
        <p:spPr bwMode="auto">
          <a:xfrm>
            <a:off x="4346575" y="3306763"/>
            <a:ext cx="74613" cy="7302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41008" name="TextBox 88"/>
          <p:cNvSpPr txBox="1">
            <a:spLocks noChangeArrowheads="1"/>
          </p:cNvSpPr>
          <p:nvPr/>
        </p:nvSpPr>
        <p:spPr bwMode="auto">
          <a:xfrm>
            <a:off x="0" y="1206500"/>
            <a:ext cx="2824163" cy="1122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 u="sng">
                <a:solidFill>
                  <a:schemeClr val="tx1"/>
                </a:solidFill>
              </a:rPr>
              <a:t>Program:</a:t>
            </a:r>
          </a:p>
          <a:p>
            <a:r>
              <a:rPr lang="en-CA">
                <a:solidFill>
                  <a:schemeClr val="tx1"/>
                </a:solidFill>
              </a:rPr>
              <a:t>ADD.D  F1,F2,F3</a:t>
            </a:r>
          </a:p>
          <a:p>
            <a:r>
              <a:rPr lang="en-CA" b="1">
                <a:solidFill>
                  <a:srgbClr val="0000FF"/>
                </a:solidFill>
              </a:rPr>
              <a:t>MUL.D  F2,F1,F4</a:t>
            </a:r>
          </a:p>
        </p:txBody>
      </p:sp>
      <p:sp>
        <p:nvSpPr>
          <p:cNvPr id="41009" name="TextBox 89"/>
          <p:cNvSpPr txBox="1">
            <a:spLocks noChangeArrowheads="1"/>
          </p:cNvSpPr>
          <p:nvPr/>
        </p:nvSpPr>
        <p:spPr bwMode="auto">
          <a:xfrm>
            <a:off x="0" y="6421438"/>
            <a:ext cx="8613775" cy="436562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CA" b="1">
                <a:solidFill>
                  <a:srgbClr val="0000FF"/>
                </a:solidFill>
              </a:rPr>
              <a:t>Cycle 3a: MUL.D gets tag “Add1” instead of value “R[F1]”</a:t>
            </a:r>
          </a:p>
        </p:txBody>
      </p:sp>
      <p:sp>
        <p:nvSpPr>
          <p:cNvPr id="41010" name="TextBox 90"/>
          <p:cNvSpPr txBox="1">
            <a:spLocks noChangeArrowheads="1"/>
          </p:cNvSpPr>
          <p:nvPr/>
        </p:nvSpPr>
        <p:spPr bwMode="auto">
          <a:xfrm>
            <a:off x="5764213" y="1420813"/>
            <a:ext cx="392112" cy="893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CA" sz="1400">
                <a:solidFill>
                  <a:schemeClr val="tx1"/>
                </a:solidFill>
              </a:rPr>
              <a:t>F1</a:t>
            </a:r>
          </a:p>
          <a:p>
            <a:r>
              <a:rPr lang="en-CA" sz="1400">
                <a:solidFill>
                  <a:schemeClr val="tx1"/>
                </a:solidFill>
              </a:rPr>
              <a:t>F2</a:t>
            </a:r>
          </a:p>
          <a:p>
            <a:r>
              <a:rPr lang="en-CA" sz="1400">
                <a:solidFill>
                  <a:schemeClr val="tx1"/>
                </a:solidFill>
              </a:rPr>
              <a:t>F3</a:t>
            </a:r>
          </a:p>
          <a:p>
            <a:r>
              <a:rPr lang="en-CA" sz="1400">
                <a:solidFill>
                  <a:schemeClr val="tx1"/>
                </a:solidFill>
              </a:rPr>
              <a:t>F4</a:t>
            </a:r>
          </a:p>
        </p:txBody>
      </p:sp>
      <p:sp>
        <p:nvSpPr>
          <p:cNvPr id="41011" name="TextBox 66"/>
          <p:cNvSpPr txBox="1">
            <a:spLocks noChangeArrowheads="1"/>
          </p:cNvSpPr>
          <p:nvPr/>
        </p:nvSpPr>
        <p:spPr bwMode="auto">
          <a:xfrm>
            <a:off x="6073775" y="1420813"/>
            <a:ext cx="631825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CA" sz="1400" b="1">
                <a:solidFill>
                  <a:srgbClr val="0000FF"/>
                </a:solidFill>
              </a:rPr>
              <a:t>Add1</a:t>
            </a:r>
          </a:p>
        </p:txBody>
      </p:sp>
      <p:sp>
        <p:nvSpPr>
          <p:cNvPr id="41012" name="TextBox 67"/>
          <p:cNvSpPr txBox="1">
            <a:spLocks noChangeArrowheads="1"/>
          </p:cNvSpPr>
          <p:nvPr/>
        </p:nvSpPr>
        <p:spPr bwMode="auto">
          <a:xfrm>
            <a:off x="2187575" y="3870325"/>
            <a:ext cx="2714625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 sz="1400">
                <a:solidFill>
                  <a:schemeClr val="tx1"/>
                </a:solidFill>
              </a:rPr>
              <a:t> ADD.D       -    R[F2],   -    R[F3]</a:t>
            </a:r>
          </a:p>
        </p:txBody>
      </p:sp>
      <p:sp>
        <p:nvSpPr>
          <p:cNvPr id="41013" name="TextBox 69"/>
          <p:cNvSpPr txBox="1">
            <a:spLocks noChangeArrowheads="1"/>
          </p:cNvSpPr>
          <p:nvPr/>
        </p:nvSpPr>
        <p:spPr bwMode="auto">
          <a:xfrm>
            <a:off x="5400675" y="4010025"/>
            <a:ext cx="2773363" cy="293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 sz="1400" b="1">
                <a:solidFill>
                  <a:srgbClr val="0000FF"/>
                </a:solidFill>
              </a:rPr>
              <a:t> MUL.D   Add1    -       -    R[F4]</a:t>
            </a:r>
          </a:p>
        </p:txBody>
      </p:sp>
      <p:sp>
        <p:nvSpPr>
          <p:cNvPr id="41014" name="TextBox 70"/>
          <p:cNvSpPr txBox="1">
            <a:spLocks noChangeArrowheads="1"/>
          </p:cNvSpPr>
          <p:nvPr/>
        </p:nvSpPr>
        <p:spPr bwMode="auto">
          <a:xfrm>
            <a:off x="6138863" y="1436688"/>
            <a:ext cx="1585912" cy="893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 sz="1400">
                <a:solidFill>
                  <a:schemeClr val="tx1"/>
                </a:solidFill>
              </a:rPr>
              <a:t>                       -</a:t>
            </a:r>
          </a:p>
          <a:p>
            <a:r>
              <a:rPr lang="en-CA" sz="1400">
                <a:solidFill>
                  <a:schemeClr val="tx1"/>
                </a:solidFill>
              </a:rPr>
              <a:t>-                 R[F2]</a:t>
            </a:r>
          </a:p>
          <a:p>
            <a:r>
              <a:rPr lang="en-CA" sz="1400">
                <a:solidFill>
                  <a:schemeClr val="tx1"/>
                </a:solidFill>
              </a:rPr>
              <a:t>-                 R[F3]</a:t>
            </a:r>
          </a:p>
          <a:p>
            <a:r>
              <a:rPr lang="en-CA" sz="1400">
                <a:solidFill>
                  <a:schemeClr val="tx1"/>
                </a:solidFill>
              </a:rPr>
              <a:t>-                 R[F4]</a:t>
            </a:r>
          </a:p>
        </p:txBody>
      </p:sp>
    </p:spTree>
    <p:extLst>
      <p:ext uri="{BB962C8B-B14F-4D97-AF65-F5344CB8AC3E}">
        <p14:creationId xmlns:p14="http://schemas.microsoft.com/office/powerpoint/2010/main" val="17355365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0"/>
            <a:ext cx="8402637" cy="1022350"/>
          </a:xfrm>
        </p:spPr>
        <p:txBody>
          <a:bodyPr lIns="90360" tIns="44280" rIns="90360" bIns="44280"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200">
                <a:latin typeface="Arial  " charset="0"/>
                <a:cs typeface="Arial  " charset="0"/>
              </a:rPr>
              <a:t>Tomasulo Algorithm, Renaming Implemented</a:t>
            </a:r>
          </a:p>
        </p:txBody>
      </p:sp>
      <p:sp>
        <p:nvSpPr>
          <p:cNvPr id="41987" name="Slide Number Placeholder 7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667DD05-5FE8-4B22-90EC-BC368F5E5E1E}" type="slidenum">
              <a:rPr lang="en-GB" smtClean="0"/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20</a:t>
            </a:fld>
            <a:r>
              <a:rPr lang="en-GB"/>
              <a:t> </a:t>
            </a:r>
          </a:p>
        </p:txBody>
      </p:sp>
      <p:grpSp>
        <p:nvGrpSpPr>
          <p:cNvPr id="41988" name="Group 10"/>
          <p:cNvGrpSpPr>
            <a:grpSpLocks/>
          </p:cNvGrpSpPr>
          <p:nvPr/>
        </p:nvGrpSpPr>
        <p:grpSpPr bwMode="auto">
          <a:xfrm>
            <a:off x="3824288" y="1246188"/>
            <a:ext cx="1663700" cy="1217612"/>
            <a:chOff x="2104" y="785"/>
            <a:chExt cx="575" cy="767"/>
          </a:xfrm>
        </p:grpSpPr>
        <p:sp>
          <p:nvSpPr>
            <p:cNvPr id="12299" name="Rectangle 11"/>
            <p:cNvSpPr>
              <a:spLocks noChangeArrowheads="1"/>
            </p:cNvSpPr>
            <p:nvPr/>
          </p:nvSpPr>
          <p:spPr bwMode="auto">
            <a:xfrm>
              <a:off x="2104" y="785"/>
              <a:ext cx="576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12300" name="Rectangle 12"/>
            <p:cNvSpPr>
              <a:spLocks noChangeArrowheads="1"/>
            </p:cNvSpPr>
            <p:nvPr/>
          </p:nvSpPr>
          <p:spPr bwMode="auto">
            <a:xfrm>
              <a:off x="2104" y="913"/>
              <a:ext cx="576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12301" name="Rectangle 13"/>
            <p:cNvSpPr>
              <a:spLocks noChangeArrowheads="1"/>
            </p:cNvSpPr>
            <p:nvPr/>
          </p:nvSpPr>
          <p:spPr bwMode="auto">
            <a:xfrm>
              <a:off x="2104" y="1041"/>
              <a:ext cx="576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12302" name="Rectangle 14"/>
            <p:cNvSpPr>
              <a:spLocks noChangeArrowheads="1"/>
            </p:cNvSpPr>
            <p:nvPr/>
          </p:nvSpPr>
          <p:spPr bwMode="auto">
            <a:xfrm>
              <a:off x="2104" y="1169"/>
              <a:ext cx="576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12303" name="Rectangle 15"/>
            <p:cNvSpPr>
              <a:spLocks noChangeArrowheads="1"/>
            </p:cNvSpPr>
            <p:nvPr/>
          </p:nvSpPr>
          <p:spPr bwMode="auto">
            <a:xfrm>
              <a:off x="2104" y="1297"/>
              <a:ext cx="576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 sz="16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12304" name="Rectangle 16"/>
            <p:cNvSpPr>
              <a:spLocks noChangeArrowheads="1"/>
            </p:cNvSpPr>
            <p:nvPr/>
          </p:nvSpPr>
          <p:spPr bwMode="auto">
            <a:xfrm>
              <a:off x="2104" y="1425"/>
              <a:ext cx="576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 sz="16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</p:grpSp>
      <p:grpSp>
        <p:nvGrpSpPr>
          <p:cNvPr id="41989" name="Group 17"/>
          <p:cNvGrpSpPr>
            <a:grpSpLocks/>
          </p:cNvGrpSpPr>
          <p:nvPr/>
        </p:nvGrpSpPr>
        <p:grpSpPr bwMode="auto">
          <a:xfrm>
            <a:off x="6159500" y="1474788"/>
            <a:ext cx="2208213" cy="811212"/>
            <a:chOff x="3256" y="929"/>
            <a:chExt cx="1391" cy="511"/>
          </a:xfrm>
        </p:grpSpPr>
        <p:sp>
          <p:nvSpPr>
            <p:cNvPr id="12306" name="Rectangle 18"/>
            <p:cNvSpPr>
              <a:spLocks noChangeArrowheads="1"/>
            </p:cNvSpPr>
            <p:nvPr/>
          </p:nvSpPr>
          <p:spPr bwMode="auto">
            <a:xfrm>
              <a:off x="3256" y="929"/>
              <a:ext cx="1392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12307" name="Rectangle 19"/>
            <p:cNvSpPr>
              <a:spLocks noChangeArrowheads="1"/>
            </p:cNvSpPr>
            <p:nvPr/>
          </p:nvSpPr>
          <p:spPr bwMode="auto">
            <a:xfrm>
              <a:off x="3256" y="1057"/>
              <a:ext cx="1392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12308" name="Rectangle 20"/>
            <p:cNvSpPr>
              <a:spLocks noChangeArrowheads="1"/>
            </p:cNvSpPr>
            <p:nvPr/>
          </p:nvSpPr>
          <p:spPr bwMode="auto">
            <a:xfrm>
              <a:off x="3256" y="1185"/>
              <a:ext cx="1392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12309" name="Rectangle 21"/>
            <p:cNvSpPr>
              <a:spLocks noChangeArrowheads="1"/>
            </p:cNvSpPr>
            <p:nvPr/>
          </p:nvSpPr>
          <p:spPr bwMode="auto">
            <a:xfrm>
              <a:off x="3256" y="1313"/>
              <a:ext cx="1392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</p:grpSp>
      <p:grpSp>
        <p:nvGrpSpPr>
          <p:cNvPr id="41990" name="Group 26"/>
          <p:cNvGrpSpPr>
            <a:grpSpLocks/>
          </p:cNvGrpSpPr>
          <p:nvPr/>
        </p:nvGrpSpPr>
        <p:grpSpPr bwMode="auto">
          <a:xfrm>
            <a:off x="2187575" y="3913188"/>
            <a:ext cx="2689225" cy="608012"/>
            <a:chOff x="1057" y="2465"/>
            <a:chExt cx="1391" cy="383"/>
          </a:xfrm>
        </p:grpSpPr>
        <p:sp>
          <p:nvSpPr>
            <p:cNvPr id="12315" name="Rectangle 27"/>
            <p:cNvSpPr>
              <a:spLocks noChangeArrowheads="1"/>
            </p:cNvSpPr>
            <p:nvPr/>
          </p:nvSpPr>
          <p:spPr bwMode="auto">
            <a:xfrm>
              <a:off x="1057" y="2465"/>
              <a:ext cx="1392" cy="128"/>
            </a:xfrm>
            <a:prstGeom prst="rect">
              <a:avLst/>
            </a:prstGeom>
            <a:solidFill>
              <a:srgbClr val="BBE0E3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12316" name="Rectangle 28"/>
            <p:cNvSpPr>
              <a:spLocks noChangeArrowheads="1"/>
            </p:cNvSpPr>
            <p:nvPr/>
          </p:nvSpPr>
          <p:spPr bwMode="auto">
            <a:xfrm>
              <a:off x="1057" y="2593"/>
              <a:ext cx="1392" cy="128"/>
            </a:xfrm>
            <a:prstGeom prst="rect">
              <a:avLst/>
            </a:prstGeom>
            <a:solidFill>
              <a:srgbClr val="BBE0E3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12317" name="Rectangle 29"/>
            <p:cNvSpPr>
              <a:spLocks noChangeArrowheads="1"/>
            </p:cNvSpPr>
            <p:nvPr/>
          </p:nvSpPr>
          <p:spPr bwMode="auto">
            <a:xfrm>
              <a:off x="1057" y="2721"/>
              <a:ext cx="1392" cy="128"/>
            </a:xfrm>
            <a:prstGeom prst="rect">
              <a:avLst/>
            </a:prstGeom>
            <a:solidFill>
              <a:srgbClr val="BBE0E3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</p:grpSp>
      <p:sp>
        <p:nvSpPr>
          <p:cNvPr id="41991" name="Rectangle 30"/>
          <p:cNvSpPr>
            <a:spLocks noChangeArrowheads="1"/>
          </p:cNvSpPr>
          <p:nvPr/>
        </p:nvSpPr>
        <p:spPr bwMode="auto">
          <a:xfrm>
            <a:off x="3011488" y="3913188"/>
            <a:ext cx="336550" cy="609600"/>
          </a:xfrm>
          <a:prstGeom prst="rect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cs typeface="Arial" pitchFamily="34" charset="0"/>
            </a:endParaRPr>
          </a:p>
        </p:txBody>
      </p:sp>
      <p:sp>
        <p:nvSpPr>
          <p:cNvPr id="12319" name="Rectangle 31"/>
          <p:cNvSpPr>
            <a:spLocks noChangeArrowheads="1"/>
          </p:cNvSpPr>
          <p:nvPr/>
        </p:nvSpPr>
        <p:spPr bwMode="auto">
          <a:xfrm>
            <a:off x="3240088" y="5056188"/>
            <a:ext cx="1066800" cy="304800"/>
          </a:xfrm>
          <a:prstGeom prst="rect">
            <a:avLst/>
          </a:prstGeom>
          <a:solidFill>
            <a:srgbClr val="BBE0E3"/>
          </a:solidFill>
          <a:ln w="28440">
            <a:solidFill>
              <a:srgbClr val="000000"/>
            </a:solidFill>
            <a:miter lim="800000"/>
            <a:headEnd/>
            <a:tailEnd/>
          </a:ln>
          <a:effectLst>
            <a:outerShdw blurRad="63500" dist="107933" dir="2700000" algn="ctr" rotWithShape="0">
              <a:srgbClr val="000000">
                <a:alpha val="74998"/>
              </a:srgbClr>
            </a:outerShdw>
          </a:effectLst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600" b="1">
                <a:solidFill>
                  <a:srgbClr val="000000"/>
                </a:solidFill>
                <a:cs typeface="Arial" pitchFamily="34" charset="0"/>
              </a:rPr>
              <a:t>FP adders</a:t>
            </a:r>
          </a:p>
        </p:txBody>
      </p:sp>
      <p:sp>
        <p:nvSpPr>
          <p:cNvPr id="41993" name="Text Box 32"/>
          <p:cNvSpPr txBox="1">
            <a:spLocks noChangeArrowheads="1"/>
          </p:cNvSpPr>
          <p:nvPr/>
        </p:nvSpPr>
        <p:spPr bwMode="auto">
          <a:xfrm>
            <a:off x="1401763" y="3902075"/>
            <a:ext cx="628650" cy="719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100000"/>
              </a:lnSpc>
              <a:buClr>
                <a:srgbClr val="009999"/>
              </a:buClr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009999"/>
                </a:solidFill>
                <a:cs typeface="Arial" pitchFamily="34" charset="0"/>
              </a:rPr>
              <a:t>Add1</a:t>
            </a:r>
          </a:p>
          <a:p>
            <a:pPr algn="ctr">
              <a:lnSpc>
                <a:spcPct val="100000"/>
              </a:lnSpc>
              <a:buClr>
                <a:srgbClr val="009999"/>
              </a:buClr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009999"/>
                </a:solidFill>
                <a:cs typeface="Arial" pitchFamily="34" charset="0"/>
              </a:rPr>
              <a:t>Add2</a:t>
            </a:r>
          </a:p>
          <a:p>
            <a:pPr algn="ctr">
              <a:lnSpc>
                <a:spcPct val="90000"/>
              </a:lnSpc>
              <a:buClr>
                <a:srgbClr val="009999"/>
              </a:buClr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009999"/>
                </a:solidFill>
                <a:cs typeface="Arial" pitchFamily="34" charset="0"/>
              </a:rPr>
              <a:t>Add3</a:t>
            </a:r>
          </a:p>
        </p:txBody>
      </p:sp>
      <p:grpSp>
        <p:nvGrpSpPr>
          <p:cNvPr id="41994" name="Group 33"/>
          <p:cNvGrpSpPr>
            <a:grpSpLocks/>
          </p:cNvGrpSpPr>
          <p:nvPr/>
        </p:nvGrpSpPr>
        <p:grpSpPr bwMode="auto">
          <a:xfrm>
            <a:off x="5438775" y="4065588"/>
            <a:ext cx="2625725" cy="366712"/>
            <a:chOff x="2802" y="2561"/>
            <a:chExt cx="1654" cy="231"/>
          </a:xfrm>
        </p:grpSpPr>
        <p:sp>
          <p:nvSpPr>
            <p:cNvPr id="12322" name="Rectangle 34"/>
            <p:cNvSpPr>
              <a:spLocks noChangeArrowheads="1"/>
            </p:cNvSpPr>
            <p:nvPr/>
          </p:nvSpPr>
          <p:spPr bwMode="auto">
            <a:xfrm>
              <a:off x="2802" y="2561"/>
              <a:ext cx="1654" cy="114"/>
            </a:xfrm>
            <a:prstGeom prst="rect">
              <a:avLst/>
            </a:prstGeom>
            <a:solidFill>
              <a:srgbClr val="BBE0E3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12323" name="Rectangle 35"/>
            <p:cNvSpPr>
              <a:spLocks noChangeArrowheads="1"/>
            </p:cNvSpPr>
            <p:nvPr/>
          </p:nvSpPr>
          <p:spPr bwMode="auto">
            <a:xfrm>
              <a:off x="2802" y="2676"/>
              <a:ext cx="1654" cy="116"/>
            </a:xfrm>
            <a:prstGeom prst="rect">
              <a:avLst/>
            </a:prstGeom>
            <a:solidFill>
              <a:srgbClr val="BBE0E3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</p:grpSp>
      <p:sp>
        <p:nvSpPr>
          <p:cNvPr id="41995" name="Rectangle 36"/>
          <p:cNvSpPr>
            <a:spLocks noChangeArrowheads="1"/>
          </p:cNvSpPr>
          <p:nvPr/>
        </p:nvSpPr>
        <p:spPr bwMode="auto">
          <a:xfrm>
            <a:off x="6208713" y="4065588"/>
            <a:ext cx="439737" cy="373062"/>
          </a:xfrm>
          <a:prstGeom prst="rect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cs typeface="Arial" pitchFamily="34" charset="0"/>
            </a:endParaRPr>
          </a:p>
        </p:txBody>
      </p:sp>
      <p:sp>
        <p:nvSpPr>
          <p:cNvPr id="12325" name="Rectangle 37"/>
          <p:cNvSpPr>
            <a:spLocks noChangeArrowheads="1"/>
          </p:cNvSpPr>
          <p:nvPr/>
        </p:nvSpPr>
        <p:spPr bwMode="auto">
          <a:xfrm>
            <a:off x="6311900" y="5056188"/>
            <a:ext cx="1447800" cy="304800"/>
          </a:xfrm>
          <a:prstGeom prst="rect">
            <a:avLst/>
          </a:prstGeom>
          <a:solidFill>
            <a:srgbClr val="BBE0E3"/>
          </a:solidFill>
          <a:ln w="28440">
            <a:solidFill>
              <a:srgbClr val="000000"/>
            </a:solidFill>
            <a:miter lim="800000"/>
            <a:headEnd/>
            <a:tailEnd/>
          </a:ln>
          <a:effectLst>
            <a:outerShdw blurRad="63500" dist="107933" dir="2700000" algn="ctr" rotWithShape="0">
              <a:srgbClr val="000000">
                <a:alpha val="74998"/>
              </a:srgbClr>
            </a:outerShdw>
          </a:effectLst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600" b="1">
                <a:solidFill>
                  <a:srgbClr val="000000"/>
                </a:solidFill>
                <a:cs typeface="Arial" pitchFamily="34" charset="0"/>
              </a:rPr>
              <a:t>FP multipliers</a:t>
            </a:r>
          </a:p>
        </p:txBody>
      </p:sp>
      <p:sp>
        <p:nvSpPr>
          <p:cNvPr id="41997" name="Text Box 38"/>
          <p:cNvSpPr txBox="1">
            <a:spLocks noChangeArrowheads="1"/>
          </p:cNvSpPr>
          <p:nvPr/>
        </p:nvSpPr>
        <p:spPr bwMode="auto">
          <a:xfrm>
            <a:off x="8105775" y="3986213"/>
            <a:ext cx="588963" cy="4810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0000"/>
              </a:lnSpc>
              <a:buClr>
                <a:srgbClr val="009999"/>
              </a:buClr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009999"/>
                </a:solidFill>
                <a:cs typeface="Arial" pitchFamily="34" charset="0"/>
              </a:rPr>
              <a:t>Mul1</a:t>
            </a:r>
          </a:p>
          <a:p>
            <a:pPr algn="ctr">
              <a:lnSpc>
                <a:spcPct val="90000"/>
              </a:lnSpc>
              <a:buClr>
                <a:srgbClr val="009999"/>
              </a:buClr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009999"/>
                </a:solidFill>
                <a:cs typeface="Arial" pitchFamily="34" charset="0"/>
              </a:rPr>
              <a:t>Mul2</a:t>
            </a:r>
          </a:p>
        </p:txBody>
      </p:sp>
      <p:sp>
        <p:nvSpPr>
          <p:cNvPr id="41998" name="Line 39"/>
          <p:cNvSpPr>
            <a:spLocks noChangeShapeType="1"/>
          </p:cNvSpPr>
          <p:nvPr/>
        </p:nvSpPr>
        <p:spPr bwMode="auto">
          <a:xfrm>
            <a:off x="3416300" y="4522788"/>
            <a:ext cx="1588" cy="533400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41999" name="Line 40"/>
          <p:cNvSpPr>
            <a:spLocks noChangeShapeType="1"/>
          </p:cNvSpPr>
          <p:nvPr/>
        </p:nvSpPr>
        <p:spPr bwMode="auto">
          <a:xfrm>
            <a:off x="4102100" y="4522788"/>
            <a:ext cx="1588" cy="533400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42000" name="Line 41"/>
          <p:cNvSpPr>
            <a:spLocks noChangeShapeType="1"/>
          </p:cNvSpPr>
          <p:nvPr/>
        </p:nvSpPr>
        <p:spPr bwMode="auto">
          <a:xfrm>
            <a:off x="6540500" y="4446588"/>
            <a:ext cx="1588" cy="609600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42001" name="Line 42"/>
          <p:cNvSpPr>
            <a:spLocks noChangeShapeType="1"/>
          </p:cNvSpPr>
          <p:nvPr/>
        </p:nvSpPr>
        <p:spPr bwMode="auto">
          <a:xfrm>
            <a:off x="7454900" y="4446588"/>
            <a:ext cx="1588" cy="609600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42002" name="Freeform 43"/>
          <p:cNvSpPr>
            <a:spLocks/>
          </p:cNvSpPr>
          <p:nvPr/>
        </p:nvSpPr>
        <p:spPr bwMode="auto">
          <a:xfrm>
            <a:off x="2806700" y="2465388"/>
            <a:ext cx="1981200" cy="1447800"/>
          </a:xfrm>
          <a:custGeom>
            <a:avLst/>
            <a:gdLst>
              <a:gd name="T0" fmla="*/ 2147483647 w 1248"/>
              <a:gd name="T1" fmla="*/ 0 h 912"/>
              <a:gd name="T2" fmla="*/ 2147483647 w 1248"/>
              <a:gd name="T3" fmla="*/ 2147483647 h 912"/>
              <a:gd name="T4" fmla="*/ 0 w 1248"/>
              <a:gd name="T5" fmla="*/ 2147483647 h 912"/>
              <a:gd name="T6" fmla="*/ 0 w 1248"/>
              <a:gd name="T7" fmla="*/ 2147483647 h 912"/>
              <a:gd name="T8" fmla="*/ 0 60000 65536"/>
              <a:gd name="T9" fmla="*/ 0 60000 65536"/>
              <a:gd name="T10" fmla="*/ 0 60000 65536"/>
              <a:gd name="T11" fmla="*/ 0 60000 65536"/>
              <a:gd name="T12" fmla="*/ 0 w 1248"/>
              <a:gd name="T13" fmla="*/ 0 h 912"/>
              <a:gd name="T14" fmla="*/ 1248 w 1248"/>
              <a:gd name="T15" fmla="*/ 912 h 9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48" h="912">
                <a:moveTo>
                  <a:pt x="1248" y="0"/>
                </a:moveTo>
                <a:lnTo>
                  <a:pt x="1248" y="672"/>
                </a:lnTo>
                <a:lnTo>
                  <a:pt x="0" y="672"/>
                </a:lnTo>
                <a:lnTo>
                  <a:pt x="0" y="912"/>
                </a:lnTo>
              </a:path>
            </a:pathLst>
          </a:custGeom>
          <a:noFill/>
          <a:ln w="2844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42003" name="Freeform 44"/>
          <p:cNvSpPr>
            <a:spLocks/>
          </p:cNvSpPr>
          <p:nvPr/>
        </p:nvSpPr>
        <p:spPr bwMode="auto">
          <a:xfrm>
            <a:off x="4787900" y="3532188"/>
            <a:ext cx="1219200" cy="533400"/>
          </a:xfrm>
          <a:custGeom>
            <a:avLst/>
            <a:gdLst>
              <a:gd name="T0" fmla="*/ 0 w 768"/>
              <a:gd name="T1" fmla="*/ 0 h 336"/>
              <a:gd name="T2" fmla="*/ 2147483647 w 768"/>
              <a:gd name="T3" fmla="*/ 0 h 336"/>
              <a:gd name="T4" fmla="*/ 2147483647 w 768"/>
              <a:gd name="T5" fmla="*/ 2147483647 h 336"/>
              <a:gd name="T6" fmla="*/ 0 60000 65536"/>
              <a:gd name="T7" fmla="*/ 0 60000 65536"/>
              <a:gd name="T8" fmla="*/ 0 60000 65536"/>
              <a:gd name="T9" fmla="*/ 0 w 768"/>
              <a:gd name="T10" fmla="*/ 0 h 336"/>
              <a:gd name="T11" fmla="*/ 768 w 768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68" h="336">
                <a:moveTo>
                  <a:pt x="0" y="0"/>
                </a:moveTo>
                <a:lnTo>
                  <a:pt x="768" y="0"/>
                </a:lnTo>
                <a:lnTo>
                  <a:pt x="768" y="336"/>
                </a:lnTo>
              </a:path>
            </a:pathLst>
          </a:custGeom>
          <a:noFill/>
          <a:ln w="2844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42004" name="Freeform 45"/>
          <p:cNvSpPr>
            <a:spLocks/>
          </p:cNvSpPr>
          <p:nvPr/>
        </p:nvSpPr>
        <p:spPr bwMode="auto">
          <a:xfrm>
            <a:off x="3103563" y="2312988"/>
            <a:ext cx="3225800" cy="1600200"/>
          </a:xfrm>
          <a:custGeom>
            <a:avLst/>
            <a:gdLst>
              <a:gd name="T0" fmla="*/ 2147483647 w 1968"/>
              <a:gd name="T1" fmla="*/ 0 h 1008"/>
              <a:gd name="T2" fmla="*/ 2147483647 w 1968"/>
              <a:gd name="T3" fmla="*/ 2147483647 h 1008"/>
              <a:gd name="T4" fmla="*/ 0 w 1968"/>
              <a:gd name="T5" fmla="*/ 2147483647 h 1008"/>
              <a:gd name="T6" fmla="*/ 0 w 1968"/>
              <a:gd name="T7" fmla="*/ 2147483647 h 1008"/>
              <a:gd name="T8" fmla="*/ 0 60000 65536"/>
              <a:gd name="T9" fmla="*/ 0 60000 65536"/>
              <a:gd name="T10" fmla="*/ 0 60000 65536"/>
              <a:gd name="T11" fmla="*/ 0 60000 65536"/>
              <a:gd name="T12" fmla="*/ 0 w 1968"/>
              <a:gd name="T13" fmla="*/ 0 h 1008"/>
              <a:gd name="T14" fmla="*/ 1968 w 1968"/>
              <a:gd name="T15" fmla="*/ 1008 h 10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68" h="1008">
                <a:moveTo>
                  <a:pt x="1968" y="0"/>
                </a:moveTo>
                <a:lnTo>
                  <a:pt x="1968" y="528"/>
                </a:lnTo>
                <a:lnTo>
                  <a:pt x="0" y="528"/>
                </a:lnTo>
                <a:lnTo>
                  <a:pt x="0" y="1008"/>
                </a:lnTo>
              </a:path>
            </a:pathLst>
          </a:custGeom>
          <a:noFill/>
          <a:ln w="2844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42005" name="Line 46"/>
          <p:cNvSpPr>
            <a:spLocks noChangeShapeType="1"/>
          </p:cNvSpPr>
          <p:nvPr/>
        </p:nvSpPr>
        <p:spPr bwMode="auto">
          <a:xfrm>
            <a:off x="6329363" y="3151188"/>
            <a:ext cx="1587" cy="914400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42006" name="Line 47"/>
          <p:cNvSpPr>
            <a:spLocks noChangeShapeType="1"/>
          </p:cNvSpPr>
          <p:nvPr/>
        </p:nvSpPr>
        <p:spPr bwMode="auto">
          <a:xfrm>
            <a:off x="7562850" y="2312988"/>
            <a:ext cx="1588" cy="1752600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42007" name="Freeform 48"/>
          <p:cNvSpPr>
            <a:spLocks/>
          </p:cNvSpPr>
          <p:nvPr/>
        </p:nvSpPr>
        <p:spPr bwMode="auto">
          <a:xfrm>
            <a:off x="4389438" y="3348038"/>
            <a:ext cx="3162300" cy="565150"/>
          </a:xfrm>
          <a:custGeom>
            <a:avLst/>
            <a:gdLst>
              <a:gd name="T0" fmla="*/ 2147483647 w 1920"/>
              <a:gd name="T1" fmla="*/ 0 h 384"/>
              <a:gd name="T2" fmla="*/ 0 w 1920"/>
              <a:gd name="T3" fmla="*/ 0 h 384"/>
              <a:gd name="T4" fmla="*/ 0 w 1920"/>
              <a:gd name="T5" fmla="*/ 2147483647 h 384"/>
              <a:gd name="T6" fmla="*/ 0 60000 65536"/>
              <a:gd name="T7" fmla="*/ 0 60000 65536"/>
              <a:gd name="T8" fmla="*/ 0 60000 65536"/>
              <a:gd name="T9" fmla="*/ 0 w 1920"/>
              <a:gd name="T10" fmla="*/ 0 h 384"/>
              <a:gd name="T11" fmla="*/ 1920 w 1920"/>
              <a:gd name="T12" fmla="*/ 384 h 3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0" h="384">
                <a:moveTo>
                  <a:pt x="1920" y="0"/>
                </a:moveTo>
                <a:lnTo>
                  <a:pt x="0" y="0"/>
                </a:lnTo>
                <a:lnTo>
                  <a:pt x="0" y="384"/>
                </a:lnTo>
              </a:path>
            </a:pathLst>
          </a:custGeom>
          <a:noFill/>
          <a:ln w="2844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42008" name="Line 50"/>
          <p:cNvSpPr>
            <a:spLocks noChangeShapeType="1"/>
          </p:cNvSpPr>
          <p:nvPr/>
        </p:nvSpPr>
        <p:spPr bwMode="auto">
          <a:xfrm>
            <a:off x="3759200" y="6019800"/>
            <a:ext cx="5130800" cy="25400"/>
          </a:xfrm>
          <a:prstGeom prst="line">
            <a:avLst/>
          </a:prstGeom>
          <a:noFill/>
          <a:ln w="57240">
            <a:solidFill>
              <a:srgbClr val="009999"/>
            </a:solidFill>
            <a:miter lim="800000"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42009" name="Freeform 52"/>
          <p:cNvSpPr>
            <a:spLocks/>
          </p:cNvSpPr>
          <p:nvPr/>
        </p:nvSpPr>
        <p:spPr bwMode="auto">
          <a:xfrm>
            <a:off x="8429625" y="1844675"/>
            <a:ext cx="447675" cy="4191000"/>
          </a:xfrm>
          <a:custGeom>
            <a:avLst/>
            <a:gdLst>
              <a:gd name="T0" fmla="*/ 2147483647 w 960"/>
              <a:gd name="T1" fmla="*/ 2147483647 h 2448"/>
              <a:gd name="T2" fmla="*/ 2147483647 w 960"/>
              <a:gd name="T3" fmla="*/ 0 h 2448"/>
              <a:gd name="T4" fmla="*/ 0 w 960"/>
              <a:gd name="T5" fmla="*/ 0 h 2448"/>
              <a:gd name="T6" fmla="*/ 0 60000 65536"/>
              <a:gd name="T7" fmla="*/ 0 60000 65536"/>
              <a:gd name="T8" fmla="*/ 0 60000 65536"/>
              <a:gd name="T9" fmla="*/ 0 w 960"/>
              <a:gd name="T10" fmla="*/ 0 h 2448"/>
              <a:gd name="T11" fmla="*/ 960 w 960"/>
              <a:gd name="T12" fmla="*/ 2448 h 24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0" h="2448">
                <a:moveTo>
                  <a:pt x="960" y="2448"/>
                </a:moveTo>
                <a:lnTo>
                  <a:pt x="960" y="0"/>
                </a:lnTo>
                <a:lnTo>
                  <a:pt x="0" y="0"/>
                </a:lnTo>
              </a:path>
            </a:pathLst>
          </a:custGeom>
          <a:noFill/>
          <a:ln w="57240">
            <a:solidFill>
              <a:srgbClr val="009999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42010" name="Line 54"/>
          <p:cNvSpPr>
            <a:spLocks noChangeShapeType="1"/>
          </p:cNvSpPr>
          <p:nvPr/>
        </p:nvSpPr>
        <p:spPr bwMode="auto">
          <a:xfrm>
            <a:off x="7050088" y="5349875"/>
            <a:ext cx="1587" cy="685800"/>
          </a:xfrm>
          <a:prstGeom prst="line">
            <a:avLst/>
          </a:prstGeom>
          <a:noFill/>
          <a:ln w="57240">
            <a:solidFill>
              <a:srgbClr val="009999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42011" name="Line 55"/>
          <p:cNvSpPr>
            <a:spLocks noChangeShapeType="1"/>
          </p:cNvSpPr>
          <p:nvPr/>
        </p:nvSpPr>
        <p:spPr bwMode="auto">
          <a:xfrm>
            <a:off x="3773488" y="5349875"/>
            <a:ext cx="1587" cy="685800"/>
          </a:xfrm>
          <a:prstGeom prst="line">
            <a:avLst/>
          </a:prstGeom>
          <a:noFill/>
          <a:ln w="57240">
            <a:solidFill>
              <a:srgbClr val="009999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42012" name="Text Box 58"/>
          <p:cNvSpPr txBox="1">
            <a:spLocks noChangeArrowheads="1"/>
          </p:cNvSpPr>
          <p:nvPr/>
        </p:nvSpPr>
        <p:spPr bwMode="auto">
          <a:xfrm>
            <a:off x="6408738" y="1155700"/>
            <a:ext cx="1589087" cy="371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100000"/>
              </a:lnSpc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cs typeface="Arial" pitchFamily="34" charset="0"/>
              </a:rPr>
              <a:t>FP Registers</a:t>
            </a:r>
          </a:p>
        </p:txBody>
      </p:sp>
      <p:sp>
        <p:nvSpPr>
          <p:cNvPr id="42013" name="Text Box 59"/>
          <p:cNvSpPr txBox="1">
            <a:spLocks noChangeArrowheads="1"/>
          </p:cNvSpPr>
          <p:nvPr/>
        </p:nvSpPr>
        <p:spPr bwMode="auto">
          <a:xfrm>
            <a:off x="4711700" y="4545013"/>
            <a:ext cx="1566863" cy="64928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100000"/>
              </a:lnSpc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cs typeface="Arial" pitchFamily="34" charset="0"/>
              </a:rPr>
              <a:t>Reservation </a:t>
            </a:r>
          </a:p>
          <a:p>
            <a:pPr algn="ctr">
              <a:lnSpc>
                <a:spcPct val="100000"/>
              </a:lnSpc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cs typeface="Arial" pitchFamily="34" charset="0"/>
              </a:rPr>
              <a:t>Stations</a:t>
            </a:r>
          </a:p>
        </p:txBody>
      </p:sp>
      <p:sp>
        <p:nvSpPr>
          <p:cNvPr id="42014" name="Line 60"/>
          <p:cNvSpPr>
            <a:spLocks noChangeShapeType="1"/>
          </p:cNvSpPr>
          <p:nvPr/>
        </p:nvSpPr>
        <p:spPr bwMode="auto">
          <a:xfrm flipV="1">
            <a:off x="4535488" y="4510088"/>
            <a:ext cx="1587" cy="1222375"/>
          </a:xfrm>
          <a:prstGeom prst="line">
            <a:avLst/>
          </a:prstGeom>
          <a:noFill/>
          <a:ln w="38160">
            <a:solidFill>
              <a:srgbClr val="333399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42015" name="Line 61"/>
          <p:cNvSpPr>
            <a:spLocks noChangeShapeType="1"/>
          </p:cNvSpPr>
          <p:nvPr/>
        </p:nvSpPr>
        <p:spPr bwMode="auto">
          <a:xfrm flipH="1" flipV="1">
            <a:off x="4524375" y="4583113"/>
            <a:ext cx="11113" cy="1454150"/>
          </a:xfrm>
          <a:prstGeom prst="line">
            <a:avLst/>
          </a:prstGeom>
          <a:noFill/>
          <a:ln w="57240">
            <a:solidFill>
              <a:srgbClr val="009999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42016" name="Line 62"/>
          <p:cNvSpPr>
            <a:spLocks noChangeShapeType="1"/>
          </p:cNvSpPr>
          <p:nvPr/>
        </p:nvSpPr>
        <p:spPr bwMode="auto">
          <a:xfrm flipH="1" flipV="1">
            <a:off x="7885113" y="4497388"/>
            <a:ext cx="3175" cy="1539875"/>
          </a:xfrm>
          <a:prstGeom prst="line">
            <a:avLst/>
          </a:prstGeom>
          <a:noFill/>
          <a:ln w="57240">
            <a:solidFill>
              <a:srgbClr val="009999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42017" name="Text Box 63"/>
          <p:cNvSpPr txBox="1">
            <a:spLocks noChangeArrowheads="1"/>
          </p:cNvSpPr>
          <p:nvPr/>
        </p:nvSpPr>
        <p:spPr bwMode="auto">
          <a:xfrm>
            <a:off x="4411663" y="6043613"/>
            <a:ext cx="2965450" cy="371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100000"/>
              </a:lnSpc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cs typeface="Arial" pitchFamily="34" charset="0"/>
              </a:rPr>
              <a:t>Common Data Bus (CDB)</a:t>
            </a:r>
            <a:r>
              <a:rPr lang="ar-SA" sz="1800" b="1">
                <a:solidFill>
                  <a:srgbClr val="000000"/>
                </a:solidFill>
                <a:cs typeface="Arial" pitchFamily="34" charset="0"/>
              </a:rPr>
              <a:t>‏</a:t>
            </a:r>
            <a:endParaRPr lang="en-GB" sz="1800" b="1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42018" name="Text Box 65"/>
          <p:cNvSpPr txBox="1">
            <a:spLocks noChangeArrowheads="1"/>
          </p:cNvSpPr>
          <p:nvPr/>
        </p:nvSpPr>
        <p:spPr bwMode="auto">
          <a:xfrm>
            <a:off x="2901950" y="1219200"/>
            <a:ext cx="900113" cy="64928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100000"/>
              </a:lnSpc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cs typeface="Arial" pitchFamily="34" charset="0"/>
              </a:rPr>
              <a:t>FP Op</a:t>
            </a:r>
          </a:p>
          <a:p>
            <a:pPr algn="ctr">
              <a:lnSpc>
                <a:spcPct val="100000"/>
              </a:lnSpc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cs typeface="Arial" pitchFamily="34" charset="0"/>
              </a:rPr>
              <a:t>Queue</a:t>
            </a:r>
          </a:p>
        </p:txBody>
      </p:sp>
      <p:sp>
        <p:nvSpPr>
          <p:cNvPr id="42019" name="Rectangle 30"/>
          <p:cNvSpPr>
            <a:spLocks noChangeArrowheads="1"/>
          </p:cNvSpPr>
          <p:nvPr/>
        </p:nvSpPr>
        <p:spPr bwMode="auto">
          <a:xfrm>
            <a:off x="3929063" y="3916363"/>
            <a:ext cx="322262" cy="609600"/>
          </a:xfrm>
          <a:prstGeom prst="rect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cs typeface="Arial" pitchFamily="34" charset="0"/>
            </a:endParaRPr>
          </a:p>
        </p:txBody>
      </p:sp>
      <p:sp>
        <p:nvSpPr>
          <p:cNvPr id="42020" name="Rectangle 36"/>
          <p:cNvSpPr>
            <a:spLocks noChangeArrowheads="1"/>
          </p:cNvSpPr>
          <p:nvPr/>
        </p:nvSpPr>
        <p:spPr bwMode="auto">
          <a:xfrm>
            <a:off x="7089775" y="4068763"/>
            <a:ext cx="338138" cy="381000"/>
          </a:xfrm>
          <a:prstGeom prst="rect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cs typeface="Arial" pitchFamily="34" charset="0"/>
            </a:endParaRPr>
          </a:p>
        </p:txBody>
      </p:sp>
      <p:sp>
        <p:nvSpPr>
          <p:cNvPr id="42021" name="Rectangle 36"/>
          <p:cNvSpPr>
            <a:spLocks noChangeArrowheads="1"/>
          </p:cNvSpPr>
          <p:nvPr/>
        </p:nvSpPr>
        <p:spPr bwMode="auto">
          <a:xfrm>
            <a:off x="6156325" y="1470025"/>
            <a:ext cx="481013" cy="815975"/>
          </a:xfrm>
          <a:prstGeom prst="rect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cs typeface="Arial" pitchFamily="34" charset="0"/>
            </a:endParaRPr>
          </a:p>
        </p:txBody>
      </p:sp>
      <p:sp>
        <p:nvSpPr>
          <p:cNvPr id="42022" name="Line 46"/>
          <p:cNvSpPr>
            <a:spLocks noChangeShapeType="1"/>
          </p:cNvSpPr>
          <p:nvPr/>
        </p:nvSpPr>
        <p:spPr bwMode="auto">
          <a:xfrm>
            <a:off x="6724650" y="3360738"/>
            <a:ext cx="4763" cy="708025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42023" name="Oval 76"/>
          <p:cNvSpPr>
            <a:spLocks noChangeArrowheads="1"/>
          </p:cNvSpPr>
          <p:nvPr/>
        </p:nvSpPr>
        <p:spPr bwMode="auto">
          <a:xfrm>
            <a:off x="4749800" y="3487738"/>
            <a:ext cx="74613" cy="7302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42024" name="Oval 77"/>
          <p:cNvSpPr>
            <a:spLocks noChangeArrowheads="1"/>
          </p:cNvSpPr>
          <p:nvPr/>
        </p:nvSpPr>
        <p:spPr bwMode="auto">
          <a:xfrm>
            <a:off x="6286500" y="3101975"/>
            <a:ext cx="74613" cy="7302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42025" name="Line 46"/>
          <p:cNvSpPr>
            <a:spLocks noChangeShapeType="1"/>
          </p:cNvSpPr>
          <p:nvPr/>
        </p:nvSpPr>
        <p:spPr bwMode="auto">
          <a:xfrm flipH="1">
            <a:off x="4056063" y="3138488"/>
            <a:ext cx="0" cy="765175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42026" name="Oval 79"/>
          <p:cNvSpPr>
            <a:spLocks noChangeArrowheads="1"/>
          </p:cNvSpPr>
          <p:nvPr/>
        </p:nvSpPr>
        <p:spPr bwMode="auto">
          <a:xfrm>
            <a:off x="4011613" y="3121025"/>
            <a:ext cx="76200" cy="7302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42027" name="Freeform 49"/>
          <p:cNvSpPr>
            <a:spLocks/>
          </p:cNvSpPr>
          <p:nvPr/>
        </p:nvSpPr>
        <p:spPr bwMode="auto">
          <a:xfrm>
            <a:off x="6270625" y="3149600"/>
            <a:ext cx="960438" cy="903288"/>
          </a:xfrm>
          <a:custGeom>
            <a:avLst/>
            <a:gdLst>
              <a:gd name="T0" fmla="*/ 0 w 1008"/>
              <a:gd name="T1" fmla="*/ 0 h 144"/>
              <a:gd name="T2" fmla="*/ 2147483647 w 1008"/>
              <a:gd name="T3" fmla="*/ 0 h 144"/>
              <a:gd name="T4" fmla="*/ 2147483647 w 1008"/>
              <a:gd name="T5" fmla="*/ 2147483647 h 144"/>
              <a:gd name="T6" fmla="*/ 0 60000 65536"/>
              <a:gd name="T7" fmla="*/ 0 60000 65536"/>
              <a:gd name="T8" fmla="*/ 0 60000 65536"/>
              <a:gd name="T9" fmla="*/ 0 w 1008"/>
              <a:gd name="T10" fmla="*/ 0 h 144"/>
              <a:gd name="T11" fmla="*/ 1008 w 1008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08" h="144">
                <a:moveTo>
                  <a:pt x="0" y="0"/>
                </a:moveTo>
                <a:lnTo>
                  <a:pt x="1008" y="0"/>
                </a:lnTo>
                <a:lnTo>
                  <a:pt x="1008" y="144"/>
                </a:lnTo>
              </a:path>
            </a:pathLst>
          </a:custGeom>
          <a:noFill/>
          <a:ln w="2844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42028" name="Oval 81"/>
          <p:cNvSpPr>
            <a:spLocks noChangeArrowheads="1"/>
          </p:cNvSpPr>
          <p:nvPr/>
        </p:nvSpPr>
        <p:spPr bwMode="auto">
          <a:xfrm>
            <a:off x="6681788" y="3319463"/>
            <a:ext cx="74612" cy="7302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42029" name="Oval 82"/>
          <p:cNvSpPr>
            <a:spLocks noChangeArrowheads="1"/>
          </p:cNvSpPr>
          <p:nvPr/>
        </p:nvSpPr>
        <p:spPr bwMode="auto">
          <a:xfrm>
            <a:off x="7526338" y="3311525"/>
            <a:ext cx="74612" cy="7302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42030" name="Freeform 48"/>
          <p:cNvSpPr>
            <a:spLocks/>
          </p:cNvSpPr>
          <p:nvPr/>
        </p:nvSpPr>
        <p:spPr bwMode="auto">
          <a:xfrm>
            <a:off x="3529013" y="3352800"/>
            <a:ext cx="922337" cy="563563"/>
          </a:xfrm>
          <a:custGeom>
            <a:avLst/>
            <a:gdLst>
              <a:gd name="T0" fmla="*/ 2147483647 w 1920"/>
              <a:gd name="T1" fmla="*/ 0 h 384"/>
              <a:gd name="T2" fmla="*/ 0 w 1920"/>
              <a:gd name="T3" fmla="*/ 0 h 384"/>
              <a:gd name="T4" fmla="*/ 0 w 1920"/>
              <a:gd name="T5" fmla="*/ 2147483647 h 384"/>
              <a:gd name="T6" fmla="*/ 0 60000 65536"/>
              <a:gd name="T7" fmla="*/ 0 60000 65536"/>
              <a:gd name="T8" fmla="*/ 0 60000 65536"/>
              <a:gd name="T9" fmla="*/ 0 w 1920"/>
              <a:gd name="T10" fmla="*/ 0 h 384"/>
              <a:gd name="T11" fmla="*/ 1920 w 1920"/>
              <a:gd name="T12" fmla="*/ 384 h 3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0" h="384">
                <a:moveTo>
                  <a:pt x="1920" y="0"/>
                </a:moveTo>
                <a:lnTo>
                  <a:pt x="0" y="0"/>
                </a:lnTo>
                <a:lnTo>
                  <a:pt x="0" y="384"/>
                </a:lnTo>
              </a:path>
            </a:pathLst>
          </a:custGeom>
          <a:noFill/>
          <a:ln w="2844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42031" name="Oval 85"/>
          <p:cNvSpPr>
            <a:spLocks noChangeArrowheads="1"/>
          </p:cNvSpPr>
          <p:nvPr/>
        </p:nvSpPr>
        <p:spPr bwMode="auto">
          <a:xfrm>
            <a:off x="4346575" y="3306763"/>
            <a:ext cx="74613" cy="7302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42032" name="TextBox 88"/>
          <p:cNvSpPr txBox="1">
            <a:spLocks noChangeArrowheads="1"/>
          </p:cNvSpPr>
          <p:nvPr/>
        </p:nvSpPr>
        <p:spPr bwMode="auto">
          <a:xfrm>
            <a:off x="0" y="1206500"/>
            <a:ext cx="2824163" cy="1122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 u="sng">
                <a:solidFill>
                  <a:schemeClr val="tx1"/>
                </a:solidFill>
              </a:rPr>
              <a:t>Program:</a:t>
            </a:r>
          </a:p>
          <a:p>
            <a:r>
              <a:rPr lang="en-CA">
                <a:solidFill>
                  <a:schemeClr val="tx1"/>
                </a:solidFill>
              </a:rPr>
              <a:t>ADD.D  F1,F2,F3</a:t>
            </a:r>
          </a:p>
          <a:p>
            <a:r>
              <a:rPr lang="en-CA" b="1">
                <a:solidFill>
                  <a:srgbClr val="0000FF"/>
                </a:solidFill>
              </a:rPr>
              <a:t>MUL.D  F2,F1,F4</a:t>
            </a:r>
          </a:p>
        </p:txBody>
      </p:sp>
      <p:sp>
        <p:nvSpPr>
          <p:cNvPr id="42033" name="TextBox 89"/>
          <p:cNvSpPr txBox="1">
            <a:spLocks noChangeArrowheads="1"/>
          </p:cNvSpPr>
          <p:nvPr/>
        </p:nvSpPr>
        <p:spPr bwMode="auto">
          <a:xfrm>
            <a:off x="0" y="6421438"/>
            <a:ext cx="4827588" cy="436562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CA" b="1">
                <a:solidFill>
                  <a:srgbClr val="0000FF"/>
                </a:solidFill>
              </a:rPr>
              <a:t>Cycle 3b: F2 renamed to “Mul1”</a:t>
            </a:r>
          </a:p>
        </p:txBody>
      </p:sp>
      <p:sp>
        <p:nvSpPr>
          <p:cNvPr id="42034" name="TextBox 90"/>
          <p:cNvSpPr txBox="1">
            <a:spLocks noChangeArrowheads="1"/>
          </p:cNvSpPr>
          <p:nvPr/>
        </p:nvSpPr>
        <p:spPr bwMode="auto">
          <a:xfrm>
            <a:off x="5764213" y="1420813"/>
            <a:ext cx="392112" cy="893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CA" sz="1400">
                <a:solidFill>
                  <a:schemeClr val="tx1"/>
                </a:solidFill>
              </a:rPr>
              <a:t>F1</a:t>
            </a:r>
          </a:p>
          <a:p>
            <a:r>
              <a:rPr lang="en-CA" sz="1400">
                <a:solidFill>
                  <a:schemeClr val="tx1"/>
                </a:solidFill>
              </a:rPr>
              <a:t>F2</a:t>
            </a:r>
          </a:p>
          <a:p>
            <a:r>
              <a:rPr lang="en-CA" sz="1400">
                <a:solidFill>
                  <a:schemeClr val="tx1"/>
                </a:solidFill>
              </a:rPr>
              <a:t>F3</a:t>
            </a:r>
          </a:p>
          <a:p>
            <a:r>
              <a:rPr lang="en-CA" sz="1400">
                <a:solidFill>
                  <a:schemeClr val="tx1"/>
                </a:solidFill>
              </a:rPr>
              <a:t>F4</a:t>
            </a:r>
          </a:p>
        </p:txBody>
      </p:sp>
      <p:sp>
        <p:nvSpPr>
          <p:cNvPr id="42035" name="TextBox 66"/>
          <p:cNvSpPr txBox="1">
            <a:spLocks noChangeArrowheads="1"/>
          </p:cNvSpPr>
          <p:nvPr/>
        </p:nvSpPr>
        <p:spPr bwMode="auto">
          <a:xfrm>
            <a:off x="6073775" y="1420813"/>
            <a:ext cx="603250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CA" sz="1400">
                <a:solidFill>
                  <a:schemeClr val="tx1"/>
                </a:solidFill>
              </a:rPr>
              <a:t>Add1</a:t>
            </a:r>
          </a:p>
        </p:txBody>
      </p:sp>
      <p:sp>
        <p:nvSpPr>
          <p:cNvPr id="42036" name="TextBox 67"/>
          <p:cNvSpPr txBox="1">
            <a:spLocks noChangeArrowheads="1"/>
          </p:cNvSpPr>
          <p:nvPr/>
        </p:nvSpPr>
        <p:spPr bwMode="auto">
          <a:xfrm>
            <a:off x="2187575" y="3870325"/>
            <a:ext cx="2714625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 sz="1400">
                <a:solidFill>
                  <a:schemeClr val="tx1"/>
                </a:solidFill>
              </a:rPr>
              <a:t> ADD.D       -    R[F2],   -    R[F3]</a:t>
            </a:r>
          </a:p>
        </p:txBody>
      </p:sp>
      <p:sp>
        <p:nvSpPr>
          <p:cNvPr id="42037" name="TextBox 68"/>
          <p:cNvSpPr txBox="1">
            <a:spLocks noChangeArrowheads="1"/>
          </p:cNvSpPr>
          <p:nvPr/>
        </p:nvSpPr>
        <p:spPr bwMode="auto">
          <a:xfrm>
            <a:off x="6080125" y="1622425"/>
            <a:ext cx="592138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CA" sz="1400" b="1">
                <a:solidFill>
                  <a:srgbClr val="0000FF"/>
                </a:solidFill>
              </a:rPr>
              <a:t>Mul1</a:t>
            </a:r>
          </a:p>
        </p:txBody>
      </p:sp>
      <p:sp>
        <p:nvSpPr>
          <p:cNvPr id="42038" name="TextBox 69"/>
          <p:cNvSpPr txBox="1">
            <a:spLocks noChangeArrowheads="1"/>
          </p:cNvSpPr>
          <p:nvPr/>
        </p:nvSpPr>
        <p:spPr bwMode="auto">
          <a:xfrm>
            <a:off x="5400675" y="4010025"/>
            <a:ext cx="2773363" cy="293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 sz="1400" b="1">
                <a:solidFill>
                  <a:srgbClr val="0000FF"/>
                </a:solidFill>
              </a:rPr>
              <a:t> MUL.D   Add1    -       -    R[F4]</a:t>
            </a:r>
          </a:p>
        </p:txBody>
      </p:sp>
      <p:sp>
        <p:nvSpPr>
          <p:cNvPr id="42039" name="TextBox 70"/>
          <p:cNvSpPr txBox="1">
            <a:spLocks noChangeArrowheads="1"/>
          </p:cNvSpPr>
          <p:nvPr/>
        </p:nvSpPr>
        <p:spPr bwMode="auto">
          <a:xfrm>
            <a:off x="6156325" y="1436688"/>
            <a:ext cx="1568450" cy="893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 sz="1400">
                <a:solidFill>
                  <a:schemeClr val="tx1"/>
                </a:solidFill>
              </a:rPr>
              <a:t>                       -</a:t>
            </a:r>
          </a:p>
          <a:p>
            <a:r>
              <a:rPr lang="en-CA" sz="1400">
                <a:solidFill>
                  <a:schemeClr val="tx1"/>
                </a:solidFill>
              </a:rPr>
              <a:t>                       -</a:t>
            </a:r>
          </a:p>
          <a:p>
            <a:r>
              <a:rPr lang="en-CA" sz="1400">
                <a:solidFill>
                  <a:schemeClr val="tx1"/>
                </a:solidFill>
              </a:rPr>
              <a:t>-                 R[F3]</a:t>
            </a:r>
          </a:p>
          <a:p>
            <a:r>
              <a:rPr lang="en-CA" sz="1400">
                <a:solidFill>
                  <a:schemeClr val="tx1"/>
                </a:solidFill>
              </a:rPr>
              <a:t>-                 R[F4]</a:t>
            </a:r>
          </a:p>
        </p:txBody>
      </p:sp>
    </p:spTree>
    <p:extLst>
      <p:ext uri="{BB962C8B-B14F-4D97-AF65-F5344CB8AC3E}">
        <p14:creationId xmlns:p14="http://schemas.microsoft.com/office/powerpoint/2010/main" val="16802256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0"/>
            <a:ext cx="8402637" cy="1022350"/>
          </a:xfrm>
        </p:spPr>
        <p:txBody>
          <a:bodyPr lIns="90360" tIns="44280" rIns="90360" bIns="44280"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200">
                <a:latin typeface="Arial  " charset="0"/>
                <a:cs typeface="Arial  " charset="0"/>
              </a:rPr>
              <a:t>Tomasulo Algorithm, Renaming Implemented</a:t>
            </a:r>
          </a:p>
        </p:txBody>
      </p:sp>
      <p:sp>
        <p:nvSpPr>
          <p:cNvPr id="43011" name="Slide Number Placeholder 73"/>
          <p:cNvSpPr>
            <a:spLocks noGrp="1"/>
          </p:cNvSpPr>
          <p:nvPr>
            <p:ph type="sldNum" sz="quarter" idx="12"/>
          </p:nvPr>
        </p:nvSpPr>
        <p:spPr>
          <a:xfrm>
            <a:off x="7240588" y="6402388"/>
            <a:ext cx="1903412" cy="455612"/>
          </a:xfrm>
          <a:noFill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B311568-1EBA-4E60-80EF-87B393A13A72}" type="slidenum">
              <a:rPr lang="en-GB" smtClean="0"/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21</a:t>
            </a:fld>
            <a:r>
              <a:rPr lang="en-GB"/>
              <a:t> </a:t>
            </a:r>
          </a:p>
        </p:txBody>
      </p:sp>
      <p:grpSp>
        <p:nvGrpSpPr>
          <p:cNvPr id="43012" name="Group 10"/>
          <p:cNvGrpSpPr>
            <a:grpSpLocks/>
          </p:cNvGrpSpPr>
          <p:nvPr/>
        </p:nvGrpSpPr>
        <p:grpSpPr bwMode="auto">
          <a:xfrm>
            <a:off x="3824288" y="1246188"/>
            <a:ext cx="1663700" cy="1217612"/>
            <a:chOff x="2104" y="785"/>
            <a:chExt cx="575" cy="767"/>
          </a:xfrm>
        </p:grpSpPr>
        <p:sp>
          <p:nvSpPr>
            <p:cNvPr id="12299" name="Rectangle 11"/>
            <p:cNvSpPr>
              <a:spLocks noChangeArrowheads="1"/>
            </p:cNvSpPr>
            <p:nvPr/>
          </p:nvSpPr>
          <p:spPr bwMode="auto">
            <a:xfrm>
              <a:off x="2104" y="785"/>
              <a:ext cx="576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12300" name="Rectangle 12"/>
            <p:cNvSpPr>
              <a:spLocks noChangeArrowheads="1"/>
            </p:cNvSpPr>
            <p:nvPr/>
          </p:nvSpPr>
          <p:spPr bwMode="auto">
            <a:xfrm>
              <a:off x="2104" y="913"/>
              <a:ext cx="576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12301" name="Rectangle 13"/>
            <p:cNvSpPr>
              <a:spLocks noChangeArrowheads="1"/>
            </p:cNvSpPr>
            <p:nvPr/>
          </p:nvSpPr>
          <p:spPr bwMode="auto">
            <a:xfrm>
              <a:off x="2104" y="1041"/>
              <a:ext cx="576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12302" name="Rectangle 14"/>
            <p:cNvSpPr>
              <a:spLocks noChangeArrowheads="1"/>
            </p:cNvSpPr>
            <p:nvPr/>
          </p:nvSpPr>
          <p:spPr bwMode="auto">
            <a:xfrm>
              <a:off x="2104" y="1169"/>
              <a:ext cx="576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12303" name="Rectangle 15"/>
            <p:cNvSpPr>
              <a:spLocks noChangeArrowheads="1"/>
            </p:cNvSpPr>
            <p:nvPr/>
          </p:nvSpPr>
          <p:spPr bwMode="auto">
            <a:xfrm>
              <a:off x="2104" y="1297"/>
              <a:ext cx="576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 sz="16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12304" name="Rectangle 16"/>
            <p:cNvSpPr>
              <a:spLocks noChangeArrowheads="1"/>
            </p:cNvSpPr>
            <p:nvPr/>
          </p:nvSpPr>
          <p:spPr bwMode="auto">
            <a:xfrm>
              <a:off x="2104" y="1425"/>
              <a:ext cx="576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 sz="16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</p:grpSp>
      <p:grpSp>
        <p:nvGrpSpPr>
          <p:cNvPr id="43013" name="Group 17"/>
          <p:cNvGrpSpPr>
            <a:grpSpLocks/>
          </p:cNvGrpSpPr>
          <p:nvPr/>
        </p:nvGrpSpPr>
        <p:grpSpPr bwMode="auto">
          <a:xfrm>
            <a:off x="6159500" y="1474788"/>
            <a:ext cx="2208213" cy="811212"/>
            <a:chOff x="3256" y="929"/>
            <a:chExt cx="1391" cy="511"/>
          </a:xfrm>
        </p:grpSpPr>
        <p:sp>
          <p:nvSpPr>
            <p:cNvPr id="12306" name="Rectangle 18"/>
            <p:cNvSpPr>
              <a:spLocks noChangeArrowheads="1"/>
            </p:cNvSpPr>
            <p:nvPr/>
          </p:nvSpPr>
          <p:spPr bwMode="auto">
            <a:xfrm>
              <a:off x="3256" y="929"/>
              <a:ext cx="1392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12307" name="Rectangle 19"/>
            <p:cNvSpPr>
              <a:spLocks noChangeArrowheads="1"/>
            </p:cNvSpPr>
            <p:nvPr/>
          </p:nvSpPr>
          <p:spPr bwMode="auto">
            <a:xfrm>
              <a:off x="3256" y="1057"/>
              <a:ext cx="1392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12308" name="Rectangle 20"/>
            <p:cNvSpPr>
              <a:spLocks noChangeArrowheads="1"/>
            </p:cNvSpPr>
            <p:nvPr/>
          </p:nvSpPr>
          <p:spPr bwMode="auto">
            <a:xfrm>
              <a:off x="3256" y="1185"/>
              <a:ext cx="1392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12309" name="Rectangle 21"/>
            <p:cNvSpPr>
              <a:spLocks noChangeArrowheads="1"/>
            </p:cNvSpPr>
            <p:nvPr/>
          </p:nvSpPr>
          <p:spPr bwMode="auto">
            <a:xfrm>
              <a:off x="3256" y="1313"/>
              <a:ext cx="1392" cy="128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</p:grpSp>
      <p:grpSp>
        <p:nvGrpSpPr>
          <p:cNvPr id="43014" name="Group 26"/>
          <p:cNvGrpSpPr>
            <a:grpSpLocks/>
          </p:cNvGrpSpPr>
          <p:nvPr/>
        </p:nvGrpSpPr>
        <p:grpSpPr bwMode="auto">
          <a:xfrm>
            <a:off x="2187575" y="3913188"/>
            <a:ext cx="2689225" cy="608012"/>
            <a:chOff x="1057" y="2465"/>
            <a:chExt cx="1391" cy="383"/>
          </a:xfrm>
        </p:grpSpPr>
        <p:sp>
          <p:nvSpPr>
            <p:cNvPr id="12315" name="Rectangle 27"/>
            <p:cNvSpPr>
              <a:spLocks noChangeArrowheads="1"/>
            </p:cNvSpPr>
            <p:nvPr/>
          </p:nvSpPr>
          <p:spPr bwMode="auto">
            <a:xfrm>
              <a:off x="1057" y="2465"/>
              <a:ext cx="1392" cy="128"/>
            </a:xfrm>
            <a:prstGeom prst="rect">
              <a:avLst/>
            </a:prstGeom>
            <a:solidFill>
              <a:srgbClr val="BBE0E3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12316" name="Rectangle 28"/>
            <p:cNvSpPr>
              <a:spLocks noChangeArrowheads="1"/>
            </p:cNvSpPr>
            <p:nvPr/>
          </p:nvSpPr>
          <p:spPr bwMode="auto">
            <a:xfrm>
              <a:off x="1057" y="2593"/>
              <a:ext cx="1392" cy="128"/>
            </a:xfrm>
            <a:prstGeom prst="rect">
              <a:avLst/>
            </a:prstGeom>
            <a:solidFill>
              <a:srgbClr val="BBE0E3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12317" name="Rectangle 29"/>
            <p:cNvSpPr>
              <a:spLocks noChangeArrowheads="1"/>
            </p:cNvSpPr>
            <p:nvPr/>
          </p:nvSpPr>
          <p:spPr bwMode="auto">
            <a:xfrm>
              <a:off x="1057" y="2721"/>
              <a:ext cx="1392" cy="128"/>
            </a:xfrm>
            <a:prstGeom prst="rect">
              <a:avLst/>
            </a:prstGeom>
            <a:solidFill>
              <a:srgbClr val="BBE0E3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</p:grpSp>
      <p:sp>
        <p:nvSpPr>
          <p:cNvPr id="43015" name="Rectangle 30"/>
          <p:cNvSpPr>
            <a:spLocks noChangeArrowheads="1"/>
          </p:cNvSpPr>
          <p:nvPr/>
        </p:nvSpPr>
        <p:spPr bwMode="auto">
          <a:xfrm>
            <a:off x="3011488" y="3913188"/>
            <a:ext cx="336550" cy="609600"/>
          </a:xfrm>
          <a:prstGeom prst="rect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cs typeface="Arial" pitchFamily="34" charset="0"/>
            </a:endParaRPr>
          </a:p>
        </p:txBody>
      </p:sp>
      <p:sp>
        <p:nvSpPr>
          <p:cNvPr id="12319" name="Rectangle 31"/>
          <p:cNvSpPr>
            <a:spLocks noChangeArrowheads="1"/>
          </p:cNvSpPr>
          <p:nvPr/>
        </p:nvSpPr>
        <p:spPr bwMode="auto">
          <a:xfrm>
            <a:off x="3240088" y="5056188"/>
            <a:ext cx="1066800" cy="304800"/>
          </a:xfrm>
          <a:prstGeom prst="rect">
            <a:avLst/>
          </a:prstGeom>
          <a:solidFill>
            <a:srgbClr val="BBE0E3"/>
          </a:solidFill>
          <a:ln w="28440">
            <a:solidFill>
              <a:srgbClr val="000000"/>
            </a:solidFill>
            <a:miter lim="800000"/>
            <a:headEnd/>
            <a:tailEnd/>
          </a:ln>
          <a:effectLst>
            <a:outerShdw blurRad="63500" dist="107933" dir="2700000" algn="ctr" rotWithShape="0">
              <a:srgbClr val="000000">
                <a:alpha val="74998"/>
              </a:srgbClr>
            </a:outerShdw>
          </a:effectLst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600" b="1">
                <a:solidFill>
                  <a:srgbClr val="000000"/>
                </a:solidFill>
                <a:cs typeface="Arial" pitchFamily="34" charset="0"/>
              </a:rPr>
              <a:t>FP adders</a:t>
            </a:r>
          </a:p>
        </p:txBody>
      </p:sp>
      <p:sp>
        <p:nvSpPr>
          <p:cNvPr id="43017" name="Text Box 32"/>
          <p:cNvSpPr txBox="1">
            <a:spLocks noChangeArrowheads="1"/>
          </p:cNvSpPr>
          <p:nvPr/>
        </p:nvSpPr>
        <p:spPr bwMode="auto">
          <a:xfrm>
            <a:off x="1401763" y="3902075"/>
            <a:ext cx="628650" cy="719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100000"/>
              </a:lnSpc>
              <a:buClr>
                <a:srgbClr val="009999"/>
              </a:buClr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009999"/>
                </a:solidFill>
                <a:cs typeface="Arial" pitchFamily="34" charset="0"/>
              </a:rPr>
              <a:t>Add1</a:t>
            </a:r>
          </a:p>
          <a:p>
            <a:pPr algn="ctr">
              <a:lnSpc>
                <a:spcPct val="100000"/>
              </a:lnSpc>
              <a:buClr>
                <a:srgbClr val="009999"/>
              </a:buClr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009999"/>
                </a:solidFill>
                <a:cs typeface="Arial" pitchFamily="34" charset="0"/>
              </a:rPr>
              <a:t>Add2</a:t>
            </a:r>
          </a:p>
          <a:p>
            <a:pPr algn="ctr">
              <a:lnSpc>
                <a:spcPct val="90000"/>
              </a:lnSpc>
              <a:buClr>
                <a:srgbClr val="009999"/>
              </a:buClr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009999"/>
                </a:solidFill>
                <a:cs typeface="Arial" pitchFamily="34" charset="0"/>
              </a:rPr>
              <a:t>Add3</a:t>
            </a:r>
          </a:p>
        </p:txBody>
      </p:sp>
      <p:grpSp>
        <p:nvGrpSpPr>
          <p:cNvPr id="43018" name="Group 33"/>
          <p:cNvGrpSpPr>
            <a:grpSpLocks/>
          </p:cNvGrpSpPr>
          <p:nvPr/>
        </p:nvGrpSpPr>
        <p:grpSpPr bwMode="auto">
          <a:xfrm>
            <a:off x="5438775" y="4065588"/>
            <a:ext cx="2625725" cy="366712"/>
            <a:chOff x="2802" y="2561"/>
            <a:chExt cx="1654" cy="231"/>
          </a:xfrm>
        </p:grpSpPr>
        <p:sp>
          <p:nvSpPr>
            <p:cNvPr id="12322" name="Rectangle 34"/>
            <p:cNvSpPr>
              <a:spLocks noChangeArrowheads="1"/>
            </p:cNvSpPr>
            <p:nvPr/>
          </p:nvSpPr>
          <p:spPr bwMode="auto">
            <a:xfrm>
              <a:off x="2802" y="2561"/>
              <a:ext cx="1654" cy="114"/>
            </a:xfrm>
            <a:prstGeom prst="rect">
              <a:avLst/>
            </a:prstGeom>
            <a:solidFill>
              <a:srgbClr val="BBE0E3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  <p:sp>
          <p:nvSpPr>
            <p:cNvPr id="12323" name="Rectangle 35"/>
            <p:cNvSpPr>
              <a:spLocks noChangeArrowheads="1"/>
            </p:cNvSpPr>
            <p:nvPr/>
          </p:nvSpPr>
          <p:spPr bwMode="auto">
            <a:xfrm>
              <a:off x="2802" y="2676"/>
              <a:ext cx="1654" cy="116"/>
            </a:xfrm>
            <a:prstGeom prst="rect">
              <a:avLst/>
            </a:prstGeom>
            <a:solidFill>
              <a:srgbClr val="BBE0E3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93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pitchFamily="34" charset="0"/>
              </a:endParaRPr>
            </a:p>
          </p:txBody>
        </p:sp>
      </p:grpSp>
      <p:sp>
        <p:nvSpPr>
          <p:cNvPr id="43019" name="Rectangle 36"/>
          <p:cNvSpPr>
            <a:spLocks noChangeArrowheads="1"/>
          </p:cNvSpPr>
          <p:nvPr/>
        </p:nvSpPr>
        <p:spPr bwMode="auto">
          <a:xfrm>
            <a:off x="6208713" y="4065588"/>
            <a:ext cx="439737" cy="373062"/>
          </a:xfrm>
          <a:prstGeom prst="rect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cs typeface="Arial" pitchFamily="34" charset="0"/>
            </a:endParaRPr>
          </a:p>
        </p:txBody>
      </p:sp>
      <p:sp>
        <p:nvSpPr>
          <p:cNvPr id="12325" name="Rectangle 37"/>
          <p:cNvSpPr>
            <a:spLocks noChangeArrowheads="1"/>
          </p:cNvSpPr>
          <p:nvPr/>
        </p:nvSpPr>
        <p:spPr bwMode="auto">
          <a:xfrm>
            <a:off x="6311900" y="5056188"/>
            <a:ext cx="1447800" cy="304800"/>
          </a:xfrm>
          <a:prstGeom prst="rect">
            <a:avLst/>
          </a:prstGeom>
          <a:solidFill>
            <a:srgbClr val="BBE0E3"/>
          </a:solidFill>
          <a:ln w="28440">
            <a:solidFill>
              <a:srgbClr val="000000"/>
            </a:solidFill>
            <a:miter lim="800000"/>
            <a:headEnd/>
            <a:tailEnd/>
          </a:ln>
          <a:effectLst>
            <a:outerShdw blurRad="63500" dist="107933" dir="2700000" algn="ctr" rotWithShape="0">
              <a:srgbClr val="000000">
                <a:alpha val="74998"/>
              </a:srgbClr>
            </a:outerShdw>
          </a:effectLst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600" b="1">
                <a:solidFill>
                  <a:srgbClr val="000000"/>
                </a:solidFill>
                <a:cs typeface="Arial" pitchFamily="34" charset="0"/>
              </a:rPr>
              <a:t>FP multipliers</a:t>
            </a:r>
          </a:p>
        </p:txBody>
      </p:sp>
      <p:sp>
        <p:nvSpPr>
          <p:cNvPr id="43021" name="Text Box 38"/>
          <p:cNvSpPr txBox="1">
            <a:spLocks noChangeArrowheads="1"/>
          </p:cNvSpPr>
          <p:nvPr/>
        </p:nvSpPr>
        <p:spPr bwMode="auto">
          <a:xfrm>
            <a:off x="8105775" y="3986213"/>
            <a:ext cx="588963" cy="4810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0000"/>
              </a:lnSpc>
              <a:buClr>
                <a:srgbClr val="009999"/>
              </a:buClr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009999"/>
                </a:solidFill>
                <a:cs typeface="Arial" pitchFamily="34" charset="0"/>
              </a:rPr>
              <a:t>Mul1</a:t>
            </a:r>
          </a:p>
          <a:p>
            <a:pPr algn="ctr">
              <a:lnSpc>
                <a:spcPct val="90000"/>
              </a:lnSpc>
              <a:buClr>
                <a:srgbClr val="009999"/>
              </a:buClr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009999"/>
                </a:solidFill>
                <a:cs typeface="Arial" pitchFamily="34" charset="0"/>
              </a:rPr>
              <a:t>Mul2</a:t>
            </a:r>
          </a:p>
        </p:txBody>
      </p:sp>
      <p:sp>
        <p:nvSpPr>
          <p:cNvPr id="43022" name="Line 39"/>
          <p:cNvSpPr>
            <a:spLocks noChangeShapeType="1"/>
          </p:cNvSpPr>
          <p:nvPr/>
        </p:nvSpPr>
        <p:spPr bwMode="auto">
          <a:xfrm>
            <a:off x="3416300" y="4522788"/>
            <a:ext cx="1588" cy="533400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43023" name="Line 40"/>
          <p:cNvSpPr>
            <a:spLocks noChangeShapeType="1"/>
          </p:cNvSpPr>
          <p:nvPr/>
        </p:nvSpPr>
        <p:spPr bwMode="auto">
          <a:xfrm>
            <a:off x="4102100" y="4522788"/>
            <a:ext cx="1588" cy="533400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43024" name="Line 41"/>
          <p:cNvSpPr>
            <a:spLocks noChangeShapeType="1"/>
          </p:cNvSpPr>
          <p:nvPr/>
        </p:nvSpPr>
        <p:spPr bwMode="auto">
          <a:xfrm>
            <a:off x="6540500" y="4446588"/>
            <a:ext cx="1588" cy="609600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43025" name="Line 42"/>
          <p:cNvSpPr>
            <a:spLocks noChangeShapeType="1"/>
          </p:cNvSpPr>
          <p:nvPr/>
        </p:nvSpPr>
        <p:spPr bwMode="auto">
          <a:xfrm>
            <a:off x="7454900" y="4446588"/>
            <a:ext cx="1588" cy="609600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43026" name="Freeform 43"/>
          <p:cNvSpPr>
            <a:spLocks/>
          </p:cNvSpPr>
          <p:nvPr/>
        </p:nvSpPr>
        <p:spPr bwMode="auto">
          <a:xfrm>
            <a:off x="2806700" y="2465388"/>
            <a:ext cx="1981200" cy="1447800"/>
          </a:xfrm>
          <a:custGeom>
            <a:avLst/>
            <a:gdLst>
              <a:gd name="T0" fmla="*/ 2147483647 w 1248"/>
              <a:gd name="T1" fmla="*/ 0 h 912"/>
              <a:gd name="T2" fmla="*/ 2147483647 w 1248"/>
              <a:gd name="T3" fmla="*/ 2147483647 h 912"/>
              <a:gd name="T4" fmla="*/ 0 w 1248"/>
              <a:gd name="T5" fmla="*/ 2147483647 h 912"/>
              <a:gd name="T6" fmla="*/ 0 w 1248"/>
              <a:gd name="T7" fmla="*/ 2147483647 h 912"/>
              <a:gd name="T8" fmla="*/ 0 60000 65536"/>
              <a:gd name="T9" fmla="*/ 0 60000 65536"/>
              <a:gd name="T10" fmla="*/ 0 60000 65536"/>
              <a:gd name="T11" fmla="*/ 0 60000 65536"/>
              <a:gd name="T12" fmla="*/ 0 w 1248"/>
              <a:gd name="T13" fmla="*/ 0 h 912"/>
              <a:gd name="T14" fmla="*/ 1248 w 1248"/>
              <a:gd name="T15" fmla="*/ 912 h 9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48" h="912">
                <a:moveTo>
                  <a:pt x="1248" y="0"/>
                </a:moveTo>
                <a:lnTo>
                  <a:pt x="1248" y="672"/>
                </a:lnTo>
                <a:lnTo>
                  <a:pt x="0" y="672"/>
                </a:lnTo>
                <a:lnTo>
                  <a:pt x="0" y="912"/>
                </a:lnTo>
              </a:path>
            </a:pathLst>
          </a:custGeom>
          <a:noFill/>
          <a:ln w="2844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43027" name="Freeform 44"/>
          <p:cNvSpPr>
            <a:spLocks/>
          </p:cNvSpPr>
          <p:nvPr/>
        </p:nvSpPr>
        <p:spPr bwMode="auto">
          <a:xfrm>
            <a:off x="4787900" y="3532188"/>
            <a:ext cx="1219200" cy="533400"/>
          </a:xfrm>
          <a:custGeom>
            <a:avLst/>
            <a:gdLst>
              <a:gd name="T0" fmla="*/ 0 w 768"/>
              <a:gd name="T1" fmla="*/ 0 h 336"/>
              <a:gd name="T2" fmla="*/ 2147483647 w 768"/>
              <a:gd name="T3" fmla="*/ 0 h 336"/>
              <a:gd name="T4" fmla="*/ 2147483647 w 768"/>
              <a:gd name="T5" fmla="*/ 2147483647 h 336"/>
              <a:gd name="T6" fmla="*/ 0 60000 65536"/>
              <a:gd name="T7" fmla="*/ 0 60000 65536"/>
              <a:gd name="T8" fmla="*/ 0 60000 65536"/>
              <a:gd name="T9" fmla="*/ 0 w 768"/>
              <a:gd name="T10" fmla="*/ 0 h 336"/>
              <a:gd name="T11" fmla="*/ 768 w 768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68" h="336">
                <a:moveTo>
                  <a:pt x="0" y="0"/>
                </a:moveTo>
                <a:lnTo>
                  <a:pt x="768" y="0"/>
                </a:lnTo>
                <a:lnTo>
                  <a:pt x="768" y="336"/>
                </a:lnTo>
              </a:path>
            </a:pathLst>
          </a:custGeom>
          <a:noFill/>
          <a:ln w="2844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43028" name="Freeform 45"/>
          <p:cNvSpPr>
            <a:spLocks/>
          </p:cNvSpPr>
          <p:nvPr/>
        </p:nvSpPr>
        <p:spPr bwMode="auto">
          <a:xfrm>
            <a:off x="3103563" y="2312988"/>
            <a:ext cx="3225800" cy="1600200"/>
          </a:xfrm>
          <a:custGeom>
            <a:avLst/>
            <a:gdLst>
              <a:gd name="T0" fmla="*/ 2147483647 w 1968"/>
              <a:gd name="T1" fmla="*/ 0 h 1008"/>
              <a:gd name="T2" fmla="*/ 2147483647 w 1968"/>
              <a:gd name="T3" fmla="*/ 2147483647 h 1008"/>
              <a:gd name="T4" fmla="*/ 0 w 1968"/>
              <a:gd name="T5" fmla="*/ 2147483647 h 1008"/>
              <a:gd name="T6" fmla="*/ 0 w 1968"/>
              <a:gd name="T7" fmla="*/ 2147483647 h 1008"/>
              <a:gd name="T8" fmla="*/ 0 60000 65536"/>
              <a:gd name="T9" fmla="*/ 0 60000 65536"/>
              <a:gd name="T10" fmla="*/ 0 60000 65536"/>
              <a:gd name="T11" fmla="*/ 0 60000 65536"/>
              <a:gd name="T12" fmla="*/ 0 w 1968"/>
              <a:gd name="T13" fmla="*/ 0 h 1008"/>
              <a:gd name="T14" fmla="*/ 1968 w 1968"/>
              <a:gd name="T15" fmla="*/ 1008 h 10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68" h="1008">
                <a:moveTo>
                  <a:pt x="1968" y="0"/>
                </a:moveTo>
                <a:lnTo>
                  <a:pt x="1968" y="528"/>
                </a:lnTo>
                <a:lnTo>
                  <a:pt x="0" y="528"/>
                </a:lnTo>
                <a:lnTo>
                  <a:pt x="0" y="1008"/>
                </a:lnTo>
              </a:path>
            </a:pathLst>
          </a:custGeom>
          <a:noFill/>
          <a:ln w="2844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43029" name="Line 46"/>
          <p:cNvSpPr>
            <a:spLocks noChangeShapeType="1"/>
          </p:cNvSpPr>
          <p:nvPr/>
        </p:nvSpPr>
        <p:spPr bwMode="auto">
          <a:xfrm>
            <a:off x="6329363" y="3151188"/>
            <a:ext cx="1587" cy="914400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43030" name="Line 47"/>
          <p:cNvSpPr>
            <a:spLocks noChangeShapeType="1"/>
          </p:cNvSpPr>
          <p:nvPr/>
        </p:nvSpPr>
        <p:spPr bwMode="auto">
          <a:xfrm>
            <a:off x="7562850" y="2312988"/>
            <a:ext cx="1588" cy="1752600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43031" name="Freeform 48"/>
          <p:cNvSpPr>
            <a:spLocks/>
          </p:cNvSpPr>
          <p:nvPr/>
        </p:nvSpPr>
        <p:spPr bwMode="auto">
          <a:xfrm>
            <a:off x="4389438" y="3348038"/>
            <a:ext cx="3162300" cy="565150"/>
          </a:xfrm>
          <a:custGeom>
            <a:avLst/>
            <a:gdLst>
              <a:gd name="T0" fmla="*/ 2147483647 w 1920"/>
              <a:gd name="T1" fmla="*/ 0 h 384"/>
              <a:gd name="T2" fmla="*/ 0 w 1920"/>
              <a:gd name="T3" fmla="*/ 0 h 384"/>
              <a:gd name="T4" fmla="*/ 0 w 1920"/>
              <a:gd name="T5" fmla="*/ 2147483647 h 384"/>
              <a:gd name="T6" fmla="*/ 0 60000 65536"/>
              <a:gd name="T7" fmla="*/ 0 60000 65536"/>
              <a:gd name="T8" fmla="*/ 0 60000 65536"/>
              <a:gd name="T9" fmla="*/ 0 w 1920"/>
              <a:gd name="T10" fmla="*/ 0 h 384"/>
              <a:gd name="T11" fmla="*/ 1920 w 1920"/>
              <a:gd name="T12" fmla="*/ 384 h 3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0" h="384">
                <a:moveTo>
                  <a:pt x="1920" y="0"/>
                </a:moveTo>
                <a:lnTo>
                  <a:pt x="0" y="0"/>
                </a:lnTo>
                <a:lnTo>
                  <a:pt x="0" y="384"/>
                </a:lnTo>
              </a:path>
            </a:pathLst>
          </a:custGeom>
          <a:noFill/>
          <a:ln w="2844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43032" name="Line 50"/>
          <p:cNvSpPr>
            <a:spLocks noChangeShapeType="1"/>
          </p:cNvSpPr>
          <p:nvPr/>
        </p:nvSpPr>
        <p:spPr bwMode="auto">
          <a:xfrm>
            <a:off x="3759200" y="6019800"/>
            <a:ext cx="5130800" cy="25400"/>
          </a:xfrm>
          <a:prstGeom prst="line">
            <a:avLst/>
          </a:prstGeom>
          <a:noFill/>
          <a:ln w="57240">
            <a:solidFill>
              <a:srgbClr val="009999"/>
            </a:solidFill>
            <a:miter lim="800000"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43033" name="Freeform 52"/>
          <p:cNvSpPr>
            <a:spLocks/>
          </p:cNvSpPr>
          <p:nvPr/>
        </p:nvSpPr>
        <p:spPr bwMode="auto">
          <a:xfrm>
            <a:off x="8429625" y="1844675"/>
            <a:ext cx="447675" cy="4191000"/>
          </a:xfrm>
          <a:custGeom>
            <a:avLst/>
            <a:gdLst>
              <a:gd name="T0" fmla="*/ 2147483647 w 960"/>
              <a:gd name="T1" fmla="*/ 2147483647 h 2448"/>
              <a:gd name="T2" fmla="*/ 2147483647 w 960"/>
              <a:gd name="T3" fmla="*/ 0 h 2448"/>
              <a:gd name="T4" fmla="*/ 0 w 960"/>
              <a:gd name="T5" fmla="*/ 0 h 2448"/>
              <a:gd name="T6" fmla="*/ 0 60000 65536"/>
              <a:gd name="T7" fmla="*/ 0 60000 65536"/>
              <a:gd name="T8" fmla="*/ 0 60000 65536"/>
              <a:gd name="T9" fmla="*/ 0 w 960"/>
              <a:gd name="T10" fmla="*/ 0 h 2448"/>
              <a:gd name="T11" fmla="*/ 960 w 960"/>
              <a:gd name="T12" fmla="*/ 2448 h 24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0" h="2448">
                <a:moveTo>
                  <a:pt x="960" y="2448"/>
                </a:moveTo>
                <a:lnTo>
                  <a:pt x="960" y="0"/>
                </a:lnTo>
                <a:lnTo>
                  <a:pt x="0" y="0"/>
                </a:lnTo>
              </a:path>
            </a:pathLst>
          </a:custGeom>
          <a:noFill/>
          <a:ln w="57240">
            <a:solidFill>
              <a:srgbClr val="009999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43034" name="Line 54"/>
          <p:cNvSpPr>
            <a:spLocks noChangeShapeType="1"/>
          </p:cNvSpPr>
          <p:nvPr/>
        </p:nvSpPr>
        <p:spPr bwMode="auto">
          <a:xfrm>
            <a:off x="7050088" y="5349875"/>
            <a:ext cx="1587" cy="685800"/>
          </a:xfrm>
          <a:prstGeom prst="line">
            <a:avLst/>
          </a:prstGeom>
          <a:noFill/>
          <a:ln w="57240">
            <a:solidFill>
              <a:srgbClr val="009999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43035" name="Line 55"/>
          <p:cNvSpPr>
            <a:spLocks noChangeShapeType="1"/>
          </p:cNvSpPr>
          <p:nvPr/>
        </p:nvSpPr>
        <p:spPr bwMode="auto">
          <a:xfrm>
            <a:off x="3773488" y="5349875"/>
            <a:ext cx="1587" cy="685800"/>
          </a:xfrm>
          <a:prstGeom prst="line">
            <a:avLst/>
          </a:prstGeom>
          <a:noFill/>
          <a:ln w="57240">
            <a:solidFill>
              <a:srgbClr val="009999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43036" name="Text Box 58"/>
          <p:cNvSpPr txBox="1">
            <a:spLocks noChangeArrowheads="1"/>
          </p:cNvSpPr>
          <p:nvPr/>
        </p:nvSpPr>
        <p:spPr bwMode="auto">
          <a:xfrm>
            <a:off x="6408738" y="1155700"/>
            <a:ext cx="1589087" cy="371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100000"/>
              </a:lnSpc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cs typeface="Arial" pitchFamily="34" charset="0"/>
              </a:rPr>
              <a:t>FP Registers</a:t>
            </a:r>
          </a:p>
        </p:txBody>
      </p:sp>
      <p:sp>
        <p:nvSpPr>
          <p:cNvPr id="43037" name="Text Box 59"/>
          <p:cNvSpPr txBox="1">
            <a:spLocks noChangeArrowheads="1"/>
          </p:cNvSpPr>
          <p:nvPr/>
        </p:nvSpPr>
        <p:spPr bwMode="auto">
          <a:xfrm>
            <a:off x="4711700" y="4545013"/>
            <a:ext cx="1566863" cy="64928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100000"/>
              </a:lnSpc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cs typeface="Arial" pitchFamily="34" charset="0"/>
              </a:rPr>
              <a:t>Reservation </a:t>
            </a:r>
          </a:p>
          <a:p>
            <a:pPr algn="ctr">
              <a:lnSpc>
                <a:spcPct val="100000"/>
              </a:lnSpc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cs typeface="Arial" pitchFamily="34" charset="0"/>
              </a:rPr>
              <a:t>Stations</a:t>
            </a:r>
          </a:p>
        </p:txBody>
      </p:sp>
      <p:sp>
        <p:nvSpPr>
          <p:cNvPr id="43038" name="Line 60"/>
          <p:cNvSpPr>
            <a:spLocks noChangeShapeType="1"/>
          </p:cNvSpPr>
          <p:nvPr/>
        </p:nvSpPr>
        <p:spPr bwMode="auto">
          <a:xfrm flipV="1">
            <a:off x="4535488" y="4510088"/>
            <a:ext cx="1587" cy="1222375"/>
          </a:xfrm>
          <a:prstGeom prst="line">
            <a:avLst/>
          </a:prstGeom>
          <a:noFill/>
          <a:ln w="38160">
            <a:solidFill>
              <a:srgbClr val="333399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43039" name="Line 61"/>
          <p:cNvSpPr>
            <a:spLocks noChangeShapeType="1"/>
          </p:cNvSpPr>
          <p:nvPr/>
        </p:nvSpPr>
        <p:spPr bwMode="auto">
          <a:xfrm flipH="1" flipV="1">
            <a:off x="4524375" y="4583113"/>
            <a:ext cx="11113" cy="1454150"/>
          </a:xfrm>
          <a:prstGeom prst="line">
            <a:avLst/>
          </a:prstGeom>
          <a:noFill/>
          <a:ln w="57240">
            <a:solidFill>
              <a:srgbClr val="009999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43040" name="Line 62"/>
          <p:cNvSpPr>
            <a:spLocks noChangeShapeType="1"/>
          </p:cNvSpPr>
          <p:nvPr/>
        </p:nvSpPr>
        <p:spPr bwMode="auto">
          <a:xfrm flipH="1" flipV="1">
            <a:off x="7885113" y="4497388"/>
            <a:ext cx="3175" cy="1539875"/>
          </a:xfrm>
          <a:prstGeom prst="line">
            <a:avLst/>
          </a:prstGeom>
          <a:noFill/>
          <a:ln w="57240">
            <a:solidFill>
              <a:srgbClr val="009999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43041" name="Text Box 63"/>
          <p:cNvSpPr txBox="1">
            <a:spLocks noChangeArrowheads="1"/>
          </p:cNvSpPr>
          <p:nvPr/>
        </p:nvSpPr>
        <p:spPr bwMode="auto">
          <a:xfrm>
            <a:off x="4411663" y="6043613"/>
            <a:ext cx="2965450" cy="371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100000"/>
              </a:lnSpc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cs typeface="Arial" pitchFamily="34" charset="0"/>
              </a:rPr>
              <a:t>Common Data Bus (CDB)</a:t>
            </a:r>
            <a:r>
              <a:rPr lang="ar-SA" sz="1800" b="1">
                <a:solidFill>
                  <a:srgbClr val="000000"/>
                </a:solidFill>
                <a:cs typeface="Arial" pitchFamily="34" charset="0"/>
              </a:rPr>
              <a:t>‏</a:t>
            </a:r>
            <a:endParaRPr lang="en-GB" sz="1800" b="1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43042" name="Text Box 65"/>
          <p:cNvSpPr txBox="1">
            <a:spLocks noChangeArrowheads="1"/>
          </p:cNvSpPr>
          <p:nvPr/>
        </p:nvSpPr>
        <p:spPr bwMode="auto">
          <a:xfrm>
            <a:off x="2901950" y="1219200"/>
            <a:ext cx="900113" cy="64928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100000"/>
              </a:lnSpc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cs typeface="Arial" pitchFamily="34" charset="0"/>
              </a:rPr>
              <a:t>FP Op</a:t>
            </a:r>
          </a:p>
          <a:p>
            <a:pPr algn="ctr">
              <a:lnSpc>
                <a:spcPct val="100000"/>
              </a:lnSpc>
              <a:buFont typeface="Comic Sans MS" pitchFamily="6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cs typeface="Arial" pitchFamily="34" charset="0"/>
              </a:rPr>
              <a:t>Queue</a:t>
            </a:r>
          </a:p>
        </p:txBody>
      </p:sp>
      <p:sp>
        <p:nvSpPr>
          <p:cNvPr id="43043" name="Rectangle 30"/>
          <p:cNvSpPr>
            <a:spLocks noChangeArrowheads="1"/>
          </p:cNvSpPr>
          <p:nvPr/>
        </p:nvSpPr>
        <p:spPr bwMode="auto">
          <a:xfrm>
            <a:off x="3929063" y="3916363"/>
            <a:ext cx="322262" cy="609600"/>
          </a:xfrm>
          <a:prstGeom prst="rect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cs typeface="Arial" pitchFamily="34" charset="0"/>
            </a:endParaRPr>
          </a:p>
        </p:txBody>
      </p:sp>
      <p:sp>
        <p:nvSpPr>
          <p:cNvPr id="43044" name="Rectangle 36"/>
          <p:cNvSpPr>
            <a:spLocks noChangeArrowheads="1"/>
          </p:cNvSpPr>
          <p:nvPr/>
        </p:nvSpPr>
        <p:spPr bwMode="auto">
          <a:xfrm>
            <a:off x="7089775" y="4068763"/>
            <a:ext cx="338138" cy="381000"/>
          </a:xfrm>
          <a:prstGeom prst="rect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cs typeface="Arial" pitchFamily="34" charset="0"/>
            </a:endParaRPr>
          </a:p>
        </p:txBody>
      </p:sp>
      <p:sp>
        <p:nvSpPr>
          <p:cNvPr id="43045" name="Rectangle 36"/>
          <p:cNvSpPr>
            <a:spLocks noChangeArrowheads="1"/>
          </p:cNvSpPr>
          <p:nvPr/>
        </p:nvSpPr>
        <p:spPr bwMode="auto">
          <a:xfrm>
            <a:off x="6156325" y="1470025"/>
            <a:ext cx="481013" cy="815975"/>
          </a:xfrm>
          <a:prstGeom prst="rect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cs typeface="Arial" pitchFamily="34" charset="0"/>
            </a:endParaRPr>
          </a:p>
        </p:txBody>
      </p:sp>
      <p:sp>
        <p:nvSpPr>
          <p:cNvPr id="43046" name="Line 46"/>
          <p:cNvSpPr>
            <a:spLocks noChangeShapeType="1"/>
          </p:cNvSpPr>
          <p:nvPr/>
        </p:nvSpPr>
        <p:spPr bwMode="auto">
          <a:xfrm>
            <a:off x="6724650" y="3360738"/>
            <a:ext cx="4763" cy="708025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43047" name="Oval 76"/>
          <p:cNvSpPr>
            <a:spLocks noChangeArrowheads="1"/>
          </p:cNvSpPr>
          <p:nvPr/>
        </p:nvSpPr>
        <p:spPr bwMode="auto">
          <a:xfrm>
            <a:off x="4749800" y="3487738"/>
            <a:ext cx="74613" cy="7302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43048" name="Oval 77"/>
          <p:cNvSpPr>
            <a:spLocks noChangeArrowheads="1"/>
          </p:cNvSpPr>
          <p:nvPr/>
        </p:nvSpPr>
        <p:spPr bwMode="auto">
          <a:xfrm>
            <a:off x="6286500" y="3101975"/>
            <a:ext cx="74613" cy="7302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43049" name="Line 46"/>
          <p:cNvSpPr>
            <a:spLocks noChangeShapeType="1"/>
          </p:cNvSpPr>
          <p:nvPr/>
        </p:nvSpPr>
        <p:spPr bwMode="auto">
          <a:xfrm flipH="1">
            <a:off x="4056063" y="3138488"/>
            <a:ext cx="0" cy="765175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43050" name="Oval 79"/>
          <p:cNvSpPr>
            <a:spLocks noChangeArrowheads="1"/>
          </p:cNvSpPr>
          <p:nvPr/>
        </p:nvSpPr>
        <p:spPr bwMode="auto">
          <a:xfrm>
            <a:off x="4011613" y="3121025"/>
            <a:ext cx="76200" cy="7302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43051" name="Freeform 49"/>
          <p:cNvSpPr>
            <a:spLocks/>
          </p:cNvSpPr>
          <p:nvPr/>
        </p:nvSpPr>
        <p:spPr bwMode="auto">
          <a:xfrm>
            <a:off x="6270625" y="3149600"/>
            <a:ext cx="960438" cy="903288"/>
          </a:xfrm>
          <a:custGeom>
            <a:avLst/>
            <a:gdLst>
              <a:gd name="T0" fmla="*/ 0 w 1008"/>
              <a:gd name="T1" fmla="*/ 0 h 144"/>
              <a:gd name="T2" fmla="*/ 2147483647 w 1008"/>
              <a:gd name="T3" fmla="*/ 0 h 144"/>
              <a:gd name="T4" fmla="*/ 2147483647 w 1008"/>
              <a:gd name="T5" fmla="*/ 2147483647 h 144"/>
              <a:gd name="T6" fmla="*/ 0 60000 65536"/>
              <a:gd name="T7" fmla="*/ 0 60000 65536"/>
              <a:gd name="T8" fmla="*/ 0 60000 65536"/>
              <a:gd name="T9" fmla="*/ 0 w 1008"/>
              <a:gd name="T10" fmla="*/ 0 h 144"/>
              <a:gd name="T11" fmla="*/ 1008 w 1008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08" h="144">
                <a:moveTo>
                  <a:pt x="0" y="0"/>
                </a:moveTo>
                <a:lnTo>
                  <a:pt x="1008" y="0"/>
                </a:lnTo>
                <a:lnTo>
                  <a:pt x="1008" y="144"/>
                </a:lnTo>
              </a:path>
            </a:pathLst>
          </a:custGeom>
          <a:noFill/>
          <a:ln w="2844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43052" name="Oval 81"/>
          <p:cNvSpPr>
            <a:spLocks noChangeArrowheads="1"/>
          </p:cNvSpPr>
          <p:nvPr/>
        </p:nvSpPr>
        <p:spPr bwMode="auto">
          <a:xfrm>
            <a:off x="6681788" y="3319463"/>
            <a:ext cx="74612" cy="7302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43053" name="Oval 82"/>
          <p:cNvSpPr>
            <a:spLocks noChangeArrowheads="1"/>
          </p:cNvSpPr>
          <p:nvPr/>
        </p:nvSpPr>
        <p:spPr bwMode="auto">
          <a:xfrm>
            <a:off x="7526338" y="3311525"/>
            <a:ext cx="74612" cy="7302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43054" name="Freeform 48"/>
          <p:cNvSpPr>
            <a:spLocks/>
          </p:cNvSpPr>
          <p:nvPr/>
        </p:nvSpPr>
        <p:spPr bwMode="auto">
          <a:xfrm>
            <a:off x="3529013" y="3352800"/>
            <a:ext cx="922337" cy="563563"/>
          </a:xfrm>
          <a:custGeom>
            <a:avLst/>
            <a:gdLst>
              <a:gd name="T0" fmla="*/ 2147483647 w 1920"/>
              <a:gd name="T1" fmla="*/ 0 h 384"/>
              <a:gd name="T2" fmla="*/ 0 w 1920"/>
              <a:gd name="T3" fmla="*/ 0 h 384"/>
              <a:gd name="T4" fmla="*/ 0 w 1920"/>
              <a:gd name="T5" fmla="*/ 2147483647 h 384"/>
              <a:gd name="T6" fmla="*/ 0 60000 65536"/>
              <a:gd name="T7" fmla="*/ 0 60000 65536"/>
              <a:gd name="T8" fmla="*/ 0 60000 65536"/>
              <a:gd name="T9" fmla="*/ 0 w 1920"/>
              <a:gd name="T10" fmla="*/ 0 h 384"/>
              <a:gd name="T11" fmla="*/ 1920 w 1920"/>
              <a:gd name="T12" fmla="*/ 384 h 3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0" h="384">
                <a:moveTo>
                  <a:pt x="1920" y="0"/>
                </a:moveTo>
                <a:lnTo>
                  <a:pt x="0" y="0"/>
                </a:lnTo>
                <a:lnTo>
                  <a:pt x="0" y="384"/>
                </a:lnTo>
              </a:path>
            </a:pathLst>
          </a:custGeom>
          <a:noFill/>
          <a:ln w="2844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43055" name="Oval 85"/>
          <p:cNvSpPr>
            <a:spLocks noChangeArrowheads="1"/>
          </p:cNvSpPr>
          <p:nvPr/>
        </p:nvSpPr>
        <p:spPr bwMode="auto">
          <a:xfrm>
            <a:off x="4346575" y="3306763"/>
            <a:ext cx="74613" cy="7302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43056" name="TextBox 88"/>
          <p:cNvSpPr txBox="1">
            <a:spLocks noChangeArrowheads="1"/>
          </p:cNvSpPr>
          <p:nvPr/>
        </p:nvSpPr>
        <p:spPr bwMode="auto">
          <a:xfrm>
            <a:off x="0" y="1206500"/>
            <a:ext cx="2824163" cy="1122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 u="sng">
                <a:solidFill>
                  <a:schemeClr val="tx1"/>
                </a:solidFill>
              </a:rPr>
              <a:t>Program:</a:t>
            </a:r>
          </a:p>
          <a:p>
            <a:r>
              <a:rPr lang="en-CA">
                <a:solidFill>
                  <a:schemeClr val="tx1"/>
                </a:solidFill>
              </a:rPr>
              <a:t>ADD.D  F1,F2,F3</a:t>
            </a:r>
          </a:p>
          <a:p>
            <a:r>
              <a:rPr lang="en-CA">
                <a:solidFill>
                  <a:schemeClr val="tx1"/>
                </a:solidFill>
              </a:rPr>
              <a:t>MUL.D  F2,F1,F4</a:t>
            </a:r>
          </a:p>
        </p:txBody>
      </p:sp>
      <p:sp>
        <p:nvSpPr>
          <p:cNvPr id="43057" name="TextBox 89"/>
          <p:cNvSpPr txBox="1">
            <a:spLocks noChangeArrowheads="1"/>
          </p:cNvSpPr>
          <p:nvPr/>
        </p:nvSpPr>
        <p:spPr bwMode="auto">
          <a:xfrm>
            <a:off x="-49213" y="6421438"/>
            <a:ext cx="9197976" cy="436562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CA" b="1">
                <a:solidFill>
                  <a:srgbClr val="0000FF"/>
                </a:solidFill>
              </a:rPr>
              <a:t>Cycle 4: result value “X” and name “ADD1” broadcast on CDB</a:t>
            </a:r>
          </a:p>
        </p:txBody>
      </p:sp>
      <p:sp>
        <p:nvSpPr>
          <p:cNvPr id="43058" name="TextBox 90"/>
          <p:cNvSpPr txBox="1">
            <a:spLocks noChangeArrowheads="1"/>
          </p:cNvSpPr>
          <p:nvPr/>
        </p:nvSpPr>
        <p:spPr bwMode="auto">
          <a:xfrm>
            <a:off x="5764213" y="1420813"/>
            <a:ext cx="392112" cy="893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CA" sz="1400">
                <a:solidFill>
                  <a:schemeClr val="tx1"/>
                </a:solidFill>
              </a:rPr>
              <a:t>F1</a:t>
            </a:r>
          </a:p>
          <a:p>
            <a:r>
              <a:rPr lang="en-CA" sz="1400">
                <a:solidFill>
                  <a:schemeClr val="tx1"/>
                </a:solidFill>
              </a:rPr>
              <a:t>F2</a:t>
            </a:r>
          </a:p>
          <a:p>
            <a:r>
              <a:rPr lang="en-CA" sz="1400">
                <a:solidFill>
                  <a:schemeClr val="tx1"/>
                </a:solidFill>
              </a:rPr>
              <a:t>F3</a:t>
            </a:r>
          </a:p>
          <a:p>
            <a:r>
              <a:rPr lang="en-CA" sz="1400">
                <a:solidFill>
                  <a:schemeClr val="tx1"/>
                </a:solidFill>
              </a:rPr>
              <a:t>F4</a:t>
            </a:r>
          </a:p>
        </p:txBody>
      </p:sp>
      <p:sp>
        <p:nvSpPr>
          <p:cNvPr id="43059" name="TextBox 67"/>
          <p:cNvSpPr txBox="1">
            <a:spLocks noChangeArrowheads="1"/>
          </p:cNvSpPr>
          <p:nvPr/>
        </p:nvSpPr>
        <p:spPr bwMode="auto">
          <a:xfrm>
            <a:off x="2187575" y="3870325"/>
            <a:ext cx="2714625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 sz="1400">
                <a:solidFill>
                  <a:schemeClr val="tx1"/>
                </a:solidFill>
              </a:rPr>
              <a:t> ADD.D       -    R[F2],   -    R[F3]</a:t>
            </a:r>
          </a:p>
        </p:txBody>
      </p:sp>
      <p:sp>
        <p:nvSpPr>
          <p:cNvPr id="43060" name="TextBox 68"/>
          <p:cNvSpPr txBox="1">
            <a:spLocks noChangeArrowheads="1"/>
          </p:cNvSpPr>
          <p:nvPr/>
        </p:nvSpPr>
        <p:spPr bwMode="auto">
          <a:xfrm>
            <a:off x="6080125" y="1622425"/>
            <a:ext cx="571500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CA" sz="1400">
                <a:solidFill>
                  <a:schemeClr val="tx1"/>
                </a:solidFill>
              </a:rPr>
              <a:t>Mul1</a:t>
            </a:r>
          </a:p>
        </p:txBody>
      </p:sp>
      <p:sp>
        <p:nvSpPr>
          <p:cNvPr id="43061" name="TextBox 69"/>
          <p:cNvSpPr txBox="1">
            <a:spLocks noChangeArrowheads="1"/>
          </p:cNvSpPr>
          <p:nvPr/>
        </p:nvSpPr>
        <p:spPr bwMode="auto">
          <a:xfrm>
            <a:off x="5400675" y="4010025"/>
            <a:ext cx="2773363" cy="293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 sz="1400">
                <a:solidFill>
                  <a:srgbClr val="0000FF"/>
                </a:solidFill>
              </a:rPr>
              <a:t> </a:t>
            </a:r>
            <a:r>
              <a:rPr lang="en-CA" sz="1400">
                <a:solidFill>
                  <a:schemeClr val="tx1"/>
                </a:solidFill>
              </a:rPr>
              <a:t>MUL.D</a:t>
            </a:r>
            <a:r>
              <a:rPr lang="en-CA" sz="1400">
                <a:solidFill>
                  <a:srgbClr val="0000FF"/>
                </a:solidFill>
              </a:rPr>
              <a:t>        -     </a:t>
            </a:r>
            <a:r>
              <a:rPr lang="en-CA" sz="1400" b="1">
                <a:solidFill>
                  <a:srgbClr val="0000FF"/>
                </a:solidFill>
              </a:rPr>
              <a:t>X</a:t>
            </a:r>
            <a:r>
              <a:rPr lang="en-CA" sz="1400">
                <a:solidFill>
                  <a:srgbClr val="0000FF"/>
                </a:solidFill>
              </a:rPr>
              <a:t>       </a:t>
            </a:r>
            <a:r>
              <a:rPr lang="en-CA" sz="1400">
                <a:solidFill>
                  <a:schemeClr val="tx1"/>
                </a:solidFill>
              </a:rPr>
              <a:t>-    R[F4]</a:t>
            </a:r>
          </a:p>
        </p:txBody>
      </p:sp>
      <p:sp>
        <p:nvSpPr>
          <p:cNvPr id="43062" name="TextBox 70"/>
          <p:cNvSpPr txBox="1">
            <a:spLocks noChangeArrowheads="1"/>
          </p:cNvSpPr>
          <p:nvPr/>
        </p:nvSpPr>
        <p:spPr bwMode="auto">
          <a:xfrm>
            <a:off x="6156325" y="1436688"/>
            <a:ext cx="1568450" cy="893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 sz="1400">
                <a:solidFill>
                  <a:schemeClr val="tx1"/>
                </a:solidFill>
              </a:rPr>
              <a:t>                       </a:t>
            </a:r>
            <a:r>
              <a:rPr lang="en-CA" sz="1400" b="1">
                <a:solidFill>
                  <a:srgbClr val="0000FF"/>
                </a:solidFill>
              </a:rPr>
              <a:t>X</a:t>
            </a:r>
          </a:p>
          <a:p>
            <a:r>
              <a:rPr lang="en-CA" sz="1400">
                <a:solidFill>
                  <a:schemeClr val="tx1"/>
                </a:solidFill>
              </a:rPr>
              <a:t>                       -</a:t>
            </a:r>
          </a:p>
          <a:p>
            <a:r>
              <a:rPr lang="en-CA" sz="1400">
                <a:solidFill>
                  <a:schemeClr val="tx1"/>
                </a:solidFill>
              </a:rPr>
              <a:t>-                 R[F3]</a:t>
            </a:r>
          </a:p>
          <a:p>
            <a:r>
              <a:rPr lang="en-CA" sz="1400">
                <a:solidFill>
                  <a:schemeClr val="tx1"/>
                </a:solidFill>
              </a:rPr>
              <a:t>-                 R[F4]</a:t>
            </a:r>
          </a:p>
        </p:txBody>
      </p:sp>
      <p:sp>
        <p:nvSpPr>
          <p:cNvPr id="43063" name="TextBox 71"/>
          <p:cNvSpPr txBox="1">
            <a:spLocks noChangeArrowheads="1"/>
          </p:cNvSpPr>
          <p:nvPr/>
        </p:nvSpPr>
        <p:spPr bwMode="auto">
          <a:xfrm>
            <a:off x="2873375" y="5519738"/>
            <a:ext cx="1062038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 sz="1400" b="1">
                <a:solidFill>
                  <a:srgbClr val="0000FF"/>
                </a:solidFill>
              </a:rPr>
              <a:t>ADD1, X</a:t>
            </a:r>
          </a:p>
        </p:txBody>
      </p:sp>
    </p:spTree>
    <p:extLst>
      <p:ext uri="{BB962C8B-B14F-4D97-AF65-F5344CB8AC3E}">
        <p14:creationId xmlns:p14="http://schemas.microsoft.com/office/powerpoint/2010/main" val="26713018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>
                <a:latin typeface="Arial  " charset="0"/>
                <a:cs typeface="Arial  " charset="0"/>
              </a:rPr>
              <a:t>Assumptions for example</a:t>
            </a:r>
            <a:endParaRPr lang="en-US">
              <a:latin typeface="Arial  " charset="0"/>
              <a:cs typeface="Arial  " charset="0"/>
            </a:endParaRP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7770813" cy="4722813"/>
          </a:xfrm>
        </p:spPr>
        <p:txBody>
          <a:bodyPr/>
          <a:lstStyle/>
          <a:p>
            <a:pPr marL="342900" indent="-342900" defTabSz="914400" eaLnBrk="1" hangingPunct="1">
              <a:lnSpc>
                <a:spcPct val="90000"/>
              </a:lnSpc>
            </a:pPr>
            <a:r>
              <a:rPr lang="en-US" sz="2000">
                <a:latin typeface="Arial  " charset="0"/>
                <a:cs typeface="Arial  " charset="0"/>
              </a:rPr>
              <a:t>Execution Latency:</a:t>
            </a:r>
          </a:p>
          <a:p>
            <a:pPr marL="742950" lvl="1" indent="-285750" defTabSz="914400" eaLnBrk="1" hangingPunct="1">
              <a:lnSpc>
                <a:spcPct val="90000"/>
              </a:lnSpc>
            </a:pPr>
            <a:r>
              <a:rPr lang="en-US" sz="1800">
                <a:latin typeface="Arial  " charset="0"/>
                <a:cs typeface="Arial  " charset="0"/>
              </a:rPr>
              <a:t>  2 clocks for floating point add, subtract; </a:t>
            </a:r>
          </a:p>
          <a:p>
            <a:pPr marL="742950" lvl="1" indent="-285750" defTabSz="914400" eaLnBrk="1" hangingPunct="1">
              <a:lnSpc>
                <a:spcPct val="90000"/>
              </a:lnSpc>
            </a:pPr>
            <a:r>
              <a:rPr lang="en-US" sz="1800">
                <a:latin typeface="Arial  " charset="0"/>
                <a:cs typeface="Arial  " charset="0"/>
              </a:rPr>
              <a:t>10 clocks for floating point multiply</a:t>
            </a:r>
          </a:p>
          <a:p>
            <a:pPr marL="742950" lvl="1" indent="-285750" defTabSz="914400" eaLnBrk="1" hangingPunct="1">
              <a:lnSpc>
                <a:spcPct val="90000"/>
              </a:lnSpc>
            </a:pPr>
            <a:r>
              <a:rPr lang="en-US" sz="1800">
                <a:latin typeface="Arial  " charset="0"/>
                <a:cs typeface="Arial  " charset="0"/>
              </a:rPr>
              <a:t>40 clocks for floating point divide</a:t>
            </a:r>
          </a:p>
          <a:p>
            <a:pPr marL="742950" lvl="1" indent="-285750" defTabSz="914400" eaLnBrk="1" hangingPunct="1">
              <a:lnSpc>
                <a:spcPct val="90000"/>
              </a:lnSpc>
            </a:pPr>
            <a:r>
              <a:rPr lang="en-US" sz="1800">
                <a:latin typeface="Arial  " charset="0"/>
                <a:cs typeface="Arial  " charset="0"/>
              </a:rPr>
              <a:t>Load/Store: 2 cycles </a:t>
            </a:r>
          </a:p>
          <a:p>
            <a:pPr lvl="2" defTabSz="914400" eaLnBrk="1" hangingPunct="1">
              <a:lnSpc>
                <a:spcPct val="90000"/>
              </a:lnSpc>
            </a:pPr>
            <a:r>
              <a:rPr lang="en-US" sz="1800">
                <a:latin typeface="Arial  " charset="0"/>
                <a:cs typeface="Arial  " charset="0"/>
              </a:rPr>
              <a:t>1st cycle effective address </a:t>
            </a:r>
          </a:p>
          <a:p>
            <a:pPr lvl="2" defTabSz="914400" eaLnBrk="1" hangingPunct="1">
              <a:lnSpc>
                <a:spcPct val="90000"/>
              </a:lnSpc>
            </a:pPr>
            <a:r>
              <a:rPr lang="en-US" sz="1800">
                <a:latin typeface="Arial  " charset="0"/>
                <a:cs typeface="Arial  " charset="0"/>
              </a:rPr>
              <a:t>2nd cycle access memory</a:t>
            </a:r>
          </a:p>
          <a:p>
            <a:pPr marL="342900" indent="-342900" defTabSz="914400" eaLnBrk="1" hangingPunct="1">
              <a:lnSpc>
                <a:spcPct val="90000"/>
              </a:lnSpc>
            </a:pPr>
            <a:r>
              <a:rPr lang="en-US" sz="2000">
                <a:latin typeface="Arial  " charset="0"/>
                <a:cs typeface="Arial  " charset="0"/>
              </a:rPr>
              <a:t>Pipelined function units (start one operation per cycle)</a:t>
            </a:r>
          </a:p>
          <a:p>
            <a:pPr marL="342900" indent="-342900" defTabSz="914400" eaLnBrk="1" hangingPunct="1">
              <a:lnSpc>
                <a:spcPct val="90000"/>
              </a:lnSpc>
            </a:pPr>
            <a:r>
              <a:rPr lang="en-US" sz="2000">
                <a:latin typeface="Arial  " charset="0"/>
                <a:cs typeface="Arial  " charset="0"/>
              </a:rPr>
              <a:t>3 floating-point add/subtract reservation stations</a:t>
            </a:r>
          </a:p>
          <a:p>
            <a:pPr marL="342900" indent="-342900" defTabSz="914400" eaLnBrk="1" hangingPunct="1">
              <a:lnSpc>
                <a:spcPct val="90000"/>
              </a:lnSpc>
            </a:pPr>
            <a:r>
              <a:rPr lang="en-US" sz="2000">
                <a:latin typeface="Arial  " charset="0"/>
                <a:cs typeface="Arial  " charset="0"/>
              </a:rPr>
              <a:t>2 floating-point multiple reservation stations</a:t>
            </a:r>
          </a:p>
          <a:p>
            <a:pPr marL="342900" indent="-342900" defTabSz="914400" eaLnBrk="1" hangingPunct="1">
              <a:lnSpc>
                <a:spcPct val="90000"/>
              </a:lnSpc>
            </a:pPr>
            <a:r>
              <a:rPr lang="en-US" sz="2000">
                <a:latin typeface="Arial  " charset="0"/>
                <a:cs typeface="Arial  " charset="0"/>
              </a:rPr>
              <a:t>Read value into reservation station same cycle as writeback of value to register file (even if the reservation station was “allocated” the same cycle);  however, if that means all operands ready, still have to wait until following cycle to “begin execution”</a:t>
            </a:r>
          </a:p>
          <a:p>
            <a:pPr marL="342900" indent="-342900" defTabSz="914400" eaLnBrk="1" hangingPunct="1">
              <a:lnSpc>
                <a:spcPct val="90000"/>
              </a:lnSpc>
            </a:pPr>
            <a:endParaRPr lang="en-US" sz="2000">
              <a:latin typeface="Arial  " charset="0"/>
              <a:cs typeface="Arial  " charset="0"/>
            </a:endParaRPr>
          </a:p>
        </p:txBody>
      </p:sp>
      <p:sp>
        <p:nvSpPr>
          <p:cNvPr id="32772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E890777-A7C1-4BEF-8E3F-8CD0D3EA9285}" type="slidenum">
              <a:rPr lang="en-GB" smtClean="0"/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22</a:t>
            </a:fld>
            <a:r>
              <a:rPr lang="en-GB"/>
              <a:t>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76200"/>
            <a:ext cx="7162800" cy="1143000"/>
          </a:xfrm>
        </p:spPr>
        <p:txBody>
          <a:bodyPr lIns="90487" tIns="44450" rIns="90487" bIns="44450"/>
          <a:lstStyle/>
          <a:p>
            <a:pPr eaLnBrk="1" hangingPunct="1"/>
            <a:r>
              <a:rPr lang="en-US">
                <a:latin typeface="Arial  " charset="0"/>
                <a:cs typeface="Arial  " charset="0"/>
              </a:rPr>
              <a:t>Tomasulo Example Cycle 1</a:t>
            </a:r>
          </a:p>
        </p:txBody>
      </p:sp>
      <p:graphicFrame>
        <p:nvGraphicFramePr>
          <p:cNvPr id="1026" name="Object 2"/>
          <p:cNvGraphicFramePr>
            <a:graphicFrameLocks/>
          </p:cNvGraphicFramePr>
          <p:nvPr/>
        </p:nvGraphicFramePr>
        <p:xfrm>
          <a:off x="212725" y="952500"/>
          <a:ext cx="8170863" cy="498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9029633" imgH="6619943" progId="Excel.Sheet.8">
                  <p:embed/>
                </p:oleObj>
              </mc:Choice>
              <mc:Fallback>
                <p:oleObj name="Worksheet" r:id="rId3" imgW="9029633" imgH="6619943" progId="Excel.Sheet.8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" y="952500"/>
                        <a:ext cx="8170863" cy="498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3200400" y="1495425"/>
            <a:ext cx="431800" cy="247650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9" name="AutoShape 5"/>
          <p:cNvSpPr>
            <a:spLocks noChangeArrowheads="1"/>
          </p:cNvSpPr>
          <p:nvPr/>
        </p:nvSpPr>
        <p:spPr bwMode="auto">
          <a:xfrm>
            <a:off x="6289675" y="1482725"/>
            <a:ext cx="1557338" cy="222250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0" name="AutoShape 6"/>
          <p:cNvSpPr>
            <a:spLocks noChangeArrowheads="1"/>
          </p:cNvSpPr>
          <p:nvPr/>
        </p:nvSpPr>
        <p:spPr bwMode="auto">
          <a:xfrm>
            <a:off x="5003800" y="5214938"/>
            <a:ext cx="668338" cy="346075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1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A079513-7D28-44EB-AEAC-69CA1B527057}" type="slidenum">
              <a:rPr lang="en-GB" smtClean="0"/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23</a:t>
            </a:fld>
            <a:r>
              <a:rPr lang="en-GB"/>
              <a:t> </a:t>
            </a:r>
          </a:p>
        </p:txBody>
      </p:sp>
      <p:grpSp>
        <p:nvGrpSpPr>
          <p:cNvPr id="1032" name="Group 4"/>
          <p:cNvGrpSpPr>
            <a:grpSpLocks/>
          </p:cNvGrpSpPr>
          <p:nvPr/>
        </p:nvGrpSpPr>
        <p:grpSpPr bwMode="auto">
          <a:xfrm>
            <a:off x="312738" y="5414963"/>
            <a:ext cx="1412875" cy="938212"/>
            <a:chOff x="197" y="3499"/>
            <a:chExt cx="890" cy="591"/>
          </a:xfrm>
        </p:grpSpPr>
        <p:sp>
          <p:nvSpPr>
            <p:cNvPr id="1045" name="Text Box 5"/>
            <p:cNvSpPr txBox="1">
              <a:spLocks noChangeArrowheads="1"/>
            </p:cNvSpPr>
            <p:nvPr/>
          </p:nvSpPr>
          <p:spPr bwMode="auto">
            <a:xfrm>
              <a:off x="197" y="3683"/>
              <a:ext cx="890" cy="40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sz="1800" b="1">
                  <a:solidFill>
                    <a:srgbClr val="0000FF"/>
                  </a:solidFill>
                  <a:latin typeface="Comic Sans MS" pitchFamily="66" charset="0"/>
                </a:rPr>
                <a:t>Clock cycle </a:t>
              </a:r>
              <a:br>
                <a:rPr lang="en-US" sz="1800" b="1">
                  <a:solidFill>
                    <a:srgbClr val="0000FF"/>
                  </a:solidFill>
                  <a:latin typeface="Comic Sans MS" pitchFamily="66" charset="0"/>
                </a:rPr>
              </a:br>
              <a:r>
                <a:rPr lang="en-US" sz="1800" b="1">
                  <a:solidFill>
                    <a:srgbClr val="0000FF"/>
                  </a:solidFill>
                  <a:latin typeface="Comic Sans MS" pitchFamily="66" charset="0"/>
                </a:rPr>
                <a:t>counter</a:t>
              </a:r>
            </a:p>
          </p:txBody>
        </p:sp>
        <p:sp>
          <p:nvSpPr>
            <p:cNvPr id="1046" name="Line 6"/>
            <p:cNvSpPr>
              <a:spLocks noChangeShapeType="1"/>
            </p:cNvSpPr>
            <p:nvPr/>
          </p:nvSpPr>
          <p:spPr bwMode="auto">
            <a:xfrm flipV="1">
              <a:off x="417" y="3499"/>
              <a:ext cx="144" cy="19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en-CA"/>
            </a:p>
          </p:txBody>
        </p:sp>
      </p:grpSp>
      <p:grpSp>
        <p:nvGrpSpPr>
          <p:cNvPr id="1033" name="Group 7"/>
          <p:cNvGrpSpPr>
            <a:grpSpLocks/>
          </p:cNvGrpSpPr>
          <p:nvPr/>
        </p:nvGrpSpPr>
        <p:grpSpPr bwMode="auto">
          <a:xfrm>
            <a:off x="280988" y="3530600"/>
            <a:ext cx="1243012" cy="946150"/>
            <a:chOff x="177" y="2160"/>
            <a:chExt cx="783" cy="596"/>
          </a:xfrm>
        </p:grpSpPr>
        <p:sp>
          <p:nvSpPr>
            <p:cNvPr id="1043" name="Text Box 8"/>
            <p:cNvSpPr txBox="1">
              <a:spLocks noChangeArrowheads="1"/>
            </p:cNvSpPr>
            <p:nvPr/>
          </p:nvSpPr>
          <p:spPr bwMode="auto">
            <a:xfrm>
              <a:off x="177" y="2349"/>
              <a:ext cx="746" cy="40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sz="1800" b="1">
                  <a:solidFill>
                    <a:srgbClr val="0000FF"/>
                  </a:solidFill>
                  <a:latin typeface="Comic Sans MS" pitchFamily="66" charset="0"/>
                </a:rPr>
                <a:t>FU count</a:t>
              </a:r>
            </a:p>
            <a:p>
              <a:pPr algn="ctr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sz="1800" b="1">
                  <a:solidFill>
                    <a:srgbClr val="0000FF"/>
                  </a:solidFill>
                  <a:latin typeface="Comic Sans MS" pitchFamily="66" charset="0"/>
                </a:rPr>
                <a:t>down</a:t>
              </a:r>
            </a:p>
          </p:txBody>
        </p:sp>
        <p:sp>
          <p:nvSpPr>
            <p:cNvPr id="1044" name="Line 9"/>
            <p:cNvSpPr>
              <a:spLocks noChangeShapeType="1"/>
            </p:cNvSpPr>
            <p:nvPr/>
          </p:nvSpPr>
          <p:spPr bwMode="auto">
            <a:xfrm flipV="1">
              <a:off x="816" y="2160"/>
              <a:ext cx="144" cy="19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en-CA"/>
            </a:p>
          </p:txBody>
        </p:sp>
      </p:grpSp>
      <p:grpSp>
        <p:nvGrpSpPr>
          <p:cNvPr id="1034" name="Group 10"/>
          <p:cNvGrpSpPr>
            <a:grpSpLocks/>
          </p:cNvGrpSpPr>
          <p:nvPr/>
        </p:nvGrpSpPr>
        <p:grpSpPr bwMode="auto">
          <a:xfrm>
            <a:off x="0" y="711200"/>
            <a:ext cx="2286000" cy="1066800"/>
            <a:chOff x="0" y="336"/>
            <a:chExt cx="1440" cy="672"/>
          </a:xfrm>
        </p:grpSpPr>
        <p:sp>
          <p:nvSpPr>
            <p:cNvPr id="1041" name="Text Box 11"/>
            <p:cNvSpPr txBox="1">
              <a:spLocks noChangeArrowheads="1"/>
            </p:cNvSpPr>
            <p:nvPr/>
          </p:nvSpPr>
          <p:spPr bwMode="auto">
            <a:xfrm>
              <a:off x="0" y="336"/>
              <a:ext cx="1440" cy="233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sz="1800" b="1">
                  <a:solidFill>
                    <a:srgbClr val="0000FF"/>
                  </a:solidFill>
                  <a:latin typeface="Comic Sans MS" pitchFamily="66" charset="0"/>
                </a:rPr>
                <a:t>Instruction stream</a:t>
              </a:r>
            </a:p>
          </p:txBody>
        </p:sp>
        <p:sp>
          <p:nvSpPr>
            <p:cNvPr id="1042" name="Line 12"/>
            <p:cNvSpPr>
              <a:spLocks noChangeShapeType="1"/>
            </p:cNvSpPr>
            <p:nvPr/>
          </p:nvSpPr>
          <p:spPr bwMode="auto">
            <a:xfrm>
              <a:off x="96" y="576"/>
              <a:ext cx="240" cy="43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en-CA"/>
            </a:p>
          </p:txBody>
        </p:sp>
      </p:grpSp>
      <p:grpSp>
        <p:nvGrpSpPr>
          <p:cNvPr id="1035" name="Group 13"/>
          <p:cNvGrpSpPr>
            <a:grpSpLocks/>
          </p:cNvGrpSpPr>
          <p:nvPr/>
        </p:nvGrpSpPr>
        <p:grpSpPr bwMode="auto">
          <a:xfrm>
            <a:off x="6540500" y="1943100"/>
            <a:ext cx="1908175" cy="674688"/>
            <a:chOff x="4104" y="1344"/>
            <a:chExt cx="1202" cy="425"/>
          </a:xfrm>
        </p:grpSpPr>
        <p:sp>
          <p:nvSpPr>
            <p:cNvPr id="1039" name="Line 14"/>
            <p:cNvSpPr>
              <a:spLocks noChangeShapeType="1"/>
            </p:cNvSpPr>
            <p:nvPr/>
          </p:nvSpPr>
          <p:spPr bwMode="auto">
            <a:xfrm flipH="1" flipV="1">
              <a:off x="4416" y="1344"/>
              <a:ext cx="192" cy="19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en-CA"/>
            </a:p>
          </p:txBody>
        </p:sp>
        <p:sp>
          <p:nvSpPr>
            <p:cNvPr id="1040" name="Text Box 15"/>
            <p:cNvSpPr txBox="1">
              <a:spLocks noChangeArrowheads="1"/>
            </p:cNvSpPr>
            <p:nvPr/>
          </p:nvSpPr>
          <p:spPr bwMode="auto">
            <a:xfrm>
              <a:off x="4104" y="1536"/>
              <a:ext cx="1202" cy="233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sz="1800" b="1">
                  <a:solidFill>
                    <a:srgbClr val="0000FF"/>
                  </a:solidFill>
                  <a:latin typeface="Comic Sans MS" pitchFamily="66" charset="0"/>
                </a:rPr>
                <a:t>3 Load/Buffers</a:t>
              </a:r>
            </a:p>
          </p:txBody>
        </p:sp>
      </p:grpSp>
      <p:grpSp>
        <p:nvGrpSpPr>
          <p:cNvPr id="1036" name="Group 16"/>
          <p:cNvGrpSpPr>
            <a:grpSpLocks/>
          </p:cNvGrpSpPr>
          <p:nvPr/>
        </p:nvGrpSpPr>
        <p:grpSpPr bwMode="auto">
          <a:xfrm>
            <a:off x="6108700" y="3632200"/>
            <a:ext cx="2457450" cy="646113"/>
            <a:chOff x="3984" y="2352"/>
            <a:chExt cx="1548" cy="407"/>
          </a:xfrm>
        </p:grpSpPr>
        <p:sp>
          <p:nvSpPr>
            <p:cNvPr id="1037" name="Text Box 17"/>
            <p:cNvSpPr txBox="1">
              <a:spLocks noChangeArrowheads="1"/>
            </p:cNvSpPr>
            <p:nvPr/>
          </p:nvSpPr>
          <p:spPr bwMode="auto">
            <a:xfrm>
              <a:off x="4224" y="2352"/>
              <a:ext cx="1308" cy="40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sz="1800" b="1">
                  <a:solidFill>
                    <a:srgbClr val="0000FF"/>
                  </a:solidFill>
                  <a:latin typeface="Comic Sans MS" pitchFamily="66" charset="0"/>
                </a:rPr>
                <a:t>3 FP Adder R.S.</a:t>
              </a:r>
            </a:p>
            <a:p>
              <a:pPr algn="ctr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sz="1800" b="1">
                  <a:solidFill>
                    <a:srgbClr val="0000FF"/>
                  </a:solidFill>
                  <a:latin typeface="Comic Sans MS" pitchFamily="66" charset="0"/>
                </a:rPr>
                <a:t>2 FP Mult R.S.</a:t>
              </a:r>
            </a:p>
          </p:txBody>
        </p:sp>
        <p:sp>
          <p:nvSpPr>
            <p:cNvPr id="1038" name="Line 18"/>
            <p:cNvSpPr>
              <a:spLocks noChangeShapeType="1"/>
            </p:cNvSpPr>
            <p:nvPr/>
          </p:nvSpPr>
          <p:spPr bwMode="auto">
            <a:xfrm flipH="1">
              <a:off x="3984" y="2544"/>
              <a:ext cx="24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en-CA"/>
            </a:p>
          </p:txBody>
        </p:sp>
      </p:grp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76200"/>
            <a:ext cx="7162800" cy="1143000"/>
          </a:xfrm>
        </p:spPr>
        <p:txBody>
          <a:bodyPr lIns="90487" tIns="44450" rIns="90487" bIns="44450"/>
          <a:lstStyle/>
          <a:p>
            <a:pPr eaLnBrk="1" hangingPunct="1"/>
            <a:r>
              <a:rPr lang="en-US">
                <a:latin typeface="Arial  " charset="0"/>
                <a:cs typeface="Arial  " charset="0"/>
              </a:rPr>
              <a:t>Tomasulo Example Cycle 2</a:t>
            </a:r>
          </a:p>
        </p:txBody>
      </p:sp>
      <p:graphicFrame>
        <p:nvGraphicFramePr>
          <p:cNvPr id="2050" name="Object 2"/>
          <p:cNvGraphicFramePr>
            <a:graphicFrameLocks/>
          </p:cNvGraphicFramePr>
          <p:nvPr/>
        </p:nvGraphicFramePr>
        <p:xfrm>
          <a:off x="212725" y="952500"/>
          <a:ext cx="8170863" cy="498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9029633" imgH="6619943" progId="Excel.Sheet.8">
                  <p:embed/>
                </p:oleObj>
              </mc:Choice>
              <mc:Fallback>
                <p:oleObj name="Worksheet" r:id="rId3" imgW="9029633" imgH="6619943" progId="Excel.Sheet.8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" y="952500"/>
                        <a:ext cx="8170863" cy="498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2" name="AutoShape 4"/>
          <p:cNvSpPr>
            <a:spLocks noChangeArrowheads="1"/>
          </p:cNvSpPr>
          <p:nvPr/>
        </p:nvSpPr>
        <p:spPr bwMode="auto">
          <a:xfrm>
            <a:off x="3187700" y="1704975"/>
            <a:ext cx="395288" cy="247650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3" name="AutoShape 5"/>
          <p:cNvSpPr>
            <a:spLocks noChangeArrowheads="1"/>
          </p:cNvSpPr>
          <p:nvPr/>
        </p:nvSpPr>
        <p:spPr bwMode="auto">
          <a:xfrm>
            <a:off x="6302375" y="1714500"/>
            <a:ext cx="1622425" cy="225425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4" name="AutoShape 6"/>
          <p:cNvSpPr>
            <a:spLocks noChangeArrowheads="1"/>
          </p:cNvSpPr>
          <p:nvPr/>
        </p:nvSpPr>
        <p:spPr bwMode="auto">
          <a:xfrm>
            <a:off x="3633788" y="5238750"/>
            <a:ext cx="762000" cy="273050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127" name="Rectangle 7"/>
          <p:cNvSpPr>
            <a:spLocks noChangeArrowheads="1"/>
          </p:cNvSpPr>
          <p:nvPr/>
        </p:nvSpPr>
        <p:spPr bwMode="auto">
          <a:xfrm>
            <a:off x="373063" y="5726113"/>
            <a:ext cx="8388350" cy="8286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en-US" b="1">
                <a:solidFill>
                  <a:srgbClr val="FF0000"/>
                </a:solidFill>
                <a:cs typeface="Arial" pitchFamily="34" charset="0"/>
              </a:rPr>
              <a:t>Note: Hardware allows multiple loads to be overlapped</a:t>
            </a:r>
            <a:endParaRPr lang="en-US">
              <a:solidFill>
                <a:srgbClr val="FF0000"/>
              </a:solidFill>
              <a:cs typeface="Arial" pitchFamily="34" charset="0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endParaRPr lang="en-US">
              <a:solidFill>
                <a:srgbClr val="FF0000"/>
              </a:solidFill>
              <a:cs typeface="Arial" pitchFamily="34" charset="0"/>
            </a:endParaRPr>
          </a:p>
        </p:txBody>
      </p:sp>
      <p:sp>
        <p:nvSpPr>
          <p:cNvPr id="2056" name="Slide Number Placeholder 1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3607063-97BB-4B60-9ABD-BDEC20BB40FC}" type="slidenum">
              <a:rPr lang="en-GB" smtClean="0"/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24</a:t>
            </a:fld>
            <a:r>
              <a:rPr lang="en-GB"/>
              <a:t> </a:t>
            </a:r>
          </a:p>
        </p:txBody>
      </p:sp>
      <p:sp>
        <p:nvSpPr>
          <p:cNvPr id="2057" name="AutoShape 4"/>
          <p:cNvSpPr>
            <a:spLocks noChangeArrowheads="1"/>
          </p:cNvSpPr>
          <p:nvPr/>
        </p:nvSpPr>
        <p:spPr bwMode="auto">
          <a:xfrm>
            <a:off x="3822700" y="1487488"/>
            <a:ext cx="395288" cy="246062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7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1588"/>
            <a:ext cx="7161213" cy="889000"/>
          </a:xfrm>
        </p:spPr>
        <p:txBody>
          <a:bodyPr lIns="90487" tIns="44450" rIns="90487" bIns="44450"/>
          <a:lstStyle/>
          <a:p>
            <a:pPr eaLnBrk="1" hangingPunct="1"/>
            <a:r>
              <a:rPr lang="en-US">
                <a:latin typeface="Arial  " charset="0"/>
                <a:cs typeface="Arial  " charset="0"/>
              </a:rPr>
              <a:t>Tomasulo Example Cycle 3</a:t>
            </a:r>
          </a:p>
        </p:txBody>
      </p:sp>
      <p:graphicFrame>
        <p:nvGraphicFramePr>
          <p:cNvPr id="3074" name="Object 2"/>
          <p:cNvGraphicFramePr>
            <a:graphicFrameLocks noChangeAspect="1"/>
          </p:cNvGraphicFramePr>
          <p:nvPr/>
        </p:nvGraphicFramePr>
        <p:xfrm>
          <a:off x="212725" y="774700"/>
          <a:ext cx="7354888" cy="448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9029633" imgH="6619943" progId="Excel.Sheet.8">
                  <p:embed/>
                </p:oleObj>
              </mc:Choice>
              <mc:Fallback>
                <p:oleObj name="Worksheet" r:id="rId3" imgW="9029633" imgH="6619943" progId="Excel.Shee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" y="774700"/>
                        <a:ext cx="7354888" cy="448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6" name="AutoShape 4"/>
          <p:cNvSpPr>
            <a:spLocks noChangeAspect="1" noChangeArrowheads="1"/>
          </p:cNvSpPr>
          <p:nvPr/>
        </p:nvSpPr>
        <p:spPr bwMode="auto">
          <a:xfrm>
            <a:off x="2286000" y="3632200"/>
            <a:ext cx="3435350" cy="236538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7" name="AutoShape 5"/>
          <p:cNvSpPr>
            <a:spLocks noChangeAspect="1" noChangeArrowheads="1"/>
          </p:cNvSpPr>
          <p:nvPr/>
        </p:nvSpPr>
        <p:spPr bwMode="auto">
          <a:xfrm>
            <a:off x="2720975" y="4633913"/>
            <a:ext cx="655638" cy="271462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5174" name="Rectangle 6"/>
          <p:cNvSpPr>
            <a:spLocks noChangeAspect="1" noChangeArrowheads="1"/>
          </p:cNvSpPr>
          <p:nvPr/>
        </p:nvSpPr>
        <p:spPr bwMode="auto">
          <a:xfrm>
            <a:off x="301625" y="5172075"/>
            <a:ext cx="7646988" cy="13271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7" tIns="44450" rIns="90487" bIns="44450"/>
          <a:lstStyle/>
          <a:p>
            <a:pPr marL="285750" indent="-285750" defTabSz="914400">
              <a:lnSpc>
                <a:spcPct val="90000"/>
              </a:lnSpc>
              <a:spcBef>
                <a:spcPct val="30000"/>
              </a:spcBef>
              <a:buClrTx/>
              <a:buSzTx/>
              <a:buFontTx/>
              <a:buChar char="•"/>
              <a:tabLst>
                <a:tab pos="914400" algn="l"/>
                <a:tab pos="1657350" algn="l"/>
                <a:tab pos="3028950" algn="l"/>
              </a:tabLst>
            </a:pPr>
            <a:r>
              <a:rPr lang="en-US" sz="2000" b="1">
                <a:solidFill>
                  <a:srgbClr val="FF0000"/>
                </a:solidFill>
                <a:cs typeface="Arial" pitchFamily="34" charset="0"/>
              </a:rPr>
              <a:t>Note: registers names are removed (“renamed”) in Reservation Stations</a:t>
            </a:r>
          </a:p>
          <a:p>
            <a:pPr marL="285750" indent="-285750" defTabSz="914400">
              <a:lnSpc>
                <a:spcPct val="90000"/>
              </a:lnSpc>
              <a:spcBef>
                <a:spcPct val="30000"/>
              </a:spcBef>
              <a:buClrTx/>
              <a:buSzTx/>
              <a:buFontTx/>
              <a:buChar char="•"/>
              <a:tabLst>
                <a:tab pos="914400" algn="l"/>
                <a:tab pos="1657350" algn="l"/>
                <a:tab pos="3028950" algn="l"/>
              </a:tabLst>
            </a:pPr>
            <a:r>
              <a:rPr lang="en-US" sz="2000" b="1">
                <a:solidFill>
                  <a:srgbClr val="FF0000"/>
                </a:solidFill>
                <a:cs typeface="Arial" pitchFamily="34" charset="0"/>
              </a:rPr>
              <a:t>MUL.D issued; Load1 completing - what is waiting for it?</a:t>
            </a:r>
            <a:r>
              <a:rPr lang="en-US" b="1">
                <a:solidFill>
                  <a:srgbClr val="FF0000"/>
                </a:solidFill>
                <a:cs typeface="Arial" pitchFamily="34" charset="0"/>
              </a:rPr>
              <a:t> </a:t>
            </a:r>
          </a:p>
        </p:txBody>
      </p:sp>
      <p:sp>
        <p:nvSpPr>
          <p:cNvPr id="3079" name="AutoShape 7"/>
          <p:cNvSpPr>
            <a:spLocks noChangeAspect="1" noChangeArrowheads="1"/>
          </p:cNvSpPr>
          <p:nvPr/>
        </p:nvSpPr>
        <p:spPr bwMode="auto">
          <a:xfrm>
            <a:off x="3425825" y="1463675"/>
            <a:ext cx="479425" cy="204788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80" name="Slide Number Placeholder 1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1765250-4BBD-41D3-AA9D-2E2919A67B9D}" type="slidenum">
              <a:rPr lang="en-GB" smtClean="0"/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25</a:t>
            </a:fld>
            <a:r>
              <a:rPr lang="en-GB"/>
              <a:t> </a:t>
            </a:r>
          </a:p>
        </p:txBody>
      </p:sp>
      <p:sp>
        <p:nvSpPr>
          <p:cNvPr id="3081" name="TextBox 12"/>
          <p:cNvSpPr txBox="1">
            <a:spLocks noChangeArrowheads="1"/>
          </p:cNvSpPr>
          <p:nvPr/>
        </p:nvSpPr>
        <p:spPr bwMode="auto">
          <a:xfrm>
            <a:off x="6540500" y="2362200"/>
            <a:ext cx="1736725" cy="950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0000FF"/>
                </a:solidFill>
                <a:cs typeface="Arial" pitchFamily="34" charset="0"/>
              </a:rPr>
              <a:t>Shorthand for</a:t>
            </a:r>
          </a:p>
          <a:p>
            <a:r>
              <a:rPr lang="en-US" sz="2000">
                <a:solidFill>
                  <a:srgbClr val="0000FF"/>
                </a:solidFill>
                <a:cs typeface="Arial" pitchFamily="34" charset="0"/>
              </a:rPr>
              <a:t>contents of </a:t>
            </a:r>
          </a:p>
          <a:p>
            <a:r>
              <a:rPr lang="en-US" sz="2000">
                <a:solidFill>
                  <a:srgbClr val="0000FF"/>
                </a:solidFill>
                <a:cs typeface="Arial" pitchFamily="34" charset="0"/>
              </a:rPr>
              <a:t>register F4</a:t>
            </a:r>
          </a:p>
        </p:txBody>
      </p:sp>
      <p:cxnSp>
        <p:nvCxnSpPr>
          <p:cNvPr id="3082" name="Straight Arrow Connector 14"/>
          <p:cNvCxnSpPr>
            <a:cxnSpLocks noChangeShapeType="1"/>
          </p:cNvCxnSpPr>
          <p:nvPr/>
        </p:nvCxnSpPr>
        <p:spPr bwMode="auto">
          <a:xfrm rot="10800000" flipV="1">
            <a:off x="4305300" y="2667000"/>
            <a:ext cx="2222500" cy="1016000"/>
          </a:xfrm>
          <a:prstGeom prst="straightConnector1">
            <a:avLst/>
          </a:prstGeom>
          <a:noFill/>
          <a:ln w="9525">
            <a:solidFill>
              <a:srgbClr val="0000FF"/>
            </a:solidFill>
            <a:round/>
            <a:headEnd/>
            <a:tailEnd type="arrow" w="med" len="med"/>
          </a:ln>
        </p:spPr>
      </p:cxnSp>
      <p:sp>
        <p:nvSpPr>
          <p:cNvPr id="3083" name="AutoShape 7"/>
          <p:cNvSpPr>
            <a:spLocks noChangeAspect="1" noChangeArrowheads="1"/>
          </p:cNvSpPr>
          <p:nvPr/>
        </p:nvSpPr>
        <p:spPr bwMode="auto">
          <a:xfrm>
            <a:off x="2836863" y="1665288"/>
            <a:ext cx="479425" cy="204787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5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5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4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76200"/>
            <a:ext cx="7162800" cy="1143000"/>
          </a:xfrm>
        </p:spPr>
        <p:txBody>
          <a:bodyPr lIns="90487" tIns="44450" rIns="90487" bIns="44450"/>
          <a:lstStyle/>
          <a:p>
            <a:pPr eaLnBrk="1" hangingPunct="1"/>
            <a:r>
              <a:rPr lang="en-US">
                <a:latin typeface="Arial  " charset="0"/>
                <a:cs typeface="Arial  " charset="0"/>
              </a:rPr>
              <a:t>Tomasulo Example Cycle 4</a:t>
            </a:r>
          </a:p>
        </p:txBody>
      </p:sp>
      <p:graphicFrame>
        <p:nvGraphicFramePr>
          <p:cNvPr id="4098" name="Object 2"/>
          <p:cNvGraphicFramePr>
            <a:graphicFrameLocks/>
          </p:cNvGraphicFramePr>
          <p:nvPr/>
        </p:nvGraphicFramePr>
        <p:xfrm>
          <a:off x="212725" y="952500"/>
          <a:ext cx="8170863" cy="498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9029633" imgH="6619943" progId="Excel.Sheet.8">
                  <p:embed/>
                </p:oleObj>
              </mc:Choice>
              <mc:Fallback>
                <p:oleObj name="Worksheet" r:id="rId3" imgW="9029633" imgH="6619943" progId="Excel.Sheet.8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" y="952500"/>
                        <a:ext cx="8170863" cy="498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7220" name="Rectangle 4"/>
          <p:cNvSpPr>
            <a:spLocks noChangeArrowheads="1"/>
          </p:cNvSpPr>
          <p:nvPr/>
        </p:nvSpPr>
        <p:spPr bwMode="auto">
          <a:xfrm>
            <a:off x="0" y="6100763"/>
            <a:ext cx="8496300" cy="520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7" tIns="44450" rIns="90487" bIns="44450"/>
          <a:lstStyle/>
          <a:p>
            <a:pPr marL="285750" indent="-285750" defTabSz="914400">
              <a:lnSpc>
                <a:spcPct val="90000"/>
              </a:lnSpc>
              <a:spcBef>
                <a:spcPct val="30000"/>
              </a:spcBef>
              <a:buClrTx/>
              <a:buSzTx/>
              <a:buFontTx/>
              <a:buChar char="•"/>
              <a:tabLst>
                <a:tab pos="914400" algn="l"/>
                <a:tab pos="1657350" algn="l"/>
                <a:tab pos="3028950" algn="l"/>
              </a:tabLst>
            </a:pPr>
            <a:r>
              <a:rPr lang="en-US" sz="2000" b="1">
                <a:solidFill>
                  <a:srgbClr val="FF0000"/>
                </a:solidFill>
                <a:cs typeface="Arial" pitchFamily="34" charset="0"/>
              </a:rPr>
              <a:t>Issue SUB.D; Load2 completing; </a:t>
            </a:r>
            <a:r>
              <a:rPr lang="en-US" sz="2000" b="1" u="sng">
                <a:solidFill>
                  <a:srgbClr val="FF0000"/>
                </a:solidFill>
                <a:cs typeface="Arial" pitchFamily="34" charset="0"/>
              </a:rPr>
              <a:t>what is waiting for Load2?</a:t>
            </a:r>
            <a:r>
              <a:rPr lang="en-US" b="1">
                <a:solidFill>
                  <a:srgbClr val="FF0000"/>
                </a:solidFill>
                <a:cs typeface="Arial" pitchFamily="34" charset="0"/>
              </a:rPr>
              <a:t> </a:t>
            </a:r>
          </a:p>
        </p:txBody>
      </p:sp>
      <p:sp>
        <p:nvSpPr>
          <p:cNvPr id="4101" name="AutoShape 6"/>
          <p:cNvSpPr>
            <a:spLocks noChangeArrowheads="1"/>
          </p:cNvSpPr>
          <p:nvPr/>
        </p:nvSpPr>
        <p:spPr bwMode="auto">
          <a:xfrm>
            <a:off x="4419600" y="1508125"/>
            <a:ext cx="533400" cy="244475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02" name="AutoShape 7"/>
          <p:cNvSpPr>
            <a:spLocks noChangeArrowheads="1"/>
          </p:cNvSpPr>
          <p:nvPr/>
        </p:nvSpPr>
        <p:spPr bwMode="auto">
          <a:xfrm>
            <a:off x="3124200" y="2133600"/>
            <a:ext cx="533400" cy="304800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03" name="AutoShape 8"/>
          <p:cNvSpPr>
            <a:spLocks noChangeArrowheads="1"/>
          </p:cNvSpPr>
          <p:nvPr/>
        </p:nvSpPr>
        <p:spPr bwMode="auto">
          <a:xfrm>
            <a:off x="2438400" y="3429000"/>
            <a:ext cx="3962400" cy="304800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04" name="Slide Number Placeholder 1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2BA0B97-F414-4DD3-9FB7-A45FE5CC4F73}" type="slidenum">
              <a:rPr lang="en-GB" smtClean="0"/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26</a:t>
            </a:fld>
            <a:r>
              <a:rPr lang="en-GB"/>
              <a:t> </a:t>
            </a:r>
          </a:p>
        </p:txBody>
      </p:sp>
      <p:sp>
        <p:nvSpPr>
          <p:cNvPr id="4105" name="TextBox 13"/>
          <p:cNvSpPr txBox="1">
            <a:spLocks noChangeArrowheads="1"/>
          </p:cNvSpPr>
          <p:nvPr/>
        </p:nvSpPr>
        <p:spPr bwMode="auto">
          <a:xfrm>
            <a:off x="7010400" y="2374900"/>
            <a:ext cx="1616075" cy="215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0000FF"/>
                </a:solidFill>
                <a:cs typeface="Arial" pitchFamily="34" charset="0"/>
              </a:rPr>
              <a:t>Shorthand for</a:t>
            </a:r>
          </a:p>
          <a:p>
            <a:r>
              <a:rPr lang="en-US" sz="1800">
                <a:solidFill>
                  <a:srgbClr val="0000FF"/>
                </a:solidFill>
                <a:cs typeface="Arial" pitchFamily="34" charset="0"/>
              </a:rPr>
              <a:t>contents of </a:t>
            </a:r>
          </a:p>
          <a:p>
            <a:r>
              <a:rPr lang="en-US" sz="1800">
                <a:solidFill>
                  <a:srgbClr val="0000FF"/>
                </a:solidFill>
                <a:cs typeface="Arial" pitchFamily="34" charset="0"/>
              </a:rPr>
              <a:t>memory at </a:t>
            </a:r>
          </a:p>
          <a:p>
            <a:r>
              <a:rPr lang="en-US" sz="1800">
                <a:solidFill>
                  <a:srgbClr val="0000FF"/>
                </a:solidFill>
                <a:cs typeface="Arial" pitchFamily="34" charset="0"/>
              </a:rPr>
              <a:t>address A1, </a:t>
            </a:r>
          </a:p>
          <a:p>
            <a:r>
              <a:rPr lang="en-US" sz="1800">
                <a:solidFill>
                  <a:srgbClr val="0000FF"/>
                </a:solidFill>
                <a:cs typeface="Arial" pitchFamily="34" charset="0"/>
              </a:rPr>
              <a:t>where A1 is</a:t>
            </a:r>
          </a:p>
          <a:p>
            <a:r>
              <a:rPr lang="en-US" sz="1800">
                <a:solidFill>
                  <a:srgbClr val="0000FF"/>
                </a:solidFill>
                <a:cs typeface="Arial" pitchFamily="34" charset="0"/>
              </a:rPr>
              <a:t>effective addr.</a:t>
            </a:r>
          </a:p>
          <a:p>
            <a:r>
              <a:rPr lang="en-US" sz="1800">
                <a:solidFill>
                  <a:srgbClr val="0000FF"/>
                </a:solidFill>
                <a:cs typeface="Arial" pitchFamily="34" charset="0"/>
              </a:rPr>
              <a:t>of first load</a:t>
            </a:r>
          </a:p>
          <a:p>
            <a:r>
              <a:rPr lang="en-US" sz="1800">
                <a:solidFill>
                  <a:srgbClr val="0000FF"/>
                </a:solidFill>
                <a:cs typeface="Arial" pitchFamily="34" charset="0"/>
              </a:rPr>
              <a:t>(34+R2)</a:t>
            </a:r>
          </a:p>
        </p:txBody>
      </p:sp>
      <p:cxnSp>
        <p:nvCxnSpPr>
          <p:cNvPr id="4106" name="Straight Arrow Connector 15"/>
          <p:cNvCxnSpPr>
            <a:cxnSpLocks noChangeShapeType="1"/>
          </p:cNvCxnSpPr>
          <p:nvPr/>
        </p:nvCxnSpPr>
        <p:spPr bwMode="auto">
          <a:xfrm rot="10800000" flipV="1">
            <a:off x="4279900" y="2590800"/>
            <a:ext cx="2755900" cy="977900"/>
          </a:xfrm>
          <a:prstGeom prst="straightConnector1">
            <a:avLst/>
          </a:prstGeom>
          <a:noFill/>
          <a:ln w="9525">
            <a:solidFill>
              <a:srgbClr val="0000FF"/>
            </a:solidFill>
            <a:round/>
            <a:headEnd/>
            <a:tailEnd type="arrow" w="med" len="med"/>
          </a:ln>
        </p:spPr>
      </p:cxnSp>
      <p:sp>
        <p:nvSpPr>
          <p:cNvPr id="4109" name="AutoShape 6"/>
          <p:cNvSpPr>
            <a:spLocks noChangeArrowheads="1"/>
          </p:cNvSpPr>
          <p:nvPr/>
        </p:nvSpPr>
        <p:spPr bwMode="auto">
          <a:xfrm>
            <a:off x="5045075" y="5241925"/>
            <a:ext cx="593725" cy="260350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7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7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20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76200"/>
            <a:ext cx="7162800" cy="1143000"/>
          </a:xfrm>
        </p:spPr>
        <p:txBody>
          <a:bodyPr lIns="90487" tIns="44450" rIns="90487" bIns="44450"/>
          <a:lstStyle/>
          <a:p>
            <a:pPr eaLnBrk="1" hangingPunct="1"/>
            <a:r>
              <a:rPr lang="en-US">
                <a:latin typeface="Arial  " charset="0"/>
                <a:cs typeface="Arial  " charset="0"/>
              </a:rPr>
              <a:t>Tomasulo Example Cycle 5</a:t>
            </a:r>
          </a:p>
        </p:txBody>
      </p:sp>
      <p:graphicFrame>
        <p:nvGraphicFramePr>
          <p:cNvPr id="5122" name="Object 2"/>
          <p:cNvGraphicFramePr>
            <a:graphicFrameLocks/>
          </p:cNvGraphicFramePr>
          <p:nvPr/>
        </p:nvGraphicFramePr>
        <p:xfrm>
          <a:off x="212725" y="952500"/>
          <a:ext cx="8170863" cy="498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9029633" imgH="6619943" progId="Excel.Sheet.8">
                  <p:embed/>
                </p:oleObj>
              </mc:Choice>
              <mc:Fallback>
                <p:oleObj name="Worksheet" r:id="rId3" imgW="9029633" imgH="6619943" progId="Excel.Sheet.8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" y="952500"/>
                        <a:ext cx="8170863" cy="498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9268" name="Rectangle 4"/>
          <p:cNvSpPr>
            <a:spLocks noChangeArrowheads="1"/>
          </p:cNvSpPr>
          <p:nvPr/>
        </p:nvSpPr>
        <p:spPr bwMode="auto">
          <a:xfrm>
            <a:off x="317500" y="5651500"/>
            <a:ext cx="8496300" cy="698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7" tIns="44450" rIns="90487" bIns="44450"/>
          <a:lstStyle/>
          <a:p>
            <a:pPr marL="285750" indent="-285750" defTabSz="914400">
              <a:lnSpc>
                <a:spcPct val="90000"/>
              </a:lnSpc>
              <a:spcBef>
                <a:spcPct val="30000"/>
              </a:spcBef>
              <a:buClrTx/>
              <a:buSzTx/>
              <a:buFontTx/>
              <a:buChar char="•"/>
              <a:tabLst>
                <a:tab pos="914400" algn="l"/>
                <a:tab pos="1657350" algn="l"/>
                <a:tab pos="3028950" algn="l"/>
              </a:tabLst>
            </a:pPr>
            <a:r>
              <a:rPr lang="en-US" sz="2000" b="1">
                <a:solidFill>
                  <a:srgbClr val="FF0000"/>
                </a:solidFill>
                <a:cs typeface="Arial" pitchFamily="34" charset="0"/>
              </a:rPr>
              <a:t>Load2 writes to CDB; Timer starts down for Add1, Mult1 (they “begin execution” following cycle -- clock cycle 6)</a:t>
            </a:r>
            <a:endParaRPr lang="en-US" b="1">
              <a:solidFill>
                <a:srgbClr val="FF0000"/>
              </a:solidFill>
              <a:cs typeface="Arial" pitchFamily="34" charset="0"/>
            </a:endParaRPr>
          </a:p>
        </p:txBody>
      </p:sp>
      <p:sp>
        <p:nvSpPr>
          <p:cNvPr id="5125" name="AutoShape 5"/>
          <p:cNvSpPr>
            <a:spLocks noChangeArrowheads="1"/>
          </p:cNvSpPr>
          <p:nvPr/>
        </p:nvSpPr>
        <p:spPr bwMode="auto">
          <a:xfrm>
            <a:off x="1371600" y="3200400"/>
            <a:ext cx="533400" cy="1219200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6" name="AutoShape 6"/>
          <p:cNvSpPr>
            <a:spLocks noChangeArrowheads="1"/>
          </p:cNvSpPr>
          <p:nvPr/>
        </p:nvSpPr>
        <p:spPr bwMode="auto">
          <a:xfrm>
            <a:off x="4343400" y="3429000"/>
            <a:ext cx="685800" cy="304800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7" name="AutoShape 7"/>
          <p:cNvSpPr>
            <a:spLocks noChangeArrowheads="1"/>
          </p:cNvSpPr>
          <p:nvPr/>
        </p:nvSpPr>
        <p:spPr bwMode="auto">
          <a:xfrm>
            <a:off x="3733800" y="4114800"/>
            <a:ext cx="685800" cy="241300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8" name="Slide Number Placeholder 1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FCE1FBF-893E-4B87-95BC-527685B1FE18}" type="slidenum">
              <a:rPr lang="en-GB" smtClean="0"/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27</a:t>
            </a:fld>
            <a:r>
              <a:rPr lang="en-GB"/>
              <a:t> </a:t>
            </a:r>
          </a:p>
        </p:txBody>
      </p:sp>
      <p:sp>
        <p:nvSpPr>
          <p:cNvPr id="5129" name="AutoShape 7"/>
          <p:cNvSpPr>
            <a:spLocks noChangeArrowheads="1"/>
          </p:cNvSpPr>
          <p:nvPr/>
        </p:nvSpPr>
        <p:spPr bwMode="auto">
          <a:xfrm>
            <a:off x="2527300" y="4356100"/>
            <a:ext cx="3127375" cy="228600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9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9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68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76200"/>
            <a:ext cx="7162800" cy="1143000"/>
          </a:xfrm>
        </p:spPr>
        <p:txBody>
          <a:bodyPr lIns="90487" tIns="44450" rIns="90487" bIns="44450"/>
          <a:lstStyle/>
          <a:p>
            <a:pPr eaLnBrk="1" hangingPunct="1"/>
            <a:r>
              <a:rPr lang="en-US">
                <a:latin typeface="Arial  " charset="0"/>
                <a:cs typeface="Arial  " charset="0"/>
              </a:rPr>
              <a:t>Tomasulo Example Cycle 6</a:t>
            </a:r>
          </a:p>
        </p:txBody>
      </p:sp>
      <p:graphicFrame>
        <p:nvGraphicFramePr>
          <p:cNvPr id="6146" name="Object 2"/>
          <p:cNvGraphicFramePr>
            <a:graphicFrameLocks/>
          </p:cNvGraphicFramePr>
          <p:nvPr/>
        </p:nvGraphicFramePr>
        <p:xfrm>
          <a:off x="212725" y="952500"/>
          <a:ext cx="8170863" cy="498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9029633" imgH="6619943" progId="Excel.Sheet.8">
                  <p:embed/>
                </p:oleObj>
              </mc:Choice>
              <mc:Fallback>
                <p:oleObj name="Worksheet" r:id="rId3" imgW="9029633" imgH="6619943" progId="Excel.Sheet.8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" y="952500"/>
                        <a:ext cx="8170863" cy="498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316" name="Rectangle 4"/>
          <p:cNvSpPr>
            <a:spLocks noChangeArrowheads="1"/>
          </p:cNvSpPr>
          <p:nvPr/>
        </p:nvSpPr>
        <p:spPr bwMode="auto">
          <a:xfrm>
            <a:off x="342900" y="5676900"/>
            <a:ext cx="8496300" cy="520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7" tIns="44450" rIns="90487" bIns="44450"/>
          <a:lstStyle/>
          <a:p>
            <a:pPr marL="285750" indent="-285750" defTabSz="914400">
              <a:lnSpc>
                <a:spcPct val="90000"/>
              </a:lnSpc>
              <a:spcBef>
                <a:spcPct val="30000"/>
              </a:spcBef>
              <a:buClrTx/>
              <a:buSzTx/>
              <a:buFontTx/>
              <a:buChar char="•"/>
              <a:tabLst>
                <a:tab pos="914400" algn="l"/>
                <a:tab pos="1657350" algn="l"/>
                <a:tab pos="3028950" algn="l"/>
              </a:tabLst>
            </a:pPr>
            <a:r>
              <a:rPr lang="en-US" b="1">
                <a:solidFill>
                  <a:srgbClr val="FF0000"/>
                </a:solidFill>
                <a:cs typeface="Arial" pitchFamily="34" charset="0"/>
              </a:rPr>
              <a:t>Issue ADD.D here despite name dependency on F6? </a:t>
            </a:r>
          </a:p>
        </p:txBody>
      </p:sp>
      <p:sp>
        <p:nvSpPr>
          <p:cNvPr id="7174" name="AutoShape 7"/>
          <p:cNvSpPr>
            <a:spLocks noChangeArrowheads="1"/>
          </p:cNvSpPr>
          <p:nvPr/>
        </p:nvSpPr>
        <p:spPr bwMode="auto">
          <a:xfrm>
            <a:off x="5072063" y="5235575"/>
            <a:ext cx="558800" cy="284163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50" name="Slide Number Placeholder 1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67A2A62-5C89-493F-AFCE-30B3E998772F}" type="slidenum">
              <a:rPr lang="en-GB" smtClean="0"/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28</a:t>
            </a:fld>
            <a:r>
              <a:rPr lang="en-GB"/>
              <a:t> </a:t>
            </a:r>
          </a:p>
        </p:txBody>
      </p:sp>
      <p:sp>
        <p:nvSpPr>
          <p:cNvPr id="6151" name="AutoShape 5"/>
          <p:cNvSpPr>
            <a:spLocks noChangeArrowheads="1"/>
          </p:cNvSpPr>
          <p:nvPr/>
        </p:nvSpPr>
        <p:spPr bwMode="auto">
          <a:xfrm>
            <a:off x="3895725" y="1927225"/>
            <a:ext cx="317500" cy="519113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2544763" y="3684588"/>
            <a:ext cx="3146425" cy="3016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lIns="36000" tIns="36000" rIns="36000" bIns="36000">
            <a:spAutoFit/>
          </a:bodyPr>
          <a:lstStyle/>
          <a:p>
            <a:r>
              <a:rPr lang="en-CA" sz="1600">
                <a:solidFill>
                  <a:schemeClr val="tx1"/>
                </a:solidFill>
              </a:rPr>
              <a:t>Yes   ADD.D            </a:t>
            </a:r>
            <a:r>
              <a:rPr lang="en-CA" sz="800">
                <a:solidFill>
                  <a:srgbClr val="FF0000"/>
                </a:solidFill>
              </a:rPr>
              <a:t>  </a:t>
            </a:r>
            <a:r>
              <a:rPr lang="en-CA" sz="1600">
                <a:solidFill>
                  <a:srgbClr val="FF0000"/>
                </a:solidFill>
              </a:rPr>
              <a:t>M(A2)  </a:t>
            </a:r>
            <a:r>
              <a:rPr lang="en-CA" sz="1600">
                <a:solidFill>
                  <a:srgbClr val="FF00FF"/>
                </a:solidFill>
              </a:rPr>
              <a:t>Add1</a:t>
            </a:r>
          </a:p>
        </p:txBody>
      </p:sp>
      <p:sp>
        <p:nvSpPr>
          <p:cNvPr id="7173" name="AutoShape 6"/>
          <p:cNvSpPr>
            <a:spLocks noChangeArrowheads="1"/>
          </p:cNvSpPr>
          <p:nvPr/>
        </p:nvSpPr>
        <p:spPr bwMode="auto">
          <a:xfrm>
            <a:off x="2493963" y="3705225"/>
            <a:ext cx="3962400" cy="246063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5084763" y="5259388"/>
            <a:ext cx="550862" cy="2286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lIns="36000" tIns="0" rIns="36000" bIns="0">
            <a:spAutoFit/>
          </a:bodyPr>
          <a:lstStyle/>
          <a:p>
            <a:r>
              <a:rPr lang="en-CA" sz="1600">
                <a:solidFill>
                  <a:schemeClr val="tx1"/>
                </a:solidFill>
              </a:rPr>
              <a:t>Add2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1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1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6" grpId="0" autoUpdateAnimBg="0"/>
      <p:bldP spid="7174" grpId="0" animBg="1"/>
      <p:bldP spid="12" grpId="0" animBg="1"/>
      <p:bldP spid="7173" grpId="0" animBg="1"/>
      <p:bldP spid="1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76200"/>
            <a:ext cx="7162800" cy="1143000"/>
          </a:xfrm>
        </p:spPr>
        <p:txBody>
          <a:bodyPr lIns="90487" tIns="44450" rIns="90487" bIns="44450"/>
          <a:lstStyle/>
          <a:p>
            <a:pPr eaLnBrk="1" hangingPunct="1"/>
            <a:r>
              <a:rPr lang="en-US">
                <a:latin typeface="Arial  " charset="0"/>
                <a:cs typeface="Arial  " charset="0"/>
              </a:rPr>
              <a:t>Tomasulo Example Cycle 7</a:t>
            </a:r>
          </a:p>
        </p:txBody>
      </p:sp>
      <p:graphicFrame>
        <p:nvGraphicFramePr>
          <p:cNvPr id="7170" name="Object 2"/>
          <p:cNvGraphicFramePr>
            <a:graphicFrameLocks/>
          </p:cNvGraphicFramePr>
          <p:nvPr/>
        </p:nvGraphicFramePr>
        <p:xfrm>
          <a:off x="212725" y="952500"/>
          <a:ext cx="8170863" cy="498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9029633" imgH="6619943" progId="Excel.Sheet.8">
                  <p:embed/>
                </p:oleObj>
              </mc:Choice>
              <mc:Fallback>
                <p:oleObj name="Worksheet" r:id="rId3" imgW="9029633" imgH="6619943" progId="Excel.Sheet.8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" y="952500"/>
                        <a:ext cx="8170863" cy="498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64" name="Rectangle 4"/>
          <p:cNvSpPr>
            <a:spLocks noChangeArrowheads="1"/>
          </p:cNvSpPr>
          <p:nvPr/>
        </p:nvSpPr>
        <p:spPr bwMode="auto">
          <a:xfrm>
            <a:off x="304800" y="5715000"/>
            <a:ext cx="8496300" cy="520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7" tIns="44450" rIns="90487" bIns="44450"/>
          <a:lstStyle/>
          <a:p>
            <a:pPr marL="285750" indent="-285750" defTabSz="914400">
              <a:lnSpc>
                <a:spcPct val="90000"/>
              </a:lnSpc>
              <a:spcBef>
                <a:spcPct val="30000"/>
              </a:spcBef>
              <a:buClrTx/>
              <a:buSzTx/>
              <a:buFontTx/>
              <a:buChar char="•"/>
              <a:tabLst>
                <a:tab pos="914400" algn="l"/>
                <a:tab pos="1657350" algn="l"/>
                <a:tab pos="3028950" algn="l"/>
              </a:tabLst>
            </a:pPr>
            <a:r>
              <a:rPr lang="en-US" b="1">
                <a:solidFill>
                  <a:srgbClr val="FF0000"/>
                </a:solidFill>
                <a:cs typeface="Arial" pitchFamily="34" charset="0"/>
              </a:rPr>
              <a:t>Add1 (SUB.D) completing; </a:t>
            </a:r>
            <a:r>
              <a:rPr lang="en-US" b="1" u="sng">
                <a:solidFill>
                  <a:srgbClr val="FF0000"/>
                </a:solidFill>
                <a:cs typeface="Arial" pitchFamily="34" charset="0"/>
              </a:rPr>
              <a:t>what is waiting for it? </a:t>
            </a:r>
          </a:p>
        </p:txBody>
      </p:sp>
      <p:sp>
        <p:nvSpPr>
          <p:cNvPr id="7173" name="Slide Number Placeholder 9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C4FD3C1-6E88-4ECC-B8C5-F8F02A291BB6}" type="slidenum">
              <a:rPr lang="en-GB" smtClean="0"/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29</a:t>
            </a:fld>
            <a:r>
              <a:rPr lang="en-GB"/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4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76200"/>
            <a:ext cx="7162800" cy="1143000"/>
          </a:xfrm>
        </p:spPr>
        <p:txBody>
          <a:bodyPr lIns="90487" tIns="44450" rIns="90487" bIns="44450"/>
          <a:lstStyle/>
          <a:p>
            <a:pPr eaLnBrk="1" hangingPunct="1"/>
            <a:r>
              <a:rPr lang="en-US">
                <a:latin typeface="Arial  " charset="0"/>
                <a:cs typeface="Arial  " charset="0"/>
              </a:rPr>
              <a:t>Tomasulo Example Cycle 8</a:t>
            </a:r>
          </a:p>
        </p:txBody>
      </p:sp>
      <p:graphicFrame>
        <p:nvGraphicFramePr>
          <p:cNvPr id="8194" name="Object 2"/>
          <p:cNvGraphicFramePr>
            <a:graphicFrameLocks/>
          </p:cNvGraphicFramePr>
          <p:nvPr/>
        </p:nvGraphicFramePr>
        <p:xfrm>
          <a:off x="212725" y="952500"/>
          <a:ext cx="8170863" cy="498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9029633" imgH="6619943" progId="Excel.Sheet.8">
                  <p:embed/>
                </p:oleObj>
              </mc:Choice>
              <mc:Fallback>
                <p:oleObj name="Worksheet" r:id="rId3" imgW="9029633" imgH="6619943" progId="Excel.Sheet.8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" y="952500"/>
                        <a:ext cx="8170863" cy="498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6" name="AutoShape 4"/>
          <p:cNvSpPr>
            <a:spLocks noChangeArrowheads="1"/>
          </p:cNvSpPr>
          <p:nvPr/>
        </p:nvSpPr>
        <p:spPr bwMode="auto">
          <a:xfrm>
            <a:off x="3733800" y="3657600"/>
            <a:ext cx="685800" cy="304800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197" name="AutoShape 5"/>
          <p:cNvSpPr>
            <a:spLocks noChangeArrowheads="1"/>
          </p:cNvSpPr>
          <p:nvPr/>
        </p:nvSpPr>
        <p:spPr bwMode="auto">
          <a:xfrm>
            <a:off x="5638800" y="5257800"/>
            <a:ext cx="685800" cy="304800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198" name="Slide Number Placeholder 9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D379897-51A8-4649-8B3E-B8D7006E81D4}" type="slidenum">
              <a:rPr lang="en-GB" smtClean="0"/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30</a:t>
            </a:fld>
            <a:r>
              <a:rPr lang="en-GB"/>
              <a:t> </a:t>
            </a:r>
          </a:p>
        </p:txBody>
      </p:sp>
      <p:sp>
        <p:nvSpPr>
          <p:cNvPr id="8199" name="AutoShape 4"/>
          <p:cNvSpPr>
            <a:spLocks noChangeArrowheads="1"/>
          </p:cNvSpPr>
          <p:nvPr/>
        </p:nvSpPr>
        <p:spPr bwMode="auto">
          <a:xfrm>
            <a:off x="4465638" y="2133600"/>
            <a:ext cx="487362" cy="320675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76200"/>
            <a:ext cx="7162800" cy="838200"/>
          </a:xfrm>
        </p:spPr>
        <p:txBody>
          <a:bodyPr lIns="90487" tIns="44450" rIns="90487" bIns="44450"/>
          <a:lstStyle/>
          <a:p>
            <a:pPr eaLnBrk="1" hangingPunct="1"/>
            <a:r>
              <a:rPr lang="en-US">
                <a:latin typeface="Arial  " charset="0"/>
                <a:cs typeface="Arial  " charset="0"/>
              </a:rPr>
              <a:t>Tomasulo Example Cycle 9</a:t>
            </a:r>
          </a:p>
        </p:txBody>
      </p:sp>
      <p:graphicFrame>
        <p:nvGraphicFramePr>
          <p:cNvPr id="9218" name="Object 2"/>
          <p:cNvGraphicFramePr>
            <a:graphicFrameLocks/>
          </p:cNvGraphicFramePr>
          <p:nvPr/>
        </p:nvGraphicFramePr>
        <p:xfrm>
          <a:off x="212725" y="952500"/>
          <a:ext cx="8170863" cy="498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9029633" imgH="6619943" progId="Excel.Sheet.8">
                  <p:embed/>
                </p:oleObj>
              </mc:Choice>
              <mc:Fallback>
                <p:oleObj name="Worksheet" r:id="rId3" imgW="9029633" imgH="6619943" progId="Excel.Sheet.8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" y="952500"/>
                        <a:ext cx="8170863" cy="498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0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D81C5F6-A0D3-4026-8362-9A4D888B1ACE}" type="slidenum">
              <a:rPr lang="en-GB" smtClean="0"/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31</a:t>
            </a:fld>
            <a:r>
              <a:rPr lang="en-GB"/>
              <a:t> </a:t>
            </a:r>
          </a:p>
        </p:txBody>
      </p:sp>
      <p:sp>
        <p:nvSpPr>
          <p:cNvPr id="9221" name="AutoShape 4"/>
          <p:cNvSpPr>
            <a:spLocks noChangeArrowheads="1"/>
          </p:cNvSpPr>
          <p:nvPr/>
        </p:nvSpPr>
        <p:spPr bwMode="auto">
          <a:xfrm>
            <a:off x="3867150" y="2544763"/>
            <a:ext cx="433388" cy="304800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76200"/>
            <a:ext cx="7162800" cy="1143000"/>
          </a:xfrm>
        </p:spPr>
        <p:txBody>
          <a:bodyPr lIns="90487" tIns="44450" rIns="90487" bIns="44450"/>
          <a:lstStyle/>
          <a:p>
            <a:pPr eaLnBrk="1" hangingPunct="1"/>
            <a:r>
              <a:rPr lang="en-US">
                <a:latin typeface="Arial  " charset="0"/>
                <a:cs typeface="Arial  " charset="0"/>
              </a:rPr>
              <a:t>Tomasulo Example Cycle 10</a:t>
            </a:r>
          </a:p>
        </p:txBody>
      </p:sp>
      <p:graphicFrame>
        <p:nvGraphicFramePr>
          <p:cNvPr id="10242" name="Object 2"/>
          <p:cNvGraphicFramePr>
            <a:graphicFrameLocks/>
          </p:cNvGraphicFramePr>
          <p:nvPr/>
        </p:nvGraphicFramePr>
        <p:xfrm>
          <a:off x="212725" y="952500"/>
          <a:ext cx="8170863" cy="498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9029633" imgH="6619943" progId="Excel.Sheet.8">
                  <p:embed/>
                </p:oleObj>
              </mc:Choice>
              <mc:Fallback>
                <p:oleObj name="Worksheet" r:id="rId3" imgW="9029633" imgH="6619943" progId="Excel.Sheet.8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" y="952500"/>
                        <a:ext cx="8170863" cy="498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508" name="Rectangle 4"/>
          <p:cNvSpPr>
            <a:spLocks noChangeArrowheads="1"/>
          </p:cNvSpPr>
          <p:nvPr/>
        </p:nvSpPr>
        <p:spPr bwMode="auto">
          <a:xfrm>
            <a:off x="304800" y="5727700"/>
            <a:ext cx="8496300" cy="520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7" tIns="44450" rIns="90487" bIns="44450"/>
          <a:lstStyle/>
          <a:p>
            <a:pPr marL="285750" indent="-285750" defTabSz="914400">
              <a:lnSpc>
                <a:spcPct val="90000"/>
              </a:lnSpc>
              <a:spcBef>
                <a:spcPct val="30000"/>
              </a:spcBef>
              <a:buClrTx/>
              <a:buSzTx/>
              <a:buFontTx/>
              <a:buChar char="•"/>
              <a:tabLst>
                <a:tab pos="914400" algn="l"/>
                <a:tab pos="1657350" algn="l"/>
                <a:tab pos="3028950" algn="l"/>
              </a:tabLst>
            </a:pPr>
            <a:r>
              <a:rPr lang="en-US" b="1">
                <a:solidFill>
                  <a:srgbClr val="FF0000"/>
                </a:solidFill>
                <a:cs typeface="Arial" pitchFamily="34" charset="0"/>
              </a:rPr>
              <a:t>Add2 (ADD.D) completing; </a:t>
            </a:r>
            <a:r>
              <a:rPr lang="en-US" b="1" u="sng">
                <a:solidFill>
                  <a:srgbClr val="FF0000"/>
                </a:solidFill>
                <a:cs typeface="Arial" pitchFamily="34" charset="0"/>
              </a:rPr>
              <a:t>what is waiting for it? </a:t>
            </a:r>
          </a:p>
        </p:txBody>
      </p:sp>
      <p:sp>
        <p:nvSpPr>
          <p:cNvPr id="10245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08F66F0-6C88-4E97-94AA-4B2810A0D5E8}" type="slidenum">
              <a:rPr lang="en-GB" smtClean="0"/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32</a:t>
            </a:fld>
            <a:r>
              <a:rPr lang="en-GB"/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9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9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08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76200"/>
            <a:ext cx="7162800" cy="1143000"/>
          </a:xfrm>
        </p:spPr>
        <p:txBody>
          <a:bodyPr lIns="90487" tIns="44450" rIns="90487" bIns="44450"/>
          <a:lstStyle/>
          <a:p>
            <a:pPr eaLnBrk="1" hangingPunct="1"/>
            <a:r>
              <a:rPr lang="en-US">
                <a:latin typeface="Arial  " charset="0"/>
                <a:cs typeface="Arial  " charset="0"/>
              </a:rPr>
              <a:t>Tomasulo Example Cycle 11</a:t>
            </a:r>
          </a:p>
        </p:txBody>
      </p:sp>
      <p:graphicFrame>
        <p:nvGraphicFramePr>
          <p:cNvPr id="11266" name="Object 2"/>
          <p:cNvGraphicFramePr>
            <a:graphicFrameLocks/>
          </p:cNvGraphicFramePr>
          <p:nvPr/>
        </p:nvGraphicFramePr>
        <p:xfrm>
          <a:off x="212725" y="952500"/>
          <a:ext cx="8170863" cy="498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9029633" imgH="6619943" progId="Excel.Sheet.8">
                  <p:embed/>
                </p:oleObj>
              </mc:Choice>
              <mc:Fallback>
                <p:oleObj name="Worksheet" r:id="rId3" imgW="9029633" imgH="6619943" progId="Excel.Sheet.8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" y="952500"/>
                        <a:ext cx="8170863" cy="498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556" name="Rectangle 4"/>
          <p:cNvSpPr>
            <a:spLocks noChangeArrowheads="1"/>
          </p:cNvSpPr>
          <p:nvPr/>
        </p:nvSpPr>
        <p:spPr bwMode="auto">
          <a:xfrm>
            <a:off x="238125" y="5680075"/>
            <a:ext cx="8496300" cy="520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7" tIns="44450" rIns="90487" bIns="44450"/>
          <a:lstStyle/>
          <a:p>
            <a:pPr marL="285750" indent="-285750" defTabSz="914400">
              <a:lnSpc>
                <a:spcPct val="90000"/>
              </a:lnSpc>
              <a:spcBef>
                <a:spcPct val="30000"/>
              </a:spcBef>
              <a:buClrTx/>
              <a:buSzTx/>
              <a:buFontTx/>
              <a:buChar char="•"/>
              <a:tabLst>
                <a:tab pos="914400" algn="l"/>
                <a:tab pos="1657350" algn="l"/>
                <a:tab pos="3028950" algn="l"/>
              </a:tabLst>
            </a:pPr>
            <a:r>
              <a:rPr lang="en-US" b="1" u="sng">
                <a:solidFill>
                  <a:srgbClr val="FF0000"/>
                </a:solidFill>
                <a:cs typeface="Arial" pitchFamily="34" charset="0"/>
              </a:rPr>
              <a:t>Write result of ADD.D here?</a:t>
            </a:r>
            <a:endParaRPr lang="en-US" b="1">
              <a:solidFill>
                <a:srgbClr val="FF0000"/>
              </a:solidFill>
              <a:cs typeface="Arial" pitchFamily="34" charset="0"/>
            </a:endParaRPr>
          </a:p>
        </p:txBody>
      </p:sp>
      <p:sp>
        <p:nvSpPr>
          <p:cNvPr id="11269" name="Slide Number Placeholder 9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8EB140A-AF24-4F8A-AE5A-CF395D66C9EF}" type="slidenum">
              <a:rPr lang="en-GB" smtClean="0"/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33</a:t>
            </a:fld>
            <a:r>
              <a:rPr lang="en-GB"/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1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1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6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76200"/>
            <a:ext cx="7162800" cy="1143000"/>
          </a:xfrm>
        </p:spPr>
        <p:txBody>
          <a:bodyPr lIns="90487" tIns="44450" rIns="90487" bIns="44450"/>
          <a:lstStyle/>
          <a:p>
            <a:pPr eaLnBrk="1" hangingPunct="1"/>
            <a:r>
              <a:rPr lang="en-US">
                <a:latin typeface="Arial  " charset="0"/>
                <a:cs typeface="Arial  " charset="0"/>
              </a:rPr>
              <a:t>Tomasulo Example Cycle 12</a:t>
            </a:r>
          </a:p>
        </p:txBody>
      </p:sp>
      <p:graphicFrame>
        <p:nvGraphicFramePr>
          <p:cNvPr id="12290" name="Object 2"/>
          <p:cNvGraphicFramePr>
            <a:graphicFrameLocks/>
          </p:cNvGraphicFramePr>
          <p:nvPr/>
        </p:nvGraphicFramePr>
        <p:xfrm>
          <a:off x="212725" y="952500"/>
          <a:ext cx="8170863" cy="498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9029633" imgH="6619943" progId="Excel.Sheet.8">
                  <p:embed/>
                </p:oleObj>
              </mc:Choice>
              <mc:Fallback>
                <p:oleObj name="Worksheet" r:id="rId3" imgW="9029633" imgH="6619943" progId="Excel.Sheet.8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" y="952500"/>
                        <a:ext cx="8170863" cy="498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2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A8B6ED6-EE4F-4387-9AFE-2ACFDF75FE4C}" type="slidenum">
              <a:rPr lang="en-GB" smtClean="0"/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34</a:t>
            </a:fld>
            <a:r>
              <a:rPr lang="en-GB"/>
              <a:t> </a:t>
            </a: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76200"/>
            <a:ext cx="7162800" cy="1143000"/>
          </a:xfrm>
        </p:spPr>
        <p:txBody>
          <a:bodyPr lIns="90487" tIns="44450" rIns="90487" bIns="44450"/>
          <a:lstStyle/>
          <a:p>
            <a:pPr eaLnBrk="1" hangingPunct="1"/>
            <a:r>
              <a:rPr lang="en-US">
                <a:latin typeface="Arial  " charset="0"/>
                <a:cs typeface="Arial  " charset="0"/>
              </a:rPr>
              <a:t>Tomasulo Example Cycle 13</a:t>
            </a:r>
          </a:p>
        </p:txBody>
      </p:sp>
      <p:graphicFrame>
        <p:nvGraphicFramePr>
          <p:cNvPr id="13314" name="Object 2"/>
          <p:cNvGraphicFramePr>
            <a:graphicFrameLocks/>
          </p:cNvGraphicFramePr>
          <p:nvPr/>
        </p:nvGraphicFramePr>
        <p:xfrm>
          <a:off x="212725" y="952500"/>
          <a:ext cx="8170863" cy="498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9029633" imgH="6619943" progId="Excel.Sheet.8">
                  <p:embed/>
                </p:oleObj>
              </mc:Choice>
              <mc:Fallback>
                <p:oleObj name="Worksheet" r:id="rId3" imgW="9029633" imgH="6619943" progId="Excel.Sheet.8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" y="952500"/>
                        <a:ext cx="8170863" cy="498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6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D5BDF4F-7174-4FFC-860F-6734070424EE}" type="slidenum">
              <a:rPr lang="en-GB" smtClean="0"/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35</a:t>
            </a:fld>
            <a:r>
              <a:rPr lang="en-GB"/>
              <a:t> </a:t>
            </a: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76200"/>
            <a:ext cx="7162800" cy="1143000"/>
          </a:xfrm>
        </p:spPr>
        <p:txBody>
          <a:bodyPr lIns="90487" tIns="44450" rIns="90487" bIns="44450"/>
          <a:lstStyle/>
          <a:p>
            <a:pPr eaLnBrk="1" hangingPunct="1"/>
            <a:r>
              <a:rPr lang="en-US">
                <a:latin typeface="Arial  " charset="0"/>
                <a:cs typeface="Arial  " charset="0"/>
              </a:rPr>
              <a:t>Tomasulo Example Cycle 14</a:t>
            </a:r>
          </a:p>
        </p:txBody>
      </p:sp>
      <p:graphicFrame>
        <p:nvGraphicFramePr>
          <p:cNvPr id="14338" name="Object 2"/>
          <p:cNvGraphicFramePr>
            <a:graphicFrameLocks/>
          </p:cNvGraphicFramePr>
          <p:nvPr/>
        </p:nvGraphicFramePr>
        <p:xfrm>
          <a:off x="212725" y="952500"/>
          <a:ext cx="8170863" cy="498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9029633" imgH="6619943" progId="Excel.Sheet.8">
                  <p:embed/>
                </p:oleObj>
              </mc:Choice>
              <mc:Fallback>
                <p:oleObj name="Worksheet" r:id="rId3" imgW="9029633" imgH="6619943" progId="Excel.Sheet.8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" y="952500"/>
                        <a:ext cx="8170863" cy="498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0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164BCF7-672E-4506-B2B0-AE2CB1F1D172}" type="slidenum">
              <a:rPr lang="en-GB" smtClean="0"/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36</a:t>
            </a:fld>
            <a:r>
              <a:rPr lang="en-GB"/>
              <a:t> </a:t>
            </a: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76200"/>
            <a:ext cx="7162800" cy="1143000"/>
          </a:xfrm>
        </p:spPr>
        <p:txBody>
          <a:bodyPr lIns="90487" tIns="44450" rIns="90487" bIns="44450"/>
          <a:lstStyle/>
          <a:p>
            <a:pPr eaLnBrk="1" hangingPunct="1"/>
            <a:r>
              <a:rPr lang="en-US">
                <a:latin typeface="Arial  " charset="0"/>
                <a:cs typeface="Arial  " charset="0"/>
              </a:rPr>
              <a:t>Tomasulo Example Cycle 15</a:t>
            </a:r>
          </a:p>
        </p:txBody>
      </p:sp>
      <p:graphicFrame>
        <p:nvGraphicFramePr>
          <p:cNvPr id="15362" name="Object 2"/>
          <p:cNvGraphicFramePr>
            <a:graphicFrameLocks/>
          </p:cNvGraphicFramePr>
          <p:nvPr/>
        </p:nvGraphicFramePr>
        <p:xfrm>
          <a:off x="212725" y="952500"/>
          <a:ext cx="8170863" cy="498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9029633" imgH="6619943" progId="Excel.Sheet.8">
                  <p:embed/>
                </p:oleObj>
              </mc:Choice>
              <mc:Fallback>
                <p:oleObj name="Worksheet" r:id="rId3" imgW="9029633" imgH="6619943" progId="Excel.Sheet.8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" y="952500"/>
                        <a:ext cx="8170863" cy="498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9748" name="Rectangle 4"/>
          <p:cNvSpPr>
            <a:spLocks noChangeArrowheads="1"/>
          </p:cNvSpPr>
          <p:nvPr/>
        </p:nvSpPr>
        <p:spPr bwMode="auto">
          <a:xfrm>
            <a:off x="304800" y="5753100"/>
            <a:ext cx="8496300" cy="520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7" tIns="44450" rIns="90487" bIns="44450"/>
          <a:lstStyle/>
          <a:p>
            <a:pPr marL="285750" indent="-285750" defTabSz="914400">
              <a:lnSpc>
                <a:spcPct val="90000"/>
              </a:lnSpc>
              <a:spcBef>
                <a:spcPct val="30000"/>
              </a:spcBef>
              <a:buClrTx/>
              <a:buSzTx/>
              <a:buFontTx/>
              <a:buChar char="•"/>
              <a:tabLst>
                <a:tab pos="914400" algn="l"/>
                <a:tab pos="1657350" algn="l"/>
                <a:tab pos="3028950" algn="l"/>
              </a:tabLst>
            </a:pPr>
            <a:r>
              <a:rPr lang="en-US" b="1">
                <a:solidFill>
                  <a:srgbClr val="FF0000"/>
                </a:solidFill>
                <a:cs typeface="Arial" pitchFamily="34" charset="0"/>
              </a:rPr>
              <a:t>Mult1 (MUL.D) completing; what is waiting for it? </a:t>
            </a:r>
          </a:p>
        </p:txBody>
      </p:sp>
      <p:sp>
        <p:nvSpPr>
          <p:cNvPr id="15365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C953241-3B63-438D-93EF-B5B4A4AD4466}" type="slidenum">
              <a:rPr lang="en-GB" smtClean="0"/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37</a:t>
            </a:fld>
            <a:r>
              <a:rPr lang="en-GB"/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9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9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48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76200"/>
            <a:ext cx="7162800" cy="1143000"/>
          </a:xfrm>
        </p:spPr>
        <p:txBody>
          <a:bodyPr lIns="90487" tIns="44450" rIns="90487" bIns="44450"/>
          <a:lstStyle/>
          <a:p>
            <a:pPr eaLnBrk="1" hangingPunct="1"/>
            <a:r>
              <a:rPr lang="en-US">
                <a:latin typeface="Arial  " charset="0"/>
                <a:cs typeface="Arial  " charset="0"/>
              </a:rPr>
              <a:t>Tomasulo Example Cycle 16</a:t>
            </a:r>
          </a:p>
        </p:txBody>
      </p:sp>
      <p:graphicFrame>
        <p:nvGraphicFramePr>
          <p:cNvPr id="16386" name="Object 2"/>
          <p:cNvGraphicFramePr>
            <a:graphicFrameLocks/>
          </p:cNvGraphicFramePr>
          <p:nvPr/>
        </p:nvGraphicFramePr>
        <p:xfrm>
          <a:off x="212725" y="952500"/>
          <a:ext cx="8170863" cy="498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9029633" imgH="6619943" progId="Excel.Sheet.8">
                  <p:embed/>
                </p:oleObj>
              </mc:Choice>
              <mc:Fallback>
                <p:oleObj name="Worksheet" r:id="rId3" imgW="9029633" imgH="6619943" progId="Excel.Sheet.8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" y="952500"/>
                        <a:ext cx="8170863" cy="498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8" name="AutoShape 4"/>
          <p:cNvSpPr>
            <a:spLocks noChangeArrowheads="1"/>
          </p:cNvSpPr>
          <p:nvPr/>
        </p:nvSpPr>
        <p:spPr bwMode="auto">
          <a:xfrm>
            <a:off x="3048000" y="5257800"/>
            <a:ext cx="685800" cy="241300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89" name="AutoShape 5"/>
          <p:cNvSpPr>
            <a:spLocks noChangeArrowheads="1"/>
          </p:cNvSpPr>
          <p:nvPr/>
        </p:nvSpPr>
        <p:spPr bwMode="auto">
          <a:xfrm>
            <a:off x="3733800" y="4343400"/>
            <a:ext cx="685800" cy="304800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1798" name="Rectangle 6"/>
          <p:cNvSpPr>
            <a:spLocks noChangeArrowheads="1"/>
          </p:cNvSpPr>
          <p:nvPr/>
        </p:nvSpPr>
        <p:spPr bwMode="auto">
          <a:xfrm>
            <a:off x="304800" y="5791200"/>
            <a:ext cx="8496300" cy="520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7" tIns="44450" rIns="90487" bIns="44450"/>
          <a:lstStyle/>
          <a:p>
            <a:pPr marL="285750" indent="-285750" defTabSz="914400">
              <a:lnSpc>
                <a:spcPct val="90000"/>
              </a:lnSpc>
              <a:spcBef>
                <a:spcPct val="30000"/>
              </a:spcBef>
              <a:buClrTx/>
              <a:buSzTx/>
              <a:buFontTx/>
              <a:buChar char="•"/>
              <a:tabLst>
                <a:tab pos="914400" algn="l"/>
                <a:tab pos="1657350" algn="l"/>
                <a:tab pos="3028950" algn="l"/>
              </a:tabLst>
            </a:pPr>
            <a:r>
              <a:rPr lang="en-US" b="1">
                <a:solidFill>
                  <a:srgbClr val="FF0000"/>
                </a:solidFill>
                <a:cs typeface="Arial" pitchFamily="34" charset="0"/>
              </a:rPr>
              <a:t>Just waiting for Mult2 (DIVD) to complete</a:t>
            </a:r>
          </a:p>
        </p:txBody>
      </p:sp>
      <p:sp>
        <p:nvSpPr>
          <p:cNvPr id="16391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668A664-1D93-431E-96E4-00DE79287E7A}" type="slidenum">
              <a:rPr lang="en-GB" smtClean="0"/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38</a:t>
            </a:fld>
            <a:r>
              <a:rPr lang="en-GB"/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17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17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798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1981200"/>
            <a:ext cx="7162800" cy="1143000"/>
          </a:xfrm>
        </p:spPr>
        <p:txBody>
          <a:bodyPr/>
          <a:lstStyle/>
          <a:p>
            <a:pPr eaLnBrk="1" hangingPunct="1"/>
            <a:r>
              <a:rPr lang="en-US">
                <a:latin typeface="Arial  " charset="0"/>
                <a:cs typeface="Arial  " charset="0"/>
              </a:rPr>
              <a:t>Faster than light computation</a:t>
            </a:r>
            <a:br>
              <a:rPr lang="en-US">
                <a:latin typeface="Arial  " charset="0"/>
                <a:cs typeface="Arial  " charset="0"/>
              </a:rPr>
            </a:br>
            <a:r>
              <a:rPr lang="en-US">
                <a:latin typeface="Arial  " charset="0"/>
                <a:cs typeface="Arial  " charset="0"/>
              </a:rPr>
              <a:t>(skip a couple of cycles)</a:t>
            </a:r>
          </a:p>
        </p:txBody>
      </p:sp>
      <p:sp>
        <p:nvSpPr>
          <p:cNvPr id="33795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FFF5EF4-FE18-4107-B424-B98E3E6D4A00}" type="slidenum">
              <a:rPr lang="en-GB" smtClean="0"/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39</a:t>
            </a:fld>
            <a:r>
              <a:rPr lang="en-GB"/>
              <a:t> </a:t>
            </a: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76200"/>
            <a:ext cx="7162800" cy="1143000"/>
          </a:xfrm>
        </p:spPr>
        <p:txBody>
          <a:bodyPr lIns="90487" tIns="44450" rIns="90487" bIns="44450"/>
          <a:lstStyle/>
          <a:p>
            <a:pPr eaLnBrk="1" hangingPunct="1"/>
            <a:r>
              <a:rPr lang="en-US">
                <a:latin typeface="Arial  " charset="0"/>
                <a:cs typeface="Arial  " charset="0"/>
              </a:rPr>
              <a:t>Tomasulo Example Cycle 55</a:t>
            </a:r>
          </a:p>
        </p:txBody>
      </p:sp>
      <p:graphicFrame>
        <p:nvGraphicFramePr>
          <p:cNvPr id="17410" name="Object 2"/>
          <p:cNvGraphicFramePr>
            <a:graphicFrameLocks/>
          </p:cNvGraphicFramePr>
          <p:nvPr/>
        </p:nvGraphicFramePr>
        <p:xfrm>
          <a:off x="212725" y="952500"/>
          <a:ext cx="8170863" cy="498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9029633" imgH="6619943" progId="Excel.Sheet.8">
                  <p:embed/>
                </p:oleObj>
              </mc:Choice>
              <mc:Fallback>
                <p:oleObj name="Worksheet" r:id="rId3" imgW="9029633" imgH="6619943" progId="Excel.Sheet.8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" y="952500"/>
                        <a:ext cx="8170863" cy="498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2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71ADE27-D050-4A64-A0AD-9502BE86B49B}" type="slidenum">
              <a:rPr lang="en-GB" smtClean="0"/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40</a:t>
            </a:fld>
            <a:r>
              <a:rPr lang="en-GB"/>
              <a:t> </a:t>
            </a: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76200"/>
            <a:ext cx="7162800" cy="1143000"/>
          </a:xfrm>
        </p:spPr>
        <p:txBody>
          <a:bodyPr lIns="90487" tIns="44450" rIns="90487" bIns="44450"/>
          <a:lstStyle/>
          <a:p>
            <a:pPr eaLnBrk="1" hangingPunct="1"/>
            <a:r>
              <a:rPr lang="en-US">
                <a:latin typeface="Arial  " charset="0"/>
                <a:cs typeface="Arial  " charset="0"/>
              </a:rPr>
              <a:t>Tomasulo Example Cycle 56</a:t>
            </a:r>
          </a:p>
        </p:txBody>
      </p:sp>
      <p:graphicFrame>
        <p:nvGraphicFramePr>
          <p:cNvPr id="18434" name="Object 2"/>
          <p:cNvGraphicFramePr>
            <a:graphicFrameLocks/>
          </p:cNvGraphicFramePr>
          <p:nvPr/>
        </p:nvGraphicFramePr>
        <p:xfrm>
          <a:off x="212725" y="952500"/>
          <a:ext cx="8170863" cy="498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9029633" imgH="6619943" progId="Excel.Sheet.8">
                  <p:embed/>
                </p:oleObj>
              </mc:Choice>
              <mc:Fallback>
                <p:oleObj name="Worksheet" r:id="rId3" imgW="9029633" imgH="6619943" progId="Excel.Sheet.8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" y="952500"/>
                        <a:ext cx="8170863" cy="498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7940" name="Rectangle 4"/>
          <p:cNvSpPr>
            <a:spLocks noChangeArrowheads="1"/>
          </p:cNvSpPr>
          <p:nvPr/>
        </p:nvSpPr>
        <p:spPr bwMode="auto">
          <a:xfrm>
            <a:off x="304800" y="5791200"/>
            <a:ext cx="8496300" cy="520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7" tIns="44450" rIns="90487" bIns="44450"/>
          <a:lstStyle/>
          <a:p>
            <a:pPr marL="285750" indent="-285750" defTabSz="914400">
              <a:lnSpc>
                <a:spcPct val="90000"/>
              </a:lnSpc>
              <a:spcBef>
                <a:spcPct val="30000"/>
              </a:spcBef>
              <a:buClrTx/>
              <a:buSzTx/>
              <a:buFontTx/>
              <a:buChar char="•"/>
              <a:tabLst>
                <a:tab pos="914400" algn="l"/>
                <a:tab pos="1657350" algn="l"/>
                <a:tab pos="3028950" algn="l"/>
              </a:tabLst>
            </a:pPr>
            <a:r>
              <a:rPr lang="en-US" b="1">
                <a:solidFill>
                  <a:srgbClr val="FF0000"/>
                </a:solidFill>
                <a:cs typeface="Arial" pitchFamily="34" charset="0"/>
              </a:rPr>
              <a:t>Mult2 (DIVD) is completing; what is waiting for it? </a:t>
            </a:r>
          </a:p>
        </p:txBody>
      </p:sp>
      <p:sp>
        <p:nvSpPr>
          <p:cNvPr id="18437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2034A25-AA70-4168-9AD5-82633FDAE2DE}" type="slidenum">
              <a:rPr lang="en-GB" smtClean="0"/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41</a:t>
            </a:fld>
            <a:r>
              <a:rPr lang="en-GB"/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79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79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40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76200"/>
            <a:ext cx="7162800" cy="1143000"/>
          </a:xfrm>
        </p:spPr>
        <p:txBody>
          <a:bodyPr lIns="90487" tIns="44450" rIns="90487" bIns="44450"/>
          <a:lstStyle/>
          <a:p>
            <a:pPr eaLnBrk="1" hangingPunct="1"/>
            <a:r>
              <a:rPr lang="en-US">
                <a:latin typeface="Arial  " charset="0"/>
                <a:cs typeface="Arial  " charset="0"/>
              </a:rPr>
              <a:t>Tomasulo Example Cycle 57</a:t>
            </a:r>
          </a:p>
        </p:txBody>
      </p:sp>
      <p:graphicFrame>
        <p:nvGraphicFramePr>
          <p:cNvPr id="19458" name="Object 2"/>
          <p:cNvGraphicFramePr>
            <a:graphicFrameLocks/>
          </p:cNvGraphicFramePr>
          <p:nvPr/>
        </p:nvGraphicFramePr>
        <p:xfrm>
          <a:off x="212725" y="952500"/>
          <a:ext cx="8170863" cy="498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9029633" imgH="6619943" progId="Excel.Sheet.8">
                  <p:embed/>
                </p:oleObj>
              </mc:Choice>
              <mc:Fallback>
                <p:oleObj name="Worksheet" r:id="rId3" imgW="9029633" imgH="6619943" progId="Excel.Sheet.8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" y="952500"/>
                        <a:ext cx="8170863" cy="498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/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988" name="Rectangle 4"/>
          <p:cNvSpPr>
            <a:spLocks noChangeArrowheads="1"/>
          </p:cNvSpPr>
          <p:nvPr/>
        </p:nvSpPr>
        <p:spPr bwMode="auto">
          <a:xfrm>
            <a:off x="304800" y="5684838"/>
            <a:ext cx="8496300" cy="520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7" tIns="44450" rIns="90487" bIns="44450"/>
          <a:lstStyle/>
          <a:p>
            <a:pPr marL="285750" indent="-285750" defTabSz="914400">
              <a:lnSpc>
                <a:spcPct val="90000"/>
              </a:lnSpc>
              <a:spcBef>
                <a:spcPct val="30000"/>
              </a:spcBef>
              <a:buClrTx/>
              <a:buSzTx/>
              <a:buFontTx/>
              <a:buChar char="•"/>
              <a:tabLst>
                <a:tab pos="914400" algn="l"/>
                <a:tab pos="1657350" algn="l"/>
                <a:tab pos="3028950" algn="l"/>
              </a:tabLst>
            </a:pPr>
            <a:r>
              <a:rPr lang="en-US" b="1">
                <a:solidFill>
                  <a:srgbClr val="FF0000"/>
                </a:solidFill>
                <a:cs typeface="Arial" pitchFamily="34" charset="0"/>
              </a:rPr>
              <a:t>Once again: In-order issue, out-of-order execution and out-of-order completion.</a:t>
            </a:r>
          </a:p>
        </p:txBody>
      </p:sp>
      <p:sp>
        <p:nvSpPr>
          <p:cNvPr id="19461" name="AutoShape 6"/>
          <p:cNvSpPr>
            <a:spLocks noChangeArrowheads="1"/>
          </p:cNvSpPr>
          <p:nvPr/>
        </p:nvSpPr>
        <p:spPr bwMode="auto">
          <a:xfrm>
            <a:off x="3124200" y="1470025"/>
            <a:ext cx="457200" cy="1397000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2" name="AutoShape 7"/>
          <p:cNvSpPr>
            <a:spLocks noChangeArrowheads="1"/>
          </p:cNvSpPr>
          <p:nvPr/>
        </p:nvSpPr>
        <p:spPr bwMode="auto">
          <a:xfrm>
            <a:off x="3810000" y="2360613"/>
            <a:ext cx="457200" cy="506412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3" name="AutoShape 8"/>
          <p:cNvSpPr>
            <a:spLocks noChangeArrowheads="1"/>
          </p:cNvSpPr>
          <p:nvPr/>
        </p:nvSpPr>
        <p:spPr bwMode="auto">
          <a:xfrm>
            <a:off x="4419600" y="1482725"/>
            <a:ext cx="457200" cy="1384300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4" name="Slide Number Placeholder 1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185B7BC-00A5-48A3-A1CE-4521401D88AD}" type="slidenum">
              <a:rPr lang="en-GB" smtClean="0"/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42</a:t>
            </a:fld>
            <a:r>
              <a:rPr lang="en-GB"/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99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99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88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 lIns="90360" tIns="44280" rIns="90360" bIns="44280"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latin typeface="Arial  " charset="0"/>
                <a:cs typeface="Arial  " charset="0"/>
              </a:rPr>
              <a:t>Tomasulo Drawbacks</a:t>
            </a:r>
          </a:p>
        </p:txBody>
      </p:sp>
      <p:sp>
        <p:nvSpPr>
          <p:cNvPr id="3891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38188" y="1465263"/>
            <a:ext cx="7620000" cy="4114800"/>
          </a:xfrm>
        </p:spPr>
        <p:txBody>
          <a:bodyPr lIns="90360" tIns="44280" rIns="90360" bIns="44280"/>
          <a:lstStyle/>
          <a:p>
            <a:pPr marL="284163" indent="-284163" eaLnBrk="1" hangingPunct="1">
              <a:lnSpc>
                <a:spcPct val="80000"/>
              </a:lnSpc>
              <a:spcBef>
                <a:spcPts val="600"/>
              </a:spcBef>
              <a:tabLst>
                <a:tab pos="854075" algn="l"/>
                <a:tab pos="1768475" algn="l"/>
                <a:tab pos="2682875" algn="l"/>
                <a:tab pos="3597275" algn="l"/>
                <a:tab pos="4511675" algn="l"/>
                <a:tab pos="5426075" algn="l"/>
                <a:tab pos="6340475" algn="l"/>
                <a:tab pos="7254875" algn="l"/>
                <a:tab pos="8169275" algn="l"/>
                <a:tab pos="9083675" algn="l"/>
                <a:tab pos="9998075" algn="l"/>
              </a:tabLst>
            </a:pPr>
            <a:r>
              <a:rPr lang="en-GB" sz="2400">
                <a:latin typeface="Arial  " charset="0"/>
                <a:cs typeface="Arial  " charset="0"/>
              </a:rPr>
              <a:t>Complexity</a:t>
            </a:r>
          </a:p>
          <a:p>
            <a:pPr marL="685800" lvl="1" indent="-228600" eaLnBrk="1" hangingPunct="1">
              <a:lnSpc>
                <a:spcPct val="80000"/>
              </a:lnSpc>
              <a:spcBef>
                <a:spcPts val="500"/>
              </a:spcBef>
              <a:tabLst>
                <a:tab pos="854075" algn="l"/>
                <a:tab pos="1768475" algn="l"/>
                <a:tab pos="2682875" algn="l"/>
                <a:tab pos="3597275" algn="l"/>
                <a:tab pos="4511675" algn="l"/>
                <a:tab pos="5426075" algn="l"/>
                <a:tab pos="6340475" algn="l"/>
                <a:tab pos="7254875" algn="l"/>
                <a:tab pos="8169275" algn="l"/>
                <a:tab pos="9083675" algn="l"/>
                <a:tab pos="9998075" algn="l"/>
              </a:tabLst>
            </a:pPr>
            <a:r>
              <a:rPr lang="en-GB" sz="2000">
                <a:latin typeface="Arial  " charset="0"/>
                <a:cs typeface="Arial  " charset="0"/>
              </a:rPr>
              <a:t>delays of 360/91, MIPS 10000, Alpha 21264, </a:t>
            </a:r>
            <a:br>
              <a:rPr lang="en-GB" sz="2000">
                <a:latin typeface="Arial  " charset="0"/>
                <a:cs typeface="Arial  " charset="0"/>
              </a:rPr>
            </a:br>
            <a:r>
              <a:rPr lang="en-GB" sz="2000">
                <a:latin typeface="Arial  " charset="0"/>
                <a:cs typeface="Arial  " charset="0"/>
              </a:rPr>
              <a:t>IBM PPC 620 (in CA:AQA 2/e, but not in silicon!)</a:t>
            </a:r>
          </a:p>
          <a:p>
            <a:pPr marL="284163" indent="-284163" eaLnBrk="1" hangingPunct="1">
              <a:lnSpc>
                <a:spcPct val="80000"/>
              </a:lnSpc>
              <a:spcBef>
                <a:spcPts val="600"/>
              </a:spcBef>
              <a:tabLst>
                <a:tab pos="854075" algn="l"/>
                <a:tab pos="1768475" algn="l"/>
                <a:tab pos="2682875" algn="l"/>
                <a:tab pos="3597275" algn="l"/>
                <a:tab pos="4511675" algn="l"/>
                <a:tab pos="5426075" algn="l"/>
                <a:tab pos="6340475" algn="l"/>
                <a:tab pos="7254875" algn="l"/>
                <a:tab pos="8169275" algn="l"/>
                <a:tab pos="9083675" algn="l"/>
                <a:tab pos="9998075" algn="l"/>
              </a:tabLst>
            </a:pPr>
            <a:r>
              <a:rPr lang="en-GB" sz="2400">
                <a:latin typeface="Arial  " charset="0"/>
                <a:cs typeface="Arial  " charset="0"/>
              </a:rPr>
              <a:t>Many associative  comparisons (CDB) at high speed</a:t>
            </a:r>
          </a:p>
          <a:p>
            <a:pPr marL="284163" indent="-284163" eaLnBrk="1" hangingPunct="1">
              <a:lnSpc>
                <a:spcPct val="80000"/>
              </a:lnSpc>
              <a:spcBef>
                <a:spcPts val="600"/>
              </a:spcBef>
              <a:tabLst>
                <a:tab pos="854075" algn="l"/>
                <a:tab pos="1768475" algn="l"/>
                <a:tab pos="2682875" algn="l"/>
                <a:tab pos="3597275" algn="l"/>
                <a:tab pos="4511675" algn="l"/>
                <a:tab pos="5426075" algn="l"/>
                <a:tab pos="6340475" algn="l"/>
                <a:tab pos="7254875" algn="l"/>
                <a:tab pos="8169275" algn="l"/>
                <a:tab pos="9083675" algn="l"/>
                <a:tab pos="9998075" algn="l"/>
              </a:tabLst>
            </a:pPr>
            <a:r>
              <a:rPr lang="en-GB" sz="2400">
                <a:latin typeface="Arial  " charset="0"/>
                <a:cs typeface="Arial  " charset="0"/>
              </a:rPr>
              <a:t>Performance limited by Common Data Bus</a:t>
            </a:r>
          </a:p>
          <a:p>
            <a:pPr marL="685800" lvl="1" indent="-228600" eaLnBrk="1" hangingPunct="1">
              <a:lnSpc>
                <a:spcPct val="80000"/>
              </a:lnSpc>
              <a:spcBef>
                <a:spcPts val="500"/>
              </a:spcBef>
              <a:tabLst>
                <a:tab pos="854075" algn="l"/>
                <a:tab pos="1768475" algn="l"/>
                <a:tab pos="2682875" algn="l"/>
                <a:tab pos="3597275" algn="l"/>
                <a:tab pos="4511675" algn="l"/>
                <a:tab pos="5426075" algn="l"/>
                <a:tab pos="6340475" algn="l"/>
                <a:tab pos="7254875" algn="l"/>
                <a:tab pos="8169275" algn="l"/>
                <a:tab pos="9083675" algn="l"/>
                <a:tab pos="9998075" algn="l"/>
              </a:tabLst>
            </a:pPr>
            <a:r>
              <a:rPr lang="en-GB" sz="2000">
                <a:latin typeface="Arial  " charset="0"/>
                <a:cs typeface="Arial  " charset="0"/>
              </a:rPr>
              <a:t>Each CDB must go to multiple functional units </a:t>
            </a:r>
            <a:br>
              <a:rPr lang="en-GB" sz="2000">
                <a:latin typeface="Arial  " charset="0"/>
                <a:cs typeface="Arial  " charset="0"/>
              </a:rPr>
            </a:br>
            <a:r>
              <a:rPr lang="en-GB" sz="2000">
                <a:latin typeface="Symbol" pitchFamily="18" charset="2"/>
                <a:cs typeface="Arial  " charset="0"/>
              </a:rPr>
              <a:t></a:t>
            </a:r>
            <a:r>
              <a:rPr lang="en-GB" sz="2000">
                <a:latin typeface="Arial  " charset="0"/>
                <a:cs typeface="Arial  " charset="0"/>
              </a:rPr>
              <a:t>high capacitance, high wiring density</a:t>
            </a:r>
          </a:p>
          <a:p>
            <a:pPr marL="685800" lvl="1" indent="-228600" eaLnBrk="1" hangingPunct="1">
              <a:lnSpc>
                <a:spcPct val="80000"/>
              </a:lnSpc>
              <a:spcBef>
                <a:spcPts val="500"/>
              </a:spcBef>
              <a:tabLst>
                <a:tab pos="854075" algn="l"/>
                <a:tab pos="1768475" algn="l"/>
                <a:tab pos="2682875" algn="l"/>
                <a:tab pos="3597275" algn="l"/>
                <a:tab pos="4511675" algn="l"/>
                <a:tab pos="5426075" algn="l"/>
                <a:tab pos="6340475" algn="l"/>
                <a:tab pos="7254875" algn="l"/>
                <a:tab pos="8169275" algn="l"/>
                <a:tab pos="9083675" algn="l"/>
                <a:tab pos="9998075" algn="l"/>
              </a:tabLst>
            </a:pPr>
            <a:r>
              <a:rPr lang="en-GB" sz="2000">
                <a:latin typeface="Arial  " charset="0"/>
                <a:cs typeface="Arial  " charset="0"/>
              </a:rPr>
              <a:t>Number of functional units that can complete per cycle limited to one!</a:t>
            </a:r>
          </a:p>
          <a:p>
            <a:pPr lvl="2" eaLnBrk="1" hangingPunct="1">
              <a:lnSpc>
                <a:spcPct val="80000"/>
              </a:lnSpc>
              <a:spcBef>
                <a:spcPts val="450"/>
              </a:spcBef>
              <a:tabLst>
                <a:tab pos="854075" algn="l"/>
                <a:tab pos="1768475" algn="l"/>
                <a:tab pos="2682875" algn="l"/>
                <a:tab pos="3597275" algn="l"/>
                <a:tab pos="4511675" algn="l"/>
                <a:tab pos="5426075" algn="l"/>
                <a:tab pos="6340475" algn="l"/>
                <a:tab pos="7254875" algn="l"/>
                <a:tab pos="8169275" algn="l"/>
                <a:tab pos="9083675" algn="l"/>
                <a:tab pos="9998075" algn="l"/>
              </a:tabLst>
            </a:pPr>
            <a:r>
              <a:rPr lang="en-GB" sz="1800">
                <a:latin typeface="Arial  " charset="0"/>
                <a:cs typeface="Arial  " charset="0"/>
              </a:rPr>
              <a:t>Multiple CDBs </a:t>
            </a:r>
            <a:r>
              <a:rPr lang="en-GB" sz="1800">
                <a:latin typeface="Symbol" pitchFamily="18" charset="2"/>
                <a:cs typeface="Arial  " charset="0"/>
              </a:rPr>
              <a:t></a:t>
            </a:r>
            <a:r>
              <a:rPr lang="en-GB" sz="1800">
                <a:latin typeface="Arial  " charset="0"/>
                <a:cs typeface="Arial  " charset="0"/>
              </a:rPr>
              <a:t> more FU logic for parallel assoc. stores</a:t>
            </a:r>
          </a:p>
          <a:p>
            <a:pPr marL="284163" indent="-284163" eaLnBrk="1" hangingPunct="1">
              <a:lnSpc>
                <a:spcPct val="80000"/>
              </a:lnSpc>
              <a:spcBef>
                <a:spcPts val="600"/>
              </a:spcBef>
              <a:tabLst>
                <a:tab pos="854075" algn="l"/>
                <a:tab pos="1768475" algn="l"/>
                <a:tab pos="2682875" algn="l"/>
                <a:tab pos="3597275" algn="l"/>
                <a:tab pos="4511675" algn="l"/>
                <a:tab pos="5426075" algn="l"/>
                <a:tab pos="6340475" algn="l"/>
                <a:tab pos="7254875" algn="l"/>
                <a:tab pos="8169275" algn="l"/>
                <a:tab pos="9083675" algn="l"/>
                <a:tab pos="9998075" algn="l"/>
              </a:tabLst>
            </a:pPr>
            <a:r>
              <a:rPr lang="en-GB" sz="2400">
                <a:latin typeface="Arial  " charset="0"/>
                <a:cs typeface="Arial  " charset="0"/>
              </a:rPr>
              <a:t>Non-precise interrupts!</a:t>
            </a:r>
          </a:p>
          <a:p>
            <a:pPr marL="685800" lvl="1" indent="-228600" eaLnBrk="1" hangingPunct="1">
              <a:lnSpc>
                <a:spcPct val="80000"/>
              </a:lnSpc>
              <a:spcBef>
                <a:spcPts val="500"/>
              </a:spcBef>
              <a:tabLst>
                <a:tab pos="854075" algn="l"/>
                <a:tab pos="1768475" algn="l"/>
                <a:tab pos="2682875" algn="l"/>
                <a:tab pos="3597275" algn="l"/>
                <a:tab pos="4511675" algn="l"/>
                <a:tab pos="5426075" algn="l"/>
                <a:tab pos="6340475" algn="l"/>
                <a:tab pos="7254875" algn="l"/>
                <a:tab pos="8169275" algn="l"/>
                <a:tab pos="9083675" algn="l"/>
                <a:tab pos="9998075" algn="l"/>
              </a:tabLst>
            </a:pPr>
            <a:r>
              <a:rPr lang="en-GB" sz="2000">
                <a:latin typeface="Arial  " charset="0"/>
                <a:cs typeface="Arial  " charset="0"/>
              </a:rPr>
              <a:t>We will see how to solve this problem later</a:t>
            </a:r>
          </a:p>
          <a:p>
            <a:pPr marL="685800" lvl="1" indent="-228600" eaLnBrk="1" hangingPunct="1">
              <a:lnSpc>
                <a:spcPct val="80000"/>
              </a:lnSpc>
              <a:spcBef>
                <a:spcPts val="500"/>
              </a:spcBef>
              <a:buFont typeface="Comic Sans MS" pitchFamily="66" charset="0"/>
              <a:buNone/>
              <a:tabLst>
                <a:tab pos="854075" algn="l"/>
                <a:tab pos="1768475" algn="l"/>
                <a:tab pos="2682875" algn="l"/>
                <a:tab pos="3597275" algn="l"/>
                <a:tab pos="4511675" algn="l"/>
                <a:tab pos="5426075" algn="l"/>
                <a:tab pos="6340475" algn="l"/>
                <a:tab pos="7254875" algn="l"/>
                <a:tab pos="8169275" algn="l"/>
                <a:tab pos="9083675" algn="l"/>
                <a:tab pos="9998075" algn="l"/>
              </a:tabLst>
            </a:pPr>
            <a:endParaRPr lang="en-GB" sz="2000">
              <a:latin typeface="Arial  " charset="0"/>
              <a:cs typeface="Arial  " charset="0"/>
            </a:endParaRPr>
          </a:p>
        </p:txBody>
      </p:sp>
      <p:sp>
        <p:nvSpPr>
          <p:cNvPr id="34820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E90096A-A117-4B02-824A-10B969EC2E99}" type="slidenum">
              <a:rPr lang="en-GB" smtClean="0"/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43</a:t>
            </a:fld>
            <a:r>
              <a:rPr lang="en-GB"/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Comic Sans MS"/>
        <a:ea typeface="ＭＳ Ｐゴシック"/>
        <a:cs typeface="ＭＳ Ｐゴシック"/>
      </a:majorFont>
      <a:minorFont>
        <a:latin typeface="Comic Sans MS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pitchFamily="-106" charset="-52"/>
          <a:buNone/>
          <a:tabLst/>
          <a:defRPr kumimoji="0" lang="en-GB" sz="2400" b="0" i="0" u="none" strike="noStrike" cap="none" normalizeH="0" baseline="0">
            <a:ln>
              <a:noFill/>
            </a:ln>
            <a:solidFill>
              <a:schemeClr val="bg1"/>
            </a:solidFill>
            <a:effectLst/>
            <a:latin typeface="Arial" pitchFamily="-106" charset="-5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pitchFamily="-106" charset="-52"/>
          <a:buNone/>
          <a:tabLst/>
          <a:defRPr kumimoji="0" lang="en-GB" sz="2400" b="0" i="0" u="none" strike="noStrike" cap="none" normalizeH="0" baseline="0">
            <a:ln>
              <a:noFill/>
            </a:ln>
            <a:solidFill>
              <a:schemeClr val="bg1"/>
            </a:solidFill>
            <a:effectLst/>
            <a:latin typeface="Arial" pitchFamily="-106" charset="-52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17177</TotalTime>
  <Words>2951</Words>
  <Application>Microsoft Macintosh PowerPoint</Application>
  <PresentationFormat>On-screen Show (4:3)</PresentationFormat>
  <Paragraphs>536</Paragraphs>
  <Slides>43</Slides>
  <Notes>37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1" baseType="lpstr">
      <vt:lpstr>Arial</vt:lpstr>
      <vt:lpstr>Arial  </vt:lpstr>
      <vt:lpstr>Comic Sans MS</vt:lpstr>
      <vt:lpstr>Helvetica</vt:lpstr>
      <vt:lpstr>Symbol</vt:lpstr>
      <vt:lpstr>Times New Roman</vt:lpstr>
      <vt:lpstr>Blank Presentation</vt:lpstr>
      <vt:lpstr>Worksheet</vt:lpstr>
      <vt:lpstr>CPEN 411: Computer Architecture  Slide Set #13: Tomasulo’s Algorithm (Textbook: 2.1, 2.4, 2.5)</vt:lpstr>
      <vt:lpstr>PowerPoint Presentation</vt:lpstr>
      <vt:lpstr>Introduction to Slide Set 13</vt:lpstr>
      <vt:lpstr>Learning Objectives</vt:lpstr>
      <vt:lpstr>Removing Name Dependencies</vt:lpstr>
      <vt:lpstr>Removing Name Dependencies</vt:lpstr>
      <vt:lpstr>Observation and Insight</vt:lpstr>
      <vt:lpstr>Tomasulo Algorithm: Historical Context</vt:lpstr>
      <vt:lpstr>Historical Motivation</vt:lpstr>
      <vt:lpstr>Tomasulo Algorithm</vt:lpstr>
      <vt:lpstr>Tomasulo Algorithm</vt:lpstr>
      <vt:lpstr>Three Stages of Tomasulo Algorithm</vt:lpstr>
      <vt:lpstr>Tomasulo Algorithm Components</vt:lpstr>
      <vt:lpstr>Tomasulo vs. Scoreboard</vt:lpstr>
      <vt:lpstr>PowerPoint Presentation</vt:lpstr>
      <vt:lpstr>Tomasulo Algorithm, Renaming Implemented</vt:lpstr>
      <vt:lpstr>Tomasulo Algorithm, Renaming Implemented</vt:lpstr>
      <vt:lpstr>Tomasulo Algorithm, Renaming Implemented</vt:lpstr>
      <vt:lpstr>Tomasulo Algorithm, Renaming Implemented</vt:lpstr>
      <vt:lpstr>Tomasulo Algorithm, Renaming Implemented</vt:lpstr>
      <vt:lpstr>Tomasulo Algorithm, Renaming Implemented</vt:lpstr>
      <vt:lpstr>Assumptions for example</vt:lpstr>
      <vt:lpstr>Tomasulo Example Cycle 1</vt:lpstr>
      <vt:lpstr>Tomasulo Example Cycle 2</vt:lpstr>
      <vt:lpstr>Tomasulo Example Cycle 3</vt:lpstr>
      <vt:lpstr>Tomasulo Example Cycle 4</vt:lpstr>
      <vt:lpstr>Tomasulo Example Cycle 5</vt:lpstr>
      <vt:lpstr>Tomasulo Example Cycle 6</vt:lpstr>
      <vt:lpstr>Tomasulo Example Cycle 7</vt:lpstr>
      <vt:lpstr>Tomasulo Example Cycle 8</vt:lpstr>
      <vt:lpstr>Tomasulo Example Cycle 9</vt:lpstr>
      <vt:lpstr>Tomasulo Example Cycle 10</vt:lpstr>
      <vt:lpstr>Tomasulo Example Cycle 11</vt:lpstr>
      <vt:lpstr>Tomasulo Example Cycle 12</vt:lpstr>
      <vt:lpstr>Tomasulo Example Cycle 13</vt:lpstr>
      <vt:lpstr>Tomasulo Example Cycle 14</vt:lpstr>
      <vt:lpstr>Tomasulo Example Cycle 15</vt:lpstr>
      <vt:lpstr>Tomasulo Example Cycle 16</vt:lpstr>
      <vt:lpstr>Faster than light computation (skip a couple of cycles)</vt:lpstr>
      <vt:lpstr>Tomasulo Example Cycle 55</vt:lpstr>
      <vt:lpstr>Tomasulo Example Cycle 56</vt:lpstr>
      <vt:lpstr>Tomasulo Example Cycle 57</vt:lpstr>
      <vt:lpstr>Tomasulo Drawbacks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</dc:title>
  <dc:creator>Tor</dc:creator>
  <cp:lastModifiedBy>Tor Aamodt</cp:lastModifiedBy>
  <cp:revision>231</cp:revision>
  <dcterms:created xsi:type="dcterms:W3CDTF">2009-09-02T21:42:47Z</dcterms:created>
  <dcterms:modified xsi:type="dcterms:W3CDTF">2025-11-03T22:50:58Z</dcterms:modified>
</cp:coreProperties>
</file>