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3"/>
  </p:notesMasterIdLst>
  <p:handoutMasterIdLst>
    <p:handoutMasterId r:id="rId54"/>
  </p:handoutMasterIdLst>
  <p:sldIdLst>
    <p:sldId id="302" r:id="rId2"/>
    <p:sldId id="479" r:id="rId3"/>
    <p:sldId id="304" r:id="rId4"/>
    <p:sldId id="259" r:id="rId5"/>
    <p:sldId id="282" r:id="rId6"/>
    <p:sldId id="280" r:id="rId7"/>
    <p:sldId id="325" r:id="rId8"/>
    <p:sldId id="326" r:id="rId9"/>
    <p:sldId id="283" r:id="rId10"/>
    <p:sldId id="484" r:id="rId11"/>
    <p:sldId id="316" r:id="rId12"/>
    <p:sldId id="317" r:id="rId13"/>
    <p:sldId id="482" r:id="rId14"/>
    <p:sldId id="320" r:id="rId15"/>
    <p:sldId id="483" r:id="rId16"/>
    <p:sldId id="321" r:id="rId17"/>
    <p:sldId id="322" r:id="rId18"/>
    <p:sldId id="481" r:id="rId19"/>
    <p:sldId id="324" r:id="rId20"/>
    <p:sldId id="486" r:id="rId21"/>
    <p:sldId id="485" r:id="rId22"/>
    <p:sldId id="487" r:id="rId23"/>
    <p:sldId id="488" r:id="rId24"/>
    <p:sldId id="306" r:id="rId25"/>
    <p:sldId id="314" r:id="rId26"/>
    <p:sldId id="307" r:id="rId27"/>
    <p:sldId id="308" r:id="rId28"/>
    <p:sldId id="309" r:id="rId29"/>
    <p:sldId id="310" r:id="rId30"/>
    <p:sldId id="311" r:id="rId31"/>
    <p:sldId id="312" r:id="rId32"/>
    <p:sldId id="313" r:id="rId33"/>
    <p:sldId id="278" r:id="rId34"/>
    <p:sldId id="300" r:id="rId35"/>
    <p:sldId id="291" r:id="rId36"/>
    <p:sldId id="292" r:id="rId37"/>
    <p:sldId id="264" r:id="rId38"/>
    <p:sldId id="265" r:id="rId39"/>
    <p:sldId id="267" r:id="rId40"/>
    <p:sldId id="266" r:id="rId41"/>
    <p:sldId id="268" r:id="rId42"/>
    <p:sldId id="301" r:id="rId43"/>
    <p:sldId id="269" r:id="rId44"/>
    <p:sldId id="270" r:id="rId45"/>
    <p:sldId id="273" r:id="rId46"/>
    <p:sldId id="489" r:id="rId47"/>
    <p:sldId id="275" r:id="rId48"/>
    <p:sldId id="276" r:id="rId49"/>
    <p:sldId id="277" r:id="rId50"/>
    <p:sldId id="490" r:id="rId51"/>
    <p:sldId id="305" r:id="rId52"/>
  </p:sldIdLst>
  <p:sldSz cx="9144000" cy="6858000" type="screen4x3"/>
  <p:notesSz cx="6858000" cy="9144000"/>
  <p:defaultTextStyle>
    <a:defPPr>
      <a:defRPr lang="en-GB"/>
    </a:defPPr>
    <a:lvl1pPr algn="l" defTabSz="449263" rtl="0" eaLnBrk="0" fontAlgn="base" hangingPunct="0">
      <a:lnSpc>
        <a:spcPct val="76000"/>
      </a:lnSpc>
      <a:spcBef>
        <a:spcPct val="0"/>
      </a:spcBef>
      <a:spcAft>
        <a:spcPct val="0"/>
      </a:spcAft>
      <a:buClr>
        <a:srgbClr val="000000"/>
      </a:buClr>
      <a:buSzPct val="100000"/>
      <a:buFont typeface="Arial" pitchFamily="34" charset="0"/>
      <a:defRPr sz="2400" kern="1200">
        <a:solidFill>
          <a:schemeClr val="bg1"/>
        </a:solidFill>
        <a:latin typeface="Arial" pitchFamily="34" charset="0"/>
        <a:ea typeface="ＭＳ Ｐゴシック" pitchFamily="34" charset="-128"/>
        <a:cs typeface="+mn-cs"/>
      </a:defRPr>
    </a:lvl1pPr>
    <a:lvl2pPr marL="457200" algn="l" defTabSz="449263" rtl="0" eaLnBrk="0" fontAlgn="base" hangingPunct="0">
      <a:lnSpc>
        <a:spcPct val="76000"/>
      </a:lnSpc>
      <a:spcBef>
        <a:spcPct val="0"/>
      </a:spcBef>
      <a:spcAft>
        <a:spcPct val="0"/>
      </a:spcAft>
      <a:buClr>
        <a:srgbClr val="000000"/>
      </a:buClr>
      <a:buSzPct val="100000"/>
      <a:buFont typeface="Arial" pitchFamily="34" charset="0"/>
      <a:defRPr sz="2400" kern="1200">
        <a:solidFill>
          <a:schemeClr val="bg1"/>
        </a:solidFill>
        <a:latin typeface="Arial" pitchFamily="34" charset="0"/>
        <a:ea typeface="ＭＳ Ｐゴシック" pitchFamily="34" charset="-128"/>
        <a:cs typeface="+mn-cs"/>
      </a:defRPr>
    </a:lvl2pPr>
    <a:lvl3pPr marL="914400" algn="l" defTabSz="449263" rtl="0" eaLnBrk="0" fontAlgn="base" hangingPunct="0">
      <a:lnSpc>
        <a:spcPct val="76000"/>
      </a:lnSpc>
      <a:spcBef>
        <a:spcPct val="0"/>
      </a:spcBef>
      <a:spcAft>
        <a:spcPct val="0"/>
      </a:spcAft>
      <a:buClr>
        <a:srgbClr val="000000"/>
      </a:buClr>
      <a:buSzPct val="100000"/>
      <a:buFont typeface="Arial" pitchFamily="34" charset="0"/>
      <a:defRPr sz="2400" kern="1200">
        <a:solidFill>
          <a:schemeClr val="bg1"/>
        </a:solidFill>
        <a:latin typeface="Arial" pitchFamily="34" charset="0"/>
        <a:ea typeface="ＭＳ Ｐゴシック" pitchFamily="34" charset="-128"/>
        <a:cs typeface="+mn-cs"/>
      </a:defRPr>
    </a:lvl3pPr>
    <a:lvl4pPr marL="1371600" algn="l" defTabSz="449263" rtl="0" eaLnBrk="0" fontAlgn="base" hangingPunct="0">
      <a:lnSpc>
        <a:spcPct val="76000"/>
      </a:lnSpc>
      <a:spcBef>
        <a:spcPct val="0"/>
      </a:spcBef>
      <a:spcAft>
        <a:spcPct val="0"/>
      </a:spcAft>
      <a:buClr>
        <a:srgbClr val="000000"/>
      </a:buClr>
      <a:buSzPct val="100000"/>
      <a:buFont typeface="Arial" pitchFamily="34" charset="0"/>
      <a:defRPr sz="2400" kern="1200">
        <a:solidFill>
          <a:schemeClr val="bg1"/>
        </a:solidFill>
        <a:latin typeface="Arial" pitchFamily="34" charset="0"/>
        <a:ea typeface="ＭＳ Ｐゴシック" pitchFamily="34" charset="-128"/>
        <a:cs typeface="+mn-cs"/>
      </a:defRPr>
    </a:lvl4pPr>
    <a:lvl5pPr marL="1828800" algn="l" defTabSz="449263" rtl="0" eaLnBrk="0" fontAlgn="base" hangingPunct="0">
      <a:lnSpc>
        <a:spcPct val="76000"/>
      </a:lnSpc>
      <a:spcBef>
        <a:spcPct val="0"/>
      </a:spcBef>
      <a:spcAft>
        <a:spcPct val="0"/>
      </a:spcAft>
      <a:buClr>
        <a:srgbClr val="000000"/>
      </a:buClr>
      <a:buSzPct val="100000"/>
      <a:buFont typeface="Arial" pitchFamily="34" charset="0"/>
      <a:defRPr sz="2400" kern="1200">
        <a:solidFill>
          <a:schemeClr val="bg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bg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bg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bg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bg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408000"/>
    <a:srgbClr val="00FF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53" autoAdjust="0"/>
    <p:restoredTop sz="97000" autoAdjust="0"/>
  </p:normalViewPr>
  <p:slideViewPr>
    <p:cSldViewPr snapToGrid="0">
      <p:cViewPr>
        <p:scale>
          <a:sx n="110" d="100"/>
          <a:sy n="110" d="100"/>
        </p:scale>
        <p:origin x="880" y="552"/>
      </p:cViewPr>
      <p:guideLst>
        <p:guide orient="horz" pos="2160"/>
        <p:guide pos="2880"/>
      </p:guideLst>
    </p:cSldViewPr>
  </p:slideViewPr>
  <p:outlineViewPr>
    <p:cViewPr>
      <p:scale>
        <a:sx n="33" d="100"/>
        <a:sy n="33" d="100"/>
      </p:scale>
      <p:origin x="-784" y="-88"/>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46C5C1F2-46D6-45C5-8835-41CC63239A1C}" type="datetime1">
              <a:rPr lang="en-US"/>
              <a:pPr>
                <a:defRPr/>
              </a:pPr>
              <a:t>11/4/25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7675656C-E1C5-49B2-A52D-47AB541F2765}"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p:cNvSpPr>
            <a:spLocks noChangeArrowheads="1"/>
          </p:cNvSpPr>
          <p:nvPr/>
        </p:nvSpPr>
        <p:spPr bwMode="auto">
          <a:xfrm>
            <a:off x="0" y="0"/>
            <a:ext cx="6858000" cy="9144000"/>
          </a:xfrm>
          <a:prstGeom prst="roundRect">
            <a:avLst>
              <a:gd name="adj" fmla="val 23"/>
            </a:avLst>
          </a:prstGeom>
          <a:solidFill>
            <a:srgbClr val="FFFFFF"/>
          </a:solidFill>
          <a:ln w="9360">
            <a:noFill/>
            <a:miter lim="800000"/>
            <a:headEnd/>
            <a:tailEnd/>
          </a:ln>
          <a:effectLst/>
        </p:spPr>
        <p:txBody>
          <a:bodyPr wrap="none" anchor="ctr"/>
          <a:lstStyle/>
          <a:p>
            <a:pPr>
              <a:defRPr/>
            </a:pPr>
            <a:endParaRPr lang="en-US"/>
          </a:p>
        </p:txBody>
      </p:sp>
      <p:sp>
        <p:nvSpPr>
          <p:cNvPr id="2050" name="AutoShape 2"/>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a:effectLst/>
        </p:spPr>
        <p:txBody>
          <a:bodyPr wrap="none" anchor="ctr"/>
          <a:lstStyle/>
          <a:p>
            <a:pPr>
              <a:defRPr/>
            </a:pPr>
            <a:endParaRPr lang="en-US"/>
          </a:p>
        </p:txBody>
      </p:sp>
      <p:sp>
        <p:nvSpPr>
          <p:cNvPr id="2051" name="AutoShape 3"/>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a:effectLst/>
        </p:spPr>
        <p:txBody>
          <a:bodyPr wrap="none" anchor="ctr"/>
          <a:lstStyle/>
          <a:p>
            <a:pPr>
              <a:defRPr/>
            </a:pPr>
            <a:endParaRPr lang="en-US"/>
          </a:p>
        </p:txBody>
      </p:sp>
      <p:sp>
        <p:nvSpPr>
          <p:cNvPr id="2052" name="AutoShape 4"/>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a:effectLst/>
        </p:spPr>
        <p:txBody>
          <a:bodyPr wrap="none" anchor="ctr"/>
          <a:lstStyle/>
          <a:p>
            <a:pPr>
              <a:defRPr/>
            </a:pPr>
            <a:endParaRPr lang="en-US"/>
          </a:p>
        </p:txBody>
      </p:sp>
      <p:sp>
        <p:nvSpPr>
          <p:cNvPr id="2053" name="Rectangle 5"/>
          <p:cNvSpPr>
            <a:spLocks noGrp="1" noChangeArrowheads="1"/>
          </p:cNvSpPr>
          <p:nvPr>
            <p:ph type="hdr"/>
          </p:nvPr>
        </p:nvSpPr>
        <p:spPr bwMode="auto">
          <a:xfrm>
            <a:off x="0" y="0"/>
            <a:ext cx="2965450" cy="45085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defRPr>
            </a:lvl1pPr>
          </a:lstStyle>
          <a:p>
            <a:pPr>
              <a:defRPr/>
            </a:pPr>
            <a:endParaRPr lang="en-US"/>
          </a:p>
        </p:txBody>
      </p:sp>
      <p:sp>
        <p:nvSpPr>
          <p:cNvPr id="2054" name="Rectangle 6"/>
          <p:cNvSpPr>
            <a:spLocks noGrp="1" noChangeArrowheads="1"/>
          </p:cNvSpPr>
          <p:nvPr>
            <p:ph type="dt"/>
          </p:nvPr>
        </p:nvSpPr>
        <p:spPr bwMode="auto">
          <a:xfrm>
            <a:off x="3886200" y="0"/>
            <a:ext cx="2965450" cy="45085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defRPr>
            </a:lvl1pPr>
          </a:lstStyle>
          <a:p>
            <a:pPr>
              <a:defRPr/>
            </a:pPr>
            <a:endParaRPr lang="en-US"/>
          </a:p>
        </p:txBody>
      </p:sp>
      <p:sp>
        <p:nvSpPr>
          <p:cNvPr id="52232" name="Rectangle 7"/>
          <p:cNvSpPr>
            <a:spLocks noGrp="1" noRot="1" noChangeAspect="1" noChangeArrowheads="1"/>
          </p:cNvSpPr>
          <p:nvPr>
            <p:ph type="sldImg"/>
          </p:nvPr>
        </p:nvSpPr>
        <p:spPr bwMode="auto">
          <a:xfrm>
            <a:off x="1143000" y="685800"/>
            <a:ext cx="4565650" cy="3422650"/>
          </a:xfrm>
          <a:prstGeom prst="rect">
            <a:avLst/>
          </a:prstGeom>
          <a:solidFill>
            <a:srgbClr val="FFFFFF"/>
          </a:solidFill>
          <a:ln w="9360">
            <a:solidFill>
              <a:srgbClr val="000000"/>
            </a:solidFill>
            <a:miter lim="800000"/>
            <a:headEnd/>
            <a:tailEnd/>
          </a:ln>
        </p:spPr>
      </p:sp>
      <p:sp>
        <p:nvSpPr>
          <p:cNvPr id="2056" name="Rectangle 8"/>
          <p:cNvSpPr>
            <a:spLocks noGrp="1" noChangeArrowheads="1"/>
          </p:cNvSpPr>
          <p:nvPr>
            <p:ph type="body"/>
          </p:nvPr>
        </p:nvSpPr>
        <p:spPr bwMode="auto">
          <a:xfrm>
            <a:off x="914400" y="4343400"/>
            <a:ext cx="5022850" cy="410845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p>
            <a:pPr lvl="0"/>
            <a:endParaRPr lang="en-US" noProof="0"/>
          </a:p>
        </p:txBody>
      </p:sp>
      <p:sp>
        <p:nvSpPr>
          <p:cNvPr id="2057" name="Rectangle 9"/>
          <p:cNvSpPr>
            <a:spLocks noGrp="1" noChangeArrowheads="1"/>
          </p:cNvSpPr>
          <p:nvPr>
            <p:ph type="ftr"/>
          </p:nvPr>
        </p:nvSpPr>
        <p:spPr bwMode="auto">
          <a:xfrm>
            <a:off x="0" y="8686800"/>
            <a:ext cx="2965450" cy="450850"/>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defRPr>
            </a:lvl1pPr>
          </a:lstStyle>
          <a:p>
            <a:pPr>
              <a:defRPr/>
            </a:pPr>
            <a:endParaRPr lang="en-US"/>
          </a:p>
        </p:txBody>
      </p:sp>
      <p:sp>
        <p:nvSpPr>
          <p:cNvPr id="2058" name="Rectangle 10"/>
          <p:cNvSpPr>
            <a:spLocks noGrp="1" noChangeArrowheads="1"/>
          </p:cNvSpPr>
          <p:nvPr>
            <p:ph type="sldNum"/>
          </p:nvPr>
        </p:nvSpPr>
        <p:spPr bwMode="auto">
          <a:xfrm>
            <a:off x="3886200" y="8686800"/>
            <a:ext cx="2965450" cy="450850"/>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gn="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defRPr>
            </a:lvl1pPr>
          </a:lstStyle>
          <a:p>
            <a:pPr>
              <a:defRPr/>
            </a:pPr>
            <a:fld id="{E9B69077-4B16-4CEF-922A-183294246F54}" type="slidenum">
              <a:rPr lang="en-GB"/>
              <a:pPr>
                <a:defRPr/>
              </a:pPr>
              <a:t>‹#›</a:t>
            </a:fld>
            <a:endParaRPr lang="en-GB"/>
          </a:p>
        </p:txBody>
      </p:sp>
    </p:spTree>
  </p:cSld>
  <p:clrMap bg1="lt1" tx1="dk1" bg2="lt2" tx2="dk2" accent1="accent1" accent2="accent2" accent3="accent3" accent4="accent4" accent5="accent5" accent6="accent6" hlink="hlink" folHlink="folHlink"/>
  <p:hf hdr="0" ftr="0" dt="0"/>
  <p:notesStyle>
    <a:lvl1pPr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06" charset="-52"/>
        <a:ea typeface="ＭＳ Ｐゴシック" pitchFamily="-106" charset="-128"/>
        <a:cs typeface="ＭＳ Ｐゴシック" pitchFamily="-106" charset="-128"/>
      </a:defRPr>
    </a:lvl1pPr>
    <a:lvl2pPr marL="742950" indent="-28575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06" charset="-52"/>
        <a:ea typeface="ＭＳ Ｐゴシック" pitchFamily="-106" charset="-128"/>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06" charset="-52"/>
        <a:ea typeface="ＭＳ Ｐゴシック" pitchFamily="-106" charset="-128"/>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06" charset="-52"/>
        <a:ea typeface="ＭＳ Ｐゴシック" pitchFamily="-106" charset="-128"/>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06" charset="-52"/>
        <a:ea typeface="ＭＳ Ｐゴシック" pitchFamily="-106"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62475" cy="34226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pPr>
              <a:defRPr/>
            </a:pPr>
            <a:fld id="{E9B69077-4B16-4CEF-922A-183294246F54}" type="slidenum">
              <a:rPr lang="en-GB" smtClean="0"/>
              <a:pPr>
                <a:defRPr/>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62475" cy="34226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pPr>
              <a:defRPr/>
            </a:pPr>
            <a:fld id="{E9B69077-4B16-4CEF-922A-183294246F54}" type="slidenum">
              <a:rPr lang="en-GB" smtClean="0"/>
              <a:pPr>
                <a:defRPr/>
              </a:pPr>
              <a:t>3</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10"/>
          <p:cNvSpPr>
            <a:spLocks noGrp="1" noChangeArrowheads="1"/>
          </p:cNvSpPr>
          <p:nvPr>
            <p:ph type="sldNum" sz="quarter"/>
          </p:nvPr>
        </p:nvSpPr>
        <p:spPr>
          <a:noFill/>
        </p:spPr>
        <p:txBody>
          <a:bodyPr/>
          <a:lstStyle/>
          <a:p>
            <a:fld id="{E1190253-4BEE-45CB-9876-0C462156BE56}" type="slidenum">
              <a:rPr lang="en-GB" smtClean="0"/>
              <a:pPr/>
              <a:t>4</a:t>
            </a:fld>
            <a:endParaRPr lang="en-GB"/>
          </a:p>
        </p:txBody>
      </p:sp>
      <p:sp>
        <p:nvSpPr>
          <p:cNvPr id="54275" name="Text Box 1"/>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p>
            <a:endParaRPr lang="en-US"/>
          </a:p>
        </p:txBody>
      </p:sp>
      <p:sp>
        <p:nvSpPr>
          <p:cNvPr id="54276" name="Text Box 2"/>
          <p:cNvSpPr>
            <a:spLocks noGrp="1" noChangeArrowheads="1"/>
          </p:cNvSpPr>
          <p:nvPr>
            <p:ph type="body"/>
          </p:nvPr>
        </p:nvSpPr>
        <p:spPr>
          <a:xfrm>
            <a:off x="914400" y="4343400"/>
            <a:ext cx="5024438" cy="4111625"/>
          </a:xfrm>
          <a:noFill/>
          <a:ln/>
        </p:spPr>
        <p:txBody>
          <a:bodyPr wrap="none" anchor="ctr"/>
          <a:lstStyle/>
          <a:p>
            <a:endParaRPr lang="en-US">
              <a:latin typeface="Times New Roman" pitchFamily="18" charset="0"/>
              <a:ea typeface="ＭＳ Ｐゴシック"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62475" cy="34226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pPr>
              <a:defRPr/>
            </a:pPr>
            <a:fld id="{E9B69077-4B16-4CEF-922A-183294246F54}" type="slidenum">
              <a:rPr lang="en-GB" smtClean="0"/>
              <a:pPr>
                <a:defRPr/>
              </a:pPr>
              <a:t>5</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p>
            <a:fld id="{4440D154-FAFC-4096-B9FC-092B829B2913}" type="slidenum">
              <a:rPr lang="en-US" smtClean="0"/>
              <a:pPr/>
              <a:t>6</a:t>
            </a:fld>
            <a:endParaRPr lang="en-US"/>
          </a:p>
        </p:txBody>
      </p:sp>
      <p:sp>
        <p:nvSpPr>
          <p:cNvPr id="67587" name="Rectangle 2"/>
          <p:cNvSpPr>
            <a:spLocks noGrp="1" noRot="1" noChangeAspect="1" noChangeArrowheads="1" noTextEdit="1"/>
          </p:cNvSpPr>
          <p:nvPr>
            <p:ph type="sldImg"/>
          </p:nvPr>
        </p:nvSpPr>
        <p:spPr>
          <a:xfrm>
            <a:off x="1143000" y="685800"/>
            <a:ext cx="4572000" cy="3429000"/>
          </a:xfrm>
          <a:ln/>
        </p:spPr>
      </p:sp>
      <p:sp>
        <p:nvSpPr>
          <p:cNvPr id="67588"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p>
            <a:fld id="{4440D154-FAFC-4096-B9FC-092B829B2913}" type="slidenum">
              <a:rPr lang="en-US" smtClean="0"/>
              <a:pPr/>
              <a:t>7</a:t>
            </a:fld>
            <a:endParaRPr lang="en-US"/>
          </a:p>
        </p:txBody>
      </p:sp>
      <p:sp>
        <p:nvSpPr>
          <p:cNvPr id="67587" name="Rectangle 2"/>
          <p:cNvSpPr>
            <a:spLocks noGrp="1" noRot="1" noChangeAspect="1" noChangeArrowheads="1" noTextEdit="1"/>
          </p:cNvSpPr>
          <p:nvPr>
            <p:ph type="sldImg"/>
          </p:nvPr>
        </p:nvSpPr>
        <p:spPr>
          <a:xfrm>
            <a:off x="1143000" y="685800"/>
            <a:ext cx="4572000" cy="3429000"/>
          </a:xfrm>
          <a:ln/>
        </p:spPr>
      </p:sp>
      <p:sp>
        <p:nvSpPr>
          <p:cNvPr id="67588"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p>
            <a:fld id="{4440D154-FAFC-4096-B9FC-092B829B2913}" type="slidenum">
              <a:rPr lang="en-US" smtClean="0"/>
              <a:pPr/>
              <a:t>8</a:t>
            </a:fld>
            <a:endParaRPr lang="en-US"/>
          </a:p>
        </p:txBody>
      </p:sp>
      <p:sp>
        <p:nvSpPr>
          <p:cNvPr id="67587" name="Rectangle 2"/>
          <p:cNvSpPr>
            <a:spLocks noGrp="1" noRot="1" noChangeAspect="1" noChangeArrowheads="1" noTextEdit="1"/>
          </p:cNvSpPr>
          <p:nvPr>
            <p:ph type="sldImg"/>
          </p:nvPr>
        </p:nvSpPr>
        <p:spPr>
          <a:xfrm>
            <a:off x="1143000" y="685800"/>
            <a:ext cx="4572000" cy="3429000"/>
          </a:xfrm>
          <a:ln/>
        </p:spPr>
      </p:sp>
      <p:sp>
        <p:nvSpPr>
          <p:cNvPr id="67588"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p:spPr>
        <p:txBody>
          <a:bodyPr/>
          <a:lstStyle/>
          <a:p>
            <a:fld id="{30471638-EF07-492C-8D63-210EA7F12B3F}" type="slidenum">
              <a:rPr lang="en-US" smtClean="0"/>
              <a:pPr/>
              <a:t>9</a:t>
            </a:fld>
            <a:endParaRPr lang="en-US"/>
          </a:p>
        </p:txBody>
      </p:sp>
      <p:sp>
        <p:nvSpPr>
          <p:cNvPr id="69635" name="Rectangle 2"/>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E5C3-F12B-CE15-9093-62925E6F9953}"/>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F2001547-7BC3-F609-9CE5-5C38D5F3339F}"/>
              </a:ext>
            </a:extLst>
          </p:cNvPr>
          <p:cNvSpPr>
            <a:spLocks noGrp="1" noChangeArrowheads="1"/>
          </p:cNvSpPr>
          <p:nvPr>
            <p:ph type="sldNum" sz="quarter"/>
          </p:nvPr>
        </p:nvSpPr>
        <p:spPr>
          <a:noFill/>
        </p:spPr>
        <p:txBody>
          <a:bodyPr/>
          <a:lstStyle/>
          <a:p>
            <a:fld id="{30471638-EF07-492C-8D63-210EA7F12B3F}" type="slidenum">
              <a:rPr lang="en-US" smtClean="0"/>
              <a:pPr/>
              <a:t>10</a:t>
            </a:fld>
            <a:endParaRPr lang="en-US"/>
          </a:p>
        </p:txBody>
      </p:sp>
      <p:sp>
        <p:nvSpPr>
          <p:cNvPr id="69635" name="Rectangle 2">
            <a:extLst>
              <a:ext uri="{FF2B5EF4-FFF2-40B4-BE49-F238E27FC236}">
                <a16:creationId xmlns:a16="http://schemas.microsoft.com/office/drawing/2014/main" id="{FA7B24F6-9891-F3A4-1140-BF3D1576AE7A}"/>
              </a:ext>
            </a:extLst>
          </p:cNvPr>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a:extLst>
              <a:ext uri="{FF2B5EF4-FFF2-40B4-BE49-F238E27FC236}">
                <a16:creationId xmlns:a16="http://schemas.microsoft.com/office/drawing/2014/main" id="{2D0C2D2D-439A-CE1C-6209-83644116C547}"/>
              </a:ext>
            </a:extLst>
          </p:cNvPr>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extLst>
      <p:ext uri="{BB962C8B-B14F-4D97-AF65-F5344CB8AC3E}">
        <p14:creationId xmlns:p14="http://schemas.microsoft.com/office/powerpoint/2010/main" val="2726102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p:spPr>
        <p:txBody>
          <a:bodyPr/>
          <a:lstStyle/>
          <a:p>
            <a:fld id="{30471638-EF07-492C-8D63-210EA7F12B3F}" type="slidenum">
              <a:rPr lang="en-US" smtClean="0"/>
              <a:pPr/>
              <a:t>11</a:t>
            </a:fld>
            <a:endParaRPr lang="en-US"/>
          </a:p>
        </p:txBody>
      </p:sp>
      <p:sp>
        <p:nvSpPr>
          <p:cNvPr id="69635" name="Rectangle 2"/>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p:spPr>
        <p:txBody>
          <a:bodyPr/>
          <a:lstStyle/>
          <a:p>
            <a:fld id="{30471638-EF07-492C-8D63-210EA7F12B3F}" type="slidenum">
              <a:rPr lang="en-US" smtClean="0"/>
              <a:pPr/>
              <a:t>12</a:t>
            </a:fld>
            <a:endParaRPr lang="en-US"/>
          </a:p>
        </p:txBody>
      </p:sp>
      <p:sp>
        <p:nvSpPr>
          <p:cNvPr id="69635" name="Rectangle 2"/>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D40CB-7E91-915A-6974-4A33775108FA}"/>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DE63C098-B53D-AB9C-DAAB-BD2B390C6046}"/>
              </a:ext>
            </a:extLst>
          </p:cNvPr>
          <p:cNvSpPr>
            <a:spLocks noGrp="1" noChangeArrowheads="1"/>
          </p:cNvSpPr>
          <p:nvPr>
            <p:ph type="sldNum" sz="quarter"/>
          </p:nvPr>
        </p:nvSpPr>
        <p:spPr>
          <a:noFill/>
        </p:spPr>
        <p:txBody>
          <a:bodyPr/>
          <a:lstStyle/>
          <a:p>
            <a:fld id="{30471638-EF07-492C-8D63-210EA7F12B3F}" type="slidenum">
              <a:rPr lang="en-US" smtClean="0"/>
              <a:pPr/>
              <a:t>13</a:t>
            </a:fld>
            <a:endParaRPr lang="en-US"/>
          </a:p>
        </p:txBody>
      </p:sp>
      <p:sp>
        <p:nvSpPr>
          <p:cNvPr id="69635" name="Rectangle 2">
            <a:extLst>
              <a:ext uri="{FF2B5EF4-FFF2-40B4-BE49-F238E27FC236}">
                <a16:creationId xmlns:a16="http://schemas.microsoft.com/office/drawing/2014/main" id="{5A552CC2-51B4-5156-0E40-C9F2A16544F4}"/>
              </a:ext>
            </a:extLst>
          </p:cNvPr>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a:extLst>
              <a:ext uri="{FF2B5EF4-FFF2-40B4-BE49-F238E27FC236}">
                <a16:creationId xmlns:a16="http://schemas.microsoft.com/office/drawing/2014/main" id="{C2674DCE-5EBD-AC5A-47E7-5091738693C9}"/>
              </a:ext>
            </a:extLst>
          </p:cNvPr>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extLst>
      <p:ext uri="{BB962C8B-B14F-4D97-AF65-F5344CB8AC3E}">
        <p14:creationId xmlns:p14="http://schemas.microsoft.com/office/powerpoint/2010/main" val="3253755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p:spPr>
        <p:txBody>
          <a:bodyPr/>
          <a:lstStyle/>
          <a:p>
            <a:fld id="{30471638-EF07-492C-8D63-210EA7F12B3F}" type="slidenum">
              <a:rPr lang="en-US" smtClean="0"/>
              <a:pPr/>
              <a:t>14</a:t>
            </a:fld>
            <a:endParaRPr lang="en-US"/>
          </a:p>
        </p:txBody>
      </p:sp>
      <p:sp>
        <p:nvSpPr>
          <p:cNvPr id="69635" name="Rectangle 2"/>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5734-D510-BB10-5F03-8A274E50F05B}"/>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31A69B8E-6113-D811-81E7-54065811CB0B}"/>
              </a:ext>
            </a:extLst>
          </p:cNvPr>
          <p:cNvSpPr>
            <a:spLocks noGrp="1" noChangeArrowheads="1"/>
          </p:cNvSpPr>
          <p:nvPr>
            <p:ph type="sldNum" sz="quarter"/>
          </p:nvPr>
        </p:nvSpPr>
        <p:spPr>
          <a:noFill/>
        </p:spPr>
        <p:txBody>
          <a:bodyPr/>
          <a:lstStyle/>
          <a:p>
            <a:fld id="{30471638-EF07-492C-8D63-210EA7F12B3F}" type="slidenum">
              <a:rPr lang="en-US" smtClean="0"/>
              <a:pPr/>
              <a:t>15</a:t>
            </a:fld>
            <a:endParaRPr lang="en-US"/>
          </a:p>
        </p:txBody>
      </p:sp>
      <p:sp>
        <p:nvSpPr>
          <p:cNvPr id="69635" name="Rectangle 2">
            <a:extLst>
              <a:ext uri="{FF2B5EF4-FFF2-40B4-BE49-F238E27FC236}">
                <a16:creationId xmlns:a16="http://schemas.microsoft.com/office/drawing/2014/main" id="{9F9B0A1B-31AE-81E1-93E6-A7A0B6834332}"/>
              </a:ext>
            </a:extLst>
          </p:cNvPr>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a:extLst>
              <a:ext uri="{FF2B5EF4-FFF2-40B4-BE49-F238E27FC236}">
                <a16:creationId xmlns:a16="http://schemas.microsoft.com/office/drawing/2014/main" id="{A7AA0216-281E-F459-23BD-290D069748A5}"/>
              </a:ext>
            </a:extLst>
          </p:cNvPr>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extLst>
      <p:ext uri="{BB962C8B-B14F-4D97-AF65-F5344CB8AC3E}">
        <p14:creationId xmlns:p14="http://schemas.microsoft.com/office/powerpoint/2010/main" val="826356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p:spPr>
        <p:txBody>
          <a:bodyPr/>
          <a:lstStyle/>
          <a:p>
            <a:fld id="{30471638-EF07-492C-8D63-210EA7F12B3F}" type="slidenum">
              <a:rPr lang="en-US" smtClean="0"/>
              <a:pPr/>
              <a:t>16</a:t>
            </a:fld>
            <a:endParaRPr lang="en-US"/>
          </a:p>
        </p:txBody>
      </p:sp>
      <p:sp>
        <p:nvSpPr>
          <p:cNvPr id="69635" name="Rectangle 2"/>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p:spPr>
        <p:txBody>
          <a:bodyPr/>
          <a:lstStyle/>
          <a:p>
            <a:fld id="{30471638-EF07-492C-8D63-210EA7F12B3F}" type="slidenum">
              <a:rPr lang="en-US" smtClean="0"/>
              <a:pPr/>
              <a:t>17</a:t>
            </a:fld>
            <a:endParaRPr lang="en-US"/>
          </a:p>
        </p:txBody>
      </p:sp>
      <p:sp>
        <p:nvSpPr>
          <p:cNvPr id="69635" name="Rectangle 2"/>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B63BD-BC83-358F-48EB-C4AAA23B27B6}"/>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050F1046-69D4-2FD7-5B56-3EA37CA009CA}"/>
              </a:ext>
            </a:extLst>
          </p:cNvPr>
          <p:cNvSpPr>
            <a:spLocks noGrp="1" noChangeArrowheads="1"/>
          </p:cNvSpPr>
          <p:nvPr>
            <p:ph type="sldNum" sz="quarter"/>
          </p:nvPr>
        </p:nvSpPr>
        <p:spPr>
          <a:noFill/>
        </p:spPr>
        <p:txBody>
          <a:bodyPr/>
          <a:lstStyle/>
          <a:p>
            <a:fld id="{30471638-EF07-492C-8D63-210EA7F12B3F}" type="slidenum">
              <a:rPr lang="en-US" smtClean="0"/>
              <a:pPr/>
              <a:t>18</a:t>
            </a:fld>
            <a:endParaRPr lang="en-US"/>
          </a:p>
        </p:txBody>
      </p:sp>
      <p:sp>
        <p:nvSpPr>
          <p:cNvPr id="69635" name="Rectangle 2">
            <a:extLst>
              <a:ext uri="{FF2B5EF4-FFF2-40B4-BE49-F238E27FC236}">
                <a16:creationId xmlns:a16="http://schemas.microsoft.com/office/drawing/2014/main" id="{4512199E-8B77-37EC-A0BC-06A60C042347}"/>
              </a:ext>
            </a:extLst>
          </p:cNvPr>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a:extLst>
              <a:ext uri="{FF2B5EF4-FFF2-40B4-BE49-F238E27FC236}">
                <a16:creationId xmlns:a16="http://schemas.microsoft.com/office/drawing/2014/main" id="{B5C8529C-9038-CC43-4E5D-F3211D5D9932}"/>
              </a:ext>
            </a:extLst>
          </p:cNvPr>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extLst>
      <p:ext uri="{BB962C8B-B14F-4D97-AF65-F5344CB8AC3E}">
        <p14:creationId xmlns:p14="http://schemas.microsoft.com/office/powerpoint/2010/main" val="2422591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p:spPr>
        <p:txBody>
          <a:bodyPr/>
          <a:lstStyle/>
          <a:p>
            <a:fld id="{30471638-EF07-492C-8D63-210EA7F12B3F}" type="slidenum">
              <a:rPr lang="en-US" smtClean="0"/>
              <a:pPr/>
              <a:t>19</a:t>
            </a:fld>
            <a:endParaRPr lang="en-US"/>
          </a:p>
        </p:txBody>
      </p:sp>
      <p:sp>
        <p:nvSpPr>
          <p:cNvPr id="69635" name="Rectangle 2"/>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4044-32DC-1246-73B4-BA013E098E2D}"/>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E8CD24A3-EAF5-3039-6DB2-EEC1C2B2DBAE}"/>
              </a:ext>
            </a:extLst>
          </p:cNvPr>
          <p:cNvSpPr>
            <a:spLocks noGrp="1" noChangeArrowheads="1"/>
          </p:cNvSpPr>
          <p:nvPr>
            <p:ph type="sldNum" sz="quarter"/>
          </p:nvPr>
        </p:nvSpPr>
        <p:spPr>
          <a:noFill/>
        </p:spPr>
        <p:txBody>
          <a:bodyPr/>
          <a:lstStyle/>
          <a:p>
            <a:fld id="{30471638-EF07-492C-8D63-210EA7F12B3F}" type="slidenum">
              <a:rPr lang="en-US" smtClean="0"/>
              <a:pPr/>
              <a:t>20</a:t>
            </a:fld>
            <a:endParaRPr lang="en-US"/>
          </a:p>
        </p:txBody>
      </p:sp>
      <p:sp>
        <p:nvSpPr>
          <p:cNvPr id="69635" name="Rectangle 2">
            <a:extLst>
              <a:ext uri="{FF2B5EF4-FFF2-40B4-BE49-F238E27FC236}">
                <a16:creationId xmlns:a16="http://schemas.microsoft.com/office/drawing/2014/main" id="{9B9C42AF-CA01-1A88-4DE7-6AF388AD84A1}"/>
              </a:ext>
            </a:extLst>
          </p:cNvPr>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a:extLst>
              <a:ext uri="{FF2B5EF4-FFF2-40B4-BE49-F238E27FC236}">
                <a16:creationId xmlns:a16="http://schemas.microsoft.com/office/drawing/2014/main" id="{01FF6CDD-1BF5-711E-8EAD-57E08247E71A}"/>
              </a:ext>
            </a:extLst>
          </p:cNvPr>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extLst>
      <p:ext uri="{BB962C8B-B14F-4D97-AF65-F5344CB8AC3E}">
        <p14:creationId xmlns:p14="http://schemas.microsoft.com/office/powerpoint/2010/main" val="3250417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76615-1F69-5B4B-239C-569B4C7FB41E}"/>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ED32BCB6-2895-5D13-9A92-C6E2EAE0B4C1}"/>
              </a:ext>
            </a:extLst>
          </p:cNvPr>
          <p:cNvSpPr>
            <a:spLocks noGrp="1" noChangeArrowheads="1"/>
          </p:cNvSpPr>
          <p:nvPr>
            <p:ph type="sldNum" sz="quarter"/>
          </p:nvPr>
        </p:nvSpPr>
        <p:spPr>
          <a:noFill/>
        </p:spPr>
        <p:txBody>
          <a:bodyPr/>
          <a:lstStyle/>
          <a:p>
            <a:fld id="{30471638-EF07-492C-8D63-210EA7F12B3F}" type="slidenum">
              <a:rPr lang="en-US" smtClean="0"/>
              <a:pPr/>
              <a:t>21</a:t>
            </a:fld>
            <a:endParaRPr lang="en-US"/>
          </a:p>
        </p:txBody>
      </p:sp>
      <p:sp>
        <p:nvSpPr>
          <p:cNvPr id="69635" name="Rectangle 2">
            <a:extLst>
              <a:ext uri="{FF2B5EF4-FFF2-40B4-BE49-F238E27FC236}">
                <a16:creationId xmlns:a16="http://schemas.microsoft.com/office/drawing/2014/main" id="{74723813-731F-50D4-8529-2680602BCA98}"/>
              </a:ext>
            </a:extLst>
          </p:cNvPr>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a:extLst>
              <a:ext uri="{FF2B5EF4-FFF2-40B4-BE49-F238E27FC236}">
                <a16:creationId xmlns:a16="http://schemas.microsoft.com/office/drawing/2014/main" id="{453B23D9-B339-1587-DD59-5B7C59B509E5}"/>
              </a:ext>
            </a:extLst>
          </p:cNvPr>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extLst>
      <p:ext uri="{BB962C8B-B14F-4D97-AF65-F5344CB8AC3E}">
        <p14:creationId xmlns:p14="http://schemas.microsoft.com/office/powerpoint/2010/main" val="34377565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2101E-94D1-14A7-5C31-2FDD8565124D}"/>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3B2D0130-C4A7-2A7B-CF4A-4B984C002791}"/>
              </a:ext>
            </a:extLst>
          </p:cNvPr>
          <p:cNvSpPr>
            <a:spLocks noGrp="1" noChangeArrowheads="1"/>
          </p:cNvSpPr>
          <p:nvPr>
            <p:ph type="sldNum" sz="quarter"/>
          </p:nvPr>
        </p:nvSpPr>
        <p:spPr>
          <a:noFill/>
        </p:spPr>
        <p:txBody>
          <a:bodyPr/>
          <a:lstStyle/>
          <a:p>
            <a:fld id="{30471638-EF07-492C-8D63-210EA7F12B3F}" type="slidenum">
              <a:rPr lang="en-US" smtClean="0"/>
              <a:pPr/>
              <a:t>22</a:t>
            </a:fld>
            <a:endParaRPr lang="en-US"/>
          </a:p>
        </p:txBody>
      </p:sp>
      <p:sp>
        <p:nvSpPr>
          <p:cNvPr id="69635" name="Rectangle 2">
            <a:extLst>
              <a:ext uri="{FF2B5EF4-FFF2-40B4-BE49-F238E27FC236}">
                <a16:creationId xmlns:a16="http://schemas.microsoft.com/office/drawing/2014/main" id="{9925B44E-E1B5-8FFB-1496-70F377AC1D04}"/>
              </a:ext>
            </a:extLst>
          </p:cNvPr>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a:extLst>
              <a:ext uri="{FF2B5EF4-FFF2-40B4-BE49-F238E27FC236}">
                <a16:creationId xmlns:a16="http://schemas.microsoft.com/office/drawing/2014/main" id="{42C5BC07-B786-99F1-4297-DD060F8F96FE}"/>
              </a:ext>
            </a:extLst>
          </p:cNvPr>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extLst>
      <p:ext uri="{BB962C8B-B14F-4D97-AF65-F5344CB8AC3E}">
        <p14:creationId xmlns:p14="http://schemas.microsoft.com/office/powerpoint/2010/main" val="16524774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FCD65-8683-2FC7-5077-18CE8734B046}"/>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3C2DCFFD-60C9-B31C-8C5F-B9B881C21FD2}"/>
              </a:ext>
            </a:extLst>
          </p:cNvPr>
          <p:cNvSpPr>
            <a:spLocks noGrp="1" noChangeArrowheads="1"/>
          </p:cNvSpPr>
          <p:nvPr>
            <p:ph type="sldNum" sz="quarter"/>
          </p:nvPr>
        </p:nvSpPr>
        <p:spPr>
          <a:noFill/>
        </p:spPr>
        <p:txBody>
          <a:bodyPr/>
          <a:lstStyle/>
          <a:p>
            <a:fld id="{30471638-EF07-492C-8D63-210EA7F12B3F}" type="slidenum">
              <a:rPr lang="en-US" smtClean="0"/>
              <a:pPr/>
              <a:t>23</a:t>
            </a:fld>
            <a:endParaRPr lang="en-US"/>
          </a:p>
        </p:txBody>
      </p:sp>
      <p:sp>
        <p:nvSpPr>
          <p:cNvPr id="69635" name="Rectangle 2">
            <a:extLst>
              <a:ext uri="{FF2B5EF4-FFF2-40B4-BE49-F238E27FC236}">
                <a16:creationId xmlns:a16="http://schemas.microsoft.com/office/drawing/2014/main" id="{2CADC4F8-1A3C-D0D8-A50E-0C64B671665A}"/>
              </a:ext>
            </a:extLst>
          </p:cNvPr>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69636" name="Rectangle 3">
            <a:extLst>
              <a:ext uri="{FF2B5EF4-FFF2-40B4-BE49-F238E27FC236}">
                <a16:creationId xmlns:a16="http://schemas.microsoft.com/office/drawing/2014/main" id="{083AE5C7-CF09-7DDB-370C-D614B20FCBF3}"/>
              </a:ext>
            </a:extLst>
          </p:cNvPr>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extLst>
      <p:ext uri="{BB962C8B-B14F-4D97-AF65-F5344CB8AC3E}">
        <p14:creationId xmlns:p14="http://schemas.microsoft.com/office/powerpoint/2010/main" val="15798946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699BE162-1711-44C0-9BD7-1BC6955A6F0F}" type="slidenum">
              <a:rPr lang="en-US" smtClean="0"/>
              <a:pPr/>
              <a:t>24</a:t>
            </a:fld>
            <a:endParaRPr lang="en-US"/>
          </a:p>
        </p:txBody>
      </p:sp>
      <p:sp>
        <p:nvSpPr>
          <p:cNvPr id="79875" name="Rectangle 2"/>
          <p:cNvSpPr>
            <a:spLocks noGrp="1" noRot="1" noChangeAspect="1" noChangeArrowheads="1" noTextEdit="1"/>
          </p:cNvSpPr>
          <p:nvPr>
            <p:ph type="sldImg"/>
          </p:nvPr>
        </p:nvSpPr>
        <p:spPr>
          <a:xfrm>
            <a:off x="1144588" y="685800"/>
            <a:ext cx="4562475" cy="3422650"/>
          </a:xfrm>
          <a:ln/>
        </p:spPr>
      </p:sp>
      <p:sp>
        <p:nvSpPr>
          <p:cNvPr id="79876"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699BE162-1711-44C0-9BD7-1BC6955A6F0F}" type="slidenum">
              <a:rPr lang="en-US" smtClean="0"/>
              <a:pPr/>
              <a:t>25</a:t>
            </a:fld>
            <a:endParaRPr lang="en-US"/>
          </a:p>
        </p:txBody>
      </p:sp>
      <p:sp>
        <p:nvSpPr>
          <p:cNvPr id="79875" name="Rectangle 2"/>
          <p:cNvSpPr>
            <a:spLocks noGrp="1" noRot="1" noChangeAspect="1" noChangeArrowheads="1" noTextEdit="1"/>
          </p:cNvSpPr>
          <p:nvPr>
            <p:ph type="sldImg"/>
          </p:nvPr>
        </p:nvSpPr>
        <p:spPr>
          <a:xfrm>
            <a:off x="1144588" y="685800"/>
            <a:ext cx="4562475" cy="3422650"/>
          </a:xfrm>
          <a:ln/>
        </p:spPr>
      </p:sp>
      <p:sp>
        <p:nvSpPr>
          <p:cNvPr id="79876"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449B9974-654A-4550-B5AC-8392D0380272}" type="slidenum">
              <a:rPr lang="en-US" smtClean="0"/>
              <a:pPr/>
              <a:t>26</a:t>
            </a:fld>
            <a:endParaRPr lang="en-US"/>
          </a:p>
        </p:txBody>
      </p:sp>
      <p:sp>
        <p:nvSpPr>
          <p:cNvPr id="80899" name="Rectangle 2"/>
          <p:cNvSpPr>
            <a:spLocks noGrp="1" noRot="1" noChangeAspect="1" noChangeArrowheads="1" noTextEdit="1"/>
          </p:cNvSpPr>
          <p:nvPr>
            <p:ph type="sldImg"/>
          </p:nvPr>
        </p:nvSpPr>
        <p:spPr>
          <a:xfrm>
            <a:off x="1144588" y="685800"/>
            <a:ext cx="4562475" cy="3422650"/>
          </a:xfrm>
          <a:ln/>
        </p:spPr>
      </p:sp>
      <p:sp>
        <p:nvSpPr>
          <p:cNvPr id="80900"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8F98CB5F-987C-425C-9434-7E5D09444F45}" type="slidenum">
              <a:rPr lang="en-US" smtClean="0"/>
              <a:pPr/>
              <a:t>27</a:t>
            </a:fld>
            <a:endParaRPr lang="en-US"/>
          </a:p>
        </p:txBody>
      </p:sp>
      <p:sp>
        <p:nvSpPr>
          <p:cNvPr id="81923" name="Rectangle 2"/>
          <p:cNvSpPr>
            <a:spLocks noGrp="1" noRot="1" noChangeAspect="1" noChangeArrowheads="1" noTextEdit="1"/>
          </p:cNvSpPr>
          <p:nvPr>
            <p:ph type="sldImg"/>
          </p:nvPr>
        </p:nvSpPr>
        <p:spPr>
          <a:xfrm>
            <a:off x="1144588" y="685800"/>
            <a:ext cx="4562475" cy="3422650"/>
          </a:xfrm>
          <a:ln/>
        </p:spPr>
      </p:sp>
      <p:sp>
        <p:nvSpPr>
          <p:cNvPr id="81924"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E7009094-F58C-4376-A082-26D6748EFDBF}" type="slidenum">
              <a:rPr lang="en-US" smtClean="0"/>
              <a:pPr/>
              <a:t>28</a:t>
            </a:fld>
            <a:endParaRPr lang="en-US"/>
          </a:p>
        </p:txBody>
      </p:sp>
      <p:sp>
        <p:nvSpPr>
          <p:cNvPr id="82947" name="Rectangle 2"/>
          <p:cNvSpPr>
            <a:spLocks noGrp="1" noRot="1" noChangeAspect="1" noChangeArrowheads="1" noTextEdit="1"/>
          </p:cNvSpPr>
          <p:nvPr>
            <p:ph type="sldImg"/>
          </p:nvPr>
        </p:nvSpPr>
        <p:spPr>
          <a:xfrm>
            <a:off x="1144588" y="685800"/>
            <a:ext cx="4562475" cy="3422650"/>
          </a:xfrm>
          <a:ln/>
        </p:spPr>
      </p:sp>
      <p:sp>
        <p:nvSpPr>
          <p:cNvPr id="82948"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61544BD6-6A4D-4854-AE72-CDEE9C9F4335}" type="slidenum">
              <a:rPr lang="en-US" smtClean="0"/>
              <a:pPr/>
              <a:t>29</a:t>
            </a:fld>
            <a:endParaRPr lang="en-US"/>
          </a:p>
        </p:txBody>
      </p:sp>
      <p:sp>
        <p:nvSpPr>
          <p:cNvPr id="83971" name="Rectangle 2"/>
          <p:cNvSpPr>
            <a:spLocks noGrp="1" noRot="1" noChangeAspect="1" noChangeArrowheads="1" noTextEdit="1"/>
          </p:cNvSpPr>
          <p:nvPr>
            <p:ph type="sldImg"/>
          </p:nvPr>
        </p:nvSpPr>
        <p:spPr>
          <a:xfrm>
            <a:off x="1144588" y="685800"/>
            <a:ext cx="4562475" cy="3422650"/>
          </a:xfrm>
          <a:ln/>
        </p:spPr>
      </p:sp>
      <p:sp>
        <p:nvSpPr>
          <p:cNvPr id="83972"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062497D4-9AF5-4D81-A01F-EF6FF922845F}" type="slidenum">
              <a:rPr lang="en-US" smtClean="0"/>
              <a:pPr/>
              <a:t>30</a:t>
            </a:fld>
            <a:endParaRPr lang="en-US"/>
          </a:p>
        </p:txBody>
      </p:sp>
      <p:sp>
        <p:nvSpPr>
          <p:cNvPr id="84995" name="Rectangle 2"/>
          <p:cNvSpPr>
            <a:spLocks noGrp="1" noRot="1" noChangeAspect="1" noChangeArrowheads="1" noTextEdit="1"/>
          </p:cNvSpPr>
          <p:nvPr>
            <p:ph type="sldImg"/>
          </p:nvPr>
        </p:nvSpPr>
        <p:spPr>
          <a:xfrm>
            <a:off x="1144588" y="685800"/>
            <a:ext cx="4562475" cy="3422650"/>
          </a:xfrm>
          <a:ln/>
        </p:spPr>
      </p:sp>
      <p:sp>
        <p:nvSpPr>
          <p:cNvPr id="84996"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06CCE1D8-445D-4445-9422-A98ACF981D1E}" type="slidenum">
              <a:rPr lang="en-US" smtClean="0"/>
              <a:pPr/>
              <a:t>31</a:t>
            </a:fld>
            <a:endParaRPr lang="en-US"/>
          </a:p>
        </p:txBody>
      </p:sp>
      <p:sp>
        <p:nvSpPr>
          <p:cNvPr id="86019" name="Rectangle 2"/>
          <p:cNvSpPr>
            <a:spLocks noGrp="1" noRot="1" noChangeAspect="1" noChangeArrowheads="1" noTextEdit="1"/>
          </p:cNvSpPr>
          <p:nvPr>
            <p:ph type="sldImg"/>
          </p:nvPr>
        </p:nvSpPr>
        <p:spPr>
          <a:xfrm>
            <a:off x="1144588" y="685800"/>
            <a:ext cx="4562475" cy="3422650"/>
          </a:xfrm>
          <a:ln/>
        </p:spPr>
      </p:sp>
      <p:sp>
        <p:nvSpPr>
          <p:cNvPr id="86020"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7230DF69-E81F-405C-AE4B-9D3616DF7629}" type="slidenum">
              <a:rPr lang="en-US" smtClean="0"/>
              <a:pPr/>
              <a:t>32</a:t>
            </a:fld>
            <a:endParaRPr lang="en-US"/>
          </a:p>
        </p:txBody>
      </p:sp>
      <p:sp>
        <p:nvSpPr>
          <p:cNvPr id="87043" name="Rectangle 2"/>
          <p:cNvSpPr>
            <a:spLocks noGrp="1" noRot="1" noChangeAspect="1" noChangeArrowheads="1" noTextEdit="1"/>
          </p:cNvSpPr>
          <p:nvPr>
            <p:ph type="sldImg"/>
          </p:nvPr>
        </p:nvSpPr>
        <p:spPr>
          <a:xfrm>
            <a:off x="1144588" y="685800"/>
            <a:ext cx="4562475" cy="3422650"/>
          </a:xfrm>
          <a:ln/>
        </p:spPr>
      </p:sp>
      <p:sp>
        <p:nvSpPr>
          <p:cNvPr id="87044"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p:nvPr>
        </p:nvSpPr>
        <p:spPr>
          <a:noFill/>
        </p:spPr>
        <p:txBody>
          <a:bodyPr/>
          <a:lstStyle/>
          <a:p>
            <a:fld id="{826A08F1-6B42-45D9-8443-0CB3F5C2A8C0}" type="slidenum">
              <a:rPr lang="en-US" smtClean="0"/>
              <a:pPr/>
              <a:t>33</a:t>
            </a:fld>
            <a:endParaRPr lang="en-US"/>
          </a:p>
        </p:txBody>
      </p:sp>
      <p:sp>
        <p:nvSpPr>
          <p:cNvPr id="66563" name="Rectangle 2"/>
          <p:cNvSpPr>
            <a:spLocks noGrp="1" noRot="1" noChangeAspect="1" noChangeArrowheads="1" noTextEdit="1"/>
          </p:cNvSpPr>
          <p:nvPr>
            <p:ph type="sldImg"/>
          </p:nvPr>
        </p:nvSpPr>
        <p:spPr>
          <a:xfrm>
            <a:off x="1143000" y="685800"/>
            <a:ext cx="4572000" cy="3429000"/>
          </a:xfrm>
          <a:ln/>
        </p:spPr>
      </p:sp>
      <p:sp>
        <p:nvSpPr>
          <p:cNvPr id="66564"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p:nvPr>
        </p:nvSpPr>
        <p:spPr>
          <a:noFill/>
        </p:spPr>
        <p:txBody>
          <a:bodyPr/>
          <a:lstStyle/>
          <a:p>
            <a:fld id="{E5581ED6-D4DD-43B4-8B5F-3C276C46387D}" type="slidenum">
              <a:rPr lang="en-US" smtClean="0"/>
              <a:pPr/>
              <a:t>34</a:t>
            </a:fld>
            <a:endParaRPr lang="en-US"/>
          </a:p>
        </p:txBody>
      </p:sp>
      <p:sp>
        <p:nvSpPr>
          <p:cNvPr id="79875" name="Rectangle 2"/>
          <p:cNvSpPr>
            <a:spLocks noGrp="1" noChangeArrowheads="1"/>
          </p:cNvSpPr>
          <p:nvPr>
            <p:ph type="body" idx="1"/>
          </p:nvPr>
        </p:nvSpPr>
        <p:spPr>
          <a:xfrm>
            <a:off x="914400" y="4343400"/>
            <a:ext cx="5029200" cy="4114800"/>
          </a:xfrm>
          <a:noFill/>
          <a:ln/>
        </p:spPr>
        <p:txBody>
          <a:bodyPr lIns="90479" tIns="44446" rIns="90479" bIns="44446"/>
          <a:lstStyle/>
          <a:p>
            <a:r>
              <a:rPr lang="en-US">
                <a:latin typeface="Times New Roman" pitchFamily="18" charset="0"/>
                <a:ea typeface="ＭＳ Ｐゴシック" pitchFamily="34" charset="-128"/>
              </a:rPr>
              <a:t>Resolve RAW memory conflict? (address in memory buffers)</a:t>
            </a:r>
          </a:p>
          <a:p>
            <a:r>
              <a:rPr lang="en-US">
                <a:latin typeface="Times New Roman" pitchFamily="18" charset="0"/>
                <a:ea typeface="ＭＳ Ｐゴシック" pitchFamily="34" charset="-128"/>
              </a:rPr>
              <a:t>Integer unit executes in parallel</a:t>
            </a:r>
          </a:p>
        </p:txBody>
      </p:sp>
      <p:sp>
        <p:nvSpPr>
          <p:cNvPr id="79876" name="Rectangle 3"/>
          <p:cNvSpPr>
            <a:spLocks noGrp="1" noRot="1" noChangeAspect="1" noChangeArrowheads="1" noTextEdit="1"/>
          </p:cNvSpPr>
          <p:nvPr>
            <p:ph type="sldImg"/>
          </p:nvPr>
        </p:nvSpPr>
        <p:spPr>
          <a:xfrm>
            <a:off x="1152525" y="692150"/>
            <a:ext cx="4554538" cy="3416300"/>
          </a:xfrm>
          <a:noFill/>
          <a:ln w="12700" cap="flat">
            <a:solidFill>
              <a:schemeClr val="tx1"/>
            </a:solid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p:nvPr>
        </p:nvSpPr>
        <p:spPr>
          <a:noFill/>
        </p:spPr>
        <p:txBody>
          <a:bodyPr/>
          <a:lstStyle/>
          <a:p>
            <a:fld id="{21253FA0-C919-4CA4-BD4B-BE839DACA7D2}" type="slidenum">
              <a:rPr lang="en-US" smtClean="0"/>
              <a:pPr/>
              <a:t>35</a:t>
            </a:fld>
            <a:endParaRPr lang="en-US"/>
          </a:p>
        </p:txBody>
      </p:sp>
      <p:sp>
        <p:nvSpPr>
          <p:cNvPr id="80899" name="Rectangle 2"/>
          <p:cNvSpPr>
            <a:spLocks noGrp="1" noRot="1" noChangeAspect="1" noChangeArrowheads="1" noTextEdit="1"/>
          </p:cNvSpPr>
          <p:nvPr>
            <p:ph type="sldImg"/>
          </p:nvPr>
        </p:nvSpPr>
        <p:spPr>
          <a:xfrm>
            <a:off x="1143000" y="685800"/>
            <a:ext cx="4572000" cy="3429000"/>
          </a:xfrm>
          <a:ln/>
        </p:spPr>
      </p:sp>
      <p:sp>
        <p:nvSpPr>
          <p:cNvPr id="80900"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p:nvPr>
        </p:nvSpPr>
        <p:spPr>
          <a:noFill/>
        </p:spPr>
        <p:txBody>
          <a:bodyPr/>
          <a:lstStyle/>
          <a:p>
            <a:fld id="{A9C6E285-066D-4D67-B851-BC6B238B6E23}" type="slidenum">
              <a:rPr lang="en-US" smtClean="0"/>
              <a:pPr/>
              <a:t>36</a:t>
            </a:fld>
            <a:endParaRPr lang="en-US"/>
          </a:p>
        </p:txBody>
      </p:sp>
      <p:sp>
        <p:nvSpPr>
          <p:cNvPr id="81923" name="Rectangle 2"/>
          <p:cNvSpPr>
            <a:spLocks noGrp="1" noRot="1" noChangeAspect="1" noChangeArrowheads="1" noTextEdit="1"/>
          </p:cNvSpPr>
          <p:nvPr>
            <p:ph type="sldImg"/>
          </p:nvPr>
        </p:nvSpPr>
        <p:spPr>
          <a:xfrm>
            <a:off x="1143000" y="685800"/>
            <a:ext cx="4572000" cy="3429000"/>
          </a:xfrm>
          <a:ln/>
        </p:spPr>
      </p:sp>
      <p:sp>
        <p:nvSpPr>
          <p:cNvPr id="81924"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10"/>
          <p:cNvSpPr>
            <a:spLocks noGrp="1" noChangeArrowheads="1"/>
          </p:cNvSpPr>
          <p:nvPr>
            <p:ph type="sldNum" sz="quarter"/>
          </p:nvPr>
        </p:nvSpPr>
        <p:spPr>
          <a:noFill/>
        </p:spPr>
        <p:txBody>
          <a:bodyPr/>
          <a:lstStyle/>
          <a:p>
            <a:fld id="{67E7F46A-3321-429F-B4F2-21F1FC693443}" type="slidenum">
              <a:rPr lang="en-GB" smtClean="0"/>
              <a:pPr/>
              <a:t>37</a:t>
            </a:fld>
            <a:endParaRPr lang="en-GB"/>
          </a:p>
        </p:txBody>
      </p:sp>
      <p:sp>
        <p:nvSpPr>
          <p:cNvPr id="55299" name="Text Box 1"/>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p>
            <a:endParaRPr lang="en-US"/>
          </a:p>
        </p:txBody>
      </p:sp>
      <p:sp>
        <p:nvSpPr>
          <p:cNvPr id="55300" name="Text Box 2"/>
          <p:cNvSpPr>
            <a:spLocks noGrp="1" noChangeArrowheads="1"/>
          </p:cNvSpPr>
          <p:nvPr>
            <p:ph type="body"/>
          </p:nvPr>
        </p:nvSpPr>
        <p:spPr>
          <a:xfrm>
            <a:off x="914400" y="4343400"/>
            <a:ext cx="5024438" cy="4111625"/>
          </a:xfrm>
          <a:noFill/>
          <a:ln/>
        </p:spPr>
        <p:txBody>
          <a:bodyPr wrap="none" anchor="ctr"/>
          <a:lstStyle/>
          <a:p>
            <a:endParaRPr lang="en-US">
              <a:latin typeface="Times New Roman" pitchFamily="18" charset="0"/>
              <a:ea typeface="ＭＳ Ｐゴシック"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10"/>
          <p:cNvSpPr>
            <a:spLocks noGrp="1" noChangeArrowheads="1"/>
          </p:cNvSpPr>
          <p:nvPr>
            <p:ph type="sldNum" sz="quarter"/>
          </p:nvPr>
        </p:nvSpPr>
        <p:spPr>
          <a:noFill/>
        </p:spPr>
        <p:txBody>
          <a:bodyPr/>
          <a:lstStyle/>
          <a:p>
            <a:fld id="{1370441C-17F0-4BD2-9158-A358830461C2}" type="slidenum">
              <a:rPr lang="en-GB" smtClean="0"/>
              <a:pPr/>
              <a:t>38</a:t>
            </a:fld>
            <a:endParaRPr lang="en-GB"/>
          </a:p>
        </p:txBody>
      </p:sp>
      <p:sp>
        <p:nvSpPr>
          <p:cNvPr id="56323" name="Text Box 1"/>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p>
            <a:endParaRPr lang="en-US"/>
          </a:p>
        </p:txBody>
      </p:sp>
      <p:sp>
        <p:nvSpPr>
          <p:cNvPr id="56324" name="Text Box 2"/>
          <p:cNvSpPr>
            <a:spLocks noGrp="1" noChangeArrowheads="1"/>
          </p:cNvSpPr>
          <p:nvPr>
            <p:ph type="body"/>
          </p:nvPr>
        </p:nvSpPr>
        <p:spPr>
          <a:xfrm>
            <a:off x="914400" y="4343400"/>
            <a:ext cx="5024438" cy="4111625"/>
          </a:xfrm>
          <a:noFill/>
          <a:ln/>
        </p:spPr>
        <p:txBody>
          <a:bodyPr wrap="none" anchor="ctr"/>
          <a:lstStyle/>
          <a:p>
            <a:endParaRPr lang="en-US">
              <a:latin typeface="Times New Roman" pitchFamily="18" charset="0"/>
              <a:ea typeface="ＭＳ Ｐゴシック"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0"/>
          <p:cNvSpPr>
            <a:spLocks noGrp="1" noChangeArrowheads="1"/>
          </p:cNvSpPr>
          <p:nvPr>
            <p:ph type="sldNum" sz="quarter"/>
          </p:nvPr>
        </p:nvSpPr>
        <p:spPr>
          <a:noFill/>
        </p:spPr>
        <p:txBody>
          <a:bodyPr/>
          <a:lstStyle/>
          <a:p>
            <a:fld id="{E53DDEA6-DEF3-4EF0-9649-60BAD90417C7}" type="slidenum">
              <a:rPr lang="en-GB" smtClean="0"/>
              <a:pPr/>
              <a:t>39</a:t>
            </a:fld>
            <a:endParaRPr lang="en-GB"/>
          </a:p>
        </p:txBody>
      </p:sp>
      <p:sp>
        <p:nvSpPr>
          <p:cNvPr id="57347" name="Text Box 1"/>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p>
            <a:endParaRPr lang="en-US"/>
          </a:p>
        </p:txBody>
      </p:sp>
      <p:sp>
        <p:nvSpPr>
          <p:cNvPr id="57348" name="Text Box 2"/>
          <p:cNvSpPr>
            <a:spLocks noGrp="1" noChangeArrowheads="1"/>
          </p:cNvSpPr>
          <p:nvPr>
            <p:ph type="body"/>
          </p:nvPr>
        </p:nvSpPr>
        <p:spPr>
          <a:xfrm>
            <a:off x="914400" y="4343400"/>
            <a:ext cx="5024438" cy="4111625"/>
          </a:xfrm>
          <a:noFill/>
          <a:ln/>
        </p:spPr>
        <p:txBody>
          <a:bodyPr wrap="none" anchor="ctr"/>
          <a:lstStyle/>
          <a:p>
            <a:endParaRPr lang="en-US">
              <a:latin typeface="Times New Roman" pitchFamily="18" charset="0"/>
              <a:ea typeface="ＭＳ Ｐゴシック"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10"/>
          <p:cNvSpPr>
            <a:spLocks noGrp="1" noChangeArrowheads="1"/>
          </p:cNvSpPr>
          <p:nvPr>
            <p:ph type="sldNum" sz="quarter"/>
          </p:nvPr>
        </p:nvSpPr>
        <p:spPr>
          <a:noFill/>
        </p:spPr>
        <p:txBody>
          <a:bodyPr/>
          <a:lstStyle/>
          <a:p>
            <a:fld id="{5777D246-6D8B-41B6-A840-75A413B9F6DF}" type="slidenum">
              <a:rPr lang="en-GB" smtClean="0"/>
              <a:pPr/>
              <a:t>40</a:t>
            </a:fld>
            <a:endParaRPr lang="en-GB"/>
          </a:p>
        </p:txBody>
      </p:sp>
      <p:sp>
        <p:nvSpPr>
          <p:cNvPr id="58371" name="Text Box 1"/>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p>
            <a:endParaRPr lang="en-US"/>
          </a:p>
        </p:txBody>
      </p:sp>
      <p:sp>
        <p:nvSpPr>
          <p:cNvPr id="58372" name="Text Box 2"/>
          <p:cNvSpPr>
            <a:spLocks noGrp="1" noChangeArrowheads="1"/>
          </p:cNvSpPr>
          <p:nvPr>
            <p:ph type="body"/>
          </p:nvPr>
        </p:nvSpPr>
        <p:spPr>
          <a:xfrm>
            <a:off x="914400" y="4343400"/>
            <a:ext cx="5024438" cy="4111625"/>
          </a:xfrm>
          <a:noFill/>
          <a:ln/>
        </p:spPr>
        <p:txBody>
          <a:bodyPr wrap="none" anchor="ctr"/>
          <a:lstStyle/>
          <a:p>
            <a:endParaRPr lang="en-US">
              <a:latin typeface="Times New Roman" pitchFamily="18" charset="0"/>
              <a:ea typeface="ＭＳ Ｐゴシック"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10"/>
          <p:cNvSpPr>
            <a:spLocks noGrp="1" noChangeArrowheads="1"/>
          </p:cNvSpPr>
          <p:nvPr>
            <p:ph type="sldNum" sz="quarter"/>
          </p:nvPr>
        </p:nvSpPr>
        <p:spPr>
          <a:noFill/>
        </p:spPr>
        <p:txBody>
          <a:bodyPr/>
          <a:lstStyle/>
          <a:p>
            <a:fld id="{000884B9-7AED-44EC-B6F4-D282DBAD9343}" type="slidenum">
              <a:rPr lang="en-GB" smtClean="0"/>
              <a:pPr/>
              <a:t>41</a:t>
            </a:fld>
            <a:endParaRPr lang="en-GB"/>
          </a:p>
        </p:txBody>
      </p:sp>
      <p:sp>
        <p:nvSpPr>
          <p:cNvPr id="59395" name="Text Box 1"/>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p>
            <a:endParaRPr lang="en-US"/>
          </a:p>
        </p:txBody>
      </p:sp>
      <p:sp>
        <p:nvSpPr>
          <p:cNvPr id="59396" name="Text Box 2"/>
          <p:cNvSpPr>
            <a:spLocks noGrp="1" noChangeArrowheads="1"/>
          </p:cNvSpPr>
          <p:nvPr>
            <p:ph type="body"/>
          </p:nvPr>
        </p:nvSpPr>
        <p:spPr>
          <a:xfrm>
            <a:off x="914400" y="4343400"/>
            <a:ext cx="5024438" cy="4111625"/>
          </a:xfrm>
          <a:noFill/>
          <a:ln/>
        </p:spPr>
        <p:txBody>
          <a:bodyPr wrap="none" anchor="ctr"/>
          <a:lstStyle/>
          <a:p>
            <a:endParaRPr lang="en-US">
              <a:latin typeface="Times New Roman" pitchFamily="18" charset="0"/>
              <a:ea typeface="ＭＳ Ｐゴシック"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10"/>
          <p:cNvSpPr>
            <a:spLocks noGrp="1" noChangeArrowheads="1"/>
          </p:cNvSpPr>
          <p:nvPr>
            <p:ph type="sldNum" sz="quarter"/>
          </p:nvPr>
        </p:nvSpPr>
        <p:spPr>
          <a:noFill/>
        </p:spPr>
        <p:txBody>
          <a:bodyPr/>
          <a:lstStyle/>
          <a:p>
            <a:fld id="{F56861E0-49C2-484A-B1C9-873ECEE3E3EA}" type="slidenum">
              <a:rPr lang="en-GB" smtClean="0"/>
              <a:pPr/>
              <a:t>43</a:t>
            </a:fld>
            <a:endParaRPr lang="en-GB"/>
          </a:p>
        </p:txBody>
      </p:sp>
      <p:sp>
        <p:nvSpPr>
          <p:cNvPr id="60419" name="Text Box 1"/>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p>
            <a:endParaRPr lang="en-US"/>
          </a:p>
        </p:txBody>
      </p:sp>
      <p:sp>
        <p:nvSpPr>
          <p:cNvPr id="60420" name="Text Box 2"/>
          <p:cNvSpPr>
            <a:spLocks noGrp="1" noChangeArrowheads="1"/>
          </p:cNvSpPr>
          <p:nvPr>
            <p:ph type="body"/>
          </p:nvPr>
        </p:nvSpPr>
        <p:spPr>
          <a:xfrm>
            <a:off x="914400" y="4343400"/>
            <a:ext cx="5024438" cy="4111625"/>
          </a:xfrm>
          <a:noFill/>
          <a:ln/>
        </p:spPr>
        <p:txBody>
          <a:bodyPr wrap="none" anchor="ctr"/>
          <a:lstStyle/>
          <a:p>
            <a:endParaRPr lang="en-US">
              <a:latin typeface="Times New Roman" pitchFamily="18" charset="0"/>
              <a:ea typeface="ＭＳ Ｐゴシック"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p:cNvSpPr>
            <a:spLocks noGrp="1" noChangeArrowheads="1"/>
          </p:cNvSpPr>
          <p:nvPr>
            <p:ph type="sldNum" sz="quarter"/>
          </p:nvPr>
        </p:nvSpPr>
        <p:spPr>
          <a:noFill/>
        </p:spPr>
        <p:txBody>
          <a:bodyPr/>
          <a:lstStyle/>
          <a:p>
            <a:fld id="{FF5AA2AC-E947-4F32-9E9B-438B0FD8F928}" type="slidenum">
              <a:rPr lang="en-US" smtClean="0"/>
              <a:pPr/>
              <a:t>44</a:t>
            </a:fld>
            <a:endParaRPr lang="en-US"/>
          </a:p>
        </p:txBody>
      </p:sp>
      <p:sp>
        <p:nvSpPr>
          <p:cNvPr id="61443" name="Text Box 2"/>
          <p:cNvSpPr txBox="1">
            <a:spLocks noChangeArrowheads="1"/>
          </p:cNvSpPr>
          <p:nvPr/>
        </p:nvSpPr>
        <p:spPr bwMode="auto">
          <a:xfrm>
            <a:off x="3886200" y="8686800"/>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43D915E-7607-4784-AE2C-128B8F3E00A5}" type="slidenum">
              <a:rPr lang="en-GB" sz="1200">
                <a:solidFill>
                  <a:srgbClr val="000000"/>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44</a:t>
            </a:fld>
            <a:endParaRPr lang="en-GB" sz="1200">
              <a:solidFill>
                <a:srgbClr val="000000"/>
              </a:solidFill>
            </a:endParaRPr>
          </a:p>
        </p:txBody>
      </p:sp>
      <p:sp>
        <p:nvSpPr>
          <p:cNvPr id="61444" name="Text Box 3"/>
          <p:cNvSpPr txBox="1">
            <a:spLocks noChangeArrowheads="1"/>
          </p:cNvSpPr>
          <p:nvPr/>
        </p:nvSpPr>
        <p:spPr bwMode="auto">
          <a:xfrm>
            <a:off x="0" y="8686800"/>
            <a:ext cx="2971800" cy="457200"/>
          </a:xfrm>
          <a:prstGeom prst="rect">
            <a:avLst/>
          </a:prstGeom>
          <a:noFill/>
          <a:ln w="9525">
            <a:noFill/>
            <a:round/>
            <a:headEnd/>
            <a:tailEnd/>
          </a:ln>
        </p:spPr>
        <p:txBody>
          <a:bodyPr lIns="90000" tIns="46800" rIns="90000" bIns="46800" anchor="b"/>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a:solidFill>
                <a:srgbClr val="000000"/>
              </a:solidFill>
            </a:endParaRPr>
          </a:p>
        </p:txBody>
      </p:sp>
      <p:sp>
        <p:nvSpPr>
          <p:cNvPr id="61445" name="Text Box 4"/>
          <p:cNvSpPr txBox="1">
            <a:spLocks noChangeArrowheads="1"/>
          </p:cNvSpPr>
          <p:nvPr/>
        </p:nvSpPr>
        <p:spPr bwMode="auto">
          <a:xfrm>
            <a:off x="0" y="0"/>
            <a:ext cx="2971800" cy="457200"/>
          </a:xfrm>
          <a:prstGeom prst="rect">
            <a:avLst/>
          </a:prstGeom>
          <a:noFill/>
          <a:ln w="9525">
            <a:noFill/>
            <a:round/>
            <a:headEnd/>
            <a:tailEnd/>
          </a:ln>
        </p:spPr>
        <p:txBody>
          <a:bodyPr lIns="90000" tIns="46800" rIns="90000" bIns="46800"/>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a:solidFill>
                <a:srgbClr val="000000"/>
              </a:solidFill>
            </a:endParaRPr>
          </a:p>
        </p:txBody>
      </p:sp>
      <p:sp>
        <p:nvSpPr>
          <p:cNvPr id="61446" name="Text Box 5"/>
          <p:cNvSpPr txBox="1">
            <a:spLocks noChangeArrowheads="1"/>
          </p:cNvSpPr>
          <p:nvPr/>
        </p:nvSpPr>
        <p:spPr bwMode="auto">
          <a:xfrm>
            <a:off x="3886200" y="0"/>
            <a:ext cx="2971800" cy="457200"/>
          </a:xfrm>
          <a:prstGeom prst="rect">
            <a:avLst/>
          </a:prstGeom>
          <a:noFill/>
          <a:ln w="9525">
            <a:noFill/>
            <a:round/>
            <a:headEnd/>
            <a:tailEnd/>
          </a:ln>
        </p:spPr>
        <p:txBody>
          <a:bodyPr lIns="90000" tIns="46800" rIns="90000" bIns="46800"/>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a:solidFill>
                <a:srgbClr val="000000"/>
              </a:solidFill>
            </a:endParaRPr>
          </a:p>
        </p:txBody>
      </p:sp>
      <p:sp>
        <p:nvSpPr>
          <p:cNvPr id="61447" name="Text Box 6"/>
          <p:cNvSpPr>
            <a:spLocks noGrp="1" noChangeArrowheads="1"/>
          </p:cNvSpPr>
          <p:nvPr>
            <p:ph type="body"/>
          </p:nvPr>
        </p:nvSpPr>
        <p:spPr>
          <a:xfrm>
            <a:off x="914400" y="4341813"/>
            <a:ext cx="5029200" cy="4116387"/>
          </a:xfrm>
          <a:noFill/>
          <a:ln/>
        </p:spPr>
        <p:txBody>
          <a:bodyPr lIns="90360" tIns="44280" rIns="90360" bIns="44280"/>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atin typeface="Times New Roman" pitchFamily="18" charset="0"/>
                <a:ea typeface="ＭＳ Ｐゴシック" pitchFamily="34" charset="-128"/>
              </a:rPr>
              <a:t>Resolve RAW memory conflict? (address in memory buffers)</a:t>
            </a:r>
            <a:r>
              <a:rPr lang="x-none">
                <a:latin typeface="Times New Roman" pitchFamily="18" charset="0"/>
                <a:ea typeface="ＭＳ Ｐゴシック" pitchFamily="34" charset="-128"/>
                <a:cs typeface="Times New Roman" pitchFamily="18" charset="0"/>
              </a:rPr>
              <a:t>‏</a:t>
            </a:r>
            <a:endParaRPr lang="en-GB">
              <a:latin typeface="Times New Roman" pitchFamily="18" charset="0"/>
              <a:ea typeface="ＭＳ Ｐゴシック" pitchFamily="34" charset="-128"/>
            </a:endParaRP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atin typeface="Times New Roman" pitchFamily="18" charset="0"/>
                <a:ea typeface="ＭＳ Ｐゴシック" pitchFamily="34" charset="-128"/>
              </a:rPr>
              <a:t>Integer unit executes in parallel</a:t>
            </a:r>
          </a:p>
        </p:txBody>
      </p:sp>
      <p:sp>
        <p:nvSpPr>
          <p:cNvPr id="61448" name="Text Box 7"/>
          <p:cNvSpPr txBox="1">
            <a:spLocks noChangeArrowheads="1"/>
          </p:cNvSpPr>
          <p:nvPr/>
        </p:nvSpPr>
        <p:spPr bwMode="auto">
          <a:xfrm>
            <a:off x="1152525" y="692150"/>
            <a:ext cx="4554538" cy="3416300"/>
          </a:xfrm>
          <a:prstGeom prst="rect">
            <a:avLst/>
          </a:prstGeom>
          <a:solidFill>
            <a:srgbClr val="FFFFFF"/>
          </a:solidFill>
          <a:ln w="9525">
            <a:solidFill>
              <a:srgbClr val="000000"/>
            </a:solidFill>
            <a:miter lim="800000"/>
            <a:headEnd/>
            <a:tailEnd/>
          </a:ln>
        </p:spPr>
        <p:txBody>
          <a:bodyPr wrap="none" anchor="ct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p:nvPr>
        </p:nvSpPr>
        <p:spPr>
          <a:noFill/>
        </p:spPr>
        <p:txBody>
          <a:bodyPr/>
          <a:lstStyle/>
          <a:p>
            <a:fld id="{2FF46C49-AD8E-4C7C-AB2C-0837C61B8FEC}" type="slidenum">
              <a:rPr lang="en-US" smtClean="0"/>
              <a:pPr/>
              <a:t>45</a:t>
            </a:fld>
            <a:endParaRPr lang="en-US"/>
          </a:p>
        </p:txBody>
      </p:sp>
      <p:sp>
        <p:nvSpPr>
          <p:cNvPr id="62467" name="Rectangle 2"/>
          <p:cNvSpPr>
            <a:spLocks noGrp="1" noRot="1" noChangeAspect="1" noChangeArrowheads="1" noTextEdit="1"/>
          </p:cNvSpPr>
          <p:nvPr>
            <p:ph type="sldImg"/>
          </p:nvPr>
        </p:nvSpPr>
        <p:spPr>
          <a:xfrm>
            <a:off x="1143000" y="685800"/>
            <a:ext cx="4572000" cy="3429000"/>
          </a:xfrm>
          <a:ln/>
        </p:spPr>
      </p:sp>
      <p:sp>
        <p:nvSpPr>
          <p:cNvPr id="62468"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p:nvPr>
        </p:nvSpPr>
        <p:spPr>
          <a:noFill/>
        </p:spPr>
        <p:txBody>
          <a:bodyPr/>
          <a:lstStyle/>
          <a:p>
            <a:fld id="{849FF345-311D-4088-9D53-35B9537FD5A8}" type="slidenum">
              <a:rPr lang="en-US" smtClean="0"/>
              <a:pPr/>
              <a:t>46</a:t>
            </a:fld>
            <a:endParaRPr lang="en-US"/>
          </a:p>
        </p:txBody>
      </p:sp>
      <p:sp>
        <p:nvSpPr>
          <p:cNvPr id="63491" name="Rectangle 2"/>
          <p:cNvSpPr>
            <a:spLocks noGrp="1" noRot="1" noChangeAspect="1" noChangeArrowheads="1" noTextEdit="1"/>
          </p:cNvSpPr>
          <p:nvPr>
            <p:ph type="sldImg"/>
          </p:nvPr>
        </p:nvSpPr>
        <p:spPr>
          <a:xfrm>
            <a:off x="1143000" y="685800"/>
            <a:ext cx="4572000" cy="3429000"/>
          </a:xfrm>
          <a:ln/>
        </p:spPr>
      </p:sp>
      <p:sp>
        <p:nvSpPr>
          <p:cNvPr id="63492"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p:nvPr>
        </p:nvSpPr>
        <p:spPr>
          <a:noFill/>
        </p:spPr>
        <p:txBody>
          <a:bodyPr/>
          <a:lstStyle/>
          <a:p>
            <a:fld id="{C7E030EA-2DFA-4644-998C-0A1FE9BE491C}" type="slidenum">
              <a:rPr lang="en-US" smtClean="0"/>
              <a:pPr/>
              <a:t>47</a:t>
            </a:fld>
            <a:endParaRPr lang="en-US"/>
          </a:p>
        </p:txBody>
      </p:sp>
      <p:sp>
        <p:nvSpPr>
          <p:cNvPr id="64515" name="Rectangle 2"/>
          <p:cNvSpPr>
            <a:spLocks noGrp="1" noRot="1" noChangeAspect="1" noChangeArrowheads="1" noTextEdit="1"/>
          </p:cNvSpPr>
          <p:nvPr>
            <p:ph type="sldImg"/>
          </p:nvPr>
        </p:nvSpPr>
        <p:spPr>
          <a:xfrm>
            <a:off x="1143000" y="685800"/>
            <a:ext cx="4572000" cy="3429000"/>
          </a:xfrm>
          <a:ln/>
        </p:spPr>
      </p:sp>
      <p:sp>
        <p:nvSpPr>
          <p:cNvPr id="64516"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p:spPr>
        <p:txBody>
          <a:bodyPr/>
          <a:lstStyle/>
          <a:p>
            <a:fld id="{F5E39FEF-0648-429A-9EA7-979365C76A54}" type="slidenum">
              <a:rPr lang="en-US" smtClean="0"/>
              <a:pPr/>
              <a:t>48</a:t>
            </a:fld>
            <a:endParaRPr lang="en-US"/>
          </a:p>
        </p:txBody>
      </p:sp>
      <p:sp>
        <p:nvSpPr>
          <p:cNvPr id="65539" name="Rectangle 2"/>
          <p:cNvSpPr>
            <a:spLocks noGrp="1" noRot="1" noChangeAspect="1" noChangeArrowheads="1" noTextEdit="1"/>
          </p:cNvSpPr>
          <p:nvPr>
            <p:ph type="sldImg"/>
          </p:nvPr>
        </p:nvSpPr>
        <p:spPr>
          <a:xfrm>
            <a:off x="1143000" y="685800"/>
            <a:ext cx="4572000" cy="3429000"/>
          </a:xfrm>
          <a:ln/>
        </p:spPr>
      </p:sp>
      <p:sp>
        <p:nvSpPr>
          <p:cNvPr id="65540" name="Rectangle 3"/>
          <p:cNvSpPr>
            <a:spLocks noGrp="1" noChangeArrowheads="1"/>
          </p:cNvSpPr>
          <p:nvPr>
            <p:ph type="body" idx="1"/>
          </p:nvPr>
        </p:nvSpPr>
        <p:spPr>
          <a:xfrm>
            <a:off x="914400" y="4343400"/>
            <a:ext cx="5029200" cy="4114800"/>
          </a:xfrm>
          <a:solidFill>
            <a:srgbClr val="FFFFFF"/>
          </a:solidFill>
          <a:ln>
            <a:solidFill>
              <a:srgbClr val="000000"/>
            </a:solidFill>
            <a:miter lim="800000"/>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a:t>Click to edit Master subtitle style</a:t>
            </a:r>
            <a:endParaRPr lang="en-US"/>
          </a:p>
        </p:txBody>
      </p:sp>
      <p:sp>
        <p:nvSpPr>
          <p:cNvPr id="4" name="Date Placeholder 3"/>
          <p:cNvSpPr>
            <a:spLocks noGrp="1"/>
          </p:cNvSpPr>
          <p:nvPr>
            <p:ph type="dt" idx="10"/>
          </p:nvPr>
        </p:nvSpPr>
        <p:spPr/>
        <p:txBody>
          <a:bodyPr/>
          <a:lstStyle>
            <a:lvl1pPr>
              <a:defRPr/>
            </a:lvl1pPr>
          </a:lstStyle>
          <a:p>
            <a:pPr>
              <a:defRPr/>
            </a:pPr>
            <a:r>
              <a:rPr lang="en-US"/>
              <a:t>Oct. 15, 2008</a:t>
            </a:r>
            <a:endParaRPr lang="en-GB"/>
          </a:p>
        </p:txBody>
      </p:sp>
      <p:sp>
        <p:nvSpPr>
          <p:cNvPr id="5" name="Footer Placeholder 4"/>
          <p:cNvSpPr>
            <a:spLocks noGrp="1"/>
          </p:cNvSpPr>
          <p:nvPr>
            <p:ph type="ftr" idx="11"/>
          </p:nvPr>
        </p:nvSpPr>
        <p:spPr/>
        <p:txBody>
          <a:bodyPr/>
          <a:lstStyle>
            <a:lvl1pPr>
              <a:defRPr/>
            </a:lvl1pPr>
          </a:lstStyle>
          <a:p>
            <a:pPr>
              <a:defRPr/>
            </a:pPr>
            <a:r>
              <a:rPr lang="en-US"/>
              <a:t>EECE 476 - Slide Set 8</a:t>
            </a:r>
            <a:endParaRPr lang="en-GB"/>
          </a:p>
        </p:txBody>
      </p:sp>
      <p:sp>
        <p:nvSpPr>
          <p:cNvPr id="6" name="Slide Number Placeholder 5"/>
          <p:cNvSpPr>
            <a:spLocks noGrp="1"/>
          </p:cNvSpPr>
          <p:nvPr>
            <p:ph type="sldNum" idx="12"/>
          </p:nvPr>
        </p:nvSpPr>
        <p:spPr/>
        <p:txBody>
          <a:bodyPr/>
          <a:lstStyle>
            <a:lvl1pPr>
              <a:defRPr>
                <a:latin typeface="Comic Sans MS" pitchFamily="66" charset="0"/>
              </a:defRPr>
            </a:lvl1pPr>
          </a:lstStyle>
          <a:p>
            <a:pPr>
              <a:defRPr/>
            </a:pPr>
            <a:fld id="{25E294DD-24AC-4470-97FE-70E2838D7E4F}" type="slidenum">
              <a:rPr lang="en-GB"/>
              <a:pPr>
                <a:defRPr/>
              </a:pPr>
              <a:t>‹#›</a:t>
            </a:fld>
            <a:r>
              <a:rPr lang="en-GB"/>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4" name="Date Placeholder 3"/>
          <p:cNvSpPr>
            <a:spLocks noGrp="1"/>
          </p:cNvSpPr>
          <p:nvPr>
            <p:ph type="dt" idx="10"/>
          </p:nvPr>
        </p:nvSpPr>
        <p:spPr/>
        <p:txBody>
          <a:bodyPr/>
          <a:lstStyle>
            <a:lvl1pPr>
              <a:defRPr/>
            </a:lvl1pPr>
          </a:lstStyle>
          <a:p>
            <a:pPr>
              <a:defRPr/>
            </a:pPr>
            <a:r>
              <a:rPr lang="en-US"/>
              <a:t>Oct. 15, 2008</a:t>
            </a:r>
            <a:endParaRPr lang="en-GB"/>
          </a:p>
        </p:txBody>
      </p:sp>
      <p:sp>
        <p:nvSpPr>
          <p:cNvPr id="5" name="Footer Placeholder 4"/>
          <p:cNvSpPr>
            <a:spLocks noGrp="1"/>
          </p:cNvSpPr>
          <p:nvPr>
            <p:ph type="ftr" idx="11"/>
          </p:nvPr>
        </p:nvSpPr>
        <p:spPr/>
        <p:txBody>
          <a:bodyPr/>
          <a:lstStyle>
            <a:lvl1pPr>
              <a:defRPr/>
            </a:lvl1pPr>
          </a:lstStyle>
          <a:p>
            <a:pPr>
              <a:defRPr/>
            </a:pPr>
            <a:r>
              <a:rPr lang="en-US"/>
              <a:t>EECE 476 - Slide Set 8</a:t>
            </a:r>
            <a:endParaRPr lang="en-GB"/>
          </a:p>
        </p:txBody>
      </p:sp>
      <p:sp>
        <p:nvSpPr>
          <p:cNvPr id="6" name="Slide Number Placeholder 5"/>
          <p:cNvSpPr>
            <a:spLocks noGrp="1"/>
          </p:cNvSpPr>
          <p:nvPr>
            <p:ph type="sldNum" idx="12"/>
          </p:nvPr>
        </p:nvSpPr>
        <p:spPr/>
        <p:txBody>
          <a:bodyPr/>
          <a:lstStyle>
            <a:lvl1pPr>
              <a:defRPr>
                <a:latin typeface="Comic Sans MS" pitchFamily="66" charset="0"/>
              </a:defRPr>
            </a:lvl1pPr>
          </a:lstStyle>
          <a:p>
            <a:pPr>
              <a:defRPr/>
            </a:pPr>
            <a:fld id="{6072B4EB-2414-477B-865E-7BF1AFE5FFA7}" type="slidenum">
              <a:rPr lang="en-GB"/>
              <a:pPr>
                <a:defRPr/>
              </a:pPr>
              <a:t>‹#›</a:t>
            </a:fld>
            <a:r>
              <a:rPr lang="en-GB"/>
              <a: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a:t>Click to edit Master text styles</a:t>
            </a:r>
          </a:p>
        </p:txBody>
      </p:sp>
      <p:sp>
        <p:nvSpPr>
          <p:cNvPr id="4" name="Date Placeholder 3"/>
          <p:cNvSpPr>
            <a:spLocks noGrp="1"/>
          </p:cNvSpPr>
          <p:nvPr>
            <p:ph type="dt" idx="10"/>
          </p:nvPr>
        </p:nvSpPr>
        <p:spPr/>
        <p:txBody>
          <a:bodyPr/>
          <a:lstStyle>
            <a:lvl1pPr>
              <a:defRPr/>
            </a:lvl1pPr>
          </a:lstStyle>
          <a:p>
            <a:pPr>
              <a:defRPr/>
            </a:pPr>
            <a:r>
              <a:rPr lang="en-US"/>
              <a:t>Oct. 15, 2008</a:t>
            </a:r>
            <a:endParaRPr lang="en-GB"/>
          </a:p>
        </p:txBody>
      </p:sp>
      <p:sp>
        <p:nvSpPr>
          <p:cNvPr id="5" name="Footer Placeholder 4"/>
          <p:cNvSpPr>
            <a:spLocks noGrp="1"/>
          </p:cNvSpPr>
          <p:nvPr>
            <p:ph type="ftr" idx="11"/>
          </p:nvPr>
        </p:nvSpPr>
        <p:spPr/>
        <p:txBody>
          <a:bodyPr/>
          <a:lstStyle>
            <a:lvl1pPr>
              <a:defRPr/>
            </a:lvl1pPr>
          </a:lstStyle>
          <a:p>
            <a:pPr>
              <a:defRPr/>
            </a:pPr>
            <a:r>
              <a:rPr lang="en-US"/>
              <a:t>EECE 476 - Slide Set 8</a:t>
            </a:r>
            <a:endParaRPr lang="en-GB"/>
          </a:p>
        </p:txBody>
      </p:sp>
      <p:sp>
        <p:nvSpPr>
          <p:cNvPr id="6" name="Slide Number Placeholder 5"/>
          <p:cNvSpPr>
            <a:spLocks noGrp="1"/>
          </p:cNvSpPr>
          <p:nvPr>
            <p:ph type="sldNum" idx="12"/>
          </p:nvPr>
        </p:nvSpPr>
        <p:spPr/>
        <p:txBody>
          <a:bodyPr/>
          <a:lstStyle>
            <a:lvl1pPr>
              <a:defRPr>
                <a:latin typeface="Comic Sans MS" pitchFamily="66" charset="0"/>
              </a:defRPr>
            </a:lvl1pPr>
          </a:lstStyle>
          <a:p>
            <a:pPr>
              <a:defRPr/>
            </a:pPr>
            <a:fld id="{8E22B95B-D53F-4A6A-8546-F486430AFCC3}"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685800" y="1371600"/>
            <a:ext cx="3806825" cy="48244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5025" y="1371600"/>
            <a:ext cx="3806825" cy="48244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Date Placeholder 4"/>
          <p:cNvSpPr>
            <a:spLocks noGrp="1"/>
          </p:cNvSpPr>
          <p:nvPr>
            <p:ph type="dt" idx="10"/>
          </p:nvPr>
        </p:nvSpPr>
        <p:spPr/>
        <p:txBody>
          <a:bodyPr/>
          <a:lstStyle>
            <a:lvl1pPr>
              <a:defRPr/>
            </a:lvl1pPr>
          </a:lstStyle>
          <a:p>
            <a:pPr>
              <a:defRPr/>
            </a:pPr>
            <a:r>
              <a:rPr lang="en-US"/>
              <a:t>Oct. 15, 2008</a:t>
            </a:r>
            <a:endParaRPr lang="en-GB"/>
          </a:p>
        </p:txBody>
      </p:sp>
      <p:sp>
        <p:nvSpPr>
          <p:cNvPr id="6" name="Footer Placeholder 5"/>
          <p:cNvSpPr>
            <a:spLocks noGrp="1"/>
          </p:cNvSpPr>
          <p:nvPr>
            <p:ph type="ftr" idx="11"/>
          </p:nvPr>
        </p:nvSpPr>
        <p:spPr/>
        <p:txBody>
          <a:bodyPr/>
          <a:lstStyle>
            <a:lvl1pPr>
              <a:defRPr/>
            </a:lvl1pPr>
          </a:lstStyle>
          <a:p>
            <a:pPr>
              <a:defRPr/>
            </a:pPr>
            <a:r>
              <a:rPr lang="en-US"/>
              <a:t>EECE 476 - Slide Set 8</a:t>
            </a:r>
            <a:endParaRPr lang="en-GB"/>
          </a:p>
        </p:txBody>
      </p:sp>
      <p:sp>
        <p:nvSpPr>
          <p:cNvPr id="7" name="Slide Number Placeholder 6"/>
          <p:cNvSpPr>
            <a:spLocks noGrp="1"/>
          </p:cNvSpPr>
          <p:nvPr>
            <p:ph type="sldNum" idx="12"/>
          </p:nvPr>
        </p:nvSpPr>
        <p:spPr/>
        <p:txBody>
          <a:bodyPr/>
          <a:lstStyle>
            <a:lvl1pPr>
              <a:defRPr>
                <a:latin typeface="Comic Sans MS" pitchFamily="66" charset="0"/>
              </a:defRPr>
            </a:lvl1pPr>
          </a:lstStyle>
          <a:p>
            <a:pPr>
              <a:defRPr/>
            </a:pPr>
            <a:fld id="{8F8959A1-2D95-4179-AD40-2A1A239F4656}" type="slidenum">
              <a:rPr lang="en-GB"/>
              <a:pPr>
                <a:defRPr/>
              </a:pPr>
              <a:t>‹#›</a:t>
            </a:fld>
            <a:r>
              <a:rPr lang="en-GB"/>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Date Placeholder 6"/>
          <p:cNvSpPr>
            <a:spLocks noGrp="1"/>
          </p:cNvSpPr>
          <p:nvPr>
            <p:ph type="dt" idx="10"/>
          </p:nvPr>
        </p:nvSpPr>
        <p:spPr/>
        <p:txBody>
          <a:bodyPr/>
          <a:lstStyle>
            <a:lvl1pPr>
              <a:defRPr/>
            </a:lvl1pPr>
          </a:lstStyle>
          <a:p>
            <a:pPr>
              <a:defRPr/>
            </a:pPr>
            <a:r>
              <a:rPr lang="en-US"/>
              <a:t>Oct. 15, 2008</a:t>
            </a:r>
            <a:endParaRPr lang="en-GB"/>
          </a:p>
        </p:txBody>
      </p:sp>
      <p:sp>
        <p:nvSpPr>
          <p:cNvPr id="8" name="Footer Placeholder 7"/>
          <p:cNvSpPr>
            <a:spLocks noGrp="1"/>
          </p:cNvSpPr>
          <p:nvPr>
            <p:ph type="ftr" idx="11"/>
          </p:nvPr>
        </p:nvSpPr>
        <p:spPr/>
        <p:txBody>
          <a:bodyPr/>
          <a:lstStyle>
            <a:lvl1pPr>
              <a:defRPr/>
            </a:lvl1pPr>
          </a:lstStyle>
          <a:p>
            <a:pPr>
              <a:defRPr/>
            </a:pPr>
            <a:r>
              <a:rPr lang="en-US"/>
              <a:t>EECE 476 - Slide Set 8</a:t>
            </a:r>
            <a:endParaRPr lang="en-GB"/>
          </a:p>
        </p:txBody>
      </p:sp>
      <p:sp>
        <p:nvSpPr>
          <p:cNvPr id="9" name="Slide Number Placeholder 8"/>
          <p:cNvSpPr>
            <a:spLocks noGrp="1"/>
          </p:cNvSpPr>
          <p:nvPr>
            <p:ph type="sldNum" idx="12"/>
          </p:nvPr>
        </p:nvSpPr>
        <p:spPr/>
        <p:txBody>
          <a:bodyPr/>
          <a:lstStyle>
            <a:lvl1pPr>
              <a:defRPr>
                <a:latin typeface="Comic Sans MS" pitchFamily="66" charset="0"/>
              </a:defRPr>
            </a:lvl1pPr>
          </a:lstStyle>
          <a:p>
            <a:pPr>
              <a:defRPr/>
            </a:pPr>
            <a:fld id="{9F4A1CFB-573A-46CF-A6C5-B378D97D353A}" type="slidenum">
              <a:rPr lang="en-GB"/>
              <a:pPr>
                <a:defRPr/>
              </a:pPr>
              <a:t>‹#›</a:t>
            </a:fld>
            <a:r>
              <a:rPr lang="en-GB"/>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Date Placeholder 2"/>
          <p:cNvSpPr>
            <a:spLocks noGrp="1"/>
          </p:cNvSpPr>
          <p:nvPr>
            <p:ph type="dt" idx="10"/>
          </p:nvPr>
        </p:nvSpPr>
        <p:spPr/>
        <p:txBody>
          <a:bodyPr/>
          <a:lstStyle>
            <a:lvl1pPr>
              <a:defRPr/>
            </a:lvl1pPr>
          </a:lstStyle>
          <a:p>
            <a:pPr>
              <a:defRPr/>
            </a:pPr>
            <a:r>
              <a:rPr lang="en-US"/>
              <a:t>Oct. 15, 2008</a:t>
            </a:r>
            <a:endParaRPr lang="en-GB"/>
          </a:p>
        </p:txBody>
      </p:sp>
      <p:sp>
        <p:nvSpPr>
          <p:cNvPr id="4" name="Footer Placeholder 3"/>
          <p:cNvSpPr>
            <a:spLocks noGrp="1"/>
          </p:cNvSpPr>
          <p:nvPr>
            <p:ph type="ftr" idx="11"/>
          </p:nvPr>
        </p:nvSpPr>
        <p:spPr/>
        <p:txBody>
          <a:bodyPr/>
          <a:lstStyle>
            <a:lvl1pPr>
              <a:defRPr/>
            </a:lvl1pPr>
          </a:lstStyle>
          <a:p>
            <a:pPr>
              <a:defRPr/>
            </a:pPr>
            <a:r>
              <a:rPr lang="en-US"/>
              <a:t>EECE 476 - Slide Set 8</a:t>
            </a:r>
            <a:endParaRPr lang="en-GB"/>
          </a:p>
        </p:txBody>
      </p:sp>
      <p:sp>
        <p:nvSpPr>
          <p:cNvPr id="5" name="Slide Number Placeholder 4"/>
          <p:cNvSpPr>
            <a:spLocks noGrp="1"/>
          </p:cNvSpPr>
          <p:nvPr>
            <p:ph type="sldNum" idx="12"/>
          </p:nvPr>
        </p:nvSpPr>
        <p:spPr/>
        <p:txBody>
          <a:bodyPr/>
          <a:lstStyle>
            <a:lvl1pPr>
              <a:defRPr>
                <a:latin typeface="Comic Sans MS" pitchFamily="66" charset="0"/>
              </a:defRPr>
            </a:lvl1pPr>
          </a:lstStyle>
          <a:p>
            <a:pPr>
              <a:defRPr/>
            </a:pPr>
            <a:fld id="{D51700BE-2037-4797-949C-E76F37763952}" type="slidenum">
              <a:rPr lang="en-GB"/>
              <a:pPr>
                <a:defRPr/>
              </a:pPr>
              <a:t>‹#›</a:t>
            </a:fld>
            <a:r>
              <a:rPr lang="en-GB"/>
              <a:t>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pPr>
              <a:defRPr/>
            </a:pPr>
            <a:r>
              <a:rPr lang="en-US"/>
              <a:t>Oct. 15, 2008</a:t>
            </a:r>
            <a:endParaRPr lang="en-GB"/>
          </a:p>
        </p:txBody>
      </p:sp>
      <p:sp>
        <p:nvSpPr>
          <p:cNvPr id="3" name="Footer Placeholder 2"/>
          <p:cNvSpPr>
            <a:spLocks noGrp="1"/>
          </p:cNvSpPr>
          <p:nvPr>
            <p:ph type="ftr" idx="11"/>
          </p:nvPr>
        </p:nvSpPr>
        <p:spPr/>
        <p:txBody>
          <a:bodyPr/>
          <a:lstStyle>
            <a:lvl1pPr>
              <a:defRPr/>
            </a:lvl1pPr>
          </a:lstStyle>
          <a:p>
            <a:pPr>
              <a:defRPr/>
            </a:pPr>
            <a:r>
              <a:rPr lang="en-US"/>
              <a:t>EECE 476 - Slide Set 8</a:t>
            </a:r>
            <a:endParaRPr lang="en-GB"/>
          </a:p>
        </p:txBody>
      </p:sp>
      <p:sp>
        <p:nvSpPr>
          <p:cNvPr id="4" name="Slide Number Placeholder 3"/>
          <p:cNvSpPr>
            <a:spLocks noGrp="1"/>
          </p:cNvSpPr>
          <p:nvPr>
            <p:ph type="sldNum" idx="12"/>
          </p:nvPr>
        </p:nvSpPr>
        <p:spPr/>
        <p:txBody>
          <a:bodyPr/>
          <a:lstStyle>
            <a:lvl1pPr>
              <a:defRPr>
                <a:latin typeface="Comic Sans MS" pitchFamily="66" charset="0"/>
              </a:defRPr>
            </a:lvl1pPr>
          </a:lstStyle>
          <a:p>
            <a:pPr>
              <a:defRPr/>
            </a:pPr>
            <a:fld id="{C501CB83-9ACF-4754-9995-B51A5222C6D7}" type="slidenum">
              <a:rPr lang="en-GB"/>
              <a:pPr>
                <a:defRPr/>
              </a:pPr>
              <a:t>‹#›</a:t>
            </a:fld>
            <a:r>
              <a:rPr lang="en-GB"/>
              <a: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idx="10"/>
          </p:nvPr>
        </p:nvSpPr>
        <p:spPr/>
        <p:txBody>
          <a:bodyPr/>
          <a:lstStyle>
            <a:lvl1pPr>
              <a:defRPr/>
            </a:lvl1pPr>
          </a:lstStyle>
          <a:p>
            <a:pPr>
              <a:defRPr/>
            </a:pPr>
            <a:r>
              <a:rPr lang="en-US"/>
              <a:t>Oct. 15, 2008</a:t>
            </a:r>
            <a:endParaRPr lang="en-GB"/>
          </a:p>
        </p:txBody>
      </p:sp>
      <p:sp>
        <p:nvSpPr>
          <p:cNvPr id="6" name="Footer Placeholder 5"/>
          <p:cNvSpPr>
            <a:spLocks noGrp="1"/>
          </p:cNvSpPr>
          <p:nvPr>
            <p:ph type="ftr" idx="11"/>
          </p:nvPr>
        </p:nvSpPr>
        <p:spPr/>
        <p:txBody>
          <a:bodyPr/>
          <a:lstStyle>
            <a:lvl1pPr>
              <a:defRPr/>
            </a:lvl1pPr>
          </a:lstStyle>
          <a:p>
            <a:pPr>
              <a:defRPr/>
            </a:pPr>
            <a:r>
              <a:rPr lang="en-US"/>
              <a:t>EECE 476 - Slide Set 8</a:t>
            </a:r>
            <a:endParaRPr lang="en-GB"/>
          </a:p>
        </p:txBody>
      </p:sp>
      <p:sp>
        <p:nvSpPr>
          <p:cNvPr id="7" name="Slide Number Placeholder 6"/>
          <p:cNvSpPr>
            <a:spLocks noGrp="1"/>
          </p:cNvSpPr>
          <p:nvPr>
            <p:ph type="sldNum" idx="12"/>
          </p:nvPr>
        </p:nvSpPr>
        <p:spPr/>
        <p:txBody>
          <a:bodyPr/>
          <a:lstStyle>
            <a:lvl1pPr>
              <a:defRPr>
                <a:latin typeface="Comic Sans MS" pitchFamily="66" charset="0"/>
              </a:defRPr>
            </a:lvl1pPr>
          </a:lstStyle>
          <a:p>
            <a:pPr>
              <a:defRPr/>
            </a:pPr>
            <a:fld id="{D9DE7BD8-ED6F-4B84-97A1-60ED67A129BC}" type="slidenum">
              <a:rPr lang="en-GB"/>
              <a:pPr>
                <a:defRPr/>
              </a:pPr>
              <a:t>‹#›</a:t>
            </a:fld>
            <a:r>
              <a:rPr lang="en-GB"/>
              <a:t>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idx="10"/>
          </p:nvPr>
        </p:nvSpPr>
        <p:spPr/>
        <p:txBody>
          <a:bodyPr/>
          <a:lstStyle>
            <a:lvl1pPr>
              <a:defRPr/>
            </a:lvl1pPr>
          </a:lstStyle>
          <a:p>
            <a:pPr>
              <a:defRPr/>
            </a:pPr>
            <a:r>
              <a:rPr lang="en-US"/>
              <a:t>Oct. 15, 2008</a:t>
            </a:r>
            <a:endParaRPr lang="en-GB"/>
          </a:p>
        </p:txBody>
      </p:sp>
      <p:sp>
        <p:nvSpPr>
          <p:cNvPr id="6" name="Footer Placeholder 5"/>
          <p:cNvSpPr>
            <a:spLocks noGrp="1"/>
          </p:cNvSpPr>
          <p:nvPr>
            <p:ph type="ftr" idx="11"/>
          </p:nvPr>
        </p:nvSpPr>
        <p:spPr/>
        <p:txBody>
          <a:bodyPr/>
          <a:lstStyle>
            <a:lvl1pPr>
              <a:defRPr/>
            </a:lvl1pPr>
          </a:lstStyle>
          <a:p>
            <a:pPr>
              <a:defRPr/>
            </a:pPr>
            <a:r>
              <a:rPr lang="en-US"/>
              <a:t>EECE 476 - Slide Set 8</a:t>
            </a:r>
            <a:endParaRPr lang="en-GB"/>
          </a:p>
        </p:txBody>
      </p:sp>
      <p:sp>
        <p:nvSpPr>
          <p:cNvPr id="7" name="Slide Number Placeholder 6"/>
          <p:cNvSpPr>
            <a:spLocks noGrp="1"/>
          </p:cNvSpPr>
          <p:nvPr>
            <p:ph type="sldNum" idx="12"/>
          </p:nvPr>
        </p:nvSpPr>
        <p:spPr/>
        <p:txBody>
          <a:bodyPr/>
          <a:lstStyle>
            <a:lvl1pPr>
              <a:defRPr>
                <a:latin typeface="Comic Sans MS" pitchFamily="66" charset="0"/>
              </a:defRPr>
            </a:lvl1pPr>
          </a:lstStyle>
          <a:p>
            <a:pPr>
              <a:defRPr/>
            </a:pPr>
            <a:fld id="{F36D9279-4ADB-4F7C-B491-543BD21B6915}" type="slidenum">
              <a:rPr lang="en-GB"/>
              <a:pPr>
                <a:defRPr/>
              </a:pPr>
              <a:t>‹#›</a:t>
            </a:fld>
            <a:r>
              <a:rPr lang="en-GB"/>
              <a:t>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idx="10"/>
          </p:nvPr>
        </p:nvSpPr>
        <p:spPr/>
        <p:txBody>
          <a:bodyPr/>
          <a:lstStyle>
            <a:lvl1pPr>
              <a:defRPr/>
            </a:lvl1pPr>
          </a:lstStyle>
          <a:p>
            <a:pPr>
              <a:defRPr/>
            </a:pPr>
            <a:r>
              <a:rPr lang="en-US"/>
              <a:t>Oct. 15, 2008</a:t>
            </a:r>
            <a:endParaRPr lang="en-GB"/>
          </a:p>
        </p:txBody>
      </p:sp>
      <p:sp>
        <p:nvSpPr>
          <p:cNvPr id="5" name="Footer Placeholder 4"/>
          <p:cNvSpPr>
            <a:spLocks noGrp="1"/>
          </p:cNvSpPr>
          <p:nvPr>
            <p:ph type="ftr" idx="11"/>
          </p:nvPr>
        </p:nvSpPr>
        <p:spPr/>
        <p:txBody>
          <a:bodyPr/>
          <a:lstStyle>
            <a:lvl1pPr>
              <a:defRPr/>
            </a:lvl1pPr>
          </a:lstStyle>
          <a:p>
            <a:pPr>
              <a:defRPr/>
            </a:pPr>
            <a:r>
              <a:rPr lang="en-US"/>
              <a:t>EECE 476 - Slide Set 8</a:t>
            </a:r>
            <a:endParaRPr lang="en-GB"/>
          </a:p>
        </p:txBody>
      </p:sp>
      <p:sp>
        <p:nvSpPr>
          <p:cNvPr id="6" name="Slide Number Placeholder 5"/>
          <p:cNvSpPr>
            <a:spLocks noGrp="1"/>
          </p:cNvSpPr>
          <p:nvPr>
            <p:ph type="sldNum" idx="12"/>
          </p:nvPr>
        </p:nvSpPr>
        <p:spPr/>
        <p:txBody>
          <a:bodyPr/>
          <a:lstStyle>
            <a:lvl1pPr>
              <a:defRPr>
                <a:latin typeface="Comic Sans MS" pitchFamily="66" charset="0"/>
              </a:defRPr>
            </a:lvl1pPr>
          </a:lstStyle>
          <a:p>
            <a:pPr>
              <a:defRPr/>
            </a:pPr>
            <a:fld id="{7ADDAB60-92AD-4B9C-AD9F-7601DB6A5157}" type="slidenum">
              <a:rPr lang="en-GB"/>
              <a:pPr>
                <a:defRPr/>
              </a:pPr>
              <a:t>‹#›</a:t>
            </a:fld>
            <a:r>
              <a:rPr lang="en-GB"/>
              <a:t> </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0338" y="-423863"/>
            <a:ext cx="1941512" cy="6619876"/>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685800" y="-423863"/>
            <a:ext cx="5672138" cy="6619876"/>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idx="10"/>
          </p:nvPr>
        </p:nvSpPr>
        <p:spPr/>
        <p:txBody>
          <a:bodyPr/>
          <a:lstStyle>
            <a:lvl1pPr>
              <a:defRPr/>
            </a:lvl1pPr>
          </a:lstStyle>
          <a:p>
            <a:pPr>
              <a:defRPr/>
            </a:pPr>
            <a:r>
              <a:rPr lang="en-US"/>
              <a:t>Oct. 15, 2008</a:t>
            </a:r>
            <a:endParaRPr lang="en-GB"/>
          </a:p>
        </p:txBody>
      </p:sp>
      <p:sp>
        <p:nvSpPr>
          <p:cNvPr id="5" name="Footer Placeholder 4"/>
          <p:cNvSpPr>
            <a:spLocks noGrp="1"/>
          </p:cNvSpPr>
          <p:nvPr>
            <p:ph type="ftr" idx="11"/>
          </p:nvPr>
        </p:nvSpPr>
        <p:spPr/>
        <p:txBody>
          <a:bodyPr/>
          <a:lstStyle>
            <a:lvl1pPr>
              <a:defRPr/>
            </a:lvl1pPr>
          </a:lstStyle>
          <a:p>
            <a:pPr>
              <a:defRPr/>
            </a:pPr>
            <a:r>
              <a:rPr lang="en-US"/>
              <a:t>EECE 476 - Slide Set 8</a:t>
            </a:r>
            <a:endParaRPr lang="en-GB"/>
          </a:p>
        </p:txBody>
      </p:sp>
      <p:sp>
        <p:nvSpPr>
          <p:cNvPr id="6" name="Slide Number Placeholder 5"/>
          <p:cNvSpPr>
            <a:spLocks noGrp="1"/>
          </p:cNvSpPr>
          <p:nvPr>
            <p:ph type="sldNum" idx="12"/>
          </p:nvPr>
        </p:nvSpPr>
        <p:spPr/>
        <p:txBody>
          <a:bodyPr/>
          <a:lstStyle>
            <a:lvl1pPr>
              <a:defRPr>
                <a:latin typeface="Comic Sans MS" pitchFamily="66" charset="0"/>
              </a:defRPr>
            </a:lvl1pPr>
          </a:lstStyle>
          <a:p>
            <a:pPr>
              <a:defRPr/>
            </a:pPr>
            <a:fld id="{26F350BF-855E-48A0-957D-216A06DE48EB}" type="slidenum">
              <a:rPr lang="en-GB"/>
              <a:pPr>
                <a:defRPr/>
              </a:pPr>
              <a:t>‹#›</a:t>
            </a:fld>
            <a:r>
              <a:rPr lang="en-GB"/>
              <a:t> </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685800" y="-423863"/>
            <a:ext cx="7766050" cy="1981201"/>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a:t>Click to edit Master title style</a:t>
            </a:r>
          </a:p>
        </p:txBody>
      </p:sp>
      <p:sp>
        <p:nvSpPr>
          <p:cNvPr id="1027" name="Rectangle 2"/>
          <p:cNvSpPr>
            <a:spLocks noGrp="1" noChangeArrowheads="1"/>
          </p:cNvSpPr>
          <p:nvPr>
            <p:ph type="body" idx="1"/>
          </p:nvPr>
        </p:nvSpPr>
        <p:spPr bwMode="auto">
          <a:xfrm>
            <a:off x="685800" y="1371600"/>
            <a:ext cx="7766050" cy="4824413"/>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Rectangle 3"/>
          <p:cNvSpPr>
            <a:spLocks noGrp="1" noChangeArrowheads="1"/>
          </p:cNvSpPr>
          <p:nvPr>
            <p:ph type="dt"/>
          </p:nvPr>
        </p:nvSpPr>
        <p:spPr bwMode="auto">
          <a:xfrm>
            <a:off x="685800" y="6248400"/>
            <a:ext cx="1898650" cy="554038"/>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nSpc>
                <a:spcPct val="100000"/>
              </a:lnSpc>
              <a:buFont typeface="Comic Sans MS" pitchFamily="66" charset="0"/>
              <a:buNone/>
              <a:defRPr sz="1400">
                <a:solidFill>
                  <a:srgbClr val="000000"/>
                </a:solidFill>
                <a:latin typeface="Arial  " charset="-52"/>
              </a:defRPr>
            </a:lvl1pPr>
          </a:lstStyle>
          <a:p>
            <a:pPr>
              <a:defRPr/>
            </a:pPr>
            <a:r>
              <a:rPr lang="en-US"/>
              <a:t>Oct. 15, 2008</a:t>
            </a:r>
            <a:endParaRPr lang="en-GB"/>
          </a:p>
        </p:txBody>
      </p:sp>
      <p:sp>
        <p:nvSpPr>
          <p:cNvPr id="1028" name="Rectangle 4"/>
          <p:cNvSpPr>
            <a:spLocks noGrp="1" noChangeArrowheads="1"/>
          </p:cNvSpPr>
          <p:nvPr>
            <p:ph type="ftr"/>
          </p:nvPr>
        </p:nvSpPr>
        <p:spPr bwMode="auto">
          <a:xfrm>
            <a:off x="2743200" y="6248400"/>
            <a:ext cx="3810000" cy="45085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a:lnSpc>
                <a:spcPct val="100000"/>
              </a:lnSpc>
              <a:buFont typeface="Comic Sans MS" pitchFamily="66" charset="0"/>
              <a:buNone/>
              <a:defRPr sz="1400">
                <a:solidFill>
                  <a:srgbClr val="000000"/>
                </a:solidFill>
                <a:latin typeface="Arial  " charset="-52"/>
              </a:defRPr>
            </a:lvl1pPr>
          </a:lstStyle>
          <a:p>
            <a:pPr>
              <a:defRPr/>
            </a:pPr>
            <a:r>
              <a:rPr lang="en-US"/>
              <a:t>EECE 476 - Slide Set 8</a:t>
            </a:r>
            <a:endParaRPr lang="en-GB"/>
          </a:p>
        </p:txBody>
      </p:sp>
      <p:sp>
        <p:nvSpPr>
          <p:cNvPr id="1029" name="Rectangle 5"/>
          <p:cNvSpPr>
            <a:spLocks noGrp="1" noChangeArrowheads="1"/>
          </p:cNvSpPr>
          <p:nvPr>
            <p:ph type="sldNum"/>
          </p:nvPr>
        </p:nvSpPr>
        <p:spPr bwMode="auto">
          <a:xfrm>
            <a:off x="6553200" y="6248400"/>
            <a:ext cx="1898650" cy="45085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a:lnSpc>
                <a:spcPct val="100000"/>
              </a:lnSpc>
              <a:buFont typeface="Comic Sans MS" pitchFamily="66" charset="0"/>
              <a:buNone/>
              <a:defRPr sz="1400">
                <a:solidFill>
                  <a:srgbClr val="000000"/>
                </a:solidFill>
                <a:latin typeface="Arial  " charset="-52"/>
              </a:defRPr>
            </a:lvl1pPr>
          </a:lstStyle>
          <a:p>
            <a:pPr>
              <a:defRPr/>
            </a:pPr>
            <a:fld id="{50BEFFA7-1A0F-4D91-AD62-0282E82A634F}" type="slidenum">
              <a:rPr lang="en-GB"/>
              <a:pPr>
                <a:defRPr/>
              </a:pPr>
              <a:t>‹#›</a:t>
            </a:fld>
            <a:r>
              <a:rPr lang="en-GB"/>
              <a:t> </a:t>
            </a:r>
          </a:p>
        </p:txBody>
      </p:sp>
    </p:spTree>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Lst>
  <p:hf hdr="0" ftr="0" dt="0"/>
  <p:txStyles>
    <p:titleStyle>
      <a:lvl1pPr algn="ctr" defTabSz="449263" rtl="0" eaLnBrk="0" fontAlgn="base" hangingPunct="0">
        <a:lnSpc>
          <a:spcPct val="180000"/>
        </a:lnSpc>
        <a:spcBef>
          <a:spcPct val="0"/>
        </a:spcBef>
        <a:spcAft>
          <a:spcPct val="0"/>
        </a:spcAft>
        <a:buClr>
          <a:srgbClr val="000000"/>
        </a:buClr>
        <a:buSzPct val="100000"/>
        <a:buFont typeface="Comic Sans MS" pitchFamily="66" charset="0"/>
        <a:defRPr sz="4000">
          <a:solidFill>
            <a:srgbClr val="000000"/>
          </a:solidFill>
          <a:latin typeface="Arial  "/>
          <a:ea typeface="+mj-ea"/>
          <a:cs typeface="Arial  "/>
        </a:defRPr>
      </a:lvl1pPr>
      <a:lvl2pPr algn="ctr" defTabSz="449263" rtl="0" eaLnBrk="0" fontAlgn="base" hangingPunct="0">
        <a:lnSpc>
          <a:spcPct val="180000"/>
        </a:lnSpc>
        <a:spcBef>
          <a:spcPct val="0"/>
        </a:spcBef>
        <a:spcAft>
          <a:spcPct val="0"/>
        </a:spcAft>
        <a:buClr>
          <a:srgbClr val="000000"/>
        </a:buClr>
        <a:buSzPct val="100000"/>
        <a:buFont typeface="Comic Sans MS" pitchFamily="66" charset="0"/>
        <a:defRPr sz="4000">
          <a:solidFill>
            <a:srgbClr val="000000"/>
          </a:solidFill>
          <a:latin typeface="Arial  " charset="-52"/>
          <a:ea typeface="ＭＳ Ｐゴシック" pitchFamily="-106" charset="-128"/>
          <a:cs typeface="Arial  " charset="-52"/>
        </a:defRPr>
      </a:lvl2pPr>
      <a:lvl3pPr algn="ctr" defTabSz="449263" rtl="0" eaLnBrk="0" fontAlgn="base" hangingPunct="0">
        <a:lnSpc>
          <a:spcPct val="180000"/>
        </a:lnSpc>
        <a:spcBef>
          <a:spcPct val="0"/>
        </a:spcBef>
        <a:spcAft>
          <a:spcPct val="0"/>
        </a:spcAft>
        <a:buClr>
          <a:srgbClr val="000000"/>
        </a:buClr>
        <a:buSzPct val="100000"/>
        <a:buFont typeface="Comic Sans MS" pitchFamily="66" charset="0"/>
        <a:defRPr sz="4000">
          <a:solidFill>
            <a:srgbClr val="000000"/>
          </a:solidFill>
          <a:latin typeface="Arial  " charset="-52"/>
          <a:ea typeface="ＭＳ Ｐゴシック" pitchFamily="-106" charset="-128"/>
          <a:cs typeface="Arial  " charset="-52"/>
        </a:defRPr>
      </a:lvl3pPr>
      <a:lvl4pPr algn="ctr" defTabSz="449263" rtl="0" eaLnBrk="0" fontAlgn="base" hangingPunct="0">
        <a:lnSpc>
          <a:spcPct val="180000"/>
        </a:lnSpc>
        <a:spcBef>
          <a:spcPct val="0"/>
        </a:spcBef>
        <a:spcAft>
          <a:spcPct val="0"/>
        </a:spcAft>
        <a:buClr>
          <a:srgbClr val="000000"/>
        </a:buClr>
        <a:buSzPct val="100000"/>
        <a:buFont typeface="Comic Sans MS" pitchFamily="66" charset="0"/>
        <a:defRPr sz="4000">
          <a:solidFill>
            <a:srgbClr val="000000"/>
          </a:solidFill>
          <a:latin typeface="Arial  " charset="-52"/>
          <a:ea typeface="ＭＳ Ｐゴシック" pitchFamily="-106" charset="-128"/>
          <a:cs typeface="Arial  " charset="-52"/>
        </a:defRPr>
      </a:lvl4pPr>
      <a:lvl5pPr algn="ctr" defTabSz="449263" rtl="0" eaLnBrk="0" fontAlgn="base" hangingPunct="0">
        <a:lnSpc>
          <a:spcPct val="180000"/>
        </a:lnSpc>
        <a:spcBef>
          <a:spcPct val="0"/>
        </a:spcBef>
        <a:spcAft>
          <a:spcPct val="0"/>
        </a:spcAft>
        <a:buClr>
          <a:srgbClr val="000000"/>
        </a:buClr>
        <a:buSzPct val="100000"/>
        <a:buFont typeface="Comic Sans MS" pitchFamily="66" charset="0"/>
        <a:defRPr sz="4000">
          <a:solidFill>
            <a:srgbClr val="000000"/>
          </a:solidFill>
          <a:latin typeface="Arial  " charset="-52"/>
          <a:ea typeface="ＭＳ Ｐゴシック" pitchFamily="-106" charset="-128"/>
          <a:cs typeface="Arial  " charset="-52"/>
        </a:defRPr>
      </a:lvl5pPr>
      <a:lvl6pPr marL="457200" algn="ctr" defTabSz="449263" rtl="0" fontAlgn="base">
        <a:lnSpc>
          <a:spcPct val="180000"/>
        </a:lnSpc>
        <a:spcBef>
          <a:spcPct val="0"/>
        </a:spcBef>
        <a:spcAft>
          <a:spcPct val="0"/>
        </a:spcAft>
        <a:buClr>
          <a:srgbClr val="000000"/>
        </a:buClr>
        <a:buSzPct val="100000"/>
        <a:buFont typeface="Comic Sans MS" pitchFamily="-106" charset="0"/>
        <a:defRPr sz="4000">
          <a:solidFill>
            <a:srgbClr val="000000"/>
          </a:solidFill>
          <a:latin typeface="Comic Sans MS" pitchFamily="-106" charset="0"/>
          <a:ea typeface="ＭＳ Ｐゴシック" pitchFamily="-106" charset="-128"/>
        </a:defRPr>
      </a:lvl6pPr>
      <a:lvl7pPr marL="914400" algn="ctr" defTabSz="449263" rtl="0" fontAlgn="base">
        <a:lnSpc>
          <a:spcPct val="180000"/>
        </a:lnSpc>
        <a:spcBef>
          <a:spcPct val="0"/>
        </a:spcBef>
        <a:spcAft>
          <a:spcPct val="0"/>
        </a:spcAft>
        <a:buClr>
          <a:srgbClr val="000000"/>
        </a:buClr>
        <a:buSzPct val="100000"/>
        <a:buFont typeface="Comic Sans MS" pitchFamily="-106" charset="0"/>
        <a:defRPr sz="4000">
          <a:solidFill>
            <a:srgbClr val="000000"/>
          </a:solidFill>
          <a:latin typeface="Comic Sans MS" pitchFamily="-106" charset="0"/>
          <a:ea typeface="ＭＳ Ｐゴシック" pitchFamily="-106" charset="-128"/>
        </a:defRPr>
      </a:lvl7pPr>
      <a:lvl8pPr marL="1371600" algn="ctr" defTabSz="449263" rtl="0" fontAlgn="base">
        <a:lnSpc>
          <a:spcPct val="180000"/>
        </a:lnSpc>
        <a:spcBef>
          <a:spcPct val="0"/>
        </a:spcBef>
        <a:spcAft>
          <a:spcPct val="0"/>
        </a:spcAft>
        <a:buClr>
          <a:srgbClr val="000000"/>
        </a:buClr>
        <a:buSzPct val="100000"/>
        <a:buFont typeface="Comic Sans MS" pitchFamily="-106" charset="0"/>
        <a:defRPr sz="4000">
          <a:solidFill>
            <a:srgbClr val="000000"/>
          </a:solidFill>
          <a:latin typeface="Comic Sans MS" pitchFamily="-106" charset="0"/>
          <a:ea typeface="ＭＳ Ｐゴシック" pitchFamily="-106" charset="-128"/>
        </a:defRPr>
      </a:lvl8pPr>
      <a:lvl9pPr marL="1828800" algn="ctr" defTabSz="449263" rtl="0" fontAlgn="base">
        <a:lnSpc>
          <a:spcPct val="180000"/>
        </a:lnSpc>
        <a:spcBef>
          <a:spcPct val="0"/>
        </a:spcBef>
        <a:spcAft>
          <a:spcPct val="0"/>
        </a:spcAft>
        <a:buClr>
          <a:srgbClr val="000000"/>
        </a:buClr>
        <a:buSzPct val="100000"/>
        <a:buFont typeface="Comic Sans MS" pitchFamily="-106" charset="0"/>
        <a:defRPr sz="4000">
          <a:solidFill>
            <a:srgbClr val="000000"/>
          </a:solidFill>
          <a:latin typeface="Comic Sans MS" pitchFamily="-106" charset="0"/>
          <a:ea typeface="ＭＳ Ｐゴシック" pitchFamily="-106" charset="-128"/>
        </a:defRPr>
      </a:lvl9pPr>
    </p:titleStyle>
    <p:bodyStyle>
      <a:lvl1pPr marL="336550" indent="-336550" algn="l" defTabSz="449263" rtl="0" eaLnBrk="0" fontAlgn="base" hangingPunct="0">
        <a:lnSpc>
          <a:spcPct val="180000"/>
        </a:lnSpc>
        <a:spcBef>
          <a:spcPts val="700"/>
        </a:spcBef>
        <a:spcAft>
          <a:spcPct val="0"/>
        </a:spcAft>
        <a:buClr>
          <a:srgbClr val="000000"/>
        </a:buClr>
        <a:buSzPct val="100000"/>
        <a:buFont typeface="Comic Sans MS" pitchFamily="66" charset="0"/>
        <a:buChar char="•"/>
        <a:defRPr sz="2800">
          <a:solidFill>
            <a:srgbClr val="000000"/>
          </a:solidFill>
          <a:latin typeface="Arial  "/>
          <a:ea typeface="+mn-ea"/>
          <a:cs typeface="Arial  "/>
        </a:defRPr>
      </a:lvl1pPr>
      <a:lvl2pPr marL="736600" indent="-279400" algn="l" defTabSz="449263" rtl="0" eaLnBrk="0" fontAlgn="base" hangingPunct="0">
        <a:lnSpc>
          <a:spcPct val="180000"/>
        </a:lnSpc>
        <a:spcBef>
          <a:spcPts val="600"/>
        </a:spcBef>
        <a:spcAft>
          <a:spcPct val="0"/>
        </a:spcAft>
        <a:buClr>
          <a:srgbClr val="000000"/>
        </a:buClr>
        <a:buSzPct val="100000"/>
        <a:buFont typeface="Comic Sans MS" pitchFamily="66" charset="0"/>
        <a:buChar char="–"/>
        <a:defRPr sz="2400">
          <a:solidFill>
            <a:srgbClr val="000000"/>
          </a:solidFill>
          <a:latin typeface="Arial  "/>
          <a:ea typeface="+mn-ea"/>
          <a:cs typeface="Arial  "/>
        </a:defRPr>
      </a:lvl2pPr>
      <a:lvl3pPr marL="1143000" indent="-228600" algn="l" defTabSz="449263" rtl="0" eaLnBrk="0" fontAlgn="base" hangingPunct="0">
        <a:lnSpc>
          <a:spcPct val="180000"/>
        </a:lnSpc>
        <a:spcBef>
          <a:spcPts val="500"/>
        </a:spcBef>
        <a:spcAft>
          <a:spcPct val="0"/>
        </a:spcAft>
        <a:buClr>
          <a:srgbClr val="000000"/>
        </a:buClr>
        <a:buSzPct val="100000"/>
        <a:buFont typeface="Comic Sans MS" pitchFamily="66" charset="0"/>
        <a:buChar char="•"/>
        <a:defRPr sz="2000">
          <a:solidFill>
            <a:srgbClr val="000000"/>
          </a:solidFill>
          <a:latin typeface="Arial  "/>
          <a:ea typeface="+mn-ea"/>
          <a:cs typeface="Arial  "/>
        </a:defRPr>
      </a:lvl3pPr>
      <a:lvl4pPr marL="1600200" indent="-228600" algn="l" defTabSz="449263" rtl="0" eaLnBrk="0" fontAlgn="base" hangingPunct="0">
        <a:lnSpc>
          <a:spcPct val="180000"/>
        </a:lnSpc>
        <a:spcBef>
          <a:spcPts val="450"/>
        </a:spcBef>
        <a:spcAft>
          <a:spcPct val="0"/>
        </a:spcAft>
        <a:buClr>
          <a:srgbClr val="000000"/>
        </a:buClr>
        <a:buSzPct val="100000"/>
        <a:buFont typeface="Comic Sans MS" pitchFamily="66" charset="0"/>
        <a:buChar char="–"/>
        <a:defRPr>
          <a:solidFill>
            <a:srgbClr val="000000"/>
          </a:solidFill>
          <a:latin typeface="Arial  "/>
          <a:ea typeface="+mn-ea"/>
          <a:cs typeface="Arial  "/>
        </a:defRPr>
      </a:lvl4pPr>
      <a:lvl5pPr marL="2057400" indent="-228600" algn="l" defTabSz="449263" rtl="0" eaLnBrk="0" fontAlgn="base" hangingPunct="0">
        <a:lnSpc>
          <a:spcPct val="180000"/>
        </a:lnSpc>
        <a:spcBef>
          <a:spcPts val="450"/>
        </a:spcBef>
        <a:spcAft>
          <a:spcPct val="0"/>
        </a:spcAft>
        <a:buClr>
          <a:srgbClr val="000000"/>
        </a:buClr>
        <a:buSzPct val="100000"/>
        <a:buFont typeface="Comic Sans MS" pitchFamily="66" charset="0"/>
        <a:buChar char="»"/>
        <a:defRPr>
          <a:solidFill>
            <a:srgbClr val="000000"/>
          </a:solidFill>
          <a:latin typeface="Arial  "/>
          <a:ea typeface="+mn-ea"/>
          <a:cs typeface="Arial  "/>
        </a:defRPr>
      </a:lvl5pPr>
      <a:lvl6pPr marL="2514600" indent="-228600" algn="l" defTabSz="449263" rtl="0" fontAlgn="base">
        <a:lnSpc>
          <a:spcPct val="180000"/>
        </a:lnSpc>
        <a:spcBef>
          <a:spcPts val="450"/>
        </a:spcBef>
        <a:spcAft>
          <a:spcPct val="0"/>
        </a:spcAft>
        <a:buClr>
          <a:srgbClr val="000000"/>
        </a:buClr>
        <a:buSzPct val="100000"/>
        <a:buFont typeface="Comic Sans MS" pitchFamily="-106" charset="0"/>
        <a:buChar char="»"/>
        <a:defRPr>
          <a:solidFill>
            <a:srgbClr val="000000"/>
          </a:solidFill>
          <a:latin typeface="+mn-lt"/>
          <a:ea typeface="+mn-ea"/>
        </a:defRPr>
      </a:lvl6pPr>
      <a:lvl7pPr marL="2971800" indent="-228600" algn="l" defTabSz="449263" rtl="0" fontAlgn="base">
        <a:lnSpc>
          <a:spcPct val="180000"/>
        </a:lnSpc>
        <a:spcBef>
          <a:spcPts val="450"/>
        </a:spcBef>
        <a:spcAft>
          <a:spcPct val="0"/>
        </a:spcAft>
        <a:buClr>
          <a:srgbClr val="000000"/>
        </a:buClr>
        <a:buSzPct val="100000"/>
        <a:buFont typeface="Comic Sans MS" pitchFamily="-106" charset="0"/>
        <a:buChar char="»"/>
        <a:defRPr>
          <a:solidFill>
            <a:srgbClr val="000000"/>
          </a:solidFill>
          <a:latin typeface="+mn-lt"/>
          <a:ea typeface="+mn-ea"/>
        </a:defRPr>
      </a:lvl7pPr>
      <a:lvl8pPr marL="3429000" indent="-228600" algn="l" defTabSz="449263" rtl="0" fontAlgn="base">
        <a:lnSpc>
          <a:spcPct val="180000"/>
        </a:lnSpc>
        <a:spcBef>
          <a:spcPts val="450"/>
        </a:spcBef>
        <a:spcAft>
          <a:spcPct val="0"/>
        </a:spcAft>
        <a:buClr>
          <a:srgbClr val="000000"/>
        </a:buClr>
        <a:buSzPct val="100000"/>
        <a:buFont typeface="Comic Sans MS" pitchFamily="-106" charset="0"/>
        <a:buChar char="»"/>
        <a:defRPr>
          <a:solidFill>
            <a:srgbClr val="000000"/>
          </a:solidFill>
          <a:latin typeface="+mn-lt"/>
          <a:ea typeface="+mn-ea"/>
        </a:defRPr>
      </a:lvl8pPr>
      <a:lvl9pPr marL="3886200" indent="-228600" algn="l" defTabSz="449263" rtl="0" fontAlgn="base">
        <a:lnSpc>
          <a:spcPct val="180000"/>
        </a:lnSpc>
        <a:spcBef>
          <a:spcPts val="450"/>
        </a:spcBef>
        <a:spcAft>
          <a:spcPct val="0"/>
        </a:spcAft>
        <a:buClr>
          <a:srgbClr val="000000"/>
        </a:buClr>
        <a:buSzPct val="100000"/>
        <a:buFont typeface="Comic Sans MS" pitchFamily="-106" charset="0"/>
        <a:buChar char="»"/>
        <a:defRPr>
          <a:solidFill>
            <a:srgbClr val="000000"/>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descr="thm_IBM_PPC_604_anatomy.jpg"/>
          <p:cNvPicPr>
            <a:picLocks noChangeAspect="1"/>
          </p:cNvPicPr>
          <p:nvPr/>
        </p:nvPicPr>
        <p:blipFill>
          <a:blip r:embed="rId3"/>
          <a:srcRect/>
          <a:stretch>
            <a:fillRect/>
          </a:stretch>
        </p:blipFill>
        <p:spPr bwMode="auto">
          <a:xfrm>
            <a:off x="-4473575" y="-5022850"/>
            <a:ext cx="17532350" cy="17532350"/>
          </a:xfrm>
          <a:prstGeom prst="rect">
            <a:avLst/>
          </a:prstGeom>
          <a:noFill/>
          <a:ln w="9525">
            <a:noFill/>
            <a:miter lim="800000"/>
            <a:headEnd/>
            <a:tailEnd/>
          </a:ln>
        </p:spPr>
      </p:pic>
      <p:sp>
        <p:nvSpPr>
          <p:cNvPr id="13315" name="Rectangle 5"/>
          <p:cNvSpPr>
            <a:spLocks noChangeArrowheads="1"/>
          </p:cNvSpPr>
          <p:nvPr/>
        </p:nvSpPr>
        <p:spPr bwMode="auto">
          <a:xfrm>
            <a:off x="1077963" y="1273175"/>
            <a:ext cx="7012090" cy="3902674"/>
          </a:xfrm>
          <a:prstGeom prst="rect">
            <a:avLst/>
          </a:prstGeom>
          <a:solidFill>
            <a:schemeClr val="bg1">
              <a:alpha val="78038"/>
            </a:schemeClr>
          </a:solidFill>
          <a:ln w="9525" algn="ctr">
            <a:solidFill>
              <a:schemeClr val="tx1"/>
            </a:solidFill>
            <a:round/>
            <a:headEnd/>
            <a:tailEnd/>
          </a:ln>
        </p:spPr>
        <p:txBody>
          <a:bodyPr/>
          <a:lstStyle/>
          <a:p>
            <a:endParaRPr lang="en-CA"/>
          </a:p>
        </p:txBody>
      </p:sp>
      <p:sp>
        <p:nvSpPr>
          <p:cNvPr id="13316" name="Title 1"/>
          <p:cNvSpPr>
            <a:spLocks noGrp="1"/>
          </p:cNvSpPr>
          <p:nvPr>
            <p:ph type="ctrTitle"/>
          </p:nvPr>
        </p:nvSpPr>
        <p:spPr>
          <a:xfrm>
            <a:off x="0" y="990600"/>
            <a:ext cx="9144000" cy="2704070"/>
          </a:xfrm>
        </p:spPr>
        <p:txBody>
          <a:bodyPr/>
          <a:lstStyle/>
          <a:p>
            <a:pPr>
              <a:lnSpc>
                <a:spcPct val="100000"/>
              </a:lnSpc>
            </a:pPr>
            <a:r>
              <a:rPr lang="en-US" sz="3200" dirty="0">
                <a:solidFill>
                  <a:schemeClr val="accent2"/>
                </a:solidFill>
                <a:latin typeface="Arial  " charset="0"/>
                <a:cs typeface="Arial  " charset="0"/>
              </a:rPr>
              <a:t>CPEN 411: Computer Architecture</a:t>
            </a:r>
            <a:br>
              <a:rPr lang="en-US" sz="2400" dirty="0">
                <a:solidFill>
                  <a:schemeClr val="accent2"/>
                </a:solidFill>
                <a:latin typeface="Arial  " charset="0"/>
                <a:cs typeface="Arial  " charset="0"/>
              </a:rPr>
            </a:br>
            <a:br>
              <a:rPr lang="en-US" dirty="0">
                <a:solidFill>
                  <a:schemeClr val="accent2"/>
                </a:solidFill>
                <a:latin typeface="Arial  " charset="0"/>
                <a:cs typeface="Arial  " charset="0"/>
              </a:rPr>
            </a:br>
            <a:r>
              <a:rPr lang="en-US" sz="2800" dirty="0">
                <a:solidFill>
                  <a:schemeClr val="accent2"/>
                </a:solidFill>
                <a:latin typeface="Arial  " charset="0"/>
                <a:cs typeface="Arial  " charset="0"/>
              </a:rPr>
              <a:t>Slide Set #14: Reorder Buffer, Exceptions,</a:t>
            </a:r>
            <a:br>
              <a:rPr lang="en-US" sz="2800" dirty="0">
                <a:solidFill>
                  <a:schemeClr val="accent2"/>
                </a:solidFill>
                <a:latin typeface="Arial  " charset="0"/>
                <a:cs typeface="Arial  " charset="0"/>
              </a:rPr>
            </a:br>
            <a:r>
              <a:rPr lang="en-US" sz="2800" dirty="0">
                <a:solidFill>
                  <a:schemeClr val="accent2"/>
                </a:solidFill>
                <a:latin typeface="Arial  " charset="0"/>
                <a:cs typeface="Arial  " charset="0"/>
              </a:rPr>
              <a:t>Multiple Instruction Issue</a:t>
            </a:r>
          </a:p>
        </p:txBody>
      </p:sp>
      <p:sp>
        <p:nvSpPr>
          <p:cNvPr id="13317" name="Subtitle 2"/>
          <p:cNvSpPr>
            <a:spLocks noGrp="1"/>
          </p:cNvSpPr>
          <p:nvPr>
            <p:ph type="subTitle" idx="1"/>
          </p:nvPr>
        </p:nvSpPr>
        <p:spPr>
          <a:xfrm>
            <a:off x="1371600" y="4086225"/>
            <a:ext cx="6400800" cy="1143000"/>
          </a:xfrm>
        </p:spPr>
        <p:txBody>
          <a:bodyPr/>
          <a:lstStyle/>
          <a:p>
            <a:pPr>
              <a:lnSpc>
                <a:spcPct val="100000"/>
              </a:lnSpc>
            </a:pPr>
            <a:r>
              <a:rPr lang="en-US" dirty="0">
                <a:solidFill>
                  <a:schemeClr val="accent2"/>
                </a:solidFill>
                <a:latin typeface="Arial  " charset="0"/>
                <a:cs typeface="Arial  " charset="0"/>
              </a:rPr>
              <a:t>Tor Aamodt</a:t>
            </a:r>
          </a:p>
          <a:p>
            <a:pPr>
              <a:lnSpc>
                <a:spcPct val="100000"/>
              </a:lnSpc>
            </a:pPr>
            <a:r>
              <a:rPr lang="en-US" dirty="0">
                <a:solidFill>
                  <a:schemeClr val="accent2"/>
                </a:solidFill>
                <a:latin typeface="Arial  " charset="0"/>
                <a:cs typeface="Arial  " charset="0"/>
              </a:rPr>
              <a:t>aamodt@ece.ubc.ca</a:t>
            </a:r>
          </a:p>
        </p:txBody>
      </p:sp>
      <p:sp>
        <p:nvSpPr>
          <p:cNvPr id="13318" name="Slide Number Placeholder 5"/>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82F10C1-A336-4E91-B291-44270B3700B6}"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a:t>
            </a:fld>
            <a:r>
              <a:rPr lang="en-GB"/>
              <a:t> </a:t>
            </a:r>
          </a:p>
        </p:txBody>
      </p:sp>
      <p:sp>
        <p:nvSpPr>
          <p:cNvPr id="13319" name="TextBox 6"/>
          <p:cNvSpPr txBox="1">
            <a:spLocks noChangeArrowheads="1"/>
          </p:cNvSpPr>
          <p:nvPr/>
        </p:nvSpPr>
        <p:spPr bwMode="auto">
          <a:xfrm>
            <a:off x="1619250" y="5400675"/>
            <a:ext cx="5678488" cy="231775"/>
          </a:xfrm>
          <a:prstGeom prst="rect">
            <a:avLst/>
          </a:prstGeom>
          <a:solidFill>
            <a:srgbClr val="FFFFFF">
              <a:alpha val="61960"/>
            </a:srgbClr>
          </a:solidFill>
          <a:ln w="9525">
            <a:noFill/>
            <a:miter lim="800000"/>
            <a:headEnd/>
            <a:tailEnd/>
          </a:ln>
        </p:spPr>
        <p:txBody>
          <a:bodyPr>
            <a:spAutoFit/>
          </a:bodyPr>
          <a:lstStyle/>
          <a:p>
            <a:r>
              <a:rPr lang="en-CA" sz="1200">
                <a:solidFill>
                  <a:schemeClr val="accent2"/>
                </a:solidFill>
              </a:rPr>
              <a:t>Background: PowerPC 604, one of the first microprocessors with a reorder buffer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65A85-331D-3C97-1610-0F74763EC4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5A9EB4-5B85-BBC0-0605-177AB9DB538C}"/>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2E5279F-BD47-3A6A-89C0-BDD8C5762500}"/>
              </a:ext>
            </a:extLst>
          </p:cNvPr>
          <p:cNvSpPr>
            <a:spLocks noGrp="1"/>
          </p:cNvSpPr>
          <p:nvPr>
            <p:ph type="sldNum" sz="quarter" idx="12"/>
          </p:nvPr>
        </p:nvSpPr>
        <p:spPr/>
        <p:txBody>
          <a:bodyPr/>
          <a:lstStyle/>
          <a:p>
            <a:pPr>
              <a:defRPr/>
            </a:pPr>
            <a:fld id="{DC33FC64-B10B-44E9-B461-0CAF92012731}" type="slidenum">
              <a:rPr lang="en-US" smtClean="0"/>
              <a:pPr>
                <a:defRPr/>
              </a:pPr>
              <a:t>2</a:t>
            </a:fld>
            <a:r>
              <a:rPr lang="en-US"/>
              <a:t> </a:t>
            </a:r>
          </a:p>
        </p:txBody>
      </p:sp>
      <p:pic>
        <p:nvPicPr>
          <p:cNvPr id="5" name="Picture 4">
            <a:extLst>
              <a:ext uri="{FF2B5EF4-FFF2-40B4-BE49-F238E27FC236}">
                <a16:creationId xmlns:a16="http://schemas.microsoft.com/office/drawing/2014/main" id="{8887BF4E-0B5D-0243-A1DB-95A810524F49}"/>
              </a:ext>
            </a:extLst>
          </p:cNvPr>
          <p:cNvPicPr>
            <a:picLocks noChangeAspect="1"/>
          </p:cNvPicPr>
          <p:nvPr/>
        </p:nvPicPr>
        <p:blipFill>
          <a:blip r:embed="rId2"/>
          <a:stretch>
            <a:fillRect/>
          </a:stretch>
        </p:blipFill>
        <p:spPr>
          <a:xfrm>
            <a:off x="685800" y="297673"/>
            <a:ext cx="7772400" cy="6262653"/>
          </a:xfrm>
          <a:prstGeom prst="rect">
            <a:avLst/>
          </a:prstGeom>
        </p:spPr>
      </p:pic>
    </p:spTree>
    <p:extLst>
      <p:ext uri="{BB962C8B-B14F-4D97-AF65-F5344CB8AC3E}">
        <p14:creationId xmlns:p14="http://schemas.microsoft.com/office/powerpoint/2010/main" val="718741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85800" y="-423863"/>
            <a:ext cx="7766050" cy="1573394"/>
          </a:xfrm>
        </p:spPr>
        <p:txBody>
          <a:bodyPr/>
          <a:lstStyle/>
          <a:p>
            <a:r>
              <a:rPr lang="en-CA" dirty="0">
                <a:latin typeface="Arial  " charset="0"/>
                <a:cs typeface="Arial  " charset="0"/>
              </a:rPr>
              <a:t>Introduction to Slide Set 14</a:t>
            </a:r>
          </a:p>
        </p:txBody>
      </p:sp>
      <p:sp>
        <p:nvSpPr>
          <p:cNvPr id="14339" name="Content Placeholder 2"/>
          <p:cNvSpPr>
            <a:spLocks noGrp="1"/>
          </p:cNvSpPr>
          <p:nvPr>
            <p:ph idx="1"/>
          </p:nvPr>
        </p:nvSpPr>
        <p:spPr>
          <a:xfrm>
            <a:off x="685800" y="1065124"/>
            <a:ext cx="7766050" cy="5609995"/>
          </a:xfrm>
        </p:spPr>
        <p:txBody>
          <a:bodyPr/>
          <a:lstStyle/>
          <a:p>
            <a:pPr>
              <a:spcBef>
                <a:spcPct val="0"/>
              </a:spcBef>
            </a:pPr>
            <a:r>
              <a:rPr lang="en-CA" sz="2000" dirty="0">
                <a:latin typeface="Arial  " charset="0"/>
                <a:cs typeface="Arial  " charset="0"/>
              </a:rPr>
              <a:t>Out-of-order execution with </a:t>
            </a:r>
            <a:r>
              <a:rPr lang="en-CA" sz="2000" dirty="0" err="1">
                <a:latin typeface="Arial  " charset="0"/>
                <a:cs typeface="Arial  " charset="0"/>
              </a:rPr>
              <a:t>Tomasulo’s</a:t>
            </a:r>
            <a:r>
              <a:rPr lang="en-CA" sz="2000" dirty="0">
                <a:latin typeface="Arial  " charset="0"/>
                <a:cs typeface="Arial  " charset="0"/>
              </a:rPr>
              <a:t> algorithm allows an instruction to execute when its source operands are available. Branch prediction enables us to </a:t>
            </a:r>
            <a:r>
              <a:rPr lang="en-CA" sz="2000" u="sng" dirty="0">
                <a:latin typeface="Arial  " charset="0"/>
                <a:cs typeface="Arial  " charset="0"/>
              </a:rPr>
              <a:t>fetch</a:t>
            </a:r>
            <a:r>
              <a:rPr lang="en-CA" sz="2000" dirty="0">
                <a:latin typeface="Arial  " charset="0"/>
                <a:cs typeface="Arial  " charset="0"/>
              </a:rPr>
              <a:t> and </a:t>
            </a:r>
            <a:r>
              <a:rPr lang="en-CA" sz="2000" u="sng" dirty="0">
                <a:latin typeface="Arial  " charset="0"/>
                <a:cs typeface="Arial  " charset="0"/>
              </a:rPr>
              <a:t>decode</a:t>
            </a:r>
            <a:r>
              <a:rPr lang="en-CA" sz="2000" dirty="0">
                <a:latin typeface="Arial  " charset="0"/>
                <a:cs typeface="Arial  " charset="0"/>
              </a:rPr>
              <a:t> instructions after a branch before that branch is “resolved”.</a:t>
            </a:r>
          </a:p>
          <a:p>
            <a:pPr>
              <a:spcBef>
                <a:spcPct val="0"/>
              </a:spcBef>
            </a:pPr>
            <a:endParaRPr lang="en-CA" sz="2000" dirty="0">
              <a:latin typeface="Arial  " charset="0"/>
              <a:cs typeface="Arial  " charset="0"/>
            </a:endParaRPr>
          </a:p>
          <a:p>
            <a:pPr>
              <a:spcBef>
                <a:spcPct val="0"/>
              </a:spcBef>
            </a:pPr>
            <a:r>
              <a:rPr lang="en-CA" sz="2000" dirty="0">
                <a:latin typeface="Arial  " charset="0"/>
                <a:cs typeface="Arial  " charset="0"/>
              </a:rPr>
              <a:t>To increase performance (reduce CPI) we would like to start executing the instructions fetched and decoded following the predicted branch *before* that branch is resolved. However, we have a problem: out-of-order execution (e.g., using </a:t>
            </a:r>
            <a:r>
              <a:rPr lang="en-CA" sz="2000" dirty="0" err="1">
                <a:latin typeface="Arial  " charset="0"/>
                <a:cs typeface="Arial  " charset="0"/>
              </a:rPr>
              <a:t>Tomasulo’s</a:t>
            </a:r>
            <a:r>
              <a:rPr lang="en-CA" sz="2000" dirty="0">
                <a:latin typeface="Arial  " charset="0"/>
                <a:cs typeface="Arial  " charset="0"/>
              </a:rPr>
              <a:t> algorithm) allows an instruction to update the register file </a:t>
            </a:r>
            <a:r>
              <a:rPr lang="en-CA" sz="2000" u="sng" dirty="0">
                <a:latin typeface="Arial  " charset="0"/>
                <a:cs typeface="Arial  " charset="0"/>
              </a:rPr>
              <a:t>before</a:t>
            </a:r>
            <a:r>
              <a:rPr lang="en-CA" sz="2000" dirty="0">
                <a:latin typeface="Arial  " charset="0"/>
                <a:cs typeface="Arial  " charset="0"/>
              </a:rPr>
              <a:t> the branch is “resolved”.  </a:t>
            </a:r>
          </a:p>
          <a:p>
            <a:pPr>
              <a:spcBef>
                <a:spcPct val="0"/>
              </a:spcBef>
            </a:pPr>
            <a:endParaRPr lang="en-CA" sz="2000" dirty="0">
              <a:latin typeface="Arial  " charset="0"/>
              <a:cs typeface="Arial  " charset="0"/>
            </a:endParaRPr>
          </a:p>
          <a:p>
            <a:pPr>
              <a:spcBef>
                <a:spcPct val="0"/>
              </a:spcBef>
            </a:pPr>
            <a:r>
              <a:rPr lang="en-CA" sz="2000" dirty="0">
                <a:latin typeface="Arial  " charset="0"/>
                <a:cs typeface="Arial  " charset="0"/>
              </a:rPr>
              <a:t>An elegant solution is a hardware structure known as the “re-order buffer”.  One reason for calling it an “elegant solution” is it also enables “virtual memory” by supporting an execution model known as “precise exceptions”.</a:t>
            </a:r>
          </a:p>
          <a:p>
            <a:pPr>
              <a:spcBef>
                <a:spcPct val="0"/>
              </a:spcBef>
            </a:pPr>
            <a:endParaRPr lang="en-CA" sz="2000" dirty="0">
              <a:latin typeface="Arial  " charset="0"/>
              <a:cs typeface="Arial  " charset="0"/>
            </a:endParaRPr>
          </a:p>
        </p:txBody>
      </p:sp>
      <p:sp>
        <p:nvSpPr>
          <p:cNvPr id="14340" name="Slide Number Placeholder 5"/>
          <p:cNvSpPr>
            <a:spLocks noGrp="1"/>
          </p:cNvSpPr>
          <p:nvPr>
            <p:ph type="sldNum" sz="quarter" idx="12"/>
          </p:nvPr>
        </p:nvSpPr>
        <p:spPr>
          <a:xfrm>
            <a:off x="8751933" y="6407150"/>
            <a:ext cx="392067" cy="450850"/>
          </a:xfrm>
          <a:noFill/>
        </p:spPr>
        <p:txBody>
          <a:bodyPr/>
          <a:lstStyle/>
          <a:p>
            <a:fld id="{4EBF3691-7478-4A87-89B8-C1FDB4B7A1C1}" type="slidenum">
              <a:rPr lang="en-GB" smtClean="0"/>
              <a:pPr/>
              <a:t>3</a:t>
            </a:fld>
            <a:r>
              <a:rPr lang="en-GB"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a:xfrm>
            <a:off x="685800" y="0"/>
            <a:ext cx="7772400" cy="1143000"/>
          </a:xfrm>
        </p:spPr>
        <p:txBody>
          <a:bodyPr/>
          <a:lstStyle/>
          <a:p>
            <a:pPr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 charset="0"/>
                <a:cs typeface="Arial  " charset="0"/>
              </a:rPr>
              <a:t>Learning Objectives</a:t>
            </a:r>
          </a:p>
        </p:txBody>
      </p:sp>
      <p:sp>
        <p:nvSpPr>
          <p:cNvPr id="16387" name="Rectangle 2"/>
          <p:cNvSpPr>
            <a:spLocks noGrp="1" noChangeArrowheads="1"/>
          </p:cNvSpPr>
          <p:nvPr>
            <p:ph type="body" idx="1"/>
          </p:nvPr>
        </p:nvSpPr>
        <p:spPr>
          <a:xfrm>
            <a:off x="685800" y="1274763"/>
            <a:ext cx="7772400" cy="4821237"/>
          </a:xfrm>
        </p:spPr>
        <p:txBody>
          <a:bodyPr/>
          <a:lstStyle/>
          <a:p>
            <a:pPr eaLnBrk="1" hangingPunct="1">
              <a:buFont typeface="Comic Sans MS"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After we finish this set of slides you should be able to:</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Explain the motivation for using a reorder buffer and how a reorder buffer operates.</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Define multiple instruction issue and explain the motivation for using it.</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List two approaches to achieving multiple instruction issue</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Evaluate the timing of a processor using multiple issue and </a:t>
            </a:r>
            <a:r>
              <a:rPr lang="en-GB" sz="1800" dirty="0" err="1">
                <a:latin typeface="Arial  " charset="0"/>
                <a:cs typeface="Arial  " charset="0"/>
              </a:rPr>
              <a:t>Tomasulo’s</a:t>
            </a:r>
            <a:r>
              <a:rPr lang="en-GB" sz="1800" dirty="0">
                <a:latin typeface="Arial  " charset="0"/>
                <a:cs typeface="Arial  " charset="0"/>
              </a:rPr>
              <a:t> algorithm.</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Evaluate the timing of a processor using multiple issue, </a:t>
            </a:r>
            <a:r>
              <a:rPr lang="en-GB" sz="1800" dirty="0" err="1">
                <a:latin typeface="Arial  " charset="0"/>
                <a:cs typeface="Arial  " charset="0"/>
              </a:rPr>
              <a:t>Tomasulo’s</a:t>
            </a:r>
            <a:r>
              <a:rPr lang="en-GB" sz="1800" dirty="0">
                <a:latin typeface="Arial  " charset="0"/>
                <a:cs typeface="Arial  " charset="0"/>
              </a:rPr>
              <a:t> algorithm and a reorder buffer.</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Define what an exception is and list several categories of exceptions.</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Explain what is meant by a precise exception.</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Explain how the reorder buffer supports precise exceptions.</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sz="1800" dirty="0">
              <a:latin typeface="Arial  " charset="0"/>
              <a:cs typeface="Arial  " charset="0"/>
            </a:endParaRP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sz="1800" dirty="0">
              <a:latin typeface="Arial  " charset="0"/>
              <a:cs typeface="Arial  " charset="0"/>
            </a:endParaRPr>
          </a:p>
          <a:p>
            <a:pPr eaLnBrk="1" hangingPunct="1">
              <a:buFont typeface="Comic Sans MS"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sz="1800" dirty="0">
              <a:latin typeface="Arial  " charset="0"/>
              <a:cs typeface="Arial  " charset="0"/>
            </a:endParaRPr>
          </a:p>
        </p:txBody>
      </p:sp>
      <p:sp>
        <p:nvSpPr>
          <p:cNvPr id="16388" name="Slide Number Placeholder 7"/>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7992BF0-675F-43B6-9DCB-3C39C1D137F9}"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a:t>
            </a:fld>
            <a:r>
              <a:rPr lang="en-GB"/>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a:xfrm>
            <a:off x="378820" y="698511"/>
            <a:ext cx="8765179" cy="5617030"/>
          </a:xfrm>
        </p:spPr>
        <p:txBody>
          <a:bodyPr lIns="0" rIns="0"/>
          <a:lstStyle/>
          <a:p>
            <a:pPr marL="0" indent="0">
              <a:buFontTx/>
              <a:buNone/>
            </a:pPr>
            <a:r>
              <a:rPr lang="en-US" sz="2000" dirty="0">
                <a:latin typeface="Consolas" panose="020B0609020204030204" pitchFamily="49" charset="0"/>
                <a:cs typeface="Consolas" panose="020B0609020204030204" pitchFamily="49" charset="0"/>
              </a:rPr>
              <a:t>		 DIVD	R3,R1,R2	    </a:t>
            </a:r>
            <a:r>
              <a:rPr lang="en-US" sz="2000" dirty="0">
                <a:solidFill>
                  <a:schemeClr val="accent5">
                    <a:lumMod val="50000"/>
                  </a:schemeClr>
                </a:solidFill>
                <a:latin typeface="Consolas" panose="020B0609020204030204" pitchFamily="49" charset="0"/>
                <a:cs typeface="Consolas" panose="020B0609020204030204" pitchFamily="49" charset="0"/>
              </a:rPr>
              <a:t>; F:1, D:2, I:3, X:4, W:104</a:t>
            </a:r>
          </a:p>
          <a:p>
            <a:pPr marL="0" indent="0">
              <a:buFontTx/>
              <a:buNone/>
            </a:pPr>
            <a:r>
              <a:rPr lang="en-US" sz="2000" dirty="0">
                <a:latin typeface="Consolas" panose="020B0609020204030204" pitchFamily="49" charset="0"/>
                <a:cs typeface="Consolas" panose="020B0609020204030204" pitchFamily="49" charset="0"/>
              </a:rPr>
              <a:t>		 BEQZ 	R3,Label	    </a:t>
            </a:r>
            <a:r>
              <a:rPr lang="en-US" sz="2000" dirty="0">
                <a:solidFill>
                  <a:schemeClr val="accent5">
                    <a:lumMod val="50000"/>
                  </a:schemeClr>
                </a:solidFill>
                <a:latin typeface="Consolas" panose="020B0609020204030204" pitchFamily="49" charset="0"/>
                <a:cs typeface="Consolas" panose="020B0609020204030204" pitchFamily="49" charset="0"/>
              </a:rPr>
              <a:t>; F:2, D:3, I:4, X:105 (“not taken”)</a:t>
            </a:r>
          </a:p>
          <a:p>
            <a:pPr marL="0" indent="0">
              <a:buFontTx/>
              <a:buNone/>
            </a:pPr>
            <a:r>
              <a:rPr lang="en-US" sz="2000" dirty="0">
                <a:solidFill>
                  <a:schemeClr val="tx1"/>
                </a:solidFill>
                <a:latin typeface="Consolas" panose="020B0609020204030204" pitchFamily="49" charset="0"/>
                <a:cs typeface="Consolas" panose="020B0609020204030204" pitchFamily="49" charset="0"/>
              </a:rPr>
              <a:t>		 DSUB	R4,R4,R3		 </a:t>
            </a:r>
            <a:r>
              <a:rPr lang="en-US" sz="2000" dirty="0">
                <a:solidFill>
                  <a:srgbClr val="FF0000"/>
                </a:solidFill>
                <a:latin typeface="Consolas" panose="020B0609020204030204" pitchFamily="49" charset="0"/>
                <a:cs typeface="Consolas" panose="020B0609020204030204" pitchFamily="49" charset="0"/>
              </a:rPr>
              <a:t>branch predicted “taken” on cycle 2</a:t>
            </a:r>
          </a:p>
          <a:p>
            <a:pPr marL="0" indent="0">
              <a:buFontTx/>
              <a:buNone/>
            </a:pPr>
            <a:r>
              <a:rPr lang="en-US" sz="2000" dirty="0">
                <a:solidFill>
                  <a:schemeClr val="tx1"/>
                </a:solidFill>
                <a:latin typeface="Consolas" panose="020B0609020204030204" pitchFamily="49" charset="0"/>
                <a:cs typeface="Consolas" panose="020B0609020204030204" pitchFamily="49" charset="0"/>
              </a:rPr>
              <a:t>Label: DMUL  R4,R4,R2	    </a:t>
            </a:r>
            <a:r>
              <a:rPr lang="en-US" sz="2000" dirty="0">
                <a:solidFill>
                  <a:schemeClr val="accent5">
                    <a:lumMod val="50000"/>
                  </a:schemeClr>
                </a:solidFill>
                <a:latin typeface="Consolas" panose="020B0609020204030204" pitchFamily="49" charset="0"/>
                <a:cs typeface="Consolas" panose="020B0609020204030204" pitchFamily="49" charset="0"/>
              </a:rPr>
              <a:t>;</a:t>
            </a:r>
            <a:r>
              <a:rPr lang="en-US" sz="2000" dirty="0">
                <a:solidFill>
                  <a:schemeClr val="accent2"/>
                </a:solidFill>
                <a:latin typeface="Consolas" panose="020B0609020204030204" pitchFamily="49" charset="0"/>
                <a:cs typeface="Consolas" panose="020B0609020204030204" pitchFamily="49" charset="0"/>
              </a:rPr>
              <a:t> </a:t>
            </a:r>
            <a:r>
              <a:rPr lang="en-US" sz="2000" dirty="0">
                <a:solidFill>
                  <a:schemeClr val="accent5">
                    <a:lumMod val="50000"/>
                  </a:schemeClr>
                </a:solidFill>
                <a:latin typeface="Consolas" panose="020B0609020204030204" pitchFamily="49" charset="0"/>
                <a:cs typeface="Consolas" panose="020B0609020204030204" pitchFamily="49" charset="0"/>
              </a:rPr>
              <a:t>F:3, D:4, I:5, X:6, W:?</a:t>
            </a:r>
          </a:p>
          <a:p>
            <a:pPr marL="0" indent="0">
              <a:buFontTx/>
              <a:buNone/>
            </a:pPr>
            <a:r>
              <a:rPr lang="en-US" sz="2000" dirty="0">
                <a:solidFill>
                  <a:schemeClr val="accent5">
                    <a:lumMod val="50000"/>
                  </a:schemeClr>
                </a:solidFill>
                <a:latin typeface="Consolas" panose="020B0609020204030204" pitchFamily="49" charset="0"/>
                <a:cs typeface="Consolas" panose="020B0609020204030204" pitchFamily="49" charset="0"/>
              </a:rPr>
              <a:t>       </a:t>
            </a:r>
            <a:r>
              <a:rPr lang="en-US" sz="2000" dirty="0">
                <a:solidFill>
                  <a:schemeClr val="tx1"/>
                </a:solidFill>
                <a:latin typeface="Consolas" panose="020B0609020204030204" pitchFamily="49" charset="0"/>
                <a:cs typeface="Consolas" panose="020B0609020204030204" pitchFamily="49" charset="0"/>
              </a:rPr>
              <a:t>DADD  R4,R4,R1</a:t>
            </a:r>
          </a:p>
          <a:p>
            <a:pPr marL="0" indent="0">
              <a:buFontTx/>
              <a:buNone/>
            </a:pPr>
            <a:r>
              <a:rPr lang="en-US" sz="2000" dirty="0">
                <a:solidFill>
                  <a:schemeClr val="tx1"/>
                </a:solidFill>
                <a:latin typeface="Consolas" panose="020B0609020204030204" pitchFamily="49" charset="0"/>
                <a:cs typeface="Consolas" panose="020B0609020204030204" pitchFamily="49" charset="0"/>
              </a:rPr>
              <a:t>	</a:t>
            </a:r>
            <a:endParaRPr lang="en-US" sz="2000" dirty="0">
              <a:solidFill>
                <a:schemeClr val="accent5">
                  <a:lumMod val="50000"/>
                </a:schemeClr>
              </a:solidFill>
              <a:latin typeface="Consolas" panose="020B0609020204030204" pitchFamily="49" charset="0"/>
              <a:cs typeface="Consolas" panose="020B0609020204030204" pitchFamily="49" charset="0"/>
            </a:endParaRPr>
          </a:p>
          <a:p>
            <a:pPr marL="0" indent="0">
              <a:buFontTx/>
              <a:buNone/>
            </a:pPr>
            <a:endParaRPr lang="en-US" sz="2000" dirty="0">
              <a:solidFill>
                <a:schemeClr val="tx1"/>
              </a:solidFill>
              <a:latin typeface="Consolas" panose="020B0609020204030204" pitchFamily="49" charset="0"/>
              <a:cs typeface="Consolas" panose="020B0609020204030204" pitchFamily="49" charset="0"/>
            </a:endParaRPr>
          </a:p>
          <a:p>
            <a:pPr marL="0" indent="0">
              <a:buNone/>
            </a:pPr>
            <a:r>
              <a:rPr lang="en-US" sz="2000" b="1" dirty="0">
                <a:solidFill>
                  <a:schemeClr val="tx1"/>
                </a:solidFill>
                <a:latin typeface="Arial" panose="020B0604020202020204" pitchFamily="34" charset="0"/>
                <a:cs typeface="Arial" panose="020B0604020202020204" pitchFamily="34" charset="0"/>
              </a:rPr>
              <a:t>Goal: </a:t>
            </a:r>
            <a:r>
              <a:rPr lang="en-US" sz="2000" dirty="0">
                <a:solidFill>
                  <a:schemeClr val="tx1"/>
                </a:solidFill>
                <a:latin typeface="Arial" panose="020B0604020202020204" pitchFamily="34" charset="0"/>
                <a:cs typeface="Arial" panose="020B0604020202020204" pitchFamily="34" charset="0"/>
              </a:rPr>
              <a:t>Support execution of instructions fetched following a branch prediction </a:t>
            </a:r>
            <a:r>
              <a:rPr lang="en-US" sz="2000" u="sng" dirty="0">
                <a:solidFill>
                  <a:schemeClr val="tx1"/>
                </a:solidFill>
                <a:latin typeface="Arial" panose="020B0604020202020204" pitchFamily="34" charset="0"/>
                <a:cs typeface="Arial" panose="020B0604020202020204" pitchFamily="34" charset="0"/>
              </a:rPr>
              <a:t>before</a:t>
            </a:r>
            <a:r>
              <a:rPr lang="en-US" sz="2000" dirty="0">
                <a:solidFill>
                  <a:schemeClr val="tx1"/>
                </a:solidFill>
                <a:latin typeface="Arial" panose="020B0604020202020204" pitchFamily="34" charset="0"/>
                <a:cs typeface="Arial" panose="020B0604020202020204" pitchFamily="34" charset="0"/>
              </a:rPr>
              <a:t> we know if the prediction is correct. Above: Want to execute and broadcast result of DMUL “speculatively” long before branch resolved on cycle 105.</a:t>
            </a:r>
          </a:p>
          <a:p>
            <a:pPr marL="0" indent="0">
              <a:buNone/>
            </a:pPr>
            <a:endParaRPr lang="en-US" sz="900" dirty="0">
              <a:solidFill>
                <a:schemeClr val="tx1"/>
              </a:solidFill>
              <a:latin typeface="Arial" panose="020B0604020202020204" pitchFamily="34" charset="0"/>
              <a:cs typeface="Arial" panose="020B0604020202020204" pitchFamily="34" charset="0"/>
            </a:endParaRPr>
          </a:p>
          <a:p>
            <a:pPr marL="0" indent="0">
              <a:buFontTx/>
              <a:buNone/>
            </a:pPr>
            <a:r>
              <a:rPr lang="en-US" sz="2000" b="1" dirty="0">
                <a:solidFill>
                  <a:schemeClr val="tx1"/>
                </a:solidFill>
                <a:latin typeface="Arial" panose="020B0604020202020204" pitchFamily="34" charset="0"/>
                <a:cs typeface="Arial" panose="020B0604020202020204" pitchFamily="34" charset="0"/>
              </a:rPr>
              <a:t>Problem: </a:t>
            </a:r>
            <a:r>
              <a:rPr lang="en-US" sz="2000" dirty="0">
                <a:solidFill>
                  <a:schemeClr val="tx1"/>
                </a:solidFill>
                <a:latin typeface="Arial" panose="020B0604020202020204" pitchFamily="34" charset="0"/>
                <a:cs typeface="Arial" panose="020B0604020202020204" pitchFamily="34" charset="0"/>
              </a:rPr>
              <a:t>Such instructions should not update register file because branch might have been predicted incorrectly.  Above: cannot let DMUL write to register file until control hazard </a:t>
            </a:r>
            <a:r>
              <a:rPr lang="en-US" sz="2000" dirty="0">
                <a:solidFill>
                  <a:schemeClr val="tx1"/>
                </a:solidFill>
                <a:latin typeface="Consolas" panose="020B0609020204030204" pitchFamily="49" charset="0"/>
                <a:cs typeface="Consolas" panose="020B0609020204030204" pitchFamily="49" charset="0"/>
              </a:rPr>
              <a:t>resolved.</a:t>
            </a:r>
          </a:p>
        </p:txBody>
      </p:sp>
      <p:sp>
        <p:nvSpPr>
          <p:cNvPr id="34818" name="Rectangle 2"/>
          <p:cNvSpPr>
            <a:spLocks noGrp="1" noChangeArrowheads="1"/>
          </p:cNvSpPr>
          <p:nvPr>
            <p:ph type="title"/>
          </p:nvPr>
        </p:nvSpPr>
        <p:spPr>
          <a:xfrm>
            <a:off x="685800" y="-500837"/>
            <a:ext cx="7766050" cy="1351324"/>
          </a:xfrm>
        </p:spPr>
        <p:txBody>
          <a:bodyPr/>
          <a:lstStyle/>
          <a:p>
            <a:r>
              <a:rPr lang="en-US" dirty="0">
                <a:solidFill>
                  <a:schemeClr val="tx1"/>
                </a:solidFill>
                <a:latin typeface="Arial  " charset="0"/>
                <a:cs typeface="Arial  " charset="0"/>
              </a:rPr>
              <a:t>Speculative Execution</a:t>
            </a:r>
          </a:p>
        </p:txBody>
      </p:sp>
      <p:sp>
        <p:nvSpPr>
          <p:cNvPr id="34821" name="Slide Number Placeholder 7"/>
          <p:cNvSpPr>
            <a:spLocks noGrp="1"/>
          </p:cNvSpPr>
          <p:nvPr>
            <p:ph type="sldNum" sz="quarter" idx="12"/>
          </p:nvPr>
        </p:nvSpPr>
        <p:spPr>
          <a:xfrm>
            <a:off x="7245350" y="6407150"/>
            <a:ext cx="1898650"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8DFD226A-6819-4BBF-9D17-134C126EE68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5</a:t>
            </a:fld>
            <a:r>
              <a:rPr lang="en-GB" dirty="0"/>
              <a:t> </a:t>
            </a:r>
          </a:p>
        </p:txBody>
      </p:sp>
      <p:cxnSp>
        <p:nvCxnSpPr>
          <p:cNvPr id="16" name="Straight Arrow Connector 15"/>
          <p:cNvCxnSpPr>
            <a:cxnSpLocks/>
          </p:cNvCxnSpPr>
          <p:nvPr/>
        </p:nvCxnSpPr>
        <p:spPr bwMode="auto">
          <a:xfrm flipH="1" flipV="1">
            <a:off x="3231761" y="1466276"/>
            <a:ext cx="777532" cy="202273"/>
          </a:xfrm>
          <a:prstGeom prst="straightConnector1">
            <a:avLst/>
          </a:prstGeom>
          <a:solidFill>
            <a:srgbClr val="00B8FF"/>
          </a:solidFill>
          <a:ln w="9525" cap="flat" cmpd="sng" algn="ctr">
            <a:solidFill>
              <a:srgbClr val="FF0000"/>
            </a:solidFill>
            <a:prstDash val="solid"/>
            <a:round/>
            <a:headEnd type="none" w="med" len="med"/>
            <a:tailEnd type="arrow"/>
          </a:ln>
          <a:effec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20337" y="0"/>
            <a:ext cx="8029575" cy="409575"/>
          </a:xfrm>
          <a:noFill/>
        </p:spPr>
        <p:txBody>
          <a:bodyPr lIns="90488" tIns="44450" rIns="90488" bIns="44450"/>
          <a:lstStyle/>
          <a:p>
            <a:r>
              <a:rPr lang="en-US" sz="3600" dirty="0">
                <a:latin typeface="Arial  " charset="0"/>
                <a:cs typeface="Arial  " charset="0"/>
              </a:rPr>
              <a:t>The Reorder Buffer (ROB)</a:t>
            </a:r>
            <a:endParaRPr lang="en-US" dirty="0">
              <a:latin typeface="Arial  " charset="0"/>
              <a:cs typeface="Arial  " charset="0"/>
            </a:endParaRPr>
          </a:p>
        </p:txBody>
      </p:sp>
      <p:sp>
        <p:nvSpPr>
          <p:cNvPr id="32774" name="Content Placeholder 29"/>
          <p:cNvSpPr>
            <a:spLocks noGrp="1"/>
          </p:cNvSpPr>
          <p:nvPr>
            <p:ph idx="1"/>
          </p:nvPr>
        </p:nvSpPr>
        <p:spPr>
          <a:xfrm>
            <a:off x="459840" y="982726"/>
            <a:ext cx="8085908" cy="5717179"/>
          </a:xfrm>
        </p:spPr>
        <p:txBody>
          <a:bodyPr/>
          <a:lstStyle/>
          <a:p>
            <a:pPr>
              <a:lnSpc>
                <a:spcPct val="110000"/>
              </a:lnSpc>
              <a:spcBef>
                <a:spcPct val="0"/>
              </a:spcBef>
            </a:pPr>
            <a:r>
              <a:rPr lang="en-US" sz="1800" dirty="0">
                <a:solidFill>
                  <a:srgbClr val="0000FF"/>
                </a:solidFill>
                <a:latin typeface="Arial  " charset="0"/>
                <a:cs typeface="Arial  " charset="0"/>
              </a:rPr>
              <a:t>An elegant solution to this problem is a hardware structure known as a “Reorder Buffer” (ROB).</a:t>
            </a:r>
          </a:p>
          <a:p>
            <a:pPr>
              <a:lnSpc>
                <a:spcPct val="110000"/>
              </a:lnSpc>
              <a:spcBef>
                <a:spcPct val="0"/>
              </a:spcBef>
            </a:pPr>
            <a:endParaRPr lang="en-US" sz="1800" dirty="0">
              <a:latin typeface="Arial  " charset="0"/>
              <a:cs typeface="Arial  " charset="0"/>
            </a:endParaRPr>
          </a:p>
          <a:p>
            <a:pPr>
              <a:lnSpc>
                <a:spcPct val="110000"/>
              </a:lnSpc>
              <a:spcBef>
                <a:spcPct val="0"/>
              </a:spcBef>
            </a:pPr>
            <a:r>
              <a:rPr lang="en-US" sz="1800" dirty="0">
                <a:latin typeface="Arial  " charset="0"/>
                <a:cs typeface="Arial  " charset="0"/>
              </a:rPr>
              <a:t>The reorder buffer is used to divide the “</a:t>
            </a:r>
            <a:r>
              <a:rPr lang="en-US" sz="1800" dirty="0" err="1">
                <a:latin typeface="Arial  " charset="0"/>
                <a:cs typeface="Arial  " charset="0"/>
              </a:rPr>
              <a:t>writeback</a:t>
            </a:r>
            <a:r>
              <a:rPr lang="en-US" sz="1800" dirty="0">
                <a:latin typeface="Arial  " charset="0"/>
                <a:cs typeface="Arial  " charset="0"/>
              </a:rPr>
              <a:t>” step into two separate steps: </a:t>
            </a:r>
            <a:r>
              <a:rPr lang="en-US" sz="1800" dirty="0">
                <a:solidFill>
                  <a:srgbClr val="408000"/>
                </a:solidFill>
                <a:latin typeface="Arial  " charset="0"/>
                <a:cs typeface="Arial  " charset="0"/>
              </a:rPr>
              <a:t>“instruction completion</a:t>
            </a:r>
            <a:r>
              <a:rPr lang="en-US" sz="1800" dirty="0">
                <a:latin typeface="Arial  " charset="0"/>
                <a:cs typeface="Arial  " charset="0"/>
              </a:rPr>
              <a:t>” and “</a:t>
            </a:r>
            <a:r>
              <a:rPr lang="en-US" sz="1800" dirty="0">
                <a:solidFill>
                  <a:srgbClr val="FF00FF"/>
                </a:solidFill>
                <a:latin typeface="Arial  " charset="0"/>
                <a:cs typeface="Arial  " charset="0"/>
              </a:rPr>
              <a:t>instruction commit</a:t>
            </a:r>
            <a:r>
              <a:rPr lang="en-US" sz="1800" dirty="0">
                <a:latin typeface="Arial  " charset="0"/>
                <a:cs typeface="Arial  " charset="0"/>
              </a:rPr>
              <a:t>”.</a:t>
            </a:r>
          </a:p>
          <a:p>
            <a:pPr>
              <a:lnSpc>
                <a:spcPct val="110000"/>
              </a:lnSpc>
              <a:spcBef>
                <a:spcPct val="0"/>
              </a:spcBef>
            </a:pPr>
            <a:endParaRPr lang="en-US" sz="1800" dirty="0">
              <a:latin typeface="Arial  " charset="0"/>
              <a:cs typeface="Arial  " charset="0"/>
            </a:endParaRPr>
          </a:p>
          <a:p>
            <a:pPr>
              <a:lnSpc>
                <a:spcPct val="110000"/>
              </a:lnSpc>
              <a:spcBef>
                <a:spcPct val="0"/>
              </a:spcBef>
            </a:pPr>
            <a:r>
              <a:rPr lang="en-US" sz="1800" dirty="0">
                <a:latin typeface="Arial  " charset="0"/>
                <a:cs typeface="Arial  " charset="0"/>
              </a:rPr>
              <a:t>An instruction enters </a:t>
            </a:r>
            <a:r>
              <a:rPr lang="en-US" sz="1800" dirty="0">
                <a:solidFill>
                  <a:srgbClr val="00FF00"/>
                </a:solidFill>
                <a:latin typeface="Arial  " charset="0"/>
                <a:cs typeface="Arial  " charset="0"/>
              </a:rPr>
              <a:t>“</a:t>
            </a:r>
            <a:r>
              <a:rPr lang="en-US" sz="1800" dirty="0">
                <a:solidFill>
                  <a:srgbClr val="408000"/>
                </a:solidFill>
                <a:latin typeface="Arial  " charset="0"/>
                <a:cs typeface="Arial  " charset="0"/>
              </a:rPr>
              <a:t>instruction completion</a:t>
            </a:r>
            <a:r>
              <a:rPr lang="en-US" sz="1800" dirty="0">
                <a:latin typeface="Arial  " charset="0"/>
                <a:cs typeface="Arial  " charset="0"/>
              </a:rPr>
              <a:t>” when it finishes execution. </a:t>
            </a:r>
          </a:p>
          <a:p>
            <a:pPr lvl="1">
              <a:lnSpc>
                <a:spcPct val="110000"/>
              </a:lnSpc>
              <a:spcBef>
                <a:spcPct val="0"/>
              </a:spcBef>
            </a:pPr>
            <a:r>
              <a:rPr lang="en-US" sz="1800" dirty="0">
                <a:latin typeface="Arial  " charset="0"/>
                <a:cs typeface="Arial  " charset="0"/>
              </a:rPr>
              <a:t>Instruction broadcasts result on the CDB so dependent instructions can begin execution.  </a:t>
            </a:r>
          </a:p>
          <a:p>
            <a:pPr lvl="1">
              <a:lnSpc>
                <a:spcPct val="110000"/>
              </a:lnSpc>
              <a:spcBef>
                <a:spcPct val="0"/>
              </a:spcBef>
            </a:pPr>
            <a:r>
              <a:rPr lang="en-US" sz="1800" dirty="0">
                <a:latin typeface="Arial  " charset="0"/>
                <a:cs typeface="Arial  " charset="0"/>
              </a:rPr>
              <a:t>However, </a:t>
            </a:r>
            <a:r>
              <a:rPr lang="en-US" sz="1800" dirty="0">
                <a:solidFill>
                  <a:srgbClr val="0000FF"/>
                </a:solidFill>
                <a:latin typeface="Arial  " charset="0"/>
                <a:cs typeface="Arial  " charset="0"/>
              </a:rPr>
              <a:t>register file </a:t>
            </a:r>
            <a:r>
              <a:rPr lang="en-US" sz="1800" u="sng" dirty="0">
                <a:solidFill>
                  <a:srgbClr val="0000FF"/>
                </a:solidFill>
                <a:latin typeface="Arial  " charset="0"/>
                <a:cs typeface="Arial  " charset="0"/>
              </a:rPr>
              <a:t>not</a:t>
            </a:r>
            <a:r>
              <a:rPr lang="en-US" sz="1800" dirty="0">
                <a:solidFill>
                  <a:srgbClr val="0000FF"/>
                </a:solidFill>
                <a:latin typeface="Arial  " charset="0"/>
                <a:cs typeface="Arial  " charset="0"/>
              </a:rPr>
              <a:t> updated yet.</a:t>
            </a:r>
          </a:p>
          <a:p>
            <a:pPr lvl="1">
              <a:lnSpc>
                <a:spcPct val="110000"/>
              </a:lnSpc>
              <a:spcBef>
                <a:spcPct val="0"/>
              </a:spcBef>
            </a:pPr>
            <a:r>
              <a:rPr lang="en-US" sz="1800" dirty="0">
                <a:latin typeface="Arial  " charset="0"/>
                <a:cs typeface="Arial  " charset="0"/>
              </a:rPr>
              <a:t>Instead, the result is “buffered” in the reorder buffer to be written into the register file later.</a:t>
            </a:r>
          </a:p>
          <a:p>
            <a:pPr>
              <a:lnSpc>
                <a:spcPct val="110000"/>
              </a:lnSpc>
              <a:spcBef>
                <a:spcPct val="0"/>
              </a:spcBef>
            </a:pPr>
            <a:endParaRPr lang="en-US" sz="1800" dirty="0">
              <a:latin typeface="Arial  " charset="0"/>
              <a:cs typeface="Arial  " charset="0"/>
            </a:endParaRPr>
          </a:p>
          <a:p>
            <a:pPr>
              <a:lnSpc>
                <a:spcPct val="110000"/>
              </a:lnSpc>
              <a:spcBef>
                <a:spcPct val="0"/>
              </a:spcBef>
            </a:pPr>
            <a:r>
              <a:rPr lang="en-US" sz="1800" dirty="0">
                <a:latin typeface="Arial  " charset="0"/>
                <a:cs typeface="Arial  " charset="0"/>
              </a:rPr>
              <a:t>An instruction enters “</a:t>
            </a:r>
            <a:r>
              <a:rPr lang="en-US" sz="1800" dirty="0">
                <a:solidFill>
                  <a:srgbClr val="FF00FF"/>
                </a:solidFill>
                <a:latin typeface="Arial  " charset="0"/>
                <a:cs typeface="Arial  " charset="0"/>
              </a:rPr>
              <a:t>instruction commit</a:t>
            </a:r>
            <a:r>
              <a:rPr lang="en-US" sz="1800" dirty="0">
                <a:solidFill>
                  <a:schemeClr val="accent2"/>
                </a:solidFill>
                <a:latin typeface="Arial  " charset="0"/>
                <a:cs typeface="Arial  " charset="0"/>
              </a:rPr>
              <a:t>” </a:t>
            </a:r>
            <a:r>
              <a:rPr lang="en-US" sz="1800" dirty="0">
                <a:latin typeface="Arial  " charset="0"/>
                <a:cs typeface="Arial  " charset="0"/>
              </a:rPr>
              <a:t>when it is the </a:t>
            </a:r>
            <a:r>
              <a:rPr lang="en-US" sz="1800" u="sng" dirty="0">
                <a:latin typeface="Arial  " charset="0"/>
                <a:cs typeface="Arial  " charset="0"/>
              </a:rPr>
              <a:t>oldest</a:t>
            </a:r>
            <a:r>
              <a:rPr lang="en-US" sz="1800" dirty="0">
                <a:latin typeface="Arial  " charset="0"/>
                <a:cs typeface="Arial  " charset="0"/>
              </a:rPr>
              <a:t> instruction that has completed (and is free from “exceptions”). </a:t>
            </a:r>
          </a:p>
          <a:p>
            <a:pPr lvl="1">
              <a:lnSpc>
                <a:spcPct val="110000"/>
              </a:lnSpc>
              <a:spcBef>
                <a:spcPct val="0"/>
              </a:spcBef>
            </a:pPr>
            <a:r>
              <a:rPr lang="en-US" sz="1800" dirty="0">
                <a:solidFill>
                  <a:srgbClr val="0000FF"/>
                </a:solidFill>
                <a:latin typeface="Arial  " charset="0"/>
                <a:cs typeface="Arial  " charset="0"/>
              </a:rPr>
              <a:t>Writes results to register file</a:t>
            </a:r>
          </a:p>
          <a:p>
            <a:pPr>
              <a:lnSpc>
                <a:spcPct val="110000"/>
              </a:lnSpc>
              <a:spcBef>
                <a:spcPct val="0"/>
              </a:spcBef>
            </a:pPr>
            <a:endParaRPr lang="en-US" sz="1800" dirty="0">
              <a:latin typeface="Arial  " charset="0"/>
              <a:cs typeface="Arial  " charset="0"/>
            </a:endParaRPr>
          </a:p>
          <a:p>
            <a:pPr lvl="1">
              <a:spcBef>
                <a:spcPct val="0"/>
              </a:spcBef>
            </a:pPr>
            <a:endParaRPr lang="en-US" sz="1800" dirty="0">
              <a:latin typeface="Arial  " charset="0"/>
              <a:cs typeface="Arial  " charset="0"/>
            </a:endParaRPr>
          </a:p>
        </p:txBody>
      </p:sp>
      <p:sp>
        <p:nvSpPr>
          <p:cNvPr id="32776" name="Slide Number Placeholder 32"/>
          <p:cNvSpPr>
            <a:spLocks noGrp="1"/>
          </p:cNvSpPr>
          <p:nvPr>
            <p:ph type="sldNum" sz="quarter" idx="12"/>
          </p:nvPr>
        </p:nvSpPr>
        <p:spPr>
          <a:xfrm>
            <a:off x="7245350" y="6407150"/>
            <a:ext cx="1898650"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9DB1AAA-B591-4884-AF4D-A3BE9BF43FCA}"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6</a:t>
            </a:fld>
            <a:r>
              <a:rPr lang="en-GB"/>
              <a:t> </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20337" y="0"/>
            <a:ext cx="8029575" cy="409575"/>
          </a:xfrm>
          <a:noFill/>
        </p:spPr>
        <p:txBody>
          <a:bodyPr lIns="90488" tIns="44450" rIns="90488" bIns="44450"/>
          <a:lstStyle/>
          <a:p>
            <a:r>
              <a:rPr lang="en-US" sz="3600" dirty="0">
                <a:latin typeface="Arial  " charset="0"/>
                <a:cs typeface="Arial  " charset="0"/>
              </a:rPr>
              <a:t>The Reorder Buffer (ROB)</a:t>
            </a:r>
            <a:endParaRPr lang="en-US" dirty="0">
              <a:latin typeface="Arial  " charset="0"/>
              <a:cs typeface="Arial  " charset="0"/>
            </a:endParaRPr>
          </a:p>
        </p:txBody>
      </p:sp>
      <p:grpSp>
        <p:nvGrpSpPr>
          <p:cNvPr id="2" name="Group 5"/>
          <p:cNvGrpSpPr>
            <a:grpSpLocks noChangeAspect="1"/>
          </p:cNvGrpSpPr>
          <p:nvPr/>
        </p:nvGrpSpPr>
        <p:grpSpPr bwMode="auto">
          <a:xfrm>
            <a:off x="2326367" y="2326554"/>
            <a:ext cx="4239322" cy="3460291"/>
            <a:chOff x="2996" y="1104"/>
            <a:chExt cx="2592" cy="2332"/>
          </a:xfrm>
        </p:grpSpPr>
        <p:sp>
          <p:nvSpPr>
            <p:cNvPr id="32780" name="Rectangle 6"/>
            <p:cNvSpPr>
              <a:spLocks noChangeAspect="1" noChangeArrowheads="1"/>
            </p:cNvSpPr>
            <p:nvPr/>
          </p:nvSpPr>
          <p:spPr bwMode="auto">
            <a:xfrm>
              <a:off x="4272" y="1248"/>
              <a:ext cx="1040" cy="656"/>
            </a:xfrm>
            <a:prstGeom prst="rect">
              <a:avLst/>
            </a:prstGeom>
            <a:solidFill>
              <a:schemeClr val="accent5">
                <a:lumMod val="60000"/>
                <a:lumOff val="40000"/>
              </a:schemeClr>
            </a:solidFill>
            <a:ln w="25400">
              <a:solidFill>
                <a:srgbClr val="0000FF"/>
              </a:solidFill>
              <a:miter lim="800000"/>
              <a:headEnd/>
              <a:tailEnd/>
            </a:ln>
          </p:spPr>
          <p:txBody>
            <a:bodyPr wrap="none" lIns="90488" tIns="44450" rIns="90488" bIns="44450" anchor="ctr"/>
            <a:lstStyle/>
            <a:p>
              <a:pPr algn="ctr"/>
              <a:r>
                <a:rPr lang="en-US" sz="1400" dirty="0">
                  <a:solidFill>
                    <a:srgbClr val="0000FF"/>
                  </a:solidFill>
                </a:rPr>
                <a:t>Reorder</a:t>
              </a:r>
            </a:p>
            <a:p>
              <a:pPr algn="ctr"/>
              <a:r>
                <a:rPr lang="en-US" sz="1400" dirty="0">
                  <a:solidFill>
                    <a:srgbClr val="0000FF"/>
                  </a:solidFill>
                </a:rPr>
                <a:t>Buffer</a:t>
              </a:r>
            </a:p>
          </p:txBody>
        </p:sp>
        <p:sp>
          <p:nvSpPr>
            <p:cNvPr id="32781" name="Rectangle 7"/>
            <p:cNvSpPr>
              <a:spLocks noChangeAspect="1" noChangeArrowheads="1"/>
            </p:cNvSpPr>
            <p:nvPr/>
          </p:nvSpPr>
          <p:spPr bwMode="auto">
            <a:xfrm>
              <a:off x="3289" y="1599"/>
              <a:ext cx="476" cy="642"/>
            </a:xfrm>
            <a:prstGeom prst="rect">
              <a:avLst/>
            </a:prstGeom>
            <a:solidFill>
              <a:schemeClr val="bg1"/>
            </a:solidFill>
            <a:ln w="25400">
              <a:solidFill>
                <a:schemeClr val="tx1"/>
              </a:solidFill>
              <a:miter lim="800000"/>
              <a:headEnd/>
              <a:tailEnd/>
            </a:ln>
          </p:spPr>
          <p:txBody>
            <a:bodyPr wrap="none" lIns="90488" tIns="44450" rIns="90488" bIns="44450" anchor="ctr"/>
            <a:lstStyle/>
            <a:p>
              <a:pPr algn="ctr"/>
              <a:r>
                <a:rPr lang="en-US" sz="1400" dirty="0">
                  <a:solidFill>
                    <a:srgbClr val="000000"/>
                  </a:solidFill>
                </a:rPr>
                <a:t>Inst.</a:t>
              </a:r>
            </a:p>
            <a:p>
              <a:pPr algn="ctr"/>
              <a:r>
                <a:rPr lang="en-US" sz="1400" dirty="0">
                  <a:solidFill>
                    <a:srgbClr val="000000"/>
                  </a:solidFill>
                </a:rPr>
                <a:t>Queue</a:t>
              </a:r>
            </a:p>
          </p:txBody>
        </p:sp>
        <p:sp>
          <p:nvSpPr>
            <p:cNvPr id="32782" name="Rectangle 8"/>
            <p:cNvSpPr>
              <a:spLocks noChangeAspect="1" noChangeArrowheads="1"/>
            </p:cNvSpPr>
            <p:nvPr/>
          </p:nvSpPr>
          <p:spPr bwMode="auto">
            <a:xfrm>
              <a:off x="3224" y="3032"/>
              <a:ext cx="656" cy="152"/>
            </a:xfrm>
            <a:prstGeom prst="rect">
              <a:avLst/>
            </a:prstGeom>
            <a:solidFill>
              <a:schemeClr val="bg1"/>
            </a:solidFill>
            <a:ln w="25400">
              <a:solidFill>
                <a:schemeClr val="tx1"/>
              </a:solidFill>
              <a:miter lim="800000"/>
              <a:headEnd/>
              <a:tailEnd/>
            </a:ln>
          </p:spPr>
          <p:txBody>
            <a:bodyPr wrap="none" lIns="90488" tIns="44450" rIns="90488" bIns="44450" anchor="ctr"/>
            <a:lstStyle/>
            <a:p>
              <a:pPr algn="ctr"/>
              <a:r>
                <a:rPr lang="en-US" sz="1400" dirty="0">
                  <a:solidFill>
                    <a:srgbClr val="000000"/>
                  </a:solidFill>
                </a:rPr>
                <a:t> Adder</a:t>
              </a:r>
            </a:p>
          </p:txBody>
        </p:sp>
        <p:sp>
          <p:nvSpPr>
            <p:cNvPr id="32783" name="Rectangle 9"/>
            <p:cNvSpPr>
              <a:spLocks noChangeAspect="1" noChangeArrowheads="1"/>
            </p:cNvSpPr>
            <p:nvPr/>
          </p:nvSpPr>
          <p:spPr bwMode="auto">
            <a:xfrm>
              <a:off x="4448" y="3032"/>
              <a:ext cx="656" cy="152"/>
            </a:xfrm>
            <a:prstGeom prst="rect">
              <a:avLst/>
            </a:prstGeom>
            <a:solidFill>
              <a:schemeClr val="bg1"/>
            </a:solidFill>
            <a:ln w="25400">
              <a:solidFill>
                <a:schemeClr val="tx1"/>
              </a:solidFill>
              <a:miter lim="800000"/>
              <a:headEnd/>
              <a:tailEnd/>
            </a:ln>
          </p:spPr>
          <p:txBody>
            <a:bodyPr wrap="none" lIns="90488" tIns="44450" rIns="90488" bIns="44450" anchor="ctr"/>
            <a:lstStyle/>
            <a:p>
              <a:pPr algn="ctr"/>
              <a:r>
                <a:rPr lang="en-US" sz="1400" dirty="0">
                  <a:solidFill>
                    <a:srgbClr val="000000"/>
                  </a:solidFill>
                </a:rPr>
                <a:t>Multiplier</a:t>
              </a:r>
            </a:p>
          </p:txBody>
        </p:sp>
        <p:sp>
          <p:nvSpPr>
            <p:cNvPr id="32784" name="Rectangle 10"/>
            <p:cNvSpPr>
              <a:spLocks noChangeAspect="1" noChangeArrowheads="1"/>
            </p:cNvSpPr>
            <p:nvPr/>
          </p:nvSpPr>
          <p:spPr bwMode="auto">
            <a:xfrm>
              <a:off x="3044" y="2756"/>
              <a:ext cx="908" cy="200"/>
            </a:xfrm>
            <a:prstGeom prst="rect">
              <a:avLst/>
            </a:prstGeom>
            <a:solidFill>
              <a:schemeClr val="bg1"/>
            </a:solidFill>
            <a:ln w="25400">
              <a:solidFill>
                <a:schemeClr val="tx1"/>
              </a:solidFill>
              <a:miter lim="800000"/>
              <a:headEnd/>
              <a:tailEnd/>
            </a:ln>
          </p:spPr>
          <p:txBody>
            <a:bodyPr wrap="none" lIns="90488" tIns="44450" rIns="90488" bIns="44450" anchor="ctr"/>
            <a:lstStyle/>
            <a:p>
              <a:pPr algn="ctr"/>
              <a:r>
                <a:rPr lang="en-US" sz="1400">
                  <a:solidFill>
                    <a:srgbClr val="000000"/>
                  </a:solidFill>
                </a:rPr>
                <a:t>Res Stations</a:t>
              </a:r>
            </a:p>
          </p:txBody>
        </p:sp>
        <p:sp>
          <p:nvSpPr>
            <p:cNvPr id="32785" name="Rectangle 11"/>
            <p:cNvSpPr>
              <a:spLocks noChangeAspect="1" noChangeArrowheads="1"/>
            </p:cNvSpPr>
            <p:nvPr/>
          </p:nvSpPr>
          <p:spPr bwMode="auto">
            <a:xfrm>
              <a:off x="4304" y="2756"/>
              <a:ext cx="908" cy="200"/>
            </a:xfrm>
            <a:prstGeom prst="rect">
              <a:avLst/>
            </a:prstGeom>
            <a:solidFill>
              <a:schemeClr val="bg1"/>
            </a:solidFill>
            <a:ln w="25400">
              <a:solidFill>
                <a:schemeClr val="tx1"/>
              </a:solidFill>
              <a:miter lim="800000"/>
              <a:headEnd/>
              <a:tailEnd/>
            </a:ln>
          </p:spPr>
          <p:txBody>
            <a:bodyPr wrap="none" lIns="90488" tIns="44450" rIns="90488" bIns="44450" anchor="ctr"/>
            <a:lstStyle/>
            <a:p>
              <a:pPr algn="ctr"/>
              <a:r>
                <a:rPr lang="en-US" sz="1400">
                  <a:solidFill>
                    <a:srgbClr val="000000"/>
                  </a:solidFill>
                </a:rPr>
                <a:t>Res Stations</a:t>
              </a:r>
            </a:p>
          </p:txBody>
        </p:sp>
        <p:sp>
          <p:nvSpPr>
            <p:cNvPr id="32786" name="Line 12"/>
            <p:cNvSpPr>
              <a:spLocks noChangeAspect="1" noChangeShapeType="1"/>
            </p:cNvSpPr>
            <p:nvPr/>
          </p:nvSpPr>
          <p:spPr bwMode="auto">
            <a:xfrm>
              <a:off x="2996" y="3408"/>
              <a:ext cx="2564" cy="0"/>
            </a:xfrm>
            <a:prstGeom prst="line">
              <a:avLst/>
            </a:prstGeom>
            <a:noFill/>
            <a:ln w="25400">
              <a:solidFill>
                <a:schemeClr val="tx1"/>
              </a:solidFill>
              <a:round/>
              <a:headEnd/>
              <a:tailEnd/>
            </a:ln>
          </p:spPr>
          <p:txBody>
            <a:bodyPr wrap="none" anchor="ctr"/>
            <a:lstStyle/>
            <a:p>
              <a:endParaRPr lang="en-CA"/>
            </a:p>
          </p:txBody>
        </p:sp>
        <p:sp>
          <p:nvSpPr>
            <p:cNvPr id="32787" name="Line 13"/>
            <p:cNvSpPr>
              <a:spLocks noChangeAspect="1" noChangeShapeType="1"/>
            </p:cNvSpPr>
            <p:nvPr/>
          </p:nvSpPr>
          <p:spPr bwMode="auto">
            <a:xfrm>
              <a:off x="5568" y="1112"/>
              <a:ext cx="0" cy="2276"/>
            </a:xfrm>
            <a:prstGeom prst="line">
              <a:avLst/>
            </a:prstGeom>
            <a:noFill/>
            <a:ln w="25400">
              <a:solidFill>
                <a:schemeClr val="tx1"/>
              </a:solidFill>
              <a:round/>
              <a:headEnd/>
              <a:tailEnd/>
            </a:ln>
          </p:spPr>
          <p:txBody>
            <a:bodyPr wrap="none" anchor="ctr"/>
            <a:lstStyle/>
            <a:p>
              <a:endParaRPr lang="en-CA"/>
            </a:p>
          </p:txBody>
        </p:sp>
        <p:sp>
          <p:nvSpPr>
            <p:cNvPr id="32788" name="Line 14"/>
            <p:cNvSpPr>
              <a:spLocks noChangeAspect="1" noChangeShapeType="1"/>
            </p:cNvSpPr>
            <p:nvPr/>
          </p:nvSpPr>
          <p:spPr bwMode="auto">
            <a:xfrm flipH="1">
              <a:off x="4800" y="1104"/>
              <a:ext cx="788" cy="0"/>
            </a:xfrm>
            <a:prstGeom prst="line">
              <a:avLst/>
            </a:prstGeom>
            <a:noFill/>
            <a:ln w="25400">
              <a:solidFill>
                <a:schemeClr val="tx1"/>
              </a:solidFill>
              <a:round/>
              <a:headEnd/>
              <a:tailEnd/>
            </a:ln>
          </p:spPr>
          <p:txBody>
            <a:bodyPr wrap="none" anchor="ctr"/>
            <a:lstStyle/>
            <a:p>
              <a:endParaRPr lang="en-CA"/>
            </a:p>
          </p:txBody>
        </p:sp>
        <p:sp>
          <p:nvSpPr>
            <p:cNvPr id="32789" name="Line 15"/>
            <p:cNvSpPr>
              <a:spLocks noChangeAspect="1" noChangeShapeType="1"/>
            </p:cNvSpPr>
            <p:nvPr/>
          </p:nvSpPr>
          <p:spPr bwMode="auto">
            <a:xfrm>
              <a:off x="4800" y="1104"/>
              <a:ext cx="0" cy="140"/>
            </a:xfrm>
            <a:prstGeom prst="line">
              <a:avLst/>
            </a:prstGeom>
            <a:noFill/>
            <a:ln w="25400">
              <a:solidFill>
                <a:schemeClr val="tx1"/>
              </a:solidFill>
              <a:round/>
              <a:headEnd/>
              <a:tailEnd type="triangle" w="med" len="med"/>
            </a:ln>
          </p:spPr>
          <p:txBody>
            <a:bodyPr wrap="none" anchor="ctr"/>
            <a:lstStyle/>
            <a:p>
              <a:endParaRPr lang="en-CA"/>
            </a:p>
          </p:txBody>
        </p:sp>
        <p:sp>
          <p:nvSpPr>
            <p:cNvPr id="32790" name="Line 16"/>
            <p:cNvSpPr>
              <a:spLocks noChangeAspect="1" noChangeShapeType="1"/>
            </p:cNvSpPr>
            <p:nvPr/>
          </p:nvSpPr>
          <p:spPr bwMode="auto">
            <a:xfrm>
              <a:off x="3552" y="3188"/>
              <a:ext cx="0" cy="224"/>
            </a:xfrm>
            <a:prstGeom prst="line">
              <a:avLst/>
            </a:prstGeom>
            <a:noFill/>
            <a:ln w="25400">
              <a:solidFill>
                <a:schemeClr val="tx1"/>
              </a:solidFill>
              <a:round/>
              <a:headEnd/>
              <a:tailEnd type="triangle" w="med" len="med"/>
            </a:ln>
          </p:spPr>
          <p:txBody>
            <a:bodyPr wrap="none" anchor="ctr"/>
            <a:lstStyle/>
            <a:p>
              <a:endParaRPr lang="en-CA"/>
            </a:p>
          </p:txBody>
        </p:sp>
        <p:sp>
          <p:nvSpPr>
            <p:cNvPr id="32791" name="Line 17"/>
            <p:cNvSpPr>
              <a:spLocks noChangeAspect="1" noChangeShapeType="1"/>
            </p:cNvSpPr>
            <p:nvPr/>
          </p:nvSpPr>
          <p:spPr bwMode="auto">
            <a:xfrm>
              <a:off x="4764" y="3212"/>
              <a:ext cx="0" cy="224"/>
            </a:xfrm>
            <a:prstGeom prst="line">
              <a:avLst/>
            </a:prstGeom>
            <a:noFill/>
            <a:ln w="25400">
              <a:solidFill>
                <a:schemeClr val="tx1"/>
              </a:solidFill>
              <a:round/>
              <a:headEnd/>
              <a:tailEnd type="triangle" w="med" len="med"/>
            </a:ln>
          </p:spPr>
          <p:txBody>
            <a:bodyPr wrap="none" anchor="ctr"/>
            <a:lstStyle/>
            <a:p>
              <a:endParaRPr lang="en-CA"/>
            </a:p>
          </p:txBody>
        </p:sp>
        <p:sp>
          <p:nvSpPr>
            <p:cNvPr id="32792" name="Line 18"/>
            <p:cNvSpPr>
              <a:spLocks noChangeAspect="1" noChangeShapeType="1"/>
            </p:cNvSpPr>
            <p:nvPr/>
          </p:nvSpPr>
          <p:spPr bwMode="auto">
            <a:xfrm>
              <a:off x="3528" y="2241"/>
              <a:ext cx="0" cy="499"/>
            </a:xfrm>
            <a:prstGeom prst="line">
              <a:avLst/>
            </a:prstGeom>
            <a:noFill/>
            <a:ln w="25400">
              <a:solidFill>
                <a:schemeClr val="tx1"/>
              </a:solidFill>
              <a:round/>
              <a:headEnd/>
              <a:tailEnd type="triangle" w="med" len="med"/>
            </a:ln>
          </p:spPr>
          <p:txBody>
            <a:bodyPr wrap="none" anchor="ctr"/>
            <a:lstStyle/>
            <a:p>
              <a:endParaRPr lang="en-CA"/>
            </a:p>
          </p:txBody>
        </p:sp>
        <p:sp>
          <p:nvSpPr>
            <p:cNvPr id="32793" name="Line 19"/>
            <p:cNvSpPr>
              <a:spLocks noChangeAspect="1" noChangeShapeType="1"/>
            </p:cNvSpPr>
            <p:nvPr/>
          </p:nvSpPr>
          <p:spPr bwMode="auto">
            <a:xfrm>
              <a:off x="3536" y="2484"/>
              <a:ext cx="1220" cy="0"/>
            </a:xfrm>
            <a:prstGeom prst="line">
              <a:avLst/>
            </a:prstGeom>
            <a:noFill/>
            <a:ln w="25400">
              <a:solidFill>
                <a:schemeClr val="tx1"/>
              </a:solidFill>
              <a:round/>
              <a:headEnd/>
              <a:tailEnd/>
            </a:ln>
          </p:spPr>
          <p:txBody>
            <a:bodyPr wrap="none" anchor="ctr"/>
            <a:lstStyle/>
            <a:p>
              <a:endParaRPr lang="en-CA"/>
            </a:p>
          </p:txBody>
        </p:sp>
        <p:sp>
          <p:nvSpPr>
            <p:cNvPr id="32794" name="Line 20"/>
            <p:cNvSpPr>
              <a:spLocks noChangeAspect="1" noChangeShapeType="1"/>
            </p:cNvSpPr>
            <p:nvPr/>
          </p:nvSpPr>
          <p:spPr bwMode="auto">
            <a:xfrm>
              <a:off x="4800" y="2496"/>
              <a:ext cx="0" cy="236"/>
            </a:xfrm>
            <a:prstGeom prst="line">
              <a:avLst/>
            </a:prstGeom>
            <a:noFill/>
            <a:ln w="25400">
              <a:solidFill>
                <a:schemeClr val="tx1"/>
              </a:solidFill>
              <a:round/>
              <a:headEnd/>
              <a:tailEnd type="triangle" w="med" len="med"/>
            </a:ln>
          </p:spPr>
          <p:txBody>
            <a:bodyPr wrap="none" anchor="ctr"/>
            <a:lstStyle/>
            <a:p>
              <a:endParaRPr lang="en-CA"/>
            </a:p>
          </p:txBody>
        </p:sp>
        <p:sp>
          <p:nvSpPr>
            <p:cNvPr id="32795" name="Line 21"/>
            <p:cNvSpPr>
              <a:spLocks noChangeAspect="1" noChangeShapeType="1"/>
            </p:cNvSpPr>
            <p:nvPr/>
          </p:nvSpPr>
          <p:spPr bwMode="auto">
            <a:xfrm>
              <a:off x="4800" y="1920"/>
              <a:ext cx="0" cy="548"/>
            </a:xfrm>
            <a:prstGeom prst="line">
              <a:avLst/>
            </a:prstGeom>
            <a:noFill/>
            <a:ln w="25400">
              <a:solidFill>
                <a:schemeClr val="tx1"/>
              </a:solidFill>
              <a:round/>
              <a:headEnd/>
              <a:tailEnd type="triangle" w="med" len="med"/>
            </a:ln>
          </p:spPr>
          <p:txBody>
            <a:bodyPr wrap="none" anchor="ctr"/>
            <a:lstStyle/>
            <a:p>
              <a:endParaRPr lang="en-CA"/>
            </a:p>
          </p:txBody>
        </p:sp>
        <p:sp>
          <p:nvSpPr>
            <p:cNvPr id="32796" name="Line 22"/>
            <p:cNvSpPr>
              <a:spLocks noChangeAspect="1" noChangeShapeType="1"/>
            </p:cNvSpPr>
            <p:nvPr/>
          </p:nvSpPr>
          <p:spPr bwMode="auto">
            <a:xfrm flipH="1">
              <a:off x="4732" y="2484"/>
              <a:ext cx="844" cy="0"/>
            </a:xfrm>
            <a:prstGeom prst="line">
              <a:avLst/>
            </a:prstGeom>
            <a:noFill/>
            <a:ln w="25400">
              <a:solidFill>
                <a:schemeClr val="tx1"/>
              </a:solidFill>
              <a:round/>
              <a:headEnd/>
              <a:tailEnd type="triangle" w="med" len="med"/>
            </a:ln>
          </p:spPr>
          <p:txBody>
            <a:bodyPr wrap="none" anchor="ctr"/>
            <a:lstStyle/>
            <a:p>
              <a:endParaRPr lang="en-CA"/>
            </a:p>
          </p:txBody>
        </p:sp>
        <p:sp>
          <p:nvSpPr>
            <p:cNvPr id="32797" name="Rectangle 23"/>
            <p:cNvSpPr>
              <a:spLocks noChangeAspect="1" noChangeArrowheads="1"/>
            </p:cNvSpPr>
            <p:nvPr/>
          </p:nvSpPr>
          <p:spPr bwMode="auto">
            <a:xfrm>
              <a:off x="4432" y="2022"/>
              <a:ext cx="704" cy="308"/>
            </a:xfrm>
            <a:prstGeom prst="rect">
              <a:avLst/>
            </a:prstGeom>
            <a:solidFill>
              <a:schemeClr val="bg1"/>
            </a:solidFill>
            <a:ln w="25400">
              <a:solidFill>
                <a:schemeClr val="tx1"/>
              </a:solidFill>
              <a:miter lim="800000"/>
              <a:headEnd/>
              <a:tailEnd/>
            </a:ln>
          </p:spPr>
          <p:txBody>
            <a:bodyPr wrap="none" lIns="90488" tIns="44450" rIns="90488" bIns="44450" anchor="ctr"/>
            <a:lstStyle/>
            <a:p>
              <a:pPr algn="ctr"/>
              <a:r>
                <a:rPr lang="en-US" sz="1400" dirty="0" err="1">
                  <a:solidFill>
                    <a:srgbClr val="000000"/>
                  </a:solidFill>
                </a:rPr>
                <a:t>Regs</a:t>
              </a:r>
              <a:endParaRPr lang="en-US" sz="1400" dirty="0">
                <a:solidFill>
                  <a:srgbClr val="000000"/>
                </a:solidFill>
              </a:endParaRPr>
            </a:p>
          </p:txBody>
        </p:sp>
      </p:grpSp>
      <p:sp>
        <p:nvSpPr>
          <p:cNvPr id="32773" name="Text Box 26"/>
          <p:cNvSpPr txBox="1">
            <a:spLocks noChangeArrowheads="1"/>
          </p:cNvSpPr>
          <p:nvPr/>
        </p:nvSpPr>
        <p:spPr bwMode="auto">
          <a:xfrm>
            <a:off x="7445829" y="3516723"/>
            <a:ext cx="1300117" cy="313932"/>
          </a:xfrm>
          <a:prstGeom prst="rect">
            <a:avLst/>
          </a:prstGeom>
          <a:solidFill>
            <a:srgbClr val="D2D2F4"/>
          </a:solidFill>
          <a:ln w="9525">
            <a:noFill/>
            <a:miter lim="800000"/>
            <a:headEnd/>
            <a:tailEnd/>
          </a:ln>
        </p:spPr>
        <p:txBody>
          <a:bodyPr wrap="square">
            <a:spAutoFit/>
          </a:bodyPr>
          <a:lstStyle/>
          <a:p>
            <a:pPr>
              <a:spcBef>
                <a:spcPct val="50000"/>
              </a:spcBef>
            </a:pPr>
            <a:r>
              <a:rPr lang="en-US" sz="1800" dirty="0">
                <a:solidFill>
                  <a:srgbClr val="FF00FF"/>
                </a:solidFill>
                <a:cs typeface="Arial" pitchFamily="34" charset="0"/>
              </a:rPr>
              <a:t>Commit</a:t>
            </a:r>
          </a:p>
        </p:txBody>
      </p:sp>
      <p:sp>
        <p:nvSpPr>
          <p:cNvPr id="32774" name="Content Placeholder 29"/>
          <p:cNvSpPr>
            <a:spLocks noGrp="1"/>
          </p:cNvSpPr>
          <p:nvPr>
            <p:ph idx="1"/>
          </p:nvPr>
        </p:nvSpPr>
        <p:spPr>
          <a:xfrm>
            <a:off x="182880" y="944880"/>
            <a:ext cx="8961119" cy="922020"/>
          </a:xfrm>
        </p:spPr>
        <p:txBody>
          <a:bodyPr/>
          <a:lstStyle/>
          <a:p>
            <a:pPr lvl="1">
              <a:spcBef>
                <a:spcPct val="0"/>
              </a:spcBef>
              <a:buNone/>
            </a:pPr>
            <a:r>
              <a:rPr lang="en-US" sz="1800" dirty="0">
                <a:latin typeface="Arial  " charset="0"/>
                <a:cs typeface="Arial  " charset="0"/>
              </a:rPr>
              <a:t>Pipeline stages:  fetch, decode, issue, execute, </a:t>
            </a:r>
            <a:r>
              <a:rPr lang="en-US" sz="1800" dirty="0">
                <a:solidFill>
                  <a:srgbClr val="408000"/>
                </a:solidFill>
                <a:latin typeface="Arial  " charset="0"/>
                <a:cs typeface="Arial  " charset="0"/>
              </a:rPr>
              <a:t>complete</a:t>
            </a:r>
            <a:r>
              <a:rPr lang="en-US" sz="1800" dirty="0">
                <a:latin typeface="Arial  " charset="0"/>
                <a:cs typeface="Arial  " charset="0"/>
              </a:rPr>
              <a:t>, </a:t>
            </a:r>
            <a:r>
              <a:rPr lang="en-US" sz="1800" dirty="0">
                <a:solidFill>
                  <a:srgbClr val="FF00FF"/>
                </a:solidFill>
                <a:latin typeface="Arial  " charset="0"/>
                <a:cs typeface="Arial  " charset="0"/>
              </a:rPr>
              <a:t>commit</a:t>
            </a:r>
          </a:p>
          <a:p>
            <a:pPr lvl="1">
              <a:spcBef>
                <a:spcPct val="0"/>
              </a:spcBef>
              <a:buNone/>
            </a:pPr>
            <a:endParaRPr lang="en-US" sz="1800" dirty="0">
              <a:solidFill>
                <a:srgbClr val="FF00FF"/>
              </a:solidFill>
              <a:latin typeface="Arial  " charset="0"/>
              <a:cs typeface="Arial  " charset="0"/>
            </a:endParaRPr>
          </a:p>
          <a:p>
            <a:pPr lvl="1">
              <a:spcBef>
                <a:spcPct val="0"/>
              </a:spcBef>
              <a:buNone/>
            </a:pPr>
            <a:endParaRPr lang="en-US" sz="1800" dirty="0">
              <a:latin typeface="Arial  " charset="0"/>
              <a:cs typeface="Arial  " charset="0"/>
            </a:endParaRPr>
          </a:p>
        </p:txBody>
      </p:sp>
      <p:sp>
        <p:nvSpPr>
          <p:cNvPr id="32776" name="Slide Number Placeholder 32"/>
          <p:cNvSpPr>
            <a:spLocks noGrp="1"/>
          </p:cNvSpPr>
          <p:nvPr>
            <p:ph type="sldNum" sz="quarter" idx="12"/>
          </p:nvPr>
        </p:nvSpPr>
        <p:spPr>
          <a:xfrm>
            <a:off x="7245350" y="6407150"/>
            <a:ext cx="1898650"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9DB1AAA-B591-4884-AF4D-A3BE9BF43FCA}"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a:t>
            </a:fld>
            <a:r>
              <a:rPr lang="en-GB"/>
              <a:t> </a:t>
            </a:r>
          </a:p>
        </p:txBody>
      </p:sp>
      <p:cxnSp>
        <p:nvCxnSpPr>
          <p:cNvPr id="32779" name="Straight Arrow Connector 33"/>
          <p:cNvCxnSpPr>
            <a:cxnSpLocks noChangeShapeType="1"/>
            <a:stCxn id="32773" idx="1"/>
          </p:cNvCxnSpPr>
          <p:nvPr/>
        </p:nvCxnSpPr>
        <p:spPr bwMode="auto">
          <a:xfrm rot="10800000">
            <a:off x="5361899" y="3573831"/>
            <a:ext cx="2083931" cy="99858"/>
          </a:xfrm>
          <a:prstGeom prst="straightConnector1">
            <a:avLst/>
          </a:prstGeom>
          <a:noFill/>
          <a:ln w="38100" algn="ctr">
            <a:solidFill>
              <a:schemeClr val="accent2"/>
            </a:solidFill>
            <a:round/>
            <a:headEnd/>
            <a:tailEnd type="arrow" w="med" len="med"/>
          </a:ln>
        </p:spPr>
      </p:cxnSp>
      <p:sp>
        <p:nvSpPr>
          <p:cNvPr id="29" name="Text Box 26"/>
          <p:cNvSpPr txBox="1">
            <a:spLocks noChangeArrowheads="1"/>
          </p:cNvSpPr>
          <p:nvPr/>
        </p:nvSpPr>
        <p:spPr bwMode="auto">
          <a:xfrm>
            <a:off x="3862253" y="6151067"/>
            <a:ext cx="1300117" cy="313932"/>
          </a:xfrm>
          <a:prstGeom prst="rect">
            <a:avLst/>
          </a:prstGeom>
          <a:solidFill>
            <a:srgbClr val="D2D2F4"/>
          </a:solidFill>
          <a:ln w="9525">
            <a:noFill/>
            <a:miter lim="800000"/>
            <a:headEnd/>
            <a:tailEnd/>
          </a:ln>
        </p:spPr>
        <p:txBody>
          <a:bodyPr wrap="square">
            <a:spAutoFit/>
          </a:bodyPr>
          <a:lstStyle/>
          <a:p>
            <a:pPr>
              <a:spcBef>
                <a:spcPct val="50000"/>
              </a:spcBef>
            </a:pPr>
            <a:r>
              <a:rPr lang="en-US" sz="1800" dirty="0">
                <a:solidFill>
                  <a:srgbClr val="408000"/>
                </a:solidFill>
                <a:cs typeface="Arial" pitchFamily="34" charset="0"/>
              </a:rPr>
              <a:t>Complete</a:t>
            </a:r>
          </a:p>
        </p:txBody>
      </p:sp>
      <p:cxnSp>
        <p:nvCxnSpPr>
          <p:cNvPr id="30" name="Straight Arrow Connector 33"/>
          <p:cNvCxnSpPr>
            <a:cxnSpLocks noChangeShapeType="1"/>
          </p:cNvCxnSpPr>
          <p:nvPr/>
        </p:nvCxnSpPr>
        <p:spPr bwMode="auto">
          <a:xfrm rot="10800000">
            <a:off x="3411180" y="5737913"/>
            <a:ext cx="429300" cy="427757"/>
          </a:xfrm>
          <a:prstGeom prst="straightConnector1">
            <a:avLst/>
          </a:prstGeom>
          <a:noFill/>
          <a:ln w="38100" algn="ctr">
            <a:solidFill>
              <a:schemeClr val="accent2"/>
            </a:solidFill>
            <a:round/>
            <a:headEnd/>
            <a:tailEnd type="arrow" w="med" len="med"/>
          </a:ln>
        </p:spPr>
      </p:cxnSp>
      <p:sp>
        <p:nvSpPr>
          <p:cNvPr id="32" name="Text Box 26"/>
          <p:cNvSpPr txBox="1">
            <a:spLocks noChangeArrowheads="1"/>
          </p:cNvSpPr>
          <p:nvPr/>
        </p:nvSpPr>
        <p:spPr bwMode="auto">
          <a:xfrm>
            <a:off x="1045029" y="3870510"/>
            <a:ext cx="914400" cy="302840"/>
          </a:xfrm>
          <a:prstGeom prst="rect">
            <a:avLst/>
          </a:prstGeom>
          <a:solidFill>
            <a:srgbClr val="D2D2F4"/>
          </a:solidFill>
          <a:ln w="9525">
            <a:noFill/>
            <a:miter lim="800000"/>
            <a:headEnd/>
            <a:tailEnd/>
          </a:ln>
        </p:spPr>
        <p:txBody>
          <a:bodyPr wrap="square">
            <a:spAutoFit/>
          </a:bodyPr>
          <a:lstStyle/>
          <a:p>
            <a:pPr>
              <a:spcBef>
                <a:spcPct val="50000"/>
              </a:spcBef>
            </a:pPr>
            <a:r>
              <a:rPr lang="en-US" sz="1800" dirty="0">
                <a:solidFill>
                  <a:srgbClr val="000000"/>
                </a:solidFill>
                <a:cs typeface="Arial" pitchFamily="34" charset="0"/>
              </a:rPr>
              <a:t>Issue</a:t>
            </a:r>
          </a:p>
        </p:txBody>
      </p:sp>
      <p:cxnSp>
        <p:nvCxnSpPr>
          <p:cNvPr id="33" name="Straight Arrow Connector 33"/>
          <p:cNvCxnSpPr>
            <a:cxnSpLocks noChangeShapeType="1"/>
          </p:cNvCxnSpPr>
          <p:nvPr/>
        </p:nvCxnSpPr>
        <p:spPr bwMode="auto">
          <a:xfrm>
            <a:off x="2036354" y="4097020"/>
            <a:ext cx="1173077" cy="286346"/>
          </a:xfrm>
          <a:prstGeom prst="straightConnector1">
            <a:avLst/>
          </a:prstGeom>
          <a:noFill/>
          <a:ln w="38100" algn="ctr">
            <a:solidFill>
              <a:schemeClr val="accent2"/>
            </a:solidFill>
            <a:round/>
            <a:headEnd/>
            <a:tailEnd type="arrow" w="med" len="med"/>
          </a:ln>
        </p:spPr>
      </p:cxnSp>
      <p:sp>
        <p:nvSpPr>
          <p:cNvPr id="35" name="Text Box 26"/>
          <p:cNvSpPr txBox="1">
            <a:spLocks noChangeArrowheads="1"/>
          </p:cNvSpPr>
          <p:nvPr/>
        </p:nvSpPr>
        <p:spPr bwMode="auto">
          <a:xfrm>
            <a:off x="888276" y="5032016"/>
            <a:ext cx="1031965" cy="302840"/>
          </a:xfrm>
          <a:prstGeom prst="rect">
            <a:avLst/>
          </a:prstGeom>
          <a:solidFill>
            <a:srgbClr val="D2D2F4"/>
          </a:solidFill>
          <a:ln w="9525">
            <a:noFill/>
            <a:miter lim="800000"/>
            <a:headEnd/>
            <a:tailEnd/>
          </a:ln>
        </p:spPr>
        <p:txBody>
          <a:bodyPr wrap="square">
            <a:spAutoFit/>
          </a:bodyPr>
          <a:lstStyle/>
          <a:p>
            <a:pPr>
              <a:spcBef>
                <a:spcPct val="50000"/>
              </a:spcBef>
            </a:pPr>
            <a:r>
              <a:rPr lang="en-US" sz="1800" dirty="0">
                <a:solidFill>
                  <a:srgbClr val="000000"/>
                </a:solidFill>
                <a:cs typeface="Arial" pitchFamily="34" charset="0"/>
              </a:rPr>
              <a:t>execute</a:t>
            </a:r>
          </a:p>
        </p:txBody>
      </p:sp>
      <p:cxnSp>
        <p:nvCxnSpPr>
          <p:cNvPr id="36" name="Straight Arrow Connector 33"/>
          <p:cNvCxnSpPr>
            <a:cxnSpLocks noChangeShapeType="1"/>
          </p:cNvCxnSpPr>
          <p:nvPr/>
        </p:nvCxnSpPr>
        <p:spPr bwMode="auto">
          <a:xfrm flipV="1">
            <a:off x="1972491" y="5093477"/>
            <a:ext cx="1160015" cy="27163"/>
          </a:xfrm>
          <a:prstGeom prst="straightConnector1">
            <a:avLst/>
          </a:prstGeom>
          <a:noFill/>
          <a:ln w="38100" algn="ctr">
            <a:solidFill>
              <a:schemeClr val="accent2"/>
            </a:solidFill>
            <a:round/>
            <a:headEnd/>
            <a:tailEnd type="arrow" w="med" len="med"/>
          </a:ln>
        </p:spPr>
      </p:cxn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20337" y="0"/>
            <a:ext cx="8029575" cy="409575"/>
          </a:xfrm>
          <a:noFill/>
        </p:spPr>
        <p:txBody>
          <a:bodyPr lIns="90488" tIns="44450" rIns="90488" bIns="44450"/>
          <a:lstStyle/>
          <a:p>
            <a:r>
              <a:rPr lang="en-US" sz="3600" dirty="0">
                <a:latin typeface="Arial  " charset="0"/>
                <a:cs typeface="Arial  " charset="0"/>
              </a:rPr>
              <a:t>The Reorder Buffer (ROB)</a:t>
            </a:r>
            <a:endParaRPr lang="en-US" dirty="0">
              <a:latin typeface="Arial  " charset="0"/>
              <a:cs typeface="Arial  " charset="0"/>
            </a:endParaRPr>
          </a:p>
        </p:txBody>
      </p:sp>
      <p:sp>
        <p:nvSpPr>
          <p:cNvPr id="32774" name="Content Placeholder 29"/>
          <p:cNvSpPr>
            <a:spLocks noGrp="1"/>
          </p:cNvSpPr>
          <p:nvPr>
            <p:ph idx="1"/>
          </p:nvPr>
        </p:nvSpPr>
        <p:spPr>
          <a:xfrm>
            <a:off x="248195" y="1394939"/>
            <a:ext cx="8085908" cy="5717179"/>
          </a:xfrm>
        </p:spPr>
        <p:txBody>
          <a:bodyPr/>
          <a:lstStyle/>
          <a:p>
            <a:pPr>
              <a:lnSpc>
                <a:spcPct val="110000"/>
              </a:lnSpc>
              <a:spcBef>
                <a:spcPct val="0"/>
              </a:spcBef>
            </a:pPr>
            <a:r>
              <a:rPr lang="en-US" sz="1800" dirty="0">
                <a:latin typeface="Arial  " charset="0"/>
                <a:cs typeface="Arial  " charset="0"/>
              </a:rPr>
              <a:t>The Reorder Buffer (ROB) maintains a “window” of dynamic instructions currently in the pipeline. </a:t>
            </a:r>
          </a:p>
          <a:p>
            <a:pPr>
              <a:lnSpc>
                <a:spcPct val="110000"/>
              </a:lnSpc>
              <a:spcBef>
                <a:spcPct val="0"/>
              </a:spcBef>
            </a:pPr>
            <a:endParaRPr lang="en-US" sz="1800" dirty="0">
              <a:latin typeface="Arial  " charset="0"/>
              <a:cs typeface="Arial  " charset="0"/>
            </a:endParaRPr>
          </a:p>
          <a:p>
            <a:pPr>
              <a:lnSpc>
                <a:spcPct val="110000"/>
              </a:lnSpc>
              <a:spcBef>
                <a:spcPct val="0"/>
              </a:spcBef>
            </a:pPr>
            <a:r>
              <a:rPr lang="en-US" sz="1800" dirty="0">
                <a:latin typeface="Arial  " charset="0"/>
                <a:cs typeface="Arial  " charset="0"/>
              </a:rPr>
              <a:t>The instructions are stored in “first-in first-out” order. That is, the order originally specified by the programmer).   Entry allocated in ROB during issue at same time as a reservation station is allocated.</a:t>
            </a:r>
          </a:p>
          <a:p>
            <a:pPr>
              <a:lnSpc>
                <a:spcPct val="110000"/>
              </a:lnSpc>
              <a:spcBef>
                <a:spcPct val="0"/>
              </a:spcBef>
            </a:pPr>
            <a:endParaRPr lang="en-US" sz="1800" dirty="0">
              <a:latin typeface="Arial  " charset="0"/>
              <a:cs typeface="Arial  " charset="0"/>
            </a:endParaRPr>
          </a:p>
          <a:p>
            <a:pPr>
              <a:lnSpc>
                <a:spcPct val="110000"/>
              </a:lnSpc>
              <a:spcBef>
                <a:spcPct val="0"/>
              </a:spcBef>
            </a:pPr>
            <a:r>
              <a:rPr lang="en-US" sz="1800" dirty="0">
                <a:latin typeface="Arial  " charset="0"/>
                <a:cs typeface="Arial  " charset="0"/>
              </a:rPr>
              <a:t>Each ROB entry contains the instruction’s PC, destination register number, destination register value, and an execution status flag.</a:t>
            </a:r>
          </a:p>
          <a:p>
            <a:pPr>
              <a:lnSpc>
                <a:spcPct val="110000"/>
              </a:lnSpc>
              <a:spcBef>
                <a:spcPct val="0"/>
              </a:spcBef>
            </a:pPr>
            <a:endParaRPr lang="en-US" sz="1800" dirty="0">
              <a:latin typeface="Arial  " charset="0"/>
              <a:cs typeface="Arial  " charset="0"/>
            </a:endParaRPr>
          </a:p>
          <a:p>
            <a:pPr>
              <a:lnSpc>
                <a:spcPct val="110000"/>
              </a:lnSpc>
              <a:spcBef>
                <a:spcPct val="0"/>
              </a:spcBef>
            </a:pPr>
            <a:r>
              <a:rPr lang="en-US" sz="1800" dirty="0">
                <a:latin typeface="Arial  " charset="0"/>
                <a:cs typeface="Arial  " charset="0"/>
              </a:rPr>
              <a:t>To make it easier to update the ROB after an instruction executes and to enable easy lookup of results buffered in the ROB but not yet written to the register file we use the ROB entry of the instruction as the tag for renaming instead of reservation station ID.</a:t>
            </a:r>
          </a:p>
        </p:txBody>
      </p:sp>
      <p:sp>
        <p:nvSpPr>
          <p:cNvPr id="32776" name="Slide Number Placeholder 32"/>
          <p:cNvSpPr>
            <a:spLocks noGrp="1"/>
          </p:cNvSpPr>
          <p:nvPr>
            <p:ph type="sldNum" sz="quarter" idx="12"/>
          </p:nvPr>
        </p:nvSpPr>
        <p:spPr>
          <a:xfrm>
            <a:off x="7245350" y="6407150"/>
            <a:ext cx="1898650"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9DB1AAA-B591-4884-AF4D-A3BE9BF43FCA}"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a:t>
            </a:fld>
            <a:r>
              <a:rPr lang="en-GB"/>
              <a:t>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35849" name="Group 4"/>
          <p:cNvGrpSpPr>
            <a:grpSpLocks noChangeAspect="1"/>
          </p:cNvGrpSpPr>
          <p:nvPr/>
        </p:nvGrpSpPr>
        <p:grpSpPr bwMode="auto">
          <a:xfrm>
            <a:off x="3015760" y="4593888"/>
            <a:ext cx="2656247" cy="354206"/>
            <a:chOff x="2064" y="2928"/>
            <a:chExt cx="1919" cy="256"/>
          </a:xfrm>
        </p:grpSpPr>
        <p:sp>
          <p:nvSpPr>
            <p:cNvPr id="607237" name="Rectangle 5"/>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35854" name="Line 12"/>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5866" name="Group 24"/>
          <p:cNvGrpSpPr>
            <a:grpSpLocks noChangeAspect="1"/>
          </p:cNvGrpSpPr>
          <p:nvPr/>
        </p:nvGrpSpPr>
        <p:grpSpPr bwMode="auto">
          <a:xfrm>
            <a:off x="3668910" y="3464857"/>
            <a:ext cx="1926783" cy="708412"/>
            <a:chOff x="3456" y="1200"/>
            <a:chExt cx="1392" cy="512"/>
          </a:xfrm>
        </p:grpSpPr>
        <p:sp>
          <p:nvSpPr>
            <p:cNvPr id="607257" name="Rectangle 25"/>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35869" name="Group 31"/>
          <p:cNvGrpSpPr>
            <a:grpSpLocks noChangeAspect="1"/>
          </p:cNvGrpSpPr>
          <p:nvPr/>
        </p:nvGrpSpPr>
        <p:grpSpPr bwMode="auto">
          <a:xfrm>
            <a:off x="3668910" y="1273208"/>
            <a:ext cx="3388480" cy="1062617"/>
            <a:chOff x="2208" y="576"/>
            <a:chExt cx="2448" cy="768"/>
          </a:xfrm>
        </p:grpSpPr>
        <p:sp>
          <p:nvSpPr>
            <p:cNvPr id="607264" name="Rectangle 32"/>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5" name="Rectangle 53"/>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8" name="Rectangle 56"/>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607289" name="Rectangle 57"/>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1" name="Rectangle 59"/>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35882" name="Line 60"/>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p:cNvSpPr txBox="1">
            <a:spLocks noChangeAspect="1" noChangeArrowheads="1"/>
          </p:cNvSpPr>
          <p:nvPr/>
        </p:nvSpPr>
        <p:spPr bwMode="auto">
          <a:xfrm>
            <a:off x="6705347" y="971964"/>
            <a:ext cx="705642" cy="256096"/>
          </a:xfrm>
          <a:prstGeom prst="rect">
            <a:avLst/>
          </a:prstGeom>
          <a:noFill/>
          <a:ln w="28575">
            <a:noFill/>
            <a:miter lim="800000"/>
            <a:headEnd/>
            <a:tailEnd/>
          </a:ln>
        </p:spPr>
        <p:txBody>
          <a:bodyPr wrap="none" anchor="ctr">
            <a:spAutoFit/>
          </a:bodyPr>
          <a:lstStyle/>
          <a:p>
            <a:pPr algn="ctr"/>
            <a:r>
              <a:rPr lang="en-US" sz="1400" b="1" dirty="0">
                <a:solidFill>
                  <a:srgbClr val="000000"/>
                </a:solidFill>
                <a:latin typeface="Comic Sans MS" pitchFamily="66" charset="0"/>
              </a:rPr>
              <a:t>Done?</a:t>
            </a:r>
          </a:p>
        </p:txBody>
      </p:sp>
      <p:sp>
        <p:nvSpPr>
          <p:cNvPr id="607294" name="Freeform 62"/>
          <p:cNvSpPr>
            <a:spLocks noChangeAspect="1"/>
          </p:cNvSpPr>
          <p:nvPr/>
        </p:nvSpPr>
        <p:spPr bwMode="auto">
          <a:xfrm>
            <a:off x="7469875" y="2209917"/>
            <a:ext cx="811975"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89" name="AutoShape 67"/>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35890" name="Text Box 68"/>
          <p:cNvSpPr txBox="1">
            <a:spLocks noChangeAspect="1" noChangeArrowheads="1"/>
          </p:cNvSpPr>
          <p:nvPr/>
        </p:nvSpPr>
        <p:spPr bwMode="auto">
          <a:xfrm>
            <a:off x="8291904"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p:cNvSpPr txBox="1">
            <a:spLocks noChangeAspect="1" noChangeArrowheads="1"/>
          </p:cNvSpPr>
          <p:nvPr/>
        </p:nvSpPr>
        <p:spPr bwMode="auto">
          <a:xfrm>
            <a:off x="8255915"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35892" name="Group 70"/>
          <p:cNvGrpSpPr>
            <a:grpSpLocks noChangeAspect="1"/>
          </p:cNvGrpSpPr>
          <p:nvPr/>
        </p:nvGrpSpPr>
        <p:grpSpPr bwMode="auto">
          <a:xfrm rot="16200000">
            <a:off x="1742290" y="898031"/>
            <a:ext cx="796963" cy="1063052"/>
            <a:chOff x="1872" y="1584"/>
            <a:chExt cx="576" cy="864"/>
          </a:xfrm>
        </p:grpSpPr>
        <p:sp>
          <p:nvSpPr>
            <p:cNvPr id="607303" name="Rectangle 71"/>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898" name="Text Box 86"/>
          <p:cNvSpPr txBox="1">
            <a:spLocks noChangeAspect="1" noChangeArrowheads="1"/>
          </p:cNvSpPr>
          <p:nvPr/>
        </p:nvSpPr>
        <p:spPr bwMode="auto">
          <a:xfrm>
            <a:off x="1414984" y="3887227"/>
            <a:ext cx="2021708" cy="332142"/>
          </a:xfrm>
          <a:prstGeom prst="rect">
            <a:avLst/>
          </a:prstGeom>
          <a:noFill/>
          <a:ln w="28575">
            <a:noFill/>
            <a:miter lim="800000"/>
            <a:headEnd/>
            <a:tailEnd/>
          </a:ln>
        </p:spPr>
        <p:txBody>
          <a:bodyPr wrap="none" anchor="ctr">
            <a:spAutoFit/>
          </a:bodyPr>
          <a:lstStyle/>
          <a:p>
            <a:pPr algn="ctr"/>
            <a:r>
              <a:rPr lang="en-US" sz="2000" b="1" dirty="0" err="1">
                <a:solidFill>
                  <a:srgbClr val="000000"/>
                </a:solidFill>
                <a:latin typeface="Comic Sans MS" pitchFamily="66" charset="0"/>
              </a:rPr>
              <a:t>RAT+Registers</a:t>
            </a:r>
            <a:endParaRPr lang="en-US" sz="2000" b="1" dirty="0">
              <a:solidFill>
                <a:srgbClr val="000000"/>
              </a:solidFill>
              <a:latin typeface="Comic Sans MS" pitchFamily="66" charset="0"/>
            </a:endParaRPr>
          </a:p>
        </p:txBody>
      </p:sp>
      <p:sp>
        <p:nvSpPr>
          <p:cNvPr id="35900" name="Line 88"/>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a:t>
            </a:fld>
            <a:r>
              <a:rPr lang="en-GB"/>
              <a:t> </a:t>
            </a:r>
          </a:p>
        </p:txBody>
      </p:sp>
      <p:sp>
        <p:nvSpPr>
          <p:cNvPr id="35846" name="Rectangle 50"/>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p:cNvSpPr txBox="1"/>
          <p:nvPr/>
        </p:nvSpPr>
        <p:spPr>
          <a:xfrm>
            <a:off x="0" y="2351509"/>
            <a:ext cx="3134191" cy="1495794"/>
          </a:xfrm>
          <a:prstGeom prst="rect">
            <a:avLst/>
          </a:prstGeom>
          <a:noFill/>
        </p:spPr>
        <p:txBody>
          <a:bodyPr wrap="none" rtlCol="0">
            <a:spAutoFit/>
          </a:bodyPr>
          <a:lstStyle/>
          <a:p>
            <a:r>
              <a:rPr lang="en-CA" sz="2000" i="1" dirty="0">
                <a:solidFill>
                  <a:schemeClr val="accent2"/>
                </a:solidFill>
              </a:rPr>
              <a:t>Cycle 3</a:t>
            </a:r>
            <a:r>
              <a:rPr lang="en-CA" sz="2000" i="1" dirty="0">
                <a:solidFill>
                  <a:schemeClr val="accent2"/>
                </a:solidFill>
                <a:highlight>
                  <a:srgbClr val="FFFF00"/>
                </a:highlight>
              </a:rPr>
              <a:t>a</a:t>
            </a:r>
          </a:p>
          <a:p>
            <a:r>
              <a:rPr lang="en-CA" sz="2000" dirty="0">
                <a:solidFill>
                  <a:schemeClr val="accent2"/>
                </a:solidFill>
              </a:rPr>
              <a:t>DIV issues: allocate ROB </a:t>
            </a:r>
          </a:p>
          <a:p>
            <a:r>
              <a:rPr lang="en-CA" sz="2000" dirty="0">
                <a:solidFill>
                  <a:schemeClr val="accent2"/>
                </a:solidFill>
              </a:rPr>
              <a:t>and reservation station </a:t>
            </a:r>
          </a:p>
          <a:p>
            <a:r>
              <a:rPr lang="en-CA" sz="2000" dirty="0">
                <a:solidFill>
                  <a:schemeClr val="accent2"/>
                </a:solidFill>
              </a:rPr>
              <a:t>entries, copy R1 and R2 </a:t>
            </a:r>
          </a:p>
          <a:p>
            <a:r>
              <a:rPr lang="en-CA" sz="2000" dirty="0">
                <a:solidFill>
                  <a:schemeClr val="accent2"/>
                </a:solidFill>
              </a:rPr>
              <a:t>values into reservation </a:t>
            </a:r>
          </a:p>
          <a:p>
            <a:r>
              <a:rPr lang="en-CA" sz="2000" dirty="0">
                <a:solidFill>
                  <a:schemeClr val="accent2"/>
                </a:solidFill>
              </a:rPr>
              <a:t>station, and </a:t>
            </a:r>
            <a:r>
              <a:rPr lang="en-CA" sz="2000" dirty="0">
                <a:solidFill>
                  <a:schemeClr val="accent2"/>
                </a:solidFill>
                <a:highlight>
                  <a:srgbClr val="FFFF00"/>
                </a:highlight>
              </a:rPr>
              <a:t>…</a:t>
            </a:r>
          </a:p>
        </p:txBody>
      </p:sp>
      <p:sp>
        <p:nvSpPr>
          <p:cNvPr id="97" name="Rounded Rectangle 96"/>
          <p:cNvSpPr/>
          <p:nvPr/>
        </p:nvSpPr>
        <p:spPr bwMode="auto">
          <a:xfrm>
            <a:off x="3630304" y="2852382"/>
            <a:ext cx="3425589" cy="300251"/>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cxnSp>
        <p:nvCxnSpPr>
          <p:cNvPr id="100" name="Straight Connector 99"/>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4" name="Rounded Rectangle 103"/>
          <p:cNvSpPr/>
          <p:nvPr/>
        </p:nvSpPr>
        <p:spPr bwMode="auto">
          <a:xfrm>
            <a:off x="2920549" y="4520075"/>
            <a:ext cx="2827102" cy="300120"/>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09" name="Rectangle 14"/>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132" name="Text Box 61"/>
          <p:cNvSpPr txBox="1">
            <a:spLocks noChangeAspect="1" noChangeArrowheads="1"/>
          </p:cNvSpPr>
          <p:nvPr/>
        </p:nvSpPr>
        <p:spPr bwMode="auto">
          <a:xfrm>
            <a:off x="3350094" y="978588"/>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133" name="Text Box 61"/>
          <p:cNvSpPr txBox="1">
            <a:spLocks noChangeAspect="1" noChangeArrowheads="1"/>
          </p:cNvSpPr>
          <p:nvPr/>
        </p:nvSpPr>
        <p:spPr bwMode="auto">
          <a:xfrm>
            <a:off x="4059866" y="987296"/>
            <a:ext cx="649537" cy="260264"/>
          </a:xfrm>
          <a:prstGeom prst="rect">
            <a:avLst/>
          </a:prstGeom>
          <a:noFill/>
          <a:ln w="28575">
            <a:noFill/>
            <a:miter lim="800000"/>
            <a:headEnd/>
            <a:tailEnd/>
          </a:ln>
        </p:spPr>
        <p:txBody>
          <a:bodyPr wrap="none" anchor="ctr">
            <a:spAutoFit/>
          </a:bodyPr>
          <a:lstStyle/>
          <a:p>
            <a:pPr algn="ctr"/>
            <a:r>
              <a:rPr lang="en-US" sz="1400" b="1" dirty="0">
                <a:solidFill>
                  <a:srgbClr val="000000"/>
                </a:solidFill>
                <a:latin typeface="Comic Sans MS" pitchFamily="66" charset="0"/>
              </a:rPr>
              <a:t>Value</a:t>
            </a:r>
          </a:p>
        </p:txBody>
      </p:sp>
      <p:sp>
        <p:nvSpPr>
          <p:cNvPr id="134" name="Text Box 61"/>
          <p:cNvSpPr txBox="1">
            <a:spLocks noChangeAspect="1" noChangeArrowheads="1"/>
          </p:cNvSpPr>
          <p:nvPr/>
        </p:nvSpPr>
        <p:spPr bwMode="auto">
          <a:xfrm>
            <a:off x="4965126" y="971964"/>
            <a:ext cx="1625766" cy="256096"/>
          </a:xfrm>
          <a:prstGeom prst="rect">
            <a:avLst/>
          </a:prstGeom>
          <a:noFill/>
          <a:ln w="28575">
            <a:noFill/>
            <a:miter lim="800000"/>
            <a:headEnd/>
            <a:tailEnd/>
          </a:ln>
        </p:spPr>
        <p:txBody>
          <a:bodyPr wrap="none" anchor="ctr">
            <a:spAutoFit/>
          </a:bodyPr>
          <a:lstStyle/>
          <a:p>
            <a:pPr algn="ctr"/>
            <a:r>
              <a:rPr lang="en-US" sz="1400" b="1" dirty="0">
                <a:solidFill>
                  <a:srgbClr val="000000"/>
                </a:solidFill>
                <a:latin typeface="Comic Sans MS" pitchFamily="66" charset="0"/>
              </a:rPr>
              <a:t>Program Counter</a:t>
            </a:r>
          </a:p>
        </p:txBody>
      </p:sp>
      <p:cxnSp>
        <p:nvCxnSpPr>
          <p:cNvPr id="136" name="Straight Connector 135"/>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40" name="Rectangle 50"/>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42" name="Rectangle 8"/>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143" name="Rectangle 9"/>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44" name="Rectangle 10"/>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45" name="Rectangle 11"/>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146" name="Rectangle 15"/>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cxnSp>
        <p:nvCxnSpPr>
          <p:cNvPr id="147" name="Straight Arrow Connector 146"/>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48" name="Straight Arrow Connector 147"/>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2" name="Rectangle 56">
            <a:extLst>
              <a:ext uri="{FF2B5EF4-FFF2-40B4-BE49-F238E27FC236}">
                <a16:creationId xmlns:a16="http://schemas.microsoft.com/office/drawing/2014/main" id="{B2D4D4F9-A12C-8F0E-7FFD-271B1B05D02A}"/>
              </a:ext>
            </a:extLst>
          </p:cNvPr>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3B969-9ECA-7C51-A242-9080DCBCD063}"/>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14830886-2CD4-F9F4-AECA-C2F59515BEDA}"/>
              </a:ext>
            </a:extLst>
          </p:cNvPr>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35849" name="Group 4">
            <a:extLst>
              <a:ext uri="{FF2B5EF4-FFF2-40B4-BE49-F238E27FC236}">
                <a16:creationId xmlns:a16="http://schemas.microsoft.com/office/drawing/2014/main" id="{674D6D00-92D8-BCCE-9892-810DEF092C64}"/>
              </a:ext>
            </a:extLst>
          </p:cNvPr>
          <p:cNvGrpSpPr>
            <a:grpSpLocks noChangeAspect="1"/>
          </p:cNvGrpSpPr>
          <p:nvPr/>
        </p:nvGrpSpPr>
        <p:grpSpPr bwMode="auto">
          <a:xfrm>
            <a:off x="3015760" y="4593888"/>
            <a:ext cx="2656247" cy="354206"/>
            <a:chOff x="2064" y="2928"/>
            <a:chExt cx="1919" cy="256"/>
          </a:xfrm>
        </p:grpSpPr>
        <p:sp>
          <p:nvSpPr>
            <p:cNvPr id="607237" name="Rectangle 5">
              <a:extLst>
                <a:ext uri="{FF2B5EF4-FFF2-40B4-BE49-F238E27FC236}">
                  <a16:creationId xmlns:a16="http://schemas.microsoft.com/office/drawing/2014/main" id="{40542692-C4FA-D19D-EE8D-1A4E9C6F1B74}"/>
                </a:ext>
              </a:extLst>
            </p:cNvPr>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a:extLst>
                <a:ext uri="{FF2B5EF4-FFF2-40B4-BE49-F238E27FC236}">
                  <a16:creationId xmlns:a16="http://schemas.microsoft.com/office/drawing/2014/main" id="{96421D72-781B-972B-BCFB-0516D17E7644}"/>
                </a:ext>
              </a:extLst>
            </p:cNvPr>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a:extLst>
                <a:ext uri="{FF2B5EF4-FFF2-40B4-BE49-F238E27FC236}">
                  <a16:creationId xmlns:a16="http://schemas.microsoft.com/office/drawing/2014/main" id="{0A77A3C4-D4FA-4B54-F0C6-EE4AA65A3C81}"/>
                </a:ext>
              </a:extLst>
            </p:cNvPr>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35854" name="Line 12">
            <a:extLst>
              <a:ext uri="{FF2B5EF4-FFF2-40B4-BE49-F238E27FC236}">
                <a16:creationId xmlns:a16="http://schemas.microsoft.com/office/drawing/2014/main" id="{8B1A4AAF-94B7-D09D-A0D8-91C44429AF20}"/>
              </a:ext>
            </a:extLst>
          </p:cNvPr>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a:extLst>
              <a:ext uri="{FF2B5EF4-FFF2-40B4-BE49-F238E27FC236}">
                <a16:creationId xmlns:a16="http://schemas.microsoft.com/office/drawing/2014/main" id="{B008A30D-C8F7-A255-3CE1-3EA5C1EE9F61}"/>
              </a:ext>
            </a:extLst>
          </p:cNvPr>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a:extLst>
              <a:ext uri="{FF2B5EF4-FFF2-40B4-BE49-F238E27FC236}">
                <a16:creationId xmlns:a16="http://schemas.microsoft.com/office/drawing/2014/main" id="{CAAD1408-47B6-4591-835B-8B0501A0C4CC}"/>
              </a:ext>
            </a:extLst>
          </p:cNvPr>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a:extLst>
              <a:ext uri="{FF2B5EF4-FFF2-40B4-BE49-F238E27FC236}">
                <a16:creationId xmlns:a16="http://schemas.microsoft.com/office/drawing/2014/main" id="{3436E750-837B-06B9-E627-F7BB185D2177}"/>
              </a:ext>
            </a:extLst>
          </p:cNvPr>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a:extLst>
              <a:ext uri="{FF2B5EF4-FFF2-40B4-BE49-F238E27FC236}">
                <a16:creationId xmlns:a16="http://schemas.microsoft.com/office/drawing/2014/main" id="{3E0AB4AF-5E32-61D4-96F0-3DD5E8EAD7D6}"/>
              </a:ext>
            </a:extLst>
          </p:cNvPr>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a:extLst>
              <a:ext uri="{FF2B5EF4-FFF2-40B4-BE49-F238E27FC236}">
                <a16:creationId xmlns:a16="http://schemas.microsoft.com/office/drawing/2014/main" id="{954230BD-30EF-C4BB-9A70-1BFC19B509D6}"/>
              </a:ext>
            </a:extLst>
          </p:cNvPr>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a:extLst>
              <a:ext uri="{FF2B5EF4-FFF2-40B4-BE49-F238E27FC236}">
                <a16:creationId xmlns:a16="http://schemas.microsoft.com/office/drawing/2014/main" id="{869A0A6E-7D6B-0A01-2940-A4AE97AEE2C0}"/>
              </a:ext>
            </a:extLst>
          </p:cNvPr>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a:extLst>
              <a:ext uri="{FF2B5EF4-FFF2-40B4-BE49-F238E27FC236}">
                <a16:creationId xmlns:a16="http://schemas.microsoft.com/office/drawing/2014/main" id="{AC402F3C-4AC4-B973-3908-184186E6007C}"/>
              </a:ext>
            </a:extLst>
          </p:cNvPr>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a:extLst>
              <a:ext uri="{FF2B5EF4-FFF2-40B4-BE49-F238E27FC236}">
                <a16:creationId xmlns:a16="http://schemas.microsoft.com/office/drawing/2014/main" id="{67A8FAF1-0BC1-3C1F-ABAC-2D8BA78B3B5C}"/>
              </a:ext>
            </a:extLst>
          </p:cNvPr>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a:extLst>
              <a:ext uri="{FF2B5EF4-FFF2-40B4-BE49-F238E27FC236}">
                <a16:creationId xmlns:a16="http://schemas.microsoft.com/office/drawing/2014/main" id="{5F818646-FC17-8DA5-2CB7-B8BBA2E20CCA}"/>
              </a:ext>
            </a:extLst>
          </p:cNvPr>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a:extLst>
              <a:ext uri="{FF2B5EF4-FFF2-40B4-BE49-F238E27FC236}">
                <a16:creationId xmlns:a16="http://schemas.microsoft.com/office/drawing/2014/main" id="{2AD5CD73-6325-DD75-36BF-5FE16560E183}"/>
              </a:ext>
            </a:extLst>
          </p:cNvPr>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5866" name="Group 24">
            <a:extLst>
              <a:ext uri="{FF2B5EF4-FFF2-40B4-BE49-F238E27FC236}">
                <a16:creationId xmlns:a16="http://schemas.microsoft.com/office/drawing/2014/main" id="{7C1EE598-6C4D-E6AB-38C9-F2B21D3A8226}"/>
              </a:ext>
            </a:extLst>
          </p:cNvPr>
          <p:cNvGrpSpPr>
            <a:grpSpLocks noChangeAspect="1"/>
          </p:cNvGrpSpPr>
          <p:nvPr/>
        </p:nvGrpSpPr>
        <p:grpSpPr bwMode="auto">
          <a:xfrm>
            <a:off x="3668910" y="3464857"/>
            <a:ext cx="1926783" cy="708412"/>
            <a:chOff x="3456" y="1200"/>
            <a:chExt cx="1392" cy="512"/>
          </a:xfrm>
        </p:grpSpPr>
        <p:sp>
          <p:nvSpPr>
            <p:cNvPr id="607257" name="Rectangle 25">
              <a:extLst>
                <a:ext uri="{FF2B5EF4-FFF2-40B4-BE49-F238E27FC236}">
                  <a16:creationId xmlns:a16="http://schemas.microsoft.com/office/drawing/2014/main" id="{22A75D48-8B96-E9BE-EF25-CE32F2408AC9}"/>
                </a:ext>
              </a:extLst>
            </p:cNvPr>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a:extLst>
                <a:ext uri="{FF2B5EF4-FFF2-40B4-BE49-F238E27FC236}">
                  <a16:creationId xmlns:a16="http://schemas.microsoft.com/office/drawing/2014/main" id="{2BDEBF9F-F8B4-CD24-31E6-A47504D06696}"/>
                </a:ext>
              </a:extLst>
            </p:cNvPr>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a:extLst>
                <a:ext uri="{FF2B5EF4-FFF2-40B4-BE49-F238E27FC236}">
                  <a16:creationId xmlns:a16="http://schemas.microsoft.com/office/drawing/2014/main" id="{4DF3E1D3-F432-215E-B5C7-0921395AFDEB}"/>
                </a:ext>
              </a:extLst>
            </p:cNvPr>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a:extLst>
                <a:ext uri="{FF2B5EF4-FFF2-40B4-BE49-F238E27FC236}">
                  <a16:creationId xmlns:a16="http://schemas.microsoft.com/office/drawing/2014/main" id="{F52E7D7B-2095-6312-A64B-B47E2EAF4664}"/>
                </a:ext>
              </a:extLst>
            </p:cNvPr>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a:extLst>
              <a:ext uri="{FF2B5EF4-FFF2-40B4-BE49-F238E27FC236}">
                <a16:creationId xmlns:a16="http://schemas.microsoft.com/office/drawing/2014/main" id="{8425934A-61EC-ECE2-0FD1-440A34C69550}"/>
              </a:ext>
            </a:extLst>
          </p:cNvPr>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35869" name="Group 31">
            <a:extLst>
              <a:ext uri="{FF2B5EF4-FFF2-40B4-BE49-F238E27FC236}">
                <a16:creationId xmlns:a16="http://schemas.microsoft.com/office/drawing/2014/main" id="{2A11E40D-1BFA-A013-F7C1-1EF57E1E2E0F}"/>
              </a:ext>
            </a:extLst>
          </p:cNvPr>
          <p:cNvGrpSpPr>
            <a:grpSpLocks noChangeAspect="1"/>
          </p:cNvGrpSpPr>
          <p:nvPr/>
        </p:nvGrpSpPr>
        <p:grpSpPr bwMode="auto">
          <a:xfrm>
            <a:off x="3668910" y="1273208"/>
            <a:ext cx="3388480" cy="1062617"/>
            <a:chOff x="2208" y="576"/>
            <a:chExt cx="2448" cy="768"/>
          </a:xfrm>
        </p:grpSpPr>
        <p:sp>
          <p:nvSpPr>
            <p:cNvPr id="607264" name="Rectangle 32">
              <a:extLst>
                <a:ext uri="{FF2B5EF4-FFF2-40B4-BE49-F238E27FC236}">
                  <a16:creationId xmlns:a16="http://schemas.microsoft.com/office/drawing/2014/main" id="{47B91492-E373-8B11-BC97-3A5FD7444B1D}"/>
                </a:ext>
              </a:extLst>
            </p:cNvPr>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a:extLst>
                <a:ext uri="{FF2B5EF4-FFF2-40B4-BE49-F238E27FC236}">
                  <a16:creationId xmlns:a16="http://schemas.microsoft.com/office/drawing/2014/main" id="{862995FB-02B5-55E0-817D-1D95004FC59E}"/>
                </a:ext>
              </a:extLst>
            </p:cNvPr>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a:extLst>
                <a:ext uri="{FF2B5EF4-FFF2-40B4-BE49-F238E27FC236}">
                  <a16:creationId xmlns:a16="http://schemas.microsoft.com/office/drawing/2014/main" id="{B22F84F9-87B1-ABB0-4EE5-FFBE501A4C3C}"/>
                </a:ext>
              </a:extLst>
            </p:cNvPr>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a:extLst>
                <a:ext uri="{FF2B5EF4-FFF2-40B4-BE49-F238E27FC236}">
                  <a16:creationId xmlns:a16="http://schemas.microsoft.com/office/drawing/2014/main" id="{67DCB488-F5A4-6DA7-F2ED-66B65024596D}"/>
                </a:ext>
              </a:extLst>
            </p:cNvPr>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a:extLst>
                <a:ext uri="{FF2B5EF4-FFF2-40B4-BE49-F238E27FC236}">
                  <a16:creationId xmlns:a16="http://schemas.microsoft.com/office/drawing/2014/main" id="{64A04A56-6142-8CA6-0BEF-C78CC05B8EB7}"/>
                </a:ext>
              </a:extLst>
            </p:cNvPr>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a:extLst>
                <a:ext uri="{FF2B5EF4-FFF2-40B4-BE49-F238E27FC236}">
                  <a16:creationId xmlns:a16="http://schemas.microsoft.com/office/drawing/2014/main" id="{32834223-1A1D-E89B-16A8-2078B0AC14C4}"/>
                </a:ext>
              </a:extLst>
            </p:cNvPr>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a:extLst>
                <a:ext uri="{FF2B5EF4-FFF2-40B4-BE49-F238E27FC236}">
                  <a16:creationId xmlns:a16="http://schemas.microsoft.com/office/drawing/2014/main" id="{007096E2-F9FA-CF1F-DAE9-D212C568DD56}"/>
                </a:ext>
              </a:extLst>
            </p:cNvPr>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a:extLst>
                <a:ext uri="{FF2B5EF4-FFF2-40B4-BE49-F238E27FC236}">
                  <a16:creationId xmlns:a16="http://schemas.microsoft.com/office/drawing/2014/main" id="{8D2B0C67-7495-543E-3CDE-7E246EA88464}"/>
                </a:ext>
              </a:extLst>
            </p:cNvPr>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a:extLst>
                <a:ext uri="{FF2B5EF4-FFF2-40B4-BE49-F238E27FC236}">
                  <a16:creationId xmlns:a16="http://schemas.microsoft.com/office/drawing/2014/main" id="{1EA5B056-2B29-FFDB-D08F-50DCEB3CD283}"/>
                </a:ext>
              </a:extLst>
            </p:cNvPr>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a:extLst>
                <a:ext uri="{FF2B5EF4-FFF2-40B4-BE49-F238E27FC236}">
                  <a16:creationId xmlns:a16="http://schemas.microsoft.com/office/drawing/2014/main" id="{F60DF111-16D9-D24E-A241-26739027203F}"/>
                </a:ext>
              </a:extLst>
            </p:cNvPr>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a:extLst>
                <a:ext uri="{FF2B5EF4-FFF2-40B4-BE49-F238E27FC236}">
                  <a16:creationId xmlns:a16="http://schemas.microsoft.com/office/drawing/2014/main" id="{DD34557A-76CC-B115-236B-B2647BCB55E9}"/>
                </a:ext>
              </a:extLst>
            </p:cNvPr>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a:extLst>
                <a:ext uri="{FF2B5EF4-FFF2-40B4-BE49-F238E27FC236}">
                  <a16:creationId xmlns:a16="http://schemas.microsoft.com/office/drawing/2014/main" id="{9FFE332C-4175-EB8D-B070-F11AFE3B9531}"/>
                </a:ext>
              </a:extLst>
            </p:cNvPr>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a:extLst>
                <a:ext uri="{FF2B5EF4-FFF2-40B4-BE49-F238E27FC236}">
                  <a16:creationId xmlns:a16="http://schemas.microsoft.com/office/drawing/2014/main" id="{B162A5A4-9EB1-5EBB-D258-E496CA21DC56}"/>
                </a:ext>
              </a:extLst>
            </p:cNvPr>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a:extLst>
                <a:ext uri="{FF2B5EF4-FFF2-40B4-BE49-F238E27FC236}">
                  <a16:creationId xmlns:a16="http://schemas.microsoft.com/office/drawing/2014/main" id="{DD66EEBB-64B2-4A40-35DE-A60B53C56F28}"/>
                </a:ext>
              </a:extLst>
            </p:cNvPr>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a:extLst>
                <a:ext uri="{FF2B5EF4-FFF2-40B4-BE49-F238E27FC236}">
                  <a16:creationId xmlns:a16="http://schemas.microsoft.com/office/drawing/2014/main" id="{68DBF004-4C25-69C7-6351-21B0758E3C9C}"/>
                </a:ext>
              </a:extLst>
            </p:cNvPr>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a:extLst>
                <a:ext uri="{FF2B5EF4-FFF2-40B4-BE49-F238E27FC236}">
                  <a16:creationId xmlns:a16="http://schemas.microsoft.com/office/drawing/2014/main" id="{D09C4518-0A8C-E5AD-A837-913F58AE051A}"/>
                </a:ext>
              </a:extLst>
            </p:cNvPr>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a:extLst>
              <a:ext uri="{FF2B5EF4-FFF2-40B4-BE49-F238E27FC236}">
                <a16:creationId xmlns:a16="http://schemas.microsoft.com/office/drawing/2014/main" id="{83731114-2791-386E-88C8-56BFD0BB6E06}"/>
              </a:ext>
            </a:extLst>
          </p:cNvPr>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a:extLst>
              <a:ext uri="{FF2B5EF4-FFF2-40B4-BE49-F238E27FC236}">
                <a16:creationId xmlns:a16="http://schemas.microsoft.com/office/drawing/2014/main" id="{FE02D8AD-BB40-0822-458E-3A4648D379C1}"/>
              </a:ext>
            </a:extLst>
          </p:cNvPr>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a:extLst>
              <a:ext uri="{FF2B5EF4-FFF2-40B4-BE49-F238E27FC236}">
                <a16:creationId xmlns:a16="http://schemas.microsoft.com/office/drawing/2014/main" id="{B7ADDFE2-CADC-6B83-4103-9E76A4011520}"/>
              </a:ext>
            </a:extLst>
          </p:cNvPr>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a:extLst>
              <a:ext uri="{FF2B5EF4-FFF2-40B4-BE49-F238E27FC236}">
                <a16:creationId xmlns:a16="http://schemas.microsoft.com/office/drawing/2014/main" id="{6B1CD450-2152-4A7B-312F-0CB9A54AF3FD}"/>
              </a:ext>
            </a:extLst>
          </p:cNvPr>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a:extLst>
              <a:ext uri="{FF2B5EF4-FFF2-40B4-BE49-F238E27FC236}">
                <a16:creationId xmlns:a16="http://schemas.microsoft.com/office/drawing/2014/main" id="{20ABDEFD-940E-7D82-3122-D36E5A52B579}"/>
              </a:ext>
            </a:extLst>
          </p:cNvPr>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5" name="Rectangle 53">
            <a:extLst>
              <a:ext uri="{FF2B5EF4-FFF2-40B4-BE49-F238E27FC236}">
                <a16:creationId xmlns:a16="http://schemas.microsoft.com/office/drawing/2014/main" id="{C494477D-9EBC-0B82-8306-7FE5111610FD}"/>
              </a:ext>
            </a:extLst>
          </p:cNvPr>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a:extLst>
              <a:ext uri="{FF2B5EF4-FFF2-40B4-BE49-F238E27FC236}">
                <a16:creationId xmlns:a16="http://schemas.microsoft.com/office/drawing/2014/main" id="{B23E50F1-49FF-A408-6AE9-97CA3AE2D7F9}"/>
              </a:ext>
            </a:extLst>
          </p:cNvPr>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a:extLst>
              <a:ext uri="{FF2B5EF4-FFF2-40B4-BE49-F238E27FC236}">
                <a16:creationId xmlns:a16="http://schemas.microsoft.com/office/drawing/2014/main" id="{BB3341A1-29C7-CCB5-93AA-606695F3828F}"/>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8" name="Rectangle 56">
            <a:extLst>
              <a:ext uri="{FF2B5EF4-FFF2-40B4-BE49-F238E27FC236}">
                <a16:creationId xmlns:a16="http://schemas.microsoft.com/office/drawing/2014/main" id="{B19F0F43-409A-7290-0385-F7746C005733}"/>
              </a:ext>
            </a:extLst>
          </p:cNvPr>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607289" name="Rectangle 57">
            <a:extLst>
              <a:ext uri="{FF2B5EF4-FFF2-40B4-BE49-F238E27FC236}">
                <a16:creationId xmlns:a16="http://schemas.microsoft.com/office/drawing/2014/main" id="{410A0BD3-6283-5565-00ED-DAB4672715F0}"/>
              </a:ext>
            </a:extLst>
          </p:cNvPr>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a:extLst>
              <a:ext uri="{FF2B5EF4-FFF2-40B4-BE49-F238E27FC236}">
                <a16:creationId xmlns:a16="http://schemas.microsoft.com/office/drawing/2014/main" id="{94050EA9-F4AE-3CEF-CAEB-C141C3B78E2C}"/>
              </a:ext>
            </a:extLst>
          </p:cNvPr>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1" name="Rectangle 59">
            <a:extLst>
              <a:ext uri="{FF2B5EF4-FFF2-40B4-BE49-F238E27FC236}">
                <a16:creationId xmlns:a16="http://schemas.microsoft.com/office/drawing/2014/main" id="{EC42FA9F-B0BB-4F57-580A-225D4D1CCD0E}"/>
              </a:ext>
            </a:extLst>
          </p:cNvPr>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35882" name="Line 60">
            <a:extLst>
              <a:ext uri="{FF2B5EF4-FFF2-40B4-BE49-F238E27FC236}">
                <a16:creationId xmlns:a16="http://schemas.microsoft.com/office/drawing/2014/main" id="{5255DEE4-0320-2F34-75CA-F647023FF4FA}"/>
              </a:ext>
            </a:extLst>
          </p:cNvPr>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a:extLst>
              <a:ext uri="{FF2B5EF4-FFF2-40B4-BE49-F238E27FC236}">
                <a16:creationId xmlns:a16="http://schemas.microsoft.com/office/drawing/2014/main" id="{6AD1EA23-F281-5EDF-57EE-97F109EB4AD8}"/>
              </a:ext>
            </a:extLst>
          </p:cNvPr>
          <p:cNvSpPr txBox="1">
            <a:spLocks noChangeAspect="1" noChangeArrowheads="1"/>
          </p:cNvSpPr>
          <p:nvPr/>
        </p:nvSpPr>
        <p:spPr bwMode="auto">
          <a:xfrm>
            <a:off x="6705347" y="971964"/>
            <a:ext cx="705642" cy="256096"/>
          </a:xfrm>
          <a:prstGeom prst="rect">
            <a:avLst/>
          </a:prstGeom>
          <a:noFill/>
          <a:ln w="28575">
            <a:noFill/>
            <a:miter lim="800000"/>
            <a:headEnd/>
            <a:tailEnd/>
          </a:ln>
        </p:spPr>
        <p:txBody>
          <a:bodyPr wrap="none" anchor="ctr">
            <a:spAutoFit/>
          </a:bodyPr>
          <a:lstStyle/>
          <a:p>
            <a:pPr algn="ctr"/>
            <a:r>
              <a:rPr lang="en-US" sz="1400" b="1" dirty="0">
                <a:solidFill>
                  <a:srgbClr val="000000"/>
                </a:solidFill>
                <a:latin typeface="Comic Sans MS" pitchFamily="66" charset="0"/>
              </a:rPr>
              <a:t>Done?</a:t>
            </a:r>
          </a:p>
        </p:txBody>
      </p:sp>
      <p:sp>
        <p:nvSpPr>
          <p:cNvPr id="607294" name="Freeform 62">
            <a:extLst>
              <a:ext uri="{FF2B5EF4-FFF2-40B4-BE49-F238E27FC236}">
                <a16:creationId xmlns:a16="http://schemas.microsoft.com/office/drawing/2014/main" id="{B871A16F-1623-FF29-3DB8-820CA7A06AA1}"/>
              </a:ext>
            </a:extLst>
          </p:cNvPr>
          <p:cNvSpPr>
            <a:spLocks noChangeAspect="1"/>
          </p:cNvSpPr>
          <p:nvPr/>
        </p:nvSpPr>
        <p:spPr bwMode="auto">
          <a:xfrm>
            <a:off x="7469875" y="2209917"/>
            <a:ext cx="811975"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a:extLst>
              <a:ext uri="{FF2B5EF4-FFF2-40B4-BE49-F238E27FC236}">
                <a16:creationId xmlns:a16="http://schemas.microsoft.com/office/drawing/2014/main" id="{44BECF26-F7FD-E684-B2C5-847C2B9CA6F1}"/>
              </a:ext>
            </a:extLst>
          </p:cNvPr>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a:extLst>
              <a:ext uri="{FF2B5EF4-FFF2-40B4-BE49-F238E27FC236}">
                <a16:creationId xmlns:a16="http://schemas.microsoft.com/office/drawing/2014/main" id="{31C1CD4C-2C59-98CA-4A7D-8C81F2E49A36}"/>
              </a:ext>
            </a:extLst>
          </p:cNvPr>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a:extLst>
              <a:ext uri="{FF2B5EF4-FFF2-40B4-BE49-F238E27FC236}">
                <a16:creationId xmlns:a16="http://schemas.microsoft.com/office/drawing/2014/main" id="{16557045-F4AF-7DC3-BAC6-D7F26124863E}"/>
              </a:ext>
            </a:extLst>
          </p:cNvPr>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a:extLst>
              <a:ext uri="{FF2B5EF4-FFF2-40B4-BE49-F238E27FC236}">
                <a16:creationId xmlns:a16="http://schemas.microsoft.com/office/drawing/2014/main" id="{4EAAF56F-F87F-8EF2-3B1A-01CECEDC64F2}"/>
              </a:ext>
            </a:extLst>
          </p:cNvPr>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89" name="AutoShape 67">
            <a:extLst>
              <a:ext uri="{FF2B5EF4-FFF2-40B4-BE49-F238E27FC236}">
                <a16:creationId xmlns:a16="http://schemas.microsoft.com/office/drawing/2014/main" id="{3E62D7AD-DE5F-D35E-CA82-6BE6CACD4A94}"/>
              </a:ext>
            </a:extLst>
          </p:cNvPr>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35890" name="Text Box 68">
            <a:extLst>
              <a:ext uri="{FF2B5EF4-FFF2-40B4-BE49-F238E27FC236}">
                <a16:creationId xmlns:a16="http://schemas.microsoft.com/office/drawing/2014/main" id="{63B6A7EA-F489-C647-868E-ECCEAE6D2DA0}"/>
              </a:ext>
            </a:extLst>
          </p:cNvPr>
          <p:cNvSpPr txBox="1">
            <a:spLocks noChangeAspect="1" noChangeArrowheads="1"/>
          </p:cNvSpPr>
          <p:nvPr/>
        </p:nvSpPr>
        <p:spPr bwMode="auto">
          <a:xfrm>
            <a:off x="8291904"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a:extLst>
              <a:ext uri="{FF2B5EF4-FFF2-40B4-BE49-F238E27FC236}">
                <a16:creationId xmlns:a16="http://schemas.microsoft.com/office/drawing/2014/main" id="{BFCFF576-86B9-E1CD-6EA6-772D25193A16}"/>
              </a:ext>
            </a:extLst>
          </p:cNvPr>
          <p:cNvSpPr txBox="1">
            <a:spLocks noChangeAspect="1" noChangeArrowheads="1"/>
          </p:cNvSpPr>
          <p:nvPr/>
        </p:nvSpPr>
        <p:spPr bwMode="auto">
          <a:xfrm>
            <a:off x="8255915"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35892" name="Group 70">
            <a:extLst>
              <a:ext uri="{FF2B5EF4-FFF2-40B4-BE49-F238E27FC236}">
                <a16:creationId xmlns:a16="http://schemas.microsoft.com/office/drawing/2014/main" id="{0D288380-9D05-5024-079E-E5CC8934ADE9}"/>
              </a:ext>
            </a:extLst>
          </p:cNvPr>
          <p:cNvGrpSpPr>
            <a:grpSpLocks noChangeAspect="1"/>
          </p:cNvGrpSpPr>
          <p:nvPr/>
        </p:nvGrpSpPr>
        <p:grpSpPr bwMode="auto">
          <a:xfrm rot="16200000">
            <a:off x="1742290" y="898031"/>
            <a:ext cx="796963" cy="1063052"/>
            <a:chOff x="1872" y="1584"/>
            <a:chExt cx="576" cy="864"/>
          </a:xfrm>
        </p:grpSpPr>
        <p:sp>
          <p:nvSpPr>
            <p:cNvPr id="607303" name="Rectangle 71">
              <a:extLst>
                <a:ext uri="{FF2B5EF4-FFF2-40B4-BE49-F238E27FC236}">
                  <a16:creationId xmlns:a16="http://schemas.microsoft.com/office/drawing/2014/main" id="{B2BD39C8-934C-78F9-1FE2-B3BAF916449D}"/>
                </a:ext>
              </a:extLst>
            </p:cNvPr>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a:extLst>
                <a:ext uri="{FF2B5EF4-FFF2-40B4-BE49-F238E27FC236}">
                  <a16:creationId xmlns:a16="http://schemas.microsoft.com/office/drawing/2014/main" id="{84C79CDC-2138-E821-2953-BC0DA371B40E}"/>
                </a:ext>
              </a:extLst>
            </p:cNvPr>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a:extLst>
                <a:ext uri="{FF2B5EF4-FFF2-40B4-BE49-F238E27FC236}">
                  <a16:creationId xmlns:a16="http://schemas.microsoft.com/office/drawing/2014/main" id="{D3172653-EDF7-6990-568F-A0BE1B5944C9}"/>
                </a:ext>
              </a:extLst>
            </p:cNvPr>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a:extLst>
                <a:ext uri="{FF2B5EF4-FFF2-40B4-BE49-F238E27FC236}">
                  <a16:creationId xmlns:a16="http://schemas.microsoft.com/office/drawing/2014/main" id="{0D795557-C3EC-D6E7-0AAF-BD54DFF88A9B}"/>
                </a:ext>
              </a:extLst>
            </p:cNvPr>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a:extLst>
                <a:ext uri="{FF2B5EF4-FFF2-40B4-BE49-F238E27FC236}">
                  <a16:creationId xmlns:a16="http://schemas.microsoft.com/office/drawing/2014/main" id="{9E0803D5-2F07-ECBB-1FF5-EBA5AF903D5A}"/>
                </a:ext>
              </a:extLst>
            </p:cNvPr>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a:extLst>
                <a:ext uri="{FF2B5EF4-FFF2-40B4-BE49-F238E27FC236}">
                  <a16:creationId xmlns:a16="http://schemas.microsoft.com/office/drawing/2014/main" id="{201D91E0-5F1D-5DAB-CE0B-ABB50306AAD7}"/>
                </a:ext>
              </a:extLst>
            </p:cNvPr>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a:extLst>
              <a:ext uri="{FF2B5EF4-FFF2-40B4-BE49-F238E27FC236}">
                <a16:creationId xmlns:a16="http://schemas.microsoft.com/office/drawing/2014/main" id="{55231980-9B32-FF5A-CB9B-6E45E3280F48}"/>
              </a:ext>
            </a:extLst>
          </p:cNvPr>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898" name="Text Box 86">
            <a:extLst>
              <a:ext uri="{FF2B5EF4-FFF2-40B4-BE49-F238E27FC236}">
                <a16:creationId xmlns:a16="http://schemas.microsoft.com/office/drawing/2014/main" id="{16CEA0D5-3F8F-A7F9-906F-63EA327BB1EF}"/>
              </a:ext>
            </a:extLst>
          </p:cNvPr>
          <p:cNvSpPr txBox="1">
            <a:spLocks noChangeAspect="1" noChangeArrowheads="1"/>
          </p:cNvSpPr>
          <p:nvPr/>
        </p:nvSpPr>
        <p:spPr bwMode="auto">
          <a:xfrm>
            <a:off x="1414984" y="3887227"/>
            <a:ext cx="2021708" cy="332142"/>
          </a:xfrm>
          <a:prstGeom prst="rect">
            <a:avLst/>
          </a:prstGeom>
          <a:noFill/>
          <a:ln w="28575">
            <a:noFill/>
            <a:miter lim="800000"/>
            <a:headEnd/>
            <a:tailEnd/>
          </a:ln>
        </p:spPr>
        <p:txBody>
          <a:bodyPr wrap="none" anchor="ctr">
            <a:spAutoFit/>
          </a:bodyPr>
          <a:lstStyle/>
          <a:p>
            <a:pPr algn="ctr"/>
            <a:r>
              <a:rPr lang="en-US" sz="2000" b="1" dirty="0" err="1">
                <a:solidFill>
                  <a:srgbClr val="000000"/>
                </a:solidFill>
                <a:latin typeface="Comic Sans MS" pitchFamily="66" charset="0"/>
              </a:rPr>
              <a:t>RAT+Registers</a:t>
            </a:r>
            <a:endParaRPr lang="en-US" sz="2000" b="1" dirty="0">
              <a:solidFill>
                <a:srgbClr val="000000"/>
              </a:solidFill>
              <a:latin typeface="Comic Sans MS" pitchFamily="66" charset="0"/>
            </a:endParaRPr>
          </a:p>
        </p:txBody>
      </p:sp>
      <p:sp>
        <p:nvSpPr>
          <p:cNvPr id="35900" name="Line 88">
            <a:extLst>
              <a:ext uri="{FF2B5EF4-FFF2-40B4-BE49-F238E27FC236}">
                <a16:creationId xmlns:a16="http://schemas.microsoft.com/office/drawing/2014/main" id="{548CFB2F-8486-C17F-3C3A-0C1B8E7D1069}"/>
              </a:ext>
            </a:extLst>
          </p:cNvPr>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a:extLst>
              <a:ext uri="{FF2B5EF4-FFF2-40B4-BE49-F238E27FC236}">
                <a16:creationId xmlns:a16="http://schemas.microsoft.com/office/drawing/2014/main" id="{64F2087C-9506-9DEF-5B98-C0B5EE09EC5A}"/>
              </a:ext>
            </a:extLst>
          </p:cNvPr>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a:t>
            </a:fld>
            <a:r>
              <a:rPr lang="en-GB"/>
              <a:t> </a:t>
            </a:r>
          </a:p>
        </p:txBody>
      </p:sp>
      <p:sp>
        <p:nvSpPr>
          <p:cNvPr id="35846" name="Rectangle 50">
            <a:extLst>
              <a:ext uri="{FF2B5EF4-FFF2-40B4-BE49-F238E27FC236}">
                <a16:creationId xmlns:a16="http://schemas.microsoft.com/office/drawing/2014/main" id="{6D9AE8B3-1305-D236-52A5-371BBB0FF7CD}"/>
              </a:ext>
            </a:extLst>
          </p:cNvPr>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a:extLst>
              <a:ext uri="{FF2B5EF4-FFF2-40B4-BE49-F238E27FC236}">
                <a16:creationId xmlns:a16="http://schemas.microsoft.com/office/drawing/2014/main" id="{F9C41986-B331-22DD-7220-73D23E668E2E}"/>
              </a:ext>
            </a:extLst>
          </p:cNvPr>
          <p:cNvSpPr txBox="1"/>
          <p:nvPr/>
        </p:nvSpPr>
        <p:spPr>
          <a:xfrm>
            <a:off x="0" y="2351509"/>
            <a:ext cx="3116559" cy="1495794"/>
          </a:xfrm>
          <a:prstGeom prst="rect">
            <a:avLst/>
          </a:prstGeom>
          <a:noFill/>
        </p:spPr>
        <p:txBody>
          <a:bodyPr wrap="none" rtlCol="0">
            <a:spAutoFit/>
          </a:bodyPr>
          <a:lstStyle/>
          <a:p>
            <a:r>
              <a:rPr lang="en-CA" sz="2000" i="1" dirty="0">
                <a:solidFill>
                  <a:schemeClr val="accent2"/>
                </a:solidFill>
              </a:rPr>
              <a:t>Cycle 3</a:t>
            </a:r>
            <a:r>
              <a:rPr lang="en-CA" sz="2000" i="1" dirty="0">
                <a:solidFill>
                  <a:schemeClr val="accent2"/>
                </a:solidFill>
                <a:highlight>
                  <a:srgbClr val="FFFF00"/>
                </a:highlight>
              </a:rPr>
              <a:t>b</a:t>
            </a:r>
          </a:p>
          <a:p>
            <a:r>
              <a:rPr lang="en-CA" sz="2000" dirty="0">
                <a:solidFill>
                  <a:schemeClr val="accent2"/>
                </a:solidFill>
              </a:rPr>
              <a:t>... and updates</a:t>
            </a:r>
          </a:p>
          <a:p>
            <a:r>
              <a:rPr lang="en-CA" sz="2000" dirty="0">
                <a:solidFill>
                  <a:schemeClr val="accent2"/>
                </a:solidFill>
              </a:rPr>
              <a:t>register alias table (RAT)</a:t>
            </a:r>
          </a:p>
          <a:p>
            <a:r>
              <a:rPr lang="en-CA" sz="2000" dirty="0">
                <a:solidFill>
                  <a:schemeClr val="accent2"/>
                </a:solidFill>
              </a:rPr>
              <a:t>since will update R3 </a:t>
            </a:r>
          </a:p>
          <a:p>
            <a:r>
              <a:rPr lang="en-CA" sz="2000" dirty="0">
                <a:solidFill>
                  <a:schemeClr val="accent2"/>
                </a:solidFill>
              </a:rPr>
              <a:t>if/when DIV commits</a:t>
            </a:r>
          </a:p>
          <a:p>
            <a:endParaRPr lang="en-CA" sz="2000" dirty="0">
              <a:solidFill>
                <a:schemeClr val="accent2"/>
              </a:solidFill>
            </a:endParaRPr>
          </a:p>
        </p:txBody>
      </p:sp>
      <p:sp>
        <p:nvSpPr>
          <p:cNvPr id="97" name="Rounded Rectangle 96">
            <a:extLst>
              <a:ext uri="{FF2B5EF4-FFF2-40B4-BE49-F238E27FC236}">
                <a16:creationId xmlns:a16="http://schemas.microsoft.com/office/drawing/2014/main" id="{62C4CE0D-8592-9B47-9E29-89C24C450442}"/>
              </a:ext>
            </a:extLst>
          </p:cNvPr>
          <p:cNvSpPr/>
          <p:nvPr/>
        </p:nvSpPr>
        <p:spPr bwMode="auto">
          <a:xfrm>
            <a:off x="3630304" y="2852382"/>
            <a:ext cx="3425589" cy="300251"/>
          </a:xfrm>
          <a:prstGeom prst="roundRect">
            <a:avLst/>
          </a:prstGeom>
          <a:noFill/>
          <a:ln w="63500" cap="flat" cmpd="sng" algn="ctr">
            <a:solidFill>
              <a:schemeClr val="tx1">
                <a:lumMod val="50000"/>
                <a:lumOff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cxnSp>
        <p:nvCxnSpPr>
          <p:cNvPr id="100" name="Straight Connector 99">
            <a:extLst>
              <a:ext uri="{FF2B5EF4-FFF2-40B4-BE49-F238E27FC236}">
                <a16:creationId xmlns:a16="http://schemas.microsoft.com/office/drawing/2014/main" id="{E1434BAD-BF36-4CA7-D458-6352559C204A}"/>
              </a:ext>
            </a:extLst>
          </p:cNvPr>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4" name="Rounded Rectangle 103">
            <a:extLst>
              <a:ext uri="{FF2B5EF4-FFF2-40B4-BE49-F238E27FC236}">
                <a16:creationId xmlns:a16="http://schemas.microsoft.com/office/drawing/2014/main" id="{217F5562-5125-B570-117C-E2F08DF03C1B}"/>
              </a:ext>
            </a:extLst>
          </p:cNvPr>
          <p:cNvSpPr/>
          <p:nvPr/>
        </p:nvSpPr>
        <p:spPr bwMode="auto">
          <a:xfrm>
            <a:off x="2920549" y="4520075"/>
            <a:ext cx="2827102" cy="300120"/>
          </a:xfrm>
          <a:prstGeom prst="roundRect">
            <a:avLst/>
          </a:prstGeom>
          <a:noFill/>
          <a:ln w="63500" cap="flat" cmpd="sng" algn="ctr">
            <a:solidFill>
              <a:schemeClr val="tx1">
                <a:lumMod val="50000"/>
                <a:lumOff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09" name="Rectangle 14">
            <a:extLst>
              <a:ext uri="{FF2B5EF4-FFF2-40B4-BE49-F238E27FC236}">
                <a16:creationId xmlns:a16="http://schemas.microsoft.com/office/drawing/2014/main" id="{5BB0317E-11C7-90B9-8A28-FB6A2A360594}"/>
              </a:ext>
            </a:extLst>
          </p:cNvPr>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a:extLst>
              <a:ext uri="{FF2B5EF4-FFF2-40B4-BE49-F238E27FC236}">
                <a16:creationId xmlns:a16="http://schemas.microsoft.com/office/drawing/2014/main" id="{40C526FD-C04C-E8DB-E3F7-EA278896851E}"/>
              </a:ext>
            </a:extLst>
          </p:cNvPr>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a:extLst>
              <a:ext uri="{FF2B5EF4-FFF2-40B4-BE49-F238E27FC236}">
                <a16:creationId xmlns:a16="http://schemas.microsoft.com/office/drawing/2014/main" id="{74018A35-1B42-2DB6-B37B-605B1B65D1C9}"/>
              </a:ext>
            </a:extLst>
          </p:cNvPr>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a:extLst>
              <a:ext uri="{FF2B5EF4-FFF2-40B4-BE49-F238E27FC236}">
                <a16:creationId xmlns:a16="http://schemas.microsoft.com/office/drawing/2014/main" id="{E83160D5-CB63-6EAF-F02C-CE97502229B4}"/>
              </a:ext>
            </a:extLst>
          </p:cNvPr>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a:extLst>
              <a:ext uri="{FF2B5EF4-FFF2-40B4-BE49-F238E27FC236}">
                <a16:creationId xmlns:a16="http://schemas.microsoft.com/office/drawing/2014/main" id="{A6E1F6F9-2A91-A469-1C38-72613795A832}"/>
              </a:ext>
            </a:extLst>
          </p:cNvPr>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a:extLst>
              <a:ext uri="{FF2B5EF4-FFF2-40B4-BE49-F238E27FC236}">
                <a16:creationId xmlns:a16="http://schemas.microsoft.com/office/drawing/2014/main" id="{10CF75F8-AE7A-268D-D2DB-00DB5561DFCE}"/>
              </a:ext>
            </a:extLst>
          </p:cNvPr>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a:extLst>
              <a:ext uri="{FF2B5EF4-FFF2-40B4-BE49-F238E27FC236}">
                <a16:creationId xmlns:a16="http://schemas.microsoft.com/office/drawing/2014/main" id="{9CD86CCD-CB34-75B4-407E-633172A06B90}"/>
              </a:ext>
            </a:extLst>
          </p:cNvPr>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a:extLst>
              <a:ext uri="{FF2B5EF4-FFF2-40B4-BE49-F238E27FC236}">
                <a16:creationId xmlns:a16="http://schemas.microsoft.com/office/drawing/2014/main" id="{A0233520-4C04-AEC9-8326-C92953019E90}"/>
              </a:ext>
            </a:extLst>
          </p:cNvPr>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a:extLst>
              <a:ext uri="{FF2B5EF4-FFF2-40B4-BE49-F238E27FC236}">
                <a16:creationId xmlns:a16="http://schemas.microsoft.com/office/drawing/2014/main" id="{BE17CBF8-F9F5-1626-1A9C-AE55DBD295EA}"/>
              </a:ext>
            </a:extLst>
          </p:cNvPr>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132" name="Text Box 61">
            <a:extLst>
              <a:ext uri="{FF2B5EF4-FFF2-40B4-BE49-F238E27FC236}">
                <a16:creationId xmlns:a16="http://schemas.microsoft.com/office/drawing/2014/main" id="{7064343E-DFB3-4C4D-B719-5D5F244E87DC}"/>
              </a:ext>
            </a:extLst>
          </p:cNvPr>
          <p:cNvSpPr txBox="1">
            <a:spLocks noChangeAspect="1" noChangeArrowheads="1"/>
          </p:cNvSpPr>
          <p:nvPr/>
        </p:nvSpPr>
        <p:spPr bwMode="auto">
          <a:xfrm>
            <a:off x="3350094" y="978588"/>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133" name="Text Box 61">
            <a:extLst>
              <a:ext uri="{FF2B5EF4-FFF2-40B4-BE49-F238E27FC236}">
                <a16:creationId xmlns:a16="http://schemas.microsoft.com/office/drawing/2014/main" id="{1A2FC5C6-5E1F-9943-31FE-8E1BE071513A}"/>
              </a:ext>
            </a:extLst>
          </p:cNvPr>
          <p:cNvSpPr txBox="1">
            <a:spLocks noChangeAspect="1" noChangeArrowheads="1"/>
          </p:cNvSpPr>
          <p:nvPr/>
        </p:nvSpPr>
        <p:spPr bwMode="auto">
          <a:xfrm>
            <a:off x="4059866" y="987296"/>
            <a:ext cx="649537" cy="260264"/>
          </a:xfrm>
          <a:prstGeom prst="rect">
            <a:avLst/>
          </a:prstGeom>
          <a:noFill/>
          <a:ln w="28575">
            <a:noFill/>
            <a:miter lim="800000"/>
            <a:headEnd/>
            <a:tailEnd/>
          </a:ln>
        </p:spPr>
        <p:txBody>
          <a:bodyPr wrap="none" anchor="ctr">
            <a:spAutoFit/>
          </a:bodyPr>
          <a:lstStyle/>
          <a:p>
            <a:pPr algn="ctr"/>
            <a:r>
              <a:rPr lang="en-US" sz="1400" b="1" dirty="0">
                <a:solidFill>
                  <a:srgbClr val="000000"/>
                </a:solidFill>
                <a:latin typeface="Comic Sans MS" pitchFamily="66" charset="0"/>
              </a:rPr>
              <a:t>Value</a:t>
            </a:r>
          </a:p>
        </p:txBody>
      </p:sp>
      <p:sp>
        <p:nvSpPr>
          <p:cNvPr id="134" name="Text Box 61">
            <a:extLst>
              <a:ext uri="{FF2B5EF4-FFF2-40B4-BE49-F238E27FC236}">
                <a16:creationId xmlns:a16="http://schemas.microsoft.com/office/drawing/2014/main" id="{A7D3A8C7-A2B4-3C93-E2F8-1AC7342284E7}"/>
              </a:ext>
            </a:extLst>
          </p:cNvPr>
          <p:cNvSpPr txBox="1">
            <a:spLocks noChangeAspect="1" noChangeArrowheads="1"/>
          </p:cNvSpPr>
          <p:nvPr/>
        </p:nvSpPr>
        <p:spPr bwMode="auto">
          <a:xfrm>
            <a:off x="4965126" y="971964"/>
            <a:ext cx="1625766" cy="256096"/>
          </a:xfrm>
          <a:prstGeom prst="rect">
            <a:avLst/>
          </a:prstGeom>
          <a:noFill/>
          <a:ln w="28575">
            <a:noFill/>
            <a:miter lim="800000"/>
            <a:headEnd/>
            <a:tailEnd/>
          </a:ln>
        </p:spPr>
        <p:txBody>
          <a:bodyPr wrap="none" anchor="ctr">
            <a:spAutoFit/>
          </a:bodyPr>
          <a:lstStyle/>
          <a:p>
            <a:pPr algn="ctr"/>
            <a:r>
              <a:rPr lang="en-US" sz="1400" b="1" dirty="0">
                <a:solidFill>
                  <a:srgbClr val="000000"/>
                </a:solidFill>
                <a:latin typeface="Comic Sans MS" pitchFamily="66" charset="0"/>
              </a:rPr>
              <a:t>Program Counter</a:t>
            </a:r>
          </a:p>
        </p:txBody>
      </p:sp>
      <p:cxnSp>
        <p:nvCxnSpPr>
          <p:cNvPr id="136" name="Straight Connector 135">
            <a:extLst>
              <a:ext uri="{FF2B5EF4-FFF2-40B4-BE49-F238E27FC236}">
                <a16:creationId xmlns:a16="http://schemas.microsoft.com/office/drawing/2014/main" id="{F4C18235-9918-02AB-F0A8-380B4303EFAC}"/>
              </a:ext>
            </a:extLst>
          </p:cNvPr>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39" name="Rectangle 50">
            <a:extLst>
              <a:ext uri="{FF2B5EF4-FFF2-40B4-BE49-F238E27FC236}">
                <a16:creationId xmlns:a16="http://schemas.microsoft.com/office/drawing/2014/main" id="{C310B5E9-47AE-645E-97CE-D81D131CF9EB}"/>
              </a:ext>
            </a:extLst>
          </p:cNvPr>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40" name="Rectangle 50">
            <a:extLst>
              <a:ext uri="{FF2B5EF4-FFF2-40B4-BE49-F238E27FC236}">
                <a16:creationId xmlns:a16="http://schemas.microsoft.com/office/drawing/2014/main" id="{4A053BDC-2CD7-91FA-73F5-75665B5A3E7B}"/>
              </a:ext>
            </a:extLst>
          </p:cNvPr>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41" name="Rounded Rectangle 140">
            <a:extLst>
              <a:ext uri="{FF2B5EF4-FFF2-40B4-BE49-F238E27FC236}">
                <a16:creationId xmlns:a16="http://schemas.microsoft.com/office/drawing/2014/main" id="{426CB571-7B66-0430-7789-DE0F63C3DF22}"/>
              </a:ext>
            </a:extLst>
          </p:cNvPr>
          <p:cNvSpPr/>
          <p:nvPr/>
        </p:nvSpPr>
        <p:spPr bwMode="auto">
          <a:xfrm>
            <a:off x="3647715" y="3575195"/>
            <a:ext cx="597714" cy="291411"/>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42" name="Rectangle 8">
            <a:extLst>
              <a:ext uri="{FF2B5EF4-FFF2-40B4-BE49-F238E27FC236}">
                <a16:creationId xmlns:a16="http://schemas.microsoft.com/office/drawing/2014/main" id="{DE3B144E-FADB-5A86-D08C-DA689DC87798}"/>
              </a:ext>
            </a:extLst>
          </p:cNvPr>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143" name="Rectangle 9">
            <a:extLst>
              <a:ext uri="{FF2B5EF4-FFF2-40B4-BE49-F238E27FC236}">
                <a16:creationId xmlns:a16="http://schemas.microsoft.com/office/drawing/2014/main" id="{61DD8C9B-BC71-BDA2-CB59-9915F8D375D1}"/>
              </a:ext>
            </a:extLst>
          </p:cNvPr>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44" name="Rectangle 10">
            <a:extLst>
              <a:ext uri="{FF2B5EF4-FFF2-40B4-BE49-F238E27FC236}">
                <a16:creationId xmlns:a16="http://schemas.microsoft.com/office/drawing/2014/main" id="{90257170-4011-FD0B-6CD0-AA3D0F0C8E5C}"/>
              </a:ext>
            </a:extLst>
          </p:cNvPr>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45" name="Rectangle 11">
            <a:extLst>
              <a:ext uri="{FF2B5EF4-FFF2-40B4-BE49-F238E27FC236}">
                <a16:creationId xmlns:a16="http://schemas.microsoft.com/office/drawing/2014/main" id="{EF4C8B76-D484-4B9D-F551-B7B1A4B931E2}"/>
              </a:ext>
            </a:extLst>
          </p:cNvPr>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146" name="Rectangle 15">
            <a:extLst>
              <a:ext uri="{FF2B5EF4-FFF2-40B4-BE49-F238E27FC236}">
                <a16:creationId xmlns:a16="http://schemas.microsoft.com/office/drawing/2014/main" id="{349089FF-C94D-0C3C-8601-AB2464B459F2}"/>
              </a:ext>
            </a:extLst>
          </p:cNvPr>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cxnSp>
        <p:nvCxnSpPr>
          <p:cNvPr id="147" name="Straight Arrow Connector 146">
            <a:extLst>
              <a:ext uri="{FF2B5EF4-FFF2-40B4-BE49-F238E27FC236}">
                <a16:creationId xmlns:a16="http://schemas.microsoft.com/office/drawing/2014/main" id="{F838DA77-34EA-614E-2C94-10E0E27DE904}"/>
              </a:ext>
            </a:extLst>
          </p:cNvPr>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48" name="Straight Arrow Connector 147">
            <a:extLst>
              <a:ext uri="{FF2B5EF4-FFF2-40B4-BE49-F238E27FC236}">
                <a16:creationId xmlns:a16="http://schemas.microsoft.com/office/drawing/2014/main" id="{0D626FA1-5753-8774-13B2-31693E1999DC}"/>
              </a:ext>
            </a:extLst>
          </p:cNvPr>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2" name="Rectangle 56">
            <a:extLst>
              <a:ext uri="{FF2B5EF4-FFF2-40B4-BE49-F238E27FC236}">
                <a16:creationId xmlns:a16="http://schemas.microsoft.com/office/drawing/2014/main" id="{9063EF4A-3340-558D-260B-5EDB2DBC4FB1}"/>
              </a:ext>
            </a:extLst>
          </p:cNvPr>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Tree>
    <p:extLst>
      <p:ext uri="{BB962C8B-B14F-4D97-AF65-F5344CB8AC3E}">
        <p14:creationId xmlns:p14="http://schemas.microsoft.com/office/powerpoint/2010/main" val="379000550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p:cNvGrpSpPr>
            <a:grpSpLocks noChangeAspect="1"/>
          </p:cNvGrpSpPr>
          <p:nvPr/>
        </p:nvGrpSpPr>
        <p:grpSpPr bwMode="auto">
          <a:xfrm>
            <a:off x="3015760" y="4593888"/>
            <a:ext cx="2656247" cy="354206"/>
            <a:chOff x="2064" y="2928"/>
            <a:chExt cx="1919" cy="256"/>
          </a:xfrm>
        </p:grpSpPr>
        <p:sp>
          <p:nvSpPr>
            <p:cNvPr id="607237" name="Rectangle 5"/>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35854" name="Line 12"/>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p:cNvGrpSpPr>
            <a:grpSpLocks noChangeAspect="1"/>
          </p:cNvGrpSpPr>
          <p:nvPr/>
        </p:nvGrpSpPr>
        <p:grpSpPr bwMode="auto">
          <a:xfrm>
            <a:off x="3668910" y="3464857"/>
            <a:ext cx="1926783" cy="708412"/>
            <a:chOff x="3456" y="1200"/>
            <a:chExt cx="1392" cy="512"/>
          </a:xfrm>
        </p:grpSpPr>
        <p:sp>
          <p:nvSpPr>
            <p:cNvPr id="607257" name="Rectangle 25"/>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p:cNvGrpSpPr>
            <a:grpSpLocks noChangeAspect="1"/>
          </p:cNvGrpSpPr>
          <p:nvPr/>
        </p:nvGrpSpPr>
        <p:grpSpPr bwMode="auto">
          <a:xfrm>
            <a:off x="3668910" y="1273208"/>
            <a:ext cx="3388480" cy="1062617"/>
            <a:chOff x="2208" y="576"/>
            <a:chExt cx="2448" cy="768"/>
          </a:xfrm>
        </p:grpSpPr>
        <p:sp>
          <p:nvSpPr>
            <p:cNvPr id="607264" name="Rectangle 32"/>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p:cNvSpPr>
            <a:spLocks noChangeAspect="1"/>
          </p:cNvSpPr>
          <p:nvPr/>
        </p:nvSpPr>
        <p:spPr bwMode="auto">
          <a:xfrm>
            <a:off x="7469875" y="2209917"/>
            <a:ext cx="811975"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89" name="AutoShape 67"/>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35890" name="Text Box 68"/>
          <p:cNvSpPr txBox="1">
            <a:spLocks noChangeAspect="1" noChangeArrowheads="1"/>
          </p:cNvSpPr>
          <p:nvPr/>
        </p:nvSpPr>
        <p:spPr bwMode="auto">
          <a:xfrm>
            <a:off x="8291904"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p:cNvSpPr txBox="1">
            <a:spLocks noChangeAspect="1" noChangeArrowheads="1"/>
          </p:cNvSpPr>
          <p:nvPr/>
        </p:nvSpPr>
        <p:spPr bwMode="auto">
          <a:xfrm>
            <a:off x="8255915"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p:cNvGrpSpPr>
            <a:grpSpLocks noChangeAspect="1"/>
          </p:cNvGrpSpPr>
          <p:nvPr/>
        </p:nvGrpSpPr>
        <p:grpSpPr bwMode="auto">
          <a:xfrm rot="16200000">
            <a:off x="1742290" y="898031"/>
            <a:ext cx="796963" cy="1063052"/>
            <a:chOff x="1872" y="1584"/>
            <a:chExt cx="576" cy="864"/>
          </a:xfrm>
        </p:grpSpPr>
        <p:sp>
          <p:nvSpPr>
            <p:cNvPr id="607303" name="Rectangle 71"/>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a:t>
            </a:fld>
            <a:r>
              <a:rPr lang="en-GB"/>
              <a:t> </a:t>
            </a:r>
          </a:p>
        </p:txBody>
      </p:sp>
      <p:sp>
        <p:nvSpPr>
          <p:cNvPr id="35846" name="Rectangle 50"/>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p:cNvSpPr txBox="1"/>
          <p:nvPr/>
        </p:nvSpPr>
        <p:spPr>
          <a:xfrm>
            <a:off x="0" y="2403761"/>
            <a:ext cx="3469219" cy="1495922"/>
          </a:xfrm>
          <a:prstGeom prst="rect">
            <a:avLst/>
          </a:prstGeom>
          <a:noFill/>
        </p:spPr>
        <p:txBody>
          <a:bodyPr wrap="none" rtlCol="0">
            <a:spAutoFit/>
          </a:bodyPr>
          <a:lstStyle/>
          <a:p>
            <a:r>
              <a:rPr lang="en-CA" i="1" dirty="0">
                <a:solidFill>
                  <a:schemeClr val="accent2"/>
                </a:solidFill>
              </a:rPr>
              <a:t>Cycle 4</a:t>
            </a:r>
          </a:p>
          <a:p>
            <a:r>
              <a:rPr lang="en-CA" dirty="0">
                <a:solidFill>
                  <a:schemeClr val="accent2"/>
                </a:solidFill>
              </a:rPr>
              <a:t>BEQZ issued, allocates </a:t>
            </a:r>
          </a:p>
          <a:p>
            <a:r>
              <a:rPr lang="en-CA" dirty="0">
                <a:solidFill>
                  <a:schemeClr val="accent2"/>
                </a:solidFill>
              </a:rPr>
              <a:t>ROB and Reservation</a:t>
            </a:r>
          </a:p>
          <a:p>
            <a:r>
              <a:rPr lang="en-CA" dirty="0">
                <a:solidFill>
                  <a:schemeClr val="accent2"/>
                </a:solidFill>
              </a:rPr>
              <a:t>Station entries</a:t>
            </a:r>
          </a:p>
          <a:p>
            <a:endParaRPr lang="en-CA" dirty="0">
              <a:solidFill>
                <a:schemeClr val="accent2"/>
              </a:solidFill>
            </a:endParaRPr>
          </a:p>
        </p:txBody>
      </p:sp>
      <p:cxnSp>
        <p:nvCxnSpPr>
          <p:cNvPr id="100" name="Straight Connector 99"/>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98" name="Rectangle 56"/>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R3,Label)</a:t>
            </a:r>
          </a:p>
        </p:txBody>
      </p:sp>
      <p:sp>
        <p:nvSpPr>
          <p:cNvPr id="99" name="Rectangle 59"/>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6" name="Rectangle 56"/>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BEQZ  ROB1,Loop</a:t>
            </a:r>
          </a:p>
        </p:txBody>
      </p:sp>
      <p:sp>
        <p:nvSpPr>
          <p:cNvPr id="113" name="Rounded Rectangle 112"/>
          <p:cNvSpPr/>
          <p:nvPr/>
        </p:nvSpPr>
        <p:spPr bwMode="auto">
          <a:xfrm>
            <a:off x="6147075" y="4572327"/>
            <a:ext cx="1847394" cy="300119"/>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14" name="Rectangle 56"/>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116" name="Rectangle 56"/>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
        <p:nvSpPr>
          <p:cNvPr id="607291" name="Rectangle 59"/>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97" name="Rounded Rectangle 96"/>
          <p:cNvSpPr/>
          <p:nvPr/>
        </p:nvSpPr>
        <p:spPr bwMode="auto">
          <a:xfrm>
            <a:off x="3630304" y="2578059"/>
            <a:ext cx="3425589" cy="300251"/>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cxnSp>
        <p:nvCxnSpPr>
          <p:cNvPr id="118" name="Straight Connector 117"/>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19" name="Rectangle 50"/>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20" name="Rectangle 50"/>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1" name="Text Box 86"/>
          <p:cNvSpPr txBox="1">
            <a:spLocks noChangeAspect="1" noChangeArrowheads="1"/>
          </p:cNvSpPr>
          <p:nvPr/>
        </p:nvSpPr>
        <p:spPr bwMode="auto">
          <a:xfrm>
            <a:off x="1414984" y="3887227"/>
            <a:ext cx="2021708" cy="332142"/>
          </a:xfrm>
          <a:prstGeom prst="rect">
            <a:avLst/>
          </a:prstGeom>
          <a:noFill/>
          <a:ln w="28575">
            <a:noFill/>
            <a:miter lim="800000"/>
            <a:headEnd/>
            <a:tailEnd/>
          </a:ln>
        </p:spPr>
        <p:txBody>
          <a:bodyPr wrap="none" anchor="ctr">
            <a:spAutoFit/>
          </a:bodyPr>
          <a:lstStyle/>
          <a:p>
            <a:pPr algn="ctr"/>
            <a:r>
              <a:rPr lang="en-US" sz="2000" b="1" dirty="0" err="1">
                <a:solidFill>
                  <a:srgbClr val="000000"/>
                </a:solidFill>
                <a:latin typeface="Comic Sans MS" pitchFamily="66" charset="0"/>
              </a:rPr>
              <a:t>RAT+Registers</a:t>
            </a:r>
            <a:endParaRPr lang="en-US" sz="2000" b="1" dirty="0">
              <a:solidFill>
                <a:srgbClr val="000000"/>
              </a:solidFill>
              <a:latin typeface="Comic Sans MS" pitchFamily="66" charset="0"/>
            </a:endParaRPr>
          </a:p>
        </p:txBody>
      </p:sp>
      <p:sp>
        <p:nvSpPr>
          <p:cNvPr id="122" name="Rectangle 8"/>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123" name="Rectangle 9"/>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24" name="Rectangle 10"/>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25" name="Rectangle 11"/>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127" name="Rectangle 15"/>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cxnSp>
        <p:nvCxnSpPr>
          <p:cNvPr id="128" name="Straight Arrow Connector 127"/>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29" name="Straight Arrow Connector 128"/>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103" name="TextBox 102"/>
          <p:cNvSpPr txBox="1"/>
          <p:nvPr/>
        </p:nvSpPr>
        <p:spPr>
          <a:xfrm>
            <a:off x="6361611" y="6466114"/>
            <a:ext cx="184731" cy="373051"/>
          </a:xfrm>
          <a:prstGeom prst="rect">
            <a:avLst/>
          </a:prstGeom>
          <a:noFill/>
        </p:spPr>
        <p:txBody>
          <a:bodyPr wrap="none" rtlCol="0">
            <a:spAutoFit/>
          </a:bodyPr>
          <a:lstStyle/>
          <a:p>
            <a:endParaRPr lang="en-CA"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p:cNvGrpSpPr>
            <a:grpSpLocks noChangeAspect="1"/>
          </p:cNvGrpSpPr>
          <p:nvPr/>
        </p:nvGrpSpPr>
        <p:grpSpPr bwMode="auto">
          <a:xfrm>
            <a:off x="3015760" y="4593888"/>
            <a:ext cx="2656247" cy="354206"/>
            <a:chOff x="2064" y="2928"/>
            <a:chExt cx="1919" cy="256"/>
          </a:xfrm>
        </p:grpSpPr>
        <p:sp>
          <p:nvSpPr>
            <p:cNvPr id="607237" name="Rectangle 5"/>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p:cNvGrpSpPr>
            <a:grpSpLocks noChangeAspect="1"/>
          </p:cNvGrpSpPr>
          <p:nvPr/>
        </p:nvGrpSpPr>
        <p:grpSpPr bwMode="auto">
          <a:xfrm>
            <a:off x="3668910" y="3464857"/>
            <a:ext cx="1926783" cy="708412"/>
            <a:chOff x="3456" y="1200"/>
            <a:chExt cx="1392" cy="512"/>
          </a:xfrm>
        </p:grpSpPr>
        <p:sp>
          <p:nvSpPr>
            <p:cNvPr id="607257" name="Rectangle 25"/>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p:cNvGrpSpPr>
            <a:grpSpLocks noChangeAspect="1"/>
          </p:cNvGrpSpPr>
          <p:nvPr/>
        </p:nvGrpSpPr>
        <p:grpSpPr bwMode="auto">
          <a:xfrm>
            <a:off x="3668910" y="1273208"/>
            <a:ext cx="3388480" cy="1062617"/>
            <a:chOff x="2208" y="576"/>
            <a:chExt cx="2448" cy="768"/>
          </a:xfrm>
        </p:grpSpPr>
        <p:sp>
          <p:nvSpPr>
            <p:cNvPr id="607264" name="Rectangle 32"/>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p:cNvSpPr>
            <a:spLocks noChangeAspect="1"/>
          </p:cNvSpPr>
          <p:nvPr/>
        </p:nvSpPr>
        <p:spPr bwMode="auto">
          <a:xfrm>
            <a:off x="7469875" y="2209917"/>
            <a:ext cx="811975"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p:cNvGrpSpPr>
            <a:grpSpLocks noChangeAspect="1"/>
          </p:cNvGrpSpPr>
          <p:nvPr/>
        </p:nvGrpSpPr>
        <p:grpSpPr bwMode="auto">
          <a:xfrm rot="16200000">
            <a:off x="1742290" y="898031"/>
            <a:ext cx="796963" cy="1063052"/>
            <a:chOff x="1872" y="1584"/>
            <a:chExt cx="576" cy="864"/>
          </a:xfrm>
        </p:grpSpPr>
        <p:sp>
          <p:nvSpPr>
            <p:cNvPr id="607303" name="Rectangle 71"/>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a:t>
            </a:fld>
            <a:r>
              <a:rPr lang="en-GB"/>
              <a:t> </a:t>
            </a:r>
          </a:p>
        </p:txBody>
      </p:sp>
      <p:sp>
        <p:nvSpPr>
          <p:cNvPr id="35846" name="Rectangle 50"/>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p:cNvSpPr txBox="1"/>
          <p:nvPr/>
        </p:nvSpPr>
        <p:spPr>
          <a:xfrm>
            <a:off x="0" y="2405653"/>
            <a:ext cx="3424464" cy="1963614"/>
          </a:xfrm>
          <a:prstGeom prst="rect">
            <a:avLst/>
          </a:prstGeom>
          <a:noFill/>
        </p:spPr>
        <p:txBody>
          <a:bodyPr wrap="none" rtlCol="0">
            <a:spAutoFit/>
          </a:bodyPr>
          <a:lstStyle/>
          <a:p>
            <a:r>
              <a:rPr lang="en-CA" sz="2000" i="1" dirty="0">
                <a:solidFill>
                  <a:schemeClr val="accent2"/>
                </a:solidFill>
              </a:rPr>
              <a:t>Cycle 5</a:t>
            </a:r>
            <a:r>
              <a:rPr lang="en-CA" sz="2000" i="1" dirty="0">
                <a:solidFill>
                  <a:schemeClr val="accent2"/>
                </a:solidFill>
                <a:highlight>
                  <a:srgbClr val="FFFF00"/>
                </a:highlight>
              </a:rPr>
              <a:t>a</a:t>
            </a:r>
            <a:endParaRPr lang="en-CA" sz="2000" i="1" dirty="0">
              <a:solidFill>
                <a:schemeClr val="accent2"/>
              </a:solidFill>
            </a:endParaRPr>
          </a:p>
          <a:p>
            <a:r>
              <a:rPr lang="en-CA" sz="2000" dirty="0">
                <a:solidFill>
                  <a:schemeClr val="accent2"/>
                </a:solidFill>
              </a:rPr>
              <a:t>DMUL issues: allocate ROB </a:t>
            </a:r>
          </a:p>
          <a:p>
            <a:r>
              <a:rPr lang="en-CA" sz="2000" dirty="0">
                <a:solidFill>
                  <a:schemeClr val="accent2"/>
                </a:solidFill>
              </a:rPr>
              <a:t>and reservation station </a:t>
            </a:r>
          </a:p>
          <a:p>
            <a:r>
              <a:rPr lang="en-CA" sz="2000" dirty="0">
                <a:solidFill>
                  <a:schemeClr val="accent2"/>
                </a:solidFill>
              </a:rPr>
              <a:t>entries, check RAT, copy </a:t>
            </a:r>
          </a:p>
          <a:p>
            <a:r>
              <a:rPr lang="en-CA" sz="2000" dirty="0">
                <a:solidFill>
                  <a:schemeClr val="accent2"/>
                </a:solidFill>
              </a:rPr>
              <a:t>register values into </a:t>
            </a:r>
          </a:p>
          <a:p>
            <a:r>
              <a:rPr lang="en-CA" sz="2000" dirty="0">
                <a:solidFill>
                  <a:schemeClr val="accent2"/>
                </a:solidFill>
              </a:rPr>
              <a:t>reservation station, and </a:t>
            </a:r>
            <a:r>
              <a:rPr lang="en-CA" sz="2000" dirty="0">
                <a:solidFill>
                  <a:schemeClr val="accent2"/>
                </a:solidFill>
                <a:highlight>
                  <a:srgbClr val="FFFF00"/>
                </a:highlight>
              </a:rPr>
              <a:t>…</a:t>
            </a:r>
            <a:r>
              <a:rPr lang="en-CA" sz="2000" dirty="0">
                <a:solidFill>
                  <a:schemeClr val="accent2"/>
                </a:solidFill>
              </a:rPr>
              <a:t> </a:t>
            </a:r>
          </a:p>
          <a:p>
            <a:endParaRPr lang="en-CA" sz="2000" dirty="0">
              <a:solidFill>
                <a:schemeClr val="accent2"/>
              </a:solidFill>
            </a:endParaRPr>
          </a:p>
          <a:p>
            <a:endParaRPr lang="en-CA" sz="2000" dirty="0">
              <a:solidFill>
                <a:schemeClr val="accent2"/>
              </a:solidFill>
            </a:endParaRPr>
          </a:p>
        </p:txBody>
      </p:sp>
      <p:cxnSp>
        <p:nvCxnSpPr>
          <p:cNvPr id="100" name="Straight Connector 99"/>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98" name="Rectangle 56"/>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R3,Label)</a:t>
            </a:r>
          </a:p>
        </p:txBody>
      </p:sp>
      <p:sp>
        <p:nvSpPr>
          <p:cNvPr id="99" name="Rectangle 59"/>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6" name="Rectangle 56"/>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BEQZ  ROB1,Loop</a:t>
            </a:r>
          </a:p>
        </p:txBody>
      </p:sp>
      <p:sp>
        <p:nvSpPr>
          <p:cNvPr id="114" name="Rectangle 56"/>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116" name="Rectangle 56"/>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
        <p:nvSpPr>
          <p:cNvPr id="607291" name="Rectangle 59"/>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101" name="Rectangle 56"/>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02" name="Rectangle 59"/>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3" name="Rectangle 50"/>
          <p:cNvSpPr>
            <a:spLocks noChangeAspect="1" noChangeArrowheads="1"/>
          </p:cNvSpPr>
          <p:nvPr/>
        </p:nvSpPr>
        <p:spPr bwMode="auto">
          <a:xfrm>
            <a:off x="3664555" y="2340265"/>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R4</a:t>
            </a:r>
          </a:p>
        </p:txBody>
      </p:sp>
      <p:sp>
        <p:nvSpPr>
          <p:cNvPr id="118" name="Rectangle 56"/>
          <p:cNvSpPr>
            <a:spLocks noChangeAspect="1" noChangeArrowheads="1"/>
          </p:cNvSpPr>
          <p:nvPr/>
        </p:nvSpPr>
        <p:spPr bwMode="auto">
          <a:xfrm>
            <a:off x="2999682" y="4791077"/>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3   DMUL        6,  7</a:t>
            </a:r>
          </a:p>
        </p:txBody>
      </p:sp>
      <p:sp>
        <p:nvSpPr>
          <p:cNvPr id="119" name="Rounded Rectangle 118"/>
          <p:cNvSpPr/>
          <p:nvPr/>
        </p:nvSpPr>
        <p:spPr bwMode="auto">
          <a:xfrm>
            <a:off x="2945713" y="4748143"/>
            <a:ext cx="2827102" cy="248606"/>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97" name="Rounded Rectangle 96"/>
          <p:cNvSpPr/>
          <p:nvPr/>
        </p:nvSpPr>
        <p:spPr bwMode="auto">
          <a:xfrm>
            <a:off x="3656430" y="2329865"/>
            <a:ext cx="3425589" cy="300251"/>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cxnSp>
        <p:nvCxnSpPr>
          <p:cNvPr id="120" name="Straight Connector 119"/>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1" name="Rectangle 50"/>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22" name="Rectangle 50"/>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4" name="Text Box 86"/>
          <p:cNvSpPr txBox="1">
            <a:spLocks noChangeAspect="1" noChangeArrowheads="1"/>
          </p:cNvSpPr>
          <p:nvPr/>
        </p:nvSpPr>
        <p:spPr bwMode="auto">
          <a:xfrm>
            <a:off x="1414984" y="3887227"/>
            <a:ext cx="2021708" cy="332142"/>
          </a:xfrm>
          <a:prstGeom prst="rect">
            <a:avLst/>
          </a:prstGeom>
          <a:noFill/>
          <a:ln w="28575">
            <a:noFill/>
            <a:miter lim="800000"/>
            <a:headEnd/>
            <a:tailEnd/>
          </a:ln>
        </p:spPr>
        <p:txBody>
          <a:bodyPr wrap="none" anchor="ctr">
            <a:spAutoFit/>
          </a:bodyPr>
          <a:lstStyle/>
          <a:p>
            <a:pPr algn="ctr"/>
            <a:r>
              <a:rPr lang="en-US" sz="2000" b="1" dirty="0" err="1">
                <a:solidFill>
                  <a:srgbClr val="000000"/>
                </a:solidFill>
                <a:latin typeface="Comic Sans MS" pitchFamily="66" charset="0"/>
              </a:rPr>
              <a:t>RAT+Registers</a:t>
            </a:r>
            <a:endParaRPr lang="en-US" sz="2000" b="1" dirty="0">
              <a:solidFill>
                <a:srgbClr val="000000"/>
              </a:solidFill>
              <a:latin typeface="Comic Sans MS" pitchFamily="66" charset="0"/>
            </a:endParaRPr>
          </a:p>
        </p:txBody>
      </p:sp>
      <p:sp>
        <p:nvSpPr>
          <p:cNvPr id="127" name="Rectangle 15"/>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cxnSp>
        <p:nvCxnSpPr>
          <p:cNvPr id="130" name="Straight Arrow Connector 129"/>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31" name="Straight Arrow Connector 130"/>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113" name="AutoShape 67"/>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CA39-51BA-8500-C0C6-DFE7DC53CFC9}"/>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5967A641-3BC9-0BB6-D99E-63C702D4509B}"/>
              </a:ext>
            </a:extLst>
          </p:cNvPr>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a:extLst>
              <a:ext uri="{FF2B5EF4-FFF2-40B4-BE49-F238E27FC236}">
                <a16:creationId xmlns:a16="http://schemas.microsoft.com/office/drawing/2014/main" id="{3ECF312E-A615-480F-9AEB-AF0EF1714D4C}"/>
              </a:ext>
            </a:extLst>
          </p:cNvPr>
          <p:cNvGrpSpPr>
            <a:grpSpLocks noChangeAspect="1"/>
          </p:cNvGrpSpPr>
          <p:nvPr/>
        </p:nvGrpSpPr>
        <p:grpSpPr bwMode="auto">
          <a:xfrm>
            <a:off x="3015760" y="4593888"/>
            <a:ext cx="2656247" cy="354206"/>
            <a:chOff x="2064" y="2928"/>
            <a:chExt cx="1919" cy="256"/>
          </a:xfrm>
        </p:grpSpPr>
        <p:sp>
          <p:nvSpPr>
            <p:cNvPr id="607237" name="Rectangle 5">
              <a:extLst>
                <a:ext uri="{FF2B5EF4-FFF2-40B4-BE49-F238E27FC236}">
                  <a16:creationId xmlns:a16="http://schemas.microsoft.com/office/drawing/2014/main" id="{1563E8AA-CA0E-F785-46FC-EC75FB7417A8}"/>
                </a:ext>
              </a:extLst>
            </p:cNvPr>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a:extLst>
                <a:ext uri="{FF2B5EF4-FFF2-40B4-BE49-F238E27FC236}">
                  <a16:creationId xmlns:a16="http://schemas.microsoft.com/office/drawing/2014/main" id="{1F02F0FC-C6B4-25F7-78B6-E470438AAF8B}"/>
                </a:ext>
              </a:extLst>
            </p:cNvPr>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a:extLst>
                <a:ext uri="{FF2B5EF4-FFF2-40B4-BE49-F238E27FC236}">
                  <a16:creationId xmlns:a16="http://schemas.microsoft.com/office/drawing/2014/main" id="{75C87108-BF5D-8774-6AF7-27DD36BA0885}"/>
                </a:ext>
              </a:extLst>
            </p:cNvPr>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a:extLst>
              <a:ext uri="{FF2B5EF4-FFF2-40B4-BE49-F238E27FC236}">
                <a16:creationId xmlns:a16="http://schemas.microsoft.com/office/drawing/2014/main" id="{90DD78D2-AD21-14D7-12C5-A568D36EFA92}"/>
              </a:ext>
            </a:extLst>
          </p:cNvPr>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a:extLst>
              <a:ext uri="{FF2B5EF4-FFF2-40B4-BE49-F238E27FC236}">
                <a16:creationId xmlns:a16="http://schemas.microsoft.com/office/drawing/2014/main" id="{B6A86A9B-D72F-EC4D-BDA2-D97FF2A9725F}"/>
              </a:ext>
            </a:extLst>
          </p:cNvPr>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a:extLst>
              <a:ext uri="{FF2B5EF4-FFF2-40B4-BE49-F238E27FC236}">
                <a16:creationId xmlns:a16="http://schemas.microsoft.com/office/drawing/2014/main" id="{473AD5D6-9378-B6FB-F8EF-0B5D5487DCED}"/>
              </a:ext>
            </a:extLst>
          </p:cNvPr>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a:extLst>
              <a:ext uri="{FF2B5EF4-FFF2-40B4-BE49-F238E27FC236}">
                <a16:creationId xmlns:a16="http://schemas.microsoft.com/office/drawing/2014/main" id="{77DE3E6E-CA5E-5F86-9905-73D58E6B743E}"/>
              </a:ext>
            </a:extLst>
          </p:cNvPr>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a:extLst>
              <a:ext uri="{FF2B5EF4-FFF2-40B4-BE49-F238E27FC236}">
                <a16:creationId xmlns:a16="http://schemas.microsoft.com/office/drawing/2014/main" id="{6F2FF6D9-6626-C9CC-7AAD-FC8A0B4460D3}"/>
              </a:ext>
            </a:extLst>
          </p:cNvPr>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a:extLst>
              <a:ext uri="{FF2B5EF4-FFF2-40B4-BE49-F238E27FC236}">
                <a16:creationId xmlns:a16="http://schemas.microsoft.com/office/drawing/2014/main" id="{A050CE54-C069-2986-5845-EDC172B9E769}"/>
              </a:ext>
            </a:extLst>
          </p:cNvPr>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a:extLst>
              <a:ext uri="{FF2B5EF4-FFF2-40B4-BE49-F238E27FC236}">
                <a16:creationId xmlns:a16="http://schemas.microsoft.com/office/drawing/2014/main" id="{719F51AF-9F3F-2073-C4D8-A0292369F6C0}"/>
              </a:ext>
            </a:extLst>
          </p:cNvPr>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a:extLst>
              <a:ext uri="{FF2B5EF4-FFF2-40B4-BE49-F238E27FC236}">
                <a16:creationId xmlns:a16="http://schemas.microsoft.com/office/drawing/2014/main" id="{C6253CFC-2E50-920F-C036-AAE5F180AD01}"/>
              </a:ext>
            </a:extLst>
          </p:cNvPr>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a:extLst>
              <a:ext uri="{FF2B5EF4-FFF2-40B4-BE49-F238E27FC236}">
                <a16:creationId xmlns:a16="http://schemas.microsoft.com/office/drawing/2014/main" id="{DEFCB3B9-BD9C-53E8-1A8D-AAC099166269}"/>
              </a:ext>
            </a:extLst>
          </p:cNvPr>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a:extLst>
              <a:ext uri="{FF2B5EF4-FFF2-40B4-BE49-F238E27FC236}">
                <a16:creationId xmlns:a16="http://schemas.microsoft.com/office/drawing/2014/main" id="{54B21C23-2A32-1205-63ED-93BB03940D01}"/>
              </a:ext>
            </a:extLst>
          </p:cNvPr>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a:extLst>
              <a:ext uri="{FF2B5EF4-FFF2-40B4-BE49-F238E27FC236}">
                <a16:creationId xmlns:a16="http://schemas.microsoft.com/office/drawing/2014/main" id="{5970CC3C-0D97-C7CC-C75A-5B62EED2C005}"/>
              </a:ext>
            </a:extLst>
          </p:cNvPr>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a:extLst>
              <a:ext uri="{FF2B5EF4-FFF2-40B4-BE49-F238E27FC236}">
                <a16:creationId xmlns:a16="http://schemas.microsoft.com/office/drawing/2014/main" id="{3B489F86-FCAE-7EE2-4432-7C7B1EE6134E}"/>
              </a:ext>
            </a:extLst>
          </p:cNvPr>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a:extLst>
              <a:ext uri="{FF2B5EF4-FFF2-40B4-BE49-F238E27FC236}">
                <a16:creationId xmlns:a16="http://schemas.microsoft.com/office/drawing/2014/main" id="{D5C34907-8E9A-AD5E-2A4A-B60C9DB64BDD}"/>
              </a:ext>
            </a:extLst>
          </p:cNvPr>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a:extLst>
              <a:ext uri="{FF2B5EF4-FFF2-40B4-BE49-F238E27FC236}">
                <a16:creationId xmlns:a16="http://schemas.microsoft.com/office/drawing/2014/main" id="{9195910B-76F0-19D6-C861-96D92CC53FD1}"/>
              </a:ext>
            </a:extLst>
          </p:cNvPr>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a:extLst>
              <a:ext uri="{FF2B5EF4-FFF2-40B4-BE49-F238E27FC236}">
                <a16:creationId xmlns:a16="http://schemas.microsoft.com/office/drawing/2014/main" id="{9E60B936-5341-9E11-B8A4-455924E1E818}"/>
              </a:ext>
            </a:extLst>
          </p:cNvPr>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a:extLst>
              <a:ext uri="{FF2B5EF4-FFF2-40B4-BE49-F238E27FC236}">
                <a16:creationId xmlns:a16="http://schemas.microsoft.com/office/drawing/2014/main" id="{72885ADC-8B42-1966-80AD-AABFFD11E0AE}"/>
              </a:ext>
            </a:extLst>
          </p:cNvPr>
          <p:cNvGrpSpPr>
            <a:grpSpLocks noChangeAspect="1"/>
          </p:cNvGrpSpPr>
          <p:nvPr/>
        </p:nvGrpSpPr>
        <p:grpSpPr bwMode="auto">
          <a:xfrm>
            <a:off x="3668910" y="3464857"/>
            <a:ext cx="1926783" cy="708412"/>
            <a:chOff x="3456" y="1200"/>
            <a:chExt cx="1392" cy="512"/>
          </a:xfrm>
        </p:grpSpPr>
        <p:sp>
          <p:nvSpPr>
            <p:cNvPr id="607257" name="Rectangle 25">
              <a:extLst>
                <a:ext uri="{FF2B5EF4-FFF2-40B4-BE49-F238E27FC236}">
                  <a16:creationId xmlns:a16="http://schemas.microsoft.com/office/drawing/2014/main" id="{398A6943-6B70-8124-2D4E-1F9F581B7D0B}"/>
                </a:ext>
              </a:extLst>
            </p:cNvPr>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a:extLst>
                <a:ext uri="{FF2B5EF4-FFF2-40B4-BE49-F238E27FC236}">
                  <a16:creationId xmlns:a16="http://schemas.microsoft.com/office/drawing/2014/main" id="{AB79E61D-5201-2E36-FBF2-913BCB2D3EDD}"/>
                </a:ext>
              </a:extLst>
            </p:cNvPr>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a:extLst>
                <a:ext uri="{FF2B5EF4-FFF2-40B4-BE49-F238E27FC236}">
                  <a16:creationId xmlns:a16="http://schemas.microsoft.com/office/drawing/2014/main" id="{D1638CA0-1BEC-125E-1C34-E268BD202164}"/>
                </a:ext>
              </a:extLst>
            </p:cNvPr>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a:extLst>
                <a:ext uri="{FF2B5EF4-FFF2-40B4-BE49-F238E27FC236}">
                  <a16:creationId xmlns:a16="http://schemas.microsoft.com/office/drawing/2014/main" id="{0CCC3931-0861-2B02-9C27-1A127E0EB138}"/>
                </a:ext>
              </a:extLst>
            </p:cNvPr>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a:extLst>
              <a:ext uri="{FF2B5EF4-FFF2-40B4-BE49-F238E27FC236}">
                <a16:creationId xmlns:a16="http://schemas.microsoft.com/office/drawing/2014/main" id="{558412BC-E39A-A0DF-1C15-5405CA027399}"/>
              </a:ext>
            </a:extLst>
          </p:cNvPr>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a:extLst>
              <a:ext uri="{FF2B5EF4-FFF2-40B4-BE49-F238E27FC236}">
                <a16:creationId xmlns:a16="http://schemas.microsoft.com/office/drawing/2014/main" id="{7C68E4E3-2445-B231-7588-84ECFD561412}"/>
              </a:ext>
            </a:extLst>
          </p:cNvPr>
          <p:cNvGrpSpPr>
            <a:grpSpLocks noChangeAspect="1"/>
          </p:cNvGrpSpPr>
          <p:nvPr/>
        </p:nvGrpSpPr>
        <p:grpSpPr bwMode="auto">
          <a:xfrm>
            <a:off x="3668910" y="1273208"/>
            <a:ext cx="3388480" cy="1062617"/>
            <a:chOff x="2208" y="576"/>
            <a:chExt cx="2448" cy="768"/>
          </a:xfrm>
        </p:grpSpPr>
        <p:sp>
          <p:nvSpPr>
            <p:cNvPr id="607264" name="Rectangle 32">
              <a:extLst>
                <a:ext uri="{FF2B5EF4-FFF2-40B4-BE49-F238E27FC236}">
                  <a16:creationId xmlns:a16="http://schemas.microsoft.com/office/drawing/2014/main" id="{10FB66F6-A47B-7E35-4558-FC6FFFA86BC7}"/>
                </a:ext>
              </a:extLst>
            </p:cNvPr>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a:extLst>
                <a:ext uri="{FF2B5EF4-FFF2-40B4-BE49-F238E27FC236}">
                  <a16:creationId xmlns:a16="http://schemas.microsoft.com/office/drawing/2014/main" id="{9E82BD48-73C2-BA67-A701-BC2D333362BA}"/>
                </a:ext>
              </a:extLst>
            </p:cNvPr>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a:extLst>
                <a:ext uri="{FF2B5EF4-FFF2-40B4-BE49-F238E27FC236}">
                  <a16:creationId xmlns:a16="http://schemas.microsoft.com/office/drawing/2014/main" id="{D4604443-2FDE-6229-4CBE-03B3A0878B03}"/>
                </a:ext>
              </a:extLst>
            </p:cNvPr>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a:extLst>
                <a:ext uri="{FF2B5EF4-FFF2-40B4-BE49-F238E27FC236}">
                  <a16:creationId xmlns:a16="http://schemas.microsoft.com/office/drawing/2014/main" id="{B2E482E8-BE32-6D18-6547-E969A8E99E24}"/>
                </a:ext>
              </a:extLst>
            </p:cNvPr>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a:extLst>
                <a:ext uri="{FF2B5EF4-FFF2-40B4-BE49-F238E27FC236}">
                  <a16:creationId xmlns:a16="http://schemas.microsoft.com/office/drawing/2014/main" id="{0A34E812-A4DA-CE31-1E80-82AA9D6F1F75}"/>
                </a:ext>
              </a:extLst>
            </p:cNvPr>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a:extLst>
                <a:ext uri="{FF2B5EF4-FFF2-40B4-BE49-F238E27FC236}">
                  <a16:creationId xmlns:a16="http://schemas.microsoft.com/office/drawing/2014/main" id="{8E299B1C-C252-46CC-4EFF-063C2240E82C}"/>
                </a:ext>
              </a:extLst>
            </p:cNvPr>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a:extLst>
                <a:ext uri="{FF2B5EF4-FFF2-40B4-BE49-F238E27FC236}">
                  <a16:creationId xmlns:a16="http://schemas.microsoft.com/office/drawing/2014/main" id="{DFE642CC-D984-5AC4-00E9-F15FCBC8883A}"/>
                </a:ext>
              </a:extLst>
            </p:cNvPr>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a:extLst>
                <a:ext uri="{FF2B5EF4-FFF2-40B4-BE49-F238E27FC236}">
                  <a16:creationId xmlns:a16="http://schemas.microsoft.com/office/drawing/2014/main" id="{182F20C4-F8F3-04A1-0FE8-9EE8E18F7250}"/>
                </a:ext>
              </a:extLst>
            </p:cNvPr>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a:extLst>
                <a:ext uri="{FF2B5EF4-FFF2-40B4-BE49-F238E27FC236}">
                  <a16:creationId xmlns:a16="http://schemas.microsoft.com/office/drawing/2014/main" id="{EEDD5D46-2D68-75C9-966E-AB95505AFE36}"/>
                </a:ext>
              </a:extLst>
            </p:cNvPr>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a:extLst>
                <a:ext uri="{FF2B5EF4-FFF2-40B4-BE49-F238E27FC236}">
                  <a16:creationId xmlns:a16="http://schemas.microsoft.com/office/drawing/2014/main" id="{7585E3F0-0E88-BD4B-610B-407C410CA71C}"/>
                </a:ext>
              </a:extLst>
            </p:cNvPr>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a:extLst>
                <a:ext uri="{FF2B5EF4-FFF2-40B4-BE49-F238E27FC236}">
                  <a16:creationId xmlns:a16="http://schemas.microsoft.com/office/drawing/2014/main" id="{BA383670-28DD-3755-2E7B-BCCC5BCC76FD}"/>
                </a:ext>
              </a:extLst>
            </p:cNvPr>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a:extLst>
                <a:ext uri="{FF2B5EF4-FFF2-40B4-BE49-F238E27FC236}">
                  <a16:creationId xmlns:a16="http://schemas.microsoft.com/office/drawing/2014/main" id="{7BF625DD-D37D-39C1-1E36-7BA47FA80875}"/>
                </a:ext>
              </a:extLst>
            </p:cNvPr>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a:extLst>
                <a:ext uri="{FF2B5EF4-FFF2-40B4-BE49-F238E27FC236}">
                  <a16:creationId xmlns:a16="http://schemas.microsoft.com/office/drawing/2014/main" id="{68F150E2-1587-E9E8-3564-BBA42C18AD84}"/>
                </a:ext>
              </a:extLst>
            </p:cNvPr>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a:extLst>
                <a:ext uri="{FF2B5EF4-FFF2-40B4-BE49-F238E27FC236}">
                  <a16:creationId xmlns:a16="http://schemas.microsoft.com/office/drawing/2014/main" id="{6109CDBE-8E3D-BE34-E038-0A11307A2AE4}"/>
                </a:ext>
              </a:extLst>
            </p:cNvPr>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a:extLst>
                <a:ext uri="{FF2B5EF4-FFF2-40B4-BE49-F238E27FC236}">
                  <a16:creationId xmlns:a16="http://schemas.microsoft.com/office/drawing/2014/main" id="{F1AA6857-17F6-FDCB-AC43-0E72AF7FF324}"/>
                </a:ext>
              </a:extLst>
            </p:cNvPr>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a:extLst>
                <a:ext uri="{FF2B5EF4-FFF2-40B4-BE49-F238E27FC236}">
                  <a16:creationId xmlns:a16="http://schemas.microsoft.com/office/drawing/2014/main" id="{1AE6FE65-97F8-C133-F01B-544F302AE6A4}"/>
                </a:ext>
              </a:extLst>
            </p:cNvPr>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a:extLst>
              <a:ext uri="{FF2B5EF4-FFF2-40B4-BE49-F238E27FC236}">
                <a16:creationId xmlns:a16="http://schemas.microsoft.com/office/drawing/2014/main" id="{69E8F9AB-99B2-B764-D0A2-376D9C4BCE20}"/>
              </a:ext>
            </a:extLst>
          </p:cNvPr>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a:extLst>
              <a:ext uri="{FF2B5EF4-FFF2-40B4-BE49-F238E27FC236}">
                <a16:creationId xmlns:a16="http://schemas.microsoft.com/office/drawing/2014/main" id="{B75F601B-D100-7DF9-94A8-5F150FC65412}"/>
              </a:ext>
            </a:extLst>
          </p:cNvPr>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a:extLst>
              <a:ext uri="{FF2B5EF4-FFF2-40B4-BE49-F238E27FC236}">
                <a16:creationId xmlns:a16="http://schemas.microsoft.com/office/drawing/2014/main" id="{90BD016B-80FB-F6C9-5E50-3C9B9DE0F391}"/>
              </a:ext>
            </a:extLst>
          </p:cNvPr>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a:extLst>
              <a:ext uri="{FF2B5EF4-FFF2-40B4-BE49-F238E27FC236}">
                <a16:creationId xmlns:a16="http://schemas.microsoft.com/office/drawing/2014/main" id="{3285B06F-C4BF-C1AC-0182-412C2C297EDE}"/>
              </a:ext>
            </a:extLst>
          </p:cNvPr>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a:extLst>
              <a:ext uri="{FF2B5EF4-FFF2-40B4-BE49-F238E27FC236}">
                <a16:creationId xmlns:a16="http://schemas.microsoft.com/office/drawing/2014/main" id="{0434B82A-C37B-70EB-8538-1A92F4A69456}"/>
              </a:ext>
            </a:extLst>
          </p:cNvPr>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a:extLst>
              <a:ext uri="{FF2B5EF4-FFF2-40B4-BE49-F238E27FC236}">
                <a16:creationId xmlns:a16="http://schemas.microsoft.com/office/drawing/2014/main" id="{750A0938-DFF9-F384-5E44-03076BFBBEFB}"/>
              </a:ext>
            </a:extLst>
          </p:cNvPr>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a:extLst>
              <a:ext uri="{FF2B5EF4-FFF2-40B4-BE49-F238E27FC236}">
                <a16:creationId xmlns:a16="http://schemas.microsoft.com/office/drawing/2014/main" id="{188ADD60-D21A-AAEF-A64F-B1E48C1F82C6}"/>
              </a:ext>
            </a:extLst>
          </p:cNvPr>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a:extLst>
              <a:ext uri="{FF2B5EF4-FFF2-40B4-BE49-F238E27FC236}">
                <a16:creationId xmlns:a16="http://schemas.microsoft.com/office/drawing/2014/main" id="{6F7E77C9-A3C5-CF64-A08C-6771F9AEC26A}"/>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a:extLst>
              <a:ext uri="{FF2B5EF4-FFF2-40B4-BE49-F238E27FC236}">
                <a16:creationId xmlns:a16="http://schemas.microsoft.com/office/drawing/2014/main" id="{874EE71C-066B-3AB0-8E50-E1E1A7EECDF8}"/>
              </a:ext>
            </a:extLst>
          </p:cNvPr>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a:extLst>
              <a:ext uri="{FF2B5EF4-FFF2-40B4-BE49-F238E27FC236}">
                <a16:creationId xmlns:a16="http://schemas.microsoft.com/office/drawing/2014/main" id="{813FE551-63BB-60F9-C557-33BEB8537A44}"/>
              </a:ext>
            </a:extLst>
          </p:cNvPr>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a:extLst>
              <a:ext uri="{FF2B5EF4-FFF2-40B4-BE49-F238E27FC236}">
                <a16:creationId xmlns:a16="http://schemas.microsoft.com/office/drawing/2014/main" id="{E96C9F7D-257F-B38E-BC9F-B2527BFB0E7D}"/>
              </a:ext>
            </a:extLst>
          </p:cNvPr>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a:extLst>
              <a:ext uri="{FF2B5EF4-FFF2-40B4-BE49-F238E27FC236}">
                <a16:creationId xmlns:a16="http://schemas.microsoft.com/office/drawing/2014/main" id="{4D9E72ED-6A85-EEE4-DE51-0D1230FFEE47}"/>
              </a:ext>
            </a:extLst>
          </p:cNvPr>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a:extLst>
              <a:ext uri="{FF2B5EF4-FFF2-40B4-BE49-F238E27FC236}">
                <a16:creationId xmlns:a16="http://schemas.microsoft.com/office/drawing/2014/main" id="{55B41F25-F2BD-0EDE-D82B-ED41D2353174}"/>
              </a:ext>
            </a:extLst>
          </p:cNvPr>
          <p:cNvSpPr>
            <a:spLocks noChangeAspect="1"/>
          </p:cNvSpPr>
          <p:nvPr/>
        </p:nvSpPr>
        <p:spPr bwMode="auto">
          <a:xfrm>
            <a:off x="7469875" y="2209917"/>
            <a:ext cx="811975"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a:extLst>
              <a:ext uri="{FF2B5EF4-FFF2-40B4-BE49-F238E27FC236}">
                <a16:creationId xmlns:a16="http://schemas.microsoft.com/office/drawing/2014/main" id="{C15855A7-A71A-E78B-FDF3-C8AA35B30F25}"/>
              </a:ext>
            </a:extLst>
          </p:cNvPr>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a:extLst>
              <a:ext uri="{FF2B5EF4-FFF2-40B4-BE49-F238E27FC236}">
                <a16:creationId xmlns:a16="http://schemas.microsoft.com/office/drawing/2014/main" id="{8C786C43-3447-7107-5B6A-2C75DB411946}"/>
              </a:ext>
            </a:extLst>
          </p:cNvPr>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a:extLst>
              <a:ext uri="{FF2B5EF4-FFF2-40B4-BE49-F238E27FC236}">
                <a16:creationId xmlns:a16="http://schemas.microsoft.com/office/drawing/2014/main" id="{D96C0291-D754-09A3-8D4E-054591F8F721}"/>
              </a:ext>
            </a:extLst>
          </p:cNvPr>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a:extLst>
              <a:ext uri="{FF2B5EF4-FFF2-40B4-BE49-F238E27FC236}">
                <a16:creationId xmlns:a16="http://schemas.microsoft.com/office/drawing/2014/main" id="{C20CE538-D6D3-72FD-1A77-929D65FB09EB}"/>
              </a:ext>
            </a:extLst>
          </p:cNvPr>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a:extLst>
              <a:ext uri="{FF2B5EF4-FFF2-40B4-BE49-F238E27FC236}">
                <a16:creationId xmlns:a16="http://schemas.microsoft.com/office/drawing/2014/main" id="{D5487BAD-CDED-0DFB-0FC5-38C0111F09BE}"/>
              </a:ext>
            </a:extLst>
          </p:cNvPr>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a:extLst>
              <a:ext uri="{FF2B5EF4-FFF2-40B4-BE49-F238E27FC236}">
                <a16:creationId xmlns:a16="http://schemas.microsoft.com/office/drawing/2014/main" id="{BD71A529-8B96-E571-ED2C-C63B4E734ED4}"/>
              </a:ext>
            </a:extLst>
          </p:cNvPr>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a:extLst>
              <a:ext uri="{FF2B5EF4-FFF2-40B4-BE49-F238E27FC236}">
                <a16:creationId xmlns:a16="http://schemas.microsoft.com/office/drawing/2014/main" id="{C934F584-0E18-CBBB-072E-213A7C34F9B8}"/>
              </a:ext>
            </a:extLst>
          </p:cNvPr>
          <p:cNvGrpSpPr>
            <a:grpSpLocks noChangeAspect="1"/>
          </p:cNvGrpSpPr>
          <p:nvPr/>
        </p:nvGrpSpPr>
        <p:grpSpPr bwMode="auto">
          <a:xfrm rot="16200000">
            <a:off x="1742290" y="898031"/>
            <a:ext cx="796963" cy="1063052"/>
            <a:chOff x="1872" y="1584"/>
            <a:chExt cx="576" cy="864"/>
          </a:xfrm>
        </p:grpSpPr>
        <p:sp>
          <p:nvSpPr>
            <p:cNvPr id="607303" name="Rectangle 71">
              <a:extLst>
                <a:ext uri="{FF2B5EF4-FFF2-40B4-BE49-F238E27FC236}">
                  <a16:creationId xmlns:a16="http://schemas.microsoft.com/office/drawing/2014/main" id="{ADEBA9C9-CA40-743B-0E70-FA9FE0782BF3}"/>
                </a:ext>
              </a:extLst>
            </p:cNvPr>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a:extLst>
                <a:ext uri="{FF2B5EF4-FFF2-40B4-BE49-F238E27FC236}">
                  <a16:creationId xmlns:a16="http://schemas.microsoft.com/office/drawing/2014/main" id="{B6497059-FC23-8DE1-4CA8-277BDB78875D}"/>
                </a:ext>
              </a:extLst>
            </p:cNvPr>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a:extLst>
                <a:ext uri="{FF2B5EF4-FFF2-40B4-BE49-F238E27FC236}">
                  <a16:creationId xmlns:a16="http://schemas.microsoft.com/office/drawing/2014/main" id="{DA80E154-A27C-4AE3-FA1D-228C7BE53C18}"/>
                </a:ext>
              </a:extLst>
            </p:cNvPr>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a:extLst>
                <a:ext uri="{FF2B5EF4-FFF2-40B4-BE49-F238E27FC236}">
                  <a16:creationId xmlns:a16="http://schemas.microsoft.com/office/drawing/2014/main" id="{3C62B61D-C71E-F292-1B58-68B85F0F9BBD}"/>
                </a:ext>
              </a:extLst>
            </p:cNvPr>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a:extLst>
                <a:ext uri="{FF2B5EF4-FFF2-40B4-BE49-F238E27FC236}">
                  <a16:creationId xmlns:a16="http://schemas.microsoft.com/office/drawing/2014/main" id="{2301A7FF-5D51-30B9-1CEF-9745876C0AE9}"/>
                </a:ext>
              </a:extLst>
            </p:cNvPr>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a:extLst>
                <a:ext uri="{FF2B5EF4-FFF2-40B4-BE49-F238E27FC236}">
                  <a16:creationId xmlns:a16="http://schemas.microsoft.com/office/drawing/2014/main" id="{708E18F8-C7B9-E473-481B-EB2FCAB660DE}"/>
                </a:ext>
              </a:extLst>
            </p:cNvPr>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a:extLst>
              <a:ext uri="{FF2B5EF4-FFF2-40B4-BE49-F238E27FC236}">
                <a16:creationId xmlns:a16="http://schemas.microsoft.com/office/drawing/2014/main" id="{16951AC8-F0E9-467C-E2C6-C194520FD11A}"/>
              </a:ext>
            </a:extLst>
          </p:cNvPr>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a:extLst>
              <a:ext uri="{FF2B5EF4-FFF2-40B4-BE49-F238E27FC236}">
                <a16:creationId xmlns:a16="http://schemas.microsoft.com/office/drawing/2014/main" id="{242904AE-7D52-1026-3793-C7EAA3FACDE6}"/>
              </a:ext>
            </a:extLst>
          </p:cNvPr>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a:extLst>
              <a:ext uri="{FF2B5EF4-FFF2-40B4-BE49-F238E27FC236}">
                <a16:creationId xmlns:a16="http://schemas.microsoft.com/office/drawing/2014/main" id="{C9BF346A-8188-B942-0E07-3D2632F371C2}"/>
              </a:ext>
            </a:extLst>
          </p:cNvPr>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a:t>
            </a:fld>
            <a:r>
              <a:rPr lang="en-GB"/>
              <a:t> </a:t>
            </a:r>
          </a:p>
        </p:txBody>
      </p:sp>
      <p:sp>
        <p:nvSpPr>
          <p:cNvPr id="35846" name="Rectangle 50">
            <a:extLst>
              <a:ext uri="{FF2B5EF4-FFF2-40B4-BE49-F238E27FC236}">
                <a16:creationId xmlns:a16="http://schemas.microsoft.com/office/drawing/2014/main" id="{8516F7DA-41AE-1937-D3EA-8C6FFA5ED576}"/>
              </a:ext>
            </a:extLst>
          </p:cNvPr>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a:extLst>
              <a:ext uri="{FF2B5EF4-FFF2-40B4-BE49-F238E27FC236}">
                <a16:creationId xmlns:a16="http://schemas.microsoft.com/office/drawing/2014/main" id="{869B9231-B2BD-835A-2860-1D34029926E8}"/>
              </a:ext>
            </a:extLst>
          </p:cNvPr>
          <p:cNvSpPr txBox="1"/>
          <p:nvPr/>
        </p:nvSpPr>
        <p:spPr>
          <a:xfrm>
            <a:off x="0" y="2325385"/>
            <a:ext cx="3010889" cy="1729704"/>
          </a:xfrm>
          <a:prstGeom prst="rect">
            <a:avLst/>
          </a:prstGeom>
          <a:noFill/>
        </p:spPr>
        <p:txBody>
          <a:bodyPr wrap="none" rtlCol="0">
            <a:spAutoFit/>
          </a:bodyPr>
          <a:lstStyle/>
          <a:p>
            <a:r>
              <a:rPr lang="en-CA" sz="2000" i="1" dirty="0">
                <a:solidFill>
                  <a:schemeClr val="accent2"/>
                </a:solidFill>
              </a:rPr>
              <a:t>Cycle 5</a:t>
            </a:r>
            <a:r>
              <a:rPr lang="en-CA" sz="2000" i="1" dirty="0">
                <a:solidFill>
                  <a:schemeClr val="accent2"/>
                </a:solidFill>
                <a:highlight>
                  <a:srgbClr val="FFFF00"/>
                </a:highlight>
              </a:rPr>
              <a:t>b</a:t>
            </a:r>
            <a:r>
              <a:rPr lang="en-CA" sz="2000" i="1" dirty="0">
                <a:solidFill>
                  <a:schemeClr val="accent2"/>
                </a:solidFill>
              </a:rPr>
              <a:t>:</a:t>
            </a:r>
          </a:p>
          <a:p>
            <a:r>
              <a:rPr lang="en-CA" sz="2000" dirty="0">
                <a:solidFill>
                  <a:schemeClr val="accent2"/>
                </a:solidFill>
              </a:rPr>
              <a:t>… and updates register </a:t>
            </a:r>
          </a:p>
          <a:p>
            <a:r>
              <a:rPr lang="en-CA" sz="2000" dirty="0">
                <a:solidFill>
                  <a:schemeClr val="accent2"/>
                </a:solidFill>
              </a:rPr>
              <a:t>alias table (RAT) since </a:t>
            </a:r>
          </a:p>
          <a:p>
            <a:r>
              <a:rPr lang="en-CA" sz="2000" dirty="0">
                <a:solidFill>
                  <a:schemeClr val="accent2"/>
                </a:solidFill>
              </a:rPr>
              <a:t>DMUL should write R4 (if</a:t>
            </a:r>
          </a:p>
          <a:p>
            <a:r>
              <a:rPr lang="en-CA" sz="2000" dirty="0">
                <a:solidFill>
                  <a:schemeClr val="accent2"/>
                </a:solidFill>
              </a:rPr>
              <a:t>it commits)</a:t>
            </a:r>
          </a:p>
          <a:p>
            <a:endParaRPr lang="en-CA" sz="2000" dirty="0">
              <a:solidFill>
                <a:schemeClr val="accent2"/>
              </a:solidFill>
            </a:endParaRPr>
          </a:p>
          <a:p>
            <a:endParaRPr lang="en-CA" sz="2000" dirty="0">
              <a:solidFill>
                <a:schemeClr val="accent2"/>
              </a:solidFill>
            </a:endParaRPr>
          </a:p>
        </p:txBody>
      </p:sp>
      <p:cxnSp>
        <p:nvCxnSpPr>
          <p:cNvPr id="100" name="Straight Connector 99">
            <a:extLst>
              <a:ext uri="{FF2B5EF4-FFF2-40B4-BE49-F238E27FC236}">
                <a16:creationId xmlns:a16="http://schemas.microsoft.com/office/drawing/2014/main" id="{C29518FE-2EB4-1248-EDC3-D307D87D734B}"/>
              </a:ext>
            </a:extLst>
          </p:cNvPr>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a:extLst>
              <a:ext uri="{FF2B5EF4-FFF2-40B4-BE49-F238E27FC236}">
                <a16:creationId xmlns:a16="http://schemas.microsoft.com/office/drawing/2014/main" id="{C380FBD6-EF6E-6F01-2083-E7B28DE1853C}"/>
              </a:ext>
            </a:extLst>
          </p:cNvPr>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a:extLst>
              <a:ext uri="{FF2B5EF4-FFF2-40B4-BE49-F238E27FC236}">
                <a16:creationId xmlns:a16="http://schemas.microsoft.com/office/drawing/2014/main" id="{F8BA9F6B-210F-9BB8-A5DF-F368EF9A7D67}"/>
              </a:ext>
            </a:extLst>
          </p:cNvPr>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a:extLst>
              <a:ext uri="{FF2B5EF4-FFF2-40B4-BE49-F238E27FC236}">
                <a16:creationId xmlns:a16="http://schemas.microsoft.com/office/drawing/2014/main" id="{540D6553-89BD-856E-ACA9-32ECB8A5BEFB}"/>
              </a:ext>
            </a:extLst>
          </p:cNvPr>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a:extLst>
              <a:ext uri="{FF2B5EF4-FFF2-40B4-BE49-F238E27FC236}">
                <a16:creationId xmlns:a16="http://schemas.microsoft.com/office/drawing/2014/main" id="{502C4C03-9479-E59D-D9BA-32421D4200ED}"/>
              </a:ext>
            </a:extLst>
          </p:cNvPr>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a:extLst>
              <a:ext uri="{FF2B5EF4-FFF2-40B4-BE49-F238E27FC236}">
                <a16:creationId xmlns:a16="http://schemas.microsoft.com/office/drawing/2014/main" id="{8BD83161-2C7D-0864-AC5A-49F2A0997038}"/>
              </a:ext>
            </a:extLst>
          </p:cNvPr>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a:extLst>
              <a:ext uri="{FF2B5EF4-FFF2-40B4-BE49-F238E27FC236}">
                <a16:creationId xmlns:a16="http://schemas.microsoft.com/office/drawing/2014/main" id="{DD2AC460-C5DF-0AE9-CCA1-0EA47F954B84}"/>
              </a:ext>
            </a:extLst>
          </p:cNvPr>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a:extLst>
              <a:ext uri="{FF2B5EF4-FFF2-40B4-BE49-F238E27FC236}">
                <a16:creationId xmlns:a16="http://schemas.microsoft.com/office/drawing/2014/main" id="{9CADFD87-6140-9245-90C9-78E37DA87924}"/>
              </a:ext>
            </a:extLst>
          </p:cNvPr>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a:extLst>
              <a:ext uri="{FF2B5EF4-FFF2-40B4-BE49-F238E27FC236}">
                <a16:creationId xmlns:a16="http://schemas.microsoft.com/office/drawing/2014/main" id="{34584611-613E-20C6-DD32-8D2201869EE5}"/>
              </a:ext>
            </a:extLst>
          </p:cNvPr>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a:extLst>
              <a:ext uri="{FF2B5EF4-FFF2-40B4-BE49-F238E27FC236}">
                <a16:creationId xmlns:a16="http://schemas.microsoft.com/office/drawing/2014/main" id="{9EA0D31E-E308-DACF-DE8B-653972E2643F}"/>
              </a:ext>
            </a:extLst>
          </p:cNvPr>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98" name="Rectangle 56">
            <a:extLst>
              <a:ext uri="{FF2B5EF4-FFF2-40B4-BE49-F238E27FC236}">
                <a16:creationId xmlns:a16="http://schemas.microsoft.com/office/drawing/2014/main" id="{D26C2355-D40D-6134-E3EF-97AD2B6587EE}"/>
              </a:ext>
            </a:extLst>
          </p:cNvPr>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R3,Label)</a:t>
            </a:r>
          </a:p>
        </p:txBody>
      </p:sp>
      <p:sp>
        <p:nvSpPr>
          <p:cNvPr id="99" name="Rectangle 59">
            <a:extLst>
              <a:ext uri="{FF2B5EF4-FFF2-40B4-BE49-F238E27FC236}">
                <a16:creationId xmlns:a16="http://schemas.microsoft.com/office/drawing/2014/main" id="{4B14E9DF-99F9-D7B3-229B-65459D0B5B51}"/>
              </a:ext>
            </a:extLst>
          </p:cNvPr>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a:extLst>
              <a:ext uri="{FF2B5EF4-FFF2-40B4-BE49-F238E27FC236}">
                <a16:creationId xmlns:a16="http://schemas.microsoft.com/office/drawing/2014/main" id="{993F5C78-278C-3EFE-AAB9-1B0DEBC6DF20}"/>
              </a:ext>
            </a:extLst>
          </p:cNvPr>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6" name="Rectangle 56">
            <a:extLst>
              <a:ext uri="{FF2B5EF4-FFF2-40B4-BE49-F238E27FC236}">
                <a16:creationId xmlns:a16="http://schemas.microsoft.com/office/drawing/2014/main" id="{6E82E701-FA58-C1F7-185E-1AF2F2B6A87B}"/>
              </a:ext>
            </a:extLst>
          </p:cNvPr>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BEQZ  ROB1,Loop</a:t>
            </a:r>
          </a:p>
        </p:txBody>
      </p:sp>
      <p:sp>
        <p:nvSpPr>
          <p:cNvPr id="114" name="Rectangle 56">
            <a:extLst>
              <a:ext uri="{FF2B5EF4-FFF2-40B4-BE49-F238E27FC236}">
                <a16:creationId xmlns:a16="http://schemas.microsoft.com/office/drawing/2014/main" id="{C0DED3EF-490E-D9AB-9B7D-73A6B0BDA46F}"/>
              </a:ext>
            </a:extLst>
          </p:cNvPr>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116" name="Rectangle 56">
            <a:extLst>
              <a:ext uri="{FF2B5EF4-FFF2-40B4-BE49-F238E27FC236}">
                <a16:creationId xmlns:a16="http://schemas.microsoft.com/office/drawing/2014/main" id="{931F26C6-7E87-1BF2-E829-ED783E1BFE22}"/>
              </a:ext>
            </a:extLst>
          </p:cNvPr>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
        <p:nvSpPr>
          <p:cNvPr id="607291" name="Rectangle 59">
            <a:extLst>
              <a:ext uri="{FF2B5EF4-FFF2-40B4-BE49-F238E27FC236}">
                <a16:creationId xmlns:a16="http://schemas.microsoft.com/office/drawing/2014/main" id="{153CCB8D-F26F-B937-BB34-EA24B9A9DA07}"/>
              </a:ext>
            </a:extLst>
          </p:cNvPr>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101" name="Rectangle 56">
            <a:extLst>
              <a:ext uri="{FF2B5EF4-FFF2-40B4-BE49-F238E27FC236}">
                <a16:creationId xmlns:a16="http://schemas.microsoft.com/office/drawing/2014/main" id="{B9205321-1F92-AA95-43C2-8DA11E25AA3C}"/>
              </a:ext>
            </a:extLst>
          </p:cNvPr>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02" name="Rectangle 59">
            <a:extLst>
              <a:ext uri="{FF2B5EF4-FFF2-40B4-BE49-F238E27FC236}">
                <a16:creationId xmlns:a16="http://schemas.microsoft.com/office/drawing/2014/main" id="{1AD36415-43F0-92EC-8CE0-6CDBFA5074ED}"/>
              </a:ext>
            </a:extLst>
          </p:cNvPr>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3" name="Rectangle 50">
            <a:extLst>
              <a:ext uri="{FF2B5EF4-FFF2-40B4-BE49-F238E27FC236}">
                <a16:creationId xmlns:a16="http://schemas.microsoft.com/office/drawing/2014/main" id="{8BDE9BCD-0621-5213-89DC-7793AB3ABBB2}"/>
              </a:ext>
            </a:extLst>
          </p:cNvPr>
          <p:cNvSpPr>
            <a:spLocks noChangeAspect="1" noChangeArrowheads="1"/>
          </p:cNvSpPr>
          <p:nvPr/>
        </p:nvSpPr>
        <p:spPr bwMode="auto">
          <a:xfrm>
            <a:off x="3664555" y="2340265"/>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R4</a:t>
            </a:r>
          </a:p>
        </p:txBody>
      </p:sp>
      <p:sp>
        <p:nvSpPr>
          <p:cNvPr id="118" name="Rectangle 56">
            <a:extLst>
              <a:ext uri="{FF2B5EF4-FFF2-40B4-BE49-F238E27FC236}">
                <a16:creationId xmlns:a16="http://schemas.microsoft.com/office/drawing/2014/main" id="{7879C6AF-6297-3CDE-62DC-111BA38497B4}"/>
              </a:ext>
            </a:extLst>
          </p:cNvPr>
          <p:cNvSpPr>
            <a:spLocks noChangeAspect="1" noChangeArrowheads="1"/>
          </p:cNvSpPr>
          <p:nvPr/>
        </p:nvSpPr>
        <p:spPr bwMode="auto">
          <a:xfrm>
            <a:off x="2999682" y="4791077"/>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3   DMUL        6,  7</a:t>
            </a:r>
          </a:p>
        </p:txBody>
      </p:sp>
      <p:sp>
        <p:nvSpPr>
          <p:cNvPr id="119" name="Rounded Rectangle 118">
            <a:extLst>
              <a:ext uri="{FF2B5EF4-FFF2-40B4-BE49-F238E27FC236}">
                <a16:creationId xmlns:a16="http://schemas.microsoft.com/office/drawing/2014/main" id="{86E5AB66-C698-811A-3582-B5521B694EA0}"/>
              </a:ext>
            </a:extLst>
          </p:cNvPr>
          <p:cNvSpPr/>
          <p:nvPr/>
        </p:nvSpPr>
        <p:spPr bwMode="auto">
          <a:xfrm>
            <a:off x="2945713" y="4748143"/>
            <a:ext cx="2827102" cy="248606"/>
          </a:xfrm>
          <a:prstGeom prst="roundRect">
            <a:avLst/>
          </a:prstGeom>
          <a:noFill/>
          <a:ln w="63500" cap="flat" cmpd="sng" algn="ctr">
            <a:solidFill>
              <a:schemeClr val="tx1">
                <a:lumMod val="50000"/>
                <a:lumOff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97" name="Rounded Rectangle 96">
            <a:extLst>
              <a:ext uri="{FF2B5EF4-FFF2-40B4-BE49-F238E27FC236}">
                <a16:creationId xmlns:a16="http://schemas.microsoft.com/office/drawing/2014/main" id="{FC34EAC2-6E96-0B08-B02E-602544505B55}"/>
              </a:ext>
            </a:extLst>
          </p:cNvPr>
          <p:cNvSpPr/>
          <p:nvPr/>
        </p:nvSpPr>
        <p:spPr bwMode="auto">
          <a:xfrm>
            <a:off x="3656430" y="2329865"/>
            <a:ext cx="3425589" cy="300251"/>
          </a:xfrm>
          <a:prstGeom prst="roundRect">
            <a:avLst/>
          </a:prstGeom>
          <a:noFill/>
          <a:ln w="63500" cap="flat" cmpd="sng" algn="ctr">
            <a:solidFill>
              <a:schemeClr val="tx1">
                <a:lumMod val="50000"/>
                <a:lumOff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cxnSp>
        <p:nvCxnSpPr>
          <p:cNvPr id="120" name="Straight Connector 119">
            <a:extLst>
              <a:ext uri="{FF2B5EF4-FFF2-40B4-BE49-F238E27FC236}">
                <a16:creationId xmlns:a16="http://schemas.microsoft.com/office/drawing/2014/main" id="{8E799823-803F-AE8A-2ABD-9246F48D14B0}"/>
              </a:ext>
            </a:extLst>
          </p:cNvPr>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1" name="Rectangle 50">
            <a:extLst>
              <a:ext uri="{FF2B5EF4-FFF2-40B4-BE49-F238E27FC236}">
                <a16:creationId xmlns:a16="http://schemas.microsoft.com/office/drawing/2014/main" id="{705F444F-4751-D8EA-195A-9E8F4B51CC04}"/>
              </a:ext>
            </a:extLst>
          </p:cNvPr>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22" name="Rectangle 50">
            <a:extLst>
              <a:ext uri="{FF2B5EF4-FFF2-40B4-BE49-F238E27FC236}">
                <a16:creationId xmlns:a16="http://schemas.microsoft.com/office/drawing/2014/main" id="{75ED4FE1-6F77-DF0B-3644-3B02CC7E0A46}"/>
              </a:ext>
            </a:extLst>
          </p:cNvPr>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3" name="Rectangle 50">
            <a:extLst>
              <a:ext uri="{FF2B5EF4-FFF2-40B4-BE49-F238E27FC236}">
                <a16:creationId xmlns:a16="http://schemas.microsoft.com/office/drawing/2014/main" id="{1F9C26D0-6F06-A309-D4DC-95517CD7808B}"/>
              </a:ext>
            </a:extLst>
          </p:cNvPr>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ROB3</a:t>
            </a:r>
          </a:p>
        </p:txBody>
      </p:sp>
      <p:sp>
        <p:nvSpPr>
          <p:cNvPr id="124" name="Text Box 86">
            <a:extLst>
              <a:ext uri="{FF2B5EF4-FFF2-40B4-BE49-F238E27FC236}">
                <a16:creationId xmlns:a16="http://schemas.microsoft.com/office/drawing/2014/main" id="{36BA4CF3-09C8-1E6C-A476-FF9DDFB703F1}"/>
              </a:ext>
            </a:extLst>
          </p:cNvPr>
          <p:cNvSpPr txBox="1">
            <a:spLocks noChangeAspect="1" noChangeArrowheads="1"/>
          </p:cNvSpPr>
          <p:nvPr/>
        </p:nvSpPr>
        <p:spPr bwMode="auto">
          <a:xfrm>
            <a:off x="1414984" y="3887227"/>
            <a:ext cx="2021708" cy="332142"/>
          </a:xfrm>
          <a:prstGeom prst="rect">
            <a:avLst/>
          </a:prstGeom>
          <a:noFill/>
          <a:ln w="28575">
            <a:noFill/>
            <a:miter lim="800000"/>
            <a:headEnd/>
            <a:tailEnd/>
          </a:ln>
        </p:spPr>
        <p:txBody>
          <a:bodyPr wrap="none" anchor="ctr">
            <a:spAutoFit/>
          </a:bodyPr>
          <a:lstStyle/>
          <a:p>
            <a:pPr algn="ctr"/>
            <a:r>
              <a:rPr lang="en-US" sz="2000" b="1" dirty="0" err="1">
                <a:solidFill>
                  <a:srgbClr val="000000"/>
                </a:solidFill>
                <a:latin typeface="Comic Sans MS" pitchFamily="66" charset="0"/>
              </a:rPr>
              <a:t>RAT+Registers</a:t>
            </a:r>
            <a:endParaRPr lang="en-US" sz="2000" b="1" dirty="0">
              <a:solidFill>
                <a:srgbClr val="000000"/>
              </a:solidFill>
              <a:latin typeface="Comic Sans MS" pitchFamily="66" charset="0"/>
            </a:endParaRPr>
          </a:p>
        </p:txBody>
      </p:sp>
      <p:sp>
        <p:nvSpPr>
          <p:cNvPr id="125" name="Rounded Rectangle 124">
            <a:extLst>
              <a:ext uri="{FF2B5EF4-FFF2-40B4-BE49-F238E27FC236}">
                <a16:creationId xmlns:a16="http://schemas.microsoft.com/office/drawing/2014/main" id="{CD11665B-5997-270F-C688-D1246F06149F}"/>
              </a:ext>
            </a:extLst>
          </p:cNvPr>
          <p:cNvSpPr/>
          <p:nvPr/>
        </p:nvSpPr>
        <p:spPr bwMode="auto">
          <a:xfrm>
            <a:off x="3647715" y="3405376"/>
            <a:ext cx="597714" cy="291411"/>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27" name="Rectangle 15">
            <a:extLst>
              <a:ext uri="{FF2B5EF4-FFF2-40B4-BE49-F238E27FC236}">
                <a16:creationId xmlns:a16="http://schemas.microsoft.com/office/drawing/2014/main" id="{3D4A3397-8DFF-7470-6E55-2850CA506C96}"/>
              </a:ext>
            </a:extLst>
          </p:cNvPr>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cxnSp>
        <p:nvCxnSpPr>
          <p:cNvPr id="130" name="Straight Arrow Connector 129">
            <a:extLst>
              <a:ext uri="{FF2B5EF4-FFF2-40B4-BE49-F238E27FC236}">
                <a16:creationId xmlns:a16="http://schemas.microsoft.com/office/drawing/2014/main" id="{E61C23A2-A2AF-D972-E6C2-C4D9EB26F974}"/>
              </a:ext>
            </a:extLst>
          </p:cNvPr>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31" name="Straight Arrow Connector 130">
            <a:extLst>
              <a:ext uri="{FF2B5EF4-FFF2-40B4-BE49-F238E27FC236}">
                <a16:creationId xmlns:a16="http://schemas.microsoft.com/office/drawing/2014/main" id="{9BBB7D6C-FBAB-F5EC-9A38-F6AC5D787C54}"/>
              </a:ext>
            </a:extLst>
          </p:cNvPr>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113" name="AutoShape 67">
            <a:extLst>
              <a:ext uri="{FF2B5EF4-FFF2-40B4-BE49-F238E27FC236}">
                <a16:creationId xmlns:a16="http://schemas.microsoft.com/office/drawing/2014/main" id="{2EEAB2AF-D11E-0FA2-FEBA-9FD30E4E9063}"/>
              </a:ext>
            </a:extLst>
          </p:cNvPr>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Tree>
    <p:extLst>
      <p:ext uri="{BB962C8B-B14F-4D97-AF65-F5344CB8AC3E}">
        <p14:creationId xmlns:p14="http://schemas.microsoft.com/office/powerpoint/2010/main" val="159045881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p:cNvGrpSpPr>
            <a:grpSpLocks noChangeAspect="1"/>
          </p:cNvGrpSpPr>
          <p:nvPr/>
        </p:nvGrpSpPr>
        <p:grpSpPr bwMode="auto">
          <a:xfrm>
            <a:off x="3015760" y="4593888"/>
            <a:ext cx="2656247" cy="354206"/>
            <a:chOff x="2064" y="2928"/>
            <a:chExt cx="1919" cy="256"/>
          </a:xfrm>
        </p:grpSpPr>
        <p:sp>
          <p:nvSpPr>
            <p:cNvPr id="607237" name="Rectangle 5"/>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p:cNvGrpSpPr>
            <a:grpSpLocks noChangeAspect="1"/>
          </p:cNvGrpSpPr>
          <p:nvPr/>
        </p:nvGrpSpPr>
        <p:grpSpPr bwMode="auto">
          <a:xfrm>
            <a:off x="3668910" y="3464857"/>
            <a:ext cx="1926783" cy="708412"/>
            <a:chOff x="3456" y="1200"/>
            <a:chExt cx="1392" cy="512"/>
          </a:xfrm>
        </p:grpSpPr>
        <p:sp>
          <p:nvSpPr>
            <p:cNvPr id="607257" name="Rectangle 25"/>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p:cNvGrpSpPr>
            <a:grpSpLocks noChangeAspect="1"/>
          </p:cNvGrpSpPr>
          <p:nvPr/>
        </p:nvGrpSpPr>
        <p:grpSpPr bwMode="auto">
          <a:xfrm>
            <a:off x="3668910" y="1273208"/>
            <a:ext cx="3388480" cy="1062617"/>
            <a:chOff x="2208" y="576"/>
            <a:chExt cx="2448" cy="768"/>
          </a:xfrm>
        </p:grpSpPr>
        <p:sp>
          <p:nvSpPr>
            <p:cNvPr id="607264" name="Rectangle 32"/>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p:cNvSpPr>
            <a:spLocks noChangeAspect="1"/>
          </p:cNvSpPr>
          <p:nvPr/>
        </p:nvSpPr>
        <p:spPr bwMode="auto">
          <a:xfrm>
            <a:off x="7469875" y="2209917"/>
            <a:ext cx="811975"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p:cNvGrpSpPr>
            <a:grpSpLocks noChangeAspect="1"/>
          </p:cNvGrpSpPr>
          <p:nvPr/>
        </p:nvGrpSpPr>
        <p:grpSpPr bwMode="auto">
          <a:xfrm rot="16200000">
            <a:off x="1742290" y="898031"/>
            <a:ext cx="796963" cy="1063052"/>
            <a:chOff x="1872" y="1584"/>
            <a:chExt cx="576" cy="864"/>
          </a:xfrm>
        </p:grpSpPr>
        <p:sp>
          <p:nvSpPr>
            <p:cNvPr id="607303" name="Rectangle 71"/>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a:t>
            </a:fld>
            <a:r>
              <a:rPr lang="en-GB"/>
              <a:t> </a:t>
            </a:r>
          </a:p>
        </p:txBody>
      </p:sp>
      <p:sp>
        <p:nvSpPr>
          <p:cNvPr id="35846" name="Rectangle 50"/>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p:cNvSpPr txBox="1"/>
          <p:nvPr/>
        </p:nvSpPr>
        <p:spPr>
          <a:xfrm>
            <a:off x="57123" y="2550629"/>
            <a:ext cx="3217547" cy="1495794"/>
          </a:xfrm>
          <a:prstGeom prst="rect">
            <a:avLst/>
          </a:prstGeom>
          <a:noFill/>
        </p:spPr>
        <p:txBody>
          <a:bodyPr wrap="none" rtlCol="0">
            <a:spAutoFit/>
          </a:bodyPr>
          <a:lstStyle/>
          <a:p>
            <a:r>
              <a:rPr lang="en-CA" sz="2000" i="1" dirty="0">
                <a:solidFill>
                  <a:schemeClr val="accent2"/>
                </a:solidFill>
              </a:rPr>
              <a:t>Cycle 6</a:t>
            </a:r>
            <a:r>
              <a:rPr lang="en-CA" sz="2000" i="1" dirty="0">
                <a:solidFill>
                  <a:schemeClr val="accent2"/>
                </a:solidFill>
                <a:highlight>
                  <a:srgbClr val="FFFF00"/>
                </a:highlight>
              </a:rPr>
              <a:t>b</a:t>
            </a:r>
            <a:r>
              <a:rPr lang="en-CA" sz="2000" i="1" dirty="0">
                <a:solidFill>
                  <a:schemeClr val="accent2"/>
                </a:solidFill>
              </a:rPr>
              <a:t>:</a:t>
            </a:r>
          </a:p>
          <a:p>
            <a:r>
              <a:rPr lang="en-CA" sz="2000" dirty="0">
                <a:solidFill>
                  <a:schemeClr val="accent2"/>
                </a:solidFill>
              </a:rPr>
              <a:t>DADD issues, allocates </a:t>
            </a:r>
          </a:p>
          <a:p>
            <a:r>
              <a:rPr lang="en-CA" sz="2000" dirty="0">
                <a:solidFill>
                  <a:schemeClr val="accent2"/>
                </a:solidFill>
              </a:rPr>
              <a:t>ROB and Reservation</a:t>
            </a:r>
          </a:p>
          <a:p>
            <a:r>
              <a:rPr lang="en-CA" sz="2000" dirty="0">
                <a:solidFill>
                  <a:schemeClr val="accent2"/>
                </a:solidFill>
              </a:rPr>
              <a:t>Station entries, copy R1</a:t>
            </a:r>
          </a:p>
          <a:p>
            <a:r>
              <a:rPr lang="en-CA" sz="2000" dirty="0">
                <a:solidFill>
                  <a:schemeClr val="accent2"/>
                </a:solidFill>
              </a:rPr>
              <a:t>value (14) into reservation </a:t>
            </a:r>
          </a:p>
          <a:p>
            <a:r>
              <a:rPr lang="en-CA" sz="2000" dirty="0">
                <a:solidFill>
                  <a:schemeClr val="accent2"/>
                </a:solidFill>
              </a:rPr>
              <a:t>station, …</a:t>
            </a:r>
          </a:p>
        </p:txBody>
      </p:sp>
      <p:cxnSp>
        <p:nvCxnSpPr>
          <p:cNvPr id="100" name="Straight Connector 99"/>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98" name="Rectangle 56"/>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R3,Loop)</a:t>
            </a:r>
          </a:p>
        </p:txBody>
      </p:sp>
      <p:sp>
        <p:nvSpPr>
          <p:cNvPr id="99" name="Rectangle 59"/>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6" name="Rectangle 56"/>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BEQZ  ROB1,Loop</a:t>
            </a:r>
          </a:p>
        </p:txBody>
      </p:sp>
      <p:sp>
        <p:nvSpPr>
          <p:cNvPr id="114" name="Rectangle 56"/>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607291" name="Rectangle 59"/>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101" name="Rectangle 56"/>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02" name="Rectangle 59"/>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3" name="Rectangle 50"/>
          <p:cNvSpPr>
            <a:spLocks noChangeAspect="1" noChangeArrowheads="1"/>
          </p:cNvSpPr>
          <p:nvPr/>
        </p:nvSpPr>
        <p:spPr bwMode="auto">
          <a:xfrm>
            <a:off x="3664555" y="2340265"/>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R4</a:t>
            </a:r>
          </a:p>
        </p:txBody>
      </p:sp>
      <p:cxnSp>
        <p:nvCxnSpPr>
          <p:cNvPr id="120" name="Straight Connector 119"/>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1" name="Rectangle 50"/>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22" name="Rectangle 50"/>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3" name="Rectangle 50"/>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ROB3</a:t>
            </a:r>
          </a:p>
        </p:txBody>
      </p:sp>
      <p:sp>
        <p:nvSpPr>
          <p:cNvPr id="113" name="Rectangle 56"/>
          <p:cNvSpPr>
            <a:spLocks noChangeAspect="1" noChangeArrowheads="1"/>
          </p:cNvSpPr>
          <p:nvPr/>
        </p:nvSpPr>
        <p:spPr bwMode="auto">
          <a:xfrm>
            <a:off x="248194" y="4421613"/>
            <a:ext cx="2150420" cy="307305"/>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4  DADD  ROB3 , 14 </a:t>
            </a:r>
          </a:p>
        </p:txBody>
      </p:sp>
      <p:sp>
        <p:nvSpPr>
          <p:cNvPr id="124" name="Rounded Rectangle 123"/>
          <p:cNvSpPr/>
          <p:nvPr/>
        </p:nvSpPr>
        <p:spPr bwMode="auto">
          <a:xfrm>
            <a:off x="190412" y="4389449"/>
            <a:ext cx="2396034" cy="287054"/>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25" name="Rectangle 56"/>
          <p:cNvSpPr>
            <a:spLocks noChangeAspect="1" noChangeArrowheads="1"/>
          </p:cNvSpPr>
          <p:nvPr/>
        </p:nvSpPr>
        <p:spPr bwMode="auto">
          <a:xfrm>
            <a:off x="4851123" y="2057238"/>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PC=0x10(DADD R4,R4,R1)</a:t>
            </a:r>
          </a:p>
        </p:txBody>
      </p:sp>
      <p:sp>
        <p:nvSpPr>
          <p:cNvPr id="127" name="Rectangle 50"/>
          <p:cNvSpPr>
            <a:spLocks noChangeAspect="1" noChangeArrowheads="1"/>
          </p:cNvSpPr>
          <p:nvPr/>
        </p:nvSpPr>
        <p:spPr bwMode="auto">
          <a:xfrm>
            <a:off x="3660200" y="20615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a:t>
            </a:r>
          </a:p>
        </p:txBody>
      </p:sp>
      <p:sp>
        <p:nvSpPr>
          <p:cNvPr id="129" name="Rectangle 59"/>
          <p:cNvSpPr>
            <a:spLocks noChangeAspect="1" noChangeArrowheads="1"/>
          </p:cNvSpPr>
          <p:nvPr/>
        </p:nvSpPr>
        <p:spPr bwMode="auto">
          <a:xfrm>
            <a:off x="6712123" y="2057237"/>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31" name="Rounded Rectangle 130"/>
          <p:cNvSpPr/>
          <p:nvPr/>
        </p:nvSpPr>
        <p:spPr bwMode="auto">
          <a:xfrm>
            <a:off x="3643367" y="2055545"/>
            <a:ext cx="3425589" cy="300251"/>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32" name="Rectangle 15"/>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cxnSp>
        <p:nvCxnSpPr>
          <p:cNvPr id="135" name="Straight Arrow Connector 134"/>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36" name="Straight Arrow Connector 135"/>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119" name="AutoShape 67"/>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95C74A55-B576-BF03-573F-083FFA3D51C4}"/>
              </a:ext>
            </a:extLst>
          </p:cNvPr>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
        <p:nvSpPr>
          <p:cNvPr id="7" name="Rectangle 56">
            <a:extLst>
              <a:ext uri="{FF2B5EF4-FFF2-40B4-BE49-F238E27FC236}">
                <a16:creationId xmlns:a16="http://schemas.microsoft.com/office/drawing/2014/main" id="{CD10A00C-BE8A-8FF6-387E-3BA47FC2F358}"/>
              </a:ext>
            </a:extLst>
          </p:cNvPr>
          <p:cNvSpPr>
            <a:spLocks noChangeAspect="1" noChangeArrowheads="1"/>
          </p:cNvSpPr>
          <p:nvPr/>
        </p:nvSpPr>
        <p:spPr bwMode="auto">
          <a:xfrm>
            <a:off x="2999682" y="4791077"/>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3   DMUL        6,  7</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92F45-7758-3513-E05D-AC6A395F7E87}"/>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74AFE3AD-0B15-094F-FD0D-9E3D56520C31}"/>
              </a:ext>
            </a:extLst>
          </p:cNvPr>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a:extLst>
              <a:ext uri="{FF2B5EF4-FFF2-40B4-BE49-F238E27FC236}">
                <a16:creationId xmlns:a16="http://schemas.microsoft.com/office/drawing/2014/main" id="{F8B3A0D2-093F-D555-5F69-6B0056D4A735}"/>
              </a:ext>
            </a:extLst>
          </p:cNvPr>
          <p:cNvGrpSpPr>
            <a:grpSpLocks noChangeAspect="1"/>
          </p:cNvGrpSpPr>
          <p:nvPr/>
        </p:nvGrpSpPr>
        <p:grpSpPr bwMode="auto">
          <a:xfrm>
            <a:off x="3015760" y="4593888"/>
            <a:ext cx="2656247" cy="354206"/>
            <a:chOff x="2064" y="2928"/>
            <a:chExt cx="1919" cy="256"/>
          </a:xfrm>
        </p:grpSpPr>
        <p:sp>
          <p:nvSpPr>
            <p:cNvPr id="607237" name="Rectangle 5">
              <a:extLst>
                <a:ext uri="{FF2B5EF4-FFF2-40B4-BE49-F238E27FC236}">
                  <a16:creationId xmlns:a16="http://schemas.microsoft.com/office/drawing/2014/main" id="{305B030A-E7B4-C976-642B-DD6654F2D2F2}"/>
                </a:ext>
              </a:extLst>
            </p:cNvPr>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a:extLst>
                <a:ext uri="{FF2B5EF4-FFF2-40B4-BE49-F238E27FC236}">
                  <a16:creationId xmlns:a16="http://schemas.microsoft.com/office/drawing/2014/main" id="{846CF601-ADB7-EBAC-641A-A0211175D82F}"/>
                </a:ext>
              </a:extLst>
            </p:cNvPr>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a:extLst>
                <a:ext uri="{FF2B5EF4-FFF2-40B4-BE49-F238E27FC236}">
                  <a16:creationId xmlns:a16="http://schemas.microsoft.com/office/drawing/2014/main" id="{FC8CA56A-9433-3260-1437-7145EF936632}"/>
                </a:ext>
              </a:extLst>
            </p:cNvPr>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a:extLst>
              <a:ext uri="{FF2B5EF4-FFF2-40B4-BE49-F238E27FC236}">
                <a16:creationId xmlns:a16="http://schemas.microsoft.com/office/drawing/2014/main" id="{9704CB5E-0296-FFAC-972F-E95556CB377E}"/>
              </a:ext>
            </a:extLst>
          </p:cNvPr>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a:extLst>
              <a:ext uri="{FF2B5EF4-FFF2-40B4-BE49-F238E27FC236}">
                <a16:creationId xmlns:a16="http://schemas.microsoft.com/office/drawing/2014/main" id="{464FDA58-46D9-B285-83DC-40AC8AB47588}"/>
              </a:ext>
            </a:extLst>
          </p:cNvPr>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a:extLst>
              <a:ext uri="{FF2B5EF4-FFF2-40B4-BE49-F238E27FC236}">
                <a16:creationId xmlns:a16="http://schemas.microsoft.com/office/drawing/2014/main" id="{345BB55B-9728-CC70-F5FC-1BC400B555C0}"/>
              </a:ext>
            </a:extLst>
          </p:cNvPr>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a:extLst>
              <a:ext uri="{FF2B5EF4-FFF2-40B4-BE49-F238E27FC236}">
                <a16:creationId xmlns:a16="http://schemas.microsoft.com/office/drawing/2014/main" id="{47FCD05F-7A17-0DB5-56AE-BB6B143544C4}"/>
              </a:ext>
            </a:extLst>
          </p:cNvPr>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a:extLst>
              <a:ext uri="{FF2B5EF4-FFF2-40B4-BE49-F238E27FC236}">
                <a16:creationId xmlns:a16="http://schemas.microsoft.com/office/drawing/2014/main" id="{E81338C7-7AC7-3AB9-735F-B11C9635477E}"/>
              </a:ext>
            </a:extLst>
          </p:cNvPr>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a:extLst>
              <a:ext uri="{FF2B5EF4-FFF2-40B4-BE49-F238E27FC236}">
                <a16:creationId xmlns:a16="http://schemas.microsoft.com/office/drawing/2014/main" id="{0F7344EA-3614-B191-E825-8085BDC0CB2A}"/>
              </a:ext>
            </a:extLst>
          </p:cNvPr>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a:extLst>
              <a:ext uri="{FF2B5EF4-FFF2-40B4-BE49-F238E27FC236}">
                <a16:creationId xmlns:a16="http://schemas.microsoft.com/office/drawing/2014/main" id="{74227222-853C-A49C-29B5-84BC7327BEA6}"/>
              </a:ext>
            </a:extLst>
          </p:cNvPr>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a:extLst>
              <a:ext uri="{FF2B5EF4-FFF2-40B4-BE49-F238E27FC236}">
                <a16:creationId xmlns:a16="http://schemas.microsoft.com/office/drawing/2014/main" id="{87FBFF14-6C95-2418-69EA-EBBC2F18BFD8}"/>
              </a:ext>
            </a:extLst>
          </p:cNvPr>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a:extLst>
              <a:ext uri="{FF2B5EF4-FFF2-40B4-BE49-F238E27FC236}">
                <a16:creationId xmlns:a16="http://schemas.microsoft.com/office/drawing/2014/main" id="{24C21F85-A5B6-BB91-CAD0-7DFBDE310064}"/>
              </a:ext>
            </a:extLst>
          </p:cNvPr>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a:extLst>
              <a:ext uri="{FF2B5EF4-FFF2-40B4-BE49-F238E27FC236}">
                <a16:creationId xmlns:a16="http://schemas.microsoft.com/office/drawing/2014/main" id="{1DC862DC-C0DF-ADCD-0244-45D7AAAFC7ED}"/>
              </a:ext>
            </a:extLst>
          </p:cNvPr>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a:extLst>
              <a:ext uri="{FF2B5EF4-FFF2-40B4-BE49-F238E27FC236}">
                <a16:creationId xmlns:a16="http://schemas.microsoft.com/office/drawing/2014/main" id="{95367F44-2F81-2EAF-1082-86A2BB9DAA3B}"/>
              </a:ext>
            </a:extLst>
          </p:cNvPr>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a:extLst>
              <a:ext uri="{FF2B5EF4-FFF2-40B4-BE49-F238E27FC236}">
                <a16:creationId xmlns:a16="http://schemas.microsoft.com/office/drawing/2014/main" id="{662D4B02-35A1-4188-C684-5A8EF41F7B21}"/>
              </a:ext>
            </a:extLst>
          </p:cNvPr>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a:extLst>
              <a:ext uri="{FF2B5EF4-FFF2-40B4-BE49-F238E27FC236}">
                <a16:creationId xmlns:a16="http://schemas.microsoft.com/office/drawing/2014/main" id="{DD11F3D0-4E86-E9FB-F07A-174252740EF0}"/>
              </a:ext>
            </a:extLst>
          </p:cNvPr>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a:extLst>
              <a:ext uri="{FF2B5EF4-FFF2-40B4-BE49-F238E27FC236}">
                <a16:creationId xmlns:a16="http://schemas.microsoft.com/office/drawing/2014/main" id="{DC347087-7FE2-CD5C-4267-4C2E3AC4D738}"/>
              </a:ext>
            </a:extLst>
          </p:cNvPr>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a:extLst>
              <a:ext uri="{FF2B5EF4-FFF2-40B4-BE49-F238E27FC236}">
                <a16:creationId xmlns:a16="http://schemas.microsoft.com/office/drawing/2014/main" id="{71D076AF-04E6-6E0A-86C8-CD7E5BD8E3E7}"/>
              </a:ext>
            </a:extLst>
          </p:cNvPr>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a:extLst>
              <a:ext uri="{FF2B5EF4-FFF2-40B4-BE49-F238E27FC236}">
                <a16:creationId xmlns:a16="http://schemas.microsoft.com/office/drawing/2014/main" id="{11C4E253-DD99-C1B3-9779-99A6CE196F25}"/>
              </a:ext>
            </a:extLst>
          </p:cNvPr>
          <p:cNvGrpSpPr>
            <a:grpSpLocks noChangeAspect="1"/>
          </p:cNvGrpSpPr>
          <p:nvPr/>
        </p:nvGrpSpPr>
        <p:grpSpPr bwMode="auto">
          <a:xfrm>
            <a:off x="3668910" y="3464857"/>
            <a:ext cx="1926783" cy="708412"/>
            <a:chOff x="3456" y="1200"/>
            <a:chExt cx="1392" cy="512"/>
          </a:xfrm>
        </p:grpSpPr>
        <p:sp>
          <p:nvSpPr>
            <p:cNvPr id="607257" name="Rectangle 25">
              <a:extLst>
                <a:ext uri="{FF2B5EF4-FFF2-40B4-BE49-F238E27FC236}">
                  <a16:creationId xmlns:a16="http://schemas.microsoft.com/office/drawing/2014/main" id="{B37F8989-E54C-6EBD-913B-3E0DF575A0C1}"/>
                </a:ext>
              </a:extLst>
            </p:cNvPr>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a:extLst>
                <a:ext uri="{FF2B5EF4-FFF2-40B4-BE49-F238E27FC236}">
                  <a16:creationId xmlns:a16="http://schemas.microsoft.com/office/drawing/2014/main" id="{8B9EFF8E-A8E4-1B94-8E6F-B615EEA86CC3}"/>
                </a:ext>
              </a:extLst>
            </p:cNvPr>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a:extLst>
                <a:ext uri="{FF2B5EF4-FFF2-40B4-BE49-F238E27FC236}">
                  <a16:creationId xmlns:a16="http://schemas.microsoft.com/office/drawing/2014/main" id="{62B2892E-B7E4-1735-8917-4D63077F7536}"/>
                </a:ext>
              </a:extLst>
            </p:cNvPr>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a:extLst>
                <a:ext uri="{FF2B5EF4-FFF2-40B4-BE49-F238E27FC236}">
                  <a16:creationId xmlns:a16="http://schemas.microsoft.com/office/drawing/2014/main" id="{D09B8F98-5EEA-B05F-CB51-14EC64E9CA75}"/>
                </a:ext>
              </a:extLst>
            </p:cNvPr>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a:extLst>
              <a:ext uri="{FF2B5EF4-FFF2-40B4-BE49-F238E27FC236}">
                <a16:creationId xmlns:a16="http://schemas.microsoft.com/office/drawing/2014/main" id="{24F6D06F-9769-6C9D-C22D-7CF03B823493}"/>
              </a:ext>
            </a:extLst>
          </p:cNvPr>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a:extLst>
              <a:ext uri="{FF2B5EF4-FFF2-40B4-BE49-F238E27FC236}">
                <a16:creationId xmlns:a16="http://schemas.microsoft.com/office/drawing/2014/main" id="{48EEF190-B56D-2905-1A87-667DF82888E7}"/>
              </a:ext>
            </a:extLst>
          </p:cNvPr>
          <p:cNvGrpSpPr>
            <a:grpSpLocks noChangeAspect="1"/>
          </p:cNvGrpSpPr>
          <p:nvPr/>
        </p:nvGrpSpPr>
        <p:grpSpPr bwMode="auto">
          <a:xfrm>
            <a:off x="3668910" y="1273208"/>
            <a:ext cx="3388480" cy="1062617"/>
            <a:chOff x="2208" y="576"/>
            <a:chExt cx="2448" cy="768"/>
          </a:xfrm>
        </p:grpSpPr>
        <p:sp>
          <p:nvSpPr>
            <p:cNvPr id="607264" name="Rectangle 32">
              <a:extLst>
                <a:ext uri="{FF2B5EF4-FFF2-40B4-BE49-F238E27FC236}">
                  <a16:creationId xmlns:a16="http://schemas.microsoft.com/office/drawing/2014/main" id="{168FF639-6AF6-FE38-8486-CB98231E2EDD}"/>
                </a:ext>
              </a:extLst>
            </p:cNvPr>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a:extLst>
                <a:ext uri="{FF2B5EF4-FFF2-40B4-BE49-F238E27FC236}">
                  <a16:creationId xmlns:a16="http://schemas.microsoft.com/office/drawing/2014/main" id="{A31A9F84-6B4A-724B-0BC9-1B68A45788E7}"/>
                </a:ext>
              </a:extLst>
            </p:cNvPr>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a:extLst>
                <a:ext uri="{FF2B5EF4-FFF2-40B4-BE49-F238E27FC236}">
                  <a16:creationId xmlns:a16="http://schemas.microsoft.com/office/drawing/2014/main" id="{3DAE27FA-B199-8AD6-E328-935E3B969BAF}"/>
                </a:ext>
              </a:extLst>
            </p:cNvPr>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a:extLst>
                <a:ext uri="{FF2B5EF4-FFF2-40B4-BE49-F238E27FC236}">
                  <a16:creationId xmlns:a16="http://schemas.microsoft.com/office/drawing/2014/main" id="{72E7F247-D2E3-2E0D-0ED4-5C18441701F9}"/>
                </a:ext>
              </a:extLst>
            </p:cNvPr>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a:extLst>
                <a:ext uri="{FF2B5EF4-FFF2-40B4-BE49-F238E27FC236}">
                  <a16:creationId xmlns:a16="http://schemas.microsoft.com/office/drawing/2014/main" id="{602CE6F8-B8D0-62F3-8BE4-FD16EC72463A}"/>
                </a:ext>
              </a:extLst>
            </p:cNvPr>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a:extLst>
                <a:ext uri="{FF2B5EF4-FFF2-40B4-BE49-F238E27FC236}">
                  <a16:creationId xmlns:a16="http://schemas.microsoft.com/office/drawing/2014/main" id="{9C9388B8-D2E2-1203-8C6B-0F4CA3842A3A}"/>
                </a:ext>
              </a:extLst>
            </p:cNvPr>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a:extLst>
                <a:ext uri="{FF2B5EF4-FFF2-40B4-BE49-F238E27FC236}">
                  <a16:creationId xmlns:a16="http://schemas.microsoft.com/office/drawing/2014/main" id="{D7DDD329-3566-5EDD-59B5-65F187651BDE}"/>
                </a:ext>
              </a:extLst>
            </p:cNvPr>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a:extLst>
                <a:ext uri="{FF2B5EF4-FFF2-40B4-BE49-F238E27FC236}">
                  <a16:creationId xmlns:a16="http://schemas.microsoft.com/office/drawing/2014/main" id="{87D50298-E935-E94A-F39C-AF2741310A7B}"/>
                </a:ext>
              </a:extLst>
            </p:cNvPr>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a:extLst>
                <a:ext uri="{FF2B5EF4-FFF2-40B4-BE49-F238E27FC236}">
                  <a16:creationId xmlns:a16="http://schemas.microsoft.com/office/drawing/2014/main" id="{8280C358-A1A8-CFA6-BC91-B7DE3BAA66E9}"/>
                </a:ext>
              </a:extLst>
            </p:cNvPr>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a:extLst>
                <a:ext uri="{FF2B5EF4-FFF2-40B4-BE49-F238E27FC236}">
                  <a16:creationId xmlns:a16="http://schemas.microsoft.com/office/drawing/2014/main" id="{91F68818-62F5-22A3-F498-363CDF21CB4E}"/>
                </a:ext>
              </a:extLst>
            </p:cNvPr>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a:extLst>
                <a:ext uri="{FF2B5EF4-FFF2-40B4-BE49-F238E27FC236}">
                  <a16:creationId xmlns:a16="http://schemas.microsoft.com/office/drawing/2014/main" id="{442A9873-31CA-3223-49CF-69325C47C37F}"/>
                </a:ext>
              </a:extLst>
            </p:cNvPr>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a:extLst>
                <a:ext uri="{FF2B5EF4-FFF2-40B4-BE49-F238E27FC236}">
                  <a16:creationId xmlns:a16="http://schemas.microsoft.com/office/drawing/2014/main" id="{200ADDBC-D02D-5157-D063-1DA612E83FAB}"/>
                </a:ext>
              </a:extLst>
            </p:cNvPr>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a:extLst>
                <a:ext uri="{FF2B5EF4-FFF2-40B4-BE49-F238E27FC236}">
                  <a16:creationId xmlns:a16="http://schemas.microsoft.com/office/drawing/2014/main" id="{3DA1C135-BEBC-73CE-767C-3D031A82FF9F}"/>
                </a:ext>
              </a:extLst>
            </p:cNvPr>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a:extLst>
                <a:ext uri="{FF2B5EF4-FFF2-40B4-BE49-F238E27FC236}">
                  <a16:creationId xmlns:a16="http://schemas.microsoft.com/office/drawing/2014/main" id="{4BB2F248-A7CB-71A6-ACAF-C86CDA9F20A4}"/>
                </a:ext>
              </a:extLst>
            </p:cNvPr>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a:extLst>
                <a:ext uri="{FF2B5EF4-FFF2-40B4-BE49-F238E27FC236}">
                  <a16:creationId xmlns:a16="http://schemas.microsoft.com/office/drawing/2014/main" id="{B2D23419-39CD-ED63-0113-4A2F78922BEC}"/>
                </a:ext>
              </a:extLst>
            </p:cNvPr>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a:extLst>
                <a:ext uri="{FF2B5EF4-FFF2-40B4-BE49-F238E27FC236}">
                  <a16:creationId xmlns:a16="http://schemas.microsoft.com/office/drawing/2014/main" id="{D3CF675A-58D5-7062-CD33-145598FB6D6A}"/>
                </a:ext>
              </a:extLst>
            </p:cNvPr>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a:extLst>
              <a:ext uri="{FF2B5EF4-FFF2-40B4-BE49-F238E27FC236}">
                <a16:creationId xmlns:a16="http://schemas.microsoft.com/office/drawing/2014/main" id="{619D1BD9-B21D-0AAF-BFF7-C8B8B6D5F7A8}"/>
              </a:ext>
            </a:extLst>
          </p:cNvPr>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a:extLst>
              <a:ext uri="{FF2B5EF4-FFF2-40B4-BE49-F238E27FC236}">
                <a16:creationId xmlns:a16="http://schemas.microsoft.com/office/drawing/2014/main" id="{E470D2A1-6993-E8E6-46B6-022D3E9D590C}"/>
              </a:ext>
            </a:extLst>
          </p:cNvPr>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a:extLst>
              <a:ext uri="{FF2B5EF4-FFF2-40B4-BE49-F238E27FC236}">
                <a16:creationId xmlns:a16="http://schemas.microsoft.com/office/drawing/2014/main" id="{58DB2BC6-18E5-4D58-37DB-F3662DCDE645}"/>
              </a:ext>
            </a:extLst>
          </p:cNvPr>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a:extLst>
              <a:ext uri="{FF2B5EF4-FFF2-40B4-BE49-F238E27FC236}">
                <a16:creationId xmlns:a16="http://schemas.microsoft.com/office/drawing/2014/main" id="{B9352338-ECC5-9A70-1403-22AA2C946DAE}"/>
              </a:ext>
            </a:extLst>
          </p:cNvPr>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a:extLst>
              <a:ext uri="{FF2B5EF4-FFF2-40B4-BE49-F238E27FC236}">
                <a16:creationId xmlns:a16="http://schemas.microsoft.com/office/drawing/2014/main" id="{EA4F3692-DD8A-845C-E34A-71AF849C5AB3}"/>
              </a:ext>
            </a:extLst>
          </p:cNvPr>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a:extLst>
              <a:ext uri="{FF2B5EF4-FFF2-40B4-BE49-F238E27FC236}">
                <a16:creationId xmlns:a16="http://schemas.microsoft.com/office/drawing/2014/main" id="{420360E2-1768-0123-CF0A-C246355DD6FD}"/>
              </a:ext>
            </a:extLst>
          </p:cNvPr>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a:extLst>
              <a:ext uri="{FF2B5EF4-FFF2-40B4-BE49-F238E27FC236}">
                <a16:creationId xmlns:a16="http://schemas.microsoft.com/office/drawing/2014/main" id="{A1856603-96C2-5714-9D32-C66458F4B2F5}"/>
              </a:ext>
            </a:extLst>
          </p:cNvPr>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a:extLst>
              <a:ext uri="{FF2B5EF4-FFF2-40B4-BE49-F238E27FC236}">
                <a16:creationId xmlns:a16="http://schemas.microsoft.com/office/drawing/2014/main" id="{9B22A069-1464-9E6B-D711-055023E504F5}"/>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a:extLst>
              <a:ext uri="{FF2B5EF4-FFF2-40B4-BE49-F238E27FC236}">
                <a16:creationId xmlns:a16="http://schemas.microsoft.com/office/drawing/2014/main" id="{1D55E4AE-F160-DBDB-656A-D430DDBBFD7E}"/>
              </a:ext>
            </a:extLst>
          </p:cNvPr>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a:extLst>
              <a:ext uri="{FF2B5EF4-FFF2-40B4-BE49-F238E27FC236}">
                <a16:creationId xmlns:a16="http://schemas.microsoft.com/office/drawing/2014/main" id="{CF489B5A-04D9-FF3C-4AD9-CDF15667F8E8}"/>
              </a:ext>
            </a:extLst>
          </p:cNvPr>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a:extLst>
              <a:ext uri="{FF2B5EF4-FFF2-40B4-BE49-F238E27FC236}">
                <a16:creationId xmlns:a16="http://schemas.microsoft.com/office/drawing/2014/main" id="{46560812-9AC8-4880-C72B-F7215EDBF293}"/>
              </a:ext>
            </a:extLst>
          </p:cNvPr>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a:extLst>
              <a:ext uri="{FF2B5EF4-FFF2-40B4-BE49-F238E27FC236}">
                <a16:creationId xmlns:a16="http://schemas.microsoft.com/office/drawing/2014/main" id="{4186FAC6-72BD-D30A-7D98-4A2A57FC4D48}"/>
              </a:ext>
            </a:extLst>
          </p:cNvPr>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a:extLst>
              <a:ext uri="{FF2B5EF4-FFF2-40B4-BE49-F238E27FC236}">
                <a16:creationId xmlns:a16="http://schemas.microsoft.com/office/drawing/2014/main" id="{407EEFA0-75B1-EDD6-1620-71B315876F5B}"/>
              </a:ext>
            </a:extLst>
          </p:cNvPr>
          <p:cNvSpPr>
            <a:spLocks noChangeAspect="1"/>
          </p:cNvSpPr>
          <p:nvPr/>
        </p:nvSpPr>
        <p:spPr bwMode="auto">
          <a:xfrm>
            <a:off x="7469875" y="2209917"/>
            <a:ext cx="811975"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a:extLst>
              <a:ext uri="{FF2B5EF4-FFF2-40B4-BE49-F238E27FC236}">
                <a16:creationId xmlns:a16="http://schemas.microsoft.com/office/drawing/2014/main" id="{AB61D0BC-5C2C-5104-40B2-0491A84EC78C}"/>
              </a:ext>
            </a:extLst>
          </p:cNvPr>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a:extLst>
              <a:ext uri="{FF2B5EF4-FFF2-40B4-BE49-F238E27FC236}">
                <a16:creationId xmlns:a16="http://schemas.microsoft.com/office/drawing/2014/main" id="{767173A0-7286-5697-D0A1-FF4F4B47A69D}"/>
              </a:ext>
            </a:extLst>
          </p:cNvPr>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a:extLst>
              <a:ext uri="{FF2B5EF4-FFF2-40B4-BE49-F238E27FC236}">
                <a16:creationId xmlns:a16="http://schemas.microsoft.com/office/drawing/2014/main" id="{14D6D90F-127D-4D37-FC21-A85D1DA5BFB7}"/>
              </a:ext>
            </a:extLst>
          </p:cNvPr>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a:extLst>
              <a:ext uri="{FF2B5EF4-FFF2-40B4-BE49-F238E27FC236}">
                <a16:creationId xmlns:a16="http://schemas.microsoft.com/office/drawing/2014/main" id="{E80190F5-D652-4D9A-86E4-652D17066BB5}"/>
              </a:ext>
            </a:extLst>
          </p:cNvPr>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a:extLst>
              <a:ext uri="{FF2B5EF4-FFF2-40B4-BE49-F238E27FC236}">
                <a16:creationId xmlns:a16="http://schemas.microsoft.com/office/drawing/2014/main" id="{AF6E7E1D-FDCE-C8DB-8BAD-697375A7112F}"/>
              </a:ext>
            </a:extLst>
          </p:cNvPr>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a:extLst>
              <a:ext uri="{FF2B5EF4-FFF2-40B4-BE49-F238E27FC236}">
                <a16:creationId xmlns:a16="http://schemas.microsoft.com/office/drawing/2014/main" id="{94791B9A-CF72-7BEF-48F7-C5FCB7E50535}"/>
              </a:ext>
            </a:extLst>
          </p:cNvPr>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a:extLst>
              <a:ext uri="{FF2B5EF4-FFF2-40B4-BE49-F238E27FC236}">
                <a16:creationId xmlns:a16="http://schemas.microsoft.com/office/drawing/2014/main" id="{110AC471-BA60-8919-A545-FDA9AC986ABC}"/>
              </a:ext>
            </a:extLst>
          </p:cNvPr>
          <p:cNvGrpSpPr>
            <a:grpSpLocks noChangeAspect="1"/>
          </p:cNvGrpSpPr>
          <p:nvPr/>
        </p:nvGrpSpPr>
        <p:grpSpPr bwMode="auto">
          <a:xfrm rot="16200000">
            <a:off x="1742290" y="898031"/>
            <a:ext cx="796963" cy="1063052"/>
            <a:chOff x="1872" y="1584"/>
            <a:chExt cx="576" cy="864"/>
          </a:xfrm>
        </p:grpSpPr>
        <p:sp>
          <p:nvSpPr>
            <p:cNvPr id="607303" name="Rectangle 71">
              <a:extLst>
                <a:ext uri="{FF2B5EF4-FFF2-40B4-BE49-F238E27FC236}">
                  <a16:creationId xmlns:a16="http://schemas.microsoft.com/office/drawing/2014/main" id="{573AB6C7-0F72-E48F-8991-0B156BF6BCD7}"/>
                </a:ext>
              </a:extLst>
            </p:cNvPr>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a:extLst>
                <a:ext uri="{FF2B5EF4-FFF2-40B4-BE49-F238E27FC236}">
                  <a16:creationId xmlns:a16="http://schemas.microsoft.com/office/drawing/2014/main" id="{BA04EF5B-CCD1-F18A-7EBB-F2F1E99930EB}"/>
                </a:ext>
              </a:extLst>
            </p:cNvPr>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a:extLst>
                <a:ext uri="{FF2B5EF4-FFF2-40B4-BE49-F238E27FC236}">
                  <a16:creationId xmlns:a16="http://schemas.microsoft.com/office/drawing/2014/main" id="{67A40B3E-D676-1B95-367A-3CB67D538CD8}"/>
                </a:ext>
              </a:extLst>
            </p:cNvPr>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a:extLst>
                <a:ext uri="{FF2B5EF4-FFF2-40B4-BE49-F238E27FC236}">
                  <a16:creationId xmlns:a16="http://schemas.microsoft.com/office/drawing/2014/main" id="{6D77BD15-039B-BDA7-E023-8C660DFFB9D3}"/>
                </a:ext>
              </a:extLst>
            </p:cNvPr>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a:extLst>
                <a:ext uri="{FF2B5EF4-FFF2-40B4-BE49-F238E27FC236}">
                  <a16:creationId xmlns:a16="http://schemas.microsoft.com/office/drawing/2014/main" id="{6370F115-98A0-3545-6CC4-02415AF8FB59}"/>
                </a:ext>
              </a:extLst>
            </p:cNvPr>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a:extLst>
                <a:ext uri="{FF2B5EF4-FFF2-40B4-BE49-F238E27FC236}">
                  <a16:creationId xmlns:a16="http://schemas.microsoft.com/office/drawing/2014/main" id="{D332F98A-B361-8DF0-548D-90273377DE94}"/>
                </a:ext>
              </a:extLst>
            </p:cNvPr>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a:extLst>
              <a:ext uri="{FF2B5EF4-FFF2-40B4-BE49-F238E27FC236}">
                <a16:creationId xmlns:a16="http://schemas.microsoft.com/office/drawing/2014/main" id="{09A82198-F112-6A11-4029-072F32D440E3}"/>
              </a:ext>
            </a:extLst>
          </p:cNvPr>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a:extLst>
              <a:ext uri="{FF2B5EF4-FFF2-40B4-BE49-F238E27FC236}">
                <a16:creationId xmlns:a16="http://schemas.microsoft.com/office/drawing/2014/main" id="{3E7F4B5C-CACE-0D25-5FF6-6AAD07E8AF9F}"/>
              </a:ext>
            </a:extLst>
          </p:cNvPr>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a:extLst>
              <a:ext uri="{FF2B5EF4-FFF2-40B4-BE49-F238E27FC236}">
                <a16:creationId xmlns:a16="http://schemas.microsoft.com/office/drawing/2014/main" id="{C1845DA5-47ED-125C-879B-535C35C3D7DC}"/>
              </a:ext>
            </a:extLst>
          </p:cNvPr>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a:t>
            </a:fld>
            <a:r>
              <a:rPr lang="en-GB"/>
              <a:t> </a:t>
            </a:r>
          </a:p>
        </p:txBody>
      </p:sp>
      <p:sp>
        <p:nvSpPr>
          <p:cNvPr id="35846" name="Rectangle 50">
            <a:extLst>
              <a:ext uri="{FF2B5EF4-FFF2-40B4-BE49-F238E27FC236}">
                <a16:creationId xmlns:a16="http://schemas.microsoft.com/office/drawing/2014/main" id="{602DDF23-0CB3-3865-57D2-A4FB72D312D1}"/>
              </a:ext>
            </a:extLst>
          </p:cNvPr>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a:extLst>
              <a:ext uri="{FF2B5EF4-FFF2-40B4-BE49-F238E27FC236}">
                <a16:creationId xmlns:a16="http://schemas.microsoft.com/office/drawing/2014/main" id="{CDE7BAE7-6F64-C08D-CBDD-9008FADCAD63}"/>
              </a:ext>
            </a:extLst>
          </p:cNvPr>
          <p:cNvSpPr txBox="1"/>
          <p:nvPr/>
        </p:nvSpPr>
        <p:spPr>
          <a:xfrm>
            <a:off x="101844" y="2505469"/>
            <a:ext cx="2823593" cy="1261884"/>
          </a:xfrm>
          <a:prstGeom prst="rect">
            <a:avLst/>
          </a:prstGeom>
          <a:noFill/>
        </p:spPr>
        <p:txBody>
          <a:bodyPr wrap="none" rtlCol="0">
            <a:spAutoFit/>
          </a:bodyPr>
          <a:lstStyle/>
          <a:p>
            <a:r>
              <a:rPr lang="en-CA" sz="2000" i="1" dirty="0">
                <a:solidFill>
                  <a:schemeClr val="accent2"/>
                </a:solidFill>
              </a:rPr>
              <a:t>Cycle 6</a:t>
            </a:r>
            <a:r>
              <a:rPr lang="en-CA" sz="2000" i="1" dirty="0">
                <a:solidFill>
                  <a:schemeClr val="accent2"/>
                </a:solidFill>
                <a:highlight>
                  <a:srgbClr val="FFFF00"/>
                </a:highlight>
              </a:rPr>
              <a:t>b</a:t>
            </a:r>
            <a:r>
              <a:rPr lang="en-CA" sz="2000" i="1" dirty="0">
                <a:solidFill>
                  <a:schemeClr val="accent2"/>
                </a:solidFill>
              </a:rPr>
              <a:t>:</a:t>
            </a:r>
          </a:p>
          <a:p>
            <a:r>
              <a:rPr lang="en-CA" sz="2000" dirty="0">
                <a:solidFill>
                  <a:schemeClr val="accent2"/>
                </a:solidFill>
              </a:rPr>
              <a:t>… and updates </a:t>
            </a:r>
          </a:p>
          <a:p>
            <a:r>
              <a:rPr lang="en-CA" sz="2000" dirty="0">
                <a:solidFill>
                  <a:schemeClr val="accent2"/>
                </a:solidFill>
              </a:rPr>
              <a:t>RAT entry for R4 since </a:t>
            </a:r>
          </a:p>
          <a:p>
            <a:r>
              <a:rPr lang="en-CA" sz="2000" dirty="0">
                <a:solidFill>
                  <a:schemeClr val="accent2"/>
                </a:solidFill>
              </a:rPr>
              <a:t>DADD will write to R4</a:t>
            </a:r>
          </a:p>
          <a:p>
            <a:endParaRPr lang="en-CA" sz="2000" dirty="0">
              <a:solidFill>
                <a:schemeClr val="accent2"/>
              </a:solidFill>
            </a:endParaRPr>
          </a:p>
        </p:txBody>
      </p:sp>
      <p:cxnSp>
        <p:nvCxnSpPr>
          <p:cNvPr id="100" name="Straight Connector 99">
            <a:extLst>
              <a:ext uri="{FF2B5EF4-FFF2-40B4-BE49-F238E27FC236}">
                <a16:creationId xmlns:a16="http://schemas.microsoft.com/office/drawing/2014/main" id="{55401D5C-BD53-8ABE-C70A-56A4895398E2}"/>
              </a:ext>
            </a:extLst>
          </p:cNvPr>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a:extLst>
              <a:ext uri="{FF2B5EF4-FFF2-40B4-BE49-F238E27FC236}">
                <a16:creationId xmlns:a16="http://schemas.microsoft.com/office/drawing/2014/main" id="{6B59F0BA-FC63-D2B7-506C-FE5DEEC6FC56}"/>
              </a:ext>
            </a:extLst>
          </p:cNvPr>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a:extLst>
              <a:ext uri="{FF2B5EF4-FFF2-40B4-BE49-F238E27FC236}">
                <a16:creationId xmlns:a16="http://schemas.microsoft.com/office/drawing/2014/main" id="{E0F02C11-FB53-A24F-9AD6-78C7EF8A9A48}"/>
              </a:ext>
            </a:extLst>
          </p:cNvPr>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a:extLst>
              <a:ext uri="{FF2B5EF4-FFF2-40B4-BE49-F238E27FC236}">
                <a16:creationId xmlns:a16="http://schemas.microsoft.com/office/drawing/2014/main" id="{C6EE39F8-4638-7433-A750-10A23311B450}"/>
              </a:ext>
            </a:extLst>
          </p:cNvPr>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a:extLst>
              <a:ext uri="{FF2B5EF4-FFF2-40B4-BE49-F238E27FC236}">
                <a16:creationId xmlns:a16="http://schemas.microsoft.com/office/drawing/2014/main" id="{9ECC7232-35F9-087C-3EF0-8F330AC93C7E}"/>
              </a:ext>
            </a:extLst>
          </p:cNvPr>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a:extLst>
              <a:ext uri="{FF2B5EF4-FFF2-40B4-BE49-F238E27FC236}">
                <a16:creationId xmlns:a16="http://schemas.microsoft.com/office/drawing/2014/main" id="{183DDA83-8B27-5A66-C293-C12BF6A6E2C2}"/>
              </a:ext>
            </a:extLst>
          </p:cNvPr>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a:extLst>
              <a:ext uri="{FF2B5EF4-FFF2-40B4-BE49-F238E27FC236}">
                <a16:creationId xmlns:a16="http://schemas.microsoft.com/office/drawing/2014/main" id="{9232DFA2-5584-C9BE-8ACE-CF45308FEBE0}"/>
              </a:ext>
            </a:extLst>
          </p:cNvPr>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a:extLst>
              <a:ext uri="{FF2B5EF4-FFF2-40B4-BE49-F238E27FC236}">
                <a16:creationId xmlns:a16="http://schemas.microsoft.com/office/drawing/2014/main" id="{3089E6D6-DF29-87AF-FF10-9C3DDDD4A76E}"/>
              </a:ext>
            </a:extLst>
          </p:cNvPr>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a:extLst>
              <a:ext uri="{FF2B5EF4-FFF2-40B4-BE49-F238E27FC236}">
                <a16:creationId xmlns:a16="http://schemas.microsoft.com/office/drawing/2014/main" id="{08F889CD-4657-1515-3B60-8578D1CD496B}"/>
              </a:ext>
            </a:extLst>
          </p:cNvPr>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a:extLst>
              <a:ext uri="{FF2B5EF4-FFF2-40B4-BE49-F238E27FC236}">
                <a16:creationId xmlns:a16="http://schemas.microsoft.com/office/drawing/2014/main" id="{2E159EBE-6355-24F2-3291-C3767C50D247}"/>
              </a:ext>
            </a:extLst>
          </p:cNvPr>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98" name="Rectangle 56">
            <a:extLst>
              <a:ext uri="{FF2B5EF4-FFF2-40B4-BE49-F238E27FC236}">
                <a16:creationId xmlns:a16="http://schemas.microsoft.com/office/drawing/2014/main" id="{93B34560-56D5-F21A-B3FE-9DC89AC244E3}"/>
              </a:ext>
            </a:extLst>
          </p:cNvPr>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R3,Loop)</a:t>
            </a:r>
          </a:p>
        </p:txBody>
      </p:sp>
      <p:sp>
        <p:nvSpPr>
          <p:cNvPr id="99" name="Rectangle 59">
            <a:extLst>
              <a:ext uri="{FF2B5EF4-FFF2-40B4-BE49-F238E27FC236}">
                <a16:creationId xmlns:a16="http://schemas.microsoft.com/office/drawing/2014/main" id="{3D774E8E-F644-244D-6315-5DFD05161D1F}"/>
              </a:ext>
            </a:extLst>
          </p:cNvPr>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a:extLst>
              <a:ext uri="{FF2B5EF4-FFF2-40B4-BE49-F238E27FC236}">
                <a16:creationId xmlns:a16="http://schemas.microsoft.com/office/drawing/2014/main" id="{429BF099-0295-184F-E4A9-86CDC64E105F}"/>
              </a:ext>
            </a:extLst>
          </p:cNvPr>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6" name="Rectangle 56">
            <a:extLst>
              <a:ext uri="{FF2B5EF4-FFF2-40B4-BE49-F238E27FC236}">
                <a16:creationId xmlns:a16="http://schemas.microsoft.com/office/drawing/2014/main" id="{1512A227-2AD2-B07D-D86D-7F53B9618FC9}"/>
              </a:ext>
            </a:extLst>
          </p:cNvPr>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BEQZ  ROB1,Loop</a:t>
            </a:r>
          </a:p>
        </p:txBody>
      </p:sp>
      <p:sp>
        <p:nvSpPr>
          <p:cNvPr id="114" name="Rectangle 56">
            <a:extLst>
              <a:ext uri="{FF2B5EF4-FFF2-40B4-BE49-F238E27FC236}">
                <a16:creationId xmlns:a16="http://schemas.microsoft.com/office/drawing/2014/main" id="{577B5C2E-F15C-4363-9308-4C3B573EF1CF}"/>
              </a:ext>
            </a:extLst>
          </p:cNvPr>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607291" name="Rectangle 59">
            <a:extLst>
              <a:ext uri="{FF2B5EF4-FFF2-40B4-BE49-F238E27FC236}">
                <a16:creationId xmlns:a16="http://schemas.microsoft.com/office/drawing/2014/main" id="{5D3A5052-402D-0608-9C73-607858A55F56}"/>
              </a:ext>
            </a:extLst>
          </p:cNvPr>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101" name="Rectangle 56">
            <a:extLst>
              <a:ext uri="{FF2B5EF4-FFF2-40B4-BE49-F238E27FC236}">
                <a16:creationId xmlns:a16="http://schemas.microsoft.com/office/drawing/2014/main" id="{A4DC1A73-306B-D269-1A5D-EF2F67E2DACC}"/>
              </a:ext>
            </a:extLst>
          </p:cNvPr>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02" name="Rectangle 59">
            <a:extLst>
              <a:ext uri="{FF2B5EF4-FFF2-40B4-BE49-F238E27FC236}">
                <a16:creationId xmlns:a16="http://schemas.microsoft.com/office/drawing/2014/main" id="{3941ABB7-AE8C-4454-529E-52792C9A556C}"/>
              </a:ext>
            </a:extLst>
          </p:cNvPr>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3" name="Rectangle 50">
            <a:extLst>
              <a:ext uri="{FF2B5EF4-FFF2-40B4-BE49-F238E27FC236}">
                <a16:creationId xmlns:a16="http://schemas.microsoft.com/office/drawing/2014/main" id="{778EF8F1-229D-3EB3-7CC2-3D50EBB3CCA7}"/>
              </a:ext>
            </a:extLst>
          </p:cNvPr>
          <p:cNvSpPr>
            <a:spLocks noChangeAspect="1" noChangeArrowheads="1"/>
          </p:cNvSpPr>
          <p:nvPr/>
        </p:nvSpPr>
        <p:spPr bwMode="auto">
          <a:xfrm>
            <a:off x="3664555" y="2340265"/>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R4</a:t>
            </a:r>
          </a:p>
        </p:txBody>
      </p:sp>
      <p:cxnSp>
        <p:nvCxnSpPr>
          <p:cNvPr id="120" name="Straight Connector 119">
            <a:extLst>
              <a:ext uri="{FF2B5EF4-FFF2-40B4-BE49-F238E27FC236}">
                <a16:creationId xmlns:a16="http://schemas.microsoft.com/office/drawing/2014/main" id="{D8A15EA6-869D-13B4-654F-65A84F7BCD65}"/>
              </a:ext>
            </a:extLst>
          </p:cNvPr>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1" name="Rectangle 50">
            <a:extLst>
              <a:ext uri="{FF2B5EF4-FFF2-40B4-BE49-F238E27FC236}">
                <a16:creationId xmlns:a16="http://schemas.microsoft.com/office/drawing/2014/main" id="{155E9785-0E4B-6714-9251-AF841981757B}"/>
              </a:ext>
            </a:extLst>
          </p:cNvPr>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22" name="Rectangle 50">
            <a:extLst>
              <a:ext uri="{FF2B5EF4-FFF2-40B4-BE49-F238E27FC236}">
                <a16:creationId xmlns:a16="http://schemas.microsoft.com/office/drawing/2014/main" id="{980FD862-D36B-FBD9-E65F-E9AFFE604323}"/>
              </a:ext>
            </a:extLst>
          </p:cNvPr>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3" name="Rectangle 50">
            <a:extLst>
              <a:ext uri="{FF2B5EF4-FFF2-40B4-BE49-F238E27FC236}">
                <a16:creationId xmlns:a16="http://schemas.microsoft.com/office/drawing/2014/main" id="{4DC05894-63F5-2FF4-132C-F4AAA1548C91}"/>
              </a:ext>
            </a:extLst>
          </p:cNvPr>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ROB4</a:t>
            </a:r>
          </a:p>
        </p:txBody>
      </p:sp>
      <p:sp>
        <p:nvSpPr>
          <p:cNvPr id="113" name="Rectangle 56">
            <a:extLst>
              <a:ext uri="{FF2B5EF4-FFF2-40B4-BE49-F238E27FC236}">
                <a16:creationId xmlns:a16="http://schemas.microsoft.com/office/drawing/2014/main" id="{2B6786DE-57B9-E5D3-1A10-50EE5873C74B}"/>
              </a:ext>
            </a:extLst>
          </p:cNvPr>
          <p:cNvSpPr>
            <a:spLocks noChangeAspect="1" noChangeArrowheads="1"/>
          </p:cNvSpPr>
          <p:nvPr/>
        </p:nvSpPr>
        <p:spPr bwMode="auto">
          <a:xfrm>
            <a:off x="248194" y="4421613"/>
            <a:ext cx="2150420" cy="307305"/>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4  DADD  ROB3 , 14 </a:t>
            </a:r>
          </a:p>
        </p:txBody>
      </p:sp>
      <p:sp>
        <p:nvSpPr>
          <p:cNvPr id="124" name="Rounded Rectangle 123">
            <a:extLst>
              <a:ext uri="{FF2B5EF4-FFF2-40B4-BE49-F238E27FC236}">
                <a16:creationId xmlns:a16="http://schemas.microsoft.com/office/drawing/2014/main" id="{810CD5E3-9167-D770-38C3-61DC8FC09C3F}"/>
              </a:ext>
            </a:extLst>
          </p:cNvPr>
          <p:cNvSpPr/>
          <p:nvPr/>
        </p:nvSpPr>
        <p:spPr bwMode="auto">
          <a:xfrm>
            <a:off x="190412" y="4389449"/>
            <a:ext cx="2396034" cy="287054"/>
          </a:xfrm>
          <a:prstGeom prst="roundRect">
            <a:avLst/>
          </a:prstGeom>
          <a:noFill/>
          <a:ln w="63500" cap="flat" cmpd="sng" algn="ctr">
            <a:solidFill>
              <a:schemeClr val="tx1">
                <a:lumMod val="50000"/>
                <a:lumOff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25" name="Rectangle 56">
            <a:extLst>
              <a:ext uri="{FF2B5EF4-FFF2-40B4-BE49-F238E27FC236}">
                <a16:creationId xmlns:a16="http://schemas.microsoft.com/office/drawing/2014/main" id="{E8002D7A-7843-1C81-0AA0-9ACF3F48D61F}"/>
              </a:ext>
            </a:extLst>
          </p:cNvPr>
          <p:cNvSpPr>
            <a:spLocks noChangeAspect="1" noChangeArrowheads="1"/>
          </p:cNvSpPr>
          <p:nvPr/>
        </p:nvSpPr>
        <p:spPr bwMode="auto">
          <a:xfrm>
            <a:off x="4851123" y="2057238"/>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PC=0x10(DADD R4,R4,R1)</a:t>
            </a:r>
          </a:p>
        </p:txBody>
      </p:sp>
      <p:sp>
        <p:nvSpPr>
          <p:cNvPr id="127" name="Rectangle 50">
            <a:extLst>
              <a:ext uri="{FF2B5EF4-FFF2-40B4-BE49-F238E27FC236}">
                <a16:creationId xmlns:a16="http://schemas.microsoft.com/office/drawing/2014/main" id="{5692CAC0-A6A2-109B-0027-F4841C57670A}"/>
              </a:ext>
            </a:extLst>
          </p:cNvPr>
          <p:cNvSpPr>
            <a:spLocks noChangeAspect="1" noChangeArrowheads="1"/>
          </p:cNvSpPr>
          <p:nvPr/>
        </p:nvSpPr>
        <p:spPr bwMode="auto">
          <a:xfrm>
            <a:off x="3660200" y="20615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a:t>
            </a:r>
          </a:p>
        </p:txBody>
      </p:sp>
      <p:sp>
        <p:nvSpPr>
          <p:cNvPr id="129" name="Rectangle 59">
            <a:extLst>
              <a:ext uri="{FF2B5EF4-FFF2-40B4-BE49-F238E27FC236}">
                <a16:creationId xmlns:a16="http://schemas.microsoft.com/office/drawing/2014/main" id="{5E04AD7A-AB04-7621-7149-E2D532E0FD22}"/>
              </a:ext>
            </a:extLst>
          </p:cNvPr>
          <p:cNvSpPr>
            <a:spLocks noChangeAspect="1" noChangeArrowheads="1"/>
          </p:cNvSpPr>
          <p:nvPr/>
        </p:nvSpPr>
        <p:spPr bwMode="auto">
          <a:xfrm>
            <a:off x="6712123" y="2057237"/>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30" name="Rounded Rectangle 129">
            <a:extLst>
              <a:ext uri="{FF2B5EF4-FFF2-40B4-BE49-F238E27FC236}">
                <a16:creationId xmlns:a16="http://schemas.microsoft.com/office/drawing/2014/main" id="{34FF6727-EC26-B688-4052-6047FE3293F9}"/>
              </a:ext>
            </a:extLst>
          </p:cNvPr>
          <p:cNvSpPr/>
          <p:nvPr/>
        </p:nvSpPr>
        <p:spPr bwMode="auto">
          <a:xfrm>
            <a:off x="3647715" y="3405376"/>
            <a:ext cx="597714" cy="291411"/>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31" name="Rounded Rectangle 130">
            <a:extLst>
              <a:ext uri="{FF2B5EF4-FFF2-40B4-BE49-F238E27FC236}">
                <a16:creationId xmlns:a16="http://schemas.microsoft.com/office/drawing/2014/main" id="{8299E8AA-3D0D-B597-8C48-7AE28AA43B7A}"/>
              </a:ext>
            </a:extLst>
          </p:cNvPr>
          <p:cNvSpPr/>
          <p:nvPr/>
        </p:nvSpPr>
        <p:spPr bwMode="auto">
          <a:xfrm>
            <a:off x="3643367" y="2055545"/>
            <a:ext cx="3425589" cy="300251"/>
          </a:xfrm>
          <a:prstGeom prst="roundRect">
            <a:avLst/>
          </a:prstGeom>
          <a:noFill/>
          <a:ln w="63500" cap="flat" cmpd="sng" algn="ctr">
            <a:solidFill>
              <a:schemeClr val="tx1">
                <a:lumMod val="50000"/>
                <a:lumOff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32" name="Rectangle 15">
            <a:extLst>
              <a:ext uri="{FF2B5EF4-FFF2-40B4-BE49-F238E27FC236}">
                <a16:creationId xmlns:a16="http://schemas.microsoft.com/office/drawing/2014/main" id="{A9F21000-36E3-466A-7348-3F2564C41FFE}"/>
              </a:ext>
            </a:extLst>
          </p:cNvPr>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cxnSp>
        <p:nvCxnSpPr>
          <p:cNvPr id="135" name="Straight Arrow Connector 134">
            <a:extLst>
              <a:ext uri="{FF2B5EF4-FFF2-40B4-BE49-F238E27FC236}">
                <a16:creationId xmlns:a16="http://schemas.microsoft.com/office/drawing/2014/main" id="{1FCF06B9-3E2F-DDD5-5BD6-0C80623FD6DA}"/>
              </a:ext>
            </a:extLst>
          </p:cNvPr>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36" name="Straight Arrow Connector 135">
            <a:extLst>
              <a:ext uri="{FF2B5EF4-FFF2-40B4-BE49-F238E27FC236}">
                <a16:creationId xmlns:a16="http://schemas.microsoft.com/office/drawing/2014/main" id="{CCE08042-DE82-3DD2-A094-F12CC65A2376}"/>
              </a:ext>
            </a:extLst>
          </p:cNvPr>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119" name="AutoShape 67">
            <a:extLst>
              <a:ext uri="{FF2B5EF4-FFF2-40B4-BE49-F238E27FC236}">
                <a16:creationId xmlns:a16="http://schemas.microsoft.com/office/drawing/2014/main" id="{DFA2F402-BE13-4E49-D770-60758111C181}"/>
              </a:ext>
            </a:extLst>
          </p:cNvPr>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63088B76-0EBF-DCD0-C644-8F7F505E3FC8}"/>
              </a:ext>
            </a:extLst>
          </p:cNvPr>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
        <p:nvSpPr>
          <p:cNvPr id="7" name="Rectangle 56">
            <a:extLst>
              <a:ext uri="{FF2B5EF4-FFF2-40B4-BE49-F238E27FC236}">
                <a16:creationId xmlns:a16="http://schemas.microsoft.com/office/drawing/2014/main" id="{DC89C58A-8599-E155-8656-CC970EEE7CD0}"/>
              </a:ext>
            </a:extLst>
          </p:cNvPr>
          <p:cNvSpPr>
            <a:spLocks noChangeAspect="1" noChangeArrowheads="1"/>
          </p:cNvSpPr>
          <p:nvPr/>
        </p:nvSpPr>
        <p:spPr bwMode="auto">
          <a:xfrm>
            <a:off x="2999682" y="4791077"/>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3   DMUL        6,  7</a:t>
            </a:r>
          </a:p>
        </p:txBody>
      </p:sp>
    </p:spTree>
    <p:extLst>
      <p:ext uri="{BB962C8B-B14F-4D97-AF65-F5344CB8AC3E}">
        <p14:creationId xmlns:p14="http://schemas.microsoft.com/office/powerpoint/2010/main" val="82524029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p:cNvGrpSpPr>
            <a:grpSpLocks noChangeAspect="1"/>
          </p:cNvGrpSpPr>
          <p:nvPr/>
        </p:nvGrpSpPr>
        <p:grpSpPr bwMode="auto">
          <a:xfrm>
            <a:off x="3015760" y="4593888"/>
            <a:ext cx="2656247" cy="354206"/>
            <a:chOff x="2064" y="2928"/>
            <a:chExt cx="1919" cy="256"/>
          </a:xfrm>
        </p:grpSpPr>
        <p:sp>
          <p:nvSpPr>
            <p:cNvPr id="607237" name="Rectangle 5"/>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p:cNvGrpSpPr>
            <a:grpSpLocks noChangeAspect="1"/>
          </p:cNvGrpSpPr>
          <p:nvPr/>
        </p:nvGrpSpPr>
        <p:grpSpPr bwMode="auto">
          <a:xfrm>
            <a:off x="3668910" y="3464857"/>
            <a:ext cx="1926783" cy="708412"/>
            <a:chOff x="3456" y="1200"/>
            <a:chExt cx="1392" cy="512"/>
          </a:xfrm>
        </p:grpSpPr>
        <p:sp>
          <p:nvSpPr>
            <p:cNvPr id="607257" name="Rectangle 25"/>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p:cNvGrpSpPr>
            <a:grpSpLocks noChangeAspect="1"/>
          </p:cNvGrpSpPr>
          <p:nvPr/>
        </p:nvGrpSpPr>
        <p:grpSpPr bwMode="auto">
          <a:xfrm>
            <a:off x="3668910" y="1273208"/>
            <a:ext cx="3388480" cy="1062617"/>
            <a:chOff x="2208" y="576"/>
            <a:chExt cx="2448" cy="768"/>
          </a:xfrm>
        </p:grpSpPr>
        <p:sp>
          <p:nvSpPr>
            <p:cNvPr id="607264" name="Rectangle 32"/>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607284" name="Rectangle 52"/>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p:cNvSpPr>
            <a:spLocks noChangeAspect="1"/>
          </p:cNvSpPr>
          <p:nvPr/>
        </p:nvSpPr>
        <p:spPr bwMode="auto">
          <a:xfrm>
            <a:off x="7654834" y="2209917"/>
            <a:ext cx="627016"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p:cNvGrpSpPr>
            <a:grpSpLocks noChangeAspect="1"/>
          </p:cNvGrpSpPr>
          <p:nvPr/>
        </p:nvGrpSpPr>
        <p:grpSpPr bwMode="auto">
          <a:xfrm rot="16200000">
            <a:off x="1742290" y="898031"/>
            <a:ext cx="796963" cy="1063052"/>
            <a:chOff x="1872" y="1584"/>
            <a:chExt cx="576" cy="864"/>
          </a:xfrm>
        </p:grpSpPr>
        <p:sp>
          <p:nvSpPr>
            <p:cNvPr id="607303" name="Rectangle 71"/>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a:t>
            </a:fld>
            <a:r>
              <a:rPr lang="en-GB"/>
              <a:t> </a:t>
            </a:r>
          </a:p>
        </p:txBody>
      </p:sp>
      <p:sp>
        <p:nvSpPr>
          <p:cNvPr id="35846" name="Rectangle 50"/>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p:cNvSpPr txBox="1"/>
          <p:nvPr/>
        </p:nvSpPr>
        <p:spPr>
          <a:xfrm>
            <a:off x="0" y="2560515"/>
            <a:ext cx="3111749" cy="2057358"/>
          </a:xfrm>
          <a:prstGeom prst="rect">
            <a:avLst/>
          </a:prstGeom>
          <a:noFill/>
        </p:spPr>
        <p:txBody>
          <a:bodyPr wrap="none" rtlCol="0">
            <a:spAutoFit/>
          </a:bodyPr>
          <a:lstStyle/>
          <a:p>
            <a:r>
              <a:rPr lang="en-CA" i="1" dirty="0">
                <a:solidFill>
                  <a:schemeClr val="accent2"/>
                </a:solidFill>
              </a:rPr>
              <a:t>Cycle 16:</a:t>
            </a:r>
          </a:p>
          <a:p>
            <a:r>
              <a:rPr lang="en-CA" dirty="0">
                <a:solidFill>
                  <a:schemeClr val="accent2"/>
                </a:solidFill>
              </a:rPr>
              <a:t>DMUL writes to CDB,</a:t>
            </a:r>
          </a:p>
          <a:p>
            <a:r>
              <a:rPr lang="en-CA" dirty="0">
                <a:solidFill>
                  <a:schemeClr val="accent2"/>
                </a:solidFill>
              </a:rPr>
              <a:t>DADD and ROB get</a:t>
            </a:r>
          </a:p>
          <a:p>
            <a:r>
              <a:rPr lang="en-CA" dirty="0">
                <a:solidFill>
                  <a:schemeClr val="accent2"/>
                </a:solidFill>
              </a:rPr>
              <a:t>value, but register file</a:t>
            </a:r>
          </a:p>
          <a:p>
            <a:r>
              <a:rPr lang="en-CA" u="sng" dirty="0">
                <a:solidFill>
                  <a:schemeClr val="accent2"/>
                </a:solidFill>
              </a:rPr>
              <a:t>not</a:t>
            </a:r>
            <a:r>
              <a:rPr lang="en-CA" dirty="0">
                <a:solidFill>
                  <a:schemeClr val="accent2"/>
                </a:solidFill>
              </a:rPr>
              <a:t> updated</a:t>
            </a:r>
          </a:p>
          <a:p>
            <a:endParaRPr lang="en-CA" dirty="0">
              <a:solidFill>
                <a:schemeClr val="accent2"/>
              </a:solidFill>
            </a:endParaRPr>
          </a:p>
          <a:p>
            <a:endParaRPr lang="en-CA" dirty="0">
              <a:solidFill>
                <a:schemeClr val="accent2"/>
              </a:solidFill>
            </a:endParaRPr>
          </a:p>
        </p:txBody>
      </p:sp>
      <p:cxnSp>
        <p:nvCxnSpPr>
          <p:cNvPr id="100" name="Straight Connector 99"/>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98" name="Rectangle 56"/>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R3,Loop)</a:t>
            </a:r>
          </a:p>
        </p:txBody>
      </p:sp>
      <p:sp>
        <p:nvSpPr>
          <p:cNvPr id="99" name="Rectangle 59"/>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6" name="Rectangle 56"/>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BEQZ  ROB1,Loop</a:t>
            </a:r>
          </a:p>
        </p:txBody>
      </p:sp>
      <p:sp>
        <p:nvSpPr>
          <p:cNvPr id="114" name="Rectangle 56"/>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607291" name="Rectangle 59"/>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101" name="Rectangle 56"/>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02" name="Rectangle 59"/>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03" name="Rectangle 50"/>
          <p:cNvSpPr>
            <a:spLocks noChangeAspect="1" noChangeArrowheads="1"/>
          </p:cNvSpPr>
          <p:nvPr/>
        </p:nvSpPr>
        <p:spPr bwMode="auto">
          <a:xfrm>
            <a:off x="3767048" y="2353328"/>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42</a:t>
            </a:r>
          </a:p>
        </p:txBody>
      </p:sp>
      <p:sp>
        <p:nvSpPr>
          <p:cNvPr id="118" name="Rectangle 56"/>
          <p:cNvSpPr>
            <a:spLocks noChangeAspect="1" noChangeArrowheads="1"/>
          </p:cNvSpPr>
          <p:nvPr/>
        </p:nvSpPr>
        <p:spPr bwMode="auto">
          <a:xfrm>
            <a:off x="4049485" y="6136549"/>
            <a:ext cx="927463" cy="421004"/>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ROB3, 42</a:t>
            </a:r>
          </a:p>
        </p:txBody>
      </p:sp>
      <p:cxnSp>
        <p:nvCxnSpPr>
          <p:cNvPr id="120" name="Straight Connector 119"/>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1" name="Rectangle 50"/>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22" name="Rectangle 50"/>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3" name="Rectangle 50"/>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ROB4</a:t>
            </a:r>
          </a:p>
        </p:txBody>
      </p:sp>
      <p:sp>
        <p:nvSpPr>
          <p:cNvPr id="113" name="Rectangle 56"/>
          <p:cNvSpPr>
            <a:spLocks noChangeAspect="1" noChangeArrowheads="1"/>
          </p:cNvSpPr>
          <p:nvPr/>
        </p:nvSpPr>
        <p:spPr bwMode="auto">
          <a:xfrm>
            <a:off x="248194" y="4421613"/>
            <a:ext cx="2150420" cy="307305"/>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4  DADD  42, 14</a:t>
            </a:r>
          </a:p>
        </p:txBody>
      </p:sp>
      <p:sp>
        <p:nvSpPr>
          <p:cNvPr id="125" name="Rectangle 56"/>
          <p:cNvSpPr>
            <a:spLocks noChangeAspect="1" noChangeArrowheads="1"/>
          </p:cNvSpPr>
          <p:nvPr/>
        </p:nvSpPr>
        <p:spPr bwMode="auto">
          <a:xfrm>
            <a:off x="4851123" y="2057238"/>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PC=0x10(DADD R4,R4,R1)</a:t>
            </a:r>
          </a:p>
        </p:txBody>
      </p:sp>
      <p:sp>
        <p:nvSpPr>
          <p:cNvPr id="127" name="Rectangle 50"/>
          <p:cNvSpPr>
            <a:spLocks noChangeAspect="1" noChangeArrowheads="1"/>
          </p:cNvSpPr>
          <p:nvPr/>
        </p:nvSpPr>
        <p:spPr bwMode="auto">
          <a:xfrm>
            <a:off x="3660200" y="20615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a:t>
            </a:r>
          </a:p>
        </p:txBody>
      </p:sp>
      <p:sp>
        <p:nvSpPr>
          <p:cNvPr id="129" name="Rectangle 59"/>
          <p:cNvSpPr>
            <a:spLocks noChangeAspect="1" noChangeArrowheads="1"/>
          </p:cNvSpPr>
          <p:nvPr/>
        </p:nvSpPr>
        <p:spPr bwMode="auto">
          <a:xfrm>
            <a:off x="6712123" y="2057237"/>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32" name="Rectangle 15"/>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119" name="Rounded Rectangle 118"/>
          <p:cNvSpPr/>
          <p:nvPr/>
        </p:nvSpPr>
        <p:spPr bwMode="auto">
          <a:xfrm>
            <a:off x="1231086" y="4411216"/>
            <a:ext cx="427896" cy="265287"/>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28" name="Rounded Rectangle 127"/>
          <p:cNvSpPr/>
          <p:nvPr/>
        </p:nvSpPr>
        <p:spPr bwMode="auto">
          <a:xfrm>
            <a:off x="4252488" y="2300270"/>
            <a:ext cx="427896" cy="269965"/>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dirty="0">
              <a:ln>
                <a:noFill/>
              </a:ln>
              <a:solidFill>
                <a:schemeClr val="bg1"/>
              </a:solidFill>
              <a:effectLst/>
              <a:latin typeface="Arial" pitchFamily="-106" charset="-52"/>
            </a:endParaRPr>
          </a:p>
        </p:txBody>
      </p:sp>
      <p:sp>
        <p:nvSpPr>
          <p:cNvPr id="133" name="Rounded Rectangle 132"/>
          <p:cNvSpPr/>
          <p:nvPr/>
        </p:nvSpPr>
        <p:spPr bwMode="auto">
          <a:xfrm>
            <a:off x="4017830" y="6191794"/>
            <a:ext cx="893804" cy="287383"/>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cxnSp>
        <p:nvCxnSpPr>
          <p:cNvPr id="136" name="Straight Arrow Connector 135"/>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37" name="Straight Arrow Connector 136"/>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124" name="AutoShape 67"/>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18712CA1-BA37-3982-CB99-0D251DC80DE0}"/>
              </a:ext>
            </a:extLst>
          </p:cNvPr>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
        <p:nvSpPr>
          <p:cNvPr id="7" name="Rectangle 56">
            <a:extLst>
              <a:ext uri="{FF2B5EF4-FFF2-40B4-BE49-F238E27FC236}">
                <a16:creationId xmlns:a16="http://schemas.microsoft.com/office/drawing/2014/main" id="{DDDD9A63-391A-3E37-3292-9E1C7E230DAA}"/>
              </a:ext>
            </a:extLst>
          </p:cNvPr>
          <p:cNvSpPr>
            <a:spLocks noChangeAspect="1" noChangeArrowheads="1"/>
          </p:cNvSpPr>
          <p:nvPr/>
        </p:nvSpPr>
        <p:spPr bwMode="auto">
          <a:xfrm>
            <a:off x="2999682" y="4791077"/>
            <a:ext cx="2668578" cy="149542"/>
          </a:xfrm>
          <a:prstGeom prst="rect">
            <a:avLst/>
          </a:prstGeom>
          <a:noFill/>
          <a:ln w="28575">
            <a:noFill/>
            <a:miter lim="800000"/>
            <a:headEnd/>
            <a:tailEnd/>
          </a:ln>
          <a:effectLst/>
        </p:spPr>
        <p:txBody>
          <a:bodyPr wrap="none" anchor="ctr"/>
          <a:lstStyle/>
          <a:p>
            <a:pPr>
              <a:defRPr/>
            </a:pPr>
            <a:r>
              <a:rPr lang="en-US" sz="1200" b="1" dirty="0">
                <a:solidFill>
                  <a:schemeClr val="bg1">
                    <a:lumMod val="75000"/>
                  </a:schemeClr>
                </a:solidFill>
                <a:latin typeface="Courier New" pitchFamily="49" charset="0"/>
              </a:rPr>
              <a:t>3   DMUL        6,  7</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p:cNvGrpSpPr>
            <a:grpSpLocks noChangeAspect="1"/>
          </p:cNvGrpSpPr>
          <p:nvPr/>
        </p:nvGrpSpPr>
        <p:grpSpPr bwMode="auto">
          <a:xfrm>
            <a:off x="3015760" y="4593888"/>
            <a:ext cx="2656247" cy="354206"/>
            <a:chOff x="2064" y="2928"/>
            <a:chExt cx="1919" cy="256"/>
          </a:xfrm>
        </p:grpSpPr>
        <p:sp>
          <p:nvSpPr>
            <p:cNvPr id="607237" name="Rectangle 5"/>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p:cNvGrpSpPr>
            <a:grpSpLocks noChangeAspect="1"/>
          </p:cNvGrpSpPr>
          <p:nvPr/>
        </p:nvGrpSpPr>
        <p:grpSpPr bwMode="auto">
          <a:xfrm>
            <a:off x="3668910" y="3464857"/>
            <a:ext cx="1926783" cy="708412"/>
            <a:chOff x="3456" y="1200"/>
            <a:chExt cx="1392" cy="512"/>
          </a:xfrm>
        </p:grpSpPr>
        <p:sp>
          <p:nvSpPr>
            <p:cNvPr id="607257" name="Rectangle 25"/>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p:cNvGrpSpPr>
            <a:grpSpLocks noChangeAspect="1"/>
          </p:cNvGrpSpPr>
          <p:nvPr/>
        </p:nvGrpSpPr>
        <p:grpSpPr bwMode="auto">
          <a:xfrm>
            <a:off x="3668910" y="1273208"/>
            <a:ext cx="3388480" cy="1062617"/>
            <a:chOff x="2208" y="576"/>
            <a:chExt cx="2448" cy="768"/>
          </a:xfrm>
        </p:grpSpPr>
        <p:sp>
          <p:nvSpPr>
            <p:cNvPr id="607264" name="Rectangle 32"/>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6" name="Rectangle 54"/>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p:cNvSpPr>
            <a:spLocks noChangeAspect="1"/>
          </p:cNvSpPr>
          <p:nvPr/>
        </p:nvSpPr>
        <p:spPr bwMode="auto">
          <a:xfrm>
            <a:off x="7654834" y="2209917"/>
            <a:ext cx="627016"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p:cNvGrpSpPr>
            <a:grpSpLocks noChangeAspect="1"/>
          </p:cNvGrpSpPr>
          <p:nvPr/>
        </p:nvGrpSpPr>
        <p:grpSpPr bwMode="auto">
          <a:xfrm rot="16200000">
            <a:off x="1742290" y="898031"/>
            <a:ext cx="796963" cy="1063052"/>
            <a:chOff x="1872" y="1584"/>
            <a:chExt cx="576" cy="864"/>
          </a:xfrm>
        </p:grpSpPr>
        <p:sp>
          <p:nvSpPr>
            <p:cNvPr id="607303" name="Rectangle 71"/>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a:t>
            </a:fld>
            <a:r>
              <a:rPr lang="en-GB"/>
              <a:t> </a:t>
            </a:r>
          </a:p>
        </p:txBody>
      </p:sp>
      <p:sp>
        <p:nvSpPr>
          <p:cNvPr id="35846" name="Rectangle 50"/>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p:cNvSpPr txBox="1"/>
          <p:nvPr/>
        </p:nvSpPr>
        <p:spPr>
          <a:xfrm>
            <a:off x="0" y="2560515"/>
            <a:ext cx="3403496" cy="1776640"/>
          </a:xfrm>
          <a:prstGeom prst="rect">
            <a:avLst/>
          </a:prstGeom>
          <a:noFill/>
        </p:spPr>
        <p:txBody>
          <a:bodyPr wrap="none" rtlCol="0">
            <a:spAutoFit/>
          </a:bodyPr>
          <a:lstStyle/>
          <a:p>
            <a:r>
              <a:rPr lang="en-CA" i="1" dirty="0">
                <a:solidFill>
                  <a:schemeClr val="accent2"/>
                </a:solidFill>
              </a:rPr>
              <a:t>Cycle 17:</a:t>
            </a:r>
          </a:p>
          <a:p>
            <a:r>
              <a:rPr lang="en-CA" dirty="0">
                <a:solidFill>
                  <a:schemeClr val="accent2"/>
                </a:solidFill>
              </a:rPr>
              <a:t>DADD writes to CDB,</a:t>
            </a:r>
          </a:p>
          <a:p>
            <a:r>
              <a:rPr lang="en-CA" dirty="0">
                <a:solidFill>
                  <a:schemeClr val="accent2"/>
                </a:solidFill>
              </a:rPr>
              <a:t>ROB gets value, but </a:t>
            </a:r>
          </a:p>
          <a:p>
            <a:r>
              <a:rPr lang="en-CA" dirty="0">
                <a:solidFill>
                  <a:schemeClr val="accent2"/>
                </a:solidFill>
              </a:rPr>
              <a:t>register file </a:t>
            </a:r>
            <a:r>
              <a:rPr lang="en-CA" u="sng" dirty="0">
                <a:solidFill>
                  <a:schemeClr val="accent2"/>
                </a:solidFill>
              </a:rPr>
              <a:t>not</a:t>
            </a:r>
            <a:r>
              <a:rPr lang="en-CA" dirty="0">
                <a:solidFill>
                  <a:schemeClr val="accent2"/>
                </a:solidFill>
              </a:rPr>
              <a:t> updated</a:t>
            </a:r>
          </a:p>
          <a:p>
            <a:endParaRPr lang="en-CA" dirty="0">
              <a:solidFill>
                <a:schemeClr val="accent2"/>
              </a:solidFill>
            </a:endParaRPr>
          </a:p>
          <a:p>
            <a:endParaRPr lang="en-CA" dirty="0">
              <a:solidFill>
                <a:schemeClr val="accent2"/>
              </a:solidFill>
            </a:endParaRPr>
          </a:p>
        </p:txBody>
      </p:sp>
      <p:cxnSp>
        <p:nvCxnSpPr>
          <p:cNvPr id="100" name="Straight Connector 99"/>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99" name="Rectangle 59"/>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6" name="Rectangle 56"/>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BEQZ  ROB1,Loop</a:t>
            </a:r>
          </a:p>
        </p:txBody>
      </p:sp>
      <p:sp>
        <p:nvSpPr>
          <p:cNvPr id="102" name="Rectangle 59"/>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03" name="Rectangle 50"/>
          <p:cNvSpPr>
            <a:spLocks noChangeAspect="1" noChangeArrowheads="1"/>
          </p:cNvSpPr>
          <p:nvPr/>
        </p:nvSpPr>
        <p:spPr bwMode="auto">
          <a:xfrm>
            <a:off x="3716807" y="2353328"/>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42</a:t>
            </a:r>
          </a:p>
        </p:txBody>
      </p:sp>
      <p:sp>
        <p:nvSpPr>
          <p:cNvPr id="118" name="Rectangle 56"/>
          <p:cNvSpPr>
            <a:spLocks noChangeAspect="1" noChangeArrowheads="1"/>
          </p:cNvSpPr>
          <p:nvPr/>
        </p:nvSpPr>
        <p:spPr bwMode="auto">
          <a:xfrm>
            <a:off x="4049485" y="6136549"/>
            <a:ext cx="927463" cy="421004"/>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ROB4, 56</a:t>
            </a:r>
          </a:p>
        </p:txBody>
      </p:sp>
      <p:cxnSp>
        <p:nvCxnSpPr>
          <p:cNvPr id="120" name="Straight Connector 119"/>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1" name="Rectangle 50"/>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22" name="Rectangle 50"/>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3" name="Rectangle 50"/>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ROB4</a:t>
            </a:r>
          </a:p>
        </p:txBody>
      </p:sp>
      <p:sp>
        <p:nvSpPr>
          <p:cNvPr id="129" name="Rectangle 59"/>
          <p:cNvSpPr>
            <a:spLocks noChangeAspect="1" noChangeArrowheads="1"/>
          </p:cNvSpPr>
          <p:nvPr/>
        </p:nvSpPr>
        <p:spPr bwMode="auto">
          <a:xfrm>
            <a:off x="6712123" y="2057237"/>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32" name="Rectangle 15"/>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128" name="Rounded Rectangle 127"/>
          <p:cNvSpPr/>
          <p:nvPr/>
        </p:nvSpPr>
        <p:spPr bwMode="auto">
          <a:xfrm>
            <a:off x="4184969" y="2050865"/>
            <a:ext cx="427896" cy="269965"/>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33" name="Rounded Rectangle 132"/>
          <p:cNvSpPr/>
          <p:nvPr/>
        </p:nvSpPr>
        <p:spPr bwMode="auto">
          <a:xfrm>
            <a:off x="4017830" y="6191794"/>
            <a:ext cx="893804" cy="287383"/>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24" name="Rectangle 50"/>
          <p:cNvSpPr>
            <a:spLocks noChangeAspect="1" noChangeArrowheads="1"/>
          </p:cNvSpPr>
          <p:nvPr/>
        </p:nvSpPr>
        <p:spPr bwMode="auto">
          <a:xfrm>
            <a:off x="3725516" y="2087717"/>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56</a:t>
            </a:r>
          </a:p>
        </p:txBody>
      </p:sp>
      <p:cxnSp>
        <p:nvCxnSpPr>
          <p:cNvPr id="134" name="Straight Arrow Connector 133"/>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35" name="Straight Arrow Connector 134"/>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113" name="Rectangle 55"/>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119" name="Rectangle 56"/>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127" name="Rectangle 56"/>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30" name="Rectangle 56"/>
          <p:cNvSpPr>
            <a:spLocks noChangeAspect="1" noChangeArrowheads="1"/>
          </p:cNvSpPr>
          <p:nvPr/>
        </p:nvSpPr>
        <p:spPr bwMode="auto">
          <a:xfrm>
            <a:off x="4851123" y="2057238"/>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PC=0x10(DADD R4,R4,R1)</a:t>
            </a:r>
          </a:p>
        </p:txBody>
      </p:sp>
      <p:sp>
        <p:nvSpPr>
          <p:cNvPr id="131" name="Rectangle 56"/>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R3,Loop)</a:t>
            </a:r>
          </a:p>
        </p:txBody>
      </p:sp>
      <p:sp>
        <p:nvSpPr>
          <p:cNvPr id="136" name="AutoShape 67"/>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C0AB3B8E-73A6-DCA6-DF13-D61BC7191DF9}"/>
              </a:ext>
            </a:extLst>
          </p:cNvPr>
          <p:cNvSpPr>
            <a:spLocks noChangeAspect="1" noChangeArrowheads="1"/>
          </p:cNvSpPr>
          <p:nvPr/>
        </p:nvSpPr>
        <p:spPr bwMode="auto">
          <a:xfrm>
            <a:off x="248194" y="4421613"/>
            <a:ext cx="2150420" cy="307305"/>
          </a:xfrm>
          <a:prstGeom prst="rect">
            <a:avLst/>
          </a:prstGeom>
          <a:noFill/>
          <a:ln w="28575">
            <a:noFill/>
            <a:miter lim="800000"/>
            <a:headEnd/>
            <a:tailEnd/>
          </a:ln>
          <a:effectLst/>
        </p:spPr>
        <p:txBody>
          <a:bodyPr wrap="none" anchor="ctr"/>
          <a:lstStyle/>
          <a:p>
            <a:pPr>
              <a:defRPr/>
            </a:pPr>
            <a:r>
              <a:rPr lang="en-US" sz="1400" b="1" dirty="0">
                <a:solidFill>
                  <a:schemeClr val="bg1">
                    <a:lumMod val="75000"/>
                  </a:schemeClr>
                </a:solidFill>
                <a:latin typeface="Courier New" pitchFamily="49" charset="0"/>
              </a:rPr>
              <a:t>4  DADD  42, 14</a:t>
            </a:r>
          </a:p>
        </p:txBody>
      </p:sp>
      <p:sp>
        <p:nvSpPr>
          <p:cNvPr id="7" name="Rectangle 56">
            <a:extLst>
              <a:ext uri="{FF2B5EF4-FFF2-40B4-BE49-F238E27FC236}">
                <a16:creationId xmlns:a16="http://schemas.microsoft.com/office/drawing/2014/main" id="{B4C46D45-3E11-3A98-474A-D44E72A764B5}"/>
              </a:ext>
            </a:extLst>
          </p:cNvPr>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1   DIVD       14,  7</a:t>
            </a:r>
          </a:p>
        </p:txBody>
      </p:sp>
      <p:sp>
        <p:nvSpPr>
          <p:cNvPr id="607290" name="Rectangle 58"/>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N</a:t>
            </a:r>
          </a:p>
        </p:txBody>
      </p:sp>
      <p:sp>
        <p:nvSpPr>
          <p:cNvPr id="607291" name="Rectangle 59"/>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9EB46-93DC-269F-4C31-B6FD4F50D44D}"/>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73959C44-EF6A-B595-22C8-CA925B93ABD5}"/>
              </a:ext>
            </a:extLst>
          </p:cNvPr>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a:extLst>
              <a:ext uri="{FF2B5EF4-FFF2-40B4-BE49-F238E27FC236}">
                <a16:creationId xmlns:a16="http://schemas.microsoft.com/office/drawing/2014/main" id="{F7ED3592-E71C-EC7D-C1AF-B9097F864A1D}"/>
              </a:ext>
            </a:extLst>
          </p:cNvPr>
          <p:cNvGrpSpPr>
            <a:grpSpLocks noChangeAspect="1"/>
          </p:cNvGrpSpPr>
          <p:nvPr/>
        </p:nvGrpSpPr>
        <p:grpSpPr bwMode="auto">
          <a:xfrm>
            <a:off x="3015760" y="4593888"/>
            <a:ext cx="2656247" cy="354206"/>
            <a:chOff x="2064" y="2928"/>
            <a:chExt cx="1919" cy="256"/>
          </a:xfrm>
        </p:grpSpPr>
        <p:sp>
          <p:nvSpPr>
            <p:cNvPr id="607237" name="Rectangle 5">
              <a:extLst>
                <a:ext uri="{FF2B5EF4-FFF2-40B4-BE49-F238E27FC236}">
                  <a16:creationId xmlns:a16="http://schemas.microsoft.com/office/drawing/2014/main" id="{CDB0E22F-ABF8-5A54-7CA6-6EA5BFDC0E1A}"/>
                </a:ext>
              </a:extLst>
            </p:cNvPr>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a:extLst>
                <a:ext uri="{FF2B5EF4-FFF2-40B4-BE49-F238E27FC236}">
                  <a16:creationId xmlns:a16="http://schemas.microsoft.com/office/drawing/2014/main" id="{725C26E6-47ED-FD79-528A-1D5678A7D229}"/>
                </a:ext>
              </a:extLst>
            </p:cNvPr>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a:extLst>
                <a:ext uri="{FF2B5EF4-FFF2-40B4-BE49-F238E27FC236}">
                  <a16:creationId xmlns:a16="http://schemas.microsoft.com/office/drawing/2014/main" id="{4A346FD0-E029-317E-1051-7B14965DA5B2}"/>
                </a:ext>
              </a:extLst>
            </p:cNvPr>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a:extLst>
              <a:ext uri="{FF2B5EF4-FFF2-40B4-BE49-F238E27FC236}">
                <a16:creationId xmlns:a16="http://schemas.microsoft.com/office/drawing/2014/main" id="{5E811898-BECD-AE22-7C23-3327D63A3ACA}"/>
              </a:ext>
            </a:extLst>
          </p:cNvPr>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a:extLst>
              <a:ext uri="{FF2B5EF4-FFF2-40B4-BE49-F238E27FC236}">
                <a16:creationId xmlns:a16="http://schemas.microsoft.com/office/drawing/2014/main" id="{02804B91-15B5-BB2A-DD74-345535A566CA}"/>
              </a:ext>
            </a:extLst>
          </p:cNvPr>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a:extLst>
              <a:ext uri="{FF2B5EF4-FFF2-40B4-BE49-F238E27FC236}">
                <a16:creationId xmlns:a16="http://schemas.microsoft.com/office/drawing/2014/main" id="{A6B71296-BC70-C997-5D58-6AD2A2FB0C72}"/>
              </a:ext>
            </a:extLst>
          </p:cNvPr>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a:extLst>
              <a:ext uri="{FF2B5EF4-FFF2-40B4-BE49-F238E27FC236}">
                <a16:creationId xmlns:a16="http://schemas.microsoft.com/office/drawing/2014/main" id="{378B6755-B81A-305C-FCC6-C143DFFB9A64}"/>
              </a:ext>
            </a:extLst>
          </p:cNvPr>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a:extLst>
              <a:ext uri="{FF2B5EF4-FFF2-40B4-BE49-F238E27FC236}">
                <a16:creationId xmlns:a16="http://schemas.microsoft.com/office/drawing/2014/main" id="{FFC3D3CA-C7F5-F346-740D-4EAF5639BA26}"/>
              </a:ext>
            </a:extLst>
          </p:cNvPr>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a:extLst>
              <a:ext uri="{FF2B5EF4-FFF2-40B4-BE49-F238E27FC236}">
                <a16:creationId xmlns:a16="http://schemas.microsoft.com/office/drawing/2014/main" id="{244CCA12-5AC3-0755-1AFA-F577378E550D}"/>
              </a:ext>
            </a:extLst>
          </p:cNvPr>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a:extLst>
              <a:ext uri="{FF2B5EF4-FFF2-40B4-BE49-F238E27FC236}">
                <a16:creationId xmlns:a16="http://schemas.microsoft.com/office/drawing/2014/main" id="{F222F685-8AFF-F0E1-0711-1EBEC8D18378}"/>
              </a:ext>
            </a:extLst>
          </p:cNvPr>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a:extLst>
              <a:ext uri="{FF2B5EF4-FFF2-40B4-BE49-F238E27FC236}">
                <a16:creationId xmlns:a16="http://schemas.microsoft.com/office/drawing/2014/main" id="{BFEFA904-FAFC-D610-C1A8-912D731DA827}"/>
              </a:ext>
            </a:extLst>
          </p:cNvPr>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a:extLst>
              <a:ext uri="{FF2B5EF4-FFF2-40B4-BE49-F238E27FC236}">
                <a16:creationId xmlns:a16="http://schemas.microsoft.com/office/drawing/2014/main" id="{2DCC95E2-EB0A-227F-2E74-6A61C4F5A749}"/>
              </a:ext>
            </a:extLst>
          </p:cNvPr>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a:extLst>
              <a:ext uri="{FF2B5EF4-FFF2-40B4-BE49-F238E27FC236}">
                <a16:creationId xmlns:a16="http://schemas.microsoft.com/office/drawing/2014/main" id="{8F0719FF-7D5F-6BB2-433D-2DCBF14728D2}"/>
              </a:ext>
            </a:extLst>
          </p:cNvPr>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a:extLst>
              <a:ext uri="{FF2B5EF4-FFF2-40B4-BE49-F238E27FC236}">
                <a16:creationId xmlns:a16="http://schemas.microsoft.com/office/drawing/2014/main" id="{E4B26152-20A3-80E4-6528-05B12FD07DDB}"/>
              </a:ext>
            </a:extLst>
          </p:cNvPr>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a:extLst>
              <a:ext uri="{FF2B5EF4-FFF2-40B4-BE49-F238E27FC236}">
                <a16:creationId xmlns:a16="http://schemas.microsoft.com/office/drawing/2014/main" id="{919C5949-9852-796C-B1FE-26BEE15E0589}"/>
              </a:ext>
            </a:extLst>
          </p:cNvPr>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a:extLst>
              <a:ext uri="{FF2B5EF4-FFF2-40B4-BE49-F238E27FC236}">
                <a16:creationId xmlns:a16="http://schemas.microsoft.com/office/drawing/2014/main" id="{25CE9B20-84F2-A124-C524-E9C857742ABE}"/>
              </a:ext>
            </a:extLst>
          </p:cNvPr>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a:extLst>
              <a:ext uri="{FF2B5EF4-FFF2-40B4-BE49-F238E27FC236}">
                <a16:creationId xmlns:a16="http://schemas.microsoft.com/office/drawing/2014/main" id="{572F749D-453F-BA77-35AA-4A0ED8D6DD18}"/>
              </a:ext>
            </a:extLst>
          </p:cNvPr>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a:extLst>
              <a:ext uri="{FF2B5EF4-FFF2-40B4-BE49-F238E27FC236}">
                <a16:creationId xmlns:a16="http://schemas.microsoft.com/office/drawing/2014/main" id="{8E5F8C2A-86E3-33C3-BC1F-8F477D952EE2}"/>
              </a:ext>
            </a:extLst>
          </p:cNvPr>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a:extLst>
              <a:ext uri="{FF2B5EF4-FFF2-40B4-BE49-F238E27FC236}">
                <a16:creationId xmlns:a16="http://schemas.microsoft.com/office/drawing/2014/main" id="{347D8CFC-608D-F5C0-FDAD-7A69D4C5A609}"/>
              </a:ext>
            </a:extLst>
          </p:cNvPr>
          <p:cNvGrpSpPr>
            <a:grpSpLocks noChangeAspect="1"/>
          </p:cNvGrpSpPr>
          <p:nvPr/>
        </p:nvGrpSpPr>
        <p:grpSpPr bwMode="auto">
          <a:xfrm>
            <a:off x="3668910" y="3464857"/>
            <a:ext cx="1926783" cy="708412"/>
            <a:chOff x="3456" y="1200"/>
            <a:chExt cx="1392" cy="512"/>
          </a:xfrm>
        </p:grpSpPr>
        <p:sp>
          <p:nvSpPr>
            <p:cNvPr id="607257" name="Rectangle 25">
              <a:extLst>
                <a:ext uri="{FF2B5EF4-FFF2-40B4-BE49-F238E27FC236}">
                  <a16:creationId xmlns:a16="http://schemas.microsoft.com/office/drawing/2014/main" id="{960D888E-A386-8196-1039-C16649BDC554}"/>
                </a:ext>
              </a:extLst>
            </p:cNvPr>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a:extLst>
                <a:ext uri="{FF2B5EF4-FFF2-40B4-BE49-F238E27FC236}">
                  <a16:creationId xmlns:a16="http://schemas.microsoft.com/office/drawing/2014/main" id="{690F7BF3-7DEC-5C79-52D5-36A9DD6C6BAF}"/>
                </a:ext>
              </a:extLst>
            </p:cNvPr>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a:extLst>
                <a:ext uri="{FF2B5EF4-FFF2-40B4-BE49-F238E27FC236}">
                  <a16:creationId xmlns:a16="http://schemas.microsoft.com/office/drawing/2014/main" id="{1CFF925B-4AC0-E302-5AEB-3D952DE97F73}"/>
                </a:ext>
              </a:extLst>
            </p:cNvPr>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a:extLst>
                <a:ext uri="{FF2B5EF4-FFF2-40B4-BE49-F238E27FC236}">
                  <a16:creationId xmlns:a16="http://schemas.microsoft.com/office/drawing/2014/main" id="{B9F55E44-41BE-BF0A-0FB4-4EE0DAADE891}"/>
                </a:ext>
              </a:extLst>
            </p:cNvPr>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a:extLst>
              <a:ext uri="{FF2B5EF4-FFF2-40B4-BE49-F238E27FC236}">
                <a16:creationId xmlns:a16="http://schemas.microsoft.com/office/drawing/2014/main" id="{DC276DC7-63EC-3C33-7FB4-1C1B0199BC96}"/>
              </a:ext>
            </a:extLst>
          </p:cNvPr>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a:extLst>
              <a:ext uri="{FF2B5EF4-FFF2-40B4-BE49-F238E27FC236}">
                <a16:creationId xmlns:a16="http://schemas.microsoft.com/office/drawing/2014/main" id="{49454830-D984-DBB4-D950-97441FCF37CB}"/>
              </a:ext>
            </a:extLst>
          </p:cNvPr>
          <p:cNvGrpSpPr>
            <a:grpSpLocks noChangeAspect="1"/>
          </p:cNvGrpSpPr>
          <p:nvPr/>
        </p:nvGrpSpPr>
        <p:grpSpPr bwMode="auto">
          <a:xfrm>
            <a:off x="3668910" y="1273208"/>
            <a:ext cx="3388480" cy="1062617"/>
            <a:chOff x="2208" y="576"/>
            <a:chExt cx="2448" cy="768"/>
          </a:xfrm>
        </p:grpSpPr>
        <p:sp>
          <p:nvSpPr>
            <p:cNvPr id="607264" name="Rectangle 32">
              <a:extLst>
                <a:ext uri="{FF2B5EF4-FFF2-40B4-BE49-F238E27FC236}">
                  <a16:creationId xmlns:a16="http://schemas.microsoft.com/office/drawing/2014/main" id="{63EED45F-6583-132D-0002-65E2975EE4AD}"/>
                </a:ext>
              </a:extLst>
            </p:cNvPr>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a:extLst>
                <a:ext uri="{FF2B5EF4-FFF2-40B4-BE49-F238E27FC236}">
                  <a16:creationId xmlns:a16="http://schemas.microsoft.com/office/drawing/2014/main" id="{78D940A8-CAFF-FE73-6954-DECAD6D1BAE2}"/>
                </a:ext>
              </a:extLst>
            </p:cNvPr>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a:extLst>
                <a:ext uri="{FF2B5EF4-FFF2-40B4-BE49-F238E27FC236}">
                  <a16:creationId xmlns:a16="http://schemas.microsoft.com/office/drawing/2014/main" id="{B80324D6-4EE5-67AA-B710-B514287915C6}"/>
                </a:ext>
              </a:extLst>
            </p:cNvPr>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a:extLst>
                <a:ext uri="{FF2B5EF4-FFF2-40B4-BE49-F238E27FC236}">
                  <a16:creationId xmlns:a16="http://schemas.microsoft.com/office/drawing/2014/main" id="{110B53ED-F016-76FB-C159-C5848EF7918F}"/>
                </a:ext>
              </a:extLst>
            </p:cNvPr>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a:extLst>
                <a:ext uri="{FF2B5EF4-FFF2-40B4-BE49-F238E27FC236}">
                  <a16:creationId xmlns:a16="http://schemas.microsoft.com/office/drawing/2014/main" id="{0D96B506-AF58-2F96-4FA6-674752167A05}"/>
                </a:ext>
              </a:extLst>
            </p:cNvPr>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a:extLst>
                <a:ext uri="{FF2B5EF4-FFF2-40B4-BE49-F238E27FC236}">
                  <a16:creationId xmlns:a16="http://schemas.microsoft.com/office/drawing/2014/main" id="{732BB97F-B6B6-1ABC-D23F-89FC53763EE8}"/>
                </a:ext>
              </a:extLst>
            </p:cNvPr>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a:extLst>
                <a:ext uri="{FF2B5EF4-FFF2-40B4-BE49-F238E27FC236}">
                  <a16:creationId xmlns:a16="http://schemas.microsoft.com/office/drawing/2014/main" id="{3061C83A-DC7D-2ACB-05FE-2F601C32B503}"/>
                </a:ext>
              </a:extLst>
            </p:cNvPr>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a:extLst>
                <a:ext uri="{FF2B5EF4-FFF2-40B4-BE49-F238E27FC236}">
                  <a16:creationId xmlns:a16="http://schemas.microsoft.com/office/drawing/2014/main" id="{10E7EBBD-160D-D48B-5DAE-914699769274}"/>
                </a:ext>
              </a:extLst>
            </p:cNvPr>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a:extLst>
                <a:ext uri="{FF2B5EF4-FFF2-40B4-BE49-F238E27FC236}">
                  <a16:creationId xmlns:a16="http://schemas.microsoft.com/office/drawing/2014/main" id="{ECD08082-B606-ACCE-0D0B-9733A25A8966}"/>
                </a:ext>
              </a:extLst>
            </p:cNvPr>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a:extLst>
                <a:ext uri="{FF2B5EF4-FFF2-40B4-BE49-F238E27FC236}">
                  <a16:creationId xmlns:a16="http://schemas.microsoft.com/office/drawing/2014/main" id="{7229C7B7-0714-980D-CA25-08C4344295CD}"/>
                </a:ext>
              </a:extLst>
            </p:cNvPr>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a:extLst>
                <a:ext uri="{FF2B5EF4-FFF2-40B4-BE49-F238E27FC236}">
                  <a16:creationId xmlns:a16="http://schemas.microsoft.com/office/drawing/2014/main" id="{105770A4-98CF-E60D-E241-393A4B066012}"/>
                </a:ext>
              </a:extLst>
            </p:cNvPr>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a:extLst>
                <a:ext uri="{FF2B5EF4-FFF2-40B4-BE49-F238E27FC236}">
                  <a16:creationId xmlns:a16="http://schemas.microsoft.com/office/drawing/2014/main" id="{465C3655-8148-71D9-BD66-CAAC3D07574E}"/>
                </a:ext>
              </a:extLst>
            </p:cNvPr>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a:extLst>
                <a:ext uri="{FF2B5EF4-FFF2-40B4-BE49-F238E27FC236}">
                  <a16:creationId xmlns:a16="http://schemas.microsoft.com/office/drawing/2014/main" id="{FF4AC06F-0300-E212-AC0B-3035E2FBC56C}"/>
                </a:ext>
              </a:extLst>
            </p:cNvPr>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a:extLst>
                <a:ext uri="{FF2B5EF4-FFF2-40B4-BE49-F238E27FC236}">
                  <a16:creationId xmlns:a16="http://schemas.microsoft.com/office/drawing/2014/main" id="{DDD712DD-BC50-4C59-7564-2F97C9B246E9}"/>
                </a:ext>
              </a:extLst>
            </p:cNvPr>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a:extLst>
                <a:ext uri="{FF2B5EF4-FFF2-40B4-BE49-F238E27FC236}">
                  <a16:creationId xmlns:a16="http://schemas.microsoft.com/office/drawing/2014/main" id="{C9F0F57E-3861-E5E6-F1E7-58229AA0813C}"/>
                </a:ext>
              </a:extLst>
            </p:cNvPr>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a:extLst>
                <a:ext uri="{FF2B5EF4-FFF2-40B4-BE49-F238E27FC236}">
                  <a16:creationId xmlns:a16="http://schemas.microsoft.com/office/drawing/2014/main" id="{0DE8CBC5-4877-58C7-4301-2B90FF1AD24B}"/>
                </a:ext>
              </a:extLst>
            </p:cNvPr>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a:extLst>
              <a:ext uri="{FF2B5EF4-FFF2-40B4-BE49-F238E27FC236}">
                <a16:creationId xmlns:a16="http://schemas.microsoft.com/office/drawing/2014/main" id="{0B1E6BB5-5B1A-0D4A-F1F7-9AD7872DBB96}"/>
              </a:ext>
            </a:extLst>
          </p:cNvPr>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a:extLst>
              <a:ext uri="{FF2B5EF4-FFF2-40B4-BE49-F238E27FC236}">
                <a16:creationId xmlns:a16="http://schemas.microsoft.com/office/drawing/2014/main" id="{DD2BB858-3E4E-127D-C30C-9FFC3C467BAF}"/>
              </a:ext>
            </a:extLst>
          </p:cNvPr>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a:extLst>
              <a:ext uri="{FF2B5EF4-FFF2-40B4-BE49-F238E27FC236}">
                <a16:creationId xmlns:a16="http://schemas.microsoft.com/office/drawing/2014/main" id="{C73756AA-5BE7-EF49-94CA-A5BE4BAF3258}"/>
              </a:ext>
            </a:extLst>
          </p:cNvPr>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R3</a:t>
            </a:r>
          </a:p>
        </p:txBody>
      </p:sp>
      <p:sp>
        <p:nvSpPr>
          <p:cNvPr id="607283" name="Rectangle 51">
            <a:extLst>
              <a:ext uri="{FF2B5EF4-FFF2-40B4-BE49-F238E27FC236}">
                <a16:creationId xmlns:a16="http://schemas.microsoft.com/office/drawing/2014/main" id="{E1BAC65B-22BA-67E4-E74C-CFE9B272ED91}"/>
              </a:ext>
            </a:extLst>
          </p:cNvPr>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a:extLst>
              <a:ext uri="{FF2B5EF4-FFF2-40B4-BE49-F238E27FC236}">
                <a16:creationId xmlns:a16="http://schemas.microsoft.com/office/drawing/2014/main" id="{484D2404-EBDE-9F99-AC6F-646E2BD902A4}"/>
              </a:ext>
            </a:extLst>
          </p:cNvPr>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a:extLst>
              <a:ext uri="{FF2B5EF4-FFF2-40B4-BE49-F238E27FC236}">
                <a16:creationId xmlns:a16="http://schemas.microsoft.com/office/drawing/2014/main" id="{F67295D3-441D-E1C6-03A8-2A024D75C279}"/>
              </a:ext>
            </a:extLst>
          </p:cNvPr>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2</a:t>
            </a:r>
          </a:p>
        </p:txBody>
      </p:sp>
      <p:sp>
        <p:nvSpPr>
          <p:cNvPr id="607286" name="Rectangle 54">
            <a:extLst>
              <a:ext uri="{FF2B5EF4-FFF2-40B4-BE49-F238E27FC236}">
                <a16:creationId xmlns:a16="http://schemas.microsoft.com/office/drawing/2014/main" id="{5D1E94BD-03E2-861A-2A0E-B50DEF91656C}"/>
              </a:ext>
            </a:extLst>
          </p:cNvPr>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a:extLst>
              <a:ext uri="{FF2B5EF4-FFF2-40B4-BE49-F238E27FC236}">
                <a16:creationId xmlns:a16="http://schemas.microsoft.com/office/drawing/2014/main" id="{2F0C33C9-1A22-6A9C-547F-1D37A1D3EC2F}"/>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a:extLst>
              <a:ext uri="{FF2B5EF4-FFF2-40B4-BE49-F238E27FC236}">
                <a16:creationId xmlns:a16="http://schemas.microsoft.com/office/drawing/2014/main" id="{CD7ADE6C-9815-A17F-D042-EA36CDE2B89E}"/>
              </a:ext>
            </a:extLst>
          </p:cNvPr>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a:extLst>
              <a:ext uri="{FF2B5EF4-FFF2-40B4-BE49-F238E27FC236}">
                <a16:creationId xmlns:a16="http://schemas.microsoft.com/office/drawing/2014/main" id="{125D509C-5668-4AB9-8A68-4F3279DE3CAF}"/>
              </a:ext>
            </a:extLst>
          </p:cNvPr>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a:extLst>
              <a:ext uri="{FF2B5EF4-FFF2-40B4-BE49-F238E27FC236}">
                <a16:creationId xmlns:a16="http://schemas.microsoft.com/office/drawing/2014/main" id="{94E14C74-DD43-41AE-2AC3-42A9C5B272C5}"/>
              </a:ext>
            </a:extLst>
          </p:cNvPr>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a:extLst>
              <a:ext uri="{FF2B5EF4-FFF2-40B4-BE49-F238E27FC236}">
                <a16:creationId xmlns:a16="http://schemas.microsoft.com/office/drawing/2014/main" id="{5F840B51-F596-9755-8632-BFFA78DC572A}"/>
              </a:ext>
            </a:extLst>
          </p:cNvPr>
          <p:cNvSpPr>
            <a:spLocks noChangeAspect="1"/>
          </p:cNvSpPr>
          <p:nvPr/>
        </p:nvSpPr>
        <p:spPr bwMode="auto">
          <a:xfrm>
            <a:off x="7654834" y="2209917"/>
            <a:ext cx="627016"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a:extLst>
              <a:ext uri="{FF2B5EF4-FFF2-40B4-BE49-F238E27FC236}">
                <a16:creationId xmlns:a16="http://schemas.microsoft.com/office/drawing/2014/main" id="{B871D067-0A1A-A968-9E4B-1D7DFA1BDC58}"/>
              </a:ext>
            </a:extLst>
          </p:cNvPr>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a:extLst>
              <a:ext uri="{FF2B5EF4-FFF2-40B4-BE49-F238E27FC236}">
                <a16:creationId xmlns:a16="http://schemas.microsoft.com/office/drawing/2014/main" id="{7064EB75-0E1D-4DA1-3866-2FCCCBACBF28}"/>
              </a:ext>
            </a:extLst>
          </p:cNvPr>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a:extLst>
              <a:ext uri="{FF2B5EF4-FFF2-40B4-BE49-F238E27FC236}">
                <a16:creationId xmlns:a16="http://schemas.microsoft.com/office/drawing/2014/main" id="{F9C204AC-8ACC-D191-72BC-4608B9E043D2}"/>
              </a:ext>
            </a:extLst>
          </p:cNvPr>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a:extLst>
              <a:ext uri="{FF2B5EF4-FFF2-40B4-BE49-F238E27FC236}">
                <a16:creationId xmlns:a16="http://schemas.microsoft.com/office/drawing/2014/main" id="{3B51031A-1767-63B6-5F2E-83D1A25FFF1D}"/>
              </a:ext>
            </a:extLst>
          </p:cNvPr>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a:extLst>
              <a:ext uri="{FF2B5EF4-FFF2-40B4-BE49-F238E27FC236}">
                <a16:creationId xmlns:a16="http://schemas.microsoft.com/office/drawing/2014/main" id="{DA20D8F2-B6F5-A00A-F61E-526F8CDA916C}"/>
              </a:ext>
            </a:extLst>
          </p:cNvPr>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a:extLst>
              <a:ext uri="{FF2B5EF4-FFF2-40B4-BE49-F238E27FC236}">
                <a16:creationId xmlns:a16="http://schemas.microsoft.com/office/drawing/2014/main" id="{D9548939-0304-969F-A9F5-267A2D3C0A80}"/>
              </a:ext>
            </a:extLst>
          </p:cNvPr>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a:extLst>
              <a:ext uri="{FF2B5EF4-FFF2-40B4-BE49-F238E27FC236}">
                <a16:creationId xmlns:a16="http://schemas.microsoft.com/office/drawing/2014/main" id="{1646802E-5FEF-2B42-25CF-7AAEA4F35A4B}"/>
              </a:ext>
            </a:extLst>
          </p:cNvPr>
          <p:cNvGrpSpPr>
            <a:grpSpLocks noChangeAspect="1"/>
          </p:cNvGrpSpPr>
          <p:nvPr/>
        </p:nvGrpSpPr>
        <p:grpSpPr bwMode="auto">
          <a:xfrm rot="16200000">
            <a:off x="1742290" y="898031"/>
            <a:ext cx="796963" cy="1063052"/>
            <a:chOff x="1872" y="1584"/>
            <a:chExt cx="576" cy="864"/>
          </a:xfrm>
        </p:grpSpPr>
        <p:sp>
          <p:nvSpPr>
            <p:cNvPr id="607303" name="Rectangle 71">
              <a:extLst>
                <a:ext uri="{FF2B5EF4-FFF2-40B4-BE49-F238E27FC236}">
                  <a16:creationId xmlns:a16="http://schemas.microsoft.com/office/drawing/2014/main" id="{15BA74C0-366B-C2B1-FE84-8CEBFF344DFF}"/>
                </a:ext>
              </a:extLst>
            </p:cNvPr>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a:extLst>
                <a:ext uri="{FF2B5EF4-FFF2-40B4-BE49-F238E27FC236}">
                  <a16:creationId xmlns:a16="http://schemas.microsoft.com/office/drawing/2014/main" id="{898D8440-0E18-E2CC-8E9B-60C9F9768605}"/>
                </a:ext>
              </a:extLst>
            </p:cNvPr>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a:extLst>
                <a:ext uri="{FF2B5EF4-FFF2-40B4-BE49-F238E27FC236}">
                  <a16:creationId xmlns:a16="http://schemas.microsoft.com/office/drawing/2014/main" id="{F3A9DE16-D606-FE94-5D24-FA0B64DE0F05}"/>
                </a:ext>
              </a:extLst>
            </p:cNvPr>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a:extLst>
                <a:ext uri="{FF2B5EF4-FFF2-40B4-BE49-F238E27FC236}">
                  <a16:creationId xmlns:a16="http://schemas.microsoft.com/office/drawing/2014/main" id="{E52F8AA1-E316-E81D-641F-25973DC023DB}"/>
                </a:ext>
              </a:extLst>
            </p:cNvPr>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a:extLst>
                <a:ext uri="{FF2B5EF4-FFF2-40B4-BE49-F238E27FC236}">
                  <a16:creationId xmlns:a16="http://schemas.microsoft.com/office/drawing/2014/main" id="{38C37282-0EB0-4ABD-6F13-DF7FEF03BADC}"/>
                </a:ext>
              </a:extLst>
            </p:cNvPr>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a:extLst>
                <a:ext uri="{FF2B5EF4-FFF2-40B4-BE49-F238E27FC236}">
                  <a16:creationId xmlns:a16="http://schemas.microsoft.com/office/drawing/2014/main" id="{55E1CFFA-0491-CB9A-E487-91EC2B4186E9}"/>
                </a:ext>
              </a:extLst>
            </p:cNvPr>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a:extLst>
              <a:ext uri="{FF2B5EF4-FFF2-40B4-BE49-F238E27FC236}">
                <a16:creationId xmlns:a16="http://schemas.microsoft.com/office/drawing/2014/main" id="{6E8EEE3A-8F35-2678-FB0F-838A539749DA}"/>
              </a:ext>
            </a:extLst>
          </p:cNvPr>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a:extLst>
              <a:ext uri="{FF2B5EF4-FFF2-40B4-BE49-F238E27FC236}">
                <a16:creationId xmlns:a16="http://schemas.microsoft.com/office/drawing/2014/main" id="{BE17A66E-0A28-4EEB-8727-F88D3025A3F2}"/>
              </a:ext>
            </a:extLst>
          </p:cNvPr>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a:extLst>
              <a:ext uri="{FF2B5EF4-FFF2-40B4-BE49-F238E27FC236}">
                <a16:creationId xmlns:a16="http://schemas.microsoft.com/office/drawing/2014/main" id="{0CDECBB1-06F5-7B45-F3A8-A4B4ADC25FFC}"/>
              </a:ext>
            </a:extLst>
          </p:cNvPr>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a:t>
            </a:fld>
            <a:r>
              <a:rPr lang="en-GB"/>
              <a:t> </a:t>
            </a:r>
          </a:p>
        </p:txBody>
      </p:sp>
      <p:sp>
        <p:nvSpPr>
          <p:cNvPr id="35846" name="Rectangle 50">
            <a:extLst>
              <a:ext uri="{FF2B5EF4-FFF2-40B4-BE49-F238E27FC236}">
                <a16:creationId xmlns:a16="http://schemas.microsoft.com/office/drawing/2014/main" id="{C3AB217E-09A4-0C01-9A0A-F1A40DE5779C}"/>
              </a:ext>
            </a:extLst>
          </p:cNvPr>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cxnSp>
        <p:nvCxnSpPr>
          <p:cNvPr id="100" name="Straight Connector 99">
            <a:extLst>
              <a:ext uri="{FF2B5EF4-FFF2-40B4-BE49-F238E27FC236}">
                <a16:creationId xmlns:a16="http://schemas.microsoft.com/office/drawing/2014/main" id="{B79340A3-B3D9-78B9-2C1C-830EFF1B731B}"/>
              </a:ext>
            </a:extLst>
          </p:cNvPr>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a:extLst>
              <a:ext uri="{FF2B5EF4-FFF2-40B4-BE49-F238E27FC236}">
                <a16:creationId xmlns:a16="http://schemas.microsoft.com/office/drawing/2014/main" id="{793CC6C4-C5CA-63BA-1667-BBD188B1360C}"/>
              </a:ext>
            </a:extLst>
          </p:cNvPr>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a:extLst>
              <a:ext uri="{FF2B5EF4-FFF2-40B4-BE49-F238E27FC236}">
                <a16:creationId xmlns:a16="http://schemas.microsoft.com/office/drawing/2014/main" id="{C7CA6AFE-656D-4228-CD99-44BEC64E16D9}"/>
              </a:ext>
            </a:extLst>
          </p:cNvPr>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a:extLst>
              <a:ext uri="{FF2B5EF4-FFF2-40B4-BE49-F238E27FC236}">
                <a16:creationId xmlns:a16="http://schemas.microsoft.com/office/drawing/2014/main" id="{D7554564-228F-C353-AF04-033EE401F471}"/>
              </a:ext>
            </a:extLst>
          </p:cNvPr>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a:extLst>
              <a:ext uri="{FF2B5EF4-FFF2-40B4-BE49-F238E27FC236}">
                <a16:creationId xmlns:a16="http://schemas.microsoft.com/office/drawing/2014/main" id="{2C271725-5FED-C349-5E96-00A59E314BF4}"/>
              </a:ext>
            </a:extLst>
          </p:cNvPr>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a:extLst>
              <a:ext uri="{FF2B5EF4-FFF2-40B4-BE49-F238E27FC236}">
                <a16:creationId xmlns:a16="http://schemas.microsoft.com/office/drawing/2014/main" id="{C18E000E-19AE-3F47-2669-B17FD4F67AB9}"/>
              </a:ext>
            </a:extLst>
          </p:cNvPr>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a:extLst>
              <a:ext uri="{FF2B5EF4-FFF2-40B4-BE49-F238E27FC236}">
                <a16:creationId xmlns:a16="http://schemas.microsoft.com/office/drawing/2014/main" id="{AE40DDAF-94BB-AD38-6C00-830CB5906E5E}"/>
              </a:ext>
            </a:extLst>
          </p:cNvPr>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a:extLst>
              <a:ext uri="{FF2B5EF4-FFF2-40B4-BE49-F238E27FC236}">
                <a16:creationId xmlns:a16="http://schemas.microsoft.com/office/drawing/2014/main" id="{4E0E52B0-1438-6C95-3BBA-BE798619EA81}"/>
              </a:ext>
            </a:extLst>
          </p:cNvPr>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a:extLst>
              <a:ext uri="{FF2B5EF4-FFF2-40B4-BE49-F238E27FC236}">
                <a16:creationId xmlns:a16="http://schemas.microsoft.com/office/drawing/2014/main" id="{D19274A4-9A2C-897F-0392-55A702173D5E}"/>
              </a:ext>
            </a:extLst>
          </p:cNvPr>
          <p:cNvCxnSpPr>
            <a:stCxn id="109" idx="1"/>
          </p:cNvCxnSpPr>
          <p:nvPr/>
        </p:nvCxnSpPr>
        <p:spPr bwMode="auto">
          <a:xfrm rot="10800000">
            <a:off x="6008917" y="5617032"/>
            <a:ext cx="658389" cy="7895"/>
          </a:xfrm>
          <a:prstGeom prst="straightConnector1">
            <a:avLst/>
          </a:prstGeom>
          <a:solidFill>
            <a:srgbClr val="00B8FF"/>
          </a:solidFill>
          <a:ln w="9525" cap="flat" cmpd="sng" algn="ctr">
            <a:solidFill>
              <a:schemeClr val="tx1"/>
            </a:solidFill>
            <a:prstDash val="solid"/>
            <a:round/>
            <a:headEnd type="none" w="med" len="med"/>
            <a:tailEnd type="none"/>
          </a:ln>
          <a:effectLst/>
        </p:spPr>
      </p:cxnSp>
      <p:cxnSp>
        <p:nvCxnSpPr>
          <p:cNvPr id="126" name="Straight Arrow Connector 125">
            <a:extLst>
              <a:ext uri="{FF2B5EF4-FFF2-40B4-BE49-F238E27FC236}">
                <a16:creationId xmlns:a16="http://schemas.microsoft.com/office/drawing/2014/main" id="{F45D0BC8-19F1-176A-05DF-B33D0E2337E2}"/>
              </a:ext>
            </a:extLst>
          </p:cNvPr>
          <p:cNvCxnSpPr/>
          <p:nvPr/>
        </p:nvCxnSpPr>
        <p:spPr bwMode="auto">
          <a:xfrm rot="5400000" flipH="1" flipV="1">
            <a:off x="4806337" y="4389120"/>
            <a:ext cx="2430486" cy="794"/>
          </a:xfrm>
          <a:prstGeom prst="straightConnector1">
            <a:avLst/>
          </a:prstGeom>
          <a:solidFill>
            <a:srgbClr val="00B8FF"/>
          </a:solidFill>
          <a:ln w="9525" cap="flat" cmpd="sng" algn="ctr">
            <a:solidFill>
              <a:schemeClr val="tx1"/>
            </a:solidFill>
            <a:prstDash val="solid"/>
            <a:round/>
            <a:headEnd type="none" w="med" len="med"/>
            <a:tailEnd type="arrow"/>
          </a:ln>
          <a:effectLst/>
        </p:spPr>
      </p:cxnSp>
      <p:sp>
        <p:nvSpPr>
          <p:cNvPr id="99" name="Rectangle 59">
            <a:extLst>
              <a:ext uri="{FF2B5EF4-FFF2-40B4-BE49-F238E27FC236}">
                <a16:creationId xmlns:a16="http://schemas.microsoft.com/office/drawing/2014/main" id="{D8976E24-6074-B4E3-9294-F5D35BA6A294}"/>
              </a:ext>
            </a:extLst>
          </p:cNvPr>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a:extLst>
              <a:ext uri="{FF2B5EF4-FFF2-40B4-BE49-F238E27FC236}">
                <a16:creationId xmlns:a16="http://schemas.microsoft.com/office/drawing/2014/main" id="{375BFF18-494A-2FD1-D16B-6F8032A9863E}"/>
              </a:ext>
            </a:extLst>
          </p:cNvPr>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6" name="Rectangle 56">
            <a:extLst>
              <a:ext uri="{FF2B5EF4-FFF2-40B4-BE49-F238E27FC236}">
                <a16:creationId xmlns:a16="http://schemas.microsoft.com/office/drawing/2014/main" id="{0424FC42-8E15-8E30-09B1-4929F0C9537E}"/>
              </a:ext>
            </a:extLst>
          </p:cNvPr>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BEQZ  2,Loop</a:t>
            </a:r>
          </a:p>
        </p:txBody>
      </p:sp>
      <p:sp>
        <p:nvSpPr>
          <p:cNvPr id="102" name="Rectangle 59">
            <a:extLst>
              <a:ext uri="{FF2B5EF4-FFF2-40B4-BE49-F238E27FC236}">
                <a16:creationId xmlns:a16="http://schemas.microsoft.com/office/drawing/2014/main" id="{5DAD37E4-1CFD-50B4-8679-A351FB388533}"/>
              </a:ext>
            </a:extLst>
          </p:cNvPr>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03" name="Rectangle 50">
            <a:extLst>
              <a:ext uri="{FF2B5EF4-FFF2-40B4-BE49-F238E27FC236}">
                <a16:creationId xmlns:a16="http://schemas.microsoft.com/office/drawing/2014/main" id="{53E3CA6F-EFAF-7035-947D-0519082B1F89}"/>
              </a:ext>
            </a:extLst>
          </p:cNvPr>
          <p:cNvSpPr>
            <a:spLocks noChangeAspect="1" noChangeArrowheads="1"/>
          </p:cNvSpPr>
          <p:nvPr/>
        </p:nvSpPr>
        <p:spPr bwMode="auto">
          <a:xfrm>
            <a:off x="3716807" y="2353328"/>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42</a:t>
            </a:r>
          </a:p>
        </p:txBody>
      </p:sp>
      <p:sp>
        <p:nvSpPr>
          <p:cNvPr id="118" name="Rectangle 56">
            <a:extLst>
              <a:ext uri="{FF2B5EF4-FFF2-40B4-BE49-F238E27FC236}">
                <a16:creationId xmlns:a16="http://schemas.microsoft.com/office/drawing/2014/main" id="{607180B5-506A-61D4-45B8-63E3F26925EF}"/>
              </a:ext>
            </a:extLst>
          </p:cNvPr>
          <p:cNvSpPr>
            <a:spLocks noChangeAspect="1" noChangeArrowheads="1"/>
          </p:cNvSpPr>
          <p:nvPr/>
        </p:nvSpPr>
        <p:spPr bwMode="auto">
          <a:xfrm>
            <a:off x="4049485" y="6136549"/>
            <a:ext cx="927463" cy="421004"/>
          </a:xfrm>
          <a:prstGeom prst="rect">
            <a:avLst/>
          </a:prstGeom>
          <a:noFill/>
          <a:ln w="28575">
            <a:noFill/>
            <a:miter lim="800000"/>
            <a:headEnd/>
            <a:tailEnd/>
          </a:ln>
          <a:effectLst/>
        </p:spPr>
        <p:txBody>
          <a:bodyPr wrap="none" anchor="ctr"/>
          <a:lstStyle/>
          <a:p>
            <a:pPr>
              <a:defRPr/>
            </a:pPr>
            <a:r>
              <a:rPr lang="en-US" sz="1200" b="1" dirty="0">
                <a:solidFill>
                  <a:srgbClr val="000000"/>
                </a:solidFill>
                <a:latin typeface="Courier New" pitchFamily="49" charset="0"/>
              </a:rPr>
              <a:t>ROB1, 2</a:t>
            </a:r>
          </a:p>
        </p:txBody>
      </p:sp>
      <p:cxnSp>
        <p:nvCxnSpPr>
          <p:cNvPr id="120" name="Straight Connector 119">
            <a:extLst>
              <a:ext uri="{FF2B5EF4-FFF2-40B4-BE49-F238E27FC236}">
                <a16:creationId xmlns:a16="http://schemas.microsoft.com/office/drawing/2014/main" id="{9C167601-6808-CF10-D88C-F76CBCF94442}"/>
              </a:ext>
            </a:extLst>
          </p:cNvPr>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1" name="Rectangle 50">
            <a:extLst>
              <a:ext uri="{FF2B5EF4-FFF2-40B4-BE49-F238E27FC236}">
                <a16:creationId xmlns:a16="http://schemas.microsoft.com/office/drawing/2014/main" id="{526EDCB0-A894-13A3-259B-698BA58FC803}"/>
              </a:ext>
            </a:extLst>
          </p:cNvPr>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ROB1</a:t>
            </a:r>
          </a:p>
        </p:txBody>
      </p:sp>
      <p:sp>
        <p:nvSpPr>
          <p:cNvPr id="122" name="Rectangle 50">
            <a:extLst>
              <a:ext uri="{FF2B5EF4-FFF2-40B4-BE49-F238E27FC236}">
                <a16:creationId xmlns:a16="http://schemas.microsoft.com/office/drawing/2014/main" id="{D729AC3D-6722-071B-F68C-2BC81C16EB1F}"/>
              </a:ext>
            </a:extLst>
          </p:cNvPr>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0</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3" name="Rectangle 50">
            <a:extLst>
              <a:ext uri="{FF2B5EF4-FFF2-40B4-BE49-F238E27FC236}">
                <a16:creationId xmlns:a16="http://schemas.microsoft.com/office/drawing/2014/main" id="{65BB4694-AE05-F905-4886-82CC8BBC1ED1}"/>
              </a:ext>
            </a:extLst>
          </p:cNvPr>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ROB4</a:t>
            </a:r>
          </a:p>
        </p:txBody>
      </p:sp>
      <p:sp>
        <p:nvSpPr>
          <p:cNvPr id="129" name="Rectangle 59">
            <a:extLst>
              <a:ext uri="{FF2B5EF4-FFF2-40B4-BE49-F238E27FC236}">
                <a16:creationId xmlns:a16="http://schemas.microsoft.com/office/drawing/2014/main" id="{56AFC524-AE10-5B4E-664B-9F4F29091FB8}"/>
              </a:ext>
            </a:extLst>
          </p:cNvPr>
          <p:cNvSpPr>
            <a:spLocks noChangeAspect="1" noChangeArrowheads="1"/>
          </p:cNvSpPr>
          <p:nvPr/>
        </p:nvSpPr>
        <p:spPr bwMode="auto">
          <a:xfrm>
            <a:off x="6712123" y="2057237"/>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32" name="Rectangle 15">
            <a:extLst>
              <a:ext uri="{FF2B5EF4-FFF2-40B4-BE49-F238E27FC236}">
                <a16:creationId xmlns:a16="http://schemas.microsoft.com/office/drawing/2014/main" id="{C1542928-5418-3651-6855-D783081DCE76}"/>
              </a:ext>
            </a:extLst>
          </p:cNvPr>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133" name="Rounded Rectangle 132">
            <a:extLst>
              <a:ext uri="{FF2B5EF4-FFF2-40B4-BE49-F238E27FC236}">
                <a16:creationId xmlns:a16="http://schemas.microsoft.com/office/drawing/2014/main" id="{50CC33DE-76FB-8536-3A2C-D23A9A7AE1C3}"/>
              </a:ext>
            </a:extLst>
          </p:cNvPr>
          <p:cNvSpPr/>
          <p:nvPr/>
        </p:nvSpPr>
        <p:spPr bwMode="auto">
          <a:xfrm>
            <a:off x="4017830" y="6191794"/>
            <a:ext cx="893804" cy="287383"/>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124" name="Rectangle 50">
            <a:extLst>
              <a:ext uri="{FF2B5EF4-FFF2-40B4-BE49-F238E27FC236}">
                <a16:creationId xmlns:a16="http://schemas.microsoft.com/office/drawing/2014/main" id="{80832F12-29AB-97E6-D539-C2CE65C567EF}"/>
              </a:ext>
            </a:extLst>
          </p:cNvPr>
          <p:cNvSpPr>
            <a:spLocks noChangeAspect="1" noChangeArrowheads="1"/>
          </p:cNvSpPr>
          <p:nvPr/>
        </p:nvSpPr>
        <p:spPr bwMode="auto">
          <a:xfrm>
            <a:off x="3725516" y="2087717"/>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56</a:t>
            </a:r>
          </a:p>
        </p:txBody>
      </p:sp>
      <p:cxnSp>
        <p:nvCxnSpPr>
          <p:cNvPr id="134" name="Straight Arrow Connector 133">
            <a:extLst>
              <a:ext uri="{FF2B5EF4-FFF2-40B4-BE49-F238E27FC236}">
                <a16:creationId xmlns:a16="http://schemas.microsoft.com/office/drawing/2014/main" id="{ED05D34D-B931-DDAD-391F-25DEB6AC83CD}"/>
              </a:ext>
            </a:extLst>
          </p:cNvPr>
          <p:cNvCxnSpPr/>
          <p:nvPr/>
        </p:nvCxnSpPr>
        <p:spPr bwMode="auto">
          <a:xfrm rot="16200000" flipV="1">
            <a:off x="3833950" y="4265023"/>
            <a:ext cx="248195" cy="1"/>
          </a:xfrm>
          <a:prstGeom prst="straightConnector1">
            <a:avLst/>
          </a:prstGeom>
          <a:solidFill>
            <a:srgbClr val="00B8FF"/>
          </a:solidFill>
          <a:ln w="9525" cap="flat" cmpd="sng" algn="ctr">
            <a:solidFill>
              <a:schemeClr val="tx1"/>
            </a:solidFill>
            <a:prstDash val="solid"/>
            <a:round/>
            <a:headEnd type="none" w="med" len="med"/>
            <a:tailEnd type="arrow"/>
          </a:ln>
          <a:effectLst/>
        </p:spPr>
      </p:cxnSp>
      <p:cxnSp>
        <p:nvCxnSpPr>
          <p:cNvPr id="135" name="Straight Arrow Connector 134">
            <a:extLst>
              <a:ext uri="{FF2B5EF4-FFF2-40B4-BE49-F238E27FC236}">
                <a16:creationId xmlns:a16="http://schemas.microsoft.com/office/drawing/2014/main" id="{15B77C56-A696-A8D7-2E6D-A23E0B266EF5}"/>
              </a:ext>
            </a:extLst>
          </p:cNvPr>
          <p:cNvCxnSpPr/>
          <p:nvPr/>
        </p:nvCxnSpPr>
        <p:spPr bwMode="auto">
          <a:xfrm rot="10800000" flipV="1">
            <a:off x="3944984" y="4376056"/>
            <a:ext cx="2090057" cy="1"/>
          </a:xfrm>
          <a:prstGeom prst="straightConnector1">
            <a:avLst/>
          </a:prstGeom>
          <a:solidFill>
            <a:srgbClr val="00B8FF"/>
          </a:solidFill>
          <a:ln w="9525" cap="flat" cmpd="sng" algn="ctr">
            <a:solidFill>
              <a:schemeClr val="tx1"/>
            </a:solidFill>
            <a:prstDash val="solid"/>
            <a:round/>
            <a:headEnd type="none" w="med" len="med"/>
            <a:tailEnd type="none"/>
          </a:ln>
          <a:effectLst/>
        </p:spPr>
      </p:cxnSp>
      <p:sp>
        <p:nvSpPr>
          <p:cNvPr id="113" name="Rectangle 55">
            <a:extLst>
              <a:ext uri="{FF2B5EF4-FFF2-40B4-BE49-F238E27FC236}">
                <a16:creationId xmlns:a16="http://schemas.microsoft.com/office/drawing/2014/main" id="{679F8CF0-A4DC-8387-F118-56CDD60D6BFE}"/>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119" name="Rectangle 56">
            <a:extLst>
              <a:ext uri="{FF2B5EF4-FFF2-40B4-BE49-F238E27FC236}">
                <a16:creationId xmlns:a16="http://schemas.microsoft.com/office/drawing/2014/main" id="{305FB3A0-3D86-3445-4305-697B7E655511}"/>
              </a:ext>
            </a:extLst>
          </p:cNvPr>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rgbClr val="000000"/>
                </a:solidFill>
                <a:latin typeface="Courier New" pitchFamily="49" charset="0"/>
              </a:rPr>
              <a:t>PC=0x00(DIV R3,R1,R2)</a:t>
            </a:r>
          </a:p>
        </p:txBody>
      </p:sp>
      <p:sp>
        <p:nvSpPr>
          <p:cNvPr id="127" name="Rectangle 56">
            <a:extLst>
              <a:ext uri="{FF2B5EF4-FFF2-40B4-BE49-F238E27FC236}">
                <a16:creationId xmlns:a16="http://schemas.microsoft.com/office/drawing/2014/main" id="{23040E61-2CB9-3228-53E4-CEEC685D00BB}"/>
              </a:ext>
            </a:extLst>
          </p:cNvPr>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30" name="Rectangle 56">
            <a:extLst>
              <a:ext uri="{FF2B5EF4-FFF2-40B4-BE49-F238E27FC236}">
                <a16:creationId xmlns:a16="http://schemas.microsoft.com/office/drawing/2014/main" id="{696D7EB3-7DD4-A3F7-4476-14FAA59962BA}"/>
              </a:ext>
            </a:extLst>
          </p:cNvPr>
          <p:cNvSpPr>
            <a:spLocks noChangeAspect="1" noChangeArrowheads="1"/>
          </p:cNvSpPr>
          <p:nvPr/>
        </p:nvSpPr>
        <p:spPr bwMode="auto">
          <a:xfrm>
            <a:off x="4851123" y="2057238"/>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PC=0x10(DADD R4,R4,R1)</a:t>
            </a:r>
          </a:p>
        </p:txBody>
      </p:sp>
      <p:sp>
        <p:nvSpPr>
          <p:cNvPr id="131" name="Rectangle 56">
            <a:extLst>
              <a:ext uri="{FF2B5EF4-FFF2-40B4-BE49-F238E27FC236}">
                <a16:creationId xmlns:a16="http://schemas.microsoft.com/office/drawing/2014/main" id="{7824968C-2F04-29CC-2C2B-23103C21A627}"/>
              </a:ext>
            </a:extLst>
          </p:cNvPr>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R3,Loop)</a:t>
            </a:r>
          </a:p>
        </p:txBody>
      </p:sp>
      <p:sp>
        <p:nvSpPr>
          <p:cNvPr id="136" name="AutoShape 67">
            <a:extLst>
              <a:ext uri="{FF2B5EF4-FFF2-40B4-BE49-F238E27FC236}">
                <a16:creationId xmlns:a16="http://schemas.microsoft.com/office/drawing/2014/main" id="{1B905396-811A-61F8-9ED4-93E1C924672E}"/>
              </a:ext>
            </a:extLst>
          </p:cNvPr>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ounded Rectangle 5">
            <a:extLst>
              <a:ext uri="{FF2B5EF4-FFF2-40B4-BE49-F238E27FC236}">
                <a16:creationId xmlns:a16="http://schemas.microsoft.com/office/drawing/2014/main" id="{47D14A26-4078-B173-5FF8-6B13078349F1}"/>
              </a:ext>
            </a:extLst>
          </p:cNvPr>
          <p:cNvSpPr/>
          <p:nvPr/>
        </p:nvSpPr>
        <p:spPr bwMode="auto">
          <a:xfrm>
            <a:off x="4185851" y="2834959"/>
            <a:ext cx="427896" cy="269965"/>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7" name="Rounded Rectangle 6">
            <a:extLst>
              <a:ext uri="{FF2B5EF4-FFF2-40B4-BE49-F238E27FC236}">
                <a16:creationId xmlns:a16="http://schemas.microsoft.com/office/drawing/2014/main" id="{0F753323-DA8C-65C8-EE18-F1D76B458E9D}"/>
              </a:ext>
            </a:extLst>
          </p:cNvPr>
          <p:cNvSpPr/>
          <p:nvPr/>
        </p:nvSpPr>
        <p:spPr bwMode="auto">
          <a:xfrm>
            <a:off x="6725866" y="4587078"/>
            <a:ext cx="427896" cy="269965"/>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8" name="Rectangle 56">
            <a:extLst>
              <a:ext uri="{FF2B5EF4-FFF2-40B4-BE49-F238E27FC236}">
                <a16:creationId xmlns:a16="http://schemas.microsoft.com/office/drawing/2014/main" id="{449D8CB0-667B-37B7-70EA-6546DC077C12}"/>
              </a:ext>
            </a:extLst>
          </p:cNvPr>
          <p:cNvSpPr>
            <a:spLocks noChangeAspect="1" noChangeArrowheads="1"/>
          </p:cNvSpPr>
          <p:nvPr/>
        </p:nvSpPr>
        <p:spPr bwMode="auto">
          <a:xfrm>
            <a:off x="3004450" y="4614864"/>
            <a:ext cx="2668578" cy="149542"/>
          </a:xfrm>
          <a:prstGeom prst="rect">
            <a:avLst/>
          </a:prstGeom>
          <a:noFill/>
          <a:ln w="28575">
            <a:noFill/>
            <a:miter lim="800000"/>
            <a:headEnd/>
            <a:tailEnd/>
          </a:ln>
          <a:effectLst/>
        </p:spPr>
        <p:txBody>
          <a:bodyPr wrap="none" anchor="ctr"/>
          <a:lstStyle/>
          <a:p>
            <a:pPr>
              <a:defRPr/>
            </a:pPr>
            <a:r>
              <a:rPr lang="en-US" sz="1200" b="1" dirty="0">
                <a:solidFill>
                  <a:schemeClr val="bg1">
                    <a:lumMod val="75000"/>
                  </a:schemeClr>
                </a:solidFill>
                <a:latin typeface="Courier New" pitchFamily="49" charset="0"/>
              </a:rPr>
              <a:t>1   DIVD       14,  7</a:t>
            </a:r>
          </a:p>
        </p:txBody>
      </p:sp>
      <p:sp>
        <p:nvSpPr>
          <p:cNvPr id="607290" name="Rectangle 58">
            <a:extLst>
              <a:ext uri="{FF2B5EF4-FFF2-40B4-BE49-F238E27FC236}">
                <a16:creationId xmlns:a16="http://schemas.microsoft.com/office/drawing/2014/main" id="{C09FF232-4CE3-BF67-8F21-EE1B9BCFF60B}"/>
              </a:ext>
            </a:extLst>
          </p:cNvPr>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N</a:t>
            </a:r>
          </a:p>
        </p:txBody>
      </p:sp>
      <p:sp>
        <p:nvSpPr>
          <p:cNvPr id="607291" name="Rectangle 59">
            <a:extLst>
              <a:ext uri="{FF2B5EF4-FFF2-40B4-BE49-F238E27FC236}">
                <a16:creationId xmlns:a16="http://schemas.microsoft.com/office/drawing/2014/main" id="{1606B269-BEFF-B1F3-3167-4B66BDCD307E}"/>
              </a:ext>
            </a:extLst>
          </p:cNvPr>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sp>
        <p:nvSpPr>
          <p:cNvPr id="9" name="TextBox 8">
            <a:extLst>
              <a:ext uri="{FF2B5EF4-FFF2-40B4-BE49-F238E27FC236}">
                <a16:creationId xmlns:a16="http://schemas.microsoft.com/office/drawing/2014/main" id="{9A4F820F-9D0D-E5AC-50DF-D83B8EF296AF}"/>
              </a:ext>
            </a:extLst>
          </p:cNvPr>
          <p:cNvSpPr txBox="1"/>
          <p:nvPr/>
        </p:nvSpPr>
        <p:spPr>
          <a:xfrm>
            <a:off x="54754" y="2635794"/>
            <a:ext cx="3304903" cy="934487"/>
          </a:xfrm>
          <a:prstGeom prst="rect">
            <a:avLst/>
          </a:prstGeom>
          <a:noFill/>
        </p:spPr>
        <p:txBody>
          <a:bodyPr wrap="square" rtlCol="0">
            <a:spAutoFit/>
          </a:bodyPr>
          <a:lstStyle/>
          <a:p>
            <a:r>
              <a:rPr lang="en-CA" i="1" dirty="0">
                <a:solidFill>
                  <a:schemeClr val="accent2"/>
                </a:solidFill>
              </a:rPr>
              <a:t>Cycle 105: </a:t>
            </a:r>
          </a:p>
          <a:p>
            <a:r>
              <a:rPr lang="en-CA" dirty="0">
                <a:solidFill>
                  <a:schemeClr val="accent2"/>
                </a:solidFill>
              </a:rPr>
              <a:t>DIVD writes to CDB, ROB, BEQZ updated</a:t>
            </a:r>
          </a:p>
        </p:txBody>
      </p:sp>
    </p:spTree>
    <p:extLst>
      <p:ext uri="{BB962C8B-B14F-4D97-AF65-F5344CB8AC3E}">
        <p14:creationId xmlns:p14="http://schemas.microsoft.com/office/powerpoint/2010/main" val="243093259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p:cNvGrpSpPr>
            <a:grpSpLocks noChangeAspect="1"/>
          </p:cNvGrpSpPr>
          <p:nvPr/>
        </p:nvGrpSpPr>
        <p:grpSpPr bwMode="auto">
          <a:xfrm>
            <a:off x="3015760" y="4593888"/>
            <a:ext cx="2656247" cy="354206"/>
            <a:chOff x="2064" y="2928"/>
            <a:chExt cx="1919" cy="256"/>
          </a:xfrm>
        </p:grpSpPr>
        <p:sp>
          <p:nvSpPr>
            <p:cNvPr id="607237" name="Rectangle 5"/>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p:cNvGrpSpPr>
            <a:grpSpLocks noChangeAspect="1"/>
          </p:cNvGrpSpPr>
          <p:nvPr/>
        </p:nvGrpSpPr>
        <p:grpSpPr bwMode="auto">
          <a:xfrm>
            <a:off x="3668910" y="3464857"/>
            <a:ext cx="1926783" cy="708412"/>
            <a:chOff x="3456" y="1200"/>
            <a:chExt cx="1392" cy="512"/>
          </a:xfrm>
        </p:grpSpPr>
        <p:sp>
          <p:nvSpPr>
            <p:cNvPr id="607257" name="Rectangle 25"/>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dirty="0">
                <a:solidFill>
                  <a:srgbClr val="000000"/>
                </a:solidFill>
                <a:latin typeface="Comic Sans MS" pitchFamily="66" charset="0"/>
              </a:rPr>
              <a:t>ROB7</a:t>
            </a:r>
          </a:p>
          <a:p>
            <a:pPr algn="ctr">
              <a:lnSpc>
                <a:spcPct val="150000"/>
              </a:lnSpc>
            </a:pPr>
            <a:r>
              <a:rPr lang="en-US" sz="1200" b="1" dirty="0">
                <a:solidFill>
                  <a:srgbClr val="000000"/>
                </a:solidFill>
                <a:latin typeface="Comic Sans MS" pitchFamily="66" charset="0"/>
              </a:rPr>
              <a:t>ROB6</a:t>
            </a:r>
          </a:p>
          <a:p>
            <a:pPr algn="ctr">
              <a:lnSpc>
                <a:spcPct val="150000"/>
              </a:lnSpc>
            </a:pPr>
            <a:r>
              <a:rPr lang="en-US" sz="1200" b="1" dirty="0">
                <a:solidFill>
                  <a:srgbClr val="000000"/>
                </a:solidFill>
                <a:latin typeface="Comic Sans MS" pitchFamily="66" charset="0"/>
              </a:rPr>
              <a:t>ROB5</a:t>
            </a:r>
          </a:p>
          <a:p>
            <a:pPr algn="ctr">
              <a:lnSpc>
                <a:spcPct val="150000"/>
              </a:lnSpc>
            </a:pPr>
            <a:r>
              <a:rPr lang="en-US" sz="1200" b="1" dirty="0">
                <a:solidFill>
                  <a:srgbClr val="000000"/>
                </a:solidFill>
                <a:latin typeface="Comic Sans MS" pitchFamily="66" charset="0"/>
              </a:rPr>
              <a:t>ROB4</a:t>
            </a:r>
          </a:p>
          <a:p>
            <a:pPr algn="ctr">
              <a:lnSpc>
                <a:spcPct val="150000"/>
              </a:lnSpc>
            </a:pPr>
            <a:r>
              <a:rPr lang="en-US" sz="1200" b="1" dirty="0">
                <a:solidFill>
                  <a:srgbClr val="000000"/>
                </a:solidFill>
                <a:latin typeface="Comic Sans MS" pitchFamily="66" charset="0"/>
              </a:rPr>
              <a:t>ROB3</a:t>
            </a:r>
          </a:p>
          <a:p>
            <a:pPr algn="ctr">
              <a:lnSpc>
                <a:spcPct val="150000"/>
              </a:lnSpc>
            </a:pPr>
            <a:r>
              <a:rPr lang="en-US" sz="1200" b="1" dirty="0">
                <a:solidFill>
                  <a:srgbClr val="000000"/>
                </a:solidFill>
                <a:latin typeface="Comic Sans MS" pitchFamily="66" charset="0"/>
              </a:rPr>
              <a:t>ROB2</a:t>
            </a:r>
          </a:p>
          <a:p>
            <a:pPr algn="ctr">
              <a:lnSpc>
                <a:spcPct val="150000"/>
              </a:lnSpc>
            </a:pPr>
            <a:r>
              <a:rPr lang="en-US" sz="1200" b="1" dirty="0">
                <a:solidFill>
                  <a:srgbClr val="000000"/>
                </a:solidFill>
                <a:latin typeface="Comic Sans MS" pitchFamily="66" charset="0"/>
              </a:rPr>
              <a:t>ROB1</a:t>
            </a:r>
          </a:p>
        </p:txBody>
      </p:sp>
      <p:grpSp>
        <p:nvGrpSpPr>
          <p:cNvPr id="4" name="Group 31"/>
          <p:cNvGrpSpPr>
            <a:grpSpLocks noChangeAspect="1"/>
          </p:cNvGrpSpPr>
          <p:nvPr/>
        </p:nvGrpSpPr>
        <p:grpSpPr bwMode="auto">
          <a:xfrm>
            <a:off x="3668910" y="1273208"/>
            <a:ext cx="3388480" cy="1062617"/>
            <a:chOff x="2208" y="576"/>
            <a:chExt cx="2448" cy="768"/>
          </a:xfrm>
        </p:grpSpPr>
        <p:sp>
          <p:nvSpPr>
            <p:cNvPr id="607264" name="Rectangle 32"/>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chemeClr val="bg1">
                  <a:lumMod val="75000"/>
                </a:schemeClr>
              </a:solidFill>
              <a:latin typeface="Courier New" pitchFamily="49" charset="0"/>
            </a:endParaRPr>
          </a:p>
        </p:txBody>
      </p:sp>
      <p:sp>
        <p:nvSpPr>
          <p:cNvPr id="607283" name="Rectangle 51"/>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chemeClr val="bg1">
                  <a:lumMod val="75000"/>
                </a:schemeClr>
              </a:solidFill>
              <a:latin typeface="Courier New" pitchFamily="49" charset="0"/>
            </a:endParaRPr>
          </a:p>
        </p:txBody>
      </p:sp>
      <p:sp>
        <p:nvSpPr>
          <p:cNvPr id="607286" name="Rectangle 54"/>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p:cNvSpPr>
            <a:spLocks noChangeAspect="1"/>
          </p:cNvSpPr>
          <p:nvPr/>
        </p:nvSpPr>
        <p:spPr bwMode="auto">
          <a:xfrm>
            <a:off x="7654834" y="2209917"/>
            <a:ext cx="627016"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p:cNvGrpSpPr>
            <a:grpSpLocks noChangeAspect="1"/>
          </p:cNvGrpSpPr>
          <p:nvPr/>
        </p:nvGrpSpPr>
        <p:grpSpPr bwMode="auto">
          <a:xfrm rot="16200000">
            <a:off x="1742290" y="898031"/>
            <a:ext cx="796963" cy="1063052"/>
            <a:chOff x="1872" y="1584"/>
            <a:chExt cx="576" cy="864"/>
          </a:xfrm>
        </p:grpSpPr>
        <p:sp>
          <p:nvSpPr>
            <p:cNvPr id="607303" name="Rectangle 71"/>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a:t>
            </a:fld>
            <a:r>
              <a:rPr lang="en-GB"/>
              <a:t> </a:t>
            </a:r>
          </a:p>
        </p:txBody>
      </p:sp>
      <p:sp>
        <p:nvSpPr>
          <p:cNvPr id="35846" name="Rectangle 50"/>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p:cNvSpPr txBox="1"/>
          <p:nvPr/>
        </p:nvSpPr>
        <p:spPr>
          <a:xfrm>
            <a:off x="102947" y="2601480"/>
            <a:ext cx="3304903" cy="934487"/>
          </a:xfrm>
          <a:prstGeom prst="rect">
            <a:avLst/>
          </a:prstGeom>
          <a:noFill/>
        </p:spPr>
        <p:txBody>
          <a:bodyPr wrap="square" rtlCol="0">
            <a:spAutoFit/>
          </a:bodyPr>
          <a:lstStyle/>
          <a:p>
            <a:r>
              <a:rPr lang="en-CA" i="1" dirty="0">
                <a:solidFill>
                  <a:schemeClr val="accent2"/>
                </a:solidFill>
              </a:rPr>
              <a:t>Cycle 106a:</a:t>
            </a:r>
          </a:p>
          <a:p>
            <a:r>
              <a:rPr lang="en-CA" dirty="0">
                <a:solidFill>
                  <a:schemeClr val="accent2"/>
                </a:solidFill>
              </a:rPr>
              <a:t>Register R3 updated </a:t>
            </a:r>
          </a:p>
          <a:p>
            <a:r>
              <a:rPr lang="en-CA" dirty="0">
                <a:solidFill>
                  <a:schemeClr val="accent2"/>
                </a:solidFill>
              </a:rPr>
              <a:t>(ROB1 released).</a:t>
            </a:r>
          </a:p>
        </p:txBody>
      </p:sp>
      <p:cxnSp>
        <p:nvCxnSpPr>
          <p:cNvPr id="100" name="Straight Connector 99"/>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99" name="Rectangle 59"/>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2" name="Rectangle 59"/>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03" name="Rectangle 50"/>
          <p:cNvSpPr>
            <a:spLocks noChangeAspect="1" noChangeArrowheads="1"/>
          </p:cNvSpPr>
          <p:nvPr/>
        </p:nvSpPr>
        <p:spPr bwMode="auto">
          <a:xfrm>
            <a:off x="3746951" y="2353328"/>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42</a:t>
            </a:r>
          </a:p>
        </p:txBody>
      </p:sp>
      <p:cxnSp>
        <p:nvCxnSpPr>
          <p:cNvPr id="120" name="Straight Connector 119"/>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2" name="Rectangle 50"/>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2</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9" name="Rectangle 59"/>
          <p:cNvSpPr>
            <a:spLocks noChangeAspect="1" noChangeArrowheads="1"/>
          </p:cNvSpPr>
          <p:nvPr/>
        </p:nvSpPr>
        <p:spPr bwMode="auto">
          <a:xfrm>
            <a:off x="6712123" y="2057237"/>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32" name="Rectangle 15"/>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124" name="Rectangle 50"/>
          <p:cNvSpPr>
            <a:spLocks noChangeAspect="1" noChangeArrowheads="1"/>
          </p:cNvSpPr>
          <p:nvPr/>
        </p:nvSpPr>
        <p:spPr bwMode="auto">
          <a:xfrm>
            <a:off x="3755660" y="2087717"/>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56</a:t>
            </a:r>
          </a:p>
        </p:txBody>
      </p:sp>
      <p:sp>
        <p:nvSpPr>
          <p:cNvPr id="113" name="Rectangle 50"/>
          <p:cNvSpPr>
            <a:spLocks noChangeAspect="1" noChangeArrowheads="1"/>
          </p:cNvSpPr>
          <p:nvPr/>
        </p:nvSpPr>
        <p:spPr bwMode="auto">
          <a:xfrm>
            <a:off x="3768704" y="2892660"/>
            <a:ext cx="763754" cy="233118"/>
          </a:xfrm>
          <a:prstGeom prst="rect">
            <a:avLst/>
          </a:prstGeom>
          <a:noFill/>
          <a:ln w="28575">
            <a:noFill/>
            <a:miter lim="800000"/>
            <a:headEnd/>
            <a:tailEnd/>
          </a:ln>
          <a:effectLst/>
        </p:spPr>
        <p:txBody>
          <a:bodyPr wrap="none" anchor="ctr"/>
          <a:lstStyle/>
          <a:p>
            <a:pPr algn="ctr">
              <a:defRPr/>
            </a:pPr>
            <a:r>
              <a:rPr lang="en-US" sz="1400" b="1" dirty="0">
                <a:solidFill>
                  <a:schemeClr val="bg1">
                    <a:lumMod val="75000"/>
                  </a:schemeClr>
                </a:solidFill>
                <a:latin typeface="Courier New" pitchFamily="49" charset="0"/>
              </a:rPr>
              <a:t>R3     2</a:t>
            </a:r>
          </a:p>
        </p:txBody>
      </p:sp>
      <p:sp>
        <p:nvSpPr>
          <p:cNvPr id="133" name="Rectangle 56"/>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100" b="1" dirty="0">
                <a:solidFill>
                  <a:schemeClr val="bg1">
                    <a:lumMod val="75000"/>
                  </a:schemeClr>
                </a:solidFill>
                <a:latin typeface="Courier New" pitchFamily="49" charset="0"/>
              </a:rPr>
              <a:t>PC=0x00(DIV R3,R1,R2)</a:t>
            </a:r>
          </a:p>
        </p:txBody>
      </p:sp>
      <p:sp>
        <p:nvSpPr>
          <p:cNvPr id="135" name="Rectangle 56"/>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36" name="Rectangle 56"/>
          <p:cNvSpPr>
            <a:spLocks noChangeAspect="1" noChangeArrowheads="1"/>
          </p:cNvSpPr>
          <p:nvPr/>
        </p:nvSpPr>
        <p:spPr bwMode="auto">
          <a:xfrm>
            <a:off x="4851123" y="2057238"/>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PC=0x10(DADD R4,R4,R1)</a:t>
            </a:r>
          </a:p>
        </p:txBody>
      </p:sp>
      <p:sp>
        <p:nvSpPr>
          <p:cNvPr id="138" name="Rectangle 56"/>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R3,Loop)</a:t>
            </a:r>
          </a:p>
        </p:txBody>
      </p:sp>
      <p:sp>
        <p:nvSpPr>
          <p:cNvPr id="139" name="AutoShape 67"/>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37B9DFC4-C46D-3688-2031-F6981D036B14}"/>
              </a:ext>
            </a:extLst>
          </p:cNvPr>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chemeClr val="tx1"/>
                </a:solidFill>
                <a:latin typeface="Courier New" pitchFamily="49" charset="0"/>
              </a:rPr>
              <a:t>BEQZ  2,Loop</a:t>
            </a:r>
          </a:p>
        </p:txBody>
      </p:sp>
      <p:sp>
        <p:nvSpPr>
          <p:cNvPr id="7" name="Rounded Rectangle 6">
            <a:extLst>
              <a:ext uri="{FF2B5EF4-FFF2-40B4-BE49-F238E27FC236}">
                <a16:creationId xmlns:a16="http://schemas.microsoft.com/office/drawing/2014/main" id="{1A7DD32F-946F-3A92-E42C-D184BD4F343C}"/>
              </a:ext>
            </a:extLst>
          </p:cNvPr>
          <p:cNvSpPr/>
          <p:nvPr/>
        </p:nvSpPr>
        <p:spPr bwMode="auto">
          <a:xfrm>
            <a:off x="4697487" y="3586515"/>
            <a:ext cx="427896" cy="269965"/>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
        <p:nvSpPr>
          <p:cNvPr id="607291" name="Rectangle 59"/>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chemeClr val="bg1">
                    <a:lumMod val="75000"/>
                  </a:schemeClr>
                </a:solidFill>
                <a:latin typeface="Courier New" pitchFamily="49" charset="0"/>
              </a:rPr>
              <a:t>Y</a:t>
            </a:r>
          </a:p>
        </p:txBody>
      </p:sp>
      <p:sp>
        <p:nvSpPr>
          <p:cNvPr id="8" name="Rectangle 50">
            <a:extLst>
              <a:ext uri="{FF2B5EF4-FFF2-40B4-BE49-F238E27FC236}">
                <a16:creationId xmlns:a16="http://schemas.microsoft.com/office/drawing/2014/main" id="{6A1A1B51-BF41-FECE-2835-6379D0856008}"/>
              </a:ext>
            </a:extLst>
          </p:cNvPr>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ROB4</a:t>
            </a:r>
          </a:p>
        </p:txBody>
      </p:sp>
      <p:sp>
        <p:nvSpPr>
          <p:cNvPr id="9" name="Rectangle 50">
            <a:extLst>
              <a:ext uri="{FF2B5EF4-FFF2-40B4-BE49-F238E27FC236}">
                <a16:creationId xmlns:a16="http://schemas.microsoft.com/office/drawing/2014/main" id="{E0B0B2C2-D962-439F-2BC2-B5407680AA00}"/>
              </a:ext>
            </a:extLst>
          </p:cNvPr>
          <p:cNvSpPr>
            <a:spLocks noChangeAspect="1" noChangeArrowheads="1"/>
          </p:cNvSpPr>
          <p:nvPr/>
        </p:nvSpPr>
        <p:spPr bwMode="auto">
          <a:xfrm>
            <a:off x="3795184" y="3620426"/>
            <a:ext cx="332204" cy="265654"/>
          </a:xfrm>
          <a:prstGeom prst="rect">
            <a:avLst/>
          </a:prstGeom>
          <a:noFill/>
          <a:ln w="28575">
            <a:no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ROB1</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54839-39C2-C540-0B77-17A087FA3D3A}"/>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C86765A4-96EE-84DD-8ABA-9CCEBACCCF52}"/>
              </a:ext>
            </a:extLst>
          </p:cNvPr>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a:extLst>
              <a:ext uri="{FF2B5EF4-FFF2-40B4-BE49-F238E27FC236}">
                <a16:creationId xmlns:a16="http://schemas.microsoft.com/office/drawing/2014/main" id="{F45AB4C1-EEF1-7A8B-881B-DD0A8ADE1011}"/>
              </a:ext>
            </a:extLst>
          </p:cNvPr>
          <p:cNvGrpSpPr>
            <a:grpSpLocks noChangeAspect="1"/>
          </p:cNvGrpSpPr>
          <p:nvPr/>
        </p:nvGrpSpPr>
        <p:grpSpPr bwMode="auto">
          <a:xfrm>
            <a:off x="3015760" y="4593888"/>
            <a:ext cx="2656247" cy="354206"/>
            <a:chOff x="2064" y="2928"/>
            <a:chExt cx="1919" cy="256"/>
          </a:xfrm>
        </p:grpSpPr>
        <p:sp>
          <p:nvSpPr>
            <p:cNvPr id="607237" name="Rectangle 5">
              <a:extLst>
                <a:ext uri="{FF2B5EF4-FFF2-40B4-BE49-F238E27FC236}">
                  <a16:creationId xmlns:a16="http://schemas.microsoft.com/office/drawing/2014/main" id="{FE5E9E9C-7432-1E4C-D973-99B7BCF0581D}"/>
                </a:ext>
              </a:extLst>
            </p:cNvPr>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a:extLst>
                <a:ext uri="{FF2B5EF4-FFF2-40B4-BE49-F238E27FC236}">
                  <a16:creationId xmlns:a16="http://schemas.microsoft.com/office/drawing/2014/main" id="{2F09D2E9-D6F1-DADC-82C9-E901A39B3FB9}"/>
                </a:ext>
              </a:extLst>
            </p:cNvPr>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a:extLst>
                <a:ext uri="{FF2B5EF4-FFF2-40B4-BE49-F238E27FC236}">
                  <a16:creationId xmlns:a16="http://schemas.microsoft.com/office/drawing/2014/main" id="{67C625FE-51E7-AF04-39B2-4786AD691A52}"/>
                </a:ext>
              </a:extLst>
            </p:cNvPr>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a:extLst>
              <a:ext uri="{FF2B5EF4-FFF2-40B4-BE49-F238E27FC236}">
                <a16:creationId xmlns:a16="http://schemas.microsoft.com/office/drawing/2014/main" id="{BCF74733-DF1E-1DC3-FFA2-2A2A3D8F0FFF}"/>
              </a:ext>
            </a:extLst>
          </p:cNvPr>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a:extLst>
              <a:ext uri="{FF2B5EF4-FFF2-40B4-BE49-F238E27FC236}">
                <a16:creationId xmlns:a16="http://schemas.microsoft.com/office/drawing/2014/main" id="{CC4EBFE8-4695-B8D0-D6C7-BD00DDC3042E}"/>
              </a:ext>
            </a:extLst>
          </p:cNvPr>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a:extLst>
              <a:ext uri="{FF2B5EF4-FFF2-40B4-BE49-F238E27FC236}">
                <a16:creationId xmlns:a16="http://schemas.microsoft.com/office/drawing/2014/main" id="{C263802C-A2F3-CE61-4B42-2F072576A3B7}"/>
              </a:ext>
            </a:extLst>
          </p:cNvPr>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a:extLst>
              <a:ext uri="{FF2B5EF4-FFF2-40B4-BE49-F238E27FC236}">
                <a16:creationId xmlns:a16="http://schemas.microsoft.com/office/drawing/2014/main" id="{E3BD996E-228E-1416-B1C2-D62A2591BCB6}"/>
              </a:ext>
            </a:extLst>
          </p:cNvPr>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a:extLst>
              <a:ext uri="{FF2B5EF4-FFF2-40B4-BE49-F238E27FC236}">
                <a16:creationId xmlns:a16="http://schemas.microsoft.com/office/drawing/2014/main" id="{56910785-7909-FE95-1708-3DFB6457607F}"/>
              </a:ext>
            </a:extLst>
          </p:cNvPr>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a:extLst>
              <a:ext uri="{FF2B5EF4-FFF2-40B4-BE49-F238E27FC236}">
                <a16:creationId xmlns:a16="http://schemas.microsoft.com/office/drawing/2014/main" id="{55FF6C71-CF7E-9D80-F5BB-D60E526B0487}"/>
              </a:ext>
            </a:extLst>
          </p:cNvPr>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a:extLst>
              <a:ext uri="{FF2B5EF4-FFF2-40B4-BE49-F238E27FC236}">
                <a16:creationId xmlns:a16="http://schemas.microsoft.com/office/drawing/2014/main" id="{859185A7-6844-82E4-02DB-2EF05B58F0C8}"/>
              </a:ext>
            </a:extLst>
          </p:cNvPr>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a:extLst>
              <a:ext uri="{FF2B5EF4-FFF2-40B4-BE49-F238E27FC236}">
                <a16:creationId xmlns:a16="http://schemas.microsoft.com/office/drawing/2014/main" id="{E92AC06B-00FA-6F68-B97B-FFF93F074B4D}"/>
              </a:ext>
            </a:extLst>
          </p:cNvPr>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a:extLst>
              <a:ext uri="{FF2B5EF4-FFF2-40B4-BE49-F238E27FC236}">
                <a16:creationId xmlns:a16="http://schemas.microsoft.com/office/drawing/2014/main" id="{FD8F53DD-9722-5FE7-CF82-8E80F03AF574}"/>
              </a:ext>
            </a:extLst>
          </p:cNvPr>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a:extLst>
              <a:ext uri="{FF2B5EF4-FFF2-40B4-BE49-F238E27FC236}">
                <a16:creationId xmlns:a16="http://schemas.microsoft.com/office/drawing/2014/main" id="{CCB934B9-61E8-6823-F551-037BABFEAA7A}"/>
              </a:ext>
            </a:extLst>
          </p:cNvPr>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a:extLst>
              <a:ext uri="{FF2B5EF4-FFF2-40B4-BE49-F238E27FC236}">
                <a16:creationId xmlns:a16="http://schemas.microsoft.com/office/drawing/2014/main" id="{3E23E18D-23BC-1C6A-F046-06E80D6E397B}"/>
              </a:ext>
            </a:extLst>
          </p:cNvPr>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a:extLst>
              <a:ext uri="{FF2B5EF4-FFF2-40B4-BE49-F238E27FC236}">
                <a16:creationId xmlns:a16="http://schemas.microsoft.com/office/drawing/2014/main" id="{26F870E1-3904-CA51-4F5A-4EEAFEC456C6}"/>
              </a:ext>
            </a:extLst>
          </p:cNvPr>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a:extLst>
              <a:ext uri="{FF2B5EF4-FFF2-40B4-BE49-F238E27FC236}">
                <a16:creationId xmlns:a16="http://schemas.microsoft.com/office/drawing/2014/main" id="{3F1DECF2-8DF7-BA6B-ABAA-75EAB1AD396B}"/>
              </a:ext>
            </a:extLst>
          </p:cNvPr>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a:extLst>
              <a:ext uri="{FF2B5EF4-FFF2-40B4-BE49-F238E27FC236}">
                <a16:creationId xmlns:a16="http://schemas.microsoft.com/office/drawing/2014/main" id="{515CEA6E-F1B0-CAA9-83F5-D52EA4AA4F84}"/>
              </a:ext>
            </a:extLst>
          </p:cNvPr>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a:extLst>
              <a:ext uri="{FF2B5EF4-FFF2-40B4-BE49-F238E27FC236}">
                <a16:creationId xmlns:a16="http://schemas.microsoft.com/office/drawing/2014/main" id="{3A6B7832-6A3E-EE7F-3097-14DCE1FE7320}"/>
              </a:ext>
            </a:extLst>
          </p:cNvPr>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a:extLst>
              <a:ext uri="{FF2B5EF4-FFF2-40B4-BE49-F238E27FC236}">
                <a16:creationId xmlns:a16="http://schemas.microsoft.com/office/drawing/2014/main" id="{C31A06E2-A2DA-2765-B071-DC2BBBBEB36D}"/>
              </a:ext>
            </a:extLst>
          </p:cNvPr>
          <p:cNvGrpSpPr>
            <a:grpSpLocks noChangeAspect="1"/>
          </p:cNvGrpSpPr>
          <p:nvPr/>
        </p:nvGrpSpPr>
        <p:grpSpPr bwMode="auto">
          <a:xfrm>
            <a:off x="3668910" y="3464857"/>
            <a:ext cx="1926783" cy="708412"/>
            <a:chOff x="3456" y="1200"/>
            <a:chExt cx="1392" cy="512"/>
          </a:xfrm>
        </p:grpSpPr>
        <p:sp>
          <p:nvSpPr>
            <p:cNvPr id="607257" name="Rectangle 25">
              <a:extLst>
                <a:ext uri="{FF2B5EF4-FFF2-40B4-BE49-F238E27FC236}">
                  <a16:creationId xmlns:a16="http://schemas.microsoft.com/office/drawing/2014/main" id="{7D39B0EA-7A79-ED65-B82E-601DA04B9CF0}"/>
                </a:ext>
              </a:extLst>
            </p:cNvPr>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a:extLst>
                <a:ext uri="{FF2B5EF4-FFF2-40B4-BE49-F238E27FC236}">
                  <a16:creationId xmlns:a16="http://schemas.microsoft.com/office/drawing/2014/main" id="{3C6FA82C-675D-69C0-4389-CA6FD68B7A55}"/>
                </a:ext>
              </a:extLst>
            </p:cNvPr>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a:extLst>
                <a:ext uri="{FF2B5EF4-FFF2-40B4-BE49-F238E27FC236}">
                  <a16:creationId xmlns:a16="http://schemas.microsoft.com/office/drawing/2014/main" id="{29CF3180-EC67-0C57-5ECE-2357D851EF0C}"/>
                </a:ext>
              </a:extLst>
            </p:cNvPr>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a:extLst>
                <a:ext uri="{FF2B5EF4-FFF2-40B4-BE49-F238E27FC236}">
                  <a16:creationId xmlns:a16="http://schemas.microsoft.com/office/drawing/2014/main" id="{2396AA66-7071-A3E3-821A-E9A2FB6DD6A0}"/>
                </a:ext>
              </a:extLst>
            </p:cNvPr>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a:extLst>
              <a:ext uri="{FF2B5EF4-FFF2-40B4-BE49-F238E27FC236}">
                <a16:creationId xmlns:a16="http://schemas.microsoft.com/office/drawing/2014/main" id="{EA8CF80A-3E73-65DB-8F34-FBFC0A94C03D}"/>
              </a:ext>
            </a:extLst>
          </p:cNvPr>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dirty="0">
                <a:solidFill>
                  <a:srgbClr val="000000"/>
                </a:solidFill>
                <a:latin typeface="Comic Sans MS" pitchFamily="66" charset="0"/>
              </a:rPr>
              <a:t>ROB7</a:t>
            </a:r>
          </a:p>
          <a:p>
            <a:pPr algn="ctr">
              <a:lnSpc>
                <a:spcPct val="150000"/>
              </a:lnSpc>
            </a:pPr>
            <a:r>
              <a:rPr lang="en-US" sz="1200" b="1" dirty="0">
                <a:solidFill>
                  <a:srgbClr val="000000"/>
                </a:solidFill>
                <a:latin typeface="Comic Sans MS" pitchFamily="66" charset="0"/>
              </a:rPr>
              <a:t>ROB6</a:t>
            </a:r>
          </a:p>
          <a:p>
            <a:pPr algn="ctr">
              <a:lnSpc>
                <a:spcPct val="150000"/>
              </a:lnSpc>
            </a:pPr>
            <a:r>
              <a:rPr lang="en-US" sz="1200" b="1" dirty="0">
                <a:solidFill>
                  <a:srgbClr val="000000"/>
                </a:solidFill>
                <a:latin typeface="Comic Sans MS" pitchFamily="66" charset="0"/>
              </a:rPr>
              <a:t>ROB5</a:t>
            </a:r>
          </a:p>
          <a:p>
            <a:pPr algn="ctr">
              <a:lnSpc>
                <a:spcPct val="150000"/>
              </a:lnSpc>
            </a:pPr>
            <a:r>
              <a:rPr lang="en-US" sz="1200" b="1" dirty="0">
                <a:solidFill>
                  <a:srgbClr val="000000"/>
                </a:solidFill>
                <a:latin typeface="Comic Sans MS" pitchFamily="66" charset="0"/>
              </a:rPr>
              <a:t>ROB4</a:t>
            </a:r>
          </a:p>
          <a:p>
            <a:pPr algn="ctr">
              <a:lnSpc>
                <a:spcPct val="150000"/>
              </a:lnSpc>
            </a:pPr>
            <a:r>
              <a:rPr lang="en-US" sz="1200" b="1" dirty="0">
                <a:solidFill>
                  <a:srgbClr val="000000"/>
                </a:solidFill>
                <a:latin typeface="Comic Sans MS" pitchFamily="66" charset="0"/>
              </a:rPr>
              <a:t>ROB3</a:t>
            </a:r>
          </a:p>
          <a:p>
            <a:pPr algn="ctr">
              <a:lnSpc>
                <a:spcPct val="150000"/>
              </a:lnSpc>
            </a:pPr>
            <a:r>
              <a:rPr lang="en-US" sz="1200" b="1" dirty="0">
                <a:solidFill>
                  <a:srgbClr val="000000"/>
                </a:solidFill>
                <a:latin typeface="Comic Sans MS" pitchFamily="66" charset="0"/>
              </a:rPr>
              <a:t>ROB2</a:t>
            </a:r>
          </a:p>
          <a:p>
            <a:pPr algn="ctr">
              <a:lnSpc>
                <a:spcPct val="150000"/>
              </a:lnSpc>
            </a:pPr>
            <a:r>
              <a:rPr lang="en-US" sz="1200" b="1" dirty="0">
                <a:solidFill>
                  <a:srgbClr val="000000"/>
                </a:solidFill>
                <a:latin typeface="Comic Sans MS" pitchFamily="66" charset="0"/>
              </a:rPr>
              <a:t>ROB1</a:t>
            </a:r>
          </a:p>
        </p:txBody>
      </p:sp>
      <p:grpSp>
        <p:nvGrpSpPr>
          <p:cNvPr id="4" name="Group 31">
            <a:extLst>
              <a:ext uri="{FF2B5EF4-FFF2-40B4-BE49-F238E27FC236}">
                <a16:creationId xmlns:a16="http://schemas.microsoft.com/office/drawing/2014/main" id="{5D762C97-E500-5022-E2F4-949A699DDCCC}"/>
              </a:ext>
            </a:extLst>
          </p:cNvPr>
          <p:cNvGrpSpPr>
            <a:grpSpLocks noChangeAspect="1"/>
          </p:cNvGrpSpPr>
          <p:nvPr/>
        </p:nvGrpSpPr>
        <p:grpSpPr bwMode="auto">
          <a:xfrm>
            <a:off x="3668910" y="1273208"/>
            <a:ext cx="3388480" cy="1062617"/>
            <a:chOff x="2208" y="576"/>
            <a:chExt cx="2448" cy="768"/>
          </a:xfrm>
        </p:grpSpPr>
        <p:sp>
          <p:nvSpPr>
            <p:cNvPr id="607264" name="Rectangle 32">
              <a:extLst>
                <a:ext uri="{FF2B5EF4-FFF2-40B4-BE49-F238E27FC236}">
                  <a16:creationId xmlns:a16="http://schemas.microsoft.com/office/drawing/2014/main" id="{F43349E1-703B-3B07-9A83-45BC14D41BA7}"/>
                </a:ext>
              </a:extLst>
            </p:cNvPr>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a:extLst>
                <a:ext uri="{FF2B5EF4-FFF2-40B4-BE49-F238E27FC236}">
                  <a16:creationId xmlns:a16="http://schemas.microsoft.com/office/drawing/2014/main" id="{E9B9B79D-5685-58FF-B668-64AA58717D02}"/>
                </a:ext>
              </a:extLst>
            </p:cNvPr>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a:extLst>
                <a:ext uri="{FF2B5EF4-FFF2-40B4-BE49-F238E27FC236}">
                  <a16:creationId xmlns:a16="http://schemas.microsoft.com/office/drawing/2014/main" id="{A6E730C6-E947-9528-8185-3ED0ABDBCDD4}"/>
                </a:ext>
              </a:extLst>
            </p:cNvPr>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a:extLst>
                <a:ext uri="{FF2B5EF4-FFF2-40B4-BE49-F238E27FC236}">
                  <a16:creationId xmlns:a16="http://schemas.microsoft.com/office/drawing/2014/main" id="{E8557373-DBEC-DC62-AEF7-8CC1242B7A6C}"/>
                </a:ext>
              </a:extLst>
            </p:cNvPr>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a:extLst>
                <a:ext uri="{FF2B5EF4-FFF2-40B4-BE49-F238E27FC236}">
                  <a16:creationId xmlns:a16="http://schemas.microsoft.com/office/drawing/2014/main" id="{9BCC7928-A0D0-8322-519A-40E31DC44269}"/>
                </a:ext>
              </a:extLst>
            </p:cNvPr>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a:extLst>
                <a:ext uri="{FF2B5EF4-FFF2-40B4-BE49-F238E27FC236}">
                  <a16:creationId xmlns:a16="http://schemas.microsoft.com/office/drawing/2014/main" id="{66389148-6A4A-FF4D-6B63-465405C706A1}"/>
                </a:ext>
              </a:extLst>
            </p:cNvPr>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a:extLst>
                <a:ext uri="{FF2B5EF4-FFF2-40B4-BE49-F238E27FC236}">
                  <a16:creationId xmlns:a16="http://schemas.microsoft.com/office/drawing/2014/main" id="{7EBEF3F4-5359-A5B0-D464-D212B5E84C3F}"/>
                </a:ext>
              </a:extLst>
            </p:cNvPr>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a:extLst>
                <a:ext uri="{FF2B5EF4-FFF2-40B4-BE49-F238E27FC236}">
                  <a16:creationId xmlns:a16="http://schemas.microsoft.com/office/drawing/2014/main" id="{AE405AA1-DEAF-6B35-5E3F-3F4D39D1FAF6}"/>
                </a:ext>
              </a:extLst>
            </p:cNvPr>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a:extLst>
                <a:ext uri="{FF2B5EF4-FFF2-40B4-BE49-F238E27FC236}">
                  <a16:creationId xmlns:a16="http://schemas.microsoft.com/office/drawing/2014/main" id="{0CC420C5-CA0F-21A9-9F01-300315795710}"/>
                </a:ext>
              </a:extLst>
            </p:cNvPr>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a:extLst>
                <a:ext uri="{FF2B5EF4-FFF2-40B4-BE49-F238E27FC236}">
                  <a16:creationId xmlns:a16="http://schemas.microsoft.com/office/drawing/2014/main" id="{59A7EFDC-F160-B28C-59DB-1DD491246B5E}"/>
                </a:ext>
              </a:extLst>
            </p:cNvPr>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a:extLst>
                <a:ext uri="{FF2B5EF4-FFF2-40B4-BE49-F238E27FC236}">
                  <a16:creationId xmlns:a16="http://schemas.microsoft.com/office/drawing/2014/main" id="{C9FD520E-D1A4-8E79-B660-244E5E4412CB}"/>
                </a:ext>
              </a:extLst>
            </p:cNvPr>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a:extLst>
                <a:ext uri="{FF2B5EF4-FFF2-40B4-BE49-F238E27FC236}">
                  <a16:creationId xmlns:a16="http://schemas.microsoft.com/office/drawing/2014/main" id="{B72D9531-3AA6-7D7A-6E81-B7D0729C2596}"/>
                </a:ext>
              </a:extLst>
            </p:cNvPr>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a:extLst>
                <a:ext uri="{FF2B5EF4-FFF2-40B4-BE49-F238E27FC236}">
                  <a16:creationId xmlns:a16="http://schemas.microsoft.com/office/drawing/2014/main" id="{C3609E8D-2D45-92F2-0C9F-3BE355682E53}"/>
                </a:ext>
              </a:extLst>
            </p:cNvPr>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a:extLst>
                <a:ext uri="{FF2B5EF4-FFF2-40B4-BE49-F238E27FC236}">
                  <a16:creationId xmlns:a16="http://schemas.microsoft.com/office/drawing/2014/main" id="{0A12524E-9436-87A8-3163-BB1D2A1848E8}"/>
                </a:ext>
              </a:extLst>
            </p:cNvPr>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a:extLst>
                <a:ext uri="{FF2B5EF4-FFF2-40B4-BE49-F238E27FC236}">
                  <a16:creationId xmlns:a16="http://schemas.microsoft.com/office/drawing/2014/main" id="{654CD0D0-ED0F-3833-E3D9-4325C2B0AF14}"/>
                </a:ext>
              </a:extLst>
            </p:cNvPr>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a:extLst>
                <a:ext uri="{FF2B5EF4-FFF2-40B4-BE49-F238E27FC236}">
                  <a16:creationId xmlns:a16="http://schemas.microsoft.com/office/drawing/2014/main" id="{28441A48-D4F6-4036-9166-496315C7BD25}"/>
                </a:ext>
              </a:extLst>
            </p:cNvPr>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a:extLst>
              <a:ext uri="{FF2B5EF4-FFF2-40B4-BE49-F238E27FC236}">
                <a16:creationId xmlns:a16="http://schemas.microsoft.com/office/drawing/2014/main" id="{315CF399-66EB-F949-CDC0-E1C7C5A4004D}"/>
              </a:ext>
            </a:extLst>
          </p:cNvPr>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a:extLst>
              <a:ext uri="{FF2B5EF4-FFF2-40B4-BE49-F238E27FC236}">
                <a16:creationId xmlns:a16="http://schemas.microsoft.com/office/drawing/2014/main" id="{674EBCB5-951E-EE39-C573-0B65C0001646}"/>
              </a:ext>
            </a:extLst>
          </p:cNvPr>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a:extLst>
              <a:ext uri="{FF2B5EF4-FFF2-40B4-BE49-F238E27FC236}">
                <a16:creationId xmlns:a16="http://schemas.microsoft.com/office/drawing/2014/main" id="{669C864E-8607-8BFF-086D-454011C67F54}"/>
              </a:ext>
            </a:extLst>
          </p:cNvPr>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chemeClr val="bg1">
                  <a:lumMod val="75000"/>
                </a:schemeClr>
              </a:solidFill>
              <a:latin typeface="Courier New" pitchFamily="49" charset="0"/>
            </a:endParaRPr>
          </a:p>
        </p:txBody>
      </p:sp>
      <p:sp>
        <p:nvSpPr>
          <p:cNvPr id="607283" name="Rectangle 51">
            <a:extLst>
              <a:ext uri="{FF2B5EF4-FFF2-40B4-BE49-F238E27FC236}">
                <a16:creationId xmlns:a16="http://schemas.microsoft.com/office/drawing/2014/main" id="{8E69FA16-5CD5-E567-6682-6F8DF02DEB45}"/>
              </a:ext>
            </a:extLst>
          </p:cNvPr>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a:extLst>
              <a:ext uri="{FF2B5EF4-FFF2-40B4-BE49-F238E27FC236}">
                <a16:creationId xmlns:a16="http://schemas.microsoft.com/office/drawing/2014/main" id="{9A54542E-D057-9B54-C15D-5156339FF474}"/>
              </a:ext>
            </a:extLst>
          </p:cNvPr>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a:extLst>
              <a:ext uri="{FF2B5EF4-FFF2-40B4-BE49-F238E27FC236}">
                <a16:creationId xmlns:a16="http://schemas.microsoft.com/office/drawing/2014/main" id="{0094DDC1-D65E-9FE0-47DE-7DF6FDDD9D37}"/>
              </a:ext>
            </a:extLst>
          </p:cNvPr>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chemeClr val="bg1">
                  <a:lumMod val="75000"/>
                </a:schemeClr>
              </a:solidFill>
              <a:latin typeface="Courier New" pitchFamily="49" charset="0"/>
            </a:endParaRPr>
          </a:p>
        </p:txBody>
      </p:sp>
      <p:sp>
        <p:nvSpPr>
          <p:cNvPr id="607286" name="Rectangle 54">
            <a:extLst>
              <a:ext uri="{FF2B5EF4-FFF2-40B4-BE49-F238E27FC236}">
                <a16:creationId xmlns:a16="http://schemas.microsoft.com/office/drawing/2014/main" id="{CEECD608-2A1F-1E11-3E76-003690C70BB9}"/>
              </a:ext>
            </a:extLst>
          </p:cNvPr>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a:extLst>
              <a:ext uri="{FF2B5EF4-FFF2-40B4-BE49-F238E27FC236}">
                <a16:creationId xmlns:a16="http://schemas.microsoft.com/office/drawing/2014/main" id="{F51213A7-FA9F-2D74-9BF9-59C28FF53889}"/>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a:extLst>
              <a:ext uri="{FF2B5EF4-FFF2-40B4-BE49-F238E27FC236}">
                <a16:creationId xmlns:a16="http://schemas.microsoft.com/office/drawing/2014/main" id="{C890BEDD-0584-6214-621C-024E872C4B05}"/>
              </a:ext>
            </a:extLst>
          </p:cNvPr>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a:extLst>
              <a:ext uri="{FF2B5EF4-FFF2-40B4-BE49-F238E27FC236}">
                <a16:creationId xmlns:a16="http://schemas.microsoft.com/office/drawing/2014/main" id="{621793C0-F0A5-2DCC-5B93-7A2B89B5FBC8}"/>
              </a:ext>
            </a:extLst>
          </p:cNvPr>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a:extLst>
              <a:ext uri="{FF2B5EF4-FFF2-40B4-BE49-F238E27FC236}">
                <a16:creationId xmlns:a16="http://schemas.microsoft.com/office/drawing/2014/main" id="{6427B7B1-871D-19F7-3DA6-1C4E64A9BDE5}"/>
              </a:ext>
            </a:extLst>
          </p:cNvPr>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a:extLst>
              <a:ext uri="{FF2B5EF4-FFF2-40B4-BE49-F238E27FC236}">
                <a16:creationId xmlns:a16="http://schemas.microsoft.com/office/drawing/2014/main" id="{478EC795-B839-ED98-5CF9-064652EC4432}"/>
              </a:ext>
            </a:extLst>
          </p:cNvPr>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a:extLst>
              <a:ext uri="{FF2B5EF4-FFF2-40B4-BE49-F238E27FC236}">
                <a16:creationId xmlns:a16="http://schemas.microsoft.com/office/drawing/2014/main" id="{076C90AA-FEF5-6DE0-90EE-8654C6CC2FC1}"/>
              </a:ext>
            </a:extLst>
          </p:cNvPr>
          <p:cNvSpPr>
            <a:spLocks noChangeAspect="1"/>
          </p:cNvSpPr>
          <p:nvPr/>
        </p:nvSpPr>
        <p:spPr bwMode="auto">
          <a:xfrm>
            <a:off x="7654834" y="2209917"/>
            <a:ext cx="627016"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a:extLst>
              <a:ext uri="{FF2B5EF4-FFF2-40B4-BE49-F238E27FC236}">
                <a16:creationId xmlns:a16="http://schemas.microsoft.com/office/drawing/2014/main" id="{E3F3B09F-2507-91A3-291B-A0EF317BEFE3}"/>
              </a:ext>
            </a:extLst>
          </p:cNvPr>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a:extLst>
              <a:ext uri="{FF2B5EF4-FFF2-40B4-BE49-F238E27FC236}">
                <a16:creationId xmlns:a16="http://schemas.microsoft.com/office/drawing/2014/main" id="{6D5DE6FF-62F8-F24C-47FA-3163A88B4950}"/>
              </a:ext>
            </a:extLst>
          </p:cNvPr>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a:extLst>
              <a:ext uri="{FF2B5EF4-FFF2-40B4-BE49-F238E27FC236}">
                <a16:creationId xmlns:a16="http://schemas.microsoft.com/office/drawing/2014/main" id="{9056791A-B8ED-4FCE-9419-A56A7738F967}"/>
              </a:ext>
            </a:extLst>
          </p:cNvPr>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a:extLst>
              <a:ext uri="{FF2B5EF4-FFF2-40B4-BE49-F238E27FC236}">
                <a16:creationId xmlns:a16="http://schemas.microsoft.com/office/drawing/2014/main" id="{CF6C96A2-E50A-0C5C-8A08-CBF4B7164757}"/>
              </a:ext>
            </a:extLst>
          </p:cNvPr>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a:extLst>
              <a:ext uri="{FF2B5EF4-FFF2-40B4-BE49-F238E27FC236}">
                <a16:creationId xmlns:a16="http://schemas.microsoft.com/office/drawing/2014/main" id="{D2DB593A-E5ED-528B-051E-80720833F242}"/>
              </a:ext>
            </a:extLst>
          </p:cNvPr>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a:extLst>
              <a:ext uri="{FF2B5EF4-FFF2-40B4-BE49-F238E27FC236}">
                <a16:creationId xmlns:a16="http://schemas.microsoft.com/office/drawing/2014/main" id="{75648B1A-23CB-62A1-9D07-2FDA2E3DE5F0}"/>
              </a:ext>
            </a:extLst>
          </p:cNvPr>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a:extLst>
              <a:ext uri="{FF2B5EF4-FFF2-40B4-BE49-F238E27FC236}">
                <a16:creationId xmlns:a16="http://schemas.microsoft.com/office/drawing/2014/main" id="{977926BA-B808-A966-52E0-74BB67E7320A}"/>
              </a:ext>
            </a:extLst>
          </p:cNvPr>
          <p:cNvGrpSpPr>
            <a:grpSpLocks noChangeAspect="1"/>
          </p:cNvGrpSpPr>
          <p:nvPr/>
        </p:nvGrpSpPr>
        <p:grpSpPr bwMode="auto">
          <a:xfrm rot="16200000">
            <a:off x="1742290" y="898031"/>
            <a:ext cx="796963" cy="1063052"/>
            <a:chOff x="1872" y="1584"/>
            <a:chExt cx="576" cy="864"/>
          </a:xfrm>
        </p:grpSpPr>
        <p:sp>
          <p:nvSpPr>
            <p:cNvPr id="607303" name="Rectangle 71">
              <a:extLst>
                <a:ext uri="{FF2B5EF4-FFF2-40B4-BE49-F238E27FC236}">
                  <a16:creationId xmlns:a16="http://schemas.microsoft.com/office/drawing/2014/main" id="{F33A939E-D415-66FD-9276-9A0F68B6E44E}"/>
                </a:ext>
              </a:extLst>
            </p:cNvPr>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a:extLst>
                <a:ext uri="{FF2B5EF4-FFF2-40B4-BE49-F238E27FC236}">
                  <a16:creationId xmlns:a16="http://schemas.microsoft.com/office/drawing/2014/main" id="{9E65912A-D77D-D973-DBF9-A9BF23133744}"/>
                </a:ext>
              </a:extLst>
            </p:cNvPr>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a:extLst>
                <a:ext uri="{FF2B5EF4-FFF2-40B4-BE49-F238E27FC236}">
                  <a16:creationId xmlns:a16="http://schemas.microsoft.com/office/drawing/2014/main" id="{C7A0EBBB-12E0-ABBD-9450-436B476CDEEE}"/>
                </a:ext>
              </a:extLst>
            </p:cNvPr>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a:extLst>
                <a:ext uri="{FF2B5EF4-FFF2-40B4-BE49-F238E27FC236}">
                  <a16:creationId xmlns:a16="http://schemas.microsoft.com/office/drawing/2014/main" id="{0D8B0F70-D50C-70A7-A9C6-754B9B9C909A}"/>
                </a:ext>
              </a:extLst>
            </p:cNvPr>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a:extLst>
                <a:ext uri="{FF2B5EF4-FFF2-40B4-BE49-F238E27FC236}">
                  <a16:creationId xmlns:a16="http://schemas.microsoft.com/office/drawing/2014/main" id="{4FCED917-1B48-FBD9-995D-C7DFA676F9CA}"/>
                </a:ext>
              </a:extLst>
            </p:cNvPr>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a:extLst>
                <a:ext uri="{FF2B5EF4-FFF2-40B4-BE49-F238E27FC236}">
                  <a16:creationId xmlns:a16="http://schemas.microsoft.com/office/drawing/2014/main" id="{F470AEBC-B27B-0C57-6B38-146DFCB7D86D}"/>
                </a:ext>
              </a:extLst>
            </p:cNvPr>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a:extLst>
              <a:ext uri="{FF2B5EF4-FFF2-40B4-BE49-F238E27FC236}">
                <a16:creationId xmlns:a16="http://schemas.microsoft.com/office/drawing/2014/main" id="{B23BE5DA-F142-9B9B-D2FF-90F42754ADB2}"/>
              </a:ext>
            </a:extLst>
          </p:cNvPr>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a:extLst>
              <a:ext uri="{FF2B5EF4-FFF2-40B4-BE49-F238E27FC236}">
                <a16:creationId xmlns:a16="http://schemas.microsoft.com/office/drawing/2014/main" id="{A4BC2CDD-4FCE-60FE-0917-D095597C6750}"/>
              </a:ext>
            </a:extLst>
          </p:cNvPr>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a:extLst>
              <a:ext uri="{FF2B5EF4-FFF2-40B4-BE49-F238E27FC236}">
                <a16:creationId xmlns:a16="http://schemas.microsoft.com/office/drawing/2014/main" id="{B658BCDD-FA94-47ED-8AC3-E32BE0D347F9}"/>
              </a:ext>
            </a:extLst>
          </p:cNvPr>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20</a:t>
            </a:fld>
            <a:r>
              <a:rPr lang="en-GB"/>
              <a:t> </a:t>
            </a:r>
          </a:p>
        </p:txBody>
      </p:sp>
      <p:sp>
        <p:nvSpPr>
          <p:cNvPr id="35846" name="Rectangle 50">
            <a:extLst>
              <a:ext uri="{FF2B5EF4-FFF2-40B4-BE49-F238E27FC236}">
                <a16:creationId xmlns:a16="http://schemas.microsoft.com/office/drawing/2014/main" id="{23397AE2-6F36-1E44-E770-17884B2A8B71}"/>
              </a:ext>
            </a:extLst>
          </p:cNvPr>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a:extLst>
              <a:ext uri="{FF2B5EF4-FFF2-40B4-BE49-F238E27FC236}">
                <a16:creationId xmlns:a16="http://schemas.microsoft.com/office/drawing/2014/main" id="{B922592C-AACE-1AB1-720F-5920A0B76710}"/>
              </a:ext>
            </a:extLst>
          </p:cNvPr>
          <p:cNvSpPr txBox="1"/>
          <p:nvPr/>
        </p:nvSpPr>
        <p:spPr>
          <a:xfrm>
            <a:off x="0" y="2544461"/>
            <a:ext cx="3304903" cy="1215204"/>
          </a:xfrm>
          <a:prstGeom prst="rect">
            <a:avLst/>
          </a:prstGeom>
          <a:noFill/>
        </p:spPr>
        <p:txBody>
          <a:bodyPr wrap="square" rtlCol="0">
            <a:spAutoFit/>
          </a:bodyPr>
          <a:lstStyle/>
          <a:p>
            <a:r>
              <a:rPr lang="en-CA" dirty="0">
                <a:solidFill>
                  <a:schemeClr val="accent2"/>
                </a:solidFill>
              </a:rPr>
              <a:t>Cycle 106b:</a:t>
            </a:r>
          </a:p>
          <a:p>
            <a:r>
              <a:rPr lang="en-CA" dirty="0">
                <a:solidFill>
                  <a:schemeClr val="accent2"/>
                </a:solidFill>
              </a:rPr>
              <a:t>BEQZ executes, detects misprediction,</a:t>
            </a:r>
          </a:p>
          <a:p>
            <a:r>
              <a:rPr lang="en-CA" dirty="0">
                <a:solidFill>
                  <a:schemeClr val="accent2"/>
                </a:solidFill>
              </a:rPr>
              <a:t>starts flush of ROB</a:t>
            </a:r>
          </a:p>
        </p:txBody>
      </p:sp>
      <p:cxnSp>
        <p:nvCxnSpPr>
          <p:cNvPr id="100" name="Straight Connector 99">
            <a:extLst>
              <a:ext uri="{FF2B5EF4-FFF2-40B4-BE49-F238E27FC236}">
                <a16:creationId xmlns:a16="http://schemas.microsoft.com/office/drawing/2014/main" id="{9EB51E9B-C507-F565-F23A-BE44396310DE}"/>
              </a:ext>
            </a:extLst>
          </p:cNvPr>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a:extLst>
              <a:ext uri="{FF2B5EF4-FFF2-40B4-BE49-F238E27FC236}">
                <a16:creationId xmlns:a16="http://schemas.microsoft.com/office/drawing/2014/main" id="{FC1B3AB0-6080-06E2-858B-AC4CFB08B590}"/>
              </a:ext>
            </a:extLst>
          </p:cNvPr>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a:extLst>
              <a:ext uri="{FF2B5EF4-FFF2-40B4-BE49-F238E27FC236}">
                <a16:creationId xmlns:a16="http://schemas.microsoft.com/office/drawing/2014/main" id="{6C3763FE-2E23-A972-91EF-A776E0E84849}"/>
              </a:ext>
            </a:extLst>
          </p:cNvPr>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a:extLst>
              <a:ext uri="{FF2B5EF4-FFF2-40B4-BE49-F238E27FC236}">
                <a16:creationId xmlns:a16="http://schemas.microsoft.com/office/drawing/2014/main" id="{95938DFC-5B90-0E4F-6B24-0431A0B1F4CB}"/>
              </a:ext>
            </a:extLst>
          </p:cNvPr>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a:extLst>
              <a:ext uri="{FF2B5EF4-FFF2-40B4-BE49-F238E27FC236}">
                <a16:creationId xmlns:a16="http://schemas.microsoft.com/office/drawing/2014/main" id="{D470BC50-6E5C-89EE-A3B4-D8AD52E44E2D}"/>
              </a:ext>
            </a:extLst>
          </p:cNvPr>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a:extLst>
              <a:ext uri="{FF2B5EF4-FFF2-40B4-BE49-F238E27FC236}">
                <a16:creationId xmlns:a16="http://schemas.microsoft.com/office/drawing/2014/main" id="{0A35D457-FEEC-C061-7451-5B62B3B8A74A}"/>
              </a:ext>
            </a:extLst>
          </p:cNvPr>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a:extLst>
              <a:ext uri="{FF2B5EF4-FFF2-40B4-BE49-F238E27FC236}">
                <a16:creationId xmlns:a16="http://schemas.microsoft.com/office/drawing/2014/main" id="{69001CE7-8726-9F6F-E150-9C80501BA91A}"/>
              </a:ext>
            </a:extLst>
          </p:cNvPr>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a:extLst>
              <a:ext uri="{FF2B5EF4-FFF2-40B4-BE49-F238E27FC236}">
                <a16:creationId xmlns:a16="http://schemas.microsoft.com/office/drawing/2014/main" id="{F6387AF5-D3F0-EF3F-068A-70CDF6F35331}"/>
              </a:ext>
            </a:extLst>
          </p:cNvPr>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a:extLst>
              <a:ext uri="{FF2B5EF4-FFF2-40B4-BE49-F238E27FC236}">
                <a16:creationId xmlns:a16="http://schemas.microsoft.com/office/drawing/2014/main" id="{41D33CCF-DEEA-7BED-E4FF-724C31A3C363}"/>
              </a:ext>
            </a:extLst>
          </p:cNvPr>
          <p:cNvCxnSpPr>
            <a:stCxn id="109" idx="1"/>
          </p:cNvCxnSpPr>
          <p:nvPr/>
        </p:nvCxnSpPr>
        <p:spPr bwMode="auto">
          <a:xfrm rot="10800000">
            <a:off x="6008917" y="5617032"/>
            <a:ext cx="658389" cy="7895"/>
          </a:xfrm>
          <a:prstGeom prst="straightConnector1">
            <a:avLst/>
          </a:prstGeom>
          <a:solidFill>
            <a:srgbClr val="00B8FF"/>
          </a:solidFill>
          <a:ln w="31750" cap="flat" cmpd="sng" algn="ctr">
            <a:solidFill>
              <a:srgbClr val="FF0000"/>
            </a:solidFill>
            <a:prstDash val="solid"/>
            <a:round/>
            <a:headEnd type="none" w="med" len="med"/>
            <a:tailEnd type="none"/>
          </a:ln>
          <a:effectLst/>
        </p:spPr>
      </p:cxnSp>
      <p:cxnSp>
        <p:nvCxnSpPr>
          <p:cNvPr id="126" name="Straight Arrow Connector 125">
            <a:extLst>
              <a:ext uri="{FF2B5EF4-FFF2-40B4-BE49-F238E27FC236}">
                <a16:creationId xmlns:a16="http://schemas.microsoft.com/office/drawing/2014/main" id="{A037738A-871C-19C7-E870-21D571C3944B}"/>
              </a:ext>
            </a:extLst>
          </p:cNvPr>
          <p:cNvCxnSpPr/>
          <p:nvPr/>
        </p:nvCxnSpPr>
        <p:spPr bwMode="auto">
          <a:xfrm rot="5400000" flipH="1" flipV="1">
            <a:off x="4806337" y="4389120"/>
            <a:ext cx="2430486" cy="794"/>
          </a:xfrm>
          <a:prstGeom prst="straightConnector1">
            <a:avLst/>
          </a:prstGeom>
          <a:solidFill>
            <a:srgbClr val="00B8FF"/>
          </a:solidFill>
          <a:ln w="31750" cap="flat" cmpd="sng" algn="ctr">
            <a:solidFill>
              <a:srgbClr val="FF0000"/>
            </a:solidFill>
            <a:prstDash val="solid"/>
            <a:round/>
            <a:headEnd type="none" w="med" len="med"/>
            <a:tailEnd type="arrow"/>
          </a:ln>
          <a:effectLst/>
        </p:spPr>
      </p:cxnSp>
      <p:sp>
        <p:nvSpPr>
          <p:cNvPr id="99" name="Rectangle 59">
            <a:extLst>
              <a:ext uri="{FF2B5EF4-FFF2-40B4-BE49-F238E27FC236}">
                <a16:creationId xmlns:a16="http://schemas.microsoft.com/office/drawing/2014/main" id="{6CB08CF2-8F75-38E9-3446-949A9BDDFACB}"/>
              </a:ext>
            </a:extLst>
          </p:cNvPr>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a:extLst>
              <a:ext uri="{FF2B5EF4-FFF2-40B4-BE49-F238E27FC236}">
                <a16:creationId xmlns:a16="http://schemas.microsoft.com/office/drawing/2014/main" id="{E9C2B908-FEA4-04A5-9485-3C713E12C07F}"/>
              </a:ext>
            </a:extLst>
          </p:cNvPr>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2" name="Rectangle 59">
            <a:extLst>
              <a:ext uri="{FF2B5EF4-FFF2-40B4-BE49-F238E27FC236}">
                <a16:creationId xmlns:a16="http://schemas.microsoft.com/office/drawing/2014/main" id="{A126AAC2-ABF3-26C9-73A4-B3E50E7BA0FF}"/>
              </a:ext>
            </a:extLst>
          </p:cNvPr>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03" name="Rectangle 50">
            <a:extLst>
              <a:ext uri="{FF2B5EF4-FFF2-40B4-BE49-F238E27FC236}">
                <a16:creationId xmlns:a16="http://schemas.microsoft.com/office/drawing/2014/main" id="{BA80E352-9AA2-0700-B81E-747CC4E7831E}"/>
              </a:ext>
            </a:extLst>
          </p:cNvPr>
          <p:cNvSpPr>
            <a:spLocks noChangeAspect="1" noChangeArrowheads="1"/>
          </p:cNvSpPr>
          <p:nvPr/>
        </p:nvSpPr>
        <p:spPr bwMode="auto">
          <a:xfrm>
            <a:off x="3746951" y="2353328"/>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42</a:t>
            </a:r>
          </a:p>
        </p:txBody>
      </p:sp>
      <p:cxnSp>
        <p:nvCxnSpPr>
          <p:cNvPr id="120" name="Straight Connector 119">
            <a:extLst>
              <a:ext uri="{FF2B5EF4-FFF2-40B4-BE49-F238E27FC236}">
                <a16:creationId xmlns:a16="http://schemas.microsoft.com/office/drawing/2014/main" id="{609037F0-581D-B408-E9DC-30B024C1ABE9}"/>
              </a:ext>
            </a:extLst>
          </p:cNvPr>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2" name="Rectangle 50">
            <a:extLst>
              <a:ext uri="{FF2B5EF4-FFF2-40B4-BE49-F238E27FC236}">
                <a16:creationId xmlns:a16="http://schemas.microsoft.com/office/drawing/2014/main" id="{D2CEDFB4-9E7B-A10D-960C-566F53778584}"/>
              </a:ext>
            </a:extLst>
          </p:cNvPr>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2</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9" name="Rectangle 59">
            <a:extLst>
              <a:ext uri="{FF2B5EF4-FFF2-40B4-BE49-F238E27FC236}">
                <a16:creationId xmlns:a16="http://schemas.microsoft.com/office/drawing/2014/main" id="{523BF610-A635-EBB5-5F65-14B15F7E3F2F}"/>
              </a:ext>
            </a:extLst>
          </p:cNvPr>
          <p:cNvSpPr>
            <a:spLocks noChangeAspect="1" noChangeArrowheads="1"/>
          </p:cNvSpPr>
          <p:nvPr/>
        </p:nvSpPr>
        <p:spPr bwMode="auto">
          <a:xfrm>
            <a:off x="6712123" y="2057237"/>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Y</a:t>
            </a:r>
          </a:p>
        </p:txBody>
      </p:sp>
      <p:sp>
        <p:nvSpPr>
          <p:cNvPr id="132" name="Rectangle 15">
            <a:extLst>
              <a:ext uri="{FF2B5EF4-FFF2-40B4-BE49-F238E27FC236}">
                <a16:creationId xmlns:a16="http://schemas.microsoft.com/office/drawing/2014/main" id="{32F18283-E9D0-F106-4BE0-1A19035DD354}"/>
              </a:ext>
            </a:extLst>
          </p:cNvPr>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124" name="Rectangle 50">
            <a:extLst>
              <a:ext uri="{FF2B5EF4-FFF2-40B4-BE49-F238E27FC236}">
                <a16:creationId xmlns:a16="http://schemas.microsoft.com/office/drawing/2014/main" id="{4744F25F-5F68-A27A-5115-F7AD71FAAB72}"/>
              </a:ext>
            </a:extLst>
          </p:cNvPr>
          <p:cNvSpPr>
            <a:spLocks noChangeAspect="1" noChangeArrowheads="1"/>
          </p:cNvSpPr>
          <p:nvPr/>
        </p:nvSpPr>
        <p:spPr bwMode="auto">
          <a:xfrm>
            <a:off x="3755660" y="2087717"/>
            <a:ext cx="763754" cy="233118"/>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R4    56</a:t>
            </a:r>
          </a:p>
        </p:txBody>
      </p:sp>
      <p:sp>
        <p:nvSpPr>
          <p:cNvPr id="113" name="Rectangle 50">
            <a:extLst>
              <a:ext uri="{FF2B5EF4-FFF2-40B4-BE49-F238E27FC236}">
                <a16:creationId xmlns:a16="http://schemas.microsoft.com/office/drawing/2014/main" id="{55997A80-BFCF-1696-1D43-0D73F6C729C0}"/>
              </a:ext>
            </a:extLst>
          </p:cNvPr>
          <p:cNvSpPr>
            <a:spLocks noChangeAspect="1" noChangeArrowheads="1"/>
          </p:cNvSpPr>
          <p:nvPr/>
        </p:nvSpPr>
        <p:spPr bwMode="auto">
          <a:xfrm>
            <a:off x="3768704" y="2892660"/>
            <a:ext cx="763754" cy="233118"/>
          </a:xfrm>
          <a:prstGeom prst="rect">
            <a:avLst/>
          </a:prstGeom>
          <a:noFill/>
          <a:ln w="28575">
            <a:noFill/>
            <a:miter lim="800000"/>
            <a:headEnd/>
            <a:tailEnd/>
          </a:ln>
          <a:effectLst/>
        </p:spPr>
        <p:txBody>
          <a:bodyPr wrap="none" anchor="ctr"/>
          <a:lstStyle/>
          <a:p>
            <a:pPr algn="ctr">
              <a:defRPr/>
            </a:pPr>
            <a:r>
              <a:rPr lang="en-US" sz="1400" b="1" dirty="0">
                <a:solidFill>
                  <a:schemeClr val="bg1">
                    <a:lumMod val="75000"/>
                  </a:schemeClr>
                </a:solidFill>
                <a:latin typeface="Courier New" pitchFamily="49" charset="0"/>
              </a:rPr>
              <a:t>     </a:t>
            </a:r>
          </a:p>
        </p:txBody>
      </p:sp>
      <p:sp>
        <p:nvSpPr>
          <p:cNvPr id="119" name="TextBox 118">
            <a:extLst>
              <a:ext uri="{FF2B5EF4-FFF2-40B4-BE49-F238E27FC236}">
                <a16:creationId xmlns:a16="http://schemas.microsoft.com/office/drawing/2014/main" id="{F3482973-8B83-28B8-296A-AFE5678205EE}"/>
              </a:ext>
            </a:extLst>
          </p:cNvPr>
          <p:cNvSpPr txBox="1"/>
          <p:nvPr/>
        </p:nvSpPr>
        <p:spPr>
          <a:xfrm>
            <a:off x="6074229" y="3657600"/>
            <a:ext cx="835485" cy="373051"/>
          </a:xfrm>
          <a:prstGeom prst="rect">
            <a:avLst/>
          </a:prstGeom>
          <a:noFill/>
        </p:spPr>
        <p:txBody>
          <a:bodyPr wrap="none" rtlCol="0">
            <a:spAutoFit/>
          </a:bodyPr>
          <a:lstStyle/>
          <a:p>
            <a:r>
              <a:rPr lang="en-CA" dirty="0">
                <a:solidFill>
                  <a:srgbClr val="FF0000"/>
                </a:solidFill>
              </a:rPr>
              <a:t>flush</a:t>
            </a:r>
          </a:p>
        </p:txBody>
      </p:sp>
      <p:cxnSp>
        <p:nvCxnSpPr>
          <p:cNvPr id="137" name="Straight Arrow Connector 136">
            <a:extLst>
              <a:ext uri="{FF2B5EF4-FFF2-40B4-BE49-F238E27FC236}">
                <a16:creationId xmlns:a16="http://schemas.microsoft.com/office/drawing/2014/main" id="{4929941C-856B-2375-4048-88760EC8D6CC}"/>
              </a:ext>
            </a:extLst>
          </p:cNvPr>
          <p:cNvCxnSpPr/>
          <p:nvPr/>
        </p:nvCxnSpPr>
        <p:spPr bwMode="auto">
          <a:xfrm rot="16200000" flipV="1">
            <a:off x="3833950" y="4265023"/>
            <a:ext cx="248195" cy="1"/>
          </a:xfrm>
          <a:prstGeom prst="straightConnector1">
            <a:avLst/>
          </a:prstGeom>
          <a:solidFill>
            <a:srgbClr val="00B8FF"/>
          </a:solidFill>
          <a:ln w="31750" cap="flat" cmpd="sng" algn="ctr">
            <a:solidFill>
              <a:srgbClr val="FF0000"/>
            </a:solidFill>
            <a:prstDash val="solid"/>
            <a:round/>
            <a:headEnd type="none" w="med" len="med"/>
            <a:tailEnd type="arrow"/>
          </a:ln>
          <a:effectLst/>
        </p:spPr>
      </p:cxnSp>
      <p:cxnSp>
        <p:nvCxnSpPr>
          <p:cNvPr id="140" name="Straight Arrow Connector 139">
            <a:extLst>
              <a:ext uri="{FF2B5EF4-FFF2-40B4-BE49-F238E27FC236}">
                <a16:creationId xmlns:a16="http://schemas.microsoft.com/office/drawing/2014/main" id="{E7D82077-2FE8-090F-66B4-2F0573748FA2}"/>
              </a:ext>
            </a:extLst>
          </p:cNvPr>
          <p:cNvCxnSpPr/>
          <p:nvPr/>
        </p:nvCxnSpPr>
        <p:spPr bwMode="auto">
          <a:xfrm rot="10800000" flipV="1">
            <a:off x="3944984" y="4376056"/>
            <a:ext cx="2090057" cy="1"/>
          </a:xfrm>
          <a:prstGeom prst="straightConnector1">
            <a:avLst/>
          </a:prstGeom>
          <a:solidFill>
            <a:srgbClr val="00B8FF"/>
          </a:solidFill>
          <a:ln w="31750" cap="flat" cmpd="sng" algn="ctr">
            <a:solidFill>
              <a:srgbClr val="FF0000"/>
            </a:solidFill>
            <a:prstDash val="solid"/>
            <a:round/>
            <a:headEnd type="none" w="med" len="med"/>
            <a:tailEnd type="none"/>
          </a:ln>
          <a:effectLst/>
        </p:spPr>
      </p:cxnSp>
      <p:sp>
        <p:nvSpPr>
          <p:cNvPr id="133" name="Rectangle 56">
            <a:extLst>
              <a:ext uri="{FF2B5EF4-FFF2-40B4-BE49-F238E27FC236}">
                <a16:creationId xmlns:a16="http://schemas.microsoft.com/office/drawing/2014/main" id="{462A1644-C21E-2B0B-63BC-D1DFA260EE0D}"/>
              </a:ext>
            </a:extLst>
          </p:cNvPr>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100" b="1" dirty="0">
              <a:solidFill>
                <a:schemeClr val="bg1">
                  <a:lumMod val="75000"/>
                </a:schemeClr>
              </a:solidFill>
              <a:latin typeface="Courier New" pitchFamily="49" charset="0"/>
            </a:endParaRPr>
          </a:p>
        </p:txBody>
      </p:sp>
      <p:sp>
        <p:nvSpPr>
          <p:cNvPr id="135" name="Rectangle 56">
            <a:extLst>
              <a:ext uri="{FF2B5EF4-FFF2-40B4-BE49-F238E27FC236}">
                <a16:creationId xmlns:a16="http://schemas.microsoft.com/office/drawing/2014/main" id="{659CAB3D-2207-2A11-4291-C92C568669C0}"/>
              </a:ext>
            </a:extLst>
          </p:cNvPr>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PC=0x0C(DMUL R4,R4,R2)</a:t>
            </a:r>
          </a:p>
        </p:txBody>
      </p:sp>
      <p:sp>
        <p:nvSpPr>
          <p:cNvPr id="136" name="Rectangle 56">
            <a:extLst>
              <a:ext uri="{FF2B5EF4-FFF2-40B4-BE49-F238E27FC236}">
                <a16:creationId xmlns:a16="http://schemas.microsoft.com/office/drawing/2014/main" id="{42C7E6E0-E3D9-E4D3-1B33-8D00F0B8BB91}"/>
              </a:ext>
            </a:extLst>
          </p:cNvPr>
          <p:cNvSpPr>
            <a:spLocks noChangeAspect="1" noChangeArrowheads="1"/>
          </p:cNvSpPr>
          <p:nvPr/>
        </p:nvSpPr>
        <p:spPr bwMode="auto">
          <a:xfrm>
            <a:off x="4851123" y="2057238"/>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PC=0x10(DADD R4,R4,R1)</a:t>
            </a:r>
          </a:p>
        </p:txBody>
      </p:sp>
      <p:sp>
        <p:nvSpPr>
          <p:cNvPr id="138" name="Rectangle 56">
            <a:extLst>
              <a:ext uri="{FF2B5EF4-FFF2-40B4-BE49-F238E27FC236}">
                <a16:creationId xmlns:a16="http://schemas.microsoft.com/office/drawing/2014/main" id="{0AC00EC2-60BF-DC30-4028-877682CC7CD1}"/>
              </a:ext>
            </a:extLst>
          </p:cNvPr>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R3,Loop)</a:t>
            </a:r>
          </a:p>
        </p:txBody>
      </p:sp>
      <p:sp>
        <p:nvSpPr>
          <p:cNvPr id="139" name="AutoShape 67">
            <a:extLst>
              <a:ext uri="{FF2B5EF4-FFF2-40B4-BE49-F238E27FC236}">
                <a16:creationId xmlns:a16="http://schemas.microsoft.com/office/drawing/2014/main" id="{FA8A92CC-E76D-C8A5-2DAB-77075117120F}"/>
              </a:ext>
            </a:extLst>
          </p:cNvPr>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C583B4D2-401E-A3A4-30DC-190F79865440}"/>
              </a:ext>
            </a:extLst>
          </p:cNvPr>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chemeClr val="bg1">
                    <a:lumMod val="75000"/>
                  </a:schemeClr>
                </a:solidFill>
                <a:latin typeface="Courier New" pitchFamily="49" charset="0"/>
              </a:rPr>
              <a:t>BEQZ  2,Loop</a:t>
            </a:r>
          </a:p>
        </p:txBody>
      </p:sp>
      <p:sp>
        <p:nvSpPr>
          <p:cNvPr id="607291" name="Rectangle 59">
            <a:extLst>
              <a:ext uri="{FF2B5EF4-FFF2-40B4-BE49-F238E27FC236}">
                <a16:creationId xmlns:a16="http://schemas.microsoft.com/office/drawing/2014/main" id="{30DBF667-0160-9A94-1F8B-AC306C3BD1E0}"/>
              </a:ext>
            </a:extLst>
          </p:cNvPr>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chemeClr val="bg1">
                  <a:lumMod val="75000"/>
                </a:schemeClr>
              </a:solidFill>
              <a:latin typeface="Courier New" pitchFamily="49" charset="0"/>
            </a:endParaRPr>
          </a:p>
        </p:txBody>
      </p:sp>
      <p:sp>
        <p:nvSpPr>
          <p:cNvPr id="15" name="Rectangle 50">
            <a:extLst>
              <a:ext uri="{FF2B5EF4-FFF2-40B4-BE49-F238E27FC236}">
                <a16:creationId xmlns:a16="http://schemas.microsoft.com/office/drawing/2014/main" id="{6E1856CB-39FB-FDFD-9374-030C35F05EDD}"/>
              </a:ext>
            </a:extLst>
          </p:cNvPr>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ROB4</a:t>
            </a:r>
          </a:p>
        </p:txBody>
      </p:sp>
    </p:spTree>
    <p:extLst>
      <p:ext uri="{BB962C8B-B14F-4D97-AF65-F5344CB8AC3E}">
        <p14:creationId xmlns:p14="http://schemas.microsoft.com/office/powerpoint/2010/main" val="279259462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80428-0A31-497E-7AE6-0E1DEC0EB995}"/>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ADF4EF71-294D-7280-DECE-7EFC0A2E772D}"/>
              </a:ext>
            </a:extLst>
          </p:cNvPr>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a:extLst>
              <a:ext uri="{FF2B5EF4-FFF2-40B4-BE49-F238E27FC236}">
                <a16:creationId xmlns:a16="http://schemas.microsoft.com/office/drawing/2014/main" id="{F37389BD-0F78-AA0A-06A4-F4B8C96B52E9}"/>
              </a:ext>
            </a:extLst>
          </p:cNvPr>
          <p:cNvGrpSpPr>
            <a:grpSpLocks noChangeAspect="1"/>
          </p:cNvGrpSpPr>
          <p:nvPr/>
        </p:nvGrpSpPr>
        <p:grpSpPr bwMode="auto">
          <a:xfrm>
            <a:off x="3015760" y="4593888"/>
            <a:ext cx="2656247" cy="354206"/>
            <a:chOff x="2064" y="2928"/>
            <a:chExt cx="1919" cy="256"/>
          </a:xfrm>
        </p:grpSpPr>
        <p:sp>
          <p:nvSpPr>
            <p:cNvPr id="607237" name="Rectangle 5">
              <a:extLst>
                <a:ext uri="{FF2B5EF4-FFF2-40B4-BE49-F238E27FC236}">
                  <a16:creationId xmlns:a16="http://schemas.microsoft.com/office/drawing/2014/main" id="{5F58BA12-7733-5A46-8AF8-0FF669B82E2A}"/>
                </a:ext>
              </a:extLst>
            </p:cNvPr>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a:extLst>
                <a:ext uri="{FF2B5EF4-FFF2-40B4-BE49-F238E27FC236}">
                  <a16:creationId xmlns:a16="http://schemas.microsoft.com/office/drawing/2014/main" id="{A8E9DE24-7967-1DC4-EA2B-B7700CD50070}"/>
                </a:ext>
              </a:extLst>
            </p:cNvPr>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a:extLst>
                <a:ext uri="{FF2B5EF4-FFF2-40B4-BE49-F238E27FC236}">
                  <a16:creationId xmlns:a16="http://schemas.microsoft.com/office/drawing/2014/main" id="{39CD8078-67D4-3D7D-3F24-59C45A9DC9DB}"/>
                </a:ext>
              </a:extLst>
            </p:cNvPr>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a:extLst>
              <a:ext uri="{FF2B5EF4-FFF2-40B4-BE49-F238E27FC236}">
                <a16:creationId xmlns:a16="http://schemas.microsoft.com/office/drawing/2014/main" id="{42ECDA49-298A-D417-D262-31011705F82E}"/>
              </a:ext>
            </a:extLst>
          </p:cNvPr>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a:extLst>
              <a:ext uri="{FF2B5EF4-FFF2-40B4-BE49-F238E27FC236}">
                <a16:creationId xmlns:a16="http://schemas.microsoft.com/office/drawing/2014/main" id="{17D0986A-1551-A304-2395-74D531B7A376}"/>
              </a:ext>
            </a:extLst>
          </p:cNvPr>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a:extLst>
              <a:ext uri="{FF2B5EF4-FFF2-40B4-BE49-F238E27FC236}">
                <a16:creationId xmlns:a16="http://schemas.microsoft.com/office/drawing/2014/main" id="{8250977B-7B91-946C-3D5D-B8B3321C4424}"/>
              </a:ext>
            </a:extLst>
          </p:cNvPr>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a:extLst>
              <a:ext uri="{FF2B5EF4-FFF2-40B4-BE49-F238E27FC236}">
                <a16:creationId xmlns:a16="http://schemas.microsoft.com/office/drawing/2014/main" id="{67E6AB5D-DEB9-DF4E-E8F6-ED6B82903A44}"/>
              </a:ext>
            </a:extLst>
          </p:cNvPr>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a:extLst>
              <a:ext uri="{FF2B5EF4-FFF2-40B4-BE49-F238E27FC236}">
                <a16:creationId xmlns:a16="http://schemas.microsoft.com/office/drawing/2014/main" id="{76E181C2-71EF-52BE-38C7-620B4EF1E710}"/>
              </a:ext>
            </a:extLst>
          </p:cNvPr>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a:extLst>
              <a:ext uri="{FF2B5EF4-FFF2-40B4-BE49-F238E27FC236}">
                <a16:creationId xmlns:a16="http://schemas.microsoft.com/office/drawing/2014/main" id="{1C81AC21-3E0B-82AF-DE0F-307B7D74D1C3}"/>
              </a:ext>
            </a:extLst>
          </p:cNvPr>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a:extLst>
              <a:ext uri="{FF2B5EF4-FFF2-40B4-BE49-F238E27FC236}">
                <a16:creationId xmlns:a16="http://schemas.microsoft.com/office/drawing/2014/main" id="{325E29BE-0822-58B9-4A71-055CB0AF9231}"/>
              </a:ext>
            </a:extLst>
          </p:cNvPr>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a:extLst>
              <a:ext uri="{FF2B5EF4-FFF2-40B4-BE49-F238E27FC236}">
                <a16:creationId xmlns:a16="http://schemas.microsoft.com/office/drawing/2014/main" id="{2988EC71-1AD8-1B56-4E58-58DD4C8B29E9}"/>
              </a:ext>
            </a:extLst>
          </p:cNvPr>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a:extLst>
              <a:ext uri="{FF2B5EF4-FFF2-40B4-BE49-F238E27FC236}">
                <a16:creationId xmlns:a16="http://schemas.microsoft.com/office/drawing/2014/main" id="{7E75AD83-B19F-4CB0-B3CF-53B06C54B005}"/>
              </a:ext>
            </a:extLst>
          </p:cNvPr>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a:extLst>
              <a:ext uri="{FF2B5EF4-FFF2-40B4-BE49-F238E27FC236}">
                <a16:creationId xmlns:a16="http://schemas.microsoft.com/office/drawing/2014/main" id="{35930829-54C9-E9AF-786A-8536F236594F}"/>
              </a:ext>
            </a:extLst>
          </p:cNvPr>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a:extLst>
              <a:ext uri="{FF2B5EF4-FFF2-40B4-BE49-F238E27FC236}">
                <a16:creationId xmlns:a16="http://schemas.microsoft.com/office/drawing/2014/main" id="{D1DF96B2-71FB-2537-0953-C43A43B330DD}"/>
              </a:ext>
            </a:extLst>
          </p:cNvPr>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a:extLst>
              <a:ext uri="{FF2B5EF4-FFF2-40B4-BE49-F238E27FC236}">
                <a16:creationId xmlns:a16="http://schemas.microsoft.com/office/drawing/2014/main" id="{5596BBC6-D3A2-4766-BD4A-7983C591138F}"/>
              </a:ext>
            </a:extLst>
          </p:cNvPr>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a:extLst>
              <a:ext uri="{FF2B5EF4-FFF2-40B4-BE49-F238E27FC236}">
                <a16:creationId xmlns:a16="http://schemas.microsoft.com/office/drawing/2014/main" id="{FACAA83C-D4FD-F521-82F0-C423C3B0791E}"/>
              </a:ext>
            </a:extLst>
          </p:cNvPr>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a:extLst>
              <a:ext uri="{FF2B5EF4-FFF2-40B4-BE49-F238E27FC236}">
                <a16:creationId xmlns:a16="http://schemas.microsoft.com/office/drawing/2014/main" id="{B5686149-9751-467F-A920-7814449C31DE}"/>
              </a:ext>
            </a:extLst>
          </p:cNvPr>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a:extLst>
              <a:ext uri="{FF2B5EF4-FFF2-40B4-BE49-F238E27FC236}">
                <a16:creationId xmlns:a16="http://schemas.microsoft.com/office/drawing/2014/main" id="{1445583A-3E14-FFB4-90FA-EB4D85301419}"/>
              </a:ext>
            </a:extLst>
          </p:cNvPr>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a:extLst>
              <a:ext uri="{FF2B5EF4-FFF2-40B4-BE49-F238E27FC236}">
                <a16:creationId xmlns:a16="http://schemas.microsoft.com/office/drawing/2014/main" id="{4B2C4C76-E64E-2C98-D2F0-42DA1FCFBE37}"/>
              </a:ext>
            </a:extLst>
          </p:cNvPr>
          <p:cNvGrpSpPr>
            <a:grpSpLocks noChangeAspect="1"/>
          </p:cNvGrpSpPr>
          <p:nvPr/>
        </p:nvGrpSpPr>
        <p:grpSpPr bwMode="auto">
          <a:xfrm>
            <a:off x="3668910" y="3464857"/>
            <a:ext cx="1926783" cy="708412"/>
            <a:chOff x="3456" y="1200"/>
            <a:chExt cx="1392" cy="512"/>
          </a:xfrm>
        </p:grpSpPr>
        <p:sp>
          <p:nvSpPr>
            <p:cNvPr id="607257" name="Rectangle 25">
              <a:extLst>
                <a:ext uri="{FF2B5EF4-FFF2-40B4-BE49-F238E27FC236}">
                  <a16:creationId xmlns:a16="http://schemas.microsoft.com/office/drawing/2014/main" id="{49533406-852F-58F7-E2C3-FBBF387D9466}"/>
                </a:ext>
              </a:extLst>
            </p:cNvPr>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a:extLst>
                <a:ext uri="{FF2B5EF4-FFF2-40B4-BE49-F238E27FC236}">
                  <a16:creationId xmlns:a16="http://schemas.microsoft.com/office/drawing/2014/main" id="{B304513F-AFF0-90A0-F8A6-0F4CB164DCC0}"/>
                </a:ext>
              </a:extLst>
            </p:cNvPr>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a:extLst>
                <a:ext uri="{FF2B5EF4-FFF2-40B4-BE49-F238E27FC236}">
                  <a16:creationId xmlns:a16="http://schemas.microsoft.com/office/drawing/2014/main" id="{023DD377-95B7-917C-F3B2-97702EFD001C}"/>
                </a:ext>
              </a:extLst>
            </p:cNvPr>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a:extLst>
                <a:ext uri="{FF2B5EF4-FFF2-40B4-BE49-F238E27FC236}">
                  <a16:creationId xmlns:a16="http://schemas.microsoft.com/office/drawing/2014/main" id="{2B1DE3B0-DDA7-F026-55C4-445F09EE3D73}"/>
                </a:ext>
              </a:extLst>
            </p:cNvPr>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a:extLst>
              <a:ext uri="{FF2B5EF4-FFF2-40B4-BE49-F238E27FC236}">
                <a16:creationId xmlns:a16="http://schemas.microsoft.com/office/drawing/2014/main" id="{FA162795-FCA7-D654-FC20-6506585A5975}"/>
              </a:ext>
            </a:extLst>
          </p:cNvPr>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a:extLst>
              <a:ext uri="{FF2B5EF4-FFF2-40B4-BE49-F238E27FC236}">
                <a16:creationId xmlns:a16="http://schemas.microsoft.com/office/drawing/2014/main" id="{F8A2A03A-54A0-0451-A67F-70AC9B667511}"/>
              </a:ext>
            </a:extLst>
          </p:cNvPr>
          <p:cNvGrpSpPr>
            <a:grpSpLocks noChangeAspect="1"/>
          </p:cNvGrpSpPr>
          <p:nvPr/>
        </p:nvGrpSpPr>
        <p:grpSpPr bwMode="auto">
          <a:xfrm>
            <a:off x="3668910" y="1273208"/>
            <a:ext cx="3388480" cy="1062617"/>
            <a:chOff x="2208" y="576"/>
            <a:chExt cx="2448" cy="768"/>
          </a:xfrm>
        </p:grpSpPr>
        <p:sp>
          <p:nvSpPr>
            <p:cNvPr id="607264" name="Rectangle 32">
              <a:extLst>
                <a:ext uri="{FF2B5EF4-FFF2-40B4-BE49-F238E27FC236}">
                  <a16:creationId xmlns:a16="http://schemas.microsoft.com/office/drawing/2014/main" id="{04D8332A-2BFA-6169-1AE2-79986F0CD7BD}"/>
                </a:ext>
              </a:extLst>
            </p:cNvPr>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a:extLst>
                <a:ext uri="{FF2B5EF4-FFF2-40B4-BE49-F238E27FC236}">
                  <a16:creationId xmlns:a16="http://schemas.microsoft.com/office/drawing/2014/main" id="{0DEA7450-2CDD-A036-9B09-15D8BB2A4460}"/>
                </a:ext>
              </a:extLst>
            </p:cNvPr>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a:extLst>
                <a:ext uri="{FF2B5EF4-FFF2-40B4-BE49-F238E27FC236}">
                  <a16:creationId xmlns:a16="http://schemas.microsoft.com/office/drawing/2014/main" id="{85437023-3C2C-A8D6-38FB-C1985C9F945B}"/>
                </a:ext>
              </a:extLst>
            </p:cNvPr>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a:extLst>
                <a:ext uri="{FF2B5EF4-FFF2-40B4-BE49-F238E27FC236}">
                  <a16:creationId xmlns:a16="http://schemas.microsoft.com/office/drawing/2014/main" id="{0E2D250F-41A6-785B-6C3D-FEA860E0F932}"/>
                </a:ext>
              </a:extLst>
            </p:cNvPr>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a:extLst>
                <a:ext uri="{FF2B5EF4-FFF2-40B4-BE49-F238E27FC236}">
                  <a16:creationId xmlns:a16="http://schemas.microsoft.com/office/drawing/2014/main" id="{B26BE9A1-95DC-8ECD-FC28-9F68727A4B60}"/>
                </a:ext>
              </a:extLst>
            </p:cNvPr>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a:extLst>
                <a:ext uri="{FF2B5EF4-FFF2-40B4-BE49-F238E27FC236}">
                  <a16:creationId xmlns:a16="http://schemas.microsoft.com/office/drawing/2014/main" id="{08DE7BB3-D6B8-CD09-8195-9EB7114869A6}"/>
                </a:ext>
              </a:extLst>
            </p:cNvPr>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a:extLst>
                <a:ext uri="{FF2B5EF4-FFF2-40B4-BE49-F238E27FC236}">
                  <a16:creationId xmlns:a16="http://schemas.microsoft.com/office/drawing/2014/main" id="{D4A50869-9892-764D-EB3D-F7A284DE7BB6}"/>
                </a:ext>
              </a:extLst>
            </p:cNvPr>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a:extLst>
                <a:ext uri="{FF2B5EF4-FFF2-40B4-BE49-F238E27FC236}">
                  <a16:creationId xmlns:a16="http://schemas.microsoft.com/office/drawing/2014/main" id="{FB55F887-EE3A-9CBB-C5D4-C7637E4105FE}"/>
                </a:ext>
              </a:extLst>
            </p:cNvPr>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a:extLst>
                <a:ext uri="{FF2B5EF4-FFF2-40B4-BE49-F238E27FC236}">
                  <a16:creationId xmlns:a16="http://schemas.microsoft.com/office/drawing/2014/main" id="{976921C6-3714-4522-BD00-EB921F4D3EDE}"/>
                </a:ext>
              </a:extLst>
            </p:cNvPr>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a:extLst>
                <a:ext uri="{FF2B5EF4-FFF2-40B4-BE49-F238E27FC236}">
                  <a16:creationId xmlns:a16="http://schemas.microsoft.com/office/drawing/2014/main" id="{91BD1136-6536-4909-FCC4-B59EC1E4D128}"/>
                </a:ext>
              </a:extLst>
            </p:cNvPr>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a:extLst>
                <a:ext uri="{FF2B5EF4-FFF2-40B4-BE49-F238E27FC236}">
                  <a16:creationId xmlns:a16="http://schemas.microsoft.com/office/drawing/2014/main" id="{AE4BB12D-080E-7A43-A071-29FB1C21DFD2}"/>
                </a:ext>
              </a:extLst>
            </p:cNvPr>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a:extLst>
                <a:ext uri="{FF2B5EF4-FFF2-40B4-BE49-F238E27FC236}">
                  <a16:creationId xmlns:a16="http://schemas.microsoft.com/office/drawing/2014/main" id="{CF12DE32-AD4D-1914-1416-F11314216CAB}"/>
                </a:ext>
              </a:extLst>
            </p:cNvPr>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a:extLst>
                <a:ext uri="{FF2B5EF4-FFF2-40B4-BE49-F238E27FC236}">
                  <a16:creationId xmlns:a16="http://schemas.microsoft.com/office/drawing/2014/main" id="{5F078100-8F0D-1C79-3047-6B4256CBE4F7}"/>
                </a:ext>
              </a:extLst>
            </p:cNvPr>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a:extLst>
                <a:ext uri="{FF2B5EF4-FFF2-40B4-BE49-F238E27FC236}">
                  <a16:creationId xmlns:a16="http://schemas.microsoft.com/office/drawing/2014/main" id="{791C3A79-F90C-FF39-3F7F-336C52EA857D}"/>
                </a:ext>
              </a:extLst>
            </p:cNvPr>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a:extLst>
                <a:ext uri="{FF2B5EF4-FFF2-40B4-BE49-F238E27FC236}">
                  <a16:creationId xmlns:a16="http://schemas.microsoft.com/office/drawing/2014/main" id="{AE3A41A2-3BE1-4F11-B3CE-B70458BFDEDF}"/>
                </a:ext>
              </a:extLst>
            </p:cNvPr>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a:extLst>
                <a:ext uri="{FF2B5EF4-FFF2-40B4-BE49-F238E27FC236}">
                  <a16:creationId xmlns:a16="http://schemas.microsoft.com/office/drawing/2014/main" id="{D9432A6A-71E9-F544-FC27-345D077EFC26}"/>
                </a:ext>
              </a:extLst>
            </p:cNvPr>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a:extLst>
              <a:ext uri="{FF2B5EF4-FFF2-40B4-BE49-F238E27FC236}">
                <a16:creationId xmlns:a16="http://schemas.microsoft.com/office/drawing/2014/main" id="{E032B115-F462-143C-6BA5-EAD0AB1F3C06}"/>
              </a:ext>
            </a:extLst>
          </p:cNvPr>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a:extLst>
              <a:ext uri="{FF2B5EF4-FFF2-40B4-BE49-F238E27FC236}">
                <a16:creationId xmlns:a16="http://schemas.microsoft.com/office/drawing/2014/main" id="{DD419D2D-22E8-B919-3799-258459FBBF45}"/>
              </a:ext>
            </a:extLst>
          </p:cNvPr>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a:extLst>
              <a:ext uri="{FF2B5EF4-FFF2-40B4-BE49-F238E27FC236}">
                <a16:creationId xmlns:a16="http://schemas.microsoft.com/office/drawing/2014/main" id="{4854E03B-808A-4B4A-64BF-337801EBA8D9}"/>
              </a:ext>
            </a:extLst>
          </p:cNvPr>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607283" name="Rectangle 51">
            <a:extLst>
              <a:ext uri="{FF2B5EF4-FFF2-40B4-BE49-F238E27FC236}">
                <a16:creationId xmlns:a16="http://schemas.microsoft.com/office/drawing/2014/main" id="{4171188D-5856-596B-494C-BA5D3EF0C37E}"/>
              </a:ext>
            </a:extLst>
          </p:cNvPr>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a:extLst>
              <a:ext uri="{FF2B5EF4-FFF2-40B4-BE49-F238E27FC236}">
                <a16:creationId xmlns:a16="http://schemas.microsoft.com/office/drawing/2014/main" id="{2E262C4D-7955-ADD9-E5A7-99B278D9A5CD}"/>
              </a:ext>
            </a:extLst>
          </p:cNvPr>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urier New" pitchFamily="49" charset="0"/>
              </a:rPr>
              <a:t>-</a:t>
            </a:r>
          </a:p>
        </p:txBody>
      </p:sp>
      <p:sp>
        <p:nvSpPr>
          <p:cNvPr id="607285" name="Rectangle 53">
            <a:extLst>
              <a:ext uri="{FF2B5EF4-FFF2-40B4-BE49-F238E27FC236}">
                <a16:creationId xmlns:a16="http://schemas.microsoft.com/office/drawing/2014/main" id="{46283A31-5564-9248-B2F8-59AE52D3DA7A}"/>
              </a:ext>
            </a:extLst>
          </p:cNvPr>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607286" name="Rectangle 54">
            <a:extLst>
              <a:ext uri="{FF2B5EF4-FFF2-40B4-BE49-F238E27FC236}">
                <a16:creationId xmlns:a16="http://schemas.microsoft.com/office/drawing/2014/main" id="{AA0D6B8B-E303-6959-FD8C-1A79DA6A9854}"/>
              </a:ext>
            </a:extLst>
          </p:cNvPr>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7" name="Rectangle 55">
            <a:extLst>
              <a:ext uri="{FF2B5EF4-FFF2-40B4-BE49-F238E27FC236}">
                <a16:creationId xmlns:a16="http://schemas.microsoft.com/office/drawing/2014/main" id="{D1F75968-CF02-D4B1-C050-4B7A12D30367}"/>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a:extLst>
              <a:ext uri="{FF2B5EF4-FFF2-40B4-BE49-F238E27FC236}">
                <a16:creationId xmlns:a16="http://schemas.microsoft.com/office/drawing/2014/main" id="{C1410FB8-417C-66BF-FB00-931050E7B72D}"/>
              </a:ext>
            </a:extLst>
          </p:cNvPr>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a:extLst>
              <a:ext uri="{FF2B5EF4-FFF2-40B4-BE49-F238E27FC236}">
                <a16:creationId xmlns:a16="http://schemas.microsoft.com/office/drawing/2014/main" id="{B4C5E8EE-62C0-7C38-5CE1-92C6C67D404A}"/>
              </a:ext>
            </a:extLst>
          </p:cNvPr>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a:extLst>
              <a:ext uri="{FF2B5EF4-FFF2-40B4-BE49-F238E27FC236}">
                <a16:creationId xmlns:a16="http://schemas.microsoft.com/office/drawing/2014/main" id="{82A64266-53B8-E3B3-AE40-78FA05044E6C}"/>
              </a:ext>
            </a:extLst>
          </p:cNvPr>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a:extLst>
              <a:ext uri="{FF2B5EF4-FFF2-40B4-BE49-F238E27FC236}">
                <a16:creationId xmlns:a16="http://schemas.microsoft.com/office/drawing/2014/main" id="{B0E497EB-592A-A376-A518-3DED38904535}"/>
              </a:ext>
            </a:extLst>
          </p:cNvPr>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a:extLst>
              <a:ext uri="{FF2B5EF4-FFF2-40B4-BE49-F238E27FC236}">
                <a16:creationId xmlns:a16="http://schemas.microsoft.com/office/drawing/2014/main" id="{71CA6748-42DB-A196-8B95-5B2FD345C363}"/>
              </a:ext>
            </a:extLst>
          </p:cNvPr>
          <p:cNvSpPr>
            <a:spLocks noChangeAspect="1"/>
          </p:cNvSpPr>
          <p:nvPr/>
        </p:nvSpPr>
        <p:spPr bwMode="auto">
          <a:xfrm>
            <a:off x="7654834" y="2209917"/>
            <a:ext cx="627016"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a:extLst>
              <a:ext uri="{FF2B5EF4-FFF2-40B4-BE49-F238E27FC236}">
                <a16:creationId xmlns:a16="http://schemas.microsoft.com/office/drawing/2014/main" id="{50DAC087-0F09-987D-C664-C586104EAF5F}"/>
              </a:ext>
            </a:extLst>
          </p:cNvPr>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a:extLst>
              <a:ext uri="{FF2B5EF4-FFF2-40B4-BE49-F238E27FC236}">
                <a16:creationId xmlns:a16="http://schemas.microsoft.com/office/drawing/2014/main" id="{55310E50-C91D-448F-36A5-6B46A4C79F41}"/>
              </a:ext>
            </a:extLst>
          </p:cNvPr>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a:extLst>
              <a:ext uri="{FF2B5EF4-FFF2-40B4-BE49-F238E27FC236}">
                <a16:creationId xmlns:a16="http://schemas.microsoft.com/office/drawing/2014/main" id="{2DA274E5-9CC5-52A4-6677-D68160893F66}"/>
              </a:ext>
            </a:extLst>
          </p:cNvPr>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a:extLst>
              <a:ext uri="{FF2B5EF4-FFF2-40B4-BE49-F238E27FC236}">
                <a16:creationId xmlns:a16="http://schemas.microsoft.com/office/drawing/2014/main" id="{C5688F3D-D06F-C5FB-1C09-59EFC8D13014}"/>
              </a:ext>
            </a:extLst>
          </p:cNvPr>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a:extLst>
              <a:ext uri="{FF2B5EF4-FFF2-40B4-BE49-F238E27FC236}">
                <a16:creationId xmlns:a16="http://schemas.microsoft.com/office/drawing/2014/main" id="{5EAEFFA4-876E-0AC8-8118-633272609898}"/>
              </a:ext>
            </a:extLst>
          </p:cNvPr>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a:extLst>
              <a:ext uri="{FF2B5EF4-FFF2-40B4-BE49-F238E27FC236}">
                <a16:creationId xmlns:a16="http://schemas.microsoft.com/office/drawing/2014/main" id="{CEF4D9A1-8AB1-E463-D257-9F08F4C1ED60}"/>
              </a:ext>
            </a:extLst>
          </p:cNvPr>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a:extLst>
              <a:ext uri="{FF2B5EF4-FFF2-40B4-BE49-F238E27FC236}">
                <a16:creationId xmlns:a16="http://schemas.microsoft.com/office/drawing/2014/main" id="{EF69E3F9-6E97-BBE0-DD8D-23208656C32D}"/>
              </a:ext>
            </a:extLst>
          </p:cNvPr>
          <p:cNvGrpSpPr>
            <a:grpSpLocks noChangeAspect="1"/>
          </p:cNvGrpSpPr>
          <p:nvPr/>
        </p:nvGrpSpPr>
        <p:grpSpPr bwMode="auto">
          <a:xfrm rot="16200000">
            <a:off x="1742290" y="898031"/>
            <a:ext cx="796963" cy="1063052"/>
            <a:chOff x="1872" y="1584"/>
            <a:chExt cx="576" cy="864"/>
          </a:xfrm>
        </p:grpSpPr>
        <p:sp>
          <p:nvSpPr>
            <p:cNvPr id="607303" name="Rectangle 71">
              <a:extLst>
                <a:ext uri="{FF2B5EF4-FFF2-40B4-BE49-F238E27FC236}">
                  <a16:creationId xmlns:a16="http://schemas.microsoft.com/office/drawing/2014/main" id="{0F461DA9-88DA-4FC2-3DE3-D000D1C1932F}"/>
                </a:ext>
              </a:extLst>
            </p:cNvPr>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a:extLst>
                <a:ext uri="{FF2B5EF4-FFF2-40B4-BE49-F238E27FC236}">
                  <a16:creationId xmlns:a16="http://schemas.microsoft.com/office/drawing/2014/main" id="{02C48A0D-924D-1EDA-EFD6-19DA0327FB7A}"/>
                </a:ext>
              </a:extLst>
            </p:cNvPr>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a:extLst>
                <a:ext uri="{FF2B5EF4-FFF2-40B4-BE49-F238E27FC236}">
                  <a16:creationId xmlns:a16="http://schemas.microsoft.com/office/drawing/2014/main" id="{AAB8181F-912D-9FA2-7E80-EC32B11D0E66}"/>
                </a:ext>
              </a:extLst>
            </p:cNvPr>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a:extLst>
                <a:ext uri="{FF2B5EF4-FFF2-40B4-BE49-F238E27FC236}">
                  <a16:creationId xmlns:a16="http://schemas.microsoft.com/office/drawing/2014/main" id="{9234EB0F-2991-2ADB-84CB-0B5CA128144C}"/>
                </a:ext>
              </a:extLst>
            </p:cNvPr>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a:extLst>
                <a:ext uri="{FF2B5EF4-FFF2-40B4-BE49-F238E27FC236}">
                  <a16:creationId xmlns:a16="http://schemas.microsoft.com/office/drawing/2014/main" id="{C0B4684A-71FD-3D60-2C46-9CA425486A4C}"/>
                </a:ext>
              </a:extLst>
            </p:cNvPr>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a:extLst>
                <a:ext uri="{FF2B5EF4-FFF2-40B4-BE49-F238E27FC236}">
                  <a16:creationId xmlns:a16="http://schemas.microsoft.com/office/drawing/2014/main" id="{D362DCE1-5A63-0CEE-E304-DEE51F9EC043}"/>
                </a:ext>
              </a:extLst>
            </p:cNvPr>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a:extLst>
              <a:ext uri="{FF2B5EF4-FFF2-40B4-BE49-F238E27FC236}">
                <a16:creationId xmlns:a16="http://schemas.microsoft.com/office/drawing/2014/main" id="{DD356BA7-81CE-8C46-368A-7B52016F7F53}"/>
              </a:ext>
            </a:extLst>
          </p:cNvPr>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a:extLst>
              <a:ext uri="{FF2B5EF4-FFF2-40B4-BE49-F238E27FC236}">
                <a16:creationId xmlns:a16="http://schemas.microsoft.com/office/drawing/2014/main" id="{4AEEC013-903C-2684-C031-54F1A45BD64B}"/>
              </a:ext>
            </a:extLst>
          </p:cNvPr>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a:extLst>
              <a:ext uri="{FF2B5EF4-FFF2-40B4-BE49-F238E27FC236}">
                <a16:creationId xmlns:a16="http://schemas.microsoft.com/office/drawing/2014/main" id="{611B4BAA-542D-E319-CCEF-C81E3F84D011}"/>
              </a:ext>
            </a:extLst>
          </p:cNvPr>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21</a:t>
            </a:fld>
            <a:r>
              <a:rPr lang="en-GB"/>
              <a:t> </a:t>
            </a:r>
          </a:p>
        </p:txBody>
      </p:sp>
      <p:sp>
        <p:nvSpPr>
          <p:cNvPr id="35846" name="Rectangle 50">
            <a:extLst>
              <a:ext uri="{FF2B5EF4-FFF2-40B4-BE49-F238E27FC236}">
                <a16:creationId xmlns:a16="http://schemas.microsoft.com/office/drawing/2014/main" id="{67FC7083-B61B-FD8A-8B6B-2A16F5BBD16F}"/>
              </a:ext>
            </a:extLst>
          </p:cNvPr>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a:extLst>
              <a:ext uri="{FF2B5EF4-FFF2-40B4-BE49-F238E27FC236}">
                <a16:creationId xmlns:a16="http://schemas.microsoft.com/office/drawing/2014/main" id="{4BDA0CEB-25AA-84C3-E86A-D3BBFC027324}"/>
              </a:ext>
            </a:extLst>
          </p:cNvPr>
          <p:cNvSpPr txBox="1"/>
          <p:nvPr/>
        </p:nvSpPr>
        <p:spPr>
          <a:xfrm>
            <a:off x="11282" y="2451384"/>
            <a:ext cx="3304903" cy="1963614"/>
          </a:xfrm>
          <a:prstGeom prst="rect">
            <a:avLst/>
          </a:prstGeom>
          <a:noFill/>
        </p:spPr>
        <p:txBody>
          <a:bodyPr wrap="square" rtlCol="0">
            <a:spAutoFit/>
          </a:bodyPr>
          <a:lstStyle/>
          <a:p>
            <a:r>
              <a:rPr lang="en-CA" sz="2000" i="1" dirty="0">
                <a:solidFill>
                  <a:schemeClr val="accent2"/>
                </a:solidFill>
              </a:rPr>
              <a:t>Cycle 107:</a:t>
            </a:r>
          </a:p>
          <a:p>
            <a:r>
              <a:rPr lang="en-CA" sz="2000" dirty="0">
                <a:solidFill>
                  <a:schemeClr val="accent2"/>
                </a:solidFill>
              </a:rPr>
              <a:t>ROB flushed (may take more than one cycle), RAT reset, “front end” of pipeline fetches correct next instruction</a:t>
            </a:r>
          </a:p>
          <a:p>
            <a:r>
              <a:rPr lang="en-CA" sz="2000" dirty="0">
                <a:solidFill>
                  <a:schemeClr val="accent2"/>
                </a:solidFill>
              </a:rPr>
              <a:t> </a:t>
            </a:r>
          </a:p>
          <a:p>
            <a:endParaRPr lang="en-CA" sz="2000" dirty="0">
              <a:solidFill>
                <a:schemeClr val="accent2"/>
              </a:solidFill>
            </a:endParaRPr>
          </a:p>
        </p:txBody>
      </p:sp>
      <p:cxnSp>
        <p:nvCxnSpPr>
          <p:cNvPr id="100" name="Straight Connector 99">
            <a:extLst>
              <a:ext uri="{FF2B5EF4-FFF2-40B4-BE49-F238E27FC236}">
                <a16:creationId xmlns:a16="http://schemas.microsoft.com/office/drawing/2014/main" id="{E1D58AC2-BD8F-7EE7-3DFF-9CE4FE4FB187}"/>
              </a:ext>
            </a:extLst>
          </p:cNvPr>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a:extLst>
              <a:ext uri="{FF2B5EF4-FFF2-40B4-BE49-F238E27FC236}">
                <a16:creationId xmlns:a16="http://schemas.microsoft.com/office/drawing/2014/main" id="{70CBAE19-7F46-C7FB-9A18-E2538D7A0F19}"/>
              </a:ext>
            </a:extLst>
          </p:cNvPr>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a:extLst>
              <a:ext uri="{FF2B5EF4-FFF2-40B4-BE49-F238E27FC236}">
                <a16:creationId xmlns:a16="http://schemas.microsoft.com/office/drawing/2014/main" id="{3E69FEB6-6300-4D05-3072-D0F653956948}"/>
              </a:ext>
            </a:extLst>
          </p:cNvPr>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a:extLst>
              <a:ext uri="{FF2B5EF4-FFF2-40B4-BE49-F238E27FC236}">
                <a16:creationId xmlns:a16="http://schemas.microsoft.com/office/drawing/2014/main" id="{205C362F-0452-CB56-EBD4-40F439EB72DA}"/>
              </a:ext>
            </a:extLst>
          </p:cNvPr>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a:extLst>
              <a:ext uri="{FF2B5EF4-FFF2-40B4-BE49-F238E27FC236}">
                <a16:creationId xmlns:a16="http://schemas.microsoft.com/office/drawing/2014/main" id="{F454807A-F891-520E-431D-B799B26B9BC7}"/>
              </a:ext>
            </a:extLst>
          </p:cNvPr>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a:extLst>
              <a:ext uri="{FF2B5EF4-FFF2-40B4-BE49-F238E27FC236}">
                <a16:creationId xmlns:a16="http://schemas.microsoft.com/office/drawing/2014/main" id="{D6A4C10D-525F-C182-F14B-F8B360BE9FC7}"/>
              </a:ext>
            </a:extLst>
          </p:cNvPr>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a:extLst>
              <a:ext uri="{FF2B5EF4-FFF2-40B4-BE49-F238E27FC236}">
                <a16:creationId xmlns:a16="http://schemas.microsoft.com/office/drawing/2014/main" id="{A7F7642D-00F3-B9F8-3047-E8FE64313BFD}"/>
              </a:ext>
            </a:extLst>
          </p:cNvPr>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a:extLst>
              <a:ext uri="{FF2B5EF4-FFF2-40B4-BE49-F238E27FC236}">
                <a16:creationId xmlns:a16="http://schemas.microsoft.com/office/drawing/2014/main" id="{FD7B0E68-4825-F788-E8D9-A71789991FF2}"/>
              </a:ext>
            </a:extLst>
          </p:cNvPr>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cxnSp>
        <p:nvCxnSpPr>
          <p:cNvPr id="117" name="Straight Arrow Connector 116">
            <a:extLst>
              <a:ext uri="{FF2B5EF4-FFF2-40B4-BE49-F238E27FC236}">
                <a16:creationId xmlns:a16="http://schemas.microsoft.com/office/drawing/2014/main" id="{AB800477-CE2C-FEB1-8DA9-A49F0A75F640}"/>
              </a:ext>
            </a:extLst>
          </p:cNvPr>
          <p:cNvCxnSpPr>
            <a:stCxn id="109" idx="1"/>
          </p:cNvCxnSpPr>
          <p:nvPr/>
        </p:nvCxnSpPr>
        <p:spPr bwMode="auto">
          <a:xfrm rot="10800000">
            <a:off x="6008917" y="5617032"/>
            <a:ext cx="658389" cy="7895"/>
          </a:xfrm>
          <a:prstGeom prst="straightConnector1">
            <a:avLst/>
          </a:prstGeom>
          <a:solidFill>
            <a:srgbClr val="00B8FF"/>
          </a:solidFill>
          <a:ln w="31750" cap="flat" cmpd="sng" algn="ctr">
            <a:solidFill>
              <a:srgbClr val="FF0000"/>
            </a:solidFill>
            <a:prstDash val="solid"/>
            <a:round/>
            <a:headEnd type="none" w="med" len="med"/>
            <a:tailEnd type="none"/>
          </a:ln>
          <a:effectLst/>
        </p:spPr>
      </p:cxnSp>
      <p:cxnSp>
        <p:nvCxnSpPr>
          <p:cNvPr id="126" name="Straight Arrow Connector 125">
            <a:extLst>
              <a:ext uri="{FF2B5EF4-FFF2-40B4-BE49-F238E27FC236}">
                <a16:creationId xmlns:a16="http://schemas.microsoft.com/office/drawing/2014/main" id="{9CE3DF62-F53C-4555-AC51-F583C6C8F50B}"/>
              </a:ext>
            </a:extLst>
          </p:cNvPr>
          <p:cNvCxnSpPr/>
          <p:nvPr/>
        </p:nvCxnSpPr>
        <p:spPr bwMode="auto">
          <a:xfrm rot="5400000" flipH="1" flipV="1">
            <a:off x="4806337" y="4389120"/>
            <a:ext cx="2430486" cy="794"/>
          </a:xfrm>
          <a:prstGeom prst="straightConnector1">
            <a:avLst/>
          </a:prstGeom>
          <a:solidFill>
            <a:srgbClr val="00B8FF"/>
          </a:solidFill>
          <a:ln w="31750" cap="flat" cmpd="sng" algn="ctr">
            <a:solidFill>
              <a:srgbClr val="FF0000"/>
            </a:solidFill>
            <a:prstDash val="solid"/>
            <a:round/>
            <a:headEnd type="none" w="med" len="med"/>
            <a:tailEnd type="arrow"/>
          </a:ln>
          <a:effectLst/>
        </p:spPr>
      </p:cxnSp>
      <p:sp>
        <p:nvSpPr>
          <p:cNvPr id="99" name="Rectangle 59">
            <a:extLst>
              <a:ext uri="{FF2B5EF4-FFF2-40B4-BE49-F238E27FC236}">
                <a16:creationId xmlns:a16="http://schemas.microsoft.com/office/drawing/2014/main" id="{C7C8B182-DBF4-ED18-0347-0E187EFF4D3F}"/>
              </a:ext>
            </a:extLst>
          </p:cNvPr>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N</a:t>
            </a:r>
          </a:p>
        </p:txBody>
      </p:sp>
      <p:sp>
        <p:nvSpPr>
          <p:cNvPr id="105" name="Rectangle 50">
            <a:extLst>
              <a:ext uri="{FF2B5EF4-FFF2-40B4-BE49-F238E27FC236}">
                <a16:creationId xmlns:a16="http://schemas.microsoft.com/office/drawing/2014/main" id="{89A30985-BD3E-DEC5-C960-D9F61E9A7134}"/>
              </a:ext>
            </a:extLst>
          </p:cNvPr>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rgbClr val="000000"/>
                </a:solidFill>
                <a:latin typeface="Courier New" pitchFamily="49" charset="0"/>
              </a:rPr>
              <a:t>-</a:t>
            </a:r>
          </a:p>
        </p:txBody>
      </p:sp>
      <p:sp>
        <p:nvSpPr>
          <p:cNvPr id="102" name="Rectangle 59">
            <a:extLst>
              <a:ext uri="{FF2B5EF4-FFF2-40B4-BE49-F238E27FC236}">
                <a16:creationId xmlns:a16="http://schemas.microsoft.com/office/drawing/2014/main" id="{D687B01E-9039-A326-DCE5-5A1D01A05D33}"/>
              </a:ext>
            </a:extLst>
          </p:cNvPr>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Y</a:t>
            </a:r>
          </a:p>
        </p:txBody>
      </p:sp>
      <p:sp>
        <p:nvSpPr>
          <p:cNvPr id="103" name="Rectangle 50">
            <a:extLst>
              <a:ext uri="{FF2B5EF4-FFF2-40B4-BE49-F238E27FC236}">
                <a16:creationId xmlns:a16="http://schemas.microsoft.com/office/drawing/2014/main" id="{414C14A1-721D-AF7C-8E74-C2C2EC831E3D}"/>
              </a:ext>
            </a:extLst>
          </p:cNvPr>
          <p:cNvSpPr>
            <a:spLocks noChangeAspect="1" noChangeArrowheads="1"/>
          </p:cNvSpPr>
          <p:nvPr/>
        </p:nvSpPr>
        <p:spPr bwMode="auto">
          <a:xfrm>
            <a:off x="3746951" y="2353328"/>
            <a:ext cx="763754" cy="233118"/>
          </a:xfrm>
          <a:prstGeom prst="rect">
            <a:avLst/>
          </a:prstGeom>
          <a:noFill/>
          <a:ln w="28575">
            <a:no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R4    42</a:t>
            </a:r>
          </a:p>
        </p:txBody>
      </p:sp>
      <p:cxnSp>
        <p:nvCxnSpPr>
          <p:cNvPr id="120" name="Straight Connector 119">
            <a:extLst>
              <a:ext uri="{FF2B5EF4-FFF2-40B4-BE49-F238E27FC236}">
                <a16:creationId xmlns:a16="http://schemas.microsoft.com/office/drawing/2014/main" id="{2A30BE52-602F-8286-514F-FDEEB5C66618}"/>
              </a:ext>
            </a:extLst>
          </p:cNvPr>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2" name="Rectangle 50">
            <a:extLst>
              <a:ext uri="{FF2B5EF4-FFF2-40B4-BE49-F238E27FC236}">
                <a16:creationId xmlns:a16="http://schemas.microsoft.com/office/drawing/2014/main" id="{55797901-F36F-E4F2-643E-8B1C80878E7C}"/>
              </a:ext>
            </a:extLst>
          </p:cNvPr>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2</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29" name="Rectangle 59">
            <a:extLst>
              <a:ext uri="{FF2B5EF4-FFF2-40B4-BE49-F238E27FC236}">
                <a16:creationId xmlns:a16="http://schemas.microsoft.com/office/drawing/2014/main" id="{796E4915-6639-BF25-4BE7-44A72C8A7464}"/>
              </a:ext>
            </a:extLst>
          </p:cNvPr>
          <p:cNvSpPr>
            <a:spLocks noChangeAspect="1" noChangeArrowheads="1"/>
          </p:cNvSpPr>
          <p:nvPr/>
        </p:nvSpPr>
        <p:spPr bwMode="auto">
          <a:xfrm>
            <a:off x="6712123" y="2057237"/>
            <a:ext cx="333588" cy="265654"/>
          </a:xfrm>
          <a:prstGeom prst="rect">
            <a:avLst/>
          </a:prstGeom>
          <a:noFill/>
          <a:ln w="28575">
            <a:no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Y</a:t>
            </a:r>
          </a:p>
        </p:txBody>
      </p:sp>
      <p:sp>
        <p:nvSpPr>
          <p:cNvPr id="132" name="Rectangle 15">
            <a:extLst>
              <a:ext uri="{FF2B5EF4-FFF2-40B4-BE49-F238E27FC236}">
                <a16:creationId xmlns:a16="http://schemas.microsoft.com/office/drawing/2014/main" id="{986713E8-1C94-7788-81A5-E957B8CA4178}"/>
              </a:ext>
            </a:extLst>
          </p:cNvPr>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124" name="Rectangle 50">
            <a:extLst>
              <a:ext uri="{FF2B5EF4-FFF2-40B4-BE49-F238E27FC236}">
                <a16:creationId xmlns:a16="http://schemas.microsoft.com/office/drawing/2014/main" id="{E52B89A0-DA7A-FDB0-98CF-3CB9BC664D7C}"/>
              </a:ext>
            </a:extLst>
          </p:cNvPr>
          <p:cNvSpPr>
            <a:spLocks noChangeAspect="1" noChangeArrowheads="1"/>
          </p:cNvSpPr>
          <p:nvPr/>
        </p:nvSpPr>
        <p:spPr bwMode="auto">
          <a:xfrm>
            <a:off x="3755660" y="2087717"/>
            <a:ext cx="763754" cy="233118"/>
          </a:xfrm>
          <a:prstGeom prst="rect">
            <a:avLst/>
          </a:prstGeom>
          <a:noFill/>
          <a:ln w="28575">
            <a:no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R4    56</a:t>
            </a:r>
          </a:p>
        </p:txBody>
      </p:sp>
      <p:sp>
        <p:nvSpPr>
          <p:cNvPr id="119" name="TextBox 118">
            <a:extLst>
              <a:ext uri="{FF2B5EF4-FFF2-40B4-BE49-F238E27FC236}">
                <a16:creationId xmlns:a16="http://schemas.microsoft.com/office/drawing/2014/main" id="{C73F9840-E961-1BF4-2CC4-748C754D098C}"/>
              </a:ext>
            </a:extLst>
          </p:cNvPr>
          <p:cNvSpPr txBox="1"/>
          <p:nvPr/>
        </p:nvSpPr>
        <p:spPr>
          <a:xfrm>
            <a:off x="6074229" y="3657600"/>
            <a:ext cx="835485" cy="373051"/>
          </a:xfrm>
          <a:prstGeom prst="rect">
            <a:avLst/>
          </a:prstGeom>
          <a:noFill/>
        </p:spPr>
        <p:txBody>
          <a:bodyPr wrap="none" rtlCol="0">
            <a:spAutoFit/>
          </a:bodyPr>
          <a:lstStyle/>
          <a:p>
            <a:r>
              <a:rPr lang="en-CA" dirty="0">
                <a:solidFill>
                  <a:srgbClr val="FF0000"/>
                </a:solidFill>
              </a:rPr>
              <a:t>flush</a:t>
            </a:r>
          </a:p>
        </p:txBody>
      </p:sp>
      <p:cxnSp>
        <p:nvCxnSpPr>
          <p:cNvPr id="137" name="Straight Arrow Connector 136">
            <a:extLst>
              <a:ext uri="{FF2B5EF4-FFF2-40B4-BE49-F238E27FC236}">
                <a16:creationId xmlns:a16="http://schemas.microsoft.com/office/drawing/2014/main" id="{AABBE808-2969-65B5-E09A-C707B507E970}"/>
              </a:ext>
            </a:extLst>
          </p:cNvPr>
          <p:cNvCxnSpPr/>
          <p:nvPr/>
        </p:nvCxnSpPr>
        <p:spPr bwMode="auto">
          <a:xfrm rot="16200000" flipV="1">
            <a:off x="3833950" y="4265023"/>
            <a:ext cx="248195" cy="1"/>
          </a:xfrm>
          <a:prstGeom prst="straightConnector1">
            <a:avLst/>
          </a:prstGeom>
          <a:solidFill>
            <a:srgbClr val="00B8FF"/>
          </a:solidFill>
          <a:ln w="31750" cap="flat" cmpd="sng" algn="ctr">
            <a:solidFill>
              <a:srgbClr val="FF0000"/>
            </a:solidFill>
            <a:prstDash val="solid"/>
            <a:round/>
            <a:headEnd type="none" w="med" len="med"/>
            <a:tailEnd type="arrow"/>
          </a:ln>
          <a:effectLst/>
        </p:spPr>
      </p:cxnSp>
      <p:cxnSp>
        <p:nvCxnSpPr>
          <p:cNvPr id="140" name="Straight Arrow Connector 139">
            <a:extLst>
              <a:ext uri="{FF2B5EF4-FFF2-40B4-BE49-F238E27FC236}">
                <a16:creationId xmlns:a16="http://schemas.microsoft.com/office/drawing/2014/main" id="{A0CEDDE2-5A98-B2A2-CBE9-175B6EC24F47}"/>
              </a:ext>
            </a:extLst>
          </p:cNvPr>
          <p:cNvCxnSpPr/>
          <p:nvPr/>
        </p:nvCxnSpPr>
        <p:spPr bwMode="auto">
          <a:xfrm rot="10800000" flipV="1">
            <a:off x="3944984" y="4376056"/>
            <a:ext cx="2090057" cy="1"/>
          </a:xfrm>
          <a:prstGeom prst="straightConnector1">
            <a:avLst/>
          </a:prstGeom>
          <a:solidFill>
            <a:srgbClr val="00B8FF"/>
          </a:solidFill>
          <a:ln w="31750" cap="flat" cmpd="sng" algn="ctr">
            <a:solidFill>
              <a:srgbClr val="FF0000"/>
            </a:solidFill>
            <a:prstDash val="solid"/>
            <a:round/>
            <a:headEnd type="none" w="med" len="med"/>
            <a:tailEnd type="none"/>
          </a:ln>
          <a:effectLst/>
        </p:spPr>
      </p:cxnSp>
      <p:sp>
        <p:nvSpPr>
          <p:cNvPr id="133" name="Rectangle 56">
            <a:extLst>
              <a:ext uri="{FF2B5EF4-FFF2-40B4-BE49-F238E27FC236}">
                <a16:creationId xmlns:a16="http://schemas.microsoft.com/office/drawing/2014/main" id="{0A876FFB-3CAF-D263-349E-C58B6C0EE1FD}"/>
              </a:ext>
            </a:extLst>
          </p:cNvPr>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100" b="1" dirty="0">
              <a:solidFill>
                <a:srgbClr val="000000"/>
              </a:solidFill>
              <a:latin typeface="Courier New" pitchFamily="49" charset="0"/>
            </a:endParaRPr>
          </a:p>
        </p:txBody>
      </p:sp>
      <p:sp>
        <p:nvSpPr>
          <p:cNvPr id="135" name="Rectangle 56">
            <a:extLst>
              <a:ext uri="{FF2B5EF4-FFF2-40B4-BE49-F238E27FC236}">
                <a16:creationId xmlns:a16="http://schemas.microsoft.com/office/drawing/2014/main" id="{188F9D6B-7B20-26AA-39D2-A99C95CB4987}"/>
              </a:ext>
            </a:extLst>
          </p:cNvPr>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chemeClr val="bg1">
                    <a:lumMod val="85000"/>
                  </a:schemeClr>
                </a:solidFill>
                <a:latin typeface="Courier New" pitchFamily="49" charset="0"/>
              </a:rPr>
              <a:t>PC=0x0C(DMUL R4,R4,R2)</a:t>
            </a:r>
          </a:p>
        </p:txBody>
      </p:sp>
      <p:sp>
        <p:nvSpPr>
          <p:cNvPr id="136" name="Rectangle 56">
            <a:extLst>
              <a:ext uri="{FF2B5EF4-FFF2-40B4-BE49-F238E27FC236}">
                <a16:creationId xmlns:a16="http://schemas.microsoft.com/office/drawing/2014/main" id="{52EAB252-3E40-1FC3-1018-EC8FA5985EC0}"/>
              </a:ext>
            </a:extLst>
          </p:cNvPr>
          <p:cNvSpPr>
            <a:spLocks noChangeAspect="1" noChangeArrowheads="1"/>
          </p:cNvSpPr>
          <p:nvPr/>
        </p:nvSpPr>
        <p:spPr bwMode="auto">
          <a:xfrm>
            <a:off x="4851123" y="2057238"/>
            <a:ext cx="1858958" cy="265654"/>
          </a:xfrm>
          <a:prstGeom prst="rect">
            <a:avLst/>
          </a:prstGeom>
          <a:noFill/>
          <a:ln w="28575">
            <a:noFill/>
            <a:miter lim="800000"/>
            <a:headEnd/>
            <a:tailEnd/>
          </a:ln>
          <a:effectLst/>
        </p:spPr>
        <p:txBody>
          <a:bodyPr wrap="none" anchor="ctr"/>
          <a:lstStyle/>
          <a:p>
            <a:pPr>
              <a:defRPr/>
            </a:pPr>
            <a:r>
              <a:rPr lang="en-US" sz="1100" b="1" dirty="0">
                <a:solidFill>
                  <a:schemeClr val="bg1">
                    <a:lumMod val="85000"/>
                  </a:schemeClr>
                </a:solidFill>
                <a:latin typeface="Courier New" pitchFamily="49" charset="0"/>
              </a:rPr>
              <a:t>PC=0x10(DADD R4,R4,R1)</a:t>
            </a:r>
          </a:p>
        </p:txBody>
      </p:sp>
      <p:sp>
        <p:nvSpPr>
          <p:cNvPr id="138" name="Rectangle 56">
            <a:extLst>
              <a:ext uri="{FF2B5EF4-FFF2-40B4-BE49-F238E27FC236}">
                <a16:creationId xmlns:a16="http://schemas.microsoft.com/office/drawing/2014/main" id="{7E42E048-3E4D-2A3A-81B5-584EA2D168FA}"/>
              </a:ext>
            </a:extLst>
          </p:cNvPr>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rgbClr val="000000"/>
                </a:solidFill>
                <a:latin typeface="Courier New" pitchFamily="49" charset="0"/>
              </a:rPr>
              <a:t>PC=0x04(BEQZ R3,Loop)</a:t>
            </a:r>
          </a:p>
        </p:txBody>
      </p:sp>
      <p:sp>
        <p:nvSpPr>
          <p:cNvPr id="139" name="AutoShape 67">
            <a:extLst>
              <a:ext uri="{FF2B5EF4-FFF2-40B4-BE49-F238E27FC236}">
                <a16:creationId xmlns:a16="http://schemas.microsoft.com/office/drawing/2014/main" id="{72522230-44B4-CD23-29C4-04D219B65755}"/>
              </a:ext>
            </a:extLst>
          </p:cNvPr>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75699F1F-C82F-6E1E-98A2-4BA95ED42C01}"/>
              </a:ext>
            </a:extLst>
          </p:cNvPr>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chemeClr val="bg1">
                    <a:lumMod val="75000"/>
                  </a:schemeClr>
                </a:solidFill>
                <a:latin typeface="Courier New" pitchFamily="49" charset="0"/>
              </a:rPr>
              <a:t>BEQZ  2,Loop</a:t>
            </a:r>
          </a:p>
        </p:txBody>
      </p:sp>
      <p:sp>
        <p:nvSpPr>
          <p:cNvPr id="607291" name="Rectangle 59">
            <a:extLst>
              <a:ext uri="{FF2B5EF4-FFF2-40B4-BE49-F238E27FC236}">
                <a16:creationId xmlns:a16="http://schemas.microsoft.com/office/drawing/2014/main" id="{671F1478-706F-9A15-E185-06A4648261B7}"/>
              </a:ext>
            </a:extLst>
          </p:cNvPr>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8" name="Rectangle 50">
            <a:extLst>
              <a:ext uri="{FF2B5EF4-FFF2-40B4-BE49-F238E27FC236}">
                <a16:creationId xmlns:a16="http://schemas.microsoft.com/office/drawing/2014/main" id="{DF453443-B26B-97A9-AEE1-00FEC941A6F0}"/>
              </a:ext>
            </a:extLst>
          </p:cNvPr>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ROB4</a:t>
            </a:r>
          </a:p>
        </p:txBody>
      </p:sp>
      <p:cxnSp>
        <p:nvCxnSpPr>
          <p:cNvPr id="128" name="Straight Connector 127">
            <a:extLst>
              <a:ext uri="{FF2B5EF4-FFF2-40B4-BE49-F238E27FC236}">
                <a16:creationId xmlns:a16="http://schemas.microsoft.com/office/drawing/2014/main" id="{54DB2E47-6F0C-B737-6136-D609F55908AE}"/>
              </a:ext>
            </a:extLst>
          </p:cNvPr>
          <p:cNvCxnSpPr/>
          <p:nvPr/>
        </p:nvCxnSpPr>
        <p:spPr bwMode="auto">
          <a:xfrm>
            <a:off x="3696789" y="2076994"/>
            <a:ext cx="3344091" cy="535577"/>
          </a:xfrm>
          <a:prstGeom prst="line">
            <a:avLst/>
          </a:prstGeom>
          <a:solidFill>
            <a:srgbClr val="00B8FF"/>
          </a:solidFill>
          <a:ln w="50800" cap="flat" cmpd="sng" algn="ctr">
            <a:solidFill>
              <a:srgbClr val="FF0000"/>
            </a:solidFill>
            <a:prstDash val="solid"/>
            <a:round/>
            <a:headEnd type="none" w="med" len="med"/>
            <a:tailEnd type="none" w="med" len="med"/>
          </a:ln>
          <a:effectLst/>
        </p:spPr>
      </p:cxnSp>
      <p:cxnSp>
        <p:nvCxnSpPr>
          <p:cNvPr id="134" name="Straight Connector 133">
            <a:extLst>
              <a:ext uri="{FF2B5EF4-FFF2-40B4-BE49-F238E27FC236}">
                <a16:creationId xmlns:a16="http://schemas.microsoft.com/office/drawing/2014/main" id="{2458B685-EECB-6A59-5079-F302C4BB6610}"/>
              </a:ext>
            </a:extLst>
          </p:cNvPr>
          <p:cNvCxnSpPr/>
          <p:nvPr/>
        </p:nvCxnSpPr>
        <p:spPr bwMode="auto">
          <a:xfrm flipV="1">
            <a:off x="3657600" y="2063931"/>
            <a:ext cx="3422469" cy="535578"/>
          </a:xfrm>
          <a:prstGeom prst="line">
            <a:avLst/>
          </a:prstGeom>
          <a:solidFill>
            <a:srgbClr val="00B8FF"/>
          </a:solidFill>
          <a:ln w="50800" cap="flat" cmpd="sng" algn="ctr">
            <a:solidFill>
              <a:srgbClr val="FF0000"/>
            </a:solidFill>
            <a:prstDash val="solid"/>
            <a:round/>
            <a:headEnd type="none" w="med" len="med"/>
            <a:tailEnd type="none" w="med" len="med"/>
          </a:ln>
          <a:effectLst/>
        </p:spPr>
      </p:cxnSp>
      <p:cxnSp>
        <p:nvCxnSpPr>
          <p:cNvPr id="10" name="Straight Connector 9">
            <a:extLst>
              <a:ext uri="{FF2B5EF4-FFF2-40B4-BE49-F238E27FC236}">
                <a16:creationId xmlns:a16="http://schemas.microsoft.com/office/drawing/2014/main" id="{2D5EB4EE-B2E6-94DC-0727-6C1ACFC45DC5}"/>
              </a:ext>
            </a:extLst>
          </p:cNvPr>
          <p:cNvCxnSpPr>
            <a:cxnSpLocks/>
          </p:cNvCxnSpPr>
          <p:nvPr/>
        </p:nvCxnSpPr>
        <p:spPr bwMode="auto">
          <a:xfrm>
            <a:off x="3711792" y="3491410"/>
            <a:ext cx="533637" cy="166190"/>
          </a:xfrm>
          <a:prstGeom prst="line">
            <a:avLst/>
          </a:prstGeom>
          <a:solidFill>
            <a:srgbClr val="00B8FF"/>
          </a:solidFill>
          <a:ln w="50800" cap="flat" cmpd="sng" algn="ctr">
            <a:solidFill>
              <a:srgbClr val="FF0000"/>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26AE4657-E1AD-24E0-E7B9-4AA8895BCEB0}"/>
              </a:ext>
            </a:extLst>
          </p:cNvPr>
          <p:cNvCxnSpPr>
            <a:cxnSpLocks/>
          </p:cNvCxnSpPr>
          <p:nvPr/>
        </p:nvCxnSpPr>
        <p:spPr bwMode="auto">
          <a:xfrm flipV="1">
            <a:off x="3668910" y="3491410"/>
            <a:ext cx="576519" cy="170344"/>
          </a:xfrm>
          <a:prstGeom prst="line">
            <a:avLst/>
          </a:prstGeom>
          <a:solidFill>
            <a:srgbClr val="00B8FF"/>
          </a:solidFill>
          <a:ln w="508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45459640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0C2CF-0D0D-947B-3E1A-FC1E7434FDD9}"/>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D7F0EE08-4F26-169C-02C8-7738B4CB34CE}"/>
              </a:ext>
            </a:extLst>
          </p:cNvPr>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a:extLst>
              <a:ext uri="{FF2B5EF4-FFF2-40B4-BE49-F238E27FC236}">
                <a16:creationId xmlns:a16="http://schemas.microsoft.com/office/drawing/2014/main" id="{3C0E0AB1-59DC-F810-7249-08DF3D232D7D}"/>
              </a:ext>
            </a:extLst>
          </p:cNvPr>
          <p:cNvGrpSpPr>
            <a:grpSpLocks noChangeAspect="1"/>
          </p:cNvGrpSpPr>
          <p:nvPr/>
        </p:nvGrpSpPr>
        <p:grpSpPr bwMode="auto">
          <a:xfrm>
            <a:off x="3015760" y="4593888"/>
            <a:ext cx="2656247" cy="354206"/>
            <a:chOff x="2064" y="2928"/>
            <a:chExt cx="1919" cy="256"/>
          </a:xfrm>
        </p:grpSpPr>
        <p:sp>
          <p:nvSpPr>
            <p:cNvPr id="607237" name="Rectangle 5">
              <a:extLst>
                <a:ext uri="{FF2B5EF4-FFF2-40B4-BE49-F238E27FC236}">
                  <a16:creationId xmlns:a16="http://schemas.microsoft.com/office/drawing/2014/main" id="{40033409-6A50-F183-DDF6-56A96E465126}"/>
                </a:ext>
              </a:extLst>
            </p:cNvPr>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a:extLst>
                <a:ext uri="{FF2B5EF4-FFF2-40B4-BE49-F238E27FC236}">
                  <a16:creationId xmlns:a16="http://schemas.microsoft.com/office/drawing/2014/main" id="{FBFE7FCC-035B-0E01-EBB8-BC60D80FAAF6}"/>
                </a:ext>
              </a:extLst>
            </p:cNvPr>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a:extLst>
                <a:ext uri="{FF2B5EF4-FFF2-40B4-BE49-F238E27FC236}">
                  <a16:creationId xmlns:a16="http://schemas.microsoft.com/office/drawing/2014/main" id="{2AAC64EF-A8DC-1F1C-A97F-0BDB39F73477}"/>
                </a:ext>
              </a:extLst>
            </p:cNvPr>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a:extLst>
              <a:ext uri="{FF2B5EF4-FFF2-40B4-BE49-F238E27FC236}">
                <a16:creationId xmlns:a16="http://schemas.microsoft.com/office/drawing/2014/main" id="{DEDFA685-CB67-4927-8D7E-86EA9F7D9C0E}"/>
              </a:ext>
            </a:extLst>
          </p:cNvPr>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a:extLst>
              <a:ext uri="{FF2B5EF4-FFF2-40B4-BE49-F238E27FC236}">
                <a16:creationId xmlns:a16="http://schemas.microsoft.com/office/drawing/2014/main" id="{7D7592A3-B345-8EB3-E710-1C90FF0E6C4D}"/>
              </a:ext>
            </a:extLst>
          </p:cNvPr>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a:extLst>
              <a:ext uri="{FF2B5EF4-FFF2-40B4-BE49-F238E27FC236}">
                <a16:creationId xmlns:a16="http://schemas.microsoft.com/office/drawing/2014/main" id="{C66B14CA-C523-3FDF-F09D-0019EBA09798}"/>
              </a:ext>
            </a:extLst>
          </p:cNvPr>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a:extLst>
              <a:ext uri="{FF2B5EF4-FFF2-40B4-BE49-F238E27FC236}">
                <a16:creationId xmlns:a16="http://schemas.microsoft.com/office/drawing/2014/main" id="{F5A0E3DB-948D-AAC7-98E3-BE22CAD52B8F}"/>
              </a:ext>
            </a:extLst>
          </p:cNvPr>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a:extLst>
              <a:ext uri="{FF2B5EF4-FFF2-40B4-BE49-F238E27FC236}">
                <a16:creationId xmlns:a16="http://schemas.microsoft.com/office/drawing/2014/main" id="{A734E24D-636F-9FA7-01B2-6058A35120D9}"/>
              </a:ext>
            </a:extLst>
          </p:cNvPr>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a:extLst>
              <a:ext uri="{FF2B5EF4-FFF2-40B4-BE49-F238E27FC236}">
                <a16:creationId xmlns:a16="http://schemas.microsoft.com/office/drawing/2014/main" id="{92EFB9EE-3139-3E2D-105E-0C0A4BD186F7}"/>
              </a:ext>
            </a:extLst>
          </p:cNvPr>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a:extLst>
              <a:ext uri="{FF2B5EF4-FFF2-40B4-BE49-F238E27FC236}">
                <a16:creationId xmlns:a16="http://schemas.microsoft.com/office/drawing/2014/main" id="{5A6DA07D-2915-E021-C210-4624B63BE5A1}"/>
              </a:ext>
            </a:extLst>
          </p:cNvPr>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a:extLst>
              <a:ext uri="{FF2B5EF4-FFF2-40B4-BE49-F238E27FC236}">
                <a16:creationId xmlns:a16="http://schemas.microsoft.com/office/drawing/2014/main" id="{53B4BBA2-368C-1EF0-4D2E-BE7993BE8E9C}"/>
              </a:ext>
            </a:extLst>
          </p:cNvPr>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a:extLst>
              <a:ext uri="{FF2B5EF4-FFF2-40B4-BE49-F238E27FC236}">
                <a16:creationId xmlns:a16="http://schemas.microsoft.com/office/drawing/2014/main" id="{4CA11AE6-D98C-C0B0-D01F-765B435D032C}"/>
              </a:ext>
            </a:extLst>
          </p:cNvPr>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a:extLst>
              <a:ext uri="{FF2B5EF4-FFF2-40B4-BE49-F238E27FC236}">
                <a16:creationId xmlns:a16="http://schemas.microsoft.com/office/drawing/2014/main" id="{48A4D7BC-19D7-4F91-37FB-A88A1752B330}"/>
              </a:ext>
            </a:extLst>
          </p:cNvPr>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a:extLst>
              <a:ext uri="{FF2B5EF4-FFF2-40B4-BE49-F238E27FC236}">
                <a16:creationId xmlns:a16="http://schemas.microsoft.com/office/drawing/2014/main" id="{6CC0C614-1A2A-8BB5-5B3C-66542881BE1B}"/>
              </a:ext>
            </a:extLst>
          </p:cNvPr>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a:extLst>
              <a:ext uri="{FF2B5EF4-FFF2-40B4-BE49-F238E27FC236}">
                <a16:creationId xmlns:a16="http://schemas.microsoft.com/office/drawing/2014/main" id="{77F99DE1-8A5E-456C-A449-A8E23F73EFAA}"/>
              </a:ext>
            </a:extLst>
          </p:cNvPr>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a:extLst>
              <a:ext uri="{FF2B5EF4-FFF2-40B4-BE49-F238E27FC236}">
                <a16:creationId xmlns:a16="http://schemas.microsoft.com/office/drawing/2014/main" id="{74F8EDD0-1F47-98C2-A4A6-4E8968A9C2D2}"/>
              </a:ext>
            </a:extLst>
          </p:cNvPr>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a:extLst>
              <a:ext uri="{FF2B5EF4-FFF2-40B4-BE49-F238E27FC236}">
                <a16:creationId xmlns:a16="http://schemas.microsoft.com/office/drawing/2014/main" id="{D475F379-8D4C-3810-E619-4885FF8A0014}"/>
              </a:ext>
            </a:extLst>
          </p:cNvPr>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a:extLst>
              <a:ext uri="{FF2B5EF4-FFF2-40B4-BE49-F238E27FC236}">
                <a16:creationId xmlns:a16="http://schemas.microsoft.com/office/drawing/2014/main" id="{6061E778-B23B-BFAA-7572-8EEE616332D4}"/>
              </a:ext>
            </a:extLst>
          </p:cNvPr>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a:extLst>
              <a:ext uri="{FF2B5EF4-FFF2-40B4-BE49-F238E27FC236}">
                <a16:creationId xmlns:a16="http://schemas.microsoft.com/office/drawing/2014/main" id="{1E088894-8D53-80D9-21B4-FE43A2996DAC}"/>
              </a:ext>
            </a:extLst>
          </p:cNvPr>
          <p:cNvGrpSpPr>
            <a:grpSpLocks noChangeAspect="1"/>
          </p:cNvGrpSpPr>
          <p:nvPr/>
        </p:nvGrpSpPr>
        <p:grpSpPr bwMode="auto">
          <a:xfrm>
            <a:off x="3668910" y="3464857"/>
            <a:ext cx="1926783" cy="708412"/>
            <a:chOff x="3456" y="1200"/>
            <a:chExt cx="1392" cy="512"/>
          </a:xfrm>
        </p:grpSpPr>
        <p:sp>
          <p:nvSpPr>
            <p:cNvPr id="607257" name="Rectangle 25">
              <a:extLst>
                <a:ext uri="{FF2B5EF4-FFF2-40B4-BE49-F238E27FC236}">
                  <a16:creationId xmlns:a16="http://schemas.microsoft.com/office/drawing/2014/main" id="{D29CC186-89F2-66BB-4D57-184CBCFBD746}"/>
                </a:ext>
              </a:extLst>
            </p:cNvPr>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a:extLst>
                <a:ext uri="{FF2B5EF4-FFF2-40B4-BE49-F238E27FC236}">
                  <a16:creationId xmlns:a16="http://schemas.microsoft.com/office/drawing/2014/main" id="{7386EAFA-46E6-4CCA-D441-E61CFABDB5F4}"/>
                </a:ext>
              </a:extLst>
            </p:cNvPr>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a:extLst>
                <a:ext uri="{FF2B5EF4-FFF2-40B4-BE49-F238E27FC236}">
                  <a16:creationId xmlns:a16="http://schemas.microsoft.com/office/drawing/2014/main" id="{F50C88C6-3F63-6961-51F0-E8B4A8815FAC}"/>
                </a:ext>
              </a:extLst>
            </p:cNvPr>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a:extLst>
                <a:ext uri="{FF2B5EF4-FFF2-40B4-BE49-F238E27FC236}">
                  <a16:creationId xmlns:a16="http://schemas.microsoft.com/office/drawing/2014/main" id="{D1288E1B-5292-DDA8-776F-010D98279085}"/>
                </a:ext>
              </a:extLst>
            </p:cNvPr>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a:extLst>
              <a:ext uri="{FF2B5EF4-FFF2-40B4-BE49-F238E27FC236}">
                <a16:creationId xmlns:a16="http://schemas.microsoft.com/office/drawing/2014/main" id="{8C7AFAF3-D867-D5B3-6F4B-49FE1CF25400}"/>
              </a:ext>
            </a:extLst>
          </p:cNvPr>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a:extLst>
              <a:ext uri="{FF2B5EF4-FFF2-40B4-BE49-F238E27FC236}">
                <a16:creationId xmlns:a16="http://schemas.microsoft.com/office/drawing/2014/main" id="{BDA0F379-FDAD-06BA-3C71-4DA7CEBF798A}"/>
              </a:ext>
            </a:extLst>
          </p:cNvPr>
          <p:cNvGrpSpPr>
            <a:grpSpLocks noChangeAspect="1"/>
          </p:cNvGrpSpPr>
          <p:nvPr/>
        </p:nvGrpSpPr>
        <p:grpSpPr bwMode="auto">
          <a:xfrm>
            <a:off x="3668910" y="1273208"/>
            <a:ext cx="3388480" cy="1062617"/>
            <a:chOff x="2208" y="576"/>
            <a:chExt cx="2448" cy="768"/>
          </a:xfrm>
        </p:grpSpPr>
        <p:sp>
          <p:nvSpPr>
            <p:cNvPr id="607264" name="Rectangle 32">
              <a:extLst>
                <a:ext uri="{FF2B5EF4-FFF2-40B4-BE49-F238E27FC236}">
                  <a16:creationId xmlns:a16="http://schemas.microsoft.com/office/drawing/2014/main" id="{93583AE8-39D9-43C1-C08E-C3B0014F90E4}"/>
                </a:ext>
              </a:extLst>
            </p:cNvPr>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a:extLst>
                <a:ext uri="{FF2B5EF4-FFF2-40B4-BE49-F238E27FC236}">
                  <a16:creationId xmlns:a16="http://schemas.microsoft.com/office/drawing/2014/main" id="{19148A76-3444-7F2C-72AB-8277697601F5}"/>
                </a:ext>
              </a:extLst>
            </p:cNvPr>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a:extLst>
                <a:ext uri="{FF2B5EF4-FFF2-40B4-BE49-F238E27FC236}">
                  <a16:creationId xmlns:a16="http://schemas.microsoft.com/office/drawing/2014/main" id="{6005A35F-6143-6B56-830C-43B7BA359E73}"/>
                </a:ext>
              </a:extLst>
            </p:cNvPr>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a:extLst>
                <a:ext uri="{FF2B5EF4-FFF2-40B4-BE49-F238E27FC236}">
                  <a16:creationId xmlns:a16="http://schemas.microsoft.com/office/drawing/2014/main" id="{9B13C97A-0A19-27B9-F746-51C23A98F3D1}"/>
                </a:ext>
              </a:extLst>
            </p:cNvPr>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a:extLst>
                <a:ext uri="{FF2B5EF4-FFF2-40B4-BE49-F238E27FC236}">
                  <a16:creationId xmlns:a16="http://schemas.microsoft.com/office/drawing/2014/main" id="{CBF78202-019E-FC2D-E751-589379CDD3F0}"/>
                </a:ext>
              </a:extLst>
            </p:cNvPr>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a:extLst>
                <a:ext uri="{FF2B5EF4-FFF2-40B4-BE49-F238E27FC236}">
                  <a16:creationId xmlns:a16="http://schemas.microsoft.com/office/drawing/2014/main" id="{27935C05-C56E-9068-99A5-61AD71862EB9}"/>
                </a:ext>
              </a:extLst>
            </p:cNvPr>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a:extLst>
                <a:ext uri="{FF2B5EF4-FFF2-40B4-BE49-F238E27FC236}">
                  <a16:creationId xmlns:a16="http://schemas.microsoft.com/office/drawing/2014/main" id="{59A936FB-3EBA-80DE-C7CD-4A10551F7597}"/>
                </a:ext>
              </a:extLst>
            </p:cNvPr>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a:extLst>
                <a:ext uri="{FF2B5EF4-FFF2-40B4-BE49-F238E27FC236}">
                  <a16:creationId xmlns:a16="http://schemas.microsoft.com/office/drawing/2014/main" id="{6AA793DA-C434-DAFD-7C92-20F9A9E594DE}"/>
                </a:ext>
              </a:extLst>
            </p:cNvPr>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a:extLst>
                <a:ext uri="{FF2B5EF4-FFF2-40B4-BE49-F238E27FC236}">
                  <a16:creationId xmlns:a16="http://schemas.microsoft.com/office/drawing/2014/main" id="{3E4FE400-74FF-B8CC-58B8-008A1092F2C6}"/>
                </a:ext>
              </a:extLst>
            </p:cNvPr>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a:extLst>
                <a:ext uri="{FF2B5EF4-FFF2-40B4-BE49-F238E27FC236}">
                  <a16:creationId xmlns:a16="http://schemas.microsoft.com/office/drawing/2014/main" id="{B5E5F907-0771-E69C-EA22-AC28532883AF}"/>
                </a:ext>
              </a:extLst>
            </p:cNvPr>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a:extLst>
                <a:ext uri="{FF2B5EF4-FFF2-40B4-BE49-F238E27FC236}">
                  <a16:creationId xmlns:a16="http://schemas.microsoft.com/office/drawing/2014/main" id="{1932612A-400D-93FC-BEBE-DD2623274151}"/>
                </a:ext>
              </a:extLst>
            </p:cNvPr>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a:extLst>
                <a:ext uri="{FF2B5EF4-FFF2-40B4-BE49-F238E27FC236}">
                  <a16:creationId xmlns:a16="http://schemas.microsoft.com/office/drawing/2014/main" id="{77CD1019-4882-6BAF-15D9-9C5212B3C21D}"/>
                </a:ext>
              </a:extLst>
            </p:cNvPr>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a:extLst>
                <a:ext uri="{FF2B5EF4-FFF2-40B4-BE49-F238E27FC236}">
                  <a16:creationId xmlns:a16="http://schemas.microsoft.com/office/drawing/2014/main" id="{9DC17A7B-2395-991C-E450-81A1CF6D8485}"/>
                </a:ext>
              </a:extLst>
            </p:cNvPr>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a:extLst>
                <a:ext uri="{FF2B5EF4-FFF2-40B4-BE49-F238E27FC236}">
                  <a16:creationId xmlns:a16="http://schemas.microsoft.com/office/drawing/2014/main" id="{6331D342-9D8C-EE67-26C5-78872A24E0D0}"/>
                </a:ext>
              </a:extLst>
            </p:cNvPr>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a:extLst>
                <a:ext uri="{FF2B5EF4-FFF2-40B4-BE49-F238E27FC236}">
                  <a16:creationId xmlns:a16="http://schemas.microsoft.com/office/drawing/2014/main" id="{6EDB1BEF-B5DA-6A70-BB3B-9DA1D980CB4C}"/>
                </a:ext>
              </a:extLst>
            </p:cNvPr>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a:extLst>
                <a:ext uri="{FF2B5EF4-FFF2-40B4-BE49-F238E27FC236}">
                  <a16:creationId xmlns:a16="http://schemas.microsoft.com/office/drawing/2014/main" id="{BDAB224C-60A8-E2D1-4480-C84C0A6AC53E}"/>
                </a:ext>
              </a:extLst>
            </p:cNvPr>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a:extLst>
              <a:ext uri="{FF2B5EF4-FFF2-40B4-BE49-F238E27FC236}">
                <a16:creationId xmlns:a16="http://schemas.microsoft.com/office/drawing/2014/main" id="{B6E4F1C7-6C6D-3D34-0F75-D35E5757F76A}"/>
              </a:ext>
            </a:extLst>
          </p:cNvPr>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a:extLst>
              <a:ext uri="{FF2B5EF4-FFF2-40B4-BE49-F238E27FC236}">
                <a16:creationId xmlns:a16="http://schemas.microsoft.com/office/drawing/2014/main" id="{33A1642D-B797-CDE2-7AFD-905D4ACCDB1D}"/>
              </a:ext>
            </a:extLst>
          </p:cNvPr>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a:extLst>
              <a:ext uri="{FF2B5EF4-FFF2-40B4-BE49-F238E27FC236}">
                <a16:creationId xmlns:a16="http://schemas.microsoft.com/office/drawing/2014/main" id="{B9D33428-251A-98DA-0D3F-E573885A2557}"/>
              </a:ext>
            </a:extLst>
          </p:cNvPr>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607283" name="Rectangle 51">
            <a:extLst>
              <a:ext uri="{FF2B5EF4-FFF2-40B4-BE49-F238E27FC236}">
                <a16:creationId xmlns:a16="http://schemas.microsoft.com/office/drawing/2014/main" id="{9DCCD8EB-C6AD-27A7-1BB7-99E19CB57B03}"/>
              </a:ext>
            </a:extLst>
          </p:cNvPr>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a:extLst>
              <a:ext uri="{FF2B5EF4-FFF2-40B4-BE49-F238E27FC236}">
                <a16:creationId xmlns:a16="http://schemas.microsoft.com/office/drawing/2014/main" id="{8706001C-EDC3-5085-038C-252A924B9324}"/>
              </a:ext>
            </a:extLst>
          </p:cNvPr>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chemeClr val="bg1">
                    <a:lumMod val="85000"/>
                  </a:schemeClr>
                </a:solidFill>
                <a:latin typeface="Courier New" pitchFamily="49" charset="0"/>
              </a:rPr>
              <a:t>-</a:t>
            </a:r>
          </a:p>
        </p:txBody>
      </p:sp>
      <p:sp>
        <p:nvSpPr>
          <p:cNvPr id="607285" name="Rectangle 53">
            <a:extLst>
              <a:ext uri="{FF2B5EF4-FFF2-40B4-BE49-F238E27FC236}">
                <a16:creationId xmlns:a16="http://schemas.microsoft.com/office/drawing/2014/main" id="{20DC5578-E42C-97E5-F6E7-7AADCC6DD9FE}"/>
              </a:ext>
            </a:extLst>
          </p:cNvPr>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607286" name="Rectangle 54">
            <a:extLst>
              <a:ext uri="{FF2B5EF4-FFF2-40B4-BE49-F238E27FC236}">
                <a16:creationId xmlns:a16="http://schemas.microsoft.com/office/drawing/2014/main" id="{4113C8C1-7DA1-39FD-0CFA-3B03C83E24C3}"/>
              </a:ext>
            </a:extLst>
          </p:cNvPr>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chemeClr val="tx1"/>
              </a:solidFill>
              <a:latin typeface="Courier New" pitchFamily="49" charset="0"/>
            </a:endParaRPr>
          </a:p>
        </p:txBody>
      </p:sp>
      <p:sp>
        <p:nvSpPr>
          <p:cNvPr id="607287" name="Rectangle 55">
            <a:extLst>
              <a:ext uri="{FF2B5EF4-FFF2-40B4-BE49-F238E27FC236}">
                <a16:creationId xmlns:a16="http://schemas.microsoft.com/office/drawing/2014/main" id="{89CF0384-AC01-7577-4F52-F11BDD0052C1}"/>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a:extLst>
              <a:ext uri="{FF2B5EF4-FFF2-40B4-BE49-F238E27FC236}">
                <a16:creationId xmlns:a16="http://schemas.microsoft.com/office/drawing/2014/main" id="{F393CE20-A70F-01D7-8F1C-FCD89B64D59C}"/>
              </a:ext>
            </a:extLst>
          </p:cNvPr>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a:extLst>
              <a:ext uri="{FF2B5EF4-FFF2-40B4-BE49-F238E27FC236}">
                <a16:creationId xmlns:a16="http://schemas.microsoft.com/office/drawing/2014/main" id="{CBE961AE-6A7A-F85E-F7F8-5E99CE84983A}"/>
              </a:ext>
            </a:extLst>
          </p:cNvPr>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a:extLst>
              <a:ext uri="{FF2B5EF4-FFF2-40B4-BE49-F238E27FC236}">
                <a16:creationId xmlns:a16="http://schemas.microsoft.com/office/drawing/2014/main" id="{856EC202-C381-0EF2-081A-2BC801D8B942}"/>
              </a:ext>
            </a:extLst>
          </p:cNvPr>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a:extLst>
              <a:ext uri="{FF2B5EF4-FFF2-40B4-BE49-F238E27FC236}">
                <a16:creationId xmlns:a16="http://schemas.microsoft.com/office/drawing/2014/main" id="{C0762462-FAC6-D613-4948-367E9F6A5EDD}"/>
              </a:ext>
            </a:extLst>
          </p:cNvPr>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a:extLst>
              <a:ext uri="{FF2B5EF4-FFF2-40B4-BE49-F238E27FC236}">
                <a16:creationId xmlns:a16="http://schemas.microsoft.com/office/drawing/2014/main" id="{D1F22989-8FF3-489C-DFD2-BCA13BD1FCD0}"/>
              </a:ext>
            </a:extLst>
          </p:cNvPr>
          <p:cNvSpPr>
            <a:spLocks noChangeAspect="1"/>
          </p:cNvSpPr>
          <p:nvPr/>
        </p:nvSpPr>
        <p:spPr bwMode="auto">
          <a:xfrm>
            <a:off x="7654834" y="2209917"/>
            <a:ext cx="627016"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a:extLst>
              <a:ext uri="{FF2B5EF4-FFF2-40B4-BE49-F238E27FC236}">
                <a16:creationId xmlns:a16="http://schemas.microsoft.com/office/drawing/2014/main" id="{55A0330F-8A83-C372-6646-65AC1E75A42F}"/>
              </a:ext>
            </a:extLst>
          </p:cNvPr>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a:extLst>
              <a:ext uri="{FF2B5EF4-FFF2-40B4-BE49-F238E27FC236}">
                <a16:creationId xmlns:a16="http://schemas.microsoft.com/office/drawing/2014/main" id="{DA08830F-04CE-9240-3A07-35EBA1538F84}"/>
              </a:ext>
            </a:extLst>
          </p:cNvPr>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a:extLst>
              <a:ext uri="{FF2B5EF4-FFF2-40B4-BE49-F238E27FC236}">
                <a16:creationId xmlns:a16="http://schemas.microsoft.com/office/drawing/2014/main" id="{EBDA0398-ED30-FEDE-F2E6-E1875485E4D3}"/>
              </a:ext>
            </a:extLst>
          </p:cNvPr>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a:extLst>
              <a:ext uri="{FF2B5EF4-FFF2-40B4-BE49-F238E27FC236}">
                <a16:creationId xmlns:a16="http://schemas.microsoft.com/office/drawing/2014/main" id="{A872BF5B-8141-6DB4-76FA-1311BD6A82BE}"/>
              </a:ext>
            </a:extLst>
          </p:cNvPr>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a:extLst>
              <a:ext uri="{FF2B5EF4-FFF2-40B4-BE49-F238E27FC236}">
                <a16:creationId xmlns:a16="http://schemas.microsoft.com/office/drawing/2014/main" id="{435C73C2-BF4E-E23C-2AED-23C48B2BC163}"/>
              </a:ext>
            </a:extLst>
          </p:cNvPr>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a:extLst>
              <a:ext uri="{FF2B5EF4-FFF2-40B4-BE49-F238E27FC236}">
                <a16:creationId xmlns:a16="http://schemas.microsoft.com/office/drawing/2014/main" id="{8C3A19D2-A7AC-8CA2-2843-828CF131D742}"/>
              </a:ext>
            </a:extLst>
          </p:cNvPr>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a:extLst>
              <a:ext uri="{FF2B5EF4-FFF2-40B4-BE49-F238E27FC236}">
                <a16:creationId xmlns:a16="http://schemas.microsoft.com/office/drawing/2014/main" id="{942C45BB-0DC3-C2C7-9341-FA1835769DAC}"/>
              </a:ext>
            </a:extLst>
          </p:cNvPr>
          <p:cNvGrpSpPr>
            <a:grpSpLocks noChangeAspect="1"/>
          </p:cNvGrpSpPr>
          <p:nvPr/>
        </p:nvGrpSpPr>
        <p:grpSpPr bwMode="auto">
          <a:xfrm rot="16200000">
            <a:off x="1742290" y="898031"/>
            <a:ext cx="796963" cy="1063052"/>
            <a:chOff x="1872" y="1584"/>
            <a:chExt cx="576" cy="864"/>
          </a:xfrm>
        </p:grpSpPr>
        <p:sp>
          <p:nvSpPr>
            <p:cNvPr id="607303" name="Rectangle 71">
              <a:extLst>
                <a:ext uri="{FF2B5EF4-FFF2-40B4-BE49-F238E27FC236}">
                  <a16:creationId xmlns:a16="http://schemas.microsoft.com/office/drawing/2014/main" id="{A35ECABF-7A08-D104-5754-3F7E6EB06BD3}"/>
                </a:ext>
              </a:extLst>
            </p:cNvPr>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a:extLst>
                <a:ext uri="{FF2B5EF4-FFF2-40B4-BE49-F238E27FC236}">
                  <a16:creationId xmlns:a16="http://schemas.microsoft.com/office/drawing/2014/main" id="{7F306B05-D633-72B2-3AA7-DB80116C8DD1}"/>
                </a:ext>
              </a:extLst>
            </p:cNvPr>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a:extLst>
                <a:ext uri="{FF2B5EF4-FFF2-40B4-BE49-F238E27FC236}">
                  <a16:creationId xmlns:a16="http://schemas.microsoft.com/office/drawing/2014/main" id="{0290B0FB-C76A-A630-4C03-ECBD57F5031E}"/>
                </a:ext>
              </a:extLst>
            </p:cNvPr>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a:extLst>
                <a:ext uri="{FF2B5EF4-FFF2-40B4-BE49-F238E27FC236}">
                  <a16:creationId xmlns:a16="http://schemas.microsoft.com/office/drawing/2014/main" id="{7A6D1B67-577E-50BA-245B-ABEFA78E7D78}"/>
                </a:ext>
              </a:extLst>
            </p:cNvPr>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a:extLst>
                <a:ext uri="{FF2B5EF4-FFF2-40B4-BE49-F238E27FC236}">
                  <a16:creationId xmlns:a16="http://schemas.microsoft.com/office/drawing/2014/main" id="{42C465EB-05A8-FDC2-3193-1F01CC89890D}"/>
                </a:ext>
              </a:extLst>
            </p:cNvPr>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a:extLst>
                <a:ext uri="{FF2B5EF4-FFF2-40B4-BE49-F238E27FC236}">
                  <a16:creationId xmlns:a16="http://schemas.microsoft.com/office/drawing/2014/main" id="{48255EE1-7C50-3055-3399-8D7860F47CCE}"/>
                </a:ext>
              </a:extLst>
            </p:cNvPr>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a:extLst>
              <a:ext uri="{FF2B5EF4-FFF2-40B4-BE49-F238E27FC236}">
                <a16:creationId xmlns:a16="http://schemas.microsoft.com/office/drawing/2014/main" id="{26CD3CDF-3E7D-D6B4-23AC-1D6945BD55DE}"/>
              </a:ext>
            </a:extLst>
          </p:cNvPr>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a:extLst>
              <a:ext uri="{FF2B5EF4-FFF2-40B4-BE49-F238E27FC236}">
                <a16:creationId xmlns:a16="http://schemas.microsoft.com/office/drawing/2014/main" id="{76D18D50-36B5-31AD-F4E7-6B65FE1700A1}"/>
              </a:ext>
            </a:extLst>
          </p:cNvPr>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a:extLst>
              <a:ext uri="{FF2B5EF4-FFF2-40B4-BE49-F238E27FC236}">
                <a16:creationId xmlns:a16="http://schemas.microsoft.com/office/drawing/2014/main" id="{EDAC2A99-DDD7-8F50-9198-7C5FA2BC4A6F}"/>
              </a:ext>
            </a:extLst>
          </p:cNvPr>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22</a:t>
            </a:fld>
            <a:r>
              <a:rPr lang="en-GB"/>
              <a:t> </a:t>
            </a:r>
          </a:p>
        </p:txBody>
      </p:sp>
      <p:sp>
        <p:nvSpPr>
          <p:cNvPr id="35846" name="Rectangle 50">
            <a:extLst>
              <a:ext uri="{FF2B5EF4-FFF2-40B4-BE49-F238E27FC236}">
                <a16:creationId xmlns:a16="http://schemas.microsoft.com/office/drawing/2014/main" id="{2C9D1F1C-F168-CF5F-229A-8CF4F78CE599}"/>
              </a:ext>
            </a:extLst>
          </p:cNvPr>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a:extLst>
              <a:ext uri="{FF2B5EF4-FFF2-40B4-BE49-F238E27FC236}">
                <a16:creationId xmlns:a16="http://schemas.microsoft.com/office/drawing/2014/main" id="{2AE58EC7-329B-F195-1BDE-70A7E0F2AA6C}"/>
              </a:ext>
            </a:extLst>
          </p:cNvPr>
          <p:cNvSpPr txBox="1"/>
          <p:nvPr/>
        </p:nvSpPr>
        <p:spPr>
          <a:xfrm>
            <a:off x="0" y="2429668"/>
            <a:ext cx="3304903" cy="2244332"/>
          </a:xfrm>
          <a:prstGeom prst="rect">
            <a:avLst/>
          </a:prstGeom>
          <a:noFill/>
        </p:spPr>
        <p:txBody>
          <a:bodyPr wrap="square" rtlCol="0">
            <a:spAutoFit/>
          </a:bodyPr>
          <a:lstStyle/>
          <a:p>
            <a:r>
              <a:rPr lang="en-CA" sz="2000" i="1" dirty="0">
                <a:solidFill>
                  <a:schemeClr val="accent2"/>
                </a:solidFill>
              </a:rPr>
              <a:t>Cycle 109a:</a:t>
            </a:r>
          </a:p>
          <a:p>
            <a:r>
              <a:rPr lang="en-CA" sz="2000" dirty="0">
                <a:solidFill>
                  <a:schemeClr val="accent2"/>
                </a:solidFill>
              </a:rPr>
              <a:t>DSUB issues: allocate ROB and reservation station entries, copy R4 and R2  values into reservation station, and </a:t>
            </a:r>
            <a:r>
              <a:rPr lang="en-CA" sz="2000" dirty="0">
                <a:solidFill>
                  <a:schemeClr val="accent2"/>
                </a:solidFill>
                <a:highlight>
                  <a:srgbClr val="FFFF00"/>
                </a:highlight>
              </a:rPr>
              <a:t>…</a:t>
            </a:r>
          </a:p>
          <a:p>
            <a:r>
              <a:rPr lang="en-CA" sz="2000" dirty="0">
                <a:solidFill>
                  <a:schemeClr val="accent2"/>
                </a:solidFill>
              </a:rPr>
              <a:t> </a:t>
            </a:r>
          </a:p>
          <a:p>
            <a:r>
              <a:rPr lang="en-CA" sz="2000" dirty="0">
                <a:solidFill>
                  <a:schemeClr val="accent2"/>
                </a:solidFill>
              </a:rPr>
              <a:t> </a:t>
            </a:r>
          </a:p>
          <a:p>
            <a:endParaRPr lang="en-CA" sz="2000" dirty="0">
              <a:solidFill>
                <a:schemeClr val="accent2"/>
              </a:solidFill>
            </a:endParaRPr>
          </a:p>
        </p:txBody>
      </p:sp>
      <p:cxnSp>
        <p:nvCxnSpPr>
          <p:cNvPr id="100" name="Straight Connector 99">
            <a:extLst>
              <a:ext uri="{FF2B5EF4-FFF2-40B4-BE49-F238E27FC236}">
                <a16:creationId xmlns:a16="http://schemas.microsoft.com/office/drawing/2014/main" id="{76098CAE-B75A-322B-911E-EACE1D1F44C4}"/>
              </a:ext>
            </a:extLst>
          </p:cNvPr>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a:extLst>
              <a:ext uri="{FF2B5EF4-FFF2-40B4-BE49-F238E27FC236}">
                <a16:creationId xmlns:a16="http://schemas.microsoft.com/office/drawing/2014/main" id="{7C8C2AC8-416B-E6E4-C26E-8FE14E5D848D}"/>
              </a:ext>
            </a:extLst>
          </p:cNvPr>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a:extLst>
              <a:ext uri="{FF2B5EF4-FFF2-40B4-BE49-F238E27FC236}">
                <a16:creationId xmlns:a16="http://schemas.microsoft.com/office/drawing/2014/main" id="{57EEF09D-7C11-359D-79F7-D95BCAE751D4}"/>
              </a:ext>
            </a:extLst>
          </p:cNvPr>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a:extLst>
              <a:ext uri="{FF2B5EF4-FFF2-40B4-BE49-F238E27FC236}">
                <a16:creationId xmlns:a16="http://schemas.microsoft.com/office/drawing/2014/main" id="{DF544678-4D97-6F9E-E9DC-F8D48F40CE0E}"/>
              </a:ext>
            </a:extLst>
          </p:cNvPr>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a:extLst>
              <a:ext uri="{FF2B5EF4-FFF2-40B4-BE49-F238E27FC236}">
                <a16:creationId xmlns:a16="http://schemas.microsoft.com/office/drawing/2014/main" id="{7411D5EC-AD9A-0CCC-B737-A05B72ED33BA}"/>
              </a:ext>
            </a:extLst>
          </p:cNvPr>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a:extLst>
              <a:ext uri="{FF2B5EF4-FFF2-40B4-BE49-F238E27FC236}">
                <a16:creationId xmlns:a16="http://schemas.microsoft.com/office/drawing/2014/main" id="{B2EE62C0-63EC-4799-BE23-1F41A67D1977}"/>
              </a:ext>
            </a:extLst>
          </p:cNvPr>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a:extLst>
              <a:ext uri="{FF2B5EF4-FFF2-40B4-BE49-F238E27FC236}">
                <a16:creationId xmlns:a16="http://schemas.microsoft.com/office/drawing/2014/main" id="{FFBA1D9B-42BD-C9DB-131A-271CF7FFECD9}"/>
              </a:ext>
            </a:extLst>
          </p:cNvPr>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a:extLst>
              <a:ext uri="{FF2B5EF4-FFF2-40B4-BE49-F238E27FC236}">
                <a16:creationId xmlns:a16="http://schemas.microsoft.com/office/drawing/2014/main" id="{4857F054-DFC8-4E6C-69E5-F3A6B43FD4FA}"/>
              </a:ext>
            </a:extLst>
          </p:cNvPr>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99" name="Rectangle 59">
            <a:extLst>
              <a:ext uri="{FF2B5EF4-FFF2-40B4-BE49-F238E27FC236}">
                <a16:creationId xmlns:a16="http://schemas.microsoft.com/office/drawing/2014/main" id="{53FDC500-4915-B74A-B6F5-C8FBF37FA3C6}"/>
              </a:ext>
            </a:extLst>
          </p:cNvPr>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N</a:t>
            </a:r>
          </a:p>
        </p:txBody>
      </p:sp>
      <p:sp>
        <p:nvSpPr>
          <p:cNvPr id="105" name="Rectangle 50">
            <a:extLst>
              <a:ext uri="{FF2B5EF4-FFF2-40B4-BE49-F238E27FC236}">
                <a16:creationId xmlns:a16="http://schemas.microsoft.com/office/drawing/2014/main" id="{0C1D3D05-1C59-79A5-8525-69D4B31B1528}"/>
              </a:ext>
            </a:extLst>
          </p:cNvPr>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a:t>
            </a:r>
          </a:p>
        </p:txBody>
      </p:sp>
      <p:sp>
        <p:nvSpPr>
          <p:cNvPr id="102" name="Rectangle 59">
            <a:extLst>
              <a:ext uri="{FF2B5EF4-FFF2-40B4-BE49-F238E27FC236}">
                <a16:creationId xmlns:a16="http://schemas.microsoft.com/office/drawing/2014/main" id="{AE1801FF-98E8-5E6F-1975-79CA1B82A0D8}"/>
              </a:ext>
            </a:extLst>
          </p:cNvPr>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chemeClr val="tx1"/>
                </a:solidFill>
                <a:latin typeface="Courier New" pitchFamily="49" charset="0"/>
              </a:rPr>
              <a:t>N</a:t>
            </a:r>
          </a:p>
        </p:txBody>
      </p:sp>
      <p:sp>
        <p:nvSpPr>
          <p:cNvPr id="103" name="Rectangle 50">
            <a:extLst>
              <a:ext uri="{FF2B5EF4-FFF2-40B4-BE49-F238E27FC236}">
                <a16:creationId xmlns:a16="http://schemas.microsoft.com/office/drawing/2014/main" id="{159A75F2-9B6B-E968-C077-E2AF338AD623}"/>
              </a:ext>
            </a:extLst>
          </p:cNvPr>
          <p:cNvSpPr>
            <a:spLocks noChangeAspect="1" noChangeArrowheads="1"/>
          </p:cNvSpPr>
          <p:nvPr/>
        </p:nvSpPr>
        <p:spPr bwMode="auto">
          <a:xfrm>
            <a:off x="3503882" y="2353328"/>
            <a:ext cx="744437" cy="227222"/>
          </a:xfrm>
          <a:prstGeom prst="rect">
            <a:avLst/>
          </a:prstGeom>
          <a:noFill/>
          <a:ln w="28575">
            <a:noFill/>
            <a:miter lim="800000"/>
            <a:headEnd/>
            <a:tailEnd/>
          </a:ln>
          <a:effectLst/>
        </p:spPr>
        <p:txBody>
          <a:bodyPr wrap="none" anchor="ctr"/>
          <a:lstStyle/>
          <a:p>
            <a:pPr algn="ctr">
              <a:defRPr/>
            </a:pPr>
            <a:r>
              <a:rPr lang="en-US" sz="1400" b="1" dirty="0">
                <a:solidFill>
                  <a:schemeClr val="tx1"/>
                </a:solidFill>
                <a:latin typeface="Courier New" pitchFamily="49" charset="0"/>
              </a:rPr>
              <a:t>R4</a:t>
            </a:r>
          </a:p>
        </p:txBody>
      </p:sp>
      <p:cxnSp>
        <p:nvCxnSpPr>
          <p:cNvPr id="120" name="Straight Connector 119">
            <a:extLst>
              <a:ext uri="{FF2B5EF4-FFF2-40B4-BE49-F238E27FC236}">
                <a16:creationId xmlns:a16="http://schemas.microsoft.com/office/drawing/2014/main" id="{DF5FAA07-6151-6DA4-DE72-9555E1BE5BCF}"/>
              </a:ext>
            </a:extLst>
          </p:cNvPr>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2" name="Rectangle 50">
            <a:extLst>
              <a:ext uri="{FF2B5EF4-FFF2-40B4-BE49-F238E27FC236}">
                <a16:creationId xmlns:a16="http://schemas.microsoft.com/office/drawing/2014/main" id="{27D67C3C-2CEE-C287-F39A-AB956F0BD56B}"/>
              </a:ext>
            </a:extLst>
          </p:cNvPr>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2</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32" name="Rectangle 15">
            <a:extLst>
              <a:ext uri="{FF2B5EF4-FFF2-40B4-BE49-F238E27FC236}">
                <a16:creationId xmlns:a16="http://schemas.microsoft.com/office/drawing/2014/main" id="{16484B44-15AB-6997-84C9-9A7D970413BA}"/>
              </a:ext>
            </a:extLst>
          </p:cNvPr>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133" name="Rectangle 56">
            <a:extLst>
              <a:ext uri="{FF2B5EF4-FFF2-40B4-BE49-F238E27FC236}">
                <a16:creationId xmlns:a16="http://schemas.microsoft.com/office/drawing/2014/main" id="{0C9368BB-6E21-5C3C-D932-C47710FBE297}"/>
              </a:ext>
            </a:extLst>
          </p:cNvPr>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100" b="1" dirty="0">
              <a:solidFill>
                <a:srgbClr val="000000"/>
              </a:solidFill>
              <a:latin typeface="Courier New" pitchFamily="49" charset="0"/>
            </a:endParaRPr>
          </a:p>
        </p:txBody>
      </p:sp>
      <p:sp>
        <p:nvSpPr>
          <p:cNvPr id="135" name="Rectangle 56">
            <a:extLst>
              <a:ext uri="{FF2B5EF4-FFF2-40B4-BE49-F238E27FC236}">
                <a16:creationId xmlns:a16="http://schemas.microsoft.com/office/drawing/2014/main" id="{DE923401-42B4-4E43-5754-A67281D77253}"/>
              </a:ext>
            </a:extLst>
          </p:cNvPr>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chemeClr val="tx1"/>
                </a:solidFill>
                <a:latin typeface="Courier New" pitchFamily="49" charset="0"/>
              </a:rPr>
              <a:t>PC=0x08(DSUB R4,R4,R3)</a:t>
            </a:r>
          </a:p>
        </p:txBody>
      </p:sp>
      <p:sp>
        <p:nvSpPr>
          <p:cNvPr id="138" name="Rectangle 56">
            <a:extLst>
              <a:ext uri="{FF2B5EF4-FFF2-40B4-BE49-F238E27FC236}">
                <a16:creationId xmlns:a16="http://schemas.microsoft.com/office/drawing/2014/main" id="{7DFC12AD-1876-425D-6846-C01F8BCE5910}"/>
              </a:ext>
            </a:extLst>
          </p:cNvPr>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chemeClr val="bg1">
                    <a:lumMod val="85000"/>
                  </a:schemeClr>
                </a:solidFill>
                <a:latin typeface="Courier New" pitchFamily="49" charset="0"/>
              </a:rPr>
              <a:t>PC=0x04(BEQZ R3,Loop)</a:t>
            </a:r>
          </a:p>
        </p:txBody>
      </p:sp>
      <p:sp>
        <p:nvSpPr>
          <p:cNvPr id="139" name="AutoShape 67">
            <a:extLst>
              <a:ext uri="{FF2B5EF4-FFF2-40B4-BE49-F238E27FC236}">
                <a16:creationId xmlns:a16="http://schemas.microsoft.com/office/drawing/2014/main" id="{B86A6B64-6BBB-3706-649F-A9CF5AB3255E}"/>
              </a:ext>
            </a:extLst>
          </p:cNvPr>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8DB9611E-8C4B-EB97-A1AD-CAB81B351955}"/>
              </a:ext>
            </a:extLst>
          </p:cNvPr>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chemeClr val="bg1">
                    <a:lumMod val="75000"/>
                  </a:schemeClr>
                </a:solidFill>
                <a:latin typeface="Courier New" pitchFamily="49" charset="0"/>
              </a:rPr>
              <a:t>BEQZ  2,Loop</a:t>
            </a:r>
          </a:p>
        </p:txBody>
      </p:sp>
      <p:sp>
        <p:nvSpPr>
          <p:cNvPr id="607291" name="Rectangle 59">
            <a:extLst>
              <a:ext uri="{FF2B5EF4-FFF2-40B4-BE49-F238E27FC236}">
                <a16:creationId xmlns:a16="http://schemas.microsoft.com/office/drawing/2014/main" id="{8E90E4A4-159A-FE1F-458A-3B7D55CCF342}"/>
              </a:ext>
            </a:extLst>
          </p:cNvPr>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7" name="Rectangle 56">
            <a:extLst>
              <a:ext uri="{FF2B5EF4-FFF2-40B4-BE49-F238E27FC236}">
                <a16:creationId xmlns:a16="http://schemas.microsoft.com/office/drawing/2014/main" id="{D5001A87-44F0-8004-176C-39F075FF4EDF}"/>
              </a:ext>
            </a:extLst>
          </p:cNvPr>
          <p:cNvSpPr>
            <a:spLocks noChangeAspect="1" noChangeArrowheads="1"/>
          </p:cNvSpPr>
          <p:nvPr/>
        </p:nvSpPr>
        <p:spPr bwMode="auto">
          <a:xfrm>
            <a:off x="248194" y="4421613"/>
            <a:ext cx="2150420" cy="307305"/>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4  DSUB  6, 2</a:t>
            </a:r>
          </a:p>
        </p:txBody>
      </p:sp>
    </p:spTree>
    <p:extLst>
      <p:ext uri="{BB962C8B-B14F-4D97-AF65-F5344CB8AC3E}">
        <p14:creationId xmlns:p14="http://schemas.microsoft.com/office/powerpoint/2010/main" val="65113979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71CC5-12AA-FE76-8B0A-1471A3EFEFB9}"/>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5363D26A-0EE0-D80B-6759-D04038F69070}"/>
              </a:ext>
            </a:extLst>
          </p:cNvPr>
          <p:cNvSpPr>
            <a:spLocks noGrp="1" noChangeArrowheads="1"/>
          </p:cNvSpPr>
          <p:nvPr>
            <p:ph type="title"/>
          </p:nvPr>
        </p:nvSpPr>
        <p:spPr>
          <a:xfrm>
            <a:off x="838200" y="0"/>
            <a:ext cx="7562850" cy="609600"/>
          </a:xfrm>
          <a:noFill/>
        </p:spPr>
        <p:txBody>
          <a:bodyPr lIns="90487" tIns="44450" rIns="90487" bIns="44450"/>
          <a:lstStyle/>
          <a:p>
            <a:r>
              <a:rPr lang="en-US" sz="3600" dirty="0" err="1">
                <a:latin typeface="Arial  " charset="0"/>
                <a:cs typeface="Arial  " charset="0"/>
              </a:rPr>
              <a:t>Tomasulo</a:t>
            </a:r>
            <a:r>
              <a:rPr lang="en-US" sz="3600" dirty="0">
                <a:latin typeface="Arial  " charset="0"/>
                <a:cs typeface="Arial  " charset="0"/>
              </a:rPr>
              <a:t> With Reorder Buffer</a:t>
            </a:r>
            <a:endParaRPr lang="en-US" dirty="0">
              <a:latin typeface="Arial  " charset="0"/>
              <a:cs typeface="Arial  " charset="0"/>
            </a:endParaRPr>
          </a:p>
        </p:txBody>
      </p:sp>
      <p:grpSp>
        <p:nvGrpSpPr>
          <p:cNvPr id="2" name="Group 4">
            <a:extLst>
              <a:ext uri="{FF2B5EF4-FFF2-40B4-BE49-F238E27FC236}">
                <a16:creationId xmlns:a16="http://schemas.microsoft.com/office/drawing/2014/main" id="{E61C24D0-0DC5-2DEC-0BB2-E86EE99550B8}"/>
              </a:ext>
            </a:extLst>
          </p:cNvPr>
          <p:cNvGrpSpPr>
            <a:grpSpLocks noChangeAspect="1"/>
          </p:cNvGrpSpPr>
          <p:nvPr/>
        </p:nvGrpSpPr>
        <p:grpSpPr bwMode="auto">
          <a:xfrm>
            <a:off x="3015760" y="4593888"/>
            <a:ext cx="2656247" cy="354206"/>
            <a:chOff x="2064" y="2928"/>
            <a:chExt cx="1919" cy="256"/>
          </a:xfrm>
        </p:grpSpPr>
        <p:sp>
          <p:nvSpPr>
            <p:cNvPr id="607237" name="Rectangle 5">
              <a:extLst>
                <a:ext uri="{FF2B5EF4-FFF2-40B4-BE49-F238E27FC236}">
                  <a16:creationId xmlns:a16="http://schemas.microsoft.com/office/drawing/2014/main" id="{5A50529E-66D6-74AB-2771-93EC78CFEDDF}"/>
                </a:ext>
              </a:extLst>
            </p:cNvPr>
            <p:cNvSpPr>
              <a:spLocks noChangeAspect="1" noChangeArrowheads="1"/>
            </p:cNvSpPr>
            <p:nvPr/>
          </p:nvSpPr>
          <p:spPr bwMode="auto">
            <a:xfrm>
              <a:off x="2064" y="2928"/>
              <a:ext cx="1919"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38" name="Rectangle 6">
              <a:extLst>
                <a:ext uri="{FF2B5EF4-FFF2-40B4-BE49-F238E27FC236}">
                  <a16:creationId xmlns:a16="http://schemas.microsoft.com/office/drawing/2014/main" id="{A9DA87CA-EDB3-D1BE-016D-F2436E1ABF43}"/>
                </a:ext>
              </a:extLst>
            </p:cNvPr>
            <p:cNvSpPr>
              <a:spLocks noChangeAspect="1" noChangeArrowheads="1"/>
            </p:cNvSpPr>
            <p:nvPr/>
          </p:nvSpPr>
          <p:spPr bwMode="auto">
            <a:xfrm>
              <a:off x="2064" y="3057"/>
              <a:ext cx="1919"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933" name="Rectangle 7">
              <a:extLst>
                <a:ext uri="{FF2B5EF4-FFF2-40B4-BE49-F238E27FC236}">
                  <a16:creationId xmlns:a16="http://schemas.microsoft.com/office/drawing/2014/main" id="{CC3C1CFD-B8C7-16DB-42A1-F4ECC1535D1A}"/>
                </a:ext>
              </a:extLst>
            </p:cNvPr>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07240" name="Rectangle 8">
            <a:extLst>
              <a:ext uri="{FF2B5EF4-FFF2-40B4-BE49-F238E27FC236}">
                <a16:creationId xmlns:a16="http://schemas.microsoft.com/office/drawing/2014/main" id="{08077D54-4442-B774-9C3C-CA5E24597629}"/>
              </a:ext>
            </a:extLst>
          </p:cNvPr>
          <p:cNvSpPr>
            <a:spLocks noChangeAspect="1" noChangeArrowheads="1"/>
          </p:cNvSpPr>
          <p:nvPr/>
        </p:nvSpPr>
        <p:spPr bwMode="auto">
          <a:xfrm>
            <a:off x="264436" y="4461060"/>
            <a:ext cx="2258986" cy="17987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41" name="Rectangle 9">
            <a:extLst>
              <a:ext uri="{FF2B5EF4-FFF2-40B4-BE49-F238E27FC236}">
                <a16:creationId xmlns:a16="http://schemas.microsoft.com/office/drawing/2014/main" id="{FE9D1E1E-BD87-0A40-F5A0-42F6E5A983F2}"/>
              </a:ext>
            </a:extLst>
          </p:cNvPr>
          <p:cNvSpPr>
            <a:spLocks noChangeAspect="1" noChangeArrowheads="1"/>
          </p:cNvSpPr>
          <p:nvPr/>
        </p:nvSpPr>
        <p:spPr bwMode="auto">
          <a:xfrm>
            <a:off x="264436" y="4638163"/>
            <a:ext cx="2258986" cy="17295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42" name="Rectangle 10">
            <a:extLst>
              <a:ext uri="{FF2B5EF4-FFF2-40B4-BE49-F238E27FC236}">
                <a16:creationId xmlns:a16="http://schemas.microsoft.com/office/drawing/2014/main" id="{78C9E92E-7E91-7D0D-6D43-830DDF33A8C7}"/>
              </a:ext>
            </a:extLst>
          </p:cNvPr>
          <p:cNvSpPr>
            <a:spLocks noChangeAspect="1" noChangeArrowheads="1"/>
          </p:cNvSpPr>
          <p:nvPr/>
        </p:nvSpPr>
        <p:spPr bwMode="auto">
          <a:xfrm>
            <a:off x="264436" y="4815266"/>
            <a:ext cx="2258986" cy="1812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35853" name="Rectangle 11">
            <a:extLst>
              <a:ext uri="{FF2B5EF4-FFF2-40B4-BE49-F238E27FC236}">
                <a16:creationId xmlns:a16="http://schemas.microsoft.com/office/drawing/2014/main" id="{42F8C4DB-DEB8-093C-3DCC-9D64175279E5}"/>
              </a:ext>
            </a:extLst>
          </p:cNvPr>
          <p:cNvSpPr>
            <a:spLocks noChangeAspect="1" noChangeArrowheads="1"/>
          </p:cNvSpPr>
          <p:nvPr/>
        </p:nvSpPr>
        <p:spPr bwMode="auto">
          <a:xfrm>
            <a:off x="548641" y="4461060"/>
            <a:ext cx="692330" cy="531309"/>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35854" name="Line 12">
            <a:extLst>
              <a:ext uri="{FF2B5EF4-FFF2-40B4-BE49-F238E27FC236}">
                <a16:creationId xmlns:a16="http://schemas.microsoft.com/office/drawing/2014/main" id="{1448ED17-2711-EF98-B061-CE2238AEF770}"/>
              </a:ext>
            </a:extLst>
          </p:cNvPr>
          <p:cNvSpPr>
            <a:spLocks noChangeAspect="1" noChangeShapeType="1"/>
          </p:cNvSpPr>
          <p:nvPr/>
        </p:nvSpPr>
        <p:spPr bwMode="auto">
          <a:xfrm>
            <a:off x="878397" y="6054986"/>
            <a:ext cx="7441367" cy="0"/>
          </a:xfrm>
          <a:prstGeom prst="line">
            <a:avLst/>
          </a:prstGeom>
          <a:noFill/>
          <a:ln w="76200">
            <a:solidFill>
              <a:srgbClr val="7878DE"/>
            </a:solidFill>
            <a:round/>
            <a:headEnd/>
            <a:tailEnd/>
          </a:ln>
        </p:spPr>
        <p:txBody>
          <a:bodyPr wrap="none" anchor="ctr"/>
          <a:lstStyle/>
          <a:p>
            <a:endParaRPr lang="en-CA"/>
          </a:p>
        </p:txBody>
      </p:sp>
      <p:sp>
        <p:nvSpPr>
          <p:cNvPr id="607246" name="Rectangle 14">
            <a:extLst>
              <a:ext uri="{FF2B5EF4-FFF2-40B4-BE49-F238E27FC236}">
                <a16:creationId xmlns:a16="http://schemas.microsoft.com/office/drawing/2014/main" id="{7D6003D3-C536-5123-7DB7-42365DB80E76}"/>
              </a:ext>
            </a:extLst>
          </p:cNvPr>
          <p:cNvSpPr>
            <a:spLocks noChangeAspect="1" noChangeArrowheads="1"/>
          </p:cNvSpPr>
          <p:nvPr/>
        </p:nvSpPr>
        <p:spPr bwMode="auto">
          <a:xfrm>
            <a:off x="1028505" y="5457264"/>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adder</a:t>
            </a:r>
          </a:p>
        </p:txBody>
      </p:sp>
      <p:sp>
        <p:nvSpPr>
          <p:cNvPr id="607247" name="Rectangle 15">
            <a:extLst>
              <a:ext uri="{FF2B5EF4-FFF2-40B4-BE49-F238E27FC236}">
                <a16:creationId xmlns:a16="http://schemas.microsoft.com/office/drawing/2014/main" id="{E6FDEC56-AF34-D466-5256-6F0041A9AEB7}"/>
              </a:ext>
            </a:extLst>
          </p:cNvPr>
          <p:cNvSpPr>
            <a:spLocks noChangeAspect="1" noChangeArrowheads="1"/>
          </p:cNvSpPr>
          <p:nvPr/>
        </p:nvSpPr>
        <p:spPr bwMode="auto">
          <a:xfrm>
            <a:off x="3667710" y="5457264"/>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35858" name="Line 16">
            <a:extLst>
              <a:ext uri="{FF2B5EF4-FFF2-40B4-BE49-F238E27FC236}">
                <a16:creationId xmlns:a16="http://schemas.microsoft.com/office/drawing/2014/main" id="{8450D369-B56B-3693-F9F4-65B3FE6B4666}"/>
              </a:ext>
            </a:extLst>
          </p:cNvPr>
          <p:cNvSpPr>
            <a:spLocks noChangeAspect="1" noChangeShapeType="1"/>
          </p:cNvSpPr>
          <p:nvPr/>
        </p:nvSpPr>
        <p:spPr bwMode="auto">
          <a:xfrm>
            <a:off x="1182149"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59" name="Line 17">
            <a:extLst>
              <a:ext uri="{FF2B5EF4-FFF2-40B4-BE49-F238E27FC236}">
                <a16:creationId xmlns:a16="http://schemas.microsoft.com/office/drawing/2014/main" id="{47BEAFBE-9541-DD18-6D5D-D63FCD5DEEF8}"/>
              </a:ext>
            </a:extLst>
          </p:cNvPr>
          <p:cNvSpPr>
            <a:spLocks noChangeAspect="1" noChangeShapeType="1"/>
          </p:cNvSpPr>
          <p:nvPr/>
        </p:nvSpPr>
        <p:spPr bwMode="auto">
          <a:xfrm>
            <a:off x="1780116" y="4992369"/>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35860" name="Line 18">
            <a:extLst>
              <a:ext uri="{FF2B5EF4-FFF2-40B4-BE49-F238E27FC236}">
                <a16:creationId xmlns:a16="http://schemas.microsoft.com/office/drawing/2014/main" id="{9C9B7240-2DF0-193C-D413-D48CECCCC8BC}"/>
              </a:ext>
            </a:extLst>
          </p:cNvPr>
          <p:cNvSpPr>
            <a:spLocks noChangeAspect="1" noChangeShapeType="1"/>
          </p:cNvSpPr>
          <p:nvPr/>
        </p:nvSpPr>
        <p:spPr bwMode="auto">
          <a:xfrm>
            <a:off x="386703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1" name="Line 19">
            <a:extLst>
              <a:ext uri="{FF2B5EF4-FFF2-40B4-BE49-F238E27FC236}">
                <a16:creationId xmlns:a16="http://schemas.microsoft.com/office/drawing/2014/main" id="{BA250680-EFB2-E2E4-71A9-24D95979B24E}"/>
              </a:ext>
            </a:extLst>
          </p:cNvPr>
          <p:cNvSpPr>
            <a:spLocks noChangeAspect="1" noChangeShapeType="1"/>
          </p:cNvSpPr>
          <p:nvPr/>
        </p:nvSpPr>
        <p:spPr bwMode="auto">
          <a:xfrm>
            <a:off x="4664322" y="4925956"/>
            <a:ext cx="0" cy="531309"/>
          </a:xfrm>
          <a:prstGeom prst="line">
            <a:avLst/>
          </a:prstGeom>
          <a:noFill/>
          <a:ln w="28575">
            <a:solidFill>
              <a:schemeClr val="tx1"/>
            </a:solidFill>
            <a:round/>
            <a:headEnd/>
            <a:tailEnd type="triangle" w="med" len="med"/>
          </a:ln>
        </p:spPr>
        <p:txBody>
          <a:bodyPr wrap="none" anchor="ctr"/>
          <a:lstStyle/>
          <a:p>
            <a:endParaRPr lang="en-CA"/>
          </a:p>
        </p:txBody>
      </p:sp>
      <p:sp>
        <p:nvSpPr>
          <p:cNvPr id="35862" name="Text Box 20">
            <a:extLst>
              <a:ext uri="{FF2B5EF4-FFF2-40B4-BE49-F238E27FC236}">
                <a16:creationId xmlns:a16="http://schemas.microsoft.com/office/drawing/2014/main" id="{EFF1E52A-0E96-29AC-5E48-8BBF1C2C28EE}"/>
              </a:ext>
            </a:extLst>
          </p:cNvPr>
          <p:cNvSpPr txBox="1">
            <a:spLocks noChangeAspect="1" noChangeArrowheads="1"/>
          </p:cNvSpPr>
          <p:nvPr/>
        </p:nvSpPr>
        <p:spPr bwMode="auto">
          <a:xfrm>
            <a:off x="2289064" y="5075386"/>
            <a:ext cx="1258222"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Reservation </a:t>
            </a:r>
          </a:p>
          <a:p>
            <a:pPr algn="ctr"/>
            <a:r>
              <a:rPr lang="en-US" sz="1400" b="1" dirty="0">
                <a:solidFill>
                  <a:srgbClr val="000000"/>
                </a:solidFill>
                <a:cs typeface="Arial" pitchFamily="34" charset="0"/>
              </a:rPr>
              <a:t>Stations</a:t>
            </a:r>
          </a:p>
        </p:txBody>
      </p:sp>
      <p:sp>
        <p:nvSpPr>
          <p:cNvPr id="35863" name="Line 21">
            <a:extLst>
              <a:ext uri="{FF2B5EF4-FFF2-40B4-BE49-F238E27FC236}">
                <a16:creationId xmlns:a16="http://schemas.microsoft.com/office/drawing/2014/main" id="{51C0A8D7-3134-A593-8A65-6D5D625BC47A}"/>
              </a:ext>
            </a:extLst>
          </p:cNvPr>
          <p:cNvSpPr>
            <a:spLocks noChangeAspect="1" noChangeShapeType="1"/>
          </p:cNvSpPr>
          <p:nvPr/>
        </p:nvSpPr>
        <p:spPr bwMode="auto">
          <a:xfrm flipV="1">
            <a:off x="2191219" y="4992369"/>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35864" name="Line 22">
            <a:extLst>
              <a:ext uri="{FF2B5EF4-FFF2-40B4-BE49-F238E27FC236}">
                <a16:creationId xmlns:a16="http://schemas.microsoft.com/office/drawing/2014/main" id="{AC06AB81-7958-4EDF-E62C-88F18777E09B}"/>
              </a:ext>
            </a:extLst>
          </p:cNvPr>
          <p:cNvSpPr>
            <a:spLocks noChangeAspect="1" noChangeShapeType="1"/>
          </p:cNvSpPr>
          <p:nvPr/>
        </p:nvSpPr>
        <p:spPr bwMode="auto">
          <a:xfrm flipV="1">
            <a:off x="5075424" y="4925956"/>
            <a:ext cx="0" cy="1129031"/>
          </a:xfrm>
          <a:prstGeom prst="line">
            <a:avLst/>
          </a:prstGeom>
          <a:noFill/>
          <a:ln w="76200">
            <a:solidFill>
              <a:srgbClr val="7878DE"/>
            </a:solidFill>
            <a:round/>
            <a:headEnd/>
            <a:tailEnd type="triangle" w="med" len="med"/>
          </a:ln>
        </p:spPr>
        <p:txBody>
          <a:bodyPr wrap="none" anchor="ctr"/>
          <a:lstStyle/>
          <a:p>
            <a:endParaRPr lang="en-CA"/>
          </a:p>
        </p:txBody>
      </p:sp>
      <p:sp>
        <p:nvSpPr>
          <p:cNvPr id="35865" name="Text Box 23">
            <a:extLst>
              <a:ext uri="{FF2B5EF4-FFF2-40B4-BE49-F238E27FC236}">
                <a16:creationId xmlns:a16="http://schemas.microsoft.com/office/drawing/2014/main" id="{693615E4-627F-95A4-E2DA-ED39A8F27497}"/>
              </a:ext>
            </a:extLst>
          </p:cNvPr>
          <p:cNvSpPr txBox="1">
            <a:spLocks noChangeAspect="1" noChangeArrowheads="1"/>
          </p:cNvSpPr>
          <p:nvPr/>
        </p:nvSpPr>
        <p:spPr bwMode="auto">
          <a:xfrm>
            <a:off x="831335" y="1195726"/>
            <a:ext cx="740538" cy="419236"/>
          </a:xfrm>
          <a:prstGeom prst="rect">
            <a:avLst/>
          </a:prstGeom>
          <a:noFill/>
          <a:ln w="28575">
            <a:noFill/>
            <a:miter lim="800000"/>
            <a:headEnd/>
            <a:tailEnd/>
          </a:ln>
        </p:spPr>
        <p:txBody>
          <a:bodyPr wrap="none" anchor="ctr">
            <a:spAutoFit/>
          </a:bodyPr>
          <a:lstStyle/>
          <a:p>
            <a:pPr algn="ctr"/>
            <a:r>
              <a:rPr lang="en-US" sz="1400" b="1" dirty="0">
                <a:solidFill>
                  <a:srgbClr val="000000"/>
                </a:solidFill>
                <a:cs typeface="Arial" pitchFamily="34" charset="0"/>
              </a:rPr>
              <a:t>Intr.</a:t>
            </a:r>
          </a:p>
          <a:p>
            <a:pPr algn="ctr"/>
            <a:r>
              <a:rPr lang="en-US" sz="1400" b="1" dirty="0">
                <a:solidFill>
                  <a:srgbClr val="000000"/>
                </a:solidFill>
                <a:cs typeface="Arial" pitchFamily="34" charset="0"/>
              </a:rPr>
              <a:t>Queue</a:t>
            </a:r>
          </a:p>
        </p:txBody>
      </p:sp>
      <p:grpSp>
        <p:nvGrpSpPr>
          <p:cNvPr id="3" name="Group 24">
            <a:extLst>
              <a:ext uri="{FF2B5EF4-FFF2-40B4-BE49-F238E27FC236}">
                <a16:creationId xmlns:a16="http://schemas.microsoft.com/office/drawing/2014/main" id="{8F7FA9FC-092D-754C-2F7A-7608D9B9AA0C}"/>
              </a:ext>
            </a:extLst>
          </p:cNvPr>
          <p:cNvGrpSpPr>
            <a:grpSpLocks noChangeAspect="1"/>
          </p:cNvGrpSpPr>
          <p:nvPr/>
        </p:nvGrpSpPr>
        <p:grpSpPr bwMode="auto">
          <a:xfrm>
            <a:off x="3668910" y="3464857"/>
            <a:ext cx="1926783" cy="708412"/>
            <a:chOff x="3456" y="1200"/>
            <a:chExt cx="1392" cy="512"/>
          </a:xfrm>
        </p:grpSpPr>
        <p:sp>
          <p:nvSpPr>
            <p:cNvPr id="607257" name="Rectangle 25">
              <a:extLst>
                <a:ext uri="{FF2B5EF4-FFF2-40B4-BE49-F238E27FC236}">
                  <a16:creationId xmlns:a16="http://schemas.microsoft.com/office/drawing/2014/main" id="{6ED27672-87FA-155E-47B9-2FA988590920}"/>
                </a:ext>
              </a:extLst>
            </p:cNvPr>
            <p:cNvSpPr>
              <a:spLocks noChangeAspect="1" noChangeArrowheads="1"/>
            </p:cNvSpPr>
            <p:nvPr/>
          </p:nvSpPr>
          <p:spPr bwMode="auto">
            <a:xfrm>
              <a:off x="3456" y="1200"/>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8" name="Rectangle 26">
              <a:extLst>
                <a:ext uri="{FF2B5EF4-FFF2-40B4-BE49-F238E27FC236}">
                  <a16:creationId xmlns:a16="http://schemas.microsoft.com/office/drawing/2014/main" id="{6024DAAA-B74E-8D12-74C1-E0C6D7AE50FA}"/>
                </a:ext>
              </a:extLst>
            </p:cNvPr>
            <p:cNvSpPr>
              <a:spLocks noChangeAspect="1" noChangeArrowheads="1"/>
            </p:cNvSpPr>
            <p:nvPr/>
          </p:nvSpPr>
          <p:spPr bwMode="auto">
            <a:xfrm>
              <a:off x="3456" y="1329"/>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59" name="Rectangle 27">
              <a:extLst>
                <a:ext uri="{FF2B5EF4-FFF2-40B4-BE49-F238E27FC236}">
                  <a16:creationId xmlns:a16="http://schemas.microsoft.com/office/drawing/2014/main" id="{C115EC31-5174-44E5-4830-FDB5A10399BF}"/>
                </a:ext>
              </a:extLst>
            </p:cNvPr>
            <p:cNvSpPr>
              <a:spLocks noChangeAspect="1" noChangeArrowheads="1"/>
            </p:cNvSpPr>
            <p:nvPr/>
          </p:nvSpPr>
          <p:spPr bwMode="auto">
            <a:xfrm>
              <a:off x="3456" y="1456"/>
              <a:ext cx="1392" cy="129"/>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260" name="Rectangle 28">
              <a:extLst>
                <a:ext uri="{FF2B5EF4-FFF2-40B4-BE49-F238E27FC236}">
                  <a16:creationId xmlns:a16="http://schemas.microsoft.com/office/drawing/2014/main" id="{FDFC4351-07EC-1538-CDFE-FF0770E98B7F}"/>
                </a:ext>
              </a:extLst>
            </p:cNvPr>
            <p:cNvSpPr>
              <a:spLocks noChangeAspect="1" noChangeArrowheads="1"/>
            </p:cNvSpPr>
            <p:nvPr/>
          </p:nvSpPr>
          <p:spPr bwMode="auto">
            <a:xfrm>
              <a:off x="3456" y="1585"/>
              <a:ext cx="1392" cy="12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68" name="Text Box 30">
            <a:extLst>
              <a:ext uri="{FF2B5EF4-FFF2-40B4-BE49-F238E27FC236}">
                <a16:creationId xmlns:a16="http://schemas.microsoft.com/office/drawing/2014/main" id="{0877ECE7-53D5-10C0-97A4-DAC047453440}"/>
              </a:ext>
            </a:extLst>
          </p:cNvPr>
          <p:cNvSpPr txBox="1">
            <a:spLocks noChangeAspect="1" noChangeArrowheads="1"/>
          </p:cNvSpPr>
          <p:nvPr/>
        </p:nvSpPr>
        <p:spPr bwMode="auto">
          <a:xfrm>
            <a:off x="7085073" y="1295346"/>
            <a:ext cx="596583" cy="190524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 name="Group 31">
            <a:extLst>
              <a:ext uri="{FF2B5EF4-FFF2-40B4-BE49-F238E27FC236}">
                <a16:creationId xmlns:a16="http://schemas.microsoft.com/office/drawing/2014/main" id="{99142496-F6F5-5BC3-4CAA-6DCD252C6A37}"/>
              </a:ext>
            </a:extLst>
          </p:cNvPr>
          <p:cNvGrpSpPr>
            <a:grpSpLocks noChangeAspect="1"/>
          </p:cNvGrpSpPr>
          <p:nvPr/>
        </p:nvGrpSpPr>
        <p:grpSpPr bwMode="auto">
          <a:xfrm>
            <a:off x="3668910" y="1273208"/>
            <a:ext cx="3388480" cy="1062617"/>
            <a:chOff x="2208" y="576"/>
            <a:chExt cx="2448" cy="768"/>
          </a:xfrm>
        </p:grpSpPr>
        <p:sp>
          <p:nvSpPr>
            <p:cNvPr id="607264" name="Rectangle 32">
              <a:extLst>
                <a:ext uri="{FF2B5EF4-FFF2-40B4-BE49-F238E27FC236}">
                  <a16:creationId xmlns:a16="http://schemas.microsoft.com/office/drawing/2014/main" id="{099F0742-041F-AC42-D9AD-97EE7165D04B}"/>
                </a:ext>
              </a:extLst>
            </p:cNvPr>
            <p:cNvSpPr>
              <a:spLocks noChangeAspect="1" noChangeArrowheads="1"/>
            </p:cNvSpPr>
            <p:nvPr/>
          </p:nvSpPr>
          <p:spPr bwMode="auto">
            <a:xfrm>
              <a:off x="2208" y="576"/>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5" name="Rectangle 33">
              <a:extLst>
                <a:ext uri="{FF2B5EF4-FFF2-40B4-BE49-F238E27FC236}">
                  <a16:creationId xmlns:a16="http://schemas.microsoft.com/office/drawing/2014/main" id="{6ED7107B-9C7F-B22B-BF5C-14ABBDEAD6C7}"/>
                </a:ext>
              </a:extLst>
            </p:cNvPr>
            <p:cNvSpPr>
              <a:spLocks noChangeAspect="1" noChangeArrowheads="1"/>
            </p:cNvSpPr>
            <p:nvPr/>
          </p:nvSpPr>
          <p:spPr bwMode="auto">
            <a:xfrm>
              <a:off x="2208" y="768"/>
              <a:ext cx="240"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6" name="Rectangle 34">
              <a:extLst>
                <a:ext uri="{FF2B5EF4-FFF2-40B4-BE49-F238E27FC236}">
                  <a16:creationId xmlns:a16="http://schemas.microsoft.com/office/drawing/2014/main" id="{37DAA746-EAB4-985B-7ED3-F11FACB089D7}"/>
                </a:ext>
              </a:extLst>
            </p:cNvPr>
            <p:cNvSpPr>
              <a:spLocks noChangeAspect="1" noChangeArrowheads="1"/>
            </p:cNvSpPr>
            <p:nvPr/>
          </p:nvSpPr>
          <p:spPr bwMode="auto">
            <a:xfrm>
              <a:off x="2448" y="576"/>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7" name="Rectangle 35">
              <a:extLst>
                <a:ext uri="{FF2B5EF4-FFF2-40B4-BE49-F238E27FC236}">
                  <a16:creationId xmlns:a16="http://schemas.microsoft.com/office/drawing/2014/main" id="{EC4DB400-4594-BDFC-A76F-3927051F3FDD}"/>
                </a:ext>
              </a:extLst>
            </p:cNvPr>
            <p:cNvSpPr>
              <a:spLocks noChangeAspect="1" noChangeArrowheads="1"/>
            </p:cNvSpPr>
            <p:nvPr/>
          </p:nvSpPr>
          <p:spPr bwMode="auto">
            <a:xfrm>
              <a:off x="2448" y="768"/>
              <a:ext cx="62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68" name="Rectangle 36">
              <a:extLst>
                <a:ext uri="{FF2B5EF4-FFF2-40B4-BE49-F238E27FC236}">
                  <a16:creationId xmlns:a16="http://schemas.microsoft.com/office/drawing/2014/main" id="{7AC7ABD4-1D26-136C-5C6B-DC7F9BB58A98}"/>
                </a:ext>
              </a:extLst>
            </p:cNvPr>
            <p:cNvSpPr>
              <a:spLocks noChangeAspect="1" noChangeArrowheads="1"/>
            </p:cNvSpPr>
            <p:nvPr/>
          </p:nvSpPr>
          <p:spPr bwMode="auto">
            <a:xfrm>
              <a:off x="3073" y="576"/>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69" name="Rectangle 37">
              <a:extLst>
                <a:ext uri="{FF2B5EF4-FFF2-40B4-BE49-F238E27FC236}">
                  <a16:creationId xmlns:a16="http://schemas.microsoft.com/office/drawing/2014/main" id="{084DCFA0-AC06-6B29-345F-A2526782F554}"/>
                </a:ext>
              </a:extLst>
            </p:cNvPr>
            <p:cNvSpPr>
              <a:spLocks noChangeAspect="1" noChangeArrowheads="1"/>
            </p:cNvSpPr>
            <p:nvPr/>
          </p:nvSpPr>
          <p:spPr bwMode="auto">
            <a:xfrm>
              <a:off x="3073" y="768"/>
              <a:ext cx="1345"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0" name="Rectangle 38">
              <a:extLst>
                <a:ext uri="{FF2B5EF4-FFF2-40B4-BE49-F238E27FC236}">
                  <a16:creationId xmlns:a16="http://schemas.microsoft.com/office/drawing/2014/main" id="{1E95C23B-6F6F-6E56-9A59-30771F0E7D33}"/>
                </a:ext>
              </a:extLst>
            </p:cNvPr>
            <p:cNvSpPr>
              <a:spLocks noChangeAspect="1" noChangeArrowheads="1"/>
            </p:cNvSpPr>
            <p:nvPr/>
          </p:nvSpPr>
          <p:spPr bwMode="auto">
            <a:xfrm>
              <a:off x="4418" y="576"/>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1" name="Rectangle 39">
              <a:extLst>
                <a:ext uri="{FF2B5EF4-FFF2-40B4-BE49-F238E27FC236}">
                  <a16:creationId xmlns:a16="http://schemas.microsoft.com/office/drawing/2014/main" id="{38BEF461-30A5-DBB4-B436-250834569F79}"/>
                </a:ext>
              </a:extLst>
            </p:cNvPr>
            <p:cNvSpPr>
              <a:spLocks noChangeAspect="1" noChangeArrowheads="1"/>
            </p:cNvSpPr>
            <p:nvPr/>
          </p:nvSpPr>
          <p:spPr bwMode="auto">
            <a:xfrm>
              <a:off x="4418" y="768"/>
              <a:ext cx="242" cy="19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2" name="Rectangle 40">
              <a:extLst>
                <a:ext uri="{FF2B5EF4-FFF2-40B4-BE49-F238E27FC236}">
                  <a16:creationId xmlns:a16="http://schemas.microsoft.com/office/drawing/2014/main" id="{36002EA5-D577-0659-481D-8AB7C0E8EDE1}"/>
                </a:ext>
              </a:extLst>
            </p:cNvPr>
            <p:cNvSpPr>
              <a:spLocks noChangeAspect="1" noChangeArrowheads="1"/>
            </p:cNvSpPr>
            <p:nvPr/>
          </p:nvSpPr>
          <p:spPr bwMode="auto">
            <a:xfrm>
              <a:off x="2208" y="960"/>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3" name="Rectangle 41">
              <a:extLst>
                <a:ext uri="{FF2B5EF4-FFF2-40B4-BE49-F238E27FC236}">
                  <a16:creationId xmlns:a16="http://schemas.microsoft.com/office/drawing/2014/main" id="{E7BD13D4-8C33-14D9-98C8-8B8B5607E7D1}"/>
                </a:ext>
              </a:extLst>
            </p:cNvPr>
            <p:cNvSpPr>
              <a:spLocks noChangeAspect="1" noChangeArrowheads="1"/>
            </p:cNvSpPr>
            <p:nvPr/>
          </p:nvSpPr>
          <p:spPr bwMode="auto">
            <a:xfrm>
              <a:off x="2448" y="960"/>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4" name="Rectangle 42">
              <a:extLst>
                <a:ext uri="{FF2B5EF4-FFF2-40B4-BE49-F238E27FC236}">
                  <a16:creationId xmlns:a16="http://schemas.microsoft.com/office/drawing/2014/main" id="{D3122C47-310B-9E95-4550-B0D569ACDA19}"/>
                </a:ext>
              </a:extLst>
            </p:cNvPr>
            <p:cNvSpPr>
              <a:spLocks noChangeAspect="1" noChangeArrowheads="1"/>
            </p:cNvSpPr>
            <p:nvPr/>
          </p:nvSpPr>
          <p:spPr bwMode="auto">
            <a:xfrm>
              <a:off x="3073" y="960"/>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5" name="Rectangle 43">
              <a:extLst>
                <a:ext uri="{FF2B5EF4-FFF2-40B4-BE49-F238E27FC236}">
                  <a16:creationId xmlns:a16="http://schemas.microsoft.com/office/drawing/2014/main" id="{803396EA-752E-A048-E50B-4BD12E452B47}"/>
                </a:ext>
              </a:extLst>
            </p:cNvPr>
            <p:cNvSpPr>
              <a:spLocks noChangeAspect="1" noChangeArrowheads="1"/>
            </p:cNvSpPr>
            <p:nvPr/>
          </p:nvSpPr>
          <p:spPr bwMode="auto">
            <a:xfrm>
              <a:off x="4418" y="960"/>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6" name="Rectangle 44">
              <a:extLst>
                <a:ext uri="{FF2B5EF4-FFF2-40B4-BE49-F238E27FC236}">
                  <a16:creationId xmlns:a16="http://schemas.microsoft.com/office/drawing/2014/main" id="{0E752396-BB52-38A6-0776-6E4F7F695B9B}"/>
                </a:ext>
              </a:extLst>
            </p:cNvPr>
            <p:cNvSpPr>
              <a:spLocks noChangeAspect="1" noChangeArrowheads="1"/>
            </p:cNvSpPr>
            <p:nvPr/>
          </p:nvSpPr>
          <p:spPr bwMode="auto">
            <a:xfrm>
              <a:off x="2208" y="1152"/>
              <a:ext cx="240"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7" name="Rectangle 45">
              <a:extLst>
                <a:ext uri="{FF2B5EF4-FFF2-40B4-BE49-F238E27FC236}">
                  <a16:creationId xmlns:a16="http://schemas.microsoft.com/office/drawing/2014/main" id="{B27F39B8-1A84-DDA8-90C5-04F9A297F543}"/>
                </a:ext>
              </a:extLst>
            </p:cNvPr>
            <p:cNvSpPr>
              <a:spLocks noChangeAspect="1" noChangeArrowheads="1"/>
            </p:cNvSpPr>
            <p:nvPr/>
          </p:nvSpPr>
          <p:spPr bwMode="auto">
            <a:xfrm>
              <a:off x="2448" y="1152"/>
              <a:ext cx="62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78" name="Rectangle 46">
              <a:extLst>
                <a:ext uri="{FF2B5EF4-FFF2-40B4-BE49-F238E27FC236}">
                  <a16:creationId xmlns:a16="http://schemas.microsoft.com/office/drawing/2014/main" id="{9FF2F6E9-1EB8-458B-13D1-9C13F332E1C2}"/>
                </a:ext>
              </a:extLst>
            </p:cNvPr>
            <p:cNvSpPr>
              <a:spLocks noChangeAspect="1" noChangeArrowheads="1"/>
            </p:cNvSpPr>
            <p:nvPr/>
          </p:nvSpPr>
          <p:spPr bwMode="auto">
            <a:xfrm>
              <a:off x="3073" y="1152"/>
              <a:ext cx="1345"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79" name="Rectangle 47">
              <a:extLst>
                <a:ext uri="{FF2B5EF4-FFF2-40B4-BE49-F238E27FC236}">
                  <a16:creationId xmlns:a16="http://schemas.microsoft.com/office/drawing/2014/main" id="{7C254FD1-F06E-863A-C807-7BA12F7224F6}"/>
                </a:ext>
              </a:extLst>
            </p:cNvPr>
            <p:cNvSpPr>
              <a:spLocks noChangeAspect="1" noChangeArrowheads="1"/>
            </p:cNvSpPr>
            <p:nvPr/>
          </p:nvSpPr>
          <p:spPr bwMode="auto">
            <a:xfrm>
              <a:off x="4418" y="1152"/>
              <a:ext cx="242" cy="19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607280" name="Rectangle 48">
            <a:extLst>
              <a:ext uri="{FF2B5EF4-FFF2-40B4-BE49-F238E27FC236}">
                <a16:creationId xmlns:a16="http://schemas.microsoft.com/office/drawing/2014/main" id="{4CE914BC-FDC5-921C-BE39-9AB21175B09C}"/>
              </a:ext>
            </a:extLst>
          </p:cNvPr>
          <p:cNvSpPr>
            <a:spLocks noChangeAspect="1" noChangeArrowheads="1"/>
          </p:cNvSpPr>
          <p:nvPr/>
        </p:nvSpPr>
        <p:spPr bwMode="auto">
          <a:xfrm>
            <a:off x="3668910" y="2335826"/>
            <a:ext cx="332204"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1" name="Rectangle 49">
            <a:extLst>
              <a:ext uri="{FF2B5EF4-FFF2-40B4-BE49-F238E27FC236}">
                <a16:creationId xmlns:a16="http://schemas.microsoft.com/office/drawing/2014/main" id="{9F18C1B4-EA9A-02C5-37A5-020D7BBFC9B1}"/>
              </a:ext>
            </a:extLst>
          </p:cNvPr>
          <p:cNvSpPr>
            <a:spLocks noChangeAspect="1" noChangeArrowheads="1"/>
          </p:cNvSpPr>
          <p:nvPr/>
        </p:nvSpPr>
        <p:spPr bwMode="auto">
          <a:xfrm>
            <a:off x="3668910" y="2601480"/>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2" name="Rectangle 50">
            <a:extLst>
              <a:ext uri="{FF2B5EF4-FFF2-40B4-BE49-F238E27FC236}">
                <a16:creationId xmlns:a16="http://schemas.microsoft.com/office/drawing/2014/main" id="{47A9FBED-3E24-19DB-0672-802E70BDD816}"/>
              </a:ext>
            </a:extLst>
          </p:cNvPr>
          <p:cNvSpPr>
            <a:spLocks noChangeAspect="1" noChangeArrowheads="1"/>
          </p:cNvSpPr>
          <p:nvPr/>
        </p:nvSpPr>
        <p:spPr bwMode="auto">
          <a:xfrm>
            <a:off x="3668910" y="2867134"/>
            <a:ext cx="332204"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607283" name="Rectangle 51">
            <a:extLst>
              <a:ext uri="{FF2B5EF4-FFF2-40B4-BE49-F238E27FC236}">
                <a16:creationId xmlns:a16="http://schemas.microsoft.com/office/drawing/2014/main" id="{A2665A1D-3C15-77A0-E149-CE119C5483B3}"/>
              </a:ext>
            </a:extLst>
          </p:cNvPr>
          <p:cNvSpPr>
            <a:spLocks noChangeAspect="1" noChangeArrowheads="1"/>
          </p:cNvSpPr>
          <p:nvPr/>
        </p:nvSpPr>
        <p:spPr bwMode="auto">
          <a:xfrm>
            <a:off x="4001114" y="2335826"/>
            <a:ext cx="863730"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84" name="Rectangle 52">
            <a:extLst>
              <a:ext uri="{FF2B5EF4-FFF2-40B4-BE49-F238E27FC236}">
                <a16:creationId xmlns:a16="http://schemas.microsoft.com/office/drawing/2014/main" id="{5368FC47-8F5C-BD19-929E-A8674751DA26}"/>
              </a:ext>
            </a:extLst>
          </p:cNvPr>
          <p:cNvSpPr>
            <a:spLocks noChangeAspect="1" noChangeArrowheads="1"/>
          </p:cNvSpPr>
          <p:nvPr/>
        </p:nvSpPr>
        <p:spPr bwMode="auto">
          <a:xfrm>
            <a:off x="4001114" y="2601480"/>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chemeClr val="bg1">
                    <a:lumMod val="85000"/>
                  </a:schemeClr>
                </a:solidFill>
                <a:latin typeface="Courier New" pitchFamily="49" charset="0"/>
              </a:rPr>
              <a:t>-</a:t>
            </a:r>
          </a:p>
        </p:txBody>
      </p:sp>
      <p:sp>
        <p:nvSpPr>
          <p:cNvPr id="607285" name="Rectangle 53">
            <a:extLst>
              <a:ext uri="{FF2B5EF4-FFF2-40B4-BE49-F238E27FC236}">
                <a16:creationId xmlns:a16="http://schemas.microsoft.com/office/drawing/2014/main" id="{7346993B-1B03-4689-BF4B-9219EA75406D}"/>
              </a:ext>
            </a:extLst>
          </p:cNvPr>
          <p:cNvSpPr>
            <a:spLocks noChangeAspect="1" noChangeArrowheads="1"/>
          </p:cNvSpPr>
          <p:nvPr/>
        </p:nvSpPr>
        <p:spPr bwMode="auto">
          <a:xfrm>
            <a:off x="4001114" y="2867134"/>
            <a:ext cx="863730"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607286" name="Rectangle 54">
            <a:extLst>
              <a:ext uri="{FF2B5EF4-FFF2-40B4-BE49-F238E27FC236}">
                <a16:creationId xmlns:a16="http://schemas.microsoft.com/office/drawing/2014/main" id="{C924E2F1-2569-0643-BE2C-D4673D35EA3E}"/>
              </a:ext>
            </a:extLst>
          </p:cNvPr>
          <p:cNvSpPr>
            <a:spLocks noChangeAspect="1" noChangeArrowheads="1"/>
          </p:cNvSpPr>
          <p:nvPr/>
        </p:nvSpPr>
        <p:spPr bwMode="auto">
          <a:xfrm>
            <a:off x="4863460" y="2335826"/>
            <a:ext cx="185895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chemeClr val="tx1"/>
              </a:solidFill>
              <a:latin typeface="Courier New" pitchFamily="49" charset="0"/>
            </a:endParaRPr>
          </a:p>
        </p:txBody>
      </p:sp>
      <p:sp>
        <p:nvSpPr>
          <p:cNvPr id="607287" name="Rectangle 55">
            <a:extLst>
              <a:ext uri="{FF2B5EF4-FFF2-40B4-BE49-F238E27FC236}">
                <a16:creationId xmlns:a16="http://schemas.microsoft.com/office/drawing/2014/main" id="{A6A18AF0-5751-3E89-76B0-9F7A601F5A8E}"/>
              </a:ext>
            </a:extLst>
          </p:cNvPr>
          <p:cNvSpPr>
            <a:spLocks noChangeAspect="1" noChangeArrowheads="1"/>
          </p:cNvSpPr>
          <p:nvPr/>
        </p:nvSpPr>
        <p:spPr bwMode="auto">
          <a:xfrm>
            <a:off x="4863460" y="2601480"/>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07289" name="Rectangle 57">
            <a:extLst>
              <a:ext uri="{FF2B5EF4-FFF2-40B4-BE49-F238E27FC236}">
                <a16:creationId xmlns:a16="http://schemas.microsoft.com/office/drawing/2014/main" id="{4AA51BEE-8CA8-4264-B972-26E88A15231F}"/>
              </a:ext>
            </a:extLst>
          </p:cNvPr>
          <p:cNvSpPr>
            <a:spLocks noChangeAspect="1" noChangeArrowheads="1"/>
          </p:cNvSpPr>
          <p:nvPr/>
        </p:nvSpPr>
        <p:spPr bwMode="auto">
          <a:xfrm>
            <a:off x="6725186" y="2335826"/>
            <a:ext cx="333588" cy="26842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07290" name="Rectangle 58">
            <a:extLst>
              <a:ext uri="{FF2B5EF4-FFF2-40B4-BE49-F238E27FC236}">
                <a16:creationId xmlns:a16="http://schemas.microsoft.com/office/drawing/2014/main" id="{4A965E69-E5D6-E9AE-D13B-51D4BA268DC0}"/>
              </a:ext>
            </a:extLst>
          </p:cNvPr>
          <p:cNvSpPr>
            <a:spLocks noChangeAspect="1" noChangeArrowheads="1"/>
          </p:cNvSpPr>
          <p:nvPr/>
        </p:nvSpPr>
        <p:spPr bwMode="auto">
          <a:xfrm>
            <a:off x="6725186" y="2601480"/>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35882" name="Line 60">
            <a:extLst>
              <a:ext uri="{FF2B5EF4-FFF2-40B4-BE49-F238E27FC236}">
                <a16:creationId xmlns:a16="http://schemas.microsoft.com/office/drawing/2014/main" id="{33B3F157-2E79-D192-3878-59D24295310D}"/>
              </a:ext>
            </a:extLst>
          </p:cNvPr>
          <p:cNvSpPr>
            <a:spLocks noChangeAspect="1" noChangeShapeType="1"/>
          </p:cNvSpPr>
          <p:nvPr/>
        </p:nvSpPr>
        <p:spPr bwMode="auto">
          <a:xfrm>
            <a:off x="4931285" y="3132789"/>
            <a:ext cx="0" cy="332068"/>
          </a:xfrm>
          <a:prstGeom prst="line">
            <a:avLst/>
          </a:prstGeom>
          <a:noFill/>
          <a:ln w="76200">
            <a:solidFill>
              <a:srgbClr val="7878DE"/>
            </a:solidFill>
            <a:round/>
            <a:headEnd/>
            <a:tailEnd type="triangle" w="med" len="med"/>
          </a:ln>
        </p:spPr>
        <p:txBody>
          <a:bodyPr wrap="none" anchor="ctr"/>
          <a:lstStyle/>
          <a:p>
            <a:endParaRPr lang="en-CA"/>
          </a:p>
        </p:txBody>
      </p:sp>
      <p:sp>
        <p:nvSpPr>
          <p:cNvPr id="35883" name="Text Box 61">
            <a:extLst>
              <a:ext uri="{FF2B5EF4-FFF2-40B4-BE49-F238E27FC236}">
                <a16:creationId xmlns:a16="http://schemas.microsoft.com/office/drawing/2014/main" id="{67D5F931-8E8D-3CCD-0D7E-CD9550CED87F}"/>
              </a:ext>
            </a:extLst>
          </p:cNvPr>
          <p:cNvSpPr txBox="1">
            <a:spLocks noChangeAspect="1" noChangeArrowheads="1"/>
          </p:cNvSpPr>
          <p:nvPr/>
        </p:nvSpPr>
        <p:spPr bwMode="auto">
          <a:xfrm>
            <a:off x="6614451" y="928688"/>
            <a:ext cx="704549"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607294" name="Freeform 62">
            <a:extLst>
              <a:ext uri="{FF2B5EF4-FFF2-40B4-BE49-F238E27FC236}">
                <a16:creationId xmlns:a16="http://schemas.microsoft.com/office/drawing/2014/main" id="{37C82BEB-3503-E3A4-357C-F91F6B9D17D9}"/>
              </a:ext>
            </a:extLst>
          </p:cNvPr>
          <p:cNvSpPr>
            <a:spLocks noChangeAspect="1"/>
          </p:cNvSpPr>
          <p:nvPr/>
        </p:nvSpPr>
        <p:spPr bwMode="auto">
          <a:xfrm>
            <a:off x="7654834" y="2209917"/>
            <a:ext cx="627016" cy="3810479"/>
          </a:xfrm>
          <a:custGeom>
            <a:avLst/>
            <a:gdLst/>
            <a:ahLst/>
            <a:cxnLst>
              <a:cxn ang="0">
                <a:pos x="576" y="2832"/>
              </a:cxn>
              <a:cxn ang="0">
                <a:pos x="576" y="0"/>
              </a:cxn>
              <a:cxn ang="0">
                <a:pos x="0" y="0"/>
              </a:cxn>
            </a:cxnLst>
            <a:rect l="0" t="0" r="r" b="b"/>
            <a:pathLst>
              <a:path w="576" h="2832">
                <a:moveTo>
                  <a:pt x="576" y="2832"/>
                </a:moveTo>
                <a:lnTo>
                  <a:pt x="576" y="0"/>
                </a:lnTo>
                <a:lnTo>
                  <a:pt x="0" y="0"/>
                </a:lnTo>
              </a:path>
            </a:pathLst>
          </a:custGeom>
          <a:noFill/>
          <a:ln w="76200" cap="flat" cmpd="sng">
            <a:solidFill>
              <a:schemeClr val="accent6">
                <a:lumMod val="60000"/>
                <a:lumOff val="40000"/>
              </a:schemeClr>
            </a:solidFill>
            <a:prstDash val="solid"/>
            <a:round/>
            <a:headEnd type="none" w="med" len="med"/>
            <a:tailEnd type="triangle" w="med" len="med"/>
          </a:ln>
          <a:effectLst/>
        </p:spPr>
        <p:txBody>
          <a:bodyPr wrap="none" anchor="ctr"/>
          <a:lstStyle/>
          <a:p>
            <a:pPr>
              <a:defRPr/>
            </a:pPr>
            <a:endParaRPr lang="en-US">
              <a:solidFill>
                <a:srgbClr val="000000"/>
              </a:solidFill>
            </a:endParaRPr>
          </a:p>
        </p:txBody>
      </p:sp>
      <p:sp>
        <p:nvSpPr>
          <p:cNvPr id="35885" name="Line 63">
            <a:extLst>
              <a:ext uri="{FF2B5EF4-FFF2-40B4-BE49-F238E27FC236}">
                <a16:creationId xmlns:a16="http://schemas.microsoft.com/office/drawing/2014/main" id="{7BB18E09-F372-840B-F652-154D4E00F47A}"/>
              </a:ext>
            </a:extLst>
          </p:cNvPr>
          <p:cNvSpPr>
            <a:spLocks noChangeAspect="1" noChangeShapeType="1"/>
          </p:cNvSpPr>
          <p:nvPr/>
        </p:nvSpPr>
        <p:spPr bwMode="auto">
          <a:xfrm flipH="1">
            <a:off x="4278135" y="5722919"/>
            <a:ext cx="0" cy="398481"/>
          </a:xfrm>
          <a:prstGeom prst="line">
            <a:avLst/>
          </a:prstGeom>
          <a:noFill/>
          <a:ln w="76200">
            <a:solidFill>
              <a:srgbClr val="7878DE"/>
            </a:solidFill>
            <a:round/>
            <a:headEnd/>
            <a:tailEnd type="triangle" w="med" len="med"/>
          </a:ln>
        </p:spPr>
        <p:txBody>
          <a:bodyPr wrap="none" anchor="ctr"/>
          <a:lstStyle/>
          <a:p>
            <a:endParaRPr lang="en-CA"/>
          </a:p>
        </p:txBody>
      </p:sp>
      <p:sp>
        <p:nvSpPr>
          <p:cNvPr id="35886" name="Line 64">
            <a:extLst>
              <a:ext uri="{FF2B5EF4-FFF2-40B4-BE49-F238E27FC236}">
                <a16:creationId xmlns:a16="http://schemas.microsoft.com/office/drawing/2014/main" id="{9CDBB228-3E79-8AB8-1FCE-A94F805978DE}"/>
              </a:ext>
            </a:extLst>
          </p:cNvPr>
          <p:cNvSpPr>
            <a:spLocks noChangeAspect="1" noChangeShapeType="1"/>
          </p:cNvSpPr>
          <p:nvPr/>
        </p:nvSpPr>
        <p:spPr bwMode="auto">
          <a:xfrm flipH="1">
            <a:off x="1494975" y="5718768"/>
            <a:ext cx="6921" cy="350055"/>
          </a:xfrm>
          <a:prstGeom prst="line">
            <a:avLst/>
          </a:prstGeom>
          <a:noFill/>
          <a:ln w="76200">
            <a:solidFill>
              <a:srgbClr val="7878DE"/>
            </a:solidFill>
            <a:round/>
            <a:headEnd/>
            <a:tailEnd type="triangle" w="med" len="med"/>
          </a:ln>
        </p:spPr>
        <p:txBody>
          <a:bodyPr wrap="none" anchor="ctr"/>
          <a:lstStyle/>
          <a:p>
            <a:endParaRPr lang="en-CA"/>
          </a:p>
        </p:txBody>
      </p:sp>
      <p:sp>
        <p:nvSpPr>
          <p:cNvPr id="35887" name="Text Box 65">
            <a:extLst>
              <a:ext uri="{FF2B5EF4-FFF2-40B4-BE49-F238E27FC236}">
                <a16:creationId xmlns:a16="http://schemas.microsoft.com/office/drawing/2014/main" id="{ADF030DA-F32B-6C4A-8DBE-67A002846C26}"/>
              </a:ext>
            </a:extLst>
          </p:cNvPr>
          <p:cNvSpPr txBox="1">
            <a:spLocks noChangeAspect="1" noChangeArrowheads="1"/>
          </p:cNvSpPr>
          <p:nvPr/>
        </p:nvSpPr>
        <p:spPr bwMode="auto">
          <a:xfrm>
            <a:off x="127402" y="4131760"/>
            <a:ext cx="586894"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35888" name="Text Box 66">
            <a:extLst>
              <a:ext uri="{FF2B5EF4-FFF2-40B4-BE49-F238E27FC236}">
                <a16:creationId xmlns:a16="http://schemas.microsoft.com/office/drawing/2014/main" id="{AED422F0-4193-D1EA-7D64-F6BD82300D20}"/>
              </a:ext>
            </a:extLst>
          </p:cNvPr>
          <p:cNvSpPr txBox="1">
            <a:spLocks noChangeAspect="1" noChangeArrowheads="1"/>
          </p:cNvSpPr>
          <p:nvPr/>
        </p:nvSpPr>
        <p:spPr bwMode="auto">
          <a:xfrm>
            <a:off x="2897239" y="4252754"/>
            <a:ext cx="588623" cy="260264"/>
          </a:xfrm>
          <a:prstGeom prst="rect">
            <a:avLst/>
          </a:prstGeom>
          <a:noFill/>
          <a:ln w="28575">
            <a:noFill/>
            <a:miter lim="800000"/>
            <a:headEnd/>
            <a:tailEnd/>
          </a:ln>
        </p:spPr>
        <p:txBody>
          <a:bodyPr wrap="none" anchor="ctr">
            <a:spAutoFit/>
          </a:bodyPr>
          <a:lstStyle/>
          <a:p>
            <a:pPr algn="ctr"/>
            <a:r>
              <a:rPr lang="en-US" sz="1400" b="1" dirty="0" err="1">
                <a:solidFill>
                  <a:srgbClr val="000000"/>
                </a:solidFill>
                <a:latin typeface="Comic Sans MS" pitchFamily="66" charset="0"/>
              </a:rPr>
              <a:t>Dest</a:t>
            </a:r>
            <a:endParaRPr lang="en-US" sz="1400" b="1" dirty="0">
              <a:solidFill>
                <a:srgbClr val="000000"/>
              </a:solidFill>
              <a:latin typeface="Comic Sans MS" pitchFamily="66" charset="0"/>
            </a:endParaRPr>
          </a:p>
        </p:txBody>
      </p:sp>
      <p:sp>
        <p:nvSpPr>
          <p:cNvPr id="35890" name="Text Box 68">
            <a:extLst>
              <a:ext uri="{FF2B5EF4-FFF2-40B4-BE49-F238E27FC236}">
                <a16:creationId xmlns:a16="http://schemas.microsoft.com/office/drawing/2014/main" id="{E9E1EE93-EFE5-05AD-6DC1-966D92AA9E66}"/>
              </a:ext>
            </a:extLst>
          </p:cNvPr>
          <p:cNvSpPr txBox="1">
            <a:spLocks noChangeAspect="1" noChangeArrowheads="1"/>
          </p:cNvSpPr>
          <p:nvPr/>
        </p:nvSpPr>
        <p:spPr bwMode="auto">
          <a:xfrm>
            <a:off x="8304967" y="2573808"/>
            <a:ext cx="754380"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35891" name="Text Box 69">
            <a:extLst>
              <a:ext uri="{FF2B5EF4-FFF2-40B4-BE49-F238E27FC236}">
                <a16:creationId xmlns:a16="http://schemas.microsoft.com/office/drawing/2014/main" id="{374CF456-DD20-2597-2B76-E3B4794CA7A3}"/>
              </a:ext>
            </a:extLst>
          </p:cNvPr>
          <p:cNvSpPr txBox="1">
            <a:spLocks noChangeAspect="1" noChangeArrowheads="1"/>
          </p:cNvSpPr>
          <p:nvPr/>
        </p:nvSpPr>
        <p:spPr bwMode="auto">
          <a:xfrm>
            <a:off x="8268978" y="1180506"/>
            <a:ext cx="826357" cy="264271"/>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5" name="Group 70">
            <a:extLst>
              <a:ext uri="{FF2B5EF4-FFF2-40B4-BE49-F238E27FC236}">
                <a16:creationId xmlns:a16="http://schemas.microsoft.com/office/drawing/2014/main" id="{854FC776-80AD-A4C5-4C22-1572A21CA256}"/>
              </a:ext>
            </a:extLst>
          </p:cNvPr>
          <p:cNvGrpSpPr>
            <a:grpSpLocks noChangeAspect="1"/>
          </p:cNvGrpSpPr>
          <p:nvPr/>
        </p:nvGrpSpPr>
        <p:grpSpPr bwMode="auto">
          <a:xfrm rot="16200000">
            <a:off x="1742290" y="898031"/>
            <a:ext cx="796963" cy="1063052"/>
            <a:chOff x="1872" y="1584"/>
            <a:chExt cx="576" cy="864"/>
          </a:xfrm>
        </p:grpSpPr>
        <p:sp>
          <p:nvSpPr>
            <p:cNvPr id="607303" name="Rectangle 71">
              <a:extLst>
                <a:ext uri="{FF2B5EF4-FFF2-40B4-BE49-F238E27FC236}">
                  <a16:creationId xmlns:a16="http://schemas.microsoft.com/office/drawing/2014/main" id="{C5A69DA0-5354-4A5C-50A8-6B4D75614565}"/>
                </a:ext>
              </a:extLst>
            </p:cNvPr>
            <p:cNvSpPr>
              <a:spLocks noChangeAspect="1" noChangeArrowheads="1"/>
            </p:cNvSpPr>
            <p:nvPr/>
          </p:nvSpPr>
          <p:spPr bwMode="auto">
            <a:xfrm>
              <a:off x="1874" y="1582"/>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4" name="Rectangle 72">
              <a:extLst>
                <a:ext uri="{FF2B5EF4-FFF2-40B4-BE49-F238E27FC236}">
                  <a16:creationId xmlns:a16="http://schemas.microsoft.com/office/drawing/2014/main" id="{4E37734A-FEB9-0FA5-1F44-05057C05F579}"/>
                </a:ext>
              </a:extLst>
            </p:cNvPr>
            <p:cNvSpPr>
              <a:spLocks noChangeAspect="1" noChangeArrowheads="1"/>
            </p:cNvSpPr>
            <p:nvPr/>
          </p:nvSpPr>
          <p:spPr bwMode="auto">
            <a:xfrm>
              <a:off x="1874" y="1729"/>
              <a:ext cx="586"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5" name="Rectangle 73">
              <a:extLst>
                <a:ext uri="{FF2B5EF4-FFF2-40B4-BE49-F238E27FC236}">
                  <a16:creationId xmlns:a16="http://schemas.microsoft.com/office/drawing/2014/main" id="{B293FA35-9673-915F-6C7B-3199742A71AB}"/>
                </a:ext>
              </a:extLst>
            </p:cNvPr>
            <p:cNvSpPr>
              <a:spLocks noChangeAspect="1" noChangeArrowheads="1"/>
            </p:cNvSpPr>
            <p:nvPr/>
          </p:nvSpPr>
          <p:spPr bwMode="auto">
            <a:xfrm>
              <a:off x="1874" y="1863"/>
              <a:ext cx="586" cy="147"/>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6" name="Rectangle 74">
              <a:extLst>
                <a:ext uri="{FF2B5EF4-FFF2-40B4-BE49-F238E27FC236}">
                  <a16:creationId xmlns:a16="http://schemas.microsoft.com/office/drawing/2014/main" id="{56ECDCFE-2554-E00B-6C6D-1B75A55CBC70}"/>
                </a:ext>
              </a:extLst>
            </p:cNvPr>
            <p:cNvSpPr>
              <a:spLocks noChangeAspect="1" noChangeArrowheads="1"/>
            </p:cNvSpPr>
            <p:nvPr/>
          </p:nvSpPr>
          <p:spPr bwMode="auto">
            <a:xfrm>
              <a:off x="1868" y="2017"/>
              <a:ext cx="579" cy="143"/>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7" name="Rectangle 75">
              <a:extLst>
                <a:ext uri="{FF2B5EF4-FFF2-40B4-BE49-F238E27FC236}">
                  <a16:creationId xmlns:a16="http://schemas.microsoft.com/office/drawing/2014/main" id="{FE8FA168-6FF7-8628-D29F-A33A0028C1AE}"/>
                </a:ext>
              </a:extLst>
            </p:cNvPr>
            <p:cNvSpPr>
              <a:spLocks noChangeAspect="1" noChangeArrowheads="1"/>
            </p:cNvSpPr>
            <p:nvPr/>
          </p:nvSpPr>
          <p:spPr bwMode="auto">
            <a:xfrm>
              <a:off x="1868" y="2160"/>
              <a:ext cx="579"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07308" name="Rectangle 76">
              <a:extLst>
                <a:ext uri="{FF2B5EF4-FFF2-40B4-BE49-F238E27FC236}">
                  <a16:creationId xmlns:a16="http://schemas.microsoft.com/office/drawing/2014/main" id="{AEDB0501-5DB7-CCD4-5099-D52E8C792676}"/>
                </a:ext>
              </a:extLst>
            </p:cNvPr>
            <p:cNvSpPr>
              <a:spLocks noChangeAspect="1" noChangeArrowheads="1"/>
            </p:cNvSpPr>
            <p:nvPr/>
          </p:nvSpPr>
          <p:spPr bwMode="auto">
            <a:xfrm>
              <a:off x="1868" y="2304"/>
              <a:ext cx="579" cy="14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35897" name="Text Box 85">
            <a:extLst>
              <a:ext uri="{FF2B5EF4-FFF2-40B4-BE49-F238E27FC236}">
                <a16:creationId xmlns:a16="http://schemas.microsoft.com/office/drawing/2014/main" id="{A3F830B5-2A68-92DA-E427-5943EAE942FC}"/>
              </a:ext>
            </a:extLst>
          </p:cNvPr>
          <p:cNvSpPr txBox="1">
            <a:spLocks noChangeAspect="1" noChangeArrowheads="1"/>
          </p:cNvSpPr>
          <p:nvPr/>
        </p:nvSpPr>
        <p:spPr bwMode="auto">
          <a:xfrm>
            <a:off x="1336562" y="2077090"/>
            <a:ext cx="1994608" cy="326533"/>
          </a:xfrm>
          <a:prstGeom prst="rect">
            <a:avLst/>
          </a:prstGeom>
          <a:noFill/>
          <a:ln w="28575">
            <a:noFill/>
            <a:miter lim="800000"/>
            <a:headEnd/>
            <a:tailEnd/>
          </a:ln>
        </p:spPr>
        <p:txBody>
          <a:bodyPr wrap="none" anchor="ctr">
            <a:spAutoFit/>
          </a:bodyPr>
          <a:lstStyle/>
          <a:p>
            <a:pPr algn="ctr"/>
            <a:r>
              <a:rPr lang="en-US" sz="2000" b="1" dirty="0">
                <a:solidFill>
                  <a:srgbClr val="000000"/>
                </a:solidFill>
                <a:cs typeface="Arial" pitchFamily="34" charset="0"/>
              </a:rPr>
              <a:t>Reorder Buffer</a:t>
            </a:r>
            <a:endParaRPr lang="en-US" sz="1400" b="1" dirty="0">
              <a:solidFill>
                <a:srgbClr val="000000"/>
              </a:solidFill>
              <a:cs typeface="Arial" pitchFamily="34" charset="0"/>
            </a:endParaRPr>
          </a:p>
        </p:txBody>
      </p:sp>
      <p:sp>
        <p:nvSpPr>
          <p:cNvPr id="35900" name="Line 88">
            <a:extLst>
              <a:ext uri="{FF2B5EF4-FFF2-40B4-BE49-F238E27FC236}">
                <a16:creationId xmlns:a16="http://schemas.microsoft.com/office/drawing/2014/main" id="{01FAEBAA-859C-2949-6D76-A0348F04CD9D}"/>
              </a:ext>
            </a:extLst>
          </p:cNvPr>
          <p:cNvSpPr>
            <a:spLocks noChangeAspect="1" noChangeShapeType="1"/>
          </p:cNvSpPr>
          <p:nvPr/>
        </p:nvSpPr>
        <p:spPr bwMode="auto">
          <a:xfrm>
            <a:off x="2672298" y="1406036"/>
            <a:ext cx="996612" cy="0"/>
          </a:xfrm>
          <a:prstGeom prst="line">
            <a:avLst/>
          </a:prstGeom>
          <a:noFill/>
          <a:ln w="76200">
            <a:solidFill>
              <a:schemeClr val="tx1"/>
            </a:solidFill>
            <a:round/>
            <a:headEnd/>
            <a:tailEnd type="triangle" w="med" len="med"/>
          </a:ln>
        </p:spPr>
        <p:txBody>
          <a:bodyPr wrap="none" anchor="ctr"/>
          <a:lstStyle/>
          <a:p>
            <a:endParaRPr lang="en-CA"/>
          </a:p>
        </p:txBody>
      </p:sp>
      <p:sp>
        <p:nvSpPr>
          <p:cNvPr id="35845" name="Slide Number Placeholder 92">
            <a:extLst>
              <a:ext uri="{FF2B5EF4-FFF2-40B4-BE49-F238E27FC236}">
                <a16:creationId xmlns:a16="http://schemas.microsoft.com/office/drawing/2014/main" id="{7A28D054-A3A6-4CC4-8BAA-6E3F3F6C7AB3}"/>
              </a:ext>
            </a:extLst>
          </p:cNvPr>
          <p:cNvSpPr>
            <a:spLocks noGrp="1"/>
          </p:cNvSpPr>
          <p:nvPr>
            <p:ph type="sldNum" sz="quarter" idx="12"/>
          </p:nvPr>
        </p:nvSpPr>
        <p:spPr>
          <a:xfrm>
            <a:off x="8020594" y="6248400"/>
            <a:ext cx="431256"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9D0BFD6-565D-4FF8-9ACA-0C7D0B79C9A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23</a:t>
            </a:fld>
            <a:r>
              <a:rPr lang="en-GB"/>
              <a:t> </a:t>
            </a:r>
          </a:p>
        </p:txBody>
      </p:sp>
      <p:sp>
        <p:nvSpPr>
          <p:cNvPr id="35846" name="Rectangle 50">
            <a:extLst>
              <a:ext uri="{FF2B5EF4-FFF2-40B4-BE49-F238E27FC236}">
                <a16:creationId xmlns:a16="http://schemas.microsoft.com/office/drawing/2014/main" id="{A9D46EF5-B8B6-90E8-C190-E984AC172CBA}"/>
              </a:ext>
            </a:extLst>
          </p:cNvPr>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dirty="0">
              <a:solidFill>
                <a:srgbClr val="000000"/>
              </a:solidFill>
              <a:latin typeface="Courier New" pitchFamily="49" charset="0"/>
            </a:endParaRPr>
          </a:p>
          <a:p>
            <a:pPr algn="ctr"/>
            <a:r>
              <a:rPr lang="en-US" sz="1600" b="1" dirty="0">
                <a:solidFill>
                  <a:srgbClr val="000000"/>
                </a:solidFill>
                <a:latin typeface="Courier New" pitchFamily="49" charset="0"/>
              </a:rPr>
              <a:t>R4</a:t>
            </a:r>
          </a:p>
          <a:p>
            <a:pPr algn="ctr"/>
            <a:r>
              <a:rPr lang="en-US" sz="1600" b="1" dirty="0">
                <a:solidFill>
                  <a:srgbClr val="000000"/>
                </a:solidFill>
                <a:latin typeface="Courier New" pitchFamily="49" charset="0"/>
              </a:rPr>
              <a:t>R3</a:t>
            </a:r>
          </a:p>
          <a:p>
            <a:pPr algn="ctr"/>
            <a:r>
              <a:rPr lang="en-US" sz="1600" b="1" dirty="0">
                <a:solidFill>
                  <a:srgbClr val="000000"/>
                </a:solidFill>
                <a:latin typeface="Courier New" pitchFamily="49" charset="0"/>
              </a:rPr>
              <a:t>R2</a:t>
            </a:r>
          </a:p>
          <a:p>
            <a:pPr algn="ctr"/>
            <a:r>
              <a:rPr lang="en-US" sz="1600" b="1" dirty="0">
                <a:solidFill>
                  <a:srgbClr val="000000"/>
                </a:solidFill>
                <a:latin typeface="Courier New" pitchFamily="49" charset="0"/>
              </a:rPr>
              <a:t>R1</a:t>
            </a:r>
          </a:p>
        </p:txBody>
      </p:sp>
      <p:sp>
        <p:nvSpPr>
          <p:cNvPr id="96" name="TextBox 95">
            <a:extLst>
              <a:ext uri="{FF2B5EF4-FFF2-40B4-BE49-F238E27FC236}">
                <a16:creationId xmlns:a16="http://schemas.microsoft.com/office/drawing/2014/main" id="{A6A38EA5-C69E-8AD9-297E-4BB7D8179CE5}"/>
              </a:ext>
            </a:extLst>
          </p:cNvPr>
          <p:cNvSpPr txBox="1"/>
          <p:nvPr/>
        </p:nvSpPr>
        <p:spPr>
          <a:xfrm>
            <a:off x="0" y="2429668"/>
            <a:ext cx="3304903" cy="1261884"/>
          </a:xfrm>
          <a:prstGeom prst="rect">
            <a:avLst/>
          </a:prstGeom>
          <a:noFill/>
        </p:spPr>
        <p:txBody>
          <a:bodyPr wrap="square" rtlCol="0">
            <a:spAutoFit/>
          </a:bodyPr>
          <a:lstStyle/>
          <a:p>
            <a:r>
              <a:rPr lang="en-CA" sz="2000" i="1" dirty="0">
                <a:solidFill>
                  <a:schemeClr val="accent2"/>
                </a:solidFill>
              </a:rPr>
              <a:t>Cycle 109b:</a:t>
            </a:r>
          </a:p>
          <a:p>
            <a:r>
              <a:rPr lang="en-CA" sz="2000" dirty="0">
                <a:solidFill>
                  <a:schemeClr val="accent2"/>
                </a:solidFill>
              </a:rPr>
              <a:t>… updates RAT </a:t>
            </a:r>
          </a:p>
          <a:p>
            <a:r>
              <a:rPr lang="en-CA" sz="2000" dirty="0">
                <a:solidFill>
                  <a:schemeClr val="accent2"/>
                </a:solidFill>
              </a:rPr>
              <a:t> </a:t>
            </a:r>
          </a:p>
          <a:p>
            <a:r>
              <a:rPr lang="en-CA" sz="2000" dirty="0">
                <a:solidFill>
                  <a:schemeClr val="accent2"/>
                </a:solidFill>
              </a:rPr>
              <a:t> </a:t>
            </a:r>
          </a:p>
          <a:p>
            <a:endParaRPr lang="en-CA" sz="2000" dirty="0">
              <a:solidFill>
                <a:schemeClr val="accent2"/>
              </a:solidFill>
            </a:endParaRPr>
          </a:p>
        </p:txBody>
      </p:sp>
      <p:cxnSp>
        <p:nvCxnSpPr>
          <p:cNvPr id="100" name="Straight Connector 99">
            <a:extLst>
              <a:ext uri="{FF2B5EF4-FFF2-40B4-BE49-F238E27FC236}">
                <a16:creationId xmlns:a16="http://schemas.microsoft.com/office/drawing/2014/main" id="{40189B64-D01A-EA4D-75B5-69F687D193E3}"/>
              </a:ext>
            </a:extLst>
          </p:cNvPr>
          <p:cNvCxnSpPr/>
          <p:nvPr/>
        </p:nvCxnSpPr>
        <p:spPr bwMode="auto">
          <a:xfrm rot="10800000" flipV="1">
            <a:off x="3707608" y="3454087"/>
            <a:ext cx="1785" cy="705955"/>
          </a:xfrm>
          <a:prstGeom prst="line">
            <a:avLst/>
          </a:prstGeom>
          <a:solidFill>
            <a:srgbClr val="00B8FF"/>
          </a:solidFill>
          <a:ln w="25400" cap="flat" cmpd="sng" algn="ctr">
            <a:solidFill>
              <a:schemeClr val="tx1"/>
            </a:solidFill>
            <a:prstDash val="solid"/>
            <a:round/>
            <a:headEnd type="none" w="med" len="med"/>
            <a:tailEnd type="none" w="med" len="med"/>
          </a:ln>
          <a:effectLst/>
        </p:spPr>
      </p:cxnSp>
      <p:sp>
        <p:nvSpPr>
          <p:cNvPr id="109" name="Rectangle 14">
            <a:extLst>
              <a:ext uri="{FF2B5EF4-FFF2-40B4-BE49-F238E27FC236}">
                <a16:creationId xmlns:a16="http://schemas.microsoft.com/office/drawing/2014/main" id="{40B7559C-80D0-D4D7-4DC9-5EF523D52763}"/>
              </a:ext>
            </a:extLst>
          </p:cNvPr>
          <p:cNvSpPr>
            <a:spLocks noChangeAspect="1" noChangeArrowheads="1"/>
          </p:cNvSpPr>
          <p:nvPr/>
        </p:nvSpPr>
        <p:spPr bwMode="auto">
          <a:xfrm>
            <a:off x="6667305" y="5492099"/>
            <a:ext cx="930171"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branch</a:t>
            </a:r>
          </a:p>
        </p:txBody>
      </p:sp>
      <p:sp>
        <p:nvSpPr>
          <p:cNvPr id="110" name="Line 16">
            <a:extLst>
              <a:ext uri="{FF2B5EF4-FFF2-40B4-BE49-F238E27FC236}">
                <a16:creationId xmlns:a16="http://schemas.microsoft.com/office/drawing/2014/main" id="{1D0BE65B-B7B3-5719-0256-3A48C8C98C43}"/>
              </a:ext>
            </a:extLst>
          </p:cNvPr>
          <p:cNvSpPr>
            <a:spLocks noChangeAspect="1" noChangeShapeType="1"/>
          </p:cNvSpPr>
          <p:nvPr/>
        </p:nvSpPr>
        <p:spPr bwMode="auto">
          <a:xfrm>
            <a:off x="6820949"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1" name="Line 17">
            <a:extLst>
              <a:ext uri="{FF2B5EF4-FFF2-40B4-BE49-F238E27FC236}">
                <a16:creationId xmlns:a16="http://schemas.microsoft.com/office/drawing/2014/main" id="{41B22792-8A9A-ED49-0C48-07366B965727}"/>
              </a:ext>
            </a:extLst>
          </p:cNvPr>
          <p:cNvSpPr>
            <a:spLocks noChangeAspect="1" noChangeShapeType="1"/>
          </p:cNvSpPr>
          <p:nvPr/>
        </p:nvSpPr>
        <p:spPr bwMode="auto">
          <a:xfrm>
            <a:off x="7418916" y="5027204"/>
            <a:ext cx="0" cy="464895"/>
          </a:xfrm>
          <a:prstGeom prst="line">
            <a:avLst/>
          </a:prstGeom>
          <a:noFill/>
          <a:ln w="28575">
            <a:solidFill>
              <a:schemeClr val="tx1"/>
            </a:solidFill>
            <a:round/>
            <a:headEnd/>
            <a:tailEnd type="triangle" w="med" len="med"/>
          </a:ln>
        </p:spPr>
        <p:txBody>
          <a:bodyPr wrap="none" anchor="ctr"/>
          <a:lstStyle/>
          <a:p>
            <a:endParaRPr lang="en-CA"/>
          </a:p>
        </p:txBody>
      </p:sp>
      <p:sp>
        <p:nvSpPr>
          <p:cNvPr id="112" name="Line 21">
            <a:extLst>
              <a:ext uri="{FF2B5EF4-FFF2-40B4-BE49-F238E27FC236}">
                <a16:creationId xmlns:a16="http://schemas.microsoft.com/office/drawing/2014/main" id="{E2EF8DD5-FFBF-BFF9-90A3-D5FE98C069A3}"/>
              </a:ext>
            </a:extLst>
          </p:cNvPr>
          <p:cNvSpPr>
            <a:spLocks noChangeAspect="1" noChangeShapeType="1"/>
          </p:cNvSpPr>
          <p:nvPr/>
        </p:nvSpPr>
        <p:spPr bwMode="auto">
          <a:xfrm flipV="1">
            <a:off x="7830019" y="5027204"/>
            <a:ext cx="0" cy="1062617"/>
          </a:xfrm>
          <a:prstGeom prst="line">
            <a:avLst/>
          </a:prstGeom>
          <a:noFill/>
          <a:ln w="76200">
            <a:solidFill>
              <a:srgbClr val="7878DE"/>
            </a:solidFill>
            <a:round/>
            <a:headEnd/>
            <a:tailEnd type="triangle" w="med" len="med"/>
          </a:ln>
        </p:spPr>
        <p:txBody>
          <a:bodyPr wrap="none" anchor="ctr"/>
          <a:lstStyle/>
          <a:p>
            <a:endParaRPr lang="en-CA"/>
          </a:p>
        </p:txBody>
      </p:sp>
      <p:sp>
        <p:nvSpPr>
          <p:cNvPr id="115" name="Rectangle 10">
            <a:extLst>
              <a:ext uri="{FF2B5EF4-FFF2-40B4-BE49-F238E27FC236}">
                <a16:creationId xmlns:a16="http://schemas.microsoft.com/office/drawing/2014/main" id="{EE0E86BA-FF23-A4AC-AD0C-795F37505F18}"/>
              </a:ext>
            </a:extLst>
          </p:cNvPr>
          <p:cNvSpPr>
            <a:spLocks noChangeAspect="1" noChangeArrowheads="1"/>
          </p:cNvSpPr>
          <p:nvPr/>
        </p:nvSpPr>
        <p:spPr bwMode="auto">
          <a:xfrm>
            <a:off x="6215062" y="4633232"/>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7" name="Rectangle 10">
            <a:extLst>
              <a:ext uri="{FF2B5EF4-FFF2-40B4-BE49-F238E27FC236}">
                <a16:creationId xmlns:a16="http://schemas.microsoft.com/office/drawing/2014/main" id="{B74392A6-26CC-E8AA-073E-A40C3FE96756}"/>
              </a:ext>
            </a:extLst>
          </p:cNvPr>
          <p:cNvSpPr>
            <a:spLocks noChangeAspect="1" noChangeArrowheads="1"/>
          </p:cNvSpPr>
          <p:nvPr/>
        </p:nvSpPr>
        <p:spPr bwMode="auto">
          <a:xfrm>
            <a:off x="6215062" y="4833257"/>
            <a:ext cx="1719263" cy="19809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108" name="Rectangle 11">
            <a:extLst>
              <a:ext uri="{FF2B5EF4-FFF2-40B4-BE49-F238E27FC236}">
                <a16:creationId xmlns:a16="http://schemas.microsoft.com/office/drawing/2014/main" id="{3E293646-2657-8095-5EB9-0C647535122C}"/>
              </a:ext>
            </a:extLst>
          </p:cNvPr>
          <p:cNvSpPr>
            <a:spLocks noChangeAspect="1" noChangeArrowheads="1"/>
          </p:cNvSpPr>
          <p:nvPr/>
        </p:nvSpPr>
        <p:spPr bwMode="auto">
          <a:xfrm>
            <a:off x="6214677" y="4633913"/>
            <a:ext cx="552289" cy="393291"/>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99" name="Rectangle 59">
            <a:extLst>
              <a:ext uri="{FF2B5EF4-FFF2-40B4-BE49-F238E27FC236}">
                <a16:creationId xmlns:a16="http://schemas.microsoft.com/office/drawing/2014/main" id="{28CFD0A7-49CE-B7AB-1D8D-1BD028FAB23D}"/>
              </a:ext>
            </a:extLst>
          </p:cNvPr>
          <p:cNvSpPr>
            <a:spLocks noChangeAspect="1" noChangeArrowheads="1"/>
          </p:cNvSpPr>
          <p:nvPr/>
        </p:nvSpPr>
        <p:spPr bwMode="auto">
          <a:xfrm>
            <a:off x="6733894" y="2601522"/>
            <a:ext cx="333588" cy="265654"/>
          </a:xfrm>
          <a:prstGeom prst="rect">
            <a:avLst/>
          </a:prstGeom>
          <a:noFill/>
          <a:ln w="28575">
            <a:no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N</a:t>
            </a:r>
          </a:p>
        </p:txBody>
      </p:sp>
      <p:sp>
        <p:nvSpPr>
          <p:cNvPr id="105" name="Rectangle 50">
            <a:extLst>
              <a:ext uri="{FF2B5EF4-FFF2-40B4-BE49-F238E27FC236}">
                <a16:creationId xmlns:a16="http://schemas.microsoft.com/office/drawing/2014/main" id="{FFB84271-217C-EC61-4D35-21826D8ACFBB}"/>
              </a:ext>
            </a:extLst>
          </p:cNvPr>
          <p:cNvSpPr>
            <a:spLocks noChangeAspect="1" noChangeArrowheads="1"/>
          </p:cNvSpPr>
          <p:nvPr/>
        </p:nvSpPr>
        <p:spPr bwMode="auto">
          <a:xfrm>
            <a:off x="3664556" y="2601523"/>
            <a:ext cx="332204" cy="265654"/>
          </a:xfrm>
          <a:prstGeom prst="rect">
            <a:avLst/>
          </a:prstGeom>
          <a:solidFill>
            <a:schemeClr val="bg1"/>
          </a:solidFill>
          <a:ln w="28575">
            <a:solidFill>
              <a:schemeClr val="tx1"/>
            </a:solidFill>
            <a:miter lim="800000"/>
            <a:headEnd/>
            <a:tailEnd/>
          </a:ln>
          <a:effectLst/>
        </p:spPr>
        <p:txBody>
          <a:bodyPr wrap="none" anchor="ctr"/>
          <a:lstStyle/>
          <a:p>
            <a:pPr algn="ctr">
              <a:defRPr/>
            </a:pPr>
            <a:r>
              <a:rPr lang="en-US" sz="1400" b="1" dirty="0">
                <a:solidFill>
                  <a:schemeClr val="bg1">
                    <a:lumMod val="85000"/>
                  </a:schemeClr>
                </a:solidFill>
                <a:latin typeface="Courier New" pitchFamily="49" charset="0"/>
              </a:rPr>
              <a:t>-</a:t>
            </a:r>
          </a:p>
        </p:txBody>
      </p:sp>
      <p:sp>
        <p:nvSpPr>
          <p:cNvPr id="102" name="Rectangle 59">
            <a:extLst>
              <a:ext uri="{FF2B5EF4-FFF2-40B4-BE49-F238E27FC236}">
                <a16:creationId xmlns:a16="http://schemas.microsoft.com/office/drawing/2014/main" id="{8DDD5466-D764-5AC6-64E9-1AF70C7BFD06}"/>
              </a:ext>
            </a:extLst>
          </p:cNvPr>
          <p:cNvSpPr>
            <a:spLocks noChangeAspect="1" noChangeArrowheads="1"/>
          </p:cNvSpPr>
          <p:nvPr/>
        </p:nvSpPr>
        <p:spPr bwMode="auto">
          <a:xfrm>
            <a:off x="6716477" y="2348974"/>
            <a:ext cx="333588" cy="265654"/>
          </a:xfrm>
          <a:prstGeom prst="rect">
            <a:avLst/>
          </a:prstGeom>
          <a:noFill/>
          <a:ln w="28575">
            <a:noFill/>
            <a:miter lim="800000"/>
            <a:headEnd/>
            <a:tailEnd/>
          </a:ln>
          <a:effectLst/>
        </p:spPr>
        <p:txBody>
          <a:bodyPr wrap="none" anchor="ctr"/>
          <a:lstStyle/>
          <a:p>
            <a:pPr algn="ctr">
              <a:defRPr/>
            </a:pPr>
            <a:r>
              <a:rPr lang="en-US" sz="1400" b="1" dirty="0">
                <a:solidFill>
                  <a:schemeClr val="tx1"/>
                </a:solidFill>
                <a:latin typeface="Courier New" pitchFamily="49" charset="0"/>
              </a:rPr>
              <a:t>N</a:t>
            </a:r>
          </a:p>
        </p:txBody>
      </p:sp>
      <p:sp>
        <p:nvSpPr>
          <p:cNvPr id="103" name="Rectangle 50">
            <a:extLst>
              <a:ext uri="{FF2B5EF4-FFF2-40B4-BE49-F238E27FC236}">
                <a16:creationId xmlns:a16="http://schemas.microsoft.com/office/drawing/2014/main" id="{509D13DD-98F3-5A35-186D-33571C126D1D}"/>
              </a:ext>
            </a:extLst>
          </p:cNvPr>
          <p:cNvSpPr>
            <a:spLocks noChangeAspect="1" noChangeArrowheads="1"/>
          </p:cNvSpPr>
          <p:nvPr/>
        </p:nvSpPr>
        <p:spPr bwMode="auto">
          <a:xfrm>
            <a:off x="3503882" y="2353328"/>
            <a:ext cx="744437" cy="227222"/>
          </a:xfrm>
          <a:prstGeom prst="rect">
            <a:avLst/>
          </a:prstGeom>
          <a:noFill/>
          <a:ln w="28575">
            <a:noFill/>
            <a:miter lim="800000"/>
            <a:headEnd/>
            <a:tailEnd/>
          </a:ln>
          <a:effectLst/>
        </p:spPr>
        <p:txBody>
          <a:bodyPr wrap="none" anchor="ctr"/>
          <a:lstStyle/>
          <a:p>
            <a:pPr algn="ctr">
              <a:defRPr/>
            </a:pPr>
            <a:r>
              <a:rPr lang="en-US" sz="1400" b="1" dirty="0">
                <a:solidFill>
                  <a:schemeClr val="tx1"/>
                </a:solidFill>
                <a:latin typeface="Courier New" pitchFamily="49" charset="0"/>
              </a:rPr>
              <a:t>R4</a:t>
            </a:r>
          </a:p>
        </p:txBody>
      </p:sp>
      <p:cxnSp>
        <p:nvCxnSpPr>
          <p:cNvPr id="120" name="Straight Connector 119">
            <a:extLst>
              <a:ext uri="{FF2B5EF4-FFF2-40B4-BE49-F238E27FC236}">
                <a16:creationId xmlns:a16="http://schemas.microsoft.com/office/drawing/2014/main" id="{47225A81-8763-3E06-A0B7-150385CB4A39}"/>
              </a:ext>
            </a:extLst>
          </p:cNvPr>
          <p:cNvCxnSpPr/>
          <p:nvPr/>
        </p:nvCxnSpPr>
        <p:spPr bwMode="auto">
          <a:xfrm rot="5400000">
            <a:off x="3899262" y="3807824"/>
            <a:ext cx="692336" cy="1"/>
          </a:xfrm>
          <a:prstGeom prst="line">
            <a:avLst/>
          </a:prstGeom>
          <a:solidFill>
            <a:srgbClr val="00B8FF"/>
          </a:solidFill>
          <a:ln w="22225" cap="flat" cmpd="sng" algn="ctr">
            <a:solidFill>
              <a:schemeClr val="tx1"/>
            </a:solidFill>
            <a:prstDash val="solid"/>
            <a:round/>
            <a:headEnd type="none" w="med" len="med"/>
            <a:tailEnd type="none" w="med" len="med"/>
          </a:ln>
          <a:effectLst/>
        </p:spPr>
      </p:cxnSp>
      <p:sp>
        <p:nvSpPr>
          <p:cNvPr id="122" name="Rectangle 50">
            <a:extLst>
              <a:ext uri="{FF2B5EF4-FFF2-40B4-BE49-F238E27FC236}">
                <a16:creationId xmlns:a16="http://schemas.microsoft.com/office/drawing/2014/main" id="{7F12F83B-ABCA-4111-B46F-80B5C2BB285E}"/>
              </a:ext>
            </a:extLst>
          </p:cNvPr>
          <p:cNvSpPr>
            <a:spLocks noChangeAspect="1" noChangeArrowheads="1"/>
          </p:cNvSpPr>
          <p:nvPr/>
        </p:nvSpPr>
        <p:spPr bwMode="auto">
          <a:xfrm>
            <a:off x="4245429" y="3446255"/>
            <a:ext cx="1345474" cy="746922"/>
          </a:xfrm>
          <a:prstGeom prst="rect">
            <a:avLst/>
          </a:prstGeom>
          <a:noFill/>
          <a:ln w="28575">
            <a:noFill/>
            <a:miter lim="800000"/>
            <a:headEnd/>
            <a:tailEnd/>
          </a:ln>
          <a:effectLst/>
        </p:spPr>
        <p:txBody>
          <a:bodyPr wrap="none" anchor="t" anchorCtr="0"/>
          <a:lstStyle/>
          <a:p>
            <a:pPr algn="ctr">
              <a:defRPr/>
            </a:pPr>
            <a:r>
              <a:rPr lang="en-US" sz="1400" b="1" dirty="0">
                <a:solidFill>
                  <a:srgbClr val="000000"/>
                </a:solidFill>
                <a:latin typeface="Courier New" pitchFamily="49" charset="0"/>
              </a:rPr>
              <a:t>6</a:t>
            </a:r>
          </a:p>
          <a:p>
            <a:pPr algn="ctr">
              <a:lnSpc>
                <a:spcPct val="82000"/>
              </a:lnSpc>
              <a:defRPr/>
            </a:pPr>
            <a:r>
              <a:rPr lang="en-US" sz="1400" b="1" dirty="0">
                <a:solidFill>
                  <a:srgbClr val="000000"/>
                </a:solidFill>
                <a:latin typeface="Courier New" pitchFamily="49" charset="0"/>
              </a:rPr>
              <a:t>2</a:t>
            </a:r>
          </a:p>
          <a:p>
            <a:pPr algn="ctr">
              <a:lnSpc>
                <a:spcPct val="82000"/>
              </a:lnSpc>
              <a:defRPr/>
            </a:pPr>
            <a:r>
              <a:rPr lang="en-US" sz="1400" b="1" dirty="0">
                <a:solidFill>
                  <a:srgbClr val="000000"/>
                </a:solidFill>
                <a:latin typeface="Courier New" pitchFamily="49" charset="0"/>
              </a:rPr>
              <a:t>7</a:t>
            </a:r>
          </a:p>
          <a:p>
            <a:pPr algn="ctr">
              <a:lnSpc>
                <a:spcPct val="82000"/>
              </a:lnSpc>
              <a:defRPr/>
            </a:pPr>
            <a:r>
              <a:rPr lang="en-US" sz="1400" b="1" dirty="0">
                <a:solidFill>
                  <a:srgbClr val="000000"/>
                </a:solidFill>
                <a:latin typeface="Courier New" pitchFamily="49" charset="0"/>
              </a:rPr>
              <a:t>14</a:t>
            </a:r>
          </a:p>
        </p:txBody>
      </p:sp>
      <p:sp>
        <p:nvSpPr>
          <p:cNvPr id="132" name="Rectangle 15">
            <a:extLst>
              <a:ext uri="{FF2B5EF4-FFF2-40B4-BE49-F238E27FC236}">
                <a16:creationId xmlns:a16="http://schemas.microsoft.com/office/drawing/2014/main" id="{6F4CA869-CFFD-ADBA-1548-D24E53BB9E4E}"/>
              </a:ext>
            </a:extLst>
          </p:cNvPr>
          <p:cNvSpPr>
            <a:spLocks noChangeAspect="1" noChangeArrowheads="1"/>
          </p:cNvSpPr>
          <p:nvPr/>
        </p:nvSpPr>
        <p:spPr bwMode="auto">
          <a:xfrm>
            <a:off x="3715607" y="5505161"/>
            <a:ext cx="1262375" cy="265654"/>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dirty="0">
                <a:solidFill>
                  <a:srgbClr val="000000"/>
                </a:solidFill>
                <a:latin typeface="Comic Sans MS" pitchFamily="66" charset="0"/>
              </a:rPr>
              <a:t>multipliers</a:t>
            </a:r>
          </a:p>
        </p:txBody>
      </p:sp>
      <p:sp>
        <p:nvSpPr>
          <p:cNvPr id="133" name="Rectangle 56">
            <a:extLst>
              <a:ext uri="{FF2B5EF4-FFF2-40B4-BE49-F238E27FC236}">
                <a16:creationId xmlns:a16="http://schemas.microsoft.com/office/drawing/2014/main" id="{852EFC07-6BA1-DAEC-BD1F-9AEDFC51E341}"/>
              </a:ext>
            </a:extLst>
          </p:cNvPr>
          <p:cNvSpPr>
            <a:spLocks noChangeAspect="1" noChangeArrowheads="1"/>
          </p:cNvSpPr>
          <p:nvPr/>
        </p:nvSpPr>
        <p:spPr bwMode="auto">
          <a:xfrm>
            <a:off x="4863460" y="2867134"/>
            <a:ext cx="185895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100" b="1" dirty="0">
              <a:solidFill>
                <a:srgbClr val="000000"/>
              </a:solidFill>
              <a:latin typeface="Courier New" pitchFamily="49" charset="0"/>
            </a:endParaRPr>
          </a:p>
        </p:txBody>
      </p:sp>
      <p:sp>
        <p:nvSpPr>
          <p:cNvPr id="135" name="Rectangle 56">
            <a:extLst>
              <a:ext uri="{FF2B5EF4-FFF2-40B4-BE49-F238E27FC236}">
                <a16:creationId xmlns:a16="http://schemas.microsoft.com/office/drawing/2014/main" id="{FF1440CC-6DF2-CD0B-0B84-EA9875DB2652}"/>
              </a:ext>
            </a:extLst>
          </p:cNvPr>
          <p:cNvSpPr>
            <a:spLocks noChangeAspect="1" noChangeArrowheads="1"/>
          </p:cNvSpPr>
          <p:nvPr/>
        </p:nvSpPr>
        <p:spPr bwMode="auto">
          <a:xfrm>
            <a:off x="4854752" y="2322849"/>
            <a:ext cx="1858958" cy="265654"/>
          </a:xfrm>
          <a:prstGeom prst="rect">
            <a:avLst/>
          </a:prstGeom>
          <a:noFill/>
          <a:ln w="28575">
            <a:noFill/>
            <a:miter lim="800000"/>
            <a:headEnd/>
            <a:tailEnd/>
          </a:ln>
          <a:effectLst/>
        </p:spPr>
        <p:txBody>
          <a:bodyPr wrap="none" anchor="ctr"/>
          <a:lstStyle/>
          <a:p>
            <a:pPr>
              <a:defRPr/>
            </a:pPr>
            <a:r>
              <a:rPr lang="en-US" sz="1100" b="1" dirty="0">
                <a:solidFill>
                  <a:schemeClr val="tx1"/>
                </a:solidFill>
                <a:latin typeface="Courier New" pitchFamily="49" charset="0"/>
              </a:rPr>
              <a:t>PC=0x08(DSUB R4,R4,R3)</a:t>
            </a:r>
          </a:p>
        </p:txBody>
      </p:sp>
      <p:sp>
        <p:nvSpPr>
          <p:cNvPr id="138" name="Rectangle 56">
            <a:extLst>
              <a:ext uri="{FF2B5EF4-FFF2-40B4-BE49-F238E27FC236}">
                <a16:creationId xmlns:a16="http://schemas.microsoft.com/office/drawing/2014/main" id="{A4972115-802A-9A98-5C58-CA8ACEA69CC3}"/>
              </a:ext>
            </a:extLst>
          </p:cNvPr>
          <p:cNvSpPr>
            <a:spLocks noChangeAspect="1" noChangeArrowheads="1"/>
          </p:cNvSpPr>
          <p:nvPr/>
        </p:nvSpPr>
        <p:spPr bwMode="auto">
          <a:xfrm>
            <a:off x="4859106" y="2601523"/>
            <a:ext cx="1858958" cy="265654"/>
          </a:xfrm>
          <a:prstGeom prst="rect">
            <a:avLst/>
          </a:prstGeom>
          <a:noFill/>
          <a:ln w="28575">
            <a:noFill/>
            <a:miter lim="800000"/>
            <a:headEnd/>
            <a:tailEnd/>
          </a:ln>
          <a:effectLst/>
        </p:spPr>
        <p:txBody>
          <a:bodyPr wrap="none" anchor="ctr"/>
          <a:lstStyle/>
          <a:p>
            <a:pPr>
              <a:defRPr/>
            </a:pPr>
            <a:r>
              <a:rPr lang="en-US" sz="1100" b="1" dirty="0">
                <a:solidFill>
                  <a:schemeClr val="bg1">
                    <a:lumMod val="85000"/>
                  </a:schemeClr>
                </a:solidFill>
                <a:latin typeface="Courier New" pitchFamily="49" charset="0"/>
              </a:rPr>
              <a:t>PC=0x04(BEQZ R3,Loop)</a:t>
            </a:r>
          </a:p>
        </p:txBody>
      </p:sp>
      <p:sp>
        <p:nvSpPr>
          <p:cNvPr id="139" name="AutoShape 67">
            <a:extLst>
              <a:ext uri="{FF2B5EF4-FFF2-40B4-BE49-F238E27FC236}">
                <a16:creationId xmlns:a16="http://schemas.microsoft.com/office/drawing/2014/main" id="{CDE71B70-1000-255D-5FFE-BE7EFC725446}"/>
              </a:ext>
            </a:extLst>
          </p:cNvPr>
          <p:cNvSpPr>
            <a:spLocks noChangeAspect="1" noChangeArrowheads="1"/>
          </p:cNvSpPr>
          <p:nvPr/>
        </p:nvSpPr>
        <p:spPr bwMode="auto">
          <a:xfrm rot="10800000" flipV="1">
            <a:off x="8464926" y="1523643"/>
            <a:ext cx="398645" cy="996204"/>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6" name="Rectangle 56">
            <a:extLst>
              <a:ext uri="{FF2B5EF4-FFF2-40B4-BE49-F238E27FC236}">
                <a16:creationId xmlns:a16="http://schemas.microsoft.com/office/drawing/2014/main" id="{B4F7786F-E66D-5929-4AA1-B2CDC4898FBC}"/>
              </a:ext>
            </a:extLst>
          </p:cNvPr>
          <p:cNvSpPr>
            <a:spLocks noChangeAspect="1" noChangeArrowheads="1"/>
          </p:cNvSpPr>
          <p:nvPr/>
        </p:nvSpPr>
        <p:spPr bwMode="auto">
          <a:xfrm>
            <a:off x="6174100" y="4621912"/>
            <a:ext cx="1858958" cy="265654"/>
          </a:xfrm>
          <a:prstGeom prst="rect">
            <a:avLst/>
          </a:prstGeom>
          <a:noFill/>
          <a:ln w="28575">
            <a:noFill/>
            <a:miter lim="800000"/>
            <a:headEnd/>
            <a:tailEnd/>
          </a:ln>
          <a:effectLst/>
        </p:spPr>
        <p:txBody>
          <a:bodyPr wrap="none" anchor="ctr"/>
          <a:lstStyle/>
          <a:p>
            <a:pPr>
              <a:defRPr/>
            </a:pPr>
            <a:r>
              <a:rPr lang="en-US" sz="1400" b="1" dirty="0">
                <a:solidFill>
                  <a:schemeClr val="bg1">
                    <a:lumMod val="75000"/>
                  </a:schemeClr>
                </a:solidFill>
                <a:latin typeface="Courier New" pitchFamily="49" charset="0"/>
              </a:rPr>
              <a:t>BEQZ  2,Loop</a:t>
            </a:r>
          </a:p>
        </p:txBody>
      </p:sp>
      <p:sp>
        <p:nvSpPr>
          <p:cNvPr id="607291" name="Rectangle 59">
            <a:extLst>
              <a:ext uri="{FF2B5EF4-FFF2-40B4-BE49-F238E27FC236}">
                <a16:creationId xmlns:a16="http://schemas.microsoft.com/office/drawing/2014/main" id="{B0A9DD37-81E8-7BC4-BB57-F9E4EF16E498}"/>
              </a:ext>
            </a:extLst>
          </p:cNvPr>
          <p:cNvSpPr>
            <a:spLocks noChangeAspect="1" noChangeArrowheads="1"/>
          </p:cNvSpPr>
          <p:nvPr/>
        </p:nvSpPr>
        <p:spPr bwMode="auto">
          <a:xfrm>
            <a:off x="6725186" y="2867134"/>
            <a:ext cx="333588" cy="26565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dirty="0">
              <a:solidFill>
                <a:srgbClr val="000000"/>
              </a:solidFill>
              <a:latin typeface="Courier New" pitchFamily="49" charset="0"/>
            </a:endParaRPr>
          </a:p>
        </p:txBody>
      </p:sp>
      <p:sp>
        <p:nvSpPr>
          <p:cNvPr id="7" name="Rectangle 56">
            <a:extLst>
              <a:ext uri="{FF2B5EF4-FFF2-40B4-BE49-F238E27FC236}">
                <a16:creationId xmlns:a16="http://schemas.microsoft.com/office/drawing/2014/main" id="{28C0E3C0-08A8-84CE-FB2B-3A6099CCFF9A}"/>
              </a:ext>
            </a:extLst>
          </p:cNvPr>
          <p:cNvSpPr>
            <a:spLocks noChangeAspect="1" noChangeArrowheads="1"/>
          </p:cNvSpPr>
          <p:nvPr/>
        </p:nvSpPr>
        <p:spPr bwMode="auto">
          <a:xfrm>
            <a:off x="248194" y="4421613"/>
            <a:ext cx="2150420" cy="307305"/>
          </a:xfrm>
          <a:prstGeom prst="rect">
            <a:avLst/>
          </a:prstGeom>
          <a:noFill/>
          <a:ln w="28575">
            <a:noFill/>
            <a:miter lim="800000"/>
            <a:headEnd/>
            <a:tailEnd/>
          </a:ln>
          <a:effectLst/>
        </p:spPr>
        <p:txBody>
          <a:bodyPr wrap="none" anchor="ctr"/>
          <a:lstStyle/>
          <a:p>
            <a:pPr>
              <a:defRPr/>
            </a:pPr>
            <a:r>
              <a:rPr lang="en-US" sz="1400" b="1" dirty="0">
                <a:solidFill>
                  <a:srgbClr val="000000"/>
                </a:solidFill>
                <a:latin typeface="Courier New" pitchFamily="49" charset="0"/>
              </a:rPr>
              <a:t>4  DSUB  6, 2</a:t>
            </a:r>
          </a:p>
        </p:txBody>
      </p:sp>
      <p:sp>
        <p:nvSpPr>
          <p:cNvPr id="8" name="Rectangle 50">
            <a:extLst>
              <a:ext uri="{FF2B5EF4-FFF2-40B4-BE49-F238E27FC236}">
                <a16:creationId xmlns:a16="http://schemas.microsoft.com/office/drawing/2014/main" id="{9EEA2096-803A-DFDE-44CF-8D2077876649}"/>
              </a:ext>
            </a:extLst>
          </p:cNvPr>
          <p:cNvSpPr>
            <a:spLocks noChangeAspect="1" noChangeArrowheads="1"/>
          </p:cNvSpPr>
          <p:nvPr/>
        </p:nvSpPr>
        <p:spPr bwMode="auto">
          <a:xfrm>
            <a:off x="3790830" y="3433191"/>
            <a:ext cx="332204" cy="265654"/>
          </a:xfrm>
          <a:prstGeom prst="rect">
            <a:avLst/>
          </a:prstGeom>
          <a:noFill/>
          <a:ln w="28575">
            <a:noFill/>
            <a:miter lim="800000"/>
            <a:headEnd/>
            <a:tailEnd/>
          </a:ln>
          <a:effectLst/>
        </p:spPr>
        <p:txBody>
          <a:bodyPr wrap="none" anchor="ctr"/>
          <a:lstStyle/>
          <a:p>
            <a:pPr algn="ctr">
              <a:defRPr/>
            </a:pPr>
            <a:r>
              <a:rPr lang="en-US" sz="1400" b="1" dirty="0">
                <a:solidFill>
                  <a:srgbClr val="000000"/>
                </a:solidFill>
                <a:latin typeface="Courier New" pitchFamily="49" charset="0"/>
              </a:rPr>
              <a:t>ROB3</a:t>
            </a:r>
          </a:p>
        </p:txBody>
      </p:sp>
      <p:sp>
        <p:nvSpPr>
          <p:cNvPr id="9" name="Rounded Rectangle 8">
            <a:extLst>
              <a:ext uri="{FF2B5EF4-FFF2-40B4-BE49-F238E27FC236}">
                <a16:creationId xmlns:a16="http://schemas.microsoft.com/office/drawing/2014/main" id="{5138EC45-6279-E689-F826-450464081286}"/>
              </a:ext>
            </a:extLst>
          </p:cNvPr>
          <p:cNvSpPr/>
          <p:nvPr/>
        </p:nvSpPr>
        <p:spPr bwMode="auto">
          <a:xfrm>
            <a:off x="3647715" y="3405376"/>
            <a:ext cx="597714" cy="291411"/>
          </a:xfrm>
          <a:prstGeom prst="roundRect">
            <a:avLst/>
          </a:prstGeom>
          <a:noFill/>
          <a:ln w="635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pPr>
            <a:endParaRPr kumimoji="0" lang="en-CA" sz="2400" b="0" i="0" u="none" strike="noStrike" cap="none" normalizeH="0" baseline="0">
              <a:ln>
                <a:noFill/>
              </a:ln>
              <a:solidFill>
                <a:schemeClr val="bg1"/>
              </a:solidFill>
              <a:effectLst/>
              <a:latin typeface="Arial" pitchFamily="-106" charset="-52"/>
            </a:endParaRPr>
          </a:p>
        </p:txBody>
      </p:sp>
    </p:spTree>
    <p:extLst>
      <p:ext uri="{BB962C8B-B14F-4D97-AF65-F5344CB8AC3E}">
        <p14:creationId xmlns:p14="http://schemas.microsoft.com/office/powerpoint/2010/main" val="205546922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85800" y="-423862"/>
            <a:ext cx="7766050" cy="1690960"/>
          </a:xfrm>
        </p:spPr>
        <p:txBody>
          <a:bodyPr/>
          <a:lstStyle/>
          <a:p>
            <a:pPr eaLnBrk="1" hangingPunct="1"/>
            <a:r>
              <a:rPr lang="en-US" dirty="0">
                <a:latin typeface="Arial  " charset="0"/>
                <a:cs typeface="Arial  " charset="0"/>
              </a:rPr>
              <a:t>Exceptions</a:t>
            </a:r>
          </a:p>
        </p:txBody>
      </p:sp>
      <p:sp>
        <p:nvSpPr>
          <p:cNvPr id="47107" name="Rectangle 3"/>
          <p:cNvSpPr>
            <a:spLocks noGrp="1" noChangeArrowheads="1"/>
          </p:cNvSpPr>
          <p:nvPr>
            <p:ph type="body" idx="1"/>
          </p:nvPr>
        </p:nvSpPr>
        <p:spPr>
          <a:xfrm>
            <a:off x="711200" y="1012370"/>
            <a:ext cx="7772400" cy="5388429"/>
          </a:xfrm>
        </p:spPr>
        <p:txBody>
          <a:bodyPr/>
          <a:lstStyle/>
          <a:p>
            <a:pPr eaLnBrk="1" hangingPunct="1">
              <a:lnSpc>
                <a:spcPct val="90000"/>
              </a:lnSpc>
            </a:pPr>
            <a:r>
              <a:rPr lang="en-US" sz="2000" dirty="0">
                <a:latin typeface="Arial  " charset="0"/>
                <a:cs typeface="Arial  " charset="0"/>
              </a:rPr>
              <a:t>So far, we have considered how to design hardware to support higher performance execution of a program, but we assumed we can always execute an instruction.</a:t>
            </a:r>
          </a:p>
          <a:p>
            <a:pPr eaLnBrk="1" hangingPunct="1">
              <a:lnSpc>
                <a:spcPct val="90000"/>
              </a:lnSpc>
            </a:pPr>
            <a:endParaRPr lang="en-US" sz="2000" dirty="0">
              <a:latin typeface="Arial  " charset="0"/>
              <a:cs typeface="Arial  " charset="0"/>
            </a:endParaRPr>
          </a:p>
          <a:p>
            <a:pPr eaLnBrk="1" hangingPunct="1">
              <a:lnSpc>
                <a:spcPct val="90000"/>
              </a:lnSpc>
            </a:pPr>
            <a:r>
              <a:rPr lang="en-US" sz="2000" dirty="0">
                <a:latin typeface="Arial  " charset="0"/>
                <a:cs typeface="Arial  " charset="0"/>
              </a:rPr>
              <a:t>What happens if an instruction cannot complete or the program needs to ask the operating system to do something?</a:t>
            </a:r>
          </a:p>
          <a:p>
            <a:pPr eaLnBrk="1" hangingPunct="1">
              <a:lnSpc>
                <a:spcPct val="90000"/>
              </a:lnSpc>
            </a:pPr>
            <a:r>
              <a:rPr lang="en-US" sz="2000" dirty="0">
                <a:latin typeface="Arial  " charset="0"/>
                <a:cs typeface="Arial  " charset="0"/>
              </a:rPr>
              <a:t>If there is a bug, the program might tell the hardware to do something that is impossible.  For example, divide by zero, or read/write the wrong location in memory.   Another reason an instruction might not be able to complete is related to virtual memory.</a:t>
            </a:r>
          </a:p>
          <a:p>
            <a:pPr eaLnBrk="1" hangingPunct="1">
              <a:lnSpc>
                <a:spcPct val="90000"/>
              </a:lnSpc>
            </a:pPr>
            <a:r>
              <a:rPr lang="en-US" sz="2000" dirty="0">
                <a:latin typeface="Arial  " charset="0"/>
                <a:cs typeface="Arial  " charset="0"/>
              </a:rPr>
              <a:t>We call these “special cases” </a:t>
            </a:r>
            <a:r>
              <a:rPr lang="en-US" sz="2000" u="sng" dirty="0">
                <a:latin typeface="Arial  " charset="0"/>
                <a:cs typeface="Arial  " charset="0"/>
              </a:rPr>
              <a:t>exceptions</a:t>
            </a:r>
            <a:r>
              <a:rPr lang="en-US" sz="2000" dirty="0">
                <a:latin typeface="Arial  " charset="0"/>
                <a:cs typeface="Arial  " charset="0"/>
              </a:rPr>
              <a:t>.</a:t>
            </a:r>
          </a:p>
          <a:p>
            <a:pPr eaLnBrk="1" hangingPunct="1">
              <a:lnSpc>
                <a:spcPct val="90000"/>
              </a:lnSpc>
            </a:pPr>
            <a:endParaRPr lang="en-US" sz="2000" dirty="0">
              <a:latin typeface="Arial  " charset="0"/>
              <a:cs typeface="Arial  " charset="0"/>
            </a:endParaRPr>
          </a:p>
          <a:p>
            <a:pPr eaLnBrk="1" hangingPunct="1">
              <a:lnSpc>
                <a:spcPct val="90000"/>
              </a:lnSpc>
            </a:pPr>
            <a:r>
              <a:rPr lang="en-US" sz="2000" dirty="0">
                <a:latin typeface="Arial  " charset="0"/>
                <a:cs typeface="Arial  " charset="0"/>
              </a:rPr>
              <a:t>The hardware detects exceptions and has a special program run that either handles the exception, or passes control to the operating system. The OS may handle the exception or end the program.</a:t>
            </a:r>
          </a:p>
          <a:p>
            <a:pPr eaLnBrk="1" hangingPunct="1">
              <a:lnSpc>
                <a:spcPct val="90000"/>
              </a:lnSpc>
              <a:buNone/>
            </a:pPr>
            <a:endParaRPr lang="en-US" sz="2000" dirty="0">
              <a:latin typeface="Arial  " charset="0"/>
              <a:cs typeface="Arial  " charset="0"/>
            </a:endParaRPr>
          </a:p>
          <a:p>
            <a:pPr eaLnBrk="1" hangingPunct="1">
              <a:lnSpc>
                <a:spcPct val="90000"/>
              </a:lnSpc>
              <a:buNone/>
            </a:pPr>
            <a:endParaRPr lang="en-US" sz="2000" dirty="0">
              <a:latin typeface="Arial  " charset="0"/>
              <a:cs typeface="Arial  " charset="0"/>
            </a:endParaRPr>
          </a:p>
          <a:p>
            <a:pPr eaLnBrk="1" hangingPunct="1">
              <a:lnSpc>
                <a:spcPct val="90000"/>
              </a:lnSpc>
              <a:buNone/>
            </a:pPr>
            <a:endParaRPr lang="en-US" sz="2000" dirty="0">
              <a:latin typeface="Arial  " charset="0"/>
              <a:cs typeface="Arial  " charset="0"/>
            </a:endParaRPr>
          </a:p>
        </p:txBody>
      </p:sp>
      <p:sp>
        <p:nvSpPr>
          <p:cNvPr id="47108" name="Slide Number Placeholder 4"/>
          <p:cNvSpPr>
            <a:spLocks noGrp="1"/>
          </p:cNvSpPr>
          <p:nvPr>
            <p:ph type="sldNum" sz="quarter" idx="12"/>
          </p:nvPr>
        </p:nvSpPr>
        <p:spPr>
          <a:noFill/>
        </p:spPr>
        <p:txBody>
          <a:bodyPr/>
          <a:lstStyle/>
          <a:p>
            <a:fld id="{35608EC3-F9E4-45A7-8CEA-83F35401F1EC}" type="slidenum">
              <a:rPr lang="en-US" smtClean="0"/>
              <a:pPr/>
              <a:t>24</a:t>
            </a:fld>
            <a:r>
              <a:rPr lang="en-US"/>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85800" y="-423862"/>
            <a:ext cx="7766050" cy="1690960"/>
          </a:xfrm>
        </p:spPr>
        <p:txBody>
          <a:bodyPr/>
          <a:lstStyle/>
          <a:p>
            <a:pPr eaLnBrk="1" hangingPunct="1"/>
            <a:r>
              <a:rPr lang="en-US" dirty="0">
                <a:latin typeface="Arial  " charset="0"/>
                <a:cs typeface="Arial  " charset="0"/>
              </a:rPr>
              <a:t>Exceptions</a:t>
            </a:r>
          </a:p>
        </p:txBody>
      </p:sp>
      <p:sp>
        <p:nvSpPr>
          <p:cNvPr id="47107" name="Rectangle 3"/>
          <p:cNvSpPr>
            <a:spLocks noGrp="1" noChangeArrowheads="1"/>
          </p:cNvSpPr>
          <p:nvPr>
            <p:ph type="body" idx="1"/>
          </p:nvPr>
        </p:nvSpPr>
        <p:spPr>
          <a:xfrm>
            <a:off x="711200" y="1143000"/>
            <a:ext cx="7772400" cy="4724400"/>
          </a:xfrm>
        </p:spPr>
        <p:txBody>
          <a:bodyPr/>
          <a:lstStyle/>
          <a:p>
            <a:pPr eaLnBrk="1" hangingPunct="1">
              <a:lnSpc>
                <a:spcPct val="90000"/>
              </a:lnSpc>
            </a:pPr>
            <a:r>
              <a:rPr lang="en-US" sz="2000" dirty="0">
                <a:latin typeface="Arial  " charset="0"/>
                <a:cs typeface="Arial  " charset="0"/>
              </a:rPr>
              <a:t>Exceptions are also sometimes referred to “interrupts”, or “faults”.  We’ll just call them all “exceptions”.</a:t>
            </a:r>
          </a:p>
          <a:p>
            <a:pPr eaLnBrk="1" hangingPunct="1">
              <a:lnSpc>
                <a:spcPct val="90000"/>
              </a:lnSpc>
            </a:pPr>
            <a:r>
              <a:rPr lang="en-US" sz="2000" dirty="0">
                <a:latin typeface="Arial  " charset="0"/>
                <a:cs typeface="Arial  " charset="0"/>
              </a:rPr>
              <a:t>Generally they require transfer of control to the operating system (OS) or other software “handler” routine.</a:t>
            </a:r>
          </a:p>
          <a:p>
            <a:pPr eaLnBrk="1" hangingPunct="1">
              <a:lnSpc>
                <a:spcPct val="90000"/>
              </a:lnSpc>
            </a:pPr>
            <a:r>
              <a:rPr lang="en-US" sz="2000" dirty="0">
                <a:latin typeface="Arial  " charset="0"/>
                <a:cs typeface="Arial  " charset="0"/>
              </a:rPr>
              <a:t>Causes:</a:t>
            </a:r>
          </a:p>
          <a:p>
            <a:pPr lvl="1" eaLnBrk="1" hangingPunct="1">
              <a:lnSpc>
                <a:spcPct val="90000"/>
              </a:lnSpc>
            </a:pPr>
            <a:r>
              <a:rPr lang="en-US" sz="1800" dirty="0">
                <a:latin typeface="Arial  " charset="0"/>
                <a:cs typeface="Arial  " charset="0"/>
              </a:rPr>
              <a:t>I/O device request</a:t>
            </a:r>
          </a:p>
          <a:p>
            <a:pPr lvl="1" eaLnBrk="1" hangingPunct="1">
              <a:lnSpc>
                <a:spcPct val="90000"/>
              </a:lnSpc>
            </a:pPr>
            <a:r>
              <a:rPr lang="en-US" sz="1800" dirty="0">
                <a:latin typeface="Arial  " charset="0"/>
                <a:cs typeface="Arial  " charset="0"/>
              </a:rPr>
              <a:t>Invoking an OS service from a user program</a:t>
            </a:r>
          </a:p>
          <a:p>
            <a:pPr lvl="1" eaLnBrk="1" hangingPunct="1">
              <a:lnSpc>
                <a:spcPct val="90000"/>
              </a:lnSpc>
            </a:pPr>
            <a:r>
              <a:rPr lang="en-US" sz="1800" dirty="0">
                <a:latin typeface="Arial  " charset="0"/>
                <a:cs typeface="Arial  " charset="0"/>
              </a:rPr>
              <a:t>Page fault</a:t>
            </a:r>
          </a:p>
          <a:p>
            <a:pPr lvl="1" eaLnBrk="1" hangingPunct="1">
              <a:lnSpc>
                <a:spcPct val="90000"/>
              </a:lnSpc>
            </a:pPr>
            <a:r>
              <a:rPr lang="en-US" sz="1800" dirty="0">
                <a:latin typeface="Arial  " charset="0"/>
                <a:cs typeface="Arial  " charset="0"/>
              </a:rPr>
              <a:t>Memory protection violation</a:t>
            </a:r>
          </a:p>
          <a:p>
            <a:pPr lvl="1" eaLnBrk="1" hangingPunct="1">
              <a:lnSpc>
                <a:spcPct val="90000"/>
              </a:lnSpc>
            </a:pPr>
            <a:r>
              <a:rPr lang="en-US" sz="1800" dirty="0">
                <a:latin typeface="Arial  " charset="0"/>
                <a:cs typeface="Arial  " charset="0"/>
              </a:rPr>
              <a:t>FP arithmetic anomaly </a:t>
            </a:r>
          </a:p>
          <a:p>
            <a:pPr lvl="1" eaLnBrk="1" hangingPunct="1">
              <a:lnSpc>
                <a:spcPct val="90000"/>
              </a:lnSpc>
            </a:pPr>
            <a:r>
              <a:rPr lang="en-US" sz="1800" dirty="0">
                <a:latin typeface="Arial  " charset="0"/>
                <a:cs typeface="Arial  " charset="0"/>
              </a:rPr>
              <a:t>Integer arithmetic overflow</a:t>
            </a:r>
          </a:p>
          <a:p>
            <a:pPr lvl="1" eaLnBrk="1" hangingPunct="1">
              <a:lnSpc>
                <a:spcPct val="90000"/>
              </a:lnSpc>
            </a:pPr>
            <a:r>
              <a:rPr lang="en-US" sz="1800" dirty="0">
                <a:latin typeface="Arial  " charset="0"/>
                <a:cs typeface="Arial  " charset="0"/>
              </a:rPr>
              <a:t>etc...</a:t>
            </a:r>
            <a:endParaRPr lang="en-US" sz="2000" dirty="0">
              <a:latin typeface="Arial  " charset="0"/>
              <a:cs typeface="Arial  " charset="0"/>
            </a:endParaRPr>
          </a:p>
          <a:p>
            <a:pPr eaLnBrk="1" hangingPunct="1">
              <a:lnSpc>
                <a:spcPct val="90000"/>
              </a:lnSpc>
            </a:pPr>
            <a:endParaRPr lang="en-US" sz="2400" dirty="0">
              <a:latin typeface="Arial  " charset="0"/>
              <a:cs typeface="Arial  " charset="0"/>
            </a:endParaRPr>
          </a:p>
        </p:txBody>
      </p:sp>
      <p:sp>
        <p:nvSpPr>
          <p:cNvPr id="47108" name="Slide Number Placeholder 4"/>
          <p:cNvSpPr>
            <a:spLocks noGrp="1"/>
          </p:cNvSpPr>
          <p:nvPr>
            <p:ph type="sldNum" sz="quarter" idx="12"/>
          </p:nvPr>
        </p:nvSpPr>
        <p:spPr>
          <a:noFill/>
        </p:spPr>
        <p:txBody>
          <a:bodyPr/>
          <a:lstStyle/>
          <a:p>
            <a:fld id="{35608EC3-F9E4-45A7-8CEA-83F35401F1EC}" type="slidenum">
              <a:rPr lang="en-US" smtClean="0"/>
              <a:pPr/>
              <a:t>25</a:t>
            </a:fld>
            <a:r>
              <a:rPr lang="en-US"/>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atin typeface="Arial  " charset="0"/>
                <a:cs typeface="Arial  " charset="0"/>
              </a:rPr>
              <a:t>Categories of Exceptions</a:t>
            </a:r>
          </a:p>
        </p:txBody>
      </p:sp>
      <p:sp>
        <p:nvSpPr>
          <p:cNvPr id="48131" name="Rectangle 3"/>
          <p:cNvSpPr>
            <a:spLocks noGrp="1" noChangeArrowheads="1"/>
          </p:cNvSpPr>
          <p:nvPr>
            <p:ph type="body" idx="1"/>
          </p:nvPr>
        </p:nvSpPr>
        <p:spPr>
          <a:xfrm>
            <a:off x="685800" y="1181100"/>
            <a:ext cx="7772400" cy="4203700"/>
          </a:xfrm>
        </p:spPr>
        <p:txBody>
          <a:bodyPr/>
          <a:lstStyle/>
          <a:p>
            <a:pPr eaLnBrk="1" hangingPunct="1"/>
            <a:r>
              <a:rPr lang="en-US" sz="2000">
                <a:latin typeface="Arial  " charset="0"/>
                <a:cs typeface="Arial  " charset="0"/>
              </a:rPr>
              <a:t>Synchronous versus Asynchronous</a:t>
            </a:r>
          </a:p>
          <a:p>
            <a:pPr lvl="1" eaLnBrk="1" hangingPunct="1"/>
            <a:r>
              <a:rPr lang="en-US" sz="1800">
                <a:latin typeface="Arial  " charset="0"/>
                <a:cs typeface="Arial  " charset="0"/>
              </a:rPr>
              <a:t>Async: external device or hardware failure.</a:t>
            </a:r>
          </a:p>
          <a:p>
            <a:pPr eaLnBrk="1" hangingPunct="1"/>
            <a:r>
              <a:rPr lang="en-US" sz="2000">
                <a:latin typeface="Arial  " charset="0"/>
                <a:cs typeface="Arial  " charset="0"/>
              </a:rPr>
              <a:t>User requested versus coerced</a:t>
            </a:r>
          </a:p>
          <a:p>
            <a:pPr lvl="1" eaLnBrk="1" hangingPunct="1"/>
            <a:r>
              <a:rPr lang="en-US" sz="1800">
                <a:latin typeface="Arial  " charset="0"/>
                <a:cs typeface="Arial  " charset="0"/>
              </a:rPr>
              <a:t>user requested =&gt; handle after instruction</a:t>
            </a:r>
          </a:p>
          <a:p>
            <a:pPr eaLnBrk="1" hangingPunct="1"/>
            <a:r>
              <a:rPr lang="en-US" sz="2000">
                <a:latin typeface="Arial  " charset="0"/>
                <a:cs typeface="Arial  " charset="0"/>
              </a:rPr>
              <a:t>User maskable versus user nonmaskable</a:t>
            </a:r>
          </a:p>
          <a:p>
            <a:pPr lvl="1" eaLnBrk="1" hangingPunct="1"/>
            <a:r>
              <a:rPr lang="en-US" sz="1800">
                <a:latin typeface="Arial  " charset="0"/>
                <a:cs typeface="Arial  " charset="0"/>
              </a:rPr>
              <a:t>e.g., overflow can be masked (ignored) by user.</a:t>
            </a:r>
          </a:p>
          <a:p>
            <a:pPr eaLnBrk="1" hangingPunct="1"/>
            <a:r>
              <a:rPr lang="en-US" sz="2000">
                <a:solidFill>
                  <a:srgbClr val="FF0000"/>
                </a:solidFill>
                <a:latin typeface="Arial  " charset="0"/>
                <a:cs typeface="Arial  " charset="0"/>
              </a:rPr>
              <a:t>Within</a:t>
            </a:r>
            <a:r>
              <a:rPr lang="en-US" sz="2000">
                <a:latin typeface="Arial  " charset="0"/>
                <a:cs typeface="Arial  " charset="0"/>
              </a:rPr>
              <a:t> versus between instructions</a:t>
            </a:r>
          </a:p>
          <a:p>
            <a:pPr lvl="1" eaLnBrk="1" hangingPunct="1"/>
            <a:r>
              <a:rPr lang="en-US" sz="1800">
                <a:latin typeface="Arial  " charset="0"/>
                <a:cs typeface="Arial  " charset="0"/>
              </a:rPr>
              <a:t>within =&gt; hard </a:t>
            </a:r>
          </a:p>
          <a:p>
            <a:pPr eaLnBrk="1" hangingPunct="1"/>
            <a:r>
              <a:rPr lang="en-US" sz="2000">
                <a:solidFill>
                  <a:srgbClr val="FF0000"/>
                </a:solidFill>
                <a:latin typeface="Arial  " charset="0"/>
                <a:cs typeface="Arial  " charset="0"/>
              </a:rPr>
              <a:t>Resume</a:t>
            </a:r>
            <a:r>
              <a:rPr lang="en-US" sz="2000">
                <a:latin typeface="Arial  " charset="0"/>
                <a:cs typeface="Arial  " charset="0"/>
              </a:rPr>
              <a:t> versus terminate</a:t>
            </a:r>
          </a:p>
          <a:p>
            <a:pPr lvl="1" eaLnBrk="1" hangingPunct="1"/>
            <a:r>
              <a:rPr lang="en-US" sz="1800">
                <a:latin typeface="Arial  " charset="0"/>
                <a:cs typeface="Arial  " charset="0"/>
              </a:rPr>
              <a:t>terminate =&gt; easier</a:t>
            </a:r>
            <a:endParaRPr lang="en-US" sz="2000">
              <a:latin typeface="Arial  " charset="0"/>
              <a:cs typeface="Arial  " charset="0"/>
            </a:endParaRPr>
          </a:p>
        </p:txBody>
      </p:sp>
      <p:sp>
        <p:nvSpPr>
          <p:cNvPr id="48132" name="Oval 4"/>
          <p:cNvSpPr>
            <a:spLocks noChangeArrowheads="1"/>
          </p:cNvSpPr>
          <p:nvPr/>
        </p:nvSpPr>
        <p:spPr bwMode="auto">
          <a:xfrm>
            <a:off x="431800" y="3028950"/>
            <a:ext cx="1816100" cy="1790700"/>
          </a:xfrm>
          <a:prstGeom prst="ellipse">
            <a:avLst/>
          </a:prstGeom>
          <a:noFill/>
          <a:ln w="57150">
            <a:solidFill>
              <a:srgbClr val="FF0000"/>
            </a:solidFill>
            <a:round/>
            <a:headEnd/>
            <a:tailEnd/>
          </a:ln>
        </p:spPr>
        <p:txBody>
          <a:bodyPr wrap="none" anchor="ctr"/>
          <a:lstStyle/>
          <a:p>
            <a:endParaRPr lang="en-US"/>
          </a:p>
        </p:txBody>
      </p:sp>
      <p:sp>
        <p:nvSpPr>
          <p:cNvPr id="48133" name="Freeform 5"/>
          <p:cNvSpPr>
            <a:spLocks/>
          </p:cNvSpPr>
          <p:nvPr/>
        </p:nvSpPr>
        <p:spPr bwMode="auto">
          <a:xfrm>
            <a:off x="798513" y="4737100"/>
            <a:ext cx="1509712" cy="927100"/>
          </a:xfrm>
          <a:custGeom>
            <a:avLst/>
            <a:gdLst>
              <a:gd name="T0" fmla="*/ 2147483647 w 951"/>
              <a:gd name="T1" fmla="*/ 2147483647 h 584"/>
              <a:gd name="T2" fmla="*/ 2147483647 w 951"/>
              <a:gd name="T3" fmla="*/ 2147483647 h 584"/>
              <a:gd name="T4" fmla="*/ 2147483647 w 951"/>
              <a:gd name="T5" fmla="*/ 2147483647 h 584"/>
              <a:gd name="T6" fmla="*/ 2147483647 w 951"/>
              <a:gd name="T7" fmla="*/ 0 h 584"/>
              <a:gd name="T8" fmla="*/ 0 60000 65536"/>
              <a:gd name="T9" fmla="*/ 0 60000 65536"/>
              <a:gd name="T10" fmla="*/ 0 60000 65536"/>
              <a:gd name="T11" fmla="*/ 0 60000 65536"/>
              <a:gd name="T12" fmla="*/ 0 w 951"/>
              <a:gd name="T13" fmla="*/ 0 h 584"/>
              <a:gd name="T14" fmla="*/ 951 w 951"/>
              <a:gd name="T15" fmla="*/ 584 h 584"/>
            </a:gdLst>
            <a:ahLst/>
            <a:cxnLst>
              <a:cxn ang="T8">
                <a:pos x="T0" y="T1"/>
              </a:cxn>
              <a:cxn ang="T9">
                <a:pos x="T2" y="T3"/>
              </a:cxn>
              <a:cxn ang="T10">
                <a:pos x="T4" y="T5"/>
              </a:cxn>
              <a:cxn ang="T11">
                <a:pos x="T6" y="T7"/>
              </a:cxn>
            </a:cxnLst>
            <a:rect l="T12" t="T13" r="T14" b="T15"/>
            <a:pathLst>
              <a:path w="951" h="584">
                <a:moveTo>
                  <a:pt x="951" y="544"/>
                </a:moveTo>
                <a:cubicBezTo>
                  <a:pt x="648" y="564"/>
                  <a:pt x="346" y="584"/>
                  <a:pt x="191" y="544"/>
                </a:cubicBezTo>
                <a:cubicBezTo>
                  <a:pt x="36" y="504"/>
                  <a:pt x="46" y="395"/>
                  <a:pt x="23" y="304"/>
                </a:cubicBezTo>
                <a:cubicBezTo>
                  <a:pt x="0" y="213"/>
                  <a:pt x="27" y="106"/>
                  <a:pt x="55" y="0"/>
                </a:cubicBezTo>
              </a:path>
            </a:pathLst>
          </a:custGeom>
          <a:noFill/>
          <a:ln w="38100">
            <a:solidFill>
              <a:srgbClr val="FF0000"/>
            </a:solidFill>
            <a:round/>
            <a:headEnd/>
            <a:tailEnd type="triangle" w="med" len="med"/>
          </a:ln>
        </p:spPr>
        <p:txBody>
          <a:bodyPr wrap="none" anchor="ctr"/>
          <a:lstStyle/>
          <a:p>
            <a:endParaRPr lang="en-CA"/>
          </a:p>
        </p:txBody>
      </p:sp>
      <p:sp>
        <p:nvSpPr>
          <p:cNvPr id="48134" name="Text Box 6"/>
          <p:cNvSpPr txBox="1">
            <a:spLocks noChangeArrowheads="1"/>
          </p:cNvSpPr>
          <p:nvPr/>
        </p:nvSpPr>
        <p:spPr bwMode="auto">
          <a:xfrm>
            <a:off x="2371362" y="5185910"/>
            <a:ext cx="6118225" cy="934487"/>
          </a:xfrm>
          <a:prstGeom prst="rect">
            <a:avLst/>
          </a:prstGeom>
          <a:noFill/>
          <a:ln w="9525">
            <a:noFill/>
            <a:miter lim="800000"/>
            <a:headEnd/>
            <a:tailEnd/>
          </a:ln>
        </p:spPr>
        <p:txBody>
          <a:bodyPr>
            <a:spAutoFit/>
          </a:bodyPr>
          <a:lstStyle/>
          <a:p>
            <a:r>
              <a:rPr lang="en-US" dirty="0">
                <a:solidFill>
                  <a:srgbClr val="FF0000"/>
                </a:solidFill>
                <a:cs typeface="Arial" pitchFamily="34" charset="0"/>
              </a:rPr>
              <a:t>Most challenging, but very important =&gt;</a:t>
            </a:r>
          </a:p>
          <a:p>
            <a:r>
              <a:rPr lang="en-US" dirty="0">
                <a:solidFill>
                  <a:srgbClr val="FF0000"/>
                </a:solidFill>
                <a:cs typeface="Arial" pitchFamily="34" charset="0"/>
              </a:rPr>
              <a:t>required for supporting “virtual memory”</a:t>
            </a:r>
          </a:p>
          <a:p>
            <a:r>
              <a:rPr lang="en-US" dirty="0">
                <a:solidFill>
                  <a:srgbClr val="FF0000"/>
                </a:solidFill>
                <a:cs typeface="Arial" pitchFamily="34" charset="0"/>
              </a:rPr>
              <a:t>(which we will talk about later).</a:t>
            </a:r>
          </a:p>
        </p:txBody>
      </p:sp>
      <p:sp>
        <p:nvSpPr>
          <p:cNvPr id="48135" name="Slide Number Placeholder 7"/>
          <p:cNvSpPr>
            <a:spLocks noGrp="1"/>
          </p:cNvSpPr>
          <p:nvPr>
            <p:ph type="sldNum" sz="quarter" idx="12"/>
          </p:nvPr>
        </p:nvSpPr>
        <p:spPr>
          <a:noFill/>
        </p:spPr>
        <p:txBody>
          <a:bodyPr/>
          <a:lstStyle/>
          <a:p>
            <a:fld id="{86A7A5A0-4C49-4365-B222-6813EA373773}" type="slidenum">
              <a:rPr lang="en-US" smtClean="0"/>
              <a:pPr/>
              <a:t>26</a:t>
            </a:fld>
            <a:r>
              <a:rPr lang="en-US"/>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5800" y="190501"/>
            <a:ext cx="7772400" cy="697774"/>
          </a:xfrm>
        </p:spPr>
        <p:txBody>
          <a:bodyPr/>
          <a:lstStyle/>
          <a:p>
            <a:pPr eaLnBrk="1" hangingPunct="1"/>
            <a:r>
              <a:rPr lang="en-US" sz="3600" dirty="0">
                <a:latin typeface="Arial  " charset="0"/>
                <a:cs typeface="Arial  " charset="0"/>
              </a:rPr>
              <a:t>Exceptions in an In-order Pipeline</a:t>
            </a:r>
            <a:endParaRPr lang="en-US" dirty="0">
              <a:latin typeface="Arial  " charset="0"/>
              <a:cs typeface="Arial  " charset="0"/>
            </a:endParaRPr>
          </a:p>
        </p:txBody>
      </p:sp>
      <p:sp>
        <p:nvSpPr>
          <p:cNvPr id="49155" name="Rectangle 3"/>
          <p:cNvSpPr>
            <a:spLocks noGrp="1" noChangeArrowheads="1"/>
          </p:cNvSpPr>
          <p:nvPr>
            <p:ph type="body" idx="1"/>
          </p:nvPr>
        </p:nvSpPr>
        <p:spPr>
          <a:xfrm>
            <a:off x="594360" y="1250406"/>
            <a:ext cx="7772400" cy="4597400"/>
          </a:xfrm>
        </p:spPr>
        <p:txBody>
          <a:bodyPr/>
          <a:lstStyle/>
          <a:p>
            <a:pPr marL="533400" indent="-533400" eaLnBrk="1" hangingPunct="1"/>
            <a:r>
              <a:rPr lang="en-US" dirty="0">
                <a:latin typeface="Arial  " charset="0"/>
                <a:cs typeface="Arial  " charset="0"/>
              </a:rPr>
              <a:t>Upon detection of exception:</a:t>
            </a:r>
          </a:p>
          <a:p>
            <a:pPr marL="914400" lvl="1" indent="-457200" eaLnBrk="1" hangingPunct="1">
              <a:buFontTx/>
              <a:buAutoNum type="arabicPeriod"/>
            </a:pPr>
            <a:r>
              <a:rPr lang="en-US" dirty="0">
                <a:latin typeface="Arial  " charset="0"/>
                <a:cs typeface="Arial  " charset="0"/>
              </a:rPr>
              <a:t>Force first instruction of an exception handler upon next IF</a:t>
            </a:r>
          </a:p>
          <a:p>
            <a:pPr marL="914400" lvl="1" indent="-457200" eaLnBrk="1" hangingPunct="1">
              <a:buFontTx/>
              <a:buAutoNum type="arabicPeriod"/>
            </a:pPr>
            <a:r>
              <a:rPr lang="en-US" dirty="0">
                <a:latin typeface="Arial  " charset="0"/>
                <a:cs typeface="Arial  " charset="0"/>
              </a:rPr>
              <a:t>Turn off control signals for all instructions after and including “faulting instruction” (i.e., convert them to “</a:t>
            </a:r>
            <a:r>
              <a:rPr lang="en-US" dirty="0" err="1">
                <a:latin typeface="Arial  " charset="0"/>
                <a:cs typeface="Arial  " charset="0"/>
              </a:rPr>
              <a:t>nops</a:t>
            </a:r>
            <a:r>
              <a:rPr lang="en-US" dirty="0">
                <a:latin typeface="Arial  " charset="0"/>
                <a:cs typeface="Arial  " charset="0"/>
              </a:rPr>
              <a:t>” / “squash” them)</a:t>
            </a:r>
          </a:p>
          <a:p>
            <a:pPr marL="914400" lvl="1" indent="-457200" eaLnBrk="1" hangingPunct="1">
              <a:buFontTx/>
              <a:buAutoNum type="arabicPeriod"/>
            </a:pPr>
            <a:r>
              <a:rPr lang="en-US" dirty="0">
                <a:latin typeface="Arial  " charset="0"/>
                <a:cs typeface="Arial  " charset="0"/>
              </a:rPr>
              <a:t>After exception handling routine gets control, save PC of faulting instruction (or N+1 PCs if delayed branch with N delay slots)</a:t>
            </a:r>
          </a:p>
        </p:txBody>
      </p:sp>
      <p:sp>
        <p:nvSpPr>
          <p:cNvPr id="49156" name="Slide Number Placeholder 4"/>
          <p:cNvSpPr>
            <a:spLocks noGrp="1"/>
          </p:cNvSpPr>
          <p:nvPr>
            <p:ph type="sldNum" sz="quarter" idx="12"/>
          </p:nvPr>
        </p:nvSpPr>
        <p:spPr>
          <a:noFill/>
        </p:spPr>
        <p:txBody>
          <a:bodyPr/>
          <a:lstStyle/>
          <a:p>
            <a:fld id="{00FCEFF8-F211-473A-B70A-47D4ED5CFA81}" type="slidenum">
              <a:rPr lang="en-US" smtClean="0"/>
              <a:pPr/>
              <a:t>27</a:t>
            </a:fld>
            <a:r>
              <a:rPr lang="en-US"/>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0" y="0"/>
            <a:ext cx="9144000" cy="901700"/>
          </a:xfrm>
        </p:spPr>
        <p:txBody>
          <a:bodyPr/>
          <a:lstStyle/>
          <a:p>
            <a:pPr eaLnBrk="1" hangingPunct="1"/>
            <a:r>
              <a:rPr lang="en-US">
                <a:latin typeface="Arial  " charset="0"/>
                <a:cs typeface="Arial  " charset="0"/>
              </a:rPr>
              <a:t>Exception Handling Support</a:t>
            </a:r>
          </a:p>
        </p:txBody>
      </p:sp>
      <p:sp>
        <p:nvSpPr>
          <p:cNvPr id="50179" name="Rectangle 3"/>
          <p:cNvSpPr>
            <a:spLocks noGrp="1" noChangeArrowheads="1"/>
          </p:cNvSpPr>
          <p:nvPr>
            <p:ph type="body" idx="1"/>
          </p:nvPr>
        </p:nvSpPr>
        <p:spPr>
          <a:xfrm>
            <a:off x="685800" y="5676900"/>
            <a:ext cx="7772400" cy="419100"/>
          </a:xfrm>
        </p:spPr>
        <p:txBody>
          <a:bodyPr/>
          <a:lstStyle/>
          <a:p>
            <a:pPr eaLnBrk="1" hangingPunct="1">
              <a:lnSpc>
                <a:spcPct val="90000"/>
              </a:lnSpc>
            </a:pPr>
            <a:endParaRPr lang="en-US" sz="2400">
              <a:latin typeface="Arial  " charset="0"/>
              <a:cs typeface="Arial  " charset="0"/>
            </a:endParaRPr>
          </a:p>
        </p:txBody>
      </p:sp>
      <p:pic>
        <p:nvPicPr>
          <p:cNvPr id="50180" name="Picture 4" descr="38~Figure_6"/>
          <p:cNvPicPr>
            <a:picLocks noChangeAspect="1" noChangeArrowheads="1"/>
          </p:cNvPicPr>
          <p:nvPr/>
        </p:nvPicPr>
        <p:blipFill>
          <a:blip r:embed="rId3"/>
          <a:srcRect/>
          <a:stretch>
            <a:fillRect/>
          </a:stretch>
        </p:blipFill>
        <p:spPr bwMode="auto">
          <a:xfrm>
            <a:off x="212725" y="1042988"/>
            <a:ext cx="8524875" cy="5099050"/>
          </a:xfrm>
          <a:prstGeom prst="rect">
            <a:avLst/>
          </a:prstGeom>
          <a:noFill/>
          <a:ln w="9525">
            <a:noFill/>
            <a:miter lim="800000"/>
            <a:headEnd/>
            <a:tailEnd/>
          </a:ln>
        </p:spPr>
      </p:pic>
      <p:sp>
        <p:nvSpPr>
          <p:cNvPr id="50181" name="Slide Number Placeholder 5"/>
          <p:cNvSpPr>
            <a:spLocks noGrp="1"/>
          </p:cNvSpPr>
          <p:nvPr>
            <p:ph type="sldNum" sz="quarter" idx="12"/>
          </p:nvPr>
        </p:nvSpPr>
        <p:spPr>
          <a:noFill/>
        </p:spPr>
        <p:txBody>
          <a:bodyPr/>
          <a:lstStyle/>
          <a:p>
            <a:fld id="{ECE65DAE-1F9B-438F-9D82-2CC6573F6EF3}" type="slidenum">
              <a:rPr lang="en-US" smtClean="0"/>
              <a:pPr/>
              <a:t>28</a:t>
            </a:fld>
            <a:r>
              <a:rPr lang="en-US"/>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0" y="0"/>
            <a:ext cx="8661400" cy="1143000"/>
          </a:xfrm>
        </p:spPr>
        <p:txBody>
          <a:bodyPr/>
          <a:lstStyle/>
          <a:p>
            <a:pPr eaLnBrk="1" hangingPunct="1"/>
            <a:r>
              <a:rPr lang="en-US">
                <a:latin typeface="Arial  " charset="0"/>
                <a:cs typeface="Arial  " charset="0"/>
              </a:rPr>
              <a:t>Exception Handling Support</a:t>
            </a:r>
          </a:p>
        </p:txBody>
      </p:sp>
      <p:sp>
        <p:nvSpPr>
          <p:cNvPr id="51203" name="Rectangle 3"/>
          <p:cNvSpPr>
            <a:spLocks noGrp="1" noChangeArrowheads="1"/>
          </p:cNvSpPr>
          <p:nvPr>
            <p:ph type="body" idx="1"/>
          </p:nvPr>
        </p:nvSpPr>
        <p:spPr>
          <a:xfrm>
            <a:off x="685800" y="5676900"/>
            <a:ext cx="7772400" cy="419100"/>
          </a:xfrm>
        </p:spPr>
        <p:txBody>
          <a:bodyPr/>
          <a:lstStyle/>
          <a:p>
            <a:pPr eaLnBrk="1" hangingPunct="1">
              <a:lnSpc>
                <a:spcPct val="90000"/>
              </a:lnSpc>
            </a:pPr>
            <a:endParaRPr lang="en-US" sz="2000">
              <a:latin typeface="Arial  " charset="0"/>
              <a:cs typeface="Arial  " charset="0"/>
            </a:endParaRPr>
          </a:p>
        </p:txBody>
      </p:sp>
      <p:pic>
        <p:nvPicPr>
          <p:cNvPr id="51204" name="Picture 4" descr="38~Figure_6"/>
          <p:cNvPicPr>
            <a:picLocks noChangeAspect="1" noChangeArrowheads="1"/>
          </p:cNvPicPr>
          <p:nvPr/>
        </p:nvPicPr>
        <p:blipFill>
          <a:blip r:embed="rId3"/>
          <a:srcRect/>
          <a:stretch>
            <a:fillRect/>
          </a:stretch>
        </p:blipFill>
        <p:spPr bwMode="auto">
          <a:xfrm>
            <a:off x="212725" y="1042988"/>
            <a:ext cx="8524875" cy="5099050"/>
          </a:xfrm>
          <a:prstGeom prst="rect">
            <a:avLst/>
          </a:prstGeom>
          <a:noFill/>
          <a:ln w="9525">
            <a:noFill/>
            <a:miter lim="800000"/>
            <a:headEnd/>
            <a:tailEnd/>
          </a:ln>
        </p:spPr>
      </p:pic>
      <p:grpSp>
        <p:nvGrpSpPr>
          <p:cNvPr id="2" name="Group 21"/>
          <p:cNvGrpSpPr>
            <a:grpSpLocks/>
          </p:cNvGrpSpPr>
          <p:nvPr/>
        </p:nvGrpSpPr>
        <p:grpSpPr bwMode="auto">
          <a:xfrm>
            <a:off x="5270500" y="228600"/>
            <a:ext cx="3308350" cy="1870075"/>
            <a:chOff x="3320" y="144"/>
            <a:chExt cx="2084" cy="1178"/>
          </a:xfrm>
        </p:grpSpPr>
        <p:sp>
          <p:nvSpPr>
            <p:cNvPr id="51243" name="Rectangle 5"/>
            <p:cNvSpPr>
              <a:spLocks noChangeArrowheads="1"/>
            </p:cNvSpPr>
            <p:nvPr/>
          </p:nvSpPr>
          <p:spPr bwMode="auto">
            <a:xfrm>
              <a:off x="3320" y="616"/>
              <a:ext cx="584" cy="128"/>
            </a:xfrm>
            <a:prstGeom prst="rect">
              <a:avLst/>
            </a:prstGeom>
            <a:solidFill>
              <a:srgbClr val="FF0000">
                <a:alpha val="54117"/>
              </a:srgbClr>
            </a:solidFill>
            <a:ln w="9525">
              <a:noFill/>
              <a:miter lim="800000"/>
              <a:headEnd/>
              <a:tailEnd/>
            </a:ln>
          </p:spPr>
          <p:txBody>
            <a:bodyPr wrap="none" anchor="ctr"/>
            <a:lstStyle/>
            <a:p>
              <a:endParaRPr lang="en-US"/>
            </a:p>
          </p:txBody>
        </p:sp>
        <p:sp>
          <p:nvSpPr>
            <p:cNvPr id="51244" name="Line 6"/>
            <p:cNvSpPr>
              <a:spLocks noChangeShapeType="1"/>
            </p:cNvSpPr>
            <p:nvPr/>
          </p:nvSpPr>
          <p:spPr bwMode="auto">
            <a:xfrm flipV="1">
              <a:off x="3888" y="536"/>
              <a:ext cx="296" cy="80"/>
            </a:xfrm>
            <a:prstGeom prst="line">
              <a:avLst/>
            </a:prstGeom>
            <a:noFill/>
            <a:ln w="76200">
              <a:solidFill>
                <a:srgbClr val="FF0000"/>
              </a:solidFill>
              <a:round/>
              <a:headEnd type="triangle" w="med" len="med"/>
              <a:tailEnd/>
            </a:ln>
          </p:spPr>
          <p:txBody>
            <a:bodyPr wrap="none" anchor="ctr"/>
            <a:lstStyle/>
            <a:p>
              <a:endParaRPr lang="en-CA"/>
            </a:p>
          </p:txBody>
        </p:sp>
        <p:sp>
          <p:nvSpPr>
            <p:cNvPr id="51245" name="Text Box 7"/>
            <p:cNvSpPr txBox="1">
              <a:spLocks noChangeArrowheads="1"/>
            </p:cNvSpPr>
            <p:nvPr/>
          </p:nvSpPr>
          <p:spPr bwMode="auto">
            <a:xfrm>
              <a:off x="4200" y="144"/>
              <a:ext cx="1204" cy="1178"/>
            </a:xfrm>
            <a:prstGeom prst="rect">
              <a:avLst/>
            </a:prstGeom>
            <a:solidFill>
              <a:schemeClr val="bg1"/>
            </a:solidFill>
            <a:ln w="76200">
              <a:solidFill>
                <a:srgbClr val="FF0000"/>
              </a:solidFill>
              <a:miter lim="800000"/>
              <a:headEnd/>
              <a:tailEnd/>
            </a:ln>
          </p:spPr>
          <p:txBody>
            <a:bodyPr>
              <a:spAutoFit/>
            </a:bodyPr>
            <a:lstStyle/>
            <a:p>
              <a:pPr>
                <a:spcBef>
                  <a:spcPct val="50000"/>
                </a:spcBef>
              </a:pPr>
              <a:r>
                <a:rPr lang="en-US">
                  <a:solidFill>
                    <a:srgbClr val="FF0000"/>
                  </a:solidFill>
                  <a:latin typeface="Comic Sans MS" pitchFamily="66" charset="0"/>
                </a:rPr>
                <a:t>add instruction causes overflow!</a:t>
              </a:r>
            </a:p>
          </p:txBody>
        </p:sp>
      </p:grpSp>
      <p:grpSp>
        <p:nvGrpSpPr>
          <p:cNvPr id="3" name="Group 24"/>
          <p:cNvGrpSpPr>
            <a:grpSpLocks/>
          </p:cNvGrpSpPr>
          <p:nvPr/>
        </p:nvGrpSpPr>
        <p:grpSpPr bwMode="auto">
          <a:xfrm>
            <a:off x="127000" y="3822700"/>
            <a:ext cx="1917700" cy="2546350"/>
            <a:chOff x="80" y="2408"/>
            <a:chExt cx="1208" cy="1604"/>
          </a:xfrm>
        </p:grpSpPr>
        <p:sp>
          <p:nvSpPr>
            <p:cNvPr id="51240" name="Rectangle 8"/>
            <p:cNvSpPr>
              <a:spLocks noChangeArrowheads="1"/>
            </p:cNvSpPr>
            <p:nvPr/>
          </p:nvSpPr>
          <p:spPr bwMode="auto">
            <a:xfrm>
              <a:off x="80" y="2408"/>
              <a:ext cx="320" cy="152"/>
            </a:xfrm>
            <a:prstGeom prst="rect">
              <a:avLst/>
            </a:prstGeom>
            <a:solidFill>
              <a:srgbClr val="FF0000">
                <a:alpha val="50980"/>
              </a:srgbClr>
            </a:solidFill>
            <a:ln w="9525">
              <a:noFill/>
              <a:miter lim="800000"/>
              <a:headEnd/>
              <a:tailEnd/>
            </a:ln>
          </p:spPr>
          <p:txBody>
            <a:bodyPr wrap="none" anchor="ctr"/>
            <a:lstStyle/>
            <a:p>
              <a:endParaRPr lang="en-US"/>
            </a:p>
          </p:txBody>
        </p:sp>
        <p:sp>
          <p:nvSpPr>
            <p:cNvPr id="51241" name="Line 9"/>
            <p:cNvSpPr>
              <a:spLocks noChangeShapeType="1"/>
            </p:cNvSpPr>
            <p:nvPr/>
          </p:nvSpPr>
          <p:spPr bwMode="auto">
            <a:xfrm>
              <a:off x="200" y="2568"/>
              <a:ext cx="144" cy="632"/>
            </a:xfrm>
            <a:prstGeom prst="line">
              <a:avLst/>
            </a:prstGeom>
            <a:noFill/>
            <a:ln w="76200">
              <a:solidFill>
                <a:srgbClr val="FF0000"/>
              </a:solidFill>
              <a:round/>
              <a:headEnd type="triangle" w="med" len="med"/>
              <a:tailEnd/>
            </a:ln>
          </p:spPr>
          <p:txBody>
            <a:bodyPr wrap="none" anchor="ctr"/>
            <a:lstStyle/>
            <a:p>
              <a:endParaRPr lang="en-CA"/>
            </a:p>
          </p:txBody>
        </p:sp>
        <p:sp>
          <p:nvSpPr>
            <p:cNvPr id="51242" name="Text Box 10"/>
            <p:cNvSpPr txBox="1">
              <a:spLocks noChangeArrowheads="1"/>
            </p:cNvSpPr>
            <p:nvPr/>
          </p:nvSpPr>
          <p:spPr bwMode="auto">
            <a:xfrm>
              <a:off x="334" y="3237"/>
              <a:ext cx="954" cy="775"/>
            </a:xfrm>
            <a:prstGeom prst="rect">
              <a:avLst/>
            </a:prstGeom>
            <a:solidFill>
              <a:schemeClr val="bg1"/>
            </a:solidFill>
            <a:ln w="76200">
              <a:solidFill>
                <a:srgbClr val="FF0000"/>
              </a:solidFill>
              <a:miter lim="800000"/>
              <a:headEnd/>
              <a:tailEnd/>
            </a:ln>
          </p:spPr>
          <p:txBody>
            <a:bodyPr>
              <a:spAutoFit/>
            </a:bodyPr>
            <a:lstStyle/>
            <a:p>
              <a:r>
                <a:rPr lang="en-US" sz="2000">
                  <a:solidFill>
                    <a:srgbClr val="FF0000"/>
                  </a:solidFill>
                  <a:latin typeface="Comic Sans MS" pitchFamily="66" charset="0"/>
                </a:rPr>
                <a:t>exception handler address</a:t>
              </a:r>
              <a:endParaRPr lang="en-US" sz="2000">
                <a:solidFill>
                  <a:srgbClr val="FF0000"/>
                </a:solidFill>
              </a:endParaRPr>
            </a:p>
          </p:txBody>
        </p:sp>
      </p:grpSp>
      <p:grpSp>
        <p:nvGrpSpPr>
          <p:cNvPr id="4" name="Group 23"/>
          <p:cNvGrpSpPr>
            <a:grpSpLocks/>
          </p:cNvGrpSpPr>
          <p:nvPr/>
        </p:nvGrpSpPr>
        <p:grpSpPr bwMode="auto">
          <a:xfrm>
            <a:off x="2184400" y="1866900"/>
            <a:ext cx="4879975" cy="4716463"/>
            <a:chOff x="1376" y="1176"/>
            <a:chExt cx="3074" cy="2971"/>
          </a:xfrm>
        </p:grpSpPr>
        <p:sp>
          <p:nvSpPr>
            <p:cNvPr id="51233" name="Oval 11"/>
            <p:cNvSpPr>
              <a:spLocks noChangeArrowheads="1"/>
            </p:cNvSpPr>
            <p:nvPr/>
          </p:nvSpPr>
          <p:spPr bwMode="auto">
            <a:xfrm>
              <a:off x="2624" y="1416"/>
              <a:ext cx="552" cy="568"/>
            </a:xfrm>
            <a:prstGeom prst="ellipse">
              <a:avLst/>
            </a:prstGeom>
            <a:noFill/>
            <a:ln w="76200">
              <a:solidFill>
                <a:srgbClr val="FF0000"/>
              </a:solidFill>
              <a:round/>
              <a:headEnd/>
              <a:tailEnd/>
            </a:ln>
          </p:spPr>
          <p:txBody>
            <a:bodyPr wrap="none" anchor="ctr"/>
            <a:lstStyle/>
            <a:p>
              <a:endParaRPr lang="en-US"/>
            </a:p>
          </p:txBody>
        </p:sp>
        <p:sp>
          <p:nvSpPr>
            <p:cNvPr id="51234" name="Oval 12"/>
            <p:cNvSpPr>
              <a:spLocks noChangeArrowheads="1"/>
            </p:cNvSpPr>
            <p:nvPr/>
          </p:nvSpPr>
          <p:spPr bwMode="auto">
            <a:xfrm>
              <a:off x="3592" y="1176"/>
              <a:ext cx="536" cy="712"/>
            </a:xfrm>
            <a:prstGeom prst="ellipse">
              <a:avLst/>
            </a:prstGeom>
            <a:noFill/>
            <a:ln w="76200">
              <a:solidFill>
                <a:srgbClr val="FF0000"/>
              </a:solidFill>
              <a:round/>
              <a:headEnd/>
              <a:tailEnd/>
            </a:ln>
          </p:spPr>
          <p:txBody>
            <a:bodyPr wrap="none" anchor="ctr"/>
            <a:lstStyle/>
            <a:p>
              <a:endParaRPr lang="en-US"/>
            </a:p>
          </p:txBody>
        </p:sp>
        <p:sp>
          <p:nvSpPr>
            <p:cNvPr id="51235" name="Oval 13"/>
            <p:cNvSpPr>
              <a:spLocks noChangeArrowheads="1"/>
            </p:cNvSpPr>
            <p:nvPr/>
          </p:nvSpPr>
          <p:spPr bwMode="auto">
            <a:xfrm>
              <a:off x="1376" y="3160"/>
              <a:ext cx="208" cy="224"/>
            </a:xfrm>
            <a:prstGeom prst="ellipse">
              <a:avLst/>
            </a:prstGeom>
            <a:noFill/>
            <a:ln w="76200">
              <a:solidFill>
                <a:srgbClr val="FF0000"/>
              </a:solidFill>
              <a:round/>
              <a:headEnd/>
              <a:tailEnd/>
            </a:ln>
          </p:spPr>
          <p:txBody>
            <a:bodyPr wrap="none" anchor="ctr"/>
            <a:lstStyle/>
            <a:p>
              <a:endParaRPr lang="en-US"/>
            </a:p>
          </p:txBody>
        </p:sp>
        <p:sp>
          <p:nvSpPr>
            <p:cNvPr id="51236" name="Text Box 14"/>
            <p:cNvSpPr txBox="1">
              <a:spLocks noChangeArrowheads="1"/>
            </p:cNvSpPr>
            <p:nvPr/>
          </p:nvSpPr>
          <p:spPr bwMode="auto">
            <a:xfrm>
              <a:off x="1494" y="3773"/>
              <a:ext cx="2956" cy="374"/>
            </a:xfrm>
            <a:prstGeom prst="rect">
              <a:avLst/>
            </a:prstGeom>
            <a:solidFill>
              <a:schemeClr val="bg1"/>
            </a:solidFill>
            <a:ln w="76200">
              <a:solidFill>
                <a:srgbClr val="FF0000"/>
              </a:solidFill>
              <a:miter lim="800000"/>
              <a:headEnd/>
              <a:tailEnd/>
            </a:ln>
          </p:spPr>
          <p:txBody>
            <a:bodyPr wrap="none">
              <a:spAutoFit/>
            </a:bodyPr>
            <a:lstStyle/>
            <a:p>
              <a:r>
                <a:rPr lang="en-US">
                  <a:solidFill>
                    <a:srgbClr val="FF0000"/>
                  </a:solidFill>
                  <a:latin typeface="Comic Sans MS" pitchFamily="66" charset="0"/>
                </a:rPr>
                <a:t>“nop”/“squash” injection signals</a:t>
              </a:r>
              <a:endParaRPr lang="en-US"/>
            </a:p>
          </p:txBody>
        </p:sp>
        <p:sp>
          <p:nvSpPr>
            <p:cNvPr id="51237" name="Line 15"/>
            <p:cNvSpPr>
              <a:spLocks noChangeShapeType="1"/>
            </p:cNvSpPr>
            <p:nvPr/>
          </p:nvSpPr>
          <p:spPr bwMode="auto">
            <a:xfrm flipH="1" flipV="1">
              <a:off x="1536" y="3376"/>
              <a:ext cx="224" cy="368"/>
            </a:xfrm>
            <a:prstGeom prst="line">
              <a:avLst/>
            </a:prstGeom>
            <a:noFill/>
            <a:ln w="76200">
              <a:solidFill>
                <a:srgbClr val="FF0000"/>
              </a:solidFill>
              <a:round/>
              <a:headEnd/>
              <a:tailEnd type="triangle" w="med" len="med"/>
            </a:ln>
          </p:spPr>
          <p:txBody>
            <a:bodyPr wrap="none" anchor="ctr"/>
            <a:lstStyle/>
            <a:p>
              <a:endParaRPr lang="en-CA"/>
            </a:p>
          </p:txBody>
        </p:sp>
        <p:sp>
          <p:nvSpPr>
            <p:cNvPr id="51238" name="Line 16"/>
            <p:cNvSpPr>
              <a:spLocks noChangeShapeType="1"/>
            </p:cNvSpPr>
            <p:nvPr/>
          </p:nvSpPr>
          <p:spPr bwMode="auto">
            <a:xfrm flipV="1">
              <a:off x="1768" y="1944"/>
              <a:ext cx="984" cy="1800"/>
            </a:xfrm>
            <a:prstGeom prst="line">
              <a:avLst/>
            </a:prstGeom>
            <a:noFill/>
            <a:ln w="76200">
              <a:solidFill>
                <a:srgbClr val="FF0000"/>
              </a:solidFill>
              <a:round/>
              <a:headEnd/>
              <a:tailEnd type="triangle" w="med" len="med"/>
            </a:ln>
          </p:spPr>
          <p:txBody>
            <a:bodyPr wrap="none" anchor="ctr"/>
            <a:lstStyle/>
            <a:p>
              <a:endParaRPr lang="en-CA"/>
            </a:p>
          </p:txBody>
        </p:sp>
        <p:sp>
          <p:nvSpPr>
            <p:cNvPr id="51239" name="Line 17"/>
            <p:cNvSpPr>
              <a:spLocks noChangeShapeType="1"/>
            </p:cNvSpPr>
            <p:nvPr/>
          </p:nvSpPr>
          <p:spPr bwMode="auto">
            <a:xfrm flipV="1">
              <a:off x="1776" y="1888"/>
              <a:ext cx="1992" cy="1864"/>
            </a:xfrm>
            <a:prstGeom prst="line">
              <a:avLst/>
            </a:prstGeom>
            <a:noFill/>
            <a:ln w="76200">
              <a:solidFill>
                <a:srgbClr val="FF0000"/>
              </a:solidFill>
              <a:round/>
              <a:headEnd/>
              <a:tailEnd type="triangle" w="med" len="med"/>
            </a:ln>
          </p:spPr>
          <p:txBody>
            <a:bodyPr wrap="none" anchor="ctr"/>
            <a:lstStyle/>
            <a:p>
              <a:endParaRPr lang="en-CA"/>
            </a:p>
          </p:txBody>
        </p:sp>
      </p:grpSp>
      <p:grpSp>
        <p:nvGrpSpPr>
          <p:cNvPr id="5" name="Group 22"/>
          <p:cNvGrpSpPr>
            <a:grpSpLocks/>
          </p:cNvGrpSpPr>
          <p:nvPr/>
        </p:nvGrpSpPr>
        <p:grpSpPr bwMode="auto">
          <a:xfrm>
            <a:off x="390525" y="935038"/>
            <a:ext cx="5375275" cy="2239962"/>
            <a:chOff x="246" y="589"/>
            <a:chExt cx="3386" cy="1411"/>
          </a:xfrm>
        </p:grpSpPr>
        <p:sp>
          <p:nvSpPr>
            <p:cNvPr id="51230" name="Oval 18"/>
            <p:cNvSpPr>
              <a:spLocks noChangeArrowheads="1"/>
            </p:cNvSpPr>
            <p:nvPr/>
          </p:nvSpPr>
          <p:spPr bwMode="auto">
            <a:xfrm>
              <a:off x="3280" y="1608"/>
              <a:ext cx="352" cy="392"/>
            </a:xfrm>
            <a:prstGeom prst="ellipse">
              <a:avLst/>
            </a:prstGeom>
            <a:noFill/>
            <a:ln w="57150">
              <a:solidFill>
                <a:srgbClr val="0000FF"/>
              </a:solidFill>
              <a:round/>
              <a:headEnd/>
              <a:tailEnd/>
            </a:ln>
          </p:spPr>
          <p:txBody>
            <a:bodyPr wrap="none" anchor="ctr"/>
            <a:lstStyle/>
            <a:p>
              <a:endParaRPr lang="en-US"/>
            </a:p>
          </p:txBody>
        </p:sp>
        <p:sp>
          <p:nvSpPr>
            <p:cNvPr id="51231" name="Text Box 20"/>
            <p:cNvSpPr txBox="1">
              <a:spLocks noChangeArrowheads="1"/>
            </p:cNvSpPr>
            <p:nvPr/>
          </p:nvSpPr>
          <p:spPr bwMode="auto">
            <a:xfrm>
              <a:off x="246" y="589"/>
              <a:ext cx="2959" cy="642"/>
            </a:xfrm>
            <a:prstGeom prst="rect">
              <a:avLst/>
            </a:prstGeom>
            <a:solidFill>
              <a:schemeClr val="bg1"/>
            </a:solidFill>
            <a:ln w="76200">
              <a:solidFill>
                <a:srgbClr val="0000FF"/>
              </a:solidFill>
              <a:miter lim="800000"/>
              <a:headEnd/>
              <a:tailEnd/>
            </a:ln>
          </p:spPr>
          <p:txBody>
            <a:bodyPr>
              <a:spAutoFit/>
            </a:bodyPr>
            <a:lstStyle/>
            <a:p>
              <a:r>
                <a:rPr lang="en-US">
                  <a:solidFill>
                    <a:srgbClr val="0000FF"/>
                  </a:solidFill>
                  <a:latin typeface="Comic Sans MS" pitchFamily="66" charset="0"/>
                </a:rPr>
                <a:t>save PC of instruction causing fault, plus cause of fault</a:t>
              </a:r>
            </a:p>
          </p:txBody>
        </p:sp>
        <p:sp>
          <p:nvSpPr>
            <p:cNvPr id="51232" name="Line 19"/>
            <p:cNvSpPr>
              <a:spLocks noChangeShapeType="1"/>
            </p:cNvSpPr>
            <p:nvPr/>
          </p:nvSpPr>
          <p:spPr bwMode="auto">
            <a:xfrm>
              <a:off x="3192" y="1144"/>
              <a:ext cx="168" cy="464"/>
            </a:xfrm>
            <a:prstGeom prst="line">
              <a:avLst/>
            </a:prstGeom>
            <a:noFill/>
            <a:ln w="57150">
              <a:solidFill>
                <a:srgbClr val="0000FF"/>
              </a:solidFill>
              <a:round/>
              <a:headEnd/>
              <a:tailEnd type="triangle" w="med" len="med"/>
            </a:ln>
          </p:spPr>
          <p:txBody>
            <a:bodyPr wrap="none" anchor="ctr"/>
            <a:lstStyle/>
            <a:p>
              <a:endParaRPr lang="en-CA"/>
            </a:p>
          </p:txBody>
        </p:sp>
      </p:grpSp>
      <p:grpSp>
        <p:nvGrpSpPr>
          <p:cNvPr id="6" name="Group 30"/>
          <p:cNvGrpSpPr>
            <a:grpSpLocks/>
          </p:cNvGrpSpPr>
          <p:nvPr/>
        </p:nvGrpSpPr>
        <p:grpSpPr bwMode="auto">
          <a:xfrm>
            <a:off x="5270500" y="227013"/>
            <a:ext cx="3308350" cy="1870075"/>
            <a:chOff x="5200" y="-513"/>
            <a:chExt cx="2084" cy="1178"/>
          </a:xfrm>
        </p:grpSpPr>
        <p:sp>
          <p:nvSpPr>
            <p:cNvPr id="51227" name="Rectangle 26"/>
            <p:cNvSpPr>
              <a:spLocks noChangeArrowheads="1"/>
            </p:cNvSpPr>
            <p:nvPr/>
          </p:nvSpPr>
          <p:spPr bwMode="auto">
            <a:xfrm>
              <a:off x="5200" y="-41"/>
              <a:ext cx="584" cy="128"/>
            </a:xfrm>
            <a:prstGeom prst="rect">
              <a:avLst/>
            </a:prstGeom>
            <a:solidFill>
              <a:schemeClr val="bg2">
                <a:alpha val="54117"/>
              </a:schemeClr>
            </a:solidFill>
            <a:ln w="9525">
              <a:noFill/>
              <a:miter lim="800000"/>
              <a:headEnd/>
              <a:tailEnd/>
            </a:ln>
          </p:spPr>
          <p:txBody>
            <a:bodyPr wrap="none" anchor="ctr"/>
            <a:lstStyle/>
            <a:p>
              <a:endParaRPr lang="en-US"/>
            </a:p>
          </p:txBody>
        </p:sp>
        <p:sp>
          <p:nvSpPr>
            <p:cNvPr id="51228" name="Line 27"/>
            <p:cNvSpPr>
              <a:spLocks noChangeShapeType="1"/>
            </p:cNvSpPr>
            <p:nvPr/>
          </p:nvSpPr>
          <p:spPr bwMode="auto">
            <a:xfrm flipV="1">
              <a:off x="5768" y="-121"/>
              <a:ext cx="296" cy="80"/>
            </a:xfrm>
            <a:prstGeom prst="line">
              <a:avLst/>
            </a:prstGeom>
            <a:noFill/>
            <a:ln w="76200">
              <a:solidFill>
                <a:schemeClr val="bg2"/>
              </a:solidFill>
              <a:round/>
              <a:headEnd type="triangle" w="med" len="med"/>
              <a:tailEnd/>
            </a:ln>
          </p:spPr>
          <p:txBody>
            <a:bodyPr wrap="none" anchor="ctr"/>
            <a:lstStyle/>
            <a:p>
              <a:endParaRPr lang="en-CA"/>
            </a:p>
          </p:txBody>
        </p:sp>
        <p:sp>
          <p:nvSpPr>
            <p:cNvPr id="51229" name="Text Box 28"/>
            <p:cNvSpPr txBox="1">
              <a:spLocks noChangeArrowheads="1"/>
            </p:cNvSpPr>
            <p:nvPr/>
          </p:nvSpPr>
          <p:spPr bwMode="auto">
            <a:xfrm>
              <a:off x="6080" y="-513"/>
              <a:ext cx="1204" cy="1178"/>
            </a:xfrm>
            <a:prstGeom prst="rect">
              <a:avLst/>
            </a:prstGeom>
            <a:solidFill>
              <a:schemeClr val="bg1"/>
            </a:solidFill>
            <a:ln w="76200">
              <a:solidFill>
                <a:schemeClr val="bg2"/>
              </a:solidFill>
              <a:miter lim="800000"/>
              <a:headEnd/>
              <a:tailEnd/>
            </a:ln>
          </p:spPr>
          <p:txBody>
            <a:bodyPr>
              <a:spAutoFit/>
            </a:bodyPr>
            <a:lstStyle/>
            <a:p>
              <a:pPr>
                <a:spcBef>
                  <a:spcPct val="50000"/>
                </a:spcBef>
              </a:pPr>
              <a:r>
                <a:rPr lang="en-US">
                  <a:solidFill>
                    <a:schemeClr val="bg2"/>
                  </a:solidFill>
                  <a:latin typeface="Comic Sans MS" pitchFamily="66" charset="0"/>
                </a:rPr>
                <a:t>add instruction causes overflow!</a:t>
              </a:r>
            </a:p>
          </p:txBody>
        </p:sp>
      </p:grpSp>
      <p:grpSp>
        <p:nvGrpSpPr>
          <p:cNvPr id="7" name="Group 31"/>
          <p:cNvGrpSpPr>
            <a:grpSpLocks/>
          </p:cNvGrpSpPr>
          <p:nvPr/>
        </p:nvGrpSpPr>
        <p:grpSpPr bwMode="auto">
          <a:xfrm>
            <a:off x="390525" y="935038"/>
            <a:ext cx="5375275" cy="2239962"/>
            <a:chOff x="246" y="589"/>
            <a:chExt cx="3386" cy="1411"/>
          </a:xfrm>
        </p:grpSpPr>
        <p:sp>
          <p:nvSpPr>
            <p:cNvPr id="51224" name="Oval 32"/>
            <p:cNvSpPr>
              <a:spLocks noChangeArrowheads="1"/>
            </p:cNvSpPr>
            <p:nvPr/>
          </p:nvSpPr>
          <p:spPr bwMode="auto">
            <a:xfrm>
              <a:off x="3280" y="1608"/>
              <a:ext cx="352" cy="392"/>
            </a:xfrm>
            <a:prstGeom prst="ellipse">
              <a:avLst/>
            </a:prstGeom>
            <a:noFill/>
            <a:ln w="57150">
              <a:solidFill>
                <a:schemeClr val="bg2"/>
              </a:solidFill>
              <a:round/>
              <a:headEnd/>
              <a:tailEnd/>
            </a:ln>
          </p:spPr>
          <p:txBody>
            <a:bodyPr wrap="none" anchor="ctr"/>
            <a:lstStyle/>
            <a:p>
              <a:endParaRPr lang="en-US"/>
            </a:p>
          </p:txBody>
        </p:sp>
        <p:sp>
          <p:nvSpPr>
            <p:cNvPr id="51225" name="Text Box 33"/>
            <p:cNvSpPr txBox="1">
              <a:spLocks noChangeArrowheads="1"/>
            </p:cNvSpPr>
            <p:nvPr/>
          </p:nvSpPr>
          <p:spPr bwMode="auto">
            <a:xfrm>
              <a:off x="246" y="589"/>
              <a:ext cx="2959" cy="642"/>
            </a:xfrm>
            <a:prstGeom prst="rect">
              <a:avLst/>
            </a:prstGeom>
            <a:solidFill>
              <a:schemeClr val="bg1"/>
            </a:solidFill>
            <a:ln w="76200">
              <a:solidFill>
                <a:schemeClr val="bg2"/>
              </a:solidFill>
              <a:miter lim="800000"/>
              <a:headEnd/>
              <a:tailEnd/>
            </a:ln>
          </p:spPr>
          <p:txBody>
            <a:bodyPr>
              <a:spAutoFit/>
            </a:bodyPr>
            <a:lstStyle/>
            <a:p>
              <a:r>
                <a:rPr lang="en-US">
                  <a:solidFill>
                    <a:schemeClr val="bg2"/>
                  </a:solidFill>
                  <a:latin typeface="Comic Sans MS" pitchFamily="66" charset="0"/>
                </a:rPr>
                <a:t>save PC of instruction causing fault, plus cause of fault</a:t>
              </a:r>
            </a:p>
          </p:txBody>
        </p:sp>
        <p:sp>
          <p:nvSpPr>
            <p:cNvPr id="51226" name="Line 34"/>
            <p:cNvSpPr>
              <a:spLocks noChangeShapeType="1"/>
            </p:cNvSpPr>
            <p:nvPr/>
          </p:nvSpPr>
          <p:spPr bwMode="auto">
            <a:xfrm>
              <a:off x="3192" y="1144"/>
              <a:ext cx="168" cy="464"/>
            </a:xfrm>
            <a:prstGeom prst="line">
              <a:avLst/>
            </a:prstGeom>
            <a:noFill/>
            <a:ln w="57150">
              <a:solidFill>
                <a:schemeClr val="bg2"/>
              </a:solidFill>
              <a:round/>
              <a:headEnd/>
              <a:tailEnd type="triangle" w="med" len="med"/>
            </a:ln>
          </p:spPr>
          <p:txBody>
            <a:bodyPr wrap="none" anchor="ctr"/>
            <a:lstStyle/>
            <a:p>
              <a:endParaRPr lang="en-CA"/>
            </a:p>
          </p:txBody>
        </p:sp>
      </p:grpSp>
      <p:grpSp>
        <p:nvGrpSpPr>
          <p:cNvPr id="8" name="Group 39"/>
          <p:cNvGrpSpPr>
            <a:grpSpLocks/>
          </p:cNvGrpSpPr>
          <p:nvPr/>
        </p:nvGrpSpPr>
        <p:grpSpPr bwMode="auto">
          <a:xfrm>
            <a:off x="127000" y="3822700"/>
            <a:ext cx="1917700" cy="2546350"/>
            <a:chOff x="-1448" y="3232"/>
            <a:chExt cx="1208" cy="1604"/>
          </a:xfrm>
        </p:grpSpPr>
        <p:sp>
          <p:nvSpPr>
            <p:cNvPr id="51221" name="Rectangle 36"/>
            <p:cNvSpPr>
              <a:spLocks noChangeArrowheads="1"/>
            </p:cNvSpPr>
            <p:nvPr/>
          </p:nvSpPr>
          <p:spPr bwMode="auto">
            <a:xfrm>
              <a:off x="-1448" y="3232"/>
              <a:ext cx="320" cy="152"/>
            </a:xfrm>
            <a:prstGeom prst="rect">
              <a:avLst/>
            </a:prstGeom>
            <a:solidFill>
              <a:schemeClr val="bg2">
                <a:alpha val="50980"/>
              </a:schemeClr>
            </a:solidFill>
            <a:ln w="9525">
              <a:noFill/>
              <a:miter lim="800000"/>
              <a:headEnd/>
              <a:tailEnd/>
            </a:ln>
          </p:spPr>
          <p:txBody>
            <a:bodyPr wrap="none" anchor="ctr"/>
            <a:lstStyle/>
            <a:p>
              <a:endParaRPr lang="en-US"/>
            </a:p>
          </p:txBody>
        </p:sp>
        <p:sp>
          <p:nvSpPr>
            <p:cNvPr id="51222" name="Line 37"/>
            <p:cNvSpPr>
              <a:spLocks noChangeShapeType="1"/>
            </p:cNvSpPr>
            <p:nvPr/>
          </p:nvSpPr>
          <p:spPr bwMode="auto">
            <a:xfrm>
              <a:off x="-1328" y="3392"/>
              <a:ext cx="144" cy="632"/>
            </a:xfrm>
            <a:prstGeom prst="line">
              <a:avLst/>
            </a:prstGeom>
            <a:noFill/>
            <a:ln w="76200">
              <a:solidFill>
                <a:schemeClr val="bg2"/>
              </a:solidFill>
              <a:round/>
              <a:headEnd type="triangle" w="med" len="med"/>
              <a:tailEnd/>
            </a:ln>
          </p:spPr>
          <p:txBody>
            <a:bodyPr wrap="none" anchor="ctr"/>
            <a:lstStyle/>
            <a:p>
              <a:endParaRPr lang="en-CA"/>
            </a:p>
          </p:txBody>
        </p:sp>
        <p:sp>
          <p:nvSpPr>
            <p:cNvPr id="51223" name="Text Box 38"/>
            <p:cNvSpPr txBox="1">
              <a:spLocks noChangeArrowheads="1"/>
            </p:cNvSpPr>
            <p:nvPr/>
          </p:nvSpPr>
          <p:spPr bwMode="auto">
            <a:xfrm>
              <a:off x="-1194" y="4061"/>
              <a:ext cx="954" cy="775"/>
            </a:xfrm>
            <a:prstGeom prst="rect">
              <a:avLst/>
            </a:prstGeom>
            <a:solidFill>
              <a:schemeClr val="bg1"/>
            </a:solidFill>
            <a:ln w="76200">
              <a:solidFill>
                <a:schemeClr val="bg2"/>
              </a:solidFill>
              <a:miter lim="800000"/>
              <a:headEnd/>
              <a:tailEnd/>
            </a:ln>
          </p:spPr>
          <p:txBody>
            <a:bodyPr>
              <a:spAutoFit/>
            </a:bodyPr>
            <a:lstStyle/>
            <a:p>
              <a:r>
                <a:rPr lang="en-US" sz="2000">
                  <a:solidFill>
                    <a:schemeClr val="bg2"/>
                  </a:solidFill>
                  <a:latin typeface="Comic Sans MS" pitchFamily="66" charset="0"/>
                </a:rPr>
                <a:t>exception handler address</a:t>
              </a:r>
              <a:endParaRPr lang="en-US" sz="2000">
                <a:solidFill>
                  <a:schemeClr val="bg2"/>
                </a:solidFill>
              </a:endParaRPr>
            </a:p>
          </p:txBody>
        </p:sp>
      </p:grpSp>
      <p:grpSp>
        <p:nvGrpSpPr>
          <p:cNvPr id="9" name="Group 40"/>
          <p:cNvGrpSpPr>
            <a:grpSpLocks/>
          </p:cNvGrpSpPr>
          <p:nvPr/>
        </p:nvGrpSpPr>
        <p:grpSpPr bwMode="auto">
          <a:xfrm>
            <a:off x="2184400" y="1866900"/>
            <a:ext cx="4879975" cy="4716463"/>
            <a:chOff x="1376" y="1176"/>
            <a:chExt cx="3074" cy="2971"/>
          </a:xfrm>
        </p:grpSpPr>
        <p:sp>
          <p:nvSpPr>
            <p:cNvPr id="51214" name="Oval 41"/>
            <p:cNvSpPr>
              <a:spLocks noChangeArrowheads="1"/>
            </p:cNvSpPr>
            <p:nvPr/>
          </p:nvSpPr>
          <p:spPr bwMode="auto">
            <a:xfrm>
              <a:off x="2624" y="1416"/>
              <a:ext cx="552" cy="568"/>
            </a:xfrm>
            <a:prstGeom prst="ellipse">
              <a:avLst/>
            </a:prstGeom>
            <a:noFill/>
            <a:ln w="76200">
              <a:solidFill>
                <a:schemeClr val="bg2"/>
              </a:solidFill>
              <a:round/>
              <a:headEnd/>
              <a:tailEnd/>
            </a:ln>
          </p:spPr>
          <p:txBody>
            <a:bodyPr wrap="none" anchor="ctr"/>
            <a:lstStyle/>
            <a:p>
              <a:endParaRPr lang="en-US"/>
            </a:p>
          </p:txBody>
        </p:sp>
        <p:sp>
          <p:nvSpPr>
            <p:cNvPr id="51215" name="Oval 42"/>
            <p:cNvSpPr>
              <a:spLocks noChangeArrowheads="1"/>
            </p:cNvSpPr>
            <p:nvPr/>
          </p:nvSpPr>
          <p:spPr bwMode="auto">
            <a:xfrm>
              <a:off x="3592" y="1176"/>
              <a:ext cx="536" cy="712"/>
            </a:xfrm>
            <a:prstGeom prst="ellipse">
              <a:avLst/>
            </a:prstGeom>
            <a:noFill/>
            <a:ln w="76200">
              <a:solidFill>
                <a:schemeClr val="bg2"/>
              </a:solidFill>
              <a:round/>
              <a:headEnd/>
              <a:tailEnd/>
            </a:ln>
          </p:spPr>
          <p:txBody>
            <a:bodyPr wrap="none" anchor="ctr"/>
            <a:lstStyle/>
            <a:p>
              <a:endParaRPr lang="en-US"/>
            </a:p>
          </p:txBody>
        </p:sp>
        <p:sp>
          <p:nvSpPr>
            <p:cNvPr id="51216" name="Oval 43"/>
            <p:cNvSpPr>
              <a:spLocks noChangeArrowheads="1"/>
            </p:cNvSpPr>
            <p:nvPr/>
          </p:nvSpPr>
          <p:spPr bwMode="auto">
            <a:xfrm>
              <a:off x="1376" y="3160"/>
              <a:ext cx="208" cy="224"/>
            </a:xfrm>
            <a:prstGeom prst="ellipse">
              <a:avLst/>
            </a:prstGeom>
            <a:noFill/>
            <a:ln w="76200">
              <a:solidFill>
                <a:schemeClr val="bg2"/>
              </a:solidFill>
              <a:round/>
              <a:headEnd/>
              <a:tailEnd/>
            </a:ln>
          </p:spPr>
          <p:txBody>
            <a:bodyPr wrap="none" anchor="ctr"/>
            <a:lstStyle/>
            <a:p>
              <a:endParaRPr lang="en-US"/>
            </a:p>
          </p:txBody>
        </p:sp>
        <p:sp>
          <p:nvSpPr>
            <p:cNvPr id="51217" name="Text Box 44"/>
            <p:cNvSpPr txBox="1">
              <a:spLocks noChangeArrowheads="1"/>
            </p:cNvSpPr>
            <p:nvPr/>
          </p:nvSpPr>
          <p:spPr bwMode="auto">
            <a:xfrm>
              <a:off x="1494" y="3773"/>
              <a:ext cx="2956" cy="374"/>
            </a:xfrm>
            <a:prstGeom prst="rect">
              <a:avLst/>
            </a:prstGeom>
            <a:solidFill>
              <a:schemeClr val="bg1"/>
            </a:solidFill>
            <a:ln w="76200">
              <a:solidFill>
                <a:schemeClr val="bg2"/>
              </a:solidFill>
              <a:miter lim="800000"/>
              <a:headEnd/>
              <a:tailEnd/>
            </a:ln>
          </p:spPr>
          <p:txBody>
            <a:bodyPr wrap="none">
              <a:spAutoFit/>
            </a:bodyPr>
            <a:lstStyle/>
            <a:p>
              <a:r>
                <a:rPr lang="en-US">
                  <a:solidFill>
                    <a:schemeClr val="bg2"/>
                  </a:solidFill>
                  <a:latin typeface="Comic Sans MS" pitchFamily="66" charset="0"/>
                </a:rPr>
                <a:t>“nop”/“squash” injection signals</a:t>
              </a:r>
              <a:endParaRPr lang="en-US">
                <a:solidFill>
                  <a:schemeClr val="bg2"/>
                </a:solidFill>
              </a:endParaRPr>
            </a:p>
          </p:txBody>
        </p:sp>
        <p:sp>
          <p:nvSpPr>
            <p:cNvPr id="51218" name="Line 45"/>
            <p:cNvSpPr>
              <a:spLocks noChangeShapeType="1"/>
            </p:cNvSpPr>
            <p:nvPr/>
          </p:nvSpPr>
          <p:spPr bwMode="auto">
            <a:xfrm flipH="1" flipV="1">
              <a:off x="1536" y="3376"/>
              <a:ext cx="224" cy="368"/>
            </a:xfrm>
            <a:prstGeom prst="line">
              <a:avLst/>
            </a:prstGeom>
            <a:noFill/>
            <a:ln w="76200">
              <a:solidFill>
                <a:schemeClr val="bg2"/>
              </a:solidFill>
              <a:round/>
              <a:headEnd/>
              <a:tailEnd type="triangle" w="med" len="med"/>
            </a:ln>
          </p:spPr>
          <p:txBody>
            <a:bodyPr wrap="none" anchor="ctr"/>
            <a:lstStyle/>
            <a:p>
              <a:endParaRPr lang="en-CA"/>
            </a:p>
          </p:txBody>
        </p:sp>
        <p:sp>
          <p:nvSpPr>
            <p:cNvPr id="51219" name="Line 46"/>
            <p:cNvSpPr>
              <a:spLocks noChangeShapeType="1"/>
            </p:cNvSpPr>
            <p:nvPr/>
          </p:nvSpPr>
          <p:spPr bwMode="auto">
            <a:xfrm flipV="1">
              <a:off x="1768" y="1944"/>
              <a:ext cx="984" cy="1800"/>
            </a:xfrm>
            <a:prstGeom prst="line">
              <a:avLst/>
            </a:prstGeom>
            <a:noFill/>
            <a:ln w="76200">
              <a:solidFill>
                <a:schemeClr val="bg2"/>
              </a:solidFill>
              <a:round/>
              <a:headEnd/>
              <a:tailEnd type="triangle" w="med" len="med"/>
            </a:ln>
          </p:spPr>
          <p:txBody>
            <a:bodyPr wrap="none" anchor="ctr"/>
            <a:lstStyle/>
            <a:p>
              <a:endParaRPr lang="en-CA"/>
            </a:p>
          </p:txBody>
        </p:sp>
        <p:sp>
          <p:nvSpPr>
            <p:cNvPr id="51220" name="Line 47"/>
            <p:cNvSpPr>
              <a:spLocks noChangeShapeType="1"/>
            </p:cNvSpPr>
            <p:nvPr/>
          </p:nvSpPr>
          <p:spPr bwMode="auto">
            <a:xfrm flipV="1">
              <a:off x="1776" y="1888"/>
              <a:ext cx="1992" cy="1864"/>
            </a:xfrm>
            <a:prstGeom prst="line">
              <a:avLst/>
            </a:prstGeom>
            <a:noFill/>
            <a:ln w="76200">
              <a:solidFill>
                <a:schemeClr val="bg2"/>
              </a:solidFill>
              <a:round/>
              <a:headEnd/>
              <a:tailEnd type="triangle" w="med" len="med"/>
            </a:ln>
          </p:spPr>
          <p:txBody>
            <a:bodyPr wrap="none" anchor="ctr"/>
            <a:lstStyle/>
            <a:p>
              <a:endParaRPr lang="en-CA"/>
            </a:p>
          </p:txBody>
        </p:sp>
      </p:grpSp>
      <p:sp>
        <p:nvSpPr>
          <p:cNvPr id="51213" name="Slide Number Placeholder 45"/>
          <p:cNvSpPr>
            <a:spLocks noGrp="1"/>
          </p:cNvSpPr>
          <p:nvPr>
            <p:ph type="sldNum" sz="quarter" idx="12"/>
          </p:nvPr>
        </p:nvSpPr>
        <p:spPr>
          <a:noFill/>
        </p:spPr>
        <p:txBody>
          <a:bodyPr/>
          <a:lstStyle/>
          <a:p>
            <a:fld id="{9497FCC7-EA01-4FC4-BA27-4B9E6289CBCB}" type="slidenum">
              <a:rPr lang="en-US" smtClean="0"/>
              <a:pPr/>
              <a:t>29</a:t>
            </a:fld>
            <a:r>
              <a:rPr 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0"/>
            <a:ext cx="7772400" cy="901700"/>
          </a:xfrm>
        </p:spPr>
        <p:txBody>
          <a:bodyPr/>
          <a:lstStyle/>
          <a:p>
            <a:pPr eaLnBrk="1" hangingPunct="1"/>
            <a:r>
              <a:rPr lang="en-US">
                <a:latin typeface="Arial  " charset="0"/>
                <a:cs typeface="Arial  " charset="0"/>
              </a:rPr>
              <a:t>Exception Handling Support</a:t>
            </a:r>
          </a:p>
        </p:txBody>
      </p:sp>
      <p:sp>
        <p:nvSpPr>
          <p:cNvPr id="52227" name="Rectangle 3"/>
          <p:cNvSpPr>
            <a:spLocks noGrp="1" noChangeArrowheads="1"/>
          </p:cNvSpPr>
          <p:nvPr>
            <p:ph type="body" idx="1"/>
          </p:nvPr>
        </p:nvSpPr>
        <p:spPr>
          <a:xfrm>
            <a:off x="685800" y="5689600"/>
            <a:ext cx="7772400" cy="406400"/>
          </a:xfrm>
        </p:spPr>
        <p:txBody>
          <a:bodyPr/>
          <a:lstStyle/>
          <a:p>
            <a:pPr eaLnBrk="1" hangingPunct="1">
              <a:lnSpc>
                <a:spcPct val="90000"/>
              </a:lnSpc>
            </a:pPr>
            <a:endParaRPr lang="en-US" sz="2400">
              <a:latin typeface="Arial  " charset="0"/>
              <a:cs typeface="Arial  " charset="0"/>
            </a:endParaRPr>
          </a:p>
        </p:txBody>
      </p:sp>
      <p:pic>
        <p:nvPicPr>
          <p:cNvPr id="52228" name="Picture 4" descr="38~Figure_6"/>
          <p:cNvPicPr>
            <a:picLocks noChangeAspect="1" noChangeArrowheads="1"/>
          </p:cNvPicPr>
          <p:nvPr/>
        </p:nvPicPr>
        <p:blipFill>
          <a:blip r:embed="rId3"/>
          <a:srcRect/>
          <a:stretch>
            <a:fillRect/>
          </a:stretch>
        </p:blipFill>
        <p:spPr bwMode="auto">
          <a:xfrm>
            <a:off x="468313" y="876300"/>
            <a:ext cx="8040687" cy="5211763"/>
          </a:xfrm>
          <a:prstGeom prst="rect">
            <a:avLst/>
          </a:prstGeom>
          <a:noFill/>
          <a:ln w="9525">
            <a:noFill/>
            <a:miter lim="800000"/>
            <a:headEnd/>
            <a:tailEnd/>
          </a:ln>
        </p:spPr>
      </p:pic>
      <p:sp>
        <p:nvSpPr>
          <p:cNvPr id="52229" name="Rectangle 5"/>
          <p:cNvSpPr>
            <a:spLocks noChangeArrowheads="1"/>
          </p:cNvSpPr>
          <p:nvPr/>
        </p:nvSpPr>
        <p:spPr bwMode="auto">
          <a:xfrm>
            <a:off x="2895600" y="977900"/>
            <a:ext cx="889000" cy="254000"/>
          </a:xfrm>
          <a:prstGeom prst="rect">
            <a:avLst/>
          </a:prstGeom>
          <a:solidFill>
            <a:srgbClr val="FF0000">
              <a:alpha val="50980"/>
            </a:srgbClr>
          </a:solidFill>
          <a:ln w="9525">
            <a:noFill/>
            <a:miter lim="800000"/>
            <a:headEnd/>
            <a:tailEnd/>
          </a:ln>
        </p:spPr>
        <p:txBody>
          <a:bodyPr wrap="none" anchor="ctr"/>
          <a:lstStyle/>
          <a:p>
            <a:endParaRPr lang="en-US"/>
          </a:p>
        </p:txBody>
      </p:sp>
      <p:sp>
        <p:nvSpPr>
          <p:cNvPr id="52230" name="Rectangle 6"/>
          <p:cNvSpPr>
            <a:spLocks noChangeArrowheads="1"/>
          </p:cNvSpPr>
          <p:nvPr/>
        </p:nvSpPr>
        <p:spPr bwMode="auto">
          <a:xfrm>
            <a:off x="5334000" y="952500"/>
            <a:ext cx="660400" cy="254000"/>
          </a:xfrm>
          <a:prstGeom prst="rect">
            <a:avLst/>
          </a:prstGeom>
          <a:solidFill>
            <a:srgbClr val="FF0000">
              <a:alpha val="50980"/>
            </a:srgbClr>
          </a:solidFill>
          <a:ln w="9525">
            <a:noFill/>
            <a:miter lim="800000"/>
            <a:headEnd/>
            <a:tailEnd/>
          </a:ln>
        </p:spPr>
        <p:txBody>
          <a:bodyPr wrap="none" anchor="ctr"/>
          <a:lstStyle/>
          <a:p>
            <a:endParaRPr lang="en-US"/>
          </a:p>
        </p:txBody>
      </p:sp>
      <p:sp>
        <p:nvSpPr>
          <p:cNvPr id="52231" name="Rectangle 7"/>
          <p:cNvSpPr>
            <a:spLocks noChangeArrowheads="1"/>
          </p:cNvSpPr>
          <p:nvPr/>
        </p:nvSpPr>
        <p:spPr bwMode="auto">
          <a:xfrm>
            <a:off x="6921500" y="952500"/>
            <a:ext cx="558800" cy="254000"/>
          </a:xfrm>
          <a:prstGeom prst="rect">
            <a:avLst/>
          </a:prstGeom>
          <a:solidFill>
            <a:srgbClr val="FF0000">
              <a:alpha val="50980"/>
            </a:srgbClr>
          </a:solidFill>
          <a:ln w="9525">
            <a:noFill/>
            <a:miter lim="800000"/>
            <a:headEnd/>
            <a:tailEnd/>
          </a:ln>
        </p:spPr>
        <p:txBody>
          <a:bodyPr wrap="none" anchor="ctr"/>
          <a:lstStyle/>
          <a:p>
            <a:endParaRPr lang="en-US"/>
          </a:p>
        </p:txBody>
      </p:sp>
      <p:sp>
        <p:nvSpPr>
          <p:cNvPr id="52232" name="Rectangle 8"/>
          <p:cNvSpPr>
            <a:spLocks noChangeArrowheads="1"/>
          </p:cNvSpPr>
          <p:nvPr/>
        </p:nvSpPr>
        <p:spPr bwMode="auto">
          <a:xfrm>
            <a:off x="990600" y="927100"/>
            <a:ext cx="1346200" cy="279400"/>
          </a:xfrm>
          <a:prstGeom prst="rect">
            <a:avLst/>
          </a:prstGeom>
          <a:solidFill>
            <a:srgbClr val="0000FF">
              <a:alpha val="43921"/>
            </a:srgbClr>
          </a:solidFill>
          <a:ln w="9525">
            <a:noFill/>
            <a:miter lim="800000"/>
            <a:headEnd/>
            <a:tailEnd/>
          </a:ln>
        </p:spPr>
        <p:txBody>
          <a:bodyPr wrap="none" anchor="ctr"/>
          <a:lstStyle/>
          <a:p>
            <a:endParaRPr lang="en-US"/>
          </a:p>
        </p:txBody>
      </p:sp>
      <p:sp>
        <p:nvSpPr>
          <p:cNvPr id="52233" name="Line 9"/>
          <p:cNvSpPr>
            <a:spLocks noChangeShapeType="1"/>
          </p:cNvSpPr>
          <p:nvPr/>
        </p:nvSpPr>
        <p:spPr bwMode="auto">
          <a:xfrm flipH="1">
            <a:off x="1028700" y="1282700"/>
            <a:ext cx="444500" cy="4368800"/>
          </a:xfrm>
          <a:prstGeom prst="line">
            <a:avLst/>
          </a:prstGeom>
          <a:noFill/>
          <a:ln w="38100">
            <a:solidFill>
              <a:srgbClr val="0000FF"/>
            </a:solidFill>
            <a:round/>
            <a:headEnd type="triangle" w="med" len="med"/>
            <a:tailEnd/>
          </a:ln>
        </p:spPr>
        <p:txBody>
          <a:bodyPr wrap="none" anchor="ctr"/>
          <a:lstStyle/>
          <a:p>
            <a:endParaRPr lang="en-CA"/>
          </a:p>
        </p:txBody>
      </p:sp>
      <p:sp>
        <p:nvSpPr>
          <p:cNvPr id="52234" name="Text Box 10"/>
          <p:cNvSpPr txBox="1">
            <a:spLocks noChangeArrowheads="1"/>
          </p:cNvSpPr>
          <p:nvPr/>
        </p:nvSpPr>
        <p:spPr bwMode="auto">
          <a:xfrm>
            <a:off x="479425" y="5646738"/>
            <a:ext cx="4095750" cy="517525"/>
          </a:xfrm>
          <a:prstGeom prst="rect">
            <a:avLst/>
          </a:prstGeom>
          <a:noFill/>
          <a:ln w="9525">
            <a:noFill/>
            <a:miter lim="800000"/>
            <a:headEnd/>
            <a:tailEnd/>
          </a:ln>
        </p:spPr>
        <p:txBody>
          <a:bodyPr wrap="none">
            <a:spAutoFit/>
          </a:bodyPr>
          <a:lstStyle/>
          <a:p>
            <a:r>
              <a:rPr lang="en-US">
                <a:solidFill>
                  <a:srgbClr val="0000FF"/>
                </a:solidFill>
                <a:latin typeface="Comic Sans MS" pitchFamily="66" charset="0"/>
              </a:rPr>
              <a:t>First instruction of handler</a:t>
            </a:r>
            <a:endParaRPr lang="en-US"/>
          </a:p>
        </p:txBody>
      </p:sp>
      <p:sp>
        <p:nvSpPr>
          <p:cNvPr id="52235" name="Slide Number Placeholder 11"/>
          <p:cNvSpPr>
            <a:spLocks noGrp="1"/>
          </p:cNvSpPr>
          <p:nvPr>
            <p:ph type="sldNum" sz="quarter" idx="12"/>
          </p:nvPr>
        </p:nvSpPr>
        <p:spPr>
          <a:noFill/>
        </p:spPr>
        <p:txBody>
          <a:bodyPr/>
          <a:lstStyle/>
          <a:p>
            <a:fld id="{CD6F55D0-8CBB-4829-80FB-F57DCF0D3BDF}" type="slidenum">
              <a:rPr lang="en-US" smtClean="0"/>
              <a:pPr/>
              <a:t>30</a:t>
            </a:fld>
            <a:r>
              <a:rPr lang="en-US"/>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atin typeface="Arial  " charset="0"/>
                <a:cs typeface="Arial  " charset="0"/>
              </a:rPr>
              <a:t>After exception handled...</a:t>
            </a:r>
          </a:p>
        </p:txBody>
      </p:sp>
      <p:sp>
        <p:nvSpPr>
          <p:cNvPr id="53251" name="Rectangle 3"/>
          <p:cNvSpPr>
            <a:spLocks noGrp="1" noChangeArrowheads="1"/>
          </p:cNvSpPr>
          <p:nvPr>
            <p:ph type="body" idx="1"/>
          </p:nvPr>
        </p:nvSpPr>
        <p:spPr/>
        <p:txBody>
          <a:bodyPr/>
          <a:lstStyle/>
          <a:p>
            <a:pPr eaLnBrk="1" hangingPunct="1"/>
            <a:r>
              <a:rPr lang="en-US">
                <a:latin typeface="Arial  " charset="0"/>
                <a:cs typeface="Arial  " charset="0"/>
              </a:rPr>
              <a:t>RFE instruction restarts pipeline (MIPS)</a:t>
            </a:r>
          </a:p>
        </p:txBody>
      </p:sp>
      <p:sp>
        <p:nvSpPr>
          <p:cNvPr id="53252" name="Slide Number Placeholder 4"/>
          <p:cNvSpPr>
            <a:spLocks noGrp="1"/>
          </p:cNvSpPr>
          <p:nvPr>
            <p:ph type="sldNum" sz="quarter" idx="12"/>
          </p:nvPr>
        </p:nvSpPr>
        <p:spPr>
          <a:noFill/>
        </p:spPr>
        <p:txBody>
          <a:bodyPr/>
          <a:lstStyle/>
          <a:p>
            <a:fld id="{65AFFDE2-8A63-4274-ADA9-A7C4F95943FF}" type="slidenum">
              <a:rPr lang="en-US" smtClean="0"/>
              <a:pPr/>
              <a:t>31</a:t>
            </a:fld>
            <a:r>
              <a:rPr lang="en-US"/>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423863"/>
            <a:ext cx="7766050" cy="1886903"/>
          </a:xfrm>
        </p:spPr>
        <p:txBody>
          <a:bodyPr/>
          <a:lstStyle/>
          <a:p>
            <a:pPr eaLnBrk="1" hangingPunct="1"/>
            <a:r>
              <a:rPr lang="en-US" dirty="0">
                <a:latin typeface="Arial  " charset="0"/>
                <a:cs typeface="Arial  " charset="0"/>
              </a:rPr>
              <a:t>Precise Exceptions</a:t>
            </a:r>
          </a:p>
        </p:txBody>
      </p:sp>
      <p:sp>
        <p:nvSpPr>
          <p:cNvPr id="54275" name="Rectangle 3"/>
          <p:cNvSpPr>
            <a:spLocks noGrp="1" noChangeArrowheads="1"/>
          </p:cNvSpPr>
          <p:nvPr>
            <p:ph type="body" idx="1"/>
          </p:nvPr>
        </p:nvSpPr>
        <p:spPr>
          <a:xfrm>
            <a:off x="274320" y="1257300"/>
            <a:ext cx="8556171" cy="1668780"/>
          </a:xfrm>
        </p:spPr>
        <p:txBody>
          <a:bodyPr/>
          <a:lstStyle/>
          <a:p>
            <a:pPr eaLnBrk="1" hangingPunct="1"/>
            <a:r>
              <a:rPr lang="en-US" sz="2000" dirty="0">
                <a:latin typeface="Arial  " charset="0"/>
                <a:cs typeface="Arial  " charset="0"/>
              </a:rPr>
              <a:t>If hardware guarantees that ALL instructions before faulting instruction have updated programmer visible </a:t>
            </a:r>
            <a:r>
              <a:rPr lang="en-US" sz="2000" dirty="0">
                <a:solidFill>
                  <a:schemeClr val="tx1"/>
                </a:solidFill>
                <a:latin typeface="Arial  " charset="0"/>
                <a:cs typeface="Arial  " charset="0"/>
              </a:rPr>
              <a:t>state </a:t>
            </a:r>
            <a:r>
              <a:rPr lang="en-US" sz="2000" dirty="0">
                <a:solidFill>
                  <a:schemeClr val="tx1"/>
                </a:solidFill>
                <a:cs typeface="Arial" pitchFamily="34" charset="0"/>
              </a:rPr>
              <a:t>(i.e., R1...R31, memory) </a:t>
            </a:r>
            <a:r>
              <a:rPr lang="en-US" sz="2000" dirty="0">
                <a:solidFill>
                  <a:schemeClr val="accent2"/>
                </a:solidFill>
                <a:cs typeface="Arial" pitchFamily="34" charset="0"/>
              </a:rPr>
              <a:t> </a:t>
            </a:r>
            <a:r>
              <a:rPr lang="en-US" sz="2000" dirty="0">
                <a:latin typeface="Arial  " charset="0"/>
                <a:cs typeface="Arial  " charset="0"/>
              </a:rPr>
              <a:t>and NONE after (and including) faulting instruction have updated programmer visible state, then pipeline is said to support </a:t>
            </a:r>
            <a:r>
              <a:rPr lang="en-US" sz="2000" b="1" dirty="0">
                <a:solidFill>
                  <a:srgbClr val="FF0000"/>
                </a:solidFill>
                <a:latin typeface="Arial  " charset="0"/>
                <a:cs typeface="Arial  " charset="0"/>
              </a:rPr>
              <a:t>precise exceptions</a:t>
            </a:r>
            <a:r>
              <a:rPr lang="en-US" sz="2000" dirty="0">
                <a:latin typeface="Arial  " charset="0"/>
                <a:cs typeface="Arial  " charset="0"/>
              </a:rPr>
              <a:t>.</a:t>
            </a:r>
          </a:p>
          <a:p>
            <a:pPr eaLnBrk="1" hangingPunct="1"/>
            <a:endParaRPr lang="en-US" sz="2400" dirty="0">
              <a:latin typeface="Arial  " charset="0"/>
              <a:cs typeface="Arial  " charset="0"/>
            </a:endParaRPr>
          </a:p>
          <a:p>
            <a:pPr eaLnBrk="1" hangingPunct="1"/>
            <a:endParaRPr lang="en-US" dirty="0">
              <a:latin typeface="Arial  " charset="0"/>
              <a:cs typeface="Arial  " charset="0"/>
            </a:endParaRPr>
          </a:p>
          <a:p>
            <a:pPr eaLnBrk="1" hangingPunct="1"/>
            <a:endParaRPr lang="en-US" dirty="0">
              <a:latin typeface="Arial  " charset="0"/>
              <a:cs typeface="Arial  " charset="0"/>
            </a:endParaRPr>
          </a:p>
        </p:txBody>
      </p:sp>
      <p:sp>
        <p:nvSpPr>
          <p:cNvPr id="54276" name="Rectangle 4"/>
          <p:cNvSpPr>
            <a:spLocks noChangeArrowheads="1"/>
          </p:cNvSpPr>
          <p:nvPr/>
        </p:nvSpPr>
        <p:spPr bwMode="auto">
          <a:xfrm>
            <a:off x="3213100" y="3759200"/>
            <a:ext cx="977900" cy="22225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4277" name="Rectangle 5"/>
          <p:cNvSpPr>
            <a:spLocks noChangeArrowheads="1"/>
          </p:cNvSpPr>
          <p:nvPr/>
        </p:nvSpPr>
        <p:spPr bwMode="auto">
          <a:xfrm>
            <a:off x="3213100" y="4648200"/>
            <a:ext cx="965200" cy="304800"/>
          </a:xfrm>
          <a:prstGeom prst="rect">
            <a:avLst/>
          </a:prstGeom>
          <a:solidFill>
            <a:srgbClr val="FF0000"/>
          </a:solidFill>
          <a:ln w="9525">
            <a:solidFill>
              <a:schemeClr val="tx1"/>
            </a:solidFill>
            <a:miter lim="800000"/>
            <a:headEnd/>
            <a:tailEnd/>
          </a:ln>
        </p:spPr>
        <p:txBody>
          <a:bodyPr wrap="none" anchor="ctr"/>
          <a:lstStyle/>
          <a:p>
            <a:pPr algn="ctr"/>
            <a:r>
              <a:rPr lang="en-US" dirty="0"/>
              <a:t>div</a:t>
            </a:r>
          </a:p>
        </p:txBody>
      </p:sp>
      <p:sp>
        <p:nvSpPr>
          <p:cNvPr id="54278" name="Text Box 7"/>
          <p:cNvSpPr txBox="1">
            <a:spLocks noChangeArrowheads="1"/>
          </p:cNvSpPr>
          <p:nvPr/>
        </p:nvSpPr>
        <p:spPr bwMode="auto">
          <a:xfrm>
            <a:off x="2384425" y="5559425"/>
            <a:ext cx="674688" cy="457200"/>
          </a:xfrm>
          <a:prstGeom prst="rect">
            <a:avLst/>
          </a:prstGeom>
          <a:noFill/>
          <a:ln w="9525">
            <a:noFill/>
            <a:miter lim="800000"/>
            <a:headEnd/>
            <a:tailEnd/>
          </a:ln>
        </p:spPr>
        <p:txBody>
          <a:bodyPr wrap="none">
            <a:spAutoFit/>
          </a:bodyPr>
          <a:lstStyle/>
          <a:p>
            <a:r>
              <a:rPr lang="en-US"/>
              <a:t>WB</a:t>
            </a:r>
          </a:p>
        </p:txBody>
      </p:sp>
      <p:sp>
        <p:nvSpPr>
          <p:cNvPr id="54279" name="Text Box 8"/>
          <p:cNvSpPr txBox="1">
            <a:spLocks noChangeArrowheads="1"/>
          </p:cNvSpPr>
          <p:nvPr/>
        </p:nvSpPr>
        <p:spPr bwMode="auto">
          <a:xfrm>
            <a:off x="2447925" y="3806825"/>
            <a:ext cx="454025" cy="457200"/>
          </a:xfrm>
          <a:prstGeom prst="rect">
            <a:avLst/>
          </a:prstGeom>
          <a:noFill/>
          <a:ln w="9525">
            <a:noFill/>
            <a:miter lim="800000"/>
            <a:headEnd/>
            <a:tailEnd/>
          </a:ln>
        </p:spPr>
        <p:txBody>
          <a:bodyPr wrap="none">
            <a:spAutoFit/>
          </a:bodyPr>
          <a:lstStyle/>
          <a:p>
            <a:r>
              <a:rPr lang="en-US"/>
              <a:t>IF</a:t>
            </a:r>
          </a:p>
        </p:txBody>
      </p:sp>
      <p:sp>
        <p:nvSpPr>
          <p:cNvPr id="54280" name="AutoShape 9"/>
          <p:cNvSpPr>
            <a:spLocks/>
          </p:cNvSpPr>
          <p:nvPr/>
        </p:nvSpPr>
        <p:spPr bwMode="auto">
          <a:xfrm>
            <a:off x="4445000" y="3759200"/>
            <a:ext cx="165100" cy="1155700"/>
          </a:xfrm>
          <a:prstGeom prst="rightBrace">
            <a:avLst>
              <a:gd name="adj1" fmla="val 58333"/>
              <a:gd name="adj2" fmla="val 50000"/>
            </a:avLst>
          </a:prstGeom>
          <a:noFill/>
          <a:ln w="38100">
            <a:solidFill>
              <a:schemeClr val="tx1"/>
            </a:solidFill>
            <a:round/>
            <a:headEnd/>
            <a:tailEnd/>
          </a:ln>
        </p:spPr>
        <p:txBody>
          <a:bodyPr wrap="none" anchor="ctr"/>
          <a:lstStyle/>
          <a:p>
            <a:endParaRPr lang="en-US"/>
          </a:p>
        </p:txBody>
      </p:sp>
      <p:sp>
        <p:nvSpPr>
          <p:cNvPr id="54281" name="Text Box 10"/>
          <p:cNvSpPr txBox="1">
            <a:spLocks noChangeArrowheads="1"/>
          </p:cNvSpPr>
          <p:nvPr/>
        </p:nvSpPr>
        <p:spPr bwMode="auto">
          <a:xfrm>
            <a:off x="4824549" y="4022634"/>
            <a:ext cx="3632200" cy="560153"/>
          </a:xfrm>
          <a:prstGeom prst="rect">
            <a:avLst/>
          </a:prstGeom>
          <a:noFill/>
          <a:ln w="9525">
            <a:noFill/>
            <a:miter lim="800000"/>
            <a:headEnd/>
            <a:tailEnd/>
          </a:ln>
        </p:spPr>
        <p:txBody>
          <a:bodyPr>
            <a:spAutoFit/>
          </a:bodyPr>
          <a:lstStyle/>
          <a:p>
            <a:pPr>
              <a:spcBef>
                <a:spcPct val="50000"/>
              </a:spcBef>
            </a:pPr>
            <a:r>
              <a:rPr lang="en-US" sz="2000" dirty="0">
                <a:solidFill>
                  <a:schemeClr val="accent2"/>
                </a:solidFill>
                <a:cs typeface="Arial" pitchFamily="34" charset="0"/>
              </a:rPr>
              <a:t>Has </a:t>
            </a:r>
            <a:r>
              <a:rPr lang="en-US" sz="2000" u="sng" dirty="0">
                <a:solidFill>
                  <a:schemeClr val="accent2"/>
                </a:solidFill>
                <a:cs typeface="Arial" pitchFamily="34" charset="0"/>
              </a:rPr>
              <a:t>not</a:t>
            </a:r>
            <a:r>
              <a:rPr lang="en-US" sz="2000" dirty="0">
                <a:solidFill>
                  <a:schemeClr val="accent2"/>
                </a:solidFill>
                <a:cs typeface="Arial" pitchFamily="34" charset="0"/>
              </a:rPr>
              <a:t> updated “programmer visible state”</a:t>
            </a:r>
          </a:p>
        </p:txBody>
      </p:sp>
      <p:sp>
        <p:nvSpPr>
          <p:cNvPr id="54282" name="AutoShape 11"/>
          <p:cNvSpPr>
            <a:spLocks/>
          </p:cNvSpPr>
          <p:nvPr/>
        </p:nvSpPr>
        <p:spPr bwMode="auto">
          <a:xfrm>
            <a:off x="4445000" y="5054600"/>
            <a:ext cx="165100" cy="876300"/>
          </a:xfrm>
          <a:prstGeom prst="rightBrace">
            <a:avLst>
              <a:gd name="adj1" fmla="val 44231"/>
              <a:gd name="adj2" fmla="val 50000"/>
            </a:avLst>
          </a:prstGeom>
          <a:noFill/>
          <a:ln w="38100">
            <a:solidFill>
              <a:schemeClr val="tx1"/>
            </a:solidFill>
            <a:round/>
            <a:headEnd/>
            <a:tailEnd/>
          </a:ln>
        </p:spPr>
        <p:txBody>
          <a:bodyPr wrap="none" anchor="ctr"/>
          <a:lstStyle/>
          <a:p>
            <a:endParaRPr lang="en-US"/>
          </a:p>
        </p:txBody>
      </p:sp>
      <p:sp>
        <p:nvSpPr>
          <p:cNvPr id="54283" name="Text Box 12"/>
          <p:cNvSpPr txBox="1">
            <a:spLocks noChangeArrowheads="1"/>
          </p:cNvSpPr>
          <p:nvPr/>
        </p:nvSpPr>
        <p:spPr bwMode="auto">
          <a:xfrm>
            <a:off x="4965700" y="5283200"/>
            <a:ext cx="3632200" cy="560153"/>
          </a:xfrm>
          <a:prstGeom prst="rect">
            <a:avLst/>
          </a:prstGeom>
          <a:noFill/>
          <a:ln w="9525">
            <a:noFill/>
            <a:miter lim="800000"/>
            <a:headEnd/>
            <a:tailEnd/>
          </a:ln>
        </p:spPr>
        <p:txBody>
          <a:bodyPr>
            <a:spAutoFit/>
          </a:bodyPr>
          <a:lstStyle/>
          <a:p>
            <a:pPr>
              <a:spcBef>
                <a:spcPct val="50000"/>
              </a:spcBef>
            </a:pPr>
            <a:r>
              <a:rPr lang="en-US" sz="2000" dirty="0">
                <a:solidFill>
                  <a:srgbClr val="0000FF"/>
                </a:solidFill>
                <a:cs typeface="Arial" pitchFamily="34" charset="0"/>
              </a:rPr>
              <a:t>Has updated “programmer visible state”</a:t>
            </a:r>
            <a:endParaRPr lang="en-US" sz="2000" dirty="0">
              <a:solidFill>
                <a:schemeClr val="bg2"/>
              </a:solidFill>
              <a:cs typeface="Arial" pitchFamily="34" charset="0"/>
            </a:endParaRPr>
          </a:p>
        </p:txBody>
      </p:sp>
      <p:sp>
        <p:nvSpPr>
          <p:cNvPr id="54284" name="Slide Number Placeholder 12"/>
          <p:cNvSpPr>
            <a:spLocks noGrp="1"/>
          </p:cNvSpPr>
          <p:nvPr>
            <p:ph type="sldNum" sz="quarter" idx="12"/>
          </p:nvPr>
        </p:nvSpPr>
        <p:spPr>
          <a:noFill/>
        </p:spPr>
        <p:txBody>
          <a:bodyPr/>
          <a:lstStyle/>
          <a:p>
            <a:fld id="{2A54FF3B-0E64-487C-8D57-6F63AF0A3559}" type="slidenum">
              <a:rPr lang="en-US" smtClean="0"/>
              <a:pPr/>
              <a:t>32</a:t>
            </a:fld>
            <a:r>
              <a:rPr lang="en-US"/>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29343" y="0"/>
            <a:ext cx="7848600" cy="914400"/>
          </a:xfrm>
        </p:spPr>
        <p:txBody>
          <a:bodyPr/>
          <a:lstStyle/>
          <a:p>
            <a:r>
              <a:rPr lang="en-US" sz="3600" dirty="0">
                <a:latin typeface="Arial  " charset="0"/>
                <a:cs typeface="Arial  " charset="0"/>
              </a:rPr>
              <a:t>Precise Exceptions?</a:t>
            </a:r>
          </a:p>
        </p:txBody>
      </p:sp>
      <p:sp>
        <p:nvSpPr>
          <p:cNvPr id="30723" name="Rectangle 3"/>
          <p:cNvSpPr>
            <a:spLocks noGrp="1" noChangeArrowheads="1"/>
          </p:cNvSpPr>
          <p:nvPr>
            <p:ph type="body" idx="1"/>
          </p:nvPr>
        </p:nvSpPr>
        <p:spPr>
          <a:xfrm>
            <a:off x="381362" y="1228590"/>
            <a:ext cx="8382000" cy="3929062"/>
          </a:xfrm>
        </p:spPr>
        <p:txBody>
          <a:bodyPr/>
          <a:lstStyle/>
          <a:p>
            <a:pPr>
              <a:lnSpc>
                <a:spcPct val="90000"/>
              </a:lnSpc>
            </a:pPr>
            <a:r>
              <a:rPr lang="en-US" sz="2000" dirty="0">
                <a:solidFill>
                  <a:schemeClr val="tx1"/>
                </a:solidFill>
                <a:cs typeface="Arial  " charset="0"/>
              </a:rPr>
              <a:t>Both Scoreboard and </a:t>
            </a:r>
            <a:r>
              <a:rPr lang="en-US" sz="2000" dirty="0" err="1">
                <a:solidFill>
                  <a:schemeClr val="tx1"/>
                </a:solidFill>
                <a:cs typeface="Arial  " charset="0"/>
              </a:rPr>
              <a:t>Tomasulo</a:t>
            </a:r>
            <a:r>
              <a:rPr lang="en-US" sz="2000" dirty="0">
                <a:solidFill>
                  <a:schemeClr val="tx1"/>
                </a:solidFill>
                <a:cs typeface="Arial  " charset="0"/>
              </a:rPr>
              <a:t> have:</a:t>
            </a:r>
          </a:p>
          <a:p>
            <a:pPr lvl="1">
              <a:lnSpc>
                <a:spcPct val="90000"/>
              </a:lnSpc>
            </a:pPr>
            <a:r>
              <a:rPr lang="en-US" sz="2000" dirty="0">
                <a:solidFill>
                  <a:schemeClr val="tx1"/>
                </a:solidFill>
                <a:cs typeface="Arial  " charset="0"/>
              </a:rPr>
              <a:t>In-order issue, out-of-order execution, out-of-order completion</a:t>
            </a:r>
          </a:p>
          <a:p>
            <a:pPr lvl="1">
              <a:lnSpc>
                <a:spcPct val="90000"/>
              </a:lnSpc>
            </a:pPr>
            <a:endParaRPr lang="en-US" sz="2000" dirty="0">
              <a:solidFill>
                <a:schemeClr val="tx1"/>
              </a:solidFill>
              <a:cs typeface="Arial  " charset="0"/>
            </a:endParaRPr>
          </a:p>
          <a:p>
            <a:pPr>
              <a:lnSpc>
                <a:spcPct val="90000"/>
              </a:lnSpc>
            </a:pPr>
            <a:r>
              <a:rPr lang="en-US" sz="2000" dirty="0">
                <a:solidFill>
                  <a:schemeClr val="tx1"/>
                </a:solidFill>
                <a:cs typeface="Arial  " charset="0"/>
              </a:rPr>
              <a:t>Out-of-order completion means that interrupts are not precise</a:t>
            </a:r>
          </a:p>
          <a:p>
            <a:pPr lvl="1">
              <a:lnSpc>
                <a:spcPct val="90000"/>
              </a:lnSpc>
            </a:pPr>
            <a:endParaRPr lang="en-US" sz="2000" dirty="0">
              <a:solidFill>
                <a:schemeClr val="tx1"/>
              </a:solidFill>
              <a:cs typeface="Arial  " charset="0"/>
            </a:endParaRPr>
          </a:p>
          <a:p>
            <a:pPr>
              <a:lnSpc>
                <a:spcPct val="90000"/>
              </a:lnSpc>
            </a:pPr>
            <a:r>
              <a:rPr lang="en-US" sz="2000" dirty="0">
                <a:solidFill>
                  <a:schemeClr val="tx1"/>
                </a:solidFill>
                <a:cs typeface="Arial  " charset="0"/>
              </a:rPr>
              <a:t>Need way to “resynchronize” execution with instruction stream</a:t>
            </a:r>
          </a:p>
          <a:p>
            <a:pPr lvl="1">
              <a:lnSpc>
                <a:spcPct val="90000"/>
              </a:lnSpc>
            </a:pPr>
            <a:r>
              <a:rPr lang="en-US" sz="2000" dirty="0">
                <a:solidFill>
                  <a:schemeClr val="tx1"/>
                </a:solidFill>
                <a:cs typeface="Arial  " charset="0"/>
              </a:rPr>
              <a:t>Easiest way is with reorder buffer</a:t>
            </a:r>
          </a:p>
          <a:p>
            <a:pPr>
              <a:lnSpc>
                <a:spcPct val="90000"/>
              </a:lnSpc>
              <a:buFontTx/>
              <a:buNone/>
            </a:pPr>
            <a:endParaRPr lang="en-US" sz="2000" dirty="0">
              <a:latin typeface="Arial  " charset="0"/>
              <a:cs typeface="Arial  " charset="0"/>
            </a:endParaRPr>
          </a:p>
        </p:txBody>
      </p:sp>
      <p:sp>
        <p:nvSpPr>
          <p:cNvPr id="30724" name="Text Box 4"/>
          <p:cNvSpPr txBox="1">
            <a:spLocks noChangeArrowheads="1"/>
          </p:cNvSpPr>
          <p:nvPr/>
        </p:nvSpPr>
        <p:spPr bwMode="auto">
          <a:xfrm>
            <a:off x="7469188" y="6237288"/>
            <a:ext cx="444500" cy="411162"/>
          </a:xfrm>
          <a:prstGeom prst="rect">
            <a:avLst/>
          </a:prstGeom>
          <a:solidFill>
            <a:schemeClr val="bg1"/>
          </a:solidFill>
          <a:ln w="9525">
            <a:noFill/>
            <a:miter lim="800000"/>
            <a:headEnd/>
            <a:tailEnd/>
          </a:ln>
        </p:spPr>
        <p:txBody>
          <a:bodyPr>
            <a:spAutoFit/>
          </a:bodyPr>
          <a:lstStyle/>
          <a:p>
            <a:r>
              <a:rPr lang="en-US" sz="1800">
                <a:latin typeface="Comic Sans MS" pitchFamily="66" charset="0"/>
              </a:rPr>
              <a:t>18</a:t>
            </a:r>
          </a:p>
        </p:txBody>
      </p:sp>
      <p:sp>
        <p:nvSpPr>
          <p:cNvPr id="30725" name="Slide Number Placeholder 7"/>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CDE93AA-457A-4214-8F03-1DA17F8D643B}"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33</a:t>
            </a:fld>
            <a:r>
              <a:rPr lang="en-GB"/>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838200" y="0"/>
            <a:ext cx="7562850" cy="561703"/>
          </a:xfrm>
          <a:noFill/>
        </p:spPr>
        <p:txBody>
          <a:bodyPr lIns="90487" tIns="44450" rIns="90487" bIns="44450"/>
          <a:lstStyle/>
          <a:p>
            <a:r>
              <a:rPr lang="en-US" sz="3600" dirty="0">
                <a:latin typeface="Arial  " charset="0"/>
                <a:cs typeface="Arial  " charset="0"/>
              </a:rPr>
              <a:t>Memory Dependencies</a:t>
            </a:r>
            <a:endParaRPr lang="en-US" dirty="0">
              <a:latin typeface="Arial  " charset="0"/>
              <a:cs typeface="Arial  " charset="0"/>
            </a:endParaRPr>
          </a:p>
        </p:txBody>
      </p:sp>
      <p:grpSp>
        <p:nvGrpSpPr>
          <p:cNvPr id="47107" name="Group 3"/>
          <p:cNvGrpSpPr>
            <a:grpSpLocks noChangeAspect="1"/>
          </p:cNvGrpSpPr>
          <p:nvPr/>
        </p:nvGrpSpPr>
        <p:grpSpPr bwMode="auto">
          <a:xfrm>
            <a:off x="779463" y="966788"/>
            <a:ext cx="7820025" cy="5181600"/>
            <a:chOff x="93" y="375"/>
            <a:chExt cx="5661" cy="3753"/>
          </a:xfrm>
        </p:grpSpPr>
        <p:grpSp>
          <p:nvGrpSpPr>
            <p:cNvPr id="47118" name="Group 4"/>
            <p:cNvGrpSpPr>
              <a:grpSpLocks noChangeAspect="1"/>
            </p:cNvGrpSpPr>
            <p:nvPr/>
          </p:nvGrpSpPr>
          <p:grpSpPr bwMode="auto">
            <a:xfrm>
              <a:off x="2208" y="3024"/>
              <a:ext cx="1584" cy="256"/>
              <a:chOff x="2064" y="2928"/>
              <a:chExt cx="1584" cy="256"/>
            </a:xfrm>
          </p:grpSpPr>
          <p:sp>
            <p:nvSpPr>
              <p:cNvPr id="619525" name="Rectangle 5"/>
              <p:cNvSpPr>
                <a:spLocks noChangeAspect="1" noChangeArrowheads="1"/>
              </p:cNvSpPr>
              <p:nvPr/>
            </p:nvSpPr>
            <p:spPr bwMode="auto">
              <a:xfrm>
                <a:off x="2064" y="2928"/>
                <a:ext cx="1588" cy="12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400" b="1">
                    <a:solidFill>
                      <a:srgbClr val="000000"/>
                    </a:solidFill>
                    <a:latin typeface="Courier New" pitchFamily="49" charset="0"/>
                  </a:rPr>
                  <a:t>)</a:t>
                </a:r>
              </a:p>
            </p:txBody>
          </p:sp>
          <p:sp>
            <p:nvSpPr>
              <p:cNvPr id="619526" name="Rectangle 6"/>
              <p:cNvSpPr>
                <a:spLocks noChangeAspect="1" noChangeArrowheads="1"/>
              </p:cNvSpPr>
              <p:nvPr/>
            </p:nvSpPr>
            <p:spPr bwMode="auto">
              <a:xfrm>
                <a:off x="2064" y="3056"/>
                <a:ext cx="1588" cy="12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47203" name="Rectangle 7"/>
              <p:cNvSpPr>
                <a:spLocks noChangeAspect="1" noChangeArrowheads="1"/>
              </p:cNvSpPr>
              <p:nvPr/>
            </p:nvSpPr>
            <p:spPr bwMode="auto">
              <a:xfrm>
                <a:off x="2283" y="2928"/>
                <a:ext cx="425" cy="256"/>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grpSp>
        <p:sp>
          <p:nvSpPr>
            <p:cNvPr id="619528" name="Rectangle 8"/>
            <p:cNvSpPr>
              <a:spLocks noChangeAspect="1" noChangeArrowheads="1"/>
            </p:cNvSpPr>
            <p:nvPr/>
          </p:nvSpPr>
          <p:spPr bwMode="auto">
            <a:xfrm>
              <a:off x="192" y="2928"/>
              <a:ext cx="1632" cy="13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19529" name="Rectangle 9"/>
            <p:cNvSpPr>
              <a:spLocks noChangeAspect="1" noChangeArrowheads="1"/>
            </p:cNvSpPr>
            <p:nvPr/>
          </p:nvSpPr>
          <p:spPr bwMode="auto">
            <a:xfrm>
              <a:off x="192" y="3056"/>
              <a:ext cx="1632" cy="12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30" name="Rectangle 10"/>
            <p:cNvSpPr>
              <a:spLocks noChangeAspect="1" noChangeArrowheads="1"/>
            </p:cNvSpPr>
            <p:nvPr/>
          </p:nvSpPr>
          <p:spPr bwMode="auto">
            <a:xfrm>
              <a:off x="192" y="3184"/>
              <a:ext cx="1632" cy="12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47122" name="Rectangle 11"/>
            <p:cNvSpPr>
              <a:spLocks noChangeAspect="1" noChangeArrowheads="1"/>
            </p:cNvSpPr>
            <p:nvPr/>
          </p:nvSpPr>
          <p:spPr bwMode="auto">
            <a:xfrm>
              <a:off x="417" y="2928"/>
              <a:ext cx="491" cy="384"/>
            </a:xfrm>
            <a:prstGeom prst="rect">
              <a:avLst/>
            </a:prstGeom>
            <a:noFill/>
            <a:ln w="28575">
              <a:solidFill>
                <a:schemeClr val="tx1"/>
              </a:solidFill>
              <a:miter lim="800000"/>
              <a:headEnd/>
              <a:tailEnd/>
            </a:ln>
          </p:spPr>
          <p:txBody>
            <a:bodyPr wrap="none" anchor="ctr"/>
            <a:lstStyle/>
            <a:p>
              <a:endParaRPr lang="en-US">
                <a:solidFill>
                  <a:srgbClr val="000000"/>
                </a:solidFill>
              </a:endParaRPr>
            </a:p>
          </p:txBody>
        </p:sp>
        <p:sp>
          <p:nvSpPr>
            <p:cNvPr id="47123" name="Line 12"/>
            <p:cNvSpPr>
              <a:spLocks noChangeAspect="1" noChangeShapeType="1"/>
            </p:cNvSpPr>
            <p:nvPr/>
          </p:nvSpPr>
          <p:spPr bwMode="auto">
            <a:xfrm>
              <a:off x="192" y="4080"/>
              <a:ext cx="5376" cy="0"/>
            </a:xfrm>
            <a:prstGeom prst="line">
              <a:avLst/>
            </a:prstGeom>
            <a:noFill/>
            <a:ln w="76200">
              <a:solidFill>
                <a:srgbClr val="7878DE"/>
              </a:solidFill>
              <a:round/>
              <a:headEnd/>
              <a:tailEnd/>
            </a:ln>
          </p:spPr>
          <p:txBody>
            <a:bodyPr wrap="none" anchor="ctr"/>
            <a:lstStyle/>
            <a:p>
              <a:endParaRPr lang="en-CA"/>
            </a:p>
          </p:txBody>
        </p:sp>
        <p:sp>
          <p:nvSpPr>
            <p:cNvPr id="47124" name="Text Box 13"/>
            <p:cNvSpPr txBox="1">
              <a:spLocks noChangeAspect="1" noChangeArrowheads="1"/>
            </p:cNvSpPr>
            <p:nvPr/>
          </p:nvSpPr>
          <p:spPr bwMode="auto">
            <a:xfrm>
              <a:off x="4134" y="2348"/>
              <a:ext cx="626" cy="303"/>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Write</a:t>
              </a:r>
            </a:p>
            <a:p>
              <a:pPr algn="ctr">
                <a:lnSpc>
                  <a:spcPct val="70000"/>
                </a:lnSpc>
              </a:pPr>
              <a:r>
                <a:rPr lang="en-US" sz="1400" b="1">
                  <a:solidFill>
                    <a:srgbClr val="000000"/>
                  </a:solidFill>
                  <a:latin typeface="Comic Sans MS" pitchFamily="66" charset="0"/>
                </a:rPr>
                <a:t>Memory</a:t>
              </a:r>
            </a:p>
          </p:txBody>
        </p:sp>
        <p:sp>
          <p:nvSpPr>
            <p:cNvPr id="619534" name="Rectangle 14"/>
            <p:cNvSpPr>
              <a:spLocks noChangeAspect="1" noChangeArrowheads="1"/>
            </p:cNvSpPr>
            <p:nvPr/>
          </p:nvSpPr>
          <p:spPr bwMode="auto">
            <a:xfrm>
              <a:off x="743" y="3649"/>
              <a:ext cx="670" cy="192"/>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mic Sans MS" pitchFamily="66" charset="0"/>
                </a:rPr>
                <a:t>FP adders</a:t>
              </a:r>
            </a:p>
          </p:txBody>
        </p:sp>
        <p:sp>
          <p:nvSpPr>
            <p:cNvPr id="619535" name="Rectangle 15"/>
            <p:cNvSpPr>
              <a:spLocks noChangeAspect="1" noChangeArrowheads="1"/>
            </p:cNvSpPr>
            <p:nvPr/>
          </p:nvSpPr>
          <p:spPr bwMode="auto">
            <a:xfrm>
              <a:off x="2679" y="3649"/>
              <a:ext cx="912" cy="192"/>
            </a:xfrm>
            <a:prstGeom prst="rect">
              <a:avLst/>
            </a:prstGeom>
            <a:solidFill>
              <a:schemeClr val="accent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mic Sans MS" pitchFamily="66" charset="0"/>
                </a:rPr>
                <a:t>FP multipliers</a:t>
              </a:r>
            </a:p>
          </p:txBody>
        </p:sp>
        <p:sp>
          <p:nvSpPr>
            <p:cNvPr id="47127" name="Line 16"/>
            <p:cNvSpPr>
              <a:spLocks noChangeAspect="1" noChangeShapeType="1"/>
            </p:cNvSpPr>
            <p:nvPr/>
          </p:nvSpPr>
          <p:spPr bwMode="auto">
            <a:xfrm>
              <a:off x="855" y="3312"/>
              <a:ext cx="0" cy="336"/>
            </a:xfrm>
            <a:prstGeom prst="line">
              <a:avLst/>
            </a:prstGeom>
            <a:noFill/>
            <a:ln w="28575">
              <a:solidFill>
                <a:schemeClr val="tx1"/>
              </a:solidFill>
              <a:round/>
              <a:headEnd/>
              <a:tailEnd type="triangle" w="med" len="med"/>
            </a:ln>
          </p:spPr>
          <p:txBody>
            <a:bodyPr wrap="none" anchor="ctr"/>
            <a:lstStyle/>
            <a:p>
              <a:endParaRPr lang="en-CA"/>
            </a:p>
          </p:txBody>
        </p:sp>
        <p:sp>
          <p:nvSpPr>
            <p:cNvPr id="47128" name="Line 17"/>
            <p:cNvSpPr>
              <a:spLocks noChangeAspect="1" noChangeShapeType="1"/>
            </p:cNvSpPr>
            <p:nvPr/>
          </p:nvSpPr>
          <p:spPr bwMode="auto">
            <a:xfrm>
              <a:off x="1287" y="3312"/>
              <a:ext cx="0" cy="336"/>
            </a:xfrm>
            <a:prstGeom prst="line">
              <a:avLst/>
            </a:prstGeom>
            <a:noFill/>
            <a:ln w="28575">
              <a:solidFill>
                <a:schemeClr val="tx1"/>
              </a:solidFill>
              <a:round/>
              <a:headEnd/>
              <a:tailEnd type="triangle" w="med" len="med"/>
            </a:ln>
          </p:spPr>
          <p:txBody>
            <a:bodyPr wrap="none" anchor="ctr"/>
            <a:lstStyle/>
            <a:p>
              <a:endParaRPr lang="en-CA"/>
            </a:p>
          </p:txBody>
        </p:sp>
        <p:sp>
          <p:nvSpPr>
            <p:cNvPr id="47129" name="Line 18"/>
            <p:cNvSpPr>
              <a:spLocks noChangeAspect="1" noChangeShapeType="1"/>
            </p:cNvSpPr>
            <p:nvPr/>
          </p:nvSpPr>
          <p:spPr bwMode="auto">
            <a:xfrm>
              <a:off x="2823" y="3264"/>
              <a:ext cx="0" cy="384"/>
            </a:xfrm>
            <a:prstGeom prst="line">
              <a:avLst/>
            </a:prstGeom>
            <a:noFill/>
            <a:ln w="28575">
              <a:solidFill>
                <a:schemeClr val="tx1"/>
              </a:solidFill>
              <a:round/>
              <a:headEnd/>
              <a:tailEnd type="triangle" w="med" len="med"/>
            </a:ln>
          </p:spPr>
          <p:txBody>
            <a:bodyPr wrap="none" anchor="ctr"/>
            <a:lstStyle/>
            <a:p>
              <a:endParaRPr lang="en-CA"/>
            </a:p>
          </p:txBody>
        </p:sp>
        <p:sp>
          <p:nvSpPr>
            <p:cNvPr id="47130" name="Line 19"/>
            <p:cNvSpPr>
              <a:spLocks noChangeAspect="1" noChangeShapeType="1"/>
            </p:cNvSpPr>
            <p:nvPr/>
          </p:nvSpPr>
          <p:spPr bwMode="auto">
            <a:xfrm>
              <a:off x="3399" y="3264"/>
              <a:ext cx="0" cy="384"/>
            </a:xfrm>
            <a:prstGeom prst="line">
              <a:avLst/>
            </a:prstGeom>
            <a:noFill/>
            <a:ln w="28575">
              <a:solidFill>
                <a:schemeClr val="tx1"/>
              </a:solidFill>
              <a:round/>
              <a:headEnd/>
              <a:tailEnd type="triangle" w="med" len="med"/>
            </a:ln>
          </p:spPr>
          <p:txBody>
            <a:bodyPr wrap="none" anchor="ctr"/>
            <a:lstStyle/>
            <a:p>
              <a:endParaRPr lang="en-CA"/>
            </a:p>
          </p:txBody>
        </p:sp>
        <p:sp>
          <p:nvSpPr>
            <p:cNvPr id="47131" name="Text Box 20"/>
            <p:cNvSpPr txBox="1">
              <a:spLocks noChangeAspect="1" noChangeArrowheads="1"/>
            </p:cNvSpPr>
            <p:nvPr/>
          </p:nvSpPr>
          <p:spPr bwMode="auto">
            <a:xfrm>
              <a:off x="1710" y="3319"/>
              <a:ext cx="857" cy="310"/>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Reservation </a:t>
              </a:r>
            </a:p>
            <a:p>
              <a:pPr algn="ctr"/>
              <a:r>
                <a:rPr lang="en-US" sz="1400" b="1">
                  <a:solidFill>
                    <a:srgbClr val="000000"/>
                  </a:solidFill>
                  <a:latin typeface="Comic Sans MS" pitchFamily="66" charset="0"/>
                </a:rPr>
                <a:t>Stations</a:t>
              </a:r>
            </a:p>
          </p:txBody>
        </p:sp>
        <p:sp>
          <p:nvSpPr>
            <p:cNvPr id="47132" name="Line 21"/>
            <p:cNvSpPr>
              <a:spLocks noChangeAspect="1" noChangeShapeType="1"/>
            </p:cNvSpPr>
            <p:nvPr/>
          </p:nvSpPr>
          <p:spPr bwMode="auto">
            <a:xfrm flipV="1">
              <a:off x="1584" y="3312"/>
              <a:ext cx="0" cy="768"/>
            </a:xfrm>
            <a:prstGeom prst="line">
              <a:avLst/>
            </a:prstGeom>
            <a:noFill/>
            <a:ln w="76200">
              <a:solidFill>
                <a:srgbClr val="7878DE"/>
              </a:solidFill>
              <a:round/>
              <a:headEnd/>
              <a:tailEnd type="triangle" w="med" len="med"/>
            </a:ln>
          </p:spPr>
          <p:txBody>
            <a:bodyPr wrap="none" anchor="ctr"/>
            <a:lstStyle/>
            <a:p>
              <a:endParaRPr lang="en-CA"/>
            </a:p>
          </p:txBody>
        </p:sp>
        <p:sp>
          <p:nvSpPr>
            <p:cNvPr id="47133" name="Line 22"/>
            <p:cNvSpPr>
              <a:spLocks noChangeAspect="1" noChangeShapeType="1"/>
            </p:cNvSpPr>
            <p:nvPr/>
          </p:nvSpPr>
          <p:spPr bwMode="auto">
            <a:xfrm flipV="1">
              <a:off x="3696" y="3264"/>
              <a:ext cx="0" cy="816"/>
            </a:xfrm>
            <a:prstGeom prst="line">
              <a:avLst/>
            </a:prstGeom>
            <a:noFill/>
            <a:ln w="76200">
              <a:solidFill>
                <a:srgbClr val="7878DE"/>
              </a:solidFill>
              <a:round/>
              <a:headEnd/>
              <a:tailEnd type="triangle" w="med" len="med"/>
            </a:ln>
          </p:spPr>
          <p:txBody>
            <a:bodyPr wrap="none" anchor="ctr"/>
            <a:lstStyle/>
            <a:p>
              <a:endParaRPr lang="en-CA"/>
            </a:p>
          </p:txBody>
        </p:sp>
        <p:sp>
          <p:nvSpPr>
            <p:cNvPr id="47134" name="Text Box 23"/>
            <p:cNvSpPr txBox="1">
              <a:spLocks noChangeAspect="1" noChangeArrowheads="1"/>
            </p:cNvSpPr>
            <p:nvPr/>
          </p:nvSpPr>
          <p:spPr bwMode="auto">
            <a:xfrm>
              <a:off x="161" y="566"/>
              <a:ext cx="528" cy="310"/>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FP Op</a:t>
              </a:r>
            </a:p>
            <a:p>
              <a:pPr algn="ctr"/>
              <a:r>
                <a:rPr lang="en-US" sz="1400" b="1">
                  <a:solidFill>
                    <a:srgbClr val="000000"/>
                  </a:solidFill>
                  <a:latin typeface="Comic Sans MS" pitchFamily="66" charset="0"/>
                </a:rPr>
                <a:t>Queue</a:t>
              </a:r>
            </a:p>
          </p:txBody>
        </p:sp>
        <p:grpSp>
          <p:nvGrpSpPr>
            <p:cNvPr id="47135" name="Group 24"/>
            <p:cNvGrpSpPr>
              <a:grpSpLocks noChangeAspect="1"/>
            </p:cNvGrpSpPr>
            <p:nvPr/>
          </p:nvGrpSpPr>
          <p:grpSpPr bwMode="auto">
            <a:xfrm>
              <a:off x="2208" y="2208"/>
              <a:ext cx="1392" cy="512"/>
              <a:chOff x="3456" y="1200"/>
              <a:chExt cx="1392" cy="512"/>
            </a:xfrm>
          </p:grpSpPr>
          <p:sp>
            <p:nvSpPr>
              <p:cNvPr id="619545" name="Rectangle 25"/>
              <p:cNvSpPr>
                <a:spLocks noChangeAspect="1" noChangeArrowheads="1"/>
              </p:cNvSpPr>
              <p:nvPr/>
            </p:nvSpPr>
            <p:spPr bwMode="auto">
              <a:xfrm>
                <a:off x="3456" y="1200"/>
                <a:ext cx="1396" cy="12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46" name="Rectangle 26"/>
              <p:cNvSpPr>
                <a:spLocks noChangeAspect="1" noChangeArrowheads="1"/>
              </p:cNvSpPr>
              <p:nvPr/>
            </p:nvSpPr>
            <p:spPr bwMode="auto">
              <a:xfrm>
                <a:off x="3456" y="1326"/>
                <a:ext cx="1396" cy="13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47" name="Rectangle 27"/>
              <p:cNvSpPr>
                <a:spLocks noChangeAspect="1" noChangeArrowheads="1"/>
              </p:cNvSpPr>
              <p:nvPr/>
            </p:nvSpPr>
            <p:spPr bwMode="auto">
              <a:xfrm>
                <a:off x="3456" y="1456"/>
                <a:ext cx="1396" cy="12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48" name="Rectangle 28"/>
              <p:cNvSpPr>
                <a:spLocks noChangeAspect="1" noChangeArrowheads="1"/>
              </p:cNvSpPr>
              <p:nvPr/>
            </p:nvSpPr>
            <p:spPr bwMode="auto">
              <a:xfrm>
                <a:off x="3456" y="1584"/>
                <a:ext cx="1396" cy="128"/>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47136" name="Freeform 29"/>
            <p:cNvSpPr>
              <a:spLocks noChangeAspect="1"/>
            </p:cNvSpPr>
            <p:nvPr/>
          </p:nvSpPr>
          <p:spPr bwMode="auto">
            <a:xfrm>
              <a:off x="3120" y="2064"/>
              <a:ext cx="1296" cy="336"/>
            </a:xfrm>
            <a:custGeom>
              <a:avLst/>
              <a:gdLst>
                <a:gd name="T0" fmla="*/ 0 w 1296"/>
                <a:gd name="T1" fmla="*/ 0 h 480"/>
                <a:gd name="T2" fmla="*/ 1296 w 1296"/>
                <a:gd name="T3" fmla="*/ 0 h 480"/>
                <a:gd name="T4" fmla="*/ 1296 w 1296"/>
                <a:gd name="T5" fmla="*/ 20 h 480"/>
                <a:gd name="T6" fmla="*/ 0 60000 65536"/>
                <a:gd name="T7" fmla="*/ 0 60000 65536"/>
                <a:gd name="T8" fmla="*/ 0 60000 65536"/>
                <a:gd name="T9" fmla="*/ 0 w 1296"/>
                <a:gd name="T10" fmla="*/ 0 h 480"/>
                <a:gd name="T11" fmla="*/ 1296 w 1296"/>
                <a:gd name="T12" fmla="*/ 480 h 480"/>
              </a:gdLst>
              <a:ahLst/>
              <a:cxnLst>
                <a:cxn ang="T6">
                  <a:pos x="T0" y="T1"/>
                </a:cxn>
                <a:cxn ang="T7">
                  <a:pos x="T2" y="T3"/>
                </a:cxn>
                <a:cxn ang="T8">
                  <a:pos x="T4" y="T5"/>
                </a:cxn>
              </a:cxnLst>
              <a:rect l="T9" t="T10" r="T11" b="T12"/>
              <a:pathLst>
                <a:path w="1296" h="480">
                  <a:moveTo>
                    <a:pt x="0" y="0"/>
                  </a:moveTo>
                  <a:lnTo>
                    <a:pt x="1296" y="0"/>
                  </a:lnTo>
                  <a:lnTo>
                    <a:pt x="1296" y="480"/>
                  </a:lnTo>
                </a:path>
              </a:pathLst>
            </a:custGeom>
            <a:noFill/>
            <a:ln w="76200">
              <a:solidFill>
                <a:srgbClr val="7878DE"/>
              </a:solidFill>
              <a:round/>
              <a:headEnd/>
              <a:tailEnd type="triangle" w="med" len="med"/>
            </a:ln>
          </p:spPr>
          <p:txBody>
            <a:bodyPr wrap="none" anchor="ctr"/>
            <a:lstStyle/>
            <a:p>
              <a:endParaRPr lang="en-CA"/>
            </a:p>
          </p:txBody>
        </p:sp>
        <p:sp>
          <p:nvSpPr>
            <p:cNvPr id="47137" name="Text Box 30"/>
            <p:cNvSpPr txBox="1">
              <a:spLocks noChangeAspect="1" noChangeArrowheads="1"/>
            </p:cNvSpPr>
            <p:nvPr/>
          </p:nvSpPr>
          <p:spPr bwMode="auto">
            <a:xfrm>
              <a:off x="4678" y="613"/>
              <a:ext cx="432" cy="1380"/>
            </a:xfrm>
            <a:prstGeom prst="rect">
              <a:avLst/>
            </a:prstGeom>
            <a:noFill/>
            <a:ln w="28575">
              <a:noFill/>
              <a:miter lim="800000"/>
              <a:headEnd/>
              <a:tailEnd/>
            </a:ln>
          </p:spPr>
          <p:txBody>
            <a:bodyPr wrap="none" anchor="ctr">
              <a:spAutoFit/>
            </a:bodyPr>
            <a:lstStyle/>
            <a:p>
              <a:pPr algn="ctr">
                <a:lnSpc>
                  <a:spcPct val="90000"/>
                </a:lnSpc>
              </a:pPr>
              <a:r>
                <a:rPr lang="en-US" sz="1200" b="1">
                  <a:solidFill>
                    <a:srgbClr val="000000"/>
                  </a:solidFill>
                  <a:latin typeface="Comic Sans MS" pitchFamily="66" charset="0"/>
                </a:rPr>
                <a:t>ROB7</a:t>
              </a:r>
            </a:p>
            <a:p>
              <a:pPr algn="ctr">
                <a:lnSpc>
                  <a:spcPct val="150000"/>
                </a:lnSpc>
              </a:pPr>
              <a:r>
                <a:rPr lang="en-US" sz="1200" b="1">
                  <a:solidFill>
                    <a:srgbClr val="000000"/>
                  </a:solidFill>
                  <a:latin typeface="Comic Sans MS" pitchFamily="66" charset="0"/>
                </a:rPr>
                <a:t>ROB6</a:t>
              </a:r>
            </a:p>
            <a:p>
              <a:pPr algn="ctr">
                <a:lnSpc>
                  <a:spcPct val="150000"/>
                </a:lnSpc>
              </a:pPr>
              <a:r>
                <a:rPr lang="en-US" sz="1200" b="1">
                  <a:solidFill>
                    <a:srgbClr val="000000"/>
                  </a:solidFill>
                  <a:latin typeface="Comic Sans MS" pitchFamily="66" charset="0"/>
                </a:rPr>
                <a:t>ROB5</a:t>
              </a:r>
            </a:p>
            <a:p>
              <a:pPr algn="ctr">
                <a:lnSpc>
                  <a:spcPct val="150000"/>
                </a:lnSpc>
              </a:pPr>
              <a:r>
                <a:rPr lang="en-US" sz="1200" b="1">
                  <a:solidFill>
                    <a:srgbClr val="000000"/>
                  </a:solidFill>
                  <a:latin typeface="Comic Sans MS" pitchFamily="66" charset="0"/>
                </a:rPr>
                <a:t>ROB4</a:t>
              </a:r>
            </a:p>
            <a:p>
              <a:pPr algn="ctr">
                <a:lnSpc>
                  <a:spcPct val="150000"/>
                </a:lnSpc>
              </a:pPr>
              <a:r>
                <a:rPr lang="en-US" sz="1200" b="1">
                  <a:solidFill>
                    <a:srgbClr val="000000"/>
                  </a:solidFill>
                  <a:latin typeface="Comic Sans MS" pitchFamily="66" charset="0"/>
                </a:rPr>
                <a:t>ROB3</a:t>
              </a:r>
            </a:p>
            <a:p>
              <a:pPr algn="ctr">
                <a:lnSpc>
                  <a:spcPct val="150000"/>
                </a:lnSpc>
              </a:pPr>
              <a:r>
                <a:rPr lang="en-US" sz="1200" b="1">
                  <a:solidFill>
                    <a:srgbClr val="000000"/>
                  </a:solidFill>
                  <a:latin typeface="Comic Sans MS" pitchFamily="66" charset="0"/>
                </a:rPr>
                <a:t>ROB2</a:t>
              </a:r>
            </a:p>
            <a:p>
              <a:pPr algn="ctr">
                <a:lnSpc>
                  <a:spcPct val="150000"/>
                </a:lnSpc>
              </a:pPr>
              <a:r>
                <a:rPr lang="en-US" sz="1200" b="1">
                  <a:solidFill>
                    <a:srgbClr val="000000"/>
                  </a:solidFill>
                  <a:latin typeface="Comic Sans MS" pitchFamily="66" charset="0"/>
                </a:rPr>
                <a:t>ROB1</a:t>
              </a:r>
            </a:p>
          </p:txBody>
        </p:sp>
        <p:grpSp>
          <p:nvGrpSpPr>
            <p:cNvPr id="47138" name="Group 31"/>
            <p:cNvGrpSpPr>
              <a:grpSpLocks noChangeAspect="1"/>
            </p:cNvGrpSpPr>
            <p:nvPr/>
          </p:nvGrpSpPr>
          <p:grpSpPr bwMode="auto">
            <a:xfrm>
              <a:off x="2208" y="624"/>
              <a:ext cx="2448" cy="1344"/>
              <a:chOff x="2208" y="624"/>
              <a:chExt cx="2448" cy="1344"/>
            </a:xfrm>
          </p:grpSpPr>
          <p:grpSp>
            <p:nvGrpSpPr>
              <p:cNvPr id="47168" name="Group 32"/>
              <p:cNvGrpSpPr>
                <a:grpSpLocks noChangeAspect="1"/>
              </p:cNvGrpSpPr>
              <p:nvPr/>
            </p:nvGrpSpPr>
            <p:grpSpPr bwMode="auto">
              <a:xfrm>
                <a:off x="2208" y="624"/>
                <a:ext cx="2448" cy="768"/>
                <a:chOff x="2208" y="576"/>
                <a:chExt cx="2448" cy="768"/>
              </a:xfrm>
            </p:grpSpPr>
            <p:sp>
              <p:nvSpPr>
                <p:cNvPr id="619553" name="Rectangle 33"/>
                <p:cNvSpPr>
                  <a:spLocks noChangeAspect="1" noChangeArrowheads="1"/>
                </p:cNvSpPr>
                <p:nvPr/>
              </p:nvSpPr>
              <p:spPr bwMode="auto">
                <a:xfrm>
                  <a:off x="2208" y="580"/>
                  <a:ext cx="240" cy="19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a:t>
                  </a:r>
                </a:p>
              </p:txBody>
            </p:sp>
            <p:sp>
              <p:nvSpPr>
                <p:cNvPr id="619554" name="Rectangle 34"/>
                <p:cNvSpPr>
                  <a:spLocks noChangeAspect="1" noChangeArrowheads="1"/>
                </p:cNvSpPr>
                <p:nvPr/>
              </p:nvSpPr>
              <p:spPr bwMode="auto">
                <a:xfrm>
                  <a:off x="2208" y="770"/>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F0</a:t>
                  </a:r>
                </a:p>
              </p:txBody>
            </p:sp>
            <p:sp>
              <p:nvSpPr>
                <p:cNvPr id="619555" name="Rectangle 35"/>
                <p:cNvSpPr>
                  <a:spLocks noChangeAspect="1" noChangeArrowheads="1"/>
                </p:cNvSpPr>
                <p:nvPr/>
              </p:nvSpPr>
              <p:spPr bwMode="auto">
                <a:xfrm>
                  <a:off x="2448" y="580"/>
                  <a:ext cx="624" cy="19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M[10]</a:t>
                  </a:r>
                </a:p>
              </p:txBody>
            </p:sp>
            <p:sp>
              <p:nvSpPr>
                <p:cNvPr id="619556" name="Rectangle 36"/>
                <p:cNvSpPr>
                  <a:spLocks noChangeAspect="1" noChangeArrowheads="1"/>
                </p:cNvSpPr>
                <p:nvPr/>
              </p:nvSpPr>
              <p:spPr bwMode="auto">
                <a:xfrm>
                  <a:off x="2448" y="770"/>
                  <a:ext cx="624"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&lt;val4&gt;</a:t>
                  </a:r>
                </a:p>
              </p:txBody>
            </p:sp>
            <p:sp>
              <p:nvSpPr>
                <p:cNvPr id="619557" name="Rectangle 37"/>
                <p:cNvSpPr>
                  <a:spLocks noChangeAspect="1" noChangeArrowheads="1"/>
                </p:cNvSpPr>
                <p:nvPr/>
              </p:nvSpPr>
              <p:spPr bwMode="auto">
                <a:xfrm>
                  <a:off x="3072" y="580"/>
                  <a:ext cx="1349" cy="19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400" b="1">
                      <a:solidFill>
                        <a:srgbClr val="000000"/>
                      </a:solidFill>
                      <a:latin typeface="Courier New" pitchFamily="49" charset="0"/>
                    </a:rPr>
                    <a:t>S.D F2,0(R3)</a:t>
                  </a:r>
                </a:p>
              </p:txBody>
            </p:sp>
            <p:sp>
              <p:nvSpPr>
                <p:cNvPr id="619558" name="Rectangle 38"/>
                <p:cNvSpPr>
                  <a:spLocks noChangeAspect="1" noChangeArrowheads="1"/>
                </p:cNvSpPr>
                <p:nvPr/>
              </p:nvSpPr>
              <p:spPr bwMode="auto">
                <a:xfrm>
                  <a:off x="3072" y="770"/>
                  <a:ext cx="1349"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400" b="1">
                      <a:solidFill>
                        <a:srgbClr val="000000"/>
                      </a:solidFill>
                      <a:latin typeface="Courier New" pitchFamily="49" charset="0"/>
                    </a:rPr>
                    <a:t>ADD.D F0,F2,F3</a:t>
                  </a:r>
                </a:p>
              </p:txBody>
            </p:sp>
            <p:sp>
              <p:nvSpPr>
                <p:cNvPr id="619559" name="Rectangle 39"/>
                <p:cNvSpPr>
                  <a:spLocks noChangeAspect="1" noChangeArrowheads="1"/>
                </p:cNvSpPr>
                <p:nvPr/>
              </p:nvSpPr>
              <p:spPr bwMode="auto">
                <a:xfrm>
                  <a:off x="4416" y="580"/>
                  <a:ext cx="240" cy="19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Y</a:t>
                  </a:r>
                </a:p>
              </p:txBody>
            </p:sp>
            <p:sp>
              <p:nvSpPr>
                <p:cNvPr id="619560" name="Rectangle 40"/>
                <p:cNvSpPr>
                  <a:spLocks noChangeAspect="1" noChangeArrowheads="1"/>
                </p:cNvSpPr>
                <p:nvPr/>
              </p:nvSpPr>
              <p:spPr bwMode="auto">
                <a:xfrm>
                  <a:off x="4416" y="770"/>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Y</a:t>
                  </a:r>
                </a:p>
              </p:txBody>
            </p:sp>
            <p:sp>
              <p:nvSpPr>
                <p:cNvPr id="619561" name="Rectangle 41"/>
                <p:cNvSpPr>
                  <a:spLocks noChangeAspect="1" noChangeArrowheads="1"/>
                </p:cNvSpPr>
                <p:nvPr/>
              </p:nvSpPr>
              <p:spPr bwMode="auto">
                <a:xfrm>
                  <a:off x="2208" y="961"/>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F3</a:t>
                  </a:r>
                </a:p>
              </p:txBody>
            </p:sp>
            <p:sp>
              <p:nvSpPr>
                <p:cNvPr id="619562" name="Rectangle 42"/>
                <p:cNvSpPr>
                  <a:spLocks noChangeAspect="1" noChangeArrowheads="1"/>
                </p:cNvSpPr>
                <p:nvPr/>
              </p:nvSpPr>
              <p:spPr bwMode="auto">
                <a:xfrm>
                  <a:off x="2448" y="961"/>
                  <a:ext cx="624"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M[10]</a:t>
                  </a:r>
                </a:p>
              </p:txBody>
            </p:sp>
            <p:sp>
              <p:nvSpPr>
                <p:cNvPr id="619563" name="Rectangle 43"/>
                <p:cNvSpPr>
                  <a:spLocks noChangeAspect="1" noChangeArrowheads="1"/>
                </p:cNvSpPr>
                <p:nvPr/>
              </p:nvSpPr>
              <p:spPr bwMode="auto">
                <a:xfrm>
                  <a:off x="3072" y="961"/>
                  <a:ext cx="1349"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400" b="1">
                      <a:solidFill>
                        <a:srgbClr val="000000"/>
                      </a:solidFill>
                      <a:latin typeface="Courier New" pitchFamily="49" charset="0"/>
                    </a:rPr>
                    <a:t>L.D F3,0(R3)</a:t>
                  </a:r>
                </a:p>
              </p:txBody>
            </p:sp>
            <p:sp>
              <p:nvSpPr>
                <p:cNvPr id="619564" name="Rectangle 44"/>
                <p:cNvSpPr>
                  <a:spLocks noChangeAspect="1" noChangeArrowheads="1"/>
                </p:cNvSpPr>
                <p:nvPr/>
              </p:nvSpPr>
              <p:spPr bwMode="auto">
                <a:xfrm>
                  <a:off x="4416" y="961"/>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Y</a:t>
                  </a:r>
                </a:p>
              </p:txBody>
            </p:sp>
            <p:sp>
              <p:nvSpPr>
                <p:cNvPr id="619565" name="Rectangle 45"/>
                <p:cNvSpPr>
                  <a:spLocks noChangeAspect="1" noChangeArrowheads="1"/>
                </p:cNvSpPr>
                <p:nvPr/>
              </p:nvSpPr>
              <p:spPr bwMode="auto">
                <a:xfrm>
                  <a:off x="2208" y="1150"/>
                  <a:ext cx="240" cy="19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a:t>
                  </a:r>
                </a:p>
              </p:txBody>
            </p:sp>
            <p:sp>
              <p:nvSpPr>
                <p:cNvPr id="619566" name="Rectangle 46"/>
                <p:cNvSpPr>
                  <a:spLocks noChangeAspect="1" noChangeArrowheads="1"/>
                </p:cNvSpPr>
                <p:nvPr/>
              </p:nvSpPr>
              <p:spPr bwMode="auto">
                <a:xfrm>
                  <a:off x="2448" y="1150"/>
                  <a:ext cx="624" cy="19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19567" name="Rectangle 47"/>
                <p:cNvSpPr>
                  <a:spLocks noChangeAspect="1" noChangeArrowheads="1"/>
                </p:cNvSpPr>
                <p:nvPr/>
              </p:nvSpPr>
              <p:spPr bwMode="auto">
                <a:xfrm>
                  <a:off x="3072" y="1150"/>
                  <a:ext cx="1349" cy="19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400" b="1">
                      <a:solidFill>
                        <a:srgbClr val="000000"/>
                      </a:solidFill>
                      <a:latin typeface="Courier New" pitchFamily="49" charset="0"/>
                    </a:rPr>
                    <a:t>BNE F1,&lt;…&gt;</a:t>
                  </a:r>
                </a:p>
              </p:txBody>
            </p:sp>
            <p:sp>
              <p:nvSpPr>
                <p:cNvPr id="619568" name="Rectangle 48"/>
                <p:cNvSpPr>
                  <a:spLocks noChangeAspect="1" noChangeArrowheads="1"/>
                </p:cNvSpPr>
                <p:nvPr/>
              </p:nvSpPr>
              <p:spPr bwMode="auto">
                <a:xfrm>
                  <a:off x="4416" y="1150"/>
                  <a:ext cx="240" cy="19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N</a:t>
                  </a:r>
                </a:p>
              </p:txBody>
            </p:sp>
          </p:grpSp>
          <p:sp>
            <p:nvSpPr>
              <p:cNvPr id="619569" name="Rectangle 49"/>
              <p:cNvSpPr>
                <a:spLocks noChangeAspect="1" noChangeArrowheads="1"/>
              </p:cNvSpPr>
              <p:nvPr/>
            </p:nvSpPr>
            <p:spPr bwMode="auto">
              <a:xfrm>
                <a:off x="2208" y="1391"/>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F1</a:t>
                </a:r>
              </a:p>
            </p:txBody>
          </p:sp>
          <p:sp>
            <p:nvSpPr>
              <p:cNvPr id="619570" name="Rectangle 50"/>
              <p:cNvSpPr>
                <a:spLocks noChangeAspect="1" noChangeArrowheads="1"/>
              </p:cNvSpPr>
              <p:nvPr/>
            </p:nvSpPr>
            <p:spPr bwMode="auto">
              <a:xfrm>
                <a:off x="2208" y="1582"/>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19571" name="Rectangle 51"/>
              <p:cNvSpPr>
                <a:spLocks noChangeAspect="1" noChangeArrowheads="1"/>
              </p:cNvSpPr>
              <p:nvPr/>
            </p:nvSpPr>
            <p:spPr bwMode="auto">
              <a:xfrm>
                <a:off x="2208" y="1773"/>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19572" name="Rectangle 52"/>
              <p:cNvSpPr>
                <a:spLocks noChangeAspect="1" noChangeArrowheads="1"/>
              </p:cNvSpPr>
              <p:nvPr/>
            </p:nvSpPr>
            <p:spPr bwMode="auto">
              <a:xfrm>
                <a:off x="2448" y="1391"/>
                <a:ext cx="624"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19573" name="Rectangle 53"/>
              <p:cNvSpPr>
                <a:spLocks noChangeAspect="1" noChangeArrowheads="1"/>
              </p:cNvSpPr>
              <p:nvPr/>
            </p:nvSpPr>
            <p:spPr bwMode="auto">
              <a:xfrm>
                <a:off x="2448" y="1582"/>
                <a:ext cx="624"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19574" name="Rectangle 54"/>
              <p:cNvSpPr>
                <a:spLocks noChangeAspect="1" noChangeArrowheads="1"/>
              </p:cNvSpPr>
              <p:nvPr/>
            </p:nvSpPr>
            <p:spPr bwMode="auto">
              <a:xfrm>
                <a:off x="2448" y="1773"/>
                <a:ext cx="624"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19575" name="Rectangle 55"/>
              <p:cNvSpPr>
                <a:spLocks noChangeAspect="1" noChangeArrowheads="1"/>
              </p:cNvSpPr>
              <p:nvPr/>
            </p:nvSpPr>
            <p:spPr bwMode="auto">
              <a:xfrm>
                <a:off x="3072" y="1391"/>
                <a:ext cx="1349"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sz="1400" b="1">
                    <a:solidFill>
                      <a:srgbClr val="000000"/>
                    </a:solidFill>
                    <a:latin typeface="Courier New" pitchFamily="49" charset="0"/>
                  </a:rPr>
                  <a:t>DIV.D F1,F2,F0</a:t>
                </a:r>
              </a:p>
            </p:txBody>
          </p:sp>
          <p:sp>
            <p:nvSpPr>
              <p:cNvPr id="619576" name="Rectangle 56"/>
              <p:cNvSpPr>
                <a:spLocks noChangeAspect="1" noChangeArrowheads="1"/>
              </p:cNvSpPr>
              <p:nvPr/>
            </p:nvSpPr>
            <p:spPr bwMode="auto">
              <a:xfrm>
                <a:off x="3072" y="1582"/>
                <a:ext cx="1349"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19577" name="Rectangle 57"/>
              <p:cNvSpPr>
                <a:spLocks noChangeAspect="1" noChangeArrowheads="1"/>
              </p:cNvSpPr>
              <p:nvPr/>
            </p:nvSpPr>
            <p:spPr bwMode="auto">
              <a:xfrm>
                <a:off x="3072" y="1773"/>
                <a:ext cx="1349"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19578" name="Rectangle 58"/>
              <p:cNvSpPr>
                <a:spLocks noChangeAspect="1" noChangeArrowheads="1"/>
              </p:cNvSpPr>
              <p:nvPr/>
            </p:nvSpPr>
            <p:spPr bwMode="auto">
              <a:xfrm>
                <a:off x="4416" y="1391"/>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Y</a:t>
                </a:r>
              </a:p>
            </p:txBody>
          </p:sp>
          <p:sp>
            <p:nvSpPr>
              <p:cNvPr id="619579" name="Rectangle 59"/>
              <p:cNvSpPr>
                <a:spLocks noChangeAspect="1" noChangeArrowheads="1"/>
              </p:cNvSpPr>
              <p:nvPr/>
            </p:nvSpPr>
            <p:spPr bwMode="auto">
              <a:xfrm>
                <a:off x="4416" y="1582"/>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sp>
            <p:nvSpPr>
              <p:cNvPr id="619580" name="Rectangle 60"/>
              <p:cNvSpPr>
                <a:spLocks noChangeAspect="1" noChangeArrowheads="1"/>
              </p:cNvSpPr>
              <p:nvPr/>
            </p:nvSpPr>
            <p:spPr bwMode="auto">
              <a:xfrm>
                <a:off x="4416" y="1773"/>
                <a:ext cx="240" cy="191"/>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endParaRPr lang="en-US" sz="1400" b="1">
                  <a:solidFill>
                    <a:srgbClr val="000000"/>
                  </a:solidFill>
                  <a:latin typeface="Courier New" pitchFamily="49" charset="0"/>
                </a:endParaRPr>
              </a:p>
            </p:txBody>
          </p:sp>
        </p:grpSp>
        <p:sp>
          <p:nvSpPr>
            <p:cNvPr id="47139" name="Line 61"/>
            <p:cNvSpPr>
              <a:spLocks noChangeAspect="1" noChangeShapeType="1"/>
            </p:cNvSpPr>
            <p:nvPr/>
          </p:nvSpPr>
          <p:spPr bwMode="auto">
            <a:xfrm>
              <a:off x="3120" y="1968"/>
              <a:ext cx="0" cy="240"/>
            </a:xfrm>
            <a:prstGeom prst="line">
              <a:avLst/>
            </a:prstGeom>
            <a:noFill/>
            <a:ln w="76200">
              <a:solidFill>
                <a:srgbClr val="7878DE"/>
              </a:solidFill>
              <a:round/>
              <a:headEnd/>
              <a:tailEnd type="triangle" w="med" len="med"/>
            </a:ln>
          </p:spPr>
          <p:txBody>
            <a:bodyPr wrap="none" anchor="ctr"/>
            <a:lstStyle/>
            <a:p>
              <a:endParaRPr lang="en-CA"/>
            </a:p>
          </p:txBody>
        </p:sp>
        <p:sp>
          <p:nvSpPr>
            <p:cNvPr id="47140" name="Text Box 62"/>
            <p:cNvSpPr txBox="1">
              <a:spLocks noChangeAspect="1" noChangeArrowheads="1"/>
            </p:cNvSpPr>
            <p:nvPr/>
          </p:nvSpPr>
          <p:spPr bwMode="auto">
            <a:xfrm>
              <a:off x="4335" y="375"/>
              <a:ext cx="510" cy="192"/>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Done?</a:t>
              </a:r>
            </a:p>
          </p:txBody>
        </p:sp>
        <p:sp>
          <p:nvSpPr>
            <p:cNvPr id="47141" name="Freeform 63"/>
            <p:cNvSpPr>
              <a:spLocks noChangeAspect="1"/>
            </p:cNvSpPr>
            <p:nvPr/>
          </p:nvSpPr>
          <p:spPr bwMode="auto">
            <a:xfrm>
              <a:off x="4704" y="1392"/>
              <a:ext cx="384" cy="2688"/>
            </a:xfrm>
            <a:custGeom>
              <a:avLst/>
              <a:gdLst>
                <a:gd name="T0" fmla="*/ 15 w 576"/>
                <a:gd name="T1" fmla="*/ 1770 h 2832"/>
                <a:gd name="T2" fmla="*/ 15 w 576"/>
                <a:gd name="T3" fmla="*/ 0 h 2832"/>
                <a:gd name="T4" fmla="*/ 0 w 576"/>
                <a:gd name="T5" fmla="*/ 0 h 2832"/>
                <a:gd name="T6" fmla="*/ 0 60000 65536"/>
                <a:gd name="T7" fmla="*/ 0 60000 65536"/>
                <a:gd name="T8" fmla="*/ 0 60000 65536"/>
                <a:gd name="T9" fmla="*/ 0 w 576"/>
                <a:gd name="T10" fmla="*/ 0 h 2832"/>
                <a:gd name="T11" fmla="*/ 576 w 576"/>
                <a:gd name="T12" fmla="*/ 2832 h 2832"/>
              </a:gdLst>
              <a:ahLst/>
              <a:cxnLst>
                <a:cxn ang="T6">
                  <a:pos x="T0" y="T1"/>
                </a:cxn>
                <a:cxn ang="T7">
                  <a:pos x="T2" y="T3"/>
                </a:cxn>
                <a:cxn ang="T8">
                  <a:pos x="T4" y="T5"/>
                </a:cxn>
              </a:cxnLst>
              <a:rect l="T9" t="T10" r="T11" b="T12"/>
              <a:pathLst>
                <a:path w="576" h="2832">
                  <a:moveTo>
                    <a:pt x="576" y="2832"/>
                  </a:moveTo>
                  <a:lnTo>
                    <a:pt x="576" y="0"/>
                  </a:lnTo>
                  <a:lnTo>
                    <a:pt x="0" y="0"/>
                  </a:lnTo>
                </a:path>
              </a:pathLst>
            </a:custGeom>
            <a:noFill/>
            <a:ln w="76200">
              <a:solidFill>
                <a:srgbClr val="7878DE"/>
              </a:solidFill>
              <a:round/>
              <a:headEnd/>
              <a:tailEnd type="triangle" w="med" len="med"/>
            </a:ln>
          </p:spPr>
          <p:txBody>
            <a:bodyPr wrap="none" anchor="ctr"/>
            <a:lstStyle/>
            <a:p>
              <a:endParaRPr lang="en-CA"/>
            </a:p>
          </p:txBody>
        </p:sp>
        <p:sp>
          <p:nvSpPr>
            <p:cNvPr id="47142" name="Line 64"/>
            <p:cNvSpPr>
              <a:spLocks noChangeAspect="1" noChangeShapeType="1"/>
            </p:cNvSpPr>
            <p:nvPr/>
          </p:nvSpPr>
          <p:spPr bwMode="auto">
            <a:xfrm flipH="1">
              <a:off x="3120" y="3840"/>
              <a:ext cx="0" cy="288"/>
            </a:xfrm>
            <a:prstGeom prst="line">
              <a:avLst/>
            </a:prstGeom>
            <a:noFill/>
            <a:ln w="76200">
              <a:solidFill>
                <a:srgbClr val="7878DE"/>
              </a:solidFill>
              <a:round/>
              <a:headEnd/>
              <a:tailEnd type="triangle" w="med" len="med"/>
            </a:ln>
          </p:spPr>
          <p:txBody>
            <a:bodyPr wrap="none" anchor="ctr"/>
            <a:lstStyle/>
            <a:p>
              <a:endParaRPr lang="en-CA"/>
            </a:p>
          </p:txBody>
        </p:sp>
        <p:sp>
          <p:nvSpPr>
            <p:cNvPr id="47143" name="Line 65"/>
            <p:cNvSpPr>
              <a:spLocks noChangeAspect="1" noChangeShapeType="1"/>
            </p:cNvSpPr>
            <p:nvPr/>
          </p:nvSpPr>
          <p:spPr bwMode="auto">
            <a:xfrm flipH="1">
              <a:off x="1081" y="3837"/>
              <a:ext cx="5" cy="253"/>
            </a:xfrm>
            <a:prstGeom prst="line">
              <a:avLst/>
            </a:prstGeom>
            <a:noFill/>
            <a:ln w="76200">
              <a:solidFill>
                <a:srgbClr val="7878DE"/>
              </a:solidFill>
              <a:round/>
              <a:headEnd/>
              <a:tailEnd type="triangle" w="med" len="med"/>
            </a:ln>
          </p:spPr>
          <p:txBody>
            <a:bodyPr wrap="none" anchor="ctr"/>
            <a:lstStyle/>
            <a:p>
              <a:endParaRPr lang="en-CA"/>
            </a:p>
          </p:txBody>
        </p:sp>
        <p:sp>
          <p:nvSpPr>
            <p:cNvPr id="47144" name="Text Box 66"/>
            <p:cNvSpPr txBox="1">
              <a:spLocks noChangeAspect="1" noChangeArrowheads="1"/>
            </p:cNvSpPr>
            <p:nvPr/>
          </p:nvSpPr>
          <p:spPr bwMode="auto">
            <a:xfrm>
              <a:off x="93" y="2690"/>
              <a:ext cx="425" cy="192"/>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47145" name="Text Box 67"/>
            <p:cNvSpPr txBox="1">
              <a:spLocks noChangeAspect="1" noChangeArrowheads="1"/>
            </p:cNvSpPr>
            <p:nvPr/>
          </p:nvSpPr>
          <p:spPr bwMode="auto">
            <a:xfrm>
              <a:off x="2123" y="2776"/>
              <a:ext cx="425" cy="192"/>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47146" name="AutoShape 68"/>
            <p:cNvSpPr>
              <a:spLocks noChangeAspect="1" noChangeArrowheads="1"/>
            </p:cNvSpPr>
            <p:nvPr/>
          </p:nvSpPr>
          <p:spPr bwMode="auto">
            <a:xfrm flipV="1">
              <a:off x="5308" y="864"/>
              <a:ext cx="288" cy="720"/>
            </a:xfrm>
            <a:prstGeom prst="upArrow">
              <a:avLst>
                <a:gd name="adj1" fmla="val 50000"/>
                <a:gd name="adj2" fmla="val 62500"/>
              </a:avLst>
            </a:prstGeom>
            <a:solidFill>
              <a:schemeClr val="accent2"/>
            </a:solidFill>
            <a:ln w="28575">
              <a:solidFill>
                <a:schemeClr val="tx1"/>
              </a:solidFill>
              <a:miter lim="800000"/>
              <a:headEnd/>
              <a:tailEnd/>
            </a:ln>
          </p:spPr>
          <p:txBody>
            <a:bodyPr wrap="none" anchor="ctr"/>
            <a:lstStyle/>
            <a:p>
              <a:endParaRPr lang="en-US">
                <a:solidFill>
                  <a:srgbClr val="000000"/>
                </a:solidFill>
              </a:endParaRPr>
            </a:p>
          </p:txBody>
        </p:sp>
        <p:sp>
          <p:nvSpPr>
            <p:cNvPr id="47147" name="Text Box 69"/>
            <p:cNvSpPr txBox="1">
              <a:spLocks noChangeAspect="1" noChangeArrowheads="1"/>
            </p:cNvSpPr>
            <p:nvPr/>
          </p:nvSpPr>
          <p:spPr bwMode="auto">
            <a:xfrm>
              <a:off x="5182" y="1625"/>
              <a:ext cx="547" cy="192"/>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Oldest</a:t>
              </a:r>
            </a:p>
          </p:txBody>
        </p:sp>
        <p:sp>
          <p:nvSpPr>
            <p:cNvPr id="47148" name="Text Box 70"/>
            <p:cNvSpPr txBox="1">
              <a:spLocks noChangeAspect="1" noChangeArrowheads="1"/>
            </p:cNvSpPr>
            <p:nvPr/>
          </p:nvSpPr>
          <p:spPr bwMode="auto">
            <a:xfrm>
              <a:off x="5156" y="615"/>
              <a:ext cx="598" cy="192"/>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Newest</a:t>
              </a:r>
            </a:p>
          </p:txBody>
        </p:sp>
        <p:grpSp>
          <p:nvGrpSpPr>
            <p:cNvPr id="47149" name="Group 71"/>
            <p:cNvGrpSpPr>
              <a:grpSpLocks noChangeAspect="1"/>
            </p:cNvGrpSpPr>
            <p:nvPr/>
          </p:nvGrpSpPr>
          <p:grpSpPr bwMode="auto">
            <a:xfrm rot="-5400000">
              <a:off x="816" y="353"/>
              <a:ext cx="576" cy="768"/>
              <a:chOff x="1872" y="1584"/>
              <a:chExt cx="576" cy="864"/>
            </a:xfrm>
          </p:grpSpPr>
          <p:sp>
            <p:nvSpPr>
              <p:cNvPr id="619592" name="Rectangle 72"/>
              <p:cNvSpPr>
                <a:spLocks noChangeAspect="1" noChangeArrowheads="1"/>
              </p:cNvSpPr>
              <p:nvPr/>
            </p:nvSpPr>
            <p:spPr bwMode="auto">
              <a:xfrm>
                <a:off x="1884" y="1582"/>
                <a:ext cx="576" cy="146"/>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93" name="Rectangle 73"/>
              <p:cNvSpPr>
                <a:spLocks noChangeAspect="1" noChangeArrowheads="1"/>
              </p:cNvSpPr>
              <p:nvPr/>
            </p:nvSpPr>
            <p:spPr bwMode="auto">
              <a:xfrm>
                <a:off x="1884" y="1728"/>
                <a:ext cx="576"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94" name="Rectangle 74"/>
              <p:cNvSpPr>
                <a:spLocks noChangeAspect="1" noChangeArrowheads="1"/>
              </p:cNvSpPr>
              <p:nvPr/>
            </p:nvSpPr>
            <p:spPr bwMode="auto">
              <a:xfrm>
                <a:off x="1884" y="1873"/>
                <a:ext cx="576" cy="146"/>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95" name="Rectangle 75"/>
              <p:cNvSpPr>
                <a:spLocks noChangeAspect="1" noChangeArrowheads="1"/>
              </p:cNvSpPr>
              <p:nvPr/>
            </p:nvSpPr>
            <p:spPr bwMode="auto">
              <a:xfrm>
                <a:off x="1872" y="2016"/>
                <a:ext cx="576" cy="144"/>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96" name="Rectangle 76"/>
              <p:cNvSpPr>
                <a:spLocks noChangeAspect="1" noChangeArrowheads="1"/>
              </p:cNvSpPr>
              <p:nvPr/>
            </p:nvSpPr>
            <p:spPr bwMode="auto">
              <a:xfrm>
                <a:off x="1872" y="2160"/>
                <a:ext cx="576" cy="145"/>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597" name="Rectangle 77"/>
              <p:cNvSpPr>
                <a:spLocks noChangeAspect="1" noChangeArrowheads="1"/>
              </p:cNvSpPr>
              <p:nvPr/>
            </p:nvSpPr>
            <p:spPr bwMode="auto">
              <a:xfrm>
                <a:off x="1872" y="2305"/>
                <a:ext cx="576" cy="146"/>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grpSp>
        <p:sp>
          <p:nvSpPr>
            <p:cNvPr id="47150" name="Text Box 78"/>
            <p:cNvSpPr txBox="1">
              <a:spLocks noChangeAspect="1" noChangeArrowheads="1"/>
            </p:cNvSpPr>
            <p:nvPr/>
          </p:nvSpPr>
          <p:spPr bwMode="auto">
            <a:xfrm>
              <a:off x="4155" y="2753"/>
              <a:ext cx="626" cy="303"/>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Read</a:t>
              </a:r>
            </a:p>
            <a:p>
              <a:pPr algn="ctr">
                <a:lnSpc>
                  <a:spcPct val="70000"/>
                </a:lnSpc>
              </a:pPr>
              <a:r>
                <a:rPr lang="en-US" sz="1400" b="1">
                  <a:solidFill>
                    <a:srgbClr val="000000"/>
                  </a:solidFill>
                  <a:latin typeface="Comic Sans MS" pitchFamily="66" charset="0"/>
                </a:rPr>
                <a:t>Memory</a:t>
              </a:r>
            </a:p>
          </p:txBody>
        </p:sp>
        <p:sp>
          <p:nvSpPr>
            <p:cNvPr id="47151" name="Line 79"/>
            <p:cNvSpPr>
              <a:spLocks noChangeAspect="1" noChangeShapeType="1"/>
            </p:cNvSpPr>
            <p:nvPr/>
          </p:nvSpPr>
          <p:spPr bwMode="auto">
            <a:xfrm>
              <a:off x="4416" y="3120"/>
              <a:ext cx="0" cy="240"/>
            </a:xfrm>
            <a:prstGeom prst="line">
              <a:avLst/>
            </a:prstGeom>
            <a:noFill/>
            <a:ln w="76200">
              <a:solidFill>
                <a:srgbClr val="7878DE"/>
              </a:solidFill>
              <a:round/>
              <a:headEnd/>
              <a:tailEnd type="triangle" w="med" len="med"/>
            </a:ln>
          </p:spPr>
          <p:txBody>
            <a:bodyPr wrap="none" anchor="ctr"/>
            <a:lstStyle/>
            <a:p>
              <a:endParaRPr lang="en-CA"/>
            </a:p>
          </p:txBody>
        </p:sp>
        <p:grpSp>
          <p:nvGrpSpPr>
            <p:cNvPr id="47152" name="Group 80"/>
            <p:cNvGrpSpPr>
              <a:grpSpLocks noChangeAspect="1"/>
            </p:cNvGrpSpPr>
            <p:nvPr/>
          </p:nvGrpSpPr>
          <p:grpSpPr bwMode="auto">
            <a:xfrm>
              <a:off x="4032" y="3360"/>
              <a:ext cx="672" cy="480"/>
              <a:chOff x="4320" y="3360"/>
              <a:chExt cx="576" cy="480"/>
            </a:xfrm>
          </p:grpSpPr>
          <p:sp>
            <p:nvSpPr>
              <p:cNvPr id="619601" name="Rectangle 81"/>
              <p:cNvSpPr>
                <a:spLocks noChangeAspect="1" noChangeArrowheads="1"/>
              </p:cNvSpPr>
              <p:nvPr/>
            </p:nvSpPr>
            <p:spPr bwMode="auto">
              <a:xfrm>
                <a:off x="4320" y="3360"/>
                <a:ext cx="566" cy="160"/>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sz="1400" b="1">
                  <a:solidFill>
                    <a:srgbClr val="000000"/>
                  </a:solidFill>
                  <a:latin typeface="Courier New" pitchFamily="49" charset="0"/>
                </a:endParaRPr>
              </a:p>
            </p:txBody>
          </p:sp>
          <p:sp>
            <p:nvSpPr>
              <p:cNvPr id="619602" name="Rectangle 82"/>
              <p:cNvSpPr>
                <a:spLocks noChangeAspect="1" noChangeArrowheads="1"/>
              </p:cNvSpPr>
              <p:nvPr/>
            </p:nvSpPr>
            <p:spPr bwMode="auto">
              <a:xfrm>
                <a:off x="4320" y="3520"/>
                <a:ext cx="566" cy="16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619603" name="Rectangle 83"/>
              <p:cNvSpPr>
                <a:spLocks noChangeAspect="1" noChangeArrowheads="1"/>
              </p:cNvSpPr>
              <p:nvPr/>
            </p:nvSpPr>
            <p:spPr bwMode="auto">
              <a:xfrm>
                <a:off x="4320" y="3682"/>
                <a:ext cx="566" cy="162"/>
              </a:xfrm>
              <a:prstGeom prst="rect">
                <a:avLst/>
              </a:prstGeom>
              <a:solidFill>
                <a:schemeClr val="bg1"/>
              </a:solidFill>
              <a:ln w="2857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solidFill>
                    <a:srgbClr val="000000"/>
                  </a:solidFill>
                </a:endParaRPr>
              </a:p>
            </p:txBody>
          </p:sp>
          <p:sp>
            <p:nvSpPr>
              <p:cNvPr id="47161" name="Line 84"/>
              <p:cNvSpPr>
                <a:spLocks noChangeAspect="1" noChangeShapeType="1"/>
              </p:cNvSpPr>
              <p:nvPr/>
            </p:nvSpPr>
            <p:spPr bwMode="auto">
              <a:xfrm>
                <a:off x="4512" y="3360"/>
                <a:ext cx="0" cy="480"/>
              </a:xfrm>
              <a:prstGeom prst="line">
                <a:avLst/>
              </a:prstGeom>
              <a:noFill/>
              <a:ln w="28575">
                <a:solidFill>
                  <a:schemeClr val="tx1"/>
                </a:solidFill>
                <a:round/>
                <a:headEnd/>
                <a:tailEnd/>
              </a:ln>
            </p:spPr>
            <p:txBody>
              <a:bodyPr wrap="none" anchor="ctr"/>
              <a:lstStyle/>
              <a:p>
                <a:endParaRPr lang="en-CA"/>
              </a:p>
            </p:txBody>
          </p:sp>
        </p:grpSp>
        <p:sp>
          <p:nvSpPr>
            <p:cNvPr id="47153" name="Text Box 85"/>
            <p:cNvSpPr txBox="1">
              <a:spLocks noChangeAspect="1" noChangeArrowheads="1"/>
            </p:cNvSpPr>
            <p:nvPr/>
          </p:nvSpPr>
          <p:spPr bwMode="auto">
            <a:xfrm>
              <a:off x="3947" y="3160"/>
              <a:ext cx="425" cy="192"/>
            </a:xfrm>
            <a:prstGeom prst="rect">
              <a:avLst/>
            </a:prstGeom>
            <a:noFill/>
            <a:ln w="28575">
              <a:noFill/>
              <a:miter lim="800000"/>
              <a:headEnd/>
              <a:tailEnd/>
            </a:ln>
          </p:spPr>
          <p:txBody>
            <a:bodyPr wrap="none" anchor="ctr">
              <a:spAutoFit/>
            </a:bodyPr>
            <a:lstStyle/>
            <a:p>
              <a:pPr algn="ctr"/>
              <a:r>
                <a:rPr lang="en-US" sz="1400" b="1">
                  <a:solidFill>
                    <a:srgbClr val="000000"/>
                  </a:solidFill>
                  <a:latin typeface="Comic Sans MS" pitchFamily="66" charset="0"/>
                </a:rPr>
                <a:t>Dest</a:t>
              </a:r>
            </a:p>
          </p:txBody>
        </p:sp>
        <p:sp>
          <p:nvSpPr>
            <p:cNvPr id="47154" name="Text Box 86"/>
            <p:cNvSpPr txBox="1">
              <a:spLocks noChangeAspect="1" noChangeArrowheads="1"/>
            </p:cNvSpPr>
            <p:nvPr/>
          </p:nvSpPr>
          <p:spPr bwMode="auto">
            <a:xfrm>
              <a:off x="480" y="1202"/>
              <a:ext cx="1526" cy="245"/>
            </a:xfrm>
            <a:prstGeom prst="rect">
              <a:avLst/>
            </a:prstGeom>
            <a:noFill/>
            <a:ln w="28575">
              <a:noFill/>
              <a:miter lim="800000"/>
              <a:headEnd/>
              <a:tailEnd/>
            </a:ln>
          </p:spPr>
          <p:txBody>
            <a:bodyPr wrap="none" anchor="ctr">
              <a:spAutoFit/>
            </a:bodyPr>
            <a:lstStyle/>
            <a:p>
              <a:pPr algn="ctr"/>
              <a:r>
                <a:rPr lang="en-US" sz="2000" b="1">
                  <a:solidFill>
                    <a:srgbClr val="000000"/>
                  </a:solidFill>
                  <a:latin typeface="Comic Sans MS" pitchFamily="66" charset="0"/>
                </a:rPr>
                <a:t>Reorder Buffer</a:t>
              </a:r>
              <a:endParaRPr lang="en-US" sz="1400" b="1">
                <a:solidFill>
                  <a:srgbClr val="000000"/>
                </a:solidFill>
                <a:latin typeface="Comic Sans MS" pitchFamily="66" charset="0"/>
              </a:endParaRPr>
            </a:p>
          </p:txBody>
        </p:sp>
        <p:sp>
          <p:nvSpPr>
            <p:cNvPr id="47155" name="Text Box 87"/>
            <p:cNvSpPr txBox="1">
              <a:spLocks noChangeAspect="1" noChangeArrowheads="1"/>
            </p:cNvSpPr>
            <p:nvPr/>
          </p:nvSpPr>
          <p:spPr bwMode="auto">
            <a:xfrm>
              <a:off x="999" y="2258"/>
              <a:ext cx="968" cy="245"/>
            </a:xfrm>
            <a:prstGeom prst="rect">
              <a:avLst/>
            </a:prstGeom>
            <a:noFill/>
            <a:ln w="28575">
              <a:noFill/>
              <a:miter lim="800000"/>
              <a:headEnd/>
              <a:tailEnd/>
            </a:ln>
          </p:spPr>
          <p:txBody>
            <a:bodyPr wrap="none" anchor="ctr">
              <a:spAutoFit/>
            </a:bodyPr>
            <a:lstStyle/>
            <a:p>
              <a:pPr algn="ctr"/>
              <a:r>
                <a:rPr lang="en-US" sz="2000" b="1">
                  <a:solidFill>
                    <a:srgbClr val="000000"/>
                  </a:solidFill>
                  <a:latin typeface="Comic Sans MS" pitchFamily="66" charset="0"/>
                </a:rPr>
                <a:t>Registers</a:t>
              </a:r>
            </a:p>
          </p:txBody>
        </p:sp>
        <p:sp>
          <p:nvSpPr>
            <p:cNvPr id="47156" name="Line 88"/>
            <p:cNvSpPr>
              <a:spLocks noChangeAspect="1" noChangeShapeType="1"/>
            </p:cNvSpPr>
            <p:nvPr/>
          </p:nvSpPr>
          <p:spPr bwMode="auto">
            <a:xfrm flipH="1">
              <a:off x="4416" y="3840"/>
              <a:ext cx="0" cy="240"/>
            </a:xfrm>
            <a:prstGeom prst="line">
              <a:avLst/>
            </a:prstGeom>
            <a:noFill/>
            <a:ln w="76200">
              <a:solidFill>
                <a:srgbClr val="7878DE"/>
              </a:solidFill>
              <a:round/>
              <a:headEnd/>
              <a:tailEnd type="triangle" w="med" len="med"/>
            </a:ln>
          </p:spPr>
          <p:txBody>
            <a:bodyPr wrap="none" anchor="ctr"/>
            <a:lstStyle/>
            <a:p>
              <a:endParaRPr lang="en-CA"/>
            </a:p>
          </p:txBody>
        </p:sp>
        <p:sp>
          <p:nvSpPr>
            <p:cNvPr id="47157" name="Line 89"/>
            <p:cNvSpPr>
              <a:spLocks noChangeAspect="1" noChangeShapeType="1"/>
            </p:cNvSpPr>
            <p:nvPr/>
          </p:nvSpPr>
          <p:spPr bwMode="auto">
            <a:xfrm>
              <a:off x="1488" y="720"/>
              <a:ext cx="720" cy="0"/>
            </a:xfrm>
            <a:prstGeom prst="line">
              <a:avLst/>
            </a:prstGeom>
            <a:noFill/>
            <a:ln w="76200">
              <a:solidFill>
                <a:schemeClr val="tx1"/>
              </a:solidFill>
              <a:round/>
              <a:headEnd/>
              <a:tailEnd type="triangle" w="med" len="med"/>
            </a:ln>
          </p:spPr>
          <p:txBody>
            <a:bodyPr wrap="none" anchor="ctr"/>
            <a:lstStyle/>
            <a:p>
              <a:endParaRPr lang="en-CA"/>
            </a:p>
          </p:txBody>
        </p:sp>
      </p:grpSp>
      <p:sp>
        <p:nvSpPr>
          <p:cNvPr id="47108" name="Slide Number Placeholder 93"/>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9D931B5-04BF-4E99-A8F9-BD6796B0F4B8}"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34</a:t>
            </a:fld>
            <a:r>
              <a:rPr lang="en-GB"/>
              <a:t> </a:t>
            </a:r>
          </a:p>
        </p:txBody>
      </p:sp>
      <p:sp>
        <p:nvSpPr>
          <p:cNvPr id="47109" name="Rectangle 36"/>
          <p:cNvSpPr>
            <a:spLocks noChangeAspect="1" noChangeArrowheads="1"/>
          </p:cNvSpPr>
          <p:nvPr/>
        </p:nvSpPr>
        <p:spPr bwMode="auto">
          <a:xfrm>
            <a:off x="4038600" y="2632075"/>
            <a:ext cx="862013" cy="263525"/>
          </a:xfrm>
          <a:prstGeom prst="rect">
            <a:avLst/>
          </a:prstGeom>
          <a:solidFill>
            <a:schemeClr val="bg1"/>
          </a:solidFill>
          <a:ln w="28575">
            <a:solidFill>
              <a:schemeClr val="tx1"/>
            </a:solidFill>
            <a:miter lim="800000"/>
            <a:headEnd/>
            <a:tailEnd/>
          </a:ln>
        </p:spPr>
        <p:txBody>
          <a:bodyPr wrap="none" anchor="ctr"/>
          <a:lstStyle/>
          <a:p>
            <a:pPr algn="ctr"/>
            <a:endParaRPr lang="en-US" sz="1400" b="1">
              <a:solidFill>
                <a:srgbClr val="000000"/>
              </a:solidFill>
              <a:latin typeface="Courier New" pitchFamily="49" charset="0"/>
            </a:endParaRPr>
          </a:p>
        </p:txBody>
      </p:sp>
      <p:sp>
        <p:nvSpPr>
          <p:cNvPr id="47110" name="Rectangle 36"/>
          <p:cNvSpPr>
            <a:spLocks noChangeAspect="1" noChangeArrowheads="1"/>
          </p:cNvSpPr>
          <p:nvPr/>
        </p:nvSpPr>
        <p:spPr bwMode="auto">
          <a:xfrm>
            <a:off x="4038600" y="2362200"/>
            <a:ext cx="862013" cy="263525"/>
          </a:xfrm>
          <a:prstGeom prst="rect">
            <a:avLst/>
          </a:prstGeom>
          <a:solidFill>
            <a:schemeClr val="bg1"/>
          </a:solidFill>
          <a:ln w="28575">
            <a:solidFill>
              <a:schemeClr val="tx1"/>
            </a:solidFill>
            <a:miter lim="800000"/>
            <a:headEnd/>
            <a:tailEnd/>
          </a:ln>
        </p:spPr>
        <p:txBody>
          <a:bodyPr wrap="none" anchor="ctr"/>
          <a:lstStyle/>
          <a:p>
            <a:pPr algn="ctr"/>
            <a:r>
              <a:rPr lang="en-US" sz="1400" b="1">
                <a:solidFill>
                  <a:srgbClr val="000000"/>
                </a:solidFill>
                <a:latin typeface="Courier New" pitchFamily="49" charset="0"/>
              </a:rPr>
              <a:t>&lt;val3&gt;</a:t>
            </a:r>
          </a:p>
        </p:txBody>
      </p:sp>
      <p:sp>
        <p:nvSpPr>
          <p:cNvPr id="47111" name="Rectangle 50"/>
          <p:cNvSpPr>
            <a:spLocks noChangeAspect="1" noChangeArrowheads="1"/>
          </p:cNvSpPr>
          <p:nvPr/>
        </p:nvSpPr>
        <p:spPr bwMode="auto">
          <a:xfrm>
            <a:off x="3352800" y="3276600"/>
            <a:ext cx="331788" cy="914400"/>
          </a:xfrm>
          <a:prstGeom prst="rect">
            <a:avLst/>
          </a:prstGeom>
          <a:solidFill>
            <a:schemeClr val="bg1"/>
          </a:solidFill>
          <a:ln w="28575">
            <a:solidFill>
              <a:srgbClr val="FFFFFF"/>
            </a:solidFill>
            <a:miter lim="800000"/>
            <a:headEnd/>
            <a:tailEnd/>
          </a:ln>
        </p:spPr>
        <p:txBody>
          <a:bodyPr wrap="none" anchor="ctr"/>
          <a:lstStyle/>
          <a:p>
            <a:pPr algn="ctr"/>
            <a:endParaRPr lang="en-US" sz="1600" b="1">
              <a:solidFill>
                <a:srgbClr val="000000"/>
              </a:solidFill>
              <a:latin typeface="Courier New" pitchFamily="49" charset="0"/>
            </a:endParaRPr>
          </a:p>
          <a:p>
            <a:pPr algn="ctr"/>
            <a:r>
              <a:rPr lang="en-US" sz="1600" b="1">
                <a:solidFill>
                  <a:srgbClr val="000000"/>
                </a:solidFill>
                <a:latin typeface="Courier New" pitchFamily="49" charset="0"/>
              </a:rPr>
              <a:t>F3</a:t>
            </a:r>
          </a:p>
          <a:p>
            <a:pPr algn="ctr"/>
            <a:r>
              <a:rPr lang="en-US" sz="1600" b="1">
                <a:solidFill>
                  <a:srgbClr val="000000"/>
                </a:solidFill>
                <a:latin typeface="Courier New" pitchFamily="49" charset="0"/>
              </a:rPr>
              <a:t>F2</a:t>
            </a:r>
          </a:p>
          <a:p>
            <a:pPr algn="ctr"/>
            <a:r>
              <a:rPr lang="en-US" sz="1600" b="1">
                <a:solidFill>
                  <a:srgbClr val="000000"/>
                </a:solidFill>
                <a:latin typeface="Courier New" pitchFamily="49" charset="0"/>
              </a:rPr>
              <a:t>F1</a:t>
            </a:r>
          </a:p>
          <a:p>
            <a:pPr algn="ctr"/>
            <a:r>
              <a:rPr lang="en-US" sz="1600" b="1">
                <a:solidFill>
                  <a:srgbClr val="000000"/>
                </a:solidFill>
                <a:latin typeface="Courier New" pitchFamily="49" charset="0"/>
              </a:rPr>
              <a:t>F0</a:t>
            </a:r>
          </a:p>
        </p:txBody>
      </p:sp>
      <p:sp>
        <p:nvSpPr>
          <p:cNvPr id="99" name="Rectangle 36"/>
          <p:cNvSpPr>
            <a:spLocks noChangeAspect="1" noChangeArrowheads="1"/>
          </p:cNvSpPr>
          <p:nvPr/>
        </p:nvSpPr>
        <p:spPr bwMode="auto">
          <a:xfrm>
            <a:off x="4267200" y="3962400"/>
            <a:ext cx="862013" cy="304800"/>
          </a:xfrm>
          <a:prstGeom prst="rect">
            <a:avLst/>
          </a:prstGeom>
          <a:noFill/>
          <a:ln w="28575">
            <a:no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&lt;val1&gt;</a:t>
            </a:r>
          </a:p>
        </p:txBody>
      </p:sp>
      <p:sp>
        <p:nvSpPr>
          <p:cNvPr id="100" name="Rectangle 36"/>
          <p:cNvSpPr>
            <a:spLocks noChangeAspect="1" noChangeArrowheads="1"/>
          </p:cNvSpPr>
          <p:nvPr/>
        </p:nvSpPr>
        <p:spPr bwMode="auto">
          <a:xfrm>
            <a:off x="4267200" y="3573463"/>
            <a:ext cx="862013" cy="381000"/>
          </a:xfrm>
          <a:prstGeom prst="rect">
            <a:avLst/>
          </a:prstGeom>
          <a:noFill/>
          <a:ln w="28575">
            <a:no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sz="1400" b="1">
                <a:solidFill>
                  <a:srgbClr val="000000"/>
                </a:solidFill>
                <a:latin typeface="Courier New" pitchFamily="49" charset="0"/>
              </a:rPr>
              <a:t>&lt;val2&gt;</a:t>
            </a:r>
          </a:p>
        </p:txBody>
      </p:sp>
      <p:grpSp>
        <p:nvGrpSpPr>
          <p:cNvPr id="47114" name="Group 89"/>
          <p:cNvGrpSpPr>
            <a:grpSpLocks noChangeAspect="1"/>
          </p:cNvGrpSpPr>
          <p:nvPr/>
        </p:nvGrpSpPr>
        <p:grpSpPr bwMode="auto">
          <a:xfrm>
            <a:off x="871538" y="1785938"/>
            <a:ext cx="6543675" cy="3505200"/>
            <a:chOff x="163" y="968"/>
            <a:chExt cx="4733" cy="2536"/>
          </a:xfrm>
        </p:grpSpPr>
        <p:sp>
          <p:nvSpPr>
            <p:cNvPr id="47115" name="Oval 90"/>
            <p:cNvSpPr>
              <a:spLocks noChangeAspect="1" noChangeArrowheads="1"/>
            </p:cNvSpPr>
            <p:nvPr/>
          </p:nvSpPr>
          <p:spPr bwMode="auto">
            <a:xfrm>
              <a:off x="3984" y="2016"/>
              <a:ext cx="912" cy="1488"/>
            </a:xfrm>
            <a:prstGeom prst="ellipse">
              <a:avLst/>
            </a:prstGeom>
            <a:noFill/>
            <a:ln w="76200">
              <a:solidFill>
                <a:srgbClr val="FF0000"/>
              </a:solidFill>
              <a:round/>
              <a:headEnd/>
              <a:tailEnd/>
            </a:ln>
          </p:spPr>
          <p:txBody>
            <a:bodyPr wrap="none" anchor="ctr"/>
            <a:lstStyle/>
            <a:p>
              <a:pPr algn="ctr"/>
              <a:endParaRPr lang="en-US" sz="1400" b="1">
                <a:solidFill>
                  <a:srgbClr val="000000"/>
                </a:solidFill>
                <a:latin typeface="Comic Sans MS" pitchFamily="66" charset="0"/>
              </a:endParaRPr>
            </a:p>
          </p:txBody>
        </p:sp>
        <p:sp>
          <p:nvSpPr>
            <p:cNvPr id="47116" name="Text Box 91"/>
            <p:cNvSpPr txBox="1">
              <a:spLocks noChangeAspect="1" noChangeArrowheads="1"/>
            </p:cNvSpPr>
            <p:nvPr/>
          </p:nvSpPr>
          <p:spPr bwMode="auto">
            <a:xfrm>
              <a:off x="163" y="1713"/>
              <a:ext cx="1778" cy="379"/>
            </a:xfrm>
            <a:prstGeom prst="rect">
              <a:avLst/>
            </a:prstGeom>
            <a:noFill/>
            <a:ln w="28575">
              <a:solidFill>
                <a:srgbClr val="FF0000"/>
              </a:solidFill>
              <a:miter lim="800000"/>
              <a:headEnd/>
              <a:tailEnd/>
            </a:ln>
          </p:spPr>
          <p:txBody>
            <a:bodyPr wrap="none" anchor="ctr">
              <a:spAutoFit/>
            </a:bodyPr>
            <a:lstStyle/>
            <a:p>
              <a:pPr algn="ctr"/>
              <a:r>
                <a:rPr lang="en-US" sz="1800" b="1">
                  <a:solidFill>
                    <a:srgbClr val="000000"/>
                  </a:solidFill>
                  <a:latin typeface="Comic Sans MS" pitchFamily="66" charset="0"/>
                </a:rPr>
                <a:t>What about memory</a:t>
              </a:r>
            </a:p>
            <a:p>
              <a:pPr algn="ctr"/>
              <a:r>
                <a:rPr lang="en-US" sz="1800" b="1">
                  <a:solidFill>
                    <a:srgbClr val="000000"/>
                  </a:solidFill>
                  <a:latin typeface="Comic Sans MS" pitchFamily="66" charset="0"/>
                </a:rPr>
                <a:t>hazards???</a:t>
              </a:r>
            </a:p>
          </p:txBody>
        </p:sp>
        <p:sp>
          <p:nvSpPr>
            <p:cNvPr id="47117" name="Freeform 92"/>
            <p:cNvSpPr>
              <a:spLocks noChangeAspect="1"/>
            </p:cNvSpPr>
            <p:nvPr/>
          </p:nvSpPr>
          <p:spPr bwMode="auto">
            <a:xfrm>
              <a:off x="1488" y="968"/>
              <a:ext cx="2544" cy="1336"/>
            </a:xfrm>
            <a:custGeom>
              <a:avLst/>
              <a:gdLst>
                <a:gd name="T0" fmla="*/ 0 w 2544"/>
                <a:gd name="T1" fmla="*/ 808 h 1336"/>
                <a:gd name="T2" fmla="*/ 960 w 2544"/>
                <a:gd name="T3" fmla="*/ 40 h 1336"/>
                <a:gd name="T4" fmla="*/ 1968 w 2544"/>
                <a:gd name="T5" fmla="*/ 568 h 1336"/>
                <a:gd name="T6" fmla="*/ 2544 w 2544"/>
                <a:gd name="T7" fmla="*/ 1336 h 1336"/>
                <a:gd name="T8" fmla="*/ 0 60000 65536"/>
                <a:gd name="T9" fmla="*/ 0 60000 65536"/>
                <a:gd name="T10" fmla="*/ 0 60000 65536"/>
                <a:gd name="T11" fmla="*/ 0 60000 65536"/>
                <a:gd name="T12" fmla="*/ 0 w 2544"/>
                <a:gd name="T13" fmla="*/ 0 h 1336"/>
                <a:gd name="T14" fmla="*/ 2544 w 2544"/>
                <a:gd name="T15" fmla="*/ 1336 h 1336"/>
              </a:gdLst>
              <a:ahLst/>
              <a:cxnLst>
                <a:cxn ang="T8">
                  <a:pos x="T0" y="T1"/>
                </a:cxn>
                <a:cxn ang="T9">
                  <a:pos x="T2" y="T3"/>
                </a:cxn>
                <a:cxn ang="T10">
                  <a:pos x="T4" y="T5"/>
                </a:cxn>
                <a:cxn ang="T11">
                  <a:pos x="T6" y="T7"/>
                </a:cxn>
              </a:cxnLst>
              <a:rect l="T12" t="T13" r="T14" b="T15"/>
              <a:pathLst>
                <a:path w="2544" h="1336">
                  <a:moveTo>
                    <a:pt x="0" y="808"/>
                  </a:moveTo>
                  <a:cubicBezTo>
                    <a:pt x="316" y="444"/>
                    <a:pt x="632" y="80"/>
                    <a:pt x="960" y="40"/>
                  </a:cubicBezTo>
                  <a:cubicBezTo>
                    <a:pt x="1288" y="0"/>
                    <a:pt x="1704" y="352"/>
                    <a:pt x="1968" y="568"/>
                  </a:cubicBezTo>
                  <a:cubicBezTo>
                    <a:pt x="2232" y="784"/>
                    <a:pt x="2388" y="1060"/>
                    <a:pt x="2544" y="1336"/>
                  </a:cubicBezTo>
                </a:path>
              </a:pathLst>
            </a:custGeom>
            <a:noFill/>
            <a:ln w="76200">
              <a:solidFill>
                <a:srgbClr val="FF0000"/>
              </a:solidFill>
              <a:round/>
              <a:headEnd/>
              <a:tailEnd type="triangle" w="med" len="med"/>
            </a:ln>
          </p:spPr>
          <p:txBody>
            <a:bodyPr wrap="none" anchor="ctr"/>
            <a:lstStyle/>
            <a:p>
              <a:endParaRPr lang="en-CA"/>
            </a:p>
          </p:txBody>
        </p:sp>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319088" y="0"/>
            <a:ext cx="8610600" cy="901337"/>
          </a:xfrm>
        </p:spPr>
        <p:txBody>
          <a:bodyPr/>
          <a:lstStyle/>
          <a:p>
            <a:pPr>
              <a:lnSpc>
                <a:spcPct val="100000"/>
              </a:lnSpc>
            </a:pPr>
            <a:r>
              <a:rPr lang="en-US" sz="3600" dirty="0">
                <a:latin typeface="Arial  " charset="0"/>
                <a:cs typeface="Arial  " charset="0"/>
              </a:rPr>
              <a:t>Memory Disambiguation</a:t>
            </a:r>
            <a:endParaRPr lang="en-US" sz="4400" dirty="0">
              <a:latin typeface="Arial  " charset="0"/>
              <a:cs typeface="Arial  " charset="0"/>
            </a:endParaRPr>
          </a:p>
        </p:txBody>
      </p:sp>
      <p:sp>
        <p:nvSpPr>
          <p:cNvPr id="48131" name="Rectangle 3"/>
          <p:cNvSpPr>
            <a:spLocks noGrp="1" noChangeArrowheads="1"/>
          </p:cNvSpPr>
          <p:nvPr>
            <p:ph type="body" idx="1"/>
          </p:nvPr>
        </p:nvSpPr>
        <p:spPr>
          <a:xfrm>
            <a:off x="235131" y="783771"/>
            <a:ext cx="8660675" cy="5381897"/>
          </a:xfrm>
        </p:spPr>
        <p:txBody>
          <a:bodyPr/>
          <a:lstStyle/>
          <a:p>
            <a:pPr>
              <a:lnSpc>
                <a:spcPct val="90000"/>
              </a:lnSpc>
            </a:pPr>
            <a:r>
              <a:rPr lang="en-US" sz="2000" dirty="0">
                <a:latin typeface="Arial  " charset="0"/>
                <a:cs typeface="Arial  " charset="0"/>
              </a:rPr>
              <a:t>Example:</a:t>
            </a:r>
            <a:br>
              <a:rPr lang="en-US" sz="2000" dirty="0">
                <a:latin typeface="Arial  " charset="0"/>
                <a:cs typeface="Arial  " charset="0"/>
              </a:rPr>
            </a:br>
            <a:r>
              <a:rPr lang="en-US" sz="2000" dirty="0">
                <a:latin typeface="Arial  " charset="0"/>
                <a:cs typeface="Arial  " charset="0"/>
              </a:rPr>
              <a:t>		 		</a:t>
            </a:r>
            <a:r>
              <a:rPr lang="en-US" sz="2000" dirty="0">
                <a:latin typeface="Courier New" pitchFamily="49" charset="0"/>
                <a:cs typeface="Arial  " charset="0"/>
              </a:rPr>
              <a:t>SD	R5,0(R2)</a:t>
            </a:r>
            <a:br>
              <a:rPr lang="en-US" sz="2000" dirty="0">
                <a:latin typeface="Courier New" pitchFamily="49" charset="0"/>
                <a:cs typeface="Arial  " charset="0"/>
              </a:rPr>
            </a:br>
            <a:r>
              <a:rPr lang="en-US" sz="2000" dirty="0">
                <a:latin typeface="Courier New" pitchFamily="49" charset="0"/>
                <a:cs typeface="Arial  " charset="0"/>
              </a:rPr>
              <a:t>	 	 		LD R6,0(R3)</a:t>
            </a:r>
          </a:p>
          <a:p>
            <a:pPr>
              <a:lnSpc>
                <a:spcPct val="90000"/>
              </a:lnSpc>
            </a:pPr>
            <a:endParaRPr lang="en-US" sz="500" dirty="0">
              <a:solidFill>
                <a:srgbClr val="0000FF"/>
              </a:solidFill>
              <a:latin typeface="Arial  " charset="0"/>
              <a:cs typeface="Arial  " charset="0"/>
            </a:endParaRPr>
          </a:p>
          <a:p>
            <a:pPr>
              <a:lnSpc>
                <a:spcPct val="90000"/>
              </a:lnSpc>
            </a:pPr>
            <a:r>
              <a:rPr lang="en-US" sz="2000" dirty="0">
                <a:solidFill>
                  <a:schemeClr val="tx1"/>
                </a:solidFill>
                <a:latin typeface="Arial  " charset="0"/>
                <a:cs typeface="Arial  " charset="0"/>
              </a:rPr>
              <a:t>If LD wants to read from a different location than the SD wants to write to, it is safe for the LD to read memory *before* the SD writes memory?</a:t>
            </a:r>
          </a:p>
          <a:p>
            <a:pPr>
              <a:lnSpc>
                <a:spcPct val="90000"/>
              </a:lnSpc>
            </a:pPr>
            <a:endParaRPr lang="en-US" sz="2000" dirty="0">
              <a:solidFill>
                <a:schemeClr val="tx1"/>
              </a:solidFill>
              <a:latin typeface="Arial  " charset="0"/>
              <a:cs typeface="Arial  " charset="0"/>
            </a:endParaRPr>
          </a:p>
          <a:p>
            <a:pPr>
              <a:lnSpc>
                <a:spcPct val="90000"/>
              </a:lnSpc>
            </a:pPr>
            <a:r>
              <a:rPr lang="en-US" sz="2000" dirty="0">
                <a:solidFill>
                  <a:schemeClr val="tx1"/>
                </a:solidFill>
                <a:latin typeface="Arial  " charset="0"/>
                <a:cs typeface="Arial  " charset="0"/>
              </a:rPr>
              <a:t>Is this useful?  Yes! Turns out to be very useful in out-of-order processors  (e.g., Core i7 tries to do this).  </a:t>
            </a:r>
          </a:p>
          <a:p>
            <a:pPr>
              <a:lnSpc>
                <a:spcPct val="90000"/>
              </a:lnSpc>
            </a:pPr>
            <a:endParaRPr lang="en-US" sz="2000" dirty="0">
              <a:solidFill>
                <a:schemeClr val="tx1"/>
              </a:solidFill>
              <a:latin typeface="Arial  " charset="0"/>
              <a:cs typeface="Arial  " charset="0"/>
            </a:endParaRPr>
          </a:p>
          <a:p>
            <a:pPr>
              <a:lnSpc>
                <a:spcPct val="90000"/>
              </a:lnSpc>
            </a:pPr>
            <a:r>
              <a:rPr lang="en-US" sz="2000" dirty="0">
                <a:solidFill>
                  <a:schemeClr val="tx1"/>
                </a:solidFill>
                <a:latin typeface="Arial  " charset="0"/>
                <a:cs typeface="Arial  " charset="0"/>
              </a:rPr>
              <a:t>When can LD read memory?  Naïve answer is that we are not allowed to start load until we know that address 0(R2) </a:t>
            </a:r>
            <a:r>
              <a:rPr lang="en-US" sz="2000" dirty="0">
                <a:solidFill>
                  <a:schemeClr val="tx1"/>
                </a:solidFill>
                <a:latin typeface="Arial  " charset="0"/>
                <a:cs typeface="Arial  " charset="0"/>
                <a:sym typeface="Symbol" pitchFamily="18" charset="2"/>
              </a:rPr>
              <a:t> 0(R3).  More details next slide.</a:t>
            </a:r>
          </a:p>
          <a:p>
            <a:pPr>
              <a:lnSpc>
                <a:spcPct val="90000"/>
              </a:lnSpc>
            </a:pPr>
            <a:endParaRPr lang="en-US" sz="2000" dirty="0">
              <a:solidFill>
                <a:schemeClr val="tx1"/>
              </a:solidFill>
              <a:latin typeface="Arial  " charset="0"/>
              <a:cs typeface="Arial  " charset="0"/>
              <a:sym typeface="Symbol" pitchFamily="18" charset="2"/>
            </a:endParaRPr>
          </a:p>
          <a:p>
            <a:pPr>
              <a:lnSpc>
                <a:spcPct val="90000"/>
              </a:lnSpc>
            </a:pPr>
            <a:r>
              <a:rPr lang="en-US" sz="2000" dirty="0">
                <a:solidFill>
                  <a:schemeClr val="tx1"/>
                </a:solidFill>
                <a:latin typeface="Arial  " charset="0"/>
                <a:cs typeface="Arial  " charset="0"/>
                <a:sym typeface="Symbol" pitchFamily="18" charset="2"/>
              </a:rPr>
              <a:t>More sophisticated answer (Andreas </a:t>
            </a:r>
            <a:r>
              <a:rPr lang="en-US" sz="2000" dirty="0" err="1">
                <a:solidFill>
                  <a:schemeClr val="tx1"/>
                </a:solidFill>
                <a:latin typeface="Arial  " charset="0"/>
                <a:cs typeface="Arial  " charset="0"/>
                <a:sym typeface="Symbol" pitchFamily="18" charset="2"/>
              </a:rPr>
              <a:t>Moshovos</a:t>
            </a:r>
            <a:r>
              <a:rPr lang="en-US" sz="2000" dirty="0">
                <a:solidFill>
                  <a:schemeClr val="tx1"/>
                </a:solidFill>
                <a:latin typeface="Arial  " charset="0"/>
                <a:cs typeface="Arial  " charset="0"/>
                <a:sym typeface="Symbol" pitchFamily="18" charset="2"/>
              </a:rPr>
              <a:t>, University of Toronto): “Predict” whether or not they are dependent (called “dependence prediction”) and use reorder buffer to </a:t>
            </a:r>
            <a:r>
              <a:rPr lang="en-US" sz="2000" dirty="0" err="1">
                <a:solidFill>
                  <a:schemeClr val="tx1"/>
                </a:solidFill>
                <a:latin typeface="Arial  " charset="0"/>
                <a:cs typeface="Arial  " charset="0"/>
                <a:sym typeface="Symbol" pitchFamily="18" charset="2"/>
              </a:rPr>
              <a:t>fixup</a:t>
            </a:r>
            <a:r>
              <a:rPr lang="en-US" sz="2000" dirty="0">
                <a:solidFill>
                  <a:schemeClr val="tx1"/>
                </a:solidFill>
                <a:latin typeface="Arial  " charset="0"/>
                <a:cs typeface="Arial  " charset="0"/>
                <a:sym typeface="Symbol" pitchFamily="18" charset="2"/>
              </a:rPr>
              <a:t> if we are wrong.  We won’t talk more about this (I do talk about it in EECE 527).</a:t>
            </a:r>
            <a:endParaRPr lang="en-US" sz="2000" dirty="0">
              <a:solidFill>
                <a:schemeClr val="tx1"/>
              </a:solidFill>
              <a:latin typeface="Arial  " charset="0"/>
              <a:cs typeface="Arial  " charset="0"/>
            </a:endParaRPr>
          </a:p>
        </p:txBody>
      </p:sp>
      <p:sp>
        <p:nvSpPr>
          <p:cNvPr id="48132" name="Slide Number Placeholder 6"/>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2274552-4A11-4BFB-A038-AEFA66562FC6}"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35</a:t>
            </a:fld>
            <a:r>
              <a:rPr lang="en-GB"/>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13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13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09006" y="0"/>
            <a:ext cx="8752114" cy="889000"/>
          </a:xfrm>
        </p:spPr>
        <p:txBody>
          <a:bodyPr/>
          <a:lstStyle/>
          <a:p>
            <a:r>
              <a:rPr lang="en-US" sz="3200" dirty="0">
                <a:latin typeface="Arial  " charset="0"/>
                <a:cs typeface="Arial  " charset="0"/>
              </a:rPr>
              <a:t>Hardware Support for Memory Disambiguation</a:t>
            </a:r>
            <a:endParaRPr lang="en-US" sz="4800" dirty="0">
              <a:latin typeface="Arial  " charset="0"/>
              <a:cs typeface="Arial  " charset="0"/>
            </a:endParaRPr>
          </a:p>
        </p:txBody>
      </p:sp>
      <p:sp>
        <p:nvSpPr>
          <p:cNvPr id="49155" name="Rectangle 3"/>
          <p:cNvSpPr>
            <a:spLocks noGrp="1" noChangeArrowheads="1"/>
          </p:cNvSpPr>
          <p:nvPr>
            <p:ph type="body" idx="1"/>
          </p:nvPr>
        </p:nvSpPr>
        <p:spPr>
          <a:xfrm>
            <a:off x="469900" y="1069022"/>
            <a:ext cx="8140700" cy="5397091"/>
          </a:xfrm>
        </p:spPr>
        <p:txBody>
          <a:bodyPr/>
          <a:lstStyle/>
          <a:p>
            <a:pPr>
              <a:lnSpc>
                <a:spcPct val="90000"/>
              </a:lnSpc>
            </a:pPr>
            <a:r>
              <a:rPr lang="en-US" sz="2000" dirty="0">
                <a:latin typeface="Arial  " charset="0"/>
                <a:cs typeface="Arial  " charset="0"/>
              </a:rPr>
              <a:t>Add “store queue” to keep track of all outstanding stores to memory, in program order.</a:t>
            </a:r>
          </a:p>
          <a:p>
            <a:pPr lvl="1">
              <a:lnSpc>
                <a:spcPct val="90000"/>
              </a:lnSpc>
            </a:pPr>
            <a:r>
              <a:rPr lang="en-US" sz="2000" dirty="0">
                <a:latin typeface="Arial  " charset="0"/>
                <a:cs typeface="Arial  " charset="0"/>
              </a:rPr>
              <a:t>Keep track of address (when becomes available) and value (when becomes available)</a:t>
            </a:r>
          </a:p>
          <a:p>
            <a:pPr lvl="1">
              <a:lnSpc>
                <a:spcPct val="90000"/>
              </a:lnSpc>
            </a:pPr>
            <a:r>
              <a:rPr lang="en-US" sz="2000" dirty="0">
                <a:latin typeface="Arial  " charset="0"/>
                <a:cs typeface="Arial  " charset="0"/>
              </a:rPr>
              <a:t>FIFO ordering: retire stores from this buffer in program order</a:t>
            </a:r>
          </a:p>
          <a:p>
            <a:pPr>
              <a:lnSpc>
                <a:spcPct val="90000"/>
              </a:lnSpc>
            </a:pPr>
            <a:r>
              <a:rPr lang="en-US" sz="2000" dirty="0">
                <a:latin typeface="Arial  " charset="0"/>
                <a:cs typeface="Arial  " charset="0"/>
              </a:rPr>
              <a:t>When issuing a load, record current head of store queue (know which stores are ahead of you).</a:t>
            </a:r>
          </a:p>
          <a:p>
            <a:pPr>
              <a:lnSpc>
                <a:spcPct val="90000"/>
              </a:lnSpc>
            </a:pPr>
            <a:r>
              <a:rPr lang="en-US" sz="2000" dirty="0">
                <a:latin typeface="Arial  " charset="0"/>
                <a:cs typeface="Arial  " charset="0"/>
              </a:rPr>
              <a:t>When have address for load, check store queue:</a:t>
            </a:r>
          </a:p>
          <a:p>
            <a:pPr lvl="1">
              <a:lnSpc>
                <a:spcPct val="90000"/>
              </a:lnSpc>
            </a:pPr>
            <a:r>
              <a:rPr lang="en-US" sz="2000" dirty="0">
                <a:latin typeface="Arial  " charset="0"/>
                <a:cs typeface="Arial  " charset="0"/>
              </a:rPr>
              <a:t>If </a:t>
            </a:r>
            <a:r>
              <a:rPr lang="en-US" sz="2000" i="1" dirty="0">
                <a:solidFill>
                  <a:srgbClr val="FF0000"/>
                </a:solidFill>
                <a:latin typeface="Arial  " charset="0"/>
                <a:cs typeface="Arial  " charset="0"/>
              </a:rPr>
              <a:t>any</a:t>
            </a:r>
            <a:r>
              <a:rPr lang="en-US" sz="2000" dirty="0">
                <a:solidFill>
                  <a:srgbClr val="FF0000"/>
                </a:solidFill>
                <a:latin typeface="Arial  " charset="0"/>
                <a:cs typeface="Arial  " charset="0"/>
              </a:rPr>
              <a:t> </a:t>
            </a:r>
            <a:r>
              <a:rPr lang="en-US" sz="2000" dirty="0">
                <a:latin typeface="Arial  " charset="0"/>
                <a:cs typeface="Arial  " charset="0"/>
              </a:rPr>
              <a:t>store prior to load is waiting for its address, stall load.</a:t>
            </a:r>
          </a:p>
          <a:p>
            <a:pPr lvl="1">
              <a:lnSpc>
                <a:spcPct val="90000"/>
              </a:lnSpc>
            </a:pPr>
            <a:r>
              <a:rPr lang="en-US" sz="2000" dirty="0">
                <a:latin typeface="Arial  " charset="0"/>
                <a:cs typeface="Arial  " charset="0"/>
              </a:rPr>
              <a:t>If load address matches earlier store address (associative lookup), then we have a </a:t>
            </a:r>
            <a:r>
              <a:rPr lang="en-US" sz="2000" i="1" dirty="0">
                <a:solidFill>
                  <a:srgbClr val="FF0000"/>
                </a:solidFill>
                <a:latin typeface="Arial  " charset="0"/>
                <a:cs typeface="Arial  " charset="0"/>
              </a:rPr>
              <a:t>memory-induced RAW hazard</a:t>
            </a:r>
            <a:r>
              <a:rPr lang="en-US" sz="2000" dirty="0">
                <a:latin typeface="Arial  " charset="0"/>
                <a:cs typeface="Arial  " charset="0"/>
              </a:rPr>
              <a:t>:</a:t>
            </a:r>
          </a:p>
          <a:p>
            <a:pPr lvl="2">
              <a:lnSpc>
                <a:spcPct val="90000"/>
              </a:lnSpc>
            </a:pPr>
            <a:r>
              <a:rPr lang="en-US" dirty="0">
                <a:latin typeface="Arial  " charset="0"/>
                <a:cs typeface="Arial  " charset="0"/>
              </a:rPr>
              <a:t>store value available </a:t>
            </a:r>
            <a:r>
              <a:rPr lang="en-US" dirty="0">
                <a:latin typeface="Arial  " charset="0"/>
                <a:cs typeface="Arial  " charset="0"/>
                <a:sym typeface="Symbol" pitchFamily="18" charset="2"/>
              </a:rPr>
              <a:t> </a:t>
            </a:r>
            <a:r>
              <a:rPr lang="en-US" dirty="0">
                <a:latin typeface="Arial  " charset="0"/>
                <a:cs typeface="Arial  " charset="0"/>
              </a:rPr>
              <a:t>return value</a:t>
            </a:r>
          </a:p>
          <a:p>
            <a:pPr lvl="2">
              <a:lnSpc>
                <a:spcPct val="90000"/>
              </a:lnSpc>
            </a:pPr>
            <a:r>
              <a:rPr lang="en-US" dirty="0">
                <a:latin typeface="Arial  " charset="0"/>
                <a:cs typeface="Arial  " charset="0"/>
              </a:rPr>
              <a:t>store value not available </a:t>
            </a:r>
            <a:r>
              <a:rPr lang="en-US" dirty="0">
                <a:latin typeface="Arial  " charset="0"/>
                <a:cs typeface="Arial  " charset="0"/>
                <a:sym typeface="Symbol" pitchFamily="18" charset="2"/>
              </a:rPr>
              <a:t> return ROB number of source </a:t>
            </a:r>
            <a:endParaRPr lang="en-US" dirty="0">
              <a:latin typeface="Arial  " charset="0"/>
              <a:cs typeface="Arial  " charset="0"/>
            </a:endParaRPr>
          </a:p>
          <a:p>
            <a:pPr lvl="1">
              <a:lnSpc>
                <a:spcPct val="90000"/>
              </a:lnSpc>
            </a:pPr>
            <a:r>
              <a:rPr lang="en-US" sz="2000" dirty="0">
                <a:latin typeface="Arial  " charset="0"/>
                <a:cs typeface="Arial  " charset="0"/>
              </a:rPr>
              <a:t>Otherwise, send out request to memory</a:t>
            </a:r>
          </a:p>
          <a:p>
            <a:pPr>
              <a:lnSpc>
                <a:spcPct val="90000"/>
              </a:lnSpc>
            </a:pPr>
            <a:r>
              <a:rPr lang="en-US" sz="2000" dirty="0">
                <a:latin typeface="Arial  " charset="0"/>
                <a:cs typeface="Arial  " charset="0"/>
              </a:rPr>
              <a:t>Stores modify memory during commit, which is “in order”, and this prevents WAR/WAW hazards through memory.</a:t>
            </a:r>
          </a:p>
        </p:txBody>
      </p:sp>
      <p:sp>
        <p:nvSpPr>
          <p:cNvPr id="49156" name="Slide Number Placeholder 6"/>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301F01C6-DC7D-4522-9391-BC155024912C}"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36</a:t>
            </a:fld>
            <a:r>
              <a:rPr lang="en-GB"/>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915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15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15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15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15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15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155">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15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Grp="1" noChangeArrowheads="1"/>
          </p:cNvSpPr>
          <p:nvPr>
            <p:ph type="title"/>
          </p:nvPr>
        </p:nvSpPr>
        <p:spPr>
          <a:xfrm>
            <a:off x="685800" y="0"/>
            <a:ext cx="7772400" cy="866775"/>
          </a:xfrm>
        </p:spPr>
        <p:txBody>
          <a:bodyPr/>
          <a:lstStyle/>
          <a:p>
            <a:pPr eaLnBrk="1" hangingPunct="1">
              <a:lnSpc>
                <a:spcPct val="134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dirty="0">
                <a:latin typeface="Arial  " charset="0"/>
                <a:cs typeface="Arial  " charset="0"/>
              </a:rPr>
              <a:t>Limits to Performance</a:t>
            </a:r>
          </a:p>
        </p:txBody>
      </p:sp>
      <p:sp>
        <p:nvSpPr>
          <p:cNvPr id="17411" name="Rectangle 2"/>
          <p:cNvSpPr>
            <a:spLocks noGrp="1" noChangeArrowheads="1"/>
          </p:cNvSpPr>
          <p:nvPr>
            <p:ph type="body" idx="1"/>
          </p:nvPr>
        </p:nvSpPr>
        <p:spPr>
          <a:xfrm>
            <a:off x="450669" y="1142999"/>
            <a:ext cx="8077200" cy="5218611"/>
          </a:xfrm>
        </p:spPr>
        <p:txBody>
          <a:bodyPr/>
          <a:lstStyle/>
          <a:p>
            <a:pPr marL="0" indent="0" eaLnBrk="1" hangingPunct="1">
              <a:spcBef>
                <a:spcPts val="0"/>
              </a:spcBef>
              <a:buFont typeface="Comic Sans MS" pitchFamily="66" charset="0"/>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dirty="0">
                <a:cs typeface="Arial  " charset="0"/>
              </a:rPr>
              <a:t>Pipeline CPI  	= </a:t>
            </a:r>
            <a:r>
              <a:rPr lang="en-GB" sz="2000" dirty="0">
                <a:solidFill>
                  <a:schemeClr val="accent2"/>
                </a:solidFill>
                <a:cs typeface="Arial  " charset="0"/>
              </a:rPr>
              <a:t>Ideal CPI </a:t>
            </a:r>
          </a:p>
          <a:p>
            <a:pPr marL="0" indent="0" eaLnBrk="1" hangingPunct="1">
              <a:spcBef>
                <a:spcPts val="0"/>
              </a:spcBef>
              <a:buFont typeface="Comic Sans MS" pitchFamily="66" charset="0"/>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dirty="0">
                <a:cs typeface="Arial  " charset="0"/>
              </a:rPr>
              <a:t>			   + Structural stalls</a:t>
            </a:r>
          </a:p>
          <a:p>
            <a:pPr marL="0" indent="0" eaLnBrk="1" hangingPunct="1">
              <a:spcBef>
                <a:spcPts val="0"/>
              </a:spcBef>
              <a:buFont typeface="Comic Sans MS" pitchFamily="66" charset="0"/>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dirty="0">
                <a:cs typeface="Arial  " charset="0"/>
              </a:rPr>
              <a:t>			   + Data hazard stalls</a:t>
            </a:r>
          </a:p>
          <a:p>
            <a:pPr marL="0" indent="0" eaLnBrk="1" hangingPunct="1">
              <a:spcBef>
                <a:spcPts val="0"/>
              </a:spcBef>
              <a:buFont typeface="Comic Sans MS" pitchFamily="66" charset="0"/>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dirty="0">
                <a:cs typeface="Arial  " charset="0"/>
              </a:rPr>
              <a:t>			   + Control hazard stalls</a:t>
            </a:r>
          </a:p>
          <a:p>
            <a:pPr marL="0" indent="0" eaLnBrk="1" hangingPunct="1">
              <a:spcBef>
                <a:spcPts val="0"/>
              </a:spcBef>
              <a:buFont typeface="Comic Sans MS" pitchFamily="66" charset="0"/>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endParaRPr lang="en-GB" sz="2000" dirty="0">
              <a:cs typeface="Arial  " charset="0"/>
            </a:endParaRPr>
          </a:p>
          <a:p>
            <a:pPr marL="0" indent="0" eaLnBrk="1" hangingPunct="1">
              <a:spcBef>
                <a:spcPts val="0"/>
              </a:spcBef>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dirty="0">
                <a:cs typeface="Arial  " charset="0"/>
              </a:rPr>
              <a:t>Have looked at how to remove/reduce stalls: pipelining, forwarding, out-of-order execution, branch prediction, speculative execution.</a:t>
            </a:r>
          </a:p>
          <a:p>
            <a:pPr marL="0" indent="0" eaLnBrk="1" hangingPunct="1">
              <a:lnSpc>
                <a:spcPct val="134000"/>
              </a:lnSpc>
              <a:spcBef>
                <a:spcPts val="0"/>
              </a:spcBef>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endParaRPr lang="en-GB" sz="2000" dirty="0">
              <a:cs typeface="Arial  " charset="0"/>
            </a:endParaRPr>
          </a:p>
          <a:p>
            <a:pPr marL="0" indent="0" eaLnBrk="1" hangingPunct="1">
              <a:lnSpc>
                <a:spcPct val="134000"/>
              </a:lnSpc>
              <a:spcBef>
                <a:spcPts val="0"/>
              </a:spcBef>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b="1" u="sng" dirty="0">
                <a:solidFill>
                  <a:schemeClr val="accent2"/>
                </a:solidFill>
                <a:cs typeface="Arial  " charset="0"/>
              </a:rPr>
              <a:t>Can we reduce “Ideal CPI”?</a:t>
            </a:r>
          </a:p>
          <a:p>
            <a:pPr marL="360000" indent="-360000" eaLnBrk="1" hangingPunct="1">
              <a:lnSpc>
                <a:spcPct val="134000"/>
              </a:lnSpc>
              <a:spcBef>
                <a:spcPts val="0"/>
              </a:spcBef>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CA" sz="2000" dirty="0">
                <a:solidFill>
                  <a:schemeClr val="tx1"/>
                </a:solidFill>
                <a:cs typeface="Arial  " charset="0"/>
              </a:rPr>
              <a:t>Ideal CPI limited by rate at which instructions issued: 1 per cycle.</a:t>
            </a:r>
            <a:endParaRPr lang="en-GB" sz="2000" dirty="0">
              <a:solidFill>
                <a:schemeClr val="tx1"/>
              </a:solidFill>
              <a:cs typeface="Arial  " charset="0"/>
            </a:endParaRPr>
          </a:p>
          <a:p>
            <a:pPr marL="360000" indent="-360000" eaLnBrk="1" hangingPunct="1">
              <a:lnSpc>
                <a:spcPct val="134000"/>
              </a:lnSpc>
              <a:spcBef>
                <a:spcPts val="0"/>
              </a:spcBef>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dirty="0">
                <a:cs typeface="Arial  " charset="0"/>
              </a:rPr>
              <a:t>Modern microprocessors can achieve CPI &lt; 1 by issuing more than one instruction per cycle.</a:t>
            </a:r>
          </a:p>
          <a:p>
            <a:pPr marL="360000" indent="-360000" eaLnBrk="1" hangingPunct="1">
              <a:lnSpc>
                <a:spcPct val="134000"/>
              </a:lnSpc>
              <a:spcBef>
                <a:spcPts val="0"/>
              </a:spcBef>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dirty="0">
                <a:cs typeface="Arial  " charset="0"/>
              </a:rPr>
              <a:t>We will start to speak about average </a:t>
            </a:r>
            <a:r>
              <a:rPr lang="en-GB" sz="2000" i="1" dirty="0">
                <a:solidFill>
                  <a:srgbClr val="FF0000"/>
                </a:solidFill>
                <a:cs typeface="Arial  " charset="0"/>
              </a:rPr>
              <a:t>instructions per cycle</a:t>
            </a:r>
            <a:r>
              <a:rPr lang="en-GB" sz="2000" i="1" dirty="0">
                <a:cs typeface="Arial  " charset="0"/>
              </a:rPr>
              <a:t> </a:t>
            </a:r>
            <a:r>
              <a:rPr lang="en-GB" sz="2000" i="1" dirty="0">
                <a:solidFill>
                  <a:srgbClr val="FF0000"/>
                </a:solidFill>
                <a:cs typeface="Arial  " charset="0"/>
              </a:rPr>
              <a:t>(IPC)</a:t>
            </a:r>
          </a:p>
          <a:p>
            <a:pPr marL="360000" indent="-360000" eaLnBrk="1" hangingPunct="1">
              <a:lnSpc>
                <a:spcPct val="134000"/>
              </a:lnSpc>
              <a:spcBef>
                <a:spcPts val="0"/>
              </a:spcBef>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sz="2000" dirty="0">
                <a:solidFill>
                  <a:srgbClr val="FF0000"/>
                </a:solidFill>
                <a:cs typeface="Arial  " charset="0"/>
              </a:rPr>
              <a:t>IPC = (1/CPI)</a:t>
            </a:r>
            <a:endParaRPr lang="en-GB" sz="2400" dirty="0">
              <a:cs typeface="Arial  " charset="0"/>
            </a:endParaRPr>
          </a:p>
        </p:txBody>
      </p:sp>
      <p:sp>
        <p:nvSpPr>
          <p:cNvPr id="17412" name="Slide Number Placeholder 7"/>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31564100-036C-4A9D-BAE0-BB88D4E09712}"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37</a:t>
            </a:fld>
            <a:r>
              <a:rPr lang="en-GB"/>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685800" y="0"/>
            <a:ext cx="7772400" cy="1143000"/>
          </a:xfrm>
        </p:spPr>
        <p:txBody>
          <a:bodyPr/>
          <a:lstStyle/>
          <a:p>
            <a:pPr eaLnBrk="1" hangingPunct="1">
              <a:lnSpc>
                <a:spcPct val="134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 charset="0"/>
                <a:cs typeface="Arial  " charset="0"/>
              </a:rPr>
              <a:t>Multiple Instruction Issue</a:t>
            </a:r>
          </a:p>
        </p:txBody>
      </p:sp>
      <p:sp>
        <p:nvSpPr>
          <p:cNvPr id="18435" name="Rectangle 2"/>
          <p:cNvSpPr>
            <a:spLocks noGrp="1" noChangeArrowheads="1"/>
          </p:cNvSpPr>
          <p:nvPr>
            <p:ph type="body" idx="1"/>
          </p:nvPr>
        </p:nvSpPr>
        <p:spPr>
          <a:xfrm>
            <a:off x="431074" y="1143000"/>
            <a:ext cx="8281852" cy="5205413"/>
          </a:xfrm>
        </p:spPr>
        <p:txBody>
          <a:bodyPr/>
          <a:lstStyle/>
          <a:p>
            <a:pPr eaLnBrk="1" hangingPunct="1">
              <a:lnSpc>
                <a:spcPct val="134000"/>
              </a:lnSpc>
              <a:spcBef>
                <a:spcPts val="6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2000" dirty="0">
                <a:latin typeface="Arial  " charset="0"/>
                <a:cs typeface="Arial  " charset="0"/>
              </a:rPr>
              <a:t>We will just call it “multiple issue”</a:t>
            </a:r>
          </a:p>
          <a:p>
            <a:pPr eaLnBrk="1" hangingPunct="1">
              <a:lnSpc>
                <a:spcPct val="134000"/>
              </a:lnSpc>
              <a:spcBef>
                <a:spcPts val="6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2000" dirty="0">
                <a:latin typeface="Arial  " charset="0"/>
                <a:cs typeface="Arial  " charset="0"/>
              </a:rPr>
              <a:t>Two types of multiple issue processor</a:t>
            </a:r>
          </a:p>
          <a:p>
            <a:pPr marL="739775" lvl="1" indent="-282575" eaLnBrk="1" hangingPunct="1">
              <a:lnSpc>
                <a:spcPct val="134000"/>
              </a:lnSpc>
              <a:buClr>
                <a:srgbClr val="0000FF"/>
              </a:buCl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dirty="0">
                <a:solidFill>
                  <a:srgbClr val="0000FF"/>
                </a:solidFill>
                <a:latin typeface="Arial  " charset="0"/>
                <a:cs typeface="Arial  " charset="0"/>
              </a:rPr>
              <a:t>Superscalar</a:t>
            </a:r>
          </a:p>
          <a:p>
            <a:pPr lvl="2" eaLnBrk="1" hangingPunct="1">
              <a:lnSpc>
                <a:spcPct val="134000"/>
              </a:lnSpc>
              <a:spcBef>
                <a:spcPts val="45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Dynamic issue - varying number of instructions per cycle.</a:t>
            </a:r>
          </a:p>
          <a:p>
            <a:pPr lvl="2" eaLnBrk="1" hangingPunct="1">
              <a:lnSpc>
                <a:spcPct val="134000"/>
              </a:lnSpc>
              <a:spcBef>
                <a:spcPts val="45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Statically or dynamically scheduled execution order</a:t>
            </a:r>
          </a:p>
          <a:p>
            <a:pPr lvl="3" eaLnBrk="1" hangingPunct="1">
              <a:lnSpc>
                <a:spcPct val="134000"/>
              </a:lnSpc>
              <a:spcBef>
                <a:spcPts val="4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dirty="0">
                <a:latin typeface="Arial  " charset="0"/>
                <a:cs typeface="Arial  " charset="0"/>
              </a:rPr>
              <a:t>i.e., in order, out of order w/ or w/o speculative execution</a:t>
            </a:r>
          </a:p>
          <a:p>
            <a:pPr marL="739775" lvl="1" indent="-282575" eaLnBrk="1" hangingPunct="1">
              <a:lnSpc>
                <a:spcPct val="134000"/>
              </a:lnSpc>
              <a:spcBef>
                <a:spcPts val="500"/>
              </a:spcBef>
              <a:buClr>
                <a:srgbClr val="0000FF"/>
              </a:buCl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2000" dirty="0">
                <a:solidFill>
                  <a:srgbClr val="0000FF"/>
                </a:solidFill>
                <a:latin typeface="Arial  " charset="0"/>
                <a:cs typeface="Arial  " charset="0"/>
              </a:rPr>
              <a:t>VLIW</a:t>
            </a:r>
            <a:r>
              <a:rPr lang="en-GB" sz="2000" dirty="0">
                <a:latin typeface="Arial  " charset="0"/>
                <a:cs typeface="Arial  " charset="0"/>
              </a:rPr>
              <a:t> (very long instruction word)</a:t>
            </a:r>
          </a:p>
          <a:p>
            <a:pPr lvl="2" eaLnBrk="1" hangingPunct="1">
              <a:lnSpc>
                <a:spcPct val="134000"/>
              </a:lnSpc>
              <a:spcBef>
                <a:spcPts val="45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Static issue - fixed number of instructions per cycle.</a:t>
            </a:r>
          </a:p>
          <a:p>
            <a:pPr lvl="2" eaLnBrk="1" hangingPunct="1">
              <a:lnSpc>
                <a:spcPct val="134000"/>
              </a:lnSpc>
              <a:spcBef>
                <a:spcPts val="45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dirty="0">
                <a:latin typeface="Arial  " charset="0"/>
                <a:cs typeface="Arial  " charset="0"/>
              </a:rPr>
              <a:t>Statically scheduled execution</a:t>
            </a:r>
          </a:p>
          <a:p>
            <a:pPr marL="739775" lvl="1" indent="-282575" eaLnBrk="1" hangingPunct="1">
              <a:lnSpc>
                <a:spcPct val="134000"/>
              </a:lnSpc>
              <a:spcBef>
                <a:spcPts val="500"/>
              </a:spcBef>
              <a:buFont typeface="Comic Sans MS"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sz="1800" dirty="0">
              <a:latin typeface="Arial  " charset="0"/>
              <a:cs typeface="Arial  " charset="0"/>
            </a:endParaRPr>
          </a:p>
          <a:p>
            <a:pPr eaLnBrk="1" hangingPunct="1">
              <a:lnSpc>
                <a:spcPct val="134000"/>
              </a:lnSpc>
              <a:spcBef>
                <a:spcPts val="500"/>
              </a:spcBef>
              <a:buFont typeface="Comic Sans MS"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sz="1800" dirty="0">
              <a:latin typeface="Arial  " charset="0"/>
              <a:cs typeface="Arial  " charset="0"/>
            </a:endParaRPr>
          </a:p>
        </p:txBody>
      </p:sp>
      <p:sp>
        <p:nvSpPr>
          <p:cNvPr id="18436" name="Slide Number Placeholder 9"/>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85C5259-772D-41A0-99B3-D2D65C2AA17F}"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38</a:t>
            </a:fld>
            <a:r>
              <a:rPr lang="en-GB"/>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685800" y="0"/>
            <a:ext cx="7772400" cy="1143000"/>
          </a:xfrm>
        </p:spPr>
        <p:txBody>
          <a:bodyPr/>
          <a:lstStyle/>
          <a:p>
            <a:pPr eaLnBrk="1" hangingPunct="1">
              <a:lnSpc>
                <a:spcPct val="134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 charset="0"/>
                <a:cs typeface="Arial  " charset="0"/>
              </a:rPr>
              <a:t>Inorder Superscalar Pipeline</a:t>
            </a:r>
          </a:p>
        </p:txBody>
      </p:sp>
      <p:sp>
        <p:nvSpPr>
          <p:cNvPr id="19459" name="Rectangle 2"/>
          <p:cNvSpPr>
            <a:spLocks noGrp="1" noChangeArrowheads="1"/>
          </p:cNvSpPr>
          <p:nvPr>
            <p:ph type="body" idx="1"/>
          </p:nvPr>
        </p:nvSpPr>
        <p:spPr>
          <a:xfrm>
            <a:off x="709613" y="5397500"/>
            <a:ext cx="7772400" cy="919163"/>
          </a:xfrm>
        </p:spPr>
        <p:txBody>
          <a:bodyPr/>
          <a:lstStyle/>
          <a:p>
            <a:pPr marL="339725" indent="-339725" eaLnBrk="1" hangingPunct="1">
              <a:spcBef>
                <a:spcPct val="0"/>
              </a:spcBef>
              <a:buFont typeface="Comic Sans MS" pitchFamily="66" charset="0"/>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a:latin typeface="Arial  " charset="0"/>
                <a:cs typeface="Arial  " charset="0"/>
              </a:rPr>
              <a:t>3-wide Superscalar	      486           Pentium</a:t>
            </a:r>
          </a:p>
          <a:p>
            <a:pPr marL="339725" indent="-339725" eaLnBrk="1" hangingPunct="1">
              <a:spcBef>
                <a:spcPct val="0"/>
              </a:spcBef>
              <a:buFont typeface="Comic Sans MS" pitchFamily="66" charset="0"/>
              <a:buNone/>
              <a:tabLst>
                <a:tab pos="339725" algn="l"/>
                <a:tab pos="908050" algn="l"/>
                <a:tab pos="1822450" algn="l"/>
                <a:tab pos="2736850" algn="l"/>
                <a:tab pos="3651250" algn="l"/>
                <a:tab pos="4565650" algn="l"/>
                <a:tab pos="5480050" algn="l"/>
                <a:tab pos="6394450" algn="l"/>
                <a:tab pos="7308850" algn="l"/>
                <a:tab pos="8223250" algn="l"/>
                <a:tab pos="9137650" algn="l"/>
                <a:tab pos="10052050" algn="l"/>
                <a:tab pos="10329863" algn="l"/>
                <a:tab pos="10779125" algn="l"/>
              </a:tabLst>
            </a:pPr>
            <a:r>
              <a:rPr lang="en-GB">
                <a:latin typeface="Arial  " charset="0"/>
                <a:cs typeface="Arial  " charset="0"/>
              </a:rPr>
              <a:t>							</a:t>
            </a:r>
            <a:r>
              <a:rPr lang="en-GB" sz="1800">
                <a:latin typeface="Arial  " charset="0"/>
                <a:cs typeface="Arial  " charset="0"/>
              </a:rPr>
              <a:t>(2-wide superscalar)</a:t>
            </a:r>
            <a:endParaRPr lang="en-GB">
              <a:latin typeface="Arial  " charset="0"/>
              <a:cs typeface="Arial  " charset="0"/>
            </a:endParaRPr>
          </a:p>
        </p:txBody>
      </p:sp>
      <p:pic>
        <p:nvPicPr>
          <p:cNvPr id="19460" name="Picture 3"/>
          <p:cNvPicPr>
            <a:picLocks noChangeAspect="1" noChangeArrowheads="1"/>
          </p:cNvPicPr>
          <p:nvPr/>
        </p:nvPicPr>
        <p:blipFill>
          <a:blip r:embed="rId3"/>
          <a:srcRect/>
          <a:stretch>
            <a:fillRect/>
          </a:stretch>
        </p:blipFill>
        <p:spPr bwMode="auto">
          <a:xfrm>
            <a:off x="863600" y="1397000"/>
            <a:ext cx="2487613" cy="3938588"/>
          </a:xfrm>
          <a:prstGeom prst="rect">
            <a:avLst/>
          </a:prstGeom>
          <a:noFill/>
          <a:ln w="9525">
            <a:noFill/>
            <a:round/>
            <a:headEnd/>
            <a:tailEnd/>
          </a:ln>
        </p:spPr>
      </p:pic>
      <p:pic>
        <p:nvPicPr>
          <p:cNvPr id="19461" name="Picture 4"/>
          <p:cNvPicPr>
            <a:picLocks noChangeAspect="1" noChangeArrowheads="1"/>
          </p:cNvPicPr>
          <p:nvPr/>
        </p:nvPicPr>
        <p:blipFill>
          <a:blip r:embed="rId4"/>
          <a:srcRect/>
          <a:stretch>
            <a:fillRect/>
          </a:stretch>
        </p:blipFill>
        <p:spPr bwMode="auto">
          <a:xfrm>
            <a:off x="5213350" y="1422400"/>
            <a:ext cx="3060700" cy="3657600"/>
          </a:xfrm>
          <a:prstGeom prst="rect">
            <a:avLst/>
          </a:prstGeom>
          <a:noFill/>
          <a:ln w="9525">
            <a:noFill/>
            <a:round/>
            <a:headEnd/>
            <a:tailEnd/>
          </a:ln>
        </p:spPr>
      </p:pic>
      <p:sp>
        <p:nvSpPr>
          <p:cNvPr id="19462" name="Slide Number Placeholder 9"/>
          <p:cNvSpPr>
            <a:spLocks noGrp="1"/>
          </p:cNvSpPr>
          <p:nvPr>
            <p:ph type="sldNum" sz="quarter" idx="12"/>
          </p:nvPr>
        </p:nvSpPr>
        <p:spPr>
          <a:xfrm>
            <a:off x="7245350" y="6407150"/>
            <a:ext cx="1898650"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1DF1227A-F32C-4848-91A7-FB415185BBA5}"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39</a:t>
            </a:fld>
            <a:r>
              <a:rPr lang="en-GB"/>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685800" y="0"/>
            <a:ext cx="7772400" cy="1143000"/>
          </a:xfrm>
        </p:spPr>
        <p:txBody>
          <a:bodyPr/>
          <a:lstStyle/>
          <a:p>
            <a:pPr eaLnBrk="1" hangingPunct="1">
              <a:lnSpc>
                <a:spcPct val="134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3600">
                <a:latin typeface="Arial  " charset="0"/>
                <a:cs typeface="Arial  " charset="0"/>
              </a:rPr>
              <a:t>Statically Scheduled Superscalar</a:t>
            </a:r>
          </a:p>
        </p:txBody>
      </p:sp>
      <p:sp>
        <p:nvSpPr>
          <p:cNvPr id="20483" name="Rectangle 2"/>
          <p:cNvSpPr>
            <a:spLocks noGrp="1" noChangeArrowheads="1"/>
          </p:cNvSpPr>
          <p:nvPr>
            <p:ph type="body" idx="1"/>
          </p:nvPr>
        </p:nvSpPr>
        <p:spPr>
          <a:xfrm>
            <a:off x="615950" y="1068388"/>
            <a:ext cx="7772400" cy="2360612"/>
          </a:xfrm>
        </p:spPr>
        <p:txBody>
          <a:bodyPr/>
          <a:lstStyle/>
          <a:p>
            <a:pPr eaLnBrk="1" hangingPunct="1">
              <a:spcBef>
                <a:spcPts val="6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2000">
                <a:latin typeface="Arial  " charset="0"/>
                <a:cs typeface="Arial  " charset="0"/>
              </a:rPr>
              <a:t>Issue up to N instructions per cycle (where N is the “issue width” of the processor).</a:t>
            </a:r>
          </a:p>
          <a:p>
            <a:pPr eaLnBrk="1" hangingPunct="1">
              <a:spcBef>
                <a:spcPts val="6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2000">
                <a:latin typeface="Arial  " charset="0"/>
                <a:cs typeface="Arial  " charset="0"/>
              </a:rPr>
              <a:t>Issue: Check each instruction for hazards with earlier instructions in program order issued this cycle, as well as against all earlier instructions still in execution.</a:t>
            </a:r>
          </a:p>
          <a:p>
            <a:pPr eaLnBrk="1" hangingPunct="1">
              <a:lnSpc>
                <a:spcPct val="134000"/>
              </a:lnSpc>
              <a:buFont typeface="Comic Sans MS"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sz="2000">
              <a:latin typeface="Arial  " charset="0"/>
              <a:cs typeface="Arial  " charset="0"/>
            </a:endParaRPr>
          </a:p>
        </p:txBody>
      </p:sp>
      <p:sp>
        <p:nvSpPr>
          <p:cNvPr id="20484" name="Slide Number Placeholder 7"/>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E84230B-34BA-44A1-84D9-935BC41079C4}"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40</a:t>
            </a:fld>
            <a:r>
              <a:rPr lang="en-GB"/>
              <a:t> </a:t>
            </a:r>
          </a:p>
        </p:txBody>
      </p:sp>
      <p:sp>
        <p:nvSpPr>
          <p:cNvPr id="20485" name="Text Box 4"/>
          <p:cNvSpPr txBox="1">
            <a:spLocks noChangeArrowheads="1"/>
          </p:cNvSpPr>
          <p:nvPr/>
        </p:nvSpPr>
        <p:spPr bwMode="auto">
          <a:xfrm>
            <a:off x="3152775" y="39179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tgt</a:t>
            </a:r>
          </a:p>
        </p:txBody>
      </p:sp>
      <p:sp>
        <p:nvSpPr>
          <p:cNvPr id="20486" name="Text Box 5"/>
          <p:cNvSpPr txBox="1">
            <a:spLocks noChangeArrowheads="1"/>
          </p:cNvSpPr>
          <p:nvPr/>
        </p:nvSpPr>
        <p:spPr bwMode="auto">
          <a:xfrm>
            <a:off x="4219575" y="39179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src1</a:t>
            </a:r>
          </a:p>
        </p:txBody>
      </p:sp>
      <p:sp>
        <p:nvSpPr>
          <p:cNvPr id="20487" name="Text Box 6"/>
          <p:cNvSpPr txBox="1">
            <a:spLocks noChangeArrowheads="1"/>
          </p:cNvSpPr>
          <p:nvPr/>
        </p:nvSpPr>
        <p:spPr bwMode="auto">
          <a:xfrm>
            <a:off x="5286375" y="39179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src1</a:t>
            </a:r>
          </a:p>
        </p:txBody>
      </p:sp>
      <p:sp>
        <p:nvSpPr>
          <p:cNvPr id="20488" name="Text Box 7"/>
          <p:cNvSpPr txBox="1">
            <a:spLocks noChangeArrowheads="1"/>
          </p:cNvSpPr>
          <p:nvPr/>
        </p:nvSpPr>
        <p:spPr bwMode="auto">
          <a:xfrm>
            <a:off x="3152775" y="30797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tgt</a:t>
            </a:r>
          </a:p>
        </p:txBody>
      </p:sp>
      <p:sp>
        <p:nvSpPr>
          <p:cNvPr id="20489" name="Text Box 8"/>
          <p:cNvSpPr txBox="1">
            <a:spLocks noChangeArrowheads="1"/>
          </p:cNvSpPr>
          <p:nvPr/>
        </p:nvSpPr>
        <p:spPr bwMode="auto">
          <a:xfrm>
            <a:off x="4219575" y="30797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src1</a:t>
            </a:r>
          </a:p>
        </p:txBody>
      </p:sp>
      <p:sp>
        <p:nvSpPr>
          <p:cNvPr id="20490" name="Text Box 9"/>
          <p:cNvSpPr txBox="1">
            <a:spLocks noChangeArrowheads="1"/>
          </p:cNvSpPr>
          <p:nvPr/>
        </p:nvSpPr>
        <p:spPr bwMode="auto">
          <a:xfrm>
            <a:off x="5286375" y="30797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src1</a:t>
            </a:r>
          </a:p>
        </p:txBody>
      </p:sp>
      <p:grpSp>
        <p:nvGrpSpPr>
          <p:cNvPr id="20491" name="Group 10"/>
          <p:cNvGrpSpPr>
            <a:grpSpLocks/>
          </p:cNvGrpSpPr>
          <p:nvPr/>
        </p:nvGrpSpPr>
        <p:grpSpPr bwMode="auto">
          <a:xfrm>
            <a:off x="3305175" y="3536950"/>
            <a:ext cx="2209800" cy="762000"/>
            <a:chOff x="1968" y="1200"/>
            <a:chExt cx="1392" cy="480"/>
          </a:xfrm>
        </p:grpSpPr>
        <p:sp>
          <p:nvSpPr>
            <p:cNvPr id="20526" name="Line 11"/>
            <p:cNvSpPr>
              <a:spLocks noChangeShapeType="1"/>
            </p:cNvSpPr>
            <p:nvPr/>
          </p:nvSpPr>
          <p:spPr bwMode="auto">
            <a:xfrm flipV="1">
              <a:off x="1968" y="1200"/>
              <a:ext cx="0" cy="480"/>
            </a:xfrm>
            <a:prstGeom prst="line">
              <a:avLst/>
            </a:prstGeom>
            <a:noFill/>
            <a:ln w="38100">
              <a:solidFill>
                <a:schemeClr val="accent2"/>
              </a:solidFill>
              <a:round/>
              <a:headEnd/>
              <a:tailEnd type="triangle" w="med" len="med"/>
            </a:ln>
          </p:spPr>
          <p:txBody>
            <a:bodyPr wrap="none" anchor="ctr"/>
            <a:lstStyle/>
            <a:p>
              <a:endParaRPr lang="en-CA"/>
            </a:p>
          </p:txBody>
        </p:sp>
        <p:sp>
          <p:nvSpPr>
            <p:cNvPr id="20527" name="Line 12"/>
            <p:cNvSpPr>
              <a:spLocks noChangeShapeType="1"/>
            </p:cNvSpPr>
            <p:nvPr/>
          </p:nvSpPr>
          <p:spPr bwMode="auto">
            <a:xfrm>
              <a:off x="1968" y="1488"/>
              <a:ext cx="1392" cy="0"/>
            </a:xfrm>
            <a:prstGeom prst="line">
              <a:avLst/>
            </a:prstGeom>
            <a:noFill/>
            <a:ln w="38100">
              <a:solidFill>
                <a:schemeClr val="accent2"/>
              </a:solidFill>
              <a:round/>
              <a:headEnd/>
              <a:tailEnd/>
            </a:ln>
          </p:spPr>
          <p:txBody>
            <a:bodyPr wrap="none" anchor="ctr"/>
            <a:lstStyle/>
            <a:p>
              <a:endParaRPr lang="en-CA"/>
            </a:p>
          </p:txBody>
        </p:sp>
        <p:sp>
          <p:nvSpPr>
            <p:cNvPr id="20528" name="Line 13"/>
            <p:cNvSpPr>
              <a:spLocks noChangeShapeType="1"/>
            </p:cNvSpPr>
            <p:nvPr/>
          </p:nvSpPr>
          <p:spPr bwMode="auto">
            <a:xfrm flipV="1">
              <a:off x="2688" y="1200"/>
              <a:ext cx="0" cy="288"/>
            </a:xfrm>
            <a:prstGeom prst="line">
              <a:avLst/>
            </a:prstGeom>
            <a:noFill/>
            <a:ln w="38100">
              <a:solidFill>
                <a:schemeClr val="accent2"/>
              </a:solidFill>
              <a:round/>
              <a:headEnd/>
              <a:tailEnd type="triangle" w="med" len="med"/>
            </a:ln>
          </p:spPr>
          <p:txBody>
            <a:bodyPr wrap="none" anchor="ctr"/>
            <a:lstStyle/>
            <a:p>
              <a:endParaRPr lang="en-CA"/>
            </a:p>
          </p:txBody>
        </p:sp>
        <p:sp>
          <p:nvSpPr>
            <p:cNvPr id="20529" name="Line 14"/>
            <p:cNvSpPr>
              <a:spLocks noChangeShapeType="1"/>
            </p:cNvSpPr>
            <p:nvPr/>
          </p:nvSpPr>
          <p:spPr bwMode="auto">
            <a:xfrm flipV="1">
              <a:off x="3360" y="1200"/>
              <a:ext cx="0" cy="288"/>
            </a:xfrm>
            <a:prstGeom prst="line">
              <a:avLst/>
            </a:prstGeom>
            <a:noFill/>
            <a:ln w="38100">
              <a:solidFill>
                <a:schemeClr val="accent2"/>
              </a:solidFill>
              <a:round/>
              <a:headEnd/>
              <a:tailEnd type="triangle" w="med" len="med"/>
            </a:ln>
          </p:spPr>
          <p:txBody>
            <a:bodyPr wrap="none" anchor="ctr"/>
            <a:lstStyle/>
            <a:p>
              <a:endParaRPr lang="en-CA"/>
            </a:p>
          </p:txBody>
        </p:sp>
      </p:grpSp>
      <p:grpSp>
        <p:nvGrpSpPr>
          <p:cNvPr id="20492" name="Group 15"/>
          <p:cNvGrpSpPr>
            <a:grpSpLocks/>
          </p:cNvGrpSpPr>
          <p:nvPr/>
        </p:nvGrpSpPr>
        <p:grpSpPr bwMode="auto">
          <a:xfrm>
            <a:off x="3686175" y="3536950"/>
            <a:ext cx="1219200" cy="685800"/>
            <a:chOff x="2016" y="1200"/>
            <a:chExt cx="624" cy="432"/>
          </a:xfrm>
        </p:grpSpPr>
        <p:sp>
          <p:nvSpPr>
            <p:cNvPr id="20523" name="Line 16"/>
            <p:cNvSpPr>
              <a:spLocks noChangeShapeType="1"/>
            </p:cNvSpPr>
            <p:nvPr/>
          </p:nvSpPr>
          <p:spPr bwMode="auto">
            <a:xfrm>
              <a:off x="2016" y="1200"/>
              <a:ext cx="0" cy="192"/>
            </a:xfrm>
            <a:prstGeom prst="line">
              <a:avLst/>
            </a:prstGeom>
            <a:noFill/>
            <a:ln w="38100">
              <a:solidFill>
                <a:srgbClr val="66FF66"/>
              </a:solidFill>
              <a:round/>
              <a:headEnd type="arrow" w="med" len="med"/>
              <a:tailEnd/>
            </a:ln>
          </p:spPr>
          <p:txBody>
            <a:bodyPr wrap="none" anchor="ctr"/>
            <a:lstStyle/>
            <a:p>
              <a:endParaRPr lang="en-CA"/>
            </a:p>
          </p:txBody>
        </p:sp>
        <p:sp>
          <p:nvSpPr>
            <p:cNvPr id="20524" name="Line 17"/>
            <p:cNvSpPr>
              <a:spLocks noChangeShapeType="1"/>
            </p:cNvSpPr>
            <p:nvPr/>
          </p:nvSpPr>
          <p:spPr bwMode="auto">
            <a:xfrm>
              <a:off x="2016" y="1392"/>
              <a:ext cx="624" cy="0"/>
            </a:xfrm>
            <a:prstGeom prst="line">
              <a:avLst/>
            </a:prstGeom>
            <a:noFill/>
            <a:ln w="38100">
              <a:solidFill>
                <a:srgbClr val="66FF66"/>
              </a:solidFill>
              <a:round/>
              <a:headEnd/>
              <a:tailEnd/>
            </a:ln>
          </p:spPr>
          <p:txBody>
            <a:bodyPr wrap="none" anchor="ctr"/>
            <a:lstStyle/>
            <a:p>
              <a:endParaRPr lang="en-CA"/>
            </a:p>
          </p:txBody>
        </p:sp>
        <p:sp>
          <p:nvSpPr>
            <p:cNvPr id="20525" name="Line 18"/>
            <p:cNvSpPr>
              <a:spLocks noChangeShapeType="1"/>
            </p:cNvSpPr>
            <p:nvPr/>
          </p:nvSpPr>
          <p:spPr bwMode="auto">
            <a:xfrm>
              <a:off x="2640" y="1392"/>
              <a:ext cx="0" cy="240"/>
            </a:xfrm>
            <a:prstGeom prst="line">
              <a:avLst/>
            </a:prstGeom>
            <a:noFill/>
            <a:ln w="38100">
              <a:solidFill>
                <a:srgbClr val="66FF66"/>
              </a:solidFill>
              <a:round/>
              <a:headEnd/>
              <a:tailEnd/>
            </a:ln>
          </p:spPr>
          <p:txBody>
            <a:bodyPr wrap="none" anchor="ctr"/>
            <a:lstStyle/>
            <a:p>
              <a:endParaRPr lang="en-CA"/>
            </a:p>
          </p:txBody>
        </p:sp>
      </p:grpSp>
      <p:grpSp>
        <p:nvGrpSpPr>
          <p:cNvPr id="20493" name="Group 19"/>
          <p:cNvGrpSpPr>
            <a:grpSpLocks/>
          </p:cNvGrpSpPr>
          <p:nvPr/>
        </p:nvGrpSpPr>
        <p:grpSpPr bwMode="auto">
          <a:xfrm>
            <a:off x="3990975" y="3536950"/>
            <a:ext cx="2057400" cy="533400"/>
            <a:chOff x="2016" y="1200"/>
            <a:chExt cx="624" cy="432"/>
          </a:xfrm>
        </p:grpSpPr>
        <p:sp>
          <p:nvSpPr>
            <p:cNvPr id="20520" name="Line 20"/>
            <p:cNvSpPr>
              <a:spLocks noChangeShapeType="1"/>
            </p:cNvSpPr>
            <p:nvPr/>
          </p:nvSpPr>
          <p:spPr bwMode="auto">
            <a:xfrm>
              <a:off x="2016" y="1200"/>
              <a:ext cx="0" cy="192"/>
            </a:xfrm>
            <a:prstGeom prst="line">
              <a:avLst/>
            </a:prstGeom>
            <a:noFill/>
            <a:ln w="38100">
              <a:solidFill>
                <a:srgbClr val="66FF66"/>
              </a:solidFill>
              <a:round/>
              <a:headEnd type="arrow" w="med" len="med"/>
              <a:tailEnd/>
            </a:ln>
          </p:spPr>
          <p:txBody>
            <a:bodyPr wrap="none" anchor="ctr"/>
            <a:lstStyle/>
            <a:p>
              <a:endParaRPr lang="en-CA"/>
            </a:p>
          </p:txBody>
        </p:sp>
        <p:sp>
          <p:nvSpPr>
            <p:cNvPr id="20521" name="Line 21"/>
            <p:cNvSpPr>
              <a:spLocks noChangeShapeType="1"/>
            </p:cNvSpPr>
            <p:nvPr/>
          </p:nvSpPr>
          <p:spPr bwMode="auto">
            <a:xfrm>
              <a:off x="2016" y="1392"/>
              <a:ext cx="624" cy="0"/>
            </a:xfrm>
            <a:prstGeom prst="line">
              <a:avLst/>
            </a:prstGeom>
            <a:noFill/>
            <a:ln w="38100">
              <a:solidFill>
                <a:srgbClr val="66FF66"/>
              </a:solidFill>
              <a:round/>
              <a:headEnd/>
              <a:tailEnd/>
            </a:ln>
          </p:spPr>
          <p:txBody>
            <a:bodyPr wrap="none" anchor="ctr"/>
            <a:lstStyle/>
            <a:p>
              <a:endParaRPr lang="en-CA"/>
            </a:p>
          </p:txBody>
        </p:sp>
        <p:sp>
          <p:nvSpPr>
            <p:cNvPr id="20522" name="Line 22"/>
            <p:cNvSpPr>
              <a:spLocks noChangeShapeType="1"/>
            </p:cNvSpPr>
            <p:nvPr/>
          </p:nvSpPr>
          <p:spPr bwMode="auto">
            <a:xfrm>
              <a:off x="2640" y="1392"/>
              <a:ext cx="0" cy="240"/>
            </a:xfrm>
            <a:prstGeom prst="line">
              <a:avLst/>
            </a:prstGeom>
            <a:noFill/>
            <a:ln w="38100">
              <a:solidFill>
                <a:srgbClr val="66FF66"/>
              </a:solidFill>
              <a:round/>
              <a:headEnd/>
              <a:tailEnd/>
            </a:ln>
          </p:spPr>
          <p:txBody>
            <a:bodyPr wrap="none" anchor="ctr"/>
            <a:lstStyle/>
            <a:p>
              <a:endParaRPr lang="en-CA"/>
            </a:p>
          </p:txBody>
        </p:sp>
      </p:grpSp>
      <p:sp>
        <p:nvSpPr>
          <p:cNvPr id="20494" name="Text Box 23"/>
          <p:cNvSpPr txBox="1">
            <a:spLocks noChangeArrowheads="1"/>
          </p:cNvSpPr>
          <p:nvPr/>
        </p:nvSpPr>
        <p:spPr bwMode="auto">
          <a:xfrm>
            <a:off x="3152775" y="47561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tgt</a:t>
            </a:r>
          </a:p>
        </p:txBody>
      </p:sp>
      <p:sp>
        <p:nvSpPr>
          <p:cNvPr id="20495" name="Text Box 24"/>
          <p:cNvSpPr txBox="1">
            <a:spLocks noChangeArrowheads="1"/>
          </p:cNvSpPr>
          <p:nvPr/>
        </p:nvSpPr>
        <p:spPr bwMode="auto">
          <a:xfrm>
            <a:off x="4219575" y="47561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src1</a:t>
            </a:r>
          </a:p>
        </p:txBody>
      </p:sp>
      <p:sp>
        <p:nvSpPr>
          <p:cNvPr id="20496" name="Text Box 25"/>
          <p:cNvSpPr txBox="1">
            <a:spLocks noChangeArrowheads="1"/>
          </p:cNvSpPr>
          <p:nvPr/>
        </p:nvSpPr>
        <p:spPr bwMode="auto">
          <a:xfrm>
            <a:off x="5286375" y="4756150"/>
            <a:ext cx="1082675" cy="373063"/>
          </a:xfrm>
          <a:prstGeom prst="rect">
            <a:avLst/>
          </a:prstGeom>
          <a:solidFill>
            <a:srgbClr val="FFFF99"/>
          </a:solidFill>
          <a:ln w="9525">
            <a:solidFill>
              <a:schemeClr val="tx1"/>
            </a:solidFill>
            <a:miter lim="800000"/>
            <a:headEnd/>
            <a:tailEnd/>
          </a:ln>
        </p:spPr>
        <p:txBody>
          <a:bodyPr>
            <a:spAutoFit/>
          </a:bodyPr>
          <a:lstStyle/>
          <a:p>
            <a:pPr algn="ctr"/>
            <a:r>
              <a:rPr lang="en-US" b="1">
                <a:solidFill>
                  <a:schemeClr val="tx1"/>
                </a:solidFill>
                <a:latin typeface="AvantGarde"/>
              </a:rPr>
              <a:t>src1</a:t>
            </a:r>
          </a:p>
        </p:txBody>
      </p:sp>
      <p:grpSp>
        <p:nvGrpSpPr>
          <p:cNvPr id="20497" name="Group 26"/>
          <p:cNvGrpSpPr>
            <a:grpSpLocks/>
          </p:cNvGrpSpPr>
          <p:nvPr/>
        </p:nvGrpSpPr>
        <p:grpSpPr bwMode="auto">
          <a:xfrm>
            <a:off x="3457575" y="4375150"/>
            <a:ext cx="2209800" cy="762000"/>
            <a:chOff x="1968" y="1200"/>
            <a:chExt cx="1392" cy="480"/>
          </a:xfrm>
        </p:grpSpPr>
        <p:sp>
          <p:nvSpPr>
            <p:cNvPr id="20516" name="Line 27"/>
            <p:cNvSpPr>
              <a:spLocks noChangeShapeType="1"/>
            </p:cNvSpPr>
            <p:nvPr/>
          </p:nvSpPr>
          <p:spPr bwMode="auto">
            <a:xfrm flipV="1">
              <a:off x="1968" y="1200"/>
              <a:ext cx="0" cy="480"/>
            </a:xfrm>
            <a:prstGeom prst="line">
              <a:avLst/>
            </a:prstGeom>
            <a:noFill/>
            <a:ln w="38100">
              <a:solidFill>
                <a:srgbClr val="FF0000"/>
              </a:solidFill>
              <a:round/>
              <a:headEnd/>
              <a:tailEnd type="triangle" w="med" len="med"/>
            </a:ln>
          </p:spPr>
          <p:txBody>
            <a:bodyPr wrap="none" anchor="ctr"/>
            <a:lstStyle/>
            <a:p>
              <a:endParaRPr lang="en-CA"/>
            </a:p>
          </p:txBody>
        </p:sp>
        <p:sp>
          <p:nvSpPr>
            <p:cNvPr id="20517" name="Line 28"/>
            <p:cNvSpPr>
              <a:spLocks noChangeShapeType="1"/>
            </p:cNvSpPr>
            <p:nvPr/>
          </p:nvSpPr>
          <p:spPr bwMode="auto">
            <a:xfrm>
              <a:off x="1968" y="1488"/>
              <a:ext cx="1392" cy="0"/>
            </a:xfrm>
            <a:prstGeom prst="line">
              <a:avLst/>
            </a:prstGeom>
            <a:noFill/>
            <a:ln w="38100">
              <a:solidFill>
                <a:srgbClr val="FF0000"/>
              </a:solidFill>
              <a:round/>
              <a:headEnd/>
              <a:tailEnd/>
            </a:ln>
          </p:spPr>
          <p:txBody>
            <a:bodyPr wrap="none" anchor="ctr"/>
            <a:lstStyle/>
            <a:p>
              <a:endParaRPr lang="en-CA"/>
            </a:p>
          </p:txBody>
        </p:sp>
        <p:sp>
          <p:nvSpPr>
            <p:cNvPr id="20518" name="Line 29"/>
            <p:cNvSpPr>
              <a:spLocks noChangeShapeType="1"/>
            </p:cNvSpPr>
            <p:nvPr/>
          </p:nvSpPr>
          <p:spPr bwMode="auto">
            <a:xfrm flipV="1">
              <a:off x="2688" y="1200"/>
              <a:ext cx="0" cy="288"/>
            </a:xfrm>
            <a:prstGeom prst="line">
              <a:avLst/>
            </a:prstGeom>
            <a:noFill/>
            <a:ln w="38100">
              <a:solidFill>
                <a:srgbClr val="FF0000"/>
              </a:solidFill>
              <a:round/>
              <a:headEnd/>
              <a:tailEnd type="triangle" w="med" len="med"/>
            </a:ln>
          </p:spPr>
          <p:txBody>
            <a:bodyPr wrap="none" anchor="ctr"/>
            <a:lstStyle/>
            <a:p>
              <a:endParaRPr lang="en-CA"/>
            </a:p>
          </p:txBody>
        </p:sp>
        <p:sp>
          <p:nvSpPr>
            <p:cNvPr id="20519" name="Line 30"/>
            <p:cNvSpPr>
              <a:spLocks noChangeShapeType="1"/>
            </p:cNvSpPr>
            <p:nvPr/>
          </p:nvSpPr>
          <p:spPr bwMode="auto">
            <a:xfrm flipV="1">
              <a:off x="3360" y="1200"/>
              <a:ext cx="0" cy="288"/>
            </a:xfrm>
            <a:prstGeom prst="line">
              <a:avLst/>
            </a:prstGeom>
            <a:noFill/>
            <a:ln w="38100">
              <a:solidFill>
                <a:srgbClr val="FF0000"/>
              </a:solidFill>
              <a:round/>
              <a:headEnd/>
              <a:tailEnd type="triangle" w="med" len="med"/>
            </a:ln>
          </p:spPr>
          <p:txBody>
            <a:bodyPr wrap="none" anchor="ctr"/>
            <a:lstStyle/>
            <a:p>
              <a:endParaRPr lang="en-CA"/>
            </a:p>
          </p:txBody>
        </p:sp>
      </p:grpSp>
      <p:grpSp>
        <p:nvGrpSpPr>
          <p:cNvPr id="20498" name="Group 31"/>
          <p:cNvGrpSpPr>
            <a:grpSpLocks/>
          </p:cNvGrpSpPr>
          <p:nvPr/>
        </p:nvGrpSpPr>
        <p:grpSpPr bwMode="auto">
          <a:xfrm>
            <a:off x="3838575" y="4375150"/>
            <a:ext cx="1295400" cy="685800"/>
            <a:chOff x="2016" y="1200"/>
            <a:chExt cx="624" cy="432"/>
          </a:xfrm>
        </p:grpSpPr>
        <p:sp>
          <p:nvSpPr>
            <p:cNvPr id="20513" name="Line 32"/>
            <p:cNvSpPr>
              <a:spLocks noChangeShapeType="1"/>
            </p:cNvSpPr>
            <p:nvPr/>
          </p:nvSpPr>
          <p:spPr bwMode="auto">
            <a:xfrm>
              <a:off x="2016" y="1200"/>
              <a:ext cx="0" cy="192"/>
            </a:xfrm>
            <a:prstGeom prst="line">
              <a:avLst/>
            </a:prstGeom>
            <a:noFill/>
            <a:ln w="38100">
              <a:solidFill>
                <a:srgbClr val="008000"/>
              </a:solidFill>
              <a:round/>
              <a:headEnd type="arrow" w="med" len="med"/>
              <a:tailEnd/>
            </a:ln>
          </p:spPr>
          <p:txBody>
            <a:bodyPr wrap="none" anchor="ctr"/>
            <a:lstStyle/>
            <a:p>
              <a:endParaRPr lang="en-CA"/>
            </a:p>
          </p:txBody>
        </p:sp>
        <p:sp>
          <p:nvSpPr>
            <p:cNvPr id="20514" name="Line 33"/>
            <p:cNvSpPr>
              <a:spLocks noChangeShapeType="1"/>
            </p:cNvSpPr>
            <p:nvPr/>
          </p:nvSpPr>
          <p:spPr bwMode="auto">
            <a:xfrm>
              <a:off x="2016" y="1392"/>
              <a:ext cx="624" cy="0"/>
            </a:xfrm>
            <a:prstGeom prst="line">
              <a:avLst/>
            </a:prstGeom>
            <a:noFill/>
            <a:ln w="38100">
              <a:solidFill>
                <a:srgbClr val="008000"/>
              </a:solidFill>
              <a:round/>
              <a:headEnd/>
              <a:tailEnd/>
            </a:ln>
          </p:spPr>
          <p:txBody>
            <a:bodyPr wrap="none" anchor="ctr"/>
            <a:lstStyle/>
            <a:p>
              <a:endParaRPr lang="en-CA"/>
            </a:p>
          </p:txBody>
        </p:sp>
        <p:sp>
          <p:nvSpPr>
            <p:cNvPr id="20515" name="Line 34"/>
            <p:cNvSpPr>
              <a:spLocks noChangeShapeType="1"/>
            </p:cNvSpPr>
            <p:nvPr/>
          </p:nvSpPr>
          <p:spPr bwMode="auto">
            <a:xfrm>
              <a:off x="2640" y="1392"/>
              <a:ext cx="0" cy="240"/>
            </a:xfrm>
            <a:prstGeom prst="line">
              <a:avLst/>
            </a:prstGeom>
            <a:noFill/>
            <a:ln w="38100">
              <a:solidFill>
                <a:srgbClr val="008000"/>
              </a:solidFill>
              <a:round/>
              <a:headEnd/>
              <a:tailEnd/>
            </a:ln>
          </p:spPr>
          <p:txBody>
            <a:bodyPr wrap="none" anchor="ctr"/>
            <a:lstStyle/>
            <a:p>
              <a:endParaRPr lang="en-CA"/>
            </a:p>
          </p:txBody>
        </p:sp>
      </p:grpSp>
      <p:grpSp>
        <p:nvGrpSpPr>
          <p:cNvPr id="20499" name="Group 35"/>
          <p:cNvGrpSpPr>
            <a:grpSpLocks/>
          </p:cNvGrpSpPr>
          <p:nvPr/>
        </p:nvGrpSpPr>
        <p:grpSpPr bwMode="auto">
          <a:xfrm>
            <a:off x="4143375" y="4375150"/>
            <a:ext cx="2057400" cy="533400"/>
            <a:chOff x="2016" y="1200"/>
            <a:chExt cx="624" cy="432"/>
          </a:xfrm>
        </p:grpSpPr>
        <p:sp>
          <p:nvSpPr>
            <p:cNvPr id="20510" name="Line 36"/>
            <p:cNvSpPr>
              <a:spLocks noChangeShapeType="1"/>
            </p:cNvSpPr>
            <p:nvPr/>
          </p:nvSpPr>
          <p:spPr bwMode="auto">
            <a:xfrm>
              <a:off x="2016" y="1200"/>
              <a:ext cx="0" cy="192"/>
            </a:xfrm>
            <a:prstGeom prst="line">
              <a:avLst/>
            </a:prstGeom>
            <a:noFill/>
            <a:ln w="38100">
              <a:solidFill>
                <a:srgbClr val="008000"/>
              </a:solidFill>
              <a:round/>
              <a:headEnd type="arrow" w="med" len="med"/>
              <a:tailEnd/>
            </a:ln>
          </p:spPr>
          <p:txBody>
            <a:bodyPr wrap="none" anchor="ctr"/>
            <a:lstStyle/>
            <a:p>
              <a:endParaRPr lang="en-CA"/>
            </a:p>
          </p:txBody>
        </p:sp>
        <p:sp>
          <p:nvSpPr>
            <p:cNvPr id="20511" name="Line 37"/>
            <p:cNvSpPr>
              <a:spLocks noChangeShapeType="1"/>
            </p:cNvSpPr>
            <p:nvPr/>
          </p:nvSpPr>
          <p:spPr bwMode="auto">
            <a:xfrm>
              <a:off x="2016" y="1392"/>
              <a:ext cx="624" cy="0"/>
            </a:xfrm>
            <a:prstGeom prst="line">
              <a:avLst/>
            </a:prstGeom>
            <a:noFill/>
            <a:ln w="38100">
              <a:solidFill>
                <a:srgbClr val="008000"/>
              </a:solidFill>
              <a:round/>
              <a:headEnd/>
              <a:tailEnd/>
            </a:ln>
          </p:spPr>
          <p:txBody>
            <a:bodyPr wrap="none" anchor="ctr"/>
            <a:lstStyle/>
            <a:p>
              <a:endParaRPr lang="en-CA"/>
            </a:p>
          </p:txBody>
        </p:sp>
        <p:sp>
          <p:nvSpPr>
            <p:cNvPr id="20512" name="Line 38"/>
            <p:cNvSpPr>
              <a:spLocks noChangeShapeType="1"/>
            </p:cNvSpPr>
            <p:nvPr/>
          </p:nvSpPr>
          <p:spPr bwMode="auto">
            <a:xfrm>
              <a:off x="2640" y="1392"/>
              <a:ext cx="0" cy="240"/>
            </a:xfrm>
            <a:prstGeom prst="line">
              <a:avLst/>
            </a:prstGeom>
            <a:noFill/>
            <a:ln w="38100">
              <a:solidFill>
                <a:srgbClr val="008000"/>
              </a:solidFill>
              <a:round/>
              <a:headEnd/>
              <a:tailEnd/>
            </a:ln>
          </p:spPr>
          <p:txBody>
            <a:bodyPr wrap="none" anchor="ctr"/>
            <a:lstStyle/>
            <a:p>
              <a:endParaRPr lang="en-CA"/>
            </a:p>
          </p:txBody>
        </p:sp>
      </p:grpSp>
      <p:grpSp>
        <p:nvGrpSpPr>
          <p:cNvPr id="20500" name="Group 39"/>
          <p:cNvGrpSpPr>
            <a:grpSpLocks/>
          </p:cNvGrpSpPr>
          <p:nvPr/>
        </p:nvGrpSpPr>
        <p:grpSpPr bwMode="auto">
          <a:xfrm>
            <a:off x="3457575" y="3613150"/>
            <a:ext cx="2209800" cy="762000"/>
            <a:chOff x="1968" y="1200"/>
            <a:chExt cx="1392" cy="480"/>
          </a:xfrm>
        </p:grpSpPr>
        <p:sp>
          <p:nvSpPr>
            <p:cNvPr id="20506" name="Line 40"/>
            <p:cNvSpPr>
              <a:spLocks noChangeShapeType="1"/>
            </p:cNvSpPr>
            <p:nvPr/>
          </p:nvSpPr>
          <p:spPr bwMode="auto">
            <a:xfrm flipV="1">
              <a:off x="1968" y="1200"/>
              <a:ext cx="0" cy="480"/>
            </a:xfrm>
            <a:prstGeom prst="line">
              <a:avLst/>
            </a:prstGeom>
            <a:noFill/>
            <a:ln w="38100">
              <a:solidFill>
                <a:srgbClr val="FF0000"/>
              </a:solidFill>
              <a:round/>
              <a:headEnd/>
              <a:tailEnd type="triangle" w="med" len="med"/>
            </a:ln>
          </p:spPr>
          <p:txBody>
            <a:bodyPr wrap="none" anchor="ctr"/>
            <a:lstStyle/>
            <a:p>
              <a:endParaRPr lang="en-CA"/>
            </a:p>
          </p:txBody>
        </p:sp>
        <p:sp>
          <p:nvSpPr>
            <p:cNvPr id="20507" name="Line 41"/>
            <p:cNvSpPr>
              <a:spLocks noChangeShapeType="1"/>
            </p:cNvSpPr>
            <p:nvPr/>
          </p:nvSpPr>
          <p:spPr bwMode="auto">
            <a:xfrm>
              <a:off x="1968" y="1488"/>
              <a:ext cx="1392" cy="0"/>
            </a:xfrm>
            <a:prstGeom prst="line">
              <a:avLst/>
            </a:prstGeom>
            <a:noFill/>
            <a:ln w="38100">
              <a:solidFill>
                <a:srgbClr val="FF0000"/>
              </a:solidFill>
              <a:round/>
              <a:headEnd/>
              <a:tailEnd/>
            </a:ln>
          </p:spPr>
          <p:txBody>
            <a:bodyPr wrap="none" anchor="ctr"/>
            <a:lstStyle/>
            <a:p>
              <a:endParaRPr lang="en-CA"/>
            </a:p>
          </p:txBody>
        </p:sp>
        <p:sp>
          <p:nvSpPr>
            <p:cNvPr id="20508" name="Line 42"/>
            <p:cNvSpPr>
              <a:spLocks noChangeShapeType="1"/>
            </p:cNvSpPr>
            <p:nvPr/>
          </p:nvSpPr>
          <p:spPr bwMode="auto">
            <a:xfrm flipV="1">
              <a:off x="2688" y="1200"/>
              <a:ext cx="0" cy="288"/>
            </a:xfrm>
            <a:prstGeom prst="line">
              <a:avLst/>
            </a:prstGeom>
            <a:noFill/>
            <a:ln w="38100">
              <a:solidFill>
                <a:srgbClr val="FF0000"/>
              </a:solidFill>
              <a:round/>
              <a:headEnd/>
              <a:tailEnd type="triangle" w="med" len="med"/>
            </a:ln>
          </p:spPr>
          <p:txBody>
            <a:bodyPr wrap="none" anchor="ctr"/>
            <a:lstStyle/>
            <a:p>
              <a:endParaRPr lang="en-CA"/>
            </a:p>
          </p:txBody>
        </p:sp>
        <p:sp>
          <p:nvSpPr>
            <p:cNvPr id="20509" name="Line 43"/>
            <p:cNvSpPr>
              <a:spLocks noChangeShapeType="1"/>
            </p:cNvSpPr>
            <p:nvPr/>
          </p:nvSpPr>
          <p:spPr bwMode="auto">
            <a:xfrm flipV="1">
              <a:off x="3360" y="1200"/>
              <a:ext cx="0" cy="288"/>
            </a:xfrm>
            <a:prstGeom prst="line">
              <a:avLst/>
            </a:prstGeom>
            <a:noFill/>
            <a:ln w="38100">
              <a:solidFill>
                <a:srgbClr val="FF0000"/>
              </a:solidFill>
              <a:round/>
              <a:headEnd/>
              <a:tailEnd type="triangle" w="med" len="med"/>
            </a:ln>
          </p:spPr>
          <p:txBody>
            <a:bodyPr wrap="none" anchor="ctr"/>
            <a:lstStyle/>
            <a:p>
              <a:endParaRPr lang="en-CA"/>
            </a:p>
          </p:txBody>
        </p:sp>
      </p:grpSp>
      <p:sp>
        <p:nvSpPr>
          <p:cNvPr id="20501" name="Line 44"/>
          <p:cNvSpPr>
            <a:spLocks noChangeShapeType="1"/>
          </p:cNvSpPr>
          <p:nvPr/>
        </p:nvSpPr>
        <p:spPr bwMode="auto">
          <a:xfrm flipV="1">
            <a:off x="3838575" y="3536950"/>
            <a:ext cx="0" cy="838200"/>
          </a:xfrm>
          <a:prstGeom prst="line">
            <a:avLst/>
          </a:prstGeom>
          <a:noFill/>
          <a:ln w="38100">
            <a:solidFill>
              <a:srgbClr val="008000"/>
            </a:solidFill>
            <a:round/>
            <a:headEnd/>
            <a:tailEnd type="arrow" w="med" len="med"/>
          </a:ln>
        </p:spPr>
        <p:txBody>
          <a:bodyPr wrap="none" anchor="ctr"/>
          <a:lstStyle/>
          <a:p>
            <a:endParaRPr lang="en-CA"/>
          </a:p>
        </p:txBody>
      </p:sp>
      <p:sp>
        <p:nvSpPr>
          <p:cNvPr id="20502" name="Line 45"/>
          <p:cNvSpPr>
            <a:spLocks noChangeShapeType="1"/>
          </p:cNvSpPr>
          <p:nvPr/>
        </p:nvSpPr>
        <p:spPr bwMode="auto">
          <a:xfrm flipV="1">
            <a:off x="4143375" y="3536950"/>
            <a:ext cx="0" cy="838200"/>
          </a:xfrm>
          <a:prstGeom prst="line">
            <a:avLst/>
          </a:prstGeom>
          <a:noFill/>
          <a:ln w="38100">
            <a:solidFill>
              <a:srgbClr val="008000"/>
            </a:solidFill>
            <a:round/>
            <a:headEnd/>
            <a:tailEnd type="arrow" w="med" len="med"/>
          </a:ln>
        </p:spPr>
        <p:txBody>
          <a:bodyPr wrap="none" anchor="ctr"/>
          <a:lstStyle/>
          <a:p>
            <a:endParaRPr lang="en-CA"/>
          </a:p>
        </p:txBody>
      </p:sp>
      <p:sp>
        <p:nvSpPr>
          <p:cNvPr id="20503" name="Line 47"/>
          <p:cNvSpPr>
            <a:spLocks noChangeShapeType="1"/>
          </p:cNvSpPr>
          <p:nvPr/>
        </p:nvSpPr>
        <p:spPr bwMode="auto">
          <a:xfrm>
            <a:off x="2847975" y="3232150"/>
            <a:ext cx="0" cy="1981200"/>
          </a:xfrm>
          <a:prstGeom prst="line">
            <a:avLst/>
          </a:prstGeom>
          <a:noFill/>
          <a:ln w="38100">
            <a:solidFill>
              <a:srgbClr val="FF8E41"/>
            </a:solidFill>
            <a:round/>
            <a:headEnd/>
            <a:tailEnd type="triangle" w="med" len="med"/>
          </a:ln>
        </p:spPr>
        <p:txBody>
          <a:bodyPr/>
          <a:lstStyle/>
          <a:p>
            <a:endParaRPr lang="en-CA"/>
          </a:p>
        </p:txBody>
      </p:sp>
      <p:sp>
        <p:nvSpPr>
          <p:cNvPr id="20504" name="Text Box 48"/>
          <p:cNvSpPr txBox="1">
            <a:spLocks noChangeArrowheads="1"/>
          </p:cNvSpPr>
          <p:nvPr/>
        </p:nvSpPr>
        <p:spPr bwMode="auto">
          <a:xfrm rot="-5400000">
            <a:off x="1705769" y="4029869"/>
            <a:ext cx="1835150" cy="325438"/>
          </a:xfrm>
          <a:prstGeom prst="rect">
            <a:avLst/>
          </a:prstGeom>
          <a:noFill/>
          <a:ln w="9525">
            <a:noFill/>
            <a:miter lim="800000"/>
            <a:headEnd/>
            <a:tailEnd/>
          </a:ln>
        </p:spPr>
        <p:txBody>
          <a:bodyPr wrap="none">
            <a:spAutoFit/>
          </a:bodyPr>
          <a:lstStyle/>
          <a:p>
            <a:r>
              <a:rPr lang="en-US" sz="2000">
                <a:solidFill>
                  <a:schemeClr val="tx1"/>
                </a:solidFill>
              </a:rPr>
              <a:t>Program order</a:t>
            </a:r>
          </a:p>
        </p:txBody>
      </p:sp>
      <p:sp>
        <p:nvSpPr>
          <p:cNvPr id="20505" name="TextBox 50"/>
          <p:cNvSpPr txBox="1">
            <a:spLocks noChangeArrowheads="1"/>
          </p:cNvSpPr>
          <p:nvPr/>
        </p:nvSpPr>
        <p:spPr bwMode="auto">
          <a:xfrm>
            <a:off x="974725" y="5449888"/>
            <a:ext cx="7240588" cy="560387"/>
          </a:xfrm>
          <a:prstGeom prst="rect">
            <a:avLst/>
          </a:prstGeom>
          <a:noFill/>
          <a:ln w="9525">
            <a:noFill/>
            <a:miter lim="800000"/>
            <a:headEnd/>
            <a:tailEnd/>
          </a:ln>
        </p:spPr>
        <p:txBody>
          <a:bodyPr wrap="none">
            <a:spAutoFit/>
          </a:bodyPr>
          <a:lstStyle/>
          <a:p>
            <a:r>
              <a:rPr lang="en-CA" sz="2000">
                <a:solidFill>
                  <a:schemeClr val="tx1"/>
                </a:solidFill>
              </a:rPr>
              <a:t>Above: Comparisons to avoid RAW, WAR, and WAW hazards </a:t>
            </a:r>
          </a:p>
          <a:p>
            <a:r>
              <a:rPr lang="en-CA" sz="2000">
                <a:solidFill>
                  <a:schemeClr val="tx1"/>
                </a:solidFill>
              </a:rPr>
              <a:t>in a 3-wide in-order superscalar.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a:xfrm>
            <a:off x="685800" y="0"/>
            <a:ext cx="7772400" cy="1143000"/>
          </a:xfrm>
        </p:spPr>
        <p:txBody>
          <a:bodyPr/>
          <a:lstStyle/>
          <a:p>
            <a:pPr eaLnBrk="1" hangingPunct="1">
              <a:lnSpc>
                <a:spcPct val="134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Arial  " charset="0"/>
                <a:cs typeface="Arial  " charset="0"/>
              </a:rPr>
              <a:t>2-Issue In-order Superscalar</a:t>
            </a:r>
          </a:p>
        </p:txBody>
      </p:sp>
      <p:sp>
        <p:nvSpPr>
          <p:cNvPr id="21507" name="Rectangle 2"/>
          <p:cNvSpPr>
            <a:spLocks noGrp="1" noChangeArrowheads="1"/>
          </p:cNvSpPr>
          <p:nvPr>
            <p:ph type="body" idx="1"/>
          </p:nvPr>
        </p:nvSpPr>
        <p:spPr>
          <a:xfrm>
            <a:off x="457200" y="3959225"/>
            <a:ext cx="8153400" cy="1238250"/>
          </a:xfrm>
        </p:spPr>
        <p:txBody>
          <a:bodyPr/>
          <a:lstStyle/>
          <a:p>
            <a:pPr eaLnBrk="1" hangingPunct="1">
              <a:spcBef>
                <a:spcPts val="5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a:latin typeface="Arial  " charset="0"/>
                <a:cs typeface="Arial  " charset="0"/>
              </a:rPr>
              <a:t>Issue restriction: At most </a:t>
            </a:r>
            <a:r>
              <a:rPr lang="en-GB" sz="1800" u="sng">
                <a:latin typeface="Arial  " charset="0"/>
                <a:cs typeface="Arial  " charset="0"/>
              </a:rPr>
              <a:t>one</a:t>
            </a:r>
            <a:r>
              <a:rPr lang="en-GB" sz="1800">
                <a:latin typeface="Arial  " charset="0"/>
                <a:cs typeface="Arial  " charset="0"/>
              </a:rPr>
              <a:t> Integer and </a:t>
            </a:r>
            <a:r>
              <a:rPr lang="en-GB" sz="1800" u="sng">
                <a:latin typeface="Arial  " charset="0"/>
                <a:cs typeface="Arial  " charset="0"/>
              </a:rPr>
              <a:t>one</a:t>
            </a:r>
            <a:r>
              <a:rPr lang="en-GB" sz="1800">
                <a:latin typeface="Arial  " charset="0"/>
                <a:cs typeface="Arial  " charset="0"/>
              </a:rPr>
              <a:t> Floating Point operation can issue per cycle (this organization was used in the HP 7100 processor).</a:t>
            </a:r>
          </a:p>
          <a:p>
            <a:pPr eaLnBrk="1" hangingPunct="1">
              <a:spcBef>
                <a:spcPts val="5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sz="1800">
                <a:latin typeface="Arial  " charset="0"/>
                <a:cs typeface="Arial  " charset="0"/>
              </a:rPr>
              <a:t>Challenge maintaining peak throughput: Next 3 instructions cannot use result of load; branch delay 4-5 instructions (if resolve in execute).</a:t>
            </a:r>
            <a:endParaRPr lang="en-GB" sz="2000">
              <a:latin typeface="Arial  " charset="0"/>
              <a:cs typeface="Arial  " charset="0"/>
            </a:endParaRPr>
          </a:p>
        </p:txBody>
      </p:sp>
      <p:grpSp>
        <p:nvGrpSpPr>
          <p:cNvPr id="21508" name="Group 3"/>
          <p:cNvGrpSpPr>
            <a:grpSpLocks/>
          </p:cNvGrpSpPr>
          <p:nvPr/>
        </p:nvGrpSpPr>
        <p:grpSpPr bwMode="auto">
          <a:xfrm>
            <a:off x="455613" y="1346200"/>
            <a:ext cx="8085137" cy="2500313"/>
            <a:chOff x="287" y="848"/>
            <a:chExt cx="5093" cy="1575"/>
          </a:xfrm>
        </p:grpSpPr>
        <p:sp>
          <p:nvSpPr>
            <p:cNvPr id="21512" name="Rectangle 4"/>
            <p:cNvSpPr>
              <a:spLocks noChangeArrowheads="1"/>
            </p:cNvSpPr>
            <p:nvPr/>
          </p:nvSpPr>
          <p:spPr bwMode="auto">
            <a:xfrm>
              <a:off x="4893" y="2223"/>
              <a:ext cx="487"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WB</a:t>
              </a:r>
            </a:p>
          </p:txBody>
        </p:sp>
        <p:sp>
          <p:nvSpPr>
            <p:cNvPr id="21513" name="Rectangle 5"/>
            <p:cNvSpPr>
              <a:spLocks noChangeArrowheads="1"/>
            </p:cNvSpPr>
            <p:nvPr/>
          </p:nvSpPr>
          <p:spPr bwMode="auto">
            <a:xfrm>
              <a:off x="4396" y="2223"/>
              <a:ext cx="497"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14" name="Rectangle 6"/>
            <p:cNvSpPr>
              <a:spLocks noChangeArrowheads="1"/>
            </p:cNvSpPr>
            <p:nvPr/>
          </p:nvSpPr>
          <p:spPr bwMode="auto">
            <a:xfrm>
              <a:off x="3948" y="2223"/>
              <a:ext cx="448"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15" name="Rectangle 7"/>
            <p:cNvSpPr>
              <a:spLocks noChangeArrowheads="1"/>
            </p:cNvSpPr>
            <p:nvPr/>
          </p:nvSpPr>
          <p:spPr bwMode="auto">
            <a:xfrm>
              <a:off x="3463" y="2223"/>
              <a:ext cx="485"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16" name="Rectangle 8"/>
            <p:cNvSpPr>
              <a:spLocks noChangeArrowheads="1"/>
            </p:cNvSpPr>
            <p:nvPr/>
          </p:nvSpPr>
          <p:spPr bwMode="auto">
            <a:xfrm>
              <a:off x="2966" y="2223"/>
              <a:ext cx="497"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ID</a:t>
              </a:r>
            </a:p>
          </p:txBody>
        </p:sp>
        <p:sp>
          <p:nvSpPr>
            <p:cNvPr id="21517" name="Rectangle 9"/>
            <p:cNvSpPr>
              <a:spLocks noChangeArrowheads="1"/>
            </p:cNvSpPr>
            <p:nvPr/>
          </p:nvSpPr>
          <p:spPr bwMode="auto">
            <a:xfrm>
              <a:off x="2481" y="2223"/>
              <a:ext cx="485"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IF</a:t>
              </a:r>
            </a:p>
          </p:txBody>
        </p:sp>
        <p:sp>
          <p:nvSpPr>
            <p:cNvPr id="21518" name="Rectangle 10"/>
            <p:cNvSpPr>
              <a:spLocks noChangeArrowheads="1"/>
            </p:cNvSpPr>
            <p:nvPr/>
          </p:nvSpPr>
          <p:spPr bwMode="auto">
            <a:xfrm>
              <a:off x="2021" y="2223"/>
              <a:ext cx="460" cy="200"/>
            </a:xfrm>
            <a:prstGeom prst="rect">
              <a:avLst/>
            </a:prstGeom>
            <a:noFill/>
            <a:ln w="9525">
              <a:noFill/>
              <a:round/>
              <a:headEnd/>
              <a:tailEnd/>
            </a:ln>
          </p:spPr>
          <p:txBody>
            <a:bodyPr wrap="none" anchor="ctr"/>
            <a:lstStyle/>
            <a:p>
              <a:endParaRPr lang="en-US">
                <a:cs typeface="Arial" pitchFamily="34" charset="0"/>
              </a:endParaRPr>
            </a:p>
          </p:txBody>
        </p:sp>
        <p:sp>
          <p:nvSpPr>
            <p:cNvPr id="21519" name="Rectangle 11"/>
            <p:cNvSpPr>
              <a:spLocks noChangeArrowheads="1"/>
            </p:cNvSpPr>
            <p:nvPr/>
          </p:nvSpPr>
          <p:spPr bwMode="auto">
            <a:xfrm>
              <a:off x="1596" y="2223"/>
              <a:ext cx="425" cy="200"/>
            </a:xfrm>
            <a:prstGeom prst="rect">
              <a:avLst/>
            </a:prstGeom>
            <a:noFill/>
            <a:ln w="9525">
              <a:noFill/>
              <a:round/>
              <a:headEnd/>
              <a:tailEnd/>
            </a:ln>
          </p:spPr>
          <p:txBody>
            <a:bodyPr wrap="none" anchor="ctr"/>
            <a:lstStyle/>
            <a:p>
              <a:endParaRPr lang="en-US">
                <a:cs typeface="Arial" pitchFamily="34" charset="0"/>
              </a:endParaRPr>
            </a:p>
          </p:txBody>
        </p:sp>
        <p:sp>
          <p:nvSpPr>
            <p:cNvPr id="21520" name="Rectangle 12"/>
            <p:cNvSpPr>
              <a:spLocks noChangeArrowheads="1"/>
            </p:cNvSpPr>
            <p:nvPr/>
          </p:nvSpPr>
          <p:spPr bwMode="auto">
            <a:xfrm>
              <a:off x="287" y="2223"/>
              <a:ext cx="1309" cy="200"/>
            </a:xfrm>
            <a:prstGeom prst="rect">
              <a:avLst/>
            </a:prstGeom>
            <a:noFill/>
            <a:ln w="9525">
              <a:noFill/>
              <a:round/>
              <a:headEnd/>
              <a:tailEnd/>
            </a:ln>
          </p:spPr>
          <p:txBody>
            <a:bodyPr lIns="90000" tIns="46800" rIns="90000" bIns="46800" anchor="ctr"/>
            <a:lstStyle/>
            <a:p>
              <a:pP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FP instruction</a:t>
              </a:r>
            </a:p>
          </p:txBody>
        </p:sp>
        <p:sp>
          <p:nvSpPr>
            <p:cNvPr id="21521" name="Rectangle 13"/>
            <p:cNvSpPr>
              <a:spLocks noChangeArrowheads="1"/>
            </p:cNvSpPr>
            <p:nvPr/>
          </p:nvSpPr>
          <p:spPr bwMode="auto">
            <a:xfrm>
              <a:off x="4893" y="2023"/>
              <a:ext cx="487" cy="200"/>
            </a:xfrm>
            <a:prstGeom prst="rect">
              <a:avLst/>
            </a:prstGeom>
            <a:noFill/>
            <a:ln w="9525">
              <a:noFill/>
              <a:round/>
              <a:headEnd/>
              <a:tailEnd/>
            </a:ln>
          </p:spPr>
          <p:txBody>
            <a:bodyPr wrap="none" anchor="ctr"/>
            <a:lstStyle/>
            <a:p>
              <a:endParaRPr lang="en-US">
                <a:cs typeface="Arial" pitchFamily="34" charset="0"/>
              </a:endParaRPr>
            </a:p>
          </p:txBody>
        </p:sp>
        <p:sp>
          <p:nvSpPr>
            <p:cNvPr id="21522" name="Rectangle 14"/>
            <p:cNvSpPr>
              <a:spLocks noChangeArrowheads="1"/>
            </p:cNvSpPr>
            <p:nvPr/>
          </p:nvSpPr>
          <p:spPr bwMode="auto">
            <a:xfrm>
              <a:off x="4396" y="2023"/>
              <a:ext cx="497"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WB</a:t>
              </a:r>
            </a:p>
          </p:txBody>
        </p:sp>
        <p:sp>
          <p:nvSpPr>
            <p:cNvPr id="21523" name="Rectangle 15"/>
            <p:cNvSpPr>
              <a:spLocks noChangeArrowheads="1"/>
            </p:cNvSpPr>
            <p:nvPr/>
          </p:nvSpPr>
          <p:spPr bwMode="auto">
            <a:xfrm>
              <a:off x="3948" y="2023"/>
              <a:ext cx="448"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MEM</a:t>
              </a:r>
            </a:p>
          </p:txBody>
        </p:sp>
        <p:sp>
          <p:nvSpPr>
            <p:cNvPr id="21524" name="Rectangle 16"/>
            <p:cNvSpPr>
              <a:spLocks noChangeArrowheads="1"/>
            </p:cNvSpPr>
            <p:nvPr/>
          </p:nvSpPr>
          <p:spPr bwMode="auto">
            <a:xfrm>
              <a:off x="3463" y="2023"/>
              <a:ext cx="485"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25" name="Rectangle 17"/>
            <p:cNvSpPr>
              <a:spLocks noChangeArrowheads="1"/>
            </p:cNvSpPr>
            <p:nvPr/>
          </p:nvSpPr>
          <p:spPr bwMode="auto">
            <a:xfrm>
              <a:off x="2966" y="2023"/>
              <a:ext cx="497"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ID</a:t>
              </a:r>
            </a:p>
          </p:txBody>
        </p:sp>
        <p:sp>
          <p:nvSpPr>
            <p:cNvPr id="21526" name="Rectangle 18"/>
            <p:cNvSpPr>
              <a:spLocks noChangeArrowheads="1"/>
            </p:cNvSpPr>
            <p:nvPr/>
          </p:nvSpPr>
          <p:spPr bwMode="auto">
            <a:xfrm>
              <a:off x="2481" y="2023"/>
              <a:ext cx="485"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IF</a:t>
              </a:r>
            </a:p>
          </p:txBody>
        </p:sp>
        <p:sp>
          <p:nvSpPr>
            <p:cNvPr id="21527" name="Rectangle 19"/>
            <p:cNvSpPr>
              <a:spLocks noChangeArrowheads="1"/>
            </p:cNvSpPr>
            <p:nvPr/>
          </p:nvSpPr>
          <p:spPr bwMode="auto">
            <a:xfrm>
              <a:off x="2021" y="2023"/>
              <a:ext cx="460" cy="200"/>
            </a:xfrm>
            <a:prstGeom prst="rect">
              <a:avLst/>
            </a:prstGeom>
            <a:noFill/>
            <a:ln w="9525">
              <a:noFill/>
              <a:round/>
              <a:headEnd/>
              <a:tailEnd/>
            </a:ln>
          </p:spPr>
          <p:txBody>
            <a:bodyPr wrap="none" anchor="ctr"/>
            <a:lstStyle/>
            <a:p>
              <a:endParaRPr lang="en-US">
                <a:cs typeface="Arial" pitchFamily="34" charset="0"/>
              </a:endParaRPr>
            </a:p>
          </p:txBody>
        </p:sp>
        <p:sp>
          <p:nvSpPr>
            <p:cNvPr id="21528" name="Rectangle 20"/>
            <p:cNvSpPr>
              <a:spLocks noChangeArrowheads="1"/>
            </p:cNvSpPr>
            <p:nvPr/>
          </p:nvSpPr>
          <p:spPr bwMode="auto">
            <a:xfrm>
              <a:off x="1596" y="2023"/>
              <a:ext cx="425" cy="200"/>
            </a:xfrm>
            <a:prstGeom prst="rect">
              <a:avLst/>
            </a:prstGeom>
            <a:noFill/>
            <a:ln w="9525">
              <a:noFill/>
              <a:round/>
              <a:headEnd/>
              <a:tailEnd/>
            </a:ln>
          </p:spPr>
          <p:txBody>
            <a:bodyPr wrap="none" anchor="ctr"/>
            <a:lstStyle/>
            <a:p>
              <a:endParaRPr lang="en-US">
                <a:cs typeface="Arial" pitchFamily="34" charset="0"/>
              </a:endParaRPr>
            </a:p>
          </p:txBody>
        </p:sp>
        <p:sp>
          <p:nvSpPr>
            <p:cNvPr id="21529" name="Rectangle 21"/>
            <p:cNvSpPr>
              <a:spLocks noChangeArrowheads="1"/>
            </p:cNvSpPr>
            <p:nvPr/>
          </p:nvSpPr>
          <p:spPr bwMode="auto">
            <a:xfrm>
              <a:off x="287" y="2023"/>
              <a:ext cx="1309" cy="200"/>
            </a:xfrm>
            <a:prstGeom prst="rect">
              <a:avLst/>
            </a:prstGeom>
            <a:noFill/>
            <a:ln w="9525">
              <a:noFill/>
              <a:round/>
              <a:headEnd/>
              <a:tailEnd/>
            </a:ln>
          </p:spPr>
          <p:txBody>
            <a:bodyPr lIns="90000" tIns="46800" rIns="90000" bIns="46800" anchor="ctr"/>
            <a:lstStyle/>
            <a:p>
              <a:pP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integer instruction</a:t>
              </a:r>
            </a:p>
          </p:txBody>
        </p:sp>
        <p:sp>
          <p:nvSpPr>
            <p:cNvPr id="21530" name="Rectangle 22"/>
            <p:cNvSpPr>
              <a:spLocks noChangeArrowheads="1"/>
            </p:cNvSpPr>
            <p:nvPr/>
          </p:nvSpPr>
          <p:spPr bwMode="auto">
            <a:xfrm>
              <a:off x="4893" y="1823"/>
              <a:ext cx="487" cy="200"/>
            </a:xfrm>
            <a:prstGeom prst="rect">
              <a:avLst/>
            </a:prstGeom>
            <a:noFill/>
            <a:ln w="9525">
              <a:noFill/>
              <a:round/>
              <a:headEnd/>
              <a:tailEnd/>
            </a:ln>
          </p:spPr>
          <p:txBody>
            <a:bodyPr wrap="none" anchor="ctr"/>
            <a:lstStyle/>
            <a:p>
              <a:endParaRPr lang="en-US">
                <a:cs typeface="Arial" pitchFamily="34" charset="0"/>
              </a:endParaRPr>
            </a:p>
          </p:txBody>
        </p:sp>
        <p:sp>
          <p:nvSpPr>
            <p:cNvPr id="21531" name="Rectangle 23"/>
            <p:cNvSpPr>
              <a:spLocks noChangeArrowheads="1"/>
            </p:cNvSpPr>
            <p:nvPr/>
          </p:nvSpPr>
          <p:spPr bwMode="auto">
            <a:xfrm>
              <a:off x="4396" y="1823"/>
              <a:ext cx="497"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WB</a:t>
              </a:r>
            </a:p>
          </p:txBody>
        </p:sp>
        <p:sp>
          <p:nvSpPr>
            <p:cNvPr id="21532" name="Rectangle 24"/>
            <p:cNvSpPr>
              <a:spLocks noChangeArrowheads="1"/>
            </p:cNvSpPr>
            <p:nvPr/>
          </p:nvSpPr>
          <p:spPr bwMode="auto">
            <a:xfrm>
              <a:off x="3948" y="1823"/>
              <a:ext cx="448"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33" name="Rectangle 25"/>
            <p:cNvSpPr>
              <a:spLocks noChangeArrowheads="1"/>
            </p:cNvSpPr>
            <p:nvPr/>
          </p:nvSpPr>
          <p:spPr bwMode="auto">
            <a:xfrm>
              <a:off x="3463" y="1823"/>
              <a:ext cx="485"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34" name="Rectangle 26"/>
            <p:cNvSpPr>
              <a:spLocks noChangeArrowheads="1"/>
            </p:cNvSpPr>
            <p:nvPr/>
          </p:nvSpPr>
          <p:spPr bwMode="auto">
            <a:xfrm>
              <a:off x="2966" y="1823"/>
              <a:ext cx="497"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35" name="Rectangle 27"/>
            <p:cNvSpPr>
              <a:spLocks noChangeArrowheads="1"/>
            </p:cNvSpPr>
            <p:nvPr/>
          </p:nvSpPr>
          <p:spPr bwMode="auto">
            <a:xfrm>
              <a:off x="2481" y="1823"/>
              <a:ext cx="485"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ID</a:t>
              </a:r>
            </a:p>
          </p:txBody>
        </p:sp>
        <p:sp>
          <p:nvSpPr>
            <p:cNvPr id="21536" name="Rectangle 28"/>
            <p:cNvSpPr>
              <a:spLocks noChangeArrowheads="1"/>
            </p:cNvSpPr>
            <p:nvPr/>
          </p:nvSpPr>
          <p:spPr bwMode="auto">
            <a:xfrm>
              <a:off x="2021" y="1823"/>
              <a:ext cx="460" cy="200"/>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IF</a:t>
              </a:r>
            </a:p>
          </p:txBody>
        </p:sp>
        <p:sp>
          <p:nvSpPr>
            <p:cNvPr id="21537" name="Rectangle 29"/>
            <p:cNvSpPr>
              <a:spLocks noChangeArrowheads="1"/>
            </p:cNvSpPr>
            <p:nvPr/>
          </p:nvSpPr>
          <p:spPr bwMode="auto">
            <a:xfrm>
              <a:off x="1596" y="1823"/>
              <a:ext cx="425" cy="200"/>
            </a:xfrm>
            <a:prstGeom prst="rect">
              <a:avLst/>
            </a:prstGeom>
            <a:noFill/>
            <a:ln w="9525">
              <a:noFill/>
              <a:round/>
              <a:headEnd/>
              <a:tailEnd/>
            </a:ln>
          </p:spPr>
          <p:txBody>
            <a:bodyPr wrap="none" anchor="ctr"/>
            <a:lstStyle/>
            <a:p>
              <a:endParaRPr lang="en-US">
                <a:cs typeface="Arial" pitchFamily="34" charset="0"/>
              </a:endParaRPr>
            </a:p>
          </p:txBody>
        </p:sp>
        <p:sp>
          <p:nvSpPr>
            <p:cNvPr id="21538" name="Rectangle 30"/>
            <p:cNvSpPr>
              <a:spLocks noChangeArrowheads="1"/>
            </p:cNvSpPr>
            <p:nvPr/>
          </p:nvSpPr>
          <p:spPr bwMode="auto">
            <a:xfrm>
              <a:off x="287" y="1823"/>
              <a:ext cx="1309" cy="200"/>
            </a:xfrm>
            <a:prstGeom prst="rect">
              <a:avLst/>
            </a:prstGeom>
            <a:noFill/>
            <a:ln w="9525">
              <a:noFill/>
              <a:round/>
              <a:headEnd/>
              <a:tailEnd/>
            </a:ln>
          </p:spPr>
          <p:txBody>
            <a:bodyPr lIns="90000" tIns="46800" rIns="90000" bIns="46800" anchor="ctr"/>
            <a:lstStyle/>
            <a:p>
              <a:pP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FP instruction</a:t>
              </a:r>
            </a:p>
          </p:txBody>
        </p:sp>
        <p:sp>
          <p:nvSpPr>
            <p:cNvPr id="21539" name="Rectangle 31"/>
            <p:cNvSpPr>
              <a:spLocks noChangeArrowheads="1"/>
            </p:cNvSpPr>
            <p:nvPr/>
          </p:nvSpPr>
          <p:spPr bwMode="auto">
            <a:xfrm>
              <a:off x="4893" y="1632"/>
              <a:ext cx="487" cy="191"/>
            </a:xfrm>
            <a:prstGeom prst="rect">
              <a:avLst/>
            </a:prstGeom>
            <a:noFill/>
            <a:ln w="9525">
              <a:noFill/>
              <a:round/>
              <a:headEnd/>
              <a:tailEnd/>
            </a:ln>
          </p:spPr>
          <p:txBody>
            <a:bodyPr wrap="none" anchor="ctr"/>
            <a:lstStyle/>
            <a:p>
              <a:endParaRPr lang="en-US">
                <a:cs typeface="Arial" pitchFamily="34" charset="0"/>
              </a:endParaRPr>
            </a:p>
          </p:txBody>
        </p:sp>
        <p:sp>
          <p:nvSpPr>
            <p:cNvPr id="21540" name="Rectangle 32"/>
            <p:cNvSpPr>
              <a:spLocks noChangeArrowheads="1"/>
            </p:cNvSpPr>
            <p:nvPr/>
          </p:nvSpPr>
          <p:spPr bwMode="auto">
            <a:xfrm>
              <a:off x="4396" y="1632"/>
              <a:ext cx="497" cy="191"/>
            </a:xfrm>
            <a:prstGeom prst="rect">
              <a:avLst/>
            </a:prstGeom>
            <a:noFill/>
            <a:ln w="9525">
              <a:noFill/>
              <a:round/>
              <a:headEnd/>
              <a:tailEnd/>
            </a:ln>
          </p:spPr>
          <p:txBody>
            <a:bodyPr wrap="none" anchor="ctr"/>
            <a:lstStyle/>
            <a:p>
              <a:endParaRPr lang="en-US">
                <a:cs typeface="Arial" pitchFamily="34" charset="0"/>
              </a:endParaRPr>
            </a:p>
          </p:txBody>
        </p:sp>
        <p:sp>
          <p:nvSpPr>
            <p:cNvPr id="21541" name="Rectangle 33"/>
            <p:cNvSpPr>
              <a:spLocks noChangeArrowheads="1"/>
            </p:cNvSpPr>
            <p:nvPr/>
          </p:nvSpPr>
          <p:spPr bwMode="auto">
            <a:xfrm>
              <a:off x="3948" y="1632"/>
              <a:ext cx="448"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WB</a:t>
              </a:r>
            </a:p>
          </p:txBody>
        </p:sp>
        <p:sp>
          <p:nvSpPr>
            <p:cNvPr id="21542" name="Rectangle 34"/>
            <p:cNvSpPr>
              <a:spLocks noChangeArrowheads="1"/>
            </p:cNvSpPr>
            <p:nvPr/>
          </p:nvSpPr>
          <p:spPr bwMode="auto">
            <a:xfrm>
              <a:off x="3463" y="1632"/>
              <a:ext cx="48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MEM</a:t>
              </a:r>
            </a:p>
          </p:txBody>
        </p:sp>
        <p:sp>
          <p:nvSpPr>
            <p:cNvPr id="21543" name="Rectangle 35"/>
            <p:cNvSpPr>
              <a:spLocks noChangeArrowheads="1"/>
            </p:cNvSpPr>
            <p:nvPr/>
          </p:nvSpPr>
          <p:spPr bwMode="auto">
            <a:xfrm>
              <a:off x="2966" y="1632"/>
              <a:ext cx="497"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44" name="Rectangle 36"/>
            <p:cNvSpPr>
              <a:spLocks noChangeArrowheads="1"/>
            </p:cNvSpPr>
            <p:nvPr/>
          </p:nvSpPr>
          <p:spPr bwMode="auto">
            <a:xfrm>
              <a:off x="2481" y="1632"/>
              <a:ext cx="48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ID</a:t>
              </a:r>
            </a:p>
          </p:txBody>
        </p:sp>
        <p:sp>
          <p:nvSpPr>
            <p:cNvPr id="21545" name="Rectangle 37"/>
            <p:cNvSpPr>
              <a:spLocks noChangeArrowheads="1"/>
            </p:cNvSpPr>
            <p:nvPr/>
          </p:nvSpPr>
          <p:spPr bwMode="auto">
            <a:xfrm>
              <a:off x="2021" y="1632"/>
              <a:ext cx="460"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IF</a:t>
              </a:r>
            </a:p>
          </p:txBody>
        </p:sp>
        <p:sp>
          <p:nvSpPr>
            <p:cNvPr id="21546" name="Rectangle 38"/>
            <p:cNvSpPr>
              <a:spLocks noChangeArrowheads="1"/>
            </p:cNvSpPr>
            <p:nvPr/>
          </p:nvSpPr>
          <p:spPr bwMode="auto">
            <a:xfrm>
              <a:off x="1596" y="1632"/>
              <a:ext cx="425" cy="191"/>
            </a:xfrm>
            <a:prstGeom prst="rect">
              <a:avLst/>
            </a:prstGeom>
            <a:noFill/>
            <a:ln w="9525">
              <a:noFill/>
              <a:round/>
              <a:headEnd/>
              <a:tailEnd/>
            </a:ln>
          </p:spPr>
          <p:txBody>
            <a:bodyPr wrap="none" anchor="ctr"/>
            <a:lstStyle/>
            <a:p>
              <a:endParaRPr lang="en-US">
                <a:cs typeface="Arial" pitchFamily="34" charset="0"/>
              </a:endParaRPr>
            </a:p>
          </p:txBody>
        </p:sp>
        <p:sp>
          <p:nvSpPr>
            <p:cNvPr id="21547" name="Rectangle 39"/>
            <p:cNvSpPr>
              <a:spLocks noChangeArrowheads="1"/>
            </p:cNvSpPr>
            <p:nvPr/>
          </p:nvSpPr>
          <p:spPr bwMode="auto">
            <a:xfrm>
              <a:off x="287" y="1632"/>
              <a:ext cx="1309" cy="191"/>
            </a:xfrm>
            <a:prstGeom prst="rect">
              <a:avLst/>
            </a:prstGeom>
            <a:noFill/>
            <a:ln w="9525">
              <a:noFill/>
              <a:round/>
              <a:headEnd/>
              <a:tailEnd/>
            </a:ln>
          </p:spPr>
          <p:txBody>
            <a:bodyPr lIns="90000" tIns="46800" rIns="90000" bIns="46800" anchor="ctr"/>
            <a:lstStyle/>
            <a:p>
              <a:pP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integer instruction</a:t>
              </a:r>
            </a:p>
          </p:txBody>
        </p:sp>
        <p:sp>
          <p:nvSpPr>
            <p:cNvPr id="21548" name="Rectangle 40"/>
            <p:cNvSpPr>
              <a:spLocks noChangeArrowheads="1"/>
            </p:cNvSpPr>
            <p:nvPr/>
          </p:nvSpPr>
          <p:spPr bwMode="auto">
            <a:xfrm>
              <a:off x="4893" y="1441"/>
              <a:ext cx="487" cy="191"/>
            </a:xfrm>
            <a:prstGeom prst="rect">
              <a:avLst/>
            </a:prstGeom>
            <a:noFill/>
            <a:ln w="9525">
              <a:noFill/>
              <a:round/>
              <a:headEnd/>
              <a:tailEnd/>
            </a:ln>
          </p:spPr>
          <p:txBody>
            <a:bodyPr wrap="none" anchor="ctr"/>
            <a:lstStyle/>
            <a:p>
              <a:endParaRPr lang="en-US">
                <a:cs typeface="Arial" pitchFamily="34" charset="0"/>
              </a:endParaRPr>
            </a:p>
          </p:txBody>
        </p:sp>
        <p:sp>
          <p:nvSpPr>
            <p:cNvPr id="21549" name="Rectangle 41"/>
            <p:cNvSpPr>
              <a:spLocks noChangeArrowheads="1"/>
            </p:cNvSpPr>
            <p:nvPr/>
          </p:nvSpPr>
          <p:spPr bwMode="auto">
            <a:xfrm>
              <a:off x="4396" y="1441"/>
              <a:ext cx="497" cy="191"/>
            </a:xfrm>
            <a:prstGeom prst="rect">
              <a:avLst/>
            </a:prstGeom>
            <a:noFill/>
            <a:ln w="9525">
              <a:noFill/>
              <a:round/>
              <a:headEnd/>
              <a:tailEnd/>
            </a:ln>
          </p:spPr>
          <p:txBody>
            <a:bodyPr wrap="none" anchor="ctr"/>
            <a:lstStyle/>
            <a:p>
              <a:endParaRPr lang="en-US">
                <a:cs typeface="Arial" pitchFamily="34" charset="0"/>
              </a:endParaRPr>
            </a:p>
          </p:txBody>
        </p:sp>
        <p:sp>
          <p:nvSpPr>
            <p:cNvPr id="21550" name="Rectangle 42"/>
            <p:cNvSpPr>
              <a:spLocks noChangeArrowheads="1"/>
            </p:cNvSpPr>
            <p:nvPr/>
          </p:nvSpPr>
          <p:spPr bwMode="auto">
            <a:xfrm>
              <a:off x="3948" y="1441"/>
              <a:ext cx="448"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WB</a:t>
              </a:r>
            </a:p>
          </p:txBody>
        </p:sp>
        <p:sp>
          <p:nvSpPr>
            <p:cNvPr id="21551" name="Rectangle 43"/>
            <p:cNvSpPr>
              <a:spLocks noChangeArrowheads="1"/>
            </p:cNvSpPr>
            <p:nvPr/>
          </p:nvSpPr>
          <p:spPr bwMode="auto">
            <a:xfrm>
              <a:off x="3463" y="1441"/>
              <a:ext cx="48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52" name="Rectangle 44"/>
            <p:cNvSpPr>
              <a:spLocks noChangeArrowheads="1"/>
            </p:cNvSpPr>
            <p:nvPr/>
          </p:nvSpPr>
          <p:spPr bwMode="auto">
            <a:xfrm>
              <a:off x="2966" y="1441"/>
              <a:ext cx="497"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53" name="Rectangle 45"/>
            <p:cNvSpPr>
              <a:spLocks noChangeArrowheads="1"/>
            </p:cNvSpPr>
            <p:nvPr/>
          </p:nvSpPr>
          <p:spPr bwMode="auto">
            <a:xfrm>
              <a:off x="2481" y="1441"/>
              <a:ext cx="48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54" name="Rectangle 46"/>
            <p:cNvSpPr>
              <a:spLocks noChangeArrowheads="1"/>
            </p:cNvSpPr>
            <p:nvPr/>
          </p:nvSpPr>
          <p:spPr bwMode="auto">
            <a:xfrm>
              <a:off x="2021" y="1441"/>
              <a:ext cx="460"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ID</a:t>
              </a:r>
            </a:p>
          </p:txBody>
        </p:sp>
        <p:sp>
          <p:nvSpPr>
            <p:cNvPr id="21555" name="Rectangle 47"/>
            <p:cNvSpPr>
              <a:spLocks noChangeArrowheads="1"/>
            </p:cNvSpPr>
            <p:nvPr/>
          </p:nvSpPr>
          <p:spPr bwMode="auto">
            <a:xfrm>
              <a:off x="1596" y="1441"/>
              <a:ext cx="42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IF</a:t>
              </a:r>
            </a:p>
          </p:txBody>
        </p:sp>
        <p:sp>
          <p:nvSpPr>
            <p:cNvPr id="21556" name="Rectangle 48"/>
            <p:cNvSpPr>
              <a:spLocks noChangeArrowheads="1"/>
            </p:cNvSpPr>
            <p:nvPr/>
          </p:nvSpPr>
          <p:spPr bwMode="auto">
            <a:xfrm>
              <a:off x="287" y="1441"/>
              <a:ext cx="1309" cy="191"/>
            </a:xfrm>
            <a:prstGeom prst="rect">
              <a:avLst/>
            </a:prstGeom>
            <a:noFill/>
            <a:ln w="9525">
              <a:noFill/>
              <a:round/>
              <a:headEnd/>
              <a:tailEnd/>
            </a:ln>
          </p:spPr>
          <p:txBody>
            <a:bodyPr lIns="90000" tIns="46800" rIns="90000" bIns="46800" anchor="ctr"/>
            <a:lstStyle/>
            <a:p>
              <a:pP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FP instruction</a:t>
              </a:r>
            </a:p>
          </p:txBody>
        </p:sp>
        <p:sp>
          <p:nvSpPr>
            <p:cNvPr id="21557" name="Rectangle 49"/>
            <p:cNvSpPr>
              <a:spLocks noChangeArrowheads="1"/>
            </p:cNvSpPr>
            <p:nvPr/>
          </p:nvSpPr>
          <p:spPr bwMode="auto">
            <a:xfrm>
              <a:off x="4893" y="1250"/>
              <a:ext cx="487" cy="191"/>
            </a:xfrm>
            <a:prstGeom prst="rect">
              <a:avLst/>
            </a:prstGeom>
            <a:noFill/>
            <a:ln w="9525">
              <a:noFill/>
              <a:round/>
              <a:headEnd/>
              <a:tailEnd/>
            </a:ln>
          </p:spPr>
          <p:txBody>
            <a:bodyPr wrap="none" anchor="ctr"/>
            <a:lstStyle/>
            <a:p>
              <a:endParaRPr lang="en-US">
                <a:cs typeface="Arial" pitchFamily="34" charset="0"/>
              </a:endParaRPr>
            </a:p>
          </p:txBody>
        </p:sp>
        <p:sp>
          <p:nvSpPr>
            <p:cNvPr id="21558" name="Rectangle 50"/>
            <p:cNvSpPr>
              <a:spLocks noChangeArrowheads="1"/>
            </p:cNvSpPr>
            <p:nvPr/>
          </p:nvSpPr>
          <p:spPr bwMode="auto">
            <a:xfrm>
              <a:off x="4396" y="1250"/>
              <a:ext cx="497" cy="191"/>
            </a:xfrm>
            <a:prstGeom prst="rect">
              <a:avLst/>
            </a:prstGeom>
            <a:noFill/>
            <a:ln w="9525">
              <a:noFill/>
              <a:round/>
              <a:headEnd/>
              <a:tailEnd/>
            </a:ln>
          </p:spPr>
          <p:txBody>
            <a:bodyPr wrap="none" anchor="ctr"/>
            <a:lstStyle/>
            <a:p>
              <a:endParaRPr lang="en-US">
                <a:cs typeface="Arial" pitchFamily="34" charset="0"/>
              </a:endParaRPr>
            </a:p>
          </p:txBody>
        </p:sp>
        <p:sp>
          <p:nvSpPr>
            <p:cNvPr id="21559" name="Rectangle 51"/>
            <p:cNvSpPr>
              <a:spLocks noChangeArrowheads="1"/>
            </p:cNvSpPr>
            <p:nvPr/>
          </p:nvSpPr>
          <p:spPr bwMode="auto">
            <a:xfrm>
              <a:off x="3948" y="1250"/>
              <a:ext cx="448" cy="191"/>
            </a:xfrm>
            <a:prstGeom prst="rect">
              <a:avLst/>
            </a:prstGeom>
            <a:noFill/>
            <a:ln w="9525">
              <a:noFill/>
              <a:round/>
              <a:headEnd/>
              <a:tailEnd/>
            </a:ln>
          </p:spPr>
          <p:txBody>
            <a:bodyPr wrap="none" anchor="ctr"/>
            <a:lstStyle/>
            <a:p>
              <a:endParaRPr lang="en-US">
                <a:cs typeface="Arial" pitchFamily="34" charset="0"/>
              </a:endParaRPr>
            </a:p>
          </p:txBody>
        </p:sp>
        <p:sp>
          <p:nvSpPr>
            <p:cNvPr id="21560" name="Rectangle 52"/>
            <p:cNvSpPr>
              <a:spLocks noChangeArrowheads="1"/>
            </p:cNvSpPr>
            <p:nvPr/>
          </p:nvSpPr>
          <p:spPr bwMode="auto">
            <a:xfrm>
              <a:off x="3463" y="1250"/>
              <a:ext cx="48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WB</a:t>
              </a:r>
            </a:p>
          </p:txBody>
        </p:sp>
        <p:sp>
          <p:nvSpPr>
            <p:cNvPr id="21561" name="Rectangle 53"/>
            <p:cNvSpPr>
              <a:spLocks noChangeArrowheads="1"/>
            </p:cNvSpPr>
            <p:nvPr/>
          </p:nvSpPr>
          <p:spPr bwMode="auto">
            <a:xfrm>
              <a:off x="2966" y="1250"/>
              <a:ext cx="497"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MEM</a:t>
              </a:r>
            </a:p>
          </p:txBody>
        </p:sp>
        <p:sp>
          <p:nvSpPr>
            <p:cNvPr id="21562" name="Rectangle 54"/>
            <p:cNvSpPr>
              <a:spLocks noChangeArrowheads="1"/>
            </p:cNvSpPr>
            <p:nvPr/>
          </p:nvSpPr>
          <p:spPr bwMode="auto">
            <a:xfrm>
              <a:off x="2481" y="1250"/>
              <a:ext cx="48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EX</a:t>
              </a:r>
            </a:p>
          </p:txBody>
        </p:sp>
        <p:sp>
          <p:nvSpPr>
            <p:cNvPr id="21563" name="Rectangle 55"/>
            <p:cNvSpPr>
              <a:spLocks noChangeArrowheads="1"/>
            </p:cNvSpPr>
            <p:nvPr/>
          </p:nvSpPr>
          <p:spPr bwMode="auto">
            <a:xfrm>
              <a:off x="2021" y="1250"/>
              <a:ext cx="460"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ID</a:t>
              </a:r>
            </a:p>
          </p:txBody>
        </p:sp>
        <p:sp>
          <p:nvSpPr>
            <p:cNvPr id="21564" name="Rectangle 56"/>
            <p:cNvSpPr>
              <a:spLocks noChangeArrowheads="1"/>
            </p:cNvSpPr>
            <p:nvPr/>
          </p:nvSpPr>
          <p:spPr bwMode="auto">
            <a:xfrm>
              <a:off x="1596" y="1250"/>
              <a:ext cx="42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IF</a:t>
              </a:r>
            </a:p>
          </p:txBody>
        </p:sp>
        <p:sp>
          <p:nvSpPr>
            <p:cNvPr id="21565" name="Rectangle 57"/>
            <p:cNvSpPr>
              <a:spLocks noChangeArrowheads="1"/>
            </p:cNvSpPr>
            <p:nvPr/>
          </p:nvSpPr>
          <p:spPr bwMode="auto">
            <a:xfrm>
              <a:off x="287" y="1250"/>
              <a:ext cx="1309" cy="191"/>
            </a:xfrm>
            <a:prstGeom prst="rect">
              <a:avLst/>
            </a:prstGeom>
            <a:noFill/>
            <a:ln w="9525">
              <a:noFill/>
              <a:round/>
              <a:headEnd/>
              <a:tailEnd/>
            </a:ln>
          </p:spPr>
          <p:txBody>
            <a:bodyPr lIns="90000" tIns="46800" rIns="90000" bIns="46800" anchor="ctr"/>
            <a:lstStyle/>
            <a:p>
              <a:pP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integer instruction</a:t>
              </a:r>
            </a:p>
          </p:txBody>
        </p:sp>
        <p:sp>
          <p:nvSpPr>
            <p:cNvPr id="21566" name="Rectangle 58"/>
            <p:cNvSpPr>
              <a:spLocks noChangeArrowheads="1"/>
            </p:cNvSpPr>
            <p:nvPr/>
          </p:nvSpPr>
          <p:spPr bwMode="auto">
            <a:xfrm>
              <a:off x="4893" y="1059"/>
              <a:ext cx="487"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8</a:t>
              </a:r>
            </a:p>
          </p:txBody>
        </p:sp>
        <p:sp>
          <p:nvSpPr>
            <p:cNvPr id="21567" name="Rectangle 59"/>
            <p:cNvSpPr>
              <a:spLocks noChangeArrowheads="1"/>
            </p:cNvSpPr>
            <p:nvPr/>
          </p:nvSpPr>
          <p:spPr bwMode="auto">
            <a:xfrm>
              <a:off x="4396" y="1059"/>
              <a:ext cx="497"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7</a:t>
              </a:r>
            </a:p>
          </p:txBody>
        </p:sp>
        <p:sp>
          <p:nvSpPr>
            <p:cNvPr id="21568" name="Rectangle 60"/>
            <p:cNvSpPr>
              <a:spLocks noChangeArrowheads="1"/>
            </p:cNvSpPr>
            <p:nvPr/>
          </p:nvSpPr>
          <p:spPr bwMode="auto">
            <a:xfrm>
              <a:off x="3948" y="1059"/>
              <a:ext cx="448"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6</a:t>
              </a:r>
            </a:p>
          </p:txBody>
        </p:sp>
        <p:sp>
          <p:nvSpPr>
            <p:cNvPr id="21569" name="Rectangle 61"/>
            <p:cNvSpPr>
              <a:spLocks noChangeArrowheads="1"/>
            </p:cNvSpPr>
            <p:nvPr/>
          </p:nvSpPr>
          <p:spPr bwMode="auto">
            <a:xfrm>
              <a:off x="3463" y="1059"/>
              <a:ext cx="48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5</a:t>
              </a:r>
            </a:p>
          </p:txBody>
        </p:sp>
        <p:sp>
          <p:nvSpPr>
            <p:cNvPr id="21570" name="Rectangle 62"/>
            <p:cNvSpPr>
              <a:spLocks noChangeArrowheads="1"/>
            </p:cNvSpPr>
            <p:nvPr/>
          </p:nvSpPr>
          <p:spPr bwMode="auto">
            <a:xfrm>
              <a:off x="2966" y="1059"/>
              <a:ext cx="497"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4</a:t>
              </a:r>
            </a:p>
          </p:txBody>
        </p:sp>
        <p:sp>
          <p:nvSpPr>
            <p:cNvPr id="21571" name="Rectangle 63"/>
            <p:cNvSpPr>
              <a:spLocks noChangeArrowheads="1"/>
            </p:cNvSpPr>
            <p:nvPr/>
          </p:nvSpPr>
          <p:spPr bwMode="auto">
            <a:xfrm>
              <a:off x="2481" y="1059"/>
              <a:ext cx="48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3</a:t>
              </a:r>
            </a:p>
          </p:txBody>
        </p:sp>
        <p:sp>
          <p:nvSpPr>
            <p:cNvPr id="21572" name="Rectangle 64"/>
            <p:cNvSpPr>
              <a:spLocks noChangeArrowheads="1"/>
            </p:cNvSpPr>
            <p:nvPr/>
          </p:nvSpPr>
          <p:spPr bwMode="auto">
            <a:xfrm>
              <a:off x="2021" y="1059"/>
              <a:ext cx="460"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2</a:t>
              </a:r>
            </a:p>
          </p:txBody>
        </p:sp>
        <p:sp>
          <p:nvSpPr>
            <p:cNvPr id="21573" name="Rectangle 65"/>
            <p:cNvSpPr>
              <a:spLocks noChangeArrowheads="1"/>
            </p:cNvSpPr>
            <p:nvPr/>
          </p:nvSpPr>
          <p:spPr bwMode="auto">
            <a:xfrm>
              <a:off x="1596" y="1059"/>
              <a:ext cx="425" cy="191"/>
            </a:xfrm>
            <a:prstGeom prst="rect">
              <a:avLst/>
            </a:prstGeom>
            <a:noFill/>
            <a:ln w="9525">
              <a:noFill/>
              <a:round/>
              <a:headEnd/>
              <a:tailEnd/>
            </a:ln>
          </p:spPr>
          <p:txBody>
            <a:bodyPr lIns="90000" tIns="46800" rIns="90000" bIns="46800" anchor="ctr"/>
            <a:lstStyle/>
            <a:p>
              <a:pPr algn="ctr" eaLnBrk="1" hangingPunct="1">
                <a:lnSpc>
                  <a:spcPct val="100000"/>
                </a:lnSpc>
                <a:spcBef>
                  <a:spcPts val="35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solidFill>
                    <a:srgbClr val="000000"/>
                  </a:solidFill>
                  <a:cs typeface="Arial" pitchFamily="34" charset="0"/>
                </a:rPr>
                <a:t>1</a:t>
              </a:r>
            </a:p>
          </p:txBody>
        </p:sp>
        <p:sp>
          <p:nvSpPr>
            <p:cNvPr id="21574" name="Rectangle 66"/>
            <p:cNvSpPr>
              <a:spLocks noChangeArrowheads="1"/>
            </p:cNvSpPr>
            <p:nvPr/>
          </p:nvSpPr>
          <p:spPr bwMode="auto">
            <a:xfrm>
              <a:off x="1596" y="848"/>
              <a:ext cx="3784" cy="211"/>
            </a:xfrm>
            <a:prstGeom prst="rect">
              <a:avLst/>
            </a:prstGeom>
            <a:noFill/>
            <a:ln w="9525">
              <a:noFill/>
              <a:round/>
              <a:headEnd/>
              <a:tailEnd/>
            </a:ln>
          </p:spPr>
          <p:txBody>
            <a:bodyPr lIns="90000" tIns="46800" rIns="90000" bIns="46800" anchor="ctr"/>
            <a:lstStyle/>
            <a:p>
              <a:pPr algn="ctr" eaLnBrk="1" hangingPunct="1">
                <a:lnSpc>
                  <a:spcPct val="100000"/>
                </a:lnSpc>
                <a:spcBef>
                  <a:spcPts val="400"/>
                </a:spcBef>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cs typeface="Arial" pitchFamily="34" charset="0"/>
                </a:rPr>
                <a:t>Clock Number</a:t>
              </a:r>
            </a:p>
          </p:txBody>
        </p:sp>
        <p:sp>
          <p:nvSpPr>
            <p:cNvPr id="21575" name="Rectangle 67"/>
            <p:cNvSpPr>
              <a:spLocks noChangeArrowheads="1"/>
            </p:cNvSpPr>
            <p:nvPr/>
          </p:nvSpPr>
          <p:spPr bwMode="auto">
            <a:xfrm>
              <a:off x="287" y="848"/>
              <a:ext cx="1309" cy="402"/>
            </a:xfrm>
            <a:prstGeom prst="rect">
              <a:avLst/>
            </a:prstGeom>
            <a:noFill/>
            <a:ln w="9525">
              <a:noFill/>
              <a:round/>
              <a:headEnd/>
              <a:tailEnd/>
            </a:ln>
          </p:spPr>
          <p:txBody>
            <a:bodyPr wrap="none" anchor="ctr"/>
            <a:lstStyle/>
            <a:p>
              <a:endParaRPr lang="en-US">
                <a:cs typeface="Arial" pitchFamily="34" charset="0"/>
              </a:endParaRPr>
            </a:p>
          </p:txBody>
        </p:sp>
        <p:sp>
          <p:nvSpPr>
            <p:cNvPr id="21576" name="Line 68"/>
            <p:cNvSpPr>
              <a:spLocks noChangeShapeType="1"/>
            </p:cNvSpPr>
            <p:nvPr/>
          </p:nvSpPr>
          <p:spPr bwMode="auto">
            <a:xfrm>
              <a:off x="287" y="848"/>
              <a:ext cx="5093" cy="1"/>
            </a:xfrm>
            <a:prstGeom prst="line">
              <a:avLst/>
            </a:prstGeom>
            <a:noFill/>
            <a:ln w="28440">
              <a:solidFill>
                <a:srgbClr val="000000"/>
              </a:solidFill>
              <a:miter lim="800000"/>
              <a:headEnd/>
              <a:tailEnd/>
            </a:ln>
          </p:spPr>
          <p:txBody>
            <a:bodyPr/>
            <a:lstStyle/>
            <a:p>
              <a:endParaRPr lang="en-CA"/>
            </a:p>
          </p:txBody>
        </p:sp>
        <p:sp>
          <p:nvSpPr>
            <p:cNvPr id="21577" name="Line 69"/>
            <p:cNvSpPr>
              <a:spLocks noChangeShapeType="1"/>
            </p:cNvSpPr>
            <p:nvPr/>
          </p:nvSpPr>
          <p:spPr bwMode="auto">
            <a:xfrm>
              <a:off x="287" y="1250"/>
              <a:ext cx="5093" cy="1"/>
            </a:xfrm>
            <a:prstGeom prst="line">
              <a:avLst/>
            </a:prstGeom>
            <a:noFill/>
            <a:ln w="12600">
              <a:solidFill>
                <a:srgbClr val="000000"/>
              </a:solidFill>
              <a:miter lim="800000"/>
              <a:headEnd/>
              <a:tailEnd/>
            </a:ln>
          </p:spPr>
          <p:txBody>
            <a:bodyPr/>
            <a:lstStyle/>
            <a:p>
              <a:endParaRPr lang="en-CA"/>
            </a:p>
          </p:txBody>
        </p:sp>
        <p:sp>
          <p:nvSpPr>
            <p:cNvPr id="21578" name="Line 70"/>
            <p:cNvSpPr>
              <a:spLocks noChangeShapeType="1"/>
            </p:cNvSpPr>
            <p:nvPr/>
          </p:nvSpPr>
          <p:spPr bwMode="auto">
            <a:xfrm>
              <a:off x="287" y="1441"/>
              <a:ext cx="5093" cy="1"/>
            </a:xfrm>
            <a:prstGeom prst="line">
              <a:avLst/>
            </a:prstGeom>
            <a:noFill/>
            <a:ln w="12600">
              <a:solidFill>
                <a:srgbClr val="000000"/>
              </a:solidFill>
              <a:miter lim="800000"/>
              <a:headEnd/>
              <a:tailEnd/>
            </a:ln>
          </p:spPr>
          <p:txBody>
            <a:bodyPr/>
            <a:lstStyle/>
            <a:p>
              <a:endParaRPr lang="en-CA"/>
            </a:p>
          </p:txBody>
        </p:sp>
        <p:sp>
          <p:nvSpPr>
            <p:cNvPr id="21579" name="Line 71"/>
            <p:cNvSpPr>
              <a:spLocks noChangeShapeType="1"/>
            </p:cNvSpPr>
            <p:nvPr/>
          </p:nvSpPr>
          <p:spPr bwMode="auto">
            <a:xfrm>
              <a:off x="287" y="1632"/>
              <a:ext cx="5093" cy="1"/>
            </a:xfrm>
            <a:prstGeom prst="line">
              <a:avLst/>
            </a:prstGeom>
            <a:noFill/>
            <a:ln w="12600">
              <a:solidFill>
                <a:srgbClr val="000000"/>
              </a:solidFill>
              <a:miter lim="800000"/>
              <a:headEnd/>
              <a:tailEnd/>
            </a:ln>
          </p:spPr>
          <p:txBody>
            <a:bodyPr/>
            <a:lstStyle/>
            <a:p>
              <a:endParaRPr lang="en-CA"/>
            </a:p>
          </p:txBody>
        </p:sp>
        <p:sp>
          <p:nvSpPr>
            <p:cNvPr id="21580" name="Line 72"/>
            <p:cNvSpPr>
              <a:spLocks noChangeShapeType="1"/>
            </p:cNvSpPr>
            <p:nvPr/>
          </p:nvSpPr>
          <p:spPr bwMode="auto">
            <a:xfrm>
              <a:off x="287" y="1823"/>
              <a:ext cx="5093" cy="1"/>
            </a:xfrm>
            <a:prstGeom prst="line">
              <a:avLst/>
            </a:prstGeom>
            <a:noFill/>
            <a:ln w="12600">
              <a:solidFill>
                <a:srgbClr val="000000"/>
              </a:solidFill>
              <a:miter lim="800000"/>
              <a:headEnd/>
              <a:tailEnd/>
            </a:ln>
          </p:spPr>
          <p:txBody>
            <a:bodyPr/>
            <a:lstStyle/>
            <a:p>
              <a:endParaRPr lang="en-CA"/>
            </a:p>
          </p:txBody>
        </p:sp>
        <p:sp>
          <p:nvSpPr>
            <p:cNvPr id="21581" name="Line 73"/>
            <p:cNvSpPr>
              <a:spLocks noChangeShapeType="1"/>
            </p:cNvSpPr>
            <p:nvPr/>
          </p:nvSpPr>
          <p:spPr bwMode="auto">
            <a:xfrm>
              <a:off x="287" y="2423"/>
              <a:ext cx="5093" cy="1"/>
            </a:xfrm>
            <a:prstGeom prst="line">
              <a:avLst/>
            </a:prstGeom>
            <a:noFill/>
            <a:ln w="28440">
              <a:solidFill>
                <a:srgbClr val="000000"/>
              </a:solidFill>
              <a:miter lim="800000"/>
              <a:headEnd/>
              <a:tailEnd/>
            </a:ln>
          </p:spPr>
          <p:txBody>
            <a:bodyPr/>
            <a:lstStyle/>
            <a:p>
              <a:endParaRPr lang="en-CA"/>
            </a:p>
          </p:txBody>
        </p:sp>
        <p:sp>
          <p:nvSpPr>
            <p:cNvPr id="21582" name="Line 74"/>
            <p:cNvSpPr>
              <a:spLocks noChangeShapeType="1"/>
            </p:cNvSpPr>
            <p:nvPr/>
          </p:nvSpPr>
          <p:spPr bwMode="auto">
            <a:xfrm>
              <a:off x="287" y="848"/>
              <a:ext cx="1" cy="1575"/>
            </a:xfrm>
            <a:prstGeom prst="line">
              <a:avLst/>
            </a:prstGeom>
            <a:noFill/>
            <a:ln w="28440">
              <a:solidFill>
                <a:srgbClr val="000000"/>
              </a:solidFill>
              <a:miter lim="800000"/>
              <a:headEnd/>
              <a:tailEnd/>
            </a:ln>
          </p:spPr>
          <p:txBody>
            <a:bodyPr/>
            <a:lstStyle/>
            <a:p>
              <a:endParaRPr lang="en-CA"/>
            </a:p>
          </p:txBody>
        </p:sp>
        <p:sp>
          <p:nvSpPr>
            <p:cNvPr id="21583" name="Line 75"/>
            <p:cNvSpPr>
              <a:spLocks noChangeShapeType="1"/>
            </p:cNvSpPr>
            <p:nvPr/>
          </p:nvSpPr>
          <p:spPr bwMode="auto">
            <a:xfrm>
              <a:off x="1596" y="848"/>
              <a:ext cx="1" cy="1575"/>
            </a:xfrm>
            <a:prstGeom prst="line">
              <a:avLst/>
            </a:prstGeom>
            <a:noFill/>
            <a:ln w="12600">
              <a:solidFill>
                <a:srgbClr val="000000"/>
              </a:solidFill>
              <a:miter lim="800000"/>
              <a:headEnd/>
              <a:tailEnd/>
            </a:ln>
          </p:spPr>
          <p:txBody>
            <a:bodyPr/>
            <a:lstStyle/>
            <a:p>
              <a:endParaRPr lang="en-CA"/>
            </a:p>
          </p:txBody>
        </p:sp>
        <p:sp>
          <p:nvSpPr>
            <p:cNvPr id="21584" name="Line 76"/>
            <p:cNvSpPr>
              <a:spLocks noChangeShapeType="1"/>
            </p:cNvSpPr>
            <p:nvPr/>
          </p:nvSpPr>
          <p:spPr bwMode="auto">
            <a:xfrm>
              <a:off x="5380" y="848"/>
              <a:ext cx="1" cy="1575"/>
            </a:xfrm>
            <a:prstGeom prst="line">
              <a:avLst/>
            </a:prstGeom>
            <a:noFill/>
            <a:ln w="28440">
              <a:solidFill>
                <a:srgbClr val="000000"/>
              </a:solidFill>
              <a:miter lim="800000"/>
              <a:headEnd/>
              <a:tailEnd/>
            </a:ln>
          </p:spPr>
          <p:txBody>
            <a:bodyPr/>
            <a:lstStyle/>
            <a:p>
              <a:endParaRPr lang="en-CA"/>
            </a:p>
          </p:txBody>
        </p:sp>
        <p:sp>
          <p:nvSpPr>
            <p:cNvPr id="21585" name="Line 77"/>
            <p:cNvSpPr>
              <a:spLocks noChangeShapeType="1"/>
            </p:cNvSpPr>
            <p:nvPr/>
          </p:nvSpPr>
          <p:spPr bwMode="auto">
            <a:xfrm>
              <a:off x="2021" y="1059"/>
              <a:ext cx="1" cy="1364"/>
            </a:xfrm>
            <a:prstGeom prst="line">
              <a:avLst/>
            </a:prstGeom>
            <a:noFill/>
            <a:ln w="12600">
              <a:solidFill>
                <a:srgbClr val="000000"/>
              </a:solidFill>
              <a:miter lim="800000"/>
              <a:headEnd/>
              <a:tailEnd/>
            </a:ln>
          </p:spPr>
          <p:txBody>
            <a:bodyPr/>
            <a:lstStyle/>
            <a:p>
              <a:endParaRPr lang="en-CA"/>
            </a:p>
          </p:txBody>
        </p:sp>
        <p:sp>
          <p:nvSpPr>
            <p:cNvPr id="21586" name="Line 78"/>
            <p:cNvSpPr>
              <a:spLocks noChangeShapeType="1"/>
            </p:cNvSpPr>
            <p:nvPr/>
          </p:nvSpPr>
          <p:spPr bwMode="auto">
            <a:xfrm>
              <a:off x="2481" y="1059"/>
              <a:ext cx="1" cy="1364"/>
            </a:xfrm>
            <a:prstGeom prst="line">
              <a:avLst/>
            </a:prstGeom>
            <a:noFill/>
            <a:ln w="12600">
              <a:solidFill>
                <a:srgbClr val="000000"/>
              </a:solidFill>
              <a:miter lim="800000"/>
              <a:headEnd/>
              <a:tailEnd/>
            </a:ln>
          </p:spPr>
          <p:txBody>
            <a:bodyPr/>
            <a:lstStyle/>
            <a:p>
              <a:endParaRPr lang="en-CA"/>
            </a:p>
          </p:txBody>
        </p:sp>
        <p:sp>
          <p:nvSpPr>
            <p:cNvPr id="21587" name="Line 79"/>
            <p:cNvSpPr>
              <a:spLocks noChangeShapeType="1"/>
            </p:cNvSpPr>
            <p:nvPr/>
          </p:nvSpPr>
          <p:spPr bwMode="auto">
            <a:xfrm>
              <a:off x="2966" y="1059"/>
              <a:ext cx="1" cy="1364"/>
            </a:xfrm>
            <a:prstGeom prst="line">
              <a:avLst/>
            </a:prstGeom>
            <a:noFill/>
            <a:ln w="12600">
              <a:solidFill>
                <a:srgbClr val="000000"/>
              </a:solidFill>
              <a:miter lim="800000"/>
              <a:headEnd/>
              <a:tailEnd/>
            </a:ln>
          </p:spPr>
          <p:txBody>
            <a:bodyPr/>
            <a:lstStyle/>
            <a:p>
              <a:endParaRPr lang="en-CA"/>
            </a:p>
          </p:txBody>
        </p:sp>
        <p:sp>
          <p:nvSpPr>
            <p:cNvPr id="21588" name="Line 80"/>
            <p:cNvSpPr>
              <a:spLocks noChangeShapeType="1"/>
            </p:cNvSpPr>
            <p:nvPr/>
          </p:nvSpPr>
          <p:spPr bwMode="auto">
            <a:xfrm>
              <a:off x="3463" y="1059"/>
              <a:ext cx="1" cy="1364"/>
            </a:xfrm>
            <a:prstGeom prst="line">
              <a:avLst/>
            </a:prstGeom>
            <a:noFill/>
            <a:ln w="12600">
              <a:solidFill>
                <a:srgbClr val="000000"/>
              </a:solidFill>
              <a:miter lim="800000"/>
              <a:headEnd/>
              <a:tailEnd/>
            </a:ln>
          </p:spPr>
          <p:txBody>
            <a:bodyPr/>
            <a:lstStyle/>
            <a:p>
              <a:endParaRPr lang="en-CA"/>
            </a:p>
          </p:txBody>
        </p:sp>
        <p:sp>
          <p:nvSpPr>
            <p:cNvPr id="21589" name="Line 81"/>
            <p:cNvSpPr>
              <a:spLocks noChangeShapeType="1"/>
            </p:cNvSpPr>
            <p:nvPr/>
          </p:nvSpPr>
          <p:spPr bwMode="auto">
            <a:xfrm>
              <a:off x="3948" y="1059"/>
              <a:ext cx="1" cy="1364"/>
            </a:xfrm>
            <a:prstGeom prst="line">
              <a:avLst/>
            </a:prstGeom>
            <a:noFill/>
            <a:ln w="12600">
              <a:solidFill>
                <a:srgbClr val="000000"/>
              </a:solidFill>
              <a:miter lim="800000"/>
              <a:headEnd/>
              <a:tailEnd/>
            </a:ln>
          </p:spPr>
          <p:txBody>
            <a:bodyPr/>
            <a:lstStyle/>
            <a:p>
              <a:endParaRPr lang="en-CA"/>
            </a:p>
          </p:txBody>
        </p:sp>
        <p:sp>
          <p:nvSpPr>
            <p:cNvPr id="21590" name="Line 82"/>
            <p:cNvSpPr>
              <a:spLocks noChangeShapeType="1"/>
            </p:cNvSpPr>
            <p:nvPr/>
          </p:nvSpPr>
          <p:spPr bwMode="auto">
            <a:xfrm>
              <a:off x="4396" y="1059"/>
              <a:ext cx="1" cy="1364"/>
            </a:xfrm>
            <a:prstGeom prst="line">
              <a:avLst/>
            </a:prstGeom>
            <a:noFill/>
            <a:ln w="12600">
              <a:solidFill>
                <a:srgbClr val="000000"/>
              </a:solidFill>
              <a:miter lim="800000"/>
              <a:headEnd/>
              <a:tailEnd/>
            </a:ln>
          </p:spPr>
          <p:txBody>
            <a:bodyPr/>
            <a:lstStyle/>
            <a:p>
              <a:endParaRPr lang="en-CA"/>
            </a:p>
          </p:txBody>
        </p:sp>
        <p:sp>
          <p:nvSpPr>
            <p:cNvPr id="21591" name="Line 83"/>
            <p:cNvSpPr>
              <a:spLocks noChangeShapeType="1"/>
            </p:cNvSpPr>
            <p:nvPr/>
          </p:nvSpPr>
          <p:spPr bwMode="auto">
            <a:xfrm>
              <a:off x="4893" y="1059"/>
              <a:ext cx="1" cy="1364"/>
            </a:xfrm>
            <a:prstGeom prst="line">
              <a:avLst/>
            </a:prstGeom>
            <a:noFill/>
            <a:ln w="12600">
              <a:solidFill>
                <a:srgbClr val="000000"/>
              </a:solidFill>
              <a:miter lim="800000"/>
              <a:headEnd/>
              <a:tailEnd/>
            </a:ln>
          </p:spPr>
          <p:txBody>
            <a:bodyPr/>
            <a:lstStyle/>
            <a:p>
              <a:endParaRPr lang="en-CA"/>
            </a:p>
          </p:txBody>
        </p:sp>
        <p:sp>
          <p:nvSpPr>
            <p:cNvPr id="21592" name="Line 84"/>
            <p:cNvSpPr>
              <a:spLocks noChangeShapeType="1"/>
            </p:cNvSpPr>
            <p:nvPr/>
          </p:nvSpPr>
          <p:spPr bwMode="auto">
            <a:xfrm>
              <a:off x="1596" y="1059"/>
              <a:ext cx="3784" cy="1"/>
            </a:xfrm>
            <a:prstGeom prst="line">
              <a:avLst/>
            </a:prstGeom>
            <a:noFill/>
            <a:ln w="12600">
              <a:solidFill>
                <a:srgbClr val="000000"/>
              </a:solidFill>
              <a:miter lim="800000"/>
              <a:headEnd/>
              <a:tailEnd/>
            </a:ln>
          </p:spPr>
          <p:txBody>
            <a:bodyPr/>
            <a:lstStyle/>
            <a:p>
              <a:endParaRPr lang="en-CA"/>
            </a:p>
          </p:txBody>
        </p:sp>
        <p:sp>
          <p:nvSpPr>
            <p:cNvPr id="21593" name="Line 85"/>
            <p:cNvSpPr>
              <a:spLocks noChangeShapeType="1"/>
            </p:cNvSpPr>
            <p:nvPr/>
          </p:nvSpPr>
          <p:spPr bwMode="auto">
            <a:xfrm>
              <a:off x="287" y="2023"/>
              <a:ext cx="5093" cy="1"/>
            </a:xfrm>
            <a:prstGeom prst="line">
              <a:avLst/>
            </a:prstGeom>
            <a:noFill/>
            <a:ln w="12600">
              <a:solidFill>
                <a:srgbClr val="000000"/>
              </a:solidFill>
              <a:miter lim="800000"/>
              <a:headEnd/>
              <a:tailEnd/>
            </a:ln>
          </p:spPr>
          <p:txBody>
            <a:bodyPr/>
            <a:lstStyle/>
            <a:p>
              <a:endParaRPr lang="en-CA"/>
            </a:p>
          </p:txBody>
        </p:sp>
        <p:sp>
          <p:nvSpPr>
            <p:cNvPr id="21594" name="Line 86"/>
            <p:cNvSpPr>
              <a:spLocks noChangeShapeType="1"/>
            </p:cNvSpPr>
            <p:nvPr/>
          </p:nvSpPr>
          <p:spPr bwMode="auto">
            <a:xfrm>
              <a:off x="287" y="2223"/>
              <a:ext cx="5093" cy="1"/>
            </a:xfrm>
            <a:prstGeom prst="line">
              <a:avLst/>
            </a:prstGeom>
            <a:noFill/>
            <a:ln w="12600">
              <a:solidFill>
                <a:srgbClr val="000000"/>
              </a:solidFill>
              <a:miter lim="800000"/>
              <a:headEnd/>
              <a:tailEnd/>
            </a:ln>
          </p:spPr>
          <p:txBody>
            <a:bodyPr/>
            <a:lstStyle/>
            <a:p>
              <a:endParaRPr lang="en-CA"/>
            </a:p>
          </p:txBody>
        </p:sp>
      </p:grpSp>
      <p:sp>
        <p:nvSpPr>
          <p:cNvPr id="21509" name="Slide Number Placeholder 91"/>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31171B1C-1B82-4125-90EA-82A9E7442F85}"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41</a:t>
            </a:fld>
            <a:r>
              <a:rPr lang="en-GB"/>
              <a:t> </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3"/>
          <p:cNvSpPr>
            <a:spLocks noChangeArrowheads="1"/>
          </p:cNvSpPr>
          <p:nvPr/>
        </p:nvSpPr>
        <p:spPr bwMode="auto">
          <a:xfrm>
            <a:off x="890588" y="5289550"/>
            <a:ext cx="8193087" cy="277813"/>
          </a:xfrm>
          <a:prstGeom prst="rect">
            <a:avLst/>
          </a:prstGeom>
          <a:solidFill>
            <a:srgbClr val="00B050"/>
          </a:solidFill>
          <a:ln w="9525" algn="ctr">
            <a:solidFill>
              <a:schemeClr val="tx1"/>
            </a:solidFill>
            <a:round/>
            <a:headEnd/>
            <a:tailEnd/>
          </a:ln>
        </p:spPr>
        <p:txBody>
          <a:bodyPr/>
          <a:lstStyle/>
          <a:p>
            <a:endParaRPr lang="en-CA"/>
          </a:p>
        </p:txBody>
      </p:sp>
      <p:sp>
        <p:nvSpPr>
          <p:cNvPr id="22531" name="Rectangle 52"/>
          <p:cNvSpPr>
            <a:spLocks noChangeArrowheads="1"/>
          </p:cNvSpPr>
          <p:nvPr/>
        </p:nvSpPr>
        <p:spPr bwMode="auto">
          <a:xfrm>
            <a:off x="890588" y="5029200"/>
            <a:ext cx="8193087" cy="276225"/>
          </a:xfrm>
          <a:prstGeom prst="rect">
            <a:avLst/>
          </a:prstGeom>
          <a:solidFill>
            <a:srgbClr val="00B8FF"/>
          </a:solidFill>
          <a:ln w="9525" algn="ctr">
            <a:solidFill>
              <a:schemeClr val="tx1"/>
            </a:solidFill>
            <a:round/>
            <a:headEnd/>
            <a:tailEnd/>
          </a:ln>
        </p:spPr>
        <p:txBody>
          <a:bodyPr/>
          <a:lstStyle/>
          <a:p>
            <a:endParaRPr lang="en-CA"/>
          </a:p>
        </p:txBody>
      </p:sp>
      <p:sp>
        <p:nvSpPr>
          <p:cNvPr id="22532" name="Title 1"/>
          <p:cNvSpPr>
            <a:spLocks noGrp="1"/>
          </p:cNvSpPr>
          <p:nvPr>
            <p:ph type="title"/>
          </p:nvPr>
        </p:nvSpPr>
        <p:spPr>
          <a:xfrm>
            <a:off x="685800" y="-423863"/>
            <a:ext cx="8458200" cy="1495426"/>
          </a:xfrm>
        </p:spPr>
        <p:txBody>
          <a:bodyPr/>
          <a:lstStyle/>
          <a:p>
            <a:r>
              <a:rPr lang="en-US">
                <a:latin typeface="Arial  " charset="0"/>
                <a:cs typeface="Arial  " charset="0"/>
              </a:rPr>
              <a:t>Very Long Instruction Word (VLIW)</a:t>
            </a:r>
          </a:p>
        </p:txBody>
      </p:sp>
      <p:sp>
        <p:nvSpPr>
          <p:cNvPr id="22533" name="Content Placeholder 2"/>
          <p:cNvSpPr>
            <a:spLocks noGrp="1"/>
          </p:cNvSpPr>
          <p:nvPr>
            <p:ph idx="1"/>
          </p:nvPr>
        </p:nvSpPr>
        <p:spPr>
          <a:xfrm>
            <a:off x="733425" y="793750"/>
            <a:ext cx="7766050" cy="4078288"/>
          </a:xfrm>
        </p:spPr>
        <p:txBody>
          <a:bodyPr/>
          <a:lstStyle/>
          <a:p>
            <a:r>
              <a:rPr lang="en-US" sz="1800">
                <a:latin typeface="Arial  " charset="0"/>
                <a:cs typeface="Arial  " charset="0"/>
              </a:rPr>
              <a:t>In a superscalar processor, we need to check for dependencies between instructions before they can be issued in parallel.</a:t>
            </a:r>
          </a:p>
          <a:p>
            <a:r>
              <a:rPr lang="en-US" sz="1800">
                <a:latin typeface="Arial  " charset="0"/>
                <a:cs typeface="Arial  " charset="0"/>
              </a:rPr>
              <a:t>Each time we fetch and decode the same group of instructions we will find the same dependencies (through registers).</a:t>
            </a:r>
          </a:p>
          <a:p>
            <a:r>
              <a:rPr lang="en-US" sz="1800">
                <a:latin typeface="Arial  " charset="0"/>
                <a:cs typeface="Arial  " charset="0"/>
              </a:rPr>
              <a:t>Why not let the compiler search for these dependencies and groups of instructions that are known to be independent?  This is how a VLIW processor works</a:t>
            </a:r>
          </a:p>
          <a:p>
            <a:r>
              <a:rPr lang="en-US" sz="1800">
                <a:latin typeface="Arial  " charset="0"/>
                <a:cs typeface="Arial  " charset="0"/>
              </a:rPr>
              <a:t>Drawbacks:  </a:t>
            </a:r>
          </a:p>
          <a:p>
            <a:pPr lvl="1"/>
            <a:r>
              <a:rPr lang="en-US" sz="1600">
                <a:latin typeface="Arial  " charset="0"/>
                <a:cs typeface="Arial  " charset="0"/>
              </a:rPr>
              <a:t>Need to explicitly encode “no ops” for units that do not have an operation.</a:t>
            </a:r>
          </a:p>
          <a:p>
            <a:pPr lvl="1"/>
            <a:r>
              <a:rPr lang="en-US" sz="1600">
                <a:latin typeface="Arial  " charset="0"/>
                <a:cs typeface="Arial  " charset="0"/>
              </a:rPr>
              <a:t>Hard to predict which memory access instructions miss in cache</a:t>
            </a:r>
          </a:p>
          <a:p>
            <a:pPr lvl="1"/>
            <a:r>
              <a:rPr lang="en-US" sz="1600">
                <a:latin typeface="Arial  " charset="0"/>
                <a:cs typeface="Arial  " charset="0"/>
              </a:rPr>
              <a:t>Need to use profile feedback to find “hot traces” in program to extract instruction level parallelism</a:t>
            </a:r>
          </a:p>
          <a:p>
            <a:pPr lvl="1"/>
            <a:r>
              <a:rPr lang="en-US" sz="1600">
                <a:latin typeface="Arial  " charset="0"/>
                <a:cs typeface="Arial  " charset="0"/>
              </a:rPr>
              <a:t>Memory dependencies hard to determine in compiler</a:t>
            </a:r>
          </a:p>
          <a:p>
            <a:pPr lvl="1"/>
            <a:endParaRPr lang="en-US" sz="1400">
              <a:latin typeface="Arial  " charset="0"/>
              <a:cs typeface="Arial  " charset="0"/>
            </a:endParaRPr>
          </a:p>
          <a:p>
            <a:endParaRPr lang="en-US" sz="1800">
              <a:latin typeface="Arial  " charset="0"/>
              <a:cs typeface="Arial  " charset="0"/>
            </a:endParaRPr>
          </a:p>
          <a:p>
            <a:pPr>
              <a:buFont typeface="Comic Sans MS" pitchFamily="66" charset="0"/>
              <a:buNone/>
            </a:pPr>
            <a:endParaRPr lang="en-US" sz="1800">
              <a:latin typeface="Arial  " charset="0"/>
              <a:cs typeface="Arial  " charset="0"/>
            </a:endParaRPr>
          </a:p>
        </p:txBody>
      </p:sp>
      <p:sp>
        <p:nvSpPr>
          <p:cNvPr id="22534" name="Slide Number Placeholder 5"/>
          <p:cNvSpPr>
            <a:spLocks noGrp="1"/>
          </p:cNvSpPr>
          <p:nvPr>
            <p:ph type="sldNum" sz="quarter" idx="12"/>
          </p:nvPr>
        </p:nvSpPr>
        <p:spPr>
          <a:xfrm>
            <a:off x="7245350" y="6407150"/>
            <a:ext cx="1898650" cy="450850"/>
          </a:xfrm>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39755D2-3332-402E-8CED-BD1004DF9135}"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42</a:t>
            </a:fld>
            <a:r>
              <a:rPr lang="en-GB"/>
              <a:t> </a:t>
            </a:r>
          </a:p>
        </p:txBody>
      </p:sp>
      <p:sp>
        <p:nvSpPr>
          <p:cNvPr id="22535" name="TextBox 9"/>
          <p:cNvSpPr txBox="1">
            <a:spLocks noChangeArrowheads="1"/>
          </p:cNvSpPr>
          <p:nvPr/>
        </p:nvSpPr>
        <p:spPr bwMode="auto">
          <a:xfrm>
            <a:off x="-60325" y="5041900"/>
            <a:ext cx="9144000" cy="522288"/>
          </a:xfrm>
          <a:prstGeom prst="rect">
            <a:avLst/>
          </a:prstGeom>
          <a:noFill/>
          <a:ln w="9525">
            <a:noFill/>
            <a:miter lim="800000"/>
            <a:headEnd/>
            <a:tailEnd/>
          </a:ln>
        </p:spPr>
        <p:txBody>
          <a:bodyPr>
            <a:spAutoFit/>
          </a:bodyPr>
          <a:lstStyle/>
          <a:p>
            <a:pPr>
              <a:lnSpc>
                <a:spcPct val="100000"/>
              </a:lnSpc>
            </a:pPr>
            <a:r>
              <a:rPr lang="en-CA" sz="1400">
                <a:solidFill>
                  <a:schemeClr val="tx1"/>
                </a:solidFill>
              </a:rPr>
              <a:t>Inst N:	ADD.D  F1,F1,F4	</a:t>
            </a:r>
            <a:r>
              <a:rPr lang="en-CA" sz="1400" b="1">
                <a:solidFill>
                  <a:schemeClr val="tx1"/>
                </a:solidFill>
              </a:rPr>
              <a:t>NOP</a:t>
            </a:r>
            <a:r>
              <a:rPr lang="en-CA" sz="1400">
                <a:solidFill>
                  <a:schemeClr val="tx1"/>
                </a:solidFill>
              </a:rPr>
              <a:t>		        		L.D  F7, 0(R1)	DSUBI R2,R2,#1		</a:t>
            </a:r>
            <a:r>
              <a:rPr lang="en-CA" sz="1400" b="1">
                <a:solidFill>
                  <a:schemeClr val="tx1"/>
                </a:solidFill>
              </a:rPr>
              <a:t>NOP</a:t>
            </a:r>
          </a:p>
          <a:p>
            <a:pPr>
              <a:lnSpc>
                <a:spcPct val="100000"/>
              </a:lnSpc>
            </a:pPr>
            <a:r>
              <a:rPr lang="en-CA" sz="1400">
                <a:solidFill>
                  <a:schemeClr val="tx1"/>
                </a:solidFill>
              </a:rPr>
              <a:t>Inst N+1:	ADD.D  F1,F1,F7	MUL.D F4,F5,F6    	</a:t>
            </a:r>
            <a:r>
              <a:rPr lang="en-CA" sz="1400" b="1">
                <a:solidFill>
                  <a:schemeClr val="tx1"/>
                </a:solidFill>
              </a:rPr>
              <a:t>NOP</a:t>
            </a:r>
            <a:r>
              <a:rPr lang="en-CA" sz="1400">
                <a:solidFill>
                  <a:schemeClr val="tx1"/>
                </a:solidFill>
              </a:rPr>
              <a:t>			DSUBI R2,R2,#1 	BEQZ  R2, Loop  </a:t>
            </a:r>
          </a:p>
        </p:txBody>
      </p:sp>
      <p:grpSp>
        <p:nvGrpSpPr>
          <p:cNvPr id="22536" name="Group 26"/>
          <p:cNvGrpSpPr>
            <a:grpSpLocks/>
          </p:cNvGrpSpPr>
          <p:nvPr/>
        </p:nvGrpSpPr>
        <p:grpSpPr bwMode="auto">
          <a:xfrm>
            <a:off x="1028700" y="5842000"/>
            <a:ext cx="1047750" cy="322263"/>
            <a:chOff x="818146" y="5029200"/>
            <a:chExt cx="1055773" cy="506078"/>
          </a:xfrm>
        </p:grpSpPr>
        <p:cxnSp>
          <p:nvCxnSpPr>
            <p:cNvPr id="22562" name="Straight Connector 11"/>
            <p:cNvCxnSpPr>
              <a:cxnSpLocks noChangeShapeType="1"/>
            </p:cNvCxnSpPr>
            <p:nvPr/>
          </p:nvCxnSpPr>
          <p:spPr bwMode="auto">
            <a:xfrm rot="16200000" flipH="1">
              <a:off x="697831" y="5149515"/>
              <a:ext cx="505326" cy="264695"/>
            </a:xfrm>
            <a:prstGeom prst="line">
              <a:avLst/>
            </a:prstGeom>
            <a:noFill/>
            <a:ln w="9525" algn="ctr">
              <a:solidFill>
                <a:schemeClr val="tx1"/>
              </a:solidFill>
              <a:round/>
              <a:headEnd/>
              <a:tailEnd/>
            </a:ln>
          </p:spPr>
        </p:cxnSp>
        <p:cxnSp>
          <p:nvCxnSpPr>
            <p:cNvPr id="22563" name="Straight Connector 12"/>
            <p:cNvCxnSpPr>
              <a:cxnSpLocks noChangeShapeType="1"/>
            </p:cNvCxnSpPr>
            <p:nvPr/>
          </p:nvCxnSpPr>
          <p:spPr bwMode="auto">
            <a:xfrm rot="5400000">
              <a:off x="1483143" y="5150267"/>
              <a:ext cx="505326" cy="264695"/>
            </a:xfrm>
            <a:prstGeom prst="line">
              <a:avLst/>
            </a:prstGeom>
            <a:noFill/>
            <a:ln w="9525" algn="ctr">
              <a:solidFill>
                <a:schemeClr val="tx1"/>
              </a:solidFill>
              <a:round/>
              <a:headEnd/>
              <a:tailEnd/>
            </a:ln>
          </p:spPr>
        </p:cxnSp>
        <p:cxnSp>
          <p:nvCxnSpPr>
            <p:cNvPr id="22564" name="Straight Connector 14"/>
            <p:cNvCxnSpPr>
              <a:cxnSpLocks noChangeShapeType="1"/>
            </p:cNvCxnSpPr>
            <p:nvPr/>
          </p:nvCxnSpPr>
          <p:spPr bwMode="auto">
            <a:xfrm>
              <a:off x="1082842" y="5534527"/>
              <a:ext cx="517358" cy="0"/>
            </a:xfrm>
            <a:prstGeom prst="line">
              <a:avLst/>
            </a:prstGeom>
            <a:noFill/>
            <a:ln w="9525" algn="ctr">
              <a:solidFill>
                <a:schemeClr val="tx1"/>
              </a:solidFill>
              <a:round/>
              <a:headEnd/>
              <a:tailEnd/>
            </a:ln>
          </p:spPr>
        </p:cxnSp>
        <p:cxnSp>
          <p:nvCxnSpPr>
            <p:cNvPr id="22565" name="Straight Connector 15"/>
            <p:cNvCxnSpPr>
              <a:cxnSpLocks noChangeShapeType="1"/>
            </p:cNvCxnSpPr>
            <p:nvPr/>
          </p:nvCxnSpPr>
          <p:spPr bwMode="auto">
            <a:xfrm>
              <a:off x="819150" y="5032334"/>
              <a:ext cx="438150" cy="1629"/>
            </a:xfrm>
            <a:prstGeom prst="line">
              <a:avLst/>
            </a:prstGeom>
            <a:noFill/>
            <a:ln w="9525" algn="ctr">
              <a:solidFill>
                <a:schemeClr val="tx1"/>
              </a:solidFill>
              <a:round/>
              <a:headEnd/>
              <a:tailEnd/>
            </a:ln>
          </p:spPr>
        </p:cxnSp>
        <p:cxnSp>
          <p:nvCxnSpPr>
            <p:cNvPr id="22566" name="Straight Connector 16"/>
            <p:cNvCxnSpPr>
              <a:cxnSpLocks noChangeShapeType="1"/>
            </p:cNvCxnSpPr>
            <p:nvPr/>
          </p:nvCxnSpPr>
          <p:spPr bwMode="auto">
            <a:xfrm flipV="1">
              <a:off x="1433513" y="5033210"/>
              <a:ext cx="440406" cy="753"/>
            </a:xfrm>
            <a:prstGeom prst="line">
              <a:avLst/>
            </a:prstGeom>
            <a:noFill/>
            <a:ln w="9525" algn="ctr">
              <a:solidFill>
                <a:schemeClr val="tx1"/>
              </a:solidFill>
              <a:round/>
              <a:headEnd/>
              <a:tailEnd/>
            </a:ln>
          </p:spPr>
        </p:cxnSp>
        <p:cxnSp>
          <p:nvCxnSpPr>
            <p:cNvPr id="22567" name="Straight Connector 20"/>
            <p:cNvCxnSpPr>
              <a:cxnSpLocks noChangeShapeType="1"/>
            </p:cNvCxnSpPr>
            <p:nvPr/>
          </p:nvCxnSpPr>
          <p:spPr bwMode="auto">
            <a:xfrm rot="16200000" flipH="1">
              <a:off x="1209177" y="5073945"/>
              <a:ext cx="176211" cy="91492"/>
            </a:xfrm>
            <a:prstGeom prst="line">
              <a:avLst/>
            </a:prstGeom>
            <a:noFill/>
            <a:ln w="9525" algn="ctr">
              <a:solidFill>
                <a:schemeClr val="tx1"/>
              </a:solidFill>
              <a:round/>
              <a:headEnd/>
              <a:tailEnd/>
            </a:ln>
          </p:spPr>
        </p:cxnSp>
        <p:cxnSp>
          <p:nvCxnSpPr>
            <p:cNvPr id="22568" name="Straight Connector 21"/>
            <p:cNvCxnSpPr>
              <a:cxnSpLocks noChangeShapeType="1"/>
            </p:cNvCxnSpPr>
            <p:nvPr/>
          </p:nvCxnSpPr>
          <p:spPr bwMode="auto">
            <a:xfrm rot="5400000">
              <a:off x="1305929" y="5071816"/>
              <a:ext cx="175460" cy="91741"/>
            </a:xfrm>
            <a:prstGeom prst="line">
              <a:avLst/>
            </a:prstGeom>
            <a:noFill/>
            <a:ln w="9525" algn="ctr">
              <a:solidFill>
                <a:schemeClr val="tx1"/>
              </a:solidFill>
              <a:round/>
              <a:headEnd/>
              <a:tailEnd/>
            </a:ln>
          </p:spPr>
        </p:cxnSp>
      </p:grpSp>
      <p:grpSp>
        <p:nvGrpSpPr>
          <p:cNvPr id="22537" name="Group 27"/>
          <p:cNvGrpSpPr>
            <a:grpSpLocks/>
          </p:cNvGrpSpPr>
          <p:nvPr/>
        </p:nvGrpSpPr>
        <p:grpSpPr bwMode="auto">
          <a:xfrm>
            <a:off x="2662238" y="5849938"/>
            <a:ext cx="1046162" cy="322262"/>
            <a:chOff x="818146" y="5029200"/>
            <a:chExt cx="1055773" cy="506078"/>
          </a:xfrm>
        </p:grpSpPr>
        <p:cxnSp>
          <p:nvCxnSpPr>
            <p:cNvPr id="22555" name="Straight Connector 28"/>
            <p:cNvCxnSpPr>
              <a:cxnSpLocks noChangeShapeType="1"/>
            </p:cNvCxnSpPr>
            <p:nvPr/>
          </p:nvCxnSpPr>
          <p:spPr bwMode="auto">
            <a:xfrm rot="16200000" flipH="1">
              <a:off x="697831" y="5149515"/>
              <a:ext cx="505326" cy="264695"/>
            </a:xfrm>
            <a:prstGeom prst="line">
              <a:avLst/>
            </a:prstGeom>
            <a:noFill/>
            <a:ln w="9525" algn="ctr">
              <a:solidFill>
                <a:schemeClr val="tx1"/>
              </a:solidFill>
              <a:round/>
              <a:headEnd/>
              <a:tailEnd/>
            </a:ln>
          </p:spPr>
        </p:cxnSp>
        <p:cxnSp>
          <p:nvCxnSpPr>
            <p:cNvPr id="22556" name="Straight Connector 29"/>
            <p:cNvCxnSpPr>
              <a:cxnSpLocks noChangeShapeType="1"/>
            </p:cNvCxnSpPr>
            <p:nvPr/>
          </p:nvCxnSpPr>
          <p:spPr bwMode="auto">
            <a:xfrm rot="5400000">
              <a:off x="1483143" y="5150267"/>
              <a:ext cx="505326" cy="264695"/>
            </a:xfrm>
            <a:prstGeom prst="line">
              <a:avLst/>
            </a:prstGeom>
            <a:noFill/>
            <a:ln w="9525" algn="ctr">
              <a:solidFill>
                <a:schemeClr val="tx1"/>
              </a:solidFill>
              <a:round/>
              <a:headEnd/>
              <a:tailEnd/>
            </a:ln>
          </p:spPr>
        </p:cxnSp>
        <p:cxnSp>
          <p:nvCxnSpPr>
            <p:cNvPr id="22557" name="Straight Connector 30"/>
            <p:cNvCxnSpPr>
              <a:cxnSpLocks noChangeShapeType="1"/>
            </p:cNvCxnSpPr>
            <p:nvPr/>
          </p:nvCxnSpPr>
          <p:spPr bwMode="auto">
            <a:xfrm>
              <a:off x="1082842" y="5534527"/>
              <a:ext cx="517358" cy="0"/>
            </a:xfrm>
            <a:prstGeom prst="line">
              <a:avLst/>
            </a:prstGeom>
            <a:noFill/>
            <a:ln w="9525" algn="ctr">
              <a:solidFill>
                <a:schemeClr val="tx1"/>
              </a:solidFill>
              <a:round/>
              <a:headEnd/>
              <a:tailEnd/>
            </a:ln>
          </p:spPr>
        </p:cxnSp>
        <p:cxnSp>
          <p:nvCxnSpPr>
            <p:cNvPr id="22558" name="Straight Connector 31"/>
            <p:cNvCxnSpPr>
              <a:cxnSpLocks noChangeShapeType="1"/>
            </p:cNvCxnSpPr>
            <p:nvPr/>
          </p:nvCxnSpPr>
          <p:spPr bwMode="auto">
            <a:xfrm>
              <a:off x="819150" y="5032334"/>
              <a:ext cx="438150" cy="1629"/>
            </a:xfrm>
            <a:prstGeom prst="line">
              <a:avLst/>
            </a:prstGeom>
            <a:noFill/>
            <a:ln w="9525" algn="ctr">
              <a:solidFill>
                <a:schemeClr val="tx1"/>
              </a:solidFill>
              <a:round/>
              <a:headEnd/>
              <a:tailEnd/>
            </a:ln>
          </p:spPr>
        </p:cxnSp>
        <p:cxnSp>
          <p:nvCxnSpPr>
            <p:cNvPr id="22559" name="Straight Connector 32"/>
            <p:cNvCxnSpPr>
              <a:cxnSpLocks noChangeShapeType="1"/>
            </p:cNvCxnSpPr>
            <p:nvPr/>
          </p:nvCxnSpPr>
          <p:spPr bwMode="auto">
            <a:xfrm flipV="1">
              <a:off x="1433513" y="5033210"/>
              <a:ext cx="440406" cy="753"/>
            </a:xfrm>
            <a:prstGeom prst="line">
              <a:avLst/>
            </a:prstGeom>
            <a:noFill/>
            <a:ln w="9525" algn="ctr">
              <a:solidFill>
                <a:schemeClr val="tx1"/>
              </a:solidFill>
              <a:round/>
              <a:headEnd/>
              <a:tailEnd/>
            </a:ln>
          </p:spPr>
        </p:cxnSp>
        <p:cxnSp>
          <p:nvCxnSpPr>
            <p:cNvPr id="22560" name="Straight Connector 33"/>
            <p:cNvCxnSpPr>
              <a:cxnSpLocks noChangeShapeType="1"/>
            </p:cNvCxnSpPr>
            <p:nvPr/>
          </p:nvCxnSpPr>
          <p:spPr bwMode="auto">
            <a:xfrm rot="16200000" flipH="1">
              <a:off x="1209177" y="5073945"/>
              <a:ext cx="176211" cy="91492"/>
            </a:xfrm>
            <a:prstGeom prst="line">
              <a:avLst/>
            </a:prstGeom>
            <a:noFill/>
            <a:ln w="9525" algn="ctr">
              <a:solidFill>
                <a:schemeClr val="tx1"/>
              </a:solidFill>
              <a:round/>
              <a:headEnd/>
              <a:tailEnd/>
            </a:ln>
          </p:spPr>
        </p:cxnSp>
        <p:cxnSp>
          <p:nvCxnSpPr>
            <p:cNvPr id="22561" name="Straight Connector 34"/>
            <p:cNvCxnSpPr>
              <a:cxnSpLocks noChangeShapeType="1"/>
            </p:cNvCxnSpPr>
            <p:nvPr/>
          </p:nvCxnSpPr>
          <p:spPr bwMode="auto">
            <a:xfrm rot="5400000">
              <a:off x="1305929" y="5071816"/>
              <a:ext cx="175460" cy="91741"/>
            </a:xfrm>
            <a:prstGeom prst="line">
              <a:avLst/>
            </a:prstGeom>
            <a:noFill/>
            <a:ln w="9525" algn="ctr">
              <a:solidFill>
                <a:schemeClr val="tx1"/>
              </a:solidFill>
              <a:round/>
              <a:headEnd/>
              <a:tailEnd/>
            </a:ln>
          </p:spPr>
        </p:cxnSp>
      </p:grpSp>
      <p:grpSp>
        <p:nvGrpSpPr>
          <p:cNvPr id="22538" name="Group 35"/>
          <p:cNvGrpSpPr>
            <a:grpSpLocks/>
          </p:cNvGrpSpPr>
          <p:nvPr/>
        </p:nvGrpSpPr>
        <p:grpSpPr bwMode="auto">
          <a:xfrm>
            <a:off x="5881688" y="5845175"/>
            <a:ext cx="1046162" cy="323850"/>
            <a:chOff x="818146" y="5029200"/>
            <a:chExt cx="1055773" cy="506078"/>
          </a:xfrm>
        </p:grpSpPr>
        <p:cxnSp>
          <p:nvCxnSpPr>
            <p:cNvPr id="22548" name="Straight Connector 36"/>
            <p:cNvCxnSpPr>
              <a:cxnSpLocks noChangeShapeType="1"/>
            </p:cNvCxnSpPr>
            <p:nvPr/>
          </p:nvCxnSpPr>
          <p:spPr bwMode="auto">
            <a:xfrm rot="16200000" flipH="1">
              <a:off x="697831" y="5149515"/>
              <a:ext cx="505326" cy="264695"/>
            </a:xfrm>
            <a:prstGeom prst="line">
              <a:avLst/>
            </a:prstGeom>
            <a:noFill/>
            <a:ln w="9525" algn="ctr">
              <a:solidFill>
                <a:schemeClr val="tx1"/>
              </a:solidFill>
              <a:round/>
              <a:headEnd/>
              <a:tailEnd/>
            </a:ln>
          </p:spPr>
        </p:cxnSp>
        <p:cxnSp>
          <p:nvCxnSpPr>
            <p:cNvPr id="22549" name="Straight Connector 37"/>
            <p:cNvCxnSpPr>
              <a:cxnSpLocks noChangeShapeType="1"/>
            </p:cNvCxnSpPr>
            <p:nvPr/>
          </p:nvCxnSpPr>
          <p:spPr bwMode="auto">
            <a:xfrm rot="5400000">
              <a:off x="1483143" y="5150267"/>
              <a:ext cx="505326" cy="264695"/>
            </a:xfrm>
            <a:prstGeom prst="line">
              <a:avLst/>
            </a:prstGeom>
            <a:noFill/>
            <a:ln w="9525" algn="ctr">
              <a:solidFill>
                <a:schemeClr val="tx1"/>
              </a:solidFill>
              <a:round/>
              <a:headEnd/>
              <a:tailEnd/>
            </a:ln>
          </p:spPr>
        </p:cxnSp>
        <p:cxnSp>
          <p:nvCxnSpPr>
            <p:cNvPr id="22550" name="Straight Connector 38"/>
            <p:cNvCxnSpPr>
              <a:cxnSpLocks noChangeShapeType="1"/>
            </p:cNvCxnSpPr>
            <p:nvPr/>
          </p:nvCxnSpPr>
          <p:spPr bwMode="auto">
            <a:xfrm>
              <a:off x="1082842" y="5534527"/>
              <a:ext cx="517358" cy="0"/>
            </a:xfrm>
            <a:prstGeom prst="line">
              <a:avLst/>
            </a:prstGeom>
            <a:noFill/>
            <a:ln w="9525" algn="ctr">
              <a:solidFill>
                <a:schemeClr val="tx1"/>
              </a:solidFill>
              <a:round/>
              <a:headEnd/>
              <a:tailEnd/>
            </a:ln>
          </p:spPr>
        </p:cxnSp>
        <p:cxnSp>
          <p:nvCxnSpPr>
            <p:cNvPr id="22551" name="Straight Connector 39"/>
            <p:cNvCxnSpPr>
              <a:cxnSpLocks noChangeShapeType="1"/>
            </p:cNvCxnSpPr>
            <p:nvPr/>
          </p:nvCxnSpPr>
          <p:spPr bwMode="auto">
            <a:xfrm>
              <a:off x="819150" y="5032334"/>
              <a:ext cx="438150" cy="1629"/>
            </a:xfrm>
            <a:prstGeom prst="line">
              <a:avLst/>
            </a:prstGeom>
            <a:noFill/>
            <a:ln w="9525" algn="ctr">
              <a:solidFill>
                <a:schemeClr val="tx1"/>
              </a:solidFill>
              <a:round/>
              <a:headEnd/>
              <a:tailEnd/>
            </a:ln>
          </p:spPr>
        </p:cxnSp>
        <p:cxnSp>
          <p:nvCxnSpPr>
            <p:cNvPr id="22552" name="Straight Connector 40"/>
            <p:cNvCxnSpPr>
              <a:cxnSpLocks noChangeShapeType="1"/>
            </p:cNvCxnSpPr>
            <p:nvPr/>
          </p:nvCxnSpPr>
          <p:spPr bwMode="auto">
            <a:xfrm flipV="1">
              <a:off x="1433513" y="5033210"/>
              <a:ext cx="440406" cy="753"/>
            </a:xfrm>
            <a:prstGeom prst="line">
              <a:avLst/>
            </a:prstGeom>
            <a:noFill/>
            <a:ln w="9525" algn="ctr">
              <a:solidFill>
                <a:schemeClr val="tx1"/>
              </a:solidFill>
              <a:round/>
              <a:headEnd/>
              <a:tailEnd/>
            </a:ln>
          </p:spPr>
        </p:cxnSp>
        <p:cxnSp>
          <p:nvCxnSpPr>
            <p:cNvPr id="22553" name="Straight Connector 41"/>
            <p:cNvCxnSpPr>
              <a:cxnSpLocks noChangeShapeType="1"/>
            </p:cNvCxnSpPr>
            <p:nvPr/>
          </p:nvCxnSpPr>
          <p:spPr bwMode="auto">
            <a:xfrm rot="16200000" flipH="1">
              <a:off x="1209177" y="5073945"/>
              <a:ext cx="176211" cy="91492"/>
            </a:xfrm>
            <a:prstGeom prst="line">
              <a:avLst/>
            </a:prstGeom>
            <a:noFill/>
            <a:ln w="9525" algn="ctr">
              <a:solidFill>
                <a:schemeClr val="tx1"/>
              </a:solidFill>
              <a:round/>
              <a:headEnd/>
              <a:tailEnd/>
            </a:ln>
          </p:spPr>
        </p:cxnSp>
        <p:cxnSp>
          <p:nvCxnSpPr>
            <p:cNvPr id="22554" name="Straight Connector 42"/>
            <p:cNvCxnSpPr>
              <a:cxnSpLocks noChangeShapeType="1"/>
            </p:cNvCxnSpPr>
            <p:nvPr/>
          </p:nvCxnSpPr>
          <p:spPr bwMode="auto">
            <a:xfrm rot="5400000">
              <a:off x="1305929" y="5071816"/>
              <a:ext cx="175460" cy="91741"/>
            </a:xfrm>
            <a:prstGeom prst="line">
              <a:avLst/>
            </a:prstGeom>
            <a:noFill/>
            <a:ln w="9525" algn="ctr">
              <a:solidFill>
                <a:schemeClr val="tx1"/>
              </a:solidFill>
              <a:round/>
              <a:headEnd/>
              <a:tailEnd/>
            </a:ln>
          </p:spPr>
        </p:cxnSp>
      </p:grpSp>
      <p:sp>
        <p:nvSpPr>
          <p:cNvPr id="22539" name="Rectangle 43"/>
          <p:cNvSpPr>
            <a:spLocks noChangeArrowheads="1"/>
          </p:cNvSpPr>
          <p:nvPr/>
        </p:nvSpPr>
        <p:spPr bwMode="auto">
          <a:xfrm>
            <a:off x="4500563" y="5811838"/>
            <a:ext cx="744537" cy="396875"/>
          </a:xfrm>
          <a:prstGeom prst="rect">
            <a:avLst/>
          </a:prstGeom>
          <a:solidFill>
            <a:srgbClr val="FFFFFF"/>
          </a:solidFill>
          <a:ln w="9525" algn="ctr">
            <a:solidFill>
              <a:schemeClr val="tx1"/>
            </a:solidFill>
            <a:round/>
            <a:headEnd/>
            <a:tailEnd/>
          </a:ln>
        </p:spPr>
        <p:txBody>
          <a:bodyPr/>
          <a:lstStyle/>
          <a:p>
            <a:endParaRPr lang="en-CA"/>
          </a:p>
        </p:txBody>
      </p:sp>
      <p:grpSp>
        <p:nvGrpSpPr>
          <p:cNvPr id="22540" name="Group 44"/>
          <p:cNvGrpSpPr>
            <a:grpSpLocks/>
          </p:cNvGrpSpPr>
          <p:nvPr/>
        </p:nvGrpSpPr>
        <p:grpSpPr bwMode="auto">
          <a:xfrm>
            <a:off x="7610475" y="5854700"/>
            <a:ext cx="1046163" cy="322263"/>
            <a:chOff x="818146" y="5029200"/>
            <a:chExt cx="1055773" cy="506078"/>
          </a:xfrm>
        </p:grpSpPr>
        <p:cxnSp>
          <p:nvCxnSpPr>
            <p:cNvPr id="22541" name="Straight Connector 45"/>
            <p:cNvCxnSpPr>
              <a:cxnSpLocks noChangeShapeType="1"/>
            </p:cNvCxnSpPr>
            <p:nvPr/>
          </p:nvCxnSpPr>
          <p:spPr bwMode="auto">
            <a:xfrm rot="16200000" flipH="1">
              <a:off x="697831" y="5149515"/>
              <a:ext cx="505326" cy="264695"/>
            </a:xfrm>
            <a:prstGeom prst="line">
              <a:avLst/>
            </a:prstGeom>
            <a:noFill/>
            <a:ln w="9525" algn="ctr">
              <a:solidFill>
                <a:schemeClr val="tx1"/>
              </a:solidFill>
              <a:round/>
              <a:headEnd/>
              <a:tailEnd/>
            </a:ln>
          </p:spPr>
        </p:cxnSp>
        <p:cxnSp>
          <p:nvCxnSpPr>
            <p:cNvPr id="22542" name="Straight Connector 46"/>
            <p:cNvCxnSpPr>
              <a:cxnSpLocks noChangeShapeType="1"/>
            </p:cNvCxnSpPr>
            <p:nvPr/>
          </p:nvCxnSpPr>
          <p:spPr bwMode="auto">
            <a:xfrm rot="5400000">
              <a:off x="1483143" y="5150267"/>
              <a:ext cx="505326" cy="264695"/>
            </a:xfrm>
            <a:prstGeom prst="line">
              <a:avLst/>
            </a:prstGeom>
            <a:noFill/>
            <a:ln w="9525" algn="ctr">
              <a:solidFill>
                <a:schemeClr val="tx1"/>
              </a:solidFill>
              <a:round/>
              <a:headEnd/>
              <a:tailEnd/>
            </a:ln>
          </p:spPr>
        </p:cxnSp>
        <p:cxnSp>
          <p:nvCxnSpPr>
            <p:cNvPr id="22543" name="Straight Connector 47"/>
            <p:cNvCxnSpPr>
              <a:cxnSpLocks noChangeShapeType="1"/>
            </p:cNvCxnSpPr>
            <p:nvPr/>
          </p:nvCxnSpPr>
          <p:spPr bwMode="auto">
            <a:xfrm>
              <a:off x="1082842" y="5534527"/>
              <a:ext cx="517358" cy="0"/>
            </a:xfrm>
            <a:prstGeom prst="line">
              <a:avLst/>
            </a:prstGeom>
            <a:noFill/>
            <a:ln w="9525" algn="ctr">
              <a:solidFill>
                <a:schemeClr val="tx1"/>
              </a:solidFill>
              <a:round/>
              <a:headEnd/>
              <a:tailEnd/>
            </a:ln>
          </p:spPr>
        </p:cxnSp>
        <p:cxnSp>
          <p:nvCxnSpPr>
            <p:cNvPr id="22544" name="Straight Connector 48"/>
            <p:cNvCxnSpPr>
              <a:cxnSpLocks noChangeShapeType="1"/>
            </p:cNvCxnSpPr>
            <p:nvPr/>
          </p:nvCxnSpPr>
          <p:spPr bwMode="auto">
            <a:xfrm>
              <a:off x="819150" y="5032334"/>
              <a:ext cx="438150" cy="1629"/>
            </a:xfrm>
            <a:prstGeom prst="line">
              <a:avLst/>
            </a:prstGeom>
            <a:noFill/>
            <a:ln w="9525" algn="ctr">
              <a:solidFill>
                <a:schemeClr val="tx1"/>
              </a:solidFill>
              <a:round/>
              <a:headEnd/>
              <a:tailEnd/>
            </a:ln>
          </p:spPr>
        </p:cxnSp>
        <p:cxnSp>
          <p:nvCxnSpPr>
            <p:cNvPr id="22545" name="Straight Connector 49"/>
            <p:cNvCxnSpPr>
              <a:cxnSpLocks noChangeShapeType="1"/>
            </p:cNvCxnSpPr>
            <p:nvPr/>
          </p:nvCxnSpPr>
          <p:spPr bwMode="auto">
            <a:xfrm flipV="1">
              <a:off x="1433513" y="5033210"/>
              <a:ext cx="440406" cy="753"/>
            </a:xfrm>
            <a:prstGeom prst="line">
              <a:avLst/>
            </a:prstGeom>
            <a:noFill/>
            <a:ln w="9525" algn="ctr">
              <a:solidFill>
                <a:schemeClr val="tx1"/>
              </a:solidFill>
              <a:round/>
              <a:headEnd/>
              <a:tailEnd/>
            </a:ln>
          </p:spPr>
        </p:cxnSp>
        <p:cxnSp>
          <p:nvCxnSpPr>
            <p:cNvPr id="22546" name="Straight Connector 50"/>
            <p:cNvCxnSpPr>
              <a:cxnSpLocks noChangeShapeType="1"/>
            </p:cNvCxnSpPr>
            <p:nvPr/>
          </p:nvCxnSpPr>
          <p:spPr bwMode="auto">
            <a:xfrm rot="16200000" flipH="1">
              <a:off x="1209177" y="5073945"/>
              <a:ext cx="176211" cy="91492"/>
            </a:xfrm>
            <a:prstGeom prst="line">
              <a:avLst/>
            </a:prstGeom>
            <a:noFill/>
            <a:ln w="9525" algn="ctr">
              <a:solidFill>
                <a:schemeClr val="tx1"/>
              </a:solidFill>
              <a:round/>
              <a:headEnd/>
              <a:tailEnd/>
            </a:ln>
          </p:spPr>
        </p:cxnSp>
        <p:cxnSp>
          <p:nvCxnSpPr>
            <p:cNvPr id="22547" name="Straight Connector 51"/>
            <p:cNvCxnSpPr>
              <a:cxnSpLocks noChangeShapeType="1"/>
            </p:cNvCxnSpPr>
            <p:nvPr/>
          </p:nvCxnSpPr>
          <p:spPr bwMode="auto">
            <a:xfrm rot="5400000">
              <a:off x="1305929" y="5071816"/>
              <a:ext cx="175460" cy="91741"/>
            </a:xfrm>
            <a:prstGeom prst="line">
              <a:avLst/>
            </a:prstGeom>
            <a:noFill/>
            <a:ln w="9525" algn="ctr">
              <a:solidFill>
                <a:schemeClr val="tx1"/>
              </a:solidFill>
              <a:round/>
              <a:headEnd/>
              <a:tailEnd/>
            </a:ln>
          </p:spPr>
        </p:cxn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a:xfrm>
            <a:off x="685800" y="0"/>
            <a:ext cx="7772400" cy="1143000"/>
          </a:xfrm>
        </p:spPr>
        <p:txBody>
          <a:bodyPr/>
          <a:lstStyle/>
          <a:p>
            <a:pPr eaLnBrk="1" hangingPunct="1">
              <a:lnSpc>
                <a:spcPct val="134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3200">
                <a:latin typeface="Arial  " charset="0"/>
                <a:cs typeface="Arial  " charset="0"/>
              </a:rPr>
              <a:t>Multiple Issue w/ Dynamic Scheduling</a:t>
            </a:r>
          </a:p>
        </p:txBody>
      </p:sp>
      <p:sp>
        <p:nvSpPr>
          <p:cNvPr id="23555" name="Rectangle 2"/>
          <p:cNvSpPr>
            <a:spLocks noGrp="1" noChangeArrowheads="1"/>
          </p:cNvSpPr>
          <p:nvPr>
            <p:ph type="body" idx="1"/>
          </p:nvPr>
        </p:nvSpPr>
        <p:spPr>
          <a:xfrm>
            <a:off x="441325" y="1231900"/>
            <a:ext cx="8321675" cy="4816475"/>
          </a:xfrm>
        </p:spPr>
        <p:txBody>
          <a:bodyPr/>
          <a:lstStyle/>
          <a:p>
            <a:pPr marL="339725" indent="-339725" eaLnBrk="1" hangingPunct="1">
              <a:lnSpc>
                <a:spcPct val="90000"/>
              </a:lnSpc>
              <a:spcBef>
                <a:spcPts val="6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2000">
                <a:latin typeface="Arial  " charset="0"/>
                <a:cs typeface="Arial  " charset="0"/>
              </a:rPr>
              <a:t>Use extension of Tomasulo’s algorithm.</a:t>
            </a:r>
          </a:p>
          <a:p>
            <a:pPr marL="339725" indent="-339725" eaLnBrk="1" hangingPunct="1">
              <a:lnSpc>
                <a:spcPct val="90000"/>
              </a:lnSpc>
              <a:spcBef>
                <a:spcPts val="6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2000">
                <a:latin typeface="Arial  " charset="0"/>
                <a:cs typeface="Arial  " charset="0"/>
              </a:rPr>
              <a:t>Benefits:</a:t>
            </a:r>
          </a:p>
          <a:p>
            <a:pPr lvl="1" eaLnBrk="1" hangingPunct="1">
              <a:lnSpc>
                <a:spcPct val="90000"/>
              </a:lnSpc>
              <a:spcBef>
                <a:spcPts val="5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1800">
                <a:latin typeface="Arial  " charset="0"/>
                <a:cs typeface="Arial  " charset="0"/>
              </a:rPr>
              <a:t>Overcome data hazards</a:t>
            </a:r>
          </a:p>
          <a:p>
            <a:pPr lvl="1" eaLnBrk="1" hangingPunct="1">
              <a:lnSpc>
                <a:spcPct val="90000"/>
              </a:lnSpc>
              <a:spcBef>
                <a:spcPts val="5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1800">
                <a:latin typeface="Arial  " charset="0"/>
                <a:cs typeface="Arial  " charset="0"/>
              </a:rPr>
              <a:t>Overcome issue restrictions</a:t>
            </a:r>
          </a:p>
          <a:p>
            <a:pPr lvl="1" eaLnBrk="1" hangingPunct="1">
              <a:lnSpc>
                <a:spcPct val="90000"/>
              </a:lnSpc>
              <a:spcBef>
                <a:spcPts val="500"/>
              </a:spcBef>
              <a:buFont typeface="Comic Sans MS" pitchFamily="66"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endParaRPr lang="en-GB" sz="1800">
              <a:latin typeface="Arial  " charset="0"/>
              <a:cs typeface="Arial  " charset="0"/>
            </a:endParaRPr>
          </a:p>
          <a:p>
            <a:pPr marL="339725" indent="-339725" eaLnBrk="1" hangingPunct="1">
              <a:lnSpc>
                <a:spcPct val="90000"/>
              </a:lnSpc>
              <a:spcBef>
                <a:spcPts val="600"/>
              </a:spcBef>
              <a:buClr>
                <a:srgbClr val="0000FF"/>
              </a:buCl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2000">
                <a:solidFill>
                  <a:srgbClr val="0000FF"/>
                </a:solidFill>
                <a:latin typeface="Arial  " charset="0"/>
                <a:cs typeface="Arial  " charset="0"/>
              </a:rPr>
              <a:t>Key challenge: for each instruction in issue packet, in program order</a:t>
            </a:r>
          </a:p>
          <a:p>
            <a:pPr lvl="1" eaLnBrk="1" hangingPunct="1">
              <a:lnSpc>
                <a:spcPct val="90000"/>
              </a:lnSpc>
              <a:spcBef>
                <a:spcPts val="5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1800">
                <a:latin typeface="Arial  " charset="0"/>
                <a:cs typeface="Arial  " charset="0"/>
              </a:rPr>
              <a:t>Assign reservation station and update pipeline control tables</a:t>
            </a:r>
          </a:p>
          <a:p>
            <a:pPr marL="339725" indent="-339725" eaLnBrk="1" hangingPunct="1">
              <a:lnSpc>
                <a:spcPct val="90000"/>
              </a:lnSpc>
              <a:spcBef>
                <a:spcPts val="6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2000">
                <a:latin typeface="Arial  " charset="0"/>
                <a:cs typeface="Arial  " charset="0"/>
              </a:rPr>
              <a:t>Two approaches to overcome this challenge:</a:t>
            </a:r>
          </a:p>
          <a:p>
            <a:pPr lvl="1" eaLnBrk="1" hangingPunct="1">
              <a:lnSpc>
                <a:spcPct val="90000"/>
              </a:lnSpc>
              <a:spcBef>
                <a:spcPts val="5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1800">
                <a:latin typeface="Arial  " charset="0"/>
                <a:cs typeface="Arial  " charset="0"/>
              </a:rPr>
              <a:t>Run this step at higher clock frequency (i.e., do in half a clock cycle for 2-wide superscalar)</a:t>
            </a:r>
          </a:p>
          <a:p>
            <a:pPr lvl="1" eaLnBrk="1" hangingPunct="1">
              <a:lnSpc>
                <a:spcPct val="90000"/>
              </a:lnSpc>
              <a:spcBef>
                <a:spcPts val="5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40525" algn="l"/>
                <a:tab pos="7188200" algn="l"/>
                <a:tab pos="7637463" algn="l"/>
                <a:tab pos="8086725" algn="l"/>
                <a:tab pos="8535988" algn="l"/>
                <a:tab pos="8985250" algn="l"/>
              </a:tabLst>
            </a:pPr>
            <a:r>
              <a:rPr lang="en-GB" sz="1800">
                <a:latin typeface="Arial  " charset="0"/>
                <a:cs typeface="Arial  " charset="0"/>
              </a:rPr>
              <a:t>Add logic to perform operation on multiple (e.g., 2) instructions at once.</a:t>
            </a:r>
            <a:endParaRPr lang="en-GB" sz="2000">
              <a:latin typeface="Arial  " charset="0"/>
              <a:cs typeface="Arial  " charset="0"/>
            </a:endParaRPr>
          </a:p>
        </p:txBody>
      </p:sp>
      <p:sp>
        <p:nvSpPr>
          <p:cNvPr id="23556" name="Slide Number Placeholder 7"/>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2A107BC-A61F-4144-A734-A91ED3759A77}"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43</a:t>
            </a:fld>
            <a:r>
              <a:rPr lang="en-GB"/>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71550" y="74613"/>
            <a:ext cx="7164388" cy="382587"/>
          </a:xfrm>
        </p:spPr>
        <p:txBody>
          <a:bodyPr lIns="90360" tIns="44280" rIns="90360" bIns="44280"/>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a:latin typeface="Arial  " charset="0"/>
                <a:cs typeface="Arial  " charset="0"/>
              </a:rPr>
              <a:t>Tomasulo Organization (with two-wide issue)</a:t>
            </a:r>
            <a:endParaRPr lang="en-GB" sz="3200">
              <a:latin typeface="Arial  " charset="0"/>
              <a:cs typeface="Arial  " charset="0"/>
            </a:endParaRPr>
          </a:p>
        </p:txBody>
      </p:sp>
      <p:sp>
        <p:nvSpPr>
          <p:cNvPr id="24579" name="Slide Number Placeholder 73"/>
          <p:cNvSpPr txBox="1">
            <a:spLocks/>
          </p:cNvSpPr>
          <p:nvPr/>
        </p:nvSpPr>
        <p:spPr bwMode="auto">
          <a:xfrm>
            <a:off x="7240588" y="6402388"/>
            <a:ext cx="1903412" cy="455612"/>
          </a:xfrm>
          <a:prstGeom prst="rect">
            <a:avLst/>
          </a:prstGeom>
          <a:noFill/>
          <a:ln w="9525">
            <a:noFill/>
            <a:round/>
            <a:headEnd/>
            <a:tailEnd/>
          </a:ln>
        </p:spPr>
        <p:txBody>
          <a:bodyPr lIns="90000" tIns="46800" rIns="90000" bIns="46800"/>
          <a:lstStyle/>
          <a:p>
            <a:pPr algn="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AB8AD83-9142-47E6-9FF4-D4C87B46C1EC}" type="slidenum">
              <a:rPr lang="en-GB" sz="1400">
                <a:solidFill>
                  <a:srgbClr val="000000"/>
                </a:solidFill>
                <a:latin typeface="Arial  " charset="0"/>
              </a:rPr>
              <a:pPr algn="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44</a:t>
            </a:fld>
            <a:r>
              <a:rPr lang="en-GB" sz="1400">
                <a:solidFill>
                  <a:srgbClr val="000000"/>
                </a:solidFill>
                <a:latin typeface="Arial  " charset="0"/>
              </a:rPr>
              <a:t> </a:t>
            </a:r>
          </a:p>
        </p:txBody>
      </p:sp>
      <p:grpSp>
        <p:nvGrpSpPr>
          <p:cNvPr id="24580" name="Group 88"/>
          <p:cNvGrpSpPr>
            <a:grpSpLocks/>
          </p:cNvGrpSpPr>
          <p:nvPr/>
        </p:nvGrpSpPr>
        <p:grpSpPr bwMode="auto">
          <a:xfrm>
            <a:off x="77788" y="1155700"/>
            <a:ext cx="8821737" cy="4886325"/>
            <a:chOff x="77235" y="1156475"/>
            <a:chExt cx="8822299" cy="4885979"/>
          </a:xfrm>
        </p:grpSpPr>
        <p:grpSp>
          <p:nvGrpSpPr>
            <p:cNvPr id="24591" name="Group 2"/>
            <p:cNvGrpSpPr>
              <a:grpSpLocks/>
            </p:cNvGrpSpPr>
            <p:nvPr/>
          </p:nvGrpSpPr>
          <p:grpSpPr bwMode="auto">
            <a:xfrm>
              <a:off x="725488" y="2225674"/>
              <a:ext cx="914399" cy="1219200"/>
              <a:chOff x="457" y="1402"/>
              <a:chExt cx="576" cy="768"/>
            </a:xfrm>
          </p:grpSpPr>
          <p:sp>
            <p:nvSpPr>
              <p:cNvPr id="175" name="Rectangle 3"/>
              <p:cNvSpPr>
                <a:spLocks noChangeArrowheads="1"/>
              </p:cNvSpPr>
              <p:nvPr/>
            </p:nvSpPr>
            <p:spPr bwMode="auto">
              <a:xfrm>
                <a:off x="457" y="1402"/>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6" name="Rectangle 4"/>
              <p:cNvSpPr>
                <a:spLocks noChangeArrowheads="1"/>
              </p:cNvSpPr>
              <p:nvPr/>
            </p:nvSpPr>
            <p:spPr bwMode="auto">
              <a:xfrm>
                <a:off x="457" y="1530"/>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7" name="Rectangle 5"/>
              <p:cNvSpPr>
                <a:spLocks noChangeArrowheads="1"/>
              </p:cNvSpPr>
              <p:nvPr/>
            </p:nvSpPr>
            <p:spPr bwMode="auto">
              <a:xfrm>
                <a:off x="457" y="1658"/>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8" name="Rectangle 6"/>
              <p:cNvSpPr>
                <a:spLocks noChangeArrowheads="1"/>
              </p:cNvSpPr>
              <p:nvPr/>
            </p:nvSpPr>
            <p:spPr bwMode="auto">
              <a:xfrm>
                <a:off x="457" y="1786"/>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9" name="Rectangle 7"/>
              <p:cNvSpPr>
                <a:spLocks noChangeArrowheads="1"/>
              </p:cNvSpPr>
              <p:nvPr/>
            </p:nvSpPr>
            <p:spPr bwMode="auto">
              <a:xfrm>
                <a:off x="457" y="1914"/>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80" name="Rectangle 8"/>
              <p:cNvSpPr>
                <a:spLocks noChangeArrowheads="1"/>
              </p:cNvSpPr>
              <p:nvPr/>
            </p:nvSpPr>
            <p:spPr bwMode="auto">
              <a:xfrm>
                <a:off x="457" y="2042"/>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grpSp>
        <p:sp>
          <p:nvSpPr>
            <p:cNvPr id="24592" name="Line 9"/>
            <p:cNvSpPr>
              <a:spLocks noChangeShapeType="1"/>
            </p:cNvSpPr>
            <p:nvPr/>
          </p:nvSpPr>
          <p:spPr bwMode="auto">
            <a:xfrm>
              <a:off x="1106488" y="1616075"/>
              <a:ext cx="1587" cy="609600"/>
            </a:xfrm>
            <a:prstGeom prst="line">
              <a:avLst/>
            </a:prstGeom>
            <a:noFill/>
            <a:ln w="57240">
              <a:solidFill>
                <a:srgbClr val="000000"/>
              </a:solidFill>
              <a:miter lim="800000"/>
              <a:headEnd/>
              <a:tailEnd type="triangle" w="med" len="med"/>
            </a:ln>
          </p:spPr>
          <p:txBody>
            <a:bodyPr/>
            <a:lstStyle/>
            <a:p>
              <a:endParaRPr lang="en-CA"/>
            </a:p>
          </p:txBody>
        </p:sp>
        <p:grpSp>
          <p:nvGrpSpPr>
            <p:cNvPr id="24593" name="Group 10"/>
            <p:cNvGrpSpPr>
              <a:grpSpLocks/>
            </p:cNvGrpSpPr>
            <p:nvPr/>
          </p:nvGrpSpPr>
          <p:grpSpPr bwMode="auto">
            <a:xfrm>
              <a:off x="2833473" y="1246189"/>
              <a:ext cx="1667283" cy="1219200"/>
              <a:chOff x="2104" y="785"/>
              <a:chExt cx="576" cy="768"/>
            </a:xfrm>
          </p:grpSpPr>
          <p:sp>
            <p:nvSpPr>
              <p:cNvPr id="169" name="Rectangle 11"/>
              <p:cNvSpPr>
                <a:spLocks noChangeArrowheads="1"/>
              </p:cNvSpPr>
              <p:nvPr/>
            </p:nvSpPr>
            <p:spPr bwMode="auto">
              <a:xfrm>
                <a:off x="2104" y="785"/>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0" name="Rectangle 12"/>
              <p:cNvSpPr>
                <a:spLocks noChangeArrowheads="1"/>
              </p:cNvSpPr>
              <p:nvPr/>
            </p:nvSpPr>
            <p:spPr bwMode="auto">
              <a:xfrm>
                <a:off x="2104" y="913"/>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1" name="Rectangle 13"/>
              <p:cNvSpPr>
                <a:spLocks noChangeArrowheads="1"/>
              </p:cNvSpPr>
              <p:nvPr/>
            </p:nvSpPr>
            <p:spPr bwMode="auto">
              <a:xfrm>
                <a:off x="2104" y="1041"/>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2" name="Rectangle 14"/>
              <p:cNvSpPr>
                <a:spLocks noChangeArrowheads="1"/>
              </p:cNvSpPr>
              <p:nvPr/>
            </p:nvSpPr>
            <p:spPr bwMode="auto">
              <a:xfrm>
                <a:off x="2104" y="1169"/>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3" name="Rectangle 15"/>
              <p:cNvSpPr>
                <a:spLocks noChangeArrowheads="1"/>
              </p:cNvSpPr>
              <p:nvPr/>
            </p:nvSpPr>
            <p:spPr bwMode="auto">
              <a:xfrm>
                <a:off x="2104" y="1297"/>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74" name="Rectangle 16"/>
              <p:cNvSpPr>
                <a:spLocks noChangeArrowheads="1"/>
              </p:cNvSpPr>
              <p:nvPr/>
            </p:nvSpPr>
            <p:spPr bwMode="auto">
              <a:xfrm>
                <a:off x="2104" y="1425"/>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grpSp>
        <p:grpSp>
          <p:nvGrpSpPr>
            <p:cNvPr id="24594" name="Group 17"/>
            <p:cNvGrpSpPr>
              <a:grpSpLocks/>
            </p:cNvGrpSpPr>
            <p:nvPr/>
          </p:nvGrpSpPr>
          <p:grpSpPr bwMode="auto">
            <a:xfrm>
              <a:off x="5168901" y="1474789"/>
              <a:ext cx="2209801" cy="812800"/>
              <a:chOff x="3256" y="929"/>
              <a:chExt cx="1392" cy="512"/>
            </a:xfrm>
          </p:grpSpPr>
          <p:sp>
            <p:nvSpPr>
              <p:cNvPr id="165" name="Rectangle 18"/>
              <p:cNvSpPr>
                <a:spLocks noChangeArrowheads="1"/>
              </p:cNvSpPr>
              <p:nvPr/>
            </p:nvSpPr>
            <p:spPr bwMode="auto">
              <a:xfrm>
                <a:off x="3256" y="929"/>
                <a:ext cx="1392"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66" name="Rectangle 19"/>
              <p:cNvSpPr>
                <a:spLocks noChangeArrowheads="1"/>
              </p:cNvSpPr>
              <p:nvPr/>
            </p:nvSpPr>
            <p:spPr bwMode="auto">
              <a:xfrm>
                <a:off x="3256" y="1057"/>
                <a:ext cx="1392"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67" name="Rectangle 20"/>
              <p:cNvSpPr>
                <a:spLocks noChangeArrowheads="1"/>
              </p:cNvSpPr>
              <p:nvPr/>
            </p:nvSpPr>
            <p:spPr bwMode="auto">
              <a:xfrm>
                <a:off x="3256" y="1185"/>
                <a:ext cx="1392"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68" name="Rectangle 21"/>
              <p:cNvSpPr>
                <a:spLocks noChangeArrowheads="1"/>
              </p:cNvSpPr>
              <p:nvPr/>
            </p:nvSpPr>
            <p:spPr bwMode="auto">
              <a:xfrm>
                <a:off x="3256" y="1313"/>
                <a:ext cx="1392"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grpSp>
        <p:grpSp>
          <p:nvGrpSpPr>
            <p:cNvPr id="24595" name="Group 22"/>
            <p:cNvGrpSpPr>
              <a:grpSpLocks/>
            </p:cNvGrpSpPr>
            <p:nvPr/>
          </p:nvGrpSpPr>
          <p:grpSpPr bwMode="auto">
            <a:xfrm>
              <a:off x="7583484" y="3368672"/>
              <a:ext cx="914399" cy="609600"/>
              <a:chOff x="4777" y="2122"/>
              <a:chExt cx="576" cy="384"/>
            </a:xfrm>
          </p:grpSpPr>
          <p:sp>
            <p:nvSpPr>
              <p:cNvPr id="162" name="Rectangle 23"/>
              <p:cNvSpPr>
                <a:spLocks noChangeArrowheads="1"/>
              </p:cNvSpPr>
              <p:nvPr/>
            </p:nvSpPr>
            <p:spPr bwMode="auto">
              <a:xfrm>
                <a:off x="4777" y="2122"/>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63" name="Rectangle 24"/>
              <p:cNvSpPr>
                <a:spLocks noChangeArrowheads="1"/>
              </p:cNvSpPr>
              <p:nvPr/>
            </p:nvSpPr>
            <p:spPr bwMode="auto">
              <a:xfrm>
                <a:off x="4777" y="2250"/>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64" name="Rectangle 25"/>
              <p:cNvSpPr>
                <a:spLocks noChangeArrowheads="1"/>
              </p:cNvSpPr>
              <p:nvPr/>
            </p:nvSpPr>
            <p:spPr bwMode="auto">
              <a:xfrm>
                <a:off x="4777" y="2378"/>
                <a:ext cx="576" cy="128"/>
              </a:xfrm>
              <a:prstGeom prst="rect">
                <a:avLst/>
              </a:prstGeom>
              <a:solidFill>
                <a:srgbClr val="FFFFFF"/>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grpSp>
        <p:grpSp>
          <p:nvGrpSpPr>
            <p:cNvPr id="24596" name="Group 26"/>
            <p:cNvGrpSpPr>
              <a:grpSpLocks/>
            </p:cNvGrpSpPr>
            <p:nvPr/>
          </p:nvGrpSpPr>
          <p:grpSpPr bwMode="auto">
            <a:xfrm>
              <a:off x="1677988" y="3913191"/>
              <a:ext cx="2209799" cy="609600"/>
              <a:chOff x="1057" y="2465"/>
              <a:chExt cx="1392" cy="384"/>
            </a:xfrm>
          </p:grpSpPr>
          <p:sp>
            <p:nvSpPr>
              <p:cNvPr id="159" name="Rectangle 27"/>
              <p:cNvSpPr>
                <a:spLocks noChangeArrowheads="1"/>
              </p:cNvSpPr>
              <p:nvPr/>
            </p:nvSpPr>
            <p:spPr bwMode="auto">
              <a:xfrm>
                <a:off x="1057" y="2465"/>
                <a:ext cx="1392" cy="128"/>
              </a:xfrm>
              <a:prstGeom prst="rect">
                <a:avLst/>
              </a:prstGeom>
              <a:solidFill>
                <a:srgbClr val="BBE0E3"/>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60" name="Rectangle 28"/>
              <p:cNvSpPr>
                <a:spLocks noChangeArrowheads="1"/>
              </p:cNvSpPr>
              <p:nvPr/>
            </p:nvSpPr>
            <p:spPr bwMode="auto">
              <a:xfrm>
                <a:off x="1057" y="2593"/>
                <a:ext cx="1392" cy="128"/>
              </a:xfrm>
              <a:prstGeom prst="rect">
                <a:avLst/>
              </a:prstGeom>
              <a:solidFill>
                <a:srgbClr val="BBE0E3"/>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61" name="Rectangle 29"/>
              <p:cNvSpPr>
                <a:spLocks noChangeArrowheads="1"/>
              </p:cNvSpPr>
              <p:nvPr/>
            </p:nvSpPr>
            <p:spPr bwMode="auto">
              <a:xfrm>
                <a:off x="1057" y="2721"/>
                <a:ext cx="1392" cy="128"/>
              </a:xfrm>
              <a:prstGeom prst="rect">
                <a:avLst/>
              </a:prstGeom>
              <a:solidFill>
                <a:srgbClr val="BBE0E3"/>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grpSp>
        <p:sp>
          <p:nvSpPr>
            <p:cNvPr id="24597" name="Rectangle 30"/>
            <p:cNvSpPr>
              <a:spLocks noChangeArrowheads="1"/>
            </p:cNvSpPr>
            <p:nvPr/>
          </p:nvSpPr>
          <p:spPr bwMode="auto">
            <a:xfrm>
              <a:off x="2019859" y="3913188"/>
              <a:ext cx="253786" cy="609600"/>
            </a:xfrm>
            <a:prstGeom prst="rect">
              <a:avLst/>
            </a:prstGeom>
            <a:noFill/>
            <a:ln w="28440">
              <a:solidFill>
                <a:srgbClr val="000000"/>
              </a:solidFill>
              <a:miter lim="800000"/>
              <a:headEnd/>
              <a:tailEnd/>
            </a:ln>
          </p:spPr>
          <p:txBody>
            <a:bodyPr wrap="none" anchor="ctr"/>
            <a:lstStyle/>
            <a:p>
              <a:endParaRPr lang="en-US">
                <a:cs typeface="Arial" pitchFamily="34" charset="0"/>
              </a:endParaRPr>
            </a:p>
          </p:txBody>
        </p:sp>
        <p:sp>
          <p:nvSpPr>
            <p:cNvPr id="104" name="Rectangle 31"/>
            <p:cNvSpPr>
              <a:spLocks noChangeArrowheads="1"/>
            </p:cNvSpPr>
            <p:nvPr/>
          </p:nvSpPr>
          <p:spPr bwMode="auto">
            <a:xfrm>
              <a:off x="2249073" y="5056687"/>
              <a:ext cx="1066868" cy="304778"/>
            </a:xfrm>
            <a:prstGeom prst="rect">
              <a:avLst/>
            </a:prstGeom>
            <a:solidFill>
              <a:srgbClr val="BBE0E3"/>
            </a:solidFill>
            <a:ln w="28440">
              <a:solidFill>
                <a:srgbClr val="000000"/>
              </a:solidFill>
              <a:miter lim="800000"/>
              <a:headEnd/>
              <a:tailEnd/>
            </a:ln>
            <a:effectLst>
              <a:outerShdw blurRad="63500" dist="107933" dir="2700000" algn="ctr" rotWithShape="0">
                <a:srgbClr val="000000">
                  <a:alpha val="74998"/>
                </a:srgbClr>
              </a:outerShdw>
            </a:effectLst>
          </p:spPr>
          <p:txBody>
            <a:bodyPr wrap="none" lIns="90000" tIns="46800" rIns="90000" bIns="46800" anchor="ct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b="1">
                  <a:solidFill>
                    <a:srgbClr val="000000"/>
                  </a:solidFill>
                  <a:cs typeface="Arial" pitchFamily="34" charset="0"/>
                </a:rPr>
                <a:t>FP adders</a:t>
              </a:r>
            </a:p>
          </p:txBody>
        </p:sp>
        <p:sp>
          <p:nvSpPr>
            <p:cNvPr id="24599" name="Text Box 32"/>
            <p:cNvSpPr txBox="1">
              <a:spLocks noChangeArrowheads="1"/>
            </p:cNvSpPr>
            <p:nvPr/>
          </p:nvSpPr>
          <p:spPr bwMode="auto">
            <a:xfrm>
              <a:off x="1096791" y="3837700"/>
              <a:ext cx="628995" cy="719300"/>
            </a:xfrm>
            <a:prstGeom prst="rect">
              <a:avLst/>
            </a:prstGeom>
            <a:noFill/>
            <a:ln w="9525">
              <a:noFill/>
              <a:round/>
              <a:headEnd/>
              <a:tailEnd/>
            </a:ln>
          </p:spPr>
          <p:txBody>
            <a:bodyPr wrap="none" lIns="90000" tIns="46800" rIns="90000" bIns="46800" anchor="ctr">
              <a:spAutoFit/>
            </a:bodyPr>
            <a:lstStyle/>
            <a:p>
              <a:pPr algn="ctr">
                <a:lnSpc>
                  <a:spcPct val="10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Add1</a:t>
              </a:r>
            </a:p>
            <a:p>
              <a:pPr algn="ctr">
                <a:lnSpc>
                  <a:spcPct val="10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Add2</a:t>
              </a:r>
            </a:p>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Add3</a:t>
              </a:r>
            </a:p>
          </p:txBody>
        </p:sp>
        <p:grpSp>
          <p:nvGrpSpPr>
            <p:cNvPr id="24600" name="Group 33"/>
            <p:cNvGrpSpPr>
              <a:grpSpLocks/>
            </p:cNvGrpSpPr>
            <p:nvPr/>
          </p:nvGrpSpPr>
          <p:grpSpPr bwMode="auto">
            <a:xfrm>
              <a:off x="4864101" y="4065593"/>
              <a:ext cx="2209801" cy="381000"/>
              <a:chOff x="3064" y="2561"/>
              <a:chExt cx="1392" cy="240"/>
            </a:xfrm>
          </p:grpSpPr>
          <p:sp>
            <p:nvSpPr>
              <p:cNvPr id="157" name="Rectangle 34"/>
              <p:cNvSpPr>
                <a:spLocks noChangeArrowheads="1"/>
              </p:cNvSpPr>
              <p:nvPr/>
            </p:nvSpPr>
            <p:spPr bwMode="auto">
              <a:xfrm>
                <a:off x="3064" y="2561"/>
                <a:ext cx="1392" cy="120"/>
              </a:xfrm>
              <a:prstGeom prst="rect">
                <a:avLst/>
              </a:prstGeom>
              <a:solidFill>
                <a:srgbClr val="BBE0E3"/>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sp>
            <p:nvSpPr>
              <p:cNvPr id="158" name="Rectangle 35"/>
              <p:cNvSpPr>
                <a:spLocks noChangeArrowheads="1"/>
              </p:cNvSpPr>
              <p:nvPr/>
            </p:nvSpPr>
            <p:spPr bwMode="auto">
              <a:xfrm>
                <a:off x="3064" y="2681"/>
                <a:ext cx="1392" cy="120"/>
              </a:xfrm>
              <a:prstGeom prst="rect">
                <a:avLst/>
              </a:prstGeom>
              <a:solidFill>
                <a:srgbClr val="BBE0E3"/>
              </a:solidFill>
              <a:ln w="28440">
                <a:solidFill>
                  <a:srgbClr val="000000"/>
                </a:solidFill>
                <a:miter lim="800000"/>
                <a:headEnd/>
                <a:tailEnd/>
              </a:ln>
              <a:effectLst>
                <a:outerShdw blurRad="63500" dist="107933" dir="2700000" algn="ctr" rotWithShape="0">
                  <a:srgbClr val="000000">
                    <a:alpha val="74998"/>
                  </a:srgbClr>
                </a:outerShdw>
              </a:effectLst>
            </p:spPr>
            <p:txBody>
              <a:bodyPr wrap="none" anchor="ctr"/>
              <a:lstStyle/>
              <a:p>
                <a:pPr>
                  <a:defRPr/>
                </a:pPr>
                <a:endParaRPr lang="en-US">
                  <a:cs typeface="Arial" pitchFamily="34" charset="0"/>
                </a:endParaRPr>
              </a:p>
            </p:txBody>
          </p:sp>
        </p:grpSp>
        <p:sp>
          <p:nvSpPr>
            <p:cNvPr id="24601" name="Rectangle 36"/>
            <p:cNvSpPr>
              <a:spLocks noChangeArrowheads="1"/>
            </p:cNvSpPr>
            <p:nvPr/>
          </p:nvSpPr>
          <p:spPr bwMode="auto">
            <a:xfrm>
              <a:off x="5218328" y="4065588"/>
              <a:ext cx="268073" cy="381000"/>
            </a:xfrm>
            <a:prstGeom prst="rect">
              <a:avLst/>
            </a:prstGeom>
            <a:noFill/>
            <a:ln w="28440">
              <a:solidFill>
                <a:srgbClr val="000000"/>
              </a:solidFill>
              <a:miter lim="800000"/>
              <a:headEnd/>
              <a:tailEnd/>
            </a:ln>
          </p:spPr>
          <p:txBody>
            <a:bodyPr wrap="none" anchor="ctr"/>
            <a:lstStyle/>
            <a:p>
              <a:endParaRPr lang="en-US">
                <a:cs typeface="Arial" pitchFamily="34" charset="0"/>
              </a:endParaRPr>
            </a:p>
          </p:txBody>
        </p:sp>
        <p:sp>
          <p:nvSpPr>
            <p:cNvPr id="108" name="Rectangle 37"/>
            <p:cNvSpPr>
              <a:spLocks noChangeArrowheads="1"/>
            </p:cNvSpPr>
            <p:nvPr/>
          </p:nvSpPr>
          <p:spPr bwMode="auto">
            <a:xfrm>
              <a:off x="5321081" y="5056687"/>
              <a:ext cx="1447892" cy="304778"/>
            </a:xfrm>
            <a:prstGeom prst="rect">
              <a:avLst/>
            </a:prstGeom>
            <a:solidFill>
              <a:srgbClr val="BBE0E3"/>
            </a:solidFill>
            <a:ln w="28440">
              <a:solidFill>
                <a:srgbClr val="000000"/>
              </a:solidFill>
              <a:miter lim="800000"/>
              <a:headEnd/>
              <a:tailEnd/>
            </a:ln>
            <a:effectLst>
              <a:outerShdw blurRad="63500" dist="107933" dir="2700000" algn="ctr" rotWithShape="0">
                <a:srgbClr val="000000">
                  <a:alpha val="74998"/>
                </a:srgbClr>
              </a:outerShdw>
            </a:effectLst>
          </p:spPr>
          <p:txBody>
            <a:bodyPr wrap="none" lIns="90000" tIns="46800" rIns="90000" bIns="46800" anchor="ct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b="1">
                  <a:solidFill>
                    <a:srgbClr val="000000"/>
                  </a:solidFill>
                  <a:cs typeface="Arial" pitchFamily="34" charset="0"/>
                </a:rPr>
                <a:t>FP multipliers</a:t>
              </a:r>
            </a:p>
          </p:txBody>
        </p:sp>
        <p:sp>
          <p:nvSpPr>
            <p:cNvPr id="24603" name="Text Box 38"/>
            <p:cNvSpPr txBox="1">
              <a:spLocks noChangeArrowheads="1"/>
            </p:cNvSpPr>
            <p:nvPr/>
          </p:nvSpPr>
          <p:spPr bwMode="auto">
            <a:xfrm>
              <a:off x="4243916" y="4051444"/>
              <a:ext cx="648231" cy="482313"/>
            </a:xfrm>
            <a:prstGeom prst="rect">
              <a:avLst/>
            </a:prstGeom>
            <a:noFill/>
            <a:ln w="9525">
              <a:noFill/>
              <a:round/>
              <a:headEnd/>
              <a:tailEnd/>
            </a:ln>
          </p:spPr>
          <p:txBody>
            <a:bodyPr wrap="none" lIns="90000" tIns="46800" rIns="90000" bIns="46800" anchor="ctr">
              <a:spAutoFit/>
            </a:bodyPr>
            <a:lstStyle/>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Mult1</a:t>
              </a:r>
            </a:p>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Mult2</a:t>
              </a:r>
            </a:p>
          </p:txBody>
        </p:sp>
        <p:sp>
          <p:nvSpPr>
            <p:cNvPr id="24604" name="Line 39"/>
            <p:cNvSpPr>
              <a:spLocks noChangeShapeType="1"/>
            </p:cNvSpPr>
            <p:nvPr/>
          </p:nvSpPr>
          <p:spPr bwMode="auto">
            <a:xfrm>
              <a:off x="2425700" y="4522788"/>
              <a:ext cx="1588" cy="533400"/>
            </a:xfrm>
            <a:prstGeom prst="line">
              <a:avLst/>
            </a:prstGeom>
            <a:noFill/>
            <a:ln w="28440">
              <a:solidFill>
                <a:srgbClr val="000000"/>
              </a:solidFill>
              <a:miter lim="800000"/>
              <a:headEnd/>
              <a:tailEnd type="triangle" w="med" len="med"/>
            </a:ln>
          </p:spPr>
          <p:txBody>
            <a:bodyPr/>
            <a:lstStyle/>
            <a:p>
              <a:endParaRPr lang="en-CA"/>
            </a:p>
          </p:txBody>
        </p:sp>
        <p:sp>
          <p:nvSpPr>
            <p:cNvPr id="24605" name="Line 40"/>
            <p:cNvSpPr>
              <a:spLocks noChangeShapeType="1"/>
            </p:cNvSpPr>
            <p:nvPr/>
          </p:nvSpPr>
          <p:spPr bwMode="auto">
            <a:xfrm>
              <a:off x="3111500" y="4522788"/>
              <a:ext cx="1588" cy="533400"/>
            </a:xfrm>
            <a:prstGeom prst="line">
              <a:avLst/>
            </a:prstGeom>
            <a:noFill/>
            <a:ln w="28440">
              <a:solidFill>
                <a:srgbClr val="000000"/>
              </a:solidFill>
              <a:miter lim="800000"/>
              <a:headEnd/>
              <a:tailEnd type="triangle" w="med" len="med"/>
            </a:ln>
          </p:spPr>
          <p:txBody>
            <a:bodyPr/>
            <a:lstStyle/>
            <a:p>
              <a:endParaRPr lang="en-CA"/>
            </a:p>
          </p:txBody>
        </p:sp>
        <p:sp>
          <p:nvSpPr>
            <p:cNvPr id="24606" name="Line 41"/>
            <p:cNvSpPr>
              <a:spLocks noChangeShapeType="1"/>
            </p:cNvSpPr>
            <p:nvPr/>
          </p:nvSpPr>
          <p:spPr bwMode="auto">
            <a:xfrm>
              <a:off x="5549900" y="4446588"/>
              <a:ext cx="1588" cy="609600"/>
            </a:xfrm>
            <a:prstGeom prst="line">
              <a:avLst/>
            </a:prstGeom>
            <a:noFill/>
            <a:ln w="28440">
              <a:solidFill>
                <a:srgbClr val="000000"/>
              </a:solidFill>
              <a:miter lim="800000"/>
              <a:headEnd/>
              <a:tailEnd type="triangle" w="med" len="med"/>
            </a:ln>
          </p:spPr>
          <p:txBody>
            <a:bodyPr/>
            <a:lstStyle/>
            <a:p>
              <a:endParaRPr lang="en-CA"/>
            </a:p>
          </p:txBody>
        </p:sp>
        <p:sp>
          <p:nvSpPr>
            <p:cNvPr id="24607" name="Line 42"/>
            <p:cNvSpPr>
              <a:spLocks noChangeShapeType="1"/>
            </p:cNvSpPr>
            <p:nvPr/>
          </p:nvSpPr>
          <p:spPr bwMode="auto">
            <a:xfrm>
              <a:off x="6464300" y="4446588"/>
              <a:ext cx="1588" cy="609600"/>
            </a:xfrm>
            <a:prstGeom prst="line">
              <a:avLst/>
            </a:prstGeom>
            <a:noFill/>
            <a:ln w="28440">
              <a:solidFill>
                <a:srgbClr val="000000"/>
              </a:solidFill>
              <a:miter lim="800000"/>
              <a:headEnd/>
              <a:tailEnd type="triangle" w="med" len="med"/>
            </a:ln>
          </p:spPr>
          <p:txBody>
            <a:bodyPr/>
            <a:lstStyle/>
            <a:p>
              <a:endParaRPr lang="en-CA"/>
            </a:p>
          </p:txBody>
        </p:sp>
        <p:sp>
          <p:nvSpPr>
            <p:cNvPr id="24608" name="Freeform 43"/>
            <p:cNvSpPr>
              <a:spLocks/>
            </p:cNvSpPr>
            <p:nvPr/>
          </p:nvSpPr>
          <p:spPr bwMode="auto">
            <a:xfrm>
              <a:off x="1816100" y="2465388"/>
              <a:ext cx="1981200" cy="1447800"/>
            </a:xfrm>
            <a:custGeom>
              <a:avLst/>
              <a:gdLst>
                <a:gd name="T0" fmla="*/ 2147483647 w 1248"/>
                <a:gd name="T1" fmla="*/ 0 h 912"/>
                <a:gd name="T2" fmla="*/ 2147483647 w 1248"/>
                <a:gd name="T3" fmla="*/ 2147483647 h 912"/>
                <a:gd name="T4" fmla="*/ 0 w 1248"/>
                <a:gd name="T5" fmla="*/ 2147483647 h 912"/>
                <a:gd name="T6" fmla="*/ 0 w 1248"/>
                <a:gd name="T7" fmla="*/ 2147483647 h 912"/>
                <a:gd name="T8" fmla="*/ 0 60000 65536"/>
                <a:gd name="T9" fmla="*/ 0 60000 65536"/>
                <a:gd name="T10" fmla="*/ 0 60000 65536"/>
                <a:gd name="T11" fmla="*/ 0 60000 65536"/>
                <a:gd name="T12" fmla="*/ 0 w 1248"/>
                <a:gd name="T13" fmla="*/ 0 h 912"/>
                <a:gd name="T14" fmla="*/ 1248 w 1248"/>
                <a:gd name="T15" fmla="*/ 912 h 912"/>
              </a:gdLst>
              <a:ahLst/>
              <a:cxnLst>
                <a:cxn ang="T8">
                  <a:pos x="T0" y="T1"/>
                </a:cxn>
                <a:cxn ang="T9">
                  <a:pos x="T2" y="T3"/>
                </a:cxn>
                <a:cxn ang="T10">
                  <a:pos x="T4" y="T5"/>
                </a:cxn>
                <a:cxn ang="T11">
                  <a:pos x="T6" y="T7"/>
                </a:cxn>
              </a:cxnLst>
              <a:rect l="T12" t="T13" r="T14" b="T15"/>
              <a:pathLst>
                <a:path w="1248" h="912">
                  <a:moveTo>
                    <a:pt x="1248" y="0"/>
                  </a:moveTo>
                  <a:lnTo>
                    <a:pt x="1248" y="672"/>
                  </a:lnTo>
                  <a:lnTo>
                    <a:pt x="0" y="672"/>
                  </a:lnTo>
                  <a:lnTo>
                    <a:pt x="0" y="912"/>
                  </a:lnTo>
                </a:path>
              </a:pathLst>
            </a:custGeom>
            <a:noFill/>
            <a:ln w="28440">
              <a:solidFill>
                <a:srgbClr val="000000"/>
              </a:solidFill>
              <a:round/>
              <a:headEnd/>
              <a:tailEnd type="triangle" w="med" len="med"/>
            </a:ln>
          </p:spPr>
          <p:txBody>
            <a:bodyPr wrap="none" anchor="ctr"/>
            <a:lstStyle/>
            <a:p>
              <a:endParaRPr lang="en-CA"/>
            </a:p>
          </p:txBody>
        </p:sp>
        <p:sp>
          <p:nvSpPr>
            <p:cNvPr id="24609" name="Freeform 44"/>
            <p:cNvSpPr>
              <a:spLocks/>
            </p:cNvSpPr>
            <p:nvPr/>
          </p:nvSpPr>
          <p:spPr bwMode="auto">
            <a:xfrm>
              <a:off x="3797300" y="3532188"/>
              <a:ext cx="1219200" cy="533400"/>
            </a:xfrm>
            <a:custGeom>
              <a:avLst/>
              <a:gdLst>
                <a:gd name="T0" fmla="*/ 0 w 768"/>
                <a:gd name="T1" fmla="*/ 0 h 336"/>
                <a:gd name="T2" fmla="*/ 2147483647 w 768"/>
                <a:gd name="T3" fmla="*/ 0 h 336"/>
                <a:gd name="T4" fmla="*/ 2147483647 w 768"/>
                <a:gd name="T5" fmla="*/ 2147483647 h 336"/>
                <a:gd name="T6" fmla="*/ 0 60000 65536"/>
                <a:gd name="T7" fmla="*/ 0 60000 65536"/>
                <a:gd name="T8" fmla="*/ 0 60000 65536"/>
                <a:gd name="T9" fmla="*/ 0 w 768"/>
                <a:gd name="T10" fmla="*/ 0 h 336"/>
                <a:gd name="T11" fmla="*/ 768 w 768"/>
                <a:gd name="T12" fmla="*/ 336 h 336"/>
              </a:gdLst>
              <a:ahLst/>
              <a:cxnLst>
                <a:cxn ang="T6">
                  <a:pos x="T0" y="T1"/>
                </a:cxn>
                <a:cxn ang="T7">
                  <a:pos x="T2" y="T3"/>
                </a:cxn>
                <a:cxn ang="T8">
                  <a:pos x="T4" y="T5"/>
                </a:cxn>
              </a:cxnLst>
              <a:rect l="T9" t="T10" r="T11" b="T12"/>
              <a:pathLst>
                <a:path w="768" h="336">
                  <a:moveTo>
                    <a:pt x="0" y="0"/>
                  </a:moveTo>
                  <a:lnTo>
                    <a:pt x="768" y="0"/>
                  </a:lnTo>
                  <a:lnTo>
                    <a:pt x="768" y="336"/>
                  </a:lnTo>
                </a:path>
              </a:pathLst>
            </a:custGeom>
            <a:noFill/>
            <a:ln w="28440">
              <a:solidFill>
                <a:srgbClr val="000000"/>
              </a:solidFill>
              <a:round/>
              <a:headEnd/>
              <a:tailEnd type="triangle" w="med" len="med"/>
            </a:ln>
          </p:spPr>
          <p:txBody>
            <a:bodyPr wrap="none" anchor="ctr"/>
            <a:lstStyle/>
            <a:p>
              <a:endParaRPr lang="en-CA"/>
            </a:p>
          </p:txBody>
        </p:sp>
        <p:sp>
          <p:nvSpPr>
            <p:cNvPr id="24610" name="Freeform 45"/>
            <p:cNvSpPr>
              <a:spLocks/>
            </p:cNvSpPr>
            <p:nvPr/>
          </p:nvSpPr>
          <p:spPr bwMode="auto">
            <a:xfrm>
              <a:off x="2113006" y="2312988"/>
              <a:ext cx="3225114" cy="1600200"/>
            </a:xfrm>
            <a:custGeom>
              <a:avLst/>
              <a:gdLst>
                <a:gd name="T0" fmla="*/ 2147483647 w 1968"/>
                <a:gd name="T1" fmla="*/ 0 h 1008"/>
                <a:gd name="T2" fmla="*/ 2147483647 w 1968"/>
                <a:gd name="T3" fmla="*/ 2147483647 h 1008"/>
                <a:gd name="T4" fmla="*/ 0 w 1968"/>
                <a:gd name="T5" fmla="*/ 2147483647 h 1008"/>
                <a:gd name="T6" fmla="*/ 0 w 1968"/>
                <a:gd name="T7" fmla="*/ 2147483647 h 1008"/>
                <a:gd name="T8" fmla="*/ 0 60000 65536"/>
                <a:gd name="T9" fmla="*/ 0 60000 65536"/>
                <a:gd name="T10" fmla="*/ 0 60000 65536"/>
                <a:gd name="T11" fmla="*/ 0 60000 65536"/>
                <a:gd name="T12" fmla="*/ 0 w 1968"/>
                <a:gd name="T13" fmla="*/ 0 h 1008"/>
                <a:gd name="T14" fmla="*/ 1968 w 1968"/>
                <a:gd name="T15" fmla="*/ 1008 h 1008"/>
              </a:gdLst>
              <a:ahLst/>
              <a:cxnLst>
                <a:cxn ang="T8">
                  <a:pos x="T0" y="T1"/>
                </a:cxn>
                <a:cxn ang="T9">
                  <a:pos x="T2" y="T3"/>
                </a:cxn>
                <a:cxn ang="T10">
                  <a:pos x="T4" y="T5"/>
                </a:cxn>
                <a:cxn ang="T11">
                  <a:pos x="T6" y="T7"/>
                </a:cxn>
              </a:cxnLst>
              <a:rect l="T12" t="T13" r="T14" b="T15"/>
              <a:pathLst>
                <a:path w="1968" h="1008">
                  <a:moveTo>
                    <a:pt x="1968" y="0"/>
                  </a:moveTo>
                  <a:lnTo>
                    <a:pt x="1968" y="528"/>
                  </a:lnTo>
                  <a:lnTo>
                    <a:pt x="0" y="528"/>
                  </a:lnTo>
                  <a:lnTo>
                    <a:pt x="0" y="1008"/>
                  </a:lnTo>
                </a:path>
              </a:pathLst>
            </a:custGeom>
            <a:noFill/>
            <a:ln w="28440">
              <a:solidFill>
                <a:srgbClr val="000000"/>
              </a:solidFill>
              <a:round/>
              <a:headEnd/>
              <a:tailEnd type="triangle" w="med" len="med"/>
            </a:ln>
          </p:spPr>
          <p:txBody>
            <a:bodyPr wrap="none" anchor="ctr"/>
            <a:lstStyle/>
            <a:p>
              <a:endParaRPr lang="en-CA"/>
            </a:p>
          </p:txBody>
        </p:sp>
        <p:sp>
          <p:nvSpPr>
            <p:cNvPr id="24611" name="Line 46"/>
            <p:cNvSpPr>
              <a:spLocks noChangeShapeType="1"/>
            </p:cNvSpPr>
            <p:nvPr/>
          </p:nvSpPr>
          <p:spPr bwMode="auto">
            <a:xfrm>
              <a:off x="5337773" y="3151188"/>
              <a:ext cx="1588" cy="914400"/>
            </a:xfrm>
            <a:prstGeom prst="line">
              <a:avLst/>
            </a:prstGeom>
            <a:noFill/>
            <a:ln w="28440">
              <a:solidFill>
                <a:srgbClr val="000000"/>
              </a:solidFill>
              <a:miter lim="800000"/>
              <a:headEnd/>
              <a:tailEnd type="triangle" w="med" len="med"/>
            </a:ln>
          </p:spPr>
          <p:txBody>
            <a:bodyPr/>
            <a:lstStyle/>
            <a:p>
              <a:endParaRPr lang="en-CA"/>
            </a:p>
          </p:txBody>
        </p:sp>
        <p:sp>
          <p:nvSpPr>
            <p:cNvPr id="24612" name="Line 47"/>
            <p:cNvSpPr>
              <a:spLocks noChangeShapeType="1"/>
            </p:cNvSpPr>
            <p:nvPr/>
          </p:nvSpPr>
          <p:spPr bwMode="auto">
            <a:xfrm>
              <a:off x="6571397" y="2312988"/>
              <a:ext cx="1588" cy="1752600"/>
            </a:xfrm>
            <a:prstGeom prst="line">
              <a:avLst/>
            </a:prstGeom>
            <a:noFill/>
            <a:ln w="28440">
              <a:solidFill>
                <a:srgbClr val="000000"/>
              </a:solidFill>
              <a:miter lim="800000"/>
              <a:headEnd/>
              <a:tailEnd type="triangle" w="med" len="med"/>
            </a:ln>
          </p:spPr>
          <p:txBody>
            <a:bodyPr/>
            <a:lstStyle/>
            <a:p>
              <a:endParaRPr lang="en-CA"/>
            </a:p>
          </p:txBody>
        </p:sp>
        <p:sp>
          <p:nvSpPr>
            <p:cNvPr id="24613" name="Freeform 48"/>
            <p:cNvSpPr>
              <a:spLocks/>
            </p:cNvSpPr>
            <p:nvPr/>
          </p:nvSpPr>
          <p:spPr bwMode="auto">
            <a:xfrm>
              <a:off x="3398108" y="3348680"/>
              <a:ext cx="3163330" cy="564507"/>
            </a:xfrm>
            <a:custGeom>
              <a:avLst/>
              <a:gdLst>
                <a:gd name="T0" fmla="*/ 2147483647 w 1920"/>
                <a:gd name="T1" fmla="*/ 0 h 384"/>
                <a:gd name="T2" fmla="*/ 0 w 1920"/>
                <a:gd name="T3" fmla="*/ 0 h 384"/>
                <a:gd name="T4" fmla="*/ 0 w 1920"/>
                <a:gd name="T5" fmla="*/ 2147483647 h 384"/>
                <a:gd name="T6" fmla="*/ 0 60000 65536"/>
                <a:gd name="T7" fmla="*/ 0 60000 65536"/>
                <a:gd name="T8" fmla="*/ 0 60000 65536"/>
                <a:gd name="T9" fmla="*/ 0 w 1920"/>
                <a:gd name="T10" fmla="*/ 0 h 384"/>
                <a:gd name="T11" fmla="*/ 1920 w 1920"/>
                <a:gd name="T12" fmla="*/ 384 h 384"/>
              </a:gdLst>
              <a:ahLst/>
              <a:cxnLst>
                <a:cxn ang="T6">
                  <a:pos x="T0" y="T1"/>
                </a:cxn>
                <a:cxn ang="T7">
                  <a:pos x="T2" y="T3"/>
                </a:cxn>
                <a:cxn ang="T8">
                  <a:pos x="T4" y="T5"/>
                </a:cxn>
              </a:cxnLst>
              <a:rect l="T9" t="T10" r="T11" b="T12"/>
              <a:pathLst>
                <a:path w="1920" h="384">
                  <a:moveTo>
                    <a:pt x="1920" y="0"/>
                  </a:moveTo>
                  <a:lnTo>
                    <a:pt x="0" y="0"/>
                  </a:lnTo>
                  <a:lnTo>
                    <a:pt x="0" y="384"/>
                  </a:lnTo>
                </a:path>
              </a:pathLst>
            </a:custGeom>
            <a:noFill/>
            <a:ln w="28440">
              <a:solidFill>
                <a:srgbClr val="000000"/>
              </a:solidFill>
              <a:round/>
              <a:headEnd/>
              <a:tailEnd type="triangle" w="med" len="med"/>
            </a:ln>
          </p:spPr>
          <p:txBody>
            <a:bodyPr wrap="none" anchor="ctr"/>
            <a:lstStyle/>
            <a:p>
              <a:endParaRPr lang="en-CA"/>
            </a:p>
          </p:txBody>
        </p:sp>
        <p:sp>
          <p:nvSpPr>
            <p:cNvPr id="24614" name="Freeform 49"/>
            <p:cNvSpPr>
              <a:spLocks/>
            </p:cNvSpPr>
            <p:nvPr/>
          </p:nvSpPr>
          <p:spPr bwMode="auto">
            <a:xfrm>
              <a:off x="6573796" y="2835275"/>
              <a:ext cx="1408670" cy="533400"/>
            </a:xfrm>
            <a:custGeom>
              <a:avLst/>
              <a:gdLst>
                <a:gd name="T0" fmla="*/ 0 w 1008"/>
                <a:gd name="T1" fmla="*/ 0 h 144"/>
                <a:gd name="T2" fmla="*/ 2147483647 w 1008"/>
                <a:gd name="T3" fmla="*/ 0 h 144"/>
                <a:gd name="T4" fmla="*/ 2147483647 w 1008"/>
                <a:gd name="T5" fmla="*/ 2147483647 h 144"/>
                <a:gd name="T6" fmla="*/ 0 60000 65536"/>
                <a:gd name="T7" fmla="*/ 0 60000 65536"/>
                <a:gd name="T8" fmla="*/ 0 60000 65536"/>
                <a:gd name="T9" fmla="*/ 0 w 1008"/>
                <a:gd name="T10" fmla="*/ 0 h 144"/>
                <a:gd name="T11" fmla="*/ 1008 w 1008"/>
                <a:gd name="T12" fmla="*/ 144 h 144"/>
              </a:gdLst>
              <a:ahLst/>
              <a:cxnLst>
                <a:cxn ang="T6">
                  <a:pos x="T0" y="T1"/>
                </a:cxn>
                <a:cxn ang="T7">
                  <a:pos x="T2" y="T3"/>
                </a:cxn>
                <a:cxn ang="T8">
                  <a:pos x="T4" y="T5"/>
                </a:cxn>
              </a:cxnLst>
              <a:rect l="T9" t="T10" r="T11" b="T12"/>
              <a:pathLst>
                <a:path w="1008" h="144">
                  <a:moveTo>
                    <a:pt x="0" y="0"/>
                  </a:moveTo>
                  <a:lnTo>
                    <a:pt x="1008" y="0"/>
                  </a:lnTo>
                  <a:lnTo>
                    <a:pt x="1008" y="144"/>
                  </a:lnTo>
                </a:path>
              </a:pathLst>
            </a:custGeom>
            <a:noFill/>
            <a:ln w="28440">
              <a:solidFill>
                <a:srgbClr val="000000"/>
              </a:solidFill>
              <a:round/>
              <a:headEnd/>
              <a:tailEnd type="triangle" w="med" len="med"/>
            </a:ln>
          </p:spPr>
          <p:txBody>
            <a:bodyPr wrap="none" anchor="ctr"/>
            <a:lstStyle/>
            <a:p>
              <a:endParaRPr lang="en-CA"/>
            </a:p>
          </p:txBody>
        </p:sp>
        <p:sp>
          <p:nvSpPr>
            <p:cNvPr id="24615" name="Line 50"/>
            <p:cNvSpPr>
              <a:spLocks noChangeShapeType="1"/>
            </p:cNvSpPr>
            <p:nvPr/>
          </p:nvSpPr>
          <p:spPr bwMode="auto">
            <a:xfrm>
              <a:off x="805609" y="6028194"/>
              <a:ext cx="8091254" cy="14260"/>
            </a:xfrm>
            <a:prstGeom prst="line">
              <a:avLst/>
            </a:prstGeom>
            <a:noFill/>
            <a:ln w="57240">
              <a:solidFill>
                <a:srgbClr val="009999"/>
              </a:solidFill>
              <a:miter lim="800000"/>
              <a:headEnd/>
              <a:tailEnd/>
            </a:ln>
          </p:spPr>
          <p:txBody>
            <a:bodyPr/>
            <a:lstStyle/>
            <a:p>
              <a:endParaRPr lang="en-CA"/>
            </a:p>
          </p:txBody>
        </p:sp>
        <p:sp>
          <p:nvSpPr>
            <p:cNvPr id="24616" name="Line 51"/>
            <p:cNvSpPr>
              <a:spLocks noChangeShapeType="1"/>
            </p:cNvSpPr>
            <p:nvPr/>
          </p:nvSpPr>
          <p:spPr bwMode="auto">
            <a:xfrm flipH="1" flipV="1">
              <a:off x="8575588" y="3669956"/>
              <a:ext cx="304885" cy="3518"/>
            </a:xfrm>
            <a:prstGeom prst="line">
              <a:avLst/>
            </a:prstGeom>
            <a:noFill/>
            <a:ln w="57240">
              <a:solidFill>
                <a:srgbClr val="009999"/>
              </a:solidFill>
              <a:miter lim="800000"/>
              <a:headEnd/>
              <a:tailEnd type="triangle" w="med" len="med"/>
            </a:ln>
          </p:spPr>
          <p:txBody>
            <a:bodyPr/>
            <a:lstStyle/>
            <a:p>
              <a:endParaRPr lang="en-CA"/>
            </a:p>
          </p:txBody>
        </p:sp>
        <p:sp>
          <p:nvSpPr>
            <p:cNvPr id="24617" name="Freeform 52"/>
            <p:cNvSpPr>
              <a:spLocks/>
            </p:cNvSpPr>
            <p:nvPr/>
          </p:nvSpPr>
          <p:spPr bwMode="auto">
            <a:xfrm>
              <a:off x="7438768" y="1844675"/>
              <a:ext cx="1440120" cy="4191000"/>
            </a:xfrm>
            <a:custGeom>
              <a:avLst/>
              <a:gdLst>
                <a:gd name="T0" fmla="*/ 2147483647 w 960"/>
                <a:gd name="T1" fmla="*/ 2147483647 h 2448"/>
                <a:gd name="T2" fmla="*/ 2147483647 w 960"/>
                <a:gd name="T3" fmla="*/ 0 h 2448"/>
                <a:gd name="T4" fmla="*/ 0 w 960"/>
                <a:gd name="T5" fmla="*/ 0 h 2448"/>
                <a:gd name="T6" fmla="*/ 0 60000 65536"/>
                <a:gd name="T7" fmla="*/ 0 60000 65536"/>
                <a:gd name="T8" fmla="*/ 0 60000 65536"/>
                <a:gd name="T9" fmla="*/ 0 w 960"/>
                <a:gd name="T10" fmla="*/ 0 h 2448"/>
                <a:gd name="T11" fmla="*/ 960 w 960"/>
                <a:gd name="T12" fmla="*/ 2448 h 2448"/>
              </a:gdLst>
              <a:ahLst/>
              <a:cxnLst>
                <a:cxn ang="T6">
                  <a:pos x="T0" y="T1"/>
                </a:cxn>
                <a:cxn ang="T7">
                  <a:pos x="T2" y="T3"/>
                </a:cxn>
                <a:cxn ang="T8">
                  <a:pos x="T4" y="T5"/>
                </a:cxn>
              </a:cxnLst>
              <a:rect l="T9" t="T10" r="T11" b="T12"/>
              <a:pathLst>
                <a:path w="960" h="2448">
                  <a:moveTo>
                    <a:pt x="960" y="2448"/>
                  </a:moveTo>
                  <a:lnTo>
                    <a:pt x="960" y="0"/>
                  </a:lnTo>
                  <a:lnTo>
                    <a:pt x="0" y="0"/>
                  </a:lnTo>
                </a:path>
              </a:pathLst>
            </a:custGeom>
            <a:noFill/>
            <a:ln w="57240">
              <a:solidFill>
                <a:srgbClr val="009999"/>
              </a:solidFill>
              <a:round/>
              <a:headEnd/>
              <a:tailEnd type="triangle" w="med" len="med"/>
            </a:ln>
          </p:spPr>
          <p:txBody>
            <a:bodyPr wrap="none" anchor="ctr"/>
            <a:lstStyle/>
            <a:p>
              <a:endParaRPr lang="en-CA"/>
            </a:p>
          </p:txBody>
        </p:sp>
        <p:sp>
          <p:nvSpPr>
            <p:cNvPr id="24618" name="Line 53"/>
            <p:cNvSpPr>
              <a:spLocks noChangeShapeType="1"/>
            </p:cNvSpPr>
            <p:nvPr/>
          </p:nvSpPr>
          <p:spPr bwMode="auto">
            <a:xfrm>
              <a:off x="938035" y="3420814"/>
              <a:ext cx="1587" cy="2590800"/>
            </a:xfrm>
            <a:prstGeom prst="line">
              <a:avLst/>
            </a:prstGeom>
            <a:noFill/>
            <a:ln w="57240">
              <a:solidFill>
                <a:srgbClr val="009999"/>
              </a:solidFill>
              <a:miter lim="800000"/>
              <a:headEnd/>
              <a:tailEnd type="triangle" w="med" len="med"/>
            </a:ln>
          </p:spPr>
          <p:txBody>
            <a:bodyPr/>
            <a:lstStyle/>
            <a:p>
              <a:endParaRPr lang="en-CA"/>
            </a:p>
          </p:txBody>
        </p:sp>
        <p:sp>
          <p:nvSpPr>
            <p:cNvPr id="24619" name="Line 54"/>
            <p:cNvSpPr>
              <a:spLocks noChangeShapeType="1"/>
            </p:cNvSpPr>
            <p:nvPr/>
          </p:nvSpPr>
          <p:spPr bwMode="auto">
            <a:xfrm>
              <a:off x="6059488" y="5349875"/>
              <a:ext cx="1587" cy="685800"/>
            </a:xfrm>
            <a:prstGeom prst="line">
              <a:avLst/>
            </a:prstGeom>
            <a:noFill/>
            <a:ln w="57240">
              <a:solidFill>
                <a:srgbClr val="009999"/>
              </a:solidFill>
              <a:miter lim="800000"/>
              <a:headEnd/>
              <a:tailEnd type="triangle" w="med" len="med"/>
            </a:ln>
          </p:spPr>
          <p:txBody>
            <a:bodyPr/>
            <a:lstStyle/>
            <a:p>
              <a:endParaRPr lang="en-CA"/>
            </a:p>
          </p:txBody>
        </p:sp>
        <p:sp>
          <p:nvSpPr>
            <p:cNvPr id="24620" name="Line 55"/>
            <p:cNvSpPr>
              <a:spLocks noChangeShapeType="1"/>
            </p:cNvSpPr>
            <p:nvPr/>
          </p:nvSpPr>
          <p:spPr bwMode="auto">
            <a:xfrm>
              <a:off x="2782888" y="5349875"/>
              <a:ext cx="1587" cy="685800"/>
            </a:xfrm>
            <a:prstGeom prst="line">
              <a:avLst/>
            </a:prstGeom>
            <a:noFill/>
            <a:ln w="57240">
              <a:solidFill>
                <a:srgbClr val="009999"/>
              </a:solidFill>
              <a:miter lim="800000"/>
              <a:headEnd/>
              <a:tailEnd type="triangle" w="med" len="med"/>
            </a:ln>
          </p:spPr>
          <p:txBody>
            <a:bodyPr/>
            <a:lstStyle/>
            <a:p>
              <a:endParaRPr lang="en-CA"/>
            </a:p>
          </p:txBody>
        </p:sp>
        <p:sp>
          <p:nvSpPr>
            <p:cNvPr id="24621" name="Line 56"/>
            <p:cNvSpPr>
              <a:spLocks noChangeShapeType="1"/>
            </p:cNvSpPr>
            <p:nvPr/>
          </p:nvSpPr>
          <p:spPr bwMode="auto">
            <a:xfrm>
              <a:off x="8040688" y="3978275"/>
              <a:ext cx="1587" cy="609600"/>
            </a:xfrm>
            <a:prstGeom prst="line">
              <a:avLst/>
            </a:prstGeom>
            <a:noFill/>
            <a:ln w="57240">
              <a:solidFill>
                <a:srgbClr val="000000"/>
              </a:solidFill>
              <a:miter lim="800000"/>
              <a:headEnd/>
              <a:tailEnd type="triangle" w="med" len="med"/>
            </a:ln>
          </p:spPr>
          <p:txBody>
            <a:bodyPr/>
            <a:lstStyle/>
            <a:p>
              <a:endParaRPr lang="en-CA"/>
            </a:p>
          </p:txBody>
        </p:sp>
        <p:sp>
          <p:nvSpPr>
            <p:cNvPr id="24622" name="Text Box 57"/>
            <p:cNvSpPr txBox="1">
              <a:spLocks noChangeArrowheads="1"/>
            </p:cNvSpPr>
            <p:nvPr/>
          </p:nvSpPr>
          <p:spPr bwMode="auto">
            <a:xfrm>
              <a:off x="341628" y="1232675"/>
              <a:ext cx="1348745" cy="371513"/>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From Mem</a:t>
              </a:r>
            </a:p>
          </p:txBody>
        </p:sp>
        <p:sp>
          <p:nvSpPr>
            <p:cNvPr id="24623" name="Text Box 58"/>
            <p:cNvSpPr txBox="1">
              <a:spLocks noChangeArrowheads="1"/>
            </p:cNvSpPr>
            <p:nvPr/>
          </p:nvSpPr>
          <p:spPr bwMode="auto">
            <a:xfrm>
              <a:off x="5418565" y="1156475"/>
              <a:ext cx="1588233" cy="371513"/>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FP Registers</a:t>
              </a:r>
            </a:p>
          </p:txBody>
        </p:sp>
        <p:sp>
          <p:nvSpPr>
            <p:cNvPr id="24624" name="Text Box 59"/>
            <p:cNvSpPr txBox="1">
              <a:spLocks noChangeArrowheads="1"/>
            </p:cNvSpPr>
            <p:nvPr/>
          </p:nvSpPr>
          <p:spPr bwMode="auto">
            <a:xfrm>
              <a:off x="3720362" y="4546194"/>
              <a:ext cx="1566752" cy="648512"/>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Reservation </a:t>
              </a:r>
            </a:p>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Stations</a:t>
              </a:r>
            </a:p>
          </p:txBody>
        </p:sp>
        <p:sp>
          <p:nvSpPr>
            <p:cNvPr id="24625" name="Line 61"/>
            <p:cNvSpPr>
              <a:spLocks noChangeShapeType="1"/>
            </p:cNvSpPr>
            <p:nvPr/>
          </p:nvSpPr>
          <p:spPr bwMode="auto">
            <a:xfrm flipH="1" flipV="1">
              <a:off x="3404595" y="4512339"/>
              <a:ext cx="7937" cy="1500861"/>
            </a:xfrm>
            <a:prstGeom prst="line">
              <a:avLst/>
            </a:prstGeom>
            <a:noFill/>
            <a:ln w="57240">
              <a:solidFill>
                <a:srgbClr val="009999"/>
              </a:solidFill>
              <a:miter lim="800000"/>
              <a:headEnd/>
              <a:tailEnd type="triangle" w="med" len="med"/>
            </a:ln>
          </p:spPr>
          <p:txBody>
            <a:bodyPr/>
            <a:lstStyle/>
            <a:p>
              <a:endParaRPr lang="en-CA"/>
            </a:p>
          </p:txBody>
        </p:sp>
        <p:sp>
          <p:nvSpPr>
            <p:cNvPr id="24626" name="Line 62"/>
            <p:cNvSpPr>
              <a:spLocks noChangeShapeType="1"/>
            </p:cNvSpPr>
            <p:nvPr/>
          </p:nvSpPr>
          <p:spPr bwMode="auto">
            <a:xfrm flipH="1" flipV="1">
              <a:off x="6895071" y="4497858"/>
              <a:ext cx="2618" cy="1539404"/>
            </a:xfrm>
            <a:prstGeom prst="line">
              <a:avLst/>
            </a:prstGeom>
            <a:noFill/>
            <a:ln w="57240">
              <a:solidFill>
                <a:srgbClr val="009999"/>
              </a:solidFill>
              <a:miter lim="800000"/>
              <a:headEnd/>
              <a:tailEnd type="triangle" w="med" len="med"/>
            </a:ln>
          </p:spPr>
          <p:txBody>
            <a:bodyPr/>
            <a:lstStyle/>
            <a:p>
              <a:endParaRPr lang="en-CA"/>
            </a:p>
          </p:txBody>
        </p:sp>
        <p:sp>
          <p:nvSpPr>
            <p:cNvPr id="24627" name="Text Box 63"/>
            <p:cNvSpPr txBox="1">
              <a:spLocks noChangeArrowheads="1"/>
            </p:cNvSpPr>
            <p:nvPr/>
          </p:nvSpPr>
          <p:spPr bwMode="auto">
            <a:xfrm>
              <a:off x="3579716" y="5668741"/>
              <a:ext cx="2503065" cy="371482"/>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Common Data Bus 1</a:t>
              </a:r>
              <a:r>
                <a:rPr lang="x-none" sz="1800" b="1">
                  <a:solidFill>
                    <a:srgbClr val="000000"/>
                  </a:solidFill>
                  <a:cs typeface="Arial" pitchFamily="34" charset="0"/>
                </a:rPr>
                <a:t>‏</a:t>
              </a:r>
              <a:endParaRPr lang="en-GB" sz="1800" b="1">
                <a:solidFill>
                  <a:srgbClr val="000000"/>
                </a:solidFill>
                <a:cs typeface="Arial" pitchFamily="34" charset="0"/>
              </a:endParaRPr>
            </a:p>
          </p:txBody>
        </p:sp>
        <p:sp>
          <p:nvSpPr>
            <p:cNvPr id="24628" name="Text Box 64"/>
            <p:cNvSpPr txBox="1">
              <a:spLocks noChangeArrowheads="1"/>
            </p:cNvSpPr>
            <p:nvPr/>
          </p:nvSpPr>
          <p:spPr bwMode="auto">
            <a:xfrm>
              <a:off x="7489014" y="4585475"/>
              <a:ext cx="1036672" cy="371513"/>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To Mem</a:t>
              </a:r>
            </a:p>
          </p:txBody>
        </p:sp>
        <p:sp>
          <p:nvSpPr>
            <p:cNvPr id="24629" name="Text Box 65"/>
            <p:cNvSpPr txBox="1">
              <a:spLocks noChangeArrowheads="1"/>
            </p:cNvSpPr>
            <p:nvPr/>
          </p:nvSpPr>
          <p:spPr bwMode="auto">
            <a:xfrm>
              <a:off x="1911347" y="1220726"/>
              <a:ext cx="899904" cy="648512"/>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FP Op</a:t>
              </a:r>
            </a:p>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Queue</a:t>
              </a:r>
            </a:p>
          </p:txBody>
        </p:sp>
        <p:sp>
          <p:nvSpPr>
            <p:cNvPr id="24630" name="Text Box 66"/>
            <p:cNvSpPr txBox="1">
              <a:spLocks noChangeArrowheads="1"/>
            </p:cNvSpPr>
            <p:nvPr/>
          </p:nvSpPr>
          <p:spPr bwMode="auto">
            <a:xfrm>
              <a:off x="1672902" y="2544550"/>
              <a:ext cx="1605224" cy="371513"/>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Load Buffers</a:t>
              </a:r>
            </a:p>
          </p:txBody>
        </p:sp>
        <p:sp>
          <p:nvSpPr>
            <p:cNvPr id="24631" name="Text Box 67"/>
            <p:cNvSpPr txBox="1">
              <a:spLocks noChangeArrowheads="1"/>
            </p:cNvSpPr>
            <p:nvPr/>
          </p:nvSpPr>
          <p:spPr bwMode="auto">
            <a:xfrm>
              <a:off x="7909863" y="2652050"/>
              <a:ext cx="989671" cy="648512"/>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Store </a:t>
              </a:r>
            </a:p>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Buffers</a:t>
              </a:r>
            </a:p>
          </p:txBody>
        </p:sp>
        <p:sp>
          <p:nvSpPr>
            <p:cNvPr id="24632" name="Text Box 68"/>
            <p:cNvSpPr txBox="1">
              <a:spLocks noChangeArrowheads="1"/>
            </p:cNvSpPr>
            <p:nvPr/>
          </p:nvSpPr>
          <p:spPr bwMode="auto">
            <a:xfrm>
              <a:off x="77235" y="2203146"/>
              <a:ext cx="707544" cy="1257909"/>
            </a:xfrm>
            <a:prstGeom prst="rect">
              <a:avLst/>
            </a:prstGeom>
            <a:noFill/>
            <a:ln w="9525">
              <a:noFill/>
              <a:round/>
              <a:headEnd/>
              <a:tailEnd/>
            </a:ln>
          </p:spPr>
          <p:txBody>
            <a:bodyPr wrap="none" lIns="90000" tIns="46800" rIns="90000" bIns="46800" anchor="ctr">
              <a:spAutoFit/>
            </a:bodyPr>
            <a:lstStyle/>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Load1</a:t>
              </a:r>
            </a:p>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Load2</a:t>
              </a:r>
            </a:p>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Load3</a:t>
              </a:r>
            </a:p>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Load4</a:t>
              </a:r>
            </a:p>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Load5</a:t>
              </a:r>
            </a:p>
            <a:p>
              <a:pPr algn="ctr">
                <a:lnSpc>
                  <a:spcPct val="90000"/>
                </a:lnSpc>
                <a:buClr>
                  <a:srgbClr val="009999"/>
                </a:buClr>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solidFill>
                    <a:srgbClr val="009999"/>
                  </a:solidFill>
                  <a:cs typeface="Arial" pitchFamily="34" charset="0"/>
                </a:rPr>
                <a:t>Load6</a:t>
              </a:r>
            </a:p>
          </p:txBody>
        </p:sp>
        <p:sp>
          <p:nvSpPr>
            <p:cNvPr id="24633" name="Rectangle 30"/>
            <p:cNvSpPr>
              <a:spLocks noChangeArrowheads="1"/>
            </p:cNvSpPr>
            <p:nvPr/>
          </p:nvSpPr>
          <p:spPr bwMode="auto">
            <a:xfrm>
              <a:off x="2938377" y="3917306"/>
              <a:ext cx="253786" cy="609600"/>
            </a:xfrm>
            <a:prstGeom prst="rect">
              <a:avLst/>
            </a:prstGeom>
            <a:noFill/>
            <a:ln w="28440">
              <a:solidFill>
                <a:srgbClr val="000000"/>
              </a:solidFill>
              <a:miter lim="800000"/>
              <a:headEnd/>
              <a:tailEnd/>
            </a:ln>
          </p:spPr>
          <p:txBody>
            <a:bodyPr wrap="none" anchor="ctr"/>
            <a:lstStyle/>
            <a:p>
              <a:endParaRPr lang="en-US">
                <a:cs typeface="Arial" pitchFamily="34" charset="0"/>
              </a:endParaRPr>
            </a:p>
          </p:txBody>
        </p:sp>
        <p:sp>
          <p:nvSpPr>
            <p:cNvPr id="24634" name="Rectangle 36"/>
            <p:cNvSpPr>
              <a:spLocks noChangeArrowheads="1"/>
            </p:cNvSpPr>
            <p:nvPr/>
          </p:nvSpPr>
          <p:spPr bwMode="auto">
            <a:xfrm>
              <a:off x="6099776" y="4069707"/>
              <a:ext cx="268073" cy="381000"/>
            </a:xfrm>
            <a:prstGeom prst="rect">
              <a:avLst/>
            </a:prstGeom>
            <a:noFill/>
            <a:ln w="28440">
              <a:solidFill>
                <a:srgbClr val="000000"/>
              </a:solidFill>
              <a:miter lim="800000"/>
              <a:headEnd/>
              <a:tailEnd/>
            </a:ln>
          </p:spPr>
          <p:txBody>
            <a:bodyPr wrap="none" anchor="ctr"/>
            <a:lstStyle/>
            <a:p>
              <a:endParaRPr lang="en-US">
                <a:cs typeface="Arial" pitchFamily="34" charset="0"/>
              </a:endParaRPr>
            </a:p>
          </p:txBody>
        </p:sp>
        <p:sp>
          <p:nvSpPr>
            <p:cNvPr id="24635" name="Rectangle 36"/>
            <p:cNvSpPr>
              <a:spLocks noChangeArrowheads="1"/>
            </p:cNvSpPr>
            <p:nvPr/>
          </p:nvSpPr>
          <p:spPr bwMode="auto">
            <a:xfrm>
              <a:off x="5164780" y="1470454"/>
              <a:ext cx="482257" cy="815546"/>
            </a:xfrm>
            <a:prstGeom prst="rect">
              <a:avLst/>
            </a:prstGeom>
            <a:noFill/>
            <a:ln w="28440">
              <a:solidFill>
                <a:srgbClr val="000000"/>
              </a:solidFill>
              <a:miter lim="800000"/>
              <a:headEnd/>
              <a:tailEnd/>
            </a:ln>
          </p:spPr>
          <p:txBody>
            <a:bodyPr wrap="none" anchor="ctr"/>
            <a:lstStyle/>
            <a:p>
              <a:endParaRPr lang="en-US">
                <a:cs typeface="Arial" pitchFamily="34" charset="0"/>
              </a:endParaRPr>
            </a:p>
          </p:txBody>
        </p:sp>
        <p:sp>
          <p:nvSpPr>
            <p:cNvPr id="24636" name="Rectangle 36"/>
            <p:cNvSpPr>
              <a:spLocks noChangeArrowheads="1"/>
            </p:cNvSpPr>
            <p:nvPr/>
          </p:nvSpPr>
          <p:spPr bwMode="auto">
            <a:xfrm>
              <a:off x="7590824" y="3373394"/>
              <a:ext cx="305144" cy="605481"/>
            </a:xfrm>
            <a:prstGeom prst="rect">
              <a:avLst/>
            </a:prstGeom>
            <a:noFill/>
            <a:ln w="28440">
              <a:solidFill>
                <a:srgbClr val="000000"/>
              </a:solidFill>
              <a:miter lim="800000"/>
              <a:headEnd/>
              <a:tailEnd/>
            </a:ln>
          </p:spPr>
          <p:txBody>
            <a:bodyPr wrap="none" anchor="ctr"/>
            <a:lstStyle/>
            <a:p>
              <a:endParaRPr lang="en-US">
                <a:cs typeface="Arial" pitchFamily="34" charset="0"/>
              </a:endParaRPr>
            </a:p>
          </p:txBody>
        </p:sp>
        <p:sp>
          <p:nvSpPr>
            <p:cNvPr id="24637" name="Line 46"/>
            <p:cNvSpPr>
              <a:spLocks noChangeShapeType="1"/>
            </p:cNvSpPr>
            <p:nvPr/>
          </p:nvSpPr>
          <p:spPr bwMode="auto">
            <a:xfrm>
              <a:off x="5733535" y="3361038"/>
              <a:ext cx="5360" cy="708668"/>
            </a:xfrm>
            <a:prstGeom prst="line">
              <a:avLst/>
            </a:prstGeom>
            <a:noFill/>
            <a:ln w="28440">
              <a:solidFill>
                <a:srgbClr val="000000"/>
              </a:solidFill>
              <a:miter lim="800000"/>
              <a:headEnd/>
              <a:tailEnd type="triangle" w="med" len="med"/>
            </a:ln>
          </p:spPr>
          <p:txBody>
            <a:bodyPr/>
            <a:lstStyle/>
            <a:p>
              <a:endParaRPr lang="en-CA"/>
            </a:p>
          </p:txBody>
        </p:sp>
        <p:sp>
          <p:nvSpPr>
            <p:cNvPr id="24638" name="Oval 76"/>
            <p:cNvSpPr>
              <a:spLocks noChangeArrowheads="1"/>
            </p:cNvSpPr>
            <p:nvPr/>
          </p:nvSpPr>
          <p:spPr bwMode="auto">
            <a:xfrm>
              <a:off x="3758642" y="3488532"/>
              <a:ext cx="75170" cy="72982"/>
            </a:xfrm>
            <a:prstGeom prst="ellipse">
              <a:avLst/>
            </a:prstGeom>
            <a:solidFill>
              <a:schemeClr val="tx1"/>
            </a:solidFill>
            <a:ln w="9525" algn="ctr">
              <a:solidFill>
                <a:schemeClr val="tx1"/>
              </a:solidFill>
              <a:round/>
              <a:headEnd/>
              <a:tailEnd/>
            </a:ln>
          </p:spPr>
          <p:txBody>
            <a:bodyPr/>
            <a:lstStyle/>
            <a:p>
              <a:endParaRPr lang="en-CA"/>
            </a:p>
          </p:txBody>
        </p:sp>
        <p:sp>
          <p:nvSpPr>
            <p:cNvPr id="24639" name="Oval 77"/>
            <p:cNvSpPr>
              <a:spLocks noChangeArrowheads="1"/>
            </p:cNvSpPr>
            <p:nvPr/>
          </p:nvSpPr>
          <p:spPr bwMode="auto">
            <a:xfrm>
              <a:off x="5295126" y="3102770"/>
              <a:ext cx="75170" cy="72982"/>
            </a:xfrm>
            <a:prstGeom prst="ellipse">
              <a:avLst/>
            </a:prstGeom>
            <a:solidFill>
              <a:schemeClr val="tx1"/>
            </a:solidFill>
            <a:ln w="9525" algn="ctr">
              <a:solidFill>
                <a:schemeClr val="tx1"/>
              </a:solidFill>
              <a:round/>
              <a:headEnd/>
              <a:tailEnd/>
            </a:ln>
          </p:spPr>
          <p:txBody>
            <a:bodyPr/>
            <a:lstStyle/>
            <a:p>
              <a:endParaRPr lang="en-CA"/>
            </a:p>
          </p:txBody>
        </p:sp>
        <p:sp>
          <p:nvSpPr>
            <p:cNvPr id="24640" name="Line 46"/>
            <p:cNvSpPr>
              <a:spLocks noChangeShapeType="1"/>
            </p:cNvSpPr>
            <p:nvPr/>
          </p:nvSpPr>
          <p:spPr bwMode="auto">
            <a:xfrm flipH="1">
              <a:off x="3064476" y="3138617"/>
              <a:ext cx="0" cy="766118"/>
            </a:xfrm>
            <a:prstGeom prst="line">
              <a:avLst/>
            </a:prstGeom>
            <a:noFill/>
            <a:ln w="28440">
              <a:solidFill>
                <a:srgbClr val="000000"/>
              </a:solidFill>
              <a:miter lim="800000"/>
              <a:headEnd/>
              <a:tailEnd type="triangle" w="med" len="med"/>
            </a:ln>
          </p:spPr>
          <p:txBody>
            <a:bodyPr/>
            <a:lstStyle/>
            <a:p>
              <a:endParaRPr lang="en-CA"/>
            </a:p>
          </p:txBody>
        </p:sp>
        <p:sp>
          <p:nvSpPr>
            <p:cNvPr id="24641" name="Oval 79"/>
            <p:cNvSpPr>
              <a:spLocks noChangeArrowheads="1"/>
            </p:cNvSpPr>
            <p:nvPr/>
          </p:nvSpPr>
          <p:spPr bwMode="auto">
            <a:xfrm>
              <a:off x="3021338" y="3121938"/>
              <a:ext cx="75170" cy="72982"/>
            </a:xfrm>
            <a:prstGeom prst="ellipse">
              <a:avLst/>
            </a:prstGeom>
            <a:solidFill>
              <a:schemeClr val="tx1"/>
            </a:solidFill>
            <a:ln w="9525" algn="ctr">
              <a:solidFill>
                <a:schemeClr val="tx1"/>
              </a:solidFill>
              <a:round/>
              <a:headEnd/>
              <a:tailEnd/>
            </a:ln>
          </p:spPr>
          <p:txBody>
            <a:bodyPr/>
            <a:lstStyle/>
            <a:p>
              <a:endParaRPr lang="en-CA"/>
            </a:p>
          </p:txBody>
        </p:sp>
        <p:sp>
          <p:nvSpPr>
            <p:cNvPr id="24642" name="Freeform 49"/>
            <p:cNvSpPr>
              <a:spLocks/>
            </p:cNvSpPr>
            <p:nvPr/>
          </p:nvSpPr>
          <p:spPr bwMode="auto">
            <a:xfrm>
              <a:off x="5280455" y="3150973"/>
              <a:ext cx="959708" cy="902042"/>
            </a:xfrm>
            <a:custGeom>
              <a:avLst/>
              <a:gdLst>
                <a:gd name="T0" fmla="*/ 0 w 1008"/>
                <a:gd name="T1" fmla="*/ 0 h 144"/>
                <a:gd name="T2" fmla="*/ 2147483647 w 1008"/>
                <a:gd name="T3" fmla="*/ 0 h 144"/>
                <a:gd name="T4" fmla="*/ 2147483647 w 1008"/>
                <a:gd name="T5" fmla="*/ 2147483647 h 144"/>
                <a:gd name="T6" fmla="*/ 0 60000 65536"/>
                <a:gd name="T7" fmla="*/ 0 60000 65536"/>
                <a:gd name="T8" fmla="*/ 0 60000 65536"/>
                <a:gd name="T9" fmla="*/ 0 w 1008"/>
                <a:gd name="T10" fmla="*/ 0 h 144"/>
                <a:gd name="T11" fmla="*/ 1008 w 1008"/>
                <a:gd name="T12" fmla="*/ 144 h 144"/>
              </a:gdLst>
              <a:ahLst/>
              <a:cxnLst>
                <a:cxn ang="T6">
                  <a:pos x="T0" y="T1"/>
                </a:cxn>
                <a:cxn ang="T7">
                  <a:pos x="T2" y="T3"/>
                </a:cxn>
                <a:cxn ang="T8">
                  <a:pos x="T4" y="T5"/>
                </a:cxn>
              </a:cxnLst>
              <a:rect l="T9" t="T10" r="T11" b="T12"/>
              <a:pathLst>
                <a:path w="1008" h="144">
                  <a:moveTo>
                    <a:pt x="0" y="0"/>
                  </a:moveTo>
                  <a:lnTo>
                    <a:pt x="1008" y="0"/>
                  </a:lnTo>
                  <a:lnTo>
                    <a:pt x="1008" y="144"/>
                  </a:lnTo>
                </a:path>
              </a:pathLst>
            </a:custGeom>
            <a:noFill/>
            <a:ln w="28440">
              <a:solidFill>
                <a:srgbClr val="000000"/>
              </a:solidFill>
              <a:round/>
              <a:headEnd/>
              <a:tailEnd type="triangle" w="med" len="med"/>
            </a:ln>
          </p:spPr>
          <p:txBody>
            <a:bodyPr wrap="none" anchor="ctr"/>
            <a:lstStyle/>
            <a:p>
              <a:endParaRPr lang="en-CA"/>
            </a:p>
          </p:txBody>
        </p:sp>
        <p:sp>
          <p:nvSpPr>
            <p:cNvPr id="24643" name="Oval 81"/>
            <p:cNvSpPr>
              <a:spLocks noChangeArrowheads="1"/>
            </p:cNvSpPr>
            <p:nvPr/>
          </p:nvSpPr>
          <p:spPr bwMode="auto">
            <a:xfrm>
              <a:off x="5690450" y="3319650"/>
              <a:ext cx="75170" cy="72982"/>
            </a:xfrm>
            <a:prstGeom prst="ellipse">
              <a:avLst/>
            </a:prstGeom>
            <a:solidFill>
              <a:schemeClr val="tx1"/>
            </a:solidFill>
            <a:ln w="9525" algn="ctr">
              <a:solidFill>
                <a:schemeClr val="tx1"/>
              </a:solidFill>
              <a:round/>
              <a:headEnd/>
              <a:tailEnd/>
            </a:ln>
          </p:spPr>
          <p:txBody>
            <a:bodyPr/>
            <a:lstStyle/>
            <a:p>
              <a:endParaRPr lang="en-CA"/>
            </a:p>
          </p:txBody>
        </p:sp>
        <p:sp>
          <p:nvSpPr>
            <p:cNvPr id="24644" name="Oval 82"/>
            <p:cNvSpPr>
              <a:spLocks noChangeArrowheads="1"/>
            </p:cNvSpPr>
            <p:nvPr/>
          </p:nvSpPr>
          <p:spPr bwMode="auto">
            <a:xfrm>
              <a:off x="6534842" y="3311409"/>
              <a:ext cx="75170" cy="72982"/>
            </a:xfrm>
            <a:prstGeom prst="ellipse">
              <a:avLst/>
            </a:prstGeom>
            <a:solidFill>
              <a:schemeClr val="tx1"/>
            </a:solidFill>
            <a:ln w="9525" algn="ctr">
              <a:solidFill>
                <a:schemeClr val="tx1"/>
              </a:solidFill>
              <a:round/>
              <a:headEnd/>
              <a:tailEnd/>
            </a:ln>
          </p:spPr>
          <p:txBody>
            <a:bodyPr/>
            <a:lstStyle/>
            <a:p>
              <a:endParaRPr lang="en-CA"/>
            </a:p>
          </p:txBody>
        </p:sp>
        <p:sp>
          <p:nvSpPr>
            <p:cNvPr id="24645" name="Oval 83"/>
            <p:cNvSpPr>
              <a:spLocks noChangeArrowheads="1"/>
            </p:cNvSpPr>
            <p:nvPr/>
          </p:nvSpPr>
          <p:spPr bwMode="auto">
            <a:xfrm>
              <a:off x="6538958" y="2796531"/>
              <a:ext cx="75170" cy="72982"/>
            </a:xfrm>
            <a:prstGeom prst="ellipse">
              <a:avLst/>
            </a:prstGeom>
            <a:solidFill>
              <a:schemeClr val="tx1"/>
            </a:solidFill>
            <a:ln w="9525" algn="ctr">
              <a:solidFill>
                <a:schemeClr val="tx1"/>
              </a:solidFill>
              <a:round/>
              <a:headEnd/>
              <a:tailEnd/>
            </a:ln>
          </p:spPr>
          <p:txBody>
            <a:bodyPr/>
            <a:lstStyle/>
            <a:p>
              <a:endParaRPr lang="en-CA"/>
            </a:p>
          </p:txBody>
        </p:sp>
        <p:sp>
          <p:nvSpPr>
            <p:cNvPr id="24646" name="Freeform 48"/>
            <p:cNvSpPr>
              <a:spLocks/>
            </p:cNvSpPr>
            <p:nvPr/>
          </p:nvSpPr>
          <p:spPr bwMode="auto">
            <a:xfrm>
              <a:off x="2537254" y="3352799"/>
              <a:ext cx="922638" cy="564507"/>
            </a:xfrm>
            <a:custGeom>
              <a:avLst/>
              <a:gdLst>
                <a:gd name="T0" fmla="*/ 2147483647 w 1920"/>
                <a:gd name="T1" fmla="*/ 0 h 384"/>
                <a:gd name="T2" fmla="*/ 0 w 1920"/>
                <a:gd name="T3" fmla="*/ 0 h 384"/>
                <a:gd name="T4" fmla="*/ 0 w 1920"/>
                <a:gd name="T5" fmla="*/ 2147483647 h 384"/>
                <a:gd name="T6" fmla="*/ 0 60000 65536"/>
                <a:gd name="T7" fmla="*/ 0 60000 65536"/>
                <a:gd name="T8" fmla="*/ 0 60000 65536"/>
                <a:gd name="T9" fmla="*/ 0 w 1920"/>
                <a:gd name="T10" fmla="*/ 0 h 384"/>
                <a:gd name="T11" fmla="*/ 1920 w 1920"/>
                <a:gd name="T12" fmla="*/ 384 h 384"/>
              </a:gdLst>
              <a:ahLst/>
              <a:cxnLst>
                <a:cxn ang="T6">
                  <a:pos x="T0" y="T1"/>
                </a:cxn>
                <a:cxn ang="T7">
                  <a:pos x="T2" y="T3"/>
                </a:cxn>
                <a:cxn ang="T8">
                  <a:pos x="T4" y="T5"/>
                </a:cxn>
              </a:cxnLst>
              <a:rect l="T9" t="T10" r="T11" b="T12"/>
              <a:pathLst>
                <a:path w="1920" h="384">
                  <a:moveTo>
                    <a:pt x="1920" y="0"/>
                  </a:moveTo>
                  <a:lnTo>
                    <a:pt x="0" y="0"/>
                  </a:lnTo>
                  <a:lnTo>
                    <a:pt x="0" y="384"/>
                  </a:lnTo>
                </a:path>
              </a:pathLst>
            </a:custGeom>
            <a:noFill/>
            <a:ln w="28440">
              <a:solidFill>
                <a:srgbClr val="000000"/>
              </a:solidFill>
              <a:round/>
              <a:headEnd/>
              <a:tailEnd type="triangle" w="med" len="med"/>
            </a:ln>
          </p:spPr>
          <p:txBody>
            <a:bodyPr wrap="none" anchor="ctr"/>
            <a:lstStyle/>
            <a:p>
              <a:endParaRPr lang="en-CA"/>
            </a:p>
          </p:txBody>
        </p:sp>
        <p:sp>
          <p:nvSpPr>
            <p:cNvPr id="24647" name="Oval 85"/>
            <p:cNvSpPr>
              <a:spLocks noChangeArrowheads="1"/>
            </p:cNvSpPr>
            <p:nvPr/>
          </p:nvSpPr>
          <p:spPr bwMode="auto">
            <a:xfrm>
              <a:off x="3354977" y="3307293"/>
              <a:ext cx="75170" cy="72982"/>
            </a:xfrm>
            <a:prstGeom prst="ellipse">
              <a:avLst/>
            </a:prstGeom>
            <a:solidFill>
              <a:schemeClr val="tx1"/>
            </a:solidFill>
            <a:ln w="9525" algn="ctr">
              <a:solidFill>
                <a:schemeClr val="tx1"/>
              </a:solidFill>
              <a:round/>
              <a:headEnd/>
              <a:tailEnd/>
            </a:ln>
          </p:spPr>
          <p:txBody>
            <a:bodyPr/>
            <a:lstStyle/>
            <a:p>
              <a:endParaRPr lang="en-CA"/>
            </a:p>
          </p:txBody>
        </p:sp>
        <p:sp>
          <p:nvSpPr>
            <p:cNvPr id="24648" name="Freeform 49"/>
            <p:cNvSpPr>
              <a:spLocks/>
            </p:cNvSpPr>
            <p:nvPr/>
          </p:nvSpPr>
          <p:spPr bwMode="auto">
            <a:xfrm>
              <a:off x="6054811" y="3150973"/>
              <a:ext cx="1705232" cy="222422"/>
            </a:xfrm>
            <a:custGeom>
              <a:avLst/>
              <a:gdLst>
                <a:gd name="T0" fmla="*/ 0 w 1008"/>
                <a:gd name="T1" fmla="*/ 0 h 144"/>
                <a:gd name="T2" fmla="*/ 2147483647 w 1008"/>
                <a:gd name="T3" fmla="*/ 0 h 144"/>
                <a:gd name="T4" fmla="*/ 2147483647 w 1008"/>
                <a:gd name="T5" fmla="*/ 2147483647 h 144"/>
                <a:gd name="T6" fmla="*/ 0 60000 65536"/>
                <a:gd name="T7" fmla="*/ 0 60000 65536"/>
                <a:gd name="T8" fmla="*/ 0 60000 65536"/>
                <a:gd name="T9" fmla="*/ 0 w 1008"/>
                <a:gd name="T10" fmla="*/ 0 h 144"/>
                <a:gd name="T11" fmla="*/ 1008 w 1008"/>
                <a:gd name="T12" fmla="*/ 144 h 144"/>
              </a:gdLst>
              <a:ahLst/>
              <a:cxnLst>
                <a:cxn ang="T6">
                  <a:pos x="T0" y="T1"/>
                </a:cxn>
                <a:cxn ang="T7">
                  <a:pos x="T2" y="T3"/>
                </a:cxn>
                <a:cxn ang="T8">
                  <a:pos x="T4" y="T5"/>
                </a:cxn>
              </a:cxnLst>
              <a:rect l="T9" t="T10" r="T11" b="T12"/>
              <a:pathLst>
                <a:path w="1008" h="144">
                  <a:moveTo>
                    <a:pt x="0" y="0"/>
                  </a:moveTo>
                  <a:lnTo>
                    <a:pt x="1008" y="0"/>
                  </a:lnTo>
                  <a:lnTo>
                    <a:pt x="1008" y="144"/>
                  </a:lnTo>
                </a:path>
              </a:pathLst>
            </a:custGeom>
            <a:noFill/>
            <a:ln w="28440">
              <a:solidFill>
                <a:srgbClr val="000000"/>
              </a:solidFill>
              <a:round/>
              <a:headEnd/>
              <a:tailEnd type="triangle" w="med" len="med"/>
            </a:ln>
          </p:spPr>
          <p:txBody>
            <a:bodyPr wrap="none" anchor="ctr"/>
            <a:lstStyle/>
            <a:p>
              <a:endParaRPr lang="en-CA"/>
            </a:p>
          </p:txBody>
        </p:sp>
        <p:sp>
          <p:nvSpPr>
            <p:cNvPr id="24649" name="Oval 87"/>
            <p:cNvSpPr>
              <a:spLocks noChangeArrowheads="1"/>
            </p:cNvSpPr>
            <p:nvPr/>
          </p:nvSpPr>
          <p:spPr bwMode="auto">
            <a:xfrm>
              <a:off x="6201303" y="3106886"/>
              <a:ext cx="75170" cy="72982"/>
            </a:xfrm>
            <a:prstGeom prst="ellipse">
              <a:avLst/>
            </a:prstGeom>
            <a:solidFill>
              <a:schemeClr val="tx1"/>
            </a:solidFill>
            <a:ln w="9525" algn="ctr">
              <a:solidFill>
                <a:schemeClr val="tx1"/>
              </a:solidFill>
              <a:round/>
              <a:headEnd/>
              <a:tailEnd/>
            </a:ln>
          </p:spPr>
          <p:txBody>
            <a:bodyPr/>
            <a:lstStyle/>
            <a:p>
              <a:endParaRPr lang="en-CA"/>
            </a:p>
          </p:txBody>
        </p:sp>
      </p:grpSp>
      <p:sp>
        <p:nvSpPr>
          <p:cNvPr id="24581" name="Line 50"/>
          <p:cNvSpPr>
            <a:spLocks noChangeShapeType="1"/>
          </p:cNvSpPr>
          <p:nvPr/>
        </p:nvSpPr>
        <p:spPr bwMode="auto">
          <a:xfrm flipV="1">
            <a:off x="854075" y="6326188"/>
            <a:ext cx="8194675" cy="3175"/>
          </a:xfrm>
          <a:prstGeom prst="line">
            <a:avLst/>
          </a:prstGeom>
          <a:noFill/>
          <a:ln w="57240">
            <a:solidFill>
              <a:srgbClr val="009999"/>
            </a:solidFill>
            <a:miter lim="800000"/>
            <a:headEnd/>
            <a:tailEnd/>
          </a:ln>
        </p:spPr>
        <p:txBody>
          <a:bodyPr/>
          <a:lstStyle/>
          <a:p>
            <a:endParaRPr lang="en-CA"/>
          </a:p>
        </p:txBody>
      </p:sp>
      <p:sp>
        <p:nvSpPr>
          <p:cNvPr id="24582" name="Line 55"/>
          <p:cNvSpPr>
            <a:spLocks noChangeShapeType="1"/>
          </p:cNvSpPr>
          <p:nvPr/>
        </p:nvSpPr>
        <p:spPr bwMode="auto">
          <a:xfrm>
            <a:off x="2779713" y="5681663"/>
            <a:ext cx="1587" cy="685800"/>
          </a:xfrm>
          <a:prstGeom prst="line">
            <a:avLst/>
          </a:prstGeom>
          <a:noFill/>
          <a:ln w="57240">
            <a:solidFill>
              <a:srgbClr val="009999"/>
            </a:solidFill>
            <a:miter lim="800000"/>
            <a:headEnd/>
            <a:tailEnd type="triangle" w="med" len="med"/>
          </a:ln>
        </p:spPr>
        <p:txBody>
          <a:bodyPr/>
          <a:lstStyle/>
          <a:p>
            <a:endParaRPr lang="en-CA"/>
          </a:p>
        </p:txBody>
      </p:sp>
      <p:sp>
        <p:nvSpPr>
          <p:cNvPr id="24583" name="Line 54"/>
          <p:cNvSpPr>
            <a:spLocks noChangeShapeType="1"/>
          </p:cNvSpPr>
          <p:nvPr/>
        </p:nvSpPr>
        <p:spPr bwMode="auto">
          <a:xfrm>
            <a:off x="6067425" y="5657850"/>
            <a:ext cx="1588" cy="685800"/>
          </a:xfrm>
          <a:prstGeom prst="line">
            <a:avLst/>
          </a:prstGeom>
          <a:noFill/>
          <a:ln w="57240">
            <a:solidFill>
              <a:srgbClr val="009999"/>
            </a:solidFill>
            <a:miter lim="800000"/>
            <a:headEnd/>
            <a:tailEnd type="triangle" w="med" len="med"/>
          </a:ln>
        </p:spPr>
        <p:txBody>
          <a:bodyPr/>
          <a:lstStyle/>
          <a:p>
            <a:endParaRPr lang="en-CA"/>
          </a:p>
        </p:txBody>
      </p:sp>
      <p:sp>
        <p:nvSpPr>
          <p:cNvPr id="24584" name="Line 61"/>
          <p:cNvSpPr>
            <a:spLocks noChangeShapeType="1"/>
          </p:cNvSpPr>
          <p:nvPr/>
        </p:nvSpPr>
        <p:spPr bwMode="auto">
          <a:xfrm flipH="1" flipV="1">
            <a:off x="3633788" y="4524375"/>
            <a:ext cx="3175" cy="1773238"/>
          </a:xfrm>
          <a:prstGeom prst="line">
            <a:avLst/>
          </a:prstGeom>
          <a:noFill/>
          <a:ln w="57240">
            <a:solidFill>
              <a:srgbClr val="009999"/>
            </a:solidFill>
            <a:miter lim="800000"/>
            <a:headEnd/>
            <a:tailEnd type="triangle" w="med" len="med"/>
          </a:ln>
        </p:spPr>
        <p:txBody>
          <a:bodyPr/>
          <a:lstStyle/>
          <a:p>
            <a:endParaRPr lang="en-CA"/>
          </a:p>
        </p:txBody>
      </p:sp>
      <p:sp>
        <p:nvSpPr>
          <p:cNvPr id="24585" name="Line 62"/>
          <p:cNvSpPr>
            <a:spLocks noChangeShapeType="1"/>
          </p:cNvSpPr>
          <p:nvPr/>
        </p:nvSpPr>
        <p:spPr bwMode="auto">
          <a:xfrm flipH="1" flipV="1">
            <a:off x="7023100" y="4481513"/>
            <a:ext cx="15875" cy="1882775"/>
          </a:xfrm>
          <a:prstGeom prst="line">
            <a:avLst/>
          </a:prstGeom>
          <a:noFill/>
          <a:ln w="57240">
            <a:solidFill>
              <a:srgbClr val="009999"/>
            </a:solidFill>
            <a:miter lim="800000"/>
            <a:headEnd/>
            <a:tailEnd type="triangle" w="med" len="med"/>
          </a:ln>
        </p:spPr>
        <p:txBody>
          <a:bodyPr/>
          <a:lstStyle/>
          <a:p>
            <a:endParaRPr lang="en-CA"/>
          </a:p>
        </p:txBody>
      </p:sp>
      <p:sp>
        <p:nvSpPr>
          <p:cNvPr id="24586" name="Freeform 52"/>
          <p:cNvSpPr>
            <a:spLocks/>
          </p:cNvSpPr>
          <p:nvPr/>
        </p:nvSpPr>
        <p:spPr bwMode="auto">
          <a:xfrm>
            <a:off x="7412038" y="1600200"/>
            <a:ext cx="1619250" cy="4716463"/>
          </a:xfrm>
          <a:custGeom>
            <a:avLst/>
            <a:gdLst>
              <a:gd name="T0" fmla="*/ 2147483647 w 960"/>
              <a:gd name="T1" fmla="*/ 2147483647 h 2448"/>
              <a:gd name="T2" fmla="*/ 2147483647 w 960"/>
              <a:gd name="T3" fmla="*/ 0 h 2448"/>
              <a:gd name="T4" fmla="*/ 0 w 960"/>
              <a:gd name="T5" fmla="*/ 0 h 2448"/>
              <a:gd name="T6" fmla="*/ 0 60000 65536"/>
              <a:gd name="T7" fmla="*/ 0 60000 65536"/>
              <a:gd name="T8" fmla="*/ 0 60000 65536"/>
              <a:gd name="T9" fmla="*/ 0 w 960"/>
              <a:gd name="T10" fmla="*/ 0 h 2448"/>
              <a:gd name="T11" fmla="*/ 960 w 960"/>
              <a:gd name="T12" fmla="*/ 2448 h 2448"/>
            </a:gdLst>
            <a:ahLst/>
            <a:cxnLst>
              <a:cxn ang="T6">
                <a:pos x="T0" y="T1"/>
              </a:cxn>
              <a:cxn ang="T7">
                <a:pos x="T2" y="T3"/>
              </a:cxn>
              <a:cxn ang="T8">
                <a:pos x="T4" y="T5"/>
              </a:cxn>
            </a:cxnLst>
            <a:rect l="T9" t="T10" r="T11" b="T12"/>
            <a:pathLst>
              <a:path w="960" h="2448">
                <a:moveTo>
                  <a:pt x="960" y="2448"/>
                </a:moveTo>
                <a:lnTo>
                  <a:pt x="960" y="0"/>
                </a:lnTo>
                <a:lnTo>
                  <a:pt x="0" y="0"/>
                </a:lnTo>
              </a:path>
            </a:pathLst>
          </a:custGeom>
          <a:noFill/>
          <a:ln w="57240">
            <a:solidFill>
              <a:srgbClr val="009999"/>
            </a:solidFill>
            <a:round/>
            <a:headEnd/>
            <a:tailEnd type="triangle" w="med" len="med"/>
          </a:ln>
        </p:spPr>
        <p:txBody>
          <a:bodyPr wrap="none" anchor="ctr"/>
          <a:lstStyle/>
          <a:p>
            <a:endParaRPr lang="en-CA"/>
          </a:p>
        </p:txBody>
      </p:sp>
      <p:sp>
        <p:nvSpPr>
          <p:cNvPr id="24587" name="Line 51"/>
          <p:cNvSpPr>
            <a:spLocks noChangeShapeType="1"/>
          </p:cNvSpPr>
          <p:nvPr/>
        </p:nvSpPr>
        <p:spPr bwMode="auto">
          <a:xfrm flipH="1">
            <a:off x="8529638" y="3825875"/>
            <a:ext cx="503237" cy="12700"/>
          </a:xfrm>
          <a:prstGeom prst="line">
            <a:avLst/>
          </a:prstGeom>
          <a:noFill/>
          <a:ln w="57240">
            <a:solidFill>
              <a:srgbClr val="009999"/>
            </a:solidFill>
            <a:miter lim="800000"/>
            <a:headEnd/>
            <a:tailEnd type="triangle" w="med" len="med"/>
          </a:ln>
        </p:spPr>
        <p:txBody>
          <a:bodyPr/>
          <a:lstStyle/>
          <a:p>
            <a:endParaRPr lang="en-CA"/>
          </a:p>
        </p:txBody>
      </p:sp>
      <p:sp>
        <p:nvSpPr>
          <p:cNvPr id="24588" name="Line 53"/>
          <p:cNvSpPr>
            <a:spLocks noChangeShapeType="1"/>
          </p:cNvSpPr>
          <p:nvPr/>
        </p:nvSpPr>
        <p:spPr bwMode="auto">
          <a:xfrm flipH="1">
            <a:off x="1082675" y="3403600"/>
            <a:ext cx="7938" cy="2949575"/>
          </a:xfrm>
          <a:prstGeom prst="line">
            <a:avLst/>
          </a:prstGeom>
          <a:noFill/>
          <a:ln w="57240">
            <a:solidFill>
              <a:srgbClr val="009999"/>
            </a:solidFill>
            <a:miter lim="800000"/>
            <a:headEnd/>
            <a:tailEnd type="triangle" w="med" len="med"/>
          </a:ln>
        </p:spPr>
        <p:txBody>
          <a:bodyPr/>
          <a:lstStyle/>
          <a:p>
            <a:endParaRPr lang="en-CA"/>
          </a:p>
        </p:txBody>
      </p:sp>
      <p:sp>
        <p:nvSpPr>
          <p:cNvPr id="24589" name="Text Box 63"/>
          <p:cNvSpPr txBox="1">
            <a:spLocks noChangeArrowheads="1"/>
          </p:cNvSpPr>
          <p:nvPr/>
        </p:nvSpPr>
        <p:spPr bwMode="auto">
          <a:xfrm>
            <a:off x="3800475" y="6302375"/>
            <a:ext cx="2438400" cy="371475"/>
          </a:xfrm>
          <a:prstGeom prst="rect">
            <a:avLst/>
          </a:prstGeom>
          <a:noFill/>
          <a:ln w="9525">
            <a:noFill/>
            <a:round/>
            <a:headEnd/>
            <a:tailEnd/>
          </a:ln>
        </p:spPr>
        <p:txBody>
          <a:bodyPr wrap="none" lIns="90000" tIns="46800" rIns="90000" bIns="46800" anchor="ctr">
            <a:spAutoFit/>
          </a:bodyPr>
          <a:lstStyle/>
          <a:p>
            <a:pPr algn="ctr">
              <a:lnSpc>
                <a:spcPct val="100000"/>
              </a:lnSpc>
              <a:buFont typeface="Comic Sans MS"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cs typeface="Arial" pitchFamily="34" charset="0"/>
              </a:rPr>
              <a:t>Common Data Bus 2</a:t>
            </a:r>
            <a:r>
              <a:rPr lang="x-none" sz="1800" b="1">
                <a:solidFill>
                  <a:srgbClr val="000000"/>
                </a:solidFill>
                <a:cs typeface="Arial" pitchFamily="34" charset="0"/>
              </a:rPr>
              <a:t>‏</a:t>
            </a:r>
            <a:endParaRPr lang="en-GB" sz="1800" b="1">
              <a:solidFill>
                <a:srgbClr val="000000"/>
              </a:solidFill>
              <a:cs typeface="Arial" pitchFamily="34" charset="0"/>
            </a:endParaRPr>
          </a:p>
        </p:txBody>
      </p:sp>
      <p:sp>
        <p:nvSpPr>
          <p:cNvPr id="24590" name="TextBox 189"/>
          <p:cNvSpPr txBox="1">
            <a:spLocks noChangeArrowheads="1"/>
          </p:cNvSpPr>
          <p:nvPr/>
        </p:nvSpPr>
        <p:spPr bwMode="auto">
          <a:xfrm>
            <a:off x="3248025" y="2659063"/>
            <a:ext cx="1466850" cy="373062"/>
          </a:xfrm>
          <a:prstGeom prst="rect">
            <a:avLst/>
          </a:prstGeom>
          <a:solidFill>
            <a:schemeClr val="bg1"/>
          </a:solidFill>
          <a:ln w="9525">
            <a:noFill/>
            <a:miter lim="800000"/>
            <a:headEnd/>
            <a:tailEnd/>
          </a:ln>
        </p:spPr>
        <p:txBody>
          <a:bodyPr>
            <a:spAutoFit/>
          </a:bodyPr>
          <a:lstStyle/>
          <a:p>
            <a:r>
              <a:rPr lang="en-CA">
                <a:solidFill>
                  <a:srgbClr val="FF0000"/>
                </a:solidFill>
              </a:rPr>
              <a:t>2x / cycle</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atin typeface="Arial  " charset="0"/>
                <a:cs typeface="Arial  " charset="0"/>
              </a:rPr>
              <a:t>Example</a:t>
            </a:r>
          </a:p>
        </p:txBody>
      </p:sp>
      <p:sp>
        <p:nvSpPr>
          <p:cNvPr id="25603" name="Rectangle 3"/>
          <p:cNvSpPr>
            <a:spLocks noGrp="1" noChangeArrowheads="1"/>
          </p:cNvSpPr>
          <p:nvPr>
            <p:ph type="body" idx="1"/>
          </p:nvPr>
        </p:nvSpPr>
        <p:spPr>
          <a:xfrm>
            <a:off x="909638" y="1054100"/>
            <a:ext cx="7772400" cy="5322888"/>
          </a:xfrm>
        </p:spPr>
        <p:txBody>
          <a:bodyPr/>
          <a:lstStyle/>
          <a:p>
            <a:pPr marL="457200" indent="-457200">
              <a:lnSpc>
                <a:spcPct val="90000"/>
              </a:lnSpc>
              <a:buFontTx/>
              <a:buNone/>
            </a:pPr>
            <a:r>
              <a:rPr lang="en-US" sz="1400" dirty="0">
                <a:latin typeface="Arial  " charset="0"/>
                <a:cs typeface="Arial  " charset="0"/>
              </a:rPr>
              <a:t>Loop:		L.D		F0,0(R1)	; F0-array element</a:t>
            </a:r>
          </a:p>
          <a:p>
            <a:pPr marL="457200" indent="-457200">
              <a:lnSpc>
                <a:spcPct val="90000"/>
              </a:lnSpc>
              <a:buFontTx/>
              <a:buNone/>
            </a:pPr>
            <a:r>
              <a:rPr lang="en-US" sz="1400" dirty="0">
                <a:latin typeface="Arial  " charset="0"/>
                <a:cs typeface="Arial  " charset="0"/>
              </a:rPr>
              <a:t>		ADD.D	F4,F0,F2	; add scalar in F2</a:t>
            </a:r>
          </a:p>
          <a:p>
            <a:pPr marL="457200" indent="-457200">
              <a:lnSpc>
                <a:spcPct val="90000"/>
              </a:lnSpc>
              <a:buFontTx/>
              <a:buNone/>
            </a:pPr>
            <a:r>
              <a:rPr lang="en-US" sz="1400" dirty="0">
                <a:latin typeface="Arial  " charset="0"/>
                <a:cs typeface="Arial  " charset="0"/>
              </a:rPr>
              <a:t>		S.D		F4,0(F1)	; store result</a:t>
            </a:r>
          </a:p>
          <a:p>
            <a:pPr marL="457200" indent="-457200">
              <a:lnSpc>
                <a:spcPct val="90000"/>
              </a:lnSpc>
              <a:buFontTx/>
              <a:buNone/>
            </a:pPr>
            <a:r>
              <a:rPr lang="en-US" sz="1400" dirty="0">
                <a:latin typeface="Arial  " charset="0"/>
                <a:cs typeface="Arial  " charset="0"/>
              </a:rPr>
              <a:t>		DADDIU	R1,R1,#-8	; decrement pointer 8 bytes (per DW)</a:t>
            </a:r>
          </a:p>
          <a:p>
            <a:pPr marL="457200" indent="-457200">
              <a:lnSpc>
                <a:spcPct val="90000"/>
              </a:lnSpc>
              <a:buFontTx/>
              <a:buNone/>
            </a:pPr>
            <a:r>
              <a:rPr lang="en-US" sz="1400" dirty="0">
                <a:latin typeface="Arial  " charset="0"/>
                <a:cs typeface="Arial  " charset="0"/>
              </a:rPr>
              <a:t>		BNE		R1,R2,Loop	; branch R1 != R2</a:t>
            </a:r>
          </a:p>
          <a:p>
            <a:pPr marL="457200" indent="-457200">
              <a:lnSpc>
                <a:spcPct val="90000"/>
              </a:lnSpc>
              <a:buFontTx/>
              <a:buNone/>
            </a:pPr>
            <a:endParaRPr lang="en-US" sz="1400" dirty="0">
              <a:latin typeface="Arial  " charset="0"/>
              <a:cs typeface="Arial  " charset="0"/>
            </a:endParaRPr>
          </a:p>
          <a:p>
            <a:pPr marL="457200" indent="-457200">
              <a:lnSpc>
                <a:spcPct val="90000"/>
              </a:lnSpc>
              <a:buFontTx/>
              <a:buNone/>
            </a:pPr>
            <a:r>
              <a:rPr lang="en-US" sz="1400" b="1" u="sng" dirty="0">
                <a:solidFill>
                  <a:srgbClr val="0000FF"/>
                </a:solidFill>
                <a:latin typeface="Arial  " charset="0"/>
                <a:cs typeface="Arial  " charset="0"/>
              </a:rPr>
              <a:t>Assumptions:</a:t>
            </a:r>
            <a:endParaRPr lang="en-US" sz="1400" dirty="0">
              <a:latin typeface="Arial  " charset="0"/>
              <a:cs typeface="Arial  " charset="0"/>
            </a:endParaRPr>
          </a:p>
          <a:p>
            <a:pPr marL="457200" indent="-457200">
              <a:lnSpc>
                <a:spcPct val="90000"/>
              </a:lnSpc>
              <a:buFont typeface="Arial" pitchFamily="34" charset="0"/>
              <a:buAutoNum type="arabicParenBoth"/>
            </a:pPr>
            <a:r>
              <a:rPr lang="en-US" sz="1400" dirty="0">
                <a:latin typeface="Arial  " charset="0"/>
                <a:cs typeface="Arial  " charset="0"/>
              </a:rPr>
              <a:t>2-wide issue</a:t>
            </a:r>
          </a:p>
          <a:p>
            <a:pPr marL="457200" indent="-457200">
              <a:lnSpc>
                <a:spcPct val="90000"/>
              </a:lnSpc>
              <a:buFont typeface="Arial" pitchFamily="34" charset="0"/>
              <a:buAutoNum type="arabicParenBoth"/>
            </a:pPr>
            <a:r>
              <a:rPr lang="en-US" sz="1400" dirty="0">
                <a:latin typeface="Arial  " charset="0"/>
                <a:cs typeface="Arial  " charset="0"/>
              </a:rPr>
              <a:t>Infinite number of reservation stations</a:t>
            </a:r>
          </a:p>
          <a:p>
            <a:pPr marL="457200" indent="-457200">
              <a:lnSpc>
                <a:spcPct val="90000"/>
              </a:lnSpc>
              <a:buFont typeface="Arial" pitchFamily="34" charset="0"/>
              <a:buAutoNum type="arabicParenBoth"/>
            </a:pPr>
            <a:r>
              <a:rPr lang="en-US" sz="1400" dirty="0">
                <a:latin typeface="Arial  " charset="0"/>
                <a:cs typeface="Arial  " charset="0"/>
              </a:rPr>
              <a:t>Perfect branch prediction (let’s do three iterations of loop); separate branch unit.  </a:t>
            </a:r>
          </a:p>
          <a:p>
            <a:pPr marL="457200" indent="-457200">
              <a:lnSpc>
                <a:spcPct val="90000"/>
              </a:lnSpc>
              <a:buFont typeface="Arial" pitchFamily="34" charset="0"/>
              <a:buAutoNum type="arabicParenBoth"/>
            </a:pPr>
            <a:r>
              <a:rPr lang="en-US" sz="1400" dirty="0">
                <a:latin typeface="Arial  " charset="0"/>
                <a:cs typeface="Arial  " charset="0"/>
              </a:rPr>
              <a:t>Issue instruction from  target of taken branch 1 cycle after branch (due to fetch restrictions)</a:t>
            </a:r>
          </a:p>
          <a:p>
            <a:pPr marL="457200" indent="-457200">
              <a:lnSpc>
                <a:spcPct val="90000"/>
              </a:lnSpc>
              <a:buFont typeface="Arial" pitchFamily="34" charset="0"/>
              <a:buAutoNum type="arabicParenBoth"/>
            </a:pPr>
            <a:r>
              <a:rPr lang="en-US" sz="1400" dirty="0">
                <a:latin typeface="Arial  " charset="0"/>
                <a:cs typeface="Arial  " charset="0"/>
              </a:rPr>
              <a:t>One Integer Unit (handles load/store effective address calculation)</a:t>
            </a:r>
          </a:p>
          <a:p>
            <a:pPr marL="457200" indent="-457200">
              <a:lnSpc>
                <a:spcPct val="90000"/>
              </a:lnSpc>
              <a:buFont typeface="Arial" pitchFamily="34" charset="0"/>
              <a:buAutoNum type="arabicParenBoth"/>
            </a:pPr>
            <a:r>
              <a:rPr lang="en-US" sz="1400" dirty="0">
                <a:latin typeface="Arial  " charset="0"/>
                <a:cs typeface="Arial  " charset="0"/>
              </a:rPr>
              <a:t>Separate FP Function Unit for each type of FP operation</a:t>
            </a:r>
          </a:p>
          <a:p>
            <a:pPr marL="457200" indent="-457200">
              <a:lnSpc>
                <a:spcPct val="90000"/>
              </a:lnSpc>
              <a:buFont typeface="Arial" pitchFamily="34" charset="0"/>
              <a:buAutoNum type="arabicParenBoth"/>
            </a:pPr>
            <a:r>
              <a:rPr lang="en-US" sz="1400" dirty="0">
                <a:latin typeface="Arial  " charset="0"/>
                <a:cs typeface="Arial  " charset="0"/>
              </a:rPr>
              <a:t>Issue and Write Results take one cycle</a:t>
            </a:r>
          </a:p>
          <a:p>
            <a:pPr marL="457200" indent="-457200">
              <a:lnSpc>
                <a:spcPct val="90000"/>
              </a:lnSpc>
              <a:buFont typeface="Arial" pitchFamily="34" charset="0"/>
              <a:buAutoNum type="arabicParenBoth"/>
            </a:pPr>
            <a:r>
              <a:rPr lang="en-US" sz="1400" dirty="0">
                <a:latin typeface="Arial  " charset="0"/>
                <a:cs typeface="Arial  " charset="0"/>
              </a:rPr>
              <a:t>Latencies: One cycle for integer ALU; two cycles for loads; three cycles for FP adds</a:t>
            </a:r>
          </a:p>
          <a:p>
            <a:pPr marL="457200" indent="-457200">
              <a:lnSpc>
                <a:spcPct val="90000"/>
              </a:lnSpc>
              <a:buFont typeface="Arial" pitchFamily="34" charset="0"/>
              <a:buAutoNum type="arabicParenBoth"/>
            </a:pPr>
            <a:r>
              <a:rPr lang="en-US" sz="1400" dirty="0">
                <a:latin typeface="Arial  " charset="0"/>
                <a:cs typeface="Arial  " charset="0"/>
              </a:rPr>
              <a:t>Two CDBs</a:t>
            </a:r>
          </a:p>
          <a:p>
            <a:pPr marL="457200" indent="-457200">
              <a:lnSpc>
                <a:spcPct val="90000"/>
              </a:lnSpc>
              <a:buFont typeface="Arial" pitchFamily="34" charset="0"/>
              <a:buAutoNum type="arabicParenBoth"/>
            </a:pPr>
            <a:r>
              <a:rPr lang="en-US" sz="1400" dirty="0">
                <a:latin typeface="Arial  " charset="0"/>
                <a:cs typeface="Arial  " charset="0"/>
              </a:rPr>
              <a:t>Load/Store effective address calculation “decoupled” from memory access (e.g., compute effective address as soon as possible, even if data to store to memory is not available)</a:t>
            </a:r>
          </a:p>
          <a:p>
            <a:pPr marL="457200" indent="-457200">
              <a:lnSpc>
                <a:spcPct val="90000"/>
              </a:lnSpc>
              <a:buFont typeface="Arial" pitchFamily="34" charset="0"/>
              <a:buAutoNum type="arabicParenBoth"/>
            </a:pPr>
            <a:r>
              <a:rPr lang="en-US" sz="1400" dirty="0">
                <a:latin typeface="Arial  " charset="0"/>
                <a:cs typeface="Arial  " charset="0"/>
              </a:rPr>
              <a:t>NO Reorder Buffer</a:t>
            </a:r>
            <a:endParaRPr lang="en-US" sz="1000" dirty="0">
              <a:latin typeface="Arial  " charset="0"/>
              <a:cs typeface="Arial  " charset="0"/>
            </a:endParaRPr>
          </a:p>
          <a:p>
            <a:pPr marL="457200" indent="-457200">
              <a:lnSpc>
                <a:spcPct val="90000"/>
              </a:lnSpc>
              <a:buFontTx/>
              <a:buNone/>
            </a:pPr>
            <a:endParaRPr lang="en-US" sz="1800" dirty="0">
              <a:latin typeface="Arial  " charset="0"/>
              <a:cs typeface="Arial  " charset="0"/>
            </a:endParaRPr>
          </a:p>
        </p:txBody>
      </p:sp>
      <p:sp>
        <p:nvSpPr>
          <p:cNvPr id="25604" name="Line 5"/>
          <p:cNvSpPr>
            <a:spLocks noChangeShapeType="1"/>
          </p:cNvSpPr>
          <p:nvPr/>
        </p:nvSpPr>
        <p:spPr bwMode="auto">
          <a:xfrm>
            <a:off x="2913063" y="1225550"/>
            <a:ext cx="241300" cy="215900"/>
          </a:xfrm>
          <a:prstGeom prst="line">
            <a:avLst/>
          </a:prstGeom>
          <a:noFill/>
          <a:ln w="9525">
            <a:solidFill>
              <a:srgbClr val="FF0000"/>
            </a:solidFill>
            <a:round/>
            <a:headEnd/>
            <a:tailEnd type="triangle" w="med" len="med"/>
          </a:ln>
        </p:spPr>
        <p:txBody>
          <a:bodyPr wrap="none" anchor="ctr"/>
          <a:lstStyle/>
          <a:p>
            <a:endParaRPr lang="en-CA"/>
          </a:p>
        </p:txBody>
      </p:sp>
      <p:sp>
        <p:nvSpPr>
          <p:cNvPr id="25605" name="Line 6"/>
          <p:cNvSpPr>
            <a:spLocks noChangeShapeType="1"/>
          </p:cNvSpPr>
          <p:nvPr/>
        </p:nvSpPr>
        <p:spPr bwMode="auto">
          <a:xfrm flipH="1">
            <a:off x="2895600" y="1447800"/>
            <a:ext cx="0" cy="292100"/>
          </a:xfrm>
          <a:prstGeom prst="line">
            <a:avLst/>
          </a:prstGeom>
          <a:noFill/>
          <a:ln w="9525">
            <a:solidFill>
              <a:srgbClr val="FF0000"/>
            </a:solidFill>
            <a:round/>
            <a:headEnd/>
            <a:tailEnd type="triangle" w="med" len="med"/>
          </a:ln>
        </p:spPr>
        <p:txBody>
          <a:bodyPr wrap="none" anchor="ctr"/>
          <a:lstStyle/>
          <a:p>
            <a:endParaRPr lang="en-CA"/>
          </a:p>
        </p:txBody>
      </p:sp>
      <p:sp>
        <p:nvSpPr>
          <p:cNvPr id="25606" name="Line 7"/>
          <p:cNvSpPr>
            <a:spLocks noChangeShapeType="1"/>
          </p:cNvSpPr>
          <p:nvPr/>
        </p:nvSpPr>
        <p:spPr bwMode="auto">
          <a:xfrm flipH="1">
            <a:off x="2819400" y="2057400"/>
            <a:ext cx="0" cy="279400"/>
          </a:xfrm>
          <a:prstGeom prst="line">
            <a:avLst/>
          </a:prstGeom>
          <a:noFill/>
          <a:ln w="9525">
            <a:solidFill>
              <a:srgbClr val="FF0000"/>
            </a:solidFill>
            <a:round/>
            <a:headEnd/>
            <a:tailEnd type="triangle" w="med" len="med"/>
          </a:ln>
        </p:spPr>
        <p:txBody>
          <a:bodyPr wrap="none" anchor="ctr"/>
          <a:lstStyle/>
          <a:p>
            <a:endParaRPr lang="en-CA"/>
          </a:p>
        </p:txBody>
      </p:sp>
      <p:sp>
        <p:nvSpPr>
          <p:cNvPr id="25607" name="Slide Number Placeholder 10"/>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18B7601-F0ED-49A5-B631-45E28B6BDA88}"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45</a:t>
            </a:fld>
            <a:r>
              <a:rPr lang="en-GB"/>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6626" name="Picture 3" descr="fig-3"/>
          <p:cNvPicPr preferRelativeResize="0">
            <a:picLocks noChangeAspect="1" noChangeArrowheads="1"/>
          </p:cNvPicPr>
          <p:nvPr/>
        </p:nvPicPr>
        <p:blipFill>
          <a:blip r:embed="rId3"/>
          <a:srcRect/>
          <a:stretch>
            <a:fillRect/>
          </a:stretch>
        </p:blipFill>
        <p:spPr bwMode="auto">
          <a:xfrm>
            <a:off x="363538" y="1830388"/>
            <a:ext cx="4618037" cy="2614612"/>
          </a:xfrm>
          <a:prstGeom prst="rect">
            <a:avLst/>
          </a:prstGeom>
          <a:noFill/>
          <a:ln w="9525">
            <a:noFill/>
            <a:miter lim="800000"/>
            <a:headEnd/>
            <a:tailEnd/>
          </a:ln>
        </p:spPr>
      </p:pic>
      <p:sp>
        <p:nvSpPr>
          <p:cNvPr id="26629" name="Rectangle 2"/>
          <p:cNvSpPr>
            <a:spLocks noGrp="1" noChangeArrowheads="1"/>
          </p:cNvSpPr>
          <p:nvPr>
            <p:ph type="title"/>
          </p:nvPr>
        </p:nvSpPr>
        <p:spPr>
          <a:xfrm>
            <a:off x="715963" y="198438"/>
            <a:ext cx="7766050" cy="533400"/>
          </a:xfrm>
        </p:spPr>
        <p:txBody>
          <a:bodyPr/>
          <a:lstStyle/>
          <a:p>
            <a:r>
              <a:rPr lang="en-US">
                <a:latin typeface="Arial  " charset="0"/>
                <a:cs typeface="Arial  " charset="0"/>
              </a:rPr>
              <a:t>Example: 2-issue w/ Tomasulo</a:t>
            </a:r>
          </a:p>
        </p:txBody>
      </p:sp>
      <p:sp>
        <p:nvSpPr>
          <p:cNvPr id="26630" name="Rectangle 4"/>
          <p:cNvSpPr>
            <a:spLocks noChangeArrowheads="1"/>
          </p:cNvSpPr>
          <p:nvPr/>
        </p:nvSpPr>
        <p:spPr bwMode="auto">
          <a:xfrm>
            <a:off x="5422900" y="5829300"/>
            <a:ext cx="2514600" cy="279400"/>
          </a:xfrm>
          <a:prstGeom prst="rect">
            <a:avLst/>
          </a:prstGeom>
          <a:solidFill>
            <a:schemeClr val="bg1"/>
          </a:solidFill>
          <a:ln w="9525">
            <a:noFill/>
            <a:miter lim="800000"/>
            <a:headEnd/>
            <a:tailEnd/>
          </a:ln>
        </p:spPr>
        <p:txBody>
          <a:bodyPr wrap="none" anchor="ctr"/>
          <a:lstStyle/>
          <a:p>
            <a:endParaRPr lang="en-US">
              <a:cs typeface="Arial" pitchFamily="34" charset="0"/>
            </a:endParaRPr>
          </a:p>
        </p:txBody>
      </p:sp>
      <p:sp>
        <p:nvSpPr>
          <p:cNvPr id="642053" name="Rectangle 5"/>
          <p:cNvSpPr>
            <a:spLocks noGrp="1" noChangeArrowheads="1"/>
          </p:cNvSpPr>
          <p:nvPr>
            <p:ph type="body" idx="1"/>
          </p:nvPr>
        </p:nvSpPr>
        <p:spPr>
          <a:xfrm>
            <a:off x="0" y="6159500"/>
            <a:ext cx="9144000" cy="698500"/>
          </a:xfrm>
        </p:spPr>
        <p:txBody>
          <a:bodyPr/>
          <a:lstStyle/>
          <a:p>
            <a:pPr>
              <a:lnSpc>
                <a:spcPct val="90000"/>
              </a:lnSpc>
            </a:pPr>
            <a:r>
              <a:rPr lang="en-US" sz="1800">
                <a:latin typeface="Arial" pitchFamily="34" charset="0"/>
                <a:cs typeface="Arial" pitchFamily="34" charset="0"/>
              </a:rPr>
              <a:t>Fetch Issue 15 instructions/9 cycles = 1.67 IPC</a:t>
            </a:r>
          </a:p>
          <a:p>
            <a:pPr>
              <a:lnSpc>
                <a:spcPct val="90000"/>
              </a:lnSpc>
            </a:pPr>
            <a:r>
              <a:rPr lang="en-US" sz="1800">
                <a:latin typeface="Arial" pitchFamily="34" charset="0"/>
                <a:cs typeface="Arial" pitchFamily="34" charset="0"/>
              </a:rPr>
              <a:t>Execution Completion rate = 15 inst./16 cycles = 0.94 IPC (much less than 2)</a:t>
            </a:r>
          </a:p>
        </p:txBody>
      </p:sp>
      <p:sp>
        <p:nvSpPr>
          <p:cNvPr id="26634" name="Rectangle 65"/>
          <p:cNvSpPr>
            <a:spLocks noChangeArrowheads="1"/>
          </p:cNvSpPr>
          <p:nvPr/>
        </p:nvSpPr>
        <p:spPr bwMode="auto">
          <a:xfrm>
            <a:off x="5057775" y="4991100"/>
            <a:ext cx="3530600" cy="203200"/>
          </a:xfrm>
          <a:prstGeom prst="rect">
            <a:avLst/>
          </a:prstGeom>
          <a:solidFill>
            <a:schemeClr val="bg1"/>
          </a:solidFill>
          <a:ln w="9525">
            <a:noFill/>
            <a:miter lim="800000"/>
            <a:headEnd/>
            <a:tailEnd/>
          </a:ln>
        </p:spPr>
        <p:txBody>
          <a:bodyPr wrap="none" anchor="ctr"/>
          <a:lstStyle/>
          <a:p>
            <a:endParaRPr lang="en-US">
              <a:cs typeface="Arial" pitchFamily="34" charset="0"/>
            </a:endParaRPr>
          </a:p>
        </p:txBody>
      </p:sp>
      <p:pic>
        <p:nvPicPr>
          <p:cNvPr id="26635" name="Picture 66" descr="fig-3.26-mod.jpg                                               00072DB8mbp                            C32F9376:"/>
          <p:cNvPicPr>
            <a:picLocks noChangeAspect="1" noChangeArrowheads="1"/>
          </p:cNvPicPr>
          <p:nvPr/>
        </p:nvPicPr>
        <p:blipFill>
          <a:blip r:embed="rId4"/>
          <a:srcRect/>
          <a:stretch>
            <a:fillRect/>
          </a:stretch>
        </p:blipFill>
        <p:spPr bwMode="auto">
          <a:xfrm>
            <a:off x="5041900" y="1811338"/>
            <a:ext cx="3787775" cy="3348037"/>
          </a:xfrm>
          <a:prstGeom prst="rect">
            <a:avLst/>
          </a:prstGeom>
          <a:noFill/>
          <a:ln w="9525">
            <a:noFill/>
            <a:miter lim="800000"/>
            <a:headEnd/>
            <a:tailEnd/>
          </a:ln>
        </p:spPr>
      </p:pic>
      <p:sp>
        <p:nvSpPr>
          <p:cNvPr id="642205" name="Rectangle 157"/>
          <p:cNvSpPr>
            <a:spLocks noChangeAspect="1" noChangeArrowheads="1"/>
          </p:cNvSpPr>
          <p:nvPr/>
        </p:nvSpPr>
        <p:spPr bwMode="auto">
          <a:xfrm>
            <a:off x="7343775" y="4787900"/>
            <a:ext cx="549275" cy="111125"/>
          </a:xfrm>
          <a:prstGeom prst="rect">
            <a:avLst/>
          </a:prstGeom>
          <a:solidFill>
            <a:schemeClr val="bg1"/>
          </a:solidFill>
          <a:ln w="9525">
            <a:noFill/>
            <a:miter lim="800000"/>
            <a:headEnd/>
            <a:tailEnd/>
          </a:ln>
        </p:spPr>
        <p:txBody>
          <a:bodyPr wrap="none" anchor="ctr"/>
          <a:lstStyle/>
          <a:p>
            <a:endParaRPr lang="en-US">
              <a:cs typeface="Arial" pitchFamily="34" charset="0"/>
            </a:endParaRPr>
          </a:p>
        </p:txBody>
      </p:sp>
      <p:sp>
        <p:nvSpPr>
          <p:cNvPr id="642206" name="Rectangle 158"/>
          <p:cNvSpPr>
            <a:spLocks noChangeArrowheads="1"/>
          </p:cNvSpPr>
          <p:nvPr/>
        </p:nvSpPr>
        <p:spPr bwMode="auto">
          <a:xfrm>
            <a:off x="0" y="5240338"/>
            <a:ext cx="8272463" cy="931862"/>
          </a:xfrm>
          <a:prstGeom prst="rect">
            <a:avLst/>
          </a:prstGeom>
          <a:noFill/>
          <a:ln w="9525">
            <a:noFill/>
            <a:miter lim="800000"/>
            <a:headEnd/>
            <a:tailEnd/>
          </a:ln>
        </p:spPr>
        <p:txBody>
          <a:bodyPr/>
          <a:lstStyle/>
          <a:p>
            <a:pPr marL="457200" indent="-457200" eaLnBrk="1" hangingPunct="1">
              <a:lnSpc>
                <a:spcPct val="90000"/>
              </a:lnSpc>
              <a:spcBef>
                <a:spcPct val="20000"/>
              </a:spcBef>
              <a:buFont typeface="Times" pitchFamily="-106" charset="0"/>
              <a:buAutoNum type="arabicPeriod"/>
            </a:pPr>
            <a:r>
              <a:rPr lang="en-US" sz="1800">
                <a:solidFill>
                  <a:schemeClr val="accent2"/>
                </a:solidFill>
                <a:cs typeface="Arial" pitchFamily="34" charset="0"/>
              </a:rPr>
              <a:t>Mark relevant dependencies (true deps)</a:t>
            </a:r>
          </a:p>
          <a:p>
            <a:pPr marL="457200" indent="-457200" eaLnBrk="1" hangingPunct="1">
              <a:lnSpc>
                <a:spcPct val="90000"/>
              </a:lnSpc>
              <a:spcBef>
                <a:spcPct val="20000"/>
              </a:spcBef>
              <a:buFont typeface="Times" pitchFamily="-106" charset="0"/>
              <a:buAutoNum type="arabicPeriod"/>
            </a:pPr>
            <a:r>
              <a:rPr lang="en-US" sz="1800">
                <a:solidFill>
                  <a:schemeClr val="accent2"/>
                </a:solidFill>
                <a:cs typeface="Arial" pitchFamily="34" charset="0"/>
              </a:rPr>
              <a:t>Each clock cycle: Start from oldest instruction, working toward younger instructions and attempt to apply scheduling algorithm + assumptions</a:t>
            </a:r>
            <a:endParaRPr lang="en-US" sz="2000">
              <a:solidFill>
                <a:schemeClr val="accent2"/>
              </a:solidFill>
              <a:cs typeface="Arial" pitchFamily="34" charset="0"/>
            </a:endParaRPr>
          </a:p>
          <a:p>
            <a:pPr marL="838200" lvl="1" indent="-381000" eaLnBrk="1" hangingPunct="1">
              <a:lnSpc>
                <a:spcPct val="90000"/>
              </a:lnSpc>
              <a:spcBef>
                <a:spcPct val="20000"/>
              </a:spcBef>
              <a:buFont typeface="Times" pitchFamily="-106" charset="0"/>
              <a:buNone/>
            </a:pPr>
            <a:endParaRPr lang="en-US" sz="2800">
              <a:solidFill>
                <a:schemeClr val="accent2"/>
              </a:solidFill>
              <a:cs typeface="Arial" pitchFamily="34" charset="0"/>
            </a:endParaRPr>
          </a:p>
        </p:txBody>
      </p:sp>
      <p:sp>
        <p:nvSpPr>
          <p:cNvPr id="26728" name="Slide Number Placeholder 125"/>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35EC217-EE20-4A5E-9866-9AB9B0741D33}"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46</a:t>
            </a:fld>
            <a:r>
              <a:rPr lang="en-GB"/>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42206"/>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64220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64205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4205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3" grpId="0" build="p" autoUpdateAnimBg="0"/>
      <p:bldP spid="642205" grpId="0" animBg="1"/>
      <p:bldP spid="64220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sz="3600">
                <a:latin typeface="Arial  " charset="0"/>
                <a:cs typeface="Arial  " charset="0"/>
              </a:rPr>
              <a:t>Modified Example (extra Int ALU)</a:t>
            </a:r>
            <a:endParaRPr lang="en-US">
              <a:latin typeface="Arial  " charset="0"/>
              <a:cs typeface="Arial  " charset="0"/>
            </a:endParaRPr>
          </a:p>
        </p:txBody>
      </p:sp>
      <p:sp>
        <p:nvSpPr>
          <p:cNvPr id="27651" name="Rectangle 3"/>
          <p:cNvSpPr>
            <a:spLocks noGrp="1" noChangeArrowheads="1"/>
          </p:cNvSpPr>
          <p:nvPr>
            <p:ph type="body" idx="1"/>
          </p:nvPr>
        </p:nvSpPr>
        <p:spPr>
          <a:xfrm>
            <a:off x="927100" y="1257300"/>
            <a:ext cx="7772400" cy="4635500"/>
          </a:xfrm>
        </p:spPr>
        <p:txBody>
          <a:bodyPr/>
          <a:lstStyle/>
          <a:p>
            <a:pPr marL="457200" indent="-457200">
              <a:lnSpc>
                <a:spcPct val="90000"/>
              </a:lnSpc>
              <a:buFontTx/>
              <a:buNone/>
            </a:pPr>
            <a:r>
              <a:rPr lang="en-US" sz="1200" dirty="0">
                <a:latin typeface="Arial  " charset="0"/>
                <a:cs typeface="Arial  " charset="0"/>
              </a:rPr>
              <a:t>Loop:		L.D		F0,0(R1)		; F0-array element</a:t>
            </a:r>
          </a:p>
          <a:p>
            <a:pPr marL="457200" indent="-457200">
              <a:lnSpc>
                <a:spcPct val="90000"/>
              </a:lnSpc>
              <a:buFontTx/>
              <a:buNone/>
            </a:pPr>
            <a:r>
              <a:rPr lang="en-US" sz="1200" dirty="0">
                <a:latin typeface="Arial  " charset="0"/>
                <a:cs typeface="Arial  " charset="0"/>
              </a:rPr>
              <a:t>		ADD.D	F4,F0,F2		; add scalar in F2</a:t>
            </a:r>
          </a:p>
          <a:p>
            <a:pPr marL="457200" indent="-457200">
              <a:lnSpc>
                <a:spcPct val="90000"/>
              </a:lnSpc>
              <a:buFontTx/>
              <a:buNone/>
            </a:pPr>
            <a:r>
              <a:rPr lang="en-US" sz="1200" dirty="0">
                <a:latin typeface="Arial  " charset="0"/>
                <a:cs typeface="Arial  " charset="0"/>
              </a:rPr>
              <a:t>		S.D		F4,0(F1)		; store result</a:t>
            </a:r>
          </a:p>
          <a:p>
            <a:pPr marL="457200" indent="-457200">
              <a:lnSpc>
                <a:spcPct val="90000"/>
              </a:lnSpc>
              <a:buFontTx/>
              <a:buNone/>
            </a:pPr>
            <a:r>
              <a:rPr lang="en-US" sz="1200" dirty="0">
                <a:latin typeface="Arial  " charset="0"/>
                <a:cs typeface="Arial  " charset="0"/>
              </a:rPr>
              <a:t>		DADDIU	R1,R1,#-8		; decrement pointer 8 bytes (per DW)</a:t>
            </a:r>
          </a:p>
          <a:p>
            <a:pPr marL="457200" indent="-457200">
              <a:lnSpc>
                <a:spcPct val="90000"/>
              </a:lnSpc>
              <a:buFontTx/>
              <a:buNone/>
            </a:pPr>
            <a:r>
              <a:rPr lang="en-US" sz="1200" dirty="0">
                <a:latin typeface="Arial  " charset="0"/>
                <a:cs typeface="Arial  " charset="0"/>
              </a:rPr>
              <a:t>		BNE		R1,R2,Loop		; branch R1 != R2</a:t>
            </a:r>
          </a:p>
          <a:p>
            <a:pPr marL="457200" indent="-457200">
              <a:lnSpc>
                <a:spcPct val="90000"/>
              </a:lnSpc>
              <a:buFontTx/>
              <a:buNone/>
            </a:pPr>
            <a:endParaRPr lang="en-US" sz="1200" dirty="0">
              <a:latin typeface="Arial  " charset="0"/>
              <a:cs typeface="Arial  " charset="0"/>
            </a:endParaRPr>
          </a:p>
          <a:p>
            <a:pPr marL="457200" indent="-457200">
              <a:lnSpc>
                <a:spcPct val="90000"/>
              </a:lnSpc>
              <a:buFontTx/>
              <a:buNone/>
            </a:pPr>
            <a:endParaRPr lang="en-US" sz="1200" b="1" u="sng" dirty="0">
              <a:solidFill>
                <a:srgbClr val="0000FF"/>
              </a:solidFill>
              <a:latin typeface="Arial  " charset="0"/>
              <a:cs typeface="Arial  " charset="0"/>
            </a:endParaRPr>
          </a:p>
          <a:p>
            <a:pPr marL="457200" indent="-457200">
              <a:lnSpc>
                <a:spcPct val="90000"/>
              </a:lnSpc>
              <a:buFontTx/>
              <a:buNone/>
            </a:pPr>
            <a:r>
              <a:rPr lang="en-US" sz="1200" b="1" u="sng" dirty="0">
                <a:solidFill>
                  <a:srgbClr val="0000FF"/>
                </a:solidFill>
                <a:latin typeface="Arial  " charset="0"/>
                <a:cs typeface="Arial  " charset="0"/>
              </a:rPr>
              <a:t>Changed Assumptions:</a:t>
            </a:r>
          </a:p>
          <a:p>
            <a:pPr marL="457200" indent="-457200">
              <a:lnSpc>
                <a:spcPct val="90000"/>
              </a:lnSpc>
              <a:buFontTx/>
              <a:buNone/>
            </a:pPr>
            <a:r>
              <a:rPr lang="en-US" sz="1400" dirty="0">
                <a:solidFill>
                  <a:schemeClr val="tx1"/>
                </a:solidFill>
                <a:latin typeface="Arial  " charset="0"/>
                <a:cs typeface="Arial  " charset="0"/>
              </a:rPr>
              <a:t>…</a:t>
            </a:r>
          </a:p>
          <a:p>
            <a:pPr marL="457200" indent="-457200">
              <a:lnSpc>
                <a:spcPct val="90000"/>
              </a:lnSpc>
              <a:buFont typeface="Comic Sans MS" pitchFamily="66" charset="0"/>
              <a:buAutoNum type="arabicParenBoth" startAt="5"/>
            </a:pPr>
            <a:r>
              <a:rPr lang="en-US" sz="1400" b="1" dirty="0">
                <a:solidFill>
                  <a:srgbClr val="0000FF"/>
                </a:solidFill>
                <a:latin typeface="Arial  " charset="0"/>
                <a:cs typeface="Arial  " charset="0"/>
              </a:rPr>
              <a:t>Address Adder &amp; Integer Unit</a:t>
            </a:r>
            <a:r>
              <a:rPr lang="en-US" sz="1400" dirty="0">
                <a:latin typeface="Arial  " charset="0"/>
                <a:cs typeface="Arial  " charset="0"/>
              </a:rPr>
              <a:t> </a:t>
            </a:r>
          </a:p>
          <a:p>
            <a:pPr marL="457200" indent="-457200">
              <a:lnSpc>
                <a:spcPct val="90000"/>
              </a:lnSpc>
              <a:buFont typeface="Comic Sans MS" pitchFamily="66" charset="0"/>
              <a:buNone/>
            </a:pPr>
            <a:r>
              <a:rPr lang="en-US" sz="1400" dirty="0">
                <a:latin typeface="Arial  " charset="0"/>
                <a:cs typeface="Arial  " charset="0"/>
              </a:rPr>
              <a:t>…</a:t>
            </a:r>
          </a:p>
          <a:p>
            <a:pPr marL="457200" indent="-457200">
              <a:lnSpc>
                <a:spcPct val="90000"/>
              </a:lnSpc>
              <a:buFontTx/>
              <a:buNone/>
            </a:pPr>
            <a:endParaRPr lang="en-US" sz="1600" dirty="0">
              <a:latin typeface="Arial  " charset="0"/>
              <a:cs typeface="Arial  " charset="0"/>
            </a:endParaRPr>
          </a:p>
        </p:txBody>
      </p:sp>
      <p:sp>
        <p:nvSpPr>
          <p:cNvPr id="27652" name="Slide Number Placeholder 7"/>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981E775-4B8F-4534-888E-9C2E86441345}"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47</a:t>
            </a:fld>
            <a:r>
              <a:rPr lang="en-GB"/>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0"/>
            <a:ext cx="7772400" cy="533400"/>
          </a:xfrm>
        </p:spPr>
        <p:txBody>
          <a:bodyPr/>
          <a:lstStyle/>
          <a:p>
            <a:r>
              <a:rPr lang="en-US">
                <a:latin typeface="Arial  " charset="0"/>
                <a:cs typeface="Arial  " charset="0"/>
              </a:rPr>
              <a:t>Modified Example, cont’d...</a:t>
            </a:r>
          </a:p>
        </p:txBody>
      </p:sp>
      <p:sp>
        <p:nvSpPr>
          <p:cNvPr id="28675" name="Rectangle 3"/>
          <p:cNvSpPr>
            <a:spLocks noGrp="1" noChangeArrowheads="1"/>
          </p:cNvSpPr>
          <p:nvPr>
            <p:ph type="body" idx="1"/>
          </p:nvPr>
        </p:nvSpPr>
        <p:spPr>
          <a:xfrm>
            <a:off x="673100" y="5564188"/>
            <a:ext cx="7772400" cy="825500"/>
          </a:xfrm>
        </p:spPr>
        <p:txBody>
          <a:bodyPr/>
          <a:lstStyle/>
          <a:p>
            <a:pPr>
              <a:lnSpc>
                <a:spcPct val="90000"/>
              </a:lnSpc>
            </a:pPr>
            <a:r>
              <a:rPr lang="en-US" sz="1800">
                <a:solidFill>
                  <a:srgbClr val="FF0000"/>
                </a:solidFill>
                <a:latin typeface="Arial  " charset="0"/>
                <a:cs typeface="Arial  " charset="0"/>
              </a:rPr>
              <a:t>Execution </a:t>
            </a:r>
            <a:r>
              <a:rPr lang="en-US" sz="1800" u="sng">
                <a:solidFill>
                  <a:srgbClr val="FF0000"/>
                </a:solidFill>
                <a:latin typeface="Arial  " charset="0"/>
                <a:cs typeface="Arial  " charset="0"/>
              </a:rPr>
              <a:t>completion</a:t>
            </a:r>
            <a:r>
              <a:rPr lang="en-US" sz="1800">
                <a:solidFill>
                  <a:srgbClr val="FF0000"/>
                </a:solidFill>
                <a:latin typeface="Arial  " charset="0"/>
                <a:cs typeface="Arial  " charset="0"/>
              </a:rPr>
              <a:t> rate: 3 cycles less (3/S.D vs 1/L.D: 16-4+1 = 13 vs. 16 cycles before)  IPC = 15/13 = 1.15 (vs. 0.94)</a:t>
            </a:r>
            <a:endParaRPr lang="en-US" sz="1800">
              <a:latin typeface="Arial  " charset="0"/>
              <a:cs typeface="Arial  " charset="0"/>
            </a:endParaRPr>
          </a:p>
          <a:p>
            <a:pPr>
              <a:lnSpc>
                <a:spcPct val="90000"/>
              </a:lnSpc>
            </a:pPr>
            <a:r>
              <a:rPr lang="en-US" sz="1800" b="1">
                <a:solidFill>
                  <a:srgbClr val="FF0000"/>
                </a:solidFill>
                <a:latin typeface="Arial  " charset="0"/>
                <a:cs typeface="Arial  " charset="0"/>
              </a:rPr>
              <a:t>Performance limited by waiting for branch to resolve.</a:t>
            </a:r>
            <a:endParaRPr lang="en-US" sz="1800">
              <a:latin typeface="Arial  " charset="0"/>
              <a:cs typeface="Arial  " charset="0"/>
            </a:endParaRPr>
          </a:p>
        </p:txBody>
      </p:sp>
      <p:pic>
        <p:nvPicPr>
          <p:cNvPr id="28676" name="Picture 63" descr="fig-3.27.jpg                                                   00072E5Bmbp                            C32F9376:"/>
          <p:cNvPicPr>
            <a:picLocks noChangeAspect="1" noChangeArrowheads="1"/>
          </p:cNvPicPr>
          <p:nvPr/>
        </p:nvPicPr>
        <p:blipFill>
          <a:blip r:embed="rId3"/>
          <a:srcRect/>
          <a:stretch>
            <a:fillRect/>
          </a:stretch>
        </p:blipFill>
        <p:spPr bwMode="auto">
          <a:xfrm>
            <a:off x="407988" y="742950"/>
            <a:ext cx="8059737" cy="4705350"/>
          </a:xfrm>
          <a:prstGeom prst="rect">
            <a:avLst/>
          </a:prstGeom>
          <a:noFill/>
          <a:ln w="9525">
            <a:noFill/>
            <a:miter lim="800000"/>
            <a:headEnd/>
            <a:tailEnd/>
          </a:ln>
        </p:spPr>
      </p:pic>
      <p:sp>
        <p:nvSpPr>
          <p:cNvPr id="28677" name="Rectangle 64"/>
          <p:cNvSpPr>
            <a:spLocks noChangeArrowheads="1"/>
          </p:cNvSpPr>
          <p:nvPr/>
        </p:nvSpPr>
        <p:spPr bwMode="auto">
          <a:xfrm>
            <a:off x="6837363" y="2295525"/>
            <a:ext cx="1270000" cy="177800"/>
          </a:xfrm>
          <a:prstGeom prst="rect">
            <a:avLst/>
          </a:prstGeom>
          <a:solidFill>
            <a:srgbClr val="FF0000">
              <a:alpha val="12941"/>
            </a:srgbClr>
          </a:solidFill>
          <a:ln w="9525">
            <a:noFill/>
            <a:miter lim="800000"/>
            <a:headEnd/>
            <a:tailEnd/>
          </a:ln>
        </p:spPr>
        <p:txBody>
          <a:bodyPr wrap="none" anchor="ctr"/>
          <a:lstStyle/>
          <a:p>
            <a:endParaRPr lang="en-US"/>
          </a:p>
        </p:txBody>
      </p:sp>
      <p:sp>
        <p:nvSpPr>
          <p:cNvPr id="28678" name="Rectangle 65"/>
          <p:cNvSpPr>
            <a:spLocks noChangeArrowheads="1"/>
          </p:cNvSpPr>
          <p:nvPr/>
        </p:nvSpPr>
        <p:spPr bwMode="auto">
          <a:xfrm>
            <a:off x="6888163" y="3540125"/>
            <a:ext cx="1270000" cy="177800"/>
          </a:xfrm>
          <a:prstGeom prst="rect">
            <a:avLst/>
          </a:prstGeom>
          <a:solidFill>
            <a:srgbClr val="FF0000">
              <a:alpha val="12941"/>
            </a:srgbClr>
          </a:solidFill>
          <a:ln w="9525">
            <a:noFill/>
            <a:miter lim="800000"/>
            <a:headEnd/>
            <a:tailEnd/>
          </a:ln>
        </p:spPr>
        <p:txBody>
          <a:bodyPr wrap="none" anchor="ctr"/>
          <a:lstStyle/>
          <a:p>
            <a:endParaRPr lang="en-US"/>
          </a:p>
        </p:txBody>
      </p:sp>
      <p:sp>
        <p:nvSpPr>
          <p:cNvPr id="28679" name="Rectangle 66"/>
          <p:cNvSpPr>
            <a:spLocks noChangeArrowheads="1"/>
          </p:cNvSpPr>
          <p:nvPr/>
        </p:nvSpPr>
        <p:spPr bwMode="auto">
          <a:xfrm>
            <a:off x="6883400" y="4833938"/>
            <a:ext cx="1270000" cy="177800"/>
          </a:xfrm>
          <a:prstGeom prst="rect">
            <a:avLst/>
          </a:prstGeom>
          <a:solidFill>
            <a:srgbClr val="FF0000">
              <a:alpha val="12941"/>
            </a:srgbClr>
          </a:solidFill>
          <a:ln w="9525">
            <a:noFill/>
            <a:miter lim="800000"/>
            <a:headEnd/>
            <a:tailEnd/>
          </a:ln>
        </p:spPr>
        <p:txBody>
          <a:bodyPr wrap="none" anchor="ctr"/>
          <a:lstStyle/>
          <a:p>
            <a:endParaRPr lang="en-US"/>
          </a:p>
        </p:txBody>
      </p:sp>
      <p:sp>
        <p:nvSpPr>
          <p:cNvPr id="28680" name="Rectangle 67"/>
          <p:cNvSpPr>
            <a:spLocks noChangeArrowheads="1"/>
          </p:cNvSpPr>
          <p:nvPr/>
        </p:nvSpPr>
        <p:spPr bwMode="auto">
          <a:xfrm>
            <a:off x="8405813" y="812800"/>
            <a:ext cx="457200" cy="4622800"/>
          </a:xfrm>
          <a:prstGeom prst="rect">
            <a:avLst/>
          </a:prstGeom>
          <a:solidFill>
            <a:schemeClr val="bg1"/>
          </a:solidFill>
          <a:ln w="9525">
            <a:noFill/>
            <a:miter lim="800000"/>
            <a:headEnd/>
            <a:tailEnd/>
          </a:ln>
        </p:spPr>
        <p:txBody>
          <a:bodyPr wrap="none" anchor="ctr"/>
          <a:lstStyle/>
          <a:p>
            <a:endParaRPr lang="en-US"/>
          </a:p>
        </p:txBody>
      </p:sp>
      <p:sp>
        <p:nvSpPr>
          <p:cNvPr id="28681" name="Slide Number Placeholder 11"/>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A3F0F34-7042-4A1E-8928-86F3F95D981E}"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48</a:t>
            </a:fld>
            <a:r>
              <a:rPr lang="en-GB"/>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atin typeface="Arial  " charset="0"/>
                <a:cs typeface="Arial  " charset="0"/>
              </a:rPr>
              <a:t>Modified Example, cont’d...</a:t>
            </a:r>
          </a:p>
        </p:txBody>
      </p:sp>
      <p:pic>
        <p:nvPicPr>
          <p:cNvPr id="29699" name="Picture 4" descr="fig-3"/>
          <p:cNvPicPr>
            <a:picLocks noChangeAspect="1" noChangeArrowheads="1"/>
          </p:cNvPicPr>
          <p:nvPr/>
        </p:nvPicPr>
        <p:blipFill>
          <a:blip r:embed="rId2"/>
          <a:srcRect/>
          <a:stretch>
            <a:fillRect/>
          </a:stretch>
        </p:blipFill>
        <p:spPr bwMode="auto">
          <a:xfrm>
            <a:off x="679450" y="1157288"/>
            <a:ext cx="7353300" cy="3970337"/>
          </a:xfrm>
          <a:prstGeom prst="rect">
            <a:avLst/>
          </a:prstGeom>
          <a:noFill/>
          <a:ln w="9525">
            <a:noFill/>
            <a:miter lim="800000"/>
            <a:headEnd/>
            <a:tailEnd/>
          </a:ln>
        </p:spPr>
      </p:pic>
      <p:sp>
        <p:nvSpPr>
          <p:cNvPr id="29700" name="Rectangle 5"/>
          <p:cNvSpPr>
            <a:spLocks noChangeArrowheads="1"/>
          </p:cNvSpPr>
          <p:nvPr/>
        </p:nvSpPr>
        <p:spPr bwMode="auto">
          <a:xfrm>
            <a:off x="525463" y="1544638"/>
            <a:ext cx="444500" cy="3771900"/>
          </a:xfrm>
          <a:prstGeom prst="rect">
            <a:avLst/>
          </a:prstGeom>
          <a:solidFill>
            <a:schemeClr val="bg1"/>
          </a:solidFill>
          <a:ln w="9525">
            <a:noFill/>
            <a:miter lim="800000"/>
            <a:headEnd/>
            <a:tailEnd/>
          </a:ln>
        </p:spPr>
        <p:txBody>
          <a:bodyPr wrap="none" anchor="ctr"/>
          <a:lstStyle/>
          <a:p>
            <a:endParaRPr lang="en-US"/>
          </a:p>
        </p:txBody>
      </p:sp>
      <p:sp>
        <p:nvSpPr>
          <p:cNvPr id="29701" name="Rectangle 6"/>
          <p:cNvSpPr>
            <a:spLocks noChangeArrowheads="1"/>
          </p:cNvSpPr>
          <p:nvPr/>
        </p:nvSpPr>
        <p:spPr bwMode="auto">
          <a:xfrm>
            <a:off x="431800" y="1117600"/>
            <a:ext cx="355600" cy="457200"/>
          </a:xfrm>
          <a:prstGeom prst="rect">
            <a:avLst/>
          </a:prstGeom>
          <a:solidFill>
            <a:schemeClr val="bg1"/>
          </a:solidFill>
          <a:ln w="9525">
            <a:noFill/>
            <a:miter lim="800000"/>
            <a:headEnd/>
            <a:tailEnd/>
          </a:ln>
        </p:spPr>
        <p:txBody>
          <a:bodyPr wrap="none" anchor="ctr"/>
          <a:lstStyle/>
          <a:p>
            <a:endParaRPr lang="en-US"/>
          </a:p>
        </p:txBody>
      </p:sp>
      <p:sp>
        <p:nvSpPr>
          <p:cNvPr id="29702" name="Rectangle 21"/>
          <p:cNvSpPr>
            <a:spLocks noChangeArrowheads="1"/>
          </p:cNvSpPr>
          <p:nvPr/>
        </p:nvSpPr>
        <p:spPr bwMode="auto">
          <a:xfrm>
            <a:off x="6370638" y="2090738"/>
            <a:ext cx="1541462" cy="177800"/>
          </a:xfrm>
          <a:prstGeom prst="rect">
            <a:avLst/>
          </a:prstGeom>
          <a:solidFill>
            <a:srgbClr val="FF0000">
              <a:alpha val="12941"/>
            </a:srgbClr>
          </a:solidFill>
          <a:ln w="9525">
            <a:noFill/>
            <a:miter lim="800000"/>
            <a:headEnd/>
            <a:tailEnd/>
          </a:ln>
        </p:spPr>
        <p:txBody>
          <a:bodyPr wrap="none" anchor="ctr"/>
          <a:lstStyle/>
          <a:p>
            <a:endParaRPr lang="en-US"/>
          </a:p>
        </p:txBody>
      </p:sp>
      <p:sp>
        <p:nvSpPr>
          <p:cNvPr id="29703" name="Rectangle 22"/>
          <p:cNvSpPr>
            <a:spLocks noChangeArrowheads="1"/>
          </p:cNvSpPr>
          <p:nvPr/>
        </p:nvSpPr>
        <p:spPr bwMode="auto">
          <a:xfrm>
            <a:off x="1976438" y="2522538"/>
            <a:ext cx="1609725" cy="185737"/>
          </a:xfrm>
          <a:prstGeom prst="rect">
            <a:avLst/>
          </a:prstGeom>
          <a:solidFill>
            <a:srgbClr val="FF0000">
              <a:alpha val="12941"/>
            </a:srgbClr>
          </a:solidFill>
          <a:ln w="9525">
            <a:noFill/>
            <a:miter lim="800000"/>
            <a:headEnd/>
            <a:tailEnd/>
          </a:ln>
        </p:spPr>
        <p:txBody>
          <a:bodyPr wrap="none" anchor="ctr"/>
          <a:lstStyle/>
          <a:p>
            <a:endParaRPr lang="en-US"/>
          </a:p>
        </p:txBody>
      </p:sp>
      <p:sp>
        <p:nvSpPr>
          <p:cNvPr id="29704" name="Rectangle 23"/>
          <p:cNvSpPr>
            <a:spLocks noChangeArrowheads="1"/>
          </p:cNvSpPr>
          <p:nvPr/>
        </p:nvSpPr>
        <p:spPr bwMode="auto">
          <a:xfrm>
            <a:off x="2001838" y="1862138"/>
            <a:ext cx="1609725" cy="185737"/>
          </a:xfrm>
          <a:prstGeom prst="rect">
            <a:avLst/>
          </a:prstGeom>
          <a:solidFill>
            <a:srgbClr val="FF0000">
              <a:alpha val="12941"/>
            </a:srgbClr>
          </a:solidFill>
          <a:ln w="9525">
            <a:noFill/>
            <a:miter lim="800000"/>
            <a:headEnd/>
            <a:tailEnd/>
          </a:ln>
        </p:spPr>
        <p:txBody>
          <a:bodyPr wrap="none" anchor="ctr"/>
          <a:lstStyle/>
          <a:p>
            <a:endParaRPr lang="en-US"/>
          </a:p>
        </p:txBody>
      </p:sp>
      <p:sp>
        <p:nvSpPr>
          <p:cNvPr id="29705" name="Rectangle 24"/>
          <p:cNvSpPr>
            <a:spLocks noChangeArrowheads="1"/>
          </p:cNvSpPr>
          <p:nvPr/>
        </p:nvSpPr>
        <p:spPr bwMode="auto">
          <a:xfrm>
            <a:off x="1966913" y="3208338"/>
            <a:ext cx="1609725" cy="185737"/>
          </a:xfrm>
          <a:prstGeom prst="rect">
            <a:avLst/>
          </a:prstGeom>
          <a:solidFill>
            <a:srgbClr val="FF0000">
              <a:alpha val="12941"/>
            </a:srgbClr>
          </a:solidFill>
          <a:ln w="9525">
            <a:noFill/>
            <a:miter lim="800000"/>
            <a:headEnd/>
            <a:tailEnd/>
          </a:ln>
        </p:spPr>
        <p:txBody>
          <a:bodyPr wrap="none" anchor="ctr"/>
          <a:lstStyle/>
          <a:p>
            <a:endParaRPr lang="en-US"/>
          </a:p>
        </p:txBody>
      </p:sp>
      <p:sp>
        <p:nvSpPr>
          <p:cNvPr id="29706" name="Rectangle 25"/>
          <p:cNvSpPr>
            <a:spLocks noChangeArrowheads="1"/>
          </p:cNvSpPr>
          <p:nvPr/>
        </p:nvSpPr>
        <p:spPr bwMode="auto">
          <a:xfrm>
            <a:off x="6329363" y="3022600"/>
            <a:ext cx="1541462" cy="177800"/>
          </a:xfrm>
          <a:prstGeom prst="rect">
            <a:avLst/>
          </a:prstGeom>
          <a:solidFill>
            <a:srgbClr val="FF0000">
              <a:alpha val="12941"/>
            </a:srgbClr>
          </a:solidFill>
          <a:ln w="9525">
            <a:noFill/>
            <a:miter lim="800000"/>
            <a:headEnd/>
            <a:tailEnd/>
          </a:ln>
        </p:spPr>
        <p:txBody>
          <a:bodyPr wrap="none" anchor="ctr"/>
          <a:lstStyle/>
          <a:p>
            <a:endParaRPr lang="en-US"/>
          </a:p>
        </p:txBody>
      </p:sp>
      <p:sp>
        <p:nvSpPr>
          <p:cNvPr id="29707" name="Rectangle 26"/>
          <p:cNvSpPr>
            <a:spLocks noChangeArrowheads="1"/>
          </p:cNvSpPr>
          <p:nvPr/>
        </p:nvSpPr>
        <p:spPr bwMode="auto">
          <a:xfrm>
            <a:off x="677863" y="5138738"/>
            <a:ext cx="7772400" cy="1112837"/>
          </a:xfrm>
          <a:prstGeom prst="rect">
            <a:avLst/>
          </a:prstGeom>
          <a:noFill/>
          <a:ln w="9525">
            <a:noFill/>
            <a:miter lim="800000"/>
            <a:headEnd/>
            <a:tailEnd/>
          </a:ln>
        </p:spPr>
        <p:txBody>
          <a:bodyPr/>
          <a:lstStyle/>
          <a:p>
            <a:pPr marL="342900" indent="-342900" eaLnBrk="1" hangingPunct="1">
              <a:lnSpc>
                <a:spcPct val="90000"/>
              </a:lnSpc>
              <a:spcBef>
                <a:spcPct val="20000"/>
              </a:spcBef>
              <a:buFontTx/>
              <a:buChar char="•"/>
            </a:pPr>
            <a:r>
              <a:rPr lang="en-US" sz="1800">
                <a:solidFill>
                  <a:srgbClr val="FF0000"/>
                </a:solidFill>
                <a:cs typeface="Arial" pitchFamily="34" charset="0"/>
              </a:rPr>
              <a:t>Execution </a:t>
            </a:r>
            <a:r>
              <a:rPr lang="en-US" sz="1800" u="sng">
                <a:solidFill>
                  <a:srgbClr val="FF0000"/>
                </a:solidFill>
                <a:cs typeface="Arial" pitchFamily="34" charset="0"/>
              </a:rPr>
              <a:t>completion</a:t>
            </a:r>
            <a:r>
              <a:rPr lang="en-US" sz="1800">
                <a:solidFill>
                  <a:srgbClr val="FF0000"/>
                </a:solidFill>
                <a:cs typeface="Arial" pitchFamily="34" charset="0"/>
              </a:rPr>
              <a:t> rate: 3 cycles less (3/S.D vs 1/L.D: 16-4+1 = 13 vs. 16 cycles before)  IPC = 15/13 = 1.15 (vs. 0.94)</a:t>
            </a:r>
            <a:endParaRPr lang="en-US" sz="1800">
              <a:cs typeface="Arial" pitchFamily="34" charset="0"/>
            </a:endParaRPr>
          </a:p>
          <a:p>
            <a:pPr marL="342900" indent="-342900" eaLnBrk="1" hangingPunct="1">
              <a:lnSpc>
                <a:spcPct val="90000"/>
              </a:lnSpc>
              <a:spcBef>
                <a:spcPct val="20000"/>
              </a:spcBef>
              <a:buFontTx/>
              <a:buChar char="•"/>
            </a:pPr>
            <a:r>
              <a:rPr lang="en-US" sz="1800" b="1" u="sng">
                <a:solidFill>
                  <a:srgbClr val="FF0000"/>
                </a:solidFill>
                <a:cs typeface="Arial" pitchFamily="34" charset="0"/>
              </a:rPr>
              <a:t>Performance limited by waiting for branch to resolve.</a:t>
            </a:r>
            <a:endParaRPr lang="en-US" sz="1800">
              <a:cs typeface="Arial" pitchFamily="34" charset="0"/>
            </a:endParaRPr>
          </a:p>
        </p:txBody>
      </p:sp>
      <p:sp>
        <p:nvSpPr>
          <p:cNvPr id="29708" name="Slide Number Placeholder 14"/>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769D2F4-CAAD-4B17-99B7-3EF348F61A57}"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49</a:t>
            </a:fld>
            <a:r>
              <a:rPr lang="en-GB"/>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0"/>
            <a:ext cx="7772400" cy="682625"/>
          </a:xfrm>
        </p:spPr>
        <p:txBody>
          <a:bodyPr/>
          <a:lstStyle/>
          <a:p>
            <a:r>
              <a:rPr lang="en-US" sz="2400">
                <a:latin typeface="Arial  " charset="0"/>
                <a:cs typeface="Arial  " charset="0"/>
              </a:rPr>
              <a:t>Example of Multiple Issue, Tomasulo &amp; Reorder Buffer</a:t>
            </a:r>
            <a:endParaRPr lang="en-US">
              <a:latin typeface="Arial  " charset="0"/>
              <a:cs typeface="Arial  " charset="0"/>
            </a:endParaRPr>
          </a:p>
        </p:txBody>
      </p:sp>
      <p:sp>
        <p:nvSpPr>
          <p:cNvPr id="50179" name="Rectangle 3"/>
          <p:cNvSpPr>
            <a:spLocks noGrp="1" noChangeArrowheads="1"/>
          </p:cNvSpPr>
          <p:nvPr>
            <p:ph type="body" idx="1"/>
          </p:nvPr>
        </p:nvSpPr>
        <p:spPr>
          <a:xfrm>
            <a:off x="693738" y="5257800"/>
            <a:ext cx="7772400" cy="931863"/>
          </a:xfrm>
        </p:spPr>
        <p:txBody>
          <a:bodyPr/>
          <a:lstStyle/>
          <a:p>
            <a:pPr marL="457200" indent="-457200">
              <a:lnSpc>
                <a:spcPct val="90000"/>
              </a:lnSpc>
              <a:buFont typeface="Times" pitchFamily="-106" charset="0"/>
              <a:buAutoNum type="arabicPeriod"/>
            </a:pPr>
            <a:r>
              <a:rPr lang="en-US" sz="1400" dirty="0">
                <a:solidFill>
                  <a:srgbClr val="FF0000"/>
                </a:solidFill>
                <a:latin typeface="Arial  " charset="0"/>
                <a:cs typeface="Arial  " charset="0"/>
              </a:rPr>
              <a:t>Mark true dependencies</a:t>
            </a:r>
          </a:p>
          <a:p>
            <a:pPr marL="457200" indent="-457200">
              <a:lnSpc>
                <a:spcPct val="90000"/>
              </a:lnSpc>
              <a:buFont typeface="Times" pitchFamily="-106" charset="0"/>
              <a:buAutoNum type="arabicPeriod"/>
            </a:pPr>
            <a:r>
              <a:rPr lang="en-US" sz="1400" dirty="0">
                <a:solidFill>
                  <a:srgbClr val="FF0000"/>
                </a:solidFill>
                <a:latin typeface="Arial  " charset="0"/>
                <a:cs typeface="Arial  " charset="0"/>
              </a:rPr>
              <a:t>Each clock cycle: Start from oldest instruction, working toward younger instructions and attempt to apply </a:t>
            </a:r>
            <a:r>
              <a:rPr lang="en-US" sz="1400" u="sng" dirty="0">
                <a:solidFill>
                  <a:srgbClr val="FF0000"/>
                </a:solidFill>
                <a:latin typeface="Arial  " charset="0"/>
                <a:cs typeface="Arial  " charset="0"/>
              </a:rPr>
              <a:t>&lt;whichever </a:t>
            </a:r>
            <a:r>
              <a:rPr lang="en-US" sz="1400" u="sng" dirty="0" err="1">
                <a:solidFill>
                  <a:srgbClr val="FF0000"/>
                </a:solidFill>
                <a:latin typeface="Arial  " charset="0"/>
                <a:cs typeface="Arial  " charset="0"/>
              </a:rPr>
              <a:t>OoO</a:t>
            </a:r>
            <a:r>
              <a:rPr lang="en-US" sz="1400" u="sng" dirty="0">
                <a:solidFill>
                  <a:srgbClr val="FF0000"/>
                </a:solidFill>
                <a:latin typeface="Arial  " charset="0"/>
                <a:cs typeface="Arial  " charset="0"/>
              </a:rPr>
              <a:t>&gt;</a:t>
            </a:r>
            <a:r>
              <a:rPr lang="en-US" sz="1400" dirty="0">
                <a:solidFill>
                  <a:srgbClr val="FF0000"/>
                </a:solidFill>
                <a:latin typeface="Arial  " charset="0"/>
                <a:cs typeface="Arial  " charset="0"/>
              </a:rPr>
              <a:t> algorithm rules</a:t>
            </a:r>
          </a:p>
          <a:p>
            <a:pPr marL="838200" lvl="1" indent="-381000">
              <a:lnSpc>
                <a:spcPct val="90000"/>
              </a:lnSpc>
              <a:buFont typeface="Times" pitchFamily="-106" charset="0"/>
              <a:buNone/>
            </a:pPr>
            <a:endParaRPr lang="en-US" sz="1800" dirty="0">
              <a:latin typeface="Arial  " charset="0"/>
              <a:cs typeface="Arial  " charset="0"/>
            </a:endParaRPr>
          </a:p>
        </p:txBody>
      </p:sp>
      <p:pic>
        <p:nvPicPr>
          <p:cNvPr id="50180" name="Picture 4" descr="fig-3.34.jpg                                                   00072E5Bmbp                            C32F9376:"/>
          <p:cNvPicPr>
            <a:picLocks noChangeAspect="1" noChangeArrowheads="1"/>
          </p:cNvPicPr>
          <p:nvPr/>
        </p:nvPicPr>
        <p:blipFill>
          <a:blip r:embed="rId2"/>
          <a:srcRect/>
          <a:stretch>
            <a:fillRect/>
          </a:stretch>
        </p:blipFill>
        <p:spPr bwMode="auto">
          <a:xfrm>
            <a:off x="639763" y="1233488"/>
            <a:ext cx="6446837" cy="3894137"/>
          </a:xfrm>
          <a:prstGeom prst="rect">
            <a:avLst/>
          </a:prstGeom>
          <a:noFill/>
          <a:ln w="9525">
            <a:noFill/>
            <a:miter lim="800000"/>
            <a:headEnd/>
            <a:tailEnd/>
          </a:ln>
        </p:spPr>
      </p:pic>
      <p:sp>
        <p:nvSpPr>
          <p:cNvPr id="50267" name="Text Box 92"/>
          <p:cNvSpPr txBox="1">
            <a:spLocks noChangeArrowheads="1"/>
          </p:cNvSpPr>
          <p:nvPr/>
        </p:nvSpPr>
        <p:spPr bwMode="auto">
          <a:xfrm>
            <a:off x="2193925" y="2643188"/>
            <a:ext cx="155575" cy="168275"/>
          </a:xfrm>
          <a:prstGeom prst="rect">
            <a:avLst/>
          </a:prstGeom>
          <a:solidFill>
            <a:schemeClr val="bg1"/>
          </a:solidFill>
          <a:ln w="9525">
            <a:noFill/>
            <a:miter lim="800000"/>
            <a:headEnd/>
            <a:tailEnd/>
          </a:ln>
        </p:spPr>
        <p:txBody>
          <a:bodyPr wrap="none" lIns="0" tIns="0" rIns="0" bIns="0">
            <a:spAutoFit/>
          </a:bodyPr>
          <a:lstStyle/>
          <a:p>
            <a:r>
              <a:rPr lang="en-US" sz="1100"/>
              <a:t>#8</a:t>
            </a:r>
          </a:p>
        </p:txBody>
      </p:sp>
      <p:sp>
        <p:nvSpPr>
          <p:cNvPr id="50268" name="Text Box 93"/>
          <p:cNvSpPr txBox="1">
            <a:spLocks noChangeArrowheads="1"/>
          </p:cNvSpPr>
          <p:nvPr/>
        </p:nvSpPr>
        <p:spPr bwMode="auto">
          <a:xfrm>
            <a:off x="2193925" y="3659188"/>
            <a:ext cx="155575" cy="168275"/>
          </a:xfrm>
          <a:prstGeom prst="rect">
            <a:avLst/>
          </a:prstGeom>
          <a:solidFill>
            <a:schemeClr val="bg1"/>
          </a:solidFill>
          <a:ln w="9525">
            <a:noFill/>
            <a:miter lim="800000"/>
            <a:headEnd/>
            <a:tailEnd/>
          </a:ln>
        </p:spPr>
        <p:txBody>
          <a:bodyPr wrap="none" lIns="0" tIns="0" rIns="0" bIns="0">
            <a:spAutoFit/>
          </a:bodyPr>
          <a:lstStyle/>
          <a:p>
            <a:r>
              <a:rPr lang="en-US" sz="1100"/>
              <a:t>#8</a:t>
            </a:r>
          </a:p>
        </p:txBody>
      </p:sp>
      <p:sp>
        <p:nvSpPr>
          <p:cNvPr id="50269" name="Text Box 94"/>
          <p:cNvSpPr txBox="1">
            <a:spLocks noChangeArrowheads="1"/>
          </p:cNvSpPr>
          <p:nvPr/>
        </p:nvSpPr>
        <p:spPr bwMode="auto">
          <a:xfrm>
            <a:off x="2193925" y="4683125"/>
            <a:ext cx="155575" cy="168275"/>
          </a:xfrm>
          <a:prstGeom prst="rect">
            <a:avLst/>
          </a:prstGeom>
          <a:solidFill>
            <a:schemeClr val="bg1"/>
          </a:solidFill>
          <a:ln w="9525">
            <a:noFill/>
            <a:miter lim="800000"/>
            <a:headEnd/>
            <a:tailEnd/>
          </a:ln>
        </p:spPr>
        <p:txBody>
          <a:bodyPr wrap="none" lIns="0" tIns="0" rIns="0" bIns="0">
            <a:spAutoFit/>
          </a:bodyPr>
          <a:lstStyle/>
          <a:p>
            <a:r>
              <a:rPr lang="en-US" sz="1100"/>
              <a:t>#8</a:t>
            </a:r>
          </a:p>
        </p:txBody>
      </p:sp>
      <p:grpSp>
        <p:nvGrpSpPr>
          <p:cNvPr id="2" name="Group 95"/>
          <p:cNvGrpSpPr>
            <a:grpSpLocks/>
          </p:cNvGrpSpPr>
          <p:nvPr/>
        </p:nvGrpSpPr>
        <p:grpSpPr bwMode="auto">
          <a:xfrm>
            <a:off x="1714500" y="2108200"/>
            <a:ext cx="444500" cy="2825750"/>
            <a:chOff x="1080" y="1328"/>
            <a:chExt cx="280" cy="1780"/>
          </a:xfrm>
        </p:grpSpPr>
        <p:grpSp>
          <p:nvGrpSpPr>
            <p:cNvPr id="50284" name="Group 96"/>
            <p:cNvGrpSpPr>
              <a:grpSpLocks/>
            </p:cNvGrpSpPr>
            <p:nvPr/>
          </p:nvGrpSpPr>
          <p:grpSpPr bwMode="auto">
            <a:xfrm>
              <a:off x="1080" y="1328"/>
              <a:ext cx="259" cy="1780"/>
              <a:chOff x="1080" y="1328"/>
              <a:chExt cx="259" cy="1780"/>
            </a:xfrm>
          </p:grpSpPr>
          <p:grpSp>
            <p:nvGrpSpPr>
              <p:cNvPr id="50290" name="Group 97"/>
              <p:cNvGrpSpPr>
                <a:grpSpLocks/>
              </p:cNvGrpSpPr>
              <p:nvPr/>
            </p:nvGrpSpPr>
            <p:grpSpPr bwMode="auto">
              <a:xfrm>
                <a:off x="1080" y="1328"/>
                <a:ext cx="259" cy="635"/>
                <a:chOff x="1080" y="1328"/>
                <a:chExt cx="259" cy="635"/>
              </a:xfrm>
            </p:grpSpPr>
            <p:sp>
              <p:nvSpPr>
                <p:cNvPr id="50299" name="Line 98"/>
                <p:cNvSpPr>
                  <a:spLocks noChangeShapeType="1"/>
                </p:cNvSpPr>
                <p:nvPr/>
              </p:nvSpPr>
              <p:spPr bwMode="auto">
                <a:xfrm>
                  <a:off x="1168" y="1328"/>
                  <a:ext cx="107" cy="101"/>
                </a:xfrm>
                <a:prstGeom prst="line">
                  <a:avLst/>
                </a:prstGeom>
                <a:noFill/>
                <a:ln w="9525">
                  <a:solidFill>
                    <a:srgbClr val="FF0000"/>
                  </a:solidFill>
                  <a:round/>
                  <a:headEnd/>
                  <a:tailEnd type="triangle" w="med" len="med"/>
                </a:ln>
              </p:spPr>
              <p:txBody>
                <a:bodyPr wrap="none" anchor="ctr"/>
                <a:lstStyle/>
                <a:p>
                  <a:endParaRPr lang="en-CA"/>
                </a:p>
              </p:txBody>
            </p:sp>
            <p:sp>
              <p:nvSpPr>
                <p:cNvPr id="50300" name="Line 99"/>
                <p:cNvSpPr>
                  <a:spLocks noChangeShapeType="1"/>
                </p:cNvSpPr>
                <p:nvPr/>
              </p:nvSpPr>
              <p:spPr bwMode="auto">
                <a:xfrm flipH="1">
                  <a:off x="1169" y="1472"/>
                  <a:ext cx="4" cy="112"/>
                </a:xfrm>
                <a:prstGeom prst="line">
                  <a:avLst/>
                </a:prstGeom>
                <a:noFill/>
                <a:ln w="9525">
                  <a:solidFill>
                    <a:srgbClr val="FF0000"/>
                  </a:solidFill>
                  <a:round/>
                  <a:headEnd/>
                  <a:tailEnd type="triangle" w="med" len="med"/>
                </a:ln>
              </p:spPr>
              <p:txBody>
                <a:bodyPr wrap="none" anchor="ctr"/>
                <a:lstStyle/>
                <a:p>
                  <a:endParaRPr lang="en-CA"/>
                </a:p>
              </p:txBody>
            </p:sp>
            <p:sp>
              <p:nvSpPr>
                <p:cNvPr id="50301" name="Freeform 100"/>
                <p:cNvSpPr>
                  <a:spLocks/>
                </p:cNvSpPr>
                <p:nvPr/>
              </p:nvSpPr>
              <p:spPr bwMode="auto">
                <a:xfrm>
                  <a:off x="1080" y="1472"/>
                  <a:ext cx="83" cy="336"/>
                </a:xfrm>
                <a:custGeom>
                  <a:avLst/>
                  <a:gdLst>
                    <a:gd name="T0" fmla="*/ 83 w 83"/>
                    <a:gd name="T1" fmla="*/ 0 h 336"/>
                    <a:gd name="T2" fmla="*/ 3 w 83"/>
                    <a:gd name="T3" fmla="*/ 107 h 336"/>
                    <a:gd name="T4" fmla="*/ 67 w 83"/>
                    <a:gd name="T5" fmla="*/ 336 h 336"/>
                    <a:gd name="T6" fmla="*/ 0 60000 65536"/>
                    <a:gd name="T7" fmla="*/ 0 60000 65536"/>
                    <a:gd name="T8" fmla="*/ 0 60000 65536"/>
                    <a:gd name="T9" fmla="*/ 0 w 83"/>
                    <a:gd name="T10" fmla="*/ 0 h 336"/>
                    <a:gd name="T11" fmla="*/ 83 w 83"/>
                    <a:gd name="T12" fmla="*/ 336 h 336"/>
                  </a:gdLst>
                  <a:ahLst/>
                  <a:cxnLst>
                    <a:cxn ang="T6">
                      <a:pos x="T0" y="T1"/>
                    </a:cxn>
                    <a:cxn ang="T7">
                      <a:pos x="T2" y="T3"/>
                    </a:cxn>
                    <a:cxn ang="T8">
                      <a:pos x="T4" y="T5"/>
                    </a:cxn>
                  </a:cxnLst>
                  <a:rect l="T9" t="T10" r="T11" b="T12"/>
                  <a:pathLst>
                    <a:path w="83" h="336">
                      <a:moveTo>
                        <a:pt x="83" y="0"/>
                      </a:moveTo>
                      <a:cubicBezTo>
                        <a:pt x="44" y="25"/>
                        <a:pt x="6" y="51"/>
                        <a:pt x="3" y="107"/>
                      </a:cubicBezTo>
                      <a:cubicBezTo>
                        <a:pt x="0" y="163"/>
                        <a:pt x="33" y="249"/>
                        <a:pt x="67" y="336"/>
                      </a:cubicBezTo>
                    </a:path>
                  </a:pathLst>
                </a:custGeom>
                <a:noFill/>
                <a:ln w="9525">
                  <a:solidFill>
                    <a:srgbClr val="FF0000"/>
                  </a:solidFill>
                  <a:round/>
                  <a:headEnd/>
                  <a:tailEnd type="triangle" w="med" len="med"/>
                </a:ln>
              </p:spPr>
              <p:txBody>
                <a:bodyPr wrap="none" anchor="ctr"/>
                <a:lstStyle/>
                <a:p>
                  <a:endParaRPr lang="en-CA"/>
                </a:p>
              </p:txBody>
            </p:sp>
            <p:sp>
              <p:nvSpPr>
                <p:cNvPr id="50302" name="Line 101"/>
                <p:cNvSpPr>
                  <a:spLocks noChangeShapeType="1"/>
                </p:cNvSpPr>
                <p:nvPr/>
              </p:nvSpPr>
              <p:spPr bwMode="auto">
                <a:xfrm>
                  <a:off x="1189" y="1728"/>
                  <a:ext cx="150" cy="235"/>
                </a:xfrm>
                <a:prstGeom prst="line">
                  <a:avLst/>
                </a:prstGeom>
                <a:noFill/>
                <a:ln w="9525">
                  <a:solidFill>
                    <a:srgbClr val="FF0000"/>
                  </a:solidFill>
                  <a:round/>
                  <a:headEnd/>
                  <a:tailEnd type="triangle" w="med" len="med"/>
                </a:ln>
              </p:spPr>
              <p:txBody>
                <a:bodyPr wrap="none" anchor="ctr"/>
                <a:lstStyle/>
                <a:p>
                  <a:endParaRPr lang="en-CA"/>
                </a:p>
              </p:txBody>
            </p:sp>
          </p:grpSp>
          <p:grpSp>
            <p:nvGrpSpPr>
              <p:cNvPr id="50291" name="Group 102"/>
              <p:cNvGrpSpPr>
                <a:grpSpLocks/>
              </p:cNvGrpSpPr>
              <p:nvPr/>
            </p:nvGrpSpPr>
            <p:grpSpPr bwMode="auto">
              <a:xfrm>
                <a:off x="1080" y="1989"/>
                <a:ext cx="259" cy="635"/>
                <a:chOff x="1080" y="1328"/>
                <a:chExt cx="259" cy="635"/>
              </a:xfrm>
            </p:grpSpPr>
            <p:sp>
              <p:nvSpPr>
                <p:cNvPr id="50295" name="Line 103"/>
                <p:cNvSpPr>
                  <a:spLocks noChangeShapeType="1"/>
                </p:cNvSpPr>
                <p:nvPr/>
              </p:nvSpPr>
              <p:spPr bwMode="auto">
                <a:xfrm>
                  <a:off x="1168" y="1328"/>
                  <a:ext cx="107" cy="101"/>
                </a:xfrm>
                <a:prstGeom prst="line">
                  <a:avLst/>
                </a:prstGeom>
                <a:noFill/>
                <a:ln w="9525">
                  <a:solidFill>
                    <a:srgbClr val="FF0000"/>
                  </a:solidFill>
                  <a:round/>
                  <a:headEnd/>
                  <a:tailEnd type="triangle" w="med" len="med"/>
                </a:ln>
              </p:spPr>
              <p:txBody>
                <a:bodyPr wrap="none" anchor="ctr"/>
                <a:lstStyle/>
                <a:p>
                  <a:endParaRPr lang="en-CA"/>
                </a:p>
              </p:txBody>
            </p:sp>
            <p:sp>
              <p:nvSpPr>
                <p:cNvPr id="50296" name="Line 104"/>
                <p:cNvSpPr>
                  <a:spLocks noChangeShapeType="1"/>
                </p:cNvSpPr>
                <p:nvPr/>
              </p:nvSpPr>
              <p:spPr bwMode="auto">
                <a:xfrm flipH="1">
                  <a:off x="1169" y="1472"/>
                  <a:ext cx="4" cy="112"/>
                </a:xfrm>
                <a:prstGeom prst="line">
                  <a:avLst/>
                </a:prstGeom>
                <a:noFill/>
                <a:ln w="9525">
                  <a:solidFill>
                    <a:srgbClr val="FF0000"/>
                  </a:solidFill>
                  <a:round/>
                  <a:headEnd/>
                  <a:tailEnd type="triangle" w="med" len="med"/>
                </a:ln>
              </p:spPr>
              <p:txBody>
                <a:bodyPr wrap="none" anchor="ctr"/>
                <a:lstStyle/>
                <a:p>
                  <a:endParaRPr lang="en-CA"/>
                </a:p>
              </p:txBody>
            </p:sp>
            <p:sp>
              <p:nvSpPr>
                <p:cNvPr id="50297" name="Freeform 105"/>
                <p:cNvSpPr>
                  <a:spLocks/>
                </p:cNvSpPr>
                <p:nvPr/>
              </p:nvSpPr>
              <p:spPr bwMode="auto">
                <a:xfrm>
                  <a:off x="1080" y="1472"/>
                  <a:ext cx="83" cy="336"/>
                </a:xfrm>
                <a:custGeom>
                  <a:avLst/>
                  <a:gdLst>
                    <a:gd name="T0" fmla="*/ 83 w 83"/>
                    <a:gd name="T1" fmla="*/ 0 h 336"/>
                    <a:gd name="T2" fmla="*/ 3 w 83"/>
                    <a:gd name="T3" fmla="*/ 107 h 336"/>
                    <a:gd name="T4" fmla="*/ 67 w 83"/>
                    <a:gd name="T5" fmla="*/ 336 h 336"/>
                    <a:gd name="T6" fmla="*/ 0 60000 65536"/>
                    <a:gd name="T7" fmla="*/ 0 60000 65536"/>
                    <a:gd name="T8" fmla="*/ 0 60000 65536"/>
                    <a:gd name="T9" fmla="*/ 0 w 83"/>
                    <a:gd name="T10" fmla="*/ 0 h 336"/>
                    <a:gd name="T11" fmla="*/ 83 w 83"/>
                    <a:gd name="T12" fmla="*/ 336 h 336"/>
                  </a:gdLst>
                  <a:ahLst/>
                  <a:cxnLst>
                    <a:cxn ang="T6">
                      <a:pos x="T0" y="T1"/>
                    </a:cxn>
                    <a:cxn ang="T7">
                      <a:pos x="T2" y="T3"/>
                    </a:cxn>
                    <a:cxn ang="T8">
                      <a:pos x="T4" y="T5"/>
                    </a:cxn>
                  </a:cxnLst>
                  <a:rect l="T9" t="T10" r="T11" b="T12"/>
                  <a:pathLst>
                    <a:path w="83" h="336">
                      <a:moveTo>
                        <a:pt x="83" y="0"/>
                      </a:moveTo>
                      <a:cubicBezTo>
                        <a:pt x="44" y="25"/>
                        <a:pt x="6" y="51"/>
                        <a:pt x="3" y="107"/>
                      </a:cubicBezTo>
                      <a:cubicBezTo>
                        <a:pt x="0" y="163"/>
                        <a:pt x="33" y="249"/>
                        <a:pt x="67" y="336"/>
                      </a:cubicBezTo>
                    </a:path>
                  </a:pathLst>
                </a:custGeom>
                <a:noFill/>
                <a:ln w="9525">
                  <a:solidFill>
                    <a:srgbClr val="FF0000"/>
                  </a:solidFill>
                  <a:round/>
                  <a:headEnd/>
                  <a:tailEnd type="triangle" w="med" len="med"/>
                </a:ln>
              </p:spPr>
              <p:txBody>
                <a:bodyPr wrap="none" anchor="ctr"/>
                <a:lstStyle/>
                <a:p>
                  <a:endParaRPr lang="en-CA"/>
                </a:p>
              </p:txBody>
            </p:sp>
            <p:sp>
              <p:nvSpPr>
                <p:cNvPr id="50298" name="Line 106"/>
                <p:cNvSpPr>
                  <a:spLocks noChangeShapeType="1"/>
                </p:cNvSpPr>
                <p:nvPr/>
              </p:nvSpPr>
              <p:spPr bwMode="auto">
                <a:xfrm>
                  <a:off x="1189" y="1728"/>
                  <a:ext cx="150" cy="235"/>
                </a:xfrm>
                <a:prstGeom prst="line">
                  <a:avLst/>
                </a:prstGeom>
                <a:noFill/>
                <a:ln w="9525">
                  <a:solidFill>
                    <a:srgbClr val="FF0000"/>
                  </a:solidFill>
                  <a:round/>
                  <a:headEnd/>
                  <a:tailEnd type="triangle" w="med" len="med"/>
                </a:ln>
              </p:spPr>
              <p:txBody>
                <a:bodyPr wrap="none" anchor="ctr"/>
                <a:lstStyle/>
                <a:p>
                  <a:endParaRPr lang="en-CA"/>
                </a:p>
              </p:txBody>
            </p:sp>
          </p:grpSp>
          <p:sp>
            <p:nvSpPr>
              <p:cNvPr id="50292" name="Line 107"/>
              <p:cNvSpPr>
                <a:spLocks noChangeShapeType="1"/>
              </p:cNvSpPr>
              <p:nvPr/>
            </p:nvSpPr>
            <p:spPr bwMode="auto">
              <a:xfrm>
                <a:off x="1173" y="2628"/>
                <a:ext cx="107" cy="101"/>
              </a:xfrm>
              <a:prstGeom prst="line">
                <a:avLst/>
              </a:prstGeom>
              <a:noFill/>
              <a:ln w="9525">
                <a:solidFill>
                  <a:srgbClr val="FF0000"/>
                </a:solidFill>
                <a:round/>
                <a:headEnd/>
                <a:tailEnd type="triangle" w="med" len="med"/>
              </a:ln>
            </p:spPr>
            <p:txBody>
              <a:bodyPr wrap="none" anchor="ctr"/>
              <a:lstStyle/>
              <a:p>
                <a:endParaRPr lang="en-CA"/>
              </a:p>
            </p:txBody>
          </p:sp>
          <p:sp>
            <p:nvSpPr>
              <p:cNvPr id="50293" name="Line 108"/>
              <p:cNvSpPr>
                <a:spLocks noChangeShapeType="1"/>
              </p:cNvSpPr>
              <p:nvPr/>
            </p:nvSpPr>
            <p:spPr bwMode="auto">
              <a:xfrm flipH="1">
                <a:off x="1174" y="2772"/>
                <a:ext cx="4" cy="112"/>
              </a:xfrm>
              <a:prstGeom prst="line">
                <a:avLst/>
              </a:prstGeom>
              <a:noFill/>
              <a:ln w="9525">
                <a:solidFill>
                  <a:srgbClr val="FF0000"/>
                </a:solidFill>
                <a:round/>
                <a:headEnd/>
                <a:tailEnd type="triangle" w="med" len="med"/>
              </a:ln>
            </p:spPr>
            <p:txBody>
              <a:bodyPr wrap="none" anchor="ctr"/>
              <a:lstStyle/>
              <a:p>
                <a:endParaRPr lang="en-CA"/>
              </a:p>
            </p:txBody>
          </p:sp>
          <p:sp>
            <p:nvSpPr>
              <p:cNvPr id="50294" name="Freeform 109"/>
              <p:cNvSpPr>
                <a:spLocks/>
              </p:cNvSpPr>
              <p:nvPr/>
            </p:nvSpPr>
            <p:spPr bwMode="auto">
              <a:xfrm>
                <a:off x="1085" y="2772"/>
                <a:ext cx="83" cy="336"/>
              </a:xfrm>
              <a:custGeom>
                <a:avLst/>
                <a:gdLst>
                  <a:gd name="T0" fmla="*/ 83 w 83"/>
                  <a:gd name="T1" fmla="*/ 0 h 336"/>
                  <a:gd name="T2" fmla="*/ 3 w 83"/>
                  <a:gd name="T3" fmla="*/ 107 h 336"/>
                  <a:gd name="T4" fmla="*/ 67 w 83"/>
                  <a:gd name="T5" fmla="*/ 336 h 336"/>
                  <a:gd name="T6" fmla="*/ 0 60000 65536"/>
                  <a:gd name="T7" fmla="*/ 0 60000 65536"/>
                  <a:gd name="T8" fmla="*/ 0 60000 65536"/>
                  <a:gd name="T9" fmla="*/ 0 w 83"/>
                  <a:gd name="T10" fmla="*/ 0 h 336"/>
                  <a:gd name="T11" fmla="*/ 83 w 83"/>
                  <a:gd name="T12" fmla="*/ 336 h 336"/>
                </a:gdLst>
                <a:ahLst/>
                <a:cxnLst>
                  <a:cxn ang="T6">
                    <a:pos x="T0" y="T1"/>
                  </a:cxn>
                  <a:cxn ang="T7">
                    <a:pos x="T2" y="T3"/>
                  </a:cxn>
                  <a:cxn ang="T8">
                    <a:pos x="T4" y="T5"/>
                  </a:cxn>
                </a:cxnLst>
                <a:rect l="T9" t="T10" r="T11" b="T12"/>
                <a:pathLst>
                  <a:path w="83" h="336">
                    <a:moveTo>
                      <a:pt x="83" y="0"/>
                    </a:moveTo>
                    <a:cubicBezTo>
                      <a:pt x="44" y="25"/>
                      <a:pt x="6" y="51"/>
                      <a:pt x="3" y="107"/>
                    </a:cubicBezTo>
                    <a:cubicBezTo>
                      <a:pt x="0" y="163"/>
                      <a:pt x="33" y="249"/>
                      <a:pt x="67" y="336"/>
                    </a:cubicBezTo>
                  </a:path>
                </a:pathLst>
              </a:custGeom>
              <a:noFill/>
              <a:ln w="9525">
                <a:solidFill>
                  <a:srgbClr val="FF0000"/>
                </a:solidFill>
                <a:round/>
                <a:headEnd/>
                <a:tailEnd type="triangle" w="med" len="med"/>
              </a:ln>
            </p:spPr>
            <p:txBody>
              <a:bodyPr wrap="none" anchor="ctr"/>
              <a:lstStyle/>
              <a:p>
                <a:endParaRPr lang="en-CA"/>
              </a:p>
            </p:txBody>
          </p:sp>
        </p:grpSp>
        <p:grpSp>
          <p:nvGrpSpPr>
            <p:cNvPr id="50285" name="Group 110"/>
            <p:cNvGrpSpPr>
              <a:grpSpLocks/>
            </p:cNvGrpSpPr>
            <p:nvPr/>
          </p:nvGrpSpPr>
          <p:grpSpPr bwMode="auto">
            <a:xfrm>
              <a:off x="1189" y="1723"/>
              <a:ext cx="171" cy="1279"/>
              <a:chOff x="1189" y="1723"/>
              <a:chExt cx="171" cy="1279"/>
            </a:xfrm>
          </p:grpSpPr>
          <p:sp>
            <p:nvSpPr>
              <p:cNvPr id="50286" name="Line 111"/>
              <p:cNvSpPr>
                <a:spLocks noChangeShapeType="1"/>
              </p:cNvSpPr>
              <p:nvPr/>
            </p:nvSpPr>
            <p:spPr bwMode="auto">
              <a:xfrm>
                <a:off x="1195" y="1728"/>
                <a:ext cx="165" cy="475"/>
              </a:xfrm>
              <a:prstGeom prst="line">
                <a:avLst/>
              </a:prstGeom>
              <a:noFill/>
              <a:ln w="9525">
                <a:solidFill>
                  <a:srgbClr val="FF0000"/>
                </a:solidFill>
                <a:round/>
                <a:headEnd/>
                <a:tailEnd type="triangle" w="med" len="med"/>
              </a:ln>
            </p:spPr>
            <p:txBody>
              <a:bodyPr wrap="none" anchor="ctr"/>
              <a:lstStyle/>
              <a:p>
                <a:endParaRPr lang="en-CA"/>
              </a:p>
            </p:txBody>
          </p:sp>
          <p:sp>
            <p:nvSpPr>
              <p:cNvPr id="50287" name="Line 112"/>
              <p:cNvSpPr>
                <a:spLocks noChangeShapeType="1"/>
              </p:cNvSpPr>
              <p:nvPr/>
            </p:nvSpPr>
            <p:spPr bwMode="auto">
              <a:xfrm>
                <a:off x="1189" y="1723"/>
                <a:ext cx="86" cy="613"/>
              </a:xfrm>
              <a:prstGeom prst="line">
                <a:avLst/>
              </a:prstGeom>
              <a:noFill/>
              <a:ln w="9525">
                <a:solidFill>
                  <a:srgbClr val="FF0000"/>
                </a:solidFill>
                <a:round/>
                <a:headEnd/>
                <a:tailEnd type="triangle" w="med" len="med"/>
              </a:ln>
            </p:spPr>
            <p:txBody>
              <a:bodyPr wrap="none" anchor="ctr"/>
              <a:lstStyle/>
              <a:p>
                <a:endParaRPr lang="en-CA"/>
              </a:p>
            </p:txBody>
          </p:sp>
          <p:sp>
            <p:nvSpPr>
              <p:cNvPr id="50288" name="Line 113"/>
              <p:cNvSpPr>
                <a:spLocks noChangeShapeType="1"/>
              </p:cNvSpPr>
              <p:nvPr/>
            </p:nvSpPr>
            <p:spPr bwMode="auto">
              <a:xfrm>
                <a:off x="1195" y="2394"/>
                <a:ext cx="165" cy="475"/>
              </a:xfrm>
              <a:prstGeom prst="line">
                <a:avLst/>
              </a:prstGeom>
              <a:noFill/>
              <a:ln w="9525">
                <a:solidFill>
                  <a:srgbClr val="FF0000"/>
                </a:solidFill>
                <a:round/>
                <a:headEnd/>
                <a:tailEnd type="triangle" w="med" len="med"/>
              </a:ln>
            </p:spPr>
            <p:txBody>
              <a:bodyPr wrap="none" anchor="ctr"/>
              <a:lstStyle/>
              <a:p>
                <a:endParaRPr lang="en-CA"/>
              </a:p>
            </p:txBody>
          </p:sp>
          <p:sp>
            <p:nvSpPr>
              <p:cNvPr id="50289" name="Line 114"/>
              <p:cNvSpPr>
                <a:spLocks noChangeShapeType="1"/>
              </p:cNvSpPr>
              <p:nvPr/>
            </p:nvSpPr>
            <p:spPr bwMode="auto">
              <a:xfrm>
                <a:off x="1189" y="2389"/>
                <a:ext cx="86" cy="613"/>
              </a:xfrm>
              <a:prstGeom prst="line">
                <a:avLst/>
              </a:prstGeom>
              <a:noFill/>
              <a:ln w="9525">
                <a:solidFill>
                  <a:srgbClr val="FF0000"/>
                </a:solidFill>
                <a:round/>
                <a:headEnd/>
                <a:tailEnd type="triangle" w="med" len="med"/>
              </a:ln>
            </p:spPr>
            <p:txBody>
              <a:bodyPr wrap="none" anchor="ctr"/>
              <a:lstStyle/>
              <a:p>
                <a:endParaRPr lang="en-CA"/>
              </a:p>
            </p:txBody>
          </p:sp>
        </p:grpSp>
      </p:grpSp>
      <p:sp>
        <p:nvSpPr>
          <p:cNvPr id="50271" name="Slide Number Placeholder 116"/>
          <p:cNvSpPr>
            <a:spLocks noGrp="1"/>
          </p:cNvSpPr>
          <p:nvPr>
            <p:ph type="sldNum" sz="quarter" idx="12"/>
          </p:nvPr>
        </p:nvSpPr>
        <p:spPr>
          <a:noFill/>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3F2DE7F2-BDB4-434C-856C-12E122915D3D}" type="slidenum">
              <a:rPr lang="en-GB" smtClean="0"/>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50</a:t>
            </a:fld>
            <a:r>
              <a:rPr lang="en-GB"/>
              <a:t> </a:t>
            </a:r>
          </a:p>
        </p:txBody>
      </p:sp>
      <p:sp>
        <p:nvSpPr>
          <p:cNvPr id="120" name="Rectangle 119"/>
          <p:cNvSpPr>
            <a:spLocks noChangeArrowheads="1"/>
          </p:cNvSpPr>
          <p:nvPr/>
        </p:nvSpPr>
        <p:spPr bwMode="auto">
          <a:xfrm>
            <a:off x="750888" y="6016625"/>
            <a:ext cx="7847012" cy="646113"/>
          </a:xfrm>
          <a:prstGeom prst="rect">
            <a:avLst/>
          </a:prstGeom>
          <a:noFill/>
          <a:ln w="9525">
            <a:noFill/>
            <a:miter lim="800000"/>
            <a:headEnd/>
            <a:tailEnd/>
          </a:ln>
        </p:spPr>
        <p:txBody>
          <a:bodyPr>
            <a:spAutoFit/>
          </a:bodyPr>
          <a:lstStyle/>
          <a:p>
            <a:pPr marL="342900" indent="-342900" eaLnBrk="1" hangingPunct="1">
              <a:lnSpc>
                <a:spcPct val="90000"/>
              </a:lnSpc>
              <a:spcBef>
                <a:spcPct val="20000"/>
              </a:spcBef>
              <a:buFontTx/>
              <a:buChar char="•"/>
            </a:pPr>
            <a:r>
              <a:rPr lang="en-US" sz="1800" dirty="0">
                <a:solidFill>
                  <a:srgbClr val="FF0000"/>
                </a:solidFill>
                <a:cs typeface="Arial" pitchFamily="34" charset="0"/>
              </a:rPr>
              <a:t>Commit rate: 15 instructions in 14-5+1 = 10 cycle </a:t>
            </a:r>
          </a:p>
          <a:p>
            <a:pPr marL="342900" indent="-342900" eaLnBrk="1" hangingPunct="1">
              <a:lnSpc>
                <a:spcPct val="90000"/>
              </a:lnSpc>
              <a:spcBef>
                <a:spcPct val="20000"/>
              </a:spcBef>
              <a:buFontTx/>
              <a:buChar char="•"/>
            </a:pPr>
            <a:r>
              <a:rPr lang="en-US" sz="1800" dirty="0">
                <a:solidFill>
                  <a:srgbClr val="FF0000"/>
                </a:solidFill>
                <a:cs typeface="Arial" pitchFamily="34" charset="0"/>
              </a:rPr>
              <a:t>Speculative execution helped use commit 1.5 instructions per cycle</a:t>
            </a:r>
            <a:endParaRPr lang="en-US" sz="1800" dirty="0">
              <a:cs typeface="Arial" pitchFamily="34" charset="0"/>
            </a:endParaRPr>
          </a:p>
        </p:txBody>
      </p:sp>
      <p:sp>
        <p:nvSpPr>
          <p:cNvPr id="127" name="Rectangle 126"/>
          <p:cNvSpPr>
            <a:spLocks noChangeArrowheads="1"/>
          </p:cNvSpPr>
          <p:nvPr/>
        </p:nvSpPr>
        <p:spPr bwMode="auto">
          <a:xfrm>
            <a:off x="1296988" y="3030538"/>
            <a:ext cx="1119187" cy="203200"/>
          </a:xfrm>
          <a:prstGeom prst="rect">
            <a:avLst/>
          </a:prstGeom>
          <a:solidFill>
            <a:srgbClr val="FF0000">
              <a:alpha val="36862"/>
            </a:srgbClr>
          </a:solidFill>
          <a:ln w="9525" algn="ctr">
            <a:noFill/>
            <a:round/>
            <a:headEnd/>
            <a:tailEnd/>
          </a:ln>
        </p:spPr>
        <p:txBody>
          <a:bodyPr/>
          <a:lstStyle/>
          <a:p>
            <a:endParaRPr lang="en-CA"/>
          </a:p>
        </p:txBody>
      </p:sp>
      <p:sp>
        <p:nvSpPr>
          <p:cNvPr id="130" name="Rectangle 129"/>
          <p:cNvSpPr>
            <a:spLocks noChangeArrowheads="1"/>
          </p:cNvSpPr>
          <p:nvPr/>
        </p:nvSpPr>
        <p:spPr bwMode="auto">
          <a:xfrm>
            <a:off x="1285875" y="2405063"/>
            <a:ext cx="1119188" cy="203200"/>
          </a:xfrm>
          <a:prstGeom prst="rect">
            <a:avLst/>
          </a:prstGeom>
          <a:solidFill>
            <a:srgbClr val="FF0000">
              <a:alpha val="36862"/>
            </a:srgbClr>
          </a:solidFill>
          <a:ln w="9525" algn="ctr">
            <a:noFill/>
            <a:round/>
            <a:headEnd/>
            <a:tailEnd/>
          </a:ln>
        </p:spPr>
        <p:txBody>
          <a:bodyP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7"/>
                                        </p:tgtEl>
                                        <p:attrNameLst>
                                          <p:attrName>style.visibility</p:attrName>
                                        </p:attrNameLst>
                                      </p:cBhvr>
                                      <p:to>
                                        <p:strVal val="visible"/>
                                      </p:to>
                                    </p:set>
                                  </p:childTnLst>
                                </p:cTn>
                              </p:par>
                              <p:par>
                                <p:cTn id="9" presetID="1" presetClass="exit" presetSubtype="0" fill="hold" grpId="1" nodeType="withEffect">
                                  <p:stCondLst>
                                    <p:cond delay="0"/>
                                  </p:stCondLst>
                                  <p:childTnLst>
                                    <p:set>
                                      <p:cBhvr>
                                        <p:cTn id="10" dur="1" fill="hold">
                                          <p:stCondLst>
                                            <p:cond delay="0"/>
                                          </p:stCondLst>
                                        </p:cTn>
                                        <p:tgtEl>
                                          <p:spTgt spid="12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0"/>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13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7" grpId="0" animBg="1"/>
      <p:bldP spid="127" grpId="1" animBg="1"/>
      <p:bldP spid="130" grpId="0" animBg="1"/>
      <p:bldP spid="130"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685800" y="-423863"/>
            <a:ext cx="7766050" cy="1625601"/>
          </a:xfrm>
        </p:spPr>
        <p:txBody>
          <a:bodyPr/>
          <a:lstStyle/>
          <a:p>
            <a:r>
              <a:rPr lang="en-CA" dirty="0">
                <a:latin typeface="Arial  " charset="0"/>
                <a:cs typeface="Arial  " charset="0"/>
              </a:rPr>
              <a:t>Summary of Slide Set 14</a:t>
            </a:r>
          </a:p>
        </p:txBody>
      </p:sp>
      <p:sp>
        <p:nvSpPr>
          <p:cNvPr id="3" name="Content Placeholder 2"/>
          <p:cNvSpPr>
            <a:spLocks noGrp="1"/>
          </p:cNvSpPr>
          <p:nvPr>
            <p:ph idx="1"/>
          </p:nvPr>
        </p:nvSpPr>
        <p:spPr>
          <a:xfrm>
            <a:off x="573088" y="955675"/>
            <a:ext cx="8215312" cy="5486400"/>
          </a:xfrm>
        </p:spPr>
        <p:txBody>
          <a:bodyPr/>
          <a:lstStyle/>
          <a:p>
            <a:pPr indent="0">
              <a:spcBef>
                <a:spcPts val="0"/>
              </a:spcBef>
              <a:buFont typeface="Comic Sans MS" pitchFamily="66" charset="0"/>
              <a:buNone/>
              <a:defRPr/>
            </a:pPr>
            <a:r>
              <a:rPr lang="en-CA" sz="2000" dirty="0"/>
              <a:t>In this slide set, we learned about the following:</a:t>
            </a:r>
          </a:p>
          <a:p>
            <a:pPr indent="0">
              <a:spcBef>
                <a:spcPts val="0"/>
              </a:spcBef>
              <a:defRPr/>
            </a:pPr>
            <a:endParaRPr lang="en-CA" sz="2000" dirty="0"/>
          </a:p>
          <a:p>
            <a:pPr indent="0">
              <a:spcBef>
                <a:spcPts val="0"/>
              </a:spcBef>
              <a:defRPr/>
            </a:pPr>
            <a:r>
              <a:rPr lang="en-CA" sz="2000" dirty="0"/>
              <a:t>   Support for precise exceptions and speculative execution </a:t>
            </a:r>
          </a:p>
          <a:p>
            <a:pPr indent="0">
              <a:spcBef>
                <a:spcPts val="0"/>
              </a:spcBef>
              <a:buNone/>
              <a:defRPr/>
            </a:pPr>
            <a:r>
              <a:rPr lang="en-CA" sz="2000" dirty="0"/>
              <a:t>    with a single mechanism: The reorder buffer.</a:t>
            </a:r>
          </a:p>
          <a:p>
            <a:pPr indent="0">
              <a:spcBef>
                <a:spcPts val="0"/>
              </a:spcBef>
              <a:defRPr/>
            </a:pPr>
            <a:r>
              <a:rPr lang="en-CA" sz="2000" dirty="0"/>
              <a:t>   Multiple issue lowers the “ideal CPI” to below 1.</a:t>
            </a:r>
          </a:p>
          <a:p>
            <a:pPr indent="0">
              <a:spcBef>
                <a:spcPts val="0"/>
              </a:spcBef>
              <a:defRPr/>
            </a:pPr>
            <a:r>
              <a:rPr lang="en-CA" sz="2000" dirty="0"/>
              <a:t>   Two forms of multiple issue: Superscalar, VLIW</a:t>
            </a:r>
          </a:p>
          <a:p>
            <a:pPr indent="0">
              <a:spcBef>
                <a:spcPts val="0"/>
              </a:spcBef>
              <a:buNone/>
              <a:defRPr/>
            </a:pPr>
            <a:endParaRPr lang="en-CA" sz="2000" dirty="0"/>
          </a:p>
          <a:p>
            <a:pPr indent="0">
              <a:spcBef>
                <a:spcPts val="0"/>
              </a:spcBef>
              <a:buFont typeface="Comic Sans MS" pitchFamily="66" charset="0"/>
              <a:buNone/>
              <a:defRPr/>
            </a:pPr>
            <a:r>
              <a:rPr lang="en-CA" sz="2000" dirty="0"/>
              <a:t>We now know how a single processor “core” works.  In the next slide set we will talk about software approaches to instruction scheduling,  take a look at the Pentium 4 processor, and talk about the limits of instruction level parallelism. </a:t>
            </a:r>
          </a:p>
          <a:p>
            <a:pPr indent="0">
              <a:spcBef>
                <a:spcPts val="0"/>
              </a:spcBef>
              <a:buFont typeface="Comic Sans MS" pitchFamily="66" charset="0"/>
              <a:buNone/>
              <a:defRPr/>
            </a:pPr>
            <a:endParaRPr lang="en-CA" sz="2000" dirty="0"/>
          </a:p>
          <a:p>
            <a:pPr indent="0">
              <a:spcBef>
                <a:spcPts val="0"/>
              </a:spcBef>
              <a:buFont typeface="Comic Sans MS" pitchFamily="66" charset="0"/>
              <a:buNone/>
              <a:defRPr/>
            </a:pPr>
            <a:r>
              <a:rPr lang="en-CA" sz="2000" dirty="0"/>
              <a:t>After this we will shift focus to </a:t>
            </a:r>
            <a:r>
              <a:rPr lang="en-CA" sz="2000" dirty="0" err="1"/>
              <a:t>multicore</a:t>
            </a:r>
            <a:r>
              <a:rPr lang="en-CA" sz="2000" dirty="0"/>
              <a:t> processors. Note that while the current focus is on increasing the number of cores per chip, extracting greater levels of instruction level parallelism will remain important due to Amdahl’s Law.</a:t>
            </a:r>
          </a:p>
          <a:p>
            <a:pPr>
              <a:defRPr/>
            </a:pPr>
            <a:endParaRPr lang="en-CA" sz="2000" dirty="0"/>
          </a:p>
        </p:txBody>
      </p:sp>
      <p:sp>
        <p:nvSpPr>
          <p:cNvPr id="51204" name="Slide Number Placeholder 3"/>
          <p:cNvSpPr>
            <a:spLocks noGrp="1"/>
          </p:cNvSpPr>
          <p:nvPr>
            <p:ph type="sldNum" sz="quarter" idx="12"/>
          </p:nvPr>
        </p:nvSpPr>
        <p:spPr>
          <a:noFill/>
        </p:spPr>
        <p:txBody>
          <a:bodyPr/>
          <a:lstStyle/>
          <a:p>
            <a:fld id="{30A50613-7AE3-41ED-A11E-EB0BF7198CD6}" type="slidenum">
              <a:rPr lang="en-GB" smtClean="0"/>
              <a:pPr/>
              <a:t>51</a:t>
            </a:fld>
            <a:r>
              <a:rPr lang="en-GB"/>
              <a:t> </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Comic Sans MS"/>
        <a:ea typeface="ＭＳ Ｐゴシック"/>
        <a:cs typeface="ＭＳ Ｐゴシック"/>
      </a:majorFont>
      <a:minorFont>
        <a:latin typeface="Comic Sans MS"/>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defRPr kumimoji="0" lang="en-GB" sz="2400" b="0" i="0" u="none" strike="noStrike" cap="none" normalizeH="0" baseline="0">
            <a:ln>
              <a:noFill/>
            </a:ln>
            <a:solidFill>
              <a:schemeClr val="bg1"/>
            </a:solidFill>
            <a:effectLst/>
            <a:latin typeface="Arial" pitchFamily="-106" charset="-5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76000"/>
          </a:lnSpc>
          <a:spcBef>
            <a:spcPct val="0"/>
          </a:spcBef>
          <a:spcAft>
            <a:spcPct val="0"/>
          </a:spcAft>
          <a:buClr>
            <a:srgbClr val="000000"/>
          </a:buClr>
          <a:buSzPct val="100000"/>
          <a:buFont typeface="Arial" pitchFamily="-106" charset="-52"/>
          <a:buNone/>
          <a:tabLst/>
          <a:defRPr kumimoji="0" lang="en-GB" sz="2400" b="0" i="0" u="none" strike="noStrike" cap="none" normalizeH="0" baseline="0">
            <a:ln>
              <a:noFill/>
            </a:ln>
            <a:solidFill>
              <a:schemeClr val="bg1"/>
            </a:solidFill>
            <a:effectLst/>
            <a:latin typeface="Arial" pitchFamily="-106" charset="-52"/>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32590</TotalTime>
  <Words>5204</Words>
  <Application>Microsoft Macintosh PowerPoint</Application>
  <PresentationFormat>On-screen Show (4:3)</PresentationFormat>
  <Paragraphs>1297</Paragraphs>
  <Slides>51</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Arial  </vt:lpstr>
      <vt:lpstr>AvantGarde</vt:lpstr>
      <vt:lpstr>Comic Sans MS</vt:lpstr>
      <vt:lpstr>Consolas</vt:lpstr>
      <vt:lpstr>Courier New</vt:lpstr>
      <vt:lpstr>Times</vt:lpstr>
      <vt:lpstr>Times New Roman</vt:lpstr>
      <vt:lpstr>Blank Presentation</vt:lpstr>
      <vt:lpstr>CPEN 411: Computer Architecture  Slide Set #14: Reorder Buffer, Exceptions, Multiple Instruction Issue</vt:lpstr>
      <vt:lpstr>PowerPoint Presentation</vt:lpstr>
      <vt:lpstr>Introduction to Slide Set 14</vt:lpstr>
      <vt:lpstr>Learning Objectives</vt:lpstr>
      <vt:lpstr>Speculative Execution</vt:lpstr>
      <vt:lpstr>The Reorder Buffer (ROB)</vt:lpstr>
      <vt:lpstr>The Reorder Buffer (ROB)</vt:lpstr>
      <vt:lpstr>The Reorder Buffer (ROB)</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Tomasulo With Reorder Buffer</vt:lpstr>
      <vt:lpstr>Exceptions</vt:lpstr>
      <vt:lpstr>Exceptions</vt:lpstr>
      <vt:lpstr>Categories of Exceptions</vt:lpstr>
      <vt:lpstr>Exceptions in an In-order Pipeline</vt:lpstr>
      <vt:lpstr>Exception Handling Support</vt:lpstr>
      <vt:lpstr>Exception Handling Support</vt:lpstr>
      <vt:lpstr>Exception Handling Support</vt:lpstr>
      <vt:lpstr>After exception handled...</vt:lpstr>
      <vt:lpstr>Precise Exceptions</vt:lpstr>
      <vt:lpstr>Precise Exceptions?</vt:lpstr>
      <vt:lpstr>Memory Dependencies</vt:lpstr>
      <vt:lpstr>Memory Disambiguation</vt:lpstr>
      <vt:lpstr>Hardware Support for Memory Disambiguation</vt:lpstr>
      <vt:lpstr>Limits to Performance</vt:lpstr>
      <vt:lpstr>Multiple Instruction Issue</vt:lpstr>
      <vt:lpstr>Inorder Superscalar Pipeline</vt:lpstr>
      <vt:lpstr>Statically Scheduled Superscalar</vt:lpstr>
      <vt:lpstr>2-Issue In-order Superscalar</vt:lpstr>
      <vt:lpstr>Very Long Instruction Word (VLIW)</vt:lpstr>
      <vt:lpstr>Multiple Issue w/ Dynamic Scheduling</vt:lpstr>
      <vt:lpstr>Tomasulo Organization (with two-wide issue)</vt:lpstr>
      <vt:lpstr>Example</vt:lpstr>
      <vt:lpstr>Example: 2-issue w/ Tomasulo</vt:lpstr>
      <vt:lpstr>Modified Example (extra Int ALU)</vt:lpstr>
      <vt:lpstr>Modified Example, cont’d...</vt:lpstr>
      <vt:lpstr>Modified Example, cont’d...</vt:lpstr>
      <vt:lpstr>Example of Multiple Issue, Tomasulo &amp; Reorder Buffer</vt:lpstr>
      <vt:lpstr>Summary of Slide Set 14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dc:title>
  <dc:creator>Tor</dc:creator>
  <cp:lastModifiedBy>Tor Aamodt</cp:lastModifiedBy>
  <cp:revision>173</cp:revision>
  <cp:lastPrinted>2025-11-05T03:19:26Z</cp:lastPrinted>
  <dcterms:created xsi:type="dcterms:W3CDTF">2013-10-22T20:14:37Z</dcterms:created>
  <dcterms:modified xsi:type="dcterms:W3CDTF">2025-11-05T03:19:30Z</dcterms:modified>
</cp:coreProperties>
</file>