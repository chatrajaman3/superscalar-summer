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580" r:id="rId2"/>
    <p:sldId id="583" r:id="rId3"/>
    <p:sldId id="487" r:id="rId4"/>
    <p:sldId id="597" r:id="rId5"/>
    <p:sldId id="592" r:id="rId6"/>
    <p:sldId id="596" r:id="rId7"/>
    <p:sldId id="591" r:id="rId8"/>
    <p:sldId id="598" r:id="rId9"/>
    <p:sldId id="599" r:id="rId10"/>
    <p:sldId id="600" r:id="rId11"/>
    <p:sldId id="595" r:id="rId12"/>
    <p:sldId id="543" r:id="rId13"/>
    <p:sldId id="554" r:id="rId14"/>
    <p:sldId id="547" r:id="rId15"/>
    <p:sldId id="555" r:id="rId16"/>
    <p:sldId id="557" r:id="rId17"/>
    <p:sldId id="556" r:id="rId18"/>
    <p:sldId id="558" r:id="rId19"/>
    <p:sldId id="585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58"/>
  </p:normalViewPr>
  <p:slideViewPr>
    <p:cSldViewPr snapToGrid="0">
      <p:cViewPr varScale="1">
        <p:scale>
          <a:sx n="106" d="100"/>
          <a:sy n="106" d="100"/>
        </p:scale>
        <p:origin x="1936" y="4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>
            <a:extLst>
              <a:ext uri="{FF2B5EF4-FFF2-40B4-BE49-F238E27FC236}">
                <a16:creationId xmlns:a16="http://schemas.microsoft.com/office/drawing/2014/main" id="{953B7B79-43C7-9780-7870-EBCB41C8B1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492547" name="Rectangle 3">
            <a:extLst>
              <a:ext uri="{FF2B5EF4-FFF2-40B4-BE49-F238E27FC236}">
                <a16:creationId xmlns:a16="http://schemas.microsoft.com/office/drawing/2014/main" id="{80247911-254B-BECC-7A24-25FC54AA0F8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492548" name="Rectangle 4">
            <a:extLst>
              <a:ext uri="{FF2B5EF4-FFF2-40B4-BE49-F238E27FC236}">
                <a16:creationId xmlns:a16="http://schemas.microsoft.com/office/drawing/2014/main" id="{F5C6BFE1-241A-046E-4292-4BDC6AA931C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492549" name="Rectangle 5">
            <a:extLst>
              <a:ext uri="{FF2B5EF4-FFF2-40B4-BE49-F238E27FC236}">
                <a16:creationId xmlns:a16="http://schemas.microsoft.com/office/drawing/2014/main" id="{FDC450D1-189A-3404-86EA-8E083298440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2BC8C66-F248-D94B-BB97-52FEDC37D05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C94F740-28BA-D735-09D5-2B07E5D1620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574B492-EC12-1A87-1167-8CA7D46E556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43013948-8C8F-2FA6-AADE-66177AD245C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ED035CD8-E466-0B37-6DCA-B7D83B46BA3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0FAB80C4-3224-2E93-7D15-C7F249BEB19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F4032339-F2DC-85AC-C0CB-B8224F235D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4C40AC8-67C9-CA45-B5E9-9D8CB511DCE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ＭＳ Ｐゴシック" pitchFamily="-106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D124379E-D9B3-0506-4FE2-4E2C4AAE82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C62C61A8-B9A5-7D8C-34F8-DC822D5C1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CA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Definition from: “A Primer on Memory Consistency and Cache Coherence” (an excellent book on the subject if you want to learn more).</a:t>
            </a:r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4CCF1F98-10DB-27CB-1E07-64A163C7A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91F2E34-554E-D445-B9EB-02817D20721C}" type="slidenum">
              <a:rPr lang="en-US" altLang="en-US" sz="1200"/>
              <a:pPr/>
              <a:t>5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0E43963D-7433-3877-E813-2200E93E34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BBDBA46-2581-084C-B23E-0E42F8942F42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FCAC9250-F7E7-E4B9-77F1-42E626172E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07" tIns="44361" rIns="90307" bIns="44361"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Invalid: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read =&gt; shared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write =&gt; dirty</a:t>
            </a:r>
          </a:p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shared looks the same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1F09A2BB-849E-30CB-9E56-A5967DD986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E5BE2E0C-6C67-7DBA-D940-E4233B6302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2431CED-C564-8F4A-BD7A-34D3FBEF107A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049E7101-5F1E-7306-F83C-408111BC47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07" tIns="44361" rIns="90307" bIns="44361"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Invalid: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read =&gt; shared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write =&gt; dirty</a:t>
            </a:r>
          </a:p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shared looks the same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BA35BF93-CEDB-B0FF-505C-1581999BCE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DF632A1B-77F7-56FD-2BDC-210DC019BE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182E1F9-4717-C34C-8D57-B8BE6090C13C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621E9436-0538-5976-CA30-AE99D05470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07" tIns="44361" rIns="90307" bIns="44361"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Invalid: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read =&gt; shared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write =&gt; dirty</a:t>
            </a:r>
          </a:p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shared looks the same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C450C59-A2CC-1EAA-FBDD-4488E17337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BB56775-B405-4E85-929B-AC50E18FD5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Nov. 5, 2008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A13356-A50F-83F2-B1F5-8C2B5C735C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EECE 476 - Slide Set 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87747AA-05CE-72E3-E362-B7D6E3CD31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611697-B874-B043-90FF-D7D14075891B}" type="slidenum">
              <a:rPr lang="en-US" altLang="en-US"/>
              <a:pPr/>
              <a:t>‹#›</a:t>
            </a:fld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16691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112186E-F25F-9057-6B36-0FAB15A2AE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Nov. 5, 2008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0141F1-5794-809D-B991-E0E5F0EC13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EECE 476 - Slide Set 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3528EE-1A88-0530-B801-87C4549734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1F861FA-0947-7D45-B2A6-F6F7360A4C8E}" type="slidenum">
              <a:rPr lang="en-US" altLang="en-US"/>
              <a:pPr/>
              <a:t>‹#›</a:t>
            </a:fld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71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396110E-72DB-76B3-70AF-148625AE13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Nov. 5, 2008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7B03FE-33CE-AC22-9654-C6B7E5A524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EECE 476 - Slide Set 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2DBF38F-1D1B-8B1D-6E7A-48821E8F0D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6E0653-E6A4-304C-AC04-DA00006051E9}" type="slidenum">
              <a:rPr lang="en-US" altLang="en-US"/>
              <a:pPr/>
              <a:t>‹#›</a:t>
            </a:fld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065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38306A-BCD2-2EED-0958-3187891B7C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Nov. 5, 2008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2EF4F1-BFC4-8277-F14A-3F19A01F7F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EECE 476 - Slide Set 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F2BF86-378B-450B-C993-EC5BCE8036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1604E4-7462-9048-8932-BEE6A98E0787}" type="slidenum">
              <a:rPr lang="en-US" altLang="en-US"/>
              <a:pPr/>
              <a:t>‹#›</a:t>
            </a:fld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6399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C2C11BD-8CA3-0A67-8ED7-C822E49BAF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Nov. 5, 2008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EA8DF18-5D3E-BAD1-896D-80A148742A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EECE 476 - Slide Set 12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D43BD7C-EA71-4780-3EE3-897BADCF5B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1BB28B-7973-1849-B80D-B637C0BEE5E2}" type="slidenum">
              <a:rPr lang="en-US" altLang="en-US"/>
              <a:pPr/>
              <a:t>‹#›</a:t>
            </a:fld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9155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3288113-04BE-EE85-ABF4-8B968DB6BD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Nov. 5, 2008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C935083-CC79-2497-0F16-F532DD7409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EECE 476 - Slide Set 12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ACF796F-6C8C-29DA-6128-BF16FC360C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1B6AE6-C5C3-F741-8E32-43BE19F4DB9A}" type="slidenum">
              <a:rPr lang="en-US" altLang="en-US"/>
              <a:pPr/>
              <a:t>‹#›</a:t>
            </a:fld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6531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45F7843-2CCA-63CC-1A93-EB66A3DC22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Nov. 5, 2008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B3E0176-68EB-C8D6-7F65-642C6B7858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EECE 476 - Slide Set 12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E80BB4D-E8BD-CC49-92E7-E33475E9AA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71F269-4299-C843-98A9-08F4F75F9A50}" type="slidenum">
              <a:rPr lang="en-US" altLang="en-US"/>
              <a:pPr/>
              <a:t>‹#›</a:t>
            </a:fld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706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5CE729-A44D-30A5-730D-ACB9E118A2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Nov. 5, 2008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401994-72EA-3763-FAE7-B3B476BE2A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EECE 476 - Slide Set 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CA1B49-A740-76E6-016B-D892AE7707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18A427-C4D7-F94F-ABED-0E5F4232F2EE}" type="slidenum">
              <a:rPr lang="en-US" altLang="en-US"/>
              <a:pPr/>
              <a:t>‹#›</a:t>
            </a:fld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563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6A8AD5-A7AD-C14F-A36E-CBBF5BDE68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Nov. 5, 2008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01E689-E5B3-1362-BB85-D9B402523C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EECE 476 - Slide Set 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BDEA2A-82E5-C9DB-5971-98527D6B53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7B3DF6-8AD0-C241-B813-8EBE974B4159}" type="slidenum">
              <a:rPr lang="en-US" altLang="en-US"/>
              <a:pPr/>
              <a:t>‹#›</a:t>
            </a:fld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0701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3D46C8-14D8-3564-1288-B2808619D0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Nov. 5, 2008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92345B-2DA8-4591-D921-AC33DF6099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EECE 476 - Slide Set 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FCCC681-1811-2343-383F-AB911472D6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D20B1D-6FF1-2A4C-BEFB-48E9A8DBA657}" type="slidenum">
              <a:rPr lang="en-US" altLang="en-US"/>
              <a:pPr/>
              <a:t>‹#›</a:t>
            </a:fld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297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7DEFD5-A4E6-4379-9B78-DCC8FA6BE3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Nov. 5, 2008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B65512-880B-3309-81D4-D261D31495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EECE 476 - Slide Set 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531A477-8E2D-E532-0178-64D9133209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F6AB85-ABC8-514B-B527-1C072CA89CE5}" type="slidenum">
              <a:rPr lang="en-US" altLang="en-US"/>
              <a:pPr/>
              <a:t>‹#›</a:t>
            </a:fld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8460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371600"/>
            <a:ext cx="3810000" cy="4724400"/>
          </a:xfrm>
        </p:spPr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724400"/>
          </a:xfrm>
        </p:spPr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154687-A7ED-8910-9168-98006F061C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Nov. 5, 2008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19C79-0EAC-C9D5-F6DE-24C1D5F64B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EECE 476 - Slide Set 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1CFD66-7ABB-2106-D1E8-D3E8C2C803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03F6F9-A987-6040-AE4D-CEAD5799BDDC}" type="slidenum">
              <a:rPr lang="en-US" altLang="en-US"/>
              <a:pPr/>
              <a:t>‹#›</a:t>
            </a:fld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8800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3C04C7E-1ADC-F62F-22C5-769E724B44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C1FA543-2FF4-2649-B656-6748C6097E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A51635B-7A0E-436F-B217-68DC585D442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omic Sans MS" panose="030F0902030302020204" pitchFamily="66" charset="0"/>
              </a:defRPr>
            </a:lvl1pPr>
          </a:lstStyle>
          <a:p>
            <a:r>
              <a:rPr lang="en-US" altLang="en-US"/>
              <a:t>Nov. 5, 2008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67CD200-F39C-6259-FA5E-D34781D1E21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>
                <a:latin typeface="Comic Sans MS" panose="030F0902030302020204" pitchFamily="66" charset="0"/>
              </a:defRPr>
            </a:lvl1pPr>
          </a:lstStyle>
          <a:p>
            <a:r>
              <a:rPr lang="en-US" altLang="en-US"/>
              <a:t>EECE 476 - Slide Set 12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FACB3A4-E468-6C79-C16F-F96B8F9C3A9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>
                <a:latin typeface="Comic Sans MS" panose="030F0902030302020204" pitchFamily="66" charset="0"/>
              </a:defRPr>
            </a:lvl1pPr>
          </a:lstStyle>
          <a:p>
            <a:fld id="{D0BC0C99-6129-6841-8023-165C1D984784}" type="slidenum">
              <a:rPr lang="en-US" altLang="en-US"/>
              <a:pPr/>
              <a:t>‹#›</a:t>
            </a:fld>
            <a:r>
              <a:rPr lang="en-US" altLang="en-US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803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8" descr="nehalem-1.jpg">
            <a:extLst>
              <a:ext uri="{FF2B5EF4-FFF2-40B4-BE49-F238E27FC236}">
                <a16:creationId xmlns:a16="http://schemas.microsoft.com/office/drawing/2014/main" id="{782FFFEF-26A8-4392-8162-EDA8B3CBF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585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5">
            <a:extLst>
              <a:ext uri="{FF2B5EF4-FFF2-40B4-BE49-F238E27FC236}">
                <a16:creationId xmlns:a16="http://schemas.microsoft.com/office/drawing/2014/main" id="{E7555F0D-EA8D-205A-71DD-F12B41992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" y="1431925"/>
            <a:ext cx="8720138" cy="3551238"/>
          </a:xfrm>
          <a:prstGeom prst="rect">
            <a:avLst/>
          </a:prstGeom>
          <a:solidFill>
            <a:schemeClr val="bg1">
              <a:alpha val="87057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CA" altLang="en-US"/>
          </a:p>
        </p:txBody>
      </p:sp>
      <p:sp>
        <p:nvSpPr>
          <p:cNvPr id="16388" name="Title 1">
            <a:extLst>
              <a:ext uri="{FF2B5EF4-FFF2-40B4-BE49-F238E27FC236}">
                <a16:creationId xmlns:a16="http://schemas.microsoft.com/office/drawing/2014/main" id="{35A14D77-6253-1F42-B8E2-FBCD7682E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0600"/>
            <a:ext cx="9144000" cy="2819400"/>
          </a:xfrm>
        </p:spPr>
        <p:txBody>
          <a:bodyPr/>
          <a:lstStyle/>
          <a:p>
            <a:r>
              <a:rPr lang="en-US" altLang="en-US" sz="3200" dirty="0">
                <a:solidFill>
                  <a:srgbClr val="0000FF"/>
                </a:solidFill>
                <a:latin typeface="Arial  " charset="0"/>
              </a:rPr>
              <a:t>CPEN 411: Computer Architecture</a:t>
            </a:r>
            <a:br>
              <a:rPr lang="en-US" altLang="en-US" sz="2400" dirty="0">
                <a:solidFill>
                  <a:srgbClr val="0000FF"/>
                </a:solidFill>
                <a:latin typeface="Arial  " charset="0"/>
              </a:rPr>
            </a:br>
            <a:br>
              <a:rPr lang="en-US" altLang="en-US" sz="2400" dirty="0">
                <a:solidFill>
                  <a:srgbClr val="0000FF"/>
                </a:solidFill>
                <a:latin typeface="Arial  " charset="0"/>
              </a:rPr>
            </a:br>
            <a:br>
              <a:rPr lang="en-US" altLang="en-US" dirty="0">
                <a:solidFill>
                  <a:srgbClr val="0000FF"/>
                </a:solidFill>
                <a:latin typeface="Arial  " charset="0"/>
              </a:rPr>
            </a:br>
            <a:r>
              <a:rPr lang="en-US" altLang="en-US" sz="2800" dirty="0">
                <a:solidFill>
                  <a:srgbClr val="0000FF"/>
                </a:solidFill>
                <a:latin typeface="Arial  " charset="0"/>
              </a:rPr>
              <a:t>Slide Set #18: Cache Coherence (Part 1)</a:t>
            </a:r>
          </a:p>
        </p:txBody>
      </p:sp>
      <p:sp>
        <p:nvSpPr>
          <p:cNvPr id="16389" name="Subtitle 2">
            <a:extLst>
              <a:ext uri="{FF2B5EF4-FFF2-40B4-BE49-F238E27FC236}">
                <a16:creationId xmlns:a16="http://schemas.microsoft.com/office/drawing/2014/main" id="{5CFA6AA8-C23D-DC0D-2166-3285590586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FF"/>
                </a:solidFill>
                <a:latin typeface="Arial  " charset="0"/>
              </a:rPr>
              <a:t>Tor Aamodt</a:t>
            </a:r>
          </a:p>
          <a:p>
            <a:r>
              <a:rPr lang="en-US" altLang="en-US">
                <a:solidFill>
                  <a:srgbClr val="0000FF"/>
                </a:solidFill>
                <a:latin typeface="Arial  " charset="0"/>
              </a:rPr>
              <a:t>aamodt@ece.ubc.ca</a:t>
            </a:r>
          </a:p>
        </p:txBody>
      </p:sp>
      <p:sp>
        <p:nvSpPr>
          <p:cNvPr id="16390" name="Slide Number Placeholder 5">
            <a:extLst>
              <a:ext uri="{FF2B5EF4-FFF2-40B4-BE49-F238E27FC236}">
                <a16:creationId xmlns:a16="http://schemas.microsoft.com/office/drawing/2014/main" id="{1FB208D0-6357-135C-77F8-5C62CEEDE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37D4490-5E71-2B4D-BF3A-7EE03C3363C4}" type="slidenum">
              <a:rPr lang="en-GB" altLang="en-US">
                <a:latin typeface="Arial  " charset="0"/>
              </a:rPr>
              <a:pPr/>
              <a:t>1</a:t>
            </a:fld>
            <a:r>
              <a:rPr lang="en-GB" altLang="en-US">
                <a:latin typeface="Arial  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F2C668E7-E6A3-806C-D42D-E817B1144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/>
              <a:t>Introduction to Slide Set 18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14F1FB2F-29EA-03AE-0224-EAF17A348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sz="2400"/>
              <a:t>In the prior slide set we considered </a:t>
            </a:r>
            <a:r>
              <a:rPr lang="en-CA" altLang="en-US" sz="2400" b="1"/>
              <a:t>memory consistency</a:t>
            </a:r>
            <a:r>
              <a:rPr lang="en-CA" altLang="en-US" sz="2400"/>
              <a:t> or the order that memory accesses to </a:t>
            </a:r>
            <a:r>
              <a:rPr lang="en-CA" altLang="en-US" sz="2400">
                <a:solidFill>
                  <a:srgbClr val="FF0000"/>
                </a:solidFill>
              </a:rPr>
              <a:t>multiple locations </a:t>
            </a:r>
            <a:r>
              <a:rPr lang="en-CA" altLang="en-US" sz="2400"/>
              <a:t>from one thread may become visible to another thread running on a different processor.</a:t>
            </a:r>
          </a:p>
          <a:p>
            <a:endParaRPr lang="en-CA" altLang="en-US" sz="2400"/>
          </a:p>
          <a:p>
            <a:r>
              <a:rPr lang="en-CA" altLang="en-US" sz="2400"/>
              <a:t>In this slide we consider </a:t>
            </a:r>
            <a:r>
              <a:rPr lang="en-CA" altLang="en-US" sz="2400" b="1"/>
              <a:t>cache coherence</a:t>
            </a:r>
            <a:r>
              <a:rPr lang="en-CA" altLang="en-US" sz="2400"/>
              <a:t> or how an update to a </a:t>
            </a:r>
            <a:r>
              <a:rPr lang="en-CA" altLang="en-US" sz="2400">
                <a:solidFill>
                  <a:srgbClr val="0000FF"/>
                </a:solidFill>
              </a:rPr>
              <a:t>single location </a:t>
            </a:r>
            <a:r>
              <a:rPr lang="en-CA" altLang="en-US" sz="2400"/>
              <a:t>on one core becomes visible to threads running on a different core.</a:t>
            </a:r>
          </a:p>
          <a:p>
            <a:pPr>
              <a:buFontTx/>
              <a:buNone/>
            </a:pPr>
            <a:endParaRPr lang="en-CA" altLang="en-US" sz="2400"/>
          </a:p>
          <a:p>
            <a:pPr lvl="1">
              <a:buFontTx/>
              <a:buNone/>
            </a:pPr>
            <a:endParaRPr lang="en-CA" altLang="en-US" sz="2000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32865A34-D2EE-0E4C-711C-81F44CCC9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4BA86-FE38-6D46-9690-C859AAF5B356}" type="slidenum">
              <a:rPr lang="en-US" altLang="en-US"/>
              <a:pPr/>
              <a:t>2</a:t>
            </a:fld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AAD5E2FE-D377-A6EE-AB3E-4393C7020B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Learning Objectives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7F25894-FB76-7652-8768-E2CD060164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3100" y="1117600"/>
            <a:ext cx="77724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    </a:t>
            </a:r>
            <a:r>
              <a:rPr lang="en-US" altLang="en-US" sz="2000"/>
              <a:t>By the time we finish talking about this slide set in lectures you should be able to: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Describe the snoop based approach to implementing shared memory.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Evaluate which events are generated when loads and stores operate with a simple snoop cache coherence protocol for writeback caches.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Describe how a directory based cache coherence protocol differs from a snooping cache coherence protocol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Evaluate which events are generated when loads and stores operate with a simple directory cache coherence protocol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</p:txBody>
      </p:sp>
      <p:sp>
        <p:nvSpPr>
          <p:cNvPr id="18436" name="Slide Number Placeholder 6">
            <a:extLst>
              <a:ext uri="{FF2B5EF4-FFF2-40B4-BE49-F238E27FC236}">
                <a16:creationId xmlns:a16="http://schemas.microsoft.com/office/drawing/2014/main" id="{ADC93F17-145F-699F-FABB-9F207FA7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70DA76D-B965-2840-8C44-2B6317151675}" type="slidenum">
              <a:rPr lang="en-US" altLang="en-US"/>
              <a:pPr/>
              <a:t>3</a:t>
            </a:fld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73BB66B8-F6BB-BCF4-5E46-39D0749206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>
                <a:solidFill>
                  <a:srgbClr val="FF0000"/>
                </a:solidFill>
              </a:rPr>
              <a:t>Recall: Cache Coherence Problem</a:t>
            </a:r>
            <a:endParaRPr lang="en-US" altLang="en-US" sz="1400">
              <a:solidFill>
                <a:srgbClr val="FF0000"/>
              </a:solidFill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DC3CCE4-F776-7250-FC74-7B48DA09A1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9400" y="4711700"/>
            <a:ext cx="8763000" cy="16002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Processors see different values for </a:t>
            </a:r>
            <a:r>
              <a:rPr lang="en-US" altLang="en-US" sz="1800">
                <a:solidFill>
                  <a:srgbClr val="0000FF"/>
                </a:solidFill>
              </a:rPr>
              <a:t>u </a:t>
            </a:r>
            <a:r>
              <a:rPr lang="en-US" altLang="en-US" sz="1800"/>
              <a:t>after event 3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</a:pPr>
            <a:r>
              <a:rPr lang="en-US" altLang="en-US" sz="1800"/>
              <a:t>With write back caches, value written back to memory depends on order of which cache  writes back value first</a:t>
            </a:r>
          </a:p>
          <a:p>
            <a:pPr lvl="1" eaLnBrk="1" hangingPunct="1">
              <a:lnSpc>
                <a:spcPct val="90000"/>
              </a:lnSpc>
              <a:spcBef>
                <a:spcPts val="500"/>
              </a:spcBef>
            </a:pPr>
            <a:r>
              <a:rPr lang="en-US" altLang="en-US" sz="1800"/>
              <a:t>Unacceptable situation for programmers</a:t>
            </a:r>
          </a:p>
        </p:txBody>
      </p:sp>
      <p:sp>
        <p:nvSpPr>
          <p:cNvPr id="19460" name="Line 4">
            <a:extLst>
              <a:ext uri="{FF2B5EF4-FFF2-40B4-BE49-F238E27FC236}">
                <a16:creationId xmlns:a16="http://schemas.microsoft.com/office/drawing/2014/main" id="{C8514236-97D8-E9BC-9134-C1EB213FE4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300" y="3195638"/>
            <a:ext cx="5378450" cy="15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1" name="Line 5">
            <a:extLst>
              <a:ext uri="{FF2B5EF4-FFF2-40B4-BE49-F238E27FC236}">
                <a16:creationId xmlns:a16="http://schemas.microsoft.com/office/drawing/2014/main" id="{012E6BCF-D1EC-538B-D26A-4034F61BE0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4538" y="3195638"/>
            <a:ext cx="1587" cy="334962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471932EE-AF38-7FB2-13B9-89429E022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505200"/>
            <a:ext cx="1681163" cy="10080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641B1053-1DCF-ADCB-4279-ABDAA2717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530600"/>
            <a:ext cx="1681163" cy="10080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9464" name="Rectangle 8">
            <a:extLst>
              <a:ext uri="{FF2B5EF4-FFF2-40B4-BE49-F238E27FC236}">
                <a16:creationId xmlns:a16="http://schemas.microsoft.com/office/drawing/2014/main" id="{4636C829-FC63-257E-F296-2369C71E4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138" y="3608388"/>
            <a:ext cx="7620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</a:rPr>
              <a:t>I/O devices</a:t>
            </a:r>
            <a:endParaRPr lang="en-US" altLang="en-US" b="1"/>
          </a:p>
        </p:txBody>
      </p:sp>
      <p:sp>
        <p:nvSpPr>
          <p:cNvPr id="19465" name="Rectangle 9">
            <a:extLst>
              <a:ext uri="{FF2B5EF4-FFF2-40B4-BE49-F238E27FC236}">
                <a16:creationId xmlns:a16="http://schemas.microsoft.com/office/drawing/2014/main" id="{F91E9ED3-DD97-6803-7378-DCFE9E3F2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488" y="4302125"/>
            <a:ext cx="54927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</a:rPr>
              <a:t>Memory</a:t>
            </a:r>
            <a:endParaRPr lang="en-US" altLang="en-US" b="1"/>
          </a:p>
        </p:txBody>
      </p:sp>
      <p:sp>
        <p:nvSpPr>
          <p:cNvPr id="19466" name="Line 10">
            <a:extLst>
              <a:ext uri="{FF2B5EF4-FFF2-40B4-BE49-F238E27FC236}">
                <a16:creationId xmlns:a16="http://schemas.microsoft.com/office/drawing/2014/main" id="{84253ED0-401A-B9D2-09F0-8BA2AE4239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1713" y="2859088"/>
            <a:ext cx="1587" cy="336550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7" name="Line 11">
            <a:extLst>
              <a:ext uri="{FF2B5EF4-FFF2-40B4-BE49-F238E27FC236}">
                <a16:creationId xmlns:a16="http://schemas.microsoft.com/office/drawing/2014/main" id="{6D82DA91-E51E-EBFE-BCCC-6F9015BF7D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1713" y="2020888"/>
            <a:ext cx="1587" cy="1666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8" name="Freeform 12">
            <a:extLst>
              <a:ext uri="{FF2B5EF4-FFF2-40B4-BE49-F238E27FC236}">
                <a16:creationId xmlns:a16="http://schemas.microsoft.com/office/drawing/2014/main" id="{D63DC243-24A5-B9EB-6422-67E412C4A6B8}"/>
              </a:ext>
            </a:extLst>
          </p:cNvPr>
          <p:cNvSpPr>
            <a:spLocks/>
          </p:cNvSpPr>
          <p:nvPr/>
        </p:nvSpPr>
        <p:spPr bwMode="auto">
          <a:xfrm>
            <a:off x="1936750" y="1349375"/>
            <a:ext cx="671513" cy="671513"/>
          </a:xfrm>
          <a:custGeom>
            <a:avLst/>
            <a:gdLst>
              <a:gd name="T0" fmla="*/ 2147483647 w 423"/>
              <a:gd name="T1" fmla="*/ 2147483647 h 423"/>
              <a:gd name="T2" fmla="*/ 2147483647 w 423"/>
              <a:gd name="T3" fmla="*/ 2147483647 h 423"/>
              <a:gd name="T4" fmla="*/ 2147483647 w 423"/>
              <a:gd name="T5" fmla="*/ 2147483647 h 423"/>
              <a:gd name="T6" fmla="*/ 2147483647 w 423"/>
              <a:gd name="T7" fmla="*/ 2147483647 h 423"/>
              <a:gd name="T8" fmla="*/ 2147483647 w 423"/>
              <a:gd name="T9" fmla="*/ 2147483647 h 423"/>
              <a:gd name="T10" fmla="*/ 2147483647 w 423"/>
              <a:gd name="T11" fmla="*/ 2147483647 h 423"/>
              <a:gd name="T12" fmla="*/ 2147483647 w 423"/>
              <a:gd name="T13" fmla="*/ 2147483647 h 423"/>
              <a:gd name="T14" fmla="*/ 2147483647 w 423"/>
              <a:gd name="T15" fmla="*/ 2147483647 h 423"/>
              <a:gd name="T16" fmla="*/ 2147483647 w 423"/>
              <a:gd name="T17" fmla="*/ 2147483647 h 423"/>
              <a:gd name="T18" fmla="*/ 2147483647 w 423"/>
              <a:gd name="T19" fmla="*/ 2147483647 h 423"/>
              <a:gd name="T20" fmla="*/ 2147483647 w 423"/>
              <a:gd name="T21" fmla="*/ 2147483647 h 423"/>
              <a:gd name="T22" fmla="*/ 2147483647 w 423"/>
              <a:gd name="T23" fmla="*/ 2147483647 h 423"/>
              <a:gd name="T24" fmla="*/ 2147483647 w 423"/>
              <a:gd name="T25" fmla="*/ 2147483647 h 423"/>
              <a:gd name="T26" fmla="*/ 2147483647 w 423"/>
              <a:gd name="T27" fmla="*/ 2147483647 h 423"/>
              <a:gd name="T28" fmla="*/ 2147483647 w 423"/>
              <a:gd name="T29" fmla="*/ 2147483647 h 423"/>
              <a:gd name="T30" fmla="*/ 2147483647 w 423"/>
              <a:gd name="T31" fmla="*/ 2147483647 h 423"/>
              <a:gd name="T32" fmla="*/ 2147483647 w 423"/>
              <a:gd name="T33" fmla="*/ 2147483647 h 423"/>
              <a:gd name="T34" fmla="*/ 2147483647 w 423"/>
              <a:gd name="T35" fmla="*/ 2147483647 h 423"/>
              <a:gd name="T36" fmla="*/ 2147483647 w 423"/>
              <a:gd name="T37" fmla="*/ 2147483647 h 423"/>
              <a:gd name="T38" fmla="*/ 2147483647 w 423"/>
              <a:gd name="T39" fmla="*/ 2147483647 h 423"/>
              <a:gd name="T40" fmla="*/ 0 w 423"/>
              <a:gd name="T41" fmla="*/ 2147483647 h 423"/>
              <a:gd name="T42" fmla="*/ 2147483647 w 423"/>
              <a:gd name="T43" fmla="*/ 2147483647 h 423"/>
              <a:gd name="T44" fmla="*/ 2147483647 w 423"/>
              <a:gd name="T45" fmla="*/ 2147483647 h 423"/>
              <a:gd name="T46" fmla="*/ 2147483647 w 423"/>
              <a:gd name="T47" fmla="*/ 2147483647 h 423"/>
              <a:gd name="T48" fmla="*/ 2147483647 w 423"/>
              <a:gd name="T49" fmla="*/ 2147483647 h 423"/>
              <a:gd name="T50" fmla="*/ 2147483647 w 423"/>
              <a:gd name="T51" fmla="*/ 2147483647 h 423"/>
              <a:gd name="T52" fmla="*/ 2147483647 w 423"/>
              <a:gd name="T53" fmla="*/ 2147483647 h 423"/>
              <a:gd name="T54" fmla="*/ 2147483647 w 423"/>
              <a:gd name="T55" fmla="*/ 2147483647 h 423"/>
              <a:gd name="T56" fmla="*/ 2147483647 w 423"/>
              <a:gd name="T57" fmla="*/ 2147483647 h 423"/>
              <a:gd name="T58" fmla="*/ 2147483647 w 423"/>
              <a:gd name="T59" fmla="*/ 2147483647 h 423"/>
              <a:gd name="T60" fmla="*/ 2147483647 w 423"/>
              <a:gd name="T61" fmla="*/ 0 h 423"/>
              <a:gd name="T62" fmla="*/ 2147483647 w 423"/>
              <a:gd name="T63" fmla="*/ 2147483647 h 423"/>
              <a:gd name="T64" fmla="*/ 2147483647 w 423"/>
              <a:gd name="T65" fmla="*/ 2147483647 h 423"/>
              <a:gd name="T66" fmla="*/ 2147483647 w 423"/>
              <a:gd name="T67" fmla="*/ 2147483647 h 423"/>
              <a:gd name="T68" fmla="*/ 2147483647 w 423"/>
              <a:gd name="T69" fmla="*/ 2147483647 h 423"/>
              <a:gd name="T70" fmla="*/ 2147483647 w 423"/>
              <a:gd name="T71" fmla="*/ 2147483647 h 423"/>
              <a:gd name="T72" fmla="*/ 2147483647 w 423"/>
              <a:gd name="T73" fmla="*/ 2147483647 h 423"/>
              <a:gd name="T74" fmla="*/ 2147483647 w 423"/>
              <a:gd name="T75" fmla="*/ 2147483647 h 423"/>
              <a:gd name="T76" fmla="*/ 2147483647 w 423"/>
              <a:gd name="T77" fmla="*/ 2147483647 h 423"/>
              <a:gd name="T78" fmla="*/ 2147483647 w 423"/>
              <a:gd name="T79" fmla="*/ 2147483647 h 423"/>
              <a:gd name="T80" fmla="*/ 2147483647 w 423"/>
              <a:gd name="T81" fmla="*/ 2147483647 h 423"/>
              <a:gd name="T82" fmla="*/ 2147483647 w 423"/>
              <a:gd name="T83" fmla="*/ 2147483647 h 4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23"/>
              <a:gd name="T127" fmla="*/ 0 h 423"/>
              <a:gd name="T128" fmla="*/ 423 w 423"/>
              <a:gd name="T129" fmla="*/ 423 h 4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23" h="423">
                <a:moveTo>
                  <a:pt x="420" y="209"/>
                </a:moveTo>
                <a:lnTo>
                  <a:pt x="420" y="245"/>
                </a:lnTo>
                <a:lnTo>
                  <a:pt x="412" y="276"/>
                </a:lnTo>
                <a:lnTo>
                  <a:pt x="398" y="307"/>
                </a:lnTo>
                <a:lnTo>
                  <a:pt x="381" y="336"/>
                </a:lnTo>
                <a:lnTo>
                  <a:pt x="361" y="361"/>
                </a:lnTo>
                <a:lnTo>
                  <a:pt x="336" y="381"/>
                </a:lnTo>
                <a:lnTo>
                  <a:pt x="307" y="398"/>
                </a:lnTo>
                <a:lnTo>
                  <a:pt x="279" y="412"/>
                </a:lnTo>
                <a:lnTo>
                  <a:pt x="245" y="420"/>
                </a:lnTo>
                <a:lnTo>
                  <a:pt x="211" y="423"/>
                </a:lnTo>
                <a:lnTo>
                  <a:pt x="178" y="420"/>
                </a:lnTo>
                <a:lnTo>
                  <a:pt x="144" y="412"/>
                </a:lnTo>
                <a:lnTo>
                  <a:pt x="113" y="398"/>
                </a:lnTo>
                <a:lnTo>
                  <a:pt x="87" y="381"/>
                </a:lnTo>
                <a:lnTo>
                  <a:pt x="62" y="361"/>
                </a:lnTo>
                <a:lnTo>
                  <a:pt x="39" y="336"/>
                </a:lnTo>
                <a:lnTo>
                  <a:pt x="22" y="307"/>
                </a:lnTo>
                <a:lnTo>
                  <a:pt x="11" y="276"/>
                </a:lnTo>
                <a:lnTo>
                  <a:pt x="3" y="245"/>
                </a:lnTo>
                <a:lnTo>
                  <a:pt x="0" y="212"/>
                </a:lnTo>
                <a:lnTo>
                  <a:pt x="3" y="178"/>
                </a:lnTo>
                <a:lnTo>
                  <a:pt x="11" y="144"/>
                </a:lnTo>
                <a:lnTo>
                  <a:pt x="22" y="113"/>
                </a:lnTo>
                <a:lnTo>
                  <a:pt x="39" y="85"/>
                </a:lnTo>
                <a:lnTo>
                  <a:pt x="62" y="62"/>
                </a:lnTo>
                <a:lnTo>
                  <a:pt x="87" y="39"/>
                </a:lnTo>
                <a:lnTo>
                  <a:pt x="113" y="22"/>
                </a:lnTo>
                <a:lnTo>
                  <a:pt x="144" y="11"/>
                </a:lnTo>
                <a:lnTo>
                  <a:pt x="178" y="3"/>
                </a:lnTo>
                <a:lnTo>
                  <a:pt x="211" y="0"/>
                </a:lnTo>
                <a:lnTo>
                  <a:pt x="245" y="3"/>
                </a:lnTo>
                <a:lnTo>
                  <a:pt x="279" y="11"/>
                </a:lnTo>
                <a:lnTo>
                  <a:pt x="307" y="22"/>
                </a:lnTo>
                <a:lnTo>
                  <a:pt x="336" y="39"/>
                </a:lnTo>
                <a:lnTo>
                  <a:pt x="361" y="62"/>
                </a:lnTo>
                <a:lnTo>
                  <a:pt x="381" y="85"/>
                </a:lnTo>
                <a:lnTo>
                  <a:pt x="398" y="113"/>
                </a:lnTo>
                <a:lnTo>
                  <a:pt x="412" y="144"/>
                </a:lnTo>
                <a:lnTo>
                  <a:pt x="420" y="178"/>
                </a:lnTo>
                <a:lnTo>
                  <a:pt x="423" y="212"/>
                </a:lnTo>
                <a:lnTo>
                  <a:pt x="420" y="20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CA" altLang="en-US"/>
          </a:p>
        </p:txBody>
      </p:sp>
      <p:sp>
        <p:nvSpPr>
          <p:cNvPr id="19469" name="Freeform 13">
            <a:extLst>
              <a:ext uri="{FF2B5EF4-FFF2-40B4-BE49-F238E27FC236}">
                <a16:creationId xmlns:a16="http://schemas.microsoft.com/office/drawing/2014/main" id="{EA50B4F6-CBD8-3A0C-7414-5462499C1E6C}"/>
              </a:ext>
            </a:extLst>
          </p:cNvPr>
          <p:cNvSpPr>
            <a:spLocks/>
          </p:cNvSpPr>
          <p:nvPr/>
        </p:nvSpPr>
        <p:spPr bwMode="auto">
          <a:xfrm>
            <a:off x="1936750" y="1349375"/>
            <a:ext cx="671513" cy="671513"/>
          </a:xfrm>
          <a:custGeom>
            <a:avLst/>
            <a:gdLst>
              <a:gd name="T0" fmla="*/ 2147483647 w 423"/>
              <a:gd name="T1" fmla="*/ 2147483647 h 423"/>
              <a:gd name="T2" fmla="*/ 2147483647 w 423"/>
              <a:gd name="T3" fmla="*/ 2147483647 h 423"/>
              <a:gd name="T4" fmla="*/ 2147483647 w 423"/>
              <a:gd name="T5" fmla="*/ 2147483647 h 423"/>
              <a:gd name="T6" fmla="*/ 2147483647 w 423"/>
              <a:gd name="T7" fmla="*/ 2147483647 h 423"/>
              <a:gd name="T8" fmla="*/ 2147483647 w 423"/>
              <a:gd name="T9" fmla="*/ 2147483647 h 423"/>
              <a:gd name="T10" fmla="*/ 2147483647 w 423"/>
              <a:gd name="T11" fmla="*/ 2147483647 h 423"/>
              <a:gd name="T12" fmla="*/ 2147483647 w 423"/>
              <a:gd name="T13" fmla="*/ 2147483647 h 423"/>
              <a:gd name="T14" fmla="*/ 2147483647 w 423"/>
              <a:gd name="T15" fmla="*/ 2147483647 h 423"/>
              <a:gd name="T16" fmla="*/ 2147483647 w 423"/>
              <a:gd name="T17" fmla="*/ 2147483647 h 423"/>
              <a:gd name="T18" fmla="*/ 2147483647 w 423"/>
              <a:gd name="T19" fmla="*/ 2147483647 h 423"/>
              <a:gd name="T20" fmla="*/ 2147483647 w 423"/>
              <a:gd name="T21" fmla="*/ 0 h 423"/>
              <a:gd name="T22" fmla="*/ 2147483647 w 423"/>
              <a:gd name="T23" fmla="*/ 2147483647 h 423"/>
              <a:gd name="T24" fmla="*/ 2147483647 w 423"/>
              <a:gd name="T25" fmla="*/ 2147483647 h 423"/>
              <a:gd name="T26" fmla="*/ 2147483647 w 423"/>
              <a:gd name="T27" fmla="*/ 2147483647 h 423"/>
              <a:gd name="T28" fmla="*/ 2147483647 w 423"/>
              <a:gd name="T29" fmla="*/ 2147483647 h 423"/>
              <a:gd name="T30" fmla="*/ 2147483647 w 423"/>
              <a:gd name="T31" fmla="*/ 2147483647 h 423"/>
              <a:gd name="T32" fmla="*/ 2147483647 w 423"/>
              <a:gd name="T33" fmla="*/ 2147483647 h 423"/>
              <a:gd name="T34" fmla="*/ 2147483647 w 423"/>
              <a:gd name="T35" fmla="*/ 2147483647 h 423"/>
              <a:gd name="T36" fmla="*/ 2147483647 w 423"/>
              <a:gd name="T37" fmla="*/ 2147483647 h 423"/>
              <a:gd name="T38" fmla="*/ 2147483647 w 423"/>
              <a:gd name="T39" fmla="*/ 2147483647 h 423"/>
              <a:gd name="T40" fmla="*/ 0 w 423"/>
              <a:gd name="T41" fmla="*/ 2147483647 h 423"/>
              <a:gd name="T42" fmla="*/ 2147483647 w 423"/>
              <a:gd name="T43" fmla="*/ 2147483647 h 423"/>
              <a:gd name="T44" fmla="*/ 2147483647 w 423"/>
              <a:gd name="T45" fmla="*/ 2147483647 h 423"/>
              <a:gd name="T46" fmla="*/ 2147483647 w 423"/>
              <a:gd name="T47" fmla="*/ 2147483647 h 423"/>
              <a:gd name="T48" fmla="*/ 2147483647 w 423"/>
              <a:gd name="T49" fmla="*/ 2147483647 h 423"/>
              <a:gd name="T50" fmla="*/ 2147483647 w 423"/>
              <a:gd name="T51" fmla="*/ 2147483647 h 423"/>
              <a:gd name="T52" fmla="*/ 2147483647 w 423"/>
              <a:gd name="T53" fmla="*/ 2147483647 h 423"/>
              <a:gd name="T54" fmla="*/ 2147483647 w 423"/>
              <a:gd name="T55" fmla="*/ 2147483647 h 423"/>
              <a:gd name="T56" fmla="*/ 2147483647 w 423"/>
              <a:gd name="T57" fmla="*/ 2147483647 h 423"/>
              <a:gd name="T58" fmla="*/ 2147483647 w 423"/>
              <a:gd name="T59" fmla="*/ 2147483647 h 423"/>
              <a:gd name="T60" fmla="*/ 2147483647 w 423"/>
              <a:gd name="T61" fmla="*/ 2147483647 h 423"/>
              <a:gd name="T62" fmla="*/ 2147483647 w 423"/>
              <a:gd name="T63" fmla="*/ 2147483647 h 423"/>
              <a:gd name="T64" fmla="*/ 2147483647 w 423"/>
              <a:gd name="T65" fmla="*/ 2147483647 h 423"/>
              <a:gd name="T66" fmla="*/ 2147483647 w 423"/>
              <a:gd name="T67" fmla="*/ 2147483647 h 423"/>
              <a:gd name="T68" fmla="*/ 2147483647 w 423"/>
              <a:gd name="T69" fmla="*/ 2147483647 h 423"/>
              <a:gd name="T70" fmla="*/ 2147483647 w 423"/>
              <a:gd name="T71" fmla="*/ 2147483647 h 423"/>
              <a:gd name="T72" fmla="*/ 2147483647 w 423"/>
              <a:gd name="T73" fmla="*/ 2147483647 h 423"/>
              <a:gd name="T74" fmla="*/ 2147483647 w 423"/>
              <a:gd name="T75" fmla="*/ 2147483647 h 423"/>
              <a:gd name="T76" fmla="*/ 2147483647 w 423"/>
              <a:gd name="T77" fmla="*/ 2147483647 h 423"/>
              <a:gd name="T78" fmla="*/ 2147483647 w 423"/>
              <a:gd name="T79" fmla="*/ 2147483647 h 423"/>
              <a:gd name="T80" fmla="*/ 2147483647 w 423"/>
              <a:gd name="T81" fmla="*/ 2147483647 h 423"/>
              <a:gd name="T82" fmla="*/ 2147483647 w 423"/>
              <a:gd name="T83" fmla="*/ 2147483647 h 4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23"/>
              <a:gd name="T127" fmla="*/ 0 h 423"/>
              <a:gd name="T128" fmla="*/ 423 w 423"/>
              <a:gd name="T129" fmla="*/ 423 h 4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23" h="423">
                <a:moveTo>
                  <a:pt x="420" y="209"/>
                </a:moveTo>
                <a:lnTo>
                  <a:pt x="420" y="178"/>
                </a:lnTo>
                <a:lnTo>
                  <a:pt x="412" y="144"/>
                </a:lnTo>
                <a:lnTo>
                  <a:pt x="398" y="113"/>
                </a:lnTo>
                <a:lnTo>
                  <a:pt x="381" y="85"/>
                </a:lnTo>
                <a:lnTo>
                  <a:pt x="361" y="62"/>
                </a:lnTo>
                <a:lnTo>
                  <a:pt x="336" y="39"/>
                </a:lnTo>
                <a:lnTo>
                  <a:pt x="307" y="22"/>
                </a:lnTo>
                <a:lnTo>
                  <a:pt x="279" y="11"/>
                </a:lnTo>
                <a:lnTo>
                  <a:pt x="245" y="3"/>
                </a:lnTo>
                <a:lnTo>
                  <a:pt x="211" y="0"/>
                </a:lnTo>
                <a:lnTo>
                  <a:pt x="178" y="3"/>
                </a:lnTo>
                <a:lnTo>
                  <a:pt x="144" y="11"/>
                </a:lnTo>
                <a:lnTo>
                  <a:pt x="113" y="22"/>
                </a:lnTo>
                <a:lnTo>
                  <a:pt x="87" y="39"/>
                </a:lnTo>
                <a:lnTo>
                  <a:pt x="62" y="62"/>
                </a:lnTo>
                <a:lnTo>
                  <a:pt x="39" y="85"/>
                </a:lnTo>
                <a:lnTo>
                  <a:pt x="22" y="113"/>
                </a:lnTo>
                <a:lnTo>
                  <a:pt x="11" y="144"/>
                </a:lnTo>
                <a:lnTo>
                  <a:pt x="3" y="178"/>
                </a:lnTo>
                <a:lnTo>
                  <a:pt x="0" y="212"/>
                </a:lnTo>
                <a:lnTo>
                  <a:pt x="3" y="245"/>
                </a:lnTo>
                <a:lnTo>
                  <a:pt x="11" y="276"/>
                </a:lnTo>
                <a:lnTo>
                  <a:pt x="22" y="307"/>
                </a:lnTo>
                <a:lnTo>
                  <a:pt x="39" y="336"/>
                </a:lnTo>
                <a:lnTo>
                  <a:pt x="62" y="361"/>
                </a:lnTo>
                <a:lnTo>
                  <a:pt x="87" y="381"/>
                </a:lnTo>
                <a:lnTo>
                  <a:pt x="113" y="398"/>
                </a:lnTo>
                <a:lnTo>
                  <a:pt x="144" y="412"/>
                </a:lnTo>
                <a:lnTo>
                  <a:pt x="178" y="420"/>
                </a:lnTo>
                <a:lnTo>
                  <a:pt x="211" y="423"/>
                </a:lnTo>
                <a:lnTo>
                  <a:pt x="245" y="420"/>
                </a:lnTo>
                <a:lnTo>
                  <a:pt x="279" y="412"/>
                </a:lnTo>
                <a:lnTo>
                  <a:pt x="307" y="398"/>
                </a:lnTo>
                <a:lnTo>
                  <a:pt x="336" y="381"/>
                </a:lnTo>
                <a:lnTo>
                  <a:pt x="361" y="361"/>
                </a:lnTo>
                <a:lnTo>
                  <a:pt x="381" y="336"/>
                </a:lnTo>
                <a:lnTo>
                  <a:pt x="398" y="307"/>
                </a:lnTo>
                <a:lnTo>
                  <a:pt x="412" y="276"/>
                </a:lnTo>
                <a:lnTo>
                  <a:pt x="420" y="245"/>
                </a:lnTo>
                <a:lnTo>
                  <a:pt x="423" y="212"/>
                </a:lnTo>
              </a:path>
            </a:pathLst>
          </a:custGeom>
          <a:noFill/>
          <a:ln w="269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CA" altLang="en-US"/>
          </a:p>
        </p:txBody>
      </p:sp>
      <p:sp>
        <p:nvSpPr>
          <p:cNvPr id="19470" name="Rectangle 14">
            <a:extLst>
              <a:ext uri="{FF2B5EF4-FFF2-40B4-BE49-F238E27FC236}">
                <a16:creationId xmlns:a16="http://schemas.microsoft.com/office/drawing/2014/main" id="{2CDAACEF-9053-97E3-D68F-1DBF2E587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300" y="2187575"/>
            <a:ext cx="1009650" cy="6715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9471" name="Rectangle 15">
            <a:extLst>
              <a:ext uri="{FF2B5EF4-FFF2-40B4-BE49-F238E27FC236}">
                <a16:creationId xmlns:a16="http://schemas.microsoft.com/office/drawing/2014/main" id="{B5CFFF16-EDF1-BA2D-A8E3-B53B25A43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300" y="2187575"/>
            <a:ext cx="1009650" cy="671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9472" name="Rectangle 16">
            <a:extLst>
              <a:ext uri="{FF2B5EF4-FFF2-40B4-BE49-F238E27FC236}">
                <a16:creationId xmlns:a16="http://schemas.microsoft.com/office/drawing/2014/main" id="{2D630C46-DA03-4E69-92DF-E95D56837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8050" y="1597025"/>
            <a:ext cx="1016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</a:rPr>
              <a:t>P</a:t>
            </a:r>
            <a:endParaRPr lang="en-US" altLang="en-US" b="1"/>
          </a:p>
        </p:txBody>
      </p:sp>
      <p:sp>
        <p:nvSpPr>
          <p:cNvPr id="19473" name="Rectangle 17">
            <a:extLst>
              <a:ext uri="{FF2B5EF4-FFF2-40B4-BE49-F238E27FC236}">
                <a16:creationId xmlns:a16="http://schemas.microsoft.com/office/drawing/2014/main" id="{364BC612-3434-B35F-6964-B30756D1E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488" y="1658938"/>
            <a:ext cx="698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19474" name="Rectangle 18">
            <a:extLst>
              <a:ext uri="{FF2B5EF4-FFF2-40B4-BE49-F238E27FC236}">
                <a16:creationId xmlns:a16="http://schemas.microsoft.com/office/drawing/2014/main" id="{B2634C45-3E2E-FF4E-DC30-0EA70D725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325" y="2278063"/>
            <a:ext cx="841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</a:rPr>
              <a:t>$</a:t>
            </a:r>
            <a:endParaRPr lang="en-US" altLang="en-US" b="1"/>
          </a:p>
        </p:txBody>
      </p:sp>
      <p:sp>
        <p:nvSpPr>
          <p:cNvPr id="19475" name="Line 19">
            <a:extLst>
              <a:ext uri="{FF2B5EF4-FFF2-40B4-BE49-F238E27FC236}">
                <a16:creationId xmlns:a16="http://schemas.microsoft.com/office/drawing/2014/main" id="{46557754-7A06-3015-7793-DC314C0FD5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5688" y="3195638"/>
            <a:ext cx="1587" cy="334962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6" name="Line 20">
            <a:extLst>
              <a:ext uri="{FF2B5EF4-FFF2-40B4-BE49-F238E27FC236}">
                <a16:creationId xmlns:a16="http://schemas.microsoft.com/office/drawing/2014/main" id="{AF177F63-2D49-9876-ABA4-1792E1AFBB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4525" y="2859088"/>
            <a:ext cx="1588" cy="336550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7" name="Line 21">
            <a:extLst>
              <a:ext uri="{FF2B5EF4-FFF2-40B4-BE49-F238E27FC236}">
                <a16:creationId xmlns:a16="http://schemas.microsoft.com/office/drawing/2014/main" id="{FD1E026F-FEA6-116A-ACFA-DCBD659DAB2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4525" y="2020888"/>
            <a:ext cx="1588" cy="1666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8" name="Freeform 22">
            <a:extLst>
              <a:ext uri="{FF2B5EF4-FFF2-40B4-BE49-F238E27FC236}">
                <a16:creationId xmlns:a16="http://schemas.microsoft.com/office/drawing/2014/main" id="{5BB97700-AACE-0E47-964D-BDF257F7D792}"/>
              </a:ext>
            </a:extLst>
          </p:cNvPr>
          <p:cNvSpPr>
            <a:spLocks/>
          </p:cNvSpPr>
          <p:nvPr/>
        </p:nvSpPr>
        <p:spPr bwMode="auto">
          <a:xfrm>
            <a:off x="4119563" y="1349375"/>
            <a:ext cx="671512" cy="671513"/>
          </a:xfrm>
          <a:custGeom>
            <a:avLst/>
            <a:gdLst>
              <a:gd name="T0" fmla="*/ 2147483647 w 423"/>
              <a:gd name="T1" fmla="*/ 2147483647 h 423"/>
              <a:gd name="T2" fmla="*/ 2147483647 w 423"/>
              <a:gd name="T3" fmla="*/ 2147483647 h 423"/>
              <a:gd name="T4" fmla="*/ 2147483647 w 423"/>
              <a:gd name="T5" fmla="*/ 2147483647 h 423"/>
              <a:gd name="T6" fmla="*/ 2147483647 w 423"/>
              <a:gd name="T7" fmla="*/ 2147483647 h 423"/>
              <a:gd name="T8" fmla="*/ 2147483647 w 423"/>
              <a:gd name="T9" fmla="*/ 2147483647 h 423"/>
              <a:gd name="T10" fmla="*/ 2147483647 w 423"/>
              <a:gd name="T11" fmla="*/ 2147483647 h 423"/>
              <a:gd name="T12" fmla="*/ 2147483647 w 423"/>
              <a:gd name="T13" fmla="*/ 2147483647 h 423"/>
              <a:gd name="T14" fmla="*/ 2147483647 w 423"/>
              <a:gd name="T15" fmla="*/ 2147483647 h 423"/>
              <a:gd name="T16" fmla="*/ 2147483647 w 423"/>
              <a:gd name="T17" fmla="*/ 2147483647 h 423"/>
              <a:gd name="T18" fmla="*/ 2147483647 w 423"/>
              <a:gd name="T19" fmla="*/ 2147483647 h 423"/>
              <a:gd name="T20" fmla="*/ 2147483647 w 423"/>
              <a:gd name="T21" fmla="*/ 2147483647 h 423"/>
              <a:gd name="T22" fmla="*/ 2147483647 w 423"/>
              <a:gd name="T23" fmla="*/ 2147483647 h 423"/>
              <a:gd name="T24" fmla="*/ 2147483647 w 423"/>
              <a:gd name="T25" fmla="*/ 2147483647 h 423"/>
              <a:gd name="T26" fmla="*/ 2147483647 w 423"/>
              <a:gd name="T27" fmla="*/ 2147483647 h 423"/>
              <a:gd name="T28" fmla="*/ 2147483647 w 423"/>
              <a:gd name="T29" fmla="*/ 2147483647 h 423"/>
              <a:gd name="T30" fmla="*/ 2147483647 w 423"/>
              <a:gd name="T31" fmla="*/ 2147483647 h 423"/>
              <a:gd name="T32" fmla="*/ 2147483647 w 423"/>
              <a:gd name="T33" fmla="*/ 2147483647 h 423"/>
              <a:gd name="T34" fmla="*/ 2147483647 w 423"/>
              <a:gd name="T35" fmla="*/ 2147483647 h 423"/>
              <a:gd name="T36" fmla="*/ 2147483647 w 423"/>
              <a:gd name="T37" fmla="*/ 2147483647 h 423"/>
              <a:gd name="T38" fmla="*/ 2147483647 w 423"/>
              <a:gd name="T39" fmla="*/ 2147483647 h 423"/>
              <a:gd name="T40" fmla="*/ 0 w 423"/>
              <a:gd name="T41" fmla="*/ 2147483647 h 423"/>
              <a:gd name="T42" fmla="*/ 2147483647 w 423"/>
              <a:gd name="T43" fmla="*/ 2147483647 h 423"/>
              <a:gd name="T44" fmla="*/ 2147483647 w 423"/>
              <a:gd name="T45" fmla="*/ 2147483647 h 423"/>
              <a:gd name="T46" fmla="*/ 2147483647 w 423"/>
              <a:gd name="T47" fmla="*/ 2147483647 h 423"/>
              <a:gd name="T48" fmla="*/ 2147483647 w 423"/>
              <a:gd name="T49" fmla="*/ 2147483647 h 423"/>
              <a:gd name="T50" fmla="*/ 2147483647 w 423"/>
              <a:gd name="T51" fmla="*/ 2147483647 h 423"/>
              <a:gd name="T52" fmla="*/ 2147483647 w 423"/>
              <a:gd name="T53" fmla="*/ 2147483647 h 423"/>
              <a:gd name="T54" fmla="*/ 2147483647 w 423"/>
              <a:gd name="T55" fmla="*/ 2147483647 h 423"/>
              <a:gd name="T56" fmla="*/ 2147483647 w 423"/>
              <a:gd name="T57" fmla="*/ 2147483647 h 423"/>
              <a:gd name="T58" fmla="*/ 2147483647 w 423"/>
              <a:gd name="T59" fmla="*/ 2147483647 h 423"/>
              <a:gd name="T60" fmla="*/ 2147483647 w 423"/>
              <a:gd name="T61" fmla="*/ 0 h 423"/>
              <a:gd name="T62" fmla="*/ 2147483647 w 423"/>
              <a:gd name="T63" fmla="*/ 2147483647 h 423"/>
              <a:gd name="T64" fmla="*/ 2147483647 w 423"/>
              <a:gd name="T65" fmla="*/ 2147483647 h 423"/>
              <a:gd name="T66" fmla="*/ 2147483647 w 423"/>
              <a:gd name="T67" fmla="*/ 2147483647 h 423"/>
              <a:gd name="T68" fmla="*/ 2147483647 w 423"/>
              <a:gd name="T69" fmla="*/ 2147483647 h 423"/>
              <a:gd name="T70" fmla="*/ 2147483647 w 423"/>
              <a:gd name="T71" fmla="*/ 2147483647 h 423"/>
              <a:gd name="T72" fmla="*/ 2147483647 w 423"/>
              <a:gd name="T73" fmla="*/ 2147483647 h 423"/>
              <a:gd name="T74" fmla="*/ 2147483647 w 423"/>
              <a:gd name="T75" fmla="*/ 2147483647 h 423"/>
              <a:gd name="T76" fmla="*/ 2147483647 w 423"/>
              <a:gd name="T77" fmla="*/ 2147483647 h 423"/>
              <a:gd name="T78" fmla="*/ 2147483647 w 423"/>
              <a:gd name="T79" fmla="*/ 2147483647 h 423"/>
              <a:gd name="T80" fmla="*/ 2147483647 w 423"/>
              <a:gd name="T81" fmla="*/ 2147483647 h 423"/>
              <a:gd name="T82" fmla="*/ 2147483647 w 423"/>
              <a:gd name="T83" fmla="*/ 2147483647 h 4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23"/>
              <a:gd name="T127" fmla="*/ 0 h 423"/>
              <a:gd name="T128" fmla="*/ 423 w 423"/>
              <a:gd name="T129" fmla="*/ 423 h 4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23" h="423">
                <a:moveTo>
                  <a:pt x="423" y="209"/>
                </a:moveTo>
                <a:lnTo>
                  <a:pt x="420" y="245"/>
                </a:lnTo>
                <a:lnTo>
                  <a:pt x="412" y="276"/>
                </a:lnTo>
                <a:lnTo>
                  <a:pt x="400" y="307"/>
                </a:lnTo>
                <a:lnTo>
                  <a:pt x="384" y="336"/>
                </a:lnTo>
                <a:lnTo>
                  <a:pt x="361" y="361"/>
                </a:lnTo>
                <a:lnTo>
                  <a:pt x="338" y="381"/>
                </a:lnTo>
                <a:lnTo>
                  <a:pt x="310" y="398"/>
                </a:lnTo>
                <a:lnTo>
                  <a:pt x="279" y="412"/>
                </a:lnTo>
                <a:lnTo>
                  <a:pt x="245" y="420"/>
                </a:lnTo>
                <a:lnTo>
                  <a:pt x="211" y="423"/>
                </a:lnTo>
                <a:lnTo>
                  <a:pt x="177" y="420"/>
                </a:lnTo>
                <a:lnTo>
                  <a:pt x="146" y="412"/>
                </a:lnTo>
                <a:lnTo>
                  <a:pt x="115" y="398"/>
                </a:lnTo>
                <a:lnTo>
                  <a:pt x="87" y="381"/>
                </a:lnTo>
                <a:lnTo>
                  <a:pt x="62" y="361"/>
                </a:lnTo>
                <a:lnTo>
                  <a:pt x="42" y="336"/>
                </a:lnTo>
                <a:lnTo>
                  <a:pt x="25" y="307"/>
                </a:lnTo>
                <a:lnTo>
                  <a:pt x="11" y="276"/>
                </a:lnTo>
                <a:lnTo>
                  <a:pt x="2" y="245"/>
                </a:lnTo>
                <a:lnTo>
                  <a:pt x="0" y="212"/>
                </a:lnTo>
                <a:lnTo>
                  <a:pt x="2" y="178"/>
                </a:lnTo>
                <a:lnTo>
                  <a:pt x="11" y="144"/>
                </a:lnTo>
                <a:lnTo>
                  <a:pt x="25" y="113"/>
                </a:lnTo>
                <a:lnTo>
                  <a:pt x="42" y="85"/>
                </a:lnTo>
                <a:lnTo>
                  <a:pt x="62" y="62"/>
                </a:lnTo>
                <a:lnTo>
                  <a:pt x="87" y="39"/>
                </a:lnTo>
                <a:lnTo>
                  <a:pt x="115" y="22"/>
                </a:lnTo>
                <a:lnTo>
                  <a:pt x="146" y="11"/>
                </a:lnTo>
                <a:lnTo>
                  <a:pt x="177" y="3"/>
                </a:lnTo>
                <a:lnTo>
                  <a:pt x="211" y="0"/>
                </a:lnTo>
                <a:lnTo>
                  <a:pt x="245" y="3"/>
                </a:lnTo>
                <a:lnTo>
                  <a:pt x="279" y="11"/>
                </a:lnTo>
                <a:lnTo>
                  <a:pt x="310" y="22"/>
                </a:lnTo>
                <a:lnTo>
                  <a:pt x="338" y="39"/>
                </a:lnTo>
                <a:lnTo>
                  <a:pt x="361" y="62"/>
                </a:lnTo>
                <a:lnTo>
                  <a:pt x="384" y="85"/>
                </a:lnTo>
                <a:lnTo>
                  <a:pt x="400" y="113"/>
                </a:lnTo>
                <a:lnTo>
                  <a:pt x="412" y="144"/>
                </a:lnTo>
                <a:lnTo>
                  <a:pt x="420" y="178"/>
                </a:lnTo>
                <a:lnTo>
                  <a:pt x="423" y="212"/>
                </a:lnTo>
                <a:lnTo>
                  <a:pt x="423" y="20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CA" altLang="en-US"/>
          </a:p>
        </p:txBody>
      </p:sp>
      <p:sp>
        <p:nvSpPr>
          <p:cNvPr id="19479" name="Freeform 23">
            <a:extLst>
              <a:ext uri="{FF2B5EF4-FFF2-40B4-BE49-F238E27FC236}">
                <a16:creationId xmlns:a16="http://schemas.microsoft.com/office/drawing/2014/main" id="{313052F2-51EB-E724-A198-DC7C9C3786CA}"/>
              </a:ext>
            </a:extLst>
          </p:cNvPr>
          <p:cNvSpPr>
            <a:spLocks/>
          </p:cNvSpPr>
          <p:nvPr/>
        </p:nvSpPr>
        <p:spPr bwMode="auto">
          <a:xfrm>
            <a:off x="4119563" y="1349375"/>
            <a:ext cx="671512" cy="671513"/>
          </a:xfrm>
          <a:custGeom>
            <a:avLst/>
            <a:gdLst>
              <a:gd name="T0" fmla="*/ 2147483647 w 423"/>
              <a:gd name="T1" fmla="*/ 2147483647 h 423"/>
              <a:gd name="T2" fmla="*/ 2147483647 w 423"/>
              <a:gd name="T3" fmla="*/ 2147483647 h 423"/>
              <a:gd name="T4" fmla="*/ 2147483647 w 423"/>
              <a:gd name="T5" fmla="*/ 2147483647 h 423"/>
              <a:gd name="T6" fmla="*/ 2147483647 w 423"/>
              <a:gd name="T7" fmla="*/ 2147483647 h 423"/>
              <a:gd name="T8" fmla="*/ 2147483647 w 423"/>
              <a:gd name="T9" fmla="*/ 2147483647 h 423"/>
              <a:gd name="T10" fmla="*/ 2147483647 w 423"/>
              <a:gd name="T11" fmla="*/ 2147483647 h 423"/>
              <a:gd name="T12" fmla="*/ 2147483647 w 423"/>
              <a:gd name="T13" fmla="*/ 2147483647 h 423"/>
              <a:gd name="T14" fmla="*/ 2147483647 w 423"/>
              <a:gd name="T15" fmla="*/ 2147483647 h 423"/>
              <a:gd name="T16" fmla="*/ 2147483647 w 423"/>
              <a:gd name="T17" fmla="*/ 2147483647 h 423"/>
              <a:gd name="T18" fmla="*/ 2147483647 w 423"/>
              <a:gd name="T19" fmla="*/ 2147483647 h 423"/>
              <a:gd name="T20" fmla="*/ 2147483647 w 423"/>
              <a:gd name="T21" fmla="*/ 0 h 423"/>
              <a:gd name="T22" fmla="*/ 2147483647 w 423"/>
              <a:gd name="T23" fmla="*/ 2147483647 h 423"/>
              <a:gd name="T24" fmla="*/ 2147483647 w 423"/>
              <a:gd name="T25" fmla="*/ 2147483647 h 423"/>
              <a:gd name="T26" fmla="*/ 2147483647 w 423"/>
              <a:gd name="T27" fmla="*/ 2147483647 h 423"/>
              <a:gd name="T28" fmla="*/ 2147483647 w 423"/>
              <a:gd name="T29" fmla="*/ 2147483647 h 423"/>
              <a:gd name="T30" fmla="*/ 2147483647 w 423"/>
              <a:gd name="T31" fmla="*/ 2147483647 h 423"/>
              <a:gd name="T32" fmla="*/ 2147483647 w 423"/>
              <a:gd name="T33" fmla="*/ 2147483647 h 423"/>
              <a:gd name="T34" fmla="*/ 2147483647 w 423"/>
              <a:gd name="T35" fmla="*/ 2147483647 h 423"/>
              <a:gd name="T36" fmla="*/ 2147483647 w 423"/>
              <a:gd name="T37" fmla="*/ 2147483647 h 423"/>
              <a:gd name="T38" fmla="*/ 2147483647 w 423"/>
              <a:gd name="T39" fmla="*/ 2147483647 h 423"/>
              <a:gd name="T40" fmla="*/ 0 w 423"/>
              <a:gd name="T41" fmla="*/ 2147483647 h 423"/>
              <a:gd name="T42" fmla="*/ 2147483647 w 423"/>
              <a:gd name="T43" fmla="*/ 2147483647 h 423"/>
              <a:gd name="T44" fmla="*/ 2147483647 w 423"/>
              <a:gd name="T45" fmla="*/ 2147483647 h 423"/>
              <a:gd name="T46" fmla="*/ 2147483647 w 423"/>
              <a:gd name="T47" fmla="*/ 2147483647 h 423"/>
              <a:gd name="T48" fmla="*/ 2147483647 w 423"/>
              <a:gd name="T49" fmla="*/ 2147483647 h 423"/>
              <a:gd name="T50" fmla="*/ 2147483647 w 423"/>
              <a:gd name="T51" fmla="*/ 2147483647 h 423"/>
              <a:gd name="T52" fmla="*/ 2147483647 w 423"/>
              <a:gd name="T53" fmla="*/ 2147483647 h 423"/>
              <a:gd name="T54" fmla="*/ 2147483647 w 423"/>
              <a:gd name="T55" fmla="*/ 2147483647 h 423"/>
              <a:gd name="T56" fmla="*/ 2147483647 w 423"/>
              <a:gd name="T57" fmla="*/ 2147483647 h 423"/>
              <a:gd name="T58" fmla="*/ 2147483647 w 423"/>
              <a:gd name="T59" fmla="*/ 2147483647 h 423"/>
              <a:gd name="T60" fmla="*/ 2147483647 w 423"/>
              <a:gd name="T61" fmla="*/ 2147483647 h 423"/>
              <a:gd name="T62" fmla="*/ 2147483647 w 423"/>
              <a:gd name="T63" fmla="*/ 2147483647 h 423"/>
              <a:gd name="T64" fmla="*/ 2147483647 w 423"/>
              <a:gd name="T65" fmla="*/ 2147483647 h 423"/>
              <a:gd name="T66" fmla="*/ 2147483647 w 423"/>
              <a:gd name="T67" fmla="*/ 2147483647 h 423"/>
              <a:gd name="T68" fmla="*/ 2147483647 w 423"/>
              <a:gd name="T69" fmla="*/ 2147483647 h 423"/>
              <a:gd name="T70" fmla="*/ 2147483647 w 423"/>
              <a:gd name="T71" fmla="*/ 2147483647 h 423"/>
              <a:gd name="T72" fmla="*/ 2147483647 w 423"/>
              <a:gd name="T73" fmla="*/ 2147483647 h 423"/>
              <a:gd name="T74" fmla="*/ 2147483647 w 423"/>
              <a:gd name="T75" fmla="*/ 2147483647 h 423"/>
              <a:gd name="T76" fmla="*/ 2147483647 w 423"/>
              <a:gd name="T77" fmla="*/ 2147483647 h 423"/>
              <a:gd name="T78" fmla="*/ 2147483647 w 423"/>
              <a:gd name="T79" fmla="*/ 2147483647 h 423"/>
              <a:gd name="T80" fmla="*/ 2147483647 w 423"/>
              <a:gd name="T81" fmla="*/ 2147483647 h 423"/>
              <a:gd name="T82" fmla="*/ 2147483647 w 423"/>
              <a:gd name="T83" fmla="*/ 2147483647 h 4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23"/>
              <a:gd name="T127" fmla="*/ 0 h 423"/>
              <a:gd name="T128" fmla="*/ 423 w 423"/>
              <a:gd name="T129" fmla="*/ 423 h 4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23" h="423">
                <a:moveTo>
                  <a:pt x="423" y="209"/>
                </a:moveTo>
                <a:lnTo>
                  <a:pt x="420" y="178"/>
                </a:lnTo>
                <a:lnTo>
                  <a:pt x="412" y="144"/>
                </a:lnTo>
                <a:lnTo>
                  <a:pt x="400" y="113"/>
                </a:lnTo>
                <a:lnTo>
                  <a:pt x="384" y="85"/>
                </a:lnTo>
                <a:lnTo>
                  <a:pt x="361" y="62"/>
                </a:lnTo>
                <a:lnTo>
                  <a:pt x="338" y="39"/>
                </a:lnTo>
                <a:lnTo>
                  <a:pt x="310" y="22"/>
                </a:lnTo>
                <a:lnTo>
                  <a:pt x="279" y="11"/>
                </a:lnTo>
                <a:lnTo>
                  <a:pt x="245" y="3"/>
                </a:lnTo>
                <a:lnTo>
                  <a:pt x="211" y="0"/>
                </a:lnTo>
                <a:lnTo>
                  <a:pt x="177" y="3"/>
                </a:lnTo>
                <a:lnTo>
                  <a:pt x="146" y="11"/>
                </a:lnTo>
                <a:lnTo>
                  <a:pt x="115" y="22"/>
                </a:lnTo>
                <a:lnTo>
                  <a:pt x="87" y="39"/>
                </a:lnTo>
                <a:lnTo>
                  <a:pt x="62" y="62"/>
                </a:lnTo>
                <a:lnTo>
                  <a:pt x="42" y="85"/>
                </a:lnTo>
                <a:lnTo>
                  <a:pt x="25" y="113"/>
                </a:lnTo>
                <a:lnTo>
                  <a:pt x="11" y="144"/>
                </a:lnTo>
                <a:lnTo>
                  <a:pt x="2" y="178"/>
                </a:lnTo>
                <a:lnTo>
                  <a:pt x="0" y="212"/>
                </a:lnTo>
                <a:lnTo>
                  <a:pt x="2" y="245"/>
                </a:lnTo>
                <a:lnTo>
                  <a:pt x="11" y="276"/>
                </a:lnTo>
                <a:lnTo>
                  <a:pt x="25" y="307"/>
                </a:lnTo>
                <a:lnTo>
                  <a:pt x="42" y="336"/>
                </a:lnTo>
                <a:lnTo>
                  <a:pt x="62" y="361"/>
                </a:lnTo>
                <a:lnTo>
                  <a:pt x="87" y="381"/>
                </a:lnTo>
                <a:lnTo>
                  <a:pt x="115" y="398"/>
                </a:lnTo>
                <a:lnTo>
                  <a:pt x="146" y="412"/>
                </a:lnTo>
                <a:lnTo>
                  <a:pt x="177" y="420"/>
                </a:lnTo>
                <a:lnTo>
                  <a:pt x="211" y="423"/>
                </a:lnTo>
                <a:lnTo>
                  <a:pt x="245" y="420"/>
                </a:lnTo>
                <a:lnTo>
                  <a:pt x="279" y="412"/>
                </a:lnTo>
                <a:lnTo>
                  <a:pt x="310" y="398"/>
                </a:lnTo>
                <a:lnTo>
                  <a:pt x="338" y="381"/>
                </a:lnTo>
                <a:lnTo>
                  <a:pt x="361" y="361"/>
                </a:lnTo>
                <a:lnTo>
                  <a:pt x="384" y="336"/>
                </a:lnTo>
                <a:lnTo>
                  <a:pt x="400" y="307"/>
                </a:lnTo>
                <a:lnTo>
                  <a:pt x="412" y="276"/>
                </a:lnTo>
                <a:lnTo>
                  <a:pt x="420" y="245"/>
                </a:lnTo>
                <a:lnTo>
                  <a:pt x="423" y="212"/>
                </a:lnTo>
              </a:path>
            </a:pathLst>
          </a:custGeom>
          <a:noFill/>
          <a:ln w="269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CA" altLang="en-US"/>
          </a:p>
        </p:txBody>
      </p:sp>
      <p:sp>
        <p:nvSpPr>
          <p:cNvPr id="19480" name="Rectangle 24">
            <a:extLst>
              <a:ext uri="{FF2B5EF4-FFF2-40B4-BE49-F238E27FC236}">
                <a16:creationId xmlns:a16="http://schemas.microsoft.com/office/drawing/2014/main" id="{B55D7A8B-29CB-EFD4-D46A-7FA0AE1C7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5" y="2187575"/>
            <a:ext cx="1008063" cy="6715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9481" name="Rectangle 25">
            <a:extLst>
              <a:ext uri="{FF2B5EF4-FFF2-40B4-BE49-F238E27FC236}">
                <a16:creationId xmlns:a16="http://schemas.microsoft.com/office/drawing/2014/main" id="{AB0D6A26-4338-BC4C-B8B8-3B86C92FB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5" y="2187575"/>
            <a:ext cx="1008063" cy="671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9482" name="Rectangle 26">
            <a:extLst>
              <a:ext uri="{FF2B5EF4-FFF2-40B4-BE49-F238E27FC236}">
                <a16:creationId xmlns:a16="http://schemas.microsoft.com/office/drawing/2014/main" id="{89A6F796-6E90-93CF-30D0-E99A139B7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300" y="2278063"/>
            <a:ext cx="841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</a:rPr>
              <a:t>$</a:t>
            </a:r>
            <a:endParaRPr lang="en-US" altLang="en-US" b="1"/>
          </a:p>
        </p:txBody>
      </p:sp>
      <p:sp>
        <p:nvSpPr>
          <p:cNvPr id="19483" name="Line 27">
            <a:extLst>
              <a:ext uri="{FF2B5EF4-FFF2-40B4-BE49-F238E27FC236}">
                <a16:creationId xmlns:a16="http://schemas.microsoft.com/office/drawing/2014/main" id="{637F8D28-9BC4-BB4C-7E1D-61BF71EEB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2100" y="2859088"/>
            <a:ext cx="1588" cy="336550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4" name="Line 28">
            <a:extLst>
              <a:ext uri="{FF2B5EF4-FFF2-40B4-BE49-F238E27FC236}">
                <a16:creationId xmlns:a16="http://schemas.microsoft.com/office/drawing/2014/main" id="{C0D46EFD-2675-77FD-F85C-468F1B24D0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2100" y="2020888"/>
            <a:ext cx="1588" cy="1666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5" name="Freeform 29">
            <a:extLst>
              <a:ext uri="{FF2B5EF4-FFF2-40B4-BE49-F238E27FC236}">
                <a16:creationId xmlns:a16="http://schemas.microsoft.com/office/drawing/2014/main" id="{BB98CD08-195F-28E8-F20A-95D54B2ACBF1}"/>
              </a:ext>
            </a:extLst>
          </p:cNvPr>
          <p:cNvSpPr>
            <a:spLocks/>
          </p:cNvSpPr>
          <p:nvPr/>
        </p:nvSpPr>
        <p:spPr bwMode="auto">
          <a:xfrm>
            <a:off x="6305550" y="1349375"/>
            <a:ext cx="673100" cy="671513"/>
          </a:xfrm>
          <a:custGeom>
            <a:avLst/>
            <a:gdLst>
              <a:gd name="T0" fmla="*/ 2147483647 w 424"/>
              <a:gd name="T1" fmla="*/ 2147483647 h 423"/>
              <a:gd name="T2" fmla="*/ 2147483647 w 424"/>
              <a:gd name="T3" fmla="*/ 2147483647 h 423"/>
              <a:gd name="T4" fmla="*/ 2147483647 w 424"/>
              <a:gd name="T5" fmla="*/ 2147483647 h 423"/>
              <a:gd name="T6" fmla="*/ 2147483647 w 424"/>
              <a:gd name="T7" fmla="*/ 2147483647 h 423"/>
              <a:gd name="T8" fmla="*/ 2147483647 w 424"/>
              <a:gd name="T9" fmla="*/ 2147483647 h 423"/>
              <a:gd name="T10" fmla="*/ 2147483647 w 424"/>
              <a:gd name="T11" fmla="*/ 2147483647 h 423"/>
              <a:gd name="T12" fmla="*/ 2147483647 w 424"/>
              <a:gd name="T13" fmla="*/ 2147483647 h 423"/>
              <a:gd name="T14" fmla="*/ 2147483647 w 424"/>
              <a:gd name="T15" fmla="*/ 2147483647 h 423"/>
              <a:gd name="T16" fmla="*/ 2147483647 w 424"/>
              <a:gd name="T17" fmla="*/ 2147483647 h 423"/>
              <a:gd name="T18" fmla="*/ 2147483647 w 424"/>
              <a:gd name="T19" fmla="*/ 2147483647 h 423"/>
              <a:gd name="T20" fmla="*/ 2147483647 w 424"/>
              <a:gd name="T21" fmla="*/ 2147483647 h 423"/>
              <a:gd name="T22" fmla="*/ 2147483647 w 424"/>
              <a:gd name="T23" fmla="*/ 2147483647 h 423"/>
              <a:gd name="T24" fmla="*/ 2147483647 w 424"/>
              <a:gd name="T25" fmla="*/ 2147483647 h 423"/>
              <a:gd name="T26" fmla="*/ 2147483647 w 424"/>
              <a:gd name="T27" fmla="*/ 2147483647 h 423"/>
              <a:gd name="T28" fmla="*/ 2147483647 w 424"/>
              <a:gd name="T29" fmla="*/ 2147483647 h 423"/>
              <a:gd name="T30" fmla="*/ 2147483647 w 424"/>
              <a:gd name="T31" fmla="*/ 2147483647 h 423"/>
              <a:gd name="T32" fmla="*/ 2147483647 w 424"/>
              <a:gd name="T33" fmla="*/ 2147483647 h 423"/>
              <a:gd name="T34" fmla="*/ 2147483647 w 424"/>
              <a:gd name="T35" fmla="*/ 2147483647 h 423"/>
              <a:gd name="T36" fmla="*/ 2147483647 w 424"/>
              <a:gd name="T37" fmla="*/ 2147483647 h 423"/>
              <a:gd name="T38" fmla="*/ 2147483647 w 424"/>
              <a:gd name="T39" fmla="*/ 2147483647 h 423"/>
              <a:gd name="T40" fmla="*/ 0 w 424"/>
              <a:gd name="T41" fmla="*/ 2147483647 h 423"/>
              <a:gd name="T42" fmla="*/ 2147483647 w 424"/>
              <a:gd name="T43" fmla="*/ 2147483647 h 423"/>
              <a:gd name="T44" fmla="*/ 2147483647 w 424"/>
              <a:gd name="T45" fmla="*/ 2147483647 h 423"/>
              <a:gd name="T46" fmla="*/ 2147483647 w 424"/>
              <a:gd name="T47" fmla="*/ 2147483647 h 423"/>
              <a:gd name="T48" fmla="*/ 2147483647 w 424"/>
              <a:gd name="T49" fmla="*/ 2147483647 h 423"/>
              <a:gd name="T50" fmla="*/ 2147483647 w 424"/>
              <a:gd name="T51" fmla="*/ 2147483647 h 423"/>
              <a:gd name="T52" fmla="*/ 2147483647 w 424"/>
              <a:gd name="T53" fmla="*/ 2147483647 h 423"/>
              <a:gd name="T54" fmla="*/ 2147483647 w 424"/>
              <a:gd name="T55" fmla="*/ 2147483647 h 423"/>
              <a:gd name="T56" fmla="*/ 2147483647 w 424"/>
              <a:gd name="T57" fmla="*/ 2147483647 h 423"/>
              <a:gd name="T58" fmla="*/ 2147483647 w 424"/>
              <a:gd name="T59" fmla="*/ 2147483647 h 423"/>
              <a:gd name="T60" fmla="*/ 2147483647 w 424"/>
              <a:gd name="T61" fmla="*/ 0 h 423"/>
              <a:gd name="T62" fmla="*/ 2147483647 w 424"/>
              <a:gd name="T63" fmla="*/ 2147483647 h 423"/>
              <a:gd name="T64" fmla="*/ 2147483647 w 424"/>
              <a:gd name="T65" fmla="*/ 2147483647 h 423"/>
              <a:gd name="T66" fmla="*/ 2147483647 w 424"/>
              <a:gd name="T67" fmla="*/ 2147483647 h 423"/>
              <a:gd name="T68" fmla="*/ 2147483647 w 424"/>
              <a:gd name="T69" fmla="*/ 2147483647 h 423"/>
              <a:gd name="T70" fmla="*/ 2147483647 w 424"/>
              <a:gd name="T71" fmla="*/ 2147483647 h 423"/>
              <a:gd name="T72" fmla="*/ 2147483647 w 424"/>
              <a:gd name="T73" fmla="*/ 2147483647 h 423"/>
              <a:gd name="T74" fmla="*/ 2147483647 w 424"/>
              <a:gd name="T75" fmla="*/ 2147483647 h 423"/>
              <a:gd name="T76" fmla="*/ 2147483647 w 424"/>
              <a:gd name="T77" fmla="*/ 2147483647 h 423"/>
              <a:gd name="T78" fmla="*/ 2147483647 w 424"/>
              <a:gd name="T79" fmla="*/ 2147483647 h 423"/>
              <a:gd name="T80" fmla="*/ 2147483647 w 424"/>
              <a:gd name="T81" fmla="*/ 2147483647 h 423"/>
              <a:gd name="T82" fmla="*/ 2147483647 w 424"/>
              <a:gd name="T83" fmla="*/ 2147483647 h 4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24"/>
              <a:gd name="T127" fmla="*/ 0 h 423"/>
              <a:gd name="T128" fmla="*/ 424 w 424"/>
              <a:gd name="T129" fmla="*/ 423 h 4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24" h="423">
                <a:moveTo>
                  <a:pt x="421" y="209"/>
                </a:moveTo>
                <a:lnTo>
                  <a:pt x="421" y="245"/>
                </a:lnTo>
                <a:lnTo>
                  <a:pt x="412" y="276"/>
                </a:lnTo>
                <a:lnTo>
                  <a:pt x="398" y="307"/>
                </a:lnTo>
                <a:lnTo>
                  <a:pt x="381" y="336"/>
                </a:lnTo>
                <a:lnTo>
                  <a:pt x="362" y="361"/>
                </a:lnTo>
                <a:lnTo>
                  <a:pt x="336" y="381"/>
                </a:lnTo>
                <a:lnTo>
                  <a:pt x="308" y="398"/>
                </a:lnTo>
                <a:lnTo>
                  <a:pt x="280" y="412"/>
                </a:lnTo>
                <a:lnTo>
                  <a:pt x="246" y="420"/>
                </a:lnTo>
                <a:lnTo>
                  <a:pt x="212" y="423"/>
                </a:lnTo>
                <a:lnTo>
                  <a:pt x="178" y="420"/>
                </a:lnTo>
                <a:lnTo>
                  <a:pt x="144" y="412"/>
                </a:lnTo>
                <a:lnTo>
                  <a:pt x="113" y="398"/>
                </a:lnTo>
                <a:lnTo>
                  <a:pt x="88" y="381"/>
                </a:lnTo>
                <a:lnTo>
                  <a:pt x="62" y="361"/>
                </a:lnTo>
                <a:lnTo>
                  <a:pt x="40" y="336"/>
                </a:lnTo>
                <a:lnTo>
                  <a:pt x="23" y="307"/>
                </a:lnTo>
                <a:lnTo>
                  <a:pt x="12" y="276"/>
                </a:lnTo>
                <a:lnTo>
                  <a:pt x="3" y="245"/>
                </a:lnTo>
                <a:lnTo>
                  <a:pt x="0" y="212"/>
                </a:lnTo>
                <a:lnTo>
                  <a:pt x="3" y="178"/>
                </a:lnTo>
                <a:lnTo>
                  <a:pt x="12" y="144"/>
                </a:lnTo>
                <a:lnTo>
                  <a:pt x="23" y="113"/>
                </a:lnTo>
                <a:lnTo>
                  <a:pt x="40" y="85"/>
                </a:lnTo>
                <a:lnTo>
                  <a:pt x="62" y="62"/>
                </a:lnTo>
                <a:lnTo>
                  <a:pt x="88" y="39"/>
                </a:lnTo>
                <a:lnTo>
                  <a:pt x="113" y="22"/>
                </a:lnTo>
                <a:lnTo>
                  <a:pt x="144" y="11"/>
                </a:lnTo>
                <a:lnTo>
                  <a:pt x="178" y="3"/>
                </a:lnTo>
                <a:lnTo>
                  <a:pt x="212" y="0"/>
                </a:lnTo>
                <a:lnTo>
                  <a:pt x="246" y="3"/>
                </a:lnTo>
                <a:lnTo>
                  <a:pt x="280" y="11"/>
                </a:lnTo>
                <a:lnTo>
                  <a:pt x="308" y="22"/>
                </a:lnTo>
                <a:lnTo>
                  <a:pt x="336" y="39"/>
                </a:lnTo>
                <a:lnTo>
                  <a:pt x="362" y="62"/>
                </a:lnTo>
                <a:lnTo>
                  <a:pt x="381" y="85"/>
                </a:lnTo>
                <a:lnTo>
                  <a:pt x="398" y="113"/>
                </a:lnTo>
                <a:lnTo>
                  <a:pt x="412" y="144"/>
                </a:lnTo>
                <a:lnTo>
                  <a:pt x="421" y="178"/>
                </a:lnTo>
                <a:lnTo>
                  <a:pt x="424" y="212"/>
                </a:lnTo>
                <a:lnTo>
                  <a:pt x="421" y="20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CA" altLang="en-US"/>
          </a:p>
        </p:txBody>
      </p:sp>
      <p:sp>
        <p:nvSpPr>
          <p:cNvPr id="19486" name="Freeform 30">
            <a:extLst>
              <a:ext uri="{FF2B5EF4-FFF2-40B4-BE49-F238E27FC236}">
                <a16:creationId xmlns:a16="http://schemas.microsoft.com/office/drawing/2014/main" id="{8DEB8ABC-E3BF-2DD7-E52E-B7C118431E96}"/>
              </a:ext>
            </a:extLst>
          </p:cNvPr>
          <p:cNvSpPr>
            <a:spLocks/>
          </p:cNvSpPr>
          <p:nvPr/>
        </p:nvSpPr>
        <p:spPr bwMode="auto">
          <a:xfrm>
            <a:off x="6305550" y="1349375"/>
            <a:ext cx="673100" cy="671513"/>
          </a:xfrm>
          <a:custGeom>
            <a:avLst/>
            <a:gdLst>
              <a:gd name="T0" fmla="*/ 2147483647 w 424"/>
              <a:gd name="T1" fmla="*/ 2147483647 h 423"/>
              <a:gd name="T2" fmla="*/ 2147483647 w 424"/>
              <a:gd name="T3" fmla="*/ 2147483647 h 423"/>
              <a:gd name="T4" fmla="*/ 2147483647 w 424"/>
              <a:gd name="T5" fmla="*/ 2147483647 h 423"/>
              <a:gd name="T6" fmla="*/ 2147483647 w 424"/>
              <a:gd name="T7" fmla="*/ 2147483647 h 423"/>
              <a:gd name="T8" fmla="*/ 2147483647 w 424"/>
              <a:gd name="T9" fmla="*/ 2147483647 h 423"/>
              <a:gd name="T10" fmla="*/ 2147483647 w 424"/>
              <a:gd name="T11" fmla="*/ 2147483647 h 423"/>
              <a:gd name="T12" fmla="*/ 2147483647 w 424"/>
              <a:gd name="T13" fmla="*/ 2147483647 h 423"/>
              <a:gd name="T14" fmla="*/ 2147483647 w 424"/>
              <a:gd name="T15" fmla="*/ 2147483647 h 423"/>
              <a:gd name="T16" fmla="*/ 2147483647 w 424"/>
              <a:gd name="T17" fmla="*/ 2147483647 h 423"/>
              <a:gd name="T18" fmla="*/ 2147483647 w 424"/>
              <a:gd name="T19" fmla="*/ 2147483647 h 423"/>
              <a:gd name="T20" fmla="*/ 2147483647 w 424"/>
              <a:gd name="T21" fmla="*/ 0 h 423"/>
              <a:gd name="T22" fmla="*/ 2147483647 w 424"/>
              <a:gd name="T23" fmla="*/ 2147483647 h 423"/>
              <a:gd name="T24" fmla="*/ 2147483647 w 424"/>
              <a:gd name="T25" fmla="*/ 2147483647 h 423"/>
              <a:gd name="T26" fmla="*/ 2147483647 w 424"/>
              <a:gd name="T27" fmla="*/ 2147483647 h 423"/>
              <a:gd name="T28" fmla="*/ 2147483647 w 424"/>
              <a:gd name="T29" fmla="*/ 2147483647 h 423"/>
              <a:gd name="T30" fmla="*/ 2147483647 w 424"/>
              <a:gd name="T31" fmla="*/ 2147483647 h 423"/>
              <a:gd name="T32" fmla="*/ 2147483647 w 424"/>
              <a:gd name="T33" fmla="*/ 2147483647 h 423"/>
              <a:gd name="T34" fmla="*/ 2147483647 w 424"/>
              <a:gd name="T35" fmla="*/ 2147483647 h 423"/>
              <a:gd name="T36" fmla="*/ 2147483647 w 424"/>
              <a:gd name="T37" fmla="*/ 2147483647 h 423"/>
              <a:gd name="T38" fmla="*/ 2147483647 w 424"/>
              <a:gd name="T39" fmla="*/ 2147483647 h 423"/>
              <a:gd name="T40" fmla="*/ 0 w 424"/>
              <a:gd name="T41" fmla="*/ 2147483647 h 423"/>
              <a:gd name="T42" fmla="*/ 2147483647 w 424"/>
              <a:gd name="T43" fmla="*/ 2147483647 h 423"/>
              <a:gd name="T44" fmla="*/ 2147483647 w 424"/>
              <a:gd name="T45" fmla="*/ 2147483647 h 423"/>
              <a:gd name="T46" fmla="*/ 2147483647 w 424"/>
              <a:gd name="T47" fmla="*/ 2147483647 h 423"/>
              <a:gd name="T48" fmla="*/ 2147483647 w 424"/>
              <a:gd name="T49" fmla="*/ 2147483647 h 423"/>
              <a:gd name="T50" fmla="*/ 2147483647 w 424"/>
              <a:gd name="T51" fmla="*/ 2147483647 h 423"/>
              <a:gd name="T52" fmla="*/ 2147483647 w 424"/>
              <a:gd name="T53" fmla="*/ 2147483647 h 423"/>
              <a:gd name="T54" fmla="*/ 2147483647 w 424"/>
              <a:gd name="T55" fmla="*/ 2147483647 h 423"/>
              <a:gd name="T56" fmla="*/ 2147483647 w 424"/>
              <a:gd name="T57" fmla="*/ 2147483647 h 423"/>
              <a:gd name="T58" fmla="*/ 2147483647 w 424"/>
              <a:gd name="T59" fmla="*/ 2147483647 h 423"/>
              <a:gd name="T60" fmla="*/ 2147483647 w 424"/>
              <a:gd name="T61" fmla="*/ 2147483647 h 423"/>
              <a:gd name="T62" fmla="*/ 2147483647 w 424"/>
              <a:gd name="T63" fmla="*/ 2147483647 h 423"/>
              <a:gd name="T64" fmla="*/ 2147483647 w 424"/>
              <a:gd name="T65" fmla="*/ 2147483647 h 423"/>
              <a:gd name="T66" fmla="*/ 2147483647 w 424"/>
              <a:gd name="T67" fmla="*/ 2147483647 h 423"/>
              <a:gd name="T68" fmla="*/ 2147483647 w 424"/>
              <a:gd name="T69" fmla="*/ 2147483647 h 423"/>
              <a:gd name="T70" fmla="*/ 2147483647 w 424"/>
              <a:gd name="T71" fmla="*/ 2147483647 h 423"/>
              <a:gd name="T72" fmla="*/ 2147483647 w 424"/>
              <a:gd name="T73" fmla="*/ 2147483647 h 423"/>
              <a:gd name="T74" fmla="*/ 2147483647 w 424"/>
              <a:gd name="T75" fmla="*/ 2147483647 h 423"/>
              <a:gd name="T76" fmla="*/ 2147483647 w 424"/>
              <a:gd name="T77" fmla="*/ 2147483647 h 423"/>
              <a:gd name="T78" fmla="*/ 2147483647 w 424"/>
              <a:gd name="T79" fmla="*/ 2147483647 h 423"/>
              <a:gd name="T80" fmla="*/ 2147483647 w 424"/>
              <a:gd name="T81" fmla="*/ 2147483647 h 423"/>
              <a:gd name="T82" fmla="*/ 2147483647 w 424"/>
              <a:gd name="T83" fmla="*/ 2147483647 h 4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24"/>
              <a:gd name="T127" fmla="*/ 0 h 423"/>
              <a:gd name="T128" fmla="*/ 424 w 424"/>
              <a:gd name="T129" fmla="*/ 423 h 4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24" h="423">
                <a:moveTo>
                  <a:pt x="421" y="209"/>
                </a:moveTo>
                <a:lnTo>
                  <a:pt x="421" y="178"/>
                </a:lnTo>
                <a:lnTo>
                  <a:pt x="412" y="144"/>
                </a:lnTo>
                <a:lnTo>
                  <a:pt x="398" y="113"/>
                </a:lnTo>
                <a:lnTo>
                  <a:pt x="381" y="85"/>
                </a:lnTo>
                <a:lnTo>
                  <a:pt x="362" y="62"/>
                </a:lnTo>
                <a:lnTo>
                  <a:pt x="336" y="39"/>
                </a:lnTo>
                <a:lnTo>
                  <a:pt x="308" y="22"/>
                </a:lnTo>
                <a:lnTo>
                  <a:pt x="280" y="11"/>
                </a:lnTo>
                <a:lnTo>
                  <a:pt x="246" y="3"/>
                </a:lnTo>
                <a:lnTo>
                  <a:pt x="212" y="0"/>
                </a:lnTo>
                <a:lnTo>
                  <a:pt x="178" y="3"/>
                </a:lnTo>
                <a:lnTo>
                  <a:pt x="144" y="11"/>
                </a:lnTo>
                <a:lnTo>
                  <a:pt x="113" y="22"/>
                </a:lnTo>
                <a:lnTo>
                  <a:pt x="88" y="39"/>
                </a:lnTo>
                <a:lnTo>
                  <a:pt x="62" y="62"/>
                </a:lnTo>
                <a:lnTo>
                  <a:pt x="40" y="85"/>
                </a:lnTo>
                <a:lnTo>
                  <a:pt x="23" y="113"/>
                </a:lnTo>
                <a:lnTo>
                  <a:pt x="12" y="144"/>
                </a:lnTo>
                <a:lnTo>
                  <a:pt x="3" y="178"/>
                </a:lnTo>
                <a:lnTo>
                  <a:pt x="0" y="212"/>
                </a:lnTo>
                <a:lnTo>
                  <a:pt x="3" y="245"/>
                </a:lnTo>
                <a:lnTo>
                  <a:pt x="12" y="276"/>
                </a:lnTo>
                <a:lnTo>
                  <a:pt x="23" y="307"/>
                </a:lnTo>
                <a:lnTo>
                  <a:pt x="40" y="336"/>
                </a:lnTo>
                <a:lnTo>
                  <a:pt x="62" y="361"/>
                </a:lnTo>
                <a:lnTo>
                  <a:pt x="88" y="381"/>
                </a:lnTo>
                <a:lnTo>
                  <a:pt x="113" y="398"/>
                </a:lnTo>
                <a:lnTo>
                  <a:pt x="144" y="412"/>
                </a:lnTo>
                <a:lnTo>
                  <a:pt x="178" y="420"/>
                </a:lnTo>
                <a:lnTo>
                  <a:pt x="212" y="423"/>
                </a:lnTo>
                <a:lnTo>
                  <a:pt x="246" y="420"/>
                </a:lnTo>
                <a:lnTo>
                  <a:pt x="280" y="412"/>
                </a:lnTo>
                <a:lnTo>
                  <a:pt x="308" y="398"/>
                </a:lnTo>
                <a:lnTo>
                  <a:pt x="336" y="381"/>
                </a:lnTo>
                <a:lnTo>
                  <a:pt x="362" y="361"/>
                </a:lnTo>
                <a:lnTo>
                  <a:pt x="381" y="336"/>
                </a:lnTo>
                <a:lnTo>
                  <a:pt x="398" y="307"/>
                </a:lnTo>
                <a:lnTo>
                  <a:pt x="412" y="276"/>
                </a:lnTo>
                <a:lnTo>
                  <a:pt x="421" y="245"/>
                </a:lnTo>
                <a:lnTo>
                  <a:pt x="424" y="212"/>
                </a:lnTo>
              </a:path>
            </a:pathLst>
          </a:custGeom>
          <a:noFill/>
          <a:ln w="269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CA" altLang="en-US"/>
          </a:p>
        </p:txBody>
      </p:sp>
      <p:sp>
        <p:nvSpPr>
          <p:cNvPr id="19487" name="Rectangle 31">
            <a:extLst>
              <a:ext uri="{FF2B5EF4-FFF2-40B4-BE49-F238E27FC236}">
                <a16:creationId xmlns:a16="http://schemas.microsoft.com/office/drawing/2014/main" id="{6FA1E3CC-3772-DBA1-99A4-061927D16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209800"/>
            <a:ext cx="1008063" cy="6715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9488" name="Rectangle 32">
            <a:extLst>
              <a:ext uri="{FF2B5EF4-FFF2-40B4-BE49-F238E27FC236}">
                <a16:creationId xmlns:a16="http://schemas.microsoft.com/office/drawing/2014/main" id="{0CF67CF3-B72A-CA4F-EAF7-196E33038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5688" y="2187575"/>
            <a:ext cx="1008062" cy="671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9489" name="Rectangle 33">
            <a:extLst>
              <a:ext uri="{FF2B5EF4-FFF2-40B4-BE49-F238E27FC236}">
                <a16:creationId xmlns:a16="http://schemas.microsoft.com/office/drawing/2014/main" id="{C4742DFE-403D-EEFF-9A20-CCA1BEE0D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2251075"/>
            <a:ext cx="8413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</a:rPr>
              <a:t>$</a:t>
            </a:r>
            <a:endParaRPr lang="en-US" altLang="en-US" b="1"/>
          </a:p>
        </p:txBody>
      </p:sp>
      <p:sp>
        <p:nvSpPr>
          <p:cNvPr id="19490" name="Rectangle 34">
            <a:extLst>
              <a:ext uri="{FF2B5EF4-FFF2-40B4-BE49-F238E27FC236}">
                <a16:creationId xmlns:a16="http://schemas.microsoft.com/office/drawing/2014/main" id="{E35E8C7F-CD7F-CD6E-67DD-4559274ED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563" y="1582738"/>
            <a:ext cx="1016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</a:rPr>
              <a:t>P</a:t>
            </a:r>
            <a:endParaRPr lang="en-US" altLang="en-US" b="1"/>
          </a:p>
        </p:txBody>
      </p:sp>
      <p:sp>
        <p:nvSpPr>
          <p:cNvPr id="19491" name="Rectangle 35">
            <a:extLst>
              <a:ext uri="{FF2B5EF4-FFF2-40B4-BE49-F238E27FC236}">
                <a16:creationId xmlns:a16="http://schemas.microsoft.com/office/drawing/2014/main" id="{4D5DB72D-9EBF-3399-2B9F-FEF9E36DF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763" y="1646238"/>
            <a:ext cx="698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rgbClr val="000000"/>
                </a:solidFill>
              </a:rPr>
              <a:t>2</a:t>
            </a:r>
            <a:endParaRPr lang="en-US" altLang="en-US" b="1"/>
          </a:p>
        </p:txBody>
      </p:sp>
      <p:sp>
        <p:nvSpPr>
          <p:cNvPr id="19492" name="Rectangle 36">
            <a:extLst>
              <a:ext uri="{FF2B5EF4-FFF2-40B4-BE49-F238E27FC236}">
                <a16:creationId xmlns:a16="http://schemas.microsoft.com/office/drawing/2014/main" id="{CEE6D312-0CCD-CE39-3859-DE30492F8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150" y="1597025"/>
            <a:ext cx="1016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</a:rPr>
              <a:t>P</a:t>
            </a:r>
            <a:endParaRPr lang="en-US" altLang="en-US" b="1"/>
          </a:p>
        </p:txBody>
      </p:sp>
      <p:sp>
        <p:nvSpPr>
          <p:cNvPr id="19493" name="Rectangle 37">
            <a:extLst>
              <a:ext uri="{FF2B5EF4-FFF2-40B4-BE49-F238E27FC236}">
                <a16:creationId xmlns:a16="http://schemas.microsoft.com/office/drawing/2014/main" id="{D87E7BC7-2E3C-6193-C30E-511184AA0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588" y="1658938"/>
            <a:ext cx="698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rgbClr val="000000"/>
                </a:solidFill>
              </a:rPr>
              <a:t>3</a:t>
            </a:r>
            <a:endParaRPr lang="en-US" altLang="en-US" b="1"/>
          </a:p>
        </p:txBody>
      </p:sp>
      <p:sp>
        <p:nvSpPr>
          <p:cNvPr id="31782" name="Freeform 38">
            <a:extLst>
              <a:ext uri="{FF2B5EF4-FFF2-40B4-BE49-F238E27FC236}">
                <a16:creationId xmlns:a16="http://schemas.microsoft.com/office/drawing/2014/main" id="{4F590AFC-CD10-BFC5-ECD4-5C72683ABD95}"/>
              </a:ext>
            </a:extLst>
          </p:cNvPr>
          <p:cNvSpPr>
            <a:spLocks/>
          </p:cNvSpPr>
          <p:nvPr/>
        </p:nvSpPr>
        <p:spPr bwMode="auto">
          <a:xfrm>
            <a:off x="2043113" y="2738438"/>
            <a:ext cx="80962" cy="142875"/>
          </a:xfrm>
          <a:custGeom>
            <a:avLst/>
            <a:gdLst>
              <a:gd name="T0" fmla="*/ 2147483647 w 51"/>
              <a:gd name="T1" fmla="*/ 2147483647 h 90"/>
              <a:gd name="T2" fmla="*/ 0 w 51"/>
              <a:gd name="T3" fmla="*/ 2147483647 h 90"/>
              <a:gd name="T4" fmla="*/ 2147483647 w 51"/>
              <a:gd name="T5" fmla="*/ 0 h 90"/>
              <a:gd name="T6" fmla="*/ 2147483647 w 51"/>
              <a:gd name="T7" fmla="*/ 2147483647 h 90"/>
              <a:gd name="T8" fmla="*/ 2147483647 w 51"/>
              <a:gd name="T9" fmla="*/ 2147483647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"/>
              <a:gd name="T16" fmla="*/ 0 h 90"/>
              <a:gd name="T17" fmla="*/ 51 w 51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" h="90">
                <a:moveTo>
                  <a:pt x="23" y="87"/>
                </a:moveTo>
                <a:lnTo>
                  <a:pt x="0" y="90"/>
                </a:lnTo>
                <a:lnTo>
                  <a:pt x="20" y="0"/>
                </a:lnTo>
                <a:lnTo>
                  <a:pt x="51" y="87"/>
                </a:lnTo>
                <a:lnTo>
                  <a:pt x="26" y="87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CA" altLang="en-US"/>
          </a:p>
        </p:txBody>
      </p:sp>
      <p:sp>
        <p:nvSpPr>
          <p:cNvPr id="31783" name="Freeform 39">
            <a:extLst>
              <a:ext uri="{FF2B5EF4-FFF2-40B4-BE49-F238E27FC236}">
                <a16:creationId xmlns:a16="http://schemas.microsoft.com/office/drawing/2014/main" id="{0C3A9837-662A-DC8B-DBA4-2C8BA7C2CD6C}"/>
              </a:ext>
            </a:extLst>
          </p:cNvPr>
          <p:cNvSpPr>
            <a:spLocks/>
          </p:cNvSpPr>
          <p:nvPr/>
        </p:nvSpPr>
        <p:spPr bwMode="auto">
          <a:xfrm>
            <a:off x="2043113" y="2738438"/>
            <a:ext cx="80962" cy="142875"/>
          </a:xfrm>
          <a:custGeom>
            <a:avLst/>
            <a:gdLst>
              <a:gd name="T0" fmla="*/ 2147483647 w 51"/>
              <a:gd name="T1" fmla="*/ 2147483647 h 90"/>
              <a:gd name="T2" fmla="*/ 0 w 51"/>
              <a:gd name="T3" fmla="*/ 2147483647 h 90"/>
              <a:gd name="T4" fmla="*/ 2147483647 w 51"/>
              <a:gd name="T5" fmla="*/ 0 h 90"/>
              <a:gd name="T6" fmla="*/ 2147483647 w 51"/>
              <a:gd name="T7" fmla="*/ 2147483647 h 90"/>
              <a:gd name="T8" fmla="*/ 2147483647 w 51"/>
              <a:gd name="T9" fmla="*/ 2147483647 h 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"/>
              <a:gd name="T16" fmla="*/ 0 h 90"/>
              <a:gd name="T17" fmla="*/ 51 w 51"/>
              <a:gd name="T18" fmla="*/ 90 h 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" h="90">
                <a:moveTo>
                  <a:pt x="23" y="87"/>
                </a:moveTo>
                <a:lnTo>
                  <a:pt x="0" y="90"/>
                </a:lnTo>
                <a:lnTo>
                  <a:pt x="20" y="0"/>
                </a:lnTo>
                <a:lnTo>
                  <a:pt x="51" y="87"/>
                </a:lnTo>
                <a:lnTo>
                  <a:pt x="23" y="8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CA" altLang="en-US"/>
          </a:p>
        </p:txBody>
      </p:sp>
      <p:grpSp>
        <p:nvGrpSpPr>
          <p:cNvPr id="2" name="Group 41">
            <a:extLst>
              <a:ext uri="{FF2B5EF4-FFF2-40B4-BE49-F238E27FC236}">
                <a16:creationId xmlns:a16="http://schemas.microsoft.com/office/drawing/2014/main" id="{F4F6F20C-7AE5-C545-9A51-4A7B7A08B8BA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828800"/>
            <a:ext cx="528638" cy="1244600"/>
            <a:chOff x="2888" y="1155"/>
            <a:chExt cx="333" cy="784"/>
          </a:xfrm>
        </p:grpSpPr>
        <p:sp>
          <p:nvSpPr>
            <p:cNvPr id="19540" name="Freeform 42">
              <a:extLst>
                <a:ext uri="{FF2B5EF4-FFF2-40B4-BE49-F238E27FC236}">
                  <a16:creationId xmlns:a16="http://schemas.microsoft.com/office/drawing/2014/main" id="{C66C2617-70FA-EB06-FD25-D4128A891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1361"/>
              <a:ext cx="211" cy="211"/>
            </a:xfrm>
            <a:custGeom>
              <a:avLst/>
              <a:gdLst>
                <a:gd name="T0" fmla="*/ 211 w 211"/>
                <a:gd name="T1" fmla="*/ 104 h 211"/>
                <a:gd name="T2" fmla="*/ 211 w 211"/>
                <a:gd name="T3" fmla="*/ 124 h 211"/>
                <a:gd name="T4" fmla="*/ 206 w 211"/>
                <a:gd name="T5" fmla="*/ 141 h 211"/>
                <a:gd name="T6" fmla="*/ 200 w 211"/>
                <a:gd name="T7" fmla="*/ 155 h 211"/>
                <a:gd name="T8" fmla="*/ 192 w 211"/>
                <a:gd name="T9" fmla="*/ 169 h 211"/>
                <a:gd name="T10" fmla="*/ 180 w 211"/>
                <a:gd name="T11" fmla="*/ 180 h 211"/>
                <a:gd name="T12" fmla="*/ 169 w 211"/>
                <a:gd name="T13" fmla="*/ 192 h 211"/>
                <a:gd name="T14" fmla="*/ 155 w 211"/>
                <a:gd name="T15" fmla="*/ 200 h 211"/>
                <a:gd name="T16" fmla="*/ 141 w 211"/>
                <a:gd name="T17" fmla="*/ 206 h 211"/>
                <a:gd name="T18" fmla="*/ 124 w 211"/>
                <a:gd name="T19" fmla="*/ 211 h 211"/>
                <a:gd name="T20" fmla="*/ 107 w 211"/>
                <a:gd name="T21" fmla="*/ 211 h 211"/>
                <a:gd name="T22" fmla="*/ 90 w 211"/>
                <a:gd name="T23" fmla="*/ 211 h 211"/>
                <a:gd name="T24" fmla="*/ 73 w 211"/>
                <a:gd name="T25" fmla="*/ 206 h 211"/>
                <a:gd name="T26" fmla="*/ 59 w 211"/>
                <a:gd name="T27" fmla="*/ 200 h 211"/>
                <a:gd name="T28" fmla="*/ 45 w 211"/>
                <a:gd name="T29" fmla="*/ 192 h 211"/>
                <a:gd name="T30" fmla="*/ 31 w 211"/>
                <a:gd name="T31" fmla="*/ 180 h 211"/>
                <a:gd name="T32" fmla="*/ 22 w 211"/>
                <a:gd name="T33" fmla="*/ 169 h 211"/>
                <a:gd name="T34" fmla="*/ 14 w 211"/>
                <a:gd name="T35" fmla="*/ 155 h 211"/>
                <a:gd name="T36" fmla="*/ 5 w 211"/>
                <a:gd name="T37" fmla="*/ 141 h 211"/>
                <a:gd name="T38" fmla="*/ 2 w 211"/>
                <a:gd name="T39" fmla="*/ 124 h 211"/>
                <a:gd name="T40" fmla="*/ 0 w 211"/>
                <a:gd name="T41" fmla="*/ 107 h 211"/>
                <a:gd name="T42" fmla="*/ 2 w 211"/>
                <a:gd name="T43" fmla="*/ 90 h 211"/>
                <a:gd name="T44" fmla="*/ 5 w 211"/>
                <a:gd name="T45" fmla="*/ 73 h 211"/>
                <a:gd name="T46" fmla="*/ 14 w 211"/>
                <a:gd name="T47" fmla="*/ 59 h 211"/>
                <a:gd name="T48" fmla="*/ 22 w 211"/>
                <a:gd name="T49" fmla="*/ 45 h 211"/>
                <a:gd name="T50" fmla="*/ 31 w 211"/>
                <a:gd name="T51" fmla="*/ 31 h 211"/>
                <a:gd name="T52" fmla="*/ 45 w 211"/>
                <a:gd name="T53" fmla="*/ 19 h 211"/>
                <a:gd name="T54" fmla="*/ 59 w 211"/>
                <a:gd name="T55" fmla="*/ 11 h 211"/>
                <a:gd name="T56" fmla="*/ 73 w 211"/>
                <a:gd name="T57" fmla="*/ 5 h 211"/>
                <a:gd name="T58" fmla="*/ 90 w 211"/>
                <a:gd name="T59" fmla="*/ 3 h 211"/>
                <a:gd name="T60" fmla="*/ 107 w 211"/>
                <a:gd name="T61" fmla="*/ 0 h 211"/>
                <a:gd name="T62" fmla="*/ 124 w 211"/>
                <a:gd name="T63" fmla="*/ 3 h 211"/>
                <a:gd name="T64" fmla="*/ 141 w 211"/>
                <a:gd name="T65" fmla="*/ 5 h 211"/>
                <a:gd name="T66" fmla="*/ 155 w 211"/>
                <a:gd name="T67" fmla="*/ 11 h 211"/>
                <a:gd name="T68" fmla="*/ 169 w 211"/>
                <a:gd name="T69" fmla="*/ 19 h 211"/>
                <a:gd name="T70" fmla="*/ 180 w 211"/>
                <a:gd name="T71" fmla="*/ 31 h 211"/>
                <a:gd name="T72" fmla="*/ 192 w 211"/>
                <a:gd name="T73" fmla="*/ 45 h 211"/>
                <a:gd name="T74" fmla="*/ 200 w 211"/>
                <a:gd name="T75" fmla="*/ 59 h 211"/>
                <a:gd name="T76" fmla="*/ 206 w 211"/>
                <a:gd name="T77" fmla="*/ 73 h 211"/>
                <a:gd name="T78" fmla="*/ 211 w 211"/>
                <a:gd name="T79" fmla="*/ 90 h 211"/>
                <a:gd name="T80" fmla="*/ 211 w 211"/>
                <a:gd name="T81" fmla="*/ 107 h 211"/>
                <a:gd name="T82" fmla="*/ 211 w 211"/>
                <a:gd name="T83" fmla="*/ 104 h 21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1"/>
                <a:gd name="T127" fmla="*/ 0 h 211"/>
                <a:gd name="T128" fmla="*/ 211 w 211"/>
                <a:gd name="T129" fmla="*/ 211 h 211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1" h="211">
                  <a:moveTo>
                    <a:pt x="211" y="104"/>
                  </a:moveTo>
                  <a:lnTo>
                    <a:pt x="211" y="124"/>
                  </a:lnTo>
                  <a:lnTo>
                    <a:pt x="206" y="141"/>
                  </a:lnTo>
                  <a:lnTo>
                    <a:pt x="200" y="155"/>
                  </a:lnTo>
                  <a:lnTo>
                    <a:pt x="192" y="169"/>
                  </a:lnTo>
                  <a:lnTo>
                    <a:pt x="180" y="180"/>
                  </a:lnTo>
                  <a:lnTo>
                    <a:pt x="169" y="192"/>
                  </a:lnTo>
                  <a:lnTo>
                    <a:pt x="155" y="200"/>
                  </a:lnTo>
                  <a:lnTo>
                    <a:pt x="141" y="206"/>
                  </a:lnTo>
                  <a:lnTo>
                    <a:pt x="124" y="211"/>
                  </a:lnTo>
                  <a:lnTo>
                    <a:pt x="107" y="211"/>
                  </a:lnTo>
                  <a:lnTo>
                    <a:pt x="90" y="211"/>
                  </a:lnTo>
                  <a:lnTo>
                    <a:pt x="73" y="206"/>
                  </a:lnTo>
                  <a:lnTo>
                    <a:pt x="59" y="200"/>
                  </a:lnTo>
                  <a:lnTo>
                    <a:pt x="45" y="192"/>
                  </a:lnTo>
                  <a:lnTo>
                    <a:pt x="31" y="180"/>
                  </a:lnTo>
                  <a:lnTo>
                    <a:pt x="22" y="169"/>
                  </a:lnTo>
                  <a:lnTo>
                    <a:pt x="14" y="155"/>
                  </a:lnTo>
                  <a:lnTo>
                    <a:pt x="5" y="141"/>
                  </a:lnTo>
                  <a:lnTo>
                    <a:pt x="2" y="124"/>
                  </a:lnTo>
                  <a:lnTo>
                    <a:pt x="0" y="107"/>
                  </a:lnTo>
                  <a:lnTo>
                    <a:pt x="2" y="90"/>
                  </a:lnTo>
                  <a:lnTo>
                    <a:pt x="5" y="73"/>
                  </a:lnTo>
                  <a:lnTo>
                    <a:pt x="14" y="59"/>
                  </a:lnTo>
                  <a:lnTo>
                    <a:pt x="22" y="45"/>
                  </a:lnTo>
                  <a:lnTo>
                    <a:pt x="31" y="31"/>
                  </a:lnTo>
                  <a:lnTo>
                    <a:pt x="45" y="19"/>
                  </a:lnTo>
                  <a:lnTo>
                    <a:pt x="59" y="11"/>
                  </a:lnTo>
                  <a:lnTo>
                    <a:pt x="73" y="5"/>
                  </a:lnTo>
                  <a:lnTo>
                    <a:pt x="90" y="3"/>
                  </a:lnTo>
                  <a:lnTo>
                    <a:pt x="107" y="0"/>
                  </a:lnTo>
                  <a:lnTo>
                    <a:pt x="124" y="3"/>
                  </a:lnTo>
                  <a:lnTo>
                    <a:pt x="141" y="5"/>
                  </a:lnTo>
                  <a:lnTo>
                    <a:pt x="155" y="11"/>
                  </a:lnTo>
                  <a:lnTo>
                    <a:pt x="169" y="19"/>
                  </a:lnTo>
                  <a:lnTo>
                    <a:pt x="180" y="31"/>
                  </a:lnTo>
                  <a:lnTo>
                    <a:pt x="192" y="45"/>
                  </a:lnTo>
                  <a:lnTo>
                    <a:pt x="200" y="59"/>
                  </a:lnTo>
                  <a:lnTo>
                    <a:pt x="206" y="73"/>
                  </a:lnTo>
                  <a:lnTo>
                    <a:pt x="211" y="90"/>
                  </a:lnTo>
                  <a:lnTo>
                    <a:pt x="211" y="107"/>
                  </a:lnTo>
                  <a:lnTo>
                    <a:pt x="211" y="104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CA" altLang="en-US"/>
            </a:p>
          </p:txBody>
        </p:sp>
        <p:sp>
          <p:nvSpPr>
            <p:cNvPr id="19541" name="Freeform 43">
              <a:extLst>
                <a:ext uri="{FF2B5EF4-FFF2-40B4-BE49-F238E27FC236}">
                  <a16:creationId xmlns:a16="http://schemas.microsoft.com/office/drawing/2014/main" id="{DDD86405-9747-731C-DDF2-E2F8D9AA4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1361"/>
              <a:ext cx="211" cy="211"/>
            </a:xfrm>
            <a:custGeom>
              <a:avLst/>
              <a:gdLst>
                <a:gd name="T0" fmla="*/ 211 w 211"/>
                <a:gd name="T1" fmla="*/ 104 h 211"/>
                <a:gd name="T2" fmla="*/ 211 w 211"/>
                <a:gd name="T3" fmla="*/ 90 h 211"/>
                <a:gd name="T4" fmla="*/ 206 w 211"/>
                <a:gd name="T5" fmla="*/ 73 h 211"/>
                <a:gd name="T6" fmla="*/ 200 w 211"/>
                <a:gd name="T7" fmla="*/ 59 h 211"/>
                <a:gd name="T8" fmla="*/ 192 w 211"/>
                <a:gd name="T9" fmla="*/ 45 h 211"/>
                <a:gd name="T10" fmla="*/ 180 w 211"/>
                <a:gd name="T11" fmla="*/ 31 h 211"/>
                <a:gd name="T12" fmla="*/ 169 w 211"/>
                <a:gd name="T13" fmla="*/ 19 h 211"/>
                <a:gd name="T14" fmla="*/ 155 w 211"/>
                <a:gd name="T15" fmla="*/ 11 h 211"/>
                <a:gd name="T16" fmla="*/ 141 w 211"/>
                <a:gd name="T17" fmla="*/ 5 h 211"/>
                <a:gd name="T18" fmla="*/ 124 w 211"/>
                <a:gd name="T19" fmla="*/ 3 h 211"/>
                <a:gd name="T20" fmla="*/ 107 w 211"/>
                <a:gd name="T21" fmla="*/ 0 h 211"/>
                <a:gd name="T22" fmla="*/ 90 w 211"/>
                <a:gd name="T23" fmla="*/ 3 h 211"/>
                <a:gd name="T24" fmla="*/ 73 w 211"/>
                <a:gd name="T25" fmla="*/ 5 h 211"/>
                <a:gd name="T26" fmla="*/ 59 w 211"/>
                <a:gd name="T27" fmla="*/ 11 h 211"/>
                <a:gd name="T28" fmla="*/ 45 w 211"/>
                <a:gd name="T29" fmla="*/ 19 h 211"/>
                <a:gd name="T30" fmla="*/ 31 w 211"/>
                <a:gd name="T31" fmla="*/ 31 h 211"/>
                <a:gd name="T32" fmla="*/ 22 w 211"/>
                <a:gd name="T33" fmla="*/ 45 h 211"/>
                <a:gd name="T34" fmla="*/ 14 w 211"/>
                <a:gd name="T35" fmla="*/ 59 h 211"/>
                <a:gd name="T36" fmla="*/ 5 w 211"/>
                <a:gd name="T37" fmla="*/ 73 h 211"/>
                <a:gd name="T38" fmla="*/ 2 w 211"/>
                <a:gd name="T39" fmla="*/ 90 h 211"/>
                <a:gd name="T40" fmla="*/ 0 w 211"/>
                <a:gd name="T41" fmla="*/ 107 h 211"/>
                <a:gd name="T42" fmla="*/ 2 w 211"/>
                <a:gd name="T43" fmla="*/ 124 h 211"/>
                <a:gd name="T44" fmla="*/ 5 w 211"/>
                <a:gd name="T45" fmla="*/ 141 h 211"/>
                <a:gd name="T46" fmla="*/ 14 w 211"/>
                <a:gd name="T47" fmla="*/ 155 h 211"/>
                <a:gd name="T48" fmla="*/ 22 w 211"/>
                <a:gd name="T49" fmla="*/ 169 h 211"/>
                <a:gd name="T50" fmla="*/ 31 w 211"/>
                <a:gd name="T51" fmla="*/ 180 h 211"/>
                <a:gd name="T52" fmla="*/ 45 w 211"/>
                <a:gd name="T53" fmla="*/ 192 h 211"/>
                <a:gd name="T54" fmla="*/ 59 w 211"/>
                <a:gd name="T55" fmla="*/ 200 h 211"/>
                <a:gd name="T56" fmla="*/ 73 w 211"/>
                <a:gd name="T57" fmla="*/ 206 h 211"/>
                <a:gd name="T58" fmla="*/ 90 w 211"/>
                <a:gd name="T59" fmla="*/ 211 h 211"/>
                <a:gd name="T60" fmla="*/ 107 w 211"/>
                <a:gd name="T61" fmla="*/ 211 h 211"/>
                <a:gd name="T62" fmla="*/ 124 w 211"/>
                <a:gd name="T63" fmla="*/ 211 h 211"/>
                <a:gd name="T64" fmla="*/ 141 w 211"/>
                <a:gd name="T65" fmla="*/ 206 h 211"/>
                <a:gd name="T66" fmla="*/ 155 w 211"/>
                <a:gd name="T67" fmla="*/ 200 h 211"/>
                <a:gd name="T68" fmla="*/ 169 w 211"/>
                <a:gd name="T69" fmla="*/ 192 h 211"/>
                <a:gd name="T70" fmla="*/ 180 w 211"/>
                <a:gd name="T71" fmla="*/ 180 h 211"/>
                <a:gd name="T72" fmla="*/ 192 w 211"/>
                <a:gd name="T73" fmla="*/ 169 h 211"/>
                <a:gd name="T74" fmla="*/ 200 w 211"/>
                <a:gd name="T75" fmla="*/ 155 h 211"/>
                <a:gd name="T76" fmla="*/ 206 w 211"/>
                <a:gd name="T77" fmla="*/ 141 h 211"/>
                <a:gd name="T78" fmla="*/ 211 w 211"/>
                <a:gd name="T79" fmla="*/ 124 h 211"/>
                <a:gd name="T80" fmla="*/ 211 w 211"/>
                <a:gd name="T81" fmla="*/ 107 h 211"/>
                <a:gd name="T82" fmla="*/ 211 w 211"/>
                <a:gd name="T83" fmla="*/ 107 h 21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1"/>
                <a:gd name="T127" fmla="*/ 0 h 211"/>
                <a:gd name="T128" fmla="*/ 211 w 211"/>
                <a:gd name="T129" fmla="*/ 211 h 211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1" h="211">
                  <a:moveTo>
                    <a:pt x="211" y="104"/>
                  </a:moveTo>
                  <a:lnTo>
                    <a:pt x="211" y="90"/>
                  </a:lnTo>
                  <a:lnTo>
                    <a:pt x="206" y="73"/>
                  </a:lnTo>
                  <a:lnTo>
                    <a:pt x="200" y="59"/>
                  </a:lnTo>
                  <a:lnTo>
                    <a:pt x="192" y="45"/>
                  </a:lnTo>
                  <a:lnTo>
                    <a:pt x="180" y="31"/>
                  </a:lnTo>
                  <a:lnTo>
                    <a:pt x="169" y="19"/>
                  </a:lnTo>
                  <a:lnTo>
                    <a:pt x="155" y="11"/>
                  </a:lnTo>
                  <a:lnTo>
                    <a:pt x="141" y="5"/>
                  </a:lnTo>
                  <a:lnTo>
                    <a:pt x="124" y="3"/>
                  </a:lnTo>
                  <a:lnTo>
                    <a:pt x="107" y="0"/>
                  </a:lnTo>
                  <a:lnTo>
                    <a:pt x="90" y="3"/>
                  </a:lnTo>
                  <a:lnTo>
                    <a:pt x="73" y="5"/>
                  </a:lnTo>
                  <a:lnTo>
                    <a:pt x="59" y="11"/>
                  </a:lnTo>
                  <a:lnTo>
                    <a:pt x="45" y="19"/>
                  </a:lnTo>
                  <a:lnTo>
                    <a:pt x="31" y="31"/>
                  </a:lnTo>
                  <a:lnTo>
                    <a:pt x="22" y="45"/>
                  </a:lnTo>
                  <a:lnTo>
                    <a:pt x="14" y="59"/>
                  </a:lnTo>
                  <a:lnTo>
                    <a:pt x="5" y="73"/>
                  </a:lnTo>
                  <a:lnTo>
                    <a:pt x="2" y="90"/>
                  </a:lnTo>
                  <a:lnTo>
                    <a:pt x="0" y="107"/>
                  </a:lnTo>
                  <a:lnTo>
                    <a:pt x="2" y="124"/>
                  </a:lnTo>
                  <a:lnTo>
                    <a:pt x="5" y="141"/>
                  </a:lnTo>
                  <a:lnTo>
                    <a:pt x="14" y="155"/>
                  </a:lnTo>
                  <a:lnTo>
                    <a:pt x="22" y="169"/>
                  </a:lnTo>
                  <a:lnTo>
                    <a:pt x="31" y="180"/>
                  </a:lnTo>
                  <a:lnTo>
                    <a:pt x="45" y="192"/>
                  </a:lnTo>
                  <a:lnTo>
                    <a:pt x="59" y="200"/>
                  </a:lnTo>
                  <a:lnTo>
                    <a:pt x="73" y="206"/>
                  </a:lnTo>
                  <a:lnTo>
                    <a:pt x="90" y="211"/>
                  </a:lnTo>
                  <a:lnTo>
                    <a:pt x="107" y="211"/>
                  </a:lnTo>
                  <a:lnTo>
                    <a:pt x="124" y="211"/>
                  </a:lnTo>
                  <a:lnTo>
                    <a:pt x="141" y="206"/>
                  </a:lnTo>
                  <a:lnTo>
                    <a:pt x="155" y="200"/>
                  </a:lnTo>
                  <a:lnTo>
                    <a:pt x="169" y="192"/>
                  </a:lnTo>
                  <a:lnTo>
                    <a:pt x="180" y="180"/>
                  </a:lnTo>
                  <a:lnTo>
                    <a:pt x="192" y="169"/>
                  </a:lnTo>
                  <a:lnTo>
                    <a:pt x="200" y="155"/>
                  </a:lnTo>
                  <a:lnTo>
                    <a:pt x="206" y="141"/>
                  </a:lnTo>
                  <a:lnTo>
                    <a:pt x="211" y="124"/>
                  </a:lnTo>
                  <a:lnTo>
                    <a:pt x="211" y="107"/>
                  </a:lnTo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CA" altLang="en-US"/>
            </a:p>
          </p:txBody>
        </p:sp>
        <p:sp>
          <p:nvSpPr>
            <p:cNvPr id="19542" name="Rectangle 44">
              <a:extLst>
                <a:ext uri="{FF2B5EF4-FFF2-40B4-BE49-F238E27FC236}">
                  <a16:creationId xmlns:a16="http://schemas.microsoft.com/office/drawing/2014/main" id="{476A23DF-5DA5-F1BF-8A7C-26307387E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6" y="1420"/>
              <a:ext cx="53" cy="11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5</a:t>
              </a:r>
              <a:endParaRPr lang="en-US" altLang="en-US" b="1"/>
            </a:p>
          </p:txBody>
        </p:sp>
        <p:sp>
          <p:nvSpPr>
            <p:cNvPr id="19543" name="Freeform 45">
              <a:extLst>
                <a:ext uri="{FF2B5EF4-FFF2-40B4-BE49-F238E27FC236}">
                  <a16:creationId xmlns:a16="http://schemas.microsoft.com/office/drawing/2014/main" id="{A46CFFAF-5C78-F139-1B9F-9D7076A90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8" y="1155"/>
              <a:ext cx="51" cy="90"/>
            </a:xfrm>
            <a:custGeom>
              <a:avLst/>
              <a:gdLst>
                <a:gd name="T0" fmla="*/ 26 w 51"/>
                <a:gd name="T1" fmla="*/ 82 h 90"/>
                <a:gd name="T2" fmla="*/ 3 w 51"/>
                <a:gd name="T3" fmla="*/ 90 h 90"/>
                <a:gd name="T4" fmla="*/ 0 w 51"/>
                <a:gd name="T5" fmla="*/ 0 h 90"/>
                <a:gd name="T6" fmla="*/ 51 w 51"/>
                <a:gd name="T7" fmla="*/ 73 h 90"/>
                <a:gd name="T8" fmla="*/ 28 w 51"/>
                <a:gd name="T9" fmla="*/ 82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"/>
                <a:gd name="T16" fmla="*/ 0 h 90"/>
                <a:gd name="T17" fmla="*/ 51 w 51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" h="90">
                  <a:moveTo>
                    <a:pt x="26" y="82"/>
                  </a:moveTo>
                  <a:lnTo>
                    <a:pt x="3" y="90"/>
                  </a:lnTo>
                  <a:lnTo>
                    <a:pt x="0" y="0"/>
                  </a:lnTo>
                  <a:lnTo>
                    <a:pt x="51" y="73"/>
                  </a:lnTo>
                  <a:lnTo>
                    <a:pt x="28" y="82"/>
                  </a:lnTo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CA" altLang="en-US"/>
            </a:p>
          </p:txBody>
        </p:sp>
        <p:sp>
          <p:nvSpPr>
            <p:cNvPr id="19544" name="Freeform 46">
              <a:extLst>
                <a:ext uri="{FF2B5EF4-FFF2-40B4-BE49-F238E27FC236}">
                  <a16:creationId xmlns:a16="http://schemas.microsoft.com/office/drawing/2014/main" id="{33C4B402-C8E8-479F-08BB-67F3A4CC7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8" y="1155"/>
              <a:ext cx="51" cy="90"/>
            </a:xfrm>
            <a:custGeom>
              <a:avLst/>
              <a:gdLst>
                <a:gd name="T0" fmla="*/ 26 w 51"/>
                <a:gd name="T1" fmla="*/ 82 h 90"/>
                <a:gd name="T2" fmla="*/ 3 w 51"/>
                <a:gd name="T3" fmla="*/ 90 h 90"/>
                <a:gd name="T4" fmla="*/ 0 w 51"/>
                <a:gd name="T5" fmla="*/ 0 h 90"/>
                <a:gd name="T6" fmla="*/ 51 w 51"/>
                <a:gd name="T7" fmla="*/ 73 h 90"/>
                <a:gd name="T8" fmla="*/ 26 w 51"/>
                <a:gd name="T9" fmla="*/ 82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"/>
                <a:gd name="T16" fmla="*/ 0 h 90"/>
                <a:gd name="T17" fmla="*/ 51 w 51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" h="90">
                  <a:moveTo>
                    <a:pt x="26" y="82"/>
                  </a:moveTo>
                  <a:lnTo>
                    <a:pt x="3" y="90"/>
                  </a:lnTo>
                  <a:lnTo>
                    <a:pt x="0" y="0"/>
                  </a:lnTo>
                  <a:lnTo>
                    <a:pt x="51" y="73"/>
                  </a:lnTo>
                  <a:lnTo>
                    <a:pt x="26" y="82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CA" altLang="en-US"/>
            </a:p>
          </p:txBody>
        </p:sp>
        <p:sp>
          <p:nvSpPr>
            <p:cNvPr id="19545" name="Freeform 47">
              <a:extLst>
                <a:ext uri="{FF2B5EF4-FFF2-40B4-BE49-F238E27FC236}">
                  <a16:creationId xmlns:a16="http://schemas.microsoft.com/office/drawing/2014/main" id="{6071CC97-2964-773C-5868-BB0D43055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1239"/>
              <a:ext cx="48" cy="700"/>
            </a:xfrm>
            <a:custGeom>
              <a:avLst/>
              <a:gdLst>
                <a:gd name="T0" fmla="*/ 34 w 48"/>
                <a:gd name="T1" fmla="*/ 700 h 700"/>
                <a:gd name="T2" fmla="*/ 40 w 48"/>
                <a:gd name="T3" fmla="*/ 633 h 700"/>
                <a:gd name="T4" fmla="*/ 43 w 48"/>
                <a:gd name="T5" fmla="*/ 562 h 700"/>
                <a:gd name="T6" fmla="*/ 46 w 48"/>
                <a:gd name="T7" fmla="*/ 491 h 700"/>
                <a:gd name="T8" fmla="*/ 48 w 48"/>
                <a:gd name="T9" fmla="*/ 421 h 700"/>
                <a:gd name="T10" fmla="*/ 48 w 48"/>
                <a:gd name="T11" fmla="*/ 348 h 700"/>
                <a:gd name="T12" fmla="*/ 46 w 48"/>
                <a:gd name="T13" fmla="*/ 277 h 700"/>
                <a:gd name="T14" fmla="*/ 40 w 48"/>
                <a:gd name="T15" fmla="*/ 206 h 700"/>
                <a:gd name="T16" fmla="*/ 31 w 48"/>
                <a:gd name="T17" fmla="*/ 136 h 700"/>
                <a:gd name="T18" fmla="*/ 17 w 48"/>
                <a:gd name="T19" fmla="*/ 68 h 700"/>
                <a:gd name="T20" fmla="*/ 0 w 48"/>
                <a:gd name="T21" fmla="*/ 0 h 7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8"/>
                <a:gd name="T34" fmla="*/ 0 h 700"/>
                <a:gd name="T35" fmla="*/ 48 w 48"/>
                <a:gd name="T36" fmla="*/ 700 h 70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8" h="700">
                  <a:moveTo>
                    <a:pt x="34" y="700"/>
                  </a:moveTo>
                  <a:lnTo>
                    <a:pt x="40" y="633"/>
                  </a:lnTo>
                  <a:lnTo>
                    <a:pt x="43" y="562"/>
                  </a:lnTo>
                  <a:lnTo>
                    <a:pt x="46" y="491"/>
                  </a:lnTo>
                  <a:lnTo>
                    <a:pt x="48" y="421"/>
                  </a:lnTo>
                  <a:lnTo>
                    <a:pt x="48" y="348"/>
                  </a:lnTo>
                  <a:lnTo>
                    <a:pt x="46" y="277"/>
                  </a:lnTo>
                  <a:lnTo>
                    <a:pt x="40" y="206"/>
                  </a:lnTo>
                  <a:lnTo>
                    <a:pt x="31" y="136"/>
                  </a:lnTo>
                  <a:lnTo>
                    <a:pt x="17" y="68"/>
                  </a:lnTo>
                  <a:lnTo>
                    <a:pt x="0" y="0"/>
                  </a:lnTo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CA" altLang="en-US"/>
            </a:p>
          </p:txBody>
        </p:sp>
        <p:sp>
          <p:nvSpPr>
            <p:cNvPr id="19546" name="Rectangle 48">
              <a:extLst>
                <a:ext uri="{FF2B5EF4-FFF2-40B4-BE49-F238E27FC236}">
                  <a16:creationId xmlns:a16="http://schemas.microsoft.com/office/drawing/2014/main" id="{F5540022-977D-FF56-9A71-390E84B4E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7" y="1226"/>
              <a:ext cx="53" cy="11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u</a:t>
              </a:r>
              <a:endParaRPr lang="en-US" altLang="en-US" b="1"/>
            </a:p>
          </p:txBody>
        </p:sp>
        <p:sp>
          <p:nvSpPr>
            <p:cNvPr id="19547" name="Rectangle 49">
              <a:extLst>
                <a:ext uri="{FF2B5EF4-FFF2-40B4-BE49-F238E27FC236}">
                  <a16:creationId xmlns:a16="http://schemas.microsoft.com/office/drawing/2014/main" id="{1B0EF295-5AAD-3C42-5633-C5026E782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8" y="1226"/>
              <a:ext cx="163" cy="11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 = ?</a:t>
              </a:r>
              <a:endParaRPr lang="en-US" altLang="en-US" b="1"/>
            </a:p>
          </p:txBody>
        </p:sp>
      </p:grpSp>
      <p:grpSp>
        <p:nvGrpSpPr>
          <p:cNvPr id="3" name="Group 50">
            <a:extLst>
              <a:ext uri="{FF2B5EF4-FFF2-40B4-BE49-F238E27FC236}">
                <a16:creationId xmlns:a16="http://schemas.microsoft.com/office/drawing/2014/main" id="{0BE35A5C-2EC6-EC58-281B-7E1AB671CAD3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1752600"/>
            <a:ext cx="585788" cy="717550"/>
            <a:chOff x="1496" y="1160"/>
            <a:chExt cx="369" cy="452"/>
          </a:xfrm>
        </p:grpSpPr>
        <p:sp>
          <p:nvSpPr>
            <p:cNvPr id="19532" name="Freeform 51">
              <a:extLst>
                <a:ext uri="{FF2B5EF4-FFF2-40B4-BE49-F238E27FC236}">
                  <a16:creationId xmlns:a16="http://schemas.microsoft.com/office/drawing/2014/main" id="{6D5376D5-835A-7553-F0CC-258D6DB28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" y="1160"/>
              <a:ext cx="71" cy="88"/>
            </a:xfrm>
            <a:custGeom>
              <a:avLst/>
              <a:gdLst>
                <a:gd name="T0" fmla="*/ 51 w 71"/>
                <a:gd name="T1" fmla="*/ 71 h 88"/>
                <a:gd name="T2" fmla="*/ 31 w 71"/>
                <a:gd name="T3" fmla="*/ 88 h 88"/>
                <a:gd name="T4" fmla="*/ 0 w 71"/>
                <a:gd name="T5" fmla="*/ 0 h 88"/>
                <a:gd name="T6" fmla="*/ 71 w 71"/>
                <a:gd name="T7" fmla="*/ 57 h 88"/>
                <a:gd name="T8" fmla="*/ 51 w 71"/>
                <a:gd name="T9" fmla="*/ 71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"/>
                <a:gd name="T16" fmla="*/ 0 h 88"/>
                <a:gd name="T17" fmla="*/ 71 w 71"/>
                <a:gd name="T18" fmla="*/ 88 h 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" h="88">
                  <a:moveTo>
                    <a:pt x="51" y="71"/>
                  </a:moveTo>
                  <a:lnTo>
                    <a:pt x="31" y="88"/>
                  </a:lnTo>
                  <a:lnTo>
                    <a:pt x="0" y="0"/>
                  </a:lnTo>
                  <a:lnTo>
                    <a:pt x="71" y="57"/>
                  </a:lnTo>
                  <a:lnTo>
                    <a:pt x="51" y="71"/>
                  </a:lnTo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CA" altLang="en-US"/>
            </a:p>
          </p:txBody>
        </p:sp>
        <p:sp>
          <p:nvSpPr>
            <p:cNvPr id="19533" name="Freeform 52">
              <a:extLst>
                <a:ext uri="{FF2B5EF4-FFF2-40B4-BE49-F238E27FC236}">
                  <a16:creationId xmlns:a16="http://schemas.microsoft.com/office/drawing/2014/main" id="{5BCDD6F1-59A5-54F2-3725-402B772AB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" y="1160"/>
              <a:ext cx="71" cy="88"/>
            </a:xfrm>
            <a:custGeom>
              <a:avLst/>
              <a:gdLst>
                <a:gd name="T0" fmla="*/ 51 w 71"/>
                <a:gd name="T1" fmla="*/ 71 h 88"/>
                <a:gd name="T2" fmla="*/ 31 w 71"/>
                <a:gd name="T3" fmla="*/ 88 h 88"/>
                <a:gd name="T4" fmla="*/ 0 w 71"/>
                <a:gd name="T5" fmla="*/ 0 h 88"/>
                <a:gd name="T6" fmla="*/ 71 w 71"/>
                <a:gd name="T7" fmla="*/ 57 h 88"/>
                <a:gd name="T8" fmla="*/ 51 w 71"/>
                <a:gd name="T9" fmla="*/ 71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"/>
                <a:gd name="T16" fmla="*/ 0 h 88"/>
                <a:gd name="T17" fmla="*/ 71 w 71"/>
                <a:gd name="T18" fmla="*/ 88 h 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" h="88">
                  <a:moveTo>
                    <a:pt x="51" y="71"/>
                  </a:moveTo>
                  <a:lnTo>
                    <a:pt x="31" y="88"/>
                  </a:lnTo>
                  <a:lnTo>
                    <a:pt x="0" y="0"/>
                  </a:lnTo>
                  <a:lnTo>
                    <a:pt x="71" y="57"/>
                  </a:lnTo>
                  <a:lnTo>
                    <a:pt x="51" y="71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CA" altLang="en-US"/>
            </a:p>
          </p:txBody>
        </p:sp>
        <p:sp>
          <p:nvSpPr>
            <p:cNvPr id="19534" name="Freeform 53">
              <a:extLst>
                <a:ext uri="{FF2B5EF4-FFF2-40B4-BE49-F238E27FC236}">
                  <a16:creationId xmlns:a16="http://schemas.microsoft.com/office/drawing/2014/main" id="{A0203A46-2BB8-5003-739D-A03E9F074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0" y="1234"/>
              <a:ext cx="40" cy="378"/>
            </a:xfrm>
            <a:custGeom>
              <a:avLst/>
              <a:gdLst>
                <a:gd name="T0" fmla="*/ 14 w 40"/>
                <a:gd name="T1" fmla="*/ 378 h 378"/>
                <a:gd name="T2" fmla="*/ 20 w 40"/>
                <a:gd name="T3" fmla="*/ 344 h 378"/>
                <a:gd name="T4" fmla="*/ 25 w 40"/>
                <a:gd name="T5" fmla="*/ 305 h 378"/>
                <a:gd name="T6" fmla="*/ 28 w 40"/>
                <a:gd name="T7" fmla="*/ 265 h 378"/>
                <a:gd name="T8" fmla="*/ 34 w 40"/>
                <a:gd name="T9" fmla="*/ 226 h 378"/>
                <a:gd name="T10" fmla="*/ 37 w 40"/>
                <a:gd name="T11" fmla="*/ 183 h 378"/>
                <a:gd name="T12" fmla="*/ 40 w 40"/>
                <a:gd name="T13" fmla="*/ 144 h 378"/>
                <a:gd name="T14" fmla="*/ 37 w 40"/>
                <a:gd name="T15" fmla="*/ 104 h 378"/>
                <a:gd name="T16" fmla="*/ 28 w 40"/>
                <a:gd name="T17" fmla="*/ 67 h 378"/>
                <a:gd name="T18" fmla="*/ 17 w 40"/>
                <a:gd name="T19" fmla="*/ 34 h 378"/>
                <a:gd name="T20" fmla="*/ 0 w 40"/>
                <a:gd name="T21" fmla="*/ 0 h 37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0"/>
                <a:gd name="T34" fmla="*/ 0 h 378"/>
                <a:gd name="T35" fmla="*/ 40 w 40"/>
                <a:gd name="T36" fmla="*/ 378 h 37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0" h="378">
                  <a:moveTo>
                    <a:pt x="14" y="378"/>
                  </a:moveTo>
                  <a:lnTo>
                    <a:pt x="20" y="344"/>
                  </a:lnTo>
                  <a:lnTo>
                    <a:pt x="25" y="305"/>
                  </a:lnTo>
                  <a:lnTo>
                    <a:pt x="28" y="265"/>
                  </a:lnTo>
                  <a:lnTo>
                    <a:pt x="34" y="226"/>
                  </a:lnTo>
                  <a:lnTo>
                    <a:pt x="37" y="183"/>
                  </a:lnTo>
                  <a:lnTo>
                    <a:pt x="40" y="144"/>
                  </a:lnTo>
                  <a:lnTo>
                    <a:pt x="37" y="104"/>
                  </a:lnTo>
                  <a:lnTo>
                    <a:pt x="28" y="67"/>
                  </a:lnTo>
                  <a:lnTo>
                    <a:pt x="17" y="34"/>
                  </a:lnTo>
                  <a:lnTo>
                    <a:pt x="0" y="0"/>
                  </a:lnTo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CA" altLang="en-US"/>
            </a:p>
          </p:txBody>
        </p:sp>
        <p:sp>
          <p:nvSpPr>
            <p:cNvPr id="19535" name="Freeform 54">
              <a:extLst>
                <a:ext uri="{FF2B5EF4-FFF2-40B4-BE49-F238E27FC236}">
                  <a16:creationId xmlns:a16="http://schemas.microsoft.com/office/drawing/2014/main" id="{9D6B52F3-0919-3ADF-8E03-4E0542ECC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" y="1369"/>
              <a:ext cx="212" cy="212"/>
            </a:xfrm>
            <a:custGeom>
              <a:avLst/>
              <a:gdLst>
                <a:gd name="T0" fmla="*/ 209 w 212"/>
                <a:gd name="T1" fmla="*/ 105 h 212"/>
                <a:gd name="T2" fmla="*/ 209 w 212"/>
                <a:gd name="T3" fmla="*/ 124 h 212"/>
                <a:gd name="T4" fmla="*/ 206 w 212"/>
                <a:gd name="T5" fmla="*/ 141 h 212"/>
                <a:gd name="T6" fmla="*/ 201 w 212"/>
                <a:gd name="T7" fmla="*/ 155 h 212"/>
                <a:gd name="T8" fmla="*/ 192 w 212"/>
                <a:gd name="T9" fmla="*/ 170 h 212"/>
                <a:gd name="T10" fmla="*/ 181 w 212"/>
                <a:gd name="T11" fmla="*/ 181 h 212"/>
                <a:gd name="T12" fmla="*/ 167 w 212"/>
                <a:gd name="T13" fmla="*/ 192 h 212"/>
                <a:gd name="T14" fmla="*/ 156 w 212"/>
                <a:gd name="T15" fmla="*/ 201 h 212"/>
                <a:gd name="T16" fmla="*/ 139 w 212"/>
                <a:gd name="T17" fmla="*/ 206 h 212"/>
                <a:gd name="T18" fmla="*/ 122 w 212"/>
                <a:gd name="T19" fmla="*/ 212 h 212"/>
                <a:gd name="T20" fmla="*/ 105 w 212"/>
                <a:gd name="T21" fmla="*/ 212 h 212"/>
                <a:gd name="T22" fmla="*/ 88 w 212"/>
                <a:gd name="T23" fmla="*/ 212 h 212"/>
                <a:gd name="T24" fmla="*/ 71 w 212"/>
                <a:gd name="T25" fmla="*/ 206 h 212"/>
                <a:gd name="T26" fmla="*/ 57 w 212"/>
                <a:gd name="T27" fmla="*/ 201 h 212"/>
                <a:gd name="T28" fmla="*/ 43 w 212"/>
                <a:gd name="T29" fmla="*/ 192 h 212"/>
                <a:gd name="T30" fmla="*/ 31 w 212"/>
                <a:gd name="T31" fmla="*/ 181 h 212"/>
                <a:gd name="T32" fmla="*/ 20 w 212"/>
                <a:gd name="T33" fmla="*/ 170 h 212"/>
                <a:gd name="T34" fmla="*/ 12 w 212"/>
                <a:gd name="T35" fmla="*/ 155 h 212"/>
                <a:gd name="T36" fmla="*/ 6 w 212"/>
                <a:gd name="T37" fmla="*/ 141 h 212"/>
                <a:gd name="T38" fmla="*/ 0 w 212"/>
                <a:gd name="T39" fmla="*/ 124 h 212"/>
                <a:gd name="T40" fmla="*/ 0 w 212"/>
                <a:gd name="T41" fmla="*/ 107 h 212"/>
                <a:gd name="T42" fmla="*/ 0 w 212"/>
                <a:gd name="T43" fmla="*/ 91 h 212"/>
                <a:gd name="T44" fmla="*/ 6 w 212"/>
                <a:gd name="T45" fmla="*/ 74 h 212"/>
                <a:gd name="T46" fmla="*/ 12 w 212"/>
                <a:gd name="T47" fmla="*/ 59 h 212"/>
                <a:gd name="T48" fmla="*/ 20 w 212"/>
                <a:gd name="T49" fmla="*/ 45 h 212"/>
                <a:gd name="T50" fmla="*/ 31 w 212"/>
                <a:gd name="T51" fmla="*/ 31 h 212"/>
                <a:gd name="T52" fmla="*/ 43 w 212"/>
                <a:gd name="T53" fmla="*/ 20 h 212"/>
                <a:gd name="T54" fmla="*/ 57 w 212"/>
                <a:gd name="T55" fmla="*/ 11 h 212"/>
                <a:gd name="T56" fmla="*/ 71 w 212"/>
                <a:gd name="T57" fmla="*/ 6 h 212"/>
                <a:gd name="T58" fmla="*/ 88 w 212"/>
                <a:gd name="T59" fmla="*/ 3 h 212"/>
                <a:gd name="T60" fmla="*/ 105 w 212"/>
                <a:gd name="T61" fmla="*/ 0 h 212"/>
                <a:gd name="T62" fmla="*/ 122 w 212"/>
                <a:gd name="T63" fmla="*/ 3 h 212"/>
                <a:gd name="T64" fmla="*/ 139 w 212"/>
                <a:gd name="T65" fmla="*/ 6 h 212"/>
                <a:gd name="T66" fmla="*/ 156 w 212"/>
                <a:gd name="T67" fmla="*/ 11 h 212"/>
                <a:gd name="T68" fmla="*/ 167 w 212"/>
                <a:gd name="T69" fmla="*/ 20 h 212"/>
                <a:gd name="T70" fmla="*/ 181 w 212"/>
                <a:gd name="T71" fmla="*/ 31 h 212"/>
                <a:gd name="T72" fmla="*/ 192 w 212"/>
                <a:gd name="T73" fmla="*/ 45 h 212"/>
                <a:gd name="T74" fmla="*/ 201 w 212"/>
                <a:gd name="T75" fmla="*/ 59 h 212"/>
                <a:gd name="T76" fmla="*/ 206 w 212"/>
                <a:gd name="T77" fmla="*/ 74 h 212"/>
                <a:gd name="T78" fmla="*/ 209 w 212"/>
                <a:gd name="T79" fmla="*/ 91 h 212"/>
                <a:gd name="T80" fmla="*/ 212 w 212"/>
                <a:gd name="T81" fmla="*/ 107 h 212"/>
                <a:gd name="T82" fmla="*/ 209 w 212"/>
                <a:gd name="T83" fmla="*/ 105 h 21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2"/>
                <a:gd name="T127" fmla="*/ 0 h 212"/>
                <a:gd name="T128" fmla="*/ 212 w 212"/>
                <a:gd name="T129" fmla="*/ 212 h 21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2" h="212">
                  <a:moveTo>
                    <a:pt x="209" y="105"/>
                  </a:moveTo>
                  <a:lnTo>
                    <a:pt x="209" y="124"/>
                  </a:lnTo>
                  <a:lnTo>
                    <a:pt x="206" y="141"/>
                  </a:lnTo>
                  <a:lnTo>
                    <a:pt x="201" y="155"/>
                  </a:lnTo>
                  <a:lnTo>
                    <a:pt x="192" y="170"/>
                  </a:lnTo>
                  <a:lnTo>
                    <a:pt x="181" y="181"/>
                  </a:lnTo>
                  <a:lnTo>
                    <a:pt x="167" y="192"/>
                  </a:lnTo>
                  <a:lnTo>
                    <a:pt x="156" y="201"/>
                  </a:lnTo>
                  <a:lnTo>
                    <a:pt x="139" y="206"/>
                  </a:lnTo>
                  <a:lnTo>
                    <a:pt x="122" y="212"/>
                  </a:lnTo>
                  <a:lnTo>
                    <a:pt x="105" y="212"/>
                  </a:lnTo>
                  <a:lnTo>
                    <a:pt x="88" y="212"/>
                  </a:lnTo>
                  <a:lnTo>
                    <a:pt x="71" y="206"/>
                  </a:lnTo>
                  <a:lnTo>
                    <a:pt x="57" y="201"/>
                  </a:lnTo>
                  <a:lnTo>
                    <a:pt x="43" y="192"/>
                  </a:lnTo>
                  <a:lnTo>
                    <a:pt x="31" y="181"/>
                  </a:lnTo>
                  <a:lnTo>
                    <a:pt x="20" y="170"/>
                  </a:lnTo>
                  <a:lnTo>
                    <a:pt x="12" y="155"/>
                  </a:lnTo>
                  <a:lnTo>
                    <a:pt x="6" y="141"/>
                  </a:lnTo>
                  <a:lnTo>
                    <a:pt x="0" y="124"/>
                  </a:lnTo>
                  <a:lnTo>
                    <a:pt x="0" y="107"/>
                  </a:lnTo>
                  <a:lnTo>
                    <a:pt x="0" y="91"/>
                  </a:lnTo>
                  <a:lnTo>
                    <a:pt x="6" y="74"/>
                  </a:lnTo>
                  <a:lnTo>
                    <a:pt x="12" y="59"/>
                  </a:lnTo>
                  <a:lnTo>
                    <a:pt x="20" y="45"/>
                  </a:lnTo>
                  <a:lnTo>
                    <a:pt x="31" y="31"/>
                  </a:lnTo>
                  <a:lnTo>
                    <a:pt x="43" y="20"/>
                  </a:lnTo>
                  <a:lnTo>
                    <a:pt x="57" y="11"/>
                  </a:lnTo>
                  <a:lnTo>
                    <a:pt x="71" y="6"/>
                  </a:lnTo>
                  <a:lnTo>
                    <a:pt x="88" y="3"/>
                  </a:lnTo>
                  <a:lnTo>
                    <a:pt x="105" y="0"/>
                  </a:lnTo>
                  <a:lnTo>
                    <a:pt x="122" y="3"/>
                  </a:lnTo>
                  <a:lnTo>
                    <a:pt x="139" y="6"/>
                  </a:lnTo>
                  <a:lnTo>
                    <a:pt x="156" y="11"/>
                  </a:lnTo>
                  <a:lnTo>
                    <a:pt x="167" y="20"/>
                  </a:lnTo>
                  <a:lnTo>
                    <a:pt x="181" y="31"/>
                  </a:lnTo>
                  <a:lnTo>
                    <a:pt x="192" y="45"/>
                  </a:lnTo>
                  <a:lnTo>
                    <a:pt x="201" y="59"/>
                  </a:lnTo>
                  <a:lnTo>
                    <a:pt x="206" y="74"/>
                  </a:lnTo>
                  <a:lnTo>
                    <a:pt x="209" y="91"/>
                  </a:lnTo>
                  <a:lnTo>
                    <a:pt x="212" y="107"/>
                  </a:lnTo>
                  <a:lnTo>
                    <a:pt x="209" y="105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CA" altLang="en-US"/>
            </a:p>
          </p:txBody>
        </p:sp>
        <p:sp>
          <p:nvSpPr>
            <p:cNvPr id="19536" name="Freeform 55">
              <a:extLst>
                <a:ext uri="{FF2B5EF4-FFF2-40B4-BE49-F238E27FC236}">
                  <a16:creationId xmlns:a16="http://schemas.microsoft.com/office/drawing/2014/main" id="{591C6BD1-0BC6-C54C-5903-A785E3CE7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" y="1369"/>
              <a:ext cx="212" cy="212"/>
            </a:xfrm>
            <a:custGeom>
              <a:avLst/>
              <a:gdLst>
                <a:gd name="T0" fmla="*/ 209 w 212"/>
                <a:gd name="T1" fmla="*/ 105 h 212"/>
                <a:gd name="T2" fmla="*/ 209 w 212"/>
                <a:gd name="T3" fmla="*/ 91 h 212"/>
                <a:gd name="T4" fmla="*/ 206 w 212"/>
                <a:gd name="T5" fmla="*/ 74 h 212"/>
                <a:gd name="T6" fmla="*/ 201 w 212"/>
                <a:gd name="T7" fmla="*/ 59 h 212"/>
                <a:gd name="T8" fmla="*/ 192 w 212"/>
                <a:gd name="T9" fmla="*/ 45 h 212"/>
                <a:gd name="T10" fmla="*/ 181 w 212"/>
                <a:gd name="T11" fmla="*/ 31 h 212"/>
                <a:gd name="T12" fmla="*/ 167 w 212"/>
                <a:gd name="T13" fmla="*/ 20 h 212"/>
                <a:gd name="T14" fmla="*/ 156 w 212"/>
                <a:gd name="T15" fmla="*/ 11 h 212"/>
                <a:gd name="T16" fmla="*/ 139 w 212"/>
                <a:gd name="T17" fmla="*/ 6 h 212"/>
                <a:gd name="T18" fmla="*/ 122 w 212"/>
                <a:gd name="T19" fmla="*/ 3 h 212"/>
                <a:gd name="T20" fmla="*/ 105 w 212"/>
                <a:gd name="T21" fmla="*/ 0 h 212"/>
                <a:gd name="T22" fmla="*/ 88 w 212"/>
                <a:gd name="T23" fmla="*/ 3 h 212"/>
                <a:gd name="T24" fmla="*/ 71 w 212"/>
                <a:gd name="T25" fmla="*/ 6 h 212"/>
                <a:gd name="T26" fmla="*/ 57 w 212"/>
                <a:gd name="T27" fmla="*/ 11 h 212"/>
                <a:gd name="T28" fmla="*/ 43 w 212"/>
                <a:gd name="T29" fmla="*/ 20 h 212"/>
                <a:gd name="T30" fmla="*/ 31 w 212"/>
                <a:gd name="T31" fmla="*/ 31 h 212"/>
                <a:gd name="T32" fmla="*/ 20 w 212"/>
                <a:gd name="T33" fmla="*/ 45 h 212"/>
                <a:gd name="T34" fmla="*/ 12 w 212"/>
                <a:gd name="T35" fmla="*/ 59 h 212"/>
                <a:gd name="T36" fmla="*/ 6 w 212"/>
                <a:gd name="T37" fmla="*/ 74 h 212"/>
                <a:gd name="T38" fmla="*/ 0 w 212"/>
                <a:gd name="T39" fmla="*/ 91 h 212"/>
                <a:gd name="T40" fmla="*/ 0 w 212"/>
                <a:gd name="T41" fmla="*/ 107 h 212"/>
                <a:gd name="T42" fmla="*/ 0 w 212"/>
                <a:gd name="T43" fmla="*/ 124 h 212"/>
                <a:gd name="T44" fmla="*/ 6 w 212"/>
                <a:gd name="T45" fmla="*/ 141 h 212"/>
                <a:gd name="T46" fmla="*/ 12 w 212"/>
                <a:gd name="T47" fmla="*/ 155 h 212"/>
                <a:gd name="T48" fmla="*/ 20 w 212"/>
                <a:gd name="T49" fmla="*/ 170 h 212"/>
                <a:gd name="T50" fmla="*/ 31 w 212"/>
                <a:gd name="T51" fmla="*/ 181 h 212"/>
                <a:gd name="T52" fmla="*/ 43 w 212"/>
                <a:gd name="T53" fmla="*/ 192 h 212"/>
                <a:gd name="T54" fmla="*/ 57 w 212"/>
                <a:gd name="T55" fmla="*/ 201 h 212"/>
                <a:gd name="T56" fmla="*/ 71 w 212"/>
                <a:gd name="T57" fmla="*/ 206 h 212"/>
                <a:gd name="T58" fmla="*/ 88 w 212"/>
                <a:gd name="T59" fmla="*/ 212 h 212"/>
                <a:gd name="T60" fmla="*/ 105 w 212"/>
                <a:gd name="T61" fmla="*/ 212 h 212"/>
                <a:gd name="T62" fmla="*/ 122 w 212"/>
                <a:gd name="T63" fmla="*/ 212 h 212"/>
                <a:gd name="T64" fmla="*/ 139 w 212"/>
                <a:gd name="T65" fmla="*/ 206 h 212"/>
                <a:gd name="T66" fmla="*/ 156 w 212"/>
                <a:gd name="T67" fmla="*/ 201 h 212"/>
                <a:gd name="T68" fmla="*/ 167 w 212"/>
                <a:gd name="T69" fmla="*/ 192 h 212"/>
                <a:gd name="T70" fmla="*/ 181 w 212"/>
                <a:gd name="T71" fmla="*/ 181 h 212"/>
                <a:gd name="T72" fmla="*/ 192 w 212"/>
                <a:gd name="T73" fmla="*/ 170 h 212"/>
                <a:gd name="T74" fmla="*/ 201 w 212"/>
                <a:gd name="T75" fmla="*/ 155 h 212"/>
                <a:gd name="T76" fmla="*/ 206 w 212"/>
                <a:gd name="T77" fmla="*/ 141 h 212"/>
                <a:gd name="T78" fmla="*/ 209 w 212"/>
                <a:gd name="T79" fmla="*/ 124 h 212"/>
                <a:gd name="T80" fmla="*/ 212 w 212"/>
                <a:gd name="T81" fmla="*/ 107 h 212"/>
                <a:gd name="T82" fmla="*/ 212 w 212"/>
                <a:gd name="T83" fmla="*/ 107 h 21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2"/>
                <a:gd name="T127" fmla="*/ 0 h 212"/>
                <a:gd name="T128" fmla="*/ 212 w 212"/>
                <a:gd name="T129" fmla="*/ 212 h 21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2" h="212">
                  <a:moveTo>
                    <a:pt x="209" y="105"/>
                  </a:moveTo>
                  <a:lnTo>
                    <a:pt x="209" y="91"/>
                  </a:lnTo>
                  <a:lnTo>
                    <a:pt x="206" y="74"/>
                  </a:lnTo>
                  <a:lnTo>
                    <a:pt x="201" y="59"/>
                  </a:lnTo>
                  <a:lnTo>
                    <a:pt x="192" y="45"/>
                  </a:lnTo>
                  <a:lnTo>
                    <a:pt x="181" y="31"/>
                  </a:lnTo>
                  <a:lnTo>
                    <a:pt x="167" y="20"/>
                  </a:lnTo>
                  <a:lnTo>
                    <a:pt x="156" y="11"/>
                  </a:lnTo>
                  <a:lnTo>
                    <a:pt x="139" y="6"/>
                  </a:lnTo>
                  <a:lnTo>
                    <a:pt x="122" y="3"/>
                  </a:lnTo>
                  <a:lnTo>
                    <a:pt x="105" y="0"/>
                  </a:lnTo>
                  <a:lnTo>
                    <a:pt x="88" y="3"/>
                  </a:lnTo>
                  <a:lnTo>
                    <a:pt x="71" y="6"/>
                  </a:lnTo>
                  <a:lnTo>
                    <a:pt x="57" y="11"/>
                  </a:lnTo>
                  <a:lnTo>
                    <a:pt x="43" y="20"/>
                  </a:lnTo>
                  <a:lnTo>
                    <a:pt x="31" y="31"/>
                  </a:lnTo>
                  <a:lnTo>
                    <a:pt x="20" y="45"/>
                  </a:lnTo>
                  <a:lnTo>
                    <a:pt x="12" y="59"/>
                  </a:lnTo>
                  <a:lnTo>
                    <a:pt x="6" y="74"/>
                  </a:lnTo>
                  <a:lnTo>
                    <a:pt x="0" y="91"/>
                  </a:lnTo>
                  <a:lnTo>
                    <a:pt x="0" y="107"/>
                  </a:lnTo>
                  <a:lnTo>
                    <a:pt x="0" y="124"/>
                  </a:lnTo>
                  <a:lnTo>
                    <a:pt x="6" y="141"/>
                  </a:lnTo>
                  <a:lnTo>
                    <a:pt x="12" y="155"/>
                  </a:lnTo>
                  <a:lnTo>
                    <a:pt x="20" y="170"/>
                  </a:lnTo>
                  <a:lnTo>
                    <a:pt x="31" y="181"/>
                  </a:lnTo>
                  <a:lnTo>
                    <a:pt x="43" y="192"/>
                  </a:lnTo>
                  <a:lnTo>
                    <a:pt x="57" y="201"/>
                  </a:lnTo>
                  <a:lnTo>
                    <a:pt x="71" y="206"/>
                  </a:lnTo>
                  <a:lnTo>
                    <a:pt x="88" y="212"/>
                  </a:lnTo>
                  <a:lnTo>
                    <a:pt x="105" y="212"/>
                  </a:lnTo>
                  <a:lnTo>
                    <a:pt x="122" y="212"/>
                  </a:lnTo>
                  <a:lnTo>
                    <a:pt x="139" y="206"/>
                  </a:lnTo>
                  <a:lnTo>
                    <a:pt x="156" y="201"/>
                  </a:lnTo>
                  <a:lnTo>
                    <a:pt x="167" y="192"/>
                  </a:lnTo>
                  <a:lnTo>
                    <a:pt x="181" y="181"/>
                  </a:lnTo>
                  <a:lnTo>
                    <a:pt x="192" y="170"/>
                  </a:lnTo>
                  <a:lnTo>
                    <a:pt x="201" y="155"/>
                  </a:lnTo>
                  <a:lnTo>
                    <a:pt x="206" y="141"/>
                  </a:lnTo>
                  <a:lnTo>
                    <a:pt x="209" y="124"/>
                  </a:lnTo>
                  <a:lnTo>
                    <a:pt x="212" y="107"/>
                  </a:lnTo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CA" altLang="en-US"/>
            </a:p>
          </p:txBody>
        </p:sp>
        <p:sp>
          <p:nvSpPr>
            <p:cNvPr id="19537" name="Rectangle 56">
              <a:extLst>
                <a:ext uri="{FF2B5EF4-FFF2-40B4-BE49-F238E27FC236}">
                  <a16:creationId xmlns:a16="http://schemas.microsoft.com/office/drawing/2014/main" id="{DCC0D23D-0E44-EC3D-F9B2-36FD46274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429"/>
              <a:ext cx="53" cy="11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4</a:t>
              </a:r>
              <a:endParaRPr lang="en-US" altLang="en-US" b="1"/>
            </a:p>
          </p:txBody>
        </p:sp>
        <p:sp>
          <p:nvSpPr>
            <p:cNvPr id="19538" name="Rectangle 57">
              <a:extLst>
                <a:ext uri="{FF2B5EF4-FFF2-40B4-BE49-F238E27FC236}">
                  <a16:creationId xmlns:a16="http://schemas.microsoft.com/office/drawing/2014/main" id="{41B11A7C-FC83-4A75-9330-279A7D0ED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" y="1209"/>
              <a:ext cx="53" cy="11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u</a:t>
              </a:r>
              <a:endParaRPr lang="en-US" altLang="en-US" b="1"/>
            </a:p>
          </p:txBody>
        </p:sp>
        <p:sp>
          <p:nvSpPr>
            <p:cNvPr id="19539" name="Rectangle 58">
              <a:extLst>
                <a:ext uri="{FF2B5EF4-FFF2-40B4-BE49-F238E27FC236}">
                  <a16:creationId xmlns:a16="http://schemas.microsoft.com/office/drawing/2014/main" id="{8C5BAAA1-42A5-DFB4-8094-551C97AE0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2" y="1209"/>
              <a:ext cx="163" cy="11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 = ?</a:t>
              </a:r>
              <a:endParaRPr lang="en-US" altLang="en-US" b="1"/>
            </a:p>
          </p:txBody>
        </p:sp>
      </p:grpSp>
      <p:grpSp>
        <p:nvGrpSpPr>
          <p:cNvPr id="19498" name="Group 59">
            <a:extLst>
              <a:ext uri="{FF2B5EF4-FFF2-40B4-BE49-F238E27FC236}">
                <a16:creationId xmlns:a16="http://schemas.microsoft.com/office/drawing/2014/main" id="{1EEF14E8-E4E3-E1DB-E48C-5B50945B280C}"/>
              </a:ext>
            </a:extLst>
          </p:cNvPr>
          <p:cNvGrpSpPr>
            <a:grpSpLocks/>
          </p:cNvGrpSpPr>
          <p:nvPr/>
        </p:nvGrpSpPr>
        <p:grpSpPr bwMode="auto">
          <a:xfrm>
            <a:off x="2832100" y="3849688"/>
            <a:ext cx="339725" cy="274637"/>
            <a:chOff x="1784" y="2425"/>
            <a:chExt cx="214" cy="173"/>
          </a:xfrm>
        </p:grpSpPr>
        <p:sp>
          <p:nvSpPr>
            <p:cNvPr id="19530" name="Rectangle 60">
              <a:extLst>
                <a:ext uri="{FF2B5EF4-FFF2-40B4-BE49-F238E27FC236}">
                  <a16:creationId xmlns:a16="http://schemas.microsoft.com/office/drawing/2014/main" id="{B89BFEF9-423A-99CD-89B5-9B1817B64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4" y="2425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chemeClr val="hlink"/>
                  </a:solidFill>
                </a:rPr>
                <a:t>u</a:t>
              </a:r>
              <a:endParaRPr lang="en-US" altLang="en-US" sz="2000" b="1">
                <a:solidFill>
                  <a:schemeClr val="hlink"/>
                </a:solidFill>
              </a:endParaRPr>
            </a:p>
          </p:txBody>
        </p:sp>
        <p:sp>
          <p:nvSpPr>
            <p:cNvPr id="19531" name="Rectangle 61">
              <a:extLst>
                <a:ext uri="{FF2B5EF4-FFF2-40B4-BE49-F238E27FC236}">
                  <a16:creationId xmlns:a16="http://schemas.microsoft.com/office/drawing/2014/main" id="{25BB99FA-F95C-CFAB-9551-6ADC55195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8" y="2425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chemeClr val="hlink"/>
                  </a:solidFill>
                </a:rPr>
                <a:t> :5</a:t>
              </a:r>
              <a:endParaRPr lang="en-US" altLang="en-US" sz="2000" b="1">
                <a:solidFill>
                  <a:schemeClr val="hlink"/>
                </a:solidFill>
              </a:endParaRPr>
            </a:p>
          </p:txBody>
        </p:sp>
      </p:grpSp>
      <p:grpSp>
        <p:nvGrpSpPr>
          <p:cNvPr id="5" name="Group 62">
            <a:extLst>
              <a:ext uri="{FF2B5EF4-FFF2-40B4-BE49-F238E27FC236}">
                <a16:creationId xmlns:a16="http://schemas.microsoft.com/office/drawing/2014/main" id="{952DB02F-7BC9-5465-22EC-D6277901B3FF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451100"/>
            <a:ext cx="788988" cy="1468438"/>
            <a:chOff x="1152" y="1536"/>
            <a:chExt cx="497" cy="925"/>
          </a:xfrm>
        </p:grpSpPr>
        <p:sp>
          <p:nvSpPr>
            <p:cNvPr id="19522" name="Rectangle 63">
              <a:extLst>
                <a:ext uri="{FF2B5EF4-FFF2-40B4-BE49-F238E27FC236}">
                  <a16:creationId xmlns:a16="http://schemas.microsoft.com/office/drawing/2014/main" id="{F1759D8A-FCD5-7D5C-4B54-A7FD92787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9" y="2273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1</a:t>
              </a:r>
              <a:endParaRPr lang="en-US" altLang="en-US" b="1"/>
            </a:p>
          </p:txBody>
        </p:sp>
        <p:grpSp>
          <p:nvGrpSpPr>
            <p:cNvPr id="19523" name="Group 64">
              <a:extLst>
                <a:ext uri="{FF2B5EF4-FFF2-40B4-BE49-F238E27FC236}">
                  <a16:creationId xmlns:a16="http://schemas.microsoft.com/office/drawing/2014/main" id="{D93266E1-0CAA-1231-9DD5-E3C2526157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536"/>
              <a:ext cx="497" cy="925"/>
              <a:chOff x="1152" y="1536"/>
              <a:chExt cx="497" cy="925"/>
            </a:xfrm>
          </p:grpSpPr>
          <p:grpSp>
            <p:nvGrpSpPr>
              <p:cNvPr id="19524" name="Group 65">
                <a:extLst>
                  <a:ext uri="{FF2B5EF4-FFF2-40B4-BE49-F238E27FC236}">
                    <a16:creationId xmlns:a16="http://schemas.microsoft.com/office/drawing/2014/main" id="{56355E84-984D-6CA6-224C-D3704FFAD5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20" y="1815"/>
                <a:ext cx="429" cy="646"/>
                <a:chOff x="1220" y="1815"/>
                <a:chExt cx="429" cy="646"/>
              </a:xfrm>
            </p:grpSpPr>
            <p:sp>
              <p:nvSpPr>
                <p:cNvPr id="19528" name="Freeform 66">
                  <a:extLst>
                    <a:ext uri="{FF2B5EF4-FFF2-40B4-BE49-F238E27FC236}">
                      <a16:creationId xmlns:a16="http://schemas.microsoft.com/office/drawing/2014/main" id="{2D8D5D0C-37CE-9E94-6CD7-CB087A559A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10" y="1815"/>
                  <a:ext cx="339" cy="646"/>
                </a:xfrm>
                <a:custGeom>
                  <a:avLst/>
                  <a:gdLst>
                    <a:gd name="T0" fmla="*/ 0 w 339"/>
                    <a:gd name="T1" fmla="*/ 0 h 646"/>
                    <a:gd name="T2" fmla="*/ 11 w 339"/>
                    <a:gd name="T3" fmla="*/ 76 h 646"/>
                    <a:gd name="T4" fmla="*/ 23 w 339"/>
                    <a:gd name="T5" fmla="*/ 153 h 646"/>
                    <a:gd name="T6" fmla="*/ 40 w 339"/>
                    <a:gd name="T7" fmla="*/ 226 h 646"/>
                    <a:gd name="T8" fmla="*/ 62 w 339"/>
                    <a:gd name="T9" fmla="*/ 297 h 646"/>
                    <a:gd name="T10" fmla="*/ 93 w 339"/>
                    <a:gd name="T11" fmla="*/ 367 h 646"/>
                    <a:gd name="T12" fmla="*/ 127 w 339"/>
                    <a:gd name="T13" fmla="*/ 432 h 646"/>
                    <a:gd name="T14" fmla="*/ 169 w 339"/>
                    <a:gd name="T15" fmla="*/ 494 h 646"/>
                    <a:gd name="T16" fmla="*/ 217 w 339"/>
                    <a:gd name="T17" fmla="*/ 551 h 646"/>
                    <a:gd name="T18" fmla="*/ 277 w 339"/>
                    <a:gd name="T19" fmla="*/ 601 h 646"/>
                    <a:gd name="T20" fmla="*/ 339 w 339"/>
                    <a:gd name="T21" fmla="*/ 646 h 64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39"/>
                    <a:gd name="T34" fmla="*/ 0 h 646"/>
                    <a:gd name="T35" fmla="*/ 339 w 339"/>
                    <a:gd name="T36" fmla="*/ 646 h 64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39" h="646">
                      <a:moveTo>
                        <a:pt x="0" y="0"/>
                      </a:moveTo>
                      <a:lnTo>
                        <a:pt x="11" y="76"/>
                      </a:lnTo>
                      <a:lnTo>
                        <a:pt x="23" y="153"/>
                      </a:lnTo>
                      <a:lnTo>
                        <a:pt x="40" y="226"/>
                      </a:lnTo>
                      <a:lnTo>
                        <a:pt x="62" y="297"/>
                      </a:lnTo>
                      <a:lnTo>
                        <a:pt x="93" y="367"/>
                      </a:lnTo>
                      <a:lnTo>
                        <a:pt x="127" y="432"/>
                      </a:lnTo>
                      <a:lnTo>
                        <a:pt x="169" y="494"/>
                      </a:lnTo>
                      <a:lnTo>
                        <a:pt x="217" y="551"/>
                      </a:lnTo>
                      <a:lnTo>
                        <a:pt x="277" y="601"/>
                      </a:lnTo>
                      <a:lnTo>
                        <a:pt x="339" y="646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CA" altLang="en-US"/>
                </a:p>
              </p:txBody>
            </p:sp>
            <p:sp>
              <p:nvSpPr>
                <p:cNvPr id="19529" name="Freeform 67">
                  <a:extLst>
                    <a:ext uri="{FF2B5EF4-FFF2-40B4-BE49-F238E27FC236}">
                      <a16:creationId xmlns:a16="http://schemas.microsoft.com/office/drawing/2014/main" id="{7B77D068-FD4D-0205-8245-3EEB1A29A3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20" y="2224"/>
                  <a:ext cx="211" cy="212"/>
                </a:xfrm>
                <a:custGeom>
                  <a:avLst/>
                  <a:gdLst>
                    <a:gd name="T0" fmla="*/ 209 w 211"/>
                    <a:gd name="T1" fmla="*/ 105 h 212"/>
                    <a:gd name="T2" fmla="*/ 209 w 211"/>
                    <a:gd name="T3" fmla="*/ 91 h 212"/>
                    <a:gd name="T4" fmla="*/ 206 w 211"/>
                    <a:gd name="T5" fmla="*/ 74 h 212"/>
                    <a:gd name="T6" fmla="*/ 200 w 211"/>
                    <a:gd name="T7" fmla="*/ 60 h 212"/>
                    <a:gd name="T8" fmla="*/ 192 w 211"/>
                    <a:gd name="T9" fmla="*/ 46 h 212"/>
                    <a:gd name="T10" fmla="*/ 180 w 211"/>
                    <a:gd name="T11" fmla="*/ 31 h 212"/>
                    <a:gd name="T12" fmla="*/ 166 w 211"/>
                    <a:gd name="T13" fmla="*/ 20 h 212"/>
                    <a:gd name="T14" fmla="*/ 155 w 211"/>
                    <a:gd name="T15" fmla="*/ 12 h 212"/>
                    <a:gd name="T16" fmla="*/ 138 w 211"/>
                    <a:gd name="T17" fmla="*/ 6 h 212"/>
                    <a:gd name="T18" fmla="*/ 121 w 211"/>
                    <a:gd name="T19" fmla="*/ 3 h 212"/>
                    <a:gd name="T20" fmla="*/ 104 w 211"/>
                    <a:gd name="T21" fmla="*/ 0 h 212"/>
                    <a:gd name="T22" fmla="*/ 87 w 211"/>
                    <a:gd name="T23" fmla="*/ 3 h 212"/>
                    <a:gd name="T24" fmla="*/ 70 w 211"/>
                    <a:gd name="T25" fmla="*/ 6 h 212"/>
                    <a:gd name="T26" fmla="*/ 56 w 211"/>
                    <a:gd name="T27" fmla="*/ 12 h 212"/>
                    <a:gd name="T28" fmla="*/ 42 w 211"/>
                    <a:gd name="T29" fmla="*/ 20 h 212"/>
                    <a:gd name="T30" fmla="*/ 31 w 211"/>
                    <a:gd name="T31" fmla="*/ 31 h 212"/>
                    <a:gd name="T32" fmla="*/ 19 w 211"/>
                    <a:gd name="T33" fmla="*/ 46 h 212"/>
                    <a:gd name="T34" fmla="*/ 11 w 211"/>
                    <a:gd name="T35" fmla="*/ 60 h 212"/>
                    <a:gd name="T36" fmla="*/ 5 w 211"/>
                    <a:gd name="T37" fmla="*/ 74 h 212"/>
                    <a:gd name="T38" fmla="*/ 0 w 211"/>
                    <a:gd name="T39" fmla="*/ 91 h 212"/>
                    <a:gd name="T40" fmla="*/ 0 w 211"/>
                    <a:gd name="T41" fmla="*/ 108 h 212"/>
                    <a:gd name="T42" fmla="*/ 0 w 211"/>
                    <a:gd name="T43" fmla="*/ 125 h 212"/>
                    <a:gd name="T44" fmla="*/ 5 w 211"/>
                    <a:gd name="T45" fmla="*/ 142 h 212"/>
                    <a:gd name="T46" fmla="*/ 11 w 211"/>
                    <a:gd name="T47" fmla="*/ 156 h 212"/>
                    <a:gd name="T48" fmla="*/ 19 w 211"/>
                    <a:gd name="T49" fmla="*/ 170 h 212"/>
                    <a:gd name="T50" fmla="*/ 31 w 211"/>
                    <a:gd name="T51" fmla="*/ 181 h 212"/>
                    <a:gd name="T52" fmla="*/ 42 w 211"/>
                    <a:gd name="T53" fmla="*/ 192 h 212"/>
                    <a:gd name="T54" fmla="*/ 56 w 211"/>
                    <a:gd name="T55" fmla="*/ 201 h 212"/>
                    <a:gd name="T56" fmla="*/ 70 w 211"/>
                    <a:gd name="T57" fmla="*/ 206 h 212"/>
                    <a:gd name="T58" fmla="*/ 87 w 211"/>
                    <a:gd name="T59" fmla="*/ 212 h 212"/>
                    <a:gd name="T60" fmla="*/ 104 w 211"/>
                    <a:gd name="T61" fmla="*/ 212 h 212"/>
                    <a:gd name="T62" fmla="*/ 121 w 211"/>
                    <a:gd name="T63" fmla="*/ 212 h 212"/>
                    <a:gd name="T64" fmla="*/ 138 w 211"/>
                    <a:gd name="T65" fmla="*/ 206 h 212"/>
                    <a:gd name="T66" fmla="*/ 155 w 211"/>
                    <a:gd name="T67" fmla="*/ 201 h 212"/>
                    <a:gd name="T68" fmla="*/ 166 w 211"/>
                    <a:gd name="T69" fmla="*/ 192 h 212"/>
                    <a:gd name="T70" fmla="*/ 180 w 211"/>
                    <a:gd name="T71" fmla="*/ 181 h 212"/>
                    <a:gd name="T72" fmla="*/ 192 w 211"/>
                    <a:gd name="T73" fmla="*/ 170 h 212"/>
                    <a:gd name="T74" fmla="*/ 200 w 211"/>
                    <a:gd name="T75" fmla="*/ 156 h 212"/>
                    <a:gd name="T76" fmla="*/ 206 w 211"/>
                    <a:gd name="T77" fmla="*/ 142 h 212"/>
                    <a:gd name="T78" fmla="*/ 209 w 211"/>
                    <a:gd name="T79" fmla="*/ 125 h 212"/>
                    <a:gd name="T80" fmla="*/ 211 w 211"/>
                    <a:gd name="T81" fmla="*/ 108 h 212"/>
                    <a:gd name="T82" fmla="*/ 211 w 211"/>
                    <a:gd name="T83" fmla="*/ 108 h 212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w 211"/>
                    <a:gd name="T127" fmla="*/ 0 h 212"/>
                    <a:gd name="T128" fmla="*/ 211 w 211"/>
                    <a:gd name="T129" fmla="*/ 212 h 212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T126" t="T127" r="T128" b="T129"/>
                  <a:pathLst>
                    <a:path w="211" h="212">
                      <a:moveTo>
                        <a:pt x="209" y="105"/>
                      </a:moveTo>
                      <a:lnTo>
                        <a:pt x="209" y="91"/>
                      </a:lnTo>
                      <a:lnTo>
                        <a:pt x="206" y="74"/>
                      </a:lnTo>
                      <a:lnTo>
                        <a:pt x="200" y="60"/>
                      </a:lnTo>
                      <a:lnTo>
                        <a:pt x="192" y="46"/>
                      </a:lnTo>
                      <a:lnTo>
                        <a:pt x="180" y="31"/>
                      </a:lnTo>
                      <a:lnTo>
                        <a:pt x="166" y="20"/>
                      </a:lnTo>
                      <a:lnTo>
                        <a:pt x="155" y="12"/>
                      </a:lnTo>
                      <a:lnTo>
                        <a:pt x="138" y="6"/>
                      </a:lnTo>
                      <a:lnTo>
                        <a:pt x="121" y="3"/>
                      </a:lnTo>
                      <a:lnTo>
                        <a:pt x="104" y="0"/>
                      </a:lnTo>
                      <a:lnTo>
                        <a:pt x="87" y="3"/>
                      </a:lnTo>
                      <a:lnTo>
                        <a:pt x="70" y="6"/>
                      </a:lnTo>
                      <a:lnTo>
                        <a:pt x="56" y="12"/>
                      </a:lnTo>
                      <a:lnTo>
                        <a:pt x="42" y="20"/>
                      </a:lnTo>
                      <a:lnTo>
                        <a:pt x="31" y="31"/>
                      </a:lnTo>
                      <a:lnTo>
                        <a:pt x="19" y="46"/>
                      </a:lnTo>
                      <a:lnTo>
                        <a:pt x="11" y="60"/>
                      </a:lnTo>
                      <a:lnTo>
                        <a:pt x="5" y="74"/>
                      </a:lnTo>
                      <a:lnTo>
                        <a:pt x="0" y="91"/>
                      </a:lnTo>
                      <a:lnTo>
                        <a:pt x="0" y="108"/>
                      </a:lnTo>
                      <a:lnTo>
                        <a:pt x="0" y="125"/>
                      </a:lnTo>
                      <a:lnTo>
                        <a:pt x="5" y="142"/>
                      </a:lnTo>
                      <a:lnTo>
                        <a:pt x="11" y="156"/>
                      </a:lnTo>
                      <a:lnTo>
                        <a:pt x="19" y="170"/>
                      </a:lnTo>
                      <a:lnTo>
                        <a:pt x="31" y="181"/>
                      </a:lnTo>
                      <a:lnTo>
                        <a:pt x="42" y="192"/>
                      </a:lnTo>
                      <a:lnTo>
                        <a:pt x="56" y="201"/>
                      </a:lnTo>
                      <a:lnTo>
                        <a:pt x="70" y="206"/>
                      </a:lnTo>
                      <a:lnTo>
                        <a:pt x="87" y="212"/>
                      </a:lnTo>
                      <a:lnTo>
                        <a:pt x="104" y="212"/>
                      </a:lnTo>
                      <a:lnTo>
                        <a:pt x="121" y="212"/>
                      </a:lnTo>
                      <a:lnTo>
                        <a:pt x="138" y="206"/>
                      </a:lnTo>
                      <a:lnTo>
                        <a:pt x="155" y="201"/>
                      </a:lnTo>
                      <a:lnTo>
                        <a:pt x="166" y="192"/>
                      </a:lnTo>
                      <a:lnTo>
                        <a:pt x="180" y="181"/>
                      </a:lnTo>
                      <a:lnTo>
                        <a:pt x="192" y="170"/>
                      </a:lnTo>
                      <a:lnTo>
                        <a:pt x="200" y="156"/>
                      </a:lnTo>
                      <a:lnTo>
                        <a:pt x="206" y="142"/>
                      </a:lnTo>
                      <a:lnTo>
                        <a:pt x="209" y="125"/>
                      </a:lnTo>
                      <a:lnTo>
                        <a:pt x="211" y="10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CA" altLang="en-US"/>
                </a:p>
              </p:txBody>
            </p:sp>
          </p:grpSp>
          <p:grpSp>
            <p:nvGrpSpPr>
              <p:cNvPr id="19525" name="Group 68">
                <a:extLst>
                  <a:ext uri="{FF2B5EF4-FFF2-40B4-BE49-F238E27FC236}">
                    <a16:creationId xmlns:a16="http://schemas.microsoft.com/office/drawing/2014/main" id="{4873681E-59B5-EB4F-452E-AB338267ED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1536"/>
                <a:ext cx="231" cy="173"/>
                <a:chOff x="1784" y="2425"/>
                <a:chExt cx="176" cy="173"/>
              </a:xfrm>
            </p:grpSpPr>
            <p:sp>
              <p:nvSpPr>
                <p:cNvPr id="19526" name="Rectangle 69">
                  <a:extLst>
                    <a:ext uri="{FF2B5EF4-FFF2-40B4-BE49-F238E27FC236}">
                      <a16:creationId xmlns:a16="http://schemas.microsoft.com/office/drawing/2014/main" id="{89F940BF-1787-49B1-2A9D-97DA20344A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84" y="2425"/>
                  <a:ext cx="61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1800">
                      <a:solidFill>
                        <a:schemeClr val="hlink"/>
                      </a:solidFill>
                    </a:rPr>
                    <a:t>u</a:t>
                  </a:r>
                  <a:endParaRPr lang="en-US" altLang="en-US" sz="2000" b="1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19527" name="Rectangle 70">
                  <a:extLst>
                    <a:ext uri="{FF2B5EF4-FFF2-40B4-BE49-F238E27FC236}">
                      <a16:creationId xmlns:a16="http://schemas.microsoft.com/office/drawing/2014/main" id="{F75BA75F-5A05-34E0-8D03-27FE482B5B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38" y="2425"/>
                  <a:ext cx="122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1800">
                      <a:solidFill>
                        <a:schemeClr val="hlink"/>
                      </a:solidFill>
                    </a:rPr>
                    <a:t> :5</a:t>
                  </a:r>
                  <a:endParaRPr lang="en-US" altLang="en-US" sz="2000" b="1">
                    <a:solidFill>
                      <a:schemeClr val="hlink"/>
                    </a:solidFill>
                  </a:endParaRPr>
                </a:p>
              </p:txBody>
            </p:sp>
          </p:grpSp>
        </p:grpSp>
      </p:grpSp>
      <p:grpSp>
        <p:nvGrpSpPr>
          <p:cNvPr id="9" name="Group 71">
            <a:extLst>
              <a:ext uri="{FF2B5EF4-FFF2-40B4-BE49-F238E27FC236}">
                <a16:creationId xmlns:a16="http://schemas.microsoft.com/office/drawing/2014/main" id="{9647CF97-156C-53FE-A224-B1E75CAC8096}"/>
              </a:ext>
            </a:extLst>
          </p:cNvPr>
          <p:cNvGrpSpPr>
            <a:grpSpLocks/>
          </p:cNvGrpSpPr>
          <p:nvPr/>
        </p:nvGrpSpPr>
        <p:grpSpPr bwMode="auto">
          <a:xfrm>
            <a:off x="3160713" y="2514600"/>
            <a:ext cx="3470275" cy="1522413"/>
            <a:chOff x="2016" y="1584"/>
            <a:chExt cx="2209" cy="959"/>
          </a:xfrm>
        </p:grpSpPr>
        <p:sp>
          <p:nvSpPr>
            <p:cNvPr id="19512" name="Freeform 72">
              <a:extLst>
                <a:ext uri="{FF2B5EF4-FFF2-40B4-BE49-F238E27FC236}">
                  <a16:creationId xmlns:a16="http://schemas.microsoft.com/office/drawing/2014/main" id="{63B874EC-B444-0792-3B05-2E162FC9B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1714"/>
              <a:ext cx="81" cy="79"/>
            </a:xfrm>
            <a:custGeom>
              <a:avLst/>
              <a:gdLst>
                <a:gd name="T0" fmla="*/ 14 w 81"/>
                <a:gd name="T1" fmla="*/ 59 h 79"/>
                <a:gd name="T2" fmla="*/ 0 w 81"/>
                <a:gd name="T3" fmla="*/ 39 h 79"/>
                <a:gd name="T4" fmla="*/ 81 w 81"/>
                <a:gd name="T5" fmla="*/ 0 h 79"/>
                <a:gd name="T6" fmla="*/ 33 w 81"/>
                <a:gd name="T7" fmla="*/ 79 h 79"/>
                <a:gd name="T8" fmla="*/ 16 w 81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"/>
                <a:gd name="T16" fmla="*/ 0 h 79"/>
                <a:gd name="T17" fmla="*/ 81 w 81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" h="79">
                  <a:moveTo>
                    <a:pt x="14" y="59"/>
                  </a:moveTo>
                  <a:lnTo>
                    <a:pt x="0" y="39"/>
                  </a:lnTo>
                  <a:lnTo>
                    <a:pt x="81" y="0"/>
                  </a:lnTo>
                  <a:lnTo>
                    <a:pt x="33" y="79"/>
                  </a:lnTo>
                  <a:lnTo>
                    <a:pt x="16" y="5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CA" altLang="en-US"/>
            </a:p>
          </p:txBody>
        </p:sp>
        <p:sp>
          <p:nvSpPr>
            <p:cNvPr id="19513" name="Freeform 73">
              <a:extLst>
                <a:ext uri="{FF2B5EF4-FFF2-40B4-BE49-F238E27FC236}">
                  <a16:creationId xmlns:a16="http://schemas.microsoft.com/office/drawing/2014/main" id="{36002A2E-EDAA-07DB-F260-60E0DFA13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1714"/>
              <a:ext cx="81" cy="79"/>
            </a:xfrm>
            <a:custGeom>
              <a:avLst/>
              <a:gdLst>
                <a:gd name="T0" fmla="*/ 14 w 81"/>
                <a:gd name="T1" fmla="*/ 59 h 79"/>
                <a:gd name="T2" fmla="*/ 0 w 81"/>
                <a:gd name="T3" fmla="*/ 39 h 79"/>
                <a:gd name="T4" fmla="*/ 81 w 81"/>
                <a:gd name="T5" fmla="*/ 0 h 79"/>
                <a:gd name="T6" fmla="*/ 33 w 81"/>
                <a:gd name="T7" fmla="*/ 79 h 79"/>
                <a:gd name="T8" fmla="*/ 14 w 81"/>
                <a:gd name="T9" fmla="*/ 59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"/>
                <a:gd name="T16" fmla="*/ 0 h 79"/>
                <a:gd name="T17" fmla="*/ 81 w 81"/>
                <a:gd name="T18" fmla="*/ 79 h 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" h="79">
                  <a:moveTo>
                    <a:pt x="14" y="59"/>
                  </a:moveTo>
                  <a:lnTo>
                    <a:pt x="0" y="39"/>
                  </a:lnTo>
                  <a:lnTo>
                    <a:pt x="81" y="0"/>
                  </a:lnTo>
                  <a:lnTo>
                    <a:pt x="33" y="79"/>
                  </a:lnTo>
                  <a:lnTo>
                    <a:pt x="14" y="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CA" altLang="en-US"/>
            </a:p>
          </p:txBody>
        </p:sp>
        <p:grpSp>
          <p:nvGrpSpPr>
            <p:cNvPr id="19514" name="Group 74">
              <a:extLst>
                <a:ext uri="{FF2B5EF4-FFF2-40B4-BE49-F238E27FC236}">
                  <a16:creationId xmlns:a16="http://schemas.microsoft.com/office/drawing/2014/main" id="{924763E0-C8A9-529C-D065-9DFEBFEECD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1584"/>
              <a:ext cx="2209" cy="959"/>
              <a:chOff x="2016" y="1584"/>
              <a:chExt cx="2209" cy="959"/>
            </a:xfrm>
          </p:grpSpPr>
          <p:grpSp>
            <p:nvGrpSpPr>
              <p:cNvPr id="19515" name="Group 75">
                <a:extLst>
                  <a:ext uri="{FF2B5EF4-FFF2-40B4-BE49-F238E27FC236}">
                    <a16:creationId xmlns:a16="http://schemas.microsoft.com/office/drawing/2014/main" id="{842E6B60-98C7-7C82-3611-55475B2437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1776"/>
                <a:ext cx="1900" cy="767"/>
                <a:chOff x="2002" y="1776"/>
                <a:chExt cx="1900" cy="767"/>
              </a:xfrm>
            </p:grpSpPr>
            <p:sp>
              <p:nvSpPr>
                <p:cNvPr id="19520" name="Freeform 76">
                  <a:extLst>
                    <a:ext uri="{FF2B5EF4-FFF2-40B4-BE49-F238E27FC236}">
                      <a16:creationId xmlns:a16="http://schemas.microsoft.com/office/drawing/2014/main" id="{A34C8F7B-73C3-5D59-DD89-192940E3D2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02" y="1776"/>
                  <a:ext cx="1900" cy="728"/>
                </a:xfrm>
                <a:custGeom>
                  <a:avLst/>
                  <a:gdLst>
                    <a:gd name="T0" fmla="*/ 0 w 1900"/>
                    <a:gd name="T1" fmla="*/ 728 h 728"/>
                    <a:gd name="T2" fmla="*/ 149 w 1900"/>
                    <a:gd name="T3" fmla="*/ 702 h 728"/>
                    <a:gd name="T4" fmla="*/ 299 w 1900"/>
                    <a:gd name="T5" fmla="*/ 685 h 728"/>
                    <a:gd name="T6" fmla="*/ 451 w 1900"/>
                    <a:gd name="T7" fmla="*/ 669 h 728"/>
                    <a:gd name="T8" fmla="*/ 607 w 1900"/>
                    <a:gd name="T9" fmla="*/ 654 h 728"/>
                    <a:gd name="T10" fmla="*/ 759 w 1900"/>
                    <a:gd name="T11" fmla="*/ 638 h 728"/>
                    <a:gd name="T12" fmla="*/ 912 w 1900"/>
                    <a:gd name="T13" fmla="*/ 615 h 728"/>
                    <a:gd name="T14" fmla="*/ 1061 w 1900"/>
                    <a:gd name="T15" fmla="*/ 581 h 728"/>
                    <a:gd name="T16" fmla="*/ 1202 w 1900"/>
                    <a:gd name="T17" fmla="*/ 536 h 728"/>
                    <a:gd name="T18" fmla="*/ 1341 w 1900"/>
                    <a:gd name="T19" fmla="*/ 477 h 728"/>
                    <a:gd name="T20" fmla="*/ 1471 w 1900"/>
                    <a:gd name="T21" fmla="*/ 398 h 728"/>
                    <a:gd name="T22" fmla="*/ 1519 w 1900"/>
                    <a:gd name="T23" fmla="*/ 361 h 728"/>
                    <a:gd name="T24" fmla="*/ 1564 w 1900"/>
                    <a:gd name="T25" fmla="*/ 324 h 728"/>
                    <a:gd name="T26" fmla="*/ 1606 w 1900"/>
                    <a:gd name="T27" fmla="*/ 285 h 728"/>
                    <a:gd name="T28" fmla="*/ 1648 w 1900"/>
                    <a:gd name="T29" fmla="*/ 245 h 728"/>
                    <a:gd name="T30" fmla="*/ 1691 w 1900"/>
                    <a:gd name="T31" fmla="*/ 203 h 728"/>
                    <a:gd name="T32" fmla="*/ 1733 w 1900"/>
                    <a:gd name="T33" fmla="*/ 161 h 728"/>
                    <a:gd name="T34" fmla="*/ 1773 w 1900"/>
                    <a:gd name="T35" fmla="*/ 121 h 728"/>
                    <a:gd name="T36" fmla="*/ 1815 w 1900"/>
                    <a:gd name="T37" fmla="*/ 79 h 728"/>
                    <a:gd name="T38" fmla="*/ 1857 w 1900"/>
                    <a:gd name="T39" fmla="*/ 39 h 728"/>
                    <a:gd name="T40" fmla="*/ 1900 w 1900"/>
                    <a:gd name="T41" fmla="*/ 0 h 728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1900"/>
                    <a:gd name="T64" fmla="*/ 0 h 728"/>
                    <a:gd name="T65" fmla="*/ 1900 w 1900"/>
                    <a:gd name="T66" fmla="*/ 728 h 728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1900" h="728">
                      <a:moveTo>
                        <a:pt x="0" y="728"/>
                      </a:moveTo>
                      <a:lnTo>
                        <a:pt x="149" y="702"/>
                      </a:lnTo>
                      <a:lnTo>
                        <a:pt x="299" y="685"/>
                      </a:lnTo>
                      <a:lnTo>
                        <a:pt x="451" y="669"/>
                      </a:lnTo>
                      <a:lnTo>
                        <a:pt x="607" y="654"/>
                      </a:lnTo>
                      <a:lnTo>
                        <a:pt x="759" y="638"/>
                      </a:lnTo>
                      <a:lnTo>
                        <a:pt x="912" y="615"/>
                      </a:lnTo>
                      <a:lnTo>
                        <a:pt x="1061" y="581"/>
                      </a:lnTo>
                      <a:lnTo>
                        <a:pt x="1202" y="536"/>
                      </a:lnTo>
                      <a:lnTo>
                        <a:pt x="1341" y="477"/>
                      </a:lnTo>
                      <a:lnTo>
                        <a:pt x="1471" y="398"/>
                      </a:lnTo>
                      <a:lnTo>
                        <a:pt x="1519" y="361"/>
                      </a:lnTo>
                      <a:lnTo>
                        <a:pt x="1564" y="324"/>
                      </a:lnTo>
                      <a:lnTo>
                        <a:pt x="1606" y="285"/>
                      </a:lnTo>
                      <a:lnTo>
                        <a:pt x="1648" y="245"/>
                      </a:lnTo>
                      <a:lnTo>
                        <a:pt x="1691" y="203"/>
                      </a:lnTo>
                      <a:lnTo>
                        <a:pt x="1733" y="161"/>
                      </a:lnTo>
                      <a:lnTo>
                        <a:pt x="1773" y="121"/>
                      </a:lnTo>
                      <a:lnTo>
                        <a:pt x="1815" y="79"/>
                      </a:lnTo>
                      <a:lnTo>
                        <a:pt x="1857" y="39"/>
                      </a:lnTo>
                      <a:lnTo>
                        <a:pt x="1900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CA" altLang="en-US"/>
                </a:p>
              </p:txBody>
            </p:sp>
            <p:sp>
              <p:nvSpPr>
                <p:cNvPr id="19521" name="Freeform 77">
                  <a:extLst>
                    <a:ext uri="{FF2B5EF4-FFF2-40B4-BE49-F238E27FC236}">
                      <a16:creationId xmlns:a16="http://schemas.microsoft.com/office/drawing/2014/main" id="{7ADB742C-EA84-2BE8-EA0B-3969BD1FC7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5" y="2332"/>
                  <a:ext cx="212" cy="211"/>
                </a:xfrm>
                <a:custGeom>
                  <a:avLst/>
                  <a:gdLst>
                    <a:gd name="T0" fmla="*/ 212 w 212"/>
                    <a:gd name="T1" fmla="*/ 104 h 211"/>
                    <a:gd name="T2" fmla="*/ 209 w 212"/>
                    <a:gd name="T3" fmla="*/ 87 h 211"/>
                    <a:gd name="T4" fmla="*/ 206 w 212"/>
                    <a:gd name="T5" fmla="*/ 70 h 211"/>
                    <a:gd name="T6" fmla="*/ 201 w 212"/>
                    <a:gd name="T7" fmla="*/ 56 h 211"/>
                    <a:gd name="T8" fmla="*/ 192 w 212"/>
                    <a:gd name="T9" fmla="*/ 42 h 211"/>
                    <a:gd name="T10" fmla="*/ 181 w 212"/>
                    <a:gd name="T11" fmla="*/ 31 h 211"/>
                    <a:gd name="T12" fmla="*/ 167 w 212"/>
                    <a:gd name="T13" fmla="*/ 19 h 211"/>
                    <a:gd name="T14" fmla="*/ 156 w 212"/>
                    <a:gd name="T15" fmla="*/ 11 h 211"/>
                    <a:gd name="T16" fmla="*/ 139 w 212"/>
                    <a:gd name="T17" fmla="*/ 5 h 211"/>
                    <a:gd name="T18" fmla="*/ 122 w 212"/>
                    <a:gd name="T19" fmla="*/ 0 h 211"/>
                    <a:gd name="T20" fmla="*/ 105 w 212"/>
                    <a:gd name="T21" fmla="*/ 0 h 211"/>
                    <a:gd name="T22" fmla="*/ 88 w 212"/>
                    <a:gd name="T23" fmla="*/ 0 h 211"/>
                    <a:gd name="T24" fmla="*/ 71 w 212"/>
                    <a:gd name="T25" fmla="*/ 5 h 211"/>
                    <a:gd name="T26" fmla="*/ 57 w 212"/>
                    <a:gd name="T27" fmla="*/ 11 h 211"/>
                    <a:gd name="T28" fmla="*/ 43 w 212"/>
                    <a:gd name="T29" fmla="*/ 19 h 211"/>
                    <a:gd name="T30" fmla="*/ 31 w 212"/>
                    <a:gd name="T31" fmla="*/ 31 h 211"/>
                    <a:gd name="T32" fmla="*/ 20 w 212"/>
                    <a:gd name="T33" fmla="*/ 42 h 211"/>
                    <a:gd name="T34" fmla="*/ 12 w 212"/>
                    <a:gd name="T35" fmla="*/ 56 h 211"/>
                    <a:gd name="T36" fmla="*/ 6 w 212"/>
                    <a:gd name="T37" fmla="*/ 70 h 211"/>
                    <a:gd name="T38" fmla="*/ 0 w 212"/>
                    <a:gd name="T39" fmla="*/ 87 h 211"/>
                    <a:gd name="T40" fmla="*/ 0 w 212"/>
                    <a:gd name="T41" fmla="*/ 104 h 211"/>
                    <a:gd name="T42" fmla="*/ 0 w 212"/>
                    <a:gd name="T43" fmla="*/ 121 h 211"/>
                    <a:gd name="T44" fmla="*/ 6 w 212"/>
                    <a:gd name="T45" fmla="*/ 138 h 211"/>
                    <a:gd name="T46" fmla="*/ 12 w 212"/>
                    <a:gd name="T47" fmla="*/ 152 h 211"/>
                    <a:gd name="T48" fmla="*/ 20 w 212"/>
                    <a:gd name="T49" fmla="*/ 166 h 211"/>
                    <a:gd name="T50" fmla="*/ 31 w 212"/>
                    <a:gd name="T51" fmla="*/ 180 h 211"/>
                    <a:gd name="T52" fmla="*/ 43 w 212"/>
                    <a:gd name="T53" fmla="*/ 189 h 211"/>
                    <a:gd name="T54" fmla="*/ 57 w 212"/>
                    <a:gd name="T55" fmla="*/ 200 h 211"/>
                    <a:gd name="T56" fmla="*/ 71 w 212"/>
                    <a:gd name="T57" fmla="*/ 206 h 211"/>
                    <a:gd name="T58" fmla="*/ 88 w 212"/>
                    <a:gd name="T59" fmla="*/ 209 h 211"/>
                    <a:gd name="T60" fmla="*/ 105 w 212"/>
                    <a:gd name="T61" fmla="*/ 211 h 211"/>
                    <a:gd name="T62" fmla="*/ 122 w 212"/>
                    <a:gd name="T63" fmla="*/ 209 h 211"/>
                    <a:gd name="T64" fmla="*/ 139 w 212"/>
                    <a:gd name="T65" fmla="*/ 206 h 211"/>
                    <a:gd name="T66" fmla="*/ 156 w 212"/>
                    <a:gd name="T67" fmla="*/ 200 h 211"/>
                    <a:gd name="T68" fmla="*/ 167 w 212"/>
                    <a:gd name="T69" fmla="*/ 189 h 211"/>
                    <a:gd name="T70" fmla="*/ 181 w 212"/>
                    <a:gd name="T71" fmla="*/ 180 h 211"/>
                    <a:gd name="T72" fmla="*/ 192 w 212"/>
                    <a:gd name="T73" fmla="*/ 166 h 211"/>
                    <a:gd name="T74" fmla="*/ 201 w 212"/>
                    <a:gd name="T75" fmla="*/ 152 h 211"/>
                    <a:gd name="T76" fmla="*/ 206 w 212"/>
                    <a:gd name="T77" fmla="*/ 138 h 211"/>
                    <a:gd name="T78" fmla="*/ 209 w 212"/>
                    <a:gd name="T79" fmla="*/ 121 h 211"/>
                    <a:gd name="T80" fmla="*/ 212 w 212"/>
                    <a:gd name="T81" fmla="*/ 104 h 211"/>
                    <a:gd name="T82" fmla="*/ 212 w 212"/>
                    <a:gd name="T83" fmla="*/ 104 h 211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w 212"/>
                    <a:gd name="T127" fmla="*/ 0 h 211"/>
                    <a:gd name="T128" fmla="*/ 212 w 212"/>
                    <a:gd name="T129" fmla="*/ 211 h 211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T126" t="T127" r="T128" b="T129"/>
                  <a:pathLst>
                    <a:path w="212" h="211">
                      <a:moveTo>
                        <a:pt x="212" y="104"/>
                      </a:moveTo>
                      <a:lnTo>
                        <a:pt x="209" y="87"/>
                      </a:lnTo>
                      <a:lnTo>
                        <a:pt x="206" y="70"/>
                      </a:lnTo>
                      <a:lnTo>
                        <a:pt x="201" y="56"/>
                      </a:lnTo>
                      <a:lnTo>
                        <a:pt x="192" y="42"/>
                      </a:lnTo>
                      <a:lnTo>
                        <a:pt x="181" y="31"/>
                      </a:lnTo>
                      <a:lnTo>
                        <a:pt x="167" y="19"/>
                      </a:lnTo>
                      <a:lnTo>
                        <a:pt x="156" y="11"/>
                      </a:lnTo>
                      <a:lnTo>
                        <a:pt x="139" y="5"/>
                      </a:lnTo>
                      <a:lnTo>
                        <a:pt x="122" y="0"/>
                      </a:lnTo>
                      <a:lnTo>
                        <a:pt x="105" y="0"/>
                      </a:lnTo>
                      <a:lnTo>
                        <a:pt x="88" y="0"/>
                      </a:lnTo>
                      <a:lnTo>
                        <a:pt x="71" y="5"/>
                      </a:lnTo>
                      <a:lnTo>
                        <a:pt x="57" y="11"/>
                      </a:lnTo>
                      <a:lnTo>
                        <a:pt x="43" y="19"/>
                      </a:lnTo>
                      <a:lnTo>
                        <a:pt x="31" y="31"/>
                      </a:lnTo>
                      <a:lnTo>
                        <a:pt x="20" y="42"/>
                      </a:lnTo>
                      <a:lnTo>
                        <a:pt x="12" y="56"/>
                      </a:lnTo>
                      <a:lnTo>
                        <a:pt x="6" y="70"/>
                      </a:lnTo>
                      <a:lnTo>
                        <a:pt x="0" y="87"/>
                      </a:lnTo>
                      <a:lnTo>
                        <a:pt x="0" y="104"/>
                      </a:lnTo>
                      <a:lnTo>
                        <a:pt x="0" y="121"/>
                      </a:lnTo>
                      <a:lnTo>
                        <a:pt x="6" y="138"/>
                      </a:lnTo>
                      <a:lnTo>
                        <a:pt x="12" y="152"/>
                      </a:lnTo>
                      <a:lnTo>
                        <a:pt x="20" y="166"/>
                      </a:lnTo>
                      <a:lnTo>
                        <a:pt x="31" y="180"/>
                      </a:lnTo>
                      <a:lnTo>
                        <a:pt x="43" y="189"/>
                      </a:lnTo>
                      <a:lnTo>
                        <a:pt x="57" y="200"/>
                      </a:lnTo>
                      <a:lnTo>
                        <a:pt x="71" y="206"/>
                      </a:lnTo>
                      <a:lnTo>
                        <a:pt x="88" y="209"/>
                      </a:lnTo>
                      <a:lnTo>
                        <a:pt x="105" y="211"/>
                      </a:lnTo>
                      <a:lnTo>
                        <a:pt x="122" y="209"/>
                      </a:lnTo>
                      <a:lnTo>
                        <a:pt x="139" y="206"/>
                      </a:lnTo>
                      <a:lnTo>
                        <a:pt x="156" y="200"/>
                      </a:lnTo>
                      <a:lnTo>
                        <a:pt x="167" y="189"/>
                      </a:lnTo>
                      <a:lnTo>
                        <a:pt x="181" y="180"/>
                      </a:lnTo>
                      <a:lnTo>
                        <a:pt x="192" y="166"/>
                      </a:lnTo>
                      <a:lnTo>
                        <a:pt x="201" y="152"/>
                      </a:lnTo>
                      <a:lnTo>
                        <a:pt x="206" y="138"/>
                      </a:lnTo>
                      <a:lnTo>
                        <a:pt x="209" y="121"/>
                      </a:lnTo>
                      <a:lnTo>
                        <a:pt x="212" y="104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CA" altLang="en-US"/>
                </a:p>
              </p:txBody>
            </p:sp>
          </p:grpSp>
          <p:sp>
            <p:nvSpPr>
              <p:cNvPr id="19516" name="Rectangle 78">
                <a:extLst>
                  <a:ext uri="{FF2B5EF4-FFF2-40B4-BE49-F238E27FC236}">
                    <a16:creationId xmlns:a16="http://schemas.microsoft.com/office/drawing/2014/main" id="{BB999503-7F86-A4BC-CCCF-8F51684E7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2386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200">
                    <a:solidFill>
                      <a:srgbClr val="000000"/>
                    </a:solidFill>
                  </a:rPr>
                  <a:t>2</a:t>
                </a:r>
                <a:endParaRPr lang="en-US" altLang="en-US" b="1"/>
              </a:p>
            </p:txBody>
          </p:sp>
          <p:grpSp>
            <p:nvGrpSpPr>
              <p:cNvPr id="19517" name="Group 79">
                <a:extLst>
                  <a:ext uri="{FF2B5EF4-FFF2-40B4-BE49-F238E27FC236}">
                    <a16:creationId xmlns:a16="http://schemas.microsoft.com/office/drawing/2014/main" id="{50258BBC-9150-D099-1E47-F703518EB2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1584"/>
                <a:ext cx="241" cy="173"/>
                <a:chOff x="1784" y="2425"/>
                <a:chExt cx="160" cy="173"/>
              </a:xfrm>
            </p:grpSpPr>
            <p:sp>
              <p:nvSpPr>
                <p:cNvPr id="19518" name="Rectangle 80">
                  <a:extLst>
                    <a:ext uri="{FF2B5EF4-FFF2-40B4-BE49-F238E27FC236}">
                      <a16:creationId xmlns:a16="http://schemas.microsoft.com/office/drawing/2014/main" id="{602B9B5A-57F5-9979-E6C4-CB0FE1EBB3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84" y="2425"/>
                  <a:ext cx="53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1800">
                      <a:solidFill>
                        <a:schemeClr val="hlink"/>
                      </a:solidFill>
                    </a:rPr>
                    <a:t>u</a:t>
                  </a:r>
                  <a:endParaRPr lang="en-US" altLang="en-US" sz="2000" b="1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19519" name="Rectangle 81">
                  <a:extLst>
                    <a:ext uri="{FF2B5EF4-FFF2-40B4-BE49-F238E27FC236}">
                      <a16:creationId xmlns:a16="http://schemas.microsoft.com/office/drawing/2014/main" id="{670ACC54-AA54-2CF1-0AE6-093591EDEC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38" y="2425"/>
                  <a:ext cx="106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1800">
                      <a:solidFill>
                        <a:schemeClr val="hlink"/>
                      </a:solidFill>
                    </a:rPr>
                    <a:t> :5</a:t>
                  </a:r>
                  <a:endParaRPr lang="en-US" altLang="en-US" sz="2000" b="1">
                    <a:solidFill>
                      <a:schemeClr val="hlink"/>
                    </a:solidFill>
                  </a:endParaRPr>
                </a:p>
              </p:txBody>
            </p:sp>
          </p:grpSp>
        </p:grpSp>
      </p:grpSp>
      <p:grpSp>
        <p:nvGrpSpPr>
          <p:cNvPr id="13" name="Group 82">
            <a:extLst>
              <a:ext uri="{FF2B5EF4-FFF2-40B4-BE49-F238E27FC236}">
                <a16:creationId xmlns:a16="http://schemas.microsoft.com/office/drawing/2014/main" id="{BE527044-461C-FE38-023B-8433981E9AAB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752600"/>
            <a:ext cx="600075" cy="1014413"/>
            <a:chOff x="4224" y="1118"/>
            <a:chExt cx="378" cy="639"/>
          </a:xfrm>
        </p:grpSpPr>
        <p:sp>
          <p:nvSpPr>
            <p:cNvPr id="19503" name="Freeform 83">
              <a:extLst>
                <a:ext uri="{FF2B5EF4-FFF2-40B4-BE49-F238E27FC236}">
                  <a16:creationId xmlns:a16="http://schemas.microsoft.com/office/drawing/2014/main" id="{43DA561E-11A3-438E-30C1-988CECF48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" y="1522"/>
              <a:ext cx="81" cy="76"/>
            </a:xfrm>
            <a:custGeom>
              <a:avLst/>
              <a:gdLst>
                <a:gd name="T0" fmla="*/ 62 w 81"/>
                <a:gd name="T1" fmla="*/ 17 h 76"/>
                <a:gd name="T2" fmla="*/ 81 w 81"/>
                <a:gd name="T3" fmla="*/ 36 h 76"/>
                <a:gd name="T4" fmla="*/ 0 w 81"/>
                <a:gd name="T5" fmla="*/ 76 h 76"/>
                <a:gd name="T6" fmla="*/ 48 w 81"/>
                <a:gd name="T7" fmla="*/ 0 h 76"/>
                <a:gd name="T8" fmla="*/ 62 w 81"/>
                <a:gd name="T9" fmla="*/ 17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"/>
                <a:gd name="T16" fmla="*/ 0 h 76"/>
                <a:gd name="T17" fmla="*/ 81 w 81"/>
                <a:gd name="T18" fmla="*/ 76 h 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" h="76">
                  <a:moveTo>
                    <a:pt x="62" y="17"/>
                  </a:moveTo>
                  <a:lnTo>
                    <a:pt x="81" y="36"/>
                  </a:lnTo>
                  <a:lnTo>
                    <a:pt x="0" y="76"/>
                  </a:lnTo>
                  <a:lnTo>
                    <a:pt x="48" y="0"/>
                  </a:lnTo>
                  <a:lnTo>
                    <a:pt x="62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CA" altLang="en-US"/>
            </a:p>
          </p:txBody>
        </p:sp>
        <p:sp>
          <p:nvSpPr>
            <p:cNvPr id="19504" name="Freeform 84">
              <a:extLst>
                <a:ext uri="{FF2B5EF4-FFF2-40B4-BE49-F238E27FC236}">
                  <a16:creationId xmlns:a16="http://schemas.microsoft.com/office/drawing/2014/main" id="{52894B84-55EC-9E68-12B0-EFB53E4FE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" y="1118"/>
              <a:ext cx="112" cy="421"/>
            </a:xfrm>
            <a:custGeom>
              <a:avLst/>
              <a:gdLst>
                <a:gd name="T0" fmla="*/ 0 w 112"/>
                <a:gd name="T1" fmla="*/ 0 h 421"/>
                <a:gd name="T2" fmla="*/ 22 w 112"/>
                <a:gd name="T3" fmla="*/ 37 h 421"/>
                <a:gd name="T4" fmla="*/ 45 w 112"/>
                <a:gd name="T5" fmla="*/ 79 h 421"/>
                <a:gd name="T6" fmla="*/ 67 w 112"/>
                <a:gd name="T7" fmla="*/ 124 h 421"/>
                <a:gd name="T8" fmla="*/ 84 w 112"/>
                <a:gd name="T9" fmla="*/ 169 h 421"/>
                <a:gd name="T10" fmla="*/ 101 w 112"/>
                <a:gd name="T11" fmla="*/ 217 h 421"/>
                <a:gd name="T12" fmla="*/ 110 w 112"/>
                <a:gd name="T13" fmla="*/ 262 h 421"/>
                <a:gd name="T14" fmla="*/ 112 w 112"/>
                <a:gd name="T15" fmla="*/ 308 h 421"/>
                <a:gd name="T16" fmla="*/ 107 w 112"/>
                <a:gd name="T17" fmla="*/ 350 h 421"/>
                <a:gd name="T18" fmla="*/ 93 w 112"/>
                <a:gd name="T19" fmla="*/ 387 h 421"/>
                <a:gd name="T20" fmla="*/ 67 w 112"/>
                <a:gd name="T21" fmla="*/ 421 h 4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2"/>
                <a:gd name="T34" fmla="*/ 0 h 421"/>
                <a:gd name="T35" fmla="*/ 112 w 112"/>
                <a:gd name="T36" fmla="*/ 421 h 42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2" h="421">
                  <a:moveTo>
                    <a:pt x="0" y="0"/>
                  </a:moveTo>
                  <a:lnTo>
                    <a:pt x="22" y="37"/>
                  </a:lnTo>
                  <a:lnTo>
                    <a:pt x="45" y="79"/>
                  </a:lnTo>
                  <a:lnTo>
                    <a:pt x="67" y="124"/>
                  </a:lnTo>
                  <a:lnTo>
                    <a:pt x="84" y="169"/>
                  </a:lnTo>
                  <a:lnTo>
                    <a:pt x="101" y="217"/>
                  </a:lnTo>
                  <a:lnTo>
                    <a:pt x="110" y="262"/>
                  </a:lnTo>
                  <a:lnTo>
                    <a:pt x="112" y="308"/>
                  </a:lnTo>
                  <a:lnTo>
                    <a:pt x="107" y="350"/>
                  </a:lnTo>
                  <a:lnTo>
                    <a:pt x="93" y="387"/>
                  </a:lnTo>
                  <a:lnTo>
                    <a:pt x="67" y="421"/>
                  </a:lnTo>
                </a:path>
              </a:pathLst>
            </a:custGeom>
            <a:noFill/>
            <a:ln w="9525">
              <a:solidFill>
                <a:srgbClr val="114FF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CA" altLang="en-US"/>
            </a:p>
          </p:txBody>
        </p:sp>
        <p:grpSp>
          <p:nvGrpSpPr>
            <p:cNvPr id="19505" name="Group 85">
              <a:extLst>
                <a:ext uri="{FF2B5EF4-FFF2-40B4-BE49-F238E27FC236}">
                  <a16:creationId xmlns:a16="http://schemas.microsoft.com/office/drawing/2014/main" id="{5E33933C-9F49-F890-BE7F-3A36FC0A69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152"/>
              <a:ext cx="234" cy="214"/>
              <a:chOff x="4704" y="1389"/>
              <a:chExt cx="234" cy="214"/>
            </a:xfrm>
          </p:grpSpPr>
          <p:sp>
            <p:nvSpPr>
              <p:cNvPr id="19509" name="Freeform 86">
                <a:extLst>
                  <a:ext uri="{FF2B5EF4-FFF2-40B4-BE49-F238E27FC236}">
                    <a16:creationId xmlns:a16="http://schemas.microsoft.com/office/drawing/2014/main" id="{5D0A1A08-0897-83B4-0CDA-6C42F53036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6" y="1389"/>
                <a:ext cx="212" cy="211"/>
              </a:xfrm>
              <a:custGeom>
                <a:avLst/>
                <a:gdLst>
                  <a:gd name="T0" fmla="*/ 209 w 212"/>
                  <a:gd name="T1" fmla="*/ 104 h 211"/>
                  <a:gd name="T2" fmla="*/ 209 w 212"/>
                  <a:gd name="T3" fmla="*/ 124 h 211"/>
                  <a:gd name="T4" fmla="*/ 206 w 212"/>
                  <a:gd name="T5" fmla="*/ 141 h 211"/>
                  <a:gd name="T6" fmla="*/ 201 w 212"/>
                  <a:gd name="T7" fmla="*/ 155 h 211"/>
                  <a:gd name="T8" fmla="*/ 192 w 212"/>
                  <a:gd name="T9" fmla="*/ 169 h 211"/>
                  <a:gd name="T10" fmla="*/ 181 w 212"/>
                  <a:gd name="T11" fmla="*/ 180 h 211"/>
                  <a:gd name="T12" fmla="*/ 167 w 212"/>
                  <a:gd name="T13" fmla="*/ 192 h 211"/>
                  <a:gd name="T14" fmla="*/ 155 w 212"/>
                  <a:gd name="T15" fmla="*/ 200 h 211"/>
                  <a:gd name="T16" fmla="*/ 138 w 212"/>
                  <a:gd name="T17" fmla="*/ 206 h 211"/>
                  <a:gd name="T18" fmla="*/ 122 w 212"/>
                  <a:gd name="T19" fmla="*/ 211 h 211"/>
                  <a:gd name="T20" fmla="*/ 105 w 212"/>
                  <a:gd name="T21" fmla="*/ 211 h 211"/>
                  <a:gd name="T22" fmla="*/ 88 w 212"/>
                  <a:gd name="T23" fmla="*/ 211 h 211"/>
                  <a:gd name="T24" fmla="*/ 71 w 212"/>
                  <a:gd name="T25" fmla="*/ 206 h 211"/>
                  <a:gd name="T26" fmla="*/ 57 w 212"/>
                  <a:gd name="T27" fmla="*/ 200 h 211"/>
                  <a:gd name="T28" fmla="*/ 42 w 212"/>
                  <a:gd name="T29" fmla="*/ 192 h 211"/>
                  <a:gd name="T30" fmla="*/ 31 w 212"/>
                  <a:gd name="T31" fmla="*/ 180 h 211"/>
                  <a:gd name="T32" fmla="*/ 20 w 212"/>
                  <a:gd name="T33" fmla="*/ 169 h 211"/>
                  <a:gd name="T34" fmla="*/ 11 w 212"/>
                  <a:gd name="T35" fmla="*/ 155 h 211"/>
                  <a:gd name="T36" fmla="*/ 6 w 212"/>
                  <a:gd name="T37" fmla="*/ 141 h 211"/>
                  <a:gd name="T38" fmla="*/ 0 w 212"/>
                  <a:gd name="T39" fmla="*/ 124 h 211"/>
                  <a:gd name="T40" fmla="*/ 0 w 212"/>
                  <a:gd name="T41" fmla="*/ 107 h 211"/>
                  <a:gd name="T42" fmla="*/ 0 w 212"/>
                  <a:gd name="T43" fmla="*/ 90 h 211"/>
                  <a:gd name="T44" fmla="*/ 6 w 212"/>
                  <a:gd name="T45" fmla="*/ 73 h 211"/>
                  <a:gd name="T46" fmla="*/ 11 w 212"/>
                  <a:gd name="T47" fmla="*/ 59 h 211"/>
                  <a:gd name="T48" fmla="*/ 20 w 212"/>
                  <a:gd name="T49" fmla="*/ 45 h 211"/>
                  <a:gd name="T50" fmla="*/ 31 w 212"/>
                  <a:gd name="T51" fmla="*/ 31 h 211"/>
                  <a:gd name="T52" fmla="*/ 42 w 212"/>
                  <a:gd name="T53" fmla="*/ 19 h 211"/>
                  <a:gd name="T54" fmla="*/ 57 w 212"/>
                  <a:gd name="T55" fmla="*/ 11 h 211"/>
                  <a:gd name="T56" fmla="*/ 71 w 212"/>
                  <a:gd name="T57" fmla="*/ 5 h 211"/>
                  <a:gd name="T58" fmla="*/ 88 w 212"/>
                  <a:gd name="T59" fmla="*/ 3 h 211"/>
                  <a:gd name="T60" fmla="*/ 105 w 212"/>
                  <a:gd name="T61" fmla="*/ 0 h 211"/>
                  <a:gd name="T62" fmla="*/ 122 w 212"/>
                  <a:gd name="T63" fmla="*/ 3 h 211"/>
                  <a:gd name="T64" fmla="*/ 138 w 212"/>
                  <a:gd name="T65" fmla="*/ 5 h 211"/>
                  <a:gd name="T66" fmla="*/ 155 w 212"/>
                  <a:gd name="T67" fmla="*/ 11 h 211"/>
                  <a:gd name="T68" fmla="*/ 167 w 212"/>
                  <a:gd name="T69" fmla="*/ 19 h 211"/>
                  <a:gd name="T70" fmla="*/ 181 w 212"/>
                  <a:gd name="T71" fmla="*/ 31 h 211"/>
                  <a:gd name="T72" fmla="*/ 192 w 212"/>
                  <a:gd name="T73" fmla="*/ 45 h 211"/>
                  <a:gd name="T74" fmla="*/ 201 w 212"/>
                  <a:gd name="T75" fmla="*/ 59 h 211"/>
                  <a:gd name="T76" fmla="*/ 206 w 212"/>
                  <a:gd name="T77" fmla="*/ 73 h 211"/>
                  <a:gd name="T78" fmla="*/ 209 w 212"/>
                  <a:gd name="T79" fmla="*/ 90 h 211"/>
                  <a:gd name="T80" fmla="*/ 212 w 212"/>
                  <a:gd name="T81" fmla="*/ 107 h 211"/>
                  <a:gd name="T82" fmla="*/ 209 w 212"/>
                  <a:gd name="T83" fmla="*/ 104 h 211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12"/>
                  <a:gd name="T127" fmla="*/ 0 h 211"/>
                  <a:gd name="T128" fmla="*/ 212 w 212"/>
                  <a:gd name="T129" fmla="*/ 211 h 211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12" h="211">
                    <a:moveTo>
                      <a:pt x="209" y="104"/>
                    </a:moveTo>
                    <a:lnTo>
                      <a:pt x="209" y="124"/>
                    </a:lnTo>
                    <a:lnTo>
                      <a:pt x="206" y="141"/>
                    </a:lnTo>
                    <a:lnTo>
                      <a:pt x="201" y="155"/>
                    </a:lnTo>
                    <a:lnTo>
                      <a:pt x="192" y="169"/>
                    </a:lnTo>
                    <a:lnTo>
                      <a:pt x="181" y="180"/>
                    </a:lnTo>
                    <a:lnTo>
                      <a:pt x="167" y="192"/>
                    </a:lnTo>
                    <a:lnTo>
                      <a:pt x="155" y="200"/>
                    </a:lnTo>
                    <a:lnTo>
                      <a:pt x="138" y="206"/>
                    </a:lnTo>
                    <a:lnTo>
                      <a:pt x="122" y="211"/>
                    </a:lnTo>
                    <a:lnTo>
                      <a:pt x="105" y="211"/>
                    </a:lnTo>
                    <a:lnTo>
                      <a:pt x="88" y="211"/>
                    </a:lnTo>
                    <a:lnTo>
                      <a:pt x="71" y="206"/>
                    </a:lnTo>
                    <a:lnTo>
                      <a:pt x="57" y="200"/>
                    </a:lnTo>
                    <a:lnTo>
                      <a:pt x="42" y="192"/>
                    </a:lnTo>
                    <a:lnTo>
                      <a:pt x="31" y="180"/>
                    </a:lnTo>
                    <a:lnTo>
                      <a:pt x="20" y="169"/>
                    </a:lnTo>
                    <a:lnTo>
                      <a:pt x="11" y="155"/>
                    </a:lnTo>
                    <a:lnTo>
                      <a:pt x="6" y="141"/>
                    </a:lnTo>
                    <a:lnTo>
                      <a:pt x="0" y="124"/>
                    </a:lnTo>
                    <a:lnTo>
                      <a:pt x="0" y="107"/>
                    </a:lnTo>
                    <a:lnTo>
                      <a:pt x="0" y="90"/>
                    </a:lnTo>
                    <a:lnTo>
                      <a:pt x="6" y="73"/>
                    </a:lnTo>
                    <a:lnTo>
                      <a:pt x="11" y="59"/>
                    </a:lnTo>
                    <a:lnTo>
                      <a:pt x="20" y="45"/>
                    </a:lnTo>
                    <a:lnTo>
                      <a:pt x="31" y="31"/>
                    </a:lnTo>
                    <a:lnTo>
                      <a:pt x="42" y="19"/>
                    </a:lnTo>
                    <a:lnTo>
                      <a:pt x="57" y="11"/>
                    </a:lnTo>
                    <a:lnTo>
                      <a:pt x="71" y="5"/>
                    </a:lnTo>
                    <a:lnTo>
                      <a:pt x="88" y="3"/>
                    </a:lnTo>
                    <a:lnTo>
                      <a:pt x="105" y="0"/>
                    </a:lnTo>
                    <a:lnTo>
                      <a:pt x="122" y="3"/>
                    </a:lnTo>
                    <a:lnTo>
                      <a:pt x="138" y="5"/>
                    </a:lnTo>
                    <a:lnTo>
                      <a:pt x="155" y="11"/>
                    </a:lnTo>
                    <a:lnTo>
                      <a:pt x="167" y="19"/>
                    </a:lnTo>
                    <a:lnTo>
                      <a:pt x="181" y="31"/>
                    </a:lnTo>
                    <a:lnTo>
                      <a:pt x="192" y="45"/>
                    </a:lnTo>
                    <a:lnTo>
                      <a:pt x="201" y="59"/>
                    </a:lnTo>
                    <a:lnTo>
                      <a:pt x="206" y="73"/>
                    </a:lnTo>
                    <a:lnTo>
                      <a:pt x="209" y="90"/>
                    </a:lnTo>
                    <a:lnTo>
                      <a:pt x="212" y="107"/>
                    </a:lnTo>
                    <a:lnTo>
                      <a:pt x="209" y="1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CA" altLang="en-US"/>
              </a:p>
            </p:txBody>
          </p:sp>
          <p:sp>
            <p:nvSpPr>
              <p:cNvPr id="19510" name="Freeform 87">
                <a:extLst>
                  <a:ext uri="{FF2B5EF4-FFF2-40B4-BE49-F238E27FC236}">
                    <a16:creationId xmlns:a16="http://schemas.microsoft.com/office/drawing/2014/main" id="{17094F7E-078D-3A54-BD14-2E312C074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4" y="1392"/>
                <a:ext cx="212" cy="211"/>
              </a:xfrm>
              <a:custGeom>
                <a:avLst/>
                <a:gdLst>
                  <a:gd name="T0" fmla="*/ 209 w 212"/>
                  <a:gd name="T1" fmla="*/ 104 h 211"/>
                  <a:gd name="T2" fmla="*/ 209 w 212"/>
                  <a:gd name="T3" fmla="*/ 90 h 211"/>
                  <a:gd name="T4" fmla="*/ 206 w 212"/>
                  <a:gd name="T5" fmla="*/ 73 h 211"/>
                  <a:gd name="T6" fmla="*/ 201 w 212"/>
                  <a:gd name="T7" fmla="*/ 59 h 211"/>
                  <a:gd name="T8" fmla="*/ 192 w 212"/>
                  <a:gd name="T9" fmla="*/ 45 h 211"/>
                  <a:gd name="T10" fmla="*/ 181 w 212"/>
                  <a:gd name="T11" fmla="*/ 31 h 211"/>
                  <a:gd name="T12" fmla="*/ 167 w 212"/>
                  <a:gd name="T13" fmla="*/ 19 h 211"/>
                  <a:gd name="T14" fmla="*/ 155 w 212"/>
                  <a:gd name="T15" fmla="*/ 11 h 211"/>
                  <a:gd name="T16" fmla="*/ 138 w 212"/>
                  <a:gd name="T17" fmla="*/ 5 h 211"/>
                  <a:gd name="T18" fmla="*/ 122 w 212"/>
                  <a:gd name="T19" fmla="*/ 3 h 211"/>
                  <a:gd name="T20" fmla="*/ 105 w 212"/>
                  <a:gd name="T21" fmla="*/ 0 h 211"/>
                  <a:gd name="T22" fmla="*/ 88 w 212"/>
                  <a:gd name="T23" fmla="*/ 3 h 211"/>
                  <a:gd name="T24" fmla="*/ 71 w 212"/>
                  <a:gd name="T25" fmla="*/ 5 h 211"/>
                  <a:gd name="T26" fmla="*/ 57 w 212"/>
                  <a:gd name="T27" fmla="*/ 11 h 211"/>
                  <a:gd name="T28" fmla="*/ 42 w 212"/>
                  <a:gd name="T29" fmla="*/ 19 h 211"/>
                  <a:gd name="T30" fmla="*/ 31 w 212"/>
                  <a:gd name="T31" fmla="*/ 31 h 211"/>
                  <a:gd name="T32" fmla="*/ 20 w 212"/>
                  <a:gd name="T33" fmla="*/ 45 h 211"/>
                  <a:gd name="T34" fmla="*/ 11 w 212"/>
                  <a:gd name="T35" fmla="*/ 59 h 211"/>
                  <a:gd name="T36" fmla="*/ 6 w 212"/>
                  <a:gd name="T37" fmla="*/ 73 h 211"/>
                  <a:gd name="T38" fmla="*/ 0 w 212"/>
                  <a:gd name="T39" fmla="*/ 90 h 211"/>
                  <a:gd name="T40" fmla="*/ 0 w 212"/>
                  <a:gd name="T41" fmla="*/ 107 h 211"/>
                  <a:gd name="T42" fmla="*/ 0 w 212"/>
                  <a:gd name="T43" fmla="*/ 124 h 211"/>
                  <a:gd name="T44" fmla="*/ 6 w 212"/>
                  <a:gd name="T45" fmla="*/ 141 h 211"/>
                  <a:gd name="T46" fmla="*/ 11 w 212"/>
                  <a:gd name="T47" fmla="*/ 155 h 211"/>
                  <a:gd name="T48" fmla="*/ 20 w 212"/>
                  <a:gd name="T49" fmla="*/ 169 h 211"/>
                  <a:gd name="T50" fmla="*/ 31 w 212"/>
                  <a:gd name="T51" fmla="*/ 180 h 211"/>
                  <a:gd name="T52" fmla="*/ 42 w 212"/>
                  <a:gd name="T53" fmla="*/ 192 h 211"/>
                  <a:gd name="T54" fmla="*/ 57 w 212"/>
                  <a:gd name="T55" fmla="*/ 200 h 211"/>
                  <a:gd name="T56" fmla="*/ 71 w 212"/>
                  <a:gd name="T57" fmla="*/ 206 h 211"/>
                  <a:gd name="T58" fmla="*/ 88 w 212"/>
                  <a:gd name="T59" fmla="*/ 211 h 211"/>
                  <a:gd name="T60" fmla="*/ 105 w 212"/>
                  <a:gd name="T61" fmla="*/ 211 h 211"/>
                  <a:gd name="T62" fmla="*/ 122 w 212"/>
                  <a:gd name="T63" fmla="*/ 211 h 211"/>
                  <a:gd name="T64" fmla="*/ 138 w 212"/>
                  <a:gd name="T65" fmla="*/ 206 h 211"/>
                  <a:gd name="T66" fmla="*/ 155 w 212"/>
                  <a:gd name="T67" fmla="*/ 200 h 211"/>
                  <a:gd name="T68" fmla="*/ 167 w 212"/>
                  <a:gd name="T69" fmla="*/ 192 h 211"/>
                  <a:gd name="T70" fmla="*/ 181 w 212"/>
                  <a:gd name="T71" fmla="*/ 180 h 211"/>
                  <a:gd name="T72" fmla="*/ 192 w 212"/>
                  <a:gd name="T73" fmla="*/ 169 h 211"/>
                  <a:gd name="T74" fmla="*/ 201 w 212"/>
                  <a:gd name="T75" fmla="*/ 155 h 211"/>
                  <a:gd name="T76" fmla="*/ 206 w 212"/>
                  <a:gd name="T77" fmla="*/ 141 h 211"/>
                  <a:gd name="T78" fmla="*/ 209 w 212"/>
                  <a:gd name="T79" fmla="*/ 124 h 211"/>
                  <a:gd name="T80" fmla="*/ 212 w 212"/>
                  <a:gd name="T81" fmla="*/ 107 h 211"/>
                  <a:gd name="T82" fmla="*/ 212 w 212"/>
                  <a:gd name="T83" fmla="*/ 107 h 211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12"/>
                  <a:gd name="T127" fmla="*/ 0 h 211"/>
                  <a:gd name="T128" fmla="*/ 212 w 212"/>
                  <a:gd name="T129" fmla="*/ 211 h 211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12" h="211">
                    <a:moveTo>
                      <a:pt x="209" y="104"/>
                    </a:moveTo>
                    <a:lnTo>
                      <a:pt x="209" y="90"/>
                    </a:lnTo>
                    <a:lnTo>
                      <a:pt x="206" y="73"/>
                    </a:lnTo>
                    <a:lnTo>
                      <a:pt x="201" y="59"/>
                    </a:lnTo>
                    <a:lnTo>
                      <a:pt x="192" y="45"/>
                    </a:lnTo>
                    <a:lnTo>
                      <a:pt x="181" y="31"/>
                    </a:lnTo>
                    <a:lnTo>
                      <a:pt x="167" y="19"/>
                    </a:lnTo>
                    <a:lnTo>
                      <a:pt x="155" y="11"/>
                    </a:lnTo>
                    <a:lnTo>
                      <a:pt x="138" y="5"/>
                    </a:lnTo>
                    <a:lnTo>
                      <a:pt x="122" y="3"/>
                    </a:lnTo>
                    <a:lnTo>
                      <a:pt x="105" y="0"/>
                    </a:lnTo>
                    <a:lnTo>
                      <a:pt x="88" y="3"/>
                    </a:lnTo>
                    <a:lnTo>
                      <a:pt x="71" y="5"/>
                    </a:lnTo>
                    <a:lnTo>
                      <a:pt x="57" y="11"/>
                    </a:lnTo>
                    <a:lnTo>
                      <a:pt x="42" y="19"/>
                    </a:lnTo>
                    <a:lnTo>
                      <a:pt x="31" y="31"/>
                    </a:lnTo>
                    <a:lnTo>
                      <a:pt x="20" y="45"/>
                    </a:lnTo>
                    <a:lnTo>
                      <a:pt x="11" y="59"/>
                    </a:lnTo>
                    <a:lnTo>
                      <a:pt x="6" y="73"/>
                    </a:lnTo>
                    <a:lnTo>
                      <a:pt x="0" y="90"/>
                    </a:lnTo>
                    <a:lnTo>
                      <a:pt x="0" y="107"/>
                    </a:lnTo>
                    <a:lnTo>
                      <a:pt x="0" y="124"/>
                    </a:lnTo>
                    <a:lnTo>
                      <a:pt x="6" y="141"/>
                    </a:lnTo>
                    <a:lnTo>
                      <a:pt x="11" y="155"/>
                    </a:lnTo>
                    <a:lnTo>
                      <a:pt x="20" y="169"/>
                    </a:lnTo>
                    <a:lnTo>
                      <a:pt x="31" y="180"/>
                    </a:lnTo>
                    <a:lnTo>
                      <a:pt x="42" y="192"/>
                    </a:lnTo>
                    <a:lnTo>
                      <a:pt x="57" y="200"/>
                    </a:lnTo>
                    <a:lnTo>
                      <a:pt x="71" y="206"/>
                    </a:lnTo>
                    <a:lnTo>
                      <a:pt x="88" y="211"/>
                    </a:lnTo>
                    <a:lnTo>
                      <a:pt x="105" y="211"/>
                    </a:lnTo>
                    <a:lnTo>
                      <a:pt x="122" y="211"/>
                    </a:lnTo>
                    <a:lnTo>
                      <a:pt x="138" y="206"/>
                    </a:lnTo>
                    <a:lnTo>
                      <a:pt x="155" y="200"/>
                    </a:lnTo>
                    <a:lnTo>
                      <a:pt x="167" y="192"/>
                    </a:lnTo>
                    <a:lnTo>
                      <a:pt x="181" y="180"/>
                    </a:lnTo>
                    <a:lnTo>
                      <a:pt x="192" y="169"/>
                    </a:lnTo>
                    <a:lnTo>
                      <a:pt x="201" y="155"/>
                    </a:lnTo>
                    <a:lnTo>
                      <a:pt x="206" y="141"/>
                    </a:lnTo>
                    <a:lnTo>
                      <a:pt x="209" y="124"/>
                    </a:lnTo>
                    <a:lnTo>
                      <a:pt x="212" y="10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CA" altLang="en-US"/>
              </a:p>
            </p:txBody>
          </p:sp>
          <p:sp>
            <p:nvSpPr>
              <p:cNvPr id="19511" name="Rectangle 88">
                <a:extLst>
                  <a:ext uri="{FF2B5EF4-FFF2-40B4-BE49-F238E27FC236}">
                    <a16:creationId xmlns:a16="http://schemas.microsoft.com/office/drawing/2014/main" id="{497825C3-AECD-2D20-B190-3F27787E1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1440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200">
                    <a:solidFill>
                      <a:srgbClr val="000000"/>
                    </a:solidFill>
                  </a:rPr>
                  <a:t>3</a:t>
                </a:r>
                <a:endParaRPr lang="en-US" altLang="en-US" b="1"/>
              </a:p>
            </p:txBody>
          </p:sp>
        </p:grpSp>
        <p:grpSp>
          <p:nvGrpSpPr>
            <p:cNvPr id="19506" name="Group 89">
              <a:extLst>
                <a:ext uri="{FF2B5EF4-FFF2-40B4-BE49-F238E27FC236}">
                  <a16:creationId xmlns:a16="http://schemas.microsoft.com/office/drawing/2014/main" id="{5EDB76F8-1811-D5AE-1BDF-5C1BCAB375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1584"/>
              <a:ext cx="295" cy="173"/>
              <a:chOff x="4390" y="1234"/>
              <a:chExt cx="295" cy="173"/>
            </a:xfrm>
          </p:grpSpPr>
          <p:sp>
            <p:nvSpPr>
              <p:cNvPr id="19507" name="Rectangle 90">
                <a:extLst>
                  <a:ext uri="{FF2B5EF4-FFF2-40B4-BE49-F238E27FC236}">
                    <a16:creationId xmlns:a16="http://schemas.microsoft.com/office/drawing/2014/main" id="{E7666779-34F8-1B7A-DC54-B43AD33261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0" y="1234"/>
                <a:ext cx="8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114FFB"/>
                    </a:solidFill>
                  </a:rPr>
                  <a:t>u</a:t>
                </a:r>
                <a:endParaRPr lang="en-US" altLang="en-US" sz="2000" b="1">
                  <a:solidFill>
                    <a:srgbClr val="114FFB"/>
                  </a:solidFill>
                </a:endParaRPr>
              </a:p>
            </p:txBody>
          </p:sp>
          <p:sp>
            <p:nvSpPr>
              <p:cNvPr id="19508" name="Rectangle 91">
                <a:extLst>
                  <a:ext uri="{FF2B5EF4-FFF2-40B4-BE49-F238E27FC236}">
                    <a16:creationId xmlns:a16="http://schemas.microsoft.com/office/drawing/2014/main" id="{8576B128-77B2-FD35-2777-765CE9AF2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1" y="1234"/>
                <a:ext cx="24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114FFB"/>
                    </a:solidFill>
                  </a:rPr>
                  <a:t> = 7</a:t>
                </a:r>
                <a:endParaRPr lang="en-US" altLang="en-US" sz="2000" b="1">
                  <a:solidFill>
                    <a:srgbClr val="114FFB"/>
                  </a:solidFill>
                </a:endParaRPr>
              </a:p>
            </p:txBody>
          </p:sp>
        </p:grpSp>
      </p:grpSp>
      <p:sp>
        <p:nvSpPr>
          <p:cNvPr id="19502" name="Slide Number Placeholder 93">
            <a:extLst>
              <a:ext uri="{FF2B5EF4-FFF2-40B4-BE49-F238E27FC236}">
                <a16:creationId xmlns:a16="http://schemas.microsoft.com/office/drawing/2014/main" id="{92EED859-F3A6-C099-C1AA-1723121AD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C81E367-19F5-084B-9B54-56A11A902DDE}" type="slidenum">
              <a:rPr lang="en-US" altLang="en-US"/>
              <a:pPr/>
              <a:t>4</a:t>
            </a:fld>
            <a:r>
              <a:rPr lang="en-US" alt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82" grpId="0" animBg="1"/>
      <p:bldP spid="3178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5FCA9AA2-3A5B-9B9E-3E65-852D57AF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Coherence Invariants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45669D7-49E9-B528-0E34-CBE2B7433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4953000"/>
          </a:xfrm>
        </p:spPr>
        <p:txBody>
          <a:bodyPr/>
          <a:lstStyle/>
          <a:p>
            <a:pPr marL="514350" indent="-514350">
              <a:buFont typeface="Comic Sans MS" panose="030F0902030302020204" pitchFamily="66" charset="0"/>
              <a:buAutoNum type="arabicPeriod"/>
            </a:pPr>
            <a:r>
              <a:rPr lang="en-CA" altLang="en-US" sz="2400" b="1"/>
              <a:t>Single-Writer, Multiple-Reader (SWMR) Invariant  </a:t>
            </a:r>
          </a:p>
          <a:p>
            <a:pPr marL="514350" indent="-514350">
              <a:buFont typeface="Comic Sans MS" panose="030F0902030302020204" pitchFamily="66" charset="0"/>
              <a:buAutoNum type="arabicPeriod"/>
            </a:pPr>
            <a:endParaRPr lang="en-CA" altLang="en-US" sz="2400" b="1"/>
          </a:p>
          <a:p>
            <a:pPr marL="514350" indent="-514350">
              <a:buFont typeface="Comic Sans MS" panose="030F0902030302020204" pitchFamily="66" charset="0"/>
              <a:buAutoNum type="arabicPeriod"/>
            </a:pPr>
            <a:endParaRPr lang="en-CA" altLang="en-US" sz="2400" b="1"/>
          </a:p>
          <a:p>
            <a:pPr marL="514350" indent="-514350">
              <a:buFont typeface="Comic Sans MS" panose="030F0902030302020204" pitchFamily="66" charset="0"/>
              <a:buAutoNum type="arabicPeriod"/>
            </a:pPr>
            <a:endParaRPr lang="en-CA" altLang="en-US" sz="2400" b="1"/>
          </a:p>
          <a:p>
            <a:pPr marL="514350" indent="-514350">
              <a:buFont typeface="Comic Sans MS" panose="030F0902030302020204" pitchFamily="66" charset="0"/>
              <a:buAutoNum type="arabicPeriod"/>
            </a:pPr>
            <a:endParaRPr lang="en-CA" altLang="en-US" sz="2400" b="1"/>
          </a:p>
          <a:p>
            <a:pPr marL="514350" indent="-514350">
              <a:buFont typeface="Comic Sans MS" panose="030F0902030302020204" pitchFamily="66" charset="0"/>
              <a:buAutoNum type="arabicPeriod"/>
            </a:pPr>
            <a:endParaRPr lang="en-CA" altLang="en-US" sz="2400" b="1"/>
          </a:p>
          <a:p>
            <a:pPr marL="514350" indent="-514350">
              <a:buFont typeface="Comic Sans MS" panose="030F0902030302020204" pitchFamily="66" charset="0"/>
              <a:buAutoNum type="arabicPeriod"/>
            </a:pPr>
            <a:endParaRPr lang="en-CA" altLang="en-US" sz="2400" b="1"/>
          </a:p>
          <a:p>
            <a:pPr marL="514350" indent="-514350">
              <a:buFont typeface="Comic Sans MS" panose="030F0902030302020204" pitchFamily="66" charset="0"/>
              <a:buAutoNum type="arabicPeriod"/>
            </a:pPr>
            <a:r>
              <a:rPr lang="en-CA" altLang="en-US" sz="2400" b="1"/>
              <a:t>Data-Value Invariant.</a:t>
            </a:r>
            <a:r>
              <a:rPr lang="en-CA" altLang="en-US" sz="2400"/>
              <a:t>  The value of the memory location at the start of an epoch is the same as the value of the memory location at the end of its last read-write epoch.</a:t>
            </a: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9B0A040D-E9C9-8CB5-6B35-38349F4B8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29F2DC5-C5A9-894E-86B1-09702E88A23E}" type="slidenum">
              <a:rPr lang="en-US" altLang="en-US"/>
              <a:pPr/>
              <a:t>5</a:t>
            </a:fld>
            <a:r>
              <a:rPr lang="en-US" altLang="en-US"/>
              <a:t> </a:t>
            </a:r>
          </a:p>
        </p:txBody>
      </p:sp>
      <p:cxnSp>
        <p:nvCxnSpPr>
          <p:cNvPr id="20485" name="Straight Arrow Connector 6">
            <a:extLst>
              <a:ext uri="{FF2B5EF4-FFF2-40B4-BE49-F238E27FC236}">
                <a16:creationId xmlns:a16="http://schemas.microsoft.com/office/drawing/2014/main" id="{F29C1806-60A5-5DCD-F272-680431CCDDB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5800" y="2398713"/>
            <a:ext cx="77565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6" name="Straight Connector 8">
            <a:extLst>
              <a:ext uri="{FF2B5EF4-FFF2-40B4-BE49-F238E27FC236}">
                <a16:creationId xmlns:a16="http://schemas.microsoft.com/office/drawing/2014/main" id="{D1873C51-E00A-F213-DBFC-198FEB3501A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58975" y="2022475"/>
            <a:ext cx="0" cy="833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7" name="Straight Connector 9">
            <a:extLst>
              <a:ext uri="{FF2B5EF4-FFF2-40B4-BE49-F238E27FC236}">
                <a16:creationId xmlns:a16="http://schemas.microsoft.com/office/drawing/2014/main" id="{89D92B6E-FAE3-0E51-546F-01BFE606B01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73513" y="2028825"/>
            <a:ext cx="0" cy="83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8" name="Straight Connector 10">
            <a:extLst>
              <a:ext uri="{FF2B5EF4-FFF2-40B4-BE49-F238E27FC236}">
                <a16:creationId xmlns:a16="http://schemas.microsoft.com/office/drawing/2014/main" id="{21DF2CEE-D3DC-13E2-AC41-1447FDB2D47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54613" y="2033588"/>
            <a:ext cx="0" cy="833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9" name="Straight Connector 11">
            <a:extLst>
              <a:ext uri="{FF2B5EF4-FFF2-40B4-BE49-F238E27FC236}">
                <a16:creationId xmlns:a16="http://schemas.microsoft.com/office/drawing/2014/main" id="{F4B7B323-715B-7355-EDE6-61D04B4975D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188075" y="2039938"/>
            <a:ext cx="0" cy="83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0" name="TextBox 13">
            <a:extLst>
              <a:ext uri="{FF2B5EF4-FFF2-40B4-BE49-F238E27FC236}">
                <a16:creationId xmlns:a16="http://schemas.microsoft.com/office/drawing/2014/main" id="{CEA1007C-0E3C-E7D6-9C1B-748D502F2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063" y="2659063"/>
            <a:ext cx="981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/>
              <a:t>read-write</a:t>
            </a:r>
          </a:p>
          <a:p>
            <a:r>
              <a:rPr lang="en-CA" altLang="en-US"/>
              <a:t>Core 0</a:t>
            </a:r>
          </a:p>
        </p:txBody>
      </p:sp>
      <p:sp>
        <p:nvSpPr>
          <p:cNvPr id="20491" name="TextBox 14">
            <a:extLst>
              <a:ext uri="{FF2B5EF4-FFF2-40B4-BE49-F238E27FC236}">
                <a16:creationId xmlns:a16="http://schemas.microsoft.com/office/drawing/2014/main" id="{9DAD05C5-D801-815F-7041-F129E27B6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163" y="2665413"/>
            <a:ext cx="9302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/>
              <a:t>read-only</a:t>
            </a:r>
          </a:p>
          <a:p>
            <a:r>
              <a:rPr lang="en-CA" altLang="en-US"/>
              <a:t>Core 0,2</a:t>
            </a:r>
          </a:p>
        </p:txBody>
      </p:sp>
      <p:sp>
        <p:nvSpPr>
          <p:cNvPr id="20492" name="TextBox 15">
            <a:extLst>
              <a:ext uri="{FF2B5EF4-FFF2-40B4-BE49-F238E27FC236}">
                <a16:creationId xmlns:a16="http://schemas.microsoft.com/office/drawing/2014/main" id="{8D8434E1-1B57-A8D9-1DCA-9FF25889F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378200"/>
            <a:ext cx="10715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/>
              <a:t>C0: store A</a:t>
            </a:r>
          </a:p>
        </p:txBody>
      </p:sp>
      <p:sp>
        <p:nvSpPr>
          <p:cNvPr id="20493" name="TextBox 16">
            <a:extLst>
              <a:ext uri="{FF2B5EF4-FFF2-40B4-BE49-F238E27FC236}">
                <a16:creationId xmlns:a16="http://schemas.microsoft.com/office/drawing/2014/main" id="{71C514F8-DF8C-DABE-73FA-AEA66FF59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382963"/>
            <a:ext cx="10112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/>
              <a:t>C2: load A</a:t>
            </a:r>
          </a:p>
        </p:txBody>
      </p:sp>
      <p:sp>
        <p:nvSpPr>
          <p:cNvPr id="20494" name="TextBox 17">
            <a:extLst>
              <a:ext uri="{FF2B5EF4-FFF2-40B4-BE49-F238E27FC236}">
                <a16:creationId xmlns:a16="http://schemas.microsoft.com/office/drawing/2014/main" id="{673DEF42-BAFC-CFFD-66EA-72192746B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3389313"/>
            <a:ext cx="10715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/>
              <a:t>C3: store A</a:t>
            </a:r>
          </a:p>
        </p:txBody>
      </p:sp>
      <p:sp>
        <p:nvSpPr>
          <p:cNvPr id="20495" name="TextBox 18">
            <a:extLst>
              <a:ext uri="{FF2B5EF4-FFF2-40B4-BE49-F238E27FC236}">
                <a16:creationId xmlns:a16="http://schemas.microsoft.com/office/drawing/2014/main" id="{357FB990-C826-3971-42D6-0BBA5DBB1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488" y="2620963"/>
            <a:ext cx="9794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/>
              <a:t>read-write</a:t>
            </a:r>
          </a:p>
          <a:p>
            <a:r>
              <a:rPr lang="en-CA" altLang="en-US"/>
              <a:t>Core 3</a:t>
            </a:r>
          </a:p>
        </p:txBody>
      </p:sp>
      <p:sp>
        <p:nvSpPr>
          <p:cNvPr id="20496" name="TextBox 19">
            <a:extLst>
              <a:ext uri="{FF2B5EF4-FFF2-40B4-BE49-F238E27FC236}">
                <a16:creationId xmlns:a16="http://schemas.microsoft.com/office/drawing/2014/main" id="{D3DF773F-E288-1154-3DFB-5B9C61503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625" y="2611438"/>
            <a:ext cx="9302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/>
              <a:t>read-only</a:t>
            </a:r>
          </a:p>
          <a:p>
            <a:r>
              <a:rPr lang="en-CA" altLang="en-US"/>
              <a:t>Core 0,3</a:t>
            </a:r>
          </a:p>
        </p:txBody>
      </p:sp>
      <p:sp>
        <p:nvSpPr>
          <p:cNvPr id="20497" name="TextBox 20">
            <a:extLst>
              <a:ext uri="{FF2B5EF4-FFF2-40B4-BE49-F238E27FC236}">
                <a16:creationId xmlns:a16="http://schemas.microsoft.com/office/drawing/2014/main" id="{5D937B12-DD4F-8578-A542-58B4F12ED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1263" y="2632075"/>
            <a:ext cx="10207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/>
              <a:t>read-only</a:t>
            </a:r>
          </a:p>
          <a:p>
            <a:r>
              <a:rPr lang="en-CA" altLang="en-US"/>
              <a:t>Core 0,1,3</a:t>
            </a:r>
          </a:p>
        </p:txBody>
      </p:sp>
      <p:sp>
        <p:nvSpPr>
          <p:cNvPr id="20498" name="TextBox 21">
            <a:extLst>
              <a:ext uri="{FF2B5EF4-FFF2-40B4-BE49-F238E27FC236}">
                <a16:creationId xmlns:a16="http://schemas.microsoft.com/office/drawing/2014/main" id="{9EEA0422-CAFB-348C-74D5-0129ABABF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3328988"/>
            <a:ext cx="10112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/>
              <a:t>C0: load A</a:t>
            </a:r>
          </a:p>
        </p:txBody>
      </p:sp>
      <p:sp>
        <p:nvSpPr>
          <p:cNvPr id="20499" name="TextBox 22">
            <a:extLst>
              <a:ext uri="{FF2B5EF4-FFF2-40B4-BE49-F238E27FC236}">
                <a16:creationId xmlns:a16="http://schemas.microsoft.com/office/drawing/2014/main" id="{774BDA9E-3C82-7213-07A0-575D698C9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8113" y="3416300"/>
            <a:ext cx="10112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/>
              <a:t>C1: load 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6C1DF141-C8F8-EF6C-6F52-4596FAB85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Coherence States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032831A0-22C9-913A-585A-A6FB92B64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How to design system satisfying invariants?</a:t>
            </a:r>
          </a:p>
          <a:p>
            <a:endParaRPr lang="en-US" altLang="en-US"/>
          </a:p>
          <a:p>
            <a:r>
              <a:rPr lang="en-US" altLang="en-US">
                <a:solidFill>
                  <a:srgbClr val="0000FF"/>
                </a:solidFill>
              </a:rPr>
              <a:t>Track “state” of memory block copies and  ensure states changes satisfy invariants.   </a:t>
            </a:r>
          </a:p>
          <a:p>
            <a:endParaRPr lang="en-US" altLang="en-US"/>
          </a:p>
          <a:p>
            <a:r>
              <a:rPr lang="en-US" altLang="en-US"/>
              <a:t>Typical states: “modified”, “shared”, “invalid”.</a:t>
            </a:r>
          </a:p>
          <a:p>
            <a:endParaRPr lang="en-US" altLang="en-US"/>
          </a:p>
          <a:p>
            <a:r>
              <a:rPr lang="en-US" altLang="en-US"/>
              <a:t>Mechanism for updating block state called a </a:t>
            </a:r>
            <a:r>
              <a:rPr lang="en-US" altLang="en-US">
                <a:solidFill>
                  <a:srgbClr val="008000"/>
                </a:solidFill>
              </a:rPr>
              <a:t>coherence protocol</a:t>
            </a:r>
            <a:r>
              <a:rPr lang="en-US" altLang="en-US"/>
              <a:t>.</a:t>
            </a:r>
          </a:p>
          <a:p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F50A9924-2CFD-5938-CCDC-73BDFC725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7D2431A-64ED-AC4C-8024-446A35DCE08D}" type="slidenum">
              <a:rPr lang="en-US" altLang="en-US"/>
              <a:pPr/>
              <a:t>6</a:t>
            </a:fld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D292B8AB-4052-5A1E-9C8B-49CB74706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325" y="4467225"/>
            <a:ext cx="7348538" cy="1463675"/>
          </a:xfrm>
        </p:spPr>
        <p:txBody>
          <a:bodyPr/>
          <a:lstStyle/>
          <a:p>
            <a:pPr>
              <a:buFontTx/>
              <a:buNone/>
            </a:pPr>
            <a:r>
              <a:rPr lang="en-CA" altLang="en-US" sz="2400"/>
              <a:t>	Cache can be accessed by CPU (</a:t>
            </a:r>
            <a:r>
              <a:rPr lang="en-CA" altLang="en-US" sz="2400">
                <a:solidFill>
                  <a:srgbClr val="FF0000"/>
                </a:solidFill>
                <a:sym typeface="Wingdings 2" pitchFamily="2" charset="2"/>
              </a:rPr>
              <a:t></a:t>
            </a:r>
            <a:r>
              <a:rPr lang="en-CA" altLang="en-US" sz="2400"/>
              <a:t>) or Bus (</a:t>
            </a:r>
            <a:r>
              <a:rPr lang="en-CA" altLang="en-US" sz="2400">
                <a:solidFill>
                  <a:srgbClr val="FF0000"/>
                </a:solidFill>
                <a:sym typeface="Wingdings 2" pitchFamily="2" charset="2"/>
              </a:rPr>
              <a:t></a:t>
            </a:r>
            <a:r>
              <a:rPr lang="en-CA" altLang="en-US" sz="2400"/>
              <a:t>).</a:t>
            </a:r>
          </a:p>
          <a:p>
            <a:pPr>
              <a:buFontTx/>
              <a:buNone/>
            </a:pPr>
            <a:endParaRPr lang="en-CA" altLang="en-US" sz="2400"/>
          </a:p>
          <a:p>
            <a:pPr>
              <a:buFontTx/>
              <a:buNone/>
            </a:pPr>
            <a:r>
              <a:rPr lang="en-CA" altLang="en-US" sz="2400"/>
              <a:t>	We will consider effect of each starting with CPU.</a:t>
            </a:r>
          </a:p>
        </p:txBody>
      </p:sp>
      <p:sp>
        <p:nvSpPr>
          <p:cNvPr id="23555" name="Slide Number Placeholder 3">
            <a:extLst>
              <a:ext uri="{FF2B5EF4-FFF2-40B4-BE49-F238E27FC236}">
                <a16:creationId xmlns:a16="http://schemas.microsoft.com/office/drawing/2014/main" id="{0C2BA432-40C0-BD11-5995-E7FCDFA4B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A366994-DDB9-DB4D-8D76-79DA276E0B82}" type="slidenum">
              <a:rPr lang="en-US" altLang="en-US"/>
              <a:pPr/>
              <a:t>7</a:t>
            </a:fld>
            <a:r>
              <a:rPr lang="en-US" altLang="en-US"/>
              <a:t> </a:t>
            </a:r>
          </a:p>
        </p:txBody>
      </p:sp>
      <p:grpSp>
        <p:nvGrpSpPr>
          <p:cNvPr id="23556" name="Group 82">
            <a:extLst>
              <a:ext uri="{FF2B5EF4-FFF2-40B4-BE49-F238E27FC236}">
                <a16:creationId xmlns:a16="http://schemas.microsoft.com/office/drawing/2014/main" id="{43EABD75-60AE-BC6E-5988-97AA4DC8FED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65250" y="1155700"/>
            <a:ext cx="5940425" cy="2774950"/>
            <a:chOff x="3526" y="3024"/>
            <a:chExt cx="1871" cy="874"/>
          </a:xfrm>
        </p:grpSpPr>
        <p:sp>
          <p:nvSpPr>
            <p:cNvPr id="23561" name="Line 44">
              <a:extLst>
                <a:ext uri="{FF2B5EF4-FFF2-40B4-BE49-F238E27FC236}">
                  <a16:creationId xmlns:a16="http://schemas.microsoft.com/office/drawing/2014/main" id="{3DD07A35-6A35-861F-A286-3C8BE7A643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8" y="3600"/>
              <a:ext cx="1839" cy="1"/>
            </a:xfrm>
            <a:prstGeom prst="line">
              <a:avLst/>
            </a:prstGeom>
            <a:noFill/>
            <a:ln w="76200">
              <a:solidFill>
                <a:srgbClr val="114FFB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2" name="Line 45">
              <a:extLst>
                <a:ext uri="{FF2B5EF4-FFF2-40B4-BE49-F238E27FC236}">
                  <a16:creationId xmlns:a16="http://schemas.microsoft.com/office/drawing/2014/main" id="{2FFCCB6C-21F5-3499-8BD9-1830F91FD1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4" y="3600"/>
              <a:ext cx="1" cy="11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3" name="Freeform 46">
              <a:extLst>
                <a:ext uri="{FF2B5EF4-FFF2-40B4-BE49-F238E27FC236}">
                  <a16:creationId xmlns:a16="http://schemas.microsoft.com/office/drawing/2014/main" id="{C5BB605C-3F69-B5A7-913C-1B8DB1A1C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" y="3715"/>
              <a:ext cx="635" cy="173"/>
            </a:xfrm>
            <a:custGeom>
              <a:avLst/>
              <a:gdLst>
                <a:gd name="T0" fmla="*/ 0 w 798"/>
                <a:gd name="T1" fmla="*/ 0 h 238"/>
                <a:gd name="T2" fmla="*/ 26 w 798"/>
                <a:gd name="T3" fmla="*/ 0 h 238"/>
                <a:gd name="T4" fmla="*/ 26 w 798"/>
                <a:gd name="T5" fmla="*/ 2 h 238"/>
                <a:gd name="T6" fmla="*/ 2 w 798"/>
                <a:gd name="T7" fmla="*/ 2 h 238"/>
                <a:gd name="T8" fmla="*/ 2 w 798"/>
                <a:gd name="T9" fmla="*/ 0 h 238"/>
                <a:gd name="T10" fmla="*/ 0 w 798"/>
                <a:gd name="T11" fmla="*/ 0 h 2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98"/>
                <a:gd name="T19" fmla="*/ 0 h 238"/>
                <a:gd name="T20" fmla="*/ 798 w 798"/>
                <a:gd name="T21" fmla="*/ 238 h 23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98" h="238">
                  <a:moveTo>
                    <a:pt x="0" y="0"/>
                  </a:moveTo>
                  <a:lnTo>
                    <a:pt x="798" y="0"/>
                  </a:lnTo>
                  <a:lnTo>
                    <a:pt x="798" y="238"/>
                  </a:lnTo>
                  <a:lnTo>
                    <a:pt x="3" y="238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64" name="Freeform 47">
              <a:extLst>
                <a:ext uri="{FF2B5EF4-FFF2-40B4-BE49-F238E27FC236}">
                  <a16:creationId xmlns:a16="http://schemas.microsoft.com/office/drawing/2014/main" id="{61B60745-CA40-20BC-BE86-A97E6C7E8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" y="3715"/>
              <a:ext cx="635" cy="173"/>
            </a:xfrm>
            <a:custGeom>
              <a:avLst/>
              <a:gdLst>
                <a:gd name="T0" fmla="*/ 0 w 798"/>
                <a:gd name="T1" fmla="*/ 0 h 238"/>
                <a:gd name="T2" fmla="*/ 26 w 798"/>
                <a:gd name="T3" fmla="*/ 0 h 238"/>
                <a:gd name="T4" fmla="*/ 26 w 798"/>
                <a:gd name="T5" fmla="*/ 2 h 238"/>
                <a:gd name="T6" fmla="*/ 2 w 798"/>
                <a:gd name="T7" fmla="*/ 2 h 238"/>
                <a:gd name="T8" fmla="*/ 2 w 798"/>
                <a:gd name="T9" fmla="*/ 0 h 2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98"/>
                <a:gd name="T16" fmla="*/ 0 h 238"/>
                <a:gd name="T17" fmla="*/ 798 w 798"/>
                <a:gd name="T18" fmla="*/ 238 h 2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98" h="238">
                  <a:moveTo>
                    <a:pt x="0" y="0"/>
                  </a:moveTo>
                  <a:lnTo>
                    <a:pt x="798" y="0"/>
                  </a:lnTo>
                  <a:lnTo>
                    <a:pt x="798" y="238"/>
                  </a:lnTo>
                  <a:lnTo>
                    <a:pt x="3" y="238"/>
                  </a:lnTo>
                  <a:lnTo>
                    <a:pt x="3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65" name="Rectangle 49">
              <a:extLst>
                <a:ext uri="{FF2B5EF4-FFF2-40B4-BE49-F238E27FC236}">
                  <a16:creationId xmlns:a16="http://schemas.microsoft.com/office/drawing/2014/main" id="{7F57D127-8646-E2D1-8D4B-B8AFDA88D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2" y="3754"/>
              <a:ext cx="2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500">
                  <a:solidFill>
                    <a:srgbClr val="000000"/>
                  </a:solidFill>
                </a:rPr>
                <a:t>Mem</a:t>
              </a:r>
              <a:endParaRPr lang="en-US" altLang="en-US" sz="1800" b="1"/>
            </a:p>
          </p:txBody>
        </p:sp>
        <p:sp>
          <p:nvSpPr>
            <p:cNvPr id="23566" name="Line 50">
              <a:extLst>
                <a:ext uri="{FF2B5EF4-FFF2-40B4-BE49-F238E27FC236}">
                  <a16:creationId xmlns:a16="http://schemas.microsoft.com/office/drawing/2014/main" id="{39E61E44-8D4D-0AE8-C383-D3E22344A5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6" y="3494"/>
              <a:ext cx="3" cy="10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7" name="Line 51">
              <a:extLst>
                <a:ext uri="{FF2B5EF4-FFF2-40B4-BE49-F238E27FC236}">
                  <a16:creationId xmlns:a16="http://schemas.microsoft.com/office/drawing/2014/main" id="{2D007069-1BF4-597E-F652-935C3FC22C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9" y="3264"/>
              <a:ext cx="0" cy="5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8" name="Freeform 52">
              <a:extLst>
                <a:ext uri="{FF2B5EF4-FFF2-40B4-BE49-F238E27FC236}">
                  <a16:creationId xmlns:a16="http://schemas.microsoft.com/office/drawing/2014/main" id="{FA07AFC4-16C1-F287-16FB-4516769FD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3033"/>
              <a:ext cx="254" cy="231"/>
            </a:xfrm>
            <a:custGeom>
              <a:avLst/>
              <a:gdLst>
                <a:gd name="T0" fmla="*/ 11 w 319"/>
                <a:gd name="T1" fmla="*/ 1 h 318"/>
                <a:gd name="T2" fmla="*/ 11 w 319"/>
                <a:gd name="T3" fmla="*/ 1 h 318"/>
                <a:gd name="T4" fmla="*/ 11 w 319"/>
                <a:gd name="T5" fmla="*/ 2 h 318"/>
                <a:gd name="T6" fmla="*/ 10 w 319"/>
                <a:gd name="T7" fmla="*/ 2 h 318"/>
                <a:gd name="T8" fmla="*/ 9 w 319"/>
                <a:gd name="T9" fmla="*/ 2 h 318"/>
                <a:gd name="T10" fmla="*/ 9 w 319"/>
                <a:gd name="T11" fmla="*/ 2 h 318"/>
                <a:gd name="T12" fmla="*/ 9 w 319"/>
                <a:gd name="T13" fmla="*/ 3 h 318"/>
                <a:gd name="T14" fmla="*/ 7 w 319"/>
                <a:gd name="T15" fmla="*/ 3 h 318"/>
                <a:gd name="T16" fmla="*/ 7 w 319"/>
                <a:gd name="T17" fmla="*/ 3 h 318"/>
                <a:gd name="T18" fmla="*/ 6 w 319"/>
                <a:gd name="T19" fmla="*/ 3 h 318"/>
                <a:gd name="T20" fmla="*/ 6 w 319"/>
                <a:gd name="T21" fmla="*/ 3 h 318"/>
                <a:gd name="T22" fmla="*/ 5 w 319"/>
                <a:gd name="T23" fmla="*/ 3 h 318"/>
                <a:gd name="T24" fmla="*/ 4 w 319"/>
                <a:gd name="T25" fmla="*/ 3 h 318"/>
                <a:gd name="T26" fmla="*/ 3 w 319"/>
                <a:gd name="T27" fmla="*/ 3 h 318"/>
                <a:gd name="T28" fmla="*/ 2 w 319"/>
                <a:gd name="T29" fmla="*/ 3 h 318"/>
                <a:gd name="T30" fmla="*/ 2 w 319"/>
                <a:gd name="T31" fmla="*/ 2 h 318"/>
                <a:gd name="T32" fmla="*/ 2 w 319"/>
                <a:gd name="T33" fmla="*/ 2 h 318"/>
                <a:gd name="T34" fmla="*/ 2 w 319"/>
                <a:gd name="T35" fmla="*/ 2 h 318"/>
                <a:gd name="T36" fmla="*/ 2 w 319"/>
                <a:gd name="T37" fmla="*/ 2 h 318"/>
                <a:gd name="T38" fmla="*/ 0 w 319"/>
                <a:gd name="T39" fmla="*/ 1 h 318"/>
                <a:gd name="T40" fmla="*/ 0 w 319"/>
                <a:gd name="T41" fmla="*/ 1 h 318"/>
                <a:gd name="T42" fmla="*/ 0 w 319"/>
                <a:gd name="T43" fmla="*/ 1 h 318"/>
                <a:gd name="T44" fmla="*/ 2 w 319"/>
                <a:gd name="T45" fmla="*/ 1 h 318"/>
                <a:gd name="T46" fmla="*/ 2 w 319"/>
                <a:gd name="T47" fmla="*/ 1 h 318"/>
                <a:gd name="T48" fmla="*/ 2 w 319"/>
                <a:gd name="T49" fmla="*/ 1 h 318"/>
                <a:gd name="T50" fmla="*/ 2 w 319"/>
                <a:gd name="T51" fmla="*/ 1 h 318"/>
                <a:gd name="T52" fmla="*/ 2 w 319"/>
                <a:gd name="T53" fmla="*/ 1 h 318"/>
                <a:gd name="T54" fmla="*/ 3 w 319"/>
                <a:gd name="T55" fmla="*/ 1 h 318"/>
                <a:gd name="T56" fmla="*/ 4 w 319"/>
                <a:gd name="T57" fmla="*/ 1 h 318"/>
                <a:gd name="T58" fmla="*/ 5 w 319"/>
                <a:gd name="T59" fmla="*/ 1 h 318"/>
                <a:gd name="T60" fmla="*/ 6 w 319"/>
                <a:gd name="T61" fmla="*/ 0 h 318"/>
                <a:gd name="T62" fmla="*/ 6 w 319"/>
                <a:gd name="T63" fmla="*/ 1 h 318"/>
                <a:gd name="T64" fmla="*/ 7 w 319"/>
                <a:gd name="T65" fmla="*/ 1 h 318"/>
                <a:gd name="T66" fmla="*/ 7 w 319"/>
                <a:gd name="T67" fmla="*/ 1 h 318"/>
                <a:gd name="T68" fmla="*/ 9 w 319"/>
                <a:gd name="T69" fmla="*/ 1 h 318"/>
                <a:gd name="T70" fmla="*/ 9 w 319"/>
                <a:gd name="T71" fmla="*/ 1 h 318"/>
                <a:gd name="T72" fmla="*/ 9 w 319"/>
                <a:gd name="T73" fmla="*/ 1 h 318"/>
                <a:gd name="T74" fmla="*/ 10 w 319"/>
                <a:gd name="T75" fmla="*/ 1 h 318"/>
                <a:gd name="T76" fmla="*/ 11 w 319"/>
                <a:gd name="T77" fmla="*/ 1 h 318"/>
                <a:gd name="T78" fmla="*/ 11 w 319"/>
                <a:gd name="T79" fmla="*/ 1 h 318"/>
                <a:gd name="T80" fmla="*/ 11 w 319"/>
                <a:gd name="T81" fmla="*/ 1 h 318"/>
                <a:gd name="T82" fmla="*/ 11 w 319"/>
                <a:gd name="T83" fmla="*/ 1 h 31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19"/>
                <a:gd name="T127" fmla="*/ 0 h 318"/>
                <a:gd name="T128" fmla="*/ 319 w 319"/>
                <a:gd name="T129" fmla="*/ 318 h 31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19" h="318">
                  <a:moveTo>
                    <a:pt x="316" y="159"/>
                  </a:moveTo>
                  <a:lnTo>
                    <a:pt x="316" y="185"/>
                  </a:lnTo>
                  <a:lnTo>
                    <a:pt x="311" y="209"/>
                  </a:lnTo>
                  <a:lnTo>
                    <a:pt x="300" y="230"/>
                  </a:lnTo>
                  <a:lnTo>
                    <a:pt x="287" y="252"/>
                  </a:lnTo>
                  <a:lnTo>
                    <a:pt x="271" y="270"/>
                  </a:lnTo>
                  <a:lnTo>
                    <a:pt x="252" y="286"/>
                  </a:lnTo>
                  <a:lnTo>
                    <a:pt x="231" y="299"/>
                  </a:lnTo>
                  <a:lnTo>
                    <a:pt x="210" y="310"/>
                  </a:lnTo>
                  <a:lnTo>
                    <a:pt x="183" y="315"/>
                  </a:lnTo>
                  <a:lnTo>
                    <a:pt x="160" y="318"/>
                  </a:lnTo>
                  <a:lnTo>
                    <a:pt x="133" y="315"/>
                  </a:lnTo>
                  <a:lnTo>
                    <a:pt x="109" y="310"/>
                  </a:lnTo>
                  <a:lnTo>
                    <a:pt x="85" y="299"/>
                  </a:lnTo>
                  <a:lnTo>
                    <a:pt x="64" y="286"/>
                  </a:lnTo>
                  <a:lnTo>
                    <a:pt x="46" y="270"/>
                  </a:lnTo>
                  <a:lnTo>
                    <a:pt x="30" y="252"/>
                  </a:lnTo>
                  <a:lnTo>
                    <a:pt x="16" y="230"/>
                  </a:lnTo>
                  <a:lnTo>
                    <a:pt x="8" y="209"/>
                  </a:lnTo>
                  <a:lnTo>
                    <a:pt x="0" y="185"/>
                  </a:lnTo>
                  <a:lnTo>
                    <a:pt x="0" y="159"/>
                  </a:lnTo>
                  <a:lnTo>
                    <a:pt x="0" y="132"/>
                  </a:lnTo>
                  <a:lnTo>
                    <a:pt x="8" y="108"/>
                  </a:lnTo>
                  <a:lnTo>
                    <a:pt x="16" y="85"/>
                  </a:lnTo>
                  <a:lnTo>
                    <a:pt x="30" y="63"/>
                  </a:lnTo>
                  <a:lnTo>
                    <a:pt x="46" y="45"/>
                  </a:lnTo>
                  <a:lnTo>
                    <a:pt x="64" y="29"/>
                  </a:lnTo>
                  <a:lnTo>
                    <a:pt x="85" y="18"/>
                  </a:lnTo>
                  <a:lnTo>
                    <a:pt x="109" y="8"/>
                  </a:lnTo>
                  <a:lnTo>
                    <a:pt x="133" y="2"/>
                  </a:lnTo>
                  <a:lnTo>
                    <a:pt x="160" y="0"/>
                  </a:lnTo>
                  <a:lnTo>
                    <a:pt x="183" y="2"/>
                  </a:lnTo>
                  <a:lnTo>
                    <a:pt x="210" y="8"/>
                  </a:lnTo>
                  <a:lnTo>
                    <a:pt x="231" y="18"/>
                  </a:lnTo>
                  <a:lnTo>
                    <a:pt x="252" y="29"/>
                  </a:lnTo>
                  <a:lnTo>
                    <a:pt x="271" y="45"/>
                  </a:lnTo>
                  <a:lnTo>
                    <a:pt x="287" y="63"/>
                  </a:lnTo>
                  <a:lnTo>
                    <a:pt x="300" y="85"/>
                  </a:lnTo>
                  <a:lnTo>
                    <a:pt x="311" y="108"/>
                  </a:lnTo>
                  <a:lnTo>
                    <a:pt x="316" y="132"/>
                  </a:lnTo>
                  <a:lnTo>
                    <a:pt x="319" y="159"/>
                  </a:lnTo>
                  <a:lnTo>
                    <a:pt x="316" y="1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69" name="Freeform 53">
              <a:extLst>
                <a:ext uri="{FF2B5EF4-FFF2-40B4-BE49-F238E27FC236}">
                  <a16:creationId xmlns:a16="http://schemas.microsoft.com/office/drawing/2014/main" id="{5239E7EE-9FDC-49F9-BD78-F57764733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3033"/>
              <a:ext cx="254" cy="231"/>
            </a:xfrm>
            <a:custGeom>
              <a:avLst/>
              <a:gdLst>
                <a:gd name="T0" fmla="*/ 11 w 319"/>
                <a:gd name="T1" fmla="*/ 1 h 318"/>
                <a:gd name="T2" fmla="*/ 11 w 319"/>
                <a:gd name="T3" fmla="*/ 1 h 318"/>
                <a:gd name="T4" fmla="*/ 11 w 319"/>
                <a:gd name="T5" fmla="*/ 1 h 318"/>
                <a:gd name="T6" fmla="*/ 10 w 319"/>
                <a:gd name="T7" fmla="*/ 1 h 318"/>
                <a:gd name="T8" fmla="*/ 9 w 319"/>
                <a:gd name="T9" fmla="*/ 1 h 318"/>
                <a:gd name="T10" fmla="*/ 9 w 319"/>
                <a:gd name="T11" fmla="*/ 1 h 318"/>
                <a:gd name="T12" fmla="*/ 9 w 319"/>
                <a:gd name="T13" fmla="*/ 1 h 318"/>
                <a:gd name="T14" fmla="*/ 7 w 319"/>
                <a:gd name="T15" fmla="*/ 1 h 318"/>
                <a:gd name="T16" fmla="*/ 7 w 319"/>
                <a:gd name="T17" fmla="*/ 1 h 318"/>
                <a:gd name="T18" fmla="*/ 6 w 319"/>
                <a:gd name="T19" fmla="*/ 1 h 318"/>
                <a:gd name="T20" fmla="*/ 6 w 319"/>
                <a:gd name="T21" fmla="*/ 0 h 318"/>
                <a:gd name="T22" fmla="*/ 5 w 319"/>
                <a:gd name="T23" fmla="*/ 1 h 318"/>
                <a:gd name="T24" fmla="*/ 4 w 319"/>
                <a:gd name="T25" fmla="*/ 1 h 318"/>
                <a:gd name="T26" fmla="*/ 3 w 319"/>
                <a:gd name="T27" fmla="*/ 1 h 318"/>
                <a:gd name="T28" fmla="*/ 2 w 319"/>
                <a:gd name="T29" fmla="*/ 1 h 318"/>
                <a:gd name="T30" fmla="*/ 2 w 319"/>
                <a:gd name="T31" fmla="*/ 1 h 318"/>
                <a:gd name="T32" fmla="*/ 2 w 319"/>
                <a:gd name="T33" fmla="*/ 1 h 318"/>
                <a:gd name="T34" fmla="*/ 2 w 319"/>
                <a:gd name="T35" fmla="*/ 1 h 318"/>
                <a:gd name="T36" fmla="*/ 2 w 319"/>
                <a:gd name="T37" fmla="*/ 1 h 318"/>
                <a:gd name="T38" fmla="*/ 0 w 319"/>
                <a:gd name="T39" fmla="*/ 1 h 318"/>
                <a:gd name="T40" fmla="*/ 0 w 319"/>
                <a:gd name="T41" fmla="*/ 1 h 318"/>
                <a:gd name="T42" fmla="*/ 0 w 319"/>
                <a:gd name="T43" fmla="*/ 1 h 318"/>
                <a:gd name="T44" fmla="*/ 2 w 319"/>
                <a:gd name="T45" fmla="*/ 2 h 318"/>
                <a:gd name="T46" fmla="*/ 2 w 319"/>
                <a:gd name="T47" fmla="*/ 2 h 318"/>
                <a:gd name="T48" fmla="*/ 2 w 319"/>
                <a:gd name="T49" fmla="*/ 2 h 318"/>
                <a:gd name="T50" fmla="*/ 2 w 319"/>
                <a:gd name="T51" fmla="*/ 2 h 318"/>
                <a:gd name="T52" fmla="*/ 2 w 319"/>
                <a:gd name="T53" fmla="*/ 3 h 318"/>
                <a:gd name="T54" fmla="*/ 3 w 319"/>
                <a:gd name="T55" fmla="*/ 3 h 318"/>
                <a:gd name="T56" fmla="*/ 4 w 319"/>
                <a:gd name="T57" fmla="*/ 3 h 318"/>
                <a:gd name="T58" fmla="*/ 5 w 319"/>
                <a:gd name="T59" fmla="*/ 3 h 318"/>
                <a:gd name="T60" fmla="*/ 6 w 319"/>
                <a:gd name="T61" fmla="*/ 3 h 318"/>
                <a:gd name="T62" fmla="*/ 6 w 319"/>
                <a:gd name="T63" fmla="*/ 3 h 318"/>
                <a:gd name="T64" fmla="*/ 7 w 319"/>
                <a:gd name="T65" fmla="*/ 3 h 318"/>
                <a:gd name="T66" fmla="*/ 7 w 319"/>
                <a:gd name="T67" fmla="*/ 3 h 318"/>
                <a:gd name="T68" fmla="*/ 9 w 319"/>
                <a:gd name="T69" fmla="*/ 3 h 318"/>
                <a:gd name="T70" fmla="*/ 9 w 319"/>
                <a:gd name="T71" fmla="*/ 2 h 318"/>
                <a:gd name="T72" fmla="*/ 9 w 319"/>
                <a:gd name="T73" fmla="*/ 2 h 318"/>
                <a:gd name="T74" fmla="*/ 10 w 319"/>
                <a:gd name="T75" fmla="*/ 2 h 318"/>
                <a:gd name="T76" fmla="*/ 11 w 319"/>
                <a:gd name="T77" fmla="*/ 2 h 318"/>
                <a:gd name="T78" fmla="*/ 11 w 319"/>
                <a:gd name="T79" fmla="*/ 1 h 318"/>
                <a:gd name="T80" fmla="*/ 11 w 319"/>
                <a:gd name="T81" fmla="*/ 1 h 318"/>
                <a:gd name="T82" fmla="*/ 11 w 319"/>
                <a:gd name="T83" fmla="*/ 1 h 31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19"/>
                <a:gd name="T127" fmla="*/ 0 h 318"/>
                <a:gd name="T128" fmla="*/ 319 w 319"/>
                <a:gd name="T129" fmla="*/ 318 h 31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19" h="318">
                  <a:moveTo>
                    <a:pt x="316" y="159"/>
                  </a:moveTo>
                  <a:lnTo>
                    <a:pt x="316" y="132"/>
                  </a:lnTo>
                  <a:lnTo>
                    <a:pt x="311" y="108"/>
                  </a:lnTo>
                  <a:lnTo>
                    <a:pt x="300" y="85"/>
                  </a:lnTo>
                  <a:lnTo>
                    <a:pt x="287" y="63"/>
                  </a:lnTo>
                  <a:lnTo>
                    <a:pt x="271" y="45"/>
                  </a:lnTo>
                  <a:lnTo>
                    <a:pt x="252" y="29"/>
                  </a:lnTo>
                  <a:lnTo>
                    <a:pt x="231" y="18"/>
                  </a:lnTo>
                  <a:lnTo>
                    <a:pt x="210" y="8"/>
                  </a:lnTo>
                  <a:lnTo>
                    <a:pt x="183" y="2"/>
                  </a:lnTo>
                  <a:lnTo>
                    <a:pt x="160" y="0"/>
                  </a:lnTo>
                  <a:lnTo>
                    <a:pt x="133" y="2"/>
                  </a:lnTo>
                  <a:lnTo>
                    <a:pt x="109" y="8"/>
                  </a:lnTo>
                  <a:lnTo>
                    <a:pt x="85" y="18"/>
                  </a:lnTo>
                  <a:lnTo>
                    <a:pt x="64" y="29"/>
                  </a:lnTo>
                  <a:lnTo>
                    <a:pt x="46" y="45"/>
                  </a:lnTo>
                  <a:lnTo>
                    <a:pt x="30" y="63"/>
                  </a:lnTo>
                  <a:lnTo>
                    <a:pt x="16" y="85"/>
                  </a:lnTo>
                  <a:lnTo>
                    <a:pt x="8" y="108"/>
                  </a:lnTo>
                  <a:lnTo>
                    <a:pt x="0" y="132"/>
                  </a:lnTo>
                  <a:lnTo>
                    <a:pt x="0" y="159"/>
                  </a:lnTo>
                  <a:lnTo>
                    <a:pt x="0" y="185"/>
                  </a:lnTo>
                  <a:lnTo>
                    <a:pt x="8" y="209"/>
                  </a:lnTo>
                  <a:lnTo>
                    <a:pt x="16" y="230"/>
                  </a:lnTo>
                  <a:lnTo>
                    <a:pt x="30" y="252"/>
                  </a:lnTo>
                  <a:lnTo>
                    <a:pt x="46" y="270"/>
                  </a:lnTo>
                  <a:lnTo>
                    <a:pt x="64" y="286"/>
                  </a:lnTo>
                  <a:lnTo>
                    <a:pt x="85" y="299"/>
                  </a:lnTo>
                  <a:lnTo>
                    <a:pt x="109" y="310"/>
                  </a:lnTo>
                  <a:lnTo>
                    <a:pt x="133" y="315"/>
                  </a:lnTo>
                  <a:lnTo>
                    <a:pt x="160" y="318"/>
                  </a:lnTo>
                  <a:lnTo>
                    <a:pt x="183" y="315"/>
                  </a:lnTo>
                  <a:lnTo>
                    <a:pt x="210" y="310"/>
                  </a:lnTo>
                  <a:lnTo>
                    <a:pt x="231" y="299"/>
                  </a:lnTo>
                  <a:lnTo>
                    <a:pt x="252" y="286"/>
                  </a:lnTo>
                  <a:lnTo>
                    <a:pt x="271" y="270"/>
                  </a:lnTo>
                  <a:lnTo>
                    <a:pt x="287" y="252"/>
                  </a:lnTo>
                  <a:lnTo>
                    <a:pt x="300" y="230"/>
                  </a:lnTo>
                  <a:lnTo>
                    <a:pt x="311" y="209"/>
                  </a:lnTo>
                  <a:lnTo>
                    <a:pt x="316" y="185"/>
                  </a:lnTo>
                  <a:lnTo>
                    <a:pt x="319" y="159"/>
                  </a:lnTo>
                </a:path>
              </a:pathLst>
            </a:cu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70" name="Freeform 54">
              <a:extLst>
                <a:ext uri="{FF2B5EF4-FFF2-40B4-BE49-F238E27FC236}">
                  <a16:creationId xmlns:a16="http://schemas.microsoft.com/office/drawing/2014/main" id="{43C53999-F037-9975-0561-C6DA0BFEA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3321"/>
              <a:ext cx="382" cy="173"/>
            </a:xfrm>
            <a:custGeom>
              <a:avLst/>
              <a:gdLst>
                <a:gd name="T0" fmla="*/ 0 w 480"/>
                <a:gd name="T1" fmla="*/ 0 h 239"/>
                <a:gd name="T2" fmla="*/ 16 w 480"/>
                <a:gd name="T3" fmla="*/ 0 h 239"/>
                <a:gd name="T4" fmla="*/ 16 w 480"/>
                <a:gd name="T5" fmla="*/ 2 h 239"/>
                <a:gd name="T6" fmla="*/ 2 w 480"/>
                <a:gd name="T7" fmla="*/ 2 h 239"/>
                <a:gd name="T8" fmla="*/ 2 w 480"/>
                <a:gd name="T9" fmla="*/ 0 h 239"/>
                <a:gd name="T10" fmla="*/ 0 w 480"/>
                <a:gd name="T11" fmla="*/ 0 h 2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80"/>
                <a:gd name="T19" fmla="*/ 0 h 239"/>
                <a:gd name="T20" fmla="*/ 480 w 480"/>
                <a:gd name="T21" fmla="*/ 239 h 2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80" h="239">
                  <a:moveTo>
                    <a:pt x="0" y="0"/>
                  </a:moveTo>
                  <a:lnTo>
                    <a:pt x="480" y="0"/>
                  </a:lnTo>
                  <a:lnTo>
                    <a:pt x="480" y="239"/>
                  </a:lnTo>
                  <a:lnTo>
                    <a:pt x="3" y="239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71" name="Freeform 55">
              <a:extLst>
                <a:ext uri="{FF2B5EF4-FFF2-40B4-BE49-F238E27FC236}">
                  <a16:creationId xmlns:a16="http://schemas.microsoft.com/office/drawing/2014/main" id="{1972D0ED-1F2D-8208-A87A-DF1AB2E74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3321"/>
              <a:ext cx="382" cy="173"/>
            </a:xfrm>
            <a:custGeom>
              <a:avLst/>
              <a:gdLst>
                <a:gd name="T0" fmla="*/ 0 w 480"/>
                <a:gd name="T1" fmla="*/ 0 h 239"/>
                <a:gd name="T2" fmla="*/ 16 w 480"/>
                <a:gd name="T3" fmla="*/ 0 h 239"/>
                <a:gd name="T4" fmla="*/ 16 w 480"/>
                <a:gd name="T5" fmla="*/ 2 h 239"/>
                <a:gd name="T6" fmla="*/ 2 w 480"/>
                <a:gd name="T7" fmla="*/ 2 h 239"/>
                <a:gd name="T8" fmla="*/ 2 w 480"/>
                <a:gd name="T9" fmla="*/ 0 h 2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0"/>
                <a:gd name="T16" fmla="*/ 0 h 239"/>
                <a:gd name="T17" fmla="*/ 480 w 480"/>
                <a:gd name="T18" fmla="*/ 239 h 2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0" h="239">
                  <a:moveTo>
                    <a:pt x="0" y="0"/>
                  </a:moveTo>
                  <a:lnTo>
                    <a:pt x="480" y="0"/>
                  </a:lnTo>
                  <a:lnTo>
                    <a:pt x="480" y="239"/>
                  </a:lnTo>
                  <a:lnTo>
                    <a:pt x="3" y="239"/>
                  </a:lnTo>
                  <a:lnTo>
                    <a:pt x="3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72" name="Rectangle 56">
              <a:extLst>
                <a:ext uri="{FF2B5EF4-FFF2-40B4-BE49-F238E27FC236}">
                  <a16:creationId xmlns:a16="http://schemas.microsoft.com/office/drawing/2014/main" id="{7675134B-0FA4-277E-1F3F-0F8F52AD4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0" y="3057"/>
              <a:ext cx="7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800">
                  <a:solidFill>
                    <a:srgbClr val="000000"/>
                  </a:solidFill>
                </a:rPr>
                <a:t>P</a:t>
              </a:r>
              <a:endParaRPr lang="en-US" altLang="en-US" sz="3600" b="1"/>
            </a:p>
          </p:txBody>
        </p:sp>
        <p:sp>
          <p:nvSpPr>
            <p:cNvPr id="23573" name="Rectangle 57">
              <a:extLst>
                <a:ext uri="{FF2B5EF4-FFF2-40B4-BE49-F238E27FC236}">
                  <a16:creationId xmlns:a16="http://schemas.microsoft.com/office/drawing/2014/main" id="{0D804FE6-C021-6647-9A39-38FDBCB76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3103"/>
              <a:ext cx="42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700">
                <a:solidFill>
                  <a:srgbClr val="000000"/>
                </a:solidFill>
              </a:endParaRPr>
            </a:p>
            <a:p>
              <a:r>
                <a:rPr lang="en-US" altLang="en-US" sz="1100">
                  <a:solidFill>
                    <a:srgbClr val="000000"/>
                  </a:solidFill>
                </a:rPr>
                <a:t>1</a:t>
              </a:r>
              <a:endParaRPr lang="en-US" altLang="en-US" sz="2800" b="1"/>
            </a:p>
          </p:txBody>
        </p:sp>
        <p:sp>
          <p:nvSpPr>
            <p:cNvPr id="23574" name="Rectangle 58">
              <a:extLst>
                <a:ext uri="{FF2B5EF4-FFF2-40B4-BE49-F238E27FC236}">
                  <a16:creationId xmlns:a16="http://schemas.microsoft.com/office/drawing/2014/main" id="{D305DEC2-735F-1AF4-5006-2420B5151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" y="3368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500">
                  <a:solidFill>
                    <a:srgbClr val="000000"/>
                  </a:solidFill>
                </a:rPr>
                <a:t>$</a:t>
              </a:r>
              <a:endParaRPr lang="en-US" altLang="en-US" sz="1800" b="1"/>
            </a:p>
          </p:txBody>
        </p:sp>
        <p:sp>
          <p:nvSpPr>
            <p:cNvPr id="23575" name="Line 60">
              <a:extLst>
                <a:ext uri="{FF2B5EF4-FFF2-40B4-BE49-F238E27FC236}">
                  <a16:creationId xmlns:a16="http://schemas.microsoft.com/office/drawing/2014/main" id="{360C3E83-C52A-570A-3509-4E018DA9AC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7" y="3485"/>
              <a:ext cx="1" cy="11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6" name="Line 61">
              <a:extLst>
                <a:ext uri="{FF2B5EF4-FFF2-40B4-BE49-F238E27FC236}">
                  <a16:creationId xmlns:a16="http://schemas.microsoft.com/office/drawing/2014/main" id="{38CD09AC-FAE4-A5A1-A774-5B7019F554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7" y="3254"/>
              <a:ext cx="1" cy="5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7" name="Freeform 62">
              <a:extLst>
                <a:ext uri="{FF2B5EF4-FFF2-40B4-BE49-F238E27FC236}">
                  <a16:creationId xmlns:a16="http://schemas.microsoft.com/office/drawing/2014/main" id="{5125F18C-DC66-0098-ED53-7D51F27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1" y="3024"/>
              <a:ext cx="253" cy="230"/>
            </a:xfrm>
            <a:custGeom>
              <a:avLst/>
              <a:gdLst>
                <a:gd name="T0" fmla="*/ 11 w 318"/>
                <a:gd name="T1" fmla="*/ 1 h 318"/>
                <a:gd name="T2" fmla="*/ 11 w 318"/>
                <a:gd name="T3" fmla="*/ 1 h 318"/>
                <a:gd name="T4" fmla="*/ 10 w 318"/>
                <a:gd name="T5" fmla="*/ 2 h 318"/>
                <a:gd name="T6" fmla="*/ 10 w 318"/>
                <a:gd name="T7" fmla="*/ 2 h 318"/>
                <a:gd name="T8" fmla="*/ 9 w 318"/>
                <a:gd name="T9" fmla="*/ 2 h 318"/>
                <a:gd name="T10" fmla="*/ 9 w 318"/>
                <a:gd name="T11" fmla="*/ 2 h 318"/>
                <a:gd name="T12" fmla="*/ 9 w 318"/>
                <a:gd name="T13" fmla="*/ 3 h 318"/>
                <a:gd name="T14" fmla="*/ 7 w 318"/>
                <a:gd name="T15" fmla="*/ 3 h 318"/>
                <a:gd name="T16" fmla="*/ 7 w 318"/>
                <a:gd name="T17" fmla="*/ 3 h 318"/>
                <a:gd name="T18" fmla="*/ 6 w 318"/>
                <a:gd name="T19" fmla="*/ 3 h 318"/>
                <a:gd name="T20" fmla="*/ 6 w 318"/>
                <a:gd name="T21" fmla="*/ 3 h 318"/>
                <a:gd name="T22" fmla="*/ 5 w 318"/>
                <a:gd name="T23" fmla="*/ 3 h 318"/>
                <a:gd name="T24" fmla="*/ 4 w 318"/>
                <a:gd name="T25" fmla="*/ 3 h 318"/>
                <a:gd name="T26" fmla="*/ 3 w 318"/>
                <a:gd name="T27" fmla="*/ 3 h 318"/>
                <a:gd name="T28" fmla="*/ 2 w 318"/>
                <a:gd name="T29" fmla="*/ 3 h 318"/>
                <a:gd name="T30" fmla="*/ 2 w 318"/>
                <a:gd name="T31" fmla="*/ 2 h 318"/>
                <a:gd name="T32" fmla="*/ 2 w 318"/>
                <a:gd name="T33" fmla="*/ 2 h 318"/>
                <a:gd name="T34" fmla="*/ 2 w 318"/>
                <a:gd name="T35" fmla="*/ 2 h 318"/>
                <a:gd name="T36" fmla="*/ 2 w 318"/>
                <a:gd name="T37" fmla="*/ 2 h 318"/>
                <a:gd name="T38" fmla="*/ 0 w 318"/>
                <a:gd name="T39" fmla="*/ 1 h 318"/>
                <a:gd name="T40" fmla="*/ 0 w 318"/>
                <a:gd name="T41" fmla="*/ 1 h 318"/>
                <a:gd name="T42" fmla="*/ 0 w 318"/>
                <a:gd name="T43" fmla="*/ 1 h 318"/>
                <a:gd name="T44" fmla="*/ 2 w 318"/>
                <a:gd name="T45" fmla="*/ 1 h 318"/>
                <a:gd name="T46" fmla="*/ 2 w 318"/>
                <a:gd name="T47" fmla="*/ 1 h 318"/>
                <a:gd name="T48" fmla="*/ 2 w 318"/>
                <a:gd name="T49" fmla="*/ 1 h 318"/>
                <a:gd name="T50" fmla="*/ 2 w 318"/>
                <a:gd name="T51" fmla="*/ 1 h 318"/>
                <a:gd name="T52" fmla="*/ 2 w 318"/>
                <a:gd name="T53" fmla="*/ 1 h 318"/>
                <a:gd name="T54" fmla="*/ 3 w 318"/>
                <a:gd name="T55" fmla="*/ 1 h 318"/>
                <a:gd name="T56" fmla="*/ 4 w 318"/>
                <a:gd name="T57" fmla="*/ 1 h 318"/>
                <a:gd name="T58" fmla="*/ 5 w 318"/>
                <a:gd name="T59" fmla="*/ 1 h 318"/>
                <a:gd name="T60" fmla="*/ 6 w 318"/>
                <a:gd name="T61" fmla="*/ 0 h 318"/>
                <a:gd name="T62" fmla="*/ 6 w 318"/>
                <a:gd name="T63" fmla="*/ 1 h 318"/>
                <a:gd name="T64" fmla="*/ 7 w 318"/>
                <a:gd name="T65" fmla="*/ 1 h 318"/>
                <a:gd name="T66" fmla="*/ 7 w 318"/>
                <a:gd name="T67" fmla="*/ 1 h 318"/>
                <a:gd name="T68" fmla="*/ 9 w 318"/>
                <a:gd name="T69" fmla="*/ 1 h 318"/>
                <a:gd name="T70" fmla="*/ 9 w 318"/>
                <a:gd name="T71" fmla="*/ 1 h 318"/>
                <a:gd name="T72" fmla="*/ 9 w 318"/>
                <a:gd name="T73" fmla="*/ 1 h 318"/>
                <a:gd name="T74" fmla="*/ 10 w 318"/>
                <a:gd name="T75" fmla="*/ 1 h 318"/>
                <a:gd name="T76" fmla="*/ 10 w 318"/>
                <a:gd name="T77" fmla="*/ 1 h 318"/>
                <a:gd name="T78" fmla="*/ 11 w 318"/>
                <a:gd name="T79" fmla="*/ 1 h 318"/>
                <a:gd name="T80" fmla="*/ 11 w 318"/>
                <a:gd name="T81" fmla="*/ 1 h 318"/>
                <a:gd name="T82" fmla="*/ 11 w 318"/>
                <a:gd name="T83" fmla="*/ 1 h 31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18"/>
                <a:gd name="T127" fmla="*/ 0 h 318"/>
                <a:gd name="T128" fmla="*/ 318 w 318"/>
                <a:gd name="T129" fmla="*/ 318 h 31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18" h="318">
                  <a:moveTo>
                    <a:pt x="315" y="159"/>
                  </a:moveTo>
                  <a:lnTo>
                    <a:pt x="315" y="185"/>
                  </a:lnTo>
                  <a:lnTo>
                    <a:pt x="310" y="209"/>
                  </a:lnTo>
                  <a:lnTo>
                    <a:pt x="299" y="233"/>
                  </a:lnTo>
                  <a:lnTo>
                    <a:pt x="286" y="254"/>
                  </a:lnTo>
                  <a:lnTo>
                    <a:pt x="270" y="273"/>
                  </a:lnTo>
                  <a:lnTo>
                    <a:pt x="252" y="288"/>
                  </a:lnTo>
                  <a:lnTo>
                    <a:pt x="230" y="302"/>
                  </a:lnTo>
                  <a:lnTo>
                    <a:pt x="209" y="310"/>
                  </a:lnTo>
                  <a:lnTo>
                    <a:pt x="183" y="318"/>
                  </a:lnTo>
                  <a:lnTo>
                    <a:pt x="159" y="318"/>
                  </a:lnTo>
                  <a:lnTo>
                    <a:pt x="132" y="318"/>
                  </a:lnTo>
                  <a:lnTo>
                    <a:pt x="109" y="310"/>
                  </a:lnTo>
                  <a:lnTo>
                    <a:pt x="85" y="302"/>
                  </a:lnTo>
                  <a:lnTo>
                    <a:pt x="64" y="288"/>
                  </a:lnTo>
                  <a:lnTo>
                    <a:pt x="45" y="273"/>
                  </a:lnTo>
                  <a:lnTo>
                    <a:pt x="29" y="254"/>
                  </a:lnTo>
                  <a:lnTo>
                    <a:pt x="16" y="233"/>
                  </a:lnTo>
                  <a:lnTo>
                    <a:pt x="8" y="209"/>
                  </a:lnTo>
                  <a:lnTo>
                    <a:pt x="0" y="185"/>
                  </a:lnTo>
                  <a:lnTo>
                    <a:pt x="0" y="159"/>
                  </a:lnTo>
                  <a:lnTo>
                    <a:pt x="0" y="135"/>
                  </a:lnTo>
                  <a:lnTo>
                    <a:pt x="8" y="108"/>
                  </a:lnTo>
                  <a:lnTo>
                    <a:pt x="16" y="87"/>
                  </a:lnTo>
                  <a:lnTo>
                    <a:pt x="29" y="66"/>
                  </a:lnTo>
                  <a:lnTo>
                    <a:pt x="45" y="47"/>
                  </a:lnTo>
                  <a:lnTo>
                    <a:pt x="64" y="31"/>
                  </a:lnTo>
                  <a:lnTo>
                    <a:pt x="85" y="18"/>
                  </a:lnTo>
                  <a:lnTo>
                    <a:pt x="109" y="7"/>
                  </a:lnTo>
                  <a:lnTo>
                    <a:pt x="132" y="2"/>
                  </a:lnTo>
                  <a:lnTo>
                    <a:pt x="159" y="0"/>
                  </a:lnTo>
                  <a:lnTo>
                    <a:pt x="183" y="2"/>
                  </a:lnTo>
                  <a:lnTo>
                    <a:pt x="209" y="7"/>
                  </a:lnTo>
                  <a:lnTo>
                    <a:pt x="230" y="18"/>
                  </a:lnTo>
                  <a:lnTo>
                    <a:pt x="252" y="31"/>
                  </a:lnTo>
                  <a:lnTo>
                    <a:pt x="270" y="47"/>
                  </a:lnTo>
                  <a:lnTo>
                    <a:pt x="286" y="66"/>
                  </a:lnTo>
                  <a:lnTo>
                    <a:pt x="299" y="87"/>
                  </a:lnTo>
                  <a:lnTo>
                    <a:pt x="310" y="108"/>
                  </a:lnTo>
                  <a:lnTo>
                    <a:pt x="315" y="135"/>
                  </a:lnTo>
                  <a:lnTo>
                    <a:pt x="318" y="159"/>
                  </a:lnTo>
                  <a:lnTo>
                    <a:pt x="315" y="1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78" name="Freeform 63">
              <a:extLst>
                <a:ext uri="{FF2B5EF4-FFF2-40B4-BE49-F238E27FC236}">
                  <a16:creationId xmlns:a16="http://schemas.microsoft.com/office/drawing/2014/main" id="{AA5E0212-449A-FB52-ED9E-0ABDC6EACB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1" y="3024"/>
              <a:ext cx="253" cy="230"/>
            </a:xfrm>
            <a:custGeom>
              <a:avLst/>
              <a:gdLst>
                <a:gd name="T0" fmla="*/ 11 w 318"/>
                <a:gd name="T1" fmla="*/ 1 h 318"/>
                <a:gd name="T2" fmla="*/ 11 w 318"/>
                <a:gd name="T3" fmla="*/ 1 h 318"/>
                <a:gd name="T4" fmla="*/ 10 w 318"/>
                <a:gd name="T5" fmla="*/ 1 h 318"/>
                <a:gd name="T6" fmla="*/ 10 w 318"/>
                <a:gd name="T7" fmla="*/ 1 h 318"/>
                <a:gd name="T8" fmla="*/ 9 w 318"/>
                <a:gd name="T9" fmla="*/ 1 h 318"/>
                <a:gd name="T10" fmla="*/ 9 w 318"/>
                <a:gd name="T11" fmla="*/ 1 h 318"/>
                <a:gd name="T12" fmla="*/ 9 w 318"/>
                <a:gd name="T13" fmla="*/ 1 h 318"/>
                <a:gd name="T14" fmla="*/ 7 w 318"/>
                <a:gd name="T15" fmla="*/ 1 h 318"/>
                <a:gd name="T16" fmla="*/ 7 w 318"/>
                <a:gd name="T17" fmla="*/ 1 h 318"/>
                <a:gd name="T18" fmla="*/ 6 w 318"/>
                <a:gd name="T19" fmla="*/ 1 h 318"/>
                <a:gd name="T20" fmla="*/ 6 w 318"/>
                <a:gd name="T21" fmla="*/ 0 h 318"/>
                <a:gd name="T22" fmla="*/ 5 w 318"/>
                <a:gd name="T23" fmla="*/ 1 h 318"/>
                <a:gd name="T24" fmla="*/ 4 w 318"/>
                <a:gd name="T25" fmla="*/ 1 h 318"/>
                <a:gd name="T26" fmla="*/ 3 w 318"/>
                <a:gd name="T27" fmla="*/ 1 h 318"/>
                <a:gd name="T28" fmla="*/ 2 w 318"/>
                <a:gd name="T29" fmla="*/ 1 h 318"/>
                <a:gd name="T30" fmla="*/ 2 w 318"/>
                <a:gd name="T31" fmla="*/ 1 h 318"/>
                <a:gd name="T32" fmla="*/ 2 w 318"/>
                <a:gd name="T33" fmla="*/ 1 h 318"/>
                <a:gd name="T34" fmla="*/ 2 w 318"/>
                <a:gd name="T35" fmla="*/ 1 h 318"/>
                <a:gd name="T36" fmla="*/ 2 w 318"/>
                <a:gd name="T37" fmla="*/ 1 h 318"/>
                <a:gd name="T38" fmla="*/ 0 w 318"/>
                <a:gd name="T39" fmla="*/ 1 h 318"/>
                <a:gd name="T40" fmla="*/ 0 w 318"/>
                <a:gd name="T41" fmla="*/ 1 h 318"/>
                <a:gd name="T42" fmla="*/ 0 w 318"/>
                <a:gd name="T43" fmla="*/ 1 h 318"/>
                <a:gd name="T44" fmla="*/ 2 w 318"/>
                <a:gd name="T45" fmla="*/ 2 h 318"/>
                <a:gd name="T46" fmla="*/ 2 w 318"/>
                <a:gd name="T47" fmla="*/ 2 h 318"/>
                <a:gd name="T48" fmla="*/ 2 w 318"/>
                <a:gd name="T49" fmla="*/ 2 h 318"/>
                <a:gd name="T50" fmla="*/ 2 w 318"/>
                <a:gd name="T51" fmla="*/ 2 h 318"/>
                <a:gd name="T52" fmla="*/ 2 w 318"/>
                <a:gd name="T53" fmla="*/ 3 h 318"/>
                <a:gd name="T54" fmla="*/ 3 w 318"/>
                <a:gd name="T55" fmla="*/ 3 h 318"/>
                <a:gd name="T56" fmla="*/ 4 w 318"/>
                <a:gd name="T57" fmla="*/ 3 h 318"/>
                <a:gd name="T58" fmla="*/ 5 w 318"/>
                <a:gd name="T59" fmla="*/ 3 h 318"/>
                <a:gd name="T60" fmla="*/ 6 w 318"/>
                <a:gd name="T61" fmla="*/ 3 h 318"/>
                <a:gd name="T62" fmla="*/ 6 w 318"/>
                <a:gd name="T63" fmla="*/ 3 h 318"/>
                <a:gd name="T64" fmla="*/ 7 w 318"/>
                <a:gd name="T65" fmla="*/ 3 h 318"/>
                <a:gd name="T66" fmla="*/ 7 w 318"/>
                <a:gd name="T67" fmla="*/ 3 h 318"/>
                <a:gd name="T68" fmla="*/ 9 w 318"/>
                <a:gd name="T69" fmla="*/ 3 h 318"/>
                <a:gd name="T70" fmla="*/ 9 w 318"/>
                <a:gd name="T71" fmla="*/ 2 h 318"/>
                <a:gd name="T72" fmla="*/ 9 w 318"/>
                <a:gd name="T73" fmla="*/ 2 h 318"/>
                <a:gd name="T74" fmla="*/ 10 w 318"/>
                <a:gd name="T75" fmla="*/ 2 h 318"/>
                <a:gd name="T76" fmla="*/ 10 w 318"/>
                <a:gd name="T77" fmla="*/ 2 h 318"/>
                <a:gd name="T78" fmla="*/ 11 w 318"/>
                <a:gd name="T79" fmla="*/ 1 h 318"/>
                <a:gd name="T80" fmla="*/ 11 w 318"/>
                <a:gd name="T81" fmla="*/ 1 h 318"/>
                <a:gd name="T82" fmla="*/ 11 w 318"/>
                <a:gd name="T83" fmla="*/ 1 h 31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18"/>
                <a:gd name="T127" fmla="*/ 0 h 318"/>
                <a:gd name="T128" fmla="*/ 318 w 318"/>
                <a:gd name="T129" fmla="*/ 318 h 31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18" h="318">
                  <a:moveTo>
                    <a:pt x="315" y="159"/>
                  </a:moveTo>
                  <a:lnTo>
                    <a:pt x="315" y="135"/>
                  </a:lnTo>
                  <a:lnTo>
                    <a:pt x="310" y="108"/>
                  </a:lnTo>
                  <a:lnTo>
                    <a:pt x="299" y="87"/>
                  </a:lnTo>
                  <a:lnTo>
                    <a:pt x="286" y="66"/>
                  </a:lnTo>
                  <a:lnTo>
                    <a:pt x="270" y="47"/>
                  </a:lnTo>
                  <a:lnTo>
                    <a:pt x="252" y="31"/>
                  </a:lnTo>
                  <a:lnTo>
                    <a:pt x="230" y="18"/>
                  </a:lnTo>
                  <a:lnTo>
                    <a:pt x="209" y="7"/>
                  </a:lnTo>
                  <a:lnTo>
                    <a:pt x="183" y="2"/>
                  </a:lnTo>
                  <a:lnTo>
                    <a:pt x="159" y="0"/>
                  </a:lnTo>
                  <a:lnTo>
                    <a:pt x="132" y="2"/>
                  </a:lnTo>
                  <a:lnTo>
                    <a:pt x="109" y="7"/>
                  </a:lnTo>
                  <a:lnTo>
                    <a:pt x="85" y="18"/>
                  </a:lnTo>
                  <a:lnTo>
                    <a:pt x="64" y="31"/>
                  </a:lnTo>
                  <a:lnTo>
                    <a:pt x="45" y="47"/>
                  </a:lnTo>
                  <a:lnTo>
                    <a:pt x="29" y="66"/>
                  </a:lnTo>
                  <a:lnTo>
                    <a:pt x="16" y="87"/>
                  </a:lnTo>
                  <a:lnTo>
                    <a:pt x="8" y="108"/>
                  </a:lnTo>
                  <a:lnTo>
                    <a:pt x="0" y="135"/>
                  </a:lnTo>
                  <a:lnTo>
                    <a:pt x="0" y="159"/>
                  </a:lnTo>
                  <a:lnTo>
                    <a:pt x="0" y="185"/>
                  </a:lnTo>
                  <a:lnTo>
                    <a:pt x="8" y="209"/>
                  </a:lnTo>
                  <a:lnTo>
                    <a:pt x="16" y="233"/>
                  </a:lnTo>
                  <a:lnTo>
                    <a:pt x="29" y="254"/>
                  </a:lnTo>
                  <a:lnTo>
                    <a:pt x="45" y="273"/>
                  </a:lnTo>
                  <a:lnTo>
                    <a:pt x="64" y="288"/>
                  </a:lnTo>
                  <a:lnTo>
                    <a:pt x="85" y="302"/>
                  </a:lnTo>
                  <a:lnTo>
                    <a:pt x="109" y="310"/>
                  </a:lnTo>
                  <a:lnTo>
                    <a:pt x="132" y="318"/>
                  </a:lnTo>
                  <a:lnTo>
                    <a:pt x="159" y="318"/>
                  </a:lnTo>
                  <a:lnTo>
                    <a:pt x="183" y="318"/>
                  </a:lnTo>
                  <a:lnTo>
                    <a:pt x="209" y="310"/>
                  </a:lnTo>
                  <a:lnTo>
                    <a:pt x="230" y="302"/>
                  </a:lnTo>
                  <a:lnTo>
                    <a:pt x="252" y="288"/>
                  </a:lnTo>
                  <a:lnTo>
                    <a:pt x="270" y="273"/>
                  </a:lnTo>
                  <a:lnTo>
                    <a:pt x="286" y="254"/>
                  </a:lnTo>
                  <a:lnTo>
                    <a:pt x="299" y="233"/>
                  </a:lnTo>
                  <a:lnTo>
                    <a:pt x="310" y="209"/>
                  </a:lnTo>
                  <a:lnTo>
                    <a:pt x="315" y="185"/>
                  </a:lnTo>
                  <a:lnTo>
                    <a:pt x="318" y="159"/>
                  </a:lnTo>
                </a:path>
              </a:pathLst>
            </a:cu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79" name="Freeform 64">
              <a:extLst>
                <a:ext uri="{FF2B5EF4-FFF2-40B4-BE49-F238E27FC236}">
                  <a16:creationId xmlns:a16="http://schemas.microsoft.com/office/drawing/2014/main" id="{A927394E-1102-2384-9EFE-D51F6A7DB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6" y="3312"/>
              <a:ext cx="381" cy="173"/>
            </a:xfrm>
            <a:custGeom>
              <a:avLst/>
              <a:gdLst>
                <a:gd name="T0" fmla="*/ 0 w 479"/>
                <a:gd name="T1" fmla="*/ 0 h 239"/>
                <a:gd name="T2" fmla="*/ 16 w 479"/>
                <a:gd name="T3" fmla="*/ 0 h 239"/>
                <a:gd name="T4" fmla="*/ 16 w 479"/>
                <a:gd name="T5" fmla="*/ 2 h 239"/>
                <a:gd name="T6" fmla="*/ 2 w 479"/>
                <a:gd name="T7" fmla="*/ 2 h 239"/>
                <a:gd name="T8" fmla="*/ 2 w 479"/>
                <a:gd name="T9" fmla="*/ 0 h 239"/>
                <a:gd name="T10" fmla="*/ 0 w 479"/>
                <a:gd name="T11" fmla="*/ 0 h 2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79"/>
                <a:gd name="T19" fmla="*/ 0 h 239"/>
                <a:gd name="T20" fmla="*/ 479 w 479"/>
                <a:gd name="T21" fmla="*/ 239 h 2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79" h="239">
                  <a:moveTo>
                    <a:pt x="0" y="0"/>
                  </a:moveTo>
                  <a:lnTo>
                    <a:pt x="479" y="0"/>
                  </a:lnTo>
                  <a:lnTo>
                    <a:pt x="479" y="239"/>
                  </a:lnTo>
                  <a:lnTo>
                    <a:pt x="2" y="239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80" name="Freeform 65">
              <a:extLst>
                <a:ext uri="{FF2B5EF4-FFF2-40B4-BE49-F238E27FC236}">
                  <a16:creationId xmlns:a16="http://schemas.microsoft.com/office/drawing/2014/main" id="{B70E558F-0CAF-FA67-B9DA-FE0BEE680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6" y="3312"/>
              <a:ext cx="381" cy="173"/>
            </a:xfrm>
            <a:custGeom>
              <a:avLst/>
              <a:gdLst>
                <a:gd name="T0" fmla="*/ 0 w 479"/>
                <a:gd name="T1" fmla="*/ 0 h 239"/>
                <a:gd name="T2" fmla="*/ 16 w 479"/>
                <a:gd name="T3" fmla="*/ 0 h 239"/>
                <a:gd name="T4" fmla="*/ 16 w 479"/>
                <a:gd name="T5" fmla="*/ 2 h 239"/>
                <a:gd name="T6" fmla="*/ 2 w 479"/>
                <a:gd name="T7" fmla="*/ 2 h 239"/>
                <a:gd name="T8" fmla="*/ 2 w 479"/>
                <a:gd name="T9" fmla="*/ 0 h 2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9"/>
                <a:gd name="T16" fmla="*/ 0 h 239"/>
                <a:gd name="T17" fmla="*/ 479 w 479"/>
                <a:gd name="T18" fmla="*/ 239 h 2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9" h="239">
                  <a:moveTo>
                    <a:pt x="0" y="0"/>
                  </a:moveTo>
                  <a:lnTo>
                    <a:pt x="479" y="0"/>
                  </a:lnTo>
                  <a:lnTo>
                    <a:pt x="479" y="239"/>
                  </a:lnTo>
                  <a:lnTo>
                    <a:pt x="2" y="239"/>
                  </a:lnTo>
                  <a:lnTo>
                    <a:pt x="2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81" name="Rectangle 66">
              <a:extLst>
                <a:ext uri="{FF2B5EF4-FFF2-40B4-BE49-F238E27FC236}">
                  <a16:creationId xmlns:a16="http://schemas.microsoft.com/office/drawing/2014/main" id="{DADD1B4F-B076-33AE-FFC8-4515C2457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6" y="3358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500">
                  <a:solidFill>
                    <a:srgbClr val="000000"/>
                  </a:solidFill>
                </a:rPr>
                <a:t>$</a:t>
              </a:r>
              <a:endParaRPr lang="en-US" altLang="en-US" sz="1800" b="1"/>
            </a:p>
          </p:txBody>
        </p:sp>
        <p:sp>
          <p:nvSpPr>
            <p:cNvPr id="23582" name="Rectangle 67">
              <a:extLst>
                <a:ext uri="{FF2B5EF4-FFF2-40B4-BE49-F238E27FC236}">
                  <a16:creationId xmlns:a16="http://schemas.microsoft.com/office/drawing/2014/main" id="{2B431225-FAEB-761D-E66C-B49CDEF76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0" y="3065"/>
              <a:ext cx="65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400">
                  <a:solidFill>
                    <a:srgbClr val="000000"/>
                  </a:solidFill>
                </a:rPr>
                <a:t>P</a:t>
              </a:r>
              <a:endParaRPr lang="en-US" altLang="en-US" sz="3200" b="1"/>
            </a:p>
          </p:txBody>
        </p:sp>
        <p:sp>
          <p:nvSpPr>
            <p:cNvPr id="23583" name="Rectangle 68">
              <a:extLst>
                <a:ext uri="{FF2B5EF4-FFF2-40B4-BE49-F238E27FC236}">
                  <a16:creationId xmlns:a16="http://schemas.microsoft.com/office/drawing/2014/main" id="{8DC783D9-F44D-38EE-7483-B783FAD6C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6" y="3082"/>
              <a:ext cx="36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600">
                <a:solidFill>
                  <a:srgbClr val="000000"/>
                </a:solidFill>
              </a:endParaRPr>
            </a:p>
            <a:p>
              <a:r>
                <a:rPr lang="en-US" altLang="en-US" sz="1600">
                  <a:solidFill>
                    <a:srgbClr val="000000"/>
                  </a:solidFill>
                </a:rPr>
                <a:t>n</a:t>
              </a:r>
              <a:endParaRPr lang="en-US" altLang="en-US" sz="2400" b="1"/>
            </a:p>
          </p:txBody>
        </p:sp>
        <p:sp>
          <p:nvSpPr>
            <p:cNvPr id="23584" name="Rectangle 69">
              <a:extLst>
                <a:ext uri="{FF2B5EF4-FFF2-40B4-BE49-F238E27FC236}">
                  <a16:creationId xmlns:a16="http://schemas.microsoft.com/office/drawing/2014/main" id="{6BD60B97-B1E4-1242-14C3-730988936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6" y="3633"/>
              <a:ext cx="2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500">
                  <a:solidFill>
                    <a:srgbClr val="000000"/>
                  </a:solidFill>
                </a:rPr>
                <a:t>Bus</a:t>
              </a:r>
              <a:endParaRPr lang="en-US" altLang="en-US" sz="1800" b="1"/>
            </a:p>
          </p:txBody>
        </p:sp>
        <p:sp>
          <p:nvSpPr>
            <p:cNvPr id="23585" name="Freeform 70">
              <a:extLst>
                <a:ext uri="{FF2B5EF4-FFF2-40B4-BE49-F238E27FC236}">
                  <a16:creationId xmlns:a16="http://schemas.microsoft.com/office/drawing/2014/main" id="{8ADF1820-5910-5276-DC2C-38F463551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3371"/>
              <a:ext cx="36" cy="33"/>
            </a:xfrm>
            <a:custGeom>
              <a:avLst/>
              <a:gdLst>
                <a:gd name="T0" fmla="*/ 2 w 45"/>
                <a:gd name="T1" fmla="*/ 1 h 45"/>
                <a:gd name="T2" fmla="*/ 2 w 45"/>
                <a:gd name="T3" fmla="*/ 1 h 45"/>
                <a:gd name="T4" fmla="*/ 2 w 45"/>
                <a:gd name="T5" fmla="*/ 1 h 45"/>
                <a:gd name="T6" fmla="*/ 2 w 45"/>
                <a:gd name="T7" fmla="*/ 1 h 45"/>
                <a:gd name="T8" fmla="*/ 2 w 45"/>
                <a:gd name="T9" fmla="*/ 1 h 45"/>
                <a:gd name="T10" fmla="*/ 2 w 45"/>
                <a:gd name="T11" fmla="*/ 1 h 45"/>
                <a:gd name="T12" fmla="*/ 2 w 45"/>
                <a:gd name="T13" fmla="*/ 1 h 45"/>
                <a:gd name="T14" fmla="*/ 2 w 45"/>
                <a:gd name="T15" fmla="*/ 1 h 45"/>
                <a:gd name="T16" fmla="*/ 2 w 45"/>
                <a:gd name="T17" fmla="*/ 1 h 45"/>
                <a:gd name="T18" fmla="*/ 2 w 45"/>
                <a:gd name="T19" fmla="*/ 1 h 45"/>
                <a:gd name="T20" fmla="*/ 2 w 45"/>
                <a:gd name="T21" fmla="*/ 1 h 45"/>
                <a:gd name="T22" fmla="*/ 2 w 45"/>
                <a:gd name="T23" fmla="*/ 1 h 45"/>
                <a:gd name="T24" fmla="*/ 2 w 45"/>
                <a:gd name="T25" fmla="*/ 1 h 45"/>
                <a:gd name="T26" fmla="*/ 2 w 45"/>
                <a:gd name="T27" fmla="*/ 1 h 45"/>
                <a:gd name="T28" fmla="*/ 2 w 45"/>
                <a:gd name="T29" fmla="*/ 1 h 45"/>
                <a:gd name="T30" fmla="*/ 2 w 45"/>
                <a:gd name="T31" fmla="*/ 1 h 45"/>
                <a:gd name="T32" fmla="*/ 2 w 45"/>
                <a:gd name="T33" fmla="*/ 1 h 45"/>
                <a:gd name="T34" fmla="*/ 2 w 45"/>
                <a:gd name="T35" fmla="*/ 1 h 45"/>
                <a:gd name="T36" fmla="*/ 2 w 45"/>
                <a:gd name="T37" fmla="*/ 1 h 45"/>
                <a:gd name="T38" fmla="*/ 0 w 45"/>
                <a:gd name="T39" fmla="*/ 1 h 45"/>
                <a:gd name="T40" fmla="*/ 0 w 45"/>
                <a:gd name="T41" fmla="*/ 1 h 45"/>
                <a:gd name="T42" fmla="*/ 0 w 45"/>
                <a:gd name="T43" fmla="*/ 1 h 45"/>
                <a:gd name="T44" fmla="*/ 2 w 45"/>
                <a:gd name="T45" fmla="*/ 1 h 45"/>
                <a:gd name="T46" fmla="*/ 2 w 45"/>
                <a:gd name="T47" fmla="*/ 1 h 45"/>
                <a:gd name="T48" fmla="*/ 2 w 45"/>
                <a:gd name="T49" fmla="*/ 1 h 45"/>
                <a:gd name="T50" fmla="*/ 2 w 45"/>
                <a:gd name="T51" fmla="*/ 1 h 45"/>
                <a:gd name="T52" fmla="*/ 2 w 45"/>
                <a:gd name="T53" fmla="*/ 1 h 45"/>
                <a:gd name="T54" fmla="*/ 2 w 45"/>
                <a:gd name="T55" fmla="*/ 1 h 45"/>
                <a:gd name="T56" fmla="*/ 2 w 45"/>
                <a:gd name="T57" fmla="*/ 0 h 45"/>
                <a:gd name="T58" fmla="*/ 2 w 45"/>
                <a:gd name="T59" fmla="*/ 0 h 45"/>
                <a:gd name="T60" fmla="*/ 2 w 45"/>
                <a:gd name="T61" fmla="*/ 0 h 45"/>
                <a:gd name="T62" fmla="*/ 2 w 45"/>
                <a:gd name="T63" fmla="*/ 0 h 45"/>
                <a:gd name="T64" fmla="*/ 2 w 45"/>
                <a:gd name="T65" fmla="*/ 0 h 45"/>
                <a:gd name="T66" fmla="*/ 2 w 45"/>
                <a:gd name="T67" fmla="*/ 1 h 45"/>
                <a:gd name="T68" fmla="*/ 2 w 45"/>
                <a:gd name="T69" fmla="*/ 1 h 45"/>
                <a:gd name="T70" fmla="*/ 2 w 45"/>
                <a:gd name="T71" fmla="*/ 1 h 45"/>
                <a:gd name="T72" fmla="*/ 2 w 45"/>
                <a:gd name="T73" fmla="*/ 1 h 45"/>
                <a:gd name="T74" fmla="*/ 2 w 45"/>
                <a:gd name="T75" fmla="*/ 1 h 45"/>
                <a:gd name="T76" fmla="*/ 2 w 45"/>
                <a:gd name="T77" fmla="*/ 1 h 45"/>
                <a:gd name="T78" fmla="*/ 2 w 45"/>
                <a:gd name="T79" fmla="*/ 1 h 45"/>
                <a:gd name="T80" fmla="*/ 2 w 45"/>
                <a:gd name="T81" fmla="*/ 1 h 4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45"/>
                <a:gd name="T124" fmla="*/ 0 h 45"/>
                <a:gd name="T125" fmla="*/ 45 w 45"/>
                <a:gd name="T126" fmla="*/ 45 h 45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45" h="45">
                  <a:moveTo>
                    <a:pt x="45" y="21"/>
                  </a:moveTo>
                  <a:lnTo>
                    <a:pt x="45" y="27"/>
                  </a:lnTo>
                  <a:lnTo>
                    <a:pt x="45" y="29"/>
                  </a:lnTo>
                  <a:lnTo>
                    <a:pt x="43" y="32"/>
                  </a:lnTo>
                  <a:lnTo>
                    <a:pt x="40" y="35"/>
                  </a:lnTo>
                  <a:lnTo>
                    <a:pt x="40" y="37"/>
                  </a:lnTo>
                  <a:lnTo>
                    <a:pt x="37" y="40"/>
                  </a:lnTo>
                  <a:lnTo>
                    <a:pt x="35" y="43"/>
                  </a:lnTo>
                  <a:lnTo>
                    <a:pt x="30" y="43"/>
                  </a:lnTo>
                  <a:lnTo>
                    <a:pt x="27" y="45"/>
                  </a:lnTo>
                  <a:lnTo>
                    <a:pt x="24" y="45"/>
                  </a:lnTo>
                  <a:lnTo>
                    <a:pt x="19" y="45"/>
                  </a:lnTo>
                  <a:lnTo>
                    <a:pt x="16" y="43"/>
                  </a:lnTo>
                  <a:lnTo>
                    <a:pt x="14" y="43"/>
                  </a:lnTo>
                  <a:lnTo>
                    <a:pt x="11" y="40"/>
                  </a:lnTo>
                  <a:lnTo>
                    <a:pt x="8" y="37"/>
                  </a:lnTo>
                  <a:lnTo>
                    <a:pt x="6" y="35"/>
                  </a:lnTo>
                  <a:lnTo>
                    <a:pt x="3" y="32"/>
                  </a:lnTo>
                  <a:lnTo>
                    <a:pt x="3" y="29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3" y="16"/>
                  </a:lnTo>
                  <a:lnTo>
                    <a:pt x="3" y="14"/>
                  </a:lnTo>
                  <a:lnTo>
                    <a:pt x="6" y="8"/>
                  </a:lnTo>
                  <a:lnTo>
                    <a:pt x="8" y="6"/>
                  </a:lnTo>
                  <a:lnTo>
                    <a:pt x="11" y="6"/>
                  </a:lnTo>
                  <a:lnTo>
                    <a:pt x="14" y="3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0" y="0"/>
                  </a:lnTo>
                  <a:lnTo>
                    <a:pt x="35" y="3"/>
                  </a:lnTo>
                  <a:lnTo>
                    <a:pt x="37" y="6"/>
                  </a:lnTo>
                  <a:lnTo>
                    <a:pt x="40" y="6"/>
                  </a:lnTo>
                  <a:lnTo>
                    <a:pt x="40" y="8"/>
                  </a:lnTo>
                  <a:lnTo>
                    <a:pt x="43" y="14"/>
                  </a:lnTo>
                  <a:lnTo>
                    <a:pt x="45" y="16"/>
                  </a:lnTo>
                  <a:lnTo>
                    <a:pt x="45" y="19"/>
                  </a:lnTo>
                  <a:lnTo>
                    <a:pt x="45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86" name="Freeform 71">
              <a:extLst>
                <a:ext uri="{FF2B5EF4-FFF2-40B4-BE49-F238E27FC236}">
                  <a16:creationId xmlns:a16="http://schemas.microsoft.com/office/drawing/2014/main" id="{BF409824-0BD9-F75E-DCC7-8B84D7FA1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3371"/>
              <a:ext cx="36" cy="33"/>
            </a:xfrm>
            <a:custGeom>
              <a:avLst/>
              <a:gdLst>
                <a:gd name="T0" fmla="*/ 2 w 45"/>
                <a:gd name="T1" fmla="*/ 1 h 45"/>
                <a:gd name="T2" fmla="*/ 2 w 45"/>
                <a:gd name="T3" fmla="*/ 1 h 45"/>
                <a:gd name="T4" fmla="*/ 2 w 45"/>
                <a:gd name="T5" fmla="*/ 1 h 45"/>
                <a:gd name="T6" fmla="*/ 2 w 45"/>
                <a:gd name="T7" fmla="*/ 1 h 45"/>
                <a:gd name="T8" fmla="*/ 2 w 45"/>
                <a:gd name="T9" fmla="*/ 1 h 45"/>
                <a:gd name="T10" fmla="*/ 2 w 45"/>
                <a:gd name="T11" fmla="*/ 1 h 45"/>
                <a:gd name="T12" fmla="*/ 2 w 45"/>
                <a:gd name="T13" fmla="*/ 1 h 45"/>
                <a:gd name="T14" fmla="*/ 2 w 45"/>
                <a:gd name="T15" fmla="*/ 1 h 45"/>
                <a:gd name="T16" fmla="*/ 2 w 45"/>
                <a:gd name="T17" fmla="*/ 0 h 45"/>
                <a:gd name="T18" fmla="*/ 2 w 45"/>
                <a:gd name="T19" fmla="*/ 0 h 45"/>
                <a:gd name="T20" fmla="*/ 2 w 45"/>
                <a:gd name="T21" fmla="*/ 0 h 45"/>
                <a:gd name="T22" fmla="*/ 2 w 45"/>
                <a:gd name="T23" fmla="*/ 0 h 45"/>
                <a:gd name="T24" fmla="*/ 2 w 45"/>
                <a:gd name="T25" fmla="*/ 0 h 45"/>
                <a:gd name="T26" fmla="*/ 2 w 45"/>
                <a:gd name="T27" fmla="*/ 1 h 45"/>
                <a:gd name="T28" fmla="*/ 2 w 45"/>
                <a:gd name="T29" fmla="*/ 1 h 45"/>
                <a:gd name="T30" fmla="*/ 2 w 45"/>
                <a:gd name="T31" fmla="*/ 1 h 45"/>
                <a:gd name="T32" fmla="*/ 2 w 45"/>
                <a:gd name="T33" fmla="*/ 1 h 45"/>
                <a:gd name="T34" fmla="*/ 2 w 45"/>
                <a:gd name="T35" fmla="*/ 1 h 45"/>
                <a:gd name="T36" fmla="*/ 2 w 45"/>
                <a:gd name="T37" fmla="*/ 1 h 45"/>
                <a:gd name="T38" fmla="*/ 0 w 45"/>
                <a:gd name="T39" fmla="*/ 1 h 45"/>
                <a:gd name="T40" fmla="*/ 0 w 45"/>
                <a:gd name="T41" fmla="*/ 1 h 45"/>
                <a:gd name="T42" fmla="*/ 0 w 45"/>
                <a:gd name="T43" fmla="*/ 1 h 45"/>
                <a:gd name="T44" fmla="*/ 2 w 45"/>
                <a:gd name="T45" fmla="*/ 1 h 45"/>
                <a:gd name="T46" fmla="*/ 2 w 45"/>
                <a:gd name="T47" fmla="*/ 1 h 45"/>
                <a:gd name="T48" fmla="*/ 2 w 45"/>
                <a:gd name="T49" fmla="*/ 1 h 45"/>
                <a:gd name="T50" fmla="*/ 2 w 45"/>
                <a:gd name="T51" fmla="*/ 1 h 45"/>
                <a:gd name="T52" fmla="*/ 2 w 45"/>
                <a:gd name="T53" fmla="*/ 1 h 45"/>
                <a:gd name="T54" fmla="*/ 2 w 45"/>
                <a:gd name="T55" fmla="*/ 1 h 45"/>
                <a:gd name="T56" fmla="*/ 2 w 45"/>
                <a:gd name="T57" fmla="*/ 1 h 45"/>
                <a:gd name="T58" fmla="*/ 2 w 45"/>
                <a:gd name="T59" fmla="*/ 1 h 45"/>
                <a:gd name="T60" fmla="*/ 2 w 45"/>
                <a:gd name="T61" fmla="*/ 1 h 45"/>
                <a:gd name="T62" fmla="*/ 2 w 45"/>
                <a:gd name="T63" fmla="*/ 1 h 45"/>
                <a:gd name="T64" fmla="*/ 2 w 45"/>
                <a:gd name="T65" fmla="*/ 1 h 45"/>
                <a:gd name="T66" fmla="*/ 2 w 45"/>
                <a:gd name="T67" fmla="*/ 1 h 45"/>
                <a:gd name="T68" fmla="*/ 2 w 45"/>
                <a:gd name="T69" fmla="*/ 1 h 45"/>
                <a:gd name="T70" fmla="*/ 2 w 45"/>
                <a:gd name="T71" fmla="*/ 1 h 45"/>
                <a:gd name="T72" fmla="*/ 2 w 45"/>
                <a:gd name="T73" fmla="*/ 1 h 45"/>
                <a:gd name="T74" fmla="*/ 2 w 45"/>
                <a:gd name="T75" fmla="*/ 1 h 45"/>
                <a:gd name="T76" fmla="*/ 2 w 45"/>
                <a:gd name="T77" fmla="*/ 1 h 45"/>
                <a:gd name="T78" fmla="*/ 2 w 45"/>
                <a:gd name="T79" fmla="*/ 1 h 45"/>
                <a:gd name="T80" fmla="*/ 2 w 45"/>
                <a:gd name="T81" fmla="*/ 1 h 45"/>
                <a:gd name="T82" fmla="*/ 2 w 45"/>
                <a:gd name="T83" fmla="*/ 1 h 4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5"/>
                <a:gd name="T127" fmla="*/ 0 h 45"/>
                <a:gd name="T128" fmla="*/ 45 w 45"/>
                <a:gd name="T129" fmla="*/ 45 h 4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5" h="45">
                  <a:moveTo>
                    <a:pt x="45" y="21"/>
                  </a:moveTo>
                  <a:lnTo>
                    <a:pt x="45" y="19"/>
                  </a:lnTo>
                  <a:lnTo>
                    <a:pt x="45" y="16"/>
                  </a:lnTo>
                  <a:lnTo>
                    <a:pt x="43" y="14"/>
                  </a:lnTo>
                  <a:lnTo>
                    <a:pt x="40" y="8"/>
                  </a:lnTo>
                  <a:lnTo>
                    <a:pt x="40" y="6"/>
                  </a:lnTo>
                  <a:lnTo>
                    <a:pt x="37" y="6"/>
                  </a:lnTo>
                  <a:lnTo>
                    <a:pt x="35" y="3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24" y="0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3"/>
                  </a:lnTo>
                  <a:lnTo>
                    <a:pt x="11" y="6"/>
                  </a:lnTo>
                  <a:lnTo>
                    <a:pt x="8" y="6"/>
                  </a:lnTo>
                  <a:lnTo>
                    <a:pt x="6" y="8"/>
                  </a:lnTo>
                  <a:lnTo>
                    <a:pt x="3" y="14"/>
                  </a:lnTo>
                  <a:lnTo>
                    <a:pt x="3" y="16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7"/>
                  </a:lnTo>
                  <a:lnTo>
                    <a:pt x="3" y="29"/>
                  </a:lnTo>
                  <a:lnTo>
                    <a:pt x="3" y="32"/>
                  </a:lnTo>
                  <a:lnTo>
                    <a:pt x="6" y="35"/>
                  </a:lnTo>
                  <a:lnTo>
                    <a:pt x="8" y="37"/>
                  </a:lnTo>
                  <a:lnTo>
                    <a:pt x="11" y="40"/>
                  </a:lnTo>
                  <a:lnTo>
                    <a:pt x="14" y="43"/>
                  </a:lnTo>
                  <a:lnTo>
                    <a:pt x="16" y="43"/>
                  </a:lnTo>
                  <a:lnTo>
                    <a:pt x="19" y="45"/>
                  </a:lnTo>
                  <a:lnTo>
                    <a:pt x="24" y="45"/>
                  </a:lnTo>
                  <a:lnTo>
                    <a:pt x="27" y="45"/>
                  </a:lnTo>
                  <a:lnTo>
                    <a:pt x="30" y="43"/>
                  </a:lnTo>
                  <a:lnTo>
                    <a:pt x="35" y="43"/>
                  </a:lnTo>
                  <a:lnTo>
                    <a:pt x="37" y="40"/>
                  </a:lnTo>
                  <a:lnTo>
                    <a:pt x="40" y="37"/>
                  </a:lnTo>
                  <a:lnTo>
                    <a:pt x="40" y="35"/>
                  </a:lnTo>
                  <a:lnTo>
                    <a:pt x="43" y="32"/>
                  </a:lnTo>
                  <a:lnTo>
                    <a:pt x="45" y="29"/>
                  </a:lnTo>
                  <a:lnTo>
                    <a:pt x="45" y="27"/>
                  </a:lnTo>
                  <a:lnTo>
                    <a:pt x="45" y="21"/>
                  </a:lnTo>
                </a:path>
              </a:pathLst>
            </a:custGeom>
            <a:noFill/>
            <a:ln w="333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87" name="Freeform 72">
              <a:extLst>
                <a:ext uri="{FF2B5EF4-FFF2-40B4-BE49-F238E27FC236}">
                  <a16:creationId xmlns:a16="http://schemas.microsoft.com/office/drawing/2014/main" id="{A86387F5-7118-F3AB-2FEF-3AA903D13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" y="3371"/>
              <a:ext cx="36" cy="33"/>
            </a:xfrm>
            <a:custGeom>
              <a:avLst/>
              <a:gdLst>
                <a:gd name="T0" fmla="*/ 2 w 45"/>
                <a:gd name="T1" fmla="*/ 1 h 45"/>
                <a:gd name="T2" fmla="*/ 2 w 45"/>
                <a:gd name="T3" fmla="*/ 1 h 45"/>
                <a:gd name="T4" fmla="*/ 2 w 45"/>
                <a:gd name="T5" fmla="*/ 1 h 45"/>
                <a:gd name="T6" fmla="*/ 2 w 45"/>
                <a:gd name="T7" fmla="*/ 1 h 45"/>
                <a:gd name="T8" fmla="*/ 2 w 45"/>
                <a:gd name="T9" fmla="*/ 1 h 45"/>
                <a:gd name="T10" fmla="*/ 2 w 45"/>
                <a:gd name="T11" fmla="*/ 1 h 45"/>
                <a:gd name="T12" fmla="*/ 2 w 45"/>
                <a:gd name="T13" fmla="*/ 1 h 45"/>
                <a:gd name="T14" fmla="*/ 2 w 45"/>
                <a:gd name="T15" fmla="*/ 1 h 45"/>
                <a:gd name="T16" fmla="*/ 2 w 45"/>
                <a:gd name="T17" fmla="*/ 1 h 45"/>
                <a:gd name="T18" fmla="*/ 2 w 45"/>
                <a:gd name="T19" fmla="*/ 1 h 45"/>
                <a:gd name="T20" fmla="*/ 2 w 45"/>
                <a:gd name="T21" fmla="*/ 1 h 45"/>
                <a:gd name="T22" fmla="*/ 2 w 45"/>
                <a:gd name="T23" fmla="*/ 1 h 45"/>
                <a:gd name="T24" fmla="*/ 2 w 45"/>
                <a:gd name="T25" fmla="*/ 1 h 45"/>
                <a:gd name="T26" fmla="*/ 2 w 45"/>
                <a:gd name="T27" fmla="*/ 1 h 45"/>
                <a:gd name="T28" fmla="*/ 2 w 45"/>
                <a:gd name="T29" fmla="*/ 1 h 45"/>
                <a:gd name="T30" fmla="*/ 2 w 45"/>
                <a:gd name="T31" fmla="*/ 1 h 45"/>
                <a:gd name="T32" fmla="*/ 2 w 45"/>
                <a:gd name="T33" fmla="*/ 1 h 45"/>
                <a:gd name="T34" fmla="*/ 2 w 45"/>
                <a:gd name="T35" fmla="*/ 1 h 45"/>
                <a:gd name="T36" fmla="*/ 2 w 45"/>
                <a:gd name="T37" fmla="*/ 1 h 45"/>
                <a:gd name="T38" fmla="*/ 0 w 45"/>
                <a:gd name="T39" fmla="*/ 1 h 45"/>
                <a:gd name="T40" fmla="*/ 0 w 45"/>
                <a:gd name="T41" fmla="*/ 1 h 45"/>
                <a:gd name="T42" fmla="*/ 0 w 45"/>
                <a:gd name="T43" fmla="*/ 1 h 45"/>
                <a:gd name="T44" fmla="*/ 2 w 45"/>
                <a:gd name="T45" fmla="*/ 1 h 45"/>
                <a:gd name="T46" fmla="*/ 2 w 45"/>
                <a:gd name="T47" fmla="*/ 1 h 45"/>
                <a:gd name="T48" fmla="*/ 2 w 45"/>
                <a:gd name="T49" fmla="*/ 1 h 45"/>
                <a:gd name="T50" fmla="*/ 2 w 45"/>
                <a:gd name="T51" fmla="*/ 1 h 45"/>
                <a:gd name="T52" fmla="*/ 2 w 45"/>
                <a:gd name="T53" fmla="*/ 1 h 45"/>
                <a:gd name="T54" fmla="*/ 2 w 45"/>
                <a:gd name="T55" fmla="*/ 1 h 45"/>
                <a:gd name="T56" fmla="*/ 2 w 45"/>
                <a:gd name="T57" fmla="*/ 0 h 45"/>
                <a:gd name="T58" fmla="*/ 2 w 45"/>
                <a:gd name="T59" fmla="*/ 0 h 45"/>
                <a:gd name="T60" fmla="*/ 2 w 45"/>
                <a:gd name="T61" fmla="*/ 0 h 45"/>
                <a:gd name="T62" fmla="*/ 2 w 45"/>
                <a:gd name="T63" fmla="*/ 0 h 45"/>
                <a:gd name="T64" fmla="*/ 2 w 45"/>
                <a:gd name="T65" fmla="*/ 0 h 45"/>
                <a:gd name="T66" fmla="*/ 2 w 45"/>
                <a:gd name="T67" fmla="*/ 1 h 45"/>
                <a:gd name="T68" fmla="*/ 2 w 45"/>
                <a:gd name="T69" fmla="*/ 1 h 45"/>
                <a:gd name="T70" fmla="*/ 2 w 45"/>
                <a:gd name="T71" fmla="*/ 1 h 45"/>
                <a:gd name="T72" fmla="*/ 2 w 45"/>
                <a:gd name="T73" fmla="*/ 1 h 45"/>
                <a:gd name="T74" fmla="*/ 2 w 45"/>
                <a:gd name="T75" fmla="*/ 1 h 45"/>
                <a:gd name="T76" fmla="*/ 2 w 45"/>
                <a:gd name="T77" fmla="*/ 1 h 45"/>
                <a:gd name="T78" fmla="*/ 2 w 45"/>
                <a:gd name="T79" fmla="*/ 1 h 45"/>
                <a:gd name="T80" fmla="*/ 2 w 45"/>
                <a:gd name="T81" fmla="*/ 1 h 4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45"/>
                <a:gd name="T124" fmla="*/ 0 h 45"/>
                <a:gd name="T125" fmla="*/ 45 w 45"/>
                <a:gd name="T126" fmla="*/ 45 h 45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45" h="45">
                  <a:moveTo>
                    <a:pt x="45" y="21"/>
                  </a:moveTo>
                  <a:lnTo>
                    <a:pt x="45" y="27"/>
                  </a:lnTo>
                  <a:lnTo>
                    <a:pt x="45" y="29"/>
                  </a:lnTo>
                  <a:lnTo>
                    <a:pt x="43" y="32"/>
                  </a:lnTo>
                  <a:lnTo>
                    <a:pt x="40" y="35"/>
                  </a:lnTo>
                  <a:lnTo>
                    <a:pt x="40" y="37"/>
                  </a:lnTo>
                  <a:lnTo>
                    <a:pt x="37" y="40"/>
                  </a:lnTo>
                  <a:lnTo>
                    <a:pt x="35" y="43"/>
                  </a:lnTo>
                  <a:lnTo>
                    <a:pt x="29" y="43"/>
                  </a:lnTo>
                  <a:lnTo>
                    <a:pt x="27" y="45"/>
                  </a:lnTo>
                  <a:lnTo>
                    <a:pt x="24" y="45"/>
                  </a:lnTo>
                  <a:lnTo>
                    <a:pt x="19" y="45"/>
                  </a:lnTo>
                  <a:lnTo>
                    <a:pt x="16" y="43"/>
                  </a:lnTo>
                  <a:lnTo>
                    <a:pt x="14" y="43"/>
                  </a:lnTo>
                  <a:lnTo>
                    <a:pt x="11" y="40"/>
                  </a:lnTo>
                  <a:lnTo>
                    <a:pt x="8" y="37"/>
                  </a:lnTo>
                  <a:lnTo>
                    <a:pt x="6" y="35"/>
                  </a:lnTo>
                  <a:lnTo>
                    <a:pt x="3" y="32"/>
                  </a:lnTo>
                  <a:lnTo>
                    <a:pt x="3" y="29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3" y="16"/>
                  </a:lnTo>
                  <a:lnTo>
                    <a:pt x="3" y="14"/>
                  </a:lnTo>
                  <a:lnTo>
                    <a:pt x="6" y="8"/>
                  </a:lnTo>
                  <a:lnTo>
                    <a:pt x="8" y="6"/>
                  </a:lnTo>
                  <a:lnTo>
                    <a:pt x="11" y="6"/>
                  </a:lnTo>
                  <a:lnTo>
                    <a:pt x="14" y="3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5" y="3"/>
                  </a:lnTo>
                  <a:lnTo>
                    <a:pt x="37" y="6"/>
                  </a:lnTo>
                  <a:lnTo>
                    <a:pt x="40" y="6"/>
                  </a:lnTo>
                  <a:lnTo>
                    <a:pt x="40" y="8"/>
                  </a:lnTo>
                  <a:lnTo>
                    <a:pt x="43" y="14"/>
                  </a:lnTo>
                  <a:lnTo>
                    <a:pt x="45" y="16"/>
                  </a:lnTo>
                  <a:lnTo>
                    <a:pt x="45" y="19"/>
                  </a:lnTo>
                  <a:lnTo>
                    <a:pt x="45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88" name="Freeform 73">
              <a:extLst>
                <a:ext uri="{FF2B5EF4-FFF2-40B4-BE49-F238E27FC236}">
                  <a16:creationId xmlns:a16="http://schemas.microsoft.com/office/drawing/2014/main" id="{5F74FC22-D051-33A5-6583-7CB6FEC9F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" y="3371"/>
              <a:ext cx="36" cy="33"/>
            </a:xfrm>
            <a:custGeom>
              <a:avLst/>
              <a:gdLst>
                <a:gd name="T0" fmla="*/ 2 w 45"/>
                <a:gd name="T1" fmla="*/ 1 h 45"/>
                <a:gd name="T2" fmla="*/ 2 w 45"/>
                <a:gd name="T3" fmla="*/ 1 h 45"/>
                <a:gd name="T4" fmla="*/ 2 w 45"/>
                <a:gd name="T5" fmla="*/ 1 h 45"/>
                <a:gd name="T6" fmla="*/ 2 w 45"/>
                <a:gd name="T7" fmla="*/ 1 h 45"/>
                <a:gd name="T8" fmla="*/ 2 w 45"/>
                <a:gd name="T9" fmla="*/ 1 h 45"/>
                <a:gd name="T10" fmla="*/ 2 w 45"/>
                <a:gd name="T11" fmla="*/ 1 h 45"/>
                <a:gd name="T12" fmla="*/ 2 w 45"/>
                <a:gd name="T13" fmla="*/ 1 h 45"/>
                <a:gd name="T14" fmla="*/ 2 w 45"/>
                <a:gd name="T15" fmla="*/ 1 h 45"/>
                <a:gd name="T16" fmla="*/ 2 w 45"/>
                <a:gd name="T17" fmla="*/ 0 h 45"/>
                <a:gd name="T18" fmla="*/ 2 w 45"/>
                <a:gd name="T19" fmla="*/ 0 h 45"/>
                <a:gd name="T20" fmla="*/ 2 w 45"/>
                <a:gd name="T21" fmla="*/ 0 h 45"/>
                <a:gd name="T22" fmla="*/ 2 w 45"/>
                <a:gd name="T23" fmla="*/ 0 h 45"/>
                <a:gd name="T24" fmla="*/ 2 w 45"/>
                <a:gd name="T25" fmla="*/ 0 h 45"/>
                <a:gd name="T26" fmla="*/ 2 w 45"/>
                <a:gd name="T27" fmla="*/ 1 h 45"/>
                <a:gd name="T28" fmla="*/ 2 w 45"/>
                <a:gd name="T29" fmla="*/ 1 h 45"/>
                <a:gd name="T30" fmla="*/ 2 w 45"/>
                <a:gd name="T31" fmla="*/ 1 h 45"/>
                <a:gd name="T32" fmla="*/ 2 w 45"/>
                <a:gd name="T33" fmla="*/ 1 h 45"/>
                <a:gd name="T34" fmla="*/ 2 w 45"/>
                <a:gd name="T35" fmla="*/ 1 h 45"/>
                <a:gd name="T36" fmla="*/ 2 w 45"/>
                <a:gd name="T37" fmla="*/ 1 h 45"/>
                <a:gd name="T38" fmla="*/ 0 w 45"/>
                <a:gd name="T39" fmla="*/ 1 h 45"/>
                <a:gd name="T40" fmla="*/ 0 w 45"/>
                <a:gd name="T41" fmla="*/ 1 h 45"/>
                <a:gd name="T42" fmla="*/ 0 w 45"/>
                <a:gd name="T43" fmla="*/ 1 h 45"/>
                <a:gd name="T44" fmla="*/ 2 w 45"/>
                <a:gd name="T45" fmla="*/ 1 h 45"/>
                <a:gd name="T46" fmla="*/ 2 w 45"/>
                <a:gd name="T47" fmla="*/ 1 h 45"/>
                <a:gd name="T48" fmla="*/ 2 w 45"/>
                <a:gd name="T49" fmla="*/ 1 h 45"/>
                <a:gd name="T50" fmla="*/ 2 w 45"/>
                <a:gd name="T51" fmla="*/ 1 h 45"/>
                <a:gd name="T52" fmla="*/ 2 w 45"/>
                <a:gd name="T53" fmla="*/ 1 h 45"/>
                <a:gd name="T54" fmla="*/ 2 w 45"/>
                <a:gd name="T55" fmla="*/ 1 h 45"/>
                <a:gd name="T56" fmla="*/ 2 w 45"/>
                <a:gd name="T57" fmla="*/ 1 h 45"/>
                <a:gd name="T58" fmla="*/ 2 w 45"/>
                <a:gd name="T59" fmla="*/ 1 h 45"/>
                <a:gd name="T60" fmla="*/ 2 w 45"/>
                <a:gd name="T61" fmla="*/ 1 h 45"/>
                <a:gd name="T62" fmla="*/ 2 w 45"/>
                <a:gd name="T63" fmla="*/ 1 h 45"/>
                <a:gd name="T64" fmla="*/ 2 w 45"/>
                <a:gd name="T65" fmla="*/ 1 h 45"/>
                <a:gd name="T66" fmla="*/ 2 w 45"/>
                <a:gd name="T67" fmla="*/ 1 h 45"/>
                <a:gd name="T68" fmla="*/ 2 w 45"/>
                <a:gd name="T69" fmla="*/ 1 h 45"/>
                <a:gd name="T70" fmla="*/ 2 w 45"/>
                <a:gd name="T71" fmla="*/ 1 h 45"/>
                <a:gd name="T72" fmla="*/ 2 w 45"/>
                <a:gd name="T73" fmla="*/ 1 h 45"/>
                <a:gd name="T74" fmla="*/ 2 w 45"/>
                <a:gd name="T75" fmla="*/ 1 h 45"/>
                <a:gd name="T76" fmla="*/ 2 w 45"/>
                <a:gd name="T77" fmla="*/ 1 h 45"/>
                <a:gd name="T78" fmla="*/ 2 w 45"/>
                <a:gd name="T79" fmla="*/ 1 h 45"/>
                <a:gd name="T80" fmla="*/ 2 w 45"/>
                <a:gd name="T81" fmla="*/ 1 h 45"/>
                <a:gd name="T82" fmla="*/ 2 w 45"/>
                <a:gd name="T83" fmla="*/ 1 h 4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5"/>
                <a:gd name="T127" fmla="*/ 0 h 45"/>
                <a:gd name="T128" fmla="*/ 45 w 45"/>
                <a:gd name="T129" fmla="*/ 45 h 4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5" h="45">
                  <a:moveTo>
                    <a:pt x="45" y="21"/>
                  </a:moveTo>
                  <a:lnTo>
                    <a:pt x="45" y="19"/>
                  </a:lnTo>
                  <a:lnTo>
                    <a:pt x="45" y="16"/>
                  </a:lnTo>
                  <a:lnTo>
                    <a:pt x="43" y="14"/>
                  </a:lnTo>
                  <a:lnTo>
                    <a:pt x="40" y="8"/>
                  </a:lnTo>
                  <a:lnTo>
                    <a:pt x="40" y="6"/>
                  </a:lnTo>
                  <a:lnTo>
                    <a:pt x="37" y="6"/>
                  </a:lnTo>
                  <a:lnTo>
                    <a:pt x="35" y="3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4" y="0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3"/>
                  </a:lnTo>
                  <a:lnTo>
                    <a:pt x="11" y="6"/>
                  </a:lnTo>
                  <a:lnTo>
                    <a:pt x="8" y="6"/>
                  </a:lnTo>
                  <a:lnTo>
                    <a:pt x="6" y="8"/>
                  </a:lnTo>
                  <a:lnTo>
                    <a:pt x="3" y="14"/>
                  </a:lnTo>
                  <a:lnTo>
                    <a:pt x="3" y="16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7"/>
                  </a:lnTo>
                  <a:lnTo>
                    <a:pt x="3" y="29"/>
                  </a:lnTo>
                  <a:lnTo>
                    <a:pt x="3" y="32"/>
                  </a:lnTo>
                  <a:lnTo>
                    <a:pt x="6" y="35"/>
                  </a:lnTo>
                  <a:lnTo>
                    <a:pt x="8" y="37"/>
                  </a:lnTo>
                  <a:lnTo>
                    <a:pt x="11" y="40"/>
                  </a:lnTo>
                  <a:lnTo>
                    <a:pt x="14" y="43"/>
                  </a:lnTo>
                  <a:lnTo>
                    <a:pt x="16" y="43"/>
                  </a:lnTo>
                  <a:lnTo>
                    <a:pt x="19" y="45"/>
                  </a:lnTo>
                  <a:lnTo>
                    <a:pt x="24" y="45"/>
                  </a:lnTo>
                  <a:lnTo>
                    <a:pt x="27" y="45"/>
                  </a:lnTo>
                  <a:lnTo>
                    <a:pt x="29" y="43"/>
                  </a:lnTo>
                  <a:lnTo>
                    <a:pt x="35" y="43"/>
                  </a:lnTo>
                  <a:lnTo>
                    <a:pt x="37" y="40"/>
                  </a:lnTo>
                  <a:lnTo>
                    <a:pt x="40" y="37"/>
                  </a:lnTo>
                  <a:lnTo>
                    <a:pt x="40" y="35"/>
                  </a:lnTo>
                  <a:lnTo>
                    <a:pt x="43" y="32"/>
                  </a:lnTo>
                  <a:lnTo>
                    <a:pt x="45" y="29"/>
                  </a:lnTo>
                  <a:lnTo>
                    <a:pt x="45" y="27"/>
                  </a:lnTo>
                  <a:lnTo>
                    <a:pt x="45" y="21"/>
                  </a:lnTo>
                </a:path>
              </a:pathLst>
            </a:custGeom>
            <a:noFill/>
            <a:ln w="333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89" name="Freeform 74">
              <a:extLst>
                <a:ext uri="{FF2B5EF4-FFF2-40B4-BE49-F238E27FC236}">
                  <a16:creationId xmlns:a16="http://schemas.microsoft.com/office/drawing/2014/main" id="{6EAF764F-5DD5-9EE1-9352-9C08F710B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3371"/>
              <a:ext cx="36" cy="33"/>
            </a:xfrm>
            <a:custGeom>
              <a:avLst/>
              <a:gdLst>
                <a:gd name="T0" fmla="*/ 2 w 45"/>
                <a:gd name="T1" fmla="*/ 1 h 45"/>
                <a:gd name="T2" fmla="*/ 2 w 45"/>
                <a:gd name="T3" fmla="*/ 1 h 45"/>
                <a:gd name="T4" fmla="*/ 2 w 45"/>
                <a:gd name="T5" fmla="*/ 1 h 45"/>
                <a:gd name="T6" fmla="*/ 2 w 45"/>
                <a:gd name="T7" fmla="*/ 1 h 45"/>
                <a:gd name="T8" fmla="*/ 2 w 45"/>
                <a:gd name="T9" fmla="*/ 1 h 45"/>
                <a:gd name="T10" fmla="*/ 2 w 45"/>
                <a:gd name="T11" fmla="*/ 1 h 45"/>
                <a:gd name="T12" fmla="*/ 2 w 45"/>
                <a:gd name="T13" fmla="*/ 1 h 45"/>
                <a:gd name="T14" fmla="*/ 2 w 45"/>
                <a:gd name="T15" fmla="*/ 1 h 45"/>
                <a:gd name="T16" fmla="*/ 2 w 45"/>
                <a:gd name="T17" fmla="*/ 1 h 45"/>
                <a:gd name="T18" fmla="*/ 2 w 45"/>
                <a:gd name="T19" fmla="*/ 1 h 45"/>
                <a:gd name="T20" fmla="*/ 2 w 45"/>
                <a:gd name="T21" fmla="*/ 1 h 45"/>
                <a:gd name="T22" fmla="*/ 2 w 45"/>
                <a:gd name="T23" fmla="*/ 1 h 45"/>
                <a:gd name="T24" fmla="*/ 2 w 45"/>
                <a:gd name="T25" fmla="*/ 1 h 45"/>
                <a:gd name="T26" fmla="*/ 2 w 45"/>
                <a:gd name="T27" fmla="*/ 1 h 45"/>
                <a:gd name="T28" fmla="*/ 2 w 45"/>
                <a:gd name="T29" fmla="*/ 1 h 45"/>
                <a:gd name="T30" fmla="*/ 2 w 45"/>
                <a:gd name="T31" fmla="*/ 1 h 45"/>
                <a:gd name="T32" fmla="*/ 2 w 45"/>
                <a:gd name="T33" fmla="*/ 1 h 45"/>
                <a:gd name="T34" fmla="*/ 2 w 45"/>
                <a:gd name="T35" fmla="*/ 1 h 45"/>
                <a:gd name="T36" fmla="*/ 2 w 45"/>
                <a:gd name="T37" fmla="*/ 1 h 45"/>
                <a:gd name="T38" fmla="*/ 0 w 45"/>
                <a:gd name="T39" fmla="*/ 1 h 45"/>
                <a:gd name="T40" fmla="*/ 0 w 45"/>
                <a:gd name="T41" fmla="*/ 1 h 45"/>
                <a:gd name="T42" fmla="*/ 0 w 45"/>
                <a:gd name="T43" fmla="*/ 1 h 45"/>
                <a:gd name="T44" fmla="*/ 2 w 45"/>
                <a:gd name="T45" fmla="*/ 1 h 45"/>
                <a:gd name="T46" fmla="*/ 2 w 45"/>
                <a:gd name="T47" fmla="*/ 1 h 45"/>
                <a:gd name="T48" fmla="*/ 2 w 45"/>
                <a:gd name="T49" fmla="*/ 1 h 45"/>
                <a:gd name="T50" fmla="*/ 2 w 45"/>
                <a:gd name="T51" fmla="*/ 1 h 45"/>
                <a:gd name="T52" fmla="*/ 2 w 45"/>
                <a:gd name="T53" fmla="*/ 1 h 45"/>
                <a:gd name="T54" fmla="*/ 2 w 45"/>
                <a:gd name="T55" fmla="*/ 1 h 45"/>
                <a:gd name="T56" fmla="*/ 2 w 45"/>
                <a:gd name="T57" fmla="*/ 0 h 45"/>
                <a:gd name="T58" fmla="*/ 2 w 45"/>
                <a:gd name="T59" fmla="*/ 0 h 45"/>
                <a:gd name="T60" fmla="*/ 2 w 45"/>
                <a:gd name="T61" fmla="*/ 0 h 45"/>
                <a:gd name="T62" fmla="*/ 2 w 45"/>
                <a:gd name="T63" fmla="*/ 0 h 45"/>
                <a:gd name="T64" fmla="*/ 2 w 45"/>
                <a:gd name="T65" fmla="*/ 0 h 45"/>
                <a:gd name="T66" fmla="*/ 2 w 45"/>
                <a:gd name="T67" fmla="*/ 1 h 45"/>
                <a:gd name="T68" fmla="*/ 2 w 45"/>
                <a:gd name="T69" fmla="*/ 1 h 45"/>
                <a:gd name="T70" fmla="*/ 2 w 45"/>
                <a:gd name="T71" fmla="*/ 1 h 45"/>
                <a:gd name="T72" fmla="*/ 2 w 45"/>
                <a:gd name="T73" fmla="*/ 1 h 45"/>
                <a:gd name="T74" fmla="*/ 2 w 45"/>
                <a:gd name="T75" fmla="*/ 1 h 45"/>
                <a:gd name="T76" fmla="*/ 2 w 45"/>
                <a:gd name="T77" fmla="*/ 1 h 45"/>
                <a:gd name="T78" fmla="*/ 2 w 45"/>
                <a:gd name="T79" fmla="*/ 1 h 45"/>
                <a:gd name="T80" fmla="*/ 2 w 45"/>
                <a:gd name="T81" fmla="*/ 1 h 4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45"/>
                <a:gd name="T124" fmla="*/ 0 h 45"/>
                <a:gd name="T125" fmla="*/ 45 w 45"/>
                <a:gd name="T126" fmla="*/ 45 h 45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45" h="45">
                  <a:moveTo>
                    <a:pt x="45" y="21"/>
                  </a:moveTo>
                  <a:lnTo>
                    <a:pt x="45" y="27"/>
                  </a:lnTo>
                  <a:lnTo>
                    <a:pt x="45" y="29"/>
                  </a:lnTo>
                  <a:lnTo>
                    <a:pt x="42" y="32"/>
                  </a:lnTo>
                  <a:lnTo>
                    <a:pt x="40" y="35"/>
                  </a:lnTo>
                  <a:lnTo>
                    <a:pt x="40" y="37"/>
                  </a:lnTo>
                  <a:lnTo>
                    <a:pt x="37" y="40"/>
                  </a:lnTo>
                  <a:lnTo>
                    <a:pt x="35" y="43"/>
                  </a:lnTo>
                  <a:lnTo>
                    <a:pt x="29" y="43"/>
                  </a:lnTo>
                  <a:lnTo>
                    <a:pt x="27" y="45"/>
                  </a:lnTo>
                  <a:lnTo>
                    <a:pt x="24" y="45"/>
                  </a:lnTo>
                  <a:lnTo>
                    <a:pt x="19" y="45"/>
                  </a:lnTo>
                  <a:lnTo>
                    <a:pt x="16" y="43"/>
                  </a:lnTo>
                  <a:lnTo>
                    <a:pt x="13" y="43"/>
                  </a:lnTo>
                  <a:lnTo>
                    <a:pt x="11" y="40"/>
                  </a:lnTo>
                  <a:lnTo>
                    <a:pt x="8" y="37"/>
                  </a:lnTo>
                  <a:lnTo>
                    <a:pt x="5" y="35"/>
                  </a:lnTo>
                  <a:lnTo>
                    <a:pt x="3" y="32"/>
                  </a:lnTo>
                  <a:lnTo>
                    <a:pt x="3" y="29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3" y="16"/>
                  </a:lnTo>
                  <a:lnTo>
                    <a:pt x="3" y="14"/>
                  </a:lnTo>
                  <a:lnTo>
                    <a:pt x="5" y="8"/>
                  </a:lnTo>
                  <a:lnTo>
                    <a:pt x="8" y="6"/>
                  </a:lnTo>
                  <a:lnTo>
                    <a:pt x="11" y="6"/>
                  </a:lnTo>
                  <a:lnTo>
                    <a:pt x="13" y="3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5" y="3"/>
                  </a:lnTo>
                  <a:lnTo>
                    <a:pt x="37" y="6"/>
                  </a:lnTo>
                  <a:lnTo>
                    <a:pt x="40" y="6"/>
                  </a:lnTo>
                  <a:lnTo>
                    <a:pt x="40" y="8"/>
                  </a:lnTo>
                  <a:lnTo>
                    <a:pt x="42" y="14"/>
                  </a:lnTo>
                  <a:lnTo>
                    <a:pt x="45" y="16"/>
                  </a:lnTo>
                  <a:lnTo>
                    <a:pt x="45" y="19"/>
                  </a:lnTo>
                  <a:lnTo>
                    <a:pt x="45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90" name="Freeform 75">
              <a:extLst>
                <a:ext uri="{FF2B5EF4-FFF2-40B4-BE49-F238E27FC236}">
                  <a16:creationId xmlns:a16="http://schemas.microsoft.com/office/drawing/2014/main" id="{04349C13-F980-4F4C-FCE7-B05865BA4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3371"/>
              <a:ext cx="36" cy="33"/>
            </a:xfrm>
            <a:custGeom>
              <a:avLst/>
              <a:gdLst>
                <a:gd name="T0" fmla="*/ 2 w 45"/>
                <a:gd name="T1" fmla="*/ 1 h 45"/>
                <a:gd name="T2" fmla="*/ 2 w 45"/>
                <a:gd name="T3" fmla="*/ 1 h 45"/>
                <a:gd name="T4" fmla="*/ 2 w 45"/>
                <a:gd name="T5" fmla="*/ 1 h 45"/>
                <a:gd name="T6" fmla="*/ 2 w 45"/>
                <a:gd name="T7" fmla="*/ 1 h 45"/>
                <a:gd name="T8" fmla="*/ 2 w 45"/>
                <a:gd name="T9" fmla="*/ 1 h 45"/>
                <a:gd name="T10" fmla="*/ 2 w 45"/>
                <a:gd name="T11" fmla="*/ 1 h 45"/>
                <a:gd name="T12" fmla="*/ 2 w 45"/>
                <a:gd name="T13" fmla="*/ 1 h 45"/>
                <a:gd name="T14" fmla="*/ 2 w 45"/>
                <a:gd name="T15" fmla="*/ 1 h 45"/>
                <a:gd name="T16" fmla="*/ 2 w 45"/>
                <a:gd name="T17" fmla="*/ 0 h 45"/>
                <a:gd name="T18" fmla="*/ 2 w 45"/>
                <a:gd name="T19" fmla="*/ 0 h 45"/>
                <a:gd name="T20" fmla="*/ 2 w 45"/>
                <a:gd name="T21" fmla="*/ 0 h 45"/>
                <a:gd name="T22" fmla="*/ 2 w 45"/>
                <a:gd name="T23" fmla="*/ 0 h 45"/>
                <a:gd name="T24" fmla="*/ 2 w 45"/>
                <a:gd name="T25" fmla="*/ 0 h 45"/>
                <a:gd name="T26" fmla="*/ 2 w 45"/>
                <a:gd name="T27" fmla="*/ 1 h 45"/>
                <a:gd name="T28" fmla="*/ 2 w 45"/>
                <a:gd name="T29" fmla="*/ 1 h 45"/>
                <a:gd name="T30" fmla="*/ 2 w 45"/>
                <a:gd name="T31" fmla="*/ 1 h 45"/>
                <a:gd name="T32" fmla="*/ 2 w 45"/>
                <a:gd name="T33" fmla="*/ 1 h 45"/>
                <a:gd name="T34" fmla="*/ 2 w 45"/>
                <a:gd name="T35" fmla="*/ 1 h 45"/>
                <a:gd name="T36" fmla="*/ 2 w 45"/>
                <a:gd name="T37" fmla="*/ 1 h 45"/>
                <a:gd name="T38" fmla="*/ 0 w 45"/>
                <a:gd name="T39" fmla="*/ 1 h 45"/>
                <a:gd name="T40" fmla="*/ 0 w 45"/>
                <a:gd name="T41" fmla="*/ 1 h 45"/>
                <a:gd name="T42" fmla="*/ 0 w 45"/>
                <a:gd name="T43" fmla="*/ 1 h 45"/>
                <a:gd name="T44" fmla="*/ 2 w 45"/>
                <a:gd name="T45" fmla="*/ 1 h 45"/>
                <a:gd name="T46" fmla="*/ 2 w 45"/>
                <a:gd name="T47" fmla="*/ 1 h 45"/>
                <a:gd name="T48" fmla="*/ 2 w 45"/>
                <a:gd name="T49" fmla="*/ 1 h 45"/>
                <a:gd name="T50" fmla="*/ 2 w 45"/>
                <a:gd name="T51" fmla="*/ 1 h 45"/>
                <a:gd name="T52" fmla="*/ 2 w 45"/>
                <a:gd name="T53" fmla="*/ 1 h 45"/>
                <a:gd name="T54" fmla="*/ 2 w 45"/>
                <a:gd name="T55" fmla="*/ 1 h 45"/>
                <a:gd name="T56" fmla="*/ 2 w 45"/>
                <a:gd name="T57" fmla="*/ 1 h 45"/>
                <a:gd name="T58" fmla="*/ 2 w 45"/>
                <a:gd name="T59" fmla="*/ 1 h 45"/>
                <a:gd name="T60" fmla="*/ 2 w 45"/>
                <a:gd name="T61" fmla="*/ 1 h 45"/>
                <a:gd name="T62" fmla="*/ 2 w 45"/>
                <a:gd name="T63" fmla="*/ 1 h 45"/>
                <a:gd name="T64" fmla="*/ 2 w 45"/>
                <a:gd name="T65" fmla="*/ 1 h 45"/>
                <a:gd name="T66" fmla="*/ 2 w 45"/>
                <a:gd name="T67" fmla="*/ 1 h 45"/>
                <a:gd name="T68" fmla="*/ 2 w 45"/>
                <a:gd name="T69" fmla="*/ 1 h 45"/>
                <a:gd name="T70" fmla="*/ 2 w 45"/>
                <a:gd name="T71" fmla="*/ 1 h 45"/>
                <a:gd name="T72" fmla="*/ 2 w 45"/>
                <a:gd name="T73" fmla="*/ 1 h 45"/>
                <a:gd name="T74" fmla="*/ 2 w 45"/>
                <a:gd name="T75" fmla="*/ 1 h 45"/>
                <a:gd name="T76" fmla="*/ 2 w 45"/>
                <a:gd name="T77" fmla="*/ 1 h 45"/>
                <a:gd name="T78" fmla="*/ 2 w 45"/>
                <a:gd name="T79" fmla="*/ 1 h 45"/>
                <a:gd name="T80" fmla="*/ 2 w 45"/>
                <a:gd name="T81" fmla="*/ 1 h 45"/>
                <a:gd name="T82" fmla="*/ 2 w 45"/>
                <a:gd name="T83" fmla="*/ 1 h 4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5"/>
                <a:gd name="T127" fmla="*/ 0 h 45"/>
                <a:gd name="T128" fmla="*/ 45 w 45"/>
                <a:gd name="T129" fmla="*/ 45 h 4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5" h="45">
                  <a:moveTo>
                    <a:pt x="45" y="21"/>
                  </a:moveTo>
                  <a:lnTo>
                    <a:pt x="45" y="19"/>
                  </a:lnTo>
                  <a:lnTo>
                    <a:pt x="45" y="16"/>
                  </a:lnTo>
                  <a:lnTo>
                    <a:pt x="42" y="14"/>
                  </a:lnTo>
                  <a:lnTo>
                    <a:pt x="40" y="8"/>
                  </a:lnTo>
                  <a:lnTo>
                    <a:pt x="40" y="6"/>
                  </a:lnTo>
                  <a:lnTo>
                    <a:pt x="37" y="6"/>
                  </a:lnTo>
                  <a:lnTo>
                    <a:pt x="35" y="3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4" y="0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3" y="3"/>
                  </a:lnTo>
                  <a:lnTo>
                    <a:pt x="11" y="6"/>
                  </a:lnTo>
                  <a:lnTo>
                    <a:pt x="8" y="6"/>
                  </a:lnTo>
                  <a:lnTo>
                    <a:pt x="5" y="8"/>
                  </a:lnTo>
                  <a:lnTo>
                    <a:pt x="3" y="14"/>
                  </a:lnTo>
                  <a:lnTo>
                    <a:pt x="3" y="16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7"/>
                  </a:lnTo>
                  <a:lnTo>
                    <a:pt x="3" y="29"/>
                  </a:lnTo>
                  <a:lnTo>
                    <a:pt x="3" y="32"/>
                  </a:lnTo>
                  <a:lnTo>
                    <a:pt x="5" y="35"/>
                  </a:lnTo>
                  <a:lnTo>
                    <a:pt x="8" y="37"/>
                  </a:lnTo>
                  <a:lnTo>
                    <a:pt x="11" y="40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9" y="45"/>
                  </a:lnTo>
                  <a:lnTo>
                    <a:pt x="24" y="45"/>
                  </a:lnTo>
                  <a:lnTo>
                    <a:pt x="27" y="45"/>
                  </a:lnTo>
                  <a:lnTo>
                    <a:pt x="29" y="43"/>
                  </a:lnTo>
                  <a:lnTo>
                    <a:pt x="35" y="43"/>
                  </a:lnTo>
                  <a:lnTo>
                    <a:pt x="37" y="40"/>
                  </a:lnTo>
                  <a:lnTo>
                    <a:pt x="40" y="37"/>
                  </a:lnTo>
                  <a:lnTo>
                    <a:pt x="40" y="35"/>
                  </a:lnTo>
                  <a:lnTo>
                    <a:pt x="42" y="32"/>
                  </a:lnTo>
                  <a:lnTo>
                    <a:pt x="45" y="29"/>
                  </a:lnTo>
                  <a:lnTo>
                    <a:pt x="45" y="27"/>
                  </a:lnTo>
                  <a:lnTo>
                    <a:pt x="45" y="21"/>
                  </a:lnTo>
                </a:path>
              </a:pathLst>
            </a:custGeom>
            <a:noFill/>
            <a:ln w="333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cxnSp>
        <p:nvCxnSpPr>
          <p:cNvPr id="23557" name="Straight Arrow Connector 48">
            <a:extLst>
              <a:ext uri="{FF2B5EF4-FFF2-40B4-BE49-F238E27FC236}">
                <a16:creationId xmlns:a16="http://schemas.microsoft.com/office/drawing/2014/main" id="{69920E53-518A-622F-3055-2F9C2FA38D3A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1731169" y="2031206"/>
            <a:ext cx="469900" cy="14288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58" name="Straight Arrow Connector 49">
            <a:extLst>
              <a:ext uri="{FF2B5EF4-FFF2-40B4-BE49-F238E27FC236}">
                <a16:creationId xmlns:a16="http://schemas.microsoft.com/office/drawing/2014/main" id="{C4AB2429-33F2-2803-2670-6E89408B6814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1691481" y="2748757"/>
            <a:ext cx="549275" cy="1428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59" name="TextBox 52">
            <a:extLst>
              <a:ext uri="{FF2B5EF4-FFF2-40B4-BE49-F238E27FC236}">
                <a16:creationId xmlns:a16="http://schemas.microsoft.com/office/drawing/2014/main" id="{D4FE8EA6-96B3-D7CC-0DEF-A95E39BC2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8763" y="1724025"/>
            <a:ext cx="504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 sz="2800">
                <a:solidFill>
                  <a:srgbClr val="FF0000"/>
                </a:solidFill>
                <a:sym typeface="Wingdings 2" pitchFamily="2" charset="2"/>
              </a:rPr>
              <a:t></a:t>
            </a:r>
            <a:endParaRPr lang="en-CA" altLang="en-US" sz="2800">
              <a:solidFill>
                <a:srgbClr val="FF0000"/>
              </a:solidFill>
            </a:endParaRPr>
          </a:p>
        </p:txBody>
      </p:sp>
      <p:sp>
        <p:nvSpPr>
          <p:cNvPr id="23560" name="TextBox 54">
            <a:extLst>
              <a:ext uri="{FF2B5EF4-FFF2-40B4-BE49-F238E27FC236}">
                <a16:creationId xmlns:a16="http://schemas.microsoft.com/office/drawing/2014/main" id="{D7413E7D-F323-7E72-0845-9B12CABB1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3688" y="2555875"/>
            <a:ext cx="504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 sz="2800">
                <a:solidFill>
                  <a:srgbClr val="FF0000"/>
                </a:solidFill>
                <a:sym typeface="Wingdings 2" pitchFamily="2" charset="2"/>
              </a:rPr>
              <a:t></a:t>
            </a:r>
            <a:endParaRPr lang="en-CA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3F243E9-DB73-5D59-891D-6F589655C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939800"/>
          </a:xfrm>
        </p:spPr>
        <p:txBody>
          <a:bodyPr/>
          <a:lstStyle/>
          <a:p>
            <a:r>
              <a:rPr lang="en-US" altLang="en-US"/>
              <a:t>Implementing Cache Coherence</a:t>
            </a:r>
          </a:p>
        </p:txBody>
      </p:sp>
      <p:sp>
        <p:nvSpPr>
          <p:cNvPr id="24579" name="Slide Number Placeholder 3">
            <a:extLst>
              <a:ext uri="{FF2B5EF4-FFF2-40B4-BE49-F238E27FC236}">
                <a16:creationId xmlns:a16="http://schemas.microsoft.com/office/drawing/2014/main" id="{A8A666B3-5382-6502-46A4-1021EF4AD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242A2CF-FF08-BF42-A993-E30F709B4337}" type="slidenum">
              <a:rPr lang="en-US" altLang="en-US"/>
              <a:pPr/>
              <a:t>8</a:t>
            </a:fld>
            <a:r>
              <a:rPr lang="en-US" altLang="en-US"/>
              <a:t> </a:t>
            </a:r>
          </a:p>
        </p:txBody>
      </p:sp>
      <p:sp>
        <p:nvSpPr>
          <p:cNvPr id="24580" name="Oval 4">
            <a:extLst>
              <a:ext uri="{FF2B5EF4-FFF2-40B4-BE49-F238E27FC236}">
                <a16:creationId xmlns:a16="http://schemas.microsoft.com/office/drawing/2014/main" id="{B722F597-FEB0-A000-4438-F63FEF43C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1517650"/>
            <a:ext cx="635000" cy="635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600"/>
              <a:t>Core</a:t>
            </a:r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F9E4AC39-9629-319B-142D-338A3E40E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138" y="2625725"/>
            <a:ext cx="1185862" cy="7334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600"/>
              <a:t>Cache Controller</a:t>
            </a:r>
          </a:p>
        </p:txBody>
      </p:sp>
      <p:cxnSp>
        <p:nvCxnSpPr>
          <p:cNvPr id="24582" name="Straight Connector 7">
            <a:extLst>
              <a:ext uri="{FF2B5EF4-FFF2-40B4-BE49-F238E27FC236}">
                <a16:creationId xmlns:a16="http://schemas.microsoft.com/office/drawing/2014/main" id="{5DE1AE70-CD7D-BE0C-A80B-32E49835566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464594" y="2366169"/>
            <a:ext cx="485775" cy="7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4583" name="Rectangle 9">
            <a:extLst>
              <a:ext uri="{FF2B5EF4-FFF2-40B4-BE49-F238E27FC236}">
                <a16:creationId xmlns:a16="http://schemas.microsoft.com/office/drawing/2014/main" id="{BC78FCE9-CB2C-60A7-FCD9-A18D5BA88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38" y="2625725"/>
            <a:ext cx="1185862" cy="733425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600"/>
              <a:t>Cache</a:t>
            </a:r>
          </a:p>
        </p:txBody>
      </p:sp>
      <p:cxnSp>
        <p:nvCxnSpPr>
          <p:cNvPr id="24584" name="Straight Connector 11">
            <a:extLst>
              <a:ext uri="{FF2B5EF4-FFF2-40B4-BE49-F238E27FC236}">
                <a16:creationId xmlns:a16="http://schemas.microsoft.com/office/drawing/2014/main" id="{113C3793-CB46-6D5A-AC8B-6F5A39BD252E}"/>
              </a:ext>
            </a:extLst>
          </p:cNvPr>
          <p:cNvCxnSpPr>
            <a:cxnSpLocks noChangeShapeType="1"/>
            <a:stCxn id="24583" idx="3"/>
            <a:endCxn id="24581" idx="1"/>
          </p:cNvCxnSpPr>
          <p:nvPr/>
        </p:nvCxnSpPr>
        <p:spPr bwMode="auto">
          <a:xfrm>
            <a:off x="1841500" y="2992438"/>
            <a:ext cx="40163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</p:cxnSp>
      <p:sp>
        <p:nvSpPr>
          <p:cNvPr id="24585" name="Oval 17">
            <a:extLst>
              <a:ext uri="{FF2B5EF4-FFF2-40B4-BE49-F238E27FC236}">
                <a16:creationId xmlns:a16="http://schemas.microsoft.com/office/drawing/2014/main" id="{09C82A08-5DBA-BD42-D82E-615A88524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4457700"/>
            <a:ext cx="4254500" cy="698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000"/>
              <a:t>Interconnection Network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F6FBE3AB-34F2-414E-7E8D-794B523D1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0" y="1041400"/>
            <a:ext cx="4279900" cy="50673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000"/>
              <a:t>	Requests received from both core and network:</a:t>
            </a:r>
          </a:p>
          <a:p>
            <a:endParaRPr lang="en-US" altLang="en-US" sz="2000"/>
          </a:p>
          <a:p>
            <a:pPr>
              <a:buFontTx/>
              <a:buNone/>
            </a:pPr>
            <a:r>
              <a:rPr lang="en-US" altLang="en-US" sz="2000"/>
              <a:t>	</a:t>
            </a:r>
            <a:r>
              <a:rPr lang="en-US" altLang="en-US" sz="2000" b="1"/>
              <a:t>Processor request:</a:t>
            </a:r>
          </a:p>
          <a:p>
            <a:pPr marL="800100" lvl="1" indent="-342900"/>
            <a:r>
              <a:rPr lang="en-US" altLang="en-US" sz="1800"/>
              <a:t>receive load/store from core</a:t>
            </a:r>
          </a:p>
          <a:p>
            <a:pPr marL="800100" lvl="1" indent="-342900"/>
            <a:r>
              <a:rPr lang="en-US" altLang="en-US" sz="1800"/>
              <a:t>update state of block</a:t>
            </a:r>
          </a:p>
          <a:p>
            <a:pPr marL="800100" lvl="1" indent="-342900"/>
            <a:r>
              <a:rPr lang="en-US" altLang="en-US" sz="1800"/>
              <a:t>issue coherence request</a:t>
            </a:r>
          </a:p>
          <a:p>
            <a:pPr marL="800100" lvl="1" indent="-342900"/>
            <a:r>
              <a:rPr lang="en-US" altLang="en-US" sz="1800"/>
              <a:t>receive response</a:t>
            </a:r>
          </a:p>
          <a:p>
            <a:pPr marL="800100" lvl="1" indent="-342900"/>
            <a:r>
              <a:rPr lang="en-US" altLang="en-US" sz="1800"/>
              <a:t>update state of block</a:t>
            </a:r>
          </a:p>
          <a:p>
            <a:pPr marL="800100" lvl="1" indent="-342900"/>
            <a:r>
              <a:rPr lang="en-US" altLang="en-US" sz="1800"/>
              <a:t>reply to core</a:t>
            </a:r>
          </a:p>
          <a:p>
            <a:pPr marL="800100" lvl="1" indent="-342900"/>
            <a:endParaRPr lang="en-US" altLang="en-US" sz="1800"/>
          </a:p>
          <a:p>
            <a:pPr>
              <a:buFontTx/>
              <a:buNone/>
            </a:pPr>
            <a:r>
              <a:rPr lang="en-US" altLang="en-US" sz="2000"/>
              <a:t>	</a:t>
            </a:r>
            <a:r>
              <a:rPr lang="en-US" altLang="en-US" sz="2000" b="1"/>
              <a:t>Network request:</a:t>
            </a:r>
          </a:p>
          <a:p>
            <a:pPr marL="800100" lvl="1" indent="-342900"/>
            <a:r>
              <a:rPr lang="en-US" altLang="en-US" sz="1800"/>
              <a:t>receive coherence request</a:t>
            </a:r>
          </a:p>
          <a:p>
            <a:pPr marL="800100" lvl="1" indent="-342900"/>
            <a:r>
              <a:rPr lang="en-US" altLang="en-US" sz="1800"/>
              <a:t>update state of block</a:t>
            </a:r>
          </a:p>
          <a:p>
            <a:pPr marL="800100" lvl="1" indent="-342900"/>
            <a:r>
              <a:rPr lang="en-US" altLang="en-US" sz="1800"/>
              <a:t>issue coherence response</a:t>
            </a:r>
          </a:p>
        </p:txBody>
      </p:sp>
      <p:cxnSp>
        <p:nvCxnSpPr>
          <p:cNvPr id="24587" name="Straight Connector 27">
            <a:extLst>
              <a:ext uri="{FF2B5EF4-FFF2-40B4-BE49-F238E27FC236}">
                <a16:creationId xmlns:a16="http://schemas.microsoft.com/office/drawing/2014/main" id="{0363AF89-5847-A79B-E51D-E6206A280DC4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2736850" y="2362200"/>
            <a:ext cx="48895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</p:spPr>
      </p:cxnSp>
      <p:sp>
        <p:nvSpPr>
          <p:cNvPr id="24588" name="TextBox 31">
            <a:extLst>
              <a:ext uri="{FF2B5EF4-FFF2-40B4-BE49-F238E27FC236}">
                <a16:creationId xmlns:a16="http://schemas.microsoft.com/office/drawing/2014/main" id="{35DB3A0F-F7E4-0F8E-5656-F5E0F7344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100" y="2025650"/>
            <a:ext cx="784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FF"/>
                </a:solidFill>
              </a:rPr>
              <a:t>loads &amp;</a:t>
            </a:r>
          </a:p>
          <a:p>
            <a:pPr algn="r"/>
            <a:r>
              <a:rPr lang="en-US" altLang="en-US">
                <a:solidFill>
                  <a:srgbClr val="0000FF"/>
                </a:solidFill>
              </a:rPr>
              <a:t>stores</a:t>
            </a:r>
          </a:p>
        </p:txBody>
      </p:sp>
      <p:sp>
        <p:nvSpPr>
          <p:cNvPr id="24589" name="TextBox 32">
            <a:extLst>
              <a:ext uri="{FF2B5EF4-FFF2-40B4-BE49-F238E27FC236}">
                <a16:creationId xmlns:a16="http://schemas.microsoft.com/office/drawing/2014/main" id="{428A8647-AD6F-2140-BF99-36F3BB3CF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8950" y="2057400"/>
            <a:ext cx="736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0000FF"/>
                </a:solidFill>
              </a:rPr>
              <a:t>loaded</a:t>
            </a:r>
          </a:p>
          <a:p>
            <a:r>
              <a:rPr lang="en-US" altLang="en-US">
                <a:solidFill>
                  <a:srgbClr val="0000FF"/>
                </a:solidFill>
              </a:rPr>
              <a:t>values</a:t>
            </a:r>
          </a:p>
        </p:txBody>
      </p:sp>
      <p:cxnSp>
        <p:nvCxnSpPr>
          <p:cNvPr id="24590" name="Straight Connector 33">
            <a:extLst>
              <a:ext uri="{FF2B5EF4-FFF2-40B4-BE49-F238E27FC236}">
                <a16:creationId xmlns:a16="http://schemas.microsoft.com/office/drawing/2014/main" id="{31BDA62D-C764-80F5-4DB3-E6A4CF09E1E4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2127250" y="3917950"/>
            <a:ext cx="112395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4591" name="TextBox 35">
            <a:extLst>
              <a:ext uri="{FF2B5EF4-FFF2-40B4-BE49-F238E27FC236}">
                <a16:creationId xmlns:a16="http://schemas.microsoft.com/office/drawing/2014/main" id="{F144E549-F15C-EA97-93C9-A108DFB69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0" y="3409950"/>
            <a:ext cx="10445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FF"/>
                </a:solidFill>
              </a:rPr>
              <a:t>issued</a:t>
            </a:r>
          </a:p>
          <a:p>
            <a:pPr algn="r"/>
            <a:r>
              <a:rPr lang="en-US" altLang="en-US">
                <a:solidFill>
                  <a:srgbClr val="0000FF"/>
                </a:solidFill>
              </a:rPr>
              <a:t>coherence </a:t>
            </a:r>
          </a:p>
          <a:p>
            <a:pPr algn="r"/>
            <a:r>
              <a:rPr lang="en-US" altLang="en-US">
                <a:solidFill>
                  <a:srgbClr val="0000FF"/>
                </a:solidFill>
              </a:rPr>
              <a:t>requests &amp; </a:t>
            </a:r>
          </a:p>
          <a:p>
            <a:pPr algn="r"/>
            <a:r>
              <a:rPr lang="en-US" altLang="en-US">
                <a:solidFill>
                  <a:srgbClr val="0000FF"/>
                </a:solidFill>
              </a:rPr>
              <a:t>responses</a:t>
            </a:r>
          </a:p>
        </p:txBody>
      </p:sp>
      <p:sp>
        <p:nvSpPr>
          <p:cNvPr id="24592" name="TextBox 38">
            <a:extLst>
              <a:ext uri="{FF2B5EF4-FFF2-40B4-BE49-F238E27FC236}">
                <a16:creationId xmlns:a16="http://schemas.microsoft.com/office/drawing/2014/main" id="{3C116DED-2DAA-0DE3-96A7-3180D6A4B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00" y="3448050"/>
            <a:ext cx="10445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0000FF"/>
                </a:solidFill>
              </a:rPr>
              <a:t>received</a:t>
            </a:r>
          </a:p>
          <a:p>
            <a:r>
              <a:rPr lang="en-US" altLang="en-US">
                <a:solidFill>
                  <a:srgbClr val="0000FF"/>
                </a:solidFill>
              </a:rPr>
              <a:t>coherence </a:t>
            </a:r>
          </a:p>
          <a:p>
            <a:r>
              <a:rPr lang="en-US" altLang="en-US">
                <a:solidFill>
                  <a:srgbClr val="0000FF"/>
                </a:solidFill>
              </a:rPr>
              <a:t>requests &amp; </a:t>
            </a:r>
          </a:p>
          <a:p>
            <a:r>
              <a:rPr lang="en-US" altLang="en-US">
                <a:solidFill>
                  <a:srgbClr val="0000FF"/>
                </a:solidFill>
              </a:rPr>
              <a:t>responses</a:t>
            </a:r>
          </a:p>
        </p:txBody>
      </p:sp>
      <p:cxnSp>
        <p:nvCxnSpPr>
          <p:cNvPr id="24593" name="Straight Connector 39">
            <a:extLst>
              <a:ext uri="{FF2B5EF4-FFF2-40B4-BE49-F238E27FC236}">
                <a16:creationId xmlns:a16="http://schemas.microsoft.com/office/drawing/2014/main" id="{769E1219-03F0-C7FE-A6E3-3E234445C906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2470150" y="3917950"/>
            <a:ext cx="112395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BE1F0993-369D-2F36-8B52-76F6B4242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Coherence, Simplified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9F4F6240-907C-E12B-EBB9-FDEF92FE8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Initially, assume all actions triggered by a memory request take place </a:t>
            </a:r>
            <a:r>
              <a:rPr lang="en-US" altLang="en-US">
                <a:solidFill>
                  <a:srgbClr val="FF0000"/>
                </a:solidFill>
              </a:rPr>
              <a:t>atomically</a:t>
            </a:r>
            <a:r>
              <a:rPr lang="en-US" altLang="en-US"/>
              <a:t>. </a:t>
            </a:r>
            <a:r>
              <a:rPr lang="en-US" altLang="en-US">
                <a:solidFill>
                  <a:srgbClr val="0000FF"/>
                </a:solidFill>
              </a:rPr>
              <a:t>Only consider “stable” coherence states. </a:t>
            </a:r>
          </a:p>
          <a:p>
            <a:pPr>
              <a:buFontTx/>
              <a:buNone/>
            </a:pPr>
            <a:endParaRPr lang="en-US" altLang="en-US"/>
          </a:p>
          <a:p>
            <a:r>
              <a:rPr lang="en-US" altLang="en-US">
                <a:solidFill>
                  <a:srgbClr val="FF0000"/>
                </a:solidFill>
              </a:rPr>
              <a:t>This view ignores time for messages to be sent and received.</a:t>
            </a:r>
          </a:p>
          <a:p>
            <a:endParaRPr lang="en-US" altLang="en-US"/>
          </a:p>
          <a:p>
            <a:r>
              <a:rPr lang="en-US" altLang="en-US">
                <a:solidFill>
                  <a:srgbClr val="FF00FF"/>
                </a:solidFill>
              </a:rPr>
              <a:t>In practice add “transient” states to enable multiple memory requests to occur in parallel.</a:t>
            </a:r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F8CE318F-0772-6B6B-1922-C6DAFCD1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FE098A8-9080-B245-AFAF-F398ABA59470}" type="slidenum">
              <a:rPr lang="en-US" altLang="en-US"/>
              <a:pPr/>
              <a:t>9</a:t>
            </a:fld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7DA55690-E0ED-EA67-E0C7-F8671D31F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Coherence Protocol States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5B5BAECF-5FC0-8FDD-BA99-8F02F0EA3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5118100"/>
            <a:ext cx="7772400" cy="1244600"/>
          </a:xfrm>
        </p:spPr>
        <p:txBody>
          <a:bodyPr/>
          <a:lstStyle/>
          <a:p>
            <a:r>
              <a:rPr lang="en-US" altLang="en-US">
                <a:solidFill>
                  <a:srgbClr val="0000FF"/>
                </a:solidFill>
              </a:rPr>
              <a:t>Logically, each memory block has a state.   </a:t>
            </a:r>
          </a:p>
          <a:p>
            <a:r>
              <a:rPr lang="en-US" altLang="en-US">
                <a:solidFill>
                  <a:srgbClr val="0000FF"/>
                </a:solidFill>
              </a:rPr>
              <a:t>Typically 2 to 5 states for each block.</a:t>
            </a: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D6DE0B24-7BB3-ABA2-15F8-E1F1BB5B2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B601954-EEDE-D34B-829E-1343324B0882}" type="slidenum">
              <a:rPr lang="en-US" altLang="en-US"/>
              <a:pPr/>
              <a:t>10</a:t>
            </a:fld>
            <a:r>
              <a:rPr lang="en-US" altLang="en-US"/>
              <a:t> </a:t>
            </a:r>
          </a:p>
        </p:txBody>
      </p:sp>
      <p:graphicFrame>
        <p:nvGraphicFramePr>
          <p:cNvPr id="5" name="Group 144">
            <a:extLst>
              <a:ext uri="{FF2B5EF4-FFF2-40B4-BE49-F238E27FC236}">
                <a16:creationId xmlns:a16="http://schemas.microsoft.com/office/drawing/2014/main" id="{443D9C6D-4613-300D-F28D-43508589669B}"/>
              </a:ext>
            </a:extLst>
          </p:cNvPr>
          <p:cNvGraphicFramePr>
            <a:graphicFrameLocks noGrp="1"/>
          </p:cNvGraphicFramePr>
          <p:nvPr/>
        </p:nvGraphicFramePr>
        <p:xfrm>
          <a:off x="2781300" y="1841500"/>
          <a:ext cx="1796098" cy="182880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32799383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28112951"/>
                    </a:ext>
                  </a:extLst>
                </a:gridCol>
                <a:gridCol w="681038">
                  <a:extLst>
                    <a:ext uri="{9D8B030D-6E8A-4147-A177-3AD203B41FA5}">
                      <a16:colId xmlns:a16="http://schemas.microsoft.com/office/drawing/2014/main" val="3340620375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526261650"/>
                    </a:ext>
                  </a:extLst>
                </a:gridCol>
              </a:tblGrid>
              <a:tr h="130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942788"/>
                  </a:ext>
                </a:extLst>
              </a:tr>
              <a:tr h="128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695674"/>
                  </a:ext>
                </a:extLst>
              </a:tr>
              <a:tr h="130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706098"/>
                  </a:ext>
                </a:extLst>
              </a:tr>
              <a:tr h="130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902018"/>
                  </a:ext>
                </a:extLst>
              </a:tr>
              <a:tr h="128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840069"/>
                  </a:ext>
                </a:extLst>
              </a:tr>
              <a:tr h="130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546973"/>
                  </a:ext>
                </a:extLst>
              </a:tr>
              <a:tr h="130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630423"/>
                  </a:ext>
                </a:extLst>
              </a:tr>
              <a:tr h="128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624550"/>
                  </a:ext>
                </a:extLst>
              </a:tr>
              <a:tr h="130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066234"/>
                  </a:ext>
                </a:extLst>
              </a:tr>
              <a:tr h="130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517682"/>
                  </a:ext>
                </a:extLst>
              </a:tr>
              <a:tr h="128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024518"/>
                  </a:ext>
                </a:extLst>
              </a:tr>
              <a:tr h="130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902030302020204" pitchFamily="66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167579"/>
                  </a:ext>
                </a:extLst>
              </a:tr>
            </a:tbl>
          </a:graphicData>
        </a:graphic>
      </p:graphicFrame>
      <p:sp>
        <p:nvSpPr>
          <p:cNvPr id="26696" name="Text Box 118">
            <a:extLst>
              <a:ext uri="{FF2B5EF4-FFF2-40B4-BE49-F238E27FC236}">
                <a16:creationId xmlns:a16="http://schemas.microsoft.com/office/drawing/2014/main" id="{4C52839A-5E68-0784-17B6-22C8FCDE3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0325" y="1624013"/>
            <a:ext cx="20986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Valid Dirty       Tag         Data</a:t>
            </a:r>
          </a:p>
        </p:txBody>
      </p:sp>
      <p:sp>
        <p:nvSpPr>
          <p:cNvPr id="26697" name="Text Box 119">
            <a:extLst>
              <a:ext uri="{FF2B5EF4-FFF2-40B4-BE49-F238E27FC236}">
                <a16:creationId xmlns:a16="http://schemas.microsoft.com/office/drawing/2014/main" id="{D587D3EE-C228-1312-44F6-2FC8D1809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3" y="3919538"/>
            <a:ext cx="16827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>
                <a:latin typeface="Comic Sans MS" panose="030F0902030302020204" pitchFamily="66" charset="0"/>
              </a:rPr>
              <a:t>Direct mapped, write-back, write allocate</a:t>
            </a:r>
            <a:endParaRPr lang="en-US" altLang="en-US" sz="1200"/>
          </a:p>
        </p:txBody>
      </p:sp>
      <p:sp>
        <p:nvSpPr>
          <p:cNvPr id="26698" name="Rectangle 215">
            <a:extLst>
              <a:ext uri="{FF2B5EF4-FFF2-40B4-BE49-F238E27FC236}">
                <a16:creationId xmlns:a16="http://schemas.microsoft.com/office/drawing/2014/main" id="{D7117159-3676-B8F7-3C5D-B235DF6CE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850" y="2286000"/>
            <a:ext cx="444500" cy="228600"/>
          </a:xfrm>
          <a:prstGeom prst="rect">
            <a:avLst/>
          </a:prstGeom>
          <a:solidFill>
            <a:srgbClr val="FF0000">
              <a:alpha val="3882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6699" name="Text Box 216">
            <a:extLst>
              <a:ext uri="{FF2B5EF4-FFF2-40B4-BE49-F238E27FC236}">
                <a16:creationId xmlns:a16="http://schemas.microsoft.com/office/drawing/2014/main" id="{93F6CF7B-4803-FBBA-B191-406E3519C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0025" y="226853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1</a:t>
            </a:r>
            <a:endParaRPr lang="en-US" altLang="en-US"/>
          </a:p>
        </p:txBody>
      </p:sp>
      <p:sp>
        <p:nvSpPr>
          <p:cNvPr id="26700" name="Text Box 217">
            <a:extLst>
              <a:ext uri="{FF2B5EF4-FFF2-40B4-BE49-F238E27FC236}">
                <a16:creationId xmlns:a16="http://schemas.microsoft.com/office/drawing/2014/main" id="{C1E3FE0A-0CCE-D988-9BC0-BF5567F0A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25" y="2268538"/>
            <a:ext cx="268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1</a:t>
            </a:r>
            <a:endParaRPr lang="en-US" altLang="en-US"/>
          </a:p>
        </p:txBody>
      </p:sp>
      <p:grpSp>
        <p:nvGrpSpPr>
          <p:cNvPr id="26701" name="Group 258">
            <a:extLst>
              <a:ext uri="{FF2B5EF4-FFF2-40B4-BE49-F238E27FC236}">
                <a16:creationId xmlns:a16="http://schemas.microsoft.com/office/drawing/2014/main" id="{4DF48940-BB5A-43B6-D6EF-16F1963C314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41938" y="3003550"/>
            <a:ext cx="228600" cy="228600"/>
            <a:chOff x="4080" y="672"/>
            <a:chExt cx="480" cy="480"/>
          </a:xfrm>
        </p:grpSpPr>
        <p:sp>
          <p:nvSpPr>
            <p:cNvPr id="26747" name="Oval 259">
              <a:extLst>
                <a:ext uri="{FF2B5EF4-FFF2-40B4-BE49-F238E27FC236}">
                  <a16:creationId xmlns:a16="http://schemas.microsoft.com/office/drawing/2014/main" id="{D9370B82-EE51-BC24-1977-ED907B55CD7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0" y="672"/>
              <a:ext cx="480" cy="48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bIns="0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748" name="Line 260">
              <a:extLst>
                <a:ext uri="{FF2B5EF4-FFF2-40B4-BE49-F238E27FC236}">
                  <a16:creationId xmlns:a16="http://schemas.microsoft.com/office/drawing/2014/main" id="{FC554C3E-6A5E-1505-8F3F-0E237118923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512" y="768"/>
              <a:ext cx="48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bIns="0"/>
            <a:lstStyle/>
            <a:p>
              <a:endParaRPr lang="en-US"/>
            </a:p>
          </p:txBody>
        </p:sp>
      </p:grpSp>
      <p:grpSp>
        <p:nvGrpSpPr>
          <p:cNvPr id="26702" name="Group 261">
            <a:extLst>
              <a:ext uri="{FF2B5EF4-FFF2-40B4-BE49-F238E27FC236}">
                <a16:creationId xmlns:a16="http://schemas.microsoft.com/office/drawing/2014/main" id="{F14C57B1-D32C-C1C0-62ED-6746A62CFCF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865813" y="3254375"/>
            <a:ext cx="228600" cy="228600"/>
            <a:chOff x="4752" y="1440"/>
            <a:chExt cx="480" cy="480"/>
          </a:xfrm>
        </p:grpSpPr>
        <p:sp>
          <p:nvSpPr>
            <p:cNvPr id="26745" name="Oval 262">
              <a:extLst>
                <a:ext uri="{FF2B5EF4-FFF2-40B4-BE49-F238E27FC236}">
                  <a16:creationId xmlns:a16="http://schemas.microsoft.com/office/drawing/2014/main" id="{E63AA06E-8AB5-E8C8-523C-93E0E3B8CE5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52" y="1440"/>
              <a:ext cx="480" cy="480"/>
            </a:xfrm>
            <a:prstGeom prst="ellips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bIns="0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746" name="Line 263">
              <a:extLst>
                <a:ext uri="{FF2B5EF4-FFF2-40B4-BE49-F238E27FC236}">
                  <a16:creationId xmlns:a16="http://schemas.microsoft.com/office/drawing/2014/main" id="{71B3DACF-2EF4-B3CD-0E07-4E7CCAEF083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52" y="1680"/>
              <a:ext cx="48" cy="144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bIns="0"/>
            <a:lstStyle/>
            <a:p>
              <a:endParaRPr lang="en-US"/>
            </a:p>
          </p:txBody>
        </p:sp>
      </p:grpSp>
      <p:sp>
        <p:nvSpPr>
          <p:cNvPr id="26703" name="Oval 264">
            <a:extLst>
              <a:ext uri="{FF2B5EF4-FFF2-40B4-BE49-F238E27FC236}">
                <a16:creationId xmlns:a16="http://schemas.microsoft.com/office/drawing/2014/main" id="{1C426787-275C-0759-46EA-8FA48071E0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00688" y="3041650"/>
            <a:ext cx="419100" cy="4032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6704" name="Group 265">
            <a:extLst>
              <a:ext uri="{FF2B5EF4-FFF2-40B4-BE49-F238E27FC236}">
                <a16:creationId xmlns:a16="http://schemas.microsoft.com/office/drawing/2014/main" id="{130566D0-A762-C238-8CBF-FAE40A513CF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54813" y="2274888"/>
            <a:ext cx="227012" cy="228600"/>
            <a:chOff x="4752" y="1440"/>
            <a:chExt cx="480" cy="480"/>
          </a:xfrm>
        </p:grpSpPr>
        <p:sp>
          <p:nvSpPr>
            <p:cNvPr id="26743" name="Oval 266">
              <a:extLst>
                <a:ext uri="{FF2B5EF4-FFF2-40B4-BE49-F238E27FC236}">
                  <a16:creationId xmlns:a16="http://schemas.microsoft.com/office/drawing/2014/main" id="{181A475D-FDA1-8F87-FB62-A4AC7C5F97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52" y="1440"/>
              <a:ext cx="480" cy="480"/>
            </a:xfrm>
            <a:prstGeom prst="ellipse">
              <a:avLst/>
            </a:prstGeom>
            <a:noFill/>
            <a:ln w="38100">
              <a:solidFill>
                <a:srgbClr val="CC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bIns="0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744" name="Line 267">
              <a:extLst>
                <a:ext uri="{FF2B5EF4-FFF2-40B4-BE49-F238E27FC236}">
                  <a16:creationId xmlns:a16="http://schemas.microsoft.com/office/drawing/2014/main" id="{08A77A6A-329E-F71C-2E94-2CC60FF199A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52" y="1680"/>
              <a:ext cx="48" cy="144"/>
            </a:xfrm>
            <a:prstGeom prst="line">
              <a:avLst/>
            </a:prstGeom>
            <a:noFill/>
            <a:ln w="57150">
              <a:solidFill>
                <a:srgbClr val="CC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bIns="0"/>
            <a:lstStyle/>
            <a:p>
              <a:endParaRPr lang="en-US"/>
            </a:p>
          </p:txBody>
        </p:sp>
      </p:grpSp>
      <p:grpSp>
        <p:nvGrpSpPr>
          <p:cNvPr id="26705" name="Group 268">
            <a:extLst>
              <a:ext uri="{FF2B5EF4-FFF2-40B4-BE49-F238E27FC236}">
                <a16:creationId xmlns:a16="http://schemas.microsoft.com/office/drawing/2014/main" id="{240F6868-FA1B-532D-7A33-2D1FE8DA9DC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57950" y="1909763"/>
            <a:ext cx="228600" cy="228600"/>
            <a:chOff x="4080" y="672"/>
            <a:chExt cx="480" cy="480"/>
          </a:xfrm>
        </p:grpSpPr>
        <p:sp>
          <p:nvSpPr>
            <p:cNvPr id="26741" name="Oval 269">
              <a:extLst>
                <a:ext uri="{FF2B5EF4-FFF2-40B4-BE49-F238E27FC236}">
                  <a16:creationId xmlns:a16="http://schemas.microsoft.com/office/drawing/2014/main" id="{CB596308-88BA-DB0A-6CA1-C8B342ECA91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0" y="672"/>
              <a:ext cx="480" cy="48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CC00FF"/>
              </a:solidFill>
              <a:round/>
              <a:headEnd/>
              <a:tailEnd/>
            </a:ln>
          </p:spPr>
          <p:txBody>
            <a:bodyPr wrap="none" bIns="0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742" name="Line 270">
              <a:extLst>
                <a:ext uri="{FF2B5EF4-FFF2-40B4-BE49-F238E27FC236}">
                  <a16:creationId xmlns:a16="http://schemas.microsoft.com/office/drawing/2014/main" id="{641AE5E8-3E11-7BC7-B8D6-AB77DC0DB97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512" y="768"/>
              <a:ext cx="48" cy="96"/>
            </a:xfrm>
            <a:prstGeom prst="line">
              <a:avLst/>
            </a:prstGeom>
            <a:noFill/>
            <a:ln w="57150">
              <a:solidFill>
                <a:srgbClr val="CC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bIns="0"/>
            <a:lstStyle/>
            <a:p>
              <a:endParaRPr lang="en-US"/>
            </a:p>
          </p:txBody>
        </p:sp>
      </p:grpSp>
      <p:sp>
        <p:nvSpPr>
          <p:cNvPr id="26706" name="Oval 271">
            <a:extLst>
              <a:ext uri="{FF2B5EF4-FFF2-40B4-BE49-F238E27FC236}">
                <a16:creationId xmlns:a16="http://schemas.microsoft.com/office/drawing/2014/main" id="{92B6A62F-919F-8259-E2D6-D445834718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13513" y="2000250"/>
            <a:ext cx="419100" cy="40163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6707" name="Rectangle 273">
            <a:extLst>
              <a:ext uri="{FF2B5EF4-FFF2-40B4-BE49-F238E27FC236}">
                <a16:creationId xmlns:a16="http://schemas.microsoft.com/office/drawing/2014/main" id="{060F4A45-8031-2418-CF1A-3970903450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59400" y="1905000"/>
            <a:ext cx="1588" cy="15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6708" name="Rectangle 274">
            <a:extLst>
              <a:ext uri="{FF2B5EF4-FFF2-40B4-BE49-F238E27FC236}">
                <a16:creationId xmlns:a16="http://schemas.microsoft.com/office/drawing/2014/main" id="{ED856AB4-D302-42E6-C61C-5CFAACCEF1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88000" y="2043113"/>
            <a:ext cx="230188" cy="3016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I</a:t>
            </a:r>
            <a:endParaRPr lang="en-US" altLang="en-US" sz="500"/>
          </a:p>
        </p:txBody>
      </p:sp>
      <p:sp>
        <p:nvSpPr>
          <p:cNvPr id="26709" name="Rectangle 275">
            <a:extLst>
              <a:ext uri="{FF2B5EF4-FFF2-40B4-BE49-F238E27FC236}">
                <a16:creationId xmlns:a16="http://schemas.microsoft.com/office/drawing/2014/main" id="{1950D5EF-F06D-2304-65E2-3777C26A1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35738" y="2066925"/>
            <a:ext cx="384175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S</a:t>
            </a:r>
            <a:endParaRPr lang="en-US" altLang="en-US" sz="500"/>
          </a:p>
        </p:txBody>
      </p:sp>
      <p:sp>
        <p:nvSpPr>
          <p:cNvPr id="26710" name="Rectangle 276">
            <a:extLst>
              <a:ext uri="{FF2B5EF4-FFF2-40B4-BE49-F238E27FC236}">
                <a16:creationId xmlns:a16="http://schemas.microsoft.com/office/drawing/2014/main" id="{A7DF49E9-17D0-77AF-950E-C77119F457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59413" y="3108325"/>
            <a:ext cx="508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/>
              <a:t>M</a:t>
            </a:r>
            <a:endParaRPr lang="en-US" altLang="en-US" sz="500"/>
          </a:p>
        </p:txBody>
      </p:sp>
      <p:sp>
        <p:nvSpPr>
          <p:cNvPr id="26711" name="Oval 287">
            <a:extLst>
              <a:ext uri="{FF2B5EF4-FFF2-40B4-BE49-F238E27FC236}">
                <a16:creationId xmlns:a16="http://schemas.microsoft.com/office/drawing/2014/main" id="{4FE9BCAE-F17F-59B6-3787-0C742B592D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00688" y="2000250"/>
            <a:ext cx="419100" cy="401638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6712" name="Line 288">
            <a:extLst>
              <a:ext uri="{FF2B5EF4-FFF2-40B4-BE49-F238E27FC236}">
                <a16:creationId xmlns:a16="http://schemas.microsoft.com/office/drawing/2014/main" id="{50E53263-1EEE-A95C-1773-0AB82F8E1E4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922963" y="2224088"/>
            <a:ext cx="598487" cy="0"/>
          </a:xfrm>
          <a:prstGeom prst="line">
            <a:avLst/>
          </a:prstGeom>
          <a:noFill/>
          <a:ln w="25400">
            <a:solidFill>
              <a:srgbClr val="99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713" name="Line 289">
            <a:extLst>
              <a:ext uri="{FF2B5EF4-FFF2-40B4-BE49-F238E27FC236}">
                <a16:creationId xmlns:a16="http://schemas.microsoft.com/office/drawing/2014/main" id="{0F3301C3-EF56-A1E4-D9BC-6574EEFF78D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700713" y="2400300"/>
            <a:ext cx="0" cy="6318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714" name="Line 290">
            <a:extLst>
              <a:ext uri="{FF2B5EF4-FFF2-40B4-BE49-F238E27FC236}">
                <a16:creationId xmlns:a16="http://schemas.microsoft.com/office/drawing/2014/main" id="{915B7D1B-3B47-B1B6-C544-9694B07A0630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849938" y="2349500"/>
            <a:ext cx="711200" cy="728663"/>
          </a:xfrm>
          <a:prstGeom prst="line">
            <a:avLst/>
          </a:prstGeom>
          <a:noFill/>
          <a:ln w="25400">
            <a:solidFill>
              <a:srgbClr val="99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715" name="Line 291">
            <a:extLst>
              <a:ext uri="{FF2B5EF4-FFF2-40B4-BE49-F238E27FC236}">
                <a16:creationId xmlns:a16="http://schemas.microsoft.com/office/drawing/2014/main" id="{76A93D70-BC9E-12A4-097F-01F94F8AAD3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934075" y="2411413"/>
            <a:ext cx="746125" cy="75723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716" name="Line 293">
            <a:extLst>
              <a:ext uri="{FF2B5EF4-FFF2-40B4-BE49-F238E27FC236}">
                <a16:creationId xmlns:a16="http://schemas.microsoft.com/office/drawing/2014/main" id="{A608CBB6-8F0F-2472-70DB-43B0C345942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889625" y="2138363"/>
            <a:ext cx="638175" cy="0"/>
          </a:xfrm>
          <a:prstGeom prst="line">
            <a:avLst/>
          </a:prstGeom>
          <a:noFill/>
          <a:ln w="25400">
            <a:solidFill>
              <a:srgbClr val="0FEFEA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717" name="Line 294">
            <a:extLst>
              <a:ext uri="{FF2B5EF4-FFF2-40B4-BE49-F238E27FC236}">
                <a16:creationId xmlns:a16="http://schemas.microsoft.com/office/drawing/2014/main" id="{20BEF0B5-EB36-A2F0-FD1F-6ADAAC467BF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638800" y="2365375"/>
            <a:ext cx="0" cy="674688"/>
          </a:xfrm>
          <a:prstGeom prst="line">
            <a:avLst/>
          </a:prstGeom>
          <a:noFill/>
          <a:ln w="25400">
            <a:solidFill>
              <a:srgbClr val="0FEFEA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718" name="Line 297">
            <a:extLst>
              <a:ext uri="{FF2B5EF4-FFF2-40B4-BE49-F238E27FC236}">
                <a16:creationId xmlns:a16="http://schemas.microsoft.com/office/drawing/2014/main" id="{95A8358A-9B2B-73A8-E09D-FB1CE06C2D6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889625" y="2365375"/>
            <a:ext cx="758825" cy="779463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7" name="Group 346">
            <a:extLst>
              <a:ext uri="{FF2B5EF4-FFF2-40B4-BE49-F238E27FC236}">
                <a16:creationId xmlns:a16="http://schemas.microsoft.com/office/drawing/2014/main" id="{97E40F87-719A-DA71-6E4B-A42FDC8BAE4B}"/>
              </a:ext>
            </a:extLst>
          </p:cNvPr>
          <p:cNvGraphicFramePr>
            <a:graphicFrameLocks noGrp="1"/>
          </p:cNvGraphicFramePr>
          <p:nvPr/>
        </p:nvGraphicFramePr>
        <p:xfrm>
          <a:off x="5219700" y="3875088"/>
          <a:ext cx="1879600" cy="914400"/>
        </p:xfrm>
        <a:graphic>
          <a:graphicData uri="http://schemas.openxmlformats.org/drawingml/2006/table">
            <a:tbl>
              <a:tblPr/>
              <a:tblGrid>
                <a:gridCol w="541338">
                  <a:extLst>
                    <a:ext uri="{9D8B030D-6E8A-4147-A177-3AD203B41FA5}">
                      <a16:colId xmlns:a16="http://schemas.microsoft.com/office/drawing/2014/main" val="233575167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098927680"/>
                    </a:ext>
                  </a:extLst>
                </a:gridCol>
                <a:gridCol w="804862">
                  <a:extLst>
                    <a:ext uri="{9D8B030D-6E8A-4147-A177-3AD203B41FA5}">
                      <a16:colId xmlns:a16="http://schemas.microsoft.com/office/drawing/2014/main" val="2900838670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rPr>
                        <a:t>Valid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rPr>
                        <a:t>Dirty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rPr>
                        <a:t>State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007618"/>
                  </a:ext>
                </a:extLst>
              </a:tr>
              <a:tr h="180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rPr>
                        <a:t>Invalid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93800"/>
                  </a:ext>
                </a:extLst>
              </a:tr>
              <a:tr h="180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rPr>
                        <a:t>Shared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628454"/>
                  </a:ext>
                </a:extLst>
              </a:tr>
              <a:tr h="180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rPr>
                        <a:t>Modified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605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C5EB1E31-2B77-0C03-D8E7-DEC2C753A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Directory vs. Snoop Protocols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FE6521B6-6FEA-A86C-EF60-7413AD9C0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092200"/>
            <a:ext cx="7772400" cy="5537200"/>
          </a:xfrm>
        </p:spPr>
        <p:txBody>
          <a:bodyPr/>
          <a:lstStyle/>
          <a:p>
            <a:r>
              <a:rPr lang="en-US" altLang="en-US"/>
              <a:t>Directory Coherence Protocol</a:t>
            </a:r>
          </a:p>
          <a:p>
            <a:pPr lvl="1"/>
            <a:r>
              <a:rPr lang="en-US" altLang="en-US"/>
              <a:t>Summarize state of block in all caches in single location called a directory.</a:t>
            </a:r>
          </a:p>
          <a:p>
            <a:pPr lvl="1"/>
            <a:r>
              <a:rPr lang="en-US" altLang="en-US"/>
              <a:t>Advantages:  Scalability</a:t>
            </a:r>
          </a:p>
          <a:p>
            <a:pPr lvl="1"/>
            <a:r>
              <a:rPr lang="en-US" altLang="en-US"/>
              <a:t>Disadvantage: Latency, Complexity</a:t>
            </a:r>
          </a:p>
          <a:p>
            <a:pPr lvl="1"/>
            <a:endParaRPr lang="en-US" altLang="en-US"/>
          </a:p>
          <a:p>
            <a:r>
              <a:rPr lang="en-US" altLang="en-US"/>
              <a:t>Snoop Coherence</a:t>
            </a:r>
          </a:p>
          <a:p>
            <a:pPr lvl="1"/>
            <a:r>
              <a:rPr lang="en-US" altLang="en-US"/>
              <a:t>For each action ask all caches for state of block</a:t>
            </a:r>
          </a:p>
          <a:p>
            <a:pPr lvl="1"/>
            <a:r>
              <a:rPr lang="en-US" altLang="en-US"/>
              <a:t>Advantages: Fast and simple</a:t>
            </a:r>
          </a:p>
          <a:p>
            <a:pPr lvl="1"/>
            <a:r>
              <a:rPr lang="en-US" altLang="en-US"/>
              <a:t>Disadvantage: Not scalable</a:t>
            </a:r>
          </a:p>
          <a:p>
            <a:pPr lvl="1"/>
            <a:endParaRPr lang="en-US" altLang="en-US"/>
          </a:p>
          <a:p>
            <a:r>
              <a:rPr lang="en-US" altLang="en-US"/>
              <a:t>Stable states at L1 cache same for both</a:t>
            </a:r>
          </a:p>
          <a:p>
            <a:pPr lvl="1"/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B807F633-C242-6A95-4232-8FB09FD41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DFC0579-24E1-0B44-9A09-9199E34690B7}" type="slidenum">
              <a:rPr lang="en-US" altLang="en-US"/>
              <a:pPr/>
              <a:t>11</a:t>
            </a:fld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6DF79975-B08C-6A39-1F9D-74203009C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3200" u="sng">
                <a:solidFill>
                  <a:srgbClr val="FF0000"/>
                </a:solidFill>
              </a:rPr>
              <a:t>Snooping</a:t>
            </a:r>
            <a:r>
              <a:rPr lang="en-US" altLang="en-US" sz="3200">
                <a:solidFill>
                  <a:srgbClr val="FF0000"/>
                </a:solidFill>
              </a:rPr>
              <a:t> </a:t>
            </a:r>
            <a:r>
              <a:rPr lang="en-US" altLang="en-US" sz="3200"/>
              <a:t>Cache-Coherence Protocols</a:t>
            </a:r>
            <a:endParaRPr lang="en-US" altLang="en-US" sz="1400">
              <a:solidFill>
                <a:schemeClr val="bg2"/>
              </a:solidFill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689F6FE-2A8A-0593-2AAE-BF2A0C4DF0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3467100"/>
            <a:ext cx="7620000" cy="2608263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Cache Controller “</a:t>
            </a:r>
            <a:r>
              <a:rPr lang="en-US" altLang="en-US" sz="2000">
                <a:solidFill>
                  <a:srgbClr val="114FFB"/>
                </a:solidFill>
              </a:rPr>
              <a:t>snoops</a:t>
            </a:r>
            <a:r>
              <a:rPr lang="en-US" altLang="en-US" sz="2000"/>
              <a:t>” all transactions on the shared medium (bus or switch)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u="sng"/>
              <a:t>Relevant transaction</a:t>
            </a:r>
            <a:r>
              <a:rPr lang="en-US" altLang="en-US" sz="1800"/>
              <a:t> if for a block it contains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Take action to ensure coherence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invalidate or supply value</a:t>
            </a:r>
            <a:endParaRPr lang="en-US" altLang="en-US" sz="16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Action depends on state of the block and the protocol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Get exclusive access before write via write invalidate</a:t>
            </a:r>
            <a:endParaRPr lang="en-US" altLang="en-US" sz="2400"/>
          </a:p>
        </p:txBody>
      </p:sp>
      <p:grpSp>
        <p:nvGrpSpPr>
          <p:cNvPr id="28676" name="Group 4">
            <a:extLst>
              <a:ext uri="{FF2B5EF4-FFF2-40B4-BE49-F238E27FC236}">
                <a16:creationId xmlns:a16="http://schemas.microsoft.com/office/drawing/2014/main" id="{166D0E9D-7523-F092-6B4A-2D8E4F48D4F1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422400"/>
            <a:ext cx="1282700" cy="736600"/>
            <a:chOff x="788" y="927"/>
            <a:chExt cx="808" cy="464"/>
          </a:xfrm>
        </p:grpSpPr>
        <p:sp>
          <p:nvSpPr>
            <p:cNvPr id="28679" name="Rectangle 5">
              <a:extLst>
                <a:ext uri="{FF2B5EF4-FFF2-40B4-BE49-F238E27FC236}">
                  <a16:creationId xmlns:a16="http://schemas.microsoft.com/office/drawing/2014/main" id="{865CF923-BC22-426B-DACD-913B2A1FE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" y="1252"/>
              <a:ext cx="136" cy="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680" name="Rectangle 6">
              <a:extLst>
                <a:ext uri="{FF2B5EF4-FFF2-40B4-BE49-F238E27FC236}">
                  <a16:creationId xmlns:a16="http://schemas.microsoft.com/office/drawing/2014/main" id="{5AB184E2-CBAB-FD53-DDAA-896818ADB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" y="1252"/>
              <a:ext cx="136" cy="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681" name="Rectangle 7">
              <a:extLst>
                <a:ext uri="{FF2B5EF4-FFF2-40B4-BE49-F238E27FC236}">
                  <a16:creationId xmlns:a16="http://schemas.microsoft.com/office/drawing/2014/main" id="{D1843DF8-8585-7625-12AD-197D5A93F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1252"/>
              <a:ext cx="520" cy="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682" name="Rectangle 8">
              <a:extLst>
                <a:ext uri="{FF2B5EF4-FFF2-40B4-BE49-F238E27FC236}">
                  <a16:creationId xmlns:a16="http://schemas.microsoft.com/office/drawing/2014/main" id="{D788045D-0B64-42F6-9BFD-4C4D9C9A0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9" y="927"/>
              <a:ext cx="379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/>
                <a:t>State</a:t>
              </a:r>
            </a:p>
            <a:p>
              <a:r>
                <a:rPr lang="en-US" altLang="en-US"/>
                <a:t>Tag</a:t>
              </a:r>
            </a:p>
            <a:p>
              <a:r>
                <a:rPr lang="en-US" altLang="en-US"/>
                <a:t>Data</a:t>
              </a:r>
            </a:p>
          </p:txBody>
        </p:sp>
        <p:sp>
          <p:nvSpPr>
            <p:cNvPr id="28683" name="Line 9">
              <a:extLst>
                <a:ext uri="{FF2B5EF4-FFF2-40B4-BE49-F238E27FC236}">
                  <a16:creationId xmlns:a16="http://schemas.microsoft.com/office/drawing/2014/main" id="{9000D765-D780-9496-CF83-5DA3AC0D91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0" y="1156"/>
              <a:ext cx="1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4" name="Line 10">
              <a:extLst>
                <a:ext uri="{FF2B5EF4-FFF2-40B4-BE49-F238E27FC236}">
                  <a16:creationId xmlns:a16="http://schemas.microsoft.com/office/drawing/2014/main" id="{2EC6A2B8-3C8C-6A8C-D473-B9DFF943F9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6" y="1012"/>
              <a:ext cx="296" cy="2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28677" name="Picture 11" descr="0504">
            <a:extLst>
              <a:ext uri="{FF2B5EF4-FFF2-40B4-BE49-F238E27FC236}">
                <a16:creationId xmlns:a16="http://schemas.microsoft.com/office/drawing/2014/main" id="{415A3358-9A6B-FBB3-B597-BB34064CD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117600"/>
            <a:ext cx="5713413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Slide Number Placeholder 14">
            <a:extLst>
              <a:ext uri="{FF2B5EF4-FFF2-40B4-BE49-F238E27FC236}">
                <a16:creationId xmlns:a16="http://schemas.microsoft.com/office/drawing/2014/main" id="{492DEDFB-C846-22EF-B06D-1AF595132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E948D9A-332A-1144-B72B-98BB48CF3219}" type="slidenum">
              <a:rPr lang="en-US" altLang="en-US"/>
              <a:pPr/>
              <a:t>12</a:t>
            </a:fld>
            <a:r>
              <a:rPr lang="en-US" altLang="en-US"/>
              <a:t> 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B6F08222-5A12-3FEF-3A06-3DBEFE0C68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3200"/>
              <a:t>MSI Snoop Protocol </a:t>
            </a:r>
            <a:endParaRPr lang="en-US" altLang="en-US" sz="1400">
              <a:solidFill>
                <a:schemeClr val="bg2"/>
              </a:solidFill>
            </a:endParaRP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7C8B16D4-0663-3616-66DB-4B9FEF9C8B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9800" y="1104900"/>
            <a:ext cx="7562850" cy="5003800"/>
          </a:xfrm>
          <a:noFill/>
        </p:spPr>
        <p:txBody>
          <a:bodyPr lIns="90488" tIns="44450" rIns="90488" bIns="44450"/>
          <a:lstStyle/>
          <a:p>
            <a:pPr marL="285750" indent="-285750" eaLnBrk="1" hangingPunct="1">
              <a:lnSpc>
                <a:spcPct val="90000"/>
              </a:lnSpc>
            </a:pPr>
            <a:r>
              <a:rPr lang="en-US" altLang="en-US" sz="2000"/>
              <a:t>Each </a:t>
            </a:r>
            <a:r>
              <a:rPr lang="en-US" altLang="en-US" sz="2000" u="sng"/>
              <a:t>memory</a:t>
            </a:r>
            <a:r>
              <a:rPr lang="en-US" altLang="en-US" sz="2000"/>
              <a:t> block is in one state (state is implicit)</a:t>
            </a:r>
          </a:p>
          <a:p>
            <a:pPr marL="685800" lvl="1" indent="-228600" eaLnBrk="1" hangingPunct="1">
              <a:lnSpc>
                <a:spcPct val="90000"/>
              </a:lnSpc>
            </a:pPr>
            <a:r>
              <a:rPr lang="en-US" altLang="en-US" sz="1800"/>
              <a:t>Clean in all caches and up-to-date in memory (</a:t>
            </a:r>
            <a:r>
              <a:rPr lang="en-US" altLang="en-US" sz="1800" u="sng"/>
              <a:t>Shared</a:t>
            </a:r>
            <a:r>
              <a:rPr lang="en-US" altLang="en-US" sz="1800"/>
              <a:t>)</a:t>
            </a:r>
          </a:p>
          <a:p>
            <a:pPr marL="685800" lvl="1" indent="-228600" eaLnBrk="1" hangingPunct="1">
              <a:lnSpc>
                <a:spcPct val="90000"/>
              </a:lnSpc>
            </a:pPr>
            <a:r>
              <a:rPr lang="en-US" altLang="en-US" sz="1800"/>
              <a:t>OR Dirty in exactly one cache (</a:t>
            </a:r>
            <a:r>
              <a:rPr lang="en-US" altLang="en-US" sz="1800" u="sng"/>
              <a:t>Modified</a:t>
            </a:r>
            <a:r>
              <a:rPr lang="en-US" altLang="en-US" sz="1800"/>
              <a:t>)</a:t>
            </a:r>
          </a:p>
          <a:p>
            <a:pPr marL="685800" lvl="1" indent="-228600" eaLnBrk="1" hangingPunct="1">
              <a:lnSpc>
                <a:spcPct val="90000"/>
              </a:lnSpc>
            </a:pPr>
            <a:r>
              <a:rPr lang="en-US" altLang="en-US" sz="1800"/>
              <a:t>OR Not in any caches </a:t>
            </a:r>
          </a:p>
          <a:p>
            <a:pPr marL="685800" lvl="1" indent="-228600" eaLnBrk="1" hangingPunct="1">
              <a:lnSpc>
                <a:spcPct val="90000"/>
              </a:lnSpc>
            </a:pPr>
            <a:endParaRPr lang="en-US" altLang="en-US" sz="1800"/>
          </a:p>
          <a:p>
            <a:pPr marL="285750" indent="-285750" eaLnBrk="1" hangingPunct="1">
              <a:lnSpc>
                <a:spcPct val="90000"/>
              </a:lnSpc>
            </a:pPr>
            <a:r>
              <a:rPr lang="en-US" altLang="en-US" sz="2000"/>
              <a:t>Each </a:t>
            </a:r>
            <a:r>
              <a:rPr lang="en-US" altLang="en-US" sz="2000" u="sng"/>
              <a:t>cache</a:t>
            </a:r>
            <a:r>
              <a:rPr lang="en-US" altLang="en-US" sz="2000"/>
              <a:t> block is in one state (state is explicit):</a:t>
            </a:r>
          </a:p>
          <a:p>
            <a:pPr marL="685800" lvl="1" indent="-228600" eaLnBrk="1" hangingPunct="1">
              <a:lnSpc>
                <a:spcPct val="90000"/>
              </a:lnSpc>
            </a:pPr>
            <a:r>
              <a:rPr lang="en-US" altLang="en-US" sz="1800" u="sng"/>
              <a:t>Shared</a:t>
            </a:r>
            <a:r>
              <a:rPr lang="en-US" altLang="en-US" sz="1800"/>
              <a:t> : block can be read</a:t>
            </a:r>
          </a:p>
          <a:p>
            <a:pPr marL="685800" lvl="1" indent="-228600" eaLnBrk="1" hangingPunct="1">
              <a:lnSpc>
                <a:spcPct val="90000"/>
              </a:lnSpc>
            </a:pPr>
            <a:r>
              <a:rPr lang="en-US" altLang="en-US" sz="1800"/>
              <a:t>OR </a:t>
            </a:r>
            <a:r>
              <a:rPr lang="en-US" altLang="en-US" sz="1800" u="sng"/>
              <a:t>Modified</a:t>
            </a:r>
            <a:r>
              <a:rPr lang="en-US" altLang="en-US" sz="1800"/>
              <a:t>: cache has only copy, its writeable, and dirty</a:t>
            </a:r>
          </a:p>
          <a:p>
            <a:pPr marL="685800" lvl="1" indent="-228600" eaLnBrk="1" hangingPunct="1">
              <a:lnSpc>
                <a:spcPct val="90000"/>
              </a:lnSpc>
            </a:pPr>
            <a:r>
              <a:rPr lang="en-US" altLang="en-US" sz="1800"/>
              <a:t>OR </a:t>
            </a:r>
            <a:r>
              <a:rPr lang="en-US" altLang="en-US" sz="1800" u="sng"/>
              <a:t>Invalid</a:t>
            </a:r>
            <a:r>
              <a:rPr lang="en-US" altLang="en-US" sz="1800"/>
              <a:t> : block contains stale data or never accessed</a:t>
            </a:r>
          </a:p>
          <a:p>
            <a:pPr marL="685800" lvl="1" indent="-228600" eaLnBrk="1" hangingPunct="1">
              <a:lnSpc>
                <a:spcPct val="90000"/>
              </a:lnSpc>
            </a:pPr>
            <a:endParaRPr lang="en-US" altLang="en-US" sz="1800"/>
          </a:p>
          <a:p>
            <a:pPr marL="285750" indent="-285750" eaLnBrk="1" hangingPunct="1">
              <a:lnSpc>
                <a:spcPct val="90000"/>
              </a:lnSpc>
            </a:pPr>
            <a:r>
              <a:rPr lang="en-US" altLang="en-US" sz="2000"/>
              <a:t>Read misses: cause all caches to snoop bus in case they have a modified copy of data (memory may be out of date)</a:t>
            </a:r>
          </a:p>
          <a:p>
            <a:pPr marL="285750" indent="-285750" eaLnBrk="1" hangingPunct="1">
              <a:lnSpc>
                <a:spcPct val="90000"/>
              </a:lnSpc>
            </a:pPr>
            <a:endParaRPr lang="en-US" altLang="en-US" sz="2000"/>
          </a:p>
          <a:p>
            <a:pPr marL="285750" indent="-285750" eaLnBrk="1" hangingPunct="1">
              <a:lnSpc>
                <a:spcPct val="90000"/>
              </a:lnSpc>
            </a:pPr>
            <a:r>
              <a:rPr lang="en-US" altLang="en-US" sz="2000"/>
              <a:t>Write hits to “shared” blocks: treated as misses since we need to tell other processor caches about the write so they can invalidate any shared copy of the data.</a:t>
            </a:r>
          </a:p>
        </p:txBody>
      </p:sp>
      <p:sp>
        <p:nvSpPr>
          <p:cNvPr id="29700" name="Slide Number Placeholder 6">
            <a:extLst>
              <a:ext uri="{FF2B5EF4-FFF2-40B4-BE49-F238E27FC236}">
                <a16:creationId xmlns:a16="http://schemas.microsoft.com/office/drawing/2014/main" id="{F24B496B-E91F-6AE9-39A5-B907E786E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F32B7F5-263B-424B-9AEB-6CB87201AAF1}" type="slidenum">
              <a:rPr lang="en-US" altLang="en-US"/>
              <a:pPr/>
              <a:t>13</a:t>
            </a:fld>
            <a:r>
              <a:rPr lang="en-US" altLang="en-US"/>
              <a:t> 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7E7F5874-66A7-C84C-C87E-2648E66F7F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1338" y="787400"/>
            <a:ext cx="7975600" cy="4419600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en-US" altLang="en-US" sz="2000"/>
              <a:t>Writes</a:t>
            </a:r>
            <a:r>
              <a:rPr lang="en-US" altLang="en-US" sz="2000" b="1"/>
              <a:t> </a:t>
            </a:r>
            <a:r>
              <a:rPr lang="en-US" altLang="en-US" sz="2000">
                <a:sym typeface="Symbol" pitchFamily="2" charset="2"/>
              </a:rPr>
              <a:t>need to know whether any other copies of the block is cached</a:t>
            </a:r>
          </a:p>
          <a:p>
            <a:pPr algn="just" eaLnBrk="1" hangingPunct="1">
              <a:buFontTx/>
              <a:buNone/>
            </a:pPr>
            <a:endParaRPr lang="en-US" altLang="en-US" sz="2000">
              <a:sym typeface="Symbol" pitchFamily="2" charset="2"/>
            </a:endParaRPr>
          </a:p>
          <a:p>
            <a:pPr algn="just" eaLnBrk="1" hangingPunct="1">
              <a:buFontTx/>
              <a:buNone/>
            </a:pPr>
            <a:r>
              <a:rPr lang="en-US" altLang="en-US" sz="2000">
                <a:sym typeface="Symbol" pitchFamily="2" charset="2"/>
              </a:rPr>
              <a:t>	Write hit:</a:t>
            </a:r>
          </a:p>
          <a:p>
            <a:pPr lvl="1" algn="just" eaLnBrk="1" hangingPunct="1"/>
            <a:r>
              <a:rPr lang="en-US" altLang="en-US" sz="2000">
                <a:sym typeface="Symbol" pitchFamily="2" charset="2"/>
              </a:rPr>
              <a:t>Block in modified state  No other copies  No need to place invalidate on bus for writeback cache </a:t>
            </a:r>
          </a:p>
          <a:p>
            <a:pPr lvl="1" algn="just" eaLnBrk="1" hangingPunct="1"/>
            <a:r>
              <a:rPr lang="en-US" altLang="en-US" sz="2000">
                <a:sym typeface="Symbol" pitchFamily="2" charset="2"/>
              </a:rPr>
              <a:t>Block in shared state  may be copies  Need to place invalidate on bus (will cause other processors to invalidate their copy)</a:t>
            </a:r>
          </a:p>
          <a:p>
            <a:pPr lvl="1" algn="just" eaLnBrk="1" hangingPunct="1"/>
            <a:endParaRPr lang="en-US" altLang="en-US" sz="2000">
              <a:sym typeface="Symbol" pitchFamily="2" charset="2"/>
            </a:endParaRPr>
          </a:p>
          <a:p>
            <a:pPr lvl="1" algn="just" eaLnBrk="1" hangingPunct="1">
              <a:buFontTx/>
              <a:buNone/>
            </a:pPr>
            <a:r>
              <a:rPr lang="en-US" altLang="en-US" sz="2000">
                <a:sym typeface="Symbol" pitchFamily="2" charset="2"/>
              </a:rPr>
              <a:t>Write miss:</a:t>
            </a:r>
          </a:p>
          <a:p>
            <a:pPr lvl="1" algn="just" eaLnBrk="1" hangingPunct="1"/>
            <a:r>
              <a:rPr lang="en-US" altLang="en-US" sz="2000">
                <a:sym typeface="Symbol" pitchFamily="2" charset="2"/>
              </a:rPr>
              <a:t>Block in invalid state  write miss   Need to read block from memory (as in uniprocessor case) or another processor (if modified state in that other processor’s cache).</a:t>
            </a:r>
          </a:p>
        </p:txBody>
      </p:sp>
      <p:sp>
        <p:nvSpPr>
          <p:cNvPr id="30723" name="Slide Number Placeholder 6">
            <a:extLst>
              <a:ext uri="{FF2B5EF4-FFF2-40B4-BE49-F238E27FC236}">
                <a16:creationId xmlns:a16="http://schemas.microsoft.com/office/drawing/2014/main" id="{828CB1FE-C600-3CA0-0E03-F3F26BAEB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2E578B4-5370-3145-B732-D76B9FE94647}" type="slidenum">
              <a:rPr lang="en-US" altLang="en-US"/>
              <a:pPr/>
              <a:t>14</a:t>
            </a:fld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B3D3DAF-93B2-DB1B-B59A-32DC5B053074}"/>
              </a:ext>
            </a:extLst>
          </p:cNvPr>
          <p:cNvGrpSpPr>
            <a:grpSpLocks/>
          </p:cNvGrpSpPr>
          <p:nvPr/>
        </p:nvGrpSpPr>
        <p:grpSpPr bwMode="auto">
          <a:xfrm>
            <a:off x="6451600" y="542925"/>
            <a:ext cx="2243138" cy="917575"/>
            <a:chOff x="4080" y="574"/>
            <a:chExt cx="1413" cy="578"/>
          </a:xfrm>
        </p:grpSpPr>
        <p:grpSp>
          <p:nvGrpSpPr>
            <p:cNvPr id="31775" name="Group 3">
              <a:extLst>
                <a:ext uri="{FF2B5EF4-FFF2-40B4-BE49-F238E27FC236}">
                  <a16:creationId xmlns:a16="http://schemas.microsoft.com/office/drawing/2014/main" id="{2F6ED2D1-6E29-8CBC-C9F0-13B5AC04C6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0" y="672"/>
              <a:ext cx="480" cy="480"/>
              <a:chOff x="4080" y="672"/>
              <a:chExt cx="480" cy="480"/>
            </a:xfrm>
          </p:grpSpPr>
          <p:sp>
            <p:nvSpPr>
              <p:cNvPr id="31777" name="Oval 4">
                <a:extLst>
                  <a:ext uri="{FF2B5EF4-FFF2-40B4-BE49-F238E27FC236}">
                    <a16:creationId xmlns:a16="http://schemas.microsoft.com/office/drawing/2014/main" id="{495ACC84-84C9-D25B-F9BE-CAFFE8E65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672"/>
                <a:ext cx="480" cy="48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CC00FF"/>
                </a:solidFill>
                <a:round/>
                <a:headEnd/>
                <a:tailEnd/>
              </a:ln>
            </p:spPr>
            <p:txBody>
              <a:bodyPr wrap="none" bIns="0" anchor="ctr"/>
              <a:lstStyle>
                <a:lvl1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1778" name="Line 5">
                <a:extLst>
                  <a:ext uri="{FF2B5EF4-FFF2-40B4-BE49-F238E27FC236}">
                    <a16:creationId xmlns:a16="http://schemas.microsoft.com/office/drawing/2014/main" id="{349C7DDE-054F-E18E-F7FF-AD2C215D6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12" y="768"/>
                <a:ext cx="48" cy="96"/>
              </a:xfrm>
              <a:prstGeom prst="line">
                <a:avLst/>
              </a:prstGeom>
              <a:noFill/>
              <a:ln w="57150">
                <a:solidFill>
                  <a:srgbClr val="CC00FF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bIns="0"/>
              <a:lstStyle/>
              <a:p>
                <a:endParaRPr lang="en-US"/>
              </a:p>
            </p:txBody>
          </p:sp>
        </p:grpSp>
        <p:sp>
          <p:nvSpPr>
            <p:cNvPr id="31776" name="Rectangle 6">
              <a:extLst>
                <a:ext uri="{FF2B5EF4-FFF2-40B4-BE49-F238E27FC236}">
                  <a16:creationId xmlns:a16="http://schemas.microsoft.com/office/drawing/2014/main" id="{F143D36A-4924-4846-D71A-8E334FB06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" y="574"/>
              <a:ext cx="1026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b="1">
                  <a:solidFill>
                    <a:srgbClr val="990099"/>
                  </a:solidFill>
                </a:rPr>
                <a:t>CPU Read hit</a:t>
              </a:r>
              <a:endParaRPr lang="en-US" altLang="en-US" sz="1800" b="1">
                <a:solidFill>
                  <a:schemeClr val="accent2"/>
                </a:solidFill>
              </a:endParaRPr>
            </a:p>
          </p:txBody>
        </p:sp>
      </p:grpSp>
      <p:grpSp>
        <p:nvGrpSpPr>
          <p:cNvPr id="4" name="Group 7">
            <a:extLst>
              <a:ext uri="{FF2B5EF4-FFF2-40B4-BE49-F238E27FC236}">
                <a16:creationId xmlns:a16="http://schemas.microsoft.com/office/drawing/2014/main" id="{8C4569B6-6BE4-5373-A51B-DF1165074CAB}"/>
              </a:ext>
            </a:extLst>
          </p:cNvPr>
          <p:cNvGrpSpPr>
            <a:grpSpLocks/>
          </p:cNvGrpSpPr>
          <p:nvPr/>
        </p:nvGrpSpPr>
        <p:grpSpPr bwMode="auto">
          <a:xfrm>
            <a:off x="2730500" y="4343400"/>
            <a:ext cx="762000" cy="762000"/>
            <a:chOff x="4080" y="672"/>
            <a:chExt cx="480" cy="480"/>
          </a:xfrm>
        </p:grpSpPr>
        <p:sp>
          <p:nvSpPr>
            <p:cNvPr id="31773" name="Oval 8">
              <a:extLst>
                <a:ext uri="{FF2B5EF4-FFF2-40B4-BE49-F238E27FC236}">
                  <a16:creationId xmlns:a16="http://schemas.microsoft.com/office/drawing/2014/main" id="{53325810-F925-923B-3A79-FF13BE08B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672"/>
              <a:ext cx="480" cy="48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bIns="0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74" name="Line 9">
              <a:extLst>
                <a:ext uri="{FF2B5EF4-FFF2-40B4-BE49-F238E27FC236}">
                  <a16:creationId xmlns:a16="http://schemas.microsoft.com/office/drawing/2014/main" id="{233D9868-6EF1-1713-082E-7DAD8D9EE5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12" y="768"/>
              <a:ext cx="48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bIns="0"/>
            <a:lstStyle/>
            <a:p>
              <a:endParaRPr lang="en-US"/>
            </a:p>
          </p:txBody>
        </p:sp>
      </p:grpSp>
      <p:sp>
        <p:nvSpPr>
          <p:cNvPr id="31748" name="Oval 10">
            <a:extLst>
              <a:ext uri="{FF2B5EF4-FFF2-40B4-BE49-F238E27FC236}">
                <a16:creationId xmlns:a16="http://schemas.microsoft.com/office/drawing/2014/main" id="{061AC5C2-86F0-AC3E-036B-2D4AEE9C0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8450" y="984250"/>
            <a:ext cx="1403350" cy="1346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1749" name="Oval 14">
            <a:extLst>
              <a:ext uri="{FF2B5EF4-FFF2-40B4-BE49-F238E27FC236}">
                <a16:creationId xmlns:a16="http://schemas.microsoft.com/office/drawing/2014/main" id="{4AC1B61D-8EAA-1000-1F4E-BE628DD82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4470400"/>
            <a:ext cx="1403350" cy="1346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1750" name="Rectangle 15">
            <a:extLst>
              <a:ext uri="{FF2B5EF4-FFF2-40B4-BE49-F238E27FC236}">
                <a16:creationId xmlns:a16="http://schemas.microsoft.com/office/drawing/2014/main" id="{D7D62B89-FA1A-2685-9C56-16CA3DA3E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775" y="0"/>
            <a:ext cx="7254875" cy="827088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3600"/>
              <a:t>Write-Back State Machine – CPU</a:t>
            </a:r>
            <a:br>
              <a:rPr lang="en-US" altLang="en-US"/>
            </a:br>
            <a:endParaRPr lang="en-US" altLang="en-US" sz="1400">
              <a:solidFill>
                <a:schemeClr val="bg2"/>
              </a:solidFill>
            </a:endParaRPr>
          </a:p>
        </p:txBody>
      </p:sp>
      <p:sp>
        <p:nvSpPr>
          <p:cNvPr id="31751" name="Rectangle 16">
            <a:extLst>
              <a:ext uri="{FF2B5EF4-FFF2-40B4-BE49-F238E27FC236}">
                <a16:creationId xmlns:a16="http://schemas.microsoft.com/office/drawing/2014/main" id="{674F0A43-3005-CAB8-9E7F-52E1AE7C67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4000" y="1371600"/>
            <a:ext cx="2743200" cy="971550"/>
          </a:xfrm>
          <a:noFill/>
        </p:spPr>
        <p:txBody>
          <a:bodyPr lIns="90488" tIns="44450" rIns="90488" bIns="44450"/>
          <a:lstStyle/>
          <a:p>
            <a:pPr marL="285750" indent="-285750" eaLnBrk="1" hangingPunct="1">
              <a:lnSpc>
                <a:spcPct val="80000"/>
              </a:lnSpc>
            </a:pPr>
            <a:r>
              <a:rPr lang="en-US" altLang="en-US" sz="2000"/>
              <a:t>State machine</a:t>
            </a:r>
            <a:br>
              <a:rPr lang="en-US" altLang="en-US" sz="2000"/>
            </a:br>
            <a:r>
              <a:rPr lang="en-US" altLang="en-US" sz="2000"/>
              <a:t>for </a:t>
            </a:r>
            <a:r>
              <a:rPr lang="en-US" altLang="en-US" sz="2000" i="1" u="sng">
                <a:solidFill>
                  <a:schemeClr val="hlink"/>
                </a:solidFill>
              </a:rPr>
              <a:t>CPU</a:t>
            </a:r>
            <a:r>
              <a:rPr lang="en-US" altLang="en-US" sz="2000"/>
              <a:t> requests</a:t>
            </a:r>
            <a:br>
              <a:rPr lang="en-US" altLang="en-US" sz="2000"/>
            </a:br>
            <a:r>
              <a:rPr lang="en-US" altLang="en-US" sz="2000"/>
              <a:t>for each </a:t>
            </a:r>
            <a:br>
              <a:rPr lang="en-US" altLang="en-US" sz="2000"/>
            </a:br>
            <a:r>
              <a:rPr lang="en-US" altLang="en-US" sz="2000" u="sng">
                <a:solidFill>
                  <a:schemeClr val="hlink"/>
                </a:solidFill>
              </a:rPr>
              <a:t>cache block</a:t>
            </a:r>
          </a:p>
          <a:p>
            <a:pPr marL="285750" indent="-285750" eaLnBrk="1" hangingPunct="1">
              <a:lnSpc>
                <a:spcPct val="80000"/>
              </a:lnSpc>
            </a:pPr>
            <a:r>
              <a:rPr lang="en-US" altLang="en-US" sz="2000"/>
              <a:t>Non-resident blocks invalid</a:t>
            </a:r>
          </a:p>
        </p:txBody>
      </p:sp>
      <p:sp>
        <p:nvSpPr>
          <p:cNvPr id="31752" name="Rectangle 17">
            <a:extLst>
              <a:ext uri="{FF2B5EF4-FFF2-40B4-BE49-F238E27FC236}">
                <a16:creationId xmlns:a16="http://schemas.microsoft.com/office/drawing/2014/main" id="{56DE029D-6700-E54B-F7E8-10BE8F681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263" y="1482725"/>
            <a:ext cx="841375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/>
              <a:t>Invalid</a:t>
            </a:r>
          </a:p>
        </p:txBody>
      </p:sp>
      <p:sp>
        <p:nvSpPr>
          <p:cNvPr id="31753" name="Rectangle 18">
            <a:extLst>
              <a:ext uri="{FF2B5EF4-FFF2-40B4-BE49-F238E27FC236}">
                <a16:creationId xmlns:a16="http://schemas.microsoft.com/office/drawing/2014/main" id="{1124AB5B-1A06-162E-0481-20F228A29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5450" y="1497013"/>
            <a:ext cx="1289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Shared</a:t>
            </a:r>
          </a:p>
        </p:txBody>
      </p:sp>
      <p:sp>
        <p:nvSpPr>
          <p:cNvPr id="31754" name="Rectangle 19">
            <a:extLst>
              <a:ext uri="{FF2B5EF4-FFF2-40B4-BE49-F238E27FC236}">
                <a16:creationId xmlns:a16="http://schemas.microsoft.com/office/drawing/2014/main" id="{D87EB021-7F1D-E80B-0603-5D91AF1D8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3900" y="4949825"/>
            <a:ext cx="1389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Modified</a:t>
            </a:r>
          </a:p>
        </p:txBody>
      </p:sp>
      <p:sp>
        <p:nvSpPr>
          <p:cNvPr id="972821" name="Rectangle 21">
            <a:extLst>
              <a:ext uri="{FF2B5EF4-FFF2-40B4-BE49-F238E27FC236}">
                <a16:creationId xmlns:a16="http://schemas.microsoft.com/office/drawing/2014/main" id="{E7C7763F-FE70-C2B9-D880-B58D83363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8100" y="2590800"/>
            <a:ext cx="1298575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chemeClr val="hlink"/>
                </a:solidFill>
              </a:rPr>
              <a:t>CPU Write</a:t>
            </a:r>
          </a:p>
        </p:txBody>
      </p:sp>
      <p:sp>
        <p:nvSpPr>
          <p:cNvPr id="972822" name="Rectangle 22">
            <a:extLst>
              <a:ext uri="{FF2B5EF4-FFF2-40B4-BE49-F238E27FC236}">
                <a16:creationId xmlns:a16="http://schemas.microsoft.com/office/drawing/2014/main" id="{AE22EAE5-6449-B79C-F53F-6EBF74794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563" y="1749425"/>
            <a:ext cx="18065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/>
              <a:t>Place read miss</a:t>
            </a:r>
          </a:p>
          <a:p>
            <a:r>
              <a:rPr lang="en-US" altLang="en-US" sz="1800"/>
              <a:t>on bus</a:t>
            </a:r>
          </a:p>
        </p:txBody>
      </p:sp>
      <p:sp>
        <p:nvSpPr>
          <p:cNvPr id="972823" name="Rectangle 23">
            <a:extLst>
              <a:ext uri="{FF2B5EF4-FFF2-40B4-BE49-F238E27FC236}">
                <a16:creationId xmlns:a16="http://schemas.microsoft.com/office/drawing/2014/main" id="{22C79924-0930-2B8B-00A4-DFBAB8EE2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5700" y="2971800"/>
            <a:ext cx="15017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/>
              <a:t>Place Write </a:t>
            </a:r>
            <a:br>
              <a:rPr lang="en-US" altLang="en-US" sz="1800" b="1"/>
            </a:br>
            <a:r>
              <a:rPr lang="en-US" altLang="en-US" sz="1800" b="1"/>
              <a:t>Miss on bus</a:t>
            </a:r>
          </a:p>
        </p:txBody>
      </p:sp>
      <p:sp>
        <p:nvSpPr>
          <p:cNvPr id="972826" name="Rectangle 26">
            <a:extLst>
              <a:ext uri="{FF2B5EF4-FFF2-40B4-BE49-F238E27FC236}">
                <a16:creationId xmlns:a16="http://schemas.microsoft.com/office/drawing/2014/main" id="{58392E7E-174F-AD97-86E0-C8B63E5EF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5029200"/>
            <a:ext cx="16033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rgbClr val="990099"/>
                </a:solidFill>
              </a:rPr>
              <a:t>CPU read hit</a:t>
            </a:r>
            <a:endParaRPr lang="en-US" altLang="en-US" sz="1800"/>
          </a:p>
          <a:p>
            <a:r>
              <a:rPr lang="en-US" altLang="en-US" sz="1800" b="1">
                <a:solidFill>
                  <a:schemeClr val="hlink"/>
                </a:solidFill>
              </a:rPr>
              <a:t>CPU write hit</a:t>
            </a:r>
          </a:p>
        </p:txBody>
      </p:sp>
      <p:sp>
        <p:nvSpPr>
          <p:cNvPr id="31759" name="Rectangle 27">
            <a:extLst>
              <a:ext uri="{FF2B5EF4-FFF2-40B4-BE49-F238E27FC236}">
                <a16:creationId xmlns:a16="http://schemas.microsoft.com/office/drawing/2014/main" id="{F7F241BE-B285-5825-6AB8-159F21C48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13" y="4252913"/>
            <a:ext cx="201136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1"/>
              <a:t>Cache Block</a:t>
            </a:r>
          </a:p>
          <a:p>
            <a:r>
              <a:rPr lang="en-US" altLang="en-US" sz="2400" b="1"/>
              <a:t>State</a:t>
            </a:r>
          </a:p>
        </p:txBody>
      </p:sp>
      <p:sp>
        <p:nvSpPr>
          <p:cNvPr id="31760" name="Oval 28">
            <a:extLst>
              <a:ext uri="{FF2B5EF4-FFF2-40B4-BE49-F238E27FC236}">
                <a16:creationId xmlns:a16="http://schemas.microsoft.com/office/drawing/2014/main" id="{8318BC43-8395-40C9-D9BF-38057BE51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984250"/>
            <a:ext cx="1403350" cy="1346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72829" name="Line 29">
            <a:extLst>
              <a:ext uri="{FF2B5EF4-FFF2-40B4-BE49-F238E27FC236}">
                <a16:creationId xmlns:a16="http://schemas.microsoft.com/office/drawing/2014/main" id="{12BD548B-88C4-F3EA-7733-807E3AB8C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3600" y="1733550"/>
            <a:ext cx="2000250" cy="0"/>
          </a:xfrm>
          <a:prstGeom prst="line">
            <a:avLst/>
          </a:prstGeom>
          <a:noFill/>
          <a:ln w="25400">
            <a:solidFill>
              <a:srgbClr val="99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2830" name="Line 30">
            <a:extLst>
              <a:ext uri="{FF2B5EF4-FFF2-40B4-BE49-F238E27FC236}">
                <a16:creationId xmlns:a16="http://schemas.microsoft.com/office/drawing/2014/main" id="{65C51B43-CAA5-6CFD-39A3-F4A75B2FEF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0650" y="2324100"/>
            <a:ext cx="0" cy="21145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2831" name="Line 31">
            <a:extLst>
              <a:ext uri="{FF2B5EF4-FFF2-40B4-BE49-F238E27FC236}">
                <a16:creationId xmlns:a16="http://schemas.microsoft.com/office/drawing/2014/main" id="{1D91D5DC-37BD-ECD9-F86F-17710FB6CC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35500" y="2343150"/>
            <a:ext cx="2495550" cy="25336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4" name="Slide Number Placeholder 34">
            <a:extLst>
              <a:ext uri="{FF2B5EF4-FFF2-40B4-BE49-F238E27FC236}">
                <a16:creationId xmlns:a16="http://schemas.microsoft.com/office/drawing/2014/main" id="{ACC91327-36A8-787D-7EAC-0B487F942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8DCF3A0-56EE-CD48-90AE-261957982BD4}" type="slidenum">
              <a:rPr lang="en-US" altLang="en-US"/>
              <a:pPr/>
              <a:t>15</a:t>
            </a:fld>
            <a:r>
              <a:rPr lang="en-US" altLang="en-US"/>
              <a:t> </a:t>
            </a:r>
          </a:p>
        </p:txBody>
      </p:sp>
      <p:sp>
        <p:nvSpPr>
          <p:cNvPr id="35" name="Rectangle 20">
            <a:extLst>
              <a:ext uri="{FF2B5EF4-FFF2-40B4-BE49-F238E27FC236}">
                <a16:creationId xmlns:a16="http://schemas.microsoft.com/office/drawing/2014/main" id="{3BD10262-3374-1505-95BE-93F564FF3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3950" y="1316038"/>
            <a:ext cx="1285875" cy="3635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rgbClr val="990099"/>
                </a:solidFill>
              </a:rPr>
              <a:t>CPU Read</a:t>
            </a:r>
            <a:endParaRPr lang="en-US" altLang="en-US" sz="1800" b="1">
              <a:solidFill>
                <a:schemeClr val="accent2"/>
              </a:solidFill>
            </a:endParaRPr>
          </a:p>
        </p:txBody>
      </p:sp>
      <p:sp>
        <p:nvSpPr>
          <p:cNvPr id="40" name="Rectangle 24">
            <a:extLst>
              <a:ext uri="{FF2B5EF4-FFF2-40B4-BE49-F238E27FC236}">
                <a16:creationId xmlns:a16="http://schemas.microsoft.com/office/drawing/2014/main" id="{C076A5E5-BF7B-3230-8F39-171BBD7B0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2263" y="3546475"/>
            <a:ext cx="28225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chemeClr val="hlink"/>
                </a:solidFill>
              </a:rPr>
              <a:t>CPU Write</a:t>
            </a:r>
          </a:p>
          <a:p>
            <a:r>
              <a:rPr lang="en-US" altLang="en-US" sz="1800" b="1"/>
              <a:t>Place Write Miss on Bus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1" grpId="0" animBg="1" autoUpdateAnimBg="0"/>
      <p:bldP spid="972822" grpId="0" animBg="1" autoUpdateAnimBg="0"/>
      <p:bldP spid="972823" grpId="0" autoUpdateAnimBg="0"/>
      <p:bldP spid="972826" grpId="0" autoUpdateAnimBg="0"/>
      <p:bldP spid="35" grpId="0" animBg="1" autoUpdateAnimBg="0"/>
      <p:bldP spid="40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1330C6DC-A919-F214-9F2C-EFB7A108687A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5270500"/>
            <a:ext cx="762000" cy="762000"/>
            <a:chOff x="4752" y="1440"/>
            <a:chExt cx="480" cy="480"/>
          </a:xfrm>
        </p:grpSpPr>
        <p:sp>
          <p:nvSpPr>
            <p:cNvPr id="33818" name="Oval 6">
              <a:extLst>
                <a:ext uri="{FF2B5EF4-FFF2-40B4-BE49-F238E27FC236}">
                  <a16:creationId xmlns:a16="http://schemas.microsoft.com/office/drawing/2014/main" id="{12061BEF-F547-E84E-DEEF-A5E4F8B50C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1440"/>
              <a:ext cx="480" cy="480"/>
            </a:xfrm>
            <a:prstGeom prst="ellips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bIns="0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819" name="Line 7">
              <a:extLst>
                <a:ext uri="{FF2B5EF4-FFF2-40B4-BE49-F238E27FC236}">
                  <a16:creationId xmlns:a16="http://schemas.microsoft.com/office/drawing/2014/main" id="{70710052-D62E-A1B1-450B-0DD48DEBC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680"/>
              <a:ext cx="48" cy="144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bIns="0"/>
            <a:lstStyle/>
            <a:p>
              <a:endParaRPr lang="en-US"/>
            </a:p>
          </p:txBody>
        </p:sp>
      </p:grpSp>
      <p:sp>
        <p:nvSpPr>
          <p:cNvPr id="33795" name="Oval 8">
            <a:extLst>
              <a:ext uri="{FF2B5EF4-FFF2-40B4-BE49-F238E27FC236}">
                <a16:creationId xmlns:a16="http://schemas.microsoft.com/office/drawing/2014/main" id="{35492D6A-6324-8F9C-6D39-B4307F612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0" y="4559300"/>
            <a:ext cx="1403350" cy="1346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9BAAC5E4-EB1A-1D5A-9F09-C21647284F6F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1993900"/>
            <a:ext cx="762000" cy="762000"/>
            <a:chOff x="4752" y="1440"/>
            <a:chExt cx="480" cy="480"/>
          </a:xfrm>
        </p:grpSpPr>
        <p:sp>
          <p:nvSpPr>
            <p:cNvPr id="33816" name="Oval 10">
              <a:extLst>
                <a:ext uri="{FF2B5EF4-FFF2-40B4-BE49-F238E27FC236}">
                  <a16:creationId xmlns:a16="http://schemas.microsoft.com/office/drawing/2014/main" id="{76FF3124-A894-E3AA-9E7B-9347E2CB0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1440"/>
              <a:ext cx="480" cy="480"/>
            </a:xfrm>
            <a:prstGeom prst="ellipse">
              <a:avLst/>
            </a:prstGeom>
            <a:noFill/>
            <a:ln w="38100">
              <a:solidFill>
                <a:srgbClr val="CC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bIns="0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817" name="Line 11">
              <a:extLst>
                <a:ext uri="{FF2B5EF4-FFF2-40B4-BE49-F238E27FC236}">
                  <a16:creationId xmlns:a16="http://schemas.microsoft.com/office/drawing/2014/main" id="{9A5E842B-BFC6-2263-548D-4D264C7283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680"/>
              <a:ext cx="48" cy="144"/>
            </a:xfrm>
            <a:prstGeom prst="line">
              <a:avLst/>
            </a:prstGeom>
            <a:noFill/>
            <a:ln w="57150">
              <a:solidFill>
                <a:srgbClr val="CC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bIns="0"/>
            <a:lstStyle/>
            <a:p>
              <a:endParaRPr lang="en-US"/>
            </a:p>
          </p:txBody>
        </p:sp>
      </p:grpSp>
      <p:sp>
        <p:nvSpPr>
          <p:cNvPr id="33797" name="Oval 15">
            <a:extLst>
              <a:ext uri="{FF2B5EF4-FFF2-40B4-BE49-F238E27FC236}">
                <a16:creationId xmlns:a16="http://schemas.microsoft.com/office/drawing/2014/main" id="{A7919DE8-88DF-DF8D-0806-58018A506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1150" y="1073150"/>
            <a:ext cx="1403350" cy="1346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3798" name="Rectangle 16">
            <a:extLst>
              <a:ext uri="{FF2B5EF4-FFF2-40B4-BE49-F238E27FC236}">
                <a16:creationId xmlns:a16="http://schemas.microsoft.com/office/drawing/2014/main" id="{CD4ACD30-C9FB-4E22-EFF5-CBEF3C086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2300" y="190500"/>
            <a:ext cx="7543800" cy="5334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/>
              <a:t>Block-replacement</a:t>
            </a:r>
            <a:br>
              <a:rPr lang="en-US" altLang="en-US"/>
            </a:br>
            <a:endParaRPr lang="en-US" altLang="en-US" sz="1400">
              <a:solidFill>
                <a:schemeClr val="bg2"/>
              </a:solidFill>
            </a:endParaRPr>
          </a:p>
        </p:txBody>
      </p:sp>
      <p:sp>
        <p:nvSpPr>
          <p:cNvPr id="33799" name="Rectangle 17">
            <a:extLst>
              <a:ext uri="{FF2B5EF4-FFF2-40B4-BE49-F238E27FC236}">
                <a16:creationId xmlns:a16="http://schemas.microsoft.com/office/drawing/2014/main" id="{95E429BC-FA10-4A9A-17CF-D9D937462F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079500"/>
            <a:ext cx="3619500" cy="971550"/>
          </a:xfrm>
          <a:noFill/>
        </p:spPr>
        <p:txBody>
          <a:bodyPr lIns="90488" tIns="44450" rIns="90488" bIns="44450"/>
          <a:lstStyle/>
          <a:p>
            <a:pPr marL="285750" indent="-285750" eaLnBrk="1" hangingPunct="1">
              <a:lnSpc>
                <a:spcPct val="80000"/>
              </a:lnSpc>
            </a:pPr>
            <a:r>
              <a:rPr lang="en-US" altLang="en-US" sz="2000"/>
              <a:t>State machine</a:t>
            </a:r>
            <a:br>
              <a:rPr lang="en-US" altLang="en-US" sz="2000"/>
            </a:br>
            <a:r>
              <a:rPr lang="en-US" altLang="en-US" sz="2000"/>
              <a:t>for </a:t>
            </a:r>
            <a:r>
              <a:rPr lang="en-US" altLang="en-US" sz="2000" i="1" u="sng">
                <a:solidFill>
                  <a:schemeClr val="hlink"/>
                </a:solidFill>
              </a:rPr>
              <a:t>CPU</a:t>
            </a:r>
            <a:r>
              <a:rPr lang="en-US" altLang="en-US" sz="2000"/>
              <a:t> requests</a:t>
            </a:r>
            <a:br>
              <a:rPr lang="en-US" altLang="en-US" sz="2000"/>
            </a:br>
            <a:r>
              <a:rPr lang="en-US" altLang="en-US" sz="2000"/>
              <a:t>for each </a:t>
            </a:r>
            <a:br>
              <a:rPr lang="en-US" altLang="en-US" sz="2000"/>
            </a:br>
            <a:r>
              <a:rPr lang="en-US" altLang="en-US" sz="2000" u="sng">
                <a:solidFill>
                  <a:schemeClr val="hlink"/>
                </a:solidFill>
              </a:rPr>
              <a:t>cache block</a:t>
            </a:r>
          </a:p>
        </p:txBody>
      </p:sp>
      <p:sp>
        <p:nvSpPr>
          <p:cNvPr id="33800" name="Rectangle 18">
            <a:extLst>
              <a:ext uri="{FF2B5EF4-FFF2-40B4-BE49-F238E27FC236}">
                <a16:creationId xmlns:a16="http://schemas.microsoft.com/office/drawing/2014/main" id="{E6FEA97B-19DB-F590-16FF-E4DE820CF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963" y="1571625"/>
            <a:ext cx="841375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/>
              <a:t>Invalid</a:t>
            </a:r>
          </a:p>
        </p:txBody>
      </p:sp>
      <p:sp>
        <p:nvSpPr>
          <p:cNvPr id="33801" name="Rectangle 19">
            <a:extLst>
              <a:ext uri="{FF2B5EF4-FFF2-40B4-BE49-F238E27FC236}">
                <a16:creationId xmlns:a16="http://schemas.microsoft.com/office/drawing/2014/main" id="{0DFA3382-1AAB-BF1A-F11A-7D27294BA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463" y="1400175"/>
            <a:ext cx="128905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Shared</a:t>
            </a:r>
          </a:p>
          <a:p>
            <a:pPr algn="ctr"/>
            <a:r>
              <a:rPr lang="en-US" altLang="en-US" sz="1800"/>
              <a:t>(read/only)</a:t>
            </a:r>
          </a:p>
        </p:txBody>
      </p:sp>
      <p:sp>
        <p:nvSpPr>
          <p:cNvPr id="33802" name="Rectangle 20">
            <a:extLst>
              <a:ext uri="{FF2B5EF4-FFF2-40B4-BE49-F238E27FC236}">
                <a16:creationId xmlns:a16="http://schemas.microsoft.com/office/drawing/2014/main" id="{BD1900D8-D5CF-C4CA-CAEB-7D4CC38C7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813300"/>
            <a:ext cx="138906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Modified</a:t>
            </a:r>
          </a:p>
          <a:p>
            <a:pPr algn="ctr"/>
            <a:r>
              <a:rPr lang="en-US" altLang="en-US" sz="1800"/>
              <a:t>(read/write)</a:t>
            </a:r>
          </a:p>
        </p:txBody>
      </p:sp>
      <p:sp>
        <p:nvSpPr>
          <p:cNvPr id="975898" name="Rectangle 26">
            <a:extLst>
              <a:ext uri="{FF2B5EF4-FFF2-40B4-BE49-F238E27FC236}">
                <a16:creationId xmlns:a16="http://schemas.microsoft.com/office/drawing/2014/main" id="{DF962B83-CC32-8A5B-CF99-D26D9A7C8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5" y="2790825"/>
            <a:ext cx="1920875" cy="1187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rgbClr val="990099"/>
                </a:solidFill>
              </a:rPr>
              <a:t>CPU read miss</a:t>
            </a:r>
            <a:endParaRPr lang="en-US" altLang="en-US" sz="1800"/>
          </a:p>
          <a:p>
            <a:r>
              <a:rPr lang="en-US" altLang="en-US" sz="1800"/>
              <a:t>Write back block,</a:t>
            </a:r>
          </a:p>
          <a:p>
            <a:r>
              <a:rPr lang="en-US" altLang="en-US" sz="1800"/>
              <a:t>Place read miss</a:t>
            </a:r>
          </a:p>
          <a:p>
            <a:r>
              <a:rPr lang="en-US" altLang="en-US" sz="1800"/>
              <a:t>on bus</a:t>
            </a:r>
          </a:p>
        </p:txBody>
      </p:sp>
      <p:sp>
        <p:nvSpPr>
          <p:cNvPr id="42005" name="Rectangle 29">
            <a:extLst>
              <a:ext uri="{FF2B5EF4-FFF2-40B4-BE49-F238E27FC236}">
                <a16:creationId xmlns:a16="http://schemas.microsoft.com/office/drawing/2014/main" id="{856A587D-70A9-D233-BBB1-9718A6A80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5381625"/>
            <a:ext cx="2771775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chemeClr val="hlink"/>
                </a:solidFill>
              </a:rPr>
              <a:t>CPU Write Miss</a:t>
            </a:r>
            <a:endParaRPr lang="en-US" altLang="en-US" sz="1800"/>
          </a:p>
          <a:p>
            <a:r>
              <a:rPr lang="en-US" altLang="en-US" sz="1800"/>
              <a:t>Write back cache block</a:t>
            </a:r>
          </a:p>
          <a:p>
            <a:r>
              <a:rPr lang="en-US" altLang="en-US" sz="1800" b="1"/>
              <a:t>Place write miss on bus</a:t>
            </a:r>
          </a:p>
        </p:txBody>
      </p:sp>
      <p:sp>
        <p:nvSpPr>
          <p:cNvPr id="33805" name="Rectangle 31">
            <a:extLst>
              <a:ext uri="{FF2B5EF4-FFF2-40B4-BE49-F238E27FC236}">
                <a16:creationId xmlns:a16="http://schemas.microsoft.com/office/drawing/2014/main" id="{C71E8F53-A5BE-7F98-52AF-FD6C5A250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3" y="4341813"/>
            <a:ext cx="201136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1"/>
              <a:t>Cache Block</a:t>
            </a:r>
          </a:p>
          <a:p>
            <a:r>
              <a:rPr lang="en-US" altLang="en-US" sz="2400" b="1"/>
              <a:t>State</a:t>
            </a:r>
          </a:p>
        </p:txBody>
      </p:sp>
      <p:sp>
        <p:nvSpPr>
          <p:cNvPr id="33806" name="Oval 32">
            <a:extLst>
              <a:ext uri="{FF2B5EF4-FFF2-40B4-BE49-F238E27FC236}">
                <a16:creationId xmlns:a16="http://schemas.microsoft.com/office/drawing/2014/main" id="{D40B9124-A41F-2931-A925-730E6A878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0" y="1073150"/>
            <a:ext cx="1403350" cy="1346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75907" name="Line 35">
            <a:extLst>
              <a:ext uri="{FF2B5EF4-FFF2-40B4-BE49-F238E27FC236}">
                <a16:creationId xmlns:a16="http://schemas.microsoft.com/office/drawing/2014/main" id="{EA7746DD-0B85-FEEE-2582-72FE005DC4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38650" y="2241550"/>
            <a:ext cx="2381250" cy="2438400"/>
          </a:xfrm>
          <a:prstGeom prst="line">
            <a:avLst/>
          </a:prstGeom>
          <a:noFill/>
          <a:ln w="25400">
            <a:solidFill>
              <a:srgbClr val="99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8" name="Slide Number Placeholder 39">
            <a:extLst>
              <a:ext uri="{FF2B5EF4-FFF2-40B4-BE49-F238E27FC236}">
                <a16:creationId xmlns:a16="http://schemas.microsoft.com/office/drawing/2014/main" id="{799C8AE4-B6A1-A784-4329-9CF6CB972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CEBA4F4-04D9-8341-9A98-F293A5AB0920}" type="slidenum">
              <a:rPr lang="en-US" altLang="en-US"/>
              <a:pPr/>
              <a:t>16</a:t>
            </a:fld>
            <a:r>
              <a:rPr lang="en-US" altLang="en-US"/>
              <a:t> </a:t>
            </a:r>
          </a:p>
        </p:txBody>
      </p:sp>
      <p:sp>
        <p:nvSpPr>
          <p:cNvPr id="40" name="Rectangle 28">
            <a:extLst>
              <a:ext uri="{FF2B5EF4-FFF2-40B4-BE49-F238E27FC236}">
                <a16:creationId xmlns:a16="http://schemas.microsoft.com/office/drawing/2014/main" id="{7058DF22-B01B-AF2A-14E0-AFFC1121F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4850" y="2921000"/>
            <a:ext cx="1870075" cy="9128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rgbClr val="990099"/>
                </a:solidFill>
              </a:rPr>
              <a:t>CPU Read miss</a:t>
            </a:r>
            <a:endParaRPr lang="en-US" altLang="en-US" sz="1800" b="1"/>
          </a:p>
          <a:p>
            <a:r>
              <a:rPr lang="en-US" altLang="en-US" sz="1800"/>
              <a:t>Place read miss </a:t>
            </a:r>
          </a:p>
          <a:p>
            <a:r>
              <a:rPr lang="en-US" altLang="en-US" sz="1800"/>
              <a:t>on bus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5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5898" grpId="0" animBg="1" autoUpdateAnimBg="0"/>
      <p:bldP spid="42005" grpId="0"/>
      <p:bldP spid="40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Oval 2">
            <a:extLst>
              <a:ext uri="{FF2B5EF4-FFF2-40B4-BE49-F238E27FC236}">
                <a16:creationId xmlns:a16="http://schemas.microsoft.com/office/drawing/2014/main" id="{E0C82C38-BCF4-8F4F-4767-3533031FC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0" y="4710113"/>
            <a:ext cx="1498600" cy="143827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AFA5BE13-71B6-2462-6ED8-1F3F45B5D4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3100" y="266700"/>
            <a:ext cx="7924800" cy="5334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3200"/>
              <a:t>Write-Back State Machine- Bus request</a:t>
            </a:r>
            <a:br>
              <a:rPr lang="en-US" altLang="en-US" sz="3200"/>
            </a:br>
            <a:endParaRPr lang="en-US" altLang="en-US" sz="1400">
              <a:solidFill>
                <a:schemeClr val="bg2"/>
              </a:solidFill>
            </a:endParaRP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55AB763C-ED02-09A8-339B-740F2A7D1F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00150"/>
            <a:ext cx="2990850" cy="800100"/>
          </a:xfrm>
          <a:noFill/>
        </p:spPr>
        <p:txBody>
          <a:bodyPr lIns="90488" tIns="44450" rIns="90488" bIns="44450"/>
          <a:lstStyle/>
          <a:p>
            <a:pPr marL="285750" indent="-285750" eaLnBrk="1" hangingPunct="1">
              <a:lnSpc>
                <a:spcPct val="80000"/>
              </a:lnSpc>
            </a:pPr>
            <a:r>
              <a:rPr lang="en-US" altLang="en-US" sz="2000"/>
              <a:t>State machine</a:t>
            </a:r>
            <a:br>
              <a:rPr lang="en-US" altLang="en-US" sz="2000"/>
            </a:br>
            <a:r>
              <a:rPr lang="en-US" altLang="en-US" sz="2000"/>
              <a:t>for </a:t>
            </a:r>
            <a:r>
              <a:rPr lang="en-US" altLang="en-US" sz="2000" i="1" u="sng">
                <a:solidFill>
                  <a:srgbClr val="0000FF"/>
                </a:solidFill>
              </a:rPr>
              <a:t>bus</a:t>
            </a:r>
            <a:r>
              <a:rPr lang="en-US" altLang="en-US" sz="2000"/>
              <a:t> requests</a:t>
            </a:r>
            <a:br>
              <a:rPr lang="en-US" altLang="en-US" sz="2000"/>
            </a:br>
            <a:r>
              <a:rPr lang="en-US" altLang="en-US" sz="2000"/>
              <a:t> for each </a:t>
            </a:r>
            <a:br>
              <a:rPr lang="en-US" altLang="en-US" sz="2000"/>
            </a:br>
            <a:r>
              <a:rPr lang="en-US" altLang="en-US" sz="2000" u="sng">
                <a:solidFill>
                  <a:schemeClr val="accent2"/>
                </a:solidFill>
              </a:rPr>
              <a:t>cache block</a:t>
            </a:r>
            <a:endParaRPr lang="en-US" altLang="en-US" sz="2000" u="sng">
              <a:solidFill>
                <a:schemeClr val="hlink"/>
              </a:solidFill>
            </a:endParaRPr>
          </a:p>
          <a:p>
            <a:pPr marL="285750" indent="-285750" eaLnBrk="1" hangingPunct="1">
              <a:lnSpc>
                <a:spcPct val="80000"/>
              </a:lnSpc>
            </a:pPr>
            <a:endParaRPr lang="en-US" altLang="en-US" sz="2000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A717E254-CD9E-E2C4-120E-921489B53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1489075"/>
            <a:ext cx="841375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/>
              <a:t>Invalid</a:t>
            </a:r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CA449B22-42E2-7D4A-6C2D-EA92566C3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5713" y="1355725"/>
            <a:ext cx="1289050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Shared</a:t>
            </a:r>
          </a:p>
          <a:p>
            <a:pPr algn="ctr"/>
            <a:r>
              <a:rPr lang="en-US" altLang="en-US" sz="1800"/>
              <a:t>(read/only)</a:t>
            </a:r>
          </a:p>
        </p:txBody>
      </p:sp>
      <p:sp>
        <p:nvSpPr>
          <p:cNvPr id="35847" name="Rectangle 7">
            <a:extLst>
              <a:ext uri="{FF2B5EF4-FFF2-40B4-BE49-F238E27FC236}">
                <a16:creationId xmlns:a16="http://schemas.microsoft.com/office/drawing/2014/main" id="{993C5385-A4AD-C162-FC48-7E2D14461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838" y="4956175"/>
            <a:ext cx="138906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Modified</a:t>
            </a:r>
          </a:p>
          <a:p>
            <a:pPr algn="ctr"/>
            <a:r>
              <a:rPr lang="en-US" altLang="en-US" sz="1800"/>
              <a:t>(read/write)</a:t>
            </a:r>
          </a:p>
        </p:txBody>
      </p:sp>
      <p:sp>
        <p:nvSpPr>
          <p:cNvPr id="974856" name="Rectangle 8">
            <a:extLst>
              <a:ext uri="{FF2B5EF4-FFF2-40B4-BE49-F238E27FC236}">
                <a16:creationId xmlns:a16="http://schemas.microsoft.com/office/drawing/2014/main" id="{88D55838-DB50-5195-FCD5-03F079A51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300" y="3492500"/>
            <a:ext cx="1857375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/>
              <a:t>Write Back</a:t>
            </a:r>
          </a:p>
          <a:p>
            <a:r>
              <a:rPr lang="en-US" altLang="en-US" sz="1800"/>
              <a:t>Block; (abort</a:t>
            </a:r>
          </a:p>
          <a:p>
            <a:r>
              <a:rPr lang="en-US" altLang="en-US" sz="1800"/>
              <a:t>memory access)</a:t>
            </a:r>
          </a:p>
        </p:txBody>
      </p:sp>
      <p:sp>
        <p:nvSpPr>
          <p:cNvPr id="974857" name="Rectangle 9">
            <a:extLst>
              <a:ext uri="{FF2B5EF4-FFF2-40B4-BE49-F238E27FC236}">
                <a16:creationId xmlns:a16="http://schemas.microsoft.com/office/drawing/2014/main" id="{A1DCEFFF-2DEF-CB61-9B62-25AD47C98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2933700"/>
            <a:ext cx="1477963" cy="644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rgbClr val="0000FF"/>
                </a:solidFill>
              </a:rPr>
              <a:t>Write miss </a:t>
            </a:r>
            <a:br>
              <a:rPr lang="en-US" altLang="en-US" sz="1800" b="1">
                <a:solidFill>
                  <a:schemeClr val="hlink"/>
                </a:solidFill>
              </a:rPr>
            </a:br>
            <a:r>
              <a:rPr lang="en-US" altLang="en-US" sz="1800"/>
              <a:t>for this block</a:t>
            </a:r>
          </a:p>
        </p:txBody>
      </p:sp>
      <p:sp>
        <p:nvSpPr>
          <p:cNvPr id="974858" name="Rectangle 10">
            <a:extLst>
              <a:ext uri="{FF2B5EF4-FFF2-40B4-BE49-F238E27FC236}">
                <a16:creationId xmlns:a16="http://schemas.microsoft.com/office/drawing/2014/main" id="{E53A2AA6-F363-A2EC-A7EB-F4233A555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1550" y="3844925"/>
            <a:ext cx="14636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chemeClr val="accent2"/>
                </a:solidFill>
              </a:rPr>
              <a:t>Read miss </a:t>
            </a:r>
            <a:br>
              <a:rPr lang="en-US" altLang="en-US" sz="1800" b="1">
                <a:solidFill>
                  <a:schemeClr val="accent2"/>
                </a:solidFill>
              </a:rPr>
            </a:br>
            <a:r>
              <a:rPr lang="en-US" altLang="en-US" sz="1800"/>
              <a:t>for this block</a:t>
            </a:r>
          </a:p>
        </p:txBody>
      </p:sp>
      <p:sp>
        <p:nvSpPr>
          <p:cNvPr id="974859" name="Rectangle 11">
            <a:extLst>
              <a:ext uri="{FF2B5EF4-FFF2-40B4-BE49-F238E27FC236}">
                <a16:creationId xmlns:a16="http://schemas.microsoft.com/office/drawing/2014/main" id="{F4D24285-DF26-27E9-6CE3-A54A13EDA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4063" y="1108075"/>
            <a:ext cx="1477962" cy="644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rgbClr val="0000FF"/>
                </a:solidFill>
              </a:rPr>
              <a:t>Write miss </a:t>
            </a:r>
            <a:br>
              <a:rPr lang="en-US" altLang="en-US" sz="1800" b="1">
                <a:solidFill>
                  <a:schemeClr val="hlink"/>
                </a:solidFill>
              </a:rPr>
            </a:br>
            <a:r>
              <a:rPr lang="en-US" altLang="en-US" sz="1800"/>
              <a:t>for this block</a:t>
            </a:r>
          </a:p>
        </p:txBody>
      </p:sp>
      <p:sp>
        <p:nvSpPr>
          <p:cNvPr id="35852" name="Oval 12">
            <a:extLst>
              <a:ext uri="{FF2B5EF4-FFF2-40B4-BE49-F238E27FC236}">
                <a16:creationId xmlns:a16="http://schemas.microsoft.com/office/drawing/2014/main" id="{E099525C-47A7-08F7-36AC-D6EF13172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0" y="990600"/>
            <a:ext cx="1498600" cy="14382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5853" name="Oval 13">
            <a:extLst>
              <a:ext uri="{FF2B5EF4-FFF2-40B4-BE49-F238E27FC236}">
                <a16:creationId xmlns:a16="http://schemas.microsoft.com/office/drawing/2014/main" id="{C6DD7F67-2B7C-E553-7266-D35FE37B1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0" y="990600"/>
            <a:ext cx="1498600" cy="14382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74862" name="Line 14">
            <a:extLst>
              <a:ext uri="{FF2B5EF4-FFF2-40B4-BE49-F238E27FC236}">
                <a16:creationId xmlns:a16="http://schemas.microsoft.com/office/drawing/2014/main" id="{D99630C9-DD2D-2F69-066E-C3FC4DFEC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3050" y="1790700"/>
            <a:ext cx="2135188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4863" name="Line 15">
            <a:extLst>
              <a:ext uri="{FF2B5EF4-FFF2-40B4-BE49-F238E27FC236}">
                <a16:creationId xmlns:a16="http://schemas.microsoft.com/office/drawing/2014/main" id="{E25BDFE0-E5C7-7539-685C-D13041176C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0888" y="2420938"/>
            <a:ext cx="0" cy="225583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4864" name="Line 16">
            <a:extLst>
              <a:ext uri="{FF2B5EF4-FFF2-40B4-BE49-F238E27FC236}">
                <a16:creationId xmlns:a16="http://schemas.microsoft.com/office/drawing/2014/main" id="{452BDAE1-C1C5-7412-5B46-DA140FA80D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9525" y="2236788"/>
            <a:ext cx="2541588" cy="26035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4865" name="Rectangle 17">
            <a:extLst>
              <a:ext uri="{FF2B5EF4-FFF2-40B4-BE49-F238E27FC236}">
                <a16:creationId xmlns:a16="http://schemas.microsoft.com/office/drawing/2014/main" id="{E09FD80B-0CEB-AD2C-9AB6-FD7D76A12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900" y="4406900"/>
            <a:ext cx="191770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/>
              <a:t>Write Back</a:t>
            </a:r>
          </a:p>
          <a:p>
            <a:r>
              <a:rPr lang="en-US" altLang="en-US" sz="1800"/>
              <a:t>Block; (abort</a:t>
            </a:r>
          </a:p>
          <a:p>
            <a:r>
              <a:rPr lang="en-US" altLang="en-US" sz="1800"/>
              <a:t>memory access)</a:t>
            </a:r>
          </a:p>
        </p:txBody>
      </p:sp>
      <p:sp>
        <p:nvSpPr>
          <p:cNvPr id="35858" name="Slide Number Placeholder 20">
            <a:extLst>
              <a:ext uri="{FF2B5EF4-FFF2-40B4-BE49-F238E27FC236}">
                <a16:creationId xmlns:a16="http://schemas.microsoft.com/office/drawing/2014/main" id="{3D2E0F4D-867C-636A-3383-F24A71F96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2A007D3-F2C0-3A44-B221-6C6048425AB6}" type="slidenum">
              <a:rPr lang="en-US" altLang="en-US"/>
              <a:pPr/>
              <a:t>17</a:t>
            </a:fld>
            <a:r>
              <a:rPr lang="en-US" altLang="en-US"/>
              <a:t> </a:t>
            </a:r>
          </a:p>
        </p:txBody>
      </p:sp>
      <p:grpSp>
        <p:nvGrpSpPr>
          <p:cNvPr id="35859" name="Group 82">
            <a:extLst>
              <a:ext uri="{FF2B5EF4-FFF2-40B4-BE49-F238E27FC236}">
                <a16:creationId xmlns:a16="http://schemas.microsoft.com/office/drawing/2014/main" id="{DD9C42BC-3211-C121-BA9B-C014A6A481B7}"/>
              </a:ext>
            </a:extLst>
          </p:cNvPr>
          <p:cNvGrpSpPr>
            <a:grpSpLocks/>
          </p:cNvGrpSpPr>
          <p:nvPr/>
        </p:nvGrpSpPr>
        <p:grpSpPr bwMode="auto">
          <a:xfrm>
            <a:off x="254000" y="4686300"/>
            <a:ext cx="2695575" cy="1544638"/>
            <a:chOff x="3430" y="2736"/>
            <a:chExt cx="2160" cy="1156"/>
          </a:xfrm>
        </p:grpSpPr>
        <p:grpSp>
          <p:nvGrpSpPr>
            <p:cNvPr id="35867" name="Group 38">
              <a:extLst>
                <a:ext uri="{FF2B5EF4-FFF2-40B4-BE49-F238E27FC236}">
                  <a16:creationId xmlns:a16="http://schemas.microsoft.com/office/drawing/2014/main" id="{7001FAB8-E78E-84B4-B8EA-B8632C9C33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0" y="2736"/>
              <a:ext cx="720" cy="203"/>
              <a:chOff x="3792" y="3293"/>
              <a:chExt cx="720" cy="203"/>
            </a:xfrm>
          </p:grpSpPr>
          <p:sp>
            <p:nvSpPr>
              <p:cNvPr id="35905" name="Rectangle 39">
                <a:extLst>
                  <a:ext uri="{FF2B5EF4-FFF2-40B4-BE49-F238E27FC236}">
                    <a16:creationId xmlns:a16="http://schemas.microsoft.com/office/drawing/2014/main" id="{61FBC270-C806-016A-0932-09B882195C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3293"/>
                <a:ext cx="681" cy="1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700"/>
                  <a:t>State  Tag   Data</a:t>
                </a:r>
              </a:p>
            </p:txBody>
          </p:sp>
          <p:sp>
            <p:nvSpPr>
              <p:cNvPr id="35906" name="Rectangle 40">
                <a:extLst>
                  <a:ext uri="{FF2B5EF4-FFF2-40B4-BE49-F238E27FC236}">
                    <a16:creationId xmlns:a16="http://schemas.microsoft.com/office/drawing/2014/main" id="{CECBDB1D-DC34-942F-4FF9-7B0B1AD349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3312"/>
                <a:ext cx="672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100"/>
              </a:p>
            </p:txBody>
          </p:sp>
          <p:sp>
            <p:nvSpPr>
              <p:cNvPr id="35907" name="Line 41">
                <a:extLst>
                  <a:ext uri="{FF2B5EF4-FFF2-40B4-BE49-F238E27FC236}">
                    <a16:creationId xmlns:a16="http://schemas.microsoft.com/office/drawing/2014/main" id="{D47C7BFB-C149-E9B4-E74B-7B01DCC1A5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3" y="3312"/>
                <a:ext cx="0" cy="1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08" name="Line 42">
                <a:extLst>
                  <a:ext uri="{FF2B5EF4-FFF2-40B4-BE49-F238E27FC236}">
                    <a16:creationId xmlns:a16="http://schemas.microsoft.com/office/drawing/2014/main" id="{B1FB9249-8D0B-10EC-F80C-DEEA9F02C3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7" y="3312"/>
                <a:ext cx="0" cy="1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5868" name="Line 44">
              <a:extLst>
                <a:ext uri="{FF2B5EF4-FFF2-40B4-BE49-F238E27FC236}">
                  <a16:creationId xmlns:a16="http://schemas.microsoft.com/office/drawing/2014/main" id="{7CFCB842-4954-7AC2-49EA-6E7401424A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8" y="3600"/>
              <a:ext cx="1839" cy="1"/>
            </a:xfrm>
            <a:prstGeom prst="line">
              <a:avLst/>
            </a:prstGeom>
            <a:noFill/>
            <a:ln w="76200">
              <a:solidFill>
                <a:srgbClr val="114FFB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9" name="Line 45">
              <a:extLst>
                <a:ext uri="{FF2B5EF4-FFF2-40B4-BE49-F238E27FC236}">
                  <a16:creationId xmlns:a16="http://schemas.microsoft.com/office/drawing/2014/main" id="{8F684290-0182-83CF-308C-2D64DDE535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4" y="3600"/>
              <a:ext cx="1" cy="11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0" name="Freeform 46">
              <a:extLst>
                <a:ext uri="{FF2B5EF4-FFF2-40B4-BE49-F238E27FC236}">
                  <a16:creationId xmlns:a16="http://schemas.microsoft.com/office/drawing/2014/main" id="{0ED50872-F1DB-07C8-C290-09DAAAF788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" y="3715"/>
              <a:ext cx="635" cy="173"/>
            </a:xfrm>
            <a:custGeom>
              <a:avLst/>
              <a:gdLst>
                <a:gd name="T0" fmla="*/ 0 w 798"/>
                <a:gd name="T1" fmla="*/ 0 h 238"/>
                <a:gd name="T2" fmla="*/ 26 w 798"/>
                <a:gd name="T3" fmla="*/ 0 h 238"/>
                <a:gd name="T4" fmla="*/ 26 w 798"/>
                <a:gd name="T5" fmla="*/ 2 h 238"/>
                <a:gd name="T6" fmla="*/ 2 w 798"/>
                <a:gd name="T7" fmla="*/ 2 h 238"/>
                <a:gd name="T8" fmla="*/ 2 w 798"/>
                <a:gd name="T9" fmla="*/ 0 h 238"/>
                <a:gd name="T10" fmla="*/ 0 w 798"/>
                <a:gd name="T11" fmla="*/ 0 h 2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98"/>
                <a:gd name="T19" fmla="*/ 0 h 238"/>
                <a:gd name="T20" fmla="*/ 798 w 798"/>
                <a:gd name="T21" fmla="*/ 238 h 23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98" h="238">
                  <a:moveTo>
                    <a:pt x="0" y="0"/>
                  </a:moveTo>
                  <a:lnTo>
                    <a:pt x="798" y="0"/>
                  </a:lnTo>
                  <a:lnTo>
                    <a:pt x="798" y="238"/>
                  </a:lnTo>
                  <a:lnTo>
                    <a:pt x="3" y="238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71" name="Freeform 47">
              <a:extLst>
                <a:ext uri="{FF2B5EF4-FFF2-40B4-BE49-F238E27FC236}">
                  <a16:creationId xmlns:a16="http://schemas.microsoft.com/office/drawing/2014/main" id="{82778654-F09D-B78B-2054-31CF11C73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" y="3715"/>
              <a:ext cx="635" cy="173"/>
            </a:xfrm>
            <a:custGeom>
              <a:avLst/>
              <a:gdLst>
                <a:gd name="T0" fmla="*/ 0 w 798"/>
                <a:gd name="T1" fmla="*/ 0 h 238"/>
                <a:gd name="T2" fmla="*/ 26 w 798"/>
                <a:gd name="T3" fmla="*/ 0 h 238"/>
                <a:gd name="T4" fmla="*/ 26 w 798"/>
                <a:gd name="T5" fmla="*/ 2 h 238"/>
                <a:gd name="T6" fmla="*/ 2 w 798"/>
                <a:gd name="T7" fmla="*/ 2 h 238"/>
                <a:gd name="T8" fmla="*/ 2 w 798"/>
                <a:gd name="T9" fmla="*/ 0 h 2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98"/>
                <a:gd name="T16" fmla="*/ 0 h 238"/>
                <a:gd name="T17" fmla="*/ 798 w 798"/>
                <a:gd name="T18" fmla="*/ 238 h 2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98" h="238">
                  <a:moveTo>
                    <a:pt x="0" y="0"/>
                  </a:moveTo>
                  <a:lnTo>
                    <a:pt x="798" y="0"/>
                  </a:lnTo>
                  <a:lnTo>
                    <a:pt x="798" y="238"/>
                  </a:lnTo>
                  <a:lnTo>
                    <a:pt x="3" y="238"/>
                  </a:lnTo>
                  <a:lnTo>
                    <a:pt x="3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72" name="Rectangle 48">
              <a:extLst>
                <a:ext uri="{FF2B5EF4-FFF2-40B4-BE49-F238E27FC236}">
                  <a16:creationId xmlns:a16="http://schemas.microsoft.com/office/drawing/2014/main" id="{289D183D-4428-2DDC-95FC-5E7617C30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3" y="3749"/>
              <a:ext cx="617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I/O devices</a:t>
              </a:r>
              <a:endParaRPr lang="en-US" altLang="en-US" b="1"/>
            </a:p>
          </p:txBody>
        </p:sp>
        <p:sp>
          <p:nvSpPr>
            <p:cNvPr id="35873" name="Rectangle 49">
              <a:extLst>
                <a:ext uri="{FF2B5EF4-FFF2-40B4-BE49-F238E27FC236}">
                  <a16:creationId xmlns:a16="http://schemas.microsoft.com/office/drawing/2014/main" id="{EF37EB73-1A05-7DDF-3C57-8BE7B2474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2" y="3754"/>
              <a:ext cx="277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Mem</a:t>
              </a:r>
              <a:endParaRPr lang="en-US" altLang="en-US" b="1"/>
            </a:p>
          </p:txBody>
        </p:sp>
        <p:sp>
          <p:nvSpPr>
            <p:cNvPr id="35874" name="Line 50">
              <a:extLst>
                <a:ext uri="{FF2B5EF4-FFF2-40B4-BE49-F238E27FC236}">
                  <a16:creationId xmlns:a16="http://schemas.microsoft.com/office/drawing/2014/main" id="{118896C9-D3D2-7F6C-D094-3F6994EB2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6" y="3494"/>
              <a:ext cx="3" cy="10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5" name="Line 51">
              <a:extLst>
                <a:ext uri="{FF2B5EF4-FFF2-40B4-BE49-F238E27FC236}">
                  <a16:creationId xmlns:a16="http://schemas.microsoft.com/office/drawing/2014/main" id="{E5A88C14-D356-F95F-7422-4DA6523A98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9" y="3264"/>
              <a:ext cx="0" cy="5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6" name="Freeform 52">
              <a:extLst>
                <a:ext uri="{FF2B5EF4-FFF2-40B4-BE49-F238E27FC236}">
                  <a16:creationId xmlns:a16="http://schemas.microsoft.com/office/drawing/2014/main" id="{02940284-97B3-768E-C24D-0A0B606A7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3033"/>
              <a:ext cx="254" cy="231"/>
            </a:xfrm>
            <a:custGeom>
              <a:avLst/>
              <a:gdLst>
                <a:gd name="T0" fmla="*/ 11 w 319"/>
                <a:gd name="T1" fmla="*/ 1 h 318"/>
                <a:gd name="T2" fmla="*/ 11 w 319"/>
                <a:gd name="T3" fmla="*/ 1 h 318"/>
                <a:gd name="T4" fmla="*/ 11 w 319"/>
                <a:gd name="T5" fmla="*/ 2 h 318"/>
                <a:gd name="T6" fmla="*/ 10 w 319"/>
                <a:gd name="T7" fmla="*/ 2 h 318"/>
                <a:gd name="T8" fmla="*/ 9 w 319"/>
                <a:gd name="T9" fmla="*/ 2 h 318"/>
                <a:gd name="T10" fmla="*/ 9 w 319"/>
                <a:gd name="T11" fmla="*/ 2 h 318"/>
                <a:gd name="T12" fmla="*/ 9 w 319"/>
                <a:gd name="T13" fmla="*/ 3 h 318"/>
                <a:gd name="T14" fmla="*/ 7 w 319"/>
                <a:gd name="T15" fmla="*/ 3 h 318"/>
                <a:gd name="T16" fmla="*/ 7 w 319"/>
                <a:gd name="T17" fmla="*/ 3 h 318"/>
                <a:gd name="T18" fmla="*/ 6 w 319"/>
                <a:gd name="T19" fmla="*/ 3 h 318"/>
                <a:gd name="T20" fmla="*/ 6 w 319"/>
                <a:gd name="T21" fmla="*/ 3 h 318"/>
                <a:gd name="T22" fmla="*/ 5 w 319"/>
                <a:gd name="T23" fmla="*/ 3 h 318"/>
                <a:gd name="T24" fmla="*/ 4 w 319"/>
                <a:gd name="T25" fmla="*/ 3 h 318"/>
                <a:gd name="T26" fmla="*/ 3 w 319"/>
                <a:gd name="T27" fmla="*/ 3 h 318"/>
                <a:gd name="T28" fmla="*/ 2 w 319"/>
                <a:gd name="T29" fmla="*/ 3 h 318"/>
                <a:gd name="T30" fmla="*/ 2 w 319"/>
                <a:gd name="T31" fmla="*/ 2 h 318"/>
                <a:gd name="T32" fmla="*/ 2 w 319"/>
                <a:gd name="T33" fmla="*/ 2 h 318"/>
                <a:gd name="T34" fmla="*/ 2 w 319"/>
                <a:gd name="T35" fmla="*/ 2 h 318"/>
                <a:gd name="T36" fmla="*/ 2 w 319"/>
                <a:gd name="T37" fmla="*/ 2 h 318"/>
                <a:gd name="T38" fmla="*/ 0 w 319"/>
                <a:gd name="T39" fmla="*/ 1 h 318"/>
                <a:gd name="T40" fmla="*/ 0 w 319"/>
                <a:gd name="T41" fmla="*/ 1 h 318"/>
                <a:gd name="T42" fmla="*/ 0 w 319"/>
                <a:gd name="T43" fmla="*/ 1 h 318"/>
                <a:gd name="T44" fmla="*/ 2 w 319"/>
                <a:gd name="T45" fmla="*/ 1 h 318"/>
                <a:gd name="T46" fmla="*/ 2 w 319"/>
                <a:gd name="T47" fmla="*/ 1 h 318"/>
                <a:gd name="T48" fmla="*/ 2 w 319"/>
                <a:gd name="T49" fmla="*/ 1 h 318"/>
                <a:gd name="T50" fmla="*/ 2 w 319"/>
                <a:gd name="T51" fmla="*/ 1 h 318"/>
                <a:gd name="T52" fmla="*/ 2 w 319"/>
                <a:gd name="T53" fmla="*/ 1 h 318"/>
                <a:gd name="T54" fmla="*/ 3 w 319"/>
                <a:gd name="T55" fmla="*/ 1 h 318"/>
                <a:gd name="T56" fmla="*/ 4 w 319"/>
                <a:gd name="T57" fmla="*/ 1 h 318"/>
                <a:gd name="T58" fmla="*/ 5 w 319"/>
                <a:gd name="T59" fmla="*/ 1 h 318"/>
                <a:gd name="T60" fmla="*/ 6 w 319"/>
                <a:gd name="T61" fmla="*/ 0 h 318"/>
                <a:gd name="T62" fmla="*/ 6 w 319"/>
                <a:gd name="T63" fmla="*/ 1 h 318"/>
                <a:gd name="T64" fmla="*/ 7 w 319"/>
                <a:gd name="T65" fmla="*/ 1 h 318"/>
                <a:gd name="T66" fmla="*/ 7 w 319"/>
                <a:gd name="T67" fmla="*/ 1 h 318"/>
                <a:gd name="T68" fmla="*/ 9 w 319"/>
                <a:gd name="T69" fmla="*/ 1 h 318"/>
                <a:gd name="T70" fmla="*/ 9 w 319"/>
                <a:gd name="T71" fmla="*/ 1 h 318"/>
                <a:gd name="T72" fmla="*/ 9 w 319"/>
                <a:gd name="T73" fmla="*/ 1 h 318"/>
                <a:gd name="T74" fmla="*/ 10 w 319"/>
                <a:gd name="T75" fmla="*/ 1 h 318"/>
                <a:gd name="T76" fmla="*/ 11 w 319"/>
                <a:gd name="T77" fmla="*/ 1 h 318"/>
                <a:gd name="T78" fmla="*/ 11 w 319"/>
                <a:gd name="T79" fmla="*/ 1 h 318"/>
                <a:gd name="T80" fmla="*/ 11 w 319"/>
                <a:gd name="T81" fmla="*/ 1 h 318"/>
                <a:gd name="T82" fmla="*/ 11 w 319"/>
                <a:gd name="T83" fmla="*/ 1 h 31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19"/>
                <a:gd name="T127" fmla="*/ 0 h 318"/>
                <a:gd name="T128" fmla="*/ 319 w 319"/>
                <a:gd name="T129" fmla="*/ 318 h 31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19" h="318">
                  <a:moveTo>
                    <a:pt x="316" y="159"/>
                  </a:moveTo>
                  <a:lnTo>
                    <a:pt x="316" y="185"/>
                  </a:lnTo>
                  <a:lnTo>
                    <a:pt x="311" y="209"/>
                  </a:lnTo>
                  <a:lnTo>
                    <a:pt x="300" y="230"/>
                  </a:lnTo>
                  <a:lnTo>
                    <a:pt x="287" y="252"/>
                  </a:lnTo>
                  <a:lnTo>
                    <a:pt x="271" y="270"/>
                  </a:lnTo>
                  <a:lnTo>
                    <a:pt x="252" y="286"/>
                  </a:lnTo>
                  <a:lnTo>
                    <a:pt x="231" y="299"/>
                  </a:lnTo>
                  <a:lnTo>
                    <a:pt x="210" y="310"/>
                  </a:lnTo>
                  <a:lnTo>
                    <a:pt x="183" y="315"/>
                  </a:lnTo>
                  <a:lnTo>
                    <a:pt x="160" y="318"/>
                  </a:lnTo>
                  <a:lnTo>
                    <a:pt x="133" y="315"/>
                  </a:lnTo>
                  <a:lnTo>
                    <a:pt x="109" y="310"/>
                  </a:lnTo>
                  <a:lnTo>
                    <a:pt x="85" y="299"/>
                  </a:lnTo>
                  <a:lnTo>
                    <a:pt x="64" y="286"/>
                  </a:lnTo>
                  <a:lnTo>
                    <a:pt x="46" y="270"/>
                  </a:lnTo>
                  <a:lnTo>
                    <a:pt x="30" y="252"/>
                  </a:lnTo>
                  <a:lnTo>
                    <a:pt x="16" y="230"/>
                  </a:lnTo>
                  <a:lnTo>
                    <a:pt x="8" y="209"/>
                  </a:lnTo>
                  <a:lnTo>
                    <a:pt x="0" y="185"/>
                  </a:lnTo>
                  <a:lnTo>
                    <a:pt x="0" y="159"/>
                  </a:lnTo>
                  <a:lnTo>
                    <a:pt x="0" y="132"/>
                  </a:lnTo>
                  <a:lnTo>
                    <a:pt x="8" y="108"/>
                  </a:lnTo>
                  <a:lnTo>
                    <a:pt x="16" y="85"/>
                  </a:lnTo>
                  <a:lnTo>
                    <a:pt x="30" y="63"/>
                  </a:lnTo>
                  <a:lnTo>
                    <a:pt x="46" y="45"/>
                  </a:lnTo>
                  <a:lnTo>
                    <a:pt x="64" y="29"/>
                  </a:lnTo>
                  <a:lnTo>
                    <a:pt x="85" y="18"/>
                  </a:lnTo>
                  <a:lnTo>
                    <a:pt x="109" y="8"/>
                  </a:lnTo>
                  <a:lnTo>
                    <a:pt x="133" y="2"/>
                  </a:lnTo>
                  <a:lnTo>
                    <a:pt x="160" y="0"/>
                  </a:lnTo>
                  <a:lnTo>
                    <a:pt x="183" y="2"/>
                  </a:lnTo>
                  <a:lnTo>
                    <a:pt x="210" y="8"/>
                  </a:lnTo>
                  <a:lnTo>
                    <a:pt x="231" y="18"/>
                  </a:lnTo>
                  <a:lnTo>
                    <a:pt x="252" y="29"/>
                  </a:lnTo>
                  <a:lnTo>
                    <a:pt x="271" y="45"/>
                  </a:lnTo>
                  <a:lnTo>
                    <a:pt x="287" y="63"/>
                  </a:lnTo>
                  <a:lnTo>
                    <a:pt x="300" y="85"/>
                  </a:lnTo>
                  <a:lnTo>
                    <a:pt x="311" y="108"/>
                  </a:lnTo>
                  <a:lnTo>
                    <a:pt x="316" y="132"/>
                  </a:lnTo>
                  <a:lnTo>
                    <a:pt x="319" y="159"/>
                  </a:lnTo>
                  <a:lnTo>
                    <a:pt x="316" y="159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77" name="Freeform 53">
              <a:extLst>
                <a:ext uri="{FF2B5EF4-FFF2-40B4-BE49-F238E27FC236}">
                  <a16:creationId xmlns:a16="http://schemas.microsoft.com/office/drawing/2014/main" id="{39E3B235-BE72-6F98-ABBE-51CC72849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3033"/>
              <a:ext cx="254" cy="231"/>
            </a:xfrm>
            <a:custGeom>
              <a:avLst/>
              <a:gdLst>
                <a:gd name="T0" fmla="*/ 11 w 319"/>
                <a:gd name="T1" fmla="*/ 1 h 318"/>
                <a:gd name="T2" fmla="*/ 11 w 319"/>
                <a:gd name="T3" fmla="*/ 1 h 318"/>
                <a:gd name="T4" fmla="*/ 11 w 319"/>
                <a:gd name="T5" fmla="*/ 1 h 318"/>
                <a:gd name="T6" fmla="*/ 10 w 319"/>
                <a:gd name="T7" fmla="*/ 1 h 318"/>
                <a:gd name="T8" fmla="*/ 9 w 319"/>
                <a:gd name="T9" fmla="*/ 1 h 318"/>
                <a:gd name="T10" fmla="*/ 9 w 319"/>
                <a:gd name="T11" fmla="*/ 1 h 318"/>
                <a:gd name="T12" fmla="*/ 9 w 319"/>
                <a:gd name="T13" fmla="*/ 1 h 318"/>
                <a:gd name="T14" fmla="*/ 7 w 319"/>
                <a:gd name="T15" fmla="*/ 1 h 318"/>
                <a:gd name="T16" fmla="*/ 7 w 319"/>
                <a:gd name="T17" fmla="*/ 1 h 318"/>
                <a:gd name="T18" fmla="*/ 6 w 319"/>
                <a:gd name="T19" fmla="*/ 1 h 318"/>
                <a:gd name="T20" fmla="*/ 6 w 319"/>
                <a:gd name="T21" fmla="*/ 0 h 318"/>
                <a:gd name="T22" fmla="*/ 5 w 319"/>
                <a:gd name="T23" fmla="*/ 1 h 318"/>
                <a:gd name="T24" fmla="*/ 4 w 319"/>
                <a:gd name="T25" fmla="*/ 1 h 318"/>
                <a:gd name="T26" fmla="*/ 3 w 319"/>
                <a:gd name="T27" fmla="*/ 1 h 318"/>
                <a:gd name="T28" fmla="*/ 2 w 319"/>
                <a:gd name="T29" fmla="*/ 1 h 318"/>
                <a:gd name="T30" fmla="*/ 2 w 319"/>
                <a:gd name="T31" fmla="*/ 1 h 318"/>
                <a:gd name="T32" fmla="*/ 2 w 319"/>
                <a:gd name="T33" fmla="*/ 1 h 318"/>
                <a:gd name="T34" fmla="*/ 2 w 319"/>
                <a:gd name="T35" fmla="*/ 1 h 318"/>
                <a:gd name="T36" fmla="*/ 2 w 319"/>
                <a:gd name="T37" fmla="*/ 1 h 318"/>
                <a:gd name="T38" fmla="*/ 0 w 319"/>
                <a:gd name="T39" fmla="*/ 1 h 318"/>
                <a:gd name="T40" fmla="*/ 0 w 319"/>
                <a:gd name="T41" fmla="*/ 1 h 318"/>
                <a:gd name="T42" fmla="*/ 0 w 319"/>
                <a:gd name="T43" fmla="*/ 1 h 318"/>
                <a:gd name="T44" fmla="*/ 2 w 319"/>
                <a:gd name="T45" fmla="*/ 2 h 318"/>
                <a:gd name="T46" fmla="*/ 2 w 319"/>
                <a:gd name="T47" fmla="*/ 2 h 318"/>
                <a:gd name="T48" fmla="*/ 2 w 319"/>
                <a:gd name="T49" fmla="*/ 2 h 318"/>
                <a:gd name="T50" fmla="*/ 2 w 319"/>
                <a:gd name="T51" fmla="*/ 2 h 318"/>
                <a:gd name="T52" fmla="*/ 2 w 319"/>
                <a:gd name="T53" fmla="*/ 3 h 318"/>
                <a:gd name="T54" fmla="*/ 3 w 319"/>
                <a:gd name="T55" fmla="*/ 3 h 318"/>
                <a:gd name="T56" fmla="*/ 4 w 319"/>
                <a:gd name="T57" fmla="*/ 3 h 318"/>
                <a:gd name="T58" fmla="*/ 5 w 319"/>
                <a:gd name="T59" fmla="*/ 3 h 318"/>
                <a:gd name="T60" fmla="*/ 6 w 319"/>
                <a:gd name="T61" fmla="*/ 3 h 318"/>
                <a:gd name="T62" fmla="*/ 6 w 319"/>
                <a:gd name="T63" fmla="*/ 3 h 318"/>
                <a:gd name="T64" fmla="*/ 7 w 319"/>
                <a:gd name="T65" fmla="*/ 3 h 318"/>
                <a:gd name="T66" fmla="*/ 7 w 319"/>
                <a:gd name="T67" fmla="*/ 3 h 318"/>
                <a:gd name="T68" fmla="*/ 9 w 319"/>
                <a:gd name="T69" fmla="*/ 3 h 318"/>
                <a:gd name="T70" fmla="*/ 9 w 319"/>
                <a:gd name="T71" fmla="*/ 2 h 318"/>
                <a:gd name="T72" fmla="*/ 9 w 319"/>
                <a:gd name="T73" fmla="*/ 2 h 318"/>
                <a:gd name="T74" fmla="*/ 10 w 319"/>
                <a:gd name="T75" fmla="*/ 2 h 318"/>
                <a:gd name="T76" fmla="*/ 11 w 319"/>
                <a:gd name="T77" fmla="*/ 2 h 318"/>
                <a:gd name="T78" fmla="*/ 11 w 319"/>
                <a:gd name="T79" fmla="*/ 1 h 318"/>
                <a:gd name="T80" fmla="*/ 11 w 319"/>
                <a:gd name="T81" fmla="*/ 1 h 318"/>
                <a:gd name="T82" fmla="*/ 11 w 319"/>
                <a:gd name="T83" fmla="*/ 1 h 31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19"/>
                <a:gd name="T127" fmla="*/ 0 h 318"/>
                <a:gd name="T128" fmla="*/ 319 w 319"/>
                <a:gd name="T129" fmla="*/ 318 h 31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19" h="318">
                  <a:moveTo>
                    <a:pt x="316" y="159"/>
                  </a:moveTo>
                  <a:lnTo>
                    <a:pt x="316" y="132"/>
                  </a:lnTo>
                  <a:lnTo>
                    <a:pt x="311" y="108"/>
                  </a:lnTo>
                  <a:lnTo>
                    <a:pt x="300" y="85"/>
                  </a:lnTo>
                  <a:lnTo>
                    <a:pt x="287" y="63"/>
                  </a:lnTo>
                  <a:lnTo>
                    <a:pt x="271" y="45"/>
                  </a:lnTo>
                  <a:lnTo>
                    <a:pt x="252" y="29"/>
                  </a:lnTo>
                  <a:lnTo>
                    <a:pt x="231" y="18"/>
                  </a:lnTo>
                  <a:lnTo>
                    <a:pt x="210" y="8"/>
                  </a:lnTo>
                  <a:lnTo>
                    <a:pt x="183" y="2"/>
                  </a:lnTo>
                  <a:lnTo>
                    <a:pt x="160" y="0"/>
                  </a:lnTo>
                  <a:lnTo>
                    <a:pt x="133" y="2"/>
                  </a:lnTo>
                  <a:lnTo>
                    <a:pt x="109" y="8"/>
                  </a:lnTo>
                  <a:lnTo>
                    <a:pt x="85" y="18"/>
                  </a:lnTo>
                  <a:lnTo>
                    <a:pt x="64" y="29"/>
                  </a:lnTo>
                  <a:lnTo>
                    <a:pt x="46" y="45"/>
                  </a:lnTo>
                  <a:lnTo>
                    <a:pt x="30" y="63"/>
                  </a:lnTo>
                  <a:lnTo>
                    <a:pt x="16" y="85"/>
                  </a:lnTo>
                  <a:lnTo>
                    <a:pt x="8" y="108"/>
                  </a:lnTo>
                  <a:lnTo>
                    <a:pt x="0" y="132"/>
                  </a:lnTo>
                  <a:lnTo>
                    <a:pt x="0" y="159"/>
                  </a:lnTo>
                  <a:lnTo>
                    <a:pt x="0" y="185"/>
                  </a:lnTo>
                  <a:lnTo>
                    <a:pt x="8" y="209"/>
                  </a:lnTo>
                  <a:lnTo>
                    <a:pt x="16" y="230"/>
                  </a:lnTo>
                  <a:lnTo>
                    <a:pt x="30" y="252"/>
                  </a:lnTo>
                  <a:lnTo>
                    <a:pt x="46" y="270"/>
                  </a:lnTo>
                  <a:lnTo>
                    <a:pt x="64" y="286"/>
                  </a:lnTo>
                  <a:lnTo>
                    <a:pt x="85" y="299"/>
                  </a:lnTo>
                  <a:lnTo>
                    <a:pt x="109" y="310"/>
                  </a:lnTo>
                  <a:lnTo>
                    <a:pt x="133" y="315"/>
                  </a:lnTo>
                  <a:lnTo>
                    <a:pt x="160" y="318"/>
                  </a:lnTo>
                  <a:lnTo>
                    <a:pt x="183" y="315"/>
                  </a:lnTo>
                  <a:lnTo>
                    <a:pt x="210" y="310"/>
                  </a:lnTo>
                  <a:lnTo>
                    <a:pt x="231" y="299"/>
                  </a:lnTo>
                  <a:lnTo>
                    <a:pt x="252" y="286"/>
                  </a:lnTo>
                  <a:lnTo>
                    <a:pt x="271" y="270"/>
                  </a:lnTo>
                  <a:lnTo>
                    <a:pt x="287" y="252"/>
                  </a:lnTo>
                  <a:lnTo>
                    <a:pt x="300" y="230"/>
                  </a:lnTo>
                  <a:lnTo>
                    <a:pt x="311" y="209"/>
                  </a:lnTo>
                  <a:lnTo>
                    <a:pt x="316" y="185"/>
                  </a:lnTo>
                  <a:lnTo>
                    <a:pt x="319" y="159"/>
                  </a:lnTo>
                </a:path>
              </a:pathLst>
            </a:cu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78" name="Freeform 54">
              <a:extLst>
                <a:ext uri="{FF2B5EF4-FFF2-40B4-BE49-F238E27FC236}">
                  <a16:creationId xmlns:a16="http://schemas.microsoft.com/office/drawing/2014/main" id="{7A5A1D8A-3010-F5BC-CB7C-A592466FF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3321"/>
              <a:ext cx="382" cy="173"/>
            </a:xfrm>
            <a:custGeom>
              <a:avLst/>
              <a:gdLst>
                <a:gd name="T0" fmla="*/ 0 w 480"/>
                <a:gd name="T1" fmla="*/ 0 h 239"/>
                <a:gd name="T2" fmla="*/ 16 w 480"/>
                <a:gd name="T3" fmla="*/ 0 h 239"/>
                <a:gd name="T4" fmla="*/ 16 w 480"/>
                <a:gd name="T5" fmla="*/ 2 h 239"/>
                <a:gd name="T6" fmla="*/ 2 w 480"/>
                <a:gd name="T7" fmla="*/ 2 h 239"/>
                <a:gd name="T8" fmla="*/ 2 w 480"/>
                <a:gd name="T9" fmla="*/ 0 h 239"/>
                <a:gd name="T10" fmla="*/ 0 w 480"/>
                <a:gd name="T11" fmla="*/ 0 h 2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80"/>
                <a:gd name="T19" fmla="*/ 0 h 239"/>
                <a:gd name="T20" fmla="*/ 480 w 480"/>
                <a:gd name="T21" fmla="*/ 239 h 2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80" h="239">
                  <a:moveTo>
                    <a:pt x="0" y="0"/>
                  </a:moveTo>
                  <a:lnTo>
                    <a:pt x="480" y="0"/>
                  </a:lnTo>
                  <a:lnTo>
                    <a:pt x="480" y="239"/>
                  </a:lnTo>
                  <a:lnTo>
                    <a:pt x="3" y="239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79" name="Freeform 55">
              <a:extLst>
                <a:ext uri="{FF2B5EF4-FFF2-40B4-BE49-F238E27FC236}">
                  <a16:creationId xmlns:a16="http://schemas.microsoft.com/office/drawing/2014/main" id="{69DD55BF-1AB0-7483-EEF4-4A107AD9B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3321"/>
              <a:ext cx="382" cy="173"/>
            </a:xfrm>
            <a:custGeom>
              <a:avLst/>
              <a:gdLst>
                <a:gd name="T0" fmla="*/ 0 w 480"/>
                <a:gd name="T1" fmla="*/ 0 h 239"/>
                <a:gd name="T2" fmla="*/ 16 w 480"/>
                <a:gd name="T3" fmla="*/ 0 h 239"/>
                <a:gd name="T4" fmla="*/ 16 w 480"/>
                <a:gd name="T5" fmla="*/ 2 h 239"/>
                <a:gd name="T6" fmla="*/ 2 w 480"/>
                <a:gd name="T7" fmla="*/ 2 h 239"/>
                <a:gd name="T8" fmla="*/ 2 w 480"/>
                <a:gd name="T9" fmla="*/ 0 h 2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0"/>
                <a:gd name="T16" fmla="*/ 0 h 239"/>
                <a:gd name="T17" fmla="*/ 480 w 480"/>
                <a:gd name="T18" fmla="*/ 239 h 2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0" h="239">
                  <a:moveTo>
                    <a:pt x="0" y="0"/>
                  </a:moveTo>
                  <a:lnTo>
                    <a:pt x="480" y="0"/>
                  </a:lnTo>
                  <a:lnTo>
                    <a:pt x="480" y="239"/>
                  </a:lnTo>
                  <a:lnTo>
                    <a:pt x="3" y="239"/>
                  </a:lnTo>
                  <a:lnTo>
                    <a:pt x="3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80" name="Rectangle 56">
              <a:extLst>
                <a:ext uri="{FF2B5EF4-FFF2-40B4-BE49-F238E27FC236}">
                  <a16:creationId xmlns:a16="http://schemas.microsoft.com/office/drawing/2014/main" id="{DA95BB9F-056C-D55C-2FC3-5755E385D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4" y="3078"/>
              <a:ext cx="8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P</a:t>
              </a:r>
              <a:endParaRPr lang="en-US" altLang="en-US" b="1"/>
            </a:p>
          </p:txBody>
        </p:sp>
        <p:sp>
          <p:nvSpPr>
            <p:cNvPr id="35881" name="Rectangle 57">
              <a:extLst>
                <a:ext uri="{FF2B5EF4-FFF2-40B4-BE49-F238E27FC236}">
                  <a16:creationId xmlns:a16="http://schemas.microsoft.com/office/drawing/2014/main" id="{4C88370A-E992-B1B0-C423-DFB72BE48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0" y="3111"/>
              <a:ext cx="4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300">
                <a:solidFill>
                  <a:srgbClr val="000000"/>
                </a:solidFill>
              </a:endParaRPr>
            </a:p>
            <a:p>
              <a:r>
                <a:rPr lang="en-US" altLang="en-US" sz="700">
                  <a:solidFill>
                    <a:srgbClr val="000000"/>
                  </a:solidFill>
                </a:rPr>
                <a:t>1</a:t>
              </a:r>
              <a:endParaRPr lang="en-US" altLang="en-US" b="1"/>
            </a:p>
          </p:txBody>
        </p:sp>
        <p:sp>
          <p:nvSpPr>
            <p:cNvPr id="35882" name="Rectangle 58">
              <a:extLst>
                <a:ext uri="{FF2B5EF4-FFF2-40B4-BE49-F238E27FC236}">
                  <a16:creationId xmlns:a16="http://schemas.microsoft.com/office/drawing/2014/main" id="{D5C1D77E-3241-BB2E-1443-7A837BECC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" y="3368"/>
              <a:ext cx="69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$</a:t>
              </a:r>
              <a:endParaRPr lang="en-US" altLang="en-US" b="1"/>
            </a:p>
          </p:txBody>
        </p:sp>
        <p:sp>
          <p:nvSpPr>
            <p:cNvPr id="35883" name="Line 59">
              <a:extLst>
                <a:ext uri="{FF2B5EF4-FFF2-40B4-BE49-F238E27FC236}">
                  <a16:creationId xmlns:a16="http://schemas.microsoft.com/office/drawing/2014/main" id="{91CD9D38-D931-D157-D6E5-98C57BC188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6" y="3600"/>
              <a:ext cx="1" cy="11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4" name="Line 60">
              <a:extLst>
                <a:ext uri="{FF2B5EF4-FFF2-40B4-BE49-F238E27FC236}">
                  <a16:creationId xmlns:a16="http://schemas.microsoft.com/office/drawing/2014/main" id="{090A63AC-4B8A-4C02-5190-5BDA85ED6C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7" y="3485"/>
              <a:ext cx="1" cy="11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5" name="Line 61">
              <a:extLst>
                <a:ext uri="{FF2B5EF4-FFF2-40B4-BE49-F238E27FC236}">
                  <a16:creationId xmlns:a16="http://schemas.microsoft.com/office/drawing/2014/main" id="{1841DB51-B312-9C64-09BC-7BB3D6E746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7" y="3254"/>
              <a:ext cx="1" cy="5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6" name="Freeform 62">
              <a:extLst>
                <a:ext uri="{FF2B5EF4-FFF2-40B4-BE49-F238E27FC236}">
                  <a16:creationId xmlns:a16="http://schemas.microsoft.com/office/drawing/2014/main" id="{5BBBA93D-75EB-FFB3-3BED-1708FA45D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1" y="3024"/>
              <a:ext cx="253" cy="230"/>
            </a:xfrm>
            <a:custGeom>
              <a:avLst/>
              <a:gdLst>
                <a:gd name="T0" fmla="*/ 11 w 318"/>
                <a:gd name="T1" fmla="*/ 1 h 318"/>
                <a:gd name="T2" fmla="*/ 11 w 318"/>
                <a:gd name="T3" fmla="*/ 1 h 318"/>
                <a:gd name="T4" fmla="*/ 10 w 318"/>
                <a:gd name="T5" fmla="*/ 2 h 318"/>
                <a:gd name="T6" fmla="*/ 10 w 318"/>
                <a:gd name="T7" fmla="*/ 2 h 318"/>
                <a:gd name="T8" fmla="*/ 9 w 318"/>
                <a:gd name="T9" fmla="*/ 2 h 318"/>
                <a:gd name="T10" fmla="*/ 9 w 318"/>
                <a:gd name="T11" fmla="*/ 2 h 318"/>
                <a:gd name="T12" fmla="*/ 9 w 318"/>
                <a:gd name="T13" fmla="*/ 3 h 318"/>
                <a:gd name="T14" fmla="*/ 7 w 318"/>
                <a:gd name="T15" fmla="*/ 3 h 318"/>
                <a:gd name="T16" fmla="*/ 7 w 318"/>
                <a:gd name="T17" fmla="*/ 3 h 318"/>
                <a:gd name="T18" fmla="*/ 6 w 318"/>
                <a:gd name="T19" fmla="*/ 3 h 318"/>
                <a:gd name="T20" fmla="*/ 6 w 318"/>
                <a:gd name="T21" fmla="*/ 3 h 318"/>
                <a:gd name="T22" fmla="*/ 5 w 318"/>
                <a:gd name="T23" fmla="*/ 3 h 318"/>
                <a:gd name="T24" fmla="*/ 4 w 318"/>
                <a:gd name="T25" fmla="*/ 3 h 318"/>
                <a:gd name="T26" fmla="*/ 3 w 318"/>
                <a:gd name="T27" fmla="*/ 3 h 318"/>
                <a:gd name="T28" fmla="*/ 2 w 318"/>
                <a:gd name="T29" fmla="*/ 3 h 318"/>
                <a:gd name="T30" fmla="*/ 2 w 318"/>
                <a:gd name="T31" fmla="*/ 2 h 318"/>
                <a:gd name="T32" fmla="*/ 2 w 318"/>
                <a:gd name="T33" fmla="*/ 2 h 318"/>
                <a:gd name="T34" fmla="*/ 2 w 318"/>
                <a:gd name="T35" fmla="*/ 2 h 318"/>
                <a:gd name="T36" fmla="*/ 2 w 318"/>
                <a:gd name="T37" fmla="*/ 2 h 318"/>
                <a:gd name="T38" fmla="*/ 0 w 318"/>
                <a:gd name="T39" fmla="*/ 1 h 318"/>
                <a:gd name="T40" fmla="*/ 0 w 318"/>
                <a:gd name="T41" fmla="*/ 1 h 318"/>
                <a:gd name="T42" fmla="*/ 0 w 318"/>
                <a:gd name="T43" fmla="*/ 1 h 318"/>
                <a:gd name="T44" fmla="*/ 2 w 318"/>
                <a:gd name="T45" fmla="*/ 1 h 318"/>
                <a:gd name="T46" fmla="*/ 2 w 318"/>
                <a:gd name="T47" fmla="*/ 1 h 318"/>
                <a:gd name="T48" fmla="*/ 2 w 318"/>
                <a:gd name="T49" fmla="*/ 1 h 318"/>
                <a:gd name="T50" fmla="*/ 2 w 318"/>
                <a:gd name="T51" fmla="*/ 1 h 318"/>
                <a:gd name="T52" fmla="*/ 2 w 318"/>
                <a:gd name="T53" fmla="*/ 1 h 318"/>
                <a:gd name="T54" fmla="*/ 3 w 318"/>
                <a:gd name="T55" fmla="*/ 1 h 318"/>
                <a:gd name="T56" fmla="*/ 4 w 318"/>
                <a:gd name="T57" fmla="*/ 1 h 318"/>
                <a:gd name="T58" fmla="*/ 5 w 318"/>
                <a:gd name="T59" fmla="*/ 1 h 318"/>
                <a:gd name="T60" fmla="*/ 6 w 318"/>
                <a:gd name="T61" fmla="*/ 0 h 318"/>
                <a:gd name="T62" fmla="*/ 6 w 318"/>
                <a:gd name="T63" fmla="*/ 1 h 318"/>
                <a:gd name="T64" fmla="*/ 7 w 318"/>
                <a:gd name="T65" fmla="*/ 1 h 318"/>
                <a:gd name="T66" fmla="*/ 7 w 318"/>
                <a:gd name="T67" fmla="*/ 1 h 318"/>
                <a:gd name="T68" fmla="*/ 9 w 318"/>
                <a:gd name="T69" fmla="*/ 1 h 318"/>
                <a:gd name="T70" fmla="*/ 9 w 318"/>
                <a:gd name="T71" fmla="*/ 1 h 318"/>
                <a:gd name="T72" fmla="*/ 9 w 318"/>
                <a:gd name="T73" fmla="*/ 1 h 318"/>
                <a:gd name="T74" fmla="*/ 10 w 318"/>
                <a:gd name="T75" fmla="*/ 1 h 318"/>
                <a:gd name="T76" fmla="*/ 10 w 318"/>
                <a:gd name="T77" fmla="*/ 1 h 318"/>
                <a:gd name="T78" fmla="*/ 11 w 318"/>
                <a:gd name="T79" fmla="*/ 1 h 318"/>
                <a:gd name="T80" fmla="*/ 11 w 318"/>
                <a:gd name="T81" fmla="*/ 1 h 318"/>
                <a:gd name="T82" fmla="*/ 11 w 318"/>
                <a:gd name="T83" fmla="*/ 1 h 31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18"/>
                <a:gd name="T127" fmla="*/ 0 h 318"/>
                <a:gd name="T128" fmla="*/ 318 w 318"/>
                <a:gd name="T129" fmla="*/ 318 h 31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18" h="318">
                  <a:moveTo>
                    <a:pt x="315" y="159"/>
                  </a:moveTo>
                  <a:lnTo>
                    <a:pt x="315" y="185"/>
                  </a:lnTo>
                  <a:lnTo>
                    <a:pt x="310" y="209"/>
                  </a:lnTo>
                  <a:lnTo>
                    <a:pt x="299" y="233"/>
                  </a:lnTo>
                  <a:lnTo>
                    <a:pt x="286" y="254"/>
                  </a:lnTo>
                  <a:lnTo>
                    <a:pt x="270" y="273"/>
                  </a:lnTo>
                  <a:lnTo>
                    <a:pt x="252" y="288"/>
                  </a:lnTo>
                  <a:lnTo>
                    <a:pt x="230" y="302"/>
                  </a:lnTo>
                  <a:lnTo>
                    <a:pt x="209" y="310"/>
                  </a:lnTo>
                  <a:lnTo>
                    <a:pt x="183" y="318"/>
                  </a:lnTo>
                  <a:lnTo>
                    <a:pt x="159" y="318"/>
                  </a:lnTo>
                  <a:lnTo>
                    <a:pt x="132" y="318"/>
                  </a:lnTo>
                  <a:lnTo>
                    <a:pt x="109" y="310"/>
                  </a:lnTo>
                  <a:lnTo>
                    <a:pt x="85" y="302"/>
                  </a:lnTo>
                  <a:lnTo>
                    <a:pt x="64" y="288"/>
                  </a:lnTo>
                  <a:lnTo>
                    <a:pt x="45" y="273"/>
                  </a:lnTo>
                  <a:lnTo>
                    <a:pt x="29" y="254"/>
                  </a:lnTo>
                  <a:lnTo>
                    <a:pt x="16" y="233"/>
                  </a:lnTo>
                  <a:lnTo>
                    <a:pt x="8" y="209"/>
                  </a:lnTo>
                  <a:lnTo>
                    <a:pt x="0" y="185"/>
                  </a:lnTo>
                  <a:lnTo>
                    <a:pt x="0" y="159"/>
                  </a:lnTo>
                  <a:lnTo>
                    <a:pt x="0" y="135"/>
                  </a:lnTo>
                  <a:lnTo>
                    <a:pt x="8" y="108"/>
                  </a:lnTo>
                  <a:lnTo>
                    <a:pt x="16" y="87"/>
                  </a:lnTo>
                  <a:lnTo>
                    <a:pt x="29" y="66"/>
                  </a:lnTo>
                  <a:lnTo>
                    <a:pt x="45" y="47"/>
                  </a:lnTo>
                  <a:lnTo>
                    <a:pt x="64" y="31"/>
                  </a:lnTo>
                  <a:lnTo>
                    <a:pt x="85" y="18"/>
                  </a:lnTo>
                  <a:lnTo>
                    <a:pt x="109" y="7"/>
                  </a:lnTo>
                  <a:lnTo>
                    <a:pt x="132" y="2"/>
                  </a:lnTo>
                  <a:lnTo>
                    <a:pt x="159" y="0"/>
                  </a:lnTo>
                  <a:lnTo>
                    <a:pt x="183" y="2"/>
                  </a:lnTo>
                  <a:lnTo>
                    <a:pt x="209" y="7"/>
                  </a:lnTo>
                  <a:lnTo>
                    <a:pt x="230" y="18"/>
                  </a:lnTo>
                  <a:lnTo>
                    <a:pt x="252" y="31"/>
                  </a:lnTo>
                  <a:lnTo>
                    <a:pt x="270" y="47"/>
                  </a:lnTo>
                  <a:lnTo>
                    <a:pt x="286" y="66"/>
                  </a:lnTo>
                  <a:lnTo>
                    <a:pt x="299" y="87"/>
                  </a:lnTo>
                  <a:lnTo>
                    <a:pt x="310" y="108"/>
                  </a:lnTo>
                  <a:lnTo>
                    <a:pt x="315" y="135"/>
                  </a:lnTo>
                  <a:lnTo>
                    <a:pt x="318" y="159"/>
                  </a:lnTo>
                  <a:lnTo>
                    <a:pt x="315" y="1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87" name="Freeform 63">
              <a:extLst>
                <a:ext uri="{FF2B5EF4-FFF2-40B4-BE49-F238E27FC236}">
                  <a16:creationId xmlns:a16="http://schemas.microsoft.com/office/drawing/2014/main" id="{CA693E70-D8B5-E0BA-BC1B-9986772EA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1" y="3024"/>
              <a:ext cx="253" cy="230"/>
            </a:xfrm>
            <a:custGeom>
              <a:avLst/>
              <a:gdLst>
                <a:gd name="T0" fmla="*/ 11 w 318"/>
                <a:gd name="T1" fmla="*/ 1 h 318"/>
                <a:gd name="T2" fmla="*/ 11 w 318"/>
                <a:gd name="T3" fmla="*/ 1 h 318"/>
                <a:gd name="T4" fmla="*/ 10 w 318"/>
                <a:gd name="T5" fmla="*/ 1 h 318"/>
                <a:gd name="T6" fmla="*/ 10 w 318"/>
                <a:gd name="T7" fmla="*/ 1 h 318"/>
                <a:gd name="T8" fmla="*/ 9 w 318"/>
                <a:gd name="T9" fmla="*/ 1 h 318"/>
                <a:gd name="T10" fmla="*/ 9 w 318"/>
                <a:gd name="T11" fmla="*/ 1 h 318"/>
                <a:gd name="T12" fmla="*/ 9 w 318"/>
                <a:gd name="T13" fmla="*/ 1 h 318"/>
                <a:gd name="T14" fmla="*/ 7 w 318"/>
                <a:gd name="T15" fmla="*/ 1 h 318"/>
                <a:gd name="T16" fmla="*/ 7 w 318"/>
                <a:gd name="T17" fmla="*/ 1 h 318"/>
                <a:gd name="T18" fmla="*/ 6 w 318"/>
                <a:gd name="T19" fmla="*/ 1 h 318"/>
                <a:gd name="T20" fmla="*/ 6 w 318"/>
                <a:gd name="T21" fmla="*/ 0 h 318"/>
                <a:gd name="T22" fmla="*/ 5 w 318"/>
                <a:gd name="T23" fmla="*/ 1 h 318"/>
                <a:gd name="T24" fmla="*/ 4 w 318"/>
                <a:gd name="T25" fmla="*/ 1 h 318"/>
                <a:gd name="T26" fmla="*/ 3 w 318"/>
                <a:gd name="T27" fmla="*/ 1 h 318"/>
                <a:gd name="T28" fmla="*/ 2 w 318"/>
                <a:gd name="T29" fmla="*/ 1 h 318"/>
                <a:gd name="T30" fmla="*/ 2 w 318"/>
                <a:gd name="T31" fmla="*/ 1 h 318"/>
                <a:gd name="T32" fmla="*/ 2 w 318"/>
                <a:gd name="T33" fmla="*/ 1 h 318"/>
                <a:gd name="T34" fmla="*/ 2 w 318"/>
                <a:gd name="T35" fmla="*/ 1 h 318"/>
                <a:gd name="T36" fmla="*/ 2 w 318"/>
                <a:gd name="T37" fmla="*/ 1 h 318"/>
                <a:gd name="T38" fmla="*/ 0 w 318"/>
                <a:gd name="T39" fmla="*/ 1 h 318"/>
                <a:gd name="T40" fmla="*/ 0 w 318"/>
                <a:gd name="T41" fmla="*/ 1 h 318"/>
                <a:gd name="T42" fmla="*/ 0 w 318"/>
                <a:gd name="T43" fmla="*/ 1 h 318"/>
                <a:gd name="T44" fmla="*/ 2 w 318"/>
                <a:gd name="T45" fmla="*/ 2 h 318"/>
                <a:gd name="T46" fmla="*/ 2 w 318"/>
                <a:gd name="T47" fmla="*/ 2 h 318"/>
                <a:gd name="T48" fmla="*/ 2 w 318"/>
                <a:gd name="T49" fmla="*/ 2 h 318"/>
                <a:gd name="T50" fmla="*/ 2 w 318"/>
                <a:gd name="T51" fmla="*/ 2 h 318"/>
                <a:gd name="T52" fmla="*/ 2 w 318"/>
                <a:gd name="T53" fmla="*/ 3 h 318"/>
                <a:gd name="T54" fmla="*/ 3 w 318"/>
                <a:gd name="T55" fmla="*/ 3 h 318"/>
                <a:gd name="T56" fmla="*/ 4 w 318"/>
                <a:gd name="T57" fmla="*/ 3 h 318"/>
                <a:gd name="T58" fmla="*/ 5 w 318"/>
                <a:gd name="T59" fmla="*/ 3 h 318"/>
                <a:gd name="T60" fmla="*/ 6 w 318"/>
                <a:gd name="T61" fmla="*/ 3 h 318"/>
                <a:gd name="T62" fmla="*/ 6 w 318"/>
                <a:gd name="T63" fmla="*/ 3 h 318"/>
                <a:gd name="T64" fmla="*/ 7 w 318"/>
                <a:gd name="T65" fmla="*/ 3 h 318"/>
                <a:gd name="T66" fmla="*/ 7 w 318"/>
                <a:gd name="T67" fmla="*/ 3 h 318"/>
                <a:gd name="T68" fmla="*/ 9 w 318"/>
                <a:gd name="T69" fmla="*/ 3 h 318"/>
                <a:gd name="T70" fmla="*/ 9 w 318"/>
                <a:gd name="T71" fmla="*/ 2 h 318"/>
                <a:gd name="T72" fmla="*/ 9 w 318"/>
                <a:gd name="T73" fmla="*/ 2 h 318"/>
                <a:gd name="T74" fmla="*/ 10 w 318"/>
                <a:gd name="T75" fmla="*/ 2 h 318"/>
                <a:gd name="T76" fmla="*/ 10 w 318"/>
                <a:gd name="T77" fmla="*/ 2 h 318"/>
                <a:gd name="T78" fmla="*/ 11 w 318"/>
                <a:gd name="T79" fmla="*/ 1 h 318"/>
                <a:gd name="T80" fmla="*/ 11 w 318"/>
                <a:gd name="T81" fmla="*/ 1 h 318"/>
                <a:gd name="T82" fmla="*/ 11 w 318"/>
                <a:gd name="T83" fmla="*/ 1 h 31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18"/>
                <a:gd name="T127" fmla="*/ 0 h 318"/>
                <a:gd name="T128" fmla="*/ 318 w 318"/>
                <a:gd name="T129" fmla="*/ 318 h 31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18" h="318">
                  <a:moveTo>
                    <a:pt x="315" y="159"/>
                  </a:moveTo>
                  <a:lnTo>
                    <a:pt x="315" y="135"/>
                  </a:lnTo>
                  <a:lnTo>
                    <a:pt x="310" y="108"/>
                  </a:lnTo>
                  <a:lnTo>
                    <a:pt x="299" y="87"/>
                  </a:lnTo>
                  <a:lnTo>
                    <a:pt x="286" y="66"/>
                  </a:lnTo>
                  <a:lnTo>
                    <a:pt x="270" y="47"/>
                  </a:lnTo>
                  <a:lnTo>
                    <a:pt x="252" y="31"/>
                  </a:lnTo>
                  <a:lnTo>
                    <a:pt x="230" y="18"/>
                  </a:lnTo>
                  <a:lnTo>
                    <a:pt x="209" y="7"/>
                  </a:lnTo>
                  <a:lnTo>
                    <a:pt x="183" y="2"/>
                  </a:lnTo>
                  <a:lnTo>
                    <a:pt x="159" y="0"/>
                  </a:lnTo>
                  <a:lnTo>
                    <a:pt x="132" y="2"/>
                  </a:lnTo>
                  <a:lnTo>
                    <a:pt x="109" y="7"/>
                  </a:lnTo>
                  <a:lnTo>
                    <a:pt x="85" y="18"/>
                  </a:lnTo>
                  <a:lnTo>
                    <a:pt x="64" y="31"/>
                  </a:lnTo>
                  <a:lnTo>
                    <a:pt x="45" y="47"/>
                  </a:lnTo>
                  <a:lnTo>
                    <a:pt x="29" y="66"/>
                  </a:lnTo>
                  <a:lnTo>
                    <a:pt x="16" y="87"/>
                  </a:lnTo>
                  <a:lnTo>
                    <a:pt x="8" y="108"/>
                  </a:lnTo>
                  <a:lnTo>
                    <a:pt x="0" y="135"/>
                  </a:lnTo>
                  <a:lnTo>
                    <a:pt x="0" y="159"/>
                  </a:lnTo>
                  <a:lnTo>
                    <a:pt x="0" y="185"/>
                  </a:lnTo>
                  <a:lnTo>
                    <a:pt x="8" y="209"/>
                  </a:lnTo>
                  <a:lnTo>
                    <a:pt x="16" y="233"/>
                  </a:lnTo>
                  <a:lnTo>
                    <a:pt x="29" y="254"/>
                  </a:lnTo>
                  <a:lnTo>
                    <a:pt x="45" y="273"/>
                  </a:lnTo>
                  <a:lnTo>
                    <a:pt x="64" y="288"/>
                  </a:lnTo>
                  <a:lnTo>
                    <a:pt x="85" y="302"/>
                  </a:lnTo>
                  <a:lnTo>
                    <a:pt x="109" y="310"/>
                  </a:lnTo>
                  <a:lnTo>
                    <a:pt x="132" y="318"/>
                  </a:lnTo>
                  <a:lnTo>
                    <a:pt x="159" y="318"/>
                  </a:lnTo>
                  <a:lnTo>
                    <a:pt x="183" y="318"/>
                  </a:lnTo>
                  <a:lnTo>
                    <a:pt x="209" y="310"/>
                  </a:lnTo>
                  <a:lnTo>
                    <a:pt x="230" y="302"/>
                  </a:lnTo>
                  <a:lnTo>
                    <a:pt x="252" y="288"/>
                  </a:lnTo>
                  <a:lnTo>
                    <a:pt x="270" y="273"/>
                  </a:lnTo>
                  <a:lnTo>
                    <a:pt x="286" y="254"/>
                  </a:lnTo>
                  <a:lnTo>
                    <a:pt x="299" y="233"/>
                  </a:lnTo>
                  <a:lnTo>
                    <a:pt x="310" y="209"/>
                  </a:lnTo>
                  <a:lnTo>
                    <a:pt x="315" y="185"/>
                  </a:lnTo>
                  <a:lnTo>
                    <a:pt x="318" y="159"/>
                  </a:lnTo>
                </a:path>
              </a:pathLst>
            </a:cu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88" name="Freeform 64">
              <a:extLst>
                <a:ext uri="{FF2B5EF4-FFF2-40B4-BE49-F238E27FC236}">
                  <a16:creationId xmlns:a16="http://schemas.microsoft.com/office/drawing/2014/main" id="{1C67D0B1-E24D-DA15-2440-77A6A9B3A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6" y="3312"/>
              <a:ext cx="381" cy="173"/>
            </a:xfrm>
            <a:custGeom>
              <a:avLst/>
              <a:gdLst>
                <a:gd name="T0" fmla="*/ 0 w 479"/>
                <a:gd name="T1" fmla="*/ 0 h 239"/>
                <a:gd name="T2" fmla="*/ 16 w 479"/>
                <a:gd name="T3" fmla="*/ 0 h 239"/>
                <a:gd name="T4" fmla="*/ 16 w 479"/>
                <a:gd name="T5" fmla="*/ 2 h 239"/>
                <a:gd name="T6" fmla="*/ 2 w 479"/>
                <a:gd name="T7" fmla="*/ 2 h 239"/>
                <a:gd name="T8" fmla="*/ 2 w 479"/>
                <a:gd name="T9" fmla="*/ 0 h 239"/>
                <a:gd name="T10" fmla="*/ 0 w 479"/>
                <a:gd name="T11" fmla="*/ 0 h 2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79"/>
                <a:gd name="T19" fmla="*/ 0 h 239"/>
                <a:gd name="T20" fmla="*/ 479 w 479"/>
                <a:gd name="T21" fmla="*/ 239 h 2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79" h="239">
                  <a:moveTo>
                    <a:pt x="0" y="0"/>
                  </a:moveTo>
                  <a:lnTo>
                    <a:pt x="479" y="0"/>
                  </a:lnTo>
                  <a:lnTo>
                    <a:pt x="479" y="239"/>
                  </a:lnTo>
                  <a:lnTo>
                    <a:pt x="2" y="239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89" name="Freeform 65">
              <a:extLst>
                <a:ext uri="{FF2B5EF4-FFF2-40B4-BE49-F238E27FC236}">
                  <a16:creationId xmlns:a16="http://schemas.microsoft.com/office/drawing/2014/main" id="{A4B5BAC5-BCA4-084E-5EE5-6E025F67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6" y="3312"/>
              <a:ext cx="381" cy="173"/>
            </a:xfrm>
            <a:custGeom>
              <a:avLst/>
              <a:gdLst>
                <a:gd name="T0" fmla="*/ 0 w 479"/>
                <a:gd name="T1" fmla="*/ 0 h 239"/>
                <a:gd name="T2" fmla="*/ 16 w 479"/>
                <a:gd name="T3" fmla="*/ 0 h 239"/>
                <a:gd name="T4" fmla="*/ 16 w 479"/>
                <a:gd name="T5" fmla="*/ 2 h 239"/>
                <a:gd name="T6" fmla="*/ 2 w 479"/>
                <a:gd name="T7" fmla="*/ 2 h 239"/>
                <a:gd name="T8" fmla="*/ 2 w 479"/>
                <a:gd name="T9" fmla="*/ 0 h 2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9"/>
                <a:gd name="T16" fmla="*/ 0 h 239"/>
                <a:gd name="T17" fmla="*/ 479 w 479"/>
                <a:gd name="T18" fmla="*/ 239 h 2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9" h="239">
                  <a:moveTo>
                    <a:pt x="0" y="0"/>
                  </a:moveTo>
                  <a:lnTo>
                    <a:pt x="479" y="0"/>
                  </a:lnTo>
                  <a:lnTo>
                    <a:pt x="479" y="239"/>
                  </a:lnTo>
                  <a:lnTo>
                    <a:pt x="2" y="239"/>
                  </a:lnTo>
                  <a:lnTo>
                    <a:pt x="2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90" name="Rectangle 66">
              <a:extLst>
                <a:ext uri="{FF2B5EF4-FFF2-40B4-BE49-F238E27FC236}">
                  <a16:creationId xmlns:a16="http://schemas.microsoft.com/office/drawing/2014/main" id="{FDD89D0B-31DE-9D5F-0970-3033DA0C3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6" y="3358"/>
              <a:ext cx="69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$</a:t>
              </a:r>
              <a:endParaRPr lang="en-US" altLang="en-US" b="1"/>
            </a:p>
          </p:txBody>
        </p:sp>
        <p:sp>
          <p:nvSpPr>
            <p:cNvPr id="35891" name="Rectangle 67">
              <a:extLst>
                <a:ext uri="{FF2B5EF4-FFF2-40B4-BE49-F238E27FC236}">
                  <a16:creationId xmlns:a16="http://schemas.microsoft.com/office/drawing/2014/main" id="{7DB22542-E43C-2E70-6CB2-E661B9EFF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0" y="3065"/>
              <a:ext cx="8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P</a:t>
              </a:r>
              <a:endParaRPr lang="en-US" altLang="en-US" b="1"/>
            </a:p>
          </p:txBody>
        </p:sp>
        <p:sp>
          <p:nvSpPr>
            <p:cNvPr id="35892" name="Rectangle 68">
              <a:extLst>
                <a:ext uri="{FF2B5EF4-FFF2-40B4-BE49-F238E27FC236}">
                  <a16:creationId xmlns:a16="http://schemas.microsoft.com/office/drawing/2014/main" id="{36372396-1DEC-00AE-B063-3F6C355EC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6" y="3082"/>
              <a:ext cx="60" cy="1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300">
                <a:solidFill>
                  <a:srgbClr val="000000"/>
                </a:solidFill>
              </a:endParaRPr>
            </a:p>
            <a:p>
              <a:r>
                <a:rPr lang="en-US" altLang="en-US" sz="1000">
                  <a:solidFill>
                    <a:srgbClr val="000000"/>
                  </a:solidFill>
                </a:rPr>
                <a:t>n</a:t>
              </a:r>
              <a:endParaRPr lang="en-US" altLang="en-US" b="1"/>
            </a:p>
          </p:txBody>
        </p:sp>
        <p:sp>
          <p:nvSpPr>
            <p:cNvPr id="35893" name="Rectangle 69">
              <a:extLst>
                <a:ext uri="{FF2B5EF4-FFF2-40B4-BE49-F238E27FC236}">
                  <a16:creationId xmlns:a16="http://schemas.microsoft.com/office/drawing/2014/main" id="{D6BE7151-74AA-2DFA-BB83-8DABAAFF2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6" y="3435"/>
              <a:ext cx="216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Bus</a:t>
              </a:r>
              <a:endParaRPr lang="en-US" altLang="en-US" b="1"/>
            </a:p>
          </p:txBody>
        </p:sp>
        <p:sp>
          <p:nvSpPr>
            <p:cNvPr id="35894" name="Freeform 70">
              <a:extLst>
                <a:ext uri="{FF2B5EF4-FFF2-40B4-BE49-F238E27FC236}">
                  <a16:creationId xmlns:a16="http://schemas.microsoft.com/office/drawing/2014/main" id="{8008B809-CC7C-D946-914C-DB4816316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3371"/>
              <a:ext cx="36" cy="33"/>
            </a:xfrm>
            <a:custGeom>
              <a:avLst/>
              <a:gdLst>
                <a:gd name="T0" fmla="*/ 2 w 45"/>
                <a:gd name="T1" fmla="*/ 1 h 45"/>
                <a:gd name="T2" fmla="*/ 2 w 45"/>
                <a:gd name="T3" fmla="*/ 1 h 45"/>
                <a:gd name="T4" fmla="*/ 2 w 45"/>
                <a:gd name="T5" fmla="*/ 1 h 45"/>
                <a:gd name="T6" fmla="*/ 2 w 45"/>
                <a:gd name="T7" fmla="*/ 1 h 45"/>
                <a:gd name="T8" fmla="*/ 2 w 45"/>
                <a:gd name="T9" fmla="*/ 1 h 45"/>
                <a:gd name="T10" fmla="*/ 2 w 45"/>
                <a:gd name="T11" fmla="*/ 1 h 45"/>
                <a:gd name="T12" fmla="*/ 2 w 45"/>
                <a:gd name="T13" fmla="*/ 1 h 45"/>
                <a:gd name="T14" fmla="*/ 2 w 45"/>
                <a:gd name="T15" fmla="*/ 1 h 45"/>
                <a:gd name="T16" fmla="*/ 2 w 45"/>
                <a:gd name="T17" fmla="*/ 1 h 45"/>
                <a:gd name="T18" fmla="*/ 2 w 45"/>
                <a:gd name="T19" fmla="*/ 1 h 45"/>
                <a:gd name="T20" fmla="*/ 2 w 45"/>
                <a:gd name="T21" fmla="*/ 1 h 45"/>
                <a:gd name="T22" fmla="*/ 2 w 45"/>
                <a:gd name="T23" fmla="*/ 1 h 45"/>
                <a:gd name="T24" fmla="*/ 2 w 45"/>
                <a:gd name="T25" fmla="*/ 1 h 45"/>
                <a:gd name="T26" fmla="*/ 2 w 45"/>
                <a:gd name="T27" fmla="*/ 1 h 45"/>
                <a:gd name="T28" fmla="*/ 2 w 45"/>
                <a:gd name="T29" fmla="*/ 1 h 45"/>
                <a:gd name="T30" fmla="*/ 2 w 45"/>
                <a:gd name="T31" fmla="*/ 1 h 45"/>
                <a:gd name="T32" fmla="*/ 2 w 45"/>
                <a:gd name="T33" fmla="*/ 1 h 45"/>
                <a:gd name="T34" fmla="*/ 2 w 45"/>
                <a:gd name="T35" fmla="*/ 1 h 45"/>
                <a:gd name="T36" fmla="*/ 2 w 45"/>
                <a:gd name="T37" fmla="*/ 1 h 45"/>
                <a:gd name="T38" fmla="*/ 0 w 45"/>
                <a:gd name="T39" fmla="*/ 1 h 45"/>
                <a:gd name="T40" fmla="*/ 0 w 45"/>
                <a:gd name="T41" fmla="*/ 1 h 45"/>
                <a:gd name="T42" fmla="*/ 0 w 45"/>
                <a:gd name="T43" fmla="*/ 1 h 45"/>
                <a:gd name="T44" fmla="*/ 2 w 45"/>
                <a:gd name="T45" fmla="*/ 1 h 45"/>
                <a:gd name="T46" fmla="*/ 2 w 45"/>
                <a:gd name="T47" fmla="*/ 1 h 45"/>
                <a:gd name="T48" fmla="*/ 2 w 45"/>
                <a:gd name="T49" fmla="*/ 1 h 45"/>
                <a:gd name="T50" fmla="*/ 2 w 45"/>
                <a:gd name="T51" fmla="*/ 1 h 45"/>
                <a:gd name="T52" fmla="*/ 2 w 45"/>
                <a:gd name="T53" fmla="*/ 1 h 45"/>
                <a:gd name="T54" fmla="*/ 2 w 45"/>
                <a:gd name="T55" fmla="*/ 1 h 45"/>
                <a:gd name="T56" fmla="*/ 2 w 45"/>
                <a:gd name="T57" fmla="*/ 0 h 45"/>
                <a:gd name="T58" fmla="*/ 2 w 45"/>
                <a:gd name="T59" fmla="*/ 0 h 45"/>
                <a:gd name="T60" fmla="*/ 2 w 45"/>
                <a:gd name="T61" fmla="*/ 0 h 45"/>
                <a:gd name="T62" fmla="*/ 2 w 45"/>
                <a:gd name="T63" fmla="*/ 0 h 45"/>
                <a:gd name="T64" fmla="*/ 2 w 45"/>
                <a:gd name="T65" fmla="*/ 0 h 45"/>
                <a:gd name="T66" fmla="*/ 2 w 45"/>
                <a:gd name="T67" fmla="*/ 1 h 45"/>
                <a:gd name="T68" fmla="*/ 2 w 45"/>
                <a:gd name="T69" fmla="*/ 1 h 45"/>
                <a:gd name="T70" fmla="*/ 2 w 45"/>
                <a:gd name="T71" fmla="*/ 1 h 45"/>
                <a:gd name="T72" fmla="*/ 2 w 45"/>
                <a:gd name="T73" fmla="*/ 1 h 45"/>
                <a:gd name="T74" fmla="*/ 2 w 45"/>
                <a:gd name="T75" fmla="*/ 1 h 45"/>
                <a:gd name="T76" fmla="*/ 2 w 45"/>
                <a:gd name="T77" fmla="*/ 1 h 45"/>
                <a:gd name="T78" fmla="*/ 2 w 45"/>
                <a:gd name="T79" fmla="*/ 1 h 45"/>
                <a:gd name="T80" fmla="*/ 2 w 45"/>
                <a:gd name="T81" fmla="*/ 1 h 4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45"/>
                <a:gd name="T124" fmla="*/ 0 h 45"/>
                <a:gd name="T125" fmla="*/ 45 w 45"/>
                <a:gd name="T126" fmla="*/ 45 h 45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45" h="45">
                  <a:moveTo>
                    <a:pt x="45" y="21"/>
                  </a:moveTo>
                  <a:lnTo>
                    <a:pt x="45" y="27"/>
                  </a:lnTo>
                  <a:lnTo>
                    <a:pt x="45" y="29"/>
                  </a:lnTo>
                  <a:lnTo>
                    <a:pt x="43" y="32"/>
                  </a:lnTo>
                  <a:lnTo>
                    <a:pt x="40" y="35"/>
                  </a:lnTo>
                  <a:lnTo>
                    <a:pt x="40" y="37"/>
                  </a:lnTo>
                  <a:lnTo>
                    <a:pt x="37" y="40"/>
                  </a:lnTo>
                  <a:lnTo>
                    <a:pt x="35" y="43"/>
                  </a:lnTo>
                  <a:lnTo>
                    <a:pt x="30" y="43"/>
                  </a:lnTo>
                  <a:lnTo>
                    <a:pt x="27" y="45"/>
                  </a:lnTo>
                  <a:lnTo>
                    <a:pt x="24" y="45"/>
                  </a:lnTo>
                  <a:lnTo>
                    <a:pt x="19" y="45"/>
                  </a:lnTo>
                  <a:lnTo>
                    <a:pt x="16" y="43"/>
                  </a:lnTo>
                  <a:lnTo>
                    <a:pt x="14" y="43"/>
                  </a:lnTo>
                  <a:lnTo>
                    <a:pt x="11" y="40"/>
                  </a:lnTo>
                  <a:lnTo>
                    <a:pt x="8" y="37"/>
                  </a:lnTo>
                  <a:lnTo>
                    <a:pt x="6" y="35"/>
                  </a:lnTo>
                  <a:lnTo>
                    <a:pt x="3" y="32"/>
                  </a:lnTo>
                  <a:lnTo>
                    <a:pt x="3" y="29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3" y="16"/>
                  </a:lnTo>
                  <a:lnTo>
                    <a:pt x="3" y="14"/>
                  </a:lnTo>
                  <a:lnTo>
                    <a:pt x="6" y="8"/>
                  </a:lnTo>
                  <a:lnTo>
                    <a:pt x="8" y="6"/>
                  </a:lnTo>
                  <a:lnTo>
                    <a:pt x="11" y="6"/>
                  </a:lnTo>
                  <a:lnTo>
                    <a:pt x="14" y="3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0" y="0"/>
                  </a:lnTo>
                  <a:lnTo>
                    <a:pt x="35" y="3"/>
                  </a:lnTo>
                  <a:lnTo>
                    <a:pt x="37" y="6"/>
                  </a:lnTo>
                  <a:lnTo>
                    <a:pt x="40" y="6"/>
                  </a:lnTo>
                  <a:lnTo>
                    <a:pt x="40" y="8"/>
                  </a:lnTo>
                  <a:lnTo>
                    <a:pt x="43" y="14"/>
                  </a:lnTo>
                  <a:lnTo>
                    <a:pt x="45" y="16"/>
                  </a:lnTo>
                  <a:lnTo>
                    <a:pt x="45" y="19"/>
                  </a:lnTo>
                  <a:lnTo>
                    <a:pt x="45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95" name="Freeform 71">
              <a:extLst>
                <a:ext uri="{FF2B5EF4-FFF2-40B4-BE49-F238E27FC236}">
                  <a16:creationId xmlns:a16="http://schemas.microsoft.com/office/drawing/2014/main" id="{7AAB2532-801B-34DC-CFD2-9477FA4EF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3371"/>
              <a:ext cx="36" cy="33"/>
            </a:xfrm>
            <a:custGeom>
              <a:avLst/>
              <a:gdLst>
                <a:gd name="T0" fmla="*/ 2 w 45"/>
                <a:gd name="T1" fmla="*/ 1 h 45"/>
                <a:gd name="T2" fmla="*/ 2 w 45"/>
                <a:gd name="T3" fmla="*/ 1 h 45"/>
                <a:gd name="T4" fmla="*/ 2 w 45"/>
                <a:gd name="T5" fmla="*/ 1 h 45"/>
                <a:gd name="T6" fmla="*/ 2 w 45"/>
                <a:gd name="T7" fmla="*/ 1 h 45"/>
                <a:gd name="T8" fmla="*/ 2 w 45"/>
                <a:gd name="T9" fmla="*/ 1 h 45"/>
                <a:gd name="T10" fmla="*/ 2 w 45"/>
                <a:gd name="T11" fmla="*/ 1 h 45"/>
                <a:gd name="T12" fmla="*/ 2 w 45"/>
                <a:gd name="T13" fmla="*/ 1 h 45"/>
                <a:gd name="T14" fmla="*/ 2 w 45"/>
                <a:gd name="T15" fmla="*/ 1 h 45"/>
                <a:gd name="T16" fmla="*/ 2 w 45"/>
                <a:gd name="T17" fmla="*/ 0 h 45"/>
                <a:gd name="T18" fmla="*/ 2 w 45"/>
                <a:gd name="T19" fmla="*/ 0 h 45"/>
                <a:gd name="T20" fmla="*/ 2 w 45"/>
                <a:gd name="T21" fmla="*/ 0 h 45"/>
                <a:gd name="T22" fmla="*/ 2 w 45"/>
                <a:gd name="T23" fmla="*/ 0 h 45"/>
                <a:gd name="T24" fmla="*/ 2 w 45"/>
                <a:gd name="T25" fmla="*/ 0 h 45"/>
                <a:gd name="T26" fmla="*/ 2 w 45"/>
                <a:gd name="T27" fmla="*/ 1 h 45"/>
                <a:gd name="T28" fmla="*/ 2 w 45"/>
                <a:gd name="T29" fmla="*/ 1 h 45"/>
                <a:gd name="T30" fmla="*/ 2 w 45"/>
                <a:gd name="T31" fmla="*/ 1 h 45"/>
                <a:gd name="T32" fmla="*/ 2 w 45"/>
                <a:gd name="T33" fmla="*/ 1 h 45"/>
                <a:gd name="T34" fmla="*/ 2 w 45"/>
                <a:gd name="T35" fmla="*/ 1 h 45"/>
                <a:gd name="T36" fmla="*/ 2 w 45"/>
                <a:gd name="T37" fmla="*/ 1 h 45"/>
                <a:gd name="T38" fmla="*/ 0 w 45"/>
                <a:gd name="T39" fmla="*/ 1 h 45"/>
                <a:gd name="T40" fmla="*/ 0 w 45"/>
                <a:gd name="T41" fmla="*/ 1 h 45"/>
                <a:gd name="T42" fmla="*/ 0 w 45"/>
                <a:gd name="T43" fmla="*/ 1 h 45"/>
                <a:gd name="T44" fmla="*/ 2 w 45"/>
                <a:gd name="T45" fmla="*/ 1 h 45"/>
                <a:gd name="T46" fmla="*/ 2 w 45"/>
                <a:gd name="T47" fmla="*/ 1 h 45"/>
                <a:gd name="T48" fmla="*/ 2 w 45"/>
                <a:gd name="T49" fmla="*/ 1 h 45"/>
                <a:gd name="T50" fmla="*/ 2 w 45"/>
                <a:gd name="T51" fmla="*/ 1 h 45"/>
                <a:gd name="T52" fmla="*/ 2 w 45"/>
                <a:gd name="T53" fmla="*/ 1 h 45"/>
                <a:gd name="T54" fmla="*/ 2 w 45"/>
                <a:gd name="T55" fmla="*/ 1 h 45"/>
                <a:gd name="T56" fmla="*/ 2 w 45"/>
                <a:gd name="T57" fmla="*/ 1 h 45"/>
                <a:gd name="T58" fmla="*/ 2 w 45"/>
                <a:gd name="T59" fmla="*/ 1 h 45"/>
                <a:gd name="T60" fmla="*/ 2 w 45"/>
                <a:gd name="T61" fmla="*/ 1 h 45"/>
                <a:gd name="T62" fmla="*/ 2 w 45"/>
                <a:gd name="T63" fmla="*/ 1 h 45"/>
                <a:gd name="T64" fmla="*/ 2 w 45"/>
                <a:gd name="T65" fmla="*/ 1 h 45"/>
                <a:gd name="T66" fmla="*/ 2 w 45"/>
                <a:gd name="T67" fmla="*/ 1 h 45"/>
                <a:gd name="T68" fmla="*/ 2 w 45"/>
                <a:gd name="T69" fmla="*/ 1 h 45"/>
                <a:gd name="T70" fmla="*/ 2 w 45"/>
                <a:gd name="T71" fmla="*/ 1 h 45"/>
                <a:gd name="T72" fmla="*/ 2 w 45"/>
                <a:gd name="T73" fmla="*/ 1 h 45"/>
                <a:gd name="T74" fmla="*/ 2 w 45"/>
                <a:gd name="T75" fmla="*/ 1 h 45"/>
                <a:gd name="T76" fmla="*/ 2 w 45"/>
                <a:gd name="T77" fmla="*/ 1 h 45"/>
                <a:gd name="T78" fmla="*/ 2 w 45"/>
                <a:gd name="T79" fmla="*/ 1 h 45"/>
                <a:gd name="T80" fmla="*/ 2 w 45"/>
                <a:gd name="T81" fmla="*/ 1 h 45"/>
                <a:gd name="T82" fmla="*/ 2 w 45"/>
                <a:gd name="T83" fmla="*/ 1 h 4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5"/>
                <a:gd name="T127" fmla="*/ 0 h 45"/>
                <a:gd name="T128" fmla="*/ 45 w 45"/>
                <a:gd name="T129" fmla="*/ 45 h 4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5" h="45">
                  <a:moveTo>
                    <a:pt x="45" y="21"/>
                  </a:moveTo>
                  <a:lnTo>
                    <a:pt x="45" y="19"/>
                  </a:lnTo>
                  <a:lnTo>
                    <a:pt x="45" y="16"/>
                  </a:lnTo>
                  <a:lnTo>
                    <a:pt x="43" y="14"/>
                  </a:lnTo>
                  <a:lnTo>
                    <a:pt x="40" y="8"/>
                  </a:lnTo>
                  <a:lnTo>
                    <a:pt x="40" y="6"/>
                  </a:lnTo>
                  <a:lnTo>
                    <a:pt x="37" y="6"/>
                  </a:lnTo>
                  <a:lnTo>
                    <a:pt x="35" y="3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24" y="0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3"/>
                  </a:lnTo>
                  <a:lnTo>
                    <a:pt x="11" y="6"/>
                  </a:lnTo>
                  <a:lnTo>
                    <a:pt x="8" y="6"/>
                  </a:lnTo>
                  <a:lnTo>
                    <a:pt x="6" y="8"/>
                  </a:lnTo>
                  <a:lnTo>
                    <a:pt x="3" y="14"/>
                  </a:lnTo>
                  <a:lnTo>
                    <a:pt x="3" y="16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7"/>
                  </a:lnTo>
                  <a:lnTo>
                    <a:pt x="3" y="29"/>
                  </a:lnTo>
                  <a:lnTo>
                    <a:pt x="3" y="32"/>
                  </a:lnTo>
                  <a:lnTo>
                    <a:pt x="6" y="35"/>
                  </a:lnTo>
                  <a:lnTo>
                    <a:pt x="8" y="37"/>
                  </a:lnTo>
                  <a:lnTo>
                    <a:pt x="11" y="40"/>
                  </a:lnTo>
                  <a:lnTo>
                    <a:pt x="14" y="43"/>
                  </a:lnTo>
                  <a:lnTo>
                    <a:pt x="16" y="43"/>
                  </a:lnTo>
                  <a:lnTo>
                    <a:pt x="19" y="45"/>
                  </a:lnTo>
                  <a:lnTo>
                    <a:pt x="24" y="45"/>
                  </a:lnTo>
                  <a:lnTo>
                    <a:pt x="27" y="45"/>
                  </a:lnTo>
                  <a:lnTo>
                    <a:pt x="30" y="43"/>
                  </a:lnTo>
                  <a:lnTo>
                    <a:pt x="35" y="43"/>
                  </a:lnTo>
                  <a:lnTo>
                    <a:pt x="37" y="40"/>
                  </a:lnTo>
                  <a:lnTo>
                    <a:pt x="40" y="37"/>
                  </a:lnTo>
                  <a:lnTo>
                    <a:pt x="40" y="35"/>
                  </a:lnTo>
                  <a:lnTo>
                    <a:pt x="43" y="32"/>
                  </a:lnTo>
                  <a:lnTo>
                    <a:pt x="45" y="29"/>
                  </a:lnTo>
                  <a:lnTo>
                    <a:pt x="45" y="27"/>
                  </a:lnTo>
                  <a:lnTo>
                    <a:pt x="45" y="21"/>
                  </a:lnTo>
                </a:path>
              </a:pathLst>
            </a:custGeom>
            <a:noFill/>
            <a:ln w="333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96" name="Freeform 72">
              <a:extLst>
                <a:ext uri="{FF2B5EF4-FFF2-40B4-BE49-F238E27FC236}">
                  <a16:creationId xmlns:a16="http://schemas.microsoft.com/office/drawing/2014/main" id="{37774BD2-65B2-977F-8833-C6730AA29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" y="3371"/>
              <a:ext cx="36" cy="33"/>
            </a:xfrm>
            <a:custGeom>
              <a:avLst/>
              <a:gdLst>
                <a:gd name="T0" fmla="*/ 2 w 45"/>
                <a:gd name="T1" fmla="*/ 1 h 45"/>
                <a:gd name="T2" fmla="*/ 2 w 45"/>
                <a:gd name="T3" fmla="*/ 1 h 45"/>
                <a:gd name="T4" fmla="*/ 2 w 45"/>
                <a:gd name="T5" fmla="*/ 1 h 45"/>
                <a:gd name="T6" fmla="*/ 2 w 45"/>
                <a:gd name="T7" fmla="*/ 1 h 45"/>
                <a:gd name="T8" fmla="*/ 2 w 45"/>
                <a:gd name="T9" fmla="*/ 1 h 45"/>
                <a:gd name="T10" fmla="*/ 2 w 45"/>
                <a:gd name="T11" fmla="*/ 1 h 45"/>
                <a:gd name="T12" fmla="*/ 2 w 45"/>
                <a:gd name="T13" fmla="*/ 1 h 45"/>
                <a:gd name="T14" fmla="*/ 2 w 45"/>
                <a:gd name="T15" fmla="*/ 1 h 45"/>
                <a:gd name="T16" fmla="*/ 2 w 45"/>
                <a:gd name="T17" fmla="*/ 1 h 45"/>
                <a:gd name="T18" fmla="*/ 2 w 45"/>
                <a:gd name="T19" fmla="*/ 1 h 45"/>
                <a:gd name="T20" fmla="*/ 2 w 45"/>
                <a:gd name="T21" fmla="*/ 1 h 45"/>
                <a:gd name="T22" fmla="*/ 2 w 45"/>
                <a:gd name="T23" fmla="*/ 1 h 45"/>
                <a:gd name="T24" fmla="*/ 2 w 45"/>
                <a:gd name="T25" fmla="*/ 1 h 45"/>
                <a:gd name="T26" fmla="*/ 2 w 45"/>
                <a:gd name="T27" fmla="*/ 1 h 45"/>
                <a:gd name="T28" fmla="*/ 2 w 45"/>
                <a:gd name="T29" fmla="*/ 1 h 45"/>
                <a:gd name="T30" fmla="*/ 2 w 45"/>
                <a:gd name="T31" fmla="*/ 1 h 45"/>
                <a:gd name="T32" fmla="*/ 2 w 45"/>
                <a:gd name="T33" fmla="*/ 1 h 45"/>
                <a:gd name="T34" fmla="*/ 2 w 45"/>
                <a:gd name="T35" fmla="*/ 1 h 45"/>
                <a:gd name="T36" fmla="*/ 2 w 45"/>
                <a:gd name="T37" fmla="*/ 1 h 45"/>
                <a:gd name="T38" fmla="*/ 0 w 45"/>
                <a:gd name="T39" fmla="*/ 1 h 45"/>
                <a:gd name="T40" fmla="*/ 0 w 45"/>
                <a:gd name="T41" fmla="*/ 1 h 45"/>
                <a:gd name="T42" fmla="*/ 0 w 45"/>
                <a:gd name="T43" fmla="*/ 1 h 45"/>
                <a:gd name="T44" fmla="*/ 2 w 45"/>
                <a:gd name="T45" fmla="*/ 1 h 45"/>
                <a:gd name="T46" fmla="*/ 2 w 45"/>
                <a:gd name="T47" fmla="*/ 1 h 45"/>
                <a:gd name="T48" fmla="*/ 2 w 45"/>
                <a:gd name="T49" fmla="*/ 1 h 45"/>
                <a:gd name="T50" fmla="*/ 2 w 45"/>
                <a:gd name="T51" fmla="*/ 1 h 45"/>
                <a:gd name="T52" fmla="*/ 2 w 45"/>
                <a:gd name="T53" fmla="*/ 1 h 45"/>
                <a:gd name="T54" fmla="*/ 2 w 45"/>
                <a:gd name="T55" fmla="*/ 1 h 45"/>
                <a:gd name="T56" fmla="*/ 2 w 45"/>
                <a:gd name="T57" fmla="*/ 0 h 45"/>
                <a:gd name="T58" fmla="*/ 2 w 45"/>
                <a:gd name="T59" fmla="*/ 0 h 45"/>
                <a:gd name="T60" fmla="*/ 2 w 45"/>
                <a:gd name="T61" fmla="*/ 0 h 45"/>
                <a:gd name="T62" fmla="*/ 2 w 45"/>
                <a:gd name="T63" fmla="*/ 0 h 45"/>
                <a:gd name="T64" fmla="*/ 2 w 45"/>
                <a:gd name="T65" fmla="*/ 0 h 45"/>
                <a:gd name="T66" fmla="*/ 2 w 45"/>
                <a:gd name="T67" fmla="*/ 1 h 45"/>
                <a:gd name="T68" fmla="*/ 2 w 45"/>
                <a:gd name="T69" fmla="*/ 1 h 45"/>
                <a:gd name="T70" fmla="*/ 2 w 45"/>
                <a:gd name="T71" fmla="*/ 1 h 45"/>
                <a:gd name="T72" fmla="*/ 2 w 45"/>
                <a:gd name="T73" fmla="*/ 1 h 45"/>
                <a:gd name="T74" fmla="*/ 2 w 45"/>
                <a:gd name="T75" fmla="*/ 1 h 45"/>
                <a:gd name="T76" fmla="*/ 2 w 45"/>
                <a:gd name="T77" fmla="*/ 1 h 45"/>
                <a:gd name="T78" fmla="*/ 2 w 45"/>
                <a:gd name="T79" fmla="*/ 1 h 45"/>
                <a:gd name="T80" fmla="*/ 2 w 45"/>
                <a:gd name="T81" fmla="*/ 1 h 4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45"/>
                <a:gd name="T124" fmla="*/ 0 h 45"/>
                <a:gd name="T125" fmla="*/ 45 w 45"/>
                <a:gd name="T126" fmla="*/ 45 h 45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45" h="45">
                  <a:moveTo>
                    <a:pt x="45" y="21"/>
                  </a:moveTo>
                  <a:lnTo>
                    <a:pt x="45" y="27"/>
                  </a:lnTo>
                  <a:lnTo>
                    <a:pt x="45" y="29"/>
                  </a:lnTo>
                  <a:lnTo>
                    <a:pt x="43" y="32"/>
                  </a:lnTo>
                  <a:lnTo>
                    <a:pt x="40" y="35"/>
                  </a:lnTo>
                  <a:lnTo>
                    <a:pt x="40" y="37"/>
                  </a:lnTo>
                  <a:lnTo>
                    <a:pt x="37" y="40"/>
                  </a:lnTo>
                  <a:lnTo>
                    <a:pt x="35" y="43"/>
                  </a:lnTo>
                  <a:lnTo>
                    <a:pt x="29" y="43"/>
                  </a:lnTo>
                  <a:lnTo>
                    <a:pt x="27" y="45"/>
                  </a:lnTo>
                  <a:lnTo>
                    <a:pt x="24" y="45"/>
                  </a:lnTo>
                  <a:lnTo>
                    <a:pt x="19" y="45"/>
                  </a:lnTo>
                  <a:lnTo>
                    <a:pt x="16" y="43"/>
                  </a:lnTo>
                  <a:lnTo>
                    <a:pt x="14" y="43"/>
                  </a:lnTo>
                  <a:lnTo>
                    <a:pt x="11" y="40"/>
                  </a:lnTo>
                  <a:lnTo>
                    <a:pt x="8" y="37"/>
                  </a:lnTo>
                  <a:lnTo>
                    <a:pt x="6" y="35"/>
                  </a:lnTo>
                  <a:lnTo>
                    <a:pt x="3" y="32"/>
                  </a:lnTo>
                  <a:lnTo>
                    <a:pt x="3" y="29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3" y="16"/>
                  </a:lnTo>
                  <a:lnTo>
                    <a:pt x="3" y="14"/>
                  </a:lnTo>
                  <a:lnTo>
                    <a:pt x="6" y="8"/>
                  </a:lnTo>
                  <a:lnTo>
                    <a:pt x="8" y="6"/>
                  </a:lnTo>
                  <a:lnTo>
                    <a:pt x="11" y="6"/>
                  </a:lnTo>
                  <a:lnTo>
                    <a:pt x="14" y="3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5" y="3"/>
                  </a:lnTo>
                  <a:lnTo>
                    <a:pt x="37" y="6"/>
                  </a:lnTo>
                  <a:lnTo>
                    <a:pt x="40" y="6"/>
                  </a:lnTo>
                  <a:lnTo>
                    <a:pt x="40" y="8"/>
                  </a:lnTo>
                  <a:lnTo>
                    <a:pt x="43" y="14"/>
                  </a:lnTo>
                  <a:lnTo>
                    <a:pt x="45" y="16"/>
                  </a:lnTo>
                  <a:lnTo>
                    <a:pt x="45" y="19"/>
                  </a:lnTo>
                  <a:lnTo>
                    <a:pt x="45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97" name="Freeform 73">
              <a:extLst>
                <a:ext uri="{FF2B5EF4-FFF2-40B4-BE49-F238E27FC236}">
                  <a16:creationId xmlns:a16="http://schemas.microsoft.com/office/drawing/2014/main" id="{22412698-CC0C-7C4B-AB16-BEB9F0EA5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" y="3371"/>
              <a:ext cx="36" cy="33"/>
            </a:xfrm>
            <a:custGeom>
              <a:avLst/>
              <a:gdLst>
                <a:gd name="T0" fmla="*/ 2 w 45"/>
                <a:gd name="T1" fmla="*/ 1 h 45"/>
                <a:gd name="T2" fmla="*/ 2 w 45"/>
                <a:gd name="T3" fmla="*/ 1 h 45"/>
                <a:gd name="T4" fmla="*/ 2 w 45"/>
                <a:gd name="T5" fmla="*/ 1 h 45"/>
                <a:gd name="T6" fmla="*/ 2 w 45"/>
                <a:gd name="T7" fmla="*/ 1 h 45"/>
                <a:gd name="T8" fmla="*/ 2 w 45"/>
                <a:gd name="T9" fmla="*/ 1 h 45"/>
                <a:gd name="T10" fmla="*/ 2 w 45"/>
                <a:gd name="T11" fmla="*/ 1 h 45"/>
                <a:gd name="T12" fmla="*/ 2 w 45"/>
                <a:gd name="T13" fmla="*/ 1 h 45"/>
                <a:gd name="T14" fmla="*/ 2 w 45"/>
                <a:gd name="T15" fmla="*/ 1 h 45"/>
                <a:gd name="T16" fmla="*/ 2 w 45"/>
                <a:gd name="T17" fmla="*/ 0 h 45"/>
                <a:gd name="T18" fmla="*/ 2 w 45"/>
                <a:gd name="T19" fmla="*/ 0 h 45"/>
                <a:gd name="T20" fmla="*/ 2 w 45"/>
                <a:gd name="T21" fmla="*/ 0 h 45"/>
                <a:gd name="T22" fmla="*/ 2 w 45"/>
                <a:gd name="T23" fmla="*/ 0 h 45"/>
                <a:gd name="T24" fmla="*/ 2 w 45"/>
                <a:gd name="T25" fmla="*/ 0 h 45"/>
                <a:gd name="T26" fmla="*/ 2 w 45"/>
                <a:gd name="T27" fmla="*/ 1 h 45"/>
                <a:gd name="T28" fmla="*/ 2 w 45"/>
                <a:gd name="T29" fmla="*/ 1 h 45"/>
                <a:gd name="T30" fmla="*/ 2 w 45"/>
                <a:gd name="T31" fmla="*/ 1 h 45"/>
                <a:gd name="T32" fmla="*/ 2 w 45"/>
                <a:gd name="T33" fmla="*/ 1 h 45"/>
                <a:gd name="T34" fmla="*/ 2 w 45"/>
                <a:gd name="T35" fmla="*/ 1 h 45"/>
                <a:gd name="T36" fmla="*/ 2 w 45"/>
                <a:gd name="T37" fmla="*/ 1 h 45"/>
                <a:gd name="T38" fmla="*/ 0 w 45"/>
                <a:gd name="T39" fmla="*/ 1 h 45"/>
                <a:gd name="T40" fmla="*/ 0 w 45"/>
                <a:gd name="T41" fmla="*/ 1 h 45"/>
                <a:gd name="T42" fmla="*/ 0 w 45"/>
                <a:gd name="T43" fmla="*/ 1 h 45"/>
                <a:gd name="T44" fmla="*/ 2 w 45"/>
                <a:gd name="T45" fmla="*/ 1 h 45"/>
                <a:gd name="T46" fmla="*/ 2 w 45"/>
                <a:gd name="T47" fmla="*/ 1 h 45"/>
                <a:gd name="T48" fmla="*/ 2 w 45"/>
                <a:gd name="T49" fmla="*/ 1 h 45"/>
                <a:gd name="T50" fmla="*/ 2 w 45"/>
                <a:gd name="T51" fmla="*/ 1 h 45"/>
                <a:gd name="T52" fmla="*/ 2 w 45"/>
                <a:gd name="T53" fmla="*/ 1 h 45"/>
                <a:gd name="T54" fmla="*/ 2 w 45"/>
                <a:gd name="T55" fmla="*/ 1 h 45"/>
                <a:gd name="T56" fmla="*/ 2 w 45"/>
                <a:gd name="T57" fmla="*/ 1 h 45"/>
                <a:gd name="T58" fmla="*/ 2 w 45"/>
                <a:gd name="T59" fmla="*/ 1 h 45"/>
                <a:gd name="T60" fmla="*/ 2 w 45"/>
                <a:gd name="T61" fmla="*/ 1 h 45"/>
                <a:gd name="T62" fmla="*/ 2 w 45"/>
                <a:gd name="T63" fmla="*/ 1 h 45"/>
                <a:gd name="T64" fmla="*/ 2 w 45"/>
                <a:gd name="T65" fmla="*/ 1 h 45"/>
                <a:gd name="T66" fmla="*/ 2 w 45"/>
                <a:gd name="T67" fmla="*/ 1 h 45"/>
                <a:gd name="T68" fmla="*/ 2 w 45"/>
                <a:gd name="T69" fmla="*/ 1 h 45"/>
                <a:gd name="T70" fmla="*/ 2 w 45"/>
                <a:gd name="T71" fmla="*/ 1 h 45"/>
                <a:gd name="T72" fmla="*/ 2 w 45"/>
                <a:gd name="T73" fmla="*/ 1 h 45"/>
                <a:gd name="T74" fmla="*/ 2 w 45"/>
                <a:gd name="T75" fmla="*/ 1 h 45"/>
                <a:gd name="T76" fmla="*/ 2 w 45"/>
                <a:gd name="T77" fmla="*/ 1 h 45"/>
                <a:gd name="T78" fmla="*/ 2 w 45"/>
                <a:gd name="T79" fmla="*/ 1 h 45"/>
                <a:gd name="T80" fmla="*/ 2 w 45"/>
                <a:gd name="T81" fmla="*/ 1 h 45"/>
                <a:gd name="T82" fmla="*/ 2 w 45"/>
                <a:gd name="T83" fmla="*/ 1 h 4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5"/>
                <a:gd name="T127" fmla="*/ 0 h 45"/>
                <a:gd name="T128" fmla="*/ 45 w 45"/>
                <a:gd name="T129" fmla="*/ 45 h 4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5" h="45">
                  <a:moveTo>
                    <a:pt x="45" y="21"/>
                  </a:moveTo>
                  <a:lnTo>
                    <a:pt x="45" y="19"/>
                  </a:lnTo>
                  <a:lnTo>
                    <a:pt x="45" y="16"/>
                  </a:lnTo>
                  <a:lnTo>
                    <a:pt x="43" y="14"/>
                  </a:lnTo>
                  <a:lnTo>
                    <a:pt x="40" y="8"/>
                  </a:lnTo>
                  <a:lnTo>
                    <a:pt x="40" y="6"/>
                  </a:lnTo>
                  <a:lnTo>
                    <a:pt x="37" y="6"/>
                  </a:lnTo>
                  <a:lnTo>
                    <a:pt x="35" y="3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4" y="0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3"/>
                  </a:lnTo>
                  <a:lnTo>
                    <a:pt x="11" y="6"/>
                  </a:lnTo>
                  <a:lnTo>
                    <a:pt x="8" y="6"/>
                  </a:lnTo>
                  <a:lnTo>
                    <a:pt x="6" y="8"/>
                  </a:lnTo>
                  <a:lnTo>
                    <a:pt x="3" y="14"/>
                  </a:lnTo>
                  <a:lnTo>
                    <a:pt x="3" y="16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7"/>
                  </a:lnTo>
                  <a:lnTo>
                    <a:pt x="3" y="29"/>
                  </a:lnTo>
                  <a:lnTo>
                    <a:pt x="3" y="32"/>
                  </a:lnTo>
                  <a:lnTo>
                    <a:pt x="6" y="35"/>
                  </a:lnTo>
                  <a:lnTo>
                    <a:pt x="8" y="37"/>
                  </a:lnTo>
                  <a:lnTo>
                    <a:pt x="11" y="40"/>
                  </a:lnTo>
                  <a:lnTo>
                    <a:pt x="14" y="43"/>
                  </a:lnTo>
                  <a:lnTo>
                    <a:pt x="16" y="43"/>
                  </a:lnTo>
                  <a:lnTo>
                    <a:pt x="19" y="45"/>
                  </a:lnTo>
                  <a:lnTo>
                    <a:pt x="24" y="45"/>
                  </a:lnTo>
                  <a:lnTo>
                    <a:pt x="27" y="45"/>
                  </a:lnTo>
                  <a:lnTo>
                    <a:pt x="29" y="43"/>
                  </a:lnTo>
                  <a:lnTo>
                    <a:pt x="35" y="43"/>
                  </a:lnTo>
                  <a:lnTo>
                    <a:pt x="37" y="40"/>
                  </a:lnTo>
                  <a:lnTo>
                    <a:pt x="40" y="37"/>
                  </a:lnTo>
                  <a:lnTo>
                    <a:pt x="40" y="35"/>
                  </a:lnTo>
                  <a:lnTo>
                    <a:pt x="43" y="32"/>
                  </a:lnTo>
                  <a:lnTo>
                    <a:pt x="45" y="29"/>
                  </a:lnTo>
                  <a:lnTo>
                    <a:pt x="45" y="27"/>
                  </a:lnTo>
                  <a:lnTo>
                    <a:pt x="45" y="21"/>
                  </a:lnTo>
                </a:path>
              </a:pathLst>
            </a:custGeom>
            <a:noFill/>
            <a:ln w="333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98" name="Freeform 74">
              <a:extLst>
                <a:ext uri="{FF2B5EF4-FFF2-40B4-BE49-F238E27FC236}">
                  <a16:creationId xmlns:a16="http://schemas.microsoft.com/office/drawing/2014/main" id="{607A1857-B0AF-67C2-68A2-AAA9FE431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3371"/>
              <a:ext cx="36" cy="33"/>
            </a:xfrm>
            <a:custGeom>
              <a:avLst/>
              <a:gdLst>
                <a:gd name="T0" fmla="*/ 2 w 45"/>
                <a:gd name="T1" fmla="*/ 1 h 45"/>
                <a:gd name="T2" fmla="*/ 2 w 45"/>
                <a:gd name="T3" fmla="*/ 1 h 45"/>
                <a:gd name="T4" fmla="*/ 2 w 45"/>
                <a:gd name="T5" fmla="*/ 1 h 45"/>
                <a:gd name="T6" fmla="*/ 2 w 45"/>
                <a:gd name="T7" fmla="*/ 1 h 45"/>
                <a:gd name="T8" fmla="*/ 2 w 45"/>
                <a:gd name="T9" fmla="*/ 1 h 45"/>
                <a:gd name="T10" fmla="*/ 2 w 45"/>
                <a:gd name="T11" fmla="*/ 1 h 45"/>
                <a:gd name="T12" fmla="*/ 2 w 45"/>
                <a:gd name="T13" fmla="*/ 1 h 45"/>
                <a:gd name="T14" fmla="*/ 2 w 45"/>
                <a:gd name="T15" fmla="*/ 1 h 45"/>
                <a:gd name="T16" fmla="*/ 2 w 45"/>
                <a:gd name="T17" fmla="*/ 1 h 45"/>
                <a:gd name="T18" fmla="*/ 2 w 45"/>
                <a:gd name="T19" fmla="*/ 1 h 45"/>
                <a:gd name="T20" fmla="*/ 2 w 45"/>
                <a:gd name="T21" fmla="*/ 1 h 45"/>
                <a:gd name="T22" fmla="*/ 2 w 45"/>
                <a:gd name="T23" fmla="*/ 1 h 45"/>
                <a:gd name="T24" fmla="*/ 2 w 45"/>
                <a:gd name="T25" fmla="*/ 1 h 45"/>
                <a:gd name="T26" fmla="*/ 2 w 45"/>
                <a:gd name="T27" fmla="*/ 1 h 45"/>
                <a:gd name="T28" fmla="*/ 2 w 45"/>
                <a:gd name="T29" fmla="*/ 1 h 45"/>
                <a:gd name="T30" fmla="*/ 2 w 45"/>
                <a:gd name="T31" fmla="*/ 1 h 45"/>
                <a:gd name="T32" fmla="*/ 2 w 45"/>
                <a:gd name="T33" fmla="*/ 1 h 45"/>
                <a:gd name="T34" fmla="*/ 2 w 45"/>
                <a:gd name="T35" fmla="*/ 1 h 45"/>
                <a:gd name="T36" fmla="*/ 2 w 45"/>
                <a:gd name="T37" fmla="*/ 1 h 45"/>
                <a:gd name="T38" fmla="*/ 0 w 45"/>
                <a:gd name="T39" fmla="*/ 1 h 45"/>
                <a:gd name="T40" fmla="*/ 0 w 45"/>
                <a:gd name="T41" fmla="*/ 1 h 45"/>
                <a:gd name="T42" fmla="*/ 0 w 45"/>
                <a:gd name="T43" fmla="*/ 1 h 45"/>
                <a:gd name="T44" fmla="*/ 2 w 45"/>
                <a:gd name="T45" fmla="*/ 1 h 45"/>
                <a:gd name="T46" fmla="*/ 2 w 45"/>
                <a:gd name="T47" fmla="*/ 1 h 45"/>
                <a:gd name="T48" fmla="*/ 2 w 45"/>
                <a:gd name="T49" fmla="*/ 1 h 45"/>
                <a:gd name="T50" fmla="*/ 2 w 45"/>
                <a:gd name="T51" fmla="*/ 1 h 45"/>
                <a:gd name="T52" fmla="*/ 2 w 45"/>
                <a:gd name="T53" fmla="*/ 1 h 45"/>
                <a:gd name="T54" fmla="*/ 2 w 45"/>
                <a:gd name="T55" fmla="*/ 1 h 45"/>
                <a:gd name="T56" fmla="*/ 2 w 45"/>
                <a:gd name="T57" fmla="*/ 0 h 45"/>
                <a:gd name="T58" fmla="*/ 2 w 45"/>
                <a:gd name="T59" fmla="*/ 0 h 45"/>
                <a:gd name="T60" fmla="*/ 2 w 45"/>
                <a:gd name="T61" fmla="*/ 0 h 45"/>
                <a:gd name="T62" fmla="*/ 2 w 45"/>
                <a:gd name="T63" fmla="*/ 0 h 45"/>
                <a:gd name="T64" fmla="*/ 2 w 45"/>
                <a:gd name="T65" fmla="*/ 0 h 45"/>
                <a:gd name="T66" fmla="*/ 2 w 45"/>
                <a:gd name="T67" fmla="*/ 1 h 45"/>
                <a:gd name="T68" fmla="*/ 2 w 45"/>
                <a:gd name="T69" fmla="*/ 1 h 45"/>
                <a:gd name="T70" fmla="*/ 2 w 45"/>
                <a:gd name="T71" fmla="*/ 1 h 45"/>
                <a:gd name="T72" fmla="*/ 2 w 45"/>
                <a:gd name="T73" fmla="*/ 1 h 45"/>
                <a:gd name="T74" fmla="*/ 2 w 45"/>
                <a:gd name="T75" fmla="*/ 1 h 45"/>
                <a:gd name="T76" fmla="*/ 2 w 45"/>
                <a:gd name="T77" fmla="*/ 1 h 45"/>
                <a:gd name="T78" fmla="*/ 2 w 45"/>
                <a:gd name="T79" fmla="*/ 1 h 45"/>
                <a:gd name="T80" fmla="*/ 2 w 45"/>
                <a:gd name="T81" fmla="*/ 1 h 4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45"/>
                <a:gd name="T124" fmla="*/ 0 h 45"/>
                <a:gd name="T125" fmla="*/ 45 w 45"/>
                <a:gd name="T126" fmla="*/ 45 h 45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45" h="45">
                  <a:moveTo>
                    <a:pt x="45" y="21"/>
                  </a:moveTo>
                  <a:lnTo>
                    <a:pt x="45" y="27"/>
                  </a:lnTo>
                  <a:lnTo>
                    <a:pt x="45" y="29"/>
                  </a:lnTo>
                  <a:lnTo>
                    <a:pt x="42" y="32"/>
                  </a:lnTo>
                  <a:lnTo>
                    <a:pt x="40" y="35"/>
                  </a:lnTo>
                  <a:lnTo>
                    <a:pt x="40" y="37"/>
                  </a:lnTo>
                  <a:lnTo>
                    <a:pt x="37" y="40"/>
                  </a:lnTo>
                  <a:lnTo>
                    <a:pt x="35" y="43"/>
                  </a:lnTo>
                  <a:lnTo>
                    <a:pt x="29" y="43"/>
                  </a:lnTo>
                  <a:lnTo>
                    <a:pt x="27" y="45"/>
                  </a:lnTo>
                  <a:lnTo>
                    <a:pt x="24" y="45"/>
                  </a:lnTo>
                  <a:lnTo>
                    <a:pt x="19" y="45"/>
                  </a:lnTo>
                  <a:lnTo>
                    <a:pt x="16" y="43"/>
                  </a:lnTo>
                  <a:lnTo>
                    <a:pt x="13" y="43"/>
                  </a:lnTo>
                  <a:lnTo>
                    <a:pt x="11" y="40"/>
                  </a:lnTo>
                  <a:lnTo>
                    <a:pt x="8" y="37"/>
                  </a:lnTo>
                  <a:lnTo>
                    <a:pt x="5" y="35"/>
                  </a:lnTo>
                  <a:lnTo>
                    <a:pt x="3" y="32"/>
                  </a:lnTo>
                  <a:lnTo>
                    <a:pt x="3" y="29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3" y="16"/>
                  </a:lnTo>
                  <a:lnTo>
                    <a:pt x="3" y="14"/>
                  </a:lnTo>
                  <a:lnTo>
                    <a:pt x="5" y="8"/>
                  </a:lnTo>
                  <a:lnTo>
                    <a:pt x="8" y="6"/>
                  </a:lnTo>
                  <a:lnTo>
                    <a:pt x="11" y="6"/>
                  </a:lnTo>
                  <a:lnTo>
                    <a:pt x="13" y="3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5" y="3"/>
                  </a:lnTo>
                  <a:lnTo>
                    <a:pt x="37" y="6"/>
                  </a:lnTo>
                  <a:lnTo>
                    <a:pt x="40" y="6"/>
                  </a:lnTo>
                  <a:lnTo>
                    <a:pt x="40" y="8"/>
                  </a:lnTo>
                  <a:lnTo>
                    <a:pt x="42" y="14"/>
                  </a:lnTo>
                  <a:lnTo>
                    <a:pt x="45" y="16"/>
                  </a:lnTo>
                  <a:lnTo>
                    <a:pt x="45" y="19"/>
                  </a:lnTo>
                  <a:lnTo>
                    <a:pt x="45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99" name="Freeform 75">
              <a:extLst>
                <a:ext uri="{FF2B5EF4-FFF2-40B4-BE49-F238E27FC236}">
                  <a16:creationId xmlns:a16="http://schemas.microsoft.com/office/drawing/2014/main" id="{1C3FF0B8-F520-BA3A-264F-FC88EA56F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3371"/>
              <a:ext cx="36" cy="33"/>
            </a:xfrm>
            <a:custGeom>
              <a:avLst/>
              <a:gdLst>
                <a:gd name="T0" fmla="*/ 2 w 45"/>
                <a:gd name="T1" fmla="*/ 1 h 45"/>
                <a:gd name="T2" fmla="*/ 2 w 45"/>
                <a:gd name="T3" fmla="*/ 1 h 45"/>
                <a:gd name="T4" fmla="*/ 2 w 45"/>
                <a:gd name="T5" fmla="*/ 1 h 45"/>
                <a:gd name="T6" fmla="*/ 2 w 45"/>
                <a:gd name="T7" fmla="*/ 1 h 45"/>
                <a:gd name="T8" fmla="*/ 2 w 45"/>
                <a:gd name="T9" fmla="*/ 1 h 45"/>
                <a:gd name="T10" fmla="*/ 2 w 45"/>
                <a:gd name="T11" fmla="*/ 1 h 45"/>
                <a:gd name="T12" fmla="*/ 2 w 45"/>
                <a:gd name="T13" fmla="*/ 1 h 45"/>
                <a:gd name="T14" fmla="*/ 2 w 45"/>
                <a:gd name="T15" fmla="*/ 1 h 45"/>
                <a:gd name="T16" fmla="*/ 2 w 45"/>
                <a:gd name="T17" fmla="*/ 0 h 45"/>
                <a:gd name="T18" fmla="*/ 2 w 45"/>
                <a:gd name="T19" fmla="*/ 0 h 45"/>
                <a:gd name="T20" fmla="*/ 2 w 45"/>
                <a:gd name="T21" fmla="*/ 0 h 45"/>
                <a:gd name="T22" fmla="*/ 2 w 45"/>
                <a:gd name="T23" fmla="*/ 0 h 45"/>
                <a:gd name="T24" fmla="*/ 2 w 45"/>
                <a:gd name="T25" fmla="*/ 0 h 45"/>
                <a:gd name="T26" fmla="*/ 2 w 45"/>
                <a:gd name="T27" fmla="*/ 1 h 45"/>
                <a:gd name="T28" fmla="*/ 2 w 45"/>
                <a:gd name="T29" fmla="*/ 1 h 45"/>
                <a:gd name="T30" fmla="*/ 2 w 45"/>
                <a:gd name="T31" fmla="*/ 1 h 45"/>
                <a:gd name="T32" fmla="*/ 2 w 45"/>
                <a:gd name="T33" fmla="*/ 1 h 45"/>
                <a:gd name="T34" fmla="*/ 2 w 45"/>
                <a:gd name="T35" fmla="*/ 1 h 45"/>
                <a:gd name="T36" fmla="*/ 2 w 45"/>
                <a:gd name="T37" fmla="*/ 1 h 45"/>
                <a:gd name="T38" fmla="*/ 0 w 45"/>
                <a:gd name="T39" fmla="*/ 1 h 45"/>
                <a:gd name="T40" fmla="*/ 0 w 45"/>
                <a:gd name="T41" fmla="*/ 1 h 45"/>
                <a:gd name="T42" fmla="*/ 0 w 45"/>
                <a:gd name="T43" fmla="*/ 1 h 45"/>
                <a:gd name="T44" fmla="*/ 2 w 45"/>
                <a:gd name="T45" fmla="*/ 1 h 45"/>
                <a:gd name="T46" fmla="*/ 2 w 45"/>
                <a:gd name="T47" fmla="*/ 1 h 45"/>
                <a:gd name="T48" fmla="*/ 2 w 45"/>
                <a:gd name="T49" fmla="*/ 1 h 45"/>
                <a:gd name="T50" fmla="*/ 2 w 45"/>
                <a:gd name="T51" fmla="*/ 1 h 45"/>
                <a:gd name="T52" fmla="*/ 2 w 45"/>
                <a:gd name="T53" fmla="*/ 1 h 45"/>
                <a:gd name="T54" fmla="*/ 2 w 45"/>
                <a:gd name="T55" fmla="*/ 1 h 45"/>
                <a:gd name="T56" fmla="*/ 2 w 45"/>
                <a:gd name="T57" fmla="*/ 1 h 45"/>
                <a:gd name="T58" fmla="*/ 2 w 45"/>
                <a:gd name="T59" fmla="*/ 1 h 45"/>
                <a:gd name="T60" fmla="*/ 2 w 45"/>
                <a:gd name="T61" fmla="*/ 1 h 45"/>
                <a:gd name="T62" fmla="*/ 2 w 45"/>
                <a:gd name="T63" fmla="*/ 1 h 45"/>
                <a:gd name="T64" fmla="*/ 2 w 45"/>
                <a:gd name="T65" fmla="*/ 1 h 45"/>
                <a:gd name="T66" fmla="*/ 2 w 45"/>
                <a:gd name="T67" fmla="*/ 1 h 45"/>
                <a:gd name="T68" fmla="*/ 2 w 45"/>
                <a:gd name="T69" fmla="*/ 1 h 45"/>
                <a:gd name="T70" fmla="*/ 2 w 45"/>
                <a:gd name="T71" fmla="*/ 1 h 45"/>
                <a:gd name="T72" fmla="*/ 2 w 45"/>
                <a:gd name="T73" fmla="*/ 1 h 45"/>
                <a:gd name="T74" fmla="*/ 2 w 45"/>
                <a:gd name="T75" fmla="*/ 1 h 45"/>
                <a:gd name="T76" fmla="*/ 2 w 45"/>
                <a:gd name="T77" fmla="*/ 1 h 45"/>
                <a:gd name="T78" fmla="*/ 2 w 45"/>
                <a:gd name="T79" fmla="*/ 1 h 45"/>
                <a:gd name="T80" fmla="*/ 2 w 45"/>
                <a:gd name="T81" fmla="*/ 1 h 45"/>
                <a:gd name="T82" fmla="*/ 2 w 45"/>
                <a:gd name="T83" fmla="*/ 1 h 4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5"/>
                <a:gd name="T127" fmla="*/ 0 h 45"/>
                <a:gd name="T128" fmla="*/ 45 w 45"/>
                <a:gd name="T129" fmla="*/ 45 h 4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5" h="45">
                  <a:moveTo>
                    <a:pt x="45" y="21"/>
                  </a:moveTo>
                  <a:lnTo>
                    <a:pt x="45" y="19"/>
                  </a:lnTo>
                  <a:lnTo>
                    <a:pt x="45" y="16"/>
                  </a:lnTo>
                  <a:lnTo>
                    <a:pt x="42" y="14"/>
                  </a:lnTo>
                  <a:lnTo>
                    <a:pt x="40" y="8"/>
                  </a:lnTo>
                  <a:lnTo>
                    <a:pt x="40" y="6"/>
                  </a:lnTo>
                  <a:lnTo>
                    <a:pt x="37" y="6"/>
                  </a:lnTo>
                  <a:lnTo>
                    <a:pt x="35" y="3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4" y="0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3" y="3"/>
                  </a:lnTo>
                  <a:lnTo>
                    <a:pt x="11" y="6"/>
                  </a:lnTo>
                  <a:lnTo>
                    <a:pt x="8" y="6"/>
                  </a:lnTo>
                  <a:lnTo>
                    <a:pt x="5" y="8"/>
                  </a:lnTo>
                  <a:lnTo>
                    <a:pt x="3" y="14"/>
                  </a:lnTo>
                  <a:lnTo>
                    <a:pt x="3" y="16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7"/>
                  </a:lnTo>
                  <a:lnTo>
                    <a:pt x="3" y="29"/>
                  </a:lnTo>
                  <a:lnTo>
                    <a:pt x="3" y="32"/>
                  </a:lnTo>
                  <a:lnTo>
                    <a:pt x="5" y="35"/>
                  </a:lnTo>
                  <a:lnTo>
                    <a:pt x="8" y="37"/>
                  </a:lnTo>
                  <a:lnTo>
                    <a:pt x="11" y="40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9" y="45"/>
                  </a:lnTo>
                  <a:lnTo>
                    <a:pt x="24" y="45"/>
                  </a:lnTo>
                  <a:lnTo>
                    <a:pt x="27" y="45"/>
                  </a:lnTo>
                  <a:lnTo>
                    <a:pt x="29" y="43"/>
                  </a:lnTo>
                  <a:lnTo>
                    <a:pt x="35" y="43"/>
                  </a:lnTo>
                  <a:lnTo>
                    <a:pt x="37" y="40"/>
                  </a:lnTo>
                  <a:lnTo>
                    <a:pt x="40" y="37"/>
                  </a:lnTo>
                  <a:lnTo>
                    <a:pt x="40" y="35"/>
                  </a:lnTo>
                  <a:lnTo>
                    <a:pt x="42" y="32"/>
                  </a:lnTo>
                  <a:lnTo>
                    <a:pt x="45" y="29"/>
                  </a:lnTo>
                  <a:lnTo>
                    <a:pt x="45" y="27"/>
                  </a:lnTo>
                  <a:lnTo>
                    <a:pt x="45" y="21"/>
                  </a:lnTo>
                </a:path>
              </a:pathLst>
            </a:custGeom>
            <a:noFill/>
            <a:ln w="333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35900" name="Group 76">
              <a:extLst>
                <a:ext uri="{FF2B5EF4-FFF2-40B4-BE49-F238E27FC236}">
                  <a16:creationId xmlns:a16="http://schemas.microsoft.com/office/drawing/2014/main" id="{5980FF4D-7DAA-5AAC-DCA3-C1245DD1EB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0" y="2736"/>
              <a:ext cx="720" cy="203"/>
              <a:chOff x="3792" y="3293"/>
              <a:chExt cx="720" cy="203"/>
            </a:xfrm>
          </p:grpSpPr>
          <p:sp>
            <p:nvSpPr>
              <p:cNvPr id="35901" name="Rectangle 77">
                <a:extLst>
                  <a:ext uri="{FF2B5EF4-FFF2-40B4-BE49-F238E27FC236}">
                    <a16:creationId xmlns:a16="http://schemas.microsoft.com/office/drawing/2014/main" id="{9635D5EB-29CA-5590-FA82-7AC43FCA2A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3293"/>
                <a:ext cx="681" cy="1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700"/>
                  <a:t>State  Tag   Data</a:t>
                </a:r>
              </a:p>
            </p:txBody>
          </p:sp>
          <p:sp>
            <p:nvSpPr>
              <p:cNvPr id="35902" name="Rectangle 78">
                <a:extLst>
                  <a:ext uri="{FF2B5EF4-FFF2-40B4-BE49-F238E27FC236}">
                    <a16:creationId xmlns:a16="http://schemas.microsoft.com/office/drawing/2014/main" id="{11E1DF7C-4E5D-E01A-FA91-7A485F9A9E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3312"/>
                <a:ext cx="672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100"/>
              </a:p>
            </p:txBody>
          </p:sp>
          <p:sp>
            <p:nvSpPr>
              <p:cNvPr id="35903" name="Line 79">
                <a:extLst>
                  <a:ext uri="{FF2B5EF4-FFF2-40B4-BE49-F238E27FC236}">
                    <a16:creationId xmlns:a16="http://schemas.microsoft.com/office/drawing/2014/main" id="{B0DED869-7CBF-0018-42FE-637B7012A5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3" y="3312"/>
                <a:ext cx="0" cy="1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04" name="Line 80">
                <a:extLst>
                  <a:ext uri="{FF2B5EF4-FFF2-40B4-BE49-F238E27FC236}">
                    <a16:creationId xmlns:a16="http://schemas.microsoft.com/office/drawing/2014/main" id="{AB1084E3-83A0-A7DD-F824-2EB8E2D4B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7" y="3312"/>
                <a:ext cx="0" cy="1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5860" name="Rectangle 63">
            <a:extLst>
              <a:ext uri="{FF2B5EF4-FFF2-40B4-BE49-F238E27FC236}">
                <a16:creationId xmlns:a16="http://schemas.microsoft.com/office/drawing/2014/main" id="{565AD897-8EF1-F02B-81D9-72B042A59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11200" y="4533900"/>
            <a:ext cx="3949700" cy="2667000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4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4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4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4856" grpId="0" autoUpdateAnimBg="0"/>
      <p:bldP spid="974857" grpId="0" animBg="1" autoUpdateAnimBg="0"/>
      <p:bldP spid="974858" grpId="0" animBg="1" autoUpdateAnimBg="0"/>
      <p:bldP spid="974859" grpId="0" animBg="1" autoUpdateAnimBg="0"/>
      <p:bldP spid="97486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2">
            <a:extLst>
              <a:ext uri="{FF2B5EF4-FFF2-40B4-BE49-F238E27FC236}">
                <a16:creationId xmlns:a16="http://schemas.microsoft.com/office/drawing/2014/main" id="{2D1B9121-E5E3-0A0F-B7F1-9FC723B6F416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4495800"/>
            <a:ext cx="762000" cy="762000"/>
            <a:chOff x="4080" y="672"/>
            <a:chExt cx="480" cy="480"/>
          </a:xfrm>
        </p:grpSpPr>
        <p:sp>
          <p:nvSpPr>
            <p:cNvPr id="36909" name="Oval 3">
              <a:extLst>
                <a:ext uri="{FF2B5EF4-FFF2-40B4-BE49-F238E27FC236}">
                  <a16:creationId xmlns:a16="http://schemas.microsoft.com/office/drawing/2014/main" id="{721C428D-CBEC-685E-FC02-C1468B4BE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672"/>
              <a:ext cx="480" cy="48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bIns="0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6910" name="Line 4">
              <a:extLst>
                <a:ext uri="{FF2B5EF4-FFF2-40B4-BE49-F238E27FC236}">
                  <a16:creationId xmlns:a16="http://schemas.microsoft.com/office/drawing/2014/main" id="{7D65EAB8-F47B-19CD-B3FF-BE1ED153A3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12" y="768"/>
              <a:ext cx="48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bIns="0"/>
            <a:lstStyle/>
            <a:p>
              <a:endParaRPr lang="en-US"/>
            </a:p>
          </p:txBody>
        </p:sp>
      </p:grpSp>
      <p:grpSp>
        <p:nvGrpSpPr>
          <p:cNvPr id="36867" name="Group 5">
            <a:extLst>
              <a:ext uri="{FF2B5EF4-FFF2-40B4-BE49-F238E27FC236}">
                <a16:creationId xmlns:a16="http://schemas.microsoft.com/office/drawing/2014/main" id="{6F7A0697-CFEC-F307-5030-D4BFEEC70023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5334000"/>
            <a:ext cx="762000" cy="762000"/>
            <a:chOff x="4752" y="1440"/>
            <a:chExt cx="480" cy="480"/>
          </a:xfrm>
        </p:grpSpPr>
        <p:sp>
          <p:nvSpPr>
            <p:cNvPr id="36907" name="Oval 6">
              <a:extLst>
                <a:ext uri="{FF2B5EF4-FFF2-40B4-BE49-F238E27FC236}">
                  <a16:creationId xmlns:a16="http://schemas.microsoft.com/office/drawing/2014/main" id="{39E1FFC9-B33C-2056-B52C-D49C3B33F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1440"/>
              <a:ext cx="480" cy="480"/>
            </a:xfrm>
            <a:prstGeom prst="ellips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bIns="0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6908" name="Line 7">
              <a:extLst>
                <a:ext uri="{FF2B5EF4-FFF2-40B4-BE49-F238E27FC236}">
                  <a16:creationId xmlns:a16="http://schemas.microsoft.com/office/drawing/2014/main" id="{688D538D-4A34-26B3-230F-74A8CC4232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680"/>
              <a:ext cx="48" cy="144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bIns="0"/>
            <a:lstStyle/>
            <a:p>
              <a:endParaRPr lang="en-US"/>
            </a:p>
          </p:txBody>
        </p:sp>
      </p:grpSp>
      <p:sp>
        <p:nvSpPr>
          <p:cNvPr id="36868" name="Oval 8">
            <a:extLst>
              <a:ext uri="{FF2B5EF4-FFF2-40B4-BE49-F238E27FC236}">
                <a16:creationId xmlns:a16="http://schemas.microsoft.com/office/drawing/2014/main" id="{69D0B25D-2FF8-623F-6F34-436B191BD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0" y="4622800"/>
            <a:ext cx="1403350" cy="1346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36869" name="Group 9">
            <a:extLst>
              <a:ext uri="{FF2B5EF4-FFF2-40B4-BE49-F238E27FC236}">
                <a16:creationId xmlns:a16="http://schemas.microsoft.com/office/drawing/2014/main" id="{39BFADA0-FFC5-FCE8-13CE-3EE8FBC1EAC3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2057400"/>
            <a:ext cx="762000" cy="762000"/>
            <a:chOff x="4752" y="1440"/>
            <a:chExt cx="480" cy="480"/>
          </a:xfrm>
        </p:grpSpPr>
        <p:sp>
          <p:nvSpPr>
            <p:cNvPr id="36905" name="Oval 10">
              <a:extLst>
                <a:ext uri="{FF2B5EF4-FFF2-40B4-BE49-F238E27FC236}">
                  <a16:creationId xmlns:a16="http://schemas.microsoft.com/office/drawing/2014/main" id="{879863DF-0DC4-3C2F-DF05-0BF513DE1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1440"/>
              <a:ext cx="480" cy="480"/>
            </a:xfrm>
            <a:prstGeom prst="ellipse">
              <a:avLst/>
            </a:prstGeom>
            <a:noFill/>
            <a:ln w="38100">
              <a:solidFill>
                <a:srgbClr val="CC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bIns="0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6906" name="Line 11">
              <a:extLst>
                <a:ext uri="{FF2B5EF4-FFF2-40B4-BE49-F238E27FC236}">
                  <a16:creationId xmlns:a16="http://schemas.microsoft.com/office/drawing/2014/main" id="{1C3B15F9-DCA8-F00C-5A3B-4E7572DEEA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680"/>
              <a:ext cx="48" cy="144"/>
            </a:xfrm>
            <a:prstGeom prst="line">
              <a:avLst/>
            </a:prstGeom>
            <a:noFill/>
            <a:ln w="57150">
              <a:solidFill>
                <a:srgbClr val="CC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bIns="0"/>
            <a:lstStyle/>
            <a:p>
              <a:endParaRPr lang="en-US"/>
            </a:p>
          </p:txBody>
        </p:sp>
      </p:grpSp>
      <p:grpSp>
        <p:nvGrpSpPr>
          <p:cNvPr id="36870" name="Group 12">
            <a:extLst>
              <a:ext uri="{FF2B5EF4-FFF2-40B4-BE49-F238E27FC236}">
                <a16:creationId xmlns:a16="http://schemas.microsoft.com/office/drawing/2014/main" id="{F3F7DC1B-C302-C657-308A-AA24B999F3C5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838200"/>
            <a:ext cx="762000" cy="762000"/>
            <a:chOff x="4080" y="672"/>
            <a:chExt cx="480" cy="480"/>
          </a:xfrm>
        </p:grpSpPr>
        <p:sp>
          <p:nvSpPr>
            <p:cNvPr id="36903" name="Oval 13">
              <a:extLst>
                <a:ext uri="{FF2B5EF4-FFF2-40B4-BE49-F238E27FC236}">
                  <a16:creationId xmlns:a16="http://schemas.microsoft.com/office/drawing/2014/main" id="{0E4AB5A8-52E2-0D43-00AE-719892839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672"/>
              <a:ext cx="480" cy="48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CC00FF"/>
              </a:solidFill>
              <a:round/>
              <a:headEnd/>
              <a:tailEnd/>
            </a:ln>
          </p:spPr>
          <p:txBody>
            <a:bodyPr wrap="none" bIns="0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6904" name="Line 14">
              <a:extLst>
                <a:ext uri="{FF2B5EF4-FFF2-40B4-BE49-F238E27FC236}">
                  <a16:creationId xmlns:a16="http://schemas.microsoft.com/office/drawing/2014/main" id="{C3CA4243-967D-E5FC-958F-2E8443DF25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12" y="768"/>
              <a:ext cx="48" cy="96"/>
            </a:xfrm>
            <a:prstGeom prst="line">
              <a:avLst/>
            </a:prstGeom>
            <a:noFill/>
            <a:ln w="57150">
              <a:solidFill>
                <a:srgbClr val="CC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bIns="0"/>
            <a:lstStyle/>
            <a:p>
              <a:endParaRPr lang="en-US"/>
            </a:p>
          </p:txBody>
        </p:sp>
      </p:grpSp>
      <p:sp>
        <p:nvSpPr>
          <p:cNvPr id="36871" name="Oval 15">
            <a:extLst>
              <a:ext uri="{FF2B5EF4-FFF2-40B4-BE49-F238E27FC236}">
                <a16:creationId xmlns:a16="http://schemas.microsoft.com/office/drawing/2014/main" id="{36DF84B8-606C-44B5-8AC3-16D47BD68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1150" y="1136650"/>
            <a:ext cx="1403350" cy="1346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6872" name="Rectangle 16">
            <a:extLst>
              <a:ext uri="{FF2B5EF4-FFF2-40B4-BE49-F238E27FC236}">
                <a16:creationId xmlns:a16="http://schemas.microsoft.com/office/drawing/2014/main" id="{97029860-38E7-92D1-22C2-1E58B2612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905000"/>
            <a:ext cx="18065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 sz="1800"/>
              <a:t>Place read miss</a:t>
            </a:r>
          </a:p>
          <a:p>
            <a:pPr algn="r"/>
            <a:r>
              <a:rPr lang="en-US" altLang="en-US" sz="1800"/>
              <a:t>on bus</a:t>
            </a:r>
          </a:p>
        </p:txBody>
      </p:sp>
      <p:sp>
        <p:nvSpPr>
          <p:cNvPr id="36873" name="Rectangle 17">
            <a:extLst>
              <a:ext uri="{FF2B5EF4-FFF2-40B4-BE49-F238E27FC236}">
                <a16:creationId xmlns:a16="http://schemas.microsoft.com/office/drawing/2014/main" id="{AA164FDE-DF54-3C95-5C2F-5589566769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775" y="0"/>
            <a:ext cx="7254875" cy="827088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3600"/>
              <a:t>Write-back State Machine-III</a:t>
            </a:r>
            <a:r>
              <a:rPr lang="en-US" altLang="en-US"/>
              <a:t> </a:t>
            </a:r>
            <a:br>
              <a:rPr lang="en-US" altLang="en-US"/>
            </a:br>
            <a:endParaRPr lang="en-US" altLang="en-US" sz="1400">
              <a:solidFill>
                <a:schemeClr val="bg2"/>
              </a:solidFill>
            </a:endParaRPr>
          </a:p>
        </p:txBody>
      </p:sp>
      <p:sp>
        <p:nvSpPr>
          <p:cNvPr id="36874" name="Rectangle 18">
            <a:extLst>
              <a:ext uri="{FF2B5EF4-FFF2-40B4-BE49-F238E27FC236}">
                <a16:creationId xmlns:a16="http://schemas.microsoft.com/office/drawing/2014/main" id="{071A38B9-6388-873A-0921-8383C3B5AB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009650"/>
            <a:ext cx="3619500" cy="971550"/>
          </a:xfrm>
          <a:noFill/>
        </p:spPr>
        <p:txBody>
          <a:bodyPr lIns="90488" tIns="44450" rIns="90488" bIns="44450"/>
          <a:lstStyle/>
          <a:p>
            <a:pPr marL="285750" indent="-285750" eaLnBrk="1" hangingPunct="1">
              <a:lnSpc>
                <a:spcPct val="80000"/>
              </a:lnSpc>
            </a:pPr>
            <a:r>
              <a:rPr lang="en-US" altLang="en-US" sz="2000"/>
              <a:t>State machine</a:t>
            </a:r>
            <a:br>
              <a:rPr lang="en-US" altLang="en-US" sz="2000"/>
            </a:br>
            <a:r>
              <a:rPr lang="en-US" altLang="en-US" sz="2000"/>
              <a:t>for </a:t>
            </a:r>
            <a:r>
              <a:rPr lang="en-US" altLang="en-US" sz="2000" i="1" u="sng">
                <a:solidFill>
                  <a:schemeClr val="hlink"/>
                </a:solidFill>
              </a:rPr>
              <a:t>CPU</a:t>
            </a:r>
            <a:r>
              <a:rPr lang="en-US" altLang="en-US" sz="2000"/>
              <a:t> requests</a:t>
            </a:r>
            <a:br>
              <a:rPr lang="en-US" altLang="en-US" sz="2000"/>
            </a:br>
            <a:r>
              <a:rPr lang="en-US" altLang="en-US" sz="2000"/>
              <a:t>for each </a:t>
            </a:r>
            <a:br>
              <a:rPr lang="en-US" altLang="en-US" sz="2000"/>
            </a:br>
            <a:r>
              <a:rPr lang="en-US" altLang="en-US" sz="2000" u="sng">
                <a:solidFill>
                  <a:srgbClr val="990099"/>
                </a:solidFill>
              </a:rPr>
              <a:t>cache block </a:t>
            </a:r>
            <a:r>
              <a:rPr lang="en-US" altLang="en-US" sz="2400" b="1">
                <a:solidFill>
                  <a:srgbClr val="000000"/>
                </a:solidFill>
              </a:rPr>
              <a:t>and</a:t>
            </a:r>
            <a:br>
              <a:rPr lang="en-US" altLang="en-US" sz="2400" b="1">
                <a:solidFill>
                  <a:srgbClr val="000000"/>
                </a:solidFill>
              </a:rPr>
            </a:br>
            <a:r>
              <a:rPr lang="en-US" altLang="en-US" sz="2400" b="1">
                <a:solidFill>
                  <a:srgbClr val="000000"/>
                </a:solidFill>
              </a:rPr>
              <a:t> </a:t>
            </a:r>
            <a:r>
              <a:rPr lang="en-US" altLang="en-US" sz="2000"/>
              <a:t>for </a:t>
            </a:r>
            <a:r>
              <a:rPr lang="en-US" altLang="en-US" sz="2000" i="1" u="sng">
                <a:solidFill>
                  <a:srgbClr val="0FEFEA"/>
                </a:solidFill>
              </a:rPr>
              <a:t>bus</a:t>
            </a:r>
            <a:r>
              <a:rPr lang="en-US" altLang="en-US" sz="2000"/>
              <a:t> requests</a:t>
            </a:r>
            <a:br>
              <a:rPr lang="en-US" altLang="en-US" sz="2000"/>
            </a:br>
            <a:r>
              <a:rPr lang="en-US" altLang="en-US" sz="2000"/>
              <a:t> for each </a:t>
            </a:r>
            <a:br>
              <a:rPr lang="en-US" altLang="en-US" sz="2000"/>
            </a:br>
            <a:r>
              <a:rPr lang="en-US" altLang="en-US" sz="2000" u="sng">
                <a:solidFill>
                  <a:schemeClr val="accent2"/>
                </a:solidFill>
              </a:rPr>
              <a:t>cache block</a:t>
            </a:r>
          </a:p>
        </p:txBody>
      </p:sp>
      <p:sp>
        <p:nvSpPr>
          <p:cNvPr id="36875" name="Rectangle 19">
            <a:extLst>
              <a:ext uri="{FF2B5EF4-FFF2-40B4-BE49-F238E27FC236}">
                <a16:creationId xmlns:a16="http://schemas.microsoft.com/office/drawing/2014/main" id="{A51CA732-9AA9-E69A-01D8-D81C3BA3B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350" y="819150"/>
            <a:ext cx="6350" cy="63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6876" name="Rectangle 20">
            <a:extLst>
              <a:ext uri="{FF2B5EF4-FFF2-40B4-BE49-F238E27FC236}">
                <a16:creationId xmlns:a16="http://schemas.microsoft.com/office/drawing/2014/main" id="{D7E96B59-1DE7-BBD4-D2E3-5FC563D1D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963" y="1635125"/>
            <a:ext cx="841375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/>
              <a:t>Invalid</a:t>
            </a:r>
          </a:p>
        </p:txBody>
      </p:sp>
      <p:sp>
        <p:nvSpPr>
          <p:cNvPr id="36877" name="Rectangle 21">
            <a:extLst>
              <a:ext uri="{FF2B5EF4-FFF2-40B4-BE49-F238E27FC236}">
                <a16:creationId xmlns:a16="http://schemas.microsoft.com/office/drawing/2014/main" id="{0561692C-356D-F216-AB27-339D3F605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463" y="1463675"/>
            <a:ext cx="128905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Shared</a:t>
            </a:r>
          </a:p>
          <a:p>
            <a:pPr algn="ctr"/>
            <a:r>
              <a:rPr lang="en-US" altLang="en-US" sz="1800"/>
              <a:t>(read/only)</a:t>
            </a:r>
          </a:p>
        </p:txBody>
      </p:sp>
      <p:sp>
        <p:nvSpPr>
          <p:cNvPr id="36878" name="Rectangle 22">
            <a:extLst>
              <a:ext uri="{FF2B5EF4-FFF2-40B4-BE49-F238E27FC236}">
                <a16:creationId xmlns:a16="http://schemas.microsoft.com/office/drawing/2014/main" id="{D93A284D-C47F-A50C-4FC0-B740DC43B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876800"/>
            <a:ext cx="138906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Modified</a:t>
            </a:r>
          </a:p>
          <a:p>
            <a:pPr algn="ctr"/>
            <a:r>
              <a:rPr lang="en-US" altLang="en-US" sz="1800"/>
              <a:t>(read/write)</a:t>
            </a:r>
          </a:p>
        </p:txBody>
      </p:sp>
      <p:sp>
        <p:nvSpPr>
          <p:cNvPr id="36879" name="Rectangle 23">
            <a:extLst>
              <a:ext uri="{FF2B5EF4-FFF2-40B4-BE49-F238E27FC236}">
                <a16:creationId xmlns:a16="http://schemas.microsoft.com/office/drawing/2014/main" id="{AC109F16-5371-2A7E-F1C5-ECA70139D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600200"/>
            <a:ext cx="1285875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rgbClr val="990099"/>
                </a:solidFill>
              </a:rPr>
              <a:t>CPU Read</a:t>
            </a:r>
            <a:endParaRPr lang="en-US" altLang="en-US" sz="1800" b="1">
              <a:solidFill>
                <a:schemeClr val="accent2"/>
              </a:solidFill>
            </a:endParaRPr>
          </a:p>
        </p:txBody>
      </p:sp>
      <p:sp>
        <p:nvSpPr>
          <p:cNvPr id="36880" name="Rectangle 24">
            <a:extLst>
              <a:ext uri="{FF2B5EF4-FFF2-40B4-BE49-F238E27FC236}">
                <a16:creationId xmlns:a16="http://schemas.microsoft.com/office/drawing/2014/main" id="{77A52494-B830-FE6C-36D5-909E20B99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700" y="2235200"/>
            <a:ext cx="1298575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rgbClr val="FF0000"/>
                </a:solidFill>
              </a:rPr>
              <a:t>CPU Write</a:t>
            </a:r>
            <a:endParaRPr lang="en-US" altLang="en-US" sz="1800" b="1">
              <a:solidFill>
                <a:schemeClr val="hlink"/>
              </a:solidFill>
            </a:endParaRPr>
          </a:p>
        </p:txBody>
      </p:sp>
      <p:sp>
        <p:nvSpPr>
          <p:cNvPr id="36881" name="Rectangle 25">
            <a:extLst>
              <a:ext uri="{FF2B5EF4-FFF2-40B4-BE49-F238E27FC236}">
                <a16:creationId xmlns:a16="http://schemas.microsoft.com/office/drawing/2014/main" id="{97F32B3C-830A-99A1-B61A-016643F63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7063" y="619125"/>
            <a:ext cx="16287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rgbClr val="990099"/>
                </a:solidFill>
              </a:rPr>
              <a:t>CPU Read hit</a:t>
            </a:r>
            <a:endParaRPr lang="en-US" altLang="en-US" sz="1800" b="1">
              <a:solidFill>
                <a:schemeClr val="accent2"/>
              </a:solidFill>
            </a:endParaRPr>
          </a:p>
        </p:txBody>
      </p:sp>
      <p:sp>
        <p:nvSpPr>
          <p:cNvPr id="36882" name="Rectangle 26">
            <a:extLst>
              <a:ext uri="{FF2B5EF4-FFF2-40B4-BE49-F238E27FC236}">
                <a16:creationId xmlns:a16="http://schemas.microsoft.com/office/drawing/2014/main" id="{F346EAB0-CDCB-BFD0-D1C6-BEEA8D65F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438400"/>
            <a:ext cx="15017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/>
              <a:t>Place Write </a:t>
            </a:r>
            <a:br>
              <a:rPr lang="en-US" altLang="en-US" sz="1800" b="1"/>
            </a:br>
            <a:r>
              <a:rPr lang="en-US" altLang="en-US" sz="1800" b="1"/>
              <a:t>Miss on bus</a:t>
            </a:r>
          </a:p>
        </p:txBody>
      </p:sp>
      <p:sp>
        <p:nvSpPr>
          <p:cNvPr id="36883" name="Rectangle 27">
            <a:extLst>
              <a:ext uri="{FF2B5EF4-FFF2-40B4-BE49-F238E27FC236}">
                <a16:creationId xmlns:a16="http://schemas.microsoft.com/office/drawing/2014/main" id="{F679610C-716F-4987-3C08-DC7266F10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048000"/>
            <a:ext cx="1920875" cy="1187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rgbClr val="990099"/>
                </a:solidFill>
              </a:rPr>
              <a:t>CPU read miss</a:t>
            </a:r>
            <a:endParaRPr lang="en-US" altLang="en-US" sz="1800"/>
          </a:p>
          <a:p>
            <a:r>
              <a:rPr lang="en-US" altLang="en-US" sz="1800"/>
              <a:t>Write back block,</a:t>
            </a:r>
          </a:p>
          <a:p>
            <a:r>
              <a:rPr lang="en-US" altLang="en-US" sz="1800"/>
              <a:t>Place read miss</a:t>
            </a:r>
          </a:p>
          <a:p>
            <a:r>
              <a:rPr lang="en-US" altLang="en-US" sz="1800"/>
              <a:t>on bus</a:t>
            </a:r>
          </a:p>
        </p:txBody>
      </p:sp>
      <p:sp>
        <p:nvSpPr>
          <p:cNvPr id="36884" name="Rectangle 28">
            <a:extLst>
              <a:ext uri="{FF2B5EF4-FFF2-40B4-BE49-F238E27FC236}">
                <a16:creationId xmlns:a16="http://schemas.microsoft.com/office/drawing/2014/main" id="{0B637638-8A92-28AB-EDEC-CEF27CCAC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6600" y="3835400"/>
            <a:ext cx="28225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rgbClr val="FF0000"/>
                </a:solidFill>
              </a:rPr>
              <a:t>CPU Write</a:t>
            </a:r>
            <a:endParaRPr lang="en-US" altLang="en-US" sz="1800" b="1">
              <a:solidFill>
                <a:schemeClr val="hlink"/>
              </a:solidFill>
            </a:endParaRPr>
          </a:p>
          <a:p>
            <a:r>
              <a:rPr lang="en-US" altLang="en-US" sz="1800" b="1"/>
              <a:t>Place Write Miss on Bus</a:t>
            </a:r>
          </a:p>
        </p:txBody>
      </p:sp>
      <p:sp>
        <p:nvSpPr>
          <p:cNvPr id="36885" name="Rectangle 29">
            <a:extLst>
              <a:ext uri="{FF2B5EF4-FFF2-40B4-BE49-F238E27FC236}">
                <a16:creationId xmlns:a16="http://schemas.microsoft.com/office/drawing/2014/main" id="{0A5B15E9-DDEC-B884-B2D4-7A6E3A23A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8013" y="3101975"/>
            <a:ext cx="1870075" cy="9128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rgbClr val="990099"/>
                </a:solidFill>
              </a:rPr>
              <a:t>CPU Read miss</a:t>
            </a:r>
            <a:endParaRPr lang="en-US" altLang="en-US" sz="1800" b="1"/>
          </a:p>
          <a:p>
            <a:r>
              <a:rPr lang="en-US" altLang="en-US" sz="1800"/>
              <a:t>Place read miss </a:t>
            </a:r>
          </a:p>
          <a:p>
            <a:r>
              <a:rPr lang="en-US" altLang="en-US" sz="1800"/>
              <a:t>on bus</a:t>
            </a:r>
          </a:p>
        </p:txBody>
      </p:sp>
      <p:sp>
        <p:nvSpPr>
          <p:cNvPr id="36886" name="Rectangle 30">
            <a:extLst>
              <a:ext uri="{FF2B5EF4-FFF2-40B4-BE49-F238E27FC236}">
                <a16:creationId xmlns:a16="http://schemas.microsoft.com/office/drawing/2014/main" id="{4881367C-ABDD-629D-1DE8-8F81B0EAC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3513" y="5445125"/>
            <a:ext cx="2771775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chemeClr val="hlink"/>
                </a:solidFill>
              </a:rPr>
              <a:t>CPU Write Miss</a:t>
            </a:r>
            <a:endParaRPr lang="en-US" altLang="en-US" sz="1800"/>
          </a:p>
          <a:p>
            <a:r>
              <a:rPr lang="en-US" altLang="en-US" sz="1800"/>
              <a:t>Write back cache block</a:t>
            </a:r>
          </a:p>
          <a:p>
            <a:r>
              <a:rPr lang="en-US" altLang="en-US" sz="1800" b="1"/>
              <a:t>Place write miss on bus</a:t>
            </a:r>
          </a:p>
        </p:txBody>
      </p:sp>
      <p:sp>
        <p:nvSpPr>
          <p:cNvPr id="36887" name="Rectangle 31">
            <a:extLst>
              <a:ext uri="{FF2B5EF4-FFF2-40B4-BE49-F238E27FC236}">
                <a16:creationId xmlns:a16="http://schemas.microsoft.com/office/drawing/2014/main" id="{ECAB6A9F-5835-64B2-1020-50212847A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0213" y="5426075"/>
            <a:ext cx="16033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rgbClr val="990099"/>
                </a:solidFill>
              </a:rPr>
              <a:t>CPU read hit</a:t>
            </a:r>
            <a:endParaRPr lang="en-US" altLang="en-US" sz="1800"/>
          </a:p>
          <a:p>
            <a:r>
              <a:rPr lang="en-US" altLang="en-US" sz="1800" b="1">
                <a:solidFill>
                  <a:schemeClr val="hlink"/>
                </a:solidFill>
              </a:rPr>
              <a:t>CPU write hit</a:t>
            </a:r>
          </a:p>
        </p:txBody>
      </p:sp>
      <p:sp>
        <p:nvSpPr>
          <p:cNvPr id="36888" name="Rectangle 32">
            <a:extLst>
              <a:ext uri="{FF2B5EF4-FFF2-40B4-BE49-F238E27FC236}">
                <a16:creationId xmlns:a16="http://schemas.microsoft.com/office/drawing/2014/main" id="{AEF6CD8A-C4DA-5EF2-4E15-9954F34FC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3" y="4405313"/>
            <a:ext cx="201136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1"/>
              <a:t>Cache Block</a:t>
            </a:r>
          </a:p>
          <a:p>
            <a:r>
              <a:rPr lang="en-US" altLang="en-US" sz="2400" b="1"/>
              <a:t>State</a:t>
            </a:r>
          </a:p>
        </p:txBody>
      </p:sp>
      <p:sp>
        <p:nvSpPr>
          <p:cNvPr id="36889" name="Oval 33">
            <a:extLst>
              <a:ext uri="{FF2B5EF4-FFF2-40B4-BE49-F238E27FC236}">
                <a16:creationId xmlns:a16="http://schemas.microsoft.com/office/drawing/2014/main" id="{FF6C2D76-CD60-2201-7252-B80B107EE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0" y="1136650"/>
            <a:ext cx="1403350" cy="1346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6890" name="Line 34">
            <a:extLst>
              <a:ext uri="{FF2B5EF4-FFF2-40B4-BE49-F238E27FC236}">
                <a16:creationId xmlns:a16="http://schemas.microsoft.com/office/drawing/2014/main" id="{774B5FC4-A6FA-8DC9-F5CF-F2676A8E219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6300" y="1885950"/>
            <a:ext cx="2000250" cy="0"/>
          </a:xfrm>
          <a:prstGeom prst="line">
            <a:avLst/>
          </a:prstGeom>
          <a:noFill/>
          <a:ln w="25400">
            <a:solidFill>
              <a:srgbClr val="99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1" name="Line 35">
            <a:extLst>
              <a:ext uri="{FF2B5EF4-FFF2-40B4-BE49-F238E27FC236}">
                <a16:creationId xmlns:a16="http://schemas.microsoft.com/office/drawing/2014/main" id="{7DB04FAB-A1BA-6544-2AC1-92DEEE9824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3350" y="2476500"/>
            <a:ext cx="0" cy="21145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2" name="Line 36">
            <a:extLst>
              <a:ext uri="{FF2B5EF4-FFF2-40B4-BE49-F238E27FC236}">
                <a16:creationId xmlns:a16="http://schemas.microsoft.com/office/drawing/2014/main" id="{0AF97A5C-CF22-FAED-F583-CB67CCDD95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38650" y="2305050"/>
            <a:ext cx="2381250" cy="2438400"/>
          </a:xfrm>
          <a:prstGeom prst="line">
            <a:avLst/>
          </a:prstGeom>
          <a:noFill/>
          <a:ln w="25400">
            <a:solidFill>
              <a:srgbClr val="99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3" name="Line 37">
            <a:extLst>
              <a:ext uri="{FF2B5EF4-FFF2-40B4-BE49-F238E27FC236}">
                <a16:creationId xmlns:a16="http://schemas.microsoft.com/office/drawing/2014/main" id="{BFB7286F-2256-21DB-3FF6-C879F0B130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4400" y="2514600"/>
            <a:ext cx="2495550" cy="25336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4" name="Rectangle 38">
            <a:extLst>
              <a:ext uri="{FF2B5EF4-FFF2-40B4-BE49-F238E27FC236}">
                <a16:creationId xmlns:a16="http://schemas.microsoft.com/office/drawing/2014/main" id="{BAC0AB7A-094E-EF3F-83A9-473980E91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003300"/>
            <a:ext cx="14636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rgbClr val="0FEFEA"/>
                </a:solidFill>
              </a:rPr>
              <a:t>Write miss</a:t>
            </a:r>
            <a:r>
              <a:rPr lang="en-US" altLang="en-US" sz="1800" b="1">
                <a:solidFill>
                  <a:schemeClr val="hlink"/>
                </a:solidFill>
              </a:rPr>
              <a:t> </a:t>
            </a:r>
            <a:br>
              <a:rPr lang="en-US" altLang="en-US" sz="1800" b="1">
                <a:solidFill>
                  <a:schemeClr val="hlink"/>
                </a:solidFill>
              </a:rPr>
            </a:br>
            <a:r>
              <a:rPr lang="en-US" altLang="en-US" sz="1800"/>
              <a:t>for this block</a:t>
            </a:r>
          </a:p>
        </p:txBody>
      </p:sp>
      <p:sp>
        <p:nvSpPr>
          <p:cNvPr id="36895" name="Line 39">
            <a:extLst>
              <a:ext uri="{FF2B5EF4-FFF2-40B4-BE49-F238E27FC236}">
                <a16:creationId xmlns:a16="http://schemas.microsoft.com/office/drawing/2014/main" id="{E698B67A-34D2-0CE2-00E5-6A9993EF29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600200"/>
            <a:ext cx="2135188" cy="0"/>
          </a:xfrm>
          <a:prstGeom prst="line">
            <a:avLst/>
          </a:prstGeom>
          <a:noFill/>
          <a:ln w="25400">
            <a:solidFill>
              <a:srgbClr val="0FEFEA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6" name="Line 40">
            <a:extLst>
              <a:ext uri="{FF2B5EF4-FFF2-40B4-BE49-F238E27FC236}">
                <a16:creationId xmlns:a16="http://schemas.microsoft.com/office/drawing/2014/main" id="{8FA87910-29B5-A68A-A175-3E7942BEE0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2413000"/>
            <a:ext cx="0" cy="2255838"/>
          </a:xfrm>
          <a:prstGeom prst="line">
            <a:avLst/>
          </a:prstGeom>
          <a:noFill/>
          <a:ln w="25400">
            <a:solidFill>
              <a:srgbClr val="0FEFEA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7" name="Rectangle 41">
            <a:extLst>
              <a:ext uri="{FF2B5EF4-FFF2-40B4-BE49-F238E27FC236}">
                <a16:creationId xmlns:a16="http://schemas.microsoft.com/office/drawing/2014/main" id="{E8E15C0D-C135-AE6C-19DE-52F629663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581400"/>
            <a:ext cx="1857375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/>
              <a:t>Write Back</a:t>
            </a:r>
          </a:p>
          <a:p>
            <a:r>
              <a:rPr lang="en-US" altLang="en-US" sz="1800"/>
              <a:t>Block; (abort</a:t>
            </a:r>
          </a:p>
          <a:p>
            <a:r>
              <a:rPr lang="en-US" altLang="en-US" sz="1800"/>
              <a:t>memory access)</a:t>
            </a:r>
          </a:p>
        </p:txBody>
      </p:sp>
      <p:sp>
        <p:nvSpPr>
          <p:cNvPr id="36898" name="Rectangle 42">
            <a:extLst>
              <a:ext uri="{FF2B5EF4-FFF2-40B4-BE49-F238E27FC236}">
                <a16:creationId xmlns:a16="http://schemas.microsoft.com/office/drawing/2014/main" id="{0E68E877-DF48-6AAF-BCAB-3D9DA15D8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971800"/>
            <a:ext cx="1463675" cy="638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rgbClr val="0FEFEA"/>
                </a:solidFill>
              </a:rPr>
              <a:t>Write miss</a:t>
            </a:r>
            <a:r>
              <a:rPr lang="en-US" altLang="en-US" sz="1800" b="1">
                <a:solidFill>
                  <a:schemeClr val="hlink"/>
                </a:solidFill>
              </a:rPr>
              <a:t> </a:t>
            </a:r>
            <a:br>
              <a:rPr lang="en-US" altLang="en-US" sz="1800" b="1">
                <a:solidFill>
                  <a:schemeClr val="hlink"/>
                </a:solidFill>
              </a:rPr>
            </a:br>
            <a:r>
              <a:rPr lang="en-US" altLang="en-US" sz="1800"/>
              <a:t>for this block</a:t>
            </a:r>
          </a:p>
        </p:txBody>
      </p:sp>
      <p:sp>
        <p:nvSpPr>
          <p:cNvPr id="36899" name="Line 43">
            <a:extLst>
              <a:ext uri="{FF2B5EF4-FFF2-40B4-BE49-F238E27FC236}">
                <a16:creationId xmlns:a16="http://schemas.microsoft.com/office/drawing/2014/main" id="{65568785-F220-B478-83A8-2A19CE3D36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362200"/>
            <a:ext cx="2541588" cy="26035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0" name="Rectangle 44">
            <a:extLst>
              <a:ext uri="{FF2B5EF4-FFF2-40B4-BE49-F238E27FC236}">
                <a16:creationId xmlns:a16="http://schemas.microsoft.com/office/drawing/2014/main" id="{560F8ACA-D7A2-297D-55C5-80865A217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495800"/>
            <a:ext cx="14636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>
                <a:solidFill>
                  <a:schemeClr val="accent2"/>
                </a:solidFill>
              </a:rPr>
              <a:t>Read miss </a:t>
            </a:r>
            <a:br>
              <a:rPr lang="en-US" altLang="en-US" sz="1800" b="1">
                <a:solidFill>
                  <a:schemeClr val="accent2"/>
                </a:solidFill>
              </a:rPr>
            </a:br>
            <a:r>
              <a:rPr lang="en-US" altLang="en-US" sz="1800"/>
              <a:t>for this block</a:t>
            </a:r>
          </a:p>
        </p:txBody>
      </p:sp>
      <p:sp>
        <p:nvSpPr>
          <p:cNvPr id="36901" name="Rectangle 45">
            <a:extLst>
              <a:ext uri="{FF2B5EF4-FFF2-40B4-BE49-F238E27FC236}">
                <a16:creationId xmlns:a16="http://schemas.microsoft.com/office/drawing/2014/main" id="{7BA94517-EB9A-2A7E-7039-DCC41B658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495800"/>
            <a:ext cx="191770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/>
              <a:t>Write Back</a:t>
            </a:r>
          </a:p>
          <a:p>
            <a:r>
              <a:rPr lang="en-US" altLang="en-US" sz="1800"/>
              <a:t>Block; (abort</a:t>
            </a:r>
          </a:p>
          <a:p>
            <a:r>
              <a:rPr lang="en-US" altLang="en-US" sz="1800"/>
              <a:t>memory access)</a:t>
            </a:r>
          </a:p>
        </p:txBody>
      </p:sp>
      <p:sp>
        <p:nvSpPr>
          <p:cNvPr id="36902" name="Slide Number Placeholder 48">
            <a:extLst>
              <a:ext uri="{FF2B5EF4-FFF2-40B4-BE49-F238E27FC236}">
                <a16:creationId xmlns:a16="http://schemas.microsoft.com/office/drawing/2014/main" id="{D3329248-DD8C-E967-AC38-FBD6FC7BB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A90987D-4C6C-4044-B844-757EDD4CE3E2}" type="slidenum">
              <a:rPr lang="en-US" altLang="en-US"/>
              <a:pPr/>
              <a:t>18</a:t>
            </a:fld>
            <a:r>
              <a:rPr lang="en-US" altLang="en-US"/>
              <a:t> 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0">
            <a:extLst>
              <a:ext uri="{FF2B5EF4-FFF2-40B4-BE49-F238E27FC236}">
                <a16:creationId xmlns:a16="http://schemas.microsoft.com/office/drawing/2014/main" id="{F2961F0E-8ABC-D9A5-AF67-08B446B02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8" y="979488"/>
            <a:ext cx="2201862" cy="18018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CA" altLang="en-US"/>
          </a:p>
        </p:txBody>
      </p:sp>
      <p:sp>
        <p:nvSpPr>
          <p:cNvPr id="38915" name="Title 1">
            <a:extLst>
              <a:ext uri="{FF2B5EF4-FFF2-40B4-BE49-F238E27FC236}">
                <a16:creationId xmlns:a16="http://schemas.microsoft.com/office/drawing/2014/main" id="{B38EA938-D970-0B1E-68BA-16D2EBB80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708025"/>
          </a:xfrm>
        </p:spPr>
        <p:txBody>
          <a:bodyPr/>
          <a:lstStyle/>
          <a:p>
            <a:r>
              <a:rPr lang="en-CA" altLang="en-US"/>
              <a:t>Example</a:t>
            </a:r>
          </a:p>
        </p:txBody>
      </p:sp>
      <p:sp>
        <p:nvSpPr>
          <p:cNvPr id="38916" name="Content Placeholder 2">
            <a:extLst>
              <a:ext uri="{FF2B5EF4-FFF2-40B4-BE49-F238E27FC236}">
                <a16:creationId xmlns:a16="http://schemas.microsoft.com/office/drawing/2014/main" id="{BC80C415-E842-2545-70AA-431A86396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0" y="3657600"/>
            <a:ext cx="4816475" cy="2678113"/>
          </a:xfrm>
        </p:spPr>
        <p:txBody>
          <a:bodyPr/>
          <a:lstStyle/>
          <a:p>
            <a:r>
              <a:rPr lang="en-US" altLang="en-US" sz="1800"/>
              <a:t>Bus-based shared-memory system.</a:t>
            </a:r>
          </a:p>
          <a:p>
            <a:r>
              <a:rPr lang="en-US" altLang="en-US" sz="1800"/>
              <a:t>Writeback invalidate snoop protocol. </a:t>
            </a:r>
          </a:p>
          <a:p>
            <a:r>
              <a:rPr lang="en-US" altLang="en-US" sz="1800"/>
              <a:t>Direct-mapped caches: 4 blocks, each with 2 words (word = 4B). two words separated by dotted line (smaller addresses on the right).</a:t>
            </a:r>
          </a:p>
          <a:p>
            <a:r>
              <a:rPr lang="en-US" altLang="en-US" sz="1800"/>
              <a:t>Tag contains the full address (in hex).</a:t>
            </a:r>
            <a:endParaRPr lang="en-CA" altLang="en-US" sz="1800"/>
          </a:p>
          <a:p>
            <a:endParaRPr lang="en-CA" altLang="en-US" sz="1800"/>
          </a:p>
        </p:txBody>
      </p:sp>
      <p:sp>
        <p:nvSpPr>
          <p:cNvPr id="38917" name="Slide Number Placeholder 3">
            <a:extLst>
              <a:ext uri="{FF2B5EF4-FFF2-40B4-BE49-F238E27FC236}">
                <a16:creationId xmlns:a16="http://schemas.microsoft.com/office/drawing/2014/main" id="{3C44B18E-AE62-61FB-C899-DFE98200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2A3671D-EFB0-8B49-99D3-AF5A22C5B9E1}" type="slidenum">
              <a:rPr lang="en-US" altLang="en-US"/>
              <a:pPr/>
              <a:t>19</a:t>
            </a:fld>
            <a:r>
              <a:rPr lang="en-US" altLang="en-US"/>
              <a:t> 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4269B12B-A349-3481-8D2C-714CB9689638}"/>
              </a:ext>
            </a:extLst>
          </p:cNvPr>
          <p:cNvGraphicFramePr>
            <a:graphicFrameLocks noGrp="1"/>
          </p:cNvGraphicFramePr>
          <p:nvPr/>
        </p:nvGraphicFramePr>
        <p:xfrm>
          <a:off x="342900" y="1539875"/>
          <a:ext cx="1887538" cy="1097280"/>
        </p:xfrm>
        <a:graphic>
          <a:graphicData uri="http://schemas.openxmlformats.org/drawingml/2006/table">
            <a:tbl>
              <a:tblPr/>
              <a:tblGrid>
                <a:gridCol w="515938">
                  <a:extLst>
                    <a:ext uri="{9D8B030D-6E8A-4147-A177-3AD203B41FA5}">
                      <a16:colId xmlns:a16="http://schemas.microsoft.com/office/drawing/2014/main" val="2129989155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1720456982"/>
                    </a:ext>
                  </a:extLst>
                </a:gridCol>
                <a:gridCol w="881063">
                  <a:extLst>
                    <a:ext uri="{9D8B030D-6E8A-4147-A177-3AD203B41FA5}">
                      <a16:colId xmlns:a16="http://schemas.microsoft.com/office/drawing/2014/main" val="885118046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986873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170004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180430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937758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2466D9E7-7CDF-E401-1EE0-077ECF4418E9}"/>
              </a:ext>
            </a:extLst>
          </p:cNvPr>
          <p:cNvGraphicFramePr>
            <a:graphicFrameLocks noGrp="1"/>
          </p:cNvGraphicFramePr>
          <p:nvPr/>
        </p:nvGraphicFramePr>
        <p:xfrm>
          <a:off x="-30163" y="1263650"/>
          <a:ext cx="2255838" cy="1371600"/>
        </p:xfrm>
        <a:graphic>
          <a:graphicData uri="http://schemas.openxmlformats.org/drawingml/2006/table">
            <a:tbl>
              <a:tblPr/>
              <a:tblGrid>
                <a:gridCol w="377826">
                  <a:extLst>
                    <a:ext uri="{9D8B030D-6E8A-4147-A177-3AD203B41FA5}">
                      <a16:colId xmlns:a16="http://schemas.microsoft.com/office/drawing/2014/main" val="2294910254"/>
                    </a:ext>
                  </a:extLst>
                </a:gridCol>
                <a:gridCol w="512762">
                  <a:extLst>
                    <a:ext uri="{9D8B030D-6E8A-4147-A177-3AD203B41FA5}">
                      <a16:colId xmlns:a16="http://schemas.microsoft.com/office/drawing/2014/main" val="709022265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1346022110"/>
                    </a:ext>
                  </a:extLst>
                </a:gridCol>
                <a:gridCol w="427038">
                  <a:extLst>
                    <a:ext uri="{9D8B030D-6E8A-4147-A177-3AD203B41FA5}">
                      <a16:colId xmlns:a16="http://schemas.microsoft.com/office/drawing/2014/main" val="2725974294"/>
                    </a:ext>
                  </a:extLst>
                </a:gridCol>
                <a:gridCol w="449262">
                  <a:extLst>
                    <a:ext uri="{9D8B030D-6E8A-4147-A177-3AD203B41FA5}">
                      <a16:colId xmlns:a16="http://schemas.microsoft.com/office/drawing/2014/main" val="2318125837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State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Tag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Data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221036"/>
                  </a:ext>
                </a:extLst>
              </a:tr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B0</a:t>
                      </a:r>
                    </a:p>
                  </a:txBody>
                  <a:tcPr marR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4517786"/>
                  </a:ext>
                </a:extLst>
              </a:tr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B1</a:t>
                      </a:r>
                    </a:p>
                  </a:txBody>
                  <a:tcPr marR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108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510163"/>
                  </a:ext>
                </a:extLst>
              </a:tr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B2</a:t>
                      </a:r>
                    </a:p>
                  </a:txBody>
                  <a:tcPr marR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489528"/>
                  </a:ext>
                </a:extLst>
              </a:tr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B3</a:t>
                      </a:r>
                    </a:p>
                  </a:txBody>
                  <a:tcPr marR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118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197600"/>
                  </a:ext>
                </a:extLst>
              </a:tr>
            </a:tbl>
          </a:graphicData>
        </a:graphic>
      </p:graphicFrame>
      <p:cxnSp>
        <p:nvCxnSpPr>
          <p:cNvPr id="38965" name="Straight Connector 47">
            <a:extLst>
              <a:ext uri="{FF2B5EF4-FFF2-40B4-BE49-F238E27FC236}">
                <a16:creationId xmlns:a16="http://schemas.microsoft.com/office/drawing/2014/main" id="{7339912C-618C-7B0D-FAC2-28EDA19A77B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244601" y="2079625"/>
            <a:ext cx="1096962" cy="1587"/>
          </a:xfrm>
          <a:prstGeom prst="line">
            <a:avLst/>
          </a:prstGeom>
          <a:noFill/>
          <a:ln w="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66" name="TextBox 51">
            <a:extLst>
              <a:ext uri="{FF2B5EF4-FFF2-40B4-BE49-F238E27FC236}">
                <a16:creationId xmlns:a16="http://schemas.microsoft.com/office/drawing/2014/main" id="{A9F267BF-DD90-6A93-2932-6D4589FA4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8" y="1017588"/>
            <a:ext cx="4349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 sz="1600"/>
              <a:t>P1</a:t>
            </a:r>
          </a:p>
        </p:txBody>
      </p:sp>
      <p:sp>
        <p:nvSpPr>
          <p:cNvPr id="38967" name="Rectangle 62">
            <a:extLst>
              <a:ext uri="{FF2B5EF4-FFF2-40B4-BE49-F238E27FC236}">
                <a16:creationId xmlns:a16="http://schemas.microsoft.com/office/drawing/2014/main" id="{D86B7DD6-99FF-9F07-5911-815B3399B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976313"/>
            <a:ext cx="2201862" cy="180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CA" altLang="en-US"/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D706AFC2-5412-7CCF-D780-45E4B37C97FC}"/>
              </a:ext>
            </a:extLst>
          </p:cNvPr>
          <p:cNvGraphicFramePr>
            <a:graphicFrameLocks noGrp="1"/>
          </p:cNvGraphicFramePr>
          <p:nvPr/>
        </p:nvGraphicFramePr>
        <p:xfrm>
          <a:off x="2606675" y="1538288"/>
          <a:ext cx="1887538" cy="1097280"/>
        </p:xfrm>
        <a:graphic>
          <a:graphicData uri="http://schemas.openxmlformats.org/drawingml/2006/table">
            <a:tbl>
              <a:tblPr/>
              <a:tblGrid>
                <a:gridCol w="515938">
                  <a:extLst>
                    <a:ext uri="{9D8B030D-6E8A-4147-A177-3AD203B41FA5}">
                      <a16:colId xmlns:a16="http://schemas.microsoft.com/office/drawing/2014/main" val="11982018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1369584391"/>
                    </a:ext>
                  </a:extLst>
                </a:gridCol>
                <a:gridCol w="881063">
                  <a:extLst>
                    <a:ext uri="{9D8B030D-6E8A-4147-A177-3AD203B41FA5}">
                      <a16:colId xmlns:a16="http://schemas.microsoft.com/office/drawing/2014/main" val="2471226561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827695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700023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937103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55564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9E3F5EDE-9AAB-860B-637E-FA559C313ABF}"/>
              </a:ext>
            </a:extLst>
          </p:cNvPr>
          <p:cNvGraphicFramePr>
            <a:graphicFrameLocks noGrp="1"/>
          </p:cNvGraphicFramePr>
          <p:nvPr/>
        </p:nvGraphicFramePr>
        <p:xfrm>
          <a:off x="2233613" y="1274763"/>
          <a:ext cx="2255837" cy="1371600"/>
        </p:xfrm>
        <a:graphic>
          <a:graphicData uri="http://schemas.openxmlformats.org/drawingml/2006/table">
            <a:tbl>
              <a:tblPr/>
              <a:tblGrid>
                <a:gridCol w="377825">
                  <a:extLst>
                    <a:ext uri="{9D8B030D-6E8A-4147-A177-3AD203B41FA5}">
                      <a16:colId xmlns:a16="http://schemas.microsoft.com/office/drawing/2014/main" val="696483895"/>
                    </a:ext>
                  </a:extLst>
                </a:gridCol>
                <a:gridCol w="512762">
                  <a:extLst>
                    <a:ext uri="{9D8B030D-6E8A-4147-A177-3AD203B41FA5}">
                      <a16:colId xmlns:a16="http://schemas.microsoft.com/office/drawing/2014/main" val="1121443055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247610000"/>
                    </a:ext>
                  </a:extLst>
                </a:gridCol>
                <a:gridCol w="427038">
                  <a:extLst>
                    <a:ext uri="{9D8B030D-6E8A-4147-A177-3AD203B41FA5}">
                      <a16:colId xmlns:a16="http://schemas.microsoft.com/office/drawing/2014/main" val="1132211426"/>
                    </a:ext>
                  </a:extLst>
                </a:gridCol>
                <a:gridCol w="449262">
                  <a:extLst>
                    <a:ext uri="{9D8B030D-6E8A-4147-A177-3AD203B41FA5}">
                      <a16:colId xmlns:a16="http://schemas.microsoft.com/office/drawing/2014/main" val="2689335604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State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Tag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Data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474815"/>
                  </a:ext>
                </a:extLst>
              </a:tr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B0</a:t>
                      </a:r>
                    </a:p>
                  </a:txBody>
                  <a:tcPr marR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057508"/>
                  </a:ext>
                </a:extLst>
              </a:tr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B1</a:t>
                      </a:r>
                    </a:p>
                  </a:txBody>
                  <a:tcPr marR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128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54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504925"/>
                  </a:ext>
                </a:extLst>
              </a:tr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B2</a:t>
                      </a:r>
                    </a:p>
                  </a:txBody>
                  <a:tcPr marR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116941"/>
                  </a:ext>
                </a:extLst>
              </a:tr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B3</a:t>
                      </a:r>
                    </a:p>
                  </a:txBody>
                  <a:tcPr marR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118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094119"/>
                  </a:ext>
                </a:extLst>
              </a:tr>
            </a:tbl>
          </a:graphicData>
        </a:graphic>
      </p:graphicFrame>
      <p:cxnSp>
        <p:nvCxnSpPr>
          <p:cNvPr id="39015" name="Straight Connector 65">
            <a:extLst>
              <a:ext uri="{FF2B5EF4-FFF2-40B4-BE49-F238E27FC236}">
                <a16:creationId xmlns:a16="http://schemas.microsoft.com/office/drawing/2014/main" id="{9C098310-305E-2869-7429-204BEC66E08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507582" y="2077244"/>
            <a:ext cx="1098550" cy="1587"/>
          </a:xfrm>
          <a:prstGeom prst="line">
            <a:avLst/>
          </a:prstGeom>
          <a:noFill/>
          <a:ln w="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016" name="TextBox 66">
            <a:extLst>
              <a:ext uri="{FF2B5EF4-FFF2-40B4-BE49-F238E27FC236}">
                <a16:creationId xmlns:a16="http://schemas.microsoft.com/office/drawing/2014/main" id="{2C6DDC2D-BFEC-F0C9-BDEE-EA503E543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4263" y="1016000"/>
            <a:ext cx="434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 sz="1600"/>
              <a:t>P2</a:t>
            </a:r>
          </a:p>
        </p:txBody>
      </p:sp>
      <p:sp>
        <p:nvSpPr>
          <p:cNvPr id="39017" name="Rectangle 67">
            <a:extLst>
              <a:ext uri="{FF2B5EF4-FFF2-40B4-BE49-F238E27FC236}">
                <a16:creationId xmlns:a16="http://schemas.microsoft.com/office/drawing/2014/main" id="{10B4DF3E-C3D4-A461-9D8E-166CF652D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3275" y="963613"/>
            <a:ext cx="2201863" cy="180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CA" altLang="en-US"/>
          </a:p>
        </p:txBody>
      </p:sp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D2C12FC3-066F-B43C-3D92-F006C7FA78B8}"/>
              </a:ext>
            </a:extLst>
          </p:cNvPr>
          <p:cNvGraphicFramePr>
            <a:graphicFrameLocks noGrp="1"/>
          </p:cNvGraphicFramePr>
          <p:nvPr/>
        </p:nvGraphicFramePr>
        <p:xfrm>
          <a:off x="4878388" y="1525588"/>
          <a:ext cx="1887537" cy="1097280"/>
        </p:xfrm>
        <a:graphic>
          <a:graphicData uri="http://schemas.openxmlformats.org/drawingml/2006/table">
            <a:tbl>
              <a:tblPr/>
              <a:tblGrid>
                <a:gridCol w="515937">
                  <a:extLst>
                    <a:ext uri="{9D8B030D-6E8A-4147-A177-3AD203B41FA5}">
                      <a16:colId xmlns:a16="http://schemas.microsoft.com/office/drawing/2014/main" val="1027953301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4000156814"/>
                    </a:ext>
                  </a:extLst>
                </a:gridCol>
                <a:gridCol w="881062">
                  <a:extLst>
                    <a:ext uri="{9D8B030D-6E8A-4147-A177-3AD203B41FA5}">
                      <a16:colId xmlns:a16="http://schemas.microsoft.com/office/drawing/2014/main" val="733238346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891415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758365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335535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7805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E8906DAF-FC12-224E-A48A-FB6628D3CFB5}"/>
              </a:ext>
            </a:extLst>
          </p:cNvPr>
          <p:cNvGraphicFramePr>
            <a:graphicFrameLocks noGrp="1"/>
          </p:cNvGraphicFramePr>
          <p:nvPr/>
        </p:nvGraphicFramePr>
        <p:xfrm>
          <a:off x="4505325" y="1249363"/>
          <a:ext cx="2255838" cy="1371600"/>
        </p:xfrm>
        <a:graphic>
          <a:graphicData uri="http://schemas.openxmlformats.org/drawingml/2006/table">
            <a:tbl>
              <a:tblPr/>
              <a:tblGrid>
                <a:gridCol w="377825">
                  <a:extLst>
                    <a:ext uri="{9D8B030D-6E8A-4147-A177-3AD203B41FA5}">
                      <a16:colId xmlns:a16="http://schemas.microsoft.com/office/drawing/2014/main" val="278476559"/>
                    </a:ext>
                  </a:extLst>
                </a:gridCol>
                <a:gridCol w="512763">
                  <a:extLst>
                    <a:ext uri="{9D8B030D-6E8A-4147-A177-3AD203B41FA5}">
                      <a16:colId xmlns:a16="http://schemas.microsoft.com/office/drawing/2014/main" val="613332193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3711731380"/>
                    </a:ext>
                  </a:extLst>
                </a:gridCol>
                <a:gridCol w="427037">
                  <a:extLst>
                    <a:ext uri="{9D8B030D-6E8A-4147-A177-3AD203B41FA5}">
                      <a16:colId xmlns:a16="http://schemas.microsoft.com/office/drawing/2014/main" val="3530003919"/>
                    </a:ext>
                  </a:extLst>
                </a:gridCol>
                <a:gridCol w="449263">
                  <a:extLst>
                    <a:ext uri="{9D8B030D-6E8A-4147-A177-3AD203B41FA5}">
                      <a16:colId xmlns:a16="http://schemas.microsoft.com/office/drawing/2014/main" val="2082585094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State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Tag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Data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322086"/>
                  </a:ext>
                </a:extLst>
              </a:tr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B0</a:t>
                      </a:r>
                    </a:p>
                  </a:txBody>
                  <a:tcPr marR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606952"/>
                  </a:ext>
                </a:extLst>
              </a:tr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B1</a:t>
                      </a:r>
                    </a:p>
                  </a:txBody>
                  <a:tcPr marR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108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42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734267"/>
                  </a:ext>
                </a:extLst>
              </a:tr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B2</a:t>
                      </a:r>
                    </a:p>
                  </a:txBody>
                  <a:tcPr marR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DF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FF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195936"/>
                  </a:ext>
                </a:extLst>
              </a:tr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B3</a:t>
                      </a:r>
                    </a:p>
                  </a:txBody>
                  <a:tcPr marR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138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35494"/>
                  </a:ext>
                </a:extLst>
              </a:tr>
            </a:tbl>
          </a:graphicData>
        </a:graphic>
      </p:graphicFrame>
      <p:cxnSp>
        <p:nvCxnSpPr>
          <p:cNvPr id="39065" name="Straight Connector 70">
            <a:extLst>
              <a:ext uri="{FF2B5EF4-FFF2-40B4-BE49-F238E27FC236}">
                <a16:creationId xmlns:a16="http://schemas.microsoft.com/office/drawing/2014/main" id="{42D3A23A-5617-5559-36B5-E822EA7EDCF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780088" y="2063750"/>
            <a:ext cx="1096962" cy="1588"/>
          </a:xfrm>
          <a:prstGeom prst="line">
            <a:avLst/>
          </a:prstGeom>
          <a:noFill/>
          <a:ln w="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066" name="TextBox 71">
            <a:extLst>
              <a:ext uri="{FF2B5EF4-FFF2-40B4-BE49-F238E27FC236}">
                <a16:creationId xmlns:a16="http://schemas.microsoft.com/office/drawing/2014/main" id="{A71253C7-A5F8-0B48-99C8-41A948044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975" y="1001713"/>
            <a:ext cx="4349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 sz="1600"/>
              <a:t>P3</a:t>
            </a:r>
          </a:p>
        </p:txBody>
      </p:sp>
      <p:sp>
        <p:nvSpPr>
          <p:cNvPr id="39067" name="Rectangle 72">
            <a:extLst>
              <a:ext uri="{FF2B5EF4-FFF2-40B4-BE49-F238E27FC236}">
                <a16:creationId xmlns:a16="http://schemas.microsoft.com/office/drawing/2014/main" id="{F4FDEBF1-D74E-D836-EA84-C289CF5BD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962025"/>
            <a:ext cx="2201863" cy="180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CA" altLang="en-US"/>
          </a:p>
        </p:txBody>
      </p:sp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939B981E-74C4-5B93-FAE1-BC35768CE506}"/>
              </a:ext>
            </a:extLst>
          </p:cNvPr>
          <p:cNvGraphicFramePr>
            <a:graphicFrameLocks noGrp="1"/>
          </p:cNvGraphicFramePr>
          <p:nvPr/>
        </p:nvGraphicFramePr>
        <p:xfrm>
          <a:off x="7142163" y="1522413"/>
          <a:ext cx="1887537" cy="1097280"/>
        </p:xfrm>
        <a:graphic>
          <a:graphicData uri="http://schemas.openxmlformats.org/drawingml/2006/table">
            <a:tbl>
              <a:tblPr/>
              <a:tblGrid>
                <a:gridCol w="515937">
                  <a:extLst>
                    <a:ext uri="{9D8B030D-6E8A-4147-A177-3AD203B41FA5}">
                      <a16:colId xmlns:a16="http://schemas.microsoft.com/office/drawing/2014/main" val="905148414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1742428735"/>
                    </a:ext>
                  </a:extLst>
                </a:gridCol>
                <a:gridCol w="881062">
                  <a:extLst>
                    <a:ext uri="{9D8B030D-6E8A-4147-A177-3AD203B41FA5}">
                      <a16:colId xmlns:a16="http://schemas.microsoft.com/office/drawing/2014/main" val="122437099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91401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453625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083455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357834"/>
                  </a:ext>
                </a:extLst>
              </a:tr>
            </a:tbl>
          </a:graphicData>
        </a:graphic>
      </p:graphicFrame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323E6FD9-9479-556D-9377-A86893080E71}"/>
              </a:ext>
            </a:extLst>
          </p:cNvPr>
          <p:cNvGraphicFramePr>
            <a:graphicFrameLocks noGrp="1"/>
          </p:cNvGraphicFramePr>
          <p:nvPr/>
        </p:nvGraphicFramePr>
        <p:xfrm>
          <a:off x="6769100" y="1260475"/>
          <a:ext cx="2255838" cy="1371600"/>
        </p:xfrm>
        <a:graphic>
          <a:graphicData uri="http://schemas.openxmlformats.org/drawingml/2006/table">
            <a:tbl>
              <a:tblPr/>
              <a:tblGrid>
                <a:gridCol w="377825">
                  <a:extLst>
                    <a:ext uri="{9D8B030D-6E8A-4147-A177-3AD203B41FA5}">
                      <a16:colId xmlns:a16="http://schemas.microsoft.com/office/drawing/2014/main" val="2133539520"/>
                    </a:ext>
                  </a:extLst>
                </a:gridCol>
                <a:gridCol w="512763">
                  <a:extLst>
                    <a:ext uri="{9D8B030D-6E8A-4147-A177-3AD203B41FA5}">
                      <a16:colId xmlns:a16="http://schemas.microsoft.com/office/drawing/2014/main" val="2993108848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1116723161"/>
                    </a:ext>
                  </a:extLst>
                </a:gridCol>
                <a:gridCol w="427037">
                  <a:extLst>
                    <a:ext uri="{9D8B030D-6E8A-4147-A177-3AD203B41FA5}">
                      <a16:colId xmlns:a16="http://schemas.microsoft.com/office/drawing/2014/main" val="1429581995"/>
                    </a:ext>
                  </a:extLst>
                </a:gridCol>
                <a:gridCol w="449263">
                  <a:extLst>
                    <a:ext uri="{9D8B030D-6E8A-4147-A177-3AD203B41FA5}">
                      <a16:colId xmlns:a16="http://schemas.microsoft.com/office/drawing/2014/main" val="1466704410"/>
                    </a:ext>
                  </a:extLst>
                </a:gridCol>
              </a:tblGrid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State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Tag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Data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274359"/>
                  </a:ext>
                </a:extLst>
              </a:tr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B0</a:t>
                      </a:r>
                    </a:p>
                  </a:txBody>
                  <a:tcPr marR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214491"/>
                  </a:ext>
                </a:extLst>
              </a:tr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B1</a:t>
                      </a:r>
                    </a:p>
                  </a:txBody>
                  <a:tcPr marR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108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42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665670"/>
                  </a:ext>
                </a:extLst>
              </a:tr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B2</a:t>
                      </a:r>
                    </a:p>
                  </a:txBody>
                  <a:tcPr marR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130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654867"/>
                  </a:ext>
                </a:extLst>
              </a:tr>
              <a:tr h="2413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B3</a:t>
                      </a:r>
                    </a:p>
                  </a:txBody>
                  <a:tcPr marR="36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118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674987"/>
                  </a:ext>
                </a:extLst>
              </a:tr>
            </a:tbl>
          </a:graphicData>
        </a:graphic>
      </p:graphicFrame>
      <p:cxnSp>
        <p:nvCxnSpPr>
          <p:cNvPr id="39115" name="Straight Connector 75">
            <a:extLst>
              <a:ext uri="{FF2B5EF4-FFF2-40B4-BE49-F238E27FC236}">
                <a16:creationId xmlns:a16="http://schemas.microsoft.com/office/drawing/2014/main" id="{6C18EF19-B51D-DA55-019B-1F64887B6BC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8043862" y="2062163"/>
            <a:ext cx="1096963" cy="1588"/>
          </a:xfrm>
          <a:prstGeom prst="line">
            <a:avLst/>
          </a:prstGeom>
          <a:noFill/>
          <a:ln w="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116" name="TextBox 76">
            <a:extLst>
              <a:ext uri="{FF2B5EF4-FFF2-40B4-BE49-F238E27FC236}">
                <a16:creationId xmlns:a16="http://schemas.microsoft.com/office/drawing/2014/main" id="{591D8022-2200-9616-799D-B0019558F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50" y="1000125"/>
            <a:ext cx="434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 sz="1600"/>
              <a:t>P4</a:t>
            </a:r>
          </a:p>
        </p:txBody>
      </p:sp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21C2ADD0-E9C4-2C97-9E90-F1D3DD181B4F}"/>
              </a:ext>
            </a:extLst>
          </p:cNvPr>
          <p:cNvGraphicFramePr>
            <a:graphicFrameLocks noGrp="1"/>
          </p:cNvGraphicFramePr>
          <p:nvPr/>
        </p:nvGraphicFramePr>
        <p:xfrm>
          <a:off x="1525588" y="3559175"/>
          <a:ext cx="1371600" cy="2468880"/>
        </p:xfrm>
        <a:graphic>
          <a:graphicData uri="http://schemas.openxmlformats.org/drawingml/2006/table">
            <a:tbl>
              <a:tblPr/>
              <a:tblGrid>
                <a:gridCol w="492125">
                  <a:extLst>
                    <a:ext uri="{9D8B030D-6E8A-4147-A177-3AD203B41FA5}">
                      <a16:colId xmlns:a16="http://schemas.microsoft.com/office/drawing/2014/main" val="3300413033"/>
                    </a:ext>
                  </a:extLst>
                </a:gridCol>
                <a:gridCol w="879475">
                  <a:extLst>
                    <a:ext uri="{9D8B030D-6E8A-4147-A177-3AD203B41FA5}">
                      <a16:colId xmlns:a16="http://schemas.microsoft.com/office/drawing/2014/main" val="2671898624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011347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801713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054442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620028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307337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832839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172310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118867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140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689421"/>
                  </a:ext>
                </a:extLst>
              </a:tr>
            </a:tbl>
          </a:graphicData>
        </a:graphic>
      </p:graphicFrame>
      <p:cxnSp>
        <p:nvCxnSpPr>
          <p:cNvPr id="39149" name="Straight Connector 78">
            <a:extLst>
              <a:ext uri="{FF2B5EF4-FFF2-40B4-BE49-F238E27FC236}">
                <a16:creationId xmlns:a16="http://schemas.microsoft.com/office/drawing/2014/main" id="{71F91F13-2160-F5C4-DCB3-7C80BCF120B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222375" y="4802188"/>
            <a:ext cx="2476500" cy="0"/>
          </a:xfrm>
          <a:prstGeom prst="line">
            <a:avLst/>
          </a:prstGeom>
          <a:noFill/>
          <a:ln w="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150" name="Straight Connector 81">
            <a:extLst>
              <a:ext uri="{FF2B5EF4-FFF2-40B4-BE49-F238E27FC236}">
                <a16:creationId xmlns:a16="http://schemas.microsoft.com/office/drawing/2014/main" id="{37C878A9-FE43-B432-C5D2-81B5A7165D3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9563" y="3194050"/>
            <a:ext cx="8383587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151" name="Straight Arrow Connector 83">
            <a:extLst>
              <a:ext uri="{FF2B5EF4-FFF2-40B4-BE49-F238E27FC236}">
                <a16:creationId xmlns:a16="http://schemas.microsoft.com/office/drawing/2014/main" id="{E7339246-FAED-48AE-E162-CD70FD150ED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089026" y="2994025"/>
            <a:ext cx="398462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152" name="Straight Arrow Connector 84">
            <a:extLst>
              <a:ext uri="{FF2B5EF4-FFF2-40B4-BE49-F238E27FC236}">
                <a16:creationId xmlns:a16="http://schemas.microsoft.com/office/drawing/2014/main" id="{28ADB5B9-EE96-C2AB-BC6D-598C986EA1B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314700" y="2992438"/>
            <a:ext cx="398463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153" name="Straight Arrow Connector 85">
            <a:extLst>
              <a:ext uri="{FF2B5EF4-FFF2-40B4-BE49-F238E27FC236}">
                <a16:creationId xmlns:a16="http://schemas.microsoft.com/office/drawing/2014/main" id="{DAD48551-D8AD-E33C-A9F7-71D6A98E97D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655469" y="2977356"/>
            <a:ext cx="40005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154" name="Straight Arrow Connector 86">
            <a:extLst>
              <a:ext uri="{FF2B5EF4-FFF2-40B4-BE49-F238E27FC236}">
                <a16:creationId xmlns:a16="http://schemas.microsoft.com/office/drawing/2014/main" id="{07EA3E4E-ADF1-1EFA-DA8C-AEE97ADC5637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921626" y="2949575"/>
            <a:ext cx="398462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155" name="Straight Arrow Connector 87">
            <a:extLst>
              <a:ext uri="{FF2B5EF4-FFF2-40B4-BE49-F238E27FC236}">
                <a16:creationId xmlns:a16="http://schemas.microsoft.com/office/drawing/2014/main" id="{6FCB8653-F865-B786-36F8-7FFB981B3EA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014538" y="3378200"/>
            <a:ext cx="398462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453A8010-3E97-FDE9-F797-F9B3FF71C32C}"/>
              </a:ext>
            </a:extLst>
          </p:cNvPr>
          <p:cNvGraphicFramePr>
            <a:graphicFrameLocks noGrp="1"/>
          </p:cNvGraphicFramePr>
          <p:nvPr/>
        </p:nvGraphicFramePr>
        <p:xfrm>
          <a:off x="2025650" y="3557588"/>
          <a:ext cx="881063" cy="2468880"/>
        </p:xfrm>
        <a:graphic>
          <a:graphicData uri="http://schemas.openxmlformats.org/drawingml/2006/table">
            <a:tbl>
              <a:tblPr/>
              <a:tblGrid>
                <a:gridCol w="439738">
                  <a:extLst>
                    <a:ext uri="{9D8B030D-6E8A-4147-A177-3AD203B41FA5}">
                      <a16:colId xmlns:a16="http://schemas.microsoft.com/office/drawing/2014/main" val="878004180"/>
                    </a:ext>
                  </a:extLst>
                </a:gridCol>
                <a:gridCol w="441325">
                  <a:extLst>
                    <a:ext uri="{9D8B030D-6E8A-4147-A177-3AD203B41FA5}">
                      <a16:colId xmlns:a16="http://schemas.microsoft.com/office/drawing/2014/main" val="3253033549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376034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42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296877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899379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080436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609515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54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779215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313292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936675"/>
                  </a:ext>
                </a:extLst>
              </a:tr>
              <a:tr h="2667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defTabSz="4572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74582"/>
                  </a:ext>
                </a:extLst>
              </a:tr>
            </a:tbl>
          </a:graphicData>
        </a:graphic>
      </p:graphicFrame>
      <p:sp>
        <p:nvSpPr>
          <p:cNvPr id="39175" name="TextBox 90">
            <a:extLst>
              <a:ext uri="{FF2B5EF4-FFF2-40B4-BE49-F238E27FC236}">
                <a16:creationId xmlns:a16="http://schemas.microsoft.com/office/drawing/2014/main" id="{3D1597C7-EEBE-2098-3927-EB7A00D19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4391025"/>
            <a:ext cx="11096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 sz="2000"/>
              <a:t>Memory</a:t>
            </a:r>
          </a:p>
        </p:txBody>
      </p:sp>
      <p:sp>
        <p:nvSpPr>
          <p:cNvPr id="39176" name="TextBox 91">
            <a:extLst>
              <a:ext uri="{FF2B5EF4-FFF2-40B4-BE49-F238E27FC236}">
                <a16:creationId xmlns:a16="http://schemas.microsoft.com/office/drawing/2014/main" id="{5FFDA627-8E44-201B-830D-47E9CD2B1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575" y="6065838"/>
            <a:ext cx="1568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CA" altLang="en-US"/>
              <a:t>Address      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ＭＳ Ｐゴシック"/>
        <a:cs typeface="ＭＳ Ｐゴシック"/>
      </a:majorFont>
      <a:minorFont>
        <a:latin typeface="Comic Sans MS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6" charset="-52"/>
            <a:ea typeface="ＭＳ Ｐゴシック" pitchFamily="-106" charset="-128"/>
            <a:cs typeface="ＭＳ Ｐゴシック" pitchFamily="-106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6" charset="-52"/>
            <a:ea typeface="ＭＳ Ｐゴシック" pitchFamily="-106" charset="-128"/>
            <a:cs typeface="ＭＳ Ｐゴシック" pitchFamily="-106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40389</TotalTime>
  <Words>1557</Words>
  <Application>Microsoft Macintosh PowerPoint</Application>
  <PresentationFormat>On-screen Show (4:3)</PresentationFormat>
  <Paragraphs>471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 </vt:lpstr>
      <vt:lpstr>Comic Sans MS</vt:lpstr>
      <vt:lpstr>Symbol</vt:lpstr>
      <vt:lpstr>Times New Roman</vt:lpstr>
      <vt:lpstr>Wingdings 2</vt:lpstr>
      <vt:lpstr>Blank Presentation</vt:lpstr>
      <vt:lpstr>CPEN 411: Computer Architecture   Slide Set #18: Cache Coherence (Part 1)</vt:lpstr>
      <vt:lpstr>Introduction to Slide Set 18</vt:lpstr>
      <vt:lpstr>Learning Objectives</vt:lpstr>
      <vt:lpstr>Recall: Cache Coherence Problem</vt:lpstr>
      <vt:lpstr>Coherence Invariants</vt:lpstr>
      <vt:lpstr>Coherence States</vt:lpstr>
      <vt:lpstr>PowerPoint Presentation</vt:lpstr>
      <vt:lpstr>Implementing Cache Coherence</vt:lpstr>
      <vt:lpstr>Coherence, Simplified</vt:lpstr>
      <vt:lpstr>Coherence Protocol States</vt:lpstr>
      <vt:lpstr>Directory vs. Snoop Protocols</vt:lpstr>
      <vt:lpstr>Snooping Cache-Coherence Protocols</vt:lpstr>
      <vt:lpstr>MSI Snoop Protocol </vt:lpstr>
      <vt:lpstr>PowerPoint Presentation</vt:lpstr>
      <vt:lpstr>Write-Back State Machine – CPU </vt:lpstr>
      <vt:lpstr>Block-replacement </vt:lpstr>
      <vt:lpstr>Write-Back State Machine- Bus request </vt:lpstr>
      <vt:lpstr>Write-back State Machine-III  </vt:lpstr>
      <vt:lpstr>Example</vt:lpstr>
    </vt:vector>
  </TitlesOfParts>
  <Company>Tor M. Aamodt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does a cache work?</dc:title>
  <dc:creator>Tor M. Aamodt</dc:creator>
  <cp:lastModifiedBy>Tor Aamodt</cp:lastModifiedBy>
  <cp:revision>140</cp:revision>
  <cp:lastPrinted>2008-11-05T16:11:47Z</cp:lastPrinted>
  <dcterms:created xsi:type="dcterms:W3CDTF">2013-11-19T20:09:31Z</dcterms:created>
  <dcterms:modified xsi:type="dcterms:W3CDTF">2025-11-26T01:53:32Z</dcterms:modified>
</cp:coreProperties>
</file>