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PT Sans"/>
        <a:ea typeface="PT Sans"/>
        <a:cs typeface="PT Sans"/>
        <a:sym typeface="PT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7CA"/>
          </a:solidFill>
        </a:fill>
      </a:tcStyle>
    </a:wholeTbl>
    <a:band2H>
      <a:tcTxStyle/>
      <a:tcStyle>
        <a:tcBdr/>
        <a:fill>
          <a:solidFill>
            <a:srgbClr val="FCECE6"/>
          </a:solidFill>
        </a:fill>
      </a:tcStyle>
    </a:band2H>
    <a:firstCol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0D6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9DDD0"/>
          </a:solidFill>
        </a:fill>
      </a:tcStyle>
    </a:wholeTbl>
    <a:band2H>
      <a:tcTxStyle/>
      <a:tcStyle>
        <a:tcBdr/>
        <a:fill>
          <a:solidFill>
            <a:srgbClr val="F4EFE9"/>
          </a:solidFill>
        </a:fill>
      </a:tcStyle>
    </a:band2H>
    <a:firstCol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T Sans"/>
          <a:ea typeface="PT Sans"/>
          <a:cs typeface="PT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T Sans"/>
          <a:ea typeface="PT Sans"/>
          <a:cs typeface="PT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1143000" y="841771"/>
            <a:ext cx="6858000" cy="17907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2701527"/>
            <a:ext cx="6858000" cy="124182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623887" y="1282304"/>
            <a:ext cx="7886701" cy="2139554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887" y="3442098"/>
            <a:ext cx="7886701" cy="112514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629841" y="273845"/>
            <a:ext cx="7886701" cy="994172"/>
          </a:xfrm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260871"/>
            <a:ext cx="3868341" cy="61793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29151" y="1260871"/>
            <a:ext cx="3887392" cy="617935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LICK TO EDIT MASTER TITLE STY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87391" y="740570"/>
            <a:ext cx="4629151" cy="365522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29840" y="1543050"/>
            <a:ext cx="2949180" cy="285869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87391" y="740570"/>
            <a:ext cx="4629151" cy="36552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543050"/>
            <a:ext cx="2949178" cy="28586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MASTER TITLE STYLE"/>
          <p:cNvSpPr txBox="1">
            <a:spLocks noGrp="1"/>
          </p:cNvSpPr>
          <p:nvPr>
            <p:ph type="title" hasCustomPrompt="1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74051" y="4772283"/>
            <a:ext cx="241301" cy="2638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chemeClr val="accent2"/>
          </a:solidFill>
          <a:uFillTx/>
          <a:latin typeface="PT Sans Narrow"/>
          <a:ea typeface="PT Sans Narrow"/>
          <a:cs typeface="PT Sans Narrow"/>
          <a:sym typeface="PT Sans Narrow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PT Sans"/>
          <a:ea typeface="PT Sans"/>
          <a:cs typeface="PT Sans"/>
          <a:sym typeface="PT San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T Sans Narro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xfrm>
            <a:off x="0" y="841771"/>
            <a:ext cx="9144000" cy="1790701"/>
          </a:xfrm>
          <a:prstGeom prst="rect">
            <a:avLst/>
          </a:prstGeom>
        </p:spPr>
        <p:txBody>
          <a:bodyPr/>
          <a:lstStyle/>
          <a:p>
            <a:r>
              <a:t>LOAD / STORE PROCESSING</a:t>
            </a:r>
          </a:p>
        </p:txBody>
      </p:sp>
      <p:sp>
        <p:nvSpPr>
          <p:cNvPr id="95" name="Subtitle 2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PT Sans Narrow"/>
                <a:ea typeface="PT Sans Narrow"/>
                <a:cs typeface="PT Sans Narrow"/>
                <a:sym typeface="PT Sans Narrow"/>
              </a:defRPr>
            </a:pPr>
            <a:endParaRPr/>
          </a:p>
          <a:p>
            <a:pPr>
              <a:defRPr>
                <a:latin typeface="PT Sans Narrow"/>
                <a:ea typeface="PT Sans Narrow"/>
                <a:cs typeface="PT Sans Narrow"/>
                <a:sym typeface="PT Sans Narrow"/>
              </a:defRPr>
            </a:pPr>
            <a:r>
              <a:t>CPEN 411</a:t>
            </a:r>
          </a:p>
        </p:txBody>
      </p:sp>
      <p:pic>
        <p:nvPicPr>
          <p:cNvPr id="96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4" y="4479083"/>
            <a:ext cx="2954867" cy="4548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500" y="-99931"/>
            <a:ext cx="6619493" cy="532774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7" name="Group 11"/>
          <p:cNvGrpSpPr/>
          <p:nvPr/>
        </p:nvGrpSpPr>
        <p:grpSpPr>
          <a:xfrm>
            <a:off x="2862560" y="2690573"/>
            <a:ext cx="1119491" cy="2475827"/>
            <a:chOff x="0" y="0"/>
            <a:chExt cx="1119489" cy="2475826"/>
          </a:xfrm>
        </p:grpSpPr>
        <p:pic>
          <p:nvPicPr>
            <p:cNvPr id="104" name="Ink 13" descr="Ink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75" y="0"/>
              <a:ext cx="1070268" cy="18030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" name="Ink 14" descr="Ink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57292"/>
              <a:ext cx="202729" cy="28428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6" name="TextBox 17"/>
            <p:cNvSpPr txBox="1"/>
            <p:nvPr/>
          </p:nvSpPr>
          <p:spPr>
            <a:xfrm>
              <a:off x="67445" y="1774786"/>
              <a:ext cx="1052045" cy="701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 algn="ctr">
                <a:defRPr sz="2100" b="1">
                  <a:solidFill>
                    <a:srgbClr val="FF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memory</a:t>
              </a:r>
            </a:p>
            <a:p>
              <a:pPr algn="ctr">
                <a:defRPr sz="2100" b="1">
                  <a:solidFill>
                    <a:srgbClr val="FF0000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data flow</a:t>
              </a: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500" y="-99931"/>
            <a:ext cx="6619493" cy="53277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Ink 20" descr="Ink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679" y="3101475"/>
            <a:ext cx="1244254" cy="6150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"/>
            <a:ext cx="9144000" cy="924185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Rectangle 2"/>
          <p:cNvSpPr/>
          <p:nvPr/>
        </p:nvSpPr>
        <p:spPr>
          <a:xfrm>
            <a:off x="1757679" y="495300"/>
            <a:ext cx="7386320" cy="381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4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19300" cy="495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4" descr="Picture 4"/>
          <p:cNvPicPr>
            <a:picLocks noChangeAspect="1"/>
          </p:cNvPicPr>
          <p:nvPr/>
        </p:nvPicPr>
        <p:blipFill>
          <a:blip r:embed="rId4"/>
          <a:srcRect b="29326"/>
          <a:stretch>
            <a:fillRect/>
          </a:stretch>
        </p:blipFill>
        <p:spPr>
          <a:xfrm>
            <a:off x="1476840" y="1508385"/>
            <a:ext cx="6190319" cy="3635115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Rectangle 8"/>
          <p:cNvSpPr/>
          <p:nvPr/>
        </p:nvSpPr>
        <p:spPr>
          <a:xfrm>
            <a:off x="0" y="4287520"/>
            <a:ext cx="9144000" cy="855981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7" name="TextBox 5"/>
          <p:cNvSpPr txBox="1"/>
          <p:nvPr/>
        </p:nvSpPr>
        <p:spPr>
          <a:xfrm rot="20204550">
            <a:off x="3977695" y="3543162"/>
            <a:ext cx="4988561" cy="4615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 b="1">
                <a:solidFill>
                  <a:schemeClr val="accent2"/>
                </a:solidFill>
              </a:defRPr>
            </a:lvl1pPr>
          </a:lstStyle>
          <a:p>
            <a:r>
              <a:t>(Apple won on appeal, Sept 28, 2018)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Learning objectives</a:t>
            </a:r>
          </a:p>
        </p:txBody>
      </p:sp>
      <p:sp>
        <p:nvSpPr>
          <p:cNvPr id="12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7"/>
            <a:ext cx="8515350" cy="3774282"/>
          </a:xfrm>
          <a:prstGeom prst="rect">
            <a:avLst/>
          </a:prstGeom>
        </p:spPr>
        <p:txBody>
          <a:bodyPr/>
          <a:lstStyle/>
          <a:p>
            <a:r>
              <a:t>explain when loads can be reordered wrt stores</a:t>
            </a:r>
          </a:p>
          <a:p>
            <a:endParaRPr/>
          </a:p>
          <a:p>
            <a:r>
              <a:t>motivate, describe, and emulate the store buffer</a:t>
            </a:r>
          </a:p>
          <a:p>
            <a:endParaRPr/>
          </a:p>
          <a:p>
            <a:r>
              <a:t>motivate and explain the load-store queue (LSQ)</a:t>
            </a:r>
          </a:p>
          <a:p>
            <a:endParaRPr/>
          </a:p>
          <a:p>
            <a:r>
              <a:t>explain the need for memory dependency prediction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1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Load bypassing</a:t>
            </a:r>
          </a:p>
        </p:txBody>
      </p:sp>
      <p:sp>
        <p:nvSpPr>
          <p:cNvPr id="12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2875932"/>
            <a:ext cx="8515350" cy="2267569"/>
          </a:xfrm>
          <a:prstGeom prst="rect">
            <a:avLst/>
          </a:prstGeom>
        </p:spPr>
        <p:txBody>
          <a:bodyPr/>
          <a:lstStyle/>
          <a:p>
            <a:pPr marL="221742" indent="-221742" defTabSz="886968">
              <a:spcBef>
                <a:spcPts val="900"/>
              </a:spcBef>
              <a:defRPr sz="2716"/>
            </a:pPr>
            <a:r>
              <a:t>loads are on the critical path, stores are (usually) not</a:t>
            </a:r>
          </a:p>
          <a:p>
            <a:pPr marL="665226" lvl="1" indent="-221742" defTabSz="886968">
              <a:spcBef>
                <a:spcPts val="400"/>
              </a:spcBef>
              <a:defRPr sz="2328"/>
            </a:pPr>
            <a:endParaRPr/>
          </a:p>
          <a:p>
            <a:pPr marL="221742" indent="-221742" defTabSz="886968">
              <a:spcBef>
                <a:spcPts val="900"/>
              </a:spcBef>
              <a:defRPr sz="2716"/>
            </a:pPr>
            <a:r>
              <a:t>would like to use cache bandwidth for loads</a:t>
            </a:r>
            <a:br/>
            <a:r>
              <a:t>and send stores to the cache when free</a:t>
            </a:r>
            <a:br/>
            <a:r>
              <a:t>(~20% better performance)</a:t>
            </a:r>
          </a:p>
        </p:txBody>
      </p:sp>
      <p:sp>
        <p:nvSpPr>
          <p:cNvPr id="124" name="TextBox 3"/>
          <p:cNvSpPr txBox="1"/>
          <p:nvPr/>
        </p:nvSpPr>
        <p:spPr>
          <a:xfrm>
            <a:off x="2343984" y="1317486"/>
            <a:ext cx="2679462" cy="119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sw   r2, 0(r9)</a:t>
            </a:r>
          </a:p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lw   r2, 0(r8)</a:t>
            </a:r>
          </a:p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addi r4, r2, #0xf00</a:t>
            </a:r>
          </a:p>
        </p:txBody>
      </p:sp>
      <p:sp>
        <p:nvSpPr>
          <p:cNvPr id="127" name="Freeform 11"/>
          <p:cNvSpPr/>
          <p:nvPr/>
        </p:nvSpPr>
        <p:spPr>
          <a:xfrm>
            <a:off x="2187250" y="1317485"/>
            <a:ext cx="222025" cy="6386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600" extrusionOk="0">
                <a:moveTo>
                  <a:pt x="21351" y="21600"/>
                </a:moveTo>
                <a:cubicBezTo>
                  <a:pt x="14308" y="18000"/>
                  <a:pt x="254" y="15944"/>
                  <a:pt x="3" y="12344"/>
                </a:cubicBezTo>
                <a:cubicBezTo>
                  <a:pt x="-249" y="8744"/>
                  <a:pt x="16535" y="2057"/>
                  <a:pt x="19842" y="0"/>
                </a:cubicBezTo>
              </a:path>
            </a:pathLst>
          </a:custGeom>
          <a:ln w="38100">
            <a:solidFill>
              <a:schemeClr val="accent2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5" build="p" animBg="1" advAuto="0"/>
      <p:bldP spid="127" grpId="6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Store buffer</a:t>
            </a:r>
          </a:p>
        </p:txBody>
      </p:sp>
      <p:sp>
        <p:nvSpPr>
          <p:cNvPr id="13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559041"/>
          </a:xfrm>
          <a:prstGeom prst="rect">
            <a:avLst/>
          </a:prstGeom>
        </p:spPr>
        <p:txBody>
          <a:bodyPr/>
          <a:lstStyle/>
          <a:p>
            <a:pPr marL="217170" indent="-217170" defTabSz="868680">
              <a:spcBef>
                <a:spcPts val="900"/>
              </a:spcBef>
              <a:defRPr sz="2660"/>
            </a:pPr>
            <a:r>
              <a:t>IDEA: </a:t>
            </a:r>
            <a:r>
              <a:rPr b="1"/>
              <a:t>delay stores</a:t>
            </a:r>
            <a:r>
              <a:t> until bandwidth available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endParaRPr/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queue stores in a </a:t>
            </a:r>
            <a:r>
              <a:rPr b="1"/>
              <a:t>store buffer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allow loads to </a:t>
            </a:r>
            <a:r>
              <a:rPr b="1"/>
              <a:t>bypass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endParaRPr b="1"/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mark as non-committed if store still in ROB</a:t>
            </a:r>
          </a:p>
          <a:p>
            <a:pPr marL="217170" indent="-217170" defTabSz="868680">
              <a:spcBef>
                <a:spcPts val="900"/>
              </a:spcBef>
              <a:defRPr sz="2660"/>
            </a:pPr>
            <a:r>
              <a:t>mark as committed if store retired from ROB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1" build="p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"/>
          <p:cNvGrpSpPr/>
          <p:nvPr/>
        </p:nvGrpSpPr>
        <p:grpSpPr>
          <a:xfrm>
            <a:off x="1600065" y="451366"/>
            <a:ext cx="6181961" cy="4038601"/>
            <a:chOff x="0" y="0"/>
            <a:chExt cx="6181960" cy="4038600"/>
          </a:xfrm>
        </p:grpSpPr>
        <p:grpSp>
          <p:nvGrpSpPr>
            <p:cNvPr id="138" name="Group 26"/>
            <p:cNvGrpSpPr/>
            <p:nvPr/>
          </p:nvGrpSpPr>
          <p:grpSpPr>
            <a:xfrm>
              <a:off x="1127360" y="0"/>
              <a:ext cx="5054601" cy="4038600"/>
              <a:chOff x="0" y="0"/>
              <a:chExt cx="5054600" cy="4038600"/>
            </a:xfrm>
          </p:grpSpPr>
          <p:pic>
            <p:nvPicPr>
              <p:cNvPr id="132" name="Picture 23" descr="Picture 23"/>
              <p:cNvPicPr>
                <a:picLocks noChangeAspect="1"/>
              </p:cNvPicPr>
              <p:nvPr/>
            </p:nvPicPr>
            <p:blipFill>
              <a:blip r:embed="rId2"/>
              <a:srcRect l="26022"/>
              <a:stretch>
                <a:fillRect/>
              </a:stretch>
            </p:blipFill>
            <p:spPr>
              <a:xfrm>
                <a:off x="0" y="0"/>
                <a:ext cx="5054601" cy="40386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33" name="Rectangle 25"/>
              <p:cNvSpPr/>
              <p:nvPr/>
            </p:nvSpPr>
            <p:spPr>
              <a:xfrm>
                <a:off x="2381250" y="894751"/>
                <a:ext cx="1676400" cy="78105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4" name="Rectangle 29"/>
              <p:cNvSpPr/>
              <p:nvPr/>
            </p:nvSpPr>
            <p:spPr>
              <a:xfrm>
                <a:off x="4206175" y="2520432"/>
                <a:ext cx="812801" cy="46788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5" name="Rectangle 30"/>
              <p:cNvSpPr/>
              <p:nvPr/>
            </p:nvSpPr>
            <p:spPr>
              <a:xfrm>
                <a:off x="2406650" y="2495504"/>
                <a:ext cx="812800" cy="46788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6" name="Rectangle 33"/>
              <p:cNvSpPr/>
              <p:nvPr/>
            </p:nvSpPr>
            <p:spPr>
              <a:xfrm>
                <a:off x="2349500" y="1802959"/>
                <a:ext cx="1417535" cy="22761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7" name="Rectangle 34"/>
              <p:cNvSpPr/>
              <p:nvPr/>
            </p:nvSpPr>
            <p:spPr>
              <a:xfrm>
                <a:off x="1314141" y="3533490"/>
                <a:ext cx="1417535" cy="28769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grpSp>
          <p:nvGrpSpPr>
            <p:cNvPr id="144" name="Group 36"/>
            <p:cNvGrpSpPr/>
            <p:nvPr/>
          </p:nvGrpSpPr>
          <p:grpSpPr>
            <a:xfrm>
              <a:off x="0" y="1464405"/>
              <a:ext cx="4552244" cy="2434458"/>
              <a:chOff x="0" y="0"/>
              <a:chExt cx="4552243" cy="2434456"/>
            </a:xfrm>
          </p:grpSpPr>
          <p:sp>
            <p:nvSpPr>
              <p:cNvPr id="139" name="TextBox 27"/>
              <p:cNvSpPr txBox="1"/>
              <p:nvPr/>
            </p:nvSpPr>
            <p:spPr>
              <a:xfrm>
                <a:off x="0" y="1523912"/>
                <a:ext cx="1032561" cy="3212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committed</a:t>
                </a:r>
              </a:p>
            </p:txBody>
          </p:sp>
          <p:sp>
            <p:nvSpPr>
              <p:cNvPr id="140" name="TextBox 28"/>
              <p:cNvSpPr txBox="1"/>
              <p:nvPr/>
            </p:nvSpPr>
            <p:spPr>
              <a:xfrm>
                <a:off x="1" y="680265"/>
                <a:ext cx="1032561" cy="5752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600"/>
                </a:pPr>
                <a:r>
                  <a:t>not yet</a:t>
                </a:r>
              </a:p>
              <a:p>
                <a:pPr>
                  <a:defRPr sz="1600"/>
                </a:pPr>
                <a:r>
                  <a:t>committed</a:t>
                </a:r>
              </a:p>
            </p:txBody>
          </p:sp>
          <p:sp>
            <p:nvSpPr>
              <p:cNvPr id="141" name="TextBox 31"/>
              <p:cNvSpPr txBox="1"/>
              <p:nvPr/>
            </p:nvSpPr>
            <p:spPr>
              <a:xfrm>
                <a:off x="4059585" y="0"/>
                <a:ext cx="492659" cy="3212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addr</a:t>
                </a:r>
              </a:p>
            </p:txBody>
          </p:sp>
          <p:sp>
            <p:nvSpPr>
              <p:cNvPr id="142" name="TextBox 32"/>
              <p:cNvSpPr txBox="1"/>
              <p:nvPr/>
            </p:nvSpPr>
            <p:spPr>
              <a:xfrm>
                <a:off x="3836761" y="1202369"/>
                <a:ext cx="483922" cy="3212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data</a:t>
                </a:r>
              </a:p>
            </p:txBody>
          </p:sp>
          <p:sp>
            <p:nvSpPr>
              <p:cNvPr id="143" name="TextBox 35"/>
              <p:cNvSpPr txBox="1"/>
              <p:nvPr/>
            </p:nvSpPr>
            <p:spPr>
              <a:xfrm>
                <a:off x="2721264" y="2113197"/>
                <a:ext cx="844805" cy="3212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D$ write</a:t>
                </a:r>
              </a:p>
            </p:txBody>
          </p:sp>
        </p:grpSp>
      </p:grpSp>
      <p:sp>
        <p:nvSpPr>
          <p:cNvPr id="146" name="TextBox 24"/>
          <p:cNvSpPr txBox="1"/>
          <p:nvPr/>
        </p:nvSpPr>
        <p:spPr>
          <a:xfrm>
            <a:off x="1268914" y="4475210"/>
            <a:ext cx="6875273" cy="461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/>
            </a:pPr>
            <a:r>
              <a:t>problem: we have no way to check for</a:t>
            </a:r>
            <a:r>
              <a:rPr b="1"/>
              <a:t> dependencies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9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Load bypassing, revisited</a:t>
            </a:r>
          </a:p>
        </p:txBody>
      </p:sp>
      <p:sp>
        <p:nvSpPr>
          <p:cNvPr id="153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098753" y="3222814"/>
            <a:ext cx="6946491" cy="877237"/>
          </a:xfrm>
          <a:prstGeom prst="rect">
            <a:avLst/>
          </a:prstGeom>
        </p:spPr>
        <p:txBody>
          <a:bodyPr/>
          <a:lstStyle/>
          <a:p>
            <a:pPr marL="0" indent="0" defTabSz="886968">
              <a:spcBef>
                <a:spcPts val="900"/>
              </a:spcBef>
              <a:buSzTx/>
              <a:buNone/>
              <a:defRPr sz="2716"/>
            </a:pPr>
            <a:r>
              <a:t>loads can bypass stores </a:t>
            </a:r>
            <a:r>
              <a:rPr b="1"/>
              <a:t>only if</a:t>
            </a:r>
            <a:r>
              <a:t> their results</a:t>
            </a:r>
            <a:br/>
            <a:r>
              <a:t>do not depend on previous stores*</a:t>
            </a:r>
          </a:p>
        </p:txBody>
      </p:sp>
      <p:sp>
        <p:nvSpPr>
          <p:cNvPr id="154" name="TextBox 3"/>
          <p:cNvSpPr txBox="1"/>
          <p:nvPr/>
        </p:nvSpPr>
        <p:spPr>
          <a:xfrm>
            <a:off x="2343984" y="1317486"/>
            <a:ext cx="2679462" cy="119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sw   r2, 0(r9)</a:t>
            </a:r>
          </a:p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lw   r2, 0(r8)</a:t>
            </a:r>
          </a:p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addi r4, r2, #0xf00</a:t>
            </a:r>
          </a:p>
        </p:txBody>
      </p:sp>
      <p:sp>
        <p:nvSpPr>
          <p:cNvPr id="155" name="Freeform 11"/>
          <p:cNvSpPr/>
          <p:nvPr/>
        </p:nvSpPr>
        <p:spPr>
          <a:xfrm>
            <a:off x="2077351" y="1317485"/>
            <a:ext cx="222025" cy="6386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1" h="21600" extrusionOk="0">
                <a:moveTo>
                  <a:pt x="21351" y="21600"/>
                </a:moveTo>
                <a:cubicBezTo>
                  <a:pt x="14308" y="18000"/>
                  <a:pt x="254" y="15944"/>
                  <a:pt x="3" y="12344"/>
                </a:cubicBezTo>
                <a:cubicBezTo>
                  <a:pt x="-249" y="8744"/>
                  <a:pt x="16535" y="2057"/>
                  <a:pt x="19842" y="0"/>
                </a:cubicBezTo>
              </a:path>
            </a:pathLst>
          </a:custGeom>
          <a:ln w="38100">
            <a:solidFill>
              <a:schemeClr val="accent2"/>
            </a:solidFill>
            <a:miter/>
            <a:tailEnd type="triangle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6" name="Rectangle 13"/>
          <p:cNvSpPr txBox="1"/>
          <p:nvPr/>
        </p:nvSpPr>
        <p:spPr>
          <a:xfrm>
            <a:off x="6451651" y="4866499"/>
            <a:ext cx="2646630" cy="263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200">
                <a:solidFill>
                  <a:srgbClr val="808080"/>
                </a:solidFill>
              </a:defRPr>
            </a:lvl1pPr>
          </a:lstStyle>
          <a:p>
            <a:r>
              <a:t>*more on memory access ordering later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1" build="p" animBg="1" advAuto="0"/>
      <p:bldP spid="156" grpId="2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1"/>
          <p:cNvGrpSpPr/>
          <p:nvPr/>
        </p:nvGrpSpPr>
        <p:grpSpPr>
          <a:xfrm>
            <a:off x="1880282" y="451366"/>
            <a:ext cx="6181962" cy="4038601"/>
            <a:chOff x="0" y="0"/>
            <a:chExt cx="6181960" cy="4038600"/>
          </a:xfrm>
        </p:grpSpPr>
        <p:grpSp>
          <p:nvGrpSpPr>
            <p:cNvPr id="164" name="Group 26"/>
            <p:cNvGrpSpPr/>
            <p:nvPr/>
          </p:nvGrpSpPr>
          <p:grpSpPr>
            <a:xfrm>
              <a:off x="1127360" y="0"/>
              <a:ext cx="5054601" cy="4038600"/>
              <a:chOff x="0" y="0"/>
              <a:chExt cx="5054600" cy="4038600"/>
            </a:xfrm>
          </p:grpSpPr>
          <p:pic>
            <p:nvPicPr>
              <p:cNvPr id="158" name="Picture 23" descr="Picture 23"/>
              <p:cNvPicPr>
                <a:picLocks noChangeAspect="1"/>
              </p:cNvPicPr>
              <p:nvPr/>
            </p:nvPicPr>
            <p:blipFill>
              <a:blip r:embed="rId2"/>
              <a:srcRect l="26022"/>
              <a:stretch>
                <a:fillRect/>
              </a:stretch>
            </p:blipFill>
            <p:spPr>
              <a:xfrm>
                <a:off x="0" y="0"/>
                <a:ext cx="5054601" cy="40386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59" name="Rectangle 25"/>
              <p:cNvSpPr/>
              <p:nvPr/>
            </p:nvSpPr>
            <p:spPr>
              <a:xfrm>
                <a:off x="2381250" y="894751"/>
                <a:ext cx="1676400" cy="781051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0" name="Rectangle 29"/>
              <p:cNvSpPr/>
              <p:nvPr/>
            </p:nvSpPr>
            <p:spPr>
              <a:xfrm>
                <a:off x="4206175" y="2520432"/>
                <a:ext cx="812801" cy="46788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1" name="Rectangle 30"/>
              <p:cNvSpPr/>
              <p:nvPr/>
            </p:nvSpPr>
            <p:spPr>
              <a:xfrm>
                <a:off x="2406650" y="2495504"/>
                <a:ext cx="812800" cy="467886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2" name="Rectangle 33"/>
              <p:cNvSpPr/>
              <p:nvPr/>
            </p:nvSpPr>
            <p:spPr>
              <a:xfrm>
                <a:off x="2349500" y="1802959"/>
                <a:ext cx="1417535" cy="22761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3" name="Rectangle 34"/>
              <p:cNvSpPr/>
              <p:nvPr/>
            </p:nvSpPr>
            <p:spPr>
              <a:xfrm>
                <a:off x="1314141" y="3533490"/>
                <a:ext cx="1417535" cy="28769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grpSp>
          <p:nvGrpSpPr>
            <p:cNvPr id="170" name="Group 36"/>
            <p:cNvGrpSpPr/>
            <p:nvPr/>
          </p:nvGrpSpPr>
          <p:grpSpPr>
            <a:xfrm>
              <a:off x="0" y="1464405"/>
              <a:ext cx="4552244" cy="2434458"/>
              <a:chOff x="0" y="0"/>
              <a:chExt cx="4552243" cy="2434456"/>
            </a:xfrm>
          </p:grpSpPr>
          <p:sp>
            <p:nvSpPr>
              <p:cNvPr id="165" name="TextBox 27"/>
              <p:cNvSpPr txBox="1"/>
              <p:nvPr/>
            </p:nvSpPr>
            <p:spPr>
              <a:xfrm>
                <a:off x="0" y="1523912"/>
                <a:ext cx="1032561" cy="3212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committed</a:t>
                </a:r>
              </a:p>
            </p:txBody>
          </p:sp>
          <p:sp>
            <p:nvSpPr>
              <p:cNvPr id="166" name="TextBox 28"/>
              <p:cNvSpPr txBox="1"/>
              <p:nvPr/>
            </p:nvSpPr>
            <p:spPr>
              <a:xfrm>
                <a:off x="1" y="680265"/>
                <a:ext cx="1032561" cy="5752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/>
              <a:p>
                <a:pPr>
                  <a:defRPr sz="1600"/>
                </a:pPr>
                <a:r>
                  <a:t>not yet</a:t>
                </a:r>
              </a:p>
              <a:p>
                <a:pPr>
                  <a:defRPr sz="1600"/>
                </a:pPr>
                <a:r>
                  <a:t>committed</a:t>
                </a:r>
              </a:p>
            </p:txBody>
          </p:sp>
          <p:sp>
            <p:nvSpPr>
              <p:cNvPr id="167" name="TextBox 31"/>
              <p:cNvSpPr txBox="1"/>
              <p:nvPr/>
            </p:nvSpPr>
            <p:spPr>
              <a:xfrm>
                <a:off x="4059585" y="0"/>
                <a:ext cx="492659" cy="3212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addr</a:t>
                </a:r>
              </a:p>
            </p:txBody>
          </p:sp>
          <p:sp>
            <p:nvSpPr>
              <p:cNvPr id="168" name="TextBox 32"/>
              <p:cNvSpPr txBox="1"/>
              <p:nvPr/>
            </p:nvSpPr>
            <p:spPr>
              <a:xfrm>
                <a:off x="3836761" y="1202369"/>
                <a:ext cx="483922" cy="32125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data</a:t>
                </a:r>
              </a:p>
            </p:txBody>
          </p:sp>
          <p:sp>
            <p:nvSpPr>
              <p:cNvPr id="169" name="TextBox 35"/>
              <p:cNvSpPr txBox="1"/>
              <p:nvPr/>
            </p:nvSpPr>
            <p:spPr>
              <a:xfrm>
                <a:off x="2721264" y="2113197"/>
                <a:ext cx="844805" cy="3212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45719" tIns="45719" rIns="45719" bIns="45719" numCol="1" anchor="t">
                <a:spAutoFit/>
              </a:bodyPr>
              <a:lstStyle>
                <a:lvl1pPr>
                  <a:defRPr sz="1600"/>
                </a:lvl1pPr>
              </a:lstStyle>
              <a:p>
                <a:r>
                  <a:t>D$ write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10"/>
          <p:cNvGrpSpPr/>
          <p:nvPr/>
        </p:nvGrpSpPr>
        <p:grpSpPr>
          <a:xfrm>
            <a:off x="423059" y="162298"/>
            <a:ext cx="7086601" cy="4521201"/>
            <a:chOff x="0" y="0"/>
            <a:chExt cx="7086600" cy="4521200"/>
          </a:xfrm>
        </p:grpSpPr>
        <p:pic>
          <p:nvPicPr>
            <p:cNvPr id="175" name="Picture 1" descr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086600" cy="452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6" name="TextBox 5"/>
            <p:cNvSpPr txBox="1"/>
            <p:nvPr/>
          </p:nvSpPr>
          <p:spPr>
            <a:xfrm>
              <a:off x="5930972" y="2430584"/>
              <a:ext cx="483922" cy="32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data</a:t>
              </a:r>
            </a:p>
          </p:txBody>
        </p:sp>
        <p:sp>
          <p:nvSpPr>
            <p:cNvPr id="177" name="TextBox 6"/>
            <p:cNvSpPr txBox="1"/>
            <p:nvPr/>
          </p:nvSpPr>
          <p:spPr>
            <a:xfrm>
              <a:off x="4288244" y="3605415"/>
              <a:ext cx="844805" cy="321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D$ write</a:t>
              </a:r>
            </a:p>
          </p:txBody>
        </p:sp>
        <p:sp>
          <p:nvSpPr>
            <p:cNvPr id="178" name="Rectangle 7"/>
            <p:cNvSpPr/>
            <p:nvPr/>
          </p:nvSpPr>
          <p:spPr>
            <a:xfrm>
              <a:off x="5407888" y="1164420"/>
              <a:ext cx="1043546" cy="4678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9" name="Rectangle 8"/>
            <p:cNvSpPr/>
            <p:nvPr/>
          </p:nvSpPr>
          <p:spPr>
            <a:xfrm>
              <a:off x="5261755" y="2064200"/>
              <a:ext cx="599748" cy="52857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0" name="Rectangle 9"/>
            <p:cNvSpPr/>
            <p:nvPr/>
          </p:nvSpPr>
          <p:spPr>
            <a:xfrm>
              <a:off x="138358" y="2166294"/>
              <a:ext cx="1172381" cy="130714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1" name="TextBox 2"/>
            <p:cNvSpPr txBox="1"/>
            <p:nvPr/>
          </p:nvSpPr>
          <p:spPr>
            <a:xfrm>
              <a:off x="343815" y="3134885"/>
              <a:ext cx="1032562" cy="32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committed</a:t>
              </a:r>
            </a:p>
          </p:txBody>
        </p:sp>
        <p:sp>
          <p:nvSpPr>
            <p:cNvPr id="182" name="TextBox 3"/>
            <p:cNvSpPr txBox="1"/>
            <p:nvPr/>
          </p:nvSpPr>
          <p:spPr>
            <a:xfrm>
              <a:off x="343816" y="2291238"/>
              <a:ext cx="1032562" cy="575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600"/>
              </a:pPr>
              <a:r>
                <a:t>not yet</a:t>
              </a:r>
            </a:p>
            <a:p>
              <a:pPr>
                <a:defRPr sz="1600"/>
              </a:pPr>
              <a:r>
                <a:t>committed</a:t>
              </a:r>
            </a:p>
          </p:txBody>
        </p:sp>
        <p:sp>
          <p:nvSpPr>
            <p:cNvPr id="183" name="TextBox 4"/>
            <p:cNvSpPr txBox="1"/>
            <p:nvPr/>
          </p:nvSpPr>
          <p:spPr>
            <a:xfrm>
              <a:off x="5757503" y="1327047"/>
              <a:ext cx="492660" cy="321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addr</a:t>
              </a:r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Load bypassing so far</a:t>
            </a:r>
          </a:p>
        </p:txBody>
      </p:sp>
      <p:sp>
        <p:nvSpPr>
          <p:cNvPr id="18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5"/>
          </a:xfrm>
          <a:prstGeom prst="rect">
            <a:avLst/>
          </a:prstGeom>
        </p:spPr>
        <p:txBody>
          <a:bodyPr/>
          <a:lstStyle/>
          <a:p>
            <a:r>
              <a:t>store executed in a store buffer</a:t>
            </a:r>
          </a:p>
          <a:p>
            <a:r>
              <a:t>if load address matches in the store buffer, stall</a:t>
            </a:r>
          </a:p>
          <a:p>
            <a:endParaRPr/>
          </a:p>
          <a:p>
            <a:r>
              <a:t>is stalling always necessary?</a:t>
            </a:r>
          </a:p>
          <a:p>
            <a:r>
              <a:t>what if store value already available?</a:t>
            </a:r>
          </a:p>
          <a:p>
            <a:pPr>
              <a:defRPr b="1"/>
            </a:pPr>
            <a:r>
              <a:t>forward!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1" build="p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Load forwarding</a:t>
            </a:r>
          </a:p>
        </p:txBody>
      </p:sp>
      <p:sp>
        <p:nvSpPr>
          <p:cNvPr id="19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2743200"/>
            <a:ext cx="8515350" cy="2400300"/>
          </a:xfrm>
          <a:prstGeom prst="rect">
            <a:avLst/>
          </a:prstGeom>
        </p:spPr>
        <p:txBody>
          <a:bodyPr/>
          <a:lstStyle/>
          <a:p>
            <a:r>
              <a:t>on RAW dependency:</a:t>
            </a:r>
            <a:br/>
            <a:r>
              <a:t>if store value known, there is no need to stall</a:t>
            </a:r>
          </a:p>
          <a:p>
            <a:r>
              <a:t>value can be forwarded directly to waiting load</a:t>
            </a:r>
            <a:br/>
            <a:r>
              <a:t>(additional ~5% performance)</a:t>
            </a:r>
          </a:p>
        </p:txBody>
      </p:sp>
      <p:sp>
        <p:nvSpPr>
          <p:cNvPr id="193" name="TextBox 3"/>
          <p:cNvSpPr txBox="1"/>
          <p:nvPr/>
        </p:nvSpPr>
        <p:spPr>
          <a:xfrm>
            <a:off x="2343984" y="1317486"/>
            <a:ext cx="2679462" cy="119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sw   r4, 0(r9)</a:t>
            </a:r>
          </a:p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lw   r2, 0(r8)</a:t>
            </a:r>
          </a:p>
          <a:p>
            <a:pPr>
              <a:defRPr sz="2400" b="1">
                <a:latin typeface="Inconsolata"/>
                <a:ea typeface="Inconsolata"/>
                <a:cs typeface="Inconsolata"/>
                <a:sym typeface="Inconsolata"/>
              </a:defRPr>
            </a:pPr>
            <a:r>
              <a:t>addi r4, r2, #0xf00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1" build="p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15"/>
          <p:cNvGrpSpPr/>
          <p:nvPr/>
        </p:nvGrpSpPr>
        <p:grpSpPr>
          <a:xfrm>
            <a:off x="756320" y="193798"/>
            <a:ext cx="6800840" cy="4496956"/>
            <a:chOff x="0" y="0"/>
            <a:chExt cx="6800839" cy="4496954"/>
          </a:xfrm>
        </p:grpSpPr>
        <p:pic>
          <p:nvPicPr>
            <p:cNvPr id="195" name="Picture 1" descr="Picture 1"/>
            <p:cNvPicPr>
              <a:picLocks noChangeAspect="1"/>
            </p:cNvPicPr>
            <p:nvPr/>
          </p:nvPicPr>
          <p:blipFill>
            <a:blip r:embed="rId2"/>
            <a:srcRect l="18496" b="3517"/>
            <a:stretch>
              <a:fillRect/>
            </a:stretch>
          </p:blipFill>
          <p:spPr>
            <a:xfrm>
              <a:off x="1024978" y="0"/>
              <a:ext cx="5775862" cy="44969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6" name="Rectangle 7"/>
            <p:cNvSpPr/>
            <p:nvPr/>
          </p:nvSpPr>
          <p:spPr>
            <a:xfrm>
              <a:off x="5098215" y="1361869"/>
              <a:ext cx="1009402" cy="21375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7" name="Rectangle 8"/>
            <p:cNvSpPr/>
            <p:nvPr/>
          </p:nvSpPr>
          <p:spPr>
            <a:xfrm>
              <a:off x="4775602" y="2050637"/>
              <a:ext cx="762000" cy="1978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8" name="TextBox 10"/>
            <p:cNvSpPr txBox="1"/>
            <p:nvPr/>
          </p:nvSpPr>
          <p:spPr>
            <a:xfrm>
              <a:off x="5587156" y="2411571"/>
              <a:ext cx="483922" cy="321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data</a:t>
              </a:r>
            </a:p>
          </p:txBody>
        </p:sp>
        <p:sp>
          <p:nvSpPr>
            <p:cNvPr id="199" name="TextBox 11"/>
            <p:cNvSpPr txBox="1"/>
            <p:nvPr/>
          </p:nvSpPr>
          <p:spPr>
            <a:xfrm>
              <a:off x="3944428" y="3586403"/>
              <a:ext cx="844805" cy="321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D$ write</a:t>
              </a:r>
            </a:p>
          </p:txBody>
        </p:sp>
        <p:sp>
          <p:nvSpPr>
            <p:cNvPr id="200" name="TextBox 12"/>
            <p:cNvSpPr txBox="1"/>
            <p:nvPr/>
          </p:nvSpPr>
          <p:spPr>
            <a:xfrm>
              <a:off x="0" y="3115872"/>
              <a:ext cx="1032561" cy="321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committed</a:t>
              </a:r>
            </a:p>
          </p:txBody>
        </p:sp>
        <p:sp>
          <p:nvSpPr>
            <p:cNvPr id="201" name="TextBox 13"/>
            <p:cNvSpPr txBox="1"/>
            <p:nvPr/>
          </p:nvSpPr>
          <p:spPr>
            <a:xfrm>
              <a:off x="0" y="2272226"/>
              <a:ext cx="1032562" cy="575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600"/>
              </a:pPr>
              <a:r>
                <a:t>not yet</a:t>
              </a:r>
            </a:p>
            <a:p>
              <a:pPr>
                <a:defRPr sz="1600"/>
              </a:pPr>
              <a:r>
                <a:t>committed</a:t>
              </a:r>
            </a:p>
          </p:txBody>
        </p:sp>
        <p:sp>
          <p:nvSpPr>
            <p:cNvPr id="202" name="TextBox 14"/>
            <p:cNvSpPr txBox="1"/>
            <p:nvPr/>
          </p:nvSpPr>
          <p:spPr>
            <a:xfrm>
              <a:off x="5413687" y="1308035"/>
              <a:ext cx="492659" cy="321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addr</a:t>
              </a:r>
            </a:p>
          </p:txBody>
        </p:sp>
      </p:grp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When can dependencies be resolved?</a:t>
            </a:r>
          </a:p>
        </p:txBody>
      </p:sp>
      <p:sp>
        <p:nvSpPr>
          <p:cNvPr id="21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7"/>
            <a:ext cx="8515350" cy="3774282"/>
          </a:xfrm>
          <a:prstGeom prst="rect">
            <a:avLst/>
          </a:prstGeom>
        </p:spPr>
        <p:txBody>
          <a:bodyPr/>
          <a:lstStyle/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744"/>
            </a:pPr>
            <a:r>
              <a:t>problem: must wait until </a:t>
            </a:r>
            <a:r>
              <a:rPr b="1"/>
              <a:t>addresses resolved</a:t>
            </a:r>
            <a:br>
              <a:rPr b="1"/>
            </a:br>
            <a:r>
              <a:t>	to determine if there is a dependency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744"/>
            </a:pPr>
            <a:endParaRPr/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744"/>
            </a:pPr>
            <a:r>
              <a:t>IDEA: </a:t>
            </a:r>
            <a:r>
              <a:rPr b="1"/>
              <a:t>speculate</a:t>
            </a:r>
            <a:r>
              <a:t> no dependency, </a:t>
            </a:r>
            <a:r>
              <a:rPr b="1"/>
              <a:t>cancel</a:t>
            </a:r>
            <a:r>
              <a:t> if wrong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744"/>
            </a:pPr>
            <a:r>
              <a:t>as stores complete, cancel mis-executed code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744"/>
            </a:pPr>
            <a:endParaRPr/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744"/>
            </a:pPr>
            <a:r>
              <a:t>better alterative: </a:t>
            </a:r>
            <a:r>
              <a:rPr b="1"/>
              <a:t>memory dependency prediction</a:t>
            </a:r>
            <a:br>
              <a:rPr b="1"/>
            </a:br>
            <a:r>
              <a:t>(this is where Apple and Intel got in trouble)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1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oup 13"/>
          <p:cNvGrpSpPr/>
          <p:nvPr/>
        </p:nvGrpSpPr>
        <p:grpSpPr>
          <a:xfrm>
            <a:off x="364433" y="0"/>
            <a:ext cx="8076056" cy="5143500"/>
            <a:chOff x="0" y="0"/>
            <a:chExt cx="8076054" cy="5143500"/>
          </a:xfrm>
        </p:grpSpPr>
        <p:pic>
          <p:nvPicPr>
            <p:cNvPr id="212" name="Picture 1" descr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4076" y="0"/>
              <a:ext cx="7091979" cy="5143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3" name="Rectangle 2"/>
            <p:cNvSpPr/>
            <p:nvPr/>
          </p:nvSpPr>
          <p:spPr>
            <a:xfrm>
              <a:off x="2996283" y="3004456"/>
              <a:ext cx="1068780" cy="64126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4" name="TextBox 5"/>
            <p:cNvSpPr txBox="1"/>
            <p:nvPr/>
          </p:nvSpPr>
          <p:spPr>
            <a:xfrm>
              <a:off x="6391345" y="3523948"/>
              <a:ext cx="844805" cy="32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D$ write</a:t>
              </a:r>
            </a:p>
          </p:txBody>
        </p:sp>
        <p:sp>
          <p:nvSpPr>
            <p:cNvPr id="215" name="TextBox 6"/>
            <p:cNvSpPr txBox="1"/>
            <p:nvPr/>
          </p:nvSpPr>
          <p:spPr>
            <a:xfrm>
              <a:off x="0" y="2836640"/>
              <a:ext cx="1032561" cy="32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committed</a:t>
              </a:r>
            </a:p>
          </p:txBody>
        </p:sp>
        <p:sp>
          <p:nvSpPr>
            <p:cNvPr id="216" name="TextBox 7"/>
            <p:cNvSpPr txBox="1"/>
            <p:nvPr/>
          </p:nvSpPr>
          <p:spPr>
            <a:xfrm>
              <a:off x="1" y="1992993"/>
              <a:ext cx="1032561" cy="575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600"/>
              </a:pPr>
              <a:r>
                <a:t>not yet</a:t>
              </a:r>
            </a:p>
            <a:p>
              <a:pPr>
                <a:defRPr sz="1600"/>
              </a:pPr>
              <a:r>
                <a:t>committed</a:t>
              </a:r>
            </a:p>
          </p:txBody>
        </p:sp>
        <p:sp>
          <p:nvSpPr>
            <p:cNvPr id="217" name="Rectangle 9"/>
            <p:cNvSpPr/>
            <p:nvPr/>
          </p:nvSpPr>
          <p:spPr>
            <a:xfrm>
              <a:off x="6211716" y="1151905"/>
              <a:ext cx="1068781" cy="28943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8" name="Rectangle 11"/>
            <p:cNvSpPr/>
            <p:nvPr/>
          </p:nvSpPr>
          <p:spPr>
            <a:xfrm>
              <a:off x="5708656" y="1895808"/>
              <a:ext cx="1068780" cy="28943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9" name="TextBox 4"/>
            <p:cNvSpPr txBox="1"/>
            <p:nvPr/>
          </p:nvSpPr>
          <p:spPr>
            <a:xfrm>
              <a:off x="6005674" y="1799999"/>
              <a:ext cx="483921" cy="321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data</a:t>
              </a:r>
            </a:p>
          </p:txBody>
        </p:sp>
        <p:sp>
          <p:nvSpPr>
            <p:cNvPr id="220" name="TextBox 8"/>
            <p:cNvSpPr txBox="1"/>
            <p:nvPr/>
          </p:nvSpPr>
          <p:spPr>
            <a:xfrm>
              <a:off x="6288764" y="1151905"/>
              <a:ext cx="492659" cy="3212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1600"/>
              </a:lvl1pPr>
            </a:lstStyle>
            <a:p>
              <a:r>
                <a:t>addr</a:t>
              </a:r>
            </a:p>
          </p:txBody>
        </p:sp>
        <p:sp>
          <p:nvSpPr>
            <p:cNvPr id="221" name="TextBox 12"/>
            <p:cNvSpPr txBox="1"/>
            <p:nvPr/>
          </p:nvSpPr>
          <p:spPr>
            <a:xfrm>
              <a:off x="3077628" y="3032703"/>
              <a:ext cx="1032561" cy="5752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600"/>
              </a:pPr>
              <a:r>
                <a:t>not yet</a:t>
              </a:r>
            </a:p>
            <a:p>
              <a:pPr>
                <a:defRPr sz="1600"/>
              </a:pPr>
              <a:r>
                <a:t>committed</a:t>
              </a:r>
            </a:p>
          </p:txBody>
        </p:sp>
      </p:grpSp>
      <p:sp>
        <p:nvSpPr>
          <p:cNvPr id="225" name="Rectangle 3"/>
          <p:cNvSpPr/>
          <p:nvPr/>
        </p:nvSpPr>
        <p:spPr>
          <a:xfrm>
            <a:off x="3960759" y="4630994"/>
            <a:ext cx="2363629" cy="51250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4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More memory data flow ideas</a:t>
            </a:r>
          </a:p>
        </p:txBody>
      </p:sp>
      <p:sp>
        <p:nvSpPr>
          <p:cNvPr id="22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7"/>
            <a:ext cx="8515350" cy="3774282"/>
          </a:xfrm>
          <a:prstGeom prst="rect">
            <a:avLst/>
          </a:prstGeom>
        </p:spPr>
        <p:txBody>
          <a:bodyPr/>
          <a:lstStyle/>
          <a:p>
            <a:pPr marL="214884" indent="-214884" defTabSz="859536">
              <a:spcBef>
                <a:spcPts val="900"/>
              </a:spcBef>
              <a:defRPr sz="2632"/>
            </a:pPr>
            <a:r>
              <a:t>observation: load address can often be </a:t>
            </a:r>
            <a:r>
              <a:rPr b="1"/>
              <a:t>predicted</a:t>
            </a:r>
          </a:p>
          <a:p>
            <a:pPr marL="644651" lvl="1" indent="-214884" defTabSz="859536">
              <a:spcBef>
                <a:spcPts val="400"/>
              </a:spcBef>
              <a:defRPr sz="2256"/>
            </a:pPr>
            <a:r>
              <a:t>e.g., cache prefetchers do this pretty well</a:t>
            </a:r>
          </a:p>
          <a:p>
            <a:pPr marL="644651" lvl="1" indent="-214884" defTabSz="859536">
              <a:spcBef>
                <a:spcPts val="400"/>
              </a:spcBef>
              <a:defRPr sz="2256"/>
            </a:pPr>
            <a:r>
              <a:t>this way load can be sent to the D$ even earlier</a:t>
            </a:r>
          </a:p>
          <a:p>
            <a:pPr marL="644651" lvl="1" indent="-214884" defTabSz="859536">
              <a:spcBef>
                <a:spcPts val="400"/>
              </a:spcBef>
              <a:defRPr sz="2256"/>
            </a:pPr>
            <a:r>
              <a:t>cancel if prediction incorrect</a:t>
            </a:r>
          </a:p>
          <a:p>
            <a:pPr marL="644651" lvl="1" indent="-214884" defTabSz="859536">
              <a:spcBef>
                <a:spcPts val="400"/>
              </a:spcBef>
              <a:defRPr sz="2256"/>
            </a:pPr>
            <a:endParaRPr/>
          </a:p>
          <a:p>
            <a:pPr marL="214884" indent="-214884" defTabSz="859536">
              <a:spcBef>
                <a:spcPts val="900"/>
              </a:spcBef>
              <a:defRPr sz="2632"/>
            </a:pPr>
            <a:r>
              <a:t>observation: load value often </a:t>
            </a:r>
            <a:r>
              <a:rPr b="1"/>
              <a:t>the same as last time</a:t>
            </a:r>
          </a:p>
          <a:p>
            <a:pPr marL="644651" lvl="1" indent="-214884" defTabSz="859536">
              <a:spcBef>
                <a:spcPts val="400"/>
              </a:spcBef>
              <a:defRPr sz="2256"/>
            </a:pPr>
            <a:r>
              <a:t>predict </a:t>
            </a:r>
            <a:r>
              <a:rPr b="1"/>
              <a:t>load value</a:t>
            </a:r>
            <a:r>
              <a:t> directly before accessing D$</a:t>
            </a:r>
          </a:p>
          <a:p>
            <a:pPr marL="644651" lvl="1" indent="-214884" defTabSz="859536">
              <a:spcBef>
                <a:spcPts val="400"/>
              </a:spcBef>
              <a:defRPr sz="2256"/>
            </a:pPr>
            <a:r>
              <a:t>instrs dependent on load value can proceed speculatively</a:t>
            </a:r>
          </a:p>
          <a:p>
            <a:pPr marL="644651" lvl="1" indent="-214884" defTabSz="859536">
              <a:spcBef>
                <a:spcPts val="400"/>
              </a:spcBef>
              <a:defRPr sz="2256"/>
            </a:pPr>
            <a:r>
              <a:t>cancel if D$ returns a different value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1" build="p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itle 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sp>
        <p:nvSpPr>
          <p:cNvPr id="23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8515350" cy="3263505"/>
          </a:xfrm>
          <a:prstGeom prst="rect">
            <a:avLst/>
          </a:prstGeom>
        </p:spPr>
        <p:txBody>
          <a:bodyPr/>
          <a:lstStyle/>
          <a:p>
            <a:r>
              <a:t>would like to delay stores to save BW for loads</a:t>
            </a:r>
          </a:p>
          <a:p>
            <a:r>
              <a:t>store buffer keeps in-flight and committed stores</a:t>
            </a:r>
          </a:p>
          <a:p>
            <a:r>
              <a:t>load bypassing w/ the store buffer</a:t>
            </a:r>
          </a:p>
          <a:p>
            <a:r>
              <a:t>load forwarding from the store buffer</a:t>
            </a:r>
          </a:p>
          <a:p>
            <a:r>
              <a:t>speculative loads using the load-store queue</a:t>
            </a:r>
          </a:p>
          <a:p>
            <a:r>
              <a:t>memory dependency prediction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ML">
  <a:themeElements>
    <a:clrScheme name="M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0000FF"/>
      </a:hlink>
      <a:folHlink>
        <a:srgbClr val="FF00FF"/>
      </a:folHlink>
    </a:clrScheme>
    <a:fontScheme name="ML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M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T Sans"/>
            <a:ea typeface="PT Sans"/>
            <a:cs typeface="PT Sans"/>
            <a:sym typeface="PT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T Sans"/>
            <a:ea typeface="PT Sans"/>
            <a:cs typeface="PT Sans"/>
            <a:sym typeface="PT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L">
  <a:themeElements>
    <a:clrScheme name="M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0000FF"/>
      </a:hlink>
      <a:folHlink>
        <a:srgbClr val="FF00FF"/>
      </a:folHlink>
    </a:clrScheme>
    <a:fontScheme name="ML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M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T Sans"/>
            <a:ea typeface="PT Sans"/>
            <a:cs typeface="PT Sans"/>
            <a:sym typeface="PT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T Sans"/>
            <a:ea typeface="PT Sans"/>
            <a:cs typeface="PT Sans"/>
            <a:sym typeface="PT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Macintosh PowerPoint</Application>
  <PresentationFormat>On-screen Show (16:9)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PT Sans</vt:lpstr>
      <vt:lpstr>PT Sans Narrow</vt:lpstr>
      <vt:lpstr>ML</vt:lpstr>
      <vt:lpstr>LOAD / STORE PROCESSING</vt:lpstr>
      <vt:lpstr>PowerPoint Presentation</vt:lpstr>
      <vt:lpstr>PowerPoint Presentation</vt:lpstr>
      <vt:lpstr>PowerPoint Presentation</vt:lpstr>
      <vt:lpstr>Learning objectives</vt:lpstr>
      <vt:lpstr>Load bypassing</vt:lpstr>
      <vt:lpstr>Store buffer</vt:lpstr>
      <vt:lpstr>PowerPoint Presentation</vt:lpstr>
      <vt:lpstr>Load bypassing, revisited</vt:lpstr>
      <vt:lpstr>PowerPoint Presentation</vt:lpstr>
      <vt:lpstr>PowerPoint Presentation</vt:lpstr>
      <vt:lpstr>Load bypassing so far</vt:lpstr>
      <vt:lpstr>Load forwarding</vt:lpstr>
      <vt:lpstr>PowerPoint Presentation</vt:lpstr>
      <vt:lpstr>When can dependencies be resolved?</vt:lpstr>
      <vt:lpstr>PowerPoint Presentation</vt:lpstr>
      <vt:lpstr>More memory data flow ideas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Tor Aamodt</cp:lastModifiedBy>
  <cp:revision>1</cp:revision>
  <dcterms:modified xsi:type="dcterms:W3CDTF">2025-11-05T21:08:11Z</dcterms:modified>
</cp:coreProperties>
</file>