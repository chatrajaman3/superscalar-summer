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830" r:id="rId2"/>
  </p:sldMasterIdLst>
  <p:notesMasterIdLst>
    <p:notesMasterId r:id="rId66"/>
  </p:notesMasterIdLst>
  <p:handoutMasterIdLst>
    <p:handoutMasterId r:id="rId67"/>
  </p:handoutMasterIdLst>
  <p:sldIdLst>
    <p:sldId id="358" r:id="rId3"/>
    <p:sldId id="257" r:id="rId4"/>
    <p:sldId id="348" r:id="rId5"/>
    <p:sldId id="359" r:id="rId6"/>
    <p:sldId id="367" r:id="rId7"/>
    <p:sldId id="294" r:id="rId8"/>
    <p:sldId id="292" r:id="rId9"/>
    <p:sldId id="352" r:id="rId10"/>
    <p:sldId id="353" r:id="rId11"/>
    <p:sldId id="295" r:id="rId12"/>
    <p:sldId id="296" r:id="rId13"/>
    <p:sldId id="350" r:id="rId14"/>
    <p:sldId id="298" r:id="rId15"/>
    <p:sldId id="374" r:id="rId16"/>
    <p:sldId id="297" r:id="rId17"/>
    <p:sldId id="370" r:id="rId18"/>
    <p:sldId id="371" r:id="rId19"/>
    <p:sldId id="300" r:id="rId20"/>
    <p:sldId id="299" r:id="rId21"/>
    <p:sldId id="375" r:id="rId22"/>
    <p:sldId id="302" r:id="rId23"/>
    <p:sldId id="304" r:id="rId24"/>
    <p:sldId id="301" r:id="rId25"/>
    <p:sldId id="305" r:id="rId26"/>
    <p:sldId id="303" r:id="rId27"/>
    <p:sldId id="347" r:id="rId28"/>
    <p:sldId id="357" r:id="rId29"/>
    <p:sldId id="307" r:id="rId30"/>
    <p:sldId id="378" r:id="rId31"/>
    <p:sldId id="280" r:id="rId32"/>
    <p:sldId id="281" r:id="rId33"/>
    <p:sldId id="349" r:id="rId34"/>
    <p:sldId id="344" r:id="rId35"/>
    <p:sldId id="309" r:id="rId36"/>
    <p:sldId id="376" r:id="rId37"/>
    <p:sldId id="362" r:id="rId38"/>
    <p:sldId id="351" r:id="rId39"/>
    <p:sldId id="360" r:id="rId40"/>
    <p:sldId id="341" r:id="rId41"/>
    <p:sldId id="363" r:id="rId42"/>
    <p:sldId id="343" r:id="rId43"/>
    <p:sldId id="364" r:id="rId44"/>
    <p:sldId id="342" r:id="rId45"/>
    <p:sldId id="315" r:id="rId46"/>
    <p:sldId id="354" r:id="rId47"/>
    <p:sldId id="377" r:id="rId48"/>
    <p:sldId id="372" r:id="rId49"/>
    <p:sldId id="369" r:id="rId50"/>
    <p:sldId id="355" r:id="rId51"/>
    <p:sldId id="373" r:id="rId52"/>
    <p:sldId id="379" r:id="rId53"/>
    <p:sldId id="380" r:id="rId54"/>
    <p:sldId id="381" r:id="rId55"/>
    <p:sldId id="366" r:id="rId56"/>
    <p:sldId id="382" r:id="rId57"/>
    <p:sldId id="383" r:id="rId58"/>
    <p:sldId id="384" r:id="rId59"/>
    <p:sldId id="306" r:id="rId60"/>
    <p:sldId id="385" r:id="rId61"/>
    <p:sldId id="308" r:id="rId62"/>
    <p:sldId id="386" r:id="rId63"/>
    <p:sldId id="310" r:id="rId64"/>
    <p:sldId id="368" r:id="rId65"/>
  </p:sldIdLst>
  <p:sldSz cx="9144000" cy="6858000" type="screen4x3"/>
  <p:notesSz cx="6858000" cy="9296400"/>
  <p:defaultTextStyle>
    <a:defPPr>
      <a:defRPr lang="en-GB"/>
    </a:defPPr>
    <a:lvl1pPr algn="l" defTabSz="449263" rtl="0" eaLnBrk="0" fontAlgn="base" hangingPunct="0">
      <a:lnSpc>
        <a:spcPct val="93000"/>
      </a:lnSpc>
      <a:spcBef>
        <a:spcPct val="0"/>
      </a:spcBef>
      <a:spcAft>
        <a:spcPct val="0"/>
      </a:spcAft>
      <a:buClr>
        <a:srgbClr val="000000"/>
      </a:buClr>
      <a:buSzPct val="100000"/>
      <a:buFont typeface="Arial" panose="020B0604020202020204" pitchFamily="34" charset="0"/>
      <a:defRPr sz="2400" kern="1200">
        <a:solidFill>
          <a:schemeClr val="bg1"/>
        </a:solidFill>
        <a:latin typeface="Arial" panose="020B0604020202020204" pitchFamily="34" charset="0"/>
        <a:ea typeface="MS PGothic" panose="020B0600070205080204" pitchFamily="34" charset="-128"/>
        <a:cs typeface="+mn-cs"/>
      </a:defRPr>
    </a:lvl1pPr>
    <a:lvl2pPr marL="457200" algn="l" defTabSz="449263" rtl="0" eaLnBrk="0" fontAlgn="base" hangingPunct="0">
      <a:lnSpc>
        <a:spcPct val="93000"/>
      </a:lnSpc>
      <a:spcBef>
        <a:spcPct val="0"/>
      </a:spcBef>
      <a:spcAft>
        <a:spcPct val="0"/>
      </a:spcAft>
      <a:buClr>
        <a:srgbClr val="000000"/>
      </a:buClr>
      <a:buSzPct val="100000"/>
      <a:buFont typeface="Arial" panose="020B0604020202020204" pitchFamily="34" charset="0"/>
      <a:defRPr sz="2400" kern="1200">
        <a:solidFill>
          <a:schemeClr val="bg1"/>
        </a:solidFill>
        <a:latin typeface="Arial" panose="020B0604020202020204" pitchFamily="34" charset="0"/>
        <a:ea typeface="MS PGothic" panose="020B0600070205080204" pitchFamily="34" charset="-128"/>
        <a:cs typeface="+mn-cs"/>
      </a:defRPr>
    </a:lvl2pPr>
    <a:lvl3pPr marL="914400" algn="l" defTabSz="449263" rtl="0" eaLnBrk="0" fontAlgn="base" hangingPunct="0">
      <a:lnSpc>
        <a:spcPct val="93000"/>
      </a:lnSpc>
      <a:spcBef>
        <a:spcPct val="0"/>
      </a:spcBef>
      <a:spcAft>
        <a:spcPct val="0"/>
      </a:spcAft>
      <a:buClr>
        <a:srgbClr val="000000"/>
      </a:buClr>
      <a:buSzPct val="100000"/>
      <a:buFont typeface="Arial" panose="020B0604020202020204" pitchFamily="34" charset="0"/>
      <a:defRPr sz="2400" kern="1200">
        <a:solidFill>
          <a:schemeClr val="bg1"/>
        </a:solidFill>
        <a:latin typeface="Arial" panose="020B0604020202020204" pitchFamily="34" charset="0"/>
        <a:ea typeface="MS PGothic" panose="020B0600070205080204" pitchFamily="34" charset="-128"/>
        <a:cs typeface="+mn-cs"/>
      </a:defRPr>
    </a:lvl3pPr>
    <a:lvl4pPr marL="1371600" algn="l" defTabSz="449263" rtl="0" eaLnBrk="0" fontAlgn="base" hangingPunct="0">
      <a:lnSpc>
        <a:spcPct val="93000"/>
      </a:lnSpc>
      <a:spcBef>
        <a:spcPct val="0"/>
      </a:spcBef>
      <a:spcAft>
        <a:spcPct val="0"/>
      </a:spcAft>
      <a:buClr>
        <a:srgbClr val="000000"/>
      </a:buClr>
      <a:buSzPct val="100000"/>
      <a:buFont typeface="Arial" panose="020B0604020202020204" pitchFamily="34" charset="0"/>
      <a:defRPr sz="2400" kern="1200">
        <a:solidFill>
          <a:schemeClr val="bg1"/>
        </a:solidFill>
        <a:latin typeface="Arial" panose="020B0604020202020204" pitchFamily="34" charset="0"/>
        <a:ea typeface="MS PGothic" panose="020B0600070205080204" pitchFamily="34" charset="-128"/>
        <a:cs typeface="+mn-cs"/>
      </a:defRPr>
    </a:lvl4pPr>
    <a:lvl5pPr marL="1828800" algn="l" defTabSz="449263" rtl="0" eaLnBrk="0" fontAlgn="base" hangingPunct="0">
      <a:lnSpc>
        <a:spcPct val="93000"/>
      </a:lnSpc>
      <a:spcBef>
        <a:spcPct val="0"/>
      </a:spcBef>
      <a:spcAft>
        <a:spcPct val="0"/>
      </a:spcAft>
      <a:buClr>
        <a:srgbClr val="000000"/>
      </a:buClr>
      <a:buSzPct val="100000"/>
      <a:buFont typeface="Arial" panose="020B0604020202020204" pitchFamily="34" charset="0"/>
      <a:defRPr sz="2400" kern="1200">
        <a:solidFill>
          <a:schemeClr val="bg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bg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bg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bg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bg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94" autoAdjust="0"/>
    <p:restoredTop sz="73000" autoAdjust="0"/>
  </p:normalViewPr>
  <p:slideViewPr>
    <p:cSldViewPr snapToGrid="0">
      <p:cViewPr varScale="1">
        <p:scale>
          <a:sx n="127" d="100"/>
          <a:sy n="127" d="100"/>
        </p:scale>
        <p:origin x="968" y="192"/>
      </p:cViewPr>
      <p:guideLst>
        <p:guide orient="horz" pos="2160"/>
        <p:guide pos="2880"/>
      </p:guideLst>
    </p:cSldViewPr>
  </p:slideViewPr>
  <p:outlineViewPr>
    <p:cViewPr>
      <p:scale>
        <a:sx n="25" d="100"/>
        <a:sy n="25" d="100"/>
      </p:scale>
      <p:origin x="-784" y="-88"/>
    </p:cViewPr>
  </p:outlineViewPr>
  <p:notesTextViewPr>
    <p:cViewPr>
      <p:scale>
        <a:sx n="100" d="100"/>
        <a:sy n="100" d="100"/>
      </p:scale>
      <p:origin x="0" y="0"/>
    </p:cViewPr>
  </p:notesTextViewPr>
  <p:sorterViewPr>
    <p:cViewPr>
      <p:scale>
        <a:sx n="66" d="100"/>
        <a:sy n="66" d="100"/>
      </p:scale>
      <p:origin x="0" y="2958"/>
    </p:cViewPr>
  </p:sorterViewPr>
  <p:notesViewPr>
    <p:cSldViewPr snapToGrid="0">
      <p:cViewPr varScale="1">
        <p:scale>
          <a:sx n="60" d="100"/>
          <a:sy n="60" d="100"/>
        </p:scale>
        <p:origin x="-2478" y="-78"/>
      </p:cViewPr>
      <p:guideLst>
        <p:guide orient="horz" pos="2928"/>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BE4946-08C5-FE10-8C14-E423E1539858}"/>
              </a:ext>
            </a:extLst>
          </p:cNvPr>
          <p:cNvSpPr>
            <a:spLocks noGrp="1"/>
          </p:cNvSpPr>
          <p:nvPr>
            <p:ph type="hdr" sz="quarter"/>
          </p:nvPr>
        </p:nvSpPr>
        <p:spPr>
          <a:xfrm>
            <a:off x="0" y="0"/>
            <a:ext cx="2971800" cy="465138"/>
          </a:xfrm>
          <a:prstGeom prst="rect">
            <a:avLst/>
          </a:prstGeom>
        </p:spPr>
        <p:txBody>
          <a:bodyPr vert="horz" wrap="square" lIns="91440" tIns="45720" rIns="91440" bIns="45720" numCol="1" anchor="t" anchorCtr="0" compatLnSpc="1">
            <a:prstTxWarp prst="textNoShape">
              <a:avLst/>
            </a:prstTxWarp>
          </a:bodyPr>
          <a:lstStyle>
            <a:lvl1pPr>
              <a:defRPr sz="1200">
                <a:ea typeface="ＭＳ Ｐゴシック" pitchFamily="34" charset="-128"/>
              </a:defRPr>
            </a:lvl1pPr>
          </a:lstStyle>
          <a:p>
            <a:pPr>
              <a:defRPr/>
            </a:pPr>
            <a:endParaRPr lang="en-US"/>
          </a:p>
        </p:txBody>
      </p:sp>
      <p:sp>
        <p:nvSpPr>
          <p:cNvPr id="4" name="Footer Placeholder 3">
            <a:extLst>
              <a:ext uri="{FF2B5EF4-FFF2-40B4-BE49-F238E27FC236}">
                <a16:creationId xmlns:a16="http://schemas.microsoft.com/office/drawing/2014/main" id="{A9BEADCA-F0CE-B24D-36BA-CE647C396F23}"/>
              </a:ext>
            </a:extLst>
          </p:cNvPr>
          <p:cNvSpPr>
            <a:spLocks noGrp="1"/>
          </p:cNvSpPr>
          <p:nvPr>
            <p:ph type="ftr" sz="quarter" idx="2"/>
          </p:nvPr>
        </p:nvSpPr>
        <p:spPr>
          <a:xfrm>
            <a:off x="0" y="8829675"/>
            <a:ext cx="2971800" cy="465138"/>
          </a:xfrm>
          <a:prstGeom prst="rect">
            <a:avLst/>
          </a:prstGeom>
        </p:spPr>
        <p:txBody>
          <a:bodyPr vert="horz" wrap="square" lIns="91440" tIns="45720" rIns="91440" bIns="45720" numCol="1" anchor="b" anchorCtr="0" compatLnSpc="1">
            <a:prstTxWarp prst="textNoShape">
              <a:avLst/>
            </a:prstTxWarp>
          </a:bodyPr>
          <a:lstStyle>
            <a:lvl1pPr>
              <a:defRPr sz="1200">
                <a:ea typeface="ＭＳ Ｐゴシック" pitchFamily="34" charset="-128"/>
              </a:defRPr>
            </a:lvl1pPr>
          </a:lstStyle>
          <a:p>
            <a:pPr>
              <a:defRPr/>
            </a:pPr>
            <a:endParaRPr lang="en-US"/>
          </a:p>
        </p:txBody>
      </p:sp>
      <p:sp>
        <p:nvSpPr>
          <p:cNvPr id="5" name="Slide Number Placeholder 4">
            <a:extLst>
              <a:ext uri="{FF2B5EF4-FFF2-40B4-BE49-F238E27FC236}">
                <a16:creationId xmlns:a16="http://schemas.microsoft.com/office/drawing/2014/main" id="{01E43703-07ED-6DB0-A3B9-E06DB22C21B6}"/>
              </a:ext>
            </a:extLst>
          </p:cNvPr>
          <p:cNvSpPr>
            <a:spLocks noGrp="1"/>
          </p:cNvSpPr>
          <p:nvPr>
            <p:ph type="sldNum" sz="quarter" idx="3"/>
          </p:nvPr>
        </p:nvSpPr>
        <p:spPr>
          <a:xfrm>
            <a:off x="3884613" y="8829675"/>
            <a:ext cx="2971800" cy="465138"/>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F6DCAF3-1B83-AF49-B00B-3CA2EC06572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AutoShape 1">
            <a:extLst>
              <a:ext uri="{FF2B5EF4-FFF2-40B4-BE49-F238E27FC236}">
                <a16:creationId xmlns:a16="http://schemas.microsoft.com/office/drawing/2014/main" id="{8740FD8C-7A1B-ADB8-AF68-0DE4B1E8D7D8}"/>
              </a:ext>
            </a:extLst>
          </p:cNvPr>
          <p:cNvSpPr>
            <a:spLocks noChangeArrowheads="1"/>
          </p:cNvSpPr>
          <p:nvPr/>
        </p:nvSpPr>
        <p:spPr bwMode="auto">
          <a:xfrm>
            <a:off x="0" y="0"/>
            <a:ext cx="6858000" cy="9296400"/>
          </a:xfrm>
          <a:prstGeom prst="roundRect">
            <a:avLst>
              <a:gd name="adj" fmla="val 23"/>
            </a:avLst>
          </a:prstGeom>
          <a:solidFill>
            <a:srgbClr val="FFFFFF"/>
          </a:solidFill>
          <a:ln w="9525">
            <a:noFill/>
            <a:round/>
            <a:headEnd/>
            <a:tailEnd/>
          </a:ln>
          <a:effectLst/>
        </p:spPr>
        <p:txBody>
          <a:bodyPr wrap="none" anchor="ctr"/>
          <a:lstStyle/>
          <a:p>
            <a:pPr>
              <a:defRPr/>
            </a:pPr>
            <a:endParaRPr lang="en-US">
              <a:ea typeface="ＭＳ Ｐゴシック" pitchFamily="34" charset="-128"/>
            </a:endParaRPr>
          </a:p>
        </p:txBody>
      </p:sp>
      <p:sp>
        <p:nvSpPr>
          <p:cNvPr id="2050" name="Rectangle 2">
            <a:extLst>
              <a:ext uri="{FF2B5EF4-FFF2-40B4-BE49-F238E27FC236}">
                <a16:creationId xmlns:a16="http://schemas.microsoft.com/office/drawing/2014/main" id="{1095B87C-9986-7758-F6AB-8941134C7EF7}"/>
              </a:ext>
            </a:extLst>
          </p:cNvPr>
          <p:cNvSpPr>
            <a:spLocks noGrp="1" noChangeArrowheads="1"/>
          </p:cNvSpPr>
          <p:nvPr>
            <p:ph type="hdr"/>
          </p:nvPr>
        </p:nvSpPr>
        <p:spPr bwMode="auto">
          <a:xfrm>
            <a:off x="0" y="0"/>
            <a:ext cx="2970213" cy="463550"/>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ＭＳ Ｐゴシック" pitchFamily="34" charset="-128"/>
              </a:defRPr>
            </a:lvl1pPr>
          </a:lstStyle>
          <a:p>
            <a:pPr>
              <a:defRPr/>
            </a:pPr>
            <a:endParaRPr lang="en-US"/>
          </a:p>
        </p:txBody>
      </p:sp>
      <p:sp>
        <p:nvSpPr>
          <p:cNvPr id="2051" name="Rectangle 3">
            <a:extLst>
              <a:ext uri="{FF2B5EF4-FFF2-40B4-BE49-F238E27FC236}">
                <a16:creationId xmlns:a16="http://schemas.microsoft.com/office/drawing/2014/main" id="{302FED2F-AAAB-25C8-D3BC-4B8EC54097DB}"/>
              </a:ext>
            </a:extLst>
          </p:cNvPr>
          <p:cNvSpPr>
            <a:spLocks noGrp="1" noChangeArrowheads="1"/>
          </p:cNvSpPr>
          <p:nvPr>
            <p:ph type="dt"/>
          </p:nvPr>
        </p:nvSpPr>
        <p:spPr bwMode="auto">
          <a:xfrm>
            <a:off x="3886200" y="0"/>
            <a:ext cx="2970213" cy="463550"/>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ＭＳ Ｐゴシック" pitchFamily="34" charset="-128"/>
              </a:defRPr>
            </a:lvl1pPr>
          </a:lstStyle>
          <a:p>
            <a:pPr>
              <a:defRPr/>
            </a:pPr>
            <a:endParaRPr lang="en-US"/>
          </a:p>
        </p:txBody>
      </p:sp>
      <p:sp>
        <p:nvSpPr>
          <p:cNvPr id="53253" name="Rectangle 4">
            <a:extLst>
              <a:ext uri="{FF2B5EF4-FFF2-40B4-BE49-F238E27FC236}">
                <a16:creationId xmlns:a16="http://schemas.microsoft.com/office/drawing/2014/main" id="{2F4E2D8F-C888-0A27-4AE8-72D7DC4F94C9}"/>
              </a:ext>
            </a:extLst>
          </p:cNvPr>
          <p:cNvSpPr>
            <a:spLocks noGrp="1" noRot="1" noChangeAspect="1" noChangeArrowheads="1"/>
          </p:cNvSpPr>
          <p:nvPr>
            <p:ph type="sldImg"/>
          </p:nvPr>
        </p:nvSpPr>
        <p:spPr bwMode="auto">
          <a:xfrm>
            <a:off x="1106488" y="696913"/>
            <a:ext cx="4643437" cy="3484562"/>
          </a:xfrm>
          <a:prstGeom prst="rect">
            <a:avLst/>
          </a:prstGeom>
          <a:solidFill>
            <a:srgbClr val="FFFFFF"/>
          </a:solidFill>
          <a:ln w="9360">
            <a:solidFill>
              <a:srgbClr val="000000"/>
            </a:solidFill>
            <a:miter lim="800000"/>
            <a:headEnd/>
            <a:tailEnd/>
          </a:ln>
        </p:spPr>
      </p:sp>
      <p:sp>
        <p:nvSpPr>
          <p:cNvPr id="2053" name="Rectangle 5">
            <a:extLst>
              <a:ext uri="{FF2B5EF4-FFF2-40B4-BE49-F238E27FC236}">
                <a16:creationId xmlns:a16="http://schemas.microsoft.com/office/drawing/2014/main" id="{FCFF98FB-4360-8F68-D866-CE53136F9636}"/>
              </a:ext>
            </a:extLst>
          </p:cNvPr>
          <p:cNvSpPr>
            <a:spLocks noGrp="1" noChangeArrowheads="1"/>
          </p:cNvSpPr>
          <p:nvPr>
            <p:ph type="body"/>
          </p:nvPr>
        </p:nvSpPr>
        <p:spPr bwMode="auto">
          <a:xfrm>
            <a:off x="914400" y="4416425"/>
            <a:ext cx="5027613" cy="4181475"/>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p>
            <a:pPr lvl="0"/>
            <a:endParaRPr lang="en-US" noProof="0"/>
          </a:p>
        </p:txBody>
      </p:sp>
      <p:sp>
        <p:nvSpPr>
          <p:cNvPr id="2054" name="Rectangle 6">
            <a:extLst>
              <a:ext uri="{FF2B5EF4-FFF2-40B4-BE49-F238E27FC236}">
                <a16:creationId xmlns:a16="http://schemas.microsoft.com/office/drawing/2014/main" id="{4AE0D57C-14B2-378B-B5E8-4225463D4516}"/>
              </a:ext>
            </a:extLst>
          </p:cNvPr>
          <p:cNvSpPr>
            <a:spLocks noGrp="1" noChangeArrowheads="1"/>
          </p:cNvSpPr>
          <p:nvPr>
            <p:ph type="ftr"/>
          </p:nvPr>
        </p:nvSpPr>
        <p:spPr bwMode="auto">
          <a:xfrm>
            <a:off x="0" y="8831263"/>
            <a:ext cx="2970213" cy="463550"/>
          </a:xfrm>
          <a:prstGeom prst="rect">
            <a:avLst/>
          </a:prstGeom>
          <a:noFill/>
          <a:ln w="9525">
            <a:noFill/>
            <a:round/>
            <a:headEnd/>
            <a:tailEnd/>
          </a:ln>
          <a:effectLst/>
        </p:spPr>
        <p:txBody>
          <a:bodyPr vert="horz" wrap="square" lIns="90000" tIns="46800" rIns="90000" bIns="46800" numCol="1" anchor="b" anchorCtr="0" compatLnSpc="1">
            <a:prstTxWarp prst="textNoShape">
              <a:avLst/>
            </a:prstTxWarp>
          </a:bodyPr>
          <a:lstStyle>
            <a:lvl1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ＭＳ Ｐゴシック" pitchFamily="34" charset="-128"/>
              </a:defRPr>
            </a:lvl1pPr>
          </a:lstStyle>
          <a:p>
            <a:pPr>
              <a:defRPr/>
            </a:pPr>
            <a:endParaRPr lang="en-US"/>
          </a:p>
        </p:txBody>
      </p:sp>
      <p:sp>
        <p:nvSpPr>
          <p:cNvPr id="2055" name="Rectangle 7">
            <a:extLst>
              <a:ext uri="{FF2B5EF4-FFF2-40B4-BE49-F238E27FC236}">
                <a16:creationId xmlns:a16="http://schemas.microsoft.com/office/drawing/2014/main" id="{A252AF50-48A8-C7CD-1240-4CD751CB9DF3}"/>
              </a:ext>
            </a:extLst>
          </p:cNvPr>
          <p:cNvSpPr>
            <a:spLocks noGrp="1" noChangeArrowheads="1"/>
          </p:cNvSpPr>
          <p:nvPr>
            <p:ph type="sldNum"/>
          </p:nvPr>
        </p:nvSpPr>
        <p:spPr bwMode="auto">
          <a:xfrm>
            <a:off x="3886200" y="8831263"/>
            <a:ext cx="2970213" cy="463550"/>
          </a:xfrm>
          <a:prstGeom prst="rect">
            <a:avLst/>
          </a:prstGeom>
          <a:noFill/>
          <a:ln w="9525">
            <a:noFill/>
            <a:round/>
            <a:headEnd/>
            <a:tailEnd/>
          </a:ln>
          <a:effectLst/>
        </p:spPr>
        <p:txBody>
          <a:bodyPr vert="horz" wrap="square" lIns="90000" tIns="46800" rIns="90000" bIns="46800" numCol="1" anchor="b" anchorCtr="0" compatLnSpc="1">
            <a:prstTxWarp prst="textNoShape">
              <a:avLst/>
            </a:prstTxWarp>
          </a:bodyPr>
          <a:lstStyle>
            <a:lvl1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defRPr>
            </a:lvl1pPr>
          </a:lstStyle>
          <a:p>
            <a:fld id="{D6071FE4-4AB4-544B-855C-71C1FAC5184C}" type="slidenum">
              <a:rPr lang="en-GB" altLang="en-US"/>
              <a:pPr/>
              <a:t>‹#›</a:t>
            </a:fld>
            <a:endParaRPr lang="en-GB" altLang="en-US"/>
          </a:p>
        </p:txBody>
      </p:sp>
    </p:spTree>
  </p:cSld>
  <p:clrMap bg1="lt1" tx1="dk1" bg2="lt2" tx2="dk2" accent1="accent1" accent2="accent2" accent3="accent3" accent4="accent4" accent5="accent5" accent6="accent6" hlink="hlink" folHlink="folHlink"/>
  <p:hf hdr="0" ftr="0" dt="0"/>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06" charset="-52"/>
        <a:ea typeface="MS PGothic" pitchFamily="34" charset="-128"/>
        <a:cs typeface="ＭＳ Ｐゴシック" pitchFamily="-111" charset="-128"/>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06" charset="-52"/>
        <a:ea typeface="MS PGothic" pitchFamily="34" charset="-128"/>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06" charset="-52"/>
        <a:ea typeface="MS PGothic" pitchFamily="34" charset="-128"/>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06" charset="-52"/>
        <a:ea typeface="MS PGothic" pitchFamily="34" charset="-128"/>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06" charset="-52"/>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6AD90149-A472-5747-F4A9-CCB6F34B9D4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71B96A4F-13C2-3542-9DB4-1A8DF1EEC95D}" type="slidenum">
              <a:rPr lang="en-US" altLang="en-US" sz="1200">
                <a:solidFill>
                  <a:srgbClr val="000000"/>
                </a:solidFill>
              </a:rPr>
              <a:pPr/>
              <a:t>3</a:t>
            </a:fld>
            <a:endParaRPr lang="en-US" altLang="en-US" sz="1200">
              <a:solidFill>
                <a:srgbClr val="000000"/>
              </a:solidFill>
            </a:endParaRPr>
          </a:p>
        </p:txBody>
      </p:sp>
      <p:sp>
        <p:nvSpPr>
          <p:cNvPr id="54275" name="Rectangle 2">
            <a:extLst>
              <a:ext uri="{FF2B5EF4-FFF2-40B4-BE49-F238E27FC236}">
                <a16:creationId xmlns:a16="http://schemas.microsoft.com/office/drawing/2014/main" id="{B64BD270-5A33-F073-5FE1-425B08BD2583}"/>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752BC30B-E476-38A5-5EB7-C68DA4E74E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0752A356-60A4-2CDD-BAAD-EAD96C12261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BC3DFB15-97D9-1949-A44B-89A61D969D62}" type="slidenum">
              <a:rPr lang="en-GB" altLang="en-US" sz="1200">
                <a:solidFill>
                  <a:srgbClr val="000000"/>
                </a:solidFill>
              </a:rPr>
              <a:pPr/>
              <a:t>6</a:t>
            </a:fld>
            <a:endParaRPr lang="en-GB" altLang="en-US" sz="1200">
              <a:solidFill>
                <a:srgbClr val="000000"/>
              </a:solidFill>
            </a:endParaRPr>
          </a:p>
        </p:txBody>
      </p:sp>
      <p:sp>
        <p:nvSpPr>
          <p:cNvPr id="55299" name="Text Box 1">
            <a:extLst>
              <a:ext uri="{FF2B5EF4-FFF2-40B4-BE49-F238E27FC236}">
                <a16:creationId xmlns:a16="http://schemas.microsoft.com/office/drawing/2014/main" id="{1E52B61C-E67A-6EFD-2AB8-589AA64C55D4}"/>
              </a:ext>
            </a:extLst>
          </p:cNvPr>
          <p:cNvSpPr>
            <a:spLocks noGrp="1" noRot="1" noChangeAspect="1" noChangeArrowheads="1" noTextEdit="1"/>
          </p:cNvSpPr>
          <p:nvPr>
            <p:ph type="sldImg"/>
          </p:nvPr>
        </p:nvSpPr>
        <p:spPr>
          <a:xfrm>
            <a:off x="1104900" y="696913"/>
            <a:ext cx="4648200" cy="3486150"/>
          </a:xfrm>
          <a:ln/>
        </p:spPr>
      </p:sp>
      <p:sp>
        <p:nvSpPr>
          <p:cNvPr id="55300" name="Text Box 2">
            <a:extLst>
              <a:ext uri="{FF2B5EF4-FFF2-40B4-BE49-F238E27FC236}">
                <a16:creationId xmlns:a16="http://schemas.microsoft.com/office/drawing/2014/main" id="{BB76EDE7-E561-144D-6625-45530DAFBD32}"/>
              </a:ext>
            </a:extLst>
          </p:cNvPr>
          <p:cNvSpPr>
            <a:spLocks noGrp="1" noChangeArrowheads="1"/>
          </p:cNvSpPr>
          <p:nvPr>
            <p:ph type="body" idx="1"/>
          </p:nvPr>
        </p:nvSpPr>
        <p:spPr>
          <a:xfrm>
            <a:off x="914400" y="4416425"/>
            <a:ext cx="50292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E4247803-69CE-2282-E62B-71912D56E8E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1B1AC13D-EC4D-C94F-AE26-582A3B59E79D}" type="slidenum">
              <a:rPr lang="en-GB" altLang="en-US" sz="1200">
                <a:solidFill>
                  <a:srgbClr val="000000"/>
                </a:solidFill>
              </a:rPr>
              <a:pPr/>
              <a:t>7</a:t>
            </a:fld>
            <a:endParaRPr lang="en-GB" altLang="en-US" sz="1200">
              <a:solidFill>
                <a:srgbClr val="000000"/>
              </a:solidFill>
            </a:endParaRPr>
          </a:p>
        </p:txBody>
      </p:sp>
      <p:sp>
        <p:nvSpPr>
          <p:cNvPr id="56323" name="Text Box 1">
            <a:extLst>
              <a:ext uri="{FF2B5EF4-FFF2-40B4-BE49-F238E27FC236}">
                <a16:creationId xmlns:a16="http://schemas.microsoft.com/office/drawing/2014/main" id="{6B5209CA-B143-197F-511F-8675A9D769DB}"/>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6324" name="Text Box 2">
            <a:extLst>
              <a:ext uri="{FF2B5EF4-FFF2-40B4-BE49-F238E27FC236}">
                <a16:creationId xmlns:a16="http://schemas.microsoft.com/office/drawing/2014/main" id="{F886CD03-4EDF-1BAC-F013-E7F9139BB2D1}"/>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10">
            <a:extLst>
              <a:ext uri="{FF2B5EF4-FFF2-40B4-BE49-F238E27FC236}">
                <a16:creationId xmlns:a16="http://schemas.microsoft.com/office/drawing/2014/main" id="{465DB8D0-F095-1744-F3D2-74E6CB505DD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FC70A734-75E5-5F4E-9191-0A0D6ECB6484}" type="slidenum">
              <a:rPr lang="en-GB" altLang="en-US" sz="1200">
                <a:solidFill>
                  <a:srgbClr val="000000"/>
                </a:solidFill>
              </a:rPr>
              <a:pPr/>
              <a:t>8</a:t>
            </a:fld>
            <a:endParaRPr lang="en-GB" altLang="en-US" sz="1200">
              <a:solidFill>
                <a:srgbClr val="000000"/>
              </a:solidFill>
            </a:endParaRPr>
          </a:p>
        </p:txBody>
      </p:sp>
      <p:sp>
        <p:nvSpPr>
          <p:cNvPr id="57347" name="Text Box 1">
            <a:extLst>
              <a:ext uri="{FF2B5EF4-FFF2-40B4-BE49-F238E27FC236}">
                <a16:creationId xmlns:a16="http://schemas.microsoft.com/office/drawing/2014/main" id="{4D83D33E-35F2-DF49-3EEE-4B4EDBD10460}"/>
              </a:ext>
            </a:extLst>
          </p:cNvPr>
          <p:cNvSpPr txBox="1">
            <a:spLocks noChangeArrowheads="1"/>
          </p:cNvSpPr>
          <p:nvPr/>
        </p:nvSpPr>
        <p:spPr bwMode="auto">
          <a:xfrm>
            <a:off x="1143000" y="696913"/>
            <a:ext cx="4572000" cy="3486150"/>
          </a:xfrm>
          <a:prstGeom prst="rect">
            <a:avLst/>
          </a:prstGeom>
          <a:solidFill>
            <a:srgbClr val="FFFFFF"/>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348" name="Text Box 2">
            <a:extLst>
              <a:ext uri="{FF2B5EF4-FFF2-40B4-BE49-F238E27FC236}">
                <a16:creationId xmlns:a16="http://schemas.microsoft.com/office/drawing/2014/main" id="{445CC681-96CE-15D5-F443-4905D447FF71}"/>
              </a:ext>
            </a:extLst>
          </p:cNvPr>
          <p:cNvSpPr>
            <a:spLocks noGrp="1" noChangeArrowheads="1"/>
          </p:cNvSpPr>
          <p:nvPr>
            <p:ph type="body"/>
          </p:nvPr>
        </p:nvSpPr>
        <p:spPr>
          <a:xfrm>
            <a:off x="914400" y="4416425"/>
            <a:ext cx="5024438" cy="4187825"/>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10">
            <a:extLst>
              <a:ext uri="{FF2B5EF4-FFF2-40B4-BE49-F238E27FC236}">
                <a16:creationId xmlns:a16="http://schemas.microsoft.com/office/drawing/2014/main" id="{745562E0-2FAC-C291-0C39-ACDE193C05E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E1AD1403-B222-3847-A798-70FE5C40CD0B}" type="slidenum">
              <a:rPr lang="en-GB" altLang="en-US" sz="1200">
                <a:solidFill>
                  <a:srgbClr val="000000"/>
                </a:solidFill>
              </a:rPr>
              <a:pPr/>
              <a:t>9</a:t>
            </a:fld>
            <a:endParaRPr lang="en-GB" altLang="en-US" sz="1200">
              <a:solidFill>
                <a:srgbClr val="000000"/>
              </a:solidFill>
            </a:endParaRPr>
          </a:p>
        </p:txBody>
      </p:sp>
      <p:sp>
        <p:nvSpPr>
          <p:cNvPr id="58371" name="Text Box 1">
            <a:extLst>
              <a:ext uri="{FF2B5EF4-FFF2-40B4-BE49-F238E27FC236}">
                <a16:creationId xmlns:a16="http://schemas.microsoft.com/office/drawing/2014/main" id="{A1791964-6280-DE69-37A7-44207D9E3905}"/>
              </a:ext>
            </a:extLst>
          </p:cNvPr>
          <p:cNvSpPr txBox="1">
            <a:spLocks noChangeArrowheads="1"/>
          </p:cNvSpPr>
          <p:nvPr/>
        </p:nvSpPr>
        <p:spPr bwMode="auto">
          <a:xfrm>
            <a:off x="1143000" y="696913"/>
            <a:ext cx="4572000" cy="3486150"/>
          </a:xfrm>
          <a:prstGeom prst="rect">
            <a:avLst/>
          </a:prstGeom>
          <a:solidFill>
            <a:srgbClr val="FFFFFF"/>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8372" name="Text Box 2">
            <a:extLst>
              <a:ext uri="{FF2B5EF4-FFF2-40B4-BE49-F238E27FC236}">
                <a16:creationId xmlns:a16="http://schemas.microsoft.com/office/drawing/2014/main" id="{026BCE95-50FB-4985-0243-F6F7F8507828}"/>
              </a:ext>
            </a:extLst>
          </p:cNvPr>
          <p:cNvSpPr>
            <a:spLocks noGrp="1" noChangeArrowheads="1"/>
          </p:cNvSpPr>
          <p:nvPr>
            <p:ph type="body"/>
          </p:nvPr>
        </p:nvSpPr>
        <p:spPr>
          <a:xfrm>
            <a:off x="914400" y="4416425"/>
            <a:ext cx="5024438"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B2C4292D-AD7C-718C-9F25-64CA89CD8C9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2485803E-CC28-F748-B227-958291C6EBB3}" type="slidenum">
              <a:rPr lang="en-GB" altLang="en-US" sz="1200">
                <a:solidFill>
                  <a:srgbClr val="000000"/>
                </a:solidFill>
              </a:rPr>
              <a:pPr/>
              <a:t>10</a:t>
            </a:fld>
            <a:endParaRPr lang="en-GB" altLang="en-US" sz="1200">
              <a:solidFill>
                <a:srgbClr val="000000"/>
              </a:solidFill>
            </a:endParaRPr>
          </a:p>
        </p:txBody>
      </p:sp>
      <p:sp>
        <p:nvSpPr>
          <p:cNvPr id="59395" name="Text Box 1">
            <a:extLst>
              <a:ext uri="{FF2B5EF4-FFF2-40B4-BE49-F238E27FC236}">
                <a16:creationId xmlns:a16="http://schemas.microsoft.com/office/drawing/2014/main" id="{AAA10857-3354-9DC3-D245-A92ED781B4EA}"/>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396" name="Text Box 2">
            <a:extLst>
              <a:ext uri="{FF2B5EF4-FFF2-40B4-BE49-F238E27FC236}">
                <a16:creationId xmlns:a16="http://schemas.microsoft.com/office/drawing/2014/main" id="{55245389-D0E1-86D6-7504-721CA17B3AF4}"/>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5E050B66-24D9-91E2-F263-1D1200CB448B}"/>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F278B95D-8440-5F47-8B38-65D0AD857676}" type="slidenum">
              <a:rPr lang="en-GB" altLang="en-US" sz="1200">
                <a:solidFill>
                  <a:srgbClr val="000000"/>
                </a:solidFill>
              </a:rPr>
              <a:pPr/>
              <a:t>11</a:t>
            </a:fld>
            <a:endParaRPr lang="en-GB" altLang="en-US" sz="1200">
              <a:solidFill>
                <a:srgbClr val="000000"/>
              </a:solidFill>
            </a:endParaRPr>
          </a:p>
        </p:txBody>
      </p:sp>
      <p:sp>
        <p:nvSpPr>
          <p:cNvPr id="60419" name="Text Box 1">
            <a:extLst>
              <a:ext uri="{FF2B5EF4-FFF2-40B4-BE49-F238E27FC236}">
                <a16:creationId xmlns:a16="http://schemas.microsoft.com/office/drawing/2014/main" id="{590224ED-A4AA-3B95-5CB0-F67BAA466D16}"/>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420" name="Text Box 2">
            <a:extLst>
              <a:ext uri="{FF2B5EF4-FFF2-40B4-BE49-F238E27FC236}">
                <a16:creationId xmlns:a16="http://schemas.microsoft.com/office/drawing/2014/main" id="{68E52D4C-C799-CF04-F37B-2F874F7BFA66}"/>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10">
            <a:extLst>
              <a:ext uri="{FF2B5EF4-FFF2-40B4-BE49-F238E27FC236}">
                <a16:creationId xmlns:a16="http://schemas.microsoft.com/office/drawing/2014/main" id="{CC80555D-EB2F-9454-DE82-4469C6E09E55}"/>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EB445617-1C6D-314E-B73E-0DCFCCB5F88A}" type="slidenum">
              <a:rPr lang="en-GB" altLang="en-US" sz="1200">
                <a:solidFill>
                  <a:srgbClr val="000000"/>
                </a:solidFill>
              </a:rPr>
              <a:pPr/>
              <a:t>12</a:t>
            </a:fld>
            <a:endParaRPr lang="en-GB" altLang="en-US" sz="1200">
              <a:solidFill>
                <a:srgbClr val="000000"/>
              </a:solidFill>
            </a:endParaRPr>
          </a:p>
        </p:txBody>
      </p:sp>
      <p:sp>
        <p:nvSpPr>
          <p:cNvPr id="61443" name="Text Box 1025">
            <a:extLst>
              <a:ext uri="{FF2B5EF4-FFF2-40B4-BE49-F238E27FC236}">
                <a16:creationId xmlns:a16="http://schemas.microsoft.com/office/drawing/2014/main" id="{01C9FC6E-BA57-FBE7-3ED0-1727E9703052}"/>
              </a:ext>
            </a:extLst>
          </p:cNvPr>
          <p:cNvSpPr txBox="1">
            <a:spLocks noChangeArrowheads="1"/>
          </p:cNvSpPr>
          <p:nvPr/>
        </p:nvSpPr>
        <p:spPr bwMode="auto">
          <a:xfrm>
            <a:off x="1143000" y="696913"/>
            <a:ext cx="4572000" cy="3486150"/>
          </a:xfrm>
          <a:prstGeom prst="rect">
            <a:avLst/>
          </a:prstGeom>
          <a:solidFill>
            <a:srgbClr val="FFFFFF"/>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444" name="Text Box 1026">
            <a:extLst>
              <a:ext uri="{FF2B5EF4-FFF2-40B4-BE49-F238E27FC236}">
                <a16:creationId xmlns:a16="http://schemas.microsoft.com/office/drawing/2014/main" id="{7046C9DC-F228-70A3-2831-1C615F0E7417}"/>
              </a:ext>
            </a:extLst>
          </p:cNvPr>
          <p:cNvSpPr>
            <a:spLocks noGrp="1" noChangeArrowheads="1"/>
          </p:cNvSpPr>
          <p:nvPr>
            <p:ph type="body"/>
          </p:nvPr>
        </p:nvSpPr>
        <p:spPr>
          <a:xfrm>
            <a:off x="914400" y="4416425"/>
            <a:ext cx="5024438"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104E89A4-003A-8D06-CC32-749C59D940F5}"/>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DC2804C6-170A-C54C-A95D-5D2892EB5879}" type="slidenum">
              <a:rPr lang="en-GB" altLang="en-US" sz="1200">
                <a:solidFill>
                  <a:srgbClr val="000000"/>
                </a:solidFill>
              </a:rPr>
              <a:pPr/>
              <a:t>13</a:t>
            </a:fld>
            <a:endParaRPr lang="en-GB" altLang="en-US" sz="1200">
              <a:solidFill>
                <a:srgbClr val="000000"/>
              </a:solidFill>
            </a:endParaRPr>
          </a:p>
        </p:txBody>
      </p:sp>
      <p:sp>
        <p:nvSpPr>
          <p:cNvPr id="62467" name="Text Box 1">
            <a:extLst>
              <a:ext uri="{FF2B5EF4-FFF2-40B4-BE49-F238E27FC236}">
                <a16:creationId xmlns:a16="http://schemas.microsoft.com/office/drawing/2014/main" id="{85D01C53-85CF-AAFF-18A0-0FD252AE49E0}"/>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468" name="Text Box 2">
            <a:extLst>
              <a:ext uri="{FF2B5EF4-FFF2-40B4-BE49-F238E27FC236}">
                <a16:creationId xmlns:a16="http://schemas.microsoft.com/office/drawing/2014/main" id="{B2B59B0F-7BAD-E51D-3161-503D0F5031DC}"/>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F01E3458-C0DD-1E68-2B16-934DFF45C24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8104B398-D471-9940-A80F-23D3DA2EE899}" type="slidenum">
              <a:rPr lang="en-GB" altLang="en-US" sz="1200">
                <a:solidFill>
                  <a:srgbClr val="000000"/>
                </a:solidFill>
              </a:rPr>
              <a:pPr/>
              <a:t>15</a:t>
            </a:fld>
            <a:endParaRPr lang="en-GB" altLang="en-US" sz="1200">
              <a:solidFill>
                <a:srgbClr val="000000"/>
              </a:solidFill>
            </a:endParaRPr>
          </a:p>
        </p:txBody>
      </p:sp>
      <p:sp>
        <p:nvSpPr>
          <p:cNvPr id="63491" name="Text Box 1">
            <a:extLst>
              <a:ext uri="{FF2B5EF4-FFF2-40B4-BE49-F238E27FC236}">
                <a16:creationId xmlns:a16="http://schemas.microsoft.com/office/drawing/2014/main" id="{89D47664-6AF8-427B-E105-1179577E99C8}"/>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396" name="Text Box 2">
            <a:extLst>
              <a:ext uri="{FF2B5EF4-FFF2-40B4-BE49-F238E27FC236}">
                <a16:creationId xmlns:a16="http://schemas.microsoft.com/office/drawing/2014/main" id="{F020ECD1-419C-A1D5-34BD-B433A4C212FD}"/>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pPr marL="228600" indent="-228600">
              <a:defRPr/>
            </a:pPr>
            <a:r>
              <a:rPr lang="en-US" dirty="0">
                <a:latin typeface="Times New Roman" pitchFamily="18" charset="0"/>
              </a:rPr>
              <a:t>1. How might we remember the last branch outcome?  Answer: table with one bit per branch.</a:t>
            </a:r>
          </a:p>
          <a:p>
            <a:pPr marL="228600" indent="-228600">
              <a:defRPr/>
            </a:pPr>
            <a:r>
              <a:rPr lang="en-US" dirty="0">
                <a:latin typeface="Times New Roman" pitchFamily="18" charset="0"/>
              </a:rPr>
              <a:t>2. What does each bit in the table mean?  Answer: last correct outcome.</a:t>
            </a:r>
          </a:p>
          <a:p>
            <a:pPr>
              <a:defRPr/>
            </a:pPr>
            <a:r>
              <a:rPr lang="en-US" dirty="0">
                <a:latin typeface="Times New Roman" pitchFamily="18" charset="0"/>
              </a:rPr>
              <a:t>3. What is a good way for hardware to identify individual branches?  Answer: address of branch.</a:t>
            </a:r>
          </a:p>
          <a:p>
            <a:pPr>
              <a:defRPr/>
            </a:pPr>
            <a:r>
              <a:rPr lang="en-US" dirty="0">
                <a:latin typeface="Times New Roman" pitchFamily="18" charset="0"/>
              </a:rPr>
              <a:t>4. How might we use the instruction address to pick one of the entries in our table? Answer use some bits as an index.</a:t>
            </a:r>
          </a:p>
          <a:p>
            <a:pPr>
              <a:defRPr/>
            </a:pPr>
            <a:r>
              <a:rPr lang="en-US" dirty="0">
                <a:latin typeface="Times New Roman" pitchFamily="18" charset="0"/>
              </a:rPr>
              <a:t>5. Which bits should we use?  Answer: n-bits where table size is 2^n, but discard lower 2 bits since instructions are 32-bits long and aligned in memory.</a:t>
            </a:r>
          </a:p>
          <a:p>
            <a:pPr>
              <a:defRPr/>
            </a:pPr>
            <a:r>
              <a:rPr lang="en-US" dirty="0">
                <a:latin typeface="Times New Roman" pitchFamily="18" charset="0"/>
              </a:rPr>
              <a:t>6. How do we pick the number of entries in our table?  Answer: CPI – cycle time - area tradeoff.</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1B2979CA-A685-6A01-6D60-D7815BDBCB76}"/>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D47BA889-1A6C-184B-9CEC-52F65C5CC971}" type="slidenum">
              <a:rPr lang="en-GB" altLang="en-US" sz="1200">
                <a:solidFill>
                  <a:srgbClr val="000000"/>
                </a:solidFill>
              </a:rPr>
              <a:pPr/>
              <a:t>18</a:t>
            </a:fld>
            <a:endParaRPr lang="en-GB" altLang="en-US" sz="1200">
              <a:solidFill>
                <a:srgbClr val="000000"/>
              </a:solidFill>
            </a:endParaRPr>
          </a:p>
        </p:txBody>
      </p:sp>
      <p:sp>
        <p:nvSpPr>
          <p:cNvPr id="64515" name="Text Box 1">
            <a:extLst>
              <a:ext uri="{FF2B5EF4-FFF2-40B4-BE49-F238E27FC236}">
                <a16:creationId xmlns:a16="http://schemas.microsoft.com/office/drawing/2014/main" id="{0629F5C4-C2FE-3C97-C95D-B584F0FBB133}"/>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516" name="Text Box 2">
            <a:extLst>
              <a:ext uri="{FF2B5EF4-FFF2-40B4-BE49-F238E27FC236}">
                <a16:creationId xmlns:a16="http://schemas.microsoft.com/office/drawing/2014/main" id="{F11E9493-0366-5FE2-8812-B03D4BE10143}"/>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34FF760D-AF55-1DFC-3CF6-0C240E425DD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42BB4B7A-43CB-6F4E-B40C-2F1A7FC9DED2}" type="slidenum">
              <a:rPr lang="en-GB" altLang="en-US" sz="1200">
                <a:solidFill>
                  <a:srgbClr val="000000"/>
                </a:solidFill>
              </a:rPr>
              <a:pPr/>
              <a:t>19</a:t>
            </a:fld>
            <a:endParaRPr lang="en-GB" altLang="en-US" sz="1200">
              <a:solidFill>
                <a:srgbClr val="000000"/>
              </a:solidFill>
            </a:endParaRPr>
          </a:p>
        </p:txBody>
      </p:sp>
      <p:sp>
        <p:nvSpPr>
          <p:cNvPr id="65539" name="Text Box 1">
            <a:extLst>
              <a:ext uri="{FF2B5EF4-FFF2-40B4-BE49-F238E27FC236}">
                <a16:creationId xmlns:a16="http://schemas.microsoft.com/office/drawing/2014/main" id="{5004E972-8F14-D60C-3A7B-3246347911B8}"/>
              </a:ext>
            </a:extLst>
          </p:cNvPr>
          <p:cNvSpPr>
            <a:spLocks noGrp="1" noRot="1" noChangeAspect="1" noChangeArrowheads="1" noTextEdit="1"/>
          </p:cNvSpPr>
          <p:nvPr>
            <p:ph type="sldImg"/>
          </p:nvPr>
        </p:nvSpPr>
        <p:spPr>
          <a:xfrm>
            <a:off x="1104900" y="696913"/>
            <a:ext cx="4648200" cy="3486150"/>
          </a:xfrm>
          <a:ln/>
        </p:spPr>
      </p:sp>
      <p:sp>
        <p:nvSpPr>
          <p:cNvPr id="65540" name="Text Box 2">
            <a:extLst>
              <a:ext uri="{FF2B5EF4-FFF2-40B4-BE49-F238E27FC236}">
                <a16:creationId xmlns:a16="http://schemas.microsoft.com/office/drawing/2014/main" id="{CAAED63B-374B-89A3-2E6E-44468D702E22}"/>
              </a:ext>
            </a:extLst>
          </p:cNvPr>
          <p:cNvSpPr>
            <a:spLocks noGrp="1" noChangeArrowheads="1"/>
          </p:cNvSpPr>
          <p:nvPr>
            <p:ph type="body" idx="1"/>
          </p:nvPr>
        </p:nvSpPr>
        <p:spPr>
          <a:xfrm>
            <a:off x="914400" y="4416425"/>
            <a:ext cx="50292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8FAD890C-82A5-218B-D9A2-CEC5EC41B3F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FF7B38A2-5B05-A647-80ED-2E958F0E6AF1}" type="slidenum">
              <a:rPr lang="en-GB" altLang="en-US" sz="1200">
                <a:solidFill>
                  <a:srgbClr val="000000"/>
                </a:solidFill>
              </a:rPr>
              <a:pPr/>
              <a:t>21</a:t>
            </a:fld>
            <a:endParaRPr lang="en-GB" altLang="en-US" sz="1200">
              <a:solidFill>
                <a:srgbClr val="000000"/>
              </a:solidFill>
            </a:endParaRPr>
          </a:p>
        </p:txBody>
      </p:sp>
      <p:sp>
        <p:nvSpPr>
          <p:cNvPr id="66563" name="Text Box 1">
            <a:extLst>
              <a:ext uri="{FF2B5EF4-FFF2-40B4-BE49-F238E27FC236}">
                <a16:creationId xmlns:a16="http://schemas.microsoft.com/office/drawing/2014/main" id="{EC27B8D6-8242-7D81-6300-73B602F7A8AD}"/>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564" name="Text Box 2">
            <a:extLst>
              <a:ext uri="{FF2B5EF4-FFF2-40B4-BE49-F238E27FC236}">
                <a16:creationId xmlns:a16="http://schemas.microsoft.com/office/drawing/2014/main" id="{D232FDC6-C8E0-FE8D-A151-8119A65EB277}"/>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7DECD363-BF3E-A61F-867C-F604A37517D5}"/>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EA6A70DD-EFEA-554A-A2E2-DFBBB4F4E792}" type="slidenum">
              <a:rPr lang="en-GB" altLang="en-US" sz="1200">
                <a:solidFill>
                  <a:srgbClr val="000000"/>
                </a:solidFill>
              </a:rPr>
              <a:pPr/>
              <a:t>22</a:t>
            </a:fld>
            <a:endParaRPr lang="en-GB" altLang="en-US" sz="1200">
              <a:solidFill>
                <a:srgbClr val="000000"/>
              </a:solidFill>
            </a:endParaRPr>
          </a:p>
        </p:txBody>
      </p:sp>
      <p:sp>
        <p:nvSpPr>
          <p:cNvPr id="67587" name="Text Box 1">
            <a:extLst>
              <a:ext uri="{FF2B5EF4-FFF2-40B4-BE49-F238E27FC236}">
                <a16:creationId xmlns:a16="http://schemas.microsoft.com/office/drawing/2014/main" id="{F159BFA8-50F0-8655-305C-6655BCF08EA9}"/>
              </a:ext>
            </a:extLst>
          </p:cNvPr>
          <p:cNvSpPr>
            <a:spLocks noGrp="1" noRot="1" noChangeAspect="1" noChangeArrowheads="1" noTextEdit="1"/>
          </p:cNvSpPr>
          <p:nvPr>
            <p:ph type="sldImg"/>
          </p:nvPr>
        </p:nvSpPr>
        <p:spPr>
          <a:xfrm>
            <a:off x="1104900" y="696913"/>
            <a:ext cx="4648200" cy="3486150"/>
          </a:xfrm>
          <a:ln/>
        </p:spPr>
      </p:sp>
      <p:sp>
        <p:nvSpPr>
          <p:cNvPr id="67588" name="Text Box 2">
            <a:extLst>
              <a:ext uri="{FF2B5EF4-FFF2-40B4-BE49-F238E27FC236}">
                <a16:creationId xmlns:a16="http://schemas.microsoft.com/office/drawing/2014/main" id="{BA858CC1-3416-36A1-CC2E-EA811EAB16ED}"/>
              </a:ext>
            </a:extLst>
          </p:cNvPr>
          <p:cNvSpPr>
            <a:spLocks noGrp="1" noChangeArrowheads="1"/>
          </p:cNvSpPr>
          <p:nvPr>
            <p:ph type="body" idx="1"/>
          </p:nvPr>
        </p:nvSpPr>
        <p:spPr>
          <a:xfrm>
            <a:off x="914400" y="4416425"/>
            <a:ext cx="50292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96F4299B-D4A8-2D4D-89B6-6FFECFB6997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7343346C-D5F8-7346-8354-5E511BBC8B82}" type="slidenum">
              <a:rPr lang="en-GB" altLang="en-US" sz="1200">
                <a:solidFill>
                  <a:srgbClr val="000000"/>
                </a:solidFill>
              </a:rPr>
              <a:pPr/>
              <a:t>23</a:t>
            </a:fld>
            <a:endParaRPr lang="en-GB" altLang="en-US" sz="1200">
              <a:solidFill>
                <a:srgbClr val="000000"/>
              </a:solidFill>
            </a:endParaRPr>
          </a:p>
        </p:txBody>
      </p:sp>
      <p:sp>
        <p:nvSpPr>
          <p:cNvPr id="68611" name="Text Box 1">
            <a:extLst>
              <a:ext uri="{FF2B5EF4-FFF2-40B4-BE49-F238E27FC236}">
                <a16:creationId xmlns:a16="http://schemas.microsoft.com/office/drawing/2014/main" id="{AA117EF5-5B19-60C7-A42C-1220953D7481}"/>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8612" name="Text Box 2">
            <a:extLst>
              <a:ext uri="{FF2B5EF4-FFF2-40B4-BE49-F238E27FC236}">
                <a16:creationId xmlns:a16="http://schemas.microsoft.com/office/drawing/2014/main" id="{E0FDD2A8-1906-B2D2-22BE-CFDDF5145A4A}"/>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2903884E-077C-042A-EF03-C39E71F722B2}"/>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26B1FFFE-2B91-6248-869E-F38E3E131AC8}" type="slidenum">
              <a:rPr lang="en-GB" altLang="en-US" sz="1200">
                <a:solidFill>
                  <a:srgbClr val="000000"/>
                </a:solidFill>
              </a:rPr>
              <a:pPr/>
              <a:t>24</a:t>
            </a:fld>
            <a:endParaRPr lang="en-GB" altLang="en-US" sz="1200">
              <a:solidFill>
                <a:srgbClr val="000000"/>
              </a:solidFill>
            </a:endParaRPr>
          </a:p>
        </p:txBody>
      </p:sp>
      <p:sp>
        <p:nvSpPr>
          <p:cNvPr id="69635" name="Text Box 1">
            <a:extLst>
              <a:ext uri="{FF2B5EF4-FFF2-40B4-BE49-F238E27FC236}">
                <a16:creationId xmlns:a16="http://schemas.microsoft.com/office/drawing/2014/main" id="{4BC22563-D392-DB62-6663-713C3084AC95}"/>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9636" name="Text Box 2">
            <a:extLst>
              <a:ext uri="{FF2B5EF4-FFF2-40B4-BE49-F238E27FC236}">
                <a16:creationId xmlns:a16="http://schemas.microsoft.com/office/drawing/2014/main" id="{8F0494F0-4D2C-43F4-C68B-64F24BD2992B}"/>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6E2A42C3-13A8-C080-BF11-5E721A883806}"/>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2BDB1814-14F8-B943-AD81-9C2EC3D87F35}" type="slidenum">
              <a:rPr lang="en-GB" altLang="en-US" sz="1200">
                <a:solidFill>
                  <a:srgbClr val="000000"/>
                </a:solidFill>
              </a:rPr>
              <a:pPr/>
              <a:t>25</a:t>
            </a:fld>
            <a:endParaRPr lang="en-GB" altLang="en-US" sz="1200">
              <a:solidFill>
                <a:srgbClr val="000000"/>
              </a:solidFill>
            </a:endParaRPr>
          </a:p>
        </p:txBody>
      </p:sp>
      <p:sp>
        <p:nvSpPr>
          <p:cNvPr id="70659" name="Text Box 1025">
            <a:extLst>
              <a:ext uri="{FF2B5EF4-FFF2-40B4-BE49-F238E27FC236}">
                <a16:creationId xmlns:a16="http://schemas.microsoft.com/office/drawing/2014/main" id="{23E98425-12D1-DF1F-FA39-79314BBDB01F}"/>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0660" name="Text Box 1026">
            <a:extLst>
              <a:ext uri="{FF2B5EF4-FFF2-40B4-BE49-F238E27FC236}">
                <a16:creationId xmlns:a16="http://schemas.microsoft.com/office/drawing/2014/main" id="{72220498-9FA9-A53B-D7F7-351501F51476}"/>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AC1A550D-F2CA-8BB9-DA08-D719122D91D6}"/>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5D5CE2B4-1025-894A-8C40-0321C50E71C6}" type="slidenum">
              <a:rPr lang="en-GB" altLang="en-US" sz="1200">
                <a:solidFill>
                  <a:srgbClr val="000000"/>
                </a:solidFill>
              </a:rPr>
              <a:pPr/>
              <a:t>26</a:t>
            </a:fld>
            <a:endParaRPr lang="en-GB" altLang="en-US" sz="1200">
              <a:solidFill>
                <a:srgbClr val="000000"/>
              </a:solidFill>
            </a:endParaRPr>
          </a:p>
        </p:txBody>
      </p:sp>
      <p:sp>
        <p:nvSpPr>
          <p:cNvPr id="71683" name="Text Box 1">
            <a:extLst>
              <a:ext uri="{FF2B5EF4-FFF2-40B4-BE49-F238E27FC236}">
                <a16:creationId xmlns:a16="http://schemas.microsoft.com/office/drawing/2014/main" id="{CCB1A063-03A8-4E34-68EC-073F833BC399}"/>
              </a:ext>
            </a:extLst>
          </p:cNvPr>
          <p:cNvSpPr>
            <a:spLocks noGrp="1" noRot="1" noChangeAspect="1" noChangeArrowheads="1" noTextEdit="1"/>
          </p:cNvSpPr>
          <p:nvPr>
            <p:ph type="sldImg"/>
          </p:nvPr>
        </p:nvSpPr>
        <p:spPr>
          <a:xfrm>
            <a:off x="1104900" y="696913"/>
            <a:ext cx="4648200" cy="3486150"/>
          </a:xfrm>
          <a:ln/>
        </p:spPr>
      </p:sp>
      <p:sp>
        <p:nvSpPr>
          <p:cNvPr id="71684" name="Text Box 2">
            <a:extLst>
              <a:ext uri="{FF2B5EF4-FFF2-40B4-BE49-F238E27FC236}">
                <a16:creationId xmlns:a16="http://schemas.microsoft.com/office/drawing/2014/main" id="{0A3C9135-75ED-4C76-E813-81462FA842DF}"/>
              </a:ext>
            </a:extLst>
          </p:cNvPr>
          <p:cNvSpPr>
            <a:spLocks noGrp="1" noChangeArrowheads="1"/>
          </p:cNvSpPr>
          <p:nvPr>
            <p:ph type="body" idx="1"/>
          </p:nvPr>
        </p:nvSpPr>
        <p:spPr>
          <a:xfrm>
            <a:off x="914400" y="4416425"/>
            <a:ext cx="50292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Rectangle 10">
            <a:extLst>
              <a:ext uri="{FF2B5EF4-FFF2-40B4-BE49-F238E27FC236}">
                <a16:creationId xmlns:a16="http://schemas.microsoft.com/office/drawing/2014/main" id="{1268C78E-C1F8-E795-C3C0-C1196538267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0FD6C297-FCD6-9547-B700-95FEFCD87840}" type="slidenum">
              <a:rPr lang="en-GB" altLang="en-US" sz="1200">
                <a:solidFill>
                  <a:srgbClr val="000000"/>
                </a:solidFill>
              </a:rPr>
              <a:pPr/>
              <a:t>27</a:t>
            </a:fld>
            <a:endParaRPr lang="en-GB" altLang="en-US" sz="1200">
              <a:solidFill>
                <a:srgbClr val="000000"/>
              </a:solidFill>
            </a:endParaRPr>
          </a:p>
        </p:txBody>
      </p:sp>
      <p:sp>
        <p:nvSpPr>
          <p:cNvPr id="72707" name="Text Box 1">
            <a:extLst>
              <a:ext uri="{FF2B5EF4-FFF2-40B4-BE49-F238E27FC236}">
                <a16:creationId xmlns:a16="http://schemas.microsoft.com/office/drawing/2014/main" id="{BBFBB3A3-44F7-9058-7AE6-7DA7A48CEB41}"/>
              </a:ext>
            </a:extLst>
          </p:cNvPr>
          <p:cNvSpPr txBox="1">
            <a:spLocks noChangeArrowheads="1"/>
          </p:cNvSpPr>
          <p:nvPr/>
        </p:nvSpPr>
        <p:spPr bwMode="auto">
          <a:xfrm>
            <a:off x="1143000" y="696913"/>
            <a:ext cx="4568825" cy="3482975"/>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2708" name="Text Box 2">
            <a:extLst>
              <a:ext uri="{FF2B5EF4-FFF2-40B4-BE49-F238E27FC236}">
                <a16:creationId xmlns:a16="http://schemas.microsoft.com/office/drawing/2014/main" id="{34FAFE6C-120E-9A6B-B2A9-97C807943DC7}"/>
              </a:ext>
            </a:extLst>
          </p:cNvPr>
          <p:cNvSpPr>
            <a:spLocks noGrp="1" noChangeArrowheads="1"/>
          </p:cNvSpPr>
          <p:nvPr>
            <p:ph type="body"/>
          </p:nvPr>
        </p:nvSpPr>
        <p:spPr>
          <a:xfrm>
            <a:off x="914400" y="4416425"/>
            <a:ext cx="5024438"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AC10E9F7-4996-11C1-54B3-835E9F372B1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3874E48F-AE4B-B448-AC17-1E77B34883A7}" type="slidenum">
              <a:rPr lang="en-GB" altLang="en-US" sz="1200">
                <a:solidFill>
                  <a:srgbClr val="000000"/>
                </a:solidFill>
              </a:rPr>
              <a:pPr/>
              <a:t>28</a:t>
            </a:fld>
            <a:endParaRPr lang="en-GB" altLang="en-US" sz="1200">
              <a:solidFill>
                <a:srgbClr val="000000"/>
              </a:solidFill>
            </a:endParaRPr>
          </a:p>
        </p:txBody>
      </p:sp>
      <p:sp>
        <p:nvSpPr>
          <p:cNvPr id="73731" name="Text Box 1025">
            <a:extLst>
              <a:ext uri="{FF2B5EF4-FFF2-40B4-BE49-F238E27FC236}">
                <a16:creationId xmlns:a16="http://schemas.microsoft.com/office/drawing/2014/main" id="{FE1F1D51-D5B1-D44E-5039-1AF562B0C7D2}"/>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3732" name="Text Box 1026">
            <a:extLst>
              <a:ext uri="{FF2B5EF4-FFF2-40B4-BE49-F238E27FC236}">
                <a16:creationId xmlns:a16="http://schemas.microsoft.com/office/drawing/2014/main" id="{2F94A6F3-EA22-9C7E-C9F2-66742F653E16}"/>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3C109C8F-A23D-B5B5-9DB6-87863B024F2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fld id="{C978DE74-4401-3A4E-B4A7-C6E8A438637C}" type="slidenum">
              <a:rPr lang="en-GB" altLang="en-US" sz="1200">
                <a:solidFill>
                  <a:srgbClr val="000000"/>
                </a:solidFill>
              </a:rPr>
              <a:pPr/>
              <a:t>29</a:t>
            </a:fld>
            <a:endParaRPr lang="en-GB" altLang="en-US" sz="1200">
              <a:solidFill>
                <a:srgbClr val="000000"/>
              </a:solidFill>
            </a:endParaRPr>
          </a:p>
        </p:txBody>
      </p:sp>
      <p:sp>
        <p:nvSpPr>
          <p:cNvPr id="36867" name="Text Box 1">
            <a:extLst>
              <a:ext uri="{FF2B5EF4-FFF2-40B4-BE49-F238E27FC236}">
                <a16:creationId xmlns:a16="http://schemas.microsoft.com/office/drawing/2014/main" id="{3D079748-97BD-77D7-2BE5-A64120ECE934}"/>
              </a:ext>
            </a:extLst>
          </p:cNvPr>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ＭＳ Ｐゴシック" panose="020B0600070205080204" pitchFamily="34" charset="-128"/>
              </a:defRPr>
            </a:lvl1pPr>
            <a:lvl2pPr marL="37931725" indent="-37474525">
              <a:defRPr sz="2400">
                <a:solidFill>
                  <a:schemeClr val="bg1"/>
                </a:solidFill>
                <a:latin typeface="Arial" panose="020B0604020202020204" pitchFamily="34" charset="0"/>
                <a:ea typeface="ＭＳ Ｐゴシック" panose="020B0600070205080204" pitchFamily="34" charset="-128"/>
              </a:defRPr>
            </a:lvl2pPr>
            <a:lvl3pPr>
              <a:defRPr sz="2400">
                <a:solidFill>
                  <a:schemeClr val="bg1"/>
                </a:solidFill>
                <a:latin typeface="Arial" panose="020B0604020202020204" pitchFamily="34" charset="0"/>
                <a:ea typeface="ＭＳ Ｐゴシック" panose="020B0600070205080204" pitchFamily="34" charset="-128"/>
              </a:defRPr>
            </a:lvl3pPr>
            <a:lvl4pPr>
              <a:defRPr sz="2400">
                <a:solidFill>
                  <a:schemeClr val="bg1"/>
                </a:solidFill>
                <a:latin typeface="Arial" panose="020B0604020202020204" pitchFamily="34" charset="0"/>
                <a:ea typeface="ＭＳ Ｐゴシック" panose="020B0600070205080204" pitchFamily="34" charset="-128"/>
              </a:defRPr>
            </a:lvl4pPr>
            <a:lvl5pPr>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36868" name="Text Box 2">
            <a:extLst>
              <a:ext uri="{FF2B5EF4-FFF2-40B4-BE49-F238E27FC236}">
                <a16:creationId xmlns:a16="http://schemas.microsoft.com/office/drawing/2014/main" id="{629C6042-3D8D-0FEE-ACBF-8A08F7B731D5}"/>
              </a:ext>
            </a:extLst>
          </p:cNvPr>
          <p:cNvSpPr>
            <a:spLocks noGrp="1" noChangeArrowheads="1"/>
          </p:cNvSpPr>
          <p:nvPr>
            <p:ph type="body"/>
          </p:nvPr>
        </p:nvSpPr>
        <p:spPr>
          <a:xfrm>
            <a:off x="914400" y="4343400"/>
            <a:ext cx="5029200" cy="4124325"/>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D1233F0E-F449-2C10-5E3E-3976F6E7023F}"/>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F05B49C1-3A2F-5842-AD02-42D1F1A30EE2}" type="slidenum">
              <a:rPr lang="en-GB" altLang="en-US" sz="1200">
                <a:solidFill>
                  <a:srgbClr val="000000"/>
                </a:solidFill>
              </a:rPr>
              <a:pPr/>
              <a:t>33</a:t>
            </a:fld>
            <a:endParaRPr lang="en-GB" altLang="en-US" sz="1200">
              <a:solidFill>
                <a:srgbClr val="000000"/>
              </a:solidFill>
            </a:endParaRPr>
          </a:p>
        </p:txBody>
      </p:sp>
      <p:sp>
        <p:nvSpPr>
          <p:cNvPr id="74755" name="Text Box 2">
            <a:extLst>
              <a:ext uri="{FF2B5EF4-FFF2-40B4-BE49-F238E27FC236}">
                <a16:creationId xmlns:a16="http://schemas.microsoft.com/office/drawing/2014/main" id="{3F606AD6-08FE-A233-EEA7-A6236A8F1C24}"/>
              </a:ext>
            </a:extLst>
          </p:cNvPr>
          <p:cNvSpPr>
            <a:spLocks noGrp="1" noRot="1" noChangeAspect="1" noChangeArrowheads="1" noTextEdit="1"/>
          </p:cNvSpPr>
          <p:nvPr>
            <p:ph type="sldImg"/>
          </p:nvPr>
        </p:nvSpPr>
        <p:spPr>
          <a:xfrm>
            <a:off x="1104900" y="696913"/>
            <a:ext cx="4648200" cy="3486150"/>
          </a:xfrm>
          <a:ln/>
        </p:spPr>
      </p:sp>
      <p:sp>
        <p:nvSpPr>
          <p:cNvPr id="74756" name="Text Box 3">
            <a:extLst>
              <a:ext uri="{FF2B5EF4-FFF2-40B4-BE49-F238E27FC236}">
                <a16:creationId xmlns:a16="http://schemas.microsoft.com/office/drawing/2014/main" id="{BDECACC5-65DC-84D3-C0A6-CDD466ED7FD8}"/>
              </a:ext>
            </a:extLst>
          </p:cNvPr>
          <p:cNvSpPr>
            <a:spLocks noGrp="1" noChangeArrowheads="1"/>
          </p:cNvSpPr>
          <p:nvPr>
            <p:ph type="body" idx="1"/>
          </p:nvPr>
        </p:nvSpPr>
        <p:spPr>
          <a:xfrm>
            <a:off x="914400" y="4416425"/>
            <a:ext cx="50292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892ACE08-6662-E4CC-7270-03EDBB47B89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C010FDCF-A648-614C-921A-26504DA216E8}" type="slidenum">
              <a:rPr lang="en-GB" altLang="en-US" sz="1200">
                <a:solidFill>
                  <a:srgbClr val="000000"/>
                </a:solidFill>
              </a:rPr>
              <a:pPr/>
              <a:t>34</a:t>
            </a:fld>
            <a:endParaRPr lang="en-GB" altLang="en-US" sz="1200">
              <a:solidFill>
                <a:srgbClr val="000000"/>
              </a:solidFill>
            </a:endParaRPr>
          </a:p>
        </p:txBody>
      </p:sp>
      <p:sp>
        <p:nvSpPr>
          <p:cNvPr id="75779" name="Text Box 1">
            <a:extLst>
              <a:ext uri="{FF2B5EF4-FFF2-40B4-BE49-F238E27FC236}">
                <a16:creationId xmlns:a16="http://schemas.microsoft.com/office/drawing/2014/main" id="{084F73C5-F179-52F8-6309-5C98EE6FD6C1}"/>
              </a:ext>
            </a:extLst>
          </p:cNvPr>
          <p:cNvSpPr>
            <a:spLocks noGrp="1" noRot="1" noChangeAspect="1" noChangeArrowheads="1" noTextEdit="1"/>
          </p:cNvSpPr>
          <p:nvPr>
            <p:ph type="sldImg"/>
          </p:nvPr>
        </p:nvSpPr>
        <p:spPr>
          <a:xfrm>
            <a:off x="1104900" y="696913"/>
            <a:ext cx="4648200" cy="3486150"/>
          </a:xfrm>
          <a:ln/>
        </p:spPr>
      </p:sp>
      <p:sp>
        <p:nvSpPr>
          <p:cNvPr id="75780" name="Text Box 2">
            <a:extLst>
              <a:ext uri="{FF2B5EF4-FFF2-40B4-BE49-F238E27FC236}">
                <a16:creationId xmlns:a16="http://schemas.microsoft.com/office/drawing/2014/main" id="{089A37D2-7F0F-4444-D4C1-940EB5C88869}"/>
              </a:ext>
            </a:extLst>
          </p:cNvPr>
          <p:cNvSpPr>
            <a:spLocks noGrp="1" noChangeArrowheads="1"/>
          </p:cNvSpPr>
          <p:nvPr>
            <p:ph type="body" idx="1"/>
          </p:nvPr>
        </p:nvSpPr>
        <p:spPr>
          <a:xfrm>
            <a:off x="914400" y="4416425"/>
            <a:ext cx="50292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F67CB9F-12A1-1FE8-D782-F01BD7851A75}"/>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25F8948A-5EBB-9E4B-B813-6A7E9F2F85E5}" type="slidenum">
              <a:rPr lang="en-GB" altLang="en-US" sz="1200">
                <a:solidFill>
                  <a:srgbClr val="000000"/>
                </a:solidFill>
              </a:rPr>
              <a:pPr/>
              <a:t>35</a:t>
            </a:fld>
            <a:endParaRPr lang="en-GB" altLang="en-US" sz="1200">
              <a:solidFill>
                <a:srgbClr val="000000"/>
              </a:solidFill>
            </a:endParaRPr>
          </a:p>
        </p:txBody>
      </p:sp>
      <p:sp>
        <p:nvSpPr>
          <p:cNvPr id="76803" name="Text Box 2">
            <a:extLst>
              <a:ext uri="{FF2B5EF4-FFF2-40B4-BE49-F238E27FC236}">
                <a16:creationId xmlns:a16="http://schemas.microsoft.com/office/drawing/2014/main" id="{34798F50-D9F1-152E-BFC3-DCFEF55F73C4}"/>
              </a:ext>
            </a:extLst>
          </p:cNvPr>
          <p:cNvSpPr>
            <a:spLocks noGrp="1" noRot="1" noChangeAspect="1" noChangeArrowheads="1" noTextEdit="1"/>
          </p:cNvSpPr>
          <p:nvPr>
            <p:ph type="sldImg"/>
          </p:nvPr>
        </p:nvSpPr>
        <p:spPr>
          <a:xfrm>
            <a:off x="1104900" y="696913"/>
            <a:ext cx="4648200" cy="3486150"/>
          </a:xfrm>
          <a:ln/>
        </p:spPr>
      </p:sp>
      <p:sp>
        <p:nvSpPr>
          <p:cNvPr id="76804" name="Text Box 3">
            <a:extLst>
              <a:ext uri="{FF2B5EF4-FFF2-40B4-BE49-F238E27FC236}">
                <a16:creationId xmlns:a16="http://schemas.microsoft.com/office/drawing/2014/main" id="{8ED6D51F-D6E0-E3C9-3301-2270E2F80129}"/>
              </a:ext>
            </a:extLst>
          </p:cNvPr>
          <p:cNvSpPr>
            <a:spLocks noGrp="1" noChangeArrowheads="1"/>
          </p:cNvSpPr>
          <p:nvPr>
            <p:ph type="body" idx="1"/>
          </p:nvPr>
        </p:nvSpPr>
        <p:spPr>
          <a:xfrm>
            <a:off x="914400" y="4416425"/>
            <a:ext cx="50292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3F6B92F5-8275-1620-8911-E67B9B78700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3DE2D06A-8528-0849-8F1F-B1612F1DB0B9}" type="slidenum">
              <a:rPr lang="en-US" altLang="en-US" sz="1200">
                <a:solidFill>
                  <a:srgbClr val="000000"/>
                </a:solidFill>
              </a:rPr>
              <a:pPr/>
              <a:t>37</a:t>
            </a:fld>
            <a:endParaRPr lang="en-US" altLang="en-US" sz="1200">
              <a:solidFill>
                <a:srgbClr val="000000"/>
              </a:solidFill>
            </a:endParaRPr>
          </a:p>
        </p:txBody>
      </p:sp>
      <p:sp>
        <p:nvSpPr>
          <p:cNvPr id="77827" name="Rectangle 2">
            <a:extLst>
              <a:ext uri="{FF2B5EF4-FFF2-40B4-BE49-F238E27FC236}">
                <a16:creationId xmlns:a16="http://schemas.microsoft.com/office/drawing/2014/main" id="{88722565-7846-B3B9-EBE3-D7ADC7339245}"/>
              </a:ext>
            </a:extLst>
          </p:cNvPr>
          <p:cNvSpPr>
            <a:spLocks noGrp="1" noRot="1" noChangeAspect="1" noChangeArrowheads="1" noTextEdit="1"/>
          </p:cNvSpPr>
          <p:nvPr>
            <p:ph type="sldImg"/>
          </p:nvPr>
        </p:nvSpPr>
        <p:spPr>
          <a:xfrm>
            <a:off x="1106488" y="696913"/>
            <a:ext cx="4638675" cy="3479800"/>
          </a:xfrm>
          <a:ln/>
        </p:spPr>
      </p:sp>
      <p:sp>
        <p:nvSpPr>
          <p:cNvPr id="77828" name="Rectangle 3">
            <a:extLst>
              <a:ext uri="{FF2B5EF4-FFF2-40B4-BE49-F238E27FC236}">
                <a16:creationId xmlns:a16="http://schemas.microsoft.com/office/drawing/2014/main" id="{0F0CBF61-1358-2327-F07C-EF45F57678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ACD7335E-553D-39FF-81A8-AA0BC6F68572}"/>
              </a:ext>
            </a:extLst>
          </p:cNvPr>
          <p:cNvSpPr>
            <a:spLocks noGrp="1" noRot="1" noChangeAspect="1" noTextEdit="1"/>
          </p:cNvSpPr>
          <p:nvPr>
            <p:ph type="sldImg"/>
          </p:nvPr>
        </p:nvSpPr>
        <p:spPr>
          <a:ln/>
        </p:spPr>
      </p:sp>
      <p:sp>
        <p:nvSpPr>
          <p:cNvPr id="78851" name="Notes Placeholder 2">
            <a:extLst>
              <a:ext uri="{FF2B5EF4-FFF2-40B4-BE49-F238E27FC236}">
                <a16:creationId xmlns:a16="http://schemas.microsoft.com/office/drawing/2014/main" id="{6047B32D-9507-26A4-C4F0-FCFB7AE8396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a:latin typeface="Times New Roman" panose="02020603050405020304" pitchFamily="18" charset="0"/>
            </a:endParaRPr>
          </a:p>
        </p:txBody>
      </p:sp>
      <p:sp>
        <p:nvSpPr>
          <p:cNvPr id="78852" name="Slide Number Placeholder 3">
            <a:extLst>
              <a:ext uri="{FF2B5EF4-FFF2-40B4-BE49-F238E27FC236}">
                <a16:creationId xmlns:a16="http://schemas.microsoft.com/office/drawing/2014/main" id="{794E7BAE-260D-6D2F-1416-459FC104E373}"/>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E635F022-198A-D640-B8CF-336BCC37F5A4}" type="slidenum">
              <a:rPr lang="en-GB" altLang="en-US" sz="1200">
                <a:solidFill>
                  <a:srgbClr val="000000"/>
                </a:solidFill>
              </a:rPr>
              <a:pPr/>
              <a:t>38</a:t>
            </a:fld>
            <a:endParaRPr lang="en-GB" altLang="en-US" sz="1200">
              <a:solidFill>
                <a:srgbClr val="000000"/>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8EBA6FCC-450D-9B49-8661-75F85BFC5E3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B065AB17-3E3B-8649-8831-47FCA7306968}" type="slidenum">
              <a:rPr lang="en-GB" altLang="en-US" sz="1200">
                <a:solidFill>
                  <a:srgbClr val="000000"/>
                </a:solidFill>
              </a:rPr>
              <a:pPr/>
              <a:t>39</a:t>
            </a:fld>
            <a:endParaRPr lang="en-GB" altLang="en-US" sz="1200">
              <a:solidFill>
                <a:srgbClr val="000000"/>
              </a:solidFill>
            </a:endParaRPr>
          </a:p>
        </p:txBody>
      </p:sp>
      <p:sp>
        <p:nvSpPr>
          <p:cNvPr id="79875" name="Text Box 2">
            <a:extLst>
              <a:ext uri="{FF2B5EF4-FFF2-40B4-BE49-F238E27FC236}">
                <a16:creationId xmlns:a16="http://schemas.microsoft.com/office/drawing/2014/main" id="{0F793966-F2C3-7AB1-CC49-CB82ED99EF18}"/>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9876" name="Text Box 3">
            <a:extLst>
              <a:ext uri="{FF2B5EF4-FFF2-40B4-BE49-F238E27FC236}">
                <a16:creationId xmlns:a16="http://schemas.microsoft.com/office/drawing/2014/main" id="{9522C4FF-A325-28CE-D9FF-372707982989}"/>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354B2053-639D-F2E5-9649-C90DD4B5EB9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62A4405B-2AB5-6749-B883-067759A9F6DA}" type="slidenum">
              <a:rPr lang="en-GB" altLang="en-US" sz="1200">
                <a:solidFill>
                  <a:srgbClr val="000000"/>
                </a:solidFill>
              </a:rPr>
              <a:pPr/>
              <a:t>40</a:t>
            </a:fld>
            <a:endParaRPr lang="en-GB" altLang="en-US" sz="1200">
              <a:solidFill>
                <a:srgbClr val="000000"/>
              </a:solidFill>
            </a:endParaRPr>
          </a:p>
        </p:txBody>
      </p:sp>
      <p:sp>
        <p:nvSpPr>
          <p:cNvPr id="80899" name="Text Box 2">
            <a:extLst>
              <a:ext uri="{FF2B5EF4-FFF2-40B4-BE49-F238E27FC236}">
                <a16:creationId xmlns:a16="http://schemas.microsoft.com/office/drawing/2014/main" id="{7DDBC60E-4E44-E5BB-70A1-044EAEA1B177}"/>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0900" name="Text Box 3">
            <a:extLst>
              <a:ext uri="{FF2B5EF4-FFF2-40B4-BE49-F238E27FC236}">
                <a16:creationId xmlns:a16="http://schemas.microsoft.com/office/drawing/2014/main" id="{21034123-46B0-6EF1-5091-FBD683E5048C}"/>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44AB2AA8-A338-2562-99D9-613214AC9805}"/>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CAD50EED-2A4A-CA42-8A10-917745E9EE78}" type="slidenum">
              <a:rPr lang="en-GB" altLang="en-US" sz="1200">
                <a:solidFill>
                  <a:srgbClr val="000000"/>
                </a:solidFill>
              </a:rPr>
              <a:pPr/>
              <a:t>41</a:t>
            </a:fld>
            <a:endParaRPr lang="en-GB" altLang="en-US" sz="1200">
              <a:solidFill>
                <a:srgbClr val="000000"/>
              </a:solidFill>
            </a:endParaRPr>
          </a:p>
        </p:txBody>
      </p:sp>
      <p:sp>
        <p:nvSpPr>
          <p:cNvPr id="81923" name="Text Box 2">
            <a:extLst>
              <a:ext uri="{FF2B5EF4-FFF2-40B4-BE49-F238E27FC236}">
                <a16:creationId xmlns:a16="http://schemas.microsoft.com/office/drawing/2014/main" id="{B4C4DA4A-E769-4D2B-D295-3653B79669FA}"/>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1924" name="Text Box 3">
            <a:extLst>
              <a:ext uri="{FF2B5EF4-FFF2-40B4-BE49-F238E27FC236}">
                <a16:creationId xmlns:a16="http://schemas.microsoft.com/office/drawing/2014/main" id="{903760B4-42E8-2FFB-BCDF-03369263C5C6}"/>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6618A718-3554-1D12-9D71-11A5C41116C9}"/>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CDE40DF9-240C-4B42-BE44-094FEFA9CA61}" type="slidenum">
              <a:rPr lang="en-GB" altLang="en-US" sz="1200">
                <a:solidFill>
                  <a:srgbClr val="000000"/>
                </a:solidFill>
              </a:rPr>
              <a:pPr/>
              <a:t>42</a:t>
            </a:fld>
            <a:endParaRPr lang="en-GB" altLang="en-US" sz="1200">
              <a:solidFill>
                <a:srgbClr val="000000"/>
              </a:solidFill>
            </a:endParaRPr>
          </a:p>
        </p:txBody>
      </p:sp>
      <p:sp>
        <p:nvSpPr>
          <p:cNvPr id="82947" name="Text Box 2">
            <a:extLst>
              <a:ext uri="{FF2B5EF4-FFF2-40B4-BE49-F238E27FC236}">
                <a16:creationId xmlns:a16="http://schemas.microsoft.com/office/drawing/2014/main" id="{CADBE24A-3DEE-8AD0-413C-2445FC3DCE3B}"/>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2948" name="Text Box 3">
            <a:extLst>
              <a:ext uri="{FF2B5EF4-FFF2-40B4-BE49-F238E27FC236}">
                <a16:creationId xmlns:a16="http://schemas.microsoft.com/office/drawing/2014/main" id="{E341D59A-00A5-C9FD-0D43-A314608312B4}"/>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BA4E61DF-A0E8-8860-C2DB-468A0D7B729B}"/>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50BC67C5-83E7-5742-B137-2F40024F54AB}" type="slidenum">
              <a:rPr lang="en-GB" altLang="en-US" sz="1200">
                <a:solidFill>
                  <a:srgbClr val="000000"/>
                </a:solidFill>
              </a:rPr>
              <a:pPr/>
              <a:t>43</a:t>
            </a:fld>
            <a:endParaRPr lang="en-GB" altLang="en-US" sz="1200">
              <a:solidFill>
                <a:srgbClr val="000000"/>
              </a:solidFill>
            </a:endParaRPr>
          </a:p>
        </p:txBody>
      </p:sp>
      <p:sp>
        <p:nvSpPr>
          <p:cNvPr id="83971" name="Text Box 2">
            <a:extLst>
              <a:ext uri="{FF2B5EF4-FFF2-40B4-BE49-F238E27FC236}">
                <a16:creationId xmlns:a16="http://schemas.microsoft.com/office/drawing/2014/main" id="{A1A14998-2B1C-F893-1FA2-5FADF8743495}"/>
              </a:ext>
            </a:extLst>
          </p:cNvPr>
          <p:cNvSpPr txBox="1">
            <a:spLocks noChangeArrowheads="1"/>
          </p:cNvSpPr>
          <p:nvPr/>
        </p:nvSpPr>
        <p:spPr bwMode="auto">
          <a:xfrm>
            <a:off x="1143000" y="696913"/>
            <a:ext cx="4572000" cy="3486150"/>
          </a:xfrm>
          <a:prstGeom prst="rect">
            <a:avLst/>
          </a:prstGeom>
          <a:solidFill>
            <a:srgbClr val="FFFFFF"/>
          </a:solidFill>
          <a:ln w="9525">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3972" name="Text Box 3">
            <a:extLst>
              <a:ext uri="{FF2B5EF4-FFF2-40B4-BE49-F238E27FC236}">
                <a16:creationId xmlns:a16="http://schemas.microsoft.com/office/drawing/2014/main" id="{401E10AF-C3CC-38D6-04B9-6E3902D36E6C}"/>
              </a:ext>
            </a:extLst>
          </p:cNvPr>
          <p:cNvSpPr>
            <a:spLocks noGrp="1" noChangeArrowheads="1"/>
          </p:cNvSpPr>
          <p:nvPr>
            <p:ph type="body"/>
          </p:nvPr>
        </p:nvSpPr>
        <p:spPr>
          <a:xfrm>
            <a:off x="914400" y="4416425"/>
            <a:ext cx="5029200" cy="4192588"/>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8FB102EE-FCC3-A1EC-78CF-213EF23CA108}"/>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463E40F2-5262-DA4A-9ACA-9339F9B50079}" type="slidenum">
              <a:rPr lang="en-GB" altLang="en-US" sz="1200">
                <a:solidFill>
                  <a:srgbClr val="000000"/>
                </a:solidFill>
              </a:rPr>
              <a:pPr/>
              <a:t>44</a:t>
            </a:fld>
            <a:endParaRPr lang="en-GB" altLang="en-US" sz="1200">
              <a:solidFill>
                <a:srgbClr val="000000"/>
              </a:solidFill>
            </a:endParaRPr>
          </a:p>
        </p:txBody>
      </p:sp>
      <p:sp>
        <p:nvSpPr>
          <p:cNvPr id="84995" name="Text Box 1">
            <a:extLst>
              <a:ext uri="{FF2B5EF4-FFF2-40B4-BE49-F238E27FC236}">
                <a16:creationId xmlns:a16="http://schemas.microsoft.com/office/drawing/2014/main" id="{44C9367C-D21E-30D7-53E9-FA92789B3954}"/>
              </a:ext>
            </a:extLst>
          </p:cNvPr>
          <p:cNvSpPr>
            <a:spLocks noGrp="1" noRot="1" noChangeAspect="1" noChangeArrowheads="1" noTextEdit="1"/>
          </p:cNvSpPr>
          <p:nvPr>
            <p:ph type="sldImg"/>
          </p:nvPr>
        </p:nvSpPr>
        <p:spPr>
          <a:xfrm>
            <a:off x="1104900" y="696913"/>
            <a:ext cx="4648200" cy="3486150"/>
          </a:xfrm>
          <a:ln/>
        </p:spPr>
      </p:sp>
      <p:sp>
        <p:nvSpPr>
          <p:cNvPr id="84996" name="Text Box 2">
            <a:extLst>
              <a:ext uri="{FF2B5EF4-FFF2-40B4-BE49-F238E27FC236}">
                <a16:creationId xmlns:a16="http://schemas.microsoft.com/office/drawing/2014/main" id="{BD174DA1-8F40-35FF-C68A-88F6DD1C005B}"/>
              </a:ext>
            </a:extLst>
          </p:cNvPr>
          <p:cNvSpPr>
            <a:spLocks noGrp="1" noChangeArrowheads="1"/>
          </p:cNvSpPr>
          <p:nvPr>
            <p:ph type="body" idx="1"/>
          </p:nvPr>
        </p:nvSpPr>
        <p:spPr>
          <a:xfrm>
            <a:off x="914400" y="4416425"/>
            <a:ext cx="50292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10">
            <a:extLst>
              <a:ext uri="{FF2B5EF4-FFF2-40B4-BE49-F238E27FC236}">
                <a16:creationId xmlns:a16="http://schemas.microsoft.com/office/drawing/2014/main" id="{D7EAC6A2-AEA6-079A-6B0B-C2755DC0C40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A4B4E205-1246-1946-92DA-1906FF033E1F}" type="slidenum">
              <a:rPr lang="en-GB" altLang="en-US" sz="1200">
                <a:solidFill>
                  <a:srgbClr val="000000"/>
                </a:solidFill>
              </a:rPr>
              <a:pPr/>
              <a:t>45</a:t>
            </a:fld>
            <a:endParaRPr lang="en-GB" altLang="en-US" sz="1200">
              <a:solidFill>
                <a:srgbClr val="000000"/>
              </a:solidFill>
            </a:endParaRPr>
          </a:p>
        </p:txBody>
      </p:sp>
      <p:sp>
        <p:nvSpPr>
          <p:cNvPr id="86019" name="Text Box 1">
            <a:extLst>
              <a:ext uri="{FF2B5EF4-FFF2-40B4-BE49-F238E27FC236}">
                <a16:creationId xmlns:a16="http://schemas.microsoft.com/office/drawing/2014/main" id="{4B3BF32F-3E0E-A1B8-1727-5C99D380A755}"/>
              </a:ext>
            </a:extLst>
          </p:cNvPr>
          <p:cNvSpPr txBox="1">
            <a:spLocks noChangeArrowheads="1"/>
          </p:cNvSpPr>
          <p:nvPr/>
        </p:nvSpPr>
        <p:spPr bwMode="auto">
          <a:xfrm>
            <a:off x="1143000" y="696913"/>
            <a:ext cx="4572000" cy="3486150"/>
          </a:xfrm>
          <a:prstGeom prst="rect">
            <a:avLst/>
          </a:prstGeom>
          <a:solidFill>
            <a:srgbClr val="FFFFFF"/>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6020" name="Text Box 2">
            <a:extLst>
              <a:ext uri="{FF2B5EF4-FFF2-40B4-BE49-F238E27FC236}">
                <a16:creationId xmlns:a16="http://schemas.microsoft.com/office/drawing/2014/main" id="{4BA48B2D-DBB6-E746-45E2-8DAAD9D9F9DF}"/>
              </a:ext>
            </a:extLst>
          </p:cNvPr>
          <p:cNvSpPr>
            <a:spLocks noGrp="1" noChangeArrowheads="1"/>
          </p:cNvSpPr>
          <p:nvPr>
            <p:ph type="body"/>
          </p:nvPr>
        </p:nvSpPr>
        <p:spPr>
          <a:xfrm>
            <a:off x="914400" y="4416425"/>
            <a:ext cx="5024438" cy="4187825"/>
          </a:xfrm>
          <a:solidFill>
            <a:srgbClr val="FFFFFF"/>
          </a:solidFill>
          <a:ln w="9360">
            <a:solidFill>
              <a:srgbClr val="000000"/>
            </a:solidFill>
            <a:miter lim="800000"/>
          </a:ln>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10">
            <a:extLst>
              <a:ext uri="{FF2B5EF4-FFF2-40B4-BE49-F238E27FC236}">
                <a16:creationId xmlns:a16="http://schemas.microsoft.com/office/drawing/2014/main" id="{C3CB1993-E471-4575-ADF2-641624BD1B8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476D7C2B-CE7E-EC40-A211-76E61B8E464B}" type="slidenum">
              <a:rPr lang="en-GB" altLang="en-US" sz="1200">
                <a:solidFill>
                  <a:srgbClr val="000000"/>
                </a:solidFill>
              </a:rPr>
              <a:pPr/>
              <a:t>49</a:t>
            </a:fld>
            <a:endParaRPr lang="en-GB" altLang="en-US" sz="1200">
              <a:solidFill>
                <a:srgbClr val="000000"/>
              </a:solidFill>
            </a:endParaRPr>
          </a:p>
        </p:txBody>
      </p:sp>
      <p:sp>
        <p:nvSpPr>
          <p:cNvPr id="87043" name="Text Box 1">
            <a:extLst>
              <a:ext uri="{FF2B5EF4-FFF2-40B4-BE49-F238E27FC236}">
                <a16:creationId xmlns:a16="http://schemas.microsoft.com/office/drawing/2014/main" id="{9A6A2C1C-4A1D-A48C-D436-406FA64A3C0F}"/>
              </a:ext>
            </a:extLst>
          </p:cNvPr>
          <p:cNvSpPr txBox="1">
            <a:spLocks noChangeArrowheads="1"/>
          </p:cNvSpPr>
          <p:nvPr/>
        </p:nvSpPr>
        <p:spPr bwMode="auto">
          <a:xfrm>
            <a:off x="1143000" y="696913"/>
            <a:ext cx="4572000" cy="3486150"/>
          </a:xfrm>
          <a:prstGeom prst="rect">
            <a:avLst/>
          </a:prstGeom>
          <a:solidFill>
            <a:srgbClr val="FFFFFF"/>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7044" name="Text Box 2">
            <a:extLst>
              <a:ext uri="{FF2B5EF4-FFF2-40B4-BE49-F238E27FC236}">
                <a16:creationId xmlns:a16="http://schemas.microsoft.com/office/drawing/2014/main" id="{A4CE02C1-EB48-BAB7-4C66-F40291FDB200}"/>
              </a:ext>
            </a:extLst>
          </p:cNvPr>
          <p:cNvSpPr>
            <a:spLocks noGrp="1" noChangeArrowheads="1"/>
          </p:cNvSpPr>
          <p:nvPr>
            <p:ph type="body"/>
          </p:nvPr>
        </p:nvSpPr>
        <p:spPr>
          <a:xfrm>
            <a:off x="914400" y="4416425"/>
            <a:ext cx="5024438"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CA"/>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CA"/>
              <a:t>Click to edit Master subtitle style</a:t>
            </a:r>
            <a:endParaRPr lang="en-US"/>
          </a:p>
        </p:txBody>
      </p:sp>
      <p:sp>
        <p:nvSpPr>
          <p:cNvPr id="4" name="Rectangle 3">
            <a:extLst>
              <a:ext uri="{FF2B5EF4-FFF2-40B4-BE49-F238E27FC236}">
                <a16:creationId xmlns:a16="http://schemas.microsoft.com/office/drawing/2014/main" id="{CB0B8C9A-DEA4-C7A3-BEAC-08E0846B514E}"/>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5" name="Rectangle 4">
            <a:extLst>
              <a:ext uri="{FF2B5EF4-FFF2-40B4-BE49-F238E27FC236}">
                <a16:creationId xmlns:a16="http://schemas.microsoft.com/office/drawing/2014/main" id="{382C4689-A38F-6452-1981-047346713FFD}"/>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6" name="Rectangle 5">
            <a:extLst>
              <a:ext uri="{FF2B5EF4-FFF2-40B4-BE49-F238E27FC236}">
                <a16:creationId xmlns:a16="http://schemas.microsoft.com/office/drawing/2014/main" id="{7FA7F95A-585E-01FF-54A9-F3A560E3BD84}"/>
              </a:ext>
            </a:extLst>
          </p:cNvPr>
          <p:cNvSpPr>
            <a:spLocks noGrp="1" noChangeArrowheads="1"/>
          </p:cNvSpPr>
          <p:nvPr>
            <p:ph type="sldNum" idx="12"/>
          </p:nvPr>
        </p:nvSpPr>
        <p:spPr>
          <a:ln/>
        </p:spPr>
        <p:txBody>
          <a:bodyPr/>
          <a:lstStyle>
            <a:lvl1pPr>
              <a:defRPr/>
            </a:lvl1pPr>
          </a:lstStyle>
          <a:p>
            <a:fld id="{84E97501-2438-EC45-A610-68DEFE19AF5E}" type="slidenum">
              <a:rPr lang="en-GB" altLang="en-US"/>
              <a:pPr/>
              <a:t>‹#›</a:t>
            </a:fld>
            <a:r>
              <a:rPr lang="en-GB" altLang="en-US"/>
              <a:t> </a:t>
            </a:r>
          </a:p>
        </p:txBody>
      </p:sp>
    </p:spTree>
    <p:extLst>
      <p:ext uri="{BB962C8B-B14F-4D97-AF65-F5344CB8AC3E}">
        <p14:creationId xmlns:p14="http://schemas.microsoft.com/office/powerpoint/2010/main" val="3728308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idx="1"/>
          </p:nvPr>
        </p:nvSpPr>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3">
            <a:extLst>
              <a:ext uri="{FF2B5EF4-FFF2-40B4-BE49-F238E27FC236}">
                <a16:creationId xmlns:a16="http://schemas.microsoft.com/office/drawing/2014/main" id="{71071CAF-AED0-6A63-5AE2-A6769882730D}"/>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5" name="Rectangle 4">
            <a:extLst>
              <a:ext uri="{FF2B5EF4-FFF2-40B4-BE49-F238E27FC236}">
                <a16:creationId xmlns:a16="http://schemas.microsoft.com/office/drawing/2014/main" id="{FE2C0E43-C3B8-7FDC-48BB-9C8C76D0A2AB}"/>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6" name="Rectangle 5">
            <a:extLst>
              <a:ext uri="{FF2B5EF4-FFF2-40B4-BE49-F238E27FC236}">
                <a16:creationId xmlns:a16="http://schemas.microsoft.com/office/drawing/2014/main" id="{24505909-3B80-5473-1BFE-3FE0CCB1DFBC}"/>
              </a:ext>
            </a:extLst>
          </p:cNvPr>
          <p:cNvSpPr>
            <a:spLocks noGrp="1" noChangeArrowheads="1"/>
          </p:cNvSpPr>
          <p:nvPr>
            <p:ph type="sldNum" idx="12"/>
          </p:nvPr>
        </p:nvSpPr>
        <p:spPr>
          <a:ln/>
        </p:spPr>
        <p:txBody>
          <a:bodyPr/>
          <a:lstStyle>
            <a:lvl1pPr>
              <a:defRPr/>
            </a:lvl1pPr>
          </a:lstStyle>
          <a:p>
            <a:fld id="{EE1D526D-CFAA-4B4E-9BBC-EA03D6F37109}" type="slidenum">
              <a:rPr lang="en-GB" altLang="en-US"/>
              <a:pPr/>
              <a:t>‹#›</a:t>
            </a:fld>
            <a:r>
              <a:rPr lang="en-GB" altLang="en-US"/>
              <a:t> </a:t>
            </a:r>
          </a:p>
        </p:txBody>
      </p:sp>
    </p:spTree>
    <p:extLst>
      <p:ext uri="{BB962C8B-B14F-4D97-AF65-F5344CB8AC3E}">
        <p14:creationId xmlns:p14="http://schemas.microsoft.com/office/powerpoint/2010/main" val="1006386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CA"/>
              <a:t>Click to edit Master text styles</a:t>
            </a:r>
          </a:p>
        </p:txBody>
      </p:sp>
      <p:sp>
        <p:nvSpPr>
          <p:cNvPr id="4" name="Rectangle 3">
            <a:extLst>
              <a:ext uri="{FF2B5EF4-FFF2-40B4-BE49-F238E27FC236}">
                <a16:creationId xmlns:a16="http://schemas.microsoft.com/office/drawing/2014/main" id="{7BFF4947-646A-84FC-409C-7691F2746A2D}"/>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5" name="Rectangle 4">
            <a:extLst>
              <a:ext uri="{FF2B5EF4-FFF2-40B4-BE49-F238E27FC236}">
                <a16:creationId xmlns:a16="http://schemas.microsoft.com/office/drawing/2014/main" id="{166587D7-FD3C-73A1-8867-B5E86F35CC7C}"/>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6" name="Rectangle 5">
            <a:extLst>
              <a:ext uri="{FF2B5EF4-FFF2-40B4-BE49-F238E27FC236}">
                <a16:creationId xmlns:a16="http://schemas.microsoft.com/office/drawing/2014/main" id="{82DB523B-5514-C6CC-1F62-406916CF52C1}"/>
              </a:ext>
            </a:extLst>
          </p:cNvPr>
          <p:cNvSpPr>
            <a:spLocks noGrp="1" noChangeArrowheads="1"/>
          </p:cNvSpPr>
          <p:nvPr>
            <p:ph type="sldNum" idx="12"/>
          </p:nvPr>
        </p:nvSpPr>
        <p:spPr>
          <a:ln/>
        </p:spPr>
        <p:txBody>
          <a:bodyPr/>
          <a:lstStyle>
            <a:lvl1pPr>
              <a:defRPr/>
            </a:lvl1pPr>
          </a:lstStyle>
          <a:p>
            <a:fld id="{ABDBD30E-E37E-1A4D-854B-F4B00E711AF8}" type="slidenum">
              <a:rPr lang="en-GB" altLang="en-US"/>
              <a:pPr/>
              <a:t>‹#›</a:t>
            </a:fld>
            <a:r>
              <a:rPr lang="en-GB" altLang="en-US"/>
              <a:t> </a:t>
            </a:r>
          </a:p>
        </p:txBody>
      </p:sp>
    </p:spTree>
    <p:extLst>
      <p:ext uri="{BB962C8B-B14F-4D97-AF65-F5344CB8AC3E}">
        <p14:creationId xmlns:p14="http://schemas.microsoft.com/office/powerpoint/2010/main" val="3158465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685800" y="1371600"/>
            <a:ext cx="3808413" cy="47228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4646613" y="1371600"/>
            <a:ext cx="3810000" cy="47228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Rectangle 3">
            <a:extLst>
              <a:ext uri="{FF2B5EF4-FFF2-40B4-BE49-F238E27FC236}">
                <a16:creationId xmlns:a16="http://schemas.microsoft.com/office/drawing/2014/main" id="{9567C5DB-790A-3826-A7F8-A020602292AA}"/>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6" name="Rectangle 4">
            <a:extLst>
              <a:ext uri="{FF2B5EF4-FFF2-40B4-BE49-F238E27FC236}">
                <a16:creationId xmlns:a16="http://schemas.microsoft.com/office/drawing/2014/main" id="{2331B78D-66C8-6F8A-8A6B-767E8042DA9B}"/>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7" name="Rectangle 5">
            <a:extLst>
              <a:ext uri="{FF2B5EF4-FFF2-40B4-BE49-F238E27FC236}">
                <a16:creationId xmlns:a16="http://schemas.microsoft.com/office/drawing/2014/main" id="{B49E30E8-0B95-7F23-CCA9-191E63BE29DE}"/>
              </a:ext>
            </a:extLst>
          </p:cNvPr>
          <p:cNvSpPr>
            <a:spLocks noGrp="1" noChangeArrowheads="1"/>
          </p:cNvSpPr>
          <p:nvPr>
            <p:ph type="sldNum" idx="12"/>
          </p:nvPr>
        </p:nvSpPr>
        <p:spPr>
          <a:ln/>
        </p:spPr>
        <p:txBody>
          <a:bodyPr/>
          <a:lstStyle>
            <a:lvl1pPr>
              <a:defRPr/>
            </a:lvl1pPr>
          </a:lstStyle>
          <a:p>
            <a:fld id="{AC2883CA-09FF-F943-B62B-243B71FB9098}" type="slidenum">
              <a:rPr lang="en-GB" altLang="en-US"/>
              <a:pPr/>
              <a:t>‹#›</a:t>
            </a:fld>
            <a:r>
              <a:rPr lang="en-GB" altLang="en-US"/>
              <a:t> </a:t>
            </a:r>
          </a:p>
        </p:txBody>
      </p:sp>
    </p:spTree>
    <p:extLst>
      <p:ext uri="{BB962C8B-B14F-4D97-AF65-F5344CB8AC3E}">
        <p14:creationId xmlns:p14="http://schemas.microsoft.com/office/powerpoint/2010/main" val="4225513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CA"/>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7" name="Rectangle 3">
            <a:extLst>
              <a:ext uri="{FF2B5EF4-FFF2-40B4-BE49-F238E27FC236}">
                <a16:creationId xmlns:a16="http://schemas.microsoft.com/office/drawing/2014/main" id="{61ED8022-343B-A222-C8A0-7CF9252E18AA}"/>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8" name="Rectangle 4">
            <a:extLst>
              <a:ext uri="{FF2B5EF4-FFF2-40B4-BE49-F238E27FC236}">
                <a16:creationId xmlns:a16="http://schemas.microsoft.com/office/drawing/2014/main" id="{8D7D2D96-0498-AAA9-465D-4A6C0A64DDB0}"/>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9" name="Rectangle 5">
            <a:extLst>
              <a:ext uri="{FF2B5EF4-FFF2-40B4-BE49-F238E27FC236}">
                <a16:creationId xmlns:a16="http://schemas.microsoft.com/office/drawing/2014/main" id="{31B2651A-E879-A40F-DD90-7EA705B6FE0D}"/>
              </a:ext>
            </a:extLst>
          </p:cNvPr>
          <p:cNvSpPr>
            <a:spLocks noGrp="1" noChangeArrowheads="1"/>
          </p:cNvSpPr>
          <p:nvPr>
            <p:ph type="sldNum" idx="12"/>
          </p:nvPr>
        </p:nvSpPr>
        <p:spPr>
          <a:ln/>
        </p:spPr>
        <p:txBody>
          <a:bodyPr/>
          <a:lstStyle>
            <a:lvl1pPr>
              <a:defRPr/>
            </a:lvl1pPr>
          </a:lstStyle>
          <a:p>
            <a:fld id="{FCA5EE43-8911-E447-92BF-3AF4B8730E37}" type="slidenum">
              <a:rPr lang="en-GB" altLang="en-US"/>
              <a:pPr/>
              <a:t>‹#›</a:t>
            </a:fld>
            <a:r>
              <a:rPr lang="en-GB" altLang="en-US"/>
              <a:t> </a:t>
            </a:r>
          </a:p>
        </p:txBody>
      </p:sp>
    </p:spTree>
    <p:extLst>
      <p:ext uri="{BB962C8B-B14F-4D97-AF65-F5344CB8AC3E}">
        <p14:creationId xmlns:p14="http://schemas.microsoft.com/office/powerpoint/2010/main" val="2583690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Rectangle 3">
            <a:extLst>
              <a:ext uri="{FF2B5EF4-FFF2-40B4-BE49-F238E27FC236}">
                <a16:creationId xmlns:a16="http://schemas.microsoft.com/office/drawing/2014/main" id="{A8FDA194-FFB4-DBE3-8862-2EBC381D5A3A}"/>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4" name="Rectangle 4">
            <a:extLst>
              <a:ext uri="{FF2B5EF4-FFF2-40B4-BE49-F238E27FC236}">
                <a16:creationId xmlns:a16="http://schemas.microsoft.com/office/drawing/2014/main" id="{767A655F-EC50-FA9B-6A8D-1D14A4C11D2F}"/>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5" name="Rectangle 5">
            <a:extLst>
              <a:ext uri="{FF2B5EF4-FFF2-40B4-BE49-F238E27FC236}">
                <a16:creationId xmlns:a16="http://schemas.microsoft.com/office/drawing/2014/main" id="{B552D5B4-154B-F14D-9A90-640049652B7E}"/>
              </a:ext>
            </a:extLst>
          </p:cNvPr>
          <p:cNvSpPr>
            <a:spLocks noGrp="1" noChangeArrowheads="1"/>
          </p:cNvSpPr>
          <p:nvPr>
            <p:ph type="sldNum" idx="12"/>
          </p:nvPr>
        </p:nvSpPr>
        <p:spPr>
          <a:ln/>
        </p:spPr>
        <p:txBody>
          <a:bodyPr/>
          <a:lstStyle>
            <a:lvl1pPr>
              <a:defRPr/>
            </a:lvl1pPr>
          </a:lstStyle>
          <a:p>
            <a:fld id="{260F5E25-F89A-AF4F-A635-C86ADA2FEB56}" type="slidenum">
              <a:rPr lang="en-GB" altLang="en-US"/>
              <a:pPr/>
              <a:t>‹#›</a:t>
            </a:fld>
            <a:r>
              <a:rPr lang="en-GB" altLang="en-US"/>
              <a:t> </a:t>
            </a:r>
          </a:p>
        </p:txBody>
      </p:sp>
    </p:spTree>
    <p:extLst>
      <p:ext uri="{BB962C8B-B14F-4D97-AF65-F5344CB8AC3E}">
        <p14:creationId xmlns:p14="http://schemas.microsoft.com/office/powerpoint/2010/main" val="2536848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0688FB8-DBCA-DD99-5877-A996244D4F62}"/>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3" name="Rectangle 4">
            <a:extLst>
              <a:ext uri="{FF2B5EF4-FFF2-40B4-BE49-F238E27FC236}">
                <a16:creationId xmlns:a16="http://schemas.microsoft.com/office/drawing/2014/main" id="{FD041802-C96C-94A0-E779-1DEB228D1AE8}"/>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4" name="Rectangle 5">
            <a:extLst>
              <a:ext uri="{FF2B5EF4-FFF2-40B4-BE49-F238E27FC236}">
                <a16:creationId xmlns:a16="http://schemas.microsoft.com/office/drawing/2014/main" id="{C1EC16B3-C441-F3BE-D5BC-0D6B6FE89E6E}"/>
              </a:ext>
            </a:extLst>
          </p:cNvPr>
          <p:cNvSpPr>
            <a:spLocks noGrp="1" noChangeArrowheads="1"/>
          </p:cNvSpPr>
          <p:nvPr>
            <p:ph type="sldNum" idx="12"/>
          </p:nvPr>
        </p:nvSpPr>
        <p:spPr>
          <a:ln/>
        </p:spPr>
        <p:txBody>
          <a:bodyPr/>
          <a:lstStyle>
            <a:lvl1pPr>
              <a:defRPr/>
            </a:lvl1pPr>
          </a:lstStyle>
          <a:p>
            <a:fld id="{8C5C625D-2D92-8F42-AC70-17AF28105407}" type="slidenum">
              <a:rPr lang="en-GB" altLang="en-US"/>
              <a:pPr/>
              <a:t>‹#›</a:t>
            </a:fld>
            <a:r>
              <a:rPr lang="en-GB" altLang="en-US"/>
              <a:t> </a:t>
            </a:r>
          </a:p>
        </p:txBody>
      </p:sp>
    </p:spTree>
    <p:extLst>
      <p:ext uri="{BB962C8B-B14F-4D97-AF65-F5344CB8AC3E}">
        <p14:creationId xmlns:p14="http://schemas.microsoft.com/office/powerpoint/2010/main" val="3984028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Rectangle 3">
            <a:extLst>
              <a:ext uri="{FF2B5EF4-FFF2-40B4-BE49-F238E27FC236}">
                <a16:creationId xmlns:a16="http://schemas.microsoft.com/office/drawing/2014/main" id="{60CCCE2C-FFAE-C57E-3418-D09781A6FD8E}"/>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6" name="Rectangle 4">
            <a:extLst>
              <a:ext uri="{FF2B5EF4-FFF2-40B4-BE49-F238E27FC236}">
                <a16:creationId xmlns:a16="http://schemas.microsoft.com/office/drawing/2014/main" id="{E66F0144-058E-0629-CCBE-C1336502D155}"/>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7" name="Rectangle 5">
            <a:extLst>
              <a:ext uri="{FF2B5EF4-FFF2-40B4-BE49-F238E27FC236}">
                <a16:creationId xmlns:a16="http://schemas.microsoft.com/office/drawing/2014/main" id="{EEF79674-3050-41A2-1B51-3C67B67A1B25}"/>
              </a:ext>
            </a:extLst>
          </p:cNvPr>
          <p:cNvSpPr>
            <a:spLocks noGrp="1" noChangeArrowheads="1"/>
          </p:cNvSpPr>
          <p:nvPr>
            <p:ph type="sldNum" idx="12"/>
          </p:nvPr>
        </p:nvSpPr>
        <p:spPr>
          <a:ln/>
        </p:spPr>
        <p:txBody>
          <a:bodyPr/>
          <a:lstStyle>
            <a:lvl1pPr>
              <a:defRPr/>
            </a:lvl1pPr>
          </a:lstStyle>
          <a:p>
            <a:fld id="{9EF1173A-602D-2E4A-ADCC-C414C368D5D5}" type="slidenum">
              <a:rPr lang="en-GB" altLang="en-US"/>
              <a:pPr/>
              <a:t>‹#›</a:t>
            </a:fld>
            <a:r>
              <a:rPr lang="en-GB" altLang="en-US"/>
              <a:t> </a:t>
            </a:r>
          </a:p>
        </p:txBody>
      </p:sp>
    </p:spTree>
    <p:extLst>
      <p:ext uri="{BB962C8B-B14F-4D97-AF65-F5344CB8AC3E}">
        <p14:creationId xmlns:p14="http://schemas.microsoft.com/office/powerpoint/2010/main" val="1874288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Rectangle 3">
            <a:extLst>
              <a:ext uri="{FF2B5EF4-FFF2-40B4-BE49-F238E27FC236}">
                <a16:creationId xmlns:a16="http://schemas.microsoft.com/office/drawing/2014/main" id="{FC558C97-A34E-5910-8670-8A0235536298}"/>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6" name="Rectangle 4">
            <a:extLst>
              <a:ext uri="{FF2B5EF4-FFF2-40B4-BE49-F238E27FC236}">
                <a16:creationId xmlns:a16="http://schemas.microsoft.com/office/drawing/2014/main" id="{19F89CCB-C6DA-3E8A-F9D5-F4A3730C2375}"/>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7" name="Rectangle 5">
            <a:extLst>
              <a:ext uri="{FF2B5EF4-FFF2-40B4-BE49-F238E27FC236}">
                <a16:creationId xmlns:a16="http://schemas.microsoft.com/office/drawing/2014/main" id="{E9187827-D92B-D614-DC49-B11A4F51BBEA}"/>
              </a:ext>
            </a:extLst>
          </p:cNvPr>
          <p:cNvSpPr>
            <a:spLocks noGrp="1" noChangeArrowheads="1"/>
          </p:cNvSpPr>
          <p:nvPr>
            <p:ph type="sldNum" idx="12"/>
          </p:nvPr>
        </p:nvSpPr>
        <p:spPr>
          <a:ln/>
        </p:spPr>
        <p:txBody>
          <a:bodyPr/>
          <a:lstStyle>
            <a:lvl1pPr>
              <a:defRPr/>
            </a:lvl1pPr>
          </a:lstStyle>
          <a:p>
            <a:fld id="{440B0B27-2DCC-6D41-89F5-737B780EFCCB}" type="slidenum">
              <a:rPr lang="en-GB" altLang="en-US"/>
              <a:pPr/>
              <a:t>‹#›</a:t>
            </a:fld>
            <a:r>
              <a:rPr lang="en-GB" altLang="en-US"/>
              <a:t> </a:t>
            </a:r>
          </a:p>
        </p:txBody>
      </p:sp>
    </p:spTree>
    <p:extLst>
      <p:ext uri="{BB962C8B-B14F-4D97-AF65-F5344CB8AC3E}">
        <p14:creationId xmlns:p14="http://schemas.microsoft.com/office/powerpoint/2010/main" val="2589939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3">
            <a:extLst>
              <a:ext uri="{FF2B5EF4-FFF2-40B4-BE49-F238E27FC236}">
                <a16:creationId xmlns:a16="http://schemas.microsoft.com/office/drawing/2014/main" id="{331437CD-B1A8-7F8F-D8A5-54955D60BBE5}"/>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5" name="Rectangle 4">
            <a:extLst>
              <a:ext uri="{FF2B5EF4-FFF2-40B4-BE49-F238E27FC236}">
                <a16:creationId xmlns:a16="http://schemas.microsoft.com/office/drawing/2014/main" id="{FD9D325E-AE7A-D596-2D18-90B9AC6DE75C}"/>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6" name="Rectangle 5">
            <a:extLst>
              <a:ext uri="{FF2B5EF4-FFF2-40B4-BE49-F238E27FC236}">
                <a16:creationId xmlns:a16="http://schemas.microsoft.com/office/drawing/2014/main" id="{6DD68EFA-69F0-6DD5-12E8-7357A7C16A55}"/>
              </a:ext>
            </a:extLst>
          </p:cNvPr>
          <p:cNvSpPr>
            <a:spLocks noGrp="1" noChangeArrowheads="1"/>
          </p:cNvSpPr>
          <p:nvPr>
            <p:ph type="sldNum" idx="12"/>
          </p:nvPr>
        </p:nvSpPr>
        <p:spPr>
          <a:ln/>
        </p:spPr>
        <p:txBody>
          <a:bodyPr/>
          <a:lstStyle>
            <a:lvl1pPr>
              <a:defRPr/>
            </a:lvl1pPr>
          </a:lstStyle>
          <a:p>
            <a:fld id="{EC8617A8-BDB3-814B-8A06-942A91AEB7FA}" type="slidenum">
              <a:rPr lang="en-GB" altLang="en-US"/>
              <a:pPr/>
              <a:t>‹#›</a:t>
            </a:fld>
            <a:r>
              <a:rPr lang="en-GB" altLang="en-US"/>
              <a:t> </a:t>
            </a:r>
          </a:p>
        </p:txBody>
      </p:sp>
    </p:spTree>
    <p:extLst>
      <p:ext uri="{BB962C8B-B14F-4D97-AF65-F5344CB8AC3E}">
        <p14:creationId xmlns:p14="http://schemas.microsoft.com/office/powerpoint/2010/main" val="2657026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85725"/>
            <a:ext cx="1941513" cy="6180138"/>
          </a:xfrm>
        </p:spPr>
        <p:txBody>
          <a:bodyPr vert="eaVert"/>
          <a:lstStyle/>
          <a:p>
            <a:r>
              <a:rPr lang="en-CA"/>
              <a:t>Click to edit Master title style</a:t>
            </a:r>
            <a:endParaRPr lang="en-US"/>
          </a:p>
        </p:txBody>
      </p:sp>
      <p:sp>
        <p:nvSpPr>
          <p:cNvPr id="3" name="Vertical Text Placeholder 2"/>
          <p:cNvSpPr>
            <a:spLocks noGrp="1"/>
          </p:cNvSpPr>
          <p:nvPr>
            <p:ph type="body" orient="vert" idx="1"/>
          </p:nvPr>
        </p:nvSpPr>
        <p:spPr>
          <a:xfrm>
            <a:off x="685800" y="-85725"/>
            <a:ext cx="5676900" cy="6180138"/>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3">
            <a:extLst>
              <a:ext uri="{FF2B5EF4-FFF2-40B4-BE49-F238E27FC236}">
                <a16:creationId xmlns:a16="http://schemas.microsoft.com/office/drawing/2014/main" id="{28891BBA-6317-C6F0-FD15-18AA0C0F4E37}"/>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5" name="Rectangle 4">
            <a:extLst>
              <a:ext uri="{FF2B5EF4-FFF2-40B4-BE49-F238E27FC236}">
                <a16:creationId xmlns:a16="http://schemas.microsoft.com/office/drawing/2014/main" id="{91477F3C-1454-4518-E856-593EC05F99A7}"/>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6" name="Rectangle 5">
            <a:extLst>
              <a:ext uri="{FF2B5EF4-FFF2-40B4-BE49-F238E27FC236}">
                <a16:creationId xmlns:a16="http://schemas.microsoft.com/office/drawing/2014/main" id="{AF437245-FF5C-F788-1B88-C1FE7F46AA56}"/>
              </a:ext>
            </a:extLst>
          </p:cNvPr>
          <p:cNvSpPr>
            <a:spLocks noGrp="1" noChangeArrowheads="1"/>
          </p:cNvSpPr>
          <p:nvPr>
            <p:ph type="sldNum" idx="12"/>
          </p:nvPr>
        </p:nvSpPr>
        <p:spPr>
          <a:ln/>
        </p:spPr>
        <p:txBody>
          <a:bodyPr/>
          <a:lstStyle>
            <a:lvl1pPr>
              <a:defRPr/>
            </a:lvl1pPr>
          </a:lstStyle>
          <a:p>
            <a:fld id="{DE99DE3D-5784-674D-90A7-7F7A2A6BC0B1}" type="slidenum">
              <a:rPr lang="en-GB" altLang="en-US"/>
              <a:pPr/>
              <a:t>‹#›</a:t>
            </a:fld>
            <a:r>
              <a:rPr lang="en-GB" altLang="en-US"/>
              <a:t> </a:t>
            </a:r>
          </a:p>
        </p:txBody>
      </p:sp>
    </p:spTree>
    <p:extLst>
      <p:ext uri="{BB962C8B-B14F-4D97-AF65-F5344CB8AC3E}">
        <p14:creationId xmlns:p14="http://schemas.microsoft.com/office/powerpoint/2010/main" val="3344362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85725"/>
            <a:ext cx="7770813" cy="1311275"/>
          </a:xfrm>
        </p:spPr>
        <p:txBody>
          <a:bodyPr/>
          <a:lstStyle/>
          <a:p>
            <a:r>
              <a:rPr lang="en-CA"/>
              <a:t>Click to edit Master title style</a:t>
            </a:r>
            <a:endParaRPr lang="en-US"/>
          </a:p>
        </p:txBody>
      </p:sp>
      <p:sp>
        <p:nvSpPr>
          <p:cNvPr id="3" name="Content Placeholder 2"/>
          <p:cNvSpPr>
            <a:spLocks noGrp="1"/>
          </p:cNvSpPr>
          <p:nvPr>
            <p:ph sz="half" idx="1"/>
          </p:nvPr>
        </p:nvSpPr>
        <p:spPr>
          <a:xfrm>
            <a:off x="685800" y="1371600"/>
            <a:ext cx="7770813" cy="2284413"/>
          </a:xfrm>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685800" y="3808413"/>
            <a:ext cx="7770813" cy="2286000"/>
          </a:xfrm>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Rectangle 3">
            <a:extLst>
              <a:ext uri="{FF2B5EF4-FFF2-40B4-BE49-F238E27FC236}">
                <a16:creationId xmlns:a16="http://schemas.microsoft.com/office/drawing/2014/main" id="{79C67098-07C1-29A5-A338-40AD2E92E85C}"/>
              </a:ext>
            </a:extLst>
          </p:cNvPr>
          <p:cNvSpPr>
            <a:spLocks noGrp="1" noChangeArrowheads="1"/>
          </p:cNvSpPr>
          <p:nvPr>
            <p:ph type="dt" idx="10"/>
          </p:nvPr>
        </p:nvSpPr>
        <p:spPr>
          <a:ln/>
        </p:spPr>
        <p:txBody>
          <a:bodyPr/>
          <a:lstStyle>
            <a:lvl1pPr>
              <a:defRPr/>
            </a:lvl1pPr>
          </a:lstStyle>
          <a:p>
            <a:pPr>
              <a:defRPr/>
            </a:pPr>
            <a:r>
              <a:rPr lang="en-CA"/>
              <a:t>Oct. 15, 2008</a:t>
            </a:r>
            <a:endParaRPr lang="en-GB"/>
          </a:p>
        </p:txBody>
      </p:sp>
      <p:sp>
        <p:nvSpPr>
          <p:cNvPr id="6" name="Rectangle 4">
            <a:extLst>
              <a:ext uri="{FF2B5EF4-FFF2-40B4-BE49-F238E27FC236}">
                <a16:creationId xmlns:a16="http://schemas.microsoft.com/office/drawing/2014/main" id="{67027621-31C6-B45E-855E-EAF1E611DB4D}"/>
              </a:ext>
            </a:extLst>
          </p:cNvPr>
          <p:cNvSpPr>
            <a:spLocks noGrp="1" noChangeArrowheads="1"/>
          </p:cNvSpPr>
          <p:nvPr>
            <p:ph type="ftr" idx="11"/>
          </p:nvPr>
        </p:nvSpPr>
        <p:spPr>
          <a:ln/>
        </p:spPr>
        <p:txBody>
          <a:bodyPr/>
          <a:lstStyle>
            <a:lvl1pPr>
              <a:defRPr/>
            </a:lvl1pPr>
          </a:lstStyle>
          <a:p>
            <a:pPr>
              <a:defRPr/>
            </a:pPr>
            <a:r>
              <a:rPr lang="en-US"/>
              <a:t>EECE 476 - Slide Set 8</a:t>
            </a:r>
            <a:endParaRPr lang="en-GB"/>
          </a:p>
        </p:txBody>
      </p:sp>
      <p:sp>
        <p:nvSpPr>
          <p:cNvPr id="7" name="Rectangle 5">
            <a:extLst>
              <a:ext uri="{FF2B5EF4-FFF2-40B4-BE49-F238E27FC236}">
                <a16:creationId xmlns:a16="http://schemas.microsoft.com/office/drawing/2014/main" id="{BE2EB0DF-F9B4-5AAD-FE69-BDD8B358BA77}"/>
              </a:ext>
            </a:extLst>
          </p:cNvPr>
          <p:cNvSpPr>
            <a:spLocks noGrp="1" noChangeArrowheads="1"/>
          </p:cNvSpPr>
          <p:nvPr>
            <p:ph type="sldNum" idx="12"/>
          </p:nvPr>
        </p:nvSpPr>
        <p:spPr>
          <a:ln/>
        </p:spPr>
        <p:txBody>
          <a:bodyPr/>
          <a:lstStyle>
            <a:lvl1pPr>
              <a:defRPr/>
            </a:lvl1pPr>
          </a:lstStyle>
          <a:p>
            <a:fld id="{14D491FC-7F5A-4347-8F52-7A16C4C6BD0A}" type="slidenum">
              <a:rPr lang="en-GB" altLang="en-US"/>
              <a:pPr/>
              <a:t>‹#›</a:t>
            </a:fld>
            <a:r>
              <a:rPr lang="en-GB" altLang="en-US"/>
              <a:t> </a:t>
            </a:r>
          </a:p>
        </p:txBody>
      </p:sp>
    </p:spTree>
    <p:extLst>
      <p:ext uri="{BB962C8B-B14F-4D97-AF65-F5344CB8AC3E}">
        <p14:creationId xmlns:p14="http://schemas.microsoft.com/office/powerpoint/2010/main" val="3257467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63563"/>
          </a:xfrm>
        </p:spPr>
        <p:txBody>
          <a:bodyPr/>
          <a:lstStyle/>
          <a:p>
            <a:r>
              <a:rPr lang="en-CA"/>
              <a:t>Click to edit Master title style</a:t>
            </a:r>
            <a:endParaRPr lang="en-US"/>
          </a:p>
        </p:txBody>
      </p:sp>
      <p:sp>
        <p:nvSpPr>
          <p:cNvPr id="3" name="Text Placeholder 2"/>
          <p:cNvSpPr>
            <a:spLocks noGrp="1"/>
          </p:cNvSpPr>
          <p:nvPr>
            <p:ph type="body" sz="half" idx="1"/>
          </p:nvPr>
        </p:nvSpPr>
        <p:spPr>
          <a:xfrm>
            <a:off x="457200" y="838200"/>
            <a:ext cx="4038600" cy="5135563"/>
          </a:xfrm>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4648200" y="838200"/>
            <a:ext cx="4038600" cy="5135563"/>
          </a:xfrm>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Date Placeholder 4">
            <a:extLst>
              <a:ext uri="{FF2B5EF4-FFF2-40B4-BE49-F238E27FC236}">
                <a16:creationId xmlns:a16="http://schemas.microsoft.com/office/drawing/2014/main" id="{0E559C21-D825-96EC-6AD3-580A4E5BEA88}"/>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4DFDBE16-74F7-E3B0-E2BC-8E6EEF6BAAF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CEB66FE3-FDC8-BAFD-5272-38D649E72C51}"/>
              </a:ext>
            </a:extLst>
          </p:cNvPr>
          <p:cNvSpPr>
            <a:spLocks noGrp="1"/>
          </p:cNvSpPr>
          <p:nvPr>
            <p:ph type="sldNum" sz="quarter" idx="12"/>
          </p:nvPr>
        </p:nvSpPr>
        <p:spPr/>
        <p:txBody>
          <a:bodyPr/>
          <a:lstStyle>
            <a:lvl1pPr>
              <a:defRPr/>
            </a:lvl1pPr>
          </a:lstStyle>
          <a:p>
            <a:r>
              <a:rPr lang="en-US" altLang="en-US"/>
              <a:t>Slide Set 9, Page </a:t>
            </a:r>
            <a:fld id="{1B4DA781-7DC0-624F-89FC-19B45C1614AA}" type="slidenum">
              <a:rPr lang="en-US" altLang="en-US"/>
              <a:pPr/>
              <a:t>‹#›</a:t>
            </a:fld>
            <a:endParaRPr lang="en-US" altLang="en-US">
              <a:solidFill>
                <a:schemeClr val="tx1"/>
              </a:solidFill>
              <a:latin typeface="Arial" panose="020B0604020202020204" pitchFamily="34" charset="0"/>
            </a:endParaRPr>
          </a:p>
        </p:txBody>
      </p:sp>
    </p:spTree>
    <p:extLst>
      <p:ext uri="{BB962C8B-B14F-4D97-AF65-F5344CB8AC3E}">
        <p14:creationId xmlns:p14="http://schemas.microsoft.com/office/powerpoint/2010/main" val="6919325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ClrTx/>
              <a:buSzTx/>
              <a:buFontTx/>
              <a:buNone/>
            </a:lvl1pPr>
            <a:lvl2pPr marL="0" indent="457200" algn="ctr">
              <a:buClrTx/>
              <a:buSzTx/>
              <a:buFontTx/>
              <a:buNone/>
            </a:lvl2pPr>
            <a:lvl3pPr marL="0" indent="914400" algn="ctr">
              <a:buClrTx/>
              <a:buSzTx/>
              <a:buFontTx/>
              <a:buNone/>
            </a:lvl3pPr>
            <a:lvl4pPr marL="0" indent="1371600" algn="ctr">
              <a:buClrTx/>
              <a:buSzTx/>
              <a:buFontTx/>
              <a:buNone/>
            </a:lvl4pPr>
            <a:lvl5pPr marL="0" indent="1828800" algn="ctr">
              <a:buClrTx/>
              <a:buSzTx/>
              <a:buFontTx/>
              <a:buNone/>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92590739"/>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843726581"/>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buClrTx/>
              <a:buSzTx/>
              <a:buFontTx/>
              <a:buNone/>
              <a:defRPr sz="2000"/>
            </a:lvl1pPr>
            <a:lvl2pPr marL="0" indent="457200">
              <a:buClrTx/>
              <a:buSzTx/>
              <a:buFontTx/>
              <a:buNone/>
              <a:defRPr sz="2000"/>
            </a:lvl2pPr>
            <a:lvl3pPr marL="0" indent="914400">
              <a:buClrTx/>
              <a:buSzTx/>
              <a:buFontTx/>
              <a:buNone/>
              <a:defRPr sz="2000"/>
            </a:lvl3pPr>
            <a:lvl4pPr marL="0" indent="1371600">
              <a:buClrTx/>
              <a:buSzTx/>
              <a:buFontTx/>
              <a:buNone/>
              <a:defRPr sz="2000"/>
            </a:lvl4pPr>
            <a:lvl5pPr marL="0" indent="1828800">
              <a:buClrTx/>
              <a:buSzTx/>
              <a:buFontTx/>
              <a:buNone/>
              <a:defRPr sz="2000"/>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01844218"/>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685800" y="1371600"/>
            <a:ext cx="3808413" cy="47228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95919091"/>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FontTx/>
              <a:buNone/>
              <a:defRPr sz="2400" b="1"/>
            </a:lvl1pPr>
            <a:lvl2pPr marL="0" indent="457200">
              <a:buClrTx/>
              <a:buSzTx/>
              <a:buFontTx/>
              <a:buNone/>
              <a:defRPr sz="2400" b="1"/>
            </a:lvl2pPr>
            <a:lvl3pPr marL="0" indent="914400">
              <a:buClrTx/>
              <a:buSzTx/>
              <a:buFontTx/>
              <a:buNone/>
              <a:defRPr sz="2400" b="1"/>
            </a:lvl3pPr>
            <a:lvl4pPr marL="0" indent="1371600">
              <a:buClrTx/>
              <a:buSzTx/>
              <a:buFontTx/>
              <a:buNone/>
              <a:defRPr sz="2400" b="1"/>
            </a:lvl4pPr>
            <a:lvl5pPr marL="0" indent="1828800">
              <a:buClrTx/>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4645025" y="1535112"/>
            <a:ext cx="4041775" cy="639763"/>
          </a:xfrm>
          <a:prstGeom prst="rect">
            <a:avLst/>
          </a:prstGeom>
        </p:spPr>
        <p:txBody>
          <a:bodyPr anchor="b"/>
          <a:lstStyle/>
          <a:p>
            <a:pPr marL="0" indent="0">
              <a:buClrTx/>
              <a:buSzTx/>
              <a:buFontTx/>
              <a:buNone/>
              <a:defRPr sz="2400" b="1"/>
            </a:pPr>
            <a:endParaRPr/>
          </a:p>
        </p:txBody>
      </p:sp>
      <p:sp>
        <p:nvSpPr>
          <p:cNvPr id="50" name="Slide Number"/>
          <p:cNvSpPr txBox="1">
            <a:spLocks noGrp="1"/>
          </p:cNvSpPr>
          <p:nvPr>
            <p:ph type="sldNum" sz="quarter" idx="2"/>
          </p:nvPr>
        </p:nvSpPr>
        <p:spPr>
          <a:xfrm>
            <a:off x="6553200" y="6248400"/>
            <a:ext cx="443171" cy="437069"/>
          </a:xfrm>
          <a:prstGeom prst="rect">
            <a:avLst/>
          </a:prstGeom>
        </p:spPr>
        <p:txBody>
          <a:bodyPr anchor="t"/>
          <a:lstStyle>
            <a:lvl1pPr algn="l">
              <a:defRPr sz="2400"/>
            </a:lvl1pPr>
          </a:lstStyle>
          <a:p>
            <a:fld id="{86CB4B4D-7CA3-9044-876B-883B54F8677D}" type="slidenum">
              <a:t>‹#›</a:t>
            </a:fld>
            <a:endParaRPr/>
          </a:p>
        </p:txBody>
      </p:sp>
    </p:spTree>
    <p:extLst>
      <p:ext uri="{BB962C8B-B14F-4D97-AF65-F5344CB8AC3E}">
        <p14:creationId xmlns:p14="http://schemas.microsoft.com/office/powerpoint/2010/main" val="2069857445"/>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70805595"/>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2423821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idx="1"/>
          </p:nvPr>
        </p:nvSpPr>
        <p:spPr>
          <a:xfrm>
            <a:off x="3575050" y="273050"/>
            <a:ext cx="5111750" cy="5853113"/>
          </a:xfrm>
          <a:prstGeom prst="rect">
            <a:avLst/>
          </a:prstGeom>
        </p:spPr>
        <p:txBody>
          <a:bodyPr/>
          <a:lstStyle>
            <a:lvl1pPr>
              <a:defRPr sz="3200"/>
            </a:lvl1pPr>
            <a:lvl2pPr marL="781957" indent="-3247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half" idx="21"/>
          </p:nvPr>
        </p:nvSpPr>
        <p:spPr>
          <a:xfrm>
            <a:off x="457199" y="1435100"/>
            <a:ext cx="3008315" cy="4691063"/>
          </a:xfrm>
          <a:prstGeom prst="rect">
            <a:avLst/>
          </a:prstGeom>
        </p:spPr>
        <p:txBody>
          <a:bodyPr/>
          <a:lstStyle/>
          <a:p>
            <a:pPr marL="0" indent="0">
              <a:buClrTx/>
              <a:buSzTx/>
              <a:buFontTx/>
              <a:buNone/>
              <a:defRPr sz="1400"/>
            </a:pPr>
            <a:endParaRPr/>
          </a:p>
        </p:txBody>
      </p:sp>
      <p:sp>
        <p:nvSpPr>
          <p:cNvPr id="75" name="Slide Number"/>
          <p:cNvSpPr txBox="1">
            <a:spLocks noGrp="1"/>
          </p:cNvSpPr>
          <p:nvPr>
            <p:ph type="sldNum" sz="quarter" idx="2"/>
          </p:nvPr>
        </p:nvSpPr>
        <p:spPr>
          <a:xfrm>
            <a:off x="6553200" y="6248400"/>
            <a:ext cx="443171" cy="437069"/>
          </a:xfrm>
          <a:prstGeom prst="rect">
            <a:avLst/>
          </a:prstGeom>
        </p:spPr>
        <p:txBody>
          <a:bodyPr anchor="t"/>
          <a:lstStyle>
            <a:lvl1pPr algn="l">
              <a:defRPr sz="2400"/>
            </a:lvl1pPr>
          </a:lstStyle>
          <a:p>
            <a:fld id="{86CB4B4D-7CA3-9044-876B-883B54F8677D}" type="slidenum">
              <a:t>‹#›</a:t>
            </a:fld>
            <a:endParaRPr/>
          </a:p>
        </p:txBody>
      </p:sp>
    </p:spTree>
    <p:extLst>
      <p:ext uri="{BB962C8B-B14F-4D97-AF65-F5344CB8AC3E}">
        <p14:creationId xmlns:p14="http://schemas.microsoft.com/office/powerpoint/2010/main" val="3120771151"/>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half" idx="21"/>
          </p:nvPr>
        </p:nvSpPr>
        <p:spPr>
          <a:xfrm>
            <a:off x="1792288" y="612775"/>
            <a:ext cx="5486401" cy="4114800"/>
          </a:xfrm>
          <a:prstGeom prst="rect">
            <a:avLst/>
          </a:prstGeom>
        </p:spPr>
        <p:txBody>
          <a:bodyPr lIns="91439" tIns="45719" rIns="91439" bIns="45719">
            <a:noAutofit/>
          </a:bodyPr>
          <a:lstStyle/>
          <a:p>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buClrTx/>
              <a:buSzTx/>
              <a:buFontTx/>
              <a:buNone/>
              <a:defRPr sz="1400"/>
            </a:lvl1pPr>
            <a:lvl2pPr marL="0" indent="457200">
              <a:buClrTx/>
              <a:buSzTx/>
              <a:buFontTx/>
              <a:buNone/>
              <a:defRPr sz="1400"/>
            </a:lvl2pPr>
            <a:lvl3pPr marL="0" indent="914400">
              <a:buClrTx/>
              <a:buSzTx/>
              <a:buFontTx/>
              <a:buNone/>
              <a:defRPr sz="1400"/>
            </a:lvl3pPr>
            <a:lvl4pPr marL="0" indent="1371600">
              <a:buClrTx/>
              <a:buSzTx/>
              <a:buFontTx/>
              <a:buNone/>
              <a:defRPr sz="1400"/>
            </a:lvl4pPr>
            <a:lvl5pPr marL="0" indent="1828800">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xfrm>
            <a:off x="6553200" y="6248400"/>
            <a:ext cx="443171" cy="437069"/>
          </a:xfrm>
          <a:prstGeom prst="rect">
            <a:avLst/>
          </a:prstGeom>
        </p:spPr>
        <p:txBody>
          <a:bodyPr anchor="t"/>
          <a:lstStyle>
            <a:lvl1pPr algn="l">
              <a:defRPr sz="2400"/>
            </a:lvl1pPr>
          </a:lstStyle>
          <a:p>
            <a:fld id="{86CB4B4D-7CA3-9044-876B-883B54F8677D}" type="slidenum">
              <a:t>‹#›</a:t>
            </a:fld>
            <a:endParaRPr/>
          </a:p>
        </p:txBody>
      </p:sp>
    </p:spTree>
    <p:extLst>
      <p:ext uri="{BB962C8B-B14F-4D97-AF65-F5344CB8AC3E}">
        <p14:creationId xmlns:p14="http://schemas.microsoft.com/office/powerpoint/2010/main" val="269186203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and Content over Text">
    <p:spTree>
      <p:nvGrpSpPr>
        <p:cNvPr id="1" name=""/>
        <p:cNvGrpSpPr/>
        <p:nvPr/>
      </p:nvGrpSpPr>
      <p:grpSpPr>
        <a:xfrm>
          <a:off x="0" y="0"/>
          <a:ext cx="0" cy="0"/>
          <a:chOff x="0" y="0"/>
          <a:chExt cx="0" cy="0"/>
        </a:xfrm>
      </p:grpSpPr>
      <p:sp>
        <p:nvSpPr>
          <p:cNvPr id="92" name="Title Text"/>
          <p:cNvSpPr txBox="1">
            <a:spLocks noGrp="1"/>
          </p:cNvSpPr>
          <p:nvPr>
            <p:ph type="title"/>
          </p:nvPr>
        </p:nvSpPr>
        <p:spPr>
          <a:prstGeom prst="rect">
            <a:avLst/>
          </a:prstGeom>
        </p:spPr>
        <p:txBody>
          <a:bodyPr/>
          <a:lstStyle/>
          <a:p>
            <a:r>
              <a:t>Title Text</a:t>
            </a:r>
          </a:p>
        </p:txBody>
      </p:sp>
      <p:sp>
        <p:nvSpPr>
          <p:cNvPr id="93" name="Body Level One…"/>
          <p:cNvSpPr txBox="1">
            <a:spLocks noGrp="1"/>
          </p:cNvSpPr>
          <p:nvPr>
            <p:ph type="body" sz="half" idx="1"/>
          </p:nvPr>
        </p:nvSpPr>
        <p:spPr>
          <a:xfrm>
            <a:off x="685800" y="1371600"/>
            <a:ext cx="7770814" cy="2284414"/>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94" name="Text Placeholder 3"/>
          <p:cNvSpPr>
            <a:spLocks noGrp="1"/>
          </p:cNvSpPr>
          <p:nvPr>
            <p:ph type="body" sz="half" idx="21"/>
          </p:nvPr>
        </p:nvSpPr>
        <p:spPr>
          <a:xfrm>
            <a:off x="685799" y="3808412"/>
            <a:ext cx="7770815" cy="2286001"/>
          </a:xfrm>
          <a:prstGeom prst="rect">
            <a:avLst/>
          </a:prstGeom>
        </p:spPr>
        <p:txBody>
          <a:bodyPr/>
          <a:lstStyle/>
          <a:p>
            <a:endParaRPr/>
          </a:p>
        </p:txBody>
      </p:sp>
      <p:sp>
        <p:nvSpPr>
          <p:cNvPr id="95" name="Slide Number"/>
          <p:cNvSpPr txBox="1">
            <a:spLocks noGrp="1"/>
          </p:cNvSpPr>
          <p:nvPr>
            <p:ph type="sldNum" sz="quarter" idx="2"/>
          </p:nvPr>
        </p:nvSpPr>
        <p:spPr>
          <a:xfrm>
            <a:off x="6553200" y="6248400"/>
            <a:ext cx="443171" cy="437069"/>
          </a:xfrm>
          <a:prstGeom prst="rect">
            <a:avLst/>
          </a:prstGeom>
        </p:spPr>
        <p:txBody>
          <a:bodyPr anchor="t"/>
          <a:lstStyle>
            <a:lvl1pPr algn="l">
              <a:defRPr sz="2400"/>
            </a:lvl1pPr>
          </a:lstStyle>
          <a:p>
            <a:fld id="{86CB4B4D-7CA3-9044-876B-883B54F8677D}" type="slidenum">
              <a:t>‹#›</a:t>
            </a:fld>
            <a:endParaRPr/>
          </a:p>
        </p:txBody>
      </p:sp>
    </p:spTree>
    <p:extLst>
      <p:ext uri="{BB962C8B-B14F-4D97-AF65-F5344CB8AC3E}">
        <p14:creationId xmlns:p14="http://schemas.microsoft.com/office/powerpoint/2010/main" val="653885686"/>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Text, and Content">
    <p:spTree>
      <p:nvGrpSpPr>
        <p:cNvPr id="1" name=""/>
        <p:cNvGrpSpPr/>
        <p:nvPr/>
      </p:nvGrpSpPr>
      <p:grpSpPr>
        <a:xfrm>
          <a:off x="0" y="0"/>
          <a:ext cx="0" cy="0"/>
          <a:chOff x="0" y="0"/>
          <a:chExt cx="0" cy="0"/>
        </a:xfrm>
      </p:grpSpPr>
      <p:sp>
        <p:nvSpPr>
          <p:cNvPr id="102" name="Title Text"/>
          <p:cNvSpPr txBox="1">
            <a:spLocks noGrp="1"/>
          </p:cNvSpPr>
          <p:nvPr>
            <p:ph type="title"/>
          </p:nvPr>
        </p:nvSpPr>
        <p:spPr>
          <a:xfrm>
            <a:off x="457200" y="0"/>
            <a:ext cx="8229600" cy="563563"/>
          </a:xfrm>
          <a:prstGeom prst="rect">
            <a:avLst/>
          </a:prstGeom>
        </p:spPr>
        <p:txBody>
          <a:bodyPr/>
          <a:lstStyle/>
          <a:p>
            <a:r>
              <a:t>Title Text</a:t>
            </a:r>
          </a:p>
        </p:txBody>
      </p:sp>
      <p:sp>
        <p:nvSpPr>
          <p:cNvPr id="103" name="Body Level One…"/>
          <p:cNvSpPr txBox="1">
            <a:spLocks noGrp="1"/>
          </p:cNvSpPr>
          <p:nvPr>
            <p:ph type="body" sz="half" idx="1"/>
          </p:nvPr>
        </p:nvSpPr>
        <p:spPr>
          <a:xfrm>
            <a:off x="457200" y="838200"/>
            <a:ext cx="4038600" cy="513556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04" name="Slide Number"/>
          <p:cNvSpPr txBox="1">
            <a:spLocks noGrp="1"/>
          </p:cNvSpPr>
          <p:nvPr>
            <p:ph type="sldNum" sz="quarter" idx="2"/>
          </p:nvPr>
        </p:nvSpPr>
        <p:spPr>
          <a:xfrm>
            <a:off x="6553200" y="6248400"/>
            <a:ext cx="443171" cy="437069"/>
          </a:xfrm>
          <a:prstGeom prst="rect">
            <a:avLst/>
          </a:prstGeom>
        </p:spPr>
        <p:txBody>
          <a:bodyPr anchor="t"/>
          <a:lstStyle>
            <a:lvl1pPr algn="l">
              <a:defRPr sz="2400"/>
            </a:lvl1pPr>
          </a:lstStyle>
          <a:p>
            <a:fld id="{86CB4B4D-7CA3-9044-876B-883B54F8677D}" type="slidenum">
              <a:t>‹#›</a:t>
            </a:fld>
            <a:endParaRPr/>
          </a:p>
        </p:txBody>
      </p:sp>
    </p:spTree>
    <p:extLst>
      <p:ext uri="{BB962C8B-B14F-4D97-AF65-F5344CB8AC3E}">
        <p14:creationId xmlns:p14="http://schemas.microsoft.com/office/powerpoint/2010/main" val="103735440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97AA0969-B829-8C97-66BC-AA4ED32DFAB2}"/>
              </a:ext>
            </a:extLst>
          </p:cNvPr>
          <p:cNvSpPr>
            <a:spLocks noGrp="1" noChangeArrowheads="1"/>
          </p:cNvSpPr>
          <p:nvPr>
            <p:ph type="title"/>
          </p:nvPr>
        </p:nvSpPr>
        <p:spPr bwMode="auto">
          <a:xfrm>
            <a:off x="685800" y="-85725"/>
            <a:ext cx="777081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ctr" anchorCtr="0" compatLnSpc="1">
            <a:prstTxWarp prst="textNoShape">
              <a:avLst/>
            </a:prstTxWarp>
          </a:bodyPr>
          <a:lstStyle/>
          <a:p>
            <a:pPr lvl="0"/>
            <a:r>
              <a:rPr lang="en-GB" altLang="en-US"/>
              <a:t>Click to edit Master title style</a:t>
            </a:r>
          </a:p>
        </p:txBody>
      </p:sp>
      <p:sp>
        <p:nvSpPr>
          <p:cNvPr id="4099" name="Rectangle 2">
            <a:extLst>
              <a:ext uri="{FF2B5EF4-FFF2-40B4-BE49-F238E27FC236}">
                <a16:creationId xmlns:a16="http://schemas.microsoft.com/office/drawing/2014/main" id="{25AB5A20-FF0B-69DB-4C01-25EE33FBD704}"/>
              </a:ext>
            </a:extLst>
          </p:cNvPr>
          <p:cNvSpPr>
            <a:spLocks noGrp="1" noChangeArrowheads="1"/>
          </p:cNvSpPr>
          <p:nvPr>
            <p:ph type="body" idx="1"/>
          </p:nvPr>
        </p:nvSpPr>
        <p:spPr bwMode="auto">
          <a:xfrm>
            <a:off x="685800" y="1371600"/>
            <a:ext cx="7770813" cy="472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3">
            <a:extLst>
              <a:ext uri="{FF2B5EF4-FFF2-40B4-BE49-F238E27FC236}">
                <a16:creationId xmlns:a16="http://schemas.microsoft.com/office/drawing/2014/main" id="{EDB73093-8C65-2831-303F-DF9FA32BFA76}"/>
              </a:ext>
            </a:extLst>
          </p:cNvPr>
          <p:cNvSpPr>
            <a:spLocks noGrp="1" noChangeArrowheads="1"/>
          </p:cNvSpPr>
          <p:nvPr>
            <p:ph type="dt"/>
          </p:nvPr>
        </p:nvSpPr>
        <p:spPr bwMode="auto">
          <a:xfrm>
            <a:off x="685800" y="6248400"/>
            <a:ext cx="1903413" cy="554038"/>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nSpc>
                <a:spcPct val="100000"/>
              </a:lnSpc>
              <a:buFont typeface="Comic Sans MS" pitchFamily="66" charset="0"/>
              <a:buNone/>
              <a:defRPr sz="1400">
                <a:solidFill>
                  <a:srgbClr val="000000"/>
                </a:solidFill>
                <a:latin typeface="Arial  " charset="-52"/>
                <a:ea typeface="ＭＳ Ｐゴシック" pitchFamily="34" charset="-128"/>
              </a:defRPr>
            </a:lvl1pPr>
          </a:lstStyle>
          <a:p>
            <a:pPr>
              <a:defRPr/>
            </a:pPr>
            <a:r>
              <a:rPr lang="en-CA"/>
              <a:t>Oct. 15, 2008</a:t>
            </a:r>
            <a:endParaRPr lang="en-GB"/>
          </a:p>
        </p:txBody>
      </p:sp>
      <p:sp>
        <p:nvSpPr>
          <p:cNvPr id="1028" name="Rectangle 4">
            <a:extLst>
              <a:ext uri="{FF2B5EF4-FFF2-40B4-BE49-F238E27FC236}">
                <a16:creationId xmlns:a16="http://schemas.microsoft.com/office/drawing/2014/main" id="{F743A0CB-220E-64B6-865B-4FBB9A0CB07E}"/>
              </a:ext>
            </a:extLst>
          </p:cNvPr>
          <p:cNvSpPr>
            <a:spLocks noGrp="1" noChangeArrowheads="1"/>
          </p:cNvSpPr>
          <p:nvPr>
            <p:ph type="ftr"/>
          </p:nvPr>
        </p:nvSpPr>
        <p:spPr bwMode="auto">
          <a:xfrm>
            <a:off x="2730500" y="6248400"/>
            <a:ext cx="3694113"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ctr">
              <a:lnSpc>
                <a:spcPct val="100000"/>
              </a:lnSpc>
              <a:buFont typeface="Comic Sans MS" pitchFamily="66" charset="0"/>
              <a:buNone/>
              <a:defRPr sz="1400">
                <a:solidFill>
                  <a:srgbClr val="000000"/>
                </a:solidFill>
                <a:latin typeface="Arial  " charset="-52"/>
                <a:ea typeface="ＭＳ Ｐゴシック" pitchFamily="34" charset="-128"/>
              </a:defRPr>
            </a:lvl1pPr>
          </a:lstStyle>
          <a:p>
            <a:pPr>
              <a:defRPr/>
            </a:pPr>
            <a:r>
              <a:rPr lang="en-US"/>
              <a:t>EECE 476 - Slide Set 8</a:t>
            </a:r>
            <a:endParaRPr lang="en-GB"/>
          </a:p>
        </p:txBody>
      </p:sp>
      <p:sp>
        <p:nvSpPr>
          <p:cNvPr id="1029" name="Rectangle 5">
            <a:extLst>
              <a:ext uri="{FF2B5EF4-FFF2-40B4-BE49-F238E27FC236}">
                <a16:creationId xmlns:a16="http://schemas.microsoft.com/office/drawing/2014/main" id="{890F0938-C2ED-9285-70D2-C1AA8A76DA33}"/>
              </a:ext>
            </a:extLst>
          </p:cNvPr>
          <p:cNvSpPr>
            <a:spLocks noGrp="1" noChangeArrowheads="1"/>
          </p:cNvSpPr>
          <p:nvPr>
            <p:ph type="sldNum"/>
          </p:nvPr>
        </p:nvSpPr>
        <p:spPr bwMode="auto">
          <a:xfrm>
            <a:off x="6553200" y="6248400"/>
            <a:ext cx="1903413"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r">
              <a:lnSpc>
                <a:spcPct val="100000"/>
              </a:lnSpc>
              <a:buFont typeface="Comic Sans MS" panose="030F0902030302020204" pitchFamily="66" charset="0"/>
              <a:buNone/>
              <a:defRPr sz="1400">
                <a:solidFill>
                  <a:srgbClr val="000000"/>
                </a:solidFill>
                <a:latin typeface="Arial  " charset="0"/>
              </a:defRPr>
            </a:lvl1pPr>
          </a:lstStyle>
          <a:p>
            <a:fld id="{6D77240F-0AFA-D641-B074-79407E8F638E}" type="slidenum">
              <a:rPr lang="en-GB" altLang="en-US"/>
              <a:pPr/>
              <a:t>‹#›</a:t>
            </a:fld>
            <a:r>
              <a:rPr lang="en-GB" altLang="en-US"/>
              <a:t> </a:t>
            </a:r>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Lst>
  <p:hf hdr="0" ftr="0" dt="0"/>
  <p:txStyles>
    <p:titleStyle>
      <a:lvl1pPr algn="ctr" defTabSz="449263" rtl="0" eaLnBrk="0" fontAlgn="base" hangingPunct="0">
        <a:lnSpc>
          <a:spcPct val="116000"/>
        </a:lnSpc>
        <a:spcBef>
          <a:spcPct val="0"/>
        </a:spcBef>
        <a:spcAft>
          <a:spcPct val="0"/>
        </a:spcAft>
        <a:buClr>
          <a:srgbClr val="000000"/>
        </a:buClr>
        <a:buSzPct val="100000"/>
        <a:buFont typeface="Comic Sans MS" panose="030F0902030302020204" pitchFamily="66" charset="0"/>
        <a:defRPr sz="4000">
          <a:solidFill>
            <a:srgbClr val="000000"/>
          </a:solidFill>
          <a:latin typeface="Arial  "/>
          <a:ea typeface="MS PGothic" pitchFamily="34" charset="-128"/>
          <a:cs typeface="Arial  "/>
        </a:defRPr>
      </a:lvl1pPr>
      <a:lvl2pPr algn="ctr" defTabSz="449263" rtl="0" eaLnBrk="0" fontAlgn="base" hangingPunct="0">
        <a:lnSpc>
          <a:spcPct val="116000"/>
        </a:lnSpc>
        <a:spcBef>
          <a:spcPct val="0"/>
        </a:spcBef>
        <a:spcAft>
          <a:spcPct val="0"/>
        </a:spcAft>
        <a:buClr>
          <a:srgbClr val="000000"/>
        </a:buClr>
        <a:buSzPct val="100000"/>
        <a:buFont typeface="Comic Sans MS" panose="030F0902030302020204" pitchFamily="66" charset="0"/>
        <a:defRPr sz="4000">
          <a:solidFill>
            <a:srgbClr val="000000"/>
          </a:solidFill>
          <a:latin typeface="Arial  " charset="-52"/>
          <a:ea typeface="MS PGothic" pitchFamily="34" charset="-128"/>
          <a:cs typeface="Arial  " charset="-52"/>
        </a:defRPr>
      </a:lvl2pPr>
      <a:lvl3pPr algn="ctr" defTabSz="449263" rtl="0" eaLnBrk="0" fontAlgn="base" hangingPunct="0">
        <a:lnSpc>
          <a:spcPct val="116000"/>
        </a:lnSpc>
        <a:spcBef>
          <a:spcPct val="0"/>
        </a:spcBef>
        <a:spcAft>
          <a:spcPct val="0"/>
        </a:spcAft>
        <a:buClr>
          <a:srgbClr val="000000"/>
        </a:buClr>
        <a:buSzPct val="100000"/>
        <a:buFont typeface="Comic Sans MS" panose="030F0902030302020204" pitchFamily="66" charset="0"/>
        <a:defRPr sz="4000">
          <a:solidFill>
            <a:srgbClr val="000000"/>
          </a:solidFill>
          <a:latin typeface="Arial  " charset="-52"/>
          <a:ea typeface="MS PGothic" pitchFamily="34" charset="-128"/>
          <a:cs typeface="Arial  " charset="-52"/>
        </a:defRPr>
      </a:lvl3pPr>
      <a:lvl4pPr algn="ctr" defTabSz="449263" rtl="0" eaLnBrk="0" fontAlgn="base" hangingPunct="0">
        <a:lnSpc>
          <a:spcPct val="116000"/>
        </a:lnSpc>
        <a:spcBef>
          <a:spcPct val="0"/>
        </a:spcBef>
        <a:spcAft>
          <a:spcPct val="0"/>
        </a:spcAft>
        <a:buClr>
          <a:srgbClr val="000000"/>
        </a:buClr>
        <a:buSzPct val="100000"/>
        <a:buFont typeface="Comic Sans MS" panose="030F0902030302020204" pitchFamily="66" charset="0"/>
        <a:defRPr sz="4000">
          <a:solidFill>
            <a:srgbClr val="000000"/>
          </a:solidFill>
          <a:latin typeface="Arial  " charset="-52"/>
          <a:ea typeface="MS PGothic" pitchFamily="34" charset="-128"/>
          <a:cs typeface="Arial  " charset="-52"/>
        </a:defRPr>
      </a:lvl4pPr>
      <a:lvl5pPr algn="ctr" defTabSz="449263" rtl="0" eaLnBrk="0" fontAlgn="base" hangingPunct="0">
        <a:lnSpc>
          <a:spcPct val="116000"/>
        </a:lnSpc>
        <a:spcBef>
          <a:spcPct val="0"/>
        </a:spcBef>
        <a:spcAft>
          <a:spcPct val="0"/>
        </a:spcAft>
        <a:buClr>
          <a:srgbClr val="000000"/>
        </a:buClr>
        <a:buSzPct val="100000"/>
        <a:buFont typeface="Comic Sans MS" panose="030F0902030302020204" pitchFamily="66" charset="0"/>
        <a:defRPr sz="4000">
          <a:solidFill>
            <a:srgbClr val="000000"/>
          </a:solidFill>
          <a:latin typeface="Arial  " charset="-52"/>
          <a:ea typeface="MS PGothic" pitchFamily="34" charset="-128"/>
          <a:cs typeface="Arial  " charset="-52"/>
        </a:defRPr>
      </a:lvl5pPr>
      <a:lvl6pPr marL="457200" algn="ctr" defTabSz="449263" rtl="0" fontAlgn="base">
        <a:lnSpc>
          <a:spcPct val="116000"/>
        </a:lnSpc>
        <a:spcBef>
          <a:spcPct val="0"/>
        </a:spcBef>
        <a:spcAft>
          <a:spcPct val="0"/>
        </a:spcAft>
        <a:buClr>
          <a:srgbClr val="000000"/>
        </a:buClr>
        <a:buSzPct val="100000"/>
        <a:buFont typeface="Comic Sans MS" pitchFamily="-106" charset="0"/>
        <a:defRPr sz="4000">
          <a:solidFill>
            <a:srgbClr val="000000"/>
          </a:solidFill>
          <a:latin typeface="Comic Sans MS" pitchFamily="-106" charset="0"/>
          <a:ea typeface="ＭＳ Ｐゴシック" pitchFamily="-106" charset="-128"/>
        </a:defRPr>
      </a:lvl6pPr>
      <a:lvl7pPr marL="914400" algn="ctr" defTabSz="449263" rtl="0" fontAlgn="base">
        <a:lnSpc>
          <a:spcPct val="116000"/>
        </a:lnSpc>
        <a:spcBef>
          <a:spcPct val="0"/>
        </a:spcBef>
        <a:spcAft>
          <a:spcPct val="0"/>
        </a:spcAft>
        <a:buClr>
          <a:srgbClr val="000000"/>
        </a:buClr>
        <a:buSzPct val="100000"/>
        <a:buFont typeface="Comic Sans MS" pitchFamily="-106" charset="0"/>
        <a:defRPr sz="4000">
          <a:solidFill>
            <a:srgbClr val="000000"/>
          </a:solidFill>
          <a:latin typeface="Comic Sans MS" pitchFamily="-106" charset="0"/>
          <a:ea typeface="ＭＳ Ｐゴシック" pitchFamily="-106" charset="-128"/>
        </a:defRPr>
      </a:lvl7pPr>
      <a:lvl8pPr marL="1371600" algn="ctr" defTabSz="449263" rtl="0" fontAlgn="base">
        <a:lnSpc>
          <a:spcPct val="116000"/>
        </a:lnSpc>
        <a:spcBef>
          <a:spcPct val="0"/>
        </a:spcBef>
        <a:spcAft>
          <a:spcPct val="0"/>
        </a:spcAft>
        <a:buClr>
          <a:srgbClr val="000000"/>
        </a:buClr>
        <a:buSzPct val="100000"/>
        <a:buFont typeface="Comic Sans MS" pitchFamily="-106" charset="0"/>
        <a:defRPr sz="4000">
          <a:solidFill>
            <a:srgbClr val="000000"/>
          </a:solidFill>
          <a:latin typeface="Comic Sans MS" pitchFamily="-106" charset="0"/>
          <a:ea typeface="ＭＳ Ｐゴシック" pitchFamily="-106" charset="-128"/>
        </a:defRPr>
      </a:lvl8pPr>
      <a:lvl9pPr marL="1828800" algn="ctr" defTabSz="449263" rtl="0" fontAlgn="base">
        <a:lnSpc>
          <a:spcPct val="116000"/>
        </a:lnSpc>
        <a:spcBef>
          <a:spcPct val="0"/>
        </a:spcBef>
        <a:spcAft>
          <a:spcPct val="0"/>
        </a:spcAft>
        <a:buClr>
          <a:srgbClr val="000000"/>
        </a:buClr>
        <a:buSzPct val="100000"/>
        <a:buFont typeface="Comic Sans MS" pitchFamily="-106" charset="0"/>
        <a:defRPr sz="4000">
          <a:solidFill>
            <a:srgbClr val="000000"/>
          </a:solidFill>
          <a:latin typeface="Comic Sans MS" pitchFamily="-106" charset="0"/>
          <a:ea typeface="ＭＳ Ｐゴシック" pitchFamily="-106" charset="-128"/>
        </a:defRPr>
      </a:lvl9pPr>
    </p:titleStyle>
    <p:bodyStyle>
      <a:lvl1pPr marL="341313" indent="-341313" algn="l" defTabSz="449263" rtl="0" eaLnBrk="0" fontAlgn="base" hangingPunct="0">
        <a:lnSpc>
          <a:spcPct val="116000"/>
        </a:lnSpc>
        <a:spcBef>
          <a:spcPts val="700"/>
        </a:spcBef>
        <a:spcAft>
          <a:spcPct val="0"/>
        </a:spcAft>
        <a:buClr>
          <a:srgbClr val="000000"/>
        </a:buClr>
        <a:buSzPct val="100000"/>
        <a:buFont typeface="Comic Sans MS" panose="030F0902030302020204" pitchFamily="66" charset="0"/>
        <a:buChar char="•"/>
        <a:defRPr sz="2800">
          <a:solidFill>
            <a:srgbClr val="000000"/>
          </a:solidFill>
          <a:latin typeface="Arial  "/>
          <a:ea typeface="MS PGothic" pitchFamily="34" charset="-128"/>
          <a:cs typeface="Arial  "/>
        </a:defRPr>
      </a:lvl1pPr>
      <a:lvl2pPr marL="741363" indent="-284163" algn="l" defTabSz="449263" rtl="0" eaLnBrk="0" fontAlgn="base" hangingPunct="0">
        <a:lnSpc>
          <a:spcPct val="116000"/>
        </a:lnSpc>
        <a:spcBef>
          <a:spcPts val="600"/>
        </a:spcBef>
        <a:spcAft>
          <a:spcPct val="0"/>
        </a:spcAft>
        <a:buClr>
          <a:srgbClr val="000000"/>
        </a:buClr>
        <a:buSzPct val="100000"/>
        <a:buFont typeface="Comic Sans MS" panose="030F0902030302020204" pitchFamily="66" charset="0"/>
        <a:buChar char="–"/>
        <a:defRPr sz="2400">
          <a:solidFill>
            <a:srgbClr val="000000"/>
          </a:solidFill>
          <a:latin typeface="Arial  "/>
          <a:ea typeface="MS PGothic" pitchFamily="34" charset="-128"/>
          <a:cs typeface="Arial  "/>
        </a:defRPr>
      </a:lvl2pPr>
      <a:lvl3pPr marL="1143000" indent="-228600" algn="l" defTabSz="449263" rtl="0" eaLnBrk="0" fontAlgn="base" hangingPunct="0">
        <a:lnSpc>
          <a:spcPct val="116000"/>
        </a:lnSpc>
        <a:spcBef>
          <a:spcPts val="500"/>
        </a:spcBef>
        <a:spcAft>
          <a:spcPct val="0"/>
        </a:spcAft>
        <a:buClr>
          <a:srgbClr val="000000"/>
        </a:buClr>
        <a:buSzPct val="100000"/>
        <a:buFont typeface="Comic Sans MS" panose="030F0902030302020204" pitchFamily="66" charset="0"/>
        <a:buChar char="•"/>
        <a:defRPr sz="2000">
          <a:solidFill>
            <a:srgbClr val="000000"/>
          </a:solidFill>
          <a:latin typeface="Arial  "/>
          <a:ea typeface="MS PGothic" pitchFamily="34" charset="-128"/>
          <a:cs typeface="Arial  "/>
        </a:defRPr>
      </a:lvl3pPr>
      <a:lvl4pPr marL="1600200" indent="-228600" algn="l" defTabSz="449263" rtl="0" eaLnBrk="0" fontAlgn="base" hangingPunct="0">
        <a:lnSpc>
          <a:spcPct val="116000"/>
        </a:lnSpc>
        <a:spcBef>
          <a:spcPts val="450"/>
        </a:spcBef>
        <a:spcAft>
          <a:spcPct val="0"/>
        </a:spcAft>
        <a:buClr>
          <a:srgbClr val="000000"/>
        </a:buClr>
        <a:buSzPct val="100000"/>
        <a:buFont typeface="Comic Sans MS" panose="030F0902030302020204" pitchFamily="66" charset="0"/>
        <a:buChar char="–"/>
        <a:defRPr>
          <a:solidFill>
            <a:srgbClr val="000000"/>
          </a:solidFill>
          <a:latin typeface="Arial  "/>
          <a:ea typeface="MS PGothic" pitchFamily="34" charset="-128"/>
          <a:cs typeface="Arial  "/>
        </a:defRPr>
      </a:lvl4pPr>
      <a:lvl5pPr marL="2057400" indent="-228600" algn="l" defTabSz="449263" rtl="0" eaLnBrk="0" fontAlgn="base" hangingPunct="0">
        <a:lnSpc>
          <a:spcPct val="116000"/>
        </a:lnSpc>
        <a:spcBef>
          <a:spcPts val="450"/>
        </a:spcBef>
        <a:spcAft>
          <a:spcPct val="0"/>
        </a:spcAft>
        <a:buClr>
          <a:srgbClr val="000000"/>
        </a:buClr>
        <a:buSzPct val="100000"/>
        <a:buFont typeface="Comic Sans MS" panose="030F0902030302020204" pitchFamily="66" charset="0"/>
        <a:buChar char="»"/>
        <a:defRPr>
          <a:solidFill>
            <a:srgbClr val="000000"/>
          </a:solidFill>
          <a:latin typeface="Arial  "/>
          <a:ea typeface="MS PGothic" pitchFamily="34" charset="-128"/>
          <a:cs typeface="Arial  "/>
        </a:defRPr>
      </a:lvl5pPr>
      <a:lvl6pPr marL="2514600" indent="-228600" algn="l" defTabSz="449263" rtl="0" fontAlgn="base">
        <a:lnSpc>
          <a:spcPct val="116000"/>
        </a:lnSpc>
        <a:spcBef>
          <a:spcPts val="450"/>
        </a:spcBef>
        <a:spcAft>
          <a:spcPct val="0"/>
        </a:spcAft>
        <a:buClr>
          <a:srgbClr val="000000"/>
        </a:buClr>
        <a:buSzPct val="100000"/>
        <a:buFont typeface="Comic Sans MS" pitchFamily="-106" charset="0"/>
        <a:buChar char="»"/>
        <a:defRPr>
          <a:solidFill>
            <a:srgbClr val="000000"/>
          </a:solidFill>
          <a:latin typeface="+mn-lt"/>
          <a:ea typeface="+mn-ea"/>
        </a:defRPr>
      </a:lvl6pPr>
      <a:lvl7pPr marL="2971800" indent="-228600" algn="l" defTabSz="449263" rtl="0" fontAlgn="base">
        <a:lnSpc>
          <a:spcPct val="116000"/>
        </a:lnSpc>
        <a:spcBef>
          <a:spcPts val="450"/>
        </a:spcBef>
        <a:spcAft>
          <a:spcPct val="0"/>
        </a:spcAft>
        <a:buClr>
          <a:srgbClr val="000000"/>
        </a:buClr>
        <a:buSzPct val="100000"/>
        <a:buFont typeface="Comic Sans MS" pitchFamily="-106" charset="0"/>
        <a:buChar char="»"/>
        <a:defRPr>
          <a:solidFill>
            <a:srgbClr val="000000"/>
          </a:solidFill>
          <a:latin typeface="+mn-lt"/>
          <a:ea typeface="+mn-ea"/>
        </a:defRPr>
      </a:lvl7pPr>
      <a:lvl8pPr marL="3429000" indent="-228600" algn="l" defTabSz="449263" rtl="0" fontAlgn="base">
        <a:lnSpc>
          <a:spcPct val="116000"/>
        </a:lnSpc>
        <a:spcBef>
          <a:spcPts val="450"/>
        </a:spcBef>
        <a:spcAft>
          <a:spcPct val="0"/>
        </a:spcAft>
        <a:buClr>
          <a:srgbClr val="000000"/>
        </a:buClr>
        <a:buSzPct val="100000"/>
        <a:buFont typeface="Comic Sans MS" pitchFamily="-106" charset="0"/>
        <a:buChar char="»"/>
        <a:defRPr>
          <a:solidFill>
            <a:srgbClr val="000000"/>
          </a:solidFill>
          <a:latin typeface="+mn-lt"/>
          <a:ea typeface="+mn-ea"/>
        </a:defRPr>
      </a:lvl8pPr>
      <a:lvl9pPr marL="3886200" indent="-228600" algn="l" defTabSz="449263" rtl="0" fontAlgn="base">
        <a:lnSpc>
          <a:spcPct val="116000"/>
        </a:lnSpc>
        <a:spcBef>
          <a:spcPts val="450"/>
        </a:spcBef>
        <a:spcAft>
          <a:spcPct val="0"/>
        </a:spcAft>
        <a:buClr>
          <a:srgbClr val="000000"/>
        </a:buClr>
        <a:buSzPct val="100000"/>
        <a:buFont typeface="Comic Sans MS" pitchFamily="-106" charset="0"/>
        <a:buChar char="»"/>
        <a:defRPr>
          <a:solidFill>
            <a:srgbClr val="000000"/>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3">
            <a:lumOff val="44000"/>
          </a:schemeClr>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85800" y="-85725"/>
            <a:ext cx="7770814" cy="13112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6799" tIns="46799" rIns="46799" bIns="46799" anchor="ctr">
            <a:normAutofit/>
          </a:bodyPr>
          <a:lstStyle/>
          <a:p>
            <a:r>
              <a:t>Title Text</a:t>
            </a:r>
          </a:p>
        </p:txBody>
      </p:sp>
      <p:sp>
        <p:nvSpPr>
          <p:cNvPr id="3" name="Body Level One…"/>
          <p:cNvSpPr txBox="1">
            <a:spLocks noGrp="1"/>
          </p:cNvSpPr>
          <p:nvPr>
            <p:ph type="body" idx="1"/>
          </p:nvPr>
        </p:nvSpPr>
        <p:spPr>
          <a:xfrm>
            <a:off x="685800" y="1371600"/>
            <a:ext cx="7770814" cy="47228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6799" tIns="46799" rIns="46799" bIns="4679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solidFill>
                  <a:schemeClr val="accent3">
                    <a:lumOff val="44000"/>
                  </a:schemeClr>
                </a:solidFill>
                <a:latin typeface="Arial"/>
                <a:ea typeface="Arial"/>
                <a:cs typeface="Arial"/>
                <a:sym typeface="Arial"/>
              </a:defRPr>
            </a:lvl1pPr>
          </a:lstStyle>
          <a:p>
            <a:fld id="{86CB4B4D-7CA3-9044-876B-883B54F8677D}" type="slidenum">
              <a:t>‹#›</a:t>
            </a:fld>
            <a:endParaRPr/>
          </a:p>
        </p:txBody>
      </p:sp>
    </p:spTree>
    <p:extLst>
      <p:ext uri="{BB962C8B-B14F-4D97-AF65-F5344CB8AC3E}">
        <p14:creationId xmlns:p14="http://schemas.microsoft.com/office/powerpoint/2010/main" val="3903019097"/>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transition spd="med"/>
  <p:txStyles>
    <p:titleStyle>
      <a:lvl1pPr marL="0" marR="0" indent="0" algn="ctr" defTabSz="449262" rtl="0" latinLnBrk="0">
        <a:lnSpc>
          <a:spcPct val="116000"/>
        </a:lnSpc>
        <a:spcBef>
          <a:spcPts val="0"/>
        </a:spcBef>
        <a:spcAft>
          <a:spcPts val="0"/>
        </a:spcAft>
        <a:buClrTx/>
        <a:buSzTx/>
        <a:buFontTx/>
        <a:buNone/>
        <a:tabLst/>
        <a:defRPr sz="4000" b="0" i="0" u="none" strike="noStrike" cap="none" spc="0" baseline="0">
          <a:solidFill>
            <a:srgbClr val="000000"/>
          </a:solidFill>
          <a:uFillTx/>
          <a:latin typeface="Arial"/>
          <a:ea typeface="Arial"/>
          <a:cs typeface="Arial"/>
          <a:sym typeface="Arial"/>
        </a:defRPr>
      </a:lvl1pPr>
      <a:lvl2pPr marL="0" marR="0" indent="0" algn="ctr" defTabSz="449262" rtl="0" latinLnBrk="0">
        <a:lnSpc>
          <a:spcPct val="116000"/>
        </a:lnSpc>
        <a:spcBef>
          <a:spcPts val="0"/>
        </a:spcBef>
        <a:spcAft>
          <a:spcPts val="0"/>
        </a:spcAft>
        <a:buClrTx/>
        <a:buSzTx/>
        <a:buFontTx/>
        <a:buNone/>
        <a:tabLst/>
        <a:defRPr sz="4000" b="0" i="0" u="none" strike="noStrike" cap="none" spc="0" baseline="0">
          <a:solidFill>
            <a:srgbClr val="000000"/>
          </a:solidFill>
          <a:uFillTx/>
          <a:latin typeface="Arial"/>
          <a:ea typeface="Arial"/>
          <a:cs typeface="Arial"/>
          <a:sym typeface="Arial"/>
        </a:defRPr>
      </a:lvl2pPr>
      <a:lvl3pPr marL="0" marR="0" indent="0" algn="ctr" defTabSz="449262" rtl="0" latinLnBrk="0">
        <a:lnSpc>
          <a:spcPct val="116000"/>
        </a:lnSpc>
        <a:spcBef>
          <a:spcPts val="0"/>
        </a:spcBef>
        <a:spcAft>
          <a:spcPts val="0"/>
        </a:spcAft>
        <a:buClrTx/>
        <a:buSzTx/>
        <a:buFontTx/>
        <a:buNone/>
        <a:tabLst/>
        <a:defRPr sz="4000" b="0" i="0" u="none" strike="noStrike" cap="none" spc="0" baseline="0">
          <a:solidFill>
            <a:srgbClr val="000000"/>
          </a:solidFill>
          <a:uFillTx/>
          <a:latin typeface="Arial"/>
          <a:ea typeface="Arial"/>
          <a:cs typeface="Arial"/>
          <a:sym typeface="Arial"/>
        </a:defRPr>
      </a:lvl3pPr>
      <a:lvl4pPr marL="0" marR="0" indent="0" algn="ctr" defTabSz="449262" rtl="0" latinLnBrk="0">
        <a:lnSpc>
          <a:spcPct val="116000"/>
        </a:lnSpc>
        <a:spcBef>
          <a:spcPts val="0"/>
        </a:spcBef>
        <a:spcAft>
          <a:spcPts val="0"/>
        </a:spcAft>
        <a:buClrTx/>
        <a:buSzTx/>
        <a:buFontTx/>
        <a:buNone/>
        <a:tabLst/>
        <a:defRPr sz="4000" b="0" i="0" u="none" strike="noStrike" cap="none" spc="0" baseline="0">
          <a:solidFill>
            <a:srgbClr val="000000"/>
          </a:solidFill>
          <a:uFillTx/>
          <a:latin typeface="Arial"/>
          <a:ea typeface="Arial"/>
          <a:cs typeface="Arial"/>
          <a:sym typeface="Arial"/>
        </a:defRPr>
      </a:lvl4pPr>
      <a:lvl5pPr marL="0" marR="0" indent="0" algn="ctr" defTabSz="449262" rtl="0" latinLnBrk="0">
        <a:lnSpc>
          <a:spcPct val="116000"/>
        </a:lnSpc>
        <a:spcBef>
          <a:spcPts val="0"/>
        </a:spcBef>
        <a:spcAft>
          <a:spcPts val="0"/>
        </a:spcAft>
        <a:buClrTx/>
        <a:buSzTx/>
        <a:buFontTx/>
        <a:buNone/>
        <a:tabLst/>
        <a:defRPr sz="4000" b="0" i="0" u="none" strike="noStrike" cap="none" spc="0" baseline="0">
          <a:solidFill>
            <a:srgbClr val="000000"/>
          </a:solidFill>
          <a:uFillTx/>
          <a:latin typeface="Arial"/>
          <a:ea typeface="Arial"/>
          <a:cs typeface="Arial"/>
          <a:sym typeface="Arial"/>
        </a:defRPr>
      </a:lvl5pPr>
      <a:lvl6pPr marL="0" marR="0" indent="457200" algn="ctr" defTabSz="449262" rtl="0" latinLnBrk="0">
        <a:lnSpc>
          <a:spcPct val="116000"/>
        </a:lnSpc>
        <a:spcBef>
          <a:spcPts val="0"/>
        </a:spcBef>
        <a:spcAft>
          <a:spcPts val="0"/>
        </a:spcAft>
        <a:buClrTx/>
        <a:buSzTx/>
        <a:buFontTx/>
        <a:buNone/>
        <a:tabLst/>
        <a:defRPr sz="4000" b="0" i="0" u="none" strike="noStrike" cap="none" spc="0" baseline="0">
          <a:solidFill>
            <a:srgbClr val="000000"/>
          </a:solidFill>
          <a:uFillTx/>
          <a:latin typeface="Arial"/>
          <a:ea typeface="Arial"/>
          <a:cs typeface="Arial"/>
          <a:sym typeface="Arial"/>
        </a:defRPr>
      </a:lvl6pPr>
      <a:lvl7pPr marL="0" marR="0" indent="914400" algn="ctr" defTabSz="449262" rtl="0" latinLnBrk="0">
        <a:lnSpc>
          <a:spcPct val="116000"/>
        </a:lnSpc>
        <a:spcBef>
          <a:spcPts val="0"/>
        </a:spcBef>
        <a:spcAft>
          <a:spcPts val="0"/>
        </a:spcAft>
        <a:buClrTx/>
        <a:buSzTx/>
        <a:buFontTx/>
        <a:buNone/>
        <a:tabLst/>
        <a:defRPr sz="4000" b="0" i="0" u="none" strike="noStrike" cap="none" spc="0" baseline="0">
          <a:solidFill>
            <a:srgbClr val="000000"/>
          </a:solidFill>
          <a:uFillTx/>
          <a:latin typeface="Arial"/>
          <a:ea typeface="Arial"/>
          <a:cs typeface="Arial"/>
          <a:sym typeface="Arial"/>
        </a:defRPr>
      </a:lvl7pPr>
      <a:lvl8pPr marL="0" marR="0" indent="1371600" algn="ctr" defTabSz="449262" rtl="0" latinLnBrk="0">
        <a:lnSpc>
          <a:spcPct val="116000"/>
        </a:lnSpc>
        <a:spcBef>
          <a:spcPts val="0"/>
        </a:spcBef>
        <a:spcAft>
          <a:spcPts val="0"/>
        </a:spcAft>
        <a:buClrTx/>
        <a:buSzTx/>
        <a:buFontTx/>
        <a:buNone/>
        <a:tabLst/>
        <a:defRPr sz="4000" b="0" i="0" u="none" strike="noStrike" cap="none" spc="0" baseline="0">
          <a:solidFill>
            <a:srgbClr val="000000"/>
          </a:solidFill>
          <a:uFillTx/>
          <a:latin typeface="Arial"/>
          <a:ea typeface="Arial"/>
          <a:cs typeface="Arial"/>
          <a:sym typeface="Arial"/>
        </a:defRPr>
      </a:lvl8pPr>
      <a:lvl9pPr marL="0" marR="0" indent="1828800" algn="ctr" defTabSz="449262" rtl="0" latinLnBrk="0">
        <a:lnSpc>
          <a:spcPct val="116000"/>
        </a:lnSpc>
        <a:spcBef>
          <a:spcPts val="0"/>
        </a:spcBef>
        <a:spcAft>
          <a:spcPts val="0"/>
        </a:spcAft>
        <a:buClrTx/>
        <a:buSzTx/>
        <a:buFontTx/>
        <a:buNone/>
        <a:tabLst/>
        <a:defRPr sz="4000" b="0" i="0" u="none" strike="noStrike" cap="none" spc="0" baseline="0">
          <a:solidFill>
            <a:srgbClr val="000000"/>
          </a:solidFill>
          <a:uFillTx/>
          <a:latin typeface="Arial"/>
          <a:ea typeface="Arial"/>
          <a:cs typeface="Arial"/>
          <a:sym typeface="Arial"/>
        </a:defRPr>
      </a:lvl9pPr>
    </p:titleStyle>
    <p:bodyStyle>
      <a:lvl1pPr marL="341313" marR="0" indent="-341313" algn="l" defTabSz="449262" rtl="0" latinLnBrk="0">
        <a:lnSpc>
          <a:spcPct val="116000"/>
        </a:lnSpc>
        <a:spcBef>
          <a:spcPts val="700"/>
        </a:spcBef>
        <a:spcAft>
          <a:spcPts val="0"/>
        </a:spcAft>
        <a:buClr>
          <a:srgbClr val="000000"/>
        </a:buClr>
        <a:buSzPct val="100000"/>
        <a:buFont typeface="Comic Sans MS"/>
        <a:buChar char="•"/>
        <a:tabLst/>
        <a:defRPr sz="2800" b="0" i="0" u="none" strike="noStrike" cap="none" spc="0" baseline="0">
          <a:solidFill>
            <a:srgbClr val="000000"/>
          </a:solidFill>
          <a:uFillTx/>
          <a:latin typeface="Arial"/>
          <a:ea typeface="Arial"/>
          <a:cs typeface="Arial"/>
          <a:sym typeface="Arial"/>
        </a:defRPr>
      </a:lvl1pPr>
      <a:lvl2pPr marL="788723" marR="0" indent="-331523" algn="l" defTabSz="449262" rtl="0" latinLnBrk="0">
        <a:lnSpc>
          <a:spcPct val="116000"/>
        </a:lnSpc>
        <a:spcBef>
          <a:spcPts val="700"/>
        </a:spcBef>
        <a:spcAft>
          <a:spcPts val="0"/>
        </a:spcAft>
        <a:buClr>
          <a:srgbClr val="000000"/>
        </a:buClr>
        <a:buSzPct val="100000"/>
        <a:buFont typeface="Comic Sans MS"/>
        <a:buChar char="–"/>
        <a:tabLst/>
        <a:defRPr sz="2800" b="0" i="0" u="none" strike="noStrike" cap="none" spc="0" baseline="0">
          <a:solidFill>
            <a:srgbClr val="000000"/>
          </a:solidFill>
          <a:uFillTx/>
          <a:latin typeface="Arial"/>
          <a:ea typeface="Arial"/>
          <a:cs typeface="Arial"/>
          <a:sym typeface="Arial"/>
        </a:defRPr>
      </a:lvl2pPr>
      <a:lvl3pPr marL="1234439" marR="0" indent="-320039" algn="l" defTabSz="449262" rtl="0" latinLnBrk="0">
        <a:lnSpc>
          <a:spcPct val="116000"/>
        </a:lnSpc>
        <a:spcBef>
          <a:spcPts val="700"/>
        </a:spcBef>
        <a:spcAft>
          <a:spcPts val="0"/>
        </a:spcAft>
        <a:buClr>
          <a:srgbClr val="000000"/>
        </a:buClr>
        <a:buSzPct val="100000"/>
        <a:buFont typeface="Comic Sans MS"/>
        <a:buChar char="•"/>
        <a:tabLst/>
        <a:defRPr sz="2800" b="0" i="0" u="none" strike="noStrike" cap="none" spc="0" baseline="0">
          <a:solidFill>
            <a:srgbClr val="000000"/>
          </a:solidFill>
          <a:uFillTx/>
          <a:latin typeface="Arial"/>
          <a:ea typeface="Arial"/>
          <a:cs typeface="Arial"/>
          <a:sym typeface="Arial"/>
        </a:defRPr>
      </a:lvl3pPr>
      <a:lvl4pPr marL="1727200" marR="0" indent="-355600" algn="l" defTabSz="449262" rtl="0" latinLnBrk="0">
        <a:lnSpc>
          <a:spcPct val="116000"/>
        </a:lnSpc>
        <a:spcBef>
          <a:spcPts val="700"/>
        </a:spcBef>
        <a:spcAft>
          <a:spcPts val="0"/>
        </a:spcAft>
        <a:buClr>
          <a:srgbClr val="000000"/>
        </a:buClr>
        <a:buSzPct val="100000"/>
        <a:buFont typeface="Comic Sans MS"/>
        <a:buChar char="–"/>
        <a:tabLst/>
        <a:defRPr sz="2800" b="0" i="0" u="none" strike="noStrike" cap="none" spc="0" baseline="0">
          <a:solidFill>
            <a:srgbClr val="000000"/>
          </a:solidFill>
          <a:uFillTx/>
          <a:latin typeface="Arial"/>
          <a:ea typeface="Arial"/>
          <a:cs typeface="Arial"/>
          <a:sym typeface="Arial"/>
        </a:defRPr>
      </a:lvl4pPr>
      <a:lvl5pPr marL="2184400" marR="0" indent="-355600" algn="l" defTabSz="449262" rtl="0" latinLnBrk="0">
        <a:lnSpc>
          <a:spcPct val="116000"/>
        </a:lnSpc>
        <a:spcBef>
          <a:spcPts val="700"/>
        </a:spcBef>
        <a:spcAft>
          <a:spcPts val="0"/>
        </a:spcAft>
        <a:buClr>
          <a:srgbClr val="000000"/>
        </a:buClr>
        <a:buSzPct val="100000"/>
        <a:buFont typeface="Comic Sans MS"/>
        <a:buChar char="»"/>
        <a:tabLst/>
        <a:defRPr sz="2800" b="0" i="0" u="none" strike="noStrike" cap="none" spc="0" baseline="0">
          <a:solidFill>
            <a:srgbClr val="000000"/>
          </a:solidFill>
          <a:uFillTx/>
          <a:latin typeface="Arial"/>
          <a:ea typeface="Arial"/>
          <a:cs typeface="Arial"/>
          <a:sym typeface="Arial"/>
        </a:defRPr>
      </a:lvl5pPr>
      <a:lvl6pPr marL="2641600" marR="0" indent="-355600" algn="l" defTabSz="449262" rtl="0" latinLnBrk="0">
        <a:lnSpc>
          <a:spcPct val="116000"/>
        </a:lnSpc>
        <a:spcBef>
          <a:spcPts val="700"/>
        </a:spcBef>
        <a:spcAft>
          <a:spcPts val="0"/>
        </a:spcAft>
        <a:buClr>
          <a:srgbClr val="000000"/>
        </a:buClr>
        <a:buSzPct val="100000"/>
        <a:buFont typeface="Comic Sans MS"/>
        <a:buChar char="»"/>
        <a:tabLst/>
        <a:defRPr sz="2800" b="0" i="0" u="none" strike="noStrike" cap="none" spc="0" baseline="0">
          <a:solidFill>
            <a:srgbClr val="000000"/>
          </a:solidFill>
          <a:uFillTx/>
          <a:latin typeface="Arial"/>
          <a:ea typeface="Arial"/>
          <a:cs typeface="Arial"/>
          <a:sym typeface="Arial"/>
        </a:defRPr>
      </a:lvl6pPr>
      <a:lvl7pPr marL="3098800" marR="0" indent="-355600" algn="l" defTabSz="449262" rtl="0" latinLnBrk="0">
        <a:lnSpc>
          <a:spcPct val="116000"/>
        </a:lnSpc>
        <a:spcBef>
          <a:spcPts val="700"/>
        </a:spcBef>
        <a:spcAft>
          <a:spcPts val="0"/>
        </a:spcAft>
        <a:buClr>
          <a:srgbClr val="000000"/>
        </a:buClr>
        <a:buSzPct val="100000"/>
        <a:buFont typeface="Comic Sans MS"/>
        <a:buChar char="»"/>
        <a:tabLst/>
        <a:defRPr sz="2800" b="0" i="0" u="none" strike="noStrike" cap="none" spc="0" baseline="0">
          <a:solidFill>
            <a:srgbClr val="000000"/>
          </a:solidFill>
          <a:uFillTx/>
          <a:latin typeface="Arial"/>
          <a:ea typeface="Arial"/>
          <a:cs typeface="Arial"/>
          <a:sym typeface="Arial"/>
        </a:defRPr>
      </a:lvl7pPr>
      <a:lvl8pPr marL="3556000" marR="0" indent="-355600" algn="l" defTabSz="449262" rtl="0" latinLnBrk="0">
        <a:lnSpc>
          <a:spcPct val="116000"/>
        </a:lnSpc>
        <a:spcBef>
          <a:spcPts val="700"/>
        </a:spcBef>
        <a:spcAft>
          <a:spcPts val="0"/>
        </a:spcAft>
        <a:buClr>
          <a:srgbClr val="000000"/>
        </a:buClr>
        <a:buSzPct val="100000"/>
        <a:buFont typeface="Comic Sans MS"/>
        <a:buChar char="»"/>
        <a:tabLst/>
        <a:defRPr sz="2800" b="0" i="0" u="none" strike="noStrike" cap="none" spc="0" baseline="0">
          <a:solidFill>
            <a:srgbClr val="000000"/>
          </a:solidFill>
          <a:uFillTx/>
          <a:latin typeface="Arial"/>
          <a:ea typeface="Arial"/>
          <a:cs typeface="Arial"/>
          <a:sym typeface="Arial"/>
        </a:defRPr>
      </a:lvl8pPr>
      <a:lvl9pPr marL="4013200" marR="0" indent="-355600" algn="l" defTabSz="449262" rtl="0" latinLnBrk="0">
        <a:lnSpc>
          <a:spcPct val="116000"/>
        </a:lnSpc>
        <a:spcBef>
          <a:spcPts val="700"/>
        </a:spcBef>
        <a:spcAft>
          <a:spcPts val="0"/>
        </a:spcAft>
        <a:buClr>
          <a:srgbClr val="000000"/>
        </a:buClr>
        <a:buSzPct val="100000"/>
        <a:buFont typeface="Comic Sans MS"/>
        <a:buChar char="»"/>
        <a:tabLst/>
        <a:defRPr sz="2800" b="0" i="0" u="none" strike="noStrike" cap="none" spc="0" baseline="0">
          <a:solidFill>
            <a:srgbClr val="000000"/>
          </a:solidFill>
          <a:uFillTx/>
          <a:latin typeface="Arial"/>
          <a:ea typeface="Arial"/>
          <a:cs typeface="Arial"/>
          <a:sym typeface="Arial"/>
        </a:defRPr>
      </a:lvl9pPr>
    </p:bodyStyle>
    <p:otherStyle>
      <a:lvl1pPr marL="0" marR="0" indent="0" algn="r" defTabSz="449262" rtl="0" latinLnBrk="0">
        <a:lnSpc>
          <a:spcPct val="93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449262" rtl="0" latinLnBrk="0">
        <a:lnSpc>
          <a:spcPct val="93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449262" rtl="0" latinLnBrk="0">
        <a:lnSpc>
          <a:spcPct val="93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449262" rtl="0" latinLnBrk="0">
        <a:lnSpc>
          <a:spcPct val="93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449262" rtl="0" latinLnBrk="0">
        <a:lnSpc>
          <a:spcPct val="93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449262" rtl="0" latinLnBrk="0">
        <a:lnSpc>
          <a:spcPct val="93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449262" rtl="0" latinLnBrk="0">
        <a:lnSpc>
          <a:spcPct val="93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449262" rtl="0" latinLnBrk="0">
        <a:lnSpc>
          <a:spcPct val="93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449262" rtl="0" latinLnBrk="0">
        <a:lnSpc>
          <a:spcPct val="93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2.emf"/><Relationship Id="rId4" Type="http://schemas.openxmlformats.org/officeDocument/2006/relationships/oleObject" Target="../embeddings/oleObject1.bin"/></Relationships>
</file>

<file path=ppt/slides/_rels/slide5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4" descr="p4_die.jpg">
            <a:extLst>
              <a:ext uri="{FF2B5EF4-FFF2-40B4-BE49-F238E27FC236}">
                <a16:creationId xmlns:a16="http://schemas.microsoft.com/office/drawing/2014/main" id="{5296E1D4-C8EE-1FB7-FFBA-3BE090879A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Rectangle 5">
            <a:extLst>
              <a:ext uri="{FF2B5EF4-FFF2-40B4-BE49-F238E27FC236}">
                <a16:creationId xmlns:a16="http://schemas.microsoft.com/office/drawing/2014/main" id="{9BCC5993-0125-1D3A-A4E7-8DB8CE8A69C6}"/>
              </a:ext>
            </a:extLst>
          </p:cNvPr>
          <p:cNvSpPr>
            <a:spLocks noChangeArrowheads="1"/>
          </p:cNvSpPr>
          <p:nvPr/>
        </p:nvSpPr>
        <p:spPr bwMode="auto">
          <a:xfrm>
            <a:off x="1339850" y="1287463"/>
            <a:ext cx="6503988" cy="3813175"/>
          </a:xfrm>
          <a:prstGeom prst="rect">
            <a:avLst/>
          </a:prstGeom>
          <a:solidFill>
            <a:schemeClr val="bg1">
              <a:alpha val="74117"/>
            </a:schemeClr>
          </a:solidFill>
          <a:ln w="9525" algn="ctr">
            <a:solidFill>
              <a:schemeClr val="tx1"/>
            </a:solidFill>
            <a:round/>
            <a:headEnd/>
            <a:tailEnd/>
          </a:ln>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sp>
        <p:nvSpPr>
          <p:cNvPr id="6148" name="Title 1">
            <a:extLst>
              <a:ext uri="{FF2B5EF4-FFF2-40B4-BE49-F238E27FC236}">
                <a16:creationId xmlns:a16="http://schemas.microsoft.com/office/drawing/2014/main" id="{F0F41659-31AF-5A92-B66E-98F3AA49580B}"/>
              </a:ext>
            </a:extLst>
          </p:cNvPr>
          <p:cNvSpPr>
            <a:spLocks noGrp="1"/>
          </p:cNvSpPr>
          <p:nvPr>
            <p:ph type="ctrTitle"/>
          </p:nvPr>
        </p:nvSpPr>
        <p:spPr>
          <a:xfrm>
            <a:off x="0" y="990600"/>
            <a:ext cx="9144000" cy="2819400"/>
          </a:xfrm>
        </p:spPr>
        <p:txBody>
          <a:bodyPr/>
          <a:lstStyle/>
          <a:p>
            <a:r>
              <a:rPr lang="en-US" altLang="en-US" sz="3200" dirty="0">
                <a:solidFill>
                  <a:schemeClr val="accent2"/>
                </a:solidFill>
                <a:latin typeface="Arial  " charset="0"/>
                <a:cs typeface="Arial  " charset="0"/>
              </a:rPr>
              <a:t>CPEN 411: Computer Architecture</a:t>
            </a:r>
            <a:br>
              <a:rPr lang="en-US" altLang="en-US" sz="2400" dirty="0">
                <a:solidFill>
                  <a:schemeClr val="accent2"/>
                </a:solidFill>
                <a:latin typeface="Arial  " charset="0"/>
                <a:cs typeface="Arial  " charset="0"/>
              </a:rPr>
            </a:br>
            <a:br>
              <a:rPr lang="en-US" altLang="en-US" sz="2400" dirty="0">
                <a:solidFill>
                  <a:schemeClr val="accent2"/>
                </a:solidFill>
                <a:latin typeface="Arial  " charset="0"/>
                <a:cs typeface="Arial  " charset="0"/>
              </a:rPr>
            </a:br>
            <a:br>
              <a:rPr lang="en-US" altLang="en-US" sz="1000" dirty="0">
                <a:solidFill>
                  <a:schemeClr val="accent2"/>
                </a:solidFill>
                <a:latin typeface="Arial  " charset="0"/>
                <a:cs typeface="Arial  " charset="0"/>
              </a:rPr>
            </a:br>
            <a:r>
              <a:rPr lang="en-US" altLang="en-US" sz="2800" dirty="0">
                <a:solidFill>
                  <a:schemeClr val="accent2"/>
                </a:solidFill>
                <a:latin typeface="Arial  " charset="0"/>
                <a:cs typeface="Arial  " charset="0"/>
              </a:rPr>
              <a:t>Slide Set #16: Branch Prediction</a:t>
            </a:r>
          </a:p>
        </p:txBody>
      </p:sp>
      <p:sp>
        <p:nvSpPr>
          <p:cNvPr id="6149" name="Subtitle 2">
            <a:extLst>
              <a:ext uri="{FF2B5EF4-FFF2-40B4-BE49-F238E27FC236}">
                <a16:creationId xmlns:a16="http://schemas.microsoft.com/office/drawing/2014/main" id="{AF735227-6B8F-97A3-5095-47831578282D}"/>
              </a:ext>
            </a:extLst>
          </p:cNvPr>
          <p:cNvSpPr>
            <a:spLocks noGrp="1"/>
          </p:cNvSpPr>
          <p:nvPr>
            <p:ph type="subTitle" idx="1"/>
          </p:nvPr>
        </p:nvSpPr>
        <p:spPr>
          <a:xfrm>
            <a:off x="1778000" y="3886200"/>
            <a:ext cx="5691188" cy="1752600"/>
          </a:xfrm>
        </p:spPr>
        <p:txBody>
          <a:bodyPr/>
          <a:lstStyle/>
          <a:p>
            <a:r>
              <a:rPr lang="en-US" altLang="en-US">
                <a:solidFill>
                  <a:schemeClr val="accent2"/>
                </a:solidFill>
                <a:latin typeface="Arial  " charset="0"/>
                <a:cs typeface="Arial  " charset="0"/>
              </a:rPr>
              <a:t>Tor Aamodt</a:t>
            </a:r>
          </a:p>
          <a:p>
            <a:r>
              <a:rPr lang="en-US" altLang="en-US">
                <a:solidFill>
                  <a:schemeClr val="accent2"/>
                </a:solidFill>
                <a:latin typeface="Arial  " charset="0"/>
                <a:cs typeface="Arial  " charset="0"/>
              </a:rPr>
              <a:t>aamodt@ece.ubc.ca</a:t>
            </a:r>
          </a:p>
        </p:txBody>
      </p:sp>
      <p:sp>
        <p:nvSpPr>
          <p:cNvPr id="6150" name="Slide Number Placeholder 5">
            <a:extLst>
              <a:ext uri="{FF2B5EF4-FFF2-40B4-BE49-F238E27FC236}">
                <a16:creationId xmlns:a16="http://schemas.microsoft.com/office/drawing/2014/main" id="{8C6D22F0-2A35-8437-1D47-1854944DAED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A2237B48-DB5E-5F49-81BA-2338A856FE52}" type="slidenum">
              <a:rPr lang="en-GB" altLang="en-US" sz="1400">
                <a:solidFill>
                  <a:srgbClr val="000000"/>
                </a:solidFill>
                <a:latin typeface="Arial  " charset="0"/>
              </a:rPr>
              <a:pPr/>
              <a:t>1</a:t>
            </a:fld>
            <a:r>
              <a:rPr lang="en-GB" altLang="en-US" sz="1400">
                <a:solidFill>
                  <a:srgbClr val="000000"/>
                </a:solidFill>
                <a:latin typeface="Arial  " charset="0"/>
              </a:rPr>
              <a:t> </a:t>
            </a:r>
          </a:p>
        </p:txBody>
      </p:sp>
      <p:sp>
        <p:nvSpPr>
          <p:cNvPr id="6151" name="TextBox 6">
            <a:extLst>
              <a:ext uri="{FF2B5EF4-FFF2-40B4-BE49-F238E27FC236}">
                <a16:creationId xmlns:a16="http://schemas.microsoft.com/office/drawing/2014/main" id="{DFF50434-F432-51CE-118D-40DAD73F808A}"/>
              </a:ext>
            </a:extLst>
          </p:cNvPr>
          <p:cNvSpPr txBox="1">
            <a:spLocks noChangeArrowheads="1"/>
          </p:cNvSpPr>
          <p:nvPr/>
        </p:nvSpPr>
        <p:spPr bwMode="auto">
          <a:xfrm>
            <a:off x="1260475" y="5610225"/>
            <a:ext cx="6746875" cy="292100"/>
          </a:xfrm>
          <a:prstGeom prst="rect">
            <a:avLst/>
          </a:prstGeom>
          <a:solidFill>
            <a:srgbClr val="FFFFFF">
              <a:alpha val="8196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sz="1400">
                <a:solidFill>
                  <a:schemeClr val="accent2"/>
                </a:solidFill>
              </a:rPr>
              <a:t>Background: Pentium 4 die photo (uses advanced branch prediction mechanisms)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 name="Picture 2" descr="Picture 2"/>
          <p:cNvPicPr>
            <a:picLocks noChangeAspect="1"/>
          </p:cNvPicPr>
          <p:nvPr/>
        </p:nvPicPr>
        <p:blipFill>
          <a:blip r:embed="rId2"/>
          <a:stretch>
            <a:fillRect/>
          </a:stretch>
        </p:blipFill>
        <p:spPr>
          <a:xfrm>
            <a:off x="107332" y="-133241"/>
            <a:ext cx="8825992" cy="7103662"/>
          </a:xfrm>
          <a:prstGeom prst="rect">
            <a:avLst/>
          </a:prstGeom>
          <a:ln w="12700">
            <a:miter lim="400000"/>
          </a:ln>
        </p:spPr>
      </p:pic>
      <p:grpSp>
        <p:nvGrpSpPr>
          <p:cNvPr id="119" name="Group 7"/>
          <p:cNvGrpSpPr/>
          <p:nvPr/>
        </p:nvGrpSpPr>
        <p:grpSpPr>
          <a:xfrm>
            <a:off x="4953605" y="120005"/>
            <a:ext cx="3804950" cy="2289319"/>
            <a:chOff x="0" y="0"/>
            <a:chExt cx="3804949" cy="2289318"/>
          </a:xfrm>
        </p:grpSpPr>
        <p:pic>
          <p:nvPicPr>
            <p:cNvPr id="116" name="Ink 9" descr="Ink 9"/>
            <p:cNvPicPr>
              <a:picLocks noChangeAspect="1"/>
            </p:cNvPicPr>
            <p:nvPr/>
          </p:nvPicPr>
          <p:blipFill>
            <a:blip r:embed="rId3"/>
            <a:stretch>
              <a:fillRect/>
            </a:stretch>
          </p:blipFill>
          <p:spPr>
            <a:xfrm>
              <a:off x="0" y="348197"/>
              <a:ext cx="2621034" cy="1941122"/>
            </a:xfrm>
            <a:prstGeom prst="rect">
              <a:avLst/>
            </a:prstGeom>
            <a:ln w="12700" cap="flat">
              <a:noFill/>
              <a:miter lim="400000"/>
            </a:ln>
            <a:effectLst/>
          </p:spPr>
        </p:pic>
        <p:pic>
          <p:nvPicPr>
            <p:cNvPr id="117" name="Ink 10" descr="Ink 10"/>
            <p:cNvPicPr>
              <a:picLocks noChangeAspect="1"/>
            </p:cNvPicPr>
            <p:nvPr/>
          </p:nvPicPr>
          <p:blipFill>
            <a:blip r:embed="rId4"/>
            <a:stretch>
              <a:fillRect/>
            </a:stretch>
          </p:blipFill>
          <p:spPr>
            <a:xfrm>
              <a:off x="242300" y="847095"/>
              <a:ext cx="344840" cy="362842"/>
            </a:xfrm>
            <a:prstGeom prst="rect">
              <a:avLst/>
            </a:prstGeom>
            <a:ln w="12700" cap="flat">
              <a:noFill/>
              <a:miter lim="400000"/>
            </a:ln>
            <a:effectLst/>
          </p:spPr>
        </p:pic>
        <p:sp>
          <p:nvSpPr>
            <p:cNvPr id="118" name="TextBox 3"/>
            <p:cNvSpPr txBox="1"/>
            <p:nvPr/>
          </p:nvSpPr>
          <p:spPr>
            <a:xfrm>
              <a:off x="2194197" y="0"/>
              <a:ext cx="1610753" cy="87579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algn="ctr">
                <a:defRPr sz="2800" b="1">
                  <a:solidFill>
                    <a:srgbClr val="FF0000"/>
                  </a:solidFill>
                  <a:latin typeface="Arial Narrow"/>
                  <a:ea typeface="Arial Narrow"/>
                  <a:cs typeface="Arial Narrow"/>
                  <a:sym typeface="Arial Narrow"/>
                </a:defRPr>
              </a:pPr>
              <a:r>
                <a:t>instruction</a:t>
              </a:r>
              <a:endParaRPr>
                <a:solidFill>
                  <a:schemeClr val="accent3">
                    <a:lumOff val="44000"/>
                  </a:schemeClr>
                </a:solidFill>
                <a:latin typeface="Arial"/>
                <a:ea typeface="Arial"/>
                <a:cs typeface="Arial"/>
                <a:sym typeface="Arial"/>
              </a:endParaRPr>
            </a:p>
            <a:p>
              <a:pPr algn="ctr">
                <a:defRPr sz="2800" b="1">
                  <a:solidFill>
                    <a:srgbClr val="FF0000"/>
                  </a:solidFill>
                  <a:latin typeface="Arial Narrow"/>
                  <a:ea typeface="Arial Narrow"/>
                  <a:cs typeface="Arial Narrow"/>
                  <a:sym typeface="Arial Narrow"/>
                </a:defRPr>
              </a:pPr>
              <a:r>
                <a:t>flow</a:t>
              </a:r>
            </a:p>
          </p:txBody>
        </p:sp>
      </p:grpSp>
      <p:grpSp>
        <p:nvGrpSpPr>
          <p:cNvPr id="123" name="Group 8"/>
          <p:cNvGrpSpPr/>
          <p:nvPr/>
        </p:nvGrpSpPr>
        <p:grpSpPr>
          <a:xfrm>
            <a:off x="4063816" y="2739881"/>
            <a:ext cx="4772472" cy="3820230"/>
            <a:chOff x="0" y="0"/>
            <a:chExt cx="4772471" cy="3820229"/>
          </a:xfrm>
        </p:grpSpPr>
        <p:pic>
          <p:nvPicPr>
            <p:cNvPr id="120" name="Ink 5" descr="Ink 5"/>
            <p:cNvPicPr>
              <a:picLocks noChangeAspect="1"/>
            </p:cNvPicPr>
            <p:nvPr/>
          </p:nvPicPr>
          <p:blipFill>
            <a:blip r:embed="rId5"/>
            <a:stretch>
              <a:fillRect/>
            </a:stretch>
          </p:blipFill>
          <p:spPr>
            <a:xfrm>
              <a:off x="0" y="0"/>
              <a:ext cx="3346678" cy="3820230"/>
            </a:xfrm>
            <a:prstGeom prst="rect">
              <a:avLst/>
            </a:prstGeom>
            <a:ln w="12700" cap="flat">
              <a:noFill/>
              <a:miter lim="400000"/>
            </a:ln>
            <a:effectLst/>
          </p:spPr>
        </p:pic>
        <p:pic>
          <p:nvPicPr>
            <p:cNvPr id="121" name="Ink 6" descr="Ink 6"/>
            <p:cNvPicPr>
              <a:picLocks noChangeAspect="1"/>
            </p:cNvPicPr>
            <p:nvPr/>
          </p:nvPicPr>
          <p:blipFill>
            <a:blip r:embed="rId6"/>
            <a:stretch>
              <a:fillRect/>
            </a:stretch>
          </p:blipFill>
          <p:spPr>
            <a:xfrm>
              <a:off x="711681" y="847550"/>
              <a:ext cx="397441" cy="319626"/>
            </a:xfrm>
            <a:prstGeom prst="rect">
              <a:avLst/>
            </a:prstGeom>
            <a:ln w="12700" cap="flat">
              <a:noFill/>
              <a:miter lim="400000"/>
            </a:ln>
            <a:effectLst/>
          </p:spPr>
        </p:pic>
        <p:sp>
          <p:nvSpPr>
            <p:cNvPr id="122" name="TextBox 15"/>
            <p:cNvSpPr txBox="1"/>
            <p:nvPr/>
          </p:nvSpPr>
          <p:spPr>
            <a:xfrm>
              <a:off x="3404458" y="1033051"/>
              <a:ext cx="1368014" cy="87579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algn="ctr">
                <a:defRPr sz="2800" b="1">
                  <a:solidFill>
                    <a:srgbClr val="FF0000"/>
                  </a:solidFill>
                  <a:latin typeface="Arial Narrow"/>
                  <a:ea typeface="Arial Narrow"/>
                  <a:cs typeface="Arial Narrow"/>
                  <a:sym typeface="Arial Narrow"/>
                </a:defRPr>
              </a:pPr>
              <a:r>
                <a:t>register</a:t>
              </a:r>
              <a:endParaRPr>
                <a:solidFill>
                  <a:schemeClr val="accent3">
                    <a:lumOff val="44000"/>
                  </a:schemeClr>
                </a:solidFill>
                <a:latin typeface="Arial"/>
                <a:ea typeface="Arial"/>
                <a:cs typeface="Arial"/>
                <a:sym typeface="Arial"/>
              </a:endParaRPr>
            </a:p>
            <a:p>
              <a:pPr algn="ctr">
                <a:defRPr sz="2800" b="1">
                  <a:solidFill>
                    <a:srgbClr val="FF0000"/>
                  </a:solidFill>
                  <a:latin typeface="Arial Narrow"/>
                  <a:ea typeface="Arial Narrow"/>
                  <a:cs typeface="Arial Narrow"/>
                  <a:sym typeface="Arial Narrow"/>
                </a:defRPr>
              </a:pPr>
              <a:r>
                <a:t>data flow</a:t>
              </a:r>
            </a:p>
          </p:txBody>
        </p:sp>
      </p:grpSp>
      <p:grpSp>
        <p:nvGrpSpPr>
          <p:cNvPr id="127" name="Group 11"/>
          <p:cNvGrpSpPr/>
          <p:nvPr/>
        </p:nvGrpSpPr>
        <p:grpSpPr>
          <a:xfrm>
            <a:off x="2292748" y="3587431"/>
            <a:ext cx="1475296" cy="3392649"/>
            <a:chOff x="0" y="0"/>
            <a:chExt cx="1475295" cy="3392648"/>
          </a:xfrm>
        </p:grpSpPr>
        <p:pic>
          <p:nvPicPr>
            <p:cNvPr id="124" name="Ink 13" descr="Ink 13"/>
            <p:cNvPicPr>
              <a:picLocks noChangeAspect="1"/>
            </p:cNvPicPr>
            <p:nvPr/>
          </p:nvPicPr>
          <p:blipFill>
            <a:blip r:embed="rId7"/>
            <a:stretch>
              <a:fillRect/>
            </a:stretch>
          </p:blipFill>
          <p:spPr>
            <a:xfrm>
              <a:off x="45701" y="0"/>
              <a:ext cx="1427023" cy="2404075"/>
            </a:xfrm>
            <a:prstGeom prst="rect">
              <a:avLst/>
            </a:prstGeom>
            <a:ln w="12700" cap="flat">
              <a:noFill/>
              <a:miter lim="400000"/>
            </a:ln>
            <a:effectLst/>
          </p:spPr>
        </p:pic>
        <p:pic>
          <p:nvPicPr>
            <p:cNvPr id="125" name="Ink 14" descr="Ink 14"/>
            <p:cNvPicPr>
              <a:picLocks noChangeAspect="1"/>
            </p:cNvPicPr>
            <p:nvPr/>
          </p:nvPicPr>
          <p:blipFill>
            <a:blip r:embed="rId8"/>
            <a:stretch>
              <a:fillRect/>
            </a:stretch>
          </p:blipFill>
          <p:spPr>
            <a:xfrm>
              <a:off x="0" y="743056"/>
              <a:ext cx="270306" cy="379043"/>
            </a:xfrm>
            <a:prstGeom prst="rect">
              <a:avLst/>
            </a:prstGeom>
            <a:ln w="12700" cap="flat">
              <a:noFill/>
              <a:miter lim="400000"/>
            </a:ln>
            <a:effectLst/>
          </p:spPr>
        </p:pic>
        <p:sp>
          <p:nvSpPr>
            <p:cNvPr id="126" name="TextBox 17"/>
            <p:cNvSpPr txBox="1"/>
            <p:nvPr/>
          </p:nvSpPr>
          <p:spPr>
            <a:xfrm>
              <a:off x="107282" y="2516856"/>
              <a:ext cx="1368014" cy="87579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algn="ctr">
                <a:defRPr sz="2800" b="1">
                  <a:solidFill>
                    <a:srgbClr val="FF0000"/>
                  </a:solidFill>
                  <a:latin typeface="Arial Narrow"/>
                  <a:ea typeface="Arial Narrow"/>
                  <a:cs typeface="Arial Narrow"/>
                  <a:sym typeface="Arial Narrow"/>
                </a:defRPr>
              </a:pPr>
              <a:r>
                <a:t>memory</a:t>
              </a:r>
              <a:endParaRPr>
                <a:solidFill>
                  <a:schemeClr val="accent3">
                    <a:lumOff val="44000"/>
                  </a:schemeClr>
                </a:solidFill>
                <a:latin typeface="Arial"/>
                <a:ea typeface="Arial"/>
                <a:cs typeface="Arial"/>
                <a:sym typeface="Arial"/>
              </a:endParaRPr>
            </a:p>
            <a:p>
              <a:pPr algn="ctr">
                <a:defRPr sz="2800" b="1">
                  <a:solidFill>
                    <a:srgbClr val="FF0000"/>
                  </a:solidFill>
                  <a:latin typeface="Arial Narrow"/>
                  <a:ea typeface="Arial Narrow"/>
                  <a:cs typeface="Arial Narrow"/>
                  <a:sym typeface="Arial Narrow"/>
                </a:defRPr>
              </a:pPr>
              <a:r>
                <a:t>data flow</a:t>
              </a:r>
            </a:p>
          </p:txBody>
        </p:sp>
      </p:grpSp>
      <p:grpSp>
        <p:nvGrpSpPr>
          <p:cNvPr id="132" name="Group 4"/>
          <p:cNvGrpSpPr/>
          <p:nvPr/>
        </p:nvGrpSpPr>
        <p:grpSpPr>
          <a:xfrm>
            <a:off x="429184" y="511974"/>
            <a:ext cx="1357377" cy="6434633"/>
            <a:chOff x="0" y="0"/>
            <a:chExt cx="1357375" cy="6434632"/>
          </a:xfrm>
        </p:grpSpPr>
        <p:pic>
          <p:nvPicPr>
            <p:cNvPr id="128" name="Ink 16" descr="Ink 16"/>
            <p:cNvPicPr>
              <a:picLocks noChangeAspect="1"/>
            </p:cNvPicPr>
            <p:nvPr/>
          </p:nvPicPr>
          <p:blipFill>
            <a:blip r:embed="rId9"/>
            <a:stretch>
              <a:fillRect/>
            </a:stretch>
          </p:blipFill>
          <p:spPr>
            <a:xfrm>
              <a:off x="706495" y="28054"/>
              <a:ext cx="597961" cy="2275921"/>
            </a:xfrm>
            <a:prstGeom prst="rect">
              <a:avLst/>
            </a:prstGeom>
            <a:ln w="12700" cap="flat">
              <a:noFill/>
              <a:miter lim="400000"/>
            </a:ln>
            <a:effectLst/>
          </p:spPr>
        </p:pic>
        <p:pic>
          <p:nvPicPr>
            <p:cNvPr id="129" name="Ink 19" descr="Ink 19"/>
            <p:cNvPicPr>
              <a:picLocks noChangeAspect="1"/>
            </p:cNvPicPr>
            <p:nvPr/>
          </p:nvPicPr>
          <p:blipFill>
            <a:blip r:embed="rId10"/>
            <a:stretch>
              <a:fillRect/>
            </a:stretch>
          </p:blipFill>
          <p:spPr>
            <a:xfrm>
              <a:off x="451255" y="2229814"/>
              <a:ext cx="906121" cy="3232801"/>
            </a:xfrm>
            <a:prstGeom prst="rect">
              <a:avLst/>
            </a:prstGeom>
            <a:ln w="12700" cap="flat">
              <a:noFill/>
              <a:miter lim="400000"/>
            </a:ln>
            <a:effectLst/>
          </p:spPr>
        </p:pic>
        <p:pic>
          <p:nvPicPr>
            <p:cNvPr id="130" name="Ink 21" descr="Ink 21"/>
            <p:cNvPicPr>
              <a:picLocks noChangeAspect="1"/>
            </p:cNvPicPr>
            <p:nvPr/>
          </p:nvPicPr>
          <p:blipFill>
            <a:blip r:embed="rId11"/>
            <a:stretch>
              <a:fillRect/>
            </a:stretch>
          </p:blipFill>
          <p:spPr>
            <a:xfrm>
              <a:off x="693175" y="0"/>
              <a:ext cx="368641" cy="287949"/>
            </a:xfrm>
            <a:prstGeom prst="rect">
              <a:avLst/>
            </a:prstGeom>
            <a:ln w="12700" cap="flat">
              <a:noFill/>
              <a:miter lim="400000"/>
            </a:ln>
            <a:effectLst/>
          </p:spPr>
        </p:pic>
        <p:sp>
          <p:nvSpPr>
            <p:cNvPr id="131" name="TextBox 18"/>
            <p:cNvSpPr txBox="1"/>
            <p:nvPr/>
          </p:nvSpPr>
          <p:spPr>
            <a:xfrm>
              <a:off x="-1" y="5558840"/>
              <a:ext cx="1351867" cy="87579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algn="ctr">
                <a:defRPr sz="2800" b="1">
                  <a:solidFill>
                    <a:srgbClr val="FF0000"/>
                  </a:solidFill>
                  <a:latin typeface="Arial Narrow"/>
                  <a:ea typeface="Arial Narrow"/>
                  <a:cs typeface="Arial Narrow"/>
                  <a:sym typeface="Arial Narrow"/>
                </a:defRPr>
              </a:pPr>
              <a:r>
                <a:t>intercore</a:t>
              </a:r>
            </a:p>
            <a:p>
              <a:pPr algn="ctr">
                <a:defRPr sz="2800" b="1">
                  <a:solidFill>
                    <a:srgbClr val="FF0000"/>
                  </a:solidFill>
                  <a:latin typeface="Arial Narrow"/>
                  <a:ea typeface="Arial Narrow"/>
                  <a:cs typeface="Arial Narrow"/>
                  <a:sym typeface="Arial Narrow"/>
                </a:defRPr>
              </a:pPr>
              <a:r>
                <a:t>comms</a:t>
              </a:r>
            </a:p>
          </p:txBody>
        </p:sp>
      </p:gr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iterate>
                                    <p:tmAbs val="0"/>
                                  </p:iterate>
                                  <p:childTnLst>
                                    <p:set>
                                      <p:cBhvr>
                                        <p:cTn id="22" fill="hold">
                                          <p:stCondLst>
                                            <p:cond delay="0"/>
                                          </p:stCondLst>
                                        </p:cTn>
                                        <p:tgtEl>
                                          <p:spTgt spid="123"/>
                                        </p:tgtEl>
                                        <p:attrNameLst>
                                          <p:attrName>style.visibility</p:attrName>
                                        </p:attrNameLst>
                                      </p:cBhvr>
                                      <p:to>
                                        <p:strVal val="hidden"/>
                                      </p:to>
                                    </p:set>
                                  </p:childTnLst>
                                </p:cTn>
                              </p:par>
                            </p:childTnLst>
                          </p:cTn>
                        </p:par>
                        <p:par>
                          <p:cTn id="23" fill="hold">
                            <p:stCondLst>
                              <p:cond delay="0"/>
                            </p:stCondLst>
                            <p:childTnLst>
                              <p:par>
                                <p:cTn id="24" presetID="1" presetClass="exit" presetSubtype="0" fill="hold" grpId="1" nodeType="afterEffect">
                                  <p:stCondLst>
                                    <p:cond delay="0"/>
                                  </p:stCondLst>
                                  <p:iterate>
                                    <p:tmAbs val="0"/>
                                  </p:iterate>
                                  <p:childTnLst>
                                    <p:set>
                                      <p:cBhvr>
                                        <p:cTn id="25" fill="hold">
                                          <p:stCondLst>
                                            <p:cond delay="0"/>
                                          </p:stCondLst>
                                        </p:cTn>
                                        <p:tgtEl>
                                          <p:spTgt spid="127"/>
                                        </p:tgtEl>
                                        <p:attrNameLst>
                                          <p:attrName>style.visibility</p:attrName>
                                        </p:attrNameLst>
                                      </p:cBhvr>
                                      <p:to>
                                        <p:strVal val="hidden"/>
                                      </p:to>
                                    </p:set>
                                  </p:childTnLst>
                                </p:cTn>
                              </p:par>
                            </p:childTnLst>
                          </p:cTn>
                        </p:par>
                        <p:par>
                          <p:cTn id="26" fill="hold">
                            <p:stCondLst>
                              <p:cond delay="0"/>
                            </p:stCondLst>
                            <p:childTnLst>
                              <p:par>
                                <p:cTn id="27" presetID="1" presetClass="exit" presetSubtype="0" fill="hold" grpId="1" nodeType="afterEffect">
                                  <p:stCondLst>
                                    <p:cond delay="0"/>
                                  </p:stCondLst>
                                  <p:iterate>
                                    <p:tmAbs val="0"/>
                                  </p:iterate>
                                  <p:childTnLst>
                                    <p:set>
                                      <p:cBhvr>
                                        <p:cTn id="28" fill="hold">
                                          <p:stCondLst>
                                            <p:cond delay="0"/>
                                          </p:stCondLst>
                                        </p:cTn>
                                        <p:tgtEl>
                                          <p:spTgt spid="1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advAuto="0"/>
      <p:bldP spid="123" grpId="0" animBg="1" advAuto="0"/>
      <p:bldP spid="123" grpId="1" animBg="1" advAuto="0"/>
      <p:bldP spid="127" grpId="0" animBg="1" advAuto="0"/>
      <p:bldP spid="127" grpId="1" animBg="1" advAuto="0"/>
      <p:bldP spid="132" grpId="0" animBg="1" advAuto="0"/>
      <p:bldP spid="132" grpId="1"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3" descr="cooltools-shape">
            <a:extLst>
              <a:ext uri="{FF2B5EF4-FFF2-40B4-BE49-F238E27FC236}">
                <a16:creationId xmlns:a16="http://schemas.microsoft.com/office/drawing/2014/main" id="{88CFB901-C80A-73A6-1071-13ECBC04EE16}"/>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763" y="1358900"/>
            <a:ext cx="6934200"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4" descr="IDF Nehalem Die">
            <a:extLst>
              <a:ext uri="{FF2B5EF4-FFF2-40B4-BE49-F238E27FC236}">
                <a16:creationId xmlns:a16="http://schemas.microsoft.com/office/drawing/2014/main" id="{29DCDFDD-4EE6-D2AF-440D-B2CBC9470DBE}"/>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781" t="54112" r="31418" b="25491"/>
          <a:stretch>
            <a:fillRect/>
          </a:stretch>
        </p:blipFill>
        <p:spPr bwMode="auto">
          <a:xfrm>
            <a:off x="1225550" y="1649413"/>
            <a:ext cx="6475413" cy="325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Rectangle 5">
            <a:extLst>
              <a:ext uri="{FF2B5EF4-FFF2-40B4-BE49-F238E27FC236}">
                <a16:creationId xmlns:a16="http://schemas.microsoft.com/office/drawing/2014/main" id="{5473862A-AFC3-EBF8-D06C-05DBD332A855}"/>
              </a:ext>
            </a:extLst>
          </p:cNvPr>
          <p:cNvSpPr>
            <a:spLocks noGrp="1" noChangeArrowheads="1"/>
          </p:cNvSpPr>
          <p:nvPr>
            <p:ph type="title"/>
          </p:nvPr>
        </p:nvSpPr>
        <p:spPr/>
        <p:txBody>
          <a:bodyPr/>
          <a:lstStyle/>
          <a:p>
            <a:r>
              <a:rPr lang="en-US" altLang="en-US" sz="3600">
                <a:latin typeface="Arial  " charset="0"/>
                <a:cs typeface="Arial  " charset="0"/>
              </a:rPr>
              <a:t>Intel Core i7</a:t>
            </a:r>
          </a:p>
        </p:txBody>
      </p:sp>
      <p:pic>
        <p:nvPicPr>
          <p:cNvPr id="7173" name="Picture 6" descr="Nehalem Die Shot 2">
            <a:extLst>
              <a:ext uri="{FF2B5EF4-FFF2-40B4-BE49-F238E27FC236}">
                <a16:creationId xmlns:a16="http://schemas.microsoft.com/office/drawing/2014/main" id="{0C78BEFB-A47A-BFE3-B791-7D007D8DB4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1425" y="1649413"/>
            <a:ext cx="6456363"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Rectangle 7">
            <a:extLst>
              <a:ext uri="{FF2B5EF4-FFF2-40B4-BE49-F238E27FC236}">
                <a16:creationId xmlns:a16="http://schemas.microsoft.com/office/drawing/2014/main" id="{8972C810-C33A-F880-5658-0C0B4000E75B}"/>
              </a:ext>
            </a:extLst>
          </p:cNvPr>
          <p:cNvSpPr>
            <a:spLocks noChangeArrowheads="1"/>
          </p:cNvSpPr>
          <p:nvPr/>
        </p:nvSpPr>
        <p:spPr bwMode="auto">
          <a:xfrm>
            <a:off x="1243013" y="1651000"/>
            <a:ext cx="2084387" cy="1828800"/>
          </a:xfrm>
          <a:prstGeom prst="rect">
            <a:avLst/>
          </a:prstGeom>
          <a:solidFill>
            <a:srgbClr val="087EB9">
              <a:alpha val="61960"/>
            </a:srgbClr>
          </a:solidFill>
          <a:ln w="22225">
            <a:solidFill>
              <a:srgbClr val="292929"/>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nSpc>
                <a:spcPct val="75000"/>
              </a:lnSpc>
            </a:pPr>
            <a:r>
              <a:rPr lang="en-US" altLang="en-US" sz="1800">
                <a:solidFill>
                  <a:srgbClr val="FFFF00"/>
                </a:solidFill>
                <a:latin typeface="Neo Sans Intel Medium"/>
              </a:rPr>
              <a:t>Execution</a:t>
            </a:r>
            <a:br>
              <a:rPr lang="en-US" altLang="en-US" sz="1800">
                <a:solidFill>
                  <a:srgbClr val="FFFF00"/>
                </a:solidFill>
                <a:latin typeface="Neo Sans Intel Medium"/>
              </a:rPr>
            </a:br>
            <a:r>
              <a:rPr lang="en-US" altLang="en-US" sz="1800">
                <a:solidFill>
                  <a:srgbClr val="FFFF00"/>
                </a:solidFill>
                <a:latin typeface="Neo Sans Intel Medium"/>
              </a:rPr>
              <a:t>Units</a:t>
            </a:r>
          </a:p>
        </p:txBody>
      </p:sp>
      <p:sp>
        <p:nvSpPr>
          <p:cNvPr id="7175" name="Rectangle 8">
            <a:extLst>
              <a:ext uri="{FF2B5EF4-FFF2-40B4-BE49-F238E27FC236}">
                <a16:creationId xmlns:a16="http://schemas.microsoft.com/office/drawing/2014/main" id="{CD071035-B182-82DA-F053-676EC11E89C9}"/>
              </a:ext>
            </a:extLst>
          </p:cNvPr>
          <p:cNvSpPr>
            <a:spLocks noChangeArrowheads="1"/>
          </p:cNvSpPr>
          <p:nvPr/>
        </p:nvSpPr>
        <p:spPr bwMode="auto">
          <a:xfrm>
            <a:off x="1243013" y="3475038"/>
            <a:ext cx="2081212" cy="1436687"/>
          </a:xfrm>
          <a:prstGeom prst="rect">
            <a:avLst/>
          </a:prstGeom>
          <a:solidFill>
            <a:srgbClr val="087EB9">
              <a:alpha val="61960"/>
            </a:srgbClr>
          </a:solidFill>
          <a:ln w="22225">
            <a:solidFill>
              <a:srgbClr val="292929"/>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nSpc>
                <a:spcPct val="75000"/>
              </a:lnSpc>
            </a:pPr>
            <a:r>
              <a:rPr lang="en-US" altLang="en-US" sz="1800">
                <a:solidFill>
                  <a:srgbClr val="FFFF00"/>
                </a:solidFill>
                <a:latin typeface="Neo Sans Intel Medium"/>
              </a:rPr>
              <a:t>Out-of-Order</a:t>
            </a:r>
            <a:br>
              <a:rPr lang="en-US" altLang="en-US" sz="1800">
                <a:solidFill>
                  <a:srgbClr val="FFFF00"/>
                </a:solidFill>
                <a:latin typeface="Neo Sans Intel Medium"/>
              </a:rPr>
            </a:br>
            <a:r>
              <a:rPr lang="en-US" altLang="en-US" sz="1800">
                <a:solidFill>
                  <a:srgbClr val="FFFF00"/>
                </a:solidFill>
                <a:latin typeface="Neo Sans Intel Medium"/>
              </a:rPr>
              <a:t>Scheduling &amp;</a:t>
            </a:r>
            <a:br>
              <a:rPr lang="en-US" altLang="en-US" sz="1800">
                <a:solidFill>
                  <a:srgbClr val="FFFF00"/>
                </a:solidFill>
                <a:latin typeface="Neo Sans Intel Medium"/>
              </a:rPr>
            </a:br>
            <a:r>
              <a:rPr lang="en-US" altLang="en-US" sz="1800">
                <a:solidFill>
                  <a:srgbClr val="FFFF00"/>
                </a:solidFill>
                <a:latin typeface="Neo Sans Intel Medium"/>
              </a:rPr>
              <a:t>Retirement</a:t>
            </a:r>
          </a:p>
        </p:txBody>
      </p:sp>
      <p:sp>
        <p:nvSpPr>
          <p:cNvPr id="7176" name="Rectangle 9">
            <a:extLst>
              <a:ext uri="{FF2B5EF4-FFF2-40B4-BE49-F238E27FC236}">
                <a16:creationId xmlns:a16="http://schemas.microsoft.com/office/drawing/2014/main" id="{E086DD48-446A-5E2F-3968-41DC1CEDAED8}"/>
              </a:ext>
            </a:extLst>
          </p:cNvPr>
          <p:cNvSpPr>
            <a:spLocks noChangeArrowheads="1"/>
          </p:cNvSpPr>
          <p:nvPr/>
        </p:nvSpPr>
        <p:spPr bwMode="auto">
          <a:xfrm>
            <a:off x="5426075" y="1647825"/>
            <a:ext cx="2274888" cy="1231900"/>
          </a:xfrm>
          <a:prstGeom prst="rect">
            <a:avLst/>
          </a:prstGeom>
          <a:solidFill>
            <a:srgbClr val="087EB9">
              <a:alpha val="61960"/>
            </a:srgbClr>
          </a:solidFill>
          <a:ln w="22225">
            <a:solidFill>
              <a:srgbClr val="292929"/>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nSpc>
                <a:spcPct val="75000"/>
              </a:lnSpc>
            </a:pPr>
            <a:r>
              <a:rPr lang="en-US" altLang="en-US" sz="1800">
                <a:solidFill>
                  <a:srgbClr val="FFFF00"/>
                </a:solidFill>
                <a:latin typeface="Neo Sans Intel Medium"/>
              </a:rPr>
              <a:t>L2 Cache</a:t>
            </a:r>
            <a:br>
              <a:rPr lang="en-US" altLang="en-US" sz="1800">
                <a:solidFill>
                  <a:srgbClr val="FFFF00"/>
                </a:solidFill>
                <a:latin typeface="Neo Sans Intel Medium"/>
              </a:rPr>
            </a:br>
            <a:r>
              <a:rPr lang="en-US" altLang="en-US" sz="1800">
                <a:solidFill>
                  <a:srgbClr val="FFFF00"/>
                </a:solidFill>
                <a:latin typeface="Neo Sans Intel Medium"/>
              </a:rPr>
              <a:t>&amp; Interrupt</a:t>
            </a:r>
            <a:br>
              <a:rPr lang="en-US" altLang="en-US" sz="1800">
                <a:solidFill>
                  <a:srgbClr val="FFFF00"/>
                </a:solidFill>
                <a:latin typeface="Neo Sans Intel Medium"/>
              </a:rPr>
            </a:br>
            <a:r>
              <a:rPr lang="en-US" altLang="en-US" sz="1800">
                <a:solidFill>
                  <a:srgbClr val="FFFF00"/>
                </a:solidFill>
                <a:latin typeface="Neo Sans Intel Medium"/>
              </a:rPr>
              <a:t>Servicing</a:t>
            </a:r>
          </a:p>
        </p:txBody>
      </p:sp>
      <p:sp>
        <p:nvSpPr>
          <p:cNvPr id="7177" name="Rectangle 10">
            <a:extLst>
              <a:ext uri="{FF2B5EF4-FFF2-40B4-BE49-F238E27FC236}">
                <a16:creationId xmlns:a16="http://schemas.microsoft.com/office/drawing/2014/main" id="{9D0B0032-5CFE-26F7-BEEB-6044D7AF7C0B}"/>
              </a:ext>
            </a:extLst>
          </p:cNvPr>
          <p:cNvSpPr>
            <a:spLocks noChangeArrowheads="1"/>
          </p:cNvSpPr>
          <p:nvPr/>
        </p:nvSpPr>
        <p:spPr bwMode="auto">
          <a:xfrm>
            <a:off x="5426075" y="4138613"/>
            <a:ext cx="2282825" cy="771525"/>
          </a:xfrm>
          <a:prstGeom prst="rect">
            <a:avLst/>
          </a:prstGeom>
          <a:solidFill>
            <a:srgbClr val="087EB9">
              <a:alpha val="61960"/>
            </a:srgbClr>
          </a:solidFill>
          <a:ln w="22225">
            <a:solidFill>
              <a:srgbClr val="292929"/>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nSpc>
                <a:spcPct val="75000"/>
              </a:lnSpc>
            </a:pPr>
            <a:r>
              <a:rPr lang="en-US" altLang="en-US" sz="1800">
                <a:solidFill>
                  <a:srgbClr val="FFFF00"/>
                </a:solidFill>
                <a:latin typeface="Neo Sans Intel Medium"/>
              </a:rPr>
              <a:t>Instruction Fetch</a:t>
            </a:r>
            <a:br>
              <a:rPr lang="en-US" altLang="en-US" sz="1800">
                <a:solidFill>
                  <a:srgbClr val="FFFF00"/>
                </a:solidFill>
                <a:latin typeface="Neo Sans Intel Medium"/>
              </a:rPr>
            </a:br>
            <a:r>
              <a:rPr lang="en-US" altLang="en-US" sz="1800">
                <a:solidFill>
                  <a:srgbClr val="FFFF00"/>
                </a:solidFill>
                <a:latin typeface="Neo Sans Intel Medium"/>
              </a:rPr>
              <a:t>&amp; L1 Cache</a:t>
            </a:r>
          </a:p>
        </p:txBody>
      </p:sp>
      <p:sp>
        <p:nvSpPr>
          <p:cNvPr id="7178" name="Rectangle 11">
            <a:extLst>
              <a:ext uri="{FF2B5EF4-FFF2-40B4-BE49-F238E27FC236}">
                <a16:creationId xmlns:a16="http://schemas.microsoft.com/office/drawing/2014/main" id="{5F32F75B-5E3A-FEA8-01D2-984688CCC535}"/>
              </a:ext>
            </a:extLst>
          </p:cNvPr>
          <p:cNvSpPr>
            <a:spLocks noChangeArrowheads="1"/>
          </p:cNvSpPr>
          <p:nvPr/>
        </p:nvSpPr>
        <p:spPr bwMode="auto">
          <a:xfrm>
            <a:off x="5424488" y="3443288"/>
            <a:ext cx="2274887" cy="693737"/>
          </a:xfrm>
          <a:prstGeom prst="rect">
            <a:avLst/>
          </a:prstGeom>
          <a:solidFill>
            <a:srgbClr val="FF0000">
              <a:alpha val="61960"/>
            </a:srgbClr>
          </a:solidFill>
          <a:ln w="22225">
            <a:solidFill>
              <a:srgbClr val="292929"/>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nSpc>
                <a:spcPct val="75000"/>
              </a:lnSpc>
            </a:pPr>
            <a:r>
              <a:rPr lang="en-US" altLang="en-US" sz="1800">
                <a:solidFill>
                  <a:srgbClr val="FFFF00"/>
                </a:solidFill>
                <a:latin typeface="Neo Sans Intel Medium"/>
              </a:rPr>
              <a:t>Branch Prediction</a:t>
            </a:r>
          </a:p>
        </p:txBody>
      </p:sp>
      <p:sp>
        <p:nvSpPr>
          <p:cNvPr id="7179" name="Rectangle 12">
            <a:extLst>
              <a:ext uri="{FF2B5EF4-FFF2-40B4-BE49-F238E27FC236}">
                <a16:creationId xmlns:a16="http://schemas.microsoft.com/office/drawing/2014/main" id="{4F9901D4-EAD6-37B6-861A-8400052830CC}"/>
              </a:ext>
            </a:extLst>
          </p:cNvPr>
          <p:cNvSpPr>
            <a:spLocks noChangeArrowheads="1"/>
          </p:cNvSpPr>
          <p:nvPr/>
        </p:nvSpPr>
        <p:spPr bwMode="auto">
          <a:xfrm>
            <a:off x="3317875" y="3475038"/>
            <a:ext cx="2111375" cy="1435100"/>
          </a:xfrm>
          <a:prstGeom prst="rect">
            <a:avLst/>
          </a:prstGeom>
          <a:solidFill>
            <a:srgbClr val="087EB9">
              <a:alpha val="61960"/>
            </a:srgbClr>
          </a:solidFill>
          <a:ln w="22225">
            <a:solidFill>
              <a:srgbClr val="292929"/>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nSpc>
                <a:spcPct val="75000"/>
              </a:lnSpc>
            </a:pPr>
            <a:r>
              <a:rPr lang="en-US" altLang="en-US" sz="1800">
                <a:solidFill>
                  <a:srgbClr val="FFFF00"/>
                </a:solidFill>
                <a:latin typeface="Neo Sans Intel Medium"/>
              </a:rPr>
              <a:t>Instruction</a:t>
            </a:r>
            <a:br>
              <a:rPr lang="en-US" altLang="en-US" sz="1800">
                <a:solidFill>
                  <a:srgbClr val="FFFF00"/>
                </a:solidFill>
                <a:latin typeface="Neo Sans Intel Medium"/>
              </a:rPr>
            </a:br>
            <a:r>
              <a:rPr lang="en-US" altLang="en-US" sz="1800">
                <a:solidFill>
                  <a:srgbClr val="FFFF00"/>
                </a:solidFill>
                <a:latin typeface="Neo Sans Intel Medium"/>
              </a:rPr>
              <a:t>Decode &amp;</a:t>
            </a:r>
            <a:br>
              <a:rPr lang="en-US" altLang="en-US" sz="1800">
                <a:solidFill>
                  <a:srgbClr val="FFFF00"/>
                </a:solidFill>
                <a:latin typeface="Neo Sans Intel Medium"/>
              </a:rPr>
            </a:br>
            <a:r>
              <a:rPr lang="en-US" altLang="en-US" sz="1800">
                <a:solidFill>
                  <a:srgbClr val="FFFF00"/>
                </a:solidFill>
                <a:latin typeface="Neo Sans Intel Medium"/>
              </a:rPr>
              <a:t>Microcode</a:t>
            </a:r>
          </a:p>
        </p:txBody>
      </p:sp>
      <p:sp>
        <p:nvSpPr>
          <p:cNvPr id="7180" name="Rectangle 13">
            <a:extLst>
              <a:ext uri="{FF2B5EF4-FFF2-40B4-BE49-F238E27FC236}">
                <a16:creationId xmlns:a16="http://schemas.microsoft.com/office/drawing/2014/main" id="{77B0600C-2237-2F6A-8D28-5447E3CD3FCF}"/>
              </a:ext>
            </a:extLst>
          </p:cNvPr>
          <p:cNvSpPr>
            <a:spLocks noChangeArrowheads="1"/>
          </p:cNvSpPr>
          <p:nvPr/>
        </p:nvSpPr>
        <p:spPr bwMode="auto">
          <a:xfrm>
            <a:off x="5424488" y="2874963"/>
            <a:ext cx="2274887" cy="573087"/>
          </a:xfrm>
          <a:prstGeom prst="rect">
            <a:avLst/>
          </a:prstGeom>
          <a:solidFill>
            <a:srgbClr val="087EB9">
              <a:alpha val="61960"/>
            </a:srgbClr>
          </a:solidFill>
          <a:ln w="22225">
            <a:solidFill>
              <a:srgbClr val="292929"/>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nSpc>
                <a:spcPct val="75000"/>
              </a:lnSpc>
            </a:pPr>
            <a:r>
              <a:rPr lang="en-US" altLang="en-US" sz="1800">
                <a:solidFill>
                  <a:srgbClr val="FFFF00"/>
                </a:solidFill>
                <a:latin typeface="Neo Sans Intel Medium"/>
              </a:rPr>
              <a:t>Paging</a:t>
            </a:r>
          </a:p>
        </p:txBody>
      </p:sp>
      <p:sp>
        <p:nvSpPr>
          <p:cNvPr id="7181" name="Rectangle 14">
            <a:extLst>
              <a:ext uri="{FF2B5EF4-FFF2-40B4-BE49-F238E27FC236}">
                <a16:creationId xmlns:a16="http://schemas.microsoft.com/office/drawing/2014/main" id="{CE1E74E3-2776-7AD9-25B8-96579EB678CB}"/>
              </a:ext>
            </a:extLst>
          </p:cNvPr>
          <p:cNvSpPr>
            <a:spLocks noChangeArrowheads="1"/>
          </p:cNvSpPr>
          <p:nvPr/>
        </p:nvSpPr>
        <p:spPr bwMode="auto">
          <a:xfrm>
            <a:off x="3327400" y="1647825"/>
            <a:ext cx="2105025" cy="822325"/>
          </a:xfrm>
          <a:prstGeom prst="rect">
            <a:avLst/>
          </a:prstGeom>
          <a:solidFill>
            <a:srgbClr val="087EB9">
              <a:alpha val="61960"/>
            </a:srgbClr>
          </a:solidFill>
          <a:ln w="22225">
            <a:solidFill>
              <a:srgbClr val="292929"/>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nSpc>
                <a:spcPct val="75000"/>
              </a:lnSpc>
            </a:pPr>
            <a:r>
              <a:rPr lang="en-US" altLang="en-US" sz="1800">
                <a:solidFill>
                  <a:srgbClr val="FFFF00"/>
                </a:solidFill>
                <a:latin typeface="Neo Sans Intel Medium"/>
              </a:rPr>
              <a:t>L1 Data Cache</a:t>
            </a:r>
          </a:p>
        </p:txBody>
      </p:sp>
      <p:sp>
        <p:nvSpPr>
          <p:cNvPr id="7182" name="Rectangle 15">
            <a:extLst>
              <a:ext uri="{FF2B5EF4-FFF2-40B4-BE49-F238E27FC236}">
                <a16:creationId xmlns:a16="http://schemas.microsoft.com/office/drawing/2014/main" id="{3A17FF44-58F8-8175-B1FB-EBE414E78E17}"/>
              </a:ext>
            </a:extLst>
          </p:cNvPr>
          <p:cNvSpPr>
            <a:spLocks noChangeArrowheads="1"/>
          </p:cNvSpPr>
          <p:nvPr/>
        </p:nvSpPr>
        <p:spPr bwMode="auto">
          <a:xfrm>
            <a:off x="3324225" y="2471738"/>
            <a:ext cx="2105025" cy="1006475"/>
          </a:xfrm>
          <a:prstGeom prst="rect">
            <a:avLst/>
          </a:prstGeom>
          <a:solidFill>
            <a:srgbClr val="087EB9">
              <a:alpha val="61960"/>
            </a:srgbClr>
          </a:solidFill>
          <a:ln w="22225">
            <a:solidFill>
              <a:srgbClr val="292929"/>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nSpc>
                <a:spcPct val="75000"/>
              </a:lnSpc>
            </a:pPr>
            <a:r>
              <a:rPr lang="en-US" altLang="en-US" sz="1800">
                <a:solidFill>
                  <a:srgbClr val="FFFF00"/>
                </a:solidFill>
                <a:latin typeface="Neo Sans Intel Medium"/>
              </a:rPr>
              <a:t>Memory Ordering</a:t>
            </a:r>
            <a:br>
              <a:rPr lang="en-US" altLang="en-US" sz="1800">
                <a:solidFill>
                  <a:srgbClr val="FFFF00"/>
                </a:solidFill>
                <a:latin typeface="Neo Sans Intel Medium"/>
              </a:rPr>
            </a:br>
            <a:r>
              <a:rPr lang="en-US" altLang="en-US" sz="1800">
                <a:solidFill>
                  <a:srgbClr val="FFFF00"/>
                </a:solidFill>
                <a:latin typeface="Neo Sans Intel Medium"/>
              </a:rPr>
              <a:t>&amp; Execution</a:t>
            </a:r>
          </a:p>
        </p:txBody>
      </p:sp>
      <p:sp>
        <p:nvSpPr>
          <p:cNvPr id="7183" name="TextBox 24">
            <a:extLst>
              <a:ext uri="{FF2B5EF4-FFF2-40B4-BE49-F238E27FC236}">
                <a16:creationId xmlns:a16="http://schemas.microsoft.com/office/drawing/2014/main" id="{86CDC9F8-F8C9-9144-FD3F-5BC20A444B7B}"/>
              </a:ext>
            </a:extLst>
          </p:cNvPr>
          <p:cNvSpPr txBox="1">
            <a:spLocks noChangeArrowheads="1"/>
          </p:cNvSpPr>
          <p:nvPr/>
        </p:nvSpPr>
        <p:spPr bwMode="auto">
          <a:xfrm>
            <a:off x="1003300" y="5372100"/>
            <a:ext cx="6731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rgbClr val="000000"/>
                </a:solidFill>
              </a:rPr>
              <a:t>Highlighted above: Significant investment of silicon area to “predict branches”.  </a:t>
            </a:r>
          </a:p>
        </p:txBody>
      </p:sp>
      <p:sp>
        <p:nvSpPr>
          <p:cNvPr id="7184" name="Slide Number Placeholder 15">
            <a:extLst>
              <a:ext uri="{FF2B5EF4-FFF2-40B4-BE49-F238E27FC236}">
                <a16:creationId xmlns:a16="http://schemas.microsoft.com/office/drawing/2014/main" id="{360F3767-7FCE-ABE8-6FC4-D2767B1DF3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4E3FAB99-5CA3-3942-B1E0-CF8BF7B0E228}" type="slidenum">
              <a:rPr lang="en-GB" altLang="en-US" sz="1400">
                <a:solidFill>
                  <a:srgbClr val="000000"/>
                </a:solidFill>
                <a:latin typeface="Arial  " charset="0"/>
              </a:rPr>
              <a:pPr/>
              <a:t>3</a:t>
            </a:fld>
            <a:r>
              <a:rPr lang="en-GB" altLang="en-US" sz="1400">
                <a:solidFill>
                  <a:srgbClr val="000000"/>
                </a:solidFill>
                <a:latin typeface="Arial  " charset="0"/>
              </a:rPr>
              <a:t>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D9D5FBC0-A37B-CB5B-6805-9B3922C0ACE5}"/>
              </a:ext>
            </a:extLst>
          </p:cNvPr>
          <p:cNvSpPr>
            <a:spLocks noGrp="1"/>
          </p:cNvSpPr>
          <p:nvPr>
            <p:ph type="title"/>
          </p:nvPr>
        </p:nvSpPr>
        <p:spPr>
          <a:xfrm>
            <a:off x="685800" y="-85725"/>
            <a:ext cx="7770813" cy="1166813"/>
          </a:xfrm>
        </p:spPr>
        <p:txBody>
          <a:bodyPr/>
          <a:lstStyle/>
          <a:p>
            <a:r>
              <a:rPr lang="en-CA" altLang="en-US" dirty="0">
                <a:latin typeface="Arial  " charset="0"/>
                <a:cs typeface="Arial  " charset="0"/>
              </a:rPr>
              <a:t>Introduction to Slide Set 16</a:t>
            </a:r>
          </a:p>
        </p:txBody>
      </p:sp>
      <p:sp>
        <p:nvSpPr>
          <p:cNvPr id="6147" name="Content Placeholder 2">
            <a:extLst>
              <a:ext uri="{FF2B5EF4-FFF2-40B4-BE49-F238E27FC236}">
                <a16:creationId xmlns:a16="http://schemas.microsoft.com/office/drawing/2014/main" id="{7A071A5E-5EEB-2608-BA2C-92E932A74F97}"/>
              </a:ext>
            </a:extLst>
          </p:cNvPr>
          <p:cNvSpPr>
            <a:spLocks noGrp="1"/>
          </p:cNvSpPr>
          <p:nvPr>
            <p:ph idx="1"/>
          </p:nvPr>
        </p:nvSpPr>
        <p:spPr>
          <a:xfrm>
            <a:off x="660400" y="966788"/>
            <a:ext cx="7770813" cy="5343525"/>
          </a:xfrm>
        </p:spPr>
        <p:txBody>
          <a:bodyPr/>
          <a:lstStyle/>
          <a:p>
            <a:r>
              <a:rPr lang="en-CA" altLang="en-US" sz="2000" dirty="0">
                <a:latin typeface="Arial  " charset="0"/>
                <a:cs typeface="Arial  " charset="0"/>
              </a:rPr>
              <a:t>In the past couple of slide sets we considered how to execute instructions “out-of-order”.</a:t>
            </a:r>
          </a:p>
          <a:p>
            <a:r>
              <a:rPr lang="en-CA" altLang="en-US" sz="2000" dirty="0">
                <a:latin typeface="Arial  " charset="0"/>
                <a:cs typeface="Arial  " charset="0"/>
              </a:rPr>
              <a:t>The key to out-of-order execution (with Tomasulo’s algorithm) is finding instructions which do not have true data dependencies. </a:t>
            </a:r>
          </a:p>
          <a:p>
            <a:r>
              <a:rPr lang="en-CA" altLang="en-US" sz="2000" dirty="0">
                <a:solidFill>
                  <a:srgbClr val="FF0000"/>
                </a:solidFill>
                <a:latin typeface="Arial  " charset="0"/>
                <a:cs typeface="Arial  " charset="0"/>
              </a:rPr>
              <a:t>Did not talk about how to handle branches: </a:t>
            </a:r>
            <a:r>
              <a:rPr lang="en-CA" altLang="en-US" sz="2000" dirty="0">
                <a:solidFill>
                  <a:srgbClr val="008080"/>
                </a:solidFill>
                <a:latin typeface="Arial  " charset="0"/>
                <a:cs typeface="Arial  " charset="0"/>
              </a:rPr>
              <a:t>Branches limit number of instructions we can consider for dynamic scheduling.</a:t>
            </a:r>
          </a:p>
          <a:p>
            <a:pPr>
              <a:buFont typeface="Comic Sans MS" panose="030F0902030302020204" pitchFamily="66" charset="0"/>
              <a:buNone/>
            </a:pPr>
            <a:endParaRPr lang="en-CA" altLang="en-US" sz="2000" dirty="0">
              <a:latin typeface="Arial  " charset="0"/>
              <a:cs typeface="Arial  " charset="0"/>
            </a:endParaRPr>
          </a:p>
          <a:p>
            <a:r>
              <a:rPr lang="en-CA" altLang="en-US" sz="2000" dirty="0">
                <a:solidFill>
                  <a:srgbClr val="0000FF"/>
                </a:solidFill>
                <a:latin typeface="Arial  " charset="0"/>
                <a:cs typeface="Arial  " charset="0"/>
              </a:rPr>
              <a:t>In this slide set, we explore mechanisms for </a:t>
            </a:r>
            <a:r>
              <a:rPr lang="en-CA" altLang="en-US" sz="2000" u="sng" dirty="0">
                <a:solidFill>
                  <a:srgbClr val="0000FF"/>
                </a:solidFill>
                <a:latin typeface="Arial  " charset="0"/>
                <a:cs typeface="Arial  " charset="0"/>
              </a:rPr>
              <a:t>predicting</a:t>
            </a:r>
            <a:r>
              <a:rPr lang="en-CA" altLang="en-US" sz="2000" dirty="0">
                <a:solidFill>
                  <a:srgbClr val="0000FF"/>
                </a:solidFill>
                <a:latin typeface="Arial  " charset="0"/>
                <a:cs typeface="Arial  " charset="0"/>
              </a:rPr>
              <a:t> the “outcome” of a branch </a:t>
            </a:r>
            <a:r>
              <a:rPr lang="en-CA" altLang="en-US" sz="2000" dirty="0">
                <a:solidFill>
                  <a:srgbClr val="008080"/>
                </a:solidFill>
                <a:latin typeface="Arial  " charset="0"/>
                <a:cs typeface="Arial  " charset="0"/>
              </a:rPr>
              <a:t>long before executing the branch</a:t>
            </a:r>
            <a:r>
              <a:rPr lang="en-CA" altLang="en-US" sz="2000" dirty="0">
                <a:solidFill>
                  <a:srgbClr val="0000FF"/>
                </a:solidFill>
                <a:latin typeface="Arial  " charset="0"/>
                <a:cs typeface="Arial  " charset="0"/>
              </a:rPr>
              <a:t>. </a:t>
            </a:r>
          </a:p>
          <a:p>
            <a:r>
              <a:rPr lang="en-CA" altLang="en-US" sz="2000" dirty="0">
                <a:solidFill>
                  <a:srgbClr val="FF00FF"/>
                </a:solidFill>
                <a:latin typeface="Arial  " charset="0"/>
                <a:cs typeface="Arial  " charset="0"/>
              </a:rPr>
              <a:t>Requires a way to “recover” when the prediction is incorrect </a:t>
            </a:r>
            <a:r>
              <a:rPr lang="en-CA" altLang="en-US" sz="2000" dirty="0">
                <a:solidFill>
                  <a:schemeClr val="tx1"/>
                </a:solidFill>
                <a:latin typeface="Arial  " charset="0"/>
                <a:cs typeface="Arial  " charset="0"/>
              </a:rPr>
              <a:t>(our prediction techniques </a:t>
            </a:r>
            <a:r>
              <a:rPr lang="en-CA" altLang="en-US" sz="2000" b="1" dirty="0">
                <a:solidFill>
                  <a:schemeClr val="tx1"/>
                </a:solidFill>
                <a:latin typeface="Arial  " charset="0"/>
                <a:cs typeface="Arial  " charset="0"/>
              </a:rPr>
              <a:t>will</a:t>
            </a:r>
            <a:r>
              <a:rPr lang="en-CA" altLang="en-US" sz="2000" dirty="0">
                <a:solidFill>
                  <a:schemeClr val="tx1"/>
                </a:solidFill>
                <a:latin typeface="Arial  " charset="0"/>
                <a:cs typeface="Arial  " charset="0"/>
              </a:rPr>
              <a:t> be incorrect sometimes). Note, we already learned how to “recover” after incorrect predictions when using Tomasulo’s algorithm by using a reorder buffer. </a:t>
            </a:r>
          </a:p>
        </p:txBody>
      </p:sp>
      <p:sp>
        <p:nvSpPr>
          <p:cNvPr id="8196" name="Slide Number Placeholder 3">
            <a:extLst>
              <a:ext uri="{FF2B5EF4-FFF2-40B4-BE49-F238E27FC236}">
                <a16:creationId xmlns:a16="http://schemas.microsoft.com/office/drawing/2014/main" id="{9E54DB5B-1374-6E3E-7AB5-BC107FFF86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393105C4-9B2E-E542-B1FD-57B4E2A52DDE}" type="slidenum">
              <a:rPr lang="en-GB" altLang="en-US" sz="1400">
                <a:solidFill>
                  <a:srgbClr val="000000"/>
                </a:solidFill>
                <a:latin typeface="Arial  " charset="0"/>
              </a:rPr>
              <a:pPr/>
              <a:t>4</a:t>
            </a:fld>
            <a:r>
              <a:rPr lang="en-GB" altLang="en-US" sz="1400">
                <a:solidFill>
                  <a:srgbClr val="000000"/>
                </a:solidFill>
                <a:latin typeface="Arial  "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D7F519DD-6D98-3F82-A877-27E07D8B7BEA}"/>
              </a:ext>
            </a:extLst>
          </p:cNvPr>
          <p:cNvSpPr>
            <a:spLocks noGrp="1"/>
          </p:cNvSpPr>
          <p:nvPr>
            <p:ph type="title"/>
          </p:nvPr>
        </p:nvSpPr>
        <p:spPr/>
        <p:txBody>
          <a:bodyPr/>
          <a:lstStyle/>
          <a:p>
            <a:r>
              <a:rPr lang="en-CA" altLang="en-US">
                <a:latin typeface="Arial  " charset="0"/>
                <a:cs typeface="Arial  " charset="0"/>
              </a:rPr>
              <a:t>Learning Objectives</a:t>
            </a:r>
          </a:p>
        </p:txBody>
      </p:sp>
      <p:sp>
        <p:nvSpPr>
          <p:cNvPr id="9219" name="Content Placeholder 2">
            <a:extLst>
              <a:ext uri="{FF2B5EF4-FFF2-40B4-BE49-F238E27FC236}">
                <a16:creationId xmlns:a16="http://schemas.microsoft.com/office/drawing/2014/main" id="{D799B9D6-581D-A662-FF6A-3141424E49F6}"/>
              </a:ext>
            </a:extLst>
          </p:cNvPr>
          <p:cNvSpPr>
            <a:spLocks noGrp="1"/>
          </p:cNvSpPr>
          <p:nvPr>
            <p:ph idx="1"/>
          </p:nvPr>
        </p:nvSpPr>
        <p:spPr>
          <a:xfrm>
            <a:off x="685800" y="1114425"/>
            <a:ext cx="7770813" cy="4722813"/>
          </a:xfrm>
        </p:spPr>
        <p:txBody>
          <a:bodyPr/>
          <a:lstStyle/>
          <a:p>
            <a:pPr>
              <a:buFont typeface="Comic Sans MS" panose="030F0902030302020204" pitchFamily="66" charset="0"/>
              <a:buNone/>
            </a:pPr>
            <a:r>
              <a:rPr lang="en-CA" altLang="en-US" sz="2000" dirty="0">
                <a:latin typeface="Arial  " charset="0"/>
                <a:cs typeface="Arial  " charset="0"/>
              </a:rPr>
              <a:t>After we finish this set of slides you should be able to:</a:t>
            </a:r>
          </a:p>
          <a:p>
            <a:r>
              <a:rPr lang="en-CA" altLang="en-US" sz="2000" dirty="0">
                <a:latin typeface="Arial  " charset="0"/>
                <a:cs typeface="Arial  " charset="0"/>
              </a:rPr>
              <a:t>Describe the motivation for and purpose of a branch predictor and branch target buffer.</a:t>
            </a:r>
          </a:p>
          <a:p>
            <a:r>
              <a:rPr lang="en-CA" altLang="en-US" sz="2000" dirty="0">
                <a:latin typeface="Arial  " charset="0"/>
                <a:cs typeface="Arial  " charset="0"/>
              </a:rPr>
              <a:t>Explain why it is possible to predict branch outcomes with relatively good accuracy.</a:t>
            </a:r>
          </a:p>
          <a:p>
            <a:r>
              <a:rPr lang="en-CA" altLang="en-US" sz="2000" dirty="0">
                <a:latin typeface="Arial  " charset="0"/>
                <a:cs typeface="Arial  " charset="0"/>
              </a:rPr>
              <a:t>Describe three types of branch predictor and evaluate their operation in detail.</a:t>
            </a:r>
          </a:p>
          <a:p>
            <a:endParaRPr lang="en-CA" altLang="en-US" sz="2000" dirty="0">
              <a:latin typeface="Arial  " charset="0"/>
              <a:cs typeface="Arial  " charset="0"/>
            </a:endParaRPr>
          </a:p>
          <a:p>
            <a:endParaRPr lang="en-CA" altLang="en-US" sz="2000" dirty="0">
              <a:latin typeface="Arial  " charset="0"/>
              <a:cs typeface="Arial  " charset="0"/>
            </a:endParaRPr>
          </a:p>
          <a:p>
            <a:endParaRPr lang="en-CA" altLang="en-US" sz="2000" dirty="0">
              <a:latin typeface="Arial  " charset="0"/>
              <a:cs typeface="Arial  " charset="0"/>
            </a:endParaRPr>
          </a:p>
        </p:txBody>
      </p:sp>
      <p:sp>
        <p:nvSpPr>
          <p:cNvPr id="9220" name="Slide Number Placeholder 3">
            <a:extLst>
              <a:ext uri="{FF2B5EF4-FFF2-40B4-BE49-F238E27FC236}">
                <a16:creationId xmlns:a16="http://schemas.microsoft.com/office/drawing/2014/main" id="{1529CB6D-C224-26DB-8E0F-7D35D239E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61BC14EB-C3A8-3547-89C8-5ADF623B262C}" type="slidenum">
              <a:rPr lang="en-GB" altLang="en-US" sz="1400">
                <a:solidFill>
                  <a:srgbClr val="000000"/>
                </a:solidFill>
                <a:latin typeface="Arial  " charset="0"/>
              </a:rPr>
              <a:pPr/>
              <a:t>5</a:t>
            </a:fld>
            <a:r>
              <a:rPr lang="en-GB" altLang="en-US" sz="1400">
                <a:solidFill>
                  <a:srgbClr val="000000"/>
                </a:solidFill>
                <a:latin typeface="Arial  "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id="{1832A7EE-72C2-99C4-8C12-520DB4D72DA5}"/>
              </a:ext>
            </a:extLst>
          </p:cNvPr>
          <p:cNvSpPr>
            <a:spLocks noGrp="1" noChangeArrowheads="1"/>
          </p:cNvSpPr>
          <p:nvPr>
            <p:ph type="title"/>
          </p:nvPr>
        </p:nvSpPr>
        <p:spPr>
          <a:xfrm>
            <a:off x="685800" y="0"/>
            <a:ext cx="7772400" cy="823913"/>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Arial  " charset="0"/>
                <a:cs typeface="Arial  " charset="0"/>
              </a:rPr>
              <a:t>Control Dependence (H&amp;P 2.1)</a:t>
            </a:r>
            <a:r>
              <a:rPr lang="ar-SA" altLang="en-US">
                <a:latin typeface="Arial  " charset="0"/>
                <a:cs typeface="Arial" panose="020B0604020202020204" pitchFamily="34" charset="0"/>
              </a:rPr>
              <a:t>‏</a:t>
            </a:r>
            <a:endParaRPr lang="en-GB" altLang="en-US">
              <a:latin typeface="Arial  " charset="0"/>
              <a:cs typeface="Arial  " charset="0"/>
            </a:endParaRPr>
          </a:p>
        </p:txBody>
      </p:sp>
      <p:sp>
        <p:nvSpPr>
          <p:cNvPr id="10243" name="Rectangle 2">
            <a:extLst>
              <a:ext uri="{FF2B5EF4-FFF2-40B4-BE49-F238E27FC236}">
                <a16:creationId xmlns:a16="http://schemas.microsoft.com/office/drawing/2014/main" id="{A7D4623C-86BB-2259-33E0-62B5BEE59F93}"/>
              </a:ext>
            </a:extLst>
          </p:cNvPr>
          <p:cNvSpPr>
            <a:spLocks noGrp="1" noChangeArrowheads="1"/>
          </p:cNvSpPr>
          <p:nvPr>
            <p:ph type="body" idx="1"/>
          </p:nvPr>
        </p:nvSpPr>
        <p:spPr>
          <a:xfrm>
            <a:off x="608013" y="822325"/>
            <a:ext cx="8007350" cy="5816600"/>
          </a:xfrm>
        </p:spPr>
        <p:txBody>
          <a:bodyPr/>
          <a:lstStyle/>
          <a:p>
            <a:pPr eaLnBrk="1" hangingPunct="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Arial  " charset="0"/>
                <a:cs typeface="Arial  " charset="0"/>
              </a:rPr>
              <a:t>Intuition: An instruction X is control dependent on a branch B if whether instruction X executes is determined by the outcome of branch B.  </a:t>
            </a:r>
          </a:p>
          <a:p>
            <a:pPr eaLnBrk="1" hangingPunct="1">
              <a:lnSpc>
                <a:spcPct val="90000"/>
              </a:lnSpc>
              <a:spcBef>
                <a:spcPts val="6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400" dirty="0">
              <a:latin typeface="Arial  " charset="0"/>
              <a:cs typeface="Arial  " charset="0"/>
            </a:endParaRPr>
          </a:p>
          <a:p>
            <a:pPr eaLnBrk="1" hangingPunct="1">
              <a:lnSpc>
                <a:spcPct val="90000"/>
              </a:lnSpc>
              <a:spcBef>
                <a:spcPts val="6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Courier New" panose="02070309020205020404" pitchFamily="49" charset="0"/>
                <a:cs typeface="Courier New" panose="02070309020205020404" pitchFamily="49" charset="0"/>
              </a:rPr>
              <a:t>  if( p1 ) {</a:t>
            </a:r>
          </a:p>
          <a:p>
            <a:pPr eaLnBrk="1" hangingPunct="1">
              <a:lnSpc>
                <a:spcPct val="90000"/>
              </a:lnSpc>
              <a:spcBef>
                <a:spcPts val="6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Courier New" panose="02070309020205020404" pitchFamily="49" charset="0"/>
                <a:cs typeface="Courier New" panose="02070309020205020404" pitchFamily="49" charset="0"/>
              </a:rPr>
              <a:t>	   S1; // S1 (statement 1) control dependent on p1</a:t>
            </a:r>
          </a:p>
          <a:p>
            <a:pPr eaLnBrk="1" hangingPunct="1">
              <a:lnSpc>
                <a:spcPct val="90000"/>
              </a:lnSpc>
              <a:spcBef>
                <a:spcPts val="6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Courier New" panose="02070309020205020404" pitchFamily="49" charset="0"/>
                <a:cs typeface="Courier New" panose="02070309020205020404" pitchFamily="49" charset="0"/>
              </a:rPr>
              <a:t>  }</a:t>
            </a:r>
          </a:p>
          <a:p>
            <a:pPr eaLnBrk="1" hangingPunct="1">
              <a:lnSpc>
                <a:spcPct val="90000"/>
              </a:lnSpc>
              <a:spcBef>
                <a:spcPts val="6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Courier New" panose="02070309020205020404" pitchFamily="49" charset="0"/>
                <a:cs typeface="Courier New" panose="02070309020205020404" pitchFamily="49" charset="0"/>
              </a:rPr>
              <a:t>  if (p2) {</a:t>
            </a:r>
          </a:p>
          <a:p>
            <a:pPr eaLnBrk="1" hangingPunct="1">
              <a:lnSpc>
                <a:spcPct val="90000"/>
              </a:lnSpc>
              <a:spcBef>
                <a:spcPts val="6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Courier New" panose="02070309020205020404" pitchFamily="49" charset="0"/>
                <a:cs typeface="Courier New" panose="02070309020205020404" pitchFamily="49" charset="0"/>
              </a:rPr>
              <a:t>	   S2; // S2 control dependent on p2, not c.d. on p1</a:t>
            </a:r>
          </a:p>
          <a:p>
            <a:pPr eaLnBrk="1" hangingPunct="1">
              <a:lnSpc>
                <a:spcPct val="90000"/>
              </a:lnSpc>
              <a:spcBef>
                <a:spcPts val="6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Courier New" panose="02070309020205020404" pitchFamily="49" charset="0"/>
                <a:cs typeface="Courier New" panose="02070309020205020404" pitchFamily="49" charset="0"/>
              </a:rPr>
              <a:t>  }</a:t>
            </a:r>
          </a:p>
          <a:p>
            <a:pPr eaLnBrk="1" hangingPunct="1">
              <a:lnSpc>
                <a:spcPct val="90000"/>
              </a:lnSpc>
              <a:spcBef>
                <a:spcPts val="6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400" dirty="0">
              <a:latin typeface="Arial  " charset="0"/>
              <a:cs typeface="Arial  " charset="0"/>
            </a:endParaRPr>
          </a:p>
          <a:p>
            <a:pPr eaLnBrk="1" hangingPunct="1">
              <a:lnSpc>
                <a:spcPct val="90000"/>
              </a:lnSpc>
              <a:spcBef>
                <a:spcPts val="6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Arial  " charset="0"/>
                <a:cs typeface="Arial  " charset="0"/>
              </a:rPr>
              <a:t>	Control dependencies lead to control hazards.  Earlier, we saw three approaches to dealing with control hazards:  (1) wait for the branch to execute, (2) “predict not taken” (3) delayed branches,.  </a:t>
            </a:r>
            <a:r>
              <a:rPr lang="en-GB" altLang="en-US" sz="2400" dirty="0">
                <a:solidFill>
                  <a:srgbClr val="0000FF"/>
                </a:solidFill>
                <a:latin typeface="Arial  " charset="0"/>
                <a:cs typeface="Arial  " charset="0"/>
              </a:rPr>
              <a:t>In this slide set, we extend the “predict not taken” approach.</a:t>
            </a:r>
          </a:p>
        </p:txBody>
      </p:sp>
      <p:sp>
        <p:nvSpPr>
          <p:cNvPr id="10244" name="Slide Number Placeholder 7">
            <a:extLst>
              <a:ext uri="{FF2B5EF4-FFF2-40B4-BE49-F238E27FC236}">
                <a16:creationId xmlns:a16="http://schemas.microsoft.com/office/drawing/2014/main" id="{26FDA388-0786-EA1D-331D-4206ED9D6E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CC8B4F12-2DE4-FF42-B04D-C1495CB5F585}" type="slidenum">
              <a:rPr lang="en-GB" altLang="en-US" sz="1400">
                <a:solidFill>
                  <a:srgbClr val="000000"/>
                </a:solidFill>
                <a:latin typeface="Arial  " charset="0"/>
              </a:rPr>
              <a:pPr/>
              <a:t>6</a:t>
            </a:fld>
            <a:r>
              <a:rPr lang="en-GB" altLang="en-US" sz="1400">
                <a:solidFill>
                  <a:srgbClr val="000000"/>
                </a:solidFill>
                <a:latin typeface="Arial  " charset="0"/>
              </a:rPr>
              <a:t> </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a:extLst>
              <a:ext uri="{FF2B5EF4-FFF2-40B4-BE49-F238E27FC236}">
                <a16:creationId xmlns:a16="http://schemas.microsoft.com/office/drawing/2014/main" id="{AF997F12-9BA3-F420-5A85-EBF810C526D5}"/>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a:latin typeface="Arial  " charset="0"/>
                <a:cs typeface="Arial  " charset="0"/>
              </a:rPr>
              <a:t>Control Hazards</a:t>
            </a:r>
          </a:p>
        </p:txBody>
      </p:sp>
      <p:sp>
        <p:nvSpPr>
          <p:cNvPr id="11267" name="Rectangle 2">
            <a:extLst>
              <a:ext uri="{FF2B5EF4-FFF2-40B4-BE49-F238E27FC236}">
                <a16:creationId xmlns:a16="http://schemas.microsoft.com/office/drawing/2014/main" id="{8962871A-C9CC-FF40-669E-1CC8C03CEF55}"/>
              </a:ext>
            </a:extLst>
          </p:cNvPr>
          <p:cNvSpPr>
            <a:spLocks noGrp="1" noChangeArrowheads="1"/>
          </p:cNvSpPr>
          <p:nvPr>
            <p:ph type="body" idx="1"/>
          </p:nvPr>
        </p:nvSpPr>
        <p:spPr>
          <a:xfrm>
            <a:off x="660400" y="1079500"/>
            <a:ext cx="7772400" cy="1071563"/>
          </a:xfrm>
        </p:spPr>
        <p:txBody>
          <a:bodyPr/>
          <a:lstStyle/>
          <a:p>
            <a:pPr eaLnBrk="1" hangingPunct="1">
              <a:lnSpc>
                <a:spcPct val="9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Arial  " charset="0"/>
                <a:cs typeface="Arial  " charset="0"/>
              </a:rPr>
              <a:t>Predict-not-taken.   Expanded pipeline view, showing flushed instructions (assuming branch “resolved in execute”):</a:t>
            </a:r>
          </a:p>
          <a:p>
            <a:pPr eaLnBrk="1" hangingPunct="1">
              <a:lnSpc>
                <a:spcPct val="90000"/>
              </a:lnSpc>
              <a:spcBef>
                <a:spcPts val="5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a:latin typeface="Arial  " charset="0"/>
              <a:cs typeface="Arial  " charset="0"/>
            </a:endParaRPr>
          </a:p>
          <a:p>
            <a:pPr eaLnBrk="1" hangingPunct="1">
              <a:lnSpc>
                <a:spcPct val="90000"/>
              </a:lnSpc>
              <a:spcBef>
                <a:spcPts val="5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a:latin typeface="Arial  " charset="0"/>
              <a:cs typeface="Arial  " charset="0"/>
            </a:endParaRPr>
          </a:p>
          <a:p>
            <a:pPr eaLnBrk="1" hangingPunct="1">
              <a:lnSpc>
                <a:spcPct val="90000"/>
              </a:lnSpc>
              <a:spcBef>
                <a:spcPts val="5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a:latin typeface="Arial  " charset="0"/>
              <a:cs typeface="Arial  " charset="0"/>
            </a:endParaRPr>
          </a:p>
          <a:p>
            <a:pPr eaLnBrk="1" hangingPunct="1">
              <a:lnSpc>
                <a:spcPct val="90000"/>
              </a:lnSpc>
              <a:spcBef>
                <a:spcPts val="5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a:latin typeface="Arial  " charset="0"/>
              <a:cs typeface="Arial  " charset="0"/>
            </a:endParaRPr>
          </a:p>
          <a:p>
            <a:pPr eaLnBrk="1" hangingPunct="1">
              <a:lnSpc>
                <a:spcPct val="90000"/>
              </a:lnSpc>
              <a:spcBef>
                <a:spcPts val="5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a:latin typeface="Arial  " charset="0"/>
              <a:cs typeface="Arial  " charset="0"/>
            </a:endParaRPr>
          </a:p>
          <a:p>
            <a:pPr eaLnBrk="1" hangingPunct="1">
              <a:lnSpc>
                <a:spcPct val="90000"/>
              </a:lnSpc>
              <a:spcBef>
                <a:spcPts val="5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a:latin typeface="Arial  " charset="0"/>
              <a:cs typeface="Arial  " charset="0"/>
            </a:endParaRPr>
          </a:p>
          <a:p>
            <a:pPr eaLnBrk="1" hangingPunct="1">
              <a:lnSpc>
                <a:spcPct val="90000"/>
              </a:lnSpc>
              <a:spcBef>
                <a:spcPts val="5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a:latin typeface="Arial  " charset="0"/>
              <a:cs typeface="Arial  " charset="0"/>
            </a:endParaRPr>
          </a:p>
          <a:p>
            <a:pPr eaLnBrk="1" hangingPunct="1">
              <a:lnSpc>
                <a:spcPct val="90000"/>
              </a:lnSpc>
              <a:spcBef>
                <a:spcPts val="5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a:latin typeface="Arial  " charset="0"/>
              <a:cs typeface="Arial  " charset="0"/>
            </a:endParaRPr>
          </a:p>
          <a:p>
            <a:pPr eaLnBrk="1" hangingPunct="1">
              <a:lnSpc>
                <a:spcPct val="90000"/>
              </a:lnSpc>
              <a:spcBef>
                <a:spcPts val="5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a:latin typeface="Arial  " charset="0"/>
              <a:cs typeface="Arial  " charset="0"/>
            </a:endParaRPr>
          </a:p>
        </p:txBody>
      </p:sp>
      <p:sp>
        <p:nvSpPr>
          <p:cNvPr id="11268" name="Rectangle 4">
            <a:extLst>
              <a:ext uri="{FF2B5EF4-FFF2-40B4-BE49-F238E27FC236}">
                <a16:creationId xmlns:a16="http://schemas.microsoft.com/office/drawing/2014/main" id="{DEF2AD6A-D865-C681-2D21-1D1DF3AF1A1B}"/>
              </a:ext>
            </a:extLst>
          </p:cNvPr>
          <p:cNvSpPr>
            <a:spLocks noChangeArrowheads="1"/>
          </p:cNvSpPr>
          <p:nvPr/>
        </p:nvSpPr>
        <p:spPr bwMode="auto">
          <a:xfrm>
            <a:off x="7704138" y="4027488"/>
            <a:ext cx="7731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WB</a:t>
            </a:r>
          </a:p>
        </p:txBody>
      </p:sp>
      <p:sp>
        <p:nvSpPr>
          <p:cNvPr id="11269" name="Rectangle 5">
            <a:extLst>
              <a:ext uri="{FF2B5EF4-FFF2-40B4-BE49-F238E27FC236}">
                <a16:creationId xmlns:a16="http://schemas.microsoft.com/office/drawing/2014/main" id="{4F0DB65C-5065-D0FA-9BAE-DC1C89CC9AE9}"/>
              </a:ext>
            </a:extLst>
          </p:cNvPr>
          <p:cNvSpPr>
            <a:spLocks noChangeArrowheads="1"/>
          </p:cNvSpPr>
          <p:nvPr/>
        </p:nvSpPr>
        <p:spPr bwMode="auto">
          <a:xfrm>
            <a:off x="6915150" y="4027488"/>
            <a:ext cx="7889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MEM</a:t>
            </a:r>
          </a:p>
        </p:txBody>
      </p:sp>
      <p:sp>
        <p:nvSpPr>
          <p:cNvPr id="11270" name="Rectangle 6">
            <a:extLst>
              <a:ext uri="{FF2B5EF4-FFF2-40B4-BE49-F238E27FC236}">
                <a16:creationId xmlns:a16="http://schemas.microsoft.com/office/drawing/2014/main" id="{68B77A48-7D91-3F68-0551-A1D8FD634252}"/>
              </a:ext>
            </a:extLst>
          </p:cNvPr>
          <p:cNvSpPr>
            <a:spLocks noChangeArrowheads="1"/>
          </p:cNvSpPr>
          <p:nvPr/>
        </p:nvSpPr>
        <p:spPr bwMode="auto">
          <a:xfrm>
            <a:off x="5430838" y="4027488"/>
            <a:ext cx="711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ID</a:t>
            </a:r>
          </a:p>
        </p:txBody>
      </p:sp>
      <p:sp>
        <p:nvSpPr>
          <p:cNvPr id="11271" name="Rectangle 7">
            <a:extLst>
              <a:ext uri="{FF2B5EF4-FFF2-40B4-BE49-F238E27FC236}">
                <a16:creationId xmlns:a16="http://schemas.microsoft.com/office/drawing/2014/main" id="{483896E6-A61E-6D7A-E82F-4DCC16D2EBE6}"/>
              </a:ext>
            </a:extLst>
          </p:cNvPr>
          <p:cNvSpPr>
            <a:spLocks noChangeArrowheads="1"/>
          </p:cNvSpPr>
          <p:nvPr/>
        </p:nvSpPr>
        <p:spPr bwMode="auto">
          <a:xfrm>
            <a:off x="5434013" y="4027488"/>
            <a:ext cx="7699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endParaRPr lang="en-US" altLang="en-US" sz="1600">
              <a:solidFill>
                <a:srgbClr val="000000"/>
              </a:solidFill>
              <a:cs typeface="Arial" panose="020B0604020202020204" pitchFamily="34" charset="0"/>
            </a:endParaRPr>
          </a:p>
        </p:txBody>
      </p:sp>
      <p:sp>
        <p:nvSpPr>
          <p:cNvPr id="11272" name="Rectangle 8">
            <a:extLst>
              <a:ext uri="{FF2B5EF4-FFF2-40B4-BE49-F238E27FC236}">
                <a16:creationId xmlns:a16="http://schemas.microsoft.com/office/drawing/2014/main" id="{F8B40BAF-92ED-850E-9D9F-7E70DFAFA49D}"/>
              </a:ext>
            </a:extLst>
          </p:cNvPr>
          <p:cNvSpPr>
            <a:spLocks noChangeArrowheads="1"/>
          </p:cNvSpPr>
          <p:nvPr/>
        </p:nvSpPr>
        <p:spPr bwMode="auto">
          <a:xfrm>
            <a:off x="4645025" y="4027488"/>
            <a:ext cx="7889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73" name="Rectangle 9">
            <a:extLst>
              <a:ext uri="{FF2B5EF4-FFF2-40B4-BE49-F238E27FC236}">
                <a16:creationId xmlns:a16="http://schemas.microsoft.com/office/drawing/2014/main" id="{27D3F47E-43F5-8CED-E11F-2E6A0E0F6EEB}"/>
              </a:ext>
            </a:extLst>
          </p:cNvPr>
          <p:cNvSpPr>
            <a:spLocks noChangeArrowheads="1"/>
          </p:cNvSpPr>
          <p:nvPr/>
        </p:nvSpPr>
        <p:spPr bwMode="auto">
          <a:xfrm>
            <a:off x="3875088" y="4027488"/>
            <a:ext cx="7699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74" name="Rectangle 10">
            <a:extLst>
              <a:ext uri="{FF2B5EF4-FFF2-40B4-BE49-F238E27FC236}">
                <a16:creationId xmlns:a16="http://schemas.microsoft.com/office/drawing/2014/main" id="{7A37C93E-AF68-ED82-2752-F53F27C39A2A}"/>
              </a:ext>
            </a:extLst>
          </p:cNvPr>
          <p:cNvSpPr>
            <a:spLocks noChangeArrowheads="1"/>
          </p:cNvSpPr>
          <p:nvPr/>
        </p:nvSpPr>
        <p:spPr bwMode="auto">
          <a:xfrm>
            <a:off x="3144838" y="4027488"/>
            <a:ext cx="7302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75" name="Rectangle 11">
            <a:extLst>
              <a:ext uri="{FF2B5EF4-FFF2-40B4-BE49-F238E27FC236}">
                <a16:creationId xmlns:a16="http://schemas.microsoft.com/office/drawing/2014/main" id="{7B63DF1B-39D8-3C8F-A524-72FC62A2BD6B}"/>
              </a:ext>
            </a:extLst>
          </p:cNvPr>
          <p:cNvSpPr>
            <a:spLocks noChangeArrowheads="1"/>
          </p:cNvSpPr>
          <p:nvPr/>
        </p:nvSpPr>
        <p:spPr bwMode="auto">
          <a:xfrm>
            <a:off x="2470150" y="4027488"/>
            <a:ext cx="6746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76" name="Rectangle 12">
            <a:extLst>
              <a:ext uri="{FF2B5EF4-FFF2-40B4-BE49-F238E27FC236}">
                <a16:creationId xmlns:a16="http://schemas.microsoft.com/office/drawing/2014/main" id="{312A485D-33AC-1019-D43D-E335C81CEAEF}"/>
              </a:ext>
            </a:extLst>
          </p:cNvPr>
          <p:cNvSpPr>
            <a:spLocks noChangeArrowheads="1"/>
          </p:cNvSpPr>
          <p:nvPr/>
        </p:nvSpPr>
        <p:spPr bwMode="auto">
          <a:xfrm>
            <a:off x="379413" y="4027488"/>
            <a:ext cx="22479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b="1">
                <a:solidFill>
                  <a:srgbClr val="000000"/>
                </a:solidFill>
                <a:cs typeface="Arial" panose="020B0604020202020204" pitchFamily="34" charset="0"/>
              </a:rPr>
              <a:t>branch target (Label)</a:t>
            </a:r>
          </a:p>
        </p:txBody>
      </p:sp>
      <p:sp>
        <p:nvSpPr>
          <p:cNvPr id="11277" name="Rectangle 13">
            <a:extLst>
              <a:ext uri="{FF2B5EF4-FFF2-40B4-BE49-F238E27FC236}">
                <a16:creationId xmlns:a16="http://schemas.microsoft.com/office/drawing/2014/main" id="{9BE8791E-3D9A-522E-E957-23114935F45A}"/>
              </a:ext>
            </a:extLst>
          </p:cNvPr>
          <p:cNvSpPr>
            <a:spLocks noChangeArrowheads="1"/>
          </p:cNvSpPr>
          <p:nvPr/>
        </p:nvSpPr>
        <p:spPr bwMode="auto">
          <a:xfrm>
            <a:off x="4651375" y="4027488"/>
            <a:ext cx="773113"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IF</a:t>
            </a:r>
          </a:p>
        </p:txBody>
      </p:sp>
      <p:sp>
        <p:nvSpPr>
          <p:cNvPr id="11278" name="Rectangle 14">
            <a:extLst>
              <a:ext uri="{FF2B5EF4-FFF2-40B4-BE49-F238E27FC236}">
                <a16:creationId xmlns:a16="http://schemas.microsoft.com/office/drawing/2014/main" id="{49D9DC30-1B26-92C5-0DA2-4134AF5EC510}"/>
              </a:ext>
            </a:extLst>
          </p:cNvPr>
          <p:cNvSpPr>
            <a:spLocks noChangeArrowheads="1"/>
          </p:cNvSpPr>
          <p:nvPr/>
        </p:nvSpPr>
        <p:spPr bwMode="auto">
          <a:xfrm>
            <a:off x="6915150" y="3654425"/>
            <a:ext cx="78898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cs typeface="Arial" panose="020B0604020202020204" pitchFamily="34" charset="0"/>
              </a:rPr>
              <a:t>WB</a:t>
            </a:r>
          </a:p>
        </p:txBody>
      </p:sp>
      <p:sp>
        <p:nvSpPr>
          <p:cNvPr id="11279" name="Rectangle 15">
            <a:extLst>
              <a:ext uri="{FF2B5EF4-FFF2-40B4-BE49-F238E27FC236}">
                <a16:creationId xmlns:a16="http://schemas.microsoft.com/office/drawing/2014/main" id="{8D870404-365E-7C3B-E4FC-82215E39EF75}"/>
              </a:ext>
            </a:extLst>
          </p:cNvPr>
          <p:cNvSpPr>
            <a:spLocks noChangeArrowheads="1"/>
          </p:cNvSpPr>
          <p:nvPr/>
        </p:nvSpPr>
        <p:spPr bwMode="auto">
          <a:xfrm>
            <a:off x="6203950" y="3654425"/>
            <a:ext cx="7112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cs typeface="Arial" panose="020B0604020202020204" pitchFamily="34" charset="0"/>
              </a:rPr>
              <a:t>MEM</a:t>
            </a:r>
          </a:p>
        </p:txBody>
      </p:sp>
      <p:sp>
        <p:nvSpPr>
          <p:cNvPr id="11280" name="Rectangle 16">
            <a:extLst>
              <a:ext uri="{FF2B5EF4-FFF2-40B4-BE49-F238E27FC236}">
                <a16:creationId xmlns:a16="http://schemas.microsoft.com/office/drawing/2014/main" id="{A30772E2-060E-2F32-F1BD-177B9F6A06E1}"/>
              </a:ext>
            </a:extLst>
          </p:cNvPr>
          <p:cNvSpPr>
            <a:spLocks noChangeArrowheads="1"/>
          </p:cNvSpPr>
          <p:nvPr/>
        </p:nvSpPr>
        <p:spPr bwMode="auto">
          <a:xfrm>
            <a:off x="5434013" y="3654425"/>
            <a:ext cx="769937"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endParaRPr lang="en-US" altLang="en-US" sz="1600">
              <a:solidFill>
                <a:srgbClr val="000000"/>
              </a:solidFill>
              <a:cs typeface="Arial" panose="020B0604020202020204" pitchFamily="34" charset="0"/>
            </a:endParaRPr>
          </a:p>
        </p:txBody>
      </p:sp>
      <p:sp>
        <p:nvSpPr>
          <p:cNvPr id="11281" name="Rectangle 17">
            <a:extLst>
              <a:ext uri="{FF2B5EF4-FFF2-40B4-BE49-F238E27FC236}">
                <a16:creationId xmlns:a16="http://schemas.microsoft.com/office/drawing/2014/main" id="{03F61934-AD7C-D54B-6D62-806B980917E9}"/>
              </a:ext>
            </a:extLst>
          </p:cNvPr>
          <p:cNvSpPr>
            <a:spLocks noChangeArrowheads="1"/>
          </p:cNvSpPr>
          <p:nvPr/>
        </p:nvSpPr>
        <p:spPr bwMode="auto">
          <a:xfrm>
            <a:off x="4645025" y="3654425"/>
            <a:ext cx="78898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endParaRPr lang="en-US" altLang="en-US" sz="1600">
              <a:solidFill>
                <a:srgbClr val="000000"/>
              </a:solidFill>
              <a:cs typeface="Arial" panose="020B0604020202020204" pitchFamily="34" charset="0"/>
            </a:endParaRPr>
          </a:p>
        </p:txBody>
      </p:sp>
      <p:sp>
        <p:nvSpPr>
          <p:cNvPr id="11282" name="Rectangle 18">
            <a:extLst>
              <a:ext uri="{FF2B5EF4-FFF2-40B4-BE49-F238E27FC236}">
                <a16:creationId xmlns:a16="http://schemas.microsoft.com/office/drawing/2014/main" id="{6D349D80-BEB9-FEE9-A276-EC8056E712B3}"/>
              </a:ext>
            </a:extLst>
          </p:cNvPr>
          <p:cNvSpPr>
            <a:spLocks noChangeArrowheads="1"/>
          </p:cNvSpPr>
          <p:nvPr/>
        </p:nvSpPr>
        <p:spPr bwMode="auto">
          <a:xfrm>
            <a:off x="3875088" y="3654425"/>
            <a:ext cx="769937"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83" name="Rectangle 19">
            <a:extLst>
              <a:ext uri="{FF2B5EF4-FFF2-40B4-BE49-F238E27FC236}">
                <a16:creationId xmlns:a16="http://schemas.microsoft.com/office/drawing/2014/main" id="{F37D3772-4BED-CF2C-12ED-10620640AD1A}"/>
              </a:ext>
            </a:extLst>
          </p:cNvPr>
          <p:cNvSpPr>
            <a:spLocks noChangeArrowheads="1"/>
          </p:cNvSpPr>
          <p:nvPr/>
        </p:nvSpPr>
        <p:spPr bwMode="auto">
          <a:xfrm>
            <a:off x="3144838" y="3654425"/>
            <a:ext cx="73025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84" name="Rectangle 20">
            <a:extLst>
              <a:ext uri="{FF2B5EF4-FFF2-40B4-BE49-F238E27FC236}">
                <a16:creationId xmlns:a16="http://schemas.microsoft.com/office/drawing/2014/main" id="{DCCD671C-3AAC-1683-64A9-9253E724DE46}"/>
              </a:ext>
            </a:extLst>
          </p:cNvPr>
          <p:cNvSpPr>
            <a:spLocks noChangeArrowheads="1"/>
          </p:cNvSpPr>
          <p:nvPr/>
        </p:nvSpPr>
        <p:spPr bwMode="auto">
          <a:xfrm>
            <a:off x="2470150" y="3654425"/>
            <a:ext cx="67468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85" name="Rectangle 21">
            <a:extLst>
              <a:ext uri="{FF2B5EF4-FFF2-40B4-BE49-F238E27FC236}">
                <a16:creationId xmlns:a16="http://schemas.microsoft.com/office/drawing/2014/main" id="{C545AC0D-2C8D-7576-BFCD-F10E58A3D5E6}"/>
              </a:ext>
            </a:extLst>
          </p:cNvPr>
          <p:cNvSpPr>
            <a:spLocks noChangeArrowheads="1"/>
          </p:cNvSpPr>
          <p:nvPr/>
        </p:nvSpPr>
        <p:spPr bwMode="auto">
          <a:xfrm>
            <a:off x="392113" y="3654425"/>
            <a:ext cx="2078037"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branch + 2 (PC+8)</a:t>
            </a:r>
          </a:p>
        </p:txBody>
      </p:sp>
      <p:sp>
        <p:nvSpPr>
          <p:cNvPr id="11286" name="Rectangle 22">
            <a:extLst>
              <a:ext uri="{FF2B5EF4-FFF2-40B4-BE49-F238E27FC236}">
                <a16:creationId xmlns:a16="http://schemas.microsoft.com/office/drawing/2014/main" id="{848B7E31-CD4B-52D7-820B-149158CB70E7}"/>
              </a:ext>
            </a:extLst>
          </p:cNvPr>
          <p:cNvSpPr>
            <a:spLocks noChangeArrowheads="1"/>
          </p:cNvSpPr>
          <p:nvPr/>
        </p:nvSpPr>
        <p:spPr bwMode="auto">
          <a:xfrm>
            <a:off x="7704138" y="3281363"/>
            <a:ext cx="773112"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87" name="Rectangle 23">
            <a:extLst>
              <a:ext uri="{FF2B5EF4-FFF2-40B4-BE49-F238E27FC236}">
                <a16:creationId xmlns:a16="http://schemas.microsoft.com/office/drawing/2014/main" id="{31298241-6A30-382D-4486-FFAE5B3FF189}"/>
              </a:ext>
            </a:extLst>
          </p:cNvPr>
          <p:cNvSpPr>
            <a:spLocks noChangeArrowheads="1"/>
          </p:cNvSpPr>
          <p:nvPr/>
        </p:nvSpPr>
        <p:spPr bwMode="auto">
          <a:xfrm>
            <a:off x="6915150" y="3281363"/>
            <a:ext cx="788988"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endParaRPr lang="en-US" altLang="en-US" sz="1600">
              <a:solidFill>
                <a:srgbClr val="000000"/>
              </a:solidFill>
              <a:cs typeface="Arial" panose="020B0604020202020204" pitchFamily="34" charset="0"/>
            </a:endParaRPr>
          </a:p>
        </p:txBody>
      </p:sp>
      <p:sp>
        <p:nvSpPr>
          <p:cNvPr id="11288" name="Rectangle 24">
            <a:extLst>
              <a:ext uri="{FF2B5EF4-FFF2-40B4-BE49-F238E27FC236}">
                <a16:creationId xmlns:a16="http://schemas.microsoft.com/office/drawing/2014/main" id="{6ADFE7A4-6867-3F8D-61C3-DD732F3482BB}"/>
              </a:ext>
            </a:extLst>
          </p:cNvPr>
          <p:cNvSpPr>
            <a:spLocks noChangeArrowheads="1"/>
          </p:cNvSpPr>
          <p:nvPr/>
        </p:nvSpPr>
        <p:spPr bwMode="auto">
          <a:xfrm>
            <a:off x="6203950" y="3281363"/>
            <a:ext cx="711200"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cs typeface="Arial" panose="020B0604020202020204" pitchFamily="34" charset="0"/>
              </a:rPr>
              <a:t>WB</a:t>
            </a:r>
          </a:p>
        </p:txBody>
      </p:sp>
      <p:sp>
        <p:nvSpPr>
          <p:cNvPr id="11289" name="Rectangle 25">
            <a:extLst>
              <a:ext uri="{FF2B5EF4-FFF2-40B4-BE49-F238E27FC236}">
                <a16:creationId xmlns:a16="http://schemas.microsoft.com/office/drawing/2014/main" id="{158673DE-D332-142E-49B1-E7E95CEC3E25}"/>
              </a:ext>
            </a:extLst>
          </p:cNvPr>
          <p:cNvSpPr>
            <a:spLocks noChangeArrowheads="1"/>
          </p:cNvSpPr>
          <p:nvPr/>
        </p:nvSpPr>
        <p:spPr bwMode="auto">
          <a:xfrm>
            <a:off x="5434013" y="3281363"/>
            <a:ext cx="76993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cs typeface="Arial" panose="020B0604020202020204" pitchFamily="34" charset="0"/>
              </a:rPr>
              <a:t>MEM</a:t>
            </a:r>
          </a:p>
        </p:txBody>
      </p:sp>
      <p:sp>
        <p:nvSpPr>
          <p:cNvPr id="11290" name="Rectangle 26">
            <a:extLst>
              <a:ext uri="{FF2B5EF4-FFF2-40B4-BE49-F238E27FC236}">
                <a16:creationId xmlns:a16="http://schemas.microsoft.com/office/drawing/2014/main" id="{0AFBBB7F-A46A-99A2-63D3-757E7CB1BA89}"/>
              </a:ext>
            </a:extLst>
          </p:cNvPr>
          <p:cNvSpPr>
            <a:spLocks noChangeArrowheads="1"/>
          </p:cNvSpPr>
          <p:nvPr/>
        </p:nvSpPr>
        <p:spPr bwMode="auto">
          <a:xfrm>
            <a:off x="4645025" y="3281363"/>
            <a:ext cx="788988"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cs typeface="Arial" panose="020B0604020202020204" pitchFamily="34" charset="0"/>
              </a:rPr>
              <a:t>EX</a:t>
            </a:r>
          </a:p>
        </p:txBody>
      </p:sp>
      <p:sp>
        <p:nvSpPr>
          <p:cNvPr id="11291" name="Rectangle 27">
            <a:extLst>
              <a:ext uri="{FF2B5EF4-FFF2-40B4-BE49-F238E27FC236}">
                <a16:creationId xmlns:a16="http://schemas.microsoft.com/office/drawing/2014/main" id="{1246D945-0B82-56CD-C13D-FE4D1A814EFC}"/>
              </a:ext>
            </a:extLst>
          </p:cNvPr>
          <p:cNvSpPr>
            <a:spLocks noChangeArrowheads="1"/>
          </p:cNvSpPr>
          <p:nvPr/>
        </p:nvSpPr>
        <p:spPr bwMode="auto">
          <a:xfrm>
            <a:off x="3875088" y="3281363"/>
            <a:ext cx="76993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cs typeface="Arial" panose="020B0604020202020204" pitchFamily="34" charset="0"/>
              </a:rPr>
              <a:t>ID</a:t>
            </a:r>
          </a:p>
        </p:txBody>
      </p:sp>
      <p:sp>
        <p:nvSpPr>
          <p:cNvPr id="11292" name="Rectangle 28">
            <a:extLst>
              <a:ext uri="{FF2B5EF4-FFF2-40B4-BE49-F238E27FC236}">
                <a16:creationId xmlns:a16="http://schemas.microsoft.com/office/drawing/2014/main" id="{2E9C97DE-1E4B-5EC4-C447-9C46D52E1BBE}"/>
              </a:ext>
            </a:extLst>
          </p:cNvPr>
          <p:cNvSpPr>
            <a:spLocks noChangeArrowheads="1"/>
          </p:cNvSpPr>
          <p:nvPr/>
        </p:nvSpPr>
        <p:spPr bwMode="auto">
          <a:xfrm>
            <a:off x="3144838" y="3281363"/>
            <a:ext cx="730250"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IF</a:t>
            </a:r>
          </a:p>
        </p:txBody>
      </p:sp>
      <p:sp>
        <p:nvSpPr>
          <p:cNvPr id="11293" name="Rectangle 29">
            <a:extLst>
              <a:ext uri="{FF2B5EF4-FFF2-40B4-BE49-F238E27FC236}">
                <a16:creationId xmlns:a16="http://schemas.microsoft.com/office/drawing/2014/main" id="{FF8E26F8-A809-25B8-B5C8-BEC37E345730}"/>
              </a:ext>
            </a:extLst>
          </p:cNvPr>
          <p:cNvSpPr>
            <a:spLocks noChangeArrowheads="1"/>
          </p:cNvSpPr>
          <p:nvPr/>
        </p:nvSpPr>
        <p:spPr bwMode="auto">
          <a:xfrm>
            <a:off x="2470150" y="3281363"/>
            <a:ext cx="674688"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94" name="Rectangle 30">
            <a:extLst>
              <a:ext uri="{FF2B5EF4-FFF2-40B4-BE49-F238E27FC236}">
                <a16:creationId xmlns:a16="http://schemas.microsoft.com/office/drawing/2014/main" id="{DDFB8065-E4F3-73FB-6867-1C9607D6F0C3}"/>
              </a:ext>
            </a:extLst>
          </p:cNvPr>
          <p:cNvSpPr>
            <a:spLocks noChangeArrowheads="1"/>
          </p:cNvSpPr>
          <p:nvPr/>
        </p:nvSpPr>
        <p:spPr bwMode="auto">
          <a:xfrm>
            <a:off x="392113" y="3281363"/>
            <a:ext cx="207803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branch +1  (PC+4)</a:t>
            </a:r>
          </a:p>
        </p:txBody>
      </p:sp>
      <p:sp>
        <p:nvSpPr>
          <p:cNvPr id="11295" name="Rectangle 31">
            <a:extLst>
              <a:ext uri="{FF2B5EF4-FFF2-40B4-BE49-F238E27FC236}">
                <a16:creationId xmlns:a16="http://schemas.microsoft.com/office/drawing/2014/main" id="{9D1F566B-FF03-13E0-3846-6FCAAE4B0E1F}"/>
              </a:ext>
            </a:extLst>
          </p:cNvPr>
          <p:cNvSpPr>
            <a:spLocks noChangeArrowheads="1"/>
          </p:cNvSpPr>
          <p:nvPr/>
        </p:nvSpPr>
        <p:spPr bwMode="auto">
          <a:xfrm>
            <a:off x="7704138" y="2908300"/>
            <a:ext cx="773112"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96" name="Rectangle 32">
            <a:extLst>
              <a:ext uri="{FF2B5EF4-FFF2-40B4-BE49-F238E27FC236}">
                <a16:creationId xmlns:a16="http://schemas.microsoft.com/office/drawing/2014/main" id="{959EC8BD-B29D-84C0-5AC6-3063F2EAEA7B}"/>
              </a:ext>
            </a:extLst>
          </p:cNvPr>
          <p:cNvSpPr>
            <a:spLocks noChangeArrowheads="1"/>
          </p:cNvSpPr>
          <p:nvPr/>
        </p:nvSpPr>
        <p:spPr bwMode="auto">
          <a:xfrm>
            <a:off x="6915150" y="2908300"/>
            <a:ext cx="78898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97" name="Rectangle 33">
            <a:extLst>
              <a:ext uri="{FF2B5EF4-FFF2-40B4-BE49-F238E27FC236}">
                <a16:creationId xmlns:a16="http://schemas.microsoft.com/office/drawing/2014/main" id="{4D1CA83F-07A5-3477-937E-2108990CCD5D}"/>
              </a:ext>
            </a:extLst>
          </p:cNvPr>
          <p:cNvSpPr>
            <a:spLocks noChangeArrowheads="1"/>
          </p:cNvSpPr>
          <p:nvPr/>
        </p:nvSpPr>
        <p:spPr bwMode="auto">
          <a:xfrm>
            <a:off x="6203950" y="2908300"/>
            <a:ext cx="7112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298" name="Rectangle 34">
            <a:extLst>
              <a:ext uri="{FF2B5EF4-FFF2-40B4-BE49-F238E27FC236}">
                <a16:creationId xmlns:a16="http://schemas.microsoft.com/office/drawing/2014/main" id="{B59F17EA-4275-7521-55A3-E0F2A24010BC}"/>
              </a:ext>
            </a:extLst>
          </p:cNvPr>
          <p:cNvSpPr>
            <a:spLocks noChangeArrowheads="1"/>
          </p:cNvSpPr>
          <p:nvPr/>
        </p:nvSpPr>
        <p:spPr bwMode="auto">
          <a:xfrm>
            <a:off x="5434013" y="2908300"/>
            <a:ext cx="769937"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WB</a:t>
            </a:r>
          </a:p>
        </p:txBody>
      </p:sp>
      <p:sp>
        <p:nvSpPr>
          <p:cNvPr id="11299" name="Rectangle 35">
            <a:extLst>
              <a:ext uri="{FF2B5EF4-FFF2-40B4-BE49-F238E27FC236}">
                <a16:creationId xmlns:a16="http://schemas.microsoft.com/office/drawing/2014/main" id="{88FBE843-C290-8C56-84FE-F718C448F604}"/>
              </a:ext>
            </a:extLst>
          </p:cNvPr>
          <p:cNvSpPr>
            <a:spLocks noChangeArrowheads="1"/>
          </p:cNvSpPr>
          <p:nvPr/>
        </p:nvSpPr>
        <p:spPr bwMode="auto">
          <a:xfrm>
            <a:off x="4645025" y="2908300"/>
            <a:ext cx="78898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MEM</a:t>
            </a:r>
          </a:p>
        </p:txBody>
      </p:sp>
      <p:sp>
        <p:nvSpPr>
          <p:cNvPr id="11300" name="Rectangle 36">
            <a:extLst>
              <a:ext uri="{FF2B5EF4-FFF2-40B4-BE49-F238E27FC236}">
                <a16:creationId xmlns:a16="http://schemas.microsoft.com/office/drawing/2014/main" id="{E6796F3D-DE7E-8AB1-16D9-4820F0252F93}"/>
              </a:ext>
            </a:extLst>
          </p:cNvPr>
          <p:cNvSpPr>
            <a:spLocks noChangeArrowheads="1"/>
          </p:cNvSpPr>
          <p:nvPr/>
        </p:nvSpPr>
        <p:spPr bwMode="auto">
          <a:xfrm>
            <a:off x="3875088" y="2908300"/>
            <a:ext cx="769937"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EX</a:t>
            </a:r>
          </a:p>
        </p:txBody>
      </p:sp>
      <p:sp>
        <p:nvSpPr>
          <p:cNvPr id="11301" name="Rectangle 37">
            <a:extLst>
              <a:ext uri="{FF2B5EF4-FFF2-40B4-BE49-F238E27FC236}">
                <a16:creationId xmlns:a16="http://schemas.microsoft.com/office/drawing/2014/main" id="{97BEC471-F006-A031-60F0-78DF071058DD}"/>
              </a:ext>
            </a:extLst>
          </p:cNvPr>
          <p:cNvSpPr>
            <a:spLocks noChangeArrowheads="1"/>
          </p:cNvSpPr>
          <p:nvPr/>
        </p:nvSpPr>
        <p:spPr bwMode="auto">
          <a:xfrm>
            <a:off x="3144838" y="2908300"/>
            <a:ext cx="73025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ID</a:t>
            </a:r>
          </a:p>
        </p:txBody>
      </p:sp>
      <p:sp>
        <p:nvSpPr>
          <p:cNvPr id="11302" name="Rectangle 38">
            <a:extLst>
              <a:ext uri="{FF2B5EF4-FFF2-40B4-BE49-F238E27FC236}">
                <a16:creationId xmlns:a16="http://schemas.microsoft.com/office/drawing/2014/main" id="{AF7E7CE7-D221-484E-EE44-77D8D1B76BAA}"/>
              </a:ext>
            </a:extLst>
          </p:cNvPr>
          <p:cNvSpPr>
            <a:spLocks noChangeArrowheads="1"/>
          </p:cNvSpPr>
          <p:nvPr/>
        </p:nvSpPr>
        <p:spPr bwMode="auto">
          <a:xfrm>
            <a:off x="2470150" y="2908300"/>
            <a:ext cx="67468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IF</a:t>
            </a:r>
          </a:p>
        </p:txBody>
      </p:sp>
      <p:sp>
        <p:nvSpPr>
          <p:cNvPr id="11303" name="Rectangle 39">
            <a:extLst>
              <a:ext uri="{FF2B5EF4-FFF2-40B4-BE49-F238E27FC236}">
                <a16:creationId xmlns:a16="http://schemas.microsoft.com/office/drawing/2014/main" id="{1F3580B4-1671-8B6F-25CB-6C3FA4F59D0C}"/>
              </a:ext>
            </a:extLst>
          </p:cNvPr>
          <p:cNvSpPr>
            <a:spLocks noChangeArrowheads="1"/>
          </p:cNvSpPr>
          <p:nvPr/>
        </p:nvSpPr>
        <p:spPr bwMode="auto">
          <a:xfrm>
            <a:off x="392113" y="2908300"/>
            <a:ext cx="2078037"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b="1">
                <a:solidFill>
                  <a:srgbClr val="000000"/>
                </a:solidFill>
                <a:cs typeface="Arial" panose="020B0604020202020204" pitchFamily="34" charset="0"/>
              </a:rPr>
              <a:t>BEQZ  R1, Label</a:t>
            </a:r>
          </a:p>
        </p:txBody>
      </p:sp>
      <p:sp>
        <p:nvSpPr>
          <p:cNvPr id="11304" name="Rectangle 40">
            <a:extLst>
              <a:ext uri="{FF2B5EF4-FFF2-40B4-BE49-F238E27FC236}">
                <a16:creationId xmlns:a16="http://schemas.microsoft.com/office/drawing/2014/main" id="{A98D4A0F-8B33-83F0-CE6E-456715819F0B}"/>
              </a:ext>
            </a:extLst>
          </p:cNvPr>
          <p:cNvSpPr>
            <a:spLocks noChangeArrowheads="1"/>
          </p:cNvSpPr>
          <p:nvPr/>
        </p:nvSpPr>
        <p:spPr bwMode="auto">
          <a:xfrm>
            <a:off x="7704138" y="2535238"/>
            <a:ext cx="773112"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8</a:t>
            </a:r>
          </a:p>
        </p:txBody>
      </p:sp>
      <p:sp>
        <p:nvSpPr>
          <p:cNvPr id="11305" name="Rectangle 41">
            <a:extLst>
              <a:ext uri="{FF2B5EF4-FFF2-40B4-BE49-F238E27FC236}">
                <a16:creationId xmlns:a16="http://schemas.microsoft.com/office/drawing/2014/main" id="{44B9B196-B3B2-C97C-C8C3-90DED80CEF4B}"/>
              </a:ext>
            </a:extLst>
          </p:cNvPr>
          <p:cNvSpPr>
            <a:spLocks noChangeArrowheads="1"/>
          </p:cNvSpPr>
          <p:nvPr/>
        </p:nvSpPr>
        <p:spPr bwMode="auto">
          <a:xfrm>
            <a:off x="6915150" y="2535238"/>
            <a:ext cx="788988"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7</a:t>
            </a:r>
          </a:p>
        </p:txBody>
      </p:sp>
      <p:sp>
        <p:nvSpPr>
          <p:cNvPr id="11306" name="Rectangle 42">
            <a:extLst>
              <a:ext uri="{FF2B5EF4-FFF2-40B4-BE49-F238E27FC236}">
                <a16:creationId xmlns:a16="http://schemas.microsoft.com/office/drawing/2014/main" id="{1BB91EA4-8B76-9002-E07A-A31F9D2D86C5}"/>
              </a:ext>
            </a:extLst>
          </p:cNvPr>
          <p:cNvSpPr>
            <a:spLocks noChangeArrowheads="1"/>
          </p:cNvSpPr>
          <p:nvPr/>
        </p:nvSpPr>
        <p:spPr bwMode="auto">
          <a:xfrm>
            <a:off x="6203950" y="2535238"/>
            <a:ext cx="711200"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6</a:t>
            </a:r>
          </a:p>
        </p:txBody>
      </p:sp>
      <p:sp>
        <p:nvSpPr>
          <p:cNvPr id="11307" name="Rectangle 43">
            <a:extLst>
              <a:ext uri="{FF2B5EF4-FFF2-40B4-BE49-F238E27FC236}">
                <a16:creationId xmlns:a16="http://schemas.microsoft.com/office/drawing/2014/main" id="{28CC4E4A-581E-5245-DB8F-59C1A678E508}"/>
              </a:ext>
            </a:extLst>
          </p:cNvPr>
          <p:cNvSpPr>
            <a:spLocks noChangeArrowheads="1"/>
          </p:cNvSpPr>
          <p:nvPr/>
        </p:nvSpPr>
        <p:spPr bwMode="auto">
          <a:xfrm>
            <a:off x="5434013" y="2535238"/>
            <a:ext cx="76993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5</a:t>
            </a:r>
          </a:p>
        </p:txBody>
      </p:sp>
      <p:sp>
        <p:nvSpPr>
          <p:cNvPr id="11308" name="Rectangle 44">
            <a:extLst>
              <a:ext uri="{FF2B5EF4-FFF2-40B4-BE49-F238E27FC236}">
                <a16:creationId xmlns:a16="http://schemas.microsoft.com/office/drawing/2014/main" id="{38EEDF11-B9F1-A108-722B-8C320F00347F}"/>
              </a:ext>
            </a:extLst>
          </p:cNvPr>
          <p:cNvSpPr>
            <a:spLocks noChangeArrowheads="1"/>
          </p:cNvSpPr>
          <p:nvPr/>
        </p:nvSpPr>
        <p:spPr bwMode="auto">
          <a:xfrm>
            <a:off x="4645025" y="2535238"/>
            <a:ext cx="788988"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4</a:t>
            </a:r>
          </a:p>
        </p:txBody>
      </p:sp>
      <p:sp>
        <p:nvSpPr>
          <p:cNvPr id="11309" name="Rectangle 45">
            <a:extLst>
              <a:ext uri="{FF2B5EF4-FFF2-40B4-BE49-F238E27FC236}">
                <a16:creationId xmlns:a16="http://schemas.microsoft.com/office/drawing/2014/main" id="{99110749-7ED5-88E9-28AD-BEC0EDA4EDE3}"/>
              </a:ext>
            </a:extLst>
          </p:cNvPr>
          <p:cNvSpPr>
            <a:spLocks noChangeArrowheads="1"/>
          </p:cNvSpPr>
          <p:nvPr/>
        </p:nvSpPr>
        <p:spPr bwMode="auto">
          <a:xfrm>
            <a:off x="3875088" y="2535238"/>
            <a:ext cx="76993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3</a:t>
            </a:r>
          </a:p>
        </p:txBody>
      </p:sp>
      <p:sp>
        <p:nvSpPr>
          <p:cNvPr id="11310" name="Rectangle 46">
            <a:extLst>
              <a:ext uri="{FF2B5EF4-FFF2-40B4-BE49-F238E27FC236}">
                <a16:creationId xmlns:a16="http://schemas.microsoft.com/office/drawing/2014/main" id="{8C9DA575-7224-B202-6AA8-90D5A826F262}"/>
              </a:ext>
            </a:extLst>
          </p:cNvPr>
          <p:cNvSpPr>
            <a:spLocks noChangeArrowheads="1"/>
          </p:cNvSpPr>
          <p:nvPr/>
        </p:nvSpPr>
        <p:spPr bwMode="auto">
          <a:xfrm>
            <a:off x="3144838" y="2535238"/>
            <a:ext cx="730250"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2</a:t>
            </a:r>
          </a:p>
        </p:txBody>
      </p:sp>
      <p:sp>
        <p:nvSpPr>
          <p:cNvPr id="11311" name="Rectangle 47">
            <a:extLst>
              <a:ext uri="{FF2B5EF4-FFF2-40B4-BE49-F238E27FC236}">
                <a16:creationId xmlns:a16="http://schemas.microsoft.com/office/drawing/2014/main" id="{97D6E7B8-1DA2-9983-813A-58769871338E}"/>
              </a:ext>
            </a:extLst>
          </p:cNvPr>
          <p:cNvSpPr>
            <a:spLocks noChangeArrowheads="1"/>
          </p:cNvSpPr>
          <p:nvPr/>
        </p:nvSpPr>
        <p:spPr bwMode="auto">
          <a:xfrm>
            <a:off x="2470150" y="2535238"/>
            <a:ext cx="674688"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1</a:t>
            </a:r>
          </a:p>
        </p:txBody>
      </p:sp>
      <p:sp>
        <p:nvSpPr>
          <p:cNvPr id="11312" name="Rectangle 48">
            <a:extLst>
              <a:ext uri="{FF2B5EF4-FFF2-40B4-BE49-F238E27FC236}">
                <a16:creationId xmlns:a16="http://schemas.microsoft.com/office/drawing/2014/main" id="{0F449E13-D06C-42AF-7B97-FAC07254FDC6}"/>
              </a:ext>
            </a:extLst>
          </p:cNvPr>
          <p:cNvSpPr>
            <a:spLocks noChangeArrowheads="1"/>
          </p:cNvSpPr>
          <p:nvPr/>
        </p:nvSpPr>
        <p:spPr bwMode="auto">
          <a:xfrm>
            <a:off x="2470150" y="2162175"/>
            <a:ext cx="60071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Clock Cycle</a:t>
            </a:r>
          </a:p>
        </p:txBody>
      </p:sp>
      <p:sp>
        <p:nvSpPr>
          <p:cNvPr id="11313" name="Rectangle 49">
            <a:extLst>
              <a:ext uri="{FF2B5EF4-FFF2-40B4-BE49-F238E27FC236}">
                <a16:creationId xmlns:a16="http://schemas.microsoft.com/office/drawing/2014/main" id="{80D8B810-CABA-2762-EF47-9B98B6FAC460}"/>
              </a:ext>
            </a:extLst>
          </p:cNvPr>
          <p:cNvSpPr>
            <a:spLocks noChangeArrowheads="1"/>
          </p:cNvSpPr>
          <p:nvPr/>
        </p:nvSpPr>
        <p:spPr bwMode="auto">
          <a:xfrm>
            <a:off x="392113" y="2162175"/>
            <a:ext cx="207803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314" name="Line 50">
            <a:extLst>
              <a:ext uri="{FF2B5EF4-FFF2-40B4-BE49-F238E27FC236}">
                <a16:creationId xmlns:a16="http://schemas.microsoft.com/office/drawing/2014/main" id="{50DFDB63-8A42-59D7-9D11-2C3D4A359AEA}"/>
              </a:ext>
            </a:extLst>
          </p:cNvPr>
          <p:cNvSpPr>
            <a:spLocks noChangeShapeType="1"/>
          </p:cNvSpPr>
          <p:nvPr/>
        </p:nvSpPr>
        <p:spPr bwMode="auto">
          <a:xfrm>
            <a:off x="392113" y="2162175"/>
            <a:ext cx="8085137" cy="1588"/>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15" name="Line 51">
            <a:extLst>
              <a:ext uri="{FF2B5EF4-FFF2-40B4-BE49-F238E27FC236}">
                <a16:creationId xmlns:a16="http://schemas.microsoft.com/office/drawing/2014/main" id="{4E887FE9-804C-E2D2-9DFC-323FBD5E4263}"/>
              </a:ext>
            </a:extLst>
          </p:cNvPr>
          <p:cNvSpPr>
            <a:spLocks noChangeShapeType="1"/>
          </p:cNvSpPr>
          <p:nvPr/>
        </p:nvSpPr>
        <p:spPr bwMode="auto">
          <a:xfrm>
            <a:off x="392113" y="2908300"/>
            <a:ext cx="8085137" cy="158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16" name="Line 52">
            <a:extLst>
              <a:ext uri="{FF2B5EF4-FFF2-40B4-BE49-F238E27FC236}">
                <a16:creationId xmlns:a16="http://schemas.microsoft.com/office/drawing/2014/main" id="{7E3E1F32-CC6C-6470-8B31-A92080FDC1A3}"/>
              </a:ext>
            </a:extLst>
          </p:cNvPr>
          <p:cNvSpPr>
            <a:spLocks noChangeShapeType="1"/>
          </p:cNvSpPr>
          <p:nvPr/>
        </p:nvSpPr>
        <p:spPr bwMode="auto">
          <a:xfrm>
            <a:off x="392113" y="3281363"/>
            <a:ext cx="8085137" cy="1587"/>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17" name="Line 53">
            <a:extLst>
              <a:ext uri="{FF2B5EF4-FFF2-40B4-BE49-F238E27FC236}">
                <a16:creationId xmlns:a16="http://schemas.microsoft.com/office/drawing/2014/main" id="{AB582AD5-2BAF-AB48-F1E0-933C1C231D3B}"/>
              </a:ext>
            </a:extLst>
          </p:cNvPr>
          <p:cNvSpPr>
            <a:spLocks noChangeShapeType="1"/>
          </p:cNvSpPr>
          <p:nvPr/>
        </p:nvSpPr>
        <p:spPr bwMode="auto">
          <a:xfrm>
            <a:off x="392113" y="3654425"/>
            <a:ext cx="8085137" cy="158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18" name="Line 54">
            <a:extLst>
              <a:ext uri="{FF2B5EF4-FFF2-40B4-BE49-F238E27FC236}">
                <a16:creationId xmlns:a16="http://schemas.microsoft.com/office/drawing/2014/main" id="{A1C1D92D-C6D4-1542-D5BB-07E5EFCBD26F}"/>
              </a:ext>
            </a:extLst>
          </p:cNvPr>
          <p:cNvSpPr>
            <a:spLocks noChangeShapeType="1"/>
          </p:cNvSpPr>
          <p:nvPr/>
        </p:nvSpPr>
        <p:spPr bwMode="auto">
          <a:xfrm>
            <a:off x="392113" y="4027488"/>
            <a:ext cx="8085137" cy="1587"/>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19" name="Line 56">
            <a:extLst>
              <a:ext uri="{FF2B5EF4-FFF2-40B4-BE49-F238E27FC236}">
                <a16:creationId xmlns:a16="http://schemas.microsoft.com/office/drawing/2014/main" id="{39A8FBB4-4BBD-46BB-FE51-AD9510E26CBB}"/>
              </a:ext>
            </a:extLst>
          </p:cNvPr>
          <p:cNvSpPr>
            <a:spLocks noChangeShapeType="1"/>
          </p:cNvSpPr>
          <p:nvPr/>
        </p:nvSpPr>
        <p:spPr bwMode="auto">
          <a:xfrm>
            <a:off x="392113" y="2162175"/>
            <a:ext cx="6350" cy="3001963"/>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20" name="Line 57">
            <a:extLst>
              <a:ext uri="{FF2B5EF4-FFF2-40B4-BE49-F238E27FC236}">
                <a16:creationId xmlns:a16="http://schemas.microsoft.com/office/drawing/2014/main" id="{2A70F7A6-1FD9-E8BE-7617-2EA867A777A6}"/>
              </a:ext>
            </a:extLst>
          </p:cNvPr>
          <p:cNvSpPr>
            <a:spLocks noChangeShapeType="1"/>
          </p:cNvSpPr>
          <p:nvPr/>
        </p:nvSpPr>
        <p:spPr bwMode="auto">
          <a:xfrm>
            <a:off x="2470150" y="2162175"/>
            <a:ext cx="3175" cy="2989263"/>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21" name="Line 58">
            <a:extLst>
              <a:ext uri="{FF2B5EF4-FFF2-40B4-BE49-F238E27FC236}">
                <a16:creationId xmlns:a16="http://schemas.microsoft.com/office/drawing/2014/main" id="{04382EC2-DA9D-8605-0830-7065B4480632}"/>
              </a:ext>
            </a:extLst>
          </p:cNvPr>
          <p:cNvSpPr>
            <a:spLocks noChangeShapeType="1"/>
          </p:cNvSpPr>
          <p:nvPr/>
        </p:nvSpPr>
        <p:spPr bwMode="auto">
          <a:xfrm flipH="1">
            <a:off x="8474075" y="2162175"/>
            <a:ext cx="3175" cy="3001963"/>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22" name="Line 59">
            <a:extLst>
              <a:ext uri="{FF2B5EF4-FFF2-40B4-BE49-F238E27FC236}">
                <a16:creationId xmlns:a16="http://schemas.microsoft.com/office/drawing/2014/main" id="{03A0F923-056F-E94E-4E7F-F4D73178A80C}"/>
              </a:ext>
            </a:extLst>
          </p:cNvPr>
          <p:cNvSpPr>
            <a:spLocks noChangeShapeType="1"/>
          </p:cNvSpPr>
          <p:nvPr/>
        </p:nvSpPr>
        <p:spPr bwMode="auto">
          <a:xfrm flipH="1">
            <a:off x="3141663" y="2535238"/>
            <a:ext cx="3175" cy="2641600"/>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23" name="Line 60">
            <a:extLst>
              <a:ext uri="{FF2B5EF4-FFF2-40B4-BE49-F238E27FC236}">
                <a16:creationId xmlns:a16="http://schemas.microsoft.com/office/drawing/2014/main" id="{90BDAE66-6BEA-51D0-7931-69545A21D870}"/>
              </a:ext>
            </a:extLst>
          </p:cNvPr>
          <p:cNvSpPr>
            <a:spLocks noChangeShapeType="1"/>
          </p:cNvSpPr>
          <p:nvPr/>
        </p:nvSpPr>
        <p:spPr bwMode="auto">
          <a:xfrm flipH="1">
            <a:off x="3863975" y="2535238"/>
            <a:ext cx="11113" cy="2628900"/>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24" name="Line 61">
            <a:extLst>
              <a:ext uri="{FF2B5EF4-FFF2-40B4-BE49-F238E27FC236}">
                <a16:creationId xmlns:a16="http://schemas.microsoft.com/office/drawing/2014/main" id="{6CDA71F9-D3B3-D74E-A813-5122CCA5711D}"/>
              </a:ext>
            </a:extLst>
          </p:cNvPr>
          <p:cNvSpPr>
            <a:spLocks noChangeShapeType="1"/>
          </p:cNvSpPr>
          <p:nvPr/>
        </p:nvSpPr>
        <p:spPr bwMode="auto">
          <a:xfrm>
            <a:off x="4645025" y="2535238"/>
            <a:ext cx="4763" cy="2616200"/>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25" name="Line 62">
            <a:extLst>
              <a:ext uri="{FF2B5EF4-FFF2-40B4-BE49-F238E27FC236}">
                <a16:creationId xmlns:a16="http://schemas.microsoft.com/office/drawing/2014/main" id="{E162BBE2-9E50-DB4F-E4D6-CB1F0D6EDFBC}"/>
              </a:ext>
            </a:extLst>
          </p:cNvPr>
          <p:cNvSpPr>
            <a:spLocks noChangeShapeType="1"/>
          </p:cNvSpPr>
          <p:nvPr/>
        </p:nvSpPr>
        <p:spPr bwMode="auto">
          <a:xfrm>
            <a:off x="5434013" y="2535238"/>
            <a:ext cx="1587" cy="2628900"/>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26" name="Line 63">
            <a:extLst>
              <a:ext uri="{FF2B5EF4-FFF2-40B4-BE49-F238E27FC236}">
                <a16:creationId xmlns:a16="http://schemas.microsoft.com/office/drawing/2014/main" id="{24E0E2AC-3FF7-5467-FA98-71FD5391702C}"/>
              </a:ext>
            </a:extLst>
          </p:cNvPr>
          <p:cNvSpPr>
            <a:spLocks noChangeShapeType="1"/>
          </p:cNvSpPr>
          <p:nvPr/>
        </p:nvSpPr>
        <p:spPr bwMode="auto">
          <a:xfrm flipH="1">
            <a:off x="6194425" y="2535238"/>
            <a:ext cx="9525" cy="2628900"/>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27" name="Line 64">
            <a:extLst>
              <a:ext uri="{FF2B5EF4-FFF2-40B4-BE49-F238E27FC236}">
                <a16:creationId xmlns:a16="http://schemas.microsoft.com/office/drawing/2014/main" id="{CDE8ED19-6CC0-6B25-B525-A40413EFB42B}"/>
              </a:ext>
            </a:extLst>
          </p:cNvPr>
          <p:cNvSpPr>
            <a:spLocks noChangeShapeType="1"/>
          </p:cNvSpPr>
          <p:nvPr/>
        </p:nvSpPr>
        <p:spPr bwMode="auto">
          <a:xfrm>
            <a:off x="6915150" y="2535238"/>
            <a:ext cx="1588" cy="2628900"/>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28" name="Line 65">
            <a:extLst>
              <a:ext uri="{FF2B5EF4-FFF2-40B4-BE49-F238E27FC236}">
                <a16:creationId xmlns:a16="http://schemas.microsoft.com/office/drawing/2014/main" id="{AFEA26A3-36AC-C77A-4B13-DC47D9A61426}"/>
              </a:ext>
            </a:extLst>
          </p:cNvPr>
          <p:cNvSpPr>
            <a:spLocks noChangeShapeType="1"/>
          </p:cNvSpPr>
          <p:nvPr/>
        </p:nvSpPr>
        <p:spPr bwMode="auto">
          <a:xfrm flipH="1">
            <a:off x="7700963" y="2535238"/>
            <a:ext cx="3175" cy="2641600"/>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29" name="Line 66">
            <a:extLst>
              <a:ext uri="{FF2B5EF4-FFF2-40B4-BE49-F238E27FC236}">
                <a16:creationId xmlns:a16="http://schemas.microsoft.com/office/drawing/2014/main" id="{E6B52247-4F80-D163-1DA0-4FC28033C381}"/>
              </a:ext>
            </a:extLst>
          </p:cNvPr>
          <p:cNvSpPr>
            <a:spLocks noChangeShapeType="1"/>
          </p:cNvSpPr>
          <p:nvPr/>
        </p:nvSpPr>
        <p:spPr bwMode="auto">
          <a:xfrm>
            <a:off x="2470150" y="2535238"/>
            <a:ext cx="6007100" cy="1587"/>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30" name="Slide Number Placeholder 71">
            <a:extLst>
              <a:ext uri="{FF2B5EF4-FFF2-40B4-BE49-F238E27FC236}">
                <a16:creationId xmlns:a16="http://schemas.microsoft.com/office/drawing/2014/main" id="{DA35C2D8-390B-B605-485F-5ACDA695026A}"/>
              </a:ext>
            </a:extLst>
          </p:cNvPr>
          <p:cNvSpPr>
            <a:spLocks noGrp="1"/>
          </p:cNvSpPr>
          <p:nvPr>
            <p:ph type="sldNum" sz="quarter" idx="12"/>
          </p:nvPr>
        </p:nvSpPr>
        <p:spPr>
          <a:xfrm>
            <a:off x="7240588" y="6516688"/>
            <a:ext cx="1903412" cy="3413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059D57C0-D0E5-E649-AA96-1480AD12D33B}" type="slidenum">
              <a:rPr lang="en-GB" altLang="en-US" sz="1400">
                <a:solidFill>
                  <a:srgbClr val="000000"/>
                </a:solidFill>
                <a:latin typeface="Arial  " charset="0"/>
              </a:rPr>
              <a:pPr/>
              <a:t>7</a:t>
            </a:fld>
            <a:r>
              <a:rPr lang="en-GB" altLang="en-US" sz="1400">
                <a:solidFill>
                  <a:srgbClr val="000000"/>
                </a:solidFill>
                <a:latin typeface="Arial  " charset="0"/>
              </a:rPr>
              <a:t> </a:t>
            </a:r>
          </a:p>
        </p:txBody>
      </p:sp>
      <p:sp>
        <p:nvSpPr>
          <p:cNvPr id="11331" name="Oval 72">
            <a:extLst>
              <a:ext uri="{FF2B5EF4-FFF2-40B4-BE49-F238E27FC236}">
                <a16:creationId xmlns:a16="http://schemas.microsoft.com/office/drawing/2014/main" id="{0B826811-F173-CE6B-2452-07501AF5CD3E}"/>
              </a:ext>
            </a:extLst>
          </p:cNvPr>
          <p:cNvSpPr>
            <a:spLocks noChangeArrowheads="1"/>
          </p:cNvSpPr>
          <p:nvPr/>
        </p:nvSpPr>
        <p:spPr bwMode="auto">
          <a:xfrm>
            <a:off x="4808538" y="3259138"/>
            <a:ext cx="431800" cy="401637"/>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332" name="Rectangle 23">
            <a:extLst>
              <a:ext uri="{FF2B5EF4-FFF2-40B4-BE49-F238E27FC236}">
                <a16:creationId xmlns:a16="http://schemas.microsoft.com/office/drawing/2014/main" id="{EA3378E6-37C0-7BC7-2B23-ADE8AA8EF1D0}"/>
              </a:ext>
            </a:extLst>
          </p:cNvPr>
          <p:cNvSpPr>
            <a:spLocks noChangeArrowheads="1"/>
          </p:cNvSpPr>
          <p:nvPr/>
        </p:nvSpPr>
        <p:spPr bwMode="auto">
          <a:xfrm>
            <a:off x="7672388" y="3290888"/>
            <a:ext cx="78898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endParaRPr lang="en-US" altLang="en-US" sz="1600">
              <a:solidFill>
                <a:srgbClr val="000000"/>
              </a:solidFill>
              <a:cs typeface="Arial" panose="020B0604020202020204" pitchFamily="34" charset="0"/>
            </a:endParaRPr>
          </a:p>
        </p:txBody>
      </p:sp>
      <p:sp>
        <p:nvSpPr>
          <p:cNvPr id="11333" name="Oval 72">
            <a:extLst>
              <a:ext uri="{FF2B5EF4-FFF2-40B4-BE49-F238E27FC236}">
                <a16:creationId xmlns:a16="http://schemas.microsoft.com/office/drawing/2014/main" id="{C30708BE-8F28-E75D-5F92-62984BA1BAB6}"/>
              </a:ext>
            </a:extLst>
          </p:cNvPr>
          <p:cNvSpPr>
            <a:spLocks noChangeArrowheads="1"/>
          </p:cNvSpPr>
          <p:nvPr/>
        </p:nvSpPr>
        <p:spPr bwMode="auto">
          <a:xfrm>
            <a:off x="4806950" y="3662363"/>
            <a:ext cx="431800" cy="3683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334" name="Rectangle 4">
            <a:extLst>
              <a:ext uri="{FF2B5EF4-FFF2-40B4-BE49-F238E27FC236}">
                <a16:creationId xmlns:a16="http://schemas.microsoft.com/office/drawing/2014/main" id="{27BD97CC-3D3F-B536-4672-238AAD3E4BEA}"/>
              </a:ext>
            </a:extLst>
          </p:cNvPr>
          <p:cNvSpPr>
            <a:spLocks noChangeArrowheads="1"/>
          </p:cNvSpPr>
          <p:nvPr/>
        </p:nvSpPr>
        <p:spPr bwMode="auto">
          <a:xfrm>
            <a:off x="7700963" y="4411663"/>
            <a:ext cx="7731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MEM</a:t>
            </a:r>
          </a:p>
        </p:txBody>
      </p:sp>
      <p:sp>
        <p:nvSpPr>
          <p:cNvPr id="11335" name="Rectangle 5">
            <a:extLst>
              <a:ext uri="{FF2B5EF4-FFF2-40B4-BE49-F238E27FC236}">
                <a16:creationId xmlns:a16="http://schemas.microsoft.com/office/drawing/2014/main" id="{6F613DA9-EA8B-0F9E-EF22-20B5AE9AFBBB}"/>
              </a:ext>
            </a:extLst>
          </p:cNvPr>
          <p:cNvSpPr>
            <a:spLocks noChangeArrowheads="1"/>
          </p:cNvSpPr>
          <p:nvPr/>
        </p:nvSpPr>
        <p:spPr bwMode="auto">
          <a:xfrm>
            <a:off x="6911975" y="4411663"/>
            <a:ext cx="7889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EX</a:t>
            </a:r>
          </a:p>
        </p:txBody>
      </p:sp>
      <p:sp>
        <p:nvSpPr>
          <p:cNvPr id="11336" name="Rectangle 6">
            <a:extLst>
              <a:ext uri="{FF2B5EF4-FFF2-40B4-BE49-F238E27FC236}">
                <a16:creationId xmlns:a16="http://schemas.microsoft.com/office/drawing/2014/main" id="{CE30770F-7998-9589-8188-739C8573B1C4}"/>
              </a:ext>
            </a:extLst>
          </p:cNvPr>
          <p:cNvSpPr>
            <a:spLocks noChangeArrowheads="1"/>
          </p:cNvSpPr>
          <p:nvPr/>
        </p:nvSpPr>
        <p:spPr bwMode="auto">
          <a:xfrm>
            <a:off x="6200775" y="4411663"/>
            <a:ext cx="711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ID</a:t>
            </a:r>
          </a:p>
        </p:txBody>
      </p:sp>
      <p:sp>
        <p:nvSpPr>
          <p:cNvPr id="11337" name="Rectangle 7">
            <a:extLst>
              <a:ext uri="{FF2B5EF4-FFF2-40B4-BE49-F238E27FC236}">
                <a16:creationId xmlns:a16="http://schemas.microsoft.com/office/drawing/2014/main" id="{DC25F658-07FE-A3E4-8757-170FF011A689}"/>
              </a:ext>
            </a:extLst>
          </p:cNvPr>
          <p:cNvSpPr>
            <a:spLocks noChangeArrowheads="1"/>
          </p:cNvSpPr>
          <p:nvPr/>
        </p:nvSpPr>
        <p:spPr bwMode="auto">
          <a:xfrm>
            <a:off x="5430838" y="4411663"/>
            <a:ext cx="7699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endParaRPr lang="en-US" altLang="en-US" sz="1600">
              <a:solidFill>
                <a:srgbClr val="000000"/>
              </a:solidFill>
              <a:cs typeface="Arial" panose="020B0604020202020204" pitchFamily="34" charset="0"/>
            </a:endParaRPr>
          </a:p>
        </p:txBody>
      </p:sp>
      <p:sp>
        <p:nvSpPr>
          <p:cNvPr id="11338" name="Rectangle 8">
            <a:extLst>
              <a:ext uri="{FF2B5EF4-FFF2-40B4-BE49-F238E27FC236}">
                <a16:creationId xmlns:a16="http://schemas.microsoft.com/office/drawing/2014/main" id="{B182A194-5D80-3025-F786-A5CCC12388C0}"/>
              </a:ext>
            </a:extLst>
          </p:cNvPr>
          <p:cNvSpPr>
            <a:spLocks noChangeArrowheads="1"/>
          </p:cNvSpPr>
          <p:nvPr/>
        </p:nvSpPr>
        <p:spPr bwMode="auto">
          <a:xfrm>
            <a:off x="4641850" y="4411663"/>
            <a:ext cx="7889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339" name="Rectangle 9">
            <a:extLst>
              <a:ext uri="{FF2B5EF4-FFF2-40B4-BE49-F238E27FC236}">
                <a16:creationId xmlns:a16="http://schemas.microsoft.com/office/drawing/2014/main" id="{19C71B7F-BCA1-B5B2-4744-D8EA1255B1FD}"/>
              </a:ext>
            </a:extLst>
          </p:cNvPr>
          <p:cNvSpPr>
            <a:spLocks noChangeArrowheads="1"/>
          </p:cNvSpPr>
          <p:nvPr/>
        </p:nvSpPr>
        <p:spPr bwMode="auto">
          <a:xfrm>
            <a:off x="3871913" y="4411663"/>
            <a:ext cx="7699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340" name="Rectangle 10">
            <a:extLst>
              <a:ext uri="{FF2B5EF4-FFF2-40B4-BE49-F238E27FC236}">
                <a16:creationId xmlns:a16="http://schemas.microsoft.com/office/drawing/2014/main" id="{837CAA9B-E820-3244-DC74-59F6231CC22D}"/>
              </a:ext>
            </a:extLst>
          </p:cNvPr>
          <p:cNvSpPr>
            <a:spLocks noChangeArrowheads="1"/>
          </p:cNvSpPr>
          <p:nvPr/>
        </p:nvSpPr>
        <p:spPr bwMode="auto">
          <a:xfrm>
            <a:off x="3141663" y="4411663"/>
            <a:ext cx="7302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341" name="Rectangle 11">
            <a:extLst>
              <a:ext uri="{FF2B5EF4-FFF2-40B4-BE49-F238E27FC236}">
                <a16:creationId xmlns:a16="http://schemas.microsoft.com/office/drawing/2014/main" id="{19D32503-475A-BBF5-3CFD-58EA0ADE0C4C}"/>
              </a:ext>
            </a:extLst>
          </p:cNvPr>
          <p:cNvSpPr>
            <a:spLocks noChangeArrowheads="1"/>
          </p:cNvSpPr>
          <p:nvPr/>
        </p:nvSpPr>
        <p:spPr bwMode="auto">
          <a:xfrm>
            <a:off x="2466975" y="4411663"/>
            <a:ext cx="6746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342" name="Rectangle 12">
            <a:extLst>
              <a:ext uri="{FF2B5EF4-FFF2-40B4-BE49-F238E27FC236}">
                <a16:creationId xmlns:a16="http://schemas.microsoft.com/office/drawing/2014/main" id="{A782671C-8049-16E3-8A9B-8F9E33BDEF87}"/>
              </a:ext>
            </a:extLst>
          </p:cNvPr>
          <p:cNvSpPr>
            <a:spLocks noChangeArrowheads="1"/>
          </p:cNvSpPr>
          <p:nvPr/>
        </p:nvSpPr>
        <p:spPr bwMode="auto">
          <a:xfrm>
            <a:off x="388938" y="4411663"/>
            <a:ext cx="20780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b="1">
                <a:solidFill>
                  <a:srgbClr val="000000"/>
                </a:solidFill>
                <a:cs typeface="Arial" panose="020B0604020202020204" pitchFamily="34" charset="0"/>
              </a:rPr>
              <a:t>branch target. + 1</a:t>
            </a:r>
          </a:p>
        </p:txBody>
      </p:sp>
      <p:sp>
        <p:nvSpPr>
          <p:cNvPr id="11343" name="Line 54">
            <a:extLst>
              <a:ext uri="{FF2B5EF4-FFF2-40B4-BE49-F238E27FC236}">
                <a16:creationId xmlns:a16="http://schemas.microsoft.com/office/drawing/2014/main" id="{47BC31DF-ED7A-3260-ECCC-9034013F6F45}"/>
              </a:ext>
            </a:extLst>
          </p:cNvPr>
          <p:cNvSpPr>
            <a:spLocks noChangeShapeType="1"/>
          </p:cNvSpPr>
          <p:nvPr/>
        </p:nvSpPr>
        <p:spPr bwMode="auto">
          <a:xfrm>
            <a:off x="388938" y="4411663"/>
            <a:ext cx="8085137" cy="1587"/>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44" name="Rectangle 4">
            <a:extLst>
              <a:ext uri="{FF2B5EF4-FFF2-40B4-BE49-F238E27FC236}">
                <a16:creationId xmlns:a16="http://schemas.microsoft.com/office/drawing/2014/main" id="{ECA20B19-D79F-C723-88A5-64FA0383B0C4}"/>
              </a:ext>
            </a:extLst>
          </p:cNvPr>
          <p:cNvSpPr>
            <a:spLocks noChangeArrowheads="1"/>
          </p:cNvSpPr>
          <p:nvPr/>
        </p:nvSpPr>
        <p:spPr bwMode="auto">
          <a:xfrm>
            <a:off x="7699375" y="4795838"/>
            <a:ext cx="7731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EX</a:t>
            </a:r>
          </a:p>
        </p:txBody>
      </p:sp>
      <p:sp>
        <p:nvSpPr>
          <p:cNvPr id="11345" name="Rectangle 5">
            <a:extLst>
              <a:ext uri="{FF2B5EF4-FFF2-40B4-BE49-F238E27FC236}">
                <a16:creationId xmlns:a16="http://schemas.microsoft.com/office/drawing/2014/main" id="{7F21FF80-3069-E6AC-2281-3AE73647A8C5}"/>
              </a:ext>
            </a:extLst>
          </p:cNvPr>
          <p:cNvSpPr>
            <a:spLocks noChangeArrowheads="1"/>
          </p:cNvSpPr>
          <p:nvPr/>
        </p:nvSpPr>
        <p:spPr bwMode="auto">
          <a:xfrm>
            <a:off x="6910388" y="4795838"/>
            <a:ext cx="7889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ID</a:t>
            </a:r>
          </a:p>
        </p:txBody>
      </p:sp>
      <p:sp>
        <p:nvSpPr>
          <p:cNvPr id="11346" name="Rectangle 6">
            <a:extLst>
              <a:ext uri="{FF2B5EF4-FFF2-40B4-BE49-F238E27FC236}">
                <a16:creationId xmlns:a16="http://schemas.microsoft.com/office/drawing/2014/main" id="{AE875934-557B-700C-5782-5500C06481B5}"/>
              </a:ext>
            </a:extLst>
          </p:cNvPr>
          <p:cNvSpPr>
            <a:spLocks noChangeArrowheads="1"/>
          </p:cNvSpPr>
          <p:nvPr/>
        </p:nvSpPr>
        <p:spPr bwMode="auto">
          <a:xfrm>
            <a:off x="5465763" y="4408488"/>
            <a:ext cx="711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IF</a:t>
            </a:r>
          </a:p>
        </p:txBody>
      </p:sp>
      <p:sp>
        <p:nvSpPr>
          <p:cNvPr id="11347" name="Rectangle 7">
            <a:extLst>
              <a:ext uri="{FF2B5EF4-FFF2-40B4-BE49-F238E27FC236}">
                <a16:creationId xmlns:a16="http://schemas.microsoft.com/office/drawing/2014/main" id="{54365456-D45F-3014-0A39-3DAF6700F62F}"/>
              </a:ext>
            </a:extLst>
          </p:cNvPr>
          <p:cNvSpPr>
            <a:spLocks noChangeArrowheads="1"/>
          </p:cNvSpPr>
          <p:nvPr/>
        </p:nvSpPr>
        <p:spPr bwMode="auto">
          <a:xfrm>
            <a:off x="5429250" y="4795838"/>
            <a:ext cx="7699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endParaRPr lang="en-US" altLang="en-US" sz="1600">
              <a:solidFill>
                <a:srgbClr val="000000"/>
              </a:solidFill>
              <a:cs typeface="Arial" panose="020B0604020202020204" pitchFamily="34" charset="0"/>
            </a:endParaRPr>
          </a:p>
        </p:txBody>
      </p:sp>
      <p:sp>
        <p:nvSpPr>
          <p:cNvPr id="11348" name="Rectangle 8">
            <a:extLst>
              <a:ext uri="{FF2B5EF4-FFF2-40B4-BE49-F238E27FC236}">
                <a16:creationId xmlns:a16="http://schemas.microsoft.com/office/drawing/2014/main" id="{1D4C7192-F505-FA17-FF53-E7616AF98687}"/>
              </a:ext>
            </a:extLst>
          </p:cNvPr>
          <p:cNvSpPr>
            <a:spLocks noChangeArrowheads="1"/>
          </p:cNvSpPr>
          <p:nvPr/>
        </p:nvSpPr>
        <p:spPr bwMode="auto">
          <a:xfrm>
            <a:off x="4640263" y="4795838"/>
            <a:ext cx="7889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349" name="Rectangle 9">
            <a:extLst>
              <a:ext uri="{FF2B5EF4-FFF2-40B4-BE49-F238E27FC236}">
                <a16:creationId xmlns:a16="http://schemas.microsoft.com/office/drawing/2014/main" id="{AB997ED2-4277-735E-308C-0D6C1405769E}"/>
              </a:ext>
            </a:extLst>
          </p:cNvPr>
          <p:cNvSpPr>
            <a:spLocks noChangeArrowheads="1"/>
          </p:cNvSpPr>
          <p:nvPr/>
        </p:nvSpPr>
        <p:spPr bwMode="auto">
          <a:xfrm>
            <a:off x="3870325" y="4795838"/>
            <a:ext cx="7699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350" name="Rectangle 10">
            <a:extLst>
              <a:ext uri="{FF2B5EF4-FFF2-40B4-BE49-F238E27FC236}">
                <a16:creationId xmlns:a16="http://schemas.microsoft.com/office/drawing/2014/main" id="{A713ABB6-A2BE-0050-F912-1896E17C3D94}"/>
              </a:ext>
            </a:extLst>
          </p:cNvPr>
          <p:cNvSpPr>
            <a:spLocks noChangeArrowheads="1"/>
          </p:cNvSpPr>
          <p:nvPr/>
        </p:nvSpPr>
        <p:spPr bwMode="auto">
          <a:xfrm>
            <a:off x="3140075" y="4795838"/>
            <a:ext cx="7302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351" name="Rectangle 11">
            <a:extLst>
              <a:ext uri="{FF2B5EF4-FFF2-40B4-BE49-F238E27FC236}">
                <a16:creationId xmlns:a16="http://schemas.microsoft.com/office/drawing/2014/main" id="{0B50EDF9-8A1D-7C16-8EFB-67475D09BD89}"/>
              </a:ext>
            </a:extLst>
          </p:cNvPr>
          <p:cNvSpPr>
            <a:spLocks noChangeArrowheads="1"/>
          </p:cNvSpPr>
          <p:nvPr/>
        </p:nvSpPr>
        <p:spPr bwMode="auto">
          <a:xfrm>
            <a:off x="2465388" y="4795838"/>
            <a:ext cx="6746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11352" name="Rectangle 12">
            <a:extLst>
              <a:ext uri="{FF2B5EF4-FFF2-40B4-BE49-F238E27FC236}">
                <a16:creationId xmlns:a16="http://schemas.microsoft.com/office/drawing/2014/main" id="{3289AEC5-6779-50B2-E7D3-12E5BAFD13D4}"/>
              </a:ext>
            </a:extLst>
          </p:cNvPr>
          <p:cNvSpPr>
            <a:spLocks noChangeArrowheads="1"/>
          </p:cNvSpPr>
          <p:nvPr/>
        </p:nvSpPr>
        <p:spPr bwMode="auto">
          <a:xfrm>
            <a:off x="387350" y="4795838"/>
            <a:ext cx="20780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b="1">
                <a:solidFill>
                  <a:srgbClr val="000000"/>
                </a:solidFill>
                <a:cs typeface="Arial" panose="020B0604020202020204" pitchFamily="34" charset="0"/>
              </a:rPr>
              <a:t>branch target. + 2</a:t>
            </a:r>
          </a:p>
        </p:txBody>
      </p:sp>
      <p:sp>
        <p:nvSpPr>
          <p:cNvPr id="11353" name="Line 55">
            <a:extLst>
              <a:ext uri="{FF2B5EF4-FFF2-40B4-BE49-F238E27FC236}">
                <a16:creationId xmlns:a16="http://schemas.microsoft.com/office/drawing/2014/main" id="{5C8CB0A8-B37C-6876-01AA-3820F9418DAF}"/>
              </a:ext>
            </a:extLst>
          </p:cNvPr>
          <p:cNvSpPr>
            <a:spLocks noChangeShapeType="1"/>
          </p:cNvSpPr>
          <p:nvPr/>
        </p:nvSpPr>
        <p:spPr bwMode="auto">
          <a:xfrm>
            <a:off x="387350" y="5176838"/>
            <a:ext cx="8085138" cy="1587"/>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54" name="Line 54">
            <a:extLst>
              <a:ext uri="{FF2B5EF4-FFF2-40B4-BE49-F238E27FC236}">
                <a16:creationId xmlns:a16="http://schemas.microsoft.com/office/drawing/2014/main" id="{8C6EF50E-85E2-D167-EB59-149161CC2F8B}"/>
              </a:ext>
            </a:extLst>
          </p:cNvPr>
          <p:cNvSpPr>
            <a:spLocks noChangeShapeType="1"/>
          </p:cNvSpPr>
          <p:nvPr/>
        </p:nvSpPr>
        <p:spPr bwMode="auto">
          <a:xfrm>
            <a:off x="387350" y="4808538"/>
            <a:ext cx="8085138" cy="1587"/>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355" name="Rectangle 16">
            <a:extLst>
              <a:ext uri="{FF2B5EF4-FFF2-40B4-BE49-F238E27FC236}">
                <a16:creationId xmlns:a16="http://schemas.microsoft.com/office/drawing/2014/main" id="{1C097D38-364F-54C8-30C6-558555FE3105}"/>
              </a:ext>
            </a:extLst>
          </p:cNvPr>
          <p:cNvSpPr>
            <a:spLocks noChangeArrowheads="1"/>
          </p:cNvSpPr>
          <p:nvPr/>
        </p:nvSpPr>
        <p:spPr bwMode="auto">
          <a:xfrm>
            <a:off x="3873500" y="3651250"/>
            <a:ext cx="76993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cs typeface="Arial" panose="020B0604020202020204" pitchFamily="34" charset="0"/>
              </a:rPr>
              <a:t>IF</a:t>
            </a:r>
          </a:p>
        </p:txBody>
      </p:sp>
      <p:sp>
        <p:nvSpPr>
          <p:cNvPr id="11356" name="Rectangle 16">
            <a:extLst>
              <a:ext uri="{FF2B5EF4-FFF2-40B4-BE49-F238E27FC236}">
                <a16:creationId xmlns:a16="http://schemas.microsoft.com/office/drawing/2014/main" id="{EB63114B-C8C6-285D-ABEB-85BA9CE0C6A6}"/>
              </a:ext>
            </a:extLst>
          </p:cNvPr>
          <p:cNvSpPr>
            <a:spLocks noChangeArrowheads="1"/>
          </p:cNvSpPr>
          <p:nvPr/>
        </p:nvSpPr>
        <p:spPr bwMode="auto">
          <a:xfrm>
            <a:off x="4646613" y="3651250"/>
            <a:ext cx="769937"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cs typeface="Arial" panose="020B0604020202020204" pitchFamily="34" charset="0"/>
              </a:rPr>
              <a:t>ID</a:t>
            </a:r>
          </a:p>
        </p:txBody>
      </p:sp>
      <p:sp>
        <p:nvSpPr>
          <p:cNvPr id="11357" name="Rectangle 26">
            <a:extLst>
              <a:ext uri="{FF2B5EF4-FFF2-40B4-BE49-F238E27FC236}">
                <a16:creationId xmlns:a16="http://schemas.microsoft.com/office/drawing/2014/main" id="{C79B38B4-EB7F-BB0A-7B7A-1F1C97C659FE}"/>
              </a:ext>
            </a:extLst>
          </p:cNvPr>
          <p:cNvSpPr>
            <a:spLocks noChangeArrowheads="1"/>
          </p:cNvSpPr>
          <p:nvPr/>
        </p:nvSpPr>
        <p:spPr bwMode="auto">
          <a:xfrm>
            <a:off x="5440363" y="3665538"/>
            <a:ext cx="78898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cs typeface="Arial" panose="020B0604020202020204" pitchFamily="34" charset="0"/>
              </a:rPr>
              <a:t>EX</a:t>
            </a:r>
          </a:p>
        </p:txBody>
      </p:sp>
      <p:sp>
        <p:nvSpPr>
          <p:cNvPr id="11358" name="Rectangle 6">
            <a:extLst>
              <a:ext uri="{FF2B5EF4-FFF2-40B4-BE49-F238E27FC236}">
                <a16:creationId xmlns:a16="http://schemas.microsoft.com/office/drawing/2014/main" id="{A0859AA2-3DEA-AD2E-C02F-D3024728846A}"/>
              </a:ext>
            </a:extLst>
          </p:cNvPr>
          <p:cNvSpPr>
            <a:spLocks noChangeArrowheads="1"/>
          </p:cNvSpPr>
          <p:nvPr/>
        </p:nvSpPr>
        <p:spPr bwMode="auto">
          <a:xfrm>
            <a:off x="6215063" y="4011613"/>
            <a:ext cx="711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EX</a:t>
            </a:r>
          </a:p>
        </p:txBody>
      </p:sp>
      <p:sp>
        <p:nvSpPr>
          <p:cNvPr id="11359" name="Rectangle 5">
            <a:extLst>
              <a:ext uri="{FF2B5EF4-FFF2-40B4-BE49-F238E27FC236}">
                <a16:creationId xmlns:a16="http://schemas.microsoft.com/office/drawing/2014/main" id="{985C68F5-8FC7-5B42-6850-0A171471743D}"/>
              </a:ext>
            </a:extLst>
          </p:cNvPr>
          <p:cNvSpPr>
            <a:spLocks noChangeArrowheads="1"/>
          </p:cNvSpPr>
          <p:nvPr/>
        </p:nvSpPr>
        <p:spPr bwMode="auto">
          <a:xfrm>
            <a:off x="6173788" y="4792663"/>
            <a:ext cx="7889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IF</a:t>
            </a:r>
          </a:p>
        </p:txBody>
      </p:sp>
      <p:sp>
        <p:nvSpPr>
          <p:cNvPr id="11360" name="Oval 72">
            <a:extLst>
              <a:ext uri="{FF2B5EF4-FFF2-40B4-BE49-F238E27FC236}">
                <a16:creationId xmlns:a16="http://schemas.microsoft.com/office/drawing/2014/main" id="{4F930FC7-7D51-90EE-834D-A85C1E66CCB7}"/>
              </a:ext>
            </a:extLst>
          </p:cNvPr>
          <p:cNvSpPr>
            <a:spLocks noChangeArrowheads="1"/>
          </p:cNvSpPr>
          <p:nvPr/>
        </p:nvSpPr>
        <p:spPr bwMode="auto">
          <a:xfrm>
            <a:off x="5524500" y="3271838"/>
            <a:ext cx="566738" cy="39687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361" name="Oval 72">
            <a:extLst>
              <a:ext uri="{FF2B5EF4-FFF2-40B4-BE49-F238E27FC236}">
                <a16:creationId xmlns:a16="http://schemas.microsoft.com/office/drawing/2014/main" id="{1932BC84-71CE-53F1-4F0C-B757B2DA6800}"/>
              </a:ext>
            </a:extLst>
          </p:cNvPr>
          <p:cNvSpPr>
            <a:spLocks noChangeArrowheads="1"/>
          </p:cNvSpPr>
          <p:nvPr/>
        </p:nvSpPr>
        <p:spPr bwMode="auto">
          <a:xfrm>
            <a:off x="5576888" y="3646488"/>
            <a:ext cx="488950" cy="40957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362" name="Oval 72">
            <a:extLst>
              <a:ext uri="{FF2B5EF4-FFF2-40B4-BE49-F238E27FC236}">
                <a16:creationId xmlns:a16="http://schemas.microsoft.com/office/drawing/2014/main" id="{48285286-3C1D-F80B-A658-0CD64F90089E}"/>
              </a:ext>
            </a:extLst>
          </p:cNvPr>
          <p:cNvSpPr>
            <a:spLocks noChangeArrowheads="1"/>
          </p:cNvSpPr>
          <p:nvPr/>
        </p:nvSpPr>
        <p:spPr bwMode="auto">
          <a:xfrm>
            <a:off x="6307138" y="3282950"/>
            <a:ext cx="506412" cy="3683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363" name="Oval 72">
            <a:extLst>
              <a:ext uri="{FF2B5EF4-FFF2-40B4-BE49-F238E27FC236}">
                <a16:creationId xmlns:a16="http://schemas.microsoft.com/office/drawing/2014/main" id="{E54BC6F4-4128-FF44-5B98-E6DA52F6282C}"/>
              </a:ext>
            </a:extLst>
          </p:cNvPr>
          <p:cNvSpPr>
            <a:spLocks noChangeArrowheads="1"/>
          </p:cNvSpPr>
          <p:nvPr/>
        </p:nvSpPr>
        <p:spPr bwMode="auto">
          <a:xfrm>
            <a:off x="6316663" y="3654425"/>
            <a:ext cx="496887" cy="3683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364" name="Oval 72">
            <a:extLst>
              <a:ext uri="{FF2B5EF4-FFF2-40B4-BE49-F238E27FC236}">
                <a16:creationId xmlns:a16="http://schemas.microsoft.com/office/drawing/2014/main" id="{FCF6FC56-87E5-86E7-F8A3-070D9F3B857D}"/>
              </a:ext>
            </a:extLst>
          </p:cNvPr>
          <p:cNvSpPr>
            <a:spLocks noChangeArrowheads="1"/>
          </p:cNvSpPr>
          <p:nvPr/>
        </p:nvSpPr>
        <p:spPr bwMode="auto">
          <a:xfrm>
            <a:off x="7045325" y="3652838"/>
            <a:ext cx="527050" cy="3683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365" name="TextBox 124">
            <a:extLst>
              <a:ext uri="{FF2B5EF4-FFF2-40B4-BE49-F238E27FC236}">
                <a16:creationId xmlns:a16="http://schemas.microsoft.com/office/drawing/2014/main" id="{549605C8-6ED2-CDAB-7F6B-6042B7627418}"/>
              </a:ext>
            </a:extLst>
          </p:cNvPr>
          <p:cNvSpPr txBox="1">
            <a:spLocks noChangeArrowheads="1"/>
          </p:cNvSpPr>
          <p:nvPr/>
        </p:nvSpPr>
        <p:spPr bwMode="auto">
          <a:xfrm>
            <a:off x="385763" y="5305425"/>
            <a:ext cx="8423275" cy="139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sz="2000" dirty="0">
                <a:solidFill>
                  <a:schemeClr val="tx1"/>
                </a:solidFill>
              </a:rPr>
              <a:t>Clock cycle 1: IF stage predicts “branch+1” is the next instruction to fetch.</a:t>
            </a:r>
          </a:p>
          <a:p>
            <a:endParaRPr lang="en-CA" altLang="en-US" sz="1100" dirty="0">
              <a:solidFill>
                <a:schemeClr val="tx1"/>
              </a:solidFill>
            </a:endParaRPr>
          </a:p>
          <a:p>
            <a:r>
              <a:rPr lang="en-CA" altLang="en-US" sz="2000" dirty="0">
                <a:solidFill>
                  <a:schemeClr val="tx1"/>
                </a:solidFill>
              </a:rPr>
              <a:t>Clock cycle 3: EX stage resolves branch, instructions in ID (“branch+1”) and IF (“branch+2”) turned into “no-ops”… they are “flushed”, correct next instruction (“branch target”) fetched on clock cycle 4.</a:t>
            </a:r>
          </a:p>
        </p:txBody>
      </p:sp>
      <p:sp>
        <p:nvSpPr>
          <p:cNvPr id="11366" name="TextBox 127">
            <a:extLst>
              <a:ext uri="{FF2B5EF4-FFF2-40B4-BE49-F238E27FC236}">
                <a16:creationId xmlns:a16="http://schemas.microsoft.com/office/drawing/2014/main" id="{654E4980-4204-7ABA-4BD2-429D0A35D2C2}"/>
              </a:ext>
            </a:extLst>
          </p:cNvPr>
          <p:cNvSpPr txBox="1">
            <a:spLocks noChangeArrowheads="1"/>
          </p:cNvSpPr>
          <p:nvPr/>
        </p:nvSpPr>
        <p:spPr bwMode="auto">
          <a:xfrm>
            <a:off x="398463" y="2305050"/>
            <a:ext cx="2068512"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a:solidFill>
                  <a:schemeClr val="tx1"/>
                </a:solidFill>
              </a:rPr>
              <a:t>Taken Branch</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a:extLst>
              <a:ext uri="{FF2B5EF4-FFF2-40B4-BE49-F238E27FC236}">
                <a16:creationId xmlns:a16="http://schemas.microsoft.com/office/drawing/2014/main" id="{D1448A05-DDA1-3384-F321-773A8E163B6E}"/>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sz="3600">
                <a:latin typeface="Arial  " charset="0"/>
                <a:cs typeface="Arial  " charset="0"/>
              </a:rPr>
              <a:t>Branch Prediction Impact </a:t>
            </a:r>
            <a:br>
              <a:rPr lang="en-GB" altLang="en-US" sz="3600">
                <a:latin typeface="Arial  " charset="0"/>
                <a:cs typeface="Arial  " charset="0"/>
              </a:rPr>
            </a:br>
            <a:r>
              <a:rPr lang="en-GB" altLang="en-US" sz="3600">
                <a:latin typeface="Arial  " charset="0"/>
                <a:cs typeface="Arial  " charset="0"/>
              </a:rPr>
              <a:t>(5-stage pipeline) – Resolved in EX</a:t>
            </a:r>
          </a:p>
        </p:txBody>
      </p:sp>
      <p:sp>
        <p:nvSpPr>
          <p:cNvPr id="12291" name="Rectangle 2">
            <a:extLst>
              <a:ext uri="{FF2B5EF4-FFF2-40B4-BE49-F238E27FC236}">
                <a16:creationId xmlns:a16="http://schemas.microsoft.com/office/drawing/2014/main" id="{A0E55F71-CD51-BABB-FB8C-991F3BB8FF7A}"/>
              </a:ext>
            </a:extLst>
          </p:cNvPr>
          <p:cNvSpPr>
            <a:spLocks noGrp="1" noChangeArrowheads="1"/>
          </p:cNvSpPr>
          <p:nvPr>
            <p:ph type="body" idx="1"/>
          </p:nvPr>
        </p:nvSpPr>
        <p:spPr>
          <a:xfrm>
            <a:off x="685800" y="4343400"/>
            <a:ext cx="7772400" cy="1752600"/>
          </a:xfrm>
        </p:spPr>
        <p:txBody>
          <a:bodyPr/>
          <a:lstStyle/>
          <a:p>
            <a:pPr eaLnBrk="1" hangingPunct="1">
              <a:lnSpc>
                <a:spcPct val="90000"/>
              </a:lnSpc>
              <a:spcBef>
                <a:spcPts val="600"/>
              </a:spcBef>
              <a:buClr>
                <a:srgbClr val="0000FF"/>
              </a:buClr>
              <a:buFont typeface="Comic Sans MS" panose="030F0902030302020204" pitchFamily="66" charset="0"/>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altLang="en-US" sz="2400">
              <a:solidFill>
                <a:srgbClr val="0000FF"/>
              </a:solidFill>
              <a:latin typeface="Arial  " charset="0"/>
              <a:cs typeface="Arial  " charset="0"/>
            </a:endParaRPr>
          </a:p>
          <a:p>
            <a:pPr lvl="1" eaLnBrk="1" hangingPunct="1">
              <a:lnSpc>
                <a:spcPct val="90000"/>
              </a:lnSpc>
              <a:spcBef>
                <a:spcPts val="500"/>
              </a:spcBef>
              <a:buFont typeface="Comic Sans MS" panose="030F0902030302020204" pitchFamily="66" charset="0"/>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altLang="en-US" sz="2000">
              <a:latin typeface="Arial  " charset="0"/>
              <a:cs typeface="Arial  " charset="0"/>
            </a:endParaRPr>
          </a:p>
          <a:p>
            <a:pPr eaLnBrk="1" hangingPunct="1">
              <a:lnSpc>
                <a:spcPct val="90000"/>
              </a:lnSpc>
              <a:spcBef>
                <a:spcPts val="600"/>
              </a:spcBef>
              <a:buFont typeface="Comic Sans MS" panose="030F0902030302020204" pitchFamily="66" charset="0"/>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altLang="en-US" sz="2400">
              <a:latin typeface="Arial  " charset="0"/>
              <a:cs typeface="Arial  " charset="0"/>
            </a:endParaRPr>
          </a:p>
          <a:p>
            <a:pPr eaLnBrk="1" hangingPunct="1">
              <a:lnSpc>
                <a:spcPct val="90000"/>
              </a:lnSpc>
              <a:spcBef>
                <a:spcPts val="600"/>
              </a:spcBef>
              <a:buFont typeface="Comic Sans MS" panose="030F0902030302020204" pitchFamily="66" charset="0"/>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altLang="en-US" sz="2400">
              <a:latin typeface="Arial  " charset="0"/>
              <a:cs typeface="Arial  " charset="0"/>
            </a:endParaRPr>
          </a:p>
        </p:txBody>
      </p:sp>
      <p:grpSp>
        <p:nvGrpSpPr>
          <p:cNvPr id="12292" name="Group 3">
            <a:extLst>
              <a:ext uri="{FF2B5EF4-FFF2-40B4-BE49-F238E27FC236}">
                <a16:creationId xmlns:a16="http://schemas.microsoft.com/office/drawing/2014/main" id="{3780CF59-81A0-69E8-D3C7-9D573DB9A1FE}"/>
              </a:ext>
            </a:extLst>
          </p:cNvPr>
          <p:cNvGrpSpPr>
            <a:grpSpLocks/>
          </p:cNvGrpSpPr>
          <p:nvPr/>
        </p:nvGrpSpPr>
        <p:grpSpPr bwMode="auto">
          <a:xfrm>
            <a:off x="455613" y="1346200"/>
            <a:ext cx="8085137" cy="2108200"/>
            <a:chOff x="287" y="848"/>
            <a:chExt cx="5093" cy="1328"/>
          </a:xfrm>
        </p:grpSpPr>
        <p:sp>
          <p:nvSpPr>
            <p:cNvPr id="12358" name="Rectangle 4">
              <a:extLst>
                <a:ext uri="{FF2B5EF4-FFF2-40B4-BE49-F238E27FC236}">
                  <a16:creationId xmlns:a16="http://schemas.microsoft.com/office/drawing/2014/main" id="{9CD3421A-5984-2383-22E0-F390FC02B0E9}"/>
                </a:ext>
              </a:extLst>
            </p:cNvPr>
            <p:cNvSpPr>
              <a:spLocks noChangeArrowheads="1"/>
            </p:cNvSpPr>
            <p:nvPr/>
          </p:nvSpPr>
          <p:spPr bwMode="auto">
            <a:xfrm>
              <a:off x="4893" y="1936"/>
              <a:ext cx="48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WB</a:t>
              </a:r>
            </a:p>
          </p:txBody>
        </p:sp>
        <p:sp>
          <p:nvSpPr>
            <p:cNvPr id="12359" name="Rectangle 5">
              <a:extLst>
                <a:ext uri="{FF2B5EF4-FFF2-40B4-BE49-F238E27FC236}">
                  <a16:creationId xmlns:a16="http://schemas.microsoft.com/office/drawing/2014/main" id="{B03265B8-4093-D27A-C787-7464D86FF92F}"/>
                </a:ext>
              </a:extLst>
            </p:cNvPr>
            <p:cNvSpPr>
              <a:spLocks noChangeArrowheads="1"/>
            </p:cNvSpPr>
            <p:nvPr/>
          </p:nvSpPr>
          <p:spPr bwMode="auto">
            <a:xfrm>
              <a:off x="4396" y="1936"/>
              <a:ext cx="49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MEM</a:t>
              </a:r>
            </a:p>
          </p:txBody>
        </p:sp>
        <p:sp>
          <p:nvSpPr>
            <p:cNvPr id="12360" name="Rectangle 6">
              <a:extLst>
                <a:ext uri="{FF2B5EF4-FFF2-40B4-BE49-F238E27FC236}">
                  <a16:creationId xmlns:a16="http://schemas.microsoft.com/office/drawing/2014/main" id="{910805B6-340B-C48E-33BF-3A607A6582E0}"/>
                </a:ext>
              </a:extLst>
            </p:cNvPr>
            <p:cNvSpPr>
              <a:spLocks noChangeArrowheads="1"/>
            </p:cNvSpPr>
            <p:nvPr/>
          </p:nvSpPr>
          <p:spPr bwMode="auto">
            <a:xfrm>
              <a:off x="3948" y="1936"/>
              <a:ext cx="44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EX</a:t>
              </a:r>
            </a:p>
          </p:txBody>
        </p:sp>
        <p:sp>
          <p:nvSpPr>
            <p:cNvPr id="12361" name="Rectangle 7">
              <a:extLst>
                <a:ext uri="{FF2B5EF4-FFF2-40B4-BE49-F238E27FC236}">
                  <a16:creationId xmlns:a16="http://schemas.microsoft.com/office/drawing/2014/main" id="{C65EE80C-43D8-38E1-1833-6E85EB299AC5}"/>
                </a:ext>
              </a:extLst>
            </p:cNvPr>
            <p:cNvSpPr>
              <a:spLocks noChangeArrowheads="1"/>
            </p:cNvSpPr>
            <p:nvPr/>
          </p:nvSpPr>
          <p:spPr bwMode="auto">
            <a:xfrm>
              <a:off x="3463" y="1936"/>
              <a:ext cx="48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ID</a:t>
              </a:r>
            </a:p>
          </p:txBody>
        </p:sp>
        <p:sp>
          <p:nvSpPr>
            <p:cNvPr id="12362" name="Rectangle 8">
              <a:extLst>
                <a:ext uri="{FF2B5EF4-FFF2-40B4-BE49-F238E27FC236}">
                  <a16:creationId xmlns:a16="http://schemas.microsoft.com/office/drawing/2014/main" id="{E76DC8D1-8C28-A04F-E23E-5B3A47957A7E}"/>
                </a:ext>
              </a:extLst>
            </p:cNvPr>
            <p:cNvSpPr>
              <a:spLocks noChangeArrowheads="1"/>
            </p:cNvSpPr>
            <p:nvPr/>
          </p:nvSpPr>
          <p:spPr bwMode="auto">
            <a:xfrm>
              <a:off x="2966" y="1936"/>
              <a:ext cx="49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IF</a:t>
              </a:r>
            </a:p>
          </p:txBody>
        </p:sp>
        <p:sp>
          <p:nvSpPr>
            <p:cNvPr id="12363" name="Rectangle 9">
              <a:extLst>
                <a:ext uri="{FF2B5EF4-FFF2-40B4-BE49-F238E27FC236}">
                  <a16:creationId xmlns:a16="http://schemas.microsoft.com/office/drawing/2014/main" id="{75B9A5CE-8CCA-CDC1-5EF7-1665AF209C75}"/>
                </a:ext>
              </a:extLst>
            </p:cNvPr>
            <p:cNvSpPr>
              <a:spLocks noChangeArrowheads="1"/>
            </p:cNvSpPr>
            <p:nvPr/>
          </p:nvSpPr>
          <p:spPr bwMode="auto">
            <a:xfrm>
              <a:off x="2481" y="1936"/>
              <a:ext cx="48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64" name="Rectangle 10">
              <a:extLst>
                <a:ext uri="{FF2B5EF4-FFF2-40B4-BE49-F238E27FC236}">
                  <a16:creationId xmlns:a16="http://schemas.microsoft.com/office/drawing/2014/main" id="{7BA1C9F7-B222-8461-0DC0-EAE5E7ECE9E8}"/>
                </a:ext>
              </a:extLst>
            </p:cNvPr>
            <p:cNvSpPr>
              <a:spLocks noChangeArrowheads="1"/>
            </p:cNvSpPr>
            <p:nvPr/>
          </p:nvSpPr>
          <p:spPr bwMode="auto">
            <a:xfrm>
              <a:off x="2021" y="1936"/>
              <a:ext cx="46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65" name="Rectangle 11">
              <a:extLst>
                <a:ext uri="{FF2B5EF4-FFF2-40B4-BE49-F238E27FC236}">
                  <a16:creationId xmlns:a16="http://schemas.microsoft.com/office/drawing/2014/main" id="{7016EDAB-2CEE-3780-8F68-3DF6E7EC935A}"/>
                </a:ext>
              </a:extLst>
            </p:cNvPr>
            <p:cNvSpPr>
              <a:spLocks noChangeArrowheads="1"/>
            </p:cNvSpPr>
            <p:nvPr/>
          </p:nvSpPr>
          <p:spPr bwMode="auto">
            <a:xfrm>
              <a:off x="1596" y="1936"/>
              <a:ext cx="42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66" name="Rectangle 12">
              <a:extLst>
                <a:ext uri="{FF2B5EF4-FFF2-40B4-BE49-F238E27FC236}">
                  <a16:creationId xmlns:a16="http://schemas.microsoft.com/office/drawing/2014/main" id="{6FF6B948-FFC9-30F8-0EAD-0A9E0A9674CD}"/>
                </a:ext>
              </a:extLst>
            </p:cNvPr>
            <p:cNvSpPr>
              <a:spLocks noChangeArrowheads="1"/>
            </p:cNvSpPr>
            <p:nvPr/>
          </p:nvSpPr>
          <p:spPr bwMode="auto">
            <a:xfrm>
              <a:off x="287" y="1936"/>
              <a:ext cx="130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branch target. + 2</a:t>
              </a:r>
            </a:p>
          </p:txBody>
        </p:sp>
        <p:sp>
          <p:nvSpPr>
            <p:cNvPr id="12367" name="Rectangle 13">
              <a:extLst>
                <a:ext uri="{FF2B5EF4-FFF2-40B4-BE49-F238E27FC236}">
                  <a16:creationId xmlns:a16="http://schemas.microsoft.com/office/drawing/2014/main" id="{00D4F497-B5D2-3B6B-509D-116B03A896BB}"/>
                </a:ext>
              </a:extLst>
            </p:cNvPr>
            <p:cNvSpPr>
              <a:spLocks noChangeArrowheads="1"/>
            </p:cNvSpPr>
            <p:nvPr/>
          </p:nvSpPr>
          <p:spPr bwMode="auto">
            <a:xfrm>
              <a:off x="4893" y="1715"/>
              <a:ext cx="48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68" name="Rectangle 14">
              <a:extLst>
                <a:ext uri="{FF2B5EF4-FFF2-40B4-BE49-F238E27FC236}">
                  <a16:creationId xmlns:a16="http://schemas.microsoft.com/office/drawing/2014/main" id="{FA21221B-F047-249C-B6BB-BBE452860C35}"/>
                </a:ext>
              </a:extLst>
            </p:cNvPr>
            <p:cNvSpPr>
              <a:spLocks noChangeArrowheads="1"/>
            </p:cNvSpPr>
            <p:nvPr/>
          </p:nvSpPr>
          <p:spPr bwMode="auto">
            <a:xfrm>
              <a:off x="4396" y="1715"/>
              <a:ext cx="49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WB</a:t>
              </a:r>
            </a:p>
          </p:txBody>
        </p:sp>
        <p:sp>
          <p:nvSpPr>
            <p:cNvPr id="12369" name="Rectangle 15">
              <a:extLst>
                <a:ext uri="{FF2B5EF4-FFF2-40B4-BE49-F238E27FC236}">
                  <a16:creationId xmlns:a16="http://schemas.microsoft.com/office/drawing/2014/main" id="{21BCFEF3-157B-298C-A0FD-2DC882DB4F34}"/>
                </a:ext>
              </a:extLst>
            </p:cNvPr>
            <p:cNvSpPr>
              <a:spLocks noChangeArrowheads="1"/>
            </p:cNvSpPr>
            <p:nvPr/>
          </p:nvSpPr>
          <p:spPr bwMode="auto">
            <a:xfrm>
              <a:off x="3948" y="1715"/>
              <a:ext cx="44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MEM</a:t>
              </a:r>
            </a:p>
          </p:txBody>
        </p:sp>
        <p:sp>
          <p:nvSpPr>
            <p:cNvPr id="12370" name="Rectangle 16">
              <a:extLst>
                <a:ext uri="{FF2B5EF4-FFF2-40B4-BE49-F238E27FC236}">
                  <a16:creationId xmlns:a16="http://schemas.microsoft.com/office/drawing/2014/main" id="{0D4D2A86-8F7D-076C-5BC4-6047A1B9598C}"/>
                </a:ext>
              </a:extLst>
            </p:cNvPr>
            <p:cNvSpPr>
              <a:spLocks noChangeArrowheads="1"/>
            </p:cNvSpPr>
            <p:nvPr/>
          </p:nvSpPr>
          <p:spPr bwMode="auto">
            <a:xfrm>
              <a:off x="3463" y="1715"/>
              <a:ext cx="48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EX</a:t>
              </a:r>
            </a:p>
          </p:txBody>
        </p:sp>
        <p:sp>
          <p:nvSpPr>
            <p:cNvPr id="12371" name="Rectangle 17">
              <a:extLst>
                <a:ext uri="{FF2B5EF4-FFF2-40B4-BE49-F238E27FC236}">
                  <a16:creationId xmlns:a16="http://schemas.microsoft.com/office/drawing/2014/main" id="{3527A4A9-D828-B5E0-2374-252064870A31}"/>
                </a:ext>
              </a:extLst>
            </p:cNvPr>
            <p:cNvSpPr>
              <a:spLocks noChangeArrowheads="1"/>
            </p:cNvSpPr>
            <p:nvPr/>
          </p:nvSpPr>
          <p:spPr bwMode="auto">
            <a:xfrm>
              <a:off x="2966" y="1715"/>
              <a:ext cx="49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ID</a:t>
              </a:r>
            </a:p>
          </p:txBody>
        </p:sp>
        <p:sp>
          <p:nvSpPr>
            <p:cNvPr id="12372" name="Rectangle 18">
              <a:extLst>
                <a:ext uri="{FF2B5EF4-FFF2-40B4-BE49-F238E27FC236}">
                  <a16:creationId xmlns:a16="http://schemas.microsoft.com/office/drawing/2014/main" id="{9A6B851B-0ADC-30ED-7F53-0D9E060757D7}"/>
                </a:ext>
              </a:extLst>
            </p:cNvPr>
            <p:cNvSpPr>
              <a:spLocks noChangeArrowheads="1"/>
            </p:cNvSpPr>
            <p:nvPr/>
          </p:nvSpPr>
          <p:spPr bwMode="auto">
            <a:xfrm>
              <a:off x="2481" y="1715"/>
              <a:ext cx="48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IF</a:t>
              </a:r>
            </a:p>
          </p:txBody>
        </p:sp>
        <p:sp>
          <p:nvSpPr>
            <p:cNvPr id="12373" name="Rectangle 19">
              <a:extLst>
                <a:ext uri="{FF2B5EF4-FFF2-40B4-BE49-F238E27FC236}">
                  <a16:creationId xmlns:a16="http://schemas.microsoft.com/office/drawing/2014/main" id="{FBC9F3FB-C6A1-3D91-7C06-423412674609}"/>
                </a:ext>
              </a:extLst>
            </p:cNvPr>
            <p:cNvSpPr>
              <a:spLocks noChangeArrowheads="1"/>
            </p:cNvSpPr>
            <p:nvPr/>
          </p:nvSpPr>
          <p:spPr bwMode="auto">
            <a:xfrm>
              <a:off x="2021" y="1715"/>
              <a:ext cx="4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74" name="Rectangle 20">
              <a:extLst>
                <a:ext uri="{FF2B5EF4-FFF2-40B4-BE49-F238E27FC236}">
                  <a16:creationId xmlns:a16="http://schemas.microsoft.com/office/drawing/2014/main" id="{CD295864-8ABE-E0EB-BF2F-EDD8B2306336}"/>
                </a:ext>
              </a:extLst>
            </p:cNvPr>
            <p:cNvSpPr>
              <a:spLocks noChangeArrowheads="1"/>
            </p:cNvSpPr>
            <p:nvPr/>
          </p:nvSpPr>
          <p:spPr bwMode="auto">
            <a:xfrm>
              <a:off x="1596" y="1715"/>
              <a:ext cx="42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75" name="Rectangle 21">
              <a:extLst>
                <a:ext uri="{FF2B5EF4-FFF2-40B4-BE49-F238E27FC236}">
                  <a16:creationId xmlns:a16="http://schemas.microsoft.com/office/drawing/2014/main" id="{49235A70-3101-FDC5-7D4D-B4D73EDCA536}"/>
                </a:ext>
              </a:extLst>
            </p:cNvPr>
            <p:cNvSpPr>
              <a:spLocks noChangeArrowheads="1"/>
            </p:cNvSpPr>
            <p:nvPr/>
          </p:nvSpPr>
          <p:spPr bwMode="auto">
            <a:xfrm>
              <a:off x="287" y="1715"/>
              <a:ext cx="1309"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branch target. + 1</a:t>
              </a:r>
            </a:p>
          </p:txBody>
        </p:sp>
        <p:sp>
          <p:nvSpPr>
            <p:cNvPr id="12376" name="Rectangle 22">
              <a:extLst>
                <a:ext uri="{FF2B5EF4-FFF2-40B4-BE49-F238E27FC236}">
                  <a16:creationId xmlns:a16="http://schemas.microsoft.com/office/drawing/2014/main" id="{AD9E29B8-1BB1-EA0B-F980-849CC01CCE4D}"/>
                </a:ext>
              </a:extLst>
            </p:cNvPr>
            <p:cNvSpPr>
              <a:spLocks noChangeArrowheads="1"/>
            </p:cNvSpPr>
            <p:nvPr/>
          </p:nvSpPr>
          <p:spPr bwMode="auto">
            <a:xfrm>
              <a:off x="4893" y="1504"/>
              <a:ext cx="48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77" name="Rectangle 23">
              <a:extLst>
                <a:ext uri="{FF2B5EF4-FFF2-40B4-BE49-F238E27FC236}">
                  <a16:creationId xmlns:a16="http://schemas.microsoft.com/office/drawing/2014/main" id="{FBE6AB90-9438-EA48-3550-78E06186B654}"/>
                </a:ext>
              </a:extLst>
            </p:cNvPr>
            <p:cNvSpPr>
              <a:spLocks noChangeArrowheads="1"/>
            </p:cNvSpPr>
            <p:nvPr/>
          </p:nvSpPr>
          <p:spPr bwMode="auto">
            <a:xfrm>
              <a:off x="4396" y="1504"/>
              <a:ext cx="4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78" name="Rectangle 24">
              <a:extLst>
                <a:ext uri="{FF2B5EF4-FFF2-40B4-BE49-F238E27FC236}">
                  <a16:creationId xmlns:a16="http://schemas.microsoft.com/office/drawing/2014/main" id="{15BAEBDC-CED2-B867-9F1F-FEF1AF246081}"/>
                </a:ext>
              </a:extLst>
            </p:cNvPr>
            <p:cNvSpPr>
              <a:spLocks noChangeArrowheads="1"/>
            </p:cNvSpPr>
            <p:nvPr/>
          </p:nvSpPr>
          <p:spPr bwMode="auto">
            <a:xfrm>
              <a:off x="3948" y="1504"/>
              <a:ext cx="44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WB</a:t>
              </a:r>
            </a:p>
          </p:txBody>
        </p:sp>
        <p:sp>
          <p:nvSpPr>
            <p:cNvPr id="12379" name="Rectangle 25">
              <a:extLst>
                <a:ext uri="{FF2B5EF4-FFF2-40B4-BE49-F238E27FC236}">
                  <a16:creationId xmlns:a16="http://schemas.microsoft.com/office/drawing/2014/main" id="{B44C5B23-626B-2DC2-E9B1-3C82F780108D}"/>
                </a:ext>
              </a:extLst>
            </p:cNvPr>
            <p:cNvSpPr>
              <a:spLocks noChangeArrowheads="1"/>
            </p:cNvSpPr>
            <p:nvPr/>
          </p:nvSpPr>
          <p:spPr bwMode="auto">
            <a:xfrm>
              <a:off x="3463" y="1504"/>
              <a:ext cx="48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MEM</a:t>
              </a:r>
            </a:p>
          </p:txBody>
        </p:sp>
        <p:sp>
          <p:nvSpPr>
            <p:cNvPr id="12380" name="Rectangle 26">
              <a:extLst>
                <a:ext uri="{FF2B5EF4-FFF2-40B4-BE49-F238E27FC236}">
                  <a16:creationId xmlns:a16="http://schemas.microsoft.com/office/drawing/2014/main" id="{A5318351-3BE8-FDB9-773A-E98232A9B9D8}"/>
                </a:ext>
              </a:extLst>
            </p:cNvPr>
            <p:cNvSpPr>
              <a:spLocks noChangeArrowheads="1"/>
            </p:cNvSpPr>
            <p:nvPr/>
          </p:nvSpPr>
          <p:spPr bwMode="auto">
            <a:xfrm>
              <a:off x="2966" y="1504"/>
              <a:ext cx="4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EX</a:t>
              </a:r>
            </a:p>
          </p:txBody>
        </p:sp>
        <p:sp>
          <p:nvSpPr>
            <p:cNvPr id="12381" name="Rectangle 27">
              <a:extLst>
                <a:ext uri="{FF2B5EF4-FFF2-40B4-BE49-F238E27FC236}">
                  <a16:creationId xmlns:a16="http://schemas.microsoft.com/office/drawing/2014/main" id="{88BA6EB6-1047-26CF-535D-36B0B55E41DF}"/>
                </a:ext>
              </a:extLst>
            </p:cNvPr>
            <p:cNvSpPr>
              <a:spLocks noChangeArrowheads="1"/>
            </p:cNvSpPr>
            <p:nvPr/>
          </p:nvSpPr>
          <p:spPr bwMode="auto">
            <a:xfrm>
              <a:off x="2481" y="1504"/>
              <a:ext cx="48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ID</a:t>
              </a:r>
            </a:p>
          </p:txBody>
        </p:sp>
        <p:sp>
          <p:nvSpPr>
            <p:cNvPr id="12382" name="Rectangle 28">
              <a:extLst>
                <a:ext uri="{FF2B5EF4-FFF2-40B4-BE49-F238E27FC236}">
                  <a16:creationId xmlns:a16="http://schemas.microsoft.com/office/drawing/2014/main" id="{22FBE2E8-B630-993B-52D1-2EB6D0BADCDD}"/>
                </a:ext>
              </a:extLst>
            </p:cNvPr>
            <p:cNvSpPr>
              <a:spLocks noChangeArrowheads="1"/>
            </p:cNvSpPr>
            <p:nvPr/>
          </p:nvSpPr>
          <p:spPr bwMode="auto">
            <a:xfrm>
              <a:off x="2021" y="1504"/>
              <a:ext cx="46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IF</a:t>
              </a:r>
            </a:p>
          </p:txBody>
        </p:sp>
        <p:sp>
          <p:nvSpPr>
            <p:cNvPr id="12383" name="Rectangle 29">
              <a:extLst>
                <a:ext uri="{FF2B5EF4-FFF2-40B4-BE49-F238E27FC236}">
                  <a16:creationId xmlns:a16="http://schemas.microsoft.com/office/drawing/2014/main" id="{0A0E5D4C-F23E-9C07-C02F-F2F0236C6140}"/>
                </a:ext>
              </a:extLst>
            </p:cNvPr>
            <p:cNvSpPr>
              <a:spLocks noChangeArrowheads="1"/>
            </p:cNvSpPr>
            <p:nvPr/>
          </p:nvSpPr>
          <p:spPr bwMode="auto">
            <a:xfrm>
              <a:off x="1596" y="1504"/>
              <a:ext cx="42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84" name="Rectangle 30">
              <a:extLst>
                <a:ext uri="{FF2B5EF4-FFF2-40B4-BE49-F238E27FC236}">
                  <a16:creationId xmlns:a16="http://schemas.microsoft.com/office/drawing/2014/main" id="{DB9DAFDD-14EF-4357-0327-B52180A9EC58}"/>
                </a:ext>
              </a:extLst>
            </p:cNvPr>
            <p:cNvSpPr>
              <a:spLocks noChangeArrowheads="1"/>
            </p:cNvSpPr>
            <p:nvPr/>
          </p:nvSpPr>
          <p:spPr bwMode="auto">
            <a:xfrm>
              <a:off x="287" y="1504"/>
              <a:ext cx="130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branch target</a:t>
              </a:r>
            </a:p>
          </p:txBody>
        </p:sp>
        <p:sp>
          <p:nvSpPr>
            <p:cNvPr id="12385" name="Rectangle 31">
              <a:extLst>
                <a:ext uri="{FF2B5EF4-FFF2-40B4-BE49-F238E27FC236}">
                  <a16:creationId xmlns:a16="http://schemas.microsoft.com/office/drawing/2014/main" id="{F694D731-0402-AB6D-BA37-87B2B4D7FC99}"/>
                </a:ext>
              </a:extLst>
            </p:cNvPr>
            <p:cNvSpPr>
              <a:spLocks noChangeArrowheads="1"/>
            </p:cNvSpPr>
            <p:nvPr/>
          </p:nvSpPr>
          <p:spPr bwMode="auto">
            <a:xfrm>
              <a:off x="4893" y="1283"/>
              <a:ext cx="48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86" name="Rectangle 32">
              <a:extLst>
                <a:ext uri="{FF2B5EF4-FFF2-40B4-BE49-F238E27FC236}">
                  <a16:creationId xmlns:a16="http://schemas.microsoft.com/office/drawing/2014/main" id="{385FB0F1-26EC-0275-5405-A608BBE3255A}"/>
                </a:ext>
              </a:extLst>
            </p:cNvPr>
            <p:cNvSpPr>
              <a:spLocks noChangeArrowheads="1"/>
            </p:cNvSpPr>
            <p:nvPr/>
          </p:nvSpPr>
          <p:spPr bwMode="auto">
            <a:xfrm>
              <a:off x="4396" y="1283"/>
              <a:ext cx="49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87" name="Rectangle 33">
              <a:extLst>
                <a:ext uri="{FF2B5EF4-FFF2-40B4-BE49-F238E27FC236}">
                  <a16:creationId xmlns:a16="http://schemas.microsoft.com/office/drawing/2014/main" id="{670B7D73-C514-989D-F83D-38D8BEDE79D2}"/>
                </a:ext>
              </a:extLst>
            </p:cNvPr>
            <p:cNvSpPr>
              <a:spLocks noChangeArrowheads="1"/>
            </p:cNvSpPr>
            <p:nvPr/>
          </p:nvSpPr>
          <p:spPr bwMode="auto">
            <a:xfrm>
              <a:off x="3948" y="1283"/>
              <a:ext cx="44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88" name="Rectangle 34">
              <a:extLst>
                <a:ext uri="{FF2B5EF4-FFF2-40B4-BE49-F238E27FC236}">
                  <a16:creationId xmlns:a16="http://schemas.microsoft.com/office/drawing/2014/main" id="{9FC5DA91-4B37-1EF5-7A7D-E195AF7A3E27}"/>
                </a:ext>
              </a:extLst>
            </p:cNvPr>
            <p:cNvSpPr>
              <a:spLocks noChangeArrowheads="1"/>
            </p:cNvSpPr>
            <p:nvPr/>
          </p:nvSpPr>
          <p:spPr bwMode="auto">
            <a:xfrm>
              <a:off x="3463" y="1283"/>
              <a:ext cx="48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WB</a:t>
              </a:r>
            </a:p>
          </p:txBody>
        </p:sp>
        <p:sp>
          <p:nvSpPr>
            <p:cNvPr id="12389" name="Rectangle 35">
              <a:extLst>
                <a:ext uri="{FF2B5EF4-FFF2-40B4-BE49-F238E27FC236}">
                  <a16:creationId xmlns:a16="http://schemas.microsoft.com/office/drawing/2014/main" id="{7A1032FE-6928-D152-8678-7ECEA8E3173E}"/>
                </a:ext>
              </a:extLst>
            </p:cNvPr>
            <p:cNvSpPr>
              <a:spLocks noChangeArrowheads="1"/>
            </p:cNvSpPr>
            <p:nvPr/>
          </p:nvSpPr>
          <p:spPr bwMode="auto">
            <a:xfrm>
              <a:off x="2966" y="1283"/>
              <a:ext cx="49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MEM</a:t>
              </a:r>
            </a:p>
          </p:txBody>
        </p:sp>
        <p:sp>
          <p:nvSpPr>
            <p:cNvPr id="12390" name="Rectangle 36">
              <a:extLst>
                <a:ext uri="{FF2B5EF4-FFF2-40B4-BE49-F238E27FC236}">
                  <a16:creationId xmlns:a16="http://schemas.microsoft.com/office/drawing/2014/main" id="{981A9F0E-2B5E-1FEA-5706-2D67F120D9C4}"/>
                </a:ext>
              </a:extLst>
            </p:cNvPr>
            <p:cNvSpPr>
              <a:spLocks noChangeArrowheads="1"/>
            </p:cNvSpPr>
            <p:nvPr/>
          </p:nvSpPr>
          <p:spPr bwMode="auto">
            <a:xfrm>
              <a:off x="2481" y="1283"/>
              <a:ext cx="48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EX</a:t>
              </a:r>
            </a:p>
          </p:txBody>
        </p:sp>
        <p:sp>
          <p:nvSpPr>
            <p:cNvPr id="12391" name="Rectangle 37">
              <a:extLst>
                <a:ext uri="{FF2B5EF4-FFF2-40B4-BE49-F238E27FC236}">
                  <a16:creationId xmlns:a16="http://schemas.microsoft.com/office/drawing/2014/main" id="{D896AEC1-ED4F-202E-41B9-CB8620F47EA6}"/>
                </a:ext>
              </a:extLst>
            </p:cNvPr>
            <p:cNvSpPr>
              <a:spLocks noChangeArrowheads="1"/>
            </p:cNvSpPr>
            <p:nvPr/>
          </p:nvSpPr>
          <p:spPr bwMode="auto">
            <a:xfrm>
              <a:off x="2021" y="1283"/>
              <a:ext cx="4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ID</a:t>
              </a:r>
            </a:p>
          </p:txBody>
        </p:sp>
        <p:sp>
          <p:nvSpPr>
            <p:cNvPr id="12392" name="Rectangle 38">
              <a:extLst>
                <a:ext uri="{FF2B5EF4-FFF2-40B4-BE49-F238E27FC236}">
                  <a16:creationId xmlns:a16="http://schemas.microsoft.com/office/drawing/2014/main" id="{753C0F1D-B0F8-F0A6-2A27-11645E4BF863}"/>
                </a:ext>
              </a:extLst>
            </p:cNvPr>
            <p:cNvSpPr>
              <a:spLocks noChangeArrowheads="1"/>
            </p:cNvSpPr>
            <p:nvPr/>
          </p:nvSpPr>
          <p:spPr bwMode="auto">
            <a:xfrm>
              <a:off x="1596" y="1283"/>
              <a:ext cx="42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IF</a:t>
              </a:r>
            </a:p>
          </p:txBody>
        </p:sp>
        <p:sp>
          <p:nvSpPr>
            <p:cNvPr id="12393" name="Rectangle 39">
              <a:extLst>
                <a:ext uri="{FF2B5EF4-FFF2-40B4-BE49-F238E27FC236}">
                  <a16:creationId xmlns:a16="http://schemas.microsoft.com/office/drawing/2014/main" id="{4A016E35-9E00-E05B-714A-A88B9AEBF23D}"/>
                </a:ext>
              </a:extLst>
            </p:cNvPr>
            <p:cNvSpPr>
              <a:spLocks noChangeArrowheads="1"/>
            </p:cNvSpPr>
            <p:nvPr/>
          </p:nvSpPr>
          <p:spPr bwMode="auto">
            <a:xfrm>
              <a:off x="287" y="1283"/>
              <a:ext cx="1309"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taken branch</a:t>
              </a:r>
            </a:p>
          </p:txBody>
        </p:sp>
        <p:sp>
          <p:nvSpPr>
            <p:cNvPr id="12394" name="Rectangle 40">
              <a:extLst>
                <a:ext uri="{FF2B5EF4-FFF2-40B4-BE49-F238E27FC236}">
                  <a16:creationId xmlns:a16="http://schemas.microsoft.com/office/drawing/2014/main" id="{F31C4F64-3038-77E0-67E6-14497B942B99}"/>
                </a:ext>
              </a:extLst>
            </p:cNvPr>
            <p:cNvSpPr>
              <a:spLocks noChangeArrowheads="1"/>
            </p:cNvSpPr>
            <p:nvPr/>
          </p:nvSpPr>
          <p:spPr bwMode="auto">
            <a:xfrm>
              <a:off x="4893" y="1072"/>
              <a:ext cx="48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8</a:t>
              </a:r>
            </a:p>
          </p:txBody>
        </p:sp>
        <p:sp>
          <p:nvSpPr>
            <p:cNvPr id="12395" name="Rectangle 41">
              <a:extLst>
                <a:ext uri="{FF2B5EF4-FFF2-40B4-BE49-F238E27FC236}">
                  <a16:creationId xmlns:a16="http://schemas.microsoft.com/office/drawing/2014/main" id="{5034C9E6-4DCC-A6B5-244D-50235F1FADC6}"/>
                </a:ext>
              </a:extLst>
            </p:cNvPr>
            <p:cNvSpPr>
              <a:spLocks noChangeArrowheads="1"/>
            </p:cNvSpPr>
            <p:nvPr/>
          </p:nvSpPr>
          <p:spPr bwMode="auto">
            <a:xfrm>
              <a:off x="4396" y="1072"/>
              <a:ext cx="4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7</a:t>
              </a:r>
            </a:p>
          </p:txBody>
        </p:sp>
        <p:sp>
          <p:nvSpPr>
            <p:cNvPr id="12396" name="Rectangle 42">
              <a:extLst>
                <a:ext uri="{FF2B5EF4-FFF2-40B4-BE49-F238E27FC236}">
                  <a16:creationId xmlns:a16="http://schemas.microsoft.com/office/drawing/2014/main" id="{75F4C180-23D1-661A-A7AC-496A471CF6DE}"/>
                </a:ext>
              </a:extLst>
            </p:cNvPr>
            <p:cNvSpPr>
              <a:spLocks noChangeArrowheads="1"/>
            </p:cNvSpPr>
            <p:nvPr/>
          </p:nvSpPr>
          <p:spPr bwMode="auto">
            <a:xfrm>
              <a:off x="3948" y="1072"/>
              <a:ext cx="44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6</a:t>
              </a:r>
            </a:p>
          </p:txBody>
        </p:sp>
        <p:sp>
          <p:nvSpPr>
            <p:cNvPr id="12397" name="Rectangle 43">
              <a:extLst>
                <a:ext uri="{FF2B5EF4-FFF2-40B4-BE49-F238E27FC236}">
                  <a16:creationId xmlns:a16="http://schemas.microsoft.com/office/drawing/2014/main" id="{59BEAEEC-CFCD-64CE-2DE8-2E8EF06EE887}"/>
                </a:ext>
              </a:extLst>
            </p:cNvPr>
            <p:cNvSpPr>
              <a:spLocks noChangeArrowheads="1"/>
            </p:cNvSpPr>
            <p:nvPr/>
          </p:nvSpPr>
          <p:spPr bwMode="auto">
            <a:xfrm>
              <a:off x="3463" y="1072"/>
              <a:ext cx="48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5</a:t>
              </a:r>
            </a:p>
          </p:txBody>
        </p:sp>
        <p:sp>
          <p:nvSpPr>
            <p:cNvPr id="12398" name="Rectangle 44">
              <a:extLst>
                <a:ext uri="{FF2B5EF4-FFF2-40B4-BE49-F238E27FC236}">
                  <a16:creationId xmlns:a16="http://schemas.microsoft.com/office/drawing/2014/main" id="{25BBB9BB-2905-EC50-971C-4F3FCDEE017A}"/>
                </a:ext>
              </a:extLst>
            </p:cNvPr>
            <p:cNvSpPr>
              <a:spLocks noChangeArrowheads="1"/>
            </p:cNvSpPr>
            <p:nvPr/>
          </p:nvSpPr>
          <p:spPr bwMode="auto">
            <a:xfrm>
              <a:off x="2966" y="1072"/>
              <a:ext cx="4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4</a:t>
              </a:r>
            </a:p>
          </p:txBody>
        </p:sp>
        <p:sp>
          <p:nvSpPr>
            <p:cNvPr id="12399" name="Rectangle 45">
              <a:extLst>
                <a:ext uri="{FF2B5EF4-FFF2-40B4-BE49-F238E27FC236}">
                  <a16:creationId xmlns:a16="http://schemas.microsoft.com/office/drawing/2014/main" id="{24C62406-0794-D32C-F47A-04A7FC817B2C}"/>
                </a:ext>
              </a:extLst>
            </p:cNvPr>
            <p:cNvSpPr>
              <a:spLocks noChangeArrowheads="1"/>
            </p:cNvSpPr>
            <p:nvPr/>
          </p:nvSpPr>
          <p:spPr bwMode="auto">
            <a:xfrm>
              <a:off x="2481" y="1072"/>
              <a:ext cx="48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3</a:t>
              </a:r>
            </a:p>
          </p:txBody>
        </p:sp>
        <p:sp>
          <p:nvSpPr>
            <p:cNvPr id="12400" name="Rectangle 46">
              <a:extLst>
                <a:ext uri="{FF2B5EF4-FFF2-40B4-BE49-F238E27FC236}">
                  <a16:creationId xmlns:a16="http://schemas.microsoft.com/office/drawing/2014/main" id="{BA081803-4EEC-4729-86D7-5633FDB991B4}"/>
                </a:ext>
              </a:extLst>
            </p:cNvPr>
            <p:cNvSpPr>
              <a:spLocks noChangeArrowheads="1"/>
            </p:cNvSpPr>
            <p:nvPr/>
          </p:nvSpPr>
          <p:spPr bwMode="auto">
            <a:xfrm>
              <a:off x="2021" y="1072"/>
              <a:ext cx="46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2</a:t>
              </a:r>
            </a:p>
          </p:txBody>
        </p:sp>
        <p:sp>
          <p:nvSpPr>
            <p:cNvPr id="12401" name="Rectangle 47">
              <a:extLst>
                <a:ext uri="{FF2B5EF4-FFF2-40B4-BE49-F238E27FC236}">
                  <a16:creationId xmlns:a16="http://schemas.microsoft.com/office/drawing/2014/main" id="{77210ACB-71A5-F200-E37B-1FE8E9FBC0C5}"/>
                </a:ext>
              </a:extLst>
            </p:cNvPr>
            <p:cNvSpPr>
              <a:spLocks noChangeArrowheads="1"/>
            </p:cNvSpPr>
            <p:nvPr/>
          </p:nvSpPr>
          <p:spPr bwMode="auto">
            <a:xfrm>
              <a:off x="1596" y="1072"/>
              <a:ext cx="42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1</a:t>
              </a:r>
            </a:p>
          </p:txBody>
        </p:sp>
        <p:sp>
          <p:nvSpPr>
            <p:cNvPr id="12402" name="Rectangle 48">
              <a:extLst>
                <a:ext uri="{FF2B5EF4-FFF2-40B4-BE49-F238E27FC236}">
                  <a16:creationId xmlns:a16="http://schemas.microsoft.com/office/drawing/2014/main" id="{A88E7F4B-F113-C236-C529-1DE7CBC3C2C6}"/>
                </a:ext>
              </a:extLst>
            </p:cNvPr>
            <p:cNvSpPr>
              <a:spLocks noChangeArrowheads="1"/>
            </p:cNvSpPr>
            <p:nvPr/>
          </p:nvSpPr>
          <p:spPr bwMode="auto">
            <a:xfrm>
              <a:off x="1596" y="848"/>
              <a:ext cx="378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Clock Number</a:t>
              </a:r>
            </a:p>
          </p:txBody>
        </p:sp>
        <p:sp>
          <p:nvSpPr>
            <p:cNvPr id="12403" name="Rectangle 49">
              <a:extLst>
                <a:ext uri="{FF2B5EF4-FFF2-40B4-BE49-F238E27FC236}">
                  <a16:creationId xmlns:a16="http://schemas.microsoft.com/office/drawing/2014/main" id="{8BFBF00E-0F18-A615-B3A3-35DE992951DD}"/>
                </a:ext>
              </a:extLst>
            </p:cNvPr>
            <p:cNvSpPr>
              <a:spLocks noChangeArrowheads="1"/>
            </p:cNvSpPr>
            <p:nvPr/>
          </p:nvSpPr>
          <p:spPr bwMode="auto">
            <a:xfrm>
              <a:off x="287" y="848"/>
              <a:ext cx="1309"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0000FF"/>
                </a:buClr>
                <a:buFont typeface="Comic Sans MS" panose="030F0902030302020204" pitchFamily="66" charset="0"/>
                <a:buNone/>
              </a:pPr>
              <a:r>
                <a:rPr lang="en-GB" altLang="en-US" sz="1600">
                  <a:solidFill>
                    <a:srgbClr val="0000FF"/>
                  </a:solidFill>
                  <a:latin typeface="Comic Sans MS" panose="030F0902030302020204" pitchFamily="66" charset="0"/>
                </a:rPr>
                <a:t>Correct</a:t>
              </a:r>
              <a:r>
                <a:rPr lang="en-GB" altLang="en-US" sz="1600">
                  <a:solidFill>
                    <a:srgbClr val="000000"/>
                  </a:solidFill>
                  <a:latin typeface="Comic Sans MS" panose="030F0902030302020204" pitchFamily="66" charset="0"/>
                </a:rPr>
                <a:t> Prediction</a:t>
              </a:r>
            </a:p>
          </p:txBody>
        </p:sp>
        <p:sp>
          <p:nvSpPr>
            <p:cNvPr id="12404" name="Line 50">
              <a:extLst>
                <a:ext uri="{FF2B5EF4-FFF2-40B4-BE49-F238E27FC236}">
                  <a16:creationId xmlns:a16="http://schemas.microsoft.com/office/drawing/2014/main" id="{1DEA75E6-8104-2FF2-604B-D023F4EA927A}"/>
                </a:ext>
              </a:extLst>
            </p:cNvPr>
            <p:cNvSpPr>
              <a:spLocks noChangeShapeType="1"/>
            </p:cNvSpPr>
            <p:nvPr/>
          </p:nvSpPr>
          <p:spPr bwMode="auto">
            <a:xfrm>
              <a:off x="287" y="848"/>
              <a:ext cx="5093"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05" name="Line 51">
              <a:extLst>
                <a:ext uri="{FF2B5EF4-FFF2-40B4-BE49-F238E27FC236}">
                  <a16:creationId xmlns:a16="http://schemas.microsoft.com/office/drawing/2014/main" id="{9B307893-0F7E-803A-3E93-75C662F42C80}"/>
                </a:ext>
              </a:extLst>
            </p:cNvPr>
            <p:cNvSpPr>
              <a:spLocks noChangeShapeType="1"/>
            </p:cNvSpPr>
            <p:nvPr/>
          </p:nvSpPr>
          <p:spPr bwMode="auto">
            <a:xfrm>
              <a:off x="287" y="1283"/>
              <a:ext cx="5093"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06" name="Line 52">
              <a:extLst>
                <a:ext uri="{FF2B5EF4-FFF2-40B4-BE49-F238E27FC236}">
                  <a16:creationId xmlns:a16="http://schemas.microsoft.com/office/drawing/2014/main" id="{B0C20C30-F829-DADE-98F5-F486F5CDEDDF}"/>
                </a:ext>
              </a:extLst>
            </p:cNvPr>
            <p:cNvSpPr>
              <a:spLocks noChangeShapeType="1"/>
            </p:cNvSpPr>
            <p:nvPr/>
          </p:nvSpPr>
          <p:spPr bwMode="auto">
            <a:xfrm>
              <a:off x="287" y="1504"/>
              <a:ext cx="5093"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07" name="Line 53">
              <a:extLst>
                <a:ext uri="{FF2B5EF4-FFF2-40B4-BE49-F238E27FC236}">
                  <a16:creationId xmlns:a16="http://schemas.microsoft.com/office/drawing/2014/main" id="{DEFD013A-FED8-36E8-6302-8723A2E7888A}"/>
                </a:ext>
              </a:extLst>
            </p:cNvPr>
            <p:cNvSpPr>
              <a:spLocks noChangeShapeType="1"/>
            </p:cNvSpPr>
            <p:nvPr/>
          </p:nvSpPr>
          <p:spPr bwMode="auto">
            <a:xfrm>
              <a:off x="287" y="1715"/>
              <a:ext cx="5093"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08" name="Line 54">
              <a:extLst>
                <a:ext uri="{FF2B5EF4-FFF2-40B4-BE49-F238E27FC236}">
                  <a16:creationId xmlns:a16="http://schemas.microsoft.com/office/drawing/2014/main" id="{86421B82-0CBE-9099-5C61-5736C8C43774}"/>
                </a:ext>
              </a:extLst>
            </p:cNvPr>
            <p:cNvSpPr>
              <a:spLocks noChangeShapeType="1"/>
            </p:cNvSpPr>
            <p:nvPr/>
          </p:nvSpPr>
          <p:spPr bwMode="auto">
            <a:xfrm>
              <a:off x="287" y="1936"/>
              <a:ext cx="5093"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09" name="Line 55">
              <a:extLst>
                <a:ext uri="{FF2B5EF4-FFF2-40B4-BE49-F238E27FC236}">
                  <a16:creationId xmlns:a16="http://schemas.microsoft.com/office/drawing/2014/main" id="{A8F704E6-014F-0170-22D3-E66AB84CC725}"/>
                </a:ext>
              </a:extLst>
            </p:cNvPr>
            <p:cNvSpPr>
              <a:spLocks noChangeShapeType="1"/>
            </p:cNvSpPr>
            <p:nvPr/>
          </p:nvSpPr>
          <p:spPr bwMode="auto">
            <a:xfrm>
              <a:off x="287" y="2176"/>
              <a:ext cx="5093"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10" name="Line 56">
              <a:extLst>
                <a:ext uri="{FF2B5EF4-FFF2-40B4-BE49-F238E27FC236}">
                  <a16:creationId xmlns:a16="http://schemas.microsoft.com/office/drawing/2014/main" id="{A19EF78B-BB77-183A-28CC-D1CB1559DB1A}"/>
                </a:ext>
              </a:extLst>
            </p:cNvPr>
            <p:cNvSpPr>
              <a:spLocks noChangeShapeType="1"/>
            </p:cNvSpPr>
            <p:nvPr/>
          </p:nvSpPr>
          <p:spPr bwMode="auto">
            <a:xfrm>
              <a:off x="287" y="848"/>
              <a:ext cx="1" cy="1328"/>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11" name="Line 57">
              <a:extLst>
                <a:ext uri="{FF2B5EF4-FFF2-40B4-BE49-F238E27FC236}">
                  <a16:creationId xmlns:a16="http://schemas.microsoft.com/office/drawing/2014/main" id="{A68D88A4-6F73-8BDF-578D-AB6FA1208638}"/>
                </a:ext>
              </a:extLst>
            </p:cNvPr>
            <p:cNvSpPr>
              <a:spLocks noChangeShapeType="1"/>
            </p:cNvSpPr>
            <p:nvPr/>
          </p:nvSpPr>
          <p:spPr bwMode="auto">
            <a:xfrm>
              <a:off x="1596" y="848"/>
              <a:ext cx="1" cy="132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12" name="Line 58">
              <a:extLst>
                <a:ext uri="{FF2B5EF4-FFF2-40B4-BE49-F238E27FC236}">
                  <a16:creationId xmlns:a16="http://schemas.microsoft.com/office/drawing/2014/main" id="{6B532E7B-34A3-ADBF-BC05-690D7EE9EA39}"/>
                </a:ext>
              </a:extLst>
            </p:cNvPr>
            <p:cNvSpPr>
              <a:spLocks noChangeShapeType="1"/>
            </p:cNvSpPr>
            <p:nvPr/>
          </p:nvSpPr>
          <p:spPr bwMode="auto">
            <a:xfrm>
              <a:off x="5380" y="848"/>
              <a:ext cx="1" cy="1328"/>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13" name="Line 59">
              <a:extLst>
                <a:ext uri="{FF2B5EF4-FFF2-40B4-BE49-F238E27FC236}">
                  <a16:creationId xmlns:a16="http://schemas.microsoft.com/office/drawing/2014/main" id="{EEA4413D-AA2C-6676-0611-38A233D85C7D}"/>
                </a:ext>
              </a:extLst>
            </p:cNvPr>
            <p:cNvSpPr>
              <a:spLocks noChangeShapeType="1"/>
            </p:cNvSpPr>
            <p:nvPr/>
          </p:nvSpPr>
          <p:spPr bwMode="auto">
            <a:xfrm>
              <a:off x="2021" y="1072"/>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14" name="Line 60">
              <a:extLst>
                <a:ext uri="{FF2B5EF4-FFF2-40B4-BE49-F238E27FC236}">
                  <a16:creationId xmlns:a16="http://schemas.microsoft.com/office/drawing/2014/main" id="{73007AC1-85AE-2F38-FCBC-6BECD96963EF}"/>
                </a:ext>
              </a:extLst>
            </p:cNvPr>
            <p:cNvSpPr>
              <a:spLocks noChangeShapeType="1"/>
            </p:cNvSpPr>
            <p:nvPr/>
          </p:nvSpPr>
          <p:spPr bwMode="auto">
            <a:xfrm>
              <a:off x="2481" y="1072"/>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15" name="Line 61">
              <a:extLst>
                <a:ext uri="{FF2B5EF4-FFF2-40B4-BE49-F238E27FC236}">
                  <a16:creationId xmlns:a16="http://schemas.microsoft.com/office/drawing/2014/main" id="{57110A90-6269-C58D-742B-5BA1792CB343}"/>
                </a:ext>
              </a:extLst>
            </p:cNvPr>
            <p:cNvSpPr>
              <a:spLocks noChangeShapeType="1"/>
            </p:cNvSpPr>
            <p:nvPr/>
          </p:nvSpPr>
          <p:spPr bwMode="auto">
            <a:xfrm>
              <a:off x="2966" y="1072"/>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16" name="Line 62">
              <a:extLst>
                <a:ext uri="{FF2B5EF4-FFF2-40B4-BE49-F238E27FC236}">
                  <a16:creationId xmlns:a16="http://schemas.microsoft.com/office/drawing/2014/main" id="{45DA42E7-28F1-1C4A-89F2-CC4B19A6FFF0}"/>
                </a:ext>
              </a:extLst>
            </p:cNvPr>
            <p:cNvSpPr>
              <a:spLocks noChangeShapeType="1"/>
            </p:cNvSpPr>
            <p:nvPr/>
          </p:nvSpPr>
          <p:spPr bwMode="auto">
            <a:xfrm>
              <a:off x="3463" y="1072"/>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17" name="Line 63">
              <a:extLst>
                <a:ext uri="{FF2B5EF4-FFF2-40B4-BE49-F238E27FC236}">
                  <a16:creationId xmlns:a16="http://schemas.microsoft.com/office/drawing/2014/main" id="{9F6D6DF8-E420-0698-3ED5-DA5F0B1E7999}"/>
                </a:ext>
              </a:extLst>
            </p:cNvPr>
            <p:cNvSpPr>
              <a:spLocks noChangeShapeType="1"/>
            </p:cNvSpPr>
            <p:nvPr/>
          </p:nvSpPr>
          <p:spPr bwMode="auto">
            <a:xfrm>
              <a:off x="3948" y="1072"/>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18" name="Line 64">
              <a:extLst>
                <a:ext uri="{FF2B5EF4-FFF2-40B4-BE49-F238E27FC236}">
                  <a16:creationId xmlns:a16="http://schemas.microsoft.com/office/drawing/2014/main" id="{339623E3-1957-8518-374F-57ACB4192045}"/>
                </a:ext>
              </a:extLst>
            </p:cNvPr>
            <p:cNvSpPr>
              <a:spLocks noChangeShapeType="1"/>
            </p:cNvSpPr>
            <p:nvPr/>
          </p:nvSpPr>
          <p:spPr bwMode="auto">
            <a:xfrm>
              <a:off x="4396" y="1072"/>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19" name="Line 65">
              <a:extLst>
                <a:ext uri="{FF2B5EF4-FFF2-40B4-BE49-F238E27FC236}">
                  <a16:creationId xmlns:a16="http://schemas.microsoft.com/office/drawing/2014/main" id="{BA091107-0A70-18DB-548C-05E4F0A10ABC}"/>
                </a:ext>
              </a:extLst>
            </p:cNvPr>
            <p:cNvSpPr>
              <a:spLocks noChangeShapeType="1"/>
            </p:cNvSpPr>
            <p:nvPr/>
          </p:nvSpPr>
          <p:spPr bwMode="auto">
            <a:xfrm>
              <a:off x="4893" y="1072"/>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420" name="Line 66">
              <a:extLst>
                <a:ext uri="{FF2B5EF4-FFF2-40B4-BE49-F238E27FC236}">
                  <a16:creationId xmlns:a16="http://schemas.microsoft.com/office/drawing/2014/main" id="{3FC086ED-12A4-B411-DB52-D2109D21C664}"/>
                </a:ext>
              </a:extLst>
            </p:cNvPr>
            <p:cNvSpPr>
              <a:spLocks noChangeShapeType="1"/>
            </p:cNvSpPr>
            <p:nvPr/>
          </p:nvSpPr>
          <p:spPr bwMode="auto">
            <a:xfrm>
              <a:off x="1596" y="1072"/>
              <a:ext cx="3784"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293" name="Group 67">
            <a:extLst>
              <a:ext uri="{FF2B5EF4-FFF2-40B4-BE49-F238E27FC236}">
                <a16:creationId xmlns:a16="http://schemas.microsoft.com/office/drawing/2014/main" id="{B6C414B7-FFC2-719F-EB23-E83DEBA45C3D}"/>
              </a:ext>
            </a:extLst>
          </p:cNvPr>
          <p:cNvGrpSpPr>
            <a:grpSpLocks/>
          </p:cNvGrpSpPr>
          <p:nvPr/>
        </p:nvGrpSpPr>
        <p:grpSpPr bwMode="auto">
          <a:xfrm>
            <a:off x="481013" y="3771900"/>
            <a:ext cx="8086725" cy="2109788"/>
            <a:chOff x="303" y="2376"/>
            <a:chExt cx="5094" cy="1329"/>
          </a:xfrm>
        </p:grpSpPr>
        <p:sp>
          <p:nvSpPr>
            <p:cNvPr id="12295" name="Rectangle 68">
              <a:extLst>
                <a:ext uri="{FF2B5EF4-FFF2-40B4-BE49-F238E27FC236}">
                  <a16:creationId xmlns:a16="http://schemas.microsoft.com/office/drawing/2014/main" id="{2B8B6D69-595B-8C32-4D15-ACF5F001D089}"/>
                </a:ext>
              </a:extLst>
            </p:cNvPr>
            <p:cNvSpPr>
              <a:spLocks noChangeArrowheads="1"/>
            </p:cNvSpPr>
            <p:nvPr/>
          </p:nvSpPr>
          <p:spPr bwMode="auto">
            <a:xfrm>
              <a:off x="4909" y="3464"/>
              <a:ext cx="48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WB</a:t>
              </a:r>
            </a:p>
          </p:txBody>
        </p:sp>
        <p:sp>
          <p:nvSpPr>
            <p:cNvPr id="12296" name="Rectangle 69">
              <a:extLst>
                <a:ext uri="{FF2B5EF4-FFF2-40B4-BE49-F238E27FC236}">
                  <a16:creationId xmlns:a16="http://schemas.microsoft.com/office/drawing/2014/main" id="{CD39283E-E252-841A-C15E-3C57BF950958}"/>
                </a:ext>
              </a:extLst>
            </p:cNvPr>
            <p:cNvSpPr>
              <a:spLocks noChangeArrowheads="1"/>
            </p:cNvSpPr>
            <p:nvPr/>
          </p:nvSpPr>
          <p:spPr bwMode="auto">
            <a:xfrm>
              <a:off x="4412" y="3464"/>
              <a:ext cx="49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MEM</a:t>
              </a:r>
            </a:p>
          </p:txBody>
        </p:sp>
        <p:sp>
          <p:nvSpPr>
            <p:cNvPr id="12297" name="Rectangle 70">
              <a:extLst>
                <a:ext uri="{FF2B5EF4-FFF2-40B4-BE49-F238E27FC236}">
                  <a16:creationId xmlns:a16="http://schemas.microsoft.com/office/drawing/2014/main" id="{25A2EA85-0266-6D83-0873-9284907DABDA}"/>
                </a:ext>
              </a:extLst>
            </p:cNvPr>
            <p:cNvSpPr>
              <a:spLocks noChangeArrowheads="1"/>
            </p:cNvSpPr>
            <p:nvPr/>
          </p:nvSpPr>
          <p:spPr bwMode="auto">
            <a:xfrm>
              <a:off x="3964" y="3464"/>
              <a:ext cx="44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EX</a:t>
              </a:r>
            </a:p>
          </p:txBody>
        </p:sp>
        <p:sp>
          <p:nvSpPr>
            <p:cNvPr id="12298" name="Rectangle 71">
              <a:extLst>
                <a:ext uri="{FF2B5EF4-FFF2-40B4-BE49-F238E27FC236}">
                  <a16:creationId xmlns:a16="http://schemas.microsoft.com/office/drawing/2014/main" id="{5BE3B5E7-BC8B-4B90-1F92-11DFF35D6A39}"/>
                </a:ext>
              </a:extLst>
            </p:cNvPr>
            <p:cNvSpPr>
              <a:spLocks noChangeArrowheads="1"/>
            </p:cNvSpPr>
            <p:nvPr/>
          </p:nvSpPr>
          <p:spPr bwMode="auto">
            <a:xfrm>
              <a:off x="3479" y="3464"/>
              <a:ext cx="48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ID</a:t>
              </a:r>
            </a:p>
          </p:txBody>
        </p:sp>
        <p:sp>
          <p:nvSpPr>
            <p:cNvPr id="12299" name="Rectangle 72">
              <a:extLst>
                <a:ext uri="{FF2B5EF4-FFF2-40B4-BE49-F238E27FC236}">
                  <a16:creationId xmlns:a16="http://schemas.microsoft.com/office/drawing/2014/main" id="{36D3F8DB-5CC4-0962-7F08-1FDB28C3F65B}"/>
                </a:ext>
              </a:extLst>
            </p:cNvPr>
            <p:cNvSpPr>
              <a:spLocks noChangeArrowheads="1"/>
            </p:cNvSpPr>
            <p:nvPr/>
          </p:nvSpPr>
          <p:spPr bwMode="auto">
            <a:xfrm>
              <a:off x="2982" y="3464"/>
              <a:ext cx="49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IF</a:t>
              </a:r>
            </a:p>
          </p:txBody>
        </p:sp>
        <p:sp>
          <p:nvSpPr>
            <p:cNvPr id="12300" name="Rectangle 73">
              <a:extLst>
                <a:ext uri="{FF2B5EF4-FFF2-40B4-BE49-F238E27FC236}">
                  <a16:creationId xmlns:a16="http://schemas.microsoft.com/office/drawing/2014/main" id="{EDEAEB87-0D48-0B48-8024-69A5506E5DC5}"/>
                </a:ext>
              </a:extLst>
            </p:cNvPr>
            <p:cNvSpPr>
              <a:spLocks noChangeArrowheads="1"/>
            </p:cNvSpPr>
            <p:nvPr/>
          </p:nvSpPr>
          <p:spPr bwMode="auto">
            <a:xfrm>
              <a:off x="2497" y="3464"/>
              <a:ext cx="48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01" name="Rectangle 74">
              <a:extLst>
                <a:ext uri="{FF2B5EF4-FFF2-40B4-BE49-F238E27FC236}">
                  <a16:creationId xmlns:a16="http://schemas.microsoft.com/office/drawing/2014/main" id="{6C4C74ED-912B-F7BA-B64F-6E78139A649B}"/>
                </a:ext>
              </a:extLst>
            </p:cNvPr>
            <p:cNvSpPr>
              <a:spLocks noChangeArrowheads="1"/>
            </p:cNvSpPr>
            <p:nvPr/>
          </p:nvSpPr>
          <p:spPr bwMode="auto">
            <a:xfrm>
              <a:off x="2037" y="3464"/>
              <a:ext cx="46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02" name="Rectangle 75">
              <a:extLst>
                <a:ext uri="{FF2B5EF4-FFF2-40B4-BE49-F238E27FC236}">
                  <a16:creationId xmlns:a16="http://schemas.microsoft.com/office/drawing/2014/main" id="{D6140C81-A52E-1F75-0C39-167B428D1564}"/>
                </a:ext>
              </a:extLst>
            </p:cNvPr>
            <p:cNvSpPr>
              <a:spLocks noChangeArrowheads="1"/>
            </p:cNvSpPr>
            <p:nvPr/>
          </p:nvSpPr>
          <p:spPr bwMode="auto">
            <a:xfrm>
              <a:off x="1612" y="3464"/>
              <a:ext cx="42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03" name="Rectangle 76">
              <a:extLst>
                <a:ext uri="{FF2B5EF4-FFF2-40B4-BE49-F238E27FC236}">
                  <a16:creationId xmlns:a16="http://schemas.microsoft.com/office/drawing/2014/main" id="{9AAC906B-9B5D-688A-42F0-8A8D51DEA371}"/>
                </a:ext>
              </a:extLst>
            </p:cNvPr>
            <p:cNvSpPr>
              <a:spLocks noChangeArrowheads="1"/>
            </p:cNvSpPr>
            <p:nvPr/>
          </p:nvSpPr>
          <p:spPr bwMode="auto">
            <a:xfrm>
              <a:off x="303" y="3464"/>
              <a:ext cx="130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actual next inst. </a:t>
              </a:r>
            </a:p>
          </p:txBody>
        </p:sp>
        <p:sp>
          <p:nvSpPr>
            <p:cNvPr id="12304" name="Rectangle 77">
              <a:extLst>
                <a:ext uri="{FF2B5EF4-FFF2-40B4-BE49-F238E27FC236}">
                  <a16:creationId xmlns:a16="http://schemas.microsoft.com/office/drawing/2014/main" id="{0D4AC2C0-A241-E07F-CCCC-A39DFDC2268C}"/>
                </a:ext>
              </a:extLst>
            </p:cNvPr>
            <p:cNvSpPr>
              <a:spLocks noChangeArrowheads="1"/>
            </p:cNvSpPr>
            <p:nvPr/>
          </p:nvSpPr>
          <p:spPr bwMode="auto">
            <a:xfrm>
              <a:off x="4909" y="3243"/>
              <a:ext cx="48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05" name="Rectangle 78">
              <a:extLst>
                <a:ext uri="{FF2B5EF4-FFF2-40B4-BE49-F238E27FC236}">
                  <a16:creationId xmlns:a16="http://schemas.microsoft.com/office/drawing/2014/main" id="{6251A333-42D7-E64F-A2D1-5889D0735F12}"/>
                </a:ext>
              </a:extLst>
            </p:cNvPr>
            <p:cNvSpPr>
              <a:spLocks noChangeArrowheads="1"/>
            </p:cNvSpPr>
            <p:nvPr/>
          </p:nvSpPr>
          <p:spPr bwMode="auto">
            <a:xfrm>
              <a:off x="4412" y="3243"/>
              <a:ext cx="49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latin typeface="Comic Sans MS" panose="030F0902030302020204" pitchFamily="66" charset="0"/>
                </a:rPr>
                <a:t>nop</a:t>
              </a:r>
            </a:p>
          </p:txBody>
        </p:sp>
        <p:sp>
          <p:nvSpPr>
            <p:cNvPr id="12306" name="Rectangle 79">
              <a:extLst>
                <a:ext uri="{FF2B5EF4-FFF2-40B4-BE49-F238E27FC236}">
                  <a16:creationId xmlns:a16="http://schemas.microsoft.com/office/drawing/2014/main" id="{49AECED7-55DB-AB47-C8AF-C2367E1F5889}"/>
                </a:ext>
              </a:extLst>
            </p:cNvPr>
            <p:cNvSpPr>
              <a:spLocks noChangeArrowheads="1"/>
            </p:cNvSpPr>
            <p:nvPr/>
          </p:nvSpPr>
          <p:spPr bwMode="auto">
            <a:xfrm>
              <a:off x="3964" y="3243"/>
              <a:ext cx="44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latin typeface="Comic Sans MS" panose="030F0902030302020204" pitchFamily="66" charset="0"/>
                </a:rPr>
                <a:t>nop</a:t>
              </a:r>
            </a:p>
          </p:txBody>
        </p:sp>
        <p:sp>
          <p:nvSpPr>
            <p:cNvPr id="12307" name="Rectangle 80">
              <a:extLst>
                <a:ext uri="{FF2B5EF4-FFF2-40B4-BE49-F238E27FC236}">
                  <a16:creationId xmlns:a16="http://schemas.microsoft.com/office/drawing/2014/main" id="{CB8AD38A-BE6C-4BAB-EED3-C0BF9D9721CE}"/>
                </a:ext>
              </a:extLst>
            </p:cNvPr>
            <p:cNvSpPr>
              <a:spLocks noChangeArrowheads="1"/>
            </p:cNvSpPr>
            <p:nvPr/>
          </p:nvSpPr>
          <p:spPr bwMode="auto">
            <a:xfrm>
              <a:off x="3479" y="3243"/>
              <a:ext cx="48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latin typeface="Comic Sans MS" panose="030F0902030302020204" pitchFamily="66" charset="0"/>
                </a:rPr>
                <a:t>nop</a:t>
              </a:r>
            </a:p>
          </p:txBody>
        </p:sp>
        <p:sp>
          <p:nvSpPr>
            <p:cNvPr id="12308" name="Rectangle 81">
              <a:extLst>
                <a:ext uri="{FF2B5EF4-FFF2-40B4-BE49-F238E27FC236}">
                  <a16:creationId xmlns:a16="http://schemas.microsoft.com/office/drawing/2014/main" id="{F6C04FC0-ED08-C08B-1680-F43974E751CF}"/>
                </a:ext>
              </a:extLst>
            </p:cNvPr>
            <p:cNvSpPr>
              <a:spLocks noChangeArrowheads="1"/>
            </p:cNvSpPr>
            <p:nvPr/>
          </p:nvSpPr>
          <p:spPr bwMode="auto">
            <a:xfrm>
              <a:off x="2982" y="3243"/>
              <a:ext cx="49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FF0000"/>
                  </a:solidFill>
                  <a:latin typeface="Comic Sans MS" panose="030F0902030302020204" pitchFamily="66" charset="0"/>
                </a:rPr>
                <a:t>nop</a:t>
              </a:r>
            </a:p>
          </p:txBody>
        </p:sp>
        <p:sp>
          <p:nvSpPr>
            <p:cNvPr id="12309" name="Rectangle 82">
              <a:extLst>
                <a:ext uri="{FF2B5EF4-FFF2-40B4-BE49-F238E27FC236}">
                  <a16:creationId xmlns:a16="http://schemas.microsoft.com/office/drawing/2014/main" id="{B781B98C-BE31-8CB9-0A1A-14954E5C7902}"/>
                </a:ext>
              </a:extLst>
            </p:cNvPr>
            <p:cNvSpPr>
              <a:spLocks noChangeArrowheads="1"/>
            </p:cNvSpPr>
            <p:nvPr/>
          </p:nvSpPr>
          <p:spPr bwMode="auto">
            <a:xfrm>
              <a:off x="2497" y="3243"/>
              <a:ext cx="48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IF</a:t>
              </a:r>
            </a:p>
          </p:txBody>
        </p:sp>
        <p:sp>
          <p:nvSpPr>
            <p:cNvPr id="12310" name="Rectangle 83">
              <a:extLst>
                <a:ext uri="{FF2B5EF4-FFF2-40B4-BE49-F238E27FC236}">
                  <a16:creationId xmlns:a16="http://schemas.microsoft.com/office/drawing/2014/main" id="{0F2343B2-42D8-3112-D6D1-6565415E98A9}"/>
                </a:ext>
              </a:extLst>
            </p:cNvPr>
            <p:cNvSpPr>
              <a:spLocks noChangeArrowheads="1"/>
            </p:cNvSpPr>
            <p:nvPr/>
          </p:nvSpPr>
          <p:spPr bwMode="auto">
            <a:xfrm>
              <a:off x="2037" y="3243"/>
              <a:ext cx="4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11" name="Rectangle 84">
              <a:extLst>
                <a:ext uri="{FF2B5EF4-FFF2-40B4-BE49-F238E27FC236}">
                  <a16:creationId xmlns:a16="http://schemas.microsoft.com/office/drawing/2014/main" id="{95C9876E-B0D9-6221-3FD8-69313B6DE759}"/>
                </a:ext>
              </a:extLst>
            </p:cNvPr>
            <p:cNvSpPr>
              <a:spLocks noChangeArrowheads="1"/>
            </p:cNvSpPr>
            <p:nvPr/>
          </p:nvSpPr>
          <p:spPr bwMode="auto">
            <a:xfrm>
              <a:off x="1612" y="3243"/>
              <a:ext cx="42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12" name="Rectangle 85">
              <a:extLst>
                <a:ext uri="{FF2B5EF4-FFF2-40B4-BE49-F238E27FC236}">
                  <a16:creationId xmlns:a16="http://schemas.microsoft.com/office/drawing/2014/main" id="{00D87A44-BB0A-4146-84AA-A8C8FD9883C1}"/>
                </a:ext>
              </a:extLst>
            </p:cNvPr>
            <p:cNvSpPr>
              <a:spLocks noChangeArrowheads="1"/>
            </p:cNvSpPr>
            <p:nvPr/>
          </p:nvSpPr>
          <p:spPr bwMode="auto">
            <a:xfrm>
              <a:off x="303" y="3243"/>
              <a:ext cx="147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predicted next inst.+1</a:t>
              </a:r>
            </a:p>
          </p:txBody>
        </p:sp>
        <p:sp>
          <p:nvSpPr>
            <p:cNvPr id="12313" name="Rectangle 86">
              <a:extLst>
                <a:ext uri="{FF2B5EF4-FFF2-40B4-BE49-F238E27FC236}">
                  <a16:creationId xmlns:a16="http://schemas.microsoft.com/office/drawing/2014/main" id="{701A35F0-7CAB-FE74-4C21-B8C916A18B7B}"/>
                </a:ext>
              </a:extLst>
            </p:cNvPr>
            <p:cNvSpPr>
              <a:spLocks noChangeArrowheads="1"/>
            </p:cNvSpPr>
            <p:nvPr/>
          </p:nvSpPr>
          <p:spPr bwMode="auto">
            <a:xfrm>
              <a:off x="4909" y="3032"/>
              <a:ext cx="48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14" name="Rectangle 87">
              <a:extLst>
                <a:ext uri="{FF2B5EF4-FFF2-40B4-BE49-F238E27FC236}">
                  <a16:creationId xmlns:a16="http://schemas.microsoft.com/office/drawing/2014/main" id="{0FC3F077-9D09-64B1-D95D-1B60B2C15966}"/>
                </a:ext>
              </a:extLst>
            </p:cNvPr>
            <p:cNvSpPr>
              <a:spLocks noChangeArrowheads="1"/>
            </p:cNvSpPr>
            <p:nvPr/>
          </p:nvSpPr>
          <p:spPr bwMode="auto">
            <a:xfrm>
              <a:off x="4412" y="3032"/>
              <a:ext cx="4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15" name="Rectangle 88">
              <a:extLst>
                <a:ext uri="{FF2B5EF4-FFF2-40B4-BE49-F238E27FC236}">
                  <a16:creationId xmlns:a16="http://schemas.microsoft.com/office/drawing/2014/main" id="{6CC7C48B-225B-0B77-BC24-07846F4F162F}"/>
                </a:ext>
              </a:extLst>
            </p:cNvPr>
            <p:cNvSpPr>
              <a:spLocks noChangeArrowheads="1"/>
            </p:cNvSpPr>
            <p:nvPr/>
          </p:nvSpPr>
          <p:spPr bwMode="auto">
            <a:xfrm>
              <a:off x="3964" y="3032"/>
              <a:ext cx="44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latin typeface="Comic Sans MS" panose="030F0902030302020204" pitchFamily="66" charset="0"/>
                </a:rPr>
                <a:t>nop</a:t>
              </a:r>
            </a:p>
          </p:txBody>
        </p:sp>
        <p:sp>
          <p:nvSpPr>
            <p:cNvPr id="12316" name="Rectangle 89">
              <a:extLst>
                <a:ext uri="{FF2B5EF4-FFF2-40B4-BE49-F238E27FC236}">
                  <a16:creationId xmlns:a16="http://schemas.microsoft.com/office/drawing/2014/main" id="{85286361-0784-B1A9-3E67-0E21F934C5A0}"/>
                </a:ext>
              </a:extLst>
            </p:cNvPr>
            <p:cNvSpPr>
              <a:spLocks noChangeArrowheads="1"/>
            </p:cNvSpPr>
            <p:nvPr/>
          </p:nvSpPr>
          <p:spPr bwMode="auto">
            <a:xfrm>
              <a:off x="3479" y="3032"/>
              <a:ext cx="48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latin typeface="Comic Sans MS" panose="030F0902030302020204" pitchFamily="66" charset="0"/>
                </a:rPr>
                <a:t>nop</a:t>
              </a:r>
            </a:p>
          </p:txBody>
        </p:sp>
        <p:sp>
          <p:nvSpPr>
            <p:cNvPr id="12317" name="Rectangle 90">
              <a:extLst>
                <a:ext uri="{FF2B5EF4-FFF2-40B4-BE49-F238E27FC236}">
                  <a16:creationId xmlns:a16="http://schemas.microsoft.com/office/drawing/2014/main" id="{C675274E-0A57-8909-E877-21C023380315}"/>
                </a:ext>
              </a:extLst>
            </p:cNvPr>
            <p:cNvSpPr>
              <a:spLocks noChangeArrowheads="1"/>
            </p:cNvSpPr>
            <p:nvPr/>
          </p:nvSpPr>
          <p:spPr bwMode="auto">
            <a:xfrm>
              <a:off x="2982" y="3032"/>
              <a:ext cx="4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latin typeface="Comic Sans MS" panose="030F0902030302020204" pitchFamily="66" charset="0"/>
                </a:rPr>
                <a:t>nop</a:t>
              </a:r>
            </a:p>
          </p:txBody>
        </p:sp>
        <p:sp>
          <p:nvSpPr>
            <p:cNvPr id="12318" name="Rectangle 91">
              <a:extLst>
                <a:ext uri="{FF2B5EF4-FFF2-40B4-BE49-F238E27FC236}">
                  <a16:creationId xmlns:a16="http://schemas.microsoft.com/office/drawing/2014/main" id="{1154AB6E-C3B1-E081-3129-414D634D9BAD}"/>
                </a:ext>
              </a:extLst>
            </p:cNvPr>
            <p:cNvSpPr>
              <a:spLocks noChangeArrowheads="1"/>
            </p:cNvSpPr>
            <p:nvPr/>
          </p:nvSpPr>
          <p:spPr bwMode="auto">
            <a:xfrm>
              <a:off x="2497" y="3032"/>
              <a:ext cx="48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Clr>
                  <a:srgbClr val="FF0000"/>
                </a:buClr>
                <a:buFont typeface="Comic Sans MS" panose="030F0902030302020204" pitchFamily="66" charset="0"/>
                <a:buNone/>
              </a:pPr>
              <a:r>
                <a:rPr lang="en-GB" altLang="en-US" sz="1600">
                  <a:solidFill>
                    <a:schemeClr val="tx1"/>
                  </a:solidFill>
                  <a:latin typeface="Comic Sans MS" panose="030F0902030302020204" pitchFamily="66" charset="0"/>
                </a:rPr>
                <a:t>ID</a:t>
              </a:r>
            </a:p>
          </p:txBody>
        </p:sp>
        <p:sp>
          <p:nvSpPr>
            <p:cNvPr id="12319" name="Rectangle 92">
              <a:extLst>
                <a:ext uri="{FF2B5EF4-FFF2-40B4-BE49-F238E27FC236}">
                  <a16:creationId xmlns:a16="http://schemas.microsoft.com/office/drawing/2014/main" id="{F8326BCE-BFCA-9B95-8F70-C9943E2EF271}"/>
                </a:ext>
              </a:extLst>
            </p:cNvPr>
            <p:cNvSpPr>
              <a:spLocks noChangeArrowheads="1"/>
            </p:cNvSpPr>
            <p:nvPr/>
          </p:nvSpPr>
          <p:spPr bwMode="auto">
            <a:xfrm>
              <a:off x="2037" y="3032"/>
              <a:ext cx="46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IF</a:t>
              </a:r>
            </a:p>
          </p:txBody>
        </p:sp>
        <p:sp>
          <p:nvSpPr>
            <p:cNvPr id="12320" name="Rectangle 93">
              <a:extLst>
                <a:ext uri="{FF2B5EF4-FFF2-40B4-BE49-F238E27FC236}">
                  <a16:creationId xmlns:a16="http://schemas.microsoft.com/office/drawing/2014/main" id="{B0228E5D-1690-1E6F-6F4E-9138D54AE329}"/>
                </a:ext>
              </a:extLst>
            </p:cNvPr>
            <p:cNvSpPr>
              <a:spLocks noChangeArrowheads="1"/>
            </p:cNvSpPr>
            <p:nvPr/>
          </p:nvSpPr>
          <p:spPr bwMode="auto">
            <a:xfrm>
              <a:off x="1612" y="3032"/>
              <a:ext cx="42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21" name="Rectangle 94">
              <a:extLst>
                <a:ext uri="{FF2B5EF4-FFF2-40B4-BE49-F238E27FC236}">
                  <a16:creationId xmlns:a16="http://schemas.microsoft.com/office/drawing/2014/main" id="{582DDA1B-FD2C-A46C-A308-D14F6CDB9800}"/>
                </a:ext>
              </a:extLst>
            </p:cNvPr>
            <p:cNvSpPr>
              <a:spLocks noChangeArrowheads="1"/>
            </p:cNvSpPr>
            <p:nvPr/>
          </p:nvSpPr>
          <p:spPr bwMode="auto">
            <a:xfrm>
              <a:off x="303" y="3032"/>
              <a:ext cx="130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predicted next inst.</a:t>
              </a:r>
            </a:p>
          </p:txBody>
        </p:sp>
        <p:sp>
          <p:nvSpPr>
            <p:cNvPr id="12322" name="Rectangle 95">
              <a:extLst>
                <a:ext uri="{FF2B5EF4-FFF2-40B4-BE49-F238E27FC236}">
                  <a16:creationId xmlns:a16="http://schemas.microsoft.com/office/drawing/2014/main" id="{6FE89112-BFD5-90E3-084B-E21D3A0BDE7F}"/>
                </a:ext>
              </a:extLst>
            </p:cNvPr>
            <p:cNvSpPr>
              <a:spLocks noChangeArrowheads="1"/>
            </p:cNvSpPr>
            <p:nvPr/>
          </p:nvSpPr>
          <p:spPr bwMode="auto">
            <a:xfrm>
              <a:off x="4909" y="2811"/>
              <a:ext cx="48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23" name="Rectangle 96">
              <a:extLst>
                <a:ext uri="{FF2B5EF4-FFF2-40B4-BE49-F238E27FC236}">
                  <a16:creationId xmlns:a16="http://schemas.microsoft.com/office/drawing/2014/main" id="{296E1EEF-2CC1-4DDE-0C8E-93C288CCF32E}"/>
                </a:ext>
              </a:extLst>
            </p:cNvPr>
            <p:cNvSpPr>
              <a:spLocks noChangeArrowheads="1"/>
            </p:cNvSpPr>
            <p:nvPr/>
          </p:nvSpPr>
          <p:spPr bwMode="auto">
            <a:xfrm>
              <a:off x="4412" y="2811"/>
              <a:ext cx="49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24" name="Rectangle 97">
              <a:extLst>
                <a:ext uri="{FF2B5EF4-FFF2-40B4-BE49-F238E27FC236}">
                  <a16:creationId xmlns:a16="http://schemas.microsoft.com/office/drawing/2014/main" id="{2E2EA046-261D-48D4-BA69-1374C2E2102F}"/>
                </a:ext>
              </a:extLst>
            </p:cNvPr>
            <p:cNvSpPr>
              <a:spLocks noChangeArrowheads="1"/>
            </p:cNvSpPr>
            <p:nvPr/>
          </p:nvSpPr>
          <p:spPr bwMode="auto">
            <a:xfrm>
              <a:off x="3964" y="2811"/>
              <a:ext cx="44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325" name="Rectangle 98">
              <a:extLst>
                <a:ext uri="{FF2B5EF4-FFF2-40B4-BE49-F238E27FC236}">
                  <a16:creationId xmlns:a16="http://schemas.microsoft.com/office/drawing/2014/main" id="{1C59DFEE-E98C-9653-A769-4531A0D661CA}"/>
                </a:ext>
              </a:extLst>
            </p:cNvPr>
            <p:cNvSpPr>
              <a:spLocks noChangeArrowheads="1"/>
            </p:cNvSpPr>
            <p:nvPr/>
          </p:nvSpPr>
          <p:spPr bwMode="auto">
            <a:xfrm>
              <a:off x="3479" y="2811"/>
              <a:ext cx="48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WB</a:t>
              </a:r>
            </a:p>
          </p:txBody>
        </p:sp>
        <p:sp>
          <p:nvSpPr>
            <p:cNvPr id="12326" name="Rectangle 99">
              <a:extLst>
                <a:ext uri="{FF2B5EF4-FFF2-40B4-BE49-F238E27FC236}">
                  <a16:creationId xmlns:a16="http://schemas.microsoft.com/office/drawing/2014/main" id="{FB430466-F15E-D11D-37B8-67D074FB0F3E}"/>
                </a:ext>
              </a:extLst>
            </p:cNvPr>
            <p:cNvSpPr>
              <a:spLocks noChangeArrowheads="1"/>
            </p:cNvSpPr>
            <p:nvPr/>
          </p:nvSpPr>
          <p:spPr bwMode="auto">
            <a:xfrm>
              <a:off x="2982" y="2811"/>
              <a:ext cx="49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MEM</a:t>
              </a:r>
            </a:p>
          </p:txBody>
        </p:sp>
        <p:sp>
          <p:nvSpPr>
            <p:cNvPr id="12327" name="Rectangle 100">
              <a:extLst>
                <a:ext uri="{FF2B5EF4-FFF2-40B4-BE49-F238E27FC236}">
                  <a16:creationId xmlns:a16="http://schemas.microsoft.com/office/drawing/2014/main" id="{9837A6E2-7860-CD3A-2EA7-172F8E281963}"/>
                </a:ext>
              </a:extLst>
            </p:cNvPr>
            <p:cNvSpPr>
              <a:spLocks noChangeArrowheads="1"/>
            </p:cNvSpPr>
            <p:nvPr/>
          </p:nvSpPr>
          <p:spPr bwMode="auto">
            <a:xfrm>
              <a:off x="2497" y="2811"/>
              <a:ext cx="48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EX</a:t>
              </a:r>
            </a:p>
          </p:txBody>
        </p:sp>
        <p:sp>
          <p:nvSpPr>
            <p:cNvPr id="12328" name="Rectangle 101">
              <a:extLst>
                <a:ext uri="{FF2B5EF4-FFF2-40B4-BE49-F238E27FC236}">
                  <a16:creationId xmlns:a16="http://schemas.microsoft.com/office/drawing/2014/main" id="{8D39FE5B-7117-795A-52F1-A6DCF7C5D2FA}"/>
                </a:ext>
              </a:extLst>
            </p:cNvPr>
            <p:cNvSpPr>
              <a:spLocks noChangeArrowheads="1"/>
            </p:cNvSpPr>
            <p:nvPr/>
          </p:nvSpPr>
          <p:spPr bwMode="auto">
            <a:xfrm>
              <a:off x="2037" y="2811"/>
              <a:ext cx="46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ID</a:t>
              </a:r>
            </a:p>
          </p:txBody>
        </p:sp>
        <p:sp>
          <p:nvSpPr>
            <p:cNvPr id="12329" name="Rectangle 102">
              <a:extLst>
                <a:ext uri="{FF2B5EF4-FFF2-40B4-BE49-F238E27FC236}">
                  <a16:creationId xmlns:a16="http://schemas.microsoft.com/office/drawing/2014/main" id="{9094B02F-7848-B08E-AD62-5F996674F052}"/>
                </a:ext>
              </a:extLst>
            </p:cNvPr>
            <p:cNvSpPr>
              <a:spLocks noChangeArrowheads="1"/>
            </p:cNvSpPr>
            <p:nvPr/>
          </p:nvSpPr>
          <p:spPr bwMode="auto">
            <a:xfrm>
              <a:off x="1612" y="2811"/>
              <a:ext cx="42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IF</a:t>
              </a:r>
            </a:p>
          </p:txBody>
        </p:sp>
        <p:sp>
          <p:nvSpPr>
            <p:cNvPr id="12330" name="Rectangle 103">
              <a:extLst>
                <a:ext uri="{FF2B5EF4-FFF2-40B4-BE49-F238E27FC236}">
                  <a16:creationId xmlns:a16="http://schemas.microsoft.com/office/drawing/2014/main" id="{C12758CA-D4F2-66C8-62E8-73484E17057F}"/>
                </a:ext>
              </a:extLst>
            </p:cNvPr>
            <p:cNvSpPr>
              <a:spLocks noChangeArrowheads="1"/>
            </p:cNvSpPr>
            <p:nvPr/>
          </p:nvSpPr>
          <p:spPr bwMode="auto">
            <a:xfrm>
              <a:off x="303" y="2811"/>
              <a:ext cx="1309"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taken branch</a:t>
              </a:r>
            </a:p>
          </p:txBody>
        </p:sp>
        <p:sp>
          <p:nvSpPr>
            <p:cNvPr id="12331" name="Rectangle 104">
              <a:extLst>
                <a:ext uri="{FF2B5EF4-FFF2-40B4-BE49-F238E27FC236}">
                  <a16:creationId xmlns:a16="http://schemas.microsoft.com/office/drawing/2014/main" id="{945679A5-5609-30FF-5D27-5A459E15CA06}"/>
                </a:ext>
              </a:extLst>
            </p:cNvPr>
            <p:cNvSpPr>
              <a:spLocks noChangeArrowheads="1"/>
            </p:cNvSpPr>
            <p:nvPr/>
          </p:nvSpPr>
          <p:spPr bwMode="auto">
            <a:xfrm>
              <a:off x="4909" y="2600"/>
              <a:ext cx="48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8</a:t>
              </a:r>
            </a:p>
          </p:txBody>
        </p:sp>
        <p:sp>
          <p:nvSpPr>
            <p:cNvPr id="12332" name="Rectangle 105">
              <a:extLst>
                <a:ext uri="{FF2B5EF4-FFF2-40B4-BE49-F238E27FC236}">
                  <a16:creationId xmlns:a16="http://schemas.microsoft.com/office/drawing/2014/main" id="{CCBC34C2-EE1C-360A-654F-ADFD0D18B485}"/>
                </a:ext>
              </a:extLst>
            </p:cNvPr>
            <p:cNvSpPr>
              <a:spLocks noChangeArrowheads="1"/>
            </p:cNvSpPr>
            <p:nvPr/>
          </p:nvSpPr>
          <p:spPr bwMode="auto">
            <a:xfrm>
              <a:off x="4412" y="2600"/>
              <a:ext cx="4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7</a:t>
              </a:r>
            </a:p>
          </p:txBody>
        </p:sp>
        <p:sp>
          <p:nvSpPr>
            <p:cNvPr id="12333" name="Rectangle 106">
              <a:extLst>
                <a:ext uri="{FF2B5EF4-FFF2-40B4-BE49-F238E27FC236}">
                  <a16:creationId xmlns:a16="http://schemas.microsoft.com/office/drawing/2014/main" id="{1BD14760-D1F6-4B9A-38B7-6224F4F78A50}"/>
                </a:ext>
              </a:extLst>
            </p:cNvPr>
            <p:cNvSpPr>
              <a:spLocks noChangeArrowheads="1"/>
            </p:cNvSpPr>
            <p:nvPr/>
          </p:nvSpPr>
          <p:spPr bwMode="auto">
            <a:xfrm>
              <a:off x="3964" y="2600"/>
              <a:ext cx="44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6</a:t>
              </a:r>
            </a:p>
          </p:txBody>
        </p:sp>
        <p:sp>
          <p:nvSpPr>
            <p:cNvPr id="12334" name="Rectangle 107">
              <a:extLst>
                <a:ext uri="{FF2B5EF4-FFF2-40B4-BE49-F238E27FC236}">
                  <a16:creationId xmlns:a16="http://schemas.microsoft.com/office/drawing/2014/main" id="{855A3010-10CA-12BB-3463-F08E6F40AB7F}"/>
                </a:ext>
              </a:extLst>
            </p:cNvPr>
            <p:cNvSpPr>
              <a:spLocks noChangeArrowheads="1"/>
            </p:cNvSpPr>
            <p:nvPr/>
          </p:nvSpPr>
          <p:spPr bwMode="auto">
            <a:xfrm>
              <a:off x="3479" y="2600"/>
              <a:ext cx="48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5</a:t>
              </a:r>
            </a:p>
          </p:txBody>
        </p:sp>
        <p:sp>
          <p:nvSpPr>
            <p:cNvPr id="12335" name="Rectangle 108">
              <a:extLst>
                <a:ext uri="{FF2B5EF4-FFF2-40B4-BE49-F238E27FC236}">
                  <a16:creationId xmlns:a16="http://schemas.microsoft.com/office/drawing/2014/main" id="{88CFBA9D-B992-280A-C14D-D838786C433D}"/>
                </a:ext>
              </a:extLst>
            </p:cNvPr>
            <p:cNvSpPr>
              <a:spLocks noChangeArrowheads="1"/>
            </p:cNvSpPr>
            <p:nvPr/>
          </p:nvSpPr>
          <p:spPr bwMode="auto">
            <a:xfrm>
              <a:off x="2982" y="2600"/>
              <a:ext cx="4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4</a:t>
              </a:r>
            </a:p>
          </p:txBody>
        </p:sp>
        <p:sp>
          <p:nvSpPr>
            <p:cNvPr id="12336" name="Rectangle 109">
              <a:extLst>
                <a:ext uri="{FF2B5EF4-FFF2-40B4-BE49-F238E27FC236}">
                  <a16:creationId xmlns:a16="http://schemas.microsoft.com/office/drawing/2014/main" id="{54FCF43C-A820-7C03-7194-3BAAA85A06CC}"/>
                </a:ext>
              </a:extLst>
            </p:cNvPr>
            <p:cNvSpPr>
              <a:spLocks noChangeArrowheads="1"/>
            </p:cNvSpPr>
            <p:nvPr/>
          </p:nvSpPr>
          <p:spPr bwMode="auto">
            <a:xfrm>
              <a:off x="2497" y="2600"/>
              <a:ext cx="48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3</a:t>
              </a:r>
            </a:p>
          </p:txBody>
        </p:sp>
        <p:sp>
          <p:nvSpPr>
            <p:cNvPr id="12337" name="Rectangle 110">
              <a:extLst>
                <a:ext uri="{FF2B5EF4-FFF2-40B4-BE49-F238E27FC236}">
                  <a16:creationId xmlns:a16="http://schemas.microsoft.com/office/drawing/2014/main" id="{FF17BBBC-09B3-08D2-02B9-7D9A3DF35F43}"/>
                </a:ext>
              </a:extLst>
            </p:cNvPr>
            <p:cNvSpPr>
              <a:spLocks noChangeArrowheads="1"/>
            </p:cNvSpPr>
            <p:nvPr/>
          </p:nvSpPr>
          <p:spPr bwMode="auto">
            <a:xfrm>
              <a:off x="2037" y="2600"/>
              <a:ext cx="46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2</a:t>
              </a:r>
            </a:p>
          </p:txBody>
        </p:sp>
        <p:sp>
          <p:nvSpPr>
            <p:cNvPr id="12338" name="Rectangle 111">
              <a:extLst>
                <a:ext uri="{FF2B5EF4-FFF2-40B4-BE49-F238E27FC236}">
                  <a16:creationId xmlns:a16="http://schemas.microsoft.com/office/drawing/2014/main" id="{6D0BA3F0-2484-72C1-F0C4-29EBAFA00EC3}"/>
                </a:ext>
              </a:extLst>
            </p:cNvPr>
            <p:cNvSpPr>
              <a:spLocks noChangeArrowheads="1"/>
            </p:cNvSpPr>
            <p:nvPr/>
          </p:nvSpPr>
          <p:spPr bwMode="auto">
            <a:xfrm>
              <a:off x="1612" y="2600"/>
              <a:ext cx="42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1</a:t>
              </a:r>
            </a:p>
          </p:txBody>
        </p:sp>
        <p:sp>
          <p:nvSpPr>
            <p:cNvPr id="12339" name="Rectangle 112">
              <a:extLst>
                <a:ext uri="{FF2B5EF4-FFF2-40B4-BE49-F238E27FC236}">
                  <a16:creationId xmlns:a16="http://schemas.microsoft.com/office/drawing/2014/main" id="{1B8DD19E-4E2B-2F60-BF53-DC0D8337030A}"/>
                </a:ext>
              </a:extLst>
            </p:cNvPr>
            <p:cNvSpPr>
              <a:spLocks noChangeArrowheads="1"/>
            </p:cNvSpPr>
            <p:nvPr/>
          </p:nvSpPr>
          <p:spPr bwMode="auto">
            <a:xfrm>
              <a:off x="1612" y="2376"/>
              <a:ext cx="378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spcBef>
                  <a:spcPts val="400"/>
                </a:spcBef>
                <a:buFont typeface="Comic Sans MS" panose="030F0902030302020204" pitchFamily="66" charset="0"/>
                <a:buNone/>
              </a:pPr>
              <a:r>
                <a:rPr lang="en-GB" altLang="en-US" sz="1600">
                  <a:solidFill>
                    <a:srgbClr val="000000"/>
                  </a:solidFill>
                  <a:latin typeface="Comic Sans MS" panose="030F0902030302020204" pitchFamily="66" charset="0"/>
                </a:rPr>
                <a:t>Clock Number</a:t>
              </a:r>
            </a:p>
          </p:txBody>
        </p:sp>
        <p:sp>
          <p:nvSpPr>
            <p:cNvPr id="12340" name="Rectangle 113">
              <a:extLst>
                <a:ext uri="{FF2B5EF4-FFF2-40B4-BE49-F238E27FC236}">
                  <a16:creationId xmlns:a16="http://schemas.microsoft.com/office/drawing/2014/main" id="{57624F40-6872-0729-5F45-BD1E54211351}"/>
                </a:ext>
              </a:extLst>
            </p:cNvPr>
            <p:cNvSpPr>
              <a:spLocks noChangeArrowheads="1"/>
            </p:cNvSpPr>
            <p:nvPr/>
          </p:nvSpPr>
          <p:spPr bwMode="auto">
            <a:xfrm>
              <a:off x="303" y="2376"/>
              <a:ext cx="1309"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latin typeface="Comic Sans MS" panose="030F0902030302020204" pitchFamily="66" charset="0"/>
                </a:rPr>
                <a:t>Incorrect</a:t>
              </a:r>
              <a:r>
                <a:rPr lang="en-GB" altLang="en-US" sz="1600">
                  <a:solidFill>
                    <a:srgbClr val="000000"/>
                  </a:solidFill>
                  <a:latin typeface="Comic Sans MS" panose="030F0902030302020204" pitchFamily="66" charset="0"/>
                </a:rPr>
                <a:t> Prediction</a:t>
              </a:r>
            </a:p>
          </p:txBody>
        </p:sp>
        <p:sp>
          <p:nvSpPr>
            <p:cNvPr id="12341" name="Line 114">
              <a:extLst>
                <a:ext uri="{FF2B5EF4-FFF2-40B4-BE49-F238E27FC236}">
                  <a16:creationId xmlns:a16="http://schemas.microsoft.com/office/drawing/2014/main" id="{5E70D338-A898-EB69-273E-C0E5DC884A01}"/>
                </a:ext>
              </a:extLst>
            </p:cNvPr>
            <p:cNvSpPr>
              <a:spLocks noChangeShapeType="1"/>
            </p:cNvSpPr>
            <p:nvPr/>
          </p:nvSpPr>
          <p:spPr bwMode="auto">
            <a:xfrm>
              <a:off x="303" y="2376"/>
              <a:ext cx="5093"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42" name="Line 115">
              <a:extLst>
                <a:ext uri="{FF2B5EF4-FFF2-40B4-BE49-F238E27FC236}">
                  <a16:creationId xmlns:a16="http://schemas.microsoft.com/office/drawing/2014/main" id="{33FFC78D-97C5-95A9-B3ED-CEAA0255F4AE}"/>
                </a:ext>
              </a:extLst>
            </p:cNvPr>
            <p:cNvSpPr>
              <a:spLocks noChangeShapeType="1"/>
            </p:cNvSpPr>
            <p:nvPr/>
          </p:nvSpPr>
          <p:spPr bwMode="auto">
            <a:xfrm>
              <a:off x="303" y="2811"/>
              <a:ext cx="5093"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43" name="Line 116">
              <a:extLst>
                <a:ext uri="{FF2B5EF4-FFF2-40B4-BE49-F238E27FC236}">
                  <a16:creationId xmlns:a16="http://schemas.microsoft.com/office/drawing/2014/main" id="{D719F5F2-F3AC-3763-68CC-3F7C3B6ADE96}"/>
                </a:ext>
              </a:extLst>
            </p:cNvPr>
            <p:cNvSpPr>
              <a:spLocks noChangeShapeType="1"/>
            </p:cNvSpPr>
            <p:nvPr/>
          </p:nvSpPr>
          <p:spPr bwMode="auto">
            <a:xfrm>
              <a:off x="303" y="3032"/>
              <a:ext cx="5093"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44" name="Line 117">
              <a:extLst>
                <a:ext uri="{FF2B5EF4-FFF2-40B4-BE49-F238E27FC236}">
                  <a16:creationId xmlns:a16="http://schemas.microsoft.com/office/drawing/2014/main" id="{F2830E94-2141-F481-573C-9A94A08C97E4}"/>
                </a:ext>
              </a:extLst>
            </p:cNvPr>
            <p:cNvSpPr>
              <a:spLocks noChangeShapeType="1"/>
            </p:cNvSpPr>
            <p:nvPr/>
          </p:nvSpPr>
          <p:spPr bwMode="auto">
            <a:xfrm>
              <a:off x="303" y="3243"/>
              <a:ext cx="5093"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45" name="Line 118">
              <a:extLst>
                <a:ext uri="{FF2B5EF4-FFF2-40B4-BE49-F238E27FC236}">
                  <a16:creationId xmlns:a16="http://schemas.microsoft.com/office/drawing/2014/main" id="{5A406667-2069-265A-3B99-E0F6A1CA4B27}"/>
                </a:ext>
              </a:extLst>
            </p:cNvPr>
            <p:cNvSpPr>
              <a:spLocks noChangeShapeType="1"/>
            </p:cNvSpPr>
            <p:nvPr/>
          </p:nvSpPr>
          <p:spPr bwMode="auto">
            <a:xfrm>
              <a:off x="303" y="3464"/>
              <a:ext cx="5093"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46" name="Line 119">
              <a:extLst>
                <a:ext uri="{FF2B5EF4-FFF2-40B4-BE49-F238E27FC236}">
                  <a16:creationId xmlns:a16="http://schemas.microsoft.com/office/drawing/2014/main" id="{EAC1F0AD-02F4-3D1E-9284-AB12B3F5E32B}"/>
                </a:ext>
              </a:extLst>
            </p:cNvPr>
            <p:cNvSpPr>
              <a:spLocks noChangeShapeType="1"/>
            </p:cNvSpPr>
            <p:nvPr/>
          </p:nvSpPr>
          <p:spPr bwMode="auto">
            <a:xfrm>
              <a:off x="303" y="3704"/>
              <a:ext cx="5093"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47" name="Line 120">
              <a:extLst>
                <a:ext uri="{FF2B5EF4-FFF2-40B4-BE49-F238E27FC236}">
                  <a16:creationId xmlns:a16="http://schemas.microsoft.com/office/drawing/2014/main" id="{F8A414F5-73C1-A40F-F072-74819DAD477A}"/>
                </a:ext>
              </a:extLst>
            </p:cNvPr>
            <p:cNvSpPr>
              <a:spLocks noChangeShapeType="1"/>
            </p:cNvSpPr>
            <p:nvPr/>
          </p:nvSpPr>
          <p:spPr bwMode="auto">
            <a:xfrm>
              <a:off x="303" y="2376"/>
              <a:ext cx="1" cy="1328"/>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48" name="Line 121">
              <a:extLst>
                <a:ext uri="{FF2B5EF4-FFF2-40B4-BE49-F238E27FC236}">
                  <a16:creationId xmlns:a16="http://schemas.microsoft.com/office/drawing/2014/main" id="{794F6BC1-468A-7092-1EA9-BA3E4926A296}"/>
                </a:ext>
              </a:extLst>
            </p:cNvPr>
            <p:cNvSpPr>
              <a:spLocks noChangeShapeType="1"/>
            </p:cNvSpPr>
            <p:nvPr/>
          </p:nvSpPr>
          <p:spPr bwMode="auto">
            <a:xfrm>
              <a:off x="1612" y="2376"/>
              <a:ext cx="1" cy="132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49" name="Line 122">
              <a:extLst>
                <a:ext uri="{FF2B5EF4-FFF2-40B4-BE49-F238E27FC236}">
                  <a16:creationId xmlns:a16="http://schemas.microsoft.com/office/drawing/2014/main" id="{C2F700BC-182B-B196-17CB-190665C77078}"/>
                </a:ext>
              </a:extLst>
            </p:cNvPr>
            <p:cNvSpPr>
              <a:spLocks noChangeShapeType="1"/>
            </p:cNvSpPr>
            <p:nvPr/>
          </p:nvSpPr>
          <p:spPr bwMode="auto">
            <a:xfrm>
              <a:off x="5396" y="2376"/>
              <a:ext cx="1" cy="1328"/>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50" name="Line 123">
              <a:extLst>
                <a:ext uri="{FF2B5EF4-FFF2-40B4-BE49-F238E27FC236}">
                  <a16:creationId xmlns:a16="http://schemas.microsoft.com/office/drawing/2014/main" id="{1B939FAB-AA68-048E-CE5B-2E7744FD5F21}"/>
                </a:ext>
              </a:extLst>
            </p:cNvPr>
            <p:cNvSpPr>
              <a:spLocks noChangeShapeType="1"/>
            </p:cNvSpPr>
            <p:nvPr/>
          </p:nvSpPr>
          <p:spPr bwMode="auto">
            <a:xfrm>
              <a:off x="2037" y="2600"/>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51" name="Line 124">
              <a:extLst>
                <a:ext uri="{FF2B5EF4-FFF2-40B4-BE49-F238E27FC236}">
                  <a16:creationId xmlns:a16="http://schemas.microsoft.com/office/drawing/2014/main" id="{6A78FD2C-8D7C-AD4A-B00D-7142B127A62D}"/>
                </a:ext>
              </a:extLst>
            </p:cNvPr>
            <p:cNvSpPr>
              <a:spLocks noChangeShapeType="1"/>
            </p:cNvSpPr>
            <p:nvPr/>
          </p:nvSpPr>
          <p:spPr bwMode="auto">
            <a:xfrm>
              <a:off x="2497" y="2600"/>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52" name="Line 125">
              <a:extLst>
                <a:ext uri="{FF2B5EF4-FFF2-40B4-BE49-F238E27FC236}">
                  <a16:creationId xmlns:a16="http://schemas.microsoft.com/office/drawing/2014/main" id="{E90453B2-F4B2-7948-2A55-C0E9C06AF7AC}"/>
                </a:ext>
              </a:extLst>
            </p:cNvPr>
            <p:cNvSpPr>
              <a:spLocks noChangeShapeType="1"/>
            </p:cNvSpPr>
            <p:nvPr/>
          </p:nvSpPr>
          <p:spPr bwMode="auto">
            <a:xfrm>
              <a:off x="2982" y="2600"/>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53" name="Line 126">
              <a:extLst>
                <a:ext uri="{FF2B5EF4-FFF2-40B4-BE49-F238E27FC236}">
                  <a16:creationId xmlns:a16="http://schemas.microsoft.com/office/drawing/2014/main" id="{325C1C90-497A-0BF2-593D-DF89F2801747}"/>
                </a:ext>
              </a:extLst>
            </p:cNvPr>
            <p:cNvSpPr>
              <a:spLocks noChangeShapeType="1"/>
            </p:cNvSpPr>
            <p:nvPr/>
          </p:nvSpPr>
          <p:spPr bwMode="auto">
            <a:xfrm>
              <a:off x="3479" y="2600"/>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54" name="Line 127">
              <a:extLst>
                <a:ext uri="{FF2B5EF4-FFF2-40B4-BE49-F238E27FC236}">
                  <a16:creationId xmlns:a16="http://schemas.microsoft.com/office/drawing/2014/main" id="{7626129B-8075-D7F9-FFC0-2379B75CFA30}"/>
                </a:ext>
              </a:extLst>
            </p:cNvPr>
            <p:cNvSpPr>
              <a:spLocks noChangeShapeType="1"/>
            </p:cNvSpPr>
            <p:nvPr/>
          </p:nvSpPr>
          <p:spPr bwMode="auto">
            <a:xfrm>
              <a:off x="3964" y="2600"/>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55" name="Line 128">
              <a:extLst>
                <a:ext uri="{FF2B5EF4-FFF2-40B4-BE49-F238E27FC236}">
                  <a16:creationId xmlns:a16="http://schemas.microsoft.com/office/drawing/2014/main" id="{0098993F-FD6F-517E-B783-E8E26F38F38F}"/>
                </a:ext>
              </a:extLst>
            </p:cNvPr>
            <p:cNvSpPr>
              <a:spLocks noChangeShapeType="1"/>
            </p:cNvSpPr>
            <p:nvPr/>
          </p:nvSpPr>
          <p:spPr bwMode="auto">
            <a:xfrm>
              <a:off x="4412" y="2600"/>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56" name="Line 129">
              <a:extLst>
                <a:ext uri="{FF2B5EF4-FFF2-40B4-BE49-F238E27FC236}">
                  <a16:creationId xmlns:a16="http://schemas.microsoft.com/office/drawing/2014/main" id="{BC7AA050-922E-96DE-82C9-D151EA7B7D9D}"/>
                </a:ext>
              </a:extLst>
            </p:cNvPr>
            <p:cNvSpPr>
              <a:spLocks noChangeShapeType="1"/>
            </p:cNvSpPr>
            <p:nvPr/>
          </p:nvSpPr>
          <p:spPr bwMode="auto">
            <a:xfrm>
              <a:off x="4909" y="2600"/>
              <a:ext cx="1" cy="1104"/>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2357" name="Line 130">
              <a:extLst>
                <a:ext uri="{FF2B5EF4-FFF2-40B4-BE49-F238E27FC236}">
                  <a16:creationId xmlns:a16="http://schemas.microsoft.com/office/drawing/2014/main" id="{192EA373-D993-8157-9867-660317213FFC}"/>
                </a:ext>
              </a:extLst>
            </p:cNvPr>
            <p:cNvSpPr>
              <a:spLocks noChangeShapeType="1"/>
            </p:cNvSpPr>
            <p:nvPr/>
          </p:nvSpPr>
          <p:spPr bwMode="auto">
            <a:xfrm>
              <a:off x="1612" y="2600"/>
              <a:ext cx="3784"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12294" name="Slide Number Placeholder 135">
            <a:extLst>
              <a:ext uri="{FF2B5EF4-FFF2-40B4-BE49-F238E27FC236}">
                <a16:creationId xmlns:a16="http://schemas.microsoft.com/office/drawing/2014/main" id="{24A7D2A9-5729-D1A8-09DE-489895D866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830459E7-928F-BC4A-8498-872A4AAA52CF}" type="slidenum">
              <a:rPr lang="en-GB" altLang="en-US" sz="1400">
                <a:solidFill>
                  <a:srgbClr val="000000"/>
                </a:solidFill>
                <a:latin typeface="Arial  " charset="0"/>
              </a:rPr>
              <a:pPr/>
              <a:t>8</a:t>
            </a:fld>
            <a:r>
              <a:rPr lang="en-GB" altLang="en-US" sz="1400">
                <a:solidFill>
                  <a:srgbClr val="000000"/>
                </a:solidFill>
                <a:latin typeface="Arial  " charset="0"/>
              </a:rPr>
              <a:t> </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a:extLst>
              <a:ext uri="{FF2B5EF4-FFF2-40B4-BE49-F238E27FC236}">
                <a16:creationId xmlns:a16="http://schemas.microsoft.com/office/drawing/2014/main" id="{F0FC437C-0FC1-DD96-0D11-611BCD8BC364}"/>
              </a:ext>
            </a:extLst>
          </p:cNvPr>
          <p:cNvSpPr>
            <a:spLocks noGrp="1" noChangeArrowheads="1"/>
          </p:cNvSpPr>
          <p:nvPr>
            <p:ph type="title"/>
          </p:nvPr>
        </p:nvSpPr>
        <p:spPr>
          <a:xfrm>
            <a:off x="952500" y="0"/>
            <a:ext cx="7505700" cy="733425"/>
          </a:xfrm>
        </p:spPr>
        <p:txBody>
          <a:bodyPr/>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latin typeface="Arial  " charset="0"/>
                <a:cs typeface="Arial  " charset="0"/>
              </a:rPr>
              <a:t>Effect of Deeper Pipelining</a:t>
            </a:r>
          </a:p>
        </p:txBody>
      </p:sp>
      <p:sp>
        <p:nvSpPr>
          <p:cNvPr id="13315" name="Rectangle 2">
            <a:extLst>
              <a:ext uri="{FF2B5EF4-FFF2-40B4-BE49-F238E27FC236}">
                <a16:creationId xmlns:a16="http://schemas.microsoft.com/office/drawing/2014/main" id="{272216F1-12B8-B015-F8E1-4B1AA6F47C9B}"/>
              </a:ext>
            </a:extLst>
          </p:cNvPr>
          <p:cNvSpPr>
            <a:spLocks noGrp="1" noChangeArrowheads="1"/>
          </p:cNvSpPr>
          <p:nvPr>
            <p:ph type="body" idx="1"/>
          </p:nvPr>
        </p:nvSpPr>
        <p:spPr>
          <a:xfrm>
            <a:off x="322263" y="4854575"/>
            <a:ext cx="8628062" cy="1752600"/>
          </a:xfrm>
        </p:spPr>
        <p:txBody>
          <a:bodyPr lIns="0" tIns="0" rIns="0" bIns="0"/>
          <a:lstStyle/>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sz="1800" dirty="0">
                <a:latin typeface="Arial  " charset="0"/>
                <a:cs typeface="Arial  " charset="0"/>
              </a:rPr>
              <a:t>Waiting for branch to be executed incurs large penalty (related to number of pipeline stages between fetch and execute). If we correctly predict branch outcome, this penalty is “hidden”.</a:t>
            </a:r>
          </a:p>
          <a:p>
            <a:pPr eaLnBrk="1" hangingPunct="1">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sz="1800" dirty="0">
                <a:latin typeface="Arial  " charset="0"/>
                <a:cs typeface="Arial  " charset="0"/>
              </a:rPr>
              <a:t>If branch prediction is wrong, we still pay the large penalty.  Thus, important to build predictors that </a:t>
            </a:r>
            <a:r>
              <a:rPr lang="en-GB" altLang="en-US" sz="1800" dirty="0" err="1">
                <a:latin typeface="Arial  " charset="0"/>
                <a:cs typeface="Arial  " charset="0"/>
              </a:rPr>
              <a:t>mispredict</a:t>
            </a:r>
            <a:r>
              <a:rPr lang="en-GB" altLang="en-US" sz="1800" dirty="0">
                <a:latin typeface="Arial  " charset="0"/>
                <a:cs typeface="Arial  " charset="0"/>
              </a:rPr>
              <a:t> rarely.</a:t>
            </a:r>
          </a:p>
        </p:txBody>
      </p:sp>
      <p:pic>
        <p:nvPicPr>
          <p:cNvPr id="13316" name="Picture 3">
            <a:extLst>
              <a:ext uri="{FF2B5EF4-FFF2-40B4-BE49-F238E27FC236}">
                <a16:creationId xmlns:a16="http://schemas.microsoft.com/office/drawing/2014/main" id="{C74900E9-E874-2101-67A5-A6B1BC2B5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063" y="1565275"/>
            <a:ext cx="7116762"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3317" name="Freeform 4">
            <a:extLst>
              <a:ext uri="{FF2B5EF4-FFF2-40B4-BE49-F238E27FC236}">
                <a16:creationId xmlns:a16="http://schemas.microsoft.com/office/drawing/2014/main" id="{49ACED10-87E3-272C-3187-CB9FCC0E6A3E}"/>
              </a:ext>
            </a:extLst>
          </p:cNvPr>
          <p:cNvSpPr>
            <a:spLocks/>
          </p:cNvSpPr>
          <p:nvPr/>
        </p:nvSpPr>
        <p:spPr bwMode="auto">
          <a:xfrm>
            <a:off x="6943725" y="1577975"/>
            <a:ext cx="336550" cy="2159000"/>
          </a:xfrm>
          <a:custGeom>
            <a:avLst/>
            <a:gdLst>
              <a:gd name="T0" fmla="*/ 0 w 212"/>
              <a:gd name="T1" fmla="*/ 2147483647 h 1360"/>
              <a:gd name="T2" fmla="*/ 2147483647 w 212"/>
              <a:gd name="T3" fmla="*/ 2147483647 h 1360"/>
              <a:gd name="T4" fmla="*/ 2147483647 w 212"/>
              <a:gd name="T5" fmla="*/ 2147483647 h 1360"/>
              <a:gd name="T6" fmla="*/ 2147483647 w 212"/>
              <a:gd name="T7" fmla="*/ 2147483647 h 1360"/>
              <a:gd name="T8" fmla="*/ 2147483647 w 212"/>
              <a:gd name="T9" fmla="*/ 0 h 1360"/>
              <a:gd name="T10" fmla="*/ 0 60000 65536"/>
              <a:gd name="T11" fmla="*/ 0 60000 65536"/>
              <a:gd name="T12" fmla="*/ 0 60000 65536"/>
              <a:gd name="T13" fmla="*/ 0 60000 65536"/>
              <a:gd name="T14" fmla="*/ 0 60000 65536"/>
              <a:gd name="T15" fmla="*/ 0 w 212"/>
              <a:gd name="T16" fmla="*/ 0 h 1360"/>
              <a:gd name="T17" fmla="*/ 212 w 212"/>
              <a:gd name="T18" fmla="*/ 1360 h 1360"/>
            </a:gdLst>
            <a:ahLst/>
            <a:cxnLst>
              <a:cxn ang="T10">
                <a:pos x="T0" y="T1"/>
              </a:cxn>
              <a:cxn ang="T11">
                <a:pos x="T2" y="T3"/>
              </a:cxn>
              <a:cxn ang="T12">
                <a:pos x="T4" y="T5"/>
              </a:cxn>
              <a:cxn ang="T13">
                <a:pos x="T6" y="T7"/>
              </a:cxn>
              <a:cxn ang="T14">
                <a:pos x="T8" y="T9"/>
              </a:cxn>
            </a:cxnLst>
            <a:rect l="T15" t="T16" r="T17" b="T18"/>
            <a:pathLst>
              <a:path w="212" h="1360">
                <a:moveTo>
                  <a:pt x="0" y="1360"/>
                </a:moveTo>
                <a:cubicBezTo>
                  <a:pt x="70" y="1254"/>
                  <a:pt x="141" y="1148"/>
                  <a:pt x="176" y="1016"/>
                </a:cubicBezTo>
                <a:cubicBezTo>
                  <a:pt x="211" y="884"/>
                  <a:pt x="212" y="697"/>
                  <a:pt x="208" y="568"/>
                </a:cubicBezTo>
                <a:cubicBezTo>
                  <a:pt x="204" y="439"/>
                  <a:pt x="185" y="335"/>
                  <a:pt x="152" y="240"/>
                </a:cubicBezTo>
                <a:cubicBezTo>
                  <a:pt x="119" y="145"/>
                  <a:pt x="63" y="72"/>
                  <a:pt x="8" y="0"/>
                </a:cubicBezTo>
              </a:path>
            </a:pathLst>
          </a:custGeom>
          <a:noFill/>
          <a:ln w="5724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18" name="Text Box 5">
            <a:extLst>
              <a:ext uri="{FF2B5EF4-FFF2-40B4-BE49-F238E27FC236}">
                <a16:creationId xmlns:a16="http://schemas.microsoft.com/office/drawing/2014/main" id="{5D7CD7CA-3012-5E38-BED3-6C958DD88F4A}"/>
              </a:ext>
            </a:extLst>
          </p:cNvPr>
          <p:cNvSpPr txBox="1">
            <a:spLocks noChangeArrowheads="1"/>
          </p:cNvSpPr>
          <p:nvPr/>
        </p:nvSpPr>
        <p:spPr bwMode="auto">
          <a:xfrm>
            <a:off x="7391400" y="1447800"/>
            <a:ext cx="1600200"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spcBef>
                <a:spcPts val="1500"/>
              </a:spcBef>
              <a:buClr>
                <a:srgbClr val="0000FF"/>
              </a:buClr>
              <a:buFont typeface="Comic Sans MS" panose="030F0902030302020204" pitchFamily="66" charset="0"/>
              <a:buNone/>
            </a:pPr>
            <a:r>
              <a:rPr lang="en-GB" altLang="en-US">
                <a:solidFill>
                  <a:srgbClr val="0000FF"/>
                </a:solidFill>
                <a:cs typeface="Arial" panose="020B0604020202020204" pitchFamily="34" charset="0"/>
              </a:rPr>
              <a:t>Large </a:t>
            </a:r>
            <a:r>
              <a:rPr lang="en-CA" altLang="en-US">
                <a:solidFill>
                  <a:srgbClr val="0000FF"/>
                </a:solidFill>
                <a:cs typeface="Arial" panose="020B0604020202020204" pitchFamily="34" charset="0"/>
              </a:rPr>
              <a:t>Penalty</a:t>
            </a:r>
            <a:r>
              <a:rPr lang="en-GB" altLang="en-US">
                <a:solidFill>
                  <a:srgbClr val="0000FF"/>
                </a:solidFill>
                <a:cs typeface="Arial" panose="020B0604020202020204" pitchFamily="34" charset="0"/>
              </a:rPr>
              <a:t> !!! </a:t>
            </a:r>
          </a:p>
        </p:txBody>
      </p:sp>
      <p:sp>
        <p:nvSpPr>
          <p:cNvPr id="13319" name="Text Box 6">
            <a:extLst>
              <a:ext uri="{FF2B5EF4-FFF2-40B4-BE49-F238E27FC236}">
                <a16:creationId xmlns:a16="http://schemas.microsoft.com/office/drawing/2014/main" id="{09538ECA-CCE5-8D0B-F91A-D04C34A9639E}"/>
              </a:ext>
            </a:extLst>
          </p:cNvPr>
          <p:cNvSpPr txBox="1">
            <a:spLocks noChangeArrowheads="1"/>
          </p:cNvSpPr>
          <p:nvPr/>
        </p:nvSpPr>
        <p:spPr bwMode="auto">
          <a:xfrm>
            <a:off x="4803775" y="817563"/>
            <a:ext cx="2974975"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0000FF"/>
              </a:buClr>
              <a:buFont typeface="Comic Sans MS" panose="030F0902030302020204" pitchFamily="66" charset="0"/>
              <a:buNone/>
            </a:pPr>
            <a:r>
              <a:rPr lang="en-GB" altLang="en-US" sz="2000">
                <a:solidFill>
                  <a:srgbClr val="0000FF"/>
                </a:solidFill>
                <a:cs typeface="Arial" panose="020B0604020202020204" pitchFamily="34" charset="0"/>
              </a:rPr>
              <a:t>“typical” modern pipeline</a:t>
            </a:r>
          </a:p>
          <a:p>
            <a:pPr>
              <a:lnSpc>
                <a:spcPct val="100000"/>
              </a:lnSpc>
              <a:buClr>
                <a:srgbClr val="0000FF"/>
              </a:buClr>
              <a:buFont typeface="Comic Sans MS" panose="030F0902030302020204" pitchFamily="66" charset="0"/>
              <a:buNone/>
            </a:pPr>
            <a:r>
              <a:rPr lang="en-GB" altLang="en-US" sz="2000">
                <a:solidFill>
                  <a:srgbClr val="0000FF"/>
                </a:solidFill>
                <a:cs typeface="Arial" panose="020B0604020202020204" pitchFamily="34" charset="0"/>
              </a:rPr>
              <a:t>(superpipelined stages)</a:t>
            </a:r>
          </a:p>
        </p:txBody>
      </p:sp>
      <p:sp>
        <p:nvSpPr>
          <p:cNvPr id="13320" name="Text Box 7">
            <a:extLst>
              <a:ext uri="{FF2B5EF4-FFF2-40B4-BE49-F238E27FC236}">
                <a16:creationId xmlns:a16="http://schemas.microsoft.com/office/drawing/2014/main" id="{8DAFAB9F-9C14-6A08-04D9-24663A533FD6}"/>
              </a:ext>
            </a:extLst>
          </p:cNvPr>
          <p:cNvSpPr txBox="1">
            <a:spLocks noChangeArrowheads="1"/>
          </p:cNvSpPr>
          <p:nvPr/>
        </p:nvSpPr>
        <p:spPr bwMode="auto">
          <a:xfrm>
            <a:off x="849313" y="1019175"/>
            <a:ext cx="25654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spcBef>
                <a:spcPts val="1250"/>
              </a:spcBef>
              <a:buClr>
                <a:srgbClr val="0000FF"/>
              </a:buClr>
              <a:buFont typeface="Comic Sans MS" panose="030F0902030302020204" pitchFamily="66" charset="0"/>
              <a:buNone/>
            </a:pPr>
            <a:r>
              <a:rPr lang="en-GB" altLang="en-US" sz="2000">
                <a:solidFill>
                  <a:srgbClr val="0000FF"/>
                </a:solidFill>
                <a:cs typeface="Arial" panose="020B0604020202020204" pitchFamily="34" charset="0"/>
              </a:rPr>
              <a:t>“textbook” pipeline</a:t>
            </a:r>
          </a:p>
        </p:txBody>
      </p:sp>
      <p:sp>
        <p:nvSpPr>
          <p:cNvPr id="13321" name="Rectangle 8">
            <a:extLst>
              <a:ext uri="{FF2B5EF4-FFF2-40B4-BE49-F238E27FC236}">
                <a16:creationId xmlns:a16="http://schemas.microsoft.com/office/drawing/2014/main" id="{6C44F0C0-5E1B-D61C-8DCA-D866FF50626C}"/>
              </a:ext>
            </a:extLst>
          </p:cNvPr>
          <p:cNvSpPr>
            <a:spLocks noChangeArrowheads="1"/>
          </p:cNvSpPr>
          <p:nvPr/>
        </p:nvSpPr>
        <p:spPr bwMode="auto">
          <a:xfrm>
            <a:off x="720725" y="1527175"/>
            <a:ext cx="495300" cy="1562100"/>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3322" name="Freeform 9">
            <a:extLst>
              <a:ext uri="{FF2B5EF4-FFF2-40B4-BE49-F238E27FC236}">
                <a16:creationId xmlns:a16="http://schemas.microsoft.com/office/drawing/2014/main" id="{FE9EEE2B-D525-01F4-5A0F-C427D312D715}"/>
              </a:ext>
            </a:extLst>
          </p:cNvPr>
          <p:cNvSpPr>
            <a:spLocks/>
          </p:cNvSpPr>
          <p:nvPr/>
        </p:nvSpPr>
        <p:spPr bwMode="auto">
          <a:xfrm>
            <a:off x="974725" y="2708275"/>
            <a:ext cx="254000" cy="381000"/>
          </a:xfrm>
          <a:custGeom>
            <a:avLst/>
            <a:gdLst>
              <a:gd name="T0" fmla="*/ 0 w 160"/>
              <a:gd name="T1" fmla="*/ 2147483647 h 240"/>
              <a:gd name="T2" fmla="*/ 2147483647 w 160"/>
              <a:gd name="T3" fmla="*/ 2147483647 h 240"/>
              <a:gd name="T4" fmla="*/ 2147483647 w 160"/>
              <a:gd name="T5" fmla="*/ 2147483647 h 240"/>
              <a:gd name="T6" fmla="*/ 2147483647 w 160"/>
              <a:gd name="T7" fmla="*/ 0 h 240"/>
              <a:gd name="T8" fmla="*/ 0 60000 65536"/>
              <a:gd name="T9" fmla="*/ 0 60000 65536"/>
              <a:gd name="T10" fmla="*/ 0 60000 65536"/>
              <a:gd name="T11" fmla="*/ 0 60000 65536"/>
              <a:gd name="T12" fmla="*/ 0 w 160"/>
              <a:gd name="T13" fmla="*/ 0 h 240"/>
              <a:gd name="T14" fmla="*/ 160 w 160"/>
              <a:gd name="T15" fmla="*/ 240 h 240"/>
            </a:gdLst>
            <a:ahLst/>
            <a:cxnLst>
              <a:cxn ang="T8">
                <a:pos x="T0" y="T1"/>
              </a:cxn>
              <a:cxn ang="T9">
                <a:pos x="T2" y="T3"/>
              </a:cxn>
              <a:cxn ang="T10">
                <a:pos x="T4" y="T5"/>
              </a:cxn>
              <a:cxn ang="T11">
                <a:pos x="T6" y="T7"/>
              </a:cxn>
            </a:cxnLst>
            <a:rect l="T12" t="T13" r="T14" b="T15"/>
            <a:pathLst>
              <a:path w="160" h="240">
                <a:moveTo>
                  <a:pt x="0" y="240"/>
                </a:moveTo>
                <a:cubicBezTo>
                  <a:pt x="0" y="211"/>
                  <a:pt x="0" y="183"/>
                  <a:pt x="8" y="152"/>
                </a:cubicBezTo>
                <a:cubicBezTo>
                  <a:pt x="16" y="121"/>
                  <a:pt x="23" y="81"/>
                  <a:pt x="48" y="56"/>
                </a:cubicBezTo>
                <a:cubicBezTo>
                  <a:pt x="73" y="31"/>
                  <a:pt x="116" y="15"/>
                  <a:pt x="160" y="0"/>
                </a:cubicBezTo>
              </a:path>
            </a:pathLst>
          </a:custGeom>
          <a:noFill/>
          <a:ln w="2844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23" name="Freeform 10">
            <a:extLst>
              <a:ext uri="{FF2B5EF4-FFF2-40B4-BE49-F238E27FC236}">
                <a16:creationId xmlns:a16="http://schemas.microsoft.com/office/drawing/2014/main" id="{B257ABDF-E4F8-AB68-B095-32495566CC46}"/>
              </a:ext>
            </a:extLst>
          </p:cNvPr>
          <p:cNvSpPr>
            <a:spLocks/>
          </p:cNvSpPr>
          <p:nvPr/>
        </p:nvSpPr>
        <p:spPr bwMode="auto">
          <a:xfrm>
            <a:off x="896938" y="1577975"/>
            <a:ext cx="319087" cy="736600"/>
          </a:xfrm>
          <a:custGeom>
            <a:avLst/>
            <a:gdLst>
              <a:gd name="T0" fmla="*/ 2147483647 w 201"/>
              <a:gd name="T1" fmla="*/ 2147483647 h 464"/>
              <a:gd name="T2" fmla="*/ 2147483647 w 201"/>
              <a:gd name="T3" fmla="*/ 2147483647 h 464"/>
              <a:gd name="T4" fmla="*/ 2147483647 w 201"/>
              <a:gd name="T5" fmla="*/ 2147483647 h 464"/>
              <a:gd name="T6" fmla="*/ 2147483647 w 201"/>
              <a:gd name="T7" fmla="*/ 2147483647 h 464"/>
              <a:gd name="T8" fmla="*/ 2147483647 w 201"/>
              <a:gd name="T9" fmla="*/ 0 h 464"/>
              <a:gd name="T10" fmla="*/ 0 60000 65536"/>
              <a:gd name="T11" fmla="*/ 0 60000 65536"/>
              <a:gd name="T12" fmla="*/ 0 60000 65536"/>
              <a:gd name="T13" fmla="*/ 0 60000 65536"/>
              <a:gd name="T14" fmla="*/ 0 60000 65536"/>
              <a:gd name="T15" fmla="*/ 0 w 201"/>
              <a:gd name="T16" fmla="*/ 0 h 464"/>
              <a:gd name="T17" fmla="*/ 201 w 201"/>
              <a:gd name="T18" fmla="*/ 464 h 464"/>
            </a:gdLst>
            <a:ahLst/>
            <a:cxnLst>
              <a:cxn ang="T10">
                <a:pos x="T0" y="T1"/>
              </a:cxn>
              <a:cxn ang="T11">
                <a:pos x="T2" y="T3"/>
              </a:cxn>
              <a:cxn ang="T12">
                <a:pos x="T4" y="T5"/>
              </a:cxn>
              <a:cxn ang="T13">
                <a:pos x="T6" y="T7"/>
              </a:cxn>
              <a:cxn ang="T14">
                <a:pos x="T8" y="T9"/>
              </a:cxn>
            </a:cxnLst>
            <a:rect l="T15" t="T16" r="T17" b="T18"/>
            <a:pathLst>
              <a:path w="201" h="464">
                <a:moveTo>
                  <a:pt x="201" y="464"/>
                </a:moveTo>
                <a:cubicBezTo>
                  <a:pt x="145" y="453"/>
                  <a:pt x="90" y="443"/>
                  <a:pt x="57" y="408"/>
                </a:cubicBezTo>
                <a:cubicBezTo>
                  <a:pt x="24" y="373"/>
                  <a:pt x="0" y="312"/>
                  <a:pt x="1" y="256"/>
                </a:cubicBezTo>
                <a:cubicBezTo>
                  <a:pt x="2" y="200"/>
                  <a:pt x="32" y="115"/>
                  <a:pt x="65" y="72"/>
                </a:cubicBezTo>
                <a:cubicBezTo>
                  <a:pt x="98" y="29"/>
                  <a:pt x="149" y="14"/>
                  <a:pt x="201" y="0"/>
                </a:cubicBezTo>
              </a:path>
            </a:pathLst>
          </a:custGeom>
          <a:noFill/>
          <a:ln w="2844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24" name="Slide Number Placeholder 15">
            <a:extLst>
              <a:ext uri="{FF2B5EF4-FFF2-40B4-BE49-F238E27FC236}">
                <a16:creationId xmlns:a16="http://schemas.microsoft.com/office/drawing/2014/main" id="{55CADADD-BAE2-A1EF-82F8-73BDA6B0E5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69E02826-09DB-6A47-A101-796FD02ECAB9}" type="slidenum">
              <a:rPr lang="en-GB" altLang="en-US" sz="1400">
                <a:solidFill>
                  <a:srgbClr val="000000"/>
                </a:solidFill>
                <a:latin typeface="Arial  " charset="0"/>
              </a:rPr>
              <a:pPr/>
              <a:t>9</a:t>
            </a:fld>
            <a:r>
              <a:rPr lang="en-GB" altLang="en-US" sz="1400">
                <a:solidFill>
                  <a:srgbClr val="000000"/>
                </a:solidFill>
                <a:latin typeface="Arial  " charset="0"/>
              </a:rPr>
              <a:t> </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a:extLst>
              <a:ext uri="{FF2B5EF4-FFF2-40B4-BE49-F238E27FC236}">
                <a16:creationId xmlns:a16="http://schemas.microsoft.com/office/drawing/2014/main" id="{DB42AC2C-023E-2182-F248-A8EE94C04BD1}"/>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200">
                <a:latin typeface="Arial  " charset="0"/>
                <a:cs typeface="Arial  " charset="0"/>
              </a:rPr>
              <a:t>Branch Instructions: Two Problems</a:t>
            </a:r>
          </a:p>
        </p:txBody>
      </p:sp>
      <p:sp>
        <p:nvSpPr>
          <p:cNvPr id="12291" name="Rectangle 2">
            <a:extLst>
              <a:ext uri="{FF2B5EF4-FFF2-40B4-BE49-F238E27FC236}">
                <a16:creationId xmlns:a16="http://schemas.microsoft.com/office/drawing/2014/main" id="{B94453AE-87FE-EED8-49DD-7594C8F6AD24}"/>
              </a:ext>
            </a:extLst>
          </p:cNvPr>
          <p:cNvSpPr>
            <a:spLocks noGrp="1" noChangeArrowheads="1"/>
          </p:cNvSpPr>
          <p:nvPr>
            <p:ph type="body" idx="1"/>
          </p:nvPr>
        </p:nvSpPr>
        <p:spPr>
          <a:xfrm>
            <a:off x="508000" y="1371600"/>
            <a:ext cx="8102600" cy="4724400"/>
          </a:xfrm>
        </p:spPr>
        <p:txBody>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b="1">
                <a:latin typeface="Arial  " charset="0"/>
                <a:cs typeface="Arial  " charset="0"/>
              </a:rPr>
              <a:t>Problem 1:   Is branch taken? (“</a:t>
            </a:r>
            <a:r>
              <a:rPr lang="en-GB" altLang="en-US" b="1" u="sng">
                <a:latin typeface="Arial  " charset="0"/>
                <a:cs typeface="Arial  " charset="0"/>
              </a:rPr>
              <a:t>direction</a:t>
            </a:r>
            <a:r>
              <a:rPr lang="en-GB" altLang="en-US" b="1">
                <a:latin typeface="Arial  " charset="0"/>
                <a:cs typeface="Arial  " charset="0"/>
              </a:rPr>
              <a:t>”)</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latin typeface="Arial  " charset="0"/>
                <a:cs typeface="Arial  " charset="0"/>
              </a:rPr>
              <a:t>Hardware to predict this: “Branch Predictor”</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latin typeface="Arial  " charset="0"/>
                <a:cs typeface="Arial  " charset="0"/>
              </a:rPr>
              <a:t>We will look at several designs</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a:latin typeface="Arial  " charset="0"/>
              <a:cs typeface="Arial  " charset="0"/>
            </a:endParaRP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b="1">
                <a:latin typeface="Arial  " charset="0"/>
                <a:cs typeface="Arial  " charset="0"/>
              </a:rPr>
              <a:t>Problem 2:  If taken, what is </a:t>
            </a:r>
            <a:r>
              <a:rPr lang="en-GB" altLang="en-US" b="1" u="sng">
                <a:latin typeface="Arial  " charset="0"/>
                <a:cs typeface="Arial  " charset="0"/>
              </a:rPr>
              <a:t>target</a:t>
            </a:r>
            <a:r>
              <a:rPr lang="en-GB" altLang="en-US" b="1">
                <a:latin typeface="Arial  " charset="0"/>
                <a:cs typeface="Arial  " charset="0"/>
              </a:rPr>
              <a:t> PC?</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latin typeface="Arial  " charset="0"/>
                <a:cs typeface="Arial  " charset="0"/>
              </a:rPr>
              <a:t>Hardware to predict this: “Branch Target Buffer”</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latin typeface="Arial  " charset="0"/>
                <a:cs typeface="Arial  " charset="0"/>
              </a:rPr>
              <a:t>We will look at one design that works fairly well.</a:t>
            </a:r>
          </a:p>
        </p:txBody>
      </p:sp>
      <p:sp>
        <p:nvSpPr>
          <p:cNvPr id="14340" name="Slide Number Placeholder 7">
            <a:extLst>
              <a:ext uri="{FF2B5EF4-FFF2-40B4-BE49-F238E27FC236}">
                <a16:creationId xmlns:a16="http://schemas.microsoft.com/office/drawing/2014/main" id="{954CBFA4-0571-C098-0E44-736CAFD18F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878512DF-FF10-C24B-8331-74C1EB820E1F}" type="slidenum">
              <a:rPr lang="en-GB" altLang="en-US" sz="1400">
                <a:solidFill>
                  <a:srgbClr val="000000"/>
                </a:solidFill>
                <a:latin typeface="Arial  " charset="0"/>
              </a:rPr>
              <a:pPr/>
              <a:t>10</a:t>
            </a:fld>
            <a:r>
              <a:rPr lang="en-GB" altLang="en-US" sz="1400">
                <a:solidFill>
                  <a:srgbClr val="000000"/>
                </a:solidFill>
                <a:latin typeface="Arial  " charset="0"/>
              </a:rPr>
              <a:t>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2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9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a:extLst>
              <a:ext uri="{FF2B5EF4-FFF2-40B4-BE49-F238E27FC236}">
                <a16:creationId xmlns:a16="http://schemas.microsoft.com/office/drawing/2014/main" id="{4A1067C4-B935-EFF5-8EAC-92787AB4E21B}"/>
              </a:ext>
            </a:extLst>
          </p:cNvPr>
          <p:cNvSpPr>
            <a:spLocks noGrp="1" noChangeArrowheads="1"/>
          </p:cNvSpPr>
          <p:nvPr>
            <p:ph type="title"/>
          </p:nvPr>
        </p:nvSpPr>
        <p:spPr>
          <a:xfrm>
            <a:off x="685800" y="0"/>
            <a:ext cx="8458200" cy="889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Arial  " charset="0"/>
                <a:cs typeface="Arial  " charset="0"/>
              </a:rPr>
              <a:t>Branches Predicted in Fetch Stage</a:t>
            </a:r>
          </a:p>
        </p:txBody>
      </p:sp>
      <p:sp>
        <p:nvSpPr>
          <p:cNvPr id="15363" name="Rectangle 2">
            <a:extLst>
              <a:ext uri="{FF2B5EF4-FFF2-40B4-BE49-F238E27FC236}">
                <a16:creationId xmlns:a16="http://schemas.microsoft.com/office/drawing/2014/main" id="{54FA10C7-30C6-83BA-B027-227BD0B97D26}"/>
              </a:ext>
            </a:extLst>
          </p:cNvPr>
          <p:cNvSpPr>
            <a:spLocks noGrp="1" noChangeArrowheads="1"/>
          </p:cNvSpPr>
          <p:nvPr>
            <p:ph type="body" idx="1"/>
          </p:nvPr>
        </p:nvSpPr>
        <p:spPr>
          <a:xfrm>
            <a:off x="404813" y="6169025"/>
            <a:ext cx="8229600" cy="374650"/>
          </a:xfrm>
        </p:spPr>
        <p:txBody>
          <a:bodyPr/>
          <a:lstStyle/>
          <a:p>
            <a:pPr eaLnBrk="1" hangingPunct="1">
              <a:lnSpc>
                <a:spcPct val="90000"/>
              </a:lnSpc>
              <a:spcBef>
                <a:spcPts val="60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b="1">
                <a:solidFill>
                  <a:srgbClr val="FF0000"/>
                </a:solidFill>
                <a:latin typeface="Arial  " charset="0"/>
                <a:cs typeface="Arial  " charset="0"/>
              </a:rPr>
              <a:t>“Next PC” based upon *prediction* of branch outcome.</a:t>
            </a:r>
          </a:p>
        </p:txBody>
      </p:sp>
      <p:sp>
        <p:nvSpPr>
          <p:cNvPr id="15364" name="Rectangle 3">
            <a:extLst>
              <a:ext uri="{FF2B5EF4-FFF2-40B4-BE49-F238E27FC236}">
                <a16:creationId xmlns:a16="http://schemas.microsoft.com/office/drawing/2014/main" id="{6BC78E0C-DA13-5CE9-C5E5-65884E660DDA}"/>
              </a:ext>
            </a:extLst>
          </p:cNvPr>
          <p:cNvSpPr>
            <a:spLocks noChangeArrowheads="1"/>
          </p:cNvSpPr>
          <p:nvPr/>
        </p:nvSpPr>
        <p:spPr bwMode="auto">
          <a:xfrm>
            <a:off x="3657600" y="1612900"/>
            <a:ext cx="990600" cy="762000"/>
          </a:xfrm>
          <a:prstGeom prst="rect">
            <a:avLst/>
          </a:prstGeom>
          <a:solidFill>
            <a:srgbClr val="BBE0E3"/>
          </a:solidFill>
          <a:ln w="57150">
            <a:solidFill>
              <a:srgbClr val="FF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1600" b="1">
                <a:solidFill>
                  <a:srgbClr val="000000"/>
                </a:solidFill>
              </a:rPr>
              <a:t>Branch-</a:t>
            </a:r>
            <a:br>
              <a:rPr lang="en-GB" altLang="en-US" sz="1600" b="1">
                <a:solidFill>
                  <a:srgbClr val="000000"/>
                </a:solidFill>
              </a:rPr>
            </a:br>
            <a:r>
              <a:rPr lang="en-GB" altLang="en-US" sz="1600" b="1">
                <a:solidFill>
                  <a:srgbClr val="000000"/>
                </a:solidFill>
              </a:rPr>
              <a:t>Target</a:t>
            </a:r>
            <a:br>
              <a:rPr lang="en-GB" altLang="en-US" sz="1600" b="1">
                <a:solidFill>
                  <a:srgbClr val="000000"/>
                </a:solidFill>
              </a:rPr>
            </a:br>
            <a:r>
              <a:rPr lang="en-GB" altLang="en-US" sz="1600" b="1">
                <a:solidFill>
                  <a:srgbClr val="000000"/>
                </a:solidFill>
              </a:rPr>
              <a:t>Buffer</a:t>
            </a:r>
          </a:p>
        </p:txBody>
      </p:sp>
      <p:sp>
        <p:nvSpPr>
          <p:cNvPr id="15365" name="Rectangle 4">
            <a:extLst>
              <a:ext uri="{FF2B5EF4-FFF2-40B4-BE49-F238E27FC236}">
                <a16:creationId xmlns:a16="http://schemas.microsoft.com/office/drawing/2014/main" id="{593B7091-0E52-56E7-4D5A-90B4A08EDAB6}"/>
              </a:ext>
            </a:extLst>
          </p:cNvPr>
          <p:cNvSpPr>
            <a:spLocks noChangeArrowheads="1"/>
          </p:cNvSpPr>
          <p:nvPr/>
        </p:nvSpPr>
        <p:spPr bwMode="auto">
          <a:xfrm>
            <a:off x="3657600" y="2679700"/>
            <a:ext cx="990600" cy="762000"/>
          </a:xfrm>
          <a:prstGeom prst="rect">
            <a:avLst/>
          </a:prstGeom>
          <a:solidFill>
            <a:srgbClr val="BBE0E3"/>
          </a:solidFill>
          <a:ln w="28440">
            <a:solidFill>
              <a:srgbClr val="0000FF"/>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1600" b="1">
                <a:solidFill>
                  <a:srgbClr val="000000"/>
                </a:solidFill>
              </a:rPr>
              <a:t>Adder</a:t>
            </a:r>
            <a:br>
              <a:rPr lang="en-GB" altLang="en-US" sz="1600" b="1">
                <a:solidFill>
                  <a:srgbClr val="000000"/>
                </a:solidFill>
              </a:rPr>
            </a:br>
            <a:r>
              <a:rPr lang="en-GB" altLang="en-US" sz="1600" b="1">
                <a:solidFill>
                  <a:srgbClr val="000000"/>
                </a:solidFill>
              </a:rPr>
              <a:t>(+4)</a:t>
            </a:r>
          </a:p>
        </p:txBody>
      </p:sp>
      <p:sp>
        <p:nvSpPr>
          <p:cNvPr id="15366" name="Rectangle 5">
            <a:extLst>
              <a:ext uri="{FF2B5EF4-FFF2-40B4-BE49-F238E27FC236}">
                <a16:creationId xmlns:a16="http://schemas.microsoft.com/office/drawing/2014/main" id="{1C38AC82-142F-76A7-C5D3-22A1F6360A16}"/>
              </a:ext>
            </a:extLst>
          </p:cNvPr>
          <p:cNvSpPr>
            <a:spLocks noChangeArrowheads="1"/>
          </p:cNvSpPr>
          <p:nvPr/>
        </p:nvSpPr>
        <p:spPr bwMode="auto">
          <a:xfrm>
            <a:off x="3657600" y="3670300"/>
            <a:ext cx="990600" cy="762000"/>
          </a:xfrm>
          <a:prstGeom prst="rect">
            <a:avLst/>
          </a:prstGeom>
          <a:solidFill>
            <a:srgbClr val="BBE0E3"/>
          </a:solidFill>
          <a:ln w="57150">
            <a:solidFill>
              <a:srgbClr val="FF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1600" b="1">
                <a:solidFill>
                  <a:srgbClr val="000000"/>
                </a:solidFill>
              </a:rPr>
              <a:t>Branch-</a:t>
            </a:r>
            <a:br>
              <a:rPr lang="en-GB" altLang="en-US" sz="1600" b="1">
                <a:solidFill>
                  <a:srgbClr val="000000"/>
                </a:solidFill>
              </a:rPr>
            </a:br>
            <a:r>
              <a:rPr lang="en-GB" altLang="en-US" sz="1600" b="1">
                <a:solidFill>
                  <a:srgbClr val="000000"/>
                </a:solidFill>
              </a:rPr>
              <a:t>Predictor</a:t>
            </a:r>
          </a:p>
        </p:txBody>
      </p:sp>
      <p:sp>
        <p:nvSpPr>
          <p:cNvPr id="15367" name="Rectangle 6">
            <a:extLst>
              <a:ext uri="{FF2B5EF4-FFF2-40B4-BE49-F238E27FC236}">
                <a16:creationId xmlns:a16="http://schemas.microsoft.com/office/drawing/2014/main" id="{1E8C1703-8F9A-8A7C-616E-C12C01CB9403}"/>
              </a:ext>
            </a:extLst>
          </p:cNvPr>
          <p:cNvSpPr>
            <a:spLocks noChangeArrowheads="1"/>
          </p:cNvSpPr>
          <p:nvPr/>
        </p:nvSpPr>
        <p:spPr bwMode="auto">
          <a:xfrm>
            <a:off x="2286000" y="1612900"/>
            <a:ext cx="381000" cy="762000"/>
          </a:xfrm>
          <a:prstGeom prst="rect">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1600" b="1">
                <a:solidFill>
                  <a:srgbClr val="000000"/>
                </a:solidFill>
              </a:rPr>
              <a:t>PC</a:t>
            </a:r>
          </a:p>
        </p:txBody>
      </p:sp>
      <p:sp>
        <p:nvSpPr>
          <p:cNvPr id="15368" name="Line 7">
            <a:extLst>
              <a:ext uri="{FF2B5EF4-FFF2-40B4-BE49-F238E27FC236}">
                <a16:creationId xmlns:a16="http://schemas.microsoft.com/office/drawing/2014/main" id="{8A49F034-26A0-8794-5A06-9170ED856ED1}"/>
              </a:ext>
            </a:extLst>
          </p:cNvPr>
          <p:cNvSpPr>
            <a:spLocks noChangeShapeType="1"/>
          </p:cNvSpPr>
          <p:nvPr/>
        </p:nvSpPr>
        <p:spPr bwMode="auto">
          <a:xfrm>
            <a:off x="2667000" y="1993900"/>
            <a:ext cx="9906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69" name="Line 8">
            <a:extLst>
              <a:ext uri="{FF2B5EF4-FFF2-40B4-BE49-F238E27FC236}">
                <a16:creationId xmlns:a16="http://schemas.microsoft.com/office/drawing/2014/main" id="{88142E13-A16C-CE62-2D41-366E793849B0}"/>
              </a:ext>
            </a:extLst>
          </p:cNvPr>
          <p:cNvSpPr>
            <a:spLocks noChangeShapeType="1"/>
          </p:cNvSpPr>
          <p:nvPr/>
        </p:nvSpPr>
        <p:spPr bwMode="auto">
          <a:xfrm>
            <a:off x="3124200" y="30607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0" name="Line 9">
            <a:extLst>
              <a:ext uri="{FF2B5EF4-FFF2-40B4-BE49-F238E27FC236}">
                <a16:creationId xmlns:a16="http://schemas.microsoft.com/office/drawing/2014/main" id="{0A9C48AF-8AFE-3148-82AB-4F1D956F51FB}"/>
              </a:ext>
            </a:extLst>
          </p:cNvPr>
          <p:cNvSpPr>
            <a:spLocks noChangeShapeType="1"/>
          </p:cNvSpPr>
          <p:nvPr/>
        </p:nvSpPr>
        <p:spPr bwMode="auto">
          <a:xfrm>
            <a:off x="3124200" y="40513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1" name="Line 10">
            <a:extLst>
              <a:ext uri="{FF2B5EF4-FFF2-40B4-BE49-F238E27FC236}">
                <a16:creationId xmlns:a16="http://schemas.microsoft.com/office/drawing/2014/main" id="{A0A7A3A4-6357-B7D1-0302-9D59A430D21A}"/>
              </a:ext>
            </a:extLst>
          </p:cNvPr>
          <p:cNvSpPr>
            <a:spLocks noChangeShapeType="1"/>
          </p:cNvSpPr>
          <p:nvPr/>
        </p:nvSpPr>
        <p:spPr bwMode="auto">
          <a:xfrm>
            <a:off x="3124200" y="1974850"/>
            <a:ext cx="1588" cy="3019425"/>
          </a:xfrm>
          <a:prstGeom prst="line">
            <a:avLst/>
          </a:prstGeom>
          <a:noFill/>
          <a:ln w="7632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5372" name="Rectangle 11">
            <a:extLst>
              <a:ext uri="{FF2B5EF4-FFF2-40B4-BE49-F238E27FC236}">
                <a16:creationId xmlns:a16="http://schemas.microsoft.com/office/drawing/2014/main" id="{C9BEDE23-2383-4082-843C-CD926FC785B4}"/>
              </a:ext>
            </a:extLst>
          </p:cNvPr>
          <p:cNvSpPr>
            <a:spLocks noChangeArrowheads="1"/>
          </p:cNvSpPr>
          <p:nvPr/>
        </p:nvSpPr>
        <p:spPr bwMode="auto">
          <a:xfrm>
            <a:off x="3657600" y="4584700"/>
            <a:ext cx="990600" cy="762000"/>
          </a:xfrm>
          <a:prstGeom prst="rect">
            <a:avLst/>
          </a:prstGeom>
          <a:solidFill>
            <a:srgbClr val="BBE0E3"/>
          </a:solidFill>
          <a:ln w="28440">
            <a:solidFill>
              <a:srgbClr val="0000FF"/>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1600" b="1">
                <a:solidFill>
                  <a:srgbClr val="000000"/>
                </a:solidFill>
              </a:rPr>
              <a:t>Instr</a:t>
            </a:r>
            <a:br>
              <a:rPr lang="en-GB" altLang="en-US" sz="1600" b="1">
                <a:solidFill>
                  <a:srgbClr val="000000"/>
                </a:solidFill>
              </a:rPr>
            </a:br>
            <a:r>
              <a:rPr lang="en-GB" altLang="en-US" sz="1600" b="1">
                <a:solidFill>
                  <a:srgbClr val="000000"/>
                </a:solidFill>
              </a:rPr>
              <a:t>Mem</a:t>
            </a:r>
          </a:p>
        </p:txBody>
      </p:sp>
      <p:sp>
        <p:nvSpPr>
          <p:cNvPr id="15373" name="Line 12">
            <a:extLst>
              <a:ext uri="{FF2B5EF4-FFF2-40B4-BE49-F238E27FC236}">
                <a16:creationId xmlns:a16="http://schemas.microsoft.com/office/drawing/2014/main" id="{DF8F6ABA-AC26-BC7A-D6BA-730F75525341}"/>
              </a:ext>
            </a:extLst>
          </p:cNvPr>
          <p:cNvSpPr>
            <a:spLocks noChangeShapeType="1"/>
          </p:cNvSpPr>
          <p:nvPr/>
        </p:nvSpPr>
        <p:spPr bwMode="auto">
          <a:xfrm>
            <a:off x="3124200" y="49657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4" name="Line 13">
            <a:extLst>
              <a:ext uri="{FF2B5EF4-FFF2-40B4-BE49-F238E27FC236}">
                <a16:creationId xmlns:a16="http://schemas.microsoft.com/office/drawing/2014/main" id="{F3C10C51-9568-31F7-BA09-C27AE1B05F72}"/>
              </a:ext>
            </a:extLst>
          </p:cNvPr>
          <p:cNvSpPr>
            <a:spLocks noChangeShapeType="1"/>
          </p:cNvSpPr>
          <p:nvPr/>
        </p:nvSpPr>
        <p:spPr bwMode="auto">
          <a:xfrm>
            <a:off x="4648200" y="30607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5" name="Line 14">
            <a:extLst>
              <a:ext uri="{FF2B5EF4-FFF2-40B4-BE49-F238E27FC236}">
                <a16:creationId xmlns:a16="http://schemas.microsoft.com/office/drawing/2014/main" id="{6AE91D7E-BB8F-24C1-DA71-4F3457356BA7}"/>
              </a:ext>
            </a:extLst>
          </p:cNvPr>
          <p:cNvSpPr>
            <a:spLocks noChangeShapeType="1"/>
          </p:cNvSpPr>
          <p:nvPr/>
        </p:nvSpPr>
        <p:spPr bwMode="auto">
          <a:xfrm>
            <a:off x="4648200" y="19939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6" name="Line 15">
            <a:extLst>
              <a:ext uri="{FF2B5EF4-FFF2-40B4-BE49-F238E27FC236}">
                <a16:creationId xmlns:a16="http://schemas.microsoft.com/office/drawing/2014/main" id="{ADACA281-7B10-CE99-354B-2522FF555707}"/>
              </a:ext>
            </a:extLst>
          </p:cNvPr>
          <p:cNvSpPr>
            <a:spLocks noChangeShapeType="1"/>
          </p:cNvSpPr>
          <p:nvPr/>
        </p:nvSpPr>
        <p:spPr bwMode="auto">
          <a:xfrm>
            <a:off x="1714500" y="1993900"/>
            <a:ext cx="6096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7" name="Freeform 16">
            <a:extLst>
              <a:ext uri="{FF2B5EF4-FFF2-40B4-BE49-F238E27FC236}">
                <a16:creationId xmlns:a16="http://schemas.microsoft.com/office/drawing/2014/main" id="{F38D71CE-AE6A-09A7-B237-A3A652F6A0F5}"/>
              </a:ext>
            </a:extLst>
          </p:cNvPr>
          <p:cNvSpPr>
            <a:spLocks noChangeArrowheads="1"/>
          </p:cNvSpPr>
          <p:nvPr/>
        </p:nvSpPr>
        <p:spPr bwMode="auto">
          <a:xfrm>
            <a:off x="1752600" y="1079500"/>
            <a:ext cx="4114800" cy="1447800"/>
          </a:xfrm>
          <a:custGeom>
            <a:avLst/>
            <a:gdLst>
              <a:gd name="T0" fmla="*/ 2147483647 w 2592"/>
              <a:gd name="T1" fmla="*/ 2147483647 h 912"/>
              <a:gd name="T2" fmla="*/ 2147483647 w 2592"/>
              <a:gd name="T3" fmla="*/ 2147483647 h 912"/>
              <a:gd name="T4" fmla="*/ 2147483647 w 2592"/>
              <a:gd name="T5" fmla="*/ 0 h 912"/>
              <a:gd name="T6" fmla="*/ 0 w 2592"/>
              <a:gd name="T7" fmla="*/ 0 h 912"/>
              <a:gd name="T8" fmla="*/ 0 w 2592"/>
              <a:gd name="T9" fmla="*/ 2147483647 h 912"/>
              <a:gd name="T10" fmla="*/ 0 60000 65536"/>
              <a:gd name="T11" fmla="*/ 0 60000 65536"/>
              <a:gd name="T12" fmla="*/ 0 60000 65536"/>
              <a:gd name="T13" fmla="*/ 0 60000 65536"/>
              <a:gd name="T14" fmla="*/ 0 60000 65536"/>
              <a:gd name="T15" fmla="*/ 0 w 2592"/>
              <a:gd name="T16" fmla="*/ 0 h 912"/>
              <a:gd name="T17" fmla="*/ 2592 w 2592"/>
              <a:gd name="T18" fmla="*/ 912 h 912"/>
            </a:gdLst>
            <a:ahLst/>
            <a:cxnLst>
              <a:cxn ang="T10">
                <a:pos x="T0" y="T1"/>
              </a:cxn>
              <a:cxn ang="T11">
                <a:pos x="T2" y="T3"/>
              </a:cxn>
              <a:cxn ang="T12">
                <a:pos x="T4" y="T5"/>
              </a:cxn>
              <a:cxn ang="T13">
                <a:pos x="T6" y="T7"/>
              </a:cxn>
              <a:cxn ang="T14">
                <a:pos x="T8" y="T9"/>
              </a:cxn>
            </a:cxnLst>
            <a:rect l="T15" t="T16" r="T17" b="T18"/>
            <a:pathLst>
              <a:path w="2592" h="912">
                <a:moveTo>
                  <a:pt x="2400" y="912"/>
                </a:moveTo>
                <a:lnTo>
                  <a:pt x="2592" y="912"/>
                </a:lnTo>
                <a:lnTo>
                  <a:pt x="2592" y="0"/>
                </a:lnTo>
                <a:lnTo>
                  <a:pt x="0" y="0"/>
                </a:lnTo>
                <a:lnTo>
                  <a:pt x="0" y="576"/>
                </a:lnTo>
              </a:path>
            </a:pathLst>
          </a:custGeom>
          <a:noFill/>
          <a:ln w="7632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78" name="Freeform 19">
            <a:extLst>
              <a:ext uri="{FF2B5EF4-FFF2-40B4-BE49-F238E27FC236}">
                <a16:creationId xmlns:a16="http://schemas.microsoft.com/office/drawing/2014/main" id="{37510BDE-5892-B5EE-C132-6EE1A9C49C65}"/>
              </a:ext>
            </a:extLst>
          </p:cNvPr>
          <p:cNvSpPr>
            <a:spLocks noChangeArrowheads="1"/>
          </p:cNvSpPr>
          <p:nvPr/>
        </p:nvSpPr>
        <p:spPr bwMode="auto">
          <a:xfrm>
            <a:off x="5181600" y="1765300"/>
            <a:ext cx="381000" cy="1524000"/>
          </a:xfrm>
          <a:custGeom>
            <a:avLst/>
            <a:gdLst>
              <a:gd name="T0" fmla="*/ 0 w 240"/>
              <a:gd name="T1" fmla="*/ 0 h 672"/>
              <a:gd name="T2" fmla="*/ 0 w 240"/>
              <a:gd name="T3" fmla="*/ 2147483647 h 672"/>
              <a:gd name="T4" fmla="*/ 2147483647 w 240"/>
              <a:gd name="T5" fmla="*/ 2147483647 h 672"/>
              <a:gd name="T6" fmla="*/ 2147483647 w 240"/>
              <a:gd name="T7" fmla="*/ 2147483647 h 672"/>
              <a:gd name="T8" fmla="*/ 0 w 240"/>
              <a:gd name="T9" fmla="*/ 0 h 672"/>
              <a:gd name="T10" fmla="*/ 0 60000 65536"/>
              <a:gd name="T11" fmla="*/ 0 60000 65536"/>
              <a:gd name="T12" fmla="*/ 0 60000 65536"/>
              <a:gd name="T13" fmla="*/ 0 60000 65536"/>
              <a:gd name="T14" fmla="*/ 0 60000 65536"/>
              <a:gd name="T15" fmla="*/ 0 w 240"/>
              <a:gd name="T16" fmla="*/ 0 h 672"/>
              <a:gd name="T17" fmla="*/ 240 w 240"/>
              <a:gd name="T18" fmla="*/ 672 h 672"/>
            </a:gdLst>
            <a:ahLst/>
            <a:cxnLst>
              <a:cxn ang="T10">
                <a:pos x="T0" y="T1"/>
              </a:cxn>
              <a:cxn ang="T11">
                <a:pos x="T2" y="T3"/>
              </a:cxn>
              <a:cxn ang="T12">
                <a:pos x="T4" y="T5"/>
              </a:cxn>
              <a:cxn ang="T13">
                <a:pos x="T6" y="T7"/>
              </a:cxn>
              <a:cxn ang="T14">
                <a:pos x="T8" y="T9"/>
              </a:cxn>
            </a:cxnLst>
            <a:rect l="T15" t="T16" r="T17" b="T18"/>
            <a:pathLst>
              <a:path w="240" h="672">
                <a:moveTo>
                  <a:pt x="0" y="0"/>
                </a:moveTo>
                <a:lnTo>
                  <a:pt x="0" y="672"/>
                </a:lnTo>
                <a:lnTo>
                  <a:pt x="240" y="528"/>
                </a:lnTo>
                <a:lnTo>
                  <a:pt x="240" y="144"/>
                </a:lnTo>
                <a:lnTo>
                  <a:pt x="0" y="0"/>
                </a:lnTo>
                <a:close/>
              </a:path>
            </a:pathLst>
          </a:custGeom>
          <a:solidFill>
            <a:srgbClr val="BBE0E3"/>
          </a:solidFill>
          <a:ln w="9360">
            <a:solidFill>
              <a:srgbClr val="000000"/>
            </a:solidFill>
            <a:round/>
            <a:headEnd/>
            <a:tailEnd/>
          </a:ln>
        </p:spPr>
        <p:txBody>
          <a:bodyPr wrap="none" anchor="ctr"/>
          <a:lstStyle/>
          <a:p>
            <a:endParaRPr lang="en-US"/>
          </a:p>
        </p:txBody>
      </p:sp>
      <p:sp>
        <p:nvSpPr>
          <p:cNvPr id="15379" name="Line 20">
            <a:extLst>
              <a:ext uri="{FF2B5EF4-FFF2-40B4-BE49-F238E27FC236}">
                <a16:creationId xmlns:a16="http://schemas.microsoft.com/office/drawing/2014/main" id="{22CCDDC8-5C05-1C79-0AE1-40C2E9458C1C}"/>
              </a:ext>
            </a:extLst>
          </p:cNvPr>
          <p:cNvSpPr>
            <a:spLocks noChangeShapeType="1"/>
          </p:cNvSpPr>
          <p:nvPr/>
        </p:nvSpPr>
        <p:spPr bwMode="auto">
          <a:xfrm>
            <a:off x="4648200" y="49657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80" name="Text Box 21">
            <a:extLst>
              <a:ext uri="{FF2B5EF4-FFF2-40B4-BE49-F238E27FC236}">
                <a16:creationId xmlns:a16="http://schemas.microsoft.com/office/drawing/2014/main" id="{995C1400-D6BF-0AA5-A5C0-2CA9AB38068D}"/>
              </a:ext>
            </a:extLst>
          </p:cNvPr>
          <p:cNvSpPr txBox="1">
            <a:spLocks noChangeArrowheads="1"/>
          </p:cNvSpPr>
          <p:nvPr/>
        </p:nvSpPr>
        <p:spPr bwMode="auto">
          <a:xfrm>
            <a:off x="5264150" y="4724400"/>
            <a:ext cx="291623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Branch Instruction</a:t>
            </a:r>
          </a:p>
        </p:txBody>
      </p:sp>
      <p:sp>
        <p:nvSpPr>
          <p:cNvPr id="15381" name="Line 26">
            <a:extLst>
              <a:ext uri="{FF2B5EF4-FFF2-40B4-BE49-F238E27FC236}">
                <a16:creationId xmlns:a16="http://schemas.microsoft.com/office/drawing/2014/main" id="{FD6E8C5D-9D75-73D4-DA90-C5A74BEFE042}"/>
              </a:ext>
            </a:extLst>
          </p:cNvPr>
          <p:cNvSpPr>
            <a:spLocks noChangeShapeType="1"/>
          </p:cNvSpPr>
          <p:nvPr/>
        </p:nvSpPr>
        <p:spPr bwMode="auto">
          <a:xfrm flipV="1">
            <a:off x="6032500" y="950913"/>
            <a:ext cx="1588" cy="4778375"/>
          </a:xfrm>
          <a:prstGeom prst="line">
            <a:avLst/>
          </a:prstGeom>
          <a:noFill/>
          <a:ln w="936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5382" name="Line 27">
            <a:extLst>
              <a:ext uri="{FF2B5EF4-FFF2-40B4-BE49-F238E27FC236}">
                <a16:creationId xmlns:a16="http://schemas.microsoft.com/office/drawing/2014/main" id="{50595EE9-E535-4CE9-7B87-E4C463A7CFBA}"/>
              </a:ext>
            </a:extLst>
          </p:cNvPr>
          <p:cNvSpPr>
            <a:spLocks noChangeShapeType="1"/>
          </p:cNvSpPr>
          <p:nvPr/>
        </p:nvSpPr>
        <p:spPr bwMode="auto">
          <a:xfrm flipV="1">
            <a:off x="1422400" y="925513"/>
            <a:ext cx="1588" cy="4778375"/>
          </a:xfrm>
          <a:prstGeom prst="line">
            <a:avLst/>
          </a:prstGeom>
          <a:noFill/>
          <a:ln w="936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5383" name="Text Box 28">
            <a:extLst>
              <a:ext uri="{FF2B5EF4-FFF2-40B4-BE49-F238E27FC236}">
                <a16:creationId xmlns:a16="http://schemas.microsoft.com/office/drawing/2014/main" id="{128F5E7A-9F64-D176-9D48-BFF61A1686FA}"/>
              </a:ext>
            </a:extLst>
          </p:cNvPr>
          <p:cNvSpPr txBox="1">
            <a:spLocks noChangeArrowheads="1"/>
          </p:cNvSpPr>
          <p:nvPr/>
        </p:nvSpPr>
        <p:spPr bwMode="auto">
          <a:xfrm>
            <a:off x="2762250" y="5476875"/>
            <a:ext cx="2455863"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b="1">
                <a:solidFill>
                  <a:schemeClr val="accent2"/>
                </a:solidFill>
              </a:rPr>
              <a:t>Fetch stage (IF)</a:t>
            </a:r>
          </a:p>
        </p:txBody>
      </p:sp>
      <p:sp>
        <p:nvSpPr>
          <p:cNvPr id="15384" name="Text Box 29">
            <a:extLst>
              <a:ext uri="{FF2B5EF4-FFF2-40B4-BE49-F238E27FC236}">
                <a16:creationId xmlns:a16="http://schemas.microsoft.com/office/drawing/2014/main" id="{F26EA62C-4A5D-9921-B86A-B2FCB44E6640}"/>
              </a:ext>
            </a:extLst>
          </p:cNvPr>
          <p:cNvSpPr txBox="1">
            <a:spLocks noChangeArrowheads="1"/>
          </p:cNvSpPr>
          <p:nvPr/>
        </p:nvSpPr>
        <p:spPr bwMode="auto">
          <a:xfrm>
            <a:off x="6070600" y="5475288"/>
            <a:ext cx="31750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b="1">
                <a:solidFill>
                  <a:schemeClr val="accent2"/>
                </a:solidFill>
              </a:rPr>
              <a:t> Decode stage (ID)…</a:t>
            </a:r>
          </a:p>
        </p:txBody>
      </p:sp>
      <p:sp>
        <p:nvSpPr>
          <p:cNvPr id="15385" name="Line 33">
            <a:extLst>
              <a:ext uri="{FF2B5EF4-FFF2-40B4-BE49-F238E27FC236}">
                <a16:creationId xmlns:a16="http://schemas.microsoft.com/office/drawing/2014/main" id="{C5731093-1CF4-0357-3CC8-A09DE4B1E619}"/>
              </a:ext>
            </a:extLst>
          </p:cNvPr>
          <p:cNvSpPr>
            <a:spLocks noChangeShapeType="1"/>
          </p:cNvSpPr>
          <p:nvPr/>
        </p:nvSpPr>
        <p:spPr bwMode="auto">
          <a:xfrm>
            <a:off x="4667250" y="4098925"/>
            <a:ext cx="8636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5386" name="Line 35">
            <a:extLst>
              <a:ext uri="{FF2B5EF4-FFF2-40B4-BE49-F238E27FC236}">
                <a16:creationId xmlns:a16="http://schemas.microsoft.com/office/drawing/2014/main" id="{EFE3F5C0-31C4-585B-8318-D384BFD03D53}"/>
              </a:ext>
            </a:extLst>
          </p:cNvPr>
          <p:cNvSpPr>
            <a:spLocks noChangeShapeType="1"/>
          </p:cNvSpPr>
          <p:nvPr/>
        </p:nvSpPr>
        <p:spPr bwMode="auto">
          <a:xfrm>
            <a:off x="4630738" y="2298700"/>
            <a:ext cx="179387"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7" name="Line 36">
            <a:extLst>
              <a:ext uri="{FF2B5EF4-FFF2-40B4-BE49-F238E27FC236}">
                <a16:creationId xmlns:a16="http://schemas.microsoft.com/office/drawing/2014/main" id="{14EDDE31-492F-26A2-E75A-00DFDCCE14E1}"/>
              </a:ext>
            </a:extLst>
          </p:cNvPr>
          <p:cNvSpPr>
            <a:spLocks noChangeShapeType="1"/>
          </p:cNvSpPr>
          <p:nvPr/>
        </p:nvSpPr>
        <p:spPr bwMode="auto">
          <a:xfrm flipV="1">
            <a:off x="4811713" y="2297113"/>
            <a:ext cx="1587" cy="1622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8" name="Line 37">
            <a:extLst>
              <a:ext uri="{FF2B5EF4-FFF2-40B4-BE49-F238E27FC236}">
                <a16:creationId xmlns:a16="http://schemas.microsoft.com/office/drawing/2014/main" id="{FDFD973A-949C-E0ED-E1B2-F3578EE280ED}"/>
              </a:ext>
            </a:extLst>
          </p:cNvPr>
          <p:cNvSpPr>
            <a:spLocks noChangeShapeType="1"/>
          </p:cNvSpPr>
          <p:nvPr/>
        </p:nvSpPr>
        <p:spPr bwMode="auto">
          <a:xfrm flipH="1">
            <a:off x="4810125" y="3917950"/>
            <a:ext cx="542925"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9" name="Line 38">
            <a:extLst>
              <a:ext uri="{FF2B5EF4-FFF2-40B4-BE49-F238E27FC236}">
                <a16:creationId xmlns:a16="http://schemas.microsoft.com/office/drawing/2014/main" id="{BCEB3C22-7DAE-C119-FF8E-4EBFAE470A58}"/>
              </a:ext>
            </a:extLst>
          </p:cNvPr>
          <p:cNvSpPr>
            <a:spLocks noChangeShapeType="1"/>
          </p:cNvSpPr>
          <p:nvPr/>
        </p:nvSpPr>
        <p:spPr bwMode="auto">
          <a:xfrm flipV="1">
            <a:off x="5351463" y="3736975"/>
            <a:ext cx="1587" cy="1825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0" name="Line 39">
            <a:extLst>
              <a:ext uri="{FF2B5EF4-FFF2-40B4-BE49-F238E27FC236}">
                <a16:creationId xmlns:a16="http://schemas.microsoft.com/office/drawing/2014/main" id="{301D83D8-FA52-6DD7-4384-27EBBFBC2B29}"/>
              </a:ext>
            </a:extLst>
          </p:cNvPr>
          <p:cNvSpPr>
            <a:spLocks noChangeShapeType="1"/>
          </p:cNvSpPr>
          <p:nvPr/>
        </p:nvSpPr>
        <p:spPr bwMode="auto">
          <a:xfrm>
            <a:off x="5530850" y="3738563"/>
            <a:ext cx="1588"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1" name="Line 40">
            <a:extLst>
              <a:ext uri="{FF2B5EF4-FFF2-40B4-BE49-F238E27FC236}">
                <a16:creationId xmlns:a16="http://schemas.microsoft.com/office/drawing/2014/main" id="{12FDCF1B-27EA-12E7-A9E8-8C87A65D7CDA}"/>
              </a:ext>
            </a:extLst>
          </p:cNvPr>
          <p:cNvSpPr>
            <a:spLocks noChangeShapeType="1"/>
          </p:cNvSpPr>
          <p:nvPr/>
        </p:nvSpPr>
        <p:spPr bwMode="auto">
          <a:xfrm flipV="1">
            <a:off x="5422900" y="3124200"/>
            <a:ext cx="1588" cy="3635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92" name="AutoShape 41">
            <a:extLst>
              <a:ext uri="{FF2B5EF4-FFF2-40B4-BE49-F238E27FC236}">
                <a16:creationId xmlns:a16="http://schemas.microsoft.com/office/drawing/2014/main" id="{E77F506A-E5E5-ACFE-3528-3A78845791F4}"/>
              </a:ext>
            </a:extLst>
          </p:cNvPr>
          <p:cNvSpPr>
            <a:spLocks noChangeArrowheads="1"/>
          </p:cNvSpPr>
          <p:nvPr/>
        </p:nvSpPr>
        <p:spPr bwMode="auto">
          <a:xfrm>
            <a:off x="5243513" y="3594100"/>
            <a:ext cx="395287" cy="180975"/>
          </a:xfrm>
          <a:prstGeom prst="roundRect">
            <a:avLst>
              <a:gd name="adj" fmla="val 875"/>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393" name="Oval 42">
            <a:extLst>
              <a:ext uri="{FF2B5EF4-FFF2-40B4-BE49-F238E27FC236}">
                <a16:creationId xmlns:a16="http://schemas.microsoft.com/office/drawing/2014/main" id="{A19BC624-44CE-58CA-6723-E65A42C44AF0}"/>
              </a:ext>
            </a:extLst>
          </p:cNvPr>
          <p:cNvSpPr>
            <a:spLocks noChangeArrowheads="1"/>
          </p:cNvSpPr>
          <p:nvPr/>
        </p:nvSpPr>
        <p:spPr bwMode="auto">
          <a:xfrm>
            <a:off x="5243513" y="3414713"/>
            <a:ext cx="395287" cy="360362"/>
          </a:xfrm>
          <a:prstGeom prst="ellipse">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394" name="Text Box 43">
            <a:extLst>
              <a:ext uri="{FF2B5EF4-FFF2-40B4-BE49-F238E27FC236}">
                <a16:creationId xmlns:a16="http://schemas.microsoft.com/office/drawing/2014/main" id="{A205A0ED-0DF9-B631-4CDD-A31BD35D851F}"/>
              </a:ext>
            </a:extLst>
          </p:cNvPr>
          <p:cNvSpPr txBox="1">
            <a:spLocks noChangeArrowheads="1"/>
          </p:cNvSpPr>
          <p:nvPr/>
        </p:nvSpPr>
        <p:spPr bwMode="auto">
          <a:xfrm>
            <a:off x="4811713" y="4027488"/>
            <a:ext cx="79057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r>
              <a:rPr lang="en-GB" altLang="en-US" sz="1600">
                <a:solidFill>
                  <a:srgbClr val="000000"/>
                </a:solidFill>
              </a:rPr>
              <a:t>taken?</a:t>
            </a:r>
          </a:p>
        </p:txBody>
      </p:sp>
      <p:sp>
        <p:nvSpPr>
          <p:cNvPr id="15395" name="Text Box 44">
            <a:extLst>
              <a:ext uri="{FF2B5EF4-FFF2-40B4-BE49-F238E27FC236}">
                <a16:creationId xmlns:a16="http://schemas.microsoft.com/office/drawing/2014/main" id="{05FB8CA4-4149-2C2B-2184-6DD52F49C612}"/>
              </a:ext>
            </a:extLst>
          </p:cNvPr>
          <p:cNvSpPr txBox="1">
            <a:spLocks noChangeArrowheads="1"/>
          </p:cNvSpPr>
          <p:nvPr/>
        </p:nvSpPr>
        <p:spPr bwMode="auto">
          <a:xfrm>
            <a:off x="4811713" y="4027488"/>
            <a:ext cx="79057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r>
              <a:rPr lang="en-GB" altLang="en-US" sz="1600">
                <a:solidFill>
                  <a:srgbClr val="000000"/>
                </a:solidFill>
              </a:rPr>
              <a:t>taken?</a:t>
            </a:r>
          </a:p>
        </p:txBody>
      </p:sp>
      <p:sp>
        <p:nvSpPr>
          <p:cNvPr id="15396" name="Text Box 45">
            <a:extLst>
              <a:ext uri="{FF2B5EF4-FFF2-40B4-BE49-F238E27FC236}">
                <a16:creationId xmlns:a16="http://schemas.microsoft.com/office/drawing/2014/main" id="{88CF9AA2-ADDC-9843-75A8-38F0F23DD152}"/>
              </a:ext>
            </a:extLst>
          </p:cNvPr>
          <p:cNvSpPr txBox="1">
            <a:spLocks noChangeArrowheads="1"/>
          </p:cNvSpPr>
          <p:nvPr/>
        </p:nvSpPr>
        <p:spPr bwMode="auto">
          <a:xfrm>
            <a:off x="4811713" y="3667125"/>
            <a:ext cx="5080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r>
              <a:rPr lang="en-GB" altLang="en-US" sz="1600">
                <a:solidFill>
                  <a:srgbClr val="000000"/>
                </a:solidFill>
              </a:rPr>
              <a:t>hit?</a:t>
            </a:r>
          </a:p>
        </p:txBody>
      </p:sp>
      <p:sp>
        <p:nvSpPr>
          <p:cNvPr id="15397" name="Text Box 46">
            <a:extLst>
              <a:ext uri="{FF2B5EF4-FFF2-40B4-BE49-F238E27FC236}">
                <a16:creationId xmlns:a16="http://schemas.microsoft.com/office/drawing/2014/main" id="{A5F6EAA7-6749-7BBD-82ED-CAE70304E250}"/>
              </a:ext>
            </a:extLst>
          </p:cNvPr>
          <p:cNvSpPr txBox="1">
            <a:spLocks noChangeArrowheads="1"/>
          </p:cNvSpPr>
          <p:nvPr/>
        </p:nvSpPr>
        <p:spPr bwMode="auto">
          <a:xfrm>
            <a:off x="5167313" y="1938338"/>
            <a:ext cx="293687"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r>
              <a:rPr lang="en-GB" altLang="en-US" sz="1600">
                <a:solidFill>
                  <a:srgbClr val="000000"/>
                </a:solidFill>
              </a:rPr>
              <a:t>1</a:t>
            </a:r>
          </a:p>
        </p:txBody>
      </p:sp>
      <p:sp>
        <p:nvSpPr>
          <p:cNvPr id="15398" name="Text Box 47">
            <a:extLst>
              <a:ext uri="{FF2B5EF4-FFF2-40B4-BE49-F238E27FC236}">
                <a16:creationId xmlns:a16="http://schemas.microsoft.com/office/drawing/2014/main" id="{8EA439B0-0A71-697C-0623-55695A1B54BA}"/>
              </a:ext>
            </a:extLst>
          </p:cNvPr>
          <p:cNvSpPr txBox="1">
            <a:spLocks noChangeArrowheads="1"/>
          </p:cNvSpPr>
          <p:nvPr/>
        </p:nvSpPr>
        <p:spPr bwMode="auto">
          <a:xfrm>
            <a:off x="5168900" y="1938338"/>
            <a:ext cx="293688"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r>
              <a:rPr lang="en-GB" altLang="en-US" sz="1600">
                <a:solidFill>
                  <a:srgbClr val="000000"/>
                </a:solidFill>
              </a:rPr>
              <a:t>1</a:t>
            </a:r>
          </a:p>
        </p:txBody>
      </p:sp>
      <p:sp>
        <p:nvSpPr>
          <p:cNvPr id="15399" name="Text Box 48">
            <a:extLst>
              <a:ext uri="{FF2B5EF4-FFF2-40B4-BE49-F238E27FC236}">
                <a16:creationId xmlns:a16="http://schemas.microsoft.com/office/drawing/2014/main" id="{15824874-615E-152F-D050-CFD07746BFDB}"/>
              </a:ext>
            </a:extLst>
          </p:cNvPr>
          <p:cNvSpPr txBox="1">
            <a:spLocks noChangeArrowheads="1"/>
          </p:cNvSpPr>
          <p:nvPr/>
        </p:nvSpPr>
        <p:spPr bwMode="auto">
          <a:xfrm>
            <a:off x="5172075" y="2838450"/>
            <a:ext cx="29368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r>
              <a:rPr lang="en-GB" altLang="en-US" sz="1600">
                <a:solidFill>
                  <a:srgbClr val="000000"/>
                </a:solidFill>
              </a:rPr>
              <a:t>0</a:t>
            </a:r>
          </a:p>
        </p:txBody>
      </p:sp>
      <p:sp>
        <p:nvSpPr>
          <p:cNvPr id="15400" name="Slide Number Placeholder 47">
            <a:extLst>
              <a:ext uri="{FF2B5EF4-FFF2-40B4-BE49-F238E27FC236}">
                <a16:creationId xmlns:a16="http://schemas.microsoft.com/office/drawing/2014/main" id="{73085642-F377-7DE5-6795-D89085A239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r>
              <a:rPr lang="en-GB" altLang="en-US" sz="1400">
                <a:solidFill>
                  <a:srgbClr val="000000"/>
                </a:solidFill>
                <a:latin typeface="Arial  " charset="0"/>
              </a:rPr>
              <a:t> </a:t>
            </a:r>
            <a:fld id="{167E81FB-6067-EA45-AC6B-70940923732F}" type="slidenum">
              <a:rPr lang="en-GB" altLang="en-US" sz="1400">
                <a:solidFill>
                  <a:srgbClr val="000000"/>
                </a:solidFill>
                <a:latin typeface="Arial  " charset="0"/>
              </a:rPr>
              <a:pPr/>
              <a:t>11</a:t>
            </a:fld>
            <a:r>
              <a:rPr lang="en-GB" altLang="en-US" sz="1400">
                <a:solidFill>
                  <a:srgbClr val="000000"/>
                </a:solidFill>
                <a:latin typeface="Arial  " charset="0"/>
              </a:rPr>
              <a:t> </a:t>
            </a:r>
          </a:p>
        </p:txBody>
      </p:sp>
      <p:sp>
        <p:nvSpPr>
          <p:cNvPr id="15401" name="TextBox 44">
            <a:extLst>
              <a:ext uri="{FF2B5EF4-FFF2-40B4-BE49-F238E27FC236}">
                <a16:creationId xmlns:a16="http://schemas.microsoft.com/office/drawing/2014/main" id="{02664376-46B7-F295-17C7-67C1589BD00E}"/>
              </a:ext>
            </a:extLst>
          </p:cNvPr>
          <p:cNvSpPr txBox="1">
            <a:spLocks noChangeArrowheads="1"/>
          </p:cNvSpPr>
          <p:nvPr/>
        </p:nvSpPr>
        <p:spPr bwMode="auto">
          <a:xfrm>
            <a:off x="6080125" y="996950"/>
            <a:ext cx="3063875"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sz="2000">
                <a:solidFill>
                  <a:schemeClr val="accent2"/>
                </a:solidFill>
              </a:rPr>
              <a:t>Two new hardware</a:t>
            </a:r>
          </a:p>
          <a:p>
            <a:r>
              <a:rPr lang="en-CA" altLang="en-US" sz="2000">
                <a:solidFill>
                  <a:schemeClr val="accent2"/>
                </a:solidFill>
              </a:rPr>
              <a:t>structures:</a:t>
            </a:r>
          </a:p>
          <a:p>
            <a:endParaRPr lang="en-CA" altLang="en-US" sz="2000">
              <a:solidFill>
                <a:schemeClr val="accent2"/>
              </a:solidFill>
            </a:endParaRPr>
          </a:p>
          <a:p>
            <a:r>
              <a:rPr lang="en-CA" altLang="en-US" sz="2000">
                <a:solidFill>
                  <a:schemeClr val="accent2"/>
                </a:solidFill>
              </a:rPr>
              <a:t>1. Branch Target Buffer</a:t>
            </a:r>
          </a:p>
          <a:p>
            <a:r>
              <a:rPr lang="en-CA" altLang="en-US" sz="2000">
                <a:solidFill>
                  <a:schemeClr val="accent2"/>
                </a:solidFill>
              </a:rPr>
              <a:t>2. Branch Predictor</a:t>
            </a:r>
          </a:p>
          <a:p>
            <a:endParaRPr lang="en-CA" altLang="en-US" sz="2000">
              <a:solidFill>
                <a:schemeClr val="accent2"/>
              </a:solidFill>
            </a:endParaRPr>
          </a:p>
          <a:p>
            <a:r>
              <a:rPr lang="en-CA" altLang="en-US" sz="2000">
                <a:solidFill>
                  <a:schemeClr val="accent2"/>
                </a:solidFill>
              </a:rPr>
              <a:t>Our focus:</a:t>
            </a:r>
          </a:p>
          <a:p>
            <a:r>
              <a:rPr lang="en-CA" altLang="en-US" sz="2000">
                <a:solidFill>
                  <a:schemeClr val="accent2"/>
                </a:solidFill>
              </a:rPr>
              <a:t>What is the motivation?</a:t>
            </a:r>
          </a:p>
          <a:p>
            <a:r>
              <a:rPr lang="en-CA" altLang="en-US" sz="2000">
                <a:solidFill>
                  <a:schemeClr val="accent2"/>
                </a:solidFill>
              </a:rPr>
              <a:t>What do they do?</a:t>
            </a:r>
          </a:p>
          <a:p>
            <a:r>
              <a:rPr lang="en-CA" altLang="en-US" sz="2000">
                <a:solidFill>
                  <a:schemeClr val="accent2"/>
                </a:solidFill>
              </a:rPr>
              <a:t>How do we use them?</a:t>
            </a:r>
          </a:p>
          <a:p>
            <a:r>
              <a:rPr lang="en-CA" altLang="en-US" sz="2000">
                <a:solidFill>
                  <a:schemeClr val="accent2"/>
                </a:solidFill>
              </a:rPr>
              <a:t>How do we design them?</a:t>
            </a:r>
          </a:p>
        </p:txBody>
      </p:sp>
      <p:sp>
        <p:nvSpPr>
          <p:cNvPr id="15402" name="TextBox 41">
            <a:extLst>
              <a:ext uri="{FF2B5EF4-FFF2-40B4-BE49-F238E27FC236}">
                <a16:creationId xmlns:a16="http://schemas.microsoft.com/office/drawing/2014/main" id="{7AA81B41-F5CF-BE84-6D84-48330B358C7A}"/>
              </a:ext>
            </a:extLst>
          </p:cNvPr>
          <p:cNvSpPr txBox="1">
            <a:spLocks noChangeArrowheads="1"/>
          </p:cNvSpPr>
          <p:nvPr/>
        </p:nvSpPr>
        <p:spPr bwMode="auto">
          <a:xfrm>
            <a:off x="4718050" y="1112838"/>
            <a:ext cx="113982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sz="2000">
                <a:solidFill>
                  <a:schemeClr val="tx1"/>
                </a:solidFill>
              </a:rPr>
              <a:t>Next PC</a:t>
            </a:r>
          </a:p>
        </p:txBody>
      </p:sp>
      <p:grpSp>
        <p:nvGrpSpPr>
          <p:cNvPr id="2" name="Group 44">
            <a:extLst>
              <a:ext uri="{FF2B5EF4-FFF2-40B4-BE49-F238E27FC236}">
                <a16:creationId xmlns:a16="http://schemas.microsoft.com/office/drawing/2014/main" id="{5848FD1F-8926-7C71-3361-152C2B94EFF6}"/>
              </a:ext>
            </a:extLst>
          </p:cNvPr>
          <p:cNvGrpSpPr>
            <a:grpSpLocks/>
          </p:cNvGrpSpPr>
          <p:nvPr/>
        </p:nvGrpSpPr>
        <p:grpSpPr bwMode="auto">
          <a:xfrm>
            <a:off x="0" y="0"/>
            <a:ext cx="9144000" cy="6858000"/>
            <a:chOff x="0" y="0"/>
            <a:chExt cx="9144000" cy="6858000"/>
          </a:xfrm>
        </p:grpSpPr>
        <p:sp>
          <p:nvSpPr>
            <p:cNvPr id="15404" name="Rectangle 42">
              <a:extLst>
                <a:ext uri="{FF2B5EF4-FFF2-40B4-BE49-F238E27FC236}">
                  <a16:creationId xmlns:a16="http://schemas.microsoft.com/office/drawing/2014/main" id="{43D23C1B-3355-1DA3-1B80-2C37BEDEADDE}"/>
                </a:ext>
              </a:extLst>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dirty="0">
                <a:solidFill>
                  <a:schemeClr val="tx1"/>
                </a:solidFill>
              </a:endParaRPr>
            </a:p>
            <a:p>
              <a:endParaRPr lang="en-CA" altLang="en-US" dirty="0">
                <a:solidFill>
                  <a:schemeClr val="tx1"/>
                </a:solidFill>
              </a:endParaRPr>
            </a:p>
            <a:p>
              <a:r>
                <a:rPr lang="en-CA" altLang="en-US" dirty="0">
                  <a:solidFill>
                    <a:schemeClr val="tx1"/>
                  </a:solidFill>
                </a:rPr>
                <a:t>		Quick Review:  How are instructions fetched?</a:t>
              </a:r>
            </a:p>
            <a:p>
              <a:r>
                <a:rPr lang="en-CA" altLang="en-US" dirty="0">
                  <a:solidFill>
                    <a:schemeClr val="tx1"/>
                  </a:solidFill>
                </a:rPr>
                <a:t>		</a:t>
              </a:r>
            </a:p>
            <a:p>
              <a:r>
                <a:rPr lang="en-CA" altLang="en-US" dirty="0">
                  <a:solidFill>
                    <a:schemeClr val="tx1"/>
                  </a:solidFill>
                </a:rPr>
                <a:t>		Recall, from Slide Set 8:</a:t>
              </a:r>
            </a:p>
          </p:txBody>
        </p:sp>
        <p:pic>
          <p:nvPicPr>
            <p:cNvPr id="15405" name="Picture 5" descr="06~Figure_5">
              <a:extLst>
                <a:ext uri="{FF2B5EF4-FFF2-40B4-BE49-F238E27FC236}">
                  <a16:creationId xmlns:a16="http://schemas.microsoft.com/office/drawing/2014/main" id="{89CE972B-728C-83CA-D9CF-5D0A8BB947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8825" y="2663687"/>
              <a:ext cx="4151244" cy="3340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nodeType="clickEffect">
                                  <p:stCondLst>
                                    <p:cond delay="0"/>
                                  </p:stCondLst>
                                  <p:childTnLst>
                                    <p:animEffect transition="out" filter="fade">
                                      <p:cBhvr>
                                        <p:cTn id="6" dur="2000"/>
                                        <p:tgtEl>
                                          <p:spTgt spid="2"/>
                                        </p:tgtEl>
                                      </p:cBhvr>
                                    </p:animEffect>
                                    <p:set>
                                      <p:cBhvr>
                                        <p:cTn id="7"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a:extLst>
              <a:ext uri="{FF2B5EF4-FFF2-40B4-BE49-F238E27FC236}">
                <a16:creationId xmlns:a16="http://schemas.microsoft.com/office/drawing/2014/main" id="{C168E5A5-F552-1E20-332C-A623538097A8}"/>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latin typeface="Arial  " charset="0"/>
                <a:cs typeface="Arial  " charset="0"/>
              </a:rPr>
              <a:t>Predicting the future...</a:t>
            </a:r>
          </a:p>
        </p:txBody>
      </p:sp>
      <p:sp>
        <p:nvSpPr>
          <p:cNvPr id="17411" name="Rectangle 2">
            <a:extLst>
              <a:ext uri="{FF2B5EF4-FFF2-40B4-BE49-F238E27FC236}">
                <a16:creationId xmlns:a16="http://schemas.microsoft.com/office/drawing/2014/main" id="{46FD07E7-6F2E-28B0-CDCE-42A0B43A95AC}"/>
              </a:ext>
            </a:extLst>
          </p:cNvPr>
          <p:cNvSpPr>
            <a:spLocks noGrp="1" noChangeArrowheads="1"/>
          </p:cNvSpPr>
          <p:nvPr>
            <p:ph type="body" idx="1"/>
          </p:nvPr>
        </p:nvSpPr>
        <p:spPr>
          <a:xfrm>
            <a:off x="4070350" y="1371600"/>
            <a:ext cx="4603750" cy="4724400"/>
          </a:xfrm>
        </p:spPr>
        <p:txBody>
          <a:bodyPr/>
          <a:lstStyle/>
          <a:p>
            <a:pPr eaLnBrk="1" hangingPunct="1">
              <a:lnSpc>
                <a:spcPct val="90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a:latin typeface="Arial  " charset="0"/>
                <a:cs typeface="Arial  " charset="0"/>
              </a:rPr>
              <a:t>Method #1</a:t>
            </a:r>
          </a:p>
          <a:p>
            <a:pPr lvl="1" eaLnBrk="1" hangingPunct="1">
              <a:lnSpc>
                <a:spcPct val="90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a:latin typeface="Arial  " charset="0"/>
                <a:cs typeface="Arial  " charset="0"/>
              </a:rPr>
              <a:t>Crystal ball!!</a:t>
            </a:r>
          </a:p>
          <a:p>
            <a:pPr lvl="1" eaLnBrk="1" hangingPunct="1">
              <a:lnSpc>
                <a:spcPct val="90000"/>
              </a:lnSpc>
              <a:buFont typeface="Comic Sans MS" panose="030F0902030302020204" pitchFamily="66" charset="0"/>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altLang="en-US">
              <a:latin typeface="Arial  " charset="0"/>
              <a:cs typeface="Arial  " charset="0"/>
            </a:endParaRPr>
          </a:p>
          <a:p>
            <a:pPr eaLnBrk="1" hangingPunct="1">
              <a:lnSpc>
                <a:spcPct val="90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a:latin typeface="Arial  " charset="0"/>
                <a:cs typeface="Arial  " charset="0"/>
              </a:rPr>
              <a:t>Method #2</a:t>
            </a:r>
          </a:p>
          <a:p>
            <a:pPr lvl="1" eaLnBrk="1" hangingPunct="1">
              <a:lnSpc>
                <a:spcPct val="90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a:latin typeface="Arial  " charset="0"/>
                <a:cs typeface="Arial  " charset="0"/>
              </a:rPr>
              <a:t>Study history since “history repeats itself”.</a:t>
            </a:r>
          </a:p>
          <a:p>
            <a:pPr lvl="1" eaLnBrk="1" hangingPunct="1">
              <a:lnSpc>
                <a:spcPct val="90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a:latin typeface="Arial  " charset="0"/>
                <a:cs typeface="Arial  " charset="0"/>
              </a:rPr>
              <a:t>This works amazingly well in computer architecture</a:t>
            </a:r>
          </a:p>
          <a:p>
            <a:pPr lvl="1" eaLnBrk="1" hangingPunct="1">
              <a:lnSpc>
                <a:spcPct val="90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a:latin typeface="Arial  " charset="0"/>
                <a:cs typeface="Arial  " charset="0"/>
              </a:rPr>
              <a:t>Past branch “behaviour” =&gt; excellent predictor of future branch “behaviour”. </a:t>
            </a:r>
          </a:p>
        </p:txBody>
      </p:sp>
      <p:pic>
        <p:nvPicPr>
          <p:cNvPr id="3075" name="Picture 3">
            <a:extLst>
              <a:ext uri="{FF2B5EF4-FFF2-40B4-BE49-F238E27FC236}">
                <a16:creationId xmlns:a16="http://schemas.microsoft.com/office/drawing/2014/main" id="{7B929107-DC7E-D9B1-625B-41E56DA4B2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854200"/>
            <a:ext cx="2978150" cy="362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6389" name="Slide Number Placeholder 8">
            <a:extLst>
              <a:ext uri="{FF2B5EF4-FFF2-40B4-BE49-F238E27FC236}">
                <a16:creationId xmlns:a16="http://schemas.microsoft.com/office/drawing/2014/main" id="{7F5B0EC6-B563-60B6-7462-4C68EDFEF0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E8073D1D-D50E-914C-9425-D92104F3B21B}" type="slidenum">
              <a:rPr lang="en-GB" altLang="en-US" sz="1400">
                <a:solidFill>
                  <a:srgbClr val="000000"/>
                </a:solidFill>
                <a:latin typeface="Arial  " charset="0"/>
              </a:rPr>
              <a:pPr/>
              <a:t>12</a:t>
            </a:fld>
            <a:r>
              <a:rPr lang="en-GB" altLang="en-US" sz="1400">
                <a:solidFill>
                  <a:srgbClr val="000000"/>
                </a:solidFill>
                <a:latin typeface="Arial  " charset="0"/>
              </a:rPr>
              <a:t> </a:t>
            </a:r>
          </a:p>
        </p:txBody>
      </p:sp>
      <p:grpSp>
        <p:nvGrpSpPr>
          <p:cNvPr id="2" name="Group 9">
            <a:extLst>
              <a:ext uri="{FF2B5EF4-FFF2-40B4-BE49-F238E27FC236}">
                <a16:creationId xmlns:a16="http://schemas.microsoft.com/office/drawing/2014/main" id="{03D2AF49-1FF6-A4E6-EBCF-75A62FE5906E}"/>
              </a:ext>
            </a:extLst>
          </p:cNvPr>
          <p:cNvGrpSpPr>
            <a:grpSpLocks/>
          </p:cNvGrpSpPr>
          <p:nvPr/>
        </p:nvGrpSpPr>
        <p:grpSpPr bwMode="auto">
          <a:xfrm>
            <a:off x="488950" y="1285875"/>
            <a:ext cx="3619500" cy="4767263"/>
            <a:chOff x="489397" y="1285740"/>
            <a:chExt cx="3618964" cy="4767329"/>
          </a:xfrm>
        </p:grpSpPr>
        <p:cxnSp>
          <p:nvCxnSpPr>
            <p:cNvPr id="16395" name="Straight Connector 6">
              <a:extLst>
                <a:ext uri="{FF2B5EF4-FFF2-40B4-BE49-F238E27FC236}">
                  <a16:creationId xmlns:a16="http://schemas.microsoft.com/office/drawing/2014/main" id="{C3A94784-7AB6-6DF7-AD40-51F231346C98}"/>
                </a:ext>
              </a:extLst>
            </p:cNvPr>
            <p:cNvCxnSpPr>
              <a:cxnSpLocks noChangeShapeType="1"/>
            </p:cNvCxnSpPr>
            <p:nvPr/>
          </p:nvCxnSpPr>
          <p:spPr bwMode="auto">
            <a:xfrm rot="16200000" flipH="1">
              <a:off x="-45076" y="1873876"/>
              <a:ext cx="4687910" cy="3618964"/>
            </a:xfrm>
            <a:prstGeom prst="line">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cxnSp>
          <p:nvCxnSpPr>
            <p:cNvPr id="16396" name="Straight Connector 7">
              <a:extLst>
                <a:ext uri="{FF2B5EF4-FFF2-40B4-BE49-F238E27FC236}">
                  <a16:creationId xmlns:a16="http://schemas.microsoft.com/office/drawing/2014/main" id="{F34ED74A-8DD8-81B5-54F0-25C61263E3BA}"/>
                </a:ext>
              </a:extLst>
            </p:cNvPr>
            <p:cNvCxnSpPr>
              <a:cxnSpLocks noChangeShapeType="1"/>
            </p:cNvCxnSpPr>
            <p:nvPr/>
          </p:nvCxnSpPr>
          <p:spPr bwMode="auto">
            <a:xfrm rot="5400000">
              <a:off x="-298360" y="2112135"/>
              <a:ext cx="4767329" cy="3114540"/>
            </a:xfrm>
            <a:prstGeom prst="line">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grpSp>
      <p:sp>
        <p:nvSpPr>
          <p:cNvPr id="11" name="TextBox 10">
            <a:extLst>
              <a:ext uri="{FF2B5EF4-FFF2-40B4-BE49-F238E27FC236}">
                <a16:creationId xmlns:a16="http://schemas.microsoft.com/office/drawing/2014/main" id="{ED47ED94-D1CD-FA70-A5BD-33DA7AAD709B}"/>
              </a:ext>
            </a:extLst>
          </p:cNvPr>
          <p:cNvSpPr txBox="1">
            <a:spLocks noChangeArrowheads="1"/>
          </p:cNvSpPr>
          <p:nvPr/>
        </p:nvSpPr>
        <p:spPr bwMode="auto">
          <a:xfrm>
            <a:off x="6594475" y="1803400"/>
            <a:ext cx="211931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a:solidFill>
                  <a:srgbClr val="FF0000"/>
                </a:solidFill>
              </a:rPr>
              <a:t>(doesn’t work)</a:t>
            </a:r>
          </a:p>
        </p:txBody>
      </p:sp>
      <p:grpSp>
        <p:nvGrpSpPr>
          <p:cNvPr id="3" name="Group 16">
            <a:extLst>
              <a:ext uri="{FF2B5EF4-FFF2-40B4-BE49-F238E27FC236}">
                <a16:creationId xmlns:a16="http://schemas.microsoft.com/office/drawing/2014/main" id="{C6AB65B5-AF87-E73D-0450-55658349507C}"/>
              </a:ext>
            </a:extLst>
          </p:cNvPr>
          <p:cNvGrpSpPr>
            <a:grpSpLocks/>
          </p:cNvGrpSpPr>
          <p:nvPr/>
        </p:nvGrpSpPr>
        <p:grpSpPr bwMode="auto">
          <a:xfrm>
            <a:off x="4881563" y="1866900"/>
            <a:ext cx="1660525" cy="309563"/>
            <a:chOff x="1238040" y="1285752"/>
            <a:chExt cx="2404541" cy="3575485"/>
          </a:xfrm>
        </p:grpSpPr>
        <p:cxnSp>
          <p:nvCxnSpPr>
            <p:cNvPr id="16393" name="Straight Connector 17">
              <a:extLst>
                <a:ext uri="{FF2B5EF4-FFF2-40B4-BE49-F238E27FC236}">
                  <a16:creationId xmlns:a16="http://schemas.microsoft.com/office/drawing/2014/main" id="{F775C6EC-CFFA-F855-50F9-64A9990B5FE9}"/>
                </a:ext>
              </a:extLst>
            </p:cNvPr>
            <p:cNvCxnSpPr>
              <a:cxnSpLocks noChangeShapeType="1"/>
            </p:cNvCxnSpPr>
            <p:nvPr/>
          </p:nvCxnSpPr>
          <p:spPr bwMode="auto">
            <a:xfrm>
              <a:off x="1238040" y="1583690"/>
              <a:ext cx="2367081" cy="3128567"/>
            </a:xfrm>
            <a:prstGeom prst="line">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cxnSp>
          <p:nvCxnSpPr>
            <p:cNvPr id="16394" name="Straight Connector 18">
              <a:extLst>
                <a:ext uri="{FF2B5EF4-FFF2-40B4-BE49-F238E27FC236}">
                  <a16:creationId xmlns:a16="http://schemas.microsoft.com/office/drawing/2014/main" id="{EF2E142D-F639-50DD-3226-43255A79EB1F}"/>
                </a:ext>
              </a:extLst>
            </p:cNvPr>
            <p:cNvCxnSpPr>
              <a:cxnSpLocks noChangeShapeType="1"/>
            </p:cNvCxnSpPr>
            <p:nvPr/>
          </p:nvCxnSpPr>
          <p:spPr bwMode="auto">
            <a:xfrm rot="10800000" flipV="1">
              <a:off x="1312595" y="1285752"/>
              <a:ext cx="2329986" cy="3575485"/>
            </a:xfrm>
            <a:prstGeom prst="line">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additive="repl">
                                        <p:cTn id="6" dur="1" fill="hold">
                                          <p:stCondLst>
                                            <p:cond delay="0"/>
                                          </p:stCondLst>
                                        </p:cTn>
                                        <p:tgtEl>
                                          <p:spTgt spid="3075"/>
                                        </p:tgtEl>
                                        <p:attrNameLst>
                                          <p:attrName>style.visibility</p:attrName>
                                        </p:attrNameLst>
                                      </p:cBhvr>
                                      <p:to>
                                        <p:strVal val="visible"/>
                                      </p:to>
                                    </p:set>
                                    <p:anim calcmode="lin" valueType="num">
                                      <p:cBhvr additive="repl">
                                        <p:cTn id="7" dur="500" fill="hold"/>
                                        <p:tgtEl>
                                          <p:spTgt spid="3075"/>
                                        </p:tgtEl>
                                        <p:attrNameLst>
                                          <p:attrName>ppt_x</p:attrName>
                                        </p:attrNameLst>
                                      </p:cBhvr>
                                      <p:tavLst>
                                        <p:tav tm="100000">
                                          <p:val>
                                            <p:strVal val="0-#ppt_w/2"/>
                                          </p:val>
                                        </p:tav>
                                        <p:tav>
                                          <p:val>
                                            <p:strVal val="#ppt_x"/>
                                          </p:val>
                                        </p:tav>
                                      </p:tavLst>
                                    </p:anim>
                                    <p:anim calcmode="lin" valueType="num">
                                      <p:cBhvr additive="repl">
                                        <p:cTn id="8" dur="500" fill="hold"/>
                                        <p:tgtEl>
                                          <p:spTgt spid="3075"/>
                                        </p:tgtEl>
                                        <p:attrNameLst>
                                          <p:attrName>ppt_y</p:attrName>
                                        </p:attrNameLst>
                                      </p:cBhvr>
                                      <p:tavLst>
                                        <p:tav tm="100000">
                                          <p:val>
                                            <p:strVal val="#ppt_y"/>
                                          </p:val>
                                        </p:tav>
                                        <p:tav>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411">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411">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11">
                                            <p:txEl>
                                              <p:pRg st="4" end="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411">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4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a:extLst>
              <a:ext uri="{FF2B5EF4-FFF2-40B4-BE49-F238E27FC236}">
                <a16:creationId xmlns:a16="http://schemas.microsoft.com/office/drawing/2014/main" id="{61FC30E6-8CBC-D0EB-9FEE-DC097AF5A6ED}"/>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Arial  " charset="0"/>
                <a:cs typeface="Arial  " charset="0"/>
              </a:rPr>
              <a:t>Example Prediction Problem</a:t>
            </a:r>
          </a:p>
        </p:txBody>
      </p:sp>
      <p:sp>
        <p:nvSpPr>
          <p:cNvPr id="17411" name="Rectangle 2">
            <a:extLst>
              <a:ext uri="{FF2B5EF4-FFF2-40B4-BE49-F238E27FC236}">
                <a16:creationId xmlns:a16="http://schemas.microsoft.com/office/drawing/2014/main" id="{F3CB0DBB-700B-B4DB-47AB-752E2DF5B460}"/>
              </a:ext>
            </a:extLst>
          </p:cNvPr>
          <p:cNvSpPr>
            <a:spLocks noGrp="1" noChangeArrowheads="1"/>
          </p:cNvSpPr>
          <p:nvPr>
            <p:ph type="body" idx="1"/>
          </p:nvPr>
        </p:nvSpPr>
        <p:spPr>
          <a:xfrm>
            <a:off x="582613" y="1584325"/>
            <a:ext cx="8278812" cy="1866900"/>
          </a:xfrm>
        </p:spPr>
        <p:txBody>
          <a:bodyPr/>
          <a:lstStyle/>
          <a:p>
            <a:pPr eaLnBrk="1" hangingPunct="1">
              <a:lnSpc>
                <a:spcPct val="90000"/>
              </a:lnSpc>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Arial  " charset="0"/>
                <a:cs typeface="Arial  " charset="0"/>
              </a:rPr>
              <a:t>Loop: </a:t>
            </a:r>
            <a:r>
              <a:rPr lang="en-GB" altLang="en-US" sz="1800">
                <a:latin typeface="Arial  " charset="0"/>
                <a:cs typeface="Arial  " charset="0"/>
              </a:rPr>
              <a:t> </a:t>
            </a:r>
            <a:r>
              <a:rPr lang="en-GB" altLang="en-US" sz="2400">
                <a:latin typeface="Arial  " charset="0"/>
                <a:cs typeface="Arial  " charset="0"/>
              </a:rPr>
              <a:t>...</a:t>
            </a:r>
          </a:p>
          <a:p>
            <a:pPr eaLnBrk="1" hangingPunct="1">
              <a:lnSpc>
                <a:spcPct val="90000"/>
              </a:lnSpc>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Arial  " charset="0"/>
                <a:cs typeface="Arial  " charset="0"/>
              </a:rPr>
              <a:t>		...</a:t>
            </a:r>
          </a:p>
          <a:p>
            <a:pPr eaLnBrk="1" hangingPunct="1">
              <a:lnSpc>
                <a:spcPct val="90000"/>
              </a:lnSpc>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Arial  " charset="0"/>
                <a:cs typeface="Arial  " charset="0"/>
              </a:rPr>
              <a:t>		DSUBI  R1,R1,#1</a:t>
            </a:r>
          </a:p>
          <a:p>
            <a:pPr eaLnBrk="1" hangingPunct="1">
              <a:lnSpc>
                <a:spcPct val="90000"/>
              </a:lnSpc>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Arial  " charset="0"/>
                <a:cs typeface="Arial  " charset="0"/>
              </a:rPr>
              <a:t>		BNEZ   R1,Loop ;  taken 9 times, not taken once</a:t>
            </a:r>
          </a:p>
        </p:txBody>
      </p:sp>
      <p:sp>
        <p:nvSpPr>
          <p:cNvPr id="17412" name="Slide Number Placeholder 7">
            <a:extLst>
              <a:ext uri="{FF2B5EF4-FFF2-40B4-BE49-F238E27FC236}">
                <a16:creationId xmlns:a16="http://schemas.microsoft.com/office/drawing/2014/main" id="{4FD2C492-20E4-BBD8-F15D-86F372C3BA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D6076F01-3801-3546-B628-49F07599AED0}" type="slidenum">
              <a:rPr lang="en-GB" altLang="en-US" sz="1400">
                <a:solidFill>
                  <a:srgbClr val="000000"/>
                </a:solidFill>
                <a:latin typeface="Arial  " charset="0"/>
              </a:rPr>
              <a:pPr/>
              <a:t>13</a:t>
            </a:fld>
            <a:r>
              <a:rPr lang="en-GB" altLang="en-US" sz="1400">
                <a:solidFill>
                  <a:srgbClr val="000000"/>
                </a:solidFill>
                <a:latin typeface="Arial  " charset="0"/>
              </a:rPr>
              <a:t> </a:t>
            </a:r>
          </a:p>
        </p:txBody>
      </p:sp>
      <p:sp>
        <p:nvSpPr>
          <p:cNvPr id="17413" name="TextBox 4">
            <a:extLst>
              <a:ext uri="{FF2B5EF4-FFF2-40B4-BE49-F238E27FC236}">
                <a16:creationId xmlns:a16="http://schemas.microsoft.com/office/drawing/2014/main" id="{0A473004-2469-740B-7840-ABF21569D7F7}"/>
              </a:ext>
            </a:extLst>
          </p:cNvPr>
          <p:cNvSpPr txBox="1">
            <a:spLocks noChangeArrowheads="1"/>
          </p:cNvSpPr>
          <p:nvPr/>
        </p:nvSpPr>
        <p:spPr bwMode="auto">
          <a:xfrm>
            <a:off x="576263" y="4279900"/>
            <a:ext cx="8158162"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dirty="0">
                <a:solidFill>
                  <a:schemeClr val="tx1"/>
                </a:solidFill>
              </a:rPr>
              <a:t>Observations: For this code, </a:t>
            </a:r>
            <a:r>
              <a:rPr lang="en-CA" altLang="en-US" dirty="0">
                <a:solidFill>
                  <a:srgbClr val="0000FF"/>
                </a:solidFill>
              </a:rPr>
              <a:t>last branch outcome </a:t>
            </a:r>
            <a:r>
              <a:rPr lang="en-CA" altLang="en-US" dirty="0">
                <a:solidFill>
                  <a:schemeClr val="tx1"/>
                </a:solidFill>
              </a:rPr>
              <a:t>(taken, </a:t>
            </a:r>
          </a:p>
          <a:p>
            <a:r>
              <a:rPr lang="en-CA" altLang="en-US" dirty="0">
                <a:solidFill>
                  <a:schemeClr val="tx1"/>
                </a:solidFill>
              </a:rPr>
              <a:t>not taken) a good (but not perfect) predictor of next branch</a:t>
            </a:r>
          </a:p>
          <a:p>
            <a:r>
              <a:rPr lang="en-CA" altLang="en-US" dirty="0">
                <a:solidFill>
                  <a:schemeClr val="tx1"/>
                </a:solidFill>
              </a:rPr>
              <a:t>outcome.  This turns out to be true for many branches.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209AF2EA-0922-D595-3642-C17ED9F50477}"/>
              </a:ext>
            </a:extLst>
          </p:cNvPr>
          <p:cNvSpPr>
            <a:spLocks noGrp="1"/>
          </p:cNvSpPr>
          <p:nvPr>
            <p:ph type="title"/>
          </p:nvPr>
        </p:nvSpPr>
        <p:spPr>
          <a:xfrm>
            <a:off x="0" y="0"/>
            <a:ext cx="9144000" cy="1131888"/>
          </a:xfrm>
        </p:spPr>
        <p:txBody>
          <a:bodyPr tIns="0" bIns="0"/>
          <a:lstStyle/>
          <a:p>
            <a:r>
              <a:rPr lang="en-CA" altLang="en-US" i="1" dirty="0">
                <a:latin typeface="Arial  " charset="0"/>
                <a:cs typeface="Arial  " charset="0"/>
              </a:rPr>
              <a:t>design hardware to use observation?</a:t>
            </a:r>
          </a:p>
        </p:txBody>
      </p:sp>
      <p:sp>
        <p:nvSpPr>
          <p:cNvPr id="18435" name="Slide Number Placeholder 3">
            <a:extLst>
              <a:ext uri="{FF2B5EF4-FFF2-40B4-BE49-F238E27FC236}">
                <a16:creationId xmlns:a16="http://schemas.microsoft.com/office/drawing/2014/main" id="{B3ABF8C5-A648-5BA4-5D44-AE5122D2D9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534DB718-6484-144F-BE58-CF2AF6ABFFC6}" type="slidenum">
              <a:rPr lang="en-GB" altLang="en-US" sz="1400">
                <a:solidFill>
                  <a:srgbClr val="000000"/>
                </a:solidFill>
                <a:latin typeface="Arial  " charset="0"/>
              </a:rPr>
              <a:pPr/>
              <a:t>14</a:t>
            </a:fld>
            <a:r>
              <a:rPr lang="en-GB" altLang="en-US" sz="1400">
                <a:solidFill>
                  <a:srgbClr val="000000"/>
                </a:solidFill>
                <a:latin typeface="Arial  " charset="0"/>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a:extLst>
              <a:ext uri="{FF2B5EF4-FFF2-40B4-BE49-F238E27FC236}">
                <a16:creationId xmlns:a16="http://schemas.microsoft.com/office/drawing/2014/main" id="{75CBFCD0-D6B2-03CD-FA47-93DD5C9B1F47}"/>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200" b="1">
                <a:solidFill>
                  <a:srgbClr val="0000FF"/>
                </a:solidFill>
                <a:latin typeface="Arial  " charset="0"/>
                <a:cs typeface="Arial  " charset="0"/>
              </a:rPr>
              <a:t>1-Bit</a:t>
            </a:r>
            <a:r>
              <a:rPr lang="en-GB" altLang="en-US" sz="3200" b="1">
                <a:latin typeface="Arial  " charset="0"/>
                <a:cs typeface="Arial  " charset="0"/>
              </a:rPr>
              <a:t> Branch Predictor</a:t>
            </a:r>
            <a:endParaRPr lang="en-GB" altLang="en-US" sz="3200">
              <a:latin typeface="Arial  " charset="0"/>
              <a:cs typeface="Arial  " charset="0"/>
            </a:endParaRPr>
          </a:p>
        </p:txBody>
      </p:sp>
      <p:sp>
        <p:nvSpPr>
          <p:cNvPr id="19459" name="Rectangle 2">
            <a:extLst>
              <a:ext uri="{FF2B5EF4-FFF2-40B4-BE49-F238E27FC236}">
                <a16:creationId xmlns:a16="http://schemas.microsoft.com/office/drawing/2014/main" id="{4509A925-03CF-380E-6675-53556DBF8913}"/>
              </a:ext>
            </a:extLst>
          </p:cNvPr>
          <p:cNvSpPr>
            <a:spLocks noGrp="1" noChangeArrowheads="1"/>
          </p:cNvSpPr>
          <p:nvPr>
            <p:ph type="body" idx="1"/>
          </p:nvPr>
        </p:nvSpPr>
        <p:spPr>
          <a:xfrm>
            <a:off x="533400" y="1400175"/>
            <a:ext cx="7772400" cy="4162425"/>
          </a:xfrm>
        </p:spPr>
        <p:txBody>
          <a:bodyPr/>
          <a:lstStyle/>
          <a:p>
            <a:pPr eaLnBrk="1" hangingPunct="1">
              <a:lnSpc>
                <a:spcPct val="100000"/>
              </a:lnSpc>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200">
              <a:latin typeface="Arial  " charset="0"/>
              <a:cs typeface="Arial  " charset="0"/>
            </a:endParaRPr>
          </a:p>
          <a:p>
            <a:pPr eaLnBrk="1" hangingPunct="1">
              <a:lnSpc>
                <a:spcPct val="100000"/>
              </a:lnSpc>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a:latin typeface="Arial  " charset="0"/>
              <a:cs typeface="Arial  " charset="0"/>
            </a:endParaRPr>
          </a:p>
        </p:txBody>
      </p:sp>
      <p:grpSp>
        <p:nvGrpSpPr>
          <p:cNvPr id="2" name="Group 34">
            <a:extLst>
              <a:ext uri="{FF2B5EF4-FFF2-40B4-BE49-F238E27FC236}">
                <a16:creationId xmlns:a16="http://schemas.microsoft.com/office/drawing/2014/main" id="{7F579C80-97FA-2321-E47D-59048B48E49A}"/>
              </a:ext>
            </a:extLst>
          </p:cNvPr>
          <p:cNvGrpSpPr>
            <a:grpSpLocks/>
          </p:cNvGrpSpPr>
          <p:nvPr/>
        </p:nvGrpSpPr>
        <p:grpSpPr bwMode="auto">
          <a:xfrm>
            <a:off x="244475" y="3009900"/>
            <a:ext cx="3629025" cy="979488"/>
            <a:chOff x="244475" y="3009900"/>
            <a:chExt cx="3629025" cy="978712"/>
          </a:xfrm>
        </p:grpSpPr>
        <p:sp>
          <p:nvSpPr>
            <p:cNvPr id="19492" name="Line 7">
              <a:extLst>
                <a:ext uri="{FF2B5EF4-FFF2-40B4-BE49-F238E27FC236}">
                  <a16:creationId xmlns:a16="http://schemas.microsoft.com/office/drawing/2014/main" id="{DAA1D7A9-050F-55E0-B66B-6B00FE9CF4B1}"/>
                </a:ext>
              </a:extLst>
            </p:cNvPr>
            <p:cNvSpPr>
              <a:spLocks noChangeShapeType="1"/>
            </p:cNvSpPr>
            <p:nvPr/>
          </p:nvSpPr>
          <p:spPr bwMode="auto">
            <a:xfrm>
              <a:off x="2273300" y="3352800"/>
              <a:ext cx="1600200" cy="14288"/>
            </a:xfrm>
            <a:prstGeom prst="line">
              <a:avLst/>
            </a:prstGeom>
            <a:noFill/>
            <a:ln w="2844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93" name="AutoShape 10">
              <a:extLst>
                <a:ext uri="{FF2B5EF4-FFF2-40B4-BE49-F238E27FC236}">
                  <a16:creationId xmlns:a16="http://schemas.microsoft.com/office/drawing/2014/main" id="{60BC2859-07DB-5EE6-B8A0-A94B80495DE7}"/>
                </a:ext>
              </a:extLst>
            </p:cNvPr>
            <p:cNvSpPr>
              <a:spLocks/>
            </p:cNvSpPr>
            <p:nvPr/>
          </p:nvSpPr>
          <p:spPr bwMode="auto">
            <a:xfrm rot="-5400000">
              <a:off x="2089150" y="2451100"/>
              <a:ext cx="342900" cy="1460500"/>
            </a:xfrm>
            <a:prstGeom prst="leftBrace">
              <a:avLst>
                <a:gd name="adj1" fmla="val 35494"/>
                <a:gd name="adj2" fmla="val 50000"/>
              </a:avLst>
            </a:prstGeom>
            <a:noFill/>
            <a:ln w="936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494" name="Text Box 11">
              <a:extLst>
                <a:ext uri="{FF2B5EF4-FFF2-40B4-BE49-F238E27FC236}">
                  <a16:creationId xmlns:a16="http://schemas.microsoft.com/office/drawing/2014/main" id="{3F39257C-2C87-7725-12EE-60DC2EC4129B}"/>
                </a:ext>
              </a:extLst>
            </p:cNvPr>
            <p:cNvSpPr txBox="1">
              <a:spLocks noChangeArrowheads="1"/>
            </p:cNvSpPr>
            <p:nvPr/>
          </p:nvSpPr>
          <p:spPr bwMode="auto">
            <a:xfrm>
              <a:off x="244475" y="3340100"/>
              <a:ext cx="3343275" cy="64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1800">
                  <a:solidFill>
                    <a:srgbClr val="0000FF"/>
                  </a:solidFill>
                  <a:cs typeface="Arial" panose="020B0604020202020204" pitchFamily="34" charset="0"/>
                </a:rPr>
                <a:t>Use “n” lower order bits to select row from table.</a:t>
              </a:r>
            </a:p>
          </p:txBody>
        </p:sp>
      </p:grpSp>
      <p:sp>
        <p:nvSpPr>
          <p:cNvPr id="18446" name="Text Box 14">
            <a:extLst>
              <a:ext uri="{FF2B5EF4-FFF2-40B4-BE49-F238E27FC236}">
                <a16:creationId xmlns:a16="http://schemas.microsoft.com/office/drawing/2014/main" id="{C0EF4AA8-0A15-D9F8-8DBE-C4AA51457A64}"/>
              </a:ext>
            </a:extLst>
          </p:cNvPr>
          <p:cNvSpPr txBox="1">
            <a:spLocks noChangeArrowheads="1"/>
          </p:cNvSpPr>
          <p:nvPr/>
        </p:nvSpPr>
        <p:spPr bwMode="auto">
          <a:xfrm>
            <a:off x="3759200" y="5232400"/>
            <a:ext cx="32639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spcBef>
                <a:spcPts val="1500"/>
              </a:spcBef>
              <a:buFont typeface="Comic Sans MS" panose="030F0902030302020204" pitchFamily="66" charset="0"/>
              <a:buNone/>
            </a:pPr>
            <a:r>
              <a:rPr lang="en-GB" altLang="en-US">
                <a:solidFill>
                  <a:srgbClr val="000000"/>
                </a:solidFill>
                <a:cs typeface="Arial" panose="020B0604020202020204" pitchFamily="34" charset="0"/>
              </a:rPr>
              <a:t>2</a:t>
            </a:r>
            <a:r>
              <a:rPr lang="en-GB" altLang="en-US" baseline="30000">
                <a:solidFill>
                  <a:srgbClr val="000000"/>
                </a:solidFill>
                <a:cs typeface="Arial" panose="020B0604020202020204" pitchFamily="34" charset="0"/>
              </a:rPr>
              <a:t>n</a:t>
            </a:r>
            <a:r>
              <a:rPr lang="en-GB" altLang="en-US">
                <a:solidFill>
                  <a:srgbClr val="000000"/>
                </a:solidFill>
                <a:cs typeface="Arial" panose="020B0604020202020204" pitchFamily="34" charset="0"/>
              </a:rPr>
              <a:t> x </a:t>
            </a:r>
            <a:r>
              <a:rPr lang="en-GB" altLang="en-US" u="sng">
                <a:solidFill>
                  <a:srgbClr val="000000"/>
                </a:solidFill>
                <a:cs typeface="Arial" panose="020B0604020202020204" pitchFamily="34" charset="0"/>
              </a:rPr>
              <a:t>1 bit</a:t>
            </a:r>
            <a:r>
              <a:rPr lang="en-GB" altLang="en-US">
                <a:solidFill>
                  <a:srgbClr val="000000"/>
                </a:solidFill>
                <a:cs typeface="Arial" panose="020B0604020202020204" pitchFamily="34" charset="0"/>
              </a:rPr>
              <a:t> table</a:t>
            </a:r>
          </a:p>
        </p:txBody>
      </p:sp>
      <p:sp>
        <p:nvSpPr>
          <p:cNvPr id="18448" name="Text Box 16">
            <a:extLst>
              <a:ext uri="{FF2B5EF4-FFF2-40B4-BE49-F238E27FC236}">
                <a16:creationId xmlns:a16="http://schemas.microsoft.com/office/drawing/2014/main" id="{763E36EB-D66F-E677-49BD-A242B95A6428}"/>
              </a:ext>
            </a:extLst>
          </p:cNvPr>
          <p:cNvSpPr txBox="1">
            <a:spLocks noChangeArrowheads="1"/>
          </p:cNvSpPr>
          <p:nvPr/>
        </p:nvSpPr>
        <p:spPr bwMode="auto">
          <a:xfrm>
            <a:off x="5638800" y="1841500"/>
            <a:ext cx="3505200" cy="227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spcBef>
                <a:spcPts val="1250"/>
              </a:spcBef>
              <a:buFont typeface="Comic Sans MS" panose="030F0902030302020204" pitchFamily="66" charset="0"/>
              <a:buNone/>
            </a:pPr>
            <a:r>
              <a:rPr lang="en-GB" altLang="en-US" sz="2000">
                <a:solidFill>
                  <a:srgbClr val="FF0000"/>
                </a:solidFill>
                <a:cs typeface="Arial" panose="020B0604020202020204" pitchFamily="34" charset="0"/>
              </a:rPr>
              <a:t>Output (“0”) is </a:t>
            </a:r>
            <a:r>
              <a:rPr lang="en-GB" altLang="en-US" sz="2000" u="sng">
                <a:solidFill>
                  <a:srgbClr val="FF0000"/>
                </a:solidFill>
                <a:cs typeface="Arial" panose="020B0604020202020204" pitchFamily="34" charset="0"/>
              </a:rPr>
              <a:t>previous</a:t>
            </a:r>
            <a:r>
              <a:rPr lang="en-GB" altLang="en-US" sz="2000">
                <a:solidFill>
                  <a:srgbClr val="FF0000"/>
                </a:solidFill>
                <a:cs typeface="Arial" panose="020B0604020202020204" pitchFamily="34" charset="0"/>
              </a:rPr>
              <a:t> </a:t>
            </a:r>
            <a:r>
              <a:rPr lang="en-GB" altLang="en-US" sz="2000" b="1">
                <a:solidFill>
                  <a:srgbClr val="FF0000"/>
                </a:solidFill>
                <a:cs typeface="Arial" panose="020B0604020202020204" pitchFamily="34" charset="0"/>
              </a:rPr>
              <a:t>actual </a:t>
            </a:r>
            <a:r>
              <a:rPr lang="en-GB" altLang="en-US" sz="2000">
                <a:solidFill>
                  <a:srgbClr val="FF0000"/>
                </a:solidFill>
                <a:cs typeface="Arial" panose="020B0604020202020204" pitchFamily="34" charset="0"/>
              </a:rPr>
              <a:t>outcome of branch:</a:t>
            </a:r>
          </a:p>
          <a:p>
            <a:pPr>
              <a:lnSpc>
                <a:spcPct val="100000"/>
              </a:lnSpc>
              <a:spcBef>
                <a:spcPts val="1250"/>
              </a:spcBef>
              <a:buFont typeface="Comic Sans MS" panose="030F0902030302020204" pitchFamily="66" charset="0"/>
              <a:buChar char="•"/>
            </a:pPr>
            <a:r>
              <a:rPr lang="en-GB" altLang="en-US" sz="2000">
                <a:solidFill>
                  <a:srgbClr val="0000FF"/>
                </a:solidFill>
                <a:cs typeface="Arial" panose="020B0604020202020204" pitchFamily="34" charset="0"/>
              </a:rPr>
              <a:t> “1” =&gt; last time this              branch was “taken” (T)</a:t>
            </a:r>
          </a:p>
          <a:p>
            <a:pPr>
              <a:lnSpc>
                <a:spcPct val="100000"/>
              </a:lnSpc>
              <a:spcBef>
                <a:spcPts val="1250"/>
              </a:spcBef>
              <a:buFont typeface="Comic Sans MS" panose="030F0902030302020204" pitchFamily="66" charset="0"/>
              <a:buChar char="•"/>
            </a:pPr>
            <a:r>
              <a:rPr lang="en-GB" altLang="en-US" sz="2000">
                <a:solidFill>
                  <a:srgbClr val="0000FF"/>
                </a:solidFill>
                <a:cs typeface="Arial" panose="020B0604020202020204" pitchFamily="34" charset="0"/>
              </a:rPr>
              <a:t> “0” =&gt; last time, this branch was “not taken” (NT)</a:t>
            </a:r>
          </a:p>
        </p:txBody>
      </p:sp>
      <p:grpSp>
        <p:nvGrpSpPr>
          <p:cNvPr id="3" name="Group 32">
            <a:extLst>
              <a:ext uri="{FF2B5EF4-FFF2-40B4-BE49-F238E27FC236}">
                <a16:creationId xmlns:a16="http://schemas.microsoft.com/office/drawing/2014/main" id="{D20336EC-B77E-01D8-F71A-D7E635E8AC6D}"/>
              </a:ext>
            </a:extLst>
          </p:cNvPr>
          <p:cNvGrpSpPr>
            <a:grpSpLocks/>
          </p:cNvGrpSpPr>
          <p:nvPr/>
        </p:nvGrpSpPr>
        <p:grpSpPr bwMode="auto">
          <a:xfrm>
            <a:off x="228600" y="1841500"/>
            <a:ext cx="3175000" cy="1054100"/>
            <a:chOff x="228600" y="1841500"/>
            <a:chExt cx="3175000" cy="1054100"/>
          </a:xfrm>
        </p:grpSpPr>
        <p:sp>
          <p:nvSpPr>
            <p:cNvPr id="19487" name="Rectangle 3">
              <a:extLst>
                <a:ext uri="{FF2B5EF4-FFF2-40B4-BE49-F238E27FC236}">
                  <a16:creationId xmlns:a16="http://schemas.microsoft.com/office/drawing/2014/main" id="{ED3EBE11-72A2-D6DF-CE30-E90EA2193A8F}"/>
                </a:ext>
              </a:extLst>
            </p:cNvPr>
            <p:cNvSpPr>
              <a:spLocks noChangeArrowheads="1"/>
            </p:cNvSpPr>
            <p:nvPr/>
          </p:nvSpPr>
          <p:spPr bwMode="auto">
            <a:xfrm>
              <a:off x="1346200" y="2476500"/>
              <a:ext cx="1790700" cy="419100"/>
            </a:xfrm>
            <a:prstGeom prst="rect">
              <a:avLst/>
            </a:prstGeom>
            <a:solidFill>
              <a:srgbClr val="BBE0E3"/>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a:lnSpc>
                  <a:spcPct val="100000"/>
                </a:lnSpc>
              </a:pPr>
              <a:r>
                <a:rPr lang="en-GB" altLang="en-US">
                  <a:solidFill>
                    <a:srgbClr val="FF0000"/>
                  </a:solidFill>
                </a:rPr>
                <a:t>000000011</a:t>
              </a:r>
              <a:endParaRPr lang="en-GB" altLang="en-US">
                <a:solidFill>
                  <a:srgbClr val="000000"/>
                </a:solidFill>
              </a:endParaRPr>
            </a:p>
          </p:txBody>
        </p:sp>
        <p:sp>
          <p:nvSpPr>
            <p:cNvPr id="19488" name="Rectangle 9">
              <a:extLst>
                <a:ext uri="{FF2B5EF4-FFF2-40B4-BE49-F238E27FC236}">
                  <a16:creationId xmlns:a16="http://schemas.microsoft.com/office/drawing/2014/main" id="{F9EBBB17-749A-88DC-3939-384CC4EECFB3}"/>
                </a:ext>
              </a:extLst>
            </p:cNvPr>
            <p:cNvSpPr>
              <a:spLocks noChangeArrowheads="1"/>
            </p:cNvSpPr>
            <p:nvPr/>
          </p:nvSpPr>
          <p:spPr bwMode="auto">
            <a:xfrm>
              <a:off x="228600" y="2476500"/>
              <a:ext cx="1219200" cy="419100"/>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t>01…100</a:t>
              </a:r>
            </a:p>
          </p:txBody>
        </p:sp>
        <p:sp>
          <p:nvSpPr>
            <p:cNvPr id="19489" name="Rectangle 12">
              <a:extLst>
                <a:ext uri="{FF2B5EF4-FFF2-40B4-BE49-F238E27FC236}">
                  <a16:creationId xmlns:a16="http://schemas.microsoft.com/office/drawing/2014/main" id="{77609C27-26F2-609C-5160-C69982D37D0C}"/>
                </a:ext>
              </a:extLst>
            </p:cNvPr>
            <p:cNvSpPr>
              <a:spLocks noChangeArrowheads="1"/>
            </p:cNvSpPr>
            <p:nvPr/>
          </p:nvSpPr>
          <p:spPr bwMode="auto">
            <a:xfrm>
              <a:off x="3009900" y="2473325"/>
              <a:ext cx="390525" cy="422275"/>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cs typeface="Arial" panose="020B0604020202020204" pitchFamily="34" charset="0"/>
                </a:rPr>
                <a:t>00</a:t>
              </a:r>
            </a:p>
          </p:txBody>
        </p:sp>
        <p:sp>
          <p:nvSpPr>
            <p:cNvPr id="19490" name="AutoShape 21">
              <a:extLst>
                <a:ext uri="{FF2B5EF4-FFF2-40B4-BE49-F238E27FC236}">
                  <a16:creationId xmlns:a16="http://schemas.microsoft.com/office/drawing/2014/main" id="{AE4DE959-DF7F-DE34-C537-8298A87A70DD}"/>
                </a:ext>
              </a:extLst>
            </p:cNvPr>
            <p:cNvSpPr>
              <a:spLocks/>
            </p:cNvSpPr>
            <p:nvPr/>
          </p:nvSpPr>
          <p:spPr bwMode="auto">
            <a:xfrm rot="-5400000">
              <a:off x="1749425" y="771525"/>
              <a:ext cx="152400" cy="3155950"/>
            </a:xfrm>
            <a:prstGeom prst="rightBrace">
              <a:avLst>
                <a:gd name="adj1" fmla="val 17256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491" name="Text Box 22">
              <a:extLst>
                <a:ext uri="{FF2B5EF4-FFF2-40B4-BE49-F238E27FC236}">
                  <a16:creationId xmlns:a16="http://schemas.microsoft.com/office/drawing/2014/main" id="{5B595CAA-D931-5BAF-7A84-5C72B67863FC}"/>
                </a:ext>
              </a:extLst>
            </p:cNvPr>
            <p:cNvSpPr txBox="1">
              <a:spLocks noChangeArrowheads="1"/>
            </p:cNvSpPr>
            <p:nvPr/>
          </p:nvSpPr>
          <p:spPr bwMode="auto">
            <a:xfrm>
              <a:off x="974725" y="1841500"/>
              <a:ext cx="19812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chemeClr val="tx1"/>
                  </a:solidFill>
                  <a:cs typeface="Arial" panose="020B0604020202020204" pitchFamily="34" charset="0"/>
                </a:rPr>
                <a:t>PC of branch</a:t>
              </a:r>
              <a:endParaRPr lang="en-US" altLang="en-US">
                <a:cs typeface="Arial" panose="020B0604020202020204" pitchFamily="34" charset="0"/>
              </a:endParaRPr>
            </a:p>
          </p:txBody>
        </p:sp>
      </p:grpSp>
      <p:sp>
        <p:nvSpPr>
          <p:cNvPr id="18447" name="Line 15">
            <a:extLst>
              <a:ext uri="{FF2B5EF4-FFF2-40B4-BE49-F238E27FC236}">
                <a16:creationId xmlns:a16="http://schemas.microsoft.com/office/drawing/2014/main" id="{00CB6A43-B395-BD8D-EADC-FDB1D1FD15DA}"/>
              </a:ext>
            </a:extLst>
          </p:cNvPr>
          <p:cNvSpPr>
            <a:spLocks noChangeShapeType="1"/>
          </p:cNvSpPr>
          <p:nvPr/>
        </p:nvSpPr>
        <p:spPr bwMode="auto">
          <a:xfrm>
            <a:off x="4546600" y="2743200"/>
            <a:ext cx="939800" cy="1588"/>
          </a:xfrm>
          <a:prstGeom prst="line">
            <a:avLst/>
          </a:prstGeom>
          <a:noFill/>
          <a:ln w="2844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37" name="Rectangle 4">
            <a:extLst>
              <a:ext uri="{FF2B5EF4-FFF2-40B4-BE49-F238E27FC236}">
                <a16:creationId xmlns:a16="http://schemas.microsoft.com/office/drawing/2014/main" id="{1AD72AAF-A5B4-2E8B-C579-F32307E08A5B}"/>
              </a:ext>
            </a:extLst>
          </p:cNvPr>
          <p:cNvSpPr>
            <a:spLocks noChangeArrowheads="1"/>
          </p:cNvSpPr>
          <p:nvPr/>
        </p:nvSpPr>
        <p:spPr bwMode="auto">
          <a:xfrm>
            <a:off x="4197350" y="1689100"/>
            <a:ext cx="279400" cy="33655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grpSp>
        <p:nvGrpSpPr>
          <p:cNvPr id="4" name="Group 42">
            <a:extLst>
              <a:ext uri="{FF2B5EF4-FFF2-40B4-BE49-F238E27FC236}">
                <a16:creationId xmlns:a16="http://schemas.microsoft.com/office/drawing/2014/main" id="{70F10CE6-25EB-12FD-18BC-71A1F13D4B9B}"/>
              </a:ext>
            </a:extLst>
          </p:cNvPr>
          <p:cNvGrpSpPr>
            <a:grpSpLocks/>
          </p:cNvGrpSpPr>
          <p:nvPr/>
        </p:nvGrpSpPr>
        <p:grpSpPr bwMode="auto">
          <a:xfrm>
            <a:off x="4194175" y="1993900"/>
            <a:ext cx="298450" cy="884238"/>
            <a:chOff x="4641850" y="1993900"/>
            <a:chExt cx="298450" cy="884238"/>
          </a:xfrm>
        </p:grpSpPr>
        <p:sp>
          <p:nvSpPr>
            <p:cNvPr id="19482" name="Line 5">
              <a:extLst>
                <a:ext uri="{FF2B5EF4-FFF2-40B4-BE49-F238E27FC236}">
                  <a16:creationId xmlns:a16="http://schemas.microsoft.com/office/drawing/2014/main" id="{B97C1980-91FD-C27F-6043-BED6C33A25FF}"/>
                </a:ext>
              </a:extLst>
            </p:cNvPr>
            <p:cNvSpPr>
              <a:spLocks noChangeShapeType="1"/>
            </p:cNvSpPr>
            <p:nvPr/>
          </p:nvSpPr>
          <p:spPr bwMode="auto">
            <a:xfrm>
              <a:off x="4654550" y="19939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nvGrpSpPr>
            <p:cNvPr id="19483" name="Group 41">
              <a:extLst>
                <a:ext uri="{FF2B5EF4-FFF2-40B4-BE49-F238E27FC236}">
                  <a16:creationId xmlns:a16="http://schemas.microsoft.com/office/drawing/2014/main" id="{4CAFF787-206E-2DDF-C51C-E479988497BB}"/>
                </a:ext>
              </a:extLst>
            </p:cNvPr>
            <p:cNvGrpSpPr>
              <a:grpSpLocks/>
            </p:cNvGrpSpPr>
            <p:nvPr/>
          </p:nvGrpSpPr>
          <p:grpSpPr bwMode="auto">
            <a:xfrm>
              <a:off x="4641850" y="2298700"/>
              <a:ext cx="298450" cy="579438"/>
              <a:chOff x="4641850" y="2298700"/>
              <a:chExt cx="298450" cy="579438"/>
            </a:xfrm>
          </p:grpSpPr>
          <p:sp>
            <p:nvSpPr>
              <p:cNvPr id="19484" name="Line 6">
                <a:extLst>
                  <a:ext uri="{FF2B5EF4-FFF2-40B4-BE49-F238E27FC236}">
                    <a16:creationId xmlns:a16="http://schemas.microsoft.com/office/drawing/2014/main" id="{170A268E-DFAF-9D04-8F50-20CF3C189BC2}"/>
                  </a:ext>
                </a:extLst>
              </p:cNvPr>
              <p:cNvSpPr>
                <a:spLocks noChangeShapeType="1"/>
              </p:cNvSpPr>
              <p:nvPr/>
            </p:nvSpPr>
            <p:spPr bwMode="auto">
              <a:xfrm>
                <a:off x="4641850" y="22987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9485" name="Line 8">
                <a:extLst>
                  <a:ext uri="{FF2B5EF4-FFF2-40B4-BE49-F238E27FC236}">
                    <a16:creationId xmlns:a16="http://schemas.microsoft.com/office/drawing/2014/main" id="{A32F3FD4-0650-2D6C-CD7C-8A44F01CC219}"/>
                  </a:ext>
                </a:extLst>
              </p:cNvPr>
              <p:cNvSpPr>
                <a:spLocks noChangeShapeType="1"/>
              </p:cNvSpPr>
              <p:nvPr/>
            </p:nvSpPr>
            <p:spPr bwMode="auto">
              <a:xfrm>
                <a:off x="4654550" y="25908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9486" name="Line 31">
                <a:extLst>
                  <a:ext uri="{FF2B5EF4-FFF2-40B4-BE49-F238E27FC236}">
                    <a16:creationId xmlns:a16="http://schemas.microsoft.com/office/drawing/2014/main" id="{55D110B7-A8E4-D003-71FB-963A59CFF903}"/>
                  </a:ext>
                </a:extLst>
              </p:cNvPr>
              <p:cNvSpPr>
                <a:spLocks noChangeShapeType="1"/>
              </p:cNvSpPr>
              <p:nvPr/>
            </p:nvSpPr>
            <p:spPr bwMode="auto">
              <a:xfrm>
                <a:off x="4660900" y="287655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8461" name="Line 33">
            <a:extLst>
              <a:ext uri="{FF2B5EF4-FFF2-40B4-BE49-F238E27FC236}">
                <a16:creationId xmlns:a16="http://schemas.microsoft.com/office/drawing/2014/main" id="{D65D9B01-5593-4240-83FB-180808319FB6}"/>
              </a:ext>
            </a:extLst>
          </p:cNvPr>
          <p:cNvSpPr>
            <a:spLocks noChangeShapeType="1"/>
          </p:cNvSpPr>
          <p:nvPr/>
        </p:nvSpPr>
        <p:spPr bwMode="auto">
          <a:xfrm>
            <a:off x="4203700" y="479425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nvGrpSpPr>
          <p:cNvPr id="6" name="Group 44">
            <a:extLst>
              <a:ext uri="{FF2B5EF4-FFF2-40B4-BE49-F238E27FC236}">
                <a16:creationId xmlns:a16="http://schemas.microsoft.com/office/drawing/2014/main" id="{AA65702F-257D-1272-0097-F89ABCD4C7A7}"/>
              </a:ext>
            </a:extLst>
          </p:cNvPr>
          <p:cNvGrpSpPr>
            <a:grpSpLocks/>
          </p:cNvGrpSpPr>
          <p:nvPr/>
        </p:nvGrpSpPr>
        <p:grpSpPr bwMode="auto">
          <a:xfrm>
            <a:off x="3521075" y="1670050"/>
            <a:ext cx="1000125" cy="3386138"/>
            <a:chOff x="3521075" y="1670050"/>
            <a:chExt cx="1000125" cy="3386138"/>
          </a:xfrm>
        </p:grpSpPr>
        <p:sp>
          <p:nvSpPr>
            <p:cNvPr id="19471" name="Text Box 26">
              <a:extLst>
                <a:ext uri="{FF2B5EF4-FFF2-40B4-BE49-F238E27FC236}">
                  <a16:creationId xmlns:a16="http://schemas.microsoft.com/office/drawing/2014/main" id="{E2B6DEFA-823F-0F85-AB75-F03EB702A663}"/>
                </a:ext>
              </a:extLst>
            </p:cNvPr>
            <p:cNvSpPr txBox="1">
              <a:spLocks noChangeArrowheads="1"/>
            </p:cNvSpPr>
            <p:nvPr/>
          </p:nvSpPr>
          <p:spPr bwMode="auto">
            <a:xfrm>
              <a:off x="3559175" y="17478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00</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19472" name="Text Box 27">
              <a:extLst>
                <a:ext uri="{FF2B5EF4-FFF2-40B4-BE49-F238E27FC236}">
                  <a16:creationId xmlns:a16="http://schemas.microsoft.com/office/drawing/2014/main" id="{5A33EE9A-E2C5-F782-103B-B68B6CFAD660}"/>
                </a:ext>
              </a:extLst>
            </p:cNvPr>
            <p:cNvSpPr txBox="1">
              <a:spLocks noChangeArrowheads="1"/>
            </p:cNvSpPr>
            <p:nvPr/>
          </p:nvSpPr>
          <p:spPr bwMode="auto">
            <a:xfrm>
              <a:off x="3578225" y="20526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01</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grpSp>
          <p:nvGrpSpPr>
            <p:cNvPr id="19473" name="Group 40">
              <a:extLst>
                <a:ext uri="{FF2B5EF4-FFF2-40B4-BE49-F238E27FC236}">
                  <a16:creationId xmlns:a16="http://schemas.microsoft.com/office/drawing/2014/main" id="{91317F81-E22A-4153-9F1C-D1101ABAC6A6}"/>
                </a:ext>
              </a:extLst>
            </p:cNvPr>
            <p:cNvGrpSpPr>
              <a:grpSpLocks/>
            </p:cNvGrpSpPr>
            <p:nvPr/>
          </p:nvGrpSpPr>
          <p:grpSpPr bwMode="auto">
            <a:xfrm>
              <a:off x="4170363" y="1670050"/>
              <a:ext cx="336550" cy="1277938"/>
              <a:chOff x="4170363" y="1670050"/>
              <a:chExt cx="336550" cy="1277938"/>
            </a:xfrm>
          </p:grpSpPr>
          <p:sp>
            <p:nvSpPr>
              <p:cNvPr id="19478" name="Text Box 17">
                <a:extLst>
                  <a:ext uri="{FF2B5EF4-FFF2-40B4-BE49-F238E27FC236}">
                    <a16:creationId xmlns:a16="http://schemas.microsoft.com/office/drawing/2014/main" id="{8514EF28-AF10-B127-2EB7-B40BBEB65794}"/>
                  </a:ext>
                </a:extLst>
              </p:cNvPr>
              <p:cNvSpPr txBox="1">
                <a:spLocks noChangeArrowheads="1"/>
              </p:cNvSpPr>
              <p:nvPr/>
            </p:nvSpPr>
            <p:spPr bwMode="auto">
              <a:xfrm>
                <a:off x="4183063" y="1670050"/>
                <a:ext cx="32385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cs typeface="Arial" panose="020B0604020202020204" pitchFamily="34" charset="0"/>
                  </a:rPr>
                  <a:t>1</a:t>
                </a:r>
              </a:p>
            </p:txBody>
          </p:sp>
          <p:sp>
            <p:nvSpPr>
              <p:cNvPr id="19479" name="Text Box 18">
                <a:extLst>
                  <a:ext uri="{FF2B5EF4-FFF2-40B4-BE49-F238E27FC236}">
                    <a16:creationId xmlns:a16="http://schemas.microsoft.com/office/drawing/2014/main" id="{D3E083E8-4A84-6695-9F30-37CB3BFC8CFA}"/>
                  </a:ext>
                </a:extLst>
              </p:cNvPr>
              <p:cNvSpPr txBox="1">
                <a:spLocks noChangeArrowheads="1"/>
              </p:cNvSpPr>
              <p:nvPr/>
            </p:nvSpPr>
            <p:spPr bwMode="auto">
              <a:xfrm>
                <a:off x="4170363" y="1962150"/>
                <a:ext cx="32385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cs typeface="Arial" panose="020B0604020202020204" pitchFamily="34" charset="0"/>
                  </a:rPr>
                  <a:t>0</a:t>
                </a:r>
              </a:p>
            </p:txBody>
          </p:sp>
          <p:sp>
            <p:nvSpPr>
              <p:cNvPr id="19480" name="Text Box 19">
                <a:extLst>
                  <a:ext uri="{FF2B5EF4-FFF2-40B4-BE49-F238E27FC236}">
                    <a16:creationId xmlns:a16="http://schemas.microsoft.com/office/drawing/2014/main" id="{60FEB7FE-D79A-1B33-7CE5-4BA8B99EA6C1}"/>
                  </a:ext>
                </a:extLst>
              </p:cNvPr>
              <p:cNvSpPr txBox="1">
                <a:spLocks noChangeArrowheads="1"/>
              </p:cNvSpPr>
              <p:nvPr/>
            </p:nvSpPr>
            <p:spPr bwMode="auto">
              <a:xfrm>
                <a:off x="4170363" y="2254250"/>
                <a:ext cx="32385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cs typeface="Arial" panose="020B0604020202020204" pitchFamily="34" charset="0"/>
                  </a:rPr>
                  <a:t>0</a:t>
                </a:r>
              </a:p>
            </p:txBody>
          </p:sp>
          <p:sp>
            <p:nvSpPr>
              <p:cNvPr id="19481" name="Text Box 28">
                <a:extLst>
                  <a:ext uri="{FF2B5EF4-FFF2-40B4-BE49-F238E27FC236}">
                    <a16:creationId xmlns:a16="http://schemas.microsoft.com/office/drawing/2014/main" id="{37AA4A04-00B9-049F-3696-E54A132D9BB1}"/>
                  </a:ext>
                </a:extLst>
              </p:cNvPr>
              <p:cNvSpPr txBox="1">
                <a:spLocks noChangeArrowheads="1"/>
              </p:cNvSpPr>
              <p:nvPr/>
            </p:nvSpPr>
            <p:spPr bwMode="auto">
              <a:xfrm>
                <a:off x="4183063" y="2546350"/>
                <a:ext cx="32385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FF0000"/>
                    </a:solidFill>
                    <a:cs typeface="Arial" panose="020B0604020202020204" pitchFamily="34" charset="0"/>
                  </a:rPr>
                  <a:t>0</a:t>
                </a:r>
              </a:p>
            </p:txBody>
          </p:sp>
        </p:grpSp>
        <p:sp>
          <p:nvSpPr>
            <p:cNvPr id="19474" name="Text Box 29">
              <a:extLst>
                <a:ext uri="{FF2B5EF4-FFF2-40B4-BE49-F238E27FC236}">
                  <a16:creationId xmlns:a16="http://schemas.microsoft.com/office/drawing/2014/main" id="{002BAF81-6017-BA6E-40F9-6069A8075439}"/>
                </a:ext>
              </a:extLst>
            </p:cNvPr>
            <p:cNvSpPr txBox="1">
              <a:spLocks noChangeArrowheads="1"/>
            </p:cNvSpPr>
            <p:nvPr/>
          </p:nvSpPr>
          <p:spPr bwMode="auto">
            <a:xfrm>
              <a:off x="3590925" y="23193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10</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19475" name="Text Box 30">
              <a:extLst>
                <a:ext uri="{FF2B5EF4-FFF2-40B4-BE49-F238E27FC236}">
                  <a16:creationId xmlns:a16="http://schemas.microsoft.com/office/drawing/2014/main" id="{8FFC0B8E-16C6-6EEC-3C2D-7CC77A58F289}"/>
                </a:ext>
              </a:extLst>
            </p:cNvPr>
            <p:cNvSpPr txBox="1">
              <a:spLocks noChangeArrowheads="1"/>
            </p:cNvSpPr>
            <p:nvPr/>
          </p:nvSpPr>
          <p:spPr bwMode="auto">
            <a:xfrm>
              <a:off x="3597275" y="260508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rgbClr val="FF0000"/>
                  </a:solidFill>
                  <a:cs typeface="Arial" panose="020B0604020202020204" pitchFamily="34" charset="0"/>
                </a:rPr>
                <a:t>Row 11</a:t>
              </a:r>
              <a:r>
                <a:rPr lang="en-US" altLang="en-US" sz="1000" baseline="-25000">
                  <a:solidFill>
                    <a:srgbClr val="FF0000"/>
                  </a:solidFill>
                  <a:cs typeface="Arial" panose="020B0604020202020204" pitchFamily="34" charset="0"/>
                </a:rPr>
                <a:t>2</a:t>
              </a:r>
              <a:endParaRPr lang="en-US" altLang="en-US" sz="1400">
                <a:cs typeface="Arial" panose="020B0604020202020204" pitchFamily="34" charset="0"/>
              </a:endParaRPr>
            </a:p>
          </p:txBody>
        </p:sp>
        <p:sp>
          <p:nvSpPr>
            <p:cNvPr id="19476" name="Text Box 32">
              <a:extLst>
                <a:ext uri="{FF2B5EF4-FFF2-40B4-BE49-F238E27FC236}">
                  <a16:creationId xmlns:a16="http://schemas.microsoft.com/office/drawing/2014/main" id="{B4D0D735-0840-7155-794F-D28FEADFA0F1}"/>
                </a:ext>
              </a:extLst>
            </p:cNvPr>
            <p:cNvSpPr txBox="1">
              <a:spLocks noChangeArrowheads="1"/>
            </p:cNvSpPr>
            <p:nvPr/>
          </p:nvSpPr>
          <p:spPr bwMode="auto">
            <a:xfrm>
              <a:off x="3521075" y="4821238"/>
              <a:ext cx="70961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2</a:t>
              </a:r>
              <a:r>
                <a:rPr lang="en-US" altLang="en-US" sz="1000" baseline="30000">
                  <a:solidFill>
                    <a:schemeClr val="tx1"/>
                  </a:solidFill>
                  <a:cs typeface="Arial" panose="020B0604020202020204" pitchFamily="34" charset="0"/>
                </a:rPr>
                <a:t>n</a:t>
              </a:r>
              <a:r>
                <a:rPr lang="en-US" altLang="en-US" sz="1000">
                  <a:solidFill>
                    <a:schemeClr val="tx1"/>
                  </a:solidFill>
                  <a:cs typeface="Arial" panose="020B0604020202020204" pitchFamily="34" charset="0"/>
                </a:rPr>
                <a:t>-1</a:t>
              </a:r>
              <a:endParaRPr lang="en-US" altLang="en-US" sz="1400">
                <a:cs typeface="Arial" panose="020B0604020202020204" pitchFamily="34" charset="0"/>
              </a:endParaRPr>
            </a:p>
          </p:txBody>
        </p:sp>
        <p:sp>
          <p:nvSpPr>
            <p:cNvPr id="19477" name="Rectangle 34">
              <a:extLst>
                <a:ext uri="{FF2B5EF4-FFF2-40B4-BE49-F238E27FC236}">
                  <a16:creationId xmlns:a16="http://schemas.microsoft.com/office/drawing/2014/main" id="{941EDA3D-B43E-B42D-02F2-2CF2C12A554F}"/>
                </a:ext>
              </a:extLst>
            </p:cNvPr>
            <p:cNvSpPr>
              <a:spLocks noChangeArrowheads="1"/>
            </p:cNvSpPr>
            <p:nvPr/>
          </p:nvSpPr>
          <p:spPr bwMode="auto">
            <a:xfrm>
              <a:off x="3625850" y="2578100"/>
              <a:ext cx="895350" cy="330200"/>
            </a:xfrm>
            <a:prstGeom prst="rect">
              <a:avLst/>
            </a:prstGeom>
            <a:noFill/>
            <a:ln w="9525">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19469" name="Slide Number Placeholder 34">
            <a:extLst>
              <a:ext uri="{FF2B5EF4-FFF2-40B4-BE49-F238E27FC236}">
                <a16:creationId xmlns:a16="http://schemas.microsoft.com/office/drawing/2014/main" id="{CBE552C0-B77A-DBE9-4B4F-477602F1C8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E2F3AB8A-DBB1-5C41-81C1-7AE44DBD845B}" type="slidenum">
              <a:rPr lang="en-GB" altLang="en-US" sz="1400">
                <a:solidFill>
                  <a:srgbClr val="000000"/>
                </a:solidFill>
                <a:latin typeface="Arial  " charset="0"/>
              </a:rPr>
              <a:pPr/>
              <a:t>15</a:t>
            </a:fld>
            <a:r>
              <a:rPr lang="en-GB" altLang="en-US" sz="1400">
                <a:solidFill>
                  <a:srgbClr val="000000"/>
                </a:solidFill>
                <a:latin typeface="Arial  " charset="0"/>
              </a:rPr>
              <a:t> </a:t>
            </a:r>
          </a:p>
        </p:txBody>
      </p:sp>
      <p:sp>
        <p:nvSpPr>
          <p:cNvPr id="34" name="Text Box 11">
            <a:extLst>
              <a:ext uri="{FF2B5EF4-FFF2-40B4-BE49-F238E27FC236}">
                <a16:creationId xmlns:a16="http://schemas.microsoft.com/office/drawing/2014/main" id="{A57BB696-277C-C2C1-F147-67102A60FEED}"/>
              </a:ext>
            </a:extLst>
          </p:cNvPr>
          <p:cNvSpPr txBox="1">
            <a:spLocks noChangeArrowheads="1"/>
          </p:cNvSpPr>
          <p:nvPr/>
        </p:nvSpPr>
        <p:spPr bwMode="auto">
          <a:xfrm>
            <a:off x="255588" y="3827463"/>
            <a:ext cx="3343275"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endParaRPr lang="en-GB" altLang="en-US" sz="1800">
              <a:solidFill>
                <a:srgbClr val="000000"/>
              </a:solidFill>
              <a:cs typeface="Arial" panose="020B0604020202020204" pitchFamily="34" charset="0"/>
            </a:endParaRPr>
          </a:p>
          <a:p>
            <a:pPr>
              <a:lnSpc>
                <a:spcPct val="100000"/>
              </a:lnSpc>
              <a:buFont typeface="Comic Sans MS" panose="030F0902030302020204" pitchFamily="66" charset="0"/>
              <a:buNone/>
            </a:pPr>
            <a:r>
              <a:rPr lang="en-GB" altLang="en-US" sz="1800">
                <a:solidFill>
                  <a:srgbClr val="008080"/>
                </a:solidFill>
                <a:cs typeface="Arial" panose="020B0604020202020204" pitchFamily="34" charset="0"/>
              </a:rPr>
              <a:t>Choose “n” for good CPI/area trade-off (good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6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84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44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4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6" grpId="0"/>
      <p:bldP spid="18437" grpId="0" animBg="1"/>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4B88507A-6E22-8073-7599-4BDF138A871A}"/>
              </a:ext>
            </a:extLst>
          </p:cNvPr>
          <p:cNvSpPr>
            <a:spLocks noGrp="1"/>
          </p:cNvSpPr>
          <p:nvPr>
            <p:ph type="title"/>
          </p:nvPr>
        </p:nvSpPr>
        <p:spPr/>
        <p:txBody>
          <a:bodyPr/>
          <a:lstStyle/>
          <a:p>
            <a:r>
              <a:rPr lang="en-CA" altLang="en-US" sz="3600">
                <a:latin typeface="Arial  " charset="0"/>
                <a:cs typeface="Arial  " charset="0"/>
              </a:rPr>
              <a:t>Operation of 1-bit Branch Predictor</a:t>
            </a:r>
          </a:p>
        </p:txBody>
      </p:sp>
      <p:sp>
        <p:nvSpPr>
          <p:cNvPr id="3" name="Content Placeholder 2">
            <a:extLst>
              <a:ext uri="{FF2B5EF4-FFF2-40B4-BE49-F238E27FC236}">
                <a16:creationId xmlns:a16="http://schemas.microsoft.com/office/drawing/2014/main" id="{AD1DFFE8-8B72-85A8-A3EF-C74F83C2029C}"/>
              </a:ext>
            </a:extLst>
          </p:cNvPr>
          <p:cNvSpPr>
            <a:spLocks noGrp="1"/>
          </p:cNvSpPr>
          <p:nvPr>
            <p:ph idx="1"/>
          </p:nvPr>
        </p:nvSpPr>
        <p:spPr>
          <a:xfrm>
            <a:off x="550863" y="1322388"/>
            <a:ext cx="7770812" cy="4810125"/>
          </a:xfrm>
        </p:spPr>
        <p:txBody>
          <a:bodyPr/>
          <a:lstStyle/>
          <a:p>
            <a:r>
              <a:rPr lang="en-CA" altLang="en-US">
                <a:latin typeface="Arial  " charset="0"/>
                <a:cs typeface="Arial  " charset="0"/>
              </a:rPr>
              <a:t>Step 1: Making a Prediction:</a:t>
            </a:r>
          </a:p>
          <a:p>
            <a:pPr lvl="1"/>
            <a:r>
              <a:rPr lang="en-CA" altLang="en-US">
                <a:latin typeface="Arial  " charset="0"/>
                <a:cs typeface="Arial  " charset="0"/>
              </a:rPr>
              <a:t>Take n-bits of “PC” and use it to select a row in table.  If entry in that row is “1”, prediction is “taken” and if entry is “0”, prediction is “not taken”.</a:t>
            </a:r>
          </a:p>
          <a:p>
            <a:pPr lvl="1"/>
            <a:r>
              <a:rPr lang="en-CA" altLang="en-US">
                <a:latin typeface="Arial  " charset="0"/>
                <a:cs typeface="Arial  " charset="0"/>
              </a:rPr>
              <a:t>PC here is address of the branch instruction itself.</a:t>
            </a:r>
          </a:p>
          <a:p>
            <a:r>
              <a:rPr lang="en-CA" altLang="en-US">
                <a:latin typeface="Arial  " charset="0"/>
                <a:cs typeface="Arial  " charset="0"/>
              </a:rPr>
              <a:t>Step 2: Updating Predictor</a:t>
            </a:r>
          </a:p>
          <a:p>
            <a:pPr lvl="1"/>
            <a:r>
              <a:rPr lang="en-CA" altLang="en-US">
                <a:latin typeface="Arial  " charset="0"/>
                <a:cs typeface="Arial  " charset="0"/>
              </a:rPr>
              <a:t>When we know the correct outcome of the branch update the entry in the table to be “1” if the actual outcome was “taken”, and to “0” if the actual outcome was “not taken”</a:t>
            </a:r>
          </a:p>
        </p:txBody>
      </p:sp>
      <p:sp>
        <p:nvSpPr>
          <p:cNvPr id="5" name="Rectangle 4">
            <a:extLst>
              <a:ext uri="{FF2B5EF4-FFF2-40B4-BE49-F238E27FC236}">
                <a16:creationId xmlns:a16="http://schemas.microsoft.com/office/drawing/2014/main" id="{CE4F087F-9322-9FBB-6AC4-E3A06D34E06B}"/>
              </a:ext>
            </a:extLst>
          </p:cNvPr>
          <p:cNvSpPr/>
          <p:nvPr/>
        </p:nvSpPr>
        <p:spPr bwMode="auto">
          <a:xfrm>
            <a:off x="396875" y="1112838"/>
            <a:ext cx="8150225" cy="2663825"/>
          </a:xfrm>
          <a:prstGeom prst="rect">
            <a:avLst/>
          </a:prstGeom>
          <a:solidFill>
            <a:schemeClr val="accent3">
              <a:alpha val="70000"/>
            </a:schemeClr>
          </a:solidFill>
          <a:ln w="9525" cap="flat" cmpd="sng" algn="ctr">
            <a:noFill/>
            <a:prstDash val="solid"/>
            <a:round/>
            <a:headEnd type="none" w="med" len="med"/>
            <a:tailEnd type="none" w="med" len="med"/>
          </a:ln>
          <a:effectLst/>
        </p:spPr>
        <p:txBody>
          <a:bodyPr/>
          <a:lstStyle/>
          <a:p>
            <a:pPr>
              <a:buFont typeface="Arial" pitchFamily="-106" charset="-52"/>
              <a:buNone/>
              <a:defRPr/>
            </a:pPr>
            <a:endParaRPr lang="en-CA">
              <a:latin typeface="Arial" pitchFamily="-106" charset="-52"/>
              <a:ea typeface="ＭＳ Ｐゴシック"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A82B5DC9-21E8-DD8A-1469-D83BA827ADD7}"/>
              </a:ext>
            </a:extLst>
          </p:cNvPr>
          <p:cNvSpPr>
            <a:spLocks noGrp="1"/>
          </p:cNvSpPr>
          <p:nvPr>
            <p:ph type="title"/>
          </p:nvPr>
        </p:nvSpPr>
        <p:spPr>
          <a:xfrm>
            <a:off x="660400" y="158750"/>
            <a:ext cx="7770813" cy="690563"/>
          </a:xfrm>
        </p:spPr>
        <p:txBody>
          <a:bodyPr/>
          <a:lstStyle/>
          <a:p>
            <a:r>
              <a:rPr lang="en-CA" altLang="en-US">
                <a:latin typeface="Arial  " charset="0"/>
                <a:cs typeface="Arial  " charset="0"/>
              </a:rPr>
              <a:t>Aside: Hash Tables</a:t>
            </a:r>
          </a:p>
        </p:txBody>
      </p:sp>
      <p:sp>
        <p:nvSpPr>
          <p:cNvPr id="3" name="Content Placeholder 2">
            <a:extLst>
              <a:ext uri="{FF2B5EF4-FFF2-40B4-BE49-F238E27FC236}">
                <a16:creationId xmlns:a16="http://schemas.microsoft.com/office/drawing/2014/main" id="{00695F5B-06A9-306C-C02E-8DB84B6E4259}"/>
              </a:ext>
            </a:extLst>
          </p:cNvPr>
          <p:cNvSpPr>
            <a:spLocks noGrp="1"/>
          </p:cNvSpPr>
          <p:nvPr>
            <p:ph idx="1"/>
          </p:nvPr>
        </p:nvSpPr>
        <p:spPr>
          <a:xfrm>
            <a:off x="698500" y="1352550"/>
            <a:ext cx="7415213" cy="4275138"/>
          </a:xfrm>
        </p:spPr>
        <p:txBody>
          <a:bodyPr/>
          <a:lstStyle/>
          <a:p>
            <a:pPr>
              <a:buFont typeface="Comic Sans MS" panose="030F0902030302020204" pitchFamily="66" charset="0"/>
              <a:buNone/>
              <a:defRPr/>
            </a:pPr>
            <a:r>
              <a:rPr lang="en-CA" sz="2000" dirty="0">
                <a:ea typeface="+mn-ea"/>
              </a:rPr>
              <a:t>	Some of you might have learned about “hash tables” in one of your programming courses. You might note that the hardware used for branch prediction does something similar.  (If you don’t remember, don’t worry about it.)</a:t>
            </a:r>
          </a:p>
          <a:p>
            <a:pPr>
              <a:buFont typeface="Comic Sans MS" panose="030F0902030302020204" pitchFamily="66" charset="0"/>
              <a:buNone/>
              <a:defRPr/>
            </a:pPr>
            <a:endParaRPr lang="en-CA" sz="2000" dirty="0">
              <a:ea typeface="+mn-ea"/>
            </a:endParaRPr>
          </a:p>
          <a:p>
            <a:pPr>
              <a:buFont typeface="Comic Sans MS" panose="030F0902030302020204" pitchFamily="66" charset="0"/>
              <a:buNone/>
              <a:defRPr/>
            </a:pPr>
            <a:r>
              <a:rPr lang="en-CA" sz="2000" dirty="0">
                <a:ea typeface="+mn-ea"/>
              </a:rPr>
              <a:t>	</a:t>
            </a:r>
          </a:p>
          <a:p>
            <a:pPr>
              <a:buFont typeface="Comic Sans MS" panose="030F0902030302020204" pitchFamily="66" charset="0"/>
              <a:buNone/>
              <a:defRPr/>
            </a:pPr>
            <a:endParaRPr lang="en-CA" sz="2000" dirty="0">
              <a:ea typeface="+mn-ea"/>
            </a:endParaRPr>
          </a:p>
          <a:p>
            <a:pPr>
              <a:buFont typeface="Comic Sans MS" panose="030F0902030302020204" pitchFamily="66" charset="0"/>
              <a:buNone/>
              <a:defRPr/>
            </a:pPr>
            <a:endParaRPr lang="en-CA" sz="2000" dirty="0">
              <a:ea typeface="+mn-ea"/>
            </a:endParaRPr>
          </a:p>
          <a:p>
            <a:pPr indent="-360000">
              <a:lnSpc>
                <a:spcPct val="100000"/>
              </a:lnSpc>
              <a:spcBef>
                <a:spcPts val="0"/>
              </a:spcBef>
              <a:buFont typeface="Comic Sans MS" panose="030F0902030302020204" pitchFamily="66" charset="0"/>
              <a:buNone/>
              <a:defRPr/>
            </a:pPr>
            <a:r>
              <a:rPr lang="en-CA" sz="2000" dirty="0">
                <a:ea typeface="+mn-ea"/>
              </a:rPr>
              <a:t>	</a:t>
            </a:r>
          </a:p>
        </p:txBody>
      </p:sp>
      <p:sp>
        <p:nvSpPr>
          <p:cNvPr id="21508" name="Slide Number Placeholder 3">
            <a:extLst>
              <a:ext uri="{FF2B5EF4-FFF2-40B4-BE49-F238E27FC236}">
                <a16:creationId xmlns:a16="http://schemas.microsoft.com/office/drawing/2014/main" id="{53D00E3F-BDCD-6634-F1D7-DE408F695BF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09745F81-6ECA-EB4B-AB72-03361BA5D361}" type="slidenum">
              <a:rPr lang="en-GB" altLang="en-US" sz="1400">
                <a:solidFill>
                  <a:srgbClr val="000000"/>
                </a:solidFill>
                <a:latin typeface="Arial  " charset="0"/>
              </a:rPr>
              <a:pPr/>
              <a:t>17</a:t>
            </a:fld>
            <a:r>
              <a:rPr lang="en-GB" altLang="en-US" sz="1400">
                <a:solidFill>
                  <a:srgbClr val="000000"/>
                </a:solidFill>
                <a:latin typeface="Arial  " charset="0"/>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a:extLst>
              <a:ext uri="{FF2B5EF4-FFF2-40B4-BE49-F238E27FC236}">
                <a16:creationId xmlns:a16="http://schemas.microsoft.com/office/drawing/2014/main" id="{67ADE8EA-CAC7-FEEC-2535-A8AB4C1E656B}"/>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Arial  " charset="0"/>
                <a:cs typeface="Arial  " charset="0"/>
              </a:rPr>
              <a:t>Example, cont’d</a:t>
            </a:r>
          </a:p>
        </p:txBody>
      </p:sp>
      <p:sp>
        <p:nvSpPr>
          <p:cNvPr id="22531" name="Rectangle 2">
            <a:extLst>
              <a:ext uri="{FF2B5EF4-FFF2-40B4-BE49-F238E27FC236}">
                <a16:creationId xmlns:a16="http://schemas.microsoft.com/office/drawing/2014/main" id="{D103568D-BC0E-A74A-95FC-66F6A6CAD42A}"/>
              </a:ext>
            </a:extLst>
          </p:cNvPr>
          <p:cNvSpPr>
            <a:spLocks noGrp="1" noChangeArrowheads="1"/>
          </p:cNvSpPr>
          <p:nvPr>
            <p:ph type="body" idx="1"/>
          </p:nvPr>
        </p:nvSpPr>
        <p:spPr>
          <a:xfrm>
            <a:off x="685800" y="1346200"/>
            <a:ext cx="7772400" cy="4749800"/>
          </a:xfrm>
        </p:spPr>
        <p:txBody>
          <a:bodyPr/>
          <a:lstStyle/>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a:latin typeface="Arial  " charset="0"/>
              <a:cs typeface="Arial  " charset="0"/>
            </a:endParaRP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Loop:        ...</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DSUBI  R1,R1,#1</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BNEZ   R1,Loop</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a:latin typeface="Arial  " charset="0"/>
              <a:cs typeface="Arial  " charset="0"/>
            </a:endParaRP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a:t>
            </a:r>
          </a:p>
          <a:p>
            <a:pPr eaLnBrk="1" hangingPunct="1">
              <a:lnSpc>
                <a:spcPct val="100000"/>
              </a:lnSpc>
              <a:spcBef>
                <a:spcPts val="2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000">
              <a:latin typeface="Arial  " charset="0"/>
              <a:cs typeface="Arial  " charset="0"/>
            </a:endParaRP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a:t>
            </a:r>
            <a:endParaRPr lang="en-GB" altLang="en-US" sz="1800">
              <a:solidFill>
                <a:schemeClr val="tx1"/>
              </a:solidFill>
              <a:latin typeface="Arial  " charset="0"/>
              <a:cs typeface="Arial  " charset="0"/>
            </a:endParaRPr>
          </a:p>
        </p:txBody>
      </p:sp>
      <p:sp>
        <p:nvSpPr>
          <p:cNvPr id="22532" name="Slide Number Placeholder 7">
            <a:extLst>
              <a:ext uri="{FF2B5EF4-FFF2-40B4-BE49-F238E27FC236}">
                <a16:creationId xmlns:a16="http://schemas.microsoft.com/office/drawing/2014/main" id="{134EECD2-D4E5-C821-EEEF-3B0BBF20CF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FECA4AE5-8709-E846-A086-FB68323E6CD7}" type="slidenum">
              <a:rPr lang="en-GB" altLang="en-US" sz="1400">
                <a:solidFill>
                  <a:srgbClr val="000000"/>
                </a:solidFill>
                <a:latin typeface="Arial  " charset="0"/>
              </a:rPr>
              <a:pPr/>
              <a:t>18</a:t>
            </a:fld>
            <a:r>
              <a:rPr lang="en-GB" altLang="en-US" sz="1400">
                <a:solidFill>
                  <a:srgbClr val="000000"/>
                </a:solidFill>
                <a:latin typeface="Arial  " charset="0"/>
              </a:rPr>
              <a:t> </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C5507343-5455-EF9C-305F-E51E444D92DF}"/>
              </a:ext>
            </a:extLst>
          </p:cNvPr>
          <p:cNvSpPr txBox="1">
            <a:spLocks noChangeArrowheads="1"/>
          </p:cNvSpPr>
          <p:nvPr/>
        </p:nvSpPr>
        <p:spPr bwMode="auto">
          <a:xfrm>
            <a:off x="733425" y="2474913"/>
            <a:ext cx="4729163" cy="2120900"/>
          </a:xfrm>
          <a:prstGeom prst="rect">
            <a:avLst/>
          </a:prstGeom>
          <a:noFill/>
          <a:ln w="9525">
            <a:noFill/>
            <a:round/>
            <a:headEnd/>
            <a:tailEnd/>
          </a:ln>
        </p:spPr>
        <p:txBody>
          <a:bodyPr lIns="90000" tIns="46800" rIns="90000" bIns="46800"/>
          <a:lstStyle/>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000" kern="0" dirty="0">
                <a:solidFill>
                  <a:srgbClr val="000000"/>
                </a:solidFill>
                <a:latin typeface="Arial  " charset="0"/>
                <a:cs typeface="Arial  " charset="0"/>
              </a:rPr>
              <a:t>	                                                         </a:t>
            </a:r>
            <a:r>
              <a:rPr lang="en-US" sz="2000" kern="0" dirty="0">
                <a:solidFill>
                  <a:srgbClr val="FF0000"/>
                </a:solidFill>
                <a:latin typeface="Arial  " charset="0"/>
                <a:cs typeface="Arial  " charset="0"/>
              </a:rPr>
              <a:t>N</a:t>
            </a:r>
          </a:p>
          <a:p>
            <a:pPr marL="341313" indent="-341313" eaLnBrk="1" hangingPunct="1">
              <a:lnSpc>
                <a:spcPct val="10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a:p>
            <a:pPr marL="341313" indent="-341313" eaLnBrk="1" hangingPunct="1">
              <a:lnSpc>
                <a:spcPct val="100000"/>
              </a:lnSpc>
              <a:spcBef>
                <a:spcPts val="7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a:p>
            <a:pPr marL="341313" indent="-341313" eaLnBrk="1" hangingPunct="1">
              <a:lnSpc>
                <a:spcPct val="100000"/>
              </a:lnSpc>
              <a:spcBef>
                <a:spcPts val="700"/>
              </a:spcBef>
              <a:buFont typeface="Comic Sans MS" pitchFamily="6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a:p>
            <a:pPr marL="341313" indent="-341313" eaLnBrk="1" hangingPunct="1">
              <a:lnSpc>
                <a:spcPct val="100000"/>
              </a:lnSpc>
              <a:spcBef>
                <a:spcPts val="700"/>
              </a:spcBef>
              <a:buFont typeface="Comic Sans MS" pitchFamily="6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000" kern="0" dirty="0">
                <a:solidFill>
                  <a:srgbClr val="000000"/>
                </a:solidFill>
                <a:latin typeface="Arial  " charset="0"/>
                <a:cs typeface="Arial  " charset="0"/>
              </a:rPr>
              <a:t>Again when see loop again</a:t>
            </a:r>
            <a:r>
              <a:rPr lang="ar-SA" sz="2000" kern="0" dirty="0">
                <a:solidFill>
                  <a:srgbClr val="000000"/>
                </a:solidFill>
                <a:latin typeface="Arial  " charset="0"/>
                <a:cs typeface="Arial" pitchFamily="34" charset="0"/>
              </a:rPr>
              <a:t>‏</a:t>
            </a:r>
            <a:endParaRPr lang="en-US" sz="2000" kern="0" dirty="0">
              <a:solidFill>
                <a:srgbClr val="000000"/>
              </a:solidFill>
              <a:latin typeface="Arial  " charset="0"/>
              <a:cs typeface="Arial  " charset="0"/>
            </a:endParaRPr>
          </a:p>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a:p>
            <a:pPr marL="341313" indent="-341313" eaLnBrk="1" hangingPunct="1">
              <a:lnSpc>
                <a:spcPct val="116000"/>
              </a:lnSpc>
              <a:spcBef>
                <a:spcPts val="700"/>
              </a:spcBef>
              <a:buFontTx/>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p:txBody>
      </p:sp>
      <p:sp>
        <p:nvSpPr>
          <p:cNvPr id="23555" name="Rectangle 1">
            <a:extLst>
              <a:ext uri="{FF2B5EF4-FFF2-40B4-BE49-F238E27FC236}">
                <a16:creationId xmlns:a16="http://schemas.microsoft.com/office/drawing/2014/main" id="{C9A5D71A-5D00-8DDF-D756-21C6C123A0F7}"/>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Arial  " charset="0"/>
                <a:cs typeface="Arial  " charset="0"/>
              </a:rPr>
              <a:t>1-bit Branch Predictor</a:t>
            </a:r>
          </a:p>
        </p:txBody>
      </p:sp>
      <p:sp>
        <p:nvSpPr>
          <p:cNvPr id="23556" name="Slide Number Placeholder 7">
            <a:extLst>
              <a:ext uri="{FF2B5EF4-FFF2-40B4-BE49-F238E27FC236}">
                <a16:creationId xmlns:a16="http://schemas.microsoft.com/office/drawing/2014/main" id="{3CCDF8C6-AF87-3F7B-B337-E810142D55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16CEBA8B-54BA-DF43-A7B9-1CACC262F22C}" type="slidenum">
              <a:rPr lang="en-GB" altLang="en-US" sz="1400">
                <a:solidFill>
                  <a:srgbClr val="000000"/>
                </a:solidFill>
                <a:latin typeface="Arial  " charset="0"/>
              </a:rPr>
              <a:pPr/>
              <a:t>19</a:t>
            </a:fld>
            <a:r>
              <a:rPr lang="en-GB" altLang="en-US" sz="1400">
                <a:solidFill>
                  <a:srgbClr val="000000"/>
                </a:solidFill>
                <a:latin typeface="Arial  " charset="0"/>
              </a:rPr>
              <a:t> </a:t>
            </a:r>
          </a:p>
        </p:txBody>
      </p:sp>
      <p:grpSp>
        <p:nvGrpSpPr>
          <p:cNvPr id="2" name="Group 14">
            <a:extLst>
              <a:ext uri="{FF2B5EF4-FFF2-40B4-BE49-F238E27FC236}">
                <a16:creationId xmlns:a16="http://schemas.microsoft.com/office/drawing/2014/main" id="{77F029B6-FF64-7977-8552-DF9D10B4A810}"/>
              </a:ext>
            </a:extLst>
          </p:cNvPr>
          <p:cNvGrpSpPr>
            <a:grpSpLocks/>
          </p:cNvGrpSpPr>
          <p:nvPr/>
        </p:nvGrpSpPr>
        <p:grpSpPr bwMode="auto">
          <a:xfrm>
            <a:off x="4516438" y="3255963"/>
            <a:ext cx="519112" cy="639762"/>
            <a:chOff x="4468813" y="3232150"/>
            <a:chExt cx="519112" cy="639763"/>
          </a:xfrm>
        </p:grpSpPr>
        <p:cxnSp>
          <p:nvCxnSpPr>
            <p:cNvPr id="23577" name="Straight Arrow Connector 5">
              <a:extLst>
                <a:ext uri="{FF2B5EF4-FFF2-40B4-BE49-F238E27FC236}">
                  <a16:creationId xmlns:a16="http://schemas.microsoft.com/office/drawing/2014/main" id="{B1AA2639-4282-E508-5C4E-033DB6F29B60}"/>
                </a:ext>
              </a:extLst>
            </p:cNvPr>
            <p:cNvCxnSpPr>
              <a:cxnSpLocks noChangeShapeType="1"/>
            </p:cNvCxnSpPr>
            <p:nvPr/>
          </p:nvCxnSpPr>
          <p:spPr bwMode="auto">
            <a:xfrm rot="5400000" flipH="1" flipV="1">
              <a:off x="4672013" y="3546475"/>
              <a:ext cx="630238" cy="1587"/>
            </a:xfrm>
            <a:prstGeom prst="straightConnector1">
              <a:avLst/>
            </a:prstGeom>
            <a:noFill/>
            <a:ln w="952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3578" name="Straight Connector 9">
              <a:extLst>
                <a:ext uri="{FF2B5EF4-FFF2-40B4-BE49-F238E27FC236}">
                  <a16:creationId xmlns:a16="http://schemas.microsoft.com/office/drawing/2014/main" id="{54C64E69-B668-DBBB-1FFE-6A6B3EE76FF1}"/>
                </a:ext>
              </a:extLst>
            </p:cNvPr>
            <p:cNvCxnSpPr>
              <a:cxnSpLocks noChangeShapeType="1"/>
            </p:cNvCxnSpPr>
            <p:nvPr/>
          </p:nvCxnSpPr>
          <p:spPr bwMode="auto">
            <a:xfrm>
              <a:off x="4468813" y="3871913"/>
              <a:ext cx="515937" cy="0"/>
            </a:xfrm>
            <a:prstGeom prst="line">
              <a:avLst/>
            </a:prstGeom>
            <a:noFill/>
            <a:ln w="9525" algn="ctr">
              <a:solidFill>
                <a:srgbClr val="FF0000"/>
              </a:solidFill>
              <a:round/>
              <a:headEnd/>
              <a:tailEnd/>
            </a:ln>
            <a:extLst>
              <a:ext uri="{909E8E84-426E-40DD-AFC4-6F175D3DCCD1}">
                <a14:hiddenFill xmlns:a14="http://schemas.microsoft.com/office/drawing/2010/main">
                  <a:noFill/>
                </a14:hiddenFill>
              </a:ext>
            </a:extLst>
          </p:spPr>
        </p:cxnSp>
      </p:grpSp>
      <p:cxnSp>
        <p:nvCxnSpPr>
          <p:cNvPr id="23558" name="Straight Arrow Connector 19">
            <a:extLst>
              <a:ext uri="{FF2B5EF4-FFF2-40B4-BE49-F238E27FC236}">
                <a16:creationId xmlns:a16="http://schemas.microsoft.com/office/drawing/2014/main" id="{140F30A9-48ED-AD0E-9DE3-FCDF27F166CC}"/>
              </a:ext>
            </a:extLst>
          </p:cNvPr>
          <p:cNvCxnSpPr>
            <a:cxnSpLocks noChangeShapeType="1"/>
          </p:cNvCxnSpPr>
          <p:nvPr/>
        </p:nvCxnSpPr>
        <p:spPr bwMode="auto">
          <a:xfrm>
            <a:off x="7123113" y="2219325"/>
            <a:ext cx="785812"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3559" name="Straight Connector 22">
            <a:extLst>
              <a:ext uri="{FF2B5EF4-FFF2-40B4-BE49-F238E27FC236}">
                <a16:creationId xmlns:a16="http://schemas.microsoft.com/office/drawing/2014/main" id="{D3F8DB57-E8DD-84EA-26E5-2D4B993884CE}"/>
              </a:ext>
            </a:extLst>
          </p:cNvPr>
          <p:cNvCxnSpPr>
            <a:cxnSpLocks noChangeShapeType="1"/>
          </p:cNvCxnSpPr>
          <p:nvPr/>
        </p:nvCxnSpPr>
        <p:spPr bwMode="auto">
          <a:xfrm>
            <a:off x="3876675" y="2220913"/>
            <a:ext cx="78581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 name="Rectangle 2">
            <a:extLst>
              <a:ext uri="{FF2B5EF4-FFF2-40B4-BE49-F238E27FC236}">
                <a16:creationId xmlns:a16="http://schemas.microsoft.com/office/drawing/2014/main" id="{8200EA2A-584D-BC80-CE59-249FE2D5104E}"/>
              </a:ext>
            </a:extLst>
          </p:cNvPr>
          <p:cNvSpPr txBox="1">
            <a:spLocks noChangeArrowheads="1"/>
          </p:cNvSpPr>
          <p:nvPr/>
        </p:nvSpPr>
        <p:spPr bwMode="auto">
          <a:xfrm>
            <a:off x="5197475" y="2463800"/>
            <a:ext cx="3082925" cy="649288"/>
          </a:xfrm>
          <a:prstGeom prst="rect">
            <a:avLst/>
          </a:prstGeom>
          <a:noFill/>
          <a:ln w="9525">
            <a:noFill/>
            <a:round/>
            <a:headEnd/>
            <a:tailEnd/>
          </a:ln>
        </p:spPr>
        <p:txBody>
          <a:bodyPr lIns="90000" tIns="46800" rIns="90000" bIns="46800"/>
          <a:lstStyle/>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000" kern="0" dirty="0">
                <a:solidFill>
                  <a:srgbClr val="000000"/>
                </a:solidFill>
                <a:latin typeface="Arial  " charset="0"/>
                <a:cs typeface="Arial  " charset="0"/>
              </a:rPr>
              <a:t>TTTTTTTT</a:t>
            </a:r>
            <a:r>
              <a:rPr lang="en-US" sz="2000" kern="0" dirty="0">
                <a:solidFill>
                  <a:srgbClr val="FF0000"/>
                </a:solidFill>
                <a:latin typeface="Arial  " charset="0"/>
                <a:cs typeface="Arial  " charset="0"/>
              </a:rPr>
              <a:t>TN</a:t>
            </a:r>
            <a:r>
              <a:rPr lang="en-US" sz="2000" kern="0" dirty="0">
                <a:solidFill>
                  <a:srgbClr val="000000"/>
                </a:solidFill>
                <a:latin typeface="Arial  " charset="0"/>
                <a:cs typeface="Arial  " charset="0"/>
              </a:rPr>
              <a:t>TTT</a:t>
            </a:r>
          </a:p>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a:p>
            <a:pPr marL="341313" indent="-341313" eaLnBrk="1" hangingPunct="1">
              <a:lnSpc>
                <a:spcPct val="116000"/>
              </a:lnSpc>
              <a:spcBef>
                <a:spcPts val="700"/>
              </a:spcBef>
              <a:buFontTx/>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p:txBody>
      </p:sp>
      <p:grpSp>
        <p:nvGrpSpPr>
          <p:cNvPr id="3" name="Group 22">
            <a:extLst>
              <a:ext uri="{FF2B5EF4-FFF2-40B4-BE49-F238E27FC236}">
                <a16:creationId xmlns:a16="http://schemas.microsoft.com/office/drawing/2014/main" id="{5840F931-BF10-0043-97B7-EDA96A54D34F}"/>
              </a:ext>
            </a:extLst>
          </p:cNvPr>
          <p:cNvGrpSpPr>
            <a:grpSpLocks/>
          </p:cNvGrpSpPr>
          <p:nvPr/>
        </p:nvGrpSpPr>
        <p:grpSpPr bwMode="auto">
          <a:xfrm>
            <a:off x="4519613" y="3260725"/>
            <a:ext cx="685800" cy="1011238"/>
            <a:chOff x="4471987" y="3236914"/>
            <a:chExt cx="685804" cy="1011236"/>
          </a:xfrm>
        </p:grpSpPr>
        <p:cxnSp>
          <p:nvCxnSpPr>
            <p:cNvPr id="23575" name="Straight Arrow Connector 10">
              <a:extLst>
                <a:ext uri="{FF2B5EF4-FFF2-40B4-BE49-F238E27FC236}">
                  <a16:creationId xmlns:a16="http://schemas.microsoft.com/office/drawing/2014/main" id="{B78C77C7-F4D8-72D9-302B-79564C23BAB6}"/>
                </a:ext>
              </a:extLst>
            </p:cNvPr>
            <p:cNvCxnSpPr>
              <a:cxnSpLocks noChangeShapeType="1"/>
            </p:cNvCxnSpPr>
            <p:nvPr/>
          </p:nvCxnSpPr>
          <p:spPr bwMode="auto">
            <a:xfrm flipH="1" flipV="1">
              <a:off x="5156200" y="3236914"/>
              <a:ext cx="1591" cy="1006474"/>
            </a:xfrm>
            <a:prstGeom prst="straightConnector1">
              <a:avLst/>
            </a:prstGeom>
            <a:noFill/>
            <a:ln w="952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3576" name="Straight Connector 19">
              <a:extLst>
                <a:ext uri="{FF2B5EF4-FFF2-40B4-BE49-F238E27FC236}">
                  <a16:creationId xmlns:a16="http://schemas.microsoft.com/office/drawing/2014/main" id="{A94415EC-6ACF-C37B-424B-6D4F31A34465}"/>
                </a:ext>
              </a:extLst>
            </p:cNvPr>
            <p:cNvCxnSpPr>
              <a:cxnSpLocks noChangeShapeType="1"/>
            </p:cNvCxnSpPr>
            <p:nvPr/>
          </p:nvCxnSpPr>
          <p:spPr bwMode="auto">
            <a:xfrm>
              <a:off x="4471987" y="4248150"/>
              <a:ext cx="681037" cy="0"/>
            </a:xfrm>
            <a:prstGeom prst="line">
              <a:avLst/>
            </a:prstGeom>
            <a:noFill/>
            <a:ln w="9525" algn="ctr">
              <a:solidFill>
                <a:srgbClr val="FF0000"/>
              </a:solidFill>
              <a:round/>
              <a:headEnd/>
              <a:tailEnd/>
            </a:ln>
          </p:spPr>
        </p:cxnSp>
      </p:grpSp>
      <p:sp>
        <p:nvSpPr>
          <p:cNvPr id="11" name="Rectangle 2">
            <a:extLst>
              <a:ext uri="{FF2B5EF4-FFF2-40B4-BE49-F238E27FC236}">
                <a16:creationId xmlns:a16="http://schemas.microsoft.com/office/drawing/2014/main" id="{A4E51285-DE0B-8F22-5B74-3D77C2B5F5D6}"/>
              </a:ext>
            </a:extLst>
          </p:cNvPr>
          <p:cNvSpPr txBox="1">
            <a:spLocks noChangeArrowheads="1"/>
          </p:cNvSpPr>
          <p:nvPr/>
        </p:nvSpPr>
        <p:spPr bwMode="auto">
          <a:xfrm>
            <a:off x="700088" y="2470150"/>
            <a:ext cx="4648200" cy="1428750"/>
          </a:xfrm>
          <a:prstGeom prst="rect">
            <a:avLst/>
          </a:prstGeom>
          <a:noFill/>
          <a:ln w="9525">
            <a:noFill/>
            <a:round/>
            <a:headEnd/>
            <a:tailEnd/>
          </a:ln>
        </p:spPr>
        <p:txBody>
          <a:bodyPr lIns="90000" tIns="46800" rIns="90000" bIns="46800"/>
          <a:lstStyle/>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000" kern="0" dirty="0">
                <a:solidFill>
                  <a:srgbClr val="000000"/>
                </a:solidFill>
                <a:latin typeface="Arial  " charset="0"/>
                <a:cs typeface="Arial  " charset="0"/>
              </a:rPr>
              <a:t>	                                                       </a:t>
            </a:r>
            <a:r>
              <a:rPr lang="en-US" sz="2000" kern="0" dirty="0">
                <a:solidFill>
                  <a:srgbClr val="FF0000"/>
                </a:solidFill>
                <a:latin typeface="Arial  " charset="0"/>
                <a:cs typeface="Arial  " charset="0"/>
              </a:rPr>
              <a:t>T</a:t>
            </a:r>
          </a:p>
          <a:p>
            <a:pPr marL="341313" indent="-341313" eaLnBrk="1" hangingPunct="1">
              <a:lnSpc>
                <a:spcPct val="10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a:p>
            <a:pPr marL="341313" indent="-341313" eaLnBrk="1" hangingPunct="1">
              <a:lnSpc>
                <a:spcPct val="100000"/>
              </a:lnSpc>
              <a:spcBef>
                <a:spcPts val="700"/>
              </a:spcBef>
              <a:buFont typeface="Comic Sans MS" pitchFamily="6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a:p>
            <a:pPr marL="341313" indent="-341313" eaLnBrk="1" hangingPunct="1">
              <a:lnSpc>
                <a:spcPct val="100000"/>
              </a:lnSpc>
              <a:spcBef>
                <a:spcPts val="700"/>
              </a:spcBef>
              <a:buFont typeface="Comic Sans MS" pitchFamily="6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000" kern="0" dirty="0" err="1">
                <a:solidFill>
                  <a:srgbClr val="000000"/>
                </a:solidFill>
                <a:latin typeface="Arial  " charset="0"/>
                <a:cs typeface="Arial  " charset="0"/>
              </a:rPr>
              <a:t>Mispredicts</a:t>
            </a:r>
            <a:r>
              <a:rPr lang="en-GB" sz="2000" kern="0" dirty="0">
                <a:solidFill>
                  <a:srgbClr val="000000"/>
                </a:solidFill>
                <a:latin typeface="Arial  " charset="0"/>
                <a:cs typeface="Arial  " charset="0"/>
              </a:rPr>
              <a:t> last loop iteration</a:t>
            </a:r>
          </a:p>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2000" kern="0" dirty="0">
              <a:solidFill>
                <a:srgbClr val="000000"/>
              </a:solidFill>
              <a:latin typeface="Arial  " charset="0"/>
              <a:cs typeface="Arial  " charset="0"/>
            </a:endParaRPr>
          </a:p>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a:p>
            <a:pPr marL="341313" indent="-341313" eaLnBrk="1" hangingPunct="1">
              <a:lnSpc>
                <a:spcPct val="116000"/>
              </a:lnSpc>
              <a:spcBef>
                <a:spcPts val="700"/>
              </a:spcBef>
              <a:buFontTx/>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p:txBody>
      </p:sp>
      <p:cxnSp>
        <p:nvCxnSpPr>
          <p:cNvPr id="23563" name="Straight Connector 28">
            <a:extLst>
              <a:ext uri="{FF2B5EF4-FFF2-40B4-BE49-F238E27FC236}">
                <a16:creationId xmlns:a16="http://schemas.microsoft.com/office/drawing/2014/main" id="{6DD672A5-C4BF-9A46-8744-8FFAB5D546B9}"/>
              </a:ext>
            </a:extLst>
          </p:cNvPr>
          <p:cNvCxnSpPr>
            <a:cxnSpLocks noChangeShapeType="1"/>
          </p:cNvCxnSpPr>
          <p:nvPr/>
        </p:nvCxnSpPr>
        <p:spPr bwMode="auto">
          <a:xfrm flipH="1">
            <a:off x="5138738" y="2395538"/>
            <a:ext cx="4762" cy="862012"/>
          </a:xfrm>
          <a:prstGeom prst="line">
            <a:avLst/>
          </a:prstGeom>
          <a:noFill/>
          <a:ln w="9525" algn="ctr">
            <a:solidFill>
              <a:schemeClr val="tx1"/>
            </a:solidFill>
            <a:prstDash val="sysDash"/>
            <a:round/>
            <a:headEnd/>
            <a:tailEnd/>
          </a:ln>
        </p:spPr>
      </p:cxnSp>
      <p:cxnSp>
        <p:nvCxnSpPr>
          <p:cNvPr id="23564" name="Straight Connector 30">
            <a:extLst>
              <a:ext uri="{FF2B5EF4-FFF2-40B4-BE49-F238E27FC236}">
                <a16:creationId xmlns:a16="http://schemas.microsoft.com/office/drawing/2014/main" id="{B513A589-9C70-6BE8-B86F-BE5F94F126F9}"/>
              </a:ext>
            </a:extLst>
          </p:cNvPr>
          <p:cNvCxnSpPr>
            <a:cxnSpLocks noChangeShapeType="1"/>
          </p:cNvCxnSpPr>
          <p:nvPr/>
        </p:nvCxnSpPr>
        <p:spPr bwMode="auto">
          <a:xfrm flipH="1">
            <a:off x="6710363" y="2416175"/>
            <a:ext cx="4762" cy="862013"/>
          </a:xfrm>
          <a:prstGeom prst="line">
            <a:avLst/>
          </a:prstGeom>
          <a:noFill/>
          <a:ln w="9525" algn="ctr">
            <a:solidFill>
              <a:schemeClr val="tx1"/>
            </a:solidFill>
            <a:prstDash val="sysDash"/>
            <a:round/>
            <a:headEnd/>
            <a:tailEnd/>
          </a:ln>
        </p:spPr>
      </p:cxnSp>
      <p:cxnSp>
        <p:nvCxnSpPr>
          <p:cNvPr id="23565" name="Straight Connector 31">
            <a:extLst>
              <a:ext uri="{FF2B5EF4-FFF2-40B4-BE49-F238E27FC236}">
                <a16:creationId xmlns:a16="http://schemas.microsoft.com/office/drawing/2014/main" id="{9D0EE77A-AE29-6115-48FD-14CF07C51CB1}"/>
              </a:ext>
            </a:extLst>
          </p:cNvPr>
          <p:cNvCxnSpPr>
            <a:cxnSpLocks noChangeShapeType="1"/>
          </p:cNvCxnSpPr>
          <p:nvPr/>
        </p:nvCxnSpPr>
        <p:spPr bwMode="auto">
          <a:xfrm flipH="1">
            <a:off x="3506788" y="2387600"/>
            <a:ext cx="4762" cy="862013"/>
          </a:xfrm>
          <a:prstGeom prst="line">
            <a:avLst/>
          </a:prstGeom>
          <a:noFill/>
          <a:ln w="9525" algn="ctr">
            <a:solidFill>
              <a:schemeClr val="tx1"/>
            </a:solidFill>
            <a:prstDash val="sysDash"/>
            <a:round/>
            <a:headEnd/>
            <a:tailEnd/>
          </a:ln>
        </p:spPr>
      </p:cxnSp>
      <p:sp>
        <p:nvSpPr>
          <p:cNvPr id="24" name="Rectangle 2">
            <a:extLst>
              <a:ext uri="{FF2B5EF4-FFF2-40B4-BE49-F238E27FC236}">
                <a16:creationId xmlns:a16="http://schemas.microsoft.com/office/drawing/2014/main" id="{EBC85E42-4015-9140-CCCB-93FD0A7467A6}"/>
              </a:ext>
            </a:extLst>
          </p:cNvPr>
          <p:cNvSpPr txBox="1">
            <a:spLocks noChangeArrowheads="1"/>
          </p:cNvSpPr>
          <p:nvPr/>
        </p:nvSpPr>
        <p:spPr bwMode="auto">
          <a:xfrm>
            <a:off x="698500" y="2005013"/>
            <a:ext cx="7772400" cy="1376362"/>
          </a:xfrm>
          <a:prstGeom prst="rect">
            <a:avLst/>
          </a:prstGeom>
          <a:noFill/>
          <a:ln w="9525">
            <a:noFill/>
            <a:round/>
            <a:headEnd/>
            <a:tailEnd/>
          </a:ln>
        </p:spPr>
        <p:txBody>
          <a:bodyPr lIns="90000" tIns="46800" rIns="90000" bIns="46800"/>
          <a:lstStyle/>
          <a:p>
            <a:pPr eaLnBrk="1" hangingPunct="1">
              <a:lnSpc>
                <a:spcPct val="100000"/>
              </a:lnSpc>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000" dirty="0">
                <a:solidFill>
                  <a:schemeClr val="tx1"/>
                </a:solidFill>
                <a:latin typeface="Arial  " charset="0"/>
                <a:cs typeface="Arial  " charset="0"/>
              </a:rPr>
              <a:t>			                  time (loop iteration)</a:t>
            </a:r>
          </a:p>
          <a:p>
            <a:pPr eaLnBrk="1" hangingPunct="1">
              <a:lnSpc>
                <a:spcPct val="100000"/>
              </a:lnSpc>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1000" dirty="0">
              <a:solidFill>
                <a:schemeClr val="tx1"/>
              </a:solidFill>
              <a:latin typeface="Arial  " charset="0"/>
              <a:cs typeface="Arial  " charset="0"/>
            </a:endParaRPr>
          </a:p>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000" kern="0" dirty="0">
                <a:solidFill>
                  <a:schemeClr val="tx1"/>
                </a:solidFill>
                <a:latin typeface="Arial  " charset="0"/>
                <a:cs typeface="Arial  " charset="0"/>
              </a:rPr>
              <a:t>			</a:t>
            </a:r>
          </a:p>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000" kern="0" dirty="0">
                <a:solidFill>
                  <a:srgbClr val="000000"/>
                </a:solidFill>
                <a:latin typeface="Arial  " charset="0"/>
                <a:cs typeface="Arial  " charset="0"/>
              </a:rPr>
              <a:t>     Actual outcome: 	TTTTTTTTT</a:t>
            </a:r>
            <a:r>
              <a:rPr lang="en-US" sz="2000" kern="0" dirty="0">
                <a:solidFill>
                  <a:schemeClr val="tx1"/>
                </a:solidFill>
                <a:latin typeface="Arial  " charset="0"/>
                <a:cs typeface="Arial  " charset="0"/>
              </a:rPr>
              <a:t>NTTTTTTTTTNT</a:t>
            </a:r>
            <a:r>
              <a:rPr lang="en-US" sz="2000" kern="0" dirty="0">
                <a:solidFill>
                  <a:srgbClr val="000000"/>
                </a:solidFill>
                <a:latin typeface="Arial  " charset="0"/>
                <a:cs typeface="Arial  " charset="0"/>
              </a:rPr>
              <a:t>TTT</a:t>
            </a:r>
          </a:p>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000" kern="0" dirty="0">
                <a:solidFill>
                  <a:srgbClr val="000000"/>
                </a:solidFill>
                <a:latin typeface="Arial  " charset="0"/>
                <a:cs typeface="Arial  " charset="0"/>
              </a:rPr>
              <a:t>	</a:t>
            </a:r>
            <a:endParaRPr lang="en-GB" sz="2000" kern="0" dirty="0">
              <a:solidFill>
                <a:srgbClr val="000000"/>
              </a:solidFill>
              <a:latin typeface="Arial  " charset="0"/>
              <a:cs typeface="Arial  " charset="0"/>
            </a:endParaRPr>
          </a:p>
          <a:p>
            <a:pPr marL="341313" indent="-341313" eaLnBrk="1" hangingPunct="1">
              <a:lnSpc>
                <a:spcPct val="116000"/>
              </a:lnSpc>
              <a:spcBef>
                <a:spcPts val="700"/>
              </a:spcBef>
              <a:buFontTx/>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p:txBody>
      </p:sp>
      <p:sp>
        <p:nvSpPr>
          <p:cNvPr id="33" name="Rectangle 2">
            <a:extLst>
              <a:ext uri="{FF2B5EF4-FFF2-40B4-BE49-F238E27FC236}">
                <a16:creationId xmlns:a16="http://schemas.microsoft.com/office/drawing/2014/main" id="{C27C6D47-13BF-7CFD-6EF5-9DD5D0CF41DC}"/>
              </a:ext>
            </a:extLst>
          </p:cNvPr>
          <p:cNvSpPr txBox="1">
            <a:spLocks noChangeArrowheads="1"/>
          </p:cNvSpPr>
          <p:nvPr/>
        </p:nvSpPr>
        <p:spPr bwMode="auto">
          <a:xfrm>
            <a:off x="728663" y="1025525"/>
            <a:ext cx="7772400" cy="1008063"/>
          </a:xfrm>
          <a:prstGeom prst="rect">
            <a:avLst/>
          </a:prstGeom>
          <a:noFill/>
          <a:ln w="9525">
            <a:noFill/>
            <a:round/>
            <a:headEnd/>
            <a:tailEnd/>
          </a:ln>
        </p:spPr>
        <p:txBody>
          <a:bodyPr lIns="90000" tIns="46800" rIns="90000" bIns="46800"/>
          <a:lstStyle/>
          <a:p>
            <a:pPr marL="341313" indent="-341313" eaLnBrk="1" hangingPunct="1">
              <a:lnSpc>
                <a:spcPct val="10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000" kern="0" dirty="0">
                <a:solidFill>
                  <a:srgbClr val="FF0000"/>
                </a:solidFill>
                <a:latin typeface="Arial  " charset="0"/>
                <a:cs typeface="Arial  " charset="0"/>
              </a:rPr>
              <a:t>	</a:t>
            </a:r>
            <a:r>
              <a:rPr lang="en-GB" sz="2000" u="sng" kern="0" dirty="0">
                <a:solidFill>
                  <a:srgbClr val="FF0000"/>
                </a:solidFill>
                <a:latin typeface="Arial  " charset="0"/>
                <a:cs typeface="Arial  " charset="0"/>
              </a:rPr>
              <a:t>Problem</a:t>
            </a:r>
            <a:r>
              <a:rPr lang="en-GB" sz="2000" kern="0" dirty="0">
                <a:solidFill>
                  <a:srgbClr val="FF0000"/>
                </a:solidFill>
                <a:latin typeface="Arial  " charset="0"/>
                <a:cs typeface="Arial  " charset="0"/>
              </a:rPr>
              <a:t>: </a:t>
            </a:r>
            <a:r>
              <a:rPr lang="en-GB" sz="2000" kern="0" dirty="0">
                <a:solidFill>
                  <a:schemeClr val="tx1"/>
                </a:solidFill>
                <a:latin typeface="Arial  " charset="0"/>
                <a:cs typeface="Arial  " charset="0"/>
              </a:rPr>
              <a:t>A branch that is almost always </a:t>
            </a:r>
            <a:r>
              <a:rPr lang="en-GB" sz="2000" kern="0" dirty="0">
                <a:solidFill>
                  <a:srgbClr val="0000FF"/>
                </a:solidFill>
                <a:latin typeface="Arial  " charset="0"/>
                <a:cs typeface="Arial  " charset="0"/>
              </a:rPr>
              <a:t>taken</a:t>
            </a:r>
            <a:r>
              <a:rPr lang="en-GB" sz="2000" kern="0" dirty="0">
                <a:solidFill>
                  <a:srgbClr val="FF0000"/>
                </a:solidFill>
                <a:latin typeface="Arial  " charset="0"/>
                <a:cs typeface="Arial  " charset="0"/>
              </a:rPr>
              <a:t> </a:t>
            </a:r>
            <a:r>
              <a:rPr lang="en-GB" sz="2000" kern="0" dirty="0">
                <a:solidFill>
                  <a:srgbClr val="008080"/>
                </a:solidFill>
                <a:latin typeface="Arial  " charset="0"/>
                <a:cs typeface="Arial  " charset="0"/>
              </a:rPr>
              <a:t>(not-taken) </a:t>
            </a:r>
            <a:r>
              <a:rPr lang="en-GB" sz="2000" kern="0" dirty="0">
                <a:solidFill>
                  <a:srgbClr val="FF0000"/>
                </a:solidFill>
                <a:latin typeface="Arial  " charset="0"/>
                <a:cs typeface="Arial  " charset="0"/>
              </a:rPr>
              <a:t>will </a:t>
            </a:r>
            <a:r>
              <a:rPr lang="en-GB" sz="2000" kern="0" dirty="0" err="1">
                <a:solidFill>
                  <a:srgbClr val="FF0000"/>
                </a:solidFill>
                <a:latin typeface="Arial  " charset="0"/>
                <a:cs typeface="Arial  " charset="0"/>
              </a:rPr>
              <a:t>mispredict</a:t>
            </a:r>
            <a:r>
              <a:rPr lang="en-GB" sz="2000" kern="0" dirty="0">
                <a:solidFill>
                  <a:srgbClr val="FF0000"/>
                </a:solidFill>
                <a:latin typeface="Arial  " charset="0"/>
                <a:cs typeface="Arial  " charset="0"/>
              </a:rPr>
              <a:t> </a:t>
            </a:r>
            <a:r>
              <a:rPr lang="en-GB" sz="2000" b="1" u="sng" kern="0" dirty="0">
                <a:solidFill>
                  <a:srgbClr val="FF0000"/>
                </a:solidFill>
                <a:latin typeface="Arial  " charset="0"/>
                <a:cs typeface="Arial  " charset="0"/>
              </a:rPr>
              <a:t>twice</a:t>
            </a:r>
            <a:r>
              <a:rPr lang="en-GB" sz="2000" kern="0" dirty="0">
                <a:solidFill>
                  <a:srgbClr val="FF0000"/>
                </a:solidFill>
                <a:latin typeface="Arial  " charset="0"/>
                <a:cs typeface="Arial  " charset="0"/>
              </a:rPr>
              <a:t> </a:t>
            </a:r>
            <a:r>
              <a:rPr lang="en-GB" sz="2000" kern="0" dirty="0">
                <a:solidFill>
                  <a:schemeClr val="tx1"/>
                </a:solidFill>
                <a:latin typeface="Arial  " charset="0"/>
                <a:cs typeface="Arial  " charset="0"/>
              </a:rPr>
              <a:t>each time branch is </a:t>
            </a:r>
            <a:r>
              <a:rPr lang="en-GB" sz="2000" kern="0" dirty="0">
                <a:solidFill>
                  <a:srgbClr val="0000FF"/>
                </a:solidFill>
                <a:latin typeface="Arial  " charset="0"/>
                <a:cs typeface="Arial  " charset="0"/>
              </a:rPr>
              <a:t>not-taken</a:t>
            </a:r>
            <a:r>
              <a:rPr lang="en-GB" sz="2000" kern="0" dirty="0">
                <a:solidFill>
                  <a:srgbClr val="FF0000"/>
                </a:solidFill>
                <a:latin typeface="Arial  " charset="0"/>
                <a:cs typeface="Arial  " charset="0"/>
              </a:rPr>
              <a:t> </a:t>
            </a:r>
            <a:r>
              <a:rPr lang="en-GB" sz="2000" kern="0" dirty="0">
                <a:solidFill>
                  <a:srgbClr val="008080"/>
                </a:solidFill>
                <a:latin typeface="Arial  " charset="0"/>
                <a:cs typeface="Arial  " charset="0"/>
              </a:rPr>
              <a:t>(taken).</a:t>
            </a:r>
          </a:p>
        </p:txBody>
      </p:sp>
      <p:sp>
        <p:nvSpPr>
          <p:cNvPr id="22531" name="Rectangle 2">
            <a:extLst>
              <a:ext uri="{FF2B5EF4-FFF2-40B4-BE49-F238E27FC236}">
                <a16:creationId xmlns:a16="http://schemas.microsoft.com/office/drawing/2014/main" id="{29163F89-ACFB-45D5-CC51-4029B162C4D7}"/>
              </a:ext>
            </a:extLst>
          </p:cNvPr>
          <p:cNvSpPr>
            <a:spLocks noGrp="1" noChangeArrowheads="1"/>
          </p:cNvSpPr>
          <p:nvPr>
            <p:ph type="body" idx="1"/>
          </p:nvPr>
        </p:nvSpPr>
        <p:spPr>
          <a:xfrm>
            <a:off x="685800" y="2454275"/>
            <a:ext cx="4403725" cy="504825"/>
          </a:xfrm>
        </p:spPr>
        <p:txBody>
          <a:bodyPr/>
          <a:lstStyle/>
          <a:p>
            <a:pPr eaLnBrk="1" hangingPunct="1">
              <a:lnSpc>
                <a:spcPct val="100000"/>
              </a:lnSpc>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latin typeface="Arial  " charset="0"/>
                <a:cs typeface="Arial  " charset="0"/>
              </a:rPr>
              <a:t>	Predicted outcome: 	</a:t>
            </a:r>
            <a:endParaRPr lang="en-GB" altLang="en-US" sz="2000">
              <a:latin typeface="Arial  " charset="0"/>
              <a:cs typeface="Arial  " charset="0"/>
            </a:endParaRPr>
          </a:p>
          <a:p>
            <a:pPr eaLnBrk="1" hangingPunct="1">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a:latin typeface="Arial  " charset="0"/>
              <a:cs typeface="Arial  " charset="0"/>
            </a:endParaRPr>
          </a:p>
        </p:txBody>
      </p:sp>
      <p:sp>
        <p:nvSpPr>
          <p:cNvPr id="34" name="Rectangle 2">
            <a:extLst>
              <a:ext uri="{FF2B5EF4-FFF2-40B4-BE49-F238E27FC236}">
                <a16:creationId xmlns:a16="http://schemas.microsoft.com/office/drawing/2014/main" id="{C594A1F2-6241-EA6D-CC84-4D9FABEA112D}"/>
              </a:ext>
            </a:extLst>
          </p:cNvPr>
          <p:cNvSpPr txBox="1">
            <a:spLocks noChangeArrowheads="1"/>
          </p:cNvSpPr>
          <p:nvPr/>
        </p:nvSpPr>
        <p:spPr bwMode="auto">
          <a:xfrm>
            <a:off x="3460750" y="2462213"/>
            <a:ext cx="328613" cy="504825"/>
          </a:xfrm>
          <a:prstGeom prst="rect">
            <a:avLst/>
          </a:prstGeom>
          <a:noFill/>
          <a:ln w="9525">
            <a:noFill/>
            <a:round/>
            <a:headEnd/>
            <a:tailEnd/>
          </a:ln>
        </p:spPr>
        <p:txBody>
          <a:bodyPr lIns="90000" tIns="46800" rIns="90000" bIns="46800"/>
          <a:lstStyle/>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000" kern="0" dirty="0">
                <a:solidFill>
                  <a:srgbClr val="000000"/>
                </a:solidFill>
                <a:latin typeface="Arial  " charset="0"/>
                <a:cs typeface="Arial  " charset="0"/>
              </a:rPr>
              <a:t>?</a:t>
            </a:r>
            <a:endParaRPr lang="en-GB" sz="2000" kern="0" dirty="0">
              <a:solidFill>
                <a:srgbClr val="000000"/>
              </a:solidFill>
              <a:latin typeface="Arial  " charset="0"/>
              <a:cs typeface="Arial  " charset="0"/>
            </a:endParaRPr>
          </a:p>
          <a:p>
            <a:pPr marL="341313" indent="-341313" eaLnBrk="1" hangingPunct="1">
              <a:lnSpc>
                <a:spcPct val="116000"/>
              </a:lnSpc>
              <a:spcBef>
                <a:spcPts val="700"/>
              </a:spcBef>
              <a:buFontTx/>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p:txBody>
      </p:sp>
      <p:sp>
        <p:nvSpPr>
          <p:cNvPr id="35" name="Rectangle 2">
            <a:extLst>
              <a:ext uri="{FF2B5EF4-FFF2-40B4-BE49-F238E27FC236}">
                <a16:creationId xmlns:a16="http://schemas.microsoft.com/office/drawing/2014/main" id="{23F2C927-6A07-A9C6-5E0F-3D1CDFD4F90C}"/>
              </a:ext>
            </a:extLst>
          </p:cNvPr>
          <p:cNvSpPr txBox="1">
            <a:spLocks noChangeArrowheads="1"/>
          </p:cNvSpPr>
          <p:nvPr/>
        </p:nvSpPr>
        <p:spPr bwMode="auto">
          <a:xfrm>
            <a:off x="3625850" y="2470150"/>
            <a:ext cx="1427163" cy="506413"/>
          </a:xfrm>
          <a:prstGeom prst="rect">
            <a:avLst/>
          </a:prstGeom>
          <a:noFill/>
          <a:ln w="9525">
            <a:noFill/>
            <a:round/>
            <a:headEnd/>
            <a:tailEnd/>
          </a:ln>
        </p:spPr>
        <p:txBody>
          <a:bodyPr lIns="90000" tIns="46800" rIns="90000" bIns="46800"/>
          <a:lstStyle/>
          <a:p>
            <a:pPr marL="341313" indent="-341313" eaLnBrk="1" hangingPunct="1">
              <a:lnSpc>
                <a:spcPct val="100000"/>
              </a:lnSpc>
              <a:spcBef>
                <a:spcPts val="700"/>
              </a:spcBef>
              <a:buFont typeface="Comic Sans MS"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000" kern="0" dirty="0">
                <a:solidFill>
                  <a:srgbClr val="000000"/>
                </a:solidFill>
                <a:latin typeface="Arial  " charset="0"/>
                <a:cs typeface="Arial  " charset="0"/>
              </a:rPr>
              <a:t>TTTTTTTT</a:t>
            </a:r>
            <a:endParaRPr lang="en-GB" sz="2000" kern="0" dirty="0">
              <a:solidFill>
                <a:srgbClr val="000000"/>
              </a:solidFill>
              <a:latin typeface="Arial  " charset="0"/>
              <a:cs typeface="Arial  " charset="0"/>
            </a:endParaRPr>
          </a:p>
          <a:p>
            <a:pPr marL="341313" indent="-341313" eaLnBrk="1" hangingPunct="1">
              <a:lnSpc>
                <a:spcPct val="116000"/>
              </a:lnSpc>
              <a:spcBef>
                <a:spcPts val="700"/>
              </a:spcBef>
              <a:buFontTx/>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sz="2000" kern="0" dirty="0">
              <a:solidFill>
                <a:srgbClr val="000000"/>
              </a:solidFill>
              <a:latin typeface="Arial  " charset="0"/>
              <a:cs typeface="Arial  "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P spid="11" grpId="0"/>
      <p:bldP spid="33" grpId="0" build="p"/>
      <p:bldP spid="22531" grpId="0" build="p"/>
      <p:bldP spid="34" grpId="0" build="p"/>
      <p:bldP spid="3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7F8AEBDE-2171-F194-0BE6-0D69FEFE2F35}"/>
              </a:ext>
            </a:extLst>
          </p:cNvPr>
          <p:cNvSpPr>
            <a:spLocks noGrp="1"/>
          </p:cNvSpPr>
          <p:nvPr>
            <p:ph type="title"/>
          </p:nvPr>
        </p:nvSpPr>
        <p:spPr>
          <a:xfrm>
            <a:off x="0" y="-85725"/>
            <a:ext cx="9144000" cy="1311275"/>
          </a:xfrm>
        </p:spPr>
        <p:txBody>
          <a:bodyPr/>
          <a:lstStyle/>
          <a:p>
            <a:r>
              <a:rPr lang="en-CA" altLang="en-US" i="1">
                <a:latin typeface="Arial  " charset="0"/>
                <a:cs typeface="Arial  " charset="0"/>
              </a:rPr>
              <a:t>ideas to get rid of mispredictions?</a:t>
            </a:r>
          </a:p>
        </p:txBody>
      </p:sp>
      <p:sp>
        <p:nvSpPr>
          <p:cNvPr id="24579" name="Slide Number Placeholder 3">
            <a:extLst>
              <a:ext uri="{FF2B5EF4-FFF2-40B4-BE49-F238E27FC236}">
                <a16:creationId xmlns:a16="http://schemas.microsoft.com/office/drawing/2014/main" id="{8BB66FBC-F5FD-F35A-6D15-E55039E147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C2281E1B-4612-1F41-9200-DB8503C9D726}" type="slidenum">
              <a:rPr lang="en-GB" altLang="en-US" sz="1400">
                <a:solidFill>
                  <a:srgbClr val="000000"/>
                </a:solidFill>
                <a:latin typeface="Arial  " charset="0"/>
              </a:rPr>
              <a:pPr/>
              <a:t>20</a:t>
            </a:fld>
            <a:r>
              <a:rPr lang="en-GB" altLang="en-US" sz="1400">
                <a:solidFill>
                  <a:srgbClr val="000000"/>
                </a:solidFill>
                <a:latin typeface="Arial  " charset="0"/>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11">
            <a:extLst>
              <a:ext uri="{FF2B5EF4-FFF2-40B4-BE49-F238E27FC236}">
                <a16:creationId xmlns:a16="http://schemas.microsoft.com/office/drawing/2014/main" id="{FD11A826-5DD2-5400-B0B2-B44879DDF7A3}"/>
              </a:ext>
            </a:extLst>
          </p:cNvPr>
          <p:cNvSpPr>
            <a:spLocks noChangeArrowheads="1"/>
          </p:cNvSpPr>
          <p:nvPr/>
        </p:nvSpPr>
        <p:spPr bwMode="auto">
          <a:xfrm rot="16200000">
            <a:off x="6934200" y="2113029"/>
            <a:ext cx="1981200" cy="2438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0370" y="10859"/>
                </a:moveTo>
                <a:cubicBezTo>
                  <a:pt x="20370" y="10839"/>
                  <a:pt x="20371" y="10819"/>
                  <a:pt x="20371" y="10800"/>
                </a:cubicBezTo>
                <a:cubicBezTo>
                  <a:pt x="20371" y="5514"/>
                  <a:pt x="16085" y="1229"/>
                  <a:pt x="10800" y="1229"/>
                </a:cubicBezTo>
                <a:cubicBezTo>
                  <a:pt x="8032" y="1228"/>
                  <a:pt x="5401" y="2426"/>
                  <a:pt x="3583" y="4513"/>
                </a:cubicBezTo>
                <a:lnTo>
                  <a:pt x="2656" y="3705"/>
                </a:lnTo>
                <a:cubicBezTo>
                  <a:pt x="4707" y="1351"/>
                  <a:pt x="7677" y="-1"/>
                  <a:pt x="10800" y="-1"/>
                </a:cubicBezTo>
                <a:cubicBezTo>
                  <a:pt x="16764" y="0"/>
                  <a:pt x="21600" y="4835"/>
                  <a:pt x="21600" y="10800"/>
                </a:cubicBezTo>
                <a:cubicBezTo>
                  <a:pt x="21600" y="10822"/>
                  <a:pt x="21599" y="10845"/>
                  <a:pt x="21599" y="10867"/>
                </a:cubicBezTo>
                <a:lnTo>
                  <a:pt x="24299" y="10884"/>
                </a:lnTo>
                <a:lnTo>
                  <a:pt x="20965" y="14178"/>
                </a:lnTo>
                <a:lnTo>
                  <a:pt x="17670" y="10843"/>
                </a:lnTo>
                <a:lnTo>
                  <a:pt x="20370" y="10859"/>
                </a:lnTo>
                <a:close/>
              </a:path>
            </a:pathLst>
          </a:custGeom>
          <a:solidFill>
            <a:srgbClr val="00FF00"/>
          </a:solidFill>
          <a:ln w="9360">
            <a:solidFill>
              <a:srgbClr val="000000"/>
            </a:solidFill>
            <a:miter lim="800000"/>
            <a:headEnd/>
            <a:tailEnd/>
          </a:ln>
          <a:scene3d>
            <a:camera prst="orthographicFront">
              <a:rot lat="0" lon="0" rev="5400000"/>
            </a:camera>
            <a:lightRig rig="threePt" dir="t"/>
          </a:scene3d>
        </p:spPr>
        <p:txBody>
          <a:bodyPr wrap="none" anchor="ctr"/>
          <a:lstStyle/>
          <a:p>
            <a:pPr>
              <a:defRPr/>
            </a:pPr>
            <a:endParaRPr lang="en-US">
              <a:ea typeface="ＭＳ Ｐゴシック" pitchFamily="34" charset="-128"/>
            </a:endParaRPr>
          </a:p>
        </p:txBody>
      </p:sp>
      <p:sp>
        <p:nvSpPr>
          <p:cNvPr id="30" name="AutoShape 19">
            <a:extLst>
              <a:ext uri="{FF2B5EF4-FFF2-40B4-BE49-F238E27FC236}">
                <a16:creationId xmlns:a16="http://schemas.microsoft.com/office/drawing/2014/main" id="{B7F895C7-37E8-750E-2958-B87091870DB5}"/>
              </a:ext>
            </a:extLst>
          </p:cNvPr>
          <p:cNvSpPr>
            <a:spLocks noChangeArrowheads="1"/>
          </p:cNvSpPr>
          <p:nvPr/>
        </p:nvSpPr>
        <p:spPr bwMode="auto">
          <a:xfrm rot="5400000">
            <a:off x="5404387" y="3176679"/>
            <a:ext cx="1571559" cy="1760671"/>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949" y="11483"/>
                </a:moveTo>
                <a:cubicBezTo>
                  <a:pt x="19966" y="11256"/>
                  <a:pt x="19975" y="11028"/>
                  <a:pt x="19975" y="10800"/>
                </a:cubicBezTo>
                <a:cubicBezTo>
                  <a:pt x="19975" y="5732"/>
                  <a:pt x="15867" y="1625"/>
                  <a:pt x="10800" y="1625"/>
                </a:cubicBezTo>
                <a:cubicBezTo>
                  <a:pt x="7817" y="1624"/>
                  <a:pt x="5021" y="3074"/>
                  <a:pt x="3302" y="5511"/>
                </a:cubicBezTo>
                <a:lnTo>
                  <a:pt x="1974" y="4574"/>
                </a:lnTo>
                <a:cubicBezTo>
                  <a:pt x="3998" y="1706"/>
                  <a:pt x="7289" y="-1"/>
                  <a:pt x="10800" y="-1"/>
                </a:cubicBezTo>
                <a:cubicBezTo>
                  <a:pt x="16764" y="0"/>
                  <a:pt x="21600" y="4835"/>
                  <a:pt x="21600" y="10800"/>
                </a:cubicBezTo>
                <a:cubicBezTo>
                  <a:pt x="21600" y="11068"/>
                  <a:pt x="21589" y="11337"/>
                  <a:pt x="21569" y="11605"/>
                </a:cubicBezTo>
                <a:lnTo>
                  <a:pt x="24262" y="11806"/>
                </a:lnTo>
                <a:lnTo>
                  <a:pt x="20498" y="15048"/>
                </a:lnTo>
                <a:lnTo>
                  <a:pt x="17256" y="11282"/>
                </a:lnTo>
                <a:lnTo>
                  <a:pt x="19949" y="11483"/>
                </a:lnTo>
                <a:close/>
              </a:path>
            </a:pathLst>
          </a:custGeom>
          <a:solidFill>
            <a:srgbClr val="FF0000"/>
          </a:solidFill>
          <a:ln w="9360">
            <a:solidFill>
              <a:srgbClr val="000000"/>
            </a:solidFill>
            <a:miter lim="800000"/>
            <a:headEnd/>
            <a:tailEnd/>
          </a:ln>
          <a:scene3d>
            <a:camera prst="orthographicFront">
              <a:rot lat="0" lon="0" rev="4800000"/>
            </a:camera>
            <a:lightRig rig="threePt" dir="t"/>
          </a:scene3d>
        </p:spPr>
        <p:txBody>
          <a:bodyPr wrap="none" anchor="ctr"/>
          <a:lstStyle/>
          <a:p>
            <a:pPr>
              <a:defRPr/>
            </a:pPr>
            <a:endParaRPr lang="en-US">
              <a:ea typeface="ＭＳ Ｐゴシック" pitchFamily="34" charset="-128"/>
            </a:endParaRPr>
          </a:p>
        </p:txBody>
      </p:sp>
      <p:sp>
        <p:nvSpPr>
          <p:cNvPr id="25604" name="Rectangle 1">
            <a:extLst>
              <a:ext uri="{FF2B5EF4-FFF2-40B4-BE49-F238E27FC236}">
                <a16:creationId xmlns:a16="http://schemas.microsoft.com/office/drawing/2014/main" id="{BC656223-5BD1-39F7-5778-DB8A73C5198B}"/>
              </a:ext>
            </a:extLst>
          </p:cNvPr>
          <p:cNvSpPr>
            <a:spLocks noGrp="1" noChangeArrowheads="1"/>
          </p:cNvSpPr>
          <p:nvPr>
            <p:ph type="title"/>
          </p:nvPr>
        </p:nvSpPr>
        <p:spPr>
          <a:xfrm>
            <a:off x="1700213" y="0"/>
            <a:ext cx="6770687" cy="8509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200">
                <a:latin typeface="Arial  " charset="0"/>
                <a:cs typeface="Arial  " charset="0"/>
              </a:rPr>
              <a:t>2-bit Branch Predictor</a:t>
            </a:r>
          </a:p>
        </p:txBody>
      </p:sp>
      <p:sp>
        <p:nvSpPr>
          <p:cNvPr id="25605" name="Rectangle 2">
            <a:extLst>
              <a:ext uri="{FF2B5EF4-FFF2-40B4-BE49-F238E27FC236}">
                <a16:creationId xmlns:a16="http://schemas.microsoft.com/office/drawing/2014/main" id="{3BBCE702-6CB6-4C0E-C291-CF9945AB1AD3}"/>
              </a:ext>
            </a:extLst>
          </p:cNvPr>
          <p:cNvSpPr>
            <a:spLocks noGrp="1" noChangeArrowheads="1"/>
          </p:cNvSpPr>
          <p:nvPr>
            <p:ph type="body" idx="1"/>
          </p:nvPr>
        </p:nvSpPr>
        <p:spPr>
          <a:xfrm>
            <a:off x="0" y="4248150"/>
            <a:ext cx="4559300" cy="2120900"/>
          </a:xfrm>
        </p:spPr>
        <p:txBody>
          <a:bodyPr/>
          <a:lstStyle/>
          <a:p>
            <a:pPr eaLnBrk="1" hangingPunct="1">
              <a:lnSpc>
                <a:spcPct val="10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Arial  " charset="0"/>
                <a:cs typeface="Arial  " charset="0"/>
              </a:rPr>
              <a:t>Observations:</a:t>
            </a:r>
          </a:p>
          <a:p>
            <a:pPr lvl="1" eaLnBrk="1" hangingPunct="1">
              <a:lnSpc>
                <a:spcPct val="10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Repeating T stays in ‘11’ state</a:t>
            </a:r>
          </a:p>
          <a:p>
            <a:pPr lvl="1" eaLnBrk="1" hangingPunct="1">
              <a:lnSpc>
                <a:spcPct val="10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Repeating NT stays in ‘00’ state</a:t>
            </a:r>
          </a:p>
          <a:p>
            <a:pPr lvl="1" eaLnBrk="1" hangingPunct="1">
              <a:lnSpc>
                <a:spcPct val="10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Arial  " charset="0"/>
                <a:cs typeface="Arial  " charset="0"/>
              </a:rPr>
              <a:t>Two-in-a-row to change prediction</a:t>
            </a:r>
          </a:p>
          <a:p>
            <a:pPr lvl="2" eaLnBrk="1" hangingPunct="1">
              <a:lnSpc>
                <a:spcPct val="10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latin typeface="Arial  " charset="0"/>
                <a:cs typeface="Arial  " charset="0"/>
              </a:rPr>
              <a:t>(T,NT) won’t change prediction</a:t>
            </a:r>
          </a:p>
          <a:p>
            <a:pPr lvl="2" eaLnBrk="1" hangingPunct="1">
              <a:lnSpc>
                <a:spcPct val="10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latin typeface="Arial  " charset="0"/>
                <a:cs typeface="Arial  " charset="0"/>
              </a:rPr>
              <a:t>(NT,T) won’t change prediction</a:t>
            </a:r>
          </a:p>
        </p:txBody>
      </p:sp>
      <p:sp>
        <p:nvSpPr>
          <p:cNvPr id="25606" name="Oval 3">
            <a:extLst>
              <a:ext uri="{FF2B5EF4-FFF2-40B4-BE49-F238E27FC236}">
                <a16:creationId xmlns:a16="http://schemas.microsoft.com/office/drawing/2014/main" id="{67F939B0-715D-1692-76B6-E26210A1E573}"/>
              </a:ext>
            </a:extLst>
          </p:cNvPr>
          <p:cNvSpPr>
            <a:spLocks noChangeArrowheads="1"/>
          </p:cNvSpPr>
          <p:nvPr/>
        </p:nvSpPr>
        <p:spPr bwMode="auto">
          <a:xfrm>
            <a:off x="6096000" y="138430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T</a:t>
            </a:r>
          </a:p>
          <a:p>
            <a:pPr algn="ctr" eaLnBrk="1" hangingPunct="1">
              <a:lnSpc>
                <a:spcPct val="100000"/>
              </a:lnSpc>
            </a:pPr>
            <a:r>
              <a:rPr lang="en-GB" altLang="en-US" b="1">
                <a:solidFill>
                  <a:srgbClr val="000000"/>
                </a:solidFill>
              </a:rPr>
              <a:t>11</a:t>
            </a:r>
          </a:p>
        </p:txBody>
      </p:sp>
      <p:sp>
        <p:nvSpPr>
          <p:cNvPr id="25607" name="Oval 4">
            <a:extLst>
              <a:ext uri="{FF2B5EF4-FFF2-40B4-BE49-F238E27FC236}">
                <a16:creationId xmlns:a16="http://schemas.microsoft.com/office/drawing/2014/main" id="{CFC26A06-89F7-7686-7009-0DDB7EF73A0E}"/>
              </a:ext>
            </a:extLst>
          </p:cNvPr>
          <p:cNvSpPr>
            <a:spLocks noChangeArrowheads="1"/>
          </p:cNvSpPr>
          <p:nvPr/>
        </p:nvSpPr>
        <p:spPr bwMode="auto">
          <a:xfrm>
            <a:off x="7086600" y="313690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T</a:t>
            </a:r>
          </a:p>
          <a:p>
            <a:pPr algn="ctr" eaLnBrk="1" hangingPunct="1">
              <a:lnSpc>
                <a:spcPct val="100000"/>
              </a:lnSpc>
            </a:pPr>
            <a:r>
              <a:rPr lang="en-GB" altLang="en-US" b="1">
                <a:solidFill>
                  <a:srgbClr val="000000"/>
                </a:solidFill>
              </a:rPr>
              <a:t>10</a:t>
            </a:r>
          </a:p>
        </p:txBody>
      </p:sp>
      <p:sp>
        <p:nvSpPr>
          <p:cNvPr id="25608" name="Oval 5">
            <a:extLst>
              <a:ext uri="{FF2B5EF4-FFF2-40B4-BE49-F238E27FC236}">
                <a16:creationId xmlns:a16="http://schemas.microsoft.com/office/drawing/2014/main" id="{F140EA3C-31DD-0631-14A3-2D6F10DE75A6}"/>
              </a:ext>
            </a:extLst>
          </p:cNvPr>
          <p:cNvSpPr>
            <a:spLocks noChangeArrowheads="1"/>
          </p:cNvSpPr>
          <p:nvPr/>
        </p:nvSpPr>
        <p:spPr bwMode="auto">
          <a:xfrm>
            <a:off x="4953000" y="313690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NT</a:t>
            </a:r>
          </a:p>
          <a:p>
            <a:pPr algn="ctr" eaLnBrk="1" hangingPunct="1">
              <a:lnSpc>
                <a:spcPct val="100000"/>
              </a:lnSpc>
            </a:pPr>
            <a:r>
              <a:rPr lang="en-GB" altLang="en-US" b="1">
                <a:solidFill>
                  <a:srgbClr val="000000"/>
                </a:solidFill>
              </a:rPr>
              <a:t>01</a:t>
            </a:r>
          </a:p>
        </p:txBody>
      </p:sp>
      <p:sp>
        <p:nvSpPr>
          <p:cNvPr id="25609" name="Oval 6">
            <a:extLst>
              <a:ext uri="{FF2B5EF4-FFF2-40B4-BE49-F238E27FC236}">
                <a16:creationId xmlns:a16="http://schemas.microsoft.com/office/drawing/2014/main" id="{7280DE9F-DE03-9BB9-BBE6-D778F6D32B98}"/>
              </a:ext>
            </a:extLst>
          </p:cNvPr>
          <p:cNvSpPr>
            <a:spLocks noChangeArrowheads="1"/>
          </p:cNvSpPr>
          <p:nvPr/>
        </p:nvSpPr>
        <p:spPr bwMode="auto">
          <a:xfrm>
            <a:off x="6172200" y="488950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NT</a:t>
            </a:r>
          </a:p>
          <a:p>
            <a:pPr algn="ctr" eaLnBrk="1" hangingPunct="1">
              <a:lnSpc>
                <a:spcPct val="100000"/>
              </a:lnSpc>
            </a:pPr>
            <a:r>
              <a:rPr lang="en-GB" altLang="en-US" b="1">
                <a:solidFill>
                  <a:srgbClr val="000000"/>
                </a:solidFill>
              </a:rPr>
              <a:t>00</a:t>
            </a:r>
          </a:p>
        </p:txBody>
      </p:sp>
      <p:sp>
        <p:nvSpPr>
          <p:cNvPr id="25610" name="AutoShape 7">
            <a:extLst>
              <a:ext uri="{FF2B5EF4-FFF2-40B4-BE49-F238E27FC236}">
                <a16:creationId xmlns:a16="http://schemas.microsoft.com/office/drawing/2014/main" id="{713E9186-D233-2675-BE0B-059D4C64E5BD}"/>
              </a:ext>
            </a:extLst>
          </p:cNvPr>
          <p:cNvSpPr>
            <a:spLocks noChangeArrowheads="1"/>
          </p:cNvSpPr>
          <p:nvPr/>
        </p:nvSpPr>
        <p:spPr bwMode="auto">
          <a:xfrm>
            <a:off x="6324600" y="1003300"/>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5611" name="AutoShape 8">
            <a:extLst>
              <a:ext uri="{FF2B5EF4-FFF2-40B4-BE49-F238E27FC236}">
                <a16:creationId xmlns:a16="http://schemas.microsoft.com/office/drawing/2014/main" id="{ABA13AF3-2C67-FD3E-E03C-02568FDEE65A}"/>
              </a:ext>
            </a:extLst>
          </p:cNvPr>
          <p:cNvSpPr>
            <a:spLocks noChangeArrowheads="1"/>
          </p:cNvSpPr>
          <p:nvPr/>
        </p:nvSpPr>
        <p:spPr bwMode="auto">
          <a:xfrm rot="10800000">
            <a:off x="6477000" y="5576888"/>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25612" name="Text Box 9">
            <a:extLst>
              <a:ext uri="{FF2B5EF4-FFF2-40B4-BE49-F238E27FC236}">
                <a16:creationId xmlns:a16="http://schemas.microsoft.com/office/drawing/2014/main" id="{5CC6D92F-34C0-91A2-C9D2-3E2A6538A45A}"/>
              </a:ext>
            </a:extLst>
          </p:cNvPr>
          <p:cNvSpPr txBox="1">
            <a:spLocks noChangeArrowheads="1"/>
          </p:cNvSpPr>
          <p:nvPr/>
        </p:nvSpPr>
        <p:spPr bwMode="auto">
          <a:xfrm>
            <a:off x="7318375" y="9271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buClr>
                <a:srgbClr val="00FF00"/>
              </a:buClr>
            </a:pPr>
            <a:r>
              <a:rPr lang="en-GB" altLang="en-US" b="1">
                <a:solidFill>
                  <a:srgbClr val="00FF00"/>
                </a:solidFill>
              </a:rPr>
              <a:t>T</a:t>
            </a:r>
          </a:p>
        </p:txBody>
      </p:sp>
      <p:sp>
        <p:nvSpPr>
          <p:cNvPr id="25613" name="Text Box 10">
            <a:extLst>
              <a:ext uri="{FF2B5EF4-FFF2-40B4-BE49-F238E27FC236}">
                <a16:creationId xmlns:a16="http://schemas.microsoft.com/office/drawing/2014/main" id="{687C2371-420A-CE6A-0423-7DF5A443F793}"/>
              </a:ext>
            </a:extLst>
          </p:cNvPr>
          <p:cNvSpPr txBox="1">
            <a:spLocks noChangeArrowheads="1"/>
          </p:cNvSpPr>
          <p:nvPr/>
        </p:nvSpPr>
        <p:spPr bwMode="auto">
          <a:xfrm>
            <a:off x="7270750" y="59563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buClr>
                <a:srgbClr val="FF0000"/>
              </a:buClr>
            </a:pPr>
            <a:r>
              <a:rPr lang="en-GB" altLang="en-US" b="1">
                <a:solidFill>
                  <a:srgbClr val="FF0000"/>
                </a:solidFill>
              </a:rPr>
              <a:t>NT</a:t>
            </a:r>
          </a:p>
        </p:txBody>
      </p:sp>
      <p:sp>
        <p:nvSpPr>
          <p:cNvPr id="25614" name="AutoShape 11">
            <a:extLst>
              <a:ext uri="{FF2B5EF4-FFF2-40B4-BE49-F238E27FC236}">
                <a16:creationId xmlns:a16="http://schemas.microsoft.com/office/drawing/2014/main" id="{B09DDCE4-8E07-D838-3144-151D6A89318F}"/>
              </a:ext>
            </a:extLst>
          </p:cNvPr>
          <p:cNvSpPr>
            <a:spLocks noChangeArrowheads="1"/>
          </p:cNvSpPr>
          <p:nvPr/>
        </p:nvSpPr>
        <p:spPr bwMode="auto">
          <a:xfrm rot="-5400000">
            <a:off x="4722813" y="1460500"/>
            <a:ext cx="1981200" cy="2438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0370" y="10859"/>
                </a:moveTo>
                <a:cubicBezTo>
                  <a:pt x="20370" y="10839"/>
                  <a:pt x="20371" y="10819"/>
                  <a:pt x="20371" y="10800"/>
                </a:cubicBezTo>
                <a:cubicBezTo>
                  <a:pt x="20371" y="5514"/>
                  <a:pt x="16085" y="1229"/>
                  <a:pt x="10800" y="1229"/>
                </a:cubicBezTo>
                <a:cubicBezTo>
                  <a:pt x="8032" y="1228"/>
                  <a:pt x="5401" y="2426"/>
                  <a:pt x="3583" y="4513"/>
                </a:cubicBezTo>
                <a:lnTo>
                  <a:pt x="2656" y="3705"/>
                </a:lnTo>
                <a:cubicBezTo>
                  <a:pt x="4707" y="1351"/>
                  <a:pt x="7677" y="-1"/>
                  <a:pt x="10800" y="-1"/>
                </a:cubicBezTo>
                <a:cubicBezTo>
                  <a:pt x="16764" y="0"/>
                  <a:pt x="21600" y="4835"/>
                  <a:pt x="21600" y="10800"/>
                </a:cubicBezTo>
                <a:cubicBezTo>
                  <a:pt x="21600" y="10822"/>
                  <a:pt x="21599" y="10845"/>
                  <a:pt x="21599" y="10867"/>
                </a:cubicBezTo>
                <a:lnTo>
                  <a:pt x="24299" y="10884"/>
                </a:lnTo>
                <a:lnTo>
                  <a:pt x="20965" y="14178"/>
                </a:lnTo>
                <a:lnTo>
                  <a:pt x="17670" y="10843"/>
                </a:lnTo>
                <a:lnTo>
                  <a:pt x="20370" y="10859"/>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5615" name="Text Box 12">
            <a:extLst>
              <a:ext uri="{FF2B5EF4-FFF2-40B4-BE49-F238E27FC236}">
                <a16:creationId xmlns:a16="http://schemas.microsoft.com/office/drawing/2014/main" id="{FD779BA2-EF3D-410F-A3B1-5413D7495F13}"/>
              </a:ext>
            </a:extLst>
          </p:cNvPr>
          <p:cNvSpPr txBox="1">
            <a:spLocks noChangeArrowheads="1"/>
          </p:cNvSpPr>
          <p:nvPr/>
        </p:nvSpPr>
        <p:spPr bwMode="auto">
          <a:xfrm>
            <a:off x="4498975" y="12319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buClr>
                <a:srgbClr val="00FF00"/>
              </a:buClr>
            </a:pPr>
            <a:r>
              <a:rPr lang="en-GB" altLang="en-US" b="1">
                <a:solidFill>
                  <a:srgbClr val="00FF00"/>
                </a:solidFill>
              </a:rPr>
              <a:t>T</a:t>
            </a:r>
          </a:p>
        </p:txBody>
      </p:sp>
      <p:sp>
        <p:nvSpPr>
          <p:cNvPr id="25616" name="Text Box 14">
            <a:extLst>
              <a:ext uri="{FF2B5EF4-FFF2-40B4-BE49-F238E27FC236}">
                <a16:creationId xmlns:a16="http://schemas.microsoft.com/office/drawing/2014/main" id="{2A28E730-C0D7-173D-949B-C87C9D19BF98}"/>
              </a:ext>
            </a:extLst>
          </p:cNvPr>
          <p:cNvSpPr txBox="1">
            <a:spLocks noChangeArrowheads="1"/>
          </p:cNvSpPr>
          <p:nvPr/>
        </p:nvSpPr>
        <p:spPr bwMode="auto">
          <a:xfrm>
            <a:off x="6937375" y="26035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buClr>
                <a:srgbClr val="00FF00"/>
              </a:buClr>
            </a:pPr>
            <a:r>
              <a:rPr lang="en-GB" altLang="en-US" b="1">
                <a:solidFill>
                  <a:srgbClr val="00FF00"/>
                </a:solidFill>
              </a:rPr>
              <a:t>T</a:t>
            </a:r>
          </a:p>
        </p:txBody>
      </p:sp>
      <p:sp>
        <p:nvSpPr>
          <p:cNvPr id="25617" name="Text Box 16">
            <a:extLst>
              <a:ext uri="{FF2B5EF4-FFF2-40B4-BE49-F238E27FC236}">
                <a16:creationId xmlns:a16="http://schemas.microsoft.com/office/drawing/2014/main" id="{D02BF443-0781-17B5-5933-DB1F107E0153}"/>
              </a:ext>
            </a:extLst>
          </p:cNvPr>
          <p:cNvSpPr txBox="1">
            <a:spLocks noChangeArrowheads="1"/>
          </p:cNvSpPr>
          <p:nvPr/>
        </p:nvSpPr>
        <p:spPr bwMode="auto">
          <a:xfrm>
            <a:off x="4956175" y="46609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buClr>
                <a:srgbClr val="00FF00"/>
              </a:buClr>
            </a:pPr>
            <a:r>
              <a:rPr lang="en-GB" altLang="en-US" b="1">
                <a:solidFill>
                  <a:srgbClr val="00FF00"/>
                </a:solidFill>
              </a:rPr>
              <a:t>T</a:t>
            </a:r>
          </a:p>
        </p:txBody>
      </p:sp>
      <p:sp>
        <p:nvSpPr>
          <p:cNvPr id="25618" name="AutoShape 17">
            <a:extLst>
              <a:ext uri="{FF2B5EF4-FFF2-40B4-BE49-F238E27FC236}">
                <a16:creationId xmlns:a16="http://schemas.microsoft.com/office/drawing/2014/main" id="{33622444-EE98-AEA7-16EF-289932D30610}"/>
              </a:ext>
            </a:extLst>
          </p:cNvPr>
          <p:cNvSpPr>
            <a:spLocks noChangeArrowheads="1"/>
          </p:cNvSpPr>
          <p:nvPr/>
        </p:nvSpPr>
        <p:spPr bwMode="auto">
          <a:xfrm rot="5400000">
            <a:off x="6897688" y="1500188"/>
            <a:ext cx="1676400" cy="19050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7855" y="4248"/>
                </a:moveTo>
                <a:cubicBezTo>
                  <a:pt x="16033" y="2286"/>
                  <a:pt x="13477" y="1171"/>
                  <a:pt x="10800" y="1171"/>
                </a:cubicBezTo>
                <a:cubicBezTo>
                  <a:pt x="5482" y="1172"/>
                  <a:pt x="1172" y="5482"/>
                  <a:pt x="1172" y="10800"/>
                </a:cubicBezTo>
                <a:cubicBezTo>
                  <a:pt x="1171" y="11672"/>
                  <a:pt x="1290" y="12540"/>
                  <a:pt x="1524" y="13381"/>
                </a:cubicBezTo>
                <a:lnTo>
                  <a:pt x="395" y="13695"/>
                </a:lnTo>
                <a:cubicBezTo>
                  <a:pt x="133" y="12752"/>
                  <a:pt x="0" y="11778"/>
                  <a:pt x="0" y="10800"/>
                </a:cubicBezTo>
                <a:cubicBezTo>
                  <a:pt x="0" y="4835"/>
                  <a:pt x="4835" y="0"/>
                  <a:pt x="10800" y="0"/>
                </a:cubicBezTo>
                <a:cubicBezTo>
                  <a:pt x="13803" y="0"/>
                  <a:pt x="16670" y="1250"/>
                  <a:pt x="18714" y="3451"/>
                </a:cubicBezTo>
                <a:lnTo>
                  <a:pt x="20692" y="1613"/>
                </a:lnTo>
                <a:lnTo>
                  <a:pt x="20520" y="6257"/>
                </a:lnTo>
                <a:lnTo>
                  <a:pt x="15876" y="6085"/>
                </a:lnTo>
                <a:lnTo>
                  <a:pt x="17855" y="4248"/>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25619" name="Text Box 18">
            <a:extLst>
              <a:ext uri="{FF2B5EF4-FFF2-40B4-BE49-F238E27FC236}">
                <a16:creationId xmlns:a16="http://schemas.microsoft.com/office/drawing/2014/main" id="{A0FFCE7B-DC1F-A03D-CA29-6B0603239B05}"/>
              </a:ext>
            </a:extLst>
          </p:cNvPr>
          <p:cNvSpPr txBox="1">
            <a:spLocks noChangeArrowheads="1"/>
          </p:cNvSpPr>
          <p:nvPr/>
        </p:nvSpPr>
        <p:spPr bwMode="auto">
          <a:xfrm>
            <a:off x="7929563" y="19939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buClr>
                <a:srgbClr val="FF0000"/>
              </a:buClr>
            </a:pPr>
            <a:r>
              <a:rPr lang="en-GB" altLang="en-US" b="1">
                <a:solidFill>
                  <a:srgbClr val="FF0000"/>
                </a:solidFill>
              </a:rPr>
              <a:t>NT</a:t>
            </a:r>
          </a:p>
        </p:txBody>
      </p:sp>
      <p:sp>
        <p:nvSpPr>
          <p:cNvPr id="25620" name="AutoShape 19">
            <a:extLst>
              <a:ext uri="{FF2B5EF4-FFF2-40B4-BE49-F238E27FC236}">
                <a16:creationId xmlns:a16="http://schemas.microsoft.com/office/drawing/2014/main" id="{6123E89C-91BF-FD2D-773A-9EEC773E07B8}"/>
              </a:ext>
            </a:extLst>
          </p:cNvPr>
          <p:cNvSpPr>
            <a:spLocks noChangeArrowheads="1"/>
          </p:cNvSpPr>
          <p:nvPr/>
        </p:nvSpPr>
        <p:spPr bwMode="auto">
          <a:xfrm rot="5400000">
            <a:off x="7050088" y="3557588"/>
            <a:ext cx="1828800" cy="19050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949" y="11483"/>
                </a:moveTo>
                <a:cubicBezTo>
                  <a:pt x="19966" y="11256"/>
                  <a:pt x="19975" y="11028"/>
                  <a:pt x="19975" y="10800"/>
                </a:cubicBezTo>
                <a:cubicBezTo>
                  <a:pt x="19975" y="5732"/>
                  <a:pt x="15867" y="1625"/>
                  <a:pt x="10800" y="1625"/>
                </a:cubicBezTo>
                <a:cubicBezTo>
                  <a:pt x="7817" y="1624"/>
                  <a:pt x="5021" y="3074"/>
                  <a:pt x="3302" y="5511"/>
                </a:cubicBezTo>
                <a:lnTo>
                  <a:pt x="1974" y="4574"/>
                </a:lnTo>
                <a:cubicBezTo>
                  <a:pt x="3998" y="1706"/>
                  <a:pt x="7289" y="-1"/>
                  <a:pt x="10800" y="-1"/>
                </a:cubicBezTo>
                <a:cubicBezTo>
                  <a:pt x="16764" y="0"/>
                  <a:pt x="21600" y="4835"/>
                  <a:pt x="21600" y="10800"/>
                </a:cubicBezTo>
                <a:cubicBezTo>
                  <a:pt x="21600" y="11068"/>
                  <a:pt x="21589" y="11337"/>
                  <a:pt x="21569" y="11605"/>
                </a:cubicBezTo>
                <a:lnTo>
                  <a:pt x="24262" y="11806"/>
                </a:lnTo>
                <a:lnTo>
                  <a:pt x="20498" y="15048"/>
                </a:lnTo>
                <a:lnTo>
                  <a:pt x="17256" y="11282"/>
                </a:lnTo>
                <a:lnTo>
                  <a:pt x="19949" y="11483"/>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25621" name="Text Box 20">
            <a:extLst>
              <a:ext uri="{FF2B5EF4-FFF2-40B4-BE49-F238E27FC236}">
                <a16:creationId xmlns:a16="http://schemas.microsoft.com/office/drawing/2014/main" id="{072E435A-59C4-F592-7C8F-C46E504EACFC}"/>
              </a:ext>
            </a:extLst>
          </p:cNvPr>
          <p:cNvSpPr txBox="1">
            <a:spLocks noChangeArrowheads="1"/>
          </p:cNvSpPr>
          <p:nvPr/>
        </p:nvSpPr>
        <p:spPr bwMode="auto">
          <a:xfrm>
            <a:off x="7091363" y="42799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buClr>
                <a:srgbClr val="FF0000"/>
              </a:buClr>
            </a:pPr>
            <a:r>
              <a:rPr lang="en-GB" altLang="en-US" b="1">
                <a:solidFill>
                  <a:srgbClr val="FF0000"/>
                </a:solidFill>
              </a:rPr>
              <a:t>NT</a:t>
            </a:r>
          </a:p>
        </p:txBody>
      </p:sp>
      <p:sp>
        <p:nvSpPr>
          <p:cNvPr id="25622" name="Text Box 22">
            <a:extLst>
              <a:ext uri="{FF2B5EF4-FFF2-40B4-BE49-F238E27FC236}">
                <a16:creationId xmlns:a16="http://schemas.microsoft.com/office/drawing/2014/main" id="{C502C680-AA37-A403-61F3-785679D543F3}"/>
              </a:ext>
            </a:extLst>
          </p:cNvPr>
          <p:cNvSpPr txBox="1">
            <a:spLocks noChangeArrowheads="1"/>
          </p:cNvSpPr>
          <p:nvPr/>
        </p:nvSpPr>
        <p:spPr bwMode="auto">
          <a:xfrm>
            <a:off x="8081963" y="54991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buClr>
                <a:srgbClr val="FF0000"/>
              </a:buClr>
            </a:pPr>
            <a:r>
              <a:rPr lang="en-GB" altLang="en-US" b="1">
                <a:solidFill>
                  <a:srgbClr val="FF0000"/>
                </a:solidFill>
              </a:rPr>
              <a:t>NT</a:t>
            </a:r>
          </a:p>
        </p:txBody>
      </p:sp>
      <p:sp>
        <p:nvSpPr>
          <p:cNvPr id="25623" name="Slide Number Placeholder 27">
            <a:extLst>
              <a:ext uri="{FF2B5EF4-FFF2-40B4-BE49-F238E27FC236}">
                <a16:creationId xmlns:a16="http://schemas.microsoft.com/office/drawing/2014/main" id="{9D238F85-DCAA-E058-99DF-E9B818AC35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FAE279E0-F8CB-7043-94AE-BFAF216AEC43}" type="slidenum">
              <a:rPr lang="en-GB" altLang="en-US" sz="1400">
                <a:solidFill>
                  <a:srgbClr val="000000"/>
                </a:solidFill>
                <a:latin typeface="Arial  " charset="0"/>
              </a:rPr>
              <a:pPr/>
              <a:t>21</a:t>
            </a:fld>
            <a:r>
              <a:rPr lang="en-GB" altLang="en-US" sz="1400">
                <a:solidFill>
                  <a:srgbClr val="000000"/>
                </a:solidFill>
                <a:latin typeface="Arial  " charset="0"/>
              </a:rPr>
              <a:t> </a:t>
            </a:r>
          </a:p>
        </p:txBody>
      </p:sp>
      <p:sp>
        <p:nvSpPr>
          <p:cNvPr id="25624" name="TextBox 28">
            <a:extLst>
              <a:ext uri="{FF2B5EF4-FFF2-40B4-BE49-F238E27FC236}">
                <a16:creationId xmlns:a16="http://schemas.microsoft.com/office/drawing/2014/main" id="{32A9130C-AD98-4D26-518B-C6896A8B8D07}"/>
              </a:ext>
            </a:extLst>
          </p:cNvPr>
          <p:cNvSpPr txBox="1">
            <a:spLocks noChangeArrowheads="1"/>
          </p:cNvSpPr>
          <p:nvPr/>
        </p:nvSpPr>
        <p:spPr bwMode="auto">
          <a:xfrm>
            <a:off x="723900" y="1117600"/>
            <a:ext cx="298132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800">
                <a:solidFill>
                  <a:srgbClr val="FF0000"/>
                </a:solidFill>
              </a:rPr>
              <a:t>Transitions determined by</a:t>
            </a:r>
          </a:p>
          <a:p>
            <a:r>
              <a:rPr lang="en-US" altLang="en-US" sz="1800" u="sng">
                <a:solidFill>
                  <a:srgbClr val="FF0000"/>
                </a:solidFill>
              </a:rPr>
              <a:t>actual outcome</a:t>
            </a:r>
            <a:r>
              <a:rPr lang="en-US" altLang="en-US" sz="1800">
                <a:solidFill>
                  <a:srgbClr val="FF0000"/>
                </a:solidFill>
              </a:rPr>
              <a:t> of branch</a:t>
            </a:r>
          </a:p>
          <a:p>
            <a:r>
              <a:rPr lang="en-US" altLang="en-US" sz="1800">
                <a:solidFill>
                  <a:srgbClr val="FF0000"/>
                </a:solidFill>
              </a:rPr>
              <a:t>T= “Taken”/ NT=“not taken”</a:t>
            </a:r>
          </a:p>
        </p:txBody>
      </p:sp>
      <p:cxnSp>
        <p:nvCxnSpPr>
          <p:cNvPr id="25625" name="Straight Arrow Connector 30">
            <a:extLst>
              <a:ext uri="{FF2B5EF4-FFF2-40B4-BE49-F238E27FC236}">
                <a16:creationId xmlns:a16="http://schemas.microsoft.com/office/drawing/2014/main" id="{780B8990-63DF-6183-C936-B78DD77AA1D2}"/>
              </a:ext>
            </a:extLst>
          </p:cNvPr>
          <p:cNvCxnSpPr>
            <a:cxnSpLocks noChangeShapeType="1"/>
            <a:stCxn id="25624" idx="3"/>
            <a:endCxn id="25615" idx="1"/>
          </p:cNvCxnSpPr>
          <p:nvPr/>
        </p:nvCxnSpPr>
        <p:spPr bwMode="auto">
          <a:xfrm flipV="1">
            <a:off x="3705225" y="1460500"/>
            <a:ext cx="793750" cy="92075"/>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25626" name="TextBox 31">
            <a:extLst>
              <a:ext uri="{FF2B5EF4-FFF2-40B4-BE49-F238E27FC236}">
                <a16:creationId xmlns:a16="http://schemas.microsoft.com/office/drawing/2014/main" id="{B299A35B-EDAA-076B-27EB-8D9C4D309FD4}"/>
              </a:ext>
            </a:extLst>
          </p:cNvPr>
          <p:cNvSpPr txBox="1">
            <a:spLocks noChangeArrowheads="1"/>
          </p:cNvSpPr>
          <p:nvPr/>
        </p:nvSpPr>
        <p:spPr bwMode="auto">
          <a:xfrm>
            <a:off x="685800" y="2019300"/>
            <a:ext cx="2967038"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0000FF"/>
                </a:solidFill>
              </a:rPr>
              <a:t>Current state provides </a:t>
            </a:r>
          </a:p>
          <a:p>
            <a:r>
              <a:rPr lang="en-US" altLang="en-US" sz="1800" u="sng" dirty="0">
                <a:solidFill>
                  <a:srgbClr val="0000FF"/>
                </a:solidFill>
              </a:rPr>
              <a:t>prediction</a:t>
            </a:r>
            <a:r>
              <a:rPr lang="en-US" altLang="en-US" sz="1800" dirty="0">
                <a:solidFill>
                  <a:srgbClr val="0000FF"/>
                </a:solidFill>
              </a:rPr>
              <a:t>:</a:t>
            </a:r>
          </a:p>
          <a:p>
            <a:r>
              <a:rPr lang="en-US" altLang="en-US" sz="1800" dirty="0">
                <a:solidFill>
                  <a:srgbClr val="0000FF"/>
                </a:solidFill>
              </a:rPr>
              <a:t>T= “Taken”/ NT=“not taken”</a:t>
            </a:r>
          </a:p>
        </p:txBody>
      </p:sp>
      <p:cxnSp>
        <p:nvCxnSpPr>
          <p:cNvPr id="25627" name="Straight Arrow Connector 33">
            <a:extLst>
              <a:ext uri="{FF2B5EF4-FFF2-40B4-BE49-F238E27FC236}">
                <a16:creationId xmlns:a16="http://schemas.microsoft.com/office/drawing/2014/main" id="{D27D6693-B244-F8B2-8C69-D4D9D87936B8}"/>
              </a:ext>
            </a:extLst>
          </p:cNvPr>
          <p:cNvCxnSpPr>
            <a:cxnSpLocks noChangeShapeType="1"/>
            <a:stCxn id="25626" idx="3"/>
          </p:cNvCxnSpPr>
          <p:nvPr/>
        </p:nvCxnSpPr>
        <p:spPr bwMode="auto">
          <a:xfrm flipV="1">
            <a:off x="3652838" y="1727200"/>
            <a:ext cx="2976562" cy="725488"/>
          </a:xfrm>
          <a:prstGeom prst="straightConnector1">
            <a:avLst/>
          </a:prstGeom>
          <a:noFill/>
          <a:ln w="9525">
            <a:solidFill>
              <a:srgbClr val="0000FF"/>
            </a:solidFill>
            <a:round/>
            <a:headEnd/>
            <a:tailEnd type="arrow" w="med" len="med"/>
          </a:ln>
          <a:extLst>
            <a:ext uri="{909E8E84-426E-40DD-AFC4-6F175D3DCCD1}">
              <a14:hiddenFill xmlns:a14="http://schemas.microsoft.com/office/drawing/2010/main">
                <a:noFill/>
              </a14:hiddenFill>
            </a:ext>
          </a:extLst>
        </p:spPr>
      </p:cxnSp>
      <p:sp>
        <p:nvSpPr>
          <p:cNvPr id="25628" name="TextBox 35">
            <a:extLst>
              <a:ext uri="{FF2B5EF4-FFF2-40B4-BE49-F238E27FC236}">
                <a16:creationId xmlns:a16="http://schemas.microsoft.com/office/drawing/2014/main" id="{715690A9-EF20-2105-4F1A-36E99EEBB2F4}"/>
              </a:ext>
            </a:extLst>
          </p:cNvPr>
          <p:cNvSpPr txBox="1">
            <a:spLocks noChangeArrowheads="1"/>
          </p:cNvSpPr>
          <p:nvPr/>
        </p:nvSpPr>
        <p:spPr bwMode="auto">
          <a:xfrm>
            <a:off x="736600" y="3022600"/>
            <a:ext cx="227647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800">
                <a:solidFill>
                  <a:srgbClr val="008000"/>
                </a:solidFill>
              </a:rPr>
              <a:t>State encoding uses</a:t>
            </a:r>
          </a:p>
          <a:p>
            <a:r>
              <a:rPr lang="en-US" altLang="en-US" sz="1800">
                <a:solidFill>
                  <a:srgbClr val="008000"/>
                </a:solidFill>
              </a:rPr>
              <a:t>two bits (encoding </a:t>
            </a:r>
          </a:p>
          <a:p>
            <a:r>
              <a:rPr lang="en-US" altLang="en-US" sz="1800">
                <a:solidFill>
                  <a:srgbClr val="008000"/>
                </a:solidFill>
              </a:rPr>
              <a:t>is arbitrary)</a:t>
            </a:r>
          </a:p>
        </p:txBody>
      </p:sp>
      <p:cxnSp>
        <p:nvCxnSpPr>
          <p:cNvPr id="25629" name="Straight Arrow Connector 37">
            <a:extLst>
              <a:ext uri="{FF2B5EF4-FFF2-40B4-BE49-F238E27FC236}">
                <a16:creationId xmlns:a16="http://schemas.microsoft.com/office/drawing/2014/main" id="{11EE256B-1966-7B94-17D4-A8167FD39E1A}"/>
              </a:ext>
            </a:extLst>
          </p:cNvPr>
          <p:cNvCxnSpPr>
            <a:cxnSpLocks noChangeShapeType="1"/>
            <a:stCxn id="25628" idx="3"/>
          </p:cNvCxnSpPr>
          <p:nvPr/>
        </p:nvCxnSpPr>
        <p:spPr bwMode="auto">
          <a:xfrm flipV="1">
            <a:off x="3013075" y="2082800"/>
            <a:ext cx="3578225" cy="1374775"/>
          </a:xfrm>
          <a:prstGeom prst="straightConnector1">
            <a:avLst/>
          </a:prstGeom>
          <a:noFill/>
          <a:ln w="9525">
            <a:solidFill>
              <a:srgbClr val="008000"/>
            </a:solidFill>
            <a:round/>
            <a:headEnd/>
            <a:tailEnd type="arrow" w="med" len="med"/>
          </a:ln>
          <a:extLst>
            <a:ext uri="{909E8E84-426E-40DD-AFC4-6F175D3DCCD1}">
              <a14:hiddenFill xmlns:a14="http://schemas.microsoft.com/office/drawing/2010/main">
                <a:noFill/>
              </a14:hiddenFill>
            </a:ext>
          </a:extLst>
        </p:spPr>
      </p:cxnSp>
      <p:sp>
        <p:nvSpPr>
          <p:cNvPr id="28" name="AutoShape 11">
            <a:extLst>
              <a:ext uri="{FF2B5EF4-FFF2-40B4-BE49-F238E27FC236}">
                <a16:creationId xmlns:a16="http://schemas.microsoft.com/office/drawing/2014/main" id="{234805E8-599A-DD44-8B76-74AE111A2D17}"/>
              </a:ext>
            </a:extLst>
          </p:cNvPr>
          <p:cNvSpPr>
            <a:spLocks noChangeArrowheads="1"/>
          </p:cNvSpPr>
          <p:nvPr/>
        </p:nvSpPr>
        <p:spPr bwMode="auto">
          <a:xfrm rot="16200000">
            <a:off x="4900970" y="3905339"/>
            <a:ext cx="1981200" cy="2438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0370" y="10859"/>
                </a:moveTo>
                <a:cubicBezTo>
                  <a:pt x="20370" y="10839"/>
                  <a:pt x="20371" y="10819"/>
                  <a:pt x="20371" y="10800"/>
                </a:cubicBezTo>
                <a:cubicBezTo>
                  <a:pt x="20371" y="5514"/>
                  <a:pt x="16085" y="1229"/>
                  <a:pt x="10800" y="1229"/>
                </a:cubicBezTo>
                <a:cubicBezTo>
                  <a:pt x="8032" y="1228"/>
                  <a:pt x="5401" y="2426"/>
                  <a:pt x="3583" y="4513"/>
                </a:cubicBezTo>
                <a:lnTo>
                  <a:pt x="2656" y="3705"/>
                </a:lnTo>
                <a:cubicBezTo>
                  <a:pt x="4707" y="1351"/>
                  <a:pt x="7677" y="-1"/>
                  <a:pt x="10800" y="-1"/>
                </a:cubicBezTo>
                <a:cubicBezTo>
                  <a:pt x="16764" y="0"/>
                  <a:pt x="21600" y="4835"/>
                  <a:pt x="21600" y="10800"/>
                </a:cubicBezTo>
                <a:cubicBezTo>
                  <a:pt x="21600" y="10822"/>
                  <a:pt x="21599" y="10845"/>
                  <a:pt x="21599" y="10867"/>
                </a:cubicBezTo>
                <a:lnTo>
                  <a:pt x="24299" y="10884"/>
                </a:lnTo>
                <a:lnTo>
                  <a:pt x="20965" y="14178"/>
                </a:lnTo>
                <a:lnTo>
                  <a:pt x="17670" y="10843"/>
                </a:lnTo>
                <a:lnTo>
                  <a:pt x="20370" y="10859"/>
                </a:lnTo>
                <a:close/>
              </a:path>
            </a:pathLst>
          </a:custGeom>
          <a:solidFill>
            <a:srgbClr val="00FF00"/>
          </a:solidFill>
          <a:ln w="9360">
            <a:solidFill>
              <a:srgbClr val="000000"/>
            </a:solidFill>
            <a:miter lim="800000"/>
            <a:headEnd/>
            <a:tailEnd/>
          </a:ln>
          <a:scene3d>
            <a:camera prst="orthographicFront">
              <a:rot lat="0" lon="0" rev="4200000"/>
            </a:camera>
            <a:lightRig rig="threePt" dir="t"/>
          </a:scene3d>
        </p:spPr>
        <p:txBody>
          <a:bodyPr wrap="none" anchor="ctr"/>
          <a:lstStyle/>
          <a:p>
            <a:pPr>
              <a:defRPr/>
            </a:pPr>
            <a:endParaRPr lang="en-US">
              <a:ea typeface="ＭＳ Ｐゴシック" pitchFamily="34" charset="-128"/>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a:extLst>
              <a:ext uri="{FF2B5EF4-FFF2-40B4-BE49-F238E27FC236}">
                <a16:creationId xmlns:a16="http://schemas.microsoft.com/office/drawing/2014/main" id="{E1C29B0D-AA5C-56D8-02E3-9C3B67403432}"/>
              </a:ext>
            </a:extLst>
          </p:cNvPr>
          <p:cNvSpPr>
            <a:spLocks noGrp="1" noChangeArrowheads="1"/>
          </p:cNvSpPr>
          <p:nvPr>
            <p:ph type="title"/>
          </p:nvPr>
        </p:nvSpPr>
        <p:spPr>
          <a:xfrm>
            <a:off x="863600" y="0"/>
            <a:ext cx="8280400" cy="1190625"/>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a:latin typeface="Arial  " charset="0"/>
                <a:cs typeface="Arial  " charset="0"/>
              </a:rPr>
              <a:t>2-bit “Saturating Counter” Predictor</a:t>
            </a:r>
            <a:br>
              <a:rPr lang="en-GB" altLang="en-US" sz="3600">
                <a:latin typeface="Arial  " charset="0"/>
                <a:cs typeface="Arial  " charset="0"/>
              </a:rPr>
            </a:br>
            <a:endParaRPr lang="en-GB" altLang="en-US" sz="3600">
              <a:latin typeface="Arial  " charset="0"/>
              <a:cs typeface="Arial  " charset="0"/>
            </a:endParaRPr>
          </a:p>
        </p:txBody>
      </p:sp>
      <p:sp>
        <p:nvSpPr>
          <p:cNvPr id="26627" name="Oval 2">
            <a:extLst>
              <a:ext uri="{FF2B5EF4-FFF2-40B4-BE49-F238E27FC236}">
                <a16:creationId xmlns:a16="http://schemas.microsoft.com/office/drawing/2014/main" id="{825DE27A-448F-26A1-7EBE-966A77DD6888}"/>
              </a:ext>
            </a:extLst>
          </p:cNvPr>
          <p:cNvSpPr>
            <a:spLocks noChangeArrowheads="1"/>
          </p:cNvSpPr>
          <p:nvPr/>
        </p:nvSpPr>
        <p:spPr bwMode="auto">
          <a:xfrm>
            <a:off x="1300163" y="2776538"/>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T</a:t>
            </a:r>
          </a:p>
          <a:p>
            <a:pPr algn="ctr" eaLnBrk="1" hangingPunct="1">
              <a:lnSpc>
                <a:spcPct val="100000"/>
              </a:lnSpc>
            </a:pPr>
            <a:r>
              <a:rPr lang="en-GB" altLang="en-US" b="1">
                <a:solidFill>
                  <a:srgbClr val="000000"/>
                </a:solidFill>
              </a:rPr>
              <a:t>10</a:t>
            </a:r>
          </a:p>
        </p:txBody>
      </p:sp>
      <p:sp>
        <p:nvSpPr>
          <p:cNvPr id="26628" name="Oval 6">
            <a:extLst>
              <a:ext uri="{FF2B5EF4-FFF2-40B4-BE49-F238E27FC236}">
                <a16:creationId xmlns:a16="http://schemas.microsoft.com/office/drawing/2014/main" id="{A5D5F992-6D41-E0DD-4082-C1F6A54582DC}"/>
              </a:ext>
            </a:extLst>
          </p:cNvPr>
          <p:cNvSpPr>
            <a:spLocks noChangeArrowheads="1"/>
          </p:cNvSpPr>
          <p:nvPr/>
        </p:nvSpPr>
        <p:spPr bwMode="auto">
          <a:xfrm>
            <a:off x="1304925" y="4579938"/>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NT</a:t>
            </a:r>
          </a:p>
          <a:p>
            <a:pPr algn="ctr" eaLnBrk="1" hangingPunct="1">
              <a:lnSpc>
                <a:spcPct val="100000"/>
              </a:lnSpc>
            </a:pPr>
            <a:r>
              <a:rPr lang="en-GB" altLang="en-US" b="1">
                <a:solidFill>
                  <a:srgbClr val="000000"/>
                </a:solidFill>
              </a:rPr>
              <a:t>00</a:t>
            </a:r>
          </a:p>
        </p:txBody>
      </p:sp>
      <p:sp>
        <p:nvSpPr>
          <p:cNvPr id="26629" name="Oval 7">
            <a:extLst>
              <a:ext uri="{FF2B5EF4-FFF2-40B4-BE49-F238E27FC236}">
                <a16:creationId xmlns:a16="http://schemas.microsoft.com/office/drawing/2014/main" id="{24725D05-F617-3875-6301-B84BDFE4A6A1}"/>
              </a:ext>
            </a:extLst>
          </p:cNvPr>
          <p:cNvSpPr>
            <a:spLocks noChangeArrowheads="1"/>
          </p:cNvSpPr>
          <p:nvPr/>
        </p:nvSpPr>
        <p:spPr bwMode="auto">
          <a:xfrm>
            <a:off x="1317625" y="372745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NT</a:t>
            </a:r>
          </a:p>
          <a:p>
            <a:pPr algn="ctr" eaLnBrk="1" hangingPunct="1">
              <a:lnSpc>
                <a:spcPct val="100000"/>
              </a:lnSpc>
            </a:pPr>
            <a:r>
              <a:rPr lang="en-GB" altLang="en-US" b="1">
                <a:solidFill>
                  <a:srgbClr val="000000"/>
                </a:solidFill>
              </a:rPr>
              <a:t>01</a:t>
            </a:r>
          </a:p>
        </p:txBody>
      </p:sp>
      <p:sp>
        <p:nvSpPr>
          <p:cNvPr id="26630" name="Oval 10">
            <a:extLst>
              <a:ext uri="{FF2B5EF4-FFF2-40B4-BE49-F238E27FC236}">
                <a16:creationId xmlns:a16="http://schemas.microsoft.com/office/drawing/2014/main" id="{9EA70852-3197-7093-691C-E84276C0D3F6}"/>
              </a:ext>
            </a:extLst>
          </p:cNvPr>
          <p:cNvSpPr>
            <a:spLocks noChangeArrowheads="1"/>
          </p:cNvSpPr>
          <p:nvPr/>
        </p:nvSpPr>
        <p:spPr bwMode="auto">
          <a:xfrm>
            <a:off x="1312863" y="182245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T</a:t>
            </a:r>
          </a:p>
          <a:p>
            <a:pPr algn="ctr" eaLnBrk="1" hangingPunct="1">
              <a:lnSpc>
                <a:spcPct val="100000"/>
              </a:lnSpc>
            </a:pPr>
            <a:r>
              <a:rPr lang="en-GB" altLang="en-US" b="1">
                <a:solidFill>
                  <a:srgbClr val="000000"/>
                </a:solidFill>
              </a:rPr>
              <a:t>11</a:t>
            </a:r>
          </a:p>
        </p:txBody>
      </p:sp>
      <p:sp>
        <p:nvSpPr>
          <p:cNvPr id="26631" name="AutoShape 14">
            <a:extLst>
              <a:ext uri="{FF2B5EF4-FFF2-40B4-BE49-F238E27FC236}">
                <a16:creationId xmlns:a16="http://schemas.microsoft.com/office/drawing/2014/main" id="{79FB01CE-2348-8583-6589-044C7418ADFF}"/>
              </a:ext>
            </a:extLst>
          </p:cNvPr>
          <p:cNvSpPr>
            <a:spLocks noChangeArrowheads="1"/>
          </p:cNvSpPr>
          <p:nvPr/>
        </p:nvSpPr>
        <p:spPr bwMode="auto">
          <a:xfrm rot="-5400000">
            <a:off x="871538" y="4378325"/>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6632" name="AutoShape 21">
            <a:extLst>
              <a:ext uri="{FF2B5EF4-FFF2-40B4-BE49-F238E27FC236}">
                <a16:creationId xmlns:a16="http://schemas.microsoft.com/office/drawing/2014/main" id="{D4438F15-DF4B-2EC0-9E62-1C99A084F876}"/>
              </a:ext>
            </a:extLst>
          </p:cNvPr>
          <p:cNvSpPr>
            <a:spLocks noChangeArrowheads="1"/>
          </p:cNvSpPr>
          <p:nvPr/>
        </p:nvSpPr>
        <p:spPr bwMode="auto">
          <a:xfrm rot="5400000">
            <a:off x="2297113" y="4275138"/>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26633" name="Text Box 26">
            <a:extLst>
              <a:ext uri="{FF2B5EF4-FFF2-40B4-BE49-F238E27FC236}">
                <a16:creationId xmlns:a16="http://schemas.microsoft.com/office/drawing/2014/main" id="{DDC264D4-CF1D-0862-2508-96754B39A90C}"/>
              </a:ext>
            </a:extLst>
          </p:cNvPr>
          <p:cNvSpPr txBox="1">
            <a:spLocks noChangeArrowheads="1"/>
          </p:cNvSpPr>
          <p:nvPr/>
        </p:nvSpPr>
        <p:spPr bwMode="auto">
          <a:xfrm>
            <a:off x="3062288" y="4351338"/>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26634" name="Text Box 28">
            <a:extLst>
              <a:ext uri="{FF2B5EF4-FFF2-40B4-BE49-F238E27FC236}">
                <a16:creationId xmlns:a16="http://schemas.microsoft.com/office/drawing/2014/main" id="{5A5A9DA8-D7FC-876B-DF9C-DE6EAE239CF9}"/>
              </a:ext>
            </a:extLst>
          </p:cNvPr>
          <p:cNvSpPr txBox="1">
            <a:spLocks noChangeArrowheads="1"/>
          </p:cNvSpPr>
          <p:nvPr/>
        </p:nvSpPr>
        <p:spPr bwMode="auto">
          <a:xfrm>
            <a:off x="646113" y="4300538"/>
            <a:ext cx="366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T</a:t>
            </a:r>
          </a:p>
        </p:txBody>
      </p:sp>
      <p:sp>
        <p:nvSpPr>
          <p:cNvPr id="26635" name="Slide Number Placeholder 43">
            <a:extLst>
              <a:ext uri="{FF2B5EF4-FFF2-40B4-BE49-F238E27FC236}">
                <a16:creationId xmlns:a16="http://schemas.microsoft.com/office/drawing/2014/main" id="{1D9DBAE3-3660-4C63-0E1C-62F4029508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4DE2DF6F-9901-5144-8A11-365573907669}" type="slidenum">
              <a:rPr lang="en-GB" altLang="en-US" sz="1400">
                <a:solidFill>
                  <a:srgbClr val="000000"/>
                </a:solidFill>
                <a:latin typeface="Arial  " charset="0"/>
              </a:rPr>
              <a:pPr/>
              <a:t>22</a:t>
            </a:fld>
            <a:r>
              <a:rPr lang="en-GB" altLang="en-US" sz="1400">
                <a:solidFill>
                  <a:srgbClr val="000000"/>
                </a:solidFill>
                <a:latin typeface="Arial  " charset="0"/>
              </a:rPr>
              <a:t> </a:t>
            </a:r>
          </a:p>
        </p:txBody>
      </p:sp>
      <p:sp>
        <p:nvSpPr>
          <p:cNvPr id="26636" name="AutoShape 4">
            <a:extLst>
              <a:ext uri="{FF2B5EF4-FFF2-40B4-BE49-F238E27FC236}">
                <a16:creationId xmlns:a16="http://schemas.microsoft.com/office/drawing/2014/main" id="{111C77D7-A40C-B66E-E73D-7EF0DFC76BFF}"/>
              </a:ext>
            </a:extLst>
          </p:cNvPr>
          <p:cNvSpPr>
            <a:spLocks noChangeArrowheads="1"/>
          </p:cNvSpPr>
          <p:nvPr/>
        </p:nvSpPr>
        <p:spPr bwMode="auto">
          <a:xfrm rot="10800000">
            <a:off x="1571625" y="5292725"/>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26637" name="AutoShape 11">
            <a:extLst>
              <a:ext uri="{FF2B5EF4-FFF2-40B4-BE49-F238E27FC236}">
                <a16:creationId xmlns:a16="http://schemas.microsoft.com/office/drawing/2014/main" id="{8EF6B2AB-1BE0-9D63-5A8F-57CD3EE2F068}"/>
              </a:ext>
            </a:extLst>
          </p:cNvPr>
          <p:cNvSpPr>
            <a:spLocks noChangeArrowheads="1"/>
          </p:cNvSpPr>
          <p:nvPr/>
        </p:nvSpPr>
        <p:spPr bwMode="auto">
          <a:xfrm rot="10800000" flipH="1" flipV="1">
            <a:off x="1554163" y="1452563"/>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6638" name="Text Box 34">
            <a:extLst>
              <a:ext uri="{FF2B5EF4-FFF2-40B4-BE49-F238E27FC236}">
                <a16:creationId xmlns:a16="http://schemas.microsoft.com/office/drawing/2014/main" id="{0EBE13BE-BFF7-F520-8825-923770102B93}"/>
              </a:ext>
            </a:extLst>
          </p:cNvPr>
          <p:cNvSpPr txBox="1">
            <a:spLocks noChangeArrowheads="1"/>
          </p:cNvSpPr>
          <p:nvPr/>
        </p:nvSpPr>
        <p:spPr bwMode="auto">
          <a:xfrm>
            <a:off x="1836738" y="1046163"/>
            <a:ext cx="366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T</a:t>
            </a:r>
          </a:p>
        </p:txBody>
      </p:sp>
      <p:sp>
        <p:nvSpPr>
          <p:cNvPr id="26639" name="Text Box 37">
            <a:extLst>
              <a:ext uri="{FF2B5EF4-FFF2-40B4-BE49-F238E27FC236}">
                <a16:creationId xmlns:a16="http://schemas.microsoft.com/office/drawing/2014/main" id="{720E9970-FD2C-A6B1-47EE-EAE4ACD43BA9}"/>
              </a:ext>
            </a:extLst>
          </p:cNvPr>
          <p:cNvSpPr txBox="1">
            <a:spLocks noChangeArrowheads="1"/>
          </p:cNvSpPr>
          <p:nvPr/>
        </p:nvSpPr>
        <p:spPr bwMode="auto">
          <a:xfrm>
            <a:off x="1779588" y="5938838"/>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26640" name="AutoShape 14">
            <a:extLst>
              <a:ext uri="{FF2B5EF4-FFF2-40B4-BE49-F238E27FC236}">
                <a16:creationId xmlns:a16="http://schemas.microsoft.com/office/drawing/2014/main" id="{B89B6945-B60A-F784-DF43-C6720C6FA36F}"/>
              </a:ext>
            </a:extLst>
          </p:cNvPr>
          <p:cNvSpPr>
            <a:spLocks noChangeArrowheads="1"/>
          </p:cNvSpPr>
          <p:nvPr/>
        </p:nvSpPr>
        <p:spPr bwMode="auto">
          <a:xfrm rot="-5400000">
            <a:off x="844550" y="3475038"/>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6641" name="Text Box 28">
            <a:extLst>
              <a:ext uri="{FF2B5EF4-FFF2-40B4-BE49-F238E27FC236}">
                <a16:creationId xmlns:a16="http://schemas.microsoft.com/office/drawing/2014/main" id="{358FD713-53EA-0526-AA12-D057973DBA73}"/>
              </a:ext>
            </a:extLst>
          </p:cNvPr>
          <p:cNvSpPr txBox="1">
            <a:spLocks noChangeArrowheads="1"/>
          </p:cNvSpPr>
          <p:nvPr/>
        </p:nvSpPr>
        <p:spPr bwMode="auto">
          <a:xfrm>
            <a:off x="619125" y="339725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T</a:t>
            </a:r>
          </a:p>
        </p:txBody>
      </p:sp>
      <p:sp>
        <p:nvSpPr>
          <p:cNvPr id="26642" name="AutoShape 14">
            <a:extLst>
              <a:ext uri="{FF2B5EF4-FFF2-40B4-BE49-F238E27FC236}">
                <a16:creationId xmlns:a16="http://schemas.microsoft.com/office/drawing/2014/main" id="{F01D034D-6FF0-5C7D-69E3-2A689B308469}"/>
              </a:ext>
            </a:extLst>
          </p:cNvPr>
          <p:cNvSpPr>
            <a:spLocks noChangeArrowheads="1"/>
          </p:cNvSpPr>
          <p:nvPr/>
        </p:nvSpPr>
        <p:spPr bwMode="auto">
          <a:xfrm rot="-5400000">
            <a:off x="841375" y="2481263"/>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6643" name="Text Box 28">
            <a:extLst>
              <a:ext uri="{FF2B5EF4-FFF2-40B4-BE49-F238E27FC236}">
                <a16:creationId xmlns:a16="http://schemas.microsoft.com/office/drawing/2014/main" id="{FB13B7EA-9CE8-3849-3652-12FB1D1B63F9}"/>
              </a:ext>
            </a:extLst>
          </p:cNvPr>
          <p:cNvSpPr txBox="1">
            <a:spLocks noChangeArrowheads="1"/>
          </p:cNvSpPr>
          <p:nvPr/>
        </p:nvSpPr>
        <p:spPr bwMode="auto">
          <a:xfrm>
            <a:off x="615950" y="2403475"/>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T</a:t>
            </a:r>
          </a:p>
        </p:txBody>
      </p:sp>
      <p:sp>
        <p:nvSpPr>
          <p:cNvPr id="26644" name="AutoShape 21">
            <a:extLst>
              <a:ext uri="{FF2B5EF4-FFF2-40B4-BE49-F238E27FC236}">
                <a16:creationId xmlns:a16="http://schemas.microsoft.com/office/drawing/2014/main" id="{437E4E99-5E49-D27C-4713-1CC6090E116C}"/>
              </a:ext>
            </a:extLst>
          </p:cNvPr>
          <p:cNvSpPr>
            <a:spLocks noChangeArrowheads="1"/>
          </p:cNvSpPr>
          <p:nvPr/>
        </p:nvSpPr>
        <p:spPr bwMode="auto">
          <a:xfrm rot="5400000">
            <a:off x="2295525" y="3332163"/>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26645" name="Text Box 26">
            <a:extLst>
              <a:ext uri="{FF2B5EF4-FFF2-40B4-BE49-F238E27FC236}">
                <a16:creationId xmlns:a16="http://schemas.microsoft.com/office/drawing/2014/main" id="{CEB0DA3E-6398-1446-2A01-A9D3FFDBADFD}"/>
              </a:ext>
            </a:extLst>
          </p:cNvPr>
          <p:cNvSpPr txBox="1">
            <a:spLocks noChangeArrowheads="1"/>
          </p:cNvSpPr>
          <p:nvPr/>
        </p:nvSpPr>
        <p:spPr bwMode="auto">
          <a:xfrm>
            <a:off x="3060700" y="3408363"/>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26646" name="AutoShape 21">
            <a:extLst>
              <a:ext uri="{FF2B5EF4-FFF2-40B4-BE49-F238E27FC236}">
                <a16:creationId xmlns:a16="http://schemas.microsoft.com/office/drawing/2014/main" id="{58334F21-BDE8-7C91-29BC-4EB8BDDDD06A}"/>
              </a:ext>
            </a:extLst>
          </p:cNvPr>
          <p:cNvSpPr>
            <a:spLocks noChangeArrowheads="1"/>
          </p:cNvSpPr>
          <p:nvPr/>
        </p:nvSpPr>
        <p:spPr bwMode="auto">
          <a:xfrm rot="5400000">
            <a:off x="2332038" y="2378075"/>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26647" name="Text Box 26">
            <a:extLst>
              <a:ext uri="{FF2B5EF4-FFF2-40B4-BE49-F238E27FC236}">
                <a16:creationId xmlns:a16="http://schemas.microsoft.com/office/drawing/2014/main" id="{57BF7779-6397-47F6-EE93-D03925068FDE}"/>
              </a:ext>
            </a:extLst>
          </p:cNvPr>
          <p:cNvSpPr txBox="1">
            <a:spLocks noChangeArrowheads="1"/>
          </p:cNvSpPr>
          <p:nvPr/>
        </p:nvSpPr>
        <p:spPr bwMode="auto">
          <a:xfrm>
            <a:off x="3097213" y="2454275"/>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26648" name="TextBox 23">
            <a:extLst>
              <a:ext uri="{FF2B5EF4-FFF2-40B4-BE49-F238E27FC236}">
                <a16:creationId xmlns:a16="http://schemas.microsoft.com/office/drawing/2014/main" id="{DC65F073-D263-5AA8-9B26-5EC94F251848}"/>
              </a:ext>
            </a:extLst>
          </p:cNvPr>
          <p:cNvSpPr txBox="1">
            <a:spLocks noChangeArrowheads="1"/>
          </p:cNvSpPr>
          <p:nvPr/>
        </p:nvSpPr>
        <p:spPr bwMode="auto">
          <a:xfrm>
            <a:off x="4129088" y="1185863"/>
            <a:ext cx="4714875" cy="249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a:solidFill>
                  <a:schemeClr val="tx1"/>
                </a:solidFill>
              </a:rPr>
              <a:t>2-bit counter that is incremented</a:t>
            </a:r>
          </a:p>
          <a:p>
            <a:r>
              <a:rPr lang="en-CA" altLang="en-US">
                <a:solidFill>
                  <a:schemeClr val="tx1"/>
                </a:solidFill>
              </a:rPr>
              <a:t>after a taken branch, and </a:t>
            </a:r>
          </a:p>
          <a:p>
            <a:r>
              <a:rPr lang="en-CA" altLang="en-US">
                <a:solidFill>
                  <a:schemeClr val="tx1"/>
                </a:solidFill>
              </a:rPr>
              <a:t>decrement after a not-taken branch.</a:t>
            </a:r>
          </a:p>
          <a:p>
            <a:endParaRPr lang="en-CA" altLang="en-US">
              <a:solidFill>
                <a:schemeClr val="tx1"/>
              </a:solidFill>
            </a:endParaRPr>
          </a:p>
          <a:p>
            <a:r>
              <a:rPr lang="en-CA" altLang="en-US">
                <a:solidFill>
                  <a:schemeClr val="tx1"/>
                </a:solidFill>
              </a:rPr>
              <a:t>Prediction is simply most significant bit.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a:extLst>
              <a:ext uri="{FF2B5EF4-FFF2-40B4-BE49-F238E27FC236}">
                <a16:creationId xmlns:a16="http://schemas.microsoft.com/office/drawing/2014/main" id="{C4E77E1D-3F24-CB8C-1435-9F254C97231E}"/>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200">
                <a:latin typeface="Arial  " charset="0"/>
                <a:cs typeface="Arial  " charset="0"/>
              </a:rPr>
              <a:t>2-Bit Predictor </a:t>
            </a:r>
          </a:p>
        </p:txBody>
      </p:sp>
      <p:sp>
        <p:nvSpPr>
          <p:cNvPr id="27651" name="Rectangle 4">
            <a:extLst>
              <a:ext uri="{FF2B5EF4-FFF2-40B4-BE49-F238E27FC236}">
                <a16:creationId xmlns:a16="http://schemas.microsoft.com/office/drawing/2014/main" id="{2E7FCDB4-57D1-320B-C52E-4642B06C38F8}"/>
              </a:ext>
            </a:extLst>
          </p:cNvPr>
          <p:cNvSpPr>
            <a:spLocks noChangeArrowheads="1"/>
          </p:cNvSpPr>
          <p:nvPr/>
        </p:nvSpPr>
        <p:spPr bwMode="auto">
          <a:xfrm>
            <a:off x="4165600" y="1689100"/>
            <a:ext cx="571500" cy="33655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652" name="Line 5">
            <a:extLst>
              <a:ext uri="{FF2B5EF4-FFF2-40B4-BE49-F238E27FC236}">
                <a16:creationId xmlns:a16="http://schemas.microsoft.com/office/drawing/2014/main" id="{FC8B9941-E47A-25E5-AB0B-98914D8A694C}"/>
              </a:ext>
            </a:extLst>
          </p:cNvPr>
          <p:cNvSpPr>
            <a:spLocks noChangeShapeType="1"/>
          </p:cNvSpPr>
          <p:nvPr/>
        </p:nvSpPr>
        <p:spPr bwMode="auto">
          <a:xfrm>
            <a:off x="4165600" y="1993900"/>
            <a:ext cx="5461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653" name="Line 6">
            <a:extLst>
              <a:ext uri="{FF2B5EF4-FFF2-40B4-BE49-F238E27FC236}">
                <a16:creationId xmlns:a16="http://schemas.microsoft.com/office/drawing/2014/main" id="{A61A4152-6503-C18F-4D91-99E85881139F}"/>
              </a:ext>
            </a:extLst>
          </p:cNvPr>
          <p:cNvSpPr>
            <a:spLocks noChangeShapeType="1"/>
          </p:cNvSpPr>
          <p:nvPr/>
        </p:nvSpPr>
        <p:spPr bwMode="auto">
          <a:xfrm>
            <a:off x="4165600" y="2298700"/>
            <a:ext cx="5461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654" name="Line 7">
            <a:extLst>
              <a:ext uri="{FF2B5EF4-FFF2-40B4-BE49-F238E27FC236}">
                <a16:creationId xmlns:a16="http://schemas.microsoft.com/office/drawing/2014/main" id="{B90D6ED6-CCF6-8001-D4CE-A0A0DC98D107}"/>
              </a:ext>
            </a:extLst>
          </p:cNvPr>
          <p:cNvSpPr>
            <a:spLocks noChangeShapeType="1"/>
          </p:cNvSpPr>
          <p:nvPr/>
        </p:nvSpPr>
        <p:spPr bwMode="auto">
          <a:xfrm>
            <a:off x="2235200" y="3835400"/>
            <a:ext cx="1612900" cy="1588"/>
          </a:xfrm>
          <a:prstGeom prst="line">
            <a:avLst/>
          </a:prstGeom>
          <a:noFill/>
          <a:ln w="2844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55" name="Line 8">
            <a:extLst>
              <a:ext uri="{FF2B5EF4-FFF2-40B4-BE49-F238E27FC236}">
                <a16:creationId xmlns:a16="http://schemas.microsoft.com/office/drawing/2014/main" id="{3B5742F9-5EB3-BFD8-617E-9EF81FABCB84}"/>
              </a:ext>
            </a:extLst>
          </p:cNvPr>
          <p:cNvSpPr>
            <a:spLocks noChangeShapeType="1"/>
          </p:cNvSpPr>
          <p:nvPr/>
        </p:nvSpPr>
        <p:spPr bwMode="auto">
          <a:xfrm>
            <a:off x="4165600" y="2590800"/>
            <a:ext cx="5588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656" name="Text Box 12">
            <a:extLst>
              <a:ext uri="{FF2B5EF4-FFF2-40B4-BE49-F238E27FC236}">
                <a16:creationId xmlns:a16="http://schemas.microsoft.com/office/drawing/2014/main" id="{C7957539-7DDB-6FF1-1A66-80F240E71E67}"/>
              </a:ext>
            </a:extLst>
          </p:cNvPr>
          <p:cNvSpPr txBox="1">
            <a:spLocks noChangeArrowheads="1"/>
          </p:cNvSpPr>
          <p:nvPr/>
        </p:nvSpPr>
        <p:spPr bwMode="auto">
          <a:xfrm>
            <a:off x="249238" y="5543550"/>
            <a:ext cx="4973637"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spcBef>
                <a:spcPts val="1500"/>
              </a:spcBef>
              <a:buFont typeface="Comic Sans MS" panose="030F0902030302020204" pitchFamily="66" charset="0"/>
              <a:buNone/>
            </a:pPr>
            <a:r>
              <a:rPr lang="en-GB" altLang="en-US">
                <a:solidFill>
                  <a:srgbClr val="000000"/>
                </a:solidFill>
                <a:cs typeface="Arial" panose="020B0604020202020204" pitchFamily="34" charset="0"/>
              </a:rPr>
              <a:t>Size of table (in bits) = </a:t>
            </a:r>
          </a:p>
          <a:p>
            <a:pPr>
              <a:lnSpc>
                <a:spcPct val="100000"/>
              </a:lnSpc>
              <a:spcBef>
                <a:spcPts val="1500"/>
              </a:spcBef>
              <a:buFont typeface="Comic Sans MS" panose="030F0902030302020204" pitchFamily="66" charset="0"/>
              <a:buNone/>
            </a:pPr>
            <a:r>
              <a:rPr lang="en-GB" altLang="en-US">
                <a:solidFill>
                  <a:srgbClr val="000000"/>
                </a:solidFill>
                <a:cs typeface="Arial" panose="020B0604020202020204" pitchFamily="34" charset="0"/>
              </a:rPr>
              <a:t>2</a:t>
            </a:r>
            <a:r>
              <a:rPr lang="en-GB" altLang="en-US" baseline="30000">
                <a:solidFill>
                  <a:srgbClr val="000000"/>
                </a:solidFill>
                <a:cs typeface="Arial" panose="020B0604020202020204" pitchFamily="34" charset="0"/>
              </a:rPr>
              <a:t>n</a:t>
            </a:r>
            <a:r>
              <a:rPr lang="en-GB" altLang="en-US">
                <a:solidFill>
                  <a:srgbClr val="000000"/>
                </a:solidFill>
                <a:cs typeface="Arial" panose="020B0604020202020204" pitchFamily="34" charset="0"/>
              </a:rPr>
              <a:t> x </a:t>
            </a:r>
            <a:r>
              <a:rPr lang="en-GB" altLang="en-US">
                <a:solidFill>
                  <a:srgbClr val="FF0000"/>
                </a:solidFill>
                <a:cs typeface="Arial" panose="020B0604020202020204" pitchFamily="34" charset="0"/>
              </a:rPr>
              <a:t>2</a:t>
            </a:r>
            <a:r>
              <a:rPr lang="en-GB" altLang="en-US">
                <a:solidFill>
                  <a:srgbClr val="000000"/>
                </a:solidFill>
                <a:cs typeface="Arial" panose="020B0604020202020204" pitchFamily="34" charset="0"/>
              </a:rPr>
              <a:t> (n=# of PC bits used)</a:t>
            </a:r>
          </a:p>
        </p:txBody>
      </p:sp>
      <p:sp>
        <p:nvSpPr>
          <p:cNvPr id="27657" name="Text Box 14">
            <a:extLst>
              <a:ext uri="{FF2B5EF4-FFF2-40B4-BE49-F238E27FC236}">
                <a16:creationId xmlns:a16="http://schemas.microsoft.com/office/drawing/2014/main" id="{C4121CF0-E291-389B-8F44-FC2B9D47C5F9}"/>
              </a:ext>
            </a:extLst>
          </p:cNvPr>
          <p:cNvSpPr txBox="1">
            <a:spLocks noChangeArrowheads="1"/>
          </p:cNvSpPr>
          <p:nvPr/>
        </p:nvSpPr>
        <p:spPr bwMode="auto">
          <a:xfrm>
            <a:off x="4151313" y="1670050"/>
            <a:ext cx="60801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rPr>
              <a:t>0  0</a:t>
            </a:r>
          </a:p>
        </p:txBody>
      </p:sp>
      <p:sp>
        <p:nvSpPr>
          <p:cNvPr id="27658" name="Text Box 15">
            <a:extLst>
              <a:ext uri="{FF2B5EF4-FFF2-40B4-BE49-F238E27FC236}">
                <a16:creationId xmlns:a16="http://schemas.microsoft.com/office/drawing/2014/main" id="{EBFEC1EB-8531-7D03-BFB5-F840F3529F8C}"/>
              </a:ext>
            </a:extLst>
          </p:cNvPr>
          <p:cNvSpPr txBox="1">
            <a:spLocks noChangeArrowheads="1"/>
          </p:cNvSpPr>
          <p:nvPr/>
        </p:nvSpPr>
        <p:spPr bwMode="auto">
          <a:xfrm>
            <a:off x="4138613" y="1962150"/>
            <a:ext cx="60801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rPr>
              <a:t>1  0</a:t>
            </a:r>
          </a:p>
        </p:txBody>
      </p:sp>
      <p:sp>
        <p:nvSpPr>
          <p:cNvPr id="27659" name="Text Box 16">
            <a:extLst>
              <a:ext uri="{FF2B5EF4-FFF2-40B4-BE49-F238E27FC236}">
                <a16:creationId xmlns:a16="http://schemas.microsoft.com/office/drawing/2014/main" id="{25F5D097-CF35-32F2-9B14-8C18AC66863D}"/>
              </a:ext>
            </a:extLst>
          </p:cNvPr>
          <p:cNvSpPr txBox="1">
            <a:spLocks noChangeArrowheads="1"/>
          </p:cNvSpPr>
          <p:nvPr/>
        </p:nvSpPr>
        <p:spPr bwMode="auto">
          <a:xfrm>
            <a:off x="4138613" y="2254250"/>
            <a:ext cx="60801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rPr>
              <a:t>1  1</a:t>
            </a:r>
          </a:p>
        </p:txBody>
      </p:sp>
      <p:sp>
        <p:nvSpPr>
          <p:cNvPr id="27660" name="Line 17">
            <a:extLst>
              <a:ext uri="{FF2B5EF4-FFF2-40B4-BE49-F238E27FC236}">
                <a16:creationId xmlns:a16="http://schemas.microsoft.com/office/drawing/2014/main" id="{6200440C-2A36-03BD-55CD-762A8B0791D0}"/>
              </a:ext>
            </a:extLst>
          </p:cNvPr>
          <p:cNvSpPr>
            <a:spLocks noChangeShapeType="1"/>
          </p:cNvSpPr>
          <p:nvPr/>
        </p:nvSpPr>
        <p:spPr bwMode="auto">
          <a:xfrm flipV="1">
            <a:off x="4445000" y="1700213"/>
            <a:ext cx="1588" cy="993775"/>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661" name="Oval 18">
            <a:extLst>
              <a:ext uri="{FF2B5EF4-FFF2-40B4-BE49-F238E27FC236}">
                <a16:creationId xmlns:a16="http://schemas.microsoft.com/office/drawing/2014/main" id="{34CC9714-FCEC-E84B-5681-DF90C0641A87}"/>
              </a:ext>
            </a:extLst>
          </p:cNvPr>
          <p:cNvSpPr>
            <a:spLocks noChangeArrowheads="1"/>
          </p:cNvSpPr>
          <p:nvPr/>
        </p:nvSpPr>
        <p:spPr bwMode="auto">
          <a:xfrm>
            <a:off x="4154488" y="1970088"/>
            <a:ext cx="598487" cy="373062"/>
          </a:xfrm>
          <a:prstGeom prst="ellipse">
            <a:avLst/>
          </a:prstGeom>
          <a:noFill/>
          <a:ln w="3816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662" name="Text Box 22">
            <a:extLst>
              <a:ext uri="{FF2B5EF4-FFF2-40B4-BE49-F238E27FC236}">
                <a16:creationId xmlns:a16="http://schemas.microsoft.com/office/drawing/2014/main" id="{0A69DD42-3584-2F11-648F-09F558E3655D}"/>
              </a:ext>
            </a:extLst>
          </p:cNvPr>
          <p:cNvSpPr txBox="1">
            <a:spLocks noChangeArrowheads="1"/>
          </p:cNvSpPr>
          <p:nvPr/>
        </p:nvSpPr>
        <p:spPr bwMode="auto">
          <a:xfrm>
            <a:off x="3559175" y="1747838"/>
            <a:ext cx="665163"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latin typeface="Comic Sans MS" panose="030F0902030302020204" pitchFamily="66" charset="0"/>
              </a:rPr>
              <a:t>Row 00</a:t>
            </a:r>
            <a:r>
              <a:rPr lang="en-US" altLang="en-US" sz="1000" baseline="-25000">
                <a:solidFill>
                  <a:schemeClr val="tx1"/>
                </a:solidFill>
                <a:latin typeface="Comic Sans MS" panose="030F0902030302020204" pitchFamily="66" charset="0"/>
              </a:rPr>
              <a:t>2</a:t>
            </a:r>
            <a:endParaRPr lang="en-US" altLang="en-US" sz="1400"/>
          </a:p>
        </p:txBody>
      </p:sp>
      <p:sp>
        <p:nvSpPr>
          <p:cNvPr id="27663" name="Text Box 23">
            <a:extLst>
              <a:ext uri="{FF2B5EF4-FFF2-40B4-BE49-F238E27FC236}">
                <a16:creationId xmlns:a16="http://schemas.microsoft.com/office/drawing/2014/main" id="{CEE32B06-04FB-A62A-8152-589D16995EFF}"/>
              </a:ext>
            </a:extLst>
          </p:cNvPr>
          <p:cNvSpPr txBox="1">
            <a:spLocks noChangeArrowheads="1"/>
          </p:cNvSpPr>
          <p:nvPr/>
        </p:nvSpPr>
        <p:spPr bwMode="auto">
          <a:xfrm>
            <a:off x="3578225" y="2052638"/>
            <a:ext cx="644525"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latin typeface="Comic Sans MS" panose="030F0902030302020204" pitchFamily="66" charset="0"/>
              </a:rPr>
              <a:t>Row 01</a:t>
            </a:r>
            <a:r>
              <a:rPr lang="en-US" altLang="en-US" sz="1000" baseline="-25000">
                <a:solidFill>
                  <a:schemeClr val="tx1"/>
                </a:solidFill>
                <a:latin typeface="Comic Sans MS" panose="030F0902030302020204" pitchFamily="66" charset="0"/>
              </a:rPr>
              <a:t>2</a:t>
            </a:r>
            <a:endParaRPr lang="en-US" altLang="en-US" sz="1400"/>
          </a:p>
        </p:txBody>
      </p:sp>
      <p:sp>
        <p:nvSpPr>
          <p:cNvPr id="27664" name="Text Box 24">
            <a:extLst>
              <a:ext uri="{FF2B5EF4-FFF2-40B4-BE49-F238E27FC236}">
                <a16:creationId xmlns:a16="http://schemas.microsoft.com/office/drawing/2014/main" id="{58E4C6FD-3B84-681B-3E1A-B1A64284E0FD}"/>
              </a:ext>
            </a:extLst>
          </p:cNvPr>
          <p:cNvSpPr txBox="1">
            <a:spLocks noChangeArrowheads="1"/>
          </p:cNvSpPr>
          <p:nvPr/>
        </p:nvSpPr>
        <p:spPr bwMode="auto">
          <a:xfrm>
            <a:off x="3590925" y="2319338"/>
            <a:ext cx="6477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latin typeface="Comic Sans MS" panose="030F0902030302020204" pitchFamily="66" charset="0"/>
              </a:rPr>
              <a:t>Row 10</a:t>
            </a:r>
            <a:r>
              <a:rPr lang="en-US" altLang="en-US" sz="1000" baseline="-25000">
                <a:solidFill>
                  <a:schemeClr val="tx1"/>
                </a:solidFill>
                <a:latin typeface="Comic Sans MS" panose="030F0902030302020204" pitchFamily="66" charset="0"/>
              </a:rPr>
              <a:t>2</a:t>
            </a:r>
            <a:endParaRPr lang="en-US" altLang="en-US" sz="1400">
              <a:solidFill>
                <a:schemeClr val="tx1"/>
              </a:solidFill>
            </a:endParaRPr>
          </a:p>
        </p:txBody>
      </p:sp>
      <p:sp>
        <p:nvSpPr>
          <p:cNvPr id="27665" name="Text Box 25">
            <a:extLst>
              <a:ext uri="{FF2B5EF4-FFF2-40B4-BE49-F238E27FC236}">
                <a16:creationId xmlns:a16="http://schemas.microsoft.com/office/drawing/2014/main" id="{E8766527-58AE-1F98-6B76-4AB263BDFEBF}"/>
              </a:ext>
            </a:extLst>
          </p:cNvPr>
          <p:cNvSpPr txBox="1">
            <a:spLocks noChangeArrowheads="1"/>
          </p:cNvSpPr>
          <p:nvPr/>
        </p:nvSpPr>
        <p:spPr bwMode="auto">
          <a:xfrm>
            <a:off x="3597275" y="2605088"/>
            <a:ext cx="623888"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latin typeface="Comic Sans MS" panose="030F0902030302020204" pitchFamily="66" charset="0"/>
              </a:rPr>
              <a:t>Row 11</a:t>
            </a:r>
            <a:r>
              <a:rPr lang="en-US" altLang="en-US" sz="1000" baseline="-25000">
                <a:solidFill>
                  <a:schemeClr val="tx1"/>
                </a:solidFill>
                <a:latin typeface="Comic Sans MS" panose="030F0902030302020204" pitchFamily="66" charset="0"/>
              </a:rPr>
              <a:t>2</a:t>
            </a:r>
            <a:endParaRPr lang="en-US" altLang="en-US" sz="1400"/>
          </a:p>
        </p:txBody>
      </p:sp>
      <p:sp>
        <p:nvSpPr>
          <p:cNvPr id="27666" name="Text Box 26">
            <a:extLst>
              <a:ext uri="{FF2B5EF4-FFF2-40B4-BE49-F238E27FC236}">
                <a16:creationId xmlns:a16="http://schemas.microsoft.com/office/drawing/2014/main" id="{155BC903-95A8-183A-1CC3-261732243DF9}"/>
              </a:ext>
            </a:extLst>
          </p:cNvPr>
          <p:cNvSpPr txBox="1">
            <a:spLocks noChangeArrowheads="1"/>
          </p:cNvSpPr>
          <p:nvPr/>
        </p:nvSpPr>
        <p:spPr bwMode="auto">
          <a:xfrm>
            <a:off x="3521075" y="4821238"/>
            <a:ext cx="688975"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latin typeface="Comic Sans MS" panose="030F0902030302020204" pitchFamily="66" charset="0"/>
              </a:rPr>
              <a:t>Row 2</a:t>
            </a:r>
            <a:r>
              <a:rPr lang="en-US" altLang="en-US" sz="1000" baseline="30000">
                <a:solidFill>
                  <a:schemeClr val="tx1"/>
                </a:solidFill>
                <a:latin typeface="Comic Sans MS" panose="030F0902030302020204" pitchFamily="66" charset="0"/>
              </a:rPr>
              <a:t>n</a:t>
            </a:r>
            <a:r>
              <a:rPr lang="en-US" altLang="en-US" sz="1000">
                <a:solidFill>
                  <a:schemeClr val="tx1"/>
                </a:solidFill>
                <a:latin typeface="Comic Sans MS" panose="030F0902030302020204" pitchFamily="66" charset="0"/>
              </a:rPr>
              <a:t>-1</a:t>
            </a:r>
            <a:endParaRPr lang="en-US" altLang="en-US" sz="1400"/>
          </a:p>
        </p:txBody>
      </p:sp>
      <p:sp>
        <p:nvSpPr>
          <p:cNvPr id="27667" name="Rectangle 27">
            <a:extLst>
              <a:ext uri="{FF2B5EF4-FFF2-40B4-BE49-F238E27FC236}">
                <a16:creationId xmlns:a16="http://schemas.microsoft.com/office/drawing/2014/main" id="{66BC5A43-6D15-557C-AF59-97671BAE1BAF}"/>
              </a:ext>
            </a:extLst>
          </p:cNvPr>
          <p:cNvSpPr>
            <a:spLocks noChangeArrowheads="1"/>
          </p:cNvSpPr>
          <p:nvPr/>
        </p:nvSpPr>
        <p:spPr bwMode="auto">
          <a:xfrm>
            <a:off x="1308100" y="2971800"/>
            <a:ext cx="1790700" cy="419100"/>
          </a:xfrm>
          <a:prstGeom prst="rect">
            <a:avLst/>
          </a:prstGeom>
          <a:solidFill>
            <a:srgbClr val="BBE0E3"/>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a:lnSpc>
                <a:spcPct val="100000"/>
              </a:lnSpc>
            </a:pPr>
            <a:r>
              <a:rPr lang="en-GB" altLang="en-US">
                <a:solidFill>
                  <a:srgbClr val="FF0000"/>
                </a:solidFill>
              </a:rPr>
              <a:t>000000001</a:t>
            </a:r>
            <a:endParaRPr lang="en-GB" altLang="en-US">
              <a:solidFill>
                <a:srgbClr val="000000"/>
              </a:solidFill>
            </a:endParaRPr>
          </a:p>
        </p:txBody>
      </p:sp>
      <p:sp>
        <p:nvSpPr>
          <p:cNvPr id="27668" name="Rectangle 28">
            <a:extLst>
              <a:ext uri="{FF2B5EF4-FFF2-40B4-BE49-F238E27FC236}">
                <a16:creationId xmlns:a16="http://schemas.microsoft.com/office/drawing/2014/main" id="{77F2B76D-8F1B-5F99-30B2-EE088938299D}"/>
              </a:ext>
            </a:extLst>
          </p:cNvPr>
          <p:cNvSpPr>
            <a:spLocks noChangeArrowheads="1"/>
          </p:cNvSpPr>
          <p:nvPr/>
        </p:nvSpPr>
        <p:spPr bwMode="auto">
          <a:xfrm>
            <a:off x="190500" y="2971800"/>
            <a:ext cx="1219200" cy="419100"/>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t>01…100</a:t>
            </a:r>
          </a:p>
        </p:txBody>
      </p:sp>
      <p:sp>
        <p:nvSpPr>
          <p:cNvPr id="27669" name="AutoShape 29">
            <a:extLst>
              <a:ext uri="{FF2B5EF4-FFF2-40B4-BE49-F238E27FC236}">
                <a16:creationId xmlns:a16="http://schemas.microsoft.com/office/drawing/2014/main" id="{58B55D8E-CA17-9856-EDD0-1FB1D1043CBE}"/>
              </a:ext>
            </a:extLst>
          </p:cNvPr>
          <p:cNvSpPr>
            <a:spLocks/>
          </p:cNvSpPr>
          <p:nvPr/>
        </p:nvSpPr>
        <p:spPr bwMode="auto">
          <a:xfrm rot="-5400000">
            <a:off x="2051050" y="2946400"/>
            <a:ext cx="342900" cy="1460500"/>
          </a:xfrm>
          <a:prstGeom prst="leftBrace">
            <a:avLst>
              <a:gd name="adj1" fmla="val 35494"/>
              <a:gd name="adj2" fmla="val 50000"/>
            </a:avLst>
          </a:prstGeom>
          <a:noFill/>
          <a:ln w="936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670" name="Rectangle 30">
            <a:extLst>
              <a:ext uri="{FF2B5EF4-FFF2-40B4-BE49-F238E27FC236}">
                <a16:creationId xmlns:a16="http://schemas.microsoft.com/office/drawing/2014/main" id="{B5915A3D-18B5-BE10-AB3A-7EAD7A21F8B6}"/>
              </a:ext>
            </a:extLst>
          </p:cNvPr>
          <p:cNvSpPr>
            <a:spLocks noChangeArrowheads="1"/>
          </p:cNvSpPr>
          <p:nvPr/>
        </p:nvSpPr>
        <p:spPr bwMode="auto">
          <a:xfrm>
            <a:off x="2971800" y="2968625"/>
            <a:ext cx="390525" cy="422275"/>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t>00</a:t>
            </a:r>
          </a:p>
        </p:txBody>
      </p:sp>
      <p:sp>
        <p:nvSpPr>
          <p:cNvPr id="27671" name="AutoShape 31">
            <a:extLst>
              <a:ext uri="{FF2B5EF4-FFF2-40B4-BE49-F238E27FC236}">
                <a16:creationId xmlns:a16="http://schemas.microsoft.com/office/drawing/2014/main" id="{D8FEAA70-0AD5-4705-532B-4EAB28264D76}"/>
              </a:ext>
            </a:extLst>
          </p:cNvPr>
          <p:cNvSpPr>
            <a:spLocks/>
          </p:cNvSpPr>
          <p:nvPr/>
        </p:nvSpPr>
        <p:spPr bwMode="auto">
          <a:xfrm rot="-5400000">
            <a:off x="1711325" y="1266825"/>
            <a:ext cx="152400" cy="3155950"/>
          </a:xfrm>
          <a:prstGeom prst="rightBrace">
            <a:avLst>
              <a:gd name="adj1" fmla="val 17256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672" name="Text Box 32">
            <a:extLst>
              <a:ext uri="{FF2B5EF4-FFF2-40B4-BE49-F238E27FC236}">
                <a16:creationId xmlns:a16="http://schemas.microsoft.com/office/drawing/2014/main" id="{8CE8C30E-4FE8-1611-A52B-284C4FE92B6C}"/>
              </a:ext>
            </a:extLst>
          </p:cNvPr>
          <p:cNvSpPr txBox="1">
            <a:spLocks noChangeArrowheads="1"/>
          </p:cNvSpPr>
          <p:nvPr/>
        </p:nvSpPr>
        <p:spPr bwMode="auto">
          <a:xfrm>
            <a:off x="847725" y="2324100"/>
            <a:ext cx="19812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chemeClr val="tx1"/>
                </a:solidFill>
                <a:cs typeface="Arial" panose="020B0604020202020204" pitchFamily="34" charset="0"/>
              </a:rPr>
              <a:t>PC of branch</a:t>
            </a:r>
            <a:endParaRPr lang="en-US" altLang="en-US">
              <a:cs typeface="Arial" panose="020B0604020202020204" pitchFamily="34" charset="0"/>
            </a:endParaRPr>
          </a:p>
        </p:txBody>
      </p:sp>
      <p:sp>
        <p:nvSpPr>
          <p:cNvPr id="27673" name="Slide Number Placeholder 32">
            <a:extLst>
              <a:ext uri="{FF2B5EF4-FFF2-40B4-BE49-F238E27FC236}">
                <a16:creationId xmlns:a16="http://schemas.microsoft.com/office/drawing/2014/main" id="{77DD1D30-9EBF-EAFE-F4B8-CB681FD1B37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7A2DF8C5-1DFC-9540-AD9D-4C122DF9EFC3}" type="slidenum">
              <a:rPr lang="en-GB" altLang="en-US" sz="1400">
                <a:solidFill>
                  <a:srgbClr val="000000"/>
                </a:solidFill>
                <a:latin typeface="Arial  " charset="0"/>
              </a:rPr>
              <a:pPr/>
              <a:t>23</a:t>
            </a:fld>
            <a:r>
              <a:rPr lang="en-GB" altLang="en-US" sz="1400">
                <a:solidFill>
                  <a:srgbClr val="000000"/>
                </a:solidFill>
                <a:latin typeface="Arial  " charset="0"/>
              </a:rPr>
              <a:t> </a:t>
            </a:r>
          </a:p>
        </p:txBody>
      </p:sp>
      <p:sp>
        <p:nvSpPr>
          <p:cNvPr id="27674" name="TextBox 29">
            <a:extLst>
              <a:ext uri="{FF2B5EF4-FFF2-40B4-BE49-F238E27FC236}">
                <a16:creationId xmlns:a16="http://schemas.microsoft.com/office/drawing/2014/main" id="{6E36007A-40B6-1B81-99C9-30C555A86396}"/>
              </a:ext>
            </a:extLst>
          </p:cNvPr>
          <p:cNvSpPr txBox="1">
            <a:spLocks noChangeArrowheads="1"/>
          </p:cNvSpPr>
          <p:nvPr/>
        </p:nvSpPr>
        <p:spPr bwMode="auto">
          <a:xfrm>
            <a:off x="5022850" y="3330575"/>
            <a:ext cx="4121150"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sz="1800">
                <a:solidFill>
                  <a:schemeClr val="tx1"/>
                </a:solidFill>
              </a:rPr>
              <a:t>Contents of </a:t>
            </a:r>
            <a:r>
              <a:rPr lang="en-CA" altLang="en-US" sz="1800" u="sng">
                <a:solidFill>
                  <a:schemeClr val="tx1"/>
                </a:solidFill>
              </a:rPr>
              <a:t>each row </a:t>
            </a:r>
            <a:r>
              <a:rPr lang="en-CA" altLang="en-US" sz="1800">
                <a:solidFill>
                  <a:schemeClr val="tx1"/>
                </a:solidFill>
              </a:rPr>
              <a:t>specify state in state machine. Make prediction based upon current state. </a:t>
            </a:r>
            <a:r>
              <a:rPr lang="en-CA" altLang="en-US" sz="1800" i="1">
                <a:solidFill>
                  <a:schemeClr val="tx1"/>
                </a:solidFill>
              </a:rPr>
              <a:t>E.g., if in state “10”, saturating counter state machine says predict “taken”.</a:t>
            </a:r>
          </a:p>
          <a:p>
            <a:endParaRPr lang="en-CA" altLang="en-US" sz="1800">
              <a:solidFill>
                <a:schemeClr val="tx1"/>
              </a:solidFill>
            </a:endParaRPr>
          </a:p>
          <a:p>
            <a:r>
              <a:rPr lang="en-CA" altLang="en-US" sz="1800">
                <a:solidFill>
                  <a:schemeClr val="tx1"/>
                </a:solidFill>
              </a:rPr>
              <a:t>When </a:t>
            </a:r>
            <a:r>
              <a:rPr lang="en-CA" altLang="en-US" sz="1800" u="sng">
                <a:solidFill>
                  <a:schemeClr val="tx1"/>
                </a:solidFill>
              </a:rPr>
              <a:t>actual branch outcome </a:t>
            </a:r>
            <a:r>
              <a:rPr lang="en-CA" altLang="en-US" sz="1800">
                <a:solidFill>
                  <a:schemeClr val="tx1"/>
                </a:solidFill>
              </a:rPr>
              <a:t>known, update entry in table. </a:t>
            </a:r>
            <a:r>
              <a:rPr lang="en-CA" altLang="en-US" sz="1800" i="1">
                <a:solidFill>
                  <a:schemeClr val="tx1"/>
                </a:solidFill>
              </a:rPr>
              <a:t>E.g.,</a:t>
            </a:r>
          </a:p>
          <a:p>
            <a:r>
              <a:rPr lang="en-CA" altLang="en-US" sz="1800" i="1">
                <a:solidFill>
                  <a:schemeClr val="tx1"/>
                </a:solidFill>
              </a:rPr>
              <a:t>if actual outcome taken new state in row is “11”</a:t>
            </a:r>
          </a:p>
          <a:p>
            <a:endParaRPr lang="en-CA" altLang="en-US" sz="2000">
              <a:solidFill>
                <a:schemeClr val="tx1"/>
              </a:solidFill>
            </a:endParaRPr>
          </a:p>
          <a:p>
            <a:endParaRPr lang="en-CA" altLang="en-US" sz="2000">
              <a:solidFill>
                <a:schemeClr val="tx1"/>
              </a:solidFill>
            </a:endParaRPr>
          </a:p>
        </p:txBody>
      </p:sp>
      <p:sp>
        <p:nvSpPr>
          <p:cNvPr id="27675" name="Oval 2">
            <a:extLst>
              <a:ext uri="{FF2B5EF4-FFF2-40B4-BE49-F238E27FC236}">
                <a16:creationId xmlns:a16="http://schemas.microsoft.com/office/drawing/2014/main" id="{6906E371-344E-AD42-CC98-D8F308953760}"/>
              </a:ext>
            </a:extLst>
          </p:cNvPr>
          <p:cNvSpPr>
            <a:spLocks noChangeArrowheads="1"/>
          </p:cNvSpPr>
          <p:nvPr/>
        </p:nvSpPr>
        <p:spPr bwMode="auto">
          <a:xfrm>
            <a:off x="6302375" y="1836738"/>
            <a:ext cx="477838" cy="301625"/>
          </a:xfrm>
          <a:prstGeom prst="ellipse">
            <a:avLst/>
          </a:prstGeom>
          <a:solidFill>
            <a:srgbClr val="00FF00"/>
          </a:solidFill>
          <a:ln w="3810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T</a:t>
            </a:r>
          </a:p>
          <a:p>
            <a:pPr algn="ctr" eaLnBrk="1" hangingPunct="1">
              <a:lnSpc>
                <a:spcPct val="100000"/>
              </a:lnSpc>
            </a:pPr>
            <a:r>
              <a:rPr lang="en-GB" altLang="en-US" sz="900" b="1">
                <a:solidFill>
                  <a:srgbClr val="000000"/>
                </a:solidFill>
              </a:rPr>
              <a:t>10</a:t>
            </a:r>
          </a:p>
        </p:txBody>
      </p:sp>
      <p:sp>
        <p:nvSpPr>
          <p:cNvPr id="27676" name="Oval 6">
            <a:extLst>
              <a:ext uri="{FF2B5EF4-FFF2-40B4-BE49-F238E27FC236}">
                <a16:creationId xmlns:a16="http://schemas.microsoft.com/office/drawing/2014/main" id="{DFF2FE55-C797-D76C-60C5-B24CCDED64C9}"/>
              </a:ext>
            </a:extLst>
          </p:cNvPr>
          <p:cNvSpPr>
            <a:spLocks noChangeArrowheads="1"/>
          </p:cNvSpPr>
          <p:nvPr/>
        </p:nvSpPr>
        <p:spPr bwMode="auto">
          <a:xfrm>
            <a:off x="6303963" y="2430463"/>
            <a:ext cx="477837" cy="303212"/>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NT</a:t>
            </a:r>
          </a:p>
          <a:p>
            <a:pPr algn="ctr" eaLnBrk="1" hangingPunct="1">
              <a:lnSpc>
                <a:spcPct val="100000"/>
              </a:lnSpc>
            </a:pPr>
            <a:r>
              <a:rPr lang="en-GB" altLang="en-US" sz="900" b="1">
                <a:solidFill>
                  <a:srgbClr val="000000"/>
                </a:solidFill>
              </a:rPr>
              <a:t>00</a:t>
            </a:r>
          </a:p>
        </p:txBody>
      </p:sp>
      <p:sp>
        <p:nvSpPr>
          <p:cNvPr id="27677" name="Oval 7">
            <a:extLst>
              <a:ext uri="{FF2B5EF4-FFF2-40B4-BE49-F238E27FC236}">
                <a16:creationId xmlns:a16="http://schemas.microsoft.com/office/drawing/2014/main" id="{FE5E33EE-A611-459D-1D9D-BCEDC41A355F}"/>
              </a:ext>
            </a:extLst>
          </p:cNvPr>
          <p:cNvSpPr>
            <a:spLocks noChangeArrowheads="1"/>
          </p:cNvSpPr>
          <p:nvPr/>
        </p:nvSpPr>
        <p:spPr bwMode="auto">
          <a:xfrm>
            <a:off x="6308725" y="2149475"/>
            <a:ext cx="477838" cy="301625"/>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NT</a:t>
            </a:r>
          </a:p>
          <a:p>
            <a:pPr algn="ctr" eaLnBrk="1" hangingPunct="1">
              <a:lnSpc>
                <a:spcPct val="100000"/>
              </a:lnSpc>
            </a:pPr>
            <a:r>
              <a:rPr lang="en-GB" altLang="en-US" sz="900" b="1">
                <a:solidFill>
                  <a:srgbClr val="000000"/>
                </a:solidFill>
              </a:rPr>
              <a:t>01</a:t>
            </a:r>
          </a:p>
        </p:txBody>
      </p:sp>
      <p:sp>
        <p:nvSpPr>
          <p:cNvPr id="27678" name="Oval 10">
            <a:extLst>
              <a:ext uri="{FF2B5EF4-FFF2-40B4-BE49-F238E27FC236}">
                <a16:creationId xmlns:a16="http://schemas.microsoft.com/office/drawing/2014/main" id="{AE64DB84-EDD9-9892-8B10-48F9DD3420F8}"/>
              </a:ext>
            </a:extLst>
          </p:cNvPr>
          <p:cNvSpPr>
            <a:spLocks noChangeArrowheads="1"/>
          </p:cNvSpPr>
          <p:nvPr/>
        </p:nvSpPr>
        <p:spPr bwMode="auto">
          <a:xfrm>
            <a:off x="6307138" y="1520825"/>
            <a:ext cx="477837" cy="301625"/>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T</a:t>
            </a:r>
          </a:p>
          <a:p>
            <a:pPr algn="ctr" eaLnBrk="1" hangingPunct="1">
              <a:lnSpc>
                <a:spcPct val="100000"/>
              </a:lnSpc>
            </a:pPr>
            <a:r>
              <a:rPr lang="en-GB" altLang="en-US" sz="900" b="1">
                <a:solidFill>
                  <a:srgbClr val="000000"/>
                </a:solidFill>
              </a:rPr>
              <a:t>11</a:t>
            </a:r>
          </a:p>
        </p:txBody>
      </p:sp>
      <p:sp>
        <p:nvSpPr>
          <p:cNvPr id="27679" name="AutoShape 14">
            <a:extLst>
              <a:ext uri="{FF2B5EF4-FFF2-40B4-BE49-F238E27FC236}">
                <a16:creationId xmlns:a16="http://schemas.microsoft.com/office/drawing/2014/main" id="{26BE0C1F-84C5-91F2-D286-2E0562C0EE4C}"/>
              </a:ext>
            </a:extLst>
          </p:cNvPr>
          <p:cNvSpPr>
            <a:spLocks noChangeArrowheads="1"/>
          </p:cNvSpPr>
          <p:nvPr/>
        </p:nvSpPr>
        <p:spPr bwMode="auto">
          <a:xfrm rot="-5400000">
            <a:off x="6161088" y="2365375"/>
            <a:ext cx="301625" cy="200025"/>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7680" name="AutoShape 21">
            <a:extLst>
              <a:ext uri="{FF2B5EF4-FFF2-40B4-BE49-F238E27FC236}">
                <a16:creationId xmlns:a16="http://schemas.microsoft.com/office/drawing/2014/main" id="{5E20D398-6F4E-F346-56EF-C9B26125E8F9}"/>
              </a:ext>
            </a:extLst>
          </p:cNvPr>
          <p:cNvSpPr>
            <a:spLocks noChangeArrowheads="1"/>
          </p:cNvSpPr>
          <p:nvPr/>
        </p:nvSpPr>
        <p:spPr bwMode="auto">
          <a:xfrm rot="5400000">
            <a:off x="6630987" y="2330451"/>
            <a:ext cx="303213" cy="201612"/>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27681" name="Text Box 26">
            <a:extLst>
              <a:ext uri="{FF2B5EF4-FFF2-40B4-BE49-F238E27FC236}">
                <a16:creationId xmlns:a16="http://schemas.microsoft.com/office/drawing/2014/main" id="{8E6DB6B3-6E4E-F5DC-3A9A-633DBF3C4E00}"/>
              </a:ext>
            </a:extLst>
          </p:cNvPr>
          <p:cNvSpPr txBox="1">
            <a:spLocks noChangeArrowheads="1"/>
          </p:cNvSpPr>
          <p:nvPr/>
        </p:nvSpPr>
        <p:spPr bwMode="auto">
          <a:xfrm>
            <a:off x="6883400" y="2355850"/>
            <a:ext cx="33655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27682" name="Text Box 28">
            <a:extLst>
              <a:ext uri="{FF2B5EF4-FFF2-40B4-BE49-F238E27FC236}">
                <a16:creationId xmlns:a16="http://schemas.microsoft.com/office/drawing/2014/main" id="{B1B6CFD7-4793-F64A-FBD2-5AA85D422034}"/>
              </a:ext>
            </a:extLst>
          </p:cNvPr>
          <p:cNvSpPr txBox="1">
            <a:spLocks noChangeArrowheads="1"/>
          </p:cNvSpPr>
          <p:nvPr/>
        </p:nvSpPr>
        <p:spPr bwMode="auto">
          <a:xfrm>
            <a:off x="5995988" y="2338388"/>
            <a:ext cx="252412"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27683" name="AutoShape 4">
            <a:extLst>
              <a:ext uri="{FF2B5EF4-FFF2-40B4-BE49-F238E27FC236}">
                <a16:creationId xmlns:a16="http://schemas.microsoft.com/office/drawing/2014/main" id="{D3946BF8-0594-FF42-46E0-6A8DDD18B88B}"/>
              </a:ext>
            </a:extLst>
          </p:cNvPr>
          <p:cNvSpPr>
            <a:spLocks noChangeArrowheads="1"/>
          </p:cNvSpPr>
          <p:nvPr/>
        </p:nvSpPr>
        <p:spPr bwMode="auto">
          <a:xfrm rot="10800000">
            <a:off x="6391275" y="2667000"/>
            <a:ext cx="303213" cy="20002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27684" name="AutoShape 11">
            <a:extLst>
              <a:ext uri="{FF2B5EF4-FFF2-40B4-BE49-F238E27FC236}">
                <a16:creationId xmlns:a16="http://schemas.microsoft.com/office/drawing/2014/main" id="{9ECEE8DA-DF7B-E7B5-9B70-38CCCC1D5666}"/>
              </a:ext>
            </a:extLst>
          </p:cNvPr>
          <p:cNvSpPr>
            <a:spLocks noChangeArrowheads="1"/>
          </p:cNvSpPr>
          <p:nvPr/>
        </p:nvSpPr>
        <p:spPr bwMode="auto">
          <a:xfrm rot="10800000" flipH="1" flipV="1">
            <a:off x="6386513" y="1398588"/>
            <a:ext cx="301625" cy="201612"/>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7685" name="Text Box 34">
            <a:extLst>
              <a:ext uri="{FF2B5EF4-FFF2-40B4-BE49-F238E27FC236}">
                <a16:creationId xmlns:a16="http://schemas.microsoft.com/office/drawing/2014/main" id="{FAE05189-5546-03D5-58BA-614CEBFC7BCE}"/>
              </a:ext>
            </a:extLst>
          </p:cNvPr>
          <p:cNvSpPr txBox="1">
            <a:spLocks noChangeArrowheads="1"/>
          </p:cNvSpPr>
          <p:nvPr/>
        </p:nvSpPr>
        <p:spPr bwMode="auto">
          <a:xfrm>
            <a:off x="6480175" y="1265238"/>
            <a:ext cx="25082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27686" name="Text Box 37">
            <a:extLst>
              <a:ext uri="{FF2B5EF4-FFF2-40B4-BE49-F238E27FC236}">
                <a16:creationId xmlns:a16="http://schemas.microsoft.com/office/drawing/2014/main" id="{AB7E1C46-CFF0-F37D-6161-401181960228}"/>
              </a:ext>
            </a:extLst>
          </p:cNvPr>
          <p:cNvSpPr txBox="1">
            <a:spLocks noChangeArrowheads="1"/>
          </p:cNvSpPr>
          <p:nvPr/>
        </p:nvSpPr>
        <p:spPr bwMode="auto">
          <a:xfrm>
            <a:off x="6461125" y="2879725"/>
            <a:ext cx="334963"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27687" name="AutoShape 14">
            <a:extLst>
              <a:ext uri="{FF2B5EF4-FFF2-40B4-BE49-F238E27FC236}">
                <a16:creationId xmlns:a16="http://schemas.microsoft.com/office/drawing/2014/main" id="{9BFDF573-6218-B799-D84F-4AEA36FBC901}"/>
              </a:ext>
            </a:extLst>
          </p:cNvPr>
          <p:cNvSpPr>
            <a:spLocks noChangeArrowheads="1"/>
          </p:cNvSpPr>
          <p:nvPr/>
        </p:nvSpPr>
        <p:spPr bwMode="auto">
          <a:xfrm rot="-5400000">
            <a:off x="6152356" y="2066132"/>
            <a:ext cx="301625" cy="201612"/>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7688" name="Text Box 28">
            <a:extLst>
              <a:ext uri="{FF2B5EF4-FFF2-40B4-BE49-F238E27FC236}">
                <a16:creationId xmlns:a16="http://schemas.microsoft.com/office/drawing/2014/main" id="{635E7648-FCEA-0ACB-2B9D-31FD3F3D9132}"/>
              </a:ext>
            </a:extLst>
          </p:cNvPr>
          <p:cNvSpPr txBox="1">
            <a:spLocks noChangeArrowheads="1"/>
          </p:cNvSpPr>
          <p:nvPr/>
        </p:nvSpPr>
        <p:spPr bwMode="auto">
          <a:xfrm>
            <a:off x="5988050" y="2041525"/>
            <a:ext cx="25241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27689" name="AutoShape 14">
            <a:extLst>
              <a:ext uri="{FF2B5EF4-FFF2-40B4-BE49-F238E27FC236}">
                <a16:creationId xmlns:a16="http://schemas.microsoft.com/office/drawing/2014/main" id="{3015DF43-698E-54E1-57A2-C1944D2A4E73}"/>
              </a:ext>
            </a:extLst>
          </p:cNvPr>
          <p:cNvSpPr>
            <a:spLocks noChangeArrowheads="1"/>
          </p:cNvSpPr>
          <p:nvPr/>
        </p:nvSpPr>
        <p:spPr bwMode="auto">
          <a:xfrm rot="-5400000">
            <a:off x="6150769" y="1739106"/>
            <a:ext cx="301625" cy="20161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7690" name="Text Box 28">
            <a:extLst>
              <a:ext uri="{FF2B5EF4-FFF2-40B4-BE49-F238E27FC236}">
                <a16:creationId xmlns:a16="http://schemas.microsoft.com/office/drawing/2014/main" id="{A5DD8C9E-664C-CB61-8705-8544E596F58E}"/>
              </a:ext>
            </a:extLst>
          </p:cNvPr>
          <p:cNvSpPr txBox="1">
            <a:spLocks noChangeArrowheads="1"/>
          </p:cNvSpPr>
          <p:nvPr/>
        </p:nvSpPr>
        <p:spPr bwMode="auto">
          <a:xfrm>
            <a:off x="5986463" y="1712913"/>
            <a:ext cx="252412"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27691" name="AutoShape 21">
            <a:extLst>
              <a:ext uri="{FF2B5EF4-FFF2-40B4-BE49-F238E27FC236}">
                <a16:creationId xmlns:a16="http://schemas.microsoft.com/office/drawing/2014/main" id="{7FBD85DB-CB0A-CC46-4FFA-CA0F970C6F42}"/>
              </a:ext>
            </a:extLst>
          </p:cNvPr>
          <p:cNvSpPr>
            <a:spLocks noChangeArrowheads="1"/>
          </p:cNvSpPr>
          <p:nvPr/>
        </p:nvSpPr>
        <p:spPr bwMode="auto">
          <a:xfrm rot="5400000">
            <a:off x="6630194" y="2020094"/>
            <a:ext cx="303213" cy="200025"/>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27692" name="Text Box 26">
            <a:extLst>
              <a:ext uri="{FF2B5EF4-FFF2-40B4-BE49-F238E27FC236}">
                <a16:creationId xmlns:a16="http://schemas.microsoft.com/office/drawing/2014/main" id="{F799ED0A-3B10-3B39-FA41-FE6A6A2B0327}"/>
              </a:ext>
            </a:extLst>
          </p:cNvPr>
          <p:cNvSpPr txBox="1">
            <a:spLocks noChangeArrowheads="1"/>
          </p:cNvSpPr>
          <p:nvPr/>
        </p:nvSpPr>
        <p:spPr bwMode="auto">
          <a:xfrm>
            <a:off x="6883400" y="2044700"/>
            <a:ext cx="334963"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27693" name="AutoShape 21">
            <a:extLst>
              <a:ext uri="{FF2B5EF4-FFF2-40B4-BE49-F238E27FC236}">
                <a16:creationId xmlns:a16="http://schemas.microsoft.com/office/drawing/2014/main" id="{87487260-5A7A-62CE-F186-A96F8DC4D50A}"/>
              </a:ext>
            </a:extLst>
          </p:cNvPr>
          <p:cNvSpPr>
            <a:spLocks noChangeArrowheads="1"/>
          </p:cNvSpPr>
          <p:nvPr/>
        </p:nvSpPr>
        <p:spPr bwMode="auto">
          <a:xfrm rot="5400000">
            <a:off x="6642894" y="1704181"/>
            <a:ext cx="301625" cy="20161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27694" name="Text Box 26">
            <a:extLst>
              <a:ext uri="{FF2B5EF4-FFF2-40B4-BE49-F238E27FC236}">
                <a16:creationId xmlns:a16="http://schemas.microsoft.com/office/drawing/2014/main" id="{40B964B6-0B97-2290-E78E-AE008F0D99AC}"/>
              </a:ext>
            </a:extLst>
          </p:cNvPr>
          <p:cNvSpPr txBox="1">
            <a:spLocks noChangeArrowheads="1"/>
          </p:cNvSpPr>
          <p:nvPr/>
        </p:nvSpPr>
        <p:spPr bwMode="auto">
          <a:xfrm>
            <a:off x="6896100" y="1730375"/>
            <a:ext cx="33496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cxnSp>
        <p:nvCxnSpPr>
          <p:cNvPr id="27695" name="Straight Arrow Connector 50">
            <a:extLst>
              <a:ext uri="{FF2B5EF4-FFF2-40B4-BE49-F238E27FC236}">
                <a16:creationId xmlns:a16="http://schemas.microsoft.com/office/drawing/2014/main" id="{B96D8EE4-289E-3019-EA50-C9FE3967BB29}"/>
              </a:ext>
            </a:extLst>
          </p:cNvPr>
          <p:cNvCxnSpPr>
            <a:cxnSpLocks noChangeShapeType="1"/>
            <a:stCxn id="27661" idx="6"/>
          </p:cNvCxnSpPr>
          <p:nvPr/>
        </p:nvCxnSpPr>
        <p:spPr bwMode="auto">
          <a:xfrm flipV="1">
            <a:off x="4752975" y="2111375"/>
            <a:ext cx="1249363" cy="46038"/>
          </a:xfrm>
          <a:prstGeom prst="straightConnector1">
            <a:avLst/>
          </a:prstGeom>
          <a:noFill/>
          <a:ln w="254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7696" name="Straight Arrow Connector 55">
            <a:extLst>
              <a:ext uri="{FF2B5EF4-FFF2-40B4-BE49-F238E27FC236}">
                <a16:creationId xmlns:a16="http://schemas.microsoft.com/office/drawing/2014/main" id="{A6C8ECDE-1804-8C5C-587D-73C8E51ADD6D}"/>
              </a:ext>
            </a:extLst>
          </p:cNvPr>
          <p:cNvCxnSpPr>
            <a:cxnSpLocks noChangeShapeType="1"/>
            <a:endCxn id="27694" idx="3"/>
          </p:cNvCxnSpPr>
          <p:nvPr/>
        </p:nvCxnSpPr>
        <p:spPr bwMode="auto">
          <a:xfrm rot="10800000">
            <a:off x="7231063" y="1846263"/>
            <a:ext cx="366712" cy="188912"/>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697" name="Straight Arrow Connector 58">
            <a:extLst>
              <a:ext uri="{FF2B5EF4-FFF2-40B4-BE49-F238E27FC236}">
                <a16:creationId xmlns:a16="http://schemas.microsoft.com/office/drawing/2014/main" id="{2DAE7097-7FAD-2D7F-D69A-868F6E4D3834}"/>
              </a:ext>
            </a:extLst>
          </p:cNvPr>
          <p:cNvCxnSpPr>
            <a:cxnSpLocks noChangeShapeType="1"/>
          </p:cNvCxnSpPr>
          <p:nvPr/>
        </p:nvCxnSpPr>
        <p:spPr bwMode="auto">
          <a:xfrm rot="10800000" flipV="1">
            <a:off x="6594475" y="1430338"/>
            <a:ext cx="695325" cy="1793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7698" name="TextBox 59">
            <a:extLst>
              <a:ext uri="{FF2B5EF4-FFF2-40B4-BE49-F238E27FC236}">
                <a16:creationId xmlns:a16="http://schemas.microsoft.com/office/drawing/2014/main" id="{09FA8D34-705B-39A6-4453-0A16B1AA33A0}"/>
              </a:ext>
            </a:extLst>
          </p:cNvPr>
          <p:cNvSpPr txBox="1">
            <a:spLocks noChangeArrowheads="1"/>
          </p:cNvSpPr>
          <p:nvPr/>
        </p:nvSpPr>
        <p:spPr bwMode="auto">
          <a:xfrm>
            <a:off x="7245350" y="1196975"/>
            <a:ext cx="189865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sz="1600">
                <a:solidFill>
                  <a:schemeClr val="tx1"/>
                </a:solidFill>
              </a:rPr>
              <a:t>prediction based</a:t>
            </a:r>
          </a:p>
          <a:p>
            <a:r>
              <a:rPr lang="en-CA" altLang="en-US" sz="1600">
                <a:solidFill>
                  <a:schemeClr val="tx1"/>
                </a:solidFill>
              </a:rPr>
              <a:t>upon </a:t>
            </a:r>
            <a:r>
              <a:rPr lang="en-CA" altLang="en-US" sz="1600" u="sng">
                <a:solidFill>
                  <a:schemeClr val="tx1"/>
                </a:solidFill>
              </a:rPr>
              <a:t>current state</a:t>
            </a:r>
            <a:r>
              <a:rPr lang="en-CA" altLang="en-US" sz="1600">
                <a:solidFill>
                  <a:schemeClr val="tx1"/>
                </a:solidFill>
              </a:rPr>
              <a:t>.</a:t>
            </a:r>
          </a:p>
        </p:txBody>
      </p:sp>
      <p:sp>
        <p:nvSpPr>
          <p:cNvPr id="27699" name="TextBox 60">
            <a:extLst>
              <a:ext uri="{FF2B5EF4-FFF2-40B4-BE49-F238E27FC236}">
                <a16:creationId xmlns:a16="http://schemas.microsoft.com/office/drawing/2014/main" id="{B394BBD9-9D02-AA83-85B2-30DB001365BC}"/>
              </a:ext>
            </a:extLst>
          </p:cNvPr>
          <p:cNvSpPr txBox="1">
            <a:spLocks noChangeArrowheads="1"/>
          </p:cNvSpPr>
          <p:nvPr/>
        </p:nvSpPr>
        <p:spPr bwMode="auto">
          <a:xfrm>
            <a:off x="7273925" y="2032000"/>
            <a:ext cx="172720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sz="1600" u="sng">
                <a:solidFill>
                  <a:schemeClr val="tx1"/>
                </a:solidFill>
              </a:rPr>
              <a:t>next state</a:t>
            </a:r>
          </a:p>
          <a:p>
            <a:r>
              <a:rPr lang="en-CA" altLang="en-US" sz="1600">
                <a:solidFill>
                  <a:schemeClr val="tx1"/>
                </a:solidFill>
              </a:rPr>
              <a:t>depends upon</a:t>
            </a:r>
          </a:p>
          <a:p>
            <a:r>
              <a:rPr lang="en-CA" altLang="en-US" sz="1600">
                <a:solidFill>
                  <a:schemeClr val="tx1"/>
                </a:solidFill>
              </a:rPr>
              <a:t>current state and</a:t>
            </a:r>
          </a:p>
          <a:p>
            <a:r>
              <a:rPr lang="en-CA" altLang="en-US" sz="1600">
                <a:solidFill>
                  <a:schemeClr val="tx1"/>
                </a:solidFill>
              </a:rPr>
              <a:t>actual outcome.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a:extLst>
              <a:ext uri="{FF2B5EF4-FFF2-40B4-BE49-F238E27FC236}">
                <a16:creationId xmlns:a16="http://schemas.microsoft.com/office/drawing/2014/main" id="{83B7B7CA-CB5F-BCD9-0AEC-81FF55E51B00}"/>
              </a:ext>
            </a:extLst>
          </p:cNvPr>
          <p:cNvSpPr>
            <a:spLocks noGrp="1" noChangeArrowheads="1"/>
          </p:cNvSpPr>
          <p:nvPr>
            <p:ph type="title"/>
          </p:nvPr>
        </p:nvSpPr>
        <p:spPr>
          <a:xfrm>
            <a:off x="685800" y="177800"/>
            <a:ext cx="7797800" cy="7493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Arial  " charset="0"/>
                <a:cs typeface="Arial  " charset="0"/>
              </a:rPr>
              <a:t>Other 2-bit predictors</a:t>
            </a:r>
            <a:br>
              <a:rPr lang="en-GB" altLang="en-US">
                <a:latin typeface="Arial  " charset="0"/>
                <a:cs typeface="Arial  " charset="0"/>
              </a:rPr>
            </a:br>
            <a:r>
              <a:rPr lang="en-GB" altLang="en-US" sz="2000">
                <a:latin typeface="Arial  " charset="0"/>
                <a:cs typeface="Arial  " charset="0"/>
              </a:rPr>
              <a:t>(there are 1000’s of possible 2-bit state machines...)</a:t>
            </a:r>
            <a:endParaRPr lang="en-GB" altLang="en-US">
              <a:latin typeface="Arial  " charset="0"/>
              <a:cs typeface="Arial  " charset="0"/>
            </a:endParaRPr>
          </a:p>
        </p:txBody>
      </p:sp>
      <p:sp>
        <p:nvSpPr>
          <p:cNvPr id="28675" name="Rectangle 2">
            <a:extLst>
              <a:ext uri="{FF2B5EF4-FFF2-40B4-BE49-F238E27FC236}">
                <a16:creationId xmlns:a16="http://schemas.microsoft.com/office/drawing/2014/main" id="{CB4C0D1A-9036-8E13-6C9A-B5D76BB71EEA}"/>
              </a:ext>
            </a:extLst>
          </p:cNvPr>
          <p:cNvSpPr>
            <a:spLocks noGrp="1" noChangeArrowheads="1"/>
          </p:cNvSpPr>
          <p:nvPr>
            <p:ph type="body" idx="1"/>
          </p:nvPr>
        </p:nvSpPr>
        <p:spPr>
          <a:xfrm>
            <a:off x="660400" y="5334000"/>
            <a:ext cx="7772400" cy="355600"/>
          </a:xfrm>
        </p:spPr>
        <p:txBody>
          <a:bodyPr/>
          <a:lstStyle/>
          <a:p>
            <a:pPr algn="ctr" eaLnBrk="1" hangingPunct="1">
              <a:lnSpc>
                <a:spcPct val="100000"/>
              </a:lnSpc>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latin typeface="Arial  " charset="0"/>
                <a:cs typeface="Arial  " charset="0"/>
              </a:rPr>
              <a:t>Study: Ravi Nair, IBM, 1992</a:t>
            </a:r>
          </a:p>
        </p:txBody>
      </p:sp>
      <p:pic>
        <p:nvPicPr>
          <p:cNvPr id="28676" name="Picture 3">
            <a:extLst>
              <a:ext uri="{FF2B5EF4-FFF2-40B4-BE49-F238E27FC236}">
                <a16:creationId xmlns:a16="http://schemas.microsoft.com/office/drawing/2014/main" id="{5899E7A8-7E88-1554-8D6E-1D5F22E50B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0500" y="1198563"/>
            <a:ext cx="58420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28677" name="Slide Number Placeholder 8">
            <a:extLst>
              <a:ext uri="{FF2B5EF4-FFF2-40B4-BE49-F238E27FC236}">
                <a16:creationId xmlns:a16="http://schemas.microsoft.com/office/drawing/2014/main" id="{28DD8E19-6C98-AF42-E15F-C2F7B77037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70277419-D1CC-F74A-A93F-136216CC71B5}" type="slidenum">
              <a:rPr lang="en-GB" altLang="en-US" sz="1400">
                <a:solidFill>
                  <a:srgbClr val="000000"/>
                </a:solidFill>
                <a:latin typeface="Arial  " charset="0"/>
              </a:rPr>
              <a:pPr/>
              <a:t>24</a:t>
            </a:fld>
            <a:r>
              <a:rPr lang="en-GB" altLang="en-US" sz="1400">
                <a:solidFill>
                  <a:srgbClr val="000000"/>
                </a:solidFill>
                <a:latin typeface="Arial  " charset="0"/>
              </a:rPr>
              <a:t> </a:t>
            </a:r>
          </a:p>
        </p:txBody>
      </p:sp>
      <p:sp>
        <p:nvSpPr>
          <p:cNvPr id="28678" name="TextBox 9">
            <a:extLst>
              <a:ext uri="{FF2B5EF4-FFF2-40B4-BE49-F238E27FC236}">
                <a16:creationId xmlns:a16="http://schemas.microsoft.com/office/drawing/2014/main" id="{758465DB-2D0F-0149-7BCC-A8147BF8BEEE}"/>
              </a:ext>
            </a:extLst>
          </p:cNvPr>
          <p:cNvSpPr txBox="1">
            <a:spLocks noChangeArrowheads="1"/>
          </p:cNvSpPr>
          <p:nvPr/>
        </p:nvSpPr>
        <p:spPr bwMode="auto">
          <a:xfrm>
            <a:off x="774700" y="5767388"/>
            <a:ext cx="6948488"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2000">
                <a:solidFill>
                  <a:srgbClr val="FF0000"/>
                </a:solidFill>
                <a:cs typeface="Arial" panose="020B0604020202020204" pitchFamily="34" charset="0"/>
              </a:rPr>
              <a:t>Saturating 2-bit counter is close to “optimal” among all 2-bit </a:t>
            </a:r>
          </a:p>
          <a:p>
            <a:r>
              <a:rPr lang="en-US" altLang="en-US" sz="2000">
                <a:solidFill>
                  <a:srgbClr val="FF0000"/>
                </a:solidFill>
                <a:cs typeface="Arial" panose="020B0604020202020204" pitchFamily="34" charset="0"/>
              </a:rPr>
              <a:t>state machines (though we will see better predictors).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638CDAA-96B0-111C-999F-C67E7F7C62FD}"/>
              </a:ext>
            </a:extLst>
          </p:cNvPr>
          <p:cNvSpPr>
            <a:spLocks noGrp="1" noChangeArrowheads="1"/>
          </p:cNvSpPr>
          <p:nvPr>
            <p:ph type="body" idx="1"/>
          </p:nvPr>
        </p:nvSpPr>
        <p:spPr>
          <a:xfrm>
            <a:off x="685800" y="2043113"/>
            <a:ext cx="7772400" cy="4052887"/>
          </a:xfrm>
        </p:spPr>
        <p:txBody>
          <a:bodyPr/>
          <a:lstStyle/>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a:latin typeface="Arial  " charset="0"/>
              <a:cs typeface="Arial  " charset="0"/>
            </a:endParaRP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Loop:     	   ...</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DSUBI  R1,R1,#1</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BNEZ   R1,Loop</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a:latin typeface="Arial  " charset="0"/>
              <a:cs typeface="Arial  " charset="0"/>
            </a:endParaRP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Assume branch is “taken” 9 times in a row then not taken (i.e., loop iterates 10 times before exiting).</a:t>
            </a:r>
          </a:p>
          <a:p>
            <a:pPr eaLnBrk="1" hangingPunct="1">
              <a:lnSpc>
                <a:spcPct val="100000"/>
              </a:lnSpc>
              <a:spcBef>
                <a:spcPts val="2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000">
              <a:latin typeface="Arial  " charset="0"/>
              <a:cs typeface="Arial  " charset="0"/>
            </a:endParaRP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a:t>
            </a:r>
          </a:p>
        </p:txBody>
      </p:sp>
      <p:sp>
        <p:nvSpPr>
          <p:cNvPr id="29699" name="Slide Number Placeholder 7">
            <a:extLst>
              <a:ext uri="{FF2B5EF4-FFF2-40B4-BE49-F238E27FC236}">
                <a16:creationId xmlns:a16="http://schemas.microsoft.com/office/drawing/2014/main" id="{CC3705F5-91E1-CAD9-E78A-33C59F06BC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4CA2186B-441E-A946-9E3A-F24A9D525D73}" type="slidenum">
              <a:rPr lang="en-GB" altLang="en-US" sz="1400">
                <a:solidFill>
                  <a:srgbClr val="000000"/>
                </a:solidFill>
                <a:latin typeface="Arial  " charset="0"/>
              </a:rPr>
              <a:pPr/>
              <a:t>25</a:t>
            </a:fld>
            <a:r>
              <a:rPr lang="en-GB" altLang="en-US" sz="1400">
                <a:solidFill>
                  <a:srgbClr val="000000"/>
                </a:solidFill>
                <a:latin typeface="Arial  " charset="0"/>
              </a:rPr>
              <a:t> </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a:extLst>
              <a:ext uri="{FF2B5EF4-FFF2-40B4-BE49-F238E27FC236}">
                <a16:creationId xmlns:a16="http://schemas.microsoft.com/office/drawing/2014/main" id="{4FCDD548-A1B4-75CE-DAC0-2CF2F783DF20}"/>
              </a:ext>
            </a:extLst>
          </p:cNvPr>
          <p:cNvSpPr>
            <a:spLocks noGrp="1" noChangeArrowheads="1"/>
          </p:cNvSpPr>
          <p:nvPr>
            <p:ph type="title"/>
          </p:nvPr>
        </p:nvSpPr>
        <p:spPr>
          <a:xfrm>
            <a:off x="673100" y="179388"/>
            <a:ext cx="8280400" cy="1190625"/>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600">
                <a:latin typeface="Arial  " charset="0"/>
                <a:cs typeface="Arial  " charset="0"/>
              </a:rPr>
              <a:t>3-bit “Saturating Counter” Predictor</a:t>
            </a:r>
            <a:br>
              <a:rPr lang="en-GB" altLang="en-US" sz="3600">
                <a:latin typeface="Arial  " charset="0"/>
                <a:cs typeface="Arial  " charset="0"/>
              </a:rPr>
            </a:br>
            <a:endParaRPr lang="en-GB" altLang="en-US" sz="3600">
              <a:latin typeface="Arial  " charset="0"/>
              <a:cs typeface="Arial  " charset="0"/>
            </a:endParaRPr>
          </a:p>
        </p:txBody>
      </p:sp>
      <p:sp>
        <p:nvSpPr>
          <p:cNvPr id="30723" name="Oval 2">
            <a:extLst>
              <a:ext uri="{FF2B5EF4-FFF2-40B4-BE49-F238E27FC236}">
                <a16:creationId xmlns:a16="http://schemas.microsoft.com/office/drawing/2014/main" id="{0409FC0F-8FBC-80C4-3864-1DB15C2CB01B}"/>
              </a:ext>
            </a:extLst>
          </p:cNvPr>
          <p:cNvSpPr>
            <a:spLocks noChangeArrowheads="1"/>
          </p:cNvSpPr>
          <p:nvPr/>
        </p:nvSpPr>
        <p:spPr bwMode="auto">
          <a:xfrm>
            <a:off x="2590800" y="220980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T</a:t>
            </a:r>
          </a:p>
          <a:p>
            <a:pPr algn="ctr" eaLnBrk="1" hangingPunct="1">
              <a:lnSpc>
                <a:spcPct val="100000"/>
              </a:lnSpc>
            </a:pPr>
            <a:r>
              <a:rPr lang="en-GB" altLang="en-US" b="1">
                <a:solidFill>
                  <a:srgbClr val="000000"/>
                </a:solidFill>
              </a:rPr>
              <a:t>100</a:t>
            </a:r>
          </a:p>
        </p:txBody>
      </p:sp>
      <p:sp>
        <p:nvSpPr>
          <p:cNvPr id="30724" name="Oval 3">
            <a:extLst>
              <a:ext uri="{FF2B5EF4-FFF2-40B4-BE49-F238E27FC236}">
                <a16:creationId xmlns:a16="http://schemas.microsoft.com/office/drawing/2014/main" id="{DC8AF81A-8CDC-0FAC-8728-4E9CC03D0CBA}"/>
              </a:ext>
            </a:extLst>
          </p:cNvPr>
          <p:cNvSpPr>
            <a:spLocks noChangeArrowheads="1"/>
          </p:cNvSpPr>
          <p:nvPr/>
        </p:nvSpPr>
        <p:spPr bwMode="auto">
          <a:xfrm>
            <a:off x="4953000" y="464820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NT</a:t>
            </a:r>
          </a:p>
          <a:p>
            <a:pPr algn="ctr" eaLnBrk="1" hangingPunct="1">
              <a:lnSpc>
                <a:spcPct val="100000"/>
              </a:lnSpc>
            </a:pPr>
            <a:r>
              <a:rPr lang="en-GB" altLang="en-US" b="1">
                <a:solidFill>
                  <a:srgbClr val="000000"/>
                </a:solidFill>
              </a:rPr>
              <a:t>000</a:t>
            </a:r>
          </a:p>
        </p:txBody>
      </p:sp>
      <p:sp>
        <p:nvSpPr>
          <p:cNvPr id="30725" name="AutoShape 4">
            <a:extLst>
              <a:ext uri="{FF2B5EF4-FFF2-40B4-BE49-F238E27FC236}">
                <a16:creationId xmlns:a16="http://schemas.microsoft.com/office/drawing/2014/main" id="{82258D4A-A79C-9112-FCA4-42228A6DEC74}"/>
              </a:ext>
            </a:extLst>
          </p:cNvPr>
          <p:cNvSpPr>
            <a:spLocks noChangeArrowheads="1"/>
          </p:cNvSpPr>
          <p:nvPr/>
        </p:nvSpPr>
        <p:spPr bwMode="auto">
          <a:xfrm rot="10800000">
            <a:off x="5257800" y="5335588"/>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0726" name="Oval 5">
            <a:extLst>
              <a:ext uri="{FF2B5EF4-FFF2-40B4-BE49-F238E27FC236}">
                <a16:creationId xmlns:a16="http://schemas.microsoft.com/office/drawing/2014/main" id="{779871E3-A56B-0948-FEB7-B1FCABEC4330}"/>
              </a:ext>
            </a:extLst>
          </p:cNvPr>
          <p:cNvSpPr>
            <a:spLocks noChangeArrowheads="1"/>
          </p:cNvSpPr>
          <p:nvPr/>
        </p:nvSpPr>
        <p:spPr bwMode="auto">
          <a:xfrm>
            <a:off x="4953000" y="388620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NT</a:t>
            </a:r>
          </a:p>
          <a:p>
            <a:pPr algn="ctr" eaLnBrk="1" hangingPunct="1">
              <a:lnSpc>
                <a:spcPct val="100000"/>
              </a:lnSpc>
            </a:pPr>
            <a:r>
              <a:rPr lang="en-GB" altLang="en-US" b="1">
                <a:solidFill>
                  <a:srgbClr val="000000"/>
                </a:solidFill>
              </a:rPr>
              <a:t>001</a:t>
            </a:r>
          </a:p>
        </p:txBody>
      </p:sp>
      <p:sp>
        <p:nvSpPr>
          <p:cNvPr id="30727" name="Oval 6">
            <a:extLst>
              <a:ext uri="{FF2B5EF4-FFF2-40B4-BE49-F238E27FC236}">
                <a16:creationId xmlns:a16="http://schemas.microsoft.com/office/drawing/2014/main" id="{4995BF01-1568-CA45-BB8E-B53BAE9A6D68}"/>
              </a:ext>
            </a:extLst>
          </p:cNvPr>
          <p:cNvSpPr>
            <a:spLocks noChangeArrowheads="1"/>
          </p:cNvSpPr>
          <p:nvPr/>
        </p:nvSpPr>
        <p:spPr bwMode="auto">
          <a:xfrm>
            <a:off x="4953000" y="304800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NT</a:t>
            </a:r>
          </a:p>
          <a:p>
            <a:pPr algn="ctr" eaLnBrk="1" hangingPunct="1">
              <a:lnSpc>
                <a:spcPct val="100000"/>
              </a:lnSpc>
            </a:pPr>
            <a:r>
              <a:rPr lang="en-GB" altLang="en-US" b="1">
                <a:solidFill>
                  <a:srgbClr val="000000"/>
                </a:solidFill>
              </a:rPr>
              <a:t>010</a:t>
            </a:r>
          </a:p>
        </p:txBody>
      </p:sp>
      <p:sp>
        <p:nvSpPr>
          <p:cNvPr id="30728" name="Oval 7">
            <a:extLst>
              <a:ext uri="{FF2B5EF4-FFF2-40B4-BE49-F238E27FC236}">
                <a16:creationId xmlns:a16="http://schemas.microsoft.com/office/drawing/2014/main" id="{AF22BEA9-006F-7FCA-30C4-46535B36940F}"/>
              </a:ext>
            </a:extLst>
          </p:cNvPr>
          <p:cNvSpPr>
            <a:spLocks noChangeArrowheads="1"/>
          </p:cNvSpPr>
          <p:nvPr/>
        </p:nvSpPr>
        <p:spPr bwMode="auto">
          <a:xfrm>
            <a:off x="4953000" y="228600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NT</a:t>
            </a:r>
          </a:p>
          <a:p>
            <a:pPr algn="ctr" eaLnBrk="1" hangingPunct="1">
              <a:lnSpc>
                <a:spcPct val="100000"/>
              </a:lnSpc>
            </a:pPr>
            <a:r>
              <a:rPr lang="en-GB" altLang="en-US" b="1">
                <a:solidFill>
                  <a:srgbClr val="000000"/>
                </a:solidFill>
              </a:rPr>
              <a:t>011</a:t>
            </a:r>
          </a:p>
        </p:txBody>
      </p:sp>
      <p:sp>
        <p:nvSpPr>
          <p:cNvPr id="30729" name="Oval 8">
            <a:extLst>
              <a:ext uri="{FF2B5EF4-FFF2-40B4-BE49-F238E27FC236}">
                <a16:creationId xmlns:a16="http://schemas.microsoft.com/office/drawing/2014/main" id="{3674341D-1DC1-D647-63C1-DED75442FCF7}"/>
              </a:ext>
            </a:extLst>
          </p:cNvPr>
          <p:cNvSpPr>
            <a:spLocks noChangeArrowheads="1"/>
          </p:cNvSpPr>
          <p:nvPr/>
        </p:nvSpPr>
        <p:spPr bwMode="auto">
          <a:xfrm>
            <a:off x="2590800" y="464820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T</a:t>
            </a:r>
          </a:p>
          <a:p>
            <a:pPr algn="ctr" eaLnBrk="1" hangingPunct="1">
              <a:lnSpc>
                <a:spcPct val="100000"/>
              </a:lnSpc>
            </a:pPr>
            <a:r>
              <a:rPr lang="en-GB" altLang="en-US" b="1">
                <a:solidFill>
                  <a:srgbClr val="000000"/>
                </a:solidFill>
              </a:rPr>
              <a:t>111</a:t>
            </a:r>
          </a:p>
        </p:txBody>
      </p:sp>
      <p:sp>
        <p:nvSpPr>
          <p:cNvPr id="30730" name="Oval 9">
            <a:extLst>
              <a:ext uri="{FF2B5EF4-FFF2-40B4-BE49-F238E27FC236}">
                <a16:creationId xmlns:a16="http://schemas.microsoft.com/office/drawing/2014/main" id="{033FC526-CE55-4418-0D4A-ADCE626E7DB1}"/>
              </a:ext>
            </a:extLst>
          </p:cNvPr>
          <p:cNvSpPr>
            <a:spLocks noChangeArrowheads="1"/>
          </p:cNvSpPr>
          <p:nvPr/>
        </p:nvSpPr>
        <p:spPr bwMode="auto">
          <a:xfrm>
            <a:off x="2590800" y="388620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T</a:t>
            </a:r>
          </a:p>
          <a:p>
            <a:pPr algn="ctr" eaLnBrk="1" hangingPunct="1">
              <a:lnSpc>
                <a:spcPct val="100000"/>
              </a:lnSpc>
            </a:pPr>
            <a:r>
              <a:rPr lang="en-GB" altLang="en-US" b="1">
                <a:solidFill>
                  <a:srgbClr val="000000"/>
                </a:solidFill>
              </a:rPr>
              <a:t>110</a:t>
            </a:r>
          </a:p>
        </p:txBody>
      </p:sp>
      <p:sp>
        <p:nvSpPr>
          <p:cNvPr id="30731" name="Oval 10">
            <a:extLst>
              <a:ext uri="{FF2B5EF4-FFF2-40B4-BE49-F238E27FC236}">
                <a16:creationId xmlns:a16="http://schemas.microsoft.com/office/drawing/2014/main" id="{750E9F0F-28B5-FFC2-3A1C-577443AD3087}"/>
              </a:ext>
            </a:extLst>
          </p:cNvPr>
          <p:cNvSpPr>
            <a:spLocks noChangeArrowheads="1"/>
          </p:cNvSpPr>
          <p:nvPr/>
        </p:nvSpPr>
        <p:spPr bwMode="auto">
          <a:xfrm>
            <a:off x="2590800" y="312420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b="1">
                <a:solidFill>
                  <a:srgbClr val="000000"/>
                </a:solidFill>
              </a:rPr>
              <a:t>T</a:t>
            </a:r>
          </a:p>
          <a:p>
            <a:pPr algn="ctr" eaLnBrk="1" hangingPunct="1">
              <a:lnSpc>
                <a:spcPct val="100000"/>
              </a:lnSpc>
            </a:pPr>
            <a:r>
              <a:rPr lang="en-GB" altLang="en-US" b="1">
                <a:solidFill>
                  <a:srgbClr val="000000"/>
                </a:solidFill>
              </a:rPr>
              <a:t>101</a:t>
            </a:r>
          </a:p>
        </p:txBody>
      </p:sp>
      <p:sp>
        <p:nvSpPr>
          <p:cNvPr id="30732" name="AutoShape 11">
            <a:extLst>
              <a:ext uri="{FF2B5EF4-FFF2-40B4-BE49-F238E27FC236}">
                <a16:creationId xmlns:a16="http://schemas.microsoft.com/office/drawing/2014/main" id="{AF470455-6CD1-5691-6385-38FF027F3E87}"/>
              </a:ext>
            </a:extLst>
          </p:cNvPr>
          <p:cNvSpPr>
            <a:spLocks noChangeArrowheads="1"/>
          </p:cNvSpPr>
          <p:nvPr/>
        </p:nvSpPr>
        <p:spPr bwMode="auto">
          <a:xfrm flipH="1" flipV="1">
            <a:off x="2895600" y="5334000"/>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733" name="AutoShape 12">
            <a:extLst>
              <a:ext uri="{FF2B5EF4-FFF2-40B4-BE49-F238E27FC236}">
                <a16:creationId xmlns:a16="http://schemas.microsoft.com/office/drawing/2014/main" id="{205105A1-0F11-FB57-9D3C-B57D70E30271}"/>
              </a:ext>
            </a:extLst>
          </p:cNvPr>
          <p:cNvSpPr>
            <a:spLocks noChangeArrowheads="1"/>
          </p:cNvSpPr>
          <p:nvPr/>
        </p:nvSpPr>
        <p:spPr bwMode="auto">
          <a:xfrm>
            <a:off x="3124200" y="1447800"/>
            <a:ext cx="2590800" cy="1447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398" y="10208"/>
                </a:moveTo>
                <a:cubicBezTo>
                  <a:pt x="19087" y="5688"/>
                  <a:pt x="15330" y="2180"/>
                  <a:pt x="10800" y="2180"/>
                </a:cubicBezTo>
                <a:cubicBezTo>
                  <a:pt x="6039" y="2181"/>
                  <a:pt x="2181" y="6039"/>
                  <a:pt x="2181" y="10800"/>
                </a:cubicBezTo>
                <a:lnTo>
                  <a:pt x="-1" y="10799"/>
                </a:lnTo>
                <a:cubicBezTo>
                  <a:pt x="0" y="4835"/>
                  <a:pt x="4835" y="0"/>
                  <a:pt x="10800" y="0"/>
                </a:cubicBezTo>
                <a:cubicBezTo>
                  <a:pt x="16476" y="-1"/>
                  <a:pt x="21184" y="4394"/>
                  <a:pt x="21574" y="10058"/>
                </a:cubicBezTo>
                <a:lnTo>
                  <a:pt x="24268" y="9872"/>
                </a:lnTo>
                <a:lnTo>
                  <a:pt x="20747" y="13915"/>
                </a:lnTo>
                <a:lnTo>
                  <a:pt x="16705" y="10393"/>
                </a:lnTo>
                <a:lnTo>
                  <a:pt x="19398" y="10208"/>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0734" name="AutoShape 13">
            <a:extLst>
              <a:ext uri="{FF2B5EF4-FFF2-40B4-BE49-F238E27FC236}">
                <a16:creationId xmlns:a16="http://schemas.microsoft.com/office/drawing/2014/main" id="{CBB9F6FE-3217-5691-FDAD-B26AC007E30F}"/>
              </a:ext>
            </a:extLst>
          </p:cNvPr>
          <p:cNvSpPr>
            <a:spLocks noChangeArrowheads="1"/>
          </p:cNvSpPr>
          <p:nvPr/>
        </p:nvSpPr>
        <p:spPr bwMode="auto">
          <a:xfrm rot="-5400000">
            <a:off x="4572000" y="44958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735" name="AutoShape 14">
            <a:extLst>
              <a:ext uri="{FF2B5EF4-FFF2-40B4-BE49-F238E27FC236}">
                <a16:creationId xmlns:a16="http://schemas.microsoft.com/office/drawing/2014/main" id="{9ABA40A6-6568-8CB0-A206-DA186B8B7A1D}"/>
              </a:ext>
            </a:extLst>
          </p:cNvPr>
          <p:cNvSpPr>
            <a:spLocks noChangeArrowheads="1"/>
          </p:cNvSpPr>
          <p:nvPr/>
        </p:nvSpPr>
        <p:spPr bwMode="auto">
          <a:xfrm rot="-5400000">
            <a:off x="4648200" y="2743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736" name="AutoShape 15">
            <a:extLst>
              <a:ext uri="{FF2B5EF4-FFF2-40B4-BE49-F238E27FC236}">
                <a16:creationId xmlns:a16="http://schemas.microsoft.com/office/drawing/2014/main" id="{87FCADEA-C5F7-705D-69EA-548B1F73F53E}"/>
              </a:ext>
            </a:extLst>
          </p:cNvPr>
          <p:cNvSpPr>
            <a:spLocks noChangeArrowheads="1"/>
          </p:cNvSpPr>
          <p:nvPr/>
        </p:nvSpPr>
        <p:spPr bwMode="auto">
          <a:xfrm rot="-5400000">
            <a:off x="4572000" y="3505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737" name="AutoShape 16">
            <a:extLst>
              <a:ext uri="{FF2B5EF4-FFF2-40B4-BE49-F238E27FC236}">
                <a16:creationId xmlns:a16="http://schemas.microsoft.com/office/drawing/2014/main" id="{3B202E16-0E9A-8882-DEC4-6D4A526F54BE}"/>
              </a:ext>
            </a:extLst>
          </p:cNvPr>
          <p:cNvSpPr>
            <a:spLocks noChangeArrowheads="1"/>
          </p:cNvSpPr>
          <p:nvPr/>
        </p:nvSpPr>
        <p:spPr bwMode="auto">
          <a:xfrm rot="5400000">
            <a:off x="3582988" y="44196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738" name="AutoShape 17">
            <a:extLst>
              <a:ext uri="{FF2B5EF4-FFF2-40B4-BE49-F238E27FC236}">
                <a16:creationId xmlns:a16="http://schemas.microsoft.com/office/drawing/2014/main" id="{3C475030-72F3-4E1B-C38D-3D158755D8A1}"/>
              </a:ext>
            </a:extLst>
          </p:cNvPr>
          <p:cNvSpPr>
            <a:spLocks noChangeArrowheads="1"/>
          </p:cNvSpPr>
          <p:nvPr/>
        </p:nvSpPr>
        <p:spPr bwMode="auto">
          <a:xfrm rot="5400000">
            <a:off x="3582988" y="35814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739" name="AutoShape 18">
            <a:extLst>
              <a:ext uri="{FF2B5EF4-FFF2-40B4-BE49-F238E27FC236}">
                <a16:creationId xmlns:a16="http://schemas.microsoft.com/office/drawing/2014/main" id="{5C8A4CFE-343D-0C52-38AD-BF741D5A8EAB}"/>
              </a:ext>
            </a:extLst>
          </p:cNvPr>
          <p:cNvSpPr>
            <a:spLocks noChangeArrowheads="1"/>
          </p:cNvSpPr>
          <p:nvPr/>
        </p:nvSpPr>
        <p:spPr bwMode="auto">
          <a:xfrm rot="5400000">
            <a:off x="3582988" y="2743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740" name="AutoShape 19">
            <a:extLst>
              <a:ext uri="{FF2B5EF4-FFF2-40B4-BE49-F238E27FC236}">
                <a16:creationId xmlns:a16="http://schemas.microsoft.com/office/drawing/2014/main" id="{7BEB1DE5-BE44-3919-8444-B683EF6FFD8E}"/>
              </a:ext>
            </a:extLst>
          </p:cNvPr>
          <p:cNvSpPr>
            <a:spLocks noChangeArrowheads="1"/>
          </p:cNvSpPr>
          <p:nvPr/>
        </p:nvSpPr>
        <p:spPr bwMode="auto">
          <a:xfrm rot="5400000">
            <a:off x="5945188" y="4267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0741" name="AutoShape 20">
            <a:extLst>
              <a:ext uri="{FF2B5EF4-FFF2-40B4-BE49-F238E27FC236}">
                <a16:creationId xmlns:a16="http://schemas.microsoft.com/office/drawing/2014/main" id="{DF1C1A22-167C-9DFD-AE0E-5278DECBCEFF}"/>
              </a:ext>
            </a:extLst>
          </p:cNvPr>
          <p:cNvSpPr>
            <a:spLocks noChangeArrowheads="1"/>
          </p:cNvSpPr>
          <p:nvPr/>
        </p:nvSpPr>
        <p:spPr bwMode="auto">
          <a:xfrm rot="5400000">
            <a:off x="5945188" y="3505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0742" name="AutoShape 21">
            <a:extLst>
              <a:ext uri="{FF2B5EF4-FFF2-40B4-BE49-F238E27FC236}">
                <a16:creationId xmlns:a16="http://schemas.microsoft.com/office/drawing/2014/main" id="{71CB9F50-C837-54DD-C03A-784933DD86BE}"/>
              </a:ext>
            </a:extLst>
          </p:cNvPr>
          <p:cNvSpPr>
            <a:spLocks noChangeArrowheads="1"/>
          </p:cNvSpPr>
          <p:nvPr/>
        </p:nvSpPr>
        <p:spPr bwMode="auto">
          <a:xfrm rot="5400000">
            <a:off x="5945188" y="2743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30743" name="AutoShape 22">
            <a:extLst>
              <a:ext uri="{FF2B5EF4-FFF2-40B4-BE49-F238E27FC236}">
                <a16:creationId xmlns:a16="http://schemas.microsoft.com/office/drawing/2014/main" id="{1D58455D-7CE8-F5C6-B26A-388C67436916}"/>
              </a:ext>
            </a:extLst>
          </p:cNvPr>
          <p:cNvSpPr>
            <a:spLocks noChangeArrowheads="1"/>
          </p:cNvSpPr>
          <p:nvPr/>
        </p:nvSpPr>
        <p:spPr bwMode="auto">
          <a:xfrm rot="-5400000">
            <a:off x="2133600" y="44196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0744" name="AutoShape 23">
            <a:extLst>
              <a:ext uri="{FF2B5EF4-FFF2-40B4-BE49-F238E27FC236}">
                <a16:creationId xmlns:a16="http://schemas.microsoft.com/office/drawing/2014/main" id="{A109101F-61E2-2DC6-3216-F1647207A6DE}"/>
              </a:ext>
            </a:extLst>
          </p:cNvPr>
          <p:cNvSpPr>
            <a:spLocks noChangeArrowheads="1"/>
          </p:cNvSpPr>
          <p:nvPr/>
        </p:nvSpPr>
        <p:spPr bwMode="auto">
          <a:xfrm rot="-5400000">
            <a:off x="2209800" y="26670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0745" name="AutoShape 24">
            <a:extLst>
              <a:ext uri="{FF2B5EF4-FFF2-40B4-BE49-F238E27FC236}">
                <a16:creationId xmlns:a16="http://schemas.microsoft.com/office/drawing/2014/main" id="{C25BB5D1-09C6-8438-9876-75A3D3C02ACF}"/>
              </a:ext>
            </a:extLst>
          </p:cNvPr>
          <p:cNvSpPr>
            <a:spLocks noChangeArrowheads="1"/>
          </p:cNvSpPr>
          <p:nvPr/>
        </p:nvSpPr>
        <p:spPr bwMode="auto">
          <a:xfrm rot="-5400000">
            <a:off x="2133600" y="34290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0746" name="AutoShape 25">
            <a:extLst>
              <a:ext uri="{FF2B5EF4-FFF2-40B4-BE49-F238E27FC236}">
                <a16:creationId xmlns:a16="http://schemas.microsoft.com/office/drawing/2014/main" id="{D2B49C2F-7826-556E-12AA-085C6296ECCC}"/>
              </a:ext>
            </a:extLst>
          </p:cNvPr>
          <p:cNvSpPr>
            <a:spLocks noChangeArrowheads="1"/>
          </p:cNvSpPr>
          <p:nvPr/>
        </p:nvSpPr>
        <p:spPr bwMode="auto">
          <a:xfrm flipH="1">
            <a:off x="3579813" y="1752600"/>
            <a:ext cx="1600200" cy="7620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747" name="Text Box 26">
            <a:extLst>
              <a:ext uri="{FF2B5EF4-FFF2-40B4-BE49-F238E27FC236}">
                <a16:creationId xmlns:a16="http://schemas.microsoft.com/office/drawing/2014/main" id="{07C2B326-A4D7-0FCF-93DE-1380A33F56DE}"/>
              </a:ext>
            </a:extLst>
          </p:cNvPr>
          <p:cNvSpPr txBox="1">
            <a:spLocks noChangeArrowheads="1"/>
          </p:cNvSpPr>
          <p:nvPr/>
        </p:nvSpPr>
        <p:spPr bwMode="auto">
          <a:xfrm>
            <a:off x="6710363" y="28194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30748" name="Text Box 27">
            <a:extLst>
              <a:ext uri="{FF2B5EF4-FFF2-40B4-BE49-F238E27FC236}">
                <a16:creationId xmlns:a16="http://schemas.microsoft.com/office/drawing/2014/main" id="{420F0B72-86C4-9495-657F-886346F1CF20}"/>
              </a:ext>
            </a:extLst>
          </p:cNvPr>
          <p:cNvSpPr txBox="1">
            <a:spLocks noChangeArrowheads="1"/>
          </p:cNvSpPr>
          <p:nvPr/>
        </p:nvSpPr>
        <p:spPr bwMode="auto">
          <a:xfrm>
            <a:off x="4119563" y="9144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30749" name="Text Box 28">
            <a:extLst>
              <a:ext uri="{FF2B5EF4-FFF2-40B4-BE49-F238E27FC236}">
                <a16:creationId xmlns:a16="http://schemas.microsoft.com/office/drawing/2014/main" id="{29777DC3-1437-BC8C-0D83-99439FECAAF9}"/>
              </a:ext>
            </a:extLst>
          </p:cNvPr>
          <p:cNvSpPr txBox="1">
            <a:spLocks noChangeArrowheads="1"/>
          </p:cNvSpPr>
          <p:nvPr/>
        </p:nvSpPr>
        <p:spPr bwMode="auto">
          <a:xfrm>
            <a:off x="4422775" y="27432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T</a:t>
            </a:r>
          </a:p>
        </p:txBody>
      </p:sp>
      <p:sp>
        <p:nvSpPr>
          <p:cNvPr id="30750" name="Text Box 29">
            <a:extLst>
              <a:ext uri="{FF2B5EF4-FFF2-40B4-BE49-F238E27FC236}">
                <a16:creationId xmlns:a16="http://schemas.microsoft.com/office/drawing/2014/main" id="{6E3397E1-5511-5EDA-17AE-F9B3FFA8BE91}"/>
              </a:ext>
            </a:extLst>
          </p:cNvPr>
          <p:cNvSpPr txBox="1">
            <a:spLocks noChangeArrowheads="1"/>
          </p:cNvSpPr>
          <p:nvPr/>
        </p:nvSpPr>
        <p:spPr bwMode="auto">
          <a:xfrm>
            <a:off x="4346575" y="35052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T</a:t>
            </a:r>
          </a:p>
        </p:txBody>
      </p:sp>
      <p:sp>
        <p:nvSpPr>
          <p:cNvPr id="30751" name="Text Box 30">
            <a:extLst>
              <a:ext uri="{FF2B5EF4-FFF2-40B4-BE49-F238E27FC236}">
                <a16:creationId xmlns:a16="http://schemas.microsoft.com/office/drawing/2014/main" id="{B9716116-1F0F-4803-AA2D-E7602122D328}"/>
              </a:ext>
            </a:extLst>
          </p:cNvPr>
          <p:cNvSpPr txBox="1">
            <a:spLocks noChangeArrowheads="1"/>
          </p:cNvSpPr>
          <p:nvPr/>
        </p:nvSpPr>
        <p:spPr bwMode="auto">
          <a:xfrm>
            <a:off x="4346575" y="44958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T</a:t>
            </a:r>
          </a:p>
        </p:txBody>
      </p:sp>
      <p:sp>
        <p:nvSpPr>
          <p:cNvPr id="30752" name="Text Box 31">
            <a:extLst>
              <a:ext uri="{FF2B5EF4-FFF2-40B4-BE49-F238E27FC236}">
                <a16:creationId xmlns:a16="http://schemas.microsoft.com/office/drawing/2014/main" id="{5B2B3FE1-4048-8E25-DE03-FA0C119B88E2}"/>
              </a:ext>
            </a:extLst>
          </p:cNvPr>
          <p:cNvSpPr txBox="1">
            <a:spLocks noChangeArrowheads="1"/>
          </p:cNvSpPr>
          <p:nvPr/>
        </p:nvSpPr>
        <p:spPr bwMode="auto">
          <a:xfrm>
            <a:off x="1833563" y="27432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30753" name="Text Box 32">
            <a:extLst>
              <a:ext uri="{FF2B5EF4-FFF2-40B4-BE49-F238E27FC236}">
                <a16:creationId xmlns:a16="http://schemas.microsoft.com/office/drawing/2014/main" id="{7C125D9D-FDCA-731D-D2B3-999B1684E081}"/>
              </a:ext>
            </a:extLst>
          </p:cNvPr>
          <p:cNvSpPr txBox="1">
            <a:spLocks noChangeArrowheads="1"/>
          </p:cNvSpPr>
          <p:nvPr/>
        </p:nvSpPr>
        <p:spPr bwMode="auto">
          <a:xfrm>
            <a:off x="1757363" y="34290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30754" name="Text Box 33">
            <a:extLst>
              <a:ext uri="{FF2B5EF4-FFF2-40B4-BE49-F238E27FC236}">
                <a16:creationId xmlns:a16="http://schemas.microsoft.com/office/drawing/2014/main" id="{81F9C68D-A7C6-D222-5A6C-23E24B0BCB09}"/>
              </a:ext>
            </a:extLst>
          </p:cNvPr>
          <p:cNvSpPr txBox="1">
            <a:spLocks noChangeArrowheads="1"/>
          </p:cNvSpPr>
          <p:nvPr/>
        </p:nvSpPr>
        <p:spPr bwMode="auto">
          <a:xfrm>
            <a:off x="1757363" y="44196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30755" name="Text Box 34">
            <a:extLst>
              <a:ext uri="{FF2B5EF4-FFF2-40B4-BE49-F238E27FC236}">
                <a16:creationId xmlns:a16="http://schemas.microsoft.com/office/drawing/2014/main" id="{41BAEE0D-93DE-1881-61C2-C5F4F741EE01}"/>
              </a:ext>
            </a:extLst>
          </p:cNvPr>
          <p:cNvSpPr txBox="1">
            <a:spLocks noChangeArrowheads="1"/>
          </p:cNvSpPr>
          <p:nvPr/>
        </p:nvSpPr>
        <p:spPr bwMode="auto">
          <a:xfrm>
            <a:off x="3203575" y="59436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T</a:t>
            </a:r>
          </a:p>
        </p:txBody>
      </p:sp>
      <p:sp>
        <p:nvSpPr>
          <p:cNvPr id="30756" name="Text Box 35">
            <a:extLst>
              <a:ext uri="{FF2B5EF4-FFF2-40B4-BE49-F238E27FC236}">
                <a16:creationId xmlns:a16="http://schemas.microsoft.com/office/drawing/2014/main" id="{E7681C09-0FB2-9052-5D03-2442EACD6C22}"/>
              </a:ext>
            </a:extLst>
          </p:cNvPr>
          <p:cNvSpPr txBox="1">
            <a:spLocks noChangeArrowheads="1"/>
          </p:cNvSpPr>
          <p:nvPr/>
        </p:nvSpPr>
        <p:spPr bwMode="auto">
          <a:xfrm>
            <a:off x="6786563" y="35814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30757" name="Text Box 36">
            <a:extLst>
              <a:ext uri="{FF2B5EF4-FFF2-40B4-BE49-F238E27FC236}">
                <a16:creationId xmlns:a16="http://schemas.microsoft.com/office/drawing/2014/main" id="{E7EC6A24-6689-910F-1144-37504BFE06C8}"/>
              </a:ext>
            </a:extLst>
          </p:cNvPr>
          <p:cNvSpPr txBox="1">
            <a:spLocks noChangeArrowheads="1"/>
          </p:cNvSpPr>
          <p:nvPr/>
        </p:nvSpPr>
        <p:spPr bwMode="auto">
          <a:xfrm>
            <a:off x="6786563" y="43434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30758" name="Text Box 37">
            <a:extLst>
              <a:ext uri="{FF2B5EF4-FFF2-40B4-BE49-F238E27FC236}">
                <a16:creationId xmlns:a16="http://schemas.microsoft.com/office/drawing/2014/main" id="{DF40BB63-5FA8-78B9-52A6-4BC1E2D84E69}"/>
              </a:ext>
            </a:extLst>
          </p:cNvPr>
          <p:cNvSpPr txBox="1">
            <a:spLocks noChangeArrowheads="1"/>
          </p:cNvSpPr>
          <p:nvPr/>
        </p:nvSpPr>
        <p:spPr bwMode="auto">
          <a:xfrm>
            <a:off x="5491163" y="6019800"/>
            <a:ext cx="58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NT</a:t>
            </a:r>
          </a:p>
        </p:txBody>
      </p:sp>
      <p:sp>
        <p:nvSpPr>
          <p:cNvPr id="30759" name="Text Box 38">
            <a:extLst>
              <a:ext uri="{FF2B5EF4-FFF2-40B4-BE49-F238E27FC236}">
                <a16:creationId xmlns:a16="http://schemas.microsoft.com/office/drawing/2014/main" id="{62EFAC35-F4E9-AA82-BF92-90949CE70F6D}"/>
              </a:ext>
            </a:extLst>
          </p:cNvPr>
          <p:cNvSpPr txBox="1">
            <a:spLocks noChangeArrowheads="1"/>
          </p:cNvSpPr>
          <p:nvPr/>
        </p:nvSpPr>
        <p:spPr bwMode="auto">
          <a:xfrm>
            <a:off x="4194175" y="20574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b="1">
                <a:solidFill>
                  <a:srgbClr val="000000"/>
                </a:solidFill>
              </a:rPr>
              <a:t>T</a:t>
            </a:r>
          </a:p>
        </p:txBody>
      </p:sp>
      <p:sp>
        <p:nvSpPr>
          <p:cNvPr id="30760" name="Slide Number Placeholder 43">
            <a:extLst>
              <a:ext uri="{FF2B5EF4-FFF2-40B4-BE49-F238E27FC236}">
                <a16:creationId xmlns:a16="http://schemas.microsoft.com/office/drawing/2014/main" id="{6714D252-B766-0D56-D354-FB06DF26FA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57A5B3FE-BB6E-7D47-8897-671E7064C1F8}" type="slidenum">
              <a:rPr lang="en-GB" altLang="en-US" sz="1400">
                <a:solidFill>
                  <a:srgbClr val="000000"/>
                </a:solidFill>
                <a:latin typeface="Arial  " charset="0"/>
              </a:rPr>
              <a:pPr/>
              <a:t>26</a:t>
            </a:fld>
            <a:r>
              <a:rPr lang="en-GB" altLang="en-US" sz="1400">
                <a:solidFill>
                  <a:srgbClr val="000000"/>
                </a:solidFill>
                <a:latin typeface="Arial  " charset="0"/>
              </a:rPr>
              <a:t> </a:t>
            </a:r>
          </a:p>
        </p:txBody>
      </p:sp>
      <p:sp>
        <p:nvSpPr>
          <p:cNvPr id="30761" name="TextBox 42">
            <a:extLst>
              <a:ext uri="{FF2B5EF4-FFF2-40B4-BE49-F238E27FC236}">
                <a16:creationId xmlns:a16="http://schemas.microsoft.com/office/drawing/2014/main" id="{B6966F76-99CF-9892-05DF-F072F09D6C7B}"/>
              </a:ext>
            </a:extLst>
          </p:cNvPr>
          <p:cNvSpPr txBox="1">
            <a:spLocks noChangeArrowheads="1"/>
          </p:cNvSpPr>
          <p:nvPr/>
        </p:nvSpPr>
        <p:spPr bwMode="auto">
          <a:xfrm>
            <a:off x="279400" y="1041400"/>
            <a:ext cx="28511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2000">
                <a:solidFill>
                  <a:srgbClr val="008000"/>
                </a:solidFill>
              </a:rPr>
              <a:t>Can increase to N-bits</a:t>
            </a:r>
          </a:p>
          <a:p>
            <a:r>
              <a:rPr lang="en-US" altLang="en-US" sz="2000">
                <a:solidFill>
                  <a:srgbClr val="008000"/>
                </a:solidFill>
              </a:rPr>
              <a:t>(but diminishing returns</a:t>
            </a:r>
          </a:p>
          <a:p>
            <a:r>
              <a:rPr lang="en-US" altLang="en-US" sz="2000">
                <a:solidFill>
                  <a:srgbClr val="008000"/>
                </a:solidFill>
              </a:rPr>
              <a:t>as N grows)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a:extLst>
              <a:ext uri="{FF2B5EF4-FFF2-40B4-BE49-F238E27FC236}">
                <a16:creationId xmlns:a16="http://schemas.microsoft.com/office/drawing/2014/main" id="{8CB23CB8-94C9-FE7D-C6B4-24C70E192F73}"/>
              </a:ext>
            </a:extLst>
          </p:cNvPr>
          <p:cNvSpPr>
            <a:spLocks noGrp="1" noChangeArrowheads="1"/>
          </p:cNvSpPr>
          <p:nvPr>
            <p:ph type="title"/>
          </p:nvPr>
        </p:nvSpPr>
        <p:spPr>
          <a:xfrm>
            <a:off x="685800" y="-250825"/>
            <a:ext cx="7769225" cy="1462088"/>
          </a:xfrm>
        </p:spPr>
        <p:txBody>
          <a:bodyPr lIns="0" tIns="0" rIns="0" bIns="0"/>
          <a:lstStyle/>
          <a:p>
            <a:pPr eaLnBrk="1" hangingPunct="1">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sz="3600">
                <a:latin typeface="Arial  " charset="0"/>
                <a:cs typeface="Arial  " charset="0"/>
              </a:rPr>
              <a:t>Branch Prediction “FAQ”</a:t>
            </a:r>
          </a:p>
        </p:txBody>
      </p:sp>
      <p:sp>
        <p:nvSpPr>
          <p:cNvPr id="31747" name="Rectangle 2">
            <a:extLst>
              <a:ext uri="{FF2B5EF4-FFF2-40B4-BE49-F238E27FC236}">
                <a16:creationId xmlns:a16="http://schemas.microsoft.com/office/drawing/2014/main" id="{C2DDE58B-4326-C746-E055-C28FD3A272B9}"/>
              </a:ext>
            </a:extLst>
          </p:cNvPr>
          <p:cNvSpPr>
            <a:spLocks noGrp="1" noChangeArrowheads="1"/>
          </p:cNvSpPr>
          <p:nvPr>
            <p:ph type="body" idx="1"/>
          </p:nvPr>
        </p:nvSpPr>
        <p:spPr>
          <a:xfrm>
            <a:off x="652463" y="965200"/>
            <a:ext cx="7769225" cy="5473700"/>
          </a:xfrm>
        </p:spPr>
        <p:txBody>
          <a:bodyPr lIns="0" tIns="0" rIns="0" bIns="0"/>
          <a:lstStyle/>
          <a:p>
            <a:pPr eaLnBrk="1" hangingPunct="1">
              <a:lnSpc>
                <a:spcPct val="106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sz="2000" b="1">
                <a:latin typeface="Arial  " charset="0"/>
                <a:cs typeface="Arial  " charset="0"/>
              </a:rPr>
              <a:t>Important</a:t>
            </a:r>
            <a:r>
              <a:rPr lang="en-GB" altLang="en-US" sz="2000">
                <a:latin typeface="Arial  " charset="0"/>
                <a:cs typeface="Arial  " charset="0"/>
              </a:rPr>
              <a:t>: </a:t>
            </a:r>
            <a:r>
              <a:rPr lang="en-GB" altLang="en-US" sz="2000">
                <a:solidFill>
                  <a:srgbClr val="0000FF"/>
                </a:solidFill>
                <a:latin typeface="Arial  " charset="0"/>
                <a:cs typeface="Arial  " charset="0"/>
              </a:rPr>
              <a:t>Branch predictor only makes </a:t>
            </a:r>
            <a:r>
              <a:rPr lang="en-GB" altLang="en-US" sz="2000" i="1">
                <a:solidFill>
                  <a:srgbClr val="0000FF"/>
                </a:solidFill>
                <a:latin typeface="Arial  " charset="0"/>
                <a:cs typeface="Arial  " charset="0"/>
              </a:rPr>
              <a:t>predictions</a:t>
            </a:r>
            <a:r>
              <a:rPr lang="en-GB" altLang="en-US" sz="2000">
                <a:solidFill>
                  <a:srgbClr val="0000FF"/>
                </a:solidFill>
                <a:latin typeface="Arial  " charset="0"/>
                <a:cs typeface="Arial  " charset="0"/>
              </a:rPr>
              <a:t>.  </a:t>
            </a:r>
            <a:r>
              <a:rPr lang="en-GB" altLang="en-US" sz="2000">
                <a:solidFill>
                  <a:srgbClr val="FF00FF"/>
                </a:solidFill>
                <a:latin typeface="Arial  " charset="0"/>
                <a:cs typeface="Arial  " charset="0"/>
              </a:rPr>
              <a:t>Correct predictions NOT necessary for correct program execution.</a:t>
            </a:r>
            <a:r>
              <a:rPr lang="en-GB" altLang="en-US" sz="2000">
                <a:latin typeface="Arial  " charset="0"/>
                <a:cs typeface="Arial  " charset="0"/>
              </a:rPr>
              <a:t> </a:t>
            </a:r>
            <a:r>
              <a:rPr lang="en-GB" altLang="en-US" sz="2000">
                <a:solidFill>
                  <a:srgbClr val="00B050"/>
                </a:solidFill>
                <a:latin typeface="Arial  " charset="0"/>
                <a:cs typeface="Arial  " charset="0"/>
              </a:rPr>
              <a:t>Correct predictions improve performance.</a:t>
            </a:r>
            <a:r>
              <a:rPr lang="en-GB" altLang="en-US" sz="2000">
                <a:latin typeface="Arial  " charset="0"/>
                <a:cs typeface="Arial  " charset="0"/>
              </a:rPr>
              <a:t>  Hardware must check if predictions were correct when branch is executed. If wrong, “throw out” instructions following branch and start fetching again.</a:t>
            </a:r>
          </a:p>
          <a:p>
            <a:pPr eaLnBrk="1" hangingPunct="1">
              <a:lnSpc>
                <a:spcPct val="106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endParaRPr lang="en-GB" altLang="en-US" sz="2000">
              <a:latin typeface="Arial  " charset="0"/>
              <a:cs typeface="Arial  " charset="0"/>
            </a:endParaRPr>
          </a:p>
          <a:p>
            <a:pPr eaLnBrk="1" hangingPunct="1">
              <a:lnSpc>
                <a:spcPct val="106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sz="2000">
                <a:solidFill>
                  <a:srgbClr val="00B050"/>
                </a:solidFill>
                <a:latin typeface="Arial  " charset="0"/>
                <a:cs typeface="Arial  " charset="0"/>
              </a:rPr>
              <a:t>Branch predictor used to reduce CPI (increase performance)</a:t>
            </a:r>
          </a:p>
          <a:p>
            <a:pPr eaLnBrk="1" hangingPunct="1">
              <a:lnSpc>
                <a:spcPct val="106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sz="2000">
                <a:solidFill>
                  <a:srgbClr val="FF00FF"/>
                </a:solidFill>
                <a:latin typeface="Arial  " charset="0"/>
                <a:cs typeface="Arial  " charset="0"/>
              </a:rPr>
              <a:t>There is a trade off between predictor size (silicon area), and the accuracy of the predictor.</a:t>
            </a:r>
          </a:p>
          <a:p>
            <a:pPr eaLnBrk="1" hangingPunct="1">
              <a:lnSpc>
                <a:spcPct val="106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sz="2000">
                <a:latin typeface="Arial  " charset="0"/>
                <a:cs typeface="Arial  " charset="0"/>
              </a:rPr>
              <a:t>Significant innovation in branch predictor design 1985-2005.</a:t>
            </a:r>
          </a:p>
          <a:p>
            <a:pPr eaLnBrk="1" hangingPunct="1">
              <a:lnSpc>
                <a:spcPct val="106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sz="2000">
                <a:latin typeface="Arial  " charset="0"/>
                <a:cs typeface="Arial  " charset="0"/>
              </a:rPr>
              <a:t>Typically around 95% correct prediction rate on real programs with </a:t>
            </a:r>
            <a:r>
              <a:rPr lang="en-GB" altLang="en-US" sz="2000" i="1" u="sng">
                <a:latin typeface="Arial  " charset="0"/>
                <a:cs typeface="Arial  " charset="0"/>
              </a:rPr>
              <a:t>sophisticated</a:t>
            </a:r>
            <a:r>
              <a:rPr lang="en-GB" altLang="en-US" sz="2000">
                <a:latin typeface="Arial  " charset="0"/>
                <a:cs typeface="Arial  " charset="0"/>
              </a:rPr>
              <a:t> predictor designs (1-bit predictor: ~70-80%)</a:t>
            </a:r>
          </a:p>
          <a:p>
            <a:pPr eaLnBrk="1" hangingPunct="1">
              <a:lnSpc>
                <a:spcPct val="106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sz="2000">
                <a:latin typeface="Arial  " charset="0"/>
                <a:cs typeface="Arial  " charset="0"/>
              </a:rPr>
              <a:t>Further improvements? Example: Going from 96% to 99% accuracy (factor of 4 fewer mispredictions) might uncover roughly twice as much instruction level parallelism in a typical program.</a:t>
            </a:r>
          </a:p>
        </p:txBody>
      </p:sp>
      <p:sp>
        <p:nvSpPr>
          <p:cNvPr id="31748" name="Slide Number Placeholder 7">
            <a:extLst>
              <a:ext uri="{FF2B5EF4-FFF2-40B4-BE49-F238E27FC236}">
                <a16:creationId xmlns:a16="http://schemas.microsoft.com/office/drawing/2014/main" id="{1AD52204-AF17-A937-C5EC-AA1BFB145CA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DBCE0019-1D80-A545-A166-D252428C3973}" type="slidenum">
              <a:rPr lang="en-GB" altLang="en-US" sz="1400">
                <a:solidFill>
                  <a:srgbClr val="000000"/>
                </a:solidFill>
                <a:latin typeface="Arial  " charset="0"/>
              </a:rPr>
              <a:pPr/>
              <a:t>27</a:t>
            </a:fld>
            <a:r>
              <a:rPr lang="en-GB" altLang="en-US" sz="1400">
                <a:solidFill>
                  <a:srgbClr val="000000"/>
                </a:solidFill>
                <a:latin typeface="Arial  " charset="0"/>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a:extLst>
              <a:ext uri="{FF2B5EF4-FFF2-40B4-BE49-F238E27FC236}">
                <a16:creationId xmlns:a16="http://schemas.microsoft.com/office/drawing/2014/main" id="{58A5EB29-7361-3F41-1592-F1A546093019}"/>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Arial  " charset="0"/>
                <a:cs typeface="Arial  " charset="0"/>
              </a:rPr>
              <a:t>Branch Target Buffer (BTB)</a:t>
            </a:r>
          </a:p>
        </p:txBody>
      </p:sp>
      <p:sp>
        <p:nvSpPr>
          <p:cNvPr id="32771" name="Rectangle 2">
            <a:extLst>
              <a:ext uri="{FF2B5EF4-FFF2-40B4-BE49-F238E27FC236}">
                <a16:creationId xmlns:a16="http://schemas.microsoft.com/office/drawing/2014/main" id="{70FEE09E-8F6D-F2B3-F148-62122545BFBF}"/>
              </a:ext>
            </a:extLst>
          </p:cNvPr>
          <p:cNvSpPr>
            <a:spLocks noGrp="1" noChangeArrowheads="1"/>
          </p:cNvSpPr>
          <p:nvPr>
            <p:ph type="body" idx="1"/>
          </p:nvPr>
        </p:nvSpPr>
        <p:spPr>
          <a:xfrm>
            <a:off x="762000" y="4876800"/>
            <a:ext cx="7772400" cy="1781175"/>
          </a:xfrm>
        </p:spPr>
        <p:txBody>
          <a:bodyPr lIns="0" tIns="0" rIns="0" bIns="0"/>
          <a:lstStyle/>
          <a:p>
            <a:pPr eaLnBrk="1" hangingPunct="1">
              <a:lnSpc>
                <a:spcPct val="106000"/>
              </a:lnSpc>
            </a:pPr>
            <a:r>
              <a:rPr lang="en-US" altLang="en-US" sz="1800" dirty="0">
                <a:latin typeface="Arial  " charset="0"/>
                <a:cs typeface="Arial  " charset="0"/>
              </a:rPr>
              <a:t>Many ways to perform “look up” operation</a:t>
            </a:r>
          </a:p>
          <a:p>
            <a:pPr lvl="1" eaLnBrk="1" hangingPunct="1">
              <a:lnSpc>
                <a:spcPct val="106000"/>
              </a:lnSpc>
            </a:pPr>
            <a:r>
              <a:rPr lang="en-US" altLang="en-US" sz="1600" dirty="0">
                <a:latin typeface="Arial  " charset="0"/>
                <a:cs typeface="Arial  " charset="0"/>
              </a:rPr>
              <a:t>Simplest is to use m bits of PC to select a single row to compare left hand side address against entire PC (this is called a “direct mapped” cache structure) </a:t>
            </a:r>
          </a:p>
          <a:p>
            <a:pPr eaLnBrk="1" hangingPunct="1">
              <a:lnSpc>
                <a:spcPct val="106000"/>
              </a:lnSpc>
            </a:pPr>
            <a:r>
              <a:rPr lang="en-US" altLang="en-US" sz="1800" dirty="0">
                <a:latin typeface="Arial  " charset="0"/>
                <a:cs typeface="Arial  " charset="0"/>
              </a:rPr>
              <a:t>BTB is a form of cache</a:t>
            </a:r>
            <a:endParaRPr lang="en-US" altLang="en-US" dirty="0">
              <a:latin typeface="Arial  " charset="0"/>
              <a:cs typeface="Arial  " charset="0"/>
            </a:endParaRPr>
          </a:p>
        </p:txBody>
      </p:sp>
      <p:pic>
        <p:nvPicPr>
          <p:cNvPr id="32772" name="Picture 3">
            <a:extLst>
              <a:ext uri="{FF2B5EF4-FFF2-40B4-BE49-F238E27FC236}">
                <a16:creationId xmlns:a16="http://schemas.microsoft.com/office/drawing/2014/main" id="{89312F9C-D0FD-516D-CEF1-5F8ED95A88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384300"/>
            <a:ext cx="5284788" cy="354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32773" name="Rectangle 5">
            <a:extLst>
              <a:ext uri="{FF2B5EF4-FFF2-40B4-BE49-F238E27FC236}">
                <a16:creationId xmlns:a16="http://schemas.microsoft.com/office/drawing/2014/main" id="{893E5D3D-0C5F-63A6-D7B0-7A1452396EDD}"/>
              </a:ext>
            </a:extLst>
          </p:cNvPr>
          <p:cNvSpPr>
            <a:spLocks noChangeArrowheads="1"/>
          </p:cNvSpPr>
          <p:nvPr/>
        </p:nvSpPr>
        <p:spPr bwMode="auto">
          <a:xfrm>
            <a:off x="6096000" y="1676400"/>
            <a:ext cx="838200" cy="2971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2774" name="Rectangle 6">
            <a:extLst>
              <a:ext uri="{FF2B5EF4-FFF2-40B4-BE49-F238E27FC236}">
                <a16:creationId xmlns:a16="http://schemas.microsoft.com/office/drawing/2014/main" id="{3CA44C4F-E820-EA5F-F7AA-629D2F783842}"/>
              </a:ext>
            </a:extLst>
          </p:cNvPr>
          <p:cNvSpPr>
            <a:spLocks noChangeArrowheads="1"/>
          </p:cNvSpPr>
          <p:nvPr/>
        </p:nvSpPr>
        <p:spPr bwMode="auto">
          <a:xfrm>
            <a:off x="5486400" y="3810000"/>
            <a:ext cx="2286000" cy="838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latin typeface="Comic Sans MS" panose="030F0902030302020204" pitchFamily="66" charset="0"/>
              </a:rPr>
              <a:t>Predicted (target) PC of </a:t>
            </a:r>
          </a:p>
          <a:p>
            <a:r>
              <a:rPr lang="en-US" altLang="en-US" sz="1000">
                <a:solidFill>
                  <a:schemeClr val="tx1"/>
                </a:solidFill>
                <a:latin typeface="Comic Sans MS" panose="030F0902030302020204" pitchFamily="66" charset="0"/>
              </a:rPr>
              <a:t>branch or jump instruction</a:t>
            </a:r>
            <a:endParaRPr lang="en-US" altLang="en-US" sz="1200">
              <a:solidFill>
                <a:schemeClr val="tx1"/>
              </a:solidFill>
            </a:endParaRPr>
          </a:p>
        </p:txBody>
      </p:sp>
      <p:sp>
        <p:nvSpPr>
          <p:cNvPr id="32775" name="Oval 7">
            <a:extLst>
              <a:ext uri="{FF2B5EF4-FFF2-40B4-BE49-F238E27FC236}">
                <a16:creationId xmlns:a16="http://schemas.microsoft.com/office/drawing/2014/main" id="{A58AE3BF-5DE2-258C-E52E-E589E9CDFC1B}"/>
              </a:ext>
            </a:extLst>
          </p:cNvPr>
          <p:cNvSpPr>
            <a:spLocks noChangeArrowheads="1"/>
          </p:cNvSpPr>
          <p:nvPr/>
        </p:nvSpPr>
        <p:spPr bwMode="auto">
          <a:xfrm>
            <a:off x="3276600" y="1752600"/>
            <a:ext cx="1066800" cy="3810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2776" name="Line 8">
            <a:extLst>
              <a:ext uri="{FF2B5EF4-FFF2-40B4-BE49-F238E27FC236}">
                <a16:creationId xmlns:a16="http://schemas.microsoft.com/office/drawing/2014/main" id="{60272023-3C2C-C1B3-E89D-A7647872028B}"/>
              </a:ext>
            </a:extLst>
          </p:cNvPr>
          <p:cNvSpPr>
            <a:spLocks noChangeShapeType="1"/>
          </p:cNvSpPr>
          <p:nvPr/>
        </p:nvSpPr>
        <p:spPr bwMode="auto">
          <a:xfrm>
            <a:off x="5486400" y="3886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77" name="Text Box 10">
            <a:extLst>
              <a:ext uri="{FF2B5EF4-FFF2-40B4-BE49-F238E27FC236}">
                <a16:creationId xmlns:a16="http://schemas.microsoft.com/office/drawing/2014/main" id="{C5232F40-0FBA-E8BC-192D-47DFFED4D7CB}"/>
              </a:ext>
            </a:extLst>
          </p:cNvPr>
          <p:cNvSpPr txBox="1">
            <a:spLocks noChangeArrowheads="1"/>
          </p:cNvSpPr>
          <p:nvPr/>
        </p:nvSpPr>
        <p:spPr bwMode="auto">
          <a:xfrm>
            <a:off x="2895600" y="2400300"/>
            <a:ext cx="1033463" cy="4873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rgbClr val="FF0000"/>
                </a:solidFill>
                <a:latin typeface="Comic Sans MS" panose="030F0902030302020204" pitchFamily="66" charset="0"/>
              </a:rPr>
              <a:t>“tags”</a:t>
            </a:r>
            <a:endParaRPr lang="en-US" altLang="en-US">
              <a:latin typeface="Comic Sans MS" panose="030F0902030302020204" pitchFamily="66" charset="0"/>
            </a:endParaRPr>
          </a:p>
        </p:txBody>
      </p:sp>
      <p:sp>
        <p:nvSpPr>
          <p:cNvPr id="32778" name="Text Box 12">
            <a:extLst>
              <a:ext uri="{FF2B5EF4-FFF2-40B4-BE49-F238E27FC236}">
                <a16:creationId xmlns:a16="http://schemas.microsoft.com/office/drawing/2014/main" id="{1FA5D2CE-FFAC-6ED1-202C-3141FC25DC8D}"/>
              </a:ext>
            </a:extLst>
          </p:cNvPr>
          <p:cNvSpPr txBox="1">
            <a:spLocks noChangeArrowheads="1"/>
          </p:cNvSpPr>
          <p:nvPr/>
        </p:nvSpPr>
        <p:spPr bwMode="auto">
          <a:xfrm>
            <a:off x="4495800" y="2408238"/>
            <a:ext cx="1489075" cy="4873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rgbClr val="FF0000"/>
                </a:solidFill>
                <a:latin typeface="Comic Sans MS" panose="030F0902030302020204" pitchFamily="66" charset="0"/>
              </a:rPr>
              <a:t>“targets”</a:t>
            </a:r>
            <a:endParaRPr lang="en-US" altLang="en-US">
              <a:latin typeface="Comic Sans MS" panose="030F0902030302020204" pitchFamily="66" charset="0"/>
            </a:endParaRPr>
          </a:p>
        </p:txBody>
      </p:sp>
      <p:sp>
        <p:nvSpPr>
          <p:cNvPr id="32779" name="Slide Number Placeholder 14">
            <a:extLst>
              <a:ext uri="{FF2B5EF4-FFF2-40B4-BE49-F238E27FC236}">
                <a16:creationId xmlns:a16="http://schemas.microsoft.com/office/drawing/2014/main" id="{36522CEB-833A-CE1B-4382-3D29FFAAE7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9DE8396F-5D7B-6446-917D-9A642BA607F3}" type="slidenum">
              <a:rPr lang="en-GB" altLang="en-US" sz="1400">
                <a:solidFill>
                  <a:srgbClr val="000000"/>
                </a:solidFill>
                <a:latin typeface="Arial  " charset="0"/>
              </a:rPr>
              <a:pPr/>
              <a:t>28</a:t>
            </a:fld>
            <a:r>
              <a:rPr lang="en-GB" altLang="en-US" sz="1400">
                <a:solidFill>
                  <a:srgbClr val="000000"/>
                </a:solidFill>
                <a:latin typeface="Arial  " charset="0"/>
              </a:rPr>
              <a:t> </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a:extLst>
              <a:ext uri="{FF2B5EF4-FFF2-40B4-BE49-F238E27FC236}">
                <a16:creationId xmlns:a16="http://schemas.microsoft.com/office/drawing/2014/main" id="{7601411D-8C1E-11A4-469D-03E310EC5EC7}"/>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latin typeface="Arial  " charset="-52"/>
              </a:rPr>
              <a:t>Putting it all together: BP + BTB</a:t>
            </a:r>
          </a:p>
        </p:txBody>
      </p:sp>
      <p:sp>
        <p:nvSpPr>
          <p:cNvPr id="35843" name="Rectangle 2">
            <a:extLst>
              <a:ext uri="{FF2B5EF4-FFF2-40B4-BE49-F238E27FC236}">
                <a16:creationId xmlns:a16="http://schemas.microsoft.com/office/drawing/2014/main" id="{A96AC44E-E645-DC2F-5192-BB614D23E484}"/>
              </a:ext>
            </a:extLst>
          </p:cNvPr>
          <p:cNvSpPr>
            <a:spLocks noGrp="1" noChangeArrowheads="1"/>
          </p:cNvSpPr>
          <p:nvPr>
            <p:ph type="body" idx="1"/>
          </p:nvPr>
        </p:nvSpPr>
        <p:spPr>
          <a:xfrm>
            <a:off x="227013" y="5957093"/>
            <a:ext cx="8229600" cy="804863"/>
          </a:xfrm>
        </p:spPr>
        <p:txBody>
          <a:bodyPr/>
          <a:lstStyle/>
          <a:p>
            <a:pPr eaLnBrk="1" hangingPunct="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Arial  " charset="-52"/>
              </a:rPr>
              <a:t>Prediction from BP used to select new PC value</a:t>
            </a:r>
          </a:p>
          <a:p>
            <a:pPr eaLnBrk="1" hangingPunct="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Arial  " charset="-52"/>
              </a:rPr>
              <a:t>Not shown: Inputs to BTB and BP for training.</a:t>
            </a:r>
          </a:p>
        </p:txBody>
      </p:sp>
      <p:sp>
        <p:nvSpPr>
          <p:cNvPr id="35844" name="Rectangle 3">
            <a:extLst>
              <a:ext uri="{FF2B5EF4-FFF2-40B4-BE49-F238E27FC236}">
                <a16:creationId xmlns:a16="http://schemas.microsoft.com/office/drawing/2014/main" id="{04054CB6-A883-1647-497B-3E5E267DBDE3}"/>
              </a:ext>
            </a:extLst>
          </p:cNvPr>
          <p:cNvSpPr>
            <a:spLocks noChangeArrowheads="1"/>
          </p:cNvSpPr>
          <p:nvPr/>
        </p:nvSpPr>
        <p:spPr bwMode="auto">
          <a:xfrm>
            <a:off x="3657600" y="1612900"/>
            <a:ext cx="990600" cy="762000"/>
          </a:xfrm>
          <a:prstGeom prst="rect">
            <a:avLst/>
          </a:prstGeom>
          <a:solidFill>
            <a:srgbClr val="BBE0E3"/>
          </a:solidFill>
          <a:ln w="57150">
            <a:solidFill>
              <a:srgbClr val="FF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lnSpc>
                <a:spcPct val="100000"/>
              </a:lnSpc>
            </a:pPr>
            <a:r>
              <a:rPr lang="en-GB" altLang="en-US" sz="1600" b="1">
                <a:solidFill>
                  <a:srgbClr val="000000"/>
                </a:solidFill>
              </a:rPr>
              <a:t>Branch-</a:t>
            </a:r>
            <a:br>
              <a:rPr lang="en-GB" altLang="en-US" sz="1600" b="1">
                <a:solidFill>
                  <a:srgbClr val="000000"/>
                </a:solidFill>
              </a:rPr>
            </a:br>
            <a:r>
              <a:rPr lang="en-GB" altLang="en-US" sz="1600" b="1">
                <a:solidFill>
                  <a:srgbClr val="000000"/>
                </a:solidFill>
              </a:rPr>
              <a:t>Target</a:t>
            </a:r>
            <a:br>
              <a:rPr lang="en-GB" altLang="en-US" sz="1600" b="1">
                <a:solidFill>
                  <a:srgbClr val="000000"/>
                </a:solidFill>
              </a:rPr>
            </a:br>
            <a:r>
              <a:rPr lang="en-GB" altLang="en-US" sz="1600" b="1">
                <a:solidFill>
                  <a:srgbClr val="000000"/>
                </a:solidFill>
              </a:rPr>
              <a:t>Buffer</a:t>
            </a:r>
          </a:p>
        </p:txBody>
      </p:sp>
      <p:sp>
        <p:nvSpPr>
          <p:cNvPr id="35845" name="Rectangle 4">
            <a:extLst>
              <a:ext uri="{FF2B5EF4-FFF2-40B4-BE49-F238E27FC236}">
                <a16:creationId xmlns:a16="http://schemas.microsoft.com/office/drawing/2014/main" id="{3BF05266-D5C8-E9BE-9001-B3FE8740DE9F}"/>
              </a:ext>
            </a:extLst>
          </p:cNvPr>
          <p:cNvSpPr>
            <a:spLocks noChangeArrowheads="1"/>
          </p:cNvSpPr>
          <p:nvPr/>
        </p:nvSpPr>
        <p:spPr bwMode="auto">
          <a:xfrm>
            <a:off x="3657600" y="2679700"/>
            <a:ext cx="990600" cy="762000"/>
          </a:xfrm>
          <a:prstGeom prst="rect">
            <a:avLst/>
          </a:prstGeom>
          <a:solidFill>
            <a:srgbClr val="BBE0E3"/>
          </a:solidFill>
          <a:ln w="28440">
            <a:solidFill>
              <a:srgbClr val="0000FF"/>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lnSpc>
                <a:spcPct val="100000"/>
              </a:lnSpc>
            </a:pPr>
            <a:r>
              <a:rPr lang="en-GB" altLang="en-US" sz="1600" b="1">
                <a:solidFill>
                  <a:srgbClr val="000000"/>
                </a:solidFill>
              </a:rPr>
              <a:t>Adder</a:t>
            </a:r>
            <a:br>
              <a:rPr lang="en-GB" altLang="en-US" sz="1600" b="1">
                <a:solidFill>
                  <a:srgbClr val="000000"/>
                </a:solidFill>
              </a:rPr>
            </a:br>
            <a:r>
              <a:rPr lang="en-GB" altLang="en-US" sz="1600" b="1">
                <a:solidFill>
                  <a:srgbClr val="000000"/>
                </a:solidFill>
              </a:rPr>
              <a:t>(+4)</a:t>
            </a:r>
          </a:p>
        </p:txBody>
      </p:sp>
      <p:sp>
        <p:nvSpPr>
          <p:cNvPr id="35846" name="Rectangle 5">
            <a:extLst>
              <a:ext uri="{FF2B5EF4-FFF2-40B4-BE49-F238E27FC236}">
                <a16:creationId xmlns:a16="http://schemas.microsoft.com/office/drawing/2014/main" id="{16526188-25FA-ABD8-EFB3-3434D606CEDC}"/>
              </a:ext>
            </a:extLst>
          </p:cNvPr>
          <p:cNvSpPr>
            <a:spLocks noChangeArrowheads="1"/>
          </p:cNvSpPr>
          <p:nvPr/>
        </p:nvSpPr>
        <p:spPr bwMode="auto">
          <a:xfrm>
            <a:off x="3657600" y="3670300"/>
            <a:ext cx="990600" cy="762000"/>
          </a:xfrm>
          <a:prstGeom prst="rect">
            <a:avLst/>
          </a:prstGeom>
          <a:solidFill>
            <a:srgbClr val="BBE0E3"/>
          </a:solidFill>
          <a:ln w="57150">
            <a:solidFill>
              <a:srgbClr val="FF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lnSpc>
                <a:spcPct val="100000"/>
              </a:lnSpc>
            </a:pPr>
            <a:r>
              <a:rPr lang="en-GB" altLang="en-US" sz="1600" b="1">
                <a:solidFill>
                  <a:srgbClr val="000000"/>
                </a:solidFill>
              </a:rPr>
              <a:t>Branch-</a:t>
            </a:r>
            <a:br>
              <a:rPr lang="en-GB" altLang="en-US" sz="1600" b="1">
                <a:solidFill>
                  <a:srgbClr val="000000"/>
                </a:solidFill>
              </a:rPr>
            </a:br>
            <a:r>
              <a:rPr lang="en-GB" altLang="en-US" sz="1600" b="1">
                <a:solidFill>
                  <a:srgbClr val="000000"/>
                </a:solidFill>
              </a:rPr>
              <a:t>Predictor</a:t>
            </a:r>
          </a:p>
        </p:txBody>
      </p:sp>
      <p:sp>
        <p:nvSpPr>
          <p:cNvPr id="35847" name="Rectangle 6">
            <a:extLst>
              <a:ext uri="{FF2B5EF4-FFF2-40B4-BE49-F238E27FC236}">
                <a16:creationId xmlns:a16="http://schemas.microsoft.com/office/drawing/2014/main" id="{03A229D0-C918-AC06-472D-57636035BB6B}"/>
              </a:ext>
            </a:extLst>
          </p:cNvPr>
          <p:cNvSpPr>
            <a:spLocks noChangeArrowheads="1"/>
          </p:cNvSpPr>
          <p:nvPr/>
        </p:nvSpPr>
        <p:spPr bwMode="auto">
          <a:xfrm>
            <a:off x="2286000" y="1612900"/>
            <a:ext cx="381000" cy="762000"/>
          </a:xfrm>
          <a:prstGeom prst="rect">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lnSpc>
                <a:spcPct val="100000"/>
              </a:lnSpc>
            </a:pPr>
            <a:r>
              <a:rPr lang="en-GB" altLang="en-US" sz="1600" b="1">
                <a:solidFill>
                  <a:srgbClr val="000000"/>
                </a:solidFill>
              </a:rPr>
              <a:t>PC</a:t>
            </a:r>
          </a:p>
        </p:txBody>
      </p:sp>
      <p:sp>
        <p:nvSpPr>
          <p:cNvPr id="35848" name="Line 7">
            <a:extLst>
              <a:ext uri="{FF2B5EF4-FFF2-40B4-BE49-F238E27FC236}">
                <a16:creationId xmlns:a16="http://schemas.microsoft.com/office/drawing/2014/main" id="{759C06FA-45DE-FD7B-51D1-7B02ED3E8B03}"/>
              </a:ext>
            </a:extLst>
          </p:cNvPr>
          <p:cNvSpPr>
            <a:spLocks noChangeShapeType="1"/>
          </p:cNvSpPr>
          <p:nvPr/>
        </p:nvSpPr>
        <p:spPr bwMode="auto">
          <a:xfrm>
            <a:off x="2667000" y="1993900"/>
            <a:ext cx="9906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49" name="Line 8">
            <a:extLst>
              <a:ext uri="{FF2B5EF4-FFF2-40B4-BE49-F238E27FC236}">
                <a16:creationId xmlns:a16="http://schemas.microsoft.com/office/drawing/2014/main" id="{50148E8E-A0B8-5055-DF23-181EF6AA9701}"/>
              </a:ext>
            </a:extLst>
          </p:cNvPr>
          <p:cNvSpPr>
            <a:spLocks noChangeShapeType="1"/>
          </p:cNvSpPr>
          <p:nvPr/>
        </p:nvSpPr>
        <p:spPr bwMode="auto">
          <a:xfrm>
            <a:off x="3124200" y="30607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0" name="Line 9">
            <a:extLst>
              <a:ext uri="{FF2B5EF4-FFF2-40B4-BE49-F238E27FC236}">
                <a16:creationId xmlns:a16="http://schemas.microsoft.com/office/drawing/2014/main" id="{25283389-A96F-038A-0EE3-95A11E81F707}"/>
              </a:ext>
            </a:extLst>
          </p:cNvPr>
          <p:cNvSpPr>
            <a:spLocks noChangeShapeType="1"/>
          </p:cNvSpPr>
          <p:nvPr/>
        </p:nvSpPr>
        <p:spPr bwMode="auto">
          <a:xfrm>
            <a:off x="3124200" y="40513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1" name="Line 10">
            <a:extLst>
              <a:ext uri="{FF2B5EF4-FFF2-40B4-BE49-F238E27FC236}">
                <a16:creationId xmlns:a16="http://schemas.microsoft.com/office/drawing/2014/main" id="{22006C2E-DCBD-0488-EFA9-C45360AF0EB7}"/>
              </a:ext>
            </a:extLst>
          </p:cNvPr>
          <p:cNvSpPr>
            <a:spLocks noChangeShapeType="1"/>
          </p:cNvSpPr>
          <p:nvPr/>
        </p:nvSpPr>
        <p:spPr bwMode="auto">
          <a:xfrm>
            <a:off x="3124200" y="1974850"/>
            <a:ext cx="1588" cy="3019425"/>
          </a:xfrm>
          <a:prstGeom prst="line">
            <a:avLst/>
          </a:prstGeom>
          <a:noFill/>
          <a:ln w="7632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52" name="Rectangle 11">
            <a:extLst>
              <a:ext uri="{FF2B5EF4-FFF2-40B4-BE49-F238E27FC236}">
                <a16:creationId xmlns:a16="http://schemas.microsoft.com/office/drawing/2014/main" id="{0B39D367-E755-1C2F-D6CD-7931466C56CD}"/>
              </a:ext>
            </a:extLst>
          </p:cNvPr>
          <p:cNvSpPr>
            <a:spLocks noChangeArrowheads="1"/>
          </p:cNvSpPr>
          <p:nvPr/>
        </p:nvSpPr>
        <p:spPr bwMode="auto">
          <a:xfrm>
            <a:off x="3657600" y="4584700"/>
            <a:ext cx="990600" cy="762000"/>
          </a:xfrm>
          <a:prstGeom prst="rect">
            <a:avLst/>
          </a:prstGeom>
          <a:solidFill>
            <a:srgbClr val="BBE0E3"/>
          </a:solidFill>
          <a:ln w="28440">
            <a:solidFill>
              <a:srgbClr val="0000FF"/>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lnSpc>
                <a:spcPct val="100000"/>
              </a:lnSpc>
            </a:pPr>
            <a:r>
              <a:rPr lang="en-GB" altLang="en-US" sz="1600" b="1">
                <a:solidFill>
                  <a:srgbClr val="000000"/>
                </a:solidFill>
              </a:rPr>
              <a:t>Instr</a:t>
            </a:r>
            <a:br>
              <a:rPr lang="en-GB" altLang="en-US" sz="1600" b="1">
                <a:solidFill>
                  <a:srgbClr val="000000"/>
                </a:solidFill>
              </a:rPr>
            </a:br>
            <a:r>
              <a:rPr lang="en-GB" altLang="en-US" sz="1600" b="1">
                <a:solidFill>
                  <a:srgbClr val="000000"/>
                </a:solidFill>
              </a:rPr>
              <a:t>Mem</a:t>
            </a:r>
          </a:p>
        </p:txBody>
      </p:sp>
      <p:sp>
        <p:nvSpPr>
          <p:cNvPr id="35853" name="Line 12">
            <a:extLst>
              <a:ext uri="{FF2B5EF4-FFF2-40B4-BE49-F238E27FC236}">
                <a16:creationId xmlns:a16="http://schemas.microsoft.com/office/drawing/2014/main" id="{93E72CF6-622D-C768-6B7B-1F65C8BDAC40}"/>
              </a:ext>
            </a:extLst>
          </p:cNvPr>
          <p:cNvSpPr>
            <a:spLocks noChangeShapeType="1"/>
          </p:cNvSpPr>
          <p:nvPr/>
        </p:nvSpPr>
        <p:spPr bwMode="auto">
          <a:xfrm>
            <a:off x="3124200" y="49657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4" name="Line 13">
            <a:extLst>
              <a:ext uri="{FF2B5EF4-FFF2-40B4-BE49-F238E27FC236}">
                <a16:creationId xmlns:a16="http://schemas.microsoft.com/office/drawing/2014/main" id="{A73A1136-D15F-FE7F-DE2B-E422FF87D10F}"/>
              </a:ext>
            </a:extLst>
          </p:cNvPr>
          <p:cNvSpPr>
            <a:spLocks noChangeShapeType="1"/>
          </p:cNvSpPr>
          <p:nvPr/>
        </p:nvSpPr>
        <p:spPr bwMode="auto">
          <a:xfrm>
            <a:off x="4648200" y="30607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5" name="Line 14">
            <a:extLst>
              <a:ext uri="{FF2B5EF4-FFF2-40B4-BE49-F238E27FC236}">
                <a16:creationId xmlns:a16="http://schemas.microsoft.com/office/drawing/2014/main" id="{006FB32A-A922-2DE4-3BCF-69D7C15EBD52}"/>
              </a:ext>
            </a:extLst>
          </p:cNvPr>
          <p:cNvSpPr>
            <a:spLocks noChangeShapeType="1"/>
          </p:cNvSpPr>
          <p:nvPr/>
        </p:nvSpPr>
        <p:spPr bwMode="auto">
          <a:xfrm>
            <a:off x="4648200" y="19939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6" name="Line 15">
            <a:extLst>
              <a:ext uri="{FF2B5EF4-FFF2-40B4-BE49-F238E27FC236}">
                <a16:creationId xmlns:a16="http://schemas.microsoft.com/office/drawing/2014/main" id="{F528F68A-304D-5EEA-ACE6-0EC9104AD776}"/>
              </a:ext>
            </a:extLst>
          </p:cNvPr>
          <p:cNvSpPr>
            <a:spLocks noChangeShapeType="1"/>
          </p:cNvSpPr>
          <p:nvPr/>
        </p:nvSpPr>
        <p:spPr bwMode="auto">
          <a:xfrm>
            <a:off x="1670403" y="1982611"/>
            <a:ext cx="6096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7" name="Freeform 16">
            <a:extLst>
              <a:ext uri="{FF2B5EF4-FFF2-40B4-BE49-F238E27FC236}">
                <a16:creationId xmlns:a16="http://schemas.microsoft.com/office/drawing/2014/main" id="{81D0DB6D-D00A-FA7F-63C0-49A7B7031ADE}"/>
              </a:ext>
            </a:extLst>
          </p:cNvPr>
          <p:cNvSpPr>
            <a:spLocks noChangeArrowheads="1"/>
          </p:cNvSpPr>
          <p:nvPr/>
        </p:nvSpPr>
        <p:spPr bwMode="auto">
          <a:xfrm>
            <a:off x="685801" y="1079500"/>
            <a:ext cx="5181600" cy="1398588"/>
          </a:xfrm>
          <a:custGeom>
            <a:avLst/>
            <a:gdLst>
              <a:gd name="T0" fmla="*/ 2147483647 w 2592"/>
              <a:gd name="T1" fmla="*/ 2147483647 h 912"/>
              <a:gd name="T2" fmla="*/ 2147483647 w 2592"/>
              <a:gd name="T3" fmla="*/ 2147483647 h 912"/>
              <a:gd name="T4" fmla="*/ 2147483647 w 2592"/>
              <a:gd name="T5" fmla="*/ 0 h 912"/>
              <a:gd name="T6" fmla="*/ 0 w 2592"/>
              <a:gd name="T7" fmla="*/ 0 h 912"/>
              <a:gd name="T8" fmla="*/ 0 w 2592"/>
              <a:gd name="T9" fmla="*/ 2147483647 h 912"/>
              <a:gd name="T10" fmla="*/ 0 60000 65536"/>
              <a:gd name="T11" fmla="*/ 0 60000 65536"/>
              <a:gd name="T12" fmla="*/ 0 60000 65536"/>
              <a:gd name="T13" fmla="*/ 0 60000 65536"/>
              <a:gd name="T14" fmla="*/ 0 60000 65536"/>
              <a:gd name="T15" fmla="*/ 0 w 2592"/>
              <a:gd name="T16" fmla="*/ 0 h 912"/>
              <a:gd name="T17" fmla="*/ 2592 w 2592"/>
              <a:gd name="T18" fmla="*/ 912 h 912"/>
              <a:gd name="csX0" fmla="*/ 9259 w 10000"/>
              <a:gd name="csY0" fmla="*/ 10000 h 10000"/>
              <a:gd name="csX1" fmla="*/ 10000 w 10000"/>
              <a:gd name="csY1" fmla="*/ 10000 h 10000"/>
              <a:gd name="csX2" fmla="*/ 10000 w 10000"/>
              <a:gd name="csY2" fmla="*/ 0 h 10000"/>
              <a:gd name="csX3" fmla="*/ 0 w 10000"/>
              <a:gd name="csY3" fmla="*/ 0 h 10000"/>
              <a:gd name="csX4" fmla="*/ 0 w 10000"/>
              <a:gd name="csY4" fmla="*/ 4217 h 10000"/>
            </a:gdLst>
            <a:ahLst/>
            <a:cxnLst>
              <a:cxn ang="0">
                <a:pos x="csX0" y="csY0"/>
              </a:cxn>
              <a:cxn ang="0">
                <a:pos x="csX1" y="csY1"/>
              </a:cxn>
              <a:cxn ang="0">
                <a:pos x="csX2" y="csY2"/>
              </a:cxn>
              <a:cxn ang="0">
                <a:pos x="csX3" y="csY3"/>
              </a:cxn>
              <a:cxn ang="0">
                <a:pos x="csX4" y="csY4"/>
              </a:cxn>
            </a:cxnLst>
            <a:rect l="l" t="t" r="r" b="b"/>
            <a:pathLst>
              <a:path w="10000" h="10000">
                <a:moveTo>
                  <a:pt x="9259" y="10000"/>
                </a:moveTo>
                <a:lnTo>
                  <a:pt x="10000" y="10000"/>
                </a:lnTo>
                <a:lnTo>
                  <a:pt x="10000" y="0"/>
                </a:lnTo>
                <a:lnTo>
                  <a:pt x="0" y="0"/>
                </a:lnTo>
                <a:lnTo>
                  <a:pt x="0" y="4217"/>
                </a:lnTo>
              </a:path>
            </a:pathLst>
          </a:custGeom>
          <a:noFill/>
          <a:ln w="7632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ＭＳ Ｐゴシック" panose="020B0600070205080204" pitchFamily="34" charset="-128"/>
              </a:defRPr>
            </a:lvl1pPr>
            <a:lvl2pPr marL="37931725" indent="-37474525">
              <a:defRPr sz="2400">
                <a:solidFill>
                  <a:schemeClr val="bg1"/>
                </a:solidFill>
                <a:latin typeface="Arial" panose="020B0604020202020204" pitchFamily="34" charset="0"/>
                <a:ea typeface="ＭＳ Ｐゴシック" panose="020B0600070205080204" pitchFamily="34" charset="-128"/>
              </a:defRPr>
            </a:lvl2pPr>
            <a:lvl3pPr>
              <a:defRPr sz="2400">
                <a:solidFill>
                  <a:schemeClr val="bg1"/>
                </a:solidFill>
                <a:latin typeface="Arial" panose="020B0604020202020204" pitchFamily="34" charset="0"/>
                <a:ea typeface="ＭＳ Ｐゴシック" panose="020B0600070205080204" pitchFamily="34" charset="-128"/>
              </a:defRPr>
            </a:lvl3pPr>
            <a:lvl4pPr>
              <a:defRPr sz="2400">
                <a:solidFill>
                  <a:schemeClr val="bg1"/>
                </a:solidFill>
                <a:latin typeface="Arial" panose="020B0604020202020204" pitchFamily="34" charset="0"/>
                <a:ea typeface="ＭＳ Ｐゴシック" panose="020B0600070205080204" pitchFamily="34" charset="-128"/>
              </a:defRPr>
            </a:lvl4pPr>
            <a:lvl5pPr>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35858" name="Freeform 19">
            <a:extLst>
              <a:ext uri="{FF2B5EF4-FFF2-40B4-BE49-F238E27FC236}">
                <a16:creationId xmlns:a16="http://schemas.microsoft.com/office/drawing/2014/main" id="{471EE060-28C5-081B-9442-530F66043AC3}"/>
              </a:ext>
            </a:extLst>
          </p:cNvPr>
          <p:cNvSpPr>
            <a:spLocks noChangeArrowheads="1"/>
          </p:cNvSpPr>
          <p:nvPr/>
        </p:nvSpPr>
        <p:spPr bwMode="auto">
          <a:xfrm>
            <a:off x="5181600" y="1765300"/>
            <a:ext cx="381000" cy="1524000"/>
          </a:xfrm>
          <a:custGeom>
            <a:avLst/>
            <a:gdLst>
              <a:gd name="T0" fmla="*/ 0 w 240"/>
              <a:gd name="T1" fmla="*/ 0 h 672"/>
              <a:gd name="T2" fmla="*/ 0 w 240"/>
              <a:gd name="T3" fmla="*/ 2147483647 h 672"/>
              <a:gd name="T4" fmla="*/ 2147483647 w 240"/>
              <a:gd name="T5" fmla="*/ 2147483647 h 672"/>
              <a:gd name="T6" fmla="*/ 2147483647 w 240"/>
              <a:gd name="T7" fmla="*/ 2147483647 h 672"/>
              <a:gd name="T8" fmla="*/ 0 w 240"/>
              <a:gd name="T9" fmla="*/ 0 h 672"/>
              <a:gd name="T10" fmla="*/ 0 60000 65536"/>
              <a:gd name="T11" fmla="*/ 0 60000 65536"/>
              <a:gd name="T12" fmla="*/ 0 60000 65536"/>
              <a:gd name="T13" fmla="*/ 0 60000 65536"/>
              <a:gd name="T14" fmla="*/ 0 60000 65536"/>
              <a:gd name="T15" fmla="*/ 0 w 240"/>
              <a:gd name="T16" fmla="*/ 0 h 672"/>
              <a:gd name="T17" fmla="*/ 240 w 240"/>
              <a:gd name="T18" fmla="*/ 672 h 672"/>
            </a:gdLst>
            <a:ahLst/>
            <a:cxnLst>
              <a:cxn ang="T10">
                <a:pos x="T0" y="T1"/>
              </a:cxn>
              <a:cxn ang="T11">
                <a:pos x="T2" y="T3"/>
              </a:cxn>
              <a:cxn ang="T12">
                <a:pos x="T4" y="T5"/>
              </a:cxn>
              <a:cxn ang="T13">
                <a:pos x="T6" y="T7"/>
              </a:cxn>
              <a:cxn ang="T14">
                <a:pos x="T8" y="T9"/>
              </a:cxn>
            </a:cxnLst>
            <a:rect l="T15" t="T16" r="T17" b="T18"/>
            <a:pathLst>
              <a:path w="240" h="672">
                <a:moveTo>
                  <a:pt x="0" y="0"/>
                </a:moveTo>
                <a:lnTo>
                  <a:pt x="0" y="672"/>
                </a:lnTo>
                <a:lnTo>
                  <a:pt x="240" y="528"/>
                </a:lnTo>
                <a:lnTo>
                  <a:pt x="240" y="144"/>
                </a:lnTo>
                <a:lnTo>
                  <a:pt x="0" y="0"/>
                </a:lnTo>
                <a:close/>
              </a:path>
            </a:pathLst>
          </a:custGeom>
          <a:solidFill>
            <a:srgbClr val="BBE0E3"/>
          </a:solidFill>
          <a:ln w="9360">
            <a:solidFill>
              <a:srgbClr val="000000"/>
            </a:solidFill>
            <a:round/>
            <a:headEnd/>
            <a:tailEnd/>
          </a:ln>
        </p:spPr>
        <p:txBody>
          <a:bodyPr wrap="none" anchor="ctr"/>
          <a:lstStyle>
            <a:lvl1pPr>
              <a:defRPr sz="2400">
                <a:solidFill>
                  <a:schemeClr val="bg1"/>
                </a:solidFill>
                <a:latin typeface="Arial" panose="020B0604020202020204" pitchFamily="34" charset="0"/>
                <a:ea typeface="ＭＳ Ｐゴシック" panose="020B0600070205080204" pitchFamily="34" charset="-128"/>
              </a:defRPr>
            </a:lvl1pPr>
            <a:lvl2pPr marL="37931725" indent="-37474525">
              <a:defRPr sz="2400">
                <a:solidFill>
                  <a:schemeClr val="bg1"/>
                </a:solidFill>
                <a:latin typeface="Arial" panose="020B0604020202020204" pitchFamily="34" charset="0"/>
                <a:ea typeface="ＭＳ Ｐゴシック" panose="020B0600070205080204" pitchFamily="34" charset="-128"/>
              </a:defRPr>
            </a:lvl2pPr>
            <a:lvl3pPr>
              <a:defRPr sz="2400">
                <a:solidFill>
                  <a:schemeClr val="bg1"/>
                </a:solidFill>
                <a:latin typeface="Arial" panose="020B0604020202020204" pitchFamily="34" charset="0"/>
                <a:ea typeface="ＭＳ Ｐゴシック" panose="020B0600070205080204" pitchFamily="34" charset="-128"/>
              </a:defRPr>
            </a:lvl3pPr>
            <a:lvl4pPr>
              <a:defRPr sz="2400">
                <a:solidFill>
                  <a:schemeClr val="bg1"/>
                </a:solidFill>
                <a:latin typeface="Arial" panose="020B0604020202020204" pitchFamily="34" charset="0"/>
                <a:ea typeface="ＭＳ Ｐゴシック" panose="020B0600070205080204" pitchFamily="34" charset="-128"/>
              </a:defRPr>
            </a:lvl4pPr>
            <a:lvl5pPr>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35859" name="Line 20">
            <a:extLst>
              <a:ext uri="{FF2B5EF4-FFF2-40B4-BE49-F238E27FC236}">
                <a16:creationId xmlns:a16="http://schemas.microsoft.com/office/drawing/2014/main" id="{7C550235-E358-FE6C-8A99-8BF40006E41E}"/>
              </a:ext>
            </a:extLst>
          </p:cNvPr>
          <p:cNvSpPr>
            <a:spLocks noChangeShapeType="1"/>
          </p:cNvSpPr>
          <p:nvPr/>
        </p:nvSpPr>
        <p:spPr bwMode="auto">
          <a:xfrm>
            <a:off x="4648200" y="4965700"/>
            <a:ext cx="5334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0" name="Text Box 21">
            <a:extLst>
              <a:ext uri="{FF2B5EF4-FFF2-40B4-BE49-F238E27FC236}">
                <a16:creationId xmlns:a16="http://schemas.microsoft.com/office/drawing/2014/main" id="{4717C6F0-6358-33CA-840C-3BFDC4B6689C}"/>
              </a:ext>
            </a:extLst>
          </p:cNvPr>
          <p:cNvSpPr txBox="1">
            <a:spLocks noChangeArrowheads="1"/>
          </p:cNvSpPr>
          <p:nvPr/>
        </p:nvSpPr>
        <p:spPr bwMode="auto">
          <a:xfrm>
            <a:off x="5276850" y="4737100"/>
            <a:ext cx="1754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lnSpc>
                <a:spcPct val="100000"/>
              </a:lnSpc>
            </a:pPr>
            <a:r>
              <a:rPr lang="en-GB" altLang="en-US" b="1">
                <a:solidFill>
                  <a:srgbClr val="000000"/>
                </a:solidFill>
              </a:rPr>
              <a:t>Instruction</a:t>
            </a:r>
          </a:p>
        </p:txBody>
      </p:sp>
      <p:sp>
        <p:nvSpPr>
          <p:cNvPr id="35861" name="Line 22">
            <a:extLst>
              <a:ext uri="{FF2B5EF4-FFF2-40B4-BE49-F238E27FC236}">
                <a16:creationId xmlns:a16="http://schemas.microsoft.com/office/drawing/2014/main" id="{AB0BE070-B3F4-9B65-13B7-A34A9A92A27C}"/>
              </a:ext>
            </a:extLst>
          </p:cNvPr>
          <p:cNvSpPr>
            <a:spLocks noChangeShapeType="1"/>
          </p:cNvSpPr>
          <p:nvPr/>
        </p:nvSpPr>
        <p:spPr bwMode="auto">
          <a:xfrm>
            <a:off x="4660900" y="3263900"/>
            <a:ext cx="1739900" cy="88900"/>
          </a:xfrm>
          <a:prstGeom prst="line">
            <a:avLst/>
          </a:prstGeom>
          <a:noFill/>
          <a:ln w="28440">
            <a:solidFill>
              <a:srgbClr val="0000FF"/>
            </a:solidFill>
            <a:miter lim="800000"/>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35862" name="Line 23">
            <a:extLst>
              <a:ext uri="{FF2B5EF4-FFF2-40B4-BE49-F238E27FC236}">
                <a16:creationId xmlns:a16="http://schemas.microsoft.com/office/drawing/2014/main" id="{35E4C319-76E6-9494-04A8-0151A095C500}"/>
              </a:ext>
            </a:extLst>
          </p:cNvPr>
          <p:cNvSpPr>
            <a:spLocks noChangeShapeType="1"/>
          </p:cNvSpPr>
          <p:nvPr/>
        </p:nvSpPr>
        <p:spPr bwMode="auto">
          <a:xfrm flipH="1">
            <a:off x="4724400" y="3352800"/>
            <a:ext cx="1676400" cy="1828800"/>
          </a:xfrm>
          <a:prstGeom prst="line">
            <a:avLst/>
          </a:prstGeom>
          <a:noFill/>
          <a:ln w="28440">
            <a:solidFill>
              <a:srgbClr val="0000FF"/>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3" name="Text Box 24">
            <a:extLst>
              <a:ext uri="{FF2B5EF4-FFF2-40B4-BE49-F238E27FC236}">
                <a16:creationId xmlns:a16="http://schemas.microsoft.com/office/drawing/2014/main" id="{7151FFA2-9EFC-5437-671E-2D138030AB14}"/>
              </a:ext>
            </a:extLst>
          </p:cNvPr>
          <p:cNvSpPr txBox="1">
            <a:spLocks noChangeArrowheads="1"/>
          </p:cNvSpPr>
          <p:nvPr/>
        </p:nvSpPr>
        <p:spPr bwMode="auto">
          <a:xfrm>
            <a:off x="6518363" y="3036075"/>
            <a:ext cx="2139950" cy="92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pPr>
              <a:lnSpc>
                <a:spcPct val="100000"/>
              </a:lnSpc>
              <a:spcBef>
                <a:spcPts val="1125"/>
              </a:spcBef>
              <a:buClr>
                <a:srgbClr val="0000FF"/>
              </a:buClr>
              <a:buFont typeface="Comic Sans MS" panose="030F0902030302020204" pitchFamily="66" charset="0"/>
              <a:buNone/>
            </a:pPr>
            <a:r>
              <a:rPr lang="en-GB" altLang="en-US" sz="1800" dirty="0">
                <a:solidFill>
                  <a:srgbClr val="0000FF"/>
                </a:solidFill>
                <a:latin typeface="Comic Sans MS" panose="030F0902030302020204" pitchFamily="66" charset="0"/>
              </a:rPr>
              <a:t>We had Adder and Inst. Mem blocks already</a:t>
            </a:r>
          </a:p>
        </p:txBody>
      </p:sp>
      <p:sp>
        <p:nvSpPr>
          <p:cNvPr id="35865" name="Line 26">
            <a:extLst>
              <a:ext uri="{FF2B5EF4-FFF2-40B4-BE49-F238E27FC236}">
                <a16:creationId xmlns:a16="http://schemas.microsoft.com/office/drawing/2014/main" id="{D57B1531-644C-8747-AB48-116C1FE873A5}"/>
              </a:ext>
            </a:extLst>
          </p:cNvPr>
          <p:cNvSpPr>
            <a:spLocks noChangeShapeType="1"/>
          </p:cNvSpPr>
          <p:nvPr/>
        </p:nvSpPr>
        <p:spPr bwMode="auto">
          <a:xfrm flipV="1">
            <a:off x="6032500" y="950913"/>
            <a:ext cx="1588" cy="4778375"/>
          </a:xfrm>
          <a:prstGeom prst="line">
            <a:avLst/>
          </a:prstGeom>
          <a:noFill/>
          <a:ln w="936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66" name="Line 27">
            <a:extLst>
              <a:ext uri="{FF2B5EF4-FFF2-40B4-BE49-F238E27FC236}">
                <a16:creationId xmlns:a16="http://schemas.microsoft.com/office/drawing/2014/main" id="{704FB276-5654-B7B8-AD1D-29BEA67ABB5F}"/>
              </a:ext>
            </a:extLst>
          </p:cNvPr>
          <p:cNvSpPr>
            <a:spLocks noChangeShapeType="1"/>
          </p:cNvSpPr>
          <p:nvPr/>
        </p:nvSpPr>
        <p:spPr bwMode="auto">
          <a:xfrm flipV="1">
            <a:off x="349867" y="916781"/>
            <a:ext cx="1588" cy="4778375"/>
          </a:xfrm>
          <a:prstGeom prst="line">
            <a:avLst/>
          </a:prstGeom>
          <a:noFill/>
          <a:ln w="936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67" name="Text Box 28">
            <a:extLst>
              <a:ext uri="{FF2B5EF4-FFF2-40B4-BE49-F238E27FC236}">
                <a16:creationId xmlns:a16="http://schemas.microsoft.com/office/drawing/2014/main" id="{04658029-EB6F-3F31-0F14-E364BDB1460A}"/>
              </a:ext>
            </a:extLst>
          </p:cNvPr>
          <p:cNvSpPr txBox="1">
            <a:spLocks noChangeArrowheads="1"/>
          </p:cNvSpPr>
          <p:nvPr/>
        </p:nvSpPr>
        <p:spPr bwMode="auto">
          <a:xfrm>
            <a:off x="2170113" y="5322888"/>
            <a:ext cx="3719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pPr>
              <a:lnSpc>
                <a:spcPct val="100000"/>
              </a:lnSpc>
            </a:pPr>
            <a:r>
              <a:rPr lang="en-GB" altLang="en-US" i="1">
                <a:solidFill>
                  <a:srgbClr val="000000"/>
                </a:solidFill>
              </a:rPr>
              <a:t>Instruction fetch stage (IF)</a:t>
            </a:r>
          </a:p>
        </p:txBody>
      </p:sp>
      <p:sp>
        <p:nvSpPr>
          <p:cNvPr id="35868" name="Text Box 29">
            <a:extLst>
              <a:ext uri="{FF2B5EF4-FFF2-40B4-BE49-F238E27FC236}">
                <a16:creationId xmlns:a16="http://schemas.microsoft.com/office/drawing/2014/main" id="{BC93EC50-66DD-AA5F-CB53-CD20C7E2FA81}"/>
              </a:ext>
            </a:extLst>
          </p:cNvPr>
          <p:cNvSpPr txBox="1">
            <a:spLocks noChangeArrowheads="1"/>
          </p:cNvSpPr>
          <p:nvPr/>
        </p:nvSpPr>
        <p:spPr bwMode="auto">
          <a:xfrm>
            <a:off x="6096000" y="5334000"/>
            <a:ext cx="290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pPr>
              <a:lnSpc>
                <a:spcPct val="100000"/>
              </a:lnSpc>
            </a:pPr>
            <a:r>
              <a:rPr lang="en-GB" altLang="en-US" i="1">
                <a:solidFill>
                  <a:srgbClr val="000000"/>
                </a:solidFill>
              </a:rPr>
              <a:t>decode stage (ID)…</a:t>
            </a:r>
          </a:p>
        </p:txBody>
      </p:sp>
      <p:sp>
        <p:nvSpPr>
          <p:cNvPr id="35869" name="Line 33">
            <a:extLst>
              <a:ext uri="{FF2B5EF4-FFF2-40B4-BE49-F238E27FC236}">
                <a16:creationId xmlns:a16="http://schemas.microsoft.com/office/drawing/2014/main" id="{4B68F73F-27B6-4967-E4F5-6BA69FD96AAD}"/>
              </a:ext>
            </a:extLst>
          </p:cNvPr>
          <p:cNvSpPr>
            <a:spLocks noChangeShapeType="1"/>
          </p:cNvSpPr>
          <p:nvPr/>
        </p:nvSpPr>
        <p:spPr bwMode="auto">
          <a:xfrm>
            <a:off x="4667250" y="4098925"/>
            <a:ext cx="8636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70" name="Line 35">
            <a:extLst>
              <a:ext uri="{FF2B5EF4-FFF2-40B4-BE49-F238E27FC236}">
                <a16:creationId xmlns:a16="http://schemas.microsoft.com/office/drawing/2014/main" id="{4555B592-7F8A-778C-DB65-0A122A7D76B8}"/>
              </a:ext>
            </a:extLst>
          </p:cNvPr>
          <p:cNvSpPr>
            <a:spLocks noChangeShapeType="1"/>
          </p:cNvSpPr>
          <p:nvPr/>
        </p:nvSpPr>
        <p:spPr bwMode="auto">
          <a:xfrm>
            <a:off x="4630738" y="2298700"/>
            <a:ext cx="179387"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1" name="Line 36">
            <a:extLst>
              <a:ext uri="{FF2B5EF4-FFF2-40B4-BE49-F238E27FC236}">
                <a16:creationId xmlns:a16="http://schemas.microsoft.com/office/drawing/2014/main" id="{3D314132-A501-ED20-6D26-2786C424BD2F}"/>
              </a:ext>
            </a:extLst>
          </p:cNvPr>
          <p:cNvSpPr>
            <a:spLocks noChangeShapeType="1"/>
          </p:cNvSpPr>
          <p:nvPr/>
        </p:nvSpPr>
        <p:spPr bwMode="auto">
          <a:xfrm flipV="1">
            <a:off x="4811713" y="2297113"/>
            <a:ext cx="1587" cy="1622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2" name="Line 37">
            <a:extLst>
              <a:ext uri="{FF2B5EF4-FFF2-40B4-BE49-F238E27FC236}">
                <a16:creationId xmlns:a16="http://schemas.microsoft.com/office/drawing/2014/main" id="{B3C6F0FA-047D-8BBB-5392-3512A1D47295}"/>
              </a:ext>
            </a:extLst>
          </p:cNvPr>
          <p:cNvSpPr>
            <a:spLocks noChangeShapeType="1"/>
          </p:cNvSpPr>
          <p:nvPr/>
        </p:nvSpPr>
        <p:spPr bwMode="auto">
          <a:xfrm flipH="1">
            <a:off x="4810125" y="3917950"/>
            <a:ext cx="542925"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3" name="Line 38">
            <a:extLst>
              <a:ext uri="{FF2B5EF4-FFF2-40B4-BE49-F238E27FC236}">
                <a16:creationId xmlns:a16="http://schemas.microsoft.com/office/drawing/2014/main" id="{3E715A16-E08A-0A97-5D82-E9A050DB6738}"/>
              </a:ext>
            </a:extLst>
          </p:cNvPr>
          <p:cNvSpPr>
            <a:spLocks noChangeShapeType="1"/>
          </p:cNvSpPr>
          <p:nvPr/>
        </p:nvSpPr>
        <p:spPr bwMode="auto">
          <a:xfrm flipV="1">
            <a:off x="5351463" y="3736975"/>
            <a:ext cx="1587" cy="1825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4" name="Line 39">
            <a:extLst>
              <a:ext uri="{FF2B5EF4-FFF2-40B4-BE49-F238E27FC236}">
                <a16:creationId xmlns:a16="http://schemas.microsoft.com/office/drawing/2014/main" id="{9CB6D518-B82C-AAAE-1D7E-DC9A6B396F0E}"/>
              </a:ext>
            </a:extLst>
          </p:cNvPr>
          <p:cNvSpPr>
            <a:spLocks noChangeShapeType="1"/>
          </p:cNvSpPr>
          <p:nvPr/>
        </p:nvSpPr>
        <p:spPr bwMode="auto">
          <a:xfrm>
            <a:off x="5530850" y="3738563"/>
            <a:ext cx="1588"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5" name="Line 40">
            <a:extLst>
              <a:ext uri="{FF2B5EF4-FFF2-40B4-BE49-F238E27FC236}">
                <a16:creationId xmlns:a16="http://schemas.microsoft.com/office/drawing/2014/main" id="{609F42FC-501C-CEAC-54DD-54769937822C}"/>
              </a:ext>
            </a:extLst>
          </p:cNvPr>
          <p:cNvSpPr>
            <a:spLocks noChangeShapeType="1"/>
          </p:cNvSpPr>
          <p:nvPr/>
        </p:nvSpPr>
        <p:spPr bwMode="auto">
          <a:xfrm flipV="1">
            <a:off x="5422900" y="3124200"/>
            <a:ext cx="1588" cy="3635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76" name="AutoShape 41">
            <a:extLst>
              <a:ext uri="{FF2B5EF4-FFF2-40B4-BE49-F238E27FC236}">
                <a16:creationId xmlns:a16="http://schemas.microsoft.com/office/drawing/2014/main" id="{03E5E591-5C91-5D3B-42F1-61AC68B513A8}"/>
              </a:ext>
            </a:extLst>
          </p:cNvPr>
          <p:cNvSpPr>
            <a:spLocks noChangeArrowheads="1"/>
          </p:cNvSpPr>
          <p:nvPr/>
        </p:nvSpPr>
        <p:spPr bwMode="auto">
          <a:xfrm>
            <a:off x="5243513" y="3594100"/>
            <a:ext cx="395287" cy="180975"/>
          </a:xfrm>
          <a:prstGeom prst="roundRect">
            <a:avLst>
              <a:gd name="adj" fmla="val 875"/>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ＭＳ Ｐゴシック" panose="020B0600070205080204" pitchFamily="34" charset="-128"/>
              </a:defRPr>
            </a:lvl1pPr>
            <a:lvl2pPr marL="37931725" indent="-37474525">
              <a:defRPr sz="2400">
                <a:solidFill>
                  <a:schemeClr val="bg1"/>
                </a:solidFill>
                <a:latin typeface="Arial" panose="020B0604020202020204" pitchFamily="34" charset="0"/>
                <a:ea typeface="ＭＳ Ｐゴシック" panose="020B0600070205080204" pitchFamily="34" charset="-128"/>
              </a:defRPr>
            </a:lvl2pPr>
            <a:lvl3pPr>
              <a:defRPr sz="2400">
                <a:solidFill>
                  <a:schemeClr val="bg1"/>
                </a:solidFill>
                <a:latin typeface="Arial" panose="020B0604020202020204" pitchFamily="34" charset="0"/>
                <a:ea typeface="ＭＳ Ｐゴシック" panose="020B0600070205080204" pitchFamily="34" charset="-128"/>
              </a:defRPr>
            </a:lvl3pPr>
            <a:lvl4pPr>
              <a:defRPr sz="2400">
                <a:solidFill>
                  <a:schemeClr val="bg1"/>
                </a:solidFill>
                <a:latin typeface="Arial" panose="020B0604020202020204" pitchFamily="34" charset="0"/>
                <a:ea typeface="ＭＳ Ｐゴシック" panose="020B0600070205080204" pitchFamily="34" charset="-128"/>
              </a:defRPr>
            </a:lvl4pPr>
            <a:lvl5pPr>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35877" name="Oval 42">
            <a:extLst>
              <a:ext uri="{FF2B5EF4-FFF2-40B4-BE49-F238E27FC236}">
                <a16:creationId xmlns:a16="http://schemas.microsoft.com/office/drawing/2014/main" id="{3D8C5D40-AE3D-88FA-B254-86575D3A3214}"/>
              </a:ext>
            </a:extLst>
          </p:cNvPr>
          <p:cNvSpPr>
            <a:spLocks noChangeArrowheads="1"/>
          </p:cNvSpPr>
          <p:nvPr/>
        </p:nvSpPr>
        <p:spPr bwMode="auto">
          <a:xfrm>
            <a:off x="5243513" y="3414713"/>
            <a:ext cx="395287" cy="360362"/>
          </a:xfrm>
          <a:prstGeom prst="ellipse">
            <a:avLst/>
          </a:pr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ＭＳ Ｐゴシック" panose="020B0600070205080204" pitchFamily="34" charset="-128"/>
              </a:defRPr>
            </a:lvl1pPr>
            <a:lvl2pPr marL="37931725" indent="-37474525">
              <a:defRPr sz="2400">
                <a:solidFill>
                  <a:schemeClr val="bg1"/>
                </a:solidFill>
                <a:latin typeface="Arial" panose="020B0604020202020204" pitchFamily="34" charset="0"/>
                <a:ea typeface="ＭＳ Ｐゴシック" panose="020B0600070205080204" pitchFamily="34" charset="-128"/>
              </a:defRPr>
            </a:lvl2pPr>
            <a:lvl3pPr>
              <a:defRPr sz="2400">
                <a:solidFill>
                  <a:schemeClr val="bg1"/>
                </a:solidFill>
                <a:latin typeface="Arial" panose="020B0604020202020204" pitchFamily="34" charset="0"/>
                <a:ea typeface="ＭＳ Ｐゴシック" panose="020B0600070205080204" pitchFamily="34" charset="-128"/>
              </a:defRPr>
            </a:lvl3pPr>
            <a:lvl4pPr>
              <a:defRPr sz="2400">
                <a:solidFill>
                  <a:schemeClr val="bg1"/>
                </a:solidFill>
                <a:latin typeface="Arial" panose="020B0604020202020204" pitchFamily="34" charset="0"/>
                <a:ea typeface="ＭＳ Ｐゴシック" panose="020B0600070205080204" pitchFamily="34" charset="-128"/>
              </a:defRPr>
            </a:lvl4pPr>
            <a:lvl5pPr>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35878" name="Text Box 43">
            <a:extLst>
              <a:ext uri="{FF2B5EF4-FFF2-40B4-BE49-F238E27FC236}">
                <a16:creationId xmlns:a16="http://schemas.microsoft.com/office/drawing/2014/main" id="{5B4C42E7-0161-17B7-11D2-3C19AED3ED39}"/>
              </a:ext>
            </a:extLst>
          </p:cNvPr>
          <p:cNvSpPr txBox="1">
            <a:spLocks noChangeArrowheads="1"/>
          </p:cNvSpPr>
          <p:nvPr/>
        </p:nvSpPr>
        <p:spPr bwMode="auto">
          <a:xfrm>
            <a:off x="4811713" y="4027488"/>
            <a:ext cx="79057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r>
              <a:rPr lang="en-GB" altLang="en-US" sz="1600">
                <a:solidFill>
                  <a:srgbClr val="000000"/>
                </a:solidFill>
              </a:rPr>
              <a:t>taken?</a:t>
            </a:r>
          </a:p>
        </p:txBody>
      </p:sp>
      <p:sp>
        <p:nvSpPr>
          <p:cNvPr id="35879" name="Text Box 44">
            <a:extLst>
              <a:ext uri="{FF2B5EF4-FFF2-40B4-BE49-F238E27FC236}">
                <a16:creationId xmlns:a16="http://schemas.microsoft.com/office/drawing/2014/main" id="{56E15E99-2269-AB16-DC58-D97292C72774}"/>
              </a:ext>
            </a:extLst>
          </p:cNvPr>
          <p:cNvSpPr txBox="1">
            <a:spLocks noChangeArrowheads="1"/>
          </p:cNvSpPr>
          <p:nvPr/>
        </p:nvSpPr>
        <p:spPr bwMode="auto">
          <a:xfrm>
            <a:off x="1060628" y="3352447"/>
            <a:ext cx="1546226" cy="1035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r>
              <a:rPr lang="en-GB" altLang="en-US" sz="1600" dirty="0">
                <a:solidFill>
                  <a:srgbClr val="000000"/>
                </a:solidFill>
              </a:rPr>
              <a:t>branch </a:t>
            </a:r>
          </a:p>
          <a:p>
            <a:r>
              <a:rPr lang="en-GB" altLang="en-US" sz="1600" dirty="0">
                <a:solidFill>
                  <a:srgbClr val="000000"/>
                </a:solidFill>
              </a:rPr>
              <a:t>misprediction? </a:t>
            </a:r>
          </a:p>
          <a:p>
            <a:r>
              <a:rPr lang="en-GB" altLang="en-US" sz="1600" dirty="0">
                <a:solidFill>
                  <a:srgbClr val="000000"/>
                </a:solidFill>
              </a:rPr>
              <a:t>(from EX)</a:t>
            </a:r>
          </a:p>
        </p:txBody>
      </p:sp>
      <p:sp>
        <p:nvSpPr>
          <p:cNvPr id="35880" name="Text Box 45">
            <a:extLst>
              <a:ext uri="{FF2B5EF4-FFF2-40B4-BE49-F238E27FC236}">
                <a16:creationId xmlns:a16="http://schemas.microsoft.com/office/drawing/2014/main" id="{C1C131B8-ABBF-E852-841F-89757A507659}"/>
              </a:ext>
            </a:extLst>
          </p:cNvPr>
          <p:cNvSpPr txBox="1">
            <a:spLocks noChangeArrowheads="1"/>
          </p:cNvSpPr>
          <p:nvPr/>
        </p:nvSpPr>
        <p:spPr bwMode="auto">
          <a:xfrm>
            <a:off x="4811713" y="3667125"/>
            <a:ext cx="5080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r>
              <a:rPr lang="en-GB" altLang="en-US" sz="1600">
                <a:solidFill>
                  <a:srgbClr val="000000"/>
                </a:solidFill>
              </a:rPr>
              <a:t>hit?</a:t>
            </a:r>
          </a:p>
        </p:txBody>
      </p:sp>
      <p:sp>
        <p:nvSpPr>
          <p:cNvPr id="35881" name="Text Box 46">
            <a:extLst>
              <a:ext uri="{FF2B5EF4-FFF2-40B4-BE49-F238E27FC236}">
                <a16:creationId xmlns:a16="http://schemas.microsoft.com/office/drawing/2014/main" id="{9ED82405-BF0E-094A-4B59-FC442D4C335E}"/>
              </a:ext>
            </a:extLst>
          </p:cNvPr>
          <p:cNvSpPr txBox="1">
            <a:spLocks noChangeArrowheads="1"/>
          </p:cNvSpPr>
          <p:nvPr/>
        </p:nvSpPr>
        <p:spPr bwMode="auto">
          <a:xfrm>
            <a:off x="5167313" y="1938338"/>
            <a:ext cx="293687"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r>
              <a:rPr lang="en-GB" altLang="en-US" sz="1600">
                <a:solidFill>
                  <a:srgbClr val="000000"/>
                </a:solidFill>
              </a:rPr>
              <a:t>1</a:t>
            </a:r>
          </a:p>
        </p:txBody>
      </p:sp>
      <p:sp>
        <p:nvSpPr>
          <p:cNvPr id="35882" name="Text Box 47">
            <a:extLst>
              <a:ext uri="{FF2B5EF4-FFF2-40B4-BE49-F238E27FC236}">
                <a16:creationId xmlns:a16="http://schemas.microsoft.com/office/drawing/2014/main" id="{487C3E34-A25D-5264-3A7B-6AA628C6A5A1}"/>
              </a:ext>
            </a:extLst>
          </p:cNvPr>
          <p:cNvSpPr txBox="1">
            <a:spLocks noChangeArrowheads="1"/>
          </p:cNvSpPr>
          <p:nvPr/>
        </p:nvSpPr>
        <p:spPr bwMode="auto">
          <a:xfrm>
            <a:off x="5168900" y="1938338"/>
            <a:ext cx="293688"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r>
              <a:rPr lang="en-GB" altLang="en-US" sz="1600">
                <a:solidFill>
                  <a:srgbClr val="000000"/>
                </a:solidFill>
              </a:rPr>
              <a:t>1</a:t>
            </a:r>
          </a:p>
        </p:txBody>
      </p:sp>
      <p:sp>
        <p:nvSpPr>
          <p:cNvPr id="35883" name="Text Box 48">
            <a:extLst>
              <a:ext uri="{FF2B5EF4-FFF2-40B4-BE49-F238E27FC236}">
                <a16:creationId xmlns:a16="http://schemas.microsoft.com/office/drawing/2014/main" id="{25A86F23-296B-5B05-9F52-30CB719DA792}"/>
              </a:ext>
            </a:extLst>
          </p:cNvPr>
          <p:cNvSpPr txBox="1">
            <a:spLocks noChangeArrowheads="1"/>
          </p:cNvSpPr>
          <p:nvPr/>
        </p:nvSpPr>
        <p:spPr bwMode="auto">
          <a:xfrm>
            <a:off x="5172075" y="2838450"/>
            <a:ext cx="29368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r>
              <a:rPr lang="en-GB" altLang="en-US" sz="1600">
                <a:solidFill>
                  <a:srgbClr val="000000"/>
                </a:solidFill>
              </a:rPr>
              <a:t>0</a:t>
            </a:r>
          </a:p>
        </p:txBody>
      </p:sp>
      <p:sp>
        <p:nvSpPr>
          <p:cNvPr id="35884" name="Slide Number Placeholder 47">
            <a:extLst>
              <a:ext uri="{FF2B5EF4-FFF2-40B4-BE49-F238E27FC236}">
                <a16:creationId xmlns:a16="http://schemas.microsoft.com/office/drawing/2014/main" id="{97DAB68B-939E-681C-9A59-3792AF2BA7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fld id="{F749C610-721B-EE41-AE01-84BCCE9A22FB}" type="slidenum">
              <a:rPr lang="en-GB" altLang="en-US" sz="1400">
                <a:solidFill>
                  <a:srgbClr val="000000"/>
                </a:solidFill>
                <a:latin typeface="Arial  " charset="-52"/>
              </a:rPr>
              <a:pPr/>
              <a:t>29</a:t>
            </a:fld>
            <a:r>
              <a:rPr lang="en-GB" altLang="en-US" sz="1400" dirty="0">
                <a:solidFill>
                  <a:srgbClr val="000000"/>
                </a:solidFill>
                <a:latin typeface="Arial  " charset="-52"/>
              </a:rPr>
              <a:t> </a:t>
            </a:r>
          </a:p>
        </p:txBody>
      </p:sp>
      <p:sp>
        <p:nvSpPr>
          <p:cNvPr id="2" name="Freeform 19">
            <a:extLst>
              <a:ext uri="{FF2B5EF4-FFF2-40B4-BE49-F238E27FC236}">
                <a16:creationId xmlns:a16="http://schemas.microsoft.com/office/drawing/2014/main" id="{DA8D0A94-C30A-C78D-E36B-AF065D0AC1F6}"/>
              </a:ext>
            </a:extLst>
          </p:cNvPr>
          <p:cNvSpPr>
            <a:spLocks noChangeArrowheads="1"/>
          </p:cNvSpPr>
          <p:nvPr/>
        </p:nvSpPr>
        <p:spPr bwMode="auto">
          <a:xfrm>
            <a:off x="1271588" y="1397000"/>
            <a:ext cx="381000" cy="1168400"/>
          </a:xfrm>
          <a:custGeom>
            <a:avLst/>
            <a:gdLst>
              <a:gd name="T0" fmla="*/ 0 w 240"/>
              <a:gd name="T1" fmla="*/ 0 h 672"/>
              <a:gd name="T2" fmla="*/ 0 w 240"/>
              <a:gd name="T3" fmla="*/ 2147483647 h 672"/>
              <a:gd name="T4" fmla="*/ 2147483647 w 240"/>
              <a:gd name="T5" fmla="*/ 2147483647 h 672"/>
              <a:gd name="T6" fmla="*/ 2147483647 w 240"/>
              <a:gd name="T7" fmla="*/ 2147483647 h 672"/>
              <a:gd name="T8" fmla="*/ 0 w 240"/>
              <a:gd name="T9" fmla="*/ 0 h 672"/>
              <a:gd name="T10" fmla="*/ 0 60000 65536"/>
              <a:gd name="T11" fmla="*/ 0 60000 65536"/>
              <a:gd name="T12" fmla="*/ 0 60000 65536"/>
              <a:gd name="T13" fmla="*/ 0 60000 65536"/>
              <a:gd name="T14" fmla="*/ 0 60000 65536"/>
              <a:gd name="T15" fmla="*/ 0 w 240"/>
              <a:gd name="T16" fmla="*/ 0 h 672"/>
              <a:gd name="T17" fmla="*/ 240 w 240"/>
              <a:gd name="T18" fmla="*/ 672 h 672"/>
            </a:gdLst>
            <a:ahLst/>
            <a:cxnLst>
              <a:cxn ang="T10">
                <a:pos x="T0" y="T1"/>
              </a:cxn>
              <a:cxn ang="T11">
                <a:pos x="T2" y="T3"/>
              </a:cxn>
              <a:cxn ang="T12">
                <a:pos x="T4" y="T5"/>
              </a:cxn>
              <a:cxn ang="T13">
                <a:pos x="T6" y="T7"/>
              </a:cxn>
              <a:cxn ang="T14">
                <a:pos x="T8" y="T9"/>
              </a:cxn>
            </a:cxnLst>
            <a:rect l="T15" t="T16" r="T17" b="T18"/>
            <a:pathLst>
              <a:path w="240" h="672">
                <a:moveTo>
                  <a:pt x="0" y="0"/>
                </a:moveTo>
                <a:lnTo>
                  <a:pt x="0" y="672"/>
                </a:lnTo>
                <a:lnTo>
                  <a:pt x="240" y="528"/>
                </a:lnTo>
                <a:lnTo>
                  <a:pt x="240" y="144"/>
                </a:lnTo>
                <a:lnTo>
                  <a:pt x="0" y="0"/>
                </a:lnTo>
                <a:close/>
              </a:path>
            </a:pathLst>
          </a:custGeom>
          <a:solidFill>
            <a:srgbClr val="BBE0E3"/>
          </a:solidFill>
          <a:ln w="9360">
            <a:solidFill>
              <a:srgbClr val="000000"/>
            </a:solidFill>
            <a:round/>
            <a:headEnd/>
            <a:tailEnd/>
          </a:ln>
        </p:spPr>
        <p:txBody>
          <a:bodyPr wrap="none" anchor="ctr"/>
          <a:lstStyle>
            <a:lvl1pPr>
              <a:defRPr sz="2400">
                <a:solidFill>
                  <a:schemeClr val="bg1"/>
                </a:solidFill>
                <a:latin typeface="Arial" panose="020B0604020202020204" pitchFamily="34" charset="0"/>
                <a:ea typeface="ＭＳ Ｐゴシック" panose="020B0600070205080204" pitchFamily="34" charset="-128"/>
              </a:defRPr>
            </a:lvl1pPr>
            <a:lvl2pPr marL="37931725" indent="-37474525">
              <a:defRPr sz="2400">
                <a:solidFill>
                  <a:schemeClr val="bg1"/>
                </a:solidFill>
                <a:latin typeface="Arial" panose="020B0604020202020204" pitchFamily="34" charset="0"/>
                <a:ea typeface="ＭＳ Ｐゴシック" panose="020B0600070205080204" pitchFamily="34" charset="-128"/>
              </a:defRPr>
            </a:lvl2pPr>
            <a:lvl3pPr>
              <a:defRPr sz="2400">
                <a:solidFill>
                  <a:schemeClr val="bg1"/>
                </a:solidFill>
                <a:latin typeface="Arial" panose="020B0604020202020204" pitchFamily="34" charset="0"/>
                <a:ea typeface="ＭＳ Ｐゴシック" panose="020B0600070205080204" pitchFamily="34" charset="-128"/>
              </a:defRPr>
            </a:lvl3pPr>
            <a:lvl4pPr>
              <a:defRPr sz="2400">
                <a:solidFill>
                  <a:schemeClr val="bg1"/>
                </a:solidFill>
                <a:latin typeface="Arial" panose="020B0604020202020204" pitchFamily="34" charset="0"/>
                <a:ea typeface="ＭＳ Ｐゴシック" panose="020B0600070205080204" pitchFamily="34" charset="-128"/>
              </a:defRPr>
            </a:lvl4pPr>
            <a:lvl5pPr>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defRPr sz="2400">
                <a:solidFill>
                  <a:schemeClr val="bg1"/>
                </a:solidFill>
                <a:latin typeface="Arial" panose="020B0604020202020204" pitchFamily="34" charset="0"/>
                <a:ea typeface="ＭＳ Ｐゴシック" panose="020B0600070205080204" pitchFamily="34" charset="-128"/>
              </a:defRPr>
            </a:lvl9pPr>
          </a:lstStyle>
          <a:p>
            <a:endParaRPr lang="en-US" altLang="en-US"/>
          </a:p>
        </p:txBody>
      </p:sp>
      <p:sp>
        <p:nvSpPr>
          <p:cNvPr id="3" name="Line 15">
            <a:extLst>
              <a:ext uri="{FF2B5EF4-FFF2-40B4-BE49-F238E27FC236}">
                <a16:creationId xmlns:a16="http://schemas.microsoft.com/office/drawing/2014/main" id="{DA3768E4-B0C1-2A2A-60C5-D7E3425D3740}"/>
              </a:ext>
            </a:extLst>
          </p:cNvPr>
          <p:cNvSpPr>
            <a:spLocks noChangeShapeType="1"/>
          </p:cNvSpPr>
          <p:nvPr/>
        </p:nvSpPr>
        <p:spPr bwMode="auto">
          <a:xfrm>
            <a:off x="655462" y="1674106"/>
            <a:ext cx="6096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 name="Text Box 47">
            <a:extLst>
              <a:ext uri="{FF2B5EF4-FFF2-40B4-BE49-F238E27FC236}">
                <a16:creationId xmlns:a16="http://schemas.microsoft.com/office/drawing/2014/main" id="{83F1E9A5-61C7-408D-0096-19D7DA9D5F37}"/>
              </a:ext>
            </a:extLst>
          </p:cNvPr>
          <p:cNvSpPr txBox="1">
            <a:spLocks noChangeArrowheads="1"/>
          </p:cNvSpPr>
          <p:nvPr/>
        </p:nvSpPr>
        <p:spPr bwMode="auto">
          <a:xfrm>
            <a:off x="1278028" y="2084388"/>
            <a:ext cx="424566"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r>
              <a:rPr lang="en-GB" altLang="en-US" sz="1600" dirty="0">
                <a:solidFill>
                  <a:srgbClr val="000000"/>
                </a:solidFill>
              </a:rPr>
              <a:t>1</a:t>
            </a:r>
          </a:p>
        </p:txBody>
      </p:sp>
      <p:sp>
        <p:nvSpPr>
          <p:cNvPr id="5" name="Text Box 47">
            <a:extLst>
              <a:ext uri="{FF2B5EF4-FFF2-40B4-BE49-F238E27FC236}">
                <a16:creationId xmlns:a16="http://schemas.microsoft.com/office/drawing/2014/main" id="{202FD326-84D4-4B46-6754-9288E963B64C}"/>
              </a:ext>
            </a:extLst>
          </p:cNvPr>
          <p:cNvSpPr txBox="1">
            <a:spLocks noChangeArrowheads="1"/>
          </p:cNvSpPr>
          <p:nvPr/>
        </p:nvSpPr>
        <p:spPr bwMode="auto">
          <a:xfrm>
            <a:off x="1295400" y="1607344"/>
            <a:ext cx="424566"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r>
              <a:rPr lang="en-GB" altLang="en-US" sz="1600" dirty="0">
                <a:solidFill>
                  <a:srgbClr val="000000"/>
                </a:solidFill>
              </a:rPr>
              <a:t>0</a:t>
            </a:r>
          </a:p>
        </p:txBody>
      </p:sp>
      <p:sp>
        <p:nvSpPr>
          <p:cNvPr id="6" name="Line 40">
            <a:extLst>
              <a:ext uri="{FF2B5EF4-FFF2-40B4-BE49-F238E27FC236}">
                <a16:creationId xmlns:a16="http://schemas.microsoft.com/office/drawing/2014/main" id="{C774528B-F85C-8592-2655-AE36B67C30BE}"/>
              </a:ext>
            </a:extLst>
          </p:cNvPr>
          <p:cNvSpPr>
            <a:spLocks noChangeShapeType="1"/>
          </p:cNvSpPr>
          <p:nvPr/>
        </p:nvSpPr>
        <p:spPr bwMode="auto">
          <a:xfrm flipH="1" flipV="1">
            <a:off x="1463676" y="2440778"/>
            <a:ext cx="1588" cy="90690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 name="Line 15">
            <a:extLst>
              <a:ext uri="{FF2B5EF4-FFF2-40B4-BE49-F238E27FC236}">
                <a16:creationId xmlns:a16="http://schemas.microsoft.com/office/drawing/2014/main" id="{55214A24-185A-0898-BE7C-4C55C8D4D75F}"/>
              </a:ext>
            </a:extLst>
          </p:cNvPr>
          <p:cNvSpPr>
            <a:spLocks noChangeShapeType="1"/>
          </p:cNvSpPr>
          <p:nvPr/>
        </p:nvSpPr>
        <p:spPr bwMode="auto">
          <a:xfrm>
            <a:off x="683684" y="2211740"/>
            <a:ext cx="609600" cy="1588"/>
          </a:xfrm>
          <a:prstGeom prst="line">
            <a:avLst/>
          </a:prstGeom>
          <a:noFill/>
          <a:ln w="7632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Line 10">
            <a:extLst>
              <a:ext uri="{FF2B5EF4-FFF2-40B4-BE49-F238E27FC236}">
                <a16:creationId xmlns:a16="http://schemas.microsoft.com/office/drawing/2014/main" id="{37574DEF-9CAA-BF05-BA6B-801118F68E84}"/>
              </a:ext>
            </a:extLst>
          </p:cNvPr>
          <p:cNvSpPr>
            <a:spLocks noChangeShapeType="1"/>
          </p:cNvSpPr>
          <p:nvPr/>
        </p:nvSpPr>
        <p:spPr bwMode="auto">
          <a:xfrm>
            <a:off x="712083" y="2174875"/>
            <a:ext cx="1588" cy="3019425"/>
          </a:xfrm>
          <a:prstGeom prst="line">
            <a:avLst/>
          </a:prstGeom>
          <a:noFill/>
          <a:ln w="7632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 name="Text Box 44">
            <a:extLst>
              <a:ext uri="{FF2B5EF4-FFF2-40B4-BE49-F238E27FC236}">
                <a16:creationId xmlns:a16="http://schemas.microsoft.com/office/drawing/2014/main" id="{AE3143DD-F823-D565-6B84-7994102E8EDF}"/>
              </a:ext>
            </a:extLst>
          </p:cNvPr>
          <p:cNvSpPr txBox="1">
            <a:spLocks noChangeArrowheads="1"/>
          </p:cNvSpPr>
          <p:nvPr/>
        </p:nvSpPr>
        <p:spPr bwMode="auto">
          <a:xfrm>
            <a:off x="357981" y="5245982"/>
            <a:ext cx="1546226"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1pPr>
            <a:lvl2pPr marL="37931725" indent="-37474525">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5pPr>
            <a:lvl6pPr marL="4572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6pPr>
            <a:lvl7pPr marL="9144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7pPr>
            <a:lvl8pPr marL="13716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8pPr>
            <a:lvl9pPr marL="1828800" eaLnBrk="0" fontAlgn="base" hangingPunct="0">
              <a:lnSpc>
                <a:spcPct val="93000"/>
              </a:lnSpc>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ＭＳ Ｐゴシック" panose="020B0600070205080204" pitchFamily="34" charset="-128"/>
              </a:defRPr>
            </a:lvl9pPr>
          </a:lstStyle>
          <a:p>
            <a:r>
              <a:rPr lang="en-GB" altLang="en-US" sz="1600" dirty="0">
                <a:solidFill>
                  <a:srgbClr val="000000"/>
                </a:solidFill>
              </a:rPr>
              <a:t>correct PC</a:t>
            </a:r>
          </a:p>
          <a:p>
            <a:r>
              <a:rPr lang="en-GB" altLang="en-US" sz="1600" dirty="0">
                <a:solidFill>
                  <a:srgbClr val="000000"/>
                </a:solidFill>
              </a:rPr>
              <a:t>(from EX)</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TextBox 10"/>
          <p:cNvSpPr txBox="1"/>
          <p:nvPr/>
        </p:nvSpPr>
        <p:spPr>
          <a:xfrm>
            <a:off x="5047422" y="4017972"/>
            <a:ext cx="3348396" cy="14312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marL="0" marR="0" lvl="0" indent="0" algn="l" defTabSz="449262" rtl="0" eaLnBrk="1" fontAlgn="auto" latinLnBrk="0" hangingPunct="0">
              <a:lnSpc>
                <a:spcPct val="93000"/>
              </a:lnSpc>
              <a:spcBef>
                <a:spcPts val="0"/>
              </a:spcBef>
              <a:spcAft>
                <a:spcPts val="0"/>
              </a:spcAft>
              <a:buClrTx/>
              <a:buSzTx/>
              <a:buFontTx/>
              <a:buNone/>
              <a:tabLst/>
              <a:defRPr b="1">
                <a:latin typeface="Arial"/>
                <a:ea typeface="Arial"/>
                <a:cs typeface="Arial"/>
                <a:sym typeface="Arial"/>
              </a:defRPr>
            </a:pPr>
            <a:r>
              <a:rPr kumimoji="0" sz="2400" b="1" i="0" u="none" strike="noStrike" kern="0" cap="none" spc="0" normalizeH="0" baseline="0" noProof="0">
                <a:ln>
                  <a:noFill/>
                </a:ln>
                <a:solidFill>
                  <a:srgbClr val="000000"/>
                </a:solidFill>
                <a:effectLst/>
                <a:uLnTx/>
                <a:uFillTx/>
                <a:latin typeface="Arial"/>
                <a:cs typeface="Arial"/>
                <a:sym typeface="Arial"/>
              </a:rPr>
              <a:t>problem:</a:t>
            </a:r>
            <a:endParaRPr kumimoji="0" sz="2400" b="1" i="0" u="none" strike="noStrike" kern="0" cap="none" spc="0" normalizeH="0" baseline="0" noProof="0">
              <a:ln>
                <a:noFill/>
              </a:ln>
              <a:solidFill>
                <a:srgbClr val="8F8F8F">
                  <a:lumOff val="44000"/>
                </a:srgbClr>
              </a:solidFill>
              <a:effectLst/>
              <a:uLnTx/>
              <a:uFillTx/>
              <a:latin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r>
              <a:rPr kumimoji="0" sz="2400" b="0" i="0" u="none" strike="noStrike" kern="0" cap="none" spc="0" normalizeH="0" baseline="0" noProof="0">
                <a:ln>
                  <a:noFill/>
                </a:ln>
                <a:solidFill>
                  <a:srgbClr val="000000"/>
                </a:solidFill>
                <a:effectLst/>
                <a:uLnTx/>
                <a:uFillTx/>
                <a:latin typeface="Arial"/>
                <a:cs typeface="Arial"/>
                <a:sym typeface="Arial"/>
              </a:rPr>
              <a:t>	return address</a:t>
            </a: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r>
              <a:rPr kumimoji="0" sz="2400" b="0" i="0" u="none" strike="noStrike" kern="0" cap="none" spc="0" normalizeH="0" baseline="0" noProof="0">
                <a:ln>
                  <a:noFill/>
                </a:ln>
                <a:solidFill>
                  <a:srgbClr val="000000"/>
                </a:solidFill>
                <a:effectLst/>
                <a:uLnTx/>
                <a:uFillTx/>
                <a:latin typeface="Arial"/>
                <a:cs typeface="Arial"/>
                <a:sym typeface="Arial"/>
              </a:rPr>
              <a:t>	depends on where</a:t>
            </a: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r>
              <a:rPr kumimoji="0" sz="2400" b="0" i="0" u="none" strike="noStrike" kern="0" cap="none" spc="0" normalizeH="0" baseline="0" noProof="0">
                <a:ln>
                  <a:noFill/>
                </a:ln>
                <a:solidFill>
                  <a:srgbClr val="000000"/>
                </a:solidFill>
                <a:effectLst/>
                <a:uLnTx/>
                <a:uFillTx/>
                <a:latin typeface="Arial"/>
                <a:cs typeface="Arial"/>
                <a:sym typeface="Arial"/>
              </a:rPr>
              <a:t>	print was called from</a:t>
            </a:r>
          </a:p>
        </p:txBody>
      </p:sp>
      <p:sp>
        <p:nvSpPr>
          <p:cNvPr id="555" name="Title 7"/>
          <p:cNvSpPr txBox="1">
            <a:spLocks noGrp="1"/>
          </p:cNvSpPr>
          <p:nvPr>
            <p:ph type="title"/>
          </p:nvPr>
        </p:nvSpPr>
        <p:spPr>
          <a:xfrm>
            <a:off x="399196" y="-113021"/>
            <a:ext cx="8458201" cy="1311276"/>
          </a:xfrm>
          <a:prstGeom prst="rect">
            <a:avLst/>
          </a:prstGeom>
        </p:spPr>
        <p:txBody>
          <a:bodyPr/>
          <a:lstStyle>
            <a:lvl1pPr>
              <a:defRPr b="1"/>
            </a:lvl1pPr>
          </a:lstStyle>
          <a:p>
            <a:r>
              <a:t>The curious case of function calls</a:t>
            </a:r>
          </a:p>
        </p:txBody>
      </p:sp>
      <p:sp>
        <p:nvSpPr>
          <p:cNvPr id="556" name="TextBox 4"/>
          <p:cNvSpPr txBox="1"/>
          <p:nvPr/>
        </p:nvSpPr>
        <p:spPr>
          <a:xfrm>
            <a:off x="823641" y="1667299"/>
            <a:ext cx="1678594" cy="31998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for (;;) {</a:t>
            </a:r>
            <a:endParaRPr kumimoji="0" sz="2400" b="1" i="0" u="none" strike="noStrike" kern="0" cap="none" spc="0" normalizeH="0" baseline="0" noProof="0">
              <a:ln>
                <a:noFill/>
              </a:ln>
              <a:solidFill>
                <a:srgbClr val="8F8F8F">
                  <a:lumOff val="44000"/>
                </a:srgbClr>
              </a:solidFill>
              <a:effectLst/>
              <a:uLnTx/>
              <a:uFillTx/>
              <a:latin typeface="Arial"/>
              <a:ea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    ...</a:t>
            </a:r>
            <a:endParaRPr kumimoji="0" sz="2400" b="1" i="0" u="none" strike="noStrike" kern="0" cap="none" spc="0" normalizeH="0" baseline="0" noProof="0">
              <a:ln>
                <a:noFill/>
              </a:ln>
              <a:solidFill>
                <a:srgbClr val="8F8F8F">
                  <a:lumOff val="44000"/>
                </a:srgbClr>
              </a:solidFill>
              <a:effectLst/>
              <a:uLnTx/>
              <a:uFillTx/>
              <a:latin typeface="Arial"/>
              <a:ea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    print(...);</a:t>
            </a:r>
            <a:endParaRPr kumimoji="0" sz="2400" b="1" i="0" u="none" strike="noStrike" kern="0" cap="none" spc="0" normalizeH="0" baseline="0" noProof="0">
              <a:ln>
                <a:noFill/>
              </a:ln>
              <a:solidFill>
                <a:srgbClr val="8F8F8F">
                  <a:lumOff val="44000"/>
                </a:srgbClr>
              </a:solidFill>
              <a:effectLst/>
              <a:uLnTx/>
              <a:uFillTx/>
              <a:latin typeface="Arial"/>
              <a:ea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    ...</a:t>
            </a:r>
            <a:endParaRPr kumimoji="0" sz="2400" b="1" i="0" u="none" strike="noStrike" kern="0" cap="none" spc="0" normalizeH="0" baseline="0" noProof="0">
              <a:ln>
                <a:noFill/>
              </a:ln>
              <a:solidFill>
                <a:srgbClr val="8F8F8F">
                  <a:lumOff val="44000"/>
                </a:srgbClr>
              </a:solidFill>
              <a:effectLst/>
              <a:uLnTx/>
              <a:uFillTx/>
              <a:latin typeface="Arial"/>
              <a:ea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    print(...);</a:t>
            </a:r>
            <a:endParaRPr kumimoji="0" sz="2400" b="1" i="0" u="none" strike="noStrike" kern="0" cap="none" spc="0" normalizeH="0" baseline="0" noProof="0">
              <a:ln>
                <a:noFill/>
              </a:ln>
              <a:solidFill>
                <a:srgbClr val="8F8F8F">
                  <a:lumOff val="44000"/>
                </a:srgbClr>
              </a:solidFill>
              <a:effectLst/>
              <a:uLnTx/>
              <a:uFillTx/>
              <a:latin typeface="Arial"/>
              <a:ea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    ...</a:t>
            </a:r>
            <a:endParaRPr kumimoji="0" sz="2400" b="1" i="0" u="none" strike="noStrike" kern="0" cap="none" spc="0" normalizeH="0" baseline="0" noProof="0">
              <a:ln>
                <a:noFill/>
              </a:ln>
              <a:solidFill>
                <a:srgbClr val="8F8F8F">
                  <a:lumOff val="44000"/>
                </a:srgbClr>
              </a:solidFill>
              <a:effectLst/>
              <a:uLnTx/>
              <a:uFillTx/>
              <a:latin typeface="Arial"/>
              <a:ea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    print(...);</a:t>
            </a:r>
            <a:endParaRPr kumimoji="0" sz="2400" b="1" i="0" u="none" strike="noStrike" kern="0" cap="none" spc="0" normalizeH="0" baseline="0" noProof="0">
              <a:ln>
                <a:noFill/>
              </a:ln>
              <a:solidFill>
                <a:srgbClr val="8F8F8F">
                  <a:lumOff val="44000"/>
                </a:srgbClr>
              </a:solidFill>
              <a:effectLst/>
              <a:uLnTx/>
              <a:uFillTx/>
              <a:latin typeface="Arial"/>
              <a:ea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    ...</a:t>
            </a:r>
            <a:endParaRPr kumimoji="0" sz="2400" b="1" i="0" u="none" strike="noStrike" kern="0" cap="none" spc="0" normalizeH="0" baseline="0" noProof="0">
              <a:ln>
                <a:noFill/>
              </a:ln>
              <a:solidFill>
                <a:srgbClr val="8F8F8F">
                  <a:lumOff val="44000"/>
                </a:srgbClr>
              </a:solidFill>
              <a:effectLst/>
              <a:uLnTx/>
              <a:uFillTx/>
              <a:latin typeface="Arial"/>
              <a:ea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a:t>
            </a:r>
          </a:p>
        </p:txBody>
      </p:sp>
      <p:sp>
        <p:nvSpPr>
          <p:cNvPr id="557" name="TextBox 5"/>
          <p:cNvSpPr txBox="1"/>
          <p:nvPr/>
        </p:nvSpPr>
        <p:spPr>
          <a:xfrm>
            <a:off x="5629928" y="1667299"/>
            <a:ext cx="1441659" cy="14872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print(...) {</a:t>
            </a:r>
            <a:endParaRPr kumimoji="0" sz="2400" b="1" i="0" u="none" strike="noStrike" kern="0" cap="none" spc="0" normalizeH="0" baseline="0" noProof="0">
              <a:ln>
                <a:noFill/>
              </a:ln>
              <a:solidFill>
                <a:srgbClr val="8F8F8F">
                  <a:lumOff val="44000"/>
                </a:srgbClr>
              </a:solidFill>
              <a:effectLst/>
              <a:uLnTx/>
              <a:uFillTx/>
              <a:latin typeface="Arial"/>
              <a:ea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    ...</a:t>
            </a:r>
            <a:endParaRPr kumimoji="0" sz="2400" b="1" i="0" u="none" strike="noStrike" kern="0" cap="none" spc="0" normalizeH="0" baseline="0" noProof="0">
              <a:ln>
                <a:noFill/>
              </a:ln>
              <a:solidFill>
                <a:srgbClr val="8F8F8F">
                  <a:lumOff val="44000"/>
                </a:srgbClr>
              </a:solidFill>
              <a:effectLst/>
              <a:uLnTx/>
              <a:uFillTx/>
              <a:latin typeface="Arial"/>
              <a:ea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    return;</a:t>
            </a:r>
            <a:endParaRPr kumimoji="0" sz="2400" b="1" i="0" u="none" strike="noStrike" kern="0" cap="none" spc="0" normalizeH="0" baseline="0" noProof="0">
              <a:ln>
                <a:noFill/>
              </a:ln>
              <a:solidFill>
                <a:srgbClr val="8F8F8F">
                  <a:lumOff val="44000"/>
                </a:srgbClr>
              </a:solidFill>
              <a:effectLst/>
              <a:uLnTx/>
              <a:uFillTx/>
              <a:latin typeface="Arial"/>
              <a:ea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b="1">
                <a:latin typeface="Inconsolata"/>
                <a:ea typeface="Inconsolata"/>
                <a:cs typeface="Inconsolata"/>
                <a:sym typeface="Inconsolata"/>
              </a:defRPr>
            </a:pPr>
            <a:r>
              <a:rPr kumimoji="0" sz="2400" b="1" i="0" u="none" strike="noStrike" kern="0" cap="none" spc="0" normalizeH="0" baseline="0" noProof="0">
                <a:ln>
                  <a:noFill/>
                </a:ln>
                <a:solidFill>
                  <a:srgbClr val="000000"/>
                </a:solidFill>
                <a:effectLst/>
                <a:uLnTx/>
                <a:uFillTx/>
                <a:latin typeface="Inconsolata"/>
                <a:ea typeface="Inconsolata"/>
                <a:sym typeface="Inconsolata"/>
              </a:rPr>
              <a:t>}</a:t>
            </a:r>
          </a:p>
        </p:txBody>
      </p:sp>
      <p:pic>
        <p:nvPicPr>
          <p:cNvPr id="558" name="Ink 6" descr="Ink 6"/>
          <p:cNvPicPr>
            <a:picLocks noChangeAspect="1"/>
          </p:cNvPicPr>
          <p:nvPr/>
        </p:nvPicPr>
        <p:blipFill>
          <a:blip r:embed="rId2"/>
          <a:stretch>
            <a:fillRect/>
          </a:stretch>
        </p:blipFill>
        <p:spPr>
          <a:xfrm>
            <a:off x="5877831" y="2321160"/>
            <a:ext cx="1846987" cy="519674"/>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5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5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4" grpId="0" animBg="1" advAuto="0"/>
      <p:bldP spid="558" grpId="0"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Title 1"/>
          <p:cNvSpPr txBox="1">
            <a:spLocks noGrp="1"/>
          </p:cNvSpPr>
          <p:nvPr>
            <p:ph type="title"/>
          </p:nvPr>
        </p:nvSpPr>
        <p:spPr>
          <a:xfrm>
            <a:off x="685799" y="-85725"/>
            <a:ext cx="7770815" cy="1311275"/>
          </a:xfrm>
          <a:prstGeom prst="rect">
            <a:avLst/>
          </a:prstGeom>
        </p:spPr>
        <p:txBody>
          <a:bodyPr/>
          <a:lstStyle>
            <a:lvl1pPr>
              <a:defRPr b="1"/>
            </a:lvl1pPr>
          </a:lstStyle>
          <a:p>
            <a:r>
              <a:t>Return address stack</a:t>
            </a:r>
          </a:p>
        </p:txBody>
      </p:sp>
      <p:sp>
        <p:nvSpPr>
          <p:cNvPr id="563" name="Content Placeholder 2"/>
          <p:cNvSpPr txBox="1">
            <a:spLocks noGrp="1"/>
          </p:cNvSpPr>
          <p:nvPr>
            <p:ph type="body" sz="half" idx="1"/>
          </p:nvPr>
        </p:nvSpPr>
        <p:spPr>
          <a:xfrm>
            <a:off x="685800" y="1371600"/>
            <a:ext cx="8458200" cy="1890216"/>
          </a:xfrm>
          <a:prstGeom prst="rect">
            <a:avLst/>
          </a:prstGeom>
        </p:spPr>
        <p:txBody>
          <a:bodyPr/>
          <a:lstStyle/>
          <a:p>
            <a:pPr marL="0" indent="0">
              <a:buSzTx/>
              <a:buNone/>
            </a:pPr>
            <a:r>
              <a:t>Special case for function call / return</a:t>
            </a:r>
          </a:p>
          <a:p>
            <a:pPr marL="741362" lvl="1" indent="-284162">
              <a:spcBef>
                <a:spcPts val="600"/>
              </a:spcBef>
              <a:defRPr sz="2400"/>
            </a:pPr>
            <a:r>
              <a:t>HW can distinguish these from other jumps (how?)</a:t>
            </a:r>
          </a:p>
          <a:p>
            <a:pPr marL="741362" lvl="1" indent="-284162">
              <a:spcBef>
                <a:spcPts val="600"/>
              </a:spcBef>
              <a:defRPr sz="2400" b="1">
                <a:latin typeface="Inconsolata"/>
                <a:ea typeface="Inconsolata"/>
                <a:cs typeface="Inconsolata"/>
                <a:sym typeface="Inconsolata"/>
              </a:defRPr>
            </a:pPr>
            <a:r>
              <a:t>jal / jalr / jr r31</a:t>
            </a:r>
            <a:r>
              <a:rPr b="0">
                <a:latin typeface="Arial"/>
                <a:ea typeface="Arial"/>
                <a:cs typeface="Arial"/>
                <a:sym typeface="Arial"/>
              </a:rPr>
              <a:t> in MIPS, </a:t>
            </a:r>
            <a:r>
              <a:t>call / ret</a:t>
            </a:r>
            <a:r>
              <a:rPr b="0">
                <a:latin typeface="Arial"/>
                <a:ea typeface="Arial"/>
                <a:cs typeface="Arial"/>
                <a:sym typeface="Arial"/>
              </a:rPr>
              <a:t> in x86, ...</a:t>
            </a:r>
          </a:p>
        </p:txBody>
      </p:sp>
      <p:grpSp>
        <p:nvGrpSpPr>
          <p:cNvPr id="573" name="Group 21"/>
          <p:cNvGrpSpPr/>
          <p:nvPr/>
        </p:nvGrpSpPr>
        <p:grpSpPr>
          <a:xfrm>
            <a:off x="1085982" y="3368485"/>
            <a:ext cx="2815194" cy="3394957"/>
            <a:chOff x="0" y="0"/>
            <a:chExt cx="2815193" cy="3394955"/>
          </a:xfrm>
        </p:grpSpPr>
        <p:sp>
          <p:nvSpPr>
            <p:cNvPr id="564" name="TextBox 17"/>
            <p:cNvSpPr txBox="1"/>
            <p:nvPr/>
          </p:nvSpPr>
          <p:spPr>
            <a:xfrm>
              <a:off x="-1" y="2626480"/>
              <a:ext cx="2815195" cy="76847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marL="0" marR="0" lvl="0" indent="0" algn="r"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r>
                <a:rPr kumimoji="0" sz="2400" b="0" i="0" u="none" strike="noStrike" kern="0" cap="none" spc="0" normalizeH="0" baseline="0" noProof="0">
                  <a:ln>
                    <a:noFill/>
                  </a:ln>
                  <a:solidFill>
                    <a:srgbClr val="000000"/>
                  </a:solidFill>
                  <a:effectLst/>
                  <a:uLnTx/>
                  <a:uFillTx/>
                  <a:latin typeface="Arial"/>
                  <a:cs typeface="Arial"/>
                  <a:sym typeface="Arial"/>
                </a:rPr>
                <a:t>when we see a </a:t>
              </a:r>
              <a:r>
                <a:rPr kumimoji="0" sz="2400" b="1" i="0" u="none" strike="noStrike" kern="0" cap="none" spc="0" normalizeH="0" baseline="0" noProof="0">
                  <a:ln>
                    <a:noFill/>
                  </a:ln>
                  <a:solidFill>
                    <a:srgbClr val="000000"/>
                  </a:solidFill>
                  <a:effectLst/>
                  <a:uLnTx/>
                  <a:uFillTx/>
                  <a:latin typeface="Arial"/>
                  <a:cs typeface="Arial"/>
                  <a:sym typeface="Arial"/>
                </a:rPr>
                <a:t>call</a:t>
              </a:r>
              <a:r>
                <a:rPr kumimoji="0" sz="2400" b="0" i="0" u="none" strike="noStrike" kern="0" cap="none" spc="0" normalizeH="0" baseline="0" noProof="0">
                  <a:ln>
                    <a:noFill/>
                  </a:ln>
                  <a:solidFill>
                    <a:srgbClr val="000000"/>
                  </a:solidFill>
                  <a:effectLst/>
                  <a:uLnTx/>
                  <a:uFillTx/>
                  <a:latin typeface="Arial"/>
                  <a:cs typeface="Arial"/>
                  <a:sym typeface="Arial"/>
                </a:rPr>
                <a:t>:</a:t>
              </a: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a:p>
              <a:pPr marL="0" marR="0" lvl="0" indent="0" algn="r"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r>
                <a:rPr kumimoji="0" sz="2400" b="0" i="0" u="none" strike="noStrike" kern="0" cap="none" spc="0" normalizeH="0" baseline="0" noProof="0">
                  <a:ln>
                    <a:noFill/>
                  </a:ln>
                  <a:solidFill>
                    <a:srgbClr val="000000"/>
                  </a:solidFill>
                  <a:effectLst/>
                  <a:uLnTx/>
                  <a:uFillTx/>
                  <a:latin typeface="Arial"/>
                  <a:cs typeface="Arial"/>
                  <a:sym typeface="Arial"/>
                </a:rPr>
                <a:t>push addr on stack</a:t>
              </a:r>
            </a:p>
          </p:txBody>
        </p:sp>
        <p:sp>
          <p:nvSpPr>
            <p:cNvPr id="565" name="Rectangle 9"/>
            <p:cNvSpPr/>
            <p:nvPr/>
          </p:nvSpPr>
          <p:spPr>
            <a:xfrm>
              <a:off x="1488326" y="2208425"/>
              <a:ext cx="1050879" cy="327547"/>
            </a:xfrm>
            <a:prstGeom prst="rect">
              <a:avLst/>
            </a:prstGeom>
            <a:gradFill flip="none" rotWithShape="1">
              <a:gsLst>
                <a:gs pos="0">
                  <a:schemeClr val="accent4">
                    <a:lumOff val="28974"/>
                  </a:schemeClr>
                </a:gs>
                <a:gs pos="35000">
                  <a:srgbClr val="CFCFCF"/>
                </a:gs>
                <a:gs pos="100000">
                  <a:schemeClr val="accent4">
                    <a:lumOff val="48879"/>
                  </a:schemeClr>
                </a:gs>
              </a:gsLst>
              <a:lin ang="16200000" scaled="0"/>
            </a:gradFill>
            <a:ln w="9525" cap="flat">
              <a:solidFill>
                <a:srgbClr val="000000"/>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566" name="Rectangle 10"/>
            <p:cNvSpPr/>
            <p:nvPr/>
          </p:nvSpPr>
          <p:spPr>
            <a:xfrm>
              <a:off x="1488326" y="1880878"/>
              <a:ext cx="1050879" cy="327547"/>
            </a:xfrm>
            <a:prstGeom prst="rect">
              <a:avLst/>
            </a:prstGeom>
            <a:gradFill flip="none" rotWithShape="1">
              <a:gsLst>
                <a:gs pos="0">
                  <a:schemeClr val="accent4">
                    <a:lumOff val="28974"/>
                  </a:schemeClr>
                </a:gs>
                <a:gs pos="35000">
                  <a:srgbClr val="CFCFCF"/>
                </a:gs>
                <a:gs pos="100000">
                  <a:schemeClr val="accent4">
                    <a:lumOff val="48879"/>
                  </a:schemeClr>
                </a:gs>
              </a:gsLst>
              <a:lin ang="16200000" scaled="0"/>
            </a:gradFill>
            <a:ln w="9525" cap="flat">
              <a:solidFill>
                <a:srgbClr val="000000"/>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567" name="Rectangle 11"/>
            <p:cNvSpPr/>
            <p:nvPr/>
          </p:nvSpPr>
          <p:spPr>
            <a:xfrm>
              <a:off x="1488326" y="1553332"/>
              <a:ext cx="1050879" cy="327547"/>
            </a:xfrm>
            <a:prstGeom prst="rect">
              <a:avLst/>
            </a:prstGeom>
            <a:gradFill flip="none" rotWithShape="1">
              <a:gsLst>
                <a:gs pos="0">
                  <a:schemeClr val="accent4">
                    <a:lumOff val="28974"/>
                  </a:schemeClr>
                </a:gs>
                <a:gs pos="35000">
                  <a:srgbClr val="CFCFCF"/>
                </a:gs>
                <a:gs pos="100000">
                  <a:schemeClr val="accent4">
                    <a:lumOff val="48879"/>
                  </a:schemeClr>
                </a:gs>
              </a:gsLst>
              <a:lin ang="16200000" scaled="0"/>
            </a:gradFill>
            <a:ln w="9525" cap="flat">
              <a:solidFill>
                <a:srgbClr val="000000"/>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568" name="Rectangle 12"/>
            <p:cNvSpPr/>
            <p:nvPr/>
          </p:nvSpPr>
          <p:spPr>
            <a:xfrm>
              <a:off x="1488326" y="1225787"/>
              <a:ext cx="1050879" cy="327546"/>
            </a:xfrm>
            <a:prstGeom prst="rect">
              <a:avLst/>
            </a:prstGeom>
            <a:gradFill flip="none" rotWithShape="1">
              <a:gsLst>
                <a:gs pos="0">
                  <a:schemeClr val="accent4">
                    <a:lumOff val="28974"/>
                  </a:schemeClr>
                </a:gs>
                <a:gs pos="35000">
                  <a:srgbClr val="CFCFCF"/>
                </a:gs>
                <a:gs pos="100000">
                  <a:schemeClr val="accent4">
                    <a:lumOff val="48879"/>
                  </a:schemeClr>
                </a:gs>
              </a:gsLst>
              <a:lin ang="16200000" scaled="0"/>
            </a:gradFill>
            <a:ln w="9525" cap="flat">
              <a:solidFill>
                <a:srgbClr val="000000"/>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569" name="Freeform 14"/>
            <p:cNvSpPr/>
            <p:nvPr/>
          </p:nvSpPr>
          <p:spPr>
            <a:xfrm>
              <a:off x="1105338" y="0"/>
              <a:ext cx="965581" cy="118233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347" y="1366"/>
                    <a:pt x="10694" y="2731"/>
                    <a:pt x="14294" y="6331"/>
                  </a:cubicBezTo>
                  <a:cubicBezTo>
                    <a:pt x="17894" y="9931"/>
                    <a:pt x="21600" y="21600"/>
                    <a:pt x="21600" y="21600"/>
                  </a:cubicBezTo>
                </a:path>
              </a:pathLst>
            </a:custGeom>
            <a:noFill/>
            <a:ln w="76200" cap="flat">
              <a:solidFill>
                <a:srgbClr val="808080"/>
              </a:solidFill>
              <a:prstDash val="solid"/>
              <a:round/>
              <a:tailEnd type="triangle" w="med" len="med"/>
            </a:ln>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grpSp>
          <p:nvGrpSpPr>
            <p:cNvPr id="572" name="Rectangle 13"/>
            <p:cNvGrpSpPr/>
            <p:nvPr/>
          </p:nvGrpSpPr>
          <p:grpSpPr>
            <a:xfrm>
              <a:off x="1315173" y="284092"/>
              <a:ext cx="1050879" cy="355424"/>
              <a:chOff x="0" y="0"/>
              <a:chExt cx="1050878" cy="355423"/>
            </a:xfrm>
          </p:grpSpPr>
          <p:sp>
            <p:nvSpPr>
              <p:cNvPr id="570" name="Rectangle"/>
              <p:cNvSpPr/>
              <p:nvPr/>
            </p:nvSpPr>
            <p:spPr>
              <a:xfrm>
                <a:off x="0" y="0"/>
                <a:ext cx="1050879" cy="327546"/>
              </a:xfrm>
              <a:prstGeom prst="rect">
                <a:avLst/>
              </a:prstGeom>
              <a:gradFill flip="none" rotWithShape="1">
                <a:gsLst>
                  <a:gs pos="0">
                    <a:schemeClr val="accent2">
                      <a:satOff val="39999"/>
                      <a:lumOff val="32295"/>
                    </a:schemeClr>
                  </a:gs>
                  <a:gs pos="35000">
                    <a:srgbClr val="BFBFFF"/>
                  </a:gs>
                  <a:gs pos="100000">
                    <a:schemeClr val="accent2">
                      <a:satOff val="39999"/>
                      <a:lumOff val="45203"/>
                    </a:schemeClr>
                  </a:gs>
                </a:gsLst>
                <a:lin ang="16200000" scaled="0"/>
              </a:gradFill>
              <a:ln w="9525" cap="flat">
                <a:solidFill>
                  <a:srgbClr val="2E2ECB"/>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pPr marL="0" marR="0" lvl="0" indent="0" algn="ctr" defTabSz="449262" rtl="0" eaLnBrk="1" fontAlgn="auto" latinLnBrk="0" hangingPunct="0">
                  <a:lnSpc>
                    <a:spcPct val="93000"/>
                  </a:lnSpc>
                  <a:spcBef>
                    <a:spcPts val="0"/>
                  </a:spcBef>
                  <a:spcAft>
                    <a:spcPts val="0"/>
                  </a:spcAft>
                  <a:buClrTx/>
                  <a:buSzTx/>
                  <a:buFontTx/>
                  <a:buNone/>
                  <a:tabLst/>
                  <a:defRPr sz="1800">
                    <a:latin typeface="Arial"/>
                    <a:ea typeface="Arial"/>
                    <a:cs typeface="Arial"/>
                    <a:sym typeface="Arial"/>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571" name="ret addr"/>
              <p:cNvSpPr txBox="1"/>
              <p:nvPr/>
            </p:nvSpPr>
            <p:spPr>
              <a:xfrm>
                <a:off x="50482" y="4762"/>
                <a:ext cx="949914"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1800">
                    <a:latin typeface="Arial"/>
                    <a:ea typeface="Arial"/>
                    <a:cs typeface="Arial"/>
                    <a:sym typeface="Arial"/>
                  </a:defRPr>
                </a:lvl1pPr>
              </a:lstStyle>
              <a:p>
                <a:pPr marL="0" marR="0" lvl="0" indent="0" algn="ctr" defTabSz="449262" rtl="0" eaLnBrk="1" fontAlgn="auto" latinLnBrk="0" hangingPunct="0">
                  <a:lnSpc>
                    <a:spcPct val="93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Arial"/>
                    <a:cs typeface="Arial"/>
                    <a:sym typeface="Arial"/>
                  </a:rPr>
                  <a:t>ret addr</a:t>
                </a:r>
              </a:p>
            </p:txBody>
          </p:sp>
        </p:grpSp>
      </p:grpSp>
      <p:grpSp>
        <p:nvGrpSpPr>
          <p:cNvPr id="583" name="Group 22"/>
          <p:cNvGrpSpPr/>
          <p:nvPr/>
        </p:nvGrpSpPr>
        <p:grpSpPr>
          <a:xfrm>
            <a:off x="4981145" y="3368485"/>
            <a:ext cx="3187413" cy="3392898"/>
            <a:chOff x="0" y="0"/>
            <a:chExt cx="3187412" cy="3392896"/>
          </a:xfrm>
        </p:grpSpPr>
        <p:sp>
          <p:nvSpPr>
            <p:cNvPr id="574" name="Rectangle 4"/>
            <p:cNvSpPr/>
            <p:nvPr/>
          </p:nvSpPr>
          <p:spPr>
            <a:xfrm>
              <a:off x="299401" y="2208425"/>
              <a:ext cx="1050879" cy="327547"/>
            </a:xfrm>
            <a:prstGeom prst="rect">
              <a:avLst/>
            </a:prstGeom>
            <a:gradFill flip="none" rotWithShape="1">
              <a:gsLst>
                <a:gs pos="0">
                  <a:schemeClr val="accent4">
                    <a:lumOff val="28974"/>
                  </a:schemeClr>
                </a:gs>
                <a:gs pos="35000">
                  <a:srgbClr val="CFCFCF"/>
                </a:gs>
                <a:gs pos="100000">
                  <a:schemeClr val="accent4">
                    <a:lumOff val="48879"/>
                  </a:schemeClr>
                </a:gs>
              </a:gsLst>
              <a:lin ang="16200000" scaled="0"/>
            </a:gradFill>
            <a:ln w="9525" cap="flat">
              <a:solidFill>
                <a:srgbClr val="000000"/>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575" name="Rectangle 5"/>
            <p:cNvSpPr/>
            <p:nvPr/>
          </p:nvSpPr>
          <p:spPr>
            <a:xfrm>
              <a:off x="299401" y="1880878"/>
              <a:ext cx="1050879" cy="327547"/>
            </a:xfrm>
            <a:prstGeom prst="rect">
              <a:avLst/>
            </a:prstGeom>
            <a:gradFill flip="none" rotWithShape="1">
              <a:gsLst>
                <a:gs pos="0">
                  <a:schemeClr val="accent4">
                    <a:lumOff val="28974"/>
                  </a:schemeClr>
                </a:gs>
                <a:gs pos="35000">
                  <a:srgbClr val="CFCFCF"/>
                </a:gs>
                <a:gs pos="100000">
                  <a:schemeClr val="accent4">
                    <a:lumOff val="48879"/>
                  </a:schemeClr>
                </a:gs>
              </a:gsLst>
              <a:lin ang="16200000" scaled="0"/>
            </a:gradFill>
            <a:ln w="9525" cap="flat">
              <a:solidFill>
                <a:srgbClr val="000000"/>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576" name="Rectangle 6"/>
            <p:cNvSpPr/>
            <p:nvPr/>
          </p:nvSpPr>
          <p:spPr>
            <a:xfrm>
              <a:off x="299401" y="1553332"/>
              <a:ext cx="1050879" cy="327547"/>
            </a:xfrm>
            <a:prstGeom prst="rect">
              <a:avLst/>
            </a:prstGeom>
            <a:gradFill flip="none" rotWithShape="1">
              <a:gsLst>
                <a:gs pos="0">
                  <a:schemeClr val="accent4">
                    <a:lumOff val="28974"/>
                  </a:schemeClr>
                </a:gs>
                <a:gs pos="35000">
                  <a:srgbClr val="CFCFCF"/>
                </a:gs>
                <a:gs pos="100000">
                  <a:schemeClr val="accent4">
                    <a:lumOff val="48879"/>
                  </a:schemeClr>
                </a:gs>
              </a:gsLst>
              <a:lin ang="16200000" scaled="0"/>
            </a:gradFill>
            <a:ln w="9525" cap="flat">
              <a:solidFill>
                <a:srgbClr val="000000"/>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577" name="Rectangle 7"/>
            <p:cNvSpPr/>
            <p:nvPr/>
          </p:nvSpPr>
          <p:spPr>
            <a:xfrm>
              <a:off x="299401" y="1225787"/>
              <a:ext cx="1050879" cy="327546"/>
            </a:xfrm>
            <a:prstGeom prst="rect">
              <a:avLst/>
            </a:prstGeom>
            <a:gradFill flip="none" rotWithShape="1">
              <a:gsLst>
                <a:gs pos="0">
                  <a:schemeClr val="accent4">
                    <a:lumOff val="28974"/>
                  </a:schemeClr>
                </a:gs>
                <a:gs pos="35000">
                  <a:srgbClr val="CFCFCF"/>
                </a:gs>
                <a:gs pos="100000">
                  <a:schemeClr val="accent4">
                    <a:lumOff val="48879"/>
                  </a:schemeClr>
                </a:gs>
              </a:gsLst>
              <a:lin ang="16200000" scaled="0"/>
            </a:gradFill>
            <a:ln w="9525" cap="flat">
              <a:solidFill>
                <a:srgbClr val="000000"/>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578" name="Freeform 15"/>
            <p:cNvSpPr/>
            <p:nvPr/>
          </p:nvSpPr>
          <p:spPr>
            <a:xfrm flipH="1">
              <a:off x="824840" y="0"/>
              <a:ext cx="965581" cy="118233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347" y="1366"/>
                    <a:pt x="10694" y="2731"/>
                    <a:pt x="14294" y="6331"/>
                  </a:cubicBezTo>
                  <a:cubicBezTo>
                    <a:pt x="17894" y="9931"/>
                    <a:pt x="21600" y="21600"/>
                    <a:pt x="21600" y="21600"/>
                  </a:cubicBezTo>
                </a:path>
              </a:pathLst>
            </a:custGeom>
            <a:noFill/>
            <a:ln w="76200" cap="flat">
              <a:solidFill>
                <a:srgbClr val="808080"/>
              </a:solidFill>
              <a:prstDash val="solid"/>
              <a:round/>
              <a:headEnd type="triangle" w="med" len="med"/>
            </a:ln>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grpSp>
          <p:nvGrpSpPr>
            <p:cNvPr id="581" name="Rectangle 16"/>
            <p:cNvGrpSpPr/>
            <p:nvPr/>
          </p:nvGrpSpPr>
          <p:grpSpPr>
            <a:xfrm>
              <a:off x="464880" y="427392"/>
              <a:ext cx="1050879" cy="355425"/>
              <a:chOff x="0" y="0"/>
              <a:chExt cx="1050878" cy="355423"/>
            </a:xfrm>
          </p:grpSpPr>
          <p:sp>
            <p:nvSpPr>
              <p:cNvPr id="579" name="Rectangle"/>
              <p:cNvSpPr/>
              <p:nvPr/>
            </p:nvSpPr>
            <p:spPr>
              <a:xfrm>
                <a:off x="0" y="0"/>
                <a:ext cx="1050879" cy="327546"/>
              </a:xfrm>
              <a:prstGeom prst="rect">
                <a:avLst/>
              </a:prstGeom>
              <a:gradFill flip="none" rotWithShape="1">
                <a:gsLst>
                  <a:gs pos="0">
                    <a:schemeClr val="accent2">
                      <a:satOff val="39999"/>
                      <a:lumOff val="32295"/>
                    </a:schemeClr>
                  </a:gs>
                  <a:gs pos="35000">
                    <a:srgbClr val="BFBFFF"/>
                  </a:gs>
                  <a:gs pos="100000">
                    <a:schemeClr val="accent2">
                      <a:satOff val="39999"/>
                      <a:lumOff val="45203"/>
                    </a:schemeClr>
                  </a:gs>
                </a:gsLst>
                <a:lin ang="16200000" scaled="0"/>
              </a:gradFill>
              <a:ln w="9525" cap="flat">
                <a:solidFill>
                  <a:srgbClr val="2E2ECB"/>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pPr marL="0" marR="0" lvl="0" indent="0" algn="ctr" defTabSz="449262" rtl="0" eaLnBrk="1" fontAlgn="auto" latinLnBrk="0" hangingPunct="0">
                  <a:lnSpc>
                    <a:spcPct val="93000"/>
                  </a:lnSpc>
                  <a:spcBef>
                    <a:spcPts val="0"/>
                  </a:spcBef>
                  <a:spcAft>
                    <a:spcPts val="0"/>
                  </a:spcAft>
                  <a:buClrTx/>
                  <a:buSzTx/>
                  <a:buFontTx/>
                  <a:buNone/>
                  <a:tabLst/>
                  <a:defRPr sz="1800">
                    <a:latin typeface="Arial"/>
                    <a:ea typeface="Arial"/>
                    <a:cs typeface="Arial"/>
                    <a:sym typeface="Arial"/>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580" name="ret addr"/>
              <p:cNvSpPr txBox="1"/>
              <p:nvPr/>
            </p:nvSpPr>
            <p:spPr>
              <a:xfrm>
                <a:off x="50482" y="4762"/>
                <a:ext cx="949914"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1800">
                    <a:latin typeface="Arial"/>
                    <a:ea typeface="Arial"/>
                    <a:cs typeface="Arial"/>
                    <a:sym typeface="Arial"/>
                  </a:defRPr>
                </a:lvl1pPr>
              </a:lstStyle>
              <a:p>
                <a:pPr marL="0" marR="0" lvl="0" indent="0" algn="ctr" defTabSz="449262" rtl="0" eaLnBrk="1" fontAlgn="auto" latinLnBrk="0" hangingPunct="0">
                  <a:lnSpc>
                    <a:spcPct val="93000"/>
                  </a:lnSpc>
                  <a:spcBef>
                    <a:spcPts val="0"/>
                  </a:spcBef>
                  <a:spcAft>
                    <a:spcPts val="0"/>
                  </a:spcAft>
                  <a:buClrTx/>
                  <a:buSzTx/>
                  <a:buFontTx/>
                  <a:buNone/>
                  <a:tabLst/>
                  <a:defRPr/>
                </a:pPr>
                <a:r>
                  <a:rPr kumimoji="0" sz="1800" b="0" i="0" u="none" strike="noStrike" kern="0" cap="none" spc="0" normalizeH="0" baseline="0" noProof="0">
                    <a:ln>
                      <a:noFill/>
                    </a:ln>
                    <a:solidFill>
                      <a:srgbClr val="000000"/>
                    </a:solidFill>
                    <a:effectLst/>
                    <a:uLnTx/>
                    <a:uFillTx/>
                    <a:latin typeface="Arial"/>
                    <a:cs typeface="Arial"/>
                    <a:sym typeface="Arial"/>
                  </a:rPr>
                  <a:t>ret addr</a:t>
                </a:r>
              </a:p>
            </p:txBody>
          </p:sp>
        </p:grpSp>
        <p:sp>
          <p:nvSpPr>
            <p:cNvPr id="582" name="TextBox 20"/>
            <p:cNvSpPr txBox="1"/>
            <p:nvPr/>
          </p:nvSpPr>
          <p:spPr>
            <a:xfrm>
              <a:off x="0" y="2624421"/>
              <a:ext cx="3187413" cy="76847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marL="0" marR="0" lvl="0" indent="0" algn="l"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r>
                <a:rPr kumimoji="0" sz="2400" b="0" i="0" u="none" strike="noStrike" kern="0" cap="none" spc="0" normalizeH="0" baseline="0" noProof="0">
                  <a:ln>
                    <a:noFill/>
                  </a:ln>
                  <a:solidFill>
                    <a:srgbClr val="000000"/>
                  </a:solidFill>
                  <a:effectLst/>
                  <a:uLnTx/>
                  <a:uFillTx/>
                  <a:latin typeface="Arial"/>
                  <a:cs typeface="Arial"/>
                  <a:sym typeface="Arial"/>
                </a:rPr>
                <a:t>when we see a </a:t>
              </a:r>
              <a:r>
                <a:rPr kumimoji="0" sz="2400" b="1" i="0" u="none" strike="noStrike" kern="0" cap="none" spc="0" normalizeH="0" baseline="0" noProof="0">
                  <a:ln>
                    <a:noFill/>
                  </a:ln>
                  <a:solidFill>
                    <a:srgbClr val="000000"/>
                  </a:solidFill>
                  <a:effectLst/>
                  <a:uLnTx/>
                  <a:uFillTx/>
                  <a:latin typeface="Arial"/>
                  <a:cs typeface="Arial"/>
                  <a:sym typeface="Arial"/>
                </a:rPr>
                <a:t>return</a:t>
              </a:r>
              <a:r>
                <a:rPr kumimoji="0" sz="2400" b="0" i="0" u="none" strike="noStrike" kern="0" cap="none" spc="0" normalizeH="0" baseline="0" noProof="0">
                  <a:ln>
                    <a:noFill/>
                  </a:ln>
                  <a:solidFill>
                    <a:srgbClr val="000000"/>
                  </a:solidFill>
                  <a:effectLst/>
                  <a:uLnTx/>
                  <a:uFillTx/>
                  <a:latin typeface="Arial"/>
                  <a:cs typeface="Arial"/>
                  <a:sym typeface="Arial"/>
                </a:rPr>
                <a:t>:</a:t>
              </a: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a:p>
              <a:pPr marL="0" marR="0" lvl="0" indent="0" algn="l"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r>
                <a:rPr kumimoji="0" sz="2400" b="0" i="0" u="none" strike="noStrike" kern="0" cap="none" spc="0" normalizeH="0" baseline="0" noProof="0">
                  <a:ln>
                    <a:noFill/>
                  </a:ln>
                  <a:solidFill>
                    <a:srgbClr val="000000"/>
                  </a:solidFill>
                  <a:effectLst/>
                  <a:uLnTx/>
                  <a:uFillTx/>
                  <a:latin typeface="Arial"/>
                  <a:cs typeface="Arial"/>
                  <a:sym typeface="Arial"/>
                </a:rPr>
                <a:t>pop addr from stack</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6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56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56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56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57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5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 grpId="0" build="p" bldLvl="5" animBg="1" advAuto="0"/>
      <p:bldP spid="573" grpId="0" animBg="1" advAuto="0"/>
      <p:bldP spid="583" grpId="0"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4FC92A6C-E008-F022-DA73-48D2406D0E75}"/>
              </a:ext>
            </a:extLst>
          </p:cNvPr>
          <p:cNvSpPr>
            <a:spLocks noGrp="1"/>
          </p:cNvSpPr>
          <p:nvPr>
            <p:ph type="title"/>
          </p:nvPr>
        </p:nvSpPr>
        <p:spPr/>
        <p:txBody>
          <a:bodyPr/>
          <a:lstStyle/>
          <a:p>
            <a:r>
              <a:rPr lang="en-US" altLang="en-US">
                <a:latin typeface="Arial  " charset="0"/>
                <a:cs typeface="Arial  " charset="0"/>
              </a:rPr>
              <a:t>BTB Terminology</a:t>
            </a:r>
          </a:p>
        </p:txBody>
      </p:sp>
      <p:sp>
        <p:nvSpPr>
          <p:cNvPr id="33795" name="Content Placeholder 2">
            <a:extLst>
              <a:ext uri="{FF2B5EF4-FFF2-40B4-BE49-F238E27FC236}">
                <a16:creationId xmlns:a16="http://schemas.microsoft.com/office/drawing/2014/main" id="{3E72F540-D9FF-C575-2527-A1756E89BB35}"/>
              </a:ext>
            </a:extLst>
          </p:cNvPr>
          <p:cNvSpPr>
            <a:spLocks noGrp="1"/>
          </p:cNvSpPr>
          <p:nvPr>
            <p:ph idx="1"/>
          </p:nvPr>
        </p:nvSpPr>
        <p:spPr>
          <a:xfrm>
            <a:off x="685800" y="1268413"/>
            <a:ext cx="7770813" cy="4722812"/>
          </a:xfrm>
        </p:spPr>
        <p:txBody>
          <a:bodyPr/>
          <a:lstStyle/>
          <a:p>
            <a:r>
              <a:rPr lang="en-US" altLang="en-US" sz="2000" dirty="0">
                <a:latin typeface="Arial  " charset="0"/>
                <a:cs typeface="Arial  " charset="0"/>
              </a:rPr>
              <a:t>In some designs, the BTB is combined with the branch predictor.  Often the combined hardware is also called a BTB (even though it corresponds to a BTB and a branch predictor).</a:t>
            </a:r>
          </a:p>
          <a:p>
            <a:r>
              <a:rPr lang="en-US" altLang="en-US" sz="2000" dirty="0">
                <a:latin typeface="Arial  " charset="0"/>
                <a:cs typeface="Arial  " charset="0"/>
              </a:rPr>
              <a:t>This is not true in all designs</a:t>
            </a:r>
          </a:p>
          <a:p>
            <a:r>
              <a:rPr lang="en-US" altLang="en-US" sz="2000" dirty="0">
                <a:latin typeface="Arial  " charset="0"/>
                <a:cs typeface="Arial  " charset="0"/>
              </a:rPr>
              <a:t>Some use “branch predictor” to mean BTB + branch predictor</a:t>
            </a:r>
          </a:p>
          <a:p>
            <a:r>
              <a:rPr lang="en-US" altLang="en-US" sz="2000" dirty="0">
                <a:latin typeface="Arial  " charset="0"/>
                <a:cs typeface="Arial  " charset="0"/>
              </a:rPr>
              <a:t>H&amp;P uses BTB to mean BTB + branch predictor</a:t>
            </a:r>
          </a:p>
          <a:p>
            <a:r>
              <a:rPr lang="en-US" altLang="en-US" sz="2000" dirty="0">
                <a:latin typeface="Arial  " charset="0"/>
                <a:cs typeface="Arial  " charset="0"/>
              </a:rPr>
              <a:t>On 411 quiz/exam: BTB means only the part of the hardware that predicts the branch target, not whether the branch is taken.</a:t>
            </a:r>
          </a:p>
        </p:txBody>
      </p:sp>
      <p:sp>
        <p:nvSpPr>
          <p:cNvPr id="33796" name="Slide Number Placeholder 5">
            <a:extLst>
              <a:ext uri="{FF2B5EF4-FFF2-40B4-BE49-F238E27FC236}">
                <a16:creationId xmlns:a16="http://schemas.microsoft.com/office/drawing/2014/main" id="{ADC08C00-0C13-0649-5286-679BF0902D7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C381A470-126A-BF45-A3A7-C85A8296660E}" type="slidenum">
              <a:rPr lang="en-GB" altLang="en-US" sz="1400">
                <a:solidFill>
                  <a:srgbClr val="000000"/>
                </a:solidFill>
                <a:latin typeface="Arial  " charset="0"/>
              </a:rPr>
              <a:pPr/>
              <a:t>32</a:t>
            </a:fld>
            <a:r>
              <a:rPr lang="en-GB" altLang="en-US" sz="1400">
                <a:solidFill>
                  <a:srgbClr val="000000"/>
                </a:solidFill>
                <a:latin typeface="Arial  " charset="0"/>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E97EB12-3F1F-AC8D-175A-5C2C58FB3AD5}"/>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200">
                <a:latin typeface="Arial  " charset="0"/>
                <a:cs typeface="Arial  " charset="0"/>
              </a:rPr>
              <a:t>Another Branch Prediction Example…</a:t>
            </a:r>
          </a:p>
        </p:txBody>
      </p:sp>
      <p:sp>
        <p:nvSpPr>
          <p:cNvPr id="34819" name="Rectangle 3">
            <a:extLst>
              <a:ext uri="{FF2B5EF4-FFF2-40B4-BE49-F238E27FC236}">
                <a16:creationId xmlns:a16="http://schemas.microsoft.com/office/drawing/2014/main" id="{FD28E53A-D9E2-B462-B4F7-6E81BF0AA006}"/>
              </a:ext>
            </a:extLst>
          </p:cNvPr>
          <p:cNvSpPr>
            <a:spLocks noGrp="1" noChangeArrowheads="1"/>
          </p:cNvSpPr>
          <p:nvPr>
            <p:ph type="body" idx="1"/>
          </p:nvPr>
        </p:nvSpPr>
        <p:spPr>
          <a:xfrm>
            <a:off x="3556000" y="1028700"/>
            <a:ext cx="5588000" cy="2362200"/>
          </a:xfrm>
        </p:spPr>
        <p:txBody>
          <a:bodyPr/>
          <a:lstStyle/>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latin typeface="Arial  " charset="0"/>
                <a:cs typeface="Arial  " charset="0"/>
              </a:rPr>
              <a:t>		     </a:t>
            </a:r>
            <a:r>
              <a:rPr lang="en-GB" altLang="en-US" sz="1800" u="sng">
                <a:latin typeface="Arial  " charset="0"/>
                <a:cs typeface="Arial  " charset="0"/>
              </a:rPr>
              <a:t>MIPS64 Assembly</a:t>
            </a:r>
            <a:r>
              <a:rPr lang="en-GB" altLang="en-US" sz="1800">
                <a:latin typeface="Arial  " charset="0"/>
                <a:cs typeface="Arial  " charset="0"/>
              </a:rPr>
              <a:t> </a:t>
            </a:r>
            <a:endParaRPr lang="en-GB" altLang="en-US" sz="1400">
              <a:latin typeface="Arial  " charset="0"/>
              <a:cs typeface="Arial  " charset="0"/>
            </a:endParaRP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solidFill>
                  <a:srgbClr val="FF0000"/>
                </a:solidFill>
                <a:latin typeface="Arial  " charset="0"/>
                <a:cs typeface="Arial  " charset="0"/>
              </a:rPr>
              <a:t>000000</a:t>
            </a:r>
            <a:r>
              <a:rPr lang="en-GB" altLang="en-US" sz="1400" baseline="-25000">
                <a:solidFill>
                  <a:srgbClr val="FF0000"/>
                </a:solidFill>
                <a:latin typeface="Arial  " charset="0"/>
                <a:cs typeface="Arial  " charset="0"/>
              </a:rPr>
              <a:t>2</a:t>
            </a:r>
            <a:r>
              <a:rPr lang="en-GB" altLang="en-US" sz="1400">
                <a:latin typeface="Arial  " charset="0"/>
                <a:cs typeface="Arial  " charset="0"/>
              </a:rPr>
              <a:t>	     </a:t>
            </a:r>
            <a:r>
              <a:rPr lang="en-GB" altLang="en-US" sz="1400">
                <a:solidFill>
                  <a:srgbClr val="FF0000"/>
                </a:solidFill>
                <a:latin typeface="Arial  " charset="0"/>
                <a:cs typeface="Arial  " charset="0"/>
              </a:rPr>
              <a:t>BNEZ	R1,</a:t>
            </a:r>
            <a:r>
              <a:rPr lang="en-GB" altLang="en-US" sz="1400">
                <a:solidFill>
                  <a:srgbClr val="FF00FF"/>
                </a:solidFill>
                <a:latin typeface="Arial  " charset="0"/>
                <a:cs typeface="Arial  " charset="0"/>
              </a:rPr>
              <a:t>L1</a:t>
            </a:r>
            <a:r>
              <a:rPr lang="en-GB" altLang="en-US" sz="1400">
                <a:solidFill>
                  <a:srgbClr val="FF0000"/>
                </a:solidFill>
                <a:latin typeface="Arial  " charset="0"/>
                <a:cs typeface="Arial  " charset="0"/>
              </a:rPr>
              <a:t>	    ; branch </a:t>
            </a:r>
            <a:r>
              <a:rPr lang="en-GB" altLang="en-US" sz="1400" b="1" u="sng">
                <a:solidFill>
                  <a:srgbClr val="FF0000"/>
                </a:solidFill>
                <a:latin typeface="Arial  " charset="0"/>
                <a:cs typeface="Arial  " charset="0"/>
              </a:rPr>
              <a:t>b1</a:t>
            </a:r>
            <a:r>
              <a:rPr lang="en-GB" altLang="en-US" sz="1400">
                <a:solidFill>
                  <a:srgbClr val="FF0000"/>
                </a:solidFill>
                <a:latin typeface="Arial  " charset="0"/>
                <a:cs typeface="Arial  " charset="0"/>
              </a:rPr>
              <a:t> (d!=0)</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solidFill>
                  <a:srgbClr val="0000FF"/>
                </a:solidFill>
                <a:latin typeface="Arial  " charset="0"/>
                <a:cs typeface="Arial  " charset="0"/>
              </a:rPr>
              <a:t>000100</a:t>
            </a:r>
            <a:r>
              <a:rPr lang="en-GB" altLang="en-US" sz="1400" baseline="-25000">
                <a:solidFill>
                  <a:srgbClr val="0000FF"/>
                </a:solidFill>
                <a:latin typeface="Arial  " charset="0"/>
                <a:cs typeface="Arial  " charset="0"/>
              </a:rPr>
              <a:t>2</a:t>
            </a:r>
            <a:r>
              <a:rPr lang="en-GB" altLang="en-US" sz="1400">
                <a:latin typeface="Arial  " charset="0"/>
                <a:cs typeface="Arial  " charset="0"/>
              </a:rPr>
              <a:t>	     </a:t>
            </a:r>
            <a:r>
              <a:rPr lang="en-GB" altLang="en-US" sz="1400">
                <a:solidFill>
                  <a:srgbClr val="0000FF"/>
                </a:solidFill>
                <a:latin typeface="Arial  " charset="0"/>
                <a:cs typeface="Arial  " charset="0"/>
              </a:rPr>
              <a:t>DADDI  R1,R0,#1        ; d=1</a:t>
            </a:r>
          </a:p>
          <a:p>
            <a:pPr eaLnBrk="1" hangingPunct="1">
              <a:lnSpc>
                <a:spcPct val="100000"/>
              </a:lnSpc>
              <a:spcBef>
                <a:spcPts val="450"/>
              </a:spcBef>
              <a:buClr>
                <a:srgbClr val="FF00FF"/>
              </a:buClr>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solidFill>
                  <a:srgbClr val="FF00FF"/>
                </a:solidFill>
                <a:latin typeface="Arial  " charset="0"/>
                <a:cs typeface="Arial  " charset="0"/>
              </a:rPr>
              <a:t>001000</a:t>
            </a:r>
            <a:r>
              <a:rPr lang="en-GB" altLang="en-US" sz="1400" baseline="-25000">
                <a:solidFill>
                  <a:srgbClr val="FF00FF"/>
                </a:solidFill>
                <a:latin typeface="Arial  " charset="0"/>
                <a:cs typeface="Arial  " charset="0"/>
              </a:rPr>
              <a:t>2</a:t>
            </a:r>
            <a:r>
              <a:rPr lang="en-GB" altLang="en-US" sz="1400">
                <a:solidFill>
                  <a:srgbClr val="FF00FF"/>
                </a:solidFill>
                <a:latin typeface="Arial  " charset="0"/>
                <a:cs typeface="Arial  " charset="0"/>
              </a:rPr>
              <a:t>   L1:  DADDI  R3,R1,#-1       ; R3 = d - 1</a:t>
            </a:r>
          </a:p>
          <a:p>
            <a:pPr eaLnBrk="1" hangingPunct="1">
              <a:lnSpc>
                <a:spcPct val="100000"/>
              </a:lnSpc>
              <a:spcBef>
                <a:spcPts val="450"/>
              </a:spcBef>
              <a:buClr>
                <a:srgbClr val="FF00FF"/>
              </a:buClr>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solidFill>
                  <a:srgbClr val="FF00FF"/>
                </a:solidFill>
                <a:latin typeface="Arial  " charset="0"/>
                <a:cs typeface="Arial  " charset="0"/>
              </a:rPr>
              <a:t>001100</a:t>
            </a:r>
            <a:r>
              <a:rPr lang="en-GB" altLang="en-US" sz="1400" baseline="-25000">
                <a:solidFill>
                  <a:srgbClr val="FF00FF"/>
                </a:solidFill>
                <a:latin typeface="Arial  " charset="0"/>
                <a:cs typeface="Arial  " charset="0"/>
              </a:rPr>
              <a:t>2</a:t>
            </a:r>
            <a:r>
              <a:rPr lang="en-GB" altLang="en-US" sz="1400">
                <a:solidFill>
                  <a:srgbClr val="FF00FF"/>
                </a:solidFill>
                <a:latin typeface="Arial  " charset="0"/>
                <a:cs typeface="Arial  " charset="0"/>
              </a:rPr>
              <a:t>	     BNEZ	R3,</a:t>
            </a:r>
            <a:r>
              <a:rPr lang="en-GB" altLang="en-US" sz="1400">
                <a:latin typeface="Arial  " charset="0"/>
                <a:cs typeface="Arial  " charset="0"/>
              </a:rPr>
              <a:t>L2</a:t>
            </a:r>
            <a:r>
              <a:rPr lang="en-GB" altLang="en-US" sz="1400">
                <a:solidFill>
                  <a:srgbClr val="FF00FF"/>
                </a:solidFill>
                <a:latin typeface="Arial  " charset="0"/>
                <a:cs typeface="Arial  " charset="0"/>
              </a:rPr>
              <a:t>	    ; branch </a:t>
            </a:r>
            <a:r>
              <a:rPr lang="en-GB" altLang="en-US" sz="1400" b="1" u="sng">
                <a:solidFill>
                  <a:srgbClr val="FF00FF"/>
                </a:solidFill>
                <a:latin typeface="Arial  " charset="0"/>
                <a:cs typeface="Arial  " charset="0"/>
              </a:rPr>
              <a:t>b2</a:t>
            </a:r>
            <a:r>
              <a:rPr lang="en-GB" altLang="en-US" sz="1400">
                <a:solidFill>
                  <a:srgbClr val="FF00FF"/>
                </a:solidFill>
                <a:latin typeface="Arial  " charset="0"/>
                <a:cs typeface="Arial  " charset="0"/>
              </a:rPr>
              <a:t> (d!=1)</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latin typeface="Arial  " charset="0"/>
                <a:cs typeface="Arial  " charset="0"/>
              </a:rPr>
              <a:t>		     </a:t>
            </a:r>
            <a:r>
              <a:rPr lang="en-GB" altLang="en-US" sz="1400">
                <a:solidFill>
                  <a:srgbClr val="FF00FF"/>
                </a:solidFill>
                <a:latin typeface="Arial  " charset="0"/>
                <a:cs typeface="Arial  " charset="0"/>
              </a:rPr>
              <a:t>...</a:t>
            </a:r>
            <a:endParaRPr lang="en-GB" altLang="en-US" sz="1800">
              <a:solidFill>
                <a:srgbClr val="FF00FF"/>
              </a:solidFill>
              <a:latin typeface="Arial  " charset="0"/>
              <a:cs typeface="Arial  " charset="0"/>
            </a:endParaRP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latin typeface="Arial  " charset="0"/>
                <a:cs typeface="Arial  " charset="0"/>
              </a:rPr>
              <a:t>100100</a:t>
            </a:r>
            <a:r>
              <a:rPr lang="en-GB" altLang="en-US" sz="1400" baseline="-25000">
                <a:latin typeface="Arial  " charset="0"/>
                <a:cs typeface="Arial  " charset="0"/>
              </a:rPr>
              <a:t>2</a:t>
            </a:r>
            <a:r>
              <a:rPr lang="en-GB" altLang="en-US" sz="1400">
                <a:latin typeface="Arial  " charset="0"/>
                <a:cs typeface="Arial  " charset="0"/>
              </a:rPr>
              <a:t>   L2:</a:t>
            </a:r>
            <a:endParaRPr lang="en-GB" altLang="en-US" sz="1800">
              <a:latin typeface="Arial  " charset="0"/>
              <a:cs typeface="Arial  " charset="0"/>
            </a:endParaRPr>
          </a:p>
        </p:txBody>
      </p:sp>
      <p:sp>
        <p:nvSpPr>
          <p:cNvPr id="34820" name="Text Box 4">
            <a:extLst>
              <a:ext uri="{FF2B5EF4-FFF2-40B4-BE49-F238E27FC236}">
                <a16:creationId xmlns:a16="http://schemas.microsoft.com/office/drawing/2014/main" id="{DB971C12-3779-AA97-9CE1-398E312DB374}"/>
              </a:ext>
            </a:extLst>
          </p:cNvPr>
          <p:cNvSpPr txBox="1">
            <a:spLocks noChangeArrowheads="1"/>
          </p:cNvSpPr>
          <p:nvPr/>
        </p:nvSpPr>
        <p:spPr bwMode="auto">
          <a:xfrm>
            <a:off x="609600" y="3505200"/>
            <a:ext cx="55245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spcBef>
                <a:spcPts val="1500"/>
              </a:spcBef>
              <a:buFont typeface="Comic Sans MS" panose="030F0902030302020204" pitchFamily="66" charset="0"/>
              <a:buNone/>
            </a:pPr>
            <a:r>
              <a:rPr lang="en-GB" altLang="en-US">
                <a:solidFill>
                  <a:srgbClr val="000000"/>
                </a:solidFill>
                <a:cs typeface="Arial" panose="020B0604020202020204" pitchFamily="34" charset="0"/>
              </a:rPr>
              <a:t>consider initial values for d = 0, 1, 2:</a:t>
            </a:r>
          </a:p>
        </p:txBody>
      </p:sp>
      <p:sp>
        <p:nvSpPr>
          <p:cNvPr id="34821" name="Text Box 5">
            <a:extLst>
              <a:ext uri="{FF2B5EF4-FFF2-40B4-BE49-F238E27FC236}">
                <a16:creationId xmlns:a16="http://schemas.microsoft.com/office/drawing/2014/main" id="{AF69E954-E483-1022-E7D1-45716617073D}"/>
              </a:ext>
            </a:extLst>
          </p:cNvPr>
          <p:cNvSpPr txBox="1">
            <a:spLocks noChangeArrowheads="1"/>
          </p:cNvSpPr>
          <p:nvPr/>
        </p:nvSpPr>
        <p:spPr bwMode="auto">
          <a:xfrm>
            <a:off x="431800" y="965200"/>
            <a:ext cx="2095500"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600"/>
              </a:spcBef>
              <a:buFont typeface="Comic Sans MS" panose="030F0902030302020204" pitchFamily="66" charset="0"/>
              <a:buNone/>
            </a:pPr>
            <a:r>
              <a:rPr lang="en-GB" altLang="en-US" sz="1800" u="sng">
                <a:solidFill>
                  <a:srgbClr val="000000"/>
                </a:solidFill>
                <a:cs typeface="Arial" panose="020B0604020202020204" pitchFamily="34" charset="0"/>
              </a:rPr>
              <a:t>C code</a:t>
            </a:r>
          </a:p>
          <a:p>
            <a:pPr eaLnBrk="1" hangingPunct="1">
              <a:lnSpc>
                <a:spcPct val="100000"/>
              </a:lnSpc>
              <a:spcBef>
                <a:spcPts val="60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if (d==0) // b1</a:t>
            </a:r>
          </a:p>
          <a:p>
            <a:pPr eaLnBrk="1" hangingPunct="1">
              <a:lnSpc>
                <a:spcPct val="100000"/>
              </a:lnSpc>
              <a:buFont typeface="Comic Sans MS" panose="030F0902030302020204" pitchFamily="66" charset="0"/>
              <a:buNone/>
            </a:pPr>
            <a:r>
              <a:rPr lang="en-GB" altLang="en-US" sz="1800">
                <a:solidFill>
                  <a:srgbClr val="000000"/>
                </a:solidFill>
                <a:cs typeface="Arial" panose="020B0604020202020204" pitchFamily="34" charset="0"/>
              </a:rPr>
              <a:t>    </a:t>
            </a:r>
            <a:r>
              <a:rPr lang="en-GB" altLang="en-US" sz="1800">
                <a:solidFill>
                  <a:srgbClr val="0000FF"/>
                </a:solidFill>
                <a:cs typeface="Arial" panose="020B0604020202020204" pitchFamily="34" charset="0"/>
              </a:rPr>
              <a:t>d=1;</a:t>
            </a:r>
          </a:p>
          <a:p>
            <a:pPr eaLnBrk="1" hangingPunct="1">
              <a:lnSpc>
                <a:spcPct val="100000"/>
              </a:lnSpc>
              <a:buClr>
                <a:srgbClr val="FF00FF"/>
              </a:buClr>
              <a:buFont typeface="Comic Sans MS" panose="030F0902030302020204" pitchFamily="66" charset="0"/>
              <a:buNone/>
            </a:pPr>
            <a:r>
              <a:rPr lang="en-GB" altLang="en-US" sz="1800">
                <a:solidFill>
                  <a:srgbClr val="FF00FF"/>
                </a:solidFill>
                <a:cs typeface="Arial" panose="020B0604020202020204" pitchFamily="34" charset="0"/>
              </a:rPr>
              <a:t>if (d==1) { // b2</a:t>
            </a:r>
          </a:p>
          <a:p>
            <a:pPr>
              <a:lnSpc>
                <a:spcPct val="100000"/>
              </a:lnSpc>
              <a:buClr>
                <a:srgbClr val="FF00FF"/>
              </a:buClr>
              <a:buFont typeface="Comic Sans MS" panose="030F0902030302020204" pitchFamily="66" charset="0"/>
              <a:buNone/>
            </a:pPr>
            <a:r>
              <a:rPr lang="en-GB" altLang="en-US" sz="1800">
                <a:solidFill>
                  <a:srgbClr val="FF00FF"/>
                </a:solidFill>
                <a:cs typeface="Arial" panose="020B0604020202020204" pitchFamily="34" charset="0"/>
              </a:rPr>
              <a:t>    …</a:t>
            </a:r>
          </a:p>
          <a:p>
            <a:pPr>
              <a:lnSpc>
                <a:spcPct val="100000"/>
              </a:lnSpc>
              <a:buClr>
                <a:srgbClr val="FF00FF"/>
              </a:buClr>
              <a:buFont typeface="Comic Sans MS" panose="030F0902030302020204" pitchFamily="66" charset="0"/>
              <a:buNone/>
            </a:pPr>
            <a:r>
              <a:rPr lang="en-GB" altLang="en-US" sz="1800">
                <a:solidFill>
                  <a:srgbClr val="FF00FF"/>
                </a:solidFill>
                <a:cs typeface="Arial" panose="020B0604020202020204" pitchFamily="34" charset="0"/>
              </a:rPr>
              <a:t>}</a:t>
            </a:r>
          </a:p>
        </p:txBody>
      </p:sp>
      <p:sp>
        <p:nvSpPr>
          <p:cNvPr id="34822" name="Line 6">
            <a:extLst>
              <a:ext uri="{FF2B5EF4-FFF2-40B4-BE49-F238E27FC236}">
                <a16:creationId xmlns:a16="http://schemas.microsoft.com/office/drawing/2014/main" id="{6C75AA7E-F4F0-5E22-0E89-7C6776EB5A32}"/>
              </a:ext>
            </a:extLst>
          </p:cNvPr>
          <p:cNvSpPr>
            <a:spLocks noChangeShapeType="1"/>
          </p:cNvSpPr>
          <p:nvPr/>
        </p:nvSpPr>
        <p:spPr bwMode="auto">
          <a:xfrm>
            <a:off x="2125663" y="1790700"/>
            <a:ext cx="1054100" cy="1588"/>
          </a:xfrm>
          <a:prstGeom prst="line">
            <a:avLst/>
          </a:prstGeom>
          <a:noFill/>
          <a:ln w="381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4823" name="Group 7">
            <a:extLst>
              <a:ext uri="{FF2B5EF4-FFF2-40B4-BE49-F238E27FC236}">
                <a16:creationId xmlns:a16="http://schemas.microsoft.com/office/drawing/2014/main" id="{428251FE-0E4D-321E-F1CE-6B11F46098D3}"/>
              </a:ext>
            </a:extLst>
          </p:cNvPr>
          <p:cNvGrpSpPr>
            <a:grpSpLocks/>
          </p:cNvGrpSpPr>
          <p:nvPr/>
        </p:nvGrpSpPr>
        <p:grpSpPr bwMode="auto">
          <a:xfrm>
            <a:off x="698500" y="4000500"/>
            <a:ext cx="7377113" cy="1662113"/>
            <a:chOff x="440" y="2752"/>
            <a:chExt cx="4647" cy="1047"/>
          </a:xfrm>
        </p:grpSpPr>
        <p:sp>
          <p:nvSpPr>
            <p:cNvPr id="34834" name="Rectangle 8">
              <a:extLst>
                <a:ext uri="{FF2B5EF4-FFF2-40B4-BE49-F238E27FC236}">
                  <a16:creationId xmlns:a16="http://schemas.microsoft.com/office/drawing/2014/main" id="{3D599864-F37A-0582-C440-F858FF3403C2}"/>
                </a:ext>
              </a:extLst>
            </p:cNvPr>
            <p:cNvSpPr>
              <a:spLocks noChangeArrowheads="1"/>
            </p:cNvSpPr>
            <p:nvPr/>
          </p:nvSpPr>
          <p:spPr bwMode="auto">
            <a:xfrm>
              <a:off x="4584" y="3542"/>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T</a:t>
              </a:r>
            </a:p>
          </p:txBody>
        </p:sp>
        <p:sp>
          <p:nvSpPr>
            <p:cNvPr id="34835" name="Rectangle 9">
              <a:extLst>
                <a:ext uri="{FF2B5EF4-FFF2-40B4-BE49-F238E27FC236}">
                  <a16:creationId xmlns:a16="http://schemas.microsoft.com/office/drawing/2014/main" id="{C43BB0D0-10AA-3A0A-36AD-D2A3597AA46E}"/>
                </a:ext>
              </a:extLst>
            </p:cNvPr>
            <p:cNvSpPr>
              <a:spLocks noChangeArrowheads="1"/>
            </p:cNvSpPr>
            <p:nvPr/>
          </p:nvSpPr>
          <p:spPr bwMode="auto">
            <a:xfrm>
              <a:off x="4080" y="3542"/>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no</a:t>
              </a:r>
            </a:p>
          </p:txBody>
        </p:sp>
        <p:sp>
          <p:nvSpPr>
            <p:cNvPr id="34836" name="Rectangle 10">
              <a:extLst>
                <a:ext uri="{FF2B5EF4-FFF2-40B4-BE49-F238E27FC236}">
                  <a16:creationId xmlns:a16="http://schemas.microsoft.com/office/drawing/2014/main" id="{A4A39DF5-5782-033F-C039-9A7F80940521}"/>
                </a:ext>
              </a:extLst>
            </p:cNvPr>
            <p:cNvSpPr>
              <a:spLocks noChangeArrowheads="1"/>
            </p:cNvSpPr>
            <p:nvPr/>
          </p:nvSpPr>
          <p:spPr bwMode="auto">
            <a:xfrm>
              <a:off x="2528" y="3542"/>
              <a:ext cx="15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2</a:t>
              </a:r>
            </a:p>
          </p:txBody>
        </p:sp>
        <p:sp>
          <p:nvSpPr>
            <p:cNvPr id="34837" name="Rectangle 11">
              <a:extLst>
                <a:ext uri="{FF2B5EF4-FFF2-40B4-BE49-F238E27FC236}">
                  <a16:creationId xmlns:a16="http://schemas.microsoft.com/office/drawing/2014/main" id="{45D2C4B6-AC56-C9C6-7ECB-6F132C9468B9}"/>
                </a:ext>
              </a:extLst>
            </p:cNvPr>
            <p:cNvSpPr>
              <a:spLocks noChangeArrowheads="1"/>
            </p:cNvSpPr>
            <p:nvPr/>
          </p:nvSpPr>
          <p:spPr bwMode="auto">
            <a:xfrm>
              <a:off x="2168" y="3542"/>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a:t>
              </a:r>
            </a:p>
          </p:txBody>
        </p:sp>
        <p:sp>
          <p:nvSpPr>
            <p:cNvPr id="34838" name="Rectangle 12">
              <a:extLst>
                <a:ext uri="{FF2B5EF4-FFF2-40B4-BE49-F238E27FC236}">
                  <a16:creationId xmlns:a16="http://schemas.microsoft.com/office/drawing/2014/main" id="{0AC42999-6268-F0E8-B2F1-5B0A174F23C2}"/>
                </a:ext>
              </a:extLst>
            </p:cNvPr>
            <p:cNvSpPr>
              <a:spLocks noChangeArrowheads="1"/>
            </p:cNvSpPr>
            <p:nvPr/>
          </p:nvSpPr>
          <p:spPr bwMode="auto">
            <a:xfrm>
              <a:off x="1656" y="3542"/>
              <a:ext cx="51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no</a:t>
              </a:r>
            </a:p>
          </p:txBody>
        </p:sp>
        <p:sp>
          <p:nvSpPr>
            <p:cNvPr id="34839" name="Rectangle 13">
              <a:extLst>
                <a:ext uri="{FF2B5EF4-FFF2-40B4-BE49-F238E27FC236}">
                  <a16:creationId xmlns:a16="http://schemas.microsoft.com/office/drawing/2014/main" id="{D0868A02-8029-A601-4DF2-8E37C3BBC582}"/>
                </a:ext>
              </a:extLst>
            </p:cNvPr>
            <p:cNvSpPr>
              <a:spLocks noChangeArrowheads="1"/>
            </p:cNvSpPr>
            <p:nvPr/>
          </p:nvSpPr>
          <p:spPr bwMode="auto">
            <a:xfrm>
              <a:off x="440" y="3542"/>
              <a:ext cx="1216"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2</a:t>
              </a:r>
            </a:p>
          </p:txBody>
        </p:sp>
        <p:sp>
          <p:nvSpPr>
            <p:cNvPr id="34840" name="Rectangle 14">
              <a:extLst>
                <a:ext uri="{FF2B5EF4-FFF2-40B4-BE49-F238E27FC236}">
                  <a16:creationId xmlns:a16="http://schemas.microsoft.com/office/drawing/2014/main" id="{902432A8-2556-BCF4-E484-4FF3A7550451}"/>
                </a:ext>
              </a:extLst>
            </p:cNvPr>
            <p:cNvSpPr>
              <a:spLocks noChangeArrowheads="1"/>
            </p:cNvSpPr>
            <p:nvPr/>
          </p:nvSpPr>
          <p:spPr bwMode="auto">
            <a:xfrm>
              <a:off x="4584" y="3284"/>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a:t>
              </a:r>
            </a:p>
          </p:txBody>
        </p:sp>
        <p:sp>
          <p:nvSpPr>
            <p:cNvPr id="34841" name="Rectangle 15">
              <a:extLst>
                <a:ext uri="{FF2B5EF4-FFF2-40B4-BE49-F238E27FC236}">
                  <a16:creationId xmlns:a16="http://schemas.microsoft.com/office/drawing/2014/main" id="{474B6670-F7F1-6E83-DE9E-2CA6E8F42729}"/>
                </a:ext>
              </a:extLst>
            </p:cNvPr>
            <p:cNvSpPr>
              <a:spLocks noChangeArrowheads="1"/>
            </p:cNvSpPr>
            <p:nvPr/>
          </p:nvSpPr>
          <p:spPr bwMode="auto">
            <a:xfrm>
              <a:off x="4080" y="3284"/>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yes</a:t>
              </a:r>
            </a:p>
          </p:txBody>
        </p:sp>
        <p:sp>
          <p:nvSpPr>
            <p:cNvPr id="34842" name="Rectangle 16">
              <a:extLst>
                <a:ext uri="{FF2B5EF4-FFF2-40B4-BE49-F238E27FC236}">
                  <a16:creationId xmlns:a16="http://schemas.microsoft.com/office/drawing/2014/main" id="{87E31C8F-1D4A-10CB-663E-DBF26C8508A5}"/>
                </a:ext>
              </a:extLst>
            </p:cNvPr>
            <p:cNvSpPr>
              <a:spLocks noChangeArrowheads="1"/>
            </p:cNvSpPr>
            <p:nvPr/>
          </p:nvSpPr>
          <p:spPr bwMode="auto">
            <a:xfrm>
              <a:off x="2528" y="3284"/>
              <a:ext cx="15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1</a:t>
              </a:r>
            </a:p>
          </p:txBody>
        </p:sp>
        <p:sp>
          <p:nvSpPr>
            <p:cNvPr id="34843" name="Rectangle 17">
              <a:extLst>
                <a:ext uri="{FF2B5EF4-FFF2-40B4-BE49-F238E27FC236}">
                  <a16:creationId xmlns:a16="http://schemas.microsoft.com/office/drawing/2014/main" id="{CD743C39-FC09-ECD4-9A29-D89F8881F04B}"/>
                </a:ext>
              </a:extLst>
            </p:cNvPr>
            <p:cNvSpPr>
              <a:spLocks noChangeArrowheads="1"/>
            </p:cNvSpPr>
            <p:nvPr/>
          </p:nvSpPr>
          <p:spPr bwMode="auto">
            <a:xfrm>
              <a:off x="2168" y="3284"/>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a:t>
              </a:r>
            </a:p>
          </p:txBody>
        </p:sp>
        <p:sp>
          <p:nvSpPr>
            <p:cNvPr id="34844" name="Rectangle 18">
              <a:extLst>
                <a:ext uri="{FF2B5EF4-FFF2-40B4-BE49-F238E27FC236}">
                  <a16:creationId xmlns:a16="http://schemas.microsoft.com/office/drawing/2014/main" id="{69CAF4CC-CE9A-0FD0-780C-06D0AA0EC292}"/>
                </a:ext>
              </a:extLst>
            </p:cNvPr>
            <p:cNvSpPr>
              <a:spLocks noChangeArrowheads="1"/>
            </p:cNvSpPr>
            <p:nvPr/>
          </p:nvSpPr>
          <p:spPr bwMode="auto">
            <a:xfrm>
              <a:off x="1656" y="3284"/>
              <a:ext cx="51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no</a:t>
              </a:r>
            </a:p>
          </p:txBody>
        </p:sp>
        <p:sp>
          <p:nvSpPr>
            <p:cNvPr id="34845" name="Rectangle 19">
              <a:extLst>
                <a:ext uri="{FF2B5EF4-FFF2-40B4-BE49-F238E27FC236}">
                  <a16:creationId xmlns:a16="http://schemas.microsoft.com/office/drawing/2014/main" id="{0D8C90E1-2EC4-F956-0AEA-87E64B502388}"/>
                </a:ext>
              </a:extLst>
            </p:cNvPr>
            <p:cNvSpPr>
              <a:spLocks noChangeArrowheads="1"/>
            </p:cNvSpPr>
            <p:nvPr/>
          </p:nvSpPr>
          <p:spPr bwMode="auto">
            <a:xfrm>
              <a:off x="440" y="3284"/>
              <a:ext cx="1216"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1</a:t>
              </a:r>
            </a:p>
          </p:txBody>
        </p:sp>
        <p:sp>
          <p:nvSpPr>
            <p:cNvPr id="34846" name="Rectangle 20">
              <a:extLst>
                <a:ext uri="{FF2B5EF4-FFF2-40B4-BE49-F238E27FC236}">
                  <a16:creationId xmlns:a16="http://schemas.microsoft.com/office/drawing/2014/main" id="{FBE17863-BD4A-CFCE-E226-E9AED8D69C94}"/>
                </a:ext>
              </a:extLst>
            </p:cNvPr>
            <p:cNvSpPr>
              <a:spLocks noChangeArrowheads="1"/>
            </p:cNvSpPr>
            <p:nvPr/>
          </p:nvSpPr>
          <p:spPr bwMode="auto">
            <a:xfrm>
              <a:off x="4584" y="3026"/>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a:t>
              </a:r>
            </a:p>
          </p:txBody>
        </p:sp>
        <p:sp>
          <p:nvSpPr>
            <p:cNvPr id="34847" name="Rectangle 21">
              <a:extLst>
                <a:ext uri="{FF2B5EF4-FFF2-40B4-BE49-F238E27FC236}">
                  <a16:creationId xmlns:a16="http://schemas.microsoft.com/office/drawing/2014/main" id="{B87D3A2A-83D9-1769-0C6F-262A68A76876}"/>
                </a:ext>
              </a:extLst>
            </p:cNvPr>
            <p:cNvSpPr>
              <a:spLocks noChangeArrowheads="1"/>
            </p:cNvSpPr>
            <p:nvPr/>
          </p:nvSpPr>
          <p:spPr bwMode="auto">
            <a:xfrm>
              <a:off x="4080" y="3026"/>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yes</a:t>
              </a:r>
            </a:p>
          </p:txBody>
        </p:sp>
        <p:sp>
          <p:nvSpPr>
            <p:cNvPr id="34848" name="Rectangle 22">
              <a:extLst>
                <a:ext uri="{FF2B5EF4-FFF2-40B4-BE49-F238E27FC236}">
                  <a16:creationId xmlns:a16="http://schemas.microsoft.com/office/drawing/2014/main" id="{738106F1-71FD-19B2-DFBB-E78AF2B999CB}"/>
                </a:ext>
              </a:extLst>
            </p:cNvPr>
            <p:cNvSpPr>
              <a:spLocks noChangeArrowheads="1"/>
            </p:cNvSpPr>
            <p:nvPr/>
          </p:nvSpPr>
          <p:spPr bwMode="auto">
            <a:xfrm>
              <a:off x="2528" y="3026"/>
              <a:ext cx="15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1</a:t>
              </a:r>
            </a:p>
          </p:txBody>
        </p:sp>
        <p:sp>
          <p:nvSpPr>
            <p:cNvPr id="34849" name="Rectangle 23">
              <a:extLst>
                <a:ext uri="{FF2B5EF4-FFF2-40B4-BE49-F238E27FC236}">
                  <a16:creationId xmlns:a16="http://schemas.microsoft.com/office/drawing/2014/main" id="{BBF37641-A5F9-6D6F-6885-B277DBE59B83}"/>
                </a:ext>
              </a:extLst>
            </p:cNvPr>
            <p:cNvSpPr>
              <a:spLocks noChangeArrowheads="1"/>
            </p:cNvSpPr>
            <p:nvPr/>
          </p:nvSpPr>
          <p:spPr bwMode="auto">
            <a:xfrm>
              <a:off x="2168" y="3026"/>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N</a:t>
              </a:r>
            </a:p>
          </p:txBody>
        </p:sp>
        <p:sp>
          <p:nvSpPr>
            <p:cNvPr id="34850" name="Rectangle 24">
              <a:extLst>
                <a:ext uri="{FF2B5EF4-FFF2-40B4-BE49-F238E27FC236}">
                  <a16:creationId xmlns:a16="http://schemas.microsoft.com/office/drawing/2014/main" id="{880A2716-65A4-BD64-D6BC-15233D314306}"/>
                </a:ext>
              </a:extLst>
            </p:cNvPr>
            <p:cNvSpPr>
              <a:spLocks noChangeArrowheads="1"/>
            </p:cNvSpPr>
            <p:nvPr/>
          </p:nvSpPr>
          <p:spPr bwMode="auto">
            <a:xfrm>
              <a:off x="1656" y="3026"/>
              <a:ext cx="51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yes</a:t>
              </a:r>
            </a:p>
          </p:txBody>
        </p:sp>
        <p:sp>
          <p:nvSpPr>
            <p:cNvPr id="34851" name="Rectangle 25">
              <a:extLst>
                <a:ext uri="{FF2B5EF4-FFF2-40B4-BE49-F238E27FC236}">
                  <a16:creationId xmlns:a16="http://schemas.microsoft.com/office/drawing/2014/main" id="{BF17F203-CD4C-77FE-3998-E8611FF5FFDE}"/>
                </a:ext>
              </a:extLst>
            </p:cNvPr>
            <p:cNvSpPr>
              <a:spLocks noChangeArrowheads="1"/>
            </p:cNvSpPr>
            <p:nvPr/>
          </p:nvSpPr>
          <p:spPr bwMode="auto">
            <a:xfrm>
              <a:off x="440" y="3026"/>
              <a:ext cx="1216"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0</a:t>
              </a:r>
            </a:p>
          </p:txBody>
        </p:sp>
        <p:sp>
          <p:nvSpPr>
            <p:cNvPr id="34852" name="Rectangle 26">
              <a:extLst>
                <a:ext uri="{FF2B5EF4-FFF2-40B4-BE49-F238E27FC236}">
                  <a16:creationId xmlns:a16="http://schemas.microsoft.com/office/drawing/2014/main" id="{69E81018-9B98-111C-F276-E3777B1DBAD2}"/>
                </a:ext>
              </a:extLst>
            </p:cNvPr>
            <p:cNvSpPr>
              <a:spLocks noChangeArrowheads="1"/>
            </p:cNvSpPr>
            <p:nvPr/>
          </p:nvSpPr>
          <p:spPr bwMode="auto">
            <a:xfrm>
              <a:off x="4584" y="2752"/>
              <a:ext cx="504"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b2</a:t>
              </a:r>
            </a:p>
          </p:txBody>
        </p:sp>
        <p:sp>
          <p:nvSpPr>
            <p:cNvPr id="34853" name="Rectangle 27">
              <a:extLst>
                <a:ext uri="{FF2B5EF4-FFF2-40B4-BE49-F238E27FC236}">
                  <a16:creationId xmlns:a16="http://schemas.microsoft.com/office/drawing/2014/main" id="{1B21E3B5-E85E-56B4-7111-48BB4D149A6F}"/>
                </a:ext>
              </a:extLst>
            </p:cNvPr>
            <p:cNvSpPr>
              <a:spLocks noChangeArrowheads="1"/>
            </p:cNvSpPr>
            <p:nvPr/>
          </p:nvSpPr>
          <p:spPr bwMode="auto">
            <a:xfrm>
              <a:off x="4080" y="2752"/>
              <a:ext cx="504"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600">
                  <a:solidFill>
                    <a:srgbClr val="000000"/>
                  </a:solidFill>
                  <a:cs typeface="Arial" panose="020B0604020202020204" pitchFamily="34" charset="0"/>
                </a:rPr>
                <a:t>d==1?</a:t>
              </a:r>
            </a:p>
          </p:txBody>
        </p:sp>
        <p:sp>
          <p:nvSpPr>
            <p:cNvPr id="34854" name="Rectangle 28">
              <a:extLst>
                <a:ext uri="{FF2B5EF4-FFF2-40B4-BE49-F238E27FC236}">
                  <a16:creationId xmlns:a16="http://schemas.microsoft.com/office/drawing/2014/main" id="{2F3B8318-DB3E-EB29-A081-E2809B021C37}"/>
                </a:ext>
              </a:extLst>
            </p:cNvPr>
            <p:cNvSpPr>
              <a:spLocks noChangeArrowheads="1"/>
            </p:cNvSpPr>
            <p:nvPr/>
          </p:nvSpPr>
          <p:spPr bwMode="auto">
            <a:xfrm>
              <a:off x="2528" y="2752"/>
              <a:ext cx="155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value of d before b2</a:t>
              </a:r>
            </a:p>
          </p:txBody>
        </p:sp>
        <p:sp>
          <p:nvSpPr>
            <p:cNvPr id="34855" name="Rectangle 29">
              <a:extLst>
                <a:ext uri="{FF2B5EF4-FFF2-40B4-BE49-F238E27FC236}">
                  <a16:creationId xmlns:a16="http://schemas.microsoft.com/office/drawing/2014/main" id="{243E2EE7-932D-D0AA-F4CC-A769CC8AF035}"/>
                </a:ext>
              </a:extLst>
            </p:cNvPr>
            <p:cNvSpPr>
              <a:spLocks noChangeArrowheads="1"/>
            </p:cNvSpPr>
            <p:nvPr/>
          </p:nvSpPr>
          <p:spPr bwMode="auto">
            <a:xfrm>
              <a:off x="2168" y="2752"/>
              <a:ext cx="36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b1</a:t>
              </a:r>
            </a:p>
          </p:txBody>
        </p:sp>
        <p:sp>
          <p:nvSpPr>
            <p:cNvPr id="34856" name="Rectangle 30">
              <a:extLst>
                <a:ext uri="{FF2B5EF4-FFF2-40B4-BE49-F238E27FC236}">
                  <a16:creationId xmlns:a16="http://schemas.microsoft.com/office/drawing/2014/main" id="{7F2E8CCF-8729-22C9-F6EB-50AECE780AE7}"/>
                </a:ext>
              </a:extLst>
            </p:cNvPr>
            <p:cNvSpPr>
              <a:spLocks noChangeArrowheads="1"/>
            </p:cNvSpPr>
            <p:nvPr/>
          </p:nvSpPr>
          <p:spPr bwMode="auto">
            <a:xfrm>
              <a:off x="1656" y="2752"/>
              <a:ext cx="51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600">
                  <a:solidFill>
                    <a:srgbClr val="000000"/>
                  </a:solidFill>
                  <a:cs typeface="Arial" panose="020B0604020202020204" pitchFamily="34" charset="0"/>
                </a:rPr>
                <a:t>d==0?</a:t>
              </a:r>
            </a:p>
          </p:txBody>
        </p:sp>
        <p:sp>
          <p:nvSpPr>
            <p:cNvPr id="34857" name="Rectangle 31">
              <a:extLst>
                <a:ext uri="{FF2B5EF4-FFF2-40B4-BE49-F238E27FC236}">
                  <a16:creationId xmlns:a16="http://schemas.microsoft.com/office/drawing/2014/main" id="{39083DD3-C867-CEB2-BC37-08A15F5323CF}"/>
                </a:ext>
              </a:extLst>
            </p:cNvPr>
            <p:cNvSpPr>
              <a:spLocks noChangeArrowheads="1"/>
            </p:cNvSpPr>
            <p:nvPr/>
          </p:nvSpPr>
          <p:spPr bwMode="auto">
            <a:xfrm>
              <a:off x="440" y="2752"/>
              <a:ext cx="121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initial value of d</a:t>
              </a:r>
            </a:p>
          </p:txBody>
        </p:sp>
        <p:sp>
          <p:nvSpPr>
            <p:cNvPr id="34858" name="Line 32">
              <a:extLst>
                <a:ext uri="{FF2B5EF4-FFF2-40B4-BE49-F238E27FC236}">
                  <a16:creationId xmlns:a16="http://schemas.microsoft.com/office/drawing/2014/main" id="{2C2D455C-093A-7BA0-37E8-A204AC5C9236}"/>
                </a:ext>
              </a:extLst>
            </p:cNvPr>
            <p:cNvSpPr>
              <a:spLocks noChangeShapeType="1"/>
            </p:cNvSpPr>
            <p:nvPr/>
          </p:nvSpPr>
          <p:spPr bwMode="auto">
            <a:xfrm>
              <a:off x="440" y="2752"/>
              <a:ext cx="4648"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4859" name="Line 33">
              <a:extLst>
                <a:ext uri="{FF2B5EF4-FFF2-40B4-BE49-F238E27FC236}">
                  <a16:creationId xmlns:a16="http://schemas.microsoft.com/office/drawing/2014/main" id="{5421CAFA-6F95-AB7A-F2F0-E51090A76663}"/>
                </a:ext>
              </a:extLst>
            </p:cNvPr>
            <p:cNvSpPr>
              <a:spLocks noChangeShapeType="1"/>
            </p:cNvSpPr>
            <p:nvPr/>
          </p:nvSpPr>
          <p:spPr bwMode="auto">
            <a:xfrm>
              <a:off x="440" y="3026"/>
              <a:ext cx="4648"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4860" name="Line 34">
              <a:extLst>
                <a:ext uri="{FF2B5EF4-FFF2-40B4-BE49-F238E27FC236}">
                  <a16:creationId xmlns:a16="http://schemas.microsoft.com/office/drawing/2014/main" id="{D4BB6AFF-E4A8-0490-4B72-297529D03F88}"/>
                </a:ext>
              </a:extLst>
            </p:cNvPr>
            <p:cNvSpPr>
              <a:spLocks noChangeShapeType="1"/>
            </p:cNvSpPr>
            <p:nvPr/>
          </p:nvSpPr>
          <p:spPr bwMode="auto">
            <a:xfrm>
              <a:off x="440" y="3284"/>
              <a:ext cx="4648"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4861" name="Line 35">
              <a:extLst>
                <a:ext uri="{FF2B5EF4-FFF2-40B4-BE49-F238E27FC236}">
                  <a16:creationId xmlns:a16="http://schemas.microsoft.com/office/drawing/2014/main" id="{CF934E7E-20C4-0F98-5200-0511912044BF}"/>
                </a:ext>
              </a:extLst>
            </p:cNvPr>
            <p:cNvSpPr>
              <a:spLocks noChangeShapeType="1"/>
            </p:cNvSpPr>
            <p:nvPr/>
          </p:nvSpPr>
          <p:spPr bwMode="auto">
            <a:xfrm>
              <a:off x="440" y="3542"/>
              <a:ext cx="4648"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4862" name="Line 36">
              <a:extLst>
                <a:ext uri="{FF2B5EF4-FFF2-40B4-BE49-F238E27FC236}">
                  <a16:creationId xmlns:a16="http://schemas.microsoft.com/office/drawing/2014/main" id="{931745D7-394F-2BE8-EE1C-0769E8EA243F}"/>
                </a:ext>
              </a:extLst>
            </p:cNvPr>
            <p:cNvSpPr>
              <a:spLocks noChangeShapeType="1"/>
            </p:cNvSpPr>
            <p:nvPr/>
          </p:nvSpPr>
          <p:spPr bwMode="auto">
            <a:xfrm>
              <a:off x="440" y="3800"/>
              <a:ext cx="4648"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4863" name="Line 37">
              <a:extLst>
                <a:ext uri="{FF2B5EF4-FFF2-40B4-BE49-F238E27FC236}">
                  <a16:creationId xmlns:a16="http://schemas.microsoft.com/office/drawing/2014/main" id="{D2590C80-D0D8-9A61-679B-32BC71B0467E}"/>
                </a:ext>
              </a:extLst>
            </p:cNvPr>
            <p:cNvSpPr>
              <a:spLocks noChangeShapeType="1"/>
            </p:cNvSpPr>
            <p:nvPr/>
          </p:nvSpPr>
          <p:spPr bwMode="auto">
            <a:xfrm>
              <a:off x="440" y="2752"/>
              <a:ext cx="1" cy="1048"/>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4864" name="Line 38">
              <a:extLst>
                <a:ext uri="{FF2B5EF4-FFF2-40B4-BE49-F238E27FC236}">
                  <a16:creationId xmlns:a16="http://schemas.microsoft.com/office/drawing/2014/main" id="{01D45DDA-66C0-BECD-05F7-73ACB729A4E0}"/>
                </a:ext>
              </a:extLst>
            </p:cNvPr>
            <p:cNvSpPr>
              <a:spLocks noChangeShapeType="1"/>
            </p:cNvSpPr>
            <p:nvPr/>
          </p:nvSpPr>
          <p:spPr bwMode="auto">
            <a:xfrm>
              <a:off x="1656" y="2752"/>
              <a:ext cx="1" cy="104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4865" name="Line 39">
              <a:extLst>
                <a:ext uri="{FF2B5EF4-FFF2-40B4-BE49-F238E27FC236}">
                  <a16:creationId xmlns:a16="http://schemas.microsoft.com/office/drawing/2014/main" id="{2735278A-BBFE-84B0-BDD3-939093631349}"/>
                </a:ext>
              </a:extLst>
            </p:cNvPr>
            <p:cNvSpPr>
              <a:spLocks noChangeShapeType="1"/>
            </p:cNvSpPr>
            <p:nvPr/>
          </p:nvSpPr>
          <p:spPr bwMode="auto">
            <a:xfrm>
              <a:off x="2168" y="2752"/>
              <a:ext cx="1" cy="104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4866" name="Line 40">
              <a:extLst>
                <a:ext uri="{FF2B5EF4-FFF2-40B4-BE49-F238E27FC236}">
                  <a16:creationId xmlns:a16="http://schemas.microsoft.com/office/drawing/2014/main" id="{630B7453-44A9-FF75-36E7-C6421D5AD58D}"/>
                </a:ext>
              </a:extLst>
            </p:cNvPr>
            <p:cNvSpPr>
              <a:spLocks noChangeShapeType="1"/>
            </p:cNvSpPr>
            <p:nvPr/>
          </p:nvSpPr>
          <p:spPr bwMode="auto">
            <a:xfrm>
              <a:off x="2528" y="2752"/>
              <a:ext cx="1" cy="104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4867" name="Line 41">
              <a:extLst>
                <a:ext uri="{FF2B5EF4-FFF2-40B4-BE49-F238E27FC236}">
                  <a16:creationId xmlns:a16="http://schemas.microsoft.com/office/drawing/2014/main" id="{91369508-7F53-9FAA-9AD0-84BEECD04995}"/>
                </a:ext>
              </a:extLst>
            </p:cNvPr>
            <p:cNvSpPr>
              <a:spLocks noChangeShapeType="1"/>
            </p:cNvSpPr>
            <p:nvPr/>
          </p:nvSpPr>
          <p:spPr bwMode="auto">
            <a:xfrm>
              <a:off x="4080" y="2752"/>
              <a:ext cx="1" cy="104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4868" name="Line 42">
              <a:extLst>
                <a:ext uri="{FF2B5EF4-FFF2-40B4-BE49-F238E27FC236}">
                  <a16:creationId xmlns:a16="http://schemas.microsoft.com/office/drawing/2014/main" id="{24A2D726-EEAC-2186-F27D-E312DF23E909}"/>
                </a:ext>
              </a:extLst>
            </p:cNvPr>
            <p:cNvSpPr>
              <a:spLocks noChangeShapeType="1"/>
            </p:cNvSpPr>
            <p:nvPr/>
          </p:nvSpPr>
          <p:spPr bwMode="auto">
            <a:xfrm>
              <a:off x="4584" y="2752"/>
              <a:ext cx="1" cy="104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4869" name="Line 43">
              <a:extLst>
                <a:ext uri="{FF2B5EF4-FFF2-40B4-BE49-F238E27FC236}">
                  <a16:creationId xmlns:a16="http://schemas.microsoft.com/office/drawing/2014/main" id="{268E4C3F-C764-3A39-4CE8-F9A9DB4ADDD2}"/>
                </a:ext>
              </a:extLst>
            </p:cNvPr>
            <p:cNvSpPr>
              <a:spLocks noChangeShapeType="1"/>
            </p:cNvSpPr>
            <p:nvPr/>
          </p:nvSpPr>
          <p:spPr bwMode="auto">
            <a:xfrm>
              <a:off x="5088" y="2752"/>
              <a:ext cx="1" cy="1048"/>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34824" name="Rectangle 44">
            <a:extLst>
              <a:ext uri="{FF2B5EF4-FFF2-40B4-BE49-F238E27FC236}">
                <a16:creationId xmlns:a16="http://schemas.microsoft.com/office/drawing/2014/main" id="{9A41534B-6082-9871-8DF2-EBA6C9DE98A3}"/>
              </a:ext>
            </a:extLst>
          </p:cNvPr>
          <p:cNvSpPr>
            <a:spLocks noChangeArrowheads="1"/>
          </p:cNvSpPr>
          <p:nvPr/>
        </p:nvSpPr>
        <p:spPr bwMode="auto">
          <a:xfrm>
            <a:off x="3549650" y="1320800"/>
            <a:ext cx="850900" cy="1879600"/>
          </a:xfrm>
          <a:prstGeom prst="rect">
            <a:avLst/>
          </a:prstGeom>
          <a:noFill/>
          <a:ln w="38100" cap="rnd">
            <a:solidFill>
              <a:srgbClr val="00808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lnSpc>
                <a:spcPct val="100000"/>
              </a:lnSpc>
              <a:buClrTx/>
              <a:buSzTx/>
              <a:buFontTx/>
              <a:buNone/>
            </a:pPr>
            <a:endParaRPr lang="en-US" altLang="en-US">
              <a:solidFill>
                <a:schemeClr val="hlink"/>
              </a:solidFill>
            </a:endParaRPr>
          </a:p>
        </p:txBody>
      </p:sp>
      <p:sp>
        <p:nvSpPr>
          <p:cNvPr id="31753" name="Text Box 45">
            <a:extLst>
              <a:ext uri="{FF2B5EF4-FFF2-40B4-BE49-F238E27FC236}">
                <a16:creationId xmlns:a16="http://schemas.microsoft.com/office/drawing/2014/main" id="{74F8B468-A73D-7A9E-5526-C1E72F7DEFD4}"/>
              </a:ext>
            </a:extLst>
          </p:cNvPr>
          <p:cNvSpPr txBox="1">
            <a:spLocks noChangeArrowheads="1"/>
          </p:cNvSpPr>
          <p:nvPr/>
        </p:nvSpPr>
        <p:spPr bwMode="auto">
          <a:xfrm>
            <a:off x="5067300" y="3200400"/>
            <a:ext cx="3546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nSpc>
                <a:spcPct val="100000"/>
              </a:lnSpc>
              <a:buClrTx/>
              <a:buSzTx/>
              <a:buFontTx/>
              <a:buNone/>
            </a:pPr>
            <a:r>
              <a:rPr lang="en-US" altLang="en-US" sz="2000">
                <a:solidFill>
                  <a:srgbClr val="008080"/>
                </a:solidFill>
                <a:cs typeface="Arial" panose="020B0604020202020204" pitchFamily="34" charset="0"/>
              </a:rPr>
              <a:t>instruction addresses (binary)</a:t>
            </a:r>
          </a:p>
        </p:txBody>
      </p:sp>
      <p:sp>
        <p:nvSpPr>
          <p:cNvPr id="31754" name="Line 46">
            <a:extLst>
              <a:ext uri="{FF2B5EF4-FFF2-40B4-BE49-F238E27FC236}">
                <a16:creationId xmlns:a16="http://schemas.microsoft.com/office/drawing/2014/main" id="{5A985D65-1CDD-BFFB-CADA-D67BE12EBC3B}"/>
              </a:ext>
            </a:extLst>
          </p:cNvPr>
          <p:cNvSpPr>
            <a:spLocks noChangeShapeType="1"/>
          </p:cNvSpPr>
          <p:nvPr/>
        </p:nvSpPr>
        <p:spPr bwMode="auto">
          <a:xfrm flipH="1" flipV="1">
            <a:off x="4405313" y="3206750"/>
            <a:ext cx="708025" cy="180975"/>
          </a:xfrm>
          <a:prstGeom prst="line">
            <a:avLst/>
          </a:prstGeom>
          <a:noFill/>
          <a:ln w="38100">
            <a:solidFill>
              <a:srgbClr val="0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827" name="Slide Number Placeholder 51">
            <a:extLst>
              <a:ext uri="{FF2B5EF4-FFF2-40B4-BE49-F238E27FC236}">
                <a16:creationId xmlns:a16="http://schemas.microsoft.com/office/drawing/2014/main" id="{A9E83383-1C46-94CC-A646-EB4396C2FA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B3A6268E-C16D-764F-A93B-541F1E1D2D61}" type="slidenum">
              <a:rPr lang="en-GB" altLang="en-US" sz="1400">
                <a:solidFill>
                  <a:srgbClr val="000000"/>
                </a:solidFill>
                <a:latin typeface="Arial  " charset="0"/>
              </a:rPr>
              <a:pPr/>
              <a:t>33</a:t>
            </a:fld>
            <a:r>
              <a:rPr lang="en-GB" altLang="en-US" sz="1400">
                <a:solidFill>
                  <a:srgbClr val="000000"/>
                </a:solidFill>
                <a:latin typeface="Arial  " charset="0"/>
              </a:rPr>
              <a:t> </a:t>
            </a:r>
          </a:p>
        </p:txBody>
      </p:sp>
      <p:sp>
        <p:nvSpPr>
          <p:cNvPr id="50" name="Rectangle 49">
            <a:extLst>
              <a:ext uri="{FF2B5EF4-FFF2-40B4-BE49-F238E27FC236}">
                <a16:creationId xmlns:a16="http://schemas.microsoft.com/office/drawing/2014/main" id="{A78240EF-40BF-569E-EC68-9A0E71C5FB1B}"/>
              </a:ext>
            </a:extLst>
          </p:cNvPr>
          <p:cNvSpPr>
            <a:spLocks noChangeArrowheads="1"/>
          </p:cNvSpPr>
          <p:nvPr/>
        </p:nvSpPr>
        <p:spPr bwMode="auto">
          <a:xfrm>
            <a:off x="3463925" y="1287463"/>
            <a:ext cx="966788" cy="20605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sp>
        <p:nvSpPr>
          <p:cNvPr id="54" name="Rectangle 53">
            <a:extLst>
              <a:ext uri="{FF2B5EF4-FFF2-40B4-BE49-F238E27FC236}">
                <a16:creationId xmlns:a16="http://schemas.microsoft.com/office/drawing/2014/main" id="{E2AD4160-8489-062F-39B9-E8000F2ED0E1}"/>
              </a:ext>
            </a:extLst>
          </p:cNvPr>
          <p:cNvSpPr>
            <a:spLocks noChangeArrowheads="1"/>
          </p:cNvSpPr>
          <p:nvPr/>
        </p:nvSpPr>
        <p:spPr bwMode="auto">
          <a:xfrm>
            <a:off x="4014788" y="3502025"/>
            <a:ext cx="4391025" cy="431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a:t>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17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753"/>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3" grpId="0"/>
      <p:bldP spid="50" grpId="0" animBg="1"/>
      <p:bldP spid="5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a:extLst>
              <a:ext uri="{FF2B5EF4-FFF2-40B4-BE49-F238E27FC236}">
                <a16:creationId xmlns:a16="http://schemas.microsoft.com/office/drawing/2014/main" id="{17A861BD-6EAA-9CB0-52DB-3DEAB13A36D9}"/>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Arial  " charset="0"/>
                <a:cs typeface="Arial  " charset="0"/>
              </a:rPr>
              <a:t>Example, cont’d...</a:t>
            </a:r>
          </a:p>
        </p:txBody>
      </p:sp>
      <p:grpSp>
        <p:nvGrpSpPr>
          <p:cNvPr id="35843" name="Group 2">
            <a:extLst>
              <a:ext uri="{FF2B5EF4-FFF2-40B4-BE49-F238E27FC236}">
                <a16:creationId xmlns:a16="http://schemas.microsoft.com/office/drawing/2014/main" id="{FC45B053-6EF1-EDFB-5209-C5ACCDD739A0}"/>
              </a:ext>
            </a:extLst>
          </p:cNvPr>
          <p:cNvGrpSpPr>
            <a:grpSpLocks/>
          </p:cNvGrpSpPr>
          <p:nvPr/>
        </p:nvGrpSpPr>
        <p:grpSpPr bwMode="auto">
          <a:xfrm>
            <a:off x="635000" y="2768600"/>
            <a:ext cx="8113713" cy="2146300"/>
            <a:chOff x="400" y="1744"/>
            <a:chExt cx="5111" cy="1352"/>
          </a:xfrm>
        </p:grpSpPr>
        <p:sp>
          <p:nvSpPr>
            <p:cNvPr id="35869" name="Rectangle 3">
              <a:extLst>
                <a:ext uri="{FF2B5EF4-FFF2-40B4-BE49-F238E27FC236}">
                  <a16:creationId xmlns:a16="http://schemas.microsoft.com/office/drawing/2014/main" id="{A6B25B82-F3DA-56F1-4A7E-CBC701DFC0D5}"/>
                </a:ext>
              </a:extLst>
            </p:cNvPr>
            <p:cNvSpPr>
              <a:spLocks noChangeArrowheads="1"/>
            </p:cNvSpPr>
            <p:nvPr/>
          </p:nvSpPr>
          <p:spPr bwMode="auto">
            <a:xfrm>
              <a:off x="4552" y="2862"/>
              <a:ext cx="96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N</a:t>
              </a:r>
            </a:p>
          </p:txBody>
        </p:sp>
        <p:sp>
          <p:nvSpPr>
            <p:cNvPr id="35870" name="Rectangle 4">
              <a:extLst>
                <a:ext uri="{FF2B5EF4-FFF2-40B4-BE49-F238E27FC236}">
                  <a16:creationId xmlns:a16="http://schemas.microsoft.com/office/drawing/2014/main" id="{EC9487ED-25E9-50BE-527C-109CF168E3C5}"/>
                </a:ext>
              </a:extLst>
            </p:cNvPr>
            <p:cNvSpPr>
              <a:spLocks noChangeArrowheads="1"/>
            </p:cNvSpPr>
            <p:nvPr/>
          </p:nvSpPr>
          <p:spPr bwMode="auto">
            <a:xfrm>
              <a:off x="3912" y="2862"/>
              <a:ext cx="64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N</a:t>
              </a:r>
            </a:p>
          </p:txBody>
        </p:sp>
        <p:sp>
          <p:nvSpPr>
            <p:cNvPr id="35871" name="Rectangle 5">
              <a:extLst>
                <a:ext uri="{FF2B5EF4-FFF2-40B4-BE49-F238E27FC236}">
                  <a16:creationId xmlns:a16="http://schemas.microsoft.com/office/drawing/2014/main" id="{9131126F-5BAE-ECAA-09CD-B2EB713E7062}"/>
                </a:ext>
              </a:extLst>
            </p:cNvPr>
            <p:cNvSpPr>
              <a:spLocks noChangeArrowheads="1"/>
            </p:cNvSpPr>
            <p:nvPr/>
          </p:nvSpPr>
          <p:spPr bwMode="auto">
            <a:xfrm>
              <a:off x="3080" y="2862"/>
              <a:ext cx="83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T</a:t>
              </a:r>
            </a:p>
          </p:txBody>
        </p:sp>
        <p:sp>
          <p:nvSpPr>
            <p:cNvPr id="35872" name="Rectangle 6">
              <a:extLst>
                <a:ext uri="{FF2B5EF4-FFF2-40B4-BE49-F238E27FC236}">
                  <a16:creationId xmlns:a16="http://schemas.microsoft.com/office/drawing/2014/main" id="{0C8057E6-0A74-7907-4686-5494E0E78181}"/>
                </a:ext>
              </a:extLst>
            </p:cNvPr>
            <p:cNvSpPr>
              <a:spLocks noChangeArrowheads="1"/>
            </p:cNvSpPr>
            <p:nvPr/>
          </p:nvSpPr>
          <p:spPr bwMode="auto">
            <a:xfrm>
              <a:off x="2192" y="2862"/>
              <a:ext cx="88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N</a:t>
              </a:r>
            </a:p>
          </p:txBody>
        </p:sp>
        <p:sp>
          <p:nvSpPr>
            <p:cNvPr id="35873" name="Rectangle 7">
              <a:extLst>
                <a:ext uri="{FF2B5EF4-FFF2-40B4-BE49-F238E27FC236}">
                  <a16:creationId xmlns:a16="http://schemas.microsoft.com/office/drawing/2014/main" id="{F7986396-811F-30A3-4B9C-DEBF32AD0404}"/>
                </a:ext>
              </a:extLst>
            </p:cNvPr>
            <p:cNvSpPr>
              <a:spLocks noChangeArrowheads="1"/>
            </p:cNvSpPr>
            <p:nvPr/>
          </p:nvSpPr>
          <p:spPr bwMode="auto">
            <a:xfrm>
              <a:off x="1600" y="2862"/>
              <a:ext cx="59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N</a:t>
              </a:r>
            </a:p>
          </p:txBody>
        </p:sp>
        <p:sp>
          <p:nvSpPr>
            <p:cNvPr id="35874" name="Rectangle 8">
              <a:extLst>
                <a:ext uri="{FF2B5EF4-FFF2-40B4-BE49-F238E27FC236}">
                  <a16:creationId xmlns:a16="http://schemas.microsoft.com/office/drawing/2014/main" id="{59A232F8-1799-6083-2D34-4C39473A0A12}"/>
                </a:ext>
              </a:extLst>
            </p:cNvPr>
            <p:cNvSpPr>
              <a:spLocks noChangeArrowheads="1"/>
            </p:cNvSpPr>
            <p:nvPr/>
          </p:nvSpPr>
          <p:spPr bwMode="auto">
            <a:xfrm>
              <a:off x="752" y="2862"/>
              <a:ext cx="84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T</a:t>
              </a:r>
            </a:p>
          </p:txBody>
        </p:sp>
        <p:sp>
          <p:nvSpPr>
            <p:cNvPr id="35875" name="Rectangle 9">
              <a:extLst>
                <a:ext uri="{FF2B5EF4-FFF2-40B4-BE49-F238E27FC236}">
                  <a16:creationId xmlns:a16="http://schemas.microsoft.com/office/drawing/2014/main" id="{0520E751-4EBA-82A1-F745-98500ED8072E}"/>
                </a:ext>
              </a:extLst>
            </p:cNvPr>
            <p:cNvSpPr>
              <a:spLocks noChangeArrowheads="1"/>
            </p:cNvSpPr>
            <p:nvPr/>
          </p:nvSpPr>
          <p:spPr bwMode="auto">
            <a:xfrm>
              <a:off x="400" y="2862"/>
              <a:ext cx="35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0</a:t>
              </a:r>
            </a:p>
          </p:txBody>
        </p:sp>
        <p:sp>
          <p:nvSpPr>
            <p:cNvPr id="35876" name="Rectangle 10">
              <a:extLst>
                <a:ext uri="{FF2B5EF4-FFF2-40B4-BE49-F238E27FC236}">
                  <a16:creationId xmlns:a16="http://schemas.microsoft.com/office/drawing/2014/main" id="{AE30D273-2147-D30A-D614-2D3C711CAAC4}"/>
                </a:ext>
              </a:extLst>
            </p:cNvPr>
            <p:cNvSpPr>
              <a:spLocks noChangeArrowheads="1"/>
            </p:cNvSpPr>
            <p:nvPr/>
          </p:nvSpPr>
          <p:spPr bwMode="auto">
            <a:xfrm>
              <a:off x="4552" y="2627"/>
              <a:ext cx="96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T</a:t>
              </a:r>
            </a:p>
          </p:txBody>
        </p:sp>
        <p:sp>
          <p:nvSpPr>
            <p:cNvPr id="35877" name="Rectangle 11">
              <a:extLst>
                <a:ext uri="{FF2B5EF4-FFF2-40B4-BE49-F238E27FC236}">
                  <a16:creationId xmlns:a16="http://schemas.microsoft.com/office/drawing/2014/main" id="{EAB4967C-C26E-D4BD-054E-802B594AA375}"/>
                </a:ext>
              </a:extLst>
            </p:cNvPr>
            <p:cNvSpPr>
              <a:spLocks noChangeArrowheads="1"/>
            </p:cNvSpPr>
            <p:nvPr/>
          </p:nvSpPr>
          <p:spPr bwMode="auto">
            <a:xfrm>
              <a:off x="4552" y="2392"/>
              <a:ext cx="96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N</a:t>
              </a:r>
            </a:p>
          </p:txBody>
        </p:sp>
        <p:sp>
          <p:nvSpPr>
            <p:cNvPr id="35878" name="Rectangle 12">
              <a:extLst>
                <a:ext uri="{FF2B5EF4-FFF2-40B4-BE49-F238E27FC236}">
                  <a16:creationId xmlns:a16="http://schemas.microsoft.com/office/drawing/2014/main" id="{03278278-24AD-D29F-24CD-44F853E66CB0}"/>
                </a:ext>
              </a:extLst>
            </p:cNvPr>
            <p:cNvSpPr>
              <a:spLocks noChangeArrowheads="1"/>
            </p:cNvSpPr>
            <p:nvPr/>
          </p:nvSpPr>
          <p:spPr bwMode="auto">
            <a:xfrm>
              <a:off x="4552" y="2157"/>
              <a:ext cx="96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T</a:t>
              </a:r>
            </a:p>
          </p:txBody>
        </p:sp>
        <p:sp>
          <p:nvSpPr>
            <p:cNvPr id="35879" name="Rectangle 13">
              <a:extLst>
                <a:ext uri="{FF2B5EF4-FFF2-40B4-BE49-F238E27FC236}">
                  <a16:creationId xmlns:a16="http://schemas.microsoft.com/office/drawing/2014/main" id="{8EADABA7-07F6-2D75-C4F0-16A5D2847CC6}"/>
                </a:ext>
              </a:extLst>
            </p:cNvPr>
            <p:cNvSpPr>
              <a:spLocks noChangeArrowheads="1"/>
            </p:cNvSpPr>
            <p:nvPr/>
          </p:nvSpPr>
          <p:spPr bwMode="auto">
            <a:xfrm>
              <a:off x="4552" y="1744"/>
              <a:ext cx="960"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new b2 prediction</a:t>
              </a:r>
            </a:p>
          </p:txBody>
        </p:sp>
        <p:sp>
          <p:nvSpPr>
            <p:cNvPr id="35880" name="Rectangle 14">
              <a:extLst>
                <a:ext uri="{FF2B5EF4-FFF2-40B4-BE49-F238E27FC236}">
                  <a16:creationId xmlns:a16="http://schemas.microsoft.com/office/drawing/2014/main" id="{CB459AA8-3F24-AB94-9F06-700699EA3732}"/>
                </a:ext>
              </a:extLst>
            </p:cNvPr>
            <p:cNvSpPr>
              <a:spLocks noChangeArrowheads="1"/>
            </p:cNvSpPr>
            <p:nvPr/>
          </p:nvSpPr>
          <p:spPr bwMode="auto">
            <a:xfrm>
              <a:off x="3912" y="2627"/>
              <a:ext cx="64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T</a:t>
              </a:r>
            </a:p>
          </p:txBody>
        </p:sp>
        <p:sp>
          <p:nvSpPr>
            <p:cNvPr id="35881" name="Rectangle 15">
              <a:extLst>
                <a:ext uri="{FF2B5EF4-FFF2-40B4-BE49-F238E27FC236}">
                  <a16:creationId xmlns:a16="http://schemas.microsoft.com/office/drawing/2014/main" id="{BBDC1970-FE5C-C836-EEC0-C93F54E4ABC9}"/>
                </a:ext>
              </a:extLst>
            </p:cNvPr>
            <p:cNvSpPr>
              <a:spLocks noChangeArrowheads="1"/>
            </p:cNvSpPr>
            <p:nvPr/>
          </p:nvSpPr>
          <p:spPr bwMode="auto">
            <a:xfrm>
              <a:off x="3080" y="2627"/>
              <a:ext cx="83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N</a:t>
              </a:r>
            </a:p>
          </p:txBody>
        </p:sp>
        <p:sp>
          <p:nvSpPr>
            <p:cNvPr id="35882" name="Rectangle 16">
              <a:extLst>
                <a:ext uri="{FF2B5EF4-FFF2-40B4-BE49-F238E27FC236}">
                  <a16:creationId xmlns:a16="http://schemas.microsoft.com/office/drawing/2014/main" id="{3C88B865-D58F-1131-BCC4-911761476867}"/>
                </a:ext>
              </a:extLst>
            </p:cNvPr>
            <p:cNvSpPr>
              <a:spLocks noChangeArrowheads="1"/>
            </p:cNvSpPr>
            <p:nvPr/>
          </p:nvSpPr>
          <p:spPr bwMode="auto">
            <a:xfrm>
              <a:off x="2192" y="2627"/>
              <a:ext cx="88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T</a:t>
              </a:r>
            </a:p>
          </p:txBody>
        </p:sp>
        <p:sp>
          <p:nvSpPr>
            <p:cNvPr id="35883" name="Rectangle 17">
              <a:extLst>
                <a:ext uri="{FF2B5EF4-FFF2-40B4-BE49-F238E27FC236}">
                  <a16:creationId xmlns:a16="http://schemas.microsoft.com/office/drawing/2014/main" id="{EB19B11C-E3E8-BE7D-52EA-4956EF6F6560}"/>
                </a:ext>
              </a:extLst>
            </p:cNvPr>
            <p:cNvSpPr>
              <a:spLocks noChangeArrowheads="1"/>
            </p:cNvSpPr>
            <p:nvPr/>
          </p:nvSpPr>
          <p:spPr bwMode="auto">
            <a:xfrm>
              <a:off x="1600" y="2627"/>
              <a:ext cx="59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T</a:t>
              </a:r>
            </a:p>
          </p:txBody>
        </p:sp>
        <p:sp>
          <p:nvSpPr>
            <p:cNvPr id="35884" name="Rectangle 18">
              <a:extLst>
                <a:ext uri="{FF2B5EF4-FFF2-40B4-BE49-F238E27FC236}">
                  <a16:creationId xmlns:a16="http://schemas.microsoft.com/office/drawing/2014/main" id="{8403962F-2A6B-231D-8FD6-7F66724788C9}"/>
                </a:ext>
              </a:extLst>
            </p:cNvPr>
            <p:cNvSpPr>
              <a:spLocks noChangeArrowheads="1"/>
            </p:cNvSpPr>
            <p:nvPr/>
          </p:nvSpPr>
          <p:spPr bwMode="auto">
            <a:xfrm>
              <a:off x="752" y="2627"/>
              <a:ext cx="84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N</a:t>
              </a:r>
            </a:p>
          </p:txBody>
        </p:sp>
        <p:sp>
          <p:nvSpPr>
            <p:cNvPr id="35885" name="Rectangle 19">
              <a:extLst>
                <a:ext uri="{FF2B5EF4-FFF2-40B4-BE49-F238E27FC236}">
                  <a16:creationId xmlns:a16="http://schemas.microsoft.com/office/drawing/2014/main" id="{F641466F-269C-CDA4-DABE-7944AA2C366A}"/>
                </a:ext>
              </a:extLst>
            </p:cNvPr>
            <p:cNvSpPr>
              <a:spLocks noChangeArrowheads="1"/>
            </p:cNvSpPr>
            <p:nvPr/>
          </p:nvSpPr>
          <p:spPr bwMode="auto">
            <a:xfrm>
              <a:off x="400" y="2627"/>
              <a:ext cx="35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2</a:t>
              </a:r>
            </a:p>
          </p:txBody>
        </p:sp>
        <p:sp>
          <p:nvSpPr>
            <p:cNvPr id="35886" name="Rectangle 20">
              <a:extLst>
                <a:ext uri="{FF2B5EF4-FFF2-40B4-BE49-F238E27FC236}">
                  <a16:creationId xmlns:a16="http://schemas.microsoft.com/office/drawing/2014/main" id="{76D5A1A9-2704-F960-F2A3-5812D6A2B653}"/>
                </a:ext>
              </a:extLst>
            </p:cNvPr>
            <p:cNvSpPr>
              <a:spLocks noChangeArrowheads="1"/>
            </p:cNvSpPr>
            <p:nvPr/>
          </p:nvSpPr>
          <p:spPr bwMode="auto">
            <a:xfrm>
              <a:off x="3912" y="2392"/>
              <a:ext cx="64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N</a:t>
              </a:r>
            </a:p>
          </p:txBody>
        </p:sp>
        <p:sp>
          <p:nvSpPr>
            <p:cNvPr id="35887" name="Rectangle 21">
              <a:extLst>
                <a:ext uri="{FF2B5EF4-FFF2-40B4-BE49-F238E27FC236}">
                  <a16:creationId xmlns:a16="http://schemas.microsoft.com/office/drawing/2014/main" id="{8A2B901E-576F-2555-4019-D76A517730C7}"/>
                </a:ext>
              </a:extLst>
            </p:cNvPr>
            <p:cNvSpPr>
              <a:spLocks noChangeArrowheads="1"/>
            </p:cNvSpPr>
            <p:nvPr/>
          </p:nvSpPr>
          <p:spPr bwMode="auto">
            <a:xfrm>
              <a:off x="3080" y="2392"/>
              <a:ext cx="83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T</a:t>
              </a:r>
            </a:p>
          </p:txBody>
        </p:sp>
        <p:sp>
          <p:nvSpPr>
            <p:cNvPr id="35888" name="Rectangle 22">
              <a:extLst>
                <a:ext uri="{FF2B5EF4-FFF2-40B4-BE49-F238E27FC236}">
                  <a16:creationId xmlns:a16="http://schemas.microsoft.com/office/drawing/2014/main" id="{BA73727F-1273-D761-29D8-A85305155800}"/>
                </a:ext>
              </a:extLst>
            </p:cNvPr>
            <p:cNvSpPr>
              <a:spLocks noChangeArrowheads="1"/>
            </p:cNvSpPr>
            <p:nvPr/>
          </p:nvSpPr>
          <p:spPr bwMode="auto">
            <a:xfrm>
              <a:off x="2192" y="2392"/>
              <a:ext cx="88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N</a:t>
              </a:r>
            </a:p>
          </p:txBody>
        </p:sp>
        <p:sp>
          <p:nvSpPr>
            <p:cNvPr id="35889" name="Rectangle 23">
              <a:extLst>
                <a:ext uri="{FF2B5EF4-FFF2-40B4-BE49-F238E27FC236}">
                  <a16:creationId xmlns:a16="http://schemas.microsoft.com/office/drawing/2014/main" id="{89C93A59-3FA0-8976-7252-B9F8405EE5C2}"/>
                </a:ext>
              </a:extLst>
            </p:cNvPr>
            <p:cNvSpPr>
              <a:spLocks noChangeArrowheads="1"/>
            </p:cNvSpPr>
            <p:nvPr/>
          </p:nvSpPr>
          <p:spPr bwMode="auto">
            <a:xfrm>
              <a:off x="1600" y="2392"/>
              <a:ext cx="59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N</a:t>
              </a:r>
            </a:p>
          </p:txBody>
        </p:sp>
        <p:sp>
          <p:nvSpPr>
            <p:cNvPr id="35890" name="Rectangle 24">
              <a:extLst>
                <a:ext uri="{FF2B5EF4-FFF2-40B4-BE49-F238E27FC236}">
                  <a16:creationId xmlns:a16="http://schemas.microsoft.com/office/drawing/2014/main" id="{8670E8ED-D7D0-6248-E3DC-7FDD24B10C36}"/>
                </a:ext>
              </a:extLst>
            </p:cNvPr>
            <p:cNvSpPr>
              <a:spLocks noChangeArrowheads="1"/>
            </p:cNvSpPr>
            <p:nvPr/>
          </p:nvSpPr>
          <p:spPr bwMode="auto">
            <a:xfrm>
              <a:off x="752" y="2392"/>
              <a:ext cx="84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T</a:t>
              </a:r>
            </a:p>
          </p:txBody>
        </p:sp>
        <p:sp>
          <p:nvSpPr>
            <p:cNvPr id="35891" name="Rectangle 25">
              <a:extLst>
                <a:ext uri="{FF2B5EF4-FFF2-40B4-BE49-F238E27FC236}">
                  <a16:creationId xmlns:a16="http://schemas.microsoft.com/office/drawing/2014/main" id="{7D5CEA21-6ABC-2999-209D-E4001B90E6EE}"/>
                </a:ext>
              </a:extLst>
            </p:cNvPr>
            <p:cNvSpPr>
              <a:spLocks noChangeArrowheads="1"/>
            </p:cNvSpPr>
            <p:nvPr/>
          </p:nvSpPr>
          <p:spPr bwMode="auto">
            <a:xfrm>
              <a:off x="400" y="2392"/>
              <a:ext cx="35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0</a:t>
              </a:r>
            </a:p>
          </p:txBody>
        </p:sp>
        <p:sp>
          <p:nvSpPr>
            <p:cNvPr id="35892" name="Rectangle 26">
              <a:extLst>
                <a:ext uri="{FF2B5EF4-FFF2-40B4-BE49-F238E27FC236}">
                  <a16:creationId xmlns:a16="http://schemas.microsoft.com/office/drawing/2014/main" id="{DB814678-EA04-EE10-29AD-7BABE998EAB6}"/>
                </a:ext>
              </a:extLst>
            </p:cNvPr>
            <p:cNvSpPr>
              <a:spLocks noChangeArrowheads="1"/>
            </p:cNvSpPr>
            <p:nvPr/>
          </p:nvSpPr>
          <p:spPr bwMode="auto">
            <a:xfrm>
              <a:off x="3912" y="2157"/>
              <a:ext cx="64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T</a:t>
              </a:r>
            </a:p>
          </p:txBody>
        </p:sp>
        <p:sp>
          <p:nvSpPr>
            <p:cNvPr id="35893" name="Rectangle 27">
              <a:extLst>
                <a:ext uri="{FF2B5EF4-FFF2-40B4-BE49-F238E27FC236}">
                  <a16:creationId xmlns:a16="http://schemas.microsoft.com/office/drawing/2014/main" id="{C7DA74D1-56D9-0330-1FD3-C8A7FD6F21F3}"/>
                </a:ext>
              </a:extLst>
            </p:cNvPr>
            <p:cNvSpPr>
              <a:spLocks noChangeArrowheads="1"/>
            </p:cNvSpPr>
            <p:nvPr/>
          </p:nvSpPr>
          <p:spPr bwMode="auto">
            <a:xfrm>
              <a:off x="3080" y="2157"/>
              <a:ext cx="83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N</a:t>
              </a:r>
            </a:p>
          </p:txBody>
        </p:sp>
        <p:sp>
          <p:nvSpPr>
            <p:cNvPr id="35894" name="Rectangle 28">
              <a:extLst>
                <a:ext uri="{FF2B5EF4-FFF2-40B4-BE49-F238E27FC236}">
                  <a16:creationId xmlns:a16="http://schemas.microsoft.com/office/drawing/2014/main" id="{5AB1CE0D-336E-62A1-46E9-8A20114F053A}"/>
                </a:ext>
              </a:extLst>
            </p:cNvPr>
            <p:cNvSpPr>
              <a:spLocks noChangeArrowheads="1"/>
            </p:cNvSpPr>
            <p:nvPr/>
          </p:nvSpPr>
          <p:spPr bwMode="auto">
            <a:xfrm>
              <a:off x="2192" y="2157"/>
              <a:ext cx="88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T</a:t>
              </a:r>
            </a:p>
          </p:txBody>
        </p:sp>
        <p:sp>
          <p:nvSpPr>
            <p:cNvPr id="35895" name="Rectangle 29">
              <a:extLst>
                <a:ext uri="{FF2B5EF4-FFF2-40B4-BE49-F238E27FC236}">
                  <a16:creationId xmlns:a16="http://schemas.microsoft.com/office/drawing/2014/main" id="{00E5E825-1786-5094-DCC2-811AEACD45B3}"/>
                </a:ext>
              </a:extLst>
            </p:cNvPr>
            <p:cNvSpPr>
              <a:spLocks noChangeArrowheads="1"/>
            </p:cNvSpPr>
            <p:nvPr/>
          </p:nvSpPr>
          <p:spPr bwMode="auto">
            <a:xfrm>
              <a:off x="1600" y="2157"/>
              <a:ext cx="59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T</a:t>
              </a:r>
            </a:p>
          </p:txBody>
        </p:sp>
        <p:sp>
          <p:nvSpPr>
            <p:cNvPr id="35896" name="Rectangle 30">
              <a:extLst>
                <a:ext uri="{FF2B5EF4-FFF2-40B4-BE49-F238E27FC236}">
                  <a16:creationId xmlns:a16="http://schemas.microsoft.com/office/drawing/2014/main" id="{B5032B0C-0D0B-CB1E-2339-156C364A3B6E}"/>
                </a:ext>
              </a:extLst>
            </p:cNvPr>
            <p:cNvSpPr>
              <a:spLocks noChangeArrowheads="1"/>
            </p:cNvSpPr>
            <p:nvPr/>
          </p:nvSpPr>
          <p:spPr bwMode="auto">
            <a:xfrm>
              <a:off x="752" y="2157"/>
              <a:ext cx="84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N</a:t>
              </a:r>
            </a:p>
          </p:txBody>
        </p:sp>
        <p:sp>
          <p:nvSpPr>
            <p:cNvPr id="35897" name="Rectangle 31">
              <a:extLst>
                <a:ext uri="{FF2B5EF4-FFF2-40B4-BE49-F238E27FC236}">
                  <a16:creationId xmlns:a16="http://schemas.microsoft.com/office/drawing/2014/main" id="{1FAB02DE-D77C-D587-559D-4E1F6B9C72BA}"/>
                </a:ext>
              </a:extLst>
            </p:cNvPr>
            <p:cNvSpPr>
              <a:spLocks noChangeArrowheads="1"/>
            </p:cNvSpPr>
            <p:nvPr/>
          </p:nvSpPr>
          <p:spPr bwMode="auto">
            <a:xfrm>
              <a:off x="400" y="2157"/>
              <a:ext cx="35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2</a:t>
              </a:r>
            </a:p>
          </p:txBody>
        </p:sp>
        <p:sp>
          <p:nvSpPr>
            <p:cNvPr id="35898" name="Rectangle 32">
              <a:extLst>
                <a:ext uri="{FF2B5EF4-FFF2-40B4-BE49-F238E27FC236}">
                  <a16:creationId xmlns:a16="http://schemas.microsoft.com/office/drawing/2014/main" id="{381E94A1-AFAF-7653-E861-E79CBD659C5B}"/>
                </a:ext>
              </a:extLst>
            </p:cNvPr>
            <p:cNvSpPr>
              <a:spLocks noChangeArrowheads="1"/>
            </p:cNvSpPr>
            <p:nvPr/>
          </p:nvSpPr>
          <p:spPr bwMode="auto">
            <a:xfrm>
              <a:off x="3912" y="1744"/>
              <a:ext cx="640"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b2 action</a:t>
              </a:r>
            </a:p>
          </p:txBody>
        </p:sp>
        <p:sp>
          <p:nvSpPr>
            <p:cNvPr id="35899" name="Rectangle 33">
              <a:extLst>
                <a:ext uri="{FF2B5EF4-FFF2-40B4-BE49-F238E27FC236}">
                  <a16:creationId xmlns:a16="http://schemas.microsoft.com/office/drawing/2014/main" id="{EB44143E-B089-FB9D-99D4-D51FD0603352}"/>
                </a:ext>
              </a:extLst>
            </p:cNvPr>
            <p:cNvSpPr>
              <a:spLocks noChangeArrowheads="1"/>
            </p:cNvSpPr>
            <p:nvPr/>
          </p:nvSpPr>
          <p:spPr bwMode="auto">
            <a:xfrm>
              <a:off x="3080" y="1744"/>
              <a:ext cx="832"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FF"/>
                </a:buClr>
                <a:buFont typeface="Comic Sans MS" panose="030F0902030302020204" pitchFamily="66" charset="0"/>
                <a:buNone/>
              </a:pPr>
              <a:r>
                <a:rPr lang="en-GB" altLang="en-US" sz="1600">
                  <a:solidFill>
                    <a:srgbClr val="FF00FF"/>
                  </a:solidFill>
                  <a:cs typeface="Arial" panose="020B0604020202020204" pitchFamily="34" charset="0"/>
                </a:rPr>
                <a:t>b2 prediction</a:t>
              </a:r>
            </a:p>
          </p:txBody>
        </p:sp>
        <p:sp>
          <p:nvSpPr>
            <p:cNvPr id="35900" name="Rectangle 34">
              <a:extLst>
                <a:ext uri="{FF2B5EF4-FFF2-40B4-BE49-F238E27FC236}">
                  <a16:creationId xmlns:a16="http://schemas.microsoft.com/office/drawing/2014/main" id="{6D0A3359-7998-BAE5-92E4-A3BBA21DFD59}"/>
                </a:ext>
              </a:extLst>
            </p:cNvPr>
            <p:cNvSpPr>
              <a:spLocks noChangeArrowheads="1"/>
            </p:cNvSpPr>
            <p:nvPr/>
          </p:nvSpPr>
          <p:spPr bwMode="auto">
            <a:xfrm>
              <a:off x="2192" y="1744"/>
              <a:ext cx="888"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new b1 prediction</a:t>
              </a:r>
            </a:p>
          </p:txBody>
        </p:sp>
        <p:sp>
          <p:nvSpPr>
            <p:cNvPr id="35901" name="Rectangle 35">
              <a:extLst>
                <a:ext uri="{FF2B5EF4-FFF2-40B4-BE49-F238E27FC236}">
                  <a16:creationId xmlns:a16="http://schemas.microsoft.com/office/drawing/2014/main" id="{E5F467ED-CB5E-84DB-C2AA-39063640CFD1}"/>
                </a:ext>
              </a:extLst>
            </p:cNvPr>
            <p:cNvSpPr>
              <a:spLocks noChangeArrowheads="1"/>
            </p:cNvSpPr>
            <p:nvPr/>
          </p:nvSpPr>
          <p:spPr bwMode="auto">
            <a:xfrm>
              <a:off x="1600" y="1744"/>
              <a:ext cx="592"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b1 action</a:t>
              </a:r>
            </a:p>
          </p:txBody>
        </p:sp>
        <p:sp>
          <p:nvSpPr>
            <p:cNvPr id="35902" name="Rectangle 36">
              <a:extLst>
                <a:ext uri="{FF2B5EF4-FFF2-40B4-BE49-F238E27FC236}">
                  <a16:creationId xmlns:a16="http://schemas.microsoft.com/office/drawing/2014/main" id="{C580F39B-D0A9-795C-14B4-F8CE9AEBB535}"/>
                </a:ext>
              </a:extLst>
            </p:cNvPr>
            <p:cNvSpPr>
              <a:spLocks noChangeArrowheads="1"/>
            </p:cNvSpPr>
            <p:nvPr/>
          </p:nvSpPr>
          <p:spPr bwMode="auto">
            <a:xfrm>
              <a:off x="752" y="1744"/>
              <a:ext cx="848"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Clr>
                  <a:srgbClr val="FF0000"/>
                </a:buClr>
                <a:buFont typeface="Comic Sans MS" panose="030F0902030302020204" pitchFamily="66" charset="0"/>
                <a:buNone/>
              </a:pPr>
              <a:r>
                <a:rPr lang="en-GB" altLang="en-US" sz="1600">
                  <a:solidFill>
                    <a:srgbClr val="FF0000"/>
                  </a:solidFill>
                  <a:cs typeface="Arial" panose="020B0604020202020204" pitchFamily="34" charset="0"/>
                </a:rPr>
                <a:t>b1 prediction</a:t>
              </a:r>
            </a:p>
          </p:txBody>
        </p:sp>
        <p:sp>
          <p:nvSpPr>
            <p:cNvPr id="35903" name="Rectangle 37">
              <a:extLst>
                <a:ext uri="{FF2B5EF4-FFF2-40B4-BE49-F238E27FC236}">
                  <a16:creationId xmlns:a16="http://schemas.microsoft.com/office/drawing/2014/main" id="{C9D6AC7D-E1B9-8A66-60FC-3F7128BDE55C}"/>
                </a:ext>
              </a:extLst>
            </p:cNvPr>
            <p:cNvSpPr>
              <a:spLocks noChangeArrowheads="1"/>
            </p:cNvSpPr>
            <p:nvPr/>
          </p:nvSpPr>
          <p:spPr bwMode="auto">
            <a:xfrm>
              <a:off x="400" y="1744"/>
              <a:ext cx="352"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00"/>
                </a:spcBef>
                <a:buFont typeface="Comic Sans MS" panose="030F0902030302020204" pitchFamily="66" charset="0"/>
                <a:buNone/>
              </a:pPr>
              <a:r>
                <a:rPr lang="en-GB" altLang="en-US" sz="1600">
                  <a:solidFill>
                    <a:srgbClr val="000000"/>
                  </a:solidFill>
                  <a:cs typeface="Arial" panose="020B0604020202020204" pitchFamily="34" charset="0"/>
                </a:rPr>
                <a:t>d=?</a:t>
              </a:r>
            </a:p>
          </p:txBody>
        </p:sp>
        <p:sp>
          <p:nvSpPr>
            <p:cNvPr id="35904" name="Line 38">
              <a:extLst>
                <a:ext uri="{FF2B5EF4-FFF2-40B4-BE49-F238E27FC236}">
                  <a16:creationId xmlns:a16="http://schemas.microsoft.com/office/drawing/2014/main" id="{54E59B5C-3923-E4FF-70FF-1CBABB003629}"/>
                </a:ext>
              </a:extLst>
            </p:cNvPr>
            <p:cNvSpPr>
              <a:spLocks noChangeShapeType="1"/>
            </p:cNvSpPr>
            <p:nvPr/>
          </p:nvSpPr>
          <p:spPr bwMode="auto">
            <a:xfrm>
              <a:off x="400" y="1744"/>
              <a:ext cx="5112"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05" name="Line 39">
              <a:extLst>
                <a:ext uri="{FF2B5EF4-FFF2-40B4-BE49-F238E27FC236}">
                  <a16:creationId xmlns:a16="http://schemas.microsoft.com/office/drawing/2014/main" id="{F58F945C-1DFF-CA1B-1276-FB9B0D75DBB9}"/>
                </a:ext>
              </a:extLst>
            </p:cNvPr>
            <p:cNvSpPr>
              <a:spLocks noChangeShapeType="1"/>
            </p:cNvSpPr>
            <p:nvPr/>
          </p:nvSpPr>
          <p:spPr bwMode="auto">
            <a:xfrm>
              <a:off x="400" y="2157"/>
              <a:ext cx="5112"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06" name="Line 40">
              <a:extLst>
                <a:ext uri="{FF2B5EF4-FFF2-40B4-BE49-F238E27FC236}">
                  <a16:creationId xmlns:a16="http://schemas.microsoft.com/office/drawing/2014/main" id="{7BD4E5E2-D862-7B9C-5CE3-481FB95BF213}"/>
                </a:ext>
              </a:extLst>
            </p:cNvPr>
            <p:cNvSpPr>
              <a:spLocks noChangeShapeType="1"/>
            </p:cNvSpPr>
            <p:nvPr/>
          </p:nvSpPr>
          <p:spPr bwMode="auto">
            <a:xfrm>
              <a:off x="400" y="2392"/>
              <a:ext cx="5112"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07" name="Line 41">
              <a:extLst>
                <a:ext uri="{FF2B5EF4-FFF2-40B4-BE49-F238E27FC236}">
                  <a16:creationId xmlns:a16="http://schemas.microsoft.com/office/drawing/2014/main" id="{0B709D5F-432D-4C55-C6D2-4A631C51B1DB}"/>
                </a:ext>
              </a:extLst>
            </p:cNvPr>
            <p:cNvSpPr>
              <a:spLocks noChangeShapeType="1"/>
            </p:cNvSpPr>
            <p:nvPr/>
          </p:nvSpPr>
          <p:spPr bwMode="auto">
            <a:xfrm>
              <a:off x="400" y="2627"/>
              <a:ext cx="5112"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08" name="Line 42">
              <a:extLst>
                <a:ext uri="{FF2B5EF4-FFF2-40B4-BE49-F238E27FC236}">
                  <a16:creationId xmlns:a16="http://schemas.microsoft.com/office/drawing/2014/main" id="{57C847CC-1D7A-59E3-0FB8-FEF245F1CA3C}"/>
                </a:ext>
              </a:extLst>
            </p:cNvPr>
            <p:cNvSpPr>
              <a:spLocks noChangeShapeType="1"/>
            </p:cNvSpPr>
            <p:nvPr/>
          </p:nvSpPr>
          <p:spPr bwMode="auto">
            <a:xfrm>
              <a:off x="400" y="3097"/>
              <a:ext cx="5112"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09" name="Line 43">
              <a:extLst>
                <a:ext uri="{FF2B5EF4-FFF2-40B4-BE49-F238E27FC236}">
                  <a16:creationId xmlns:a16="http://schemas.microsoft.com/office/drawing/2014/main" id="{E78A9051-7EE2-9E53-097D-A9981216822B}"/>
                </a:ext>
              </a:extLst>
            </p:cNvPr>
            <p:cNvSpPr>
              <a:spLocks noChangeShapeType="1"/>
            </p:cNvSpPr>
            <p:nvPr/>
          </p:nvSpPr>
          <p:spPr bwMode="auto">
            <a:xfrm>
              <a:off x="400" y="1744"/>
              <a:ext cx="1" cy="1353"/>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10" name="Line 44">
              <a:extLst>
                <a:ext uri="{FF2B5EF4-FFF2-40B4-BE49-F238E27FC236}">
                  <a16:creationId xmlns:a16="http://schemas.microsoft.com/office/drawing/2014/main" id="{C2814542-6A70-6464-3F18-E48A5DAF9C38}"/>
                </a:ext>
              </a:extLst>
            </p:cNvPr>
            <p:cNvSpPr>
              <a:spLocks noChangeShapeType="1"/>
            </p:cNvSpPr>
            <p:nvPr/>
          </p:nvSpPr>
          <p:spPr bwMode="auto">
            <a:xfrm>
              <a:off x="752" y="1744"/>
              <a:ext cx="1" cy="1353"/>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11" name="Line 45">
              <a:extLst>
                <a:ext uri="{FF2B5EF4-FFF2-40B4-BE49-F238E27FC236}">
                  <a16:creationId xmlns:a16="http://schemas.microsoft.com/office/drawing/2014/main" id="{6626414A-7F8D-F40D-7A7F-78A2D64716D3}"/>
                </a:ext>
              </a:extLst>
            </p:cNvPr>
            <p:cNvSpPr>
              <a:spLocks noChangeShapeType="1"/>
            </p:cNvSpPr>
            <p:nvPr/>
          </p:nvSpPr>
          <p:spPr bwMode="auto">
            <a:xfrm>
              <a:off x="1600" y="1744"/>
              <a:ext cx="1" cy="1353"/>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12" name="Line 46">
              <a:extLst>
                <a:ext uri="{FF2B5EF4-FFF2-40B4-BE49-F238E27FC236}">
                  <a16:creationId xmlns:a16="http://schemas.microsoft.com/office/drawing/2014/main" id="{904AFFDB-E86F-9F4A-9606-F60EC40EC5AD}"/>
                </a:ext>
              </a:extLst>
            </p:cNvPr>
            <p:cNvSpPr>
              <a:spLocks noChangeShapeType="1"/>
            </p:cNvSpPr>
            <p:nvPr/>
          </p:nvSpPr>
          <p:spPr bwMode="auto">
            <a:xfrm>
              <a:off x="2192" y="1744"/>
              <a:ext cx="1" cy="1353"/>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13" name="Line 47">
              <a:extLst>
                <a:ext uri="{FF2B5EF4-FFF2-40B4-BE49-F238E27FC236}">
                  <a16:creationId xmlns:a16="http://schemas.microsoft.com/office/drawing/2014/main" id="{28ADB33A-AA14-84C2-8F67-58379F008E22}"/>
                </a:ext>
              </a:extLst>
            </p:cNvPr>
            <p:cNvSpPr>
              <a:spLocks noChangeShapeType="1"/>
            </p:cNvSpPr>
            <p:nvPr/>
          </p:nvSpPr>
          <p:spPr bwMode="auto">
            <a:xfrm>
              <a:off x="3080" y="1744"/>
              <a:ext cx="1" cy="1353"/>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14" name="Line 48">
              <a:extLst>
                <a:ext uri="{FF2B5EF4-FFF2-40B4-BE49-F238E27FC236}">
                  <a16:creationId xmlns:a16="http://schemas.microsoft.com/office/drawing/2014/main" id="{07C8B75B-C2D6-53FD-B949-EF46A8841606}"/>
                </a:ext>
              </a:extLst>
            </p:cNvPr>
            <p:cNvSpPr>
              <a:spLocks noChangeShapeType="1"/>
            </p:cNvSpPr>
            <p:nvPr/>
          </p:nvSpPr>
          <p:spPr bwMode="auto">
            <a:xfrm>
              <a:off x="3912" y="1744"/>
              <a:ext cx="1" cy="1353"/>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15" name="Line 49">
              <a:extLst>
                <a:ext uri="{FF2B5EF4-FFF2-40B4-BE49-F238E27FC236}">
                  <a16:creationId xmlns:a16="http://schemas.microsoft.com/office/drawing/2014/main" id="{F01E39E6-38D6-0639-A0DF-EF96F8B6CB3B}"/>
                </a:ext>
              </a:extLst>
            </p:cNvPr>
            <p:cNvSpPr>
              <a:spLocks noChangeShapeType="1"/>
            </p:cNvSpPr>
            <p:nvPr/>
          </p:nvSpPr>
          <p:spPr bwMode="auto">
            <a:xfrm>
              <a:off x="5512" y="1744"/>
              <a:ext cx="1" cy="1353"/>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16" name="Line 50">
              <a:extLst>
                <a:ext uri="{FF2B5EF4-FFF2-40B4-BE49-F238E27FC236}">
                  <a16:creationId xmlns:a16="http://schemas.microsoft.com/office/drawing/2014/main" id="{16E972D6-A2F1-89FE-CBD2-0FCB3AEAB4D3}"/>
                </a:ext>
              </a:extLst>
            </p:cNvPr>
            <p:cNvSpPr>
              <a:spLocks noChangeShapeType="1"/>
            </p:cNvSpPr>
            <p:nvPr/>
          </p:nvSpPr>
          <p:spPr bwMode="auto">
            <a:xfrm>
              <a:off x="4552" y="1744"/>
              <a:ext cx="1" cy="1353"/>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917" name="Line 51">
              <a:extLst>
                <a:ext uri="{FF2B5EF4-FFF2-40B4-BE49-F238E27FC236}">
                  <a16:creationId xmlns:a16="http://schemas.microsoft.com/office/drawing/2014/main" id="{8A154528-9423-113C-BCE1-9556CD0B6A2C}"/>
                </a:ext>
              </a:extLst>
            </p:cNvPr>
            <p:cNvSpPr>
              <a:spLocks noChangeShapeType="1"/>
            </p:cNvSpPr>
            <p:nvPr/>
          </p:nvSpPr>
          <p:spPr bwMode="auto">
            <a:xfrm>
              <a:off x="400" y="2862"/>
              <a:ext cx="5112"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35844" name="Rectangle 52">
            <a:extLst>
              <a:ext uri="{FF2B5EF4-FFF2-40B4-BE49-F238E27FC236}">
                <a16:creationId xmlns:a16="http://schemas.microsoft.com/office/drawing/2014/main" id="{40ADC555-2907-38CF-7F3E-29BBADC113E7}"/>
              </a:ext>
            </a:extLst>
          </p:cNvPr>
          <p:cNvSpPr>
            <a:spLocks noGrp="1" noChangeArrowheads="1"/>
          </p:cNvSpPr>
          <p:nvPr>
            <p:ph type="body" idx="1"/>
          </p:nvPr>
        </p:nvSpPr>
        <p:spPr>
          <a:xfrm>
            <a:off x="0" y="1308100"/>
            <a:ext cx="6362700" cy="1231900"/>
          </a:xfrm>
        </p:spPr>
        <p:txBody>
          <a:bodyPr/>
          <a:lstStyle/>
          <a:p>
            <a:pPr>
              <a:lnSpc>
                <a:spcPct val="100000"/>
              </a:lnSpc>
              <a:spcBef>
                <a:spcPts val="1125"/>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 charset="0"/>
                <a:cs typeface="Arial  " charset="0"/>
              </a:rPr>
              <a:t>     First, let’s consider behavior of the simple </a:t>
            </a:r>
            <a:r>
              <a:rPr lang="en-GB" altLang="en-US" sz="1800" u="sng">
                <a:latin typeface="Arial  " charset="0"/>
                <a:cs typeface="Arial  " charset="0"/>
              </a:rPr>
              <a:t>1-bit predictor</a:t>
            </a:r>
            <a:r>
              <a:rPr lang="en-GB" altLang="en-US" sz="1800">
                <a:latin typeface="Arial  " charset="0"/>
                <a:cs typeface="Arial  " charset="0"/>
              </a:rPr>
              <a:t> from slide 14 (all table entries initialized to “not taken”) if d alternates from 2 to 0:  d = 2, 0, 2, 0, ...</a:t>
            </a:r>
          </a:p>
        </p:txBody>
      </p:sp>
      <p:sp>
        <p:nvSpPr>
          <p:cNvPr id="35845" name="Line 53">
            <a:extLst>
              <a:ext uri="{FF2B5EF4-FFF2-40B4-BE49-F238E27FC236}">
                <a16:creationId xmlns:a16="http://schemas.microsoft.com/office/drawing/2014/main" id="{23C5E4A7-0164-4355-9114-8DDCA5D05F6B}"/>
              </a:ext>
            </a:extLst>
          </p:cNvPr>
          <p:cNvSpPr>
            <a:spLocks noChangeShapeType="1"/>
          </p:cNvSpPr>
          <p:nvPr/>
        </p:nvSpPr>
        <p:spPr bwMode="auto">
          <a:xfrm>
            <a:off x="368300" y="3784600"/>
            <a:ext cx="1588" cy="1358900"/>
          </a:xfrm>
          <a:prstGeom prst="line">
            <a:avLst/>
          </a:prstGeom>
          <a:noFill/>
          <a:ln w="381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46" name="Line 54">
            <a:extLst>
              <a:ext uri="{FF2B5EF4-FFF2-40B4-BE49-F238E27FC236}">
                <a16:creationId xmlns:a16="http://schemas.microsoft.com/office/drawing/2014/main" id="{C51386CA-B878-6C7B-CB91-85AED40BE0D0}"/>
              </a:ext>
            </a:extLst>
          </p:cNvPr>
          <p:cNvSpPr>
            <a:spLocks noChangeShapeType="1"/>
          </p:cNvSpPr>
          <p:nvPr/>
        </p:nvSpPr>
        <p:spPr bwMode="auto">
          <a:xfrm>
            <a:off x="1054100" y="2298700"/>
            <a:ext cx="1676400" cy="1588"/>
          </a:xfrm>
          <a:prstGeom prst="line">
            <a:avLst/>
          </a:prstGeom>
          <a:noFill/>
          <a:ln w="381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47" name="Text Box 55">
            <a:extLst>
              <a:ext uri="{FF2B5EF4-FFF2-40B4-BE49-F238E27FC236}">
                <a16:creationId xmlns:a16="http://schemas.microsoft.com/office/drawing/2014/main" id="{560C5EAA-73E0-59F5-3052-476D5FC28353}"/>
              </a:ext>
            </a:extLst>
          </p:cNvPr>
          <p:cNvSpPr txBox="1">
            <a:spLocks noChangeArrowheads="1"/>
          </p:cNvSpPr>
          <p:nvPr/>
        </p:nvSpPr>
        <p:spPr bwMode="auto">
          <a:xfrm>
            <a:off x="946150" y="2368550"/>
            <a:ext cx="454977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1600" i="1">
                <a:solidFill>
                  <a:srgbClr val="000000"/>
                </a:solidFill>
                <a:cs typeface="Arial" panose="020B0604020202020204" pitchFamily="34" charset="0"/>
              </a:rPr>
              <a:t>across: behavior as code executes a single time</a:t>
            </a:r>
          </a:p>
        </p:txBody>
      </p:sp>
      <p:sp>
        <p:nvSpPr>
          <p:cNvPr id="35848" name="Text Box 56">
            <a:extLst>
              <a:ext uri="{FF2B5EF4-FFF2-40B4-BE49-F238E27FC236}">
                <a16:creationId xmlns:a16="http://schemas.microsoft.com/office/drawing/2014/main" id="{9EF0BF12-1EA6-5362-8EF4-45953B59371D}"/>
              </a:ext>
            </a:extLst>
          </p:cNvPr>
          <p:cNvSpPr txBox="1">
            <a:spLocks noChangeArrowheads="1"/>
          </p:cNvSpPr>
          <p:nvPr/>
        </p:nvSpPr>
        <p:spPr bwMode="auto">
          <a:xfrm>
            <a:off x="644525" y="5070475"/>
            <a:ext cx="558006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1800" i="1">
                <a:solidFill>
                  <a:srgbClr val="000000"/>
                </a:solidFill>
                <a:cs typeface="Arial" panose="020B0604020202020204" pitchFamily="34" charset="0"/>
              </a:rPr>
              <a:t>down:  successive passes through the example code</a:t>
            </a:r>
          </a:p>
        </p:txBody>
      </p:sp>
      <p:sp>
        <p:nvSpPr>
          <p:cNvPr id="35849" name="Rectangle 58">
            <a:extLst>
              <a:ext uri="{FF2B5EF4-FFF2-40B4-BE49-F238E27FC236}">
                <a16:creationId xmlns:a16="http://schemas.microsoft.com/office/drawing/2014/main" id="{AC8BCCA3-3C80-30B3-585A-26E8CB70394B}"/>
              </a:ext>
            </a:extLst>
          </p:cNvPr>
          <p:cNvSpPr>
            <a:spLocks noChangeArrowheads="1"/>
          </p:cNvSpPr>
          <p:nvPr/>
        </p:nvSpPr>
        <p:spPr bwMode="auto">
          <a:xfrm>
            <a:off x="2524125" y="3413125"/>
            <a:ext cx="952500" cy="1519238"/>
          </a:xfrm>
          <a:prstGeom prst="rect">
            <a:avLst/>
          </a:prstGeom>
          <a:noFill/>
          <a:ln w="57150">
            <a:solidFill>
              <a:srgbClr val="00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35850" name="Rectangle 59">
            <a:extLst>
              <a:ext uri="{FF2B5EF4-FFF2-40B4-BE49-F238E27FC236}">
                <a16:creationId xmlns:a16="http://schemas.microsoft.com/office/drawing/2014/main" id="{F4DEA2A1-60AA-19EB-04C6-B1D2B2B18C49}"/>
              </a:ext>
            </a:extLst>
          </p:cNvPr>
          <p:cNvSpPr>
            <a:spLocks noChangeArrowheads="1"/>
          </p:cNvSpPr>
          <p:nvPr/>
        </p:nvSpPr>
        <p:spPr bwMode="auto">
          <a:xfrm>
            <a:off x="6207125" y="3400425"/>
            <a:ext cx="1042988" cy="1506538"/>
          </a:xfrm>
          <a:prstGeom prst="rect">
            <a:avLst/>
          </a:prstGeom>
          <a:noFill/>
          <a:ln w="57150">
            <a:solidFill>
              <a:srgbClr val="00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35851" name="Line 60">
            <a:extLst>
              <a:ext uri="{FF2B5EF4-FFF2-40B4-BE49-F238E27FC236}">
                <a16:creationId xmlns:a16="http://schemas.microsoft.com/office/drawing/2014/main" id="{B7C7A5B7-44E4-A1A0-D77D-414E88B8A2F5}"/>
              </a:ext>
            </a:extLst>
          </p:cNvPr>
          <p:cNvSpPr>
            <a:spLocks noChangeShapeType="1"/>
          </p:cNvSpPr>
          <p:nvPr/>
        </p:nvSpPr>
        <p:spPr bwMode="auto">
          <a:xfrm flipH="1">
            <a:off x="3567113" y="2438400"/>
            <a:ext cx="2987675" cy="1041400"/>
          </a:xfrm>
          <a:prstGeom prst="line">
            <a:avLst/>
          </a:prstGeom>
          <a:noFill/>
          <a:ln w="9360">
            <a:solidFill>
              <a:srgbClr val="0000FF"/>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2" name="Line 61">
            <a:extLst>
              <a:ext uri="{FF2B5EF4-FFF2-40B4-BE49-F238E27FC236}">
                <a16:creationId xmlns:a16="http://schemas.microsoft.com/office/drawing/2014/main" id="{F6AF4F9D-5672-B1F8-ACF1-5B5E4467BCF4}"/>
              </a:ext>
            </a:extLst>
          </p:cNvPr>
          <p:cNvSpPr>
            <a:spLocks noChangeShapeType="1"/>
          </p:cNvSpPr>
          <p:nvPr/>
        </p:nvSpPr>
        <p:spPr bwMode="auto">
          <a:xfrm>
            <a:off x="6553200" y="2451100"/>
            <a:ext cx="457200" cy="825500"/>
          </a:xfrm>
          <a:prstGeom prst="line">
            <a:avLst/>
          </a:prstGeom>
          <a:noFill/>
          <a:ln w="9360">
            <a:solidFill>
              <a:srgbClr val="0000FF"/>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3" name="Text Box 62">
            <a:extLst>
              <a:ext uri="{FF2B5EF4-FFF2-40B4-BE49-F238E27FC236}">
                <a16:creationId xmlns:a16="http://schemas.microsoft.com/office/drawing/2014/main" id="{F5A3B096-CC51-50C4-DE31-1EA037D41D98}"/>
              </a:ext>
            </a:extLst>
          </p:cNvPr>
          <p:cNvSpPr txBox="1">
            <a:spLocks noChangeArrowheads="1"/>
          </p:cNvSpPr>
          <p:nvPr/>
        </p:nvSpPr>
        <p:spPr bwMode="auto">
          <a:xfrm>
            <a:off x="5702300" y="2005013"/>
            <a:ext cx="27670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0000FF"/>
              </a:buClr>
              <a:buFont typeface="Comic Sans MS" panose="030F0902030302020204" pitchFamily="66" charset="0"/>
              <a:buNone/>
            </a:pPr>
            <a:r>
              <a:rPr lang="en-GB" altLang="en-US">
                <a:solidFill>
                  <a:srgbClr val="0000FF"/>
                </a:solidFill>
                <a:cs typeface="Arial" panose="020B0604020202020204" pitchFamily="34" charset="0"/>
              </a:rPr>
              <a:t>from previous slide</a:t>
            </a:r>
          </a:p>
        </p:txBody>
      </p:sp>
      <p:grpSp>
        <p:nvGrpSpPr>
          <p:cNvPr id="3" name="Group 63">
            <a:extLst>
              <a:ext uri="{FF2B5EF4-FFF2-40B4-BE49-F238E27FC236}">
                <a16:creationId xmlns:a16="http://schemas.microsoft.com/office/drawing/2014/main" id="{88CA15FA-8575-EA76-8F16-74A37737ED0A}"/>
              </a:ext>
            </a:extLst>
          </p:cNvPr>
          <p:cNvGrpSpPr>
            <a:grpSpLocks/>
          </p:cNvGrpSpPr>
          <p:nvPr/>
        </p:nvGrpSpPr>
        <p:grpSpPr bwMode="auto">
          <a:xfrm>
            <a:off x="1228725" y="3819525"/>
            <a:ext cx="6856413" cy="1077913"/>
            <a:chOff x="776" y="2400"/>
            <a:chExt cx="4319" cy="679"/>
          </a:xfrm>
        </p:grpSpPr>
        <p:sp>
          <p:nvSpPr>
            <p:cNvPr id="35859" name="Rectangle 64">
              <a:extLst>
                <a:ext uri="{FF2B5EF4-FFF2-40B4-BE49-F238E27FC236}">
                  <a16:creationId xmlns:a16="http://schemas.microsoft.com/office/drawing/2014/main" id="{67AD9CEE-9C1D-2C58-C1C2-6AF0BAE1A37D}"/>
                </a:ext>
              </a:extLst>
            </p:cNvPr>
            <p:cNvSpPr>
              <a:spLocks noChangeArrowheads="1"/>
            </p:cNvSpPr>
            <p:nvPr/>
          </p:nvSpPr>
          <p:spPr bwMode="auto">
            <a:xfrm>
              <a:off x="3120" y="2408"/>
              <a:ext cx="480" cy="21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35860" name="Rectangle 65">
              <a:extLst>
                <a:ext uri="{FF2B5EF4-FFF2-40B4-BE49-F238E27FC236}">
                  <a16:creationId xmlns:a16="http://schemas.microsoft.com/office/drawing/2014/main" id="{9A7A7FAA-5F37-F656-FC63-D05C7D8AB594}"/>
                </a:ext>
              </a:extLst>
            </p:cNvPr>
            <p:cNvSpPr>
              <a:spLocks noChangeArrowheads="1"/>
            </p:cNvSpPr>
            <p:nvPr/>
          </p:nvSpPr>
          <p:spPr bwMode="auto">
            <a:xfrm>
              <a:off x="4616" y="2400"/>
              <a:ext cx="480" cy="200"/>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35861" name="Rectangle 66">
              <a:extLst>
                <a:ext uri="{FF2B5EF4-FFF2-40B4-BE49-F238E27FC236}">
                  <a16:creationId xmlns:a16="http://schemas.microsoft.com/office/drawing/2014/main" id="{8A99C577-1CD3-CDB2-11C4-10647A46A579}"/>
                </a:ext>
              </a:extLst>
            </p:cNvPr>
            <p:cNvSpPr>
              <a:spLocks noChangeArrowheads="1"/>
            </p:cNvSpPr>
            <p:nvPr/>
          </p:nvSpPr>
          <p:spPr bwMode="auto">
            <a:xfrm>
              <a:off x="776" y="2656"/>
              <a:ext cx="480" cy="184"/>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35862" name="Rectangle 67">
              <a:extLst>
                <a:ext uri="{FF2B5EF4-FFF2-40B4-BE49-F238E27FC236}">
                  <a16:creationId xmlns:a16="http://schemas.microsoft.com/office/drawing/2014/main" id="{4987D96F-8777-A8D3-5656-AEFB098EF994}"/>
                </a:ext>
              </a:extLst>
            </p:cNvPr>
            <p:cNvSpPr>
              <a:spLocks noChangeArrowheads="1"/>
            </p:cNvSpPr>
            <p:nvPr/>
          </p:nvSpPr>
          <p:spPr bwMode="auto">
            <a:xfrm>
              <a:off x="2256" y="2640"/>
              <a:ext cx="480" cy="21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35863" name="Rectangle 68">
              <a:extLst>
                <a:ext uri="{FF2B5EF4-FFF2-40B4-BE49-F238E27FC236}">
                  <a16:creationId xmlns:a16="http://schemas.microsoft.com/office/drawing/2014/main" id="{BC17B8E7-A675-918A-42A1-67E4EA31403D}"/>
                </a:ext>
              </a:extLst>
            </p:cNvPr>
            <p:cNvSpPr>
              <a:spLocks noChangeArrowheads="1"/>
            </p:cNvSpPr>
            <p:nvPr/>
          </p:nvSpPr>
          <p:spPr bwMode="auto">
            <a:xfrm>
              <a:off x="3104" y="2648"/>
              <a:ext cx="480" cy="192"/>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35864" name="Rectangle 69">
              <a:extLst>
                <a:ext uri="{FF2B5EF4-FFF2-40B4-BE49-F238E27FC236}">
                  <a16:creationId xmlns:a16="http://schemas.microsoft.com/office/drawing/2014/main" id="{85202725-E2AC-E636-DA29-4FA332D61D65}"/>
                </a:ext>
              </a:extLst>
            </p:cNvPr>
            <p:cNvSpPr>
              <a:spLocks noChangeArrowheads="1"/>
            </p:cNvSpPr>
            <p:nvPr/>
          </p:nvSpPr>
          <p:spPr bwMode="auto">
            <a:xfrm>
              <a:off x="4616" y="2648"/>
              <a:ext cx="480" cy="184"/>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35865" name="Rectangle 70">
              <a:extLst>
                <a:ext uri="{FF2B5EF4-FFF2-40B4-BE49-F238E27FC236}">
                  <a16:creationId xmlns:a16="http://schemas.microsoft.com/office/drawing/2014/main" id="{9DC69FB1-46BF-02B9-230A-D43501349DA8}"/>
                </a:ext>
              </a:extLst>
            </p:cNvPr>
            <p:cNvSpPr>
              <a:spLocks noChangeArrowheads="1"/>
            </p:cNvSpPr>
            <p:nvPr/>
          </p:nvSpPr>
          <p:spPr bwMode="auto">
            <a:xfrm>
              <a:off x="784" y="2888"/>
              <a:ext cx="480" cy="17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35866" name="Rectangle 71">
              <a:extLst>
                <a:ext uri="{FF2B5EF4-FFF2-40B4-BE49-F238E27FC236}">
                  <a16:creationId xmlns:a16="http://schemas.microsoft.com/office/drawing/2014/main" id="{22BA385E-0FC2-4012-CB08-B47F52B54AC2}"/>
                </a:ext>
              </a:extLst>
            </p:cNvPr>
            <p:cNvSpPr>
              <a:spLocks noChangeArrowheads="1"/>
            </p:cNvSpPr>
            <p:nvPr/>
          </p:nvSpPr>
          <p:spPr bwMode="auto">
            <a:xfrm>
              <a:off x="2248" y="2896"/>
              <a:ext cx="480" cy="17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35867" name="Rectangle 72">
              <a:extLst>
                <a:ext uri="{FF2B5EF4-FFF2-40B4-BE49-F238E27FC236}">
                  <a16:creationId xmlns:a16="http://schemas.microsoft.com/office/drawing/2014/main" id="{F97CA2DE-D681-1DCB-91A1-5C8E70277503}"/>
                </a:ext>
              </a:extLst>
            </p:cNvPr>
            <p:cNvSpPr>
              <a:spLocks noChangeArrowheads="1"/>
            </p:cNvSpPr>
            <p:nvPr/>
          </p:nvSpPr>
          <p:spPr bwMode="auto">
            <a:xfrm>
              <a:off x="3104" y="2880"/>
              <a:ext cx="480" cy="200"/>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35868" name="Rectangle 73">
              <a:extLst>
                <a:ext uri="{FF2B5EF4-FFF2-40B4-BE49-F238E27FC236}">
                  <a16:creationId xmlns:a16="http://schemas.microsoft.com/office/drawing/2014/main" id="{B6C3E2BB-FF4E-7BE8-848D-A5BA45611E20}"/>
                </a:ext>
              </a:extLst>
            </p:cNvPr>
            <p:cNvSpPr>
              <a:spLocks noChangeArrowheads="1"/>
            </p:cNvSpPr>
            <p:nvPr/>
          </p:nvSpPr>
          <p:spPr bwMode="auto">
            <a:xfrm>
              <a:off x="4616" y="2888"/>
              <a:ext cx="480" cy="17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grpSp>
      <p:sp>
        <p:nvSpPr>
          <p:cNvPr id="35855" name="Slide Number Placeholder 78">
            <a:extLst>
              <a:ext uri="{FF2B5EF4-FFF2-40B4-BE49-F238E27FC236}">
                <a16:creationId xmlns:a16="http://schemas.microsoft.com/office/drawing/2014/main" id="{8ECAAF0D-3879-EE28-773C-D8042C8D58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CB4FA8BD-82E9-0D4A-B656-A87C431744C0}" type="slidenum">
              <a:rPr lang="en-GB" altLang="en-US" sz="1400">
                <a:solidFill>
                  <a:srgbClr val="000000"/>
                </a:solidFill>
                <a:latin typeface="Arial  " charset="0"/>
              </a:rPr>
              <a:pPr/>
              <a:t>34</a:t>
            </a:fld>
            <a:r>
              <a:rPr lang="en-GB" altLang="en-US" sz="1400">
                <a:solidFill>
                  <a:srgbClr val="000000"/>
                </a:solidFill>
                <a:latin typeface="Arial  " charset="0"/>
              </a:rPr>
              <a:t> </a:t>
            </a:r>
          </a:p>
        </p:txBody>
      </p:sp>
      <p:sp>
        <p:nvSpPr>
          <p:cNvPr id="78" name="TextBox 77">
            <a:extLst>
              <a:ext uri="{FF2B5EF4-FFF2-40B4-BE49-F238E27FC236}">
                <a16:creationId xmlns:a16="http://schemas.microsoft.com/office/drawing/2014/main" id="{6A53CF39-F353-5073-E316-074A14018DF3}"/>
              </a:ext>
            </a:extLst>
          </p:cNvPr>
          <p:cNvSpPr txBox="1">
            <a:spLocks noChangeArrowheads="1"/>
          </p:cNvSpPr>
          <p:nvPr/>
        </p:nvSpPr>
        <p:spPr bwMode="auto">
          <a:xfrm>
            <a:off x="2486025" y="5572125"/>
            <a:ext cx="288925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a:solidFill>
                  <a:srgbClr val="FF0000"/>
                </a:solidFill>
              </a:rPr>
              <a:t>Always mispredicts!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fill="hold" nodeType="clickEffect">
                                  <p:stCondLst>
                                    <p:cond delay="0"/>
                                  </p:stCondLst>
                                  <p:childTnLst>
                                    <p:set>
                                      <p:cBhvr additive="repl">
                                        <p:cTn id="6" dur="1" fill="hold">
                                          <p:stCondLst>
                                            <p:cond delay="0"/>
                                          </p:stCondLst>
                                        </p:cTn>
                                        <p:tgtEl>
                                          <p:spTgt spid="3"/>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71A76D1-4C34-1055-F906-06DF03E5501F}"/>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3200">
                <a:latin typeface="Arial  " charset="0"/>
                <a:cs typeface="Arial  " charset="0"/>
              </a:rPr>
              <a:t>Another Example…</a:t>
            </a:r>
          </a:p>
        </p:txBody>
      </p:sp>
      <p:sp>
        <p:nvSpPr>
          <p:cNvPr id="36867" name="Rectangle 3">
            <a:extLst>
              <a:ext uri="{FF2B5EF4-FFF2-40B4-BE49-F238E27FC236}">
                <a16:creationId xmlns:a16="http://schemas.microsoft.com/office/drawing/2014/main" id="{5F8DC033-1DE0-A5C3-8D57-9DBCD7170606}"/>
              </a:ext>
            </a:extLst>
          </p:cNvPr>
          <p:cNvSpPr>
            <a:spLocks noGrp="1" noChangeArrowheads="1"/>
          </p:cNvSpPr>
          <p:nvPr>
            <p:ph type="body" idx="1"/>
          </p:nvPr>
        </p:nvSpPr>
        <p:spPr>
          <a:xfrm>
            <a:off x="3556000" y="1028700"/>
            <a:ext cx="5588000" cy="2362200"/>
          </a:xfrm>
        </p:spPr>
        <p:txBody>
          <a:bodyPr/>
          <a:lstStyle/>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latin typeface="Arial  " charset="0"/>
                <a:cs typeface="Arial  " charset="0"/>
              </a:rPr>
              <a:t>		     </a:t>
            </a:r>
            <a:r>
              <a:rPr lang="en-GB" altLang="en-US" sz="1800" u="sng">
                <a:latin typeface="Arial  " charset="0"/>
                <a:cs typeface="Arial  " charset="0"/>
              </a:rPr>
              <a:t>MIPS64 Assembly</a:t>
            </a:r>
            <a:r>
              <a:rPr lang="en-GB" altLang="en-US" sz="1800">
                <a:latin typeface="Arial  " charset="0"/>
                <a:cs typeface="Arial  " charset="0"/>
              </a:rPr>
              <a:t> </a:t>
            </a:r>
            <a:endParaRPr lang="en-GB" altLang="en-US" sz="1400">
              <a:latin typeface="Arial  " charset="0"/>
              <a:cs typeface="Arial  " charset="0"/>
            </a:endParaRP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solidFill>
                  <a:srgbClr val="FF0000"/>
                </a:solidFill>
                <a:latin typeface="Arial  " charset="0"/>
                <a:cs typeface="Arial  " charset="0"/>
              </a:rPr>
              <a:t>000000</a:t>
            </a:r>
            <a:r>
              <a:rPr lang="en-GB" altLang="en-US" sz="1400" baseline="-25000">
                <a:solidFill>
                  <a:srgbClr val="FF0000"/>
                </a:solidFill>
                <a:latin typeface="Arial  " charset="0"/>
                <a:cs typeface="Arial  " charset="0"/>
              </a:rPr>
              <a:t>2</a:t>
            </a:r>
            <a:r>
              <a:rPr lang="en-GB" altLang="en-US" sz="1400">
                <a:latin typeface="Arial  " charset="0"/>
                <a:cs typeface="Arial  " charset="0"/>
              </a:rPr>
              <a:t>	     </a:t>
            </a:r>
            <a:r>
              <a:rPr lang="en-GB" altLang="en-US" sz="1400">
                <a:solidFill>
                  <a:srgbClr val="FF0000"/>
                </a:solidFill>
                <a:latin typeface="Arial  " charset="0"/>
                <a:cs typeface="Arial  " charset="0"/>
              </a:rPr>
              <a:t>BNEZ	R1,</a:t>
            </a:r>
            <a:r>
              <a:rPr lang="en-GB" altLang="en-US" sz="1400">
                <a:solidFill>
                  <a:srgbClr val="FF00FF"/>
                </a:solidFill>
                <a:latin typeface="Arial  " charset="0"/>
                <a:cs typeface="Arial  " charset="0"/>
              </a:rPr>
              <a:t>L1</a:t>
            </a:r>
            <a:r>
              <a:rPr lang="en-GB" altLang="en-US" sz="1400">
                <a:solidFill>
                  <a:srgbClr val="FF0000"/>
                </a:solidFill>
                <a:latin typeface="Arial  " charset="0"/>
                <a:cs typeface="Arial  " charset="0"/>
              </a:rPr>
              <a:t>	    ; branch </a:t>
            </a:r>
            <a:r>
              <a:rPr lang="en-GB" altLang="en-US" sz="1400" b="1" u="sng">
                <a:solidFill>
                  <a:srgbClr val="FF0000"/>
                </a:solidFill>
                <a:latin typeface="Arial  " charset="0"/>
                <a:cs typeface="Arial  " charset="0"/>
              </a:rPr>
              <a:t>b1</a:t>
            </a:r>
            <a:r>
              <a:rPr lang="en-GB" altLang="en-US" sz="1400">
                <a:solidFill>
                  <a:srgbClr val="FF0000"/>
                </a:solidFill>
                <a:latin typeface="Arial  " charset="0"/>
                <a:cs typeface="Arial  " charset="0"/>
              </a:rPr>
              <a:t> (d!=0)</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solidFill>
                  <a:srgbClr val="0000FF"/>
                </a:solidFill>
                <a:latin typeface="Arial  " charset="0"/>
                <a:cs typeface="Arial  " charset="0"/>
              </a:rPr>
              <a:t>000100</a:t>
            </a:r>
            <a:r>
              <a:rPr lang="en-GB" altLang="en-US" sz="1400" baseline="-25000">
                <a:solidFill>
                  <a:srgbClr val="0000FF"/>
                </a:solidFill>
                <a:latin typeface="Arial  " charset="0"/>
                <a:cs typeface="Arial  " charset="0"/>
              </a:rPr>
              <a:t>2</a:t>
            </a:r>
            <a:r>
              <a:rPr lang="en-GB" altLang="en-US" sz="1400">
                <a:latin typeface="Arial  " charset="0"/>
                <a:cs typeface="Arial  " charset="0"/>
              </a:rPr>
              <a:t>	     </a:t>
            </a:r>
            <a:r>
              <a:rPr lang="en-GB" altLang="en-US" sz="1400">
                <a:solidFill>
                  <a:srgbClr val="0000FF"/>
                </a:solidFill>
                <a:latin typeface="Arial  " charset="0"/>
                <a:cs typeface="Arial  " charset="0"/>
              </a:rPr>
              <a:t>DADDI  R1,R0,#1        ; d=1</a:t>
            </a:r>
          </a:p>
          <a:p>
            <a:pPr eaLnBrk="1" hangingPunct="1">
              <a:lnSpc>
                <a:spcPct val="100000"/>
              </a:lnSpc>
              <a:spcBef>
                <a:spcPts val="450"/>
              </a:spcBef>
              <a:buClr>
                <a:srgbClr val="FF00FF"/>
              </a:buClr>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solidFill>
                  <a:srgbClr val="FF00FF"/>
                </a:solidFill>
                <a:latin typeface="Arial  " charset="0"/>
                <a:cs typeface="Arial  " charset="0"/>
              </a:rPr>
              <a:t>001000</a:t>
            </a:r>
            <a:r>
              <a:rPr lang="en-GB" altLang="en-US" sz="1400" baseline="-25000">
                <a:solidFill>
                  <a:srgbClr val="FF00FF"/>
                </a:solidFill>
                <a:latin typeface="Arial  " charset="0"/>
                <a:cs typeface="Arial  " charset="0"/>
              </a:rPr>
              <a:t>2</a:t>
            </a:r>
            <a:r>
              <a:rPr lang="en-GB" altLang="en-US" sz="1400">
                <a:solidFill>
                  <a:srgbClr val="FF00FF"/>
                </a:solidFill>
                <a:latin typeface="Arial  " charset="0"/>
                <a:cs typeface="Arial  " charset="0"/>
              </a:rPr>
              <a:t>   L1:  DADDI  R3,R1,#-1       ; R3 = d - 1</a:t>
            </a:r>
          </a:p>
          <a:p>
            <a:pPr eaLnBrk="1" hangingPunct="1">
              <a:lnSpc>
                <a:spcPct val="100000"/>
              </a:lnSpc>
              <a:spcBef>
                <a:spcPts val="450"/>
              </a:spcBef>
              <a:buClr>
                <a:srgbClr val="FF00FF"/>
              </a:buClr>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solidFill>
                  <a:srgbClr val="FF00FF"/>
                </a:solidFill>
                <a:latin typeface="Arial  " charset="0"/>
                <a:cs typeface="Arial  " charset="0"/>
              </a:rPr>
              <a:t>001100</a:t>
            </a:r>
            <a:r>
              <a:rPr lang="en-GB" altLang="en-US" sz="1400" baseline="-25000">
                <a:solidFill>
                  <a:srgbClr val="FF00FF"/>
                </a:solidFill>
                <a:latin typeface="Arial  " charset="0"/>
                <a:cs typeface="Arial  " charset="0"/>
              </a:rPr>
              <a:t>2</a:t>
            </a:r>
            <a:r>
              <a:rPr lang="en-GB" altLang="en-US" sz="1400">
                <a:solidFill>
                  <a:srgbClr val="FF00FF"/>
                </a:solidFill>
                <a:latin typeface="Arial  " charset="0"/>
                <a:cs typeface="Arial  " charset="0"/>
              </a:rPr>
              <a:t>	     BNEZ	R3,</a:t>
            </a:r>
            <a:r>
              <a:rPr lang="en-GB" altLang="en-US" sz="1400">
                <a:latin typeface="Arial  " charset="0"/>
                <a:cs typeface="Arial  " charset="0"/>
              </a:rPr>
              <a:t>L2</a:t>
            </a:r>
            <a:r>
              <a:rPr lang="en-GB" altLang="en-US" sz="1400">
                <a:solidFill>
                  <a:srgbClr val="FF00FF"/>
                </a:solidFill>
                <a:latin typeface="Arial  " charset="0"/>
                <a:cs typeface="Arial  " charset="0"/>
              </a:rPr>
              <a:t>	    ; branch </a:t>
            </a:r>
            <a:r>
              <a:rPr lang="en-GB" altLang="en-US" sz="1400" b="1" u="sng">
                <a:solidFill>
                  <a:srgbClr val="FF00FF"/>
                </a:solidFill>
                <a:latin typeface="Arial  " charset="0"/>
                <a:cs typeface="Arial  " charset="0"/>
              </a:rPr>
              <a:t>b2</a:t>
            </a:r>
            <a:r>
              <a:rPr lang="en-GB" altLang="en-US" sz="1400">
                <a:solidFill>
                  <a:srgbClr val="FF00FF"/>
                </a:solidFill>
                <a:latin typeface="Arial  " charset="0"/>
                <a:cs typeface="Arial  " charset="0"/>
              </a:rPr>
              <a:t> (d!=1)</a:t>
            </a: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latin typeface="Arial  " charset="0"/>
                <a:cs typeface="Arial  " charset="0"/>
              </a:rPr>
              <a:t>		     </a:t>
            </a:r>
            <a:r>
              <a:rPr lang="en-GB" altLang="en-US" sz="1400">
                <a:solidFill>
                  <a:srgbClr val="FF00FF"/>
                </a:solidFill>
                <a:latin typeface="Arial  " charset="0"/>
                <a:cs typeface="Arial  " charset="0"/>
              </a:rPr>
              <a:t>...</a:t>
            </a:r>
            <a:endParaRPr lang="en-GB" altLang="en-US" sz="1800">
              <a:solidFill>
                <a:srgbClr val="FF00FF"/>
              </a:solidFill>
              <a:latin typeface="Arial  " charset="0"/>
              <a:cs typeface="Arial  " charset="0"/>
            </a:endParaRPr>
          </a:p>
          <a:p>
            <a:pPr eaLnBrk="1" hangingPunct="1">
              <a:lnSpc>
                <a:spcPct val="100000"/>
              </a:lnSpc>
              <a:spcBef>
                <a:spcPts val="450"/>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400">
                <a:latin typeface="Arial  " charset="0"/>
                <a:cs typeface="Arial  " charset="0"/>
              </a:rPr>
              <a:t>100100</a:t>
            </a:r>
            <a:r>
              <a:rPr lang="en-GB" altLang="en-US" sz="1400" baseline="-25000">
                <a:latin typeface="Arial  " charset="0"/>
                <a:cs typeface="Arial  " charset="0"/>
              </a:rPr>
              <a:t>2</a:t>
            </a:r>
            <a:r>
              <a:rPr lang="en-GB" altLang="en-US" sz="1400">
                <a:latin typeface="Arial  " charset="0"/>
                <a:cs typeface="Arial  " charset="0"/>
              </a:rPr>
              <a:t>   L2:</a:t>
            </a:r>
            <a:endParaRPr lang="en-GB" altLang="en-US" sz="1800">
              <a:latin typeface="Arial  " charset="0"/>
              <a:cs typeface="Arial  " charset="0"/>
            </a:endParaRPr>
          </a:p>
        </p:txBody>
      </p:sp>
      <p:sp>
        <p:nvSpPr>
          <p:cNvPr id="36868" name="Text Box 4">
            <a:extLst>
              <a:ext uri="{FF2B5EF4-FFF2-40B4-BE49-F238E27FC236}">
                <a16:creationId xmlns:a16="http://schemas.microsoft.com/office/drawing/2014/main" id="{532B97E2-0DFB-046E-FF70-6932D40AFA25}"/>
              </a:ext>
            </a:extLst>
          </p:cNvPr>
          <p:cNvSpPr txBox="1">
            <a:spLocks noChangeArrowheads="1"/>
          </p:cNvSpPr>
          <p:nvPr/>
        </p:nvSpPr>
        <p:spPr bwMode="auto">
          <a:xfrm>
            <a:off x="609600" y="3505200"/>
            <a:ext cx="55245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spcBef>
                <a:spcPts val="1500"/>
              </a:spcBef>
              <a:buFont typeface="Comic Sans MS" panose="030F0902030302020204" pitchFamily="66" charset="0"/>
              <a:buNone/>
            </a:pPr>
            <a:r>
              <a:rPr lang="en-GB" altLang="en-US">
                <a:solidFill>
                  <a:srgbClr val="000000"/>
                </a:solidFill>
                <a:cs typeface="Arial" panose="020B0604020202020204" pitchFamily="34" charset="0"/>
              </a:rPr>
              <a:t>consider initial values for d = 0, 1, 2:</a:t>
            </a:r>
          </a:p>
        </p:txBody>
      </p:sp>
      <p:sp>
        <p:nvSpPr>
          <p:cNvPr id="36869" name="Text Box 5">
            <a:extLst>
              <a:ext uri="{FF2B5EF4-FFF2-40B4-BE49-F238E27FC236}">
                <a16:creationId xmlns:a16="http://schemas.microsoft.com/office/drawing/2014/main" id="{D660983C-784F-4055-8A4D-50930C52B58A}"/>
              </a:ext>
            </a:extLst>
          </p:cNvPr>
          <p:cNvSpPr txBox="1">
            <a:spLocks noChangeArrowheads="1"/>
          </p:cNvSpPr>
          <p:nvPr/>
        </p:nvSpPr>
        <p:spPr bwMode="auto">
          <a:xfrm>
            <a:off x="431800" y="965200"/>
            <a:ext cx="2095500"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600"/>
              </a:spcBef>
              <a:buFont typeface="Comic Sans MS" panose="030F0902030302020204" pitchFamily="66" charset="0"/>
              <a:buNone/>
            </a:pPr>
            <a:r>
              <a:rPr lang="en-GB" altLang="en-US" sz="1800" u="sng">
                <a:solidFill>
                  <a:srgbClr val="000000"/>
                </a:solidFill>
                <a:cs typeface="Arial" panose="020B0604020202020204" pitchFamily="34" charset="0"/>
              </a:rPr>
              <a:t>C code</a:t>
            </a:r>
          </a:p>
          <a:p>
            <a:pPr eaLnBrk="1" hangingPunct="1">
              <a:lnSpc>
                <a:spcPct val="100000"/>
              </a:lnSpc>
              <a:spcBef>
                <a:spcPts val="60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if (d==0) // b1</a:t>
            </a:r>
          </a:p>
          <a:p>
            <a:pPr eaLnBrk="1" hangingPunct="1">
              <a:lnSpc>
                <a:spcPct val="100000"/>
              </a:lnSpc>
              <a:buFont typeface="Comic Sans MS" panose="030F0902030302020204" pitchFamily="66" charset="0"/>
              <a:buNone/>
            </a:pPr>
            <a:r>
              <a:rPr lang="en-GB" altLang="en-US" sz="1800">
                <a:solidFill>
                  <a:srgbClr val="000000"/>
                </a:solidFill>
                <a:cs typeface="Arial" panose="020B0604020202020204" pitchFamily="34" charset="0"/>
              </a:rPr>
              <a:t>    </a:t>
            </a:r>
            <a:r>
              <a:rPr lang="en-GB" altLang="en-US" sz="1800">
                <a:solidFill>
                  <a:srgbClr val="0000FF"/>
                </a:solidFill>
                <a:cs typeface="Arial" panose="020B0604020202020204" pitchFamily="34" charset="0"/>
              </a:rPr>
              <a:t>d=1;</a:t>
            </a:r>
          </a:p>
          <a:p>
            <a:pPr eaLnBrk="1" hangingPunct="1">
              <a:lnSpc>
                <a:spcPct val="100000"/>
              </a:lnSpc>
              <a:buClr>
                <a:srgbClr val="FF00FF"/>
              </a:buClr>
              <a:buFont typeface="Comic Sans MS" panose="030F0902030302020204" pitchFamily="66" charset="0"/>
              <a:buNone/>
            </a:pPr>
            <a:r>
              <a:rPr lang="en-GB" altLang="en-US" sz="1800">
                <a:solidFill>
                  <a:srgbClr val="FF00FF"/>
                </a:solidFill>
                <a:cs typeface="Arial" panose="020B0604020202020204" pitchFamily="34" charset="0"/>
              </a:rPr>
              <a:t>if (d==1) { // b2</a:t>
            </a:r>
          </a:p>
          <a:p>
            <a:pPr>
              <a:lnSpc>
                <a:spcPct val="100000"/>
              </a:lnSpc>
              <a:buClr>
                <a:srgbClr val="FF00FF"/>
              </a:buClr>
              <a:buFont typeface="Comic Sans MS" panose="030F0902030302020204" pitchFamily="66" charset="0"/>
              <a:buNone/>
            </a:pPr>
            <a:r>
              <a:rPr lang="en-GB" altLang="en-US" sz="1800">
                <a:solidFill>
                  <a:srgbClr val="FF00FF"/>
                </a:solidFill>
                <a:cs typeface="Arial" panose="020B0604020202020204" pitchFamily="34" charset="0"/>
              </a:rPr>
              <a:t>    …</a:t>
            </a:r>
          </a:p>
          <a:p>
            <a:pPr>
              <a:lnSpc>
                <a:spcPct val="100000"/>
              </a:lnSpc>
              <a:buClr>
                <a:srgbClr val="FF00FF"/>
              </a:buClr>
              <a:buFont typeface="Comic Sans MS" panose="030F0902030302020204" pitchFamily="66" charset="0"/>
              <a:buNone/>
            </a:pPr>
            <a:r>
              <a:rPr lang="en-GB" altLang="en-US" sz="1800">
                <a:solidFill>
                  <a:srgbClr val="FF00FF"/>
                </a:solidFill>
                <a:cs typeface="Arial" panose="020B0604020202020204" pitchFamily="34" charset="0"/>
              </a:rPr>
              <a:t>}</a:t>
            </a:r>
          </a:p>
        </p:txBody>
      </p:sp>
      <p:sp>
        <p:nvSpPr>
          <p:cNvPr id="36870" name="Line 6">
            <a:extLst>
              <a:ext uri="{FF2B5EF4-FFF2-40B4-BE49-F238E27FC236}">
                <a16:creationId xmlns:a16="http://schemas.microsoft.com/office/drawing/2014/main" id="{C71DAD2D-BD52-51DD-A49D-5914A17E9779}"/>
              </a:ext>
            </a:extLst>
          </p:cNvPr>
          <p:cNvSpPr>
            <a:spLocks noChangeShapeType="1"/>
          </p:cNvSpPr>
          <p:nvPr/>
        </p:nvSpPr>
        <p:spPr bwMode="auto">
          <a:xfrm>
            <a:off x="2125663" y="1790700"/>
            <a:ext cx="1054100" cy="1588"/>
          </a:xfrm>
          <a:prstGeom prst="line">
            <a:avLst/>
          </a:prstGeom>
          <a:noFill/>
          <a:ln w="381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6871" name="Group 7">
            <a:extLst>
              <a:ext uri="{FF2B5EF4-FFF2-40B4-BE49-F238E27FC236}">
                <a16:creationId xmlns:a16="http://schemas.microsoft.com/office/drawing/2014/main" id="{7C192879-4511-2544-0544-7713C284BEB1}"/>
              </a:ext>
            </a:extLst>
          </p:cNvPr>
          <p:cNvGrpSpPr>
            <a:grpSpLocks/>
          </p:cNvGrpSpPr>
          <p:nvPr/>
        </p:nvGrpSpPr>
        <p:grpSpPr bwMode="auto">
          <a:xfrm>
            <a:off x="698500" y="4000500"/>
            <a:ext cx="7377113" cy="1662113"/>
            <a:chOff x="440" y="2752"/>
            <a:chExt cx="4647" cy="1047"/>
          </a:xfrm>
        </p:grpSpPr>
        <p:sp>
          <p:nvSpPr>
            <p:cNvPr id="36879" name="Rectangle 8">
              <a:extLst>
                <a:ext uri="{FF2B5EF4-FFF2-40B4-BE49-F238E27FC236}">
                  <a16:creationId xmlns:a16="http://schemas.microsoft.com/office/drawing/2014/main" id="{C9059B36-799D-B731-B8E6-28FE5DB86182}"/>
                </a:ext>
              </a:extLst>
            </p:cNvPr>
            <p:cNvSpPr>
              <a:spLocks noChangeArrowheads="1"/>
            </p:cNvSpPr>
            <p:nvPr/>
          </p:nvSpPr>
          <p:spPr bwMode="auto">
            <a:xfrm>
              <a:off x="4584" y="3542"/>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T</a:t>
              </a:r>
            </a:p>
          </p:txBody>
        </p:sp>
        <p:sp>
          <p:nvSpPr>
            <p:cNvPr id="36880" name="Rectangle 9">
              <a:extLst>
                <a:ext uri="{FF2B5EF4-FFF2-40B4-BE49-F238E27FC236}">
                  <a16:creationId xmlns:a16="http://schemas.microsoft.com/office/drawing/2014/main" id="{569B5684-3BB1-C893-64C2-5456916845C6}"/>
                </a:ext>
              </a:extLst>
            </p:cNvPr>
            <p:cNvSpPr>
              <a:spLocks noChangeArrowheads="1"/>
            </p:cNvSpPr>
            <p:nvPr/>
          </p:nvSpPr>
          <p:spPr bwMode="auto">
            <a:xfrm>
              <a:off x="4080" y="3542"/>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no</a:t>
              </a:r>
            </a:p>
          </p:txBody>
        </p:sp>
        <p:sp>
          <p:nvSpPr>
            <p:cNvPr id="36881" name="Rectangle 10">
              <a:extLst>
                <a:ext uri="{FF2B5EF4-FFF2-40B4-BE49-F238E27FC236}">
                  <a16:creationId xmlns:a16="http://schemas.microsoft.com/office/drawing/2014/main" id="{52033C44-4F4C-6D0B-9AD9-3600CC59FE55}"/>
                </a:ext>
              </a:extLst>
            </p:cNvPr>
            <p:cNvSpPr>
              <a:spLocks noChangeArrowheads="1"/>
            </p:cNvSpPr>
            <p:nvPr/>
          </p:nvSpPr>
          <p:spPr bwMode="auto">
            <a:xfrm>
              <a:off x="2528" y="3542"/>
              <a:ext cx="15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2</a:t>
              </a:r>
            </a:p>
          </p:txBody>
        </p:sp>
        <p:sp>
          <p:nvSpPr>
            <p:cNvPr id="36882" name="Rectangle 11">
              <a:extLst>
                <a:ext uri="{FF2B5EF4-FFF2-40B4-BE49-F238E27FC236}">
                  <a16:creationId xmlns:a16="http://schemas.microsoft.com/office/drawing/2014/main" id="{A7D27281-994F-36B3-3A2C-FF8D08FAF65B}"/>
                </a:ext>
              </a:extLst>
            </p:cNvPr>
            <p:cNvSpPr>
              <a:spLocks noChangeArrowheads="1"/>
            </p:cNvSpPr>
            <p:nvPr/>
          </p:nvSpPr>
          <p:spPr bwMode="auto">
            <a:xfrm>
              <a:off x="2168" y="3542"/>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a:t>
              </a:r>
            </a:p>
          </p:txBody>
        </p:sp>
        <p:sp>
          <p:nvSpPr>
            <p:cNvPr id="36883" name="Rectangle 12">
              <a:extLst>
                <a:ext uri="{FF2B5EF4-FFF2-40B4-BE49-F238E27FC236}">
                  <a16:creationId xmlns:a16="http://schemas.microsoft.com/office/drawing/2014/main" id="{899001EC-7CB2-45A5-E0BB-595A1301F1E6}"/>
                </a:ext>
              </a:extLst>
            </p:cNvPr>
            <p:cNvSpPr>
              <a:spLocks noChangeArrowheads="1"/>
            </p:cNvSpPr>
            <p:nvPr/>
          </p:nvSpPr>
          <p:spPr bwMode="auto">
            <a:xfrm>
              <a:off x="1656" y="3542"/>
              <a:ext cx="51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no</a:t>
              </a:r>
            </a:p>
          </p:txBody>
        </p:sp>
        <p:sp>
          <p:nvSpPr>
            <p:cNvPr id="36884" name="Rectangle 13">
              <a:extLst>
                <a:ext uri="{FF2B5EF4-FFF2-40B4-BE49-F238E27FC236}">
                  <a16:creationId xmlns:a16="http://schemas.microsoft.com/office/drawing/2014/main" id="{E09B4E5D-49D9-A51A-7719-F71E79BE4B1B}"/>
                </a:ext>
              </a:extLst>
            </p:cNvPr>
            <p:cNvSpPr>
              <a:spLocks noChangeArrowheads="1"/>
            </p:cNvSpPr>
            <p:nvPr/>
          </p:nvSpPr>
          <p:spPr bwMode="auto">
            <a:xfrm>
              <a:off x="440" y="3542"/>
              <a:ext cx="1216"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2</a:t>
              </a:r>
            </a:p>
          </p:txBody>
        </p:sp>
        <p:sp>
          <p:nvSpPr>
            <p:cNvPr id="36885" name="Rectangle 14">
              <a:extLst>
                <a:ext uri="{FF2B5EF4-FFF2-40B4-BE49-F238E27FC236}">
                  <a16:creationId xmlns:a16="http://schemas.microsoft.com/office/drawing/2014/main" id="{C6B868B8-2EA3-E26E-8133-085A772BBC1E}"/>
                </a:ext>
              </a:extLst>
            </p:cNvPr>
            <p:cNvSpPr>
              <a:spLocks noChangeArrowheads="1"/>
            </p:cNvSpPr>
            <p:nvPr/>
          </p:nvSpPr>
          <p:spPr bwMode="auto">
            <a:xfrm>
              <a:off x="4584" y="3284"/>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a:t>
              </a:r>
            </a:p>
          </p:txBody>
        </p:sp>
        <p:sp>
          <p:nvSpPr>
            <p:cNvPr id="36886" name="Rectangle 15">
              <a:extLst>
                <a:ext uri="{FF2B5EF4-FFF2-40B4-BE49-F238E27FC236}">
                  <a16:creationId xmlns:a16="http://schemas.microsoft.com/office/drawing/2014/main" id="{03202ECC-37A2-F078-554D-EA9B6F26941E}"/>
                </a:ext>
              </a:extLst>
            </p:cNvPr>
            <p:cNvSpPr>
              <a:spLocks noChangeArrowheads="1"/>
            </p:cNvSpPr>
            <p:nvPr/>
          </p:nvSpPr>
          <p:spPr bwMode="auto">
            <a:xfrm>
              <a:off x="4080" y="3284"/>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yes</a:t>
              </a:r>
            </a:p>
          </p:txBody>
        </p:sp>
        <p:sp>
          <p:nvSpPr>
            <p:cNvPr id="36887" name="Rectangle 16">
              <a:extLst>
                <a:ext uri="{FF2B5EF4-FFF2-40B4-BE49-F238E27FC236}">
                  <a16:creationId xmlns:a16="http://schemas.microsoft.com/office/drawing/2014/main" id="{A26EE27F-ABD0-7B24-FADF-06DF2A32CF1B}"/>
                </a:ext>
              </a:extLst>
            </p:cNvPr>
            <p:cNvSpPr>
              <a:spLocks noChangeArrowheads="1"/>
            </p:cNvSpPr>
            <p:nvPr/>
          </p:nvSpPr>
          <p:spPr bwMode="auto">
            <a:xfrm>
              <a:off x="2528" y="3284"/>
              <a:ext cx="15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1</a:t>
              </a:r>
            </a:p>
          </p:txBody>
        </p:sp>
        <p:sp>
          <p:nvSpPr>
            <p:cNvPr id="36888" name="Rectangle 17">
              <a:extLst>
                <a:ext uri="{FF2B5EF4-FFF2-40B4-BE49-F238E27FC236}">
                  <a16:creationId xmlns:a16="http://schemas.microsoft.com/office/drawing/2014/main" id="{F6FDF6E5-181E-69F9-EF93-B08B69F80A78}"/>
                </a:ext>
              </a:extLst>
            </p:cNvPr>
            <p:cNvSpPr>
              <a:spLocks noChangeArrowheads="1"/>
            </p:cNvSpPr>
            <p:nvPr/>
          </p:nvSpPr>
          <p:spPr bwMode="auto">
            <a:xfrm>
              <a:off x="2168" y="3284"/>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a:t>
              </a:r>
            </a:p>
          </p:txBody>
        </p:sp>
        <p:sp>
          <p:nvSpPr>
            <p:cNvPr id="36889" name="Rectangle 18">
              <a:extLst>
                <a:ext uri="{FF2B5EF4-FFF2-40B4-BE49-F238E27FC236}">
                  <a16:creationId xmlns:a16="http://schemas.microsoft.com/office/drawing/2014/main" id="{C181A0AB-F89C-BE57-D830-06685C072815}"/>
                </a:ext>
              </a:extLst>
            </p:cNvPr>
            <p:cNvSpPr>
              <a:spLocks noChangeArrowheads="1"/>
            </p:cNvSpPr>
            <p:nvPr/>
          </p:nvSpPr>
          <p:spPr bwMode="auto">
            <a:xfrm>
              <a:off x="1656" y="3284"/>
              <a:ext cx="51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no</a:t>
              </a:r>
            </a:p>
          </p:txBody>
        </p:sp>
        <p:sp>
          <p:nvSpPr>
            <p:cNvPr id="36890" name="Rectangle 19">
              <a:extLst>
                <a:ext uri="{FF2B5EF4-FFF2-40B4-BE49-F238E27FC236}">
                  <a16:creationId xmlns:a16="http://schemas.microsoft.com/office/drawing/2014/main" id="{43433112-0056-5016-6BB5-47AE3A3197C9}"/>
                </a:ext>
              </a:extLst>
            </p:cNvPr>
            <p:cNvSpPr>
              <a:spLocks noChangeArrowheads="1"/>
            </p:cNvSpPr>
            <p:nvPr/>
          </p:nvSpPr>
          <p:spPr bwMode="auto">
            <a:xfrm>
              <a:off x="440" y="3284"/>
              <a:ext cx="1216"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1</a:t>
              </a:r>
            </a:p>
          </p:txBody>
        </p:sp>
        <p:sp>
          <p:nvSpPr>
            <p:cNvPr id="36891" name="Rectangle 20">
              <a:extLst>
                <a:ext uri="{FF2B5EF4-FFF2-40B4-BE49-F238E27FC236}">
                  <a16:creationId xmlns:a16="http://schemas.microsoft.com/office/drawing/2014/main" id="{1D433977-55BB-7618-0123-DAAF9F07DD0F}"/>
                </a:ext>
              </a:extLst>
            </p:cNvPr>
            <p:cNvSpPr>
              <a:spLocks noChangeArrowheads="1"/>
            </p:cNvSpPr>
            <p:nvPr/>
          </p:nvSpPr>
          <p:spPr bwMode="auto">
            <a:xfrm>
              <a:off x="4584" y="3026"/>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a:t>
              </a:r>
            </a:p>
          </p:txBody>
        </p:sp>
        <p:sp>
          <p:nvSpPr>
            <p:cNvPr id="36892" name="Rectangle 21">
              <a:extLst>
                <a:ext uri="{FF2B5EF4-FFF2-40B4-BE49-F238E27FC236}">
                  <a16:creationId xmlns:a16="http://schemas.microsoft.com/office/drawing/2014/main" id="{711EF5CD-8C19-00FC-7C0A-53A53B232A6F}"/>
                </a:ext>
              </a:extLst>
            </p:cNvPr>
            <p:cNvSpPr>
              <a:spLocks noChangeArrowheads="1"/>
            </p:cNvSpPr>
            <p:nvPr/>
          </p:nvSpPr>
          <p:spPr bwMode="auto">
            <a:xfrm>
              <a:off x="4080" y="3026"/>
              <a:ext cx="50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yes</a:t>
              </a:r>
            </a:p>
          </p:txBody>
        </p:sp>
        <p:sp>
          <p:nvSpPr>
            <p:cNvPr id="36893" name="Rectangle 22">
              <a:extLst>
                <a:ext uri="{FF2B5EF4-FFF2-40B4-BE49-F238E27FC236}">
                  <a16:creationId xmlns:a16="http://schemas.microsoft.com/office/drawing/2014/main" id="{899E65AE-D322-BC6C-78BD-FA4793775AC8}"/>
                </a:ext>
              </a:extLst>
            </p:cNvPr>
            <p:cNvSpPr>
              <a:spLocks noChangeArrowheads="1"/>
            </p:cNvSpPr>
            <p:nvPr/>
          </p:nvSpPr>
          <p:spPr bwMode="auto">
            <a:xfrm>
              <a:off x="2528" y="3026"/>
              <a:ext cx="15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1</a:t>
              </a:r>
            </a:p>
          </p:txBody>
        </p:sp>
        <p:sp>
          <p:nvSpPr>
            <p:cNvPr id="36894" name="Rectangle 23">
              <a:extLst>
                <a:ext uri="{FF2B5EF4-FFF2-40B4-BE49-F238E27FC236}">
                  <a16:creationId xmlns:a16="http://schemas.microsoft.com/office/drawing/2014/main" id="{FBC401F0-7576-C133-9949-FE6C4AB50E18}"/>
                </a:ext>
              </a:extLst>
            </p:cNvPr>
            <p:cNvSpPr>
              <a:spLocks noChangeArrowheads="1"/>
            </p:cNvSpPr>
            <p:nvPr/>
          </p:nvSpPr>
          <p:spPr bwMode="auto">
            <a:xfrm>
              <a:off x="2168" y="3026"/>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N</a:t>
              </a:r>
            </a:p>
          </p:txBody>
        </p:sp>
        <p:sp>
          <p:nvSpPr>
            <p:cNvPr id="36895" name="Rectangle 24">
              <a:extLst>
                <a:ext uri="{FF2B5EF4-FFF2-40B4-BE49-F238E27FC236}">
                  <a16:creationId xmlns:a16="http://schemas.microsoft.com/office/drawing/2014/main" id="{DC505AF6-9F51-04B9-8577-342509CAC508}"/>
                </a:ext>
              </a:extLst>
            </p:cNvPr>
            <p:cNvSpPr>
              <a:spLocks noChangeArrowheads="1"/>
            </p:cNvSpPr>
            <p:nvPr/>
          </p:nvSpPr>
          <p:spPr bwMode="auto">
            <a:xfrm>
              <a:off x="1656" y="3026"/>
              <a:ext cx="51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yes</a:t>
              </a:r>
            </a:p>
          </p:txBody>
        </p:sp>
        <p:sp>
          <p:nvSpPr>
            <p:cNvPr id="36896" name="Rectangle 25">
              <a:extLst>
                <a:ext uri="{FF2B5EF4-FFF2-40B4-BE49-F238E27FC236}">
                  <a16:creationId xmlns:a16="http://schemas.microsoft.com/office/drawing/2014/main" id="{697C5880-C430-EE30-6A70-42F21C40687B}"/>
                </a:ext>
              </a:extLst>
            </p:cNvPr>
            <p:cNvSpPr>
              <a:spLocks noChangeArrowheads="1"/>
            </p:cNvSpPr>
            <p:nvPr/>
          </p:nvSpPr>
          <p:spPr bwMode="auto">
            <a:xfrm>
              <a:off x="440" y="3026"/>
              <a:ext cx="1216"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0</a:t>
              </a:r>
            </a:p>
          </p:txBody>
        </p:sp>
        <p:sp>
          <p:nvSpPr>
            <p:cNvPr id="36897" name="Rectangle 26">
              <a:extLst>
                <a:ext uri="{FF2B5EF4-FFF2-40B4-BE49-F238E27FC236}">
                  <a16:creationId xmlns:a16="http://schemas.microsoft.com/office/drawing/2014/main" id="{45866896-0CD4-FB98-AEFD-A5E576A187F6}"/>
                </a:ext>
              </a:extLst>
            </p:cNvPr>
            <p:cNvSpPr>
              <a:spLocks noChangeArrowheads="1"/>
            </p:cNvSpPr>
            <p:nvPr/>
          </p:nvSpPr>
          <p:spPr bwMode="auto">
            <a:xfrm>
              <a:off x="4584" y="2752"/>
              <a:ext cx="504"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b2</a:t>
              </a:r>
            </a:p>
          </p:txBody>
        </p:sp>
        <p:sp>
          <p:nvSpPr>
            <p:cNvPr id="36898" name="Rectangle 27">
              <a:extLst>
                <a:ext uri="{FF2B5EF4-FFF2-40B4-BE49-F238E27FC236}">
                  <a16:creationId xmlns:a16="http://schemas.microsoft.com/office/drawing/2014/main" id="{9EE05C25-8C84-9B28-3172-03290BC89635}"/>
                </a:ext>
              </a:extLst>
            </p:cNvPr>
            <p:cNvSpPr>
              <a:spLocks noChangeArrowheads="1"/>
            </p:cNvSpPr>
            <p:nvPr/>
          </p:nvSpPr>
          <p:spPr bwMode="auto">
            <a:xfrm>
              <a:off x="4080" y="2752"/>
              <a:ext cx="504"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600">
                  <a:solidFill>
                    <a:srgbClr val="000000"/>
                  </a:solidFill>
                  <a:cs typeface="Arial" panose="020B0604020202020204" pitchFamily="34" charset="0"/>
                </a:rPr>
                <a:t>d==1?</a:t>
              </a:r>
            </a:p>
          </p:txBody>
        </p:sp>
        <p:sp>
          <p:nvSpPr>
            <p:cNvPr id="36899" name="Rectangle 28">
              <a:extLst>
                <a:ext uri="{FF2B5EF4-FFF2-40B4-BE49-F238E27FC236}">
                  <a16:creationId xmlns:a16="http://schemas.microsoft.com/office/drawing/2014/main" id="{B354DB10-7BD8-73AA-3E19-9E39F08986DD}"/>
                </a:ext>
              </a:extLst>
            </p:cNvPr>
            <p:cNvSpPr>
              <a:spLocks noChangeArrowheads="1"/>
            </p:cNvSpPr>
            <p:nvPr/>
          </p:nvSpPr>
          <p:spPr bwMode="auto">
            <a:xfrm>
              <a:off x="2528" y="2752"/>
              <a:ext cx="155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value of d before b2</a:t>
              </a:r>
            </a:p>
          </p:txBody>
        </p:sp>
        <p:sp>
          <p:nvSpPr>
            <p:cNvPr id="36900" name="Rectangle 29">
              <a:extLst>
                <a:ext uri="{FF2B5EF4-FFF2-40B4-BE49-F238E27FC236}">
                  <a16:creationId xmlns:a16="http://schemas.microsoft.com/office/drawing/2014/main" id="{FC720F06-8CB0-5343-41B2-407FA3A61473}"/>
                </a:ext>
              </a:extLst>
            </p:cNvPr>
            <p:cNvSpPr>
              <a:spLocks noChangeArrowheads="1"/>
            </p:cNvSpPr>
            <p:nvPr/>
          </p:nvSpPr>
          <p:spPr bwMode="auto">
            <a:xfrm>
              <a:off x="2168" y="2752"/>
              <a:ext cx="36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b1</a:t>
              </a:r>
            </a:p>
          </p:txBody>
        </p:sp>
        <p:sp>
          <p:nvSpPr>
            <p:cNvPr id="36901" name="Rectangle 30">
              <a:extLst>
                <a:ext uri="{FF2B5EF4-FFF2-40B4-BE49-F238E27FC236}">
                  <a16:creationId xmlns:a16="http://schemas.microsoft.com/office/drawing/2014/main" id="{87889285-9DDE-4BB0-A1B0-6FE346CB31B6}"/>
                </a:ext>
              </a:extLst>
            </p:cNvPr>
            <p:cNvSpPr>
              <a:spLocks noChangeArrowheads="1"/>
            </p:cNvSpPr>
            <p:nvPr/>
          </p:nvSpPr>
          <p:spPr bwMode="auto">
            <a:xfrm>
              <a:off x="1656" y="2752"/>
              <a:ext cx="51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600">
                  <a:solidFill>
                    <a:srgbClr val="000000"/>
                  </a:solidFill>
                  <a:cs typeface="Arial" panose="020B0604020202020204" pitchFamily="34" charset="0"/>
                </a:rPr>
                <a:t>d==0?</a:t>
              </a:r>
            </a:p>
          </p:txBody>
        </p:sp>
        <p:sp>
          <p:nvSpPr>
            <p:cNvPr id="36902" name="Rectangle 31">
              <a:extLst>
                <a:ext uri="{FF2B5EF4-FFF2-40B4-BE49-F238E27FC236}">
                  <a16:creationId xmlns:a16="http://schemas.microsoft.com/office/drawing/2014/main" id="{D92EFE65-6980-6CCB-30FB-4174C7FB9485}"/>
                </a:ext>
              </a:extLst>
            </p:cNvPr>
            <p:cNvSpPr>
              <a:spLocks noChangeArrowheads="1"/>
            </p:cNvSpPr>
            <p:nvPr/>
          </p:nvSpPr>
          <p:spPr bwMode="auto">
            <a:xfrm>
              <a:off x="440" y="2752"/>
              <a:ext cx="121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initial value of d</a:t>
              </a:r>
            </a:p>
          </p:txBody>
        </p:sp>
        <p:sp>
          <p:nvSpPr>
            <p:cNvPr id="36903" name="Line 32">
              <a:extLst>
                <a:ext uri="{FF2B5EF4-FFF2-40B4-BE49-F238E27FC236}">
                  <a16:creationId xmlns:a16="http://schemas.microsoft.com/office/drawing/2014/main" id="{923BF8F5-FAB3-4EAB-6219-7D73DFBA11C7}"/>
                </a:ext>
              </a:extLst>
            </p:cNvPr>
            <p:cNvSpPr>
              <a:spLocks noChangeShapeType="1"/>
            </p:cNvSpPr>
            <p:nvPr/>
          </p:nvSpPr>
          <p:spPr bwMode="auto">
            <a:xfrm>
              <a:off x="440" y="2752"/>
              <a:ext cx="4648"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6904" name="Line 33">
              <a:extLst>
                <a:ext uri="{FF2B5EF4-FFF2-40B4-BE49-F238E27FC236}">
                  <a16:creationId xmlns:a16="http://schemas.microsoft.com/office/drawing/2014/main" id="{E57AD7C8-85F2-BEF5-EA7B-B3B39A9C3416}"/>
                </a:ext>
              </a:extLst>
            </p:cNvPr>
            <p:cNvSpPr>
              <a:spLocks noChangeShapeType="1"/>
            </p:cNvSpPr>
            <p:nvPr/>
          </p:nvSpPr>
          <p:spPr bwMode="auto">
            <a:xfrm>
              <a:off x="440" y="3026"/>
              <a:ext cx="4648"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6905" name="Line 34">
              <a:extLst>
                <a:ext uri="{FF2B5EF4-FFF2-40B4-BE49-F238E27FC236}">
                  <a16:creationId xmlns:a16="http://schemas.microsoft.com/office/drawing/2014/main" id="{F22323E7-B9C7-ACCB-F582-AC6F518015FD}"/>
                </a:ext>
              </a:extLst>
            </p:cNvPr>
            <p:cNvSpPr>
              <a:spLocks noChangeShapeType="1"/>
            </p:cNvSpPr>
            <p:nvPr/>
          </p:nvSpPr>
          <p:spPr bwMode="auto">
            <a:xfrm>
              <a:off x="440" y="3284"/>
              <a:ext cx="4648"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6906" name="Line 35">
              <a:extLst>
                <a:ext uri="{FF2B5EF4-FFF2-40B4-BE49-F238E27FC236}">
                  <a16:creationId xmlns:a16="http://schemas.microsoft.com/office/drawing/2014/main" id="{E0F4B377-BF6F-F02C-BEDD-67D84373820D}"/>
                </a:ext>
              </a:extLst>
            </p:cNvPr>
            <p:cNvSpPr>
              <a:spLocks noChangeShapeType="1"/>
            </p:cNvSpPr>
            <p:nvPr/>
          </p:nvSpPr>
          <p:spPr bwMode="auto">
            <a:xfrm>
              <a:off x="440" y="3542"/>
              <a:ext cx="4648"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6907" name="Line 36">
              <a:extLst>
                <a:ext uri="{FF2B5EF4-FFF2-40B4-BE49-F238E27FC236}">
                  <a16:creationId xmlns:a16="http://schemas.microsoft.com/office/drawing/2014/main" id="{31E881A9-9B68-05C0-6751-E9774C9A71BA}"/>
                </a:ext>
              </a:extLst>
            </p:cNvPr>
            <p:cNvSpPr>
              <a:spLocks noChangeShapeType="1"/>
            </p:cNvSpPr>
            <p:nvPr/>
          </p:nvSpPr>
          <p:spPr bwMode="auto">
            <a:xfrm>
              <a:off x="440" y="3800"/>
              <a:ext cx="4648"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6908" name="Line 37">
              <a:extLst>
                <a:ext uri="{FF2B5EF4-FFF2-40B4-BE49-F238E27FC236}">
                  <a16:creationId xmlns:a16="http://schemas.microsoft.com/office/drawing/2014/main" id="{03BE4892-D32E-5031-5517-35829FD50F77}"/>
                </a:ext>
              </a:extLst>
            </p:cNvPr>
            <p:cNvSpPr>
              <a:spLocks noChangeShapeType="1"/>
            </p:cNvSpPr>
            <p:nvPr/>
          </p:nvSpPr>
          <p:spPr bwMode="auto">
            <a:xfrm>
              <a:off x="440" y="2752"/>
              <a:ext cx="1" cy="1048"/>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6909" name="Line 38">
              <a:extLst>
                <a:ext uri="{FF2B5EF4-FFF2-40B4-BE49-F238E27FC236}">
                  <a16:creationId xmlns:a16="http://schemas.microsoft.com/office/drawing/2014/main" id="{EF018C49-DC31-F7E5-691A-69DFE173E6D9}"/>
                </a:ext>
              </a:extLst>
            </p:cNvPr>
            <p:cNvSpPr>
              <a:spLocks noChangeShapeType="1"/>
            </p:cNvSpPr>
            <p:nvPr/>
          </p:nvSpPr>
          <p:spPr bwMode="auto">
            <a:xfrm>
              <a:off x="1656" y="2752"/>
              <a:ext cx="1" cy="104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6910" name="Line 39">
              <a:extLst>
                <a:ext uri="{FF2B5EF4-FFF2-40B4-BE49-F238E27FC236}">
                  <a16:creationId xmlns:a16="http://schemas.microsoft.com/office/drawing/2014/main" id="{B7E8CB60-E9B2-0679-3AD0-91EB2D664CD5}"/>
                </a:ext>
              </a:extLst>
            </p:cNvPr>
            <p:cNvSpPr>
              <a:spLocks noChangeShapeType="1"/>
            </p:cNvSpPr>
            <p:nvPr/>
          </p:nvSpPr>
          <p:spPr bwMode="auto">
            <a:xfrm>
              <a:off x="2168" y="2752"/>
              <a:ext cx="1" cy="104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6911" name="Line 40">
              <a:extLst>
                <a:ext uri="{FF2B5EF4-FFF2-40B4-BE49-F238E27FC236}">
                  <a16:creationId xmlns:a16="http://schemas.microsoft.com/office/drawing/2014/main" id="{6A9190D0-2139-6367-5CE7-BDE47CC8422F}"/>
                </a:ext>
              </a:extLst>
            </p:cNvPr>
            <p:cNvSpPr>
              <a:spLocks noChangeShapeType="1"/>
            </p:cNvSpPr>
            <p:nvPr/>
          </p:nvSpPr>
          <p:spPr bwMode="auto">
            <a:xfrm>
              <a:off x="2528" y="2752"/>
              <a:ext cx="1" cy="104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6912" name="Line 41">
              <a:extLst>
                <a:ext uri="{FF2B5EF4-FFF2-40B4-BE49-F238E27FC236}">
                  <a16:creationId xmlns:a16="http://schemas.microsoft.com/office/drawing/2014/main" id="{FE06E805-CEA5-5691-1C80-D5389CC2BC30}"/>
                </a:ext>
              </a:extLst>
            </p:cNvPr>
            <p:cNvSpPr>
              <a:spLocks noChangeShapeType="1"/>
            </p:cNvSpPr>
            <p:nvPr/>
          </p:nvSpPr>
          <p:spPr bwMode="auto">
            <a:xfrm>
              <a:off x="4080" y="2752"/>
              <a:ext cx="1" cy="104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6913" name="Line 42">
              <a:extLst>
                <a:ext uri="{FF2B5EF4-FFF2-40B4-BE49-F238E27FC236}">
                  <a16:creationId xmlns:a16="http://schemas.microsoft.com/office/drawing/2014/main" id="{1B14B86E-E1D9-4512-1562-72579D843D78}"/>
                </a:ext>
              </a:extLst>
            </p:cNvPr>
            <p:cNvSpPr>
              <a:spLocks noChangeShapeType="1"/>
            </p:cNvSpPr>
            <p:nvPr/>
          </p:nvSpPr>
          <p:spPr bwMode="auto">
            <a:xfrm>
              <a:off x="4584" y="2752"/>
              <a:ext cx="1" cy="1048"/>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6914" name="Line 43">
              <a:extLst>
                <a:ext uri="{FF2B5EF4-FFF2-40B4-BE49-F238E27FC236}">
                  <a16:creationId xmlns:a16="http://schemas.microsoft.com/office/drawing/2014/main" id="{3E10C01C-0E29-FC83-0047-F76EBBCB4BE5}"/>
                </a:ext>
              </a:extLst>
            </p:cNvPr>
            <p:cNvSpPr>
              <a:spLocks noChangeShapeType="1"/>
            </p:cNvSpPr>
            <p:nvPr/>
          </p:nvSpPr>
          <p:spPr bwMode="auto">
            <a:xfrm>
              <a:off x="5088" y="2752"/>
              <a:ext cx="1" cy="1048"/>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36872" name="Rectangle 44">
            <a:extLst>
              <a:ext uri="{FF2B5EF4-FFF2-40B4-BE49-F238E27FC236}">
                <a16:creationId xmlns:a16="http://schemas.microsoft.com/office/drawing/2014/main" id="{C1B7DA78-7DD8-8CDC-98C4-C1D3DCE404B6}"/>
              </a:ext>
            </a:extLst>
          </p:cNvPr>
          <p:cNvSpPr>
            <a:spLocks noChangeArrowheads="1"/>
          </p:cNvSpPr>
          <p:nvPr/>
        </p:nvSpPr>
        <p:spPr bwMode="auto">
          <a:xfrm>
            <a:off x="3549650" y="1320800"/>
            <a:ext cx="850900" cy="1879600"/>
          </a:xfrm>
          <a:prstGeom prst="rect">
            <a:avLst/>
          </a:prstGeom>
          <a:noFill/>
          <a:ln w="38100" cap="rnd">
            <a:solidFill>
              <a:srgbClr val="00808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lnSpc>
                <a:spcPct val="100000"/>
              </a:lnSpc>
              <a:buClrTx/>
              <a:buSzTx/>
              <a:buFontTx/>
              <a:buNone/>
            </a:pPr>
            <a:endParaRPr lang="en-US" altLang="en-US">
              <a:solidFill>
                <a:schemeClr val="hlink"/>
              </a:solidFill>
            </a:endParaRPr>
          </a:p>
        </p:txBody>
      </p:sp>
      <p:sp>
        <p:nvSpPr>
          <p:cNvPr id="36873" name="Text Box 45">
            <a:extLst>
              <a:ext uri="{FF2B5EF4-FFF2-40B4-BE49-F238E27FC236}">
                <a16:creationId xmlns:a16="http://schemas.microsoft.com/office/drawing/2014/main" id="{E2861065-583E-73E6-4E0B-DFF720F4988F}"/>
              </a:ext>
            </a:extLst>
          </p:cNvPr>
          <p:cNvSpPr txBox="1">
            <a:spLocks noChangeArrowheads="1"/>
          </p:cNvSpPr>
          <p:nvPr/>
        </p:nvSpPr>
        <p:spPr bwMode="auto">
          <a:xfrm>
            <a:off x="5067300" y="3200400"/>
            <a:ext cx="3546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nSpc>
                <a:spcPct val="100000"/>
              </a:lnSpc>
              <a:buClrTx/>
              <a:buSzTx/>
              <a:buFontTx/>
              <a:buNone/>
            </a:pPr>
            <a:r>
              <a:rPr lang="en-US" altLang="en-US" sz="2000">
                <a:solidFill>
                  <a:srgbClr val="008080"/>
                </a:solidFill>
                <a:cs typeface="Arial" panose="020B0604020202020204" pitchFamily="34" charset="0"/>
              </a:rPr>
              <a:t>instruction addresses (binary)</a:t>
            </a:r>
          </a:p>
        </p:txBody>
      </p:sp>
      <p:sp>
        <p:nvSpPr>
          <p:cNvPr id="36874" name="Line 46">
            <a:extLst>
              <a:ext uri="{FF2B5EF4-FFF2-40B4-BE49-F238E27FC236}">
                <a16:creationId xmlns:a16="http://schemas.microsoft.com/office/drawing/2014/main" id="{EF59E58F-E094-B80F-DF56-3E0332C8AB3D}"/>
              </a:ext>
            </a:extLst>
          </p:cNvPr>
          <p:cNvSpPr>
            <a:spLocks noChangeShapeType="1"/>
          </p:cNvSpPr>
          <p:nvPr/>
        </p:nvSpPr>
        <p:spPr bwMode="auto">
          <a:xfrm flipH="1" flipV="1">
            <a:off x="4405313" y="3206750"/>
            <a:ext cx="708025" cy="180975"/>
          </a:xfrm>
          <a:prstGeom prst="line">
            <a:avLst/>
          </a:prstGeom>
          <a:noFill/>
          <a:ln w="38100">
            <a:solidFill>
              <a:srgbClr val="0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51" name="Text Box 47">
            <a:extLst>
              <a:ext uri="{FF2B5EF4-FFF2-40B4-BE49-F238E27FC236}">
                <a16:creationId xmlns:a16="http://schemas.microsoft.com/office/drawing/2014/main" id="{8C2DCEEB-F372-9039-0680-E91CB3043749}"/>
              </a:ext>
            </a:extLst>
          </p:cNvPr>
          <p:cNvSpPr txBox="1">
            <a:spLocks noChangeArrowheads="1"/>
          </p:cNvSpPr>
          <p:nvPr/>
        </p:nvSpPr>
        <p:spPr bwMode="auto">
          <a:xfrm>
            <a:off x="609600" y="5791200"/>
            <a:ext cx="7696200" cy="349250"/>
          </a:xfrm>
          <a:prstGeom prst="rect">
            <a:avLst/>
          </a:prstGeom>
          <a:solidFill>
            <a:schemeClr val="accent5">
              <a:lumMod val="40000"/>
              <a:lumOff val="60000"/>
            </a:schemeClr>
          </a:solidFill>
          <a:ln w="34925">
            <a:solidFill>
              <a:srgbClr val="FF0000"/>
            </a:solidFill>
            <a:miter lim="800000"/>
            <a:headEnd/>
            <a:tailEnd/>
          </a:ln>
        </p:spPr>
        <p:txBody>
          <a:bodyPr>
            <a:spAutoFit/>
          </a:bodyPr>
          <a:lstStyle/>
          <a:p>
            <a:pPr>
              <a:defRPr/>
            </a:pPr>
            <a:r>
              <a:rPr lang="en-US" sz="1800" dirty="0">
                <a:solidFill>
                  <a:schemeClr val="tx1"/>
                </a:solidFill>
                <a:cs typeface="Arial" pitchFamily="34" charset="0"/>
              </a:rPr>
              <a:t>Note: branch</a:t>
            </a:r>
            <a:r>
              <a:rPr lang="en-US" sz="1800" dirty="0">
                <a:solidFill>
                  <a:schemeClr val="accent2"/>
                </a:solidFill>
                <a:cs typeface="Arial" pitchFamily="34" charset="0"/>
              </a:rPr>
              <a:t> </a:t>
            </a:r>
            <a:r>
              <a:rPr lang="en-US" sz="1800" dirty="0">
                <a:solidFill>
                  <a:srgbClr val="FF00FF"/>
                </a:solidFill>
                <a:cs typeface="Arial" pitchFamily="34" charset="0"/>
              </a:rPr>
              <a:t>b2</a:t>
            </a:r>
            <a:r>
              <a:rPr lang="en-US" sz="1800" dirty="0">
                <a:solidFill>
                  <a:schemeClr val="accent2"/>
                </a:solidFill>
                <a:cs typeface="Arial" pitchFamily="34" charset="0"/>
              </a:rPr>
              <a:t> </a:t>
            </a:r>
            <a:r>
              <a:rPr lang="en-US" sz="1800" i="1" dirty="0">
                <a:solidFill>
                  <a:schemeClr val="tx1"/>
                </a:solidFill>
                <a:cs typeface="Arial" pitchFamily="34" charset="0"/>
              </a:rPr>
              <a:t>correlated</a:t>
            </a:r>
            <a:r>
              <a:rPr lang="en-US" sz="1800" dirty="0">
                <a:solidFill>
                  <a:schemeClr val="tx1"/>
                </a:solidFill>
                <a:cs typeface="Arial" pitchFamily="34" charset="0"/>
              </a:rPr>
              <a:t> with branch</a:t>
            </a:r>
            <a:r>
              <a:rPr lang="en-US" sz="1800" dirty="0">
                <a:solidFill>
                  <a:schemeClr val="accent2"/>
                </a:solidFill>
                <a:cs typeface="Arial" pitchFamily="34" charset="0"/>
              </a:rPr>
              <a:t> </a:t>
            </a:r>
            <a:r>
              <a:rPr lang="en-US" sz="1800" dirty="0">
                <a:solidFill>
                  <a:srgbClr val="FF0000"/>
                </a:solidFill>
                <a:cs typeface="Arial" pitchFamily="34" charset="0"/>
              </a:rPr>
              <a:t>b1  </a:t>
            </a:r>
            <a:r>
              <a:rPr lang="en-US" sz="1800" dirty="0">
                <a:solidFill>
                  <a:schemeClr val="tx1"/>
                </a:solidFill>
                <a:cs typeface="Arial" pitchFamily="34" charset="0"/>
              </a:rPr>
              <a:t>(if b1 is T, likely b2 is T)  </a:t>
            </a:r>
            <a:endParaRPr lang="en-US" sz="1800" dirty="0">
              <a:cs typeface="Arial" pitchFamily="34" charset="0"/>
            </a:endParaRPr>
          </a:p>
        </p:txBody>
      </p:sp>
      <p:sp>
        <p:nvSpPr>
          <p:cNvPr id="36876" name="Slide Number Placeholder 51">
            <a:extLst>
              <a:ext uri="{FF2B5EF4-FFF2-40B4-BE49-F238E27FC236}">
                <a16:creationId xmlns:a16="http://schemas.microsoft.com/office/drawing/2014/main" id="{C8503E27-2D35-5938-DD4A-104AB70BEF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A291F9A5-F008-6944-8561-4796712F1794}" type="slidenum">
              <a:rPr lang="en-GB" altLang="en-US" sz="1400">
                <a:solidFill>
                  <a:srgbClr val="000000"/>
                </a:solidFill>
                <a:latin typeface="Arial  " charset="0"/>
              </a:rPr>
              <a:pPr/>
              <a:t>35</a:t>
            </a:fld>
            <a:r>
              <a:rPr lang="en-GB" altLang="en-US" sz="1400">
                <a:solidFill>
                  <a:srgbClr val="000000"/>
                </a:solidFill>
                <a:latin typeface="Arial  " charset="0"/>
              </a:rPr>
              <a:t> </a:t>
            </a:r>
          </a:p>
        </p:txBody>
      </p:sp>
      <p:sp>
        <p:nvSpPr>
          <p:cNvPr id="36877" name="Rectangle 49">
            <a:extLst>
              <a:ext uri="{FF2B5EF4-FFF2-40B4-BE49-F238E27FC236}">
                <a16:creationId xmlns:a16="http://schemas.microsoft.com/office/drawing/2014/main" id="{043E7EA4-934B-8BCF-B7C4-D9A0B898859B}"/>
              </a:ext>
            </a:extLst>
          </p:cNvPr>
          <p:cNvSpPr>
            <a:spLocks noChangeArrowheads="1"/>
          </p:cNvSpPr>
          <p:nvPr/>
        </p:nvSpPr>
        <p:spPr bwMode="auto">
          <a:xfrm>
            <a:off x="3463925" y="1287463"/>
            <a:ext cx="966788" cy="20605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sp>
        <p:nvSpPr>
          <p:cNvPr id="36878" name="Rectangle 53">
            <a:extLst>
              <a:ext uri="{FF2B5EF4-FFF2-40B4-BE49-F238E27FC236}">
                <a16:creationId xmlns:a16="http://schemas.microsoft.com/office/drawing/2014/main" id="{71DBCE40-B2E1-8EEB-AE6D-5D06AE87C496}"/>
              </a:ext>
            </a:extLst>
          </p:cNvPr>
          <p:cNvSpPr>
            <a:spLocks noChangeArrowheads="1"/>
          </p:cNvSpPr>
          <p:nvPr/>
        </p:nvSpPr>
        <p:spPr bwMode="auto">
          <a:xfrm>
            <a:off x="4014788" y="3502025"/>
            <a:ext cx="4391025" cy="431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a:t>g</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2789F7C-4B7F-FFA4-0280-7530497CD8ED}"/>
              </a:ext>
            </a:extLst>
          </p:cNvPr>
          <p:cNvSpPr>
            <a:spLocks noGrp="1" noChangeArrowheads="1"/>
          </p:cNvSpPr>
          <p:nvPr>
            <p:ph type="title"/>
          </p:nvPr>
        </p:nvSpPr>
        <p:spPr>
          <a:xfrm>
            <a:off x="723900" y="254000"/>
            <a:ext cx="8420100" cy="889000"/>
          </a:xfrm>
        </p:spPr>
        <p:txBody>
          <a:bodyPr/>
          <a:lstStyle/>
          <a:p>
            <a:r>
              <a:rPr lang="en-US" altLang="en-US" sz="3600">
                <a:latin typeface="Arial  " charset="0"/>
                <a:cs typeface="Arial  " charset="0"/>
              </a:rPr>
              <a:t>Why Are Branch Outcomes Correlated?</a:t>
            </a:r>
            <a:br>
              <a:rPr lang="en-US" altLang="en-US" sz="3600">
                <a:latin typeface="Arial  " charset="0"/>
                <a:cs typeface="Arial  " charset="0"/>
              </a:rPr>
            </a:br>
            <a:r>
              <a:rPr lang="en-US" altLang="en-US" sz="3600">
                <a:latin typeface="Arial  " charset="0"/>
                <a:cs typeface="Arial  " charset="0"/>
              </a:rPr>
              <a:t>Answer: Affector Branches</a:t>
            </a:r>
          </a:p>
        </p:txBody>
      </p:sp>
      <p:sp>
        <p:nvSpPr>
          <p:cNvPr id="37891" name="Rectangle 3">
            <a:extLst>
              <a:ext uri="{FF2B5EF4-FFF2-40B4-BE49-F238E27FC236}">
                <a16:creationId xmlns:a16="http://schemas.microsoft.com/office/drawing/2014/main" id="{1E8B7722-8D75-17A8-1F89-8F191EFB0B12}"/>
              </a:ext>
            </a:extLst>
          </p:cNvPr>
          <p:cNvSpPr>
            <a:spLocks noGrp="1" noChangeArrowheads="1"/>
          </p:cNvSpPr>
          <p:nvPr>
            <p:ph type="body" idx="1"/>
          </p:nvPr>
        </p:nvSpPr>
        <p:spPr>
          <a:xfrm>
            <a:off x="1068388" y="1530350"/>
            <a:ext cx="7772400" cy="4813300"/>
          </a:xfrm>
        </p:spPr>
        <p:txBody>
          <a:bodyPr/>
          <a:lstStyle/>
          <a:p>
            <a:pPr>
              <a:lnSpc>
                <a:spcPct val="90000"/>
              </a:lnSpc>
              <a:buFontTx/>
              <a:buNone/>
            </a:pPr>
            <a:r>
              <a:rPr lang="en-US" altLang="en-US">
                <a:latin typeface="Arial  " charset="0"/>
                <a:cs typeface="Arial  " charset="0"/>
              </a:rPr>
              <a:t>x=0;</a:t>
            </a:r>
          </a:p>
          <a:p>
            <a:pPr>
              <a:lnSpc>
                <a:spcPct val="90000"/>
              </a:lnSpc>
              <a:buFontTx/>
              <a:buNone/>
            </a:pPr>
            <a:r>
              <a:rPr lang="en-US" altLang="en-US">
                <a:latin typeface="Arial  " charset="0"/>
                <a:cs typeface="Arial  " charset="0"/>
              </a:rPr>
              <a:t>if( </a:t>
            </a:r>
            <a:r>
              <a:rPr lang="en-US" altLang="en-US">
                <a:solidFill>
                  <a:srgbClr val="FF0000"/>
                </a:solidFill>
                <a:latin typeface="Arial  " charset="0"/>
                <a:cs typeface="Arial  " charset="0"/>
              </a:rPr>
              <a:t>someCondition</a:t>
            </a:r>
            <a:r>
              <a:rPr lang="en-US" altLang="en-US">
                <a:latin typeface="Arial  " charset="0"/>
                <a:cs typeface="Arial  " charset="0"/>
              </a:rPr>
              <a:t> ) { /* branch A */</a:t>
            </a:r>
          </a:p>
          <a:p>
            <a:pPr>
              <a:lnSpc>
                <a:spcPct val="90000"/>
              </a:lnSpc>
              <a:buFontTx/>
              <a:buNone/>
            </a:pPr>
            <a:r>
              <a:rPr lang="en-US" altLang="en-US">
                <a:solidFill>
                  <a:srgbClr val="FF0000"/>
                </a:solidFill>
                <a:latin typeface="Arial  " charset="0"/>
                <a:cs typeface="Arial  " charset="0"/>
              </a:rPr>
              <a:t>     x=3;</a:t>
            </a:r>
            <a:endParaRPr lang="en-US" altLang="en-US">
              <a:latin typeface="Arial  " charset="0"/>
              <a:cs typeface="Arial  " charset="0"/>
            </a:endParaRPr>
          </a:p>
          <a:p>
            <a:pPr>
              <a:lnSpc>
                <a:spcPct val="90000"/>
              </a:lnSpc>
              <a:buFontTx/>
              <a:buNone/>
            </a:pPr>
            <a:r>
              <a:rPr lang="en-US" altLang="en-US">
                <a:latin typeface="Arial  " charset="0"/>
                <a:cs typeface="Arial  " charset="0"/>
              </a:rPr>
              <a:t>}</a:t>
            </a:r>
          </a:p>
          <a:p>
            <a:pPr>
              <a:lnSpc>
                <a:spcPct val="90000"/>
              </a:lnSpc>
              <a:buFontTx/>
              <a:buNone/>
            </a:pPr>
            <a:r>
              <a:rPr lang="en-US" altLang="en-US">
                <a:latin typeface="Arial  " charset="0"/>
                <a:cs typeface="Arial  " charset="0"/>
              </a:rPr>
              <a:t>if( someOtherCondition ) { /* branch B */ </a:t>
            </a:r>
          </a:p>
          <a:p>
            <a:pPr>
              <a:lnSpc>
                <a:spcPct val="90000"/>
              </a:lnSpc>
              <a:buFontTx/>
              <a:buNone/>
            </a:pPr>
            <a:r>
              <a:rPr lang="en-US" altLang="en-US">
                <a:latin typeface="Arial  " charset="0"/>
                <a:cs typeface="Arial  " charset="0"/>
              </a:rPr>
              <a:t>	y += 19;</a:t>
            </a:r>
          </a:p>
          <a:p>
            <a:pPr>
              <a:lnSpc>
                <a:spcPct val="90000"/>
              </a:lnSpc>
              <a:buFontTx/>
              <a:buNone/>
            </a:pPr>
            <a:r>
              <a:rPr lang="en-US" altLang="en-US">
                <a:latin typeface="Arial  " charset="0"/>
                <a:cs typeface="Arial  " charset="0"/>
              </a:rPr>
              <a:t>}</a:t>
            </a:r>
          </a:p>
          <a:p>
            <a:pPr>
              <a:lnSpc>
                <a:spcPct val="90000"/>
              </a:lnSpc>
              <a:buFontTx/>
              <a:buNone/>
            </a:pPr>
            <a:r>
              <a:rPr lang="en-US" altLang="en-US">
                <a:latin typeface="Arial  " charset="0"/>
                <a:cs typeface="Arial  " charset="0"/>
              </a:rPr>
              <a:t>if( </a:t>
            </a:r>
            <a:r>
              <a:rPr lang="en-US" altLang="en-US">
                <a:solidFill>
                  <a:srgbClr val="FF0000"/>
                </a:solidFill>
                <a:latin typeface="Arial  " charset="0"/>
                <a:cs typeface="Arial  " charset="0"/>
              </a:rPr>
              <a:t>x &lt;= 0</a:t>
            </a:r>
            <a:r>
              <a:rPr lang="en-US" altLang="en-US">
                <a:latin typeface="Arial  " charset="0"/>
                <a:cs typeface="Arial  " charset="0"/>
              </a:rPr>
              <a:t> ) { /* branch C */</a:t>
            </a:r>
          </a:p>
          <a:p>
            <a:pPr>
              <a:lnSpc>
                <a:spcPct val="90000"/>
              </a:lnSpc>
              <a:buFontTx/>
              <a:buNone/>
            </a:pPr>
            <a:r>
              <a:rPr lang="en-US" altLang="en-US">
                <a:latin typeface="Arial  " charset="0"/>
                <a:cs typeface="Arial  " charset="0"/>
              </a:rPr>
              <a:t>	doSomething();</a:t>
            </a:r>
          </a:p>
          <a:p>
            <a:pPr>
              <a:lnSpc>
                <a:spcPct val="90000"/>
              </a:lnSpc>
              <a:buFontTx/>
              <a:buNone/>
            </a:pPr>
            <a:r>
              <a:rPr lang="en-US" altLang="en-US">
                <a:latin typeface="Arial  " charset="0"/>
                <a:cs typeface="Arial  " charset="0"/>
              </a:rPr>
              <a:t>}</a:t>
            </a:r>
          </a:p>
        </p:txBody>
      </p:sp>
      <p:sp>
        <p:nvSpPr>
          <p:cNvPr id="37892" name="Freeform 4">
            <a:extLst>
              <a:ext uri="{FF2B5EF4-FFF2-40B4-BE49-F238E27FC236}">
                <a16:creationId xmlns:a16="http://schemas.microsoft.com/office/drawing/2014/main" id="{526C14AF-144A-D4E5-4C4E-4336E0F5B105}"/>
              </a:ext>
            </a:extLst>
          </p:cNvPr>
          <p:cNvSpPr>
            <a:spLocks/>
          </p:cNvSpPr>
          <p:nvPr/>
        </p:nvSpPr>
        <p:spPr bwMode="auto">
          <a:xfrm>
            <a:off x="815975" y="2668588"/>
            <a:ext cx="889000" cy="2238375"/>
          </a:xfrm>
          <a:custGeom>
            <a:avLst/>
            <a:gdLst>
              <a:gd name="T0" fmla="*/ 2147483647 w 446"/>
              <a:gd name="T1" fmla="*/ 0 h 1296"/>
              <a:gd name="T2" fmla="*/ 2147483647 w 446"/>
              <a:gd name="T3" fmla="*/ 2147483647 h 1296"/>
              <a:gd name="T4" fmla="*/ 2147483647 w 446"/>
              <a:gd name="T5" fmla="*/ 2147483647 h 1296"/>
              <a:gd name="T6" fmla="*/ 0 60000 65536"/>
              <a:gd name="T7" fmla="*/ 0 60000 65536"/>
              <a:gd name="T8" fmla="*/ 0 60000 65536"/>
              <a:gd name="T9" fmla="*/ 0 w 446"/>
              <a:gd name="T10" fmla="*/ 0 h 1296"/>
              <a:gd name="T11" fmla="*/ 446 w 446"/>
              <a:gd name="T12" fmla="*/ 1296 h 1296"/>
            </a:gdLst>
            <a:ahLst/>
            <a:cxnLst>
              <a:cxn ang="T6">
                <a:pos x="T0" y="T1"/>
              </a:cxn>
              <a:cxn ang="T7">
                <a:pos x="T2" y="T3"/>
              </a:cxn>
              <a:cxn ang="T8">
                <a:pos x="T4" y="T5"/>
              </a:cxn>
            </a:cxnLst>
            <a:rect l="T9" t="T10" r="T11" b="T12"/>
            <a:pathLst>
              <a:path w="446" h="1296">
                <a:moveTo>
                  <a:pt x="268" y="0"/>
                </a:moveTo>
                <a:cubicBezTo>
                  <a:pt x="75" y="229"/>
                  <a:pt x="0" y="512"/>
                  <a:pt x="30" y="728"/>
                </a:cubicBezTo>
                <a:cubicBezTo>
                  <a:pt x="60" y="944"/>
                  <a:pt x="271" y="1120"/>
                  <a:pt x="446" y="1296"/>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893" name="Freeform 5">
            <a:extLst>
              <a:ext uri="{FF2B5EF4-FFF2-40B4-BE49-F238E27FC236}">
                <a16:creationId xmlns:a16="http://schemas.microsoft.com/office/drawing/2014/main" id="{1E5BAA3A-D4EE-2607-B622-EB6608F32F0A}"/>
              </a:ext>
            </a:extLst>
          </p:cNvPr>
          <p:cNvSpPr>
            <a:spLocks/>
          </p:cNvSpPr>
          <p:nvPr/>
        </p:nvSpPr>
        <p:spPr bwMode="auto">
          <a:xfrm>
            <a:off x="2185988" y="2266950"/>
            <a:ext cx="401637" cy="277813"/>
          </a:xfrm>
          <a:custGeom>
            <a:avLst/>
            <a:gdLst>
              <a:gd name="T0" fmla="*/ 2147483647 w 253"/>
              <a:gd name="T1" fmla="*/ 0 h 280"/>
              <a:gd name="T2" fmla="*/ 2147483647 w 253"/>
              <a:gd name="T3" fmla="*/ 2147483647 h 280"/>
              <a:gd name="T4" fmla="*/ 0 w 253"/>
              <a:gd name="T5" fmla="*/ 2147483647 h 280"/>
              <a:gd name="T6" fmla="*/ 0 60000 65536"/>
              <a:gd name="T7" fmla="*/ 0 60000 65536"/>
              <a:gd name="T8" fmla="*/ 0 60000 65536"/>
              <a:gd name="T9" fmla="*/ 0 w 253"/>
              <a:gd name="T10" fmla="*/ 0 h 280"/>
              <a:gd name="T11" fmla="*/ 253 w 253"/>
              <a:gd name="T12" fmla="*/ 280 h 280"/>
            </a:gdLst>
            <a:ahLst/>
            <a:cxnLst>
              <a:cxn ang="T6">
                <a:pos x="T0" y="T1"/>
              </a:cxn>
              <a:cxn ang="T7">
                <a:pos x="T2" y="T3"/>
              </a:cxn>
              <a:cxn ang="T8">
                <a:pos x="T4" y="T5"/>
              </a:cxn>
            </a:cxnLst>
            <a:rect l="T9" t="T10" r="T11" b="T12"/>
            <a:pathLst>
              <a:path w="253" h="280">
                <a:moveTo>
                  <a:pt x="80" y="0"/>
                </a:moveTo>
                <a:cubicBezTo>
                  <a:pt x="166" y="76"/>
                  <a:pt x="253" y="153"/>
                  <a:pt x="240" y="200"/>
                </a:cubicBezTo>
                <a:cubicBezTo>
                  <a:pt x="227" y="247"/>
                  <a:pt x="113" y="263"/>
                  <a:pt x="0" y="280"/>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894" name="Slide Number Placeholder 7">
            <a:extLst>
              <a:ext uri="{FF2B5EF4-FFF2-40B4-BE49-F238E27FC236}">
                <a16:creationId xmlns:a16="http://schemas.microsoft.com/office/drawing/2014/main" id="{7CC33498-0B09-C9F0-CB47-66278B3C0E8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191E58B8-6E1B-0B4D-8BE2-3A8F995302F5}" type="slidenum">
              <a:rPr lang="en-US" altLang="en-US" sz="1400">
                <a:solidFill>
                  <a:srgbClr val="000000"/>
                </a:solidFill>
                <a:latin typeface="Arial  " charset="0"/>
              </a:rPr>
              <a:pPr/>
              <a:t>36</a:t>
            </a:fld>
            <a:endParaRPr lang="en-US" altLang="en-US" sz="1400">
              <a:solidFill>
                <a:srgbClr val="000000"/>
              </a:solidFill>
              <a:latin typeface="Times" pitchFamily="-10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0B25989-1FA6-FE0D-EE98-32D37534DE35}"/>
              </a:ext>
            </a:extLst>
          </p:cNvPr>
          <p:cNvSpPr>
            <a:spLocks noGrp="1" noChangeArrowheads="1"/>
          </p:cNvSpPr>
          <p:nvPr>
            <p:ph type="title"/>
          </p:nvPr>
        </p:nvSpPr>
        <p:spPr>
          <a:xfrm>
            <a:off x="0" y="-85725"/>
            <a:ext cx="9144000" cy="1311275"/>
          </a:xfrm>
        </p:spPr>
        <p:txBody>
          <a:bodyPr/>
          <a:lstStyle/>
          <a:p>
            <a:r>
              <a:rPr lang="en-US" altLang="en-US" dirty="0">
                <a:latin typeface="Arial  " charset="0"/>
                <a:cs typeface="Arial  " charset="0"/>
              </a:rPr>
              <a:t>A (Silly) Analogy…</a:t>
            </a:r>
          </a:p>
        </p:txBody>
      </p:sp>
      <p:sp>
        <p:nvSpPr>
          <p:cNvPr id="38915" name="Rectangle 3">
            <a:extLst>
              <a:ext uri="{FF2B5EF4-FFF2-40B4-BE49-F238E27FC236}">
                <a16:creationId xmlns:a16="http://schemas.microsoft.com/office/drawing/2014/main" id="{B3734E09-3D32-1E34-6E94-F74E72620C0E}"/>
              </a:ext>
            </a:extLst>
          </p:cNvPr>
          <p:cNvSpPr>
            <a:spLocks noGrp="1" noChangeArrowheads="1"/>
          </p:cNvSpPr>
          <p:nvPr>
            <p:ph type="body" idx="1"/>
          </p:nvPr>
        </p:nvSpPr>
        <p:spPr>
          <a:xfrm>
            <a:off x="322263" y="3879850"/>
            <a:ext cx="8504237" cy="2586038"/>
          </a:xfrm>
        </p:spPr>
        <p:txBody>
          <a:bodyPr/>
          <a:lstStyle/>
          <a:p>
            <a:pPr>
              <a:lnSpc>
                <a:spcPct val="90000"/>
              </a:lnSpc>
            </a:pPr>
            <a:r>
              <a:rPr lang="en-US" altLang="en-US" sz="1800" dirty="0">
                <a:latin typeface="Arial  " charset="0"/>
                <a:cs typeface="Arial  " charset="0"/>
              </a:rPr>
              <a:t>Which bus route should you take to school tomorrow? </a:t>
            </a:r>
          </a:p>
          <a:p>
            <a:pPr>
              <a:lnSpc>
                <a:spcPct val="90000"/>
              </a:lnSpc>
            </a:pPr>
            <a:r>
              <a:rPr lang="en-US" altLang="en-US" sz="1800" dirty="0">
                <a:latin typeface="Arial  " charset="0"/>
                <a:cs typeface="Arial  " charset="0"/>
              </a:rPr>
              <a:t>Goal is to get to school fastest.</a:t>
            </a:r>
          </a:p>
          <a:p>
            <a:pPr>
              <a:lnSpc>
                <a:spcPct val="90000"/>
              </a:lnSpc>
            </a:pPr>
            <a:r>
              <a:rPr lang="en-US" altLang="en-US" sz="1800" dirty="0">
                <a:latin typeface="Arial  " charset="0"/>
                <a:cs typeface="Arial  " charset="0"/>
              </a:rPr>
              <a:t>Make prediction based upon:</a:t>
            </a:r>
          </a:p>
          <a:p>
            <a:pPr lvl="1">
              <a:lnSpc>
                <a:spcPct val="90000"/>
              </a:lnSpc>
            </a:pPr>
            <a:r>
              <a:rPr lang="en-US" altLang="en-US" sz="1800" dirty="0">
                <a:latin typeface="Arial  " charset="0"/>
                <a:cs typeface="Arial  " charset="0"/>
              </a:rPr>
              <a:t>Static information (shortest bus route in km?)</a:t>
            </a:r>
          </a:p>
          <a:p>
            <a:pPr lvl="1">
              <a:lnSpc>
                <a:spcPct val="90000"/>
              </a:lnSpc>
            </a:pPr>
            <a:r>
              <a:rPr lang="en-US" altLang="en-US" sz="1800" dirty="0">
                <a:latin typeface="Arial  " charset="0"/>
                <a:cs typeface="Arial  " charset="0"/>
              </a:rPr>
              <a:t>History: Most times, route T was faster than route N.</a:t>
            </a:r>
            <a:endParaRPr lang="en-US" altLang="en-US" sz="2200" dirty="0">
              <a:latin typeface="Arial  " charset="0"/>
              <a:cs typeface="Arial  " charset="0"/>
            </a:endParaRPr>
          </a:p>
          <a:p>
            <a:pPr lvl="1">
              <a:lnSpc>
                <a:spcPct val="90000"/>
              </a:lnSpc>
            </a:pPr>
            <a:r>
              <a:rPr lang="en-US" altLang="en-US" sz="1800" dirty="0">
                <a:latin typeface="Arial  " charset="0"/>
                <a:cs typeface="Arial  " charset="0"/>
              </a:rPr>
              <a:t>Better prediction if consider additional “context”:  Route N better than route T on rainy days, but worse on sunny days.  Ask friend how roads were this morning?</a:t>
            </a:r>
          </a:p>
        </p:txBody>
      </p:sp>
      <p:sp>
        <p:nvSpPr>
          <p:cNvPr id="38917" name="Slide Number Placeholder 7">
            <a:extLst>
              <a:ext uri="{FF2B5EF4-FFF2-40B4-BE49-F238E27FC236}">
                <a16:creationId xmlns:a16="http://schemas.microsoft.com/office/drawing/2014/main" id="{F219247B-5614-EF65-4824-AD65B1C07E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2DD53064-2954-5B41-A0D7-F8C2F046B8DB}" type="slidenum">
              <a:rPr lang="en-GB" altLang="en-US" sz="1400">
                <a:solidFill>
                  <a:srgbClr val="000000"/>
                </a:solidFill>
                <a:latin typeface="Arial  " charset="0"/>
              </a:rPr>
              <a:pPr/>
              <a:t>37</a:t>
            </a:fld>
            <a:r>
              <a:rPr lang="en-GB" altLang="en-US" sz="1400">
                <a:solidFill>
                  <a:srgbClr val="000000"/>
                </a:solidFill>
                <a:latin typeface="Arial  " charset="0"/>
              </a:rPr>
              <a:t> </a:t>
            </a:r>
          </a:p>
        </p:txBody>
      </p:sp>
      <p:pic>
        <p:nvPicPr>
          <p:cNvPr id="2" name="Picture 1" descr="Picture 1">
            <a:extLst>
              <a:ext uri="{FF2B5EF4-FFF2-40B4-BE49-F238E27FC236}">
                <a16:creationId xmlns:a16="http://schemas.microsoft.com/office/drawing/2014/main" id="{60617874-22BF-4172-1CA0-BEEDEB5F92F8}"/>
              </a:ext>
            </a:extLst>
          </p:cNvPr>
          <p:cNvPicPr>
            <a:picLocks noChangeAspect="1"/>
          </p:cNvPicPr>
          <p:nvPr/>
        </p:nvPicPr>
        <p:blipFill>
          <a:blip r:embed="rId3"/>
          <a:stretch>
            <a:fillRect/>
          </a:stretch>
        </p:blipFill>
        <p:spPr>
          <a:xfrm>
            <a:off x="2506133" y="986608"/>
            <a:ext cx="3640135" cy="2730103"/>
          </a:xfrm>
          <a:prstGeom prst="rect">
            <a:avLst/>
          </a:prstGeom>
          <a:ln w="12700">
            <a:miter lim="400000"/>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0A90064B-F91D-3934-7045-EDEBE9EDCC0C}"/>
              </a:ext>
            </a:extLst>
          </p:cNvPr>
          <p:cNvSpPr>
            <a:spLocks noGrp="1" noChangeArrowheads="1"/>
          </p:cNvSpPr>
          <p:nvPr>
            <p:ph type="title"/>
          </p:nvPr>
        </p:nvSpPr>
        <p:spPr>
          <a:xfrm>
            <a:off x="336550" y="0"/>
            <a:ext cx="8807450" cy="841375"/>
          </a:xfrm>
        </p:spPr>
        <p:txBody>
          <a:bodyPr/>
          <a:lstStyle/>
          <a:p>
            <a:r>
              <a:rPr lang="en-US" altLang="en-US" sz="2800" b="1">
                <a:latin typeface="Arial  " charset="0"/>
                <a:cs typeface="Arial  " charset="0"/>
              </a:rPr>
              <a:t>(Silly) Correlating Branch Predictor Analogy…</a:t>
            </a:r>
            <a:endParaRPr lang="en-US" altLang="en-US" b="1">
              <a:latin typeface="Arial  " charset="0"/>
              <a:cs typeface="Arial  " charset="0"/>
            </a:endParaRPr>
          </a:p>
        </p:txBody>
      </p:sp>
      <p:sp>
        <p:nvSpPr>
          <p:cNvPr id="39939" name="Rectangle 3">
            <a:extLst>
              <a:ext uri="{FF2B5EF4-FFF2-40B4-BE49-F238E27FC236}">
                <a16:creationId xmlns:a16="http://schemas.microsoft.com/office/drawing/2014/main" id="{2F57B6CD-1C26-3D2E-E33A-263DA1E66568}"/>
              </a:ext>
            </a:extLst>
          </p:cNvPr>
          <p:cNvSpPr>
            <a:spLocks noGrp="1" noChangeArrowheads="1"/>
          </p:cNvSpPr>
          <p:nvPr>
            <p:ph type="body" idx="1"/>
          </p:nvPr>
        </p:nvSpPr>
        <p:spPr>
          <a:xfrm>
            <a:off x="644525" y="754063"/>
            <a:ext cx="7983538" cy="4595812"/>
          </a:xfrm>
        </p:spPr>
        <p:txBody>
          <a:bodyPr/>
          <a:lstStyle/>
          <a:p>
            <a:pPr>
              <a:lnSpc>
                <a:spcPct val="96000"/>
              </a:lnSpc>
            </a:pPr>
            <a:r>
              <a:rPr lang="en-US" altLang="en-US" sz="1800">
                <a:latin typeface="Arial  " charset="0"/>
                <a:cs typeface="Arial  " charset="0"/>
              </a:rPr>
              <a:t>Problem: You want to predict which bus to take to school.</a:t>
            </a:r>
          </a:p>
          <a:p>
            <a:pPr>
              <a:lnSpc>
                <a:spcPct val="96000"/>
              </a:lnSpc>
            </a:pPr>
            <a:r>
              <a:rPr lang="en-US" altLang="en-US" sz="1800">
                <a:latin typeface="Arial  " charset="0"/>
                <a:cs typeface="Arial  " charset="0"/>
              </a:rPr>
              <a:t>You have a feeling that the best route to take seems to depend on the weather.  It rains 50% of the time and is sunny 50% of the time.</a:t>
            </a:r>
          </a:p>
          <a:p>
            <a:pPr>
              <a:lnSpc>
                <a:spcPct val="96000"/>
              </a:lnSpc>
            </a:pPr>
            <a:r>
              <a:rPr lang="en-US" altLang="en-US" sz="1800">
                <a:latin typeface="Arial  " charset="0"/>
                <a:cs typeface="Arial  " charset="0"/>
              </a:rPr>
              <a:t>You don’t yet know it, but “route T” is usually faster than “route N” on sunny days, but is often slower than “route N” on rainy days.  Perhaps there are lots of accidents on route T when it rains. You don’t care why the bus is slow, you just want to make it to class on time. Besides, you’re too busy studying while on the bus to notice why it is faster or slower.  </a:t>
            </a:r>
          </a:p>
          <a:p>
            <a:pPr>
              <a:lnSpc>
                <a:spcPct val="96000"/>
              </a:lnSpc>
            </a:pPr>
            <a:r>
              <a:rPr lang="en-US" altLang="en-US" sz="1800">
                <a:latin typeface="Arial  " charset="0"/>
                <a:cs typeface="Arial  " charset="0"/>
              </a:rPr>
              <a:t>How are you ever going to notice you should predict N on rainy days, and T on sunny days?</a:t>
            </a:r>
          </a:p>
          <a:p>
            <a:pPr>
              <a:lnSpc>
                <a:spcPct val="96000"/>
              </a:lnSpc>
            </a:pPr>
            <a:r>
              <a:rPr lang="en-US" altLang="en-US" sz="1800">
                <a:latin typeface="Arial  " charset="0"/>
                <a:cs typeface="Arial  " charset="0"/>
              </a:rPr>
              <a:t>Solution: Keep two tables: One you record what happens on rainy days, other you record what happens on sunny days.</a:t>
            </a:r>
          </a:p>
          <a:p>
            <a:pPr>
              <a:lnSpc>
                <a:spcPct val="96000"/>
              </a:lnSpc>
            </a:pPr>
            <a:endParaRPr lang="en-US" altLang="en-US" sz="2000">
              <a:latin typeface="Arial  " charset="0"/>
              <a:cs typeface="Arial  " charset="0"/>
            </a:endParaRPr>
          </a:p>
          <a:p>
            <a:pPr>
              <a:lnSpc>
                <a:spcPct val="90000"/>
              </a:lnSpc>
            </a:pPr>
            <a:endParaRPr lang="en-US" altLang="en-US" sz="2000">
              <a:latin typeface="Arial  " charset="0"/>
              <a:cs typeface="Arial  " charset="0"/>
            </a:endParaRPr>
          </a:p>
        </p:txBody>
      </p:sp>
      <p:sp>
        <p:nvSpPr>
          <p:cNvPr id="39940" name="Slide Number Placeholder 5">
            <a:extLst>
              <a:ext uri="{FF2B5EF4-FFF2-40B4-BE49-F238E27FC236}">
                <a16:creationId xmlns:a16="http://schemas.microsoft.com/office/drawing/2014/main" id="{ED4F4491-C1C1-5B60-CCB5-95DEE44777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3CF40264-3915-F640-939B-455B193BE7C4}" type="slidenum">
              <a:rPr lang="en-US" altLang="en-US" sz="1400">
                <a:solidFill>
                  <a:srgbClr val="000000"/>
                </a:solidFill>
                <a:latin typeface="Arial  " charset="0"/>
              </a:rPr>
              <a:pPr/>
              <a:t>38</a:t>
            </a:fld>
            <a:endParaRPr lang="en-US" altLang="en-US" sz="1400">
              <a:solidFill>
                <a:srgbClr val="000000"/>
              </a:solidFill>
              <a:latin typeface="Times" pitchFamily="-109"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FA6FEC6-9165-EF50-4F7A-D9B7E69F2C68}"/>
              </a:ext>
            </a:extLst>
          </p:cNvPr>
          <p:cNvSpPr>
            <a:spLocks noGrp="1" noChangeArrowheads="1"/>
          </p:cNvSpPr>
          <p:nvPr>
            <p:ph type="title"/>
          </p:nvPr>
        </p:nvSpPr>
        <p:spPr>
          <a:xfrm>
            <a:off x="685800" y="0"/>
            <a:ext cx="7772400" cy="823913"/>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a:latin typeface="Arial  " charset="0"/>
                <a:cs typeface="Arial  " charset="0"/>
              </a:rPr>
              <a:t>1-Bit Branch Predictor with1-Bit of </a:t>
            </a:r>
            <a:r>
              <a:rPr lang="en-GB" altLang="en-US" sz="2800" u="sng">
                <a:solidFill>
                  <a:srgbClr val="0000FF"/>
                </a:solidFill>
                <a:latin typeface="Arial  " charset="0"/>
                <a:cs typeface="Arial  " charset="0"/>
              </a:rPr>
              <a:t>Correlation</a:t>
            </a:r>
            <a:r>
              <a:rPr lang="en-GB" altLang="en-US" sz="2800">
                <a:latin typeface="Arial  " charset="0"/>
                <a:cs typeface="Arial  " charset="0"/>
              </a:rPr>
              <a:t>:</a:t>
            </a:r>
            <a:endParaRPr lang="en-GB" altLang="en-US">
              <a:latin typeface="Arial  " charset="0"/>
              <a:cs typeface="Arial  " charset="0"/>
            </a:endParaRPr>
          </a:p>
        </p:txBody>
      </p:sp>
      <p:sp>
        <p:nvSpPr>
          <p:cNvPr id="40963" name="Text Box 3">
            <a:extLst>
              <a:ext uri="{FF2B5EF4-FFF2-40B4-BE49-F238E27FC236}">
                <a16:creationId xmlns:a16="http://schemas.microsoft.com/office/drawing/2014/main" id="{57D38E5C-3AFF-798C-2001-2CA74CF54DDE}"/>
              </a:ext>
            </a:extLst>
          </p:cNvPr>
          <p:cNvSpPr txBox="1">
            <a:spLocks noChangeArrowheads="1"/>
          </p:cNvSpPr>
          <p:nvPr/>
        </p:nvSpPr>
        <p:spPr bwMode="auto">
          <a:xfrm>
            <a:off x="3694113" y="4840288"/>
            <a:ext cx="30670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1800">
                <a:solidFill>
                  <a:schemeClr val="tx1"/>
                </a:solidFill>
                <a:cs typeface="Arial" panose="020B0604020202020204" pitchFamily="34" charset="0"/>
              </a:rPr>
              <a:t>Was </a:t>
            </a:r>
            <a:r>
              <a:rPr lang="en-GB" altLang="en-US" sz="1800">
                <a:solidFill>
                  <a:srgbClr val="0000FF"/>
                </a:solidFill>
                <a:cs typeface="Arial" panose="020B0604020202020204" pitchFamily="34" charset="0"/>
              </a:rPr>
              <a:t>prior branch </a:t>
            </a:r>
            <a:r>
              <a:rPr lang="en-GB" altLang="en-US" sz="1800">
                <a:solidFill>
                  <a:schemeClr val="tx1"/>
                </a:solidFill>
                <a:cs typeface="Arial" panose="020B0604020202020204" pitchFamily="34" charset="0"/>
              </a:rPr>
              <a:t>“taken”? </a:t>
            </a:r>
            <a:endParaRPr lang="en-GB" altLang="en-US">
              <a:solidFill>
                <a:schemeClr val="tx1"/>
              </a:solidFill>
              <a:cs typeface="Arial" panose="020B0604020202020204" pitchFamily="34" charset="0"/>
            </a:endParaRPr>
          </a:p>
        </p:txBody>
      </p:sp>
      <p:sp>
        <p:nvSpPr>
          <p:cNvPr id="40964" name="AutoShape 5">
            <a:extLst>
              <a:ext uri="{FF2B5EF4-FFF2-40B4-BE49-F238E27FC236}">
                <a16:creationId xmlns:a16="http://schemas.microsoft.com/office/drawing/2014/main" id="{39DC2E84-6EC2-1BB2-7F48-904E61B40221}"/>
              </a:ext>
            </a:extLst>
          </p:cNvPr>
          <p:cNvSpPr>
            <a:spLocks/>
          </p:cNvSpPr>
          <p:nvPr/>
        </p:nvSpPr>
        <p:spPr bwMode="auto">
          <a:xfrm rot="-5400000">
            <a:off x="4887913" y="4102100"/>
            <a:ext cx="127000" cy="1282700"/>
          </a:xfrm>
          <a:prstGeom prst="leftBrace">
            <a:avLst>
              <a:gd name="adj1" fmla="val 84167"/>
              <a:gd name="adj2" fmla="val 50000"/>
            </a:avLst>
          </a:prstGeom>
          <a:noFill/>
          <a:ln w="936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0965" name="Text Box 7">
            <a:extLst>
              <a:ext uri="{FF2B5EF4-FFF2-40B4-BE49-F238E27FC236}">
                <a16:creationId xmlns:a16="http://schemas.microsoft.com/office/drawing/2014/main" id="{4B3421C0-6B4D-3A7C-FD55-6E5C95BB8DBC}"/>
              </a:ext>
            </a:extLst>
          </p:cNvPr>
          <p:cNvSpPr txBox="1">
            <a:spLocks noChangeArrowheads="1"/>
          </p:cNvSpPr>
          <p:nvPr/>
        </p:nvSpPr>
        <p:spPr bwMode="auto">
          <a:xfrm>
            <a:off x="4178300" y="4211638"/>
            <a:ext cx="5254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FF"/>
                </a:solidFill>
                <a:cs typeface="Arial" panose="020B0604020202020204" pitchFamily="34" charset="0"/>
              </a:rPr>
              <a:t>no</a:t>
            </a:r>
          </a:p>
        </p:txBody>
      </p:sp>
      <p:sp>
        <p:nvSpPr>
          <p:cNvPr id="40966" name="Text Box 8">
            <a:extLst>
              <a:ext uri="{FF2B5EF4-FFF2-40B4-BE49-F238E27FC236}">
                <a16:creationId xmlns:a16="http://schemas.microsoft.com/office/drawing/2014/main" id="{67ED339A-14C2-5570-AC89-B13F9EB70721}"/>
              </a:ext>
            </a:extLst>
          </p:cNvPr>
          <p:cNvSpPr txBox="1">
            <a:spLocks noChangeArrowheads="1"/>
          </p:cNvSpPr>
          <p:nvPr/>
        </p:nvSpPr>
        <p:spPr bwMode="auto">
          <a:xfrm>
            <a:off x="5129213" y="4211638"/>
            <a:ext cx="6604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FF"/>
                </a:solidFill>
                <a:cs typeface="Arial" panose="020B0604020202020204" pitchFamily="34" charset="0"/>
              </a:rPr>
              <a:t>yes</a:t>
            </a:r>
          </a:p>
        </p:txBody>
      </p:sp>
      <p:sp>
        <p:nvSpPr>
          <p:cNvPr id="40967" name="Rectangle 9">
            <a:extLst>
              <a:ext uri="{FF2B5EF4-FFF2-40B4-BE49-F238E27FC236}">
                <a16:creationId xmlns:a16="http://schemas.microsoft.com/office/drawing/2014/main" id="{3240A507-2536-4F4F-3D4C-1AB4F351D1EA}"/>
              </a:ext>
            </a:extLst>
          </p:cNvPr>
          <p:cNvSpPr>
            <a:spLocks noChangeArrowheads="1"/>
          </p:cNvSpPr>
          <p:nvPr/>
        </p:nvSpPr>
        <p:spPr bwMode="auto">
          <a:xfrm>
            <a:off x="4279900" y="1409700"/>
            <a:ext cx="279400" cy="27432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0968" name="Line 10">
            <a:extLst>
              <a:ext uri="{FF2B5EF4-FFF2-40B4-BE49-F238E27FC236}">
                <a16:creationId xmlns:a16="http://schemas.microsoft.com/office/drawing/2014/main" id="{3DC9617C-F8B4-0348-D379-21ABD3458F72}"/>
              </a:ext>
            </a:extLst>
          </p:cNvPr>
          <p:cNvSpPr>
            <a:spLocks noChangeShapeType="1"/>
          </p:cNvSpPr>
          <p:nvPr/>
        </p:nvSpPr>
        <p:spPr bwMode="auto">
          <a:xfrm>
            <a:off x="4279900" y="17145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0969" name="Line 11">
            <a:extLst>
              <a:ext uri="{FF2B5EF4-FFF2-40B4-BE49-F238E27FC236}">
                <a16:creationId xmlns:a16="http://schemas.microsoft.com/office/drawing/2014/main" id="{99822B6D-A104-0791-C22D-765470F1634F}"/>
              </a:ext>
            </a:extLst>
          </p:cNvPr>
          <p:cNvSpPr>
            <a:spLocks noChangeShapeType="1"/>
          </p:cNvSpPr>
          <p:nvPr/>
        </p:nvSpPr>
        <p:spPr bwMode="auto">
          <a:xfrm>
            <a:off x="4267200" y="20193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0970" name="Line 12">
            <a:extLst>
              <a:ext uri="{FF2B5EF4-FFF2-40B4-BE49-F238E27FC236}">
                <a16:creationId xmlns:a16="http://schemas.microsoft.com/office/drawing/2014/main" id="{A209B9BB-29C1-372A-D06E-E1923555E105}"/>
              </a:ext>
            </a:extLst>
          </p:cNvPr>
          <p:cNvSpPr>
            <a:spLocks noChangeShapeType="1"/>
          </p:cNvSpPr>
          <p:nvPr/>
        </p:nvSpPr>
        <p:spPr bwMode="auto">
          <a:xfrm>
            <a:off x="4279900" y="23114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0971" name="Text Box 13">
            <a:extLst>
              <a:ext uri="{FF2B5EF4-FFF2-40B4-BE49-F238E27FC236}">
                <a16:creationId xmlns:a16="http://schemas.microsoft.com/office/drawing/2014/main" id="{24544DEF-9631-949F-80D8-026345E896C2}"/>
              </a:ext>
            </a:extLst>
          </p:cNvPr>
          <p:cNvSpPr txBox="1">
            <a:spLocks noChangeArrowheads="1"/>
          </p:cNvSpPr>
          <p:nvPr/>
        </p:nvSpPr>
        <p:spPr bwMode="auto">
          <a:xfrm>
            <a:off x="4264025" y="2020888"/>
            <a:ext cx="312738"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FF"/>
              </a:buClr>
            </a:pPr>
            <a:r>
              <a:rPr lang="en-GB" altLang="en-US" sz="1400" b="1">
                <a:solidFill>
                  <a:srgbClr val="FF00FF"/>
                </a:solidFill>
                <a:cs typeface="Arial" panose="020B0604020202020204" pitchFamily="34" charset="0"/>
              </a:rPr>
              <a:t>N</a:t>
            </a:r>
          </a:p>
        </p:txBody>
      </p:sp>
      <p:sp>
        <p:nvSpPr>
          <p:cNvPr id="40972" name="Rectangle 14">
            <a:extLst>
              <a:ext uri="{FF2B5EF4-FFF2-40B4-BE49-F238E27FC236}">
                <a16:creationId xmlns:a16="http://schemas.microsoft.com/office/drawing/2014/main" id="{A80BAD96-BF19-AED3-3A0B-39D45F5B5520}"/>
              </a:ext>
            </a:extLst>
          </p:cNvPr>
          <p:cNvSpPr>
            <a:spLocks noChangeArrowheads="1"/>
          </p:cNvSpPr>
          <p:nvPr/>
        </p:nvSpPr>
        <p:spPr bwMode="auto">
          <a:xfrm>
            <a:off x="5295900" y="1435100"/>
            <a:ext cx="279400" cy="27178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0973" name="Line 15">
            <a:extLst>
              <a:ext uri="{FF2B5EF4-FFF2-40B4-BE49-F238E27FC236}">
                <a16:creationId xmlns:a16="http://schemas.microsoft.com/office/drawing/2014/main" id="{174E949A-39B5-26EA-DD29-05DA99591EF6}"/>
              </a:ext>
            </a:extLst>
          </p:cNvPr>
          <p:cNvSpPr>
            <a:spLocks noChangeShapeType="1"/>
          </p:cNvSpPr>
          <p:nvPr/>
        </p:nvSpPr>
        <p:spPr bwMode="auto">
          <a:xfrm>
            <a:off x="5295900" y="17399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0974" name="Line 16">
            <a:extLst>
              <a:ext uri="{FF2B5EF4-FFF2-40B4-BE49-F238E27FC236}">
                <a16:creationId xmlns:a16="http://schemas.microsoft.com/office/drawing/2014/main" id="{2875C00E-993D-A426-5110-6A1FE6F3538C}"/>
              </a:ext>
            </a:extLst>
          </p:cNvPr>
          <p:cNvSpPr>
            <a:spLocks noChangeShapeType="1"/>
          </p:cNvSpPr>
          <p:nvPr/>
        </p:nvSpPr>
        <p:spPr bwMode="auto">
          <a:xfrm>
            <a:off x="5283200" y="20447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0975" name="Line 17">
            <a:extLst>
              <a:ext uri="{FF2B5EF4-FFF2-40B4-BE49-F238E27FC236}">
                <a16:creationId xmlns:a16="http://schemas.microsoft.com/office/drawing/2014/main" id="{6BFE700A-441F-AC28-8EF5-9A01154065FF}"/>
              </a:ext>
            </a:extLst>
          </p:cNvPr>
          <p:cNvSpPr>
            <a:spLocks noChangeShapeType="1"/>
          </p:cNvSpPr>
          <p:nvPr/>
        </p:nvSpPr>
        <p:spPr bwMode="auto">
          <a:xfrm>
            <a:off x="5295900" y="23368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0976" name="Text Box 18">
            <a:extLst>
              <a:ext uri="{FF2B5EF4-FFF2-40B4-BE49-F238E27FC236}">
                <a16:creationId xmlns:a16="http://schemas.microsoft.com/office/drawing/2014/main" id="{DB10D7F6-D415-BE59-A77A-92796733DD0F}"/>
              </a:ext>
            </a:extLst>
          </p:cNvPr>
          <p:cNvSpPr txBox="1">
            <a:spLocks noChangeArrowheads="1"/>
          </p:cNvSpPr>
          <p:nvPr/>
        </p:nvSpPr>
        <p:spPr bwMode="auto">
          <a:xfrm>
            <a:off x="5292725" y="2046288"/>
            <a:ext cx="312738"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FF"/>
              </a:buClr>
            </a:pPr>
            <a:r>
              <a:rPr lang="en-GB" altLang="en-US" sz="1400" b="1">
                <a:solidFill>
                  <a:srgbClr val="FF00FF"/>
                </a:solidFill>
                <a:cs typeface="Arial" panose="020B0604020202020204" pitchFamily="34" charset="0"/>
              </a:rPr>
              <a:t>N</a:t>
            </a:r>
          </a:p>
        </p:txBody>
      </p:sp>
      <p:sp>
        <p:nvSpPr>
          <p:cNvPr id="40977" name="Text Box 19">
            <a:extLst>
              <a:ext uri="{FF2B5EF4-FFF2-40B4-BE49-F238E27FC236}">
                <a16:creationId xmlns:a16="http://schemas.microsoft.com/office/drawing/2014/main" id="{98C92698-038E-057B-FFA0-AE60CC2E44B1}"/>
              </a:ext>
            </a:extLst>
          </p:cNvPr>
          <p:cNvSpPr txBox="1">
            <a:spLocks noChangeArrowheads="1"/>
          </p:cNvSpPr>
          <p:nvPr/>
        </p:nvSpPr>
        <p:spPr bwMode="auto">
          <a:xfrm>
            <a:off x="6118225" y="2654300"/>
            <a:ext cx="2797175" cy="1755775"/>
          </a:xfrm>
          <a:prstGeom prst="rect">
            <a:avLst/>
          </a:pr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0000FF"/>
              </a:buClr>
              <a:buFont typeface="Comic Sans MS" panose="030F0902030302020204" pitchFamily="66" charset="0"/>
              <a:buNone/>
            </a:pPr>
            <a:r>
              <a:rPr lang="en-GB" altLang="en-US" sz="1800">
                <a:solidFill>
                  <a:srgbClr val="0000FF"/>
                </a:solidFill>
                <a:cs typeface="Arial" panose="020B0604020202020204" pitchFamily="34" charset="0"/>
              </a:rPr>
              <a:t>       </a:t>
            </a:r>
            <a:r>
              <a:rPr lang="en-GB" altLang="en-US" sz="1800">
                <a:solidFill>
                  <a:srgbClr val="FF0000"/>
                </a:solidFill>
                <a:cs typeface="Arial" panose="020B0604020202020204" pitchFamily="34" charset="0"/>
              </a:rPr>
              <a:t>if (d!=0) goto L1</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            d=1;</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L1:   </a:t>
            </a:r>
            <a:r>
              <a:rPr lang="en-GB" altLang="en-US" sz="1800">
                <a:solidFill>
                  <a:srgbClr val="FF00FF"/>
                </a:solidFill>
                <a:cs typeface="Arial" panose="020B0604020202020204" pitchFamily="34" charset="0"/>
              </a:rPr>
              <a:t>if (d!=1) goto L2</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L2:</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a:t>
            </a:r>
          </a:p>
        </p:txBody>
      </p:sp>
      <p:sp>
        <p:nvSpPr>
          <p:cNvPr id="40978" name="Text Box 20">
            <a:extLst>
              <a:ext uri="{FF2B5EF4-FFF2-40B4-BE49-F238E27FC236}">
                <a16:creationId xmlns:a16="http://schemas.microsoft.com/office/drawing/2014/main" id="{7B2A4860-EED3-8B82-F56E-14BB00A3BDC2}"/>
              </a:ext>
            </a:extLst>
          </p:cNvPr>
          <p:cNvSpPr txBox="1">
            <a:spLocks noChangeArrowheads="1"/>
          </p:cNvSpPr>
          <p:nvPr/>
        </p:nvSpPr>
        <p:spPr bwMode="auto">
          <a:xfrm>
            <a:off x="4230688" y="1409700"/>
            <a:ext cx="290512"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pPr>
            <a:r>
              <a:rPr lang="en-GB" altLang="en-US" sz="1400" b="1">
                <a:solidFill>
                  <a:srgbClr val="FF0000"/>
                </a:solidFill>
                <a:cs typeface="Arial" panose="020B0604020202020204" pitchFamily="34" charset="0"/>
              </a:rPr>
              <a:t>T</a:t>
            </a:r>
          </a:p>
        </p:txBody>
      </p:sp>
      <p:sp>
        <p:nvSpPr>
          <p:cNvPr id="40979" name="Text Box 21">
            <a:extLst>
              <a:ext uri="{FF2B5EF4-FFF2-40B4-BE49-F238E27FC236}">
                <a16:creationId xmlns:a16="http://schemas.microsoft.com/office/drawing/2014/main" id="{3380FFEE-E4ED-336D-DFB8-DBE1692F7D76}"/>
              </a:ext>
            </a:extLst>
          </p:cNvPr>
          <p:cNvSpPr txBox="1">
            <a:spLocks noChangeArrowheads="1"/>
          </p:cNvSpPr>
          <p:nvPr/>
        </p:nvSpPr>
        <p:spPr bwMode="auto">
          <a:xfrm>
            <a:off x="5268913" y="1409700"/>
            <a:ext cx="312737"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pPr>
            <a:r>
              <a:rPr lang="en-GB" altLang="en-US" sz="1400" b="1">
                <a:solidFill>
                  <a:srgbClr val="FF0000"/>
                </a:solidFill>
                <a:cs typeface="Arial" panose="020B0604020202020204" pitchFamily="34" charset="0"/>
              </a:rPr>
              <a:t>N</a:t>
            </a:r>
          </a:p>
        </p:txBody>
      </p:sp>
      <p:sp>
        <p:nvSpPr>
          <p:cNvPr id="40980" name="Rectangle 24">
            <a:extLst>
              <a:ext uri="{FF2B5EF4-FFF2-40B4-BE49-F238E27FC236}">
                <a16:creationId xmlns:a16="http://schemas.microsoft.com/office/drawing/2014/main" id="{C39E3C17-D985-0AD9-80EA-AAC65A02AA46}"/>
              </a:ext>
            </a:extLst>
          </p:cNvPr>
          <p:cNvSpPr>
            <a:spLocks noChangeArrowheads="1"/>
          </p:cNvSpPr>
          <p:nvPr/>
        </p:nvSpPr>
        <p:spPr bwMode="auto">
          <a:xfrm>
            <a:off x="3567113" y="2035175"/>
            <a:ext cx="2301875" cy="309563"/>
          </a:xfrm>
          <a:prstGeom prst="rect">
            <a:avLst/>
          </a:prstGeom>
          <a:noFill/>
          <a:ln w="38100">
            <a:solidFill>
              <a:srgbClr val="FF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0981" name="Text Box 26">
            <a:extLst>
              <a:ext uri="{FF2B5EF4-FFF2-40B4-BE49-F238E27FC236}">
                <a16:creationId xmlns:a16="http://schemas.microsoft.com/office/drawing/2014/main" id="{AFBEF815-A802-7382-C240-63ED9F0983CA}"/>
              </a:ext>
            </a:extLst>
          </p:cNvPr>
          <p:cNvSpPr txBox="1">
            <a:spLocks noChangeArrowheads="1"/>
          </p:cNvSpPr>
          <p:nvPr/>
        </p:nvSpPr>
        <p:spPr bwMode="auto">
          <a:xfrm>
            <a:off x="3559175" y="1493838"/>
            <a:ext cx="700088"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rgbClr val="FF0000"/>
                </a:solidFill>
                <a:cs typeface="Arial" panose="020B0604020202020204" pitchFamily="34" charset="0"/>
              </a:rPr>
              <a:t> Row 00</a:t>
            </a:r>
            <a:r>
              <a:rPr lang="en-US" altLang="en-US" sz="1000" baseline="-25000">
                <a:solidFill>
                  <a:srgbClr val="FF0000"/>
                </a:solidFill>
                <a:cs typeface="Arial" panose="020B0604020202020204" pitchFamily="34" charset="0"/>
              </a:rPr>
              <a:t>2</a:t>
            </a:r>
            <a:endParaRPr lang="en-US" altLang="en-US" sz="1400">
              <a:solidFill>
                <a:srgbClr val="FF0000"/>
              </a:solidFill>
              <a:cs typeface="Arial" panose="020B0604020202020204" pitchFamily="34" charset="0"/>
            </a:endParaRPr>
          </a:p>
        </p:txBody>
      </p:sp>
      <p:sp>
        <p:nvSpPr>
          <p:cNvPr id="40982" name="Text Box 27">
            <a:extLst>
              <a:ext uri="{FF2B5EF4-FFF2-40B4-BE49-F238E27FC236}">
                <a16:creationId xmlns:a16="http://schemas.microsoft.com/office/drawing/2014/main" id="{8222F48A-4C2B-429E-903E-E79D05D06D14}"/>
              </a:ext>
            </a:extLst>
          </p:cNvPr>
          <p:cNvSpPr txBox="1">
            <a:spLocks noChangeArrowheads="1"/>
          </p:cNvSpPr>
          <p:nvPr/>
        </p:nvSpPr>
        <p:spPr bwMode="auto">
          <a:xfrm>
            <a:off x="3578225" y="17986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01</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0983" name="Text Box 28">
            <a:extLst>
              <a:ext uri="{FF2B5EF4-FFF2-40B4-BE49-F238E27FC236}">
                <a16:creationId xmlns:a16="http://schemas.microsoft.com/office/drawing/2014/main" id="{35FFEDC1-D675-F7E5-A97C-A353333BCA28}"/>
              </a:ext>
            </a:extLst>
          </p:cNvPr>
          <p:cNvSpPr txBox="1">
            <a:spLocks noChangeArrowheads="1"/>
          </p:cNvSpPr>
          <p:nvPr/>
        </p:nvSpPr>
        <p:spPr bwMode="auto">
          <a:xfrm>
            <a:off x="3590925" y="20653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rgbClr val="FF00FF"/>
                </a:solidFill>
                <a:cs typeface="Arial" panose="020B0604020202020204" pitchFamily="34" charset="0"/>
              </a:rPr>
              <a:t>Row 10</a:t>
            </a:r>
            <a:r>
              <a:rPr lang="en-US" altLang="en-US" sz="1000" baseline="-25000">
                <a:solidFill>
                  <a:srgbClr val="FF00FF"/>
                </a:solidFill>
                <a:cs typeface="Arial" panose="020B0604020202020204" pitchFamily="34" charset="0"/>
              </a:rPr>
              <a:t>2</a:t>
            </a:r>
            <a:endParaRPr lang="en-US" altLang="en-US" sz="1400">
              <a:solidFill>
                <a:srgbClr val="FF00FF"/>
              </a:solidFill>
              <a:cs typeface="Arial" panose="020B0604020202020204" pitchFamily="34" charset="0"/>
            </a:endParaRPr>
          </a:p>
        </p:txBody>
      </p:sp>
      <p:sp>
        <p:nvSpPr>
          <p:cNvPr id="40984" name="Text Box 29">
            <a:extLst>
              <a:ext uri="{FF2B5EF4-FFF2-40B4-BE49-F238E27FC236}">
                <a16:creationId xmlns:a16="http://schemas.microsoft.com/office/drawing/2014/main" id="{504102B1-CCD2-74F7-6A52-4B333D671EA5}"/>
              </a:ext>
            </a:extLst>
          </p:cNvPr>
          <p:cNvSpPr txBox="1">
            <a:spLocks noChangeArrowheads="1"/>
          </p:cNvSpPr>
          <p:nvPr/>
        </p:nvSpPr>
        <p:spPr bwMode="auto">
          <a:xfrm>
            <a:off x="3597275" y="235108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11</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0985" name="Text Box 30">
            <a:extLst>
              <a:ext uri="{FF2B5EF4-FFF2-40B4-BE49-F238E27FC236}">
                <a16:creationId xmlns:a16="http://schemas.microsoft.com/office/drawing/2014/main" id="{BCA974B6-C66C-126A-9E67-BEEA464FD6C8}"/>
              </a:ext>
            </a:extLst>
          </p:cNvPr>
          <p:cNvSpPr txBox="1">
            <a:spLocks noChangeArrowheads="1"/>
          </p:cNvSpPr>
          <p:nvPr/>
        </p:nvSpPr>
        <p:spPr bwMode="auto">
          <a:xfrm>
            <a:off x="3521075" y="3881438"/>
            <a:ext cx="70961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2</a:t>
            </a:r>
            <a:r>
              <a:rPr lang="en-US" altLang="en-US" sz="1000" baseline="30000">
                <a:solidFill>
                  <a:schemeClr val="tx1"/>
                </a:solidFill>
                <a:cs typeface="Arial" panose="020B0604020202020204" pitchFamily="34" charset="0"/>
              </a:rPr>
              <a:t>n</a:t>
            </a:r>
            <a:r>
              <a:rPr lang="en-US" altLang="en-US" sz="1000">
                <a:solidFill>
                  <a:schemeClr val="tx1"/>
                </a:solidFill>
                <a:cs typeface="Arial" panose="020B0604020202020204" pitchFamily="34" charset="0"/>
              </a:rPr>
              <a:t>-1</a:t>
            </a:r>
            <a:endParaRPr lang="en-US" altLang="en-US" sz="1400">
              <a:cs typeface="Arial" panose="020B0604020202020204" pitchFamily="34" charset="0"/>
            </a:endParaRPr>
          </a:p>
        </p:txBody>
      </p:sp>
      <p:sp>
        <p:nvSpPr>
          <p:cNvPr id="40986" name="Line 31">
            <a:extLst>
              <a:ext uri="{FF2B5EF4-FFF2-40B4-BE49-F238E27FC236}">
                <a16:creationId xmlns:a16="http://schemas.microsoft.com/office/drawing/2014/main" id="{832DA734-B856-9B20-8010-3DD5A260446E}"/>
              </a:ext>
            </a:extLst>
          </p:cNvPr>
          <p:cNvSpPr>
            <a:spLocks noChangeShapeType="1"/>
          </p:cNvSpPr>
          <p:nvPr/>
        </p:nvSpPr>
        <p:spPr bwMode="auto">
          <a:xfrm>
            <a:off x="2260600" y="3289300"/>
            <a:ext cx="1612900" cy="1588"/>
          </a:xfrm>
          <a:prstGeom prst="line">
            <a:avLst/>
          </a:prstGeom>
          <a:noFill/>
          <a:ln w="2844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87" name="Rectangle 32">
            <a:extLst>
              <a:ext uri="{FF2B5EF4-FFF2-40B4-BE49-F238E27FC236}">
                <a16:creationId xmlns:a16="http://schemas.microsoft.com/office/drawing/2014/main" id="{A9292E80-871A-D1C1-A812-6163BFBC90FA}"/>
              </a:ext>
            </a:extLst>
          </p:cNvPr>
          <p:cNvSpPr>
            <a:spLocks noChangeArrowheads="1"/>
          </p:cNvSpPr>
          <p:nvPr/>
        </p:nvSpPr>
        <p:spPr bwMode="auto">
          <a:xfrm>
            <a:off x="1333500" y="2425700"/>
            <a:ext cx="1790700" cy="419100"/>
          </a:xfrm>
          <a:prstGeom prst="rect">
            <a:avLst/>
          </a:prstGeom>
          <a:solidFill>
            <a:srgbClr val="BBE0E3"/>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a:lnSpc>
                <a:spcPct val="100000"/>
              </a:lnSpc>
            </a:pPr>
            <a:r>
              <a:rPr lang="en-GB" altLang="en-US">
                <a:solidFill>
                  <a:srgbClr val="FF00FF"/>
                </a:solidFill>
              </a:rPr>
              <a:t>000000010</a:t>
            </a:r>
          </a:p>
        </p:txBody>
      </p:sp>
      <p:sp>
        <p:nvSpPr>
          <p:cNvPr id="40988" name="Rectangle 33">
            <a:extLst>
              <a:ext uri="{FF2B5EF4-FFF2-40B4-BE49-F238E27FC236}">
                <a16:creationId xmlns:a16="http://schemas.microsoft.com/office/drawing/2014/main" id="{C5DC3C13-E91A-18B9-E485-E896B9E686A6}"/>
              </a:ext>
            </a:extLst>
          </p:cNvPr>
          <p:cNvSpPr>
            <a:spLocks noChangeArrowheads="1"/>
          </p:cNvSpPr>
          <p:nvPr/>
        </p:nvSpPr>
        <p:spPr bwMode="auto">
          <a:xfrm>
            <a:off x="215900" y="2425700"/>
            <a:ext cx="1219200" cy="419100"/>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t>00…000</a:t>
            </a:r>
          </a:p>
        </p:txBody>
      </p:sp>
      <p:sp>
        <p:nvSpPr>
          <p:cNvPr id="40989" name="AutoShape 34">
            <a:extLst>
              <a:ext uri="{FF2B5EF4-FFF2-40B4-BE49-F238E27FC236}">
                <a16:creationId xmlns:a16="http://schemas.microsoft.com/office/drawing/2014/main" id="{80B5A4E1-1A6D-4C12-C236-C1439503C54F}"/>
              </a:ext>
            </a:extLst>
          </p:cNvPr>
          <p:cNvSpPr>
            <a:spLocks/>
          </p:cNvSpPr>
          <p:nvPr/>
        </p:nvSpPr>
        <p:spPr bwMode="auto">
          <a:xfrm rot="-5400000">
            <a:off x="2076450" y="2400300"/>
            <a:ext cx="342900" cy="1460500"/>
          </a:xfrm>
          <a:prstGeom prst="leftBrace">
            <a:avLst>
              <a:gd name="adj1" fmla="val 35494"/>
              <a:gd name="adj2" fmla="val 50000"/>
            </a:avLst>
          </a:prstGeom>
          <a:noFill/>
          <a:ln w="936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990" name="Rectangle 35">
            <a:extLst>
              <a:ext uri="{FF2B5EF4-FFF2-40B4-BE49-F238E27FC236}">
                <a16:creationId xmlns:a16="http://schemas.microsoft.com/office/drawing/2014/main" id="{0410D4B2-E144-2B08-23A3-4735621B77B6}"/>
              </a:ext>
            </a:extLst>
          </p:cNvPr>
          <p:cNvSpPr>
            <a:spLocks noChangeArrowheads="1"/>
          </p:cNvSpPr>
          <p:nvPr/>
        </p:nvSpPr>
        <p:spPr bwMode="auto">
          <a:xfrm>
            <a:off x="2997200" y="2422525"/>
            <a:ext cx="390525" cy="422275"/>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cs typeface="Arial" panose="020B0604020202020204" pitchFamily="34" charset="0"/>
              </a:rPr>
              <a:t>00</a:t>
            </a:r>
          </a:p>
        </p:txBody>
      </p:sp>
      <p:sp>
        <p:nvSpPr>
          <p:cNvPr id="40991" name="AutoShape 36">
            <a:extLst>
              <a:ext uri="{FF2B5EF4-FFF2-40B4-BE49-F238E27FC236}">
                <a16:creationId xmlns:a16="http://schemas.microsoft.com/office/drawing/2014/main" id="{F423F5B0-2686-33D4-44C5-84E931018F8C}"/>
              </a:ext>
            </a:extLst>
          </p:cNvPr>
          <p:cNvSpPr>
            <a:spLocks/>
          </p:cNvSpPr>
          <p:nvPr/>
        </p:nvSpPr>
        <p:spPr bwMode="auto">
          <a:xfrm rot="-5400000">
            <a:off x="1736725" y="720725"/>
            <a:ext cx="152400" cy="3155950"/>
          </a:xfrm>
          <a:prstGeom prst="rightBrace">
            <a:avLst>
              <a:gd name="adj1" fmla="val 17256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992" name="Text Box 37">
            <a:extLst>
              <a:ext uri="{FF2B5EF4-FFF2-40B4-BE49-F238E27FC236}">
                <a16:creationId xmlns:a16="http://schemas.microsoft.com/office/drawing/2014/main" id="{1A43D0D8-CCFC-CC9E-AC27-9FADDC4245E8}"/>
              </a:ext>
            </a:extLst>
          </p:cNvPr>
          <p:cNvSpPr txBox="1">
            <a:spLocks noChangeArrowheads="1"/>
          </p:cNvSpPr>
          <p:nvPr/>
        </p:nvSpPr>
        <p:spPr bwMode="auto">
          <a:xfrm>
            <a:off x="1593850" y="1816100"/>
            <a:ext cx="6127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chemeClr val="tx1"/>
                </a:solidFill>
                <a:cs typeface="Arial" panose="020B0604020202020204" pitchFamily="34" charset="0"/>
              </a:rPr>
              <a:t>PC</a:t>
            </a:r>
            <a:endParaRPr lang="en-US" altLang="en-US">
              <a:cs typeface="Arial" panose="020B0604020202020204" pitchFamily="34" charset="0"/>
            </a:endParaRPr>
          </a:p>
        </p:txBody>
      </p:sp>
      <p:sp>
        <p:nvSpPr>
          <p:cNvPr id="40993" name="Rectangle 41">
            <a:extLst>
              <a:ext uri="{FF2B5EF4-FFF2-40B4-BE49-F238E27FC236}">
                <a16:creationId xmlns:a16="http://schemas.microsoft.com/office/drawing/2014/main" id="{47CBBF25-7810-0F47-BB4E-15C27B83DD72}"/>
              </a:ext>
            </a:extLst>
          </p:cNvPr>
          <p:cNvSpPr>
            <a:spLocks noChangeArrowheads="1"/>
          </p:cNvSpPr>
          <p:nvPr/>
        </p:nvSpPr>
        <p:spPr bwMode="auto">
          <a:xfrm>
            <a:off x="5216525" y="1352550"/>
            <a:ext cx="450850" cy="2871788"/>
          </a:xfrm>
          <a:prstGeom prst="rect">
            <a:avLst/>
          </a:prstGeom>
          <a:noFill/>
          <a:ln w="3810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0994" name="Slide Number Placeholder 44">
            <a:extLst>
              <a:ext uri="{FF2B5EF4-FFF2-40B4-BE49-F238E27FC236}">
                <a16:creationId xmlns:a16="http://schemas.microsoft.com/office/drawing/2014/main" id="{C12C3283-4456-8E9A-5A05-28E72713203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1A2942DB-FB70-2344-B5B1-38BA3FBE5110}" type="slidenum">
              <a:rPr lang="en-GB" altLang="en-US" sz="1400">
                <a:solidFill>
                  <a:srgbClr val="000000"/>
                </a:solidFill>
                <a:latin typeface="Arial  " charset="0"/>
              </a:rPr>
              <a:pPr/>
              <a:t>39</a:t>
            </a:fld>
            <a:r>
              <a:rPr lang="en-GB" altLang="en-US" sz="1400">
                <a:solidFill>
                  <a:srgbClr val="000000"/>
                </a:solidFill>
                <a:latin typeface="Arial  " charset="0"/>
              </a:rPr>
              <a:t> </a:t>
            </a:r>
          </a:p>
        </p:txBody>
      </p:sp>
      <p:sp>
        <p:nvSpPr>
          <p:cNvPr id="40995" name="TextBox 41">
            <a:extLst>
              <a:ext uri="{FF2B5EF4-FFF2-40B4-BE49-F238E27FC236}">
                <a16:creationId xmlns:a16="http://schemas.microsoft.com/office/drawing/2014/main" id="{5CC62785-38AF-5A0A-4221-E0EDAE60EA67}"/>
              </a:ext>
            </a:extLst>
          </p:cNvPr>
          <p:cNvSpPr txBox="1">
            <a:spLocks noChangeArrowheads="1"/>
          </p:cNvSpPr>
          <p:nvPr/>
        </p:nvSpPr>
        <p:spPr bwMode="auto">
          <a:xfrm>
            <a:off x="273050" y="5422900"/>
            <a:ext cx="7753350"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sz="1800">
                <a:solidFill>
                  <a:srgbClr val="0000FF"/>
                </a:solidFill>
              </a:rPr>
              <a:t>Use prior branch outcomes to select which table to use. </a:t>
            </a:r>
            <a:r>
              <a:rPr lang="en-CA" altLang="en-US" sz="1800">
                <a:solidFill>
                  <a:schemeClr val="tx1"/>
                </a:solidFill>
              </a:rPr>
              <a:t>Prior branch outcome is like “checking weather” before deciding which bus to.  </a:t>
            </a:r>
            <a:r>
              <a:rPr lang="en-CA" altLang="en-US" sz="1800">
                <a:solidFill>
                  <a:srgbClr val="00B050"/>
                </a:solidFill>
              </a:rPr>
              <a:t>After actual branch outcome is known, update entry used to make prediction with actual branch outcome information.</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D3F548D-7B5A-201F-8F6C-04CFF3DDA546}"/>
              </a:ext>
            </a:extLst>
          </p:cNvPr>
          <p:cNvSpPr>
            <a:spLocks noGrp="1" noChangeArrowheads="1"/>
          </p:cNvSpPr>
          <p:nvPr>
            <p:ph type="title"/>
          </p:nvPr>
        </p:nvSpPr>
        <p:spPr>
          <a:xfrm>
            <a:off x="685800" y="0"/>
            <a:ext cx="7772400" cy="8763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a:latin typeface="Arial" panose="020B0604020202020204" pitchFamily="34" charset="0"/>
                <a:cs typeface="Arial" panose="020B0604020202020204" pitchFamily="34" charset="0"/>
              </a:rPr>
              <a:t>1-Bit Predictor with 1-Bit of </a:t>
            </a:r>
            <a:r>
              <a:rPr lang="en-GB" altLang="en-US" sz="2800" u="sng">
                <a:solidFill>
                  <a:srgbClr val="0000FF"/>
                </a:solidFill>
                <a:latin typeface="Arial" panose="020B0604020202020204" pitchFamily="34" charset="0"/>
                <a:cs typeface="Arial" panose="020B0604020202020204" pitchFamily="34" charset="0"/>
              </a:rPr>
              <a:t>Correlation</a:t>
            </a:r>
            <a:r>
              <a:rPr lang="en-GB" altLang="en-US" sz="2800">
                <a:latin typeface="Arial" panose="020B0604020202020204" pitchFamily="34" charset="0"/>
                <a:cs typeface="Arial" panose="020B0604020202020204" pitchFamily="34" charset="0"/>
              </a:rPr>
              <a:t>:</a:t>
            </a:r>
            <a:endParaRPr lang="en-GB" altLang="en-US">
              <a:latin typeface="Arial" panose="020B0604020202020204" pitchFamily="34" charset="0"/>
              <a:cs typeface="Arial" panose="020B0604020202020204" pitchFamily="34" charset="0"/>
            </a:endParaRPr>
          </a:p>
        </p:txBody>
      </p:sp>
      <p:sp>
        <p:nvSpPr>
          <p:cNvPr id="41987" name="Text Box 3">
            <a:extLst>
              <a:ext uri="{FF2B5EF4-FFF2-40B4-BE49-F238E27FC236}">
                <a16:creationId xmlns:a16="http://schemas.microsoft.com/office/drawing/2014/main" id="{7D19CB57-441B-CE7A-A2C7-2D95256B5937}"/>
              </a:ext>
            </a:extLst>
          </p:cNvPr>
          <p:cNvSpPr txBox="1">
            <a:spLocks noChangeArrowheads="1"/>
          </p:cNvSpPr>
          <p:nvPr/>
        </p:nvSpPr>
        <p:spPr bwMode="auto">
          <a:xfrm>
            <a:off x="217488" y="4376738"/>
            <a:ext cx="3494087"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Was most recent branch taken? </a:t>
            </a:r>
            <a:r>
              <a:rPr lang="en-GB" altLang="en-US" sz="1800">
                <a:solidFill>
                  <a:schemeClr val="accent2"/>
                </a:solidFill>
                <a:cs typeface="Arial" panose="020B0604020202020204" pitchFamily="34" charset="0"/>
              </a:rPr>
              <a:t>(assume we start with</a:t>
            </a:r>
          </a:p>
          <a:p>
            <a:pPr>
              <a:lnSpc>
                <a:spcPct val="100000"/>
              </a:lnSpc>
              <a:buFont typeface="Comic Sans MS" panose="030F0902030302020204" pitchFamily="66" charset="0"/>
              <a:buNone/>
            </a:pPr>
            <a:r>
              <a:rPr lang="en-GB" altLang="en-US" sz="1800">
                <a:solidFill>
                  <a:schemeClr val="accent2"/>
                </a:solidFill>
                <a:cs typeface="Arial" panose="020B0604020202020204" pitchFamily="34" charset="0"/>
              </a:rPr>
              <a:t>answer = “no” for first branch)</a:t>
            </a:r>
            <a:endParaRPr lang="en-GB" altLang="en-US">
              <a:solidFill>
                <a:schemeClr val="accent2"/>
              </a:solidFill>
              <a:cs typeface="Arial" panose="020B0604020202020204" pitchFamily="34" charset="0"/>
            </a:endParaRPr>
          </a:p>
        </p:txBody>
      </p:sp>
      <p:sp>
        <p:nvSpPr>
          <p:cNvPr id="41988" name="Line 4">
            <a:extLst>
              <a:ext uri="{FF2B5EF4-FFF2-40B4-BE49-F238E27FC236}">
                <a16:creationId xmlns:a16="http://schemas.microsoft.com/office/drawing/2014/main" id="{E61D12C5-5A21-0112-8BF8-BE8D8DA03C2C}"/>
              </a:ext>
            </a:extLst>
          </p:cNvPr>
          <p:cNvSpPr>
            <a:spLocks noChangeShapeType="1"/>
          </p:cNvSpPr>
          <p:nvPr/>
        </p:nvSpPr>
        <p:spPr bwMode="auto">
          <a:xfrm>
            <a:off x="3581400" y="5067300"/>
            <a:ext cx="13589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1989" name="AutoShape 5">
            <a:extLst>
              <a:ext uri="{FF2B5EF4-FFF2-40B4-BE49-F238E27FC236}">
                <a16:creationId xmlns:a16="http://schemas.microsoft.com/office/drawing/2014/main" id="{5951A2C4-6F83-9D97-CA39-E2B49EA993B0}"/>
              </a:ext>
            </a:extLst>
          </p:cNvPr>
          <p:cNvSpPr>
            <a:spLocks/>
          </p:cNvSpPr>
          <p:nvPr/>
        </p:nvSpPr>
        <p:spPr bwMode="auto">
          <a:xfrm rot="-5400000">
            <a:off x="4887913" y="4102100"/>
            <a:ext cx="127000" cy="1282700"/>
          </a:xfrm>
          <a:prstGeom prst="leftBrace">
            <a:avLst>
              <a:gd name="adj1" fmla="val 84167"/>
              <a:gd name="adj2" fmla="val 50000"/>
            </a:avLst>
          </a:prstGeom>
          <a:noFill/>
          <a:ln w="936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1990" name="Line 6">
            <a:extLst>
              <a:ext uri="{FF2B5EF4-FFF2-40B4-BE49-F238E27FC236}">
                <a16:creationId xmlns:a16="http://schemas.microsoft.com/office/drawing/2014/main" id="{9ECEDB19-EA34-9A63-567C-CBF43752B313}"/>
              </a:ext>
            </a:extLst>
          </p:cNvPr>
          <p:cNvSpPr>
            <a:spLocks noChangeShapeType="1"/>
          </p:cNvSpPr>
          <p:nvPr/>
        </p:nvSpPr>
        <p:spPr bwMode="auto">
          <a:xfrm flipV="1">
            <a:off x="4940300" y="4786313"/>
            <a:ext cx="14288" cy="282575"/>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991" name="Text Box 7">
            <a:extLst>
              <a:ext uri="{FF2B5EF4-FFF2-40B4-BE49-F238E27FC236}">
                <a16:creationId xmlns:a16="http://schemas.microsoft.com/office/drawing/2014/main" id="{32B0A303-3168-634F-9EE0-A2920F0ABF26}"/>
              </a:ext>
            </a:extLst>
          </p:cNvPr>
          <p:cNvSpPr txBox="1">
            <a:spLocks noChangeArrowheads="1"/>
          </p:cNvSpPr>
          <p:nvPr/>
        </p:nvSpPr>
        <p:spPr bwMode="auto">
          <a:xfrm>
            <a:off x="4178300" y="4211638"/>
            <a:ext cx="5254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no</a:t>
            </a:r>
          </a:p>
        </p:txBody>
      </p:sp>
      <p:sp>
        <p:nvSpPr>
          <p:cNvPr id="41992" name="Text Box 8">
            <a:extLst>
              <a:ext uri="{FF2B5EF4-FFF2-40B4-BE49-F238E27FC236}">
                <a16:creationId xmlns:a16="http://schemas.microsoft.com/office/drawing/2014/main" id="{4834F6D6-BB39-0F09-C2E5-784C6A5B024F}"/>
              </a:ext>
            </a:extLst>
          </p:cNvPr>
          <p:cNvSpPr txBox="1">
            <a:spLocks noChangeArrowheads="1"/>
          </p:cNvSpPr>
          <p:nvPr/>
        </p:nvSpPr>
        <p:spPr bwMode="auto">
          <a:xfrm>
            <a:off x="5129213" y="4211638"/>
            <a:ext cx="6604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yes</a:t>
            </a:r>
          </a:p>
        </p:txBody>
      </p:sp>
      <p:sp>
        <p:nvSpPr>
          <p:cNvPr id="41993" name="Rectangle 9">
            <a:extLst>
              <a:ext uri="{FF2B5EF4-FFF2-40B4-BE49-F238E27FC236}">
                <a16:creationId xmlns:a16="http://schemas.microsoft.com/office/drawing/2014/main" id="{6BE3DDF6-56C3-498C-ABED-0DC0A1F95DBB}"/>
              </a:ext>
            </a:extLst>
          </p:cNvPr>
          <p:cNvSpPr>
            <a:spLocks noChangeArrowheads="1"/>
          </p:cNvSpPr>
          <p:nvPr/>
        </p:nvSpPr>
        <p:spPr bwMode="auto">
          <a:xfrm>
            <a:off x="4279900" y="1409700"/>
            <a:ext cx="279400" cy="27432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1994" name="Line 10">
            <a:extLst>
              <a:ext uri="{FF2B5EF4-FFF2-40B4-BE49-F238E27FC236}">
                <a16:creationId xmlns:a16="http://schemas.microsoft.com/office/drawing/2014/main" id="{A619AE4B-7330-D0CF-7B93-7441E1C03EC4}"/>
              </a:ext>
            </a:extLst>
          </p:cNvPr>
          <p:cNvSpPr>
            <a:spLocks noChangeShapeType="1"/>
          </p:cNvSpPr>
          <p:nvPr/>
        </p:nvSpPr>
        <p:spPr bwMode="auto">
          <a:xfrm>
            <a:off x="4279900" y="17145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1995" name="Line 11">
            <a:extLst>
              <a:ext uri="{FF2B5EF4-FFF2-40B4-BE49-F238E27FC236}">
                <a16:creationId xmlns:a16="http://schemas.microsoft.com/office/drawing/2014/main" id="{2DFFEAD0-C3CF-AA7E-D23B-70B336270E42}"/>
              </a:ext>
            </a:extLst>
          </p:cNvPr>
          <p:cNvSpPr>
            <a:spLocks noChangeShapeType="1"/>
          </p:cNvSpPr>
          <p:nvPr/>
        </p:nvSpPr>
        <p:spPr bwMode="auto">
          <a:xfrm>
            <a:off x="4267200" y="20193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1996" name="Line 12">
            <a:extLst>
              <a:ext uri="{FF2B5EF4-FFF2-40B4-BE49-F238E27FC236}">
                <a16:creationId xmlns:a16="http://schemas.microsoft.com/office/drawing/2014/main" id="{8DF641A1-999C-6B20-A56A-125EF1E156AB}"/>
              </a:ext>
            </a:extLst>
          </p:cNvPr>
          <p:cNvSpPr>
            <a:spLocks noChangeShapeType="1"/>
          </p:cNvSpPr>
          <p:nvPr/>
        </p:nvSpPr>
        <p:spPr bwMode="auto">
          <a:xfrm>
            <a:off x="4279900" y="23114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1997" name="Text Box 13">
            <a:extLst>
              <a:ext uri="{FF2B5EF4-FFF2-40B4-BE49-F238E27FC236}">
                <a16:creationId xmlns:a16="http://schemas.microsoft.com/office/drawing/2014/main" id="{15F4E535-23D0-2355-BEAD-7D64D28BA2EA}"/>
              </a:ext>
            </a:extLst>
          </p:cNvPr>
          <p:cNvSpPr txBox="1">
            <a:spLocks noChangeArrowheads="1"/>
          </p:cNvSpPr>
          <p:nvPr/>
        </p:nvSpPr>
        <p:spPr bwMode="auto">
          <a:xfrm>
            <a:off x="4216400" y="2020888"/>
            <a:ext cx="420688"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FF"/>
              </a:buClr>
            </a:pPr>
            <a:r>
              <a:rPr lang="en-GB" altLang="en-US" sz="1400" b="1">
                <a:solidFill>
                  <a:srgbClr val="FF00FF"/>
                </a:solidFill>
                <a:cs typeface="Arial" panose="020B0604020202020204" pitchFamily="34" charset="0"/>
              </a:rPr>
              <a:t>NT</a:t>
            </a:r>
          </a:p>
        </p:txBody>
      </p:sp>
      <p:sp>
        <p:nvSpPr>
          <p:cNvPr id="41998" name="Rectangle 14">
            <a:extLst>
              <a:ext uri="{FF2B5EF4-FFF2-40B4-BE49-F238E27FC236}">
                <a16:creationId xmlns:a16="http://schemas.microsoft.com/office/drawing/2014/main" id="{8E96BC6F-D5BB-1164-30CE-425832B66D5C}"/>
              </a:ext>
            </a:extLst>
          </p:cNvPr>
          <p:cNvSpPr>
            <a:spLocks noChangeArrowheads="1"/>
          </p:cNvSpPr>
          <p:nvPr/>
        </p:nvSpPr>
        <p:spPr bwMode="auto">
          <a:xfrm>
            <a:off x="5295900" y="1435100"/>
            <a:ext cx="279400" cy="27178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1999" name="Line 15">
            <a:extLst>
              <a:ext uri="{FF2B5EF4-FFF2-40B4-BE49-F238E27FC236}">
                <a16:creationId xmlns:a16="http://schemas.microsoft.com/office/drawing/2014/main" id="{84D5A22A-79CE-AE15-47DB-E26F8CDED785}"/>
              </a:ext>
            </a:extLst>
          </p:cNvPr>
          <p:cNvSpPr>
            <a:spLocks noChangeShapeType="1"/>
          </p:cNvSpPr>
          <p:nvPr/>
        </p:nvSpPr>
        <p:spPr bwMode="auto">
          <a:xfrm>
            <a:off x="5295900" y="17399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2000" name="Line 16">
            <a:extLst>
              <a:ext uri="{FF2B5EF4-FFF2-40B4-BE49-F238E27FC236}">
                <a16:creationId xmlns:a16="http://schemas.microsoft.com/office/drawing/2014/main" id="{E65F96DB-E099-693F-974A-04CF8DC148BE}"/>
              </a:ext>
            </a:extLst>
          </p:cNvPr>
          <p:cNvSpPr>
            <a:spLocks noChangeShapeType="1"/>
          </p:cNvSpPr>
          <p:nvPr/>
        </p:nvSpPr>
        <p:spPr bwMode="auto">
          <a:xfrm>
            <a:off x="5283200" y="20447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2001" name="Line 17">
            <a:extLst>
              <a:ext uri="{FF2B5EF4-FFF2-40B4-BE49-F238E27FC236}">
                <a16:creationId xmlns:a16="http://schemas.microsoft.com/office/drawing/2014/main" id="{80A6CDAE-F9AE-6FC2-4652-E22C33B350AC}"/>
              </a:ext>
            </a:extLst>
          </p:cNvPr>
          <p:cNvSpPr>
            <a:spLocks noChangeShapeType="1"/>
          </p:cNvSpPr>
          <p:nvPr/>
        </p:nvSpPr>
        <p:spPr bwMode="auto">
          <a:xfrm>
            <a:off x="5295900" y="23368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2002" name="Text Box 18">
            <a:extLst>
              <a:ext uri="{FF2B5EF4-FFF2-40B4-BE49-F238E27FC236}">
                <a16:creationId xmlns:a16="http://schemas.microsoft.com/office/drawing/2014/main" id="{1C4DC45B-814A-76D3-0138-FF700EBE29D6}"/>
              </a:ext>
            </a:extLst>
          </p:cNvPr>
          <p:cNvSpPr txBox="1">
            <a:spLocks noChangeArrowheads="1"/>
          </p:cNvSpPr>
          <p:nvPr/>
        </p:nvSpPr>
        <p:spPr bwMode="auto">
          <a:xfrm>
            <a:off x="5245100" y="2046288"/>
            <a:ext cx="420688"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FF"/>
              </a:buClr>
            </a:pPr>
            <a:r>
              <a:rPr lang="en-GB" altLang="en-US" sz="1400" b="1">
                <a:solidFill>
                  <a:srgbClr val="FF00FF"/>
                </a:solidFill>
                <a:cs typeface="Arial" panose="020B0604020202020204" pitchFamily="34" charset="0"/>
              </a:rPr>
              <a:t>NT</a:t>
            </a:r>
          </a:p>
        </p:txBody>
      </p:sp>
      <p:sp>
        <p:nvSpPr>
          <p:cNvPr id="42003" name="Text Box 19">
            <a:extLst>
              <a:ext uri="{FF2B5EF4-FFF2-40B4-BE49-F238E27FC236}">
                <a16:creationId xmlns:a16="http://schemas.microsoft.com/office/drawing/2014/main" id="{D6F661C8-73BE-D91B-6DCA-82E92829ED59}"/>
              </a:ext>
            </a:extLst>
          </p:cNvPr>
          <p:cNvSpPr txBox="1">
            <a:spLocks noChangeArrowheads="1"/>
          </p:cNvSpPr>
          <p:nvPr/>
        </p:nvSpPr>
        <p:spPr bwMode="auto">
          <a:xfrm>
            <a:off x="6080125" y="2062163"/>
            <a:ext cx="2797175" cy="1755775"/>
          </a:xfrm>
          <a:prstGeom prst="rect">
            <a:avLst/>
          </a:pr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0000FF"/>
              </a:buClr>
              <a:buFont typeface="Comic Sans MS" panose="030F0902030302020204" pitchFamily="66" charset="0"/>
              <a:buNone/>
            </a:pPr>
            <a:r>
              <a:rPr lang="en-GB" altLang="en-US" sz="1800">
                <a:solidFill>
                  <a:srgbClr val="0000FF"/>
                </a:solidFill>
                <a:cs typeface="Arial" panose="020B0604020202020204" pitchFamily="34" charset="0"/>
              </a:rPr>
              <a:t>        </a:t>
            </a:r>
            <a:r>
              <a:rPr lang="en-GB" altLang="en-US" sz="1800">
                <a:solidFill>
                  <a:srgbClr val="FF0000"/>
                </a:solidFill>
                <a:cs typeface="Arial" panose="020B0604020202020204" pitchFamily="34" charset="0"/>
              </a:rPr>
              <a:t>if (d!=0) goto L1;//b1</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             d=1;</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L1:   </a:t>
            </a:r>
            <a:r>
              <a:rPr lang="en-GB" altLang="en-US" sz="1800">
                <a:solidFill>
                  <a:srgbClr val="FF00FF"/>
                </a:solidFill>
                <a:cs typeface="Arial" panose="020B0604020202020204" pitchFamily="34" charset="0"/>
              </a:rPr>
              <a:t>if (d!=1) goto L2;//b2</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L2:</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a:t>
            </a:r>
          </a:p>
        </p:txBody>
      </p:sp>
      <p:sp>
        <p:nvSpPr>
          <p:cNvPr id="42004" name="Text Box 20">
            <a:extLst>
              <a:ext uri="{FF2B5EF4-FFF2-40B4-BE49-F238E27FC236}">
                <a16:creationId xmlns:a16="http://schemas.microsoft.com/office/drawing/2014/main" id="{127BAFD6-D0DE-878F-616B-06F5CBBA85A6}"/>
              </a:ext>
            </a:extLst>
          </p:cNvPr>
          <p:cNvSpPr txBox="1">
            <a:spLocks noChangeArrowheads="1"/>
          </p:cNvSpPr>
          <p:nvPr/>
        </p:nvSpPr>
        <p:spPr bwMode="auto">
          <a:xfrm>
            <a:off x="4230688" y="1409700"/>
            <a:ext cx="420687"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pPr>
            <a:r>
              <a:rPr lang="en-GB" altLang="en-US" sz="1400" b="1">
                <a:solidFill>
                  <a:srgbClr val="FF0000"/>
                </a:solidFill>
                <a:cs typeface="Arial" panose="020B0604020202020204" pitchFamily="34" charset="0"/>
              </a:rPr>
              <a:t>NT</a:t>
            </a:r>
          </a:p>
        </p:txBody>
      </p:sp>
      <p:sp>
        <p:nvSpPr>
          <p:cNvPr id="42005" name="Text Box 21">
            <a:extLst>
              <a:ext uri="{FF2B5EF4-FFF2-40B4-BE49-F238E27FC236}">
                <a16:creationId xmlns:a16="http://schemas.microsoft.com/office/drawing/2014/main" id="{941DA515-C7C0-231D-0A49-1C457F8029D3}"/>
              </a:ext>
            </a:extLst>
          </p:cNvPr>
          <p:cNvSpPr txBox="1">
            <a:spLocks noChangeArrowheads="1"/>
          </p:cNvSpPr>
          <p:nvPr/>
        </p:nvSpPr>
        <p:spPr bwMode="auto">
          <a:xfrm>
            <a:off x="5221288" y="1409700"/>
            <a:ext cx="420687"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pPr>
            <a:r>
              <a:rPr lang="en-GB" altLang="en-US" sz="1400" b="1">
                <a:solidFill>
                  <a:srgbClr val="FF0000"/>
                </a:solidFill>
                <a:cs typeface="Arial" panose="020B0604020202020204" pitchFamily="34" charset="0"/>
              </a:rPr>
              <a:t>NT</a:t>
            </a:r>
          </a:p>
        </p:txBody>
      </p:sp>
      <p:sp>
        <p:nvSpPr>
          <p:cNvPr id="42006" name="Text Box 22">
            <a:extLst>
              <a:ext uri="{FF2B5EF4-FFF2-40B4-BE49-F238E27FC236}">
                <a16:creationId xmlns:a16="http://schemas.microsoft.com/office/drawing/2014/main" id="{87924ACC-830A-5EB3-06C1-9302444CA65A}"/>
              </a:ext>
            </a:extLst>
          </p:cNvPr>
          <p:cNvSpPr txBox="1">
            <a:spLocks noChangeArrowheads="1"/>
          </p:cNvSpPr>
          <p:nvPr/>
        </p:nvSpPr>
        <p:spPr bwMode="auto">
          <a:xfrm>
            <a:off x="174625" y="969963"/>
            <a:ext cx="2151063" cy="833437"/>
          </a:xfrm>
          <a:prstGeom prst="rect">
            <a:avLst/>
          </a:pr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pass 1: d=2</a:t>
            </a:r>
          </a:p>
          <a:p>
            <a:pPr>
              <a:lnSpc>
                <a:spcPct val="100000"/>
              </a:lnSpc>
              <a:buFont typeface="Comic Sans MS" panose="030F0902030302020204" pitchFamily="66" charset="0"/>
              <a:buNone/>
            </a:pPr>
            <a:r>
              <a:rPr lang="en-GB" altLang="en-US">
                <a:solidFill>
                  <a:srgbClr val="000000"/>
                </a:solidFill>
                <a:cs typeface="Arial" panose="020B0604020202020204" pitchFamily="34" charset="0"/>
              </a:rPr>
              <a:t>(predicting b1)</a:t>
            </a:r>
          </a:p>
        </p:txBody>
      </p:sp>
      <p:sp>
        <p:nvSpPr>
          <p:cNvPr id="42007" name="Text Box 23">
            <a:extLst>
              <a:ext uri="{FF2B5EF4-FFF2-40B4-BE49-F238E27FC236}">
                <a16:creationId xmlns:a16="http://schemas.microsoft.com/office/drawing/2014/main" id="{C47E688C-6088-DF4F-25FA-3C72E87B7EC5}"/>
              </a:ext>
            </a:extLst>
          </p:cNvPr>
          <p:cNvSpPr txBox="1">
            <a:spLocks noChangeArrowheads="1"/>
          </p:cNvSpPr>
          <p:nvPr/>
        </p:nvSpPr>
        <p:spPr bwMode="auto">
          <a:xfrm>
            <a:off x="4586288" y="1346200"/>
            <a:ext cx="37941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buFont typeface="Wingdings" pitchFamily="2" charset="2"/>
              <a:buNone/>
            </a:pPr>
            <a:r>
              <a:rPr lang="en-GB" altLang="en-US">
                <a:solidFill>
                  <a:srgbClr val="FF0000"/>
                </a:solidFill>
                <a:cs typeface="Arial" panose="020B0604020202020204" pitchFamily="34" charset="0"/>
                <a:sym typeface="Wingdings 2" pitchFamily="2" charset="2"/>
              </a:rPr>
              <a:t></a:t>
            </a:r>
            <a:endParaRPr lang="en-GB" altLang="en-US">
              <a:solidFill>
                <a:srgbClr val="FF0000"/>
              </a:solidFill>
              <a:cs typeface="Arial" panose="020B0604020202020204" pitchFamily="34" charset="0"/>
            </a:endParaRPr>
          </a:p>
        </p:txBody>
      </p:sp>
      <p:sp>
        <p:nvSpPr>
          <p:cNvPr id="42008" name="Rectangle 24">
            <a:extLst>
              <a:ext uri="{FF2B5EF4-FFF2-40B4-BE49-F238E27FC236}">
                <a16:creationId xmlns:a16="http://schemas.microsoft.com/office/drawing/2014/main" id="{5B0D6A14-2B79-5C19-DA7F-69C04E56CE67}"/>
              </a:ext>
            </a:extLst>
          </p:cNvPr>
          <p:cNvSpPr>
            <a:spLocks noChangeArrowheads="1"/>
          </p:cNvSpPr>
          <p:nvPr/>
        </p:nvSpPr>
        <p:spPr bwMode="auto">
          <a:xfrm>
            <a:off x="3035300" y="1300163"/>
            <a:ext cx="2679700" cy="425450"/>
          </a:xfrm>
          <a:prstGeom prst="rect">
            <a:avLst/>
          </a:prstGeom>
          <a:noFill/>
          <a:ln w="3810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2009" name="Text Box 25">
            <a:extLst>
              <a:ext uri="{FF2B5EF4-FFF2-40B4-BE49-F238E27FC236}">
                <a16:creationId xmlns:a16="http://schemas.microsoft.com/office/drawing/2014/main" id="{79E6A44C-8F91-0E36-4C0D-6A306C55846A}"/>
              </a:ext>
            </a:extLst>
          </p:cNvPr>
          <p:cNvSpPr txBox="1">
            <a:spLocks noChangeArrowheads="1"/>
          </p:cNvSpPr>
          <p:nvPr/>
        </p:nvSpPr>
        <p:spPr bwMode="auto">
          <a:xfrm>
            <a:off x="3108325" y="1320800"/>
            <a:ext cx="52705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rgbClr val="FF0000"/>
                </a:solidFill>
                <a:cs typeface="Arial" panose="020B0604020202020204" pitchFamily="34" charset="0"/>
              </a:rPr>
              <a:t>b1</a:t>
            </a:r>
            <a:endParaRPr lang="en-US" altLang="en-US">
              <a:cs typeface="Arial" panose="020B0604020202020204" pitchFamily="34" charset="0"/>
            </a:endParaRPr>
          </a:p>
        </p:txBody>
      </p:sp>
      <p:sp>
        <p:nvSpPr>
          <p:cNvPr id="42010" name="Text Box 26">
            <a:extLst>
              <a:ext uri="{FF2B5EF4-FFF2-40B4-BE49-F238E27FC236}">
                <a16:creationId xmlns:a16="http://schemas.microsoft.com/office/drawing/2014/main" id="{BEB63CCD-93BD-2215-4037-BD357CD77255}"/>
              </a:ext>
            </a:extLst>
          </p:cNvPr>
          <p:cNvSpPr txBox="1">
            <a:spLocks noChangeArrowheads="1"/>
          </p:cNvSpPr>
          <p:nvPr/>
        </p:nvSpPr>
        <p:spPr bwMode="auto">
          <a:xfrm>
            <a:off x="3559175" y="14938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00</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2011" name="Text Box 27">
            <a:extLst>
              <a:ext uri="{FF2B5EF4-FFF2-40B4-BE49-F238E27FC236}">
                <a16:creationId xmlns:a16="http://schemas.microsoft.com/office/drawing/2014/main" id="{314378C9-98EA-7FD1-1146-7E937FB52122}"/>
              </a:ext>
            </a:extLst>
          </p:cNvPr>
          <p:cNvSpPr txBox="1">
            <a:spLocks noChangeArrowheads="1"/>
          </p:cNvSpPr>
          <p:nvPr/>
        </p:nvSpPr>
        <p:spPr bwMode="auto">
          <a:xfrm>
            <a:off x="3578225" y="17986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01</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2012" name="Text Box 28">
            <a:extLst>
              <a:ext uri="{FF2B5EF4-FFF2-40B4-BE49-F238E27FC236}">
                <a16:creationId xmlns:a16="http://schemas.microsoft.com/office/drawing/2014/main" id="{7C4F0882-A843-7E53-EB5B-9A44DEDA37E3}"/>
              </a:ext>
            </a:extLst>
          </p:cNvPr>
          <p:cNvSpPr txBox="1">
            <a:spLocks noChangeArrowheads="1"/>
          </p:cNvSpPr>
          <p:nvPr/>
        </p:nvSpPr>
        <p:spPr bwMode="auto">
          <a:xfrm>
            <a:off x="3590925" y="20653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rgbClr val="FF0000"/>
                </a:solidFill>
                <a:cs typeface="Arial" panose="020B0604020202020204" pitchFamily="34" charset="0"/>
              </a:rPr>
              <a:t>Row 10</a:t>
            </a:r>
            <a:r>
              <a:rPr lang="en-US" altLang="en-US" sz="1000" baseline="-25000">
                <a:solidFill>
                  <a:srgbClr val="FF0000"/>
                </a:solidFill>
                <a:cs typeface="Arial" panose="020B0604020202020204" pitchFamily="34" charset="0"/>
              </a:rPr>
              <a:t>2</a:t>
            </a:r>
            <a:endParaRPr lang="en-US" altLang="en-US" sz="1400">
              <a:cs typeface="Arial" panose="020B0604020202020204" pitchFamily="34" charset="0"/>
            </a:endParaRPr>
          </a:p>
        </p:txBody>
      </p:sp>
      <p:sp>
        <p:nvSpPr>
          <p:cNvPr id="42013" name="Text Box 29">
            <a:extLst>
              <a:ext uri="{FF2B5EF4-FFF2-40B4-BE49-F238E27FC236}">
                <a16:creationId xmlns:a16="http://schemas.microsoft.com/office/drawing/2014/main" id="{73605E02-907F-E48B-87F5-3941E5A89DE4}"/>
              </a:ext>
            </a:extLst>
          </p:cNvPr>
          <p:cNvSpPr txBox="1">
            <a:spLocks noChangeArrowheads="1"/>
          </p:cNvSpPr>
          <p:nvPr/>
        </p:nvSpPr>
        <p:spPr bwMode="auto">
          <a:xfrm>
            <a:off x="3597275" y="235108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11</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2014" name="Text Box 30">
            <a:extLst>
              <a:ext uri="{FF2B5EF4-FFF2-40B4-BE49-F238E27FC236}">
                <a16:creationId xmlns:a16="http://schemas.microsoft.com/office/drawing/2014/main" id="{BAF05B35-22BE-57E1-C13B-FDF53595D88A}"/>
              </a:ext>
            </a:extLst>
          </p:cNvPr>
          <p:cNvSpPr txBox="1">
            <a:spLocks noChangeArrowheads="1"/>
          </p:cNvSpPr>
          <p:nvPr/>
        </p:nvSpPr>
        <p:spPr bwMode="auto">
          <a:xfrm>
            <a:off x="3521075" y="3881438"/>
            <a:ext cx="70961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2</a:t>
            </a:r>
            <a:r>
              <a:rPr lang="en-US" altLang="en-US" sz="1000" baseline="30000">
                <a:solidFill>
                  <a:schemeClr val="tx1"/>
                </a:solidFill>
                <a:cs typeface="Arial" panose="020B0604020202020204" pitchFamily="34" charset="0"/>
              </a:rPr>
              <a:t>n</a:t>
            </a:r>
            <a:r>
              <a:rPr lang="en-US" altLang="en-US" sz="1000">
                <a:solidFill>
                  <a:schemeClr val="tx1"/>
                </a:solidFill>
                <a:cs typeface="Arial" panose="020B0604020202020204" pitchFamily="34" charset="0"/>
              </a:rPr>
              <a:t>-1</a:t>
            </a:r>
            <a:endParaRPr lang="en-US" altLang="en-US" sz="1400">
              <a:cs typeface="Arial" panose="020B0604020202020204" pitchFamily="34" charset="0"/>
            </a:endParaRPr>
          </a:p>
        </p:txBody>
      </p:sp>
      <p:sp>
        <p:nvSpPr>
          <p:cNvPr id="42015" name="Line 31">
            <a:extLst>
              <a:ext uri="{FF2B5EF4-FFF2-40B4-BE49-F238E27FC236}">
                <a16:creationId xmlns:a16="http://schemas.microsoft.com/office/drawing/2014/main" id="{FAFD0C4D-8DD1-6294-DCA8-4D8B53C984CA}"/>
              </a:ext>
            </a:extLst>
          </p:cNvPr>
          <p:cNvSpPr>
            <a:spLocks noChangeShapeType="1"/>
          </p:cNvSpPr>
          <p:nvPr/>
        </p:nvSpPr>
        <p:spPr bwMode="auto">
          <a:xfrm>
            <a:off x="2260600" y="3289300"/>
            <a:ext cx="1612900" cy="1588"/>
          </a:xfrm>
          <a:prstGeom prst="line">
            <a:avLst/>
          </a:prstGeom>
          <a:noFill/>
          <a:ln w="2844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6" name="Rectangle 32">
            <a:extLst>
              <a:ext uri="{FF2B5EF4-FFF2-40B4-BE49-F238E27FC236}">
                <a16:creationId xmlns:a16="http://schemas.microsoft.com/office/drawing/2014/main" id="{E63E81AB-D937-7A58-710B-158AEDC10CB0}"/>
              </a:ext>
            </a:extLst>
          </p:cNvPr>
          <p:cNvSpPr>
            <a:spLocks noChangeArrowheads="1"/>
          </p:cNvSpPr>
          <p:nvPr/>
        </p:nvSpPr>
        <p:spPr bwMode="auto">
          <a:xfrm>
            <a:off x="1333500" y="2425700"/>
            <a:ext cx="1790700" cy="419100"/>
          </a:xfrm>
          <a:prstGeom prst="rect">
            <a:avLst/>
          </a:prstGeom>
          <a:solidFill>
            <a:srgbClr val="BBE0E3"/>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a:lnSpc>
                <a:spcPct val="100000"/>
              </a:lnSpc>
            </a:pPr>
            <a:r>
              <a:rPr lang="en-GB" altLang="en-US">
                <a:solidFill>
                  <a:srgbClr val="FF0000"/>
                </a:solidFill>
                <a:cs typeface="Arial" panose="020B0604020202020204" pitchFamily="34" charset="0"/>
              </a:rPr>
              <a:t>000000000</a:t>
            </a:r>
            <a:endParaRPr lang="en-GB" altLang="en-US">
              <a:solidFill>
                <a:srgbClr val="000000"/>
              </a:solidFill>
              <a:cs typeface="Arial" panose="020B0604020202020204" pitchFamily="34" charset="0"/>
            </a:endParaRPr>
          </a:p>
        </p:txBody>
      </p:sp>
      <p:sp>
        <p:nvSpPr>
          <p:cNvPr id="42017" name="Rectangle 33">
            <a:extLst>
              <a:ext uri="{FF2B5EF4-FFF2-40B4-BE49-F238E27FC236}">
                <a16:creationId xmlns:a16="http://schemas.microsoft.com/office/drawing/2014/main" id="{B6215A5D-919D-59FD-693B-11EAECBF5772}"/>
              </a:ext>
            </a:extLst>
          </p:cNvPr>
          <p:cNvSpPr>
            <a:spLocks noChangeArrowheads="1"/>
          </p:cNvSpPr>
          <p:nvPr/>
        </p:nvSpPr>
        <p:spPr bwMode="auto">
          <a:xfrm>
            <a:off x="215900" y="2425700"/>
            <a:ext cx="1219200" cy="419100"/>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cs typeface="Arial" panose="020B0604020202020204" pitchFamily="34" charset="0"/>
              </a:rPr>
              <a:t>00…000</a:t>
            </a:r>
          </a:p>
        </p:txBody>
      </p:sp>
      <p:sp>
        <p:nvSpPr>
          <p:cNvPr id="42018" name="AutoShape 34">
            <a:extLst>
              <a:ext uri="{FF2B5EF4-FFF2-40B4-BE49-F238E27FC236}">
                <a16:creationId xmlns:a16="http://schemas.microsoft.com/office/drawing/2014/main" id="{67E77C04-34F9-1C29-83FA-93A371AC5EFE}"/>
              </a:ext>
            </a:extLst>
          </p:cNvPr>
          <p:cNvSpPr>
            <a:spLocks/>
          </p:cNvSpPr>
          <p:nvPr/>
        </p:nvSpPr>
        <p:spPr bwMode="auto">
          <a:xfrm rot="-5400000">
            <a:off x="2076450" y="2400300"/>
            <a:ext cx="342900" cy="1460500"/>
          </a:xfrm>
          <a:prstGeom prst="leftBrace">
            <a:avLst>
              <a:gd name="adj1" fmla="val 35494"/>
              <a:gd name="adj2" fmla="val 50000"/>
            </a:avLst>
          </a:prstGeom>
          <a:noFill/>
          <a:ln w="936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2019" name="Rectangle 35">
            <a:extLst>
              <a:ext uri="{FF2B5EF4-FFF2-40B4-BE49-F238E27FC236}">
                <a16:creationId xmlns:a16="http://schemas.microsoft.com/office/drawing/2014/main" id="{F085A0F6-6112-B0B7-A119-EC58129F1C95}"/>
              </a:ext>
            </a:extLst>
          </p:cNvPr>
          <p:cNvSpPr>
            <a:spLocks noChangeArrowheads="1"/>
          </p:cNvSpPr>
          <p:nvPr/>
        </p:nvSpPr>
        <p:spPr bwMode="auto">
          <a:xfrm>
            <a:off x="2997200" y="2422525"/>
            <a:ext cx="390525" cy="422275"/>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cs typeface="Arial" panose="020B0604020202020204" pitchFamily="34" charset="0"/>
              </a:rPr>
              <a:t>00</a:t>
            </a:r>
          </a:p>
        </p:txBody>
      </p:sp>
      <p:sp>
        <p:nvSpPr>
          <p:cNvPr id="42020" name="AutoShape 36">
            <a:extLst>
              <a:ext uri="{FF2B5EF4-FFF2-40B4-BE49-F238E27FC236}">
                <a16:creationId xmlns:a16="http://schemas.microsoft.com/office/drawing/2014/main" id="{4827ACD7-28FB-DB9B-6517-DB4DCF7D457F}"/>
              </a:ext>
            </a:extLst>
          </p:cNvPr>
          <p:cNvSpPr>
            <a:spLocks/>
          </p:cNvSpPr>
          <p:nvPr/>
        </p:nvSpPr>
        <p:spPr bwMode="auto">
          <a:xfrm rot="-5400000">
            <a:off x="1736725" y="720725"/>
            <a:ext cx="152400" cy="3155950"/>
          </a:xfrm>
          <a:prstGeom prst="rightBrace">
            <a:avLst>
              <a:gd name="adj1" fmla="val 17256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2021" name="Text Box 37">
            <a:extLst>
              <a:ext uri="{FF2B5EF4-FFF2-40B4-BE49-F238E27FC236}">
                <a16:creationId xmlns:a16="http://schemas.microsoft.com/office/drawing/2014/main" id="{C849F989-1278-DD5F-59BA-CD386202C390}"/>
              </a:ext>
            </a:extLst>
          </p:cNvPr>
          <p:cNvSpPr txBox="1">
            <a:spLocks noChangeArrowheads="1"/>
          </p:cNvSpPr>
          <p:nvPr/>
        </p:nvSpPr>
        <p:spPr bwMode="auto">
          <a:xfrm>
            <a:off x="1593850" y="1816100"/>
            <a:ext cx="6127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chemeClr val="tx1"/>
                </a:solidFill>
                <a:cs typeface="Arial" panose="020B0604020202020204" pitchFamily="34" charset="0"/>
              </a:rPr>
              <a:t>PC</a:t>
            </a:r>
            <a:endParaRPr lang="en-US" altLang="en-US">
              <a:cs typeface="Arial" panose="020B0604020202020204" pitchFamily="34" charset="0"/>
            </a:endParaRPr>
          </a:p>
        </p:txBody>
      </p:sp>
      <p:sp>
        <p:nvSpPr>
          <p:cNvPr id="42022" name="AutoShape 39">
            <a:extLst>
              <a:ext uri="{FF2B5EF4-FFF2-40B4-BE49-F238E27FC236}">
                <a16:creationId xmlns:a16="http://schemas.microsoft.com/office/drawing/2014/main" id="{94738D57-181C-2642-D363-095D9ECEAA9E}"/>
              </a:ext>
            </a:extLst>
          </p:cNvPr>
          <p:cNvSpPr>
            <a:spLocks/>
          </p:cNvSpPr>
          <p:nvPr/>
        </p:nvSpPr>
        <p:spPr bwMode="auto">
          <a:xfrm rot="-5400000">
            <a:off x="1816100" y="3848100"/>
            <a:ext cx="165100" cy="3340100"/>
          </a:xfrm>
          <a:prstGeom prst="leftBrace">
            <a:avLst>
              <a:gd name="adj1" fmla="val 16859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2023" name="Text Box 40">
            <a:extLst>
              <a:ext uri="{FF2B5EF4-FFF2-40B4-BE49-F238E27FC236}">
                <a16:creationId xmlns:a16="http://schemas.microsoft.com/office/drawing/2014/main" id="{197B4F3B-056C-1DDC-0E03-D449D93E21F0}"/>
              </a:ext>
            </a:extLst>
          </p:cNvPr>
          <p:cNvSpPr txBox="1">
            <a:spLocks noChangeArrowheads="1"/>
          </p:cNvSpPr>
          <p:nvPr/>
        </p:nvSpPr>
        <p:spPr bwMode="auto">
          <a:xfrm>
            <a:off x="466725" y="5546725"/>
            <a:ext cx="6624638"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2000">
                <a:solidFill>
                  <a:schemeClr val="tx1"/>
                </a:solidFill>
                <a:cs typeface="Arial" panose="020B0604020202020204" pitchFamily="34" charset="0"/>
              </a:rPr>
              <a:t>1-bit of “branch history” used to correlate prediction for current branch with outcome of last branch.</a:t>
            </a:r>
          </a:p>
        </p:txBody>
      </p:sp>
      <p:sp>
        <p:nvSpPr>
          <p:cNvPr id="67624" name="Rectangle 41">
            <a:extLst>
              <a:ext uri="{FF2B5EF4-FFF2-40B4-BE49-F238E27FC236}">
                <a16:creationId xmlns:a16="http://schemas.microsoft.com/office/drawing/2014/main" id="{B4FFE9CE-73F4-727C-852E-9B6D4261BD8E}"/>
              </a:ext>
            </a:extLst>
          </p:cNvPr>
          <p:cNvSpPr>
            <a:spLocks noChangeArrowheads="1"/>
          </p:cNvSpPr>
          <p:nvPr/>
        </p:nvSpPr>
        <p:spPr bwMode="auto">
          <a:xfrm>
            <a:off x="4224338" y="1320800"/>
            <a:ext cx="385762" cy="3289300"/>
          </a:xfrm>
          <a:prstGeom prst="rect">
            <a:avLst/>
          </a:prstGeom>
          <a:noFill/>
          <a:ln w="38100">
            <a:solidFill>
              <a:schemeClr val="accent6"/>
            </a:solidFill>
            <a:prstDash val="sysDot"/>
            <a:miter lim="800000"/>
            <a:headEnd/>
            <a:tailEnd/>
          </a:ln>
        </p:spPr>
        <p:txBody>
          <a:bodyPr wrap="none" anchor="ctr"/>
          <a:lstStyle/>
          <a:p>
            <a:pPr>
              <a:defRPr/>
            </a:pPr>
            <a:endParaRPr lang="en-US">
              <a:ea typeface="ＭＳ Ｐゴシック" pitchFamily="34" charset="-128"/>
              <a:cs typeface="Arial" pitchFamily="34" charset="0"/>
            </a:endParaRPr>
          </a:p>
        </p:txBody>
      </p:sp>
      <p:sp>
        <p:nvSpPr>
          <p:cNvPr id="42025" name="Slide Number Placeholder 44">
            <a:extLst>
              <a:ext uri="{FF2B5EF4-FFF2-40B4-BE49-F238E27FC236}">
                <a16:creationId xmlns:a16="http://schemas.microsoft.com/office/drawing/2014/main" id="{384016F6-6136-51B1-C06C-068065A402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CA5687EE-369F-B44B-9ACA-E07C0CD2369D}" type="slidenum">
              <a:rPr lang="en-GB" altLang="en-US" sz="1400">
                <a:solidFill>
                  <a:srgbClr val="000000"/>
                </a:solidFill>
                <a:cs typeface="Arial" panose="020B0604020202020204" pitchFamily="34" charset="0"/>
              </a:rPr>
              <a:pPr/>
              <a:t>40</a:t>
            </a:fld>
            <a:r>
              <a:rPr lang="en-GB" altLang="en-US" sz="1400">
                <a:solidFill>
                  <a:srgbClr val="000000"/>
                </a:solidFill>
                <a:cs typeface="Arial" panose="020B0604020202020204" pitchFamily="34" charset="0"/>
              </a:rPr>
              <a:t> </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9">
            <a:extLst>
              <a:ext uri="{FF2B5EF4-FFF2-40B4-BE49-F238E27FC236}">
                <a16:creationId xmlns:a16="http://schemas.microsoft.com/office/drawing/2014/main" id="{86DF97B2-DCA1-08BD-2A44-05FCC6FA2489}"/>
              </a:ext>
            </a:extLst>
          </p:cNvPr>
          <p:cNvSpPr>
            <a:spLocks noChangeArrowheads="1"/>
          </p:cNvSpPr>
          <p:nvPr/>
        </p:nvSpPr>
        <p:spPr bwMode="auto">
          <a:xfrm>
            <a:off x="4279900" y="1409700"/>
            <a:ext cx="279400" cy="27432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3011" name="Rectangle 14">
            <a:extLst>
              <a:ext uri="{FF2B5EF4-FFF2-40B4-BE49-F238E27FC236}">
                <a16:creationId xmlns:a16="http://schemas.microsoft.com/office/drawing/2014/main" id="{EC15AF86-8B45-57DE-F104-3BE4B79F8DD1}"/>
              </a:ext>
            </a:extLst>
          </p:cNvPr>
          <p:cNvSpPr>
            <a:spLocks noChangeArrowheads="1"/>
          </p:cNvSpPr>
          <p:nvPr/>
        </p:nvSpPr>
        <p:spPr bwMode="auto">
          <a:xfrm>
            <a:off x="5295900" y="1435100"/>
            <a:ext cx="279400" cy="27178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8" name="Rectangle 41">
            <a:extLst>
              <a:ext uri="{FF2B5EF4-FFF2-40B4-BE49-F238E27FC236}">
                <a16:creationId xmlns:a16="http://schemas.microsoft.com/office/drawing/2014/main" id="{F5943B37-E1E1-C5DF-7A79-CDB8D9BA0120}"/>
              </a:ext>
            </a:extLst>
          </p:cNvPr>
          <p:cNvSpPr>
            <a:spLocks noChangeArrowheads="1"/>
          </p:cNvSpPr>
          <p:nvPr/>
        </p:nvSpPr>
        <p:spPr bwMode="auto">
          <a:xfrm>
            <a:off x="4224338" y="1320800"/>
            <a:ext cx="385762" cy="3289300"/>
          </a:xfrm>
          <a:prstGeom prst="rect">
            <a:avLst/>
          </a:prstGeom>
          <a:noFill/>
          <a:ln w="38100">
            <a:solidFill>
              <a:schemeClr val="accent6"/>
            </a:solidFill>
            <a:prstDash val="sysDot"/>
            <a:miter lim="800000"/>
            <a:headEnd/>
            <a:tailEnd/>
          </a:ln>
        </p:spPr>
        <p:txBody>
          <a:bodyPr wrap="none" anchor="ctr"/>
          <a:lstStyle/>
          <a:p>
            <a:pPr>
              <a:defRPr/>
            </a:pPr>
            <a:endParaRPr lang="en-US">
              <a:ea typeface="ＭＳ Ｐゴシック" pitchFamily="34" charset="-128"/>
              <a:cs typeface="Arial" pitchFamily="34" charset="0"/>
            </a:endParaRPr>
          </a:p>
        </p:txBody>
      </p:sp>
      <p:sp>
        <p:nvSpPr>
          <p:cNvPr id="43013" name="Rectangle 2">
            <a:extLst>
              <a:ext uri="{FF2B5EF4-FFF2-40B4-BE49-F238E27FC236}">
                <a16:creationId xmlns:a16="http://schemas.microsoft.com/office/drawing/2014/main" id="{44CF504F-19D2-7FA0-1B5F-3D948C02572F}"/>
              </a:ext>
            </a:extLst>
          </p:cNvPr>
          <p:cNvSpPr>
            <a:spLocks noGrp="1" noChangeArrowheads="1"/>
          </p:cNvSpPr>
          <p:nvPr>
            <p:ph type="title"/>
          </p:nvPr>
        </p:nvSpPr>
        <p:spPr>
          <a:xfrm>
            <a:off x="685800" y="0"/>
            <a:ext cx="7772400" cy="1017588"/>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a:latin typeface="Arial" panose="020B0604020202020204" pitchFamily="34" charset="0"/>
                <a:cs typeface="Arial" panose="020B0604020202020204" pitchFamily="34" charset="0"/>
              </a:rPr>
              <a:t>1-Bit Predictor with 1-Bit of </a:t>
            </a:r>
            <a:r>
              <a:rPr lang="en-GB" altLang="en-US" sz="2800" u="sng">
                <a:solidFill>
                  <a:srgbClr val="0000FF"/>
                </a:solidFill>
                <a:latin typeface="Arial" panose="020B0604020202020204" pitchFamily="34" charset="0"/>
                <a:cs typeface="Arial" panose="020B0604020202020204" pitchFamily="34" charset="0"/>
              </a:rPr>
              <a:t>Correlation</a:t>
            </a:r>
            <a:r>
              <a:rPr lang="en-GB" altLang="en-US" sz="2800">
                <a:latin typeface="Arial" panose="020B0604020202020204" pitchFamily="34" charset="0"/>
                <a:cs typeface="Arial" panose="020B0604020202020204" pitchFamily="34" charset="0"/>
              </a:rPr>
              <a:t>:</a:t>
            </a:r>
            <a:endParaRPr lang="en-GB" altLang="en-US">
              <a:latin typeface="Arial" panose="020B0604020202020204" pitchFamily="34" charset="0"/>
              <a:cs typeface="Arial" panose="020B0604020202020204" pitchFamily="34" charset="0"/>
            </a:endParaRPr>
          </a:p>
        </p:txBody>
      </p:sp>
      <p:sp>
        <p:nvSpPr>
          <p:cNvPr id="43014" name="Line 10">
            <a:extLst>
              <a:ext uri="{FF2B5EF4-FFF2-40B4-BE49-F238E27FC236}">
                <a16:creationId xmlns:a16="http://schemas.microsoft.com/office/drawing/2014/main" id="{01C489E3-44BB-1E94-395C-2B655181EB27}"/>
              </a:ext>
            </a:extLst>
          </p:cNvPr>
          <p:cNvSpPr>
            <a:spLocks noChangeShapeType="1"/>
          </p:cNvSpPr>
          <p:nvPr/>
        </p:nvSpPr>
        <p:spPr bwMode="auto">
          <a:xfrm>
            <a:off x="4279900" y="17145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3015" name="Line 11">
            <a:extLst>
              <a:ext uri="{FF2B5EF4-FFF2-40B4-BE49-F238E27FC236}">
                <a16:creationId xmlns:a16="http://schemas.microsoft.com/office/drawing/2014/main" id="{77D4C183-9575-9270-D8F8-96A2CA72DA33}"/>
              </a:ext>
            </a:extLst>
          </p:cNvPr>
          <p:cNvSpPr>
            <a:spLocks noChangeShapeType="1"/>
          </p:cNvSpPr>
          <p:nvPr/>
        </p:nvSpPr>
        <p:spPr bwMode="auto">
          <a:xfrm>
            <a:off x="4267200" y="20193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3016" name="Line 12">
            <a:extLst>
              <a:ext uri="{FF2B5EF4-FFF2-40B4-BE49-F238E27FC236}">
                <a16:creationId xmlns:a16="http://schemas.microsoft.com/office/drawing/2014/main" id="{BEAA2AE7-A6CD-A11D-F8AE-4CEB870C4D75}"/>
              </a:ext>
            </a:extLst>
          </p:cNvPr>
          <p:cNvSpPr>
            <a:spLocks noChangeShapeType="1"/>
          </p:cNvSpPr>
          <p:nvPr/>
        </p:nvSpPr>
        <p:spPr bwMode="auto">
          <a:xfrm>
            <a:off x="4279900" y="23114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3017" name="Text Box 13">
            <a:extLst>
              <a:ext uri="{FF2B5EF4-FFF2-40B4-BE49-F238E27FC236}">
                <a16:creationId xmlns:a16="http://schemas.microsoft.com/office/drawing/2014/main" id="{67D5B428-47B2-151B-C5A9-EE810ABDACBE}"/>
              </a:ext>
            </a:extLst>
          </p:cNvPr>
          <p:cNvSpPr txBox="1">
            <a:spLocks noChangeArrowheads="1"/>
          </p:cNvSpPr>
          <p:nvPr/>
        </p:nvSpPr>
        <p:spPr bwMode="auto">
          <a:xfrm>
            <a:off x="4216400" y="2020888"/>
            <a:ext cx="420688"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FF"/>
              </a:buClr>
            </a:pPr>
            <a:r>
              <a:rPr lang="en-GB" altLang="en-US" sz="1400" b="1">
                <a:solidFill>
                  <a:srgbClr val="FF00FF"/>
                </a:solidFill>
                <a:cs typeface="Arial" panose="020B0604020202020204" pitchFamily="34" charset="0"/>
              </a:rPr>
              <a:t>NT</a:t>
            </a:r>
          </a:p>
        </p:txBody>
      </p:sp>
      <p:sp>
        <p:nvSpPr>
          <p:cNvPr id="43018" name="Line 15">
            <a:extLst>
              <a:ext uri="{FF2B5EF4-FFF2-40B4-BE49-F238E27FC236}">
                <a16:creationId xmlns:a16="http://schemas.microsoft.com/office/drawing/2014/main" id="{D99AA2EC-4909-9984-F513-EB0D7FB2C1E6}"/>
              </a:ext>
            </a:extLst>
          </p:cNvPr>
          <p:cNvSpPr>
            <a:spLocks noChangeShapeType="1"/>
          </p:cNvSpPr>
          <p:nvPr/>
        </p:nvSpPr>
        <p:spPr bwMode="auto">
          <a:xfrm>
            <a:off x="5295900" y="17399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3019" name="Line 16">
            <a:extLst>
              <a:ext uri="{FF2B5EF4-FFF2-40B4-BE49-F238E27FC236}">
                <a16:creationId xmlns:a16="http://schemas.microsoft.com/office/drawing/2014/main" id="{D152A5CA-F0F1-2D7D-FB9C-C16AF8EFB5EA}"/>
              </a:ext>
            </a:extLst>
          </p:cNvPr>
          <p:cNvSpPr>
            <a:spLocks noChangeShapeType="1"/>
          </p:cNvSpPr>
          <p:nvPr/>
        </p:nvSpPr>
        <p:spPr bwMode="auto">
          <a:xfrm>
            <a:off x="5283200" y="20447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3020" name="Line 17">
            <a:extLst>
              <a:ext uri="{FF2B5EF4-FFF2-40B4-BE49-F238E27FC236}">
                <a16:creationId xmlns:a16="http://schemas.microsoft.com/office/drawing/2014/main" id="{101914A8-8BB5-5DE8-5AB0-6CB9B990339F}"/>
              </a:ext>
            </a:extLst>
          </p:cNvPr>
          <p:cNvSpPr>
            <a:spLocks noChangeShapeType="1"/>
          </p:cNvSpPr>
          <p:nvPr/>
        </p:nvSpPr>
        <p:spPr bwMode="auto">
          <a:xfrm>
            <a:off x="5295900" y="23368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3021" name="Text Box 18">
            <a:extLst>
              <a:ext uri="{FF2B5EF4-FFF2-40B4-BE49-F238E27FC236}">
                <a16:creationId xmlns:a16="http://schemas.microsoft.com/office/drawing/2014/main" id="{C7A02DB9-CA5A-0F32-ACCE-2A80D5B0B64F}"/>
              </a:ext>
            </a:extLst>
          </p:cNvPr>
          <p:cNvSpPr txBox="1">
            <a:spLocks noChangeArrowheads="1"/>
          </p:cNvSpPr>
          <p:nvPr/>
        </p:nvSpPr>
        <p:spPr bwMode="auto">
          <a:xfrm>
            <a:off x="5245100" y="2046288"/>
            <a:ext cx="420688"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FF"/>
              </a:buClr>
            </a:pPr>
            <a:r>
              <a:rPr lang="en-GB" altLang="en-US" sz="1400" b="1">
                <a:solidFill>
                  <a:srgbClr val="FF00FF"/>
                </a:solidFill>
                <a:cs typeface="Arial" panose="020B0604020202020204" pitchFamily="34" charset="0"/>
              </a:rPr>
              <a:t>NT</a:t>
            </a:r>
          </a:p>
        </p:txBody>
      </p:sp>
      <p:sp>
        <p:nvSpPr>
          <p:cNvPr id="43022" name="Text Box 19">
            <a:extLst>
              <a:ext uri="{FF2B5EF4-FFF2-40B4-BE49-F238E27FC236}">
                <a16:creationId xmlns:a16="http://schemas.microsoft.com/office/drawing/2014/main" id="{2257C0E6-624A-3E51-B78A-50DA1D442447}"/>
              </a:ext>
            </a:extLst>
          </p:cNvPr>
          <p:cNvSpPr txBox="1">
            <a:spLocks noChangeArrowheads="1"/>
          </p:cNvSpPr>
          <p:nvPr/>
        </p:nvSpPr>
        <p:spPr bwMode="auto">
          <a:xfrm>
            <a:off x="6080125" y="2062163"/>
            <a:ext cx="2767013" cy="1755775"/>
          </a:xfrm>
          <a:prstGeom prst="rect">
            <a:avLst/>
          </a:pr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0000FF"/>
              </a:buClr>
              <a:buFont typeface="Comic Sans MS" panose="030F0902030302020204" pitchFamily="66" charset="0"/>
              <a:buNone/>
            </a:pPr>
            <a:r>
              <a:rPr lang="en-GB" altLang="en-US" sz="1800">
                <a:solidFill>
                  <a:srgbClr val="0000FF"/>
                </a:solidFill>
                <a:cs typeface="Arial" panose="020B0604020202020204" pitchFamily="34" charset="0"/>
              </a:rPr>
              <a:t>        </a:t>
            </a:r>
            <a:r>
              <a:rPr lang="en-GB" altLang="en-US" sz="1800">
                <a:solidFill>
                  <a:srgbClr val="FF0000"/>
                </a:solidFill>
                <a:cs typeface="Arial" panose="020B0604020202020204" pitchFamily="34" charset="0"/>
              </a:rPr>
              <a:t>if (d!=0) goto L1;//b1</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             d=1;</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L1:   </a:t>
            </a:r>
            <a:r>
              <a:rPr lang="en-GB" altLang="en-US" sz="1800">
                <a:solidFill>
                  <a:srgbClr val="FF00FF"/>
                </a:solidFill>
                <a:cs typeface="Arial" panose="020B0604020202020204" pitchFamily="34" charset="0"/>
              </a:rPr>
              <a:t>if (d!=1) goto L2;//b2</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        ...</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L2:</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        ...</a:t>
            </a:r>
          </a:p>
        </p:txBody>
      </p:sp>
      <p:sp>
        <p:nvSpPr>
          <p:cNvPr id="43023" name="Text Box 20">
            <a:extLst>
              <a:ext uri="{FF2B5EF4-FFF2-40B4-BE49-F238E27FC236}">
                <a16:creationId xmlns:a16="http://schemas.microsoft.com/office/drawing/2014/main" id="{6D95D46A-76A8-0F62-A694-27B98F6B57C5}"/>
              </a:ext>
            </a:extLst>
          </p:cNvPr>
          <p:cNvSpPr txBox="1">
            <a:spLocks noChangeArrowheads="1"/>
          </p:cNvSpPr>
          <p:nvPr/>
        </p:nvSpPr>
        <p:spPr bwMode="auto">
          <a:xfrm>
            <a:off x="4230688" y="1409700"/>
            <a:ext cx="33972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pPr>
            <a:r>
              <a:rPr lang="en-GB" altLang="en-US" sz="1400" b="1">
                <a:solidFill>
                  <a:srgbClr val="FF0000"/>
                </a:solidFill>
                <a:cs typeface="Arial" panose="020B0604020202020204" pitchFamily="34" charset="0"/>
              </a:rPr>
              <a:t> T</a:t>
            </a:r>
          </a:p>
        </p:txBody>
      </p:sp>
      <p:sp>
        <p:nvSpPr>
          <p:cNvPr id="43024" name="Text Box 21">
            <a:extLst>
              <a:ext uri="{FF2B5EF4-FFF2-40B4-BE49-F238E27FC236}">
                <a16:creationId xmlns:a16="http://schemas.microsoft.com/office/drawing/2014/main" id="{BCF4914D-73A4-EFD1-2201-F03CCBE00D4B}"/>
              </a:ext>
            </a:extLst>
          </p:cNvPr>
          <p:cNvSpPr txBox="1">
            <a:spLocks noChangeArrowheads="1"/>
          </p:cNvSpPr>
          <p:nvPr/>
        </p:nvSpPr>
        <p:spPr bwMode="auto">
          <a:xfrm>
            <a:off x="5221288" y="1409700"/>
            <a:ext cx="420687"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pPr>
            <a:r>
              <a:rPr lang="en-GB" altLang="en-US" sz="1400" b="1">
                <a:solidFill>
                  <a:srgbClr val="FF0000"/>
                </a:solidFill>
                <a:cs typeface="Arial" panose="020B0604020202020204" pitchFamily="34" charset="0"/>
              </a:rPr>
              <a:t>NT</a:t>
            </a:r>
          </a:p>
        </p:txBody>
      </p:sp>
      <p:sp>
        <p:nvSpPr>
          <p:cNvPr id="43025" name="Text Box 22">
            <a:extLst>
              <a:ext uri="{FF2B5EF4-FFF2-40B4-BE49-F238E27FC236}">
                <a16:creationId xmlns:a16="http://schemas.microsoft.com/office/drawing/2014/main" id="{2AA8E8C4-0405-D2A6-6BAF-FC09919E9C4D}"/>
              </a:ext>
            </a:extLst>
          </p:cNvPr>
          <p:cNvSpPr txBox="1">
            <a:spLocks noChangeArrowheads="1"/>
          </p:cNvSpPr>
          <p:nvPr/>
        </p:nvSpPr>
        <p:spPr bwMode="auto">
          <a:xfrm>
            <a:off x="173038" y="836613"/>
            <a:ext cx="2516187" cy="1017587"/>
          </a:xfrm>
          <a:prstGeom prst="rect">
            <a:avLst/>
          </a:pr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2000">
                <a:solidFill>
                  <a:srgbClr val="000000"/>
                </a:solidFill>
                <a:cs typeface="Arial" panose="020B0604020202020204" pitchFamily="34" charset="0"/>
              </a:rPr>
              <a:t>pass 1: d=2,</a:t>
            </a:r>
          </a:p>
          <a:p>
            <a:pPr>
              <a:lnSpc>
                <a:spcPct val="100000"/>
              </a:lnSpc>
              <a:buFont typeface="Comic Sans MS" panose="030F0902030302020204" pitchFamily="66" charset="0"/>
              <a:buNone/>
            </a:pPr>
            <a:r>
              <a:rPr lang="en-GB" altLang="en-US" sz="2000">
                <a:solidFill>
                  <a:srgbClr val="000000"/>
                </a:solidFill>
                <a:cs typeface="Arial" panose="020B0604020202020204" pitchFamily="34" charset="0"/>
              </a:rPr>
              <a:t>(after executing b1,</a:t>
            </a:r>
          </a:p>
          <a:p>
            <a:pPr>
              <a:lnSpc>
                <a:spcPct val="100000"/>
              </a:lnSpc>
              <a:buFont typeface="Comic Sans MS" panose="030F0902030302020204" pitchFamily="66" charset="0"/>
              <a:buNone/>
            </a:pPr>
            <a:r>
              <a:rPr lang="en-GB" altLang="en-US" sz="2000">
                <a:solidFill>
                  <a:srgbClr val="000000"/>
                </a:solidFill>
                <a:cs typeface="Arial" panose="020B0604020202020204" pitchFamily="34" charset="0"/>
              </a:rPr>
              <a:t>before executing b2)</a:t>
            </a:r>
          </a:p>
        </p:txBody>
      </p:sp>
      <p:sp>
        <p:nvSpPr>
          <p:cNvPr id="43026" name="Rectangle 24">
            <a:extLst>
              <a:ext uri="{FF2B5EF4-FFF2-40B4-BE49-F238E27FC236}">
                <a16:creationId xmlns:a16="http://schemas.microsoft.com/office/drawing/2014/main" id="{F7D02B68-1664-DFA6-6852-D864D13D7FEF}"/>
              </a:ext>
            </a:extLst>
          </p:cNvPr>
          <p:cNvSpPr>
            <a:spLocks noChangeArrowheads="1"/>
          </p:cNvSpPr>
          <p:nvPr/>
        </p:nvSpPr>
        <p:spPr bwMode="auto">
          <a:xfrm>
            <a:off x="3035300" y="1333500"/>
            <a:ext cx="2679700" cy="417513"/>
          </a:xfrm>
          <a:prstGeom prst="rect">
            <a:avLst/>
          </a:prstGeom>
          <a:noFill/>
          <a:ln w="3810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3027" name="Text Box 25">
            <a:extLst>
              <a:ext uri="{FF2B5EF4-FFF2-40B4-BE49-F238E27FC236}">
                <a16:creationId xmlns:a16="http://schemas.microsoft.com/office/drawing/2014/main" id="{C71BBC10-68C0-C35C-6F3F-13BC208385DA}"/>
              </a:ext>
            </a:extLst>
          </p:cNvPr>
          <p:cNvSpPr txBox="1">
            <a:spLocks noChangeArrowheads="1"/>
          </p:cNvSpPr>
          <p:nvPr/>
        </p:nvSpPr>
        <p:spPr bwMode="auto">
          <a:xfrm>
            <a:off x="3108325" y="1320800"/>
            <a:ext cx="52705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rgbClr val="FF0000"/>
                </a:solidFill>
                <a:cs typeface="Arial" panose="020B0604020202020204" pitchFamily="34" charset="0"/>
              </a:rPr>
              <a:t>b1</a:t>
            </a:r>
            <a:endParaRPr lang="en-US" altLang="en-US">
              <a:cs typeface="Arial" panose="020B0604020202020204" pitchFamily="34" charset="0"/>
            </a:endParaRPr>
          </a:p>
        </p:txBody>
      </p:sp>
      <p:sp>
        <p:nvSpPr>
          <p:cNvPr id="43028" name="Text Box 26">
            <a:extLst>
              <a:ext uri="{FF2B5EF4-FFF2-40B4-BE49-F238E27FC236}">
                <a16:creationId xmlns:a16="http://schemas.microsoft.com/office/drawing/2014/main" id="{AA46A742-E204-A701-DD43-D4D7986E6D53}"/>
              </a:ext>
            </a:extLst>
          </p:cNvPr>
          <p:cNvSpPr txBox="1">
            <a:spLocks noChangeArrowheads="1"/>
          </p:cNvSpPr>
          <p:nvPr/>
        </p:nvSpPr>
        <p:spPr bwMode="auto">
          <a:xfrm>
            <a:off x="3559175" y="14938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00</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3029" name="Text Box 27">
            <a:extLst>
              <a:ext uri="{FF2B5EF4-FFF2-40B4-BE49-F238E27FC236}">
                <a16:creationId xmlns:a16="http://schemas.microsoft.com/office/drawing/2014/main" id="{AB55C048-1600-249A-E390-375E4EC0EA13}"/>
              </a:ext>
            </a:extLst>
          </p:cNvPr>
          <p:cNvSpPr txBox="1">
            <a:spLocks noChangeArrowheads="1"/>
          </p:cNvSpPr>
          <p:nvPr/>
        </p:nvSpPr>
        <p:spPr bwMode="auto">
          <a:xfrm>
            <a:off x="3578225" y="17986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01</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3030" name="Text Box 28">
            <a:extLst>
              <a:ext uri="{FF2B5EF4-FFF2-40B4-BE49-F238E27FC236}">
                <a16:creationId xmlns:a16="http://schemas.microsoft.com/office/drawing/2014/main" id="{7380D5B9-889A-9026-80B5-F3EF3CD98B13}"/>
              </a:ext>
            </a:extLst>
          </p:cNvPr>
          <p:cNvSpPr txBox="1">
            <a:spLocks noChangeArrowheads="1"/>
          </p:cNvSpPr>
          <p:nvPr/>
        </p:nvSpPr>
        <p:spPr bwMode="auto">
          <a:xfrm>
            <a:off x="3590925" y="20653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rgbClr val="FF0000"/>
                </a:solidFill>
                <a:cs typeface="Arial" panose="020B0604020202020204" pitchFamily="34" charset="0"/>
              </a:rPr>
              <a:t>Row 10</a:t>
            </a:r>
            <a:r>
              <a:rPr lang="en-US" altLang="en-US" sz="1000" baseline="-25000">
                <a:solidFill>
                  <a:srgbClr val="FF0000"/>
                </a:solidFill>
                <a:cs typeface="Arial" panose="020B0604020202020204" pitchFamily="34" charset="0"/>
              </a:rPr>
              <a:t>2</a:t>
            </a:r>
            <a:endParaRPr lang="en-US" altLang="en-US" sz="1400">
              <a:cs typeface="Arial" panose="020B0604020202020204" pitchFamily="34" charset="0"/>
            </a:endParaRPr>
          </a:p>
        </p:txBody>
      </p:sp>
      <p:sp>
        <p:nvSpPr>
          <p:cNvPr id="43031" name="Text Box 29">
            <a:extLst>
              <a:ext uri="{FF2B5EF4-FFF2-40B4-BE49-F238E27FC236}">
                <a16:creationId xmlns:a16="http://schemas.microsoft.com/office/drawing/2014/main" id="{D8F39D5C-3186-990A-D26E-56E225772C5D}"/>
              </a:ext>
            </a:extLst>
          </p:cNvPr>
          <p:cNvSpPr txBox="1">
            <a:spLocks noChangeArrowheads="1"/>
          </p:cNvSpPr>
          <p:nvPr/>
        </p:nvSpPr>
        <p:spPr bwMode="auto">
          <a:xfrm>
            <a:off x="3597275" y="235108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11</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3032" name="Line 31">
            <a:extLst>
              <a:ext uri="{FF2B5EF4-FFF2-40B4-BE49-F238E27FC236}">
                <a16:creationId xmlns:a16="http://schemas.microsoft.com/office/drawing/2014/main" id="{03B0C4C8-9A94-8A13-42DB-EF64118A6A77}"/>
              </a:ext>
            </a:extLst>
          </p:cNvPr>
          <p:cNvSpPr>
            <a:spLocks noChangeShapeType="1"/>
          </p:cNvSpPr>
          <p:nvPr/>
        </p:nvSpPr>
        <p:spPr bwMode="auto">
          <a:xfrm>
            <a:off x="2260600" y="3289300"/>
            <a:ext cx="1612900" cy="1588"/>
          </a:xfrm>
          <a:prstGeom prst="line">
            <a:avLst/>
          </a:prstGeom>
          <a:noFill/>
          <a:ln w="2844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33" name="Rectangle 32">
            <a:extLst>
              <a:ext uri="{FF2B5EF4-FFF2-40B4-BE49-F238E27FC236}">
                <a16:creationId xmlns:a16="http://schemas.microsoft.com/office/drawing/2014/main" id="{6BD8EC4A-8DE7-B1D3-FA66-48B4E2C7611A}"/>
              </a:ext>
            </a:extLst>
          </p:cNvPr>
          <p:cNvSpPr>
            <a:spLocks noChangeArrowheads="1"/>
          </p:cNvSpPr>
          <p:nvPr/>
        </p:nvSpPr>
        <p:spPr bwMode="auto">
          <a:xfrm>
            <a:off x="1333500" y="2425700"/>
            <a:ext cx="1790700" cy="419100"/>
          </a:xfrm>
          <a:prstGeom prst="rect">
            <a:avLst/>
          </a:prstGeom>
          <a:solidFill>
            <a:srgbClr val="BBE0E3"/>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a:lnSpc>
                <a:spcPct val="100000"/>
              </a:lnSpc>
            </a:pPr>
            <a:r>
              <a:rPr lang="en-GB" altLang="en-US">
                <a:solidFill>
                  <a:srgbClr val="FF0000"/>
                </a:solidFill>
                <a:cs typeface="Arial" panose="020B0604020202020204" pitchFamily="34" charset="0"/>
              </a:rPr>
              <a:t>000000000</a:t>
            </a:r>
            <a:endParaRPr lang="en-GB" altLang="en-US">
              <a:solidFill>
                <a:srgbClr val="000000"/>
              </a:solidFill>
              <a:cs typeface="Arial" panose="020B0604020202020204" pitchFamily="34" charset="0"/>
            </a:endParaRPr>
          </a:p>
        </p:txBody>
      </p:sp>
      <p:sp>
        <p:nvSpPr>
          <p:cNvPr id="43034" name="Rectangle 33">
            <a:extLst>
              <a:ext uri="{FF2B5EF4-FFF2-40B4-BE49-F238E27FC236}">
                <a16:creationId xmlns:a16="http://schemas.microsoft.com/office/drawing/2014/main" id="{B453B6CA-5B50-55D8-034D-99F7C422C3BA}"/>
              </a:ext>
            </a:extLst>
          </p:cNvPr>
          <p:cNvSpPr>
            <a:spLocks noChangeArrowheads="1"/>
          </p:cNvSpPr>
          <p:nvPr/>
        </p:nvSpPr>
        <p:spPr bwMode="auto">
          <a:xfrm>
            <a:off x="215900" y="2425700"/>
            <a:ext cx="1219200" cy="419100"/>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cs typeface="Arial" panose="020B0604020202020204" pitchFamily="34" charset="0"/>
              </a:rPr>
              <a:t>00…000</a:t>
            </a:r>
          </a:p>
        </p:txBody>
      </p:sp>
      <p:sp>
        <p:nvSpPr>
          <p:cNvPr id="43035" name="AutoShape 34">
            <a:extLst>
              <a:ext uri="{FF2B5EF4-FFF2-40B4-BE49-F238E27FC236}">
                <a16:creationId xmlns:a16="http://schemas.microsoft.com/office/drawing/2014/main" id="{E48B6CE2-D23B-1940-FE9F-A038AB7C5ECA}"/>
              </a:ext>
            </a:extLst>
          </p:cNvPr>
          <p:cNvSpPr>
            <a:spLocks/>
          </p:cNvSpPr>
          <p:nvPr/>
        </p:nvSpPr>
        <p:spPr bwMode="auto">
          <a:xfrm rot="-5400000">
            <a:off x="2076450" y="2400300"/>
            <a:ext cx="342900" cy="1460500"/>
          </a:xfrm>
          <a:prstGeom prst="leftBrace">
            <a:avLst>
              <a:gd name="adj1" fmla="val 35494"/>
              <a:gd name="adj2" fmla="val 50000"/>
            </a:avLst>
          </a:prstGeom>
          <a:noFill/>
          <a:ln w="936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3036" name="Rectangle 35">
            <a:extLst>
              <a:ext uri="{FF2B5EF4-FFF2-40B4-BE49-F238E27FC236}">
                <a16:creationId xmlns:a16="http://schemas.microsoft.com/office/drawing/2014/main" id="{152D05BF-FB7F-7BED-C199-4E29A7F2C177}"/>
              </a:ext>
            </a:extLst>
          </p:cNvPr>
          <p:cNvSpPr>
            <a:spLocks noChangeArrowheads="1"/>
          </p:cNvSpPr>
          <p:nvPr/>
        </p:nvSpPr>
        <p:spPr bwMode="auto">
          <a:xfrm>
            <a:off x="2997200" y="2422525"/>
            <a:ext cx="390525" cy="422275"/>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cs typeface="Arial" panose="020B0604020202020204" pitchFamily="34" charset="0"/>
              </a:rPr>
              <a:t>00</a:t>
            </a:r>
          </a:p>
        </p:txBody>
      </p:sp>
      <p:sp>
        <p:nvSpPr>
          <p:cNvPr id="43037" name="AutoShape 36">
            <a:extLst>
              <a:ext uri="{FF2B5EF4-FFF2-40B4-BE49-F238E27FC236}">
                <a16:creationId xmlns:a16="http://schemas.microsoft.com/office/drawing/2014/main" id="{6E448356-ABDC-8A50-0E84-2121FADAAAA7}"/>
              </a:ext>
            </a:extLst>
          </p:cNvPr>
          <p:cNvSpPr>
            <a:spLocks/>
          </p:cNvSpPr>
          <p:nvPr/>
        </p:nvSpPr>
        <p:spPr bwMode="auto">
          <a:xfrm rot="-5400000">
            <a:off x="1736725" y="720725"/>
            <a:ext cx="152400" cy="3155950"/>
          </a:xfrm>
          <a:prstGeom prst="rightBrace">
            <a:avLst>
              <a:gd name="adj1" fmla="val 17256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3038" name="Text Box 37">
            <a:extLst>
              <a:ext uri="{FF2B5EF4-FFF2-40B4-BE49-F238E27FC236}">
                <a16:creationId xmlns:a16="http://schemas.microsoft.com/office/drawing/2014/main" id="{F3884109-B175-276C-81B9-7C1D6B1BD85A}"/>
              </a:ext>
            </a:extLst>
          </p:cNvPr>
          <p:cNvSpPr txBox="1">
            <a:spLocks noChangeArrowheads="1"/>
          </p:cNvSpPr>
          <p:nvPr/>
        </p:nvSpPr>
        <p:spPr bwMode="auto">
          <a:xfrm>
            <a:off x="1593850" y="1816100"/>
            <a:ext cx="6127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chemeClr val="tx1"/>
                </a:solidFill>
                <a:cs typeface="Arial" panose="020B0604020202020204" pitchFamily="34" charset="0"/>
              </a:rPr>
              <a:t>PC</a:t>
            </a:r>
            <a:endParaRPr lang="en-US" altLang="en-US">
              <a:cs typeface="Arial" panose="020B0604020202020204" pitchFamily="34" charset="0"/>
            </a:endParaRPr>
          </a:p>
        </p:txBody>
      </p:sp>
      <p:sp>
        <p:nvSpPr>
          <p:cNvPr id="43039" name="Oval 38">
            <a:extLst>
              <a:ext uri="{FF2B5EF4-FFF2-40B4-BE49-F238E27FC236}">
                <a16:creationId xmlns:a16="http://schemas.microsoft.com/office/drawing/2014/main" id="{C5929C0C-7777-5584-3BE9-379D380514B8}"/>
              </a:ext>
            </a:extLst>
          </p:cNvPr>
          <p:cNvSpPr>
            <a:spLocks noChangeArrowheads="1"/>
          </p:cNvSpPr>
          <p:nvPr/>
        </p:nvSpPr>
        <p:spPr bwMode="auto">
          <a:xfrm>
            <a:off x="4203700" y="1358900"/>
            <a:ext cx="457200" cy="419100"/>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3040" name="Text Box 39">
            <a:extLst>
              <a:ext uri="{FF2B5EF4-FFF2-40B4-BE49-F238E27FC236}">
                <a16:creationId xmlns:a16="http://schemas.microsoft.com/office/drawing/2014/main" id="{AF0B716E-D77A-29FF-ECCD-9825A007A115}"/>
              </a:ext>
            </a:extLst>
          </p:cNvPr>
          <p:cNvSpPr txBox="1">
            <a:spLocks noChangeArrowheads="1"/>
          </p:cNvSpPr>
          <p:nvPr/>
        </p:nvSpPr>
        <p:spPr bwMode="auto">
          <a:xfrm>
            <a:off x="6219825" y="1092200"/>
            <a:ext cx="1804988"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600">
                <a:solidFill>
                  <a:srgbClr val="FF0000"/>
                </a:solidFill>
                <a:cs typeface="Arial" panose="020B0604020202020204" pitchFamily="34" charset="0"/>
              </a:rPr>
              <a:t>Update table after</a:t>
            </a:r>
          </a:p>
          <a:p>
            <a:r>
              <a:rPr lang="en-US" altLang="en-US" sz="1600">
                <a:solidFill>
                  <a:srgbClr val="FF0000"/>
                </a:solidFill>
                <a:cs typeface="Arial" panose="020B0604020202020204" pitchFamily="34" charset="0"/>
              </a:rPr>
              <a:t>actual outcome of</a:t>
            </a:r>
          </a:p>
          <a:p>
            <a:r>
              <a:rPr lang="en-US" altLang="en-US" sz="1600">
                <a:solidFill>
                  <a:srgbClr val="FF0000"/>
                </a:solidFill>
                <a:cs typeface="Arial" panose="020B0604020202020204" pitchFamily="34" charset="0"/>
              </a:rPr>
              <a:t>b1 is known</a:t>
            </a:r>
            <a:endParaRPr lang="en-US" altLang="en-US">
              <a:cs typeface="Arial" panose="020B0604020202020204" pitchFamily="34" charset="0"/>
            </a:endParaRPr>
          </a:p>
        </p:txBody>
      </p:sp>
      <p:sp>
        <p:nvSpPr>
          <p:cNvPr id="43041" name="Line 40">
            <a:extLst>
              <a:ext uri="{FF2B5EF4-FFF2-40B4-BE49-F238E27FC236}">
                <a16:creationId xmlns:a16="http://schemas.microsoft.com/office/drawing/2014/main" id="{44A7A077-47D9-15FB-0F1F-0BDF896875C8}"/>
              </a:ext>
            </a:extLst>
          </p:cNvPr>
          <p:cNvSpPr>
            <a:spLocks noChangeShapeType="1"/>
          </p:cNvSpPr>
          <p:nvPr/>
        </p:nvSpPr>
        <p:spPr bwMode="auto">
          <a:xfrm flipH="1">
            <a:off x="4699000" y="1282700"/>
            <a:ext cx="1473200" cy="2413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42" name="Slide Number Placeholder 44">
            <a:extLst>
              <a:ext uri="{FF2B5EF4-FFF2-40B4-BE49-F238E27FC236}">
                <a16:creationId xmlns:a16="http://schemas.microsoft.com/office/drawing/2014/main" id="{CC002DBB-DF3F-56CF-2BAE-973905BC172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C435261B-3101-084E-A7FC-0DFA3E7F6598}" type="slidenum">
              <a:rPr lang="en-GB" altLang="en-US" sz="1400">
                <a:solidFill>
                  <a:srgbClr val="000000"/>
                </a:solidFill>
                <a:cs typeface="Arial" panose="020B0604020202020204" pitchFamily="34" charset="0"/>
              </a:rPr>
              <a:pPr/>
              <a:t>41</a:t>
            </a:fld>
            <a:r>
              <a:rPr lang="en-GB" altLang="en-US" sz="1400">
                <a:solidFill>
                  <a:srgbClr val="000000"/>
                </a:solidFill>
                <a:cs typeface="Arial" panose="020B0604020202020204" pitchFamily="34" charset="0"/>
              </a:rPr>
              <a:t> </a:t>
            </a:r>
          </a:p>
        </p:txBody>
      </p:sp>
      <p:sp>
        <p:nvSpPr>
          <p:cNvPr id="43043" name="Text Box 3">
            <a:extLst>
              <a:ext uri="{FF2B5EF4-FFF2-40B4-BE49-F238E27FC236}">
                <a16:creationId xmlns:a16="http://schemas.microsoft.com/office/drawing/2014/main" id="{D70AC9F3-FEDB-1449-0BFA-70FD9461C8A5}"/>
              </a:ext>
            </a:extLst>
          </p:cNvPr>
          <p:cNvSpPr txBox="1">
            <a:spLocks noChangeArrowheads="1"/>
          </p:cNvSpPr>
          <p:nvPr/>
        </p:nvSpPr>
        <p:spPr bwMode="auto">
          <a:xfrm>
            <a:off x="217488" y="4376738"/>
            <a:ext cx="3494087"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Was most recent branch taken? </a:t>
            </a:r>
            <a:r>
              <a:rPr lang="en-GB" altLang="en-US" sz="1800">
                <a:solidFill>
                  <a:schemeClr val="accent2"/>
                </a:solidFill>
                <a:cs typeface="Arial" panose="020B0604020202020204" pitchFamily="34" charset="0"/>
              </a:rPr>
              <a:t>(assume we start with</a:t>
            </a:r>
          </a:p>
          <a:p>
            <a:pPr>
              <a:lnSpc>
                <a:spcPct val="100000"/>
              </a:lnSpc>
              <a:buFont typeface="Comic Sans MS" panose="030F0902030302020204" pitchFamily="66" charset="0"/>
              <a:buNone/>
            </a:pPr>
            <a:r>
              <a:rPr lang="en-GB" altLang="en-US" sz="1800">
                <a:solidFill>
                  <a:schemeClr val="accent2"/>
                </a:solidFill>
                <a:cs typeface="Arial" panose="020B0604020202020204" pitchFamily="34" charset="0"/>
              </a:rPr>
              <a:t>answer = “no” for first branch)</a:t>
            </a:r>
            <a:endParaRPr lang="en-GB" altLang="en-US">
              <a:solidFill>
                <a:schemeClr val="accent2"/>
              </a:solidFill>
              <a:cs typeface="Arial" panose="020B0604020202020204" pitchFamily="34" charset="0"/>
            </a:endParaRPr>
          </a:p>
        </p:txBody>
      </p:sp>
      <p:sp>
        <p:nvSpPr>
          <p:cNvPr id="43044" name="AutoShape 5">
            <a:extLst>
              <a:ext uri="{FF2B5EF4-FFF2-40B4-BE49-F238E27FC236}">
                <a16:creationId xmlns:a16="http://schemas.microsoft.com/office/drawing/2014/main" id="{8986E903-990D-43B4-FD8F-0BA55DA6A72B}"/>
              </a:ext>
            </a:extLst>
          </p:cNvPr>
          <p:cNvSpPr>
            <a:spLocks/>
          </p:cNvSpPr>
          <p:nvPr/>
        </p:nvSpPr>
        <p:spPr bwMode="auto">
          <a:xfrm rot="-5400000">
            <a:off x="4887913" y="4102100"/>
            <a:ext cx="127000" cy="1282700"/>
          </a:xfrm>
          <a:prstGeom prst="leftBrace">
            <a:avLst>
              <a:gd name="adj1" fmla="val 84167"/>
              <a:gd name="adj2" fmla="val 50000"/>
            </a:avLst>
          </a:prstGeom>
          <a:noFill/>
          <a:ln w="936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3045" name="AutoShape 39">
            <a:extLst>
              <a:ext uri="{FF2B5EF4-FFF2-40B4-BE49-F238E27FC236}">
                <a16:creationId xmlns:a16="http://schemas.microsoft.com/office/drawing/2014/main" id="{21ABC480-1BE2-7C19-19D0-03FE5B888D71}"/>
              </a:ext>
            </a:extLst>
          </p:cNvPr>
          <p:cNvSpPr>
            <a:spLocks/>
          </p:cNvSpPr>
          <p:nvPr/>
        </p:nvSpPr>
        <p:spPr bwMode="auto">
          <a:xfrm rot="-5400000">
            <a:off x="1816100" y="3848100"/>
            <a:ext cx="165100" cy="3340100"/>
          </a:xfrm>
          <a:prstGeom prst="leftBrace">
            <a:avLst>
              <a:gd name="adj1" fmla="val 16859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3046" name="Text Box 40">
            <a:extLst>
              <a:ext uri="{FF2B5EF4-FFF2-40B4-BE49-F238E27FC236}">
                <a16:creationId xmlns:a16="http://schemas.microsoft.com/office/drawing/2014/main" id="{8E5C0174-35E5-5619-9314-00F740A3DC89}"/>
              </a:ext>
            </a:extLst>
          </p:cNvPr>
          <p:cNvSpPr txBox="1">
            <a:spLocks noChangeArrowheads="1"/>
          </p:cNvSpPr>
          <p:nvPr/>
        </p:nvSpPr>
        <p:spPr bwMode="auto">
          <a:xfrm>
            <a:off x="466725" y="5546725"/>
            <a:ext cx="6624638"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2000">
                <a:solidFill>
                  <a:schemeClr val="tx1"/>
                </a:solidFill>
                <a:cs typeface="Arial" panose="020B0604020202020204" pitchFamily="34" charset="0"/>
              </a:rPr>
              <a:t>1-bit of “branch history” used to correlate prediction for current branch with outcome of last branch.</a:t>
            </a:r>
          </a:p>
        </p:txBody>
      </p:sp>
      <p:sp>
        <p:nvSpPr>
          <p:cNvPr id="43047" name="Text Box 7">
            <a:extLst>
              <a:ext uri="{FF2B5EF4-FFF2-40B4-BE49-F238E27FC236}">
                <a16:creationId xmlns:a16="http://schemas.microsoft.com/office/drawing/2014/main" id="{7362FB66-EF58-093B-5B75-19DB756273B8}"/>
              </a:ext>
            </a:extLst>
          </p:cNvPr>
          <p:cNvSpPr txBox="1">
            <a:spLocks noChangeArrowheads="1"/>
          </p:cNvSpPr>
          <p:nvPr/>
        </p:nvSpPr>
        <p:spPr bwMode="auto">
          <a:xfrm>
            <a:off x="4178300" y="4211638"/>
            <a:ext cx="5254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no</a:t>
            </a:r>
          </a:p>
        </p:txBody>
      </p:sp>
      <p:sp>
        <p:nvSpPr>
          <p:cNvPr id="43048" name="Text Box 8">
            <a:extLst>
              <a:ext uri="{FF2B5EF4-FFF2-40B4-BE49-F238E27FC236}">
                <a16:creationId xmlns:a16="http://schemas.microsoft.com/office/drawing/2014/main" id="{7F669764-4DEF-6AD2-E6E5-C3A35DEB8E1A}"/>
              </a:ext>
            </a:extLst>
          </p:cNvPr>
          <p:cNvSpPr txBox="1">
            <a:spLocks noChangeArrowheads="1"/>
          </p:cNvSpPr>
          <p:nvPr/>
        </p:nvSpPr>
        <p:spPr bwMode="auto">
          <a:xfrm>
            <a:off x="5129213" y="4211638"/>
            <a:ext cx="6604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yes</a:t>
            </a:r>
          </a:p>
        </p:txBody>
      </p:sp>
      <p:sp>
        <p:nvSpPr>
          <p:cNvPr id="43049" name="Text Box 30">
            <a:extLst>
              <a:ext uri="{FF2B5EF4-FFF2-40B4-BE49-F238E27FC236}">
                <a16:creationId xmlns:a16="http://schemas.microsoft.com/office/drawing/2014/main" id="{CA2F9597-4F65-FF39-079A-1527DACD8EA6}"/>
              </a:ext>
            </a:extLst>
          </p:cNvPr>
          <p:cNvSpPr txBox="1">
            <a:spLocks noChangeArrowheads="1"/>
          </p:cNvSpPr>
          <p:nvPr/>
        </p:nvSpPr>
        <p:spPr bwMode="auto">
          <a:xfrm>
            <a:off x="3521075" y="3881438"/>
            <a:ext cx="70961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2</a:t>
            </a:r>
            <a:r>
              <a:rPr lang="en-US" altLang="en-US" sz="1000" baseline="30000">
                <a:solidFill>
                  <a:schemeClr val="tx1"/>
                </a:solidFill>
                <a:cs typeface="Arial" panose="020B0604020202020204" pitchFamily="34" charset="0"/>
              </a:rPr>
              <a:t>n</a:t>
            </a:r>
            <a:r>
              <a:rPr lang="en-US" altLang="en-US" sz="1000">
                <a:solidFill>
                  <a:schemeClr val="tx1"/>
                </a:solidFill>
                <a:cs typeface="Arial" panose="020B0604020202020204" pitchFamily="34" charset="0"/>
              </a:rPr>
              <a:t>-1</a:t>
            </a:r>
            <a:endParaRPr lang="en-US" altLang="en-US" sz="1400">
              <a:cs typeface="Arial" panose="020B0604020202020204" pitchFamily="34" charset="0"/>
            </a:endParaRPr>
          </a:p>
        </p:txBody>
      </p:sp>
      <p:sp>
        <p:nvSpPr>
          <p:cNvPr id="43050" name="Line 4">
            <a:extLst>
              <a:ext uri="{FF2B5EF4-FFF2-40B4-BE49-F238E27FC236}">
                <a16:creationId xmlns:a16="http://schemas.microsoft.com/office/drawing/2014/main" id="{206897F4-BA4E-396A-0DA7-D588080F5870}"/>
              </a:ext>
            </a:extLst>
          </p:cNvPr>
          <p:cNvSpPr>
            <a:spLocks noChangeShapeType="1"/>
          </p:cNvSpPr>
          <p:nvPr/>
        </p:nvSpPr>
        <p:spPr bwMode="auto">
          <a:xfrm>
            <a:off x="3581400" y="5067300"/>
            <a:ext cx="13589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3051" name="Line 6">
            <a:extLst>
              <a:ext uri="{FF2B5EF4-FFF2-40B4-BE49-F238E27FC236}">
                <a16:creationId xmlns:a16="http://schemas.microsoft.com/office/drawing/2014/main" id="{C0B3FDE6-A0E2-DFE7-C07C-FCF80D7AA340}"/>
              </a:ext>
            </a:extLst>
          </p:cNvPr>
          <p:cNvSpPr>
            <a:spLocks noChangeShapeType="1"/>
          </p:cNvSpPr>
          <p:nvPr/>
        </p:nvSpPr>
        <p:spPr bwMode="auto">
          <a:xfrm flipV="1">
            <a:off x="4940300" y="4786313"/>
            <a:ext cx="14288" cy="282575"/>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9">
            <a:extLst>
              <a:ext uri="{FF2B5EF4-FFF2-40B4-BE49-F238E27FC236}">
                <a16:creationId xmlns:a16="http://schemas.microsoft.com/office/drawing/2014/main" id="{F74DCB5A-40AD-7287-1BBE-B398166222D9}"/>
              </a:ext>
            </a:extLst>
          </p:cNvPr>
          <p:cNvSpPr>
            <a:spLocks noChangeArrowheads="1"/>
          </p:cNvSpPr>
          <p:nvPr/>
        </p:nvSpPr>
        <p:spPr bwMode="auto">
          <a:xfrm>
            <a:off x="4279900" y="1409700"/>
            <a:ext cx="279400" cy="27432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4035" name="Rectangle 14">
            <a:extLst>
              <a:ext uri="{FF2B5EF4-FFF2-40B4-BE49-F238E27FC236}">
                <a16:creationId xmlns:a16="http://schemas.microsoft.com/office/drawing/2014/main" id="{B39B8224-07EF-8783-7B82-E9F7E4A96C52}"/>
              </a:ext>
            </a:extLst>
          </p:cNvPr>
          <p:cNvSpPr>
            <a:spLocks noChangeArrowheads="1"/>
          </p:cNvSpPr>
          <p:nvPr/>
        </p:nvSpPr>
        <p:spPr bwMode="auto">
          <a:xfrm>
            <a:off x="5295900" y="1435100"/>
            <a:ext cx="279400" cy="27178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4036" name="Text Box 3">
            <a:extLst>
              <a:ext uri="{FF2B5EF4-FFF2-40B4-BE49-F238E27FC236}">
                <a16:creationId xmlns:a16="http://schemas.microsoft.com/office/drawing/2014/main" id="{8DFE8DEF-24A2-6ABB-FD2A-037EBA567F56}"/>
              </a:ext>
            </a:extLst>
          </p:cNvPr>
          <p:cNvSpPr txBox="1">
            <a:spLocks noChangeArrowheads="1"/>
          </p:cNvSpPr>
          <p:nvPr/>
        </p:nvSpPr>
        <p:spPr bwMode="auto">
          <a:xfrm>
            <a:off x="204788" y="4654550"/>
            <a:ext cx="3494087"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Was most recent branch taken? </a:t>
            </a:r>
            <a:r>
              <a:rPr lang="en-GB" altLang="en-US" sz="1800">
                <a:solidFill>
                  <a:srgbClr val="FF0000"/>
                </a:solidFill>
                <a:cs typeface="Arial" panose="020B0604020202020204" pitchFamily="34" charset="0"/>
              </a:rPr>
              <a:t>“Yes” because b1 was taken.</a:t>
            </a:r>
            <a:endParaRPr lang="en-GB" altLang="en-US">
              <a:solidFill>
                <a:srgbClr val="FF0000"/>
              </a:solidFill>
              <a:cs typeface="Arial" panose="020B0604020202020204" pitchFamily="34" charset="0"/>
            </a:endParaRPr>
          </a:p>
        </p:txBody>
      </p:sp>
      <p:sp>
        <p:nvSpPr>
          <p:cNvPr id="44037" name="AutoShape 5">
            <a:extLst>
              <a:ext uri="{FF2B5EF4-FFF2-40B4-BE49-F238E27FC236}">
                <a16:creationId xmlns:a16="http://schemas.microsoft.com/office/drawing/2014/main" id="{41104FE4-DE50-E2C1-0960-D3ED5376FA13}"/>
              </a:ext>
            </a:extLst>
          </p:cNvPr>
          <p:cNvSpPr>
            <a:spLocks/>
          </p:cNvSpPr>
          <p:nvPr/>
        </p:nvSpPr>
        <p:spPr bwMode="auto">
          <a:xfrm rot="-5400000">
            <a:off x="4887913" y="4102100"/>
            <a:ext cx="127000" cy="1282700"/>
          </a:xfrm>
          <a:prstGeom prst="leftBrace">
            <a:avLst>
              <a:gd name="adj1" fmla="val 84167"/>
              <a:gd name="adj2" fmla="val 50000"/>
            </a:avLst>
          </a:prstGeom>
          <a:noFill/>
          <a:ln w="936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4038" name="AutoShape 39">
            <a:extLst>
              <a:ext uri="{FF2B5EF4-FFF2-40B4-BE49-F238E27FC236}">
                <a16:creationId xmlns:a16="http://schemas.microsoft.com/office/drawing/2014/main" id="{D39F52B9-FB7E-A32B-4A62-0B3CEB831C52}"/>
              </a:ext>
            </a:extLst>
          </p:cNvPr>
          <p:cNvSpPr>
            <a:spLocks/>
          </p:cNvSpPr>
          <p:nvPr/>
        </p:nvSpPr>
        <p:spPr bwMode="auto">
          <a:xfrm rot="-5400000">
            <a:off x="1816100" y="3848100"/>
            <a:ext cx="165100" cy="3340100"/>
          </a:xfrm>
          <a:prstGeom prst="leftBrace">
            <a:avLst>
              <a:gd name="adj1" fmla="val 16859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4039" name="Text Box 40">
            <a:extLst>
              <a:ext uri="{FF2B5EF4-FFF2-40B4-BE49-F238E27FC236}">
                <a16:creationId xmlns:a16="http://schemas.microsoft.com/office/drawing/2014/main" id="{A3E53755-9BEA-E7DD-0CA0-9FE070B59BE4}"/>
              </a:ext>
            </a:extLst>
          </p:cNvPr>
          <p:cNvSpPr txBox="1">
            <a:spLocks noChangeArrowheads="1"/>
          </p:cNvSpPr>
          <p:nvPr/>
        </p:nvSpPr>
        <p:spPr bwMode="auto">
          <a:xfrm>
            <a:off x="466725" y="5546725"/>
            <a:ext cx="6624638"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2000">
                <a:solidFill>
                  <a:schemeClr val="tx1"/>
                </a:solidFill>
                <a:cs typeface="Arial" panose="020B0604020202020204" pitchFamily="34" charset="0"/>
              </a:rPr>
              <a:t>1-bit of “branch history” used to correlate prediction for current branch with outcome of last branch.</a:t>
            </a:r>
          </a:p>
        </p:txBody>
      </p:sp>
      <p:sp>
        <p:nvSpPr>
          <p:cNvPr id="44040" name="Text Box 7">
            <a:extLst>
              <a:ext uri="{FF2B5EF4-FFF2-40B4-BE49-F238E27FC236}">
                <a16:creationId xmlns:a16="http://schemas.microsoft.com/office/drawing/2014/main" id="{2C9977B9-A157-C17C-BAED-4F929004AF00}"/>
              </a:ext>
            </a:extLst>
          </p:cNvPr>
          <p:cNvSpPr txBox="1">
            <a:spLocks noChangeArrowheads="1"/>
          </p:cNvSpPr>
          <p:nvPr/>
        </p:nvSpPr>
        <p:spPr bwMode="auto">
          <a:xfrm>
            <a:off x="4178300" y="4211638"/>
            <a:ext cx="5254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no</a:t>
            </a:r>
          </a:p>
        </p:txBody>
      </p:sp>
      <p:sp>
        <p:nvSpPr>
          <p:cNvPr id="44041" name="Text Box 8">
            <a:extLst>
              <a:ext uri="{FF2B5EF4-FFF2-40B4-BE49-F238E27FC236}">
                <a16:creationId xmlns:a16="http://schemas.microsoft.com/office/drawing/2014/main" id="{461DE0C4-9751-EE7B-87F1-1BA1C95D0987}"/>
              </a:ext>
            </a:extLst>
          </p:cNvPr>
          <p:cNvSpPr txBox="1">
            <a:spLocks noChangeArrowheads="1"/>
          </p:cNvSpPr>
          <p:nvPr/>
        </p:nvSpPr>
        <p:spPr bwMode="auto">
          <a:xfrm>
            <a:off x="5129213" y="4211638"/>
            <a:ext cx="6604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yes</a:t>
            </a:r>
          </a:p>
        </p:txBody>
      </p:sp>
      <p:sp>
        <p:nvSpPr>
          <p:cNvPr id="44042" name="Text Box 30">
            <a:extLst>
              <a:ext uri="{FF2B5EF4-FFF2-40B4-BE49-F238E27FC236}">
                <a16:creationId xmlns:a16="http://schemas.microsoft.com/office/drawing/2014/main" id="{B86B05FB-ECAE-9454-D2C5-3AAD7B2FB651}"/>
              </a:ext>
            </a:extLst>
          </p:cNvPr>
          <p:cNvSpPr txBox="1">
            <a:spLocks noChangeArrowheads="1"/>
          </p:cNvSpPr>
          <p:nvPr/>
        </p:nvSpPr>
        <p:spPr bwMode="auto">
          <a:xfrm>
            <a:off x="3521075" y="3881438"/>
            <a:ext cx="70961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2</a:t>
            </a:r>
            <a:r>
              <a:rPr lang="en-US" altLang="en-US" sz="1000" baseline="30000">
                <a:solidFill>
                  <a:schemeClr val="tx1"/>
                </a:solidFill>
                <a:cs typeface="Arial" panose="020B0604020202020204" pitchFamily="34" charset="0"/>
              </a:rPr>
              <a:t>n</a:t>
            </a:r>
            <a:r>
              <a:rPr lang="en-US" altLang="en-US" sz="1000">
                <a:solidFill>
                  <a:schemeClr val="tx1"/>
                </a:solidFill>
                <a:cs typeface="Arial" panose="020B0604020202020204" pitchFamily="34" charset="0"/>
              </a:rPr>
              <a:t>-1</a:t>
            </a:r>
            <a:endParaRPr lang="en-US" altLang="en-US" sz="1400">
              <a:cs typeface="Arial" panose="020B0604020202020204" pitchFamily="34" charset="0"/>
            </a:endParaRPr>
          </a:p>
        </p:txBody>
      </p:sp>
      <p:sp>
        <p:nvSpPr>
          <p:cNvPr id="44043" name="Line 4">
            <a:extLst>
              <a:ext uri="{FF2B5EF4-FFF2-40B4-BE49-F238E27FC236}">
                <a16:creationId xmlns:a16="http://schemas.microsoft.com/office/drawing/2014/main" id="{9F08B259-E991-9AA6-95D9-DFB5C43755D6}"/>
              </a:ext>
            </a:extLst>
          </p:cNvPr>
          <p:cNvSpPr>
            <a:spLocks noChangeShapeType="1"/>
          </p:cNvSpPr>
          <p:nvPr/>
        </p:nvSpPr>
        <p:spPr bwMode="auto">
          <a:xfrm>
            <a:off x="3581400" y="5067300"/>
            <a:ext cx="13589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4044" name="Rectangle 2">
            <a:extLst>
              <a:ext uri="{FF2B5EF4-FFF2-40B4-BE49-F238E27FC236}">
                <a16:creationId xmlns:a16="http://schemas.microsoft.com/office/drawing/2014/main" id="{98B1A632-0D2A-DEFC-DF02-A68AA5F52E00}"/>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a:latin typeface="Arial  " charset="0"/>
                <a:cs typeface="Arial  " charset="0"/>
              </a:rPr>
              <a:t>1-Bit Predictor with 1-Bit of </a:t>
            </a:r>
            <a:r>
              <a:rPr lang="en-GB" altLang="en-US" sz="2800" u="sng">
                <a:solidFill>
                  <a:srgbClr val="0000FF"/>
                </a:solidFill>
                <a:latin typeface="Arial  " charset="0"/>
                <a:cs typeface="Arial  " charset="0"/>
              </a:rPr>
              <a:t>Correlation</a:t>
            </a:r>
            <a:r>
              <a:rPr lang="en-GB" altLang="en-US" sz="2800">
                <a:latin typeface="Arial  " charset="0"/>
                <a:cs typeface="Arial  " charset="0"/>
              </a:rPr>
              <a:t>:</a:t>
            </a:r>
            <a:endParaRPr lang="en-GB" altLang="en-US">
              <a:latin typeface="Arial  " charset="0"/>
              <a:cs typeface="Arial  " charset="0"/>
            </a:endParaRPr>
          </a:p>
        </p:txBody>
      </p:sp>
      <p:sp>
        <p:nvSpPr>
          <p:cNvPr id="44045" name="Line 10">
            <a:extLst>
              <a:ext uri="{FF2B5EF4-FFF2-40B4-BE49-F238E27FC236}">
                <a16:creationId xmlns:a16="http://schemas.microsoft.com/office/drawing/2014/main" id="{62ADD894-50D2-DE67-3448-C9C63F05EBC4}"/>
              </a:ext>
            </a:extLst>
          </p:cNvPr>
          <p:cNvSpPr>
            <a:spLocks noChangeShapeType="1"/>
          </p:cNvSpPr>
          <p:nvPr/>
        </p:nvSpPr>
        <p:spPr bwMode="auto">
          <a:xfrm>
            <a:off x="4279900" y="17145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4046" name="Line 11">
            <a:extLst>
              <a:ext uri="{FF2B5EF4-FFF2-40B4-BE49-F238E27FC236}">
                <a16:creationId xmlns:a16="http://schemas.microsoft.com/office/drawing/2014/main" id="{66CFAC9C-0CC2-F710-D48E-8F005ECE9E48}"/>
              </a:ext>
            </a:extLst>
          </p:cNvPr>
          <p:cNvSpPr>
            <a:spLocks noChangeShapeType="1"/>
          </p:cNvSpPr>
          <p:nvPr/>
        </p:nvSpPr>
        <p:spPr bwMode="auto">
          <a:xfrm>
            <a:off x="4267200" y="20193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4047" name="Line 12">
            <a:extLst>
              <a:ext uri="{FF2B5EF4-FFF2-40B4-BE49-F238E27FC236}">
                <a16:creationId xmlns:a16="http://schemas.microsoft.com/office/drawing/2014/main" id="{7C9F1202-7F69-9F8F-B1E8-D8F7CE7AB28D}"/>
              </a:ext>
            </a:extLst>
          </p:cNvPr>
          <p:cNvSpPr>
            <a:spLocks noChangeShapeType="1"/>
          </p:cNvSpPr>
          <p:nvPr/>
        </p:nvSpPr>
        <p:spPr bwMode="auto">
          <a:xfrm>
            <a:off x="4279900" y="23114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4048" name="Text Box 13">
            <a:extLst>
              <a:ext uri="{FF2B5EF4-FFF2-40B4-BE49-F238E27FC236}">
                <a16:creationId xmlns:a16="http://schemas.microsoft.com/office/drawing/2014/main" id="{ADD05164-7E23-F52F-B01F-2E7ABBC93390}"/>
              </a:ext>
            </a:extLst>
          </p:cNvPr>
          <p:cNvSpPr txBox="1">
            <a:spLocks noChangeArrowheads="1"/>
          </p:cNvSpPr>
          <p:nvPr/>
        </p:nvSpPr>
        <p:spPr bwMode="auto">
          <a:xfrm>
            <a:off x="4216400" y="2020888"/>
            <a:ext cx="420688"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FF"/>
              </a:buClr>
            </a:pPr>
            <a:r>
              <a:rPr lang="en-GB" altLang="en-US" sz="1400" b="1">
                <a:solidFill>
                  <a:srgbClr val="FF00FF"/>
                </a:solidFill>
                <a:cs typeface="Arial" panose="020B0604020202020204" pitchFamily="34" charset="0"/>
              </a:rPr>
              <a:t>NT</a:t>
            </a:r>
          </a:p>
        </p:txBody>
      </p:sp>
      <p:sp>
        <p:nvSpPr>
          <p:cNvPr id="44049" name="Line 15">
            <a:extLst>
              <a:ext uri="{FF2B5EF4-FFF2-40B4-BE49-F238E27FC236}">
                <a16:creationId xmlns:a16="http://schemas.microsoft.com/office/drawing/2014/main" id="{A1F8CD97-6E72-1A19-E22D-77F27B3D6864}"/>
              </a:ext>
            </a:extLst>
          </p:cNvPr>
          <p:cNvSpPr>
            <a:spLocks noChangeShapeType="1"/>
          </p:cNvSpPr>
          <p:nvPr/>
        </p:nvSpPr>
        <p:spPr bwMode="auto">
          <a:xfrm>
            <a:off x="5295900" y="17399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4050" name="Line 16">
            <a:extLst>
              <a:ext uri="{FF2B5EF4-FFF2-40B4-BE49-F238E27FC236}">
                <a16:creationId xmlns:a16="http://schemas.microsoft.com/office/drawing/2014/main" id="{9CEFDFC5-63ED-CFB4-EAB5-95C6C1F84408}"/>
              </a:ext>
            </a:extLst>
          </p:cNvPr>
          <p:cNvSpPr>
            <a:spLocks noChangeShapeType="1"/>
          </p:cNvSpPr>
          <p:nvPr/>
        </p:nvSpPr>
        <p:spPr bwMode="auto">
          <a:xfrm>
            <a:off x="5283200" y="20447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4051" name="Line 17">
            <a:extLst>
              <a:ext uri="{FF2B5EF4-FFF2-40B4-BE49-F238E27FC236}">
                <a16:creationId xmlns:a16="http://schemas.microsoft.com/office/drawing/2014/main" id="{76C7EA50-D2FF-A7B5-7681-8724BCA550A5}"/>
              </a:ext>
            </a:extLst>
          </p:cNvPr>
          <p:cNvSpPr>
            <a:spLocks noChangeShapeType="1"/>
          </p:cNvSpPr>
          <p:nvPr/>
        </p:nvSpPr>
        <p:spPr bwMode="auto">
          <a:xfrm>
            <a:off x="5295900" y="23368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4052" name="Text Box 18">
            <a:extLst>
              <a:ext uri="{FF2B5EF4-FFF2-40B4-BE49-F238E27FC236}">
                <a16:creationId xmlns:a16="http://schemas.microsoft.com/office/drawing/2014/main" id="{D27C8A41-F303-2880-689D-40A8CEE66C4E}"/>
              </a:ext>
            </a:extLst>
          </p:cNvPr>
          <p:cNvSpPr txBox="1">
            <a:spLocks noChangeArrowheads="1"/>
          </p:cNvSpPr>
          <p:nvPr/>
        </p:nvSpPr>
        <p:spPr bwMode="auto">
          <a:xfrm>
            <a:off x="5194300" y="2046288"/>
            <a:ext cx="469900"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FF"/>
              </a:buClr>
            </a:pPr>
            <a:r>
              <a:rPr lang="en-GB" altLang="en-US" sz="1400" b="1">
                <a:solidFill>
                  <a:srgbClr val="FF00FF"/>
                </a:solidFill>
                <a:cs typeface="Arial" panose="020B0604020202020204" pitchFamily="34" charset="0"/>
              </a:rPr>
              <a:t> NT</a:t>
            </a:r>
          </a:p>
        </p:txBody>
      </p:sp>
      <p:sp>
        <p:nvSpPr>
          <p:cNvPr id="44053" name="Text Box 19">
            <a:extLst>
              <a:ext uri="{FF2B5EF4-FFF2-40B4-BE49-F238E27FC236}">
                <a16:creationId xmlns:a16="http://schemas.microsoft.com/office/drawing/2014/main" id="{1F93A19D-42FC-E1C7-9168-5053E0ADF13D}"/>
              </a:ext>
            </a:extLst>
          </p:cNvPr>
          <p:cNvSpPr txBox="1">
            <a:spLocks noChangeArrowheads="1"/>
          </p:cNvSpPr>
          <p:nvPr/>
        </p:nvSpPr>
        <p:spPr bwMode="auto">
          <a:xfrm>
            <a:off x="6080125" y="2062163"/>
            <a:ext cx="2797175" cy="1755775"/>
          </a:xfrm>
          <a:prstGeom prst="rect">
            <a:avLst/>
          </a:pr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0000FF"/>
              </a:buClr>
              <a:buFont typeface="Comic Sans MS" panose="030F0902030302020204" pitchFamily="66" charset="0"/>
              <a:buNone/>
            </a:pPr>
            <a:r>
              <a:rPr lang="en-GB" altLang="en-US" sz="1800">
                <a:solidFill>
                  <a:srgbClr val="0000FF"/>
                </a:solidFill>
                <a:cs typeface="Arial" panose="020B0604020202020204" pitchFamily="34" charset="0"/>
              </a:rPr>
              <a:t>        </a:t>
            </a:r>
            <a:r>
              <a:rPr lang="en-GB" altLang="en-US" sz="1800">
                <a:solidFill>
                  <a:srgbClr val="FF0000"/>
                </a:solidFill>
                <a:cs typeface="Arial" panose="020B0604020202020204" pitchFamily="34" charset="0"/>
              </a:rPr>
              <a:t>if (d!=0) goto L1;//b1</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            d=1;</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L1:   </a:t>
            </a:r>
            <a:r>
              <a:rPr lang="en-GB" altLang="en-US" sz="1800">
                <a:solidFill>
                  <a:srgbClr val="FF00FF"/>
                </a:solidFill>
                <a:cs typeface="Arial" panose="020B0604020202020204" pitchFamily="34" charset="0"/>
              </a:rPr>
              <a:t>if (d!=1) goto L2;//b2</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        ...</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L2:</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        ...</a:t>
            </a:r>
          </a:p>
        </p:txBody>
      </p:sp>
      <p:sp>
        <p:nvSpPr>
          <p:cNvPr id="44054" name="Text Box 20">
            <a:extLst>
              <a:ext uri="{FF2B5EF4-FFF2-40B4-BE49-F238E27FC236}">
                <a16:creationId xmlns:a16="http://schemas.microsoft.com/office/drawing/2014/main" id="{390DB0A8-9B1C-BD5C-3038-6D009E8CF2B8}"/>
              </a:ext>
            </a:extLst>
          </p:cNvPr>
          <p:cNvSpPr txBox="1">
            <a:spLocks noChangeArrowheads="1"/>
          </p:cNvSpPr>
          <p:nvPr/>
        </p:nvSpPr>
        <p:spPr bwMode="auto">
          <a:xfrm>
            <a:off x="4230688" y="1409700"/>
            <a:ext cx="33972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pPr>
            <a:r>
              <a:rPr lang="en-GB" altLang="en-US" sz="1400" b="1">
                <a:solidFill>
                  <a:srgbClr val="FF0000"/>
                </a:solidFill>
                <a:cs typeface="Arial" panose="020B0604020202020204" pitchFamily="34" charset="0"/>
              </a:rPr>
              <a:t> T</a:t>
            </a:r>
          </a:p>
        </p:txBody>
      </p:sp>
      <p:sp>
        <p:nvSpPr>
          <p:cNvPr id="44055" name="Text Box 21">
            <a:extLst>
              <a:ext uri="{FF2B5EF4-FFF2-40B4-BE49-F238E27FC236}">
                <a16:creationId xmlns:a16="http://schemas.microsoft.com/office/drawing/2014/main" id="{D6CA46A0-4391-021A-3815-33B8FB1B69E1}"/>
              </a:ext>
            </a:extLst>
          </p:cNvPr>
          <p:cNvSpPr txBox="1">
            <a:spLocks noChangeArrowheads="1"/>
          </p:cNvSpPr>
          <p:nvPr/>
        </p:nvSpPr>
        <p:spPr bwMode="auto">
          <a:xfrm>
            <a:off x="5221288" y="1409700"/>
            <a:ext cx="420687"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pPr>
            <a:r>
              <a:rPr lang="en-GB" altLang="en-US" sz="1400" b="1">
                <a:solidFill>
                  <a:srgbClr val="FF0000"/>
                </a:solidFill>
                <a:cs typeface="Arial" panose="020B0604020202020204" pitchFamily="34" charset="0"/>
              </a:rPr>
              <a:t>NT</a:t>
            </a:r>
          </a:p>
        </p:txBody>
      </p:sp>
      <p:sp>
        <p:nvSpPr>
          <p:cNvPr id="44056" name="Text Box 22">
            <a:extLst>
              <a:ext uri="{FF2B5EF4-FFF2-40B4-BE49-F238E27FC236}">
                <a16:creationId xmlns:a16="http://schemas.microsoft.com/office/drawing/2014/main" id="{9AA536FE-87A5-AF6C-849D-255BC59AF650}"/>
              </a:ext>
            </a:extLst>
          </p:cNvPr>
          <p:cNvSpPr txBox="1">
            <a:spLocks noChangeArrowheads="1"/>
          </p:cNvSpPr>
          <p:nvPr/>
        </p:nvSpPr>
        <p:spPr bwMode="auto">
          <a:xfrm>
            <a:off x="0" y="884238"/>
            <a:ext cx="2151063" cy="831850"/>
          </a:xfrm>
          <a:prstGeom prst="rect">
            <a:avLst/>
          </a:pr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pass 1: d=2</a:t>
            </a:r>
          </a:p>
          <a:p>
            <a:pPr>
              <a:lnSpc>
                <a:spcPct val="100000"/>
              </a:lnSpc>
              <a:buFont typeface="Comic Sans MS" panose="030F0902030302020204" pitchFamily="66" charset="0"/>
              <a:buNone/>
            </a:pPr>
            <a:r>
              <a:rPr lang="en-GB" altLang="en-US">
                <a:solidFill>
                  <a:srgbClr val="000000"/>
                </a:solidFill>
                <a:cs typeface="Arial" panose="020B0604020202020204" pitchFamily="34" charset="0"/>
              </a:rPr>
              <a:t>(predicting b2)</a:t>
            </a:r>
          </a:p>
        </p:txBody>
      </p:sp>
      <p:sp>
        <p:nvSpPr>
          <p:cNvPr id="44057" name="Rectangle 24">
            <a:extLst>
              <a:ext uri="{FF2B5EF4-FFF2-40B4-BE49-F238E27FC236}">
                <a16:creationId xmlns:a16="http://schemas.microsoft.com/office/drawing/2014/main" id="{E26F05AC-1877-6885-8D8C-8B892FBB7309}"/>
              </a:ext>
            </a:extLst>
          </p:cNvPr>
          <p:cNvSpPr>
            <a:spLocks noChangeArrowheads="1"/>
          </p:cNvSpPr>
          <p:nvPr/>
        </p:nvSpPr>
        <p:spPr bwMode="auto">
          <a:xfrm>
            <a:off x="3073400" y="1995488"/>
            <a:ext cx="2619375" cy="361950"/>
          </a:xfrm>
          <a:prstGeom prst="rect">
            <a:avLst/>
          </a:prstGeom>
          <a:noFill/>
          <a:ln w="38100">
            <a:solidFill>
              <a:srgbClr val="FF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4058" name="Text Box 25">
            <a:extLst>
              <a:ext uri="{FF2B5EF4-FFF2-40B4-BE49-F238E27FC236}">
                <a16:creationId xmlns:a16="http://schemas.microsoft.com/office/drawing/2014/main" id="{04D1BEE6-2AD0-F046-CF33-C1E4027AE0F8}"/>
              </a:ext>
            </a:extLst>
          </p:cNvPr>
          <p:cNvSpPr txBox="1">
            <a:spLocks noChangeArrowheads="1"/>
          </p:cNvSpPr>
          <p:nvPr/>
        </p:nvSpPr>
        <p:spPr bwMode="auto">
          <a:xfrm>
            <a:off x="3095625" y="1970088"/>
            <a:ext cx="5270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rgbClr val="FF00FF"/>
                </a:solidFill>
                <a:cs typeface="Arial" panose="020B0604020202020204" pitchFamily="34" charset="0"/>
              </a:rPr>
              <a:t>b2</a:t>
            </a:r>
            <a:endParaRPr lang="en-US" altLang="en-US">
              <a:cs typeface="Arial" panose="020B0604020202020204" pitchFamily="34" charset="0"/>
            </a:endParaRPr>
          </a:p>
        </p:txBody>
      </p:sp>
      <p:sp>
        <p:nvSpPr>
          <p:cNvPr id="44059" name="Text Box 26">
            <a:extLst>
              <a:ext uri="{FF2B5EF4-FFF2-40B4-BE49-F238E27FC236}">
                <a16:creationId xmlns:a16="http://schemas.microsoft.com/office/drawing/2014/main" id="{1BABCB07-B7E3-716A-F413-B2B29D6CE2DB}"/>
              </a:ext>
            </a:extLst>
          </p:cNvPr>
          <p:cNvSpPr txBox="1">
            <a:spLocks noChangeArrowheads="1"/>
          </p:cNvSpPr>
          <p:nvPr/>
        </p:nvSpPr>
        <p:spPr bwMode="auto">
          <a:xfrm>
            <a:off x="3559175" y="14938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00</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4060" name="Text Box 27">
            <a:extLst>
              <a:ext uri="{FF2B5EF4-FFF2-40B4-BE49-F238E27FC236}">
                <a16:creationId xmlns:a16="http://schemas.microsoft.com/office/drawing/2014/main" id="{C95FB875-BB28-8027-2A97-E0C18D1FE011}"/>
              </a:ext>
            </a:extLst>
          </p:cNvPr>
          <p:cNvSpPr txBox="1">
            <a:spLocks noChangeArrowheads="1"/>
          </p:cNvSpPr>
          <p:nvPr/>
        </p:nvSpPr>
        <p:spPr bwMode="auto">
          <a:xfrm>
            <a:off x="3578225" y="17986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01</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4061" name="Text Box 28">
            <a:extLst>
              <a:ext uri="{FF2B5EF4-FFF2-40B4-BE49-F238E27FC236}">
                <a16:creationId xmlns:a16="http://schemas.microsoft.com/office/drawing/2014/main" id="{1B1B4783-32AD-4DBD-970C-FA704B86CF48}"/>
              </a:ext>
            </a:extLst>
          </p:cNvPr>
          <p:cNvSpPr txBox="1">
            <a:spLocks noChangeArrowheads="1"/>
          </p:cNvSpPr>
          <p:nvPr/>
        </p:nvSpPr>
        <p:spPr bwMode="auto">
          <a:xfrm>
            <a:off x="3590925" y="20653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rgbClr val="FF00FF"/>
                </a:solidFill>
                <a:cs typeface="Arial" panose="020B0604020202020204" pitchFamily="34" charset="0"/>
              </a:rPr>
              <a:t>Row 10</a:t>
            </a:r>
            <a:r>
              <a:rPr lang="en-US" altLang="en-US" sz="1000" baseline="-25000">
                <a:solidFill>
                  <a:srgbClr val="FF00FF"/>
                </a:solidFill>
                <a:cs typeface="Arial" panose="020B0604020202020204" pitchFamily="34" charset="0"/>
              </a:rPr>
              <a:t>2</a:t>
            </a:r>
            <a:endParaRPr lang="en-US" altLang="en-US" sz="1400">
              <a:cs typeface="Arial" panose="020B0604020202020204" pitchFamily="34" charset="0"/>
            </a:endParaRPr>
          </a:p>
        </p:txBody>
      </p:sp>
      <p:sp>
        <p:nvSpPr>
          <p:cNvPr id="44062" name="Text Box 29">
            <a:extLst>
              <a:ext uri="{FF2B5EF4-FFF2-40B4-BE49-F238E27FC236}">
                <a16:creationId xmlns:a16="http://schemas.microsoft.com/office/drawing/2014/main" id="{154566C6-1BA2-B628-231C-C7A52DA0C760}"/>
              </a:ext>
            </a:extLst>
          </p:cNvPr>
          <p:cNvSpPr txBox="1">
            <a:spLocks noChangeArrowheads="1"/>
          </p:cNvSpPr>
          <p:nvPr/>
        </p:nvSpPr>
        <p:spPr bwMode="auto">
          <a:xfrm>
            <a:off x="3597275" y="235108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11</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4063" name="Line 31">
            <a:extLst>
              <a:ext uri="{FF2B5EF4-FFF2-40B4-BE49-F238E27FC236}">
                <a16:creationId xmlns:a16="http://schemas.microsoft.com/office/drawing/2014/main" id="{ED5B369E-B16C-659D-45B7-AA21550A38B3}"/>
              </a:ext>
            </a:extLst>
          </p:cNvPr>
          <p:cNvSpPr>
            <a:spLocks noChangeShapeType="1"/>
          </p:cNvSpPr>
          <p:nvPr/>
        </p:nvSpPr>
        <p:spPr bwMode="auto">
          <a:xfrm>
            <a:off x="2247900" y="3594100"/>
            <a:ext cx="1612900" cy="1588"/>
          </a:xfrm>
          <a:prstGeom prst="line">
            <a:avLst/>
          </a:prstGeom>
          <a:noFill/>
          <a:ln w="2844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064" name="Rectangle 32">
            <a:extLst>
              <a:ext uri="{FF2B5EF4-FFF2-40B4-BE49-F238E27FC236}">
                <a16:creationId xmlns:a16="http://schemas.microsoft.com/office/drawing/2014/main" id="{27778604-357A-329F-F001-985FAF876577}"/>
              </a:ext>
            </a:extLst>
          </p:cNvPr>
          <p:cNvSpPr>
            <a:spLocks noChangeArrowheads="1"/>
          </p:cNvSpPr>
          <p:nvPr/>
        </p:nvSpPr>
        <p:spPr bwMode="auto">
          <a:xfrm>
            <a:off x="1320800" y="2730500"/>
            <a:ext cx="1790700" cy="419100"/>
          </a:xfrm>
          <a:prstGeom prst="rect">
            <a:avLst/>
          </a:prstGeom>
          <a:solidFill>
            <a:srgbClr val="BBE0E3"/>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a:lnSpc>
                <a:spcPct val="100000"/>
              </a:lnSpc>
            </a:pPr>
            <a:r>
              <a:rPr lang="en-GB" altLang="en-US">
                <a:solidFill>
                  <a:srgbClr val="FF00FF"/>
                </a:solidFill>
                <a:cs typeface="Arial" panose="020B0604020202020204" pitchFamily="34" charset="0"/>
              </a:rPr>
              <a:t>000000010</a:t>
            </a:r>
            <a:endParaRPr lang="en-GB" altLang="en-US">
              <a:solidFill>
                <a:srgbClr val="000000"/>
              </a:solidFill>
              <a:cs typeface="Arial" panose="020B0604020202020204" pitchFamily="34" charset="0"/>
            </a:endParaRPr>
          </a:p>
        </p:txBody>
      </p:sp>
      <p:sp>
        <p:nvSpPr>
          <p:cNvPr id="44065" name="Rectangle 33">
            <a:extLst>
              <a:ext uri="{FF2B5EF4-FFF2-40B4-BE49-F238E27FC236}">
                <a16:creationId xmlns:a16="http://schemas.microsoft.com/office/drawing/2014/main" id="{796D5558-6712-5034-5503-87B3A0824945}"/>
              </a:ext>
            </a:extLst>
          </p:cNvPr>
          <p:cNvSpPr>
            <a:spLocks noChangeArrowheads="1"/>
          </p:cNvSpPr>
          <p:nvPr/>
        </p:nvSpPr>
        <p:spPr bwMode="auto">
          <a:xfrm>
            <a:off x="203200" y="2730500"/>
            <a:ext cx="1219200" cy="419100"/>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cs typeface="Arial" panose="020B0604020202020204" pitchFamily="34" charset="0"/>
              </a:rPr>
              <a:t>00…000</a:t>
            </a:r>
          </a:p>
        </p:txBody>
      </p:sp>
      <p:sp>
        <p:nvSpPr>
          <p:cNvPr id="44066" name="AutoShape 34">
            <a:extLst>
              <a:ext uri="{FF2B5EF4-FFF2-40B4-BE49-F238E27FC236}">
                <a16:creationId xmlns:a16="http://schemas.microsoft.com/office/drawing/2014/main" id="{A9040A0F-AF17-B727-6DC6-75D647F6E60E}"/>
              </a:ext>
            </a:extLst>
          </p:cNvPr>
          <p:cNvSpPr>
            <a:spLocks/>
          </p:cNvSpPr>
          <p:nvPr/>
        </p:nvSpPr>
        <p:spPr bwMode="auto">
          <a:xfrm rot="-5400000">
            <a:off x="2063750" y="2705100"/>
            <a:ext cx="342900" cy="1460500"/>
          </a:xfrm>
          <a:prstGeom prst="leftBrace">
            <a:avLst>
              <a:gd name="adj1" fmla="val 35494"/>
              <a:gd name="adj2" fmla="val 50000"/>
            </a:avLst>
          </a:prstGeom>
          <a:noFill/>
          <a:ln w="936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4067" name="Rectangle 35">
            <a:extLst>
              <a:ext uri="{FF2B5EF4-FFF2-40B4-BE49-F238E27FC236}">
                <a16:creationId xmlns:a16="http://schemas.microsoft.com/office/drawing/2014/main" id="{A2F6BADC-B71F-B809-81CA-B69FCA67E324}"/>
              </a:ext>
            </a:extLst>
          </p:cNvPr>
          <p:cNvSpPr>
            <a:spLocks noChangeArrowheads="1"/>
          </p:cNvSpPr>
          <p:nvPr/>
        </p:nvSpPr>
        <p:spPr bwMode="auto">
          <a:xfrm>
            <a:off x="2984500" y="2727325"/>
            <a:ext cx="390525" cy="422275"/>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cs typeface="Arial" panose="020B0604020202020204" pitchFamily="34" charset="0"/>
              </a:rPr>
              <a:t>00</a:t>
            </a:r>
          </a:p>
        </p:txBody>
      </p:sp>
      <p:sp>
        <p:nvSpPr>
          <p:cNvPr id="44068" name="AutoShape 36">
            <a:extLst>
              <a:ext uri="{FF2B5EF4-FFF2-40B4-BE49-F238E27FC236}">
                <a16:creationId xmlns:a16="http://schemas.microsoft.com/office/drawing/2014/main" id="{90EB8BB8-4145-7BCD-F7DE-2CEC4075FBFE}"/>
              </a:ext>
            </a:extLst>
          </p:cNvPr>
          <p:cNvSpPr>
            <a:spLocks/>
          </p:cNvSpPr>
          <p:nvPr/>
        </p:nvSpPr>
        <p:spPr bwMode="auto">
          <a:xfrm rot="-5400000">
            <a:off x="1724025" y="1025525"/>
            <a:ext cx="152400" cy="3155950"/>
          </a:xfrm>
          <a:prstGeom prst="rightBrace">
            <a:avLst>
              <a:gd name="adj1" fmla="val 17256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4069" name="Text Box 37">
            <a:extLst>
              <a:ext uri="{FF2B5EF4-FFF2-40B4-BE49-F238E27FC236}">
                <a16:creationId xmlns:a16="http://schemas.microsoft.com/office/drawing/2014/main" id="{AC7A8EFD-4359-3513-7659-591041966689}"/>
              </a:ext>
            </a:extLst>
          </p:cNvPr>
          <p:cNvSpPr txBox="1">
            <a:spLocks noChangeArrowheads="1"/>
          </p:cNvSpPr>
          <p:nvPr/>
        </p:nvSpPr>
        <p:spPr bwMode="auto">
          <a:xfrm>
            <a:off x="1581150" y="2120900"/>
            <a:ext cx="6127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chemeClr val="tx1"/>
                </a:solidFill>
                <a:cs typeface="Arial" panose="020B0604020202020204" pitchFamily="34" charset="0"/>
              </a:rPr>
              <a:t>PC</a:t>
            </a:r>
            <a:endParaRPr lang="en-US" altLang="en-US">
              <a:cs typeface="Arial" panose="020B0604020202020204" pitchFamily="34" charset="0"/>
            </a:endParaRPr>
          </a:p>
        </p:txBody>
      </p:sp>
      <p:sp>
        <p:nvSpPr>
          <p:cNvPr id="44070" name="Rectangle 40">
            <a:extLst>
              <a:ext uri="{FF2B5EF4-FFF2-40B4-BE49-F238E27FC236}">
                <a16:creationId xmlns:a16="http://schemas.microsoft.com/office/drawing/2014/main" id="{81563900-59F3-FE4E-BF5D-1B7B23F4FD52}"/>
              </a:ext>
            </a:extLst>
          </p:cNvPr>
          <p:cNvSpPr>
            <a:spLocks noChangeArrowheads="1"/>
          </p:cNvSpPr>
          <p:nvPr/>
        </p:nvSpPr>
        <p:spPr bwMode="auto">
          <a:xfrm>
            <a:off x="5254625" y="1308100"/>
            <a:ext cx="398463" cy="3316288"/>
          </a:xfrm>
          <a:prstGeom prst="rect">
            <a:avLst/>
          </a:prstGeom>
          <a:noFill/>
          <a:ln w="3810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solidFill>
                <a:srgbClr val="FF0000"/>
              </a:solidFill>
              <a:cs typeface="Arial" panose="020B0604020202020204" pitchFamily="34" charset="0"/>
            </a:endParaRPr>
          </a:p>
        </p:txBody>
      </p:sp>
      <p:sp>
        <p:nvSpPr>
          <p:cNvPr id="44071" name="Slide Number Placeholder 42">
            <a:extLst>
              <a:ext uri="{FF2B5EF4-FFF2-40B4-BE49-F238E27FC236}">
                <a16:creationId xmlns:a16="http://schemas.microsoft.com/office/drawing/2014/main" id="{9871CADD-603A-7C5A-2F1B-8915310133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515DF801-73C2-C34A-B939-0359E24AE242}" type="slidenum">
              <a:rPr lang="en-GB" altLang="en-US" sz="1400">
                <a:solidFill>
                  <a:srgbClr val="000000"/>
                </a:solidFill>
                <a:cs typeface="Arial" panose="020B0604020202020204" pitchFamily="34" charset="0"/>
              </a:rPr>
              <a:pPr/>
              <a:t>42</a:t>
            </a:fld>
            <a:r>
              <a:rPr lang="en-GB" altLang="en-US" sz="1400">
                <a:solidFill>
                  <a:srgbClr val="000000"/>
                </a:solidFill>
                <a:cs typeface="Arial" panose="020B0604020202020204" pitchFamily="34" charset="0"/>
              </a:rPr>
              <a:t> </a:t>
            </a:r>
          </a:p>
        </p:txBody>
      </p:sp>
      <p:sp>
        <p:nvSpPr>
          <p:cNvPr id="44072" name="TextBox 38">
            <a:extLst>
              <a:ext uri="{FF2B5EF4-FFF2-40B4-BE49-F238E27FC236}">
                <a16:creationId xmlns:a16="http://schemas.microsoft.com/office/drawing/2014/main" id="{674270BC-2259-BE41-7FAD-19344C476248}"/>
              </a:ext>
            </a:extLst>
          </p:cNvPr>
          <p:cNvSpPr txBox="1">
            <a:spLocks noChangeArrowheads="1"/>
          </p:cNvSpPr>
          <p:nvPr/>
        </p:nvSpPr>
        <p:spPr bwMode="auto">
          <a:xfrm>
            <a:off x="5640388" y="1982788"/>
            <a:ext cx="384175"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a:solidFill>
                  <a:srgbClr val="FF00FF"/>
                </a:solidFill>
                <a:cs typeface="Arial" panose="020B0604020202020204" pitchFamily="34" charset="0"/>
                <a:sym typeface="Wingdings 2" pitchFamily="2" charset="2"/>
              </a:rPr>
              <a:t></a:t>
            </a:r>
            <a:endParaRPr lang="en-CA" altLang="en-US">
              <a:solidFill>
                <a:srgbClr val="FF00FF"/>
              </a:solidFill>
              <a:cs typeface="Arial" panose="020B0604020202020204" pitchFamily="34" charset="0"/>
            </a:endParaRPr>
          </a:p>
        </p:txBody>
      </p:sp>
      <p:sp>
        <p:nvSpPr>
          <p:cNvPr id="44073" name="Line 6">
            <a:extLst>
              <a:ext uri="{FF2B5EF4-FFF2-40B4-BE49-F238E27FC236}">
                <a16:creationId xmlns:a16="http://schemas.microsoft.com/office/drawing/2014/main" id="{C3781FDD-65C1-8181-3936-DB04035A6471}"/>
              </a:ext>
            </a:extLst>
          </p:cNvPr>
          <p:cNvSpPr>
            <a:spLocks noChangeShapeType="1"/>
          </p:cNvSpPr>
          <p:nvPr/>
        </p:nvSpPr>
        <p:spPr bwMode="auto">
          <a:xfrm flipV="1">
            <a:off x="4940300" y="4786313"/>
            <a:ext cx="14288" cy="282575"/>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9">
            <a:extLst>
              <a:ext uri="{FF2B5EF4-FFF2-40B4-BE49-F238E27FC236}">
                <a16:creationId xmlns:a16="http://schemas.microsoft.com/office/drawing/2014/main" id="{1569810A-A602-4CE6-44B7-84758FB690FC}"/>
              </a:ext>
            </a:extLst>
          </p:cNvPr>
          <p:cNvSpPr>
            <a:spLocks noChangeArrowheads="1"/>
          </p:cNvSpPr>
          <p:nvPr/>
        </p:nvSpPr>
        <p:spPr bwMode="auto">
          <a:xfrm>
            <a:off x="4279900" y="1409700"/>
            <a:ext cx="279400" cy="27432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5059" name="Rectangle 14">
            <a:extLst>
              <a:ext uri="{FF2B5EF4-FFF2-40B4-BE49-F238E27FC236}">
                <a16:creationId xmlns:a16="http://schemas.microsoft.com/office/drawing/2014/main" id="{08BE0F0D-C31F-0666-4D6E-FF9F455C578B}"/>
              </a:ext>
            </a:extLst>
          </p:cNvPr>
          <p:cNvSpPr>
            <a:spLocks noChangeArrowheads="1"/>
          </p:cNvSpPr>
          <p:nvPr/>
        </p:nvSpPr>
        <p:spPr bwMode="auto">
          <a:xfrm>
            <a:off x="5295900" y="1435100"/>
            <a:ext cx="279400" cy="27178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5060" name="Text Box 3">
            <a:extLst>
              <a:ext uri="{FF2B5EF4-FFF2-40B4-BE49-F238E27FC236}">
                <a16:creationId xmlns:a16="http://schemas.microsoft.com/office/drawing/2014/main" id="{38294838-3FF9-995B-ABDA-1C036205F3E5}"/>
              </a:ext>
            </a:extLst>
          </p:cNvPr>
          <p:cNvSpPr txBox="1">
            <a:spLocks noChangeArrowheads="1"/>
          </p:cNvSpPr>
          <p:nvPr/>
        </p:nvSpPr>
        <p:spPr bwMode="auto">
          <a:xfrm>
            <a:off x="204788" y="4654550"/>
            <a:ext cx="3494087"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Was most recent branch taken? </a:t>
            </a:r>
            <a:r>
              <a:rPr lang="en-GB" altLang="en-US" sz="1800">
                <a:solidFill>
                  <a:srgbClr val="FF0000"/>
                </a:solidFill>
                <a:cs typeface="Arial" panose="020B0604020202020204" pitchFamily="34" charset="0"/>
              </a:rPr>
              <a:t>“Yes” because b1 was taken.</a:t>
            </a:r>
            <a:endParaRPr lang="en-GB" altLang="en-US">
              <a:solidFill>
                <a:srgbClr val="FF0000"/>
              </a:solidFill>
              <a:cs typeface="Arial" panose="020B0604020202020204" pitchFamily="34" charset="0"/>
            </a:endParaRPr>
          </a:p>
        </p:txBody>
      </p:sp>
      <p:sp>
        <p:nvSpPr>
          <p:cNvPr id="45061" name="AutoShape 5">
            <a:extLst>
              <a:ext uri="{FF2B5EF4-FFF2-40B4-BE49-F238E27FC236}">
                <a16:creationId xmlns:a16="http://schemas.microsoft.com/office/drawing/2014/main" id="{65D12FFD-CF35-A13C-158C-FFA03B5800AE}"/>
              </a:ext>
            </a:extLst>
          </p:cNvPr>
          <p:cNvSpPr>
            <a:spLocks/>
          </p:cNvSpPr>
          <p:nvPr/>
        </p:nvSpPr>
        <p:spPr bwMode="auto">
          <a:xfrm rot="-5400000">
            <a:off x="4887913" y="4102100"/>
            <a:ext cx="127000" cy="1282700"/>
          </a:xfrm>
          <a:prstGeom prst="leftBrace">
            <a:avLst>
              <a:gd name="adj1" fmla="val 84167"/>
              <a:gd name="adj2" fmla="val 50000"/>
            </a:avLst>
          </a:prstGeom>
          <a:noFill/>
          <a:ln w="936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5062" name="AutoShape 39">
            <a:extLst>
              <a:ext uri="{FF2B5EF4-FFF2-40B4-BE49-F238E27FC236}">
                <a16:creationId xmlns:a16="http://schemas.microsoft.com/office/drawing/2014/main" id="{08C914E5-127E-8BC2-3EED-3546697BF922}"/>
              </a:ext>
            </a:extLst>
          </p:cNvPr>
          <p:cNvSpPr>
            <a:spLocks/>
          </p:cNvSpPr>
          <p:nvPr/>
        </p:nvSpPr>
        <p:spPr bwMode="auto">
          <a:xfrm rot="-5400000">
            <a:off x="1816100" y="3848100"/>
            <a:ext cx="165100" cy="3340100"/>
          </a:xfrm>
          <a:prstGeom prst="leftBrace">
            <a:avLst>
              <a:gd name="adj1" fmla="val 16859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5063" name="Text Box 40">
            <a:extLst>
              <a:ext uri="{FF2B5EF4-FFF2-40B4-BE49-F238E27FC236}">
                <a16:creationId xmlns:a16="http://schemas.microsoft.com/office/drawing/2014/main" id="{529A7B85-17F7-ED76-9264-ACACB5574580}"/>
              </a:ext>
            </a:extLst>
          </p:cNvPr>
          <p:cNvSpPr txBox="1">
            <a:spLocks noChangeArrowheads="1"/>
          </p:cNvSpPr>
          <p:nvPr/>
        </p:nvSpPr>
        <p:spPr bwMode="auto">
          <a:xfrm>
            <a:off x="466725" y="5546725"/>
            <a:ext cx="6624638"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2000">
                <a:solidFill>
                  <a:schemeClr val="tx1"/>
                </a:solidFill>
                <a:cs typeface="Arial" panose="020B0604020202020204" pitchFamily="34" charset="0"/>
              </a:rPr>
              <a:t>1-bit of “branch history” used to correlate prediction for current branch with outcome of last branch.</a:t>
            </a:r>
          </a:p>
        </p:txBody>
      </p:sp>
      <p:sp>
        <p:nvSpPr>
          <p:cNvPr id="45064" name="Text Box 7">
            <a:extLst>
              <a:ext uri="{FF2B5EF4-FFF2-40B4-BE49-F238E27FC236}">
                <a16:creationId xmlns:a16="http://schemas.microsoft.com/office/drawing/2014/main" id="{98842C3F-5BA2-003C-96A6-32D4B5DFD57D}"/>
              </a:ext>
            </a:extLst>
          </p:cNvPr>
          <p:cNvSpPr txBox="1">
            <a:spLocks noChangeArrowheads="1"/>
          </p:cNvSpPr>
          <p:nvPr/>
        </p:nvSpPr>
        <p:spPr bwMode="auto">
          <a:xfrm>
            <a:off x="4178300" y="4211638"/>
            <a:ext cx="5254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no</a:t>
            </a:r>
          </a:p>
        </p:txBody>
      </p:sp>
      <p:sp>
        <p:nvSpPr>
          <p:cNvPr id="45065" name="Line 4">
            <a:extLst>
              <a:ext uri="{FF2B5EF4-FFF2-40B4-BE49-F238E27FC236}">
                <a16:creationId xmlns:a16="http://schemas.microsoft.com/office/drawing/2014/main" id="{E1B10ABD-2C03-82AC-415E-D5257505901D}"/>
              </a:ext>
            </a:extLst>
          </p:cNvPr>
          <p:cNvSpPr>
            <a:spLocks noChangeShapeType="1"/>
          </p:cNvSpPr>
          <p:nvPr/>
        </p:nvSpPr>
        <p:spPr bwMode="auto">
          <a:xfrm>
            <a:off x="3581400" y="5067300"/>
            <a:ext cx="13589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5066" name="Line 6">
            <a:extLst>
              <a:ext uri="{FF2B5EF4-FFF2-40B4-BE49-F238E27FC236}">
                <a16:creationId xmlns:a16="http://schemas.microsoft.com/office/drawing/2014/main" id="{4C6E087D-178D-2B20-DB72-00F04729C63B}"/>
              </a:ext>
            </a:extLst>
          </p:cNvPr>
          <p:cNvSpPr>
            <a:spLocks noChangeShapeType="1"/>
          </p:cNvSpPr>
          <p:nvPr/>
        </p:nvSpPr>
        <p:spPr bwMode="auto">
          <a:xfrm flipV="1">
            <a:off x="4940300" y="4786313"/>
            <a:ext cx="14288" cy="282575"/>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67" name="Rectangle 2">
            <a:extLst>
              <a:ext uri="{FF2B5EF4-FFF2-40B4-BE49-F238E27FC236}">
                <a16:creationId xmlns:a16="http://schemas.microsoft.com/office/drawing/2014/main" id="{EB9DE796-5AC0-58EA-9A21-792D188BF095}"/>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a:latin typeface="Arial" panose="020B0604020202020204" pitchFamily="34" charset="0"/>
                <a:cs typeface="Arial" panose="020B0604020202020204" pitchFamily="34" charset="0"/>
              </a:rPr>
              <a:t>1-Bit Predictor with 1-Bit of </a:t>
            </a:r>
            <a:r>
              <a:rPr lang="en-GB" altLang="en-US" sz="2800" u="sng">
                <a:solidFill>
                  <a:srgbClr val="0000FF"/>
                </a:solidFill>
                <a:latin typeface="Arial" panose="020B0604020202020204" pitchFamily="34" charset="0"/>
                <a:cs typeface="Arial" panose="020B0604020202020204" pitchFamily="34" charset="0"/>
              </a:rPr>
              <a:t>Correlation</a:t>
            </a:r>
            <a:r>
              <a:rPr lang="en-GB" altLang="en-US" sz="2800">
                <a:latin typeface="Arial" panose="020B0604020202020204" pitchFamily="34" charset="0"/>
                <a:cs typeface="Arial" panose="020B0604020202020204" pitchFamily="34" charset="0"/>
              </a:rPr>
              <a:t>:</a:t>
            </a:r>
            <a:endParaRPr lang="en-GB" altLang="en-US">
              <a:latin typeface="Arial" panose="020B0604020202020204" pitchFamily="34" charset="0"/>
              <a:cs typeface="Arial" panose="020B0604020202020204" pitchFamily="34" charset="0"/>
            </a:endParaRPr>
          </a:p>
        </p:txBody>
      </p:sp>
      <p:sp>
        <p:nvSpPr>
          <p:cNvPr id="45068" name="Line 10">
            <a:extLst>
              <a:ext uri="{FF2B5EF4-FFF2-40B4-BE49-F238E27FC236}">
                <a16:creationId xmlns:a16="http://schemas.microsoft.com/office/drawing/2014/main" id="{4292235C-8F3E-B20A-241F-932D3BAE2FFE}"/>
              </a:ext>
            </a:extLst>
          </p:cNvPr>
          <p:cNvSpPr>
            <a:spLocks noChangeShapeType="1"/>
          </p:cNvSpPr>
          <p:nvPr/>
        </p:nvSpPr>
        <p:spPr bwMode="auto">
          <a:xfrm>
            <a:off x="4279900" y="17145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5069" name="Line 11">
            <a:extLst>
              <a:ext uri="{FF2B5EF4-FFF2-40B4-BE49-F238E27FC236}">
                <a16:creationId xmlns:a16="http://schemas.microsoft.com/office/drawing/2014/main" id="{3EF5369E-8A4F-DA5C-89C6-0AA537512645}"/>
              </a:ext>
            </a:extLst>
          </p:cNvPr>
          <p:cNvSpPr>
            <a:spLocks noChangeShapeType="1"/>
          </p:cNvSpPr>
          <p:nvPr/>
        </p:nvSpPr>
        <p:spPr bwMode="auto">
          <a:xfrm>
            <a:off x="4267200" y="20193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5070" name="Line 12">
            <a:extLst>
              <a:ext uri="{FF2B5EF4-FFF2-40B4-BE49-F238E27FC236}">
                <a16:creationId xmlns:a16="http://schemas.microsoft.com/office/drawing/2014/main" id="{3DDE76E4-4901-12FB-6D06-4936426C50C4}"/>
              </a:ext>
            </a:extLst>
          </p:cNvPr>
          <p:cNvSpPr>
            <a:spLocks noChangeShapeType="1"/>
          </p:cNvSpPr>
          <p:nvPr/>
        </p:nvSpPr>
        <p:spPr bwMode="auto">
          <a:xfrm>
            <a:off x="4279900" y="23114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5071" name="Text Box 13">
            <a:extLst>
              <a:ext uri="{FF2B5EF4-FFF2-40B4-BE49-F238E27FC236}">
                <a16:creationId xmlns:a16="http://schemas.microsoft.com/office/drawing/2014/main" id="{626B8EC2-65EA-1534-95CA-7AC6E50099E2}"/>
              </a:ext>
            </a:extLst>
          </p:cNvPr>
          <p:cNvSpPr txBox="1">
            <a:spLocks noChangeArrowheads="1"/>
          </p:cNvSpPr>
          <p:nvPr/>
        </p:nvSpPr>
        <p:spPr bwMode="auto">
          <a:xfrm>
            <a:off x="4216400" y="2020888"/>
            <a:ext cx="420688"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FF"/>
              </a:buClr>
            </a:pPr>
            <a:r>
              <a:rPr lang="en-GB" altLang="en-US" sz="1400" b="1">
                <a:solidFill>
                  <a:srgbClr val="FF00FF"/>
                </a:solidFill>
                <a:cs typeface="Arial" panose="020B0604020202020204" pitchFamily="34" charset="0"/>
              </a:rPr>
              <a:t>NT</a:t>
            </a:r>
          </a:p>
        </p:txBody>
      </p:sp>
      <p:sp>
        <p:nvSpPr>
          <p:cNvPr id="45072" name="Line 15">
            <a:extLst>
              <a:ext uri="{FF2B5EF4-FFF2-40B4-BE49-F238E27FC236}">
                <a16:creationId xmlns:a16="http://schemas.microsoft.com/office/drawing/2014/main" id="{B1F134CE-CACF-FC8D-D223-4C7EFCCAD480}"/>
              </a:ext>
            </a:extLst>
          </p:cNvPr>
          <p:cNvSpPr>
            <a:spLocks noChangeShapeType="1"/>
          </p:cNvSpPr>
          <p:nvPr/>
        </p:nvSpPr>
        <p:spPr bwMode="auto">
          <a:xfrm>
            <a:off x="5295900" y="17399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5073" name="Line 16">
            <a:extLst>
              <a:ext uri="{FF2B5EF4-FFF2-40B4-BE49-F238E27FC236}">
                <a16:creationId xmlns:a16="http://schemas.microsoft.com/office/drawing/2014/main" id="{0739B196-85F6-8336-4F16-CD4FEC2D8D7A}"/>
              </a:ext>
            </a:extLst>
          </p:cNvPr>
          <p:cNvSpPr>
            <a:spLocks noChangeShapeType="1"/>
          </p:cNvSpPr>
          <p:nvPr/>
        </p:nvSpPr>
        <p:spPr bwMode="auto">
          <a:xfrm>
            <a:off x="5283200" y="20447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5074" name="Line 17">
            <a:extLst>
              <a:ext uri="{FF2B5EF4-FFF2-40B4-BE49-F238E27FC236}">
                <a16:creationId xmlns:a16="http://schemas.microsoft.com/office/drawing/2014/main" id="{D9E8FCC6-A5C9-3349-6236-0C73361BCF48}"/>
              </a:ext>
            </a:extLst>
          </p:cNvPr>
          <p:cNvSpPr>
            <a:spLocks noChangeShapeType="1"/>
          </p:cNvSpPr>
          <p:nvPr/>
        </p:nvSpPr>
        <p:spPr bwMode="auto">
          <a:xfrm>
            <a:off x="5295900" y="2336800"/>
            <a:ext cx="2794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5075" name="Text Box 18">
            <a:extLst>
              <a:ext uri="{FF2B5EF4-FFF2-40B4-BE49-F238E27FC236}">
                <a16:creationId xmlns:a16="http://schemas.microsoft.com/office/drawing/2014/main" id="{0A042A91-0CAE-2912-2510-FAA1C73C43C5}"/>
              </a:ext>
            </a:extLst>
          </p:cNvPr>
          <p:cNvSpPr txBox="1">
            <a:spLocks noChangeArrowheads="1"/>
          </p:cNvSpPr>
          <p:nvPr/>
        </p:nvSpPr>
        <p:spPr bwMode="auto">
          <a:xfrm>
            <a:off x="5245100" y="2046288"/>
            <a:ext cx="339725"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FF"/>
              </a:buClr>
            </a:pPr>
            <a:r>
              <a:rPr lang="en-GB" altLang="en-US" sz="1400" b="1">
                <a:solidFill>
                  <a:srgbClr val="FF00FF"/>
                </a:solidFill>
                <a:cs typeface="Arial" panose="020B0604020202020204" pitchFamily="34" charset="0"/>
              </a:rPr>
              <a:t> T</a:t>
            </a:r>
          </a:p>
        </p:txBody>
      </p:sp>
      <p:sp>
        <p:nvSpPr>
          <p:cNvPr id="45076" name="Text Box 19">
            <a:extLst>
              <a:ext uri="{FF2B5EF4-FFF2-40B4-BE49-F238E27FC236}">
                <a16:creationId xmlns:a16="http://schemas.microsoft.com/office/drawing/2014/main" id="{DB4781C1-962B-59AD-0BE5-DF1964545216}"/>
              </a:ext>
            </a:extLst>
          </p:cNvPr>
          <p:cNvSpPr txBox="1">
            <a:spLocks noChangeArrowheads="1"/>
          </p:cNvSpPr>
          <p:nvPr/>
        </p:nvSpPr>
        <p:spPr bwMode="auto">
          <a:xfrm>
            <a:off x="6080125" y="2062163"/>
            <a:ext cx="2797175" cy="1755775"/>
          </a:xfrm>
          <a:prstGeom prst="rect">
            <a:avLst/>
          </a:pr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0000FF"/>
              </a:buClr>
              <a:buFont typeface="Comic Sans MS" panose="030F0902030302020204" pitchFamily="66" charset="0"/>
              <a:buNone/>
            </a:pPr>
            <a:r>
              <a:rPr lang="en-GB" altLang="en-US" sz="1800">
                <a:solidFill>
                  <a:srgbClr val="0000FF"/>
                </a:solidFill>
                <a:cs typeface="Arial" panose="020B0604020202020204" pitchFamily="34" charset="0"/>
              </a:rPr>
              <a:t>        </a:t>
            </a:r>
            <a:r>
              <a:rPr lang="en-GB" altLang="en-US" sz="1800">
                <a:solidFill>
                  <a:srgbClr val="FF0000"/>
                </a:solidFill>
                <a:cs typeface="Arial" panose="020B0604020202020204" pitchFamily="34" charset="0"/>
              </a:rPr>
              <a:t>if (d!=0) goto L1;//b1</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             d=1;</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L1:   </a:t>
            </a:r>
            <a:r>
              <a:rPr lang="en-GB" altLang="en-US" sz="1800">
                <a:solidFill>
                  <a:srgbClr val="FF00FF"/>
                </a:solidFill>
                <a:cs typeface="Arial" panose="020B0604020202020204" pitchFamily="34" charset="0"/>
              </a:rPr>
              <a:t>if (d!=1) goto L2;//b2</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        ...</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L2:</a:t>
            </a:r>
          </a:p>
          <a:p>
            <a:pPr>
              <a:lnSpc>
                <a:spcPct val="100000"/>
              </a:lnSpc>
              <a:buFont typeface="Comic Sans MS" panose="030F0902030302020204" pitchFamily="66" charset="0"/>
              <a:buNone/>
            </a:pPr>
            <a:r>
              <a:rPr lang="en-GB" altLang="en-US" sz="1800">
                <a:solidFill>
                  <a:srgbClr val="000000"/>
                </a:solidFill>
                <a:cs typeface="Arial" panose="020B0604020202020204" pitchFamily="34" charset="0"/>
              </a:rPr>
              <a:t>        ...</a:t>
            </a:r>
          </a:p>
        </p:txBody>
      </p:sp>
      <p:sp>
        <p:nvSpPr>
          <p:cNvPr id="45077" name="Text Box 20">
            <a:extLst>
              <a:ext uri="{FF2B5EF4-FFF2-40B4-BE49-F238E27FC236}">
                <a16:creationId xmlns:a16="http://schemas.microsoft.com/office/drawing/2014/main" id="{D3E20CF7-84A4-7C7E-F4EA-CB461386878A}"/>
              </a:ext>
            </a:extLst>
          </p:cNvPr>
          <p:cNvSpPr txBox="1">
            <a:spLocks noChangeArrowheads="1"/>
          </p:cNvSpPr>
          <p:nvPr/>
        </p:nvSpPr>
        <p:spPr bwMode="auto">
          <a:xfrm>
            <a:off x="4230688" y="1409700"/>
            <a:ext cx="33972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pPr>
            <a:r>
              <a:rPr lang="en-GB" altLang="en-US" sz="1400" b="1">
                <a:solidFill>
                  <a:srgbClr val="FF0000"/>
                </a:solidFill>
                <a:cs typeface="Arial" panose="020B0604020202020204" pitchFamily="34" charset="0"/>
              </a:rPr>
              <a:t> T</a:t>
            </a:r>
          </a:p>
        </p:txBody>
      </p:sp>
      <p:sp>
        <p:nvSpPr>
          <p:cNvPr id="45078" name="Text Box 21">
            <a:extLst>
              <a:ext uri="{FF2B5EF4-FFF2-40B4-BE49-F238E27FC236}">
                <a16:creationId xmlns:a16="http://schemas.microsoft.com/office/drawing/2014/main" id="{73BF7C9C-A2B8-19A3-C763-8E784388BBF6}"/>
              </a:ext>
            </a:extLst>
          </p:cNvPr>
          <p:cNvSpPr txBox="1">
            <a:spLocks noChangeArrowheads="1"/>
          </p:cNvSpPr>
          <p:nvPr/>
        </p:nvSpPr>
        <p:spPr bwMode="auto">
          <a:xfrm>
            <a:off x="5221288" y="1409700"/>
            <a:ext cx="420687"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pPr>
            <a:r>
              <a:rPr lang="en-GB" altLang="en-US" sz="1400" b="1">
                <a:solidFill>
                  <a:srgbClr val="FF0000"/>
                </a:solidFill>
                <a:cs typeface="Arial" panose="020B0604020202020204" pitchFamily="34" charset="0"/>
              </a:rPr>
              <a:t>NT</a:t>
            </a:r>
          </a:p>
        </p:txBody>
      </p:sp>
      <p:sp>
        <p:nvSpPr>
          <p:cNvPr id="45079" name="Text Box 22">
            <a:extLst>
              <a:ext uri="{FF2B5EF4-FFF2-40B4-BE49-F238E27FC236}">
                <a16:creationId xmlns:a16="http://schemas.microsoft.com/office/drawing/2014/main" id="{826C3300-C2ED-E8E5-BA88-2B98C8BBD95E}"/>
              </a:ext>
            </a:extLst>
          </p:cNvPr>
          <p:cNvSpPr txBox="1">
            <a:spLocks noChangeArrowheads="1"/>
          </p:cNvSpPr>
          <p:nvPr/>
        </p:nvSpPr>
        <p:spPr bwMode="auto">
          <a:xfrm>
            <a:off x="0" y="917575"/>
            <a:ext cx="2298700" cy="1017588"/>
          </a:xfrm>
          <a:prstGeom prst="rect">
            <a:avLst/>
          </a:pr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2000">
                <a:solidFill>
                  <a:srgbClr val="000000"/>
                </a:solidFill>
                <a:cs typeface="Arial" panose="020B0604020202020204" pitchFamily="34" charset="0"/>
              </a:rPr>
              <a:t>pass 1: d=2</a:t>
            </a:r>
          </a:p>
          <a:p>
            <a:pPr>
              <a:lnSpc>
                <a:spcPct val="100000"/>
              </a:lnSpc>
              <a:buFont typeface="Comic Sans MS" panose="030F0902030302020204" pitchFamily="66" charset="0"/>
              <a:buNone/>
            </a:pPr>
            <a:r>
              <a:rPr lang="en-GB" altLang="en-US" sz="2000">
                <a:solidFill>
                  <a:srgbClr val="000000"/>
                </a:solidFill>
                <a:cs typeface="Arial" panose="020B0604020202020204" pitchFamily="34" charset="0"/>
              </a:rPr>
              <a:t>(updating predictor </a:t>
            </a:r>
          </a:p>
          <a:p>
            <a:pPr>
              <a:lnSpc>
                <a:spcPct val="100000"/>
              </a:lnSpc>
              <a:buFont typeface="Comic Sans MS" panose="030F0902030302020204" pitchFamily="66" charset="0"/>
              <a:buNone/>
            </a:pPr>
            <a:r>
              <a:rPr lang="en-GB" altLang="en-US" sz="2000">
                <a:solidFill>
                  <a:srgbClr val="000000"/>
                </a:solidFill>
                <a:cs typeface="Arial" panose="020B0604020202020204" pitchFamily="34" charset="0"/>
              </a:rPr>
              <a:t>for b2)</a:t>
            </a:r>
          </a:p>
        </p:txBody>
      </p:sp>
      <p:sp>
        <p:nvSpPr>
          <p:cNvPr id="45080" name="Rectangle 24">
            <a:extLst>
              <a:ext uri="{FF2B5EF4-FFF2-40B4-BE49-F238E27FC236}">
                <a16:creationId xmlns:a16="http://schemas.microsoft.com/office/drawing/2014/main" id="{8AE2F2E4-8797-2F42-39F6-A5796B5B2BF2}"/>
              </a:ext>
            </a:extLst>
          </p:cNvPr>
          <p:cNvSpPr>
            <a:spLocks noChangeArrowheads="1"/>
          </p:cNvSpPr>
          <p:nvPr/>
        </p:nvSpPr>
        <p:spPr bwMode="auto">
          <a:xfrm>
            <a:off x="3073400" y="1955800"/>
            <a:ext cx="2895600" cy="457200"/>
          </a:xfrm>
          <a:prstGeom prst="rect">
            <a:avLst/>
          </a:prstGeom>
          <a:noFill/>
          <a:ln w="38100">
            <a:solidFill>
              <a:srgbClr val="FF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5081" name="Text Box 25">
            <a:extLst>
              <a:ext uri="{FF2B5EF4-FFF2-40B4-BE49-F238E27FC236}">
                <a16:creationId xmlns:a16="http://schemas.microsoft.com/office/drawing/2014/main" id="{0F959DC7-B8D0-3C0C-FF00-F9E46699A664}"/>
              </a:ext>
            </a:extLst>
          </p:cNvPr>
          <p:cNvSpPr txBox="1">
            <a:spLocks noChangeArrowheads="1"/>
          </p:cNvSpPr>
          <p:nvPr/>
        </p:nvSpPr>
        <p:spPr bwMode="auto">
          <a:xfrm>
            <a:off x="3095625" y="1955800"/>
            <a:ext cx="52705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rgbClr val="FF00FF"/>
                </a:solidFill>
                <a:cs typeface="Arial" panose="020B0604020202020204" pitchFamily="34" charset="0"/>
              </a:rPr>
              <a:t>b2</a:t>
            </a:r>
            <a:endParaRPr lang="en-US" altLang="en-US">
              <a:cs typeface="Arial" panose="020B0604020202020204" pitchFamily="34" charset="0"/>
            </a:endParaRPr>
          </a:p>
        </p:txBody>
      </p:sp>
      <p:sp>
        <p:nvSpPr>
          <p:cNvPr id="45082" name="Text Box 26">
            <a:extLst>
              <a:ext uri="{FF2B5EF4-FFF2-40B4-BE49-F238E27FC236}">
                <a16:creationId xmlns:a16="http://schemas.microsoft.com/office/drawing/2014/main" id="{AAD6129B-8BF3-A641-935E-5102C726C7D4}"/>
              </a:ext>
            </a:extLst>
          </p:cNvPr>
          <p:cNvSpPr txBox="1">
            <a:spLocks noChangeArrowheads="1"/>
          </p:cNvSpPr>
          <p:nvPr/>
        </p:nvSpPr>
        <p:spPr bwMode="auto">
          <a:xfrm>
            <a:off x="3559175" y="14938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00</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5083" name="Text Box 27">
            <a:extLst>
              <a:ext uri="{FF2B5EF4-FFF2-40B4-BE49-F238E27FC236}">
                <a16:creationId xmlns:a16="http://schemas.microsoft.com/office/drawing/2014/main" id="{134CD528-854E-240C-33F5-1F47F624010A}"/>
              </a:ext>
            </a:extLst>
          </p:cNvPr>
          <p:cNvSpPr txBox="1">
            <a:spLocks noChangeArrowheads="1"/>
          </p:cNvSpPr>
          <p:nvPr/>
        </p:nvSpPr>
        <p:spPr bwMode="auto">
          <a:xfrm>
            <a:off x="3578225" y="17986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01</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5084" name="Text Box 28">
            <a:extLst>
              <a:ext uri="{FF2B5EF4-FFF2-40B4-BE49-F238E27FC236}">
                <a16:creationId xmlns:a16="http://schemas.microsoft.com/office/drawing/2014/main" id="{84E76526-EAB5-5D5E-646F-BF95B2F6C4D0}"/>
              </a:ext>
            </a:extLst>
          </p:cNvPr>
          <p:cNvSpPr txBox="1">
            <a:spLocks noChangeArrowheads="1"/>
          </p:cNvSpPr>
          <p:nvPr/>
        </p:nvSpPr>
        <p:spPr bwMode="auto">
          <a:xfrm>
            <a:off x="3590925" y="206533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rgbClr val="FF00FF"/>
                </a:solidFill>
                <a:cs typeface="Arial" panose="020B0604020202020204" pitchFamily="34" charset="0"/>
              </a:rPr>
              <a:t>Row 10</a:t>
            </a:r>
            <a:r>
              <a:rPr lang="en-US" altLang="en-US" sz="1000" baseline="-25000">
                <a:solidFill>
                  <a:srgbClr val="FF00FF"/>
                </a:solidFill>
                <a:cs typeface="Arial" panose="020B0604020202020204" pitchFamily="34" charset="0"/>
              </a:rPr>
              <a:t>2</a:t>
            </a:r>
            <a:endParaRPr lang="en-US" altLang="en-US" sz="1400">
              <a:cs typeface="Arial" panose="020B0604020202020204" pitchFamily="34" charset="0"/>
            </a:endParaRPr>
          </a:p>
        </p:txBody>
      </p:sp>
      <p:sp>
        <p:nvSpPr>
          <p:cNvPr id="45085" name="Text Box 29">
            <a:extLst>
              <a:ext uri="{FF2B5EF4-FFF2-40B4-BE49-F238E27FC236}">
                <a16:creationId xmlns:a16="http://schemas.microsoft.com/office/drawing/2014/main" id="{96E747F3-5AA5-8EEC-0396-2F44E9388277}"/>
              </a:ext>
            </a:extLst>
          </p:cNvPr>
          <p:cNvSpPr txBox="1">
            <a:spLocks noChangeArrowheads="1"/>
          </p:cNvSpPr>
          <p:nvPr/>
        </p:nvSpPr>
        <p:spPr bwMode="auto">
          <a:xfrm>
            <a:off x="3597275" y="2351088"/>
            <a:ext cx="665163"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000">
                <a:solidFill>
                  <a:schemeClr val="tx1"/>
                </a:solidFill>
                <a:cs typeface="Arial" panose="020B0604020202020204" pitchFamily="34" charset="0"/>
              </a:rPr>
              <a:t>Row 11</a:t>
            </a:r>
            <a:r>
              <a:rPr lang="en-US" altLang="en-US" sz="1000" baseline="-25000">
                <a:solidFill>
                  <a:schemeClr val="tx1"/>
                </a:solidFill>
                <a:cs typeface="Arial" panose="020B0604020202020204" pitchFamily="34" charset="0"/>
              </a:rPr>
              <a:t>2</a:t>
            </a:r>
            <a:endParaRPr lang="en-US" altLang="en-US" sz="1400">
              <a:cs typeface="Arial" panose="020B0604020202020204" pitchFamily="34" charset="0"/>
            </a:endParaRPr>
          </a:p>
        </p:txBody>
      </p:sp>
      <p:sp>
        <p:nvSpPr>
          <p:cNvPr id="45086" name="Line 31">
            <a:extLst>
              <a:ext uri="{FF2B5EF4-FFF2-40B4-BE49-F238E27FC236}">
                <a16:creationId xmlns:a16="http://schemas.microsoft.com/office/drawing/2014/main" id="{9DA8CCF5-15B6-CB31-F2D0-E570D936A73E}"/>
              </a:ext>
            </a:extLst>
          </p:cNvPr>
          <p:cNvSpPr>
            <a:spLocks noChangeShapeType="1"/>
          </p:cNvSpPr>
          <p:nvPr/>
        </p:nvSpPr>
        <p:spPr bwMode="auto">
          <a:xfrm>
            <a:off x="2247900" y="3594100"/>
            <a:ext cx="1612900" cy="1588"/>
          </a:xfrm>
          <a:prstGeom prst="line">
            <a:avLst/>
          </a:prstGeom>
          <a:noFill/>
          <a:ln w="2844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87" name="Rectangle 32">
            <a:extLst>
              <a:ext uri="{FF2B5EF4-FFF2-40B4-BE49-F238E27FC236}">
                <a16:creationId xmlns:a16="http://schemas.microsoft.com/office/drawing/2014/main" id="{C3FC2D75-9563-AEED-2AC5-35F82B121025}"/>
              </a:ext>
            </a:extLst>
          </p:cNvPr>
          <p:cNvSpPr>
            <a:spLocks noChangeArrowheads="1"/>
          </p:cNvSpPr>
          <p:nvPr/>
        </p:nvSpPr>
        <p:spPr bwMode="auto">
          <a:xfrm>
            <a:off x="1320800" y="2730500"/>
            <a:ext cx="1790700" cy="419100"/>
          </a:xfrm>
          <a:prstGeom prst="rect">
            <a:avLst/>
          </a:prstGeom>
          <a:solidFill>
            <a:srgbClr val="BBE0E3"/>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a:lnSpc>
                <a:spcPct val="100000"/>
              </a:lnSpc>
            </a:pPr>
            <a:r>
              <a:rPr lang="en-GB" altLang="en-US">
                <a:solidFill>
                  <a:srgbClr val="FF00FF"/>
                </a:solidFill>
                <a:cs typeface="Arial" panose="020B0604020202020204" pitchFamily="34" charset="0"/>
              </a:rPr>
              <a:t>000000010</a:t>
            </a:r>
            <a:endParaRPr lang="en-GB" altLang="en-US">
              <a:solidFill>
                <a:srgbClr val="000000"/>
              </a:solidFill>
              <a:cs typeface="Arial" panose="020B0604020202020204" pitchFamily="34" charset="0"/>
            </a:endParaRPr>
          </a:p>
        </p:txBody>
      </p:sp>
      <p:sp>
        <p:nvSpPr>
          <p:cNvPr id="45088" name="Rectangle 33">
            <a:extLst>
              <a:ext uri="{FF2B5EF4-FFF2-40B4-BE49-F238E27FC236}">
                <a16:creationId xmlns:a16="http://schemas.microsoft.com/office/drawing/2014/main" id="{4CB8268F-3A2A-BCD2-BED6-30AE608D1351}"/>
              </a:ext>
            </a:extLst>
          </p:cNvPr>
          <p:cNvSpPr>
            <a:spLocks noChangeArrowheads="1"/>
          </p:cNvSpPr>
          <p:nvPr/>
        </p:nvSpPr>
        <p:spPr bwMode="auto">
          <a:xfrm>
            <a:off x="203200" y="2730500"/>
            <a:ext cx="1219200" cy="419100"/>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cs typeface="Arial" panose="020B0604020202020204" pitchFamily="34" charset="0"/>
              </a:rPr>
              <a:t>00…000</a:t>
            </a:r>
          </a:p>
        </p:txBody>
      </p:sp>
      <p:sp>
        <p:nvSpPr>
          <p:cNvPr id="45089" name="AutoShape 34">
            <a:extLst>
              <a:ext uri="{FF2B5EF4-FFF2-40B4-BE49-F238E27FC236}">
                <a16:creationId xmlns:a16="http://schemas.microsoft.com/office/drawing/2014/main" id="{EE8E726A-908C-A14F-6FD6-183747EED6C2}"/>
              </a:ext>
            </a:extLst>
          </p:cNvPr>
          <p:cNvSpPr>
            <a:spLocks/>
          </p:cNvSpPr>
          <p:nvPr/>
        </p:nvSpPr>
        <p:spPr bwMode="auto">
          <a:xfrm rot="-5400000">
            <a:off x="2063750" y="2705100"/>
            <a:ext cx="342900" cy="1460500"/>
          </a:xfrm>
          <a:prstGeom prst="leftBrace">
            <a:avLst>
              <a:gd name="adj1" fmla="val 35494"/>
              <a:gd name="adj2" fmla="val 50000"/>
            </a:avLst>
          </a:prstGeom>
          <a:noFill/>
          <a:ln w="936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5090" name="Rectangle 35">
            <a:extLst>
              <a:ext uri="{FF2B5EF4-FFF2-40B4-BE49-F238E27FC236}">
                <a16:creationId xmlns:a16="http://schemas.microsoft.com/office/drawing/2014/main" id="{B7DA902A-7230-F1D5-5468-70DC02FEB7CC}"/>
              </a:ext>
            </a:extLst>
          </p:cNvPr>
          <p:cNvSpPr>
            <a:spLocks noChangeArrowheads="1"/>
          </p:cNvSpPr>
          <p:nvPr/>
        </p:nvSpPr>
        <p:spPr bwMode="auto">
          <a:xfrm>
            <a:off x="2984500" y="2727325"/>
            <a:ext cx="390525" cy="422275"/>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pPr algn="ctr"/>
            <a:r>
              <a:rPr lang="en-US" altLang="en-US">
                <a:cs typeface="Arial" panose="020B0604020202020204" pitchFamily="34" charset="0"/>
              </a:rPr>
              <a:t>00</a:t>
            </a:r>
          </a:p>
        </p:txBody>
      </p:sp>
      <p:sp>
        <p:nvSpPr>
          <p:cNvPr id="45091" name="AutoShape 36">
            <a:extLst>
              <a:ext uri="{FF2B5EF4-FFF2-40B4-BE49-F238E27FC236}">
                <a16:creationId xmlns:a16="http://schemas.microsoft.com/office/drawing/2014/main" id="{B5E71D9E-D722-2733-9EEF-BD20510A6DD5}"/>
              </a:ext>
            </a:extLst>
          </p:cNvPr>
          <p:cNvSpPr>
            <a:spLocks/>
          </p:cNvSpPr>
          <p:nvPr/>
        </p:nvSpPr>
        <p:spPr bwMode="auto">
          <a:xfrm rot="-5400000">
            <a:off x="1724025" y="1025525"/>
            <a:ext cx="152400" cy="3155950"/>
          </a:xfrm>
          <a:prstGeom prst="rightBrace">
            <a:avLst>
              <a:gd name="adj1" fmla="val 17256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5092" name="Text Box 37">
            <a:extLst>
              <a:ext uri="{FF2B5EF4-FFF2-40B4-BE49-F238E27FC236}">
                <a16:creationId xmlns:a16="http://schemas.microsoft.com/office/drawing/2014/main" id="{05CECDE4-A9E1-3892-0ECD-AC8BC3186A64}"/>
              </a:ext>
            </a:extLst>
          </p:cNvPr>
          <p:cNvSpPr txBox="1">
            <a:spLocks noChangeArrowheads="1"/>
          </p:cNvSpPr>
          <p:nvPr/>
        </p:nvSpPr>
        <p:spPr bwMode="auto">
          <a:xfrm>
            <a:off x="1581150" y="2120900"/>
            <a:ext cx="6127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a:solidFill>
                  <a:schemeClr val="tx1"/>
                </a:solidFill>
                <a:cs typeface="Arial" panose="020B0604020202020204" pitchFamily="34" charset="0"/>
              </a:rPr>
              <a:t>PC</a:t>
            </a:r>
            <a:endParaRPr lang="en-US" altLang="en-US">
              <a:cs typeface="Arial" panose="020B0604020202020204" pitchFamily="34" charset="0"/>
            </a:endParaRPr>
          </a:p>
        </p:txBody>
      </p:sp>
      <p:sp>
        <p:nvSpPr>
          <p:cNvPr id="45093" name="Slide Number Placeholder 42">
            <a:extLst>
              <a:ext uri="{FF2B5EF4-FFF2-40B4-BE49-F238E27FC236}">
                <a16:creationId xmlns:a16="http://schemas.microsoft.com/office/drawing/2014/main" id="{EA0E92AF-0F1C-B15C-FFF7-D8D2ED2773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4ABEEE7A-7E46-584F-8C7A-834399892721}" type="slidenum">
              <a:rPr lang="en-GB" altLang="en-US" sz="1400">
                <a:solidFill>
                  <a:srgbClr val="000000"/>
                </a:solidFill>
                <a:latin typeface="Arial  " charset="0"/>
              </a:rPr>
              <a:pPr/>
              <a:t>43</a:t>
            </a:fld>
            <a:r>
              <a:rPr lang="en-GB" altLang="en-US" sz="1400">
                <a:solidFill>
                  <a:srgbClr val="000000"/>
                </a:solidFill>
                <a:latin typeface="Arial  " charset="0"/>
              </a:rPr>
              <a:t> </a:t>
            </a:r>
          </a:p>
        </p:txBody>
      </p:sp>
      <p:sp>
        <p:nvSpPr>
          <p:cNvPr id="45094" name="Oval 38">
            <a:extLst>
              <a:ext uri="{FF2B5EF4-FFF2-40B4-BE49-F238E27FC236}">
                <a16:creationId xmlns:a16="http://schemas.microsoft.com/office/drawing/2014/main" id="{2C74298C-136C-EFEC-AC80-93B9EBB6063A}"/>
              </a:ext>
            </a:extLst>
          </p:cNvPr>
          <p:cNvSpPr>
            <a:spLocks noChangeArrowheads="1"/>
          </p:cNvSpPr>
          <p:nvPr/>
        </p:nvSpPr>
        <p:spPr bwMode="auto">
          <a:xfrm>
            <a:off x="5221288" y="2003425"/>
            <a:ext cx="406400" cy="354013"/>
          </a:xfrm>
          <a:prstGeom prst="ellipse">
            <a:avLst/>
          </a:prstGeom>
          <a:noFill/>
          <a:ln w="5715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5095" name="Text Box 8">
            <a:extLst>
              <a:ext uri="{FF2B5EF4-FFF2-40B4-BE49-F238E27FC236}">
                <a16:creationId xmlns:a16="http://schemas.microsoft.com/office/drawing/2014/main" id="{944DBC55-85AA-F3F2-127F-6695C683F1C5}"/>
              </a:ext>
            </a:extLst>
          </p:cNvPr>
          <p:cNvSpPr txBox="1">
            <a:spLocks noChangeArrowheads="1"/>
          </p:cNvSpPr>
          <p:nvPr/>
        </p:nvSpPr>
        <p:spPr bwMode="auto">
          <a:xfrm>
            <a:off x="5129213" y="4211638"/>
            <a:ext cx="6604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yes</a:t>
            </a:r>
          </a:p>
        </p:txBody>
      </p:sp>
      <p:sp>
        <p:nvSpPr>
          <p:cNvPr id="45096" name="Rectangle 40">
            <a:extLst>
              <a:ext uri="{FF2B5EF4-FFF2-40B4-BE49-F238E27FC236}">
                <a16:creationId xmlns:a16="http://schemas.microsoft.com/office/drawing/2014/main" id="{A206F546-CCAB-6513-DB93-958EB5D3D359}"/>
              </a:ext>
            </a:extLst>
          </p:cNvPr>
          <p:cNvSpPr>
            <a:spLocks noChangeArrowheads="1"/>
          </p:cNvSpPr>
          <p:nvPr/>
        </p:nvSpPr>
        <p:spPr bwMode="auto">
          <a:xfrm>
            <a:off x="5254625" y="1308100"/>
            <a:ext cx="398463" cy="3316288"/>
          </a:xfrm>
          <a:prstGeom prst="rect">
            <a:avLst/>
          </a:prstGeom>
          <a:noFill/>
          <a:ln w="3810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solidFill>
                <a:srgbClr val="FF0000"/>
              </a:solidFill>
              <a:cs typeface="Arial" panose="020B0604020202020204" pitchFamily="3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a:extLst>
              <a:ext uri="{FF2B5EF4-FFF2-40B4-BE49-F238E27FC236}">
                <a16:creationId xmlns:a16="http://schemas.microsoft.com/office/drawing/2014/main" id="{4F5F1F03-60E0-07BF-51A3-EE36F2AE3D9C}"/>
              </a:ext>
            </a:extLst>
          </p:cNvPr>
          <p:cNvSpPr>
            <a:spLocks noGrp="1" noChangeArrowheads="1"/>
          </p:cNvSpPr>
          <p:nvPr>
            <p:ph type="title"/>
          </p:nvPr>
        </p:nvSpPr>
        <p:spPr>
          <a:xfrm>
            <a:off x="685800" y="0"/>
            <a:ext cx="7772400" cy="1143000"/>
          </a:xfrm>
        </p:spPr>
        <p:txBody>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Arial" panose="020B0604020202020204" pitchFamily="34" charset="0"/>
                <a:cs typeface="Arial" panose="020B0604020202020204" pitchFamily="34" charset="0"/>
              </a:rPr>
              <a:t>Example, cont’d...</a:t>
            </a:r>
          </a:p>
        </p:txBody>
      </p:sp>
      <p:grpSp>
        <p:nvGrpSpPr>
          <p:cNvPr id="46083" name="Group 2">
            <a:extLst>
              <a:ext uri="{FF2B5EF4-FFF2-40B4-BE49-F238E27FC236}">
                <a16:creationId xmlns:a16="http://schemas.microsoft.com/office/drawing/2014/main" id="{D0FA7AF8-77EC-E8CE-9492-382418EB729D}"/>
              </a:ext>
            </a:extLst>
          </p:cNvPr>
          <p:cNvGrpSpPr>
            <a:grpSpLocks/>
          </p:cNvGrpSpPr>
          <p:nvPr/>
        </p:nvGrpSpPr>
        <p:grpSpPr bwMode="auto">
          <a:xfrm>
            <a:off x="647700" y="2921000"/>
            <a:ext cx="8113713" cy="2365375"/>
            <a:chOff x="408" y="1840"/>
            <a:chExt cx="5111" cy="1490"/>
          </a:xfrm>
        </p:grpSpPr>
        <p:sp>
          <p:nvSpPr>
            <p:cNvPr id="46109" name="Rectangle 3">
              <a:extLst>
                <a:ext uri="{FF2B5EF4-FFF2-40B4-BE49-F238E27FC236}">
                  <a16:creationId xmlns:a16="http://schemas.microsoft.com/office/drawing/2014/main" id="{DEC3226C-2794-0F46-BBFB-13AB0B4F104B}"/>
                </a:ext>
              </a:extLst>
            </p:cNvPr>
            <p:cNvSpPr>
              <a:spLocks noChangeArrowheads="1"/>
            </p:cNvSpPr>
            <p:nvPr/>
          </p:nvSpPr>
          <p:spPr bwMode="auto">
            <a:xfrm>
              <a:off x="4600" y="3073"/>
              <a:ext cx="92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N/T</a:t>
              </a:r>
            </a:p>
          </p:txBody>
        </p:sp>
        <p:sp>
          <p:nvSpPr>
            <p:cNvPr id="46110" name="Rectangle 4">
              <a:extLst>
                <a:ext uri="{FF2B5EF4-FFF2-40B4-BE49-F238E27FC236}">
                  <a16:creationId xmlns:a16="http://schemas.microsoft.com/office/drawing/2014/main" id="{CB1E96BB-8171-3008-4061-EFDB27BF4E10}"/>
                </a:ext>
              </a:extLst>
            </p:cNvPr>
            <p:cNvSpPr>
              <a:spLocks noChangeArrowheads="1"/>
            </p:cNvSpPr>
            <p:nvPr/>
          </p:nvSpPr>
          <p:spPr bwMode="auto">
            <a:xfrm>
              <a:off x="3920" y="3073"/>
              <a:ext cx="68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a:t>
              </a:r>
            </a:p>
          </p:txBody>
        </p:sp>
        <p:sp>
          <p:nvSpPr>
            <p:cNvPr id="46111" name="Rectangle 5">
              <a:extLst>
                <a:ext uri="{FF2B5EF4-FFF2-40B4-BE49-F238E27FC236}">
                  <a16:creationId xmlns:a16="http://schemas.microsoft.com/office/drawing/2014/main" id="{65FEE1B2-8A44-6585-636E-E01D623D82B0}"/>
                </a:ext>
              </a:extLst>
            </p:cNvPr>
            <p:cNvSpPr>
              <a:spLocks noChangeArrowheads="1"/>
            </p:cNvSpPr>
            <p:nvPr/>
          </p:nvSpPr>
          <p:spPr bwMode="auto">
            <a:xfrm>
              <a:off x="3088" y="3073"/>
              <a:ext cx="83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u="sng">
                  <a:solidFill>
                    <a:srgbClr val="FF00FF"/>
                  </a:solidFill>
                  <a:cs typeface="Arial" panose="020B0604020202020204" pitchFamily="34" charset="0"/>
                </a:rPr>
                <a:t>N</a:t>
              </a:r>
              <a:r>
                <a:rPr lang="en-GB" altLang="en-US" sz="1800">
                  <a:solidFill>
                    <a:srgbClr val="FF00FF"/>
                  </a:solidFill>
                  <a:cs typeface="Arial" panose="020B0604020202020204" pitchFamily="34" charset="0"/>
                </a:rPr>
                <a:t>/T</a:t>
              </a:r>
            </a:p>
          </p:txBody>
        </p:sp>
        <p:sp>
          <p:nvSpPr>
            <p:cNvPr id="46112" name="Rectangle 6">
              <a:extLst>
                <a:ext uri="{FF2B5EF4-FFF2-40B4-BE49-F238E27FC236}">
                  <a16:creationId xmlns:a16="http://schemas.microsoft.com/office/drawing/2014/main" id="{A3B74FCD-3D40-B7C8-A314-4F1E8DD8B646}"/>
                </a:ext>
              </a:extLst>
            </p:cNvPr>
            <p:cNvSpPr>
              <a:spLocks noChangeArrowheads="1"/>
            </p:cNvSpPr>
            <p:nvPr/>
          </p:nvSpPr>
          <p:spPr bwMode="auto">
            <a:xfrm>
              <a:off x="2200" y="3073"/>
              <a:ext cx="88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T/N</a:t>
              </a:r>
            </a:p>
          </p:txBody>
        </p:sp>
        <p:sp>
          <p:nvSpPr>
            <p:cNvPr id="46113" name="Rectangle 7">
              <a:extLst>
                <a:ext uri="{FF2B5EF4-FFF2-40B4-BE49-F238E27FC236}">
                  <a16:creationId xmlns:a16="http://schemas.microsoft.com/office/drawing/2014/main" id="{F29FA33D-0EE8-BB84-5FCE-624A2EF4D51C}"/>
                </a:ext>
              </a:extLst>
            </p:cNvPr>
            <p:cNvSpPr>
              <a:spLocks noChangeArrowheads="1"/>
            </p:cNvSpPr>
            <p:nvPr/>
          </p:nvSpPr>
          <p:spPr bwMode="auto">
            <a:xfrm>
              <a:off x="1608" y="3073"/>
              <a:ext cx="59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N</a:t>
              </a:r>
            </a:p>
          </p:txBody>
        </p:sp>
        <p:sp>
          <p:nvSpPr>
            <p:cNvPr id="46114" name="Rectangle 8">
              <a:extLst>
                <a:ext uri="{FF2B5EF4-FFF2-40B4-BE49-F238E27FC236}">
                  <a16:creationId xmlns:a16="http://schemas.microsoft.com/office/drawing/2014/main" id="{F5BCCBBB-1D39-D160-9F55-ECE9FDEF8FBC}"/>
                </a:ext>
              </a:extLst>
            </p:cNvPr>
            <p:cNvSpPr>
              <a:spLocks noChangeArrowheads="1"/>
            </p:cNvSpPr>
            <p:nvPr/>
          </p:nvSpPr>
          <p:spPr bwMode="auto">
            <a:xfrm>
              <a:off x="760" y="3073"/>
              <a:ext cx="84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a:t>
              </a:r>
              <a:r>
                <a:rPr lang="en-GB" altLang="en-US" sz="1800" u="sng">
                  <a:solidFill>
                    <a:srgbClr val="FF0000"/>
                  </a:solidFill>
                  <a:cs typeface="Arial" panose="020B0604020202020204" pitchFamily="34" charset="0"/>
                </a:rPr>
                <a:t>N</a:t>
              </a:r>
            </a:p>
          </p:txBody>
        </p:sp>
        <p:sp>
          <p:nvSpPr>
            <p:cNvPr id="46115" name="Rectangle 9">
              <a:extLst>
                <a:ext uri="{FF2B5EF4-FFF2-40B4-BE49-F238E27FC236}">
                  <a16:creationId xmlns:a16="http://schemas.microsoft.com/office/drawing/2014/main" id="{7522F89A-5B84-8BEB-CC2C-20D50C1D228F}"/>
                </a:ext>
              </a:extLst>
            </p:cNvPr>
            <p:cNvSpPr>
              <a:spLocks noChangeArrowheads="1"/>
            </p:cNvSpPr>
            <p:nvPr/>
          </p:nvSpPr>
          <p:spPr bwMode="auto">
            <a:xfrm>
              <a:off x="408" y="3073"/>
              <a:ext cx="3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0</a:t>
              </a:r>
            </a:p>
          </p:txBody>
        </p:sp>
        <p:sp>
          <p:nvSpPr>
            <p:cNvPr id="46116" name="Rectangle 10">
              <a:extLst>
                <a:ext uri="{FF2B5EF4-FFF2-40B4-BE49-F238E27FC236}">
                  <a16:creationId xmlns:a16="http://schemas.microsoft.com/office/drawing/2014/main" id="{A70F8BB6-2AC3-03BA-279E-008DAF90728B}"/>
                </a:ext>
              </a:extLst>
            </p:cNvPr>
            <p:cNvSpPr>
              <a:spLocks noChangeArrowheads="1"/>
            </p:cNvSpPr>
            <p:nvPr/>
          </p:nvSpPr>
          <p:spPr bwMode="auto">
            <a:xfrm>
              <a:off x="4600" y="2815"/>
              <a:ext cx="92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N/T</a:t>
              </a:r>
            </a:p>
          </p:txBody>
        </p:sp>
        <p:sp>
          <p:nvSpPr>
            <p:cNvPr id="46117" name="Rectangle 11">
              <a:extLst>
                <a:ext uri="{FF2B5EF4-FFF2-40B4-BE49-F238E27FC236}">
                  <a16:creationId xmlns:a16="http://schemas.microsoft.com/office/drawing/2014/main" id="{49A8E6AD-443D-9593-8732-B261DD6547C4}"/>
                </a:ext>
              </a:extLst>
            </p:cNvPr>
            <p:cNvSpPr>
              <a:spLocks noChangeArrowheads="1"/>
            </p:cNvSpPr>
            <p:nvPr/>
          </p:nvSpPr>
          <p:spPr bwMode="auto">
            <a:xfrm>
              <a:off x="4600" y="2557"/>
              <a:ext cx="92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N/T</a:t>
              </a:r>
            </a:p>
          </p:txBody>
        </p:sp>
        <p:sp>
          <p:nvSpPr>
            <p:cNvPr id="46118" name="Rectangle 12">
              <a:extLst>
                <a:ext uri="{FF2B5EF4-FFF2-40B4-BE49-F238E27FC236}">
                  <a16:creationId xmlns:a16="http://schemas.microsoft.com/office/drawing/2014/main" id="{BABAE7C8-D32D-6D56-B37B-8B0872AB8DC3}"/>
                </a:ext>
              </a:extLst>
            </p:cNvPr>
            <p:cNvSpPr>
              <a:spLocks noChangeArrowheads="1"/>
            </p:cNvSpPr>
            <p:nvPr/>
          </p:nvSpPr>
          <p:spPr bwMode="auto">
            <a:xfrm>
              <a:off x="4600" y="2299"/>
              <a:ext cx="92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N/T</a:t>
              </a:r>
            </a:p>
          </p:txBody>
        </p:sp>
        <p:sp>
          <p:nvSpPr>
            <p:cNvPr id="46119" name="Rectangle 13">
              <a:extLst>
                <a:ext uri="{FF2B5EF4-FFF2-40B4-BE49-F238E27FC236}">
                  <a16:creationId xmlns:a16="http://schemas.microsoft.com/office/drawing/2014/main" id="{6EA5095A-C160-6B69-4596-A36B1627F7F8}"/>
                </a:ext>
              </a:extLst>
            </p:cNvPr>
            <p:cNvSpPr>
              <a:spLocks noChangeArrowheads="1"/>
            </p:cNvSpPr>
            <p:nvPr/>
          </p:nvSpPr>
          <p:spPr bwMode="auto">
            <a:xfrm>
              <a:off x="4600" y="1840"/>
              <a:ext cx="920"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new b2 prediction</a:t>
              </a:r>
            </a:p>
          </p:txBody>
        </p:sp>
        <p:sp>
          <p:nvSpPr>
            <p:cNvPr id="46120" name="Rectangle 14">
              <a:extLst>
                <a:ext uri="{FF2B5EF4-FFF2-40B4-BE49-F238E27FC236}">
                  <a16:creationId xmlns:a16="http://schemas.microsoft.com/office/drawing/2014/main" id="{DAA76C40-0660-71ED-B0F2-3A28B75549F8}"/>
                </a:ext>
              </a:extLst>
            </p:cNvPr>
            <p:cNvSpPr>
              <a:spLocks noChangeArrowheads="1"/>
            </p:cNvSpPr>
            <p:nvPr/>
          </p:nvSpPr>
          <p:spPr bwMode="auto">
            <a:xfrm>
              <a:off x="3920" y="2815"/>
              <a:ext cx="68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T</a:t>
              </a:r>
            </a:p>
          </p:txBody>
        </p:sp>
        <p:sp>
          <p:nvSpPr>
            <p:cNvPr id="46121" name="Rectangle 15">
              <a:extLst>
                <a:ext uri="{FF2B5EF4-FFF2-40B4-BE49-F238E27FC236}">
                  <a16:creationId xmlns:a16="http://schemas.microsoft.com/office/drawing/2014/main" id="{7737770A-A6CF-5A1C-3C10-563910A470EC}"/>
                </a:ext>
              </a:extLst>
            </p:cNvPr>
            <p:cNvSpPr>
              <a:spLocks noChangeArrowheads="1"/>
            </p:cNvSpPr>
            <p:nvPr/>
          </p:nvSpPr>
          <p:spPr bwMode="auto">
            <a:xfrm>
              <a:off x="3088" y="2815"/>
              <a:ext cx="83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a:t>
              </a:r>
              <a:r>
                <a:rPr lang="en-GB" altLang="en-US" sz="1800" u="sng">
                  <a:solidFill>
                    <a:srgbClr val="FF00FF"/>
                  </a:solidFill>
                  <a:cs typeface="Arial" panose="020B0604020202020204" pitchFamily="34" charset="0"/>
                </a:rPr>
                <a:t>T</a:t>
              </a:r>
            </a:p>
          </p:txBody>
        </p:sp>
        <p:sp>
          <p:nvSpPr>
            <p:cNvPr id="46122" name="Rectangle 16">
              <a:extLst>
                <a:ext uri="{FF2B5EF4-FFF2-40B4-BE49-F238E27FC236}">
                  <a16:creationId xmlns:a16="http://schemas.microsoft.com/office/drawing/2014/main" id="{69853067-2E4E-A34A-38DF-C7EECF7686A3}"/>
                </a:ext>
              </a:extLst>
            </p:cNvPr>
            <p:cNvSpPr>
              <a:spLocks noChangeArrowheads="1"/>
            </p:cNvSpPr>
            <p:nvPr/>
          </p:nvSpPr>
          <p:spPr bwMode="auto">
            <a:xfrm>
              <a:off x="2200" y="2815"/>
              <a:ext cx="88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T/N</a:t>
              </a:r>
            </a:p>
          </p:txBody>
        </p:sp>
        <p:sp>
          <p:nvSpPr>
            <p:cNvPr id="46123" name="Rectangle 17">
              <a:extLst>
                <a:ext uri="{FF2B5EF4-FFF2-40B4-BE49-F238E27FC236}">
                  <a16:creationId xmlns:a16="http://schemas.microsoft.com/office/drawing/2014/main" id="{DBC94F2D-E27F-6400-1723-7F7C9E86C178}"/>
                </a:ext>
              </a:extLst>
            </p:cNvPr>
            <p:cNvSpPr>
              <a:spLocks noChangeArrowheads="1"/>
            </p:cNvSpPr>
            <p:nvPr/>
          </p:nvSpPr>
          <p:spPr bwMode="auto">
            <a:xfrm>
              <a:off x="1608" y="2815"/>
              <a:ext cx="59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a:t>
              </a:r>
            </a:p>
          </p:txBody>
        </p:sp>
        <p:sp>
          <p:nvSpPr>
            <p:cNvPr id="46124" name="Rectangle 18">
              <a:extLst>
                <a:ext uri="{FF2B5EF4-FFF2-40B4-BE49-F238E27FC236}">
                  <a16:creationId xmlns:a16="http://schemas.microsoft.com/office/drawing/2014/main" id="{A984845E-9F2A-B909-B9E8-72DBB88E8727}"/>
                </a:ext>
              </a:extLst>
            </p:cNvPr>
            <p:cNvSpPr>
              <a:spLocks noChangeArrowheads="1"/>
            </p:cNvSpPr>
            <p:nvPr/>
          </p:nvSpPr>
          <p:spPr bwMode="auto">
            <a:xfrm>
              <a:off x="760" y="2815"/>
              <a:ext cx="84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u="sng">
                  <a:solidFill>
                    <a:srgbClr val="FF0000"/>
                  </a:solidFill>
                  <a:cs typeface="Arial" panose="020B0604020202020204" pitchFamily="34" charset="0"/>
                </a:rPr>
                <a:t>T</a:t>
              </a:r>
              <a:r>
                <a:rPr lang="en-GB" altLang="en-US" sz="1800">
                  <a:solidFill>
                    <a:srgbClr val="FF0000"/>
                  </a:solidFill>
                  <a:cs typeface="Arial" panose="020B0604020202020204" pitchFamily="34" charset="0"/>
                </a:rPr>
                <a:t>/N</a:t>
              </a:r>
            </a:p>
          </p:txBody>
        </p:sp>
        <p:sp>
          <p:nvSpPr>
            <p:cNvPr id="46125" name="Rectangle 19">
              <a:extLst>
                <a:ext uri="{FF2B5EF4-FFF2-40B4-BE49-F238E27FC236}">
                  <a16:creationId xmlns:a16="http://schemas.microsoft.com/office/drawing/2014/main" id="{D75736DD-267C-572F-075A-67CFA109B23C}"/>
                </a:ext>
              </a:extLst>
            </p:cNvPr>
            <p:cNvSpPr>
              <a:spLocks noChangeArrowheads="1"/>
            </p:cNvSpPr>
            <p:nvPr/>
          </p:nvSpPr>
          <p:spPr bwMode="auto">
            <a:xfrm>
              <a:off x="408" y="2815"/>
              <a:ext cx="3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2</a:t>
              </a:r>
            </a:p>
          </p:txBody>
        </p:sp>
        <p:sp>
          <p:nvSpPr>
            <p:cNvPr id="46126" name="Rectangle 20">
              <a:extLst>
                <a:ext uri="{FF2B5EF4-FFF2-40B4-BE49-F238E27FC236}">
                  <a16:creationId xmlns:a16="http://schemas.microsoft.com/office/drawing/2014/main" id="{0C5D7023-25F7-D6D1-80C4-8A29BEF09CF5}"/>
                </a:ext>
              </a:extLst>
            </p:cNvPr>
            <p:cNvSpPr>
              <a:spLocks noChangeArrowheads="1"/>
            </p:cNvSpPr>
            <p:nvPr/>
          </p:nvSpPr>
          <p:spPr bwMode="auto">
            <a:xfrm>
              <a:off x="3920" y="2557"/>
              <a:ext cx="68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a:t>
              </a:r>
            </a:p>
          </p:txBody>
        </p:sp>
        <p:sp>
          <p:nvSpPr>
            <p:cNvPr id="46127" name="Rectangle 21">
              <a:extLst>
                <a:ext uri="{FF2B5EF4-FFF2-40B4-BE49-F238E27FC236}">
                  <a16:creationId xmlns:a16="http://schemas.microsoft.com/office/drawing/2014/main" id="{925EF6DB-30EE-0419-9D2F-B66C6222944A}"/>
                </a:ext>
              </a:extLst>
            </p:cNvPr>
            <p:cNvSpPr>
              <a:spLocks noChangeArrowheads="1"/>
            </p:cNvSpPr>
            <p:nvPr/>
          </p:nvSpPr>
          <p:spPr bwMode="auto">
            <a:xfrm>
              <a:off x="3088" y="2557"/>
              <a:ext cx="83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u="sng">
                  <a:solidFill>
                    <a:srgbClr val="FF00FF"/>
                  </a:solidFill>
                  <a:cs typeface="Arial" panose="020B0604020202020204" pitchFamily="34" charset="0"/>
                </a:rPr>
                <a:t>N</a:t>
              </a:r>
              <a:r>
                <a:rPr lang="en-GB" altLang="en-US" sz="1800">
                  <a:solidFill>
                    <a:srgbClr val="FF00FF"/>
                  </a:solidFill>
                  <a:cs typeface="Arial" panose="020B0604020202020204" pitchFamily="34" charset="0"/>
                </a:rPr>
                <a:t>/T</a:t>
              </a:r>
            </a:p>
          </p:txBody>
        </p:sp>
        <p:sp>
          <p:nvSpPr>
            <p:cNvPr id="46128" name="Rectangle 22">
              <a:extLst>
                <a:ext uri="{FF2B5EF4-FFF2-40B4-BE49-F238E27FC236}">
                  <a16:creationId xmlns:a16="http://schemas.microsoft.com/office/drawing/2014/main" id="{F504BA96-6CA7-4405-4253-8651A9212856}"/>
                </a:ext>
              </a:extLst>
            </p:cNvPr>
            <p:cNvSpPr>
              <a:spLocks noChangeArrowheads="1"/>
            </p:cNvSpPr>
            <p:nvPr/>
          </p:nvSpPr>
          <p:spPr bwMode="auto">
            <a:xfrm>
              <a:off x="2200" y="2557"/>
              <a:ext cx="88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T/N</a:t>
              </a:r>
            </a:p>
          </p:txBody>
        </p:sp>
        <p:sp>
          <p:nvSpPr>
            <p:cNvPr id="46129" name="Rectangle 23">
              <a:extLst>
                <a:ext uri="{FF2B5EF4-FFF2-40B4-BE49-F238E27FC236}">
                  <a16:creationId xmlns:a16="http://schemas.microsoft.com/office/drawing/2014/main" id="{71B469F5-DB12-C8F9-5D6F-82C41C169236}"/>
                </a:ext>
              </a:extLst>
            </p:cNvPr>
            <p:cNvSpPr>
              <a:spLocks noChangeArrowheads="1"/>
            </p:cNvSpPr>
            <p:nvPr/>
          </p:nvSpPr>
          <p:spPr bwMode="auto">
            <a:xfrm>
              <a:off x="1608" y="2557"/>
              <a:ext cx="59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N</a:t>
              </a:r>
            </a:p>
          </p:txBody>
        </p:sp>
        <p:sp>
          <p:nvSpPr>
            <p:cNvPr id="46130" name="Rectangle 24">
              <a:extLst>
                <a:ext uri="{FF2B5EF4-FFF2-40B4-BE49-F238E27FC236}">
                  <a16:creationId xmlns:a16="http://schemas.microsoft.com/office/drawing/2014/main" id="{E2CA1CC0-DA6B-2FDA-D522-B0DA0208A6DB}"/>
                </a:ext>
              </a:extLst>
            </p:cNvPr>
            <p:cNvSpPr>
              <a:spLocks noChangeArrowheads="1"/>
            </p:cNvSpPr>
            <p:nvPr/>
          </p:nvSpPr>
          <p:spPr bwMode="auto">
            <a:xfrm>
              <a:off x="760" y="2557"/>
              <a:ext cx="84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a:t>
              </a:r>
              <a:r>
                <a:rPr lang="en-GB" altLang="en-US" sz="1800" u="sng">
                  <a:solidFill>
                    <a:srgbClr val="FF0000"/>
                  </a:solidFill>
                  <a:cs typeface="Arial" panose="020B0604020202020204" pitchFamily="34" charset="0"/>
                </a:rPr>
                <a:t>N</a:t>
              </a:r>
            </a:p>
          </p:txBody>
        </p:sp>
        <p:sp>
          <p:nvSpPr>
            <p:cNvPr id="46131" name="Rectangle 25">
              <a:extLst>
                <a:ext uri="{FF2B5EF4-FFF2-40B4-BE49-F238E27FC236}">
                  <a16:creationId xmlns:a16="http://schemas.microsoft.com/office/drawing/2014/main" id="{438438C8-7EC9-6131-8150-4CB31D0A21A3}"/>
                </a:ext>
              </a:extLst>
            </p:cNvPr>
            <p:cNvSpPr>
              <a:spLocks noChangeArrowheads="1"/>
            </p:cNvSpPr>
            <p:nvPr/>
          </p:nvSpPr>
          <p:spPr bwMode="auto">
            <a:xfrm>
              <a:off x="408" y="2557"/>
              <a:ext cx="3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0</a:t>
              </a:r>
            </a:p>
          </p:txBody>
        </p:sp>
        <p:sp>
          <p:nvSpPr>
            <p:cNvPr id="46132" name="Rectangle 26">
              <a:extLst>
                <a:ext uri="{FF2B5EF4-FFF2-40B4-BE49-F238E27FC236}">
                  <a16:creationId xmlns:a16="http://schemas.microsoft.com/office/drawing/2014/main" id="{0A93638A-3D3A-6E17-3487-56504FEF539F}"/>
                </a:ext>
              </a:extLst>
            </p:cNvPr>
            <p:cNvSpPr>
              <a:spLocks noChangeArrowheads="1"/>
            </p:cNvSpPr>
            <p:nvPr/>
          </p:nvSpPr>
          <p:spPr bwMode="auto">
            <a:xfrm>
              <a:off x="3920" y="2299"/>
              <a:ext cx="68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T</a:t>
              </a:r>
            </a:p>
          </p:txBody>
        </p:sp>
        <p:sp>
          <p:nvSpPr>
            <p:cNvPr id="46133" name="Rectangle 27">
              <a:extLst>
                <a:ext uri="{FF2B5EF4-FFF2-40B4-BE49-F238E27FC236}">
                  <a16:creationId xmlns:a16="http://schemas.microsoft.com/office/drawing/2014/main" id="{7351A327-E009-5A53-8AA6-C86747BC37FD}"/>
                </a:ext>
              </a:extLst>
            </p:cNvPr>
            <p:cNvSpPr>
              <a:spLocks noChangeArrowheads="1"/>
            </p:cNvSpPr>
            <p:nvPr/>
          </p:nvSpPr>
          <p:spPr bwMode="auto">
            <a:xfrm>
              <a:off x="3088" y="2299"/>
              <a:ext cx="83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N/</a:t>
              </a:r>
              <a:r>
                <a:rPr lang="en-GB" altLang="en-US" sz="1800" u="sng">
                  <a:solidFill>
                    <a:srgbClr val="FF00FF"/>
                  </a:solidFill>
                  <a:cs typeface="Arial" panose="020B0604020202020204" pitchFamily="34" charset="0"/>
                </a:rPr>
                <a:t>N</a:t>
              </a:r>
            </a:p>
          </p:txBody>
        </p:sp>
        <p:sp>
          <p:nvSpPr>
            <p:cNvPr id="46134" name="Rectangle 28">
              <a:extLst>
                <a:ext uri="{FF2B5EF4-FFF2-40B4-BE49-F238E27FC236}">
                  <a16:creationId xmlns:a16="http://schemas.microsoft.com/office/drawing/2014/main" id="{31CB187C-FA77-ADAD-25F4-1F40E608C60F}"/>
                </a:ext>
              </a:extLst>
            </p:cNvPr>
            <p:cNvSpPr>
              <a:spLocks noChangeArrowheads="1"/>
            </p:cNvSpPr>
            <p:nvPr/>
          </p:nvSpPr>
          <p:spPr bwMode="auto">
            <a:xfrm>
              <a:off x="2200" y="2299"/>
              <a:ext cx="88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T/N</a:t>
              </a:r>
            </a:p>
          </p:txBody>
        </p:sp>
        <p:sp>
          <p:nvSpPr>
            <p:cNvPr id="46135" name="Rectangle 29">
              <a:extLst>
                <a:ext uri="{FF2B5EF4-FFF2-40B4-BE49-F238E27FC236}">
                  <a16:creationId xmlns:a16="http://schemas.microsoft.com/office/drawing/2014/main" id="{2FE9EE37-3C04-A9A4-67A7-DD4D27DEDB79}"/>
                </a:ext>
              </a:extLst>
            </p:cNvPr>
            <p:cNvSpPr>
              <a:spLocks noChangeArrowheads="1"/>
            </p:cNvSpPr>
            <p:nvPr/>
          </p:nvSpPr>
          <p:spPr bwMode="auto">
            <a:xfrm>
              <a:off x="1608" y="2299"/>
              <a:ext cx="59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T</a:t>
              </a:r>
            </a:p>
          </p:txBody>
        </p:sp>
        <p:sp>
          <p:nvSpPr>
            <p:cNvPr id="46136" name="Rectangle 30">
              <a:extLst>
                <a:ext uri="{FF2B5EF4-FFF2-40B4-BE49-F238E27FC236}">
                  <a16:creationId xmlns:a16="http://schemas.microsoft.com/office/drawing/2014/main" id="{C5F591C4-047C-DC2A-0CAC-E5D07BE00C07}"/>
                </a:ext>
              </a:extLst>
            </p:cNvPr>
            <p:cNvSpPr>
              <a:spLocks noChangeArrowheads="1"/>
            </p:cNvSpPr>
            <p:nvPr/>
          </p:nvSpPr>
          <p:spPr bwMode="auto">
            <a:xfrm>
              <a:off x="760" y="2299"/>
              <a:ext cx="84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u="sng">
                  <a:solidFill>
                    <a:srgbClr val="FF0000"/>
                  </a:solidFill>
                  <a:cs typeface="Arial" panose="020B0604020202020204" pitchFamily="34" charset="0"/>
                </a:rPr>
                <a:t>N</a:t>
              </a:r>
              <a:r>
                <a:rPr lang="en-GB" altLang="en-US" sz="1800">
                  <a:solidFill>
                    <a:srgbClr val="FF0000"/>
                  </a:solidFill>
                  <a:cs typeface="Arial" panose="020B0604020202020204" pitchFamily="34" charset="0"/>
                </a:rPr>
                <a:t>/N</a:t>
              </a:r>
            </a:p>
          </p:txBody>
        </p:sp>
        <p:sp>
          <p:nvSpPr>
            <p:cNvPr id="46137" name="Rectangle 31">
              <a:extLst>
                <a:ext uri="{FF2B5EF4-FFF2-40B4-BE49-F238E27FC236}">
                  <a16:creationId xmlns:a16="http://schemas.microsoft.com/office/drawing/2014/main" id="{267E064D-FCEC-3B46-601D-EC916E4CEFDE}"/>
                </a:ext>
              </a:extLst>
            </p:cNvPr>
            <p:cNvSpPr>
              <a:spLocks noChangeArrowheads="1"/>
            </p:cNvSpPr>
            <p:nvPr/>
          </p:nvSpPr>
          <p:spPr bwMode="auto">
            <a:xfrm>
              <a:off x="408" y="2299"/>
              <a:ext cx="3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2</a:t>
              </a:r>
            </a:p>
          </p:txBody>
        </p:sp>
        <p:sp>
          <p:nvSpPr>
            <p:cNvPr id="46138" name="Rectangle 32">
              <a:extLst>
                <a:ext uri="{FF2B5EF4-FFF2-40B4-BE49-F238E27FC236}">
                  <a16:creationId xmlns:a16="http://schemas.microsoft.com/office/drawing/2014/main" id="{E9E7FF40-C121-2ED1-88FE-1164B78AEB41}"/>
                </a:ext>
              </a:extLst>
            </p:cNvPr>
            <p:cNvSpPr>
              <a:spLocks noChangeArrowheads="1"/>
            </p:cNvSpPr>
            <p:nvPr/>
          </p:nvSpPr>
          <p:spPr bwMode="auto">
            <a:xfrm>
              <a:off x="3920" y="1840"/>
              <a:ext cx="680"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b2 action</a:t>
              </a:r>
            </a:p>
          </p:txBody>
        </p:sp>
        <p:sp>
          <p:nvSpPr>
            <p:cNvPr id="46139" name="Rectangle 33">
              <a:extLst>
                <a:ext uri="{FF2B5EF4-FFF2-40B4-BE49-F238E27FC236}">
                  <a16:creationId xmlns:a16="http://schemas.microsoft.com/office/drawing/2014/main" id="{A35A8977-E633-CA3F-71D7-E0468106D014}"/>
                </a:ext>
              </a:extLst>
            </p:cNvPr>
            <p:cNvSpPr>
              <a:spLocks noChangeArrowheads="1"/>
            </p:cNvSpPr>
            <p:nvPr/>
          </p:nvSpPr>
          <p:spPr bwMode="auto">
            <a:xfrm>
              <a:off x="3088" y="1840"/>
              <a:ext cx="832"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FF"/>
                </a:buClr>
                <a:buFont typeface="Comic Sans MS" panose="030F0902030302020204" pitchFamily="66" charset="0"/>
                <a:buNone/>
              </a:pPr>
              <a:r>
                <a:rPr lang="en-GB" altLang="en-US" sz="1800">
                  <a:solidFill>
                    <a:srgbClr val="FF00FF"/>
                  </a:solidFill>
                  <a:cs typeface="Arial" panose="020B0604020202020204" pitchFamily="34" charset="0"/>
                </a:rPr>
                <a:t>b2 prediction</a:t>
              </a:r>
            </a:p>
          </p:txBody>
        </p:sp>
        <p:sp>
          <p:nvSpPr>
            <p:cNvPr id="46140" name="Rectangle 34">
              <a:extLst>
                <a:ext uri="{FF2B5EF4-FFF2-40B4-BE49-F238E27FC236}">
                  <a16:creationId xmlns:a16="http://schemas.microsoft.com/office/drawing/2014/main" id="{6D567034-38E3-05F9-861F-A225E7DD4454}"/>
                </a:ext>
              </a:extLst>
            </p:cNvPr>
            <p:cNvSpPr>
              <a:spLocks noChangeArrowheads="1"/>
            </p:cNvSpPr>
            <p:nvPr/>
          </p:nvSpPr>
          <p:spPr bwMode="auto">
            <a:xfrm>
              <a:off x="2200" y="1840"/>
              <a:ext cx="88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new b1 prediction</a:t>
              </a:r>
            </a:p>
          </p:txBody>
        </p:sp>
        <p:sp>
          <p:nvSpPr>
            <p:cNvPr id="46141" name="Rectangle 35">
              <a:extLst>
                <a:ext uri="{FF2B5EF4-FFF2-40B4-BE49-F238E27FC236}">
                  <a16:creationId xmlns:a16="http://schemas.microsoft.com/office/drawing/2014/main" id="{3219AFF1-6110-FE55-687B-7F3909FFCED8}"/>
                </a:ext>
              </a:extLst>
            </p:cNvPr>
            <p:cNvSpPr>
              <a:spLocks noChangeArrowheads="1"/>
            </p:cNvSpPr>
            <p:nvPr/>
          </p:nvSpPr>
          <p:spPr bwMode="auto">
            <a:xfrm>
              <a:off x="1608" y="1840"/>
              <a:ext cx="592"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b1 action</a:t>
              </a:r>
            </a:p>
          </p:txBody>
        </p:sp>
        <p:sp>
          <p:nvSpPr>
            <p:cNvPr id="46142" name="Rectangle 36">
              <a:extLst>
                <a:ext uri="{FF2B5EF4-FFF2-40B4-BE49-F238E27FC236}">
                  <a16:creationId xmlns:a16="http://schemas.microsoft.com/office/drawing/2014/main" id="{E36AE8CE-A922-31FD-01D0-E08F41AE0398}"/>
                </a:ext>
              </a:extLst>
            </p:cNvPr>
            <p:cNvSpPr>
              <a:spLocks noChangeArrowheads="1"/>
            </p:cNvSpPr>
            <p:nvPr/>
          </p:nvSpPr>
          <p:spPr bwMode="auto">
            <a:xfrm>
              <a:off x="760" y="1840"/>
              <a:ext cx="84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Clr>
                  <a:srgbClr val="FF0000"/>
                </a:buClr>
                <a:buFont typeface="Comic Sans MS" panose="030F0902030302020204" pitchFamily="66" charset="0"/>
                <a:buNone/>
              </a:pPr>
              <a:r>
                <a:rPr lang="en-GB" altLang="en-US" sz="1800">
                  <a:solidFill>
                    <a:srgbClr val="FF0000"/>
                  </a:solidFill>
                  <a:cs typeface="Arial" panose="020B0604020202020204" pitchFamily="34" charset="0"/>
                </a:rPr>
                <a:t>b1 prediction</a:t>
              </a:r>
            </a:p>
          </p:txBody>
        </p:sp>
        <p:sp>
          <p:nvSpPr>
            <p:cNvPr id="46143" name="Rectangle 37">
              <a:extLst>
                <a:ext uri="{FF2B5EF4-FFF2-40B4-BE49-F238E27FC236}">
                  <a16:creationId xmlns:a16="http://schemas.microsoft.com/office/drawing/2014/main" id="{01D6FC50-69F4-EE3E-E7E1-0FE5B116031D}"/>
                </a:ext>
              </a:extLst>
            </p:cNvPr>
            <p:cNvSpPr>
              <a:spLocks noChangeArrowheads="1"/>
            </p:cNvSpPr>
            <p:nvPr/>
          </p:nvSpPr>
          <p:spPr bwMode="auto">
            <a:xfrm>
              <a:off x="408" y="1840"/>
              <a:ext cx="352"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ts val="450"/>
                </a:spcBef>
                <a:buFont typeface="Comic Sans MS" panose="030F0902030302020204" pitchFamily="66" charset="0"/>
                <a:buNone/>
              </a:pPr>
              <a:r>
                <a:rPr lang="en-GB" altLang="en-US" sz="1800">
                  <a:solidFill>
                    <a:srgbClr val="000000"/>
                  </a:solidFill>
                  <a:cs typeface="Arial" panose="020B0604020202020204" pitchFamily="34" charset="0"/>
                </a:rPr>
                <a:t>d=?</a:t>
              </a:r>
            </a:p>
          </p:txBody>
        </p:sp>
        <p:sp>
          <p:nvSpPr>
            <p:cNvPr id="46144" name="Line 38">
              <a:extLst>
                <a:ext uri="{FF2B5EF4-FFF2-40B4-BE49-F238E27FC236}">
                  <a16:creationId xmlns:a16="http://schemas.microsoft.com/office/drawing/2014/main" id="{0B644E50-84A3-5714-23E7-AA665EB22A1F}"/>
                </a:ext>
              </a:extLst>
            </p:cNvPr>
            <p:cNvSpPr>
              <a:spLocks noChangeShapeType="1"/>
            </p:cNvSpPr>
            <p:nvPr/>
          </p:nvSpPr>
          <p:spPr bwMode="auto">
            <a:xfrm>
              <a:off x="408" y="1840"/>
              <a:ext cx="5112"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45" name="Line 39">
              <a:extLst>
                <a:ext uri="{FF2B5EF4-FFF2-40B4-BE49-F238E27FC236}">
                  <a16:creationId xmlns:a16="http://schemas.microsoft.com/office/drawing/2014/main" id="{7AC11F30-5910-86D3-104E-BDDB9242D12A}"/>
                </a:ext>
              </a:extLst>
            </p:cNvPr>
            <p:cNvSpPr>
              <a:spLocks noChangeShapeType="1"/>
            </p:cNvSpPr>
            <p:nvPr/>
          </p:nvSpPr>
          <p:spPr bwMode="auto">
            <a:xfrm>
              <a:off x="408" y="2299"/>
              <a:ext cx="5112"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46" name="Line 40">
              <a:extLst>
                <a:ext uri="{FF2B5EF4-FFF2-40B4-BE49-F238E27FC236}">
                  <a16:creationId xmlns:a16="http://schemas.microsoft.com/office/drawing/2014/main" id="{5A87132A-7EC3-4060-29F6-A07CF158D7C8}"/>
                </a:ext>
              </a:extLst>
            </p:cNvPr>
            <p:cNvSpPr>
              <a:spLocks noChangeShapeType="1"/>
            </p:cNvSpPr>
            <p:nvPr/>
          </p:nvSpPr>
          <p:spPr bwMode="auto">
            <a:xfrm>
              <a:off x="408" y="2557"/>
              <a:ext cx="5112"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47" name="Line 41">
              <a:extLst>
                <a:ext uri="{FF2B5EF4-FFF2-40B4-BE49-F238E27FC236}">
                  <a16:creationId xmlns:a16="http://schemas.microsoft.com/office/drawing/2014/main" id="{7A9DD299-9967-8D0E-0E47-29118E335B41}"/>
                </a:ext>
              </a:extLst>
            </p:cNvPr>
            <p:cNvSpPr>
              <a:spLocks noChangeShapeType="1"/>
            </p:cNvSpPr>
            <p:nvPr/>
          </p:nvSpPr>
          <p:spPr bwMode="auto">
            <a:xfrm>
              <a:off x="408" y="2815"/>
              <a:ext cx="5112"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48" name="Line 42">
              <a:extLst>
                <a:ext uri="{FF2B5EF4-FFF2-40B4-BE49-F238E27FC236}">
                  <a16:creationId xmlns:a16="http://schemas.microsoft.com/office/drawing/2014/main" id="{3BE1C184-5281-17EA-EBE8-DB142F8A9AE5}"/>
                </a:ext>
              </a:extLst>
            </p:cNvPr>
            <p:cNvSpPr>
              <a:spLocks noChangeShapeType="1"/>
            </p:cNvSpPr>
            <p:nvPr/>
          </p:nvSpPr>
          <p:spPr bwMode="auto">
            <a:xfrm>
              <a:off x="408" y="3331"/>
              <a:ext cx="5112" cy="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49" name="Line 43">
              <a:extLst>
                <a:ext uri="{FF2B5EF4-FFF2-40B4-BE49-F238E27FC236}">
                  <a16:creationId xmlns:a16="http://schemas.microsoft.com/office/drawing/2014/main" id="{85DD6CC4-A07D-BFEA-571D-881786E6948F}"/>
                </a:ext>
              </a:extLst>
            </p:cNvPr>
            <p:cNvSpPr>
              <a:spLocks noChangeShapeType="1"/>
            </p:cNvSpPr>
            <p:nvPr/>
          </p:nvSpPr>
          <p:spPr bwMode="auto">
            <a:xfrm>
              <a:off x="408" y="1840"/>
              <a:ext cx="1" cy="149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50" name="Line 44">
              <a:extLst>
                <a:ext uri="{FF2B5EF4-FFF2-40B4-BE49-F238E27FC236}">
                  <a16:creationId xmlns:a16="http://schemas.microsoft.com/office/drawing/2014/main" id="{8A5CE58C-AA23-98BB-4E32-61350422E633}"/>
                </a:ext>
              </a:extLst>
            </p:cNvPr>
            <p:cNvSpPr>
              <a:spLocks noChangeShapeType="1"/>
            </p:cNvSpPr>
            <p:nvPr/>
          </p:nvSpPr>
          <p:spPr bwMode="auto">
            <a:xfrm>
              <a:off x="760" y="1840"/>
              <a:ext cx="1" cy="149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51" name="Line 45">
              <a:extLst>
                <a:ext uri="{FF2B5EF4-FFF2-40B4-BE49-F238E27FC236}">
                  <a16:creationId xmlns:a16="http://schemas.microsoft.com/office/drawing/2014/main" id="{B096CB65-6D61-E222-E77E-4A0BB2072B61}"/>
                </a:ext>
              </a:extLst>
            </p:cNvPr>
            <p:cNvSpPr>
              <a:spLocks noChangeShapeType="1"/>
            </p:cNvSpPr>
            <p:nvPr/>
          </p:nvSpPr>
          <p:spPr bwMode="auto">
            <a:xfrm>
              <a:off x="1608" y="1840"/>
              <a:ext cx="1" cy="149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52" name="Line 46">
              <a:extLst>
                <a:ext uri="{FF2B5EF4-FFF2-40B4-BE49-F238E27FC236}">
                  <a16:creationId xmlns:a16="http://schemas.microsoft.com/office/drawing/2014/main" id="{34E0C80C-DD20-21BF-E6B9-AD5A6C55B4D0}"/>
                </a:ext>
              </a:extLst>
            </p:cNvPr>
            <p:cNvSpPr>
              <a:spLocks noChangeShapeType="1"/>
            </p:cNvSpPr>
            <p:nvPr/>
          </p:nvSpPr>
          <p:spPr bwMode="auto">
            <a:xfrm>
              <a:off x="2200" y="1840"/>
              <a:ext cx="1" cy="149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53" name="Line 47">
              <a:extLst>
                <a:ext uri="{FF2B5EF4-FFF2-40B4-BE49-F238E27FC236}">
                  <a16:creationId xmlns:a16="http://schemas.microsoft.com/office/drawing/2014/main" id="{727CD58C-1756-1CC1-0CA7-7DFB33925AC0}"/>
                </a:ext>
              </a:extLst>
            </p:cNvPr>
            <p:cNvSpPr>
              <a:spLocks noChangeShapeType="1"/>
            </p:cNvSpPr>
            <p:nvPr/>
          </p:nvSpPr>
          <p:spPr bwMode="auto">
            <a:xfrm>
              <a:off x="3088" y="1840"/>
              <a:ext cx="1" cy="149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54" name="Line 48">
              <a:extLst>
                <a:ext uri="{FF2B5EF4-FFF2-40B4-BE49-F238E27FC236}">
                  <a16:creationId xmlns:a16="http://schemas.microsoft.com/office/drawing/2014/main" id="{64D4F865-FDD7-9B74-EA9A-DCEF843F3548}"/>
                </a:ext>
              </a:extLst>
            </p:cNvPr>
            <p:cNvSpPr>
              <a:spLocks noChangeShapeType="1"/>
            </p:cNvSpPr>
            <p:nvPr/>
          </p:nvSpPr>
          <p:spPr bwMode="auto">
            <a:xfrm>
              <a:off x="3920" y="1840"/>
              <a:ext cx="1" cy="149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55" name="Line 49">
              <a:extLst>
                <a:ext uri="{FF2B5EF4-FFF2-40B4-BE49-F238E27FC236}">
                  <a16:creationId xmlns:a16="http://schemas.microsoft.com/office/drawing/2014/main" id="{F61DC076-A78F-ABEF-AC58-E65638CCE3FA}"/>
                </a:ext>
              </a:extLst>
            </p:cNvPr>
            <p:cNvSpPr>
              <a:spLocks noChangeShapeType="1"/>
            </p:cNvSpPr>
            <p:nvPr/>
          </p:nvSpPr>
          <p:spPr bwMode="auto">
            <a:xfrm>
              <a:off x="5520" y="1840"/>
              <a:ext cx="1" cy="1491"/>
            </a:xfrm>
            <a:prstGeom prst="line">
              <a:avLst/>
            </a:prstGeom>
            <a:noFill/>
            <a:ln w="2844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56" name="Line 50">
              <a:extLst>
                <a:ext uri="{FF2B5EF4-FFF2-40B4-BE49-F238E27FC236}">
                  <a16:creationId xmlns:a16="http://schemas.microsoft.com/office/drawing/2014/main" id="{BED33DE5-178B-4E21-6E9B-B3BB7A8C7E09}"/>
                </a:ext>
              </a:extLst>
            </p:cNvPr>
            <p:cNvSpPr>
              <a:spLocks noChangeShapeType="1"/>
            </p:cNvSpPr>
            <p:nvPr/>
          </p:nvSpPr>
          <p:spPr bwMode="auto">
            <a:xfrm>
              <a:off x="4600" y="1840"/>
              <a:ext cx="1" cy="149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157" name="Line 51">
              <a:extLst>
                <a:ext uri="{FF2B5EF4-FFF2-40B4-BE49-F238E27FC236}">
                  <a16:creationId xmlns:a16="http://schemas.microsoft.com/office/drawing/2014/main" id="{3D8FF52A-189F-8831-D88D-7A76206E1CC5}"/>
                </a:ext>
              </a:extLst>
            </p:cNvPr>
            <p:cNvSpPr>
              <a:spLocks noChangeShapeType="1"/>
            </p:cNvSpPr>
            <p:nvPr/>
          </p:nvSpPr>
          <p:spPr bwMode="auto">
            <a:xfrm>
              <a:off x="408" y="3073"/>
              <a:ext cx="5112" cy="1"/>
            </a:xfrm>
            <a:prstGeom prst="line">
              <a:avLst/>
            </a:prstGeom>
            <a:noFill/>
            <a:ln w="126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46084" name="Rectangle 52">
            <a:extLst>
              <a:ext uri="{FF2B5EF4-FFF2-40B4-BE49-F238E27FC236}">
                <a16:creationId xmlns:a16="http://schemas.microsoft.com/office/drawing/2014/main" id="{75B0023A-15C0-92ED-0D51-68FDA4B88F19}"/>
              </a:ext>
            </a:extLst>
          </p:cNvPr>
          <p:cNvSpPr>
            <a:spLocks noGrp="1" noChangeArrowheads="1"/>
          </p:cNvSpPr>
          <p:nvPr>
            <p:ph type="body" idx="1"/>
          </p:nvPr>
        </p:nvSpPr>
        <p:spPr>
          <a:xfrm>
            <a:off x="546100" y="1028700"/>
            <a:ext cx="8178800" cy="1231900"/>
          </a:xfrm>
        </p:spPr>
        <p:txBody>
          <a:bodyPr/>
          <a:lstStyle/>
          <a:p>
            <a:pPr>
              <a:lnSpc>
                <a:spcPct val="100000"/>
              </a:lnSpc>
              <a:spcBef>
                <a:spcPts val="1125"/>
              </a:spcBef>
              <a:buFont typeface="Comic Sans MS" panose="030F0902030302020204" pitchFamily="66"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a:latin typeface="Arial" panose="020B0604020202020204" pitchFamily="34" charset="0"/>
                <a:cs typeface="Arial" panose="020B0604020202020204" pitchFamily="34" charset="0"/>
              </a:rPr>
              <a:t>     Consider behavior of a </a:t>
            </a:r>
            <a:r>
              <a:rPr lang="en-GB" altLang="en-US" sz="1800" u="sng">
                <a:latin typeface="Arial" panose="020B0604020202020204" pitchFamily="34" charset="0"/>
                <a:cs typeface="Arial" panose="020B0604020202020204" pitchFamily="34" charset="0"/>
              </a:rPr>
              <a:t>1-bit predictor</a:t>
            </a:r>
            <a:r>
              <a:rPr lang="en-GB" altLang="en-US" sz="1800">
                <a:latin typeface="Arial" panose="020B0604020202020204" pitchFamily="34" charset="0"/>
                <a:cs typeface="Arial" panose="020B0604020202020204" pitchFamily="34" charset="0"/>
              </a:rPr>
              <a:t>  with one bit of correlation history... if d alternates from 2 to 0:  d = 2, 0, 2, 0, ...</a:t>
            </a:r>
          </a:p>
        </p:txBody>
      </p:sp>
      <p:sp>
        <p:nvSpPr>
          <p:cNvPr id="46085" name="Line 53">
            <a:extLst>
              <a:ext uri="{FF2B5EF4-FFF2-40B4-BE49-F238E27FC236}">
                <a16:creationId xmlns:a16="http://schemas.microsoft.com/office/drawing/2014/main" id="{99FFCE12-D912-BA31-1DEB-1DE4DFB7560F}"/>
              </a:ext>
            </a:extLst>
          </p:cNvPr>
          <p:cNvSpPr>
            <a:spLocks noChangeShapeType="1"/>
          </p:cNvSpPr>
          <p:nvPr/>
        </p:nvSpPr>
        <p:spPr bwMode="auto">
          <a:xfrm>
            <a:off x="381000" y="3937000"/>
            <a:ext cx="1588" cy="1358900"/>
          </a:xfrm>
          <a:prstGeom prst="line">
            <a:avLst/>
          </a:prstGeom>
          <a:noFill/>
          <a:ln w="381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086" name="Line 54">
            <a:extLst>
              <a:ext uri="{FF2B5EF4-FFF2-40B4-BE49-F238E27FC236}">
                <a16:creationId xmlns:a16="http://schemas.microsoft.com/office/drawing/2014/main" id="{1173C03E-02CE-3124-5273-481EBCD54B36}"/>
              </a:ext>
            </a:extLst>
          </p:cNvPr>
          <p:cNvSpPr>
            <a:spLocks noChangeShapeType="1"/>
          </p:cNvSpPr>
          <p:nvPr/>
        </p:nvSpPr>
        <p:spPr bwMode="auto">
          <a:xfrm>
            <a:off x="1066800" y="2451100"/>
            <a:ext cx="1676400" cy="1588"/>
          </a:xfrm>
          <a:prstGeom prst="line">
            <a:avLst/>
          </a:prstGeom>
          <a:noFill/>
          <a:ln w="381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087" name="Text Box 55">
            <a:extLst>
              <a:ext uri="{FF2B5EF4-FFF2-40B4-BE49-F238E27FC236}">
                <a16:creationId xmlns:a16="http://schemas.microsoft.com/office/drawing/2014/main" id="{75B7E2B4-1E4E-A871-2731-E52C515CB022}"/>
              </a:ext>
            </a:extLst>
          </p:cNvPr>
          <p:cNvSpPr txBox="1">
            <a:spLocks noChangeArrowheads="1"/>
          </p:cNvSpPr>
          <p:nvPr/>
        </p:nvSpPr>
        <p:spPr bwMode="auto">
          <a:xfrm>
            <a:off x="949325" y="2492375"/>
            <a:ext cx="50927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1800" i="1">
                <a:solidFill>
                  <a:srgbClr val="000000"/>
                </a:solidFill>
                <a:cs typeface="Arial" panose="020B0604020202020204" pitchFamily="34" charset="0"/>
              </a:rPr>
              <a:t>across: behavior as code executes a single time</a:t>
            </a:r>
          </a:p>
        </p:txBody>
      </p:sp>
      <p:sp>
        <p:nvSpPr>
          <p:cNvPr id="46088" name="Text Box 56">
            <a:extLst>
              <a:ext uri="{FF2B5EF4-FFF2-40B4-BE49-F238E27FC236}">
                <a16:creationId xmlns:a16="http://schemas.microsoft.com/office/drawing/2014/main" id="{D53FAD6A-D082-50C1-6926-1EE9BA1D73CF}"/>
              </a:ext>
            </a:extLst>
          </p:cNvPr>
          <p:cNvSpPr txBox="1">
            <a:spLocks noChangeArrowheads="1"/>
          </p:cNvSpPr>
          <p:nvPr/>
        </p:nvSpPr>
        <p:spPr bwMode="auto">
          <a:xfrm>
            <a:off x="657225" y="5222875"/>
            <a:ext cx="558006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sz="1800" i="1">
                <a:solidFill>
                  <a:srgbClr val="000000"/>
                </a:solidFill>
                <a:cs typeface="Arial" panose="020B0604020202020204" pitchFamily="34" charset="0"/>
              </a:rPr>
              <a:t>down:  successive passes through the example code</a:t>
            </a:r>
          </a:p>
        </p:txBody>
      </p:sp>
      <p:sp>
        <p:nvSpPr>
          <p:cNvPr id="63545" name="Text Box 57">
            <a:extLst>
              <a:ext uri="{FF2B5EF4-FFF2-40B4-BE49-F238E27FC236}">
                <a16:creationId xmlns:a16="http://schemas.microsoft.com/office/drawing/2014/main" id="{75584829-F82F-BF5D-B58F-957EDDA23D9B}"/>
              </a:ext>
            </a:extLst>
          </p:cNvPr>
          <p:cNvSpPr txBox="1">
            <a:spLocks noChangeArrowheads="1"/>
          </p:cNvSpPr>
          <p:nvPr/>
        </p:nvSpPr>
        <p:spPr bwMode="auto">
          <a:xfrm>
            <a:off x="1376363" y="5651500"/>
            <a:ext cx="63436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spcBef>
                <a:spcPts val="1750"/>
              </a:spcBef>
              <a:buClr>
                <a:srgbClr val="0000FF"/>
              </a:buClr>
              <a:buFont typeface="Comic Sans MS" panose="030F0902030302020204" pitchFamily="66" charset="0"/>
              <a:buNone/>
            </a:pPr>
            <a:r>
              <a:rPr lang="en-GB" altLang="en-US" sz="2800" i="1">
                <a:solidFill>
                  <a:srgbClr val="0000FF"/>
                </a:solidFill>
                <a:cs typeface="Arial" panose="020B0604020202020204" pitchFamily="34" charset="0"/>
              </a:rPr>
              <a:t>6 out of 8 = 75% correct predictions</a:t>
            </a:r>
          </a:p>
        </p:txBody>
      </p:sp>
      <p:grpSp>
        <p:nvGrpSpPr>
          <p:cNvPr id="3" name="Group 58">
            <a:extLst>
              <a:ext uri="{FF2B5EF4-FFF2-40B4-BE49-F238E27FC236}">
                <a16:creationId xmlns:a16="http://schemas.microsoft.com/office/drawing/2014/main" id="{853E6998-194A-57BF-DA51-4A733A9795F9}"/>
              </a:ext>
            </a:extLst>
          </p:cNvPr>
          <p:cNvGrpSpPr>
            <a:grpSpLocks/>
          </p:cNvGrpSpPr>
          <p:nvPr/>
        </p:nvGrpSpPr>
        <p:grpSpPr bwMode="auto">
          <a:xfrm>
            <a:off x="1233488" y="4114800"/>
            <a:ext cx="6881812" cy="1128713"/>
            <a:chOff x="800" y="2592"/>
            <a:chExt cx="4335" cy="711"/>
          </a:xfrm>
        </p:grpSpPr>
        <p:sp>
          <p:nvSpPr>
            <p:cNvPr id="46099" name="Rectangle 59">
              <a:extLst>
                <a:ext uri="{FF2B5EF4-FFF2-40B4-BE49-F238E27FC236}">
                  <a16:creationId xmlns:a16="http://schemas.microsoft.com/office/drawing/2014/main" id="{C8FD463E-1A2C-A5A7-F0D9-950D1CE79DB3}"/>
                </a:ext>
              </a:extLst>
            </p:cNvPr>
            <p:cNvSpPr>
              <a:spLocks noChangeArrowheads="1"/>
            </p:cNvSpPr>
            <p:nvPr/>
          </p:nvSpPr>
          <p:spPr bwMode="auto">
            <a:xfrm>
              <a:off x="3144" y="2592"/>
              <a:ext cx="480" cy="21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6100" name="Rectangle 60">
              <a:extLst>
                <a:ext uri="{FF2B5EF4-FFF2-40B4-BE49-F238E27FC236}">
                  <a16:creationId xmlns:a16="http://schemas.microsoft.com/office/drawing/2014/main" id="{09C1F65C-2388-48A1-224D-E85B54240921}"/>
                </a:ext>
              </a:extLst>
            </p:cNvPr>
            <p:cNvSpPr>
              <a:spLocks noChangeArrowheads="1"/>
            </p:cNvSpPr>
            <p:nvPr/>
          </p:nvSpPr>
          <p:spPr bwMode="auto">
            <a:xfrm>
              <a:off x="4656" y="2608"/>
              <a:ext cx="480" cy="200"/>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6101" name="Rectangle 61">
              <a:extLst>
                <a:ext uri="{FF2B5EF4-FFF2-40B4-BE49-F238E27FC236}">
                  <a16:creationId xmlns:a16="http://schemas.microsoft.com/office/drawing/2014/main" id="{05D2FF77-146C-615D-CF07-247765E51C42}"/>
                </a:ext>
              </a:extLst>
            </p:cNvPr>
            <p:cNvSpPr>
              <a:spLocks noChangeArrowheads="1"/>
            </p:cNvSpPr>
            <p:nvPr/>
          </p:nvSpPr>
          <p:spPr bwMode="auto">
            <a:xfrm>
              <a:off x="800" y="2864"/>
              <a:ext cx="480" cy="184"/>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6102" name="Rectangle 62">
              <a:extLst>
                <a:ext uri="{FF2B5EF4-FFF2-40B4-BE49-F238E27FC236}">
                  <a16:creationId xmlns:a16="http://schemas.microsoft.com/office/drawing/2014/main" id="{29D78D97-CF79-D522-DEEE-3767C307C689}"/>
                </a:ext>
              </a:extLst>
            </p:cNvPr>
            <p:cNvSpPr>
              <a:spLocks noChangeArrowheads="1"/>
            </p:cNvSpPr>
            <p:nvPr/>
          </p:nvSpPr>
          <p:spPr bwMode="auto">
            <a:xfrm>
              <a:off x="2256" y="2840"/>
              <a:ext cx="480" cy="21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6103" name="Rectangle 63">
              <a:extLst>
                <a:ext uri="{FF2B5EF4-FFF2-40B4-BE49-F238E27FC236}">
                  <a16:creationId xmlns:a16="http://schemas.microsoft.com/office/drawing/2014/main" id="{E9EC864C-4F9A-A516-DDE1-84FEA268AAC4}"/>
                </a:ext>
              </a:extLst>
            </p:cNvPr>
            <p:cNvSpPr>
              <a:spLocks noChangeArrowheads="1"/>
            </p:cNvSpPr>
            <p:nvPr/>
          </p:nvSpPr>
          <p:spPr bwMode="auto">
            <a:xfrm>
              <a:off x="3128" y="2856"/>
              <a:ext cx="480" cy="192"/>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6104" name="Rectangle 64">
              <a:extLst>
                <a:ext uri="{FF2B5EF4-FFF2-40B4-BE49-F238E27FC236}">
                  <a16:creationId xmlns:a16="http://schemas.microsoft.com/office/drawing/2014/main" id="{40618F89-F67F-6D02-3C5B-F1AEF4DF09A1}"/>
                </a:ext>
              </a:extLst>
            </p:cNvPr>
            <p:cNvSpPr>
              <a:spLocks noChangeArrowheads="1"/>
            </p:cNvSpPr>
            <p:nvPr/>
          </p:nvSpPr>
          <p:spPr bwMode="auto">
            <a:xfrm>
              <a:off x="4640" y="2856"/>
              <a:ext cx="480" cy="184"/>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6105" name="Rectangle 65">
              <a:extLst>
                <a:ext uri="{FF2B5EF4-FFF2-40B4-BE49-F238E27FC236}">
                  <a16:creationId xmlns:a16="http://schemas.microsoft.com/office/drawing/2014/main" id="{BB13F3CC-35DB-D16F-55BC-A4FA08C8FF75}"/>
                </a:ext>
              </a:extLst>
            </p:cNvPr>
            <p:cNvSpPr>
              <a:spLocks noChangeArrowheads="1"/>
            </p:cNvSpPr>
            <p:nvPr/>
          </p:nvSpPr>
          <p:spPr bwMode="auto">
            <a:xfrm>
              <a:off x="808" y="3128"/>
              <a:ext cx="480" cy="17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6106" name="Rectangle 66">
              <a:extLst>
                <a:ext uri="{FF2B5EF4-FFF2-40B4-BE49-F238E27FC236}">
                  <a16:creationId xmlns:a16="http://schemas.microsoft.com/office/drawing/2014/main" id="{552D28C5-2C3B-777A-0409-5AACBD4D5071}"/>
                </a:ext>
              </a:extLst>
            </p:cNvPr>
            <p:cNvSpPr>
              <a:spLocks noChangeArrowheads="1"/>
            </p:cNvSpPr>
            <p:nvPr/>
          </p:nvSpPr>
          <p:spPr bwMode="auto">
            <a:xfrm>
              <a:off x="2256" y="3104"/>
              <a:ext cx="480" cy="17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6107" name="Rectangle 67">
              <a:extLst>
                <a:ext uri="{FF2B5EF4-FFF2-40B4-BE49-F238E27FC236}">
                  <a16:creationId xmlns:a16="http://schemas.microsoft.com/office/drawing/2014/main" id="{6E32BB86-2474-1D4F-FA1A-4C76A9151536}"/>
                </a:ext>
              </a:extLst>
            </p:cNvPr>
            <p:cNvSpPr>
              <a:spLocks noChangeArrowheads="1"/>
            </p:cNvSpPr>
            <p:nvPr/>
          </p:nvSpPr>
          <p:spPr bwMode="auto">
            <a:xfrm>
              <a:off x="3128" y="3104"/>
              <a:ext cx="480" cy="200"/>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6108" name="Rectangle 68">
              <a:extLst>
                <a:ext uri="{FF2B5EF4-FFF2-40B4-BE49-F238E27FC236}">
                  <a16:creationId xmlns:a16="http://schemas.microsoft.com/office/drawing/2014/main" id="{1F7B4A60-274E-8CF2-00F0-B49DFEC7D432}"/>
                </a:ext>
              </a:extLst>
            </p:cNvPr>
            <p:cNvSpPr>
              <a:spLocks noChangeArrowheads="1"/>
            </p:cNvSpPr>
            <p:nvPr/>
          </p:nvSpPr>
          <p:spPr bwMode="auto">
            <a:xfrm>
              <a:off x="4640" y="3096"/>
              <a:ext cx="480" cy="17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grpSp>
      <p:sp>
        <p:nvSpPr>
          <p:cNvPr id="46091" name="Rectangle 69">
            <a:extLst>
              <a:ext uri="{FF2B5EF4-FFF2-40B4-BE49-F238E27FC236}">
                <a16:creationId xmlns:a16="http://schemas.microsoft.com/office/drawing/2014/main" id="{B1737AD4-B0CA-7E66-D0CD-4E6B36FF1AD6}"/>
              </a:ext>
            </a:extLst>
          </p:cNvPr>
          <p:cNvSpPr>
            <a:spLocks noChangeArrowheads="1"/>
          </p:cNvSpPr>
          <p:nvPr/>
        </p:nvSpPr>
        <p:spPr bwMode="auto">
          <a:xfrm>
            <a:off x="2536825" y="3606800"/>
            <a:ext cx="979488" cy="1660525"/>
          </a:xfrm>
          <a:prstGeom prst="rect">
            <a:avLst/>
          </a:prstGeom>
          <a:noFill/>
          <a:ln w="38160">
            <a:solidFill>
              <a:srgbClr val="00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6092" name="Rectangle 70">
            <a:extLst>
              <a:ext uri="{FF2B5EF4-FFF2-40B4-BE49-F238E27FC236}">
                <a16:creationId xmlns:a16="http://schemas.microsoft.com/office/drawing/2014/main" id="{D93B57B1-2AB1-8422-A7FB-A67FEAA689CC}"/>
              </a:ext>
            </a:extLst>
          </p:cNvPr>
          <p:cNvSpPr>
            <a:spLocks noChangeArrowheads="1"/>
          </p:cNvSpPr>
          <p:nvPr/>
        </p:nvSpPr>
        <p:spPr bwMode="auto">
          <a:xfrm>
            <a:off x="6207125" y="3644900"/>
            <a:ext cx="1082675" cy="1660525"/>
          </a:xfrm>
          <a:prstGeom prst="rect">
            <a:avLst/>
          </a:prstGeom>
          <a:noFill/>
          <a:ln w="38160">
            <a:solidFill>
              <a:srgbClr val="00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6093" name="Line 71">
            <a:extLst>
              <a:ext uri="{FF2B5EF4-FFF2-40B4-BE49-F238E27FC236}">
                <a16:creationId xmlns:a16="http://schemas.microsoft.com/office/drawing/2014/main" id="{44726FED-F0BA-9708-D7E4-BA79692CC4DA}"/>
              </a:ext>
            </a:extLst>
          </p:cNvPr>
          <p:cNvSpPr>
            <a:spLocks noChangeShapeType="1"/>
          </p:cNvSpPr>
          <p:nvPr/>
        </p:nvSpPr>
        <p:spPr bwMode="auto">
          <a:xfrm flipH="1">
            <a:off x="3567113" y="2540000"/>
            <a:ext cx="2987675" cy="1041400"/>
          </a:xfrm>
          <a:prstGeom prst="line">
            <a:avLst/>
          </a:prstGeom>
          <a:noFill/>
          <a:ln w="9360">
            <a:solidFill>
              <a:srgbClr val="0000FF"/>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094" name="Line 72">
            <a:extLst>
              <a:ext uri="{FF2B5EF4-FFF2-40B4-BE49-F238E27FC236}">
                <a16:creationId xmlns:a16="http://schemas.microsoft.com/office/drawing/2014/main" id="{17C06D88-3420-1002-DB34-F7F3CDA1A20C}"/>
              </a:ext>
            </a:extLst>
          </p:cNvPr>
          <p:cNvSpPr>
            <a:spLocks noChangeShapeType="1"/>
          </p:cNvSpPr>
          <p:nvPr/>
        </p:nvSpPr>
        <p:spPr bwMode="auto">
          <a:xfrm>
            <a:off x="6553200" y="2552700"/>
            <a:ext cx="457200" cy="825500"/>
          </a:xfrm>
          <a:prstGeom prst="line">
            <a:avLst/>
          </a:prstGeom>
          <a:noFill/>
          <a:ln w="9360">
            <a:solidFill>
              <a:srgbClr val="0000FF"/>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095" name="Text Box 73">
            <a:extLst>
              <a:ext uri="{FF2B5EF4-FFF2-40B4-BE49-F238E27FC236}">
                <a16:creationId xmlns:a16="http://schemas.microsoft.com/office/drawing/2014/main" id="{771A25DD-160A-59C2-4C8C-64FD14C3822E}"/>
              </a:ext>
            </a:extLst>
          </p:cNvPr>
          <p:cNvSpPr txBox="1">
            <a:spLocks noChangeArrowheads="1"/>
          </p:cNvSpPr>
          <p:nvPr/>
        </p:nvSpPr>
        <p:spPr bwMode="auto">
          <a:xfrm>
            <a:off x="5702300" y="2106613"/>
            <a:ext cx="194468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0000FF"/>
              </a:buClr>
              <a:buFont typeface="Comic Sans MS" panose="030F0902030302020204" pitchFamily="66" charset="0"/>
              <a:buNone/>
            </a:pPr>
            <a:r>
              <a:rPr lang="en-GB" altLang="en-US">
                <a:solidFill>
                  <a:srgbClr val="0000FF"/>
                </a:solidFill>
                <a:cs typeface="Arial" panose="020B0604020202020204" pitchFamily="34" charset="0"/>
              </a:rPr>
              <a:t>from slide 29</a:t>
            </a:r>
          </a:p>
        </p:txBody>
      </p:sp>
      <p:sp>
        <p:nvSpPr>
          <p:cNvPr id="46096" name="Slide Number Placeholder 78">
            <a:extLst>
              <a:ext uri="{FF2B5EF4-FFF2-40B4-BE49-F238E27FC236}">
                <a16:creationId xmlns:a16="http://schemas.microsoft.com/office/drawing/2014/main" id="{A3D86D07-01E9-479B-091A-41EB16A78E9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fld id="{4B71A189-3C6E-6541-BC83-C1D75E359EBD}" type="slidenum">
              <a:rPr lang="en-GB" altLang="en-US" sz="1400">
                <a:solidFill>
                  <a:srgbClr val="000000"/>
                </a:solidFill>
                <a:latin typeface="Arial  " charset="0"/>
              </a:rPr>
              <a:pPr/>
              <a:t>44</a:t>
            </a:fld>
            <a:r>
              <a:rPr lang="en-GB" altLang="en-US" sz="1400">
                <a:solidFill>
                  <a:srgbClr val="000000"/>
                </a:solidFill>
                <a:latin typeface="Arial  "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fill="hold" nodeType="clickEffect">
                                  <p:stCondLst>
                                    <p:cond delay="0"/>
                                  </p:stCondLst>
                                  <p:childTnLst>
                                    <p:set>
                                      <p:cBhvr additive="repl">
                                        <p:cTn id="6" dur="1" fill="hold">
                                          <p:stCondLst>
                                            <p:cond delay="0"/>
                                          </p:stCondLst>
                                        </p:cTn>
                                        <p:tgtEl>
                                          <p:spTgt spid="3"/>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635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a:extLst>
              <a:ext uri="{FF2B5EF4-FFF2-40B4-BE49-F238E27FC236}">
                <a16:creationId xmlns:a16="http://schemas.microsoft.com/office/drawing/2014/main" id="{8F28A682-935A-A0F1-8299-1E53221D4946}"/>
              </a:ext>
            </a:extLst>
          </p:cNvPr>
          <p:cNvSpPr>
            <a:spLocks noGrp="1" noChangeArrowheads="1"/>
          </p:cNvSpPr>
          <p:nvPr>
            <p:ph type="title"/>
          </p:nvPr>
        </p:nvSpPr>
        <p:spPr>
          <a:xfrm>
            <a:off x="685800" y="0"/>
            <a:ext cx="7772400" cy="836613"/>
          </a:xfrm>
        </p:spPr>
        <p:txBody>
          <a:bodyPr/>
          <a:lstStyle/>
          <a:p>
            <a:pPr eaLnBrk="1" hangingPunct="1">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sz="3200">
                <a:latin typeface="Arial  " charset="0"/>
                <a:cs typeface="Arial  " charset="0"/>
              </a:rPr>
              <a:t>2-bit Predictor with 1-bit of Correlation</a:t>
            </a:r>
          </a:p>
        </p:txBody>
      </p:sp>
      <p:sp>
        <p:nvSpPr>
          <p:cNvPr id="47107" name="Rectangle 2">
            <a:extLst>
              <a:ext uri="{FF2B5EF4-FFF2-40B4-BE49-F238E27FC236}">
                <a16:creationId xmlns:a16="http://schemas.microsoft.com/office/drawing/2014/main" id="{9DBEFCBB-6CE0-64CA-9C4C-221E07C3A98A}"/>
              </a:ext>
            </a:extLst>
          </p:cNvPr>
          <p:cNvSpPr>
            <a:spLocks noGrp="1" noChangeArrowheads="1"/>
          </p:cNvSpPr>
          <p:nvPr>
            <p:ph type="body" idx="1"/>
          </p:nvPr>
        </p:nvSpPr>
        <p:spPr>
          <a:xfrm>
            <a:off x="582613" y="1130300"/>
            <a:ext cx="7772400" cy="4724400"/>
          </a:xfrm>
        </p:spPr>
        <p:txBody>
          <a:bodyPr/>
          <a:lstStyle/>
          <a:p>
            <a:pPr eaLnBrk="1" hangingPunct="1">
              <a:lnSpc>
                <a:spcPct val="100000"/>
              </a:lnSpc>
              <a:buFont typeface="Comic Sans MS" panose="030F0902030302020204" pitchFamily="66" charset="0"/>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7350" algn="l"/>
                <a:tab pos="7185025" algn="l"/>
                <a:tab pos="7634288" algn="l"/>
                <a:tab pos="8083550" algn="l"/>
                <a:tab pos="8532813" algn="l"/>
                <a:tab pos="8982075" algn="l"/>
              </a:tabLst>
            </a:pPr>
            <a:r>
              <a:rPr lang="en-GB" altLang="en-US" sz="2400">
                <a:latin typeface="Arial  " charset="0"/>
                <a:cs typeface="Arial  " charset="0"/>
              </a:rPr>
              <a:t>    Useful to build a predictor that uses both correlation  and hysteresis.</a:t>
            </a:r>
          </a:p>
        </p:txBody>
      </p:sp>
      <p:sp>
        <p:nvSpPr>
          <p:cNvPr id="47108" name="Rectangle 3">
            <a:extLst>
              <a:ext uri="{FF2B5EF4-FFF2-40B4-BE49-F238E27FC236}">
                <a16:creationId xmlns:a16="http://schemas.microsoft.com/office/drawing/2014/main" id="{0158F90D-0020-33C6-1468-B85484F1715C}"/>
              </a:ext>
            </a:extLst>
          </p:cNvPr>
          <p:cNvSpPr>
            <a:spLocks noChangeArrowheads="1"/>
          </p:cNvSpPr>
          <p:nvPr/>
        </p:nvSpPr>
        <p:spPr bwMode="auto">
          <a:xfrm>
            <a:off x="1346200" y="2578100"/>
            <a:ext cx="1790700" cy="431800"/>
          </a:xfrm>
          <a:prstGeom prst="rect">
            <a:avLst/>
          </a:prstGeom>
          <a:solidFill>
            <a:srgbClr val="BBE0E3"/>
          </a:solidFill>
          <a:ln w="9360">
            <a:solidFill>
              <a:srgbClr val="000000"/>
            </a:solidFill>
            <a:miter lim="800000"/>
            <a:headEnd/>
            <a:tailEnd/>
          </a:ln>
        </p:spPr>
        <p:txBody>
          <a:bodyPr wrap="none"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gn="ctr">
              <a:lnSpc>
                <a:spcPct val="100000"/>
              </a:lnSpc>
            </a:pPr>
            <a:r>
              <a:rPr lang="en-GB" altLang="en-US">
                <a:solidFill>
                  <a:srgbClr val="000000"/>
                </a:solidFill>
                <a:cs typeface="Arial" panose="020B0604020202020204" pitchFamily="34" charset="0"/>
              </a:rPr>
              <a:t>PC</a:t>
            </a:r>
          </a:p>
        </p:txBody>
      </p:sp>
      <p:sp>
        <p:nvSpPr>
          <p:cNvPr id="47109" name="Line 4">
            <a:extLst>
              <a:ext uri="{FF2B5EF4-FFF2-40B4-BE49-F238E27FC236}">
                <a16:creationId xmlns:a16="http://schemas.microsoft.com/office/drawing/2014/main" id="{6842017C-55BB-CEB8-53E7-D0ED2BA1B565}"/>
              </a:ext>
            </a:extLst>
          </p:cNvPr>
          <p:cNvSpPr>
            <a:spLocks noChangeShapeType="1"/>
          </p:cNvSpPr>
          <p:nvPr/>
        </p:nvSpPr>
        <p:spPr bwMode="auto">
          <a:xfrm>
            <a:off x="3149600" y="2832100"/>
            <a:ext cx="939800" cy="1588"/>
          </a:xfrm>
          <a:prstGeom prst="line">
            <a:avLst/>
          </a:prstGeom>
          <a:noFill/>
          <a:ln w="2844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10" name="Rectangle 5">
            <a:extLst>
              <a:ext uri="{FF2B5EF4-FFF2-40B4-BE49-F238E27FC236}">
                <a16:creationId xmlns:a16="http://schemas.microsoft.com/office/drawing/2014/main" id="{E85FA271-8E9A-B316-2C86-631EB53C6993}"/>
              </a:ext>
            </a:extLst>
          </p:cNvPr>
          <p:cNvSpPr>
            <a:spLocks noChangeArrowheads="1"/>
          </p:cNvSpPr>
          <p:nvPr/>
        </p:nvSpPr>
        <p:spPr bwMode="auto">
          <a:xfrm>
            <a:off x="647700" y="2578100"/>
            <a:ext cx="698500" cy="419100"/>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7111" name="Rectangle 6">
            <a:extLst>
              <a:ext uri="{FF2B5EF4-FFF2-40B4-BE49-F238E27FC236}">
                <a16:creationId xmlns:a16="http://schemas.microsoft.com/office/drawing/2014/main" id="{C0282FE9-30EE-664D-29CB-67FAC76C0714}"/>
              </a:ext>
            </a:extLst>
          </p:cNvPr>
          <p:cNvSpPr>
            <a:spLocks noChangeArrowheads="1"/>
          </p:cNvSpPr>
          <p:nvPr/>
        </p:nvSpPr>
        <p:spPr bwMode="auto">
          <a:xfrm>
            <a:off x="3035300" y="2578100"/>
            <a:ext cx="101600" cy="419100"/>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7112" name="Rectangle 7">
            <a:extLst>
              <a:ext uri="{FF2B5EF4-FFF2-40B4-BE49-F238E27FC236}">
                <a16:creationId xmlns:a16="http://schemas.microsoft.com/office/drawing/2014/main" id="{5A3CCA70-F2B3-B1C5-9209-6952B3BDE1F9}"/>
              </a:ext>
            </a:extLst>
          </p:cNvPr>
          <p:cNvSpPr>
            <a:spLocks noChangeArrowheads="1"/>
          </p:cNvSpPr>
          <p:nvPr/>
        </p:nvSpPr>
        <p:spPr bwMode="auto">
          <a:xfrm>
            <a:off x="2921000" y="2578100"/>
            <a:ext cx="101600" cy="419100"/>
          </a:xfrm>
          <a:prstGeom prst="rect">
            <a:avLst/>
          </a:prstGeom>
          <a:solidFill>
            <a:srgbClr val="808080"/>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7113" name="Text Box 8">
            <a:extLst>
              <a:ext uri="{FF2B5EF4-FFF2-40B4-BE49-F238E27FC236}">
                <a16:creationId xmlns:a16="http://schemas.microsoft.com/office/drawing/2014/main" id="{905FCEE9-ABC1-9521-A86A-331BE63610C6}"/>
              </a:ext>
            </a:extLst>
          </p:cNvPr>
          <p:cNvSpPr txBox="1">
            <a:spLocks noChangeArrowheads="1"/>
          </p:cNvSpPr>
          <p:nvPr/>
        </p:nvSpPr>
        <p:spPr bwMode="auto">
          <a:xfrm>
            <a:off x="712788" y="5354638"/>
            <a:ext cx="2133600"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most recent </a:t>
            </a:r>
          </a:p>
          <a:p>
            <a:pPr>
              <a:lnSpc>
                <a:spcPct val="100000"/>
              </a:lnSpc>
              <a:buFont typeface="Comic Sans MS" panose="030F0902030302020204" pitchFamily="66" charset="0"/>
              <a:buNone/>
            </a:pPr>
            <a:r>
              <a:rPr lang="en-GB" altLang="en-US">
                <a:solidFill>
                  <a:srgbClr val="000000"/>
                </a:solidFill>
                <a:cs typeface="Arial" panose="020B0604020202020204" pitchFamily="34" charset="0"/>
              </a:rPr>
              <a:t>branch taken?</a:t>
            </a:r>
          </a:p>
        </p:txBody>
      </p:sp>
      <p:sp>
        <p:nvSpPr>
          <p:cNvPr id="47114" name="Line 9">
            <a:extLst>
              <a:ext uri="{FF2B5EF4-FFF2-40B4-BE49-F238E27FC236}">
                <a16:creationId xmlns:a16="http://schemas.microsoft.com/office/drawing/2014/main" id="{AEF8FB3F-A809-5AF2-279E-4440B2976C26}"/>
              </a:ext>
            </a:extLst>
          </p:cNvPr>
          <p:cNvSpPr>
            <a:spLocks noChangeShapeType="1"/>
          </p:cNvSpPr>
          <p:nvPr/>
        </p:nvSpPr>
        <p:spPr bwMode="auto">
          <a:xfrm>
            <a:off x="3098800" y="5956300"/>
            <a:ext cx="18669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115" name="AutoShape 10">
            <a:extLst>
              <a:ext uri="{FF2B5EF4-FFF2-40B4-BE49-F238E27FC236}">
                <a16:creationId xmlns:a16="http://schemas.microsoft.com/office/drawing/2014/main" id="{B7BAB8A8-D883-2BC3-D631-B46F815A3635}"/>
              </a:ext>
            </a:extLst>
          </p:cNvPr>
          <p:cNvSpPr>
            <a:spLocks/>
          </p:cNvSpPr>
          <p:nvPr/>
        </p:nvSpPr>
        <p:spPr bwMode="auto">
          <a:xfrm rot="-5400000">
            <a:off x="4883150" y="5041900"/>
            <a:ext cx="127000" cy="1282700"/>
          </a:xfrm>
          <a:prstGeom prst="leftBrace">
            <a:avLst>
              <a:gd name="adj1" fmla="val 84167"/>
              <a:gd name="adj2" fmla="val 50000"/>
            </a:avLst>
          </a:prstGeom>
          <a:noFill/>
          <a:ln w="936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7116" name="Line 11">
            <a:extLst>
              <a:ext uri="{FF2B5EF4-FFF2-40B4-BE49-F238E27FC236}">
                <a16:creationId xmlns:a16="http://schemas.microsoft.com/office/drawing/2014/main" id="{B3F39A7B-8BA5-E05A-D33A-A05B07E5F421}"/>
              </a:ext>
            </a:extLst>
          </p:cNvPr>
          <p:cNvSpPr>
            <a:spLocks noChangeShapeType="1"/>
          </p:cNvSpPr>
          <p:nvPr/>
        </p:nvSpPr>
        <p:spPr bwMode="auto">
          <a:xfrm flipV="1">
            <a:off x="4953000" y="5772150"/>
            <a:ext cx="1588" cy="190500"/>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17" name="Text Box 12">
            <a:extLst>
              <a:ext uri="{FF2B5EF4-FFF2-40B4-BE49-F238E27FC236}">
                <a16:creationId xmlns:a16="http://schemas.microsoft.com/office/drawing/2014/main" id="{EA2652E3-D5BB-3C0B-D3C1-AF7CB31B7F6D}"/>
              </a:ext>
            </a:extLst>
          </p:cNvPr>
          <p:cNvSpPr txBox="1">
            <a:spLocks noChangeArrowheads="1"/>
          </p:cNvSpPr>
          <p:nvPr/>
        </p:nvSpPr>
        <p:spPr bwMode="auto">
          <a:xfrm>
            <a:off x="4178300" y="5202238"/>
            <a:ext cx="5254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no</a:t>
            </a:r>
          </a:p>
        </p:txBody>
      </p:sp>
      <p:sp>
        <p:nvSpPr>
          <p:cNvPr id="47118" name="Text Box 13">
            <a:extLst>
              <a:ext uri="{FF2B5EF4-FFF2-40B4-BE49-F238E27FC236}">
                <a16:creationId xmlns:a16="http://schemas.microsoft.com/office/drawing/2014/main" id="{6D9C5823-F131-BB67-3E16-9F88BF67C4BF}"/>
              </a:ext>
            </a:extLst>
          </p:cNvPr>
          <p:cNvSpPr txBox="1">
            <a:spLocks noChangeArrowheads="1"/>
          </p:cNvSpPr>
          <p:nvPr/>
        </p:nvSpPr>
        <p:spPr bwMode="auto">
          <a:xfrm>
            <a:off x="5129213" y="5202238"/>
            <a:ext cx="6604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a:solidFill>
                  <a:srgbClr val="000000"/>
                </a:solidFill>
                <a:cs typeface="Arial" panose="020B0604020202020204" pitchFamily="34" charset="0"/>
              </a:rPr>
              <a:t>yes</a:t>
            </a:r>
          </a:p>
        </p:txBody>
      </p:sp>
      <p:sp>
        <p:nvSpPr>
          <p:cNvPr id="47119" name="AutoShape 14">
            <a:extLst>
              <a:ext uri="{FF2B5EF4-FFF2-40B4-BE49-F238E27FC236}">
                <a16:creationId xmlns:a16="http://schemas.microsoft.com/office/drawing/2014/main" id="{1B093129-40AA-97E2-A8C6-5DEE245963CA}"/>
              </a:ext>
            </a:extLst>
          </p:cNvPr>
          <p:cNvSpPr>
            <a:spLocks/>
          </p:cNvSpPr>
          <p:nvPr/>
        </p:nvSpPr>
        <p:spPr bwMode="auto">
          <a:xfrm rot="-5400000">
            <a:off x="2082800" y="2470150"/>
            <a:ext cx="127000" cy="1498600"/>
          </a:xfrm>
          <a:prstGeom prst="leftBrace">
            <a:avLst>
              <a:gd name="adj1" fmla="val 98333"/>
              <a:gd name="adj2" fmla="val 50000"/>
            </a:avLst>
          </a:prstGeom>
          <a:noFill/>
          <a:ln w="936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7120" name="Text Box 15">
            <a:extLst>
              <a:ext uri="{FF2B5EF4-FFF2-40B4-BE49-F238E27FC236}">
                <a16:creationId xmlns:a16="http://schemas.microsoft.com/office/drawing/2014/main" id="{0628D344-CEF6-E5A3-4B1B-CCA2256E3654}"/>
              </a:ext>
            </a:extLst>
          </p:cNvPr>
          <p:cNvSpPr txBox="1">
            <a:spLocks noChangeArrowheads="1"/>
          </p:cNvSpPr>
          <p:nvPr/>
        </p:nvSpPr>
        <p:spPr bwMode="auto">
          <a:xfrm>
            <a:off x="1752600" y="3309938"/>
            <a:ext cx="9175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mic Sans MS" panose="030F0902030302020204" pitchFamily="66" charset="0"/>
              <a:buNone/>
            </a:pPr>
            <a:r>
              <a:rPr lang="en-GB" altLang="en-US" i="1">
                <a:solidFill>
                  <a:srgbClr val="000000"/>
                </a:solidFill>
                <a:cs typeface="Arial" panose="020B0604020202020204" pitchFamily="34" charset="0"/>
              </a:rPr>
              <a:t>n bits</a:t>
            </a:r>
          </a:p>
        </p:txBody>
      </p:sp>
      <p:sp>
        <p:nvSpPr>
          <p:cNvPr id="47121" name="Rectangle 16">
            <a:extLst>
              <a:ext uri="{FF2B5EF4-FFF2-40B4-BE49-F238E27FC236}">
                <a16:creationId xmlns:a16="http://schemas.microsoft.com/office/drawing/2014/main" id="{2747DA63-8BDA-1BFB-A955-D056279A9D86}"/>
              </a:ext>
            </a:extLst>
          </p:cNvPr>
          <p:cNvSpPr>
            <a:spLocks noChangeArrowheads="1"/>
          </p:cNvSpPr>
          <p:nvPr/>
        </p:nvSpPr>
        <p:spPr bwMode="auto">
          <a:xfrm>
            <a:off x="4178300" y="1917700"/>
            <a:ext cx="571500" cy="33655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7122" name="Line 17">
            <a:extLst>
              <a:ext uri="{FF2B5EF4-FFF2-40B4-BE49-F238E27FC236}">
                <a16:creationId xmlns:a16="http://schemas.microsoft.com/office/drawing/2014/main" id="{5CD009B6-8005-EC50-BA24-495A80FC6882}"/>
              </a:ext>
            </a:extLst>
          </p:cNvPr>
          <p:cNvSpPr>
            <a:spLocks noChangeShapeType="1"/>
          </p:cNvSpPr>
          <p:nvPr/>
        </p:nvSpPr>
        <p:spPr bwMode="auto">
          <a:xfrm>
            <a:off x="4178300" y="2222500"/>
            <a:ext cx="5461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123" name="Line 18">
            <a:extLst>
              <a:ext uri="{FF2B5EF4-FFF2-40B4-BE49-F238E27FC236}">
                <a16:creationId xmlns:a16="http://schemas.microsoft.com/office/drawing/2014/main" id="{CAD430B0-B086-8621-2930-3BDAB3F6A59E}"/>
              </a:ext>
            </a:extLst>
          </p:cNvPr>
          <p:cNvSpPr>
            <a:spLocks noChangeShapeType="1"/>
          </p:cNvSpPr>
          <p:nvPr/>
        </p:nvSpPr>
        <p:spPr bwMode="auto">
          <a:xfrm>
            <a:off x="4178300" y="2527300"/>
            <a:ext cx="5461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124" name="Line 19">
            <a:extLst>
              <a:ext uri="{FF2B5EF4-FFF2-40B4-BE49-F238E27FC236}">
                <a16:creationId xmlns:a16="http://schemas.microsoft.com/office/drawing/2014/main" id="{C41B5F91-6EFA-DD4A-48E8-7F2FDACC6434}"/>
              </a:ext>
            </a:extLst>
          </p:cNvPr>
          <p:cNvSpPr>
            <a:spLocks noChangeShapeType="1"/>
          </p:cNvSpPr>
          <p:nvPr/>
        </p:nvSpPr>
        <p:spPr bwMode="auto">
          <a:xfrm>
            <a:off x="4178300" y="2819400"/>
            <a:ext cx="5588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125" name="Text Box 20">
            <a:extLst>
              <a:ext uri="{FF2B5EF4-FFF2-40B4-BE49-F238E27FC236}">
                <a16:creationId xmlns:a16="http://schemas.microsoft.com/office/drawing/2014/main" id="{F02BE489-D2F2-1668-6E78-652602040021}"/>
              </a:ext>
            </a:extLst>
          </p:cNvPr>
          <p:cNvSpPr txBox="1">
            <a:spLocks noChangeArrowheads="1"/>
          </p:cNvSpPr>
          <p:nvPr/>
        </p:nvSpPr>
        <p:spPr bwMode="auto">
          <a:xfrm>
            <a:off x="4164013" y="1898650"/>
            <a:ext cx="60801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cs typeface="Arial" panose="020B0604020202020204" pitchFamily="34" charset="0"/>
              </a:rPr>
              <a:t>1  0</a:t>
            </a:r>
          </a:p>
        </p:txBody>
      </p:sp>
      <p:sp>
        <p:nvSpPr>
          <p:cNvPr id="47126" name="Text Box 21">
            <a:extLst>
              <a:ext uri="{FF2B5EF4-FFF2-40B4-BE49-F238E27FC236}">
                <a16:creationId xmlns:a16="http://schemas.microsoft.com/office/drawing/2014/main" id="{73DBC3EB-638D-1BD7-1643-EFD63CF549B3}"/>
              </a:ext>
            </a:extLst>
          </p:cNvPr>
          <p:cNvSpPr txBox="1">
            <a:spLocks noChangeArrowheads="1"/>
          </p:cNvSpPr>
          <p:nvPr/>
        </p:nvSpPr>
        <p:spPr bwMode="auto">
          <a:xfrm>
            <a:off x="4151313" y="2190750"/>
            <a:ext cx="60801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cs typeface="Arial" panose="020B0604020202020204" pitchFamily="34" charset="0"/>
              </a:rPr>
              <a:t>0  1</a:t>
            </a:r>
          </a:p>
        </p:txBody>
      </p:sp>
      <p:sp>
        <p:nvSpPr>
          <p:cNvPr id="47127" name="Text Box 22">
            <a:extLst>
              <a:ext uri="{FF2B5EF4-FFF2-40B4-BE49-F238E27FC236}">
                <a16:creationId xmlns:a16="http://schemas.microsoft.com/office/drawing/2014/main" id="{D511C9AC-FAF7-578D-E530-8F322AE9D095}"/>
              </a:ext>
            </a:extLst>
          </p:cNvPr>
          <p:cNvSpPr txBox="1">
            <a:spLocks noChangeArrowheads="1"/>
          </p:cNvSpPr>
          <p:nvPr/>
        </p:nvSpPr>
        <p:spPr bwMode="auto">
          <a:xfrm>
            <a:off x="4151313" y="2482850"/>
            <a:ext cx="60801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cs typeface="Arial" panose="020B0604020202020204" pitchFamily="34" charset="0"/>
              </a:rPr>
              <a:t>0  0</a:t>
            </a:r>
          </a:p>
        </p:txBody>
      </p:sp>
      <p:sp>
        <p:nvSpPr>
          <p:cNvPr id="47128" name="Line 23">
            <a:extLst>
              <a:ext uri="{FF2B5EF4-FFF2-40B4-BE49-F238E27FC236}">
                <a16:creationId xmlns:a16="http://schemas.microsoft.com/office/drawing/2014/main" id="{C31CA610-01A9-19D5-C8D7-54DEAC45552A}"/>
              </a:ext>
            </a:extLst>
          </p:cNvPr>
          <p:cNvSpPr>
            <a:spLocks noChangeShapeType="1"/>
          </p:cNvSpPr>
          <p:nvPr/>
        </p:nvSpPr>
        <p:spPr bwMode="auto">
          <a:xfrm flipV="1">
            <a:off x="4457700" y="1924050"/>
            <a:ext cx="1588" cy="1003300"/>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129" name="Rectangle 24">
            <a:extLst>
              <a:ext uri="{FF2B5EF4-FFF2-40B4-BE49-F238E27FC236}">
                <a16:creationId xmlns:a16="http://schemas.microsoft.com/office/drawing/2014/main" id="{8799172D-80A5-0779-5736-96B4F06F2C5E}"/>
              </a:ext>
            </a:extLst>
          </p:cNvPr>
          <p:cNvSpPr>
            <a:spLocks noChangeArrowheads="1"/>
          </p:cNvSpPr>
          <p:nvPr/>
        </p:nvSpPr>
        <p:spPr bwMode="auto">
          <a:xfrm>
            <a:off x="5156200" y="1917700"/>
            <a:ext cx="571500" cy="3365500"/>
          </a:xfrm>
          <a:prstGeom prst="rect">
            <a:avLst/>
          </a:prstGeom>
          <a:solidFill>
            <a:srgbClr val="BBE0E3"/>
          </a:solidFill>
          <a:ln w="9360">
            <a:solidFill>
              <a:srgbClr val="000000"/>
            </a:solidFill>
            <a:miter lim="800000"/>
            <a:headEnd/>
            <a:tailEnd/>
          </a:ln>
        </p:spPr>
        <p:txBody>
          <a:bodyPr wrap="none" anchor="ct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US" altLang="en-US">
              <a:cs typeface="Arial" panose="020B0604020202020204" pitchFamily="34" charset="0"/>
            </a:endParaRPr>
          </a:p>
        </p:txBody>
      </p:sp>
      <p:sp>
        <p:nvSpPr>
          <p:cNvPr id="47130" name="Line 25">
            <a:extLst>
              <a:ext uri="{FF2B5EF4-FFF2-40B4-BE49-F238E27FC236}">
                <a16:creationId xmlns:a16="http://schemas.microsoft.com/office/drawing/2014/main" id="{40F54707-E372-5B3B-F28A-8432668BA604}"/>
              </a:ext>
            </a:extLst>
          </p:cNvPr>
          <p:cNvSpPr>
            <a:spLocks noChangeShapeType="1"/>
          </p:cNvSpPr>
          <p:nvPr/>
        </p:nvSpPr>
        <p:spPr bwMode="auto">
          <a:xfrm>
            <a:off x="5156200" y="2222500"/>
            <a:ext cx="5461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131" name="Line 26">
            <a:extLst>
              <a:ext uri="{FF2B5EF4-FFF2-40B4-BE49-F238E27FC236}">
                <a16:creationId xmlns:a16="http://schemas.microsoft.com/office/drawing/2014/main" id="{ED351353-A9B0-5BC5-D645-752852940900}"/>
              </a:ext>
            </a:extLst>
          </p:cNvPr>
          <p:cNvSpPr>
            <a:spLocks noChangeShapeType="1"/>
          </p:cNvSpPr>
          <p:nvPr/>
        </p:nvSpPr>
        <p:spPr bwMode="auto">
          <a:xfrm>
            <a:off x="5156200" y="2527300"/>
            <a:ext cx="5461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132" name="Line 27">
            <a:extLst>
              <a:ext uri="{FF2B5EF4-FFF2-40B4-BE49-F238E27FC236}">
                <a16:creationId xmlns:a16="http://schemas.microsoft.com/office/drawing/2014/main" id="{7A6323CA-FDAC-22DB-CCD2-66626294D91D}"/>
              </a:ext>
            </a:extLst>
          </p:cNvPr>
          <p:cNvSpPr>
            <a:spLocks noChangeShapeType="1"/>
          </p:cNvSpPr>
          <p:nvPr/>
        </p:nvSpPr>
        <p:spPr bwMode="auto">
          <a:xfrm>
            <a:off x="5156200" y="2819400"/>
            <a:ext cx="558800"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133" name="Text Box 28">
            <a:extLst>
              <a:ext uri="{FF2B5EF4-FFF2-40B4-BE49-F238E27FC236}">
                <a16:creationId xmlns:a16="http://schemas.microsoft.com/office/drawing/2014/main" id="{259DBB7E-9311-F719-437D-843711C89490}"/>
              </a:ext>
            </a:extLst>
          </p:cNvPr>
          <p:cNvSpPr txBox="1">
            <a:spLocks noChangeArrowheads="1"/>
          </p:cNvSpPr>
          <p:nvPr/>
        </p:nvSpPr>
        <p:spPr bwMode="auto">
          <a:xfrm>
            <a:off x="5141913" y="1898650"/>
            <a:ext cx="60801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cs typeface="Arial" panose="020B0604020202020204" pitchFamily="34" charset="0"/>
              </a:rPr>
              <a:t>1  1</a:t>
            </a:r>
          </a:p>
        </p:txBody>
      </p:sp>
      <p:sp>
        <p:nvSpPr>
          <p:cNvPr id="47134" name="Text Box 29">
            <a:extLst>
              <a:ext uri="{FF2B5EF4-FFF2-40B4-BE49-F238E27FC236}">
                <a16:creationId xmlns:a16="http://schemas.microsoft.com/office/drawing/2014/main" id="{CFB92C34-9904-A9B4-23C5-45F979FF748C}"/>
              </a:ext>
            </a:extLst>
          </p:cNvPr>
          <p:cNvSpPr txBox="1">
            <a:spLocks noChangeArrowheads="1"/>
          </p:cNvSpPr>
          <p:nvPr/>
        </p:nvSpPr>
        <p:spPr bwMode="auto">
          <a:xfrm>
            <a:off x="5129213" y="2190750"/>
            <a:ext cx="60801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cs typeface="Arial" panose="020B0604020202020204" pitchFamily="34" charset="0"/>
              </a:rPr>
              <a:t>1  0</a:t>
            </a:r>
          </a:p>
        </p:txBody>
      </p:sp>
      <p:sp>
        <p:nvSpPr>
          <p:cNvPr id="47135" name="Text Box 30">
            <a:extLst>
              <a:ext uri="{FF2B5EF4-FFF2-40B4-BE49-F238E27FC236}">
                <a16:creationId xmlns:a16="http://schemas.microsoft.com/office/drawing/2014/main" id="{4DE1FBCA-E81A-6F39-B144-3BF5E4417C2B}"/>
              </a:ext>
            </a:extLst>
          </p:cNvPr>
          <p:cNvSpPr txBox="1">
            <a:spLocks noChangeArrowheads="1"/>
          </p:cNvSpPr>
          <p:nvPr/>
        </p:nvSpPr>
        <p:spPr bwMode="auto">
          <a:xfrm>
            <a:off x="5129213" y="2482850"/>
            <a:ext cx="60801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pPr>
            <a:r>
              <a:rPr lang="en-GB" altLang="en-US" sz="2000">
                <a:solidFill>
                  <a:srgbClr val="000000"/>
                </a:solidFill>
                <a:cs typeface="Arial" panose="020B0604020202020204" pitchFamily="34" charset="0"/>
              </a:rPr>
              <a:t>0  0</a:t>
            </a:r>
          </a:p>
        </p:txBody>
      </p:sp>
      <p:sp>
        <p:nvSpPr>
          <p:cNvPr id="47136" name="Line 31">
            <a:extLst>
              <a:ext uri="{FF2B5EF4-FFF2-40B4-BE49-F238E27FC236}">
                <a16:creationId xmlns:a16="http://schemas.microsoft.com/office/drawing/2014/main" id="{2FE2148D-2BB5-0C72-CD06-D32DFB56B438}"/>
              </a:ext>
            </a:extLst>
          </p:cNvPr>
          <p:cNvSpPr>
            <a:spLocks noChangeShapeType="1"/>
          </p:cNvSpPr>
          <p:nvPr/>
        </p:nvSpPr>
        <p:spPr bwMode="auto">
          <a:xfrm flipV="1">
            <a:off x="5435600" y="1924050"/>
            <a:ext cx="1588" cy="1003300"/>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137" name="Text Box 32">
            <a:extLst>
              <a:ext uri="{FF2B5EF4-FFF2-40B4-BE49-F238E27FC236}">
                <a16:creationId xmlns:a16="http://schemas.microsoft.com/office/drawing/2014/main" id="{79DC6D64-478A-04DD-DBC5-856128491B64}"/>
              </a:ext>
            </a:extLst>
          </p:cNvPr>
          <p:cNvSpPr txBox="1">
            <a:spLocks noChangeArrowheads="1"/>
          </p:cNvSpPr>
          <p:nvPr/>
        </p:nvSpPr>
        <p:spPr bwMode="auto">
          <a:xfrm>
            <a:off x="5600700" y="5753100"/>
            <a:ext cx="32639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spcBef>
                <a:spcPts val="1500"/>
              </a:spcBef>
              <a:buClr>
                <a:srgbClr val="FF0000"/>
              </a:buClr>
              <a:buFont typeface="Comic Sans MS" panose="030F0902030302020204" pitchFamily="66" charset="0"/>
              <a:buNone/>
            </a:pPr>
            <a:r>
              <a:rPr lang="en-GB" altLang="en-US">
                <a:solidFill>
                  <a:srgbClr val="FF0000"/>
                </a:solidFill>
                <a:cs typeface="Arial" panose="020B0604020202020204" pitchFamily="34" charset="0"/>
              </a:rPr>
              <a:t>2 x</a:t>
            </a:r>
            <a:r>
              <a:rPr lang="en-GB" altLang="en-US">
                <a:solidFill>
                  <a:srgbClr val="000000"/>
                </a:solidFill>
                <a:cs typeface="Arial" panose="020B0604020202020204" pitchFamily="34" charset="0"/>
              </a:rPr>
              <a:t> 2</a:t>
            </a:r>
            <a:r>
              <a:rPr lang="en-GB" altLang="en-US" baseline="30000">
                <a:solidFill>
                  <a:srgbClr val="000000"/>
                </a:solidFill>
                <a:cs typeface="Arial" panose="020B0604020202020204" pitchFamily="34" charset="0"/>
              </a:rPr>
              <a:t>n</a:t>
            </a:r>
            <a:r>
              <a:rPr lang="en-GB" altLang="en-US">
                <a:solidFill>
                  <a:srgbClr val="000000"/>
                </a:solidFill>
                <a:cs typeface="Arial" panose="020B0604020202020204" pitchFamily="34" charset="0"/>
              </a:rPr>
              <a:t> x 2 bit table</a:t>
            </a:r>
          </a:p>
        </p:txBody>
      </p:sp>
      <p:sp>
        <p:nvSpPr>
          <p:cNvPr id="47138" name="Slide Number Placeholder 37">
            <a:extLst>
              <a:ext uri="{FF2B5EF4-FFF2-40B4-BE49-F238E27FC236}">
                <a16:creationId xmlns:a16="http://schemas.microsoft.com/office/drawing/2014/main" id="{33582D0C-EF69-7BFA-43E7-231E2741733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E858C200-38E5-B144-ACE3-D124A360172A}" type="slidenum">
              <a:rPr lang="en-GB" altLang="en-US" sz="1400">
                <a:solidFill>
                  <a:srgbClr val="000000"/>
                </a:solidFill>
                <a:latin typeface="Arial  " charset="0"/>
              </a:rPr>
              <a:pPr/>
              <a:t>45</a:t>
            </a:fld>
            <a:r>
              <a:rPr lang="en-GB" altLang="en-US" sz="1400">
                <a:solidFill>
                  <a:srgbClr val="000000"/>
                </a:solidFill>
                <a:latin typeface="Arial  " charset="0"/>
              </a:rPr>
              <a:t> </a:t>
            </a:r>
          </a:p>
        </p:txBody>
      </p:sp>
      <p:grpSp>
        <p:nvGrpSpPr>
          <p:cNvPr id="47139" name="Group 54">
            <a:extLst>
              <a:ext uri="{FF2B5EF4-FFF2-40B4-BE49-F238E27FC236}">
                <a16:creationId xmlns:a16="http://schemas.microsoft.com/office/drawing/2014/main" id="{AB176B30-6476-D3E5-3A2F-2941DEEC9249}"/>
              </a:ext>
            </a:extLst>
          </p:cNvPr>
          <p:cNvGrpSpPr>
            <a:grpSpLocks noChangeAspect="1"/>
          </p:cNvGrpSpPr>
          <p:nvPr/>
        </p:nvGrpSpPr>
        <p:grpSpPr bwMode="auto">
          <a:xfrm>
            <a:off x="6927850" y="1766888"/>
            <a:ext cx="1611313" cy="2709862"/>
            <a:chOff x="615950" y="1046163"/>
            <a:chExt cx="3223088" cy="5420257"/>
          </a:xfrm>
        </p:grpSpPr>
        <p:sp>
          <p:nvSpPr>
            <p:cNvPr id="47142" name="Oval 2">
              <a:extLst>
                <a:ext uri="{FF2B5EF4-FFF2-40B4-BE49-F238E27FC236}">
                  <a16:creationId xmlns:a16="http://schemas.microsoft.com/office/drawing/2014/main" id="{2E83029E-0C09-3FC7-60CA-1BE0D456C87E}"/>
                </a:ext>
              </a:extLst>
            </p:cNvPr>
            <p:cNvSpPr>
              <a:spLocks noChangeArrowheads="1"/>
            </p:cNvSpPr>
            <p:nvPr/>
          </p:nvSpPr>
          <p:spPr bwMode="auto">
            <a:xfrm>
              <a:off x="1300163" y="2776538"/>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1100" b="1">
                  <a:solidFill>
                    <a:srgbClr val="000000"/>
                  </a:solidFill>
                </a:rPr>
                <a:t>T</a:t>
              </a:r>
            </a:p>
            <a:p>
              <a:pPr algn="ctr" eaLnBrk="1" hangingPunct="1">
                <a:lnSpc>
                  <a:spcPct val="100000"/>
                </a:lnSpc>
              </a:pPr>
              <a:r>
                <a:rPr lang="en-GB" altLang="en-US" sz="1100" b="1">
                  <a:solidFill>
                    <a:srgbClr val="000000"/>
                  </a:solidFill>
                </a:rPr>
                <a:t>10</a:t>
              </a:r>
            </a:p>
          </p:txBody>
        </p:sp>
        <p:sp>
          <p:nvSpPr>
            <p:cNvPr id="47143" name="Oval 6">
              <a:extLst>
                <a:ext uri="{FF2B5EF4-FFF2-40B4-BE49-F238E27FC236}">
                  <a16:creationId xmlns:a16="http://schemas.microsoft.com/office/drawing/2014/main" id="{45BD74A5-CF0E-0ED3-1BC5-9E0EB5822540}"/>
                </a:ext>
              </a:extLst>
            </p:cNvPr>
            <p:cNvSpPr>
              <a:spLocks noChangeArrowheads="1"/>
            </p:cNvSpPr>
            <p:nvPr/>
          </p:nvSpPr>
          <p:spPr bwMode="auto">
            <a:xfrm>
              <a:off x="1304925" y="4579938"/>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1100" b="1">
                  <a:solidFill>
                    <a:srgbClr val="000000"/>
                  </a:solidFill>
                </a:rPr>
                <a:t>NT</a:t>
              </a:r>
            </a:p>
            <a:p>
              <a:pPr algn="ctr" eaLnBrk="1" hangingPunct="1">
                <a:lnSpc>
                  <a:spcPct val="100000"/>
                </a:lnSpc>
              </a:pPr>
              <a:r>
                <a:rPr lang="en-GB" altLang="en-US" sz="1100" b="1">
                  <a:solidFill>
                    <a:srgbClr val="000000"/>
                  </a:solidFill>
                </a:rPr>
                <a:t>00</a:t>
              </a:r>
            </a:p>
          </p:txBody>
        </p:sp>
        <p:sp>
          <p:nvSpPr>
            <p:cNvPr id="47144" name="Oval 7">
              <a:extLst>
                <a:ext uri="{FF2B5EF4-FFF2-40B4-BE49-F238E27FC236}">
                  <a16:creationId xmlns:a16="http://schemas.microsoft.com/office/drawing/2014/main" id="{31284124-D76D-437C-FD6C-B29CFF849CF1}"/>
                </a:ext>
              </a:extLst>
            </p:cNvPr>
            <p:cNvSpPr>
              <a:spLocks noChangeArrowheads="1"/>
            </p:cNvSpPr>
            <p:nvPr/>
          </p:nvSpPr>
          <p:spPr bwMode="auto">
            <a:xfrm>
              <a:off x="1317625" y="372745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1100" b="1">
                  <a:solidFill>
                    <a:srgbClr val="000000"/>
                  </a:solidFill>
                </a:rPr>
                <a:t>NT</a:t>
              </a:r>
            </a:p>
            <a:p>
              <a:pPr algn="ctr" eaLnBrk="1" hangingPunct="1">
                <a:lnSpc>
                  <a:spcPct val="100000"/>
                </a:lnSpc>
              </a:pPr>
              <a:r>
                <a:rPr lang="en-GB" altLang="en-US" sz="1100" b="1">
                  <a:solidFill>
                    <a:srgbClr val="000000"/>
                  </a:solidFill>
                </a:rPr>
                <a:t>01</a:t>
              </a:r>
            </a:p>
          </p:txBody>
        </p:sp>
        <p:sp>
          <p:nvSpPr>
            <p:cNvPr id="47145" name="Oval 10">
              <a:extLst>
                <a:ext uri="{FF2B5EF4-FFF2-40B4-BE49-F238E27FC236}">
                  <a16:creationId xmlns:a16="http://schemas.microsoft.com/office/drawing/2014/main" id="{7821A646-1CE3-AFB4-B4D2-E416E6800695}"/>
                </a:ext>
              </a:extLst>
            </p:cNvPr>
            <p:cNvSpPr>
              <a:spLocks noChangeArrowheads="1"/>
            </p:cNvSpPr>
            <p:nvPr/>
          </p:nvSpPr>
          <p:spPr bwMode="auto">
            <a:xfrm>
              <a:off x="1312863" y="182245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1100" b="1">
                  <a:solidFill>
                    <a:srgbClr val="000000"/>
                  </a:solidFill>
                </a:rPr>
                <a:t>T</a:t>
              </a:r>
            </a:p>
            <a:p>
              <a:pPr algn="ctr" eaLnBrk="1" hangingPunct="1">
                <a:lnSpc>
                  <a:spcPct val="100000"/>
                </a:lnSpc>
              </a:pPr>
              <a:r>
                <a:rPr lang="en-GB" altLang="en-US" sz="1100" b="1">
                  <a:solidFill>
                    <a:srgbClr val="000000"/>
                  </a:solidFill>
                </a:rPr>
                <a:t>11</a:t>
              </a:r>
            </a:p>
          </p:txBody>
        </p:sp>
        <p:sp>
          <p:nvSpPr>
            <p:cNvPr id="47146" name="AutoShape 14">
              <a:extLst>
                <a:ext uri="{FF2B5EF4-FFF2-40B4-BE49-F238E27FC236}">
                  <a16:creationId xmlns:a16="http://schemas.microsoft.com/office/drawing/2014/main" id="{326F322B-C128-41D7-4446-3A558C65D1D6}"/>
                </a:ext>
              </a:extLst>
            </p:cNvPr>
            <p:cNvSpPr>
              <a:spLocks noChangeArrowheads="1"/>
            </p:cNvSpPr>
            <p:nvPr/>
          </p:nvSpPr>
          <p:spPr bwMode="auto">
            <a:xfrm rot="-5400000">
              <a:off x="871538" y="4378325"/>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47147" name="AutoShape 21">
              <a:extLst>
                <a:ext uri="{FF2B5EF4-FFF2-40B4-BE49-F238E27FC236}">
                  <a16:creationId xmlns:a16="http://schemas.microsoft.com/office/drawing/2014/main" id="{10684FAB-2352-BA2E-7526-9E1663FB89F9}"/>
                </a:ext>
              </a:extLst>
            </p:cNvPr>
            <p:cNvSpPr>
              <a:spLocks noChangeArrowheads="1"/>
            </p:cNvSpPr>
            <p:nvPr/>
          </p:nvSpPr>
          <p:spPr bwMode="auto">
            <a:xfrm rot="5400000">
              <a:off x="2297113" y="4275138"/>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47148" name="Text Box 26">
              <a:extLst>
                <a:ext uri="{FF2B5EF4-FFF2-40B4-BE49-F238E27FC236}">
                  <a16:creationId xmlns:a16="http://schemas.microsoft.com/office/drawing/2014/main" id="{DF7DCE97-2CE9-7874-5F2A-15288CD664BD}"/>
                </a:ext>
              </a:extLst>
            </p:cNvPr>
            <p:cNvSpPr txBox="1">
              <a:spLocks noChangeArrowheads="1"/>
            </p:cNvSpPr>
            <p:nvPr/>
          </p:nvSpPr>
          <p:spPr bwMode="auto">
            <a:xfrm>
              <a:off x="3062288" y="4351338"/>
              <a:ext cx="741824" cy="52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1100" b="1">
                  <a:solidFill>
                    <a:srgbClr val="000000"/>
                  </a:solidFill>
                </a:rPr>
                <a:t>NT</a:t>
              </a:r>
            </a:p>
          </p:txBody>
        </p:sp>
        <p:sp>
          <p:nvSpPr>
            <p:cNvPr id="47149" name="Text Box 28">
              <a:extLst>
                <a:ext uri="{FF2B5EF4-FFF2-40B4-BE49-F238E27FC236}">
                  <a16:creationId xmlns:a16="http://schemas.microsoft.com/office/drawing/2014/main" id="{90AD2BE9-83D1-6069-940B-6F931AA7524C}"/>
                </a:ext>
              </a:extLst>
            </p:cNvPr>
            <p:cNvSpPr txBox="1">
              <a:spLocks noChangeArrowheads="1"/>
            </p:cNvSpPr>
            <p:nvPr/>
          </p:nvSpPr>
          <p:spPr bwMode="auto">
            <a:xfrm>
              <a:off x="646114" y="4300538"/>
              <a:ext cx="536640" cy="52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1100" b="1">
                  <a:solidFill>
                    <a:srgbClr val="000000"/>
                  </a:solidFill>
                </a:rPr>
                <a:t>T</a:t>
              </a:r>
            </a:p>
          </p:txBody>
        </p:sp>
        <p:sp>
          <p:nvSpPr>
            <p:cNvPr id="47150" name="AutoShape 4">
              <a:extLst>
                <a:ext uri="{FF2B5EF4-FFF2-40B4-BE49-F238E27FC236}">
                  <a16:creationId xmlns:a16="http://schemas.microsoft.com/office/drawing/2014/main" id="{507DE2C4-9FD2-AB81-C74C-BA59AB661E4E}"/>
                </a:ext>
              </a:extLst>
            </p:cNvPr>
            <p:cNvSpPr>
              <a:spLocks noChangeArrowheads="1"/>
            </p:cNvSpPr>
            <p:nvPr/>
          </p:nvSpPr>
          <p:spPr bwMode="auto">
            <a:xfrm rot="10800000">
              <a:off x="1571625" y="5292725"/>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47151" name="AutoShape 11">
              <a:extLst>
                <a:ext uri="{FF2B5EF4-FFF2-40B4-BE49-F238E27FC236}">
                  <a16:creationId xmlns:a16="http://schemas.microsoft.com/office/drawing/2014/main" id="{93252218-0F97-83A9-C5F1-4A92C90C2B1A}"/>
                </a:ext>
              </a:extLst>
            </p:cNvPr>
            <p:cNvSpPr>
              <a:spLocks noChangeArrowheads="1"/>
            </p:cNvSpPr>
            <p:nvPr/>
          </p:nvSpPr>
          <p:spPr bwMode="auto">
            <a:xfrm rot="10800000" flipH="1" flipV="1">
              <a:off x="1554163" y="1452563"/>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47152" name="Text Box 34">
              <a:extLst>
                <a:ext uri="{FF2B5EF4-FFF2-40B4-BE49-F238E27FC236}">
                  <a16:creationId xmlns:a16="http://schemas.microsoft.com/office/drawing/2014/main" id="{13375FDD-8D5C-329D-8E75-CD18B4DCE900}"/>
                </a:ext>
              </a:extLst>
            </p:cNvPr>
            <p:cNvSpPr txBox="1">
              <a:spLocks noChangeArrowheads="1"/>
            </p:cNvSpPr>
            <p:nvPr/>
          </p:nvSpPr>
          <p:spPr bwMode="auto">
            <a:xfrm>
              <a:off x="1836738" y="1046163"/>
              <a:ext cx="536640" cy="52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1100" b="1">
                  <a:solidFill>
                    <a:srgbClr val="000000"/>
                  </a:solidFill>
                </a:rPr>
                <a:t>T</a:t>
              </a:r>
            </a:p>
          </p:txBody>
        </p:sp>
        <p:sp>
          <p:nvSpPr>
            <p:cNvPr id="47153" name="Text Box 37">
              <a:extLst>
                <a:ext uri="{FF2B5EF4-FFF2-40B4-BE49-F238E27FC236}">
                  <a16:creationId xmlns:a16="http://schemas.microsoft.com/office/drawing/2014/main" id="{FD08E949-BDDE-9604-8769-E8D6E02A51F6}"/>
                </a:ext>
              </a:extLst>
            </p:cNvPr>
            <p:cNvSpPr txBox="1">
              <a:spLocks noChangeArrowheads="1"/>
            </p:cNvSpPr>
            <p:nvPr/>
          </p:nvSpPr>
          <p:spPr bwMode="auto">
            <a:xfrm>
              <a:off x="1779588" y="5938838"/>
              <a:ext cx="741824" cy="52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1100" b="1">
                  <a:solidFill>
                    <a:srgbClr val="000000"/>
                  </a:solidFill>
                </a:rPr>
                <a:t>NT</a:t>
              </a:r>
            </a:p>
          </p:txBody>
        </p:sp>
        <p:sp>
          <p:nvSpPr>
            <p:cNvPr id="47154" name="AutoShape 14">
              <a:extLst>
                <a:ext uri="{FF2B5EF4-FFF2-40B4-BE49-F238E27FC236}">
                  <a16:creationId xmlns:a16="http://schemas.microsoft.com/office/drawing/2014/main" id="{D830FE3E-F322-14F9-4B4F-FDD5E3613237}"/>
                </a:ext>
              </a:extLst>
            </p:cNvPr>
            <p:cNvSpPr>
              <a:spLocks noChangeArrowheads="1"/>
            </p:cNvSpPr>
            <p:nvPr/>
          </p:nvSpPr>
          <p:spPr bwMode="auto">
            <a:xfrm rot="-5400000">
              <a:off x="844550" y="3475038"/>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47155" name="Text Box 28">
              <a:extLst>
                <a:ext uri="{FF2B5EF4-FFF2-40B4-BE49-F238E27FC236}">
                  <a16:creationId xmlns:a16="http://schemas.microsoft.com/office/drawing/2014/main" id="{49FB320C-14C2-3430-28C0-DB381A365C38}"/>
                </a:ext>
              </a:extLst>
            </p:cNvPr>
            <p:cNvSpPr txBox="1">
              <a:spLocks noChangeArrowheads="1"/>
            </p:cNvSpPr>
            <p:nvPr/>
          </p:nvSpPr>
          <p:spPr bwMode="auto">
            <a:xfrm>
              <a:off x="619126" y="3397251"/>
              <a:ext cx="536640" cy="52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1100" b="1">
                  <a:solidFill>
                    <a:srgbClr val="000000"/>
                  </a:solidFill>
                </a:rPr>
                <a:t>T</a:t>
              </a:r>
            </a:p>
          </p:txBody>
        </p:sp>
        <p:sp>
          <p:nvSpPr>
            <p:cNvPr id="47156" name="AutoShape 14">
              <a:extLst>
                <a:ext uri="{FF2B5EF4-FFF2-40B4-BE49-F238E27FC236}">
                  <a16:creationId xmlns:a16="http://schemas.microsoft.com/office/drawing/2014/main" id="{39708A4E-F63A-44DB-D83F-0B938EA58018}"/>
                </a:ext>
              </a:extLst>
            </p:cNvPr>
            <p:cNvSpPr>
              <a:spLocks noChangeArrowheads="1"/>
            </p:cNvSpPr>
            <p:nvPr/>
          </p:nvSpPr>
          <p:spPr bwMode="auto">
            <a:xfrm rot="-5400000">
              <a:off x="841375" y="2481263"/>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47157" name="Text Box 28">
              <a:extLst>
                <a:ext uri="{FF2B5EF4-FFF2-40B4-BE49-F238E27FC236}">
                  <a16:creationId xmlns:a16="http://schemas.microsoft.com/office/drawing/2014/main" id="{9D36F31A-0FE1-C298-19E7-23374D65E7A0}"/>
                </a:ext>
              </a:extLst>
            </p:cNvPr>
            <p:cNvSpPr txBox="1">
              <a:spLocks noChangeArrowheads="1"/>
            </p:cNvSpPr>
            <p:nvPr/>
          </p:nvSpPr>
          <p:spPr bwMode="auto">
            <a:xfrm>
              <a:off x="615950" y="2403475"/>
              <a:ext cx="536640" cy="52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1100" b="1">
                  <a:solidFill>
                    <a:srgbClr val="000000"/>
                  </a:solidFill>
                </a:rPr>
                <a:t>T</a:t>
              </a:r>
            </a:p>
          </p:txBody>
        </p:sp>
        <p:sp>
          <p:nvSpPr>
            <p:cNvPr id="47158" name="AutoShape 21">
              <a:extLst>
                <a:ext uri="{FF2B5EF4-FFF2-40B4-BE49-F238E27FC236}">
                  <a16:creationId xmlns:a16="http://schemas.microsoft.com/office/drawing/2014/main" id="{8B869709-5141-9917-7F35-8679C2DB84EB}"/>
                </a:ext>
              </a:extLst>
            </p:cNvPr>
            <p:cNvSpPr>
              <a:spLocks noChangeArrowheads="1"/>
            </p:cNvSpPr>
            <p:nvPr/>
          </p:nvSpPr>
          <p:spPr bwMode="auto">
            <a:xfrm rot="5400000">
              <a:off x="2295525" y="3332163"/>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47159" name="Text Box 26">
              <a:extLst>
                <a:ext uri="{FF2B5EF4-FFF2-40B4-BE49-F238E27FC236}">
                  <a16:creationId xmlns:a16="http://schemas.microsoft.com/office/drawing/2014/main" id="{29F8996E-ADE2-4AA3-FB2E-DDC533C6D137}"/>
                </a:ext>
              </a:extLst>
            </p:cNvPr>
            <p:cNvSpPr txBox="1">
              <a:spLocks noChangeArrowheads="1"/>
            </p:cNvSpPr>
            <p:nvPr/>
          </p:nvSpPr>
          <p:spPr bwMode="auto">
            <a:xfrm>
              <a:off x="3060700" y="3408363"/>
              <a:ext cx="741824" cy="52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1100" b="1">
                  <a:solidFill>
                    <a:srgbClr val="000000"/>
                  </a:solidFill>
                </a:rPr>
                <a:t>NT</a:t>
              </a:r>
            </a:p>
          </p:txBody>
        </p:sp>
        <p:sp>
          <p:nvSpPr>
            <p:cNvPr id="47160" name="AutoShape 21">
              <a:extLst>
                <a:ext uri="{FF2B5EF4-FFF2-40B4-BE49-F238E27FC236}">
                  <a16:creationId xmlns:a16="http://schemas.microsoft.com/office/drawing/2014/main" id="{E49C568F-90D4-4BBC-FB85-ED099755CB6D}"/>
                </a:ext>
              </a:extLst>
            </p:cNvPr>
            <p:cNvSpPr>
              <a:spLocks noChangeArrowheads="1"/>
            </p:cNvSpPr>
            <p:nvPr/>
          </p:nvSpPr>
          <p:spPr bwMode="auto">
            <a:xfrm rot="5400000">
              <a:off x="2332038" y="2378075"/>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47161" name="Text Box 26">
              <a:extLst>
                <a:ext uri="{FF2B5EF4-FFF2-40B4-BE49-F238E27FC236}">
                  <a16:creationId xmlns:a16="http://schemas.microsoft.com/office/drawing/2014/main" id="{6B1ECBA0-CDCB-C9B9-F7F2-266DFD9996B0}"/>
                </a:ext>
              </a:extLst>
            </p:cNvPr>
            <p:cNvSpPr txBox="1">
              <a:spLocks noChangeArrowheads="1"/>
            </p:cNvSpPr>
            <p:nvPr/>
          </p:nvSpPr>
          <p:spPr bwMode="auto">
            <a:xfrm>
              <a:off x="3097214" y="2454275"/>
              <a:ext cx="741824" cy="52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1100" b="1">
                  <a:solidFill>
                    <a:srgbClr val="000000"/>
                  </a:solidFill>
                </a:rPr>
                <a:t>NT</a:t>
              </a:r>
            </a:p>
          </p:txBody>
        </p:sp>
      </p:grpSp>
      <p:sp>
        <p:nvSpPr>
          <p:cNvPr id="47140" name="Oval 55">
            <a:extLst>
              <a:ext uri="{FF2B5EF4-FFF2-40B4-BE49-F238E27FC236}">
                <a16:creationId xmlns:a16="http://schemas.microsoft.com/office/drawing/2014/main" id="{9A8B9378-63B9-3FC3-125C-6B581817B9C9}"/>
              </a:ext>
            </a:extLst>
          </p:cNvPr>
          <p:cNvSpPr>
            <a:spLocks noChangeArrowheads="1"/>
          </p:cNvSpPr>
          <p:nvPr/>
        </p:nvSpPr>
        <p:spPr bwMode="auto">
          <a:xfrm>
            <a:off x="5048250" y="2486025"/>
            <a:ext cx="760413" cy="423863"/>
          </a:xfrm>
          <a:prstGeom prst="ellipse">
            <a:avLst/>
          </a:prstGeom>
          <a:noFill/>
          <a:ln w="317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cxnSp>
        <p:nvCxnSpPr>
          <p:cNvPr id="47141" name="Straight Arrow Connector 57">
            <a:extLst>
              <a:ext uri="{FF2B5EF4-FFF2-40B4-BE49-F238E27FC236}">
                <a16:creationId xmlns:a16="http://schemas.microsoft.com/office/drawing/2014/main" id="{D52F6960-E0C8-CBC8-BAAC-66F46E581BEB}"/>
              </a:ext>
            </a:extLst>
          </p:cNvPr>
          <p:cNvCxnSpPr>
            <a:cxnSpLocks noChangeShapeType="1"/>
            <a:stCxn id="47140" idx="6"/>
          </p:cNvCxnSpPr>
          <p:nvPr/>
        </p:nvCxnSpPr>
        <p:spPr bwMode="auto">
          <a:xfrm>
            <a:off x="5808663" y="2698750"/>
            <a:ext cx="1055687" cy="95250"/>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27656F0-0E7A-C898-2A30-0AD88EF8F05C}"/>
              </a:ext>
            </a:extLst>
          </p:cNvPr>
          <p:cNvSpPr>
            <a:spLocks noGrp="1" noChangeArrowheads="1"/>
          </p:cNvSpPr>
          <p:nvPr>
            <p:ph type="title"/>
          </p:nvPr>
        </p:nvSpPr>
        <p:spPr>
          <a:xfrm>
            <a:off x="723900" y="254000"/>
            <a:ext cx="8420100" cy="889000"/>
          </a:xfrm>
        </p:spPr>
        <p:txBody>
          <a:bodyPr/>
          <a:lstStyle/>
          <a:p>
            <a:r>
              <a:rPr lang="en-US" altLang="en-US" sz="3600">
                <a:latin typeface="Arial  " charset="0"/>
                <a:cs typeface="Arial  " charset="0"/>
              </a:rPr>
              <a:t>Affector Branches, reconsidered…</a:t>
            </a:r>
          </a:p>
        </p:txBody>
      </p:sp>
      <p:sp>
        <p:nvSpPr>
          <p:cNvPr id="48131" name="Rectangle 3">
            <a:extLst>
              <a:ext uri="{FF2B5EF4-FFF2-40B4-BE49-F238E27FC236}">
                <a16:creationId xmlns:a16="http://schemas.microsoft.com/office/drawing/2014/main" id="{7867781B-9797-99A6-23E3-F2EA3A01ABA4}"/>
              </a:ext>
            </a:extLst>
          </p:cNvPr>
          <p:cNvSpPr>
            <a:spLocks noGrp="1" noChangeArrowheads="1"/>
          </p:cNvSpPr>
          <p:nvPr>
            <p:ph type="body" idx="1"/>
          </p:nvPr>
        </p:nvSpPr>
        <p:spPr>
          <a:xfrm>
            <a:off x="1068388" y="1530350"/>
            <a:ext cx="7772400" cy="4813300"/>
          </a:xfrm>
        </p:spPr>
        <p:txBody>
          <a:bodyPr/>
          <a:lstStyle/>
          <a:p>
            <a:pPr>
              <a:lnSpc>
                <a:spcPct val="90000"/>
              </a:lnSpc>
              <a:buFontTx/>
              <a:buNone/>
            </a:pPr>
            <a:r>
              <a:rPr lang="en-US" altLang="en-US">
                <a:latin typeface="Arial  " charset="0"/>
                <a:cs typeface="Arial  " charset="0"/>
              </a:rPr>
              <a:t>x=0;</a:t>
            </a:r>
          </a:p>
          <a:p>
            <a:pPr>
              <a:lnSpc>
                <a:spcPct val="90000"/>
              </a:lnSpc>
              <a:buFontTx/>
              <a:buNone/>
            </a:pPr>
            <a:r>
              <a:rPr lang="en-US" altLang="en-US">
                <a:latin typeface="Arial  " charset="0"/>
                <a:cs typeface="Arial  " charset="0"/>
              </a:rPr>
              <a:t>if( </a:t>
            </a:r>
            <a:r>
              <a:rPr lang="en-US" altLang="en-US">
                <a:solidFill>
                  <a:srgbClr val="FF0000"/>
                </a:solidFill>
                <a:latin typeface="Arial  " charset="0"/>
                <a:cs typeface="Arial  " charset="0"/>
              </a:rPr>
              <a:t>someCondition</a:t>
            </a:r>
            <a:r>
              <a:rPr lang="en-US" altLang="en-US">
                <a:latin typeface="Arial  " charset="0"/>
                <a:cs typeface="Arial  " charset="0"/>
              </a:rPr>
              <a:t> ) { /* branch A */</a:t>
            </a:r>
          </a:p>
          <a:p>
            <a:pPr>
              <a:lnSpc>
                <a:spcPct val="90000"/>
              </a:lnSpc>
              <a:buFontTx/>
              <a:buNone/>
            </a:pPr>
            <a:r>
              <a:rPr lang="en-US" altLang="en-US">
                <a:solidFill>
                  <a:srgbClr val="FF0000"/>
                </a:solidFill>
                <a:latin typeface="Arial  " charset="0"/>
                <a:cs typeface="Arial  " charset="0"/>
              </a:rPr>
              <a:t>     x=3;</a:t>
            </a:r>
            <a:endParaRPr lang="en-US" altLang="en-US">
              <a:latin typeface="Arial  " charset="0"/>
              <a:cs typeface="Arial  " charset="0"/>
            </a:endParaRPr>
          </a:p>
          <a:p>
            <a:pPr>
              <a:lnSpc>
                <a:spcPct val="90000"/>
              </a:lnSpc>
              <a:buFontTx/>
              <a:buNone/>
            </a:pPr>
            <a:r>
              <a:rPr lang="en-US" altLang="en-US">
                <a:latin typeface="Arial  " charset="0"/>
                <a:cs typeface="Arial  " charset="0"/>
              </a:rPr>
              <a:t>}</a:t>
            </a:r>
          </a:p>
          <a:p>
            <a:pPr>
              <a:lnSpc>
                <a:spcPct val="90000"/>
              </a:lnSpc>
              <a:buFontTx/>
              <a:buNone/>
            </a:pPr>
            <a:r>
              <a:rPr lang="en-US" altLang="en-US">
                <a:latin typeface="Arial  " charset="0"/>
                <a:cs typeface="Arial  " charset="0"/>
              </a:rPr>
              <a:t>if( someOtherCondition ) { /* branch B */ </a:t>
            </a:r>
          </a:p>
          <a:p>
            <a:pPr>
              <a:lnSpc>
                <a:spcPct val="90000"/>
              </a:lnSpc>
              <a:buFontTx/>
              <a:buNone/>
            </a:pPr>
            <a:r>
              <a:rPr lang="en-US" altLang="en-US">
                <a:latin typeface="Arial  " charset="0"/>
                <a:cs typeface="Arial  " charset="0"/>
              </a:rPr>
              <a:t>	y += 19;</a:t>
            </a:r>
          </a:p>
          <a:p>
            <a:pPr>
              <a:lnSpc>
                <a:spcPct val="90000"/>
              </a:lnSpc>
              <a:buFontTx/>
              <a:buNone/>
            </a:pPr>
            <a:r>
              <a:rPr lang="en-US" altLang="en-US">
                <a:latin typeface="Arial  " charset="0"/>
                <a:cs typeface="Arial  " charset="0"/>
              </a:rPr>
              <a:t>}</a:t>
            </a:r>
          </a:p>
          <a:p>
            <a:pPr>
              <a:lnSpc>
                <a:spcPct val="90000"/>
              </a:lnSpc>
              <a:buFontTx/>
              <a:buNone/>
            </a:pPr>
            <a:r>
              <a:rPr lang="en-US" altLang="en-US">
                <a:latin typeface="Arial  " charset="0"/>
                <a:cs typeface="Arial  " charset="0"/>
              </a:rPr>
              <a:t>if( </a:t>
            </a:r>
            <a:r>
              <a:rPr lang="en-US" altLang="en-US">
                <a:solidFill>
                  <a:srgbClr val="FF0000"/>
                </a:solidFill>
                <a:latin typeface="Arial  " charset="0"/>
                <a:cs typeface="Arial  " charset="0"/>
              </a:rPr>
              <a:t>x &lt;= 0</a:t>
            </a:r>
            <a:r>
              <a:rPr lang="en-US" altLang="en-US">
                <a:latin typeface="Arial  " charset="0"/>
                <a:cs typeface="Arial  " charset="0"/>
              </a:rPr>
              <a:t> ) { /* branch C */</a:t>
            </a:r>
          </a:p>
          <a:p>
            <a:pPr>
              <a:lnSpc>
                <a:spcPct val="90000"/>
              </a:lnSpc>
              <a:buFontTx/>
              <a:buNone/>
            </a:pPr>
            <a:r>
              <a:rPr lang="en-US" altLang="en-US">
                <a:latin typeface="Arial  " charset="0"/>
                <a:cs typeface="Arial  " charset="0"/>
              </a:rPr>
              <a:t>	doSomething();</a:t>
            </a:r>
          </a:p>
          <a:p>
            <a:pPr>
              <a:lnSpc>
                <a:spcPct val="90000"/>
              </a:lnSpc>
              <a:buFontTx/>
              <a:buNone/>
            </a:pPr>
            <a:r>
              <a:rPr lang="en-US" altLang="en-US">
                <a:latin typeface="Arial  " charset="0"/>
                <a:cs typeface="Arial  " charset="0"/>
              </a:rPr>
              <a:t>}</a:t>
            </a:r>
          </a:p>
        </p:txBody>
      </p:sp>
      <p:sp>
        <p:nvSpPr>
          <p:cNvPr id="48132" name="Freeform 4">
            <a:extLst>
              <a:ext uri="{FF2B5EF4-FFF2-40B4-BE49-F238E27FC236}">
                <a16:creationId xmlns:a16="http://schemas.microsoft.com/office/drawing/2014/main" id="{5A154293-E522-CFC9-103B-8E868BE58BF1}"/>
              </a:ext>
            </a:extLst>
          </p:cNvPr>
          <p:cNvSpPr>
            <a:spLocks/>
          </p:cNvSpPr>
          <p:nvPr/>
        </p:nvSpPr>
        <p:spPr bwMode="auto">
          <a:xfrm>
            <a:off x="815975" y="2668588"/>
            <a:ext cx="889000" cy="2238375"/>
          </a:xfrm>
          <a:custGeom>
            <a:avLst/>
            <a:gdLst>
              <a:gd name="T0" fmla="*/ 2147483647 w 446"/>
              <a:gd name="T1" fmla="*/ 0 h 1296"/>
              <a:gd name="T2" fmla="*/ 2147483647 w 446"/>
              <a:gd name="T3" fmla="*/ 2147483647 h 1296"/>
              <a:gd name="T4" fmla="*/ 2147483647 w 446"/>
              <a:gd name="T5" fmla="*/ 2147483647 h 1296"/>
              <a:gd name="T6" fmla="*/ 0 60000 65536"/>
              <a:gd name="T7" fmla="*/ 0 60000 65536"/>
              <a:gd name="T8" fmla="*/ 0 60000 65536"/>
              <a:gd name="T9" fmla="*/ 0 w 446"/>
              <a:gd name="T10" fmla="*/ 0 h 1296"/>
              <a:gd name="T11" fmla="*/ 446 w 446"/>
              <a:gd name="T12" fmla="*/ 1296 h 1296"/>
            </a:gdLst>
            <a:ahLst/>
            <a:cxnLst>
              <a:cxn ang="T6">
                <a:pos x="T0" y="T1"/>
              </a:cxn>
              <a:cxn ang="T7">
                <a:pos x="T2" y="T3"/>
              </a:cxn>
              <a:cxn ang="T8">
                <a:pos x="T4" y="T5"/>
              </a:cxn>
            </a:cxnLst>
            <a:rect l="T9" t="T10" r="T11" b="T12"/>
            <a:pathLst>
              <a:path w="446" h="1296">
                <a:moveTo>
                  <a:pt x="268" y="0"/>
                </a:moveTo>
                <a:cubicBezTo>
                  <a:pt x="75" y="229"/>
                  <a:pt x="0" y="512"/>
                  <a:pt x="30" y="728"/>
                </a:cubicBezTo>
                <a:cubicBezTo>
                  <a:pt x="60" y="944"/>
                  <a:pt x="271" y="1120"/>
                  <a:pt x="446" y="1296"/>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33" name="Freeform 5">
            <a:extLst>
              <a:ext uri="{FF2B5EF4-FFF2-40B4-BE49-F238E27FC236}">
                <a16:creationId xmlns:a16="http://schemas.microsoft.com/office/drawing/2014/main" id="{0B711387-C53B-6CB3-4200-9D8441202933}"/>
              </a:ext>
            </a:extLst>
          </p:cNvPr>
          <p:cNvSpPr>
            <a:spLocks/>
          </p:cNvSpPr>
          <p:nvPr/>
        </p:nvSpPr>
        <p:spPr bwMode="auto">
          <a:xfrm>
            <a:off x="2185988" y="2266950"/>
            <a:ext cx="401637" cy="277813"/>
          </a:xfrm>
          <a:custGeom>
            <a:avLst/>
            <a:gdLst>
              <a:gd name="T0" fmla="*/ 2147483647 w 253"/>
              <a:gd name="T1" fmla="*/ 0 h 280"/>
              <a:gd name="T2" fmla="*/ 2147483647 w 253"/>
              <a:gd name="T3" fmla="*/ 2147483647 h 280"/>
              <a:gd name="T4" fmla="*/ 0 w 253"/>
              <a:gd name="T5" fmla="*/ 2147483647 h 280"/>
              <a:gd name="T6" fmla="*/ 0 60000 65536"/>
              <a:gd name="T7" fmla="*/ 0 60000 65536"/>
              <a:gd name="T8" fmla="*/ 0 60000 65536"/>
              <a:gd name="T9" fmla="*/ 0 w 253"/>
              <a:gd name="T10" fmla="*/ 0 h 280"/>
              <a:gd name="T11" fmla="*/ 253 w 253"/>
              <a:gd name="T12" fmla="*/ 280 h 280"/>
            </a:gdLst>
            <a:ahLst/>
            <a:cxnLst>
              <a:cxn ang="T6">
                <a:pos x="T0" y="T1"/>
              </a:cxn>
              <a:cxn ang="T7">
                <a:pos x="T2" y="T3"/>
              </a:cxn>
              <a:cxn ang="T8">
                <a:pos x="T4" y="T5"/>
              </a:cxn>
            </a:cxnLst>
            <a:rect l="T9" t="T10" r="T11" b="T12"/>
            <a:pathLst>
              <a:path w="253" h="280">
                <a:moveTo>
                  <a:pt x="80" y="0"/>
                </a:moveTo>
                <a:cubicBezTo>
                  <a:pt x="166" y="76"/>
                  <a:pt x="253" y="153"/>
                  <a:pt x="240" y="200"/>
                </a:cubicBezTo>
                <a:cubicBezTo>
                  <a:pt x="227" y="247"/>
                  <a:pt x="113" y="263"/>
                  <a:pt x="0" y="280"/>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34" name="Slide Number Placeholder 7">
            <a:extLst>
              <a:ext uri="{FF2B5EF4-FFF2-40B4-BE49-F238E27FC236}">
                <a16:creationId xmlns:a16="http://schemas.microsoft.com/office/drawing/2014/main" id="{C4305295-D6C2-0EED-0CA9-35062B0CF0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C2155033-0E0C-6041-A751-FA543D92D12A}" type="slidenum">
              <a:rPr lang="en-US" altLang="en-US" sz="1400">
                <a:solidFill>
                  <a:srgbClr val="000000"/>
                </a:solidFill>
                <a:latin typeface="Arial  " charset="0"/>
              </a:rPr>
              <a:pPr/>
              <a:t>46</a:t>
            </a:fld>
            <a:endParaRPr lang="en-US" altLang="en-US" sz="1400">
              <a:solidFill>
                <a:srgbClr val="000000"/>
              </a:solidFill>
              <a:latin typeface="Times" pitchFamily="-109"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89B1165D-E30E-F64B-7098-6B91FA94DEC6}"/>
              </a:ext>
            </a:extLst>
          </p:cNvPr>
          <p:cNvSpPr>
            <a:spLocks noGrp="1"/>
          </p:cNvSpPr>
          <p:nvPr>
            <p:ph type="title"/>
          </p:nvPr>
        </p:nvSpPr>
        <p:spPr>
          <a:xfrm>
            <a:off x="685800" y="-85725"/>
            <a:ext cx="7770813" cy="1077913"/>
          </a:xfrm>
        </p:spPr>
        <p:txBody>
          <a:bodyPr/>
          <a:lstStyle/>
          <a:p>
            <a:r>
              <a:rPr lang="en-CA" altLang="en-US" sz="3200">
                <a:latin typeface="Arial  " charset="0"/>
                <a:cs typeface="Arial  " charset="0"/>
              </a:rPr>
              <a:t>Correlating against Multiple Branches</a:t>
            </a:r>
          </a:p>
        </p:txBody>
      </p:sp>
      <p:sp>
        <p:nvSpPr>
          <p:cNvPr id="49155" name="Content Placeholder 2">
            <a:extLst>
              <a:ext uri="{FF2B5EF4-FFF2-40B4-BE49-F238E27FC236}">
                <a16:creationId xmlns:a16="http://schemas.microsoft.com/office/drawing/2014/main" id="{AB099DEF-3B4F-61C6-3CB2-B7E09597479D}"/>
              </a:ext>
            </a:extLst>
          </p:cNvPr>
          <p:cNvSpPr>
            <a:spLocks noGrp="1"/>
          </p:cNvSpPr>
          <p:nvPr>
            <p:ph idx="1"/>
          </p:nvPr>
        </p:nvSpPr>
        <p:spPr>
          <a:xfrm>
            <a:off x="673100" y="965200"/>
            <a:ext cx="7770813" cy="5229225"/>
          </a:xfrm>
        </p:spPr>
        <p:txBody>
          <a:bodyPr/>
          <a:lstStyle/>
          <a:p>
            <a:r>
              <a:rPr lang="en-CA" altLang="en-US" sz="2000">
                <a:latin typeface="Arial  " charset="0"/>
                <a:cs typeface="Arial  " charset="0"/>
              </a:rPr>
              <a:t>In the last slide we saw that the outcome of branch C depended in some way upon the outcome of branch A but not Branch B.  </a:t>
            </a:r>
          </a:p>
          <a:p>
            <a:r>
              <a:rPr lang="en-CA" altLang="en-US" sz="2000">
                <a:latin typeface="Arial  " charset="0"/>
                <a:cs typeface="Arial  " charset="0"/>
              </a:rPr>
              <a:t>Instead of tracking the outcome of only the last branch and using that to choose between two tables, we will track the outcome of last N branch outcomes and use that to choose between 2</a:t>
            </a:r>
            <a:r>
              <a:rPr lang="en-CA" altLang="en-US" sz="2000" baseline="30000">
                <a:latin typeface="Arial  " charset="0"/>
                <a:cs typeface="Arial  " charset="0"/>
              </a:rPr>
              <a:t>N</a:t>
            </a:r>
            <a:r>
              <a:rPr lang="en-CA" altLang="en-US" sz="2000">
                <a:latin typeface="Arial  " charset="0"/>
                <a:cs typeface="Arial  " charset="0"/>
              </a:rPr>
              <a:t> tables.</a:t>
            </a:r>
          </a:p>
          <a:p>
            <a:r>
              <a:rPr lang="en-CA" altLang="en-US" sz="2000">
                <a:latin typeface="Arial  " charset="0"/>
                <a:cs typeface="Arial  " charset="0"/>
              </a:rPr>
              <a:t>We track the outcome of the last N branches using an N-bit shift register.</a:t>
            </a:r>
          </a:p>
        </p:txBody>
      </p:sp>
      <p:sp>
        <p:nvSpPr>
          <p:cNvPr id="49156" name="Slide Number Placeholder 3">
            <a:extLst>
              <a:ext uri="{FF2B5EF4-FFF2-40B4-BE49-F238E27FC236}">
                <a16:creationId xmlns:a16="http://schemas.microsoft.com/office/drawing/2014/main" id="{88685AB5-8E12-42F1-F331-3A3521B8543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37783758-9ADE-6642-B6D4-F3F65EFBC72F}" type="slidenum">
              <a:rPr lang="en-GB" altLang="en-US" sz="1400">
                <a:solidFill>
                  <a:srgbClr val="000000"/>
                </a:solidFill>
                <a:latin typeface="Arial  " charset="0"/>
              </a:rPr>
              <a:pPr/>
              <a:t>47</a:t>
            </a:fld>
            <a:r>
              <a:rPr lang="en-GB" altLang="en-US" sz="1400">
                <a:solidFill>
                  <a:srgbClr val="000000"/>
                </a:solidFill>
                <a:latin typeface="Arial  " charset="0"/>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38E2EC48-24AB-5F07-1C17-6A92358E3BB8}"/>
              </a:ext>
            </a:extLst>
          </p:cNvPr>
          <p:cNvSpPr>
            <a:spLocks noGrp="1" noChangeArrowheads="1"/>
          </p:cNvSpPr>
          <p:nvPr>
            <p:ph type="title"/>
          </p:nvPr>
        </p:nvSpPr>
        <p:spPr/>
        <p:txBody>
          <a:bodyPr/>
          <a:lstStyle/>
          <a:p>
            <a:pPr eaLnBrk="1" hangingPunct="1"/>
            <a:r>
              <a:rPr lang="en-US" altLang="en-US" sz="2800">
                <a:latin typeface="Arial  " charset="0"/>
                <a:cs typeface="Arial  " charset="0"/>
              </a:rPr>
              <a:t>Quick Review: Shift Register</a:t>
            </a:r>
          </a:p>
        </p:txBody>
      </p:sp>
      <p:sp>
        <p:nvSpPr>
          <p:cNvPr id="20485" name="Rectangle 3">
            <a:extLst>
              <a:ext uri="{FF2B5EF4-FFF2-40B4-BE49-F238E27FC236}">
                <a16:creationId xmlns:a16="http://schemas.microsoft.com/office/drawing/2014/main" id="{AE1B3349-0562-F395-848E-96F62AD84700}"/>
              </a:ext>
            </a:extLst>
          </p:cNvPr>
          <p:cNvSpPr>
            <a:spLocks noGrp="1" noChangeArrowheads="1"/>
          </p:cNvSpPr>
          <p:nvPr>
            <p:ph type="body" sz="half" idx="1"/>
          </p:nvPr>
        </p:nvSpPr>
        <p:spPr>
          <a:xfrm>
            <a:off x="457200" y="1447800"/>
            <a:ext cx="8229600" cy="5135563"/>
          </a:xfrm>
        </p:spPr>
        <p:txBody>
          <a:bodyPr/>
          <a:lstStyle/>
          <a:p>
            <a:pPr marL="0" indent="0" eaLnBrk="1" hangingPunct="1">
              <a:buFontTx/>
              <a:buNone/>
            </a:pPr>
            <a:endParaRPr lang="en-US" altLang="en-US" sz="1600">
              <a:latin typeface="Arial  " charset="0"/>
              <a:cs typeface="Arial  " charset="0"/>
            </a:endParaRPr>
          </a:p>
          <a:p>
            <a:pPr marL="0" indent="0" eaLnBrk="1" hangingPunct="1">
              <a:buFontTx/>
              <a:buNone/>
            </a:pPr>
            <a:endParaRPr lang="en-US" altLang="en-US" sz="1600">
              <a:latin typeface="Arial  " charset="0"/>
              <a:cs typeface="Arial  " charset="0"/>
            </a:endParaRPr>
          </a:p>
          <a:p>
            <a:pPr marL="0" indent="0" eaLnBrk="1" hangingPunct="1">
              <a:buFontTx/>
              <a:buNone/>
            </a:pPr>
            <a:endParaRPr lang="en-US" altLang="en-US" sz="1600">
              <a:latin typeface="Arial  " charset="0"/>
              <a:cs typeface="Arial  " charset="0"/>
            </a:endParaRPr>
          </a:p>
          <a:p>
            <a:pPr marL="0" indent="0" eaLnBrk="1" hangingPunct="1">
              <a:buFontTx/>
              <a:buNone/>
            </a:pPr>
            <a:endParaRPr lang="en-US" altLang="en-US" sz="1600">
              <a:latin typeface="Arial  " charset="0"/>
              <a:cs typeface="Arial  " charset="0"/>
            </a:endParaRPr>
          </a:p>
          <a:p>
            <a:pPr marL="0" indent="0" eaLnBrk="1" hangingPunct="1">
              <a:buFontTx/>
              <a:buNone/>
            </a:pPr>
            <a:endParaRPr lang="en-US" altLang="en-US" sz="1600">
              <a:latin typeface="Arial  " charset="0"/>
              <a:cs typeface="Arial  " charset="0"/>
            </a:endParaRPr>
          </a:p>
          <a:p>
            <a:pPr marL="0" indent="0" eaLnBrk="1" hangingPunct="1">
              <a:buFontTx/>
              <a:buNone/>
            </a:pPr>
            <a:r>
              <a:rPr lang="en-US" altLang="en-US" sz="1600">
                <a:latin typeface="Arial  " charset="0"/>
                <a:cs typeface="Arial  " charset="0"/>
              </a:rPr>
              <a:t>	Each cycle, shift contents of this register by one bit:</a:t>
            </a:r>
          </a:p>
          <a:p>
            <a:pPr marL="0" indent="0" eaLnBrk="1" hangingPunct="1">
              <a:buFontTx/>
              <a:buNone/>
            </a:pPr>
            <a:endParaRPr lang="en-US" altLang="en-US" sz="600">
              <a:latin typeface="Arial  " charset="0"/>
              <a:cs typeface="Arial  " charset="0"/>
            </a:endParaRPr>
          </a:p>
          <a:p>
            <a:pPr marL="0" indent="0" eaLnBrk="1" hangingPunct="1">
              <a:buFontTx/>
              <a:buNone/>
            </a:pPr>
            <a:r>
              <a:rPr lang="en-US" altLang="en-US" sz="1600">
                <a:latin typeface="Arial  " charset="0"/>
                <a:cs typeface="Arial  " charset="0"/>
              </a:rPr>
              <a:t>				        In	Q1	Q2	Q3	Q4	</a:t>
            </a:r>
          </a:p>
          <a:p>
            <a:pPr marL="0" indent="0" eaLnBrk="1" hangingPunct="1">
              <a:buFontTx/>
              <a:buNone/>
            </a:pPr>
            <a:r>
              <a:rPr lang="en-US" altLang="en-US" sz="1600">
                <a:latin typeface="Arial  " charset="0"/>
                <a:cs typeface="Arial  " charset="0"/>
              </a:rPr>
              <a:t>		cycle 0		 1	 0	 0	 0	 0</a:t>
            </a:r>
          </a:p>
          <a:p>
            <a:pPr marL="0" indent="0" eaLnBrk="1" hangingPunct="1">
              <a:buFontTx/>
              <a:buNone/>
            </a:pPr>
            <a:r>
              <a:rPr lang="en-US" altLang="en-US" sz="1600">
                <a:latin typeface="Arial  " charset="0"/>
                <a:cs typeface="Arial  " charset="0"/>
              </a:rPr>
              <a:t>		cycle 1		 0	 1	 0 	 0	 0</a:t>
            </a:r>
          </a:p>
          <a:p>
            <a:pPr marL="0" indent="0" eaLnBrk="1" hangingPunct="1">
              <a:buFontTx/>
              <a:buNone/>
            </a:pPr>
            <a:r>
              <a:rPr lang="en-US" altLang="en-US" sz="1600">
                <a:latin typeface="Arial  " charset="0"/>
                <a:cs typeface="Arial  " charset="0"/>
              </a:rPr>
              <a:t>		cycle 2 		 1	 0	 1 	 0	 0</a:t>
            </a:r>
          </a:p>
          <a:p>
            <a:pPr marL="0" indent="0" eaLnBrk="1" hangingPunct="1">
              <a:buFontTx/>
              <a:buNone/>
            </a:pPr>
            <a:r>
              <a:rPr lang="en-US" altLang="en-US" sz="1600">
                <a:latin typeface="Arial  " charset="0"/>
                <a:cs typeface="Arial  " charset="0"/>
              </a:rPr>
              <a:t>		cycle 3		 1	 1 	 0 	 1	 0</a:t>
            </a:r>
          </a:p>
          <a:p>
            <a:pPr marL="0" indent="0" eaLnBrk="1" hangingPunct="1">
              <a:buFontTx/>
              <a:buNone/>
            </a:pPr>
            <a:r>
              <a:rPr lang="en-US" altLang="en-US" sz="1600">
                <a:latin typeface="Arial  " charset="0"/>
                <a:cs typeface="Arial  " charset="0"/>
              </a:rPr>
              <a:t>		cycle 4 		 0	 1	 1  	 0	 1</a:t>
            </a:r>
          </a:p>
          <a:p>
            <a:pPr marL="0" indent="0" eaLnBrk="1" hangingPunct="1">
              <a:buFontTx/>
              <a:buNone/>
            </a:pPr>
            <a:r>
              <a:rPr lang="en-US" altLang="en-US" sz="1600">
                <a:latin typeface="Arial  " charset="0"/>
                <a:cs typeface="Arial  " charset="0"/>
              </a:rPr>
              <a:t> 	        cycle 5		 0 	 0	 1	 1	 0</a:t>
            </a:r>
          </a:p>
        </p:txBody>
      </p:sp>
      <p:graphicFrame>
        <p:nvGraphicFramePr>
          <p:cNvPr id="1026" name="Object 2">
            <a:extLst>
              <a:ext uri="{FF2B5EF4-FFF2-40B4-BE49-F238E27FC236}">
                <a16:creationId xmlns:a16="http://schemas.microsoft.com/office/drawing/2014/main" id="{504B622F-FAEF-75CB-B3AD-23F72CC6317E}"/>
              </a:ext>
            </a:extLst>
          </p:cNvPr>
          <p:cNvGraphicFramePr>
            <a:graphicFrameLocks noChangeAspect="1"/>
          </p:cNvGraphicFramePr>
          <p:nvPr/>
        </p:nvGraphicFramePr>
        <p:xfrm>
          <a:off x="457200" y="762000"/>
          <a:ext cx="7924800" cy="1574800"/>
        </p:xfrm>
        <a:graphic>
          <a:graphicData uri="http://schemas.openxmlformats.org/presentationml/2006/ole">
            <mc:AlternateContent xmlns:mc="http://schemas.openxmlformats.org/markup-compatibility/2006">
              <mc:Choice xmlns:v="urn:schemas-microsoft-com:vml" Requires="v">
                <p:oleObj name="Visio" r:id="rId2" imgW="6553200" imgH="1320800" progId="Visio.Drawing.6">
                  <p:embed/>
                </p:oleObj>
              </mc:Choice>
              <mc:Fallback>
                <p:oleObj name="Visio" r:id="rId2" imgW="6553200" imgH="1320800"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762000"/>
                        <a:ext cx="7924800" cy="157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Slide Number Placeholder 10">
            <a:extLst>
              <a:ext uri="{FF2B5EF4-FFF2-40B4-BE49-F238E27FC236}">
                <a16:creationId xmlns:a16="http://schemas.microsoft.com/office/drawing/2014/main" id="{B6189669-EC2D-9F12-6B42-99C039CAAE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1400">
                <a:solidFill>
                  <a:srgbClr val="000000"/>
                </a:solidFill>
                <a:latin typeface="Arial  " charset="0"/>
              </a:rPr>
              <a:t>Slide Set 9, Page </a:t>
            </a:r>
            <a:fld id="{C536B203-0D41-214F-BCA9-FFC881AA56D2}" type="slidenum">
              <a:rPr lang="en-US" altLang="en-US" sz="1400">
                <a:solidFill>
                  <a:srgbClr val="000000"/>
                </a:solidFill>
                <a:latin typeface="Arial  " charset="0"/>
              </a:rPr>
              <a:pPr/>
              <a:t>48</a:t>
            </a:fld>
            <a:endParaRPr lang="en-US" altLang="en-US" sz="1400">
              <a:solidFill>
                <a:schemeClr val="tx1"/>
              </a:solidFill>
              <a:latin typeface="Arial  "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5">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5">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5">
                                            <p:txEl>
                                              <p:pRg st="8" end="8"/>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5">
                                            <p:txEl>
                                              <p:pRg st="9" end="9"/>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85">
                                            <p:txEl>
                                              <p:pRg st="10" end="1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485">
                                            <p:txEl>
                                              <p:pRg st="11" end="11"/>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485">
                                            <p:txEl>
                                              <p:pRg st="12" end="12"/>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48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p:bldP spid="2048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1">
            <a:extLst>
              <a:ext uri="{FF2B5EF4-FFF2-40B4-BE49-F238E27FC236}">
                <a16:creationId xmlns:a16="http://schemas.microsoft.com/office/drawing/2014/main" id="{0D94FC7F-FBB7-F06E-2583-6023CBAC1818}"/>
              </a:ext>
            </a:extLst>
          </p:cNvPr>
          <p:cNvSpPr>
            <a:spLocks noGrp="1" noChangeArrowheads="1"/>
          </p:cNvSpPr>
          <p:nvPr>
            <p:ph type="title"/>
          </p:nvPr>
        </p:nvSpPr>
        <p:spPr>
          <a:xfrm>
            <a:off x="446749" y="-8319"/>
            <a:ext cx="7772400" cy="1333946"/>
          </a:xfrm>
        </p:spPr>
        <p:txBody>
          <a:bodyPr/>
          <a:lstStyle/>
          <a:p>
            <a:pPr eaLnBrk="1" hangingPunct="1">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sz="2600" dirty="0">
                <a:latin typeface="Arial  " charset="0"/>
                <a:cs typeface="Arial  " charset="0"/>
              </a:rPr>
              <a:t>Increase “History Length” - </a:t>
            </a:r>
            <a:r>
              <a:rPr lang="en-US" sz="2600" dirty="0" err="1"/>
              <a:t>gselect</a:t>
            </a:r>
            <a:r>
              <a:rPr lang="en-US" sz="2600" dirty="0"/>
              <a:t> branch predictor</a:t>
            </a:r>
            <a:br>
              <a:rPr lang="en-GB" altLang="en-US" sz="2600" dirty="0">
                <a:latin typeface="Arial  " charset="0"/>
                <a:cs typeface="Arial  " charset="0"/>
              </a:rPr>
            </a:br>
            <a:r>
              <a:rPr lang="en-GB" altLang="en-US" sz="2600" dirty="0">
                <a:latin typeface="Arial  " charset="0"/>
                <a:cs typeface="Arial  " charset="0"/>
              </a:rPr>
              <a:t>(e.g., correlate against last 2 branches)</a:t>
            </a:r>
          </a:p>
        </p:txBody>
      </p:sp>
      <p:pic>
        <p:nvPicPr>
          <p:cNvPr id="2052" name="Picture 2">
            <a:extLst>
              <a:ext uri="{FF2B5EF4-FFF2-40B4-BE49-F238E27FC236}">
                <a16:creationId xmlns:a16="http://schemas.microsoft.com/office/drawing/2014/main" id="{D6320867-E1A9-3BB3-FAD9-8F32752DEF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8963" y="1438275"/>
            <a:ext cx="4464050" cy="433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2053" name="Text Box 3">
            <a:extLst>
              <a:ext uri="{FF2B5EF4-FFF2-40B4-BE49-F238E27FC236}">
                <a16:creationId xmlns:a16="http://schemas.microsoft.com/office/drawing/2014/main" id="{76EE0793-05E1-298D-6849-CCACEF1F2F94}"/>
              </a:ext>
            </a:extLst>
          </p:cNvPr>
          <p:cNvSpPr txBox="1">
            <a:spLocks noChangeArrowheads="1"/>
          </p:cNvSpPr>
          <p:nvPr/>
        </p:nvSpPr>
        <p:spPr bwMode="auto">
          <a:xfrm>
            <a:off x="1143000" y="2362200"/>
            <a:ext cx="2336800" cy="163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Font typeface="Courier New" panose="02070309020205020404" pitchFamily="49" charset="0"/>
              <a:buNone/>
            </a:pPr>
            <a:r>
              <a:rPr lang="en-GB" altLang="en-US" sz="2000" b="1">
                <a:solidFill>
                  <a:srgbClr val="000000"/>
                </a:solidFill>
                <a:latin typeface="Courier New" panose="02070309020205020404" pitchFamily="49" charset="0"/>
              </a:rPr>
              <a:t>if( </a:t>
            </a:r>
            <a:r>
              <a:rPr lang="en-GB" altLang="en-US" sz="2000" b="1">
                <a:solidFill>
                  <a:srgbClr val="0000FF"/>
                </a:solidFill>
                <a:latin typeface="Courier New" panose="02070309020205020404" pitchFamily="49" charset="0"/>
              </a:rPr>
              <a:t>aa</a:t>
            </a:r>
            <a:r>
              <a:rPr lang="en-GB" altLang="en-US" sz="2000" b="1">
                <a:solidFill>
                  <a:srgbClr val="000000"/>
                </a:solidFill>
                <a:latin typeface="Courier New" panose="02070309020205020404" pitchFamily="49" charset="0"/>
              </a:rPr>
              <a:t>==2 )</a:t>
            </a:r>
          </a:p>
          <a:p>
            <a:pPr>
              <a:lnSpc>
                <a:spcPct val="100000"/>
              </a:lnSpc>
              <a:buFont typeface="Courier New" panose="02070309020205020404" pitchFamily="49" charset="0"/>
              <a:buNone/>
            </a:pPr>
            <a:r>
              <a:rPr lang="en-GB" altLang="en-US" sz="2000" b="1">
                <a:solidFill>
                  <a:srgbClr val="000000"/>
                </a:solidFill>
                <a:latin typeface="Courier New" panose="02070309020205020404" pitchFamily="49" charset="0"/>
              </a:rPr>
              <a:t>  	</a:t>
            </a:r>
            <a:r>
              <a:rPr lang="en-GB" altLang="en-US" sz="2000" b="1">
                <a:solidFill>
                  <a:srgbClr val="0000FF"/>
                </a:solidFill>
                <a:latin typeface="Courier New" panose="02070309020205020404" pitchFamily="49" charset="0"/>
              </a:rPr>
              <a:t>aa</a:t>
            </a:r>
            <a:r>
              <a:rPr lang="en-GB" altLang="en-US" sz="2000" b="1">
                <a:solidFill>
                  <a:srgbClr val="FF00FF"/>
                </a:solidFill>
                <a:latin typeface="Courier New" panose="02070309020205020404" pitchFamily="49" charset="0"/>
              </a:rPr>
              <a:t>=0</a:t>
            </a:r>
            <a:r>
              <a:rPr lang="en-GB" altLang="en-US" sz="2000" b="1">
                <a:solidFill>
                  <a:srgbClr val="000000"/>
                </a:solidFill>
                <a:latin typeface="Courier New" panose="02070309020205020404" pitchFamily="49" charset="0"/>
              </a:rPr>
              <a:t>;</a:t>
            </a:r>
          </a:p>
          <a:p>
            <a:pPr>
              <a:lnSpc>
                <a:spcPct val="100000"/>
              </a:lnSpc>
              <a:buFont typeface="Courier New" panose="02070309020205020404" pitchFamily="49" charset="0"/>
              <a:buNone/>
            </a:pPr>
            <a:r>
              <a:rPr lang="en-GB" altLang="en-US" sz="2000" b="1">
                <a:solidFill>
                  <a:srgbClr val="000000"/>
                </a:solidFill>
                <a:latin typeface="Courier New" panose="02070309020205020404" pitchFamily="49" charset="0"/>
              </a:rPr>
              <a:t>if( </a:t>
            </a:r>
            <a:r>
              <a:rPr lang="en-GB" altLang="en-US" sz="2000" b="1">
                <a:solidFill>
                  <a:srgbClr val="FF0000"/>
                </a:solidFill>
                <a:latin typeface="Courier New" panose="02070309020205020404" pitchFamily="49" charset="0"/>
              </a:rPr>
              <a:t>bb</a:t>
            </a:r>
            <a:r>
              <a:rPr lang="en-GB" altLang="en-US" sz="2000" b="1">
                <a:solidFill>
                  <a:srgbClr val="000000"/>
                </a:solidFill>
                <a:latin typeface="Courier New" panose="02070309020205020404" pitchFamily="49" charset="0"/>
              </a:rPr>
              <a:t>==2 )</a:t>
            </a:r>
          </a:p>
          <a:p>
            <a:pPr>
              <a:lnSpc>
                <a:spcPct val="100000"/>
              </a:lnSpc>
              <a:buFont typeface="Courier New" panose="02070309020205020404" pitchFamily="49" charset="0"/>
              <a:buNone/>
            </a:pPr>
            <a:r>
              <a:rPr lang="en-GB" altLang="en-US" sz="2000" b="1">
                <a:solidFill>
                  <a:srgbClr val="000000"/>
                </a:solidFill>
                <a:latin typeface="Courier New" panose="02070309020205020404" pitchFamily="49" charset="0"/>
              </a:rPr>
              <a:t>	   </a:t>
            </a:r>
            <a:r>
              <a:rPr lang="en-GB" altLang="en-US" sz="2000" b="1">
                <a:solidFill>
                  <a:srgbClr val="FF0000"/>
                </a:solidFill>
                <a:latin typeface="Courier New" panose="02070309020205020404" pitchFamily="49" charset="0"/>
              </a:rPr>
              <a:t>bb</a:t>
            </a:r>
            <a:r>
              <a:rPr lang="en-GB" altLang="en-US" sz="2000" b="1">
                <a:solidFill>
                  <a:srgbClr val="FF00FF"/>
                </a:solidFill>
                <a:latin typeface="Courier New" panose="02070309020205020404" pitchFamily="49" charset="0"/>
              </a:rPr>
              <a:t>=0</a:t>
            </a:r>
            <a:r>
              <a:rPr lang="en-GB" altLang="en-US" sz="2000" b="1">
                <a:solidFill>
                  <a:srgbClr val="000000"/>
                </a:solidFill>
                <a:latin typeface="Courier New" panose="02070309020205020404" pitchFamily="49" charset="0"/>
              </a:rPr>
              <a:t>;</a:t>
            </a:r>
          </a:p>
          <a:p>
            <a:pPr>
              <a:lnSpc>
                <a:spcPct val="100000"/>
              </a:lnSpc>
              <a:buFont typeface="Courier New" panose="02070309020205020404" pitchFamily="49" charset="0"/>
              <a:buNone/>
            </a:pPr>
            <a:r>
              <a:rPr lang="en-GB" altLang="en-US" sz="2000" b="1">
                <a:solidFill>
                  <a:srgbClr val="000000"/>
                </a:solidFill>
                <a:latin typeface="Courier New" panose="02070309020205020404" pitchFamily="49" charset="0"/>
              </a:rPr>
              <a:t>if(</a:t>
            </a:r>
            <a:r>
              <a:rPr lang="en-GB" altLang="en-US" sz="2000" b="1">
                <a:solidFill>
                  <a:srgbClr val="FF0000"/>
                </a:solidFill>
                <a:latin typeface="Courier New" panose="02070309020205020404" pitchFamily="49" charset="0"/>
              </a:rPr>
              <a:t> </a:t>
            </a:r>
            <a:r>
              <a:rPr lang="en-GB" altLang="en-US" sz="2000" b="1">
                <a:solidFill>
                  <a:srgbClr val="0000FF"/>
                </a:solidFill>
                <a:latin typeface="Courier New" panose="02070309020205020404" pitchFamily="49" charset="0"/>
              </a:rPr>
              <a:t>aa</a:t>
            </a:r>
            <a:r>
              <a:rPr lang="en-GB" altLang="en-US" sz="2000" b="1">
                <a:solidFill>
                  <a:srgbClr val="000000"/>
                </a:solidFill>
                <a:latin typeface="Courier New" panose="02070309020205020404" pitchFamily="49" charset="0"/>
              </a:rPr>
              <a:t>!=</a:t>
            </a:r>
            <a:r>
              <a:rPr lang="en-GB" altLang="en-US" sz="2000" b="1">
                <a:solidFill>
                  <a:srgbClr val="FF0000"/>
                </a:solidFill>
                <a:latin typeface="Courier New" panose="02070309020205020404" pitchFamily="49" charset="0"/>
              </a:rPr>
              <a:t>bb </a:t>
            </a:r>
            <a:r>
              <a:rPr lang="en-GB" altLang="en-US" sz="2000" b="1">
                <a:solidFill>
                  <a:srgbClr val="000000"/>
                </a:solidFill>
                <a:latin typeface="Courier New" panose="02070309020205020404" pitchFamily="49" charset="0"/>
              </a:rPr>
              <a:t>) {</a:t>
            </a:r>
          </a:p>
        </p:txBody>
      </p:sp>
      <p:sp>
        <p:nvSpPr>
          <p:cNvPr id="2054" name="Text Box 4">
            <a:extLst>
              <a:ext uri="{FF2B5EF4-FFF2-40B4-BE49-F238E27FC236}">
                <a16:creationId xmlns:a16="http://schemas.microsoft.com/office/drawing/2014/main" id="{146CD654-0BB1-1D72-0525-27A9B0A86987}"/>
              </a:ext>
            </a:extLst>
          </p:cNvPr>
          <p:cNvSpPr txBox="1">
            <a:spLocks noChangeArrowheads="1"/>
          </p:cNvSpPr>
          <p:nvPr/>
        </p:nvSpPr>
        <p:spPr bwMode="auto">
          <a:xfrm>
            <a:off x="982663" y="4316413"/>
            <a:ext cx="2457450"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panose="020B0604020202020204" pitchFamily="34" charset="0"/>
                <a:ea typeface="MS PGothic" panose="020B0600070205080204" pitchFamily="34" charset="-128"/>
              </a:defRPr>
            </a:lvl9pPr>
          </a:lstStyle>
          <a:p>
            <a:pPr>
              <a:lnSpc>
                <a:spcPct val="100000"/>
              </a:lnSpc>
              <a:buClr>
                <a:srgbClr val="FF0000"/>
              </a:buClr>
              <a:buFont typeface="Comic Sans MS" panose="030F0902030302020204" pitchFamily="66" charset="0"/>
              <a:buNone/>
            </a:pPr>
            <a:r>
              <a:rPr lang="en-GB" altLang="en-US">
                <a:solidFill>
                  <a:srgbClr val="FF0000"/>
                </a:solidFill>
                <a:cs typeface="Arial" panose="020B0604020202020204" pitchFamily="34" charset="0"/>
              </a:rPr>
              <a:t>goal: want better</a:t>
            </a:r>
          </a:p>
          <a:p>
            <a:pPr>
              <a:lnSpc>
                <a:spcPct val="100000"/>
              </a:lnSpc>
              <a:buClr>
                <a:srgbClr val="FF0000"/>
              </a:buClr>
              <a:buFont typeface="Comic Sans MS" panose="030F0902030302020204" pitchFamily="66" charset="0"/>
              <a:buNone/>
            </a:pPr>
            <a:r>
              <a:rPr lang="en-GB" altLang="en-US">
                <a:solidFill>
                  <a:srgbClr val="FF0000"/>
                </a:solidFill>
                <a:cs typeface="Arial" panose="020B0604020202020204" pitchFamily="34" charset="0"/>
              </a:rPr>
              <a:t>prediction for </a:t>
            </a:r>
          </a:p>
          <a:p>
            <a:pPr>
              <a:lnSpc>
                <a:spcPct val="100000"/>
              </a:lnSpc>
              <a:buClr>
                <a:srgbClr val="FF0000"/>
              </a:buClr>
              <a:buFont typeface="Comic Sans MS" panose="030F0902030302020204" pitchFamily="66" charset="0"/>
              <a:buNone/>
            </a:pPr>
            <a:r>
              <a:rPr lang="en-GB" altLang="en-US">
                <a:solidFill>
                  <a:srgbClr val="FF0000"/>
                </a:solidFill>
                <a:cs typeface="Arial" panose="020B0604020202020204" pitchFamily="34" charset="0"/>
              </a:rPr>
              <a:t>this branch</a:t>
            </a:r>
          </a:p>
        </p:txBody>
      </p:sp>
      <p:sp>
        <p:nvSpPr>
          <p:cNvPr id="2055" name="Freeform 5">
            <a:extLst>
              <a:ext uri="{FF2B5EF4-FFF2-40B4-BE49-F238E27FC236}">
                <a16:creationId xmlns:a16="http://schemas.microsoft.com/office/drawing/2014/main" id="{FF236971-185F-1582-33F7-226C6EF2E08B}"/>
              </a:ext>
            </a:extLst>
          </p:cNvPr>
          <p:cNvSpPr>
            <a:spLocks/>
          </p:cNvSpPr>
          <p:nvPr/>
        </p:nvSpPr>
        <p:spPr bwMode="auto">
          <a:xfrm>
            <a:off x="573088" y="3775075"/>
            <a:ext cx="563562" cy="812800"/>
          </a:xfrm>
          <a:custGeom>
            <a:avLst/>
            <a:gdLst>
              <a:gd name="T0" fmla="*/ 2147483647 w 355"/>
              <a:gd name="T1" fmla="*/ 2147483647 h 512"/>
              <a:gd name="T2" fmla="*/ 2147483647 w 355"/>
              <a:gd name="T3" fmla="*/ 2147483647 h 512"/>
              <a:gd name="T4" fmla="*/ 2147483647 w 355"/>
              <a:gd name="T5" fmla="*/ 2147483647 h 512"/>
              <a:gd name="T6" fmla="*/ 2147483647 w 355"/>
              <a:gd name="T7" fmla="*/ 2147483647 h 512"/>
              <a:gd name="T8" fmla="*/ 2147483647 w 355"/>
              <a:gd name="T9" fmla="*/ 0 h 512"/>
              <a:gd name="T10" fmla="*/ 0 60000 65536"/>
              <a:gd name="T11" fmla="*/ 0 60000 65536"/>
              <a:gd name="T12" fmla="*/ 0 60000 65536"/>
              <a:gd name="T13" fmla="*/ 0 60000 65536"/>
              <a:gd name="T14" fmla="*/ 0 60000 65536"/>
              <a:gd name="T15" fmla="*/ 0 w 355"/>
              <a:gd name="T16" fmla="*/ 0 h 512"/>
              <a:gd name="T17" fmla="*/ 355 w 355"/>
              <a:gd name="T18" fmla="*/ 512 h 512"/>
            </a:gdLst>
            <a:ahLst/>
            <a:cxnLst>
              <a:cxn ang="T10">
                <a:pos x="T0" y="T1"/>
              </a:cxn>
              <a:cxn ang="T11">
                <a:pos x="T2" y="T3"/>
              </a:cxn>
              <a:cxn ang="T12">
                <a:pos x="T4" y="T5"/>
              </a:cxn>
              <a:cxn ang="T13">
                <a:pos x="T6" y="T7"/>
              </a:cxn>
              <a:cxn ang="T14">
                <a:pos x="T8" y="T9"/>
              </a:cxn>
            </a:cxnLst>
            <a:rect l="T15" t="T16" r="T17" b="T18"/>
            <a:pathLst>
              <a:path w="355" h="512">
                <a:moveTo>
                  <a:pt x="171" y="512"/>
                </a:moveTo>
                <a:cubicBezTo>
                  <a:pt x="120" y="491"/>
                  <a:pt x="70" y="471"/>
                  <a:pt x="43" y="424"/>
                </a:cubicBezTo>
                <a:cubicBezTo>
                  <a:pt x="16" y="377"/>
                  <a:pt x="0" y="293"/>
                  <a:pt x="11" y="232"/>
                </a:cubicBezTo>
                <a:cubicBezTo>
                  <a:pt x="22" y="171"/>
                  <a:pt x="50" y="95"/>
                  <a:pt x="107" y="56"/>
                </a:cubicBezTo>
                <a:cubicBezTo>
                  <a:pt x="164" y="17"/>
                  <a:pt x="259" y="8"/>
                  <a:pt x="355" y="0"/>
                </a:cubicBezTo>
              </a:path>
            </a:pathLst>
          </a:custGeom>
          <a:noFill/>
          <a:ln w="3816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56" name="Text Box 7">
            <a:extLst>
              <a:ext uri="{FF2B5EF4-FFF2-40B4-BE49-F238E27FC236}">
                <a16:creationId xmlns:a16="http://schemas.microsoft.com/office/drawing/2014/main" id="{15FE7D7C-CAFD-5175-2127-A58407BD5334}"/>
              </a:ext>
            </a:extLst>
          </p:cNvPr>
          <p:cNvSpPr txBox="1">
            <a:spLocks noChangeArrowheads="1"/>
          </p:cNvSpPr>
          <p:nvPr/>
        </p:nvSpPr>
        <p:spPr bwMode="auto">
          <a:xfrm>
            <a:off x="228600" y="1524000"/>
            <a:ext cx="42672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US" altLang="en-US" sz="2000">
                <a:solidFill>
                  <a:srgbClr val="FF0000"/>
                </a:solidFill>
                <a:cs typeface="Arial" panose="020B0604020202020204" pitchFamily="34" charset="0"/>
              </a:rPr>
              <a:t>Real code example from SPEC89 </a:t>
            </a:r>
          </a:p>
          <a:p>
            <a:r>
              <a:rPr lang="en-US" altLang="en-US" sz="2000">
                <a:solidFill>
                  <a:srgbClr val="FF0000"/>
                </a:solidFill>
                <a:cs typeface="Arial" panose="020B0604020202020204" pitchFamily="34" charset="0"/>
              </a:rPr>
              <a:t>benchmark “eqnott”:</a:t>
            </a:r>
            <a:endParaRPr lang="en-US" altLang="en-US" sz="2000">
              <a:cs typeface="Arial" panose="020B0604020202020204" pitchFamily="34" charset="0"/>
            </a:endParaRPr>
          </a:p>
        </p:txBody>
      </p:sp>
      <p:sp>
        <p:nvSpPr>
          <p:cNvPr id="2057" name="TextBox 8">
            <a:extLst>
              <a:ext uri="{FF2B5EF4-FFF2-40B4-BE49-F238E27FC236}">
                <a16:creationId xmlns:a16="http://schemas.microsoft.com/office/drawing/2014/main" id="{2C91F98E-4561-DA77-3E12-EACF6FEC97C3}"/>
              </a:ext>
            </a:extLst>
          </p:cNvPr>
          <p:cNvSpPr txBox="1">
            <a:spLocks noChangeArrowheads="1"/>
          </p:cNvSpPr>
          <p:nvPr/>
        </p:nvSpPr>
        <p:spPr bwMode="auto">
          <a:xfrm>
            <a:off x="528638" y="5756275"/>
            <a:ext cx="6018212"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a:solidFill>
                  <a:srgbClr val="FF0000"/>
                </a:solidFill>
              </a:rPr>
              <a:t>Global branch history = </a:t>
            </a:r>
            <a:r>
              <a:rPr lang="en-CA" altLang="en-US" b="1" u="sng">
                <a:solidFill>
                  <a:srgbClr val="FF0000"/>
                </a:solidFill>
              </a:rPr>
              <a:t>shift register</a:t>
            </a:r>
            <a:r>
              <a:rPr lang="en-CA" altLang="en-US" b="1">
                <a:solidFill>
                  <a:srgbClr val="FF0000"/>
                </a:solidFill>
              </a:rPr>
              <a:t> </a:t>
            </a:r>
            <a:r>
              <a:rPr lang="en-CA" altLang="en-US">
                <a:solidFill>
                  <a:srgbClr val="FF0000"/>
                </a:solidFill>
              </a:rPr>
              <a:t>(recall from 353) “Shift in” branch outcomes of </a:t>
            </a:r>
            <a:r>
              <a:rPr lang="en-CA" altLang="en-US" b="1" u="sng">
                <a:solidFill>
                  <a:srgbClr val="FF0000"/>
                </a:solidFill>
              </a:rPr>
              <a:t>earlier</a:t>
            </a:r>
            <a:r>
              <a:rPr lang="en-CA" altLang="en-US" b="1">
                <a:solidFill>
                  <a:srgbClr val="FF0000"/>
                </a:solidFill>
              </a:rPr>
              <a:t> </a:t>
            </a:r>
            <a:r>
              <a:rPr lang="en-CA" altLang="en-US">
                <a:solidFill>
                  <a:srgbClr val="FF0000"/>
                </a:solidFill>
              </a:rPr>
              <a:t>branches.</a:t>
            </a:r>
          </a:p>
        </p:txBody>
      </p:sp>
      <p:sp>
        <p:nvSpPr>
          <p:cNvPr id="10" name="Rectangle 9">
            <a:extLst>
              <a:ext uri="{FF2B5EF4-FFF2-40B4-BE49-F238E27FC236}">
                <a16:creationId xmlns:a16="http://schemas.microsoft.com/office/drawing/2014/main" id="{5F95AD1E-5239-442C-52B6-0E918034CB56}"/>
              </a:ext>
            </a:extLst>
          </p:cNvPr>
          <p:cNvSpPr>
            <a:spLocks noChangeArrowheads="1"/>
          </p:cNvSpPr>
          <p:nvPr/>
        </p:nvSpPr>
        <p:spPr bwMode="auto">
          <a:xfrm>
            <a:off x="0" y="5768975"/>
            <a:ext cx="6559550" cy="1089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grpSp>
        <p:nvGrpSpPr>
          <p:cNvPr id="2061" name="Group 14">
            <a:extLst>
              <a:ext uri="{FF2B5EF4-FFF2-40B4-BE49-F238E27FC236}">
                <a16:creationId xmlns:a16="http://schemas.microsoft.com/office/drawing/2014/main" id="{DB98166D-679D-305D-3A06-DE712CE6EA00}"/>
              </a:ext>
            </a:extLst>
          </p:cNvPr>
          <p:cNvGrpSpPr>
            <a:grpSpLocks noChangeAspect="1"/>
          </p:cNvGrpSpPr>
          <p:nvPr/>
        </p:nvGrpSpPr>
        <p:grpSpPr bwMode="auto">
          <a:xfrm>
            <a:off x="7751763" y="1162050"/>
            <a:ext cx="1219200" cy="1847850"/>
            <a:chOff x="420817" y="1046163"/>
            <a:chExt cx="3693505" cy="5598778"/>
          </a:xfrm>
        </p:grpSpPr>
        <p:sp>
          <p:nvSpPr>
            <p:cNvPr id="2071" name="Oval 2">
              <a:extLst>
                <a:ext uri="{FF2B5EF4-FFF2-40B4-BE49-F238E27FC236}">
                  <a16:creationId xmlns:a16="http://schemas.microsoft.com/office/drawing/2014/main" id="{CA811FDE-67EE-7CFC-A2B1-53E3939F925A}"/>
                </a:ext>
              </a:extLst>
            </p:cNvPr>
            <p:cNvSpPr>
              <a:spLocks noChangeArrowheads="1"/>
            </p:cNvSpPr>
            <p:nvPr/>
          </p:nvSpPr>
          <p:spPr bwMode="auto">
            <a:xfrm>
              <a:off x="1300163" y="2776538"/>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T</a:t>
              </a:r>
            </a:p>
            <a:p>
              <a:pPr algn="ctr" eaLnBrk="1" hangingPunct="1">
                <a:lnSpc>
                  <a:spcPct val="100000"/>
                </a:lnSpc>
              </a:pPr>
              <a:r>
                <a:rPr lang="en-GB" altLang="en-US" sz="900" b="1">
                  <a:solidFill>
                    <a:srgbClr val="000000"/>
                  </a:solidFill>
                </a:rPr>
                <a:t>10</a:t>
              </a:r>
            </a:p>
          </p:txBody>
        </p:sp>
        <p:sp>
          <p:nvSpPr>
            <p:cNvPr id="2072" name="Oval 6">
              <a:extLst>
                <a:ext uri="{FF2B5EF4-FFF2-40B4-BE49-F238E27FC236}">
                  <a16:creationId xmlns:a16="http://schemas.microsoft.com/office/drawing/2014/main" id="{DA9A938D-0839-D2AF-8C51-3A0822DEBA4A}"/>
                </a:ext>
              </a:extLst>
            </p:cNvPr>
            <p:cNvSpPr>
              <a:spLocks noChangeArrowheads="1"/>
            </p:cNvSpPr>
            <p:nvPr/>
          </p:nvSpPr>
          <p:spPr bwMode="auto">
            <a:xfrm>
              <a:off x="1304925" y="4579938"/>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NT</a:t>
              </a:r>
            </a:p>
            <a:p>
              <a:pPr algn="ctr" eaLnBrk="1" hangingPunct="1">
                <a:lnSpc>
                  <a:spcPct val="100000"/>
                </a:lnSpc>
              </a:pPr>
              <a:r>
                <a:rPr lang="en-GB" altLang="en-US" sz="900" b="1">
                  <a:solidFill>
                    <a:srgbClr val="000000"/>
                  </a:solidFill>
                </a:rPr>
                <a:t>00</a:t>
              </a:r>
            </a:p>
          </p:txBody>
        </p:sp>
        <p:sp>
          <p:nvSpPr>
            <p:cNvPr id="2073" name="Oval 7">
              <a:extLst>
                <a:ext uri="{FF2B5EF4-FFF2-40B4-BE49-F238E27FC236}">
                  <a16:creationId xmlns:a16="http://schemas.microsoft.com/office/drawing/2014/main" id="{87D967A4-2EDB-5F18-74BC-61D96492E839}"/>
                </a:ext>
              </a:extLst>
            </p:cNvPr>
            <p:cNvSpPr>
              <a:spLocks noChangeArrowheads="1"/>
            </p:cNvSpPr>
            <p:nvPr/>
          </p:nvSpPr>
          <p:spPr bwMode="auto">
            <a:xfrm>
              <a:off x="1317625" y="372745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NT</a:t>
              </a:r>
            </a:p>
            <a:p>
              <a:pPr algn="ctr" eaLnBrk="1" hangingPunct="1">
                <a:lnSpc>
                  <a:spcPct val="100000"/>
                </a:lnSpc>
              </a:pPr>
              <a:r>
                <a:rPr lang="en-GB" altLang="en-US" sz="900" b="1">
                  <a:solidFill>
                    <a:srgbClr val="000000"/>
                  </a:solidFill>
                </a:rPr>
                <a:t>01</a:t>
              </a:r>
            </a:p>
          </p:txBody>
        </p:sp>
        <p:sp>
          <p:nvSpPr>
            <p:cNvPr id="2074" name="Oval 10">
              <a:extLst>
                <a:ext uri="{FF2B5EF4-FFF2-40B4-BE49-F238E27FC236}">
                  <a16:creationId xmlns:a16="http://schemas.microsoft.com/office/drawing/2014/main" id="{A106582D-3231-A7DE-4380-0481EE66C473}"/>
                </a:ext>
              </a:extLst>
            </p:cNvPr>
            <p:cNvSpPr>
              <a:spLocks noChangeArrowheads="1"/>
            </p:cNvSpPr>
            <p:nvPr/>
          </p:nvSpPr>
          <p:spPr bwMode="auto">
            <a:xfrm>
              <a:off x="1312863" y="182245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T</a:t>
              </a:r>
            </a:p>
            <a:p>
              <a:pPr algn="ctr" eaLnBrk="1" hangingPunct="1">
                <a:lnSpc>
                  <a:spcPct val="100000"/>
                </a:lnSpc>
              </a:pPr>
              <a:r>
                <a:rPr lang="en-GB" altLang="en-US" sz="900" b="1">
                  <a:solidFill>
                    <a:srgbClr val="000000"/>
                  </a:solidFill>
                </a:rPr>
                <a:t>11</a:t>
              </a:r>
            </a:p>
          </p:txBody>
        </p:sp>
        <p:sp>
          <p:nvSpPr>
            <p:cNvPr id="2075" name="AutoShape 14">
              <a:extLst>
                <a:ext uri="{FF2B5EF4-FFF2-40B4-BE49-F238E27FC236}">
                  <a16:creationId xmlns:a16="http://schemas.microsoft.com/office/drawing/2014/main" id="{4F928F43-7424-1C4E-F48B-4EA91E031B24}"/>
                </a:ext>
              </a:extLst>
            </p:cNvPr>
            <p:cNvSpPr>
              <a:spLocks noChangeArrowheads="1"/>
            </p:cNvSpPr>
            <p:nvPr/>
          </p:nvSpPr>
          <p:spPr bwMode="auto">
            <a:xfrm rot="-5400000">
              <a:off x="871538" y="4378325"/>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076" name="AutoShape 21">
              <a:extLst>
                <a:ext uri="{FF2B5EF4-FFF2-40B4-BE49-F238E27FC236}">
                  <a16:creationId xmlns:a16="http://schemas.microsoft.com/office/drawing/2014/main" id="{BB99BF30-7AF1-0E10-3D67-4C6E735CF89A}"/>
                </a:ext>
              </a:extLst>
            </p:cNvPr>
            <p:cNvSpPr>
              <a:spLocks noChangeArrowheads="1"/>
            </p:cNvSpPr>
            <p:nvPr/>
          </p:nvSpPr>
          <p:spPr bwMode="auto">
            <a:xfrm rot="5400000">
              <a:off x="2297113" y="4275138"/>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2077" name="Text Box 26">
              <a:extLst>
                <a:ext uri="{FF2B5EF4-FFF2-40B4-BE49-F238E27FC236}">
                  <a16:creationId xmlns:a16="http://schemas.microsoft.com/office/drawing/2014/main" id="{A26DA077-5E3E-6EDF-2802-B2A175F61504}"/>
                </a:ext>
              </a:extLst>
            </p:cNvPr>
            <p:cNvSpPr txBox="1">
              <a:spLocks noChangeArrowheads="1"/>
            </p:cNvSpPr>
            <p:nvPr/>
          </p:nvSpPr>
          <p:spPr bwMode="auto">
            <a:xfrm>
              <a:off x="3062289" y="4351338"/>
              <a:ext cx="1017109"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2078" name="Text Box 28">
              <a:extLst>
                <a:ext uri="{FF2B5EF4-FFF2-40B4-BE49-F238E27FC236}">
                  <a16:creationId xmlns:a16="http://schemas.microsoft.com/office/drawing/2014/main" id="{AE7FCEBF-F662-FA9C-A64A-28967FD053EB}"/>
                </a:ext>
              </a:extLst>
            </p:cNvPr>
            <p:cNvSpPr txBox="1">
              <a:spLocks noChangeArrowheads="1"/>
            </p:cNvSpPr>
            <p:nvPr/>
          </p:nvSpPr>
          <p:spPr bwMode="auto">
            <a:xfrm>
              <a:off x="450981" y="4300538"/>
              <a:ext cx="764515"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2079" name="AutoShape 4">
              <a:extLst>
                <a:ext uri="{FF2B5EF4-FFF2-40B4-BE49-F238E27FC236}">
                  <a16:creationId xmlns:a16="http://schemas.microsoft.com/office/drawing/2014/main" id="{78DF4F50-EAAC-CA06-B60D-154A937581D5}"/>
                </a:ext>
              </a:extLst>
            </p:cNvPr>
            <p:cNvSpPr>
              <a:spLocks noChangeArrowheads="1"/>
            </p:cNvSpPr>
            <p:nvPr/>
          </p:nvSpPr>
          <p:spPr bwMode="auto">
            <a:xfrm rot="10800000">
              <a:off x="1571625" y="5292725"/>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2080" name="AutoShape 11">
              <a:extLst>
                <a:ext uri="{FF2B5EF4-FFF2-40B4-BE49-F238E27FC236}">
                  <a16:creationId xmlns:a16="http://schemas.microsoft.com/office/drawing/2014/main" id="{BED2ED3B-CE8E-513F-2EA1-EE7317210154}"/>
                </a:ext>
              </a:extLst>
            </p:cNvPr>
            <p:cNvSpPr>
              <a:spLocks noChangeArrowheads="1"/>
            </p:cNvSpPr>
            <p:nvPr/>
          </p:nvSpPr>
          <p:spPr bwMode="auto">
            <a:xfrm rot="10800000" flipH="1" flipV="1">
              <a:off x="1554163" y="1452563"/>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081" name="Text Box 34">
              <a:extLst>
                <a:ext uri="{FF2B5EF4-FFF2-40B4-BE49-F238E27FC236}">
                  <a16:creationId xmlns:a16="http://schemas.microsoft.com/office/drawing/2014/main" id="{90344523-628C-39BB-1BBD-681A777D27A8}"/>
                </a:ext>
              </a:extLst>
            </p:cNvPr>
            <p:cNvSpPr txBox="1">
              <a:spLocks noChangeArrowheads="1"/>
            </p:cNvSpPr>
            <p:nvPr/>
          </p:nvSpPr>
          <p:spPr bwMode="auto">
            <a:xfrm>
              <a:off x="1836738" y="1046163"/>
              <a:ext cx="764515"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2082" name="Text Box 37">
              <a:extLst>
                <a:ext uri="{FF2B5EF4-FFF2-40B4-BE49-F238E27FC236}">
                  <a16:creationId xmlns:a16="http://schemas.microsoft.com/office/drawing/2014/main" id="{1D636ED2-84CA-6E95-21DF-354E675A064D}"/>
                </a:ext>
              </a:extLst>
            </p:cNvPr>
            <p:cNvSpPr txBox="1">
              <a:spLocks noChangeArrowheads="1"/>
            </p:cNvSpPr>
            <p:nvPr/>
          </p:nvSpPr>
          <p:spPr bwMode="auto">
            <a:xfrm>
              <a:off x="1779589" y="5938838"/>
              <a:ext cx="1017109"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2083" name="AutoShape 14">
              <a:extLst>
                <a:ext uri="{FF2B5EF4-FFF2-40B4-BE49-F238E27FC236}">
                  <a16:creationId xmlns:a16="http://schemas.microsoft.com/office/drawing/2014/main" id="{9A1834D3-9999-B48C-0F0F-9BE3D9F2F0CE}"/>
                </a:ext>
              </a:extLst>
            </p:cNvPr>
            <p:cNvSpPr>
              <a:spLocks noChangeArrowheads="1"/>
            </p:cNvSpPr>
            <p:nvPr/>
          </p:nvSpPr>
          <p:spPr bwMode="auto">
            <a:xfrm rot="-5400000">
              <a:off x="844550" y="3475038"/>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084" name="Text Box 28">
              <a:extLst>
                <a:ext uri="{FF2B5EF4-FFF2-40B4-BE49-F238E27FC236}">
                  <a16:creationId xmlns:a16="http://schemas.microsoft.com/office/drawing/2014/main" id="{29C6881C-40E1-44B0-259B-F5E863ECD518}"/>
                </a:ext>
              </a:extLst>
            </p:cNvPr>
            <p:cNvSpPr txBox="1">
              <a:spLocks noChangeArrowheads="1"/>
            </p:cNvSpPr>
            <p:nvPr/>
          </p:nvSpPr>
          <p:spPr bwMode="auto">
            <a:xfrm>
              <a:off x="423993" y="3397251"/>
              <a:ext cx="764515"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2085" name="AutoShape 14">
              <a:extLst>
                <a:ext uri="{FF2B5EF4-FFF2-40B4-BE49-F238E27FC236}">
                  <a16:creationId xmlns:a16="http://schemas.microsoft.com/office/drawing/2014/main" id="{3D7B8E91-C6AE-24BC-63AC-1D42C0F7051F}"/>
                </a:ext>
              </a:extLst>
            </p:cNvPr>
            <p:cNvSpPr>
              <a:spLocks noChangeArrowheads="1"/>
            </p:cNvSpPr>
            <p:nvPr/>
          </p:nvSpPr>
          <p:spPr bwMode="auto">
            <a:xfrm rot="-5400000">
              <a:off x="841375" y="2481263"/>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2086" name="Text Box 28">
              <a:extLst>
                <a:ext uri="{FF2B5EF4-FFF2-40B4-BE49-F238E27FC236}">
                  <a16:creationId xmlns:a16="http://schemas.microsoft.com/office/drawing/2014/main" id="{C4EBC3E1-E72D-FCC7-813E-A4ACC795F3B0}"/>
                </a:ext>
              </a:extLst>
            </p:cNvPr>
            <p:cNvSpPr txBox="1">
              <a:spLocks noChangeArrowheads="1"/>
            </p:cNvSpPr>
            <p:nvPr/>
          </p:nvSpPr>
          <p:spPr bwMode="auto">
            <a:xfrm>
              <a:off x="420817" y="2403475"/>
              <a:ext cx="764515"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2087" name="AutoShape 21">
              <a:extLst>
                <a:ext uri="{FF2B5EF4-FFF2-40B4-BE49-F238E27FC236}">
                  <a16:creationId xmlns:a16="http://schemas.microsoft.com/office/drawing/2014/main" id="{D491731D-2250-7C92-310E-6D9B8C8F6E70}"/>
                </a:ext>
              </a:extLst>
            </p:cNvPr>
            <p:cNvSpPr>
              <a:spLocks noChangeArrowheads="1"/>
            </p:cNvSpPr>
            <p:nvPr/>
          </p:nvSpPr>
          <p:spPr bwMode="auto">
            <a:xfrm rot="5400000">
              <a:off x="2295525" y="3332163"/>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2088" name="Text Box 26">
              <a:extLst>
                <a:ext uri="{FF2B5EF4-FFF2-40B4-BE49-F238E27FC236}">
                  <a16:creationId xmlns:a16="http://schemas.microsoft.com/office/drawing/2014/main" id="{2D281475-015B-A2C7-7BB3-06917F21A86E}"/>
                </a:ext>
              </a:extLst>
            </p:cNvPr>
            <p:cNvSpPr txBox="1">
              <a:spLocks noChangeArrowheads="1"/>
            </p:cNvSpPr>
            <p:nvPr/>
          </p:nvSpPr>
          <p:spPr bwMode="auto">
            <a:xfrm>
              <a:off x="3060698" y="3408363"/>
              <a:ext cx="1017109"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2089" name="AutoShape 21">
              <a:extLst>
                <a:ext uri="{FF2B5EF4-FFF2-40B4-BE49-F238E27FC236}">
                  <a16:creationId xmlns:a16="http://schemas.microsoft.com/office/drawing/2014/main" id="{F7EC9F6C-9C03-937E-F669-2CBADC531A1F}"/>
                </a:ext>
              </a:extLst>
            </p:cNvPr>
            <p:cNvSpPr>
              <a:spLocks noChangeArrowheads="1"/>
            </p:cNvSpPr>
            <p:nvPr/>
          </p:nvSpPr>
          <p:spPr bwMode="auto">
            <a:xfrm rot="5400000">
              <a:off x="2332038" y="2378075"/>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2090" name="Text Box 26">
              <a:extLst>
                <a:ext uri="{FF2B5EF4-FFF2-40B4-BE49-F238E27FC236}">
                  <a16:creationId xmlns:a16="http://schemas.microsoft.com/office/drawing/2014/main" id="{8F8F4037-E7F8-E258-9173-1F257D0C6586}"/>
                </a:ext>
              </a:extLst>
            </p:cNvPr>
            <p:cNvSpPr txBox="1">
              <a:spLocks noChangeArrowheads="1"/>
            </p:cNvSpPr>
            <p:nvPr/>
          </p:nvSpPr>
          <p:spPr bwMode="auto">
            <a:xfrm>
              <a:off x="3097213" y="2454275"/>
              <a:ext cx="1017109"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grpSp>
      <p:sp>
        <p:nvSpPr>
          <p:cNvPr id="2062" name="Oval 35">
            <a:extLst>
              <a:ext uri="{FF2B5EF4-FFF2-40B4-BE49-F238E27FC236}">
                <a16:creationId xmlns:a16="http://schemas.microsoft.com/office/drawing/2014/main" id="{A23FE6FC-0A6A-6442-8D67-8BC9FFDE13DD}"/>
              </a:ext>
            </a:extLst>
          </p:cNvPr>
          <p:cNvSpPr>
            <a:spLocks noChangeArrowheads="1"/>
          </p:cNvSpPr>
          <p:nvPr/>
        </p:nvSpPr>
        <p:spPr bwMode="auto">
          <a:xfrm>
            <a:off x="6002338" y="3309938"/>
            <a:ext cx="398462" cy="296862"/>
          </a:xfrm>
          <a:prstGeom prst="ellipse">
            <a:avLst/>
          </a:prstGeom>
          <a:noFill/>
          <a:ln w="349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cxnSp>
        <p:nvCxnSpPr>
          <p:cNvPr id="2063" name="Straight Arrow Connector 37">
            <a:extLst>
              <a:ext uri="{FF2B5EF4-FFF2-40B4-BE49-F238E27FC236}">
                <a16:creationId xmlns:a16="http://schemas.microsoft.com/office/drawing/2014/main" id="{514513E8-BF5E-9D32-3552-3619D0F9A576}"/>
              </a:ext>
            </a:extLst>
          </p:cNvPr>
          <p:cNvCxnSpPr>
            <a:cxnSpLocks noChangeShapeType="1"/>
            <a:stCxn id="2062" idx="7"/>
            <a:endCxn id="2084" idx="1"/>
          </p:cNvCxnSpPr>
          <p:nvPr/>
        </p:nvCxnSpPr>
        <p:spPr bwMode="auto">
          <a:xfrm rot="5400000" flipH="1" flipV="1">
            <a:off x="6397625" y="1998663"/>
            <a:ext cx="1298575" cy="1409700"/>
          </a:xfrm>
          <a:prstGeom prst="straightConnector1">
            <a:avLst/>
          </a:prstGeom>
          <a:noFill/>
          <a:ln w="34925" algn="ctr">
            <a:solidFill>
              <a:srgbClr val="FF0000"/>
            </a:solidFill>
            <a:round/>
            <a:headEnd/>
            <a:tailEnd type="arrow" w="med" len="med"/>
          </a:ln>
          <a:extLst>
            <a:ext uri="{909E8E84-426E-40DD-AFC4-6F175D3DCCD1}">
              <a14:hiddenFill xmlns:a14="http://schemas.microsoft.com/office/drawing/2010/main">
                <a:noFill/>
              </a14:hiddenFill>
            </a:ext>
          </a:extLst>
        </p:spPr>
      </p:cxnSp>
      <p:graphicFrame>
        <p:nvGraphicFramePr>
          <p:cNvPr id="2050" name="Object 2">
            <a:extLst>
              <a:ext uri="{FF2B5EF4-FFF2-40B4-BE49-F238E27FC236}">
                <a16:creationId xmlns:a16="http://schemas.microsoft.com/office/drawing/2014/main" id="{2255116A-B5D6-77D1-BFCC-8B4810D912E5}"/>
              </a:ext>
            </a:extLst>
          </p:cNvPr>
          <p:cNvGraphicFramePr>
            <a:graphicFrameLocks noChangeAspect="1"/>
          </p:cNvGraphicFramePr>
          <p:nvPr/>
        </p:nvGraphicFramePr>
        <p:xfrm>
          <a:off x="6753225" y="6092825"/>
          <a:ext cx="3852863" cy="765175"/>
        </p:xfrm>
        <a:graphic>
          <a:graphicData uri="http://schemas.openxmlformats.org/presentationml/2006/ole">
            <mc:AlternateContent xmlns:mc="http://schemas.openxmlformats.org/markup-compatibility/2006">
              <mc:Choice xmlns:v="urn:schemas-microsoft-com:vml" Requires="v">
                <p:oleObj name="Visio" r:id="rId4" imgW="6553200" imgH="1320800" progId="Visio.Drawing.6">
                  <p:embed/>
                </p:oleObj>
              </mc:Choice>
              <mc:Fallback>
                <p:oleObj name="Visio" r:id="rId4" imgW="6553200" imgH="1320800" progId="Visio.Drawing.6">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53225" y="6092825"/>
                        <a:ext cx="3852863"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64" name="Rectangle 40">
            <a:extLst>
              <a:ext uri="{FF2B5EF4-FFF2-40B4-BE49-F238E27FC236}">
                <a16:creationId xmlns:a16="http://schemas.microsoft.com/office/drawing/2014/main" id="{F3B67D50-C99E-C80A-8C31-5F5ECAF109EE}"/>
              </a:ext>
            </a:extLst>
          </p:cNvPr>
          <p:cNvSpPr>
            <a:spLocks noChangeArrowheads="1"/>
          </p:cNvSpPr>
          <p:nvPr/>
        </p:nvSpPr>
        <p:spPr bwMode="auto">
          <a:xfrm>
            <a:off x="8932863" y="5680075"/>
            <a:ext cx="1816100" cy="1177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sp>
        <p:nvSpPr>
          <p:cNvPr id="2065" name="Rectangle 41">
            <a:extLst>
              <a:ext uri="{FF2B5EF4-FFF2-40B4-BE49-F238E27FC236}">
                <a16:creationId xmlns:a16="http://schemas.microsoft.com/office/drawing/2014/main" id="{43BC90F6-23C9-D1CA-4505-F00CA8F2DD04}"/>
              </a:ext>
            </a:extLst>
          </p:cNvPr>
          <p:cNvSpPr>
            <a:spLocks noChangeArrowheads="1"/>
          </p:cNvSpPr>
          <p:nvPr/>
        </p:nvSpPr>
        <p:spPr bwMode="auto">
          <a:xfrm>
            <a:off x="6335713" y="6169025"/>
            <a:ext cx="438150" cy="6889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sp>
        <p:nvSpPr>
          <p:cNvPr id="2066" name="Rectangle 42">
            <a:extLst>
              <a:ext uri="{FF2B5EF4-FFF2-40B4-BE49-F238E27FC236}">
                <a16:creationId xmlns:a16="http://schemas.microsoft.com/office/drawing/2014/main" id="{F71C7799-B217-983D-A685-597AB7A8C6A7}"/>
              </a:ext>
            </a:extLst>
          </p:cNvPr>
          <p:cNvSpPr>
            <a:spLocks noChangeArrowheads="1"/>
          </p:cNvSpPr>
          <p:nvPr/>
        </p:nvSpPr>
        <p:spPr bwMode="auto">
          <a:xfrm>
            <a:off x="5743575" y="6516688"/>
            <a:ext cx="785813" cy="1936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sp>
        <p:nvSpPr>
          <p:cNvPr id="2067" name="Oval 43">
            <a:extLst>
              <a:ext uri="{FF2B5EF4-FFF2-40B4-BE49-F238E27FC236}">
                <a16:creationId xmlns:a16="http://schemas.microsoft.com/office/drawing/2014/main" id="{751ABA3C-045D-4958-81A7-C7CB5BECB8EC}"/>
              </a:ext>
            </a:extLst>
          </p:cNvPr>
          <p:cNvSpPr>
            <a:spLocks noChangeArrowheads="1"/>
          </p:cNvSpPr>
          <p:nvPr/>
        </p:nvSpPr>
        <p:spPr bwMode="auto">
          <a:xfrm>
            <a:off x="5073650" y="4906963"/>
            <a:ext cx="2190750" cy="798512"/>
          </a:xfrm>
          <a:prstGeom prst="ellipse">
            <a:avLst/>
          </a:prstGeom>
          <a:noFill/>
          <a:ln w="349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cxnSp>
        <p:nvCxnSpPr>
          <p:cNvPr id="2068" name="Straight Arrow Connector 45">
            <a:extLst>
              <a:ext uri="{FF2B5EF4-FFF2-40B4-BE49-F238E27FC236}">
                <a16:creationId xmlns:a16="http://schemas.microsoft.com/office/drawing/2014/main" id="{3D7F509B-565D-C85D-36E9-8DDE13802E4B}"/>
              </a:ext>
            </a:extLst>
          </p:cNvPr>
          <p:cNvCxnSpPr>
            <a:cxnSpLocks noChangeShapeType="1"/>
          </p:cNvCxnSpPr>
          <p:nvPr/>
        </p:nvCxnSpPr>
        <p:spPr bwMode="auto">
          <a:xfrm rot="16200000" flipH="1">
            <a:off x="7105650" y="5527675"/>
            <a:ext cx="307975" cy="244475"/>
          </a:xfrm>
          <a:prstGeom prst="straightConnector1">
            <a:avLst/>
          </a:prstGeom>
          <a:noFill/>
          <a:ln w="31750" algn="ctr">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le 1">
            <a:extLst>
              <a:ext uri="{FF2B5EF4-FFF2-40B4-BE49-F238E27FC236}">
                <a16:creationId xmlns:a16="http://schemas.microsoft.com/office/drawing/2014/main" id="{8F068E56-A91C-3D2B-F268-A552DB4B1726}"/>
              </a:ext>
            </a:extLst>
          </p:cNvPr>
          <p:cNvSpPr>
            <a:spLocks noGrp="1"/>
          </p:cNvSpPr>
          <p:nvPr>
            <p:ph type="title"/>
          </p:nvPr>
        </p:nvSpPr>
        <p:spPr/>
        <p:txBody>
          <a:bodyPr/>
          <a:lstStyle/>
          <a:p>
            <a:r>
              <a:rPr lang="en-CA" altLang="en-US">
                <a:latin typeface="Arial  " charset="0"/>
                <a:cs typeface="Arial  " charset="0"/>
              </a:rPr>
              <a:t>Track outcome of 3-branches</a:t>
            </a:r>
          </a:p>
        </p:txBody>
      </p:sp>
      <p:sp>
        <p:nvSpPr>
          <p:cNvPr id="3076" name="Content Placeholder 2">
            <a:extLst>
              <a:ext uri="{FF2B5EF4-FFF2-40B4-BE49-F238E27FC236}">
                <a16:creationId xmlns:a16="http://schemas.microsoft.com/office/drawing/2014/main" id="{70E2B1F5-F774-068D-4A75-44325FE3B8A7}"/>
              </a:ext>
            </a:extLst>
          </p:cNvPr>
          <p:cNvSpPr>
            <a:spLocks noGrp="1"/>
          </p:cNvSpPr>
          <p:nvPr>
            <p:ph idx="1"/>
          </p:nvPr>
        </p:nvSpPr>
        <p:spPr>
          <a:xfrm>
            <a:off x="1716088" y="4765675"/>
            <a:ext cx="5946775" cy="620713"/>
          </a:xfrm>
        </p:spPr>
        <p:txBody>
          <a:bodyPr/>
          <a:lstStyle/>
          <a:p>
            <a:r>
              <a:rPr lang="en-CA" altLang="en-US" sz="2400">
                <a:latin typeface="Arial  " charset="0"/>
                <a:cs typeface="Arial  " charset="0"/>
              </a:rPr>
              <a:t>Which is “correct” one to use?</a:t>
            </a:r>
          </a:p>
        </p:txBody>
      </p:sp>
      <p:sp>
        <p:nvSpPr>
          <p:cNvPr id="3077" name="Slide Number Placeholder 3">
            <a:extLst>
              <a:ext uri="{FF2B5EF4-FFF2-40B4-BE49-F238E27FC236}">
                <a16:creationId xmlns:a16="http://schemas.microsoft.com/office/drawing/2014/main" id="{9341FDEB-1B97-E62F-6781-D877F996141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BB8F554D-9FCA-EE4B-8E99-6881DE1C7E48}" type="slidenum">
              <a:rPr lang="en-GB" altLang="en-US" sz="1400">
                <a:solidFill>
                  <a:srgbClr val="000000"/>
                </a:solidFill>
                <a:latin typeface="Arial  " charset="0"/>
              </a:rPr>
              <a:pPr/>
              <a:t>50</a:t>
            </a:fld>
            <a:r>
              <a:rPr lang="en-GB" altLang="en-US" sz="1400">
                <a:solidFill>
                  <a:srgbClr val="000000"/>
                </a:solidFill>
                <a:latin typeface="Arial  " charset="0"/>
              </a:rPr>
              <a:t> </a:t>
            </a:r>
          </a:p>
        </p:txBody>
      </p:sp>
      <p:grpSp>
        <p:nvGrpSpPr>
          <p:cNvPr id="3078" name="Group 40">
            <a:extLst>
              <a:ext uri="{FF2B5EF4-FFF2-40B4-BE49-F238E27FC236}">
                <a16:creationId xmlns:a16="http://schemas.microsoft.com/office/drawing/2014/main" id="{19E1E5AE-CFBE-1DFB-C0A0-0721C074FD04}"/>
              </a:ext>
            </a:extLst>
          </p:cNvPr>
          <p:cNvGrpSpPr>
            <a:grpSpLocks noChangeAspect="1"/>
          </p:cNvGrpSpPr>
          <p:nvPr/>
        </p:nvGrpSpPr>
        <p:grpSpPr bwMode="auto">
          <a:xfrm>
            <a:off x="5840413" y="2195513"/>
            <a:ext cx="2136775" cy="1741487"/>
            <a:chOff x="1328066" y="1447800"/>
            <a:chExt cx="6475605" cy="5278103"/>
          </a:xfrm>
        </p:grpSpPr>
        <p:sp>
          <p:nvSpPr>
            <p:cNvPr id="3082" name="Oval 2">
              <a:extLst>
                <a:ext uri="{FF2B5EF4-FFF2-40B4-BE49-F238E27FC236}">
                  <a16:creationId xmlns:a16="http://schemas.microsoft.com/office/drawing/2014/main" id="{083FD0B9-90E8-0303-61A0-782844B0A830}"/>
                </a:ext>
              </a:extLst>
            </p:cNvPr>
            <p:cNvSpPr>
              <a:spLocks noChangeArrowheads="1"/>
            </p:cNvSpPr>
            <p:nvPr/>
          </p:nvSpPr>
          <p:spPr bwMode="auto">
            <a:xfrm>
              <a:off x="2590800" y="220980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T</a:t>
              </a:r>
            </a:p>
            <a:p>
              <a:pPr algn="ctr" eaLnBrk="1" hangingPunct="1">
                <a:lnSpc>
                  <a:spcPct val="100000"/>
                </a:lnSpc>
              </a:pPr>
              <a:r>
                <a:rPr lang="en-GB" altLang="en-US" sz="900" b="1">
                  <a:solidFill>
                    <a:srgbClr val="000000"/>
                  </a:solidFill>
                </a:rPr>
                <a:t>100</a:t>
              </a:r>
            </a:p>
          </p:txBody>
        </p:sp>
        <p:sp>
          <p:nvSpPr>
            <p:cNvPr id="3083" name="Oval 3">
              <a:extLst>
                <a:ext uri="{FF2B5EF4-FFF2-40B4-BE49-F238E27FC236}">
                  <a16:creationId xmlns:a16="http://schemas.microsoft.com/office/drawing/2014/main" id="{74B8B310-72AC-4920-C875-2BCE4BBFB6B7}"/>
                </a:ext>
              </a:extLst>
            </p:cNvPr>
            <p:cNvSpPr>
              <a:spLocks noChangeArrowheads="1"/>
            </p:cNvSpPr>
            <p:nvPr/>
          </p:nvSpPr>
          <p:spPr bwMode="auto">
            <a:xfrm>
              <a:off x="4953000" y="464820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NT</a:t>
              </a:r>
            </a:p>
            <a:p>
              <a:pPr algn="ctr" eaLnBrk="1" hangingPunct="1">
                <a:lnSpc>
                  <a:spcPct val="100000"/>
                </a:lnSpc>
              </a:pPr>
              <a:r>
                <a:rPr lang="en-GB" altLang="en-US" sz="900" b="1">
                  <a:solidFill>
                    <a:srgbClr val="000000"/>
                  </a:solidFill>
                </a:rPr>
                <a:t>000</a:t>
              </a:r>
            </a:p>
          </p:txBody>
        </p:sp>
        <p:sp>
          <p:nvSpPr>
            <p:cNvPr id="3084" name="AutoShape 4">
              <a:extLst>
                <a:ext uri="{FF2B5EF4-FFF2-40B4-BE49-F238E27FC236}">
                  <a16:creationId xmlns:a16="http://schemas.microsoft.com/office/drawing/2014/main" id="{26453DA5-2B34-F2F0-1C24-7B036BFC5669}"/>
                </a:ext>
              </a:extLst>
            </p:cNvPr>
            <p:cNvSpPr>
              <a:spLocks noChangeArrowheads="1"/>
            </p:cNvSpPr>
            <p:nvPr/>
          </p:nvSpPr>
          <p:spPr bwMode="auto">
            <a:xfrm rot="10800000">
              <a:off x="5257800" y="5335588"/>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085" name="Oval 5">
              <a:extLst>
                <a:ext uri="{FF2B5EF4-FFF2-40B4-BE49-F238E27FC236}">
                  <a16:creationId xmlns:a16="http://schemas.microsoft.com/office/drawing/2014/main" id="{54CCEB85-3BEC-E307-8332-487B7745E40A}"/>
                </a:ext>
              </a:extLst>
            </p:cNvPr>
            <p:cNvSpPr>
              <a:spLocks noChangeArrowheads="1"/>
            </p:cNvSpPr>
            <p:nvPr/>
          </p:nvSpPr>
          <p:spPr bwMode="auto">
            <a:xfrm>
              <a:off x="4953000" y="388620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NT</a:t>
              </a:r>
            </a:p>
            <a:p>
              <a:pPr algn="ctr" eaLnBrk="1" hangingPunct="1">
                <a:lnSpc>
                  <a:spcPct val="100000"/>
                </a:lnSpc>
              </a:pPr>
              <a:r>
                <a:rPr lang="en-GB" altLang="en-US" sz="900" b="1">
                  <a:solidFill>
                    <a:srgbClr val="000000"/>
                  </a:solidFill>
                </a:rPr>
                <a:t>001</a:t>
              </a:r>
            </a:p>
          </p:txBody>
        </p:sp>
        <p:sp>
          <p:nvSpPr>
            <p:cNvPr id="3086" name="Oval 6">
              <a:extLst>
                <a:ext uri="{FF2B5EF4-FFF2-40B4-BE49-F238E27FC236}">
                  <a16:creationId xmlns:a16="http://schemas.microsoft.com/office/drawing/2014/main" id="{A839DC0F-1672-CCB3-6DEC-B8F7E6CAFA46}"/>
                </a:ext>
              </a:extLst>
            </p:cNvPr>
            <p:cNvSpPr>
              <a:spLocks noChangeArrowheads="1"/>
            </p:cNvSpPr>
            <p:nvPr/>
          </p:nvSpPr>
          <p:spPr bwMode="auto">
            <a:xfrm>
              <a:off x="4953000" y="304800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NT</a:t>
              </a:r>
            </a:p>
            <a:p>
              <a:pPr algn="ctr" eaLnBrk="1" hangingPunct="1">
                <a:lnSpc>
                  <a:spcPct val="100000"/>
                </a:lnSpc>
              </a:pPr>
              <a:r>
                <a:rPr lang="en-GB" altLang="en-US" sz="900" b="1">
                  <a:solidFill>
                    <a:srgbClr val="000000"/>
                  </a:solidFill>
                </a:rPr>
                <a:t>010</a:t>
              </a:r>
            </a:p>
          </p:txBody>
        </p:sp>
        <p:sp>
          <p:nvSpPr>
            <p:cNvPr id="3087" name="Oval 7">
              <a:extLst>
                <a:ext uri="{FF2B5EF4-FFF2-40B4-BE49-F238E27FC236}">
                  <a16:creationId xmlns:a16="http://schemas.microsoft.com/office/drawing/2014/main" id="{EDB6865C-4B8B-6584-D995-7BDCEB111ABE}"/>
                </a:ext>
              </a:extLst>
            </p:cNvPr>
            <p:cNvSpPr>
              <a:spLocks noChangeArrowheads="1"/>
            </p:cNvSpPr>
            <p:nvPr/>
          </p:nvSpPr>
          <p:spPr bwMode="auto">
            <a:xfrm>
              <a:off x="4953000" y="2286000"/>
              <a:ext cx="1447800" cy="914400"/>
            </a:xfrm>
            <a:prstGeom prst="ellipse">
              <a:avLst/>
            </a:prstGeom>
            <a:solidFill>
              <a:srgbClr val="FF00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NT</a:t>
              </a:r>
            </a:p>
            <a:p>
              <a:pPr algn="ctr" eaLnBrk="1" hangingPunct="1">
                <a:lnSpc>
                  <a:spcPct val="100000"/>
                </a:lnSpc>
              </a:pPr>
              <a:r>
                <a:rPr lang="en-GB" altLang="en-US" sz="900" b="1">
                  <a:solidFill>
                    <a:srgbClr val="000000"/>
                  </a:solidFill>
                </a:rPr>
                <a:t>011</a:t>
              </a:r>
            </a:p>
          </p:txBody>
        </p:sp>
        <p:sp>
          <p:nvSpPr>
            <p:cNvPr id="3088" name="Oval 8">
              <a:extLst>
                <a:ext uri="{FF2B5EF4-FFF2-40B4-BE49-F238E27FC236}">
                  <a16:creationId xmlns:a16="http://schemas.microsoft.com/office/drawing/2014/main" id="{F1F3F3F6-590A-D27B-C0B6-A553B25480A4}"/>
                </a:ext>
              </a:extLst>
            </p:cNvPr>
            <p:cNvSpPr>
              <a:spLocks noChangeArrowheads="1"/>
            </p:cNvSpPr>
            <p:nvPr/>
          </p:nvSpPr>
          <p:spPr bwMode="auto">
            <a:xfrm>
              <a:off x="2590800" y="464820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T</a:t>
              </a:r>
            </a:p>
            <a:p>
              <a:pPr algn="ctr" eaLnBrk="1" hangingPunct="1">
                <a:lnSpc>
                  <a:spcPct val="100000"/>
                </a:lnSpc>
              </a:pPr>
              <a:r>
                <a:rPr lang="en-GB" altLang="en-US" sz="900" b="1">
                  <a:solidFill>
                    <a:srgbClr val="000000"/>
                  </a:solidFill>
                </a:rPr>
                <a:t>111</a:t>
              </a:r>
            </a:p>
          </p:txBody>
        </p:sp>
        <p:sp>
          <p:nvSpPr>
            <p:cNvPr id="3089" name="Oval 9">
              <a:extLst>
                <a:ext uri="{FF2B5EF4-FFF2-40B4-BE49-F238E27FC236}">
                  <a16:creationId xmlns:a16="http://schemas.microsoft.com/office/drawing/2014/main" id="{E1F43EE4-1915-1F43-8158-0E7C5B38C34C}"/>
                </a:ext>
              </a:extLst>
            </p:cNvPr>
            <p:cNvSpPr>
              <a:spLocks noChangeArrowheads="1"/>
            </p:cNvSpPr>
            <p:nvPr/>
          </p:nvSpPr>
          <p:spPr bwMode="auto">
            <a:xfrm>
              <a:off x="2590800" y="388620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T</a:t>
              </a:r>
            </a:p>
            <a:p>
              <a:pPr algn="ctr" eaLnBrk="1" hangingPunct="1">
                <a:lnSpc>
                  <a:spcPct val="100000"/>
                </a:lnSpc>
              </a:pPr>
              <a:r>
                <a:rPr lang="en-GB" altLang="en-US" sz="900" b="1">
                  <a:solidFill>
                    <a:srgbClr val="000000"/>
                  </a:solidFill>
                </a:rPr>
                <a:t>110</a:t>
              </a:r>
            </a:p>
          </p:txBody>
        </p:sp>
        <p:sp>
          <p:nvSpPr>
            <p:cNvPr id="3090" name="Oval 10">
              <a:extLst>
                <a:ext uri="{FF2B5EF4-FFF2-40B4-BE49-F238E27FC236}">
                  <a16:creationId xmlns:a16="http://schemas.microsoft.com/office/drawing/2014/main" id="{0AF963D9-793B-6C0E-FB52-BD45B45BEEC4}"/>
                </a:ext>
              </a:extLst>
            </p:cNvPr>
            <p:cNvSpPr>
              <a:spLocks noChangeArrowheads="1"/>
            </p:cNvSpPr>
            <p:nvPr/>
          </p:nvSpPr>
          <p:spPr bwMode="auto">
            <a:xfrm>
              <a:off x="2590800" y="3124200"/>
              <a:ext cx="1447800" cy="914400"/>
            </a:xfrm>
            <a:prstGeom prst="ellipse">
              <a:avLst/>
            </a:prstGeom>
            <a:solidFill>
              <a:srgbClr val="00FF00"/>
            </a:solidFill>
            <a:ln w="9360">
              <a:solidFill>
                <a:srgbClr val="000000"/>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algn="ctr" eaLnBrk="1" hangingPunct="1">
                <a:lnSpc>
                  <a:spcPct val="100000"/>
                </a:lnSpc>
              </a:pPr>
              <a:r>
                <a:rPr lang="en-GB" altLang="en-US" sz="900" b="1">
                  <a:solidFill>
                    <a:srgbClr val="000000"/>
                  </a:solidFill>
                </a:rPr>
                <a:t>T</a:t>
              </a:r>
            </a:p>
            <a:p>
              <a:pPr algn="ctr" eaLnBrk="1" hangingPunct="1">
                <a:lnSpc>
                  <a:spcPct val="100000"/>
                </a:lnSpc>
              </a:pPr>
              <a:r>
                <a:rPr lang="en-GB" altLang="en-US" sz="900" b="1">
                  <a:solidFill>
                    <a:srgbClr val="000000"/>
                  </a:solidFill>
                </a:rPr>
                <a:t>101</a:t>
              </a:r>
            </a:p>
          </p:txBody>
        </p:sp>
        <p:sp>
          <p:nvSpPr>
            <p:cNvPr id="3091" name="AutoShape 11">
              <a:extLst>
                <a:ext uri="{FF2B5EF4-FFF2-40B4-BE49-F238E27FC236}">
                  <a16:creationId xmlns:a16="http://schemas.microsoft.com/office/drawing/2014/main" id="{610DD3AB-B054-A467-AFD8-839B5C12493F}"/>
                </a:ext>
              </a:extLst>
            </p:cNvPr>
            <p:cNvSpPr>
              <a:spLocks noChangeArrowheads="1"/>
            </p:cNvSpPr>
            <p:nvPr/>
          </p:nvSpPr>
          <p:spPr bwMode="auto">
            <a:xfrm flipH="1" flipV="1">
              <a:off x="2895600" y="5334000"/>
              <a:ext cx="914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cubicBezTo>
                    <a:pt x="5299" y="11640"/>
                    <a:pt x="5492" y="12469"/>
                    <a:pt x="5862" y="13223"/>
                  </a:cubicBezTo>
                  <a:lnTo>
                    <a:pt x="1105" y="15559"/>
                  </a:lnTo>
                  <a:cubicBezTo>
                    <a:pt x="378" y="14078"/>
                    <a:pt x="0" y="12450"/>
                    <a:pt x="0" y="10800"/>
                  </a:cubicBezTo>
                  <a:cubicBezTo>
                    <a:pt x="0" y="4835"/>
                    <a:pt x="4835" y="0"/>
                    <a:pt x="10800" y="0"/>
                  </a:cubicBezTo>
                  <a:cubicBezTo>
                    <a:pt x="16764" y="0"/>
                    <a:pt x="21600" y="4835"/>
                    <a:pt x="21600" y="10800"/>
                  </a:cubicBez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92" name="AutoShape 12">
              <a:extLst>
                <a:ext uri="{FF2B5EF4-FFF2-40B4-BE49-F238E27FC236}">
                  <a16:creationId xmlns:a16="http://schemas.microsoft.com/office/drawing/2014/main" id="{29B7E4CF-465F-7025-DD6F-3B1BDBAA15E8}"/>
                </a:ext>
              </a:extLst>
            </p:cNvPr>
            <p:cNvSpPr>
              <a:spLocks noChangeArrowheads="1"/>
            </p:cNvSpPr>
            <p:nvPr/>
          </p:nvSpPr>
          <p:spPr bwMode="auto">
            <a:xfrm>
              <a:off x="3124200" y="1447800"/>
              <a:ext cx="2590800" cy="1447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398" y="10208"/>
                  </a:moveTo>
                  <a:cubicBezTo>
                    <a:pt x="19087" y="5688"/>
                    <a:pt x="15330" y="2180"/>
                    <a:pt x="10800" y="2180"/>
                  </a:cubicBezTo>
                  <a:cubicBezTo>
                    <a:pt x="6039" y="2181"/>
                    <a:pt x="2181" y="6039"/>
                    <a:pt x="2181" y="10800"/>
                  </a:cubicBezTo>
                  <a:lnTo>
                    <a:pt x="-1" y="10799"/>
                  </a:lnTo>
                  <a:cubicBezTo>
                    <a:pt x="0" y="4835"/>
                    <a:pt x="4835" y="0"/>
                    <a:pt x="10800" y="0"/>
                  </a:cubicBezTo>
                  <a:cubicBezTo>
                    <a:pt x="16476" y="-1"/>
                    <a:pt x="21184" y="4394"/>
                    <a:pt x="21574" y="10058"/>
                  </a:cubicBezTo>
                  <a:lnTo>
                    <a:pt x="24268" y="9872"/>
                  </a:lnTo>
                  <a:lnTo>
                    <a:pt x="20747" y="13915"/>
                  </a:lnTo>
                  <a:lnTo>
                    <a:pt x="16705" y="10393"/>
                  </a:lnTo>
                  <a:lnTo>
                    <a:pt x="19398" y="10208"/>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093" name="AutoShape 13">
              <a:extLst>
                <a:ext uri="{FF2B5EF4-FFF2-40B4-BE49-F238E27FC236}">
                  <a16:creationId xmlns:a16="http://schemas.microsoft.com/office/drawing/2014/main" id="{13518F8E-1A52-5994-F0E5-1077DF90499B}"/>
                </a:ext>
              </a:extLst>
            </p:cNvPr>
            <p:cNvSpPr>
              <a:spLocks noChangeArrowheads="1"/>
            </p:cNvSpPr>
            <p:nvPr/>
          </p:nvSpPr>
          <p:spPr bwMode="auto">
            <a:xfrm rot="-5400000">
              <a:off x="4572000" y="44958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94" name="AutoShape 14">
              <a:extLst>
                <a:ext uri="{FF2B5EF4-FFF2-40B4-BE49-F238E27FC236}">
                  <a16:creationId xmlns:a16="http://schemas.microsoft.com/office/drawing/2014/main" id="{B7655DF3-4A7D-20DA-F1A0-777E22E03EFD}"/>
                </a:ext>
              </a:extLst>
            </p:cNvPr>
            <p:cNvSpPr>
              <a:spLocks noChangeArrowheads="1"/>
            </p:cNvSpPr>
            <p:nvPr/>
          </p:nvSpPr>
          <p:spPr bwMode="auto">
            <a:xfrm rot="-5400000">
              <a:off x="4648200" y="2743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95" name="AutoShape 15">
              <a:extLst>
                <a:ext uri="{FF2B5EF4-FFF2-40B4-BE49-F238E27FC236}">
                  <a16:creationId xmlns:a16="http://schemas.microsoft.com/office/drawing/2014/main" id="{E8A57CEB-3F8E-5E53-A152-083048A4147F}"/>
                </a:ext>
              </a:extLst>
            </p:cNvPr>
            <p:cNvSpPr>
              <a:spLocks noChangeArrowheads="1"/>
            </p:cNvSpPr>
            <p:nvPr/>
          </p:nvSpPr>
          <p:spPr bwMode="auto">
            <a:xfrm rot="-5400000">
              <a:off x="4572000" y="3505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96" name="AutoShape 16">
              <a:extLst>
                <a:ext uri="{FF2B5EF4-FFF2-40B4-BE49-F238E27FC236}">
                  <a16:creationId xmlns:a16="http://schemas.microsoft.com/office/drawing/2014/main" id="{E8DB1075-AAD6-F770-BA0B-9D929958D06D}"/>
                </a:ext>
              </a:extLst>
            </p:cNvPr>
            <p:cNvSpPr>
              <a:spLocks noChangeArrowheads="1"/>
            </p:cNvSpPr>
            <p:nvPr/>
          </p:nvSpPr>
          <p:spPr bwMode="auto">
            <a:xfrm rot="5400000">
              <a:off x="3582988" y="44196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97" name="AutoShape 17">
              <a:extLst>
                <a:ext uri="{FF2B5EF4-FFF2-40B4-BE49-F238E27FC236}">
                  <a16:creationId xmlns:a16="http://schemas.microsoft.com/office/drawing/2014/main" id="{8703E774-0FEF-468E-51B0-3D9B8824FFA0}"/>
                </a:ext>
              </a:extLst>
            </p:cNvPr>
            <p:cNvSpPr>
              <a:spLocks noChangeArrowheads="1"/>
            </p:cNvSpPr>
            <p:nvPr/>
          </p:nvSpPr>
          <p:spPr bwMode="auto">
            <a:xfrm rot="5400000">
              <a:off x="3582988" y="35814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98" name="AutoShape 18">
              <a:extLst>
                <a:ext uri="{FF2B5EF4-FFF2-40B4-BE49-F238E27FC236}">
                  <a16:creationId xmlns:a16="http://schemas.microsoft.com/office/drawing/2014/main" id="{8477782F-B158-C612-3979-62BA6C740B26}"/>
                </a:ext>
              </a:extLst>
            </p:cNvPr>
            <p:cNvSpPr>
              <a:spLocks noChangeArrowheads="1"/>
            </p:cNvSpPr>
            <p:nvPr/>
          </p:nvSpPr>
          <p:spPr bwMode="auto">
            <a:xfrm rot="5400000">
              <a:off x="3582988" y="2743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099" name="AutoShape 19">
              <a:extLst>
                <a:ext uri="{FF2B5EF4-FFF2-40B4-BE49-F238E27FC236}">
                  <a16:creationId xmlns:a16="http://schemas.microsoft.com/office/drawing/2014/main" id="{70879276-9C05-0D0A-B1FF-6009AA5F28CD}"/>
                </a:ext>
              </a:extLst>
            </p:cNvPr>
            <p:cNvSpPr>
              <a:spLocks noChangeArrowheads="1"/>
            </p:cNvSpPr>
            <p:nvPr/>
          </p:nvSpPr>
          <p:spPr bwMode="auto">
            <a:xfrm rot="5400000">
              <a:off x="5945188" y="4267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100" name="AutoShape 20">
              <a:extLst>
                <a:ext uri="{FF2B5EF4-FFF2-40B4-BE49-F238E27FC236}">
                  <a16:creationId xmlns:a16="http://schemas.microsoft.com/office/drawing/2014/main" id="{75CFD2AC-8CFD-8083-FE46-C6E5C2EA23BA}"/>
                </a:ext>
              </a:extLst>
            </p:cNvPr>
            <p:cNvSpPr>
              <a:spLocks noChangeArrowheads="1"/>
            </p:cNvSpPr>
            <p:nvPr/>
          </p:nvSpPr>
          <p:spPr bwMode="auto">
            <a:xfrm rot="5400000">
              <a:off x="5945188" y="3505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101" name="AutoShape 21">
              <a:extLst>
                <a:ext uri="{FF2B5EF4-FFF2-40B4-BE49-F238E27FC236}">
                  <a16:creationId xmlns:a16="http://schemas.microsoft.com/office/drawing/2014/main" id="{DB647245-D5F8-B493-7C85-0E3994D73CB0}"/>
                </a:ext>
              </a:extLst>
            </p:cNvPr>
            <p:cNvSpPr>
              <a:spLocks noChangeArrowheads="1"/>
            </p:cNvSpPr>
            <p:nvPr/>
          </p:nvSpPr>
          <p:spPr bwMode="auto">
            <a:xfrm rot="5400000">
              <a:off x="5945188" y="27432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rot="10800000" wrap="none" anchor="ctr"/>
            <a:lstStyle/>
            <a:p>
              <a:endParaRPr lang="en-US"/>
            </a:p>
          </p:txBody>
        </p:sp>
        <p:sp>
          <p:nvSpPr>
            <p:cNvPr id="3102" name="AutoShape 22">
              <a:extLst>
                <a:ext uri="{FF2B5EF4-FFF2-40B4-BE49-F238E27FC236}">
                  <a16:creationId xmlns:a16="http://schemas.microsoft.com/office/drawing/2014/main" id="{832DC151-B0C9-A098-B4F6-120EF61A22CB}"/>
                </a:ext>
              </a:extLst>
            </p:cNvPr>
            <p:cNvSpPr>
              <a:spLocks noChangeArrowheads="1"/>
            </p:cNvSpPr>
            <p:nvPr/>
          </p:nvSpPr>
          <p:spPr bwMode="auto">
            <a:xfrm rot="-5400000">
              <a:off x="2133600" y="44196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103" name="AutoShape 23">
              <a:extLst>
                <a:ext uri="{FF2B5EF4-FFF2-40B4-BE49-F238E27FC236}">
                  <a16:creationId xmlns:a16="http://schemas.microsoft.com/office/drawing/2014/main" id="{90504D17-AC59-2125-47E3-87FDA9235272}"/>
                </a:ext>
              </a:extLst>
            </p:cNvPr>
            <p:cNvSpPr>
              <a:spLocks noChangeArrowheads="1"/>
            </p:cNvSpPr>
            <p:nvPr/>
          </p:nvSpPr>
          <p:spPr bwMode="auto">
            <a:xfrm rot="-5400000">
              <a:off x="2209800" y="26670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104" name="AutoShape 24">
              <a:extLst>
                <a:ext uri="{FF2B5EF4-FFF2-40B4-BE49-F238E27FC236}">
                  <a16:creationId xmlns:a16="http://schemas.microsoft.com/office/drawing/2014/main" id="{0642C1AE-5A8E-4675-52C8-830B5DED9FAF}"/>
                </a:ext>
              </a:extLst>
            </p:cNvPr>
            <p:cNvSpPr>
              <a:spLocks noChangeArrowheads="1"/>
            </p:cNvSpPr>
            <p:nvPr/>
          </p:nvSpPr>
          <p:spPr bwMode="auto">
            <a:xfrm rot="-5400000">
              <a:off x="2133600" y="3429000"/>
              <a:ext cx="9144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FF0000"/>
            </a:solidFill>
            <a:ln w="9360">
              <a:solidFill>
                <a:srgbClr val="000000"/>
              </a:solidFill>
              <a:miter lim="800000"/>
              <a:headEnd/>
              <a:tailEnd/>
            </a:ln>
          </p:spPr>
          <p:txBody>
            <a:bodyPr wrap="none" anchor="ctr"/>
            <a:lstStyle/>
            <a:p>
              <a:endParaRPr lang="en-US"/>
            </a:p>
          </p:txBody>
        </p:sp>
        <p:sp>
          <p:nvSpPr>
            <p:cNvPr id="3105" name="AutoShape 25">
              <a:extLst>
                <a:ext uri="{FF2B5EF4-FFF2-40B4-BE49-F238E27FC236}">
                  <a16:creationId xmlns:a16="http://schemas.microsoft.com/office/drawing/2014/main" id="{D925D6CF-5C62-9F49-70DB-6435C026F52E}"/>
                </a:ext>
              </a:extLst>
            </p:cNvPr>
            <p:cNvSpPr>
              <a:spLocks noChangeArrowheads="1"/>
            </p:cNvSpPr>
            <p:nvPr/>
          </p:nvSpPr>
          <p:spPr bwMode="auto">
            <a:xfrm flipH="1">
              <a:off x="3579813" y="1752600"/>
              <a:ext cx="1600200" cy="7620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300" y="10800"/>
                  </a:moveTo>
                  <a:cubicBezTo>
                    <a:pt x="16300" y="7762"/>
                    <a:pt x="13837" y="5300"/>
                    <a:pt x="10800" y="5300"/>
                  </a:cubicBezTo>
                  <a:cubicBezTo>
                    <a:pt x="7762" y="5300"/>
                    <a:pt x="5300" y="7762"/>
                    <a:pt x="5300" y="10800"/>
                  </a:cubicBezTo>
                  <a:lnTo>
                    <a:pt x="0" y="10800"/>
                  </a:lnTo>
                  <a:cubicBezTo>
                    <a:pt x="0" y="4835"/>
                    <a:pt x="4835" y="0"/>
                    <a:pt x="10800" y="0"/>
                  </a:cubicBezTo>
                  <a:cubicBezTo>
                    <a:pt x="16764" y="0"/>
                    <a:pt x="21599" y="4835"/>
                    <a:pt x="21599" y="10799"/>
                  </a:cubicBezTo>
                  <a:lnTo>
                    <a:pt x="21600" y="10800"/>
                  </a:lnTo>
                  <a:lnTo>
                    <a:pt x="24300" y="10800"/>
                  </a:lnTo>
                  <a:lnTo>
                    <a:pt x="18950" y="16150"/>
                  </a:lnTo>
                  <a:lnTo>
                    <a:pt x="13600" y="10800"/>
                  </a:lnTo>
                  <a:lnTo>
                    <a:pt x="16300" y="10800"/>
                  </a:lnTo>
                  <a:close/>
                </a:path>
              </a:pathLst>
            </a:custGeom>
            <a:solidFill>
              <a:srgbClr val="00FF00"/>
            </a:solidFill>
            <a:ln w="9360">
              <a:solidFill>
                <a:srgbClr val="000000"/>
              </a:solidFill>
              <a:miter lim="800000"/>
              <a:headEnd/>
              <a:tailEnd/>
            </a:ln>
          </p:spPr>
          <p:txBody>
            <a:bodyPr wrap="none" anchor="ctr"/>
            <a:lstStyle/>
            <a:p>
              <a:endParaRPr lang="en-US"/>
            </a:p>
          </p:txBody>
        </p:sp>
        <p:sp>
          <p:nvSpPr>
            <p:cNvPr id="3106" name="Text Box 26">
              <a:extLst>
                <a:ext uri="{FF2B5EF4-FFF2-40B4-BE49-F238E27FC236}">
                  <a16:creationId xmlns:a16="http://schemas.microsoft.com/office/drawing/2014/main" id="{1A156E98-FFAD-44B5-F35F-16E12EADD03C}"/>
                </a:ext>
              </a:extLst>
            </p:cNvPr>
            <p:cNvSpPr txBox="1">
              <a:spLocks noChangeArrowheads="1"/>
            </p:cNvSpPr>
            <p:nvPr/>
          </p:nvSpPr>
          <p:spPr bwMode="auto">
            <a:xfrm>
              <a:off x="6710362" y="2819400"/>
              <a:ext cx="1017109"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3107" name="Text Box 28">
              <a:extLst>
                <a:ext uri="{FF2B5EF4-FFF2-40B4-BE49-F238E27FC236}">
                  <a16:creationId xmlns:a16="http://schemas.microsoft.com/office/drawing/2014/main" id="{33395EF2-D905-F9F6-8EFF-01592E11F1DE}"/>
                </a:ext>
              </a:extLst>
            </p:cNvPr>
            <p:cNvSpPr txBox="1">
              <a:spLocks noChangeArrowheads="1"/>
            </p:cNvSpPr>
            <p:nvPr/>
          </p:nvSpPr>
          <p:spPr bwMode="auto">
            <a:xfrm>
              <a:off x="4422774" y="2743200"/>
              <a:ext cx="764515"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3108" name="Text Box 29">
              <a:extLst>
                <a:ext uri="{FF2B5EF4-FFF2-40B4-BE49-F238E27FC236}">
                  <a16:creationId xmlns:a16="http://schemas.microsoft.com/office/drawing/2014/main" id="{01CE2DFE-970B-0617-89EA-9AF569E46AE6}"/>
                </a:ext>
              </a:extLst>
            </p:cNvPr>
            <p:cNvSpPr txBox="1">
              <a:spLocks noChangeArrowheads="1"/>
            </p:cNvSpPr>
            <p:nvPr/>
          </p:nvSpPr>
          <p:spPr bwMode="auto">
            <a:xfrm>
              <a:off x="4346575" y="3505200"/>
              <a:ext cx="764515"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3109" name="Text Box 30">
              <a:extLst>
                <a:ext uri="{FF2B5EF4-FFF2-40B4-BE49-F238E27FC236}">
                  <a16:creationId xmlns:a16="http://schemas.microsoft.com/office/drawing/2014/main" id="{59C2D48F-93C8-115F-98C9-3E5824F6A0EA}"/>
                </a:ext>
              </a:extLst>
            </p:cNvPr>
            <p:cNvSpPr txBox="1">
              <a:spLocks noChangeArrowheads="1"/>
            </p:cNvSpPr>
            <p:nvPr/>
          </p:nvSpPr>
          <p:spPr bwMode="auto">
            <a:xfrm>
              <a:off x="4346575" y="4495800"/>
              <a:ext cx="764515"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3110" name="Text Box 31">
              <a:extLst>
                <a:ext uri="{FF2B5EF4-FFF2-40B4-BE49-F238E27FC236}">
                  <a16:creationId xmlns:a16="http://schemas.microsoft.com/office/drawing/2014/main" id="{6DC0682B-BEA4-A2DD-3C34-8E66D9625C28}"/>
                </a:ext>
              </a:extLst>
            </p:cNvPr>
            <p:cNvSpPr txBox="1">
              <a:spLocks noChangeArrowheads="1"/>
            </p:cNvSpPr>
            <p:nvPr/>
          </p:nvSpPr>
          <p:spPr bwMode="auto">
            <a:xfrm>
              <a:off x="1404266" y="2743200"/>
              <a:ext cx="1017109"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3111" name="Text Box 32">
              <a:extLst>
                <a:ext uri="{FF2B5EF4-FFF2-40B4-BE49-F238E27FC236}">
                  <a16:creationId xmlns:a16="http://schemas.microsoft.com/office/drawing/2014/main" id="{2806ACEF-1A9A-1950-B83C-6BE32CE0851B}"/>
                </a:ext>
              </a:extLst>
            </p:cNvPr>
            <p:cNvSpPr txBox="1">
              <a:spLocks noChangeArrowheads="1"/>
            </p:cNvSpPr>
            <p:nvPr/>
          </p:nvSpPr>
          <p:spPr bwMode="auto">
            <a:xfrm>
              <a:off x="1328066" y="3429000"/>
              <a:ext cx="1017109"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3112" name="Text Box 33">
              <a:extLst>
                <a:ext uri="{FF2B5EF4-FFF2-40B4-BE49-F238E27FC236}">
                  <a16:creationId xmlns:a16="http://schemas.microsoft.com/office/drawing/2014/main" id="{3211BC4A-B48B-0891-4944-29A0AB2B4888}"/>
                </a:ext>
              </a:extLst>
            </p:cNvPr>
            <p:cNvSpPr txBox="1">
              <a:spLocks noChangeArrowheads="1"/>
            </p:cNvSpPr>
            <p:nvPr/>
          </p:nvSpPr>
          <p:spPr bwMode="auto">
            <a:xfrm>
              <a:off x="1328066" y="4419600"/>
              <a:ext cx="1017109"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3113" name="Text Box 34">
              <a:extLst>
                <a:ext uri="{FF2B5EF4-FFF2-40B4-BE49-F238E27FC236}">
                  <a16:creationId xmlns:a16="http://schemas.microsoft.com/office/drawing/2014/main" id="{88E9C8A0-7647-2E8B-80F8-E3EF93E35466}"/>
                </a:ext>
              </a:extLst>
            </p:cNvPr>
            <p:cNvSpPr txBox="1">
              <a:spLocks noChangeArrowheads="1"/>
            </p:cNvSpPr>
            <p:nvPr/>
          </p:nvSpPr>
          <p:spPr bwMode="auto">
            <a:xfrm>
              <a:off x="3203575" y="5943600"/>
              <a:ext cx="764515"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sp>
          <p:nvSpPr>
            <p:cNvPr id="3114" name="Text Box 35">
              <a:extLst>
                <a:ext uri="{FF2B5EF4-FFF2-40B4-BE49-F238E27FC236}">
                  <a16:creationId xmlns:a16="http://schemas.microsoft.com/office/drawing/2014/main" id="{65BE870E-63CE-4398-8998-9646E8B7A62E}"/>
                </a:ext>
              </a:extLst>
            </p:cNvPr>
            <p:cNvSpPr txBox="1">
              <a:spLocks noChangeArrowheads="1"/>
            </p:cNvSpPr>
            <p:nvPr/>
          </p:nvSpPr>
          <p:spPr bwMode="auto">
            <a:xfrm>
              <a:off x="6786562" y="3581400"/>
              <a:ext cx="1017109"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3115" name="Text Box 36">
              <a:extLst>
                <a:ext uri="{FF2B5EF4-FFF2-40B4-BE49-F238E27FC236}">
                  <a16:creationId xmlns:a16="http://schemas.microsoft.com/office/drawing/2014/main" id="{A59018C2-97EB-1238-08F1-37E5AF3A776B}"/>
                </a:ext>
              </a:extLst>
            </p:cNvPr>
            <p:cNvSpPr txBox="1">
              <a:spLocks noChangeArrowheads="1"/>
            </p:cNvSpPr>
            <p:nvPr/>
          </p:nvSpPr>
          <p:spPr bwMode="auto">
            <a:xfrm>
              <a:off x="6786562" y="4343400"/>
              <a:ext cx="1017109"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3116" name="Text Box 37">
              <a:extLst>
                <a:ext uri="{FF2B5EF4-FFF2-40B4-BE49-F238E27FC236}">
                  <a16:creationId xmlns:a16="http://schemas.microsoft.com/office/drawing/2014/main" id="{08191DE5-8DAD-9242-B3E1-7A6DBB2FAC14}"/>
                </a:ext>
              </a:extLst>
            </p:cNvPr>
            <p:cNvSpPr txBox="1">
              <a:spLocks noChangeArrowheads="1"/>
            </p:cNvSpPr>
            <p:nvPr/>
          </p:nvSpPr>
          <p:spPr bwMode="auto">
            <a:xfrm>
              <a:off x="5491162" y="6019800"/>
              <a:ext cx="1017109"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NT</a:t>
              </a:r>
            </a:p>
          </p:txBody>
        </p:sp>
        <p:sp>
          <p:nvSpPr>
            <p:cNvPr id="3117" name="Text Box 38">
              <a:extLst>
                <a:ext uri="{FF2B5EF4-FFF2-40B4-BE49-F238E27FC236}">
                  <a16:creationId xmlns:a16="http://schemas.microsoft.com/office/drawing/2014/main" id="{498FE1DB-386B-D545-DF96-0C3AA71BC104}"/>
                </a:ext>
              </a:extLst>
            </p:cNvPr>
            <p:cNvSpPr txBox="1">
              <a:spLocks noChangeArrowheads="1"/>
            </p:cNvSpPr>
            <p:nvPr/>
          </p:nvSpPr>
          <p:spPr bwMode="auto">
            <a:xfrm>
              <a:off x="4194175" y="2057400"/>
              <a:ext cx="764515" cy="70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panose="020B0604020202020204" pitchFamily="34" charset="0"/>
                  <a:ea typeface="MS PGothic" panose="020B0600070205080204" pitchFamily="34" charset="-128"/>
                </a:defRPr>
              </a:lvl9pPr>
            </a:lstStyle>
            <a:p>
              <a:pPr eaLnBrk="1" hangingPunct="1">
                <a:lnSpc>
                  <a:spcPct val="100000"/>
                </a:lnSpc>
              </a:pPr>
              <a:r>
                <a:rPr lang="en-GB" altLang="en-US" sz="900" b="1">
                  <a:solidFill>
                    <a:srgbClr val="000000"/>
                  </a:solidFill>
                </a:rPr>
                <a:t>T</a:t>
              </a:r>
            </a:p>
          </p:txBody>
        </p:sp>
      </p:grpSp>
      <p:graphicFrame>
        <p:nvGraphicFramePr>
          <p:cNvPr id="3074" name="Object 2">
            <a:extLst>
              <a:ext uri="{FF2B5EF4-FFF2-40B4-BE49-F238E27FC236}">
                <a16:creationId xmlns:a16="http://schemas.microsoft.com/office/drawing/2014/main" id="{D643A7D3-724A-8969-093C-51A019B036A3}"/>
              </a:ext>
            </a:extLst>
          </p:cNvPr>
          <p:cNvGraphicFramePr>
            <a:graphicFrameLocks noChangeAspect="1"/>
          </p:cNvGraphicFramePr>
          <p:nvPr/>
        </p:nvGraphicFramePr>
        <p:xfrm>
          <a:off x="341313" y="2565400"/>
          <a:ext cx="4979987" cy="989013"/>
        </p:xfrm>
        <a:graphic>
          <a:graphicData uri="http://schemas.openxmlformats.org/presentationml/2006/ole">
            <mc:AlternateContent xmlns:mc="http://schemas.openxmlformats.org/markup-compatibility/2006">
              <mc:Choice xmlns:v="urn:schemas-microsoft-com:vml" Requires="v">
                <p:oleObj name="Visio" r:id="rId2" imgW="6553200" imgH="1320800" progId="Visio.Drawing.6">
                  <p:embed/>
                </p:oleObj>
              </mc:Choice>
              <mc:Fallback>
                <p:oleObj name="Visio" r:id="rId2" imgW="6553200" imgH="1320800"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13" y="2565400"/>
                        <a:ext cx="4979987" cy="98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9" name="Rectangle 42">
            <a:extLst>
              <a:ext uri="{FF2B5EF4-FFF2-40B4-BE49-F238E27FC236}">
                <a16:creationId xmlns:a16="http://schemas.microsoft.com/office/drawing/2014/main" id="{5CCE63D3-0CDC-3310-0A7C-74AF9605FD20}"/>
              </a:ext>
            </a:extLst>
          </p:cNvPr>
          <p:cNvSpPr>
            <a:spLocks noChangeArrowheads="1"/>
          </p:cNvSpPr>
          <p:nvPr/>
        </p:nvSpPr>
        <p:spPr bwMode="auto">
          <a:xfrm>
            <a:off x="4314825" y="2589213"/>
            <a:ext cx="1042988" cy="11779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sp>
        <p:nvSpPr>
          <p:cNvPr id="3080" name="Rectangle 43">
            <a:extLst>
              <a:ext uri="{FF2B5EF4-FFF2-40B4-BE49-F238E27FC236}">
                <a16:creationId xmlns:a16="http://schemas.microsoft.com/office/drawing/2014/main" id="{BC2C8D01-EE4D-C3D2-1799-266D0A3AD74B}"/>
              </a:ext>
            </a:extLst>
          </p:cNvPr>
          <p:cNvSpPr>
            <a:spLocks noChangeArrowheads="1"/>
          </p:cNvSpPr>
          <p:nvPr/>
        </p:nvSpPr>
        <p:spPr bwMode="auto">
          <a:xfrm>
            <a:off x="3992563" y="3078163"/>
            <a:ext cx="438150" cy="6889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sp>
        <p:nvSpPr>
          <p:cNvPr id="3081" name="Rectangle 44">
            <a:extLst>
              <a:ext uri="{FF2B5EF4-FFF2-40B4-BE49-F238E27FC236}">
                <a16:creationId xmlns:a16="http://schemas.microsoft.com/office/drawing/2014/main" id="{B1B1D7F5-0600-BCD5-C6B0-63BDACA2AC14}"/>
              </a:ext>
            </a:extLst>
          </p:cNvPr>
          <p:cNvSpPr>
            <a:spLocks noChangeArrowheads="1"/>
          </p:cNvSpPr>
          <p:nvPr/>
        </p:nvSpPr>
        <p:spPr bwMode="auto">
          <a:xfrm>
            <a:off x="3194050" y="3425825"/>
            <a:ext cx="785813" cy="1936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endParaRPr lang="en-CA"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5" name="Title 1"/>
          <p:cNvSpPr txBox="1">
            <a:spLocks noGrp="1"/>
          </p:cNvSpPr>
          <p:nvPr>
            <p:ph type="title"/>
          </p:nvPr>
        </p:nvSpPr>
        <p:spPr>
          <a:xfrm>
            <a:off x="685799" y="-194909"/>
            <a:ext cx="7770815" cy="1311276"/>
          </a:xfrm>
          <a:prstGeom prst="rect">
            <a:avLst/>
          </a:prstGeom>
        </p:spPr>
        <p:txBody>
          <a:bodyPr/>
          <a:lstStyle>
            <a:lvl1pPr>
              <a:defRPr b="1"/>
            </a:lvl1pPr>
          </a:lstStyle>
          <a:p>
            <a:r>
              <a:t>gshare branch predictor</a:t>
            </a:r>
          </a:p>
        </p:txBody>
      </p:sp>
      <p:grpSp>
        <p:nvGrpSpPr>
          <p:cNvPr id="1245" name="Group 1"/>
          <p:cNvGrpSpPr/>
          <p:nvPr/>
        </p:nvGrpSpPr>
        <p:grpSpPr>
          <a:xfrm>
            <a:off x="803110" y="3693492"/>
            <a:ext cx="5016501" cy="2203991"/>
            <a:chOff x="0" y="0"/>
            <a:chExt cx="5016500" cy="2203989"/>
          </a:xfrm>
        </p:grpSpPr>
        <p:grpSp>
          <p:nvGrpSpPr>
            <p:cNvPr id="1228" name="Rectangle 3"/>
            <p:cNvGrpSpPr/>
            <p:nvPr/>
          </p:nvGrpSpPr>
          <p:grpSpPr>
            <a:xfrm>
              <a:off x="698500" y="-1"/>
              <a:ext cx="1790700" cy="439230"/>
              <a:chOff x="0" y="0"/>
              <a:chExt cx="1790700" cy="439228"/>
            </a:xfrm>
          </p:grpSpPr>
          <p:sp>
            <p:nvSpPr>
              <p:cNvPr id="1226" name="Rectangle"/>
              <p:cNvSpPr/>
              <p:nvPr/>
            </p:nvSpPr>
            <p:spPr>
              <a:xfrm>
                <a:off x="0" y="3714"/>
                <a:ext cx="1790700" cy="431801"/>
              </a:xfrm>
              <a:prstGeom prst="rect">
                <a:avLst/>
              </a:prstGeom>
              <a:solidFill>
                <a:srgbClr val="BBE0E3"/>
              </a:solidFill>
              <a:ln w="9360" cap="flat">
                <a:solidFill>
                  <a:srgbClr val="000000"/>
                </a:solidFill>
                <a:prstDash val="solid"/>
                <a:miter lim="800000"/>
              </a:ln>
              <a:effectLst/>
            </p:spPr>
            <p:txBody>
              <a:bodyPr wrap="square" lIns="45719" tIns="45719" rIns="45719" bIns="45719" numCol="1" anchor="ctr">
                <a:noAutofit/>
              </a:bodyPr>
              <a:lstStyle/>
              <a:p>
                <a:pPr marL="0" marR="0" lvl="0" indent="0" algn="ctr" defTabSz="449262" rtl="0" eaLnBrk="1" fontAlgn="auto" latinLnBrk="0" hangingPunct="0">
                  <a:lnSpc>
                    <a:spcPct val="100000"/>
                  </a:lnSpc>
                  <a:spcBef>
                    <a:spcPts val="0"/>
                  </a:spcBef>
                  <a:spcAft>
                    <a:spcPts val="0"/>
                  </a:spcAft>
                  <a:buClrTx/>
                  <a:buSzTx/>
                  <a:buFontTx/>
                  <a:buNone/>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1227" name="PC"/>
              <p:cNvSpPr txBox="1"/>
              <p:nvPr/>
            </p:nvSpPr>
            <p:spPr>
              <a:xfrm>
                <a:off x="630491" y="0"/>
                <a:ext cx="529718" cy="4392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6799" tIns="46799" rIns="46799" bIns="46799" numCol="1" anchor="ctr">
                <a:spAutoFit/>
              </a:bodyPr>
              <a:lstStyle>
                <a:lvl1pPr algn="ctr">
                  <a:lnSpc>
                    <a:spcPct val="100000"/>
                  </a:lnSpc>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a:latin typeface="Arial"/>
                    <a:ea typeface="Arial"/>
                    <a:cs typeface="Arial"/>
                    <a:sym typeface="Arial"/>
                  </a:defRPr>
                </a:lvl1pPr>
              </a:lstStyle>
              <a:p>
                <a:pPr marL="0" marR="0" lvl="0" indent="0" algn="ctr" defTabSz="449262" rtl="0" eaLnBrk="1" fontAlgn="auto" latinLnBrk="0" hangingPunct="0">
                  <a:lnSpc>
                    <a:spcPct val="100000"/>
                  </a:lnSpc>
                  <a:spcBef>
                    <a:spcPts val="0"/>
                  </a:spcBef>
                  <a:spcAft>
                    <a:spcPts val="0"/>
                  </a:spcAft>
                  <a:buClrTx/>
                  <a:buSzTx/>
                  <a:buFontTx/>
                  <a:buNone/>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a:pPr>
                <a:r>
                  <a:rPr kumimoji="0" sz="2400" b="0" i="0" u="none" strike="noStrike" kern="0" cap="none" spc="0" normalizeH="0" baseline="0" noProof="0">
                    <a:ln>
                      <a:noFill/>
                    </a:ln>
                    <a:solidFill>
                      <a:srgbClr val="000000"/>
                    </a:solidFill>
                    <a:effectLst/>
                    <a:uLnTx/>
                    <a:uFillTx/>
                    <a:latin typeface="Arial"/>
                    <a:cs typeface="Arial"/>
                    <a:sym typeface="Arial"/>
                  </a:rPr>
                  <a:t>PC</a:t>
                </a:r>
              </a:p>
            </p:txBody>
          </p:sp>
        </p:grpSp>
        <p:sp>
          <p:nvSpPr>
            <p:cNvPr id="1229" name="Rectangle 5"/>
            <p:cNvSpPr/>
            <p:nvPr/>
          </p:nvSpPr>
          <p:spPr>
            <a:xfrm>
              <a:off x="0" y="3714"/>
              <a:ext cx="698500" cy="419101"/>
            </a:xfrm>
            <a:prstGeom prst="rect">
              <a:avLst/>
            </a:prstGeom>
            <a:solidFill>
              <a:srgbClr val="808080"/>
            </a:solidFill>
            <a:ln w="9360" cap="flat">
              <a:solidFill>
                <a:srgbClr val="000000"/>
              </a:solidFill>
              <a:prstDash val="solid"/>
              <a:miter lim="800000"/>
            </a:ln>
            <a:effectLst/>
          </p:spPr>
          <p:txBody>
            <a:bodyPr wrap="square" lIns="45719" tIns="45719" rIns="45719" bIns="45719" numCol="1" anchor="ctr">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1230" name="Rectangle 6"/>
            <p:cNvSpPr/>
            <p:nvPr/>
          </p:nvSpPr>
          <p:spPr>
            <a:xfrm>
              <a:off x="2387600" y="3714"/>
              <a:ext cx="101600" cy="419101"/>
            </a:xfrm>
            <a:prstGeom prst="rect">
              <a:avLst/>
            </a:prstGeom>
            <a:solidFill>
              <a:srgbClr val="808080"/>
            </a:solidFill>
            <a:ln w="9360" cap="flat">
              <a:solidFill>
                <a:srgbClr val="000000"/>
              </a:solidFill>
              <a:prstDash val="solid"/>
              <a:miter lim="800000"/>
            </a:ln>
            <a:effectLst/>
          </p:spPr>
          <p:txBody>
            <a:bodyPr wrap="square" lIns="45719" tIns="45719" rIns="45719" bIns="45719" numCol="1" anchor="ctr">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1231" name="Rectangle 7"/>
            <p:cNvSpPr/>
            <p:nvPr/>
          </p:nvSpPr>
          <p:spPr>
            <a:xfrm>
              <a:off x="2273300" y="3714"/>
              <a:ext cx="101600" cy="419101"/>
            </a:xfrm>
            <a:prstGeom prst="rect">
              <a:avLst/>
            </a:prstGeom>
            <a:solidFill>
              <a:srgbClr val="808080"/>
            </a:solidFill>
            <a:ln w="9360" cap="flat">
              <a:solidFill>
                <a:srgbClr val="000000"/>
              </a:solidFill>
              <a:prstDash val="solid"/>
              <a:miter lim="800000"/>
            </a:ln>
            <a:effectLst/>
          </p:spPr>
          <p:txBody>
            <a:bodyPr wrap="square" lIns="45719" tIns="45719" rIns="45719" bIns="45719" numCol="1" anchor="ctr">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grpSp>
          <p:nvGrpSpPr>
            <p:cNvPr id="1234" name="Rectangle 3"/>
            <p:cNvGrpSpPr/>
            <p:nvPr/>
          </p:nvGrpSpPr>
          <p:grpSpPr>
            <a:xfrm>
              <a:off x="722312" y="550862"/>
              <a:ext cx="1000126" cy="439230"/>
              <a:chOff x="0" y="0"/>
              <a:chExt cx="1000125" cy="439228"/>
            </a:xfrm>
          </p:grpSpPr>
          <p:sp>
            <p:nvSpPr>
              <p:cNvPr id="1232" name="Rectangle"/>
              <p:cNvSpPr/>
              <p:nvPr/>
            </p:nvSpPr>
            <p:spPr>
              <a:xfrm>
                <a:off x="0" y="3714"/>
                <a:ext cx="1000125" cy="431801"/>
              </a:xfrm>
              <a:prstGeom prst="rect">
                <a:avLst/>
              </a:prstGeom>
              <a:solidFill>
                <a:srgbClr val="BBE0E3"/>
              </a:solidFill>
              <a:ln w="9360" cap="flat">
                <a:solidFill>
                  <a:srgbClr val="000000"/>
                </a:solidFill>
                <a:prstDash val="solid"/>
                <a:miter lim="800000"/>
              </a:ln>
              <a:effectLst/>
            </p:spPr>
            <p:txBody>
              <a:bodyPr wrap="square" lIns="45719" tIns="45719" rIns="45719" bIns="45719" numCol="1" anchor="ctr">
                <a:noAutofit/>
              </a:bodyPr>
              <a:lstStyle/>
              <a:p>
                <a:pPr marL="0" marR="0" lvl="0" indent="0" algn="ctr" defTabSz="449262" rtl="0" eaLnBrk="1" fontAlgn="auto" latinLnBrk="0" hangingPunct="0">
                  <a:lnSpc>
                    <a:spcPct val="100000"/>
                  </a:lnSpc>
                  <a:spcBef>
                    <a:spcPts val="0"/>
                  </a:spcBef>
                  <a:spcAft>
                    <a:spcPts val="0"/>
                  </a:spcAft>
                  <a:buClrTx/>
                  <a:buSzTx/>
                  <a:buFontTx/>
                  <a:buNone/>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1233" name="GBHR"/>
              <p:cNvSpPr txBox="1"/>
              <p:nvPr/>
            </p:nvSpPr>
            <p:spPr>
              <a:xfrm>
                <a:off x="6604" y="0"/>
                <a:ext cx="986917" cy="4392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6799" tIns="46799" rIns="46799" bIns="46799" numCol="1" anchor="ctr">
                <a:spAutoFit/>
              </a:bodyPr>
              <a:lstStyle>
                <a:lvl1pPr algn="ctr">
                  <a:lnSpc>
                    <a:spcPct val="100000"/>
                  </a:lnSpc>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a:latin typeface="Arial"/>
                    <a:ea typeface="Arial"/>
                    <a:cs typeface="Arial"/>
                    <a:sym typeface="Arial"/>
                  </a:defRPr>
                </a:lvl1pPr>
              </a:lstStyle>
              <a:p>
                <a:pPr marL="0" marR="0" lvl="0" indent="0" algn="ctr" defTabSz="449262" rtl="0" eaLnBrk="1" fontAlgn="auto" latinLnBrk="0" hangingPunct="0">
                  <a:lnSpc>
                    <a:spcPct val="100000"/>
                  </a:lnSpc>
                  <a:spcBef>
                    <a:spcPts val="0"/>
                  </a:spcBef>
                  <a:spcAft>
                    <a:spcPts val="0"/>
                  </a:spcAft>
                  <a:buClrTx/>
                  <a:buSzTx/>
                  <a:buFontTx/>
                  <a:buNone/>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a:pPr>
                <a:r>
                  <a:rPr kumimoji="0" sz="2400" b="0" i="0" u="none" strike="noStrike" kern="0" cap="none" spc="0" normalizeH="0" baseline="0" noProof="0">
                    <a:ln>
                      <a:noFill/>
                    </a:ln>
                    <a:solidFill>
                      <a:srgbClr val="000000"/>
                    </a:solidFill>
                    <a:effectLst/>
                    <a:uLnTx/>
                    <a:uFillTx/>
                    <a:latin typeface="Arial"/>
                    <a:cs typeface="Arial"/>
                    <a:sym typeface="Arial"/>
                  </a:rPr>
                  <a:t>GBHR</a:t>
                </a:r>
              </a:p>
            </p:txBody>
          </p:sp>
        </p:grpSp>
        <p:sp>
          <p:nvSpPr>
            <p:cNvPr id="1235" name="TextBox 12"/>
            <p:cNvSpPr txBox="1"/>
            <p:nvPr/>
          </p:nvSpPr>
          <p:spPr>
            <a:xfrm>
              <a:off x="699769" y="1211802"/>
              <a:ext cx="1780988" cy="43706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a:defRPr>
                  <a:latin typeface="Arial"/>
                  <a:ea typeface="Arial"/>
                  <a:cs typeface="Arial"/>
                  <a:sym typeface="Arial"/>
                </a:defRPr>
              </a:lvl1pPr>
            </a:lstStyle>
            <a:p>
              <a:pPr marL="0" marR="0" lvl="0" indent="0" algn="l" defTabSz="449262" rtl="0" eaLnBrk="1" fontAlgn="auto" latinLnBrk="0" hangingPunct="0">
                <a:lnSpc>
                  <a:spcPct val="93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Arial"/>
                  <a:cs typeface="Arial"/>
                  <a:sym typeface="Arial"/>
                </a:rPr>
                <a:t>bitwise XOR</a:t>
              </a:r>
            </a:p>
          </p:txBody>
        </p:sp>
        <p:sp>
          <p:nvSpPr>
            <p:cNvPr id="1236" name="Straight Arrow Connector 14"/>
            <p:cNvSpPr/>
            <p:nvPr/>
          </p:nvSpPr>
          <p:spPr>
            <a:xfrm>
              <a:off x="2714625" y="1380077"/>
              <a:ext cx="1531938" cy="1588"/>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omic Sans MS"/>
                <a:sym typeface="Comic Sans MS"/>
              </a:endParaRPr>
            </a:p>
          </p:txBody>
        </p:sp>
        <p:sp>
          <p:nvSpPr>
            <p:cNvPr id="1237" name="Rectangle 24"/>
            <p:cNvSpPr/>
            <p:nvPr/>
          </p:nvSpPr>
          <p:spPr>
            <a:xfrm>
              <a:off x="4445000" y="64039"/>
              <a:ext cx="571500" cy="2139951"/>
            </a:xfrm>
            <a:prstGeom prst="rect">
              <a:avLst/>
            </a:prstGeom>
            <a:solidFill>
              <a:srgbClr val="BBE0E3"/>
            </a:solidFill>
            <a:ln w="9360" cap="flat">
              <a:solidFill>
                <a:srgbClr val="000000"/>
              </a:solidFill>
              <a:prstDash val="solid"/>
              <a:miter lim="800000"/>
            </a:ln>
            <a:effectLst/>
          </p:spPr>
          <p:txBody>
            <a:bodyPr wrap="square" lIns="45719" tIns="45719" rIns="45719" bIns="45719" numCol="1" anchor="ctr">
              <a:noAutofit/>
            </a:bodyPr>
            <a:lstStyle/>
            <a:p>
              <a:pPr marL="0" marR="0" lvl="0" indent="0" algn="l"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1238" name="Line 25"/>
            <p:cNvSpPr/>
            <p:nvPr/>
          </p:nvSpPr>
          <p:spPr>
            <a:xfrm>
              <a:off x="4444999" y="368839"/>
              <a:ext cx="546102" cy="1589"/>
            </a:xfrm>
            <a:prstGeom prst="line">
              <a:avLst/>
            </a:prstGeom>
            <a:noFill/>
            <a:ln w="9360" cap="flat">
              <a:solidFill>
                <a:srgbClr val="000000"/>
              </a:solidFill>
              <a:prstDash val="solid"/>
              <a:miter lim="800000"/>
            </a:ln>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omic Sans MS"/>
                <a:sym typeface="Comic Sans MS"/>
              </a:endParaRPr>
            </a:p>
          </p:txBody>
        </p:sp>
        <p:sp>
          <p:nvSpPr>
            <p:cNvPr id="1239" name="Line 26"/>
            <p:cNvSpPr/>
            <p:nvPr/>
          </p:nvSpPr>
          <p:spPr>
            <a:xfrm>
              <a:off x="4444999" y="673639"/>
              <a:ext cx="546102" cy="1589"/>
            </a:xfrm>
            <a:prstGeom prst="line">
              <a:avLst/>
            </a:prstGeom>
            <a:noFill/>
            <a:ln w="9360" cap="flat">
              <a:solidFill>
                <a:srgbClr val="000000"/>
              </a:solidFill>
              <a:prstDash val="solid"/>
              <a:miter lim="800000"/>
            </a:ln>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omic Sans MS"/>
                <a:sym typeface="Comic Sans MS"/>
              </a:endParaRPr>
            </a:p>
          </p:txBody>
        </p:sp>
        <p:sp>
          <p:nvSpPr>
            <p:cNvPr id="1240" name="Line 27"/>
            <p:cNvSpPr/>
            <p:nvPr/>
          </p:nvSpPr>
          <p:spPr>
            <a:xfrm>
              <a:off x="4444999" y="965739"/>
              <a:ext cx="558801" cy="1589"/>
            </a:xfrm>
            <a:prstGeom prst="line">
              <a:avLst/>
            </a:prstGeom>
            <a:noFill/>
            <a:ln w="9360" cap="flat">
              <a:solidFill>
                <a:srgbClr val="000000"/>
              </a:solidFill>
              <a:prstDash val="solid"/>
              <a:miter lim="800000"/>
            </a:ln>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omic Sans MS"/>
                <a:sym typeface="Comic Sans MS"/>
              </a:endParaRPr>
            </a:p>
          </p:txBody>
        </p:sp>
        <p:sp>
          <p:nvSpPr>
            <p:cNvPr id="1241" name="Text Box 28"/>
            <p:cNvSpPr txBox="1"/>
            <p:nvPr/>
          </p:nvSpPr>
          <p:spPr>
            <a:xfrm>
              <a:off x="4473912" y="44989"/>
              <a:ext cx="529965" cy="37739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6799" tIns="46799" rIns="46799" bIns="46799" numCol="1" anchor="t">
              <a:spAutoFit/>
            </a:bodyPr>
            <a:lstStyle>
              <a:lvl1pPr>
                <a:lnSpc>
                  <a:spcPct val="100000"/>
                </a:lnSpc>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sz="2000">
                  <a:latin typeface="Arial"/>
                  <a:ea typeface="Arial"/>
                  <a:cs typeface="Arial"/>
                  <a:sym typeface="Arial"/>
                </a:defRPr>
              </a:lvl1pPr>
            </a:lstStyle>
            <a:p>
              <a:pPr marL="0" marR="0" lvl="0" indent="0" algn="l" defTabSz="449262" rtl="0" eaLnBrk="1" fontAlgn="auto" latinLnBrk="0" hangingPunct="0">
                <a:lnSpc>
                  <a:spcPct val="100000"/>
                </a:lnSpc>
                <a:spcBef>
                  <a:spcPts val="0"/>
                </a:spcBef>
                <a:spcAft>
                  <a:spcPts val="0"/>
                </a:spcAft>
                <a:buClrTx/>
                <a:buSzTx/>
                <a:buFontTx/>
                <a:buNone/>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a:pPr>
              <a:r>
                <a:rPr kumimoji="0" sz="2000" b="0" i="0" u="none" strike="noStrike" kern="0" cap="none" spc="0" normalizeH="0" baseline="0" noProof="0">
                  <a:ln>
                    <a:noFill/>
                  </a:ln>
                  <a:solidFill>
                    <a:srgbClr val="000000"/>
                  </a:solidFill>
                  <a:effectLst/>
                  <a:uLnTx/>
                  <a:uFillTx/>
                  <a:latin typeface="Arial"/>
                  <a:cs typeface="Arial"/>
                  <a:sym typeface="Arial"/>
                </a:rPr>
                <a:t>1  1</a:t>
              </a:r>
            </a:p>
          </p:txBody>
        </p:sp>
        <p:sp>
          <p:nvSpPr>
            <p:cNvPr id="1242" name="Text Box 29"/>
            <p:cNvSpPr txBox="1"/>
            <p:nvPr/>
          </p:nvSpPr>
          <p:spPr>
            <a:xfrm>
              <a:off x="4461212" y="337089"/>
              <a:ext cx="529965" cy="37739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6799" tIns="46799" rIns="46799" bIns="46799" numCol="1" anchor="t">
              <a:spAutoFit/>
            </a:bodyPr>
            <a:lstStyle>
              <a:lvl1pPr>
                <a:lnSpc>
                  <a:spcPct val="100000"/>
                </a:lnSpc>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sz="2000">
                  <a:latin typeface="Arial"/>
                  <a:ea typeface="Arial"/>
                  <a:cs typeface="Arial"/>
                  <a:sym typeface="Arial"/>
                </a:defRPr>
              </a:lvl1pPr>
            </a:lstStyle>
            <a:p>
              <a:pPr marL="0" marR="0" lvl="0" indent="0" algn="l" defTabSz="449262" rtl="0" eaLnBrk="1" fontAlgn="auto" latinLnBrk="0" hangingPunct="0">
                <a:lnSpc>
                  <a:spcPct val="100000"/>
                </a:lnSpc>
                <a:spcBef>
                  <a:spcPts val="0"/>
                </a:spcBef>
                <a:spcAft>
                  <a:spcPts val="0"/>
                </a:spcAft>
                <a:buClrTx/>
                <a:buSzTx/>
                <a:buFontTx/>
                <a:buNone/>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a:pPr>
              <a:r>
                <a:rPr kumimoji="0" sz="2000" b="0" i="0" u="none" strike="noStrike" kern="0" cap="none" spc="0" normalizeH="0" baseline="0" noProof="0">
                  <a:ln>
                    <a:noFill/>
                  </a:ln>
                  <a:solidFill>
                    <a:srgbClr val="000000"/>
                  </a:solidFill>
                  <a:effectLst/>
                  <a:uLnTx/>
                  <a:uFillTx/>
                  <a:latin typeface="Arial"/>
                  <a:cs typeface="Arial"/>
                  <a:sym typeface="Arial"/>
                </a:rPr>
                <a:t>1  0</a:t>
              </a:r>
            </a:p>
          </p:txBody>
        </p:sp>
        <p:sp>
          <p:nvSpPr>
            <p:cNvPr id="1243" name="Text Box 30"/>
            <p:cNvSpPr txBox="1"/>
            <p:nvPr/>
          </p:nvSpPr>
          <p:spPr>
            <a:xfrm>
              <a:off x="4461212" y="629189"/>
              <a:ext cx="529965" cy="37739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6799" tIns="46799" rIns="46799" bIns="46799" numCol="1" anchor="t">
              <a:spAutoFit/>
            </a:bodyPr>
            <a:lstStyle>
              <a:lvl1pPr>
                <a:lnSpc>
                  <a:spcPct val="100000"/>
                </a:lnSpc>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sz="2000">
                  <a:latin typeface="Arial"/>
                  <a:ea typeface="Arial"/>
                  <a:cs typeface="Arial"/>
                  <a:sym typeface="Arial"/>
                </a:defRPr>
              </a:lvl1pPr>
            </a:lstStyle>
            <a:p>
              <a:pPr marL="0" marR="0" lvl="0" indent="0" algn="l" defTabSz="449262" rtl="0" eaLnBrk="1" fontAlgn="auto" latinLnBrk="0" hangingPunct="0">
                <a:lnSpc>
                  <a:spcPct val="100000"/>
                </a:lnSpc>
                <a:spcBef>
                  <a:spcPts val="0"/>
                </a:spcBef>
                <a:spcAft>
                  <a:spcPts val="0"/>
                </a:spcAft>
                <a:buClrTx/>
                <a:buSzTx/>
                <a:buFontTx/>
                <a:buNone/>
                <a:tabLst>
                  <a:tab pos="444500" algn="l"/>
                  <a:tab pos="889000" algn="l"/>
                  <a:tab pos="1346200" algn="l"/>
                  <a:tab pos="1790700" algn="l"/>
                  <a:tab pos="2235200" algn="l"/>
                  <a:tab pos="2692400" algn="l"/>
                  <a:tab pos="3136900" algn="l"/>
                  <a:tab pos="3581400" algn="l"/>
                  <a:tab pos="4038600" algn="l"/>
                  <a:tab pos="4483100" algn="l"/>
                  <a:tab pos="4940300" algn="l"/>
                  <a:tab pos="5384800" algn="l"/>
                  <a:tab pos="5829300" algn="l"/>
                  <a:tab pos="6286500" algn="l"/>
                  <a:tab pos="6731000" algn="l"/>
                  <a:tab pos="7175500" algn="l"/>
                  <a:tab pos="7632700" algn="l"/>
                  <a:tab pos="8077200" algn="l"/>
                  <a:tab pos="8534400" algn="l"/>
                  <a:tab pos="8978900" algn="l"/>
                </a:tabLst>
                <a:defRPr/>
              </a:pPr>
              <a:r>
                <a:rPr kumimoji="0" sz="2000" b="0" i="0" u="none" strike="noStrike" kern="0" cap="none" spc="0" normalizeH="0" baseline="0" noProof="0">
                  <a:ln>
                    <a:noFill/>
                  </a:ln>
                  <a:solidFill>
                    <a:srgbClr val="000000"/>
                  </a:solidFill>
                  <a:effectLst/>
                  <a:uLnTx/>
                  <a:uFillTx/>
                  <a:latin typeface="Arial"/>
                  <a:cs typeface="Arial"/>
                  <a:sym typeface="Arial"/>
                </a:rPr>
                <a:t>0  0</a:t>
              </a:r>
            </a:p>
          </p:txBody>
        </p:sp>
        <p:sp>
          <p:nvSpPr>
            <p:cNvPr id="1244" name="Line 31"/>
            <p:cNvSpPr/>
            <p:nvPr/>
          </p:nvSpPr>
          <p:spPr>
            <a:xfrm flipV="1">
              <a:off x="4724400" y="70389"/>
              <a:ext cx="1588" cy="1003301"/>
            </a:xfrm>
            <a:prstGeom prst="line">
              <a:avLst/>
            </a:prstGeom>
            <a:noFill/>
            <a:ln w="9360" cap="flat">
              <a:solidFill>
                <a:srgbClr val="000000"/>
              </a:solidFill>
              <a:prstDash val="solid"/>
              <a:miter lim="800000"/>
            </a:ln>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omic Sans MS"/>
                <a:sym typeface="Comic Sans MS"/>
              </a:endParaRPr>
            </a:p>
          </p:txBody>
        </p:sp>
      </p:grpSp>
      <p:sp>
        <p:nvSpPr>
          <p:cNvPr id="1246" name="Content Placeholder 2"/>
          <p:cNvSpPr txBox="1">
            <a:spLocks noGrp="1"/>
          </p:cNvSpPr>
          <p:nvPr>
            <p:ph type="body" sz="half" idx="1"/>
          </p:nvPr>
        </p:nvSpPr>
        <p:spPr>
          <a:xfrm>
            <a:off x="685799" y="1262415"/>
            <a:ext cx="8376316" cy="2606722"/>
          </a:xfrm>
          <a:prstGeom prst="rect">
            <a:avLst/>
          </a:prstGeom>
        </p:spPr>
        <p:txBody>
          <a:bodyPr/>
          <a:lstStyle/>
          <a:p>
            <a:r>
              <a:t>more history, </a:t>
            </a:r>
            <a:r>
              <a:rPr b="1"/>
              <a:t>exponentially</a:t>
            </a:r>
            <a:r>
              <a:t> more tables</a:t>
            </a:r>
          </a:p>
          <a:p>
            <a:pPr marL="741362" lvl="1" indent="-284162">
              <a:spcBef>
                <a:spcPts val="600"/>
              </a:spcBef>
              <a:defRPr sz="2400"/>
            </a:pPr>
            <a:r>
              <a:t>tradeoff between # tables vs # branches tracked</a:t>
            </a:r>
          </a:p>
          <a:p>
            <a:pPr marL="1600200" lvl="3" indent="-228600">
              <a:spcBef>
                <a:spcPts val="400"/>
              </a:spcBef>
              <a:defRPr sz="1800"/>
            </a:pPr>
            <a:endParaRPr/>
          </a:p>
          <a:p>
            <a:r>
              <a:t>but long history </a:t>
            </a:r>
            <a:r>
              <a:rPr b="1"/>
              <a:t>required</a:t>
            </a:r>
            <a:r>
              <a:t> for useful correlation</a:t>
            </a:r>
          </a:p>
        </p:txBody>
      </p:sp>
      <p:sp>
        <p:nvSpPr>
          <p:cNvPr id="1249" name="TextBox 3"/>
          <p:cNvSpPr txBox="1"/>
          <p:nvPr/>
        </p:nvSpPr>
        <p:spPr>
          <a:xfrm>
            <a:off x="6132031" y="4463970"/>
            <a:ext cx="2781112" cy="7684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marL="0" marR="0" lvl="0" indent="0" algn="l"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r>
              <a:rPr kumimoji="0" sz="2400" b="0" i="0" u="none" strike="noStrike" kern="0" cap="none" spc="0" normalizeH="0" baseline="0" noProof="0">
                <a:ln>
                  <a:noFill/>
                </a:ln>
                <a:solidFill>
                  <a:srgbClr val="000000"/>
                </a:solidFill>
                <a:effectLst/>
                <a:uLnTx/>
                <a:uFillTx/>
                <a:latin typeface="Arial"/>
                <a:cs typeface="Arial"/>
                <a:sym typeface="Arial"/>
              </a:rPr>
              <a:t>pattern history table</a:t>
            </a:r>
            <a:br>
              <a:rPr kumimoji="0" sz="2400" b="0" i="0" u="none" strike="noStrike" kern="0" cap="none" spc="0" normalizeH="0" baseline="0" noProof="0">
                <a:ln>
                  <a:noFill/>
                </a:ln>
                <a:solidFill>
                  <a:srgbClr val="000000"/>
                </a:solidFill>
                <a:effectLst/>
                <a:uLnTx/>
                <a:uFillTx/>
                <a:latin typeface="Arial"/>
                <a:cs typeface="Arial"/>
                <a:sym typeface="Arial"/>
              </a:rPr>
            </a:br>
            <a:r>
              <a:rPr kumimoji="0" sz="2400" b="0" i="0" u="none" strike="noStrike" kern="0" cap="none" spc="0" normalizeH="0" baseline="0" noProof="0">
                <a:ln>
                  <a:noFill/>
                </a:ln>
                <a:solidFill>
                  <a:srgbClr val="000000"/>
                </a:solidFill>
                <a:effectLst/>
                <a:uLnTx/>
                <a:uFillTx/>
                <a:latin typeface="Arial"/>
                <a:cs typeface="Arial"/>
                <a:sym typeface="Arial"/>
              </a:rPr>
              <a:t>(PHT)</a:t>
            </a:r>
          </a:p>
        </p:txBody>
      </p:sp>
      <p:sp>
        <p:nvSpPr>
          <p:cNvPr id="1250" name="TextBox 4"/>
          <p:cNvSpPr txBox="1"/>
          <p:nvPr/>
        </p:nvSpPr>
        <p:spPr>
          <a:xfrm>
            <a:off x="2366130" y="6219211"/>
            <a:ext cx="4575335" cy="5480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3200" b="1">
                <a:solidFill>
                  <a:srgbClr val="C00000"/>
                </a:solidFill>
                <a:latin typeface="Arial"/>
                <a:ea typeface="Arial"/>
                <a:cs typeface="Arial"/>
                <a:sym typeface="Arial"/>
              </a:defRPr>
            </a:lvl1pPr>
          </a:lstStyle>
          <a:p>
            <a:pPr marL="0" marR="0" lvl="0" indent="0" algn="l" defTabSz="449262" rtl="0" eaLnBrk="1" fontAlgn="auto" latinLnBrk="0" hangingPunct="0">
              <a:lnSpc>
                <a:spcPct val="93000"/>
              </a:lnSpc>
              <a:spcBef>
                <a:spcPts val="0"/>
              </a:spcBef>
              <a:spcAft>
                <a:spcPts val="0"/>
              </a:spcAft>
              <a:buClrTx/>
              <a:buSzTx/>
              <a:buFontTx/>
              <a:buNone/>
              <a:tabLst/>
              <a:defRPr/>
            </a:pPr>
            <a:r>
              <a:rPr kumimoji="0" sz="3200" b="1" i="0" u="none" strike="noStrike" kern="0" cap="none" spc="0" normalizeH="0" baseline="0" noProof="0">
                <a:ln>
                  <a:noFill/>
                </a:ln>
                <a:solidFill>
                  <a:srgbClr val="C00000"/>
                </a:solidFill>
                <a:effectLst/>
                <a:uLnTx/>
                <a:uFillTx/>
                <a:latin typeface="Arial"/>
                <a:cs typeface="Arial"/>
                <a:sym typeface="Arial"/>
              </a:rPr>
              <a:t>what are the tradeoffs?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4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24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124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124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24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245"/>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12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p:tmAbs val="0"/>
                                  </p:iterate>
                                  <p:childTnLst>
                                    <p:set>
                                      <p:cBhvr>
                                        <p:cTn id="27" fill="hold"/>
                                        <p:tgtEl>
                                          <p:spTgt spid="1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5" grpId="0" animBg="1" advAuto="0"/>
      <p:bldP spid="1246" grpId="0" build="p" animBg="1" advAuto="0"/>
      <p:bldP spid="1249" grpId="0" animBg="1" advAuto="0"/>
      <p:bldP spid="1250" grpId="0" animBg="1" advAuto="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2" name="Title 1"/>
          <p:cNvSpPr txBox="1">
            <a:spLocks noGrp="1"/>
          </p:cNvSpPr>
          <p:nvPr>
            <p:ph type="title"/>
          </p:nvPr>
        </p:nvSpPr>
        <p:spPr>
          <a:xfrm>
            <a:off x="685799" y="-85725"/>
            <a:ext cx="7770815" cy="1311275"/>
          </a:xfrm>
          <a:prstGeom prst="rect">
            <a:avLst/>
          </a:prstGeom>
        </p:spPr>
        <p:txBody>
          <a:bodyPr/>
          <a:lstStyle>
            <a:lvl1pPr>
              <a:defRPr b="1"/>
            </a:lvl1pPr>
          </a:lstStyle>
          <a:p>
            <a:r>
              <a:t>Remembering history</a:t>
            </a:r>
          </a:p>
        </p:txBody>
      </p:sp>
      <p:grpSp>
        <p:nvGrpSpPr>
          <p:cNvPr id="1262" name="Group 24"/>
          <p:cNvGrpSpPr/>
          <p:nvPr/>
        </p:nvGrpSpPr>
        <p:grpSpPr>
          <a:xfrm>
            <a:off x="1831621" y="2270613"/>
            <a:ext cx="6231549" cy="671513"/>
            <a:chOff x="0" y="0"/>
            <a:chExt cx="6231547" cy="671512"/>
          </a:xfrm>
        </p:grpSpPr>
        <p:grpSp>
          <p:nvGrpSpPr>
            <p:cNvPr id="1258" name="Group 11"/>
            <p:cNvGrpSpPr/>
            <p:nvPr/>
          </p:nvGrpSpPr>
          <p:grpSpPr>
            <a:xfrm>
              <a:off x="0" y="0"/>
              <a:ext cx="2547939" cy="671513"/>
              <a:chOff x="0" y="0"/>
              <a:chExt cx="2547938" cy="671512"/>
            </a:xfrm>
          </p:grpSpPr>
          <p:sp>
            <p:nvSpPr>
              <p:cNvPr id="1253" name="Rectangle 8"/>
              <p:cNvSpPr/>
              <p:nvPr/>
            </p:nvSpPr>
            <p:spPr>
              <a:xfrm>
                <a:off x="-1" y="-1"/>
                <a:ext cx="2357440" cy="671514"/>
              </a:xfrm>
              <a:prstGeom prst="rect">
                <a:avLst/>
              </a:prstGeom>
              <a:noFill/>
              <a:ln w="9525" cap="flat">
                <a:solidFill>
                  <a:srgbClr val="000000"/>
                </a:solidFill>
                <a:prstDash val="dash"/>
                <a:round/>
              </a:ln>
              <a:effectLst/>
            </p:spPr>
            <p:txBody>
              <a:bodyPr wrap="square" lIns="45719" tIns="45719" rIns="45719" bIns="45719" numCol="1" anchor="ctr">
                <a:noAutofit/>
              </a:bodyPr>
              <a:lstStyle/>
              <a:p>
                <a:pPr marL="0" marR="0" lvl="0" indent="0" algn="ctr"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endParaRPr kumimoji="0" sz="2400" b="0" i="0" u="none" strike="noStrike" kern="0" cap="none" spc="0" normalizeH="0" baseline="0" noProof="0">
                  <a:ln>
                    <a:noFill/>
                  </a:ln>
                  <a:solidFill>
                    <a:srgbClr val="000000"/>
                  </a:solidFill>
                  <a:effectLst/>
                  <a:uLnTx/>
                  <a:uFillTx/>
                  <a:latin typeface="Arial"/>
                  <a:cs typeface="Arial"/>
                  <a:sym typeface="Arial"/>
                </a:endParaRPr>
              </a:p>
            </p:txBody>
          </p:sp>
          <p:grpSp>
            <p:nvGrpSpPr>
              <p:cNvPr id="1256" name="Rectangle 7"/>
              <p:cNvGrpSpPr/>
              <p:nvPr/>
            </p:nvGrpSpPr>
            <p:grpSpPr>
              <a:xfrm>
                <a:off x="190499" y="-1"/>
                <a:ext cx="2357440" cy="671514"/>
                <a:chOff x="0" y="0"/>
                <a:chExt cx="2357438" cy="671512"/>
              </a:xfrm>
            </p:grpSpPr>
            <p:sp>
              <p:nvSpPr>
                <p:cNvPr id="1254" name="Rectangle"/>
                <p:cNvSpPr/>
                <p:nvPr/>
              </p:nvSpPr>
              <p:spPr>
                <a:xfrm>
                  <a:off x="-1" y="-1"/>
                  <a:ext cx="2357440" cy="671514"/>
                </a:xfrm>
                <a:prstGeom prst="rect">
                  <a:avLst/>
                </a:prstGeom>
                <a:solidFill>
                  <a:srgbClr val="ADADEB"/>
                </a:solidFill>
                <a:ln w="9525" cap="flat">
                  <a:solidFill>
                    <a:srgbClr val="000000"/>
                  </a:solidFill>
                  <a:prstDash val="solid"/>
                  <a:round/>
                </a:ln>
                <a:effectLst/>
              </p:spPr>
              <p:txBody>
                <a:bodyPr wrap="square" lIns="45719" tIns="45719" rIns="45719" bIns="45719" numCol="1" anchor="ctr">
                  <a:noAutofit/>
                </a:bodyPr>
                <a:lstStyle/>
                <a:p>
                  <a:pPr marL="0" marR="0" lvl="0" indent="0" algn="ctr"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1255" name="BHR"/>
                <p:cNvSpPr txBox="1"/>
                <p:nvPr/>
              </p:nvSpPr>
              <p:spPr>
                <a:xfrm>
                  <a:off x="50482" y="117221"/>
                  <a:ext cx="2256474" cy="43707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latin typeface="Arial"/>
                      <a:ea typeface="Arial"/>
                      <a:cs typeface="Arial"/>
                      <a:sym typeface="Arial"/>
                    </a:defRPr>
                  </a:lvl1pPr>
                </a:lstStyle>
                <a:p>
                  <a:pPr marL="0" marR="0" lvl="0" indent="0" algn="ctr" defTabSz="449262" rtl="0" eaLnBrk="1" fontAlgn="auto" latinLnBrk="0" hangingPunct="0">
                    <a:lnSpc>
                      <a:spcPct val="93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Arial"/>
                      <a:cs typeface="Arial"/>
                      <a:sym typeface="Arial"/>
                    </a:rPr>
                    <a:t>BHR</a:t>
                  </a:r>
                </a:p>
              </p:txBody>
            </p:sp>
          </p:grpSp>
          <p:sp>
            <p:nvSpPr>
              <p:cNvPr id="1257" name="Rectangle 10"/>
              <p:cNvSpPr/>
              <p:nvPr/>
            </p:nvSpPr>
            <p:spPr>
              <a:xfrm>
                <a:off x="2357438" y="-1"/>
                <a:ext cx="190501" cy="671514"/>
              </a:xfrm>
              <a:prstGeom prst="rect">
                <a:avLst/>
              </a:prstGeom>
              <a:noFill/>
              <a:ln w="9525" cap="flat">
                <a:solidFill>
                  <a:srgbClr val="000000"/>
                </a:solidFill>
                <a:prstDash val="solid"/>
                <a:round/>
              </a:ln>
              <a:effectLst/>
            </p:spPr>
            <p:txBody>
              <a:bodyPr wrap="square" lIns="45719" tIns="45719" rIns="45719" bIns="45719" numCol="1" anchor="ctr">
                <a:noAutofit/>
              </a:bodyPr>
              <a:lstStyle/>
              <a:p>
                <a:pPr marL="0" marR="0" lvl="0" indent="0" algn="ctr"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endParaRPr kumimoji="0" sz="2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61" name="Group 14"/>
            <p:cNvGrpSpPr/>
            <p:nvPr/>
          </p:nvGrpSpPr>
          <p:grpSpPr>
            <a:xfrm>
              <a:off x="2662238" y="117843"/>
              <a:ext cx="3569310" cy="437069"/>
              <a:chOff x="0" y="0"/>
              <a:chExt cx="3569309" cy="437068"/>
            </a:xfrm>
          </p:grpSpPr>
          <p:sp>
            <p:nvSpPr>
              <p:cNvPr id="1259" name="TextBox 5"/>
              <p:cNvSpPr txBox="1"/>
              <p:nvPr/>
            </p:nvSpPr>
            <p:spPr>
              <a:xfrm>
                <a:off x="619426" y="0"/>
                <a:ext cx="2949884" cy="43706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marL="0" marR="0" lvl="0" indent="0" algn="l"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r>
                  <a:rPr kumimoji="0" sz="2400" b="0" i="0" u="none" strike="noStrike" kern="0" cap="none" spc="0" normalizeH="0" baseline="0" noProof="0">
                    <a:ln>
                      <a:noFill/>
                    </a:ln>
                    <a:solidFill>
                      <a:srgbClr val="000000"/>
                    </a:solidFill>
                    <a:effectLst/>
                    <a:uLnTx/>
                    <a:uFillTx/>
                    <a:latin typeface="Arial"/>
                    <a:cs typeface="Arial"/>
                    <a:sym typeface="Arial"/>
                  </a:rPr>
                  <a:t>last branch </a:t>
                </a:r>
                <a:r>
                  <a:rPr kumimoji="0" sz="2400" b="1" i="0" u="none" strike="noStrike" kern="0" cap="none" spc="0" normalizeH="0" baseline="0" noProof="0">
                    <a:ln>
                      <a:noFill/>
                    </a:ln>
                    <a:solidFill>
                      <a:srgbClr val="000000"/>
                    </a:solidFill>
                    <a:effectLst/>
                    <a:uLnTx/>
                    <a:uFillTx/>
                    <a:latin typeface="Arial"/>
                    <a:cs typeface="Arial"/>
                    <a:sym typeface="Arial"/>
                  </a:rPr>
                  <a:t>outcome</a:t>
                </a:r>
              </a:p>
            </p:txBody>
          </p:sp>
          <p:sp>
            <p:nvSpPr>
              <p:cNvPr id="1260" name="Straight Arrow Connector 13"/>
              <p:cNvSpPr/>
              <p:nvPr/>
            </p:nvSpPr>
            <p:spPr>
              <a:xfrm flipH="1" flipV="1">
                <a:off x="0" y="217913"/>
                <a:ext cx="497507" cy="1"/>
              </a:xfrm>
              <a:prstGeom prst="line">
                <a:avLst/>
              </a:prstGeom>
              <a:noFill/>
              <a:ln w="25400" cap="flat">
                <a:solidFill>
                  <a:srgbClr val="000000"/>
                </a:solidFill>
                <a:prstDash val="solid"/>
                <a:round/>
                <a:tailEnd type="triangle" w="med" len="med"/>
              </a:ln>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omic Sans MS"/>
                  <a:sym typeface="Comic Sans MS"/>
                </a:endParaRPr>
              </a:p>
            </p:txBody>
          </p:sp>
        </p:grpSp>
      </p:grpSp>
      <p:grpSp>
        <p:nvGrpSpPr>
          <p:cNvPr id="1267" name="Group 25"/>
          <p:cNvGrpSpPr/>
          <p:nvPr/>
        </p:nvGrpSpPr>
        <p:grpSpPr>
          <a:xfrm>
            <a:off x="2009773" y="1292593"/>
            <a:ext cx="6294950" cy="671513"/>
            <a:chOff x="0" y="0"/>
            <a:chExt cx="6294948" cy="671512"/>
          </a:xfrm>
        </p:grpSpPr>
        <p:grpSp>
          <p:nvGrpSpPr>
            <p:cNvPr id="1265" name="Rectangle 3"/>
            <p:cNvGrpSpPr/>
            <p:nvPr/>
          </p:nvGrpSpPr>
          <p:grpSpPr>
            <a:xfrm>
              <a:off x="0" y="0"/>
              <a:ext cx="2357439" cy="671513"/>
              <a:chOff x="0" y="0"/>
              <a:chExt cx="2357438" cy="671512"/>
            </a:xfrm>
          </p:grpSpPr>
          <p:sp>
            <p:nvSpPr>
              <p:cNvPr id="1263" name="Rectangle"/>
              <p:cNvSpPr/>
              <p:nvPr/>
            </p:nvSpPr>
            <p:spPr>
              <a:xfrm>
                <a:off x="-1" y="-1"/>
                <a:ext cx="2357440" cy="671514"/>
              </a:xfrm>
              <a:prstGeom prst="rect">
                <a:avLst/>
              </a:prstGeom>
              <a:solidFill>
                <a:srgbClr val="ADADEB"/>
              </a:solidFill>
              <a:ln w="9525" cap="flat">
                <a:solidFill>
                  <a:srgbClr val="000000"/>
                </a:solidFill>
                <a:prstDash val="solid"/>
                <a:round/>
              </a:ln>
              <a:effectLst/>
            </p:spPr>
            <p:txBody>
              <a:bodyPr wrap="square" lIns="45719" tIns="45719" rIns="45719" bIns="45719" numCol="1" anchor="ctr">
                <a:noAutofit/>
              </a:bodyPr>
              <a:lstStyle/>
              <a:p>
                <a:pPr marL="0" marR="0" lvl="0" indent="0" algn="ctr"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1264" name="BHR"/>
              <p:cNvSpPr txBox="1"/>
              <p:nvPr/>
            </p:nvSpPr>
            <p:spPr>
              <a:xfrm>
                <a:off x="50482" y="117221"/>
                <a:ext cx="2256474" cy="43707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latin typeface="Arial"/>
                    <a:ea typeface="Arial"/>
                    <a:cs typeface="Arial"/>
                    <a:sym typeface="Arial"/>
                  </a:defRPr>
                </a:lvl1pPr>
              </a:lstStyle>
              <a:p>
                <a:pPr marL="0" marR="0" lvl="0" indent="0" algn="ctr" defTabSz="449262" rtl="0" eaLnBrk="1" fontAlgn="auto" latinLnBrk="0" hangingPunct="0">
                  <a:lnSpc>
                    <a:spcPct val="93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Arial"/>
                    <a:cs typeface="Arial"/>
                    <a:sym typeface="Arial"/>
                  </a:rPr>
                  <a:t>BHR</a:t>
                </a:r>
              </a:p>
            </p:txBody>
          </p:sp>
        </p:grpSp>
        <p:sp>
          <p:nvSpPr>
            <p:cNvPr id="1266" name="TextBox 16"/>
            <p:cNvSpPr txBox="1"/>
            <p:nvPr/>
          </p:nvSpPr>
          <p:spPr>
            <a:xfrm>
              <a:off x="3091165" y="135859"/>
              <a:ext cx="3203784" cy="43706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marL="0" marR="0" lvl="0" indent="0" algn="l" defTabSz="449262" rtl="0" eaLnBrk="1" fontAlgn="auto" latinLnBrk="0" hangingPunct="0">
                <a:lnSpc>
                  <a:spcPct val="93000"/>
                </a:lnSpc>
                <a:spcBef>
                  <a:spcPts val="0"/>
                </a:spcBef>
                <a:spcAft>
                  <a:spcPts val="0"/>
                </a:spcAft>
                <a:buClrTx/>
                <a:buSzTx/>
                <a:buFontTx/>
                <a:buNone/>
                <a:tabLst/>
                <a:defRPr b="1">
                  <a:latin typeface="Arial"/>
                  <a:ea typeface="Arial"/>
                  <a:cs typeface="Arial"/>
                  <a:sym typeface="Arial"/>
                </a:defRPr>
              </a:pPr>
              <a:r>
                <a:rPr kumimoji="0" sz="2400" b="1" i="0" u="none" strike="noStrike" kern="0" cap="none" spc="0" normalizeH="0" baseline="0" noProof="0">
                  <a:ln>
                    <a:noFill/>
                  </a:ln>
                  <a:solidFill>
                    <a:srgbClr val="000000"/>
                  </a:solidFill>
                  <a:effectLst/>
                  <a:uLnTx/>
                  <a:uFillTx/>
                  <a:latin typeface="Arial"/>
                  <a:cs typeface="Arial"/>
                  <a:sym typeface="Arial"/>
                </a:rPr>
                <a:t>branch</a:t>
              </a:r>
              <a:r>
                <a:rPr kumimoji="0" sz="2400" b="0" i="0" u="none" strike="noStrike" kern="0" cap="none" spc="0" normalizeH="0" baseline="0" noProof="0">
                  <a:ln>
                    <a:noFill/>
                  </a:ln>
                  <a:solidFill>
                    <a:srgbClr val="000000"/>
                  </a:solidFill>
                  <a:effectLst/>
                  <a:uLnTx/>
                  <a:uFillTx/>
                  <a:latin typeface="Arial"/>
                  <a:cs typeface="Arial"/>
                  <a:sym typeface="Arial"/>
                </a:rPr>
                <a:t> history register</a:t>
              </a:r>
            </a:p>
          </p:txBody>
        </p:sp>
      </p:grpSp>
      <p:grpSp>
        <p:nvGrpSpPr>
          <p:cNvPr id="1272" name="Group 26"/>
          <p:cNvGrpSpPr/>
          <p:nvPr/>
        </p:nvGrpSpPr>
        <p:grpSpPr>
          <a:xfrm>
            <a:off x="2009773" y="3585600"/>
            <a:ext cx="5922135" cy="671513"/>
            <a:chOff x="0" y="0"/>
            <a:chExt cx="5922133" cy="671512"/>
          </a:xfrm>
        </p:grpSpPr>
        <p:grpSp>
          <p:nvGrpSpPr>
            <p:cNvPr id="1270" name="Rectangle 27"/>
            <p:cNvGrpSpPr/>
            <p:nvPr/>
          </p:nvGrpSpPr>
          <p:grpSpPr>
            <a:xfrm>
              <a:off x="0" y="0"/>
              <a:ext cx="2357439" cy="671513"/>
              <a:chOff x="0" y="0"/>
              <a:chExt cx="2357438" cy="671512"/>
            </a:xfrm>
          </p:grpSpPr>
          <p:sp>
            <p:nvSpPr>
              <p:cNvPr id="1268" name="Rectangle"/>
              <p:cNvSpPr/>
              <p:nvPr/>
            </p:nvSpPr>
            <p:spPr>
              <a:xfrm>
                <a:off x="-1" y="-1"/>
                <a:ext cx="2357440" cy="671514"/>
              </a:xfrm>
              <a:prstGeom prst="rect">
                <a:avLst/>
              </a:prstGeom>
              <a:solidFill>
                <a:srgbClr val="ADADEB"/>
              </a:solidFill>
              <a:ln w="9525" cap="flat">
                <a:solidFill>
                  <a:srgbClr val="000000"/>
                </a:solidFill>
                <a:prstDash val="solid"/>
                <a:round/>
              </a:ln>
              <a:effectLst/>
            </p:spPr>
            <p:txBody>
              <a:bodyPr wrap="square" lIns="45719" tIns="45719" rIns="45719" bIns="45719" numCol="1" anchor="ctr">
                <a:noAutofit/>
              </a:bodyPr>
              <a:lstStyle/>
              <a:p>
                <a:pPr marL="0" marR="0" lvl="0" indent="0" algn="ctr"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1269" name="PHR"/>
              <p:cNvSpPr txBox="1"/>
              <p:nvPr/>
            </p:nvSpPr>
            <p:spPr>
              <a:xfrm>
                <a:off x="50482" y="117221"/>
                <a:ext cx="2256474" cy="43707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latin typeface="Arial"/>
                    <a:ea typeface="Arial"/>
                    <a:cs typeface="Arial"/>
                    <a:sym typeface="Arial"/>
                  </a:defRPr>
                </a:lvl1pPr>
              </a:lstStyle>
              <a:p>
                <a:pPr marL="0" marR="0" lvl="0" indent="0" algn="ctr" defTabSz="449262" rtl="0" eaLnBrk="1" fontAlgn="auto" latinLnBrk="0" hangingPunct="0">
                  <a:lnSpc>
                    <a:spcPct val="93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Arial"/>
                    <a:cs typeface="Arial"/>
                    <a:sym typeface="Arial"/>
                  </a:rPr>
                  <a:t>PHR</a:t>
                </a:r>
              </a:p>
            </p:txBody>
          </p:sp>
        </p:grpSp>
        <p:sp>
          <p:nvSpPr>
            <p:cNvPr id="1271" name="TextBox 28"/>
            <p:cNvSpPr txBox="1"/>
            <p:nvPr/>
          </p:nvSpPr>
          <p:spPr>
            <a:xfrm>
              <a:off x="3091165" y="135859"/>
              <a:ext cx="2830969" cy="43706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marL="0" marR="0" lvl="0" indent="0" algn="l" defTabSz="449262" rtl="0" eaLnBrk="1" fontAlgn="auto" latinLnBrk="0" hangingPunct="0">
                <a:lnSpc>
                  <a:spcPct val="93000"/>
                </a:lnSpc>
                <a:spcBef>
                  <a:spcPts val="0"/>
                </a:spcBef>
                <a:spcAft>
                  <a:spcPts val="0"/>
                </a:spcAft>
                <a:buClrTx/>
                <a:buSzTx/>
                <a:buFontTx/>
                <a:buNone/>
                <a:tabLst/>
                <a:defRPr b="1">
                  <a:latin typeface="Arial"/>
                  <a:ea typeface="Arial"/>
                  <a:cs typeface="Arial"/>
                  <a:sym typeface="Arial"/>
                </a:defRPr>
              </a:pPr>
              <a:r>
                <a:rPr kumimoji="0" sz="2400" b="1" i="0" u="none" strike="noStrike" kern="0" cap="none" spc="0" normalizeH="0" baseline="0" noProof="0">
                  <a:ln>
                    <a:noFill/>
                  </a:ln>
                  <a:solidFill>
                    <a:srgbClr val="000000"/>
                  </a:solidFill>
                  <a:effectLst/>
                  <a:uLnTx/>
                  <a:uFillTx/>
                  <a:latin typeface="Arial"/>
                  <a:cs typeface="Arial"/>
                  <a:sym typeface="Arial"/>
                </a:rPr>
                <a:t>path</a:t>
              </a:r>
              <a:r>
                <a:rPr kumimoji="0" sz="2400" b="0" i="0" u="none" strike="noStrike" kern="0" cap="none" spc="0" normalizeH="0" baseline="0" noProof="0">
                  <a:ln>
                    <a:noFill/>
                  </a:ln>
                  <a:solidFill>
                    <a:srgbClr val="000000"/>
                  </a:solidFill>
                  <a:effectLst/>
                  <a:uLnTx/>
                  <a:uFillTx/>
                  <a:latin typeface="Arial"/>
                  <a:cs typeface="Arial"/>
                  <a:sym typeface="Arial"/>
                </a:rPr>
                <a:t> history register</a:t>
              </a:r>
            </a:p>
          </p:txBody>
        </p:sp>
      </p:grpSp>
      <p:grpSp>
        <p:nvGrpSpPr>
          <p:cNvPr id="1284" name="Group 36"/>
          <p:cNvGrpSpPr/>
          <p:nvPr/>
        </p:nvGrpSpPr>
        <p:grpSpPr>
          <a:xfrm>
            <a:off x="1686387" y="4415071"/>
            <a:ext cx="6461617" cy="1500361"/>
            <a:chOff x="-1" y="-1"/>
            <a:chExt cx="6461616" cy="1500360"/>
          </a:xfrm>
        </p:grpSpPr>
        <p:grpSp>
          <p:nvGrpSpPr>
            <p:cNvPr id="1278" name="Group 17"/>
            <p:cNvGrpSpPr/>
            <p:nvPr/>
          </p:nvGrpSpPr>
          <p:grpSpPr>
            <a:xfrm>
              <a:off x="-1" y="-1"/>
              <a:ext cx="2776539" cy="768476"/>
              <a:chOff x="0" y="0"/>
              <a:chExt cx="2776537" cy="768474"/>
            </a:xfrm>
          </p:grpSpPr>
          <p:sp>
            <p:nvSpPr>
              <p:cNvPr id="1273" name="Rectangle 18"/>
              <p:cNvSpPr/>
              <p:nvPr/>
            </p:nvSpPr>
            <p:spPr>
              <a:xfrm>
                <a:off x="0" y="48481"/>
                <a:ext cx="2357438" cy="671513"/>
              </a:xfrm>
              <a:prstGeom prst="rect">
                <a:avLst/>
              </a:prstGeom>
              <a:noFill/>
              <a:ln w="9525" cap="flat">
                <a:solidFill>
                  <a:srgbClr val="000000"/>
                </a:solidFill>
                <a:prstDash val="dash"/>
                <a:round/>
              </a:ln>
              <a:effectLst/>
            </p:spPr>
            <p:txBody>
              <a:bodyPr wrap="square" lIns="45719" tIns="45719" rIns="45719" bIns="45719" numCol="1" anchor="ctr">
                <a:noAutofit/>
              </a:bodyPr>
              <a:lstStyle/>
              <a:p>
                <a:pPr marL="0" marR="0" lvl="0" indent="0" algn="ctr"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endParaRPr kumimoji="0" sz="2400" b="0" i="0" u="none" strike="noStrike" kern="0" cap="none" spc="0" normalizeH="0" baseline="0" noProof="0">
                  <a:ln>
                    <a:noFill/>
                  </a:ln>
                  <a:solidFill>
                    <a:srgbClr val="000000"/>
                  </a:solidFill>
                  <a:effectLst/>
                  <a:uLnTx/>
                  <a:uFillTx/>
                  <a:latin typeface="Arial"/>
                  <a:cs typeface="Arial"/>
                  <a:sym typeface="Arial"/>
                </a:endParaRPr>
              </a:p>
            </p:txBody>
          </p:sp>
          <p:grpSp>
            <p:nvGrpSpPr>
              <p:cNvPr id="1276" name="Rectangle 19"/>
              <p:cNvGrpSpPr/>
              <p:nvPr/>
            </p:nvGrpSpPr>
            <p:grpSpPr>
              <a:xfrm>
                <a:off x="419099" y="-1"/>
                <a:ext cx="2357439" cy="768476"/>
                <a:chOff x="0" y="0"/>
                <a:chExt cx="2357437" cy="768474"/>
              </a:xfrm>
            </p:grpSpPr>
            <p:sp>
              <p:nvSpPr>
                <p:cNvPr id="1274" name="Rectangle"/>
                <p:cNvSpPr/>
                <p:nvPr/>
              </p:nvSpPr>
              <p:spPr>
                <a:xfrm>
                  <a:off x="0" y="48481"/>
                  <a:ext cx="2357438" cy="671513"/>
                </a:xfrm>
                <a:prstGeom prst="rect">
                  <a:avLst/>
                </a:prstGeom>
                <a:solidFill>
                  <a:srgbClr val="ADADEB"/>
                </a:solidFill>
                <a:ln w="9525" cap="flat">
                  <a:solidFill>
                    <a:srgbClr val="000000"/>
                  </a:solidFill>
                  <a:prstDash val="solid"/>
                  <a:round/>
                </a:ln>
                <a:effectLst/>
              </p:spPr>
              <p:txBody>
                <a:bodyPr wrap="square" lIns="45719" tIns="45719" rIns="45719" bIns="45719" numCol="1" anchor="ctr">
                  <a:noAutofit/>
                </a:bodyPr>
                <a:lstStyle/>
                <a:p>
                  <a:pPr marL="0" marR="0" lvl="0" indent="0" algn="ctr" defTabSz="449262" rtl="0" eaLnBrk="1" fontAlgn="auto" latinLnBrk="0" hangingPunct="0">
                    <a:lnSpc>
                      <a:spcPct val="93000"/>
                    </a:lnSpc>
                    <a:spcBef>
                      <a:spcPts val="0"/>
                    </a:spcBef>
                    <a:spcAft>
                      <a:spcPts val="0"/>
                    </a:spcAft>
                    <a:buClrTx/>
                    <a:buSzTx/>
                    <a:buFontTx/>
                    <a:buNone/>
                    <a:tabLst/>
                    <a:defRPr>
                      <a:solidFill>
                        <a:srgbClr val="8F8F8F">
                          <a:lumOff val="44000"/>
                        </a:srgbClr>
                      </a:solidFill>
                      <a:latin typeface="Arial"/>
                      <a:ea typeface="Arial"/>
                      <a:cs typeface="Arial"/>
                      <a:sym typeface="Arial"/>
                    </a:defRPr>
                  </a:pPr>
                  <a:endParaRPr kumimoji="0" sz="2400" b="0" i="0" u="none" strike="noStrike" kern="0" cap="none" spc="0" normalizeH="0" baseline="0" noProof="0">
                    <a:ln>
                      <a:noFill/>
                    </a:ln>
                    <a:solidFill>
                      <a:srgbClr val="8F8F8F">
                        <a:lumOff val="44000"/>
                      </a:srgbClr>
                    </a:solidFill>
                    <a:effectLst/>
                    <a:uLnTx/>
                    <a:uFillTx/>
                    <a:latin typeface="Arial"/>
                    <a:cs typeface="Arial"/>
                    <a:sym typeface="Arial"/>
                  </a:endParaRPr>
                </a:p>
              </p:txBody>
            </p:sp>
            <p:sp>
              <p:nvSpPr>
                <p:cNvPr id="1275" name="PHR        0"/>
                <p:cNvSpPr txBox="1"/>
                <p:nvPr/>
              </p:nvSpPr>
              <p:spPr>
                <a:xfrm>
                  <a:off x="50482" y="-1"/>
                  <a:ext cx="2256474" cy="76847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latin typeface="Arial"/>
                      <a:ea typeface="Arial"/>
                      <a:cs typeface="Arial"/>
                      <a:sym typeface="Arial"/>
                    </a:defRPr>
                  </a:lvl1pPr>
                </a:lstStyle>
                <a:p>
                  <a:pPr marL="0" marR="0" lvl="0" indent="0" algn="ctr" defTabSz="449262" rtl="0" eaLnBrk="1" fontAlgn="auto" latinLnBrk="0" hangingPunct="0">
                    <a:lnSpc>
                      <a:spcPct val="93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Arial"/>
                      <a:cs typeface="Arial"/>
                      <a:sym typeface="Arial"/>
                    </a:rPr>
                    <a:t>        PHR        0</a:t>
                  </a:r>
                </a:p>
              </p:txBody>
            </p:sp>
          </p:grpSp>
          <p:sp>
            <p:nvSpPr>
              <p:cNvPr id="1277" name="Rectangle 20"/>
              <p:cNvSpPr/>
              <p:nvPr/>
            </p:nvSpPr>
            <p:spPr>
              <a:xfrm>
                <a:off x="2357437" y="48481"/>
                <a:ext cx="419100" cy="671513"/>
              </a:xfrm>
              <a:prstGeom prst="rect">
                <a:avLst/>
              </a:prstGeom>
              <a:noFill/>
              <a:ln w="9525" cap="flat">
                <a:solidFill>
                  <a:srgbClr val="000000"/>
                </a:solidFill>
                <a:prstDash val="solid"/>
                <a:round/>
              </a:ln>
              <a:effectLst/>
            </p:spPr>
            <p:txBody>
              <a:bodyPr wrap="square" lIns="45719" tIns="45719" rIns="45719" bIns="45719" numCol="1" anchor="ctr">
                <a:noAutofit/>
              </a:bodyPr>
              <a:lstStyle/>
              <a:p>
                <a:pPr marL="0" marR="0" lvl="0" indent="0" algn="ctr"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endParaRPr kumimoji="0" sz="2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81" name="Group 21"/>
            <p:cNvGrpSpPr/>
            <p:nvPr/>
          </p:nvGrpSpPr>
          <p:grpSpPr>
            <a:xfrm>
              <a:off x="1903305" y="1063289"/>
              <a:ext cx="4558310" cy="437070"/>
              <a:chOff x="-2" y="59871"/>
              <a:chExt cx="4558308" cy="437069"/>
            </a:xfrm>
          </p:grpSpPr>
          <p:sp>
            <p:nvSpPr>
              <p:cNvPr id="1279" name="TextBox 22"/>
              <p:cNvSpPr txBox="1"/>
              <p:nvPr/>
            </p:nvSpPr>
            <p:spPr>
              <a:xfrm>
                <a:off x="1523590" y="59871"/>
                <a:ext cx="3034716" cy="43706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marL="0" marR="0" lvl="0" indent="0" algn="l" defTabSz="449262" rtl="0" eaLnBrk="1" fontAlgn="auto" latinLnBrk="0" hangingPunct="0">
                  <a:lnSpc>
                    <a:spcPct val="93000"/>
                  </a:lnSpc>
                  <a:spcBef>
                    <a:spcPts val="0"/>
                  </a:spcBef>
                  <a:spcAft>
                    <a:spcPts val="0"/>
                  </a:spcAft>
                  <a:buClrTx/>
                  <a:buSzTx/>
                  <a:buFontTx/>
                  <a:buNone/>
                  <a:tabLst/>
                  <a:defRPr>
                    <a:latin typeface="Arial"/>
                    <a:ea typeface="Arial"/>
                    <a:cs typeface="Arial"/>
                    <a:sym typeface="Arial"/>
                  </a:defRPr>
                </a:pPr>
                <a:r>
                  <a:rPr kumimoji="0" sz="2400" b="0" i="0" u="none" strike="noStrike" kern="0" cap="none" spc="0" normalizeH="0" baseline="0" noProof="0" dirty="0">
                    <a:ln>
                      <a:noFill/>
                    </a:ln>
                    <a:solidFill>
                      <a:srgbClr val="000000"/>
                    </a:solidFill>
                    <a:effectLst/>
                    <a:uLnTx/>
                    <a:uFillTx/>
                    <a:latin typeface="Arial"/>
                    <a:cs typeface="Arial"/>
                    <a:sym typeface="Arial"/>
                  </a:rPr>
                  <a:t>last branch </a:t>
                </a:r>
                <a:r>
                  <a:rPr kumimoji="0" sz="2400" b="1" i="0" u="none" strike="noStrike" kern="0" cap="none" spc="0" normalizeH="0" baseline="0" noProof="0" dirty="0">
                    <a:ln>
                      <a:noFill/>
                    </a:ln>
                    <a:solidFill>
                      <a:srgbClr val="000000"/>
                    </a:solidFill>
                    <a:effectLst/>
                    <a:uLnTx/>
                    <a:uFillTx/>
                    <a:latin typeface="Arial"/>
                    <a:cs typeface="Arial"/>
                    <a:sym typeface="Arial"/>
                  </a:rPr>
                  <a:t>target PC</a:t>
                </a:r>
              </a:p>
            </p:txBody>
          </p:sp>
          <p:sp>
            <p:nvSpPr>
              <p:cNvPr id="1280" name="Straight Arrow Connector 23"/>
              <p:cNvSpPr/>
              <p:nvPr/>
            </p:nvSpPr>
            <p:spPr>
              <a:xfrm flipH="1">
                <a:off x="-2" y="256012"/>
                <a:ext cx="1401672" cy="0"/>
              </a:xfrm>
              <a:prstGeom prst="line">
                <a:avLst/>
              </a:prstGeom>
              <a:noFill/>
              <a:ln w="25400" cap="flat">
                <a:solidFill>
                  <a:srgbClr val="000000"/>
                </a:solidFill>
                <a:prstDash val="solid"/>
                <a:round/>
                <a:tailEnd type="triangle" w="med" len="med"/>
              </a:ln>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omic Sans MS"/>
                  <a:sym typeface="Comic Sans MS"/>
                </a:endParaRPr>
              </a:p>
            </p:txBody>
          </p:sp>
        </p:grpSp>
        <p:sp>
          <p:nvSpPr>
            <p:cNvPr id="1282" name="TextBox 29"/>
            <p:cNvSpPr txBox="1"/>
            <p:nvPr/>
          </p:nvSpPr>
          <p:spPr>
            <a:xfrm>
              <a:off x="1336358" y="1041518"/>
              <a:ext cx="527557" cy="43706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a:defRPr>
                  <a:latin typeface="Arial"/>
                  <a:ea typeface="Arial"/>
                  <a:cs typeface="Arial"/>
                  <a:sym typeface="Arial"/>
                </a:defRPr>
              </a:lvl1pPr>
            </a:lstStyle>
            <a:p>
              <a:pPr marL="0" marR="0" lvl="0" indent="0" algn="l" defTabSz="449262" rtl="0" eaLnBrk="1" fontAlgn="auto" latinLnBrk="0" hangingPunct="0">
                <a:lnSpc>
                  <a:spcPct val="93000"/>
                </a:lnSpc>
                <a:spcBef>
                  <a:spcPts val="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Arial"/>
                  <a:cs typeface="Arial"/>
                  <a:sym typeface="Arial"/>
                </a:rPr>
                <a:t>xor</a:t>
              </a:r>
            </a:p>
          </p:txBody>
        </p:sp>
        <p:sp>
          <p:nvSpPr>
            <p:cNvPr id="1283" name="Straight Arrow Connector 31"/>
            <p:cNvSpPr/>
            <p:nvPr/>
          </p:nvSpPr>
          <p:spPr>
            <a:xfrm flipV="1">
              <a:off x="1596972" y="719993"/>
              <a:ext cx="1" cy="321526"/>
            </a:xfrm>
            <a:prstGeom prst="line">
              <a:avLst/>
            </a:prstGeom>
            <a:noFill/>
            <a:ln w="25400" cap="flat">
              <a:solidFill>
                <a:srgbClr val="000000"/>
              </a:solidFill>
              <a:prstDash val="solid"/>
              <a:round/>
              <a:tailEnd type="triangle" w="med" len="med"/>
            </a:ln>
            <a:effectLst/>
          </p:spPr>
          <p:txBody>
            <a:bodyPr wrap="square" lIns="45719" tIns="45719" rIns="45719" bIns="45719" numCol="1" anchor="t">
              <a:noAutofit/>
            </a:bodyPr>
            <a:lstStyle/>
            <a:p>
              <a:pPr marL="0" marR="0" lvl="0" indent="0" algn="l" defTabSz="449262" rtl="0" eaLnBrk="1" fontAlgn="auto" latinLnBrk="0" hangingPunct="0">
                <a:lnSpc>
                  <a:spcPct val="93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Comic Sans MS"/>
                <a:sym typeface="Comic Sans MS"/>
              </a:endParaRPr>
            </a:p>
          </p:txBody>
        </p:sp>
      </p:grpSp>
      <p:sp>
        <p:nvSpPr>
          <p:cNvPr id="1285" name="TextBox 37"/>
          <p:cNvSpPr txBox="1"/>
          <p:nvPr/>
        </p:nvSpPr>
        <p:spPr>
          <a:xfrm>
            <a:off x="2366130" y="6219211"/>
            <a:ext cx="4575335" cy="5480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3200" b="1">
                <a:solidFill>
                  <a:srgbClr val="C00000"/>
                </a:solidFill>
                <a:latin typeface="Arial"/>
                <a:ea typeface="Arial"/>
                <a:cs typeface="Arial"/>
                <a:sym typeface="Arial"/>
              </a:defRPr>
            </a:lvl1pPr>
          </a:lstStyle>
          <a:p>
            <a:pPr marL="0" marR="0" lvl="0" indent="0" algn="l" defTabSz="449262" rtl="0" eaLnBrk="1" fontAlgn="auto" latinLnBrk="0" hangingPunct="0">
              <a:lnSpc>
                <a:spcPct val="93000"/>
              </a:lnSpc>
              <a:spcBef>
                <a:spcPts val="0"/>
              </a:spcBef>
              <a:spcAft>
                <a:spcPts val="0"/>
              </a:spcAft>
              <a:buClrTx/>
              <a:buSzTx/>
              <a:buFontTx/>
              <a:buNone/>
              <a:tabLst/>
              <a:defRPr/>
            </a:pPr>
            <a:r>
              <a:rPr kumimoji="0" sz="3200" b="1" i="0" u="none" strike="noStrike" kern="0" cap="none" spc="0" normalizeH="0" baseline="0" noProof="0">
                <a:ln>
                  <a:noFill/>
                </a:ln>
                <a:solidFill>
                  <a:srgbClr val="C00000"/>
                </a:solidFill>
                <a:effectLst/>
                <a:uLnTx/>
                <a:uFillTx/>
                <a:latin typeface="Arial"/>
                <a:cs typeface="Arial"/>
                <a:sym typeface="Arial"/>
              </a:rPr>
              <a:t>what are the tradeoffs?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2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2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2" grpId="0" animBg="1" advAuto="0"/>
      <p:bldP spid="1272" grpId="0" animBg="1" advAuto="0"/>
      <p:bldP spid="1284" grpId="0" animBg="1" advAuto="0"/>
      <p:bldP spid="1285" grpId="0" animBg="1" advAuto="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7" name="Title 1"/>
          <p:cNvSpPr txBox="1">
            <a:spLocks noGrp="1"/>
          </p:cNvSpPr>
          <p:nvPr>
            <p:ph type="title"/>
          </p:nvPr>
        </p:nvSpPr>
        <p:spPr>
          <a:xfrm>
            <a:off x="685799" y="-85725"/>
            <a:ext cx="7770815" cy="1311275"/>
          </a:xfrm>
          <a:prstGeom prst="rect">
            <a:avLst/>
          </a:prstGeom>
        </p:spPr>
        <p:txBody>
          <a:bodyPr/>
          <a:lstStyle>
            <a:lvl1pPr>
              <a:defRPr b="1"/>
            </a:lvl1pPr>
          </a:lstStyle>
          <a:p>
            <a:r>
              <a:t>Kinds of branches</a:t>
            </a:r>
          </a:p>
        </p:txBody>
      </p:sp>
      <p:sp>
        <p:nvSpPr>
          <p:cNvPr id="1288" name="Content Placeholder 2"/>
          <p:cNvSpPr txBox="1">
            <a:spLocks noGrp="1"/>
          </p:cNvSpPr>
          <p:nvPr>
            <p:ph type="body" idx="1"/>
          </p:nvPr>
        </p:nvSpPr>
        <p:spPr>
          <a:xfrm>
            <a:off x="685799" y="1371600"/>
            <a:ext cx="7770815" cy="4722813"/>
          </a:xfrm>
          <a:prstGeom prst="rect">
            <a:avLst/>
          </a:prstGeom>
        </p:spPr>
        <p:txBody>
          <a:bodyPr>
            <a:normAutofit lnSpcReduction="10000"/>
          </a:bodyPr>
          <a:lstStyle/>
          <a:p>
            <a:pPr marL="334486" indent="-334486" defTabSz="440277">
              <a:spcBef>
                <a:spcPts val="600"/>
              </a:spcBef>
              <a:defRPr sz="2744"/>
            </a:pPr>
            <a:r>
              <a:rPr dirty="0"/>
              <a:t>unconditional vs conditional — </a:t>
            </a:r>
            <a:r>
              <a:rPr dirty="0" err="1"/>
              <a:t>beqz</a:t>
            </a:r>
            <a:r>
              <a:rPr dirty="0"/>
              <a:t> vs j</a:t>
            </a:r>
          </a:p>
          <a:p>
            <a:pPr marL="1568196" lvl="3" indent="-224027" defTabSz="440277">
              <a:spcBef>
                <a:spcPts val="300"/>
              </a:spcBef>
              <a:defRPr sz="1764"/>
            </a:pPr>
            <a:endParaRPr dirty="0"/>
          </a:p>
          <a:p>
            <a:pPr marL="334486" indent="-334486" defTabSz="440277">
              <a:spcBef>
                <a:spcPts val="600"/>
              </a:spcBef>
              <a:defRPr sz="2744"/>
            </a:pPr>
            <a:r>
              <a:rPr dirty="0"/>
              <a:t>direct (target known statically) — j LABEL</a:t>
            </a:r>
          </a:p>
          <a:p>
            <a:pPr marL="726535" lvl="1" indent="-278479" defTabSz="440277">
              <a:spcBef>
                <a:spcPts val="500"/>
              </a:spcBef>
              <a:defRPr sz="2352"/>
            </a:pPr>
            <a:r>
              <a:rPr dirty="0"/>
              <a:t>for-loop end (j)</a:t>
            </a:r>
          </a:p>
          <a:p>
            <a:pPr marL="726535" lvl="1" indent="-278479" defTabSz="440277">
              <a:spcBef>
                <a:spcPts val="500"/>
              </a:spcBef>
              <a:defRPr sz="2352"/>
            </a:pPr>
            <a:r>
              <a:rPr dirty="0"/>
              <a:t>simple function call (</a:t>
            </a:r>
            <a:r>
              <a:rPr dirty="0" err="1"/>
              <a:t>jal</a:t>
            </a:r>
            <a:r>
              <a:rPr dirty="0"/>
              <a:t>)</a:t>
            </a:r>
          </a:p>
          <a:p>
            <a:pPr marL="1568196" lvl="3" indent="-224027" defTabSz="440277">
              <a:spcBef>
                <a:spcPts val="300"/>
              </a:spcBef>
              <a:defRPr sz="1764"/>
            </a:pPr>
            <a:endParaRPr dirty="0"/>
          </a:p>
          <a:p>
            <a:pPr marL="334486" indent="-334486" defTabSz="440277">
              <a:spcBef>
                <a:spcPts val="600"/>
              </a:spcBef>
              <a:defRPr sz="2744"/>
            </a:pPr>
            <a:r>
              <a:rPr dirty="0"/>
              <a:t>indirect — j [r5]</a:t>
            </a:r>
          </a:p>
          <a:p>
            <a:pPr marL="726535" lvl="1" indent="-278479" defTabSz="440277">
              <a:spcBef>
                <a:spcPts val="500"/>
              </a:spcBef>
              <a:defRPr sz="2352"/>
            </a:pPr>
            <a:r>
              <a:rPr dirty="0"/>
              <a:t>function return (target known @ runtime)</a:t>
            </a:r>
          </a:p>
          <a:p>
            <a:pPr marL="726535" lvl="1" indent="-278479" defTabSz="440277">
              <a:spcBef>
                <a:spcPts val="500"/>
              </a:spcBef>
              <a:defRPr sz="2352"/>
            </a:pPr>
            <a:r>
              <a:rPr dirty="0"/>
              <a:t>function pointer (when is target known?)</a:t>
            </a:r>
          </a:p>
          <a:p>
            <a:pPr marL="726535" lvl="1" indent="-278479" defTabSz="440277">
              <a:spcBef>
                <a:spcPts val="500"/>
              </a:spcBef>
              <a:defRPr sz="2352"/>
            </a:pPr>
            <a:r>
              <a:rPr dirty="0"/>
              <a:t>virtual method call (runtime-type-dependent)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7" grpId="0" animBg="1" advAuto="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2D028E3E-EE53-85D1-930E-FEB03CC2662A}"/>
              </a:ext>
            </a:extLst>
          </p:cNvPr>
          <p:cNvSpPr>
            <a:spLocks noGrp="1"/>
          </p:cNvSpPr>
          <p:nvPr>
            <p:ph type="title"/>
          </p:nvPr>
        </p:nvSpPr>
        <p:spPr>
          <a:xfrm>
            <a:off x="685800" y="-85725"/>
            <a:ext cx="7770813" cy="858838"/>
          </a:xfrm>
        </p:spPr>
        <p:txBody>
          <a:bodyPr/>
          <a:lstStyle/>
          <a:p>
            <a:r>
              <a:rPr lang="en-CA" altLang="en-US">
                <a:latin typeface="Arial  " charset="0"/>
                <a:cs typeface="Arial  " charset="0"/>
              </a:rPr>
              <a:t>Pentium M Branch Predictor</a:t>
            </a:r>
          </a:p>
        </p:txBody>
      </p:sp>
      <p:sp>
        <p:nvSpPr>
          <p:cNvPr id="51203" name="Slide Number Placeholder 3">
            <a:extLst>
              <a:ext uri="{FF2B5EF4-FFF2-40B4-BE49-F238E27FC236}">
                <a16:creationId xmlns:a16="http://schemas.microsoft.com/office/drawing/2014/main" id="{C420048C-719B-20E5-5C8F-797B0478E6EF}"/>
              </a:ext>
            </a:extLst>
          </p:cNvPr>
          <p:cNvSpPr>
            <a:spLocks noGrp="1"/>
          </p:cNvSpPr>
          <p:nvPr>
            <p:ph type="sldNum" sz="quarter" idx="12"/>
          </p:nvPr>
        </p:nvSpPr>
        <p:spPr>
          <a:xfrm>
            <a:off x="7240588" y="6467475"/>
            <a:ext cx="1903412" cy="390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E1F13156-7F47-B64B-A9B8-E6202A31B530}" type="slidenum">
              <a:rPr lang="en-GB" altLang="en-US" sz="1400">
                <a:solidFill>
                  <a:srgbClr val="000000"/>
                </a:solidFill>
                <a:latin typeface="Arial  " charset="0"/>
              </a:rPr>
              <a:pPr/>
              <a:t>54</a:t>
            </a:fld>
            <a:r>
              <a:rPr lang="en-GB" altLang="en-US" sz="1400">
                <a:solidFill>
                  <a:srgbClr val="000000"/>
                </a:solidFill>
                <a:latin typeface="Arial  " charset="0"/>
              </a:rPr>
              <a:t> </a:t>
            </a:r>
          </a:p>
        </p:txBody>
      </p:sp>
      <p:pic>
        <p:nvPicPr>
          <p:cNvPr id="51204" name="Picture 4" descr="vuam_ispass09.jpg">
            <a:extLst>
              <a:ext uri="{FF2B5EF4-FFF2-40B4-BE49-F238E27FC236}">
                <a16:creationId xmlns:a16="http://schemas.microsoft.com/office/drawing/2014/main" id="{F76ECF0D-E57D-F409-2D8D-0D5F6F8CE3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700" y="760413"/>
            <a:ext cx="6861175" cy="575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a:extLst>
              <a:ext uri="{FF2B5EF4-FFF2-40B4-BE49-F238E27FC236}">
                <a16:creationId xmlns:a16="http://schemas.microsoft.com/office/drawing/2014/main" id="{C827379F-72F0-5315-A117-2CAB9A544644}"/>
              </a:ext>
            </a:extLst>
          </p:cNvPr>
          <p:cNvSpPr txBox="1">
            <a:spLocks/>
          </p:cNvSpPr>
          <p:nvPr/>
        </p:nvSpPr>
        <p:spPr bwMode="auto">
          <a:xfrm>
            <a:off x="6665913" y="854075"/>
            <a:ext cx="2478087" cy="5237163"/>
          </a:xfrm>
          <a:prstGeom prst="rect">
            <a:avLst/>
          </a:prstGeom>
          <a:noFill/>
          <a:ln w="9525">
            <a:noFill/>
            <a:round/>
            <a:headEnd/>
            <a:tailEnd/>
          </a:ln>
        </p:spPr>
        <p:txBody>
          <a:bodyPr lIns="90000" tIns="46800" rIns="90000" bIns="46800"/>
          <a:lstStyle/>
          <a:p>
            <a:pPr marL="341313" indent="-341313">
              <a:lnSpc>
                <a:spcPct val="116000"/>
              </a:lnSpc>
              <a:spcBef>
                <a:spcPts val="700"/>
              </a:spcBef>
              <a:buFont typeface="Comic Sans MS" pitchFamily="66" charset="0"/>
              <a:buChar char="•"/>
              <a:defRPr/>
            </a:pPr>
            <a:r>
              <a:rPr lang="en-CA" sz="1600" dirty="0">
                <a:solidFill>
                  <a:schemeClr val="tx1"/>
                </a:solidFill>
                <a:ea typeface="ＭＳ Ｐゴシック" pitchFamily="34" charset="-128"/>
              </a:rPr>
              <a:t>Intel/AMD tend not to disclose many details about their branch predictors</a:t>
            </a:r>
          </a:p>
          <a:p>
            <a:pPr marL="341313" indent="-341313">
              <a:lnSpc>
                <a:spcPct val="116000"/>
              </a:lnSpc>
              <a:spcBef>
                <a:spcPts val="700"/>
              </a:spcBef>
              <a:defRPr/>
            </a:pPr>
            <a:endParaRPr lang="en-CA" sz="1600" kern="0" dirty="0">
              <a:solidFill>
                <a:srgbClr val="000000"/>
              </a:solidFill>
              <a:latin typeface="Arial  "/>
              <a:ea typeface="+mn-ea"/>
              <a:cs typeface="Arial  "/>
            </a:endParaRPr>
          </a:p>
          <a:p>
            <a:pPr marL="341313" indent="-341313">
              <a:lnSpc>
                <a:spcPct val="116000"/>
              </a:lnSpc>
              <a:spcBef>
                <a:spcPts val="700"/>
              </a:spcBef>
              <a:buFont typeface="Comic Sans MS" pitchFamily="66" charset="0"/>
              <a:buChar char="•"/>
              <a:defRPr/>
            </a:pPr>
            <a:r>
              <a:rPr lang="en-CA" sz="1600" kern="0" dirty="0">
                <a:solidFill>
                  <a:srgbClr val="000000"/>
                </a:solidFill>
                <a:latin typeface="Arial  "/>
                <a:ea typeface="+mn-ea"/>
                <a:cs typeface="Arial  "/>
              </a:rPr>
              <a:t>It is possible to infer structure of branch predictor using “</a:t>
            </a:r>
            <a:r>
              <a:rPr lang="en-CA" sz="1600" kern="0" dirty="0" err="1">
                <a:solidFill>
                  <a:srgbClr val="000000"/>
                </a:solidFill>
                <a:latin typeface="Arial  "/>
                <a:ea typeface="+mn-ea"/>
                <a:cs typeface="Arial  "/>
              </a:rPr>
              <a:t>microbenchmarks</a:t>
            </a:r>
            <a:r>
              <a:rPr lang="en-CA" sz="1600" kern="0" dirty="0">
                <a:solidFill>
                  <a:srgbClr val="000000"/>
                </a:solidFill>
                <a:latin typeface="Arial  "/>
                <a:ea typeface="+mn-ea"/>
                <a:cs typeface="Arial  "/>
              </a:rPr>
              <a:t>”. </a:t>
            </a:r>
          </a:p>
          <a:p>
            <a:pPr marL="341313" indent="-341313">
              <a:lnSpc>
                <a:spcPct val="116000"/>
              </a:lnSpc>
              <a:spcBef>
                <a:spcPts val="700"/>
              </a:spcBef>
              <a:buFont typeface="Comic Sans MS" pitchFamily="66" charset="0"/>
              <a:buChar char="•"/>
              <a:defRPr/>
            </a:pPr>
            <a:endParaRPr lang="en-CA" sz="1600" kern="0" dirty="0">
              <a:solidFill>
                <a:srgbClr val="000000"/>
              </a:solidFill>
              <a:latin typeface="Arial  "/>
              <a:ea typeface="+mn-ea"/>
              <a:cs typeface="Arial  "/>
            </a:endParaRPr>
          </a:p>
          <a:p>
            <a:pPr marL="341313" indent="-341313">
              <a:lnSpc>
                <a:spcPct val="116000"/>
              </a:lnSpc>
              <a:spcBef>
                <a:spcPts val="700"/>
              </a:spcBef>
              <a:buFont typeface="Comic Sans MS" pitchFamily="66" charset="0"/>
              <a:buChar char="•"/>
              <a:defRPr/>
            </a:pPr>
            <a:r>
              <a:rPr lang="en-CA" sz="1600" kern="0" dirty="0">
                <a:solidFill>
                  <a:srgbClr val="000000"/>
                </a:solidFill>
                <a:latin typeface="Arial  "/>
                <a:ea typeface="+mn-ea"/>
                <a:cs typeface="Arial  "/>
              </a:rPr>
              <a:t>The figure is from a recent academic paper.  The authors determined this structure by running </a:t>
            </a:r>
            <a:r>
              <a:rPr lang="en-CA" sz="1600" kern="0" dirty="0" err="1">
                <a:solidFill>
                  <a:srgbClr val="000000"/>
                </a:solidFill>
                <a:latin typeface="Arial  "/>
                <a:ea typeface="+mn-ea"/>
                <a:cs typeface="Arial  "/>
              </a:rPr>
              <a:t>microbenchmarks</a:t>
            </a:r>
            <a:r>
              <a:rPr lang="en-CA" sz="1600" kern="0" dirty="0">
                <a:solidFill>
                  <a:srgbClr val="000000"/>
                </a:solidFill>
                <a:latin typeface="Arial  "/>
                <a:ea typeface="+mn-ea"/>
                <a:cs typeface="Arial  "/>
              </a:rPr>
              <a:t> on the Pentium M  and using </a:t>
            </a:r>
            <a:r>
              <a:rPr lang="en-CA" sz="1600" kern="0" dirty="0" err="1">
                <a:solidFill>
                  <a:srgbClr val="000000"/>
                </a:solidFill>
                <a:latin typeface="Arial  "/>
                <a:ea typeface="+mn-ea"/>
                <a:cs typeface="Arial  "/>
              </a:rPr>
              <a:t>VTune</a:t>
            </a:r>
            <a:r>
              <a:rPr lang="en-CA" sz="1600" kern="0" dirty="0">
                <a:solidFill>
                  <a:srgbClr val="000000"/>
                </a:solidFill>
                <a:latin typeface="Arial  "/>
                <a:ea typeface="+mn-ea"/>
                <a:cs typeface="Arial  "/>
              </a:rPr>
              <a:t>.</a:t>
            </a:r>
          </a:p>
        </p:txBody>
      </p:sp>
      <p:sp>
        <p:nvSpPr>
          <p:cNvPr id="51206" name="TextBox 7">
            <a:extLst>
              <a:ext uri="{FF2B5EF4-FFF2-40B4-BE49-F238E27FC236}">
                <a16:creationId xmlns:a16="http://schemas.microsoft.com/office/drawing/2014/main" id="{413B47F2-30BA-1EFE-2BC7-7C0D83A28271}"/>
              </a:ext>
            </a:extLst>
          </p:cNvPr>
          <p:cNvSpPr txBox="1">
            <a:spLocks noChangeArrowheads="1"/>
          </p:cNvSpPr>
          <p:nvPr/>
        </p:nvSpPr>
        <p:spPr bwMode="auto">
          <a:xfrm>
            <a:off x="631825" y="6480175"/>
            <a:ext cx="50133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r>
              <a:rPr lang="en-CA" altLang="en-US" sz="1000">
                <a:solidFill>
                  <a:schemeClr val="tx1"/>
                </a:solidFill>
              </a:rPr>
              <a:t>Vladimir Uzelac, Aleksandar Milenkovic: </a:t>
            </a:r>
            <a:r>
              <a:rPr lang="en-CA" altLang="en-US" sz="1000" i="1">
                <a:solidFill>
                  <a:schemeClr val="tx1"/>
                </a:solidFill>
              </a:rPr>
              <a:t>Experiment flows and microbenchmarks for </a:t>
            </a:r>
          </a:p>
          <a:p>
            <a:r>
              <a:rPr lang="en-CA" altLang="en-US" sz="1000" i="1">
                <a:solidFill>
                  <a:schemeClr val="tx1"/>
                </a:solidFill>
              </a:rPr>
              <a:t>reverse engineering of</a:t>
            </a:r>
            <a:r>
              <a:rPr lang="en-CA" altLang="en-US" sz="1000">
                <a:solidFill>
                  <a:schemeClr val="tx1"/>
                </a:solidFill>
              </a:rPr>
              <a:t> branch predictor structures. ISPASS 2009: 207-217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5" name="Title 3"/>
          <p:cNvSpPr txBox="1">
            <a:spLocks noGrp="1"/>
          </p:cNvSpPr>
          <p:nvPr>
            <p:ph type="title"/>
          </p:nvPr>
        </p:nvSpPr>
        <p:spPr>
          <a:xfrm>
            <a:off x="685799" y="-85725"/>
            <a:ext cx="7770815" cy="1311275"/>
          </a:xfrm>
          <a:prstGeom prst="rect">
            <a:avLst/>
          </a:prstGeom>
        </p:spPr>
        <p:txBody>
          <a:bodyPr/>
          <a:lstStyle>
            <a:lvl1pPr>
              <a:defRPr b="1"/>
            </a:lvl1pPr>
          </a:lstStyle>
          <a:p>
            <a:r>
              <a:t>Global (T/NT) predictor</a:t>
            </a:r>
          </a:p>
        </p:txBody>
      </p:sp>
      <p:pic>
        <p:nvPicPr>
          <p:cNvPr id="1296" name="Object 67" descr="Object 67"/>
          <p:cNvPicPr>
            <a:picLocks noChangeAspect="1"/>
          </p:cNvPicPr>
          <p:nvPr/>
        </p:nvPicPr>
        <p:blipFill>
          <a:blip r:embed="rId2"/>
          <a:stretch>
            <a:fillRect/>
          </a:stretch>
        </p:blipFill>
        <p:spPr>
          <a:xfrm>
            <a:off x="302372" y="2407023"/>
            <a:ext cx="8680263" cy="2210125"/>
          </a:xfrm>
          <a:prstGeom prst="rect">
            <a:avLst/>
          </a:prstGeom>
          <a:ln w="12700">
            <a:miter lim="400000"/>
          </a:ln>
        </p:spPr>
      </p:pic>
      <p:sp>
        <p:nvSpPr>
          <p:cNvPr id="1297" name="TextBox 9"/>
          <p:cNvSpPr txBox="1"/>
          <p:nvPr/>
        </p:nvSpPr>
        <p:spPr>
          <a:xfrm>
            <a:off x="2076225" y="5360379"/>
            <a:ext cx="5389624" cy="609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3600">
                <a:latin typeface="Arial"/>
                <a:ea typeface="Arial"/>
                <a:cs typeface="Arial"/>
                <a:sym typeface="Arial"/>
              </a:defRPr>
            </a:pPr>
            <a:r>
              <a:t>is this </a:t>
            </a:r>
            <a:r>
              <a:rPr b="1"/>
              <a:t>gselect</a:t>
            </a:r>
            <a:r>
              <a:t> or </a:t>
            </a:r>
            <a:r>
              <a:rPr b="1"/>
              <a:t>gshare</a:t>
            </a:r>
            <a:r>
              <a:t>?</a:t>
            </a:r>
          </a:p>
        </p:txBody>
      </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7" grpId="0" animBg="1" advAuto="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 name="Title 1"/>
          <p:cNvSpPr txBox="1">
            <a:spLocks noGrp="1"/>
          </p:cNvSpPr>
          <p:nvPr>
            <p:ph type="title"/>
          </p:nvPr>
        </p:nvSpPr>
        <p:spPr>
          <a:xfrm>
            <a:off x="685799" y="-85725"/>
            <a:ext cx="7770815" cy="1311275"/>
          </a:xfrm>
          <a:prstGeom prst="rect">
            <a:avLst/>
          </a:prstGeom>
        </p:spPr>
        <p:txBody>
          <a:bodyPr/>
          <a:lstStyle>
            <a:lvl1pPr>
              <a:defRPr b="1"/>
            </a:lvl1pPr>
          </a:lstStyle>
          <a:p>
            <a:r>
              <a:t>BTB organization</a:t>
            </a:r>
          </a:p>
        </p:txBody>
      </p:sp>
      <p:pic>
        <p:nvPicPr>
          <p:cNvPr id="1300" name="Object 4" descr="Object 4"/>
          <p:cNvPicPr>
            <a:picLocks noChangeAspect="1"/>
          </p:cNvPicPr>
          <p:nvPr/>
        </p:nvPicPr>
        <p:blipFill>
          <a:blip r:embed="rId2"/>
          <a:stretch>
            <a:fillRect/>
          </a:stretch>
        </p:blipFill>
        <p:spPr>
          <a:xfrm>
            <a:off x="685800" y="1760909"/>
            <a:ext cx="7386030" cy="3806173"/>
          </a:xfrm>
          <a:prstGeom prst="rect">
            <a:avLst/>
          </a:prstGeom>
          <a:ln w="12700">
            <a:miter lim="400000"/>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2" name="Title 1"/>
          <p:cNvSpPr txBox="1">
            <a:spLocks noGrp="1"/>
          </p:cNvSpPr>
          <p:nvPr>
            <p:ph type="title"/>
          </p:nvPr>
        </p:nvSpPr>
        <p:spPr>
          <a:xfrm>
            <a:off x="685799" y="-85725"/>
            <a:ext cx="7770815" cy="1311275"/>
          </a:xfrm>
          <a:prstGeom prst="rect">
            <a:avLst/>
          </a:prstGeom>
        </p:spPr>
        <p:txBody>
          <a:bodyPr/>
          <a:lstStyle>
            <a:lvl1pPr>
              <a:defRPr b="1"/>
            </a:lvl1pPr>
          </a:lstStyle>
          <a:p>
            <a:r>
              <a:t>Predicting counted loops</a:t>
            </a:r>
          </a:p>
        </p:txBody>
      </p:sp>
      <p:sp>
        <p:nvSpPr>
          <p:cNvPr id="1303" name="Content Placeholder 3"/>
          <p:cNvSpPr txBox="1">
            <a:spLocks noGrp="1"/>
          </p:cNvSpPr>
          <p:nvPr>
            <p:ph type="body" idx="1"/>
          </p:nvPr>
        </p:nvSpPr>
        <p:spPr>
          <a:xfrm>
            <a:off x="685800" y="1371600"/>
            <a:ext cx="8458200" cy="5486400"/>
          </a:xfrm>
          <a:prstGeom prst="rect">
            <a:avLst/>
          </a:prstGeom>
        </p:spPr>
        <p:txBody>
          <a:bodyPr/>
          <a:lstStyle/>
          <a:p>
            <a:r>
              <a:t>long for-loops: </a:t>
            </a:r>
            <a:r>
              <a:rPr b="1"/>
              <a:t>best-case</a:t>
            </a:r>
            <a:r>
              <a:t> for 2-bit bimodal BP?</a:t>
            </a:r>
          </a:p>
          <a:p>
            <a:endParaRPr/>
          </a:p>
          <a:p>
            <a:r>
              <a:t>can we predict loops </a:t>
            </a:r>
            <a:r>
              <a:rPr b="1"/>
              <a:t>perfectly</a:t>
            </a:r>
            <a:r>
              <a:t>?</a:t>
            </a:r>
          </a:p>
          <a:p>
            <a:endParaRPr/>
          </a:p>
          <a:p>
            <a:r>
              <a:t>what would we have to learn?</a:t>
            </a:r>
          </a:p>
          <a:p>
            <a:pPr marL="741362" lvl="1" indent="-284162">
              <a:spcBef>
                <a:spcPts val="600"/>
              </a:spcBef>
              <a:defRPr sz="2400"/>
            </a:pPr>
            <a:r>
              <a:t>recognize it’s a counted loop</a:t>
            </a:r>
          </a:p>
          <a:p>
            <a:pPr marL="741362" lvl="1" indent="-284162">
              <a:spcBef>
                <a:spcPts val="600"/>
              </a:spcBef>
              <a:defRPr sz="2400"/>
            </a:pPr>
            <a:r>
              <a:t>find out max value</a:t>
            </a:r>
          </a:p>
          <a:p>
            <a:pPr marL="741362" lvl="1" indent="-284162">
              <a:spcBef>
                <a:spcPts val="600"/>
              </a:spcBef>
              <a:defRPr sz="2400"/>
            </a:pPr>
            <a:r>
              <a:t>track current value</a:t>
            </a:r>
          </a:p>
        </p:txBody>
      </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03">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303">
                                            <p:txEl>
                                              <p:pRg st="3" end="3"/>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p:tmAbs val="0"/>
                                  </p:iterate>
                                  <p:childTnLst>
                                    <p:set>
                                      <p:cBhvr>
                                        <p:cTn id="13" fill="hold"/>
                                        <p:tgtEl>
                                          <p:spTgt spid="1303">
                                            <p:txEl>
                                              <p:pRg st="4" end="4"/>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p:tmAbs val="0"/>
                                  </p:iterate>
                                  <p:childTnLst>
                                    <p:set>
                                      <p:cBhvr>
                                        <p:cTn id="17" fill="hold"/>
                                        <p:tgtEl>
                                          <p:spTgt spid="1303">
                                            <p:txEl>
                                              <p:pRg st="5" end="5"/>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1303">
                                            <p:txEl>
                                              <p:pRg st="6" end="6"/>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13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3" grpId="0" build="p" bldLvl="5" animBg="1" advAuto="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5" name="Title 1"/>
          <p:cNvSpPr txBox="1">
            <a:spLocks noGrp="1"/>
          </p:cNvSpPr>
          <p:nvPr>
            <p:ph type="title"/>
          </p:nvPr>
        </p:nvSpPr>
        <p:spPr>
          <a:xfrm>
            <a:off x="685799" y="-85725"/>
            <a:ext cx="7770815" cy="1311275"/>
          </a:xfrm>
          <a:prstGeom prst="rect">
            <a:avLst/>
          </a:prstGeom>
        </p:spPr>
        <p:txBody>
          <a:bodyPr/>
          <a:lstStyle>
            <a:lvl1pPr>
              <a:defRPr b="1"/>
            </a:lvl1pPr>
          </a:lstStyle>
          <a:p>
            <a:r>
              <a:t>Loop Predictor</a:t>
            </a:r>
          </a:p>
        </p:txBody>
      </p:sp>
      <p:pic>
        <p:nvPicPr>
          <p:cNvPr id="1306" name="Object 14" descr="Object 14"/>
          <p:cNvPicPr>
            <a:picLocks noChangeAspect="1"/>
          </p:cNvPicPr>
          <p:nvPr/>
        </p:nvPicPr>
        <p:blipFill>
          <a:blip r:embed="rId2"/>
          <a:stretch>
            <a:fillRect/>
          </a:stretch>
        </p:blipFill>
        <p:spPr>
          <a:xfrm>
            <a:off x="1924748" y="1346574"/>
            <a:ext cx="5627759" cy="1938899"/>
          </a:xfrm>
          <a:prstGeom prst="rect">
            <a:avLst/>
          </a:prstGeom>
          <a:ln w="12700">
            <a:miter lim="400000"/>
          </a:ln>
        </p:spPr>
      </p:pic>
      <p:pic>
        <p:nvPicPr>
          <p:cNvPr id="1307" name="Object 13" descr="Object 13"/>
          <p:cNvPicPr>
            <a:picLocks noChangeAspect="1"/>
          </p:cNvPicPr>
          <p:nvPr/>
        </p:nvPicPr>
        <p:blipFill>
          <a:blip r:embed="rId3"/>
          <a:stretch>
            <a:fillRect/>
          </a:stretch>
        </p:blipFill>
        <p:spPr>
          <a:xfrm>
            <a:off x="4078749" y="3933825"/>
            <a:ext cx="5065251" cy="2456984"/>
          </a:xfrm>
          <a:prstGeom prst="rect">
            <a:avLst/>
          </a:prstGeom>
          <a:ln w="12700">
            <a:miter lim="400000"/>
          </a:ln>
        </p:spPr>
      </p:pic>
      <p:pic>
        <p:nvPicPr>
          <p:cNvPr id="1308" name="Object 17" descr="Object 17"/>
          <p:cNvPicPr>
            <a:picLocks noChangeAspect="1"/>
          </p:cNvPicPr>
          <p:nvPr/>
        </p:nvPicPr>
        <p:blipFill>
          <a:blip r:embed="rId4"/>
          <a:stretch>
            <a:fillRect/>
          </a:stretch>
        </p:blipFill>
        <p:spPr>
          <a:xfrm>
            <a:off x="377729" y="3957404"/>
            <a:ext cx="3094037" cy="2409826"/>
          </a:xfrm>
          <a:prstGeom prst="rect">
            <a:avLst/>
          </a:prstGeom>
          <a:ln w="12700">
            <a:miter lim="400000"/>
          </a:ln>
        </p:spPr>
      </p:pic>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7" grpId="0" animBg="1" advAuto="0"/>
      <p:bldP spid="1308" grpId="0" animBg="1" advAuto="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 name="Title 1"/>
          <p:cNvSpPr txBox="1">
            <a:spLocks noGrp="1"/>
          </p:cNvSpPr>
          <p:nvPr>
            <p:ph type="title"/>
          </p:nvPr>
        </p:nvSpPr>
        <p:spPr>
          <a:xfrm>
            <a:off x="268942" y="-85725"/>
            <a:ext cx="8767483" cy="1311275"/>
          </a:xfrm>
          <a:prstGeom prst="rect">
            <a:avLst/>
          </a:prstGeom>
        </p:spPr>
        <p:txBody>
          <a:bodyPr/>
          <a:lstStyle>
            <a:lvl1pPr>
              <a:defRPr b="1"/>
            </a:lvl1pPr>
          </a:lstStyle>
          <a:p>
            <a:r>
              <a:t>Indirect branches</a:t>
            </a:r>
          </a:p>
        </p:txBody>
      </p:sp>
      <p:sp>
        <p:nvSpPr>
          <p:cNvPr id="1311" name="Content Placeholder 3"/>
          <p:cNvSpPr txBox="1">
            <a:spLocks noGrp="1"/>
          </p:cNvSpPr>
          <p:nvPr>
            <p:ph type="body" idx="1"/>
          </p:nvPr>
        </p:nvSpPr>
        <p:spPr>
          <a:xfrm>
            <a:off x="685800" y="1371600"/>
            <a:ext cx="8458200" cy="5486400"/>
          </a:xfrm>
          <a:prstGeom prst="rect">
            <a:avLst/>
          </a:prstGeom>
        </p:spPr>
        <p:txBody>
          <a:bodyPr/>
          <a:lstStyle/>
          <a:p>
            <a:r>
              <a:t>e.g., virtual function call (inheritance)</a:t>
            </a:r>
          </a:p>
        </p:txBody>
      </p:sp>
      <p:sp>
        <p:nvSpPr>
          <p:cNvPr id="1312" name="Rectangle 2"/>
          <p:cNvSpPr txBox="1"/>
          <p:nvPr/>
        </p:nvSpPr>
        <p:spPr>
          <a:xfrm>
            <a:off x="865992" y="2484946"/>
            <a:ext cx="3432086" cy="11447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lvl="1">
              <a:defRPr b="1">
                <a:latin typeface="Inconsolata"/>
                <a:ea typeface="Inconsolata"/>
                <a:cs typeface="Inconsolata"/>
                <a:sym typeface="Inconsolata"/>
              </a:defRPr>
            </a:pPr>
            <a:r>
              <a:t>animal *a;</a:t>
            </a:r>
            <a:endParaRPr>
              <a:solidFill>
                <a:schemeClr val="accent3">
                  <a:lumOff val="44000"/>
                </a:schemeClr>
              </a:solidFill>
              <a:latin typeface="Arial"/>
              <a:ea typeface="Arial"/>
              <a:cs typeface="Arial"/>
              <a:sym typeface="Arial"/>
            </a:endParaRPr>
          </a:p>
          <a:p>
            <a:pPr lvl="1">
              <a:defRPr b="1">
                <a:latin typeface="Inconsolata"/>
                <a:ea typeface="Inconsolata"/>
                <a:cs typeface="Inconsolata"/>
                <a:sym typeface="Inconsolata"/>
              </a:defRPr>
            </a:pPr>
            <a:r>
              <a:t>...</a:t>
            </a:r>
            <a:endParaRPr>
              <a:solidFill>
                <a:schemeClr val="accent3">
                  <a:lumOff val="44000"/>
                </a:schemeClr>
              </a:solidFill>
              <a:latin typeface="Arial"/>
              <a:ea typeface="Arial"/>
              <a:cs typeface="Arial"/>
              <a:sym typeface="Arial"/>
            </a:endParaRPr>
          </a:p>
          <a:p>
            <a:pPr lvl="1">
              <a:defRPr b="1">
                <a:latin typeface="Inconsolata"/>
                <a:ea typeface="Inconsolata"/>
                <a:cs typeface="Inconsolata"/>
                <a:sym typeface="Inconsolata"/>
              </a:defRPr>
            </a:pPr>
            <a:r>
              <a:t>a-&gt;greet(“Whisky”);</a:t>
            </a:r>
          </a:p>
        </p:txBody>
      </p:sp>
      <p:grpSp>
        <p:nvGrpSpPr>
          <p:cNvPr id="1317" name="Group 19"/>
          <p:cNvGrpSpPr/>
          <p:nvPr/>
        </p:nvGrpSpPr>
        <p:grpSpPr>
          <a:xfrm>
            <a:off x="2460811" y="2198796"/>
            <a:ext cx="6817726" cy="2972034"/>
            <a:chOff x="0" y="0"/>
            <a:chExt cx="6817724" cy="2972032"/>
          </a:xfrm>
        </p:grpSpPr>
        <p:sp>
          <p:nvSpPr>
            <p:cNvPr id="1313" name="Rectangle 5"/>
            <p:cNvSpPr txBox="1"/>
            <p:nvPr/>
          </p:nvSpPr>
          <p:spPr>
            <a:xfrm>
              <a:off x="2276669" y="0"/>
              <a:ext cx="3626605" cy="114477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lvl="1">
                <a:defRPr b="1">
                  <a:latin typeface="Inconsolata"/>
                  <a:ea typeface="Inconsolata"/>
                  <a:cs typeface="Inconsolata"/>
                  <a:sym typeface="Inconsolata"/>
                </a:defRPr>
              </a:pPr>
              <a:r>
                <a:t>person::greet(name):</a:t>
              </a:r>
              <a:endParaRPr>
                <a:solidFill>
                  <a:schemeClr val="accent3">
                    <a:lumOff val="44000"/>
                  </a:schemeClr>
                </a:solidFill>
                <a:latin typeface="Arial"/>
                <a:ea typeface="Arial"/>
                <a:cs typeface="Arial"/>
                <a:sym typeface="Arial"/>
              </a:endParaRPr>
            </a:p>
            <a:p>
              <a:pPr lvl="1">
                <a:defRPr b="1">
                  <a:latin typeface="Inconsolata"/>
                  <a:ea typeface="Inconsolata"/>
                  <a:cs typeface="Inconsolata"/>
                  <a:sym typeface="Inconsolata"/>
                </a:defRPr>
              </a:pPr>
              <a:r>
                <a:t>	say(“Hello”);</a:t>
              </a:r>
              <a:endParaRPr>
                <a:solidFill>
                  <a:schemeClr val="accent3">
                    <a:lumOff val="44000"/>
                  </a:schemeClr>
                </a:solidFill>
                <a:latin typeface="Arial"/>
                <a:ea typeface="Arial"/>
                <a:cs typeface="Arial"/>
                <a:sym typeface="Arial"/>
              </a:endParaRPr>
            </a:p>
            <a:p>
              <a:pPr lvl="1">
                <a:defRPr b="1">
                  <a:latin typeface="Inconsolata"/>
                  <a:ea typeface="Inconsolata"/>
                  <a:cs typeface="Inconsolata"/>
                  <a:sym typeface="Inconsolata"/>
                </a:defRPr>
              </a:pPr>
              <a:r>
                <a:t>	say(name);</a:t>
              </a:r>
            </a:p>
          </p:txBody>
        </p:sp>
        <p:sp>
          <p:nvSpPr>
            <p:cNvPr id="1314" name="Straight Arrow Connector 8"/>
            <p:cNvSpPr/>
            <p:nvPr/>
          </p:nvSpPr>
          <p:spPr>
            <a:xfrm flipV="1">
              <a:off x="0" y="561404"/>
              <a:ext cx="2454087" cy="467094"/>
            </a:xfrm>
            <a:prstGeom prst="line">
              <a:avLst/>
            </a:prstGeom>
            <a:noFill/>
            <a:ln w="25400" cap="flat">
              <a:solidFill>
                <a:srgbClr val="808080"/>
              </a:solidFill>
              <a:prstDash val="solid"/>
              <a:round/>
              <a:tailEnd type="triangle" w="med" len="med"/>
            </a:ln>
            <a:effectLst/>
          </p:spPr>
          <p:txBody>
            <a:bodyPr wrap="square" lIns="45719" tIns="45719" rIns="45719" bIns="45719" numCol="1" anchor="t">
              <a:noAutofit/>
            </a:bodyPr>
            <a:lstStyle/>
            <a:p>
              <a:endParaRPr/>
            </a:p>
          </p:txBody>
        </p:sp>
        <p:sp>
          <p:nvSpPr>
            <p:cNvPr id="1315" name="Rectangle 14"/>
            <p:cNvSpPr txBox="1"/>
            <p:nvPr/>
          </p:nvSpPr>
          <p:spPr>
            <a:xfrm>
              <a:off x="2276669" y="1827254"/>
              <a:ext cx="4541056" cy="114477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p>
              <a:pPr lvl="1">
                <a:defRPr b="1">
                  <a:latin typeface="Inconsolata"/>
                  <a:ea typeface="Inconsolata"/>
                  <a:cs typeface="Inconsolata"/>
                  <a:sym typeface="Inconsolata"/>
                </a:defRPr>
              </a:pPr>
              <a:r>
                <a:t>cow::greet(name):</a:t>
              </a:r>
              <a:endParaRPr>
                <a:solidFill>
                  <a:schemeClr val="accent3">
                    <a:lumOff val="44000"/>
                  </a:schemeClr>
                </a:solidFill>
                <a:latin typeface="Arial"/>
                <a:ea typeface="Arial"/>
                <a:cs typeface="Arial"/>
                <a:sym typeface="Arial"/>
              </a:endParaRPr>
            </a:p>
            <a:p>
              <a:pPr lvl="1">
                <a:defRPr b="1">
                  <a:latin typeface="Inconsolata"/>
                  <a:ea typeface="Inconsolata"/>
                  <a:cs typeface="Inconsolata"/>
                  <a:sym typeface="Inconsolata"/>
                </a:defRPr>
              </a:pPr>
              <a:r>
                <a:t>	say(“moo.”);</a:t>
              </a:r>
              <a:endParaRPr>
                <a:solidFill>
                  <a:schemeClr val="accent3">
                    <a:lumOff val="44000"/>
                  </a:schemeClr>
                </a:solidFill>
                <a:latin typeface="Arial"/>
                <a:ea typeface="Arial"/>
                <a:cs typeface="Arial"/>
                <a:sym typeface="Arial"/>
              </a:endParaRPr>
            </a:p>
            <a:p>
              <a:pPr lvl="1">
                <a:defRPr b="1">
                  <a:latin typeface="Inconsolata"/>
                  <a:ea typeface="Inconsolata"/>
                  <a:cs typeface="Inconsolata"/>
                  <a:sym typeface="Inconsolata"/>
                </a:defRPr>
              </a:pPr>
              <a:r>
                <a:t>	say(“mooooooooooo!”);</a:t>
              </a:r>
            </a:p>
          </p:txBody>
        </p:sp>
        <p:sp>
          <p:nvSpPr>
            <p:cNvPr id="1316" name="Straight Arrow Connector 16"/>
            <p:cNvSpPr/>
            <p:nvPr/>
          </p:nvSpPr>
          <p:spPr>
            <a:xfrm>
              <a:off x="0" y="1408958"/>
              <a:ext cx="2453103" cy="827198"/>
            </a:xfrm>
            <a:prstGeom prst="line">
              <a:avLst/>
            </a:prstGeom>
            <a:noFill/>
            <a:ln w="25400" cap="flat">
              <a:solidFill>
                <a:srgbClr val="808080"/>
              </a:solidFill>
              <a:prstDash val="solid"/>
              <a:round/>
              <a:tailEnd type="triangle" w="med" len="med"/>
            </a:ln>
            <a:effectLst/>
          </p:spPr>
          <p:txBody>
            <a:bodyPr wrap="square" lIns="45719" tIns="45719" rIns="45719" bIns="45719" numCol="1" anchor="t">
              <a:noAutofit/>
            </a:bodyPr>
            <a:lstStyle/>
            <a:p>
              <a:endParaRPr/>
            </a:p>
          </p:txBody>
        </p:sp>
      </p:gr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7" grpId="0" animBg="1" advAuto="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9" name="Title 1"/>
          <p:cNvSpPr txBox="1">
            <a:spLocks noGrp="1"/>
          </p:cNvSpPr>
          <p:nvPr>
            <p:ph type="title"/>
          </p:nvPr>
        </p:nvSpPr>
        <p:spPr>
          <a:xfrm>
            <a:off x="0" y="-85725"/>
            <a:ext cx="9144000" cy="1311275"/>
          </a:xfrm>
          <a:prstGeom prst="rect">
            <a:avLst/>
          </a:prstGeom>
        </p:spPr>
        <p:txBody>
          <a:bodyPr/>
          <a:lstStyle>
            <a:lvl1pPr>
              <a:defRPr b="1"/>
            </a:lvl1pPr>
          </a:lstStyle>
          <a:p>
            <a:r>
              <a:t>Predicting indirect branch target(s)</a:t>
            </a:r>
          </a:p>
        </p:txBody>
      </p:sp>
      <p:sp>
        <p:nvSpPr>
          <p:cNvPr id="1320" name="Content Placeholder 2"/>
          <p:cNvSpPr txBox="1">
            <a:spLocks noGrp="1"/>
          </p:cNvSpPr>
          <p:nvPr>
            <p:ph type="body" idx="1"/>
          </p:nvPr>
        </p:nvSpPr>
        <p:spPr>
          <a:xfrm>
            <a:off x="685799" y="1371600"/>
            <a:ext cx="7770815" cy="4722813"/>
          </a:xfrm>
          <a:prstGeom prst="rect">
            <a:avLst/>
          </a:prstGeom>
        </p:spPr>
        <p:txBody>
          <a:bodyPr/>
          <a:lstStyle/>
          <a:p>
            <a:endParaRPr/>
          </a:p>
          <a:p>
            <a:endParaRPr/>
          </a:p>
          <a:p>
            <a:endParaRPr/>
          </a:p>
          <a:p>
            <a:endParaRPr/>
          </a:p>
          <a:p>
            <a:endParaRPr/>
          </a:p>
          <a:p>
            <a:endParaRPr/>
          </a:p>
          <a:p>
            <a:r>
              <a:t>how to predict?</a:t>
            </a:r>
          </a:p>
          <a:p>
            <a:r>
              <a:t>observation: often </a:t>
            </a:r>
            <a:r>
              <a:rPr b="1"/>
              <a:t>context</a:t>
            </a:r>
            <a:r>
              <a:t> is enough</a:t>
            </a:r>
          </a:p>
        </p:txBody>
      </p:sp>
      <p:pic>
        <p:nvPicPr>
          <p:cNvPr id="1321" name="Picture 12" descr="Picture 12"/>
          <p:cNvPicPr>
            <a:picLocks noChangeAspect="1"/>
          </p:cNvPicPr>
          <p:nvPr/>
        </p:nvPicPr>
        <p:blipFill>
          <a:blip r:embed="rId2"/>
          <a:stretch>
            <a:fillRect/>
          </a:stretch>
        </p:blipFill>
        <p:spPr>
          <a:xfrm>
            <a:off x="1676073" y="1225550"/>
            <a:ext cx="5790267" cy="3556476"/>
          </a:xfrm>
          <a:prstGeom prst="rect">
            <a:avLst/>
          </a:prstGeom>
          <a:ln w="12700">
            <a:miter lim="400000"/>
          </a:ln>
        </p:spPr>
      </p:pic>
      <p:sp>
        <p:nvSpPr>
          <p:cNvPr id="1322" name="TextBox 4"/>
          <p:cNvSpPr txBox="1"/>
          <p:nvPr/>
        </p:nvSpPr>
        <p:spPr>
          <a:xfrm>
            <a:off x="7453346" y="6508032"/>
            <a:ext cx="1641275"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800">
                <a:solidFill>
                  <a:srgbClr val="808080"/>
                </a:solidFill>
                <a:latin typeface="Arial"/>
                <a:ea typeface="Arial"/>
                <a:cs typeface="Arial"/>
                <a:sym typeface="Arial"/>
              </a:defRPr>
            </a:lvl1pPr>
          </a:lstStyle>
          <a:p>
            <a:r>
              <a:t>(plot: Kim et al)</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 name="Title 3"/>
          <p:cNvSpPr txBox="1">
            <a:spLocks noGrp="1"/>
          </p:cNvSpPr>
          <p:nvPr>
            <p:ph type="title"/>
          </p:nvPr>
        </p:nvSpPr>
        <p:spPr>
          <a:xfrm>
            <a:off x="685799" y="-85725"/>
            <a:ext cx="7770815" cy="1311275"/>
          </a:xfrm>
          <a:prstGeom prst="rect">
            <a:avLst/>
          </a:prstGeom>
        </p:spPr>
        <p:txBody>
          <a:bodyPr/>
          <a:lstStyle>
            <a:lvl1pPr>
              <a:defRPr b="1"/>
            </a:lvl1pPr>
          </a:lstStyle>
          <a:p>
            <a:r>
              <a:t>Indirect BTB</a:t>
            </a:r>
          </a:p>
        </p:txBody>
      </p:sp>
      <p:pic>
        <p:nvPicPr>
          <p:cNvPr id="1325" name="Object 15" descr="Object 15"/>
          <p:cNvPicPr>
            <a:picLocks noChangeAspect="1"/>
          </p:cNvPicPr>
          <p:nvPr/>
        </p:nvPicPr>
        <p:blipFill>
          <a:blip r:embed="rId2"/>
          <a:stretch>
            <a:fillRect/>
          </a:stretch>
        </p:blipFill>
        <p:spPr>
          <a:xfrm>
            <a:off x="60000" y="3234696"/>
            <a:ext cx="9084000" cy="2255185"/>
          </a:xfrm>
          <a:prstGeom prst="rect">
            <a:avLst/>
          </a:prstGeom>
          <a:ln w="12700">
            <a:miter lim="400000"/>
          </a:ln>
        </p:spPr>
      </p:pic>
      <p:pic>
        <p:nvPicPr>
          <p:cNvPr id="1326" name="Object 4" descr="Object 4"/>
          <p:cNvPicPr>
            <a:picLocks noChangeAspect="1"/>
          </p:cNvPicPr>
          <p:nvPr/>
        </p:nvPicPr>
        <p:blipFill>
          <a:blip r:embed="rId3"/>
          <a:stretch>
            <a:fillRect/>
          </a:stretch>
        </p:blipFill>
        <p:spPr>
          <a:xfrm>
            <a:off x="2483766" y="1077632"/>
            <a:ext cx="4116468" cy="2121300"/>
          </a:xfrm>
          <a:prstGeom prst="rect">
            <a:avLst/>
          </a:prstGeom>
          <a:ln w="12700">
            <a:miter lim="400000"/>
          </a:ln>
        </p:spPr>
      </p:pic>
      <p:sp>
        <p:nvSpPr>
          <p:cNvPr id="1327" name="TextBox 6"/>
          <p:cNvSpPr txBox="1"/>
          <p:nvPr/>
        </p:nvSpPr>
        <p:spPr>
          <a:xfrm>
            <a:off x="1760103" y="5927611"/>
            <a:ext cx="6726843" cy="609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3600">
                <a:latin typeface="Arial"/>
                <a:ea typeface="Arial"/>
                <a:cs typeface="Arial"/>
                <a:sym typeface="Arial"/>
              </a:defRPr>
            </a:pPr>
            <a:r>
              <a:t>how is </a:t>
            </a:r>
            <a:r>
              <a:rPr b="1"/>
              <a:t>iBTB</a:t>
            </a:r>
            <a:r>
              <a:t> different from </a:t>
            </a:r>
            <a:r>
              <a:rPr b="1"/>
              <a:t>BTB</a:t>
            </a:r>
            <a:r>
              <a:t>?</a:t>
            </a:r>
          </a:p>
        </p:txBody>
      </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3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5" grpId="0" animBg="1" advAuto="0"/>
      <p:bldP spid="1327" grpId="0" animBg="1" advAuto="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 name="Title 1"/>
          <p:cNvSpPr txBox="1">
            <a:spLocks noGrp="1"/>
          </p:cNvSpPr>
          <p:nvPr>
            <p:ph type="title"/>
          </p:nvPr>
        </p:nvSpPr>
        <p:spPr>
          <a:xfrm>
            <a:off x="685799" y="-85725"/>
            <a:ext cx="7770815" cy="1311275"/>
          </a:xfrm>
          <a:prstGeom prst="rect">
            <a:avLst/>
          </a:prstGeom>
        </p:spPr>
        <p:txBody>
          <a:bodyPr/>
          <a:lstStyle>
            <a:lvl1pPr>
              <a:defRPr b="1"/>
            </a:lvl1pPr>
          </a:lstStyle>
          <a:p>
            <a:r>
              <a:t>More predictor ideas</a:t>
            </a:r>
          </a:p>
        </p:txBody>
      </p:sp>
      <p:sp>
        <p:nvSpPr>
          <p:cNvPr id="1330" name="Content Placeholder 2"/>
          <p:cNvSpPr txBox="1">
            <a:spLocks noGrp="1"/>
          </p:cNvSpPr>
          <p:nvPr>
            <p:ph type="body" idx="1"/>
          </p:nvPr>
        </p:nvSpPr>
        <p:spPr>
          <a:xfrm>
            <a:off x="685799" y="1371600"/>
            <a:ext cx="8335372" cy="5486400"/>
          </a:xfrm>
          <a:prstGeom prst="rect">
            <a:avLst/>
          </a:prstGeom>
        </p:spPr>
        <p:txBody>
          <a:bodyPr/>
          <a:lstStyle/>
          <a:p>
            <a:r>
              <a:t>several predictors + majority vote</a:t>
            </a:r>
          </a:p>
          <a:p>
            <a:r>
              <a:t>several predictors + tournament predictor</a:t>
            </a:r>
          </a:p>
          <a:p>
            <a:r>
              <a:t>train ML model (e.g., perceptron) instead of FSM</a:t>
            </a:r>
          </a:p>
          <a:p>
            <a:r>
              <a:t>track path history instead of branch history</a:t>
            </a:r>
          </a:p>
          <a:p>
            <a:r>
              <a:t>variable history length (maybe compiler chooses)</a:t>
            </a:r>
          </a:p>
          <a:p>
            <a:r>
              <a:t>keep local history (BHT), alloy w/ GBHR</a:t>
            </a:r>
          </a:p>
          <a:p>
            <a:r>
              <a:t>guess if predictor correct, invert if not</a:t>
            </a:r>
          </a:p>
          <a:p>
            <a:r>
              <a:t>dataflow predictor (track affector branches)</a:t>
            </a:r>
          </a:p>
          <a:p>
            <a:r>
              <a:t>what else can we predict?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E4CE8A21-B243-06E5-FC3B-8E65A941358B}"/>
              </a:ext>
            </a:extLst>
          </p:cNvPr>
          <p:cNvSpPr>
            <a:spLocks noGrp="1"/>
          </p:cNvSpPr>
          <p:nvPr>
            <p:ph type="title"/>
          </p:nvPr>
        </p:nvSpPr>
        <p:spPr/>
        <p:txBody>
          <a:bodyPr/>
          <a:lstStyle/>
          <a:p>
            <a:r>
              <a:rPr lang="en-CA" altLang="en-US">
                <a:latin typeface="Arial  " charset="0"/>
                <a:cs typeface="Arial  " charset="0"/>
              </a:rPr>
              <a:t>Summary of Slide Set 16</a:t>
            </a:r>
          </a:p>
        </p:txBody>
      </p:sp>
      <p:sp>
        <p:nvSpPr>
          <p:cNvPr id="52227" name="Content Placeholder 2">
            <a:extLst>
              <a:ext uri="{FF2B5EF4-FFF2-40B4-BE49-F238E27FC236}">
                <a16:creationId xmlns:a16="http://schemas.microsoft.com/office/drawing/2014/main" id="{24775C5E-9C9C-3E3F-4558-0D05AAD50405}"/>
              </a:ext>
            </a:extLst>
          </p:cNvPr>
          <p:cNvSpPr>
            <a:spLocks noGrp="1"/>
          </p:cNvSpPr>
          <p:nvPr>
            <p:ph idx="1"/>
          </p:nvPr>
        </p:nvSpPr>
        <p:spPr>
          <a:xfrm>
            <a:off x="685800" y="1128713"/>
            <a:ext cx="7770813" cy="4965700"/>
          </a:xfrm>
        </p:spPr>
        <p:txBody>
          <a:bodyPr/>
          <a:lstStyle/>
          <a:p>
            <a:r>
              <a:rPr lang="en-CA" altLang="en-US" sz="2000">
                <a:latin typeface="Arial  " charset="0"/>
                <a:cs typeface="Arial  " charset="0"/>
              </a:rPr>
              <a:t>Branch prediction is motivated by need to keep pipeline filled with instructions.  This is especially important for processors that use out-of-order execution and deep pipelines.  It motivates significant investment of silicon area.</a:t>
            </a:r>
          </a:p>
          <a:p>
            <a:endParaRPr lang="en-CA" altLang="en-US" sz="2000">
              <a:latin typeface="Arial  " charset="0"/>
              <a:cs typeface="Arial  " charset="0"/>
            </a:endParaRPr>
          </a:p>
          <a:p>
            <a:r>
              <a:rPr lang="en-CA" altLang="en-US" sz="2000">
                <a:latin typeface="Arial  " charset="0"/>
                <a:cs typeface="Arial  " charset="0"/>
              </a:rPr>
              <a:t>A 1-bit predictor uses the last outcome of a branch to predict the next outcome.</a:t>
            </a:r>
          </a:p>
          <a:p>
            <a:r>
              <a:rPr lang="en-CA" altLang="en-US" sz="2000">
                <a:latin typeface="Arial  " charset="0"/>
                <a:cs typeface="Arial  " charset="0"/>
              </a:rPr>
              <a:t>A 2-bit predictor uses a state machine.  The current state indicates the prediction.  The outcome determines the next state.</a:t>
            </a:r>
          </a:p>
          <a:p>
            <a:r>
              <a:rPr lang="en-CA" altLang="en-US" sz="2000">
                <a:latin typeface="Arial  " charset="0"/>
                <a:cs typeface="Arial  " charset="0"/>
              </a:rPr>
              <a:t>A correlating branch predictor uses information about other branch outcomes when making a prediction about the current branch.  </a:t>
            </a:r>
          </a:p>
          <a:p>
            <a:endParaRPr lang="en-CA" altLang="en-US" sz="2000">
              <a:latin typeface="Arial  " charset="0"/>
              <a:cs typeface="Arial  " charset="0"/>
            </a:endParaRPr>
          </a:p>
          <a:p>
            <a:endParaRPr lang="en-CA" altLang="en-US" sz="2000">
              <a:latin typeface="Arial  " charset="0"/>
              <a:cs typeface="Arial  " charset="0"/>
            </a:endParaRPr>
          </a:p>
        </p:txBody>
      </p:sp>
      <p:sp>
        <p:nvSpPr>
          <p:cNvPr id="52228" name="Slide Number Placeholder 3">
            <a:extLst>
              <a:ext uri="{FF2B5EF4-FFF2-40B4-BE49-F238E27FC236}">
                <a16:creationId xmlns:a16="http://schemas.microsoft.com/office/drawing/2014/main" id="{ED40B860-D795-83C0-175B-E34776251B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bg1"/>
                </a:solidFill>
                <a:latin typeface="Arial" panose="020B0604020202020204" pitchFamily="34" charset="0"/>
                <a:ea typeface="MS PGothic" panose="020B0600070205080204" pitchFamily="34" charset="-128"/>
              </a:defRPr>
            </a:lvl1pPr>
            <a:lvl2pPr marL="742950" indent="-285750">
              <a:defRPr sz="2400">
                <a:solidFill>
                  <a:schemeClr val="bg1"/>
                </a:solidFill>
                <a:latin typeface="Arial" panose="020B0604020202020204" pitchFamily="34" charset="0"/>
                <a:ea typeface="MS PGothic" panose="020B0600070205080204" pitchFamily="34" charset="-128"/>
              </a:defRPr>
            </a:lvl2pPr>
            <a:lvl3pPr marL="1143000" indent="-228600">
              <a:defRPr sz="2400">
                <a:solidFill>
                  <a:schemeClr val="bg1"/>
                </a:solidFill>
                <a:latin typeface="Arial" panose="020B0604020202020204" pitchFamily="34" charset="0"/>
                <a:ea typeface="MS PGothic" panose="020B0600070205080204" pitchFamily="34" charset="-128"/>
              </a:defRPr>
            </a:lvl3pPr>
            <a:lvl4pPr marL="1600200" indent="-228600">
              <a:defRPr sz="2400">
                <a:solidFill>
                  <a:schemeClr val="bg1"/>
                </a:solidFill>
                <a:latin typeface="Arial" panose="020B0604020202020204" pitchFamily="34" charset="0"/>
                <a:ea typeface="MS PGothic" panose="020B0600070205080204" pitchFamily="34" charset="-128"/>
              </a:defRPr>
            </a:lvl4pPr>
            <a:lvl5pPr marL="2057400" indent="-228600">
              <a:defRPr sz="2400">
                <a:solidFill>
                  <a:schemeClr val="bg1"/>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Arial" panose="020B0604020202020204" pitchFamily="34" charset="0"/>
              <a:defRPr sz="2400">
                <a:solidFill>
                  <a:schemeClr val="bg1"/>
                </a:solidFill>
                <a:latin typeface="Arial" panose="020B0604020202020204" pitchFamily="34" charset="0"/>
                <a:ea typeface="MS PGothic" panose="020B0600070205080204" pitchFamily="34" charset="-128"/>
              </a:defRPr>
            </a:lvl9pPr>
          </a:lstStyle>
          <a:p>
            <a:fld id="{3D709382-7E88-8648-9613-CE05BF0046D9}" type="slidenum">
              <a:rPr lang="en-GB" altLang="en-US" sz="1400">
                <a:solidFill>
                  <a:srgbClr val="000000"/>
                </a:solidFill>
                <a:latin typeface="Arial  " charset="0"/>
              </a:rPr>
              <a:pPr/>
              <a:t>63</a:t>
            </a:fld>
            <a:r>
              <a:rPr lang="en-GB" altLang="en-US" sz="1400">
                <a:solidFill>
                  <a:srgbClr val="000000"/>
                </a:solidFill>
                <a:latin typeface="Arial  " charset="0"/>
              </a:rPr>
              <a:t> </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Comic Sans MS"/>
        <a:ea typeface="ＭＳ Ｐゴシック"/>
        <a:cs typeface="ＭＳ Ｐゴシック"/>
      </a:majorFont>
      <a:minorFont>
        <a:latin typeface="Comic Sans MS"/>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93000"/>
          </a:lnSpc>
          <a:spcBef>
            <a:spcPct val="0"/>
          </a:spcBef>
          <a:spcAft>
            <a:spcPct val="0"/>
          </a:spcAft>
          <a:buClr>
            <a:srgbClr val="000000"/>
          </a:buClr>
          <a:buSzPct val="100000"/>
          <a:buFont typeface="Arial" pitchFamily="-106" charset="-52"/>
          <a:buNone/>
          <a:tabLst/>
          <a:defRPr kumimoji="0" lang="en-GB" sz="2400" b="0" i="0" u="none" strike="noStrike" cap="none" normalizeH="0" baseline="0">
            <a:ln>
              <a:noFill/>
            </a:ln>
            <a:solidFill>
              <a:schemeClr val="bg1"/>
            </a:solidFill>
            <a:effectLst/>
            <a:latin typeface="Arial" pitchFamily="-106" charset="-5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93000"/>
          </a:lnSpc>
          <a:spcBef>
            <a:spcPct val="0"/>
          </a:spcBef>
          <a:spcAft>
            <a:spcPct val="0"/>
          </a:spcAft>
          <a:buClr>
            <a:srgbClr val="000000"/>
          </a:buClr>
          <a:buSzPct val="100000"/>
          <a:buFont typeface="Arial" pitchFamily="-106" charset="-52"/>
          <a:buNone/>
          <a:tabLst/>
          <a:defRPr kumimoji="0" lang="en-GB" sz="2400" b="0" i="0" u="none" strike="noStrike" cap="none" normalizeH="0" baseline="0">
            <a:ln>
              <a:noFill/>
            </a:ln>
            <a:solidFill>
              <a:schemeClr val="bg1"/>
            </a:solidFill>
            <a:effectLst/>
            <a:latin typeface="Arial" pitchFamily="-106" charset="-52"/>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Blank Presentation">
      <a:dk1>
        <a:srgbClr val="000000"/>
      </a:dk1>
      <a:lt1>
        <a:srgbClr val="FFFFFF"/>
      </a:lt1>
      <a:dk2>
        <a:srgbClr val="A7A7A7"/>
      </a:dk2>
      <a:lt2>
        <a:srgbClr val="535353"/>
      </a:lt2>
      <a:accent1>
        <a:srgbClr val="00CC99"/>
      </a:accent1>
      <a:accent2>
        <a:srgbClr val="3333CC"/>
      </a:accent2>
      <a:accent3>
        <a:srgbClr val="8F8F8F"/>
      </a:accent3>
      <a:accent4>
        <a:srgbClr val="707070"/>
      </a:accent4>
      <a:accent5>
        <a:srgbClr val="AAE2CA"/>
      </a:accent5>
      <a:accent6>
        <a:srgbClr val="2D2DB9"/>
      </a:accent6>
      <a:hlink>
        <a:srgbClr val="0000FF"/>
      </a:hlink>
      <a:folHlink>
        <a:srgbClr val="FF00FF"/>
      </a:folHlink>
    </a:clrScheme>
    <a:fontScheme name="Blank Presentation">
      <a:majorFont>
        <a:latin typeface="Times New Roman"/>
        <a:ea typeface="Times New Roman"/>
        <a:cs typeface="Times New Roman"/>
      </a:majorFont>
      <a:minorFont>
        <a:latin typeface="Helvetica"/>
        <a:ea typeface="Helvetica"/>
        <a:cs typeface="Helvetica"/>
      </a:minorFont>
    </a:fontScheme>
    <a:fmtScheme name="Blank Presenta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449262" rtl="0" fontAlgn="auto" latinLnBrk="0" hangingPunct="0">
          <a:lnSpc>
            <a:spcPct val="93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Comic Sans MS"/>
            <a:ea typeface="Comic Sans MS"/>
            <a:cs typeface="Comic Sans MS"/>
            <a:sym typeface="Comic Sans M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49262" rtl="0" fontAlgn="auto" latinLnBrk="0" hangingPunct="0">
          <a:lnSpc>
            <a:spcPct val="93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Comic Sans MS"/>
            <a:ea typeface="Comic Sans MS"/>
            <a:cs typeface="Comic Sans MS"/>
            <a:sym typeface="Comic Sans M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27371</TotalTime>
  <Words>5123</Words>
  <Application>Microsoft Macintosh PowerPoint</Application>
  <PresentationFormat>On-screen Show (4:3)</PresentationFormat>
  <Paragraphs>1152</Paragraphs>
  <Slides>63</Slides>
  <Notes>34</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63</vt:i4>
      </vt:variant>
    </vt:vector>
  </HeadingPairs>
  <TitlesOfParts>
    <vt:vector size="76" baseType="lpstr">
      <vt:lpstr>ＭＳ Ｐゴシック</vt:lpstr>
      <vt:lpstr>Arial</vt:lpstr>
      <vt:lpstr>Arial  </vt:lpstr>
      <vt:lpstr>Comic Sans MS</vt:lpstr>
      <vt:lpstr>Courier New</vt:lpstr>
      <vt:lpstr>Inconsolata</vt:lpstr>
      <vt:lpstr>Neo Sans Intel Medium</vt:lpstr>
      <vt:lpstr>Times</vt:lpstr>
      <vt:lpstr>Times New Roman</vt:lpstr>
      <vt:lpstr>Wingdings</vt:lpstr>
      <vt:lpstr>Blank Presentation</vt:lpstr>
      <vt:lpstr>1_Blank Presentation</vt:lpstr>
      <vt:lpstr>Visio</vt:lpstr>
      <vt:lpstr>CPEN 411: Computer Architecture   Slide Set #16: Branch Prediction</vt:lpstr>
      <vt:lpstr>PowerPoint Presentation</vt:lpstr>
      <vt:lpstr>Intel Core i7</vt:lpstr>
      <vt:lpstr>Introduction to Slide Set 16</vt:lpstr>
      <vt:lpstr>Learning Objectives</vt:lpstr>
      <vt:lpstr>Control Dependence (H&amp;P 2.1)‏</vt:lpstr>
      <vt:lpstr>Control Hazards</vt:lpstr>
      <vt:lpstr>Branch Prediction Impact  (5-stage pipeline) – Resolved in EX</vt:lpstr>
      <vt:lpstr>Effect of Deeper Pipelining</vt:lpstr>
      <vt:lpstr>Branch Instructions: Two Problems</vt:lpstr>
      <vt:lpstr>Branches Predicted in Fetch Stage</vt:lpstr>
      <vt:lpstr>Predicting the future...</vt:lpstr>
      <vt:lpstr>Example Prediction Problem</vt:lpstr>
      <vt:lpstr>design hardware to use observation?</vt:lpstr>
      <vt:lpstr>1-Bit Branch Predictor</vt:lpstr>
      <vt:lpstr>Operation of 1-bit Branch Predictor</vt:lpstr>
      <vt:lpstr>Aside: Hash Tables</vt:lpstr>
      <vt:lpstr>Example, cont’d</vt:lpstr>
      <vt:lpstr>1-bit Branch Predictor</vt:lpstr>
      <vt:lpstr>ideas to get rid of mispredictions?</vt:lpstr>
      <vt:lpstr>2-bit Branch Predictor</vt:lpstr>
      <vt:lpstr>2-bit “Saturating Counter” Predictor </vt:lpstr>
      <vt:lpstr>2-Bit Predictor </vt:lpstr>
      <vt:lpstr>Other 2-bit predictors (there are 1000’s of possible 2-bit state machines...)</vt:lpstr>
      <vt:lpstr>PowerPoint Presentation</vt:lpstr>
      <vt:lpstr>3-bit “Saturating Counter” Predictor </vt:lpstr>
      <vt:lpstr>Branch Prediction “FAQ”</vt:lpstr>
      <vt:lpstr>Branch Target Buffer (BTB)</vt:lpstr>
      <vt:lpstr>Putting it all together: BP + BTB</vt:lpstr>
      <vt:lpstr>The curious case of function calls</vt:lpstr>
      <vt:lpstr>Return address stack</vt:lpstr>
      <vt:lpstr>BTB Terminology</vt:lpstr>
      <vt:lpstr>Another Branch Prediction Example…</vt:lpstr>
      <vt:lpstr>Example, cont’d...</vt:lpstr>
      <vt:lpstr>Another Example…</vt:lpstr>
      <vt:lpstr>Why Are Branch Outcomes Correlated? Answer: Affector Branches</vt:lpstr>
      <vt:lpstr>A (Silly) Analogy…</vt:lpstr>
      <vt:lpstr>(Silly) Correlating Branch Predictor Analogy…</vt:lpstr>
      <vt:lpstr>1-Bit Branch Predictor with1-Bit of Correlation:</vt:lpstr>
      <vt:lpstr>1-Bit Predictor with 1-Bit of Correlation:</vt:lpstr>
      <vt:lpstr>1-Bit Predictor with 1-Bit of Correlation:</vt:lpstr>
      <vt:lpstr>1-Bit Predictor with 1-Bit of Correlation:</vt:lpstr>
      <vt:lpstr>1-Bit Predictor with 1-Bit of Correlation:</vt:lpstr>
      <vt:lpstr>Example, cont’d...</vt:lpstr>
      <vt:lpstr>2-bit Predictor with 1-bit of Correlation</vt:lpstr>
      <vt:lpstr>Affector Branches, reconsidered…</vt:lpstr>
      <vt:lpstr>Correlating against Multiple Branches</vt:lpstr>
      <vt:lpstr>Quick Review: Shift Register</vt:lpstr>
      <vt:lpstr>Increase “History Length” - gselect branch predictor (e.g., correlate against last 2 branches)</vt:lpstr>
      <vt:lpstr>Track outcome of 3-branches</vt:lpstr>
      <vt:lpstr>gshare branch predictor</vt:lpstr>
      <vt:lpstr>Remembering history</vt:lpstr>
      <vt:lpstr>Kinds of branches</vt:lpstr>
      <vt:lpstr>Pentium M Branch Predictor</vt:lpstr>
      <vt:lpstr>Global (T/NT) predictor</vt:lpstr>
      <vt:lpstr>BTB organization</vt:lpstr>
      <vt:lpstr>Predicting counted loops</vt:lpstr>
      <vt:lpstr>Loop Predictor</vt:lpstr>
      <vt:lpstr>Indirect branches</vt:lpstr>
      <vt:lpstr>Predicting indirect branch target(s)</vt:lpstr>
      <vt:lpstr>Indirect BTB</vt:lpstr>
      <vt:lpstr>More predictor ideas</vt:lpstr>
      <vt:lpstr>Summary of Slide Set 16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dc:title>
  <dc:creator>Tor</dc:creator>
  <cp:lastModifiedBy>Tor Aamodt</cp:lastModifiedBy>
  <cp:revision>139</cp:revision>
  <dcterms:created xsi:type="dcterms:W3CDTF">2009-09-02T21:42:47Z</dcterms:created>
  <dcterms:modified xsi:type="dcterms:W3CDTF">2025-11-19T18:14:19Z</dcterms:modified>
</cp:coreProperties>
</file>