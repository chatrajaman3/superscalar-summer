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4039" r:id="rId2"/>
  </p:sldMasterIdLst>
  <p:notesMasterIdLst>
    <p:notesMasterId r:id="rId78"/>
  </p:notesMasterIdLst>
  <p:handoutMasterIdLst>
    <p:handoutMasterId r:id="rId79"/>
  </p:handoutMasterIdLst>
  <p:sldIdLst>
    <p:sldId id="638" r:id="rId3"/>
    <p:sldId id="566" r:id="rId4"/>
    <p:sldId id="260" r:id="rId5"/>
    <p:sldId id="580" r:id="rId6"/>
    <p:sldId id="482" r:id="rId7"/>
    <p:sldId id="637" r:id="rId8"/>
    <p:sldId id="565" r:id="rId9"/>
    <p:sldId id="484" r:id="rId10"/>
    <p:sldId id="582" r:id="rId11"/>
    <p:sldId id="583" r:id="rId12"/>
    <p:sldId id="586" r:id="rId13"/>
    <p:sldId id="587" r:id="rId14"/>
    <p:sldId id="595" r:id="rId15"/>
    <p:sldId id="601" r:id="rId16"/>
    <p:sldId id="600" r:id="rId17"/>
    <p:sldId id="629" r:id="rId18"/>
    <p:sldId id="602" r:id="rId19"/>
    <p:sldId id="631" r:id="rId20"/>
    <p:sldId id="632" r:id="rId21"/>
    <p:sldId id="596" r:id="rId22"/>
    <p:sldId id="584" r:id="rId23"/>
    <p:sldId id="585" r:id="rId24"/>
    <p:sldId id="546" r:id="rId25"/>
    <p:sldId id="609" r:id="rId26"/>
    <p:sldId id="610" r:id="rId27"/>
    <p:sldId id="633" r:id="rId28"/>
    <p:sldId id="608" r:id="rId29"/>
    <p:sldId id="611" r:id="rId30"/>
    <p:sldId id="612" r:id="rId31"/>
    <p:sldId id="613" r:id="rId32"/>
    <p:sldId id="634" r:id="rId33"/>
    <p:sldId id="614" r:id="rId34"/>
    <p:sldId id="615" r:id="rId35"/>
    <p:sldId id="616" r:id="rId36"/>
    <p:sldId id="617" r:id="rId37"/>
    <p:sldId id="619" r:id="rId38"/>
    <p:sldId id="618" r:id="rId39"/>
    <p:sldId id="286" r:id="rId40"/>
    <p:sldId id="287" r:id="rId41"/>
    <p:sldId id="288" r:id="rId42"/>
    <p:sldId id="289" r:id="rId43"/>
    <p:sldId id="694" r:id="rId44"/>
    <p:sldId id="635" r:id="rId45"/>
    <p:sldId id="686" r:id="rId46"/>
    <p:sldId id="621" r:id="rId47"/>
    <p:sldId id="622" r:id="rId48"/>
    <p:sldId id="687" r:id="rId49"/>
    <p:sldId id="489" r:id="rId50"/>
    <p:sldId id="623" r:id="rId51"/>
    <p:sldId id="625" r:id="rId52"/>
    <p:sldId id="626" r:id="rId53"/>
    <p:sldId id="524" r:id="rId54"/>
    <p:sldId id="525" r:id="rId55"/>
    <p:sldId id="293" r:id="rId56"/>
    <p:sldId id="640" r:id="rId57"/>
    <p:sldId id="295" r:id="rId58"/>
    <p:sldId id="641" r:id="rId59"/>
    <p:sldId id="296" r:id="rId60"/>
    <p:sldId id="298" r:id="rId61"/>
    <p:sldId id="642" r:id="rId62"/>
    <p:sldId id="643" r:id="rId63"/>
    <p:sldId id="644" r:id="rId64"/>
    <p:sldId id="297" r:id="rId65"/>
    <p:sldId id="299" r:id="rId66"/>
    <p:sldId id="645" r:id="rId67"/>
    <p:sldId id="646" r:id="rId68"/>
    <p:sldId id="647" r:id="rId69"/>
    <p:sldId id="648" r:id="rId70"/>
    <p:sldId id="649" r:id="rId71"/>
    <p:sldId id="300" r:id="rId72"/>
    <p:sldId id="301" r:id="rId73"/>
    <p:sldId id="302" r:id="rId74"/>
    <p:sldId id="303" r:id="rId75"/>
    <p:sldId id="304" r:id="rId76"/>
    <p:sldId id="305" r:id="rId7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00FF"/>
    <a:srgbClr val="C9C9FF"/>
    <a:srgbClr val="FFB3B3"/>
    <a:srgbClr val="00FF00"/>
    <a:srgbClr val="FF0000"/>
    <a:srgbClr val="FF00FF"/>
    <a:srgbClr val="FFB7B7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71" autoAdjust="0"/>
    <p:restoredTop sz="89041" autoAdjust="0"/>
  </p:normalViewPr>
  <p:slideViewPr>
    <p:cSldViewPr snapToGrid="0">
      <p:cViewPr varScale="1">
        <p:scale>
          <a:sx n="99" d="100"/>
          <a:sy n="99" d="100"/>
        </p:scale>
        <p:origin x="1336" y="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49" d="100"/>
          <a:sy n="149" d="100"/>
        </p:scale>
        <p:origin x="-1984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83B451C-6BB3-49AE-9638-47C188184D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759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61355DB-6014-4315-97B9-C08CC38B93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429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ＭＳ Ｐゴシック" pitchFamily="-10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DCC211-E0E6-FC4D-90D1-B1982944D2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10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0FD1CC-3C69-44A3-8E73-D19A591B79E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0" tIns="44446" rIns="90480" bIns="44446"/>
          <a:lstStyle/>
          <a:p>
            <a:pPr eaLnBrk="1" hangingPunct="1"/>
            <a:endParaRPr lang="en-US">
              <a:latin typeface="Arial" pitchFamily="34" charset="0"/>
              <a:ea typeface="ＭＳ Ｐゴシック" pitchFamily="34" charset="-128"/>
            </a:endParaRPr>
          </a:p>
          <a:p>
            <a:pPr eaLnBrk="1" hangingPunct="1"/>
            <a:r>
              <a:rPr lang="en-US">
                <a:latin typeface="Arial" pitchFamily="34" charset="0"/>
                <a:ea typeface="ＭＳ Ｐゴシック" pitchFamily="34" charset="-128"/>
              </a:rPr>
              <a:t>Y-axis is performance</a:t>
            </a:r>
          </a:p>
          <a:p>
            <a:pPr eaLnBrk="1" hangingPunct="1"/>
            <a:r>
              <a:rPr lang="en-US">
                <a:latin typeface="Arial" pitchFamily="34" charset="0"/>
                <a:ea typeface="ＭＳ Ｐゴシック" pitchFamily="34" charset="-128"/>
              </a:rPr>
              <a:t>X-axis is time</a:t>
            </a:r>
          </a:p>
          <a:p>
            <a:pPr eaLnBrk="1" hangingPunct="1"/>
            <a:r>
              <a:rPr lang="en-US">
                <a:latin typeface="Arial" pitchFamily="34" charset="0"/>
                <a:ea typeface="ＭＳ Ｐゴシック" pitchFamily="34" charset="-128"/>
              </a:rPr>
              <a:t>Latency</a:t>
            </a:r>
          </a:p>
          <a:p>
            <a:pPr eaLnBrk="1" hangingPunct="1"/>
            <a:r>
              <a:rPr lang="en-US">
                <a:latin typeface="Arial" pitchFamily="34" charset="0"/>
                <a:ea typeface="ＭＳ Ｐゴシック" pitchFamily="34" charset="-128"/>
              </a:rPr>
              <a:t>Cliché: </a:t>
            </a:r>
          </a:p>
          <a:p>
            <a:pPr eaLnBrk="1" hangingPunct="1"/>
            <a:r>
              <a:rPr lang="en-US">
                <a:latin typeface="Arial" pitchFamily="34" charset="0"/>
                <a:ea typeface="ＭＳ Ｐゴシック" pitchFamily="34" charset="-128"/>
              </a:rPr>
              <a:t>Not e that x86 didn’t have cache on chip until 1989</a:t>
            </a:r>
          </a:p>
        </p:txBody>
      </p:sp>
      <p:sp>
        <p:nvSpPr>
          <p:cNvPr id="70660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983221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28A501-7DEA-4D7D-A05A-5E929F787EA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03108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78F03C-0C20-4985-9E79-5508063D423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5102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1355DB-6014-4315-97B9-C08CC38B931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06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1355DB-6014-4315-97B9-C08CC38B931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45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1355DB-6014-4315-97B9-C08CC38B931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26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1355DB-6014-4315-97B9-C08CC38B931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03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586CE2-E83E-43E0-8DE2-E20F16333099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>
              <a:latin typeface="Arial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2180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5D518C-5051-4798-862B-FADEED98E02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6742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21, 2008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9AED6-21BC-4986-BFA3-0668BA5060C1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21, 2008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30D0E-6C7B-458E-8902-0C79F52CDCCA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21, 2008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8E1E4F-B1A1-4D65-8CC1-2B8DDEE90EB3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21, 2008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#10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1E835-7B1C-4B1B-BDE4-620D3DBA51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21, 2008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#10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6DDC83-A2DB-468D-9FAC-DE9B2727E33C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21, 2008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#10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07F13-FAC7-469F-AE6F-830DFA6356F6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21, 2008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037E2-0DC2-4D25-8E89-1944D5D014C9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21, 2008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#10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2AEF76-AE65-4DF5-A49C-78A12344FC45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21, 2008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#10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BEE26-7992-4A03-BDCE-B1C5BEE727CD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21, 2008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9D892-F19C-49D2-98B7-10B1FD5A549A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21, 2008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3D15BE-DF20-4CF6-86B3-D91F52C7E79A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</a:lvl1pPr>
            <a:lvl2pPr marL="0" indent="457200" algn="ctr">
              <a:buSzTx/>
              <a:buNone/>
            </a:lvl2pPr>
            <a:lvl3pPr marL="0" indent="914400" algn="ctr">
              <a:buSzTx/>
              <a:buNone/>
            </a:lvl3pPr>
            <a:lvl4pPr marL="0" indent="1371600" algn="ctr">
              <a:buSzTx/>
              <a:buNone/>
            </a:lvl4pPr>
            <a:lvl5pPr marL="0" indent="1828800" algn="ctr"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513001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598024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None/>
              <a:defRPr sz="2000"/>
            </a:lvl1pPr>
            <a:lvl2pPr marL="0" indent="457200">
              <a:spcBef>
                <a:spcPts val="400"/>
              </a:spcBef>
              <a:buSzTx/>
              <a:buNone/>
              <a:defRPr sz="2000"/>
            </a:lvl2pPr>
            <a:lvl3pPr marL="0" indent="914400">
              <a:spcBef>
                <a:spcPts val="400"/>
              </a:spcBef>
              <a:buSzTx/>
              <a:buNone/>
              <a:defRPr sz="2000"/>
            </a:lvl3pPr>
            <a:lvl4pPr marL="0" indent="1371600">
              <a:spcBef>
                <a:spcPts val="400"/>
              </a:spcBef>
              <a:buSzTx/>
              <a:buNone/>
              <a:defRPr sz="2000"/>
            </a:lvl4pPr>
            <a:lvl5pPr marL="0" indent="1828800">
              <a:spcBef>
                <a:spcPts val="400"/>
              </a:spcBef>
              <a:buSzTx/>
              <a:buNone/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245123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85800" y="1371600"/>
            <a:ext cx="3810000" cy="47244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775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883368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780704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49598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200"/>
            </a:lvl1pPr>
            <a:lvl2pPr marL="783771" indent="-326571">
              <a:spcBef>
                <a:spcPts val="700"/>
              </a:spcBef>
              <a:defRPr sz="3200"/>
            </a:lvl2pPr>
            <a:lvl3pPr marL="1219200" indent="-304800">
              <a:spcBef>
                <a:spcPts val="700"/>
              </a:spcBef>
              <a:defRPr sz="3200"/>
            </a:lvl3pPr>
            <a:lvl4pPr marL="1737360" indent="-365760">
              <a:spcBef>
                <a:spcPts val="700"/>
              </a:spcBef>
              <a:defRPr sz="3200"/>
            </a:lvl4pPr>
            <a:lvl5pPr marL="2194560" indent="-365760">
              <a:spcBef>
                <a:spcPts val="7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642287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None/>
              <a:defRPr sz="1400"/>
            </a:lvl1pPr>
            <a:lvl2pPr marL="0" indent="457200">
              <a:spcBef>
                <a:spcPts val="300"/>
              </a:spcBef>
              <a:buSzTx/>
              <a:buNone/>
              <a:defRPr sz="1400"/>
            </a:lvl2pPr>
            <a:lvl3pPr marL="0" indent="914400">
              <a:spcBef>
                <a:spcPts val="300"/>
              </a:spcBef>
              <a:buSzTx/>
              <a:buNone/>
              <a:defRPr sz="1400"/>
            </a:lvl3pPr>
            <a:lvl4pPr marL="0" indent="1371600">
              <a:spcBef>
                <a:spcPts val="300"/>
              </a:spcBef>
              <a:buSzTx/>
              <a:buNone/>
              <a:defRPr sz="1400"/>
            </a:lvl4pPr>
            <a:lvl5pPr marL="0" indent="1828800">
              <a:spcBef>
                <a:spcPts val="300"/>
              </a:spcBef>
              <a:buSz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138030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  " charset="0"/>
              </a:defRPr>
            </a:lvl1pPr>
          </a:lstStyle>
          <a:p>
            <a:pPr>
              <a:defRPr/>
            </a:pPr>
            <a:r>
              <a:rPr lang="en-US"/>
              <a:t>Oct. 21, 2008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248400"/>
            <a:ext cx="3873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  " charset="0"/>
              </a:defRPr>
            </a:lvl1pPr>
          </a:lstStyle>
          <a:p>
            <a:pPr>
              <a:defRPr/>
            </a:pPr>
            <a:r>
              <a:rPr lang="en-US"/>
              <a:t>EECE 476 - Slide Set #10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  " charset="0"/>
              </a:defRPr>
            </a:lvl1pPr>
          </a:lstStyle>
          <a:p>
            <a:pPr>
              <a:defRPr/>
            </a:pPr>
            <a:fld id="{6910B20E-9E14-421B-8F54-B9D88F38B9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30" r:id="rId2"/>
    <p:sldLayoutId id="2147484031" r:id="rId3"/>
    <p:sldLayoutId id="2147484028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 "/>
          <a:ea typeface="+mj-ea"/>
          <a:cs typeface="Arial  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 " charset="0"/>
          <a:ea typeface="ＭＳ Ｐゴシック" pitchFamily="-106" charset="-128"/>
          <a:cs typeface="Arial  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 " charset="0"/>
          <a:ea typeface="ＭＳ Ｐゴシック" pitchFamily="-106" charset="-128"/>
          <a:cs typeface="Arial  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 " charset="0"/>
          <a:ea typeface="ＭＳ Ｐゴシック" pitchFamily="-106" charset="-128"/>
          <a:cs typeface="Arial  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 " charset="0"/>
          <a:ea typeface="ＭＳ Ｐゴシック" pitchFamily="-106" charset="-128"/>
          <a:cs typeface="Arial  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Arial  "/>
          <a:ea typeface="+mn-ea"/>
          <a:cs typeface="Arial  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  "/>
          <a:ea typeface="+mn-ea"/>
          <a:cs typeface="Arial  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  "/>
          <a:ea typeface="+mn-ea"/>
          <a:cs typeface="Arial  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Arial  "/>
          <a:ea typeface="+mn-ea"/>
          <a:cs typeface="Arial  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Arial  "/>
          <a:ea typeface="+mn-ea"/>
          <a:cs typeface="Arial  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77724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156292" y="62484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4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1140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  <p:sldLayoutId id="2147484042" r:id="rId3"/>
    <p:sldLayoutId id="2147484043" r:id="rId4"/>
    <p:sldLayoutId id="2147484044" r:id="rId5"/>
    <p:sldLayoutId id="2147484045" r:id="rId6"/>
    <p:sldLayoutId id="2147484046" r:id="rId7"/>
    <p:sldLayoutId id="2147484047" r:id="rId8"/>
    <p:sldLayoutId id="2147484048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790575" marR="0" indent="-333375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–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234439" marR="0" indent="-32003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727200" marR="0" indent="-355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–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184400" marR="0" indent="-355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»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641600" marR="0" indent="-355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»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098800" marR="0" indent="-355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»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556000" marR="0" indent="-355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»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4013200" marR="0" indent="-355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»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"/><Relationship Id="rId7" Type="http://schemas.openxmlformats.org/officeDocument/2006/relationships/image" Target="../media/image16.tif"/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tif"/><Relationship Id="rId5" Type="http://schemas.openxmlformats.org/officeDocument/2006/relationships/image" Target="../media/image14.tif"/><Relationship Id="rId4" Type="http://schemas.openxmlformats.org/officeDocument/2006/relationships/image" Target="../media/image13.ti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277" y="0"/>
            <a:ext cx="920496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0" y="0"/>
            <a:ext cx="9102682" cy="6858000"/>
          </a:xfrm>
          <a:prstGeom prst="rect">
            <a:avLst/>
          </a:prstGeom>
          <a:solidFill>
            <a:srgbClr val="0000FF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066800"/>
            <a:ext cx="8035636" cy="3581400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</a:rPr>
              <a:t>CPEN 411: Computer Architecture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Slide Set 6:  Caches and Prefetching</a:t>
            </a:r>
            <a:br>
              <a:rPr lang="en-US" sz="36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562600"/>
            <a:ext cx="6400800" cy="838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Prof. Tor Aamodt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D9AED6-21BC-4986-BFA3-0668BA5060C1}" type="slidenum">
              <a:rPr lang="en-US" smtClean="0"/>
              <a:pPr>
                <a:defRPr/>
              </a:pPr>
              <a:t>1</a:t>
            </a:fld>
            <a:r>
              <a:rPr lang="en-US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02277" y="6291590"/>
            <a:ext cx="90016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</a:rPr>
              <a:t>[Background: Portion of Intel Core i7-5960X Extreme Edition 20 MB L3 Cache;</a:t>
            </a:r>
          </a:p>
          <a:p>
            <a:r>
              <a:rPr lang="en-US" sz="1300" dirty="0">
                <a:solidFill>
                  <a:schemeClr val="bg1"/>
                </a:solidFill>
              </a:rPr>
              <a:t> Source: https://</a:t>
            </a:r>
            <a:r>
              <a:rPr lang="en-US" sz="1300" dirty="0" err="1">
                <a:solidFill>
                  <a:schemeClr val="bg1"/>
                </a:solidFill>
              </a:rPr>
              <a:t>www.anandtech.com</a:t>
            </a:r>
            <a:r>
              <a:rPr lang="en-US" sz="1300" dirty="0">
                <a:solidFill>
                  <a:schemeClr val="bg1"/>
                </a:solidFill>
              </a:rPr>
              <a:t>/show/8426/the-intel-haswell-e-cpu-review-core-i7-5960x-i7-5930k-i7-5820k-tested]</a:t>
            </a:r>
          </a:p>
        </p:txBody>
      </p:sp>
    </p:spTree>
    <p:extLst>
      <p:ext uri="{BB962C8B-B14F-4D97-AF65-F5344CB8AC3E}">
        <p14:creationId xmlns:p14="http://schemas.microsoft.com/office/powerpoint/2010/main" val="1966495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Arial  " charset="0"/>
                <a:cs typeface="Arial  " charset="0"/>
              </a:rPr>
              <a:t>How to Design “Memory” Blocks? </a:t>
            </a:r>
            <a:endParaRPr lang="en-CA" dirty="0"/>
          </a:p>
        </p:txBody>
      </p:sp>
      <p:pic>
        <p:nvPicPr>
          <p:cNvPr id="7" name="Picture 15" descr="hp,cod-fig6.36.jpg                                             0007391Fmbp                            C32F9376: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488" y="1167483"/>
            <a:ext cx="8192762" cy="5181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 bwMode="auto">
          <a:xfrm>
            <a:off x="700087" y="3209926"/>
            <a:ext cx="781050" cy="1238250"/>
          </a:xfrm>
          <a:prstGeom prst="rect">
            <a:avLst/>
          </a:prstGeom>
          <a:solidFill>
            <a:srgbClr val="FF0000">
              <a:alpha val="21000"/>
            </a:srgbClr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6841163" y="3362326"/>
            <a:ext cx="781050" cy="1238250"/>
          </a:xfrm>
          <a:prstGeom prst="rect">
            <a:avLst/>
          </a:prstGeom>
          <a:solidFill>
            <a:srgbClr val="FF0000">
              <a:alpha val="21000"/>
            </a:srgbClr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2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32" y="-133241"/>
            <a:ext cx="8825992" cy="710366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Ink 22" descr="Ink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93713">
            <a:off x="4226342" y="384018"/>
            <a:ext cx="2658623" cy="846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Ink 23" descr="Ink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4595" y="4775851"/>
            <a:ext cx="2383376" cy="8670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Ink 4" descr="In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-411701" y="3061070"/>
            <a:ext cx="2383376" cy="8670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Fundamental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CA" dirty="0"/>
              <a:t>	Faster memory is smaller.</a:t>
            </a:r>
          </a:p>
          <a:p>
            <a:pPr>
              <a:buNone/>
            </a:pPr>
            <a:endParaRPr lang="en-CA" dirty="0"/>
          </a:p>
          <a:p>
            <a:pPr>
              <a:buNone/>
            </a:pPr>
            <a:r>
              <a:rPr lang="en-CA" dirty="0"/>
              <a:t>	</a:t>
            </a:r>
            <a:r>
              <a:rPr lang="en-CA" dirty="0">
                <a:solidFill>
                  <a:srgbClr val="0000FF"/>
                </a:solidFill>
              </a:rPr>
              <a:t>How can we design a fast computer that can use large memory?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4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47650" y="1276350"/>
            <a:ext cx="8648700" cy="5276850"/>
          </a:xfrm>
          <a:noFill/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80000"/>
              </a:lnSpc>
            </a:pPr>
            <a:endParaRPr lang="en-US" sz="2400">
              <a:solidFill>
                <a:schemeClr val="hlink"/>
              </a:solidFill>
              <a:latin typeface="Arial  " charset="0"/>
              <a:cs typeface="Arial  " charset="0"/>
            </a:endParaRPr>
          </a:p>
          <a:p>
            <a:pPr marL="285750" indent="-285750" eaLnBrk="1" hangingPunct="1">
              <a:lnSpc>
                <a:spcPct val="80000"/>
              </a:lnSpc>
              <a:buFontTx/>
              <a:buNone/>
            </a:pPr>
            <a:endParaRPr lang="en-US" sz="1800">
              <a:latin typeface="Arial  " charset="0"/>
              <a:cs typeface="Arial  " charset="0"/>
            </a:endParaRPr>
          </a:p>
          <a:p>
            <a:pPr marL="285750" indent="-285750" eaLnBrk="1" hangingPunct="1">
              <a:lnSpc>
                <a:spcPct val="80000"/>
              </a:lnSpc>
              <a:buFontTx/>
              <a:buNone/>
            </a:pPr>
            <a:endParaRPr lang="en-US" sz="1800">
              <a:latin typeface="Arial  " charset="0"/>
              <a:cs typeface="Arial  " charset="0"/>
            </a:endParaRPr>
          </a:p>
          <a:p>
            <a:pPr marL="285750" indent="-285750" eaLnBrk="1" hangingPunct="1">
              <a:lnSpc>
                <a:spcPct val="80000"/>
              </a:lnSpc>
              <a:buFontTx/>
              <a:buNone/>
            </a:pPr>
            <a:endParaRPr lang="en-US" sz="1800">
              <a:latin typeface="Arial  " charset="0"/>
              <a:cs typeface="Arial  " charset="0"/>
            </a:endParaRPr>
          </a:p>
          <a:p>
            <a:pPr marL="285750" indent="-285750" eaLnBrk="1" hangingPunct="1">
              <a:lnSpc>
                <a:spcPct val="80000"/>
              </a:lnSpc>
              <a:buFontTx/>
              <a:buNone/>
            </a:pPr>
            <a:r>
              <a:rPr lang="en-US" sz="1800">
                <a:latin typeface="Arial  " charset="0"/>
                <a:cs typeface="Arial  " charset="0"/>
              </a:rPr>
              <a:t> 			CPU-DRAM Gap</a:t>
            </a:r>
          </a:p>
          <a:p>
            <a:pPr marL="285750" indent="-285750" eaLnBrk="1" hangingPunct="1">
              <a:lnSpc>
                <a:spcPct val="80000"/>
              </a:lnSpc>
              <a:buFontTx/>
              <a:buNone/>
            </a:pPr>
            <a:endParaRPr lang="en-US" sz="1800">
              <a:latin typeface="Arial  " charset="0"/>
              <a:cs typeface="Arial  " charset="0"/>
            </a:endParaRPr>
          </a:p>
          <a:p>
            <a:pPr marL="285750" indent="-285750" eaLnBrk="1" hangingPunct="1">
              <a:lnSpc>
                <a:spcPct val="80000"/>
              </a:lnSpc>
              <a:buFontTx/>
              <a:buNone/>
            </a:pPr>
            <a:endParaRPr lang="en-US" sz="1800">
              <a:latin typeface="Arial  " charset="0"/>
              <a:cs typeface="Arial  " charset="0"/>
            </a:endParaRPr>
          </a:p>
          <a:p>
            <a:pPr marL="285750" indent="-285750" eaLnBrk="1" hangingPunct="1">
              <a:lnSpc>
                <a:spcPct val="80000"/>
              </a:lnSpc>
              <a:buFontTx/>
              <a:buNone/>
            </a:pPr>
            <a:endParaRPr lang="en-US" sz="1800">
              <a:latin typeface="Arial  " charset="0"/>
              <a:cs typeface="Arial  " charset="0"/>
            </a:endParaRPr>
          </a:p>
          <a:p>
            <a:pPr marL="285750" indent="-285750" eaLnBrk="1" hangingPunct="1">
              <a:lnSpc>
                <a:spcPct val="80000"/>
              </a:lnSpc>
              <a:buFontTx/>
              <a:buNone/>
            </a:pPr>
            <a:endParaRPr lang="en-US" sz="1800">
              <a:latin typeface="Arial  " charset="0"/>
              <a:cs typeface="Arial  " charset="0"/>
            </a:endParaRPr>
          </a:p>
          <a:p>
            <a:pPr marL="285750" indent="-285750" eaLnBrk="1" hangingPunct="1">
              <a:lnSpc>
                <a:spcPct val="80000"/>
              </a:lnSpc>
              <a:buFontTx/>
              <a:buNone/>
            </a:pPr>
            <a:endParaRPr lang="en-US" sz="1800">
              <a:latin typeface="Arial  " charset="0"/>
              <a:cs typeface="Arial  " charset="0"/>
            </a:endParaRPr>
          </a:p>
          <a:p>
            <a:pPr marL="285750" indent="-285750" eaLnBrk="1" hangingPunct="1">
              <a:lnSpc>
                <a:spcPct val="80000"/>
              </a:lnSpc>
              <a:buFontTx/>
              <a:buNone/>
            </a:pPr>
            <a:endParaRPr lang="en-US" sz="1800">
              <a:latin typeface="Arial  " charset="0"/>
              <a:cs typeface="Arial  " charset="0"/>
            </a:endParaRPr>
          </a:p>
          <a:p>
            <a:pPr marL="285750" indent="-285750" eaLnBrk="1" hangingPunct="1">
              <a:lnSpc>
                <a:spcPct val="80000"/>
              </a:lnSpc>
              <a:buFontTx/>
              <a:buNone/>
            </a:pPr>
            <a:endParaRPr lang="en-US" sz="1800">
              <a:latin typeface="Arial  " charset="0"/>
              <a:cs typeface="Arial  " charset="0"/>
            </a:endParaRPr>
          </a:p>
          <a:p>
            <a:pPr marL="285750" indent="-285750" eaLnBrk="1" hangingPunct="1">
              <a:lnSpc>
                <a:spcPct val="80000"/>
              </a:lnSpc>
              <a:buFontTx/>
              <a:buNone/>
            </a:pPr>
            <a:endParaRPr lang="en-US" sz="800">
              <a:latin typeface="Arial  " charset="0"/>
              <a:cs typeface="Arial  " charset="0"/>
            </a:endParaRPr>
          </a:p>
          <a:p>
            <a:pPr marL="285750" indent="-285750" eaLnBrk="1" hangingPunct="1">
              <a:lnSpc>
                <a:spcPct val="80000"/>
              </a:lnSpc>
            </a:pPr>
            <a:endParaRPr lang="en-US" sz="2400">
              <a:latin typeface="Arial  " charset="0"/>
              <a:cs typeface="Arial  " charset="0"/>
            </a:endParaRPr>
          </a:p>
          <a:p>
            <a:pPr marL="285750" indent="-285750" eaLnBrk="1" hangingPunct="1">
              <a:lnSpc>
                <a:spcPct val="80000"/>
              </a:lnSpc>
            </a:pPr>
            <a:r>
              <a:rPr lang="en-US" sz="2400">
                <a:latin typeface="Arial  " charset="0"/>
                <a:cs typeface="Arial  " charset="0"/>
              </a:rPr>
              <a:t>1980: no cache in µproc; 1995 2-level cache on chip</a:t>
            </a:r>
            <a:br>
              <a:rPr lang="en-US" sz="2400">
                <a:latin typeface="Arial  " charset="0"/>
                <a:cs typeface="Arial  " charset="0"/>
              </a:rPr>
            </a:br>
            <a:r>
              <a:rPr lang="en-US" sz="2400">
                <a:latin typeface="Arial  " charset="0"/>
                <a:cs typeface="Arial  " charset="0"/>
              </a:rPr>
              <a:t>(1989 first Intel µproc with a cache on chip)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xfrm>
            <a:off x="746125" y="0"/>
            <a:ext cx="7902575" cy="9906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The Memory Wall</a:t>
            </a:r>
          </a:p>
        </p:txBody>
      </p:sp>
      <p:grpSp>
        <p:nvGrpSpPr>
          <p:cNvPr id="22532" name="Group 4"/>
          <p:cNvGrpSpPr>
            <a:grpSpLocks/>
          </p:cNvGrpSpPr>
          <p:nvPr/>
        </p:nvGrpSpPr>
        <p:grpSpPr bwMode="auto">
          <a:xfrm>
            <a:off x="368300" y="1320800"/>
            <a:ext cx="8293100" cy="3862388"/>
            <a:chOff x="259" y="1146"/>
            <a:chExt cx="5224" cy="2433"/>
          </a:xfrm>
        </p:grpSpPr>
        <p:sp>
          <p:nvSpPr>
            <p:cNvPr id="22536" name="Rectangle 5"/>
            <p:cNvSpPr>
              <a:spLocks noChangeArrowheads="1"/>
            </p:cNvSpPr>
            <p:nvPr/>
          </p:nvSpPr>
          <p:spPr bwMode="auto">
            <a:xfrm>
              <a:off x="4675" y="1146"/>
              <a:ext cx="800" cy="3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600"/>
                <a:t>µProc</a:t>
              </a:r>
            </a:p>
            <a:p>
              <a:r>
                <a:rPr lang="en-US" sz="1600"/>
                <a:t>60%/yr.</a:t>
              </a:r>
            </a:p>
          </p:txBody>
        </p:sp>
        <p:sp>
          <p:nvSpPr>
            <p:cNvPr id="22537" name="Rectangle 6"/>
            <p:cNvSpPr>
              <a:spLocks noChangeArrowheads="1"/>
            </p:cNvSpPr>
            <p:nvPr/>
          </p:nvSpPr>
          <p:spPr bwMode="auto">
            <a:xfrm>
              <a:off x="4683" y="2602"/>
              <a:ext cx="800" cy="3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600"/>
                <a:t>DRAM</a:t>
              </a:r>
            </a:p>
            <a:p>
              <a:r>
                <a:rPr lang="en-US" sz="1600"/>
                <a:t>7%/yr.</a:t>
              </a:r>
            </a:p>
          </p:txBody>
        </p:sp>
        <p:sp>
          <p:nvSpPr>
            <p:cNvPr id="22538" name="Arc 7"/>
            <p:cNvSpPr>
              <a:spLocks/>
            </p:cNvSpPr>
            <p:nvPr/>
          </p:nvSpPr>
          <p:spPr bwMode="auto">
            <a:xfrm>
              <a:off x="4353" y="2699"/>
              <a:ext cx="352" cy="11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21599"/>
                  </a:moveTo>
                  <a:cubicBezTo>
                    <a:pt x="-1" y="9694"/>
                    <a:pt x="9633" y="33"/>
                    <a:pt x="21539" y="0"/>
                  </a:cubicBezTo>
                </a:path>
                <a:path w="21600" h="21600" stroke="0" extrusionOk="0">
                  <a:moveTo>
                    <a:pt x="-1" y="21599"/>
                  </a:moveTo>
                  <a:cubicBezTo>
                    <a:pt x="-1" y="9694"/>
                    <a:pt x="9633" y="33"/>
                    <a:pt x="2153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39" name="Line 8"/>
            <p:cNvSpPr>
              <a:spLocks noChangeShapeType="1"/>
            </p:cNvSpPr>
            <p:nvPr/>
          </p:nvSpPr>
          <p:spPr bwMode="auto">
            <a:xfrm>
              <a:off x="1024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40" name="Line 9"/>
            <p:cNvSpPr>
              <a:spLocks noChangeShapeType="1"/>
            </p:cNvSpPr>
            <p:nvPr/>
          </p:nvSpPr>
          <p:spPr bwMode="auto">
            <a:xfrm>
              <a:off x="1072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41" name="Line 10"/>
            <p:cNvSpPr>
              <a:spLocks noChangeShapeType="1"/>
            </p:cNvSpPr>
            <p:nvPr/>
          </p:nvSpPr>
          <p:spPr bwMode="auto">
            <a:xfrm>
              <a:off x="1120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42" name="Line 11"/>
            <p:cNvSpPr>
              <a:spLocks noChangeShapeType="1"/>
            </p:cNvSpPr>
            <p:nvPr/>
          </p:nvSpPr>
          <p:spPr bwMode="auto">
            <a:xfrm>
              <a:off x="1168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43" name="Line 12"/>
            <p:cNvSpPr>
              <a:spLocks noChangeShapeType="1"/>
            </p:cNvSpPr>
            <p:nvPr/>
          </p:nvSpPr>
          <p:spPr bwMode="auto">
            <a:xfrm>
              <a:off x="1216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44" name="Line 13"/>
            <p:cNvSpPr>
              <a:spLocks noChangeShapeType="1"/>
            </p:cNvSpPr>
            <p:nvPr/>
          </p:nvSpPr>
          <p:spPr bwMode="auto">
            <a:xfrm>
              <a:off x="1264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45" name="Line 14"/>
            <p:cNvSpPr>
              <a:spLocks noChangeShapeType="1"/>
            </p:cNvSpPr>
            <p:nvPr/>
          </p:nvSpPr>
          <p:spPr bwMode="auto">
            <a:xfrm>
              <a:off x="1312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46" name="Line 15"/>
            <p:cNvSpPr>
              <a:spLocks noChangeShapeType="1"/>
            </p:cNvSpPr>
            <p:nvPr/>
          </p:nvSpPr>
          <p:spPr bwMode="auto">
            <a:xfrm>
              <a:off x="1360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47" name="Line 16"/>
            <p:cNvSpPr>
              <a:spLocks noChangeShapeType="1"/>
            </p:cNvSpPr>
            <p:nvPr/>
          </p:nvSpPr>
          <p:spPr bwMode="auto">
            <a:xfrm>
              <a:off x="1408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48" name="Line 17"/>
            <p:cNvSpPr>
              <a:spLocks noChangeShapeType="1"/>
            </p:cNvSpPr>
            <p:nvPr/>
          </p:nvSpPr>
          <p:spPr bwMode="auto">
            <a:xfrm>
              <a:off x="1456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49" name="Line 18"/>
            <p:cNvSpPr>
              <a:spLocks noChangeShapeType="1"/>
            </p:cNvSpPr>
            <p:nvPr/>
          </p:nvSpPr>
          <p:spPr bwMode="auto">
            <a:xfrm>
              <a:off x="1504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50" name="Line 19"/>
            <p:cNvSpPr>
              <a:spLocks noChangeShapeType="1"/>
            </p:cNvSpPr>
            <p:nvPr/>
          </p:nvSpPr>
          <p:spPr bwMode="auto">
            <a:xfrm>
              <a:off x="1552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51" name="Line 20"/>
            <p:cNvSpPr>
              <a:spLocks noChangeShapeType="1"/>
            </p:cNvSpPr>
            <p:nvPr/>
          </p:nvSpPr>
          <p:spPr bwMode="auto">
            <a:xfrm>
              <a:off x="1600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52" name="Line 21"/>
            <p:cNvSpPr>
              <a:spLocks noChangeShapeType="1"/>
            </p:cNvSpPr>
            <p:nvPr/>
          </p:nvSpPr>
          <p:spPr bwMode="auto">
            <a:xfrm>
              <a:off x="1648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53" name="Line 22"/>
            <p:cNvSpPr>
              <a:spLocks noChangeShapeType="1"/>
            </p:cNvSpPr>
            <p:nvPr/>
          </p:nvSpPr>
          <p:spPr bwMode="auto">
            <a:xfrm>
              <a:off x="1696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54" name="Line 23"/>
            <p:cNvSpPr>
              <a:spLocks noChangeShapeType="1"/>
            </p:cNvSpPr>
            <p:nvPr/>
          </p:nvSpPr>
          <p:spPr bwMode="auto">
            <a:xfrm>
              <a:off x="1744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55" name="Line 24"/>
            <p:cNvSpPr>
              <a:spLocks noChangeShapeType="1"/>
            </p:cNvSpPr>
            <p:nvPr/>
          </p:nvSpPr>
          <p:spPr bwMode="auto">
            <a:xfrm>
              <a:off x="1792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56" name="Line 25"/>
            <p:cNvSpPr>
              <a:spLocks noChangeShapeType="1"/>
            </p:cNvSpPr>
            <p:nvPr/>
          </p:nvSpPr>
          <p:spPr bwMode="auto">
            <a:xfrm>
              <a:off x="1840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57" name="Line 26"/>
            <p:cNvSpPr>
              <a:spLocks noChangeShapeType="1"/>
            </p:cNvSpPr>
            <p:nvPr/>
          </p:nvSpPr>
          <p:spPr bwMode="auto">
            <a:xfrm>
              <a:off x="1888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58" name="Line 27"/>
            <p:cNvSpPr>
              <a:spLocks noChangeShapeType="1"/>
            </p:cNvSpPr>
            <p:nvPr/>
          </p:nvSpPr>
          <p:spPr bwMode="auto">
            <a:xfrm>
              <a:off x="1936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59" name="Line 28"/>
            <p:cNvSpPr>
              <a:spLocks noChangeShapeType="1"/>
            </p:cNvSpPr>
            <p:nvPr/>
          </p:nvSpPr>
          <p:spPr bwMode="auto">
            <a:xfrm>
              <a:off x="1984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60" name="Line 29"/>
            <p:cNvSpPr>
              <a:spLocks noChangeShapeType="1"/>
            </p:cNvSpPr>
            <p:nvPr/>
          </p:nvSpPr>
          <p:spPr bwMode="auto">
            <a:xfrm>
              <a:off x="2032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61" name="Line 30"/>
            <p:cNvSpPr>
              <a:spLocks noChangeShapeType="1"/>
            </p:cNvSpPr>
            <p:nvPr/>
          </p:nvSpPr>
          <p:spPr bwMode="auto">
            <a:xfrm>
              <a:off x="2080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62" name="Line 31"/>
            <p:cNvSpPr>
              <a:spLocks noChangeShapeType="1"/>
            </p:cNvSpPr>
            <p:nvPr/>
          </p:nvSpPr>
          <p:spPr bwMode="auto">
            <a:xfrm>
              <a:off x="2128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63" name="Line 32"/>
            <p:cNvSpPr>
              <a:spLocks noChangeShapeType="1"/>
            </p:cNvSpPr>
            <p:nvPr/>
          </p:nvSpPr>
          <p:spPr bwMode="auto">
            <a:xfrm>
              <a:off x="2176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64" name="Line 33"/>
            <p:cNvSpPr>
              <a:spLocks noChangeShapeType="1"/>
            </p:cNvSpPr>
            <p:nvPr/>
          </p:nvSpPr>
          <p:spPr bwMode="auto">
            <a:xfrm>
              <a:off x="2224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65" name="Line 34"/>
            <p:cNvSpPr>
              <a:spLocks noChangeShapeType="1"/>
            </p:cNvSpPr>
            <p:nvPr/>
          </p:nvSpPr>
          <p:spPr bwMode="auto">
            <a:xfrm>
              <a:off x="2272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66" name="Line 35"/>
            <p:cNvSpPr>
              <a:spLocks noChangeShapeType="1"/>
            </p:cNvSpPr>
            <p:nvPr/>
          </p:nvSpPr>
          <p:spPr bwMode="auto">
            <a:xfrm>
              <a:off x="2320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67" name="Line 36"/>
            <p:cNvSpPr>
              <a:spLocks noChangeShapeType="1"/>
            </p:cNvSpPr>
            <p:nvPr/>
          </p:nvSpPr>
          <p:spPr bwMode="auto">
            <a:xfrm>
              <a:off x="2368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68" name="Line 37"/>
            <p:cNvSpPr>
              <a:spLocks noChangeShapeType="1"/>
            </p:cNvSpPr>
            <p:nvPr/>
          </p:nvSpPr>
          <p:spPr bwMode="auto">
            <a:xfrm>
              <a:off x="2416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69" name="Line 38"/>
            <p:cNvSpPr>
              <a:spLocks noChangeShapeType="1"/>
            </p:cNvSpPr>
            <p:nvPr/>
          </p:nvSpPr>
          <p:spPr bwMode="auto">
            <a:xfrm>
              <a:off x="2464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70" name="Line 39"/>
            <p:cNvSpPr>
              <a:spLocks noChangeShapeType="1"/>
            </p:cNvSpPr>
            <p:nvPr/>
          </p:nvSpPr>
          <p:spPr bwMode="auto">
            <a:xfrm>
              <a:off x="2512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71" name="Line 40"/>
            <p:cNvSpPr>
              <a:spLocks noChangeShapeType="1"/>
            </p:cNvSpPr>
            <p:nvPr/>
          </p:nvSpPr>
          <p:spPr bwMode="auto">
            <a:xfrm>
              <a:off x="2560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72" name="Line 41"/>
            <p:cNvSpPr>
              <a:spLocks noChangeShapeType="1"/>
            </p:cNvSpPr>
            <p:nvPr/>
          </p:nvSpPr>
          <p:spPr bwMode="auto">
            <a:xfrm>
              <a:off x="2608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73" name="Line 42"/>
            <p:cNvSpPr>
              <a:spLocks noChangeShapeType="1"/>
            </p:cNvSpPr>
            <p:nvPr/>
          </p:nvSpPr>
          <p:spPr bwMode="auto">
            <a:xfrm>
              <a:off x="2656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74" name="Line 43"/>
            <p:cNvSpPr>
              <a:spLocks noChangeShapeType="1"/>
            </p:cNvSpPr>
            <p:nvPr/>
          </p:nvSpPr>
          <p:spPr bwMode="auto">
            <a:xfrm>
              <a:off x="2704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75" name="Line 44"/>
            <p:cNvSpPr>
              <a:spLocks noChangeShapeType="1"/>
            </p:cNvSpPr>
            <p:nvPr/>
          </p:nvSpPr>
          <p:spPr bwMode="auto">
            <a:xfrm>
              <a:off x="2752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76" name="Line 45"/>
            <p:cNvSpPr>
              <a:spLocks noChangeShapeType="1"/>
            </p:cNvSpPr>
            <p:nvPr/>
          </p:nvSpPr>
          <p:spPr bwMode="auto">
            <a:xfrm>
              <a:off x="2800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77" name="Line 46"/>
            <p:cNvSpPr>
              <a:spLocks noChangeShapeType="1"/>
            </p:cNvSpPr>
            <p:nvPr/>
          </p:nvSpPr>
          <p:spPr bwMode="auto">
            <a:xfrm>
              <a:off x="2848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78" name="Line 47"/>
            <p:cNvSpPr>
              <a:spLocks noChangeShapeType="1"/>
            </p:cNvSpPr>
            <p:nvPr/>
          </p:nvSpPr>
          <p:spPr bwMode="auto">
            <a:xfrm>
              <a:off x="2896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79" name="Line 48"/>
            <p:cNvSpPr>
              <a:spLocks noChangeShapeType="1"/>
            </p:cNvSpPr>
            <p:nvPr/>
          </p:nvSpPr>
          <p:spPr bwMode="auto">
            <a:xfrm>
              <a:off x="2944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80" name="Line 49"/>
            <p:cNvSpPr>
              <a:spLocks noChangeShapeType="1"/>
            </p:cNvSpPr>
            <p:nvPr/>
          </p:nvSpPr>
          <p:spPr bwMode="auto">
            <a:xfrm>
              <a:off x="2992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81" name="Line 50"/>
            <p:cNvSpPr>
              <a:spLocks noChangeShapeType="1"/>
            </p:cNvSpPr>
            <p:nvPr/>
          </p:nvSpPr>
          <p:spPr bwMode="auto">
            <a:xfrm>
              <a:off x="3040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82" name="Line 51"/>
            <p:cNvSpPr>
              <a:spLocks noChangeShapeType="1"/>
            </p:cNvSpPr>
            <p:nvPr/>
          </p:nvSpPr>
          <p:spPr bwMode="auto">
            <a:xfrm>
              <a:off x="3088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83" name="Line 52"/>
            <p:cNvSpPr>
              <a:spLocks noChangeShapeType="1"/>
            </p:cNvSpPr>
            <p:nvPr/>
          </p:nvSpPr>
          <p:spPr bwMode="auto">
            <a:xfrm>
              <a:off x="3136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84" name="Line 53"/>
            <p:cNvSpPr>
              <a:spLocks noChangeShapeType="1"/>
            </p:cNvSpPr>
            <p:nvPr/>
          </p:nvSpPr>
          <p:spPr bwMode="auto">
            <a:xfrm>
              <a:off x="3184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85" name="Line 54"/>
            <p:cNvSpPr>
              <a:spLocks noChangeShapeType="1"/>
            </p:cNvSpPr>
            <p:nvPr/>
          </p:nvSpPr>
          <p:spPr bwMode="auto">
            <a:xfrm>
              <a:off x="3232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86" name="Line 55"/>
            <p:cNvSpPr>
              <a:spLocks noChangeShapeType="1"/>
            </p:cNvSpPr>
            <p:nvPr/>
          </p:nvSpPr>
          <p:spPr bwMode="auto">
            <a:xfrm>
              <a:off x="3280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87" name="Line 56"/>
            <p:cNvSpPr>
              <a:spLocks noChangeShapeType="1"/>
            </p:cNvSpPr>
            <p:nvPr/>
          </p:nvSpPr>
          <p:spPr bwMode="auto">
            <a:xfrm>
              <a:off x="3328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88" name="Line 57"/>
            <p:cNvSpPr>
              <a:spLocks noChangeShapeType="1"/>
            </p:cNvSpPr>
            <p:nvPr/>
          </p:nvSpPr>
          <p:spPr bwMode="auto">
            <a:xfrm>
              <a:off x="3376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89" name="Line 58"/>
            <p:cNvSpPr>
              <a:spLocks noChangeShapeType="1"/>
            </p:cNvSpPr>
            <p:nvPr/>
          </p:nvSpPr>
          <p:spPr bwMode="auto">
            <a:xfrm>
              <a:off x="3424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90" name="Line 59"/>
            <p:cNvSpPr>
              <a:spLocks noChangeShapeType="1"/>
            </p:cNvSpPr>
            <p:nvPr/>
          </p:nvSpPr>
          <p:spPr bwMode="auto">
            <a:xfrm>
              <a:off x="3472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91" name="Line 60"/>
            <p:cNvSpPr>
              <a:spLocks noChangeShapeType="1"/>
            </p:cNvSpPr>
            <p:nvPr/>
          </p:nvSpPr>
          <p:spPr bwMode="auto">
            <a:xfrm>
              <a:off x="3520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92" name="Line 61"/>
            <p:cNvSpPr>
              <a:spLocks noChangeShapeType="1"/>
            </p:cNvSpPr>
            <p:nvPr/>
          </p:nvSpPr>
          <p:spPr bwMode="auto">
            <a:xfrm>
              <a:off x="3568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93" name="Line 62"/>
            <p:cNvSpPr>
              <a:spLocks noChangeShapeType="1"/>
            </p:cNvSpPr>
            <p:nvPr/>
          </p:nvSpPr>
          <p:spPr bwMode="auto">
            <a:xfrm>
              <a:off x="3616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94" name="Line 63"/>
            <p:cNvSpPr>
              <a:spLocks noChangeShapeType="1"/>
            </p:cNvSpPr>
            <p:nvPr/>
          </p:nvSpPr>
          <p:spPr bwMode="auto">
            <a:xfrm>
              <a:off x="3664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95" name="Line 64"/>
            <p:cNvSpPr>
              <a:spLocks noChangeShapeType="1"/>
            </p:cNvSpPr>
            <p:nvPr/>
          </p:nvSpPr>
          <p:spPr bwMode="auto">
            <a:xfrm>
              <a:off x="3712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96" name="Line 65"/>
            <p:cNvSpPr>
              <a:spLocks noChangeShapeType="1"/>
            </p:cNvSpPr>
            <p:nvPr/>
          </p:nvSpPr>
          <p:spPr bwMode="auto">
            <a:xfrm>
              <a:off x="3760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97" name="Line 66"/>
            <p:cNvSpPr>
              <a:spLocks noChangeShapeType="1"/>
            </p:cNvSpPr>
            <p:nvPr/>
          </p:nvSpPr>
          <p:spPr bwMode="auto">
            <a:xfrm>
              <a:off x="3808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98" name="Line 67"/>
            <p:cNvSpPr>
              <a:spLocks noChangeShapeType="1"/>
            </p:cNvSpPr>
            <p:nvPr/>
          </p:nvSpPr>
          <p:spPr bwMode="auto">
            <a:xfrm>
              <a:off x="3856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599" name="Line 68"/>
            <p:cNvSpPr>
              <a:spLocks noChangeShapeType="1"/>
            </p:cNvSpPr>
            <p:nvPr/>
          </p:nvSpPr>
          <p:spPr bwMode="auto">
            <a:xfrm>
              <a:off x="3904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00" name="Line 69"/>
            <p:cNvSpPr>
              <a:spLocks noChangeShapeType="1"/>
            </p:cNvSpPr>
            <p:nvPr/>
          </p:nvSpPr>
          <p:spPr bwMode="auto">
            <a:xfrm>
              <a:off x="3952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01" name="Line 70"/>
            <p:cNvSpPr>
              <a:spLocks noChangeShapeType="1"/>
            </p:cNvSpPr>
            <p:nvPr/>
          </p:nvSpPr>
          <p:spPr bwMode="auto">
            <a:xfrm>
              <a:off x="4000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02" name="Line 71"/>
            <p:cNvSpPr>
              <a:spLocks noChangeShapeType="1"/>
            </p:cNvSpPr>
            <p:nvPr/>
          </p:nvSpPr>
          <p:spPr bwMode="auto">
            <a:xfrm>
              <a:off x="4048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03" name="Line 72"/>
            <p:cNvSpPr>
              <a:spLocks noChangeShapeType="1"/>
            </p:cNvSpPr>
            <p:nvPr/>
          </p:nvSpPr>
          <p:spPr bwMode="auto">
            <a:xfrm>
              <a:off x="4096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04" name="Line 73"/>
            <p:cNvSpPr>
              <a:spLocks noChangeShapeType="1"/>
            </p:cNvSpPr>
            <p:nvPr/>
          </p:nvSpPr>
          <p:spPr bwMode="auto">
            <a:xfrm>
              <a:off x="4144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05" name="Line 74"/>
            <p:cNvSpPr>
              <a:spLocks noChangeShapeType="1"/>
            </p:cNvSpPr>
            <p:nvPr/>
          </p:nvSpPr>
          <p:spPr bwMode="auto">
            <a:xfrm>
              <a:off x="4192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06" name="Line 75"/>
            <p:cNvSpPr>
              <a:spLocks noChangeShapeType="1"/>
            </p:cNvSpPr>
            <p:nvPr/>
          </p:nvSpPr>
          <p:spPr bwMode="auto">
            <a:xfrm>
              <a:off x="4240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07" name="Line 76"/>
            <p:cNvSpPr>
              <a:spLocks noChangeShapeType="1"/>
            </p:cNvSpPr>
            <p:nvPr/>
          </p:nvSpPr>
          <p:spPr bwMode="auto">
            <a:xfrm>
              <a:off x="4288" y="2572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08" name="Line 77"/>
            <p:cNvSpPr>
              <a:spLocks noChangeShapeType="1"/>
            </p:cNvSpPr>
            <p:nvPr/>
          </p:nvSpPr>
          <p:spPr bwMode="auto">
            <a:xfrm>
              <a:off x="1024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09" name="Line 78"/>
            <p:cNvSpPr>
              <a:spLocks noChangeShapeType="1"/>
            </p:cNvSpPr>
            <p:nvPr/>
          </p:nvSpPr>
          <p:spPr bwMode="auto">
            <a:xfrm>
              <a:off x="1072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10" name="Line 79"/>
            <p:cNvSpPr>
              <a:spLocks noChangeShapeType="1"/>
            </p:cNvSpPr>
            <p:nvPr/>
          </p:nvSpPr>
          <p:spPr bwMode="auto">
            <a:xfrm>
              <a:off x="1120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11" name="Line 80"/>
            <p:cNvSpPr>
              <a:spLocks noChangeShapeType="1"/>
            </p:cNvSpPr>
            <p:nvPr/>
          </p:nvSpPr>
          <p:spPr bwMode="auto">
            <a:xfrm>
              <a:off x="1168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12" name="Line 81"/>
            <p:cNvSpPr>
              <a:spLocks noChangeShapeType="1"/>
            </p:cNvSpPr>
            <p:nvPr/>
          </p:nvSpPr>
          <p:spPr bwMode="auto">
            <a:xfrm>
              <a:off x="1216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13" name="Line 82"/>
            <p:cNvSpPr>
              <a:spLocks noChangeShapeType="1"/>
            </p:cNvSpPr>
            <p:nvPr/>
          </p:nvSpPr>
          <p:spPr bwMode="auto">
            <a:xfrm>
              <a:off x="1264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14" name="Line 83"/>
            <p:cNvSpPr>
              <a:spLocks noChangeShapeType="1"/>
            </p:cNvSpPr>
            <p:nvPr/>
          </p:nvSpPr>
          <p:spPr bwMode="auto">
            <a:xfrm>
              <a:off x="1312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15" name="Line 84"/>
            <p:cNvSpPr>
              <a:spLocks noChangeShapeType="1"/>
            </p:cNvSpPr>
            <p:nvPr/>
          </p:nvSpPr>
          <p:spPr bwMode="auto">
            <a:xfrm>
              <a:off x="1360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16" name="Line 85"/>
            <p:cNvSpPr>
              <a:spLocks noChangeShapeType="1"/>
            </p:cNvSpPr>
            <p:nvPr/>
          </p:nvSpPr>
          <p:spPr bwMode="auto">
            <a:xfrm>
              <a:off x="1408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17" name="Line 86"/>
            <p:cNvSpPr>
              <a:spLocks noChangeShapeType="1"/>
            </p:cNvSpPr>
            <p:nvPr/>
          </p:nvSpPr>
          <p:spPr bwMode="auto">
            <a:xfrm>
              <a:off x="1456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18" name="Line 87"/>
            <p:cNvSpPr>
              <a:spLocks noChangeShapeType="1"/>
            </p:cNvSpPr>
            <p:nvPr/>
          </p:nvSpPr>
          <p:spPr bwMode="auto">
            <a:xfrm>
              <a:off x="1504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19" name="Line 88"/>
            <p:cNvSpPr>
              <a:spLocks noChangeShapeType="1"/>
            </p:cNvSpPr>
            <p:nvPr/>
          </p:nvSpPr>
          <p:spPr bwMode="auto">
            <a:xfrm>
              <a:off x="1552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20" name="Line 89"/>
            <p:cNvSpPr>
              <a:spLocks noChangeShapeType="1"/>
            </p:cNvSpPr>
            <p:nvPr/>
          </p:nvSpPr>
          <p:spPr bwMode="auto">
            <a:xfrm>
              <a:off x="1600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21" name="Line 90"/>
            <p:cNvSpPr>
              <a:spLocks noChangeShapeType="1"/>
            </p:cNvSpPr>
            <p:nvPr/>
          </p:nvSpPr>
          <p:spPr bwMode="auto">
            <a:xfrm>
              <a:off x="1648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22" name="Line 91"/>
            <p:cNvSpPr>
              <a:spLocks noChangeShapeType="1"/>
            </p:cNvSpPr>
            <p:nvPr/>
          </p:nvSpPr>
          <p:spPr bwMode="auto">
            <a:xfrm>
              <a:off x="1696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23" name="Line 92"/>
            <p:cNvSpPr>
              <a:spLocks noChangeShapeType="1"/>
            </p:cNvSpPr>
            <p:nvPr/>
          </p:nvSpPr>
          <p:spPr bwMode="auto">
            <a:xfrm>
              <a:off x="1744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24" name="Line 93"/>
            <p:cNvSpPr>
              <a:spLocks noChangeShapeType="1"/>
            </p:cNvSpPr>
            <p:nvPr/>
          </p:nvSpPr>
          <p:spPr bwMode="auto">
            <a:xfrm>
              <a:off x="1792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25" name="Line 94"/>
            <p:cNvSpPr>
              <a:spLocks noChangeShapeType="1"/>
            </p:cNvSpPr>
            <p:nvPr/>
          </p:nvSpPr>
          <p:spPr bwMode="auto">
            <a:xfrm>
              <a:off x="1840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26" name="Line 95"/>
            <p:cNvSpPr>
              <a:spLocks noChangeShapeType="1"/>
            </p:cNvSpPr>
            <p:nvPr/>
          </p:nvSpPr>
          <p:spPr bwMode="auto">
            <a:xfrm>
              <a:off x="1888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27" name="Line 96"/>
            <p:cNvSpPr>
              <a:spLocks noChangeShapeType="1"/>
            </p:cNvSpPr>
            <p:nvPr/>
          </p:nvSpPr>
          <p:spPr bwMode="auto">
            <a:xfrm>
              <a:off x="1936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28" name="Line 97"/>
            <p:cNvSpPr>
              <a:spLocks noChangeShapeType="1"/>
            </p:cNvSpPr>
            <p:nvPr/>
          </p:nvSpPr>
          <p:spPr bwMode="auto">
            <a:xfrm>
              <a:off x="1984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29" name="Line 98"/>
            <p:cNvSpPr>
              <a:spLocks noChangeShapeType="1"/>
            </p:cNvSpPr>
            <p:nvPr/>
          </p:nvSpPr>
          <p:spPr bwMode="auto">
            <a:xfrm>
              <a:off x="2032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30" name="Line 99"/>
            <p:cNvSpPr>
              <a:spLocks noChangeShapeType="1"/>
            </p:cNvSpPr>
            <p:nvPr/>
          </p:nvSpPr>
          <p:spPr bwMode="auto">
            <a:xfrm>
              <a:off x="2080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31" name="Line 100"/>
            <p:cNvSpPr>
              <a:spLocks noChangeShapeType="1"/>
            </p:cNvSpPr>
            <p:nvPr/>
          </p:nvSpPr>
          <p:spPr bwMode="auto">
            <a:xfrm>
              <a:off x="2128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32" name="Line 101"/>
            <p:cNvSpPr>
              <a:spLocks noChangeShapeType="1"/>
            </p:cNvSpPr>
            <p:nvPr/>
          </p:nvSpPr>
          <p:spPr bwMode="auto">
            <a:xfrm>
              <a:off x="2176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33" name="Line 102"/>
            <p:cNvSpPr>
              <a:spLocks noChangeShapeType="1"/>
            </p:cNvSpPr>
            <p:nvPr/>
          </p:nvSpPr>
          <p:spPr bwMode="auto">
            <a:xfrm>
              <a:off x="2224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34" name="Line 103"/>
            <p:cNvSpPr>
              <a:spLocks noChangeShapeType="1"/>
            </p:cNvSpPr>
            <p:nvPr/>
          </p:nvSpPr>
          <p:spPr bwMode="auto">
            <a:xfrm>
              <a:off x="2272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35" name="Line 104"/>
            <p:cNvSpPr>
              <a:spLocks noChangeShapeType="1"/>
            </p:cNvSpPr>
            <p:nvPr/>
          </p:nvSpPr>
          <p:spPr bwMode="auto">
            <a:xfrm>
              <a:off x="2320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36" name="Line 105"/>
            <p:cNvSpPr>
              <a:spLocks noChangeShapeType="1"/>
            </p:cNvSpPr>
            <p:nvPr/>
          </p:nvSpPr>
          <p:spPr bwMode="auto">
            <a:xfrm>
              <a:off x="2368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37" name="Line 106"/>
            <p:cNvSpPr>
              <a:spLocks noChangeShapeType="1"/>
            </p:cNvSpPr>
            <p:nvPr/>
          </p:nvSpPr>
          <p:spPr bwMode="auto">
            <a:xfrm>
              <a:off x="2416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38" name="Line 107"/>
            <p:cNvSpPr>
              <a:spLocks noChangeShapeType="1"/>
            </p:cNvSpPr>
            <p:nvPr/>
          </p:nvSpPr>
          <p:spPr bwMode="auto">
            <a:xfrm>
              <a:off x="2464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39" name="Line 108"/>
            <p:cNvSpPr>
              <a:spLocks noChangeShapeType="1"/>
            </p:cNvSpPr>
            <p:nvPr/>
          </p:nvSpPr>
          <p:spPr bwMode="auto">
            <a:xfrm>
              <a:off x="2512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40" name="Line 109"/>
            <p:cNvSpPr>
              <a:spLocks noChangeShapeType="1"/>
            </p:cNvSpPr>
            <p:nvPr/>
          </p:nvSpPr>
          <p:spPr bwMode="auto">
            <a:xfrm>
              <a:off x="2560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41" name="Line 110"/>
            <p:cNvSpPr>
              <a:spLocks noChangeShapeType="1"/>
            </p:cNvSpPr>
            <p:nvPr/>
          </p:nvSpPr>
          <p:spPr bwMode="auto">
            <a:xfrm>
              <a:off x="2608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42" name="Line 111"/>
            <p:cNvSpPr>
              <a:spLocks noChangeShapeType="1"/>
            </p:cNvSpPr>
            <p:nvPr/>
          </p:nvSpPr>
          <p:spPr bwMode="auto">
            <a:xfrm>
              <a:off x="2656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43" name="Line 112"/>
            <p:cNvSpPr>
              <a:spLocks noChangeShapeType="1"/>
            </p:cNvSpPr>
            <p:nvPr/>
          </p:nvSpPr>
          <p:spPr bwMode="auto">
            <a:xfrm>
              <a:off x="2704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44" name="Line 113"/>
            <p:cNvSpPr>
              <a:spLocks noChangeShapeType="1"/>
            </p:cNvSpPr>
            <p:nvPr/>
          </p:nvSpPr>
          <p:spPr bwMode="auto">
            <a:xfrm>
              <a:off x="2752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45" name="Line 114"/>
            <p:cNvSpPr>
              <a:spLocks noChangeShapeType="1"/>
            </p:cNvSpPr>
            <p:nvPr/>
          </p:nvSpPr>
          <p:spPr bwMode="auto">
            <a:xfrm>
              <a:off x="2800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46" name="Line 115"/>
            <p:cNvSpPr>
              <a:spLocks noChangeShapeType="1"/>
            </p:cNvSpPr>
            <p:nvPr/>
          </p:nvSpPr>
          <p:spPr bwMode="auto">
            <a:xfrm>
              <a:off x="2848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47" name="Line 116"/>
            <p:cNvSpPr>
              <a:spLocks noChangeShapeType="1"/>
            </p:cNvSpPr>
            <p:nvPr/>
          </p:nvSpPr>
          <p:spPr bwMode="auto">
            <a:xfrm>
              <a:off x="2896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48" name="Line 117"/>
            <p:cNvSpPr>
              <a:spLocks noChangeShapeType="1"/>
            </p:cNvSpPr>
            <p:nvPr/>
          </p:nvSpPr>
          <p:spPr bwMode="auto">
            <a:xfrm>
              <a:off x="2944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49" name="Line 118"/>
            <p:cNvSpPr>
              <a:spLocks noChangeShapeType="1"/>
            </p:cNvSpPr>
            <p:nvPr/>
          </p:nvSpPr>
          <p:spPr bwMode="auto">
            <a:xfrm>
              <a:off x="2992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50" name="Line 119"/>
            <p:cNvSpPr>
              <a:spLocks noChangeShapeType="1"/>
            </p:cNvSpPr>
            <p:nvPr/>
          </p:nvSpPr>
          <p:spPr bwMode="auto">
            <a:xfrm>
              <a:off x="3040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51" name="Line 120"/>
            <p:cNvSpPr>
              <a:spLocks noChangeShapeType="1"/>
            </p:cNvSpPr>
            <p:nvPr/>
          </p:nvSpPr>
          <p:spPr bwMode="auto">
            <a:xfrm>
              <a:off x="3088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52" name="Line 121"/>
            <p:cNvSpPr>
              <a:spLocks noChangeShapeType="1"/>
            </p:cNvSpPr>
            <p:nvPr/>
          </p:nvSpPr>
          <p:spPr bwMode="auto">
            <a:xfrm>
              <a:off x="3136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53" name="Line 122"/>
            <p:cNvSpPr>
              <a:spLocks noChangeShapeType="1"/>
            </p:cNvSpPr>
            <p:nvPr/>
          </p:nvSpPr>
          <p:spPr bwMode="auto">
            <a:xfrm>
              <a:off x="3184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54" name="Line 123"/>
            <p:cNvSpPr>
              <a:spLocks noChangeShapeType="1"/>
            </p:cNvSpPr>
            <p:nvPr/>
          </p:nvSpPr>
          <p:spPr bwMode="auto">
            <a:xfrm>
              <a:off x="3232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55" name="Line 124"/>
            <p:cNvSpPr>
              <a:spLocks noChangeShapeType="1"/>
            </p:cNvSpPr>
            <p:nvPr/>
          </p:nvSpPr>
          <p:spPr bwMode="auto">
            <a:xfrm>
              <a:off x="3280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56" name="Line 125"/>
            <p:cNvSpPr>
              <a:spLocks noChangeShapeType="1"/>
            </p:cNvSpPr>
            <p:nvPr/>
          </p:nvSpPr>
          <p:spPr bwMode="auto">
            <a:xfrm>
              <a:off x="3328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57" name="Line 126"/>
            <p:cNvSpPr>
              <a:spLocks noChangeShapeType="1"/>
            </p:cNvSpPr>
            <p:nvPr/>
          </p:nvSpPr>
          <p:spPr bwMode="auto">
            <a:xfrm>
              <a:off x="3376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58" name="Line 127"/>
            <p:cNvSpPr>
              <a:spLocks noChangeShapeType="1"/>
            </p:cNvSpPr>
            <p:nvPr/>
          </p:nvSpPr>
          <p:spPr bwMode="auto">
            <a:xfrm>
              <a:off x="3424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59" name="Line 128"/>
            <p:cNvSpPr>
              <a:spLocks noChangeShapeType="1"/>
            </p:cNvSpPr>
            <p:nvPr/>
          </p:nvSpPr>
          <p:spPr bwMode="auto">
            <a:xfrm>
              <a:off x="3472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60" name="Line 129"/>
            <p:cNvSpPr>
              <a:spLocks noChangeShapeType="1"/>
            </p:cNvSpPr>
            <p:nvPr/>
          </p:nvSpPr>
          <p:spPr bwMode="auto">
            <a:xfrm>
              <a:off x="3520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61" name="Line 130"/>
            <p:cNvSpPr>
              <a:spLocks noChangeShapeType="1"/>
            </p:cNvSpPr>
            <p:nvPr/>
          </p:nvSpPr>
          <p:spPr bwMode="auto">
            <a:xfrm>
              <a:off x="3568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62" name="Line 131"/>
            <p:cNvSpPr>
              <a:spLocks noChangeShapeType="1"/>
            </p:cNvSpPr>
            <p:nvPr/>
          </p:nvSpPr>
          <p:spPr bwMode="auto">
            <a:xfrm>
              <a:off x="3616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63" name="Line 132"/>
            <p:cNvSpPr>
              <a:spLocks noChangeShapeType="1"/>
            </p:cNvSpPr>
            <p:nvPr/>
          </p:nvSpPr>
          <p:spPr bwMode="auto">
            <a:xfrm>
              <a:off x="3664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64" name="Line 133"/>
            <p:cNvSpPr>
              <a:spLocks noChangeShapeType="1"/>
            </p:cNvSpPr>
            <p:nvPr/>
          </p:nvSpPr>
          <p:spPr bwMode="auto">
            <a:xfrm>
              <a:off x="3712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65" name="Line 134"/>
            <p:cNvSpPr>
              <a:spLocks noChangeShapeType="1"/>
            </p:cNvSpPr>
            <p:nvPr/>
          </p:nvSpPr>
          <p:spPr bwMode="auto">
            <a:xfrm>
              <a:off x="3760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66" name="Line 135"/>
            <p:cNvSpPr>
              <a:spLocks noChangeShapeType="1"/>
            </p:cNvSpPr>
            <p:nvPr/>
          </p:nvSpPr>
          <p:spPr bwMode="auto">
            <a:xfrm>
              <a:off x="3808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67" name="Line 136"/>
            <p:cNvSpPr>
              <a:spLocks noChangeShapeType="1"/>
            </p:cNvSpPr>
            <p:nvPr/>
          </p:nvSpPr>
          <p:spPr bwMode="auto">
            <a:xfrm>
              <a:off x="3856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68" name="Line 137"/>
            <p:cNvSpPr>
              <a:spLocks noChangeShapeType="1"/>
            </p:cNvSpPr>
            <p:nvPr/>
          </p:nvSpPr>
          <p:spPr bwMode="auto">
            <a:xfrm>
              <a:off x="3904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69" name="Line 138"/>
            <p:cNvSpPr>
              <a:spLocks noChangeShapeType="1"/>
            </p:cNvSpPr>
            <p:nvPr/>
          </p:nvSpPr>
          <p:spPr bwMode="auto">
            <a:xfrm>
              <a:off x="3952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70" name="Line 139"/>
            <p:cNvSpPr>
              <a:spLocks noChangeShapeType="1"/>
            </p:cNvSpPr>
            <p:nvPr/>
          </p:nvSpPr>
          <p:spPr bwMode="auto">
            <a:xfrm>
              <a:off x="4000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71" name="Line 140"/>
            <p:cNvSpPr>
              <a:spLocks noChangeShapeType="1"/>
            </p:cNvSpPr>
            <p:nvPr/>
          </p:nvSpPr>
          <p:spPr bwMode="auto">
            <a:xfrm>
              <a:off x="4048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72" name="Line 141"/>
            <p:cNvSpPr>
              <a:spLocks noChangeShapeType="1"/>
            </p:cNvSpPr>
            <p:nvPr/>
          </p:nvSpPr>
          <p:spPr bwMode="auto">
            <a:xfrm>
              <a:off x="4096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73" name="Line 142"/>
            <p:cNvSpPr>
              <a:spLocks noChangeShapeType="1"/>
            </p:cNvSpPr>
            <p:nvPr/>
          </p:nvSpPr>
          <p:spPr bwMode="auto">
            <a:xfrm>
              <a:off x="4144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74" name="Line 143"/>
            <p:cNvSpPr>
              <a:spLocks noChangeShapeType="1"/>
            </p:cNvSpPr>
            <p:nvPr/>
          </p:nvSpPr>
          <p:spPr bwMode="auto">
            <a:xfrm>
              <a:off x="4192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75" name="Line 144"/>
            <p:cNvSpPr>
              <a:spLocks noChangeShapeType="1"/>
            </p:cNvSpPr>
            <p:nvPr/>
          </p:nvSpPr>
          <p:spPr bwMode="auto">
            <a:xfrm>
              <a:off x="4240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76" name="Line 145"/>
            <p:cNvSpPr>
              <a:spLocks noChangeShapeType="1"/>
            </p:cNvSpPr>
            <p:nvPr/>
          </p:nvSpPr>
          <p:spPr bwMode="auto">
            <a:xfrm>
              <a:off x="4288" y="1964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77" name="Line 146"/>
            <p:cNvSpPr>
              <a:spLocks noChangeShapeType="1"/>
            </p:cNvSpPr>
            <p:nvPr/>
          </p:nvSpPr>
          <p:spPr bwMode="auto">
            <a:xfrm>
              <a:off x="1024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78" name="Line 147"/>
            <p:cNvSpPr>
              <a:spLocks noChangeShapeType="1"/>
            </p:cNvSpPr>
            <p:nvPr/>
          </p:nvSpPr>
          <p:spPr bwMode="auto">
            <a:xfrm>
              <a:off x="1072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79" name="Line 148"/>
            <p:cNvSpPr>
              <a:spLocks noChangeShapeType="1"/>
            </p:cNvSpPr>
            <p:nvPr/>
          </p:nvSpPr>
          <p:spPr bwMode="auto">
            <a:xfrm>
              <a:off x="1120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80" name="Line 149"/>
            <p:cNvSpPr>
              <a:spLocks noChangeShapeType="1"/>
            </p:cNvSpPr>
            <p:nvPr/>
          </p:nvSpPr>
          <p:spPr bwMode="auto">
            <a:xfrm>
              <a:off x="1168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81" name="Line 150"/>
            <p:cNvSpPr>
              <a:spLocks noChangeShapeType="1"/>
            </p:cNvSpPr>
            <p:nvPr/>
          </p:nvSpPr>
          <p:spPr bwMode="auto">
            <a:xfrm>
              <a:off x="1216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82" name="Line 151"/>
            <p:cNvSpPr>
              <a:spLocks noChangeShapeType="1"/>
            </p:cNvSpPr>
            <p:nvPr/>
          </p:nvSpPr>
          <p:spPr bwMode="auto">
            <a:xfrm>
              <a:off x="1264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83" name="Line 152"/>
            <p:cNvSpPr>
              <a:spLocks noChangeShapeType="1"/>
            </p:cNvSpPr>
            <p:nvPr/>
          </p:nvSpPr>
          <p:spPr bwMode="auto">
            <a:xfrm>
              <a:off x="1312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84" name="Line 153"/>
            <p:cNvSpPr>
              <a:spLocks noChangeShapeType="1"/>
            </p:cNvSpPr>
            <p:nvPr/>
          </p:nvSpPr>
          <p:spPr bwMode="auto">
            <a:xfrm>
              <a:off x="1360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85" name="Line 154"/>
            <p:cNvSpPr>
              <a:spLocks noChangeShapeType="1"/>
            </p:cNvSpPr>
            <p:nvPr/>
          </p:nvSpPr>
          <p:spPr bwMode="auto">
            <a:xfrm>
              <a:off x="1408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86" name="Line 155"/>
            <p:cNvSpPr>
              <a:spLocks noChangeShapeType="1"/>
            </p:cNvSpPr>
            <p:nvPr/>
          </p:nvSpPr>
          <p:spPr bwMode="auto">
            <a:xfrm>
              <a:off x="1456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87" name="Line 156"/>
            <p:cNvSpPr>
              <a:spLocks noChangeShapeType="1"/>
            </p:cNvSpPr>
            <p:nvPr/>
          </p:nvSpPr>
          <p:spPr bwMode="auto">
            <a:xfrm>
              <a:off x="1504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88" name="Line 157"/>
            <p:cNvSpPr>
              <a:spLocks noChangeShapeType="1"/>
            </p:cNvSpPr>
            <p:nvPr/>
          </p:nvSpPr>
          <p:spPr bwMode="auto">
            <a:xfrm>
              <a:off x="1552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89" name="Line 158"/>
            <p:cNvSpPr>
              <a:spLocks noChangeShapeType="1"/>
            </p:cNvSpPr>
            <p:nvPr/>
          </p:nvSpPr>
          <p:spPr bwMode="auto">
            <a:xfrm>
              <a:off x="1600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90" name="Line 159"/>
            <p:cNvSpPr>
              <a:spLocks noChangeShapeType="1"/>
            </p:cNvSpPr>
            <p:nvPr/>
          </p:nvSpPr>
          <p:spPr bwMode="auto">
            <a:xfrm>
              <a:off x="1648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91" name="Line 160"/>
            <p:cNvSpPr>
              <a:spLocks noChangeShapeType="1"/>
            </p:cNvSpPr>
            <p:nvPr/>
          </p:nvSpPr>
          <p:spPr bwMode="auto">
            <a:xfrm>
              <a:off x="1696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92" name="Line 161"/>
            <p:cNvSpPr>
              <a:spLocks noChangeShapeType="1"/>
            </p:cNvSpPr>
            <p:nvPr/>
          </p:nvSpPr>
          <p:spPr bwMode="auto">
            <a:xfrm>
              <a:off x="1744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93" name="Line 162"/>
            <p:cNvSpPr>
              <a:spLocks noChangeShapeType="1"/>
            </p:cNvSpPr>
            <p:nvPr/>
          </p:nvSpPr>
          <p:spPr bwMode="auto">
            <a:xfrm>
              <a:off x="1792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94" name="Line 163"/>
            <p:cNvSpPr>
              <a:spLocks noChangeShapeType="1"/>
            </p:cNvSpPr>
            <p:nvPr/>
          </p:nvSpPr>
          <p:spPr bwMode="auto">
            <a:xfrm>
              <a:off x="1840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95" name="Line 164"/>
            <p:cNvSpPr>
              <a:spLocks noChangeShapeType="1"/>
            </p:cNvSpPr>
            <p:nvPr/>
          </p:nvSpPr>
          <p:spPr bwMode="auto">
            <a:xfrm>
              <a:off x="1888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96" name="Line 165"/>
            <p:cNvSpPr>
              <a:spLocks noChangeShapeType="1"/>
            </p:cNvSpPr>
            <p:nvPr/>
          </p:nvSpPr>
          <p:spPr bwMode="auto">
            <a:xfrm>
              <a:off x="1936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97" name="Line 166"/>
            <p:cNvSpPr>
              <a:spLocks noChangeShapeType="1"/>
            </p:cNvSpPr>
            <p:nvPr/>
          </p:nvSpPr>
          <p:spPr bwMode="auto">
            <a:xfrm>
              <a:off x="1984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98" name="Line 167"/>
            <p:cNvSpPr>
              <a:spLocks noChangeShapeType="1"/>
            </p:cNvSpPr>
            <p:nvPr/>
          </p:nvSpPr>
          <p:spPr bwMode="auto">
            <a:xfrm>
              <a:off x="2032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699" name="Line 168"/>
            <p:cNvSpPr>
              <a:spLocks noChangeShapeType="1"/>
            </p:cNvSpPr>
            <p:nvPr/>
          </p:nvSpPr>
          <p:spPr bwMode="auto">
            <a:xfrm>
              <a:off x="2080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00" name="Line 169"/>
            <p:cNvSpPr>
              <a:spLocks noChangeShapeType="1"/>
            </p:cNvSpPr>
            <p:nvPr/>
          </p:nvSpPr>
          <p:spPr bwMode="auto">
            <a:xfrm>
              <a:off x="2128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01" name="Line 170"/>
            <p:cNvSpPr>
              <a:spLocks noChangeShapeType="1"/>
            </p:cNvSpPr>
            <p:nvPr/>
          </p:nvSpPr>
          <p:spPr bwMode="auto">
            <a:xfrm>
              <a:off x="2176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02" name="Line 171"/>
            <p:cNvSpPr>
              <a:spLocks noChangeShapeType="1"/>
            </p:cNvSpPr>
            <p:nvPr/>
          </p:nvSpPr>
          <p:spPr bwMode="auto">
            <a:xfrm>
              <a:off x="2224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03" name="Line 172"/>
            <p:cNvSpPr>
              <a:spLocks noChangeShapeType="1"/>
            </p:cNvSpPr>
            <p:nvPr/>
          </p:nvSpPr>
          <p:spPr bwMode="auto">
            <a:xfrm>
              <a:off x="2272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04" name="Line 173"/>
            <p:cNvSpPr>
              <a:spLocks noChangeShapeType="1"/>
            </p:cNvSpPr>
            <p:nvPr/>
          </p:nvSpPr>
          <p:spPr bwMode="auto">
            <a:xfrm>
              <a:off x="2320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05" name="Line 174"/>
            <p:cNvSpPr>
              <a:spLocks noChangeShapeType="1"/>
            </p:cNvSpPr>
            <p:nvPr/>
          </p:nvSpPr>
          <p:spPr bwMode="auto">
            <a:xfrm>
              <a:off x="2368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06" name="Line 175"/>
            <p:cNvSpPr>
              <a:spLocks noChangeShapeType="1"/>
            </p:cNvSpPr>
            <p:nvPr/>
          </p:nvSpPr>
          <p:spPr bwMode="auto">
            <a:xfrm>
              <a:off x="2416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07" name="Line 176"/>
            <p:cNvSpPr>
              <a:spLocks noChangeShapeType="1"/>
            </p:cNvSpPr>
            <p:nvPr/>
          </p:nvSpPr>
          <p:spPr bwMode="auto">
            <a:xfrm>
              <a:off x="2464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08" name="Line 177"/>
            <p:cNvSpPr>
              <a:spLocks noChangeShapeType="1"/>
            </p:cNvSpPr>
            <p:nvPr/>
          </p:nvSpPr>
          <p:spPr bwMode="auto">
            <a:xfrm>
              <a:off x="2512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09" name="Line 178"/>
            <p:cNvSpPr>
              <a:spLocks noChangeShapeType="1"/>
            </p:cNvSpPr>
            <p:nvPr/>
          </p:nvSpPr>
          <p:spPr bwMode="auto">
            <a:xfrm>
              <a:off x="2560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10" name="Line 179"/>
            <p:cNvSpPr>
              <a:spLocks noChangeShapeType="1"/>
            </p:cNvSpPr>
            <p:nvPr/>
          </p:nvSpPr>
          <p:spPr bwMode="auto">
            <a:xfrm>
              <a:off x="2608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11" name="Line 180"/>
            <p:cNvSpPr>
              <a:spLocks noChangeShapeType="1"/>
            </p:cNvSpPr>
            <p:nvPr/>
          </p:nvSpPr>
          <p:spPr bwMode="auto">
            <a:xfrm>
              <a:off x="2656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12" name="Line 181"/>
            <p:cNvSpPr>
              <a:spLocks noChangeShapeType="1"/>
            </p:cNvSpPr>
            <p:nvPr/>
          </p:nvSpPr>
          <p:spPr bwMode="auto">
            <a:xfrm>
              <a:off x="2704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13" name="Line 182"/>
            <p:cNvSpPr>
              <a:spLocks noChangeShapeType="1"/>
            </p:cNvSpPr>
            <p:nvPr/>
          </p:nvSpPr>
          <p:spPr bwMode="auto">
            <a:xfrm>
              <a:off x="2752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14" name="Line 183"/>
            <p:cNvSpPr>
              <a:spLocks noChangeShapeType="1"/>
            </p:cNvSpPr>
            <p:nvPr/>
          </p:nvSpPr>
          <p:spPr bwMode="auto">
            <a:xfrm>
              <a:off x="2800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15" name="Line 184"/>
            <p:cNvSpPr>
              <a:spLocks noChangeShapeType="1"/>
            </p:cNvSpPr>
            <p:nvPr/>
          </p:nvSpPr>
          <p:spPr bwMode="auto">
            <a:xfrm>
              <a:off x="2848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16" name="Line 185"/>
            <p:cNvSpPr>
              <a:spLocks noChangeShapeType="1"/>
            </p:cNvSpPr>
            <p:nvPr/>
          </p:nvSpPr>
          <p:spPr bwMode="auto">
            <a:xfrm>
              <a:off x="2896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17" name="Line 186"/>
            <p:cNvSpPr>
              <a:spLocks noChangeShapeType="1"/>
            </p:cNvSpPr>
            <p:nvPr/>
          </p:nvSpPr>
          <p:spPr bwMode="auto">
            <a:xfrm>
              <a:off x="2944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18" name="Line 187"/>
            <p:cNvSpPr>
              <a:spLocks noChangeShapeType="1"/>
            </p:cNvSpPr>
            <p:nvPr/>
          </p:nvSpPr>
          <p:spPr bwMode="auto">
            <a:xfrm>
              <a:off x="2992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19" name="Line 188"/>
            <p:cNvSpPr>
              <a:spLocks noChangeShapeType="1"/>
            </p:cNvSpPr>
            <p:nvPr/>
          </p:nvSpPr>
          <p:spPr bwMode="auto">
            <a:xfrm>
              <a:off x="3040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20" name="Line 189"/>
            <p:cNvSpPr>
              <a:spLocks noChangeShapeType="1"/>
            </p:cNvSpPr>
            <p:nvPr/>
          </p:nvSpPr>
          <p:spPr bwMode="auto">
            <a:xfrm>
              <a:off x="3088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21" name="Line 190"/>
            <p:cNvSpPr>
              <a:spLocks noChangeShapeType="1"/>
            </p:cNvSpPr>
            <p:nvPr/>
          </p:nvSpPr>
          <p:spPr bwMode="auto">
            <a:xfrm>
              <a:off x="3136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22" name="Line 191"/>
            <p:cNvSpPr>
              <a:spLocks noChangeShapeType="1"/>
            </p:cNvSpPr>
            <p:nvPr/>
          </p:nvSpPr>
          <p:spPr bwMode="auto">
            <a:xfrm>
              <a:off x="3184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23" name="Line 192"/>
            <p:cNvSpPr>
              <a:spLocks noChangeShapeType="1"/>
            </p:cNvSpPr>
            <p:nvPr/>
          </p:nvSpPr>
          <p:spPr bwMode="auto">
            <a:xfrm>
              <a:off x="3232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24" name="Line 193"/>
            <p:cNvSpPr>
              <a:spLocks noChangeShapeType="1"/>
            </p:cNvSpPr>
            <p:nvPr/>
          </p:nvSpPr>
          <p:spPr bwMode="auto">
            <a:xfrm>
              <a:off x="3280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25" name="Line 194"/>
            <p:cNvSpPr>
              <a:spLocks noChangeShapeType="1"/>
            </p:cNvSpPr>
            <p:nvPr/>
          </p:nvSpPr>
          <p:spPr bwMode="auto">
            <a:xfrm>
              <a:off x="3328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26" name="Line 195"/>
            <p:cNvSpPr>
              <a:spLocks noChangeShapeType="1"/>
            </p:cNvSpPr>
            <p:nvPr/>
          </p:nvSpPr>
          <p:spPr bwMode="auto">
            <a:xfrm>
              <a:off x="3376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27" name="Line 196"/>
            <p:cNvSpPr>
              <a:spLocks noChangeShapeType="1"/>
            </p:cNvSpPr>
            <p:nvPr/>
          </p:nvSpPr>
          <p:spPr bwMode="auto">
            <a:xfrm>
              <a:off x="3424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28" name="Line 197"/>
            <p:cNvSpPr>
              <a:spLocks noChangeShapeType="1"/>
            </p:cNvSpPr>
            <p:nvPr/>
          </p:nvSpPr>
          <p:spPr bwMode="auto">
            <a:xfrm>
              <a:off x="3472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29" name="Line 198"/>
            <p:cNvSpPr>
              <a:spLocks noChangeShapeType="1"/>
            </p:cNvSpPr>
            <p:nvPr/>
          </p:nvSpPr>
          <p:spPr bwMode="auto">
            <a:xfrm>
              <a:off x="3520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30" name="Line 199"/>
            <p:cNvSpPr>
              <a:spLocks noChangeShapeType="1"/>
            </p:cNvSpPr>
            <p:nvPr/>
          </p:nvSpPr>
          <p:spPr bwMode="auto">
            <a:xfrm>
              <a:off x="3568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31" name="Line 200"/>
            <p:cNvSpPr>
              <a:spLocks noChangeShapeType="1"/>
            </p:cNvSpPr>
            <p:nvPr/>
          </p:nvSpPr>
          <p:spPr bwMode="auto">
            <a:xfrm>
              <a:off x="3616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32" name="Line 201"/>
            <p:cNvSpPr>
              <a:spLocks noChangeShapeType="1"/>
            </p:cNvSpPr>
            <p:nvPr/>
          </p:nvSpPr>
          <p:spPr bwMode="auto">
            <a:xfrm>
              <a:off x="3664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33" name="Line 202"/>
            <p:cNvSpPr>
              <a:spLocks noChangeShapeType="1"/>
            </p:cNvSpPr>
            <p:nvPr/>
          </p:nvSpPr>
          <p:spPr bwMode="auto">
            <a:xfrm>
              <a:off x="3712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34" name="Line 203"/>
            <p:cNvSpPr>
              <a:spLocks noChangeShapeType="1"/>
            </p:cNvSpPr>
            <p:nvPr/>
          </p:nvSpPr>
          <p:spPr bwMode="auto">
            <a:xfrm>
              <a:off x="3760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35" name="Line 204"/>
            <p:cNvSpPr>
              <a:spLocks noChangeShapeType="1"/>
            </p:cNvSpPr>
            <p:nvPr/>
          </p:nvSpPr>
          <p:spPr bwMode="auto">
            <a:xfrm>
              <a:off x="3808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36" name="Line 205"/>
            <p:cNvSpPr>
              <a:spLocks noChangeShapeType="1"/>
            </p:cNvSpPr>
            <p:nvPr/>
          </p:nvSpPr>
          <p:spPr bwMode="auto">
            <a:xfrm>
              <a:off x="3856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37" name="Line 206"/>
            <p:cNvSpPr>
              <a:spLocks noChangeShapeType="1"/>
            </p:cNvSpPr>
            <p:nvPr/>
          </p:nvSpPr>
          <p:spPr bwMode="auto">
            <a:xfrm>
              <a:off x="3904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38" name="Line 207"/>
            <p:cNvSpPr>
              <a:spLocks noChangeShapeType="1"/>
            </p:cNvSpPr>
            <p:nvPr/>
          </p:nvSpPr>
          <p:spPr bwMode="auto">
            <a:xfrm>
              <a:off x="3952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39" name="Line 208"/>
            <p:cNvSpPr>
              <a:spLocks noChangeShapeType="1"/>
            </p:cNvSpPr>
            <p:nvPr/>
          </p:nvSpPr>
          <p:spPr bwMode="auto">
            <a:xfrm>
              <a:off x="4000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40" name="Line 209"/>
            <p:cNvSpPr>
              <a:spLocks noChangeShapeType="1"/>
            </p:cNvSpPr>
            <p:nvPr/>
          </p:nvSpPr>
          <p:spPr bwMode="auto">
            <a:xfrm>
              <a:off x="4048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41" name="Line 210"/>
            <p:cNvSpPr>
              <a:spLocks noChangeShapeType="1"/>
            </p:cNvSpPr>
            <p:nvPr/>
          </p:nvSpPr>
          <p:spPr bwMode="auto">
            <a:xfrm>
              <a:off x="4096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42" name="Line 211"/>
            <p:cNvSpPr>
              <a:spLocks noChangeShapeType="1"/>
            </p:cNvSpPr>
            <p:nvPr/>
          </p:nvSpPr>
          <p:spPr bwMode="auto">
            <a:xfrm>
              <a:off x="4144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43" name="Line 212"/>
            <p:cNvSpPr>
              <a:spLocks noChangeShapeType="1"/>
            </p:cNvSpPr>
            <p:nvPr/>
          </p:nvSpPr>
          <p:spPr bwMode="auto">
            <a:xfrm>
              <a:off x="4192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44" name="Line 213"/>
            <p:cNvSpPr>
              <a:spLocks noChangeShapeType="1"/>
            </p:cNvSpPr>
            <p:nvPr/>
          </p:nvSpPr>
          <p:spPr bwMode="auto">
            <a:xfrm>
              <a:off x="4240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45" name="Line 214"/>
            <p:cNvSpPr>
              <a:spLocks noChangeShapeType="1"/>
            </p:cNvSpPr>
            <p:nvPr/>
          </p:nvSpPr>
          <p:spPr bwMode="auto">
            <a:xfrm>
              <a:off x="4288" y="1356"/>
              <a:ext cx="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46" name="Line 215"/>
            <p:cNvSpPr>
              <a:spLocks noChangeShapeType="1"/>
            </p:cNvSpPr>
            <p:nvPr/>
          </p:nvSpPr>
          <p:spPr bwMode="auto">
            <a:xfrm flipV="1">
              <a:off x="928" y="1348"/>
              <a:ext cx="0" cy="18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47" name="Line 216"/>
            <p:cNvSpPr>
              <a:spLocks noChangeShapeType="1"/>
            </p:cNvSpPr>
            <p:nvPr/>
          </p:nvSpPr>
          <p:spPr bwMode="auto">
            <a:xfrm>
              <a:off x="904" y="3188"/>
              <a:ext cx="4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48" name="Line 217"/>
            <p:cNvSpPr>
              <a:spLocks noChangeShapeType="1"/>
            </p:cNvSpPr>
            <p:nvPr/>
          </p:nvSpPr>
          <p:spPr bwMode="auto">
            <a:xfrm>
              <a:off x="928" y="3188"/>
              <a:ext cx="3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49" name="Line 218"/>
            <p:cNvSpPr>
              <a:spLocks noChangeShapeType="1"/>
            </p:cNvSpPr>
            <p:nvPr/>
          </p:nvSpPr>
          <p:spPr bwMode="auto">
            <a:xfrm flipV="1">
              <a:off x="928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50" name="Line 219"/>
            <p:cNvSpPr>
              <a:spLocks noChangeShapeType="1"/>
            </p:cNvSpPr>
            <p:nvPr/>
          </p:nvSpPr>
          <p:spPr bwMode="auto">
            <a:xfrm flipV="1">
              <a:off x="1096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51" name="Line 220"/>
            <p:cNvSpPr>
              <a:spLocks noChangeShapeType="1"/>
            </p:cNvSpPr>
            <p:nvPr/>
          </p:nvSpPr>
          <p:spPr bwMode="auto">
            <a:xfrm flipV="1">
              <a:off x="1272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52" name="Line 221"/>
            <p:cNvSpPr>
              <a:spLocks noChangeShapeType="1"/>
            </p:cNvSpPr>
            <p:nvPr/>
          </p:nvSpPr>
          <p:spPr bwMode="auto">
            <a:xfrm flipV="1">
              <a:off x="1440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53" name="Line 222"/>
            <p:cNvSpPr>
              <a:spLocks noChangeShapeType="1"/>
            </p:cNvSpPr>
            <p:nvPr/>
          </p:nvSpPr>
          <p:spPr bwMode="auto">
            <a:xfrm flipV="1">
              <a:off x="1608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54" name="Line 223"/>
            <p:cNvSpPr>
              <a:spLocks noChangeShapeType="1"/>
            </p:cNvSpPr>
            <p:nvPr/>
          </p:nvSpPr>
          <p:spPr bwMode="auto">
            <a:xfrm flipV="1">
              <a:off x="1776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55" name="Line 224"/>
            <p:cNvSpPr>
              <a:spLocks noChangeShapeType="1"/>
            </p:cNvSpPr>
            <p:nvPr/>
          </p:nvSpPr>
          <p:spPr bwMode="auto">
            <a:xfrm flipV="1">
              <a:off x="1944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56" name="Line 225"/>
            <p:cNvSpPr>
              <a:spLocks noChangeShapeType="1"/>
            </p:cNvSpPr>
            <p:nvPr/>
          </p:nvSpPr>
          <p:spPr bwMode="auto">
            <a:xfrm flipV="1">
              <a:off x="2112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57" name="Line 226"/>
            <p:cNvSpPr>
              <a:spLocks noChangeShapeType="1"/>
            </p:cNvSpPr>
            <p:nvPr/>
          </p:nvSpPr>
          <p:spPr bwMode="auto">
            <a:xfrm flipV="1">
              <a:off x="2280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58" name="Line 227"/>
            <p:cNvSpPr>
              <a:spLocks noChangeShapeType="1"/>
            </p:cNvSpPr>
            <p:nvPr/>
          </p:nvSpPr>
          <p:spPr bwMode="auto">
            <a:xfrm flipV="1">
              <a:off x="2456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59" name="Line 228"/>
            <p:cNvSpPr>
              <a:spLocks noChangeShapeType="1"/>
            </p:cNvSpPr>
            <p:nvPr/>
          </p:nvSpPr>
          <p:spPr bwMode="auto">
            <a:xfrm flipV="1">
              <a:off x="2624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60" name="Line 229"/>
            <p:cNvSpPr>
              <a:spLocks noChangeShapeType="1"/>
            </p:cNvSpPr>
            <p:nvPr/>
          </p:nvSpPr>
          <p:spPr bwMode="auto">
            <a:xfrm flipV="1">
              <a:off x="2792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61" name="Line 230"/>
            <p:cNvSpPr>
              <a:spLocks noChangeShapeType="1"/>
            </p:cNvSpPr>
            <p:nvPr/>
          </p:nvSpPr>
          <p:spPr bwMode="auto">
            <a:xfrm flipV="1">
              <a:off x="2960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62" name="Line 231"/>
            <p:cNvSpPr>
              <a:spLocks noChangeShapeType="1"/>
            </p:cNvSpPr>
            <p:nvPr/>
          </p:nvSpPr>
          <p:spPr bwMode="auto">
            <a:xfrm flipV="1">
              <a:off x="3128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63" name="Line 232"/>
            <p:cNvSpPr>
              <a:spLocks noChangeShapeType="1"/>
            </p:cNvSpPr>
            <p:nvPr/>
          </p:nvSpPr>
          <p:spPr bwMode="auto">
            <a:xfrm flipV="1">
              <a:off x="3296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64" name="Line 233"/>
            <p:cNvSpPr>
              <a:spLocks noChangeShapeType="1"/>
            </p:cNvSpPr>
            <p:nvPr/>
          </p:nvSpPr>
          <p:spPr bwMode="auto">
            <a:xfrm flipV="1">
              <a:off x="3464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65" name="Line 234"/>
            <p:cNvSpPr>
              <a:spLocks noChangeShapeType="1"/>
            </p:cNvSpPr>
            <p:nvPr/>
          </p:nvSpPr>
          <p:spPr bwMode="auto">
            <a:xfrm flipV="1">
              <a:off x="3640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66" name="Line 235"/>
            <p:cNvSpPr>
              <a:spLocks noChangeShapeType="1"/>
            </p:cNvSpPr>
            <p:nvPr/>
          </p:nvSpPr>
          <p:spPr bwMode="auto">
            <a:xfrm flipV="1">
              <a:off x="3808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67" name="Line 236"/>
            <p:cNvSpPr>
              <a:spLocks noChangeShapeType="1"/>
            </p:cNvSpPr>
            <p:nvPr/>
          </p:nvSpPr>
          <p:spPr bwMode="auto">
            <a:xfrm flipV="1">
              <a:off x="3976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68" name="Line 237"/>
            <p:cNvSpPr>
              <a:spLocks noChangeShapeType="1"/>
            </p:cNvSpPr>
            <p:nvPr/>
          </p:nvSpPr>
          <p:spPr bwMode="auto">
            <a:xfrm flipV="1">
              <a:off x="4144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69" name="Line 238"/>
            <p:cNvSpPr>
              <a:spLocks noChangeShapeType="1"/>
            </p:cNvSpPr>
            <p:nvPr/>
          </p:nvSpPr>
          <p:spPr bwMode="auto">
            <a:xfrm flipV="1">
              <a:off x="4312" y="3150"/>
              <a:ext cx="0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770" name="Freeform 239"/>
            <p:cNvSpPr>
              <a:spLocks/>
            </p:cNvSpPr>
            <p:nvPr/>
          </p:nvSpPr>
          <p:spPr bwMode="auto">
            <a:xfrm>
              <a:off x="924" y="1368"/>
              <a:ext cx="3385" cy="1817"/>
            </a:xfrm>
            <a:custGeom>
              <a:avLst/>
              <a:gdLst>
                <a:gd name="T0" fmla="*/ 0 w 3385"/>
                <a:gd name="T1" fmla="*/ 1816 h 1817"/>
                <a:gd name="T2" fmla="*/ 168 w 3385"/>
                <a:gd name="T3" fmla="*/ 1752 h 1817"/>
                <a:gd name="T4" fmla="*/ 344 w 3385"/>
                <a:gd name="T5" fmla="*/ 1696 h 1817"/>
                <a:gd name="T6" fmla="*/ 512 w 3385"/>
                <a:gd name="T7" fmla="*/ 1640 h 1817"/>
                <a:gd name="T8" fmla="*/ 680 w 3385"/>
                <a:gd name="T9" fmla="*/ 1576 h 1817"/>
                <a:gd name="T10" fmla="*/ 848 w 3385"/>
                <a:gd name="T11" fmla="*/ 1520 h 1817"/>
                <a:gd name="T12" fmla="*/ 1016 w 3385"/>
                <a:gd name="T13" fmla="*/ 1456 h 1817"/>
                <a:gd name="T14" fmla="*/ 1184 w 3385"/>
                <a:gd name="T15" fmla="*/ 1400 h 1817"/>
                <a:gd name="T16" fmla="*/ 1352 w 3385"/>
                <a:gd name="T17" fmla="*/ 1296 h 1817"/>
                <a:gd name="T18" fmla="*/ 1528 w 3385"/>
                <a:gd name="T19" fmla="*/ 1184 h 1817"/>
                <a:gd name="T20" fmla="*/ 1696 w 3385"/>
                <a:gd name="T21" fmla="*/ 1080 h 1817"/>
                <a:gd name="T22" fmla="*/ 1864 w 3385"/>
                <a:gd name="T23" fmla="*/ 968 h 1817"/>
                <a:gd name="T24" fmla="*/ 2032 w 3385"/>
                <a:gd name="T25" fmla="*/ 864 h 1817"/>
                <a:gd name="T26" fmla="*/ 2200 w 3385"/>
                <a:gd name="T27" fmla="*/ 752 h 1817"/>
                <a:gd name="T28" fmla="*/ 2368 w 3385"/>
                <a:gd name="T29" fmla="*/ 648 h 1817"/>
                <a:gd name="T30" fmla="*/ 2536 w 3385"/>
                <a:gd name="T31" fmla="*/ 536 h 1817"/>
                <a:gd name="T32" fmla="*/ 2712 w 3385"/>
                <a:gd name="T33" fmla="*/ 432 h 1817"/>
                <a:gd name="T34" fmla="*/ 2880 w 3385"/>
                <a:gd name="T35" fmla="*/ 328 h 1817"/>
                <a:gd name="T36" fmla="*/ 3048 w 3385"/>
                <a:gd name="T37" fmla="*/ 216 h 1817"/>
                <a:gd name="T38" fmla="*/ 3216 w 3385"/>
                <a:gd name="T39" fmla="*/ 112 h 1817"/>
                <a:gd name="T40" fmla="*/ 3384 w 3385"/>
                <a:gd name="T41" fmla="*/ 0 h 181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385"/>
                <a:gd name="T64" fmla="*/ 0 h 1817"/>
                <a:gd name="T65" fmla="*/ 3385 w 3385"/>
                <a:gd name="T66" fmla="*/ 1817 h 181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385" h="1817">
                  <a:moveTo>
                    <a:pt x="0" y="1816"/>
                  </a:moveTo>
                  <a:lnTo>
                    <a:pt x="168" y="1752"/>
                  </a:lnTo>
                  <a:lnTo>
                    <a:pt x="344" y="1696"/>
                  </a:lnTo>
                  <a:lnTo>
                    <a:pt x="512" y="1640"/>
                  </a:lnTo>
                  <a:lnTo>
                    <a:pt x="680" y="1576"/>
                  </a:lnTo>
                  <a:lnTo>
                    <a:pt x="848" y="1520"/>
                  </a:lnTo>
                  <a:lnTo>
                    <a:pt x="1016" y="1456"/>
                  </a:lnTo>
                  <a:lnTo>
                    <a:pt x="1184" y="1400"/>
                  </a:lnTo>
                  <a:lnTo>
                    <a:pt x="1352" y="1296"/>
                  </a:lnTo>
                  <a:lnTo>
                    <a:pt x="1528" y="1184"/>
                  </a:lnTo>
                  <a:lnTo>
                    <a:pt x="1696" y="1080"/>
                  </a:lnTo>
                  <a:lnTo>
                    <a:pt x="1864" y="968"/>
                  </a:lnTo>
                  <a:lnTo>
                    <a:pt x="2032" y="864"/>
                  </a:lnTo>
                  <a:lnTo>
                    <a:pt x="2200" y="752"/>
                  </a:lnTo>
                  <a:lnTo>
                    <a:pt x="2368" y="648"/>
                  </a:lnTo>
                  <a:lnTo>
                    <a:pt x="2536" y="536"/>
                  </a:lnTo>
                  <a:lnTo>
                    <a:pt x="2712" y="432"/>
                  </a:lnTo>
                  <a:lnTo>
                    <a:pt x="2880" y="328"/>
                  </a:lnTo>
                  <a:lnTo>
                    <a:pt x="3048" y="216"/>
                  </a:lnTo>
                  <a:lnTo>
                    <a:pt x="3216" y="112"/>
                  </a:lnTo>
                  <a:lnTo>
                    <a:pt x="3384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771" name="Freeform 240"/>
            <p:cNvSpPr>
              <a:spLocks/>
            </p:cNvSpPr>
            <p:nvPr/>
          </p:nvSpPr>
          <p:spPr bwMode="auto">
            <a:xfrm>
              <a:off x="924" y="2824"/>
              <a:ext cx="3385" cy="361"/>
            </a:xfrm>
            <a:custGeom>
              <a:avLst/>
              <a:gdLst>
                <a:gd name="T0" fmla="*/ 0 w 3385"/>
                <a:gd name="T1" fmla="*/ 360 h 361"/>
                <a:gd name="T2" fmla="*/ 168 w 3385"/>
                <a:gd name="T3" fmla="*/ 344 h 361"/>
                <a:gd name="T4" fmla="*/ 344 w 3385"/>
                <a:gd name="T5" fmla="*/ 320 h 361"/>
                <a:gd name="T6" fmla="*/ 512 w 3385"/>
                <a:gd name="T7" fmla="*/ 304 h 361"/>
                <a:gd name="T8" fmla="*/ 680 w 3385"/>
                <a:gd name="T9" fmla="*/ 288 h 361"/>
                <a:gd name="T10" fmla="*/ 848 w 3385"/>
                <a:gd name="T11" fmla="*/ 272 h 361"/>
                <a:gd name="T12" fmla="*/ 1016 w 3385"/>
                <a:gd name="T13" fmla="*/ 248 h 361"/>
                <a:gd name="T14" fmla="*/ 1184 w 3385"/>
                <a:gd name="T15" fmla="*/ 232 h 361"/>
                <a:gd name="T16" fmla="*/ 1352 w 3385"/>
                <a:gd name="T17" fmla="*/ 216 h 361"/>
                <a:gd name="T18" fmla="*/ 1528 w 3385"/>
                <a:gd name="T19" fmla="*/ 200 h 361"/>
                <a:gd name="T20" fmla="*/ 1696 w 3385"/>
                <a:gd name="T21" fmla="*/ 176 h 361"/>
                <a:gd name="T22" fmla="*/ 1864 w 3385"/>
                <a:gd name="T23" fmla="*/ 160 h 361"/>
                <a:gd name="T24" fmla="*/ 2032 w 3385"/>
                <a:gd name="T25" fmla="*/ 144 h 361"/>
                <a:gd name="T26" fmla="*/ 2200 w 3385"/>
                <a:gd name="T27" fmla="*/ 128 h 361"/>
                <a:gd name="T28" fmla="*/ 2368 w 3385"/>
                <a:gd name="T29" fmla="*/ 104 h 361"/>
                <a:gd name="T30" fmla="*/ 2536 w 3385"/>
                <a:gd name="T31" fmla="*/ 88 h 361"/>
                <a:gd name="T32" fmla="*/ 2712 w 3385"/>
                <a:gd name="T33" fmla="*/ 72 h 361"/>
                <a:gd name="T34" fmla="*/ 2880 w 3385"/>
                <a:gd name="T35" fmla="*/ 56 h 361"/>
                <a:gd name="T36" fmla="*/ 3048 w 3385"/>
                <a:gd name="T37" fmla="*/ 32 h 361"/>
                <a:gd name="T38" fmla="*/ 3216 w 3385"/>
                <a:gd name="T39" fmla="*/ 16 h 361"/>
                <a:gd name="T40" fmla="*/ 3384 w 3385"/>
                <a:gd name="T41" fmla="*/ 0 h 36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385"/>
                <a:gd name="T64" fmla="*/ 0 h 361"/>
                <a:gd name="T65" fmla="*/ 3385 w 3385"/>
                <a:gd name="T66" fmla="*/ 361 h 36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385" h="361">
                  <a:moveTo>
                    <a:pt x="0" y="360"/>
                  </a:moveTo>
                  <a:lnTo>
                    <a:pt x="168" y="344"/>
                  </a:lnTo>
                  <a:lnTo>
                    <a:pt x="344" y="320"/>
                  </a:lnTo>
                  <a:lnTo>
                    <a:pt x="512" y="304"/>
                  </a:lnTo>
                  <a:lnTo>
                    <a:pt x="680" y="288"/>
                  </a:lnTo>
                  <a:lnTo>
                    <a:pt x="848" y="272"/>
                  </a:lnTo>
                  <a:lnTo>
                    <a:pt x="1016" y="248"/>
                  </a:lnTo>
                  <a:lnTo>
                    <a:pt x="1184" y="232"/>
                  </a:lnTo>
                  <a:lnTo>
                    <a:pt x="1352" y="216"/>
                  </a:lnTo>
                  <a:lnTo>
                    <a:pt x="1528" y="200"/>
                  </a:lnTo>
                  <a:lnTo>
                    <a:pt x="1696" y="176"/>
                  </a:lnTo>
                  <a:lnTo>
                    <a:pt x="1864" y="160"/>
                  </a:lnTo>
                  <a:lnTo>
                    <a:pt x="2032" y="144"/>
                  </a:lnTo>
                  <a:lnTo>
                    <a:pt x="2200" y="128"/>
                  </a:lnTo>
                  <a:lnTo>
                    <a:pt x="2368" y="104"/>
                  </a:lnTo>
                  <a:lnTo>
                    <a:pt x="2536" y="88"/>
                  </a:lnTo>
                  <a:lnTo>
                    <a:pt x="2712" y="72"/>
                  </a:lnTo>
                  <a:lnTo>
                    <a:pt x="2880" y="56"/>
                  </a:lnTo>
                  <a:lnTo>
                    <a:pt x="3048" y="32"/>
                  </a:lnTo>
                  <a:lnTo>
                    <a:pt x="3216" y="16"/>
                  </a:lnTo>
                  <a:lnTo>
                    <a:pt x="3384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772" name="Rectangle 241"/>
            <p:cNvSpPr>
              <a:spLocks noChangeArrowheads="1"/>
            </p:cNvSpPr>
            <p:nvPr/>
          </p:nvSpPr>
          <p:spPr bwMode="auto">
            <a:xfrm>
              <a:off x="904" y="3159"/>
              <a:ext cx="32" cy="4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73" name="Rectangle 242"/>
            <p:cNvSpPr>
              <a:spLocks noChangeArrowheads="1"/>
            </p:cNvSpPr>
            <p:nvPr/>
          </p:nvSpPr>
          <p:spPr bwMode="auto">
            <a:xfrm>
              <a:off x="1072" y="3095"/>
              <a:ext cx="32" cy="4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74" name="Rectangle 243"/>
            <p:cNvSpPr>
              <a:spLocks noChangeArrowheads="1"/>
            </p:cNvSpPr>
            <p:nvPr/>
          </p:nvSpPr>
          <p:spPr bwMode="auto">
            <a:xfrm>
              <a:off x="1248" y="3044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75" name="Rectangle 244"/>
            <p:cNvSpPr>
              <a:spLocks noChangeArrowheads="1"/>
            </p:cNvSpPr>
            <p:nvPr/>
          </p:nvSpPr>
          <p:spPr bwMode="auto">
            <a:xfrm>
              <a:off x="1416" y="2988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76" name="Rectangle 245"/>
            <p:cNvSpPr>
              <a:spLocks noChangeArrowheads="1"/>
            </p:cNvSpPr>
            <p:nvPr/>
          </p:nvSpPr>
          <p:spPr bwMode="auto">
            <a:xfrm>
              <a:off x="1584" y="2924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77" name="Rectangle 246"/>
            <p:cNvSpPr>
              <a:spLocks noChangeArrowheads="1"/>
            </p:cNvSpPr>
            <p:nvPr/>
          </p:nvSpPr>
          <p:spPr bwMode="auto">
            <a:xfrm>
              <a:off x="1752" y="2868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78" name="Rectangle 247"/>
            <p:cNvSpPr>
              <a:spLocks noChangeArrowheads="1"/>
            </p:cNvSpPr>
            <p:nvPr/>
          </p:nvSpPr>
          <p:spPr bwMode="auto">
            <a:xfrm>
              <a:off x="1920" y="2804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79" name="Rectangle 248"/>
            <p:cNvSpPr>
              <a:spLocks noChangeArrowheads="1"/>
            </p:cNvSpPr>
            <p:nvPr/>
          </p:nvSpPr>
          <p:spPr bwMode="auto">
            <a:xfrm>
              <a:off x="2088" y="2748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80" name="Rectangle 249"/>
            <p:cNvSpPr>
              <a:spLocks noChangeArrowheads="1"/>
            </p:cNvSpPr>
            <p:nvPr/>
          </p:nvSpPr>
          <p:spPr bwMode="auto">
            <a:xfrm>
              <a:off x="2256" y="2644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81" name="Rectangle 250"/>
            <p:cNvSpPr>
              <a:spLocks noChangeArrowheads="1"/>
            </p:cNvSpPr>
            <p:nvPr/>
          </p:nvSpPr>
          <p:spPr bwMode="auto">
            <a:xfrm>
              <a:off x="2432" y="2532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82" name="Rectangle 251"/>
            <p:cNvSpPr>
              <a:spLocks noChangeArrowheads="1"/>
            </p:cNvSpPr>
            <p:nvPr/>
          </p:nvSpPr>
          <p:spPr bwMode="auto">
            <a:xfrm>
              <a:off x="2600" y="2428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83" name="Rectangle 252"/>
            <p:cNvSpPr>
              <a:spLocks noChangeArrowheads="1"/>
            </p:cNvSpPr>
            <p:nvPr/>
          </p:nvSpPr>
          <p:spPr bwMode="auto">
            <a:xfrm>
              <a:off x="2768" y="2316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84" name="Rectangle 253"/>
            <p:cNvSpPr>
              <a:spLocks noChangeArrowheads="1"/>
            </p:cNvSpPr>
            <p:nvPr/>
          </p:nvSpPr>
          <p:spPr bwMode="auto">
            <a:xfrm>
              <a:off x="2936" y="2212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85" name="Rectangle 254"/>
            <p:cNvSpPr>
              <a:spLocks noChangeArrowheads="1"/>
            </p:cNvSpPr>
            <p:nvPr/>
          </p:nvSpPr>
          <p:spPr bwMode="auto">
            <a:xfrm>
              <a:off x="3104" y="2100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86" name="Rectangle 255"/>
            <p:cNvSpPr>
              <a:spLocks noChangeArrowheads="1"/>
            </p:cNvSpPr>
            <p:nvPr/>
          </p:nvSpPr>
          <p:spPr bwMode="auto">
            <a:xfrm>
              <a:off x="3272" y="1996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87" name="Rectangle 256"/>
            <p:cNvSpPr>
              <a:spLocks noChangeArrowheads="1"/>
            </p:cNvSpPr>
            <p:nvPr/>
          </p:nvSpPr>
          <p:spPr bwMode="auto">
            <a:xfrm>
              <a:off x="3440" y="1884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88" name="Rectangle 257"/>
            <p:cNvSpPr>
              <a:spLocks noChangeArrowheads="1"/>
            </p:cNvSpPr>
            <p:nvPr/>
          </p:nvSpPr>
          <p:spPr bwMode="auto">
            <a:xfrm>
              <a:off x="3616" y="1780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89" name="Rectangle 258"/>
            <p:cNvSpPr>
              <a:spLocks noChangeArrowheads="1"/>
            </p:cNvSpPr>
            <p:nvPr/>
          </p:nvSpPr>
          <p:spPr bwMode="auto">
            <a:xfrm>
              <a:off x="3784" y="1676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90" name="Rectangle 259"/>
            <p:cNvSpPr>
              <a:spLocks noChangeArrowheads="1"/>
            </p:cNvSpPr>
            <p:nvPr/>
          </p:nvSpPr>
          <p:spPr bwMode="auto">
            <a:xfrm>
              <a:off x="3952" y="1564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91" name="Rectangle 260"/>
            <p:cNvSpPr>
              <a:spLocks noChangeArrowheads="1"/>
            </p:cNvSpPr>
            <p:nvPr/>
          </p:nvSpPr>
          <p:spPr bwMode="auto">
            <a:xfrm>
              <a:off x="4120" y="1460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92" name="Rectangle 261"/>
            <p:cNvSpPr>
              <a:spLocks noChangeArrowheads="1"/>
            </p:cNvSpPr>
            <p:nvPr/>
          </p:nvSpPr>
          <p:spPr bwMode="auto">
            <a:xfrm>
              <a:off x="4288" y="1348"/>
              <a:ext cx="32" cy="32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93" name="Rectangle 262"/>
            <p:cNvSpPr>
              <a:spLocks noChangeArrowheads="1"/>
            </p:cNvSpPr>
            <p:nvPr/>
          </p:nvSpPr>
          <p:spPr bwMode="auto">
            <a:xfrm>
              <a:off x="904" y="3159"/>
              <a:ext cx="32" cy="4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94" name="Rectangle 263"/>
            <p:cNvSpPr>
              <a:spLocks noChangeArrowheads="1"/>
            </p:cNvSpPr>
            <p:nvPr/>
          </p:nvSpPr>
          <p:spPr bwMode="auto">
            <a:xfrm>
              <a:off x="1072" y="3143"/>
              <a:ext cx="32" cy="4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95" name="Rectangle 264"/>
            <p:cNvSpPr>
              <a:spLocks noChangeArrowheads="1"/>
            </p:cNvSpPr>
            <p:nvPr/>
          </p:nvSpPr>
          <p:spPr bwMode="auto">
            <a:xfrm>
              <a:off x="1248" y="3119"/>
              <a:ext cx="32" cy="4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96" name="Rectangle 265"/>
            <p:cNvSpPr>
              <a:spLocks noChangeArrowheads="1"/>
            </p:cNvSpPr>
            <p:nvPr/>
          </p:nvSpPr>
          <p:spPr bwMode="auto">
            <a:xfrm>
              <a:off x="1416" y="3103"/>
              <a:ext cx="32" cy="4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97" name="Rectangle 266"/>
            <p:cNvSpPr>
              <a:spLocks noChangeArrowheads="1"/>
            </p:cNvSpPr>
            <p:nvPr/>
          </p:nvSpPr>
          <p:spPr bwMode="auto">
            <a:xfrm>
              <a:off x="1584" y="3087"/>
              <a:ext cx="32" cy="4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98" name="Rectangle 267"/>
            <p:cNvSpPr>
              <a:spLocks noChangeArrowheads="1"/>
            </p:cNvSpPr>
            <p:nvPr/>
          </p:nvSpPr>
          <p:spPr bwMode="auto">
            <a:xfrm>
              <a:off x="1752" y="3071"/>
              <a:ext cx="32" cy="4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99" name="Rectangle 268"/>
            <p:cNvSpPr>
              <a:spLocks noChangeArrowheads="1"/>
            </p:cNvSpPr>
            <p:nvPr/>
          </p:nvSpPr>
          <p:spPr bwMode="auto">
            <a:xfrm>
              <a:off x="1920" y="3047"/>
              <a:ext cx="32" cy="4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00" name="Rectangle 269"/>
            <p:cNvSpPr>
              <a:spLocks noChangeArrowheads="1"/>
            </p:cNvSpPr>
            <p:nvPr/>
          </p:nvSpPr>
          <p:spPr bwMode="auto">
            <a:xfrm>
              <a:off x="2088" y="3036"/>
              <a:ext cx="32" cy="3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01" name="Rectangle 270"/>
            <p:cNvSpPr>
              <a:spLocks noChangeArrowheads="1"/>
            </p:cNvSpPr>
            <p:nvPr/>
          </p:nvSpPr>
          <p:spPr bwMode="auto">
            <a:xfrm>
              <a:off x="2256" y="3020"/>
              <a:ext cx="32" cy="3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02" name="Rectangle 271"/>
            <p:cNvSpPr>
              <a:spLocks noChangeArrowheads="1"/>
            </p:cNvSpPr>
            <p:nvPr/>
          </p:nvSpPr>
          <p:spPr bwMode="auto">
            <a:xfrm>
              <a:off x="2432" y="3004"/>
              <a:ext cx="32" cy="3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03" name="Rectangle 272"/>
            <p:cNvSpPr>
              <a:spLocks noChangeArrowheads="1"/>
            </p:cNvSpPr>
            <p:nvPr/>
          </p:nvSpPr>
          <p:spPr bwMode="auto">
            <a:xfrm>
              <a:off x="2600" y="2980"/>
              <a:ext cx="32" cy="3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04" name="Rectangle 273"/>
            <p:cNvSpPr>
              <a:spLocks noChangeArrowheads="1"/>
            </p:cNvSpPr>
            <p:nvPr/>
          </p:nvSpPr>
          <p:spPr bwMode="auto">
            <a:xfrm>
              <a:off x="2768" y="2964"/>
              <a:ext cx="32" cy="3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05" name="Rectangle 274"/>
            <p:cNvSpPr>
              <a:spLocks noChangeArrowheads="1"/>
            </p:cNvSpPr>
            <p:nvPr/>
          </p:nvSpPr>
          <p:spPr bwMode="auto">
            <a:xfrm>
              <a:off x="2936" y="2948"/>
              <a:ext cx="32" cy="3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06" name="Rectangle 275"/>
            <p:cNvSpPr>
              <a:spLocks noChangeArrowheads="1"/>
            </p:cNvSpPr>
            <p:nvPr/>
          </p:nvSpPr>
          <p:spPr bwMode="auto">
            <a:xfrm>
              <a:off x="3104" y="2932"/>
              <a:ext cx="32" cy="3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07" name="Rectangle 276"/>
            <p:cNvSpPr>
              <a:spLocks noChangeArrowheads="1"/>
            </p:cNvSpPr>
            <p:nvPr/>
          </p:nvSpPr>
          <p:spPr bwMode="auto">
            <a:xfrm>
              <a:off x="3272" y="2908"/>
              <a:ext cx="32" cy="3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08" name="Rectangle 277"/>
            <p:cNvSpPr>
              <a:spLocks noChangeArrowheads="1"/>
            </p:cNvSpPr>
            <p:nvPr/>
          </p:nvSpPr>
          <p:spPr bwMode="auto">
            <a:xfrm>
              <a:off x="3440" y="2892"/>
              <a:ext cx="32" cy="3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09" name="Rectangle 278"/>
            <p:cNvSpPr>
              <a:spLocks noChangeArrowheads="1"/>
            </p:cNvSpPr>
            <p:nvPr/>
          </p:nvSpPr>
          <p:spPr bwMode="auto">
            <a:xfrm>
              <a:off x="3616" y="2876"/>
              <a:ext cx="32" cy="3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10" name="Rectangle 279"/>
            <p:cNvSpPr>
              <a:spLocks noChangeArrowheads="1"/>
            </p:cNvSpPr>
            <p:nvPr/>
          </p:nvSpPr>
          <p:spPr bwMode="auto">
            <a:xfrm>
              <a:off x="3784" y="2860"/>
              <a:ext cx="32" cy="3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11" name="Rectangle 280"/>
            <p:cNvSpPr>
              <a:spLocks noChangeArrowheads="1"/>
            </p:cNvSpPr>
            <p:nvPr/>
          </p:nvSpPr>
          <p:spPr bwMode="auto">
            <a:xfrm>
              <a:off x="3952" y="2836"/>
              <a:ext cx="32" cy="3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12" name="Rectangle 281"/>
            <p:cNvSpPr>
              <a:spLocks noChangeArrowheads="1"/>
            </p:cNvSpPr>
            <p:nvPr/>
          </p:nvSpPr>
          <p:spPr bwMode="auto">
            <a:xfrm>
              <a:off x="4120" y="2820"/>
              <a:ext cx="32" cy="3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13" name="Rectangle 282"/>
            <p:cNvSpPr>
              <a:spLocks noChangeArrowheads="1"/>
            </p:cNvSpPr>
            <p:nvPr/>
          </p:nvSpPr>
          <p:spPr bwMode="auto">
            <a:xfrm>
              <a:off x="4288" y="2804"/>
              <a:ext cx="32" cy="32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14" name="Rectangle 283"/>
            <p:cNvSpPr>
              <a:spLocks noChangeArrowheads="1"/>
            </p:cNvSpPr>
            <p:nvPr/>
          </p:nvSpPr>
          <p:spPr bwMode="auto">
            <a:xfrm>
              <a:off x="669" y="3022"/>
              <a:ext cx="211" cy="2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>
                  <a:latin typeface="Geneva" pitchFamily="-106" charset="0"/>
                </a:rPr>
                <a:t>1</a:t>
              </a:r>
            </a:p>
          </p:txBody>
        </p:sp>
        <p:sp>
          <p:nvSpPr>
            <p:cNvPr id="22815" name="Rectangle 284"/>
            <p:cNvSpPr>
              <a:spLocks noChangeArrowheads="1"/>
            </p:cNvSpPr>
            <p:nvPr/>
          </p:nvSpPr>
          <p:spPr bwMode="auto">
            <a:xfrm>
              <a:off x="517" y="2414"/>
              <a:ext cx="308" cy="2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>
                  <a:latin typeface="Geneva" pitchFamily="-106" charset="0"/>
                </a:rPr>
                <a:t>10</a:t>
              </a:r>
            </a:p>
          </p:txBody>
        </p:sp>
        <p:sp>
          <p:nvSpPr>
            <p:cNvPr id="22816" name="Rectangle 285"/>
            <p:cNvSpPr>
              <a:spLocks noChangeArrowheads="1"/>
            </p:cNvSpPr>
            <p:nvPr/>
          </p:nvSpPr>
          <p:spPr bwMode="auto">
            <a:xfrm>
              <a:off x="413" y="1854"/>
              <a:ext cx="405" cy="2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>
                  <a:latin typeface="Geneva" pitchFamily="-106" charset="0"/>
                </a:rPr>
                <a:t>100</a:t>
              </a:r>
            </a:p>
          </p:txBody>
        </p:sp>
        <p:sp>
          <p:nvSpPr>
            <p:cNvPr id="22817" name="Rectangle 286"/>
            <p:cNvSpPr>
              <a:spLocks noChangeArrowheads="1"/>
            </p:cNvSpPr>
            <p:nvPr/>
          </p:nvSpPr>
          <p:spPr bwMode="auto">
            <a:xfrm>
              <a:off x="261" y="1190"/>
              <a:ext cx="502" cy="2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>
                  <a:latin typeface="Geneva" pitchFamily="-106" charset="0"/>
                </a:rPr>
                <a:t>1000</a:t>
              </a:r>
            </a:p>
          </p:txBody>
        </p:sp>
        <p:sp>
          <p:nvSpPr>
            <p:cNvPr id="22818" name="Rectangle 287"/>
            <p:cNvSpPr>
              <a:spLocks noChangeArrowheads="1"/>
            </p:cNvSpPr>
            <p:nvPr/>
          </p:nvSpPr>
          <p:spPr bwMode="auto">
            <a:xfrm rot="-5400000">
              <a:off x="731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1980</a:t>
              </a:r>
            </a:p>
          </p:txBody>
        </p:sp>
        <p:sp>
          <p:nvSpPr>
            <p:cNvPr id="22819" name="Rectangle 288"/>
            <p:cNvSpPr>
              <a:spLocks noChangeArrowheads="1"/>
            </p:cNvSpPr>
            <p:nvPr/>
          </p:nvSpPr>
          <p:spPr bwMode="auto">
            <a:xfrm rot="-5400000">
              <a:off x="899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1981</a:t>
              </a:r>
            </a:p>
          </p:txBody>
        </p:sp>
        <p:sp>
          <p:nvSpPr>
            <p:cNvPr id="22820" name="Rectangle 289"/>
            <p:cNvSpPr>
              <a:spLocks noChangeArrowheads="1"/>
            </p:cNvSpPr>
            <p:nvPr/>
          </p:nvSpPr>
          <p:spPr bwMode="auto">
            <a:xfrm rot="-5400000">
              <a:off x="1235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1983</a:t>
              </a:r>
            </a:p>
          </p:txBody>
        </p:sp>
        <p:sp>
          <p:nvSpPr>
            <p:cNvPr id="22821" name="Rectangle 290"/>
            <p:cNvSpPr>
              <a:spLocks noChangeArrowheads="1"/>
            </p:cNvSpPr>
            <p:nvPr/>
          </p:nvSpPr>
          <p:spPr bwMode="auto">
            <a:xfrm rot="-5400000">
              <a:off x="1403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1984</a:t>
              </a:r>
            </a:p>
          </p:txBody>
        </p:sp>
        <p:sp>
          <p:nvSpPr>
            <p:cNvPr id="22822" name="Rectangle 291"/>
            <p:cNvSpPr>
              <a:spLocks noChangeArrowheads="1"/>
            </p:cNvSpPr>
            <p:nvPr/>
          </p:nvSpPr>
          <p:spPr bwMode="auto">
            <a:xfrm rot="-5400000">
              <a:off x="1571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1985</a:t>
              </a:r>
            </a:p>
          </p:txBody>
        </p:sp>
        <p:sp>
          <p:nvSpPr>
            <p:cNvPr id="22823" name="Rectangle 292"/>
            <p:cNvSpPr>
              <a:spLocks noChangeArrowheads="1"/>
            </p:cNvSpPr>
            <p:nvPr/>
          </p:nvSpPr>
          <p:spPr bwMode="auto">
            <a:xfrm rot="-5400000">
              <a:off x="1747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1986</a:t>
              </a:r>
            </a:p>
          </p:txBody>
        </p:sp>
        <p:sp>
          <p:nvSpPr>
            <p:cNvPr id="22824" name="Rectangle 293"/>
            <p:cNvSpPr>
              <a:spLocks noChangeArrowheads="1"/>
            </p:cNvSpPr>
            <p:nvPr/>
          </p:nvSpPr>
          <p:spPr bwMode="auto">
            <a:xfrm rot="-5400000">
              <a:off x="1915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1987</a:t>
              </a:r>
            </a:p>
          </p:txBody>
        </p:sp>
        <p:sp>
          <p:nvSpPr>
            <p:cNvPr id="22825" name="Rectangle 294"/>
            <p:cNvSpPr>
              <a:spLocks noChangeArrowheads="1"/>
            </p:cNvSpPr>
            <p:nvPr/>
          </p:nvSpPr>
          <p:spPr bwMode="auto">
            <a:xfrm rot="-5400000">
              <a:off x="2083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1988</a:t>
              </a:r>
            </a:p>
          </p:txBody>
        </p:sp>
        <p:sp>
          <p:nvSpPr>
            <p:cNvPr id="22826" name="Rectangle 295"/>
            <p:cNvSpPr>
              <a:spLocks noChangeArrowheads="1"/>
            </p:cNvSpPr>
            <p:nvPr/>
          </p:nvSpPr>
          <p:spPr bwMode="auto">
            <a:xfrm rot="-5400000">
              <a:off x="2257" y="3154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1989</a:t>
              </a:r>
            </a:p>
          </p:txBody>
        </p:sp>
        <p:sp>
          <p:nvSpPr>
            <p:cNvPr id="22827" name="Rectangle 296"/>
            <p:cNvSpPr>
              <a:spLocks noChangeArrowheads="1"/>
            </p:cNvSpPr>
            <p:nvPr/>
          </p:nvSpPr>
          <p:spPr bwMode="auto">
            <a:xfrm rot="-5400000">
              <a:off x="2420" y="3212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1990</a:t>
              </a:r>
            </a:p>
          </p:txBody>
        </p:sp>
        <p:sp>
          <p:nvSpPr>
            <p:cNvPr id="22828" name="Rectangle 297"/>
            <p:cNvSpPr>
              <a:spLocks noChangeArrowheads="1"/>
            </p:cNvSpPr>
            <p:nvPr/>
          </p:nvSpPr>
          <p:spPr bwMode="auto">
            <a:xfrm rot="-5400000">
              <a:off x="2587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1991</a:t>
              </a:r>
            </a:p>
          </p:txBody>
        </p:sp>
        <p:sp>
          <p:nvSpPr>
            <p:cNvPr id="22829" name="Rectangle 298"/>
            <p:cNvSpPr>
              <a:spLocks noChangeArrowheads="1"/>
            </p:cNvSpPr>
            <p:nvPr/>
          </p:nvSpPr>
          <p:spPr bwMode="auto">
            <a:xfrm rot="-5400000">
              <a:off x="2763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1992</a:t>
              </a:r>
            </a:p>
          </p:txBody>
        </p:sp>
        <p:sp>
          <p:nvSpPr>
            <p:cNvPr id="22830" name="Rectangle 299"/>
            <p:cNvSpPr>
              <a:spLocks noChangeArrowheads="1"/>
            </p:cNvSpPr>
            <p:nvPr/>
          </p:nvSpPr>
          <p:spPr bwMode="auto">
            <a:xfrm rot="-5400000">
              <a:off x="2931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1993</a:t>
              </a:r>
            </a:p>
          </p:txBody>
        </p:sp>
        <p:sp>
          <p:nvSpPr>
            <p:cNvPr id="22831" name="Rectangle 300"/>
            <p:cNvSpPr>
              <a:spLocks noChangeArrowheads="1"/>
            </p:cNvSpPr>
            <p:nvPr/>
          </p:nvSpPr>
          <p:spPr bwMode="auto">
            <a:xfrm rot="-5400000">
              <a:off x="3099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1994</a:t>
              </a:r>
            </a:p>
          </p:txBody>
        </p:sp>
        <p:sp>
          <p:nvSpPr>
            <p:cNvPr id="22832" name="Rectangle 301"/>
            <p:cNvSpPr>
              <a:spLocks noChangeArrowheads="1"/>
            </p:cNvSpPr>
            <p:nvPr/>
          </p:nvSpPr>
          <p:spPr bwMode="auto">
            <a:xfrm rot="-5400000">
              <a:off x="3267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1995</a:t>
              </a:r>
            </a:p>
          </p:txBody>
        </p:sp>
        <p:sp>
          <p:nvSpPr>
            <p:cNvPr id="22833" name="Rectangle 302"/>
            <p:cNvSpPr>
              <a:spLocks noChangeArrowheads="1"/>
            </p:cNvSpPr>
            <p:nvPr/>
          </p:nvSpPr>
          <p:spPr bwMode="auto">
            <a:xfrm rot="-5400000">
              <a:off x="3435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1996</a:t>
              </a:r>
            </a:p>
          </p:txBody>
        </p:sp>
        <p:sp>
          <p:nvSpPr>
            <p:cNvPr id="22834" name="Rectangle 303"/>
            <p:cNvSpPr>
              <a:spLocks noChangeArrowheads="1"/>
            </p:cNvSpPr>
            <p:nvPr/>
          </p:nvSpPr>
          <p:spPr bwMode="auto">
            <a:xfrm rot="-5400000">
              <a:off x="3603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1997</a:t>
              </a:r>
            </a:p>
          </p:txBody>
        </p:sp>
        <p:sp>
          <p:nvSpPr>
            <p:cNvPr id="22835" name="Rectangle 304"/>
            <p:cNvSpPr>
              <a:spLocks noChangeArrowheads="1"/>
            </p:cNvSpPr>
            <p:nvPr/>
          </p:nvSpPr>
          <p:spPr bwMode="auto">
            <a:xfrm rot="-5400000">
              <a:off x="3771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1998</a:t>
              </a:r>
            </a:p>
          </p:txBody>
        </p:sp>
        <p:sp>
          <p:nvSpPr>
            <p:cNvPr id="22836" name="Rectangle 305"/>
            <p:cNvSpPr>
              <a:spLocks noChangeArrowheads="1"/>
            </p:cNvSpPr>
            <p:nvPr/>
          </p:nvSpPr>
          <p:spPr bwMode="auto">
            <a:xfrm rot="-5400000">
              <a:off x="3947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1999</a:t>
              </a:r>
            </a:p>
          </p:txBody>
        </p:sp>
        <p:sp>
          <p:nvSpPr>
            <p:cNvPr id="22837" name="Rectangle 306"/>
            <p:cNvSpPr>
              <a:spLocks noChangeArrowheads="1"/>
            </p:cNvSpPr>
            <p:nvPr/>
          </p:nvSpPr>
          <p:spPr bwMode="auto">
            <a:xfrm rot="-5400000">
              <a:off x="4115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2000</a:t>
              </a:r>
            </a:p>
          </p:txBody>
        </p:sp>
        <p:sp>
          <p:nvSpPr>
            <p:cNvPr id="22838" name="Rectangle 307"/>
            <p:cNvSpPr>
              <a:spLocks noChangeArrowheads="1"/>
            </p:cNvSpPr>
            <p:nvPr/>
          </p:nvSpPr>
          <p:spPr bwMode="auto">
            <a:xfrm>
              <a:off x="4231" y="2880"/>
              <a:ext cx="278" cy="1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700">
                  <a:solidFill>
                    <a:srgbClr val="000000"/>
                  </a:solidFill>
                </a:rPr>
                <a:t>DRAM</a:t>
              </a:r>
            </a:p>
          </p:txBody>
        </p:sp>
        <p:sp>
          <p:nvSpPr>
            <p:cNvPr id="22839" name="Rectangle 308"/>
            <p:cNvSpPr>
              <a:spLocks noChangeArrowheads="1"/>
            </p:cNvSpPr>
            <p:nvPr/>
          </p:nvSpPr>
          <p:spPr bwMode="auto">
            <a:xfrm>
              <a:off x="4303" y="1320"/>
              <a:ext cx="220" cy="12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700">
                  <a:solidFill>
                    <a:srgbClr val="000000"/>
                  </a:solidFill>
                  <a:latin typeface="Geneva" pitchFamily="-106" charset="0"/>
                </a:rPr>
                <a:t>CPU</a:t>
              </a:r>
            </a:p>
          </p:txBody>
        </p:sp>
        <p:sp>
          <p:nvSpPr>
            <p:cNvPr id="22840" name="Arc 309"/>
            <p:cNvSpPr>
              <a:spLocks/>
            </p:cNvSpPr>
            <p:nvPr/>
          </p:nvSpPr>
          <p:spPr bwMode="auto">
            <a:xfrm>
              <a:off x="4353" y="1211"/>
              <a:ext cx="352" cy="11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21599"/>
                  </a:moveTo>
                  <a:cubicBezTo>
                    <a:pt x="-1" y="9694"/>
                    <a:pt x="9633" y="33"/>
                    <a:pt x="21539" y="0"/>
                  </a:cubicBezTo>
                </a:path>
                <a:path w="21600" h="21600" stroke="0" extrusionOk="0">
                  <a:moveTo>
                    <a:pt x="-1" y="21599"/>
                  </a:moveTo>
                  <a:cubicBezTo>
                    <a:pt x="-1" y="9694"/>
                    <a:pt x="9633" y="33"/>
                    <a:pt x="2153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841" name="Rectangle 310"/>
            <p:cNvSpPr>
              <a:spLocks noChangeArrowheads="1"/>
            </p:cNvSpPr>
            <p:nvPr/>
          </p:nvSpPr>
          <p:spPr bwMode="auto">
            <a:xfrm rot="-5400000">
              <a:off x="1091" y="3240"/>
              <a:ext cx="50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200" b="1">
                  <a:latin typeface="Geneva" pitchFamily="-106" charset="0"/>
                </a:rPr>
                <a:t>1982</a:t>
              </a:r>
            </a:p>
          </p:txBody>
        </p:sp>
        <p:sp>
          <p:nvSpPr>
            <p:cNvPr id="22842" name="Line 311"/>
            <p:cNvSpPr>
              <a:spLocks noChangeShapeType="1"/>
            </p:cNvSpPr>
            <p:nvPr/>
          </p:nvSpPr>
          <p:spPr bwMode="auto">
            <a:xfrm>
              <a:off x="3819" y="1736"/>
              <a:ext cx="0" cy="1136"/>
            </a:xfrm>
            <a:prstGeom prst="line">
              <a:avLst/>
            </a:prstGeom>
            <a:noFill/>
            <a:ln w="25400">
              <a:solidFill>
                <a:srgbClr val="FC0128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843" name="Rectangle 312"/>
            <p:cNvSpPr>
              <a:spLocks noChangeArrowheads="1"/>
            </p:cNvSpPr>
            <p:nvPr/>
          </p:nvSpPr>
          <p:spPr bwMode="auto">
            <a:xfrm>
              <a:off x="3800" y="1859"/>
              <a:ext cx="1273" cy="51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b="1"/>
                <a:t>Processor-Memory</a:t>
              </a:r>
            </a:p>
            <a:p>
              <a:r>
                <a:rPr lang="en-US" sz="1600" b="1"/>
                <a:t>Performance Gap:</a:t>
              </a:r>
              <a:br>
                <a:rPr lang="en-US" sz="1600" b="1"/>
              </a:br>
              <a:r>
                <a:rPr lang="en-US" sz="1600" b="1"/>
                <a:t>(grows 50% / year)</a:t>
              </a:r>
            </a:p>
          </p:txBody>
        </p:sp>
        <p:sp>
          <p:nvSpPr>
            <p:cNvPr id="22844" name="Rectangle 313"/>
            <p:cNvSpPr>
              <a:spLocks noChangeArrowheads="1"/>
            </p:cNvSpPr>
            <p:nvPr/>
          </p:nvSpPr>
          <p:spPr bwMode="auto">
            <a:xfrm rot="-5400000">
              <a:off x="-123" y="2346"/>
              <a:ext cx="9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/>
                <a:t>Performance</a:t>
              </a:r>
            </a:p>
          </p:txBody>
        </p:sp>
        <p:sp>
          <p:nvSpPr>
            <p:cNvPr id="22845" name="Rectangle 314"/>
            <p:cNvSpPr>
              <a:spLocks noChangeArrowheads="1"/>
            </p:cNvSpPr>
            <p:nvPr/>
          </p:nvSpPr>
          <p:spPr bwMode="auto">
            <a:xfrm>
              <a:off x="2515" y="1476"/>
              <a:ext cx="925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>
                  <a:solidFill>
                    <a:srgbClr val="FC0128"/>
                  </a:solidFill>
                </a:rPr>
                <a:t>“Moore’s Law”</a:t>
              </a:r>
            </a:p>
          </p:txBody>
        </p:sp>
        <p:sp>
          <p:nvSpPr>
            <p:cNvPr id="22846" name="Rectangle 315"/>
            <p:cNvSpPr>
              <a:spLocks noChangeArrowheads="1"/>
            </p:cNvSpPr>
            <p:nvPr/>
          </p:nvSpPr>
          <p:spPr bwMode="auto">
            <a:xfrm>
              <a:off x="2448" y="2544"/>
              <a:ext cx="114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endParaRPr lang="en-US" sz="1600">
                <a:solidFill>
                  <a:srgbClr val="FC0128"/>
                </a:solidFill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5</a:t>
            </a:fld>
            <a:r>
              <a:rPr lang="en-US"/>
              <a:t> 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162800" cy="457200"/>
          </a:xfrm>
        </p:spPr>
        <p:txBody>
          <a:bodyPr/>
          <a:lstStyle/>
          <a:p>
            <a:pPr eaLnBrk="1" hangingPunct="1"/>
            <a:r>
              <a:rPr lang="en-US" dirty="0">
                <a:latin typeface="Arial  " charset="0"/>
                <a:cs typeface="Arial  " charset="0"/>
              </a:rPr>
              <a:t>Solution: Memory Hierarchy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4023957" y="2109124"/>
            <a:ext cx="760413" cy="36988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800" b="1">
                <a:cs typeface="Arial" pitchFamily="34" charset="0"/>
              </a:rPr>
              <a:t>Regs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3779482" y="2515524"/>
            <a:ext cx="1295400" cy="36988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800" b="1">
                <a:cs typeface="Arial" pitchFamily="34" charset="0"/>
              </a:rPr>
              <a:t>L1-Cache</a:t>
            </a: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3246082" y="2921924"/>
            <a:ext cx="2362200" cy="36988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800" b="1">
                <a:cs typeface="Arial" pitchFamily="34" charset="0"/>
              </a:rPr>
              <a:t>L2-Cache</a:t>
            </a: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2788882" y="3328324"/>
            <a:ext cx="3276600" cy="368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800" b="1">
                <a:cs typeface="Arial" pitchFamily="34" charset="0"/>
              </a:rPr>
              <a:t>Memory</a:t>
            </a: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2311045" y="3745836"/>
            <a:ext cx="4211637" cy="368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800" b="1">
                <a:cs typeface="Arial" pitchFamily="34" charset="0"/>
              </a:rPr>
              <a:t>Disk, Tape, etc.</a:t>
            </a:r>
          </a:p>
        </p:txBody>
      </p:sp>
      <p:sp>
        <p:nvSpPr>
          <p:cNvPr id="19465" name="AutoShape 9"/>
          <p:cNvSpPr>
            <a:spLocks noChangeArrowheads="1"/>
          </p:cNvSpPr>
          <p:nvPr/>
        </p:nvSpPr>
        <p:spPr bwMode="auto">
          <a:xfrm>
            <a:off x="1861782" y="2151986"/>
            <a:ext cx="381000" cy="1981200"/>
          </a:xfrm>
          <a:prstGeom prst="downArrow">
            <a:avLst>
              <a:gd name="adj1" fmla="val 50000"/>
              <a:gd name="adj2" fmla="val 13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466" name="AutoShape 10"/>
          <p:cNvSpPr>
            <a:spLocks noChangeArrowheads="1"/>
          </p:cNvSpPr>
          <p:nvPr/>
        </p:nvSpPr>
        <p:spPr bwMode="auto">
          <a:xfrm flipV="1">
            <a:off x="6497282" y="2139286"/>
            <a:ext cx="381000" cy="1981200"/>
          </a:xfrm>
          <a:prstGeom prst="downArrow">
            <a:avLst>
              <a:gd name="adj1" fmla="val 50000"/>
              <a:gd name="adj2" fmla="val 13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996595" y="3699799"/>
            <a:ext cx="915987" cy="3683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800" b="1">
                <a:cs typeface="Arial" pitchFamily="34" charset="0"/>
              </a:rPr>
              <a:t>Bigger</a:t>
            </a: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6837007" y="2063086"/>
            <a:ext cx="877888" cy="36988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800" b="1">
                <a:cs typeface="Arial" pitchFamily="34" charset="0"/>
              </a:rPr>
              <a:t>Faster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6</a:t>
            </a:fld>
            <a:r>
              <a:rPr lang="en-US"/>
              <a:t> 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264" y="1467852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CA" dirty="0"/>
              <a:t>Consider “SAXPY” loop:</a:t>
            </a:r>
          </a:p>
          <a:p>
            <a:pPr>
              <a:buNone/>
            </a:pPr>
            <a:endParaRPr lang="en-CA" dirty="0"/>
          </a:p>
          <a:p>
            <a:pPr>
              <a:buNone/>
            </a:pPr>
            <a:r>
              <a:rPr lang="en-CA" sz="1800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CA" sz="1800" dirty="0" err="1">
                <a:latin typeface="Courier New" pitchFamily="49" charset="0"/>
                <a:cs typeface="Courier New" pitchFamily="49" charset="0"/>
              </a:rPr>
              <a:t>saxpy</a:t>
            </a:r>
            <a:r>
              <a:rPr lang="en-CA" sz="1800" dirty="0">
                <a:latin typeface="Courier New" pitchFamily="49" charset="0"/>
                <a:cs typeface="Courier New" pitchFamily="49" charset="0"/>
              </a:rPr>
              <a:t>( float a, float *X, float *Y, unsigned N ) </a:t>
            </a:r>
          </a:p>
          <a:p>
            <a:pPr>
              <a:buNone/>
            </a:pPr>
            <a:r>
              <a:rPr lang="en-CA" sz="18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CA" sz="1800" dirty="0">
                <a:latin typeface="Courier New" pitchFamily="49" charset="0"/>
                <a:cs typeface="Courier New" pitchFamily="49" charset="0"/>
              </a:rPr>
              <a:t>	for( </a:t>
            </a:r>
            <a:r>
              <a:rPr lang="en-CA" sz="18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800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CA" sz="18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800" dirty="0"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CA" sz="18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800" dirty="0">
                <a:latin typeface="Courier New" pitchFamily="49" charset="0"/>
                <a:cs typeface="Courier New" pitchFamily="49" charset="0"/>
              </a:rPr>
              <a:t>++ ) </a:t>
            </a:r>
          </a:p>
          <a:p>
            <a:pPr>
              <a:buNone/>
            </a:pPr>
            <a:r>
              <a:rPr lang="en-CA" sz="1800" dirty="0">
                <a:latin typeface="Courier New" pitchFamily="49" charset="0"/>
                <a:cs typeface="Courier New" pitchFamily="49" charset="0"/>
              </a:rPr>
              <a:t>		Y[</a:t>
            </a:r>
            <a:r>
              <a:rPr lang="en-CA" sz="18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800" dirty="0">
                <a:latin typeface="Courier New" pitchFamily="49" charset="0"/>
                <a:cs typeface="Courier New" pitchFamily="49" charset="0"/>
              </a:rPr>
              <a:t>] = a*X[</a:t>
            </a:r>
            <a:r>
              <a:rPr lang="en-CA" sz="18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800" dirty="0">
                <a:latin typeface="Courier New" pitchFamily="49" charset="0"/>
                <a:cs typeface="Courier New" pitchFamily="49" charset="0"/>
              </a:rPr>
              <a:t>] + Y[</a:t>
            </a:r>
            <a:r>
              <a:rPr lang="en-CA" sz="18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800" dirty="0">
                <a:latin typeface="Courier New" pitchFamily="49" charset="0"/>
                <a:cs typeface="Courier New" pitchFamily="49" charset="0"/>
              </a:rPr>
              <a:t>]; </a:t>
            </a:r>
          </a:p>
          <a:p>
            <a:pPr>
              <a:buNone/>
            </a:pPr>
            <a:r>
              <a:rPr lang="en-CA" sz="18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CA" sz="18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CA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Two observations</a:t>
            </a:r>
            <a:r>
              <a:rPr lang="en-CA" dirty="0"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buNone/>
            </a:pPr>
            <a:r>
              <a:rPr lang="en-CA" dirty="0">
                <a:latin typeface="Arial" pitchFamily="34" charset="0"/>
                <a:cs typeface="Arial" pitchFamily="34" charset="0"/>
              </a:rPr>
              <a:t>1. Read then write Y[</a:t>
            </a:r>
            <a:r>
              <a:rPr lang="en-CA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CA" dirty="0">
                <a:latin typeface="Arial" pitchFamily="34" charset="0"/>
                <a:cs typeface="Arial" pitchFamily="34" charset="0"/>
              </a:rPr>
              <a:t>] (</a:t>
            </a:r>
            <a:r>
              <a:rPr lang="en-CA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temporal locality</a:t>
            </a:r>
            <a:r>
              <a:rPr lang="en-CA" dirty="0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buNone/>
            </a:pPr>
            <a:r>
              <a:rPr lang="en-CA" dirty="0">
                <a:latin typeface="Arial" pitchFamily="34" charset="0"/>
                <a:cs typeface="Arial" pitchFamily="34" charset="0"/>
              </a:rPr>
              <a:t>2. Read X[0], then X[1], then X[2] (</a:t>
            </a:r>
            <a:r>
              <a:rPr lang="en-CA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spatial locality</a:t>
            </a:r>
            <a:r>
              <a:rPr lang="en-CA" dirty="0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buNone/>
            </a:pPr>
            <a:endParaRPr lang="en-CA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CA" dirty="0"/>
              <a:t>What do real programs do?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7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72921" y="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Arial  " charset="0"/>
                <a:cs typeface="Arial  " charset="0"/>
              </a:rPr>
              <a:t>A Silly Locality Analogy</a:t>
            </a:r>
          </a:p>
        </p:txBody>
      </p:sp>
      <p:pic>
        <p:nvPicPr>
          <p:cNvPr id="20484" name="Picture 4" descr="18tallBooksstacks_ful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1828800"/>
            <a:ext cx="2324100" cy="291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5" name="Picture 7" descr="740899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02138" y="3848100"/>
            <a:ext cx="1182687" cy="154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6" name="Text Box 8"/>
          <p:cNvSpPr txBox="1">
            <a:spLocks noChangeArrowheads="1"/>
          </p:cNvSpPr>
          <p:nvPr/>
        </p:nvSpPr>
        <p:spPr bwMode="auto">
          <a:xfrm>
            <a:off x="3810000" y="2438400"/>
            <a:ext cx="5029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cs typeface="Arial" pitchFamily="34" charset="0"/>
              </a:rPr>
              <a:t>Slow RAM: Is book in UBC library?</a:t>
            </a:r>
            <a:endParaRPr lang="en-US" dirty="0">
              <a:cs typeface="Arial" pitchFamily="34" charset="0"/>
            </a:endParaRPr>
          </a:p>
        </p:txBody>
      </p:sp>
      <p:sp>
        <p:nvSpPr>
          <p:cNvPr id="20487" name="Text Box 9"/>
          <p:cNvSpPr txBox="1">
            <a:spLocks noChangeArrowheads="1"/>
          </p:cNvSpPr>
          <p:nvPr/>
        </p:nvSpPr>
        <p:spPr bwMode="auto">
          <a:xfrm>
            <a:off x="3810000" y="1828800"/>
            <a:ext cx="4724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cs typeface="Arial" pitchFamily="34" charset="0"/>
              </a:rPr>
              <a:t>Fast RAM: Is book I want in backpack?</a:t>
            </a:r>
            <a:endParaRPr lang="en-US" dirty="0">
              <a:cs typeface="Arial" pitchFamily="34" charset="0"/>
            </a:endParaRPr>
          </a:p>
        </p:txBody>
      </p:sp>
      <p:sp>
        <p:nvSpPr>
          <p:cNvPr id="20488" name="Text Box 10"/>
          <p:cNvSpPr txBox="1">
            <a:spLocks noChangeArrowheads="1"/>
          </p:cNvSpPr>
          <p:nvPr/>
        </p:nvSpPr>
        <p:spPr bwMode="auto">
          <a:xfrm>
            <a:off x="3822700" y="3048000"/>
            <a:ext cx="4724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cs typeface="Arial" pitchFamily="34" charset="0"/>
              </a:rPr>
              <a:t>Disk:  inter-library loan (or chapters.ca)</a:t>
            </a:r>
            <a:endParaRPr lang="en-US" dirty="0">
              <a:cs typeface="Arial" pitchFamily="34" charset="0"/>
            </a:endParaRPr>
          </a:p>
        </p:txBody>
      </p:sp>
      <p:sp>
        <p:nvSpPr>
          <p:cNvPr id="20489" name="TextBox 14"/>
          <p:cNvSpPr txBox="1">
            <a:spLocks noChangeArrowheads="1"/>
          </p:cNvSpPr>
          <p:nvPr/>
        </p:nvSpPr>
        <p:spPr bwMode="auto">
          <a:xfrm>
            <a:off x="5773738" y="3695700"/>
            <a:ext cx="2896114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 dirty="0"/>
              <a:t>Temporal Locality </a:t>
            </a:r>
            <a:r>
              <a:rPr lang="en-US" sz="1600" u="sng" dirty="0"/>
              <a:t>(analogy):</a:t>
            </a:r>
          </a:p>
          <a:p>
            <a:r>
              <a:rPr lang="en-US" sz="1600" dirty="0"/>
              <a:t>If use book once, likely to </a:t>
            </a:r>
          </a:p>
          <a:p>
            <a:r>
              <a:rPr lang="en-US" sz="1600" dirty="0"/>
              <a:t>use it again soon.  </a:t>
            </a:r>
          </a:p>
          <a:p>
            <a:endParaRPr lang="en-US" sz="1600" dirty="0"/>
          </a:p>
          <a:p>
            <a:r>
              <a:rPr lang="en-US" sz="1600" b="1" u="sng" dirty="0"/>
              <a:t>Spatial Locality </a:t>
            </a:r>
            <a:r>
              <a:rPr lang="en-US" sz="1600" u="sng" dirty="0"/>
              <a:t>(analogy)</a:t>
            </a:r>
            <a:r>
              <a:rPr lang="en-US" sz="1600" dirty="0"/>
              <a:t>:</a:t>
            </a:r>
          </a:p>
          <a:p>
            <a:r>
              <a:rPr lang="en-US" sz="1600" dirty="0"/>
              <a:t>If last time went to library</a:t>
            </a:r>
          </a:p>
          <a:p>
            <a:r>
              <a:rPr lang="en-US" sz="1600" dirty="0"/>
              <a:t>borrowed book on “mystery </a:t>
            </a:r>
          </a:p>
          <a:p>
            <a:r>
              <a:rPr lang="en-US" sz="1600" dirty="0"/>
              <a:t>novels” next time likely get </a:t>
            </a:r>
          </a:p>
          <a:p>
            <a:r>
              <a:rPr lang="en-US" sz="1600" dirty="0"/>
              <a:t>another book from same </a:t>
            </a:r>
          </a:p>
          <a:p>
            <a:r>
              <a:rPr lang="en-US" sz="1600" dirty="0"/>
              <a:t>section.</a:t>
            </a:r>
          </a:p>
          <a:p>
            <a:endParaRPr lang="en-US" sz="1600" dirty="0"/>
          </a:p>
        </p:txBody>
      </p:sp>
      <p:pic>
        <p:nvPicPr>
          <p:cNvPr id="20491" name="Picture 5" descr="backpack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33800" y="3657600"/>
            <a:ext cx="94615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92" name="Freeform 6"/>
          <p:cNvSpPr>
            <a:spLocks/>
          </p:cNvSpPr>
          <p:nvPr/>
        </p:nvSpPr>
        <p:spPr bwMode="auto">
          <a:xfrm>
            <a:off x="1905000" y="3314700"/>
            <a:ext cx="2057400" cy="495300"/>
          </a:xfrm>
          <a:custGeom>
            <a:avLst/>
            <a:gdLst>
              <a:gd name="T0" fmla="*/ 0 w 1296"/>
              <a:gd name="T1" fmla="*/ 2147483647 h 312"/>
              <a:gd name="T2" fmla="*/ 2147483647 w 1296"/>
              <a:gd name="T3" fmla="*/ 2147483647 h 312"/>
              <a:gd name="T4" fmla="*/ 2147483647 w 1296"/>
              <a:gd name="T5" fmla="*/ 2147483647 h 312"/>
              <a:gd name="T6" fmla="*/ 0 60000 65536"/>
              <a:gd name="T7" fmla="*/ 0 60000 65536"/>
              <a:gd name="T8" fmla="*/ 0 60000 65536"/>
              <a:gd name="T9" fmla="*/ 0 w 1296"/>
              <a:gd name="T10" fmla="*/ 0 h 312"/>
              <a:gd name="T11" fmla="*/ 1296 w 1296"/>
              <a:gd name="T12" fmla="*/ 312 h 3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312">
                <a:moveTo>
                  <a:pt x="0" y="168"/>
                </a:moveTo>
                <a:cubicBezTo>
                  <a:pt x="252" y="84"/>
                  <a:pt x="504" y="0"/>
                  <a:pt x="720" y="24"/>
                </a:cubicBezTo>
                <a:cubicBezTo>
                  <a:pt x="936" y="48"/>
                  <a:pt x="1116" y="180"/>
                  <a:pt x="1296" y="31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8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022684"/>
          </a:xfrm>
        </p:spPr>
        <p:txBody>
          <a:bodyPr/>
          <a:lstStyle/>
          <a:p>
            <a:r>
              <a:rPr lang="en-CA" dirty="0"/>
              <a:t>Temporal Locality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705" y="1118933"/>
            <a:ext cx="7772400" cy="5414214"/>
          </a:xfrm>
        </p:spPr>
        <p:txBody>
          <a:bodyPr/>
          <a:lstStyle/>
          <a:p>
            <a:pPr>
              <a:buNone/>
            </a:pPr>
            <a:r>
              <a:rPr lang="en-CA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CA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Temporal Locality</a:t>
            </a:r>
            <a:r>
              <a:rPr lang="en-CA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: After accessing single location once the program accesses it again. </a:t>
            </a:r>
          </a:p>
          <a:p>
            <a:pPr>
              <a:buNone/>
            </a:pPr>
            <a:endParaRPr lang="en-CA" sz="12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CA" dirty="0">
                <a:latin typeface="Arial" pitchFamily="34" charset="0"/>
                <a:cs typeface="Arial" pitchFamily="34" charset="0"/>
              </a:rPr>
              <a:t>	Example: </a:t>
            </a:r>
            <a:r>
              <a:rPr lang="en-CA" sz="2400" dirty="0">
                <a:latin typeface="Courier New" pitchFamily="49" charset="0"/>
                <a:cs typeface="Courier New" pitchFamily="49" charset="0"/>
              </a:rPr>
              <a:t>Y[</a:t>
            </a:r>
            <a:r>
              <a:rPr lang="en-CA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2400" dirty="0">
                <a:latin typeface="Courier New" pitchFamily="49" charset="0"/>
                <a:cs typeface="Courier New" pitchFamily="49" charset="0"/>
              </a:rPr>
              <a:t>] = a*X[</a:t>
            </a:r>
            <a:r>
              <a:rPr lang="en-CA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2400" dirty="0">
                <a:latin typeface="Courier New" pitchFamily="49" charset="0"/>
                <a:cs typeface="Courier New" pitchFamily="49" charset="0"/>
              </a:rPr>
              <a:t>] + Y[</a:t>
            </a:r>
            <a:r>
              <a:rPr lang="en-CA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2400" dirty="0">
                <a:latin typeface="Courier New" pitchFamily="49" charset="0"/>
                <a:cs typeface="Courier New" pitchFamily="49" charset="0"/>
              </a:rPr>
              <a:t>];</a:t>
            </a:r>
            <a:endParaRPr lang="en-CA" sz="2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CA" sz="1800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CA" sz="1800" dirty="0">
                <a:latin typeface="Courier New" pitchFamily="49" charset="0"/>
                <a:cs typeface="Courier New" pitchFamily="49" charset="0"/>
              </a:rPr>
              <a:t>1:</a:t>
            </a:r>
            <a:r>
              <a:rPr lang="en-CA" sz="1800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1800" dirty="0">
                <a:latin typeface="Courier New" pitchFamily="49" charset="0"/>
                <a:cs typeface="Courier New" pitchFamily="49" charset="0"/>
              </a:rPr>
              <a:t>FLDS	S3,[R1] 	       ; read X[</a:t>
            </a:r>
            <a:r>
              <a:rPr lang="en-CA" sz="18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800" dirty="0">
                <a:latin typeface="Courier New" pitchFamily="49" charset="0"/>
                <a:cs typeface="Courier New" pitchFamily="49" charset="0"/>
              </a:rPr>
              <a:t>]</a:t>
            </a:r>
          </a:p>
          <a:p>
            <a:pPr>
              <a:buNone/>
            </a:pPr>
            <a:r>
              <a:rPr lang="en-CA" sz="1800" dirty="0">
                <a:latin typeface="Courier New" pitchFamily="49" charset="0"/>
                <a:cs typeface="Courier New" pitchFamily="49" charset="0"/>
              </a:rPr>
              <a:t>		2:	FMULS 	S5,S3,S4 	       ; a*X[</a:t>
            </a:r>
            <a:r>
              <a:rPr lang="en-CA" sz="18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800" dirty="0">
                <a:latin typeface="Courier New" pitchFamily="49" charset="0"/>
                <a:cs typeface="Courier New" pitchFamily="49" charset="0"/>
              </a:rPr>
              <a:t>]</a:t>
            </a:r>
          </a:p>
          <a:p>
            <a:pPr>
              <a:buNone/>
            </a:pPr>
            <a:r>
              <a:rPr lang="en-CA" sz="18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CA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3:</a:t>
            </a:r>
            <a:r>
              <a:rPr lang="en-CA" sz="1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FLDS 	S6,[R2] 	       ; read Y[</a:t>
            </a:r>
            <a:r>
              <a:rPr lang="en-CA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</a:p>
          <a:p>
            <a:pPr>
              <a:buNone/>
            </a:pPr>
            <a:r>
              <a:rPr lang="en-CA" sz="1800" dirty="0">
                <a:latin typeface="Courier New" pitchFamily="49" charset="0"/>
                <a:cs typeface="Courier New" pitchFamily="49" charset="0"/>
              </a:rPr>
              <a:t>		4:	FADDS 	S7,S5,S6 	       ; a*X[</a:t>
            </a:r>
            <a:r>
              <a:rPr lang="en-CA" sz="18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800" dirty="0">
                <a:latin typeface="Courier New" pitchFamily="49" charset="0"/>
                <a:cs typeface="Courier New" pitchFamily="49" charset="0"/>
              </a:rPr>
              <a:t>]+Y[</a:t>
            </a:r>
            <a:r>
              <a:rPr lang="en-CA" sz="18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800" dirty="0">
                <a:latin typeface="Courier New" pitchFamily="49" charset="0"/>
                <a:cs typeface="Courier New" pitchFamily="49" charset="0"/>
              </a:rPr>
              <a:t>]</a:t>
            </a:r>
          </a:p>
          <a:p>
            <a:pPr>
              <a:buNone/>
            </a:pPr>
            <a:r>
              <a:rPr lang="en-CA" sz="18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CA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5:</a:t>
            </a:r>
            <a:r>
              <a:rPr lang="en-CA" sz="1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FSTS	S7,[R2] 	       ; write Y[</a:t>
            </a:r>
            <a:r>
              <a:rPr lang="en-CA" sz="1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]</a:t>
            </a:r>
            <a:endParaRPr lang="en-CA" sz="1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CA" sz="20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CA" dirty="0">
                <a:latin typeface="Arial" pitchFamily="34" charset="0"/>
                <a:cs typeface="Arial" pitchFamily="34" charset="0"/>
              </a:rPr>
              <a:t>	line 3: </a:t>
            </a:r>
            <a:r>
              <a:rPr lang="en-CA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n-CA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Y[</a:t>
            </a:r>
            <a:r>
              <a:rPr lang="en-CA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CA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endParaRPr lang="en-CA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CA" dirty="0">
                <a:latin typeface="Arial" pitchFamily="34" charset="0"/>
                <a:cs typeface="Arial" pitchFamily="34" charset="0"/>
              </a:rPr>
              <a:t>	line 5: </a:t>
            </a:r>
            <a:r>
              <a:rPr lang="en-CA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write </a:t>
            </a:r>
            <a:r>
              <a:rPr lang="en-CA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Y[</a:t>
            </a:r>
            <a:r>
              <a:rPr lang="en-CA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CA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] </a:t>
            </a:r>
            <a:r>
              <a:rPr lang="en-CA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(note: same location)</a:t>
            </a:r>
            <a:endParaRPr lang="en-CA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CA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9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070811"/>
          </a:xfrm>
        </p:spPr>
        <p:txBody>
          <a:bodyPr/>
          <a:lstStyle/>
          <a:p>
            <a:r>
              <a:rPr lang="en-CA" dirty="0"/>
              <a:t>Exploiting Temporal Locality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769" y="1118936"/>
            <a:ext cx="7772400" cy="1888958"/>
          </a:xfrm>
        </p:spPr>
        <p:txBody>
          <a:bodyPr/>
          <a:lstStyle/>
          <a:p>
            <a:pPr>
              <a:buNone/>
            </a:pPr>
            <a:r>
              <a:rPr lang="en-CA" dirty="0">
                <a:latin typeface="Arial" pitchFamily="34" charset="0"/>
                <a:cs typeface="Arial" pitchFamily="34" charset="0"/>
              </a:rPr>
              <a:t>	Idea: When accessing location (address) make copy of data in small fast memory.  If there is </a:t>
            </a:r>
            <a:r>
              <a:rPr lang="en-CA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temporal locality </a:t>
            </a:r>
            <a:r>
              <a:rPr lang="en-CA" dirty="0">
                <a:latin typeface="Arial" pitchFamily="34" charset="0"/>
                <a:cs typeface="Arial" pitchFamily="34" charset="0"/>
              </a:rPr>
              <a:t>program will (likely) try to access the same data again soon.</a:t>
            </a:r>
          </a:p>
        </p:txBody>
      </p:sp>
      <p:pic>
        <p:nvPicPr>
          <p:cNvPr id="5" name="Picture 8" descr="Figure_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8852" y="3241340"/>
            <a:ext cx="2698750" cy="269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618165" y="4062078"/>
            <a:ext cx="101600" cy="96837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2134102" y="5382878"/>
            <a:ext cx="101600" cy="889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801979" y="5354052"/>
            <a:ext cx="2872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Large slow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7969" y="4002506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Small fast memory</a:t>
            </a:r>
          </a:p>
        </p:txBody>
      </p:sp>
      <p:sp>
        <p:nvSpPr>
          <p:cNvPr id="12" name="Freeform 13"/>
          <p:cNvSpPr>
            <a:spLocks/>
          </p:cNvSpPr>
          <p:nvPr/>
        </p:nvSpPr>
        <p:spPr bwMode="auto">
          <a:xfrm>
            <a:off x="930526" y="4159585"/>
            <a:ext cx="1062037" cy="1231900"/>
          </a:xfrm>
          <a:custGeom>
            <a:avLst/>
            <a:gdLst>
              <a:gd name="T0" fmla="*/ 2147483647 w 669"/>
              <a:gd name="T1" fmla="*/ 2147483647 h 800"/>
              <a:gd name="T2" fmla="*/ 2147483647 w 669"/>
              <a:gd name="T3" fmla="*/ 2147483647 h 800"/>
              <a:gd name="T4" fmla="*/ 2147483647 w 669"/>
              <a:gd name="T5" fmla="*/ 0 h 800"/>
              <a:gd name="T6" fmla="*/ 0 60000 65536"/>
              <a:gd name="T7" fmla="*/ 0 60000 65536"/>
              <a:gd name="T8" fmla="*/ 0 60000 65536"/>
              <a:gd name="T9" fmla="*/ 0 w 669"/>
              <a:gd name="T10" fmla="*/ 0 h 800"/>
              <a:gd name="T11" fmla="*/ 669 w 669"/>
              <a:gd name="T12" fmla="*/ 800 h 8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69" h="800">
                <a:moveTo>
                  <a:pt x="669" y="800"/>
                </a:moveTo>
                <a:cubicBezTo>
                  <a:pt x="379" y="738"/>
                  <a:pt x="90" y="677"/>
                  <a:pt x="45" y="544"/>
                </a:cubicBezTo>
                <a:cubicBezTo>
                  <a:pt x="0" y="411"/>
                  <a:pt x="198" y="205"/>
                  <a:pt x="397" y="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13" name="TextBox 12"/>
          <p:cNvSpPr txBox="1"/>
          <p:nvPr/>
        </p:nvSpPr>
        <p:spPr>
          <a:xfrm>
            <a:off x="433137" y="4162925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Y[0]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10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is data transferred?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87379"/>
            <a:ext cx="7772400" cy="4724400"/>
          </a:xfrm>
        </p:spPr>
        <p:txBody>
          <a:bodyPr/>
          <a:lstStyle/>
          <a:p>
            <a:r>
              <a:rPr lang="en-CA" dirty="0"/>
              <a:t>Option 1: Software moves data</a:t>
            </a:r>
          </a:p>
          <a:p>
            <a:pPr lvl="1"/>
            <a:r>
              <a:rPr lang="en-CA" dirty="0"/>
              <a:t>Small fast RAM called a “scratchpad” memory</a:t>
            </a:r>
          </a:p>
          <a:p>
            <a:pPr lvl="1"/>
            <a:r>
              <a:rPr lang="en-CA" dirty="0"/>
              <a:t>Used by recent GPUs</a:t>
            </a:r>
          </a:p>
          <a:p>
            <a:pPr lvl="1"/>
            <a:r>
              <a:rPr lang="en-CA" dirty="0"/>
              <a:t>Typically, the programmer must decide when to move data between slow big memory and fast small memory. Add extra code to move data.  </a:t>
            </a:r>
          </a:p>
          <a:p>
            <a:pPr lvl="1"/>
            <a:r>
              <a:rPr lang="en-CA" dirty="0">
                <a:solidFill>
                  <a:srgbClr val="0000FF"/>
                </a:solidFill>
              </a:rPr>
              <a:t>Benefits:  Programmer can optimize what to put in fast memory and when.</a:t>
            </a:r>
          </a:p>
          <a:p>
            <a:pPr lvl="1"/>
            <a:r>
              <a:rPr lang="en-CA" dirty="0">
                <a:solidFill>
                  <a:srgbClr val="FF0000"/>
                </a:solidFill>
              </a:rPr>
              <a:t>Drawbacks:  More work for programmer</a:t>
            </a:r>
            <a:endParaRPr lang="en-CA" dirty="0"/>
          </a:p>
          <a:p>
            <a:r>
              <a:rPr lang="en-CA" dirty="0"/>
              <a:t>Option 2: Hardware managed </a:t>
            </a:r>
            <a:r>
              <a:rPr lang="en-CA" u="sng" dirty="0"/>
              <a:t>cache</a:t>
            </a:r>
          </a:p>
          <a:p>
            <a:pPr lvl="1"/>
            <a:r>
              <a:rPr lang="en-CA" dirty="0"/>
              <a:t>Most CPUs take this approach.  Our focus.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11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CA" dirty="0"/>
              <a:t>Hardware managed cache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981074"/>
          </a:xfrm>
        </p:spPr>
        <p:txBody>
          <a:bodyPr/>
          <a:lstStyle/>
          <a:p>
            <a:r>
              <a:rPr lang="en-CA" dirty="0"/>
              <a:t>We will have hardware automatically copy data to “cache” when program accesses the location holding that data.</a:t>
            </a:r>
          </a:p>
          <a:p>
            <a:pPr lvl="1"/>
            <a:endParaRPr lang="en-CA" dirty="0"/>
          </a:p>
          <a:p>
            <a:r>
              <a:rPr lang="en-CA" dirty="0"/>
              <a:t>Problem: Need mechanism for hardware to find data next time program accesses it.</a:t>
            </a:r>
          </a:p>
          <a:p>
            <a:endParaRPr lang="en-CA" dirty="0"/>
          </a:p>
          <a:p>
            <a:r>
              <a:rPr lang="en-CA" dirty="0"/>
              <a:t>Solution: Save address (“tag”) in cache along with copy of the data at that address.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12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98500" y="0"/>
            <a:ext cx="7772400" cy="1143000"/>
          </a:xfrm>
        </p:spPr>
        <p:txBody>
          <a:bodyPr/>
          <a:lstStyle/>
          <a:p>
            <a:r>
              <a:rPr lang="en-CA" dirty="0">
                <a:latin typeface="Arial  " charset="0"/>
                <a:cs typeface="Arial  " charset="0"/>
              </a:rPr>
              <a:t>Example</a:t>
            </a:r>
            <a:endParaRPr lang="en-CA" dirty="0">
              <a:solidFill>
                <a:srgbClr val="FF0000"/>
              </a:solidFill>
              <a:latin typeface="Arial  " charset="0"/>
              <a:cs typeface="Arial  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91572" y="1119115"/>
            <a:ext cx="78201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CA" dirty="0">
                <a:cs typeface="Arial" pitchFamily="34" charset="0"/>
              </a:rPr>
              <a:t>Show cache contents when executing following code on “fully associative” data cache with two 4 byte blocks.</a:t>
            </a:r>
          </a:p>
          <a:p>
            <a:pPr>
              <a:buNone/>
            </a:pPr>
            <a:endParaRPr lang="en-CA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CA" dirty="0">
                <a:latin typeface="Courier New" pitchFamily="49" charset="0"/>
                <a:cs typeface="Courier New" pitchFamily="49" charset="0"/>
              </a:rPr>
              <a:t>	FLDS 		S3,[R2]    ; read Y[</a:t>
            </a:r>
            <a:r>
              <a:rPr lang="en-CA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dirty="0">
                <a:latin typeface="Courier New" pitchFamily="49" charset="0"/>
                <a:cs typeface="Courier New" pitchFamily="49" charset="0"/>
              </a:rPr>
              <a:t>]</a:t>
            </a:r>
          </a:p>
          <a:p>
            <a:pPr>
              <a:buNone/>
            </a:pPr>
            <a:r>
              <a:rPr lang="en-CA" dirty="0">
                <a:latin typeface="Courier New" pitchFamily="49" charset="0"/>
                <a:cs typeface="Courier New" pitchFamily="49" charset="0"/>
              </a:rPr>
              <a:t>	FADDS 	S4,S2,S3 	 ; a*X[</a:t>
            </a:r>
            <a:r>
              <a:rPr lang="en-CA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dirty="0">
                <a:latin typeface="Courier New" pitchFamily="49" charset="0"/>
                <a:cs typeface="Courier New" pitchFamily="49" charset="0"/>
              </a:rPr>
              <a:t>]+Y[</a:t>
            </a:r>
            <a:r>
              <a:rPr lang="en-CA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dirty="0">
                <a:latin typeface="Courier New" pitchFamily="49" charset="0"/>
                <a:cs typeface="Courier New" pitchFamily="49" charset="0"/>
              </a:rPr>
              <a:t>]</a:t>
            </a:r>
          </a:p>
          <a:p>
            <a:pPr>
              <a:buNone/>
            </a:pPr>
            <a:r>
              <a:rPr lang="en-CA" dirty="0">
                <a:latin typeface="Courier New" pitchFamily="49" charset="0"/>
                <a:cs typeface="Courier New" pitchFamily="49" charset="0"/>
              </a:rPr>
              <a:t>	FSTS		S4,[R2]    ; write Y[</a:t>
            </a:r>
            <a:r>
              <a:rPr lang="en-CA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CA" dirty="0">
                <a:latin typeface="Courier New" pitchFamily="49" charset="0"/>
                <a:cs typeface="Courier New" pitchFamily="49" charset="0"/>
              </a:rPr>
              <a:t>]</a:t>
            </a:r>
            <a:endParaRPr lang="en-CA" dirty="0">
              <a:cs typeface="Arial" pitchFamily="34" charset="0"/>
            </a:endParaRPr>
          </a:p>
          <a:p>
            <a:endParaRPr lang="en-CA" dirty="0">
              <a:cs typeface="Arial" pitchFamily="34" charset="0"/>
            </a:endParaRPr>
          </a:p>
          <a:p>
            <a:r>
              <a:rPr lang="en-CA" dirty="0">
                <a:cs typeface="Arial" pitchFamily="34" charset="0"/>
              </a:rPr>
              <a:t>Initially: </a:t>
            </a:r>
            <a:r>
              <a:rPr lang="en-CA" dirty="0" err="1">
                <a:cs typeface="Arial" pitchFamily="34" charset="0"/>
              </a:rPr>
              <a:t>Regs</a:t>
            </a:r>
            <a:r>
              <a:rPr lang="en-CA" dirty="0">
                <a:cs typeface="Arial" pitchFamily="34" charset="0"/>
              </a:rPr>
              <a:t>[R2]=0x8, </a:t>
            </a:r>
            <a:r>
              <a:rPr lang="en-CA" dirty="0" err="1">
                <a:cs typeface="Arial" pitchFamily="34" charset="0"/>
              </a:rPr>
              <a:t>Regs</a:t>
            </a:r>
            <a:r>
              <a:rPr lang="en-CA" dirty="0">
                <a:cs typeface="Arial" pitchFamily="34" charset="0"/>
              </a:rPr>
              <a:t>[S2]=78.2, memory state:</a:t>
            </a:r>
          </a:p>
          <a:p>
            <a:endParaRPr lang="en-CA" b="1" dirty="0"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84" name="Table 83"/>
          <p:cNvGraphicFramePr>
            <a:graphicFrameLocks noGrp="1"/>
          </p:cNvGraphicFramePr>
          <p:nvPr/>
        </p:nvGraphicFramePr>
        <p:xfrm>
          <a:off x="880938" y="4401403"/>
          <a:ext cx="6320592" cy="18288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44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1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852">
                <a:tc>
                  <a:txBody>
                    <a:bodyPr/>
                    <a:lstStyle/>
                    <a:p>
                      <a:pPr algn="l"/>
                      <a:r>
                        <a:rPr lang="en-CA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Memory contents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800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Description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852">
                <a:tc>
                  <a:txBody>
                    <a:bodyPr/>
                    <a:lstStyle/>
                    <a:p>
                      <a:pPr algn="l"/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C4 7A 00 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Y[3] = </a:t>
                      </a:r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-1000.0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852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40 2D F8 54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Y[2] = 2.718282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852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40 49 0F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Y[1]</a:t>
                      </a:r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= 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3.141593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852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42 28 00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Y[0] = 42.0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5" name="Rectangle 84"/>
          <p:cNvSpPr/>
          <p:nvPr/>
        </p:nvSpPr>
        <p:spPr bwMode="auto">
          <a:xfrm>
            <a:off x="2674959" y="4786920"/>
            <a:ext cx="1828801" cy="1405720"/>
          </a:xfrm>
          <a:prstGeom prst="rect">
            <a:avLst/>
          </a:prstGeom>
          <a:solidFill>
            <a:schemeClr val="accent1">
              <a:alpha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13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Example, continued…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3166281"/>
            <a:ext cx="7772400" cy="3084422"/>
          </a:xfrm>
        </p:spPr>
        <p:txBody>
          <a:bodyPr/>
          <a:lstStyle/>
          <a:p>
            <a:r>
              <a:rPr lang="en-CA" dirty="0"/>
              <a:t>Each row in cache contains four fields: </a:t>
            </a:r>
          </a:p>
          <a:p>
            <a:pPr lvl="1"/>
            <a:r>
              <a:rPr lang="en-CA" dirty="0"/>
              <a:t>“data” holds copy of memory data</a:t>
            </a:r>
          </a:p>
          <a:p>
            <a:pPr lvl="1"/>
            <a:r>
              <a:rPr lang="en-CA" dirty="0"/>
              <a:t>“tag” indicates address associated with data</a:t>
            </a:r>
          </a:p>
          <a:p>
            <a:pPr lvl="1"/>
            <a:r>
              <a:rPr lang="en-CA" dirty="0"/>
              <a:t>“modified” indicates if data in cache was written to since copying from memory</a:t>
            </a:r>
          </a:p>
          <a:p>
            <a:pPr lvl="1"/>
            <a:r>
              <a:rPr lang="en-CA" dirty="0"/>
              <a:t>“valid” indicates the row contains valid information.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00252" y="1446621"/>
            <a:ext cx="5868537" cy="1294752"/>
          </a:xfrm>
          <a:prstGeom prst="rect">
            <a:avLst/>
          </a:prstGeom>
          <a:solidFill>
            <a:schemeClr val="accent1">
              <a:alpha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0337" y="1502500"/>
          <a:ext cx="5290068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0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2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valid?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modified?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tag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data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78221" y="1670930"/>
            <a:ext cx="26717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00FF"/>
                </a:solidFill>
              </a:rPr>
              <a:t>cache holding two </a:t>
            </a:r>
            <a:r>
              <a:rPr lang="en-CA">
                <a:solidFill>
                  <a:srgbClr val="0000FF"/>
                </a:solidFill>
              </a:rPr>
              <a:t>4-byte “blocks”</a:t>
            </a:r>
            <a:endParaRPr lang="en-CA" dirty="0">
              <a:solidFill>
                <a:srgbClr val="0000FF"/>
              </a:solidFill>
            </a:endParaRPr>
          </a:p>
        </p:txBody>
      </p:sp>
      <p:cxnSp>
        <p:nvCxnSpPr>
          <p:cNvPr id="8" name="Straight Arrow Connector 7"/>
          <p:cNvCxnSpPr>
            <a:stCxn id="7" idx="1"/>
            <a:endCxn id="5" idx="3"/>
          </p:cNvCxnSpPr>
          <p:nvPr/>
        </p:nvCxnSpPr>
        <p:spPr bwMode="auto">
          <a:xfrm flipH="1">
            <a:off x="6168789" y="2086429"/>
            <a:ext cx="409432" cy="75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14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98500" y="0"/>
            <a:ext cx="7772400" cy="1143000"/>
          </a:xfrm>
        </p:spPr>
        <p:txBody>
          <a:bodyPr/>
          <a:lstStyle/>
          <a:p>
            <a:r>
              <a:rPr lang="en-CA" dirty="0">
                <a:latin typeface="Arial  " charset="0"/>
                <a:cs typeface="Arial  " charset="0"/>
              </a:rPr>
              <a:t>Example, continued</a:t>
            </a:r>
            <a:endParaRPr lang="en-CA" dirty="0">
              <a:solidFill>
                <a:srgbClr val="FF0000"/>
              </a:solidFill>
              <a:latin typeface="Arial  " charset="0"/>
              <a:cs typeface="Arial  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1" y="1405719"/>
            <a:ext cx="74653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cs typeface="Arial" pitchFamily="34" charset="0"/>
              </a:rPr>
              <a:t>Executing:</a:t>
            </a:r>
          </a:p>
          <a:p>
            <a:r>
              <a:rPr lang="en-CA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FLDS 	S3,[R2] 	; read Y[</a:t>
            </a:r>
            <a:r>
              <a:rPr lang="en-CA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CA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</a:p>
          <a:p>
            <a:endParaRPr lang="en-CA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CA" dirty="0">
                <a:cs typeface="Arial" pitchFamily="34" charset="0"/>
              </a:rPr>
              <a:t>Step 1: compute effective address of memory access	  R2 = 0x00000008</a:t>
            </a:r>
          </a:p>
          <a:p>
            <a:endParaRPr lang="en-CA" dirty="0">
              <a:cs typeface="Arial" pitchFamily="34" charset="0"/>
            </a:endParaRPr>
          </a:p>
          <a:p>
            <a:r>
              <a:rPr lang="en-CA" dirty="0">
                <a:cs typeface="Arial" pitchFamily="34" charset="0"/>
              </a:rPr>
              <a:t>Step 2: Check if block containing contents of memory</a:t>
            </a:r>
          </a:p>
          <a:p>
            <a:r>
              <a:rPr lang="en-CA" dirty="0">
                <a:cs typeface="Arial" pitchFamily="34" charset="0"/>
              </a:rPr>
              <a:t>            at address 0x00000008 is present in cache:</a:t>
            </a:r>
          </a:p>
          <a:p>
            <a:endParaRPr lang="en-CA" dirty="0">
              <a:cs typeface="Arial" pitchFamily="34" charset="0"/>
            </a:endParaRPr>
          </a:p>
          <a:p>
            <a:endParaRPr lang="en-CA" dirty="0">
              <a:cs typeface="Arial" pitchFamily="34" charset="0"/>
            </a:endParaRPr>
          </a:p>
          <a:p>
            <a:endParaRPr lang="en-CA" dirty="0">
              <a:cs typeface="Arial" pitchFamily="34" charset="0"/>
            </a:endParaRPr>
          </a:p>
          <a:p>
            <a:endParaRPr lang="en-CA" dirty="0">
              <a:cs typeface="Arial" pitchFamily="34" charset="0"/>
            </a:endParaRPr>
          </a:p>
          <a:p>
            <a:endParaRPr lang="en-CA" dirty="0">
              <a:cs typeface="Arial" pitchFamily="34" charset="0"/>
            </a:endParaRPr>
          </a:p>
          <a:p>
            <a:r>
              <a:rPr lang="en-CA" dirty="0">
                <a:cs typeface="Arial" pitchFamily="34" charset="0"/>
              </a:rPr>
              <a:t>      Answer = no (“cache miss”).  (If yes, “cache hit”)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1473960" y="4435481"/>
            <a:ext cx="5868537" cy="1294752"/>
          </a:xfrm>
          <a:prstGeom prst="rect">
            <a:avLst/>
          </a:prstGeom>
          <a:solidFill>
            <a:schemeClr val="accent1">
              <a:alpha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64045" y="4491360"/>
          <a:ext cx="5290068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0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2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valid?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modified?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tag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data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15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 bwMode="auto">
          <a:xfrm>
            <a:off x="150127" y="3043454"/>
            <a:ext cx="5868537" cy="1294752"/>
          </a:xfrm>
          <a:prstGeom prst="rect">
            <a:avLst/>
          </a:prstGeom>
          <a:solidFill>
            <a:schemeClr val="accent1">
              <a:alpha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98500" y="0"/>
            <a:ext cx="7772400" cy="1143000"/>
          </a:xfrm>
        </p:spPr>
        <p:txBody>
          <a:bodyPr/>
          <a:lstStyle/>
          <a:p>
            <a:r>
              <a:rPr lang="en-CA" dirty="0">
                <a:latin typeface="Arial  " charset="0"/>
                <a:cs typeface="Arial  " charset="0"/>
              </a:rPr>
              <a:t>Example, continued</a:t>
            </a:r>
            <a:endParaRPr lang="en-CA" dirty="0">
              <a:solidFill>
                <a:srgbClr val="FF0000"/>
              </a:solidFill>
              <a:latin typeface="Arial  " charset="0"/>
              <a:cs typeface="Arial  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6914" y="4756245"/>
          <a:ext cx="6320592" cy="18288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44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1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852">
                <a:tc>
                  <a:txBody>
                    <a:bodyPr/>
                    <a:lstStyle/>
                    <a:p>
                      <a:pPr algn="l"/>
                      <a:r>
                        <a:rPr lang="en-CA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Memory contents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800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Description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852">
                <a:tc>
                  <a:txBody>
                    <a:bodyPr/>
                    <a:lstStyle/>
                    <a:p>
                      <a:pPr algn="l"/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C4 7A 00 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Y[3] = </a:t>
                      </a:r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-1000.0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852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40 2D F8 54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Y[2] = 2.718282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852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40 49 0F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Y[1]</a:t>
                      </a:r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= 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3.141593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852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42 28 00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Y[0] = 42.0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40212" y="3099333"/>
          <a:ext cx="5020741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0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2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valid?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modified?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tag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data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 bwMode="auto">
          <a:xfrm>
            <a:off x="2197287" y="5141762"/>
            <a:ext cx="1828801" cy="1405720"/>
          </a:xfrm>
          <a:prstGeom prst="rect">
            <a:avLst/>
          </a:prstGeom>
          <a:solidFill>
            <a:schemeClr val="accent1">
              <a:alpha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810" y="1173707"/>
            <a:ext cx="75745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cs typeface="Arial" pitchFamily="34" charset="0"/>
              </a:rPr>
              <a:t>Executing:</a:t>
            </a:r>
          </a:p>
          <a:p>
            <a:r>
              <a:rPr lang="en-CA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FLDS 	S3,[R2] 	; read Y[</a:t>
            </a:r>
            <a:r>
              <a:rPr lang="en-CA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CA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</a:p>
          <a:p>
            <a:endParaRPr lang="en-CA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CA" dirty="0">
                <a:cs typeface="Arial" pitchFamily="34" charset="0"/>
              </a:rPr>
              <a:t>Step 3: Copy data into cache (use block with “valid=0”)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251881" y="5513696"/>
            <a:ext cx="1678674" cy="286603"/>
          </a:xfrm>
          <a:prstGeom prst="rect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38365" y="3101607"/>
          <a:ext cx="5020741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0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2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valid?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modified?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tag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data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0x00000008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40 2D F8 F4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stCxn id="9" idx="0"/>
          </p:cNvCxnSpPr>
          <p:nvPr/>
        </p:nvCxnSpPr>
        <p:spPr bwMode="auto">
          <a:xfrm flipV="1">
            <a:off x="3091218" y="3807725"/>
            <a:ext cx="1426191" cy="17059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16</a:t>
            </a:fld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 bwMode="auto">
          <a:xfrm>
            <a:off x="150127" y="2838734"/>
            <a:ext cx="5868537" cy="1294752"/>
          </a:xfrm>
          <a:prstGeom prst="rect">
            <a:avLst/>
          </a:prstGeom>
          <a:solidFill>
            <a:schemeClr val="accent1">
              <a:alpha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98500" y="0"/>
            <a:ext cx="7772400" cy="1143000"/>
          </a:xfrm>
        </p:spPr>
        <p:txBody>
          <a:bodyPr/>
          <a:lstStyle/>
          <a:p>
            <a:r>
              <a:rPr lang="en-CA" dirty="0">
                <a:latin typeface="Arial  " charset="0"/>
                <a:cs typeface="Arial  " charset="0"/>
              </a:rPr>
              <a:t>Example, continued</a:t>
            </a:r>
            <a:endParaRPr lang="en-CA" dirty="0">
              <a:solidFill>
                <a:srgbClr val="FF0000"/>
              </a:solidFill>
              <a:latin typeface="Arial  " charset="0"/>
              <a:cs typeface="Arial  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7422" y="1214651"/>
            <a:ext cx="88488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cs typeface="Arial" pitchFamily="34" charset="0"/>
              </a:rPr>
              <a:t>Cache after executing</a:t>
            </a:r>
          </a:p>
          <a:p>
            <a:pPr>
              <a:buNone/>
            </a:pPr>
            <a:r>
              <a:rPr lang="en-CA" dirty="0">
                <a:latin typeface="Courier New" pitchFamily="49" charset="0"/>
                <a:cs typeface="Courier New" pitchFamily="49" charset="0"/>
              </a:rPr>
              <a:t>   FADDS S4,S2,S3; </a:t>
            </a:r>
            <a:r>
              <a:rPr lang="en-CA" dirty="0" err="1">
                <a:latin typeface="Courier New" pitchFamily="49" charset="0"/>
                <a:cs typeface="Courier New" pitchFamily="49" charset="0"/>
              </a:rPr>
              <a:t>Regs</a:t>
            </a:r>
            <a:r>
              <a:rPr lang="en-CA" dirty="0">
                <a:latin typeface="Courier New" pitchFamily="49" charset="0"/>
                <a:cs typeface="Courier New" pitchFamily="49" charset="0"/>
              </a:rPr>
              <a:t>[F4]=80.918 (0x42A1D629)</a:t>
            </a:r>
          </a:p>
          <a:p>
            <a:pPr>
              <a:buNone/>
            </a:pPr>
            <a:r>
              <a:rPr lang="en-CA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CA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FSTS  S4,[R2];  write Y[</a:t>
            </a:r>
            <a:r>
              <a:rPr lang="en-CA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CA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]</a:t>
            </a:r>
            <a:endParaRPr lang="en-CA" dirty="0">
              <a:solidFill>
                <a:srgbClr val="0000FF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6914" y="4756245"/>
          <a:ext cx="6320592" cy="18288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44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1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852">
                <a:tc>
                  <a:txBody>
                    <a:bodyPr/>
                    <a:lstStyle/>
                    <a:p>
                      <a:pPr algn="l"/>
                      <a:r>
                        <a:rPr lang="en-CA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Memory contents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800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Description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852">
                <a:tc>
                  <a:txBody>
                    <a:bodyPr/>
                    <a:lstStyle/>
                    <a:p>
                      <a:pPr algn="l"/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C4 7A 00 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Y[3] = </a:t>
                      </a:r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-1000.0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852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40 2D F8 54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Y[2] = 2.718282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852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40 49 0F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Y[1]</a:t>
                      </a:r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= 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3.141593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852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42 28 00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Y[0] = 42.0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 bwMode="auto">
          <a:xfrm>
            <a:off x="2197287" y="5141762"/>
            <a:ext cx="1828801" cy="1405720"/>
          </a:xfrm>
          <a:prstGeom prst="rect">
            <a:avLst/>
          </a:prstGeom>
          <a:solidFill>
            <a:schemeClr val="accent1">
              <a:alpha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23082" y="2896887"/>
          <a:ext cx="5020741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0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2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valid?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modified?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tag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data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0x00000008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40 2D F8 F4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40212" y="2894613"/>
          <a:ext cx="5034389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0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3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valid?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modified?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tag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data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0x00000008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42 A1 D6 29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17</a:t>
            </a:fld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  " charset="0"/>
                <a:cs typeface="Arial  " charset="0"/>
              </a:rPr>
              <a:t>Question</a:t>
            </a:r>
          </a:p>
        </p:txBody>
      </p:sp>
      <p:sp>
        <p:nvSpPr>
          <p:cNvPr id="471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235120"/>
            <a:ext cx="7772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Arial  " charset="0"/>
                <a:cs typeface="Arial  " charset="0"/>
              </a:rPr>
              <a:t>Consider the following series of memory references (byte addresses, in decimal): 2, 3, 2, 8, 10, and 2. 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Arial  " charset="0"/>
              <a:cs typeface="Arial  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dirty="0">
                <a:latin typeface="Arial  " charset="0"/>
                <a:cs typeface="Arial  " charset="0"/>
              </a:rPr>
              <a:t>	Assume fully associative cache with 8 one-byte blocks that are initially empty (valid=0), label each reference in the list as a hit or a miss, report the total number of hits and show the final contents of the cache.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sz="2400" dirty="0">
              <a:latin typeface="Arial  " charset="0"/>
              <a:cs typeface="Arial  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dirty="0">
                <a:latin typeface="Arial  " charset="0"/>
                <a:cs typeface="Arial  " charset="0"/>
              </a:rPr>
              <a:t>	Ignore “modified” and “data” fields.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18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863600"/>
          </a:xfrm>
        </p:spPr>
        <p:txBody>
          <a:bodyPr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Solution</a:t>
            </a:r>
          </a:p>
        </p:txBody>
      </p:sp>
      <p:graphicFrame>
        <p:nvGraphicFramePr>
          <p:cNvPr id="753797" name="Group 1157"/>
          <p:cNvGraphicFramePr>
            <a:graphicFrameLocks noGrp="1"/>
          </p:cNvGraphicFramePr>
          <p:nvPr/>
        </p:nvGraphicFramePr>
        <p:xfrm>
          <a:off x="2866030" y="1814956"/>
          <a:ext cx="2267803" cy="3632203"/>
        </p:xfrm>
        <a:graphic>
          <a:graphicData uri="http://schemas.openxmlformats.org/drawingml/2006/table">
            <a:tbl>
              <a:tblPr/>
              <a:tblGrid>
                <a:gridCol w="1025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1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Valid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Tag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Group 1157"/>
          <p:cNvGraphicFramePr>
            <a:graphicFrameLocks noGrp="1"/>
          </p:cNvGraphicFramePr>
          <p:nvPr/>
        </p:nvGraphicFramePr>
        <p:xfrm>
          <a:off x="2865997" y="1817215"/>
          <a:ext cx="2267803" cy="3632203"/>
        </p:xfrm>
        <a:graphic>
          <a:graphicData uri="http://schemas.openxmlformats.org/drawingml/2006/table">
            <a:tbl>
              <a:tblPr/>
              <a:tblGrid>
                <a:gridCol w="1025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1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Valid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Tag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1120"/>
          <p:cNvSpPr>
            <a:spLocks noChangeArrowheads="1"/>
          </p:cNvSpPr>
          <p:nvPr/>
        </p:nvSpPr>
        <p:spPr bwMode="auto">
          <a:xfrm>
            <a:off x="2761596" y="933094"/>
            <a:ext cx="38417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dirty="0">
                <a:latin typeface="Comic Sans MS" pitchFamily="66" charset="0"/>
              </a:rPr>
              <a:t>2 </a:t>
            </a:r>
            <a:r>
              <a:rPr lang="en-US" sz="1800" dirty="0">
                <a:solidFill>
                  <a:srgbClr val="FF0000"/>
                </a:solidFill>
                <a:latin typeface="Comic Sans MS" pitchFamily="66" charset="0"/>
              </a:rPr>
              <a:t>m</a:t>
            </a:r>
            <a:r>
              <a:rPr lang="en-US" sz="1800" dirty="0">
                <a:latin typeface="Comic Sans MS" pitchFamily="66" charset="0"/>
              </a:rPr>
              <a:t>, 3 </a:t>
            </a:r>
            <a:r>
              <a:rPr lang="en-US" sz="1800" dirty="0">
                <a:solidFill>
                  <a:srgbClr val="FF0000"/>
                </a:solidFill>
                <a:latin typeface="Comic Sans MS" pitchFamily="66" charset="0"/>
              </a:rPr>
              <a:t>m</a:t>
            </a:r>
            <a:r>
              <a:rPr lang="en-US" sz="1800" dirty="0">
                <a:latin typeface="Comic Sans MS" pitchFamily="66" charset="0"/>
              </a:rPr>
              <a:t>, 2 </a:t>
            </a:r>
            <a:r>
              <a:rPr lang="en-US" sz="1800" dirty="0">
                <a:solidFill>
                  <a:srgbClr val="00B050"/>
                </a:solidFill>
                <a:latin typeface="Comic Sans MS" pitchFamily="66" charset="0"/>
              </a:rPr>
              <a:t>h</a:t>
            </a:r>
            <a:r>
              <a:rPr lang="en-US" sz="1800" dirty="0">
                <a:latin typeface="Comic Sans MS" pitchFamily="66" charset="0"/>
              </a:rPr>
              <a:t>, 8 </a:t>
            </a:r>
            <a:r>
              <a:rPr lang="en-US" sz="1800" dirty="0">
                <a:solidFill>
                  <a:srgbClr val="FF0000"/>
                </a:solidFill>
                <a:latin typeface="Comic Sans MS" pitchFamily="66" charset="0"/>
              </a:rPr>
              <a:t>m</a:t>
            </a:r>
            <a:r>
              <a:rPr lang="en-US" sz="1800" dirty="0">
                <a:latin typeface="Comic Sans MS" pitchFamily="66" charset="0"/>
              </a:rPr>
              <a:t>, 10 </a:t>
            </a:r>
            <a:r>
              <a:rPr lang="en-US" sz="1800" dirty="0">
                <a:solidFill>
                  <a:srgbClr val="FF0000"/>
                </a:solidFill>
                <a:latin typeface="Comic Sans MS" pitchFamily="66" charset="0"/>
              </a:rPr>
              <a:t>m</a:t>
            </a:r>
            <a:r>
              <a:rPr lang="en-US" sz="1800" dirty="0">
                <a:latin typeface="Comic Sans MS" pitchFamily="66" charset="0"/>
              </a:rPr>
              <a:t>, 2 </a:t>
            </a:r>
            <a:r>
              <a:rPr lang="en-US" sz="1800" dirty="0">
                <a:solidFill>
                  <a:srgbClr val="00B050"/>
                </a:solidFill>
                <a:latin typeface="Comic Sans MS" pitchFamily="66" charset="0"/>
              </a:rPr>
              <a:t>h</a:t>
            </a:r>
            <a:r>
              <a:rPr lang="en-US" sz="2800" dirty="0">
                <a:latin typeface="Comic Sans MS" pitchFamily="66" charset="0"/>
              </a:rPr>
              <a:t>	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043452" y="846162"/>
            <a:ext cx="191068" cy="464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550694" y="862085"/>
            <a:ext cx="191068" cy="464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044288" y="864359"/>
            <a:ext cx="191068" cy="464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4537883" y="852986"/>
            <a:ext cx="191068" cy="464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5154307" y="855260"/>
            <a:ext cx="191068" cy="464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5675196" y="871182"/>
            <a:ext cx="191068" cy="464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graphicFrame>
        <p:nvGraphicFramePr>
          <p:cNvPr id="14" name="Group 1157"/>
          <p:cNvGraphicFramePr>
            <a:graphicFrameLocks noGrp="1"/>
          </p:cNvGraphicFramePr>
          <p:nvPr/>
        </p:nvGraphicFramePr>
        <p:xfrm>
          <a:off x="2868283" y="1817230"/>
          <a:ext cx="2267803" cy="3632203"/>
        </p:xfrm>
        <a:graphic>
          <a:graphicData uri="http://schemas.openxmlformats.org/drawingml/2006/table">
            <a:tbl>
              <a:tblPr/>
              <a:tblGrid>
                <a:gridCol w="1025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1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Valid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Tag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5" name="Group 1157"/>
          <p:cNvGraphicFramePr>
            <a:graphicFrameLocks noGrp="1"/>
          </p:cNvGraphicFramePr>
          <p:nvPr/>
        </p:nvGraphicFramePr>
        <p:xfrm>
          <a:off x="2870536" y="1819505"/>
          <a:ext cx="2267803" cy="3632203"/>
        </p:xfrm>
        <a:graphic>
          <a:graphicData uri="http://schemas.openxmlformats.org/drawingml/2006/table">
            <a:tbl>
              <a:tblPr/>
              <a:tblGrid>
                <a:gridCol w="1025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1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Valid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Tag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1157"/>
          <p:cNvGraphicFramePr>
            <a:graphicFrameLocks noGrp="1"/>
          </p:cNvGraphicFramePr>
          <p:nvPr/>
        </p:nvGraphicFramePr>
        <p:xfrm>
          <a:off x="2864838" y="1821786"/>
          <a:ext cx="2267803" cy="3632203"/>
        </p:xfrm>
        <a:graphic>
          <a:graphicData uri="http://schemas.openxmlformats.org/drawingml/2006/table">
            <a:tbl>
              <a:tblPr/>
              <a:tblGrid>
                <a:gridCol w="1025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1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Valid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Tag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19</a:t>
            </a:fld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Problem with this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51630"/>
            <a:ext cx="7772400" cy="4144370"/>
          </a:xfrm>
        </p:spPr>
        <p:txBody>
          <a:bodyPr/>
          <a:lstStyle/>
          <a:p>
            <a:pPr marL="342900" lvl="1" indent="-342900">
              <a:buNone/>
            </a:pPr>
            <a:r>
              <a:rPr lang="en-CA" sz="2800" dirty="0"/>
              <a:t>	Where do we put data if cache is full?</a:t>
            </a:r>
          </a:p>
          <a:p>
            <a:endParaRPr lang="en-CA" dirty="0"/>
          </a:p>
          <a:p>
            <a:pPr>
              <a:buNone/>
            </a:pPr>
            <a:r>
              <a:rPr lang="en-CA" dirty="0"/>
              <a:t>	Return to this question after considering spatial locality.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20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Spatial Locality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705" y="1287376"/>
            <a:ext cx="7772400" cy="4788568"/>
          </a:xfrm>
        </p:spPr>
        <p:txBody>
          <a:bodyPr/>
          <a:lstStyle/>
          <a:p>
            <a:pPr>
              <a:buNone/>
            </a:pPr>
            <a:r>
              <a:rPr lang="en-CA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CA" dirty="0">
                <a:latin typeface="Arial" pitchFamily="34" charset="0"/>
                <a:cs typeface="Arial" pitchFamily="34" charset="0"/>
              </a:rPr>
              <a:t>Definition: After accessing a location program accesses nearby location.</a:t>
            </a:r>
          </a:p>
          <a:p>
            <a:pPr>
              <a:buNone/>
            </a:pPr>
            <a:endParaRPr lang="en-CA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CA" dirty="0">
                <a:latin typeface="Arial" pitchFamily="34" charset="0"/>
                <a:cs typeface="Arial" pitchFamily="34" charset="0"/>
              </a:rPr>
              <a:t>	Example:</a:t>
            </a:r>
          </a:p>
          <a:p>
            <a:pPr>
              <a:buNone/>
            </a:pPr>
            <a:endParaRPr lang="en-CA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CA" dirty="0">
                <a:latin typeface="Arial" pitchFamily="34" charset="0"/>
                <a:cs typeface="Arial" pitchFamily="34" charset="0"/>
              </a:rPr>
              <a:t>		</a:t>
            </a:r>
            <a:r>
              <a:rPr lang="en-CA" dirty="0">
                <a:latin typeface="Courier New" pitchFamily="49" charset="0"/>
                <a:cs typeface="Courier New" pitchFamily="49" charset="0"/>
              </a:rPr>
              <a:t>Y[2] = a*X[2]</a:t>
            </a:r>
            <a:r>
              <a:rPr lang="en-CA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CA" dirty="0">
                <a:latin typeface="Courier New" pitchFamily="49" charset="0"/>
                <a:cs typeface="Courier New" pitchFamily="49" charset="0"/>
              </a:rPr>
              <a:t>+ </a:t>
            </a:r>
            <a:r>
              <a:rPr lang="en-CA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Y[2]</a:t>
            </a:r>
            <a:r>
              <a:rPr lang="en-CA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CA" dirty="0">
                <a:latin typeface="Courier New" pitchFamily="49" charset="0"/>
                <a:cs typeface="Courier New" pitchFamily="49" charset="0"/>
              </a:rPr>
              <a:t>		Y[3] = a*X[3]</a:t>
            </a:r>
            <a:r>
              <a:rPr lang="en-CA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CA" dirty="0">
                <a:latin typeface="Courier New" pitchFamily="49" charset="0"/>
                <a:cs typeface="Courier New" pitchFamily="49" charset="0"/>
              </a:rPr>
              <a:t>+ </a:t>
            </a:r>
            <a:r>
              <a:rPr lang="en-CA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Y[3]</a:t>
            </a:r>
            <a:r>
              <a:rPr lang="en-CA" dirty="0">
                <a:latin typeface="Courier New" pitchFamily="49" charset="0"/>
                <a:cs typeface="Courier New" pitchFamily="49" charset="0"/>
              </a:rPr>
              <a:t>;</a:t>
            </a:r>
            <a:endParaRPr lang="en-CA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CA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CA" dirty="0">
                <a:latin typeface="Arial" pitchFamily="34" charset="0"/>
                <a:cs typeface="Arial" pitchFamily="34" charset="0"/>
              </a:rPr>
              <a:t>	Program reads </a:t>
            </a:r>
            <a:r>
              <a:rPr lang="en-CA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Y[2]</a:t>
            </a:r>
            <a:r>
              <a:rPr lang="en-CA" dirty="0">
                <a:latin typeface="Arial" pitchFamily="34" charset="0"/>
                <a:cs typeface="Arial" pitchFamily="34" charset="0"/>
              </a:rPr>
              <a:t>, then </a:t>
            </a:r>
            <a:r>
              <a:rPr lang="en-CA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Y[3]</a:t>
            </a:r>
            <a:r>
              <a:rPr lang="en-CA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 </a:t>
            </a:r>
          </a:p>
          <a:p>
            <a:pPr>
              <a:buNone/>
            </a:pPr>
            <a:endParaRPr lang="en-CA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CA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CA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21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Exploiting Spatial Locality</a:t>
            </a:r>
          </a:p>
        </p:txBody>
      </p:sp>
      <p:pic>
        <p:nvPicPr>
          <p:cNvPr id="5" name="Picture 8" descr="Figure_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2758" y="1617076"/>
            <a:ext cx="2698750" cy="269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589214" y="2435433"/>
            <a:ext cx="101600" cy="96837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2098008" y="3758614"/>
            <a:ext cx="101600" cy="889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465096" y="1588166"/>
            <a:ext cx="54142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When program accesses Y[2] transfer both Y[2] </a:t>
            </a:r>
            <a:r>
              <a:rPr lang="en-CA" u="sng" dirty="0">
                <a:solidFill>
                  <a:srgbClr val="FF0000"/>
                </a:solidFill>
              </a:rPr>
              <a:t>and</a:t>
            </a:r>
            <a:r>
              <a:rPr lang="en-CA" dirty="0">
                <a:solidFill>
                  <a:srgbClr val="FF0000"/>
                </a:solidFill>
              </a:rPr>
              <a:t> </a:t>
            </a:r>
            <a:r>
              <a:rPr lang="en-CA" dirty="0">
                <a:solidFill>
                  <a:srgbClr val="FF00FF"/>
                </a:solidFill>
              </a:rPr>
              <a:t>Y[3].</a:t>
            </a:r>
            <a:endParaRPr lang="en-CA" dirty="0">
              <a:solidFill>
                <a:srgbClr val="FF0000"/>
              </a:solidFill>
            </a:endParaRPr>
          </a:p>
          <a:p>
            <a:endParaRPr lang="en-CA" dirty="0"/>
          </a:p>
          <a:p>
            <a:r>
              <a:rPr lang="en-CA" dirty="0">
                <a:solidFill>
                  <a:srgbClr val="0000FF"/>
                </a:solidFill>
              </a:rPr>
              <a:t>In general, transfer a “block” of data (or instructions) at a time.  </a:t>
            </a:r>
            <a:r>
              <a:rPr lang="en-CA" dirty="0"/>
              <a:t>Block size</a:t>
            </a:r>
          </a:p>
          <a:p>
            <a:r>
              <a:rPr lang="en-CA" dirty="0"/>
              <a:t>typically 32 to 128 bytes.   </a:t>
            </a:r>
          </a:p>
          <a:p>
            <a:endParaRPr lang="en-CA" dirty="0"/>
          </a:p>
          <a:p>
            <a:r>
              <a:rPr lang="en-CA" dirty="0"/>
              <a:t>In figure at left have a block containing Y[2] and Y[3] but more typical 64 byte block can hold sixteen 4-byte values.  </a:t>
            </a:r>
          </a:p>
        </p:txBody>
      </p:sp>
      <p:sp>
        <p:nvSpPr>
          <p:cNvPr id="10" name="Freeform 13"/>
          <p:cNvSpPr>
            <a:spLocks/>
          </p:cNvSpPr>
          <p:nvPr/>
        </p:nvSpPr>
        <p:spPr bwMode="auto">
          <a:xfrm>
            <a:off x="894432" y="2535321"/>
            <a:ext cx="1062037" cy="1231900"/>
          </a:xfrm>
          <a:custGeom>
            <a:avLst/>
            <a:gdLst>
              <a:gd name="T0" fmla="*/ 2147483647 w 669"/>
              <a:gd name="T1" fmla="*/ 2147483647 h 800"/>
              <a:gd name="T2" fmla="*/ 2147483647 w 669"/>
              <a:gd name="T3" fmla="*/ 2147483647 h 800"/>
              <a:gd name="T4" fmla="*/ 2147483647 w 669"/>
              <a:gd name="T5" fmla="*/ 0 h 800"/>
              <a:gd name="T6" fmla="*/ 0 60000 65536"/>
              <a:gd name="T7" fmla="*/ 0 60000 65536"/>
              <a:gd name="T8" fmla="*/ 0 60000 65536"/>
              <a:gd name="T9" fmla="*/ 0 w 669"/>
              <a:gd name="T10" fmla="*/ 0 h 800"/>
              <a:gd name="T11" fmla="*/ 669 w 669"/>
              <a:gd name="T12" fmla="*/ 800 h 8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69" h="800">
                <a:moveTo>
                  <a:pt x="669" y="800"/>
                </a:moveTo>
                <a:cubicBezTo>
                  <a:pt x="379" y="738"/>
                  <a:pt x="90" y="677"/>
                  <a:pt x="45" y="544"/>
                </a:cubicBezTo>
                <a:cubicBezTo>
                  <a:pt x="0" y="411"/>
                  <a:pt x="198" y="205"/>
                  <a:pt x="397" y="0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12032" y="2538662"/>
            <a:ext cx="12316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solidFill>
                  <a:srgbClr val="FF0000"/>
                </a:solidFill>
              </a:rPr>
              <a:t>Y[2], </a:t>
            </a:r>
            <a:r>
              <a:rPr lang="en-CA" sz="2000" dirty="0">
                <a:solidFill>
                  <a:srgbClr val="FF00FF"/>
                </a:solidFill>
              </a:rPr>
              <a:t>Y[3]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1698375" y="2433798"/>
            <a:ext cx="101600" cy="96837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2209550" y="3759360"/>
            <a:ext cx="101600" cy="88900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 bwMode="auto">
          <a:xfrm>
            <a:off x="1581150" y="2426493"/>
            <a:ext cx="228600" cy="119063"/>
          </a:xfrm>
          <a:prstGeom prst="rect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085975" y="3740943"/>
            <a:ext cx="228600" cy="119063"/>
          </a:xfrm>
          <a:prstGeom prst="rect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22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4694" y="1027563"/>
            <a:ext cx="8458200" cy="139078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Arial  " charset="0"/>
                <a:cs typeface="Arial  " charset="0"/>
              </a:rPr>
              <a:t>	Want to move nearby data at same time to exploit </a:t>
            </a:r>
            <a:r>
              <a:rPr lang="en-US" sz="2400" dirty="0">
                <a:solidFill>
                  <a:srgbClr val="0000FF"/>
                </a:solidFill>
                <a:latin typeface="Arial  " charset="0"/>
                <a:cs typeface="Arial  " charset="0"/>
              </a:rPr>
              <a:t>spatial locality</a:t>
            </a:r>
            <a:r>
              <a:rPr lang="en-US" sz="2400" dirty="0">
                <a:latin typeface="Arial  " charset="0"/>
                <a:cs typeface="Arial  " charset="0"/>
              </a:rPr>
              <a:t>.  Divide up memory into </a:t>
            </a:r>
            <a:r>
              <a:rPr lang="en-US" sz="2400" dirty="0">
                <a:solidFill>
                  <a:srgbClr val="0000FF"/>
                </a:solidFill>
                <a:latin typeface="Arial  " charset="0"/>
                <a:cs typeface="Arial  " charset="0"/>
              </a:rPr>
              <a:t>blocks</a:t>
            </a:r>
            <a:r>
              <a:rPr lang="en-US" sz="2400" dirty="0">
                <a:latin typeface="Arial  " charset="0"/>
                <a:cs typeface="Arial  " charset="0"/>
              </a:rPr>
              <a:t> that are power of two multiples of word size.  </a:t>
            </a:r>
            <a:r>
              <a:rPr lang="en-US" sz="2400" dirty="0">
                <a:solidFill>
                  <a:srgbClr val="FF00FF"/>
                </a:solidFill>
                <a:latin typeface="Arial  " charset="0"/>
                <a:cs typeface="Arial  " charset="0"/>
              </a:rPr>
              <a:t>Block starts at address </a:t>
            </a:r>
            <a:r>
              <a:rPr lang="en-US" sz="2400" u="sng" dirty="0">
                <a:solidFill>
                  <a:srgbClr val="FF00FF"/>
                </a:solidFill>
                <a:latin typeface="Arial  " charset="0"/>
                <a:cs typeface="Arial  " charset="0"/>
              </a:rPr>
              <a:t>aligned</a:t>
            </a:r>
            <a:r>
              <a:rPr lang="en-US" sz="2400" dirty="0">
                <a:solidFill>
                  <a:srgbClr val="FF00FF"/>
                </a:solidFill>
                <a:latin typeface="Arial  " charset="0"/>
                <a:cs typeface="Arial  " charset="0"/>
              </a:rPr>
              <a:t> to block size (whole number multiple of block size). </a:t>
            </a:r>
            <a:endParaRPr lang="en-US" sz="2400" i="1" dirty="0">
              <a:solidFill>
                <a:srgbClr val="FF00FF"/>
              </a:solidFill>
              <a:latin typeface="Arial  " charset="0"/>
              <a:cs typeface="Arial  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98500" y="0"/>
            <a:ext cx="7772400" cy="1143000"/>
          </a:xfrm>
        </p:spPr>
        <p:txBody>
          <a:bodyPr/>
          <a:lstStyle/>
          <a:p>
            <a:r>
              <a:rPr lang="en-CA" dirty="0">
                <a:latin typeface="Arial  " charset="0"/>
                <a:cs typeface="Arial  " charset="0"/>
              </a:rPr>
              <a:t>Cache Blocks (Cache Lines)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909063"/>
              </p:ext>
            </p:extLst>
          </p:nvPr>
        </p:nvGraphicFramePr>
        <p:xfrm>
          <a:off x="621631" y="3490495"/>
          <a:ext cx="5466348" cy="2225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88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0xfffffff8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0xfffffff0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01 00 70 95 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42 3C</a:t>
                      </a:r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E7 98 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C4 7A 00 00 </a:t>
                      </a:r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40 2D F8 54 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40 49 0F DB 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42 28 00 00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97832" y="2658978"/>
            <a:ext cx="11801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solidFill>
                  <a:srgbClr val="FF0000"/>
                </a:solidFill>
              </a:rPr>
              <a:t>memory </a:t>
            </a:r>
          </a:p>
          <a:p>
            <a:r>
              <a:rPr lang="en-CA" sz="2000" dirty="0">
                <a:solidFill>
                  <a:srgbClr val="FF0000"/>
                </a:solidFill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4179" y="2667001"/>
            <a:ext cx="3408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rgbClr val="FF0000"/>
                </a:solidFill>
              </a:rPr>
              <a:t>memory </a:t>
            </a:r>
          </a:p>
          <a:p>
            <a:r>
              <a:rPr lang="en-CA" sz="2000" dirty="0">
                <a:solidFill>
                  <a:srgbClr val="FF0000"/>
                </a:solidFill>
              </a:rPr>
              <a:t>contents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2354179" y="4978321"/>
            <a:ext cx="3260558" cy="324852"/>
          </a:xfrm>
          <a:prstGeom prst="rect">
            <a:avLst/>
          </a:prstGeom>
          <a:solidFill>
            <a:srgbClr val="0000FF">
              <a:alpha val="23000"/>
            </a:srgbClr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51886" y="3986585"/>
            <a:ext cx="29010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dirty="0">
                <a:solidFill>
                  <a:srgbClr val="0000FF"/>
                </a:solidFill>
              </a:rPr>
              <a:t>8 byte block. First byte at 0x00000008 contains “54”. Last byte at 0x0000000f contains “C4” (“little endian” byte order).</a:t>
            </a:r>
          </a:p>
          <a:p>
            <a:endParaRPr lang="en-CA" sz="1800" dirty="0">
              <a:solidFill>
                <a:srgbClr val="0000FF"/>
              </a:solidFill>
            </a:endParaRPr>
          </a:p>
          <a:p>
            <a:r>
              <a:rPr lang="en-CA" sz="1800" dirty="0">
                <a:solidFill>
                  <a:srgbClr val="FF0000"/>
                </a:solidFill>
              </a:rPr>
              <a:t>Copy entire block at once.</a:t>
            </a:r>
          </a:p>
          <a:p>
            <a:endParaRPr lang="en-CA" sz="1800" dirty="0">
              <a:solidFill>
                <a:srgbClr val="0000FF"/>
              </a:solidFill>
            </a:endParaRPr>
          </a:p>
        </p:txBody>
      </p:sp>
      <p:cxnSp>
        <p:nvCxnSpPr>
          <p:cNvPr id="20" name="Straight Arrow Connector 19"/>
          <p:cNvCxnSpPr>
            <a:stCxn id="16" idx="1"/>
            <a:endCxn id="15" idx="3"/>
          </p:cNvCxnSpPr>
          <p:nvPr/>
        </p:nvCxnSpPr>
        <p:spPr bwMode="auto">
          <a:xfrm flipH="1">
            <a:off x="5614737" y="5140747"/>
            <a:ext cx="43714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23</a:t>
            </a:fld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 animBg="1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Modified Cache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80784"/>
            <a:ext cx="7772400" cy="4724400"/>
          </a:xfrm>
        </p:spPr>
        <p:txBody>
          <a:bodyPr/>
          <a:lstStyle/>
          <a:p>
            <a:r>
              <a:rPr lang="en-CA" dirty="0"/>
              <a:t>Increase data field size to hold block of size 8 bytes.  Now cache can exploit both spatial and temporal locality.</a:t>
            </a:r>
          </a:p>
          <a:p>
            <a:endParaRPr lang="en-CA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40714" y="3345001"/>
          <a:ext cx="7147942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1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4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6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valid?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modified?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tag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data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24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Block Size Impact on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10436"/>
            <a:ext cx="7772400" cy="4485563"/>
          </a:xfrm>
        </p:spPr>
        <p:txBody>
          <a:bodyPr/>
          <a:lstStyle/>
          <a:p>
            <a:r>
              <a:rPr lang="en-CA" dirty="0"/>
              <a:t>Blocks start at address aligned to block size.</a:t>
            </a:r>
          </a:p>
          <a:p>
            <a:endParaRPr lang="en-CA" dirty="0"/>
          </a:p>
          <a:p>
            <a:r>
              <a:rPr lang="en-CA" dirty="0"/>
              <a:t>This means lower log</a:t>
            </a:r>
            <a:r>
              <a:rPr lang="en-CA" baseline="-25000" dirty="0"/>
              <a:t>2</a:t>
            </a:r>
            <a:r>
              <a:rPr lang="en-CA" dirty="0"/>
              <a:t>(block size) bits of block address are </a:t>
            </a:r>
            <a:r>
              <a:rPr lang="en-CA" u="sng" dirty="0"/>
              <a:t>always zero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Would be a waste of transistors if we explicitly store these zero values.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25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  " charset="0"/>
                <a:cs typeface="Arial  " charset="0"/>
              </a:rPr>
              <a:t>Question</a:t>
            </a:r>
          </a:p>
        </p:txBody>
      </p:sp>
      <p:sp>
        <p:nvSpPr>
          <p:cNvPr id="471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235120"/>
            <a:ext cx="7772400" cy="47244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sz="2400" dirty="0">
                <a:latin typeface="Arial  " charset="0"/>
                <a:cs typeface="Arial  " charset="0"/>
              </a:rPr>
              <a:t>	For a fully associative cache with 16 byte blocks what is the tag in hex for a block with starting address 0x00008020?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Arial  " charset="0"/>
              <a:cs typeface="Arial  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26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9144001" cy="1143000"/>
          </a:xfrm>
        </p:spPr>
        <p:txBody>
          <a:bodyPr/>
          <a:lstStyle/>
          <a:p>
            <a:r>
              <a:rPr lang="en-CA" dirty="0"/>
              <a:t>Example, revisited </a:t>
            </a:r>
            <a:r>
              <a:rPr lang="en-CA"/>
              <a:t>(FLDS F3, [R2]) </a:t>
            </a:r>
            <a:endParaRPr lang="en-CA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156509"/>
              </p:ext>
            </p:extLst>
          </p:nvPr>
        </p:nvGraphicFramePr>
        <p:xfrm>
          <a:off x="435411" y="5491331"/>
          <a:ext cx="5466348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88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01 00 70 95 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42 3C</a:t>
                      </a:r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E7 98 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C4 7A 00 00 </a:t>
                      </a:r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40 2D F8 54 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40 49 0F DB </a:t>
                      </a: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42 28 00 00 </a:t>
                      </a:r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2699" y="4707043"/>
            <a:ext cx="11801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/>
              <a:t>memory </a:t>
            </a:r>
          </a:p>
          <a:p>
            <a:r>
              <a:rPr lang="en-CA" sz="2000" dirty="0"/>
              <a:t>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046" y="4715066"/>
            <a:ext cx="3408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memory </a:t>
            </a:r>
          </a:p>
          <a:p>
            <a:r>
              <a:rPr lang="en-CA" sz="2000" dirty="0"/>
              <a:t>contents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422" y="968987"/>
            <a:ext cx="804419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>
                <a:cs typeface="Arial" pitchFamily="34" charset="0"/>
              </a:rPr>
              <a:t>Regs</a:t>
            </a:r>
            <a:r>
              <a:rPr lang="en-CA" dirty="0">
                <a:cs typeface="Arial" pitchFamily="34" charset="0"/>
              </a:rPr>
              <a:t>[R2] = 0x00000008 </a:t>
            </a:r>
            <a:r>
              <a:rPr lang="en-CA" dirty="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CA" dirty="0">
                <a:solidFill>
                  <a:srgbClr val="0000FF"/>
                </a:solidFill>
                <a:cs typeface="Arial" pitchFamily="34" charset="0"/>
              </a:rPr>
              <a:t>implies tag=0x0000001 </a:t>
            </a:r>
            <a:r>
              <a:rPr lang="en-CA" dirty="0">
                <a:solidFill>
                  <a:srgbClr val="FF0000"/>
                </a:solidFill>
                <a:cs typeface="Arial" pitchFamily="34" charset="0"/>
              </a:rPr>
              <a:t>-- why?</a:t>
            </a:r>
          </a:p>
          <a:p>
            <a:r>
              <a:rPr lang="en-CA" dirty="0">
                <a:solidFill>
                  <a:srgbClr val="FF0000"/>
                </a:solidFill>
                <a:cs typeface="Arial" pitchFamily="34" charset="0"/>
              </a:rPr>
              <a:t>       </a:t>
            </a:r>
            <a:r>
              <a:rPr lang="en-CA" dirty="0">
                <a:cs typeface="Arial" pitchFamily="34" charset="0"/>
              </a:rPr>
              <a:t>In binary</a:t>
            </a:r>
            <a:r>
              <a:rPr lang="en-CA" dirty="0">
                <a:latin typeface="Courier New" pitchFamily="49" charset="0"/>
                <a:cs typeface="Courier New" pitchFamily="49" charset="0"/>
              </a:rPr>
              <a:t> 0x00000008 = 0000 … 000000001000</a:t>
            </a:r>
          </a:p>
          <a:p>
            <a:r>
              <a:rPr lang="en-CA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CA" dirty="0">
                <a:solidFill>
                  <a:srgbClr val="0000FF"/>
                </a:solidFill>
                <a:cs typeface="Arial" pitchFamily="34" charset="0"/>
              </a:rPr>
              <a:t>Drop least significant 3 bits since using 8 byte blocks</a:t>
            </a:r>
          </a:p>
          <a:p>
            <a:endParaRPr lang="en-CA" dirty="0">
              <a:cs typeface="Arial" pitchFamily="34" charset="0"/>
            </a:endParaRPr>
          </a:p>
          <a:p>
            <a:r>
              <a:rPr lang="en-CA" dirty="0">
                <a:cs typeface="Arial" pitchFamily="34" charset="0"/>
              </a:rPr>
              <a:t>Cache after executing </a:t>
            </a:r>
          </a:p>
          <a:p>
            <a:r>
              <a:rPr lang="en-CA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FLDS 	F3 [R2] ; read Y[</a:t>
            </a:r>
            <a:r>
              <a:rPr lang="en-CA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CA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3800008" y="5868540"/>
            <a:ext cx="1569493" cy="31389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104030" y="5816224"/>
            <a:ext cx="3300483" cy="420806"/>
          </a:xfrm>
          <a:prstGeom prst="rect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cxnSp>
        <p:nvCxnSpPr>
          <p:cNvPr id="21" name="Straight Arrow Connector 20"/>
          <p:cNvCxnSpPr>
            <a:stCxn id="24" idx="1"/>
          </p:cNvCxnSpPr>
          <p:nvPr/>
        </p:nvCxnSpPr>
        <p:spPr bwMode="auto">
          <a:xfrm flipH="1">
            <a:off x="5332505" y="5820269"/>
            <a:ext cx="590623" cy="1426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5923128" y="5220104"/>
            <a:ext cx="3123960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4 byte value written to </a:t>
            </a:r>
            <a:r>
              <a:rPr lang="en-CA" dirty="0" err="1">
                <a:solidFill>
                  <a:srgbClr val="FF0000"/>
                </a:solidFill>
              </a:rPr>
              <a:t>Regs</a:t>
            </a:r>
            <a:r>
              <a:rPr lang="en-CA" dirty="0">
                <a:solidFill>
                  <a:srgbClr val="FF0000"/>
                </a:solidFill>
              </a:rPr>
              <a:t>[F3] by FLDS is 0x402DF854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4544704" y="1351129"/>
            <a:ext cx="2947917" cy="382137"/>
          </a:xfrm>
          <a:prstGeom prst="rect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82699" y="1341108"/>
            <a:ext cx="7588155" cy="103168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237760" y="2515601"/>
            <a:ext cx="7588155" cy="6823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37760" y="3251738"/>
          <a:ext cx="7147942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1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4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6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valid?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modified?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tag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data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719859"/>
              </p:ext>
            </p:extLst>
          </p:nvPr>
        </p:nvGraphicFramePr>
        <p:xfrm>
          <a:off x="245664" y="3263111"/>
          <a:ext cx="7147942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1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4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6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valid?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modified?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tag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data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C4 7A 00 00 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40 2D F8 54 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>
            <a:stCxn id="17" idx="0"/>
          </p:cNvCxnSpPr>
          <p:nvPr/>
        </p:nvCxnSpPr>
        <p:spPr bwMode="auto">
          <a:xfrm flipV="1">
            <a:off x="3754272" y="3985149"/>
            <a:ext cx="1800367" cy="18310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Rectangle 10"/>
          <p:cNvSpPr/>
          <p:nvPr/>
        </p:nvSpPr>
        <p:spPr bwMode="auto">
          <a:xfrm>
            <a:off x="237760" y="4768017"/>
            <a:ext cx="5354052" cy="1910687"/>
          </a:xfrm>
          <a:prstGeom prst="rect">
            <a:avLst/>
          </a:prstGeom>
          <a:solidFill>
            <a:schemeClr val="accent1">
              <a:alpha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07726" y="4531058"/>
            <a:ext cx="3812262" cy="461665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00FF"/>
                </a:solidFill>
              </a:rPr>
              <a:t>copy 8 byte block to cache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27</a:t>
            </a:fld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 animBg="1"/>
      <p:bldP spid="17" grpId="0" animBg="1"/>
      <p:bldP spid="24" grpId="0" animBg="1"/>
      <p:bldP spid="18" grpId="0" animBg="1"/>
      <p:bldP spid="19" grpId="0" animBg="1"/>
      <p:bldP spid="11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Multiple words in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For the SAXPY loop 8 byte block contains two elements – e.g., Y[2] and Y[3]: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How to find specific data (e.g., Y[2] or Y[3]) accessed by load/store instruction?</a:t>
            </a:r>
          </a:p>
          <a:p>
            <a:endParaRPr lang="en-CA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955810"/>
              </p:ext>
            </p:extLst>
          </p:nvPr>
        </p:nvGraphicFramePr>
        <p:xfrm>
          <a:off x="890588" y="2512446"/>
          <a:ext cx="7147942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1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4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6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valid?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modified?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tag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data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C4 7A 00 00 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40 2D F8 54 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Left Brace 5"/>
          <p:cNvSpPr/>
          <p:nvPr/>
        </p:nvSpPr>
        <p:spPr bwMode="auto">
          <a:xfrm>
            <a:off x="5331432" y="2659670"/>
            <a:ext cx="228600" cy="1600199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7" name="Left Brace 6"/>
          <p:cNvSpPr/>
          <p:nvPr/>
        </p:nvSpPr>
        <p:spPr bwMode="auto">
          <a:xfrm>
            <a:off x="6951698" y="2667689"/>
            <a:ext cx="228600" cy="1600199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15064" y="3688817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Y[3]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8665" y="3696838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Y[2]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28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Solution: Block Offset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92071"/>
            <a:ext cx="7772400" cy="4954137"/>
          </a:xfrm>
        </p:spPr>
        <p:txBody>
          <a:bodyPr/>
          <a:lstStyle/>
          <a:p>
            <a:r>
              <a:rPr lang="en-CA" dirty="0"/>
              <a:t>Recall, </a:t>
            </a:r>
            <a:r>
              <a:rPr lang="en-CA" sz="2800" dirty="0"/>
              <a:t>block starts at address aligned to log</a:t>
            </a:r>
            <a:r>
              <a:rPr lang="en-CA" sz="2800" baseline="-25000" dirty="0"/>
              <a:t>2</a:t>
            </a:r>
            <a:r>
              <a:rPr lang="en-CA" sz="2800" dirty="0"/>
              <a:t>(block size) and data stored within block in same order as in memory.</a:t>
            </a:r>
          </a:p>
          <a:p>
            <a:endParaRPr lang="en-CA" dirty="0"/>
          </a:p>
          <a:p>
            <a:r>
              <a:rPr lang="en-CA" dirty="0"/>
              <a:t>So, we can compute location of word in block by using lower log</a:t>
            </a:r>
            <a:r>
              <a:rPr lang="en-CA" baseline="-25000" dirty="0"/>
              <a:t>2</a:t>
            </a:r>
            <a:r>
              <a:rPr lang="en-CA" dirty="0"/>
              <a:t>(block size) bits of address of word.</a:t>
            </a:r>
          </a:p>
          <a:p>
            <a:pPr>
              <a:buNone/>
            </a:pPr>
            <a:endParaRPr lang="en-CA" dirty="0"/>
          </a:p>
          <a:p>
            <a:pPr>
              <a:buNone/>
            </a:pPr>
            <a:r>
              <a:rPr lang="en-CA" dirty="0">
                <a:latin typeface="Courier New" pitchFamily="49" charset="0"/>
                <a:cs typeface="Courier New" pitchFamily="49" charset="0"/>
              </a:rPr>
              <a:t>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29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Solution: Block Offset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80531"/>
            <a:ext cx="7898642" cy="5165678"/>
          </a:xfrm>
        </p:spPr>
        <p:txBody>
          <a:bodyPr/>
          <a:lstStyle/>
          <a:p>
            <a:r>
              <a:rPr lang="en-CA" dirty="0"/>
              <a:t>Example block offset calculation (8 byte block)</a:t>
            </a:r>
          </a:p>
          <a:p>
            <a:endParaRPr lang="en-CA" dirty="0"/>
          </a:p>
          <a:p>
            <a:pPr>
              <a:buNone/>
            </a:pPr>
            <a:r>
              <a:rPr lang="en-CA" dirty="0"/>
              <a:t>	address (hex)	    address (binary)</a:t>
            </a:r>
          </a:p>
          <a:p>
            <a:pPr>
              <a:buNone/>
            </a:pPr>
            <a:r>
              <a:rPr lang="en-CA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0x00000008 = 0000 … 000000001000</a:t>
            </a:r>
          </a:p>
          <a:p>
            <a:pPr>
              <a:buNone/>
            </a:pPr>
            <a:r>
              <a:rPr lang="en-CA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0x0000000C = 0000 … 000000001100</a:t>
            </a:r>
          </a:p>
          <a:p>
            <a:pPr>
              <a:buNone/>
            </a:pPr>
            <a:endParaRPr lang="en-CA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CA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7290179" y="2704541"/>
            <a:ext cx="680113" cy="4640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7292454" y="3252727"/>
            <a:ext cx="680113" cy="4640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526488"/>
              </p:ext>
            </p:extLst>
          </p:nvPr>
        </p:nvGraphicFramePr>
        <p:xfrm>
          <a:off x="863292" y="4382212"/>
          <a:ext cx="7147942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1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4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6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valid?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modified?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tag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data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C4 7A 00 00 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40 2D F8 54 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5" name="Straight Arrow Connector 14"/>
          <p:cNvCxnSpPr/>
          <p:nvPr/>
        </p:nvCxnSpPr>
        <p:spPr bwMode="auto">
          <a:xfrm flipV="1">
            <a:off x="7756872" y="5188421"/>
            <a:ext cx="0" cy="4094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6350726" y="5616262"/>
            <a:ext cx="2357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Block Offset = 0</a:t>
            </a:r>
          </a:p>
        </p:txBody>
      </p:sp>
      <p:cxnSp>
        <p:nvCxnSpPr>
          <p:cNvPr id="18" name="Straight Arrow Connector 17"/>
          <p:cNvCxnSpPr/>
          <p:nvPr/>
        </p:nvCxnSpPr>
        <p:spPr bwMode="auto">
          <a:xfrm flipV="1">
            <a:off x="5962292" y="5202079"/>
            <a:ext cx="2274" cy="8575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3715851" y="6074806"/>
            <a:ext cx="2357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FF"/>
                </a:solidFill>
              </a:rPr>
              <a:t>Block Offset = 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30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  " charset="0"/>
                <a:cs typeface="Arial  " charset="0"/>
              </a:rPr>
              <a:t>Question</a:t>
            </a:r>
          </a:p>
        </p:txBody>
      </p:sp>
      <p:sp>
        <p:nvSpPr>
          <p:cNvPr id="471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235120"/>
            <a:ext cx="7772400" cy="47244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sz="2400" dirty="0">
                <a:latin typeface="Arial  " charset="0"/>
                <a:cs typeface="Arial  " charset="0"/>
              </a:rPr>
              <a:t>	For a cache with 16 byte blocks what is the block offset for a 4 byte float stored in memory at starting address 0x00008028?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Arial  " charset="0"/>
              <a:cs typeface="Arial  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31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Example, revisited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95117"/>
              </p:ext>
            </p:extLst>
          </p:nvPr>
        </p:nvGraphicFramePr>
        <p:xfrm>
          <a:off x="276439" y="3263101"/>
          <a:ext cx="7147942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1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4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6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valid?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modified?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tag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data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C4 7A 00 00 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42 A1 D6 29</a:t>
                      </a:r>
                      <a:r>
                        <a:rPr lang="en-CA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77422" y="968987"/>
            <a:ext cx="81179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>
                <a:cs typeface="Arial" pitchFamily="34" charset="0"/>
              </a:rPr>
              <a:t>Regs</a:t>
            </a:r>
            <a:r>
              <a:rPr lang="en-CA" dirty="0">
                <a:cs typeface="Arial" pitchFamily="34" charset="0"/>
              </a:rPr>
              <a:t>[R2] = 0x8 =&gt; Tag=0x1, Block Offset=0</a:t>
            </a:r>
          </a:p>
          <a:p>
            <a:endParaRPr lang="en-CA" dirty="0">
              <a:cs typeface="Arial" pitchFamily="34" charset="0"/>
            </a:endParaRPr>
          </a:p>
          <a:p>
            <a:r>
              <a:rPr lang="en-CA" dirty="0">
                <a:cs typeface="Arial" pitchFamily="34" charset="0"/>
              </a:rPr>
              <a:t>Cache after executing </a:t>
            </a:r>
          </a:p>
          <a:p>
            <a:pPr>
              <a:buNone/>
            </a:pPr>
            <a:r>
              <a:rPr lang="en-CA" dirty="0">
                <a:latin typeface="Courier New" pitchFamily="49" charset="0"/>
                <a:cs typeface="Courier New" pitchFamily="49" charset="0"/>
              </a:rPr>
              <a:t>	FADDS S4,S2,S3 	; </a:t>
            </a:r>
            <a:r>
              <a:rPr lang="en-CA" dirty="0" err="1">
                <a:latin typeface="Courier New" pitchFamily="49" charset="0"/>
                <a:cs typeface="Courier New" pitchFamily="49" charset="0"/>
              </a:rPr>
              <a:t>Regs</a:t>
            </a:r>
            <a:r>
              <a:rPr lang="en-CA" dirty="0">
                <a:latin typeface="Courier New" pitchFamily="49" charset="0"/>
                <a:cs typeface="Courier New" pitchFamily="49" charset="0"/>
              </a:rPr>
              <a:t>[S4] = 0x42A1D629</a:t>
            </a:r>
          </a:p>
          <a:p>
            <a:pPr>
              <a:buNone/>
            </a:pPr>
            <a:r>
              <a:rPr lang="en-CA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FSTS	 S4,[R2] 	; write Y[</a:t>
            </a:r>
            <a:r>
              <a:rPr lang="en-CA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CA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]</a:t>
            </a:r>
            <a:endParaRPr lang="en-CA" dirty="0">
              <a:solidFill>
                <a:srgbClr val="0000FF"/>
              </a:solidFill>
            </a:endParaRPr>
          </a:p>
          <a:p>
            <a:endParaRPr lang="en-CA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5666038" y="3676340"/>
            <a:ext cx="1678675" cy="300251"/>
          </a:xfrm>
          <a:prstGeom prst="rect">
            <a:avLst/>
          </a:prstGeom>
          <a:solidFill>
            <a:srgbClr val="0000FF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764691"/>
              </p:ext>
            </p:extLst>
          </p:nvPr>
        </p:nvGraphicFramePr>
        <p:xfrm>
          <a:off x="274320" y="3264408"/>
          <a:ext cx="7147942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1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4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6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valid?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modified?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tag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data</a:t>
                      </a:r>
                      <a:endParaRPr lang="en-CA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dk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0x00000001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C4 7A 00 00 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40 2D F8 54 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urier New" pitchFamily="49" charset="0"/>
                          <a:cs typeface="Courier New" pitchFamily="49" charset="0"/>
                        </a:rPr>
                        <a:t>0x00000000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00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en-CA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CA" baseline="0" dirty="0" err="1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 bwMode="auto">
          <a:xfrm flipV="1">
            <a:off x="7037894" y="3958247"/>
            <a:ext cx="0" cy="11873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32</a:t>
            </a:fld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if cache is full?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 far we assumed we “</a:t>
            </a:r>
            <a:r>
              <a:rPr lang="en-CA" dirty="0">
                <a:solidFill>
                  <a:srgbClr val="0000FF"/>
                </a:solidFill>
              </a:rPr>
              <a:t>fill</a:t>
            </a:r>
            <a:r>
              <a:rPr lang="en-CA" dirty="0"/>
              <a:t>” blocks into cache starting at first available (“invalid”) row and when accessing cache do parallel search for tag match in all rows (“</a:t>
            </a:r>
            <a:r>
              <a:rPr lang="en-CA" dirty="0">
                <a:solidFill>
                  <a:srgbClr val="0000FF"/>
                </a:solidFill>
              </a:rPr>
              <a:t>fully associative”</a:t>
            </a:r>
            <a:r>
              <a:rPr lang="en-CA" dirty="0"/>
              <a:t>)</a:t>
            </a:r>
          </a:p>
          <a:p>
            <a:endParaRPr lang="en-CA" dirty="0"/>
          </a:p>
          <a:p>
            <a:r>
              <a:rPr lang="en-CA" dirty="0"/>
              <a:t>If cache full (no blocks are “invalid”), need to make space for new block by “</a:t>
            </a:r>
            <a:r>
              <a:rPr lang="en-CA" dirty="0">
                <a:solidFill>
                  <a:srgbClr val="0000FF"/>
                </a:solidFill>
              </a:rPr>
              <a:t>evicting”</a:t>
            </a:r>
            <a:r>
              <a:rPr lang="en-CA" dirty="0"/>
              <a:t> a “valid” block from cache.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33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Which block gets evicted?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Which is best block to evict?  Recall we want to keep useful data in cache.  So, we need to consider locality.</a:t>
            </a:r>
          </a:p>
          <a:p>
            <a:endParaRPr lang="en-CA" dirty="0"/>
          </a:p>
          <a:p>
            <a:r>
              <a:rPr lang="en-CA" dirty="0">
                <a:solidFill>
                  <a:srgbClr val="0000FF"/>
                </a:solidFill>
              </a:rPr>
              <a:t>Provably optimal (</a:t>
            </a:r>
            <a:r>
              <a:rPr lang="en-US" dirty="0" err="1">
                <a:solidFill>
                  <a:srgbClr val="0000FF"/>
                </a:solidFill>
              </a:rPr>
              <a:t>Bélády</a:t>
            </a:r>
            <a:r>
              <a:rPr lang="en-CA" dirty="0">
                <a:solidFill>
                  <a:srgbClr val="0000FF"/>
                </a:solidFill>
              </a:rPr>
              <a:t>): evict block that will be accessed again furthest in future.</a:t>
            </a:r>
          </a:p>
          <a:p>
            <a:endParaRPr lang="en-CA" dirty="0"/>
          </a:p>
          <a:p>
            <a:r>
              <a:rPr lang="en-CA" dirty="0">
                <a:solidFill>
                  <a:srgbClr val="FF0000"/>
                </a:solidFill>
              </a:rPr>
              <a:t>Problem: Hardware does not know future.</a:t>
            </a:r>
            <a:r>
              <a:rPr lang="en-CA" dirty="0"/>
              <a:t>  Need prediction mechanism.</a:t>
            </a:r>
          </a:p>
          <a:p>
            <a:pPr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34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predict?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Goal: Want to predict which block will be accessed furthest in future.</a:t>
            </a:r>
          </a:p>
          <a:p>
            <a:endParaRPr lang="en-CA" dirty="0"/>
          </a:p>
          <a:p>
            <a:r>
              <a:rPr lang="en-CA" dirty="0"/>
              <a:t>Observation:  For many programs, the longer a block has not been accessed, the less likely it is that we will access it soon.</a:t>
            </a:r>
          </a:p>
          <a:p>
            <a:endParaRPr lang="en-CA" dirty="0"/>
          </a:p>
          <a:p>
            <a:r>
              <a:rPr lang="en-CA" dirty="0"/>
              <a:t> Can quantify this using “reuse distance”.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35</a:t>
            </a:fld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Reuse Distance (Definition)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Consider sequence of memory accesses to blocks </a:t>
            </a:r>
            <a:r>
              <a:rPr lang="en-CA" dirty="0">
                <a:solidFill>
                  <a:srgbClr val="FF0000"/>
                </a:solidFill>
              </a:rPr>
              <a:t>A</a:t>
            </a:r>
            <a:r>
              <a:rPr lang="en-CA" dirty="0"/>
              <a:t>, </a:t>
            </a:r>
            <a:r>
              <a:rPr lang="en-CA" dirty="0">
                <a:solidFill>
                  <a:srgbClr val="0000FF"/>
                </a:solidFill>
              </a:rPr>
              <a:t>B</a:t>
            </a:r>
            <a:r>
              <a:rPr lang="en-CA" dirty="0"/>
              <a:t>, </a:t>
            </a:r>
            <a:r>
              <a:rPr lang="en-CA" dirty="0">
                <a:solidFill>
                  <a:srgbClr val="00B050"/>
                </a:solidFill>
              </a:rPr>
              <a:t>C</a:t>
            </a:r>
            <a:r>
              <a:rPr lang="en-CA" dirty="0"/>
              <a:t>, </a:t>
            </a:r>
            <a:r>
              <a:rPr lang="en-CA" dirty="0">
                <a:solidFill>
                  <a:srgbClr val="FF00FF"/>
                </a:solidFill>
              </a:rPr>
              <a:t>D</a:t>
            </a:r>
            <a:r>
              <a:rPr lang="en-CA" dirty="0"/>
              <a:t>, and </a:t>
            </a:r>
            <a:r>
              <a:rPr lang="en-CA" dirty="0">
                <a:solidFill>
                  <a:srgbClr val="FFC000"/>
                </a:solidFill>
              </a:rPr>
              <a:t>E</a:t>
            </a:r>
            <a:r>
              <a:rPr lang="en-CA" dirty="0"/>
              <a:t>:</a:t>
            </a:r>
          </a:p>
          <a:p>
            <a:endParaRPr lang="en-CA" dirty="0"/>
          </a:p>
          <a:p>
            <a:pPr>
              <a:buNone/>
            </a:pPr>
            <a:r>
              <a:rPr lang="en-CA" dirty="0"/>
              <a:t>		</a:t>
            </a:r>
            <a:r>
              <a:rPr lang="en-CA" dirty="0">
                <a:solidFill>
                  <a:srgbClr val="FF0000"/>
                </a:solidFill>
              </a:rPr>
              <a:t>A</a:t>
            </a:r>
            <a:r>
              <a:rPr lang="en-CA" dirty="0">
                <a:solidFill>
                  <a:srgbClr val="0000FF"/>
                </a:solidFill>
              </a:rPr>
              <a:t>BB</a:t>
            </a:r>
            <a:r>
              <a:rPr lang="en-CA" dirty="0">
                <a:solidFill>
                  <a:srgbClr val="00B050"/>
                </a:solidFill>
              </a:rPr>
              <a:t>C</a:t>
            </a:r>
            <a:r>
              <a:rPr lang="en-CA" dirty="0">
                <a:solidFill>
                  <a:srgbClr val="0000FF"/>
                </a:solidFill>
              </a:rPr>
              <a:t>B</a:t>
            </a:r>
            <a:r>
              <a:rPr lang="en-CA" dirty="0">
                <a:solidFill>
                  <a:srgbClr val="00B050"/>
                </a:solidFill>
              </a:rPr>
              <a:t>CC</a:t>
            </a:r>
            <a:r>
              <a:rPr lang="en-CA" dirty="0">
                <a:solidFill>
                  <a:srgbClr val="FF00FF"/>
                </a:solidFill>
              </a:rPr>
              <a:t>D</a:t>
            </a:r>
            <a:r>
              <a:rPr lang="en-CA" dirty="0">
                <a:solidFill>
                  <a:srgbClr val="0000FF"/>
                </a:solidFill>
              </a:rPr>
              <a:t>BB</a:t>
            </a:r>
            <a:r>
              <a:rPr lang="en-CA" dirty="0">
                <a:solidFill>
                  <a:srgbClr val="FFC000"/>
                </a:solidFill>
              </a:rPr>
              <a:t>E</a:t>
            </a:r>
            <a:r>
              <a:rPr lang="en-CA" dirty="0">
                <a:solidFill>
                  <a:srgbClr val="FF00FF"/>
                </a:solidFill>
              </a:rPr>
              <a:t>D</a:t>
            </a:r>
            <a:r>
              <a:rPr lang="en-CA" dirty="0">
                <a:solidFill>
                  <a:srgbClr val="0000FF"/>
                </a:solidFill>
              </a:rPr>
              <a:t>BBB</a:t>
            </a:r>
            <a:r>
              <a:rPr lang="en-CA" dirty="0">
                <a:solidFill>
                  <a:srgbClr val="FF0000"/>
                </a:solidFill>
              </a:rPr>
              <a:t>A</a:t>
            </a:r>
          </a:p>
          <a:p>
            <a:endParaRPr lang="en-CA" dirty="0"/>
          </a:p>
          <a:p>
            <a:r>
              <a:rPr lang="en-CA" dirty="0"/>
              <a:t>Between two accesses to block </a:t>
            </a:r>
            <a:r>
              <a:rPr lang="en-CA" dirty="0">
                <a:solidFill>
                  <a:srgbClr val="FF0000"/>
                </a:solidFill>
              </a:rPr>
              <a:t>A</a:t>
            </a:r>
            <a:r>
              <a:rPr lang="en-CA" dirty="0"/>
              <a:t> made 14 accesses to four unique blocks (</a:t>
            </a:r>
            <a:r>
              <a:rPr lang="en-CA" dirty="0">
                <a:solidFill>
                  <a:srgbClr val="0000FF"/>
                </a:solidFill>
              </a:rPr>
              <a:t>B</a:t>
            </a:r>
            <a:r>
              <a:rPr lang="en-CA" dirty="0"/>
              <a:t>, </a:t>
            </a:r>
            <a:r>
              <a:rPr lang="en-CA" dirty="0">
                <a:solidFill>
                  <a:srgbClr val="00B050"/>
                </a:solidFill>
              </a:rPr>
              <a:t>C</a:t>
            </a:r>
            <a:r>
              <a:rPr lang="en-CA" dirty="0"/>
              <a:t>, </a:t>
            </a:r>
            <a:r>
              <a:rPr lang="en-CA" dirty="0">
                <a:solidFill>
                  <a:srgbClr val="FF00FF"/>
                </a:solidFill>
              </a:rPr>
              <a:t>D</a:t>
            </a:r>
            <a:r>
              <a:rPr lang="en-CA" dirty="0"/>
              <a:t>, </a:t>
            </a:r>
            <a:r>
              <a:rPr lang="en-CA" dirty="0">
                <a:solidFill>
                  <a:srgbClr val="FFC000"/>
                </a:solidFill>
              </a:rPr>
              <a:t>E</a:t>
            </a:r>
            <a:r>
              <a:rPr lang="en-CA" dirty="0"/>
              <a:t>)</a:t>
            </a:r>
          </a:p>
          <a:p>
            <a:endParaRPr lang="en-CA" dirty="0"/>
          </a:p>
          <a:p>
            <a:r>
              <a:rPr lang="en-CA" dirty="0"/>
              <a:t>Reuse distance for A is four.</a:t>
            </a:r>
          </a:p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36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Reuse distance measurement</a:t>
            </a:r>
          </a:p>
        </p:txBody>
      </p:sp>
      <p:pic>
        <p:nvPicPr>
          <p:cNvPr id="5" name="Picture 4" descr="applu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42448" y="976953"/>
            <a:ext cx="4353636" cy="4353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 bwMode="auto">
          <a:xfrm>
            <a:off x="3357349" y="5104263"/>
            <a:ext cx="1337481" cy="28660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37</a:t>
            </a:fld>
            <a:r>
              <a:rPr lang="en-US"/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724A79-80AF-DF84-EABE-B393E4C6F0A5}"/>
              </a:ext>
            </a:extLst>
          </p:cNvPr>
          <p:cNvSpPr txBox="1">
            <a:spLocks/>
          </p:cNvSpPr>
          <p:nvPr/>
        </p:nvSpPr>
        <p:spPr bwMode="auto">
          <a:xfrm>
            <a:off x="0" y="5646761"/>
            <a:ext cx="9144000" cy="830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Arial  "/>
                <a:ea typeface="+mn-ea"/>
                <a:cs typeface="Arial  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  "/>
                <a:ea typeface="+mn-ea"/>
                <a:cs typeface="Arial  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 "/>
                <a:ea typeface="+mn-ea"/>
                <a:cs typeface="Arial  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Arial  "/>
                <a:ea typeface="+mn-ea"/>
                <a:cs typeface="Arial  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  "/>
                <a:ea typeface="+mn-ea"/>
                <a:cs typeface="Arial  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Tx/>
              <a:buNone/>
            </a:pPr>
            <a:r>
              <a:rPr lang="en-US" kern="0" dirty="0"/>
              <a:t> typically, </a:t>
            </a:r>
            <a:r>
              <a:rPr lang="en-US" b="1" kern="0" dirty="0"/>
              <a:t>recently used</a:t>
            </a:r>
            <a:r>
              <a:rPr lang="en-US" kern="0" dirty="0"/>
              <a:t> data accessed most frequently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t>Replacement Policy (RP)</a:t>
            </a:r>
          </a:p>
        </p:txBody>
      </p:sp>
      <p:sp>
        <p:nvSpPr>
          <p:cNvPr id="324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85800" y="1489121"/>
            <a:ext cx="8140700" cy="4759279"/>
          </a:xfrm>
          <a:prstGeom prst="rect">
            <a:avLst/>
          </a:prstGeom>
        </p:spPr>
        <p:txBody>
          <a:bodyPr/>
          <a:lstStyle/>
          <a:p>
            <a:r>
              <a:rPr dirty="0"/>
              <a:t>algorithm used to decide which block to evict</a:t>
            </a:r>
          </a:p>
          <a:p>
            <a:endParaRPr dirty="0"/>
          </a:p>
          <a:p>
            <a:r>
              <a:rPr dirty="0"/>
              <a:t>some ideas for choosing </a:t>
            </a:r>
            <a:r>
              <a:rPr b="1" dirty="0"/>
              <a:t>replacement victim</a:t>
            </a:r>
            <a:r>
              <a:rPr dirty="0"/>
              <a:t>: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random (works better than you would expect) </a:t>
            </a:r>
            <a:r>
              <a:rPr dirty="0">
                <a:latin typeface="Wingdings"/>
                <a:ea typeface="Wingdings"/>
                <a:cs typeface="Wingdings"/>
                <a:sym typeface="Wingdings"/>
              </a:rPr>
              <a:t>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least frequently used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least recently used </a:t>
            </a:r>
            <a:r>
              <a:rPr dirty="0">
                <a:latin typeface="Wingdings"/>
                <a:ea typeface="Wingdings"/>
                <a:cs typeface="Wingdings"/>
                <a:sym typeface="Wingdings"/>
              </a:rPr>
              <a:t></a:t>
            </a:r>
          </a:p>
          <a:p>
            <a:endParaRPr sz="2400" dirty="0"/>
          </a:p>
          <a:p>
            <a:r>
              <a:rPr dirty="0"/>
              <a:t>what do we need to keep track of?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LFU?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LRU?</a:t>
            </a:r>
          </a:p>
        </p:txBody>
      </p:sp>
      <p:sp>
        <p:nvSpPr>
          <p:cNvPr id="325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8156292" y="6248400"/>
            <a:ext cx="301909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fld id="{86CB4B4D-7CA3-9044-876B-883B54F8677D}" type="slidenum">
              <a:rPr lang="en-US" smtClean="0"/>
              <a:pPr/>
              <a:t>38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3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build="p" animBg="1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t>Random Replacement</a:t>
            </a:r>
          </a:p>
        </p:txBody>
      </p:sp>
      <p:sp>
        <p:nvSpPr>
          <p:cNvPr id="32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85800" y="1489121"/>
            <a:ext cx="8458200" cy="4759279"/>
          </a:xfrm>
          <a:prstGeom prst="rect">
            <a:avLst/>
          </a:prstGeom>
        </p:spPr>
        <p:txBody>
          <a:bodyPr/>
          <a:lstStyle/>
          <a:p>
            <a:pPr marL="336042" indent="-336042" defTabSz="896111">
              <a:defRPr sz="2744"/>
            </a:pPr>
            <a:r>
              <a:rPr dirty="0"/>
              <a:t>select victim uniformly at random</a:t>
            </a:r>
          </a:p>
          <a:p>
            <a:pPr marL="728091" lvl="1" indent="-280035" defTabSz="896111">
              <a:spcBef>
                <a:spcPts val="500"/>
              </a:spcBef>
              <a:defRPr sz="2352"/>
            </a:pPr>
            <a:r>
              <a:rPr dirty="0"/>
              <a:t>pros: don’t need to remember anything!</a:t>
            </a:r>
          </a:p>
          <a:p>
            <a:pPr marL="728091" lvl="1" indent="-280035" defTabSz="896111">
              <a:spcBef>
                <a:spcPts val="500"/>
              </a:spcBef>
              <a:defRPr sz="2352"/>
            </a:pPr>
            <a:r>
              <a:rPr dirty="0"/>
              <a:t>but how well does it work?</a:t>
            </a:r>
          </a:p>
          <a:p>
            <a:pPr marL="336042" indent="-336042" defTabSz="896111">
              <a:defRPr sz="2744"/>
            </a:pPr>
            <a:endParaRPr dirty="0"/>
          </a:p>
          <a:p>
            <a:pPr marL="336042" indent="-336042" defTabSz="896111">
              <a:defRPr sz="2744"/>
            </a:pPr>
            <a:r>
              <a:rPr dirty="0"/>
              <a:t>consider, e.g., accesses</a:t>
            </a:r>
            <a:br>
              <a:rPr dirty="0"/>
            </a:br>
            <a:r>
              <a:rPr dirty="0"/>
              <a:t>			</a:t>
            </a:r>
            <a:r>
              <a:rPr b="1" dirty="0">
                <a:latin typeface="Inconsolata"/>
                <a:ea typeface="Inconsolata"/>
                <a:cs typeface="Inconsolata"/>
                <a:sym typeface="Inconsolata"/>
              </a:rPr>
              <a:t>AAAABAAAACAAAAD</a:t>
            </a:r>
            <a:r>
              <a:rPr dirty="0"/>
              <a:t>... = (</a:t>
            </a:r>
            <a:r>
              <a:rPr b="1" dirty="0" err="1">
                <a:latin typeface="Inconsolata"/>
                <a:ea typeface="Inconsolata"/>
                <a:cs typeface="Inconsolata"/>
                <a:sym typeface="Inconsolata"/>
              </a:rPr>
              <a:t>AAAAx</a:t>
            </a:r>
            <a:r>
              <a:rPr dirty="0"/>
              <a:t>)</a:t>
            </a:r>
            <a:r>
              <a:rPr baseline="29959" dirty="0"/>
              <a:t>n</a:t>
            </a:r>
          </a:p>
          <a:p>
            <a:pPr marL="728091" lvl="1" indent="-280035" defTabSz="896111">
              <a:spcBef>
                <a:spcPts val="500"/>
              </a:spcBef>
              <a:defRPr sz="2352"/>
            </a:pPr>
            <a:r>
              <a:rPr dirty="0"/>
              <a:t>lowest possible miss rate?</a:t>
            </a:r>
          </a:p>
          <a:p>
            <a:pPr marL="728091" lvl="1" indent="-280035" defTabSz="896111">
              <a:spcBef>
                <a:spcPts val="500"/>
              </a:spcBef>
              <a:defRPr sz="2352"/>
            </a:pPr>
            <a:r>
              <a:rPr dirty="0"/>
              <a:t>miss rate if we always evict A?</a:t>
            </a:r>
          </a:p>
          <a:p>
            <a:pPr marL="728091" lvl="1" indent="-280035" defTabSz="896111">
              <a:spcBef>
                <a:spcPts val="500"/>
              </a:spcBef>
              <a:defRPr sz="2352"/>
            </a:pPr>
            <a:r>
              <a:rPr dirty="0"/>
              <a:t>w/ 32-entry fully associative cache &amp; random RP?</a:t>
            </a:r>
          </a:p>
          <a:p>
            <a:pPr marL="1120140" lvl="2" indent="-224027" defTabSz="896111">
              <a:spcBef>
                <a:spcPts val="400"/>
              </a:spcBef>
              <a:defRPr sz="1960"/>
            </a:pPr>
            <a:r>
              <a:rPr dirty="0"/>
              <a:t>1/5 + 1/5×1/32 ≈ 0.23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" grpId="0" build="p" bldLvl="5" animBg="1" advAuto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t>Natural Selection Analogy</a:t>
            </a:r>
          </a:p>
        </p:txBody>
      </p:sp>
      <p:pic>
        <p:nvPicPr>
          <p:cNvPr id="331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242" y="1722086"/>
            <a:ext cx="4127501" cy="4279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2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995" y="1265904"/>
            <a:ext cx="1218058" cy="9123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33" name="Picture 6" descr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358" y="5596425"/>
            <a:ext cx="1316221" cy="1067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" name="Picture 7" descr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304" y="4506205"/>
            <a:ext cx="1267440" cy="897177"/>
          </a:xfrm>
          <a:prstGeom prst="rect">
            <a:avLst/>
          </a:prstGeom>
          <a:ln w="12700">
            <a:miter lim="400000"/>
          </a:ln>
        </p:spPr>
      </p:pic>
      <p:pic>
        <p:nvPicPr>
          <p:cNvPr id="335" name="Picture 9" descr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9302" y="3420771"/>
            <a:ext cx="1511501" cy="8464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6" name="Picture 10" descr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5597" y="2244132"/>
            <a:ext cx="1286453" cy="10913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Least Recently Used (LRU)</a:t>
            </a:r>
          </a:p>
        </p:txBody>
      </p:sp>
      <p:sp>
        <p:nvSpPr>
          <p:cNvPr id="33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85800" y="1166880"/>
            <a:ext cx="8229600" cy="5538723"/>
          </a:xfrm>
          <a:prstGeom prst="rect">
            <a:avLst/>
          </a:prstGeom>
        </p:spPr>
        <p:txBody>
          <a:bodyPr/>
          <a:lstStyle/>
          <a:p>
            <a:r>
              <a:rPr dirty="0"/>
              <a:t>naïve: timestamp per cache block (cons?)</a:t>
            </a:r>
          </a:p>
          <a:p>
            <a:pPr marL="742950" lvl="1" indent="-285750">
              <a:spcBef>
                <a:spcPts val="500"/>
              </a:spcBef>
              <a:defRPr sz="2400"/>
            </a:pPr>
            <a:endParaRPr dirty="0"/>
          </a:p>
          <a:p>
            <a:r>
              <a:rPr dirty="0"/>
              <a:t>two-way set associative: one LRU bit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if last touched left way, LRU bit </a:t>
            </a:r>
            <a:r>
              <a:rPr dirty="0">
                <a:latin typeface="Wingdings"/>
                <a:ea typeface="Wingdings"/>
                <a:cs typeface="Wingdings"/>
                <a:sym typeface="Wingdings"/>
              </a:rPr>
              <a:t></a:t>
            </a:r>
            <a:r>
              <a:rPr dirty="0"/>
              <a:t> 0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if last touched right way, LRU bit </a:t>
            </a:r>
            <a:r>
              <a:rPr dirty="0">
                <a:latin typeface="Wingdings"/>
                <a:ea typeface="Wingdings"/>
                <a:cs typeface="Wingdings"/>
                <a:sym typeface="Wingdings"/>
              </a:rPr>
              <a:t> </a:t>
            </a:r>
            <a:r>
              <a:rPr dirty="0"/>
              <a:t>1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if bit 0, replace right, else left</a:t>
            </a:r>
          </a:p>
          <a:p>
            <a:pPr marL="742950" lvl="1" indent="-285750">
              <a:spcBef>
                <a:spcPts val="500"/>
              </a:spcBef>
              <a:defRPr sz="2400"/>
            </a:pPr>
            <a:endParaRPr dirty="0"/>
          </a:p>
          <a:p>
            <a:r>
              <a:rPr dirty="0"/>
              <a:t>&gt;2 ways: many choices for pseudo-LRU (</a:t>
            </a:r>
            <a:r>
              <a:rPr dirty="0" err="1"/>
              <a:t>pLRU</a:t>
            </a:r>
            <a:r>
              <a:rPr dirty="0"/>
              <a:t>)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MRU bit per block, clear all when all set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 err="1"/>
              <a:t>rereference</a:t>
            </a:r>
            <a:r>
              <a:rPr dirty="0"/>
              <a:t> prediction value (RRPV) per block,</a:t>
            </a:r>
            <a:br>
              <a:rPr dirty="0"/>
            </a:br>
            <a:r>
              <a:rPr dirty="0"/>
              <a:t>set to max @ insert or hit, decrement over time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" grpId="0" build="p" animBg="1" advAuto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F608-F0B1-C3BA-7FB2-56694F74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Tree-based Pseudo LRU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79045-422B-B6AC-0128-C052C48D0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N-1 bits for N blocks: 0=&gt;go left, 1=&gt;go right. Flip bits while traversing to find block to evict.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3BC2A-3567-5A32-B085-6761D429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42</a:t>
            </a:fld>
            <a:r>
              <a:rPr lang="en-US"/>
              <a:t> </a:t>
            </a:r>
          </a:p>
        </p:txBody>
      </p:sp>
      <p:pic>
        <p:nvPicPr>
          <p:cNvPr id="74754" name="Picture 2" descr="Pseudo LRU working">
            <a:extLst>
              <a:ext uri="{FF2B5EF4-FFF2-40B4-BE49-F238E27FC236}">
                <a16:creationId xmlns:a16="http://schemas.microsoft.com/office/drawing/2014/main" id="{0439B774-D381-01BF-6DC5-4D9FF1D29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133" y="2513027"/>
            <a:ext cx="5190625" cy="358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B92FE0-4E40-BF14-A55E-9295C7C292BC}"/>
              </a:ext>
            </a:extLst>
          </p:cNvPr>
          <p:cNvSpPr txBox="1"/>
          <p:nvPr/>
        </p:nvSpPr>
        <p:spPr>
          <a:xfrm>
            <a:off x="1390467" y="6250546"/>
            <a:ext cx="5783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en.wikipedia.org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/wiki/Pseudo-LRU</a:t>
            </a:r>
          </a:p>
        </p:txBody>
      </p:sp>
    </p:spTree>
    <p:extLst>
      <p:ext uri="{BB962C8B-B14F-4D97-AF65-F5344CB8AC3E}">
        <p14:creationId xmlns:p14="http://schemas.microsoft.com/office/powerpoint/2010/main" val="25511900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  " charset="0"/>
                <a:cs typeface="Arial  " charset="0"/>
              </a:rPr>
              <a:t>Question</a:t>
            </a:r>
          </a:p>
        </p:txBody>
      </p:sp>
      <p:sp>
        <p:nvSpPr>
          <p:cNvPr id="471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235120"/>
            <a:ext cx="7772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Arial  " charset="0"/>
                <a:cs typeface="Arial  " charset="0"/>
              </a:rPr>
              <a:t>Assume fully associative cache with 8 one-byte blocks.  Consider the following series of memory references (byte addresses, in decimal): 2, 3, 2, 8, 10, and 2.  After this sequence has been observed, what is the tag of the least recently used block?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Arial  " charset="0"/>
              <a:cs typeface="Arial  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dirty="0">
                <a:latin typeface="Arial  " charset="0"/>
                <a:cs typeface="Arial  " charset="0"/>
              </a:rPr>
              <a:t>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43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45EE-38F6-0949-995C-BA1940AF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Associative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90060-AF0F-EE4B-9CA2-EC5943D1C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44</a:t>
            </a:fld>
            <a:r>
              <a:rPr lang="en-US"/>
              <a:t> </a:t>
            </a:r>
          </a:p>
        </p:txBody>
      </p:sp>
      <p:pic>
        <p:nvPicPr>
          <p:cNvPr id="11" name="Picture 10" descr="ss3-equal-circuit.emf">
            <a:extLst>
              <a:ext uri="{FF2B5EF4-FFF2-40B4-BE49-F238E27FC236}">
                <a16:creationId xmlns:a16="http://schemas.microsoft.com/office/drawing/2014/main" id="{3481D3B3-0354-F642-954D-CD8BA7EAC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39" y="4877842"/>
            <a:ext cx="2600739" cy="189491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C06FCBA-77DE-F741-A828-DB339CAD21B3}"/>
              </a:ext>
            </a:extLst>
          </p:cNvPr>
          <p:cNvSpPr/>
          <p:nvPr/>
        </p:nvSpPr>
        <p:spPr bwMode="auto">
          <a:xfrm>
            <a:off x="417076" y="5622469"/>
            <a:ext cx="503581" cy="44068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106" charset="-52"/>
                <a:ea typeface="ＭＳ Ｐゴシック" pitchFamily="-106" charset="-128"/>
                <a:cs typeface="ＭＳ Ｐゴシック" pitchFamily="-106" charset="-128"/>
              </a:rPr>
              <a:t> 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873302-0BB4-9246-B16A-20B92EA0833D}"/>
              </a:ext>
            </a:extLst>
          </p:cNvPr>
          <p:cNvSpPr txBox="1"/>
          <p:nvPr/>
        </p:nvSpPr>
        <p:spPr>
          <a:xfrm>
            <a:off x="0" y="4416177"/>
            <a:ext cx="4408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4-bit tag comparison hardware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8CC53E-3B47-AB4C-B8A4-977E20375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819" y="1143000"/>
            <a:ext cx="6405854" cy="460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5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Problem with Fully Associative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Comparing all tags in parallel is expensive (time, area and energy).</a:t>
            </a:r>
          </a:p>
          <a:p>
            <a:endParaRPr lang="en-CA" dirty="0"/>
          </a:p>
          <a:p>
            <a:r>
              <a:rPr lang="en-CA" dirty="0"/>
              <a:t>Can avoid multiple tag comparisons if block can only be stored in single row in cache. This is called “</a:t>
            </a:r>
            <a:r>
              <a:rPr lang="en-CA" dirty="0">
                <a:solidFill>
                  <a:srgbClr val="0000FF"/>
                </a:solidFill>
              </a:rPr>
              <a:t>direct mapped</a:t>
            </a:r>
            <a:r>
              <a:rPr lang="en-CA" dirty="0"/>
              <a:t>”.  Then, only one tag needs to be checked.</a:t>
            </a:r>
          </a:p>
          <a:p>
            <a:endParaRPr lang="en-CA" dirty="0"/>
          </a:p>
          <a:p>
            <a:r>
              <a:rPr lang="en-CA" dirty="0"/>
              <a:t>Also makes replacement decision easy (only one choice of what to evict).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45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Direct Mapped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266" y="1143000"/>
            <a:ext cx="7772400" cy="5562600"/>
          </a:xfrm>
        </p:spPr>
        <p:txBody>
          <a:bodyPr/>
          <a:lstStyle/>
          <a:p>
            <a:r>
              <a:rPr lang="en-CA" dirty="0"/>
              <a:t>Given start address of block need way for hardware to select single row of cache to place block in.</a:t>
            </a:r>
          </a:p>
          <a:p>
            <a:r>
              <a:rPr lang="en-CA" dirty="0"/>
              <a:t>Start of block is aligned so least significant log</a:t>
            </a:r>
            <a:r>
              <a:rPr lang="en-CA" baseline="-25000" dirty="0"/>
              <a:t>2</a:t>
            </a:r>
            <a:r>
              <a:rPr lang="en-CA" dirty="0"/>
              <a:t>(block size) bits in address are zero. Use hash on remaining address bits to compute an </a:t>
            </a:r>
            <a:r>
              <a:rPr lang="en-CA" b="1" dirty="0">
                <a:solidFill>
                  <a:srgbClr val="0000FF"/>
                </a:solidFill>
              </a:rPr>
              <a:t>index</a:t>
            </a:r>
            <a:r>
              <a:rPr lang="en-CA" dirty="0"/>
              <a:t> used to select row.  </a:t>
            </a:r>
          </a:p>
          <a:p>
            <a:endParaRPr lang="en-CA" dirty="0"/>
          </a:p>
          <a:p>
            <a:r>
              <a:rPr lang="en-CA" dirty="0"/>
              <a:t>Typically, use next log</a:t>
            </a:r>
            <a:r>
              <a:rPr lang="en-CA" baseline="-25000" dirty="0"/>
              <a:t>2</a:t>
            </a:r>
            <a:r>
              <a:rPr lang="en-CA" dirty="0"/>
              <a:t>(number of rows) least significant bits of block start address as hash function: </a:t>
            </a:r>
            <a:r>
              <a:rPr lang="en-CA" sz="2400" b="1" i="1" dirty="0">
                <a:solidFill>
                  <a:srgbClr val="0000FF"/>
                </a:solidFill>
              </a:rPr>
              <a:t>index = block address % num. rows</a:t>
            </a:r>
            <a:endParaRPr lang="en-CA" b="1" i="1" dirty="0">
              <a:solidFill>
                <a:srgbClr val="0000FF"/>
              </a:solidFill>
            </a:endParaRP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46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823913"/>
          </a:xfrm>
        </p:spPr>
        <p:txBody>
          <a:bodyPr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Direct Mapped Cache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732" y="872141"/>
            <a:ext cx="7920891" cy="218495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000" dirty="0">
                <a:latin typeface="Arial  " charset="0"/>
                <a:cs typeface="Arial  " charset="0"/>
              </a:rPr>
              <a:t>	“Block Address” is starting address of block with log</a:t>
            </a:r>
            <a:r>
              <a:rPr lang="en-US" sz="2000" baseline="-25000" dirty="0">
                <a:latin typeface="Arial  " charset="0"/>
                <a:cs typeface="Arial  " charset="0"/>
              </a:rPr>
              <a:t>2</a:t>
            </a:r>
            <a:r>
              <a:rPr lang="en-US" sz="2000" dirty="0">
                <a:latin typeface="Arial  " charset="0"/>
                <a:cs typeface="Arial  " charset="0"/>
              </a:rPr>
              <a:t>(block size) least significant bits truncated (removed).</a:t>
            </a:r>
          </a:p>
          <a:p>
            <a:pPr eaLnBrk="1" hangingPunct="1">
              <a:buFontTx/>
              <a:buNone/>
            </a:pPr>
            <a:endParaRPr lang="en-US" sz="2000" dirty="0">
              <a:latin typeface="Arial  " charset="0"/>
              <a:cs typeface="Arial  " charset="0"/>
            </a:endParaRPr>
          </a:p>
          <a:p>
            <a:pPr eaLnBrk="1" hangingPunct="1">
              <a:buFontTx/>
              <a:buNone/>
            </a:pPr>
            <a:r>
              <a:rPr lang="en-US" sz="2000" dirty="0">
                <a:latin typeface="Arial  " charset="0"/>
                <a:cs typeface="Arial  " charset="0"/>
              </a:rPr>
              <a:t>	Address:    </a:t>
            </a:r>
          </a:p>
          <a:p>
            <a:pPr eaLnBrk="1" hangingPunct="1">
              <a:buFontTx/>
              <a:buNone/>
            </a:pPr>
            <a:endParaRPr lang="en-US" sz="2000" dirty="0">
              <a:latin typeface="Arial  " charset="0"/>
              <a:cs typeface="Arial  " charset="0"/>
            </a:endParaRPr>
          </a:p>
          <a:p>
            <a:pPr eaLnBrk="1" hangingPunct="1">
              <a:buFontTx/>
              <a:buNone/>
            </a:pPr>
            <a:r>
              <a:rPr lang="en-US" sz="2000" dirty="0">
                <a:latin typeface="Arial  " charset="0"/>
                <a:cs typeface="Arial  " charset="0"/>
              </a:rPr>
              <a:t>	Index = (Block Address) modulo (Number of Rows)</a:t>
            </a:r>
          </a:p>
          <a:p>
            <a:pPr eaLnBrk="1" hangingPunct="1">
              <a:buFontTx/>
              <a:buNone/>
            </a:pPr>
            <a:endParaRPr lang="en-US" sz="1000" dirty="0">
              <a:latin typeface="Arial  " charset="0"/>
              <a:cs typeface="Arial  " charset="0"/>
            </a:endParaRPr>
          </a:p>
          <a:p>
            <a:pPr eaLnBrk="1" hangingPunct="1">
              <a:buFontTx/>
              <a:buNone/>
            </a:pPr>
            <a:r>
              <a:rPr lang="en-US" sz="2000" dirty="0">
                <a:latin typeface="Arial  " charset="0"/>
                <a:cs typeface="Arial  " charset="0"/>
              </a:rPr>
              <a:t>     Address:</a:t>
            </a:r>
          </a:p>
        </p:txBody>
      </p:sp>
      <p:grpSp>
        <p:nvGrpSpPr>
          <p:cNvPr id="12" name="Group 11"/>
          <p:cNvGrpSpPr>
            <a:grpSpLocks noChangeAspect="1"/>
          </p:cNvGrpSpPr>
          <p:nvPr/>
        </p:nvGrpSpPr>
        <p:grpSpPr>
          <a:xfrm>
            <a:off x="1810605" y="3643155"/>
            <a:ext cx="4709160" cy="3275330"/>
            <a:chOff x="1414821" y="2790466"/>
            <a:chExt cx="5886450" cy="4094163"/>
          </a:xfrm>
        </p:grpSpPr>
        <p:pic>
          <p:nvPicPr>
            <p:cNvPr id="24580" name="Picture 5" descr="Figure_7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14821" y="2790466"/>
              <a:ext cx="5886450" cy="4094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581" name="Rectangle 6"/>
            <p:cNvSpPr>
              <a:spLocks noChangeArrowheads="1"/>
            </p:cNvSpPr>
            <p:nvPr/>
          </p:nvSpPr>
          <p:spPr bwMode="auto">
            <a:xfrm>
              <a:off x="4648558" y="3568341"/>
              <a:ext cx="152400" cy="1041400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2" name="Rectangle 7"/>
            <p:cNvSpPr>
              <a:spLocks noChangeArrowheads="1"/>
            </p:cNvSpPr>
            <p:nvPr/>
          </p:nvSpPr>
          <p:spPr bwMode="auto">
            <a:xfrm>
              <a:off x="2768958" y="5282841"/>
              <a:ext cx="152400" cy="1041400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3" name="Rectangle 8"/>
            <p:cNvSpPr>
              <a:spLocks noChangeArrowheads="1"/>
            </p:cNvSpPr>
            <p:nvPr/>
          </p:nvSpPr>
          <p:spPr bwMode="auto">
            <a:xfrm>
              <a:off x="4038958" y="5270141"/>
              <a:ext cx="152400" cy="1041400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4" name="Rectangle 9"/>
            <p:cNvSpPr>
              <a:spLocks noChangeArrowheads="1"/>
            </p:cNvSpPr>
            <p:nvPr/>
          </p:nvSpPr>
          <p:spPr bwMode="auto">
            <a:xfrm>
              <a:off x="5296258" y="5270141"/>
              <a:ext cx="152400" cy="1041400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5" name="Rectangle 10"/>
            <p:cNvSpPr>
              <a:spLocks noChangeArrowheads="1"/>
            </p:cNvSpPr>
            <p:nvPr/>
          </p:nvSpPr>
          <p:spPr bwMode="auto">
            <a:xfrm>
              <a:off x="6540858" y="5282841"/>
              <a:ext cx="152400" cy="1041400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" name="Rectangle 12"/>
          <p:cNvSpPr/>
          <p:nvPr/>
        </p:nvSpPr>
        <p:spPr bwMode="auto">
          <a:xfrm>
            <a:off x="2797791" y="1897039"/>
            <a:ext cx="5063319" cy="39578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106" charset="-52"/>
                <a:ea typeface="ＭＳ Ｐゴシック" pitchFamily="-106" charset="-128"/>
                <a:cs typeface="ＭＳ Ｐゴシック" pitchFamily="-106" charset="-128"/>
              </a:rPr>
              <a:t>    </a:t>
            </a:r>
            <a:r>
              <a:rPr kumimoji="0" lang="en-C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106" charset="-52"/>
                <a:ea typeface="ＭＳ Ｐゴシック" pitchFamily="-106" charset="-128"/>
                <a:cs typeface="ＭＳ Ｐゴシック" pitchFamily="-106" charset="-128"/>
              </a:rPr>
              <a:t>   </a:t>
            </a:r>
            <a:r>
              <a:rPr kumimoji="0" lang="en-C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106" charset="-52"/>
                <a:ea typeface="ＭＳ Ｐゴシック" pitchFamily="-106" charset="-128"/>
                <a:cs typeface="ＭＳ Ｐゴシック" pitchFamily="-106" charset="-128"/>
              </a:rPr>
              <a:t>Block Address</a:t>
            </a:r>
            <a:r>
              <a:rPr kumimoji="0" lang="en-C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106" charset="-52"/>
                <a:ea typeface="ＭＳ Ｐゴシック" pitchFamily="-106" charset="-128"/>
                <a:cs typeface="ＭＳ Ｐゴシック" pitchFamily="-106" charset="-128"/>
              </a:rPr>
              <a:t>        Block Offset</a:t>
            </a:r>
            <a:endParaRPr kumimoji="0" lang="en-C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5923134" y="1896981"/>
            <a:ext cx="0" cy="38213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47</a:t>
            </a:fld>
            <a:r>
              <a:rPr lang="en-US"/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BCA4C9-CAC5-D545-B4B6-9C5F7A8B6681}"/>
              </a:ext>
            </a:extLst>
          </p:cNvPr>
          <p:cNvSpPr/>
          <p:nvPr/>
        </p:nvSpPr>
        <p:spPr bwMode="auto">
          <a:xfrm>
            <a:off x="2797790" y="3200252"/>
            <a:ext cx="5063319" cy="39578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106" charset="-52"/>
                <a:ea typeface="ＭＳ Ｐゴシック" pitchFamily="-106" charset="-128"/>
                <a:cs typeface="ＭＳ Ｐゴシック" pitchFamily="-106" charset="-128"/>
              </a:rPr>
              <a:t>    </a:t>
            </a:r>
            <a:r>
              <a:rPr kumimoji="0" lang="en-C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106" charset="-52"/>
                <a:ea typeface="ＭＳ Ｐゴシック" pitchFamily="-106" charset="-128"/>
                <a:cs typeface="ＭＳ Ｐゴシック" pitchFamily="-106" charset="-128"/>
              </a:rPr>
              <a:t>     </a:t>
            </a:r>
            <a:r>
              <a:rPr kumimoji="0" lang="en-C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106" charset="-52"/>
                <a:ea typeface="ＭＳ Ｐゴシック" pitchFamily="-106" charset="-128"/>
                <a:cs typeface="ＭＳ Ｐゴシック" pitchFamily="-106" charset="-128"/>
              </a:rPr>
              <a:t>Tag          Index    </a:t>
            </a:r>
            <a:r>
              <a:rPr kumimoji="0" lang="en-C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106" charset="-52"/>
                <a:ea typeface="ＭＳ Ｐゴシック" pitchFamily="-106" charset="-128"/>
                <a:cs typeface="ＭＳ Ｐゴシック" pitchFamily="-106" charset="-128"/>
              </a:rPr>
              <a:t>Block Offset</a:t>
            </a:r>
            <a:endParaRPr kumimoji="0" lang="en-C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151070-0BDE-8D42-9252-FBAEF7CD9064}"/>
              </a:ext>
            </a:extLst>
          </p:cNvPr>
          <p:cNvCxnSpPr/>
          <p:nvPr/>
        </p:nvCxnSpPr>
        <p:spPr bwMode="auto">
          <a:xfrm>
            <a:off x="5911435" y="3200252"/>
            <a:ext cx="0" cy="38213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BC7147-B1BE-FB4B-AEBF-840E86E1AD62}"/>
              </a:ext>
            </a:extLst>
          </p:cNvPr>
          <p:cNvCxnSpPr/>
          <p:nvPr/>
        </p:nvCxnSpPr>
        <p:spPr bwMode="auto">
          <a:xfrm>
            <a:off x="4733177" y="3213503"/>
            <a:ext cx="0" cy="38213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9067476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>
                <a:latin typeface="Arial  " charset="0"/>
                <a:cs typeface="Arial  " charset="0"/>
              </a:rPr>
              <a:t>Direct Mapped Cache</a:t>
            </a:r>
            <a:endParaRPr lang="en-US" dirty="0">
              <a:latin typeface="Arial  " charset="0"/>
              <a:cs typeface="Arial  " charset="0"/>
            </a:endParaRPr>
          </a:p>
        </p:txBody>
      </p:sp>
      <p:pic>
        <p:nvPicPr>
          <p:cNvPr id="39940" name="Picture 5" descr="Figure_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040995"/>
            <a:ext cx="4989512" cy="447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22627" y="1371600"/>
            <a:ext cx="3821373" cy="4724400"/>
          </a:xfrm>
        </p:spPr>
        <p:txBody>
          <a:bodyPr/>
          <a:lstStyle/>
          <a:p>
            <a:r>
              <a:rPr lang="en-CA" dirty="0"/>
              <a:t>4-byte blocks, so block offset is 2-bits.</a:t>
            </a:r>
          </a:p>
          <a:p>
            <a:endParaRPr lang="en-CA" dirty="0"/>
          </a:p>
          <a:p>
            <a:r>
              <a:rPr lang="en-CA" dirty="0"/>
              <a:t>1024 rows so use log</a:t>
            </a:r>
            <a:r>
              <a:rPr lang="en-CA" baseline="-25000" dirty="0"/>
              <a:t>2</a:t>
            </a:r>
            <a:r>
              <a:rPr lang="en-CA" dirty="0"/>
              <a:t>(1024)=10-bits of address to select row. These bits are called “index”.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48</a:t>
            </a:fld>
            <a:r>
              <a:rPr lang="en-US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425063-32EA-1E42-A669-E82788C934AC}"/>
              </a:ext>
            </a:extLst>
          </p:cNvPr>
          <p:cNvSpPr txBox="1"/>
          <p:nvPr/>
        </p:nvSpPr>
        <p:spPr>
          <a:xfrm>
            <a:off x="397934" y="935335"/>
            <a:ext cx="290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LDR R1, [R2, #8]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5C22B600-3F10-9D4D-970A-9980D1603626}"/>
              </a:ext>
            </a:extLst>
          </p:cNvPr>
          <p:cNvSpPr/>
          <p:nvPr/>
        </p:nvSpPr>
        <p:spPr bwMode="auto">
          <a:xfrm rot="16200000">
            <a:off x="2389708" y="907068"/>
            <a:ext cx="210096" cy="1083733"/>
          </a:xfrm>
          <a:prstGeom prst="leftBrace">
            <a:avLst>
              <a:gd name="adj1" fmla="val 8333"/>
              <a:gd name="adj2" fmla="val 48722"/>
            </a:avLst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8AB84D-D1BC-6346-8B9B-E8CB10A0DE10}"/>
              </a:ext>
            </a:extLst>
          </p:cNvPr>
          <p:cNvCxnSpPr>
            <a:cxnSpLocks/>
          </p:cNvCxnSpPr>
          <p:nvPr/>
        </p:nvCxnSpPr>
        <p:spPr bwMode="auto">
          <a:xfrm flipH="1">
            <a:off x="2161309" y="1511363"/>
            <a:ext cx="332509" cy="52963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Problem: Conflict Misses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Some “rows” (blocks) in direct mapped cache used more than others.</a:t>
            </a:r>
          </a:p>
          <a:p>
            <a:pPr>
              <a:buNone/>
            </a:pPr>
            <a:r>
              <a:rPr lang="en-CA" dirty="0"/>
              <a:t>  </a:t>
            </a:r>
          </a:p>
          <a:p>
            <a:r>
              <a:rPr lang="en-CA" dirty="0"/>
              <a:t>Data that index to these blocks may get evicted before reused even though there was enough space in cache to keep them.</a:t>
            </a:r>
          </a:p>
          <a:p>
            <a:endParaRPr lang="en-CA" dirty="0"/>
          </a:p>
          <a:p>
            <a:r>
              <a:rPr lang="en-CA" dirty="0"/>
              <a:t>Would like to have flexibility of fully associative without cost of parallel comparison of all tags in cache.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49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Set Associative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87606"/>
            <a:ext cx="7772400" cy="4608394"/>
          </a:xfrm>
        </p:spPr>
        <p:txBody>
          <a:bodyPr/>
          <a:lstStyle/>
          <a:p>
            <a:r>
              <a:rPr lang="en-CA" dirty="0"/>
              <a:t>Index selects row containing </a:t>
            </a:r>
            <a:r>
              <a:rPr lang="en-CA" b="1" u="sng" dirty="0"/>
              <a:t>set of blocks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Search tags of all blocks in this set in parallel.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50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Set Associative Cache</a:t>
            </a:r>
          </a:p>
        </p:txBody>
      </p:sp>
      <p:pic>
        <p:nvPicPr>
          <p:cNvPr id="5" name="Picture 5" descr="13~Figure_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1904" y="1187712"/>
            <a:ext cx="6696076" cy="511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51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  " charset="0"/>
                <a:cs typeface="Arial  " charset="0"/>
              </a:rPr>
              <a:t>Question</a:t>
            </a:r>
          </a:p>
        </p:txBody>
      </p:sp>
      <p:sp>
        <p:nvSpPr>
          <p:cNvPr id="4710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Arial  " charset="0"/>
                <a:cs typeface="Arial  " charset="0"/>
              </a:rPr>
              <a:t>Consider the following series of memory references (byte addresses, in decimal): 2, 3, 2, 8, 10, and 2. Assuming first a direct mapped cache with one byte blocks and total capacity of 8 bytes, then a two-way set associative cache with 2-byte blocks and total size of 16 bytes that are initially empty.  Label each reference in the list as a hit or a miss and show the final contents of the cache.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52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863600"/>
          </a:xfrm>
        </p:spPr>
        <p:txBody>
          <a:bodyPr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Solution</a:t>
            </a:r>
          </a:p>
        </p:txBody>
      </p:sp>
      <p:sp>
        <p:nvSpPr>
          <p:cNvPr id="4813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98500" y="5207000"/>
            <a:ext cx="7772400" cy="5080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 " charset="0"/>
                <a:cs typeface="Arial  " charset="0"/>
              </a:rPr>
              <a:t>Direct-mapped cache	   		 2-way set associative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 " charset="0"/>
                <a:cs typeface="Arial  " charset="0"/>
              </a:rPr>
              <a:t>1 byte blocks		   		 2 byte blocks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 " charset="0"/>
                <a:cs typeface="Arial  " charset="0"/>
              </a:rPr>
              <a:t>8 bytes total				16 bytes total</a:t>
            </a:r>
            <a:endParaRPr lang="en-US" sz="2400">
              <a:latin typeface="Arial  " charset="0"/>
              <a:cs typeface="Arial  " charset="0"/>
            </a:endParaRPr>
          </a:p>
        </p:txBody>
      </p:sp>
      <p:graphicFrame>
        <p:nvGraphicFramePr>
          <p:cNvPr id="753797" name="Group 1157"/>
          <p:cNvGraphicFramePr>
            <a:graphicFrameLocks noGrp="1"/>
          </p:cNvGraphicFramePr>
          <p:nvPr/>
        </p:nvGraphicFramePr>
        <p:xfrm>
          <a:off x="762000" y="1282700"/>
          <a:ext cx="2882900" cy="3632203"/>
        </p:xfrm>
        <a:graphic>
          <a:graphicData uri="http://schemas.openxmlformats.org/drawingml/2006/table">
            <a:tbl>
              <a:tblPr/>
              <a:tblGrid>
                <a:gridCol w="141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Cache 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8164" name="Rectangle 1120"/>
          <p:cNvSpPr>
            <a:spLocks noChangeArrowheads="1"/>
          </p:cNvSpPr>
          <p:nvPr/>
        </p:nvSpPr>
        <p:spPr bwMode="auto">
          <a:xfrm>
            <a:off x="698500" y="671513"/>
            <a:ext cx="38417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>
                <a:latin typeface="Comic Sans MS" pitchFamily="66" charset="0"/>
              </a:rPr>
              <a:t>2 </a:t>
            </a:r>
            <a:r>
              <a:rPr lang="en-US" sz="1800">
                <a:solidFill>
                  <a:srgbClr val="FF0000"/>
                </a:solidFill>
                <a:latin typeface="Comic Sans MS" pitchFamily="66" charset="0"/>
              </a:rPr>
              <a:t>m</a:t>
            </a:r>
            <a:r>
              <a:rPr lang="en-US" sz="1800">
                <a:latin typeface="Comic Sans MS" pitchFamily="66" charset="0"/>
              </a:rPr>
              <a:t>, 3 </a:t>
            </a:r>
            <a:r>
              <a:rPr lang="en-US" sz="1800">
                <a:solidFill>
                  <a:srgbClr val="FF0000"/>
                </a:solidFill>
                <a:latin typeface="Comic Sans MS" pitchFamily="66" charset="0"/>
              </a:rPr>
              <a:t>m</a:t>
            </a:r>
            <a:r>
              <a:rPr lang="en-US" sz="1800">
                <a:latin typeface="Comic Sans MS" pitchFamily="66" charset="0"/>
              </a:rPr>
              <a:t>, 2 </a:t>
            </a:r>
            <a:r>
              <a:rPr lang="en-US" sz="1800">
                <a:solidFill>
                  <a:srgbClr val="00FF00"/>
                </a:solidFill>
                <a:latin typeface="Comic Sans MS" pitchFamily="66" charset="0"/>
              </a:rPr>
              <a:t>h</a:t>
            </a:r>
            <a:r>
              <a:rPr lang="en-US" sz="1800">
                <a:latin typeface="Comic Sans MS" pitchFamily="66" charset="0"/>
              </a:rPr>
              <a:t>, 8 </a:t>
            </a:r>
            <a:r>
              <a:rPr lang="en-US" sz="1800">
                <a:solidFill>
                  <a:srgbClr val="FF0000"/>
                </a:solidFill>
                <a:latin typeface="Comic Sans MS" pitchFamily="66" charset="0"/>
              </a:rPr>
              <a:t>m</a:t>
            </a:r>
            <a:r>
              <a:rPr lang="en-US" sz="1800">
                <a:latin typeface="Comic Sans MS" pitchFamily="66" charset="0"/>
              </a:rPr>
              <a:t>, 10 </a:t>
            </a:r>
            <a:r>
              <a:rPr lang="en-US" sz="1800">
                <a:solidFill>
                  <a:srgbClr val="FF0000"/>
                </a:solidFill>
                <a:latin typeface="Comic Sans MS" pitchFamily="66" charset="0"/>
              </a:rPr>
              <a:t>m</a:t>
            </a:r>
            <a:r>
              <a:rPr lang="en-US" sz="1800">
                <a:latin typeface="Comic Sans MS" pitchFamily="66" charset="0"/>
              </a:rPr>
              <a:t>, 2 </a:t>
            </a:r>
            <a:r>
              <a:rPr lang="en-US" sz="1800">
                <a:solidFill>
                  <a:srgbClr val="FF0000"/>
                </a:solidFill>
                <a:latin typeface="Comic Sans MS" pitchFamily="66" charset="0"/>
              </a:rPr>
              <a:t>m</a:t>
            </a:r>
            <a:r>
              <a:rPr lang="en-US" sz="2800">
                <a:latin typeface="Comic Sans MS" pitchFamily="66" charset="0"/>
              </a:rPr>
              <a:t>	</a:t>
            </a:r>
          </a:p>
        </p:txBody>
      </p:sp>
      <p:graphicFrame>
        <p:nvGraphicFramePr>
          <p:cNvPr id="753824" name="Group 1184"/>
          <p:cNvGraphicFramePr>
            <a:graphicFrameLocks noGrp="1"/>
          </p:cNvGraphicFramePr>
          <p:nvPr/>
        </p:nvGraphicFramePr>
        <p:xfrm>
          <a:off x="4318000" y="2070100"/>
          <a:ext cx="4237038" cy="2206626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8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Cache 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{     -      ,      -     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{     -      ,      -     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{     -      ,      -     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ＭＳ Ｐゴシック" pitchFamily="34" charset="-128"/>
                        </a:rPr>
                        <a:t>{     -      ,      -     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185" name="Rectangle 1159"/>
          <p:cNvSpPr>
            <a:spLocks noChangeArrowheads="1"/>
          </p:cNvSpPr>
          <p:nvPr/>
        </p:nvSpPr>
        <p:spPr bwMode="auto">
          <a:xfrm>
            <a:off x="4648200" y="709613"/>
            <a:ext cx="38417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>
                <a:latin typeface="Comic Sans MS" pitchFamily="66" charset="0"/>
              </a:rPr>
              <a:t>2 </a:t>
            </a:r>
            <a:r>
              <a:rPr lang="en-US" sz="1800">
                <a:solidFill>
                  <a:srgbClr val="FF0000"/>
                </a:solidFill>
                <a:latin typeface="Comic Sans MS" pitchFamily="66" charset="0"/>
              </a:rPr>
              <a:t>m</a:t>
            </a:r>
            <a:r>
              <a:rPr lang="en-US" sz="1800">
                <a:latin typeface="Comic Sans MS" pitchFamily="66" charset="0"/>
              </a:rPr>
              <a:t>, 3 </a:t>
            </a:r>
            <a:r>
              <a:rPr lang="en-US" sz="1800">
                <a:solidFill>
                  <a:srgbClr val="00FF00"/>
                </a:solidFill>
                <a:latin typeface="Comic Sans MS" pitchFamily="66" charset="0"/>
              </a:rPr>
              <a:t>h</a:t>
            </a:r>
            <a:r>
              <a:rPr lang="en-US" sz="1800">
                <a:latin typeface="Comic Sans MS" pitchFamily="66" charset="0"/>
              </a:rPr>
              <a:t>, 2 </a:t>
            </a:r>
            <a:r>
              <a:rPr lang="en-US" sz="1800">
                <a:solidFill>
                  <a:srgbClr val="00FF00"/>
                </a:solidFill>
                <a:latin typeface="Comic Sans MS" pitchFamily="66" charset="0"/>
              </a:rPr>
              <a:t>h</a:t>
            </a:r>
            <a:r>
              <a:rPr lang="en-US" sz="1800">
                <a:latin typeface="Comic Sans MS" pitchFamily="66" charset="0"/>
              </a:rPr>
              <a:t>, 8 </a:t>
            </a:r>
            <a:r>
              <a:rPr lang="en-US" sz="1800">
                <a:solidFill>
                  <a:srgbClr val="FF0000"/>
                </a:solidFill>
                <a:latin typeface="Comic Sans MS" pitchFamily="66" charset="0"/>
              </a:rPr>
              <a:t>m</a:t>
            </a:r>
            <a:r>
              <a:rPr lang="en-US" sz="1800">
                <a:latin typeface="Comic Sans MS" pitchFamily="66" charset="0"/>
              </a:rPr>
              <a:t>, 10 </a:t>
            </a:r>
            <a:r>
              <a:rPr lang="en-US" sz="1800">
                <a:solidFill>
                  <a:srgbClr val="FF0000"/>
                </a:solidFill>
                <a:latin typeface="Comic Sans MS" pitchFamily="66" charset="0"/>
              </a:rPr>
              <a:t>m</a:t>
            </a:r>
            <a:r>
              <a:rPr lang="en-US" sz="1800">
                <a:latin typeface="Comic Sans MS" pitchFamily="66" charset="0"/>
              </a:rPr>
              <a:t>, 2 </a:t>
            </a:r>
            <a:r>
              <a:rPr lang="en-US" sz="1800">
                <a:solidFill>
                  <a:srgbClr val="00FF00"/>
                </a:solidFill>
                <a:latin typeface="Comic Sans MS" pitchFamily="66" charset="0"/>
              </a:rPr>
              <a:t>h</a:t>
            </a:r>
            <a:r>
              <a:rPr lang="en-US" sz="2800">
                <a:latin typeface="Comic Sans MS" pitchFamily="66" charset="0"/>
              </a:rPr>
              <a:t>	</a:t>
            </a:r>
          </a:p>
        </p:txBody>
      </p:sp>
      <p:sp>
        <p:nvSpPr>
          <p:cNvPr id="753800" name="Text Box 1160"/>
          <p:cNvSpPr txBox="1">
            <a:spLocks noChangeArrowheads="1"/>
          </p:cNvSpPr>
          <p:nvPr/>
        </p:nvSpPr>
        <p:spPr bwMode="auto">
          <a:xfrm>
            <a:off x="2752725" y="2570163"/>
            <a:ext cx="339725" cy="3190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Comic Sans MS" pitchFamily="66" charset="0"/>
              </a:rPr>
              <a:t>2</a:t>
            </a:r>
          </a:p>
        </p:txBody>
      </p:sp>
      <p:sp>
        <p:nvSpPr>
          <p:cNvPr id="753801" name="Rectangle 1161"/>
          <p:cNvSpPr>
            <a:spLocks noChangeArrowheads="1"/>
          </p:cNvSpPr>
          <p:nvPr/>
        </p:nvSpPr>
        <p:spPr bwMode="auto">
          <a:xfrm>
            <a:off x="977900" y="838200"/>
            <a:ext cx="190500" cy="342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3802" name="Text Box 1162"/>
          <p:cNvSpPr txBox="1">
            <a:spLocks noChangeArrowheads="1"/>
          </p:cNvSpPr>
          <p:nvPr/>
        </p:nvSpPr>
        <p:spPr bwMode="auto">
          <a:xfrm>
            <a:off x="2752725" y="2976563"/>
            <a:ext cx="339725" cy="3190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Comic Sans MS" pitchFamily="66" charset="0"/>
              </a:rPr>
              <a:t>3</a:t>
            </a:r>
          </a:p>
        </p:txBody>
      </p:sp>
      <p:sp>
        <p:nvSpPr>
          <p:cNvPr id="753803" name="Rectangle 1163"/>
          <p:cNvSpPr>
            <a:spLocks noChangeArrowheads="1"/>
          </p:cNvSpPr>
          <p:nvPr/>
        </p:nvSpPr>
        <p:spPr bwMode="auto">
          <a:xfrm>
            <a:off x="1498600" y="889000"/>
            <a:ext cx="190500" cy="342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3804" name="Text Box 1164"/>
          <p:cNvSpPr txBox="1">
            <a:spLocks noChangeArrowheads="1"/>
          </p:cNvSpPr>
          <p:nvPr/>
        </p:nvSpPr>
        <p:spPr bwMode="auto">
          <a:xfrm>
            <a:off x="2752725" y="2570163"/>
            <a:ext cx="339725" cy="3190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r>
              <a:rPr lang="en-US" sz="1800">
                <a:solidFill>
                  <a:srgbClr val="00FF00"/>
                </a:solidFill>
                <a:latin typeface="Comic Sans MS" pitchFamily="66" charset="0"/>
              </a:rPr>
              <a:t>2</a:t>
            </a:r>
            <a:endParaRPr lang="en-US" sz="180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753805" name="Rectangle 1165"/>
          <p:cNvSpPr>
            <a:spLocks noChangeArrowheads="1"/>
          </p:cNvSpPr>
          <p:nvPr/>
        </p:nvSpPr>
        <p:spPr bwMode="auto">
          <a:xfrm>
            <a:off x="1968500" y="876300"/>
            <a:ext cx="190500" cy="342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3806" name="Text Box 1166"/>
          <p:cNvSpPr txBox="1">
            <a:spLocks noChangeArrowheads="1"/>
          </p:cNvSpPr>
          <p:nvPr/>
        </p:nvSpPr>
        <p:spPr bwMode="auto">
          <a:xfrm>
            <a:off x="2752725" y="1731963"/>
            <a:ext cx="339725" cy="3190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Comic Sans MS" pitchFamily="66" charset="0"/>
              </a:rPr>
              <a:t>8</a:t>
            </a:r>
          </a:p>
        </p:txBody>
      </p:sp>
      <p:sp>
        <p:nvSpPr>
          <p:cNvPr id="753807" name="Rectangle 1167"/>
          <p:cNvSpPr>
            <a:spLocks noChangeArrowheads="1"/>
          </p:cNvSpPr>
          <p:nvPr/>
        </p:nvSpPr>
        <p:spPr bwMode="auto">
          <a:xfrm>
            <a:off x="2489200" y="876300"/>
            <a:ext cx="190500" cy="342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3808" name="Text Box 1168"/>
          <p:cNvSpPr txBox="1">
            <a:spLocks noChangeArrowheads="1"/>
          </p:cNvSpPr>
          <p:nvPr/>
        </p:nvSpPr>
        <p:spPr bwMode="auto">
          <a:xfrm>
            <a:off x="2663825" y="2570163"/>
            <a:ext cx="454025" cy="3190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Comic Sans MS" pitchFamily="66" charset="0"/>
              </a:rPr>
              <a:t>10</a:t>
            </a:r>
          </a:p>
        </p:txBody>
      </p:sp>
      <p:sp>
        <p:nvSpPr>
          <p:cNvPr id="753809" name="Rectangle 1169"/>
          <p:cNvSpPr>
            <a:spLocks noChangeArrowheads="1"/>
          </p:cNvSpPr>
          <p:nvPr/>
        </p:nvSpPr>
        <p:spPr bwMode="auto">
          <a:xfrm>
            <a:off x="3111500" y="850900"/>
            <a:ext cx="190500" cy="342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3810" name="Text Box 1170"/>
          <p:cNvSpPr txBox="1">
            <a:spLocks noChangeArrowheads="1"/>
          </p:cNvSpPr>
          <p:nvPr/>
        </p:nvSpPr>
        <p:spPr bwMode="auto">
          <a:xfrm>
            <a:off x="2752725" y="2582863"/>
            <a:ext cx="454025" cy="3190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Comic Sans MS" pitchFamily="66" charset="0"/>
              </a:rPr>
              <a:t>2</a:t>
            </a:r>
          </a:p>
        </p:txBody>
      </p:sp>
      <p:sp>
        <p:nvSpPr>
          <p:cNvPr id="753811" name="Rectangle 1171"/>
          <p:cNvSpPr>
            <a:spLocks noChangeArrowheads="1"/>
          </p:cNvSpPr>
          <p:nvPr/>
        </p:nvSpPr>
        <p:spPr bwMode="auto">
          <a:xfrm>
            <a:off x="3632200" y="876300"/>
            <a:ext cx="190500" cy="342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3814" name="Rectangle 1174"/>
          <p:cNvSpPr>
            <a:spLocks noChangeArrowheads="1"/>
          </p:cNvSpPr>
          <p:nvPr/>
        </p:nvSpPr>
        <p:spPr bwMode="auto">
          <a:xfrm>
            <a:off x="4927600" y="889000"/>
            <a:ext cx="190500" cy="342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3825" name="Text Box 1185"/>
          <p:cNvSpPr txBox="1">
            <a:spLocks noChangeArrowheads="1"/>
          </p:cNvSpPr>
          <p:nvPr/>
        </p:nvSpPr>
        <p:spPr bwMode="auto">
          <a:xfrm>
            <a:off x="6054725" y="3027363"/>
            <a:ext cx="755650" cy="3540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r>
              <a:rPr lang="en-US" sz="2000">
                <a:latin typeface="Comic Sans MS" pitchFamily="66" charset="0"/>
              </a:rPr>
              <a:t>[</a:t>
            </a:r>
            <a:r>
              <a:rPr lang="en-US" sz="2000">
                <a:solidFill>
                  <a:srgbClr val="FF0000"/>
                </a:solidFill>
                <a:latin typeface="Comic Sans MS" pitchFamily="66" charset="0"/>
              </a:rPr>
              <a:t>2</a:t>
            </a:r>
            <a:r>
              <a:rPr lang="en-US" sz="2000">
                <a:latin typeface="Comic Sans MS" pitchFamily="66" charset="0"/>
              </a:rPr>
              <a:t>,3]</a:t>
            </a:r>
            <a:endParaRPr lang="en-US"/>
          </a:p>
        </p:txBody>
      </p:sp>
      <p:sp>
        <p:nvSpPr>
          <p:cNvPr id="753826" name="Text Box 1186"/>
          <p:cNvSpPr txBox="1">
            <a:spLocks noChangeArrowheads="1"/>
          </p:cNvSpPr>
          <p:nvPr/>
        </p:nvSpPr>
        <p:spPr bwMode="auto">
          <a:xfrm>
            <a:off x="6029325" y="3014663"/>
            <a:ext cx="755650" cy="3540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r>
              <a:rPr lang="en-US" sz="2000">
                <a:latin typeface="Comic Sans MS" pitchFamily="66" charset="0"/>
              </a:rPr>
              <a:t>[</a:t>
            </a:r>
            <a:r>
              <a:rPr lang="en-US" sz="2000">
                <a:solidFill>
                  <a:srgbClr val="FF0000"/>
                </a:solidFill>
                <a:latin typeface="Comic Sans MS" pitchFamily="66" charset="0"/>
              </a:rPr>
              <a:t>2</a:t>
            </a:r>
            <a:r>
              <a:rPr lang="en-US" sz="2000">
                <a:latin typeface="Comic Sans MS" pitchFamily="66" charset="0"/>
              </a:rPr>
              <a:t>,</a:t>
            </a:r>
            <a:r>
              <a:rPr lang="en-US" sz="2000">
                <a:solidFill>
                  <a:srgbClr val="00FF00"/>
                </a:solidFill>
                <a:latin typeface="Comic Sans MS" pitchFamily="66" charset="0"/>
              </a:rPr>
              <a:t>3</a:t>
            </a:r>
            <a:r>
              <a:rPr lang="en-US" sz="2000">
                <a:latin typeface="Comic Sans MS" pitchFamily="66" charset="0"/>
              </a:rPr>
              <a:t>]</a:t>
            </a:r>
            <a:endParaRPr lang="en-US"/>
          </a:p>
        </p:txBody>
      </p:sp>
      <p:sp>
        <p:nvSpPr>
          <p:cNvPr id="753827" name="Rectangle 1187"/>
          <p:cNvSpPr>
            <a:spLocks noChangeArrowheads="1"/>
          </p:cNvSpPr>
          <p:nvPr/>
        </p:nvSpPr>
        <p:spPr bwMode="auto">
          <a:xfrm>
            <a:off x="5397500" y="914400"/>
            <a:ext cx="190500" cy="342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3828" name="Text Box 1188"/>
          <p:cNvSpPr txBox="1">
            <a:spLocks noChangeArrowheads="1"/>
          </p:cNvSpPr>
          <p:nvPr/>
        </p:nvSpPr>
        <p:spPr bwMode="auto">
          <a:xfrm>
            <a:off x="6054725" y="2557463"/>
            <a:ext cx="755650" cy="3540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r>
              <a:rPr lang="en-US" sz="2000">
                <a:latin typeface="Comic Sans MS" pitchFamily="66" charset="0"/>
              </a:rPr>
              <a:t>[</a:t>
            </a:r>
            <a:r>
              <a:rPr lang="en-US" sz="2000">
                <a:solidFill>
                  <a:srgbClr val="FF0000"/>
                </a:solidFill>
                <a:latin typeface="Comic Sans MS" pitchFamily="66" charset="0"/>
              </a:rPr>
              <a:t>8</a:t>
            </a:r>
            <a:r>
              <a:rPr lang="en-US" sz="2000">
                <a:latin typeface="Comic Sans MS" pitchFamily="66" charset="0"/>
              </a:rPr>
              <a:t>,9]</a:t>
            </a:r>
            <a:endParaRPr lang="en-US"/>
          </a:p>
        </p:txBody>
      </p:sp>
      <p:sp>
        <p:nvSpPr>
          <p:cNvPr id="753829" name="Rectangle 1189"/>
          <p:cNvSpPr>
            <a:spLocks noChangeArrowheads="1"/>
          </p:cNvSpPr>
          <p:nvPr/>
        </p:nvSpPr>
        <p:spPr bwMode="auto">
          <a:xfrm>
            <a:off x="5880100" y="927100"/>
            <a:ext cx="190500" cy="342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3830" name="Text Box 1190"/>
          <p:cNvSpPr txBox="1">
            <a:spLocks noChangeArrowheads="1"/>
          </p:cNvSpPr>
          <p:nvPr/>
        </p:nvSpPr>
        <p:spPr bwMode="auto">
          <a:xfrm>
            <a:off x="6003925" y="3001963"/>
            <a:ext cx="755650" cy="3540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r>
              <a:rPr lang="en-US" sz="2000">
                <a:latin typeface="Comic Sans MS" pitchFamily="66" charset="0"/>
              </a:rPr>
              <a:t>[</a:t>
            </a:r>
            <a:r>
              <a:rPr lang="en-US" sz="2000">
                <a:solidFill>
                  <a:srgbClr val="00FF00"/>
                </a:solidFill>
                <a:latin typeface="Comic Sans MS" pitchFamily="66" charset="0"/>
              </a:rPr>
              <a:t>2</a:t>
            </a:r>
            <a:r>
              <a:rPr lang="en-US" sz="2000">
                <a:latin typeface="Comic Sans MS" pitchFamily="66" charset="0"/>
              </a:rPr>
              <a:t>,</a:t>
            </a:r>
            <a:r>
              <a:rPr lang="en-US" sz="2000">
                <a:solidFill>
                  <a:srgbClr val="00FF00"/>
                </a:solidFill>
                <a:latin typeface="Comic Sans MS" pitchFamily="66" charset="0"/>
              </a:rPr>
              <a:t>3</a:t>
            </a:r>
            <a:r>
              <a:rPr lang="en-US" sz="2000">
                <a:latin typeface="Comic Sans MS" pitchFamily="66" charset="0"/>
              </a:rPr>
              <a:t>]</a:t>
            </a:r>
            <a:endParaRPr lang="en-US"/>
          </a:p>
        </p:txBody>
      </p:sp>
      <p:sp>
        <p:nvSpPr>
          <p:cNvPr id="753831" name="Rectangle 1191"/>
          <p:cNvSpPr>
            <a:spLocks noChangeArrowheads="1"/>
          </p:cNvSpPr>
          <p:nvPr/>
        </p:nvSpPr>
        <p:spPr bwMode="auto">
          <a:xfrm>
            <a:off x="6388100" y="927100"/>
            <a:ext cx="190500" cy="342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3832" name="Text Box 1192"/>
          <p:cNvSpPr txBox="1">
            <a:spLocks noChangeArrowheads="1"/>
          </p:cNvSpPr>
          <p:nvPr/>
        </p:nvSpPr>
        <p:spPr bwMode="auto">
          <a:xfrm>
            <a:off x="7146925" y="2989263"/>
            <a:ext cx="819150" cy="3540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 sz="2000">
                <a:latin typeface="Comic Sans MS" pitchFamily="66" charset="0"/>
              </a:rPr>
              <a:t>[</a:t>
            </a:r>
            <a:r>
              <a:rPr lang="en-US" sz="2000">
                <a:solidFill>
                  <a:srgbClr val="FF0000"/>
                </a:solidFill>
                <a:latin typeface="Comic Sans MS" pitchFamily="66" charset="0"/>
              </a:rPr>
              <a:t>10</a:t>
            </a:r>
            <a:r>
              <a:rPr lang="en-US" sz="2000">
                <a:latin typeface="Comic Sans MS" pitchFamily="66" charset="0"/>
              </a:rPr>
              <a:t>,11]</a:t>
            </a:r>
            <a:endParaRPr lang="en-US"/>
          </a:p>
        </p:txBody>
      </p:sp>
      <p:sp>
        <p:nvSpPr>
          <p:cNvPr id="753833" name="Rectangle 1193"/>
          <p:cNvSpPr>
            <a:spLocks noChangeArrowheads="1"/>
          </p:cNvSpPr>
          <p:nvPr/>
        </p:nvSpPr>
        <p:spPr bwMode="auto">
          <a:xfrm>
            <a:off x="7010400" y="889000"/>
            <a:ext cx="190500" cy="342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3834" name="Rectangle 1194"/>
          <p:cNvSpPr>
            <a:spLocks noChangeArrowheads="1"/>
          </p:cNvSpPr>
          <p:nvPr/>
        </p:nvSpPr>
        <p:spPr bwMode="auto">
          <a:xfrm>
            <a:off x="7505700" y="914400"/>
            <a:ext cx="190500" cy="342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209" name="Line 1198"/>
          <p:cNvSpPr>
            <a:spLocks noChangeShapeType="1"/>
          </p:cNvSpPr>
          <p:nvPr/>
        </p:nvSpPr>
        <p:spPr bwMode="auto">
          <a:xfrm>
            <a:off x="4076700" y="800100"/>
            <a:ext cx="0" cy="537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53</a:t>
            </a:fld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800" grpId="0" animBg="1" autoUpdateAnimBg="0"/>
      <p:bldP spid="753801" grpId="0" animBg="1"/>
      <p:bldP spid="753802" grpId="0" animBg="1" autoUpdateAnimBg="0"/>
      <p:bldP spid="753803" grpId="0" animBg="1"/>
      <p:bldP spid="753804" grpId="0" animBg="1" autoUpdateAnimBg="0"/>
      <p:bldP spid="753805" grpId="0" animBg="1"/>
      <p:bldP spid="753806" grpId="0" animBg="1" autoUpdateAnimBg="0"/>
      <p:bldP spid="753807" grpId="0" animBg="1"/>
      <p:bldP spid="753808" grpId="0" animBg="1" autoUpdateAnimBg="0"/>
      <p:bldP spid="753809" grpId="0" animBg="1"/>
      <p:bldP spid="753810" grpId="0" animBg="1" autoUpdateAnimBg="0"/>
      <p:bldP spid="753811" grpId="0" animBg="1"/>
      <p:bldP spid="753814" grpId="0" animBg="1"/>
      <p:bldP spid="753825" grpId="0" animBg="1" autoUpdateAnimBg="0"/>
      <p:bldP spid="753826" grpId="0" animBg="1" autoUpdateAnimBg="0"/>
      <p:bldP spid="753827" grpId="0" animBg="1"/>
      <p:bldP spid="753828" grpId="0" animBg="1" autoUpdateAnimBg="0"/>
      <p:bldP spid="753829" grpId="0" animBg="1"/>
      <p:bldP spid="753830" grpId="0" animBg="1" autoUpdateAnimBg="0"/>
      <p:bldP spid="753831" grpId="0" animBg="1"/>
      <p:bldP spid="753832" grpId="0" animBg="1" autoUpdateAnimBg="0"/>
      <p:bldP spid="753833" grpId="0" animBg="1"/>
      <p:bldP spid="75383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t>Victim cache</a:t>
            </a:r>
          </a:p>
        </p:txBody>
      </p:sp>
      <p:sp>
        <p:nvSpPr>
          <p:cNvPr id="36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7772400" cy="515112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36042" indent="-336042" defTabSz="896111">
              <a:defRPr sz="2744"/>
            </a:pPr>
            <a:r>
              <a:rPr dirty="0"/>
              <a:t>lots of associativity good but expensive</a:t>
            </a:r>
          </a:p>
          <a:p>
            <a:pPr marL="728091" lvl="1" indent="-280035" defTabSz="896111">
              <a:spcBef>
                <a:spcPts val="500"/>
              </a:spcBef>
              <a:defRPr sz="2352"/>
            </a:pPr>
            <a:endParaRPr dirty="0"/>
          </a:p>
          <a:p>
            <a:pPr marL="336042" indent="-336042" defTabSz="896111">
              <a:defRPr sz="2744"/>
            </a:pPr>
            <a:r>
              <a:rPr dirty="0"/>
              <a:t>some sets need more associativity</a:t>
            </a:r>
          </a:p>
          <a:p>
            <a:pPr marL="336042" indent="-336042" defTabSz="896111">
              <a:defRPr sz="2744"/>
            </a:pPr>
            <a:endParaRPr dirty="0"/>
          </a:p>
          <a:p>
            <a:pPr marL="336042" indent="-336042" defTabSz="896111">
              <a:defRPr sz="2744"/>
            </a:pPr>
            <a:r>
              <a:rPr dirty="0"/>
              <a:t>idea: small fully associative cache</a:t>
            </a:r>
            <a:br>
              <a:rPr dirty="0"/>
            </a:br>
            <a:r>
              <a:rPr dirty="0"/>
              <a:t>that stores </a:t>
            </a:r>
            <a:r>
              <a:rPr b="1" dirty="0"/>
              <a:t>recently evicted </a:t>
            </a:r>
            <a:r>
              <a:rPr dirty="0"/>
              <a:t>lines</a:t>
            </a:r>
          </a:p>
          <a:p>
            <a:pPr marL="728091" lvl="1" indent="-280035" defTabSz="896111">
              <a:spcBef>
                <a:spcPts val="500"/>
              </a:spcBef>
              <a:defRPr sz="2352"/>
            </a:pPr>
            <a:r>
              <a:rPr dirty="0"/>
              <a:t>on evict, place in victim $</a:t>
            </a:r>
          </a:p>
          <a:p>
            <a:pPr marL="728091" lvl="1" indent="-280035" defTabSz="896111">
              <a:spcBef>
                <a:spcPts val="500"/>
              </a:spcBef>
              <a:defRPr sz="2352"/>
            </a:pPr>
            <a:r>
              <a:rPr dirty="0"/>
              <a:t>on hit in V$, bring to normal $</a:t>
            </a:r>
          </a:p>
          <a:p>
            <a:pPr marL="728091" lvl="1" indent="-280035" defTabSz="896111">
              <a:spcBef>
                <a:spcPts val="500"/>
              </a:spcBef>
              <a:defRPr sz="2352"/>
            </a:pPr>
            <a:r>
              <a:rPr dirty="0"/>
              <a:t>managed with e.g., LRU</a:t>
            </a:r>
            <a:br>
              <a:rPr dirty="0"/>
            </a:br>
            <a:r>
              <a:rPr dirty="0"/>
              <a:t>like normal $</a:t>
            </a:r>
          </a:p>
          <a:p>
            <a:pPr marL="728091" lvl="1" indent="-280035" defTabSz="896111">
              <a:spcBef>
                <a:spcPts val="500"/>
              </a:spcBef>
              <a:defRPr sz="2352"/>
            </a:pPr>
            <a:r>
              <a:rPr dirty="0"/>
              <a:t>effectively </a:t>
            </a:r>
            <a:r>
              <a:rPr b="1" dirty="0"/>
              <a:t>extra associativity</a:t>
            </a:r>
            <a:br>
              <a:rPr b="1" dirty="0"/>
            </a:br>
            <a:r>
              <a:rPr dirty="0"/>
              <a:t>for some lines</a:t>
            </a:r>
          </a:p>
        </p:txBody>
      </p:sp>
      <p:grpSp>
        <p:nvGrpSpPr>
          <p:cNvPr id="380" name="Group 9"/>
          <p:cNvGrpSpPr/>
          <p:nvPr/>
        </p:nvGrpSpPr>
        <p:grpSpPr>
          <a:xfrm>
            <a:off x="6565275" y="4427287"/>
            <a:ext cx="1990355" cy="2107014"/>
            <a:chOff x="0" y="0"/>
            <a:chExt cx="1990354" cy="2107012"/>
          </a:xfrm>
        </p:grpSpPr>
        <p:grpSp>
          <p:nvGrpSpPr>
            <p:cNvPr id="371" name="Rectangle 3"/>
            <p:cNvGrpSpPr/>
            <p:nvPr/>
          </p:nvGrpSpPr>
          <p:grpSpPr>
            <a:xfrm>
              <a:off x="0" y="0"/>
              <a:ext cx="935343" cy="801722"/>
              <a:chOff x="0" y="0"/>
              <a:chExt cx="935342" cy="801721"/>
            </a:xfrm>
          </p:grpSpPr>
          <p:sp>
            <p:nvSpPr>
              <p:cNvPr id="369" name="Rectangle"/>
              <p:cNvSpPr/>
              <p:nvPr/>
            </p:nvSpPr>
            <p:spPr>
              <a:xfrm>
                <a:off x="-1" y="-1"/>
                <a:ext cx="935344" cy="80172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satOff val="-2253"/>
                      <a:lumOff val="41481"/>
                    </a:schemeClr>
                  </a:gs>
                  <a:gs pos="35000">
                    <a:srgbClr val="C3C3E9"/>
                  </a:gs>
                  <a:gs pos="100000">
                    <a:schemeClr val="accent6">
                      <a:lumOff val="58031"/>
                    </a:schemeClr>
                  </a:gs>
                </a:gsLst>
                <a:lin ang="16200000" scaled="0"/>
              </a:gradFill>
              <a:ln w="9525" cap="flat">
                <a:solidFill>
                  <a:srgbClr val="2A2A89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370" name="CPU"/>
              <p:cNvSpPr txBox="1"/>
              <p:nvPr/>
            </p:nvSpPr>
            <p:spPr>
              <a:xfrm>
                <a:off x="50482" y="182326"/>
                <a:ext cx="834378" cy="4370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CPU</a:t>
                </a:r>
              </a:p>
            </p:txBody>
          </p:sp>
        </p:grpSp>
        <p:grpSp>
          <p:nvGrpSpPr>
            <p:cNvPr id="379" name="Group 4"/>
            <p:cNvGrpSpPr/>
            <p:nvPr/>
          </p:nvGrpSpPr>
          <p:grpSpPr>
            <a:xfrm>
              <a:off x="0" y="801720"/>
              <a:ext cx="1990355" cy="1305293"/>
              <a:chOff x="0" y="0"/>
              <a:chExt cx="1990354" cy="1305292"/>
            </a:xfrm>
          </p:grpSpPr>
          <p:grpSp>
            <p:nvGrpSpPr>
              <p:cNvPr id="374" name="Rectangle 5"/>
              <p:cNvGrpSpPr/>
              <p:nvPr/>
            </p:nvGrpSpPr>
            <p:grpSpPr>
              <a:xfrm>
                <a:off x="0" y="491990"/>
                <a:ext cx="935343" cy="801723"/>
                <a:chOff x="0" y="0"/>
                <a:chExt cx="935342" cy="801721"/>
              </a:xfrm>
            </p:grpSpPr>
            <p:sp>
              <p:nvSpPr>
                <p:cNvPr id="372" name="Rectangle"/>
                <p:cNvSpPr/>
                <p:nvPr/>
              </p:nvSpPr>
              <p:spPr>
                <a:xfrm>
                  <a:off x="-1" y="-1"/>
                  <a:ext cx="935344" cy="80172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Off val="28974"/>
                      </a:schemeClr>
                    </a:gs>
                    <a:gs pos="35000">
                      <a:srgbClr val="CFCFCF"/>
                    </a:gs>
                    <a:gs pos="100000">
                      <a:schemeClr val="accent4">
                        <a:lumOff val="48879"/>
                      </a:schemeClr>
                    </a:gs>
                  </a:gsLst>
                  <a:lin ang="16200000" scaled="0"/>
                </a:gra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sym typeface="Comic Sans MS"/>
                  </a:endParaRPr>
                </a:p>
              </p:txBody>
            </p:sp>
            <p:sp>
              <p:nvSpPr>
                <p:cNvPr id="373" name="L1 $"/>
                <p:cNvSpPr txBox="1"/>
                <p:nvPr/>
              </p:nvSpPr>
              <p:spPr>
                <a:xfrm>
                  <a:off x="50482" y="182326"/>
                  <a:ext cx="834378" cy="43706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latin typeface="+mj-lt"/>
                      <a:ea typeface="+mj-ea"/>
                      <a:cs typeface="+mj-cs"/>
                      <a:sym typeface="Arial"/>
                    </a:defRPr>
                  </a:lvl1pPr>
                </a:lstStyle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rPr>
                    <a:t>L1 $</a:t>
                  </a:r>
                </a:p>
              </p:txBody>
            </p:sp>
          </p:grpSp>
          <p:sp>
            <p:nvSpPr>
              <p:cNvPr id="375" name="Straight Arrow Connector 7"/>
              <p:cNvSpPr/>
              <p:nvPr/>
            </p:nvSpPr>
            <p:spPr>
              <a:xfrm flipH="1">
                <a:off x="467670" y="0"/>
                <a:ext cx="1" cy="491990"/>
              </a:xfrm>
              <a:prstGeom prst="line">
                <a:avLst/>
              </a:prstGeom>
              <a:noFill/>
              <a:ln w="38100" cap="flat">
                <a:solidFill>
                  <a:srgbClr val="80808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grpSp>
            <p:nvGrpSpPr>
              <p:cNvPr id="378" name="Rectangle 8"/>
              <p:cNvGrpSpPr/>
              <p:nvPr/>
            </p:nvGrpSpPr>
            <p:grpSpPr>
              <a:xfrm>
                <a:off x="1055012" y="868224"/>
                <a:ext cx="935343" cy="437069"/>
                <a:chOff x="0" y="0"/>
                <a:chExt cx="935342" cy="437068"/>
              </a:xfrm>
            </p:grpSpPr>
            <p:sp>
              <p:nvSpPr>
                <p:cNvPr id="376" name="Rectangle"/>
                <p:cNvSpPr/>
                <p:nvPr/>
              </p:nvSpPr>
              <p:spPr>
                <a:xfrm>
                  <a:off x="0" y="11580"/>
                  <a:ext cx="935343" cy="41390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Off val="28974"/>
                      </a:schemeClr>
                    </a:gs>
                    <a:gs pos="35000">
                      <a:srgbClr val="CFCFCF"/>
                    </a:gs>
                    <a:gs pos="100000">
                      <a:schemeClr val="accent4">
                        <a:lumOff val="48879"/>
                      </a:schemeClr>
                    </a:gs>
                  </a:gsLst>
                  <a:lin ang="16200000" scaled="0"/>
                </a:gra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sym typeface="Comic Sans MS"/>
                  </a:endParaRPr>
                </a:p>
              </p:txBody>
            </p:sp>
            <p:sp>
              <p:nvSpPr>
                <p:cNvPr id="377" name="v$"/>
                <p:cNvSpPr txBox="1"/>
                <p:nvPr/>
              </p:nvSpPr>
              <p:spPr>
                <a:xfrm>
                  <a:off x="50482" y="-1"/>
                  <a:ext cx="834378" cy="43707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latin typeface="+mj-lt"/>
                      <a:ea typeface="+mj-ea"/>
                      <a:cs typeface="+mj-cs"/>
                      <a:sym typeface="Arial"/>
                    </a:defRPr>
                  </a:lvl1pPr>
                </a:lstStyle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rPr>
                    <a:t>v$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9036426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" grpId="0" build="p" animBg="1" advAuto="0"/>
      <p:bldP spid="380" grpId="0" animBg="1" advAuto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23900" y="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  " charset="0"/>
                <a:cs typeface="Arial  " charset="0"/>
              </a:rPr>
              <a:t>What happens on a write? Cache Writing Policies</a:t>
            </a:r>
          </a:p>
        </p:txBody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98500" y="1371600"/>
            <a:ext cx="7772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u="sng" dirty="0">
                <a:latin typeface="Arial  " charset="0"/>
                <a:cs typeface="Arial  " charset="0"/>
              </a:rPr>
              <a:t>Write-through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Arial  " charset="0"/>
                <a:cs typeface="Arial  " charset="0"/>
              </a:rPr>
              <a:t>Store to both cache and memory on every write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>
                <a:latin typeface="Arial  " charset="0"/>
                <a:cs typeface="Arial  " charset="0"/>
              </a:rPr>
              <a:t>Slow writes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Arial  " charset="0"/>
                <a:cs typeface="Arial  " charset="0"/>
              </a:rPr>
              <a:t>Conservative: memory always holds valid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Arial  " charset="0"/>
                <a:cs typeface="Arial  " charset="0"/>
              </a:rPr>
              <a:t>Simple cache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Arial  " charset="0"/>
              <a:cs typeface="Arial  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u="sng" dirty="0">
                <a:latin typeface="Arial  " charset="0"/>
                <a:cs typeface="Arial  " charset="0"/>
              </a:rPr>
              <a:t>Write-back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Arial  " charset="0"/>
                <a:cs typeface="Arial  " charset="0"/>
              </a:rPr>
              <a:t>Store to </a:t>
            </a:r>
            <a:r>
              <a:rPr lang="en-US" sz="2000" b="1" u="sng" dirty="0">
                <a:latin typeface="Arial  " charset="0"/>
                <a:cs typeface="Arial  " charset="0"/>
              </a:rPr>
              <a:t>cache only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>
                <a:latin typeface="Arial  " charset="0"/>
                <a:cs typeface="Arial  " charset="0"/>
              </a:rPr>
              <a:t>Fast writes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Arial  " charset="0"/>
                <a:cs typeface="Arial  " charset="0"/>
              </a:rPr>
              <a:t>On write, mark data block in cache as </a:t>
            </a:r>
            <a:r>
              <a:rPr lang="en-US" sz="2000" b="1" u="sng" dirty="0">
                <a:latin typeface="Arial  " charset="0"/>
                <a:cs typeface="Arial  " charset="0"/>
              </a:rPr>
              <a:t>dirty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b="1" u="sng" dirty="0">
                <a:latin typeface="Arial  " charset="0"/>
                <a:cs typeface="Arial  " charset="0"/>
              </a:rPr>
              <a:t>Need extra memory bit for each cache line (dirty bit)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Arial  " charset="0"/>
                <a:cs typeface="Arial  " charset="0"/>
              </a:rPr>
              <a:t>Memory may hold invalid/stale data (must fix!)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Arial  " charset="0"/>
                <a:cs typeface="Arial  " charset="0"/>
              </a:rPr>
              <a:t>More complex cache</a:t>
            </a:r>
            <a:endParaRPr lang="en-US" dirty="0">
              <a:latin typeface="Arial  " charset="0"/>
              <a:cs typeface="Arial  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55</a:t>
            </a:fld>
            <a:r>
              <a:rPr lang="en-US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0200" y="6488668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Text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: COD ARM Edition §5.3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3640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Rectangle 4"/>
          <p:cNvSpPr/>
          <p:nvPr/>
        </p:nvSpPr>
        <p:spPr>
          <a:xfrm>
            <a:off x="917799" y="2650133"/>
            <a:ext cx="1076104" cy="2480667"/>
          </a:xfrm>
          <a:prstGeom prst="rect">
            <a:avLst/>
          </a:prstGeom>
          <a:gradFill>
            <a:gsLst>
              <a:gs pos="0">
                <a:schemeClr val="accent4">
                  <a:lumOff val="28974"/>
                </a:schemeClr>
              </a:gs>
              <a:gs pos="35000">
                <a:srgbClr val="CFCFCF"/>
              </a:gs>
              <a:gs pos="100000">
                <a:schemeClr val="accent4">
                  <a:lumOff val="48879"/>
                </a:schemeClr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88" name="Rectangle 21"/>
          <p:cNvGrpSpPr/>
          <p:nvPr/>
        </p:nvGrpSpPr>
        <p:grpSpPr>
          <a:xfrm>
            <a:off x="24016" y="5835410"/>
            <a:ext cx="2795385" cy="1045211"/>
            <a:chOff x="0" y="0"/>
            <a:chExt cx="2795384" cy="1045210"/>
          </a:xfrm>
        </p:grpSpPr>
        <p:sp>
          <p:nvSpPr>
            <p:cNvPr id="386" name="Rectangle"/>
            <p:cNvSpPr/>
            <p:nvPr/>
          </p:nvSpPr>
          <p:spPr>
            <a:xfrm>
              <a:off x="0" y="-1"/>
              <a:ext cx="2795385" cy="1045212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87" name="main memory"/>
            <p:cNvSpPr txBox="1"/>
            <p:nvPr/>
          </p:nvSpPr>
          <p:spPr>
            <a:xfrm>
              <a:off x="50482" y="126270"/>
              <a:ext cx="2694421" cy="792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80808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main memory</a:t>
              </a:r>
            </a:p>
          </p:txBody>
        </p:sp>
      </p:grpSp>
      <p:sp>
        <p:nvSpPr>
          <p:cNvPr id="389" name="TextBox 29"/>
          <p:cNvSpPr txBox="1"/>
          <p:nvPr/>
        </p:nvSpPr>
        <p:spPr>
          <a:xfrm>
            <a:off x="515273" y="1903914"/>
            <a:ext cx="191657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>
                <a:latin typeface="Inconsolata"/>
                <a:ea typeface="Inconsolata"/>
                <a:cs typeface="Inconsolata"/>
                <a:sym typeface="Inconsolata"/>
              </a:defRPr>
            </a:pP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consolata"/>
                <a:ea typeface="Inconsolata"/>
                <a:sym typeface="Inconsolata"/>
              </a:rPr>
              <a:t>sw R1, 0(R2)</a:t>
            </a:r>
          </a:p>
        </p:txBody>
      </p:sp>
      <p:sp>
        <p:nvSpPr>
          <p:cNvPr id="390" name="Title 47"/>
          <p:cNvSpPr txBox="1">
            <a:spLocks noGrp="1"/>
          </p:cNvSpPr>
          <p:nvPr>
            <p:ph type="title"/>
          </p:nvPr>
        </p:nvSpPr>
        <p:spPr>
          <a:xfrm>
            <a:off x="24014" y="0"/>
            <a:ext cx="9097604" cy="1143000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Writes that hit in the cache</a:t>
            </a:r>
          </a:p>
        </p:txBody>
      </p:sp>
      <p:sp>
        <p:nvSpPr>
          <p:cNvPr id="391" name="Rectangle 49"/>
          <p:cNvSpPr/>
          <p:nvPr/>
        </p:nvSpPr>
        <p:spPr>
          <a:xfrm>
            <a:off x="917799" y="3548996"/>
            <a:ext cx="1076104" cy="334468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97" name="Group 71"/>
          <p:cNvGrpSpPr/>
          <p:nvPr/>
        </p:nvGrpSpPr>
        <p:grpSpPr>
          <a:xfrm>
            <a:off x="421811" y="1427533"/>
            <a:ext cx="2068077" cy="5292660"/>
            <a:chOff x="0" y="0"/>
            <a:chExt cx="2068075" cy="5292658"/>
          </a:xfrm>
        </p:grpSpPr>
        <p:grpSp>
          <p:nvGrpSpPr>
            <p:cNvPr id="394" name="Group 60"/>
            <p:cNvGrpSpPr/>
            <p:nvPr/>
          </p:nvGrpSpPr>
          <p:grpSpPr>
            <a:xfrm>
              <a:off x="1584789" y="996705"/>
              <a:ext cx="284375" cy="3352514"/>
              <a:chOff x="0" y="0"/>
              <a:chExt cx="284374" cy="3352512"/>
            </a:xfrm>
          </p:grpSpPr>
          <p:sp>
            <p:nvSpPr>
              <p:cNvPr id="392" name="Freeform 51"/>
              <p:cNvSpPr/>
              <p:nvPr/>
            </p:nvSpPr>
            <p:spPr>
              <a:xfrm>
                <a:off x="117650" y="-1"/>
                <a:ext cx="166725" cy="33525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24" h="21600" extrusionOk="0">
                    <a:moveTo>
                      <a:pt x="8100" y="0"/>
                    </a:moveTo>
                    <a:cubicBezTo>
                      <a:pt x="14850" y="4131"/>
                      <a:pt x="21600" y="8262"/>
                      <a:pt x="20250" y="11862"/>
                    </a:cubicBezTo>
                    <a:cubicBezTo>
                      <a:pt x="18900" y="15462"/>
                      <a:pt x="0" y="21600"/>
                      <a:pt x="0" y="21600"/>
                    </a:cubicBezTo>
                  </a:path>
                </a:pathLst>
              </a:cu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+mj-lt"/>
                    <a:ea typeface="+mj-ea"/>
                    <a:cs typeface="+mj-cs"/>
                    <a:sym typeface="Arial"/>
                  </a:defRPr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Freeform 59"/>
              <p:cNvSpPr/>
              <p:nvPr/>
            </p:nvSpPr>
            <p:spPr>
              <a:xfrm>
                <a:off x="-1" y="1131761"/>
                <a:ext cx="275085" cy="2074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886" extrusionOk="0">
                    <a:moveTo>
                      <a:pt x="21600" y="0"/>
                    </a:moveTo>
                    <a:cubicBezTo>
                      <a:pt x="20160" y="7714"/>
                      <a:pt x="18720" y="15429"/>
                      <a:pt x="15120" y="18514"/>
                    </a:cubicBezTo>
                    <a:cubicBezTo>
                      <a:pt x="11520" y="21600"/>
                      <a:pt x="0" y="18514"/>
                      <a:pt x="0" y="18514"/>
                    </a:cubicBezTo>
                  </a:path>
                </a:pathLst>
              </a:cu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+mj-lt"/>
                    <a:ea typeface="+mj-ea"/>
                    <a:cs typeface="+mj-cs"/>
                    <a:sym typeface="Arial"/>
                  </a:defRPr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5" name="TextBox 64"/>
            <p:cNvSpPr txBox="1"/>
            <p:nvPr/>
          </p:nvSpPr>
          <p:spPr>
            <a:xfrm>
              <a:off x="358948" y="4855590"/>
              <a:ext cx="1408917" cy="4370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data valid</a:t>
              </a:r>
            </a:p>
          </p:txBody>
        </p:sp>
        <p:sp>
          <p:nvSpPr>
            <p:cNvPr id="396" name="TextBox 68"/>
            <p:cNvSpPr txBox="1"/>
            <p:nvPr/>
          </p:nvSpPr>
          <p:spPr>
            <a:xfrm>
              <a:off x="0" y="0"/>
              <a:ext cx="2068076" cy="4370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b="1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write-through</a:t>
              </a:r>
            </a:p>
          </p:txBody>
        </p:sp>
      </p:grpSp>
      <p:grpSp>
        <p:nvGrpSpPr>
          <p:cNvPr id="407" name="Group 72"/>
          <p:cNvGrpSpPr/>
          <p:nvPr/>
        </p:nvGrpSpPr>
        <p:grpSpPr>
          <a:xfrm>
            <a:off x="3175124" y="1427532"/>
            <a:ext cx="2795386" cy="5453089"/>
            <a:chOff x="0" y="0"/>
            <a:chExt cx="2795384" cy="5453088"/>
          </a:xfrm>
        </p:grpSpPr>
        <p:grpSp>
          <p:nvGrpSpPr>
            <p:cNvPr id="400" name="Rectangle 37"/>
            <p:cNvGrpSpPr/>
            <p:nvPr/>
          </p:nvGrpSpPr>
          <p:grpSpPr>
            <a:xfrm>
              <a:off x="0" y="4407878"/>
              <a:ext cx="2795385" cy="1045211"/>
              <a:chOff x="0" y="0"/>
              <a:chExt cx="2795384" cy="1045210"/>
            </a:xfrm>
          </p:grpSpPr>
          <p:sp>
            <p:nvSpPr>
              <p:cNvPr id="398" name="Rectangle"/>
              <p:cNvSpPr/>
              <p:nvPr/>
            </p:nvSpPr>
            <p:spPr>
              <a:xfrm>
                <a:off x="0" y="-1"/>
                <a:ext cx="2795385" cy="104521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4">
                      <a:lumOff val="28974"/>
                    </a:schemeClr>
                  </a:gs>
                  <a:gs pos="35000">
                    <a:srgbClr val="CFCFCF"/>
                  </a:gs>
                  <a:gs pos="100000">
                    <a:schemeClr val="accent4">
                      <a:lumOff val="48879"/>
                    </a:schemeClr>
                  </a:gs>
                </a:gsLst>
                <a:lin ang="162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+mj-lt"/>
                    <a:ea typeface="+mj-ea"/>
                    <a:cs typeface="+mj-cs"/>
                    <a:sym typeface="Arial"/>
                  </a:defRPr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main memory"/>
              <p:cNvSpPr txBox="1"/>
              <p:nvPr/>
            </p:nvSpPr>
            <p:spPr>
              <a:xfrm>
                <a:off x="50482" y="126270"/>
                <a:ext cx="2694421" cy="7926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808080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80808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main memory</a:t>
                </a:r>
              </a:p>
            </p:txBody>
          </p:sp>
        </p:grpSp>
        <p:sp>
          <p:nvSpPr>
            <p:cNvPr id="401" name="Rectangle 36"/>
            <p:cNvSpPr/>
            <p:nvPr/>
          </p:nvSpPr>
          <p:spPr>
            <a:xfrm>
              <a:off x="893782" y="1222602"/>
              <a:ext cx="1076104" cy="2480667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02" name="Freeform 48"/>
            <p:cNvSpPr/>
            <p:nvPr/>
          </p:nvSpPr>
          <p:spPr>
            <a:xfrm>
              <a:off x="1969885" y="952075"/>
              <a:ext cx="512360" cy="1315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24" h="21600" extrusionOk="0">
                  <a:moveTo>
                    <a:pt x="8100" y="0"/>
                  </a:moveTo>
                  <a:cubicBezTo>
                    <a:pt x="14850" y="4131"/>
                    <a:pt x="21600" y="8262"/>
                    <a:pt x="20250" y="11862"/>
                  </a:cubicBezTo>
                  <a:cubicBezTo>
                    <a:pt x="18900" y="15462"/>
                    <a:pt x="0" y="2160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03" name="Rectangle 53"/>
            <p:cNvSpPr/>
            <p:nvPr/>
          </p:nvSpPr>
          <p:spPr>
            <a:xfrm>
              <a:off x="905345" y="2121462"/>
              <a:ext cx="1076105" cy="334468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04" name="TextBox 58"/>
            <p:cNvSpPr txBox="1"/>
            <p:nvPr/>
          </p:nvSpPr>
          <p:spPr>
            <a:xfrm>
              <a:off x="426933" y="476380"/>
              <a:ext cx="1916570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b="1">
                  <a:latin typeface="Inconsolata"/>
                  <a:ea typeface="Inconsolata"/>
                  <a:cs typeface="Inconsolata"/>
                  <a:sym typeface="Inconsolata"/>
                </a:defRPr>
              </a:pPr>
              <a:r>
                <a:rPr kumimoji="0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consolata"/>
                  <a:ea typeface="Inconsolata"/>
                  <a:sym typeface="Inconsolata"/>
                </a:rPr>
                <a:t>sw R1, 0(R2)</a:t>
              </a:r>
            </a:p>
          </p:txBody>
        </p:sp>
        <p:sp>
          <p:nvSpPr>
            <p:cNvPr id="405" name="TextBox 65"/>
            <p:cNvSpPr txBox="1"/>
            <p:nvPr/>
          </p:nvSpPr>
          <p:spPr>
            <a:xfrm>
              <a:off x="573802" y="4855590"/>
              <a:ext cx="1646150" cy="4370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data invalid</a:t>
              </a:r>
            </a:p>
          </p:txBody>
        </p:sp>
        <p:sp>
          <p:nvSpPr>
            <p:cNvPr id="406" name="TextBox 69"/>
            <p:cNvSpPr txBox="1"/>
            <p:nvPr/>
          </p:nvSpPr>
          <p:spPr>
            <a:xfrm>
              <a:off x="587012" y="0"/>
              <a:ext cx="1611770" cy="4370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b="1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write-back</a:t>
              </a:r>
            </a:p>
          </p:txBody>
        </p:sp>
      </p:grpSp>
      <p:grpSp>
        <p:nvGrpSpPr>
          <p:cNvPr id="418" name="Group 73"/>
          <p:cNvGrpSpPr/>
          <p:nvPr/>
        </p:nvGrpSpPr>
        <p:grpSpPr>
          <a:xfrm>
            <a:off x="6326234" y="1427532"/>
            <a:ext cx="2795386" cy="5453089"/>
            <a:chOff x="0" y="0"/>
            <a:chExt cx="2795384" cy="5453088"/>
          </a:xfrm>
        </p:grpSpPr>
        <p:grpSp>
          <p:nvGrpSpPr>
            <p:cNvPr id="410" name="Rectangle 42"/>
            <p:cNvGrpSpPr/>
            <p:nvPr/>
          </p:nvGrpSpPr>
          <p:grpSpPr>
            <a:xfrm>
              <a:off x="0" y="4407878"/>
              <a:ext cx="2795385" cy="1045211"/>
              <a:chOff x="0" y="0"/>
              <a:chExt cx="2795384" cy="1045210"/>
            </a:xfrm>
          </p:grpSpPr>
          <p:sp>
            <p:nvSpPr>
              <p:cNvPr id="408" name="Rectangle"/>
              <p:cNvSpPr/>
              <p:nvPr/>
            </p:nvSpPr>
            <p:spPr>
              <a:xfrm>
                <a:off x="0" y="-1"/>
                <a:ext cx="2795385" cy="104521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4">
                      <a:lumOff val="28974"/>
                    </a:schemeClr>
                  </a:gs>
                  <a:gs pos="35000">
                    <a:srgbClr val="CFCFCF"/>
                  </a:gs>
                  <a:gs pos="100000">
                    <a:schemeClr val="accent4">
                      <a:lumOff val="48879"/>
                    </a:schemeClr>
                  </a:gs>
                </a:gsLst>
                <a:lin ang="162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+mj-lt"/>
                    <a:ea typeface="+mj-ea"/>
                    <a:cs typeface="+mj-cs"/>
                    <a:sym typeface="Arial"/>
                  </a:defRPr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main memory"/>
              <p:cNvSpPr txBox="1"/>
              <p:nvPr/>
            </p:nvSpPr>
            <p:spPr>
              <a:xfrm>
                <a:off x="50482" y="126270"/>
                <a:ext cx="2694421" cy="7926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808080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80808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main memory</a:t>
                </a:r>
              </a:p>
            </p:txBody>
          </p:sp>
        </p:grpSp>
        <p:sp>
          <p:nvSpPr>
            <p:cNvPr id="411" name="Rectangle 41"/>
            <p:cNvSpPr/>
            <p:nvPr/>
          </p:nvSpPr>
          <p:spPr>
            <a:xfrm>
              <a:off x="893782" y="1222602"/>
              <a:ext cx="1076104" cy="2480667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2" name="Rectangle 44"/>
            <p:cNvSpPr/>
            <p:nvPr/>
          </p:nvSpPr>
          <p:spPr>
            <a:xfrm>
              <a:off x="893782" y="2128467"/>
              <a:ext cx="1076104" cy="334468"/>
            </a:xfrm>
            <a:prstGeom prst="rect">
              <a:avLst/>
            </a:prstGeom>
            <a:solidFill>
              <a:srgbClr val="FFB3B3"/>
            </a:solidFill>
            <a:ln w="25400" cap="flat">
              <a:solidFill>
                <a:srgbClr val="C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3" name="Freeform 62"/>
            <p:cNvSpPr/>
            <p:nvPr/>
          </p:nvSpPr>
          <p:spPr>
            <a:xfrm>
              <a:off x="2112290" y="998724"/>
              <a:ext cx="166724" cy="3352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24" h="21600" extrusionOk="0">
                  <a:moveTo>
                    <a:pt x="8100" y="0"/>
                  </a:moveTo>
                  <a:cubicBezTo>
                    <a:pt x="14850" y="4131"/>
                    <a:pt x="21600" y="8262"/>
                    <a:pt x="20250" y="11862"/>
                  </a:cubicBezTo>
                  <a:cubicBezTo>
                    <a:pt x="18900" y="15462"/>
                    <a:pt x="0" y="2160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" name="Freeform 63"/>
            <p:cNvSpPr/>
            <p:nvPr/>
          </p:nvSpPr>
          <p:spPr>
            <a:xfrm rot="16200000">
              <a:off x="1993463" y="2272124"/>
              <a:ext cx="223876" cy="271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160" y="9000"/>
                    <a:pt x="20037" y="11161"/>
                    <a:pt x="16437" y="14761"/>
                  </a:cubicBezTo>
                  <a:cubicBezTo>
                    <a:pt x="12837" y="18361"/>
                    <a:pt x="0" y="2160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" name="TextBox 66"/>
            <p:cNvSpPr txBox="1"/>
            <p:nvPr/>
          </p:nvSpPr>
          <p:spPr>
            <a:xfrm>
              <a:off x="691590" y="4855590"/>
              <a:ext cx="1408918" cy="4370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data valid</a:t>
              </a:r>
            </a:p>
          </p:txBody>
        </p:sp>
        <p:sp>
          <p:nvSpPr>
            <p:cNvPr id="416" name="TextBox 67"/>
            <p:cNvSpPr txBox="1"/>
            <p:nvPr/>
          </p:nvSpPr>
          <p:spPr>
            <a:xfrm>
              <a:off x="444145" y="476380"/>
              <a:ext cx="1916570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b="1">
                  <a:latin typeface="Inconsolata"/>
                  <a:ea typeface="Inconsolata"/>
                  <a:cs typeface="Inconsolata"/>
                  <a:sym typeface="Inconsolata"/>
                </a:defRPr>
              </a:pPr>
              <a:r>
                <a:rPr kumimoji="0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consolata"/>
                  <a:ea typeface="Inconsolata"/>
                  <a:sym typeface="Inconsolata"/>
                </a:rPr>
                <a:t>sw R1, 0(R2)</a:t>
              </a:r>
            </a:p>
          </p:txBody>
        </p:sp>
        <p:sp>
          <p:nvSpPr>
            <p:cNvPr id="417" name="TextBox 70"/>
            <p:cNvSpPr txBox="1"/>
            <p:nvPr/>
          </p:nvSpPr>
          <p:spPr>
            <a:xfrm>
              <a:off x="548074" y="0"/>
              <a:ext cx="1611770" cy="4370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b="1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write-evict</a:t>
              </a:r>
            </a:p>
          </p:txBody>
        </p:sp>
      </p:grpSp>
      <p:sp>
        <p:nvSpPr>
          <p:cNvPr id="421" name="Rectangle 23"/>
          <p:cNvSpPr/>
          <p:nvPr/>
        </p:nvSpPr>
        <p:spPr>
          <a:xfrm>
            <a:off x="24014" y="6471620"/>
            <a:ext cx="9208886" cy="467661"/>
          </a:xfrm>
          <a:prstGeom prst="rect">
            <a:avLst/>
          </a:prstGeom>
          <a:gradFill>
            <a:gsLst>
              <a:gs pos="0">
                <a:schemeClr val="accent3">
                  <a:lumOff val="44000"/>
                  <a:alpha val="0"/>
                </a:schemeClr>
              </a:gs>
              <a:gs pos="100000">
                <a:schemeClr val="accent3">
                  <a:lumOff val="44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8F8F8F">
                    <a:lumOff val="44000"/>
                  </a:srgbClr>
                </a:solidFill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8F8F8F">
                  <a:lumOff val="44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" grpId="0" animBg="1" advAuto="0"/>
      <p:bldP spid="407" grpId="0" animBg="1" advAuto="0"/>
      <p:bldP spid="418" grpId="0" animBg="1" advAuto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779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Write Misses </a:t>
            </a:r>
            <a:br>
              <a:rPr lang="en-US">
                <a:latin typeface="Arial  " charset="0"/>
                <a:cs typeface="Arial  " charset="0"/>
              </a:rPr>
            </a:br>
            <a:r>
              <a:rPr lang="en-US" sz="2800">
                <a:latin typeface="Arial  " charset="0"/>
                <a:cs typeface="Arial  " charset="0"/>
              </a:rPr>
              <a:t>(how are they handled by hardware?)</a:t>
            </a:r>
            <a:endParaRPr lang="en-US">
              <a:latin typeface="Arial  " charset="0"/>
              <a:cs typeface="Arial  " charset="0"/>
            </a:endParaRPr>
          </a:p>
        </p:txBody>
      </p:sp>
      <p:sp>
        <p:nvSpPr>
          <p:cNvPr id="5939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96900" y="1422400"/>
            <a:ext cx="80264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Arial  " charset="0"/>
                <a:cs typeface="Arial  " charset="0"/>
              </a:rPr>
              <a:t>Writes can miss in cache…  leads to a hardware design choice (the design choice options are answers to question “how do we deal with write miss”).  Two choices are: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b="1" u="sng" dirty="0">
                <a:latin typeface="Arial  " charset="0"/>
                <a:cs typeface="Arial  " charset="0"/>
              </a:rPr>
              <a:t>Write-allocate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dirty="0">
                <a:latin typeface="Arial  " charset="0"/>
                <a:cs typeface="Arial  " charset="0"/>
              </a:rPr>
              <a:t>First, read cache block from memory into cache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dirty="0">
                <a:latin typeface="Arial  " charset="0"/>
                <a:cs typeface="Arial  " charset="0"/>
              </a:rPr>
              <a:t>Second, proceed with write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b="1" u="sng" dirty="0">
                <a:latin typeface="Arial  " charset="0"/>
                <a:cs typeface="Arial  " charset="0"/>
              </a:rPr>
              <a:t>No write-allocate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dirty="0">
                <a:latin typeface="Arial  " charset="0"/>
                <a:cs typeface="Arial  " charset="0"/>
              </a:rPr>
              <a:t>Write to memory directly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dirty="0">
                <a:latin typeface="Arial  " charset="0"/>
                <a:cs typeface="Arial  " charset="0"/>
              </a:rPr>
              <a:t>Memory access is slow, CPU must wait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dirty="0">
                <a:latin typeface="Arial  " charset="0"/>
                <a:cs typeface="Arial  " charset="0"/>
              </a:rPr>
              <a:t>Improve performance using “write buffers” (see later)</a:t>
            </a:r>
          </a:p>
          <a:p>
            <a:pPr lvl="2" eaLnBrk="1" hangingPunct="1">
              <a:lnSpc>
                <a:spcPct val="80000"/>
              </a:lnSpc>
            </a:pPr>
            <a:endParaRPr lang="en-US" sz="1800" dirty="0">
              <a:latin typeface="Arial  " charset="0"/>
              <a:cs typeface="Arial  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Arial  " charset="0"/>
                <a:cs typeface="Arial  " charset="0"/>
              </a:rPr>
              <a:t>Most common design choices: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err="1">
                <a:latin typeface="Arial  " charset="0"/>
                <a:cs typeface="Arial  " charset="0"/>
              </a:rPr>
              <a:t>Writeback</a:t>
            </a:r>
            <a:r>
              <a:rPr lang="en-US" sz="2000" dirty="0">
                <a:latin typeface="Arial  " charset="0"/>
                <a:cs typeface="Arial  " charset="0"/>
              </a:rPr>
              <a:t> cache uses write-allocate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Arial  " charset="0"/>
                <a:cs typeface="Arial  " charset="0"/>
              </a:rPr>
              <a:t>Write-through cache uses no write-allocate (keep it simple)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57</a:t>
            </a:fld>
            <a:r>
              <a:rPr lang="en-US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0200" y="6488668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Text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: COD ARM Edition §5.3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7702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Rectangle 4"/>
          <p:cNvSpPr/>
          <p:nvPr/>
        </p:nvSpPr>
        <p:spPr>
          <a:xfrm>
            <a:off x="917799" y="2650133"/>
            <a:ext cx="1076104" cy="2480667"/>
          </a:xfrm>
          <a:prstGeom prst="rect">
            <a:avLst/>
          </a:prstGeom>
          <a:gradFill>
            <a:gsLst>
              <a:gs pos="0">
                <a:schemeClr val="accent4">
                  <a:lumOff val="28974"/>
                </a:schemeClr>
              </a:gs>
              <a:gs pos="35000">
                <a:srgbClr val="CFCFCF"/>
              </a:gs>
              <a:gs pos="100000">
                <a:schemeClr val="accent4">
                  <a:lumOff val="48879"/>
                </a:schemeClr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426" name="Rectangle 21"/>
          <p:cNvGrpSpPr/>
          <p:nvPr/>
        </p:nvGrpSpPr>
        <p:grpSpPr>
          <a:xfrm>
            <a:off x="24016" y="5835410"/>
            <a:ext cx="2795385" cy="1045211"/>
            <a:chOff x="0" y="0"/>
            <a:chExt cx="2795384" cy="1045210"/>
          </a:xfrm>
        </p:grpSpPr>
        <p:sp>
          <p:nvSpPr>
            <p:cNvPr id="424" name="Rectangle"/>
            <p:cNvSpPr/>
            <p:nvPr/>
          </p:nvSpPr>
          <p:spPr>
            <a:xfrm>
              <a:off x="0" y="-1"/>
              <a:ext cx="2795385" cy="1045212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5" name="main memory"/>
            <p:cNvSpPr txBox="1"/>
            <p:nvPr/>
          </p:nvSpPr>
          <p:spPr>
            <a:xfrm>
              <a:off x="50482" y="126270"/>
              <a:ext cx="2694421" cy="792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80808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main memory</a:t>
              </a:r>
            </a:p>
          </p:txBody>
        </p:sp>
      </p:grpSp>
      <p:sp>
        <p:nvSpPr>
          <p:cNvPr id="427" name="TextBox 29"/>
          <p:cNvSpPr txBox="1"/>
          <p:nvPr/>
        </p:nvSpPr>
        <p:spPr>
          <a:xfrm>
            <a:off x="515273" y="1903914"/>
            <a:ext cx="191657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>
                <a:latin typeface="Inconsolata"/>
                <a:ea typeface="Inconsolata"/>
                <a:cs typeface="Inconsolata"/>
                <a:sym typeface="Inconsolata"/>
              </a:defRPr>
            </a:pP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consolata"/>
                <a:ea typeface="Inconsolata"/>
                <a:sym typeface="Inconsolata"/>
              </a:rPr>
              <a:t>sw R1, 0(R2)</a:t>
            </a:r>
          </a:p>
        </p:txBody>
      </p:sp>
      <p:sp>
        <p:nvSpPr>
          <p:cNvPr id="428" name="Title 47"/>
          <p:cNvSpPr txBox="1">
            <a:spLocks noGrp="1"/>
          </p:cNvSpPr>
          <p:nvPr>
            <p:ph type="title"/>
          </p:nvPr>
        </p:nvSpPr>
        <p:spPr>
          <a:xfrm>
            <a:off x="24014" y="0"/>
            <a:ext cx="9097604" cy="1143000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Writes that miss in the cache</a:t>
            </a:r>
          </a:p>
        </p:txBody>
      </p:sp>
      <p:sp>
        <p:nvSpPr>
          <p:cNvPr id="429" name="Rectangle 49"/>
          <p:cNvSpPr/>
          <p:nvPr/>
        </p:nvSpPr>
        <p:spPr>
          <a:xfrm>
            <a:off x="917799" y="3548996"/>
            <a:ext cx="1076104" cy="334468"/>
          </a:xfrm>
          <a:prstGeom prst="rect">
            <a:avLst/>
          </a:prstGeom>
          <a:ln w="25400">
            <a:solidFill>
              <a:srgbClr val="C00000"/>
            </a:solidFill>
            <a:prstDash val="dash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0" name="TextBox 68"/>
          <p:cNvSpPr txBox="1"/>
          <p:nvPr/>
        </p:nvSpPr>
        <p:spPr>
          <a:xfrm>
            <a:off x="429775" y="1427533"/>
            <a:ext cx="2052153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write-allocate</a:t>
            </a:r>
          </a:p>
        </p:txBody>
      </p:sp>
      <p:grpSp>
        <p:nvGrpSpPr>
          <p:cNvPr id="439" name="Group 72"/>
          <p:cNvGrpSpPr/>
          <p:nvPr/>
        </p:nvGrpSpPr>
        <p:grpSpPr>
          <a:xfrm>
            <a:off x="3175124" y="1427532"/>
            <a:ext cx="2795386" cy="5453089"/>
            <a:chOff x="0" y="0"/>
            <a:chExt cx="2795384" cy="5453088"/>
          </a:xfrm>
        </p:grpSpPr>
        <p:grpSp>
          <p:nvGrpSpPr>
            <p:cNvPr id="433" name="Rectangle 37"/>
            <p:cNvGrpSpPr/>
            <p:nvPr/>
          </p:nvGrpSpPr>
          <p:grpSpPr>
            <a:xfrm>
              <a:off x="0" y="4407878"/>
              <a:ext cx="2795385" cy="1045211"/>
              <a:chOff x="0" y="0"/>
              <a:chExt cx="2795384" cy="1045210"/>
            </a:xfrm>
          </p:grpSpPr>
          <p:sp>
            <p:nvSpPr>
              <p:cNvPr id="431" name="Rectangle"/>
              <p:cNvSpPr/>
              <p:nvPr/>
            </p:nvSpPr>
            <p:spPr>
              <a:xfrm>
                <a:off x="0" y="-1"/>
                <a:ext cx="2795385" cy="104521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4">
                      <a:lumOff val="28974"/>
                    </a:schemeClr>
                  </a:gs>
                  <a:gs pos="35000">
                    <a:srgbClr val="CFCFCF"/>
                  </a:gs>
                  <a:gs pos="100000">
                    <a:schemeClr val="accent4">
                      <a:lumOff val="48879"/>
                    </a:schemeClr>
                  </a:gs>
                </a:gsLst>
                <a:lin ang="162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+mj-lt"/>
                    <a:ea typeface="+mj-ea"/>
                    <a:cs typeface="+mj-cs"/>
                    <a:sym typeface="Arial"/>
                  </a:defRPr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main memory"/>
              <p:cNvSpPr txBox="1"/>
              <p:nvPr/>
            </p:nvSpPr>
            <p:spPr>
              <a:xfrm>
                <a:off x="50482" y="126270"/>
                <a:ext cx="2694421" cy="7926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808080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80808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main memory</a:t>
                </a:r>
              </a:p>
            </p:txBody>
          </p:sp>
        </p:grpSp>
        <p:sp>
          <p:nvSpPr>
            <p:cNvPr id="434" name="Rectangle 36"/>
            <p:cNvSpPr/>
            <p:nvPr/>
          </p:nvSpPr>
          <p:spPr>
            <a:xfrm>
              <a:off x="893782" y="1222602"/>
              <a:ext cx="1076104" cy="2480667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35" name="Freeform 48"/>
            <p:cNvSpPr/>
            <p:nvPr/>
          </p:nvSpPr>
          <p:spPr>
            <a:xfrm>
              <a:off x="1969885" y="952075"/>
              <a:ext cx="512360" cy="3455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24" h="21600" extrusionOk="0">
                  <a:moveTo>
                    <a:pt x="8100" y="0"/>
                  </a:moveTo>
                  <a:cubicBezTo>
                    <a:pt x="14850" y="4131"/>
                    <a:pt x="21600" y="8262"/>
                    <a:pt x="20250" y="11862"/>
                  </a:cubicBezTo>
                  <a:cubicBezTo>
                    <a:pt x="18900" y="15462"/>
                    <a:pt x="0" y="2160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36" name="Rectangle 53"/>
            <p:cNvSpPr/>
            <p:nvPr/>
          </p:nvSpPr>
          <p:spPr>
            <a:xfrm>
              <a:off x="905345" y="2121462"/>
              <a:ext cx="1076105" cy="334468"/>
            </a:xfrm>
            <a:prstGeom prst="rect">
              <a:avLst/>
            </a:prstGeom>
            <a:noFill/>
            <a:ln w="25400" cap="flat">
              <a:solidFill>
                <a:srgbClr val="C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37" name="TextBox 58"/>
            <p:cNvSpPr txBox="1"/>
            <p:nvPr/>
          </p:nvSpPr>
          <p:spPr>
            <a:xfrm>
              <a:off x="426933" y="476380"/>
              <a:ext cx="1916570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b="1">
                  <a:latin typeface="Inconsolata"/>
                  <a:ea typeface="Inconsolata"/>
                  <a:cs typeface="Inconsolata"/>
                  <a:sym typeface="Inconsolata"/>
                </a:defRPr>
              </a:pPr>
              <a:r>
                <a:rPr kumimoji="0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consolata"/>
                  <a:ea typeface="Inconsolata"/>
                  <a:sym typeface="Inconsolata"/>
                </a:rPr>
                <a:t>sw R1, 0(R2)</a:t>
              </a:r>
            </a:p>
          </p:txBody>
        </p:sp>
        <p:sp>
          <p:nvSpPr>
            <p:cNvPr id="438" name="TextBox 69"/>
            <p:cNvSpPr txBox="1"/>
            <p:nvPr/>
          </p:nvSpPr>
          <p:spPr>
            <a:xfrm>
              <a:off x="129888" y="0"/>
              <a:ext cx="2526022" cy="4370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b="1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write-no-allocate</a:t>
              </a:r>
            </a:p>
          </p:txBody>
        </p:sp>
      </p:grpSp>
      <p:sp>
        <p:nvSpPr>
          <p:cNvPr id="440" name="TextBox 1"/>
          <p:cNvSpPr txBox="1"/>
          <p:nvPr/>
        </p:nvSpPr>
        <p:spPr>
          <a:xfrm>
            <a:off x="6688841" y="2236771"/>
            <a:ext cx="2306797" cy="2570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aside: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proposals exist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 bypass cache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for </a:t>
            </a: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some</a:t>
            </a: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reads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(why and how?)</a:t>
            </a:r>
          </a:p>
        </p:txBody>
      </p:sp>
      <p:sp>
        <p:nvSpPr>
          <p:cNvPr id="441" name="Rectangle 23"/>
          <p:cNvSpPr/>
          <p:nvPr/>
        </p:nvSpPr>
        <p:spPr>
          <a:xfrm>
            <a:off x="24014" y="6471620"/>
            <a:ext cx="9208886" cy="467661"/>
          </a:xfrm>
          <a:prstGeom prst="rect">
            <a:avLst/>
          </a:prstGeom>
          <a:gradFill>
            <a:gsLst>
              <a:gs pos="0">
                <a:schemeClr val="accent3">
                  <a:lumOff val="44000"/>
                  <a:alpha val="0"/>
                </a:schemeClr>
              </a:gs>
              <a:gs pos="100000">
                <a:schemeClr val="accent3">
                  <a:lumOff val="44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8F8F8F">
                    <a:lumOff val="44000"/>
                  </a:srgbClr>
                </a:solidFill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8F8F8F">
                  <a:lumOff val="44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444" name="Group 2"/>
          <p:cNvGrpSpPr/>
          <p:nvPr/>
        </p:nvGrpSpPr>
        <p:grpSpPr>
          <a:xfrm>
            <a:off x="917798" y="3545761"/>
            <a:ext cx="1580295" cy="2289647"/>
            <a:chOff x="0" y="0"/>
            <a:chExt cx="1580293" cy="2289646"/>
          </a:xfrm>
        </p:grpSpPr>
        <p:sp>
          <p:nvSpPr>
            <p:cNvPr id="442" name="Freeform 33"/>
            <p:cNvSpPr/>
            <p:nvPr/>
          </p:nvSpPr>
          <p:spPr>
            <a:xfrm rot="10800000" flipH="1">
              <a:off x="1067934" y="149048"/>
              <a:ext cx="512360" cy="21405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24" h="21600" extrusionOk="0">
                  <a:moveTo>
                    <a:pt x="8100" y="0"/>
                  </a:moveTo>
                  <a:cubicBezTo>
                    <a:pt x="14850" y="4131"/>
                    <a:pt x="21600" y="8262"/>
                    <a:pt x="20250" y="11862"/>
                  </a:cubicBezTo>
                  <a:cubicBezTo>
                    <a:pt x="18900" y="15462"/>
                    <a:pt x="0" y="2160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80808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43" name="Rectangle 38"/>
            <p:cNvSpPr/>
            <p:nvPr/>
          </p:nvSpPr>
          <p:spPr>
            <a:xfrm>
              <a:off x="-1" y="0"/>
              <a:ext cx="1076104" cy="334468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47" name="Group 3"/>
          <p:cNvGrpSpPr/>
          <p:nvPr/>
        </p:nvGrpSpPr>
        <p:grpSpPr>
          <a:xfrm>
            <a:off x="1362439" y="2379609"/>
            <a:ext cx="1143823" cy="1500734"/>
            <a:chOff x="0" y="0"/>
            <a:chExt cx="1143821" cy="1500733"/>
          </a:xfrm>
        </p:grpSpPr>
        <p:sp>
          <p:nvSpPr>
            <p:cNvPr id="445" name="Freeform 34"/>
            <p:cNvSpPr/>
            <p:nvPr/>
          </p:nvSpPr>
          <p:spPr>
            <a:xfrm>
              <a:off x="631461" y="-1"/>
              <a:ext cx="512361" cy="1315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24" h="21600" extrusionOk="0">
                  <a:moveTo>
                    <a:pt x="8100" y="0"/>
                  </a:moveTo>
                  <a:cubicBezTo>
                    <a:pt x="14850" y="4131"/>
                    <a:pt x="21600" y="8262"/>
                    <a:pt x="20250" y="11862"/>
                  </a:cubicBezTo>
                  <a:cubicBezTo>
                    <a:pt x="18900" y="15462"/>
                    <a:pt x="0" y="2160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46" name="Rectangle 35"/>
            <p:cNvSpPr/>
            <p:nvPr/>
          </p:nvSpPr>
          <p:spPr>
            <a:xfrm>
              <a:off x="-1" y="1166266"/>
              <a:ext cx="448579" cy="33446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" grpId="0" animBg="1" advAuto="0"/>
      <p:bldP spid="439" grpId="0" animBg="1" advAuto="0"/>
      <p:bldP spid="440" grpId="0" animBg="1" advAuto="0"/>
      <p:bldP spid="444" grpId="0" animBg="1" advAuto="0"/>
      <p:bldP spid="447" grpId="0" animBg="1" advAuto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Title 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Two points about reads and writes</a:t>
            </a:r>
          </a:p>
        </p:txBody>
      </p:sp>
      <p:sp>
        <p:nvSpPr>
          <p:cNvPr id="498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  <a:p>
            <a:r>
              <a:t>consider </a:t>
            </a:r>
            <a:r>
              <a:rPr b="1"/>
              <a:t>load</a:t>
            </a:r>
            <a:r>
              <a:t> access to cache:</a:t>
            </a:r>
            <a:br/>
            <a:r>
              <a:t>when can this cause a memory </a:t>
            </a:r>
            <a:r>
              <a:rPr b="1"/>
              <a:t>write</a:t>
            </a:r>
            <a:r>
              <a:t>?</a:t>
            </a:r>
          </a:p>
          <a:p>
            <a:endParaRPr/>
          </a:p>
          <a:p>
            <a:r>
              <a:t>consider </a:t>
            </a:r>
            <a:r>
              <a:rPr b="1"/>
              <a:t>store </a:t>
            </a:r>
            <a:r>
              <a:t>access to cache:</a:t>
            </a:r>
            <a:br/>
            <a:r>
              <a:t>when can this cause a memory </a:t>
            </a:r>
            <a:r>
              <a:rPr b="1"/>
              <a:t>read</a:t>
            </a:r>
            <a:r>
              <a:t>?</a:t>
            </a:r>
          </a:p>
        </p:txBody>
      </p:sp>
      <p:sp>
        <p:nvSpPr>
          <p:cNvPr id="499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8156292" y="6248400"/>
            <a:ext cx="301908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4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" grpId="0" build="p" animBg="1" advAuto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3600">
                <a:latin typeface="Arial  " charset="0"/>
                <a:cs typeface="Arial  " charset="0"/>
              </a:rPr>
              <a:t>Counter-Intuitive Case 1:</a:t>
            </a:r>
            <a:br>
              <a:rPr lang="en-US" sz="3600">
                <a:latin typeface="Arial  " charset="0"/>
                <a:cs typeface="Arial  " charset="0"/>
              </a:rPr>
            </a:br>
            <a:r>
              <a:rPr lang="en-US" sz="3600">
                <a:latin typeface="Arial  " charset="0"/>
                <a:cs typeface="Arial  " charset="0"/>
              </a:rPr>
              <a:t>Load instruction may cause Writes</a:t>
            </a:r>
          </a:p>
        </p:txBody>
      </p:sp>
      <p:sp>
        <p:nvSpPr>
          <p:cNvPr id="6041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>
                <a:latin typeface="Arial  " charset="0"/>
                <a:cs typeface="Arial  " charset="0"/>
              </a:rPr>
              <a:t>Write-back cache problems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Arial  " charset="0"/>
                <a:cs typeface="Arial  " charset="0"/>
              </a:rPr>
              <a:t>Over time, many cache blocks marked “dirty”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Arial  " charset="0"/>
                <a:cs typeface="Arial  " charset="0"/>
              </a:rPr>
              <a:t>Eventually, must write dirty data back to memory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>
                <a:latin typeface="Arial  " charset="0"/>
                <a:cs typeface="Arial  " charset="0"/>
              </a:rPr>
              <a:t>Usually, when cache block is evicted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>
                <a:latin typeface="Arial  " charset="0"/>
                <a:cs typeface="Arial  " charset="0"/>
              </a:rPr>
              <a:t>(Also, </a:t>
            </a:r>
            <a:r>
              <a:rPr lang="en-US" sz="1800" u="sng">
                <a:latin typeface="Arial  " charset="0"/>
                <a:cs typeface="Arial  " charset="0"/>
              </a:rPr>
              <a:t>if</a:t>
            </a:r>
            <a:r>
              <a:rPr lang="en-US" sz="1800">
                <a:latin typeface="Arial  " charset="0"/>
                <a:cs typeface="Arial  " charset="0"/>
              </a:rPr>
              <a:t> cache is “flushed” for OS context switch)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Arial  " charset="0"/>
                <a:cs typeface="Arial  " charset="0"/>
              </a:rPr>
              <a:t>Called a “writeback” event</a:t>
            </a:r>
          </a:p>
          <a:p>
            <a:pPr lvl="2" eaLnBrk="1" hangingPunct="1">
              <a:lnSpc>
                <a:spcPct val="80000"/>
              </a:lnSpc>
            </a:pPr>
            <a:endParaRPr lang="en-US" sz="1800">
              <a:latin typeface="Arial  " charset="0"/>
              <a:cs typeface="Arial  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Arial  " charset="0"/>
                <a:cs typeface="Arial  " charset="0"/>
              </a:rPr>
              <a:t>Load may cause writes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Arial  " charset="0"/>
                <a:cs typeface="Arial  " charset="0"/>
              </a:rPr>
              <a:t>Load instruction miss, may evict a dirty cache block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>
                <a:latin typeface="Arial  " charset="0"/>
                <a:cs typeface="Arial  " charset="0"/>
              </a:rPr>
              <a:t>Write first: (old) dirty cache block writes to memory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>
                <a:latin typeface="Arial  " charset="0"/>
                <a:cs typeface="Arial  " charset="0"/>
              </a:rPr>
              <a:t>Read second: (new) memory block loaded into cache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Arial  " charset="0"/>
                <a:cs typeface="Arial  " charset="0"/>
              </a:rPr>
              <a:t>…but CPU is waiting for read result to do Load…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>
                <a:latin typeface="Arial  " charset="0"/>
                <a:cs typeface="Arial  " charset="0"/>
              </a:rPr>
              <a:t>Many CPUs do the “read first”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>
                <a:latin typeface="Arial  " charset="0"/>
                <a:cs typeface="Arial  " charset="0"/>
              </a:rPr>
              <a:t>Holds dirty cache block in special “write buffer” during read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60</a:t>
            </a:fld>
            <a:r>
              <a:rPr lang="en-US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10200" y="6488668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Text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: COD ARM Edition §5.3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6605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3600">
                <a:latin typeface="Arial  " charset="0"/>
                <a:cs typeface="Arial  " charset="0"/>
              </a:rPr>
              <a:t>Counter-Intuitive Case 2:</a:t>
            </a:r>
            <a:br>
              <a:rPr lang="en-US" sz="3600">
                <a:latin typeface="Arial  " charset="0"/>
                <a:cs typeface="Arial  " charset="0"/>
              </a:rPr>
            </a:br>
            <a:r>
              <a:rPr lang="en-US" sz="3600">
                <a:latin typeface="Arial  " charset="0"/>
                <a:cs typeface="Arial  " charset="0"/>
              </a:rPr>
              <a:t>Store instruction may cause Reads</a:t>
            </a:r>
          </a:p>
        </p:txBody>
      </p:sp>
      <p:sp>
        <p:nvSpPr>
          <p:cNvPr id="6144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>
                <a:latin typeface="Arial  " charset="0"/>
                <a:cs typeface="Arial  " charset="0"/>
              </a:rPr>
              <a:t>Writes can miss in the cache!</a:t>
            </a:r>
          </a:p>
          <a:p>
            <a:pPr eaLnBrk="1" hangingPunct="1">
              <a:lnSpc>
                <a:spcPct val="80000"/>
              </a:lnSpc>
            </a:pPr>
            <a:endParaRPr lang="en-US" sz="2400">
              <a:latin typeface="Arial  " charset="0"/>
              <a:cs typeface="Arial  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Arial  " charset="0"/>
                <a:cs typeface="Arial  " charset="0"/>
              </a:rPr>
              <a:t>Store may cause Reads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Arial  " charset="0"/>
                <a:cs typeface="Arial  " charset="0"/>
              </a:rPr>
              <a:t>Writeback cache with write-allocate policy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>
                <a:latin typeface="Arial  " charset="0"/>
                <a:cs typeface="Arial  " charset="0"/>
              </a:rPr>
              <a:t>Store misses in cache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>
                <a:latin typeface="Arial  " charset="0"/>
                <a:cs typeface="Arial  " charset="0"/>
              </a:rPr>
              <a:t>CPU performs READ from memory, puts data in cache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>
                <a:latin typeface="Arial  " charset="0"/>
                <a:cs typeface="Arial  " charset="0"/>
              </a:rPr>
              <a:t>CPU performs write in cache, marks block dirty</a:t>
            </a:r>
          </a:p>
          <a:p>
            <a:pPr lvl="1" eaLnBrk="1" hangingPunct="1">
              <a:lnSpc>
                <a:spcPct val="80000"/>
              </a:lnSpc>
            </a:pPr>
            <a:endParaRPr lang="en-US" sz="2000">
              <a:latin typeface="Arial  " charset="0"/>
              <a:cs typeface="Arial  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Arial  " charset="0"/>
                <a:cs typeface="Arial  " charset="0"/>
              </a:rPr>
              <a:t>It can be even more complex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Arial  " charset="0"/>
                <a:cs typeface="Arial  " charset="0"/>
              </a:rPr>
              <a:t>When store misses in cache above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>
                <a:latin typeface="Arial  " charset="0"/>
                <a:cs typeface="Arial  " charset="0"/>
              </a:rPr>
              <a:t>Must evict existing cache block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>
                <a:latin typeface="Arial  " charset="0"/>
                <a:cs typeface="Arial  " charset="0"/>
              </a:rPr>
              <a:t>If marked dirty, must first write back the cache block to memory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Arial  " charset="0"/>
                <a:cs typeface="Arial  " charset="0"/>
              </a:rPr>
              <a:t>CPU performs read from memory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Arial  " charset="0"/>
                <a:cs typeface="Arial  " charset="0"/>
              </a:rPr>
              <a:t>CPU performs write in cache</a:t>
            </a:r>
          </a:p>
          <a:p>
            <a:pPr lvl="1" eaLnBrk="1" hangingPunct="1">
              <a:lnSpc>
                <a:spcPct val="80000"/>
              </a:lnSpc>
            </a:pPr>
            <a:endParaRPr lang="en-US" sz="2000">
              <a:latin typeface="Arial  " charset="0"/>
              <a:cs typeface="Arial  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61</a:t>
            </a:fld>
            <a:r>
              <a:rPr lang="en-US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10200" y="6488668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Text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: COD ARM Edition §5.3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4290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63500"/>
            <a:ext cx="8966200" cy="685800"/>
          </a:xfrm>
          <a:noFill/>
        </p:spPr>
        <p:txBody>
          <a:bodyPr/>
          <a:lstStyle/>
          <a:p>
            <a:pPr marL="25400" eaLnBrk="1" hangingPunct="1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 sz="3200">
                <a:latin typeface="Arial  " charset="0"/>
                <a:cs typeface="Arial  " charset="0"/>
              </a:rPr>
              <a:t>   Write Buffers for Write-Through Caches</a:t>
            </a:r>
            <a:endParaRPr lang="en-US" sz="2000">
              <a:solidFill>
                <a:schemeClr val="bg2"/>
              </a:solidFill>
              <a:latin typeface="Arial  " charset="0"/>
              <a:cs typeface="Arial  " charset="0"/>
            </a:endParaRPr>
          </a:p>
        </p:txBody>
      </p:sp>
      <p:sp>
        <p:nvSpPr>
          <p:cNvPr id="757764" name="Text Box 4"/>
          <p:cNvSpPr txBox="1">
            <a:spLocks noChangeArrowheads="1"/>
          </p:cNvSpPr>
          <p:nvPr/>
        </p:nvSpPr>
        <p:spPr bwMode="auto">
          <a:xfrm>
            <a:off x="831850" y="3832225"/>
            <a:ext cx="36258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1" dirty="0">
                <a:solidFill>
                  <a:srgbClr val="053DE8"/>
                </a:solidFill>
                <a:latin typeface="Marker Felt" pitchFamily="-106" charset="0"/>
              </a:rPr>
              <a:t>Q. Why a write buffer ? </a:t>
            </a:r>
          </a:p>
        </p:txBody>
      </p:sp>
      <p:grpSp>
        <p:nvGrpSpPr>
          <p:cNvPr id="62468" name="Group 5"/>
          <p:cNvGrpSpPr>
            <a:grpSpLocks/>
          </p:cNvGrpSpPr>
          <p:nvPr/>
        </p:nvGrpSpPr>
        <p:grpSpPr bwMode="auto">
          <a:xfrm>
            <a:off x="2057400" y="1117600"/>
            <a:ext cx="5003800" cy="1257300"/>
            <a:chOff x="1134" y="616"/>
            <a:chExt cx="3152" cy="792"/>
          </a:xfrm>
        </p:grpSpPr>
        <p:sp>
          <p:nvSpPr>
            <p:cNvPr id="62479" name="Freeform 6"/>
            <p:cNvSpPr>
              <a:spLocks/>
            </p:cNvSpPr>
            <p:nvPr/>
          </p:nvSpPr>
          <p:spPr bwMode="auto">
            <a:xfrm>
              <a:off x="1134" y="616"/>
              <a:ext cx="800" cy="608"/>
            </a:xfrm>
            <a:custGeom>
              <a:avLst/>
              <a:gdLst>
                <a:gd name="T0" fmla="*/ 0 w 10000"/>
                <a:gd name="T1" fmla="*/ 0 h 10000"/>
                <a:gd name="T2" fmla="*/ 0 w 10000"/>
                <a:gd name="T3" fmla="*/ 0 h 10000"/>
                <a:gd name="T4" fmla="*/ 0 w 10000"/>
                <a:gd name="T5" fmla="*/ 0 h 10000"/>
                <a:gd name="T6" fmla="*/ 0 w 10000"/>
                <a:gd name="T7" fmla="*/ 0 h 10000"/>
                <a:gd name="T8" fmla="*/ 0 w 10000"/>
                <a:gd name="T9" fmla="*/ 0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480" name="Text Box 7"/>
            <p:cNvSpPr txBox="1">
              <a:spLocks noChangeArrowheads="1"/>
            </p:cNvSpPr>
            <p:nvPr/>
          </p:nvSpPr>
          <p:spPr bwMode="auto">
            <a:xfrm>
              <a:off x="1226" y="824"/>
              <a:ext cx="534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ts val="1900"/>
                </a:lnSpc>
                <a:tabLst>
                  <a:tab pos="0" algn="l"/>
                  <a:tab pos="914400" algn="l"/>
                </a:tabLst>
              </a:pPr>
              <a:r>
                <a:rPr lang="en-US" sz="1600" b="1">
                  <a:latin typeface="Times New Roman" pitchFamily="18" charset="0"/>
                </a:rPr>
                <a:t>Processor</a:t>
              </a:r>
            </a:p>
          </p:txBody>
        </p:sp>
        <p:sp>
          <p:nvSpPr>
            <p:cNvPr id="62481" name="Freeform 8"/>
            <p:cNvSpPr>
              <a:spLocks/>
            </p:cNvSpPr>
            <p:nvPr/>
          </p:nvSpPr>
          <p:spPr bwMode="auto">
            <a:xfrm>
              <a:off x="2670" y="616"/>
              <a:ext cx="560" cy="368"/>
            </a:xfrm>
            <a:custGeom>
              <a:avLst/>
              <a:gdLst>
                <a:gd name="T0" fmla="*/ 0 w 10000"/>
                <a:gd name="T1" fmla="*/ 0 h 10000"/>
                <a:gd name="T2" fmla="*/ 0 w 10000"/>
                <a:gd name="T3" fmla="*/ 0 h 10000"/>
                <a:gd name="T4" fmla="*/ 0 w 10000"/>
                <a:gd name="T5" fmla="*/ 0 h 10000"/>
                <a:gd name="T6" fmla="*/ 0 w 10000"/>
                <a:gd name="T7" fmla="*/ 0 h 10000"/>
                <a:gd name="T8" fmla="*/ 0 w 10000"/>
                <a:gd name="T9" fmla="*/ 0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482" name="Text Box 9"/>
            <p:cNvSpPr txBox="1">
              <a:spLocks noChangeArrowheads="1"/>
            </p:cNvSpPr>
            <p:nvPr/>
          </p:nvSpPr>
          <p:spPr bwMode="auto">
            <a:xfrm>
              <a:off x="2738" y="728"/>
              <a:ext cx="341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ts val="1900"/>
                </a:lnSpc>
                <a:tabLst>
                  <a:tab pos="0" algn="l"/>
                </a:tabLst>
              </a:pPr>
              <a:r>
                <a:rPr lang="en-US" sz="1600" b="1">
                  <a:latin typeface="Times New Roman" pitchFamily="18" charset="0"/>
                </a:rPr>
                <a:t>Cache</a:t>
              </a:r>
            </a:p>
          </p:txBody>
        </p:sp>
        <p:sp>
          <p:nvSpPr>
            <p:cNvPr id="62483" name="Freeform 10"/>
            <p:cNvSpPr>
              <a:spLocks/>
            </p:cNvSpPr>
            <p:nvPr/>
          </p:nvSpPr>
          <p:spPr bwMode="auto">
            <a:xfrm>
              <a:off x="2670" y="1048"/>
              <a:ext cx="560" cy="176"/>
            </a:xfrm>
            <a:custGeom>
              <a:avLst/>
              <a:gdLst>
                <a:gd name="T0" fmla="*/ 0 w 10000"/>
                <a:gd name="T1" fmla="*/ 0 h 10000"/>
                <a:gd name="T2" fmla="*/ 0 w 10000"/>
                <a:gd name="T3" fmla="*/ 0 h 10000"/>
                <a:gd name="T4" fmla="*/ 0 w 10000"/>
                <a:gd name="T5" fmla="*/ 0 h 10000"/>
                <a:gd name="T6" fmla="*/ 0 w 10000"/>
                <a:gd name="T7" fmla="*/ 0 h 10000"/>
                <a:gd name="T8" fmla="*/ 0 w 10000"/>
                <a:gd name="T9" fmla="*/ 0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484" name="Line 11"/>
            <p:cNvSpPr>
              <a:spLocks noChangeShapeType="1"/>
            </p:cNvSpPr>
            <p:nvPr/>
          </p:nvSpPr>
          <p:spPr bwMode="auto">
            <a:xfrm>
              <a:off x="2802" y="1048"/>
              <a:ext cx="8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485" name="Line 12"/>
            <p:cNvSpPr>
              <a:spLocks noChangeShapeType="1"/>
            </p:cNvSpPr>
            <p:nvPr/>
          </p:nvSpPr>
          <p:spPr bwMode="auto">
            <a:xfrm>
              <a:off x="2946" y="1048"/>
              <a:ext cx="8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486" name="Line 13"/>
            <p:cNvSpPr>
              <a:spLocks noChangeShapeType="1"/>
            </p:cNvSpPr>
            <p:nvPr/>
          </p:nvSpPr>
          <p:spPr bwMode="auto">
            <a:xfrm>
              <a:off x="3090" y="1048"/>
              <a:ext cx="8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487" name="Line 14"/>
            <p:cNvSpPr>
              <a:spLocks noChangeShapeType="1"/>
            </p:cNvSpPr>
            <p:nvPr/>
          </p:nvSpPr>
          <p:spPr bwMode="auto">
            <a:xfrm>
              <a:off x="2382" y="1132"/>
              <a:ext cx="272" cy="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488" name="Line 15"/>
            <p:cNvSpPr>
              <a:spLocks noChangeShapeType="1"/>
            </p:cNvSpPr>
            <p:nvPr/>
          </p:nvSpPr>
          <p:spPr bwMode="auto">
            <a:xfrm>
              <a:off x="1950" y="796"/>
              <a:ext cx="704" cy="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489" name="Text Box 16"/>
            <p:cNvSpPr txBox="1">
              <a:spLocks noChangeArrowheads="1"/>
            </p:cNvSpPr>
            <p:nvPr/>
          </p:nvSpPr>
          <p:spPr bwMode="auto">
            <a:xfrm>
              <a:off x="2618" y="1256"/>
              <a:ext cx="709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ts val="1900"/>
                </a:lnSpc>
                <a:tabLst>
                  <a:tab pos="0" algn="l"/>
                  <a:tab pos="914400" algn="l"/>
                </a:tabLst>
              </a:pPr>
              <a:r>
                <a:rPr lang="en-US" sz="1600" b="1">
                  <a:latin typeface="Times New Roman" pitchFamily="18" charset="0"/>
                </a:rPr>
                <a:t>Write Buffer</a:t>
              </a:r>
            </a:p>
          </p:txBody>
        </p:sp>
        <p:sp>
          <p:nvSpPr>
            <p:cNvPr id="62490" name="Freeform 17"/>
            <p:cNvSpPr>
              <a:spLocks/>
            </p:cNvSpPr>
            <p:nvPr/>
          </p:nvSpPr>
          <p:spPr bwMode="auto">
            <a:xfrm>
              <a:off x="3630" y="616"/>
              <a:ext cx="656" cy="608"/>
            </a:xfrm>
            <a:custGeom>
              <a:avLst/>
              <a:gdLst>
                <a:gd name="T0" fmla="*/ 0 w 10000"/>
                <a:gd name="T1" fmla="*/ 0 h 10000"/>
                <a:gd name="T2" fmla="*/ 0 w 10000"/>
                <a:gd name="T3" fmla="*/ 0 h 10000"/>
                <a:gd name="T4" fmla="*/ 0 w 10000"/>
                <a:gd name="T5" fmla="*/ 0 h 10000"/>
                <a:gd name="T6" fmla="*/ 0 w 10000"/>
                <a:gd name="T7" fmla="*/ 0 h 10000"/>
                <a:gd name="T8" fmla="*/ 0 w 10000"/>
                <a:gd name="T9" fmla="*/ 0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491" name="Text Box 18"/>
            <p:cNvSpPr txBox="1">
              <a:spLocks noChangeArrowheads="1"/>
            </p:cNvSpPr>
            <p:nvPr/>
          </p:nvSpPr>
          <p:spPr bwMode="auto">
            <a:xfrm>
              <a:off x="3666" y="696"/>
              <a:ext cx="572" cy="4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lnSpc>
                  <a:spcPts val="1900"/>
                </a:lnSpc>
                <a:tabLst>
                  <a:tab pos="0" algn="l"/>
                </a:tabLst>
              </a:pPr>
              <a:r>
                <a:rPr lang="en-US" sz="1600" b="1">
                  <a:latin typeface="Times New Roman" pitchFamily="18" charset="0"/>
                </a:rPr>
                <a:t>Lower Level Memory</a:t>
              </a:r>
            </a:p>
          </p:txBody>
        </p:sp>
        <p:sp>
          <p:nvSpPr>
            <p:cNvPr id="62492" name="Line 19"/>
            <p:cNvSpPr>
              <a:spLocks noChangeShapeType="1"/>
            </p:cNvSpPr>
            <p:nvPr/>
          </p:nvSpPr>
          <p:spPr bwMode="auto">
            <a:xfrm>
              <a:off x="3246" y="1132"/>
              <a:ext cx="368" cy="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493" name="Line 20"/>
            <p:cNvSpPr>
              <a:spLocks noChangeShapeType="1"/>
            </p:cNvSpPr>
            <p:nvPr/>
          </p:nvSpPr>
          <p:spPr bwMode="auto">
            <a:xfrm>
              <a:off x="3246" y="796"/>
              <a:ext cx="368" cy="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494" name="Line 21"/>
            <p:cNvSpPr>
              <a:spLocks noChangeShapeType="1"/>
            </p:cNvSpPr>
            <p:nvPr/>
          </p:nvSpPr>
          <p:spPr bwMode="auto">
            <a:xfrm>
              <a:off x="2370" y="808"/>
              <a:ext cx="8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62469" name="Group 22"/>
          <p:cNvGrpSpPr>
            <a:grpSpLocks/>
          </p:cNvGrpSpPr>
          <p:nvPr/>
        </p:nvGrpSpPr>
        <p:grpSpPr bwMode="auto">
          <a:xfrm>
            <a:off x="895350" y="1600200"/>
            <a:ext cx="7346950" cy="2003425"/>
            <a:chOff x="493" y="882"/>
            <a:chExt cx="4628" cy="1262"/>
          </a:xfrm>
        </p:grpSpPr>
        <p:sp>
          <p:nvSpPr>
            <p:cNvPr id="62476" name="Freeform 23"/>
            <p:cNvSpPr>
              <a:spLocks/>
            </p:cNvSpPr>
            <p:nvPr/>
          </p:nvSpPr>
          <p:spPr bwMode="auto">
            <a:xfrm>
              <a:off x="2681" y="882"/>
              <a:ext cx="824" cy="624"/>
            </a:xfrm>
            <a:custGeom>
              <a:avLst/>
              <a:gdLst>
                <a:gd name="T0" fmla="*/ 0 w 9111"/>
                <a:gd name="T1" fmla="*/ 0 h 9111"/>
                <a:gd name="T2" fmla="*/ 0 w 9111"/>
                <a:gd name="T3" fmla="*/ 0 h 9111"/>
                <a:gd name="T4" fmla="*/ 0 w 9111"/>
                <a:gd name="T5" fmla="*/ 0 h 9111"/>
                <a:gd name="T6" fmla="*/ 0 w 9111"/>
                <a:gd name="T7" fmla="*/ 0 h 9111"/>
                <a:gd name="T8" fmla="*/ 0 w 9111"/>
                <a:gd name="T9" fmla="*/ 0 h 9111"/>
                <a:gd name="T10" fmla="*/ 0 w 9111"/>
                <a:gd name="T11" fmla="*/ 0 h 91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11"/>
                <a:gd name="T19" fmla="*/ 0 h 9111"/>
                <a:gd name="T20" fmla="*/ 9111 w 9111"/>
                <a:gd name="T21" fmla="*/ 9111 h 911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11" h="9111">
                  <a:moveTo>
                    <a:pt x="7777" y="1334"/>
                  </a:moveTo>
                  <a:cubicBezTo>
                    <a:pt x="9556" y="3113"/>
                    <a:pt x="9556" y="5998"/>
                    <a:pt x="7777" y="7777"/>
                  </a:cubicBezTo>
                  <a:cubicBezTo>
                    <a:pt x="5998" y="9556"/>
                    <a:pt x="3113" y="9556"/>
                    <a:pt x="1334" y="7777"/>
                  </a:cubicBezTo>
                  <a:cubicBezTo>
                    <a:pt x="-445" y="5998"/>
                    <a:pt x="-445" y="3113"/>
                    <a:pt x="1334" y="1334"/>
                  </a:cubicBezTo>
                  <a:cubicBezTo>
                    <a:pt x="3113" y="-445"/>
                    <a:pt x="5998" y="-445"/>
                    <a:pt x="7777" y="1334"/>
                  </a:cubicBezTo>
                  <a:close/>
                  <a:moveTo>
                    <a:pt x="7777" y="1334"/>
                  </a:moveTo>
                </a:path>
              </a:pathLst>
            </a:custGeom>
            <a:noFill/>
            <a:ln w="25400">
              <a:solidFill>
                <a:srgbClr val="053DE8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57784" name="Line 24"/>
            <p:cNvSpPr>
              <a:spLocks noChangeShapeType="1"/>
            </p:cNvSpPr>
            <p:nvPr/>
          </p:nvSpPr>
          <p:spPr bwMode="auto">
            <a:xfrm rot="10800000" flipH="1">
              <a:off x="2361" y="1346"/>
              <a:ext cx="312" cy="224"/>
            </a:xfrm>
            <a:prstGeom prst="line">
              <a:avLst/>
            </a:prstGeom>
            <a:noFill/>
            <a:ln w="25400">
              <a:solidFill>
                <a:srgbClr val="053DE8"/>
              </a:solidFill>
              <a:round/>
              <a:headEnd/>
              <a:tailEnd type="stealth" w="med" len="med"/>
            </a:ln>
            <a:effectLst>
              <a:outerShdw blurRad="63500" dist="76199" dir="3420002" algn="ctr" rotWithShape="0">
                <a:srgbClr val="053DE8">
                  <a:alpha val="25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latin typeface="Arial" pitchFamily="-106" charset="-52"/>
                <a:ea typeface="ＭＳ Ｐゴシック" pitchFamily="-106" charset="-128"/>
              </a:endParaRPr>
            </a:p>
          </p:txBody>
        </p:sp>
        <p:sp>
          <p:nvSpPr>
            <p:cNvPr id="62478" name="Text Box 25"/>
            <p:cNvSpPr txBox="1">
              <a:spLocks noChangeArrowheads="1"/>
            </p:cNvSpPr>
            <p:nvPr/>
          </p:nvSpPr>
          <p:spPr bwMode="auto">
            <a:xfrm>
              <a:off x="493" y="1568"/>
              <a:ext cx="4628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</a:pPr>
              <a:r>
                <a:rPr lang="en-US" sz="3000" b="1">
                  <a:latin typeface="Helvetica" pitchFamily="-106" charset="0"/>
                </a:rPr>
                <a:t>Holds data awaiting write-through to </a:t>
              </a:r>
            </a:p>
            <a:p>
              <a:pPr algn="ctr" eaLnBrk="1" hangingPunct="1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</a:pPr>
              <a:r>
                <a:rPr lang="en-US" sz="3000" b="1">
                  <a:latin typeface="Helvetica" pitchFamily="-106" charset="0"/>
                </a:rPr>
                <a:t>lower level memory</a:t>
              </a:r>
            </a:p>
          </p:txBody>
        </p:sp>
      </p:grpSp>
      <p:sp>
        <p:nvSpPr>
          <p:cNvPr id="757786" name="Text Box 26"/>
          <p:cNvSpPr txBox="1">
            <a:spLocks noChangeArrowheads="1"/>
          </p:cNvSpPr>
          <p:nvPr/>
        </p:nvSpPr>
        <p:spPr bwMode="auto">
          <a:xfrm>
            <a:off x="4845050" y="3832225"/>
            <a:ext cx="3625850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2200" b="1">
                <a:solidFill>
                  <a:srgbClr val="053DE8"/>
                </a:solidFill>
                <a:latin typeface="Marker Felt" pitchFamily="-106" charset="0"/>
              </a:rPr>
              <a:t>A. So CPU doesn’t stall </a:t>
            </a:r>
          </a:p>
        </p:txBody>
      </p:sp>
      <p:sp>
        <p:nvSpPr>
          <p:cNvPr id="757787" name="Text Box 27"/>
          <p:cNvSpPr txBox="1">
            <a:spLocks noChangeArrowheads="1"/>
          </p:cNvSpPr>
          <p:nvPr/>
        </p:nvSpPr>
        <p:spPr bwMode="auto">
          <a:xfrm>
            <a:off x="819150" y="4213225"/>
            <a:ext cx="362585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1">
                <a:solidFill>
                  <a:srgbClr val="053DE8"/>
                </a:solidFill>
                <a:latin typeface="Marker Felt" pitchFamily="-106" charset="0"/>
              </a:rPr>
              <a:t>Q. Why a buffer, why not just one register ?</a:t>
            </a:r>
          </a:p>
        </p:txBody>
      </p:sp>
      <p:sp>
        <p:nvSpPr>
          <p:cNvPr id="757788" name="Text Box 28"/>
          <p:cNvSpPr txBox="1">
            <a:spLocks noChangeArrowheads="1"/>
          </p:cNvSpPr>
          <p:nvPr/>
        </p:nvSpPr>
        <p:spPr bwMode="auto">
          <a:xfrm>
            <a:off x="4832350" y="4238625"/>
            <a:ext cx="362585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1">
                <a:solidFill>
                  <a:srgbClr val="053DE8"/>
                </a:solidFill>
                <a:latin typeface="Marker Felt" pitchFamily="-106" charset="0"/>
              </a:rPr>
              <a:t>A. Bursts of writes are</a:t>
            </a:r>
          </a:p>
          <a:p>
            <a:pPr eaLnBrk="1" hangingPunct="1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1">
                <a:solidFill>
                  <a:srgbClr val="053DE8"/>
                </a:solidFill>
                <a:latin typeface="Marker Felt" pitchFamily="-106" charset="0"/>
              </a:rPr>
              <a:t>common.</a:t>
            </a:r>
          </a:p>
        </p:txBody>
      </p:sp>
      <p:sp>
        <p:nvSpPr>
          <p:cNvPr id="757789" name="Text Box 29"/>
          <p:cNvSpPr txBox="1">
            <a:spLocks noChangeArrowheads="1"/>
          </p:cNvSpPr>
          <p:nvPr/>
        </p:nvSpPr>
        <p:spPr bwMode="auto">
          <a:xfrm>
            <a:off x="831850" y="5013325"/>
            <a:ext cx="3778250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1">
                <a:solidFill>
                  <a:srgbClr val="053DE8"/>
                </a:solidFill>
                <a:latin typeface="Marker Felt" pitchFamily="-106" charset="0"/>
              </a:rPr>
              <a:t>Q. Are Read After Write (RAW) hazards an issue for write buffer?</a:t>
            </a:r>
          </a:p>
        </p:txBody>
      </p:sp>
      <p:sp>
        <p:nvSpPr>
          <p:cNvPr id="757790" name="Text Box 30"/>
          <p:cNvSpPr txBox="1">
            <a:spLocks noChangeArrowheads="1"/>
          </p:cNvSpPr>
          <p:nvPr/>
        </p:nvSpPr>
        <p:spPr bwMode="auto">
          <a:xfrm>
            <a:off x="4845050" y="5013325"/>
            <a:ext cx="4286250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1">
                <a:solidFill>
                  <a:srgbClr val="053DE8"/>
                </a:solidFill>
                <a:latin typeface="Marker Felt" pitchFamily="-106" charset="0"/>
              </a:rPr>
              <a:t>A. Yes!  Drain buffer before next read, or send read after 1</a:t>
            </a:r>
            <a:r>
              <a:rPr lang="en-US" b="1" baseline="30000">
                <a:solidFill>
                  <a:srgbClr val="053DE8"/>
                </a:solidFill>
                <a:latin typeface="Marker Felt" pitchFamily="-106" charset="0"/>
              </a:rPr>
              <a:t>st</a:t>
            </a:r>
            <a:r>
              <a:rPr lang="en-US" b="1">
                <a:solidFill>
                  <a:srgbClr val="053DE8"/>
                </a:solidFill>
                <a:latin typeface="Marker Felt" pitchFamily="-106" charset="0"/>
              </a:rPr>
              <a:t> checking write buffers.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62</a:t>
            </a:fld>
            <a:r>
              <a:rPr lang="en-US"/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0200" y="6488668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Text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: COD ARM Edition §5.3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3677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64" grpId="0" autoUpdateAnimBg="0"/>
      <p:bldP spid="757786" grpId="0" autoUpdateAnimBg="0"/>
      <p:bldP spid="757787" grpId="0" autoUpdateAnimBg="0"/>
      <p:bldP spid="757788" grpId="0" autoUpdateAnimBg="0"/>
      <p:bldP spid="757789" grpId="0" autoUpdateAnimBg="0"/>
      <p:bldP spid="757790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Rectangle 50"/>
          <p:cNvGrpSpPr/>
          <p:nvPr/>
        </p:nvGrpSpPr>
        <p:grpSpPr>
          <a:xfrm>
            <a:off x="3215850" y="5829284"/>
            <a:ext cx="2795386" cy="1045211"/>
            <a:chOff x="0" y="0"/>
            <a:chExt cx="2795384" cy="1045210"/>
          </a:xfrm>
        </p:grpSpPr>
        <p:sp>
          <p:nvSpPr>
            <p:cNvPr id="449" name="Rectangle"/>
            <p:cNvSpPr/>
            <p:nvPr/>
          </p:nvSpPr>
          <p:spPr>
            <a:xfrm>
              <a:off x="0" y="-1"/>
              <a:ext cx="2795385" cy="1045212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" name="main memory"/>
            <p:cNvSpPr txBox="1"/>
            <p:nvPr/>
          </p:nvSpPr>
          <p:spPr>
            <a:xfrm>
              <a:off x="50482" y="126270"/>
              <a:ext cx="2694421" cy="792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80808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main memory</a:t>
              </a:r>
            </a:p>
          </p:txBody>
        </p:sp>
      </p:grpSp>
      <p:grpSp>
        <p:nvGrpSpPr>
          <p:cNvPr id="454" name="Rectangle 77"/>
          <p:cNvGrpSpPr/>
          <p:nvPr/>
        </p:nvGrpSpPr>
        <p:grpSpPr>
          <a:xfrm>
            <a:off x="6323436" y="5829284"/>
            <a:ext cx="2795386" cy="1045211"/>
            <a:chOff x="0" y="0"/>
            <a:chExt cx="2795384" cy="1045210"/>
          </a:xfrm>
        </p:grpSpPr>
        <p:sp>
          <p:nvSpPr>
            <p:cNvPr id="452" name="Rectangle"/>
            <p:cNvSpPr/>
            <p:nvPr/>
          </p:nvSpPr>
          <p:spPr>
            <a:xfrm>
              <a:off x="0" y="-1"/>
              <a:ext cx="2795385" cy="1045212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3" name="main memory"/>
            <p:cNvSpPr txBox="1"/>
            <p:nvPr/>
          </p:nvSpPr>
          <p:spPr>
            <a:xfrm>
              <a:off x="50482" y="126270"/>
              <a:ext cx="2694421" cy="792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80808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main memory</a:t>
              </a:r>
            </a:p>
          </p:txBody>
        </p:sp>
      </p:grpSp>
      <p:sp>
        <p:nvSpPr>
          <p:cNvPr id="455" name="Rectangle 4"/>
          <p:cNvSpPr/>
          <p:nvPr/>
        </p:nvSpPr>
        <p:spPr>
          <a:xfrm>
            <a:off x="848224" y="2650112"/>
            <a:ext cx="1818770" cy="730626"/>
          </a:xfrm>
          <a:prstGeom prst="rect">
            <a:avLst/>
          </a:prstGeom>
          <a:gradFill>
            <a:gsLst>
              <a:gs pos="0">
                <a:schemeClr val="accent4">
                  <a:lumOff val="28974"/>
                </a:schemeClr>
              </a:gs>
              <a:gs pos="35000">
                <a:srgbClr val="CFCFCF"/>
              </a:gs>
              <a:gs pos="100000">
                <a:schemeClr val="accent4">
                  <a:lumOff val="48879"/>
                </a:schemeClr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458" name="Rectangle 21"/>
          <p:cNvGrpSpPr/>
          <p:nvPr/>
        </p:nvGrpSpPr>
        <p:grpSpPr>
          <a:xfrm>
            <a:off x="24016" y="5835410"/>
            <a:ext cx="2795385" cy="1045211"/>
            <a:chOff x="0" y="0"/>
            <a:chExt cx="2795384" cy="1045210"/>
          </a:xfrm>
        </p:grpSpPr>
        <p:sp>
          <p:nvSpPr>
            <p:cNvPr id="456" name="Rectangle"/>
            <p:cNvSpPr/>
            <p:nvPr/>
          </p:nvSpPr>
          <p:spPr>
            <a:xfrm>
              <a:off x="0" y="-1"/>
              <a:ext cx="2795385" cy="1045212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7" name="main memory"/>
            <p:cNvSpPr txBox="1"/>
            <p:nvPr/>
          </p:nvSpPr>
          <p:spPr>
            <a:xfrm>
              <a:off x="50482" y="126270"/>
              <a:ext cx="2694421" cy="792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80808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main memory</a:t>
              </a:r>
            </a:p>
          </p:txBody>
        </p:sp>
      </p:grpSp>
      <p:sp>
        <p:nvSpPr>
          <p:cNvPr id="459" name="Title 47"/>
          <p:cNvSpPr txBox="1">
            <a:spLocks noGrp="1"/>
          </p:cNvSpPr>
          <p:nvPr>
            <p:ph type="title"/>
          </p:nvPr>
        </p:nvSpPr>
        <p:spPr>
          <a:xfrm>
            <a:off x="24014" y="0"/>
            <a:ext cx="9097604" cy="1143000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Evictions in a cache hierarchy</a:t>
            </a:r>
          </a:p>
        </p:txBody>
      </p:sp>
      <p:sp>
        <p:nvSpPr>
          <p:cNvPr id="460" name="Rectangle 23"/>
          <p:cNvSpPr/>
          <p:nvPr/>
        </p:nvSpPr>
        <p:spPr>
          <a:xfrm>
            <a:off x="24014" y="6471620"/>
            <a:ext cx="9208886" cy="467661"/>
          </a:xfrm>
          <a:prstGeom prst="rect">
            <a:avLst/>
          </a:prstGeom>
          <a:gradFill>
            <a:gsLst>
              <a:gs pos="0">
                <a:schemeClr val="accent3">
                  <a:lumOff val="44000"/>
                  <a:alpha val="0"/>
                </a:schemeClr>
              </a:gs>
              <a:gs pos="100000">
                <a:schemeClr val="accent3">
                  <a:lumOff val="44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8F8F8F">
                    <a:lumOff val="44000"/>
                  </a:srgbClr>
                </a:solidFill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8F8F8F">
                  <a:lumOff val="44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1" name="Rectangle 32"/>
          <p:cNvSpPr/>
          <p:nvPr/>
        </p:nvSpPr>
        <p:spPr>
          <a:xfrm>
            <a:off x="848224" y="3704676"/>
            <a:ext cx="1818770" cy="1629326"/>
          </a:xfrm>
          <a:prstGeom prst="rect">
            <a:avLst/>
          </a:prstGeom>
          <a:gradFill>
            <a:gsLst>
              <a:gs pos="0">
                <a:schemeClr val="accent4">
                  <a:lumOff val="28974"/>
                </a:schemeClr>
              </a:gs>
              <a:gs pos="35000">
                <a:srgbClr val="CFCFCF"/>
              </a:gs>
              <a:gs pos="100000">
                <a:schemeClr val="accent4">
                  <a:lumOff val="48879"/>
                </a:schemeClr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2" name="TextBox 35"/>
          <p:cNvSpPr txBox="1"/>
          <p:nvPr/>
        </p:nvSpPr>
        <p:spPr>
          <a:xfrm>
            <a:off x="1027903" y="1283601"/>
            <a:ext cx="1408620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inclusive</a:t>
            </a:r>
          </a:p>
        </p:txBody>
      </p:sp>
      <p:sp>
        <p:nvSpPr>
          <p:cNvPr id="463" name="TextBox 45"/>
          <p:cNvSpPr txBox="1"/>
          <p:nvPr/>
        </p:nvSpPr>
        <p:spPr>
          <a:xfrm>
            <a:off x="4133905" y="1296746"/>
            <a:ext cx="1476782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exclusive</a:t>
            </a:r>
          </a:p>
        </p:txBody>
      </p:sp>
      <p:sp>
        <p:nvSpPr>
          <p:cNvPr id="464" name="Rectangle 46"/>
          <p:cNvSpPr/>
          <p:nvPr/>
        </p:nvSpPr>
        <p:spPr>
          <a:xfrm>
            <a:off x="4040059" y="2643986"/>
            <a:ext cx="1818770" cy="730626"/>
          </a:xfrm>
          <a:prstGeom prst="rect">
            <a:avLst/>
          </a:prstGeom>
          <a:gradFill>
            <a:gsLst>
              <a:gs pos="0">
                <a:schemeClr val="accent4">
                  <a:lumOff val="28974"/>
                </a:schemeClr>
              </a:gs>
              <a:gs pos="35000">
                <a:srgbClr val="CFCFCF"/>
              </a:gs>
              <a:gs pos="100000">
                <a:schemeClr val="accent4">
                  <a:lumOff val="48879"/>
                </a:schemeClr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5" name="Rectangle 52"/>
          <p:cNvSpPr/>
          <p:nvPr/>
        </p:nvSpPr>
        <p:spPr>
          <a:xfrm>
            <a:off x="4040059" y="2828430"/>
            <a:ext cx="1818770" cy="94914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6" name="Rectangle 54"/>
          <p:cNvSpPr/>
          <p:nvPr/>
        </p:nvSpPr>
        <p:spPr>
          <a:xfrm>
            <a:off x="4040059" y="3698550"/>
            <a:ext cx="1818770" cy="1629326"/>
          </a:xfrm>
          <a:prstGeom prst="rect">
            <a:avLst/>
          </a:prstGeom>
          <a:gradFill>
            <a:gsLst>
              <a:gs pos="0">
                <a:schemeClr val="accent4">
                  <a:lumOff val="28974"/>
                </a:schemeClr>
              </a:gs>
              <a:gs pos="35000">
                <a:srgbClr val="CFCFCF"/>
              </a:gs>
              <a:gs pos="100000">
                <a:schemeClr val="accent4">
                  <a:lumOff val="48879"/>
                </a:schemeClr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7" name="Rectangle 76"/>
          <p:cNvSpPr/>
          <p:nvPr/>
        </p:nvSpPr>
        <p:spPr>
          <a:xfrm>
            <a:off x="7147645" y="2643986"/>
            <a:ext cx="1818769" cy="730626"/>
          </a:xfrm>
          <a:prstGeom prst="rect">
            <a:avLst/>
          </a:prstGeom>
          <a:gradFill>
            <a:gsLst>
              <a:gs pos="0">
                <a:schemeClr val="accent4">
                  <a:lumOff val="28974"/>
                </a:schemeClr>
              </a:gs>
              <a:gs pos="35000">
                <a:srgbClr val="CFCFCF"/>
              </a:gs>
              <a:gs pos="100000">
                <a:schemeClr val="accent4">
                  <a:lumOff val="48879"/>
                </a:schemeClr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8" name="Rectangle 78"/>
          <p:cNvSpPr/>
          <p:nvPr/>
        </p:nvSpPr>
        <p:spPr>
          <a:xfrm>
            <a:off x="7147645" y="2828430"/>
            <a:ext cx="1818769" cy="94914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9" name="Rectangle 79"/>
          <p:cNvSpPr/>
          <p:nvPr/>
        </p:nvSpPr>
        <p:spPr>
          <a:xfrm>
            <a:off x="7147645" y="3698550"/>
            <a:ext cx="1818769" cy="1629326"/>
          </a:xfrm>
          <a:prstGeom prst="rect">
            <a:avLst/>
          </a:prstGeom>
          <a:gradFill>
            <a:gsLst>
              <a:gs pos="0">
                <a:schemeClr val="accent4">
                  <a:lumOff val="28974"/>
                </a:schemeClr>
              </a:gs>
              <a:gs pos="35000">
                <a:srgbClr val="CFCFCF"/>
              </a:gs>
              <a:gs pos="100000">
                <a:schemeClr val="accent4">
                  <a:lumOff val="48879"/>
                </a:schemeClr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70" name="Rectangle 80"/>
          <p:cNvSpPr/>
          <p:nvPr/>
        </p:nvSpPr>
        <p:spPr>
          <a:xfrm>
            <a:off x="7147645" y="4132848"/>
            <a:ext cx="1818769" cy="94914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473" name="Group 81"/>
          <p:cNvGrpSpPr/>
          <p:nvPr/>
        </p:nvGrpSpPr>
        <p:grpSpPr>
          <a:xfrm>
            <a:off x="6589520" y="2834375"/>
            <a:ext cx="540693" cy="2981606"/>
            <a:chOff x="0" y="-1"/>
            <a:chExt cx="540692" cy="2981604"/>
          </a:xfrm>
        </p:grpSpPr>
        <p:sp>
          <p:nvSpPr>
            <p:cNvPr id="471" name="Freeform 82"/>
            <p:cNvSpPr/>
            <p:nvPr/>
          </p:nvSpPr>
          <p:spPr>
            <a:xfrm rot="10800000">
              <a:off x="0" y="-2"/>
              <a:ext cx="540693" cy="2981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70" h="21449" extrusionOk="0">
                  <a:moveTo>
                    <a:pt x="16343" y="0"/>
                  </a:moveTo>
                  <a:cubicBezTo>
                    <a:pt x="17322" y="3476"/>
                    <a:pt x="21600" y="12931"/>
                    <a:pt x="18876" y="16504"/>
                  </a:cubicBezTo>
                  <a:cubicBezTo>
                    <a:pt x="16153" y="20077"/>
                    <a:pt x="12997" y="21600"/>
                    <a:pt x="0" y="21438"/>
                  </a:cubicBez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72" name="Freeform 83"/>
            <p:cNvSpPr/>
            <p:nvPr/>
          </p:nvSpPr>
          <p:spPr>
            <a:xfrm rot="12048427">
              <a:off x="104594" y="1281139"/>
              <a:ext cx="331762" cy="5796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160" y="9000"/>
                    <a:pt x="20037" y="11161"/>
                    <a:pt x="16437" y="14761"/>
                  </a:cubicBezTo>
                  <a:cubicBezTo>
                    <a:pt x="12837" y="18361"/>
                    <a:pt x="0" y="2160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76" name="Group 7"/>
          <p:cNvGrpSpPr/>
          <p:nvPr/>
        </p:nvGrpSpPr>
        <p:grpSpPr>
          <a:xfrm>
            <a:off x="3150381" y="2834375"/>
            <a:ext cx="872247" cy="2981606"/>
            <a:chOff x="0" y="0"/>
            <a:chExt cx="872246" cy="2981604"/>
          </a:xfrm>
        </p:grpSpPr>
        <p:sp>
          <p:nvSpPr>
            <p:cNvPr id="474" name="Freeform 57"/>
            <p:cNvSpPr/>
            <p:nvPr/>
          </p:nvSpPr>
          <p:spPr>
            <a:xfrm rot="10800000">
              <a:off x="331554" y="0"/>
              <a:ext cx="540692" cy="2981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70" h="21449" extrusionOk="0">
                  <a:moveTo>
                    <a:pt x="16343" y="0"/>
                  </a:moveTo>
                  <a:cubicBezTo>
                    <a:pt x="17322" y="3476"/>
                    <a:pt x="21600" y="12931"/>
                    <a:pt x="18876" y="16504"/>
                  </a:cubicBezTo>
                  <a:cubicBezTo>
                    <a:pt x="16153" y="20077"/>
                    <a:pt x="12997" y="21600"/>
                    <a:pt x="0" y="21438"/>
                  </a:cubicBez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75" name="TextBox 85"/>
            <p:cNvSpPr txBox="1"/>
            <p:nvPr/>
          </p:nvSpPr>
          <p:spPr>
            <a:xfrm>
              <a:off x="0" y="857568"/>
              <a:ext cx="320016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800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fill</a:t>
              </a:r>
            </a:p>
          </p:txBody>
        </p:sp>
      </p:grpSp>
      <p:sp>
        <p:nvSpPr>
          <p:cNvPr id="477" name="TextBox 87"/>
          <p:cNvSpPr txBox="1"/>
          <p:nvPr/>
        </p:nvSpPr>
        <p:spPr>
          <a:xfrm>
            <a:off x="6161363" y="4172129"/>
            <a:ext cx="320016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fill</a:t>
            </a:r>
          </a:p>
        </p:txBody>
      </p:sp>
      <p:grpSp>
        <p:nvGrpSpPr>
          <p:cNvPr id="481" name="Group 6"/>
          <p:cNvGrpSpPr/>
          <p:nvPr/>
        </p:nvGrpSpPr>
        <p:grpSpPr>
          <a:xfrm>
            <a:off x="4048385" y="2673208"/>
            <a:ext cx="2405276" cy="1502552"/>
            <a:chOff x="0" y="0"/>
            <a:chExt cx="2405274" cy="1502551"/>
          </a:xfrm>
        </p:grpSpPr>
        <p:sp>
          <p:nvSpPr>
            <p:cNvPr id="478" name="Freeform 84"/>
            <p:cNvSpPr/>
            <p:nvPr/>
          </p:nvSpPr>
          <p:spPr>
            <a:xfrm rot="19874011">
              <a:off x="1529939" y="289927"/>
              <a:ext cx="593435" cy="1085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160" y="9000"/>
                    <a:pt x="20037" y="11161"/>
                    <a:pt x="16437" y="14761"/>
                  </a:cubicBezTo>
                  <a:cubicBezTo>
                    <a:pt x="12837" y="18361"/>
                    <a:pt x="0" y="2160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80808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79" name="TextBox 86"/>
            <p:cNvSpPr txBox="1"/>
            <p:nvPr/>
          </p:nvSpPr>
          <p:spPr>
            <a:xfrm>
              <a:off x="1831098" y="0"/>
              <a:ext cx="574177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800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evict</a:t>
              </a:r>
            </a:p>
          </p:txBody>
        </p:sp>
        <p:sp>
          <p:nvSpPr>
            <p:cNvPr id="480" name="Rectangle 88"/>
            <p:cNvSpPr/>
            <p:nvPr/>
          </p:nvSpPr>
          <p:spPr>
            <a:xfrm>
              <a:off x="0" y="1407638"/>
              <a:ext cx="1818769" cy="94914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82" name="TextBox 90"/>
          <p:cNvSpPr txBox="1"/>
          <p:nvPr/>
        </p:nvSpPr>
        <p:spPr>
          <a:xfrm>
            <a:off x="7086078" y="1311462"/>
            <a:ext cx="2068673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non-inclusive</a:t>
            </a:r>
          </a:p>
        </p:txBody>
      </p:sp>
      <p:grpSp>
        <p:nvGrpSpPr>
          <p:cNvPr id="490" name="Group 5"/>
          <p:cNvGrpSpPr/>
          <p:nvPr/>
        </p:nvGrpSpPr>
        <p:grpSpPr>
          <a:xfrm>
            <a:off x="-21133" y="1743288"/>
            <a:ext cx="2832200" cy="4078819"/>
            <a:chOff x="0" y="0"/>
            <a:chExt cx="2832199" cy="4078817"/>
          </a:xfrm>
        </p:grpSpPr>
        <p:sp>
          <p:nvSpPr>
            <p:cNvPr id="483" name="Rectangle 49"/>
            <p:cNvSpPr/>
            <p:nvPr/>
          </p:nvSpPr>
          <p:spPr>
            <a:xfrm>
              <a:off x="869358" y="1091267"/>
              <a:ext cx="1818770" cy="94914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84" name="Rectangle 34"/>
            <p:cNvSpPr/>
            <p:nvPr/>
          </p:nvSpPr>
          <p:spPr>
            <a:xfrm>
              <a:off x="869358" y="2395684"/>
              <a:ext cx="1818770" cy="94914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87" name="Group 1"/>
            <p:cNvGrpSpPr/>
            <p:nvPr/>
          </p:nvGrpSpPr>
          <p:grpSpPr>
            <a:xfrm>
              <a:off x="311233" y="1097212"/>
              <a:ext cx="540694" cy="2981606"/>
              <a:chOff x="0" y="-1"/>
              <a:chExt cx="540692" cy="2981604"/>
            </a:xfrm>
          </p:grpSpPr>
          <p:sp>
            <p:nvSpPr>
              <p:cNvPr id="485" name="Freeform 38"/>
              <p:cNvSpPr/>
              <p:nvPr/>
            </p:nvSpPr>
            <p:spPr>
              <a:xfrm rot="10800000">
                <a:off x="0" y="-2"/>
                <a:ext cx="540693" cy="29816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770" h="21449" extrusionOk="0">
                    <a:moveTo>
                      <a:pt x="16343" y="0"/>
                    </a:moveTo>
                    <a:cubicBezTo>
                      <a:pt x="17322" y="3476"/>
                      <a:pt x="21600" y="12931"/>
                      <a:pt x="18876" y="16504"/>
                    </a:cubicBezTo>
                    <a:cubicBezTo>
                      <a:pt x="16153" y="20077"/>
                      <a:pt x="12997" y="21600"/>
                      <a:pt x="0" y="21438"/>
                    </a:cubicBezTo>
                  </a:path>
                </a:pathLst>
              </a:cu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+mj-lt"/>
                    <a:ea typeface="+mj-ea"/>
                    <a:cs typeface="+mj-cs"/>
                    <a:sym typeface="Arial"/>
                  </a:defRPr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Freeform 39"/>
              <p:cNvSpPr/>
              <p:nvPr/>
            </p:nvSpPr>
            <p:spPr>
              <a:xfrm rot="12048427">
                <a:off x="104594" y="1281139"/>
                <a:ext cx="331762" cy="579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0160" y="9000"/>
                      <a:pt x="20037" y="11161"/>
                      <a:pt x="16437" y="14761"/>
                    </a:cubicBezTo>
                    <a:cubicBezTo>
                      <a:pt x="12837" y="18361"/>
                      <a:pt x="0" y="21600"/>
                      <a:pt x="0" y="21600"/>
                    </a:cubicBezTo>
                  </a:path>
                </a:pathLst>
              </a:cu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+mj-lt"/>
                    <a:ea typeface="+mj-ea"/>
                    <a:cs typeface="+mj-cs"/>
                    <a:sym typeface="Arial"/>
                  </a:defRPr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8" name="TextBox 2"/>
            <p:cNvSpPr txBox="1"/>
            <p:nvPr/>
          </p:nvSpPr>
          <p:spPr>
            <a:xfrm>
              <a:off x="0" y="1950172"/>
              <a:ext cx="320016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800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fill</a:t>
              </a:r>
            </a:p>
          </p:txBody>
        </p:sp>
        <p:sp>
          <p:nvSpPr>
            <p:cNvPr id="489" name="TextBox 3"/>
            <p:cNvSpPr txBox="1"/>
            <p:nvPr/>
          </p:nvSpPr>
          <p:spPr>
            <a:xfrm>
              <a:off x="631591" y="0"/>
              <a:ext cx="2200609" cy="617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in L1 ==&gt; in LLC</a:t>
              </a:r>
            </a:p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(inv L1 on LLC evict)</a:t>
              </a:r>
            </a:p>
          </p:txBody>
        </p:sp>
      </p:grpSp>
      <p:sp>
        <p:nvSpPr>
          <p:cNvPr id="491" name="TextBox 91"/>
          <p:cNvSpPr txBox="1"/>
          <p:nvPr/>
        </p:nvSpPr>
        <p:spPr>
          <a:xfrm>
            <a:off x="3697981" y="1743289"/>
            <a:ext cx="2416372" cy="61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+mj-lt"/>
                <a:ea typeface="+mj-ea"/>
                <a:cs typeface="+mj-cs"/>
                <a:sym typeface="Arial"/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 L1 ==&gt; not in LLC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+mj-lt"/>
                <a:ea typeface="+mj-ea"/>
                <a:cs typeface="+mj-cs"/>
                <a:sym typeface="Arial"/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(L1 evict spills to LLC) </a:t>
            </a:r>
          </a:p>
        </p:txBody>
      </p:sp>
      <p:grpSp>
        <p:nvGrpSpPr>
          <p:cNvPr id="494" name="Group 8"/>
          <p:cNvGrpSpPr/>
          <p:nvPr/>
        </p:nvGrpSpPr>
        <p:grpSpPr>
          <a:xfrm>
            <a:off x="8471441" y="4186692"/>
            <a:ext cx="814346" cy="1608001"/>
            <a:chOff x="0" y="0"/>
            <a:chExt cx="814345" cy="1608000"/>
          </a:xfrm>
        </p:grpSpPr>
        <p:sp>
          <p:nvSpPr>
            <p:cNvPr id="492" name="Freeform 93"/>
            <p:cNvSpPr/>
            <p:nvPr/>
          </p:nvSpPr>
          <p:spPr>
            <a:xfrm rot="20932377">
              <a:off x="318133" y="18814"/>
              <a:ext cx="347955" cy="15703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160" y="9000"/>
                    <a:pt x="20037" y="11161"/>
                    <a:pt x="16437" y="14761"/>
                  </a:cubicBezTo>
                  <a:cubicBezTo>
                    <a:pt x="12837" y="18361"/>
                    <a:pt x="0" y="2160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80808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" name="TextBox 94"/>
            <p:cNvSpPr txBox="1"/>
            <p:nvPr/>
          </p:nvSpPr>
          <p:spPr>
            <a:xfrm>
              <a:off x="0" y="1081943"/>
              <a:ext cx="574177" cy="350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800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evict</a:t>
              </a:r>
            </a:p>
          </p:txBody>
        </p:sp>
      </p:grpSp>
      <p:sp>
        <p:nvSpPr>
          <p:cNvPr id="495" name="TextBox 95"/>
          <p:cNvSpPr txBox="1"/>
          <p:nvPr/>
        </p:nvSpPr>
        <p:spPr>
          <a:xfrm>
            <a:off x="7107589" y="1743288"/>
            <a:ext cx="1978818" cy="61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+mj-lt"/>
                <a:ea typeface="+mj-ea"/>
                <a:cs typeface="+mj-cs"/>
                <a:sym typeface="Arial"/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 L1 ==&gt; ? in LLC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+mj-lt"/>
                <a:ea typeface="+mj-ea"/>
                <a:cs typeface="+mj-cs"/>
                <a:sym typeface="Arial"/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(silent LLC evict)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" grpId="0" animBg="1" advAuto="0"/>
      <p:bldP spid="454" grpId="0" animBg="1" advAuto="0"/>
      <p:bldP spid="462" grpId="0" animBg="1" advAuto="0"/>
      <p:bldP spid="463" grpId="0" animBg="1" advAuto="0"/>
      <p:bldP spid="464" grpId="0" animBg="1" advAuto="0"/>
      <p:bldP spid="465" grpId="0" animBg="1" advAuto="0"/>
      <p:bldP spid="465" grpId="1" animBg="1" advAuto="0"/>
      <p:bldP spid="466" grpId="0" animBg="1" advAuto="0"/>
      <p:bldP spid="467" grpId="0" animBg="1" advAuto="0"/>
      <p:bldP spid="468" grpId="0" animBg="1" advAuto="0"/>
      <p:bldP spid="469" grpId="0" animBg="1" advAuto="0"/>
      <p:bldP spid="470" grpId="0" animBg="1" advAuto="0"/>
      <p:bldP spid="470" grpId="1" animBg="1" advAuto="0"/>
      <p:bldP spid="473" grpId="0" animBg="1" advAuto="0"/>
      <p:bldP spid="476" grpId="0" animBg="1" advAuto="0"/>
      <p:bldP spid="477" grpId="0" animBg="1" advAuto="0"/>
      <p:bldP spid="481" grpId="0" animBg="1" advAuto="0"/>
      <p:bldP spid="482" grpId="0" animBg="1" advAuto="0"/>
      <p:bldP spid="490" grpId="0" animBg="1" advAuto="0"/>
      <p:bldP spid="491" grpId="0" animBg="1" advAuto="0"/>
      <p:bldP spid="494" grpId="0" animBg="1" advAuto="0"/>
      <p:bldP spid="495" grpId="0" animBg="1" advAuto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extBox 35"/>
          <p:cNvSpPr txBox="1"/>
          <p:nvPr/>
        </p:nvSpPr>
        <p:spPr>
          <a:xfrm>
            <a:off x="8196371" y="6234291"/>
            <a:ext cx="942937" cy="61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+mj-lt"/>
                <a:ea typeface="+mj-ea"/>
                <a:cs typeface="+mj-cs"/>
                <a:sym typeface="Arial"/>
              </a:defRPr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Intel i7-6700</a:t>
            </a:r>
            <a:b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(Skylake)</a:t>
            </a:r>
            <a:b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Q3 2015</a:t>
            </a:r>
          </a:p>
        </p:txBody>
      </p:sp>
      <p:grpSp>
        <p:nvGrpSpPr>
          <p:cNvPr id="504" name="Rectangle 3"/>
          <p:cNvGrpSpPr/>
          <p:nvPr/>
        </p:nvGrpSpPr>
        <p:grpSpPr>
          <a:xfrm>
            <a:off x="3483197" y="173445"/>
            <a:ext cx="935343" cy="801723"/>
            <a:chOff x="0" y="0"/>
            <a:chExt cx="935342" cy="801721"/>
          </a:xfrm>
        </p:grpSpPr>
        <p:sp>
          <p:nvSpPr>
            <p:cNvPr id="502" name="Rectangle"/>
            <p:cNvSpPr/>
            <p:nvPr/>
          </p:nvSpPr>
          <p:spPr>
            <a:xfrm>
              <a:off x="-1" y="-1"/>
              <a:ext cx="935344" cy="801723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satOff val="-2253"/>
                    <a:lumOff val="41481"/>
                  </a:schemeClr>
                </a:gs>
                <a:gs pos="35000">
                  <a:srgbClr val="C3C3E9"/>
                </a:gs>
                <a:gs pos="100000">
                  <a:schemeClr val="accent6">
                    <a:lumOff val="58031"/>
                  </a:schemeClr>
                </a:gs>
              </a:gsLst>
              <a:lin ang="16200000" scaled="0"/>
            </a:gradFill>
            <a:ln w="9525" cap="flat">
              <a:solidFill>
                <a:srgbClr val="2A2A89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  <p:sp>
          <p:nvSpPr>
            <p:cNvPr id="503" name="CPU"/>
            <p:cNvSpPr txBox="1"/>
            <p:nvPr/>
          </p:nvSpPr>
          <p:spPr>
            <a:xfrm>
              <a:off x="50482" y="182326"/>
              <a:ext cx="834378" cy="4370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CPU</a:t>
              </a:r>
            </a:p>
          </p:txBody>
        </p:sp>
      </p:grpSp>
      <p:grpSp>
        <p:nvGrpSpPr>
          <p:cNvPr id="515" name="Group 9"/>
          <p:cNvGrpSpPr/>
          <p:nvPr/>
        </p:nvGrpSpPr>
        <p:grpSpPr>
          <a:xfrm>
            <a:off x="546666" y="991067"/>
            <a:ext cx="6867262" cy="1318612"/>
            <a:chOff x="0" y="0"/>
            <a:chExt cx="6867260" cy="1318610"/>
          </a:xfrm>
        </p:grpSpPr>
        <p:grpSp>
          <p:nvGrpSpPr>
            <p:cNvPr id="507" name="Rectangle 4"/>
            <p:cNvGrpSpPr/>
            <p:nvPr/>
          </p:nvGrpSpPr>
          <p:grpSpPr>
            <a:xfrm>
              <a:off x="1921265" y="496487"/>
              <a:ext cx="1015261" cy="801721"/>
              <a:chOff x="0" y="0"/>
              <a:chExt cx="1015260" cy="801720"/>
            </a:xfrm>
          </p:grpSpPr>
          <p:sp>
            <p:nvSpPr>
              <p:cNvPr id="505" name="Rectangle"/>
              <p:cNvSpPr/>
              <p:nvPr/>
            </p:nvSpPr>
            <p:spPr>
              <a:xfrm>
                <a:off x="-1" y="-1"/>
                <a:ext cx="1015262" cy="80172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hueOff val="592304"/>
                      <a:satOff val="13715"/>
                      <a:lumOff val="41068"/>
                    </a:schemeClr>
                  </a:gs>
                  <a:gs pos="35000">
                    <a:srgbClr val="F9BAC1"/>
                  </a:gs>
                  <a:gs pos="100000">
                    <a:schemeClr val="accent1">
                      <a:hueOff val="620950"/>
                      <a:satOff val="18395"/>
                      <a:lumOff val="56180"/>
                    </a:schemeClr>
                  </a:gs>
                </a:gsLst>
                <a:lin ang="16200000" scaled="0"/>
              </a:gradFill>
              <a:ln w="9525" cap="flat">
                <a:solidFill>
                  <a:srgbClr val="AB143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506" name="L1 I$"/>
              <p:cNvSpPr txBox="1"/>
              <p:nvPr/>
            </p:nvSpPr>
            <p:spPr>
              <a:xfrm>
                <a:off x="50482" y="182325"/>
                <a:ext cx="914296" cy="4370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L1 I$</a:t>
                </a:r>
              </a:p>
            </p:txBody>
          </p:sp>
        </p:grpSp>
        <p:sp>
          <p:nvSpPr>
            <p:cNvPr id="508" name="Rectangle 28"/>
            <p:cNvSpPr txBox="1"/>
            <p:nvPr/>
          </p:nvSpPr>
          <p:spPr>
            <a:xfrm>
              <a:off x="-1" y="511291"/>
              <a:ext cx="1614747" cy="6673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32 KB, 8-way</a:t>
              </a:r>
            </a:p>
            <a:p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(private)</a:t>
              </a:r>
            </a:p>
          </p:txBody>
        </p:sp>
        <p:sp>
          <p:nvSpPr>
            <p:cNvPr id="509" name="Straight Arrow Connector 37"/>
            <p:cNvSpPr/>
            <p:nvPr/>
          </p:nvSpPr>
          <p:spPr>
            <a:xfrm flipH="1">
              <a:off x="2784442" y="-1"/>
              <a:ext cx="427914" cy="485893"/>
            </a:xfrm>
            <a:prstGeom prst="line">
              <a:avLst/>
            </a:prstGeom>
            <a:noFill/>
            <a:ln w="38100" cap="flat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  <p:grpSp>
          <p:nvGrpSpPr>
            <p:cNvPr id="512" name="Rectangle 39"/>
            <p:cNvGrpSpPr/>
            <p:nvPr/>
          </p:nvGrpSpPr>
          <p:grpSpPr>
            <a:xfrm>
              <a:off x="3871871" y="516890"/>
              <a:ext cx="1019334" cy="801721"/>
              <a:chOff x="0" y="0"/>
              <a:chExt cx="1019333" cy="801720"/>
            </a:xfrm>
          </p:grpSpPr>
          <p:sp>
            <p:nvSpPr>
              <p:cNvPr id="510" name="Rectangle"/>
              <p:cNvSpPr/>
              <p:nvPr/>
            </p:nvSpPr>
            <p:spPr>
              <a:xfrm>
                <a:off x="-1" y="-1"/>
                <a:ext cx="1019335" cy="80172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hueOff val="592304"/>
                      <a:satOff val="13715"/>
                      <a:lumOff val="41068"/>
                    </a:schemeClr>
                  </a:gs>
                  <a:gs pos="35000">
                    <a:srgbClr val="F9BAC1"/>
                  </a:gs>
                  <a:gs pos="100000">
                    <a:schemeClr val="accent1">
                      <a:hueOff val="620950"/>
                      <a:satOff val="18395"/>
                      <a:lumOff val="56180"/>
                    </a:schemeClr>
                  </a:gs>
                </a:gsLst>
                <a:lin ang="16200000" scaled="0"/>
              </a:gradFill>
              <a:ln w="9525" cap="flat">
                <a:solidFill>
                  <a:srgbClr val="AB143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511" name="L1 D$"/>
              <p:cNvSpPr txBox="1"/>
              <p:nvPr/>
            </p:nvSpPr>
            <p:spPr>
              <a:xfrm>
                <a:off x="50482" y="182325"/>
                <a:ext cx="918369" cy="4370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L1 D$</a:t>
                </a:r>
              </a:p>
            </p:txBody>
          </p:sp>
        </p:grpSp>
        <p:sp>
          <p:nvSpPr>
            <p:cNvPr id="513" name="Straight Arrow Connector 43"/>
            <p:cNvSpPr/>
            <p:nvPr/>
          </p:nvSpPr>
          <p:spPr>
            <a:xfrm>
              <a:off x="3680025" y="30063"/>
              <a:ext cx="402794" cy="499153"/>
            </a:xfrm>
            <a:prstGeom prst="line">
              <a:avLst/>
            </a:prstGeom>
            <a:noFill/>
            <a:ln w="38100" cap="flat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  <p:sp>
          <p:nvSpPr>
            <p:cNvPr id="514" name="Rectangle 45"/>
            <p:cNvSpPr txBox="1"/>
            <p:nvPr/>
          </p:nvSpPr>
          <p:spPr>
            <a:xfrm>
              <a:off x="5252515" y="511291"/>
              <a:ext cx="1614746" cy="6673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32 KB, 8-way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(private)</a:t>
              </a:r>
            </a:p>
          </p:txBody>
        </p:sp>
      </p:grpSp>
      <p:grpSp>
        <p:nvGrpSpPr>
          <p:cNvPr id="523" name="Group 10"/>
          <p:cNvGrpSpPr/>
          <p:nvPr/>
        </p:nvGrpSpPr>
        <p:grpSpPr>
          <a:xfrm>
            <a:off x="1070725" y="2289279"/>
            <a:ext cx="5197042" cy="1273310"/>
            <a:chOff x="0" y="0"/>
            <a:chExt cx="5197040" cy="1273309"/>
          </a:xfrm>
        </p:grpSpPr>
        <p:grpSp>
          <p:nvGrpSpPr>
            <p:cNvPr id="518" name="Rectangle 5"/>
            <p:cNvGrpSpPr/>
            <p:nvPr/>
          </p:nvGrpSpPr>
          <p:grpSpPr>
            <a:xfrm>
              <a:off x="1824540" y="471588"/>
              <a:ext cx="2111202" cy="801722"/>
              <a:chOff x="0" y="0"/>
              <a:chExt cx="2111200" cy="801721"/>
            </a:xfrm>
          </p:grpSpPr>
          <p:sp>
            <p:nvSpPr>
              <p:cNvPr id="516" name="Rectangle"/>
              <p:cNvSpPr/>
              <p:nvPr/>
            </p:nvSpPr>
            <p:spPr>
              <a:xfrm>
                <a:off x="0" y="-1"/>
                <a:ext cx="2111201" cy="80172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4">
                      <a:lumOff val="28974"/>
                    </a:schemeClr>
                  </a:gs>
                  <a:gs pos="35000">
                    <a:srgbClr val="CFCFCF"/>
                  </a:gs>
                  <a:gs pos="100000">
                    <a:schemeClr val="accent4">
                      <a:lumOff val="48879"/>
                    </a:schemeClr>
                  </a:gs>
                </a:gsLst>
                <a:lin ang="162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517" name="L2 $"/>
              <p:cNvSpPr txBox="1"/>
              <p:nvPr/>
            </p:nvSpPr>
            <p:spPr>
              <a:xfrm>
                <a:off x="50482" y="182326"/>
                <a:ext cx="2010237" cy="4370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L2 $</a:t>
                </a:r>
              </a:p>
            </p:txBody>
          </p:sp>
        </p:grpSp>
        <p:sp>
          <p:nvSpPr>
            <p:cNvPr id="519" name="Rectangle 29"/>
            <p:cNvSpPr txBox="1"/>
            <p:nvPr/>
          </p:nvSpPr>
          <p:spPr>
            <a:xfrm>
              <a:off x="-1" y="512294"/>
              <a:ext cx="1756010" cy="6673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256 KB, 4-way</a:t>
              </a:r>
            </a:p>
            <a:p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(private)</a:t>
              </a:r>
            </a:p>
          </p:txBody>
        </p:sp>
        <p:sp>
          <p:nvSpPr>
            <p:cNvPr id="520" name="TextBox 33"/>
            <p:cNvSpPr txBox="1"/>
            <p:nvPr/>
          </p:nvSpPr>
          <p:spPr>
            <a:xfrm>
              <a:off x="4034112" y="666183"/>
              <a:ext cx="1162929" cy="375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000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12 cycles</a:t>
              </a:r>
            </a:p>
          </p:txBody>
        </p:sp>
        <p:sp>
          <p:nvSpPr>
            <p:cNvPr id="521" name="Straight Arrow Connector 40"/>
            <p:cNvSpPr/>
            <p:nvPr/>
          </p:nvSpPr>
          <p:spPr>
            <a:xfrm>
              <a:off x="2205592" y="0"/>
              <a:ext cx="18244" cy="471088"/>
            </a:xfrm>
            <a:prstGeom prst="line">
              <a:avLst/>
            </a:prstGeom>
            <a:noFill/>
            <a:ln w="38100" cap="flat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  <p:sp>
          <p:nvSpPr>
            <p:cNvPr id="522" name="Straight Arrow Connector 44"/>
            <p:cNvSpPr/>
            <p:nvPr/>
          </p:nvSpPr>
          <p:spPr>
            <a:xfrm>
              <a:off x="3551244" y="20403"/>
              <a:ext cx="1" cy="450686"/>
            </a:xfrm>
            <a:prstGeom prst="line">
              <a:avLst/>
            </a:prstGeom>
            <a:noFill/>
            <a:ln w="38100" cap="flat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</p:grpSp>
      <p:grpSp>
        <p:nvGrpSpPr>
          <p:cNvPr id="530" name="Group 11"/>
          <p:cNvGrpSpPr/>
          <p:nvPr/>
        </p:nvGrpSpPr>
        <p:grpSpPr>
          <a:xfrm>
            <a:off x="562335" y="3562587"/>
            <a:ext cx="6403920" cy="1780835"/>
            <a:chOff x="0" y="0"/>
            <a:chExt cx="6403918" cy="1780833"/>
          </a:xfrm>
        </p:grpSpPr>
        <p:grpSp>
          <p:nvGrpSpPr>
            <p:cNvPr id="526" name="Rectangle 6"/>
            <p:cNvGrpSpPr/>
            <p:nvPr/>
          </p:nvGrpSpPr>
          <p:grpSpPr>
            <a:xfrm>
              <a:off x="1684755" y="491990"/>
              <a:ext cx="3393960" cy="1288844"/>
              <a:chOff x="0" y="0"/>
              <a:chExt cx="3393959" cy="1288843"/>
            </a:xfrm>
          </p:grpSpPr>
          <p:sp>
            <p:nvSpPr>
              <p:cNvPr id="524" name="Rectangle"/>
              <p:cNvSpPr/>
              <p:nvPr/>
            </p:nvSpPr>
            <p:spPr>
              <a:xfrm>
                <a:off x="-1" y="-1"/>
                <a:ext cx="3393961" cy="128884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4">
                      <a:lumOff val="28974"/>
                    </a:schemeClr>
                  </a:gs>
                  <a:gs pos="35000">
                    <a:srgbClr val="CFCFCF"/>
                  </a:gs>
                  <a:gs pos="100000">
                    <a:schemeClr val="accent4">
                      <a:lumOff val="48879"/>
                    </a:schemeClr>
                  </a:gs>
                </a:gsLst>
                <a:lin ang="162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525" name="L3 $"/>
              <p:cNvSpPr txBox="1"/>
              <p:nvPr/>
            </p:nvSpPr>
            <p:spPr>
              <a:xfrm>
                <a:off x="50482" y="425887"/>
                <a:ext cx="3292995" cy="4370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L3 $</a:t>
                </a:r>
              </a:p>
            </p:txBody>
          </p:sp>
        </p:grpSp>
        <p:sp>
          <p:nvSpPr>
            <p:cNvPr id="527" name="TextBox 27"/>
            <p:cNvSpPr txBox="1"/>
            <p:nvPr/>
          </p:nvSpPr>
          <p:spPr>
            <a:xfrm>
              <a:off x="5240990" y="936357"/>
              <a:ext cx="1162929" cy="3752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000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42 cycles</a:t>
              </a:r>
            </a:p>
          </p:txBody>
        </p:sp>
        <p:sp>
          <p:nvSpPr>
            <p:cNvPr id="528" name="Rectangle 30"/>
            <p:cNvSpPr txBox="1"/>
            <p:nvPr/>
          </p:nvSpPr>
          <p:spPr>
            <a:xfrm>
              <a:off x="-1" y="735771"/>
              <a:ext cx="1656915" cy="6673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8 MB, 16-way</a:t>
              </a:r>
            </a:p>
            <a:p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(shared)</a:t>
              </a:r>
            </a:p>
          </p:txBody>
        </p:sp>
        <p:sp>
          <p:nvSpPr>
            <p:cNvPr id="529" name="Straight Arrow Connector 41"/>
            <p:cNvSpPr/>
            <p:nvPr/>
          </p:nvSpPr>
          <p:spPr>
            <a:xfrm flipH="1">
              <a:off x="3381736" y="0"/>
              <a:ext cx="6796" cy="491991"/>
            </a:xfrm>
            <a:prstGeom prst="line">
              <a:avLst/>
            </a:prstGeom>
            <a:noFill/>
            <a:ln w="38100" cap="flat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</p:grpSp>
      <p:grpSp>
        <p:nvGrpSpPr>
          <p:cNvPr id="538" name="Group 12"/>
          <p:cNvGrpSpPr/>
          <p:nvPr/>
        </p:nvGrpSpPr>
        <p:grpSpPr>
          <a:xfrm>
            <a:off x="13777" y="5343419"/>
            <a:ext cx="9156773" cy="1595862"/>
            <a:chOff x="0" y="0"/>
            <a:chExt cx="9156771" cy="1595860"/>
          </a:xfrm>
        </p:grpSpPr>
        <p:sp>
          <p:nvSpPr>
            <p:cNvPr id="531" name="TextBox 34"/>
            <p:cNvSpPr txBox="1"/>
            <p:nvPr/>
          </p:nvSpPr>
          <p:spPr>
            <a:xfrm>
              <a:off x="5672993" y="105851"/>
              <a:ext cx="3483779" cy="375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000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42 cycles + 51ns ≈ 246 cycles</a:t>
              </a:r>
            </a:p>
          </p:txBody>
        </p:sp>
        <p:grpSp>
          <p:nvGrpSpPr>
            <p:cNvPr id="534" name="Rectangle 7"/>
            <p:cNvGrpSpPr/>
            <p:nvPr/>
          </p:nvGrpSpPr>
          <p:grpSpPr>
            <a:xfrm>
              <a:off x="10237" y="491989"/>
              <a:ext cx="7841476" cy="1045211"/>
              <a:chOff x="0" y="0"/>
              <a:chExt cx="7841474" cy="1045210"/>
            </a:xfrm>
          </p:grpSpPr>
          <p:sp>
            <p:nvSpPr>
              <p:cNvPr id="532" name="Rectangle"/>
              <p:cNvSpPr/>
              <p:nvPr/>
            </p:nvSpPr>
            <p:spPr>
              <a:xfrm>
                <a:off x="0" y="-1"/>
                <a:ext cx="7841475" cy="104521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4">
                      <a:lumOff val="28974"/>
                    </a:schemeClr>
                  </a:gs>
                  <a:gs pos="35000">
                    <a:srgbClr val="CFCFCF"/>
                  </a:gs>
                  <a:gs pos="100000">
                    <a:schemeClr val="accent4">
                      <a:lumOff val="48879"/>
                    </a:schemeClr>
                  </a:gs>
                </a:gsLst>
                <a:lin ang="162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533" name="off-chip DRAM"/>
              <p:cNvSpPr txBox="1"/>
              <p:nvPr/>
            </p:nvSpPr>
            <p:spPr>
              <a:xfrm>
                <a:off x="50482" y="304070"/>
                <a:ext cx="7740511" cy="4370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off-chip DRAM</a:t>
                </a:r>
              </a:p>
            </p:txBody>
          </p:sp>
        </p:grpSp>
        <p:sp>
          <p:nvSpPr>
            <p:cNvPr id="535" name="Straight Arrow Connector 42"/>
            <p:cNvSpPr/>
            <p:nvPr/>
          </p:nvSpPr>
          <p:spPr>
            <a:xfrm>
              <a:off x="3930293" y="-1"/>
              <a:ext cx="682" cy="491991"/>
            </a:xfrm>
            <a:prstGeom prst="line">
              <a:avLst/>
            </a:prstGeom>
            <a:noFill/>
            <a:ln w="38100" cap="flat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  <p:sp>
          <p:nvSpPr>
            <p:cNvPr id="536" name="Rectangle 48"/>
            <p:cNvSpPr/>
            <p:nvPr/>
          </p:nvSpPr>
          <p:spPr>
            <a:xfrm>
              <a:off x="10237" y="1128200"/>
              <a:ext cx="7962763" cy="467661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Off val="44000"/>
                    <a:alpha val="0"/>
                  </a:schemeClr>
                </a:gs>
                <a:gs pos="100000">
                  <a:schemeClr val="accent3">
                    <a:lumOff val="44000"/>
                  </a:scheme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8F8F8F">
                      <a:lumOff val="44000"/>
                    </a:srgbClr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8F8F8F">
                    <a:lumOff val="44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7" name="Rectangle 51"/>
            <p:cNvSpPr txBox="1"/>
            <p:nvPr/>
          </p:nvSpPr>
          <p:spPr>
            <a:xfrm>
              <a:off x="0" y="108167"/>
              <a:ext cx="972553" cy="375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000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16 GB+</a:t>
              </a:r>
            </a:p>
          </p:txBody>
        </p:sp>
      </p:grpSp>
      <p:sp>
        <p:nvSpPr>
          <p:cNvPr id="539" name="Rectangle 22"/>
          <p:cNvSpPr/>
          <p:nvPr/>
        </p:nvSpPr>
        <p:spPr>
          <a:xfrm>
            <a:off x="0" y="2486419"/>
            <a:ext cx="9144000" cy="4394201"/>
          </a:xfrm>
          <a:prstGeom prst="rect">
            <a:avLst/>
          </a:prstGeom>
          <a:gradFill>
            <a:gsLst>
              <a:gs pos="0">
                <a:schemeClr val="accent3">
                  <a:lumOff val="44000"/>
                  <a:alpha val="0"/>
                </a:schemeClr>
              </a:gs>
              <a:gs pos="14000">
                <a:schemeClr val="accent3">
                  <a:lumOff val="44000"/>
                  <a:alpha val="90000"/>
                </a:schemeClr>
              </a:gs>
              <a:gs pos="99000">
                <a:schemeClr val="accent3">
                  <a:lumOff val="44000"/>
                  <a:alpha val="90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40" name="Content Placeholder 3"/>
          <p:cNvSpPr txBox="1"/>
          <p:nvPr/>
        </p:nvSpPr>
        <p:spPr>
          <a:xfrm>
            <a:off x="609520" y="3396574"/>
            <a:ext cx="8366761" cy="3225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marR="0" lvl="0" indent="-34290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>
                <a:latin typeface="+mj-lt"/>
                <a:ea typeface="+mj-ea"/>
                <a:cs typeface="+mj-cs"/>
                <a:sym typeface="Arial"/>
              </a:defRPr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D$ and I$ usually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separated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at L1 — why?</a:t>
            </a:r>
          </a:p>
          <a:p>
            <a:pPr marL="342900" marR="0" lvl="0" indent="-34290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>
                <a:latin typeface="+mj-lt"/>
                <a:ea typeface="+mj-ea"/>
                <a:cs typeface="+mj-cs"/>
                <a:sym typeface="Arial"/>
              </a:defRPr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different effect of misses on performance</a:t>
            </a: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for data load stalls, can maybe cover latency by </a:t>
            </a:r>
            <a:r>
              <a:rPr kumimoji="0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OoO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but instruction load stalls are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deadly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(why?)</a:t>
            </a:r>
          </a:p>
          <a:p>
            <a:pPr marL="342900" marR="0" lvl="0" indent="-34290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>
                <a:latin typeface="+mj-lt"/>
                <a:ea typeface="+mj-ea"/>
                <a:cs typeface="+mj-cs"/>
                <a:sym typeface="Arial"/>
              </a:defRPr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different access patterns (how?)</a:t>
            </a:r>
          </a:p>
          <a:p>
            <a:pPr marL="342900" marR="0" lvl="0" indent="-34290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>
                <a:latin typeface="+mj-lt"/>
                <a:ea typeface="+mj-ea"/>
                <a:cs typeface="+mj-cs"/>
                <a:sym typeface="Arial"/>
              </a:defRPr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avoids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friendly fire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where data accesses</a:t>
            </a:r>
            <a:b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evict our program’s instructions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5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" grpId="0" animBg="1" advAuto="0"/>
      <p:bldP spid="540" grpId="0" build="p" bldLvl="5" animBg="1" advAuto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Arial  " charset="0"/>
                <a:cs typeface="Arial  " charset="0"/>
              </a:rPr>
              <a:t>Performance / Multilevel Caches</a:t>
            </a:r>
            <a:endParaRPr lang="en-US" sz="2000" dirty="0">
              <a:solidFill>
                <a:schemeClr val="bg2"/>
              </a:solidFill>
              <a:latin typeface="Arial  " charset="0"/>
              <a:cs typeface="Arial  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153400" cy="43942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latin typeface="Arial  " charset="0"/>
                <a:cs typeface="Arial  " charset="0"/>
              </a:rPr>
              <a:t>Impact of caches on performance?</a:t>
            </a:r>
          </a:p>
          <a:p>
            <a:pPr marL="0" indent="0">
              <a:lnSpc>
                <a:spcPct val="90000"/>
              </a:lnSpc>
              <a:buNone/>
            </a:pPr>
            <a:endParaRPr lang="en-US" sz="2400" dirty="0">
              <a:latin typeface="Arial  " charset="0"/>
              <a:cs typeface="Arial  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400" dirty="0">
              <a:latin typeface="Arial  " charset="0"/>
              <a:cs typeface="Arial  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400" dirty="0">
              <a:latin typeface="Arial  " charset="0"/>
              <a:cs typeface="Arial  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400" dirty="0">
              <a:latin typeface="Arial  " charset="0"/>
              <a:cs typeface="Arial  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latin typeface="Arial  " charset="0"/>
                <a:cs typeface="Arial  " charset="0"/>
              </a:rPr>
              <a:t>Reduce “Miss Penalty” by adding second-level of caching: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65</a:t>
            </a:fld>
            <a:r>
              <a:rPr lang="en-US" dirty="0"/>
              <a:t> </a:t>
            </a:r>
          </a:p>
        </p:txBody>
      </p:sp>
      <p:grpSp>
        <p:nvGrpSpPr>
          <p:cNvPr id="5" name="Group 3"/>
          <p:cNvGrpSpPr>
            <a:grpSpLocks noChangeAspect="1"/>
          </p:cNvGrpSpPr>
          <p:nvPr/>
        </p:nvGrpSpPr>
        <p:grpSpPr bwMode="auto">
          <a:xfrm>
            <a:off x="1315402" y="1905000"/>
            <a:ext cx="6513196" cy="1082040"/>
            <a:chOff x="354" y="960"/>
            <a:chExt cx="5195" cy="872"/>
          </a:xfrm>
        </p:grpSpPr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354" y="960"/>
            <a:ext cx="5195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242200" imgH="622080" progId="Equation.3">
                    <p:embed/>
                  </p:oleObj>
                </mc:Choice>
                <mc:Fallback>
                  <p:oleObj name="Equation" r:id="rId2" imgW="8242200" imgH="622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" y="960"/>
                          <a:ext cx="5195" cy="3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6"/>
            <p:cNvGraphicFramePr>
              <a:graphicFrameLocks noChangeAspect="1"/>
            </p:cNvGraphicFramePr>
            <p:nvPr/>
          </p:nvGraphicFramePr>
          <p:xfrm>
            <a:off x="354" y="1440"/>
            <a:ext cx="4506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149960" imgH="622080" progId="Equation.3">
                    <p:embed/>
                  </p:oleObj>
                </mc:Choice>
                <mc:Fallback>
                  <p:oleObj name="Equation" r:id="rId4" imgW="7149960" imgH="622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" y="1440"/>
                          <a:ext cx="4506" cy="3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Rectangle 2"/>
          <p:cNvSpPr/>
          <p:nvPr/>
        </p:nvSpPr>
        <p:spPr>
          <a:xfrm>
            <a:off x="6709626" y="4191000"/>
            <a:ext cx="609600" cy="381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5">
                    <a:lumMod val="10000"/>
                  </a:schemeClr>
                </a:solidFill>
                <a:latin typeface="Arial" charset="0"/>
                <a:ea typeface="Arial" charset="0"/>
                <a:cs typeface="Arial" charset="0"/>
              </a:rPr>
              <a:t>CPU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7226" y="4876800"/>
            <a:ext cx="906348" cy="381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5">
                    <a:lumMod val="10000"/>
                  </a:schemeClr>
                </a:solidFill>
                <a:latin typeface="Arial" charset="0"/>
                <a:ea typeface="Arial" charset="0"/>
                <a:cs typeface="Arial" charset="0"/>
              </a:rPr>
              <a:t>L1 $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2426" y="5562600"/>
            <a:ext cx="1524000" cy="381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5">
                    <a:lumMod val="10000"/>
                  </a:schemeClr>
                </a:solidFill>
                <a:latin typeface="Arial" charset="0"/>
                <a:ea typeface="Arial" charset="0"/>
                <a:cs typeface="Arial" charset="0"/>
              </a:rPr>
              <a:t>L2 $</a:t>
            </a:r>
          </a:p>
        </p:txBody>
      </p:sp>
      <p:cxnSp>
        <p:nvCxnSpPr>
          <p:cNvPr id="8" name="Straight Arrow Connector 7"/>
          <p:cNvCxnSpPr>
            <a:stCxn id="3" idx="2"/>
            <a:endCxn id="9" idx="0"/>
          </p:cNvCxnSpPr>
          <p:nvPr/>
        </p:nvCxnSpPr>
        <p:spPr>
          <a:xfrm flipH="1">
            <a:off x="7010400" y="4572000"/>
            <a:ext cx="4026" cy="30480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9" idx="2"/>
            <a:endCxn id="10" idx="0"/>
          </p:cNvCxnSpPr>
          <p:nvPr/>
        </p:nvCxnSpPr>
        <p:spPr>
          <a:xfrm>
            <a:off x="7010400" y="5257800"/>
            <a:ext cx="4026" cy="30480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638800" y="6248400"/>
            <a:ext cx="2743200" cy="381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accent5">
                    <a:lumMod val="10000"/>
                  </a:schemeClr>
                </a:solidFill>
                <a:latin typeface="Arial" charset="0"/>
                <a:ea typeface="Arial" charset="0"/>
                <a:cs typeface="Arial" charset="0"/>
              </a:rPr>
              <a:t>Memory</a:t>
            </a:r>
            <a:endParaRPr lang="en-US" sz="1400" dirty="0">
              <a:solidFill>
                <a:schemeClr val="accent5">
                  <a:lumMod val="1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18" name="Straight Arrow Connector 17"/>
          <p:cNvCxnSpPr>
            <a:stCxn id="10" idx="2"/>
            <a:endCxn id="16" idx="0"/>
          </p:cNvCxnSpPr>
          <p:nvPr/>
        </p:nvCxnSpPr>
        <p:spPr>
          <a:xfrm flipH="1">
            <a:off x="7010400" y="5943600"/>
            <a:ext cx="4026" cy="30480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894019" y="4215730"/>
            <a:ext cx="609600" cy="381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5">
                    <a:lumMod val="10000"/>
                  </a:schemeClr>
                </a:solidFill>
                <a:latin typeface="Arial" charset="0"/>
                <a:ea typeface="Arial" charset="0"/>
                <a:cs typeface="Arial" charset="0"/>
              </a:rPr>
              <a:t>CPU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1619" y="4901530"/>
            <a:ext cx="906348" cy="381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5">
                    <a:lumMod val="10000"/>
                  </a:schemeClr>
                </a:solidFill>
                <a:latin typeface="Arial" charset="0"/>
                <a:ea typeface="Arial" charset="0"/>
                <a:cs typeface="Arial" charset="0"/>
              </a:rPr>
              <a:t>L1 $</a:t>
            </a:r>
          </a:p>
        </p:txBody>
      </p:sp>
      <p:cxnSp>
        <p:nvCxnSpPr>
          <p:cNvPr id="24" name="Straight Arrow Connector 23"/>
          <p:cNvCxnSpPr>
            <a:stCxn id="22" idx="2"/>
          </p:cNvCxnSpPr>
          <p:nvPr/>
        </p:nvCxnSpPr>
        <p:spPr>
          <a:xfrm flipH="1">
            <a:off x="3194793" y="4596730"/>
            <a:ext cx="4026" cy="30480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26" idx="0"/>
          </p:cNvCxnSpPr>
          <p:nvPr/>
        </p:nvCxnSpPr>
        <p:spPr>
          <a:xfrm>
            <a:off x="3194793" y="5282530"/>
            <a:ext cx="0" cy="99060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823193" y="6273130"/>
            <a:ext cx="2743200" cy="381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accent5">
                    <a:lumMod val="10000"/>
                  </a:schemeClr>
                </a:solidFill>
                <a:latin typeface="Arial" charset="0"/>
                <a:ea typeface="Arial" charset="0"/>
                <a:cs typeface="Arial" charset="0"/>
              </a:rPr>
              <a:t>Memory</a:t>
            </a:r>
            <a:endParaRPr lang="en-US" sz="1400" dirty="0">
              <a:solidFill>
                <a:schemeClr val="accent5">
                  <a:lumMod val="1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50260" y="4556010"/>
            <a:ext cx="819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cycle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3619" y="5548868"/>
            <a:ext cx="1143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 cycles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0735" y="4502132"/>
            <a:ext cx="819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cycle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5159402"/>
            <a:ext cx="1026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 </a:t>
            </a:r>
            <a:r>
              <a:rPr lang="en-US" dirty="0"/>
              <a:t>cycles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089" y="5867401"/>
            <a:ext cx="1143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 cycles</a:t>
            </a:r>
          </a:p>
        </p:txBody>
      </p:sp>
    </p:spTree>
    <p:extLst>
      <p:ext uri="{BB962C8B-B14F-4D97-AF65-F5344CB8AC3E}">
        <p14:creationId xmlns:p14="http://schemas.microsoft.com/office/powerpoint/2010/main" val="19226647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  " charset="0"/>
                <a:cs typeface="Arial  " charset="0"/>
              </a:rPr>
              <a:t>Example Problem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FF"/>
                </a:solidFill>
                <a:latin typeface="Arial  " charset="0"/>
                <a:cs typeface="Arial  " charset="0"/>
              </a:rPr>
              <a:t>How much faster is a processor with both L1 and L2 caches versus a processor with only an L1 cache?</a:t>
            </a:r>
          </a:p>
          <a:p>
            <a:pPr marL="0" indent="0" eaLnBrk="1" hangingPunct="1">
              <a:buNone/>
            </a:pPr>
            <a:r>
              <a:rPr lang="en-US" sz="2400" dirty="0">
                <a:latin typeface="Arial  " charset="0"/>
                <a:cs typeface="Arial  " charset="0"/>
              </a:rPr>
              <a:t>Assume the following:</a:t>
            </a:r>
          </a:p>
          <a:p>
            <a:pPr marL="457200" lvl="1" indent="0">
              <a:buNone/>
            </a:pPr>
            <a:r>
              <a:rPr lang="en-US" sz="2000" dirty="0">
                <a:latin typeface="Arial  " charset="0"/>
                <a:cs typeface="Arial  " charset="0"/>
              </a:rPr>
              <a:t>CPI is 1.0 when all memory references hit in the L1 cache. </a:t>
            </a:r>
          </a:p>
          <a:p>
            <a:pPr marL="457200" lvl="1" indent="0">
              <a:buNone/>
            </a:pPr>
            <a:r>
              <a:rPr lang="en-US" sz="2000" dirty="0">
                <a:latin typeface="Arial  " charset="0"/>
                <a:cs typeface="Arial  " charset="0"/>
              </a:rPr>
              <a:t>All instruction references hit in L1 instruction cache.</a:t>
            </a:r>
          </a:p>
          <a:p>
            <a:pPr marL="457200" lvl="1" indent="0">
              <a:buNone/>
            </a:pPr>
            <a:r>
              <a:rPr lang="en-US" sz="2000" dirty="0">
                <a:latin typeface="Arial  " charset="0"/>
                <a:cs typeface="Arial  " charset="0"/>
              </a:rPr>
              <a:t>Loads and stores comprise 30% of instructions.</a:t>
            </a:r>
          </a:p>
          <a:p>
            <a:pPr marL="457200" lvl="1" indent="0">
              <a:buNone/>
            </a:pPr>
            <a:r>
              <a:rPr lang="en-US" sz="2000" dirty="0">
                <a:latin typeface="Arial  " charset="0"/>
                <a:cs typeface="Arial  " charset="0"/>
              </a:rPr>
              <a:t>L1 data cache hit rate is 80%</a:t>
            </a:r>
          </a:p>
          <a:p>
            <a:pPr marL="457200" lvl="1" indent="0">
              <a:buNone/>
            </a:pPr>
            <a:r>
              <a:rPr lang="en-US" sz="2000" dirty="0">
                <a:latin typeface="Arial  " charset="0"/>
                <a:cs typeface="Arial  " charset="0"/>
              </a:rPr>
              <a:t>L2 data cache hit rate is 40% and a L2 cache hit takes 10 cycles.</a:t>
            </a:r>
          </a:p>
          <a:p>
            <a:pPr marL="457200" lvl="1" indent="0">
              <a:buNone/>
            </a:pPr>
            <a:r>
              <a:rPr lang="en-US" sz="2000" dirty="0">
                <a:latin typeface="Arial  " charset="0"/>
                <a:cs typeface="Arial  " charset="0"/>
              </a:rPr>
              <a:t>Main memory takes 200 cycles to access.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30D0E-6C7B-458E-8902-0C79F52CDCCA}" type="slidenum">
              <a:rPr lang="en-US" smtClean="0"/>
              <a:pPr>
                <a:defRPr/>
              </a:pPr>
              <a:t>66</a:t>
            </a:fld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94285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8F53A-C161-3D49-96E1-2DF0E970DAF2}" type="slidenum">
              <a:rPr lang="en-US" smtClean="0"/>
              <a:t>67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29059" y="1752600"/>
                <a:ext cx="4688655" cy="575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charset="0"/>
                        </a:rPr>
                        <m:t>𝑆𝑝𝑒𝑒𝑑𝑢𝑝</m:t>
                      </m:r>
                      <m:r>
                        <a:rPr lang="en-US" sz="18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charset="0"/>
                        </a:rPr>
                        <m:t>𝑤𝑖𝑡h</m:t>
                      </m:r>
                      <m:r>
                        <a:rPr lang="en-US" sz="18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charset="0"/>
                        </a:rPr>
                        <m:t>𝐿</m:t>
                      </m:r>
                      <m:r>
                        <a:rPr lang="en-US" sz="1800" b="0" i="1" smtClean="0">
                          <a:latin typeface="Cambria Math" charset="0"/>
                        </a:rPr>
                        <m:t>2=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charset="0"/>
                            </a:rPr>
                            <m:t>𝑃𝑒𝑟𝑓𝑜𝑟𝑚𝑎𝑛𝑐𝑒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𝑤𝑖𝑡h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𝐿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charset="0"/>
                            </a:rPr>
                            <m:t>𝑃𝑒𝑟𝑓𝑜𝑟𝑚𝑎𝑛𝑐𝑒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𝑤𝑖𝑡h𝑜𝑢𝑡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𝐿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059" y="1752600"/>
                <a:ext cx="4688655" cy="57515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77066" y="2514600"/>
                <a:ext cx="3145348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charset="0"/>
                            </a:rPr>
                            <m:t>𝐸𝑥𝑒𝑐𝑢𝑡𝑖𝑜𝑛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𝑇𝑖𝑚𝑒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𝑤𝑖𝑡h𝑜𝑢𝑡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𝐿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charset="0"/>
                            </a:rPr>
                            <m:t>𝐸𝑥𝑒𝑐𝑢𝑡𝑖𝑜𝑛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𝑇𝑖𝑚𝑒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𝑤𝑖𝑡h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𝐿</m:t>
                          </m:r>
                          <m:r>
                            <a:rPr lang="en-US" sz="1800" b="0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066" y="2514600"/>
                <a:ext cx="3145348" cy="52597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16197" y="3361016"/>
                <a:ext cx="5043625" cy="573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charset="0"/>
                                </a:rPr>
                                <m:t>𝐼𝐶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charset="0"/>
                                </a:rPr>
                                <m:t>𝑤𝑖𝑡h𝑜𝑢𝑡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</a:rPr>
                                <m:t>𝐿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 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𝐶𝑃𝐼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𝑤𝑖𝑡h𝑜𝑢𝑡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𝐿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𝑐𝑦𝑐𝑙𝑒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𝑡𝑖𝑚𝑒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𝑤𝑖𝑡h𝑜𝑢𝑡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𝐿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charset="0"/>
                                </a:rPr>
                                <m:t>𝐼𝐶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charset="0"/>
                                </a:rPr>
                                <m:t>𝑤𝑖𝑡h</m:t>
                              </m:r>
                              <m:r>
                                <a:rPr lang="en-US" sz="18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latin typeface="Cambria Math" charset="0"/>
                                </a:rPr>
                                <m:t>𝐿</m:t>
                              </m:r>
                              <m:r>
                                <a:rPr lang="en-US" sz="18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 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𝐶𝑃𝐼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𝑤𝑖𝑡h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𝐿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𝑐𝑦𝑐𝑙𝑒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𝑡𝑖𝑚𝑒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𝑤𝑖𝑡h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𝐿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197" y="3361016"/>
                <a:ext cx="5043625" cy="57323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396151" y="4988718"/>
                <a:ext cx="3365600" cy="5672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charset="0"/>
                        </a:rPr>
                        <m:t>𝑆𝑝𝑒𝑒𝑑𝑢𝑝</m:t>
                      </m:r>
                      <m:r>
                        <a:rPr lang="en-US" sz="1800" i="1">
                          <a:latin typeface="Cambria Math" charset="0"/>
                        </a:rPr>
                        <m:t> </m:t>
                      </m:r>
                      <m:r>
                        <a:rPr lang="en-US" sz="1800" i="1">
                          <a:latin typeface="Cambria Math" charset="0"/>
                        </a:rPr>
                        <m:t>𝑤𝑖𝑡h</m:t>
                      </m:r>
                      <m:r>
                        <a:rPr lang="en-US" sz="1800" i="1">
                          <a:latin typeface="Cambria Math" charset="0"/>
                        </a:rPr>
                        <m:t> </m:t>
                      </m:r>
                      <m:r>
                        <a:rPr lang="en-US" sz="1800" i="1">
                          <a:latin typeface="Cambria Math" charset="0"/>
                        </a:rPr>
                        <m:t>𝐿</m:t>
                      </m:r>
                      <m:r>
                        <a:rPr lang="en-US" sz="1800" i="1">
                          <a:latin typeface="Cambria Math" charset="0"/>
                        </a:rPr>
                        <m:t>2=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𝐶𝑃𝐼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𝑤𝑖𝑡h𝑜𝑢𝑡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𝐿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𝐶𝑃𝐼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𝑤𝑖𝑡h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𝐿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151" y="4988718"/>
                <a:ext cx="3365600" cy="56727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914400" y="4215044"/>
            <a:ext cx="6853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/>
              <a:t>(Adding </a:t>
            </a:r>
            <a:r>
              <a:rPr lang="en-US" sz="1800" i="1" dirty="0"/>
              <a:t>L2 cache does not </a:t>
            </a:r>
            <a:r>
              <a:rPr lang="en-US" sz="1800" i="1"/>
              <a:t>impact instruction count or cycle time)</a:t>
            </a:r>
          </a:p>
        </p:txBody>
      </p:sp>
    </p:spTree>
    <p:extLst>
      <p:ext uri="{BB962C8B-B14F-4D97-AF65-F5344CB8AC3E}">
        <p14:creationId xmlns:p14="http://schemas.microsoft.com/office/powerpoint/2010/main" val="20444282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Solution, Continued…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8F53A-C161-3D49-96E1-2DF0E970DAF2}" type="slidenum">
              <a:rPr lang="en-US" smtClean="0"/>
              <a:t>68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81200" y="1524000"/>
                <a:ext cx="3429000" cy="5672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charset="0"/>
                        </a:rPr>
                        <m:t>𝑆𝑝𝑒𝑒𝑑𝑢𝑝</m:t>
                      </m:r>
                      <m:r>
                        <a:rPr lang="en-US" sz="1800" i="1">
                          <a:latin typeface="Cambria Math" charset="0"/>
                        </a:rPr>
                        <m:t> </m:t>
                      </m:r>
                      <m:r>
                        <a:rPr lang="en-US" sz="1800" i="1">
                          <a:latin typeface="Cambria Math" charset="0"/>
                        </a:rPr>
                        <m:t>𝑤𝑖𝑡h</m:t>
                      </m:r>
                      <m:r>
                        <a:rPr lang="en-US" sz="1800" i="1">
                          <a:latin typeface="Cambria Math" charset="0"/>
                        </a:rPr>
                        <m:t> </m:t>
                      </m:r>
                      <m:r>
                        <a:rPr lang="en-US" sz="1800" i="1">
                          <a:latin typeface="Cambria Math" charset="0"/>
                        </a:rPr>
                        <m:t>𝐿</m:t>
                      </m:r>
                      <m:r>
                        <a:rPr lang="en-US" sz="1800" i="1">
                          <a:latin typeface="Cambria Math" charset="0"/>
                        </a:rPr>
                        <m:t>2=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𝐶𝑃𝐼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𝑤𝑖𝑡h𝑜𝑢𝑡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𝐿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𝐶𝑃𝐼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𝑤𝑖𝑡h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𝐿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524000"/>
                <a:ext cx="3429000" cy="56727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76300" y="2590800"/>
                <a:ext cx="7886700" cy="3947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𝐶𝑃𝐼</m:t>
                        </m:r>
                      </m:e>
                      <m:sub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𝑤𝑖𝑡h𝑜𝑢𝑡</m:t>
                        </m:r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</m:t>
                        </m:r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𝐶𝑃𝐼</m:t>
                        </m:r>
                      </m:e>
                      <m:sub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𝐸𝑥𝑒𝑐𝑢𝑡𝑖𝑜𝑛</m:t>
                        </m:r>
                      </m:sub>
                    </m:sSub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</m:t>
                        </m:r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1 </m:t>
                        </m:r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𝐴𝑐𝑐𝑒𝑠𝑠𝑒𝑠</m:t>
                        </m:r>
                      </m:num>
                      <m:den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𝐼𝑛𝑠𝑡𝑟𝑢𝑐𝑡𝑖𝑜𝑛</m:t>
                        </m:r>
                      </m:den>
                    </m:f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𝑀𝑖𝑠𝑠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𝑅𝑎𝑡𝑒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×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𝑀𝑖𝑠𝑠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𝑃𝑒𝑛𝑎𝑙𝑡𝑦</m:t>
                    </m:r>
                  </m:oMath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" y="2590800"/>
                <a:ext cx="7886700" cy="394788"/>
              </a:xfrm>
              <a:prstGeom prst="rect">
                <a:avLst/>
              </a:prstGeom>
              <a:blipFill rotWithShape="0">
                <a:blip r:embed="rId3"/>
                <a:stretch>
                  <a:fillRect l="-1082" t="-86154" b="-1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09800" y="3323053"/>
                <a:ext cx="73914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.0+0.3×(1−0. 8)×200</m:t>
                    </m:r>
                  </m:oMath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3323053"/>
                <a:ext cx="7391400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74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209800" y="3937517"/>
                <a:ext cx="73914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3</m:t>
                    </m:r>
                  </m:oMath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3937517"/>
                <a:ext cx="7391400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743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76491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Solution, Continued…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8F53A-C161-3D49-96E1-2DF0E970DAF2}" type="slidenum">
              <a:rPr lang="en-US" smtClean="0"/>
              <a:t>69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14400" y="1524000"/>
                <a:ext cx="7886700" cy="3947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𝐶𝑃𝐼</m:t>
                        </m:r>
                      </m:e>
                      <m:sub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𝑤𝑖𝑡h</m:t>
                        </m:r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</m:t>
                        </m:r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𝐶𝑃𝐼</m:t>
                        </m:r>
                      </m:e>
                      <m:sub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𝐸𝑥𝑒𝑐𝑢𝑡𝑖𝑜𝑛</m:t>
                        </m:r>
                      </m:sub>
                    </m:sSub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</m:t>
                        </m:r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1 </m:t>
                        </m:r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𝐴𝑐𝑐𝑒𝑠𝑠𝑒𝑠</m:t>
                        </m:r>
                      </m:num>
                      <m:den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𝐼𝑛𝑠𝑡𝑟𝑢𝑐𝑡𝑖𝑜𝑛</m:t>
                        </m:r>
                      </m:den>
                    </m:f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𝑀𝑖𝑠𝑠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𝑅𝑎𝑡𝑒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×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𝑀𝑖𝑠𝑠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𝑃𝑒𝑛𝑎𝑙𝑡𝑦</m:t>
                    </m:r>
                  </m:oMath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24000"/>
                <a:ext cx="7886700" cy="394788"/>
              </a:xfrm>
              <a:prstGeom prst="rect">
                <a:avLst/>
              </a:prstGeom>
              <a:blipFill rotWithShape="0">
                <a:blip r:embed="rId2"/>
                <a:stretch>
                  <a:fillRect l="-1005" t="-86154" b="-1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28650" y="2209800"/>
                <a:ext cx="78867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</m:t>
                      </m:r>
                      <m:r>
                        <a:rPr lang="en-US" sz="1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1 </m:t>
                      </m:r>
                      <m:r>
                        <a:rPr lang="en-US" sz="1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𝑀𝑖𝑠𝑠</m:t>
                      </m:r>
                      <m:r>
                        <a:rPr lang="en-US" sz="1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a:rPr lang="en-US" sz="1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𝑃𝑒𝑛𝑎𝑙𝑡𝑦</m:t>
                      </m:r>
                      <m:r>
                        <a:rPr lang="en-US" sz="1800" b="0" i="1" smtClean="0">
                          <a:latin typeface="Cambria Math" charset="0"/>
                        </a:rPr>
                        <m:t>=</m:t>
                      </m:r>
                      <m:r>
                        <a:rPr lang="en-US" sz="1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2</m:t>
                      </m:r>
                      <m:r>
                        <a:rPr lang="en-US" sz="1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𝐴𝑐𝑐𝑒𝑠𝑠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𝐿𝑎𝑡𝑒𝑛𝑐𝑦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2 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𝑀𝑖𝑠𝑠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𝑅𝑎𝑡𝑒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×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2 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𝑀𝑖𝑠𝑠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𝑃𝑒𝑛𝑎𝑙𝑡𝑦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209800"/>
                <a:ext cx="7886700" cy="276999"/>
              </a:xfrm>
              <a:prstGeom prst="rect">
                <a:avLst/>
              </a:prstGeom>
              <a:blipFill rotWithShape="0">
                <a:blip r:embed="rId3"/>
                <a:stretch>
                  <a:fillRect t="-146667" b="-18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67000" y="2738735"/>
                <a:ext cx="73914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  <m:r>
                      <a:rPr lang="en-US" sz="18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0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+(1−0. 4)×200</m:t>
                    </m:r>
                  </m:oMath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738735"/>
                <a:ext cx="7391400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74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667000" y="3267670"/>
                <a:ext cx="73914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3</m:t>
                    </m:r>
                  </m:oMath>
                </a14:m>
                <a:r>
                  <a:rPr lang="en-US" sz="1800" b="0" dirty="0"/>
                  <a:t>0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267670"/>
                <a:ext cx="7391400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743" t="-28889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38212" y="3886200"/>
                <a:ext cx="7886700" cy="3947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𝐶𝑃𝐼</m:t>
                        </m:r>
                      </m:e>
                      <m:sub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𝑤𝑖𝑡h</m:t>
                        </m:r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</m:t>
                        </m:r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𝐶𝑃𝐼</m:t>
                        </m:r>
                      </m:e>
                      <m:sub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𝐸𝑥𝑒𝑐𝑢𝑡𝑖𝑜𝑛</m:t>
                        </m:r>
                      </m:sub>
                    </m:sSub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</m:t>
                        </m:r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1 </m:t>
                        </m:r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𝐴𝑐𝑐𝑒𝑠𝑠𝑒𝑠</m:t>
                        </m:r>
                      </m:num>
                      <m:den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𝐼𝑛𝑠𝑡𝑟𝑢𝑐𝑡𝑖𝑜𝑛</m:t>
                        </m:r>
                      </m:den>
                    </m:f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𝑀𝑖𝑠𝑠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𝑅𝑎𝑡𝑒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×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𝑀𝑖𝑠𝑠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𝑃𝑒𝑛𝑎𝑙𝑡𝑦</m:t>
                    </m:r>
                  </m:oMath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12" y="3886200"/>
                <a:ext cx="7886700" cy="394788"/>
              </a:xfrm>
              <a:prstGeom prst="rect">
                <a:avLst/>
              </a:prstGeom>
              <a:blipFill rotWithShape="0">
                <a:blip r:embed="rId6"/>
                <a:stretch>
                  <a:fillRect l="-1082" t="-89063" b="-1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981200" y="4565344"/>
                <a:ext cx="73914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.0+0.3×(1−0. 8)×130</m:t>
                    </m:r>
                  </m:oMath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4565344"/>
                <a:ext cx="7391400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660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981200" y="5088599"/>
                <a:ext cx="73914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charset="0"/>
                      </a:rPr>
                      <m:t>8.8</m:t>
                    </m:r>
                  </m:oMath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088599"/>
                <a:ext cx="7391400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66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904875" y="5688640"/>
                <a:ext cx="5181600" cy="4311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charset="0"/>
                      </a:rPr>
                      <m:t>𝑆𝑝𝑒𝑒𝑑𝑢𝑝</m:t>
                    </m:r>
                    <m:r>
                      <a:rPr lang="en-US" sz="1800" i="1" smtClean="0">
                        <a:latin typeface="Cambria Math" charset="0"/>
                      </a:rPr>
                      <m:t> </m:t>
                    </m:r>
                    <m:r>
                      <a:rPr lang="en-US" sz="1800" i="1" smtClean="0">
                        <a:latin typeface="Cambria Math" charset="0"/>
                      </a:rPr>
                      <m:t>𝑤𝑖𝑡h</m:t>
                    </m:r>
                    <m:r>
                      <a:rPr lang="en-US" sz="1800" i="1" smtClean="0">
                        <a:latin typeface="Cambria Math" charset="0"/>
                      </a:rPr>
                      <m:t> </m:t>
                    </m:r>
                    <m:r>
                      <a:rPr lang="en-US" sz="1800" i="1" smtClean="0">
                        <a:latin typeface="Cambria Math" charset="0"/>
                      </a:rPr>
                      <m:t>𝐿</m:t>
                    </m:r>
                    <m:r>
                      <a:rPr lang="en-US" sz="1800" i="1" smtClean="0">
                        <a:latin typeface="Cambria Math" charset="0"/>
                      </a:rPr>
                      <m:t>2= 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𝐶𝑃𝐼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𝑤𝑖𝑡h𝑜𝑢𝑡</m:t>
                            </m:r>
                            <m:r>
                              <a:rPr lang="en-US" sz="1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 </m:t>
                            </m:r>
                            <m:r>
                              <a:rPr lang="en-US" sz="1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𝐿</m:t>
                            </m:r>
                            <m:r>
                              <a:rPr lang="en-US" sz="1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𝐶𝑃𝐼</m:t>
                            </m:r>
                          </m:e>
                          <m:sub>
                            <m:r>
                              <a:rPr lang="en-US" sz="1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𝑤𝑖𝑡h</m:t>
                            </m:r>
                            <m:r>
                              <a:rPr lang="en-US" sz="1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 </m:t>
                            </m:r>
                            <m:r>
                              <a:rPr lang="en-US" sz="1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𝐿</m:t>
                            </m:r>
                            <m:r>
                              <a:rPr lang="en-US" sz="1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18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charset="0"/>
                          </a:rPr>
                          <m:t>13</m:t>
                        </m:r>
                      </m:num>
                      <m:den>
                        <m:r>
                          <a:rPr lang="en-US" sz="1800" b="0" i="1" smtClean="0">
                            <a:latin typeface="Cambria Math" charset="0"/>
                          </a:rPr>
                          <m:t>8.8</m:t>
                        </m:r>
                      </m:den>
                    </m:f>
                    <m:r>
                      <a:rPr lang="en-US" sz="1800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1800" b="0" dirty="0"/>
                  <a:t> 1.48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5688640"/>
                <a:ext cx="5181600" cy="431144"/>
              </a:xfrm>
              <a:prstGeom prst="rect">
                <a:avLst/>
              </a:prstGeom>
              <a:blipFill rotWithShape="0">
                <a:blip r:embed="rId9"/>
                <a:stretch>
                  <a:fillRect l="-2118" t="-78873" b="-92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674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Lockup-free caches</a:t>
            </a:r>
          </a:p>
        </p:txBody>
      </p:sp>
      <p:sp>
        <p:nvSpPr>
          <p:cNvPr id="54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95300" y="1371600"/>
            <a:ext cx="8648700" cy="4724400"/>
          </a:xfrm>
          <a:prstGeom prst="rect">
            <a:avLst/>
          </a:prstGeom>
        </p:spPr>
        <p:txBody>
          <a:bodyPr/>
          <a:lstStyle/>
          <a:p>
            <a:r>
              <a:rPr dirty="0"/>
              <a:t>problem: only one outstanding cache miss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but this may take 100s of cycles</a:t>
            </a:r>
          </a:p>
          <a:p>
            <a:pPr marL="742950" lvl="1" indent="-285750">
              <a:spcBef>
                <a:spcPts val="500"/>
              </a:spcBef>
              <a:defRPr sz="2400"/>
            </a:pPr>
            <a:endParaRPr dirty="0"/>
          </a:p>
          <a:p>
            <a:r>
              <a:rPr dirty="0"/>
              <a:t>idea: </a:t>
            </a:r>
            <a:r>
              <a:rPr b="1" dirty="0"/>
              <a:t>MSHRs</a:t>
            </a:r>
            <a:r>
              <a:rPr dirty="0"/>
              <a:t> (miss status handling registers)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block address and offset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 err="1"/>
              <a:t>dst</a:t>
            </a:r>
            <a:r>
              <a:rPr dirty="0"/>
              <a:t> tag (or reg) for a load, value for a store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CPU </a:t>
            </a:r>
            <a:r>
              <a:rPr b="1" dirty="0"/>
              <a:t>continues executing</a:t>
            </a:r>
            <a:r>
              <a:rPr dirty="0"/>
              <a:t> (even </a:t>
            </a:r>
            <a:r>
              <a:rPr dirty="0" err="1"/>
              <a:t>memops</a:t>
            </a:r>
            <a:r>
              <a:rPr dirty="0"/>
              <a:t> if 2+ MSHRs)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broadcast value on CDB after miss serviced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can </a:t>
            </a:r>
            <a:r>
              <a:rPr b="1" dirty="0"/>
              <a:t>merge multiple requests to same address</a:t>
            </a:r>
            <a:br>
              <a:rPr b="1" dirty="0"/>
            </a:br>
            <a:r>
              <a:rPr dirty="0"/>
              <a:t>(must be careful about order, though)</a:t>
            </a:r>
          </a:p>
        </p:txBody>
      </p:sp>
      <p:sp>
        <p:nvSpPr>
          <p:cNvPr id="544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8156292" y="6248400"/>
            <a:ext cx="301908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" grpId="0" build="p" animBg="1" advAuto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t>Question</a:t>
            </a:r>
          </a:p>
        </p:txBody>
      </p:sp>
      <p:sp>
        <p:nvSpPr>
          <p:cNvPr id="54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8458200" cy="47244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fully assoc. cache, eight 16-byte blocks, empty</a:t>
            </a:r>
          </a:p>
          <a:p>
            <a:pPr marL="0" indent="0">
              <a:buSzTx/>
              <a:buNone/>
            </a:pPr>
            <a:r>
              <a:t>4 MSHRs, all empty</a:t>
            </a:r>
          </a:p>
          <a:p>
            <a:pPr marL="0" indent="0">
              <a:buSzTx/>
              <a:buNone/>
            </a:pPr>
            <a:r>
              <a:t>memory accesses very long (100s of cycles)</a:t>
            </a:r>
          </a:p>
          <a:p>
            <a:pPr marL="0" indent="0">
              <a:buSzTx/>
              <a:buNone/>
            </a:pPr>
            <a:r>
              <a:t>load sequence w/ the following byte addresses:</a:t>
            </a:r>
            <a:br/>
            <a:r>
              <a:t>	0, 8, 16, 4, 12, 20, 24, 32, 128, 96, 64</a:t>
            </a:r>
          </a:p>
          <a:p>
            <a:pPr marL="0" indent="0">
              <a:buSzTx/>
              <a:buNone/>
            </a:pPr>
            <a:endParaRPr/>
          </a:p>
          <a:p>
            <a:pPr marL="0" indent="0">
              <a:buSzTx/>
              <a:buNone/>
            </a:pPr>
            <a:r>
              <a:t>which access will stall b/c all MSHRs full?</a:t>
            </a:r>
          </a:p>
        </p:txBody>
      </p:sp>
      <p:grpSp>
        <p:nvGrpSpPr>
          <p:cNvPr id="558" name="Group 18"/>
          <p:cNvGrpSpPr/>
          <p:nvPr/>
        </p:nvGrpSpPr>
        <p:grpSpPr>
          <a:xfrm>
            <a:off x="1771651" y="3905010"/>
            <a:ext cx="7018414" cy="390765"/>
            <a:chOff x="0" y="0"/>
            <a:chExt cx="7018412" cy="390764"/>
          </a:xfrm>
        </p:grpSpPr>
        <p:grpSp>
          <p:nvGrpSpPr>
            <p:cNvPr id="554" name="Group 11"/>
            <p:cNvGrpSpPr/>
            <p:nvPr/>
          </p:nvGrpSpPr>
          <p:grpSpPr>
            <a:xfrm>
              <a:off x="0" y="2620"/>
              <a:ext cx="4429124" cy="388145"/>
              <a:chOff x="0" y="0"/>
              <a:chExt cx="4429123" cy="388144"/>
            </a:xfrm>
          </p:grpSpPr>
          <p:sp>
            <p:nvSpPr>
              <p:cNvPr id="550" name="Straight Arrow Connector 7"/>
              <p:cNvSpPr/>
              <p:nvPr/>
            </p:nvSpPr>
            <p:spPr>
              <a:xfrm flipV="1">
                <a:off x="0" y="21432"/>
                <a:ext cx="1" cy="366713"/>
              </a:xfrm>
              <a:prstGeom prst="line">
                <a:avLst/>
              </a:prstGeom>
              <a:noFill/>
              <a:ln w="38100" cap="flat">
                <a:solidFill>
                  <a:srgbClr val="80808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551" name="Straight Arrow Connector 8"/>
              <p:cNvSpPr/>
              <p:nvPr/>
            </p:nvSpPr>
            <p:spPr>
              <a:xfrm flipV="1">
                <a:off x="923925" y="14288"/>
                <a:ext cx="1" cy="366713"/>
              </a:xfrm>
              <a:prstGeom prst="line">
                <a:avLst/>
              </a:prstGeom>
              <a:noFill/>
              <a:ln w="38100" cap="flat">
                <a:solidFill>
                  <a:srgbClr val="80808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552" name="Straight Arrow Connector 9"/>
              <p:cNvSpPr/>
              <p:nvPr/>
            </p:nvSpPr>
            <p:spPr>
              <a:xfrm flipV="1">
                <a:off x="3690937" y="7144"/>
                <a:ext cx="1" cy="366713"/>
              </a:xfrm>
              <a:prstGeom prst="line">
                <a:avLst/>
              </a:prstGeom>
              <a:noFill/>
              <a:ln w="38100" cap="flat">
                <a:solidFill>
                  <a:srgbClr val="80808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553" name="Straight Arrow Connector 10"/>
              <p:cNvSpPr/>
              <p:nvPr/>
            </p:nvSpPr>
            <p:spPr>
              <a:xfrm flipV="1">
                <a:off x="4429123" y="0"/>
                <a:ext cx="1" cy="366713"/>
              </a:xfrm>
              <a:prstGeom prst="line">
                <a:avLst/>
              </a:prstGeom>
              <a:noFill/>
              <a:ln w="38100" cap="flat">
                <a:solidFill>
                  <a:srgbClr val="80808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</p:grpSp>
        <p:grpSp>
          <p:nvGrpSpPr>
            <p:cNvPr id="557" name="Group 17"/>
            <p:cNvGrpSpPr/>
            <p:nvPr/>
          </p:nvGrpSpPr>
          <p:grpSpPr>
            <a:xfrm>
              <a:off x="4930774" y="-1"/>
              <a:ext cx="2087639" cy="350663"/>
              <a:chOff x="0" y="0"/>
              <a:chExt cx="2087637" cy="350661"/>
            </a:xfrm>
          </p:grpSpPr>
          <p:sp>
            <p:nvSpPr>
              <p:cNvPr id="555" name="TextBox 12"/>
              <p:cNvSpPr txBox="1"/>
              <p:nvPr/>
            </p:nvSpPr>
            <p:spPr>
              <a:xfrm>
                <a:off x="662462" y="0"/>
                <a:ext cx="1425176" cy="3506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800"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MSHR allocs</a:t>
                </a:r>
              </a:p>
            </p:txBody>
          </p:sp>
          <p:sp>
            <p:nvSpPr>
              <p:cNvPr id="556" name="Straight Arrow Connector 13"/>
              <p:cNvSpPr/>
              <p:nvPr/>
            </p:nvSpPr>
            <p:spPr>
              <a:xfrm flipH="1">
                <a:off x="0" y="184665"/>
                <a:ext cx="616742" cy="12980"/>
              </a:xfrm>
              <a:prstGeom prst="line">
                <a:avLst/>
              </a:prstGeom>
              <a:noFill/>
              <a:ln w="2222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" grpId="0" animBg="1" advAuto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t>Prefetching</a:t>
            </a:r>
          </a:p>
        </p:txBody>
      </p:sp>
      <p:sp>
        <p:nvSpPr>
          <p:cNvPr id="56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7772400" cy="5334000"/>
          </a:xfrm>
          <a:prstGeom prst="rect">
            <a:avLst/>
          </a:prstGeom>
        </p:spPr>
        <p:txBody>
          <a:bodyPr/>
          <a:lstStyle/>
          <a:p>
            <a:r>
              <a:rPr dirty="0"/>
              <a:t>problem: predictable access pattern</a:t>
            </a:r>
            <a:br>
              <a:rPr dirty="0"/>
            </a:br>
            <a:r>
              <a:rPr dirty="0"/>
              <a:t>	e.g., x[0], x[8], x[16], x[24], ...</a:t>
            </a:r>
          </a:p>
          <a:p>
            <a:r>
              <a:rPr dirty="0"/>
              <a:t>w/ 64-bit </a:t>
            </a:r>
            <a:r>
              <a:rPr dirty="0" err="1"/>
              <a:t>vals</a:t>
            </a:r>
            <a:r>
              <a:rPr dirty="0"/>
              <a:t>, 64-byte blocks: </a:t>
            </a:r>
            <a:r>
              <a:rPr b="1" dirty="0"/>
              <a:t>cold misses</a:t>
            </a:r>
          </a:p>
          <a:p>
            <a:pPr>
              <a:defRPr b="1"/>
            </a:pPr>
            <a:endParaRPr b="1" dirty="0"/>
          </a:p>
          <a:p>
            <a:r>
              <a:rPr dirty="0"/>
              <a:t>but we know pattern in advance, so </a:t>
            </a:r>
            <a:r>
              <a:rPr b="1" dirty="0"/>
              <a:t>prefetch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especially useful for instructions (why?)</a:t>
            </a:r>
          </a:p>
          <a:p>
            <a:pPr>
              <a:defRPr b="1"/>
            </a:pPr>
            <a:endParaRPr dirty="0"/>
          </a:p>
          <a:p>
            <a:r>
              <a:rPr dirty="0"/>
              <a:t>prefetch tradeoffs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effective only if </a:t>
            </a:r>
            <a:r>
              <a:rPr b="1" dirty="0"/>
              <a:t>accurate</a:t>
            </a:r>
            <a:r>
              <a:rPr dirty="0"/>
              <a:t> and </a:t>
            </a:r>
            <a:r>
              <a:rPr b="1" dirty="0"/>
              <a:t>timely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if not, wastes valuable memory bandwidth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rPr dirty="0"/>
              <a:t>real prefetchers turn off if ineffective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6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5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5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5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5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" grpId="0" build="p" animBg="1" advAuto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Stream buffer</a:t>
            </a:r>
          </a:p>
        </p:txBody>
      </p:sp>
      <p:sp>
        <p:nvSpPr>
          <p:cNvPr id="564" name="Content Placeholder 20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7772400" cy="5334000"/>
          </a:xfrm>
          <a:prstGeom prst="rect">
            <a:avLst/>
          </a:prstGeom>
        </p:spPr>
        <p:txBody>
          <a:bodyPr/>
          <a:lstStyle/>
          <a:p>
            <a:r>
              <a:t>IDEA: buffer sequential </a:t>
            </a:r>
            <a:r>
              <a:rPr b="1"/>
              <a:t>access stream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t>maybe several buffers for multiple streams</a:t>
            </a:r>
          </a:p>
          <a:p>
            <a:endParaRPr/>
          </a:p>
          <a:p>
            <a:r>
              <a:t>if hit in stream buffer, move to $, prefetch next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what is the problem w/ this?</a:t>
            </a:r>
          </a:p>
        </p:txBody>
      </p:sp>
      <p:grpSp>
        <p:nvGrpSpPr>
          <p:cNvPr id="580" name="Group 1"/>
          <p:cNvGrpSpPr/>
          <p:nvPr/>
        </p:nvGrpSpPr>
        <p:grpSpPr>
          <a:xfrm>
            <a:off x="3341687" y="3725753"/>
            <a:ext cx="3048001" cy="1752601"/>
            <a:chOff x="0" y="0"/>
            <a:chExt cx="3048000" cy="1752600"/>
          </a:xfrm>
        </p:grpSpPr>
        <p:grpSp>
          <p:nvGrpSpPr>
            <p:cNvPr id="567" name="Rectangle 5"/>
            <p:cNvGrpSpPr/>
            <p:nvPr/>
          </p:nvGrpSpPr>
          <p:grpSpPr>
            <a:xfrm>
              <a:off x="-1" y="609600"/>
              <a:ext cx="1752601" cy="1143000"/>
              <a:chOff x="0" y="0"/>
              <a:chExt cx="1752600" cy="1143000"/>
            </a:xfrm>
          </p:grpSpPr>
          <p:sp>
            <p:nvSpPr>
              <p:cNvPr id="565" name="Rectangle"/>
              <p:cNvSpPr/>
              <p:nvPr/>
            </p:nvSpPr>
            <p:spPr>
              <a:xfrm>
                <a:off x="0" y="0"/>
                <a:ext cx="1752600" cy="1143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4">
                      <a:lumOff val="28974"/>
                    </a:schemeClr>
                  </a:gs>
                  <a:gs pos="35000">
                    <a:srgbClr val="CFCFCF"/>
                  </a:gs>
                  <a:gs pos="100000">
                    <a:schemeClr val="accent4">
                      <a:lumOff val="48879"/>
                    </a:schemeClr>
                  </a:gs>
                </a:gsLst>
                <a:lin ang="162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000">
                    <a:latin typeface="+mj-lt"/>
                    <a:ea typeface="+mj-ea"/>
                    <a:cs typeface="+mj-cs"/>
                    <a:sym typeface="Arial"/>
                  </a:defRPr>
                </a:pPr>
                <a:endParaRPr kumimoji="0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L1$"/>
              <p:cNvSpPr txBox="1"/>
              <p:nvPr/>
            </p:nvSpPr>
            <p:spPr>
              <a:xfrm>
                <a:off x="612335" y="383884"/>
                <a:ext cx="527930" cy="3752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2000"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L1$</a:t>
                </a:r>
              </a:p>
            </p:txBody>
          </p:sp>
        </p:grpSp>
        <p:sp>
          <p:nvSpPr>
            <p:cNvPr id="568" name="Rectangle 6"/>
            <p:cNvSpPr/>
            <p:nvPr/>
          </p:nvSpPr>
          <p:spPr>
            <a:xfrm>
              <a:off x="2286000" y="609600"/>
              <a:ext cx="457200" cy="15240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600">
                  <a:latin typeface="+mj-lt"/>
                  <a:ea typeface="+mj-ea"/>
                  <a:cs typeface="+mj-cs"/>
                  <a:sym typeface="Arial"/>
                </a:defRPr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9" name="Rectangle 7"/>
            <p:cNvSpPr/>
            <p:nvPr/>
          </p:nvSpPr>
          <p:spPr>
            <a:xfrm>
              <a:off x="2743200" y="609600"/>
              <a:ext cx="304800" cy="15240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600">
                  <a:latin typeface="+mj-lt"/>
                  <a:ea typeface="+mj-ea"/>
                  <a:cs typeface="+mj-cs"/>
                  <a:sym typeface="Arial"/>
                </a:defRPr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0" name="Rectangle 8"/>
            <p:cNvSpPr/>
            <p:nvPr/>
          </p:nvSpPr>
          <p:spPr>
            <a:xfrm>
              <a:off x="2286000" y="762000"/>
              <a:ext cx="457200" cy="15240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600">
                  <a:latin typeface="+mj-lt"/>
                  <a:ea typeface="+mj-ea"/>
                  <a:cs typeface="+mj-cs"/>
                  <a:sym typeface="Arial"/>
                </a:defRPr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1" name="Rectangle 9"/>
            <p:cNvSpPr/>
            <p:nvPr/>
          </p:nvSpPr>
          <p:spPr>
            <a:xfrm>
              <a:off x="2743200" y="762000"/>
              <a:ext cx="304800" cy="15240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600">
                  <a:latin typeface="+mj-lt"/>
                  <a:ea typeface="+mj-ea"/>
                  <a:cs typeface="+mj-cs"/>
                  <a:sym typeface="Arial"/>
                </a:defRPr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2" name="Rectangle 10"/>
            <p:cNvSpPr/>
            <p:nvPr/>
          </p:nvSpPr>
          <p:spPr>
            <a:xfrm>
              <a:off x="2286000" y="914400"/>
              <a:ext cx="457200" cy="15240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600">
                  <a:latin typeface="+mj-lt"/>
                  <a:ea typeface="+mj-ea"/>
                  <a:cs typeface="+mj-cs"/>
                  <a:sym typeface="Arial"/>
                </a:defRPr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3" name="Rectangle 11"/>
            <p:cNvSpPr/>
            <p:nvPr/>
          </p:nvSpPr>
          <p:spPr>
            <a:xfrm>
              <a:off x="2743200" y="914400"/>
              <a:ext cx="304800" cy="15240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600">
                  <a:latin typeface="+mj-lt"/>
                  <a:ea typeface="+mj-ea"/>
                  <a:cs typeface="+mj-cs"/>
                  <a:sym typeface="Arial"/>
                </a:defRPr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4" name="Rectangle 12"/>
            <p:cNvSpPr/>
            <p:nvPr/>
          </p:nvSpPr>
          <p:spPr>
            <a:xfrm>
              <a:off x="2286000" y="1066800"/>
              <a:ext cx="457200" cy="15240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600">
                  <a:latin typeface="+mj-lt"/>
                  <a:ea typeface="+mj-ea"/>
                  <a:cs typeface="+mj-cs"/>
                  <a:sym typeface="Arial"/>
                </a:defRPr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5" name="Rectangle 13"/>
            <p:cNvSpPr/>
            <p:nvPr/>
          </p:nvSpPr>
          <p:spPr>
            <a:xfrm>
              <a:off x="2743200" y="1066800"/>
              <a:ext cx="304800" cy="15240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Off val="28974"/>
                  </a:schemeClr>
                </a:gs>
                <a:gs pos="35000">
                  <a:srgbClr val="CFCFCF"/>
                </a:gs>
                <a:gs pos="100000">
                  <a:schemeClr val="accent4">
                    <a:lumOff val="48879"/>
                  </a:schemeClr>
                </a:gs>
              </a:gsLst>
              <a:lin ang="162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600">
                  <a:latin typeface="+mj-lt"/>
                  <a:ea typeface="+mj-ea"/>
                  <a:cs typeface="+mj-cs"/>
                  <a:sym typeface="Arial"/>
                </a:defRPr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6" name="Line 14"/>
            <p:cNvSpPr/>
            <p:nvPr/>
          </p:nvSpPr>
          <p:spPr>
            <a:xfrm>
              <a:off x="914400" y="228600"/>
              <a:ext cx="0" cy="38100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  <p:sp>
          <p:nvSpPr>
            <p:cNvPr id="577" name="Line 15"/>
            <p:cNvSpPr/>
            <p:nvPr/>
          </p:nvSpPr>
          <p:spPr>
            <a:xfrm>
              <a:off x="2590800" y="228600"/>
              <a:ext cx="0" cy="38100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  <p:sp>
          <p:nvSpPr>
            <p:cNvPr id="578" name="Line 16"/>
            <p:cNvSpPr/>
            <p:nvPr/>
          </p:nvSpPr>
          <p:spPr>
            <a:xfrm>
              <a:off x="914400" y="228600"/>
              <a:ext cx="1676400" cy="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  <p:sp>
          <p:nvSpPr>
            <p:cNvPr id="579" name="Line 17"/>
            <p:cNvSpPr/>
            <p:nvPr/>
          </p:nvSpPr>
          <p:spPr>
            <a:xfrm>
              <a:off x="1752600" y="-1"/>
              <a:ext cx="0" cy="22860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5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" grpId="0" build="p" animBg="1" advAuto="0"/>
      <p:bldP spid="580" grpId="0" animBg="1" advAuto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Stride prefetcher</a:t>
            </a:r>
          </a:p>
        </p:txBody>
      </p:sp>
      <p:grpSp>
        <p:nvGrpSpPr>
          <p:cNvPr id="630" name="Group 44"/>
          <p:cNvGrpSpPr/>
          <p:nvPr/>
        </p:nvGrpSpPr>
        <p:grpSpPr>
          <a:xfrm>
            <a:off x="21907" y="3822701"/>
            <a:ext cx="9197114" cy="3040832"/>
            <a:chOff x="0" y="0"/>
            <a:chExt cx="9197112" cy="3040830"/>
          </a:xfrm>
        </p:grpSpPr>
        <p:grpSp>
          <p:nvGrpSpPr>
            <p:cNvPr id="611" name="Group 41"/>
            <p:cNvGrpSpPr/>
            <p:nvPr/>
          </p:nvGrpSpPr>
          <p:grpSpPr>
            <a:xfrm>
              <a:off x="4955118" y="0"/>
              <a:ext cx="4241995" cy="3040831"/>
              <a:chOff x="0" y="0"/>
              <a:chExt cx="4241994" cy="3040830"/>
            </a:xfrm>
          </p:grpSpPr>
          <p:grpSp>
            <p:nvGrpSpPr>
              <p:cNvPr id="585" name="Oval 38"/>
              <p:cNvGrpSpPr/>
              <p:nvPr/>
            </p:nvGrpSpPr>
            <p:grpSpPr>
              <a:xfrm>
                <a:off x="647919" y="115222"/>
                <a:ext cx="644221" cy="644221"/>
                <a:chOff x="0" y="0"/>
                <a:chExt cx="644220" cy="644220"/>
              </a:xfrm>
            </p:grpSpPr>
            <p:sp>
              <p:nvSpPr>
                <p:cNvPr id="583" name="Circle"/>
                <p:cNvSpPr/>
                <p:nvPr/>
              </p:nvSpPr>
              <p:spPr>
                <a:xfrm>
                  <a:off x="-1" y="-1"/>
                  <a:ext cx="644222" cy="64422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4">
                        <a:lumOff val="28974"/>
                      </a:schemeClr>
                    </a:gs>
                    <a:gs pos="35000">
                      <a:srgbClr val="CFCFCF"/>
                    </a:gs>
                    <a:gs pos="100000">
                      <a:schemeClr val="accent4">
                        <a:lumOff val="48879"/>
                      </a:schemeClr>
                    </a:gs>
                  </a:gsLst>
                  <a:lin ang="16200000" scaled="0"/>
                </a:gra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200"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 kumimoji="0" sz="3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84" name="init"/>
                <p:cNvSpPr txBox="1"/>
                <p:nvPr/>
              </p:nvSpPr>
              <p:spPr>
                <a:xfrm>
                  <a:off x="140162" y="165413"/>
                  <a:ext cx="363896" cy="3133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600">
                      <a:latin typeface="+mj-lt"/>
                      <a:ea typeface="+mj-ea"/>
                      <a:cs typeface="+mj-cs"/>
                      <a:sym typeface="Arial"/>
                    </a:defRPr>
                  </a:lvl1pPr>
                </a:lstStyle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rPr>
                    <a:t>init</a:t>
                  </a:r>
                </a:p>
              </p:txBody>
            </p:sp>
          </p:grpSp>
          <p:grpSp>
            <p:nvGrpSpPr>
              <p:cNvPr id="588" name="Oval 39"/>
              <p:cNvGrpSpPr/>
              <p:nvPr/>
            </p:nvGrpSpPr>
            <p:grpSpPr>
              <a:xfrm>
                <a:off x="647919" y="1983461"/>
                <a:ext cx="644221" cy="644221"/>
                <a:chOff x="0" y="0"/>
                <a:chExt cx="644220" cy="644220"/>
              </a:xfrm>
            </p:grpSpPr>
            <p:sp>
              <p:nvSpPr>
                <p:cNvPr id="586" name="Circle"/>
                <p:cNvSpPr/>
                <p:nvPr/>
              </p:nvSpPr>
              <p:spPr>
                <a:xfrm>
                  <a:off x="-1" y="-1"/>
                  <a:ext cx="644222" cy="64422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4">
                        <a:lumOff val="28974"/>
                      </a:schemeClr>
                    </a:gs>
                    <a:gs pos="35000">
                      <a:srgbClr val="CFCFCF"/>
                    </a:gs>
                    <a:gs pos="100000">
                      <a:schemeClr val="accent4">
                        <a:lumOff val="48879"/>
                      </a:schemeClr>
                    </a:gs>
                  </a:gsLst>
                  <a:lin ang="16200000" scaled="0"/>
                </a:gra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200"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 kumimoji="0" sz="3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87" name="trans"/>
                <p:cNvSpPr txBox="1"/>
                <p:nvPr/>
              </p:nvSpPr>
              <p:spPr>
                <a:xfrm>
                  <a:off x="44168" y="165413"/>
                  <a:ext cx="555884" cy="3133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600">
                      <a:latin typeface="+mj-lt"/>
                      <a:ea typeface="+mj-ea"/>
                      <a:cs typeface="+mj-cs"/>
                      <a:sym typeface="Arial"/>
                    </a:defRPr>
                  </a:lvl1pPr>
                </a:lstStyle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rPr>
                    <a:t>trans</a:t>
                  </a:r>
                </a:p>
              </p:txBody>
            </p:sp>
          </p:grpSp>
          <p:grpSp>
            <p:nvGrpSpPr>
              <p:cNvPr id="591" name="Oval 40"/>
              <p:cNvGrpSpPr/>
              <p:nvPr/>
            </p:nvGrpSpPr>
            <p:grpSpPr>
              <a:xfrm>
                <a:off x="2422433" y="115222"/>
                <a:ext cx="702827" cy="644221"/>
                <a:chOff x="0" y="0"/>
                <a:chExt cx="702825" cy="644220"/>
              </a:xfrm>
            </p:grpSpPr>
            <p:sp>
              <p:nvSpPr>
                <p:cNvPr id="589" name="Circle"/>
                <p:cNvSpPr/>
                <p:nvPr/>
              </p:nvSpPr>
              <p:spPr>
                <a:xfrm>
                  <a:off x="29302" y="0"/>
                  <a:ext cx="644221" cy="64422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satOff val="12620"/>
                        <a:lumOff val="38430"/>
                      </a:schemeClr>
                    </a:gs>
                    <a:gs pos="35000">
                      <a:srgbClr val="C1C1EF"/>
                    </a:gs>
                    <a:gs pos="100000">
                      <a:schemeClr val="accent2">
                        <a:satOff val="15213"/>
                        <a:lumOff val="54179"/>
                      </a:schemeClr>
                    </a:gs>
                  </a:gsLst>
                  <a:lin ang="16200000" scaled="0"/>
                </a:gradFill>
                <a:ln w="9525" cap="flat">
                  <a:solidFill>
                    <a:srgbClr val="2F2F98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200"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 kumimoji="0" sz="3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90" name="steady"/>
                <p:cNvSpPr txBox="1"/>
                <p:nvPr/>
              </p:nvSpPr>
              <p:spPr>
                <a:xfrm>
                  <a:off x="0" y="165413"/>
                  <a:ext cx="702826" cy="3133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600">
                      <a:latin typeface="+mj-lt"/>
                      <a:ea typeface="+mj-ea"/>
                      <a:cs typeface="+mj-cs"/>
                      <a:sym typeface="Arial"/>
                    </a:defRPr>
                  </a:lvl1pPr>
                </a:lstStyle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rPr>
                    <a:t>steady</a:t>
                  </a:r>
                </a:p>
              </p:txBody>
            </p:sp>
          </p:grpSp>
          <p:grpSp>
            <p:nvGrpSpPr>
              <p:cNvPr id="594" name="Oval 41"/>
              <p:cNvGrpSpPr/>
              <p:nvPr/>
            </p:nvGrpSpPr>
            <p:grpSpPr>
              <a:xfrm>
                <a:off x="2371584" y="1983461"/>
                <a:ext cx="804526" cy="644221"/>
                <a:chOff x="0" y="0"/>
                <a:chExt cx="804525" cy="644220"/>
              </a:xfrm>
            </p:grpSpPr>
            <p:sp>
              <p:nvSpPr>
                <p:cNvPr id="592" name="Circle"/>
                <p:cNvSpPr/>
                <p:nvPr/>
              </p:nvSpPr>
              <p:spPr>
                <a:xfrm>
                  <a:off x="80152" y="0"/>
                  <a:ext cx="644221" cy="64422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4">
                        <a:lumOff val="28974"/>
                      </a:schemeClr>
                    </a:gs>
                    <a:gs pos="35000">
                      <a:srgbClr val="CFCFCF"/>
                    </a:gs>
                    <a:gs pos="100000">
                      <a:schemeClr val="accent4">
                        <a:lumOff val="48879"/>
                      </a:schemeClr>
                    </a:gs>
                  </a:gsLst>
                  <a:lin ang="16200000" scaled="0"/>
                </a:gra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600">
                      <a:latin typeface="+mj-lt"/>
                      <a:ea typeface="+mj-ea"/>
                      <a:cs typeface="+mj-cs"/>
                      <a:sym typeface="Arial"/>
                    </a:defRPr>
                  </a:pPr>
                  <a:endPara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3" name="no-pred"/>
                <p:cNvSpPr txBox="1"/>
                <p:nvPr/>
              </p:nvSpPr>
              <p:spPr>
                <a:xfrm>
                  <a:off x="-1" y="165413"/>
                  <a:ext cx="804527" cy="3133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600">
                      <a:latin typeface="+mj-lt"/>
                      <a:ea typeface="+mj-ea"/>
                      <a:cs typeface="+mj-cs"/>
                      <a:sym typeface="Arial"/>
                    </a:defRPr>
                  </a:lvl1pPr>
                </a:lstStyle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rPr>
                    <a:t>no-pred</a:t>
                  </a:r>
                </a:p>
              </p:txBody>
            </p:sp>
          </p:grpSp>
          <p:sp>
            <p:nvSpPr>
              <p:cNvPr id="595" name="Line 42"/>
              <p:cNvSpPr/>
              <p:nvPr/>
            </p:nvSpPr>
            <p:spPr>
              <a:xfrm>
                <a:off x="1356561" y="566176"/>
                <a:ext cx="1030753" cy="1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596" name="Line 43"/>
              <p:cNvSpPr/>
              <p:nvPr/>
            </p:nvSpPr>
            <p:spPr>
              <a:xfrm flipH="1" flipV="1">
                <a:off x="1356562" y="308488"/>
                <a:ext cx="1030753" cy="1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597" name="Line 44"/>
              <p:cNvSpPr/>
              <p:nvPr/>
            </p:nvSpPr>
            <p:spPr>
              <a:xfrm flipH="1">
                <a:off x="970029" y="823865"/>
                <a:ext cx="1" cy="1095175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598" name="Line 45"/>
              <p:cNvSpPr/>
              <p:nvPr/>
            </p:nvSpPr>
            <p:spPr>
              <a:xfrm flipV="1">
                <a:off x="1163295" y="695020"/>
                <a:ext cx="1352864" cy="1352864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599" name="Line 46"/>
              <p:cNvSpPr/>
              <p:nvPr/>
            </p:nvSpPr>
            <p:spPr>
              <a:xfrm>
                <a:off x="1356561" y="2434416"/>
                <a:ext cx="1030753" cy="1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600" name="Line 47"/>
              <p:cNvSpPr/>
              <p:nvPr/>
            </p:nvSpPr>
            <p:spPr>
              <a:xfrm flipH="1">
                <a:off x="1356562" y="2176727"/>
                <a:ext cx="1030753" cy="1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  <p:sp>
            <p:nvSpPr>
              <p:cNvPr id="601" name="Freeform 48"/>
              <p:cNvSpPr/>
              <p:nvPr/>
            </p:nvSpPr>
            <p:spPr>
              <a:xfrm>
                <a:off x="3031535" y="244066"/>
                <a:ext cx="324192" cy="3989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38" h="21120" extrusionOk="0">
                    <a:moveTo>
                      <a:pt x="4181" y="0"/>
                    </a:moveTo>
                    <a:cubicBezTo>
                      <a:pt x="9058" y="568"/>
                      <a:pt x="13935" y="1137"/>
                      <a:pt x="16723" y="3411"/>
                    </a:cubicBezTo>
                    <a:cubicBezTo>
                      <a:pt x="19510" y="5684"/>
                      <a:pt x="21600" y="10800"/>
                      <a:pt x="20903" y="13642"/>
                    </a:cubicBezTo>
                    <a:cubicBezTo>
                      <a:pt x="20206" y="16484"/>
                      <a:pt x="16026" y="19326"/>
                      <a:pt x="12542" y="20463"/>
                    </a:cubicBezTo>
                    <a:cubicBezTo>
                      <a:pt x="9058" y="21600"/>
                      <a:pt x="4529" y="21032"/>
                      <a:pt x="0" y="20463"/>
                    </a:cubicBezTo>
                  </a:path>
                </a:pathLst>
              </a:cu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+mj-lt"/>
                    <a:ea typeface="+mj-ea"/>
                    <a:cs typeface="+mj-cs"/>
                    <a:sym typeface="Arial"/>
                  </a:defRPr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Freeform 49"/>
              <p:cNvSpPr/>
              <p:nvPr/>
            </p:nvSpPr>
            <p:spPr>
              <a:xfrm>
                <a:off x="3031535" y="2112305"/>
                <a:ext cx="324192" cy="3989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38" h="21120" extrusionOk="0">
                    <a:moveTo>
                      <a:pt x="4181" y="0"/>
                    </a:moveTo>
                    <a:cubicBezTo>
                      <a:pt x="9058" y="568"/>
                      <a:pt x="13935" y="1137"/>
                      <a:pt x="16723" y="3411"/>
                    </a:cubicBezTo>
                    <a:cubicBezTo>
                      <a:pt x="19510" y="5684"/>
                      <a:pt x="21600" y="10800"/>
                      <a:pt x="20903" y="13642"/>
                    </a:cubicBezTo>
                    <a:cubicBezTo>
                      <a:pt x="20206" y="16484"/>
                      <a:pt x="16026" y="19326"/>
                      <a:pt x="12542" y="20463"/>
                    </a:cubicBezTo>
                    <a:cubicBezTo>
                      <a:pt x="9058" y="21600"/>
                      <a:pt x="4529" y="21032"/>
                      <a:pt x="0" y="20463"/>
                    </a:cubicBezTo>
                  </a:path>
                </a:pathLst>
              </a:cu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+mj-lt"/>
                    <a:ea typeface="+mj-ea"/>
                    <a:cs typeface="+mj-cs"/>
                    <a:sym typeface="Arial"/>
                  </a:defRPr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Text Box 50"/>
              <p:cNvSpPr txBox="1"/>
              <p:nvPr/>
            </p:nvSpPr>
            <p:spPr>
              <a:xfrm>
                <a:off x="1531126" y="0"/>
                <a:ext cx="883305" cy="3133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incorrect</a:t>
                </a:r>
              </a:p>
            </p:txBody>
          </p:sp>
          <p:sp>
            <p:nvSpPr>
              <p:cNvPr id="604" name="Text Box 51"/>
              <p:cNvSpPr txBox="1"/>
              <p:nvPr/>
            </p:nvSpPr>
            <p:spPr>
              <a:xfrm>
                <a:off x="1531126" y="501754"/>
                <a:ext cx="725151" cy="3133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correct</a:t>
                </a:r>
              </a:p>
            </p:txBody>
          </p:sp>
          <p:sp>
            <p:nvSpPr>
              <p:cNvPr id="605" name="Text Box 52"/>
              <p:cNvSpPr txBox="1"/>
              <p:nvPr/>
            </p:nvSpPr>
            <p:spPr>
              <a:xfrm>
                <a:off x="1088275" y="2369994"/>
                <a:ext cx="1414325" cy="5419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600"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incorrect</a:t>
                </a:r>
                <a:endParaRPr kumimoji="0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600"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(update stride)</a:t>
                </a:r>
              </a:p>
            </p:txBody>
          </p:sp>
          <p:sp>
            <p:nvSpPr>
              <p:cNvPr id="606" name="Text Box 53"/>
              <p:cNvSpPr txBox="1"/>
              <p:nvPr/>
            </p:nvSpPr>
            <p:spPr>
              <a:xfrm>
                <a:off x="1595548" y="1855540"/>
                <a:ext cx="725151" cy="3133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correct</a:t>
                </a:r>
              </a:p>
            </p:txBody>
          </p:sp>
          <p:sp>
            <p:nvSpPr>
              <p:cNvPr id="607" name="Text Box 54"/>
              <p:cNvSpPr txBox="1"/>
              <p:nvPr/>
            </p:nvSpPr>
            <p:spPr>
              <a:xfrm>
                <a:off x="1788814" y="1274819"/>
                <a:ext cx="725151" cy="3133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correct</a:t>
                </a:r>
              </a:p>
            </p:txBody>
          </p:sp>
          <p:sp>
            <p:nvSpPr>
              <p:cNvPr id="608" name="Text Box 55"/>
              <p:cNvSpPr txBox="1"/>
              <p:nvPr/>
            </p:nvSpPr>
            <p:spPr>
              <a:xfrm>
                <a:off x="2883989" y="630598"/>
                <a:ext cx="725151" cy="3133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correct</a:t>
                </a:r>
              </a:p>
            </p:txBody>
          </p:sp>
          <p:sp>
            <p:nvSpPr>
              <p:cNvPr id="609" name="Text Box 56"/>
              <p:cNvSpPr txBox="1"/>
              <p:nvPr/>
            </p:nvSpPr>
            <p:spPr>
              <a:xfrm>
                <a:off x="-1" y="952709"/>
                <a:ext cx="883306" cy="7705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600"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incorrect</a:t>
                </a:r>
                <a:endParaRPr kumimoji="0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600"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(update</a:t>
                </a:r>
                <a:endParaRPr kumimoji="0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600"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stride)</a:t>
                </a:r>
              </a:p>
            </p:txBody>
          </p:sp>
          <p:sp>
            <p:nvSpPr>
              <p:cNvPr id="610" name="Text Box 57"/>
              <p:cNvSpPr txBox="1"/>
              <p:nvPr/>
            </p:nvSpPr>
            <p:spPr>
              <a:xfrm>
                <a:off x="2827671" y="2498838"/>
                <a:ext cx="1414324" cy="5419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600"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incorrect</a:t>
                </a:r>
                <a:endParaRPr kumimoji="0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600"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(update stride)</a:t>
                </a:r>
              </a:p>
            </p:txBody>
          </p:sp>
        </p:grpSp>
        <p:grpSp>
          <p:nvGrpSpPr>
            <p:cNvPr id="629" name="Group 42"/>
            <p:cNvGrpSpPr/>
            <p:nvPr/>
          </p:nvGrpSpPr>
          <p:grpSpPr>
            <a:xfrm>
              <a:off x="0" y="262730"/>
              <a:ext cx="4542155" cy="1284288"/>
              <a:chOff x="0" y="0"/>
              <a:chExt cx="4542155" cy="1284287"/>
            </a:xfrm>
          </p:grpSpPr>
          <p:grpSp>
            <p:nvGrpSpPr>
              <p:cNvPr id="614" name="Rectangle 71"/>
              <p:cNvGrpSpPr/>
              <p:nvPr/>
            </p:nvGrpSpPr>
            <p:grpSpPr>
              <a:xfrm>
                <a:off x="960755" y="29871"/>
                <a:ext cx="609601" cy="375232"/>
                <a:chOff x="0" y="0"/>
                <a:chExt cx="609600" cy="375230"/>
              </a:xfrm>
            </p:grpSpPr>
            <p:sp>
              <p:nvSpPr>
                <p:cNvPr id="612" name="Rectangle"/>
                <p:cNvSpPr/>
                <p:nvPr/>
              </p:nvSpPr>
              <p:spPr>
                <a:xfrm>
                  <a:off x="0" y="35215"/>
                  <a:ext cx="609600" cy="304801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Off val="28974"/>
                      </a:schemeClr>
                    </a:gs>
                    <a:gs pos="35000">
                      <a:srgbClr val="CFCFCF"/>
                    </a:gs>
                    <a:gs pos="100000">
                      <a:schemeClr val="accent4">
                        <a:lumOff val="48879"/>
                      </a:schemeClr>
                    </a:gs>
                  </a:gsLst>
                  <a:lin ang="16200000" scaled="0"/>
                </a:gra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200"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 kumimoji="0" sz="3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613" name="tag"/>
                <p:cNvSpPr txBox="1"/>
                <p:nvPr/>
              </p:nvSpPr>
              <p:spPr>
                <a:xfrm>
                  <a:off x="76182" y="0"/>
                  <a:ext cx="457236" cy="37523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2000">
                      <a:latin typeface="+mj-lt"/>
                      <a:ea typeface="+mj-ea"/>
                      <a:cs typeface="+mj-cs"/>
                      <a:sym typeface="Arial"/>
                    </a:defRPr>
                  </a:lvl1pPr>
                </a:lstStyle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rPr>
                    <a:t>tag</a:t>
                  </a:r>
                </a:p>
              </p:txBody>
            </p:sp>
          </p:grpSp>
          <p:grpSp>
            <p:nvGrpSpPr>
              <p:cNvPr id="617" name="Rectangle 72"/>
              <p:cNvGrpSpPr/>
              <p:nvPr/>
            </p:nvGrpSpPr>
            <p:grpSpPr>
              <a:xfrm>
                <a:off x="1556012" y="29871"/>
                <a:ext cx="1247886" cy="375232"/>
                <a:chOff x="0" y="0"/>
                <a:chExt cx="1247884" cy="375230"/>
              </a:xfrm>
            </p:grpSpPr>
            <p:sp>
              <p:nvSpPr>
                <p:cNvPr id="615" name="Rectangle"/>
                <p:cNvSpPr/>
                <p:nvPr/>
              </p:nvSpPr>
              <p:spPr>
                <a:xfrm>
                  <a:off x="14342" y="35215"/>
                  <a:ext cx="1219201" cy="304801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Off val="28974"/>
                      </a:schemeClr>
                    </a:gs>
                    <a:gs pos="35000">
                      <a:srgbClr val="CFCFCF"/>
                    </a:gs>
                    <a:gs pos="100000">
                      <a:schemeClr val="accent4">
                        <a:lumOff val="48879"/>
                      </a:schemeClr>
                    </a:gs>
                  </a:gsLst>
                  <a:lin ang="16200000" scaled="0"/>
                </a:gra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200"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 kumimoji="0" sz="3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616" name="prev_addr"/>
                <p:cNvSpPr txBox="1"/>
                <p:nvPr/>
              </p:nvSpPr>
              <p:spPr>
                <a:xfrm>
                  <a:off x="-1" y="0"/>
                  <a:ext cx="1247886" cy="37523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2000">
                      <a:latin typeface="+mj-lt"/>
                      <a:ea typeface="+mj-ea"/>
                      <a:cs typeface="+mj-cs"/>
                      <a:sym typeface="Arial"/>
                    </a:defRPr>
                  </a:lvl1pPr>
                </a:lstStyle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rPr>
                    <a:t>prev_addr</a:t>
                  </a:r>
                </a:p>
              </p:txBody>
            </p:sp>
          </p:grpSp>
          <p:grpSp>
            <p:nvGrpSpPr>
              <p:cNvPr id="620" name="Rectangle 73"/>
              <p:cNvGrpSpPr/>
              <p:nvPr/>
            </p:nvGrpSpPr>
            <p:grpSpPr>
              <a:xfrm>
                <a:off x="2789555" y="29871"/>
                <a:ext cx="990601" cy="375232"/>
                <a:chOff x="0" y="0"/>
                <a:chExt cx="990600" cy="375230"/>
              </a:xfrm>
            </p:grpSpPr>
            <p:sp>
              <p:nvSpPr>
                <p:cNvPr id="618" name="Rectangle"/>
                <p:cNvSpPr/>
                <p:nvPr/>
              </p:nvSpPr>
              <p:spPr>
                <a:xfrm>
                  <a:off x="0" y="35215"/>
                  <a:ext cx="990600" cy="304801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Off val="28974"/>
                      </a:schemeClr>
                    </a:gs>
                    <a:gs pos="35000">
                      <a:srgbClr val="CFCFCF"/>
                    </a:gs>
                    <a:gs pos="100000">
                      <a:schemeClr val="accent4">
                        <a:lumOff val="48879"/>
                      </a:schemeClr>
                    </a:gs>
                  </a:gsLst>
                  <a:lin ang="16200000" scaled="0"/>
                </a:gra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200"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 kumimoji="0" sz="3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619" name="stride"/>
                <p:cNvSpPr txBox="1"/>
                <p:nvPr/>
              </p:nvSpPr>
              <p:spPr>
                <a:xfrm>
                  <a:off x="132675" y="0"/>
                  <a:ext cx="725250" cy="37523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2000">
                      <a:latin typeface="+mj-lt"/>
                      <a:ea typeface="+mj-ea"/>
                      <a:cs typeface="+mj-cs"/>
                      <a:sym typeface="Arial"/>
                    </a:defRPr>
                  </a:lvl1pPr>
                </a:lstStyle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rPr>
                    <a:t>stride</a:t>
                  </a:r>
                </a:p>
              </p:txBody>
            </p:sp>
          </p:grpSp>
          <p:grpSp>
            <p:nvGrpSpPr>
              <p:cNvPr id="623" name="Rectangle 74"/>
              <p:cNvGrpSpPr/>
              <p:nvPr/>
            </p:nvGrpSpPr>
            <p:grpSpPr>
              <a:xfrm>
                <a:off x="3780154" y="29871"/>
                <a:ext cx="762001" cy="375232"/>
                <a:chOff x="0" y="0"/>
                <a:chExt cx="762000" cy="375230"/>
              </a:xfrm>
            </p:grpSpPr>
            <p:sp>
              <p:nvSpPr>
                <p:cNvPr id="621" name="Rectangle"/>
                <p:cNvSpPr/>
                <p:nvPr/>
              </p:nvSpPr>
              <p:spPr>
                <a:xfrm>
                  <a:off x="0" y="35215"/>
                  <a:ext cx="762000" cy="304801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Off val="28974"/>
                      </a:schemeClr>
                    </a:gs>
                    <a:gs pos="35000">
                      <a:srgbClr val="CFCFCF"/>
                    </a:gs>
                    <a:gs pos="100000">
                      <a:schemeClr val="accent4">
                        <a:lumOff val="48879"/>
                      </a:schemeClr>
                    </a:gs>
                  </a:gsLst>
                  <a:lin ang="16200000" scaled="0"/>
                </a:gra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200"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 kumimoji="0" sz="3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622" name="state"/>
                <p:cNvSpPr txBox="1"/>
                <p:nvPr/>
              </p:nvSpPr>
              <p:spPr>
                <a:xfrm>
                  <a:off x="53597" y="0"/>
                  <a:ext cx="654806" cy="37523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2000">
                      <a:latin typeface="+mj-lt"/>
                      <a:ea typeface="+mj-ea"/>
                      <a:cs typeface="+mj-cs"/>
                      <a:sym typeface="Arial"/>
                    </a:defRPr>
                  </a:lvl1pPr>
                </a:lstStyle>
                <a:p>
                  <a:pPr marL="0" marR="0" lvl="0" indent="0" algn="ctr" defTabSz="91440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rPr>
                    <a:t>state</a:t>
                  </a:r>
                </a:p>
              </p:txBody>
            </p:sp>
          </p:grpSp>
          <p:sp>
            <p:nvSpPr>
              <p:cNvPr id="624" name="Rectangle 75"/>
              <p:cNvSpPr/>
              <p:nvPr/>
            </p:nvSpPr>
            <p:spPr>
              <a:xfrm>
                <a:off x="960755" y="369887"/>
                <a:ext cx="3581401" cy="30480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4">
                      <a:lumOff val="28974"/>
                    </a:schemeClr>
                  </a:gs>
                  <a:gs pos="35000">
                    <a:srgbClr val="CFCFCF"/>
                  </a:gs>
                  <a:gs pos="100000">
                    <a:schemeClr val="accent4">
                      <a:lumOff val="48879"/>
                    </a:schemeClr>
                  </a:gs>
                </a:gsLst>
                <a:lin ang="162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600">
                    <a:latin typeface="+mj-lt"/>
                    <a:ea typeface="+mj-ea"/>
                    <a:cs typeface="+mj-cs"/>
                    <a:sym typeface="Arial"/>
                  </a:defRPr>
                </a:pPr>
                <a:endParaRPr kumimoji="0" sz="3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Rectangle 76"/>
              <p:cNvSpPr/>
              <p:nvPr/>
            </p:nvSpPr>
            <p:spPr>
              <a:xfrm>
                <a:off x="960755" y="674687"/>
                <a:ext cx="3581401" cy="30480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4">
                      <a:lumOff val="28974"/>
                    </a:schemeClr>
                  </a:gs>
                  <a:gs pos="35000">
                    <a:srgbClr val="CFCFCF"/>
                  </a:gs>
                  <a:gs pos="100000">
                    <a:schemeClr val="accent4">
                      <a:lumOff val="48879"/>
                    </a:schemeClr>
                  </a:gs>
                </a:gsLst>
                <a:lin ang="162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600">
                    <a:latin typeface="+mj-lt"/>
                    <a:ea typeface="+mj-ea"/>
                    <a:cs typeface="+mj-cs"/>
                    <a:sym typeface="Arial"/>
                  </a:defRPr>
                </a:pPr>
                <a:endParaRPr kumimoji="0" sz="3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Rectangle 77"/>
              <p:cNvSpPr/>
              <p:nvPr/>
            </p:nvSpPr>
            <p:spPr>
              <a:xfrm>
                <a:off x="960755" y="979487"/>
                <a:ext cx="3581401" cy="30480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4">
                      <a:lumOff val="28974"/>
                    </a:schemeClr>
                  </a:gs>
                  <a:gs pos="35000">
                    <a:srgbClr val="CFCFCF"/>
                  </a:gs>
                  <a:gs pos="100000">
                    <a:schemeClr val="accent4">
                      <a:lumOff val="48879"/>
                    </a:schemeClr>
                  </a:gs>
                </a:gsLst>
                <a:lin ang="162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600">
                    <a:latin typeface="+mj-lt"/>
                    <a:ea typeface="+mj-ea"/>
                    <a:cs typeface="+mj-cs"/>
                    <a:sym typeface="Arial"/>
                  </a:defRPr>
                </a:pPr>
                <a:endParaRPr kumimoji="0" sz="3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Text Box 78"/>
              <p:cNvSpPr txBox="1"/>
              <p:nvPr/>
            </p:nvSpPr>
            <p:spPr>
              <a:xfrm>
                <a:off x="0" y="0"/>
                <a:ext cx="456987" cy="3752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2000"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PC</a:t>
                </a:r>
              </a:p>
            </p:txBody>
          </p:sp>
          <p:sp>
            <p:nvSpPr>
              <p:cNvPr id="628" name="Line 79"/>
              <p:cNvSpPr/>
              <p:nvPr/>
            </p:nvSpPr>
            <p:spPr>
              <a:xfrm>
                <a:off x="427354" y="217486"/>
                <a:ext cx="457201" cy="1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sym typeface="Comic Sans MS"/>
                </a:endParaRPr>
              </a:p>
            </p:txBody>
          </p:sp>
        </p:grpSp>
      </p:grpSp>
      <p:sp>
        <p:nvSpPr>
          <p:cNvPr id="631" name="Content Placeholder 20"/>
          <p:cNvSpPr txBox="1"/>
          <p:nvPr/>
        </p:nvSpPr>
        <p:spPr>
          <a:xfrm>
            <a:off x="731519" y="1244602"/>
            <a:ext cx="7680961" cy="2265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marR="0" lvl="0" indent="-34290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>
                <a:latin typeface="+mj-lt"/>
                <a:ea typeface="+mj-ea"/>
                <a:cs typeface="+mj-cs"/>
                <a:sym typeface="Arial"/>
              </a:defRPr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observation: accesses may not be adjacent</a:t>
            </a: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multiple access streams w/ different </a:t>
            </a: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strides</a:t>
            </a: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>
                <a:latin typeface="+mj-lt"/>
                <a:ea typeface="+mj-ea"/>
                <a:cs typeface="+mj-cs"/>
                <a:sym typeface="Arial"/>
              </a:defRPr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IDEA: track prev addr, stride, correctness</a:t>
            </a: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if predictions confirmed, keep prefetching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" grpId="0" animBg="1" advAuto="0"/>
      <p:bldP spid="631" grpId="0" build="p" bldLvl="5" animBg="1" advAuto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Title 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t>Stride prefetcher example (one PC)</a:t>
            </a:r>
          </a:p>
        </p:txBody>
      </p:sp>
      <p:grpSp>
        <p:nvGrpSpPr>
          <p:cNvPr id="662" name="Group 4"/>
          <p:cNvGrpSpPr/>
          <p:nvPr/>
        </p:nvGrpSpPr>
        <p:grpSpPr>
          <a:xfrm>
            <a:off x="4977027" y="3822701"/>
            <a:ext cx="4241996" cy="3040832"/>
            <a:chOff x="0" y="0"/>
            <a:chExt cx="4241994" cy="3040830"/>
          </a:xfrm>
        </p:grpSpPr>
        <p:grpSp>
          <p:nvGrpSpPr>
            <p:cNvPr id="636" name="Oval 38"/>
            <p:cNvGrpSpPr/>
            <p:nvPr/>
          </p:nvGrpSpPr>
          <p:grpSpPr>
            <a:xfrm>
              <a:off x="647919" y="115222"/>
              <a:ext cx="644221" cy="644221"/>
              <a:chOff x="0" y="0"/>
              <a:chExt cx="644220" cy="644220"/>
            </a:xfrm>
          </p:grpSpPr>
          <p:sp>
            <p:nvSpPr>
              <p:cNvPr id="634" name="Circle"/>
              <p:cNvSpPr/>
              <p:nvPr/>
            </p:nvSpPr>
            <p:spPr>
              <a:xfrm>
                <a:off x="-1" y="-1"/>
                <a:ext cx="644222" cy="644222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Off val="28974"/>
                    </a:schemeClr>
                  </a:gs>
                  <a:gs pos="35000">
                    <a:srgbClr val="CFCFCF"/>
                  </a:gs>
                  <a:gs pos="100000">
                    <a:schemeClr val="accent4">
                      <a:lumOff val="48879"/>
                    </a:schemeClr>
                  </a:gs>
                </a:gsLst>
                <a:lin ang="162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2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 kumimoji="0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5" name="init"/>
              <p:cNvSpPr txBox="1"/>
              <p:nvPr/>
            </p:nvSpPr>
            <p:spPr>
              <a:xfrm>
                <a:off x="140162" y="165413"/>
                <a:ext cx="363896" cy="3133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600"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init</a:t>
                </a:r>
              </a:p>
            </p:txBody>
          </p:sp>
        </p:grpSp>
        <p:grpSp>
          <p:nvGrpSpPr>
            <p:cNvPr id="639" name="Oval 39"/>
            <p:cNvGrpSpPr/>
            <p:nvPr/>
          </p:nvGrpSpPr>
          <p:grpSpPr>
            <a:xfrm>
              <a:off x="647919" y="1983461"/>
              <a:ext cx="644221" cy="644221"/>
              <a:chOff x="0" y="0"/>
              <a:chExt cx="644220" cy="644220"/>
            </a:xfrm>
          </p:grpSpPr>
          <p:sp>
            <p:nvSpPr>
              <p:cNvPr id="637" name="Circle"/>
              <p:cNvSpPr/>
              <p:nvPr/>
            </p:nvSpPr>
            <p:spPr>
              <a:xfrm>
                <a:off x="-1" y="-1"/>
                <a:ext cx="644222" cy="644222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Off val="28974"/>
                    </a:schemeClr>
                  </a:gs>
                  <a:gs pos="35000">
                    <a:srgbClr val="CFCFCF"/>
                  </a:gs>
                  <a:gs pos="100000">
                    <a:schemeClr val="accent4">
                      <a:lumOff val="48879"/>
                    </a:schemeClr>
                  </a:gs>
                </a:gsLst>
                <a:lin ang="162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2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 kumimoji="0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8" name="trans"/>
              <p:cNvSpPr txBox="1"/>
              <p:nvPr/>
            </p:nvSpPr>
            <p:spPr>
              <a:xfrm>
                <a:off x="44168" y="165413"/>
                <a:ext cx="555884" cy="3133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600"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trans</a:t>
                </a:r>
              </a:p>
            </p:txBody>
          </p:sp>
        </p:grpSp>
        <p:grpSp>
          <p:nvGrpSpPr>
            <p:cNvPr id="642" name="Oval 40"/>
            <p:cNvGrpSpPr/>
            <p:nvPr/>
          </p:nvGrpSpPr>
          <p:grpSpPr>
            <a:xfrm>
              <a:off x="2422433" y="115222"/>
              <a:ext cx="702827" cy="644221"/>
              <a:chOff x="0" y="0"/>
              <a:chExt cx="702825" cy="644220"/>
            </a:xfrm>
          </p:grpSpPr>
          <p:sp>
            <p:nvSpPr>
              <p:cNvPr id="640" name="Circle"/>
              <p:cNvSpPr/>
              <p:nvPr/>
            </p:nvSpPr>
            <p:spPr>
              <a:xfrm>
                <a:off x="29302" y="0"/>
                <a:ext cx="644221" cy="644221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satOff val="12620"/>
                      <a:lumOff val="38430"/>
                    </a:schemeClr>
                  </a:gs>
                  <a:gs pos="35000">
                    <a:srgbClr val="C1C1EF"/>
                  </a:gs>
                  <a:gs pos="100000">
                    <a:schemeClr val="accent2">
                      <a:satOff val="15213"/>
                      <a:lumOff val="54179"/>
                    </a:schemeClr>
                  </a:gs>
                </a:gsLst>
                <a:lin ang="16200000" scaled="0"/>
              </a:gradFill>
              <a:ln w="9525" cap="flat">
                <a:solidFill>
                  <a:srgbClr val="2F2F98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2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 kumimoji="0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41" name="steady"/>
              <p:cNvSpPr txBox="1"/>
              <p:nvPr/>
            </p:nvSpPr>
            <p:spPr>
              <a:xfrm>
                <a:off x="0" y="165413"/>
                <a:ext cx="702826" cy="3133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600"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steady</a:t>
                </a:r>
              </a:p>
            </p:txBody>
          </p:sp>
        </p:grpSp>
        <p:grpSp>
          <p:nvGrpSpPr>
            <p:cNvPr id="645" name="Oval 41"/>
            <p:cNvGrpSpPr/>
            <p:nvPr/>
          </p:nvGrpSpPr>
          <p:grpSpPr>
            <a:xfrm>
              <a:off x="2371584" y="1983461"/>
              <a:ext cx="804526" cy="644221"/>
              <a:chOff x="0" y="0"/>
              <a:chExt cx="804525" cy="644220"/>
            </a:xfrm>
          </p:grpSpPr>
          <p:sp>
            <p:nvSpPr>
              <p:cNvPr id="643" name="Circle"/>
              <p:cNvSpPr/>
              <p:nvPr/>
            </p:nvSpPr>
            <p:spPr>
              <a:xfrm>
                <a:off x="80152" y="0"/>
                <a:ext cx="644221" cy="644221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Off val="28974"/>
                    </a:schemeClr>
                  </a:gs>
                  <a:gs pos="35000">
                    <a:srgbClr val="CFCFCF"/>
                  </a:gs>
                  <a:gs pos="100000">
                    <a:schemeClr val="accent4">
                      <a:lumOff val="48879"/>
                    </a:schemeClr>
                  </a:gs>
                </a:gsLst>
                <a:lin ang="162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600">
                    <a:latin typeface="+mj-lt"/>
                    <a:ea typeface="+mj-ea"/>
                    <a:cs typeface="+mj-cs"/>
                    <a:sym typeface="Arial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no-pred"/>
              <p:cNvSpPr txBox="1"/>
              <p:nvPr/>
            </p:nvSpPr>
            <p:spPr>
              <a:xfrm>
                <a:off x="-1" y="165413"/>
                <a:ext cx="804527" cy="3133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600">
                    <a:latin typeface="+mj-lt"/>
                    <a:ea typeface="+mj-ea"/>
                    <a:cs typeface="+mj-cs"/>
                    <a:sym typeface="Arial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no-pred</a:t>
                </a:r>
              </a:p>
            </p:txBody>
          </p:sp>
        </p:grpSp>
        <p:sp>
          <p:nvSpPr>
            <p:cNvPr id="646" name="Line 42"/>
            <p:cNvSpPr/>
            <p:nvPr/>
          </p:nvSpPr>
          <p:spPr>
            <a:xfrm>
              <a:off x="1356561" y="566176"/>
              <a:ext cx="1030753" cy="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  <p:sp>
          <p:nvSpPr>
            <p:cNvPr id="647" name="Line 43"/>
            <p:cNvSpPr/>
            <p:nvPr/>
          </p:nvSpPr>
          <p:spPr>
            <a:xfrm flipH="1" flipV="1">
              <a:off x="1356562" y="308488"/>
              <a:ext cx="1030753" cy="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  <p:sp>
          <p:nvSpPr>
            <p:cNvPr id="648" name="Line 44"/>
            <p:cNvSpPr/>
            <p:nvPr/>
          </p:nvSpPr>
          <p:spPr>
            <a:xfrm flipH="1">
              <a:off x="970029" y="823865"/>
              <a:ext cx="1" cy="1095175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  <p:sp>
          <p:nvSpPr>
            <p:cNvPr id="649" name="Line 45"/>
            <p:cNvSpPr/>
            <p:nvPr/>
          </p:nvSpPr>
          <p:spPr>
            <a:xfrm flipV="1">
              <a:off x="1163295" y="695020"/>
              <a:ext cx="1352864" cy="1352864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  <p:sp>
          <p:nvSpPr>
            <p:cNvPr id="650" name="Line 46"/>
            <p:cNvSpPr/>
            <p:nvPr/>
          </p:nvSpPr>
          <p:spPr>
            <a:xfrm>
              <a:off x="1356561" y="2434416"/>
              <a:ext cx="1030753" cy="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  <p:sp>
          <p:nvSpPr>
            <p:cNvPr id="651" name="Line 47"/>
            <p:cNvSpPr/>
            <p:nvPr/>
          </p:nvSpPr>
          <p:spPr>
            <a:xfrm flipH="1">
              <a:off x="1356562" y="2176727"/>
              <a:ext cx="1030753" cy="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sym typeface="Comic Sans MS"/>
              </a:endParaRPr>
            </a:p>
          </p:txBody>
        </p:sp>
        <p:sp>
          <p:nvSpPr>
            <p:cNvPr id="652" name="Freeform 48"/>
            <p:cNvSpPr/>
            <p:nvPr/>
          </p:nvSpPr>
          <p:spPr>
            <a:xfrm>
              <a:off x="3031535" y="244066"/>
              <a:ext cx="324192" cy="3989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8" h="21120" extrusionOk="0">
                  <a:moveTo>
                    <a:pt x="4181" y="0"/>
                  </a:moveTo>
                  <a:cubicBezTo>
                    <a:pt x="9058" y="568"/>
                    <a:pt x="13935" y="1137"/>
                    <a:pt x="16723" y="3411"/>
                  </a:cubicBezTo>
                  <a:cubicBezTo>
                    <a:pt x="19510" y="5684"/>
                    <a:pt x="21600" y="10800"/>
                    <a:pt x="20903" y="13642"/>
                  </a:cubicBezTo>
                  <a:cubicBezTo>
                    <a:pt x="20206" y="16484"/>
                    <a:pt x="16026" y="19326"/>
                    <a:pt x="12542" y="20463"/>
                  </a:cubicBezTo>
                  <a:cubicBezTo>
                    <a:pt x="9058" y="21600"/>
                    <a:pt x="4529" y="21032"/>
                    <a:pt x="0" y="20463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53" name="Freeform 49"/>
            <p:cNvSpPr/>
            <p:nvPr/>
          </p:nvSpPr>
          <p:spPr>
            <a:xfrm>
              <a:off x="3031535" y="2112305"/>
              <a:ext cx="324192" cy="3989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8" h="21120" extrusionOk="0">
                  <a:moveTo>
                    <a:pt x="4181" y="0"/>
                  </a:moveTo>
                  <a:cubicBezTo>
                    <a:pt x="9058" y="568"/>
                    <a:pt x="13935" y="1137"/>
                    <a:pt x="16723" y="3411"/>
                  </a:cubicBezTo>
                  <a:cubicBezTo>
                    <a:pt x="19510" y="5684"/>
                    <a:pt x="21600" y="10800"/>
                    <a:pt x="20903" y="13642"/>
                  </a:cubicBezTo>
                  <a:cubicBezTo>
                    <a:pt x="20206" y="16484"/>
                    <a:pt x="16026" y="19326"/>
                    <a:pt x="12542" y="20463"/>
                  </a:cubicBezTo>
                  <a:cubicBezTo>
                    <a:pt x="9058" y="21600"/>
                    <a:pt x="4529" y="21032"/>
                    <a:pt x="0" y="20463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54" name="Text Box 50"/>
            <p:cNvSpPr txBox="1"/>
            <p:nvPr/>
          </p:nvSpPr>
          <p:spPr>
            <a:xfrm>
              <a:off x="1531126" y="0"/>
              <a:ext cx="883305" cy="3133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incorrect</a:t>
              </a:r>
            </a:p>
          </p:txBody>
        </p:sp>
        <p:sp>
          <p:nvSpPr>
            <p:cNvPr id="655" name="Text Box 51"/>
            <p:cNvSpPr txBox="1"/>
            <p:nvPr/>
          </p:nvSpPr>
          <p:spPr>
            <a:xfrm>
              <a:off x="1531126" y="501754"/>
              <a:ext cx="725151" cy="3133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correct</a:t>
              </a:r>
            </a:p>
          </p:txBody>
        </p:sp>
        <p:sp>
          <p:nvSpPr>
            <p:cNvPr id="656" name="Text Box 52"/>
            <p:cNvSpPr txBox="1"/>
            <p:nvPr/>
          </p:nvSpPr>
          <p:spPr>
            <a:xfrm>
              <a:off x="1088275" y="2369994"/>
              <a:ext cx="1414325" cy="541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incorrect</a:t>
              </a: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(update stride)</a:t>
              </a:r>
            </a:p>
          </p:txBody>
        </p:sp>
        <p:sp>
          <p:nvSpPr>
            <p:cNvPr id="657" name="Text Box 53"/>
            <p:cNvSpPr txBox="1"/>
            <p:nvPr/>
          </p:nvSpPr>
          <p:spPr>
            <a:xfrm>
              <a:off x="1595548" y="1855540"/>
              <a:ext cx="725151" cy="3133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correct</a:t>
              </a:r>
            </a:p>
          </p:txBody>
        </p:sp>
        <p:sp>
          <p:nvSpPr>
            <p:cNvPr id="658" name="Text Box 54"/>
            <p:cNvSpPr txBox="1"/>
            <p:nvPr/>
          </p:nvSpPr>
          <p:spPr>
            <a:xfrm>
              <a:off x="1788814" y="1274819"/>
              <a:ext cx="725151" cy="3133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correct</a:t>
              </a:r>
            </a:p>
          </p:txBody>
        </p:sp>
        <p:sp>
          <p:nvSpPr>
            <p:cNvPr id="659" name="Text Box 55"/>
            <p:cNvSpPr txBox="1"/>
            <p:nvPr/>
          </p:nvSpPr>
          <p:spPr>
            <a:xfrm>
              <a:off x="2883989" y="630598"/>
              <a:ext cx="725151" cy="3133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correct</a:t>
              </a:r>
            </a:p>
          </p:txBody>
        </p:sp>
        <p:sp>
          <p:nvSpPr>
            <p:cNvPr id="660" name="Text Box 56"/>
            <p:cNvSpPr txBox="1"/>
            <p:nvPr/>
          </p:nvSpPr>
          <p:spPr>
            <a:xfrm>
              <a:off x="-1" y="952709"/>
              <a:ext cx="883306" cy="770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incorrect</a:t>
              </a: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(update</a:t>
              </a: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stride)</a:t>
              </a:r>
            </a:p>
          </p:txBody>
        </p:sp>
        <p:sp>
          <p:nvSpPr>
            <p:cNvPr id="661" name="Text Box 57"/>
            <p:cNvSpPr txBox="1"/>
            <p:nvPr/>
          </p:nvSpPr>
          <p:spPr>
            <a:xfrm>
              <a:off x="2827671" y="2498838"/>
              <a:ext cx="1414324" cy="541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incorrect</a:t>
              </a: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>
                  <a:latin typeface="+mj-lt"/>
                  <a:ea typeface="+mj-ea"/>
                  <a:cs typeface="+mj-cs"/>
                  <a:sym typeface="Arial"/>
                </a:defRPr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(update stride)</a:t>
              </a:r>
            </a:p>
          </p:txBody>
        </p:sp>
      </p:grpSp>
      <p:sp>
        <p:nvSpPr>
          <p:cNvPr id="663" name="TextBox 37"/>
          <p:cNvSpPr txBox="1"/>
          <p:nvPr/>
        </p:nvSpPr>
        <p:spPr>
          <a:xfrm>
            <a:off x="344571" y="2765289"/>
            <a:ext cx="4473289" cy="792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u="sng"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prev  stride	state	     prefetch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	0	init	     —</a:t>
            </a:r>
          </a:p>
        </p:txBody>
      </p:sp>
      <p:sp>
        <p:nvSpPr>
          <p:cNvPr id="664" name="Rectangle 38"/>
          <p:cNvSpPr txBox="1"/>
          <p:nvPr/>
        </p:nvSpPr>
        <p:spPr>
          <a:xfrm>
            <a:off x="366311" y="3532642"/>
            <a:ext cx="3575558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4	4	trans	     —</a:t>
            </a:r>
          </a:p>
        </p:txBody>
      </p:sp>
      <p:sp>
        <p:nvSpPr>
          <p:cNvPr id="665" name="Rectangle 39"/>
          <p:cNvSpPr txBox="1"/>
          <p:nvPr/>
        </p:nvSpPr>
        <p:spPr>
          <a:xfrm>
            <a:off x="366312" y="3994308"/>
            <a:ext cx="3576449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8	4	</a:t>
            </a: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steady    </a:t>
            </a: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12</a:t>
            </a:r>
          </a:p>
        </p:txBody>
      </p:sp>
      <p:sp>
        <p:nvSpPr>
          <p:cNvPr id="666" name="Rectangle 46"/>
          <p:cNvSpPr txBox="1"/>
          <p:nvPr/>
        </p:nvSpPr>
        <p:spPr>
          <a:xfrm>
            <a:off x="361963" y="4421018"/>
            <a:ext cx="3576450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12	4	</a:t>
            </a: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steady    </a:t>
            </a: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16</a:t>
            </a:r>
          </a:p>
        </p:txBody>
      </p:sp>
      <p:sp>
        <p:nvSpPr>
          <p:cNvPr id="667" name="Rectangle 47"/>
          <p:cNvSpPr txBox="1"/>
          <p:nvPr/>
        </p:nvSpPr>
        <p:spPr>
          <a:xfrm>
            <a:off x="357615" y="4847728"/>
            <a:ext cx="3576450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16	4	</a:t>
            </a: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steady    </a:t>
            </a: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20</a:t>
            </a:r>
          </a:p>
        </p:txBody>
      </p:sp>
      <p:sp>
        <p:nvSpPr>
          <p:cNvPr id="668" name="Rectangle 48"/>
          <p:cNvSpPr txBox="1"/>
          <p:nvPr/>
        </p:nvSpPr>
        <p:spPr>
          <a:xfrm>
            <a:off x="353267" y="5274438"/>
            <a:ext cx="3575557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10	4	init	     —</a:t>
            </a:r>
          </a:p>
        </p:txBody>
      </p:sp>
      <p:sp>
        <p:nvSpPr>
          <p:cNvPr id="669" name="Rectangle 49"/>
          <p:cNvSpPr txBox="1"/>
          <p:nvPr/>
        </p:nvSpPr>
        <p:spPr>
          <a:xfrm>
            <a:off x="348919" y="5701148"/>
            <a:ext cx="3575557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20	10	trans	     —</a:t>
            </a:r>
          </a:p>
        </p:txBody>
      </p:sp>
      <p:sp>
        <p:nvSpPr>
          <p:cNvPr id="670" name="Rectangle 50"/>
          <p:cNvSpPr txBox="1"/>
          <p:nvPr/>
        </p:nvSpPr>
        <p:spPr>
          <a:xfrm>
            <a:off x="344571" y="6127858"/>
            <a:ext cx="3491767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30	10	</a:t>
            </a: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steady   </a:t>
            </a: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40</a:t>
            </a:r>
          </a:p>
        </p:txBody>
      </p:sp>
      <p:sp>
        <p:nvSpPr>
          <p:cNvPr id="671" name="TextBox 58"/>
          <p:cNvSpPr txBox="1"/>
          <p:nvPr/>
        </p:nvSpPr>
        <p:spPr>
          <a:xfrm>
            <a:off x="327750" y="1072572"/>
            <a:ext cx="8795406" cy="1503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 stride prefetcher has an FSM and is initialized as shown below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observed access sequence is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			4, 8, 12, 16, 10, 20, 30, 40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many will be prefetched? How many are correct/incorrect?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" grpId="0" animBg="1" advAuto="0"/>
      <p:bldP spid="665" grpId="0" animBg="1" advAuto="0"/>
      <p:bldP spid="666" grpId="0" animBg="1" advAuto="0"/>
      <p:bldP spid="667" grpId="0" animBg="1" advAuto="0"/>
      <p:bldP spid="668" grpId="0" animBg="1" advAuto="0"/>
      <p:bldP spid="669" grpId="0" animBg="1" advAuto="0"/>
      <p:bldP spid="670" grpId="0" animBg="1" advAuto="0"/>
    </p:bld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ＭＳ Ｐゴシック"/>
        <a:cs typeface="ＭＳ Ｐゴシック"/>
      </a:majorFont>
      <a:minorFont>
        <a:latin typeface="Comic Sans MS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6" charset="-52"/>
            <a:ea typeface="ＭＳ Ｐゴシック" pitchFamily="-106" charset="-128"/>
            <a:cs typeface="ＭＳ Ｐゴシック" pitchFamily="-106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6" charset="-52"/>
            <a:ea typeface="ＭＳ Ｐゴシック" pitchFamily="-106" charset="-128"/>
            <a:cs typeface="ＭＳ Ｐゴシック" pitchFamily="-106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Blank Presenta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B1842"/>
      </a:accent1>
      <a:accent2>
        <a:srgbClr val="333399"/>
      </a:accent2>
      <a:accent3>
        <a:srgbClr val="8F8F8F"/>
      </a:accent3>
      <a:accent4>
        <a:srgbClr val="707070"/>
      </a:accent4>
      <a:accent5>
        <a:srgbClr val="7A4ED5"/>
      </a:accent5>
      <a:accent6>
        <a:srgbClr val="2D2D8A"/>
      </a:accent6>
      <a:hlink>
        <a:srgbClr val="0000FF"/>
      </a:hlink>
      <a:folHlink>
        <a:srgbClr val="FF00FF"/>
      </a:folHlink>
    </a:clrScheme>
    <a:fontScheme name="Blank Presentation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Blank Present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omic Sans MS"/>
            <a:ea typeface="Comic Sans MS"/>
            <a:cs typeface="Comic Sans MS"/>
            <a:sym typeface="Comic Sans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omic Sans MS"/>
            <a:ea typeface="Comic Sans MS"/>
            <a:cs typeface="Comic Sans MS"/>
            <a:sym typeface="Comic Sans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81608</TotalTime>
  <Words>5224</Words>
  <Application>Microsoft Macintosh PowerPoint</Application>
  <PresentationFormat>On-screen Show (4:3)</PresentationFormat>
  <Paragraphs>1096</Paragraphs>
  <Slides>75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90" baseType="lpstr">
      <vt:lpstr>Arial</vt:lpstr>
      <vt:lpstr>Arial  </vt:lpstr>
      <vt:lpstr>Cambria Math</vt:lpstr>
      <vt:lpstr>Comic Sans MS</vt:lpstr>
      <vt:lpstr>Consolas</vt:lpstr>
      <vt:lpstr>Courier New</vt:lpstr>
      <vt:lpstr>Geneva</vt:lpstr>
      <vt:lpstr>Helvetica</vt:lpstr>
      <vt:lpstr>Inconsolata</vt:lpstr>
      <vt:lpstr>Marker Felt</vt:lpstr>
      <vt:lpstr>Times New Roman</vt:lpstr>
      <vt:lpstr>Wingdings</vt:lpstr>
      <vt:lpstr>Blank Presentation</vt:lpstr>
      <vt:lpstr>1_Blank Presentation</vt:lpstr>
      <vt:lpstr>Equation</vt:lpstr>
      <vt:lpstr>CPEN 411: Computer Architecture  Slide Set 6:  Caches and Prefetching </vt:lpstr>
      <vt:lpstr>How to Design “Memory” Blocks? </vt:lpstr>
      <vt:lpstr>PowerPoint Presentation</vt:lpstr>
      <vt:lpstr>Fundamental Problem</vt:lpstr>
      <vt:lpstr>The Memory Wall</vt:lpstr>
      <vt:lpstr>Solution: Memory Hierarchy</vt:lpstr>
      <vt:lpstr>What do real programs do?</vt:lpstr>
      <vt:lpstr>A Silly Locality Analogy</vt:lpstr>
      <vt:lpstr>Temporal Locality</vt:lpstr>
      <vt:lpstr>Exploiting Temporal Locality</vt:lpstr>
      <vt:lpstr>How is data transferred?</vt:lpstr>
      <vt:lpstr>Hardware managed cache design</vt:lpstr>
      <vt:lpstr>Example</vt:lpstr>
      <vt:lpstr>Example, continued…</vt:lpstr>
      <vt:lpstr>Example, continued</vt:lpstr>
      <vt:lpstr>Example, continued</vt:lpstr>
      <vt:lpstr>Example, continued</vt:lpstr>
      <vt:lpstr>Question</vt:lpstr>
      <vt:lpstr>Solution</vt:lpstr>
      <vt:lpstr>Problem with this design</vt:lpstr>
      <vt:lpstr>Spatial Locality</vt:lpstr>
      <vt:lpstr>Exploiting Spatial Locality</vt:lpstr>
      <vt:lpstr>Cache Blocks (Cache Lines)</vt:lpstr>
      <vt:lpstr>Modified Cache Design</vt:lpstr>
      <vt:lpstr>Block Size Impact on Tag</vt:lpstr>
      <vt:lpstr>Question</vt:lpstr>
      <vt:lpstr>Example, revisited (FLDS F3, [R2]) </vt:lpstr>
      <vt:lpstr>Multiple words in block</vt:lpstr>
      <vt:lpstr>Solution: Block Offset</vt:lpstr>
      <vt:lpstr>Solution: Block Offset</vt:lpstr>
      <vt:lpstr>Question</vt:lpstr>
      <vt:lpstr>Example, revisited</vt:lpstr>
      <vt:lpstr>What if cache is full?</vt:lpstr>
      <vt:lpstr>Which block gets evicted?</vt:lpstr>
      <vt:lpstr>How to predict?</vt:lpstr>
      <vt:lpstr>Reuse Distance (Definition)</vt:lpstr>
      <vt:lpstr>Reuse distance measurement</vt:lpstr>
      <vt:lpstr>Replacement Policy (RP)</vt:lpstr>
      <vt:lpstr>Random Replacement</vt:lpstr>
      <vt:lpstr>Natural Selection Analogy</vt:lpstr>
      <vt:lpstr>Least Recently Used (LRU)</vt:lpstr>
      <vt:lpstr>Tree-based Pseudo LRU</vt:lpstr>
      <vt:lpstr>Question</vt:lpstr>
      <vt:lpstr>Fully Associative Implementation</vt:lpstr>
      <vt:lpstr>Problem with Fully Associative</vt:lpstr>
      <vt:lpstr>Direct Mapped Cache</vt:lpstr>
      <vt:lpstr>Direct Mapped Cache</vt:lpstr>
      <vt:lpstr>Direct Mapped Cache</vt:lpstr>
      <vt:lpstr>Problem: Conflict Misses</vt:lpstr>
      <vt:lpstr>Set Associative Cache</vt:lpstr>
      <vt:lpstr>Set Associative Cache</vt:lpstr>
      <vt:lpstr>Question</vt:lpstr>
      <vt:lpstr>Solution</vt:lpstr>
      <vt:lpstr>Victim cache</vt:lpstr>
      <vt:lpstr>What happens on a write? Cache Writing Policies</vt:lpstr>
      <vt:lpstr>Writes that hit in the cache</vt:lpstr>
      <vt:lpstr>Write Misses  (how are they handled by hardware?)</vt:lpstr>
      <vt:lpstr>Writes that miss in the cache</vt:lpstr>
      <vt:lpstr>Two points about reads and writes</vt:lpstr>
      <vt:lpstr>Counter-Intuitive Case 1: Load instruction may cause Writes</vt:lpstr>
      <vt:lpstr>Counter-Intuitive Case 2: Store instruction may cause Reads</vt:lpstr>
      <vt:lpstr>   Write Buffers for Write-Through Caches</vt:lpstr>
      <vt:lpstr>Evictions in a cache hierarchy</vt:lpstr>
      <vt:lpstr>PowerPoint Presentation</vt:lpstr>
      <vt:lpstr>Performance / Multilevel Caches</vt:lpstr>
      <vt:lpstr>Example Problem</vt:lpstr>
      <vt:lpstr>Solution</vt:lpstr>
      <vt:lpstr>Solution, Continued…</vt:lpstr>
      <vt:lpstr>Solution, Continued…</vt:lpstr>
      <vt:lpstr>Lockup-free caches</vt:lpstr>
      <vt:lpstr>Question</vt:lpstr>
      <vt:lpstr>Prefetching</vt:lpstr>
      <vt:lpstr>Stream buffer</vt:lpstr>
      <vt:lpstr>Stride prefetcher</vt:lpstr>
      <vt:lpstr>Stride prefetcher example (one PC)</vt:lpstr>
    </vt:vector>
  </TitlesOfParts>
  <Company>Tor M. Aamodt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</dc:title>
  <dc:creator>Tor</dc:creator>
  <cp:lastModifiedBy>Tor Aamodt</cp:lastModifiedBy>
  <cp:revision>581</cp:revision>
  <cp:lastPrinted>2008-11-03T07:07:04Z</cp:lastPrinted>
  <dcterms:created xsi:type="dcterms:W3CDTF">2009-09-03T20:28:18Z</dcterms:created>
  <dcterms:modified xsi:type="dcterms:W3CDTF">2025-09-17T05:13:44Z</dcterms:modified>
</cp:coreProperties>
</file>