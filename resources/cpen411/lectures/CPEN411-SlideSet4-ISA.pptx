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handoutMasterIdLst>
    <p:handoutMasterId r:id="rId26"/>
  </p:handoutMasterIdLst>
  <p:sldIdLst>
    <p:sldId id="341" r:id="rId2"/>
    <p:sldId id="293" r:id="rId3"/>
    <p:sldId id="296" r:id="rId4"/>
    <p:sldId id="303" r:id="rId5"/>
    <p:sldId id="304" r:id="rId6"/>
    <p:sldId id="298" r:id="rId7"/>
    <p:sldId id="299" r:id="rId8"/>
    <p:sldId id="301" r:id="rId9"/>
    <p:sldId id="302" r:id="rId10"/>
    <p:sldId id="300" r:id="rId11"/>
    <p:sldId id="311" r:id="rId12"/>
    <p:sldId id="312" r:id="rId13"/>
    <p:sldId id="313" r:id="rId14"/>
    <p:sldId id="314" r:id="rId15"/>
    <p:sldId id="315" r:id="rId16"/>
    <p:sldId id="344" r:id="rId17"/>
    <p:sldId id="320" r:id="rId18"/>
    <p:sldId id="321" r:id="rId19"/>
    <p:sldId id="331" r:id="rId20"/>
    <p:sldId id="332" r:id="rId21"/>
    <p:sldId id="333" r:id="rId22"/>
    <p:sldId id="334" r:id="rId23"/>
    <p:sldId id="335" r:id="rId24"/>
  </p:sldIdLst>
  <p:sldSz cx="9144000" cy="6858000" type="screen4x3"/>
  <p:notesSz cx="6858000" cy="92964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893"/>
    <p:restoredTop sz="96301" autoAdjust="0"/>
  </p:normalViewPr>
  <p:slideViewPr>
    <p:cSldViewPr snapToGrid="0">
      <p:cViewPr varScale="1">
        <p:scale>
          <a:sx n="113" d="100"/>
          <a:sy n="113" d="100"/>
        </p:scale>
        <p:origin x="1656" y="4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10098"/>
    </p:cViewPr>
  </p:sorterViewPr>
  <p:notesViewPr>
    <p:cSldViewPr snapToGrid="0">
      <p:cViewPr varScale="1">
        <p:scale>
          <a:sx n="60" d="100"/>
          <a:sy n="60" d="100"/>
        </p:scale>
        <p:origin x="-2478" y="-78"/>
      </p:cViewPr>
      <p:guideLst>
        <p:guide orient="horz" pos="2928"/>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8A29E3-FD93-D853-A236-36FE0393AC25}"/>
              </a:ext>
            </a:extLst>
          </p:cNvPr>
          <p:cNvSpPr>
            <a:spLocks noGrp="1"/>
          </p:cNvSpPr>
          <p:nvPr>
            <p:ph type="hdr" sz="quarter"/>
          </p:nvPr>
        </p:nvSpPr>
        <p:spPr>
          <a:xfrm>
            <a:off x="0" y="0"/>
            <a:ext cx="2971800" cy="465138"/>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 name="Footer Placeholder 3">
            <a:extLst>
              <a:ext uri="{FF2B5EF4-FFF2-40B4-BE49-F238E27FC236}">
                <a16:creationId xmlns:a16="http://schemas.microsoft.com/office/drawing/2014/main" id="{7EE4D539-A60A-506F-80E6-A2E001298C5C}"/>
              </a:ext>
            </a:extLst>
          </p:cNvPr>
          <p:cNvSpPr>
            <a:spLocks noGrp="1"/>
          </p:cNvSpPr>
          <p:nvPr>
            <p:ph type="ftr" sz="quarter" idx="2"/>
          </p:nvPr>
        </p:nvSpPr>
        <p:spPr>
          <a:xfrm>
            <a:off x="0" y="8829675"/>
            <a:ext cx="2971800" cy="465138"/>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 name="Slide Number Placeholder 4">
            <a:extLst>
              <a:ext uri="{FF2B5EF4-FFF2-40B4-BE49-F238E27FC236}">
                <a16:creationId xmlns:a16="http://schemas.microsoft.com/office/drawing/2014/main" id="{243E24DA-EE62-0279-6692-D2F56F0704AF}"/>
              </a:ext>
            </a:extLst>
          </p:cNvPr>
          <p:cNvSpPr>
            <a:spLocks noGrp="1"/>
          </p:cNvSpPr>
          <p:nvPr>
            <p:ph type="sldNum" sz="quarter" idx="3"/>
          </p:nvPr>
        </p:nvSpPr>
        <p:spPr>
          <a:xfrm>
            <a:off x="3884613" y="8829675"/>
            <a:ext cx="2971800" cy="465138"/>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7B6F710F-2205-2345-9716-AFDD2198D91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D92E058-604E-6CD9-3214-A8C778C1F2CA}"/>
              </a:ext>
            </a:extLst>
          </p:cNvPr>
          <p:cNvSpPr>
            <a:spLocks noGrp="1" noChangeArrowheads="1"/>
          </p:cNvSpPr>
          <p:nvPr>
            <p:ph type="hdr" sz="quarter"/>
          </p:nvPr>
        </p:nvSpPr>
        <p:spPr bwMode="auto">
          <a:xfrm>
            <a:off x="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171" name="Rectangle 3">
            <a:extLst>
              <a:ext uri="{FF2B5EF4-FFF2-40B4-BE49-F238E27FC236}">
                <a16:creationId xmlns:a16="http://schemas.microsoft.com/office/drawing/2014/main" id="{9643F315-E6A1-78B4-D31B-8AB77B0EF484}"/>
              </a:ext>
            </a:extLst>
          </p:cNvPr>
          <p:cNvSpPr>
            <a:spLocks noGrp="1" noChangeArrowheads="1"/>
          </p:cNvSpPr>
          <p:nvPr>
            <p:ph type="dt" idx="1"/>
          </p:nvPr>
        </p:nvSpPr>
        <p:spPr bwMode="auto">
          <a:xfrm>
            <a:off x="388620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3316" name="Rectangle 4">
            <a:extLst>
              <a:ext uri="{FF2B5EF4-FFF2-40B4-BE49-F238E27FC236}">
                <a16:creationId xmlns:a16="http://schemas.microsoft.com/office/drawing/2014/main" id="{BD5021FF-01BB-DF4A-AFDB-98CCDEF53FD3}"/>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a:extLst>
              <a:ext uri="{FF2B5EF4-FFF2-40B4-BE49-F238E27FC236}">
                <a16:creationId xmlns:a16="http://schemas.microsoft.com/office/drawing/2014/main" id="{53F7E6AE-1BFF-1FFC-D51B-FEBF95E87CD9}"/>
              </a:ext>
            </a:extLst>
          </p:cNvPr>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a:extLst>
              <a:ext uri="{FF2B5EF4-FFF2-40B4-BE49-F238E27FC236}">
                <a16:creationId xmlns:a16="http://schemas.microsoft.com/office/drawing/2014/main" id="{7EEA91E2-9EFF-17EF-6DDE-5CC80C9F60C8}"/>
              </a:ext>
            </a:extLst>
          </p:cNvPr>
          <p:cNvSpPr>
            <a:spLocks noGrp="1" noChangeArrowheads="1"/>
          </p:cNvSpPr>
          <p:nvPr>
            <p:ph type="ftr" sz="quarter" idx="4"/>
          </p:nvPr>
        </p:nvSpPr>
        <p:spPr bwMode="auto">
          <a:xfrm>
            <a:off x="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175" name="Rectangle 7">
            <a:extLst>
              <a:ext uri="{FF2B5EF4-FFF2-40B4-BE49-F238E27FC236}">
                <a16:creationId xmlns:a16="http://schemas.microsoft.com/office/drawing/2014/main" id="{32DC65D7-BA94-F219-774C-284FD6D22B89}"/>
              </a:ext>
            </a:extLst>
          </p:cNvPr>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smtClean="0"/>
            </a:lvl1pPr>
          </a:lstStyle>
          <a:p>
            <a:pPr>
              <a:defRPr/>
            </a:pPr>
            <a:fld id="{DC20CC3A-6E06-FE4E-ADE2-146A462421E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F7468515-9070-71D6-1802-D3CC988A95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87F23CA-05E3-5045-BBEC-29E2A631ADA1}" type="slidenum">
              <a:rPr lang="en-US" altLang="en-US" sz="1200"/>
              <a:pPr/>
              <a:t>2</a:t>
            </a:fld>
            <a:endParaRPr lang="en-US" altLang="en-US" sz="1200"/>
          </a:p>
        </p:txBody>
      </p:sp>
      <p:sp>
        <p:nvSpPr>
          <p:cNvPr id="17410" name="Rectangle 2">
            <a:extLst>
              <a:ext uri="{FF2B5EF4-FFF2-40B4-BE49-F238E27FC236}">
                <a16:creationId xmlns:a16="http://schemas.microsoft.com/office/drawing/2014/main" id="{EA6D1D8A-4F21-BCC4-FE6F-20A9AB11BBD8}"/>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0E1D459B-E463-19D7-523A-58292B43B7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solidFill>
                  <a:srgbClr val="000000"/>
                </a:solidFill>
                <a:latin typeface="Arial  " charset="0"/>
              </a:rPr>
              <a:t>This might have raised manufacture cost of Pentium Pro as much as 15% </a:t>
            </a:r>
            <a:r>
              <a:rPr lang="en-US" altLang="en-US">
                <a:latin typeface="Arial" panose="020B0604020202020204" pitchFamily="34" charset="0"/>
              </a:rPr>
              <a:t>assuming defect density of 1.5/cm^2, pentium pro chip area of 197 mm^2, and wafer cost of $1500 for a 200mm dia wafer...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D7B03BD0-4D34-A2F0-89BB-8B20850B78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9612D81-1E97-6C47-B941-EBAF7EF10172}" type="slidenum">
              <a:rPr lang="en-US" altLang="en-US" sz="1200"/>
              <a:pPr/>
              <a:t>3</a:t>
            </a:fld>
            <a:endParaRPr lang="en-US" altLang="en-US" sz="1200"/>
          </a:p>
        </p:txBody>
      </p:sp>
      <p:sp>
        <p:nvSpPr>
          <p:cNvPr id="19458" name="Rectangle 2">
            <a:extLst>
              <a:ext uri="{FF2B5EF4-FFF2-40B4-BE49-F238E27FC236}">
                <a16:creationId xmlns:a16="http://schemas.microsoft.com/office/drawing/2014/main" id="{8F1BFFD9-8735-D591-4630-D26D626FDDAB}"/>
              </a:ext>
            </a:extLst>
          </p:cNvPr>
          <p:cNvSpPr>
            <a:spLocks noGrp="1" noRot="1" noChangeAspect="1" noChangeArrowheads="1" noTextEdit="1"/>
          </p:cNvSpPr>
          <p:nvPr>
            <p:ph type="sldImg"/>
          </p:nvPr>
        </p:nvSpPr>
        <p:spPr>
          <a:solidFill>
            <a:srgbClr val="FFFFFF"/>
          </a:solidFill>
          <a:ln/>
        </p:spPr>
      </p:sp>
      <p:sp>
        <p:nvSpPr>
          <p:cNvPr id="19459" name="Rectangle 3">
            <a:extLst>
              <a:ext uri="{FF2B5EF4-FFF2-40B4-BE49-F238E27FC236}">
                <a16:creationId xmlns:a16="http://schemas.microsoft.com/office/drawing/2014/main" id="{ABA17672-87D0-6720-EE35-48E483F69AA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DB42230C-951C-33DD-2EE8-267069065D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93A9529-6AA6-0A4A-9CE0-B3EB4BF5D591}" type="slidenum">
              <a:rPr lang="en-US" altLang="en-US" sz="1200"/>
              <a:pPr/>
              <a:t>4</a:t>
            </a:fld>
            <a:endParaRPr lang="en-US" altLang="en-US" sz="1200"/>
          </a:p>
        </p:txBody>
      </p:sp>
      <p:sp>
        <p:nvSpPr>
          <p:cNvPr id="21506" name="Rectangle 2">
            <a:extLst>
              <a:ext uri="{FF2B5EF4-FFF2-40B4-BE49-F238E27FC236}">
                <a16:creationId xmlns:a16="http://schemas.microsoft.com/office/drawing/2014/main" id="{8054F6D7-F028-1DFB-E3E7-33CBD945822D}"/>
              </a:ext>
            </a:extLst>
          </p:cNvPr>
          <p:cNvSpPr>
            <a:spLocks noGrp="1" noChangeArrowheads="1"/>
          </p:cNvSpPr>
          <p:nvPr>
            <p:ph type="body" idx="1"/>
          </p:nvPr>
        </p:nvSpPr>
        <p:spPr>
          <a:xfrm>
            <a:off x="515938" y="4416425"/>
            <a:ext cx="5910262"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73" tIns="44443" rIns="90473" bIns="44443"/>
          <a:lstStyle/>
          <a:p>
            <a:endParaRPr lang="en-US" altLang="en-US">
              <a:latin typeface="Arial" panose="020B0604020202020204" pitchFamily="34" charset="0"/>
            </a:endParaRPr>
          </a:p>
        </p:txBody>
      </p:sp>
      <p:sp>
        <p:nvSpPr>
          <p:cNvPr id="21507" name="Rectangle 3">
            <a:extLst>
              <a:ext uri="{FF2B5EF4-FFF2-40B4-BE49-F238E27FC236}">
                <a16:creationId xmlns:a16="http://schemas.microsoft.com/office/drawing/2014/main" id="{AF8C35E9-46E9-A62F-9FDB-20D3457B922E}"/>
              </a:ext>
            </a:extLst>
          </p:cNvPr>
          <p:cNvSpPr>
            <a:spLocks noGrp="1" noRot="1" noChangeAspect="1" noChangeArrowheads="1" noTextEdit="1"/>
          </p:cNvSpPr>
          <p:nvPr>
            <p:ph type="sldImg"/>
          </p:nvPr>
        </p:nvSpPr>
        <p:spPr>
          <a:xfrm>
            <a:off x="1120775" y="596900"/>
            <a:ext cx="4630738" cy="3473450"/>
          </a:xfrm>
          <a:ln w="12700"/>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3D2BB8C7-EA6C-6300-C240-5FB89FA026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1D03EFB-EAEC-0944-8771-6E70F55742EE}" type="slidenum">
              <a:rPr lang="en-US" altLang="en-US" sz="1200"/>
              <a:pPr/>
              <a:t>5</a:t>
            </a:fld>
            <a:endParaRPr lang="en-US" altLang="en-US" sz="1200"/>
          </a:p>
        </p:txBody>
      </p:sp>
      <p:sp>
        <p:nvSpPr>
          <p:cNvPr id="24578" name="Rectangle 2">
            <a:extLst>
              <a:ext uri="{FF2B5EF4-FFF2-40B4-BE49-F238E27FC236}">
                <a16:creationId xmlns:a16="http://schemas.microsoft.com/office/drawing/2014/main" id="{80CEC0C7-5913-0425-DB16-DB18C1C55A20}"/>
              </a:ext>
            </a:extLst>
          </p:cNvPr>
          <p:cNvSpPr>
            <a:spLocks noGrp="1" noRot="1" noChangeAspect="1" noChangeArrowheads="1" noTextEdit="1"/>
          </p:cNvSpPr>
          <p:nvPr>
            <p:ph type="sldImg"/>
          </p:nvPr>
        </p:nvSpPr>
        <p:spPr>
          <a:solidFill>
            <a:srgbClr val="FFFFFF"/>
          </a:solidFill>
          <a:ln/>
        </p:spPr>
      </p:sp>
      <p:sp>
        <p:nvSpPr>
          <p:cNvPr id="24579" name="Rectangle 3">
            <a:extLst>
              <a:ext uri="{FF2B5EF4-FFF2-40B4-BE49-F238E27FC236}">
                <a16:creationId xmlns:a16="http://schemas.microsoft.com/office/drawing/2014/main" id="{0D55CB7F-6687-663F-97DA-CE7E4EB8DF07}"/>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29D8957E-24BD-1E3E-B6C2-CD164DA0E0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2215F67-A28B-8E4B-8FA6-D30B43A8F134}" type="slidenum">
              <a:rPr lang="en-US" altLang="en-US" sz="1200"/>
              <a:pPr/>
              <a:t>6</a:t>
            </a:fld>
            <a:endParaRPr lang="en-US" altLang="en-US" sz="1200"/>
          </a:p>
        </p:txBody>
      </p:sp>
      <p:sp>
        <p:nvSpPr>
          <p:cNvPr id="26626" name="Rectangle 2">
            <a:extLst>
              <a:ext uri="{FF2B5EF4-FFF2-40B4-BE49-F238E27FC236}">
                <a16:creationId xmlns:a16="http://schemas.microsoft.com/office/drawing/2014/main" id="{588A1883-5F81-9FD4-78BA-9126A4530177}"/>
              </a:ext>
            </a:extLst>
          </p:cNvPr>
          <p:cNvSpPr>
            <a:spLocks noGrp="1" noRot="1" noChangeAspect="1" noChangeArrowheads="1" noTextEdit="1"/>
          </p:cNvSpPr>
          <p:nvPr>
            <p:ph type="sldImg"/>
          </p:nvPr>
        </p:nvSpPr>
        <p:spPr>
          <a:solidFill>
            <a:srgbClr val="FFFFFF"/>
          </a:solidFill>
          <a:ln/>
        </p:spPr>
      </p:sp>
      <p:sp>
        <p:nvSpPr>
          <p:cNvPr id="26627" name="Rectangle 3">
            <a:extLst>
              <a:ext uri="{FF2B5EF4-FFF2-40B4-BE49-F238E27FC236}">
                <a16:creationId xmlns:a16="http://schemas.microsoft.com/office/drawing/2014/main" id="{60B652CC-CF45-04BE-8092-49AE12B1267B}"/>
              </a:ext>
            </a:extLst>
          </p:cNvPr>
          <p:cNvSpPr>
            <a:spLocks noGrp="1" noChangeArrowheads="1"/>
          </p:cNvSpPr>
          <p:nvPr>
            <p:ph type="body" idx="1"/>
          </p:nvPr>
        </p:nvSpPr>
        <p:spPr>
          <a:solidFill>
            <a:srgbClr val="FFFFFF"/>
          </a:solidFill>
          <a:ln>
            <a:solidFill>
              <a:srgbClr val="000000"/>
            </a:solidFill>
          </a:ln>
        </p:spPr>
        <p:txBody>
          <a:bodyPr/>
          <a:lstStyle/>
          <a:p>
            <a:r>
              <a:rPr lang="en-US" altLang="en-US">
                <a:latin typeface="Arial" panose="020B0604020202020204" pitchFamily="34" charset="0"/>
              </a:rPr>
              <a:t>First distinction among different ISAs: Type of internal storage.</a:t>
            </a:r>
          </a:p>
          <a:p>
            <a:endParaRPr lang="en-US" altLang="en-US">
              <a:latin typeface="Arial" panose="020B0604020202020204" pitchFamily="34" charset="0"/>
            </a:endParaRPr>
          </a:p>
          <a:p>
            <a:r>
              <a:rPr lang="en-US" altLang="en-US">
                <a:latin typeface="Arial" panose="020B0604020202020204" pitchFamily="34" charset="0"/>
              </a:rPr>
              <a:t>Stack, Accumulator, or Register.</a:t>
            </a:r>
          </a:p>
          <a:p>
            <a:endParaRPr lang="en-US" altLang="en-US">
              <a:latin typeface="Arial" panose="020B0604020202020204" pitchFamily="34" charset="0"/>
            </a:endParaRPr>
          </a:p>
          <a:p>
            <a:r>
              <a:rPr lang="en-US" altLang="en-US">
                <a:latin typeface="Arial" panose="020B0604020202020204" pitchFamily="34" charset="0"/>
              </a:rPr>
              <a:t>	Stack used for x86 floating point instructions, Java byte code.</a:t>
            </a:r>
          </a:p>
          <a:p>
            <a:r>
              <a:rPr lang="en-US" altLang="en-US">
                <a:latin typeface="Arial" panose="020B0604020202020204" pitchFamily="34" charset="0"/>
              </a:rPr>
              <a:t>	Accumulator: Very popular in digital signal processors.</a:t>
            </a:r>
          </a:p>
          <a:p>
            <a:r>
              <a:rPr lang="en-US" altLang="en-US">
                <a:latin typeface="Arial" panose="020B0604020202020204" pitchFamily="34" charset="0"/>
              </a:rPr>
              <a:t>	Register Memory: 68000</a:t>
            </a:r>
          </a:p>
          <a:p>
            <a:r>
              <a:rPr lang="en-US" altLang="en-US">
                <a:latin typeface="Arial" panose="020B0604020202020204" pitchFamily="34" charset="0"/>
              </a:rPr>
              <a:t>	Register-Register/Load-Store: MIPS, PowerPC, SPARC.</a:t>
            </a:r>
          </a:p>
          <a:p>
            <a:endParaRPr lang="en-US" altLang="en-US">
              <a:latin typeface="Arial" panose="020B0604020202020204" pitchFamily="34" charset="0"/>
            </a:endParaRPr>
          </a:p>
          <a:p>
            <a:r>
              <a:rPr lang="en-US" altLang="en-US">
                <a:latin typeface="Arial" panose="020B0604020202020204" pitchFamily="34" charset="0"/>
              </a:rPr>
              <a:t>What are the tradeoffs?</a:t>
            </a:r>
          </a:p>
          <a:p>
            <a:endParaRPr lang="en-US" altLang="en-US">
              <a:latin typeface="Arial" panose="020B0604020202020204" pitchFamily="34" charset="0"/>
            </a:endParaRPr>
          </a:p>
          <a:p>
            <a:r>
              <a:rPr lang="en-US" altLang="en-US">
                <a:latin typeface="Arial" panose="020B0604020202020204" pitchFamily="34" charset="0"/>
              </a:rPr>
              <a:t>	Stack / Accumulator can use “implicit operands” =&gt; can improve code density. Important when memory is relatively expensive. </a:t>
            </a:r>
          </a:p>
          <a:p>
            <a:r>
              <a:rPr lang="en-US" altLang="en-US">
                <a:latin typeface="Arial" panose="020B0604020202020204" pitchFamily="34" charset="0"/>
              </a:rPr>
              <a:t>	 Other benefits of implicit operands?  What about implementation?  May require less area per bit of memory.  May be faster (clock frequency).</a:t>
            </a:r>
          </a:p>
          <a:p>
            <a:endParaRPr lang="en-US" altLang="en-US">
              <a:latin typeface="Arial" panose="020B0604020202020204" pitchFamily="34" charset="0"/>
            </a:endParaRPr>
          </a:p>
          <a:p>
            <a:r>
              <a:rPr lang="en-US" altLang="en-US">
                <a:latin typeface="Arial" panose="020B0604020202020204" pitchFamily="34" charset="0"/>
              </a:rPr>
              <a:t>Stack Drawbacks: Cannot access operands “hidden” on stack =&gt; compiler may need to generate longer instruction sequences.</a:t>
            </a:r>
          </a:p>
          <a:p>
            <a:endParaRPr lang="en-US" altLang="en-US">
              <a:latin typeface="Arial" panose="020B0604020202020204" pitchFamily="34" charset="0"/>
            </a:endParaRPr>
          </a:p>
          <a:p>
            <a:r>
              <a:rPr lang="en-US" altLang="en-US">
                <a:latin typeface="Arial" panose="020B0604020202020204" pitchFamily="34" charset="0"/>
              </a:rPr>
              <a:t>Accumulator Drawbacks: Code generation is complicated.  One operand is not equivalent to the other (it gets overwritten).</a:t>
            </a:r>
          </a:p>
          <a:p>
            <a:endParaRPr lang="en-US" altLang="en-US">
              <a:latin typeface="Arial" panose="020B0604020202020204" pitchFamily="34" charset="0"/>
            </a:endParaRPr>
          </a:p>
          <a:p>
            <a:r>
              <a:rPr lang="en-US" altLang="en-US">
                <a:latin typeface="Arial" panose="020B0604020202020204" pitchFamily="34" charset="0"/>
              </a:rPr>
              <a:t>Benefits of Registers:  Fast access to temporary variables =&gt; reduce traffic between memory and processor.</a:t>
            </a:r>
          </a:p>
          <a:p>
            <a:endParaRPr lang="en-US" altLang="en-US">
              <a:latin typeface="Arial" panose="020B0604020202020204" pitchFamily="34" charset="0"/>
            </a:endParaRPr>
          </a:p>
          <a:p>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2D6308C9-16A4-028D-BF54-D612D0E9E7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91956D3-8314-CD4A-9ECA-A8DA96083A2A}" type="slidenum">
              <a:rPr lang="en-US" altLang="en-US" sz="1200"/>
              <a:pPr/>
              <a:t>7</a:t>
            </a:fld>
            <a:endParaRPr lang="en-US" altLang="en-US" sz="1200"/>
          </a:p>
        </p:txBody>
      </p:sp>
      <p:sp>
        <p:nvSpPr>
          <p:cNvPr id="28674" name="Rectangle 2">
            <a:extLst>
              <a:ext uri="{FF2B5EF4-FFF2-40B4-BE49-F238E27FC236}">
                <a16:creationId xmlns:a16="http://schemas.microsoft.com/office/drawing/2014/main" id="{0E624087-11A6-BD85-A7E0-6E2970B6E1A7}"/>
              </a:ext>
            </a:extLst>
          </p:cNvPr>
          <p:cNvSpPr>
            <a:spLocks noGrp="1" noRot="1" noChangeAspect="1" noChangeArrowheads="1" noTextEdit="1"/>
          </p:cNvSpPr>
          <p:nvPr>
            <p:ph type="sldImg"/>
          </p:nvPr>
        </p:nvSpPr>
        <p:spPr>
          <a:solidFill>
            <a:srgbClr val="FFFFFF"/>
          </a:solidFill>
          <a:ln/>
        </p:spPr>
      </p:sp>
      <p:sp>
        <p:nvSpPr>
          <p:cNvPr id="28675" name="Rectangle 3">
            <a:extLst>
              <a:ext uri="{FF2B5EF4-FFF2-40B4-BE49-F238E27FC236}">
                <a16:creationId xmlns:a16="http://schemas.microsoft.com/office/drawing/2014/main" id="{7BB23FE6-CDF0-AC00-C51E-5B0248074835}"/>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5B65F86-7637-DF29-349C-099425C3FD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6C45DC1-2349-754D-A3CE-4440F8065A42}" type="slidenum">
              <a:rPr lang="en-US" altLang="en-US" sz="1200"/>
              <a:pPr/>
              <a:t>8</a:t>
            </a:fld>
            <a:endParaRPr lang="en-US" altLang="en-US" sz="1200"/>
          </a:p>
        </p:txBody>
      </p:sp>
      <p:sp>
        <p:nvSpPr>
          <p:cNvPr id="30722" name="Rectangle 1026">
            <a:extLst>
              <a:ext uri="{FF2B5EF4-FFF2-40B4-BE49-F238E27FC236}">
                <a16:creationId xmlns:a16="http://schemas.microsoft.com/office/drawing/2014/main" id="{4ECA69BA-479B-031B-9520-AF7D341B53AD}"/>
              </a:ext>
            </a:extLst>
          </p:cNvPr>
          <p:cNvSpPr>
            <a:spLocks noGrp="1" noRot="1" noChangeAspect="1" noChangeArrowheads="1" noTextEdit="1"/>
          </p:cNvSpPr>
          <p:nvPr>
            <p:ph type="sldImg"/>
          </p:nvPr>
        </p:nvSpPr>
        <p:spPr>
          <a:ln/>
        </p:spPr>
      </p:sp>
      <p:sp>
        <p:nvSpPr>
          <p:cNvPr id="30723" name="Rectangle 1027">
            <a:extLst>
              <a:ext uri="{FF2B5EF4-FFF2-40B4-BE49-F238E27FC236}">
                <a16:creationId xmlns:a16="http://schemas.microsoft.com/office/drawing/2014/main" id="{F51E4968-7A9D-B677-434E-54F4CBD3A0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F7825641-6E11-0958-6E08-811F52DDDA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9D1D358-1CF5-9C46-B8B1-1121742338B3}" type="slidenum">
              <a:rPr lang="en-US" altLang="en-US" sz="1200"/>
              <a:pPr/>
              <a:t>9</a:t>
            </a:fld>
            <a:endParaRPr lang="en-US" altLang="en-US" sz="1200"/>
          </a:p>
        </p:txBody>
      </p:sp>
      <p:sp>
        <p:nvSpPr>
          <p:cNvPr id="32770" name="Rectangle 2">
            <a:extLst>
              <a:ext uri="{FF2B5EF4-FFF2-40B4-BE49-F238E27FC236}">
                <a16:creationId xmlns:a16="http://schemas.microsoft.com/office/drawing/2014/main" id="{A0FCEB65-FDC1-59DC-8540-32B67A2E4C6C}"/>
              </a:ext>
            </a:extLst>
          </p:cNvPr>
          <p:cNvSpPr>
            <a:spLocks noGrp="1" noRot="1" noChangeAspect="1" noChangeArrowheads="1" noTextEdit="1"/>
          </p:cNvSpPr>
          <p:nvPr>
            <p:ph type="sldImg"/>
          </p:nvPr>
        </p:nvSpPr>
        <p:spPr>
          <a:solidFill>
            <a:srgbClr val="FFFFFF"/>
          </a:solidFill>
          <a:ln/>
        </p:spPr>
      </p:sp>
      <p:sp>
        <p:nvSpPr>
          <p:cNvPr id="32771" name="Rectangle 3">
            <a:extLst>
              <a:ext uri="{FF2B5EF4-FFF2-40B4-BE49-F238E27FC236}">
                <a16:creationId xmlns:a16="http://schemas.microsoft.com/office/drawing/2014/main" id="{14DD975F-028E-1F46-619D-CAC351C5E252}"/>
              </a:ext>
            </a:extLst>
          </p:cNvPr>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6089E55-A40C-CE3F-F909-FCAB142A47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FBAF089-FF22-A048-9753-4368FE54766D}" type="slidenum">
              <a:rPr lang="en-US" altLang="en-US" sz="1200"/>
              <a:pPr/>
              <a:t>10</a:t>
            </a:fld>
            <a:endParaRPr lang="en-US" altLang="en-US" sz="1200"/>
          </a:p>
        </p:txBody>
      </p:sp>
      <p:sp>
        <p:nvSpPr>
          <p:cNvPr id="34818" name="Rectangle 2">
            <a:extLst>
              <a:ext uri="{FF2B5EF4-FFF2-40B4-BE49-F238E27FC236}">
                <a16:creationId xmlns:a16="http://schemas.microsoft.com/office/drawing/2014/main" id="{9A883890-526B-F698-7723-6A60E4F22AC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7054B8D8-9C68-3C71-1A39-21E5F5FC95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8FACFBCB-CDFE-E990-F123-77C59F4206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AC53F16-474E-9941-8267-4C2502B2D693}" type="slidenum">
              <a:rPr lang="en-US" altLang="en-US" sz="1200"/>
              <a:pPr/>
              <a:t>11</a:t>
            </a:fld>
            <a:endParaRPr lang="en-US" altLang="en-US" sz="1200"/>
          </a:p>
        </p:txBody>
      </p:sp>
      <p:sp>
        <p:nvSpPr>
          <p:cNvPr id="38914" name="Rectangle 2">
            <a:extLst>
              <a:ext uri="{FF2B5EF4-FFF2-40B4-BE49-F238E27FC236}">
                <a16:creationId xmlns:a16="http://schemas.microsoft.com/office/drawing/2014/main" id="{697EAD3A-58C1-4EAB-F286-507F28D91AE5}"/>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FE1A04F0-7752-0DC5-77F4-75A35250BD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D29D5481-64AF-B2FC-5607-8D3843EFBB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7A1DC4A-5A49-6E4A-83B9-CEBFD0724A14}" type="slidenum">
              <a:rPr lang="en-US" altLang="en-US" sz="1200"/>
              <a:pPr/>
              <a:t>12</a:t>
            </a:fld>
            <a:endParaRPr lang="en-US" altLang="en-US" sz="1200"/>
          </a:p>
        </p:txBody>
      </p:sp>
      <p:sp>
        <p:nvSpPr>
          <p:cNvPr id="40962" name="Rectangle 2">
            <a:extLst>
              <a:ext uri="{FF2B5EF4-FFF2-40B4-BE49-F238E27FC236}">
                <a16:creationId xmlns:a16="http://schemas.microsoft.com/office/drawing/2014/main" id="{337403F6-7FC9-25D9-D612-CB32A7116CD2}"/>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88FE6252-E23F-6353-0792-ECE59880C5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9BA249EB-A5B3-6579-CB69-F79A60EE6C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270C10A-CB3A-854A-9857-74A6CA748E8C}" type="slidenum">
              <a:rPr lang="en-US" altLang="en-US" sz="1200"/>
              <a:pPr/>
              <a:t>13</a:t>
            </a:fld>
            <a:endParaRPr lang="en-US" altLang="en-US" sz="1200"/>
          </a:p>
        </p:txBody>
      </p:sp>
      <p:sp>
        <p:nvSpPr>
          <p:cNvPr id="43010" name="Rectangle 2">
            <a:extLst>
              <a:ext uri="{FF2B5EF4-FFF2-40B4-BE49-F238E27FC236}">
                <a16:creationId xmlns:a16="http://schemas.microsoft.com/office/drawing/2014/main" id="{9D9FD46C-1994-F9D0-1E3C-33C252F4B921}"/>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4C91ECB0-19CB-02A9-6B8B-A516204A20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B5C1C9CB-43DA-193F-AF2D-DF19637E89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5091FD9-7FA3-E54D-B109-C457B09D126A}" type="slidenum">
              <a:rPr lang="en-US" altLang="en-US" sz="1200"/>
              <a:pPr/>
              <a:t>14</a:t>
            </a:fld>
            <a:endParaRPr lang="en-US" altLang="en-US" sz="1200"/>
          </a:p>
        </p:txBody>
      </p:sp>
      <p:sp>
        <p:nvSpPr>
          <p:cNvPr id="45058" name="Rectangle 2">
            <a:extLst>
              <a:ext uri="{FF2B5EF4-FFF2-40B4-BE49-F238E27FC236}">
                <a16:creationId xmlns:a16="http://schemas.microsoft.com/office/drawing/2014/main" id="{E77A9593-8F8A-9EFF-9978-EB2E75F87EE2}"/>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E52728F-9EDA-5510-6EDF-77985935CC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38BD7F86-149C-F75A-5211-E9D88B06F6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A647268-F764-7D41-810B-18C04FC6AC38}" type="slidenum">
              <a:rPr lang="en-US" altLang="en-US" sz="1200"/>
              <a:pPr/>
              <a:t>15</a:t>
            </a:fld>
            <a:endParaRPr lang="en-US" altLang="en-US" sz="1200"/>
          </a:p>
        </p:txBody>
      </p:sp>
      <p:sp>
        <p:nvSpPr>
          <p:cNvPr id="47106" name="Rectangle 2">
            <a:extLst>
              <a:ext uri="{FF2B5EF4-FFF2-40B4-BE49-F238E27FC236}">
                <a16:creationId xmlns:a16="http://schemas.microsoft.com/office/drawing/2014/main" id="{7ECB46FA-A78A-F115-1A79-7A621145F5D5}"/>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A8E07C87-6603-C151-7FAE-3C6A157827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2620DCD4-7045-0462-BD34-B65FC11880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927318E-83D9-0347-BEF7-AB1731D9CD2D}" type="slidenum">
              <a:rPr lang="en-US" altLang="en-US" sz="1200"/>
              <a:pPr/>
              <a:t>17</a:t>
            </a:fld>
            <a:endParaRPr lang="en-US" altLang="en-US" sz="1200"/>
          </a:p>
        </p:txBody>
      </p:sp>
      <p:sp>
        <p:nvSpPr>
          <p:cNvPr id="50178" name="Rectangle 2">
            <a:extLst>
              <a:ext uri="{FF2B5EF4-FFF2-40B4-BE49-F238E27FC236}">
                <a16:creationId xmlns:a16="http://schemas.microsoft.com/office/drawing/2014/main" id="{8E33E7BF-0CA3-DDDA-CB4E-CE07FB71D36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3E9ED14C-60A4-E1AB-3E4A-D343FC8174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952E2E5A-2AAC-FE2B-73C5-9B69404418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E1CF8B4-DEF1-E94C-9D73-147AC00A50B4}" type="slidenum">
              <a:rPr lang="en-US" altLang="en-US" sz="1200"/>
              <a:pPr/>
              <a:t>18</a:t>
            </a:fld>
            <a:endParaRPr lang="en-US" altLang="en-US" sz="1200"/>
          </a:p>
        </p:txBody>
      </p:sp>
      <p:sp>
        <p:nvSpPr>
          <p:cNvPr id="52226" name="Rectangle 2">
            <a:extLst>
              <a:ext uri="{FF2B5EF4-FFF2-40B4-BE49-F238E27FC236}">
                <a16:creationId xmlns:a16="http://schemas.microsoft.com/office/drawing/2014/main" id="{F37DF763-998C-B753-E616-39B6F2A41DD5}"/>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26019B6-D3CF-DCDB-23C3-6F8A5ED2CB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B9B4CA8D-3DFE-9472-431F-F21D7F46BC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6014787-B764-464F-80D1-B59CAB5CD014}" type="slidenum">
              <a:rPr lang="en-US" altLang="en-US" sz="1200"/>
              <a:pPr/>
              <a:t>19</a:t>
            </a:fld>
            <a:endParaRPr lang="en-US" altLang="en-US" sz="1200"/>
          </a:p>
        </p:txBody>
      </p:sp>
      <p:sp>
        <p:nvSpPr>
          <p:cNvPr id="62466" name="Rectangle 2">
            <a:extLst>
              <a:ext uri="{FF2B5EF4-FFF2-40B4-BE49-F238E27FC236}">
                <a16:creationId xmlns:a16="http://schemas.microsoft.com/office/drawing/2014/main" id="{E99E8CDE-7F54-F9A7-58C2-27517CE15B5D}"/>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197C8E04-D458-2382-9DD7-BF66567256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210060AA-EB77-85A4-572C-5680694EF1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C972A3A-2281-3E4B-AE84-50E7FAAACA93}" type="slidenum">
              <a:rPr lang="en-US" altLang="en-US" sz="1200"/>
              <a:pPr/>
              <a:t>20</a:t>
            </a:fld>
            <a:endParaRPr lang="en-US" altLang="en-US" sz="1200"/>
          </a:p>
        </p:txBody>
      </p:sp>
      <p:sp>
        <p:nvSpPr>
          <p:cNvPr id="64514" name="Rectangle 2">
            <a:extLst>
              <a:ext uri="{FF2B5EF4-FFF2-40B4-BE49-F238E27FC236}">
                <a16:creationId xmlns:a16="http://schemas.microsoft.com/office/drawing/2014/main" id="{A4868EF9-EBD4-7C25-D9C8-D26D6F0113FB}"/>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3AE959F8-44E3-04DA-C17B-1E17B6EA52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F334A55C-ABA5-505F-D1D9-B71EC86222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7EAF459-4B3D-4C4C-9A33-78887CA40A38}" type="slidenum">
              <a:rPr lang="en-US" altLang="en-US" sz="1200"/>
              <a:pPr/>
              <a:t>21</a:t>
            </a:fld>
            <a:endParaRPr lang="en-US" altLang="en-US" sz="1200"/>
          </a:p>
        </p:txBody>
      </p:sp>
      <p:sp>
        <p:nvSpPr>
          <p:cNvPr id="66562" name="Rectangle 2">
            <a:extLst>
              <a:ext uri="{FF2B5EF4-FFF2-40B4-BE49-F238E27FC236}">
                <a16:creationId xmlns:a16="http://schemas.microsoft.com/office/drawing/2014/main" id="{7DC4AE9B-C712-0974-A7C0-3747224C4854}"/>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5D7A6522-1A94-ACDE-9AAB-73890B66CF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B696648E-ABCF-544A-E726-3117FE7F96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30F809F-B419-9249-81EA-BF98DDD451C8}" type="slidenum">
              <a:rPr lang="en-US" altLang="en-US" sz="1200"/>
              <a:pPr/>
              <a:t>22</a:t>
            </a:fld>
            <a:endParaRPr lang="en-US" altLang="en-US" sz="1200"/>
          </a:p>
        </p:txBody>
      </p:sp>
      <p:sp>
        <p:nvSpPr>
          <p:cNvPr id="68610" name="Rectangle 2">
            <a:extLst>
              <a:ext uri="{FF2B5EF4-FFF2-40B4-BE49-F238E27FC236}">
                <a16:creationId xmlns:a16="http://schemas.microsoft.com/office/drawing/2014/main" id="{6276F749-0B21-C37B-A5EA-D1C178B74923}"/>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4EED451D-5BE3-60BD-BCC0-76B9F63288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1694D585-6F38-1C8B-AA41-1543359814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76965D8-EF93-0C4F-AAC5-909D5629DCA2}" type="slidenum">
              <a:rPr lang="en-US" altLang="en-US" sz="1200"/>
              <a:pPr/>
              <a:t>23</a:t>
            </a:fld>
            <a:endParaRPr lang="en-US" altLang="en-US" sz="1200"/>
          </a:p>
        </p:txBody>
      </p:sp>
      <p:sp>
        <p:nvSpPr>
          <p:cNvPr id="70658" name="Rectangle 2">
            <a:extLst>
              <a:ext uri="{FF2B5EF4-FFF2-40B4-BE49-F238E27FC236}">
                <a16:creationId xmlns:a16="http://schemas.microsoft.com/office/drawing/2014/main" id="{98A16C5C-064F-4A07-D2B7-17BFA866602A}"/>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716D3401-FAD6-A596-9966-A0F53C200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a:t>Click to edit Master subtitle style</a:t>
            </a:r>
            <a:endParaRPr lang="en-US"/>
          </a:p>
        </p:txBody>
      </p:sp>
      <p:sp>
        <p:nvSpPr>
          <p:cNvPr id="4" name="Rectangle 4">
            <a:extLst>
              <a:ext uri="{FF2B5EF4-FFF2-40B4-BE49-F238E27FC236}">
                <a16:creationId xmlns:a16="http://schemas.microsoft.com/office/drawing/2014/main" id="{1494BC43-DD07-740E-C824-F45CC14747F6}"/>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5" name="Rectangle 5">
            <a:extLst>
              <a:ext uri="{FF2B5EF4-FFF2-40B4-BE49-F238E27FC236}">
                <a16:creationId xmlns:a16="http://schemas.microsoft.com/office/drawing/2014/main" id="{55965A91-CCDC-2412-E088-0E192C3DC23E}"/>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6" name="Rectangle 6">
            <a:extLst>
              <a:ext uri="{FF2B5EF4-FFF2-40B4-BE49-F238E27FC236}">
                <a16:creationId xmlns:a16="http://schemas.microsoft.com/office/drawing/2014/main" id="{FB623910-AAE8-1794-7292-1851550808BC}"/>
              </a:ext>
            </a:extLst>
          </p:cNvPr>
          <p:cNvSpPr>
            <a:spLocks noGrp="1" noChangeArrowheads="1"/>
          </p:cNvSpPr>
          <p:nvPr>
            <p:ph type="sldNum" sz="quarter" idx="12"/>
          </p:nvPr>
        </p:nvSpPr>
        <p:spPr>
          <a:ln/>
        </p:spPr>
        <p:txBody>
          <a:bodyPr/>
          <a:lstStyle>
            <a:lvl1pPr>
              <a:defRPr/>
            </a:lvl1pPr>
          </a:lstStyle>
          <a:p>
            <a:pPr>
              <a:defRPr/>
            </a:pPr>
            <a:fld id="{BC4E8F35-A1BC-E942-81B4-AAA6516E6BDE}" type="slidenum">
              <a:rPr lang="en-US" altLang="en-US"/>
              <a:pPr>
                <a:defRPr/>
              </a:pPr>
              <a:t>‹#›</a:t>
            </a:fld>
            <a:r>
              <a:rPr lang="en-US" altLang="en-US"/>
              <a:t> </a:t>
            </a:r>
          </a:p>
        </p:txBody>
      </p:sp>
    </p:spTree>
    <p:extLst>
      <p:ext uri="{BB962C8B-B14F-4D97-AF65-F5344CB8AC3E}">
        <p14:creationId xmlns:p14="http://schemas.microsoft.com/office/powerpoint/2010/main" val="1906017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a:extLst>
              <a:ext uri="{FF2B5EF4-FFF2-40B4-BE49-F238E27FC236}">
                <a16:creationId xmlns:a16="http://schemas.microsoft.com/office/drawing/2014/main" id="{BBBB4226-09EC-D9D3-7DEC-CFC752E5ED26}"/>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5" name="Rectangle 5">
            <a:extLst>
              <a:ext uri="{FF2B5EF4-FFF2-40B4-BE49-F238E27FC236}">
                <a16:creationId xmlns:a16="http://schemas.microsoft.com/office/drawing/2014/main" id="{50B96ECC-FC66-94BD-4C42-D11697FF4C10}"/>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6" name="Rectangle 6">
            <a:extLst>
              <a:ext uri="{FF2B5EF4-FFF2-40B4-BE49-F238E27FC236}">
                <a16:creationId xmlns:a16="http://schemas.microsoft.com/office/drawing/2014/main" id="{C6A68DFF-D727-3B8B-86A6-3E38ACD23539}"/>
              </a:ext>
            </a:extLst>
          </p:cNvPr>
          <p:cNvSpPr>
            <a:spLocks noGrp="1" noChangeArrowheads="1"/>
          </p:cNvSpPr>
          <p:nvPr>
            <p:ph type="sldNum" sz="quarter" idx="12"/>
          </p:nvPr>
        </p:nvSpPr>
        <p:spPr>
          <a:ln/>
        </p:spPr>
        <p:txBody>
          <a:bodyPr/>
          <a:lstStyle>
            <a:lvl1pPr>
              <a:defRPr/>
            </a:lvl1pPr>
          </a:lstStyle>
          <a:p>
            <a:pPr>
              <a:defRPr/>
            </a:pPr>
            <a:fld id="{EDC1A373-A75F-D04D-B00C-F2A3271CAA6A}" type="slidenum">
              <a:rPr lang="en-US" altLang="en-US"/>
              <a:pPr>
                <a:defRPr/>
              </a:pPr>
              <a:t>‹#›</a:t>
            </a:fld>
            <a:r>
              <a:rPr lang="en-US" altLang="en-US"/>
              <a:t> </a:t>
            </a:r>
          </a:p>
        </p:txBody>
      </p:sp>
    </p:spTree>
    <p:extLst>
      <p:ext uri="{BB962C8B-B14F-4D97-AF65-F5344CB8AC3E}">
        <p14:creationId xmlns:p14="http://schemas.microsoft.com/office/powerpoint/2010/main" val="2055726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a:t>Click to edit Master text styles</a:t>
            </a:r>
          </a:p>
        </p:txBody>
      </p:sp>
      <p:sp>
        <p:nvSpPr>
          <p:cNvPr id="4" name="Rectangle 4">
            <a:extLst>
              <a:ext uri="{FF2B5EF4-FFF2-40B4-BE49-F238E27FC236}">
                <a16:creationId xmlns:a16="http://schemas.microsoft.com/office/drawing/2014/main" id="{2EBE9812-869C-E408-9F6F-D9042686BAC4}"/>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5" name="Rectangle 5">
            <a:extLst>
              <a:ext uri="{FF2B5EF4-FFF2-40B4-BE49-F238E27FC236}">
                <a16:creationId xmlns:a16="http://schemas.microsoft.com/office/drawing/2014/main" id="{BAEA62BC-D529-FA15-F99E-4A11FF93A320}"/>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6" name="Rectangle 6">
            <a:extLst>
              <a:ext uri="{FF2B5EF4-FFF2-40B4-BE49-F238E27FC236}">
                <a16:creationId xmlns:a16="http://schemas.microsoft.com/office/drawing/2014/main" id="{C1143549-3373-3157-517C-AF84CA50CACC}"/>
              </a:ext>
            </a:extLst>
          </p:cNvPr>
          <p:cNvSpPr>
            <a:spLocks noGrp="1" noChangeArrowheads="1"/>
          </p:cNvSpPr>
          <p:nvPr>
            <p:ph type="sldNum" sz="quarter" idx="12"/>
          </p:nvPr>
        </p:nvSpPr>
        <p:spPr>
          <a:ln/>
        </p:spPr>
        <p:txBody>
          <a:bodyPr/>
          <a:lstStyle>
            <a:lvl1pPr>
              <a:defRPr/>
            </a:lvl1pPr>
          </a:lstStyle>
          <a:p>
            <a:pPr>
              <a:defRPr/>
            </a:pPr>
            <a:fld id="{7203CB99-CC52-BD4B-A887-8341FADE8C10}" type="slidenum">
              <a:rPr lang="en-US" altLang="en-US"/>
              <a:pPr>
                <a:defRPr/>
              </a:pPr>
              <a:t>‹#›</a:t>
            </a:fld>
            <a:r>
              <a:rPr lang="en-US" altLang="en-US"/>
              <a:t> </a:t>
            </a:r>
          </a:p>
        </p:txBody>
      </p:sp>
    </p:spTree>
    <p:extLst>
      <p:ext uri="{BB962C8B-B14F-4D97-AF65-F5344CB8AC3E}">
        <p14:creationId xmlns:p14="http://schemas.microsoft.com/office/powerpoint/2010/main" val="671320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Rectangle 4">
            <a:extLst>
              <a:ext uri="{FF2B5EF4-FFF2-40B4-BE49-F238E27FC236}">
                <a16:creationId xmlns:a16="http://schemas.microsoft.com/office/drawing/2014/main" id="{1F2C235F-1CDC-DE1E-57CF-C6B492214A6C}"/>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6" name="Rectangle 5">
            <a:extLst>
              <a:ext uri="{FF2B5EF4-FFF2-40B4-BE49-F238E27FC236}">
                <a16:creationId xmlns:a16="http://schemas.microsoft.com/office/drawing/2014/main" id="{65E8D885-D05B-E8DB-C66C-5AD656A3CA2F}"/>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7" name="Rectangle 6">
            <a:extLst>
              <a:ext uri="{FF2B5EF4-FFF2-40B4-BE49-F238E27FC236}">
                <a16:creationId xmlns:a16="http://schemas.microsoft.com/office/drawing/2014/main" id="{6DDCF9F8-D205-A630-646A-57C4C1516DFB}"/>
              </a:ext>
            </a:extLst>
          </p:cNvPr>
          <p:cNvSpPr>
            <a:spLocks noGrp="1" noChangeArrowheads="1"/>
          </p:cNvSpPr>
          <p:nvPr>
            <p:ph type="sldNum" sz="quarter" idx="12"/>
          </p:nvPr>
        </p:nvSpPr>
        <p:spPr>
          <a:ln/>
        </p:spPr>
        <p:txBody>
          <a:bodyPr/>
          <a:lstStyle>
            <a:lvl1pPr>
              <a:defRPr/>
            </a:lvl1pPr>
          </a:lstStyle>
          <a:p>
            <a:pPr>
              <a:defRPr/>
            </a:pPr>
            <a:fld id="{4BA39505-4A1E-BA4F-8736-5AB2B8718898}" type="slidenum">
              <a:rPr lang="en-US" altLang="en-US"/>
              <a:pPr>
                <a:defRPr/>
              </a:pPr>
              <a:t>‹#›</a:t>
            </a:fld>
            <a:r>
              <a:rPr lang="en-US" altLang="en-US"/>
              <a:t> </a:t>
            </a:r>
          </a:p>
        </p:txBody>
      </p:sp>
    </p:spTree>
    <p:extLst>
      <p:ext uri="{BB962C8B-B14F-4D97-AF65-F5344CB8AC3E}">
        <p14:creationId xmlns:p14="http://schemas.microsoft.com/office/powerpoint/2010/main" val="659374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Rectangle 4">
            <a:extLst>
              <a:ext uri="{FF2B5EF4-FFF2-40B4-BE49-F238E27FC236}">
                <a16:creationId xmlns:a16="http://schemas.microsoft.com/office/drawing/2014/main" id="{3021D845-1627-A8AD-7009-4ECBC47A866D}"/>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8" name="Rectangle 5">
            <a:extLst>
              <a:ext uri="{FF2B5EF4-FFF2-40B4-BE49-F238E27FC236}">
                <a16:creationId xmlns:a16="http://schemas.microsoft.com/office/drawing/2014/main" id="{BA91061F-4A10-2757-E6BB-C20BDC4F411F}"/>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9" name="Rectangle 6">
            <a:extLst>
              <a:ext uri="{FF2B5EF4-FFF2-40B4-BE49-F238E27FC236}">
                <a16:creationId xmlns:a16="http://schemas.microsoft.com/office/drawing/2014/main" id="{1A9B8162-3D5C-596F-FE27-93CD2F358C64}"/>
              </a:ext>
            </a:extLst>
          </p:cNvPr>
          <p:cNvSpPr>
            <a:spLocks noGrp="1" noChangeArrowheads="1"/>
          </p:cNvSpPr>
          <p:nvPr>
            <p:ph type="sldNum" sz="quarter" idx="12"/>
          </p:nvPr>
        </p:nvSpPr>
        <p:spPr>
          <a:ln/>
        </p:spPr>
        <p:txBody>
          <a:bodyPr/>
          <a:lstStyle>
            <a:lvl1pPr>
              <a:defRPr/>
            </a:lvl1pPr>
          </a:lstStyle>
          <a:p>
            <a:pPr>
              <a:defRPr/>
            </a:pPr>
            <a:fld id="{2972ABC3-9CC1-6C42-AF21-B41286CF7548}" type="slidenum">
              <a:rPr lang="en-US" altLang="en-US"/>
              <a:pPr>
                <a:defRPr/>
              </a:pPr>
              <a:t>‹#›</a:t>
            </a:fld>
            <a:r>
              <a:rPr lang="en-US" altLang="en-US"/>
              <a:t> </a:t>
            </a:r>
          </a:p>
        </p:txBody>
      </p:sp>
    </p:spTree>
    <p:extLst>
      <p:ext uri="{BB962C8B-B14F-4D97-AF65-F5344CB8AC3E}">
        <p14:creationId xmlns:p14="http://schemas.microsoft.com/office/powerpoint/2010/main" val="3796404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Rectangle 4">
            <a:extLst>
              <a:ext uri="{FF2B5EF4-FFF2-40B4-BE49-F238E27FC236}">
                <a16:creationId xmlns:a16="http://schemas.microsoft.com/office/drawing/2014/main" id="{9371B50B-0783-5B6A-DD71-49A9D78607DF}"/>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4" name="Rectangle 5">
            <a:extLst>
              <a:ext uri="{FF2B5EF4-FFF2-40B4-BE49-F238E27FC236}">
                <a16:creationId xmlns:a16="http://schemas.microsoft.com/office/drawing/2014/main" id="{6D751C23-6AEF-DC4B-61D9-10DD4DF860E1}"/>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5" name="Rectangle 6">
            <a:extLst>
              <a:ext uri="{FF2B5EF4-FFF2-40B4-BE49-F238E27FC236}">
                <a16:creationId xmlns:a16="http://schemas.microsoft.com/office/drawing/2014/main" id="{7E2ED1C2-10D9-ACE6-0953-D8D38E285427}"/>
              </a:ext>
            </a:extLst>
          </p:cNvPr>
          <p:cNvSpPr>
            <a:spLocks noGrp="1" noChangeArrowheads="1"/>
          </p:cNvSpPr>
          <p:nvPr>
            <p:ph type="sldNum" sz="quarter" idx="12"/>
          </p:nvPr>
        </p:nvSpPr>
        <p:spPr>
          <a:ln/>
        </p:spPr>
        <p:txBody>
          <a:bodyPr/>
          <a:lstStyle>
            <a:lvl1pPr>
              <a:defRPr/>
            </a:lvl1pPr>
          </a:lstStyle>
          <a:p>
            <a:pPr>
              <a:defRPr/>
            </a:pPr>
            <a:fld id="{BDB92487-5C2D-5C44-AF1C-E848DBB51A82}" type="slidenum">
              <a:rPr lang="en-US" altLang="en-US"/>
              <a:pPr>
                <a:defRPr/>
              </a:pPr>
              <a:t>‹#›</a:t>
            </a:fld>
            <a:r>
              <a:rPr lang="en-US" altLang="en-US"/>
              <a:t> </a:t>
            </a:r>
          </a:p>
        </p:txBody>
      </p:sp>
    </p:spTree>
    <p:extLst>
      <p:ext uri="{BB962C8B-B14F-4D97-AF65-F5344CB8AC3E}">
        <p14:creationId xmlns:p14="http://schemas.microsoft.com/office/powerpoint/2010/main" val="2449096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4CBE060-534F-0148-79E6-02FCBBC30BE0}"/>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3" name="Rectangle 5">
            <a:extLst>
              <a:ext uri="{FF2B5EF4-FFF2-40B4-BE49-F238E27FC236}">
                <a16:creationId xmlns:a16="http://schemas.microsoft.com/office/drawing/2014/main" id="{DC9D6CB4-73AC-32F8-449F-E26C807AFD41}"/>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4" name="Rectangle 6">
            <a:extLst>
              <a:ext uri="{FF2B5EF4-FFF2-40B4-BE49-F238E27FC236}">
                <a16:creationId xmlns:a16="http://schemas.microsoft.com/office/drawing/2014/main" id="{1231B1AE-1722-885A-3A50-707C4FC37511}"/>
              </a:ext>
            </a:extLst>
          </p:cNvPr>
          <p:cNvSpPr>
            <a:spLocks noGrp="1" noChangeArrowheads="1"/>
          </p:cNvSpPr>
          <p:nvPr>
            <p:ph type="sldNum" sz="quarter" idx="12"/>
          </p:nvPr>
        </p:nvSpPr>
        <p:spPr>
          <a:ln/>
        </p:spPr>
        <p:txBody>
          <a:bodyPr/>
          <a:lstStyle>
            <a:lvl1pPr>
              <a:defRPr/>
            </a:lvl1pPr>
          </a:lstStyle>
          <a:p>
            <a:pPr>
              <a:defRPr/>
            </a:pPr>
            <a:fld id="{63AC877F-2254-A74C-9FE0-B887ADC08247}" type="slidenum">
              <a:rPr lang="en-US" altLang="en-US"/>
              <a:pPr>
                <a:defRPr/>
              </a:pPr>
              <a:t>‹#›</a:t>
            </a:fld>
            <a:r>
              <a:rPr lang="en-US" altLang="en-US"/>
              <a:t> </a:t>
            </a:r>
          </a:p>
        </p:txBody>
      </p:sp>
    </p:spTree>
    <p:extLst>
      <p:ext uri="{BB962C8B-B14F-4D97-AF65-F5344CB8AC3E}">
        <p14:creationId xmlns:p14="http://schemas.microsoft.com/office/powerpoint/2010/main" val="1392613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Rectangle 4">
            <a:extLst>
              <a:ext uri="{FF2B5EF4-FFF2-40B4-BE49-F238E27FC236}">
                <a16:creationId xmlns:a16="http://schemas.microsoft.com/office/drawing/2014/main" id="{DE33DD1E-69FE-E0AF-B786-9CE27FF56149}"/>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6" name="Rectangle 5">
            <a:extLst>
              <a:ext uri="{FF2B5EF4-FFF2-40B4-BE49-F238E27FC236}">
                <a16:creationId xmlns:a16="http://schemas.microsoft.com/office/drawing/2014/main" id="{FF8F6A70-598D-E19F-057B-7D39EDDB9452}"/>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7" name="Rectangle 6">
            <a:extLst>
              <a:ext uri="{FF2B5EF4-FFF2-40B4-BE49-F238E27FC236}">
                <a16:creationId xmlns:a16="http://schemas.microsoft.com/office/drawing/2014/main" id="{22AB6EEA-47E0-AD0A-6D0F-EC3412F8DD59}"/>
              </a:ext>
            </a:extLst>
          </p:cNvPr>
          <p:cNvSpPr>
            <a:spLocks noGrp="1" noChangeArrowheads="1"/>
          </p:cNvSpPr>
          <p:nvPr>
            <p:ph type="sldNum" sz="quarter" idx="12"/>
          </p:nvPr>
        </p:nvSpPr>
        <p:spPr>
          <a:ln/>
        </p:spPr>
        <p:txBody>
          <a:bodyPr/>
          <a:lstStyle>
            <a:lvl1pPr>
              <a:defRPr/>
            </a:lvl1pPr>
          </a:lstStyle>
          <a:p>
            <a:pPr>
              <a:defRPr/>
            </a:pPr>
            <a:fld id="{A25C0F3E-E8E8-4B43-AA9D-19A17CA4CCC9}" type="slidenum">
              <a:rPr lang="en-US" altLang="en-US"/>
              <a:pPr>
                <a:defRPr/>
              </a:pPr>
              <a:t>‹#›</a:t>
            </a:fld>
            <a:r>
              <a:rPr lang="en-US" altLang="en-US"/>
              <a:t> </a:t>
            </a:r>
          </a:p>
        </p:txBody>
      </p:sp>
    </p:spTree>
    <p:extLst>
      <p:ext uri="{BB962C8B-B14F-4D97-AF65-F5344CB8AC3E}">
        <p14:creationId xmlns:p14="http://schemas.microsoft.com/office/powerpoint/2010/main" val="362326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Rectangle 4">
            <a:extLst>
              <a:ext uri="{FF2B5EF4-FFF2-40B4-BE49-F238E27FC236}">
                <a16:creationId xmlns:a16="http://schemas.microsoft.com/office/drawing/2014/main" id="{07B9C6B4-C718-5B84-9597-2A3CEAB3A84B}"/>
              </a:ext>
            </a:extLst>
          </p:cNvPr>
          <p:cNvSpPr>
            <a:spLocks noGrp="1" noChangeArrowheads="1"/>
          </p:cNvSpPr>
          <p:nvPr>
            <p:ph type="dt" sz="half" idx="10"/>
          </p:nvPr>
        </p:nvSpPr>
        <p:spPr>
          <a:ln/>
        </p:spPr>
        <p:txBody>
          <a:bodyPr/>
          <a:lstStyle>
            <a:lvl1pPr>
              <a:defRPr/>
            </a:lvl1pPr>
          </a:lstStyle>
          <a:p>
            <a:pPr>
              <a:defRPr/>
            </a:pPr>
            <a:r>
              <a:rPr lang="en-CA"/>
              <a:t>Sept 10, 2008</a:t>
            </a:r>
            <a:endParaRPr lang="en-US"/>
          </a:p>
        </p:txBody>
      </p:sp>
      <p:sp>
        <p:nvSpPr>
          <p:cNvPr id="6" name="Rectangle 5">
            <a:extLst>
              <a:ext uri="{FF2B5EF4-FFF2-40B4-BE49-F238E27FC236}">
                <a16:creationId xmlns:a16="http://schemas.microsoft.com/office/drawing/2014/main" id="{862E9CC3-57BF-E3BA-EE2B-B8A508E823C9}"/>
              </a:ext>
            </a:extLst>
          </p:cNvPr>
          <p:cNvSpPr>
            <a:spLocks noGrp="1" noChangeArrowheads="1"/>
          </p:cNvSpPr>
          <p:nvPr>
            <p:ph type="ftr" sz="quarter" idx="11"/>
          </p:nvPr>
        </p:nvSpPr>
        <p:spPr>
          <a:ln/>
        </p:spPr>
        <p:txBody>
          <a:bodyPr/>
          <a:lstStyle>
            <a:lvl1pPr>
              <a:defRPr/>
            </a:lvl1pPr>
          </a:lstStyle>
          <a:p>
            <a:pPr>
              <a:defRPr/>
            </a:pPr>
            <a:r>
              <a:rPr lang="en-US"/>
              <a:t>EECE 476 - Slide Set #3</a:t>
            </a:r>
          </a:p>
        </p:txBody>
      </p:sp>
      <p:sp>
        <p:nvSpPr>
          <p:cNvPr id="7" name="Rectangle 6">
            <a:extLst>
              <a:ext uri="{FF2B5EF4-FFF2-40B4-BE49-F238E27FC236}">
                <a16:creationId xmlns:a16="http://schemas.microsoft.com/office/drawing/2014/main" id="{7264433B-C55F-F013-BF00-5C896CA4F674}"/>
              </a:ext>
            </a:extLst>
          </p:cNvPr>
          <p:cNvSpPr>
            <a:spLocks noGrp="1" noChangeArrowheads="1"/>
          </p:cNvSpPr>
          <p:nvPr>
            <p:ph type="sldNum" sz="quarter" idx="12"/>
          </p:nvPr>
        </p:nvSpPr>
        <p:spPr>
          <a:ln/>
        </p:spPr>
        <p:txBody>
          <a:bodyPr/>
          <a:lstStyle>
            <a:lvl1pPr>
              <a:defRPr/>
            </a:lvl1pPr>
          </a:lstStyle>
          <a:p>
            <a:pPr>
              <a:defRPr/>
            </a:pPr>
            <a:fld id="{50FCF849-3ABF-BF40-8CBE-C88D272AF29C}" type="slidenum">
              <a:rPr lang="en-US" altLang="en-US"/>
              <a:pPr>
                <a:defRPr/>
              </a:pPr>
              <a:t>‹#›</a:t>
            </a:fld>
            <a:r>
              <a:rPr lang="en-US" altLang="en-US"/>
              <a:t> </a:t>
            </a:r>
          </a:p>
        </p:txBody>
      </p:sp>
    </p:spTree>
    <p:extLst>
      <p:ext uri="{BB962C8B-B14F-4D97-AF65-F5344CB8AC3E}">
        <p14:creationId xmlns:p14="http://schemas.microsoft.com/office/powerpoint/2010/main" val="187010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a:extLst>
              <a:ext uri="{FF2B5EF4-FFF2-40B4-BE49-F238E27FC236}">
                <a16:creationId xmlns:a16="http://schemas.microsoft.com/office/drawing/2014/main" id="{14CAEADA-9B11-F811-7B02-FF8EEE7EE1F8}"/>
              </a:ext>
            </a:extLst>
          </p:cNvPr>
          <p:cNvSpPr>
            <a:spLocks noGrp="1" noChangeArrowheads="1"/>
          </p:cNvSpPr>
          <p:nvPr>
            <p:ph type="dt" sz="half" idx="10"/>
          </p:nvPr>
        </p:nvSpPr>
        <p:spPr/>
        <p:txBody>
          <a:bodyPr/>
          <a:lstStyle>
            <a:lvl1pPr>
              <a:defRPr/>
            </a:lvl1pPr>
          </a:lstStyle>
          <a:p>
            <a:pPr>
              <a:defRPr/>
            </a:pPr>
            <a:r>
              <a:rPr lang="en-CA"/>
              <a:t>Sept 10, 2008</a:t>
            </a:r>
            <a:endParaRPr lang="en-US"/>
          </a:p>
        </p:txBody>
      </p:sp>
      <p:sp>
        <p:nvSpPr>
          <p:cNvPr id="5" name="Rectangle 5">
            <a:extLst>
              <a:ext uri="{FF2B5EF4-FFF2-40B4-BE49-F238E27FC236}">
                <a16:creationId xmlns:a16="http://schemas.microsoft.com/office/drawing/2014/main" id="{C11FA549-7ED5-2831-D5BB-7AF573A517FC}"/>
              </a:ext>
            </a:extLst>
          </p:cNvPr>
          <p:cNvSpPr>
            <a:spLocks noGrp="1" noChangeArrowheads="1"/>
          </p:cNvSpPr>
          <p:nvPr>
            <p:ph type="ftr" sz="quarter" idx="11"/>
          </p:nvPr>
        </p:nvSpPr>
        <p:spPr/>
        <p:txBody>
          <a:bodyPr/>
          <a:lstStyle>
            <a:lvl1pPr>
              <a:defRPr/>
            </a:lvl1pPr>
          </a:lstStyle>
          <a:p>
            <a:pPr>
              <a:defRPr/>
            </a:pPr>
            <a:r>
              <a:rPr lang="en-US"/>
              <a:t>EECE 476 - Slide Set #3</a:t>
            </a:r>
          </a:p>
        </p:txBody>
      </p:sp>
      <p:sp>
        <p:nvSpPr>
          <p:cNvPr id="6" name="Rectangle 6">
            <a:extLst>
              <a:ext uri="{FF2B5EF4-FFF2-40B4-BE49-F238E27FC236}">
                <a16:creationId xmlns:a16="http://schemas.microsoft.com/office/drawing/2014/main" id="{6EA17FEB-A372-151D-200C-1BB88BC8A900}"/>
              </a:ext>
            </a:extLst>
          </p:cNvPr>
          <p:cNvSpPr>
            <a:spLocks noGrp="1" noChangeArrowheads="1"/>
          </p:cNvSpPr>
          <p:nvPr>
            <p:ph type="sldNum" sz="quarter" idx="12"/>
          </p:nvPr>
        </p:nvSpPr>
        <p:spPr/>
        <p:txBody>
          <a:bodyPr/>
          <a:lstStyle>
            <a:lvl1pPr>
              <a:defRPr smtClean="0">
                <a:latin typeface="Comic Sans MS" panose="030F0902030302020204" pitchFamily="66" charset="0"/>
              </a:defRPr>
            </a:lvl1pPr>
          </a:lstStyle>
          <a:p>
            <a:pPr>
              <a:defRPr/>
            </a:pPr>
            <a:fld id="{6A824A26-F537-0541-9B2B-36B71A4D4822}" type="slidenum">
              <a:rPr lang="en-US" altLang="en-US"/>
              <a:pPr>
                <a:defRPr/>
              </a:pPr>
              <a:t>‹#›</a:t>
            </a:fld>
            <a:r>
              <a:rPr lang="en-US" altLang="en-US"/>
              <a:t> of 28</a:t>
            </a:r>
          </a:p>
        </p:txBody>
      </p:sp>
    </p:spTree>
    <p:extLst>
      <p:ext uri="{BB962C8B-B14F-4D97-AF65-F5344CB8AC3E}">
        <p14:creationId xmlns:p14="http://schemas.microsoft.com/office/powerpoint/2010/main" val="3333555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a:extLst>
              <a:ext uri="{FF2B5EF4-FFF2-40B4-BE49-F238E27FC236}">
                <a16:creationId xmlns:a16="http://schemas.microsoft.com/office/drawing/2014/main" id="{ACB1BFAA-EC05-622E-90E7-F6E2742516CE}"/>
              </a:ext>
            </a:extLst>
          </p:cNvPr>
          <p:cNvSpPr>
            <a:spLocks noGrp="1" noChangeArrowheads="1"/>
          </p:cNvSpPr>
          <p:nvPr>
            <p:ph type="dt" sz="half" idx="10"/>
          </p:nvPr>
        </p:nvSpPr>
        <p:spPr/>
        <p:txBody>
          <a:bodyPr/>
          <a:lstStyle>
            <a:lvl1pPr>
              <a:defRPr/>
            </a:lvl1pPr>
          </a:lstStyle>
          <a:p>
            <a:pPr>
              <a:defRPr/>
            </a:pPr>
            <a:r>
              <a:rPr lang="en-CA"/>
              <a:t>Sept 10, 2008</a:t>
            </a:r>
            <a:endParaRPr lang="en-US"/>
          </a:p>
        </p:txBody>
      </p:sp>
      <p:sp>
        <p:nvSpPr>
          <p:cNvPr id="5" name="Rectangle 5">
            <a:extLst>
              <a:ext uri="{FF2B5EF4-FFF2-40B4-BE49-F238E27FC236}">
                <a16:creationId xmlns:a16="http://schemas.microsoft.com/office/drawing/2014/main" id="{E8ABC732-46FB-F6B5-4741-974C71E3BDF8}"/>
              </a:ext>
            </a:extLst>
          </p:cNvPr>
          <p:cNvSpPr>
            <a:spLocks noGrp="1" noChangeArrowheads="1"/>
          </p:cNvSpPr>
          <p:nvPr>
            <p:ph type="ftr" sz="quarter" idx="11"/>
          </p:nvPr>
        </p:nvSpPr>
        <p:spPr/>
        <p:txBody>
          <a:bodyPr/>
          <a:lstStyle>
            <a:lvl1pPr>
              <a:defRPr/>
            </a:lvl1pPr>
          </a:lstStyle>
          <a:p>
            <a:pPr>
              <a:defRPr/>
            </a:pPr>
            <a:r>
              <a:rPr lang="en-US"/>
              <a:t>EECE 476 - Slide Set #3</a:t>
            </a:r>
          </a:p>
        </p:txBody>
      </p:sp>
      <p:sp>
        <p:nvSpPr>
          <p:cNvPr id="6" name="Rectangle 6">
            <a:extLst>
              <a:ext uri="{FF2B5EF4-FFF2-40B4-BE49-F238E27FC236}">
                <a16:creationId xmlns:a16="http://schemas.microsoft.com/office/drawing/2014/main" id="{6B3F5A19-66F0-FC63-2DA7-65F765022172}"/>
              </a:ext>
            </a:extLst>
          </p:cNvPr>
          <p:cNvSpPr>
            <a:spLocks noGrp="1" noChangeArrowheads="1"/>
          </p:cNvSpPr>
          <p:nvPr>
            <p:ph type="sldNum" sz="quarter" idx="12"/>
          </p:nvPr>
        </p:nvSpPr>
        <p:spPr/>
        <p:txBody>
          <a:bodyPr/>
          <a:lstStyle>
            <a:lvl1pPr>
              <a:defRPr smtClean="0">
                <a:latin typeface="Comic Sans MS" panose="030F0902030302020204" pitchFamily="66" charset="0"/>
              </a:defRPr>
            </a:lvl1pPr>
          </a:lstStyle>
          <a:p>
            <a:pPr>
              <a:defRPr/>
            </a:pPr>
            <a:fld id="{D105A508-1A72-BF46-AF1B-F26EF317CEFF}" type="slidenum">
              <a:rPr lang="en-US" altLang="en-US"/>
              <a:pPr>
                <a:defRPr/>
              </a:pPr>
              <a:t>‹#›</a:t>
            </a:fld>
            <a:r>
              <a:rPr lang="en-US" altLang="en-US"/>
              <a:t> of 28</a:t>
            </a:r>
          </a:p>
        </p:txBody>
      </p:sp>
    </p:spTree>
    <p:extLst>
      <p:ext uri="{BB962C8B-B14F-4D97-AF65-F5344CB8AC3E}">
        <p14:creationId xmlns:p14="http://schemas.microsoft.com/office/powerpoint/2010/main" val="3902195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50ABC9D-7521-A097-4984-3E1817F1A722}"/>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528D570-5975-F7BC-9BA4-449F94A263AD}"/>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E5B40982-1328-BDD0-24FF-36003F9E8B2C}"/>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atin typeface="Arial  " charset="0"/>
              </a:defRPr>
            </a:lvl1pPr>
          </a:lstStyle>
          <a:p>
            <a:pPr>
              <a:defRPr/>
            </a:pPr>
            <a:r>
              <a:rPr lang="en-CA"/>
              <a:t>Sept 10, 2008</a:t>
            </a:r>
            <a:endParaRPr lang="en-US"/>
          </a:p>
        </p:txBody>
      </p:sp>
      <p:sp>
        <p:nvSpPr>
          <p:cNvPr id="1029" name="Rectangle 5">
            <a:extLst>
              <a:ext uri="{FF2B5EF4-FFF2-40B4-BE49-F238E27FC236}">
                <a16:creationId xmlns:a16="http://schemas.microsoft.com/office/drawing/2014/main" id="{4B120F0C-23A4-3A53-9219-9E04A16A079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latin typeface="Arial  " charset="0"/>
              </a:defRPr>
            </a:lvl1pPr>
          </a:lstStyle>
          <a:p>
            <a:pPr>
              <a:defRPr/>
            </a:pPr>
            <a:r>
              <a:rPr lang="en-US"/>
              <a:t>EECE 476 - Slide Set #3</a:t>
            </a:r>
          </a:p>
        </p:txBody>
      </p:sp>
      <p:sp>
        <p:nvSpPr>
          <p:cNvPr id="1030" name="Rectangle 6">
            <a:extLst>
              <a:ext uri="{FF2B5EF4-FFF2-40B4-BE49-F238E27FC236}">
                <a16:creationId xmlns:a16="http://schemas.microsoft.com/office/drawing/2014/main" id="{AE74EDF8-6FD7-5034-4D0C-63F187BBE730}"/>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smtClean="0">
                <a:latin typeface="Arial  " charset="0"/>
              </a:defRPr>
            </a:lvl1pPr>
          </a:lstStyle>
          <a:p>
            <a:pPr>
              <a:defRPr/>
            </a:pPr>
            <a:fld id="{D6E8402C-58D7-AC48-9266-7E49D65E995D}" type="slidenum">
              <a:rPr lang="en-US" altLang="en-US"/>
              <a:pPr>
                <a:defRPr/>
              </a:pPr>
              <a:t>‹#›</a:t>
            </a:fld>
            <a:r>
              <a:rPr lang="en-US" altLang="en-US"/>
              <a:t> </a:t>
            </a:r>
          </a:p>
        </p:txBody>
      </p:sp>
    </p:spTree>
  </p:cSld>
  <p:clrMap bg1="lt1" tx1="dk1" bg2="lt2" tx2="dk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Lst>
  <p:hf hdr="0" ftr="0" dt="0"/>
  <p:txStyles>
    <p:titleStyle>
      <a:lvl1pPr algn="ctr" rtl="0" eaLnBrk="0" fontAlgn="base" hangingPunct="0">
        <a:spcBef>
          <a:spcPct val="0"/>
        </a:spcBef>
        <a:spcAft>
          <a:spcPct val="0"/>
        </a:spcAft>
        <a:defRPr sz="4000">
          <a:solidFill>
            <a:schemeClr val="tx2"/>
          </a:solidFill>
          <a:latin typeface="Arial  "/>
          <a:ea typeface="MS PGothic" pitchFamily="34" charset="-128"/>
          <a:cs typeface="Arial  "/>
        </a:defRPr>
      </a:lvl1pPr>
      <a:lvl2pPr algn="ctr" rtl="0" eaLnBrk="0" fontAlgn="base" hangingPunct="0">
        <a:spcBef>
          <a:spcPct val="0"/>
        </a:spcBef>
        <a:spcAft>
          <a:spcPct val="0"/>
        </a:spcAft>
        <a:defRPr sz="4000">
          <a:solidFill>
            <a:schemeClr val="tx2"/>
          </a:solidFill>
          <a:latin typeface="Arial  " charset="-52"/>
          <a:ea typeface="MS PGothic" pitchFamily="34" charset="-128"/>
          <a:cs typeface="Arial  " charset="0"/>
        </a:defRPr>
      </a:lvl2pPr>
      <a:lvl3pPr algn="ctr" rtl="0" eaLnBrk="0" fontAlgn="base" hangingPunct="0">
        <a:spcBef>
          <a:spcPct val="0"/>
        </a:spcBef>
        <a:spcAft>
          <a:spcPct val="0"/>
        </a:spcAft>
        <a:defRPr sz="4000">
          <a:solidFill>
            <a:schemeClr val="tx2"/>
          </a:solidFill>
          <a:latin typeface="Arial  " charset="-52"/>
          <a:ea typeface="MS PGothic" pitchFamily="34" charset="-128"/>
          <a:cs typeface="Arial  " charset="0"/>
        </a:defRPr>
      </a:lvl3pPr>
      <a:lvl4pPr algn="ctr" rtl="0" eaLnBrk="0" fontAlgn="base" hangingPunct="0">
        <a:spcBef>
          <a:spcPct val="0"/>
        </a:spcBef>
        <a:spcAft>
          <a:spcPct val="0"/>
        </a:spcAft>
        <a:defRPr sz="4000">
          <a:solidFill>
            <a:schemeClr val="tx2"/>
          </a:solidFill>
          <a:latin typeface="Arial  " charset="-52"/>
          <a:ea typeface="MS PGothic" pitchFamily="34" charset="-128"/>
          <a:cs typeface="Arial  " charset="0"/>
        </a:defRPr>
      </a:lvl4pPr>
      <a:lvl5pPr algn="ctr" rtl="0" eaLnBrk="0" fontAlgn="base" hangingPunct="0">
        <a:spcBef>
          <a:spcPct val="0"/>
        </a:spcBef>
        <a:spcAft>
          <a:spcPct val="0"/>
        </a:spcAft>
        <a:defRPr sz="4000">
          <a:solidFill>
            <a:schemeClr val="tx2"/>
          </a:solidFill>
          <a:latin typeface="Arial  " charset="-52"/>
          <a:ea typeface="MS PGothic" pitchFamily="34" charset="-128"/>
          <a:cs typeface="Arial  " charset="0"/>
        </a:defRPr>
      </a:lvl5pPr>
      <a:lvl6pPr marL="4572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6pPr>
      <a:lvl7pPr marL="9144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7pPr>
      <a:lvl8pPr marL="13716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8pPr>
      <a:lvl9pPr marL="18288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9pPr>
    </p:titleStyle>
    <p:bodyStyle>
      <a:lvl1pPr marL="342900" indent="-342900" algn="l" rtl="0" eaLnBrk="0" fontAlgn="base" hangingPunct="0">
        <a:spcBef>
          <a:spcPct val="20000"/>
        </a:spcBef>
        <a:spcAft>
          <a:spcPct val="0"/>
        </a:spcAft>
        <a:buChar char="•"/>
        <a:defRPr sz="3200">
          <a:solidFill>
            <a:schemeClr val="tx1"/>
          </a:solidFill>
          <a:latin typeface="Arial  "/>
          <a:ea typeface="MS PGothic" pitchFamily="34" charset="-128"/>
          <a:cs typeface="Arial  "/>
        </a:defRPr>
      </a:lvl1pPr>
      <a:lvl2pPr marL="742950" indent="-285750" algn="l" rtl="0" eaLnBrk="0" fontAlgn="base" hangingPunct="0">
        <a:spcBef>
          <a:spcPct val="20000"/>
        </a:spcBef>
        <a:spcAft>
          <a:spcPct val="0"/>
        </a:spcAft>
        <a:buChar char="–"/>
        <a:defRPr sz="2800">
          <a:solidFill>
            <a:schemeClr val="tx1"/>
          </a:solidFill>
          <a:latin typeface="Arial  "/>
          <a:ea typeface="MS PGothic" pitchFamily="34" charset="-128"/>
          <a:cs typeface="Arial  "/>
        </a:defRPr>
      </a:lvl2pPr>
      <a:lvl3pPr marL="1143000" indent="-228600" algn="l" rtl="0" eaLnBrk="0" fontAlgn="base" hangingPunct="0">
        <a:spcBef>
          <a:spcPct val="20000"/>
        </a:spcBef>
        <a:spcAft>
          <a:spcPct val="0"/>
        </a:spcAft>
        <a:buChar char="•"/>
        <a:defRPr sz="2400">
          <a:solidFill>
            <a:schemeClr val="tx1"/>
          </a:solidFill>
          <a:latin typeface="Arial  "/>
          <a:ea typeface="MS PGothic" pitchFamily="34" charset="-128"/>
          <a:cs typeface="Arial  "/>
        </a:defRPr>
      </a:lvl3pPr>
      <a:lvl4pPr marL="1600200" indent="-228600" algn="l" rtl="0" eaLnBrk="0" fontAlgn="base" hangingPunct="0">
        <a:spcBef>
          <a:spcPct val="20000"/>
        </a:spcBef>
        <a:spcAft>
          <a:spcPct val="0"/>
        </a:spcAft>
        <a:buChar char="–"/>
        <a:defRPr sz="2000">
          <a:solidFill>
            <a:schemeClr val="tx1"/>
          </a:solidFill>
          <a:latin typeface="Arial  "/>
          <a:ea typeface="MS PGothic" pitchFamily="34" charset="-128"/>
          <a:cs typeface="Arial  "/>
        </a:defRPr>
      </a:lvl4pPr>
      <a:lvl5pPr marL="2057400" indent="-228600" algn="l" rtl="0" eaLnBrk="0" fontAlgn="base" hangingPunct="0">
        <a:spcBef>
          <a:spcPct val="20000"/>
        </a:spcBef>
        <a:spcAft>
          <a:spcPct val="0"/>
        </a:spcAft>
        <a:buChar char="»"/>
        <a:defRPr sz="2000">
          <a:solidFill>
            <a:schemeClr val="tx1"/>
          </a:solidFill>
          <a:latin typeface="Arial  "/>
          <a:ea typeface="MS PGothic" pitchFamily="34" charset="-128"/>
          <a:cs typeface="Arial  "/>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1" name="Picture 4" descr="ist2_4206646-computer-program.jpg">
            <a:extLst>
              <a:ext uri="{FF2B5EF4-FFF2-40B4-BE49-F238E27FC236}">
                <a16:creationId xmlns:a16="http://schemas.microsoft.com/office/drawing/2014/main" id="{B930BDC1-6A6C-C5C4-3EF6-0DD3A41AD8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4813" y="-579438"/>
            <a:ext cx="9548813" cy="1364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2" name="Rectangle 5">
            <a:extLst>
              <a:ext uri="{FF2B5EF4-FFF2-40B4-BE49-F238E27FC236}">
                <a16:creationId xmlns:a16="http://schemas.microsoft.com/office/drawing/2014/main" id="{E7FAB276-7705-6143-5982-131141982C70}"/>
              </a:ext>
            </a:extLst>
          </p:cNvPr>
          <p:cNvSpPr>
            <a:spLocks noChangeArrowheads="1"/>
          </p:cNvSpPr>
          <p:nvPr/>
        </p:nvSpPr>
        <p:spPr bwMode="auto">
          <a:xfrm>
            <a:off x="685800" y="1066800"/>
            <a:ext cx="7861300" cy="4152900"/>
          </a:xfrm>
          <a:prstGeom prst="rect">
            <a:avLst/>
          </a:prstGeom>
          <a:solidFill>
            <a:schemeClr val="bg1">
              <a:alpha val="74901"/>
            </a:schemeClr>
          </a:solidFill>
          <a:ln w="9525">
            <a:solidFill>
              <a:schemeClr val="tx1"/>
            </a:solidFill>
            <a:round/>
            <a:headEnd/>
            <a:tailEnd/>
          </a:ln>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15363" name="Title 1">
            <a:extLst>
              <a:ext uri="{FF2B5EF4-FFF2-40B4-BE49-F238E27FC236}">
                <a16:creationId xmlns:a16="http://schemas.microsoft.com/office/drawing/2014/main" id="{22E6C610-B35D-BCF0-FA67-38FB36C5FBED}"/>
              </a:ext>
            </a:extLst>
          </p:cNvPr>
          <p:cNvSpPr>
            <a:spLocks noGrp="1" noChangeArrowheads="1"/>
          </p:cNvSpPr>
          <p:nvPr>
            <p:ph type="ctrTitle"/>
          </p:nvPr>
        </p:nvSpPr>
        <p:spPr>
          <a:xfrm>
            <a:off x="0" y="990600"/>
            <a:ext cx="9144000" cy="2819400"/>
          </a:xfrm>
        </p:spPr>
        <p:txBody>
          <a:bodyPr/>
          <a:lstStyle/>
          <a:p>
            <a:r>
              <a:rPr lang="en-US" altLang="en-US" sz="3200">
                <a:latin typeface="Arial  " charset="0"/>
                <a:cs typeface="Arial  " charset="0"/>
              </a:rPr>
              <a:t>CPEN 411: Computer Architecture</a:t>
            </a:r>
            <a:br>
              <a:rPr lang="en-US" altLang="en-US" sz="2400">
                <a:latin typeface="Arial  " charset="0"/>
                <a:cs typeface="Arial  " charset="0"/>
              </a:rPr>
            </a:br>
            <a:br>
              <a:rPr lang="en-US" altLang="en-US" sz="2400">
                <a:latin typeface="Arial  " charset="0"/>
                <a:cs typeface="Arial  " charset="0"/>
              </a:rPr>
            </a:br>
            <a:br>
              <a:rPr lang="en-US" altLang="en-US">
                <a:latin typeface="Arial  " charset="0"/>
                <a:cs typeface="Arial  " charset="0"/>
              </a:rPr>
            </a:br>
            <a:r>
              <a:rPr lang="en-US" altLang="en-US" sz="2800">
                <a:latin typeface="Arial  " charset="0"/>
                <a:cs typeface="Arial  " charset="0"/>
              </a:rPr>
              <a:t>Slide Set #4: Instruction Set Architecture Design</a:t>
            </a:r>
          </a:p>
        </p:txBody>
      </p:sp>
      <p:sp>
        <p:nvSpPr>
          <p:cNvPr id="15364" name="Subtitle 2">
            <a:extLst>
              <a:ext uri="{FF2B5EF4-FFF2-40B4-BE49-F238E27FC236}">
                <a16:creationId xmlns:a16="http://schemas.microsoft.com/office/drawing/2014/main" id="{4CBA80C7-DFAC-C342-0D60-A4CEE05C0645}"/>
              </a:ext>
            </a:extLst>
          </p:cNvPr>
          <p:cNvSpPr>
            <a:spLocks noGrp="1" noChangeArrowheads="1"/>
          </p:cNvSpPr>
          <p:nvPr>
            <p:ph type="subTitle" idx="1"/>
          </p:nvPr>
        </p:nvSpPr>
        <p:spPr>
          <a:xfrm>
            <a:off x="1371600" y="4038600"/>
            <a:ext cx="6400800" cy="1752600"/>
          </a:xfrm>
        </p:spPr>
        <p:txBody>
          <a:bodyPr/>
          <a:lstStyle/>
          <a:p>
            <a:r>
              <a:rPr lang="en-US" altLang="en-US" sz="2800">
                <a:latin typeface="Arial  " charset="0"/>
                <a:cs typeface="Arial  " charset="0"/>
              </a:rPr>
              <a:t>Instructor: Tor Aamodt</a:t>
            </a:r>
          </a:p>
        </p:txBody>
      </p:sp>
      <p:sp>
        <p:nvSpPr>
          <p:cNvPr id="15365" name="Slide Number Placeholder 5">
            <a:extLst>
              <a:ext uri="{FF2B5EF4-FFF2-40B4-BE49-F238E27FC236}">
                <a16:creationId xmlns:a16="http://schemas.microsoft.com/office/drawing/2014/main" id="{3E379206-1AE6-72DA-57C8-D8CD858499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9329BFB2-C465-5C40-9221-DD937AE91B3F}" type="slidenum">
              <a:rPr lang="en-GB" altLang="en-US" sz="1400"/>
              <a:pPr>
                <a:spcBef>
                  <a:spcPct val="0"/>
                </a:spcBef>
                <a:buFontTx/>
                <a:buNone/>
              </a:pPr>
              <a:t>1</a:t>
            </a:fld>
            <a:r>
              <a:rPr lang="en-GB" altLang="en-US" sz="140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C16704CA-0496-FE48-A268-960D4C59BD20}"/>
              </a:ext>
            </a:extLst>
          </p:cNvPr>
          <p:cNvSpPr>
            <a:spLocks noGrp="1" noChangeArrowheads="1"/>
          </p:cNvSpPr>
          <p:nvPr>
            <p:ph type="title"/>
          </p:nvPr>
        </p:nvSpPr>
        <p:spPr>
          <a:xfrm>
            <a:off x="685800" y="0"/>
            <a:ext cx="7772400" cy="990600"/>
          </a:xfrm>
        </p:spPr>
        <p:txBody>
          <a:bodyPr/>
          <a:lstStyle/>
          <a:p>
            <a:r>
              <a:rPr lang="en-US" altLang="en-US">
                <a:latin typeface="Arial  " charset="0"/>
                <a:cs typeface="Arial  " charset="0"/>
              </a:rPr>
              <a:t>The RISC vs. CISC Debate</a:t>
            </a:r>
          </a:p>
        </p:txBody>
      </p:sp>
      <p:sp>
        <p:nvSpPr>
          <p:cNvPr id="16386" name="Rectangle 3">
            <a:extLst>
              <a:ext uri="{FF2B5EF4-FFF2-40B4-BE49-F238E27FC236}">
                <a16:creationId xmlns:a16="http://schemas.microsoft.com/office/drawing/2014/main" id="{0FA68525-004B-58A5-F959-B30483C5D321}"/>
              </a:ext>
            </a:extLst>
          </p:cNvPr>
          <p:cNvSpPr>
            <a:spLocks noGrp="1" noChangeArrowheads="1"/>
          </p:cNvSpPr>
          <p:nvPr>
            <p:ph type="body" idx="1"/>
          </p:nvPr>
        </p:nvSpPr>
        <p:spPr>
          <a:xfrm>
            <a:off x="393700" y="5130800"/>
            <a:ext cx="8458200" cy="1231900"/>
          </a:xfrm>
        </p:spPr>
        <p:txBody>
          <a:bodyPr/>
          <a:lstStyle/>
          <a:p>
            <a:pPr>
              <a:lnSpc>
                <a:spcPct val="80000"/>
              </a:lnSpc>
            </a:pPr>
            <a:r>
              <a:rPr lang="en-US" altLang="en-US" sz="1400">
                <a:solidFill>
                  <a:srgbClr val="000000"/>
                </a:solidFill>
                <a:latin typeface="Arial  " charset="0"/>
                <a:cs typeface="Arial  " charset="0"/>
              </a:rPr>
              <a:t>RISC = Reduced Instruction Set Computer</a:t>
            </a:r>
          </a:p>
          <a:p>
            <a:pPr>
              <a:lnSpc>
                <a:spcPct val="80000"/>
              </a:lnSpc>
            </a:pPr>
            <a:r>
              <a:rPr lang="en-US" altLang="en-US" sz="1400">
                <a:solidFill>
                  <a:srgbClr val="000000"/>
                </a:solidFill>
                <a:latin typeface="Arial  " charset="0"/>
                <a:cs typeface="Arial  " charset="0"/>
              </a:rPr>
              <a:t>CISC = Complex Instruction Set Computer</a:t>
            </a:r>
          </a:p>
          <a:p>
            <a:pPr>
              <a:lnSpc>
                <a:spcPct val="80000"/>
              </a:lnSpc>
            </a:pPr>
            <a:r>
              <a:rPr lang="en-US" altLang="en-US" sz="1400">
                <a:solidFill>
                  <a:srgbClr val="000000"/>
                </a:solidFill>
                <a:latin typeface="Arial  " charset="0"/>
                <a:cs typeface="Arial  " charset="0"/>
              </a:rPr>
              <a:t>Red portion on Pentium Pro represents overhead of supporting CISC (about 5% area increase)</a:t>
            </a:r>
          </a:p>
          <a:p>
            <a:pPr>
              <a:lnSpc>
                <a:spcPct val="80000"/>
              </a:lnSpc>
            </a:pPr>
            <a:endParaRPr lang="en-US" altLang="en-US" sz="1400">
              <a:solidFill>
                <a:srgbClr val="000000"/>
              </a:solidFill>
              <a:latin typeface="Arial  " charset="0"/>
              <a:cs typeface="Arial  " charset="0"/>
            </a:endParaRPr>
          </a:p>
          <a:p>
            <a:pPr>
              <a:lnSpc>
                <a:spcPct val="80000"/>
              </a:lnSpc>
              <a:buFontTx/>
              <a:buNone/>
            </a:pPr>
            <a:endParaRPr lang="en-US" altLang="en-US" sz="1400">
              <a:solidFill>
                <a:srgbClr val="000000"/>
              </a:solidFill>
              <a:latin typeface="Arial  " charset="0"/>
              <a:cs typeface="Arial  " charset="0"/>
            </a:endParaRPr>
          </a:p>
        </p:txBody>
      </p:sp>
      <p:pic>
        <p:nvPicPr>
          <p:cNvPr id="16387" name="Picture 4" descr="ppc620">
            <a:extLst>
              <a:ext uri="{FF2B5EF4-FFF2-40B4-BE49-F238E27FC236}">
                <a16:creationId xmlns:a16="http://schemas.microsoft.com/office/drawing/2014/main" id="{3520969B-7A5A-5007-911F-CF9CFFAC5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524000"/>
            <a:ext cx="308451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5" descr="PentiumPro">
            <a:extLst>
              <a:ext uri="{FF2B5EF4-FFF2-40B4-BE49-F238E27FC236}">
                <a16:creationId xmlns:a16="http://schemas.microsoft.com/office/drawing/2014/main" id="{FCB3841E-0EF1-1FA0-6835-CC8813E47F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447800"/>
            <a:ext cx="3267075"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18">
            <a:extLst>
              <a:ext uri="{FF2B5EF4-FFF2-40B4-BE49-F238E27FC236}">
                <a16:creationId xmlns:a16="http://schemas.microsoft.com/office/drawing/2014/main" id="{E7B0444C-C9AF-5DCA-728E-A0CC3B10B269}"/>
              </a:ext>
            </a:extLst>
          </p:cNvPr>
          <p:cNvSpPr>
            <a:spLocks noChangeArrowheads="1"/>
          </p:cNvSpPr>
          <p:nvPr/>
        </p:nvSpPr>
        <p:spPr bwMode="auto">
          <a:xfrm>
            <a:off x="6248400" y="4038600"/>
            <a:ext cx="1143000" cy="609600"/>
          </a:xfrm>
          <a:prstGeom prst="rect">
            <a:avLst/>
          </a:prstGeom>
          <a:gradFill rotWithShape="0">
            <a:gsLst>
              <a:gs pos="0">
                <a:srgbClr val="760000">
                  <a:alpha val="70000"/>
                </a:srgbClr>
              </a:gs>
              <a:gs pos="100000">
                <a:srgbClr val="FF0000">
                  <a:alpha val="70000"/>
                </a:srgbClr>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16390" name="Text Box 19">
            <a:extLst>
              <a:ext uri="{FF2B5EF4-FFF2-40B4-BE49-F238E27FC236}">
                <a16:creationId xmlns:a16="http://schemas.microsoft.com/office/drawing/2014/main" id="{0CF9D492-16E5-1A38-C09F-BCAFA8DDBFF6}"/>
              </a:ext>
            </a:extLst>
          </p:cNvPr>
          <p:cNvSpPr txBox="1">
            <a:spLocks noChangeArrowheads="1"/>
          </p:cNvSpPr>
          <p:nvPr/>
        </p:nvSpPr>
        <p:spPr bwMode="auto">
          <a:xfrm>
            <a:off x="1054100" y="863600"/>
            <a:ext cx="3124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800"/>
              <a:t>PowerPC 620 - “</a:t>
            </a:r>
            <a:r>
              <a:rPr lang="en-US" altLang="en-US" sz="1800">
                <a:solidFill>
                  <a:srgbClr val="FF0000"/>
                </a:solidFill>
              </a:rPr>
              <a:t>RISC</a:t>
            </a:r>
            <a:r>
              <a:rPr lang="en-US" altLang="en-US" sz="1800"/>
              <a:t>” ISA</a:t>
            </a:r>
            <a:endParaRPr lang="en-US" altLang="en-US" sz="2400"/>
          </a:p>
        </p:txBody>
      </p:sp>
      <p:sp>
        <p:nvSpPr>
          <p:cNvPr id="16391" name="Text Box 20">
            <a:extLst>
              <a:ext uri="{FF2B5EF4-FFF2-40B4-BE49-F238E27FC236}">
                <a16:creationId xmlns:a16="http://schemas.microsoft.com/office/drawing/2014/main" id="{45A09355-F711-8F9A-4FAB-52D8FC0A6D83}"/>
              </a:ext>
            </a:extLst>
          </p:cNvPr>
          <p:cNvSpPr txBox="1">
            <a:spLocks noChangeArrowheads="1"/>
          </p:cNvSpPr>
          <p:nvPr/>
        </p:nvSpPr>
        <p:spPr bwMode="auto">
          <a:xfrm>
            <a:off x="4800600" y="825500"/>
            <a:ext cx="2744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800"/>
              <a:t>PentiumPro - “</a:t>
            </a:r>
            <a:r>
              <a:rPr lang="en-US" altLang="en-US" sz="1800">
                <a:solidFill>
                  <a:srgbClr val="FF0000"/>
                </a:solidFill>
              </a:rPr>
              <a:t>CISC</a:t>
            </a:r>
            <a:r>
              <a:rPr lang="en-US" altLang="en-US" sz="1800"/>
              <a:t>” ISA</a:t>
            </a:r>
          </a:p>
          <a:p>
            <a:pPr>
              <a:spcBef>
                <a:spcPct val="0"/>
              </a:spcBef>
              <a:buFontTx/>
              <a:buNone/>
            </a:pPr>
            <a:r>
              <a:rPr lang="en-US" altLang="en-US" sz="1400" i="1"/>
              <a:t>(w/ “RISC implementation”)</a:t>
            </a:r>
            <a:endParaRPr lang="en-US" altLang="en-US" sz="2400"/>
          </a:p>
        </p:txBody>
      </p:sp>
      <p:sp>
        <p:nvSpPr>
          <p:cNvPr id="16392" name="Slide Number Placeholder 23">
            <a:extLst>
              <a:ext uri="{FF2B5EF4-FFF2-40B4-BE49-F238E27FC236}">
                <a16:creationId xmlns:a16="http://schemas.microsoft.com/office/drawing/2014/main" id="{9FCD94AB-E926-FA61-4156-375DB70A4919}"/>
              </a:ext>
            </a:extLst>
          </p:cNvPr>
          <p:cNvSpPr>
            <a:spLocks noGrp="1"/>
          </p:cNvSpPr>
          <p:nvPr>
            <p:ph type="sldNum" sz="quarter" idx="12"/>
          </p:nvPr>
        </p:nvSpPr>
        <p:spPr>
          <a:xfrm>
            <a:off x="6553200" y="64008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30B8FD39-2D79-B942-9827-617757893C81}" type="slidenum">
              <a:rPr lang="en-US" altLang="en-US" sz="1400"/>
              <a:pPr>
                <a:spcBef>
                  <a:spcPct val="0"/>
                </a:spcBef>
                <a:buFontTx/>
                <a:buNone/>
              </a:pPr>
              <a:t>2</a:t>
            </a:fld>
            <a:r>
              <a:rPr lang="en-US" altLang="en-US" sz="140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56B239D9-CFBA-0AAE-5550-EBB3DDD6A28B}"/>
              </a:ext>
            </a:extLst>
          </p:cNvPr>
          <p:cNvSpPr>
            <a:spLocks noGrp="1" noChangeArrowheads="1"/>
          </p:cNvSpPr>
          <p:nvPr>
            <p:ph type="title"/>
          </p:nvPr>
        </p:nvSpPr>
        <p:spPr>
          <a:xfrm>
            <a:off x="454025" y="0"/>
            <a:ext cx="8229600" cy="1143000"/>
          </a:xfrm>
        </p:spPr>
        <p:txBody>
          <a:bodyPr/>
          <a:lstStyle/>
          <a:p>
            <a:pPr eaLnBrk="1" hangingPunct="1"/>
            <a:r>
              <a:rPr lang="en-US" altLang="en-US" sz="3600">
                <a:solidFill>
                  <a:srgbClr val="000000"/>
                </a:solidFill>
                <a:latin typeface="Arial  " charset="0"/>
                <a:cs typeface="Arial  " charset="0"/>
              </a:rPr>
              <a:t>Instruction Set Architecture </a:t>
            </a:r>
            <a:r>
              <a:rPr lang="en-US" altLang="en-US" sz="3600">
                <a:latin typeface="Arial  " charset="0"/>
                <a:cs typeface="Arial  " charset="0"/>
              </a:rPr>
              <a:t>(ISA)</a:t>
            </a:r>
          </a:p>
        </p:txBody>
      </p:sp>
      <p:sp>
        <p:nvSpPr>
          <p:cNvPr id="18434" name="Rectangle 3">
            <a:extLst>
              <a:ext uri="{FF2B5EF4-FFF2-40B4-BE49-F238E27FC236}">
                <a16:creationId xmlns:a16="http://schemas.microsoft.com/office/drawing/2014/main" id="{D0B9AC35-4D8E-3C05-A2B3-FB0E89DC14DE}"/>
              </a:ext>
            </a:extLst>
          </p:cNvPr>
          <p:cNvSpPr>
            <a:spLocks noGrp="1" noChangeArrowheads="1"/>
          </p:cNvSpPr>
          <p:nvPr>
            <p:ph type="body" idx="1"/>
          </p:nvPr>
        </p:nvSpPr>
        <p:spPr>
          <a:xfrm>
            <a:off x="431800" y="1257300"/>
            <a:ext cx="7772400" cy="4508500"/>
          </a:xfrm>
        </p:spPr>
        <p:txBody>
          <a:bodyPr/>
          <a:lstStyle/>
          <a:p>
            <a:pPr eaLnBrk="1" hangingPunct="1">
              <a:lnSpc>
                <a:spcPct val="90000"/>
              </a:lnSpc>
            </a:pPr>
            <a:endParaRPr lang="en-US" altLang="en-US" sz="2400">
              <a:latin typeface="Arial  " charset="0"/>
              <a:cs typeface="Arial  " charset="0"/>
            </a:endParaRPr>
          </a:p>
          <a:p>
            <a:pPr lvl="1" eaLnBrk="1" hangingPunct="1">
              <a:lnSpc>
                <a:spcPct val="90000"/>
              </a:lnSpc>
            </a:pPr>
            <a:endParaRPr lang="en-US" altLang="en-US" sz="2000">
              <a:latin typeface="Arial  " charset="0"/>
              <a:cs typeface="Arial  " charset="0"/>
            </a:endParaRPr>
          </a:p>
          <a:p>
            <a:pPr lvl="1" eaLnBrk="1" hangingPunct="1">
              <a:lnSpc>
                <a:spcPct val="90000"/>
              </a:lnSpc>
            </a:pPr>
            <a:endParaRPr lang="en-US" altLang="en-US" sz="2000">
              <a:latin typeface="Arial  " charset="0"/>
              <a:cs typeface="Arial  " charset="0"/>
            </a:endParaRPr>
          </a:p>
          <a:p>
            <a:pPr lvl="1" eaLnBrk="1" hangingPunct="1">
              <a:lnSpc>
                <a:spcPct val="90000"/>
              </a:lnSpc>
            </a:pPr>
            <a:endParaRPr lang="en-US" altLang="en-US" sz="2000">
              <a:latin typeface="Arial  " charset="0"/>
              <a:cs typeface="Arial  " charset="0"/>
            </a:endParaRPr>
          </a:p>
          <a:p>
            <a:pPr lvl="1" eaLnBrk="1" hangingPunct="1">
              <a:lnSpc>
                <a:spcPct val="90000"/>
              </a:lnSpc>
            </a:pPr>
            <a:endParaRPr lang="en-US" altLang="en-US" sz="2000">
              <a:latin typeface="Arial  " charset="0"/>
              <a:cs typeface="Arial  " charset="0"/>
            </a:endParaRPr>
          </a:p>
          <a:p>
            <a:pPr lvl="1" eaLnBrk="1" hangingPunct="1">
              <a:lnSpc>
                <a:spcPct val="90000"/>
              </a:lnSpc>
            </a:pPr>
            <a:endParaRPr lang="en-US" altLang="en-US" sz="2000">
              <a:latin typeface="Arial  " charset="0"/>
              <a:cs typeface="Arial  " charset="0"/>
            </a:endParaRPr>
          </a:p>
          <a:p>
            <a:pPr eaLnBrk="1" hangingPunct="1">
              <a:lnSpc>
                <a:spcPct val="90000"/>
              </a:lnSpc>
            </a:pPr>
            <a:r>
              <a:rPr lang="en-US" altLang="en-US" sz="2400">
                <a:latin typeface="Arial  " charset="0"/>
                <a:cs typeface="Arial  " charset="0"/>
              </a:rPr>
              <a:t>The low-level software interface to the computer</a:t>
            </a:r>
          </a:p>
          <a:p>
            <a:pPr lvl="1" eaLnBrk="1" hangingPunct="1">
              <a:lnSpc>
                <a:spcPct val="90000"/>
              </a:lnSpc>
            </a:pPr>
            <a:r>
              <a:rPr lang="en-US" altLang="en-US" sz="2000">
                <a:latin typeface="Arial  " charset="0"/>
                <a:cs typeface="Arial  " charset="0"/>
              </a:rPr>
              <a:t>Language the computer understands</a:t>
            </a:r>
          </a:p>
          <a:p>
            <a:pPr lvl="1" eaLnBrk="1" hangingPunct="1">
              <a:lnSpc>
                <a:spcPct val="90000"/>
              </a:lnSpc>
            </a:pPr>
            <a:r>
              <a:rPr lang="en-US" altLang="en-US" sz="2000">
                <a:latin typeface="Arial  " charset="0"/>
                <a:cs typeface="Arial  " charset="0"/>
              </a:rPr>
              <a:t>Must translate any programming language into this language</a:t>
            </a:r>
          </a:p>
          <a:p>
            <a:pPr lvl="1" eaLnBrk="1" hangingPunct="1">
              <a:lnSpc>
                <a:spcPct val="90000"/>
              </a:lnSpc>
            </a:pPr>
            <a:r>
              <a:rPr lang="en-US" altLang="en-US" sz="2000">
                <a:latin typeface="Arial  " charset="0"/>
                <a:cs typeface="Arial  " charset="0"/>
              </a:rPr>
              <a:t>Examples: ARM, x86, PowerPC, </a:t>
            </a:r>
            <a:r>
              <a:rPr lang="en-US" altLang="en-US" sz="2000" b="1">
                <a:latin typeface="Arial  " charset="0"/>
                <a:cs typeface="Arial  " charset="0"/>
              </a:rPr>
              <a:t>MIPS</a:t>
            </a:r>
            <a:r>
              <a:rPr lang="en-US" altLang="en-US" sz="2000">
                <a:latin typeface="Arial  " charset="0"/>
                <a:cs typeface="Arial  " charset="0"/>
              </a:rPr>
              <a:t>, SPARC,  …</a:t>
            </a:r>
          </a:p>
          <a:p>
            <a:pPr eaLnBrk="1" hangingPunct="1">
              <a:lnSpc>
                <a:spcPct val="90000"/>
              </a:lnSpc>
            </a:pPr>
            <a:endParaRPr lang="en-US" altLang="en-US" sz="2400">
              <a:latin typeface="Arial  " charset="0"/>
              <a:cs typeface="Arial  " charset="0"/>
            </a:endParaRPr>
          </a:p>
          <a:p>
            <a:pPr eaLnBrk="1" hangingPunct="1">
              <a:lnSpc>
                <a:spcPct val="90000"/>
              </a:lnSpc>
            </a:pPr>
            <a:r>
              <a:rPr lang="en-US" altLang="en-US" sz="2400" b="1">
                <a:latin typeface="Arial  " charset="0"/>
                <a:cs typeface="Arial  " charset="0"/>
              </a:rPr>
              <a:t>ISA is the set of features “</a:t>
            </a:r>
            <a:r>
              <a:rPr lang="en-US" altLang="en-US" sz="2400" b="1" u="sng">
                <a:latin typeface="Arial  " charset="0"/>
                <a:cs typeface="Arial  " charset="0"/>
              </a:rPr>
              <a:t>visible to programmer”</a:t>
            </a:r>
            <a:endParaRPr lang="en-US" altLang="en-US" sz="2400">
              <a:latin typeface="Arial  " charset="0"/>
              <a:cs typeface="Arial  " charset="0"/>
            </a:endParaRPr>
          </a:p>
        </p:txBody>
      </p:sp>
      <p:grpSp>
        <p:nvGrpSpPr>
          <p:cNvPr id="18435" name="Group 4">
            <a:extLst>
              <a:ext uri="{FF2B5EF4-FFF2-40B4-BE49-F238E27FC236}">
                <a16:creationId xmlns:a16="http://schemas.microsoft.com/office/drawing/2014/main" id="{3D2DBDA0-39F0-6175-82DB-CA3F511D19B5}"/>
              </a:ext>
            </a:extLst>
          </p:cNvPr>
          <p:cNvGrpSpPr>
            <a:grpSpLocks noChangeAspect="1"/>
          </p:cNvGrpSpPr>
          <p:nvPr/>
        </p:nvGrpSpPr>
        <p:grpSpPr bwMode="auto">
          <a:xfrm>
            <a:off x="5202238" y="1238250"/>
            <a:ext cx="3573462" cy="1787525"/>
            <a:chOff x="536" y="916"/>
            <a:chExt cx="4500" cy="2252"/>
          </a:xfrm>
        </p:grpSpPr>
        <p:sp>
          <p:nvSpPr>
            <p:cNvPr id="18437" name="Rectangle 5">
              <a:extLst>
                <a:ext uri="{FF2B5EF4-FFF2-40B4-BE49-F238E27FC236}">
                  <a16:creationId xmlns:a16="http://schemas.microsoft.com/office/drawing/2014/main" id="{32FA0323-E518-85FB-FBBB-0F4B57FBD262}"/>
                </a:ext>
              </a:extLst>
            </p:cNvPr>
            <p:cNvSpPr>
              <a:spLocks noChangeAspect="1" noChangeArrowheads="1"/>
            </p:cNvSpPr>
            <p:nvPr/>
          </p:nvSpPr>
          <p:spPr bwMode="auto">
            <a:xfrm>
              <a:off x="820" y="1780"/>
              <a:ext cx="4216" cy="280"/>
            </a:xfrm>
            <a:prstGeom prst="rect">
              <a:avLst/>
            </a:prstGeom>
            <a:blipFill dpi="0" rotWithShape="0">
              <a:blip r:embed="rId3"/>
              <a:srcRect/>
              <a:tile tx="0" ty="0" sx="100000" sy="100000" flip="none" algn="tl"/>
            </a:blipFill>
            <a:ln w="12700">
              <a:solidFill>
                <a:schemeClr val="tx1"/>
              </a:solidFill>
              <a:miter lim="800000"/>
              <a:headEnd/>
              <a:tailEnd/>
            </a:ln>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18438" name="Oval 6">
              <a:extLst>
                <a:ext uri="{FF2B5EF4-FFF2-40B4-BE49-F238E27FC236}">
                  <a16:creationId xmlns:a16="http://schemas.microsoft.com/office/drawing/2014/main" id="{77614D23-F144-F4AF-8D18-22882E4D3D82}"/>
                </a:ext>
              </a:extLst>
            </p:cNvPr>
            <p:cNvSpPr>
              <a:spLocks noChangeAspect="1" noChangeArrowheads="1"/>
            </p:cNvSpPr>
            <p:nvPr/>
          </p:nvSpPr>
          <p:spPr bwMode="auto">
            <a:xfrm>
              <a:off x="2356" y="916"/>
              <a:ext cx="232" cy="18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18439" name="Line 7">
              <a:extLst>
                <a:ext uri="{FF2B5EF4-FFF2-40B4-BE49-F238E27FC236}">
                  <a16:creationId xmlns:a16="http://schemas.microsoft.com/office/drawing/2014/main" id="{65D38E5C-B7F7-47BE-E68D-B3589A7E7C88}"/>
                </a:ext>
              </a:extLst>
            </p:cNvPr>
            <p:cNvSpPr>
              <a:spLocks noChangeAspect="1" noChangeShapeType="1"/>
            </p:cNvSpPr>
            <p:nvPr/>
          </p:nvSpPr>
          <p:spPr bwMode="auto">
            <a:xfrm flipH="1">
              <a:off x="2448" y="1104"/>
              <a:ext cx="48"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0" name="Line 8">
              <a:extLst>
                <a:ext uri="{FF2B5EF4-FFF2-40B4-BE49-F238E27FC236}">
                  <a16:creationId xmlns:a16="http://schemas.microsoft.com/office/drawing/2014/main" id="{B2E72905-4B8F-85E0-8B35-C233597AA85F}"/>
                </a:ext>
              </a:extLst>
            </p:cNvPr>
            <p:cNvSpPr>
              <a:spLocks noChangeAspect="1" noChangeShapeType="1"/>
            </p:cNvSpPr>
            <p:nvPr/>
          </p:nvSpPr>
          <p:spPr bwMode="auto">
            <a:xfrm>
              <a:off x="2448" y="1488"/>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1" name="Line 9">
              <a:extLst>
                <a:ext uri="{FF2B5EF4-FFF2-40B4-BE49-F238E27FC236}">
                  <a16:creationId xmlns:a16="http://schemas.microsoft.com/office/drawing/2014/main" id="{D754B255-921E-B62B-3D9F-422747138E17}"/>
                </a:ext>
              </a:extLst>
            </p:cNvPr>
            <p:cNvSpPr>
              <a:spLocks noChangeAspect="1" noChangeShapeType="1"/>
            </p:cNvSpPr>
            <p:nvPr/>
          </p:nvSpPr>
          <p:spPr bwMode="auto">
            <a:xfrm>
              <a:off x="2592" y="1488"/>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2" name="Line 10">
              <a:extLst>
                <a:ext uri="{FF2B5EF4-FFF2-40B4-BE49-F238E27FC236}">
                  <a16:creationId xmlns:a16="http://schemas.microsoft.com/office/drawing/2014/main" id="{6410110A-B5B6-2967-8BCD-3AEADC8C180A}"/>
                </a:ext>
              </a:extLst>
            </p:cNvPr>
            <p:cNvSpPr>
              <a:spLocks noChangeAspect="1" noChangeShapeType="1"/>
            </p:cNvSpPr>
            <p:nvPr/>
          </p:nvSpPr>
          <p:spPr bwMode="auto">
            <a:xfrm>
              <a:off x="2592" y="1680"/>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3" name="Line 11">
              <a:extLst>
                <a:ext uri="{FF2B5EF4-FFF2-40B4-BE49-F238E27FC236}">
                  <a16:creationId xmlns:a16="http://schemas.microsoft.com/office/drawing/2014/main" id="{5AAF472D-7F3D-8B64-97A7-6C7316372E46}"/>
                </a:ext>
              </a:extLst>
            </p:cNvPr>
            <p:cNvSpPr>
              <a:spLocks noChangeAspect="1" noChangeShapeType="1"/>
            </p:cNvSpPr>
            <p:nvPr/>
          </p:nvSpPr>
          <p:spPr bwMode="auto">
            <a:xfrm flipH="1">
              <a:off x="2352" y="1488"/>
              <a:ext cx="96" cy="24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4" name="Line 12">
              <a:extLst>
                <a:ext uri="{FF2B5EF4-FFF2-40B4-BE49-F238E27FC236}">
                  <a16:creationId xmlns:a16="http://schemas.microsoft.com/office/drawing/2014/main" id="{F2144268-3698-AB99-D9DF-D1147D8AFF7A}"/>
                </a:ext>
              </a:extLst>
            </p:cNvPr>
            <p:cNvSpPr>
              <a:spLocks noChangeAspect="1" noChangeShapeType="1"/>
            </p:cNvSpPr>
            <p:nvPr/>
          </p:nvSpPr>
          <p:spPr bwMode="auto">
            <a:xfrm flipH="1">
              <a:off x="2208" y="1728"/>
              <a:ext cx="14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5" name="Line 13">
              <a:extLst>
                <a:ext uri="{FF2B5EF4-FFF2-40B4-BE49-F238E27FC236}">
                  <a16:creationId xmlns:a16="http://schemas.microsoft.com/office/drawing/2014/main" id="{B8BCA1DB-94F0-71F2-01DF-A4474292C5BE}"/>
                </a:ext>
              </a:extLst>
            </p:cNvPr>
            <p:cNvSpPr>
              <a:spLocks noChangeAspect="1" noChangeShapeType="1"/>
            </p:cNvSpPr>
            <p:nvPr/>
          </p:nvSpPr>
          <p:spPr bwMode="auto">
            <a:xfrm>
              <a:off x="2496" y="1248"/>
              <a:ext cx="14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6" name="Line 14">
              <a:extLst>
                <a:ext uri="{FF2B5EF4-FFF2-40B4-BE49-F238E27FC236}">
                  <a16:creationId xmlns:a16="http://schemas.microsoft.com/office/drawing/2014/main" id="{EE417402-64DA-68A7-94B4-FD0FD543556A}"/>
                </a:ext>
              </a:extLst>
            </p:cNvPr>
            <p:cNvSpPr>
              <a:spLocks noChangeAspect="1" noChangeShapeType="1"/>
            </p:cNvSpPr>
            <p:nvPr/>
          </p:nvSpPr>
          <p:spPr bwMode="auto">
            <a:xfrm flipV="1">
              <a:off x="2640" y="1248"/>
              <a:ext cx="96"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7" name="Line 15">
              <a:extLst>
                <a:ext uri="{FF2B5EF4-FFF2-40B4-BE49-F238E27FC236}">
                  <a16:creationId xmlns:a16="http://schemas.microsoft.com/office/drawing/2014/main" id="{07D909D7-0EF6-1D30-3EF1-0B4454AA7A09}"/>
                </a:ext>
              </a:extLst>
            </p:cNvPr>
            <p:cNvSpPr>
              <a:spLocks noChangeAspect="1" noChangeShapeType="1"/>
            </p:cNvSpPr>
            <p:nvPr/>
          </p:nvSpPr>
          <p:spPr bwMode="auto">
            <a:xfrm>
              <a:off x="2448" y="120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8" name="Line 16">
              <a:extLst>
                <a:ext uri="{FF2B5EF4-FFF2-40B4-BE49-F238E27FC236}">
                  <a16:creationId xmlns:a16="http://schemas.microsoft.com/office/drawing/2014/main" id="{23BC2027-6E79-8D5A-C998-63BA901EB318}"/>
                </a:ext>
              </a:extLst>
            </p:cNvPr>
            <p:cNvSpPr>
              <a:spLocks noChangeAspect="1" noChangeShapeType="1"/>
            </p:cNvSpPr>
            <p:nvPr/>
          </p:nvSpPr>
          <p:spPr bwMode="auto">
            <a:xfrm flipV="1">
              <a:off x="2592" y="1104"/>
              <a:ext cx="96"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9" name="Oval 17">
              <a:extLst>
                <a:ext uri="{FF2B5EF4-FFF2-40B4-BE49-F238E27FC236}">
                  <a16:creationId xmlns:a16="http://schemas.microsoft.com/office/drawing/2014/main" id="{0F26E24A-2E30-8FB5-85D1-883291BD8161}"/>
                </a:ext>
              </a:extLst>
            </p:cNvPr>
            <p:cNvSpPr>
              <a:spLocks noChangeAspect="1" noChangeArrowheads="1"/>
            </p:cNvSpPr>
            <p:nvPr/>
          </p:nvSpPr>
          <p:spPr bwMode="auto">
            <a:xfrm>
              <a:off x="3220" y="964"/>
              <a:ext cx="232" cy="18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18450" name="Line 18">
              <a:extLst>
                <a:ext uri="{FF2B5EF4-FFF2-40B4-BE49-F238E27FC236}">
                  <a16:creationId xmlns:a16="http://schemas.microsoft.com/office/drawing/2014/main" id="{755D1141-0B71-EF74-195B-49BBA832AF1C}"/>
                </a:ext>
              </a:extLst>
            </p:cNvPr>
            <p:cNvSpPr>
              <a:spLocks noChangeAspect="1" noChangeShapeType="1"/>
            </p:cNvSpPr>
            <p:nvPr/>
          </p:nvSpPr>
          <p:spPr bwMode="auto">
            <a:xfrm>
              <a:off x="3360" y="1152"/>
              <a:ext cx="48" cy="4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1" name="Line 19">
              <a:extLst>
                <a:ext uri="{FF2B5EF4-FFF2-40B4-BE49-F238E27FC236}">
                  <a16:creationId xmlns:a16="http://schemas.microsoft.com/office/drawing/2014/main" id="{202FA8FF-DECB-D7A4-33FC-2C702CC9FA81}"/>
                </a:ext>
              </a:extLst>
            </p:cNvPr>
            <p:cNvSpPr>
              <a:spLocks noChangeAspect="1" noChangeShapeType="1"/>
            </p:cNvSpPr>
            <p:nvPr/>
          </p:nvSpPr>
          <p:spPr bwMode="auto">
            <a:xfrm flipH="1">
              <a:off x="3216" y="1536"/>
              <a:ext cx="192"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2" name="Line 20">
              <a:extLst>
                <a:ext uri="{FF2B5EF4-FFF2-40B4-BE49-F238E27FC236}">
                  <a16:creationId xmlns:a16="http://schemas.microsoft.com/office/drawing/2014/main" id="{0C9F59E2-E589-7F36-02C3-0E215A5098A2}"/>
                </a:ext>
              </a:extLst>
            </p:cNvPr>
            <p:cNvSpPr>
              <a:spLocks noChangeAspect="1" noChangeShapeType="1"/>
            </p:cNvSpPr>
            <p:nvPr/>
          </p:nvSpPr>
          <p:spPr bwMode="auto">
            <a:xfrm>
              <a:off x="3216" y="1680"/>
              <a:ext cx="96"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3" name="Line 21">
              <a:extLst>
                <a:ext uri="{FF2B5EF4-FFF2-40B4-BE49-F238E27FC236}">
                  <a16:creationId xmlns:a16="http://schemas.microsoft.com/office/drawing/2014/main" id="{AEEE7FAA-2378-141E-848D-2BF7D374CDA5}"/>
                </a:ext>
              </a:extLst>
            </p:cNvPr>
            <p:cNvSpPr>
              <a:spLocks noChangeAspect="1" noChangeShapeType="1"/>
            </p:cNvSpPr>
            <p:nvPr/>
          </p:nvSpPr>
          <p:spPr bwMode="auto">
            <a:xfrm>
              <a:off x="3408" y="1536"/>
              <a:ext cx="192"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4" name="Line 22">
              <a:extLst>
                <a:ext uri="{FF2B5EF4-FFF2-40B4-BE49-F238E27FC236}">
                  <a16:creationId xmlns:a16="http://schemas.microsoft.com/office/drawing/2014/main" id="{E89F50DF-EE8B-E4AE-3ACE-971432FEBC19}"/>
                </a:ext>
              </a:extLst>
            </p:cNvPr>
            <p:cNvSpPr>
              <a:spLocks noChangeAspect="1" noChangeShapeType="1"/>
            </p:cNvSpPr>
            <p:nvPr/>
          </p:nvSpPr>
          <p:spPr bwMode="auto">
            <a:xfrm flipV="1">
              <a:off x="3600" y="1584"/>
              <a:ext cx="14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5" name="Line 23">
              <a:extLst>
                <a:ext uri="{FF2B5EF4-FFF2-40B4-BE49-F238E27FC236}">
                  <a16:creationId xmlns:a16="http://schemas.microsoft.com/office/drawing/2014/main" id="{F67E0BE3-59C0-A65E-6BC4-E42645BC08B3}"/>
                </a:ext>
              </a:extLst>
            </p:cNvPr>
            <p:cNvSpPr>
              <a:spLocks noChangeAspect="1" noChangeShapeType="1"/>
            </p:cNvSpPr>
            <p:nvPr/>
          </p:nvSpPr>
          <p:spPr bwMode="auto">
            <a:xfrm>
              <a:off x="3744" y="1584"/>
              <a:ext cx="48"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6" name="Line 24">
              <a:extLst>
                <a:ext uri="{FF2B5EF4-FFF2-40B4-BE49-F238E27FC236}">
                  <a16:creationId xmlns:a16="http://schemas.microsoft.com/office/drawing/2014/main" id="{3409BCAD-4702-ADDA-BFF2-33A609F381D6}"/>
                </a:ext>
              </a:extLst>
            </p:cNvPr>
            <p:cNvSpPr>
              <a:spLocks noChangeAspect="1" noChangeShapeType="1"/>
            </p:cNvSpPr>
            <p:nvPr/>
          </p:nvSpPr>
          <p:spPr bwMode="auto">
            <a:xfrm flipH="1">
              <a:off x="3264" y="1296"/>
              <a:ext cx="96"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7" name="Line 25">
              <a:extLst>
                <a:ext uri="{FF2B5EF4-FFF2-40B4-BE49-F238E27FC236}">
                  <a16:creationId xmlns:a16="http://schemas.microsoft.com/office/drawing/2014/main" id="{61C7EB5D-D906-24E7-EEDB-312C28A5FE15}"/>
                </a:ext>
              </a:extLst>
            </p:cNvPr>
            <p:cNvSpPr>
              <a:spLocks noChangeAspect="1" noChangeShapeType="1"/>
            </p:cNvSpPr>
            <p:nvPr/>
          </p:nvSpPr>
          <p:spPr bwMode="auto">
            <a:xfrm flipH="1" flipV="1">
              <a:off x="3120" y="1392"/>
              <a:ext cx="144"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8" name="Line 26">
              <a:extLst>
                <a:ext uri="{FF2B5EF4-FFF2-40B4-BE49-F238E27FC236}">
                  <a16:creationId xmlns:a16="http://schemas.microsoft.com/office/drawing/2014/main" id="{C6C85321-8663-0D8F-7360-F17FDB11E9F9}"/>
                </a:ext>
              </a:extLst>
            </p:cNvPr>
            <p:cNvSpPr>
              <a:spLocks noChangeAspect="1" noChangeShapeType="1"/>
            </p:cNvSpPr>
            <p:nvPr/>
          </p:nvSpPr>
          <p:spPr bwMode="auto">
            <a:xfrm flipH="1">
              <a:off x="3168" y="1248"/>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59" name="Line 27">
              <a:extLst>
                <a:ext uri="{FF2B5EF4-FFF2-40B4-BE49-F238E27FC236}">
                  <a16:creationId xmlns:a16="http://schemas.microsoft.com/office/drawing/2014/main" id="{377F3558-4344-DF49-3290-78D7C8257E2F}"/>
                </a:ext>
              </a:extLst>
            </p:cNvPr>
            <p:cNvSpPr>
              <a:spLocks noChangeAspect="1" noChangeShapeType="1"/>
            </p:cNvSpPr>
            <p:nvPr/>
          </p:nvSpPr>
          <p:spPr bwMode="auto">
            <a:xfrm flipH="1" flipV="1">
              <a:off x="3024" y="1152"/>
              <a:ext cx="144"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0" name="Line 28">
              <a:extLst>
                <a:ext uri="{FF2B5EF4-FFF2-40B4-BE49-F238E27FC236}">
                  <a16:creationId xmlns:a16="http://schemas.microsoft.com/office/drawing/2014/main" id="{A27756DA-8DB0-D05F-AFA8-3C274BC88C5A}"/>
                </a:ext>
              </a:extLst>
            </p:cNvPr>
            <p:cNvSpPr>
              <a:spLocks noChangeAspect="1" noChangeShapeType="1"/>
            </p:cNvSpPr>
            <p:nvPr/>
          </p:nvSpPr>
          <p:spPr bwMode="auto">
            <a:xfrm flipV="1">
              <a:off x="3264" y="1056"/>
              <a:ext cx="48" cy="4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1" name="Line 29">
              <a:extLst>
                <a:ext uri="{FF2B5EF4-FFF2-40B4-BE49-F238E27FC236}">
                  <a16:creationId xmlns:a16="http://schemas.microsoft.com/office/drawing/2014/main" id="{7E279070-BA2A-2CA6-B115-989F1D054648}"/>
                </a:ext>
              </a:extLst>
            </p:cNvPr>
            <p:cNvSpPr>
              <a:spLocks noChangeAspect="1" noChangeShapeType="1"/>
            </p:cNvSpPr>
            <p:nvPr/>
          </p:nvSpPr>
          <p:spPr bwMode="auto">
            <a:xfrm flipH="1" flipV="1">
              <a:off x="2448" y="1008"/>
              <a:ext cx="96"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2" name="Oval 30">
              <a:extLst>
                <a:ext uri="{FF2B5EF4-FFF2-40B4-BE49-F238E27FC236}">
                  <a16:creationId xmlns:a16="http://schemas.microsoft.com/office/drawing/2014/main" id="{5C28DC83-5977-5F4F-6BB4-8F71AC10A311}"/>
                </a:ext>
              </a:extLst>
            </p:cNvPr>
            <p:cNvSpPr>
              <a:spLocks noChangeAspect="1" noChangeArrowheads="1"/>
            </p:cNvSpPr>
            <p:nvPr/>
          </p:nvSpPr>
          <p:spPr bwMode="auto">
            <a:xfrm>
              <a:off x="2656" y="2128"/>
              <a:ext cx="400" cy="304"/>
            </a:xfrm>
            <a:prstGeom prst="ellipse">
              <a:avLst/>
            </a:prstGeom>
            <a:noFill/>
            <a:ln w="508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18463" name="Line 31">
              <a:extLst>
                <a:ext uri="{FF2B5EF4-FFF2-40B4-BE49-F238E27FC236}">
                  <a16:creationId xmlns:a16="http://schemas.microsoft.com/office/drawing/2014/main" id="{2701F31B-020B-39FB-C896-F4833F5B9279}"/>
                </a:ext>
              </a:extLst>
            </p:cNvPr>
            <p:cNvSpPr>
              <a:spLocks noChangeAspect="1" noChangeShapeType="1"/>
            </p:cNvSpPr>
            <p:nvPr/>
          </p:nvSpPr>
          <p:spPr bwMode="auto">
            <a:xfrm flipV="1">
              <a:off x="2784" y="2304"/>
              <a:ext cx="48" cy="4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4" name="Line 32">
              <a:extLst>
                <a:ext uri="{FF2B5EF4-FFF2-40B4-BE49-F238E27FC236}">
                  <a16:creationId xmlns:a16="http://schemas.microsoft.com/office/drawing/2014/main" id="{F8F7CFE2-08D3-DEB9-1536-84ED8315DBBC}"/>
                </a:ext>
              </a:extLst>
            </p:cNvPr>
            <p:cNvSpPr>
              <a:spLocks noChangeAspect="1" noChangeShapeType="1"/>
            </p:cNvSpPr>
            <p:nvPr/>
          </p:nvSpPr>
          <p:spPr bwMode="auto">
            <a:xfrm>
              <a:off x="2832" y="2304"/>
              <a:ext cx="48"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5" name="Line 33">
              <a:extLst>
                <a:ext uri="{FF2B5EF4-FFF2-40B4-BE49-F238E27FC236}">
                  <a16:creationId xmlns:a16="http://schemas.microsoft.com/office/drawing/2014/main" id="{4D5901AA-B2CB-A578-CD84-AB43F496F5BD}"/>
                </a:ext>
              </a:extLst>
            </p:cNvPr>
            <p:cNvSpPr>
              <a:spLocks noChangeAspect="1" noChangeShapeType="1"/>
            </p:cNvSpPr>
            <p:nvPr/>
          </p:nvSpPr>
          <p:spPr bwMode="auto">
            <a:xfrm>
              <a:off x="2880" y="2304"/>
              <a:ext cx="48" cy="4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6" name="Line 34">
              <a:extLst>
                <a:ext uri="{FF2B5EF4-FFF2-40B4-BE49-F238E27FC236}">
                  <a16:creationId xmlns:a16="http://schemas.microsoft.com/office/drawing/2014/main" id="{7F634AD8-B21B-3012-37C4-3E8F3EBFECD7}"/>
                </a:ext>
              </a:extLst>
            </p:cNvPr>
            <p:cNvSpPr>
              <a:spLocks noChangeAspect="1" noChangeShapeType="1"/>
            </p:cNvSpPr>
            <p:nvPr/>
          </p:nvSpPr>
          <p:spPr bwMode="auto">
            <a:xfrm>
              <a:off x="2880" y="2208"/>
              <a:ext cx="96"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7" name="Line 35">
              <a:extLst>
                <a:ext uri="{FF2B5EF4-FFF2-40B4-BE49-F238E27FC236}">
                  <a16:creationId xmlns:a16="http://schemas.microsoft.com/office/drawing/2014/main" id="{6D308029-CC27-F401-0EA8-9A5F9B130D47}"/>
                </a:ext>
              </a:extLst>
            </p:cNvPr>
            <p:cNvSpPr>
              <a:spLocks noChangeAspect="1" noChangeShapeType="1"/>
            </p:cNvSpPr>
            <p:nvPr/>
          </p:nvSpPr>
          <p:spPr bwMode="auto">
            <a:xfrm flipH="1">
              <a:off x="2736" y="2208"/>
              <a:ext cx="48"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8" name="Line 36">
              <a:extLst>
                <a:ext uri="{FF2B5EF4-FFF2-40B4-BE49-F238E27FC236}">
                  <a16:creationId xmlns:a16="http://schemas.microsoft.com/office/drawing/2014/main" id="{AE880C3C-376C-5747-00E8-D134A2DEE8D4}"/>
                </a:ext>
              </a:extLst>
            </p:cNvPr>
            <p:cNvSpPr>
              <a:spLocks noChangeAspect="1" noChangeShapeType="1"/>
            </p:cNvSpPr>
            <p:nvPr/>
          </p:nvSpPr>
          <p:spPr bwMode="auto">
            <a:xfrm flipV="1">
              <a:off x="2448" y="3120"/>
              <a:ext cx="0" cy="4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69" name="Line 37">
              <a:extLst>
                <a:ext uri="{FF2B5EF4-FFF2-40B4-BE49-F238E27FC236}">
                  <a16:creationId xmlns:a16="http://schemas.microsoft.com/office/drawing/2014/main" id="{10F94FC6-6511-DC5F-A035-6A3C1BBA5713}"/>
                </a:ext>
              </a:extLst>
            </p:cNvPr>
            <p:cNvSpPr>
              <a:spLocks noChangeAspect="1" noChangeShapeType="1"/>
            </p:cNvSpPr>
            <p:nvPr/>
          </p:nvSpPr>
          <p:spPr bwMode="auto">
            <a:xfrm>
              <a:off x="2880" y="2448"/>
              <a:ext cx="0" cy="384"/>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0" name="Line 38">
              <a:extLst>
                <a:ext uri="{FF2B5EF4-FFF2-40B4-BE49-F238E27FC236}">
                  <a16:creationId xmlns:a16="http://schemas.microsoft.com/office/drawing/2014/main" id="{A3EB46F7-EFD9-80F7-B5FD-DE3A7B91DA0F}"/>
                </a:ext>
              </a:extLst>
            </p:cNvPr>
            <p:cNvSpPr>
              <a:spLocks noChangeAspect="1" noChangeShapeType="1"/>
            </p:cNvSpPr>
            <p:nvPr/>
          </p:nvSpPr>
          <p:spPr bwMode="auto">
            <a:xfrm>
              <a:off x="2880" y="2832"/>
              <a:ext cx="240"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1" name="Line 39">
              <a:extLst>
                <a:ext uri="{FF2B5EF4-FFF2-40B4-BE49-F238E27FC236}">
                  <a16:creationId xmlns:a16="http://schemas.microsoft.com/office/drawing/2014/main" id="{6268A6CB-A3EF-5D2C-02CD-7EF1C628A848}"/>
                </a:ext>
              </a:extLst>
            </p:cNvPr>
            <p:cNvSpPr>
              <a:spLocks noChangeAspect="1" noChangeShapeType="1"/>
            </p:cNvSpPr>
            <p:nvPr/>
          </p:nvSpPr>
          <p:spPr bwMode="auto">
            <a:xfrm>
              <a:off x="3120" y="2832"/>
              <a:ext cx="96" cy="28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2" name="Line 40">
              <a:extLst>
                <a:ext uri="{FF2B5EF4-FFF2-40B4-BE49-F238E27FC236}">
                  <a16:creationId xmlns:a16="http://schemas.microsoft.com/office/drawing/2014/main" id="{AC8B7197-F16F-7EDA-7AB9-1149EA0CEC71}"/>
                </a:ext>
              </a:extLst>
            </p:cNvPr>
            <p:cNvSpPr>
              <a:spLocks noChangeAspect="1" noChangeShapeType="1"/>
            </p:cNvSpPr>
            <p:nvPr/>
          </p:nvSpPr>
          <p:spPr bwMode="auto">
            <a:xfrm flipV="1">
              <a:off x="3216" y="3072"/>
              <a:ext cx="48" cy="4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3" name="Line 41">
              <a:extLst>
                <a:ext uri="{FF2B5EF4-FFF2-40B4-BE49-F238E27FC236}">
                  <a16:creationId xmlns:a16="http://schemas.microsoft.com/office/drawing/2014/main" id="{D77E6EB1-333D-803A-E772-208030C01F50}"/>
                </a:ext>
              </a:extLst>
            </p:cNvPr>
            <p:cNvSpPr>
              <a:spLocks noChangeAspect="1" noChangeShapeType="1"/>
            </p:cNvSpPr>
            <p:nvPr/>
          </p:nvSpPr>
          <p:spPr bwMode="auto">
            <a:xfrm flipH="1">
              <a:off x="2640" y="2832"/>
              <a:ext cx="240" cy="4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4" name="Line 42">
              <a:extLst>
                <a:ext uri="{FF2B5EF4-FFF2-40B4-BE49-F238E27FC236}">
                  <a16:creationId xmlns:a16="http://schemas.microsoft.com/office/drawing/2014/main" id="{2454166C-9B4E-8803-25E9-62BA9762530B}"/>
                </a:ext>
              </a:extLst>
            </p:cNvPr>
            <p:cNvSpPr>
              <a:spLocks noChangeAspect="1" noChangeShapeType="1"/>
            </p:cNvSpPr>
            <p:nvPr/>
          </p:nvSpPr>
          <p:spPr bwMode="auto">
            <a:xfrm flipH="1">
              <a:off x="2544" y="2880"/>
              <a:ext cx="96" cy="28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5" name="Line 43">
              <a:extLst>
                <a:ext uri="{FF2B5EF4-FFF2-40B4-BE49-F238E27FC236}">
                  <a16:creationId xmlns:a16="http://schemas.microsoft.com/office/drawing/2014/main" id="{56F7A089-A0A2-2D38-3260-3E699BD519A8}"/>
                </a:ext>
              </a:extLst>
            </p:cNvPr>
            <p:cNvSpPr>
              <a:spLocks noChangeAspect="1" noChangeShapeType="1"/>
            </p:cNvSpPr>
            <p:nvPr/>
          </p:nvSpPr>
          <p:spPr bwMode="auto">
            <a:xfrm flipH="1">
              <a:off x="2448" y="3168"/>
              <a:ext cx="96"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6" name="Line 44">
              <a:extLst>
                <a:ext uri="{FF2B5EF4-FFF2-40B4-BE49-F238E27FC236}">
                  <a16:creationId xmlns:a16="http://schemas.microsoft.com/office/drawing/2014/main" id="{44124A32-BEEA-C4A8-DC79-9D8EE340C716}"/>
                </a:ext>
              </a:extLst>
            </p:cNvPr>
            <p:cNvSpPr>
              <a:spLocks noChangeAspect="1" noChangeShapeType="1"/>
            </p:cNvSpPr>
            <p:nvPr/>
          </p:nvSpPr>
          <p:spPr bwMode="auto">
            <a:xfrm>
              <a:off x="2880" y="2448"/>
              <a:ext cx="336" cy="4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7" name="Line 45">
              <a:extLst>
                <a:ext uri="{FF2B5EF4-FFF2-40B4-BE49-F238E27FC236}">
                  <a16:creationId xmlns:a16="http://schemas.microsoft.com/office/drawing/2014/main" id="{0A776ADB-BBD7-2FDA-B0B7-D91D3376EEBF}"/>
                </a:ext>
              </a:extLst>
            </p:cNvPr>
            <p:cNvSpPr>
              <a:spLocks noChangeAspect="1" noChangeShapeType="1"/>
            </p:cNvSpPr>
            <p:nvPr/>
          </p:nvSpPr>
          <p:spPr bwMode="auto">
            <a:xfrm flipV="1">
              <a:off x="3216" y="2064"/>
              <a:ext cx="240" cy="432"/>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8" name="Line 46">
              <a:extLst>
                <a:ext uri="{FF2B5EF4-FFF2-40B4-BE49-F238E27FC236}">
                  <a16:creationId xmlns:a16="http://schemas.microsoft.com/office/drawing/2014/main" id="{5B206583-D600-D37E-E85F-7E83D96440EB}"/>
                </a:ext>
              </a:extLst>
            </p:cNvPr>
            <p:cNvSpPr>
              <a:spLocks noChangeAspect="1" noChangeShapeType="1"/>
            </p:cNvSpPr>
            <p:nvPr/>
          </p:nvSpPr>
          <p:spPr bwMode="auto">
            <a:xfrm>
              <a:off x="3456" y="2064"/>
              <a:ext cx="144"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9" name="Line 47">
              <a:extLst>
                <a:ext uri="{FF2B5EF4-FFF2-40B4-BE49-F238E27FC236}">
                  <a16:creationId xmlns:a16="http://schemas.microsoft.com/office/drawing/2014/main" id="{F618C00A-0A60-F046-2466-64561421B8D7}"/>
                </a:ext>
              </a:extLst>
            </p:cNvPr>
            <p:cNvSpPr>
              <a:spLocks noChangeAspect="1" noChangeShapeType="1"/>
            </p:cNvSpPr>
            <p:nvPr/>
          </p:nvSpPr>
          <p:spPr bwMode="auto">
            <a:xfrm flipH="1">
              <a:off x="2592" y="2496"/>
              <a:ext cx="288" cy="48"/>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0" name="Line 48">
              <a:extLst>
                <a:ext uri="{FF2B5EF4-FFF2-40B4-BE49-F238E27FC236}">
                  <a16:creationId xmlns:a16="http://schemas.microsoft.com/office/drawing/2014/main" id="{439E99B2-06F7-69CE-66D3-38A8A368494E}"/>
                </a:ext>
              </a:extLst>
            </p:cNvPr>
            <p:cNvSpPr>
              <a:spLocks noChangeAspect="1" noChangeShapeType="1"/>
            </p:cNvSpPr>
            <p:nvPr/>
          </p:nvSpPr>
          <p:spPr bwMode="auto">
            <a:xfrm flipH="1" flipV="1">
              <a:off x="2256" y="2064"/>
              <a:ext cx="336" cy="48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1" name="Line 49">
              <a:extLst>
                <a:ext uri="{FF2B5EF4-FFF2-40B4-BE49-F238E27FC236}">
                  <a16:creationId xmlns:a16="http://schemas.microsoft.com/office/drawing/2014/main" id="{1C4362DB-5B2A-F16C-2004-7AB58B0473E8}"/>
                </a:ext>
              </a:extLst>
            </p:cNvPr>
            <p:cNvSpPr>
              <a:spLocks noChangeAspect="1" noChangeShapeType="1"/>
            </p:cNvSpPr>
            <p:nvPr/>
          </p:nvSpPr>
          <p:spPr bwMode="auto">
            <a:xfrm flipH="1">
              <a:off x="2112" y="2064"/>
              <a:ext cx="144" cy="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useBgFill="1">
          <p:nvSpPr>
            <p:cNvPr id="18482" name="Rectangle 50">
              <a:extLst>
                <a:ext uri="{FF2B5EF4-FFF2-40B4-BE49-F238E27FC236}">
                  <a16:creationId xmlns:a16="http://schemas.microsoft.com/office/drawing/2014/main" id="{0F69B917-93DA-B278-BC77-2EBDB1160CFD}"/>
                </a:ext>
              </a:extLst>
            </p:cNvPr>
            <p:cNvSpPr>
              <a:spLocks noChangeAspect="1" noChangeArrowheads="1"/>
            </p:cNvSpPr>
            <p:nvPr/>
          </p:nvSpPr>
          <p:spPr bwMode="auto">
            <a:xfrm>
              <a:off x="2311" y="1832"/>
              <a:ext cx="1663" cy="276"/>
            </a:xfrm>
            <a:prstGeom prst="rect">
              <a:avLst/>
            </a:prstGeom>
            <a:ln>
              <a:noFill/>
            </a:ln>
            <a:extLs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92000"/>
                </a:lnSpc>
                <a:spcBef>
                  <a:spcPct val="0"/>
                </a:spcBef>
                <a:buFontTx/>
                <a:buNone/>
              </a:pPr>
              <a:r>
                <a:rPr lang="en-US" altLang="en-US" sz="1200" b="1">
                  <a:latin typeface="Arial" panose="020B0604020202020204" pitchFamily="34" charset="0"/>
                </a:rPr>
                <a:t>instruction set</a:t>
              </a:r>
            </a:p>
          </p:txBody>
        </p:sp>
        <p:sp>
          <p:nvSpPr>
            <p:cNvPr id="18483" name="Rectangle 51">
              <a:extLst>
                <a:ext uri="{FF2B5EF4-FFF2-40B4-BE49-F238E27FC236}">
                  <a16:creationId xmlns:a16="http://schemas.microsoft.com/office/drawing/2014/main" id="{A4258C55-2943-7F6A-BDC0-D730A435A4BB}"/>
                </a:ext>
              </a:extLst>
            </p:cNvPr>
            <p:cNvSpPr>
              <a:spLocks noChangeAspect="1" noChangeArrowheads="1"/>
            </p:cNvSpPr>
            <p:nvPr/>
          </p:nvSpPr>
          <p:spPr bwMode="auto">
            <a:xfrm>
              <a:off x="536" y="1264"/>
              <a:ext cx="94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200" b="1">
                  <a:latin typeface="Arial" panose="020B0604020202020204" pitchFamily="34" charset="0"/>
                </a:rPr>
                <a:t>software</a:t>
              </a:r>
            </a:p>
          </p:txBody>
        </p:sp>
        <p:sp>
          <p:nvSpPr>
            <p:cNvPr id="18484" name="Rectangle 52">
              <a:extLst>
                <a:ext uri="{FF2B5EF4-FFF2-40B4-BE49-F238E27FC236}">
                  <a16:creationId xmlns:a16="http://schemas.microsoft.com/office/drawing/2014/main" id="{C51D6F09-6667-9CCE-EF01-7D96172BF5AA}"/>
                </a:ext>
              </a:extLst>
            </p:cNvPr>
            <p:cNvSpPr>
              <a:spLocks noChangeAspect="1" noChangeArrowheads="1"/>
            </p:cNvSpPr>
            <p:nvPr/>
          </p:nvSpPr>
          <p:spPr bwMode="auto">
            <a:xfrm>
              <a:off x="536" y="2464"/>
              <a:ext cx="101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200" b="1">
                  <a:latin typeface="Arial" panose="020B0604020202020204" pitchFamily="34" charset="0"/>
                </a:rPr>
                <a:t>hardware</a:t>
              </a:r>
            </a:p>
          </p:txBody>
        </p:sp>
      </p:grpSp>
      <p:sp>
        <p:nvSpPr>
          <p:cNvPr id="18436" name="Slide Number Placeholder 55">
            <a:extLst>
              <a:ext uri="{FF2B5EF4-FFF2-40B4-BE49-F238E27FC236}">
                <a16:creationId xmlns:a16="http://schemas.microsoft.com/office/drawing/2014/main" id="{B5392C79-1058-87B0-EFE1-172BB1B578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E1F8294A-30D3-1E4D-9447-88520442D75C}" type="slidenum">
              <a:rPr lang="en-US" altLang="en-US" sz="1400"/>
              <a:pPr>
                <a:spcBef>
                  <a:spcPct val="0"/>
                </a:spcBef>
                <a:buFontTx/>
                <a:buNone/>
              </a:pPr>
              <a:t>3</a:t>
            </a:fld>
            <a:r>
              <a:rPr lang="en-US" altLang="en-US" sz="1400"/>
              <a:t> </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138AC748-49E9-5AD6-DB30-FA8F7D03B3CA}"/>
              </a:ext>
            </a:extLst>
          </p:cNvPr>
          <p:cNvSpPr>
            <a:spLocks noGrp="1" noChangeArrowheads="1"/>
          </p:cNvSpPr>
          <p:nvPr>
            <p:ph type="title"/>
          </p:nvPr>
        </p:nvSpPr>
        <p:spPr>
          <a:xfrm>
            <a:off x="1438275" y="61913"/>
            <a:ext cx="6313488" cy="720725"/>
          </a:xfrm>
          <a:noFill/>
        </p:spPr>
        <p:txBody>
          <a:bodyPr wrap="none" lIns="63500" tIns="25400" rIns="63500" bIns="25400" anchor="t">
            <a:spAutoFit/>
          </a:bodyPr>
          <a:lstStyle/>
          <a:p>
            <a:r>
              <a:rPr lang="en-US" altLang="en-US">
                <a:latin typeface="Arial  " charset="0"/>
                <a:cs typeface="Arial  " charset="0"/>
              </a:rPr>
              <a:t>Levels of Representation</a:t>
            </a:r>
          </a:p>
        </p:txBody>
      </p:sp>
      <p:sp>
        <p:nvSpPr>
          <p:cNvPr id="20482" name="Rectangle 3">
            <a:extLst>
              <a:ext uri="{FF2B5EF4-FFF2-40B4-BE49-F238E27FC236}">
                <a16:creationId xmlns:a16="http://schemas.microsoft.com/office/drawing/2014/main" id="{484F7F01-E7B2-5828-F675-2FB23114D891}"/>
              </a:ext>
            </a:extLst>
          </p:cNvPr>
          <p:cNvSpPr>
            <a:spLocks noChangeArrowheads="1"/>
          </p:cNvSpPr>
          <p:nvPr/>
        </p:nvSpPr>
        <p:spPr bwMode="auto">
          <a:xfrm>
            <a:off x="596900" y="1054100"/>
            <a:ext cx="74295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20483" name="Rectangle 4">
            <a:extLst>
              <a:ext uri="{FF2B5EF4-FFF2-40B4-BE49-F238E27FC236}">
                <a16:creationId xmlns:a16="http://schemas.microsoft.com/office/drawing/2014/main" id="{88D4EBB7-C8BC-4A91-903E-61D4D41F54F9}"/>
              </a:ext>
            </a:extLst>
          </p:cNvPr>
          <p:cNvSpPr>
            <a:spLocks noChangeArrowheads="1"/>
          </p:cNvSpPr>
          <p:nvPr/>
        </p:nvSpPr>
        <p:spPr bwMode="auto">
          <a:xfrm>
            <a:off x="857250" y="1187450"/>
            <a:ext cx="2590800" cy="5302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41000"/>
              </a:spcBef>
              <a:buFontTx/>
              <a:buNone/>
            </a:pPr>
            <a:r>
              <a:rPr lang="en-US" altLang="en-US" sz="1800" b="1">
                <a:latin typeface="Arial" panose="020B0604020202020204" pitchFamily="34" charset="0"/>
              </a:rPr>
              <a:t>High Level Language Program</a:t>
            </a:r>
          </a:p>
        </p:txBody>
      </p:sp>
      <p:sp>
        <p:nvSpPr>
          <p:cNvPr id="20484" name="Rectangle 5">
            <a:extLst>
              <a:ext uri="{FF2B5EF4-FFF2-40B4-BE49-F238E27FC236}">
                <a16:creationId xmlns:a16="http://schemas.microsoft.com/office/drawing/2014/main" id="{30F8A94D-6EFC-7963-FD56-25D65F42393B}"/>
              </a:ext>
            </a:extLst>
          </p:cNvPr>
          <p:cNvSpPr>
            <a:spLocks noChangeArrowheads="1"/>
          </p:cNvSpPr>
          <p:nvPr/>
        </p:nvSpPr>
        <p:spPr bwMode="auto">
          <a:xfrm>
            <a:off x="857250" y="2559050"/>
            <a:ext cx="2590800" cy="5302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41000"/>
              </a:spcBef>
              <a:buFontTx/>
              <a:buNone/>
            </a:pPr>
            <a:r>
              <a:rPr lang="en-US" altLang="en-US" sz="1800" b="1">
                <a:solidFill>
                  <a:srgbClr val="0000FF"/>
                </a:solidFill>
                <a:latin typeface="Arial" panose="020B0604020202020204" pitchFamily="34" charset="0"/>
              </a:rPr>
              <a:t>Assembly  Language Program</a:t>
            </a:r>
            <a:endParaRPr lang="en-US" altLang="en-US" sz="1800" b="1">
              <a:solidFill>
                <a:srgbClr val="FF0000"/>
              </a:solidFill>
              <a:latin typeface="Arial" panose="020B0604020202020204" pitchFamily="34" charset="0"/>
            </a:endParaRPr>
          </a:p>
        </p:txBody>
      </p:sp>
      <p:sp>
        <p:nvSpPr>
          <p:cNvPr id="20485" name="Rectangle 6">
            <a:extLst>
              <a:ext uri="{FF2B5EF4-FFF2-40B4-BE49-F238E27FC236}">
                <a16:creationId xmlns:a16="http://schemas.microsoft.com/office/drawing/2014/main" id="{E8A1AC31-6DE1-9BE0-77E4-653D258B5404}"/>
              </a:ext>
            </a:extLst>
          </p:cNvPr>
          <p:cNvSpPr>
            <a:spLocks noChangeArrowheads="1"/>
          </p:cNvSpPr>
          <p:nvPr/>
        </p:nvSpPr>
        <p:spPr bwMode="auto">
          <a:xfrm>
            <a:off x="908050" y="3981450"/>
            <a:ext cx="2590800" cy="5302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63500" tIns="25400" rIns="63500" bIns="25400">
            <a:spAutoFit/>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41000"/>
              </a:spcBef>
              <a:buFontTx/>
              <a:buNone/>
            </a:pPr>
            <a:r>
              <a:rPr lang="en-US" altLang="en-US" sz="1800" b="1">
                <a:solidFill>
                  <a:schemeClr val="accent2"/>
                </a:solidFill>
                <a:latin typeface="Arial" panose="020B0604020202020204" pitchFamily="34" charset="0"/>
              </a:rPr>
              <a:t>Machine  Language Program</a:t>
            </a:r>
          </a:p>
        </p:txBody>
      </p:sp>
      <p:sp>
        <p:nvSpPr>
          <p:cNvPr id="20486" name="Rectangle 7">
            <a:extLst>
              <a:ext uri="{FF2B5EF4-FFF2-40B4-BE49-F238E27FC236}">
                <a16:creationId xmlns:a16="http://schemas.microsoft.com/office/drawing/2014/main" id="{40849749-E894-5B91-FE8C-CBDC03963A54}"/>
              </a:ext>
            </a:extLst>
          </p:cNvPr>
          <p:cNvSpPr>
            <a:spLocks noChangeArrowheads="1"/>
          </p:cNvSpPr>
          <p:nvPr/>
        </p:nvSpPr>
        <p:spPr bwMode="auto">
          <a:xfrm>
            <a:off x="908050" y="5353050"/>
            <a:ext cx="25908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3500" tIns="25400" rIns="63500" bIns="25400">
            <a:spAutoFit/>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8000"/>
              </a:lnSpc>
              <a:spcBef>
                <a:spcPct val="43000"/>
              </a:spcBef>
              <a:buFontTx/>
              <a:buNone/>
            </a:pPr>
            <a:r>
              <a:rPr lang="en-US" altLang="en-US" sz="1800">
                <a:latin typeface="Arial" panose="020B0604020202020204" pitchFamily="34" charset="0"/>
              </a:rPr>
              <a:t>Control Signal Specification</a:t>
            </a:r>
          </a:p>
        </p:txBody>
      </p:sp>
      <p:sp>
        <p:nvSpPr>
          <p:cNvPr id="20487" name="Line 8">
            <a:extLst>
              <a:ext uri="{FF2B5EF4-FFF2-40B4-BE49-F238E27FC236}">
                <a16:creationId xmlns:a16="http://schemas.microsoft.com/office/drawing/2014/main" id="{5BE4C1D1-3AD5-0C61-FB3C-4B435EE9A872}"/>
              </a:ext>
            </a:extLst>
          </p:cNvPr>
          <p:cNvSpPr>
            <a:spLocks noChangeShapeType="1"/>
          </p:cNvSpPr>
          <p:nvPr/>
        </p:nvSpPr>
        <p:spPr bwMode="auto">
          <a:xfrm>
            <a:off x="2057400" y="1727200"/>
            <a:ext cx="0" cy="812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88" name="Line 9">
            <a:extLst>
              <a:ext uri="{FF2B5EF4-FFF2-40B4-BE49-F238E27FC236}">
                <a16:creationId xmlns:a16="http://schemas.microsoft.com/office/drawing/2014/main" id="{3E6AFD16-D824-A32C-E606-A484967427D4}"/>
              </a:ext>
            </a:extLst>
          </p:cNvPr>
          <p:cNvSpPr>
            <a:spLocks noChangeShapeType="1"/>
          </p:cNvSpPr>
          <p:nvPr/>
        </p:nvSpPr>
        <p:spPr bwMode="auto">
          <a:xfrm>
            <a:off x="2082800" y="3098800"/>
            <a:ext cx="0"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89" name="Rectangle 10">
            <a:extLst>
              <a:ext uri="{FF2B5EF4-FFF2-40B4-BE49-F238E27FC236}">
                <a16:creationId xmlns:a16="http://schemas.microsoft.com/office/drawing/2014/main" id="{B4CF045C-25DC-4A29-0BE4-BF66E3F85591}"/>
              </a:ext>
            </a:extLst>
          </p:cNvPr>
          <p:cNvSpPr>
            <a:spLocks noChangeArrowheads="1"/>
          </p:cNvSpPr>
          <p:nvPr/>
        </p:nvSpPr>
        <p:spPr bwMode="auto">
          <a:xfrm>
            <a:off x="2197100" y="1981200"/>
            <a:ext cx="132080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i="1">
                <a:latin typeface="Arial" panose="020B0604020202020204" pitchFamily="34" charset="0"/>
              </a:rPr>
              <a:t>Compiler</a:t>
            </a:r>
          </a:p>
        </p:txBody>
      </p:sp>
      <p:sp>
        <p:nvSpPr>
          <p:cNvPr id="20490" name="Rectangle 11">
            <a:extLst>
              <a:ext uri="{FF2B5EF4-FFF2-40B4-BE49-F238E27FC236}">
                <a16:creationId xmlns:a16="http://schemas.microsoft.com/office/drawing/2014/main" id="{0A592B3A-F4D9-7CA6-23E8-215332A17659}"/>
              </a:ext>
            </a:extLst>
          </p:cNvPr>
          <p:cNvSpPr>
            <a:spLocks noChangeArrowheads="1"/>
          </p:cNvSpPr>
          <p:nvPr/>
        </p:nvSpPr>
        <p:spPr bwMode="auto">
          <a:xfrm>
            <a:off x="2222500" y="3352800"/>
            <a:ext cx="144780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i="1">
                <a:latin typeface="Arial" panose="020B0604020202020204" pitchFamily="34" charset="0"/>
              </a:rPr>
              <a:t>Assembler</a:t>
            </a:r>
          </a:p>
        </p:txBody>
      </p:sp>
      <p:sp>
        <p:nvSpPr>
          <p:cNvPr id="20491" name="Line 12">
            <a:extLst>
              <a:ext uri="{FF2B5EF4-FFF2-40B4-BE49-F238E27FC236}">
                <a16:creationId xmlns:a16="http://schemas.microsoft.com/office/drawing/2014/main" id="{B1834A83-C926-B46B-E7AC-7D5D997C5C06}"/>
              </a:ext>
            </a:extLst>
          </p:cNvPr>
          <p:cNvSpPr>
            <a:spLocks noChangeShapeType="1"/>
          </p:cNvSpPr>
          <p:nvPr/>
        </p:nvSpPr>
        <p:spPr bwMode="auto">
          <a:xfrm>
            <a:off x="2108200" y="4495800"/>
            <a:ext cx="0" cy="863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2" name="Rectangle 13">
            <a:extLst>
              <a:ext uri="{FF2B5EF4-FFF2-40B4-BE49-F238E27FC236}">
                <a16:creationId xmlns:a16="http://schemas.microsoft.com/office/drawing/2014/main" id="{872B46B0-42B3-7446-F79E-3C3C1449970A}"/>
              </a:ext>
            </a:extLst>
          </p:cNvPr>
          <p:cNvSpPr>
            <a:spLocks noChangeArrowheads="1"/>
          </p:cNvSpPr>
          <p:nvPr/>
        </p:nvSpPr>
        <p:spPr bwMode="auto">
          <a:xfrm>
            <a:off x="2247900" y="4826000"/>
            <a:ext cx="2717800"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i="1">
                <a:latin typeface="Arial" panose="020B0604020202020204" pitchFamily="34" charset="0"/>
              </a:rPr>
              <a:t>Machine Interpretation</a:t>
            </a:r>
          </a:p>
        </p:txBody>
      </p:sp>
      <p:sp>
        <p:nvSpPr>
          <p:cNvPr id="20493" name="Rectangle 14">
            <a:extLst>
              <a:ext uri="{FF2B5EF4-FFF2-40B4-BE49-F238E27FC236}">
                <a16:creationId xmlns:a16="http://schemas.microsoft.com/office/drawing/2014/main" id="{201B3A62-20CB-0217-6237-716AC9FEAF22}"/>
              </a:ext>
            </a:extLst>
          </p:cNvPr>
          <p:cNvSpPr>
            <a:spLocks noChangeArrowheads="1"/>
          </p:cNvSpPr>
          <p:nvPr/>
        </p:nvSpPr>
        <p:spPr bwMode="auto">
          <a:xfrm>
            <a:off x="4294188" y="985838"/>
            <a:ext cx="30988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8000"/>
              </a:lnSpc>
              <a:spcBef>
                <a:spcPct val="42000"/>
              </a:spcBef>
              <a:buFontTx/>
              <a:buNone/>
            </a:pPr>
            <a:r>
              <a:rPr lang="en-US" altLang="en-US" sz="1800" b="1">
                <a:latin typeface="Arial" panose="020B0604020202020204" pitchFamily="34" charset="0"/>
              </a:rPr>
              <a:t>temp = v[k];</a:t>
            </a:r>
          </a:p>
          <a:p>
            <a:pPr>
              <a:lnSpc>
                <a:spcPct val="88000"/>
              </a:lnSpc>
              <a:spcBef>
                <a:spcPct val="42000"/>
              </a:spcBef>
              <a:buFontTx/>
              <a:buNone/>
            </a:pPr>
            <a:r>
              <a:rPr lang="en-US" altLang="en-US" sz="1800" b="1">
                <a:latin typeface="Arial" panose="020B0604020202020204" pitchFamily="34" charset="0"/>
              </a:rPr>
              <a:t>v[k] = v[k+1];</a:t>
            </a:r>
          </a:p>
          <a:p>
            <a:pPr>
              <a:lnSpc>
                <a:spcPct val="88000"/>
              </a:lnSpc>
              <a:spcBef>
                <a:spcPct val="42000"/>
              </a:spcBef>
              <a:buFontTx/>
              <a:buNone/>
            </a:pPr>
            <a:r>
              <a:rPr lang="en-US" altLang="en-US" sz="1800" b="1">
                <a:latin typeface="Arial" panose="020B0604020202020204" pitchFamily="34" charset="0"/>
              </a:rPr>
              <a:t>v[k+1] = temp;</a:t>
            </a:r>
          </a:p>
        </p:txBody>
      </p:sp>
      <p:sp>
        <p:nvSpPr>
          <p:cNvPr id="20494" name="Rectangle 15">
            <a:extLst>
              <a:ext uri="{FF2B5EF4-FFF2-40B4-BE49-F238E27FC236}">
                <a16:creationId xmlns:a16="http://schemas.microsoft.com/office/drawing/2014/main" id="{D16E1B56-4617-039B-C7EE-3C8E8C92AAB5}"/>
              </a:ext>
            </a:extLst>
          </p:cNvPr>
          <p:cNvSpPr>
            <a:spLocks noGrp="1" noChangeArrowheads="1"/>
          </p:cNvSpPr>
          <p:nvPr>
            <p:ph type="body" idx="1"/>
          </p:nvPr>
        </p:nvSpPr>
        <p:spPr>
          <a:xfrm>
            <a:off x="4286250" y="2343150"/>
            <a:ext cx="2914650" cy="1149350"/>
          </a:xfrm>
          <a:noFill/>
        </p:spPr>
        <p:txBody>
          <a:bodyPr lIns="63500" tIns="25400" rIns="63500" bIns="25400">
            <a:spAutoFit/>
          </a:bodyPr>
          <a:lstStyle/>
          <a:p>
            <a:pPr>
              <a:spcBef>
                <a:spcPct val="0"/>
              </a:spcBef>
              <a:buFontTx/>
              <a:buNone/>
              <a:tabLst>
                <a:tab pos="1066800" algn="l"/>
              </a:tabLst>
            </a:pPr>
            <a:r>
              <a:rPr lang="en-US" altLang="en-US" sz="1800">
                <a:solidFill>
                  <a:srgbClr val="0000FF"/>
                </a:solidFill>
                <a:latin typeface="Arial  " charset="0"/>
                <a:cs typeface="Arial  " charset="0"/>
              </a:rPr>
              <a:t>LW R15,0(R2)</a:t>
            </a:r>
          </a:p>
          <a:p>
            <a:pPr>
              <a:spcBef>
                <a:spcPct val="0"/>
              </a:spcBef>
              <a:buFontTx/>
              <a:buNone/>
              <a:tabLst>
                <a:tab pos="1066800" algn="l"/>
              </a:tabLst>
            </a:pPr>
            <a:r>
              <a:rPr lang="en-US" altLang="en-US" sz="1800">
                <a:solidFill>
                  <a:srgbClr val="0000FF"/>
                </a:solidFill>
                <a:latin typeface="Arial  " charset="0"/>
                <a:cs typeface="Arial  " charset="0"/>
              </a:rPr>
              <a:t>LW R16,4(R2)</a:t>
            </a:r>
          </a:p>
          <a:p>
            <a:pPr>
              <a:spcBef>
                <a:spcPct val="0"/>
              </a:spcBef>
              <a:buFontTx/>
              <a:buNone/>
              <a:tabLst>
                <a:tab pos="1066800" algn="l"/>
              </a:tabLst>
            </a:pPr>
            <a:r>
              <a:rPr lang="en-US" altLang="en-US" sz="1800">
                <a:solidFill>
                  <a:srgbClr val="0000FF"/>
                </a:solidFill>
                <a:latin typeface="Arial  " charset="0"/>
                <a:cs typeface="Arial  " charset="0"/>
              </a:rPr>
              <a:t>SW R16,0(R2)</a:t>
            </a:r>
          </a:p>
          <a:p>
            <a:pPr>
              <a:spcBef>
                <a:spcPct val="0"/>
              </a:spcBef>
              <a:buFontTx/>
              <a:buNone/>
              <a:tabLst>
                <a:tab pos="1066800" algn="l"/>
              </a:tabLst>
            </a:pPr>
            <a:r>
              <a:rPr lang="en-US" altLang="en-US" sz="1800">
                <a:solidFill>
                  <a:srgbClr val="0000FF"/>
                </a:solidFill>
                <a:latin typeface="Arial  " charset="0"/>
                <a:cs typeface="Arial  " charset="0"/>
              </a:rPr>
              <a:t>SW R15,4(R2)</a:t>
            </a:r>
          </a:p>
        </p:txBody>
      </p:sp>
      <p:sp>
        <p:nvSpPr>
          <p:cNvPr id="20495" name="Rectangle 16">
            <a:extLst>
              <a:ext uri="{FF2B5EF4-FFF2-40B4-BE49-F238E27FC236}">
                <a16:creationId xmlns:a16="http://schemas.microsoft.com/office/drawing/2014/main" id="{F251AAE5-EF93-F849-B952-CA87BC3C1C1C}"/>
              </a:ext>
            </a:extLst>
          </p:cNvPr>
          <p:cNvSpPr>
            <a:spLocks noChangeArrowheads="1"/>
          </p:cNvSpPr>
          <p:nvPr/>
        </p:nvSpPr>
        <p:spPr bwMode="auto">
          <a:xfrm>
            <a:off x="5270500" y="4051300"/>
            <a:ext cx="29845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20496" name="Rectangle 17">
            <a:extLst>
              <a:ext uri="{FF2B5EF4-FFF2-40B4-BE49-F238E27FC236}">
                <a16:creationId xmlns:a16="http://schemas.microsoft.com/office/drawing/2014/main" id="{69C684B6-6D53-FFE8-C272-4B90F0CEDBF9}"/>
              </a:ext>
            </a:extLst>
          </p:cNvPr>
          <p:cNvSpPr>
            <a:spLocks noChangeArrowheads="1"/>
          </p:cNvSpPr>
          <p:nvPr/>
        </p:nvSpPr>
        <p:spPr bwMode="auto">
          <a:xfrm>
            <a:off x="4265613" y="3832225"/>
            <a:ext cx="4435475"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400">
                <a:solidFill>
                  <a:schemeClr val="accent2"/>
                </a:solidFill>
                <a:latin typeface="Courier New" panose="02070309020205020404" pitchFamily="49" charset="0"/>
              </a:rPr>
              <a:t>1000 1100 0110 0010 0000 0000 0000 0000</a:t>
            </a:r>
          </a:p>
          <a:p>
            <a:pPr>
              <a:spcBef>
                <a:spcPct val="0"/>
              </a:spcBef>
              <a:buFontTx/>
              <a:buNone/>
            </a:pPr>
            <a:r>
              <a:rPr lang="en-US" altLang="en-US" sz="1400">
                <a:solidFill>
                  <a:schemeClr val="accent2"/>
                </a:solidFill>
                <a:latin typeface="Courier New" panose="02070309020205020404" pitchFamily="49" charset="0"/>
              </a:rPr>
              <a:t>1000 1100 1111 0010 0000 0000 0000 0100</a:t>
            </a:r>
          </a:p>
          <a:p>
            <a:pPr>
              <a:spcBef>
                <a:spcPct val="0"/>
              </a:spcBef>
              <a:buFontTx/>
              <a:buNone/>
            </a:pPr>
            <a:r>
              <a:rPr lang="en-US" altLang="en-US" sz="1400">
                <a:solidFill>
                  <a:schemeClr val="accent2"/>
                </a:solidFill>
                <a:latin typeface="Courier New" panose="02070309020205020404" pitchFamily="49" charset="0"/>
              </a:rPr>
              <a:t>1010 1100 1111 0010 0000 0000 0000 0000 </a:t>
            </a:r>
          </a:p>
          <a:p>
            <a:pPr>
              <a:spcBef>
                <a:spcPct val="0"/>
              </a:spcBef>
              <a:buFontTx/>
              <a:buNone/>
            </a:pPr>
            <a:r>
              <a:rPr lang="en-US" altLang="en-US" sz="1400">
                <a:solidFill>
                  <a:schemeClr val="accent2"/>
                </a:solidFill>
                <a:latin typeface="Courier New" panose="02070309020205020404" pitchFamily="49" charset="0"/>
              </a:rPr>
              <a:t>1010 1100 0110 0010 0000 0000 0000 0100 </a:t>
            </a:r>
          </a:p>
        </p:txBody>
      </p:sp>
      <p:sp>
        <p:nvSpPr>
          <p:cNvPr id="20497" name="Rectangle 18">
            <a:extLst>
              <a:ext uri="{FF2B5EF4-FFF2-40B4-BE49-F238E27FC236}">
                <a16:creationId xmlns:a16="http://schemas.microsoft.com/office/drawing/2014/main" id="{D90E8371-CE5D-3663-5E54-776D4EF92824}"/>
              </a:ext>
            </a:extLst>
          </p:cNvPr>
          <p:cNvSpPr>
            <a:spLocks noChangeArrowheads="1"/>
          </p:cNvSpPr>
          <p:nvPr/>
        </p:nvSpPr>
        <p:spPr bwMode="auto">
          <a:xfrm>
            <a:off x="2041525" y="5942013"/>
            <a:ext cx="261938"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600">
                <a:solidFill>
                  <a:schemeClr val="accent1"/>
                </a:solidFill>
                <a:latin typeface="Arial" panose="020B0604020202020204" pitchFamily="34" charset="0"/>
              </a:rPr>
              <a:t>°</a:t>
            </a:r>
          </a:p>
          <a:p>
            <a:pPr>
              <a:spcBef>
                <a:spcPct val="0"/>
              </a:spcBef>
              <a:buFontTx/>
              <a:buNone/>
            </a:pPr>
            <a:r>
              <a:rPr lang="en-US" altLang="en-US" sz="1600">
                <a:solidFill>
                  <a:schemeClr val="accent1"/>
                </a:solidFill>
                <a:latin typeface="Arial" panose="020B0604020202020204" pitchFamily="34" charset="0"/>
              </a:rPr>
              <a:t>°</a:t>
            </a:r>
          </a:p>
        </p:txBody>
      </p:sp>
      <p:sp>
        <p:nvSpPr>
          <p:cNvPr id="20498" name="Rectangle 19">
            <a:extLst>
              <a:ext uri="{FF2B5EF4-FFF2-40B4-BE49-F238E27FC236}">
                <a16:creationId xmlns:a16="http://schemas.microsoft.com/office/drawing/2014/main" id="{F8B4B066-EB76-3D42-EEAF-4980C7CF187D}"/>
              </a:ext>
            </a:extLst>
          </p:cNvPr>
          <p:cNvSpPr>
            <a:spLocks noChangeArrowheads="1"/>
          </p:cNvSpPr>
          <p:nvPr/>
        </p:nvSpPr>
        <p:spPr bwMode="auto">
          <a:xfrm>
            <a:off x="4229100" y="5424488"/>
            <a:ext cx="42195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800" b="1">
                <a:latin typeface="Arial" panose="020B0604020202020204" pitchFamily="34" charset="0"/>
              </a:rPr>
              <a:t>ALUOP[0:3] </a:t>
            </a:r>
            <a:r>
              <a:rPr lang="en-US" altLang="en-US" sz="2000">
                <a:latin typeface="Arial" panose="020B0604020202020204" pitchFamily="34" charset="0"/>
              </a:rPr>
              <a:t>←</a:t>
            </a:r>
            <a:r>
              <a:rPr lang="en-US" altLang="en-US" sz="1800" b="1">
                <a:latin typeface="Arial" panose="020B0604020202020204" pitchFamily="34" charset="0"/>
              </a:rPr>
              <a:t> InstrReg[9:12] &amp; MASK</a:t>
            </a:r>
          </a:p>
        </p:txBody>
      </p:sp>
      <p:sp>
        <p:nvSpPr>
          <p:cNvPr id="20499" name="Rectangle 20" descr="Horizontal brick">
            <a:extLst>
              <a:ext uri="{FF2B5EF4-FFF2-40B4-BE49-F238E27FC236}">
                <a16:creationId xmlns:a16="http://schemas.microsoft.com/office/drawing/2014/main" id="{7457801E-A4C6-8EB7-2C1F-A8CA4547C2C6}"/>
              </a:ext>
            </a:extLst>
          </p:cNvPr>
          <p:cNvSpPr>
            <a:spLocks noChangeArrowheads="1"/>
          </p:cNvSpPr>
          <p:nvPr/>
        </p:nvSpPr>
        <p:spPr bwMode="auto">
          <a:xfrm>
            <a:off x="844550" y="4502150"/>
            <a:ext cx="2730500" cy="139700"/>
          </a:xfrm>
          <a:prstGeom prst="rect">
            <a:avLst/>
          </a:prstGeom>
          <a:blipFill dpi="0" rotWithShape="0">
            <a:blip r:embed="rId3"/>
            <a:srcRect/>
            <a:tile tx="0" ty="0" sx="100000" sy="100000" flip="none" algn="tl"/>
          </a:blipFill>
          <a:ln w="12700">
            <a:solidFill>
              <a:schemeClr val="tx1"/>
            </a:solidFill>
            <a:miter lim="800000"/>
            <a:headEnd/>
            <a:tailEnd/>
          </a:ln>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20500" name="Line 21">
            <a:extLst>
              <a:ext uri="{FF2B5EF4-FFF2-40B4-BE49-F238E27FC236}">
                <a16:creationId xmlns:a16="http://schemas.microsoft.com/office/drawing/2014/main" id="{48EEA5AB-C646-F3F4-DA5A-1D171E38043F}"/>
              </a:ext>
            </a:extLst>
          </p:cNvPr>
          <p:cNvSpPr>
            <a:spLocks noChangeShapeType="1"/>
          </p:cNvSpPr>
          <p:nvPr/>
        </p:nvSpPr>
        <p:spPr bwMode="auto">
          <a:xfrm>
            <a:off x="3848100" y="1409700"/>
            <a:ext cx="0" cy="3086100"/>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501" name="Slide Number Placeholder 26">
            <a:extLst>
              <a:ext uri="{FF2B5EF4-FFF2-40B4-BE49-F238E27FC236}">
                <a16:creationId xmlns:a16="http://schemas.microsoft.com/office/drawing/2014/main" id="{95BAE13C-16A4-9544-5528-D5CA67966A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D340FA26-B955-7A42-BBF0-9851DAEFD961}" type="slidenum">
              <a:rPr lang="en-US" altLang="en-US" sz="1400"/>
              <a:pPr>
                <a:spcBef>
                  <a:spcPct val="0"/>
                </a:spcBef>
                <a:buFontTx/>
                <a:buNone/>
              </a:pPr>
              <a:t>4</a:t>
            </a:fld>
            <a:r>
              <a:rPr lang="en-US" altLang="en-US" sz="1400"/>
              <a:t> </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0E169456-538B-1A05-A9D5-62458EE0A1E3}"/>
              </a:ext>
            </a:extLst>
          </p:cNvPr>
          <p:cNvSpPr>
            <a:spLocks noGrp="1" noChangeArrowheads="1"/>
          </p:cNvSpPr>
          <p:nvPr>
            <p:ph type="title"/>
          </p:nvPr>
        </p:nvSpPr>
        <p:spPr>
          <a:xfrm>
            <a:off x="698500" y="0"/>
            <a:ext cx="7772400" cy="1143000"/>
          </a:xfrm>
        </p:spPr>
        <p:txBody>
          <a:bodyPr/>
          <a:lstStyle/>
          <a:p>
            <a:r>
              <a:rPr lang="en-US" altLang="en-US">
                <a:latin typeface="Arial  " charset="0"/>
                <a:cs typeface="Arial  " charset="0"/>
              </a:rPr>
              <a:t>Elements of an ISA</a:t>
            </a:r>
          </a:p>
        </p:txBody>
      </p:sp>
      <p:sp>
        <p:nvSpPr>
          <p:cNvPr id="23554" name="Rectangle 3">
            <a:extLst>
              <a:ext uri="{FF2B5EF4-FFF2-40B4-BE49-F238E27FC236}">
                <a16:creationId xmlns:a16="http://schemas.microsoft.com/office/drawing/2014/main" id="{182EFBC8-E8BE-A39B-C618-8BE9E384C931}"/>
              </a:ext>
            </a:extLst>
          </p:cNvPr>
          <p:cNvSpPr>
            <a:spLocks noGrp="1" noChangeArrowheads="1"/>
          </p:cNvSpPr>
          <p:nvPr>
            <p:ph type="body" idx="1"/>
          </p:nvPr>
        </p:nvSpPr>
        <p:spPr>
          <a:xfrm>
            <a:off x="673100" y="1016000"/>
            <a:ext cx="7772400" cy="4114800"/>
          </a:xfrm>
        </p:spPr>
        <p:txBody>
          <a:bodyPr/>
          <a:lstStyle/>
          <a:p>
            <a:r>
              <a:rPr lang="en-US" altLang="en-US" sz="1800">
                <a:latin typeface="Arial  " charset="0"/>
                <a:cs typeface="Arial  " charset="0"/>
              </a:rPr>
              <a:t>Set of machine-recognized data types</a:t>
            </a:r>
          </a:p>
          <a:p>
            <a:pPr lvl="1"/>
            <a:r>
              <a:rPr lang="en-US" altLang="en-US" sz="1600">
                <a:latin typeface="Arial  " charset="0"/>
                <a:cs typeface="Arial  " charset="0"/>
              </a:rPr>
              <a:t>bytes, words, integers, floating point, strings, . . .</a:t>
            </a:r>
          </a:p>
          <a:p>
            <a:r>
              <a:rPr lang="en-US" altLang="en-US" sz="1800">
                <a:latin typeface="Arial  " charset="0"/>
                <a:cs typeface="Arial  " charset="0"/>
              </a:rPr>
              <a:t>Operations performed on those data types</a:t>
            </a:r>
          </a:p>
          <a:p>
            <a:pPr lvl="1"/>
            <a:r>
              <a:rPr lang="en-US" altLang="en-US" sz="1600">
                <a:latin typeface="Arial  " charset="0"/>
                <a:cs typeface="Arial  " charset="0"/>
              </a:rPr>
              <a:t>Add, sub, mul, div, xor, move, ….</a:t>
            </a:r>
          </a:p>
          <a:p>
            <a:r>
              <a:rPr lang="en-US" altLang="en-US" sz="1800">
                <a:latin typeface="Arial  " charset="0"/>
                <a:cs typeface="Arial  " charset="0"/>
              </a:rPr>
              <a:t>Programmable storage</a:t>
            </a:r>
          </a:p>
          <a:p>
            <a:pPr lvl="1"/>
            <a:r>
              <a:rPr lang="en-US" altLang="en-US" sz="1600">
                <a:latin typeface="Arial  " charset="0"/>
                <a:cs typeface="Arial  " charset="0"/>
              </a:rPr>
              <a:t>Registers, program counter, memory</a:t>
            </a:r>
          </a:p>
          <a:p>
            <a:r>
              <a:rPr lang="en-US" altLang="en-US" sz="1800">
                <a:latin typeface="Arial  " charset="0"/>
                <a:cs typeface="Arial  " charset="0"/>
              </a:rPr>
              <a:t>Methods of identifying and obtaining data referenced by instructions (addressing modes)</a:t>
            </a:r>
          </a:p>
          <a:p>
            <a:pPr lvl="1"/>
            <a:r>
              <a:rPr lang="en-US" altLang="en-US" sz="1600">
                <a:latin typeface="Arial  " charset="0"/>
                <a:cs typeface="Arial  " charset="0"/>
              </a:rPr>
              <a:t>Addressing modes: Literal, register, absolute, relative, reg + offset, …</a:t>
            </a:r>
          </a:p>
          <a:p>
            <a:pPr lvl="1"/>
            <a:r>
              <a:rPr lang="en-US" altLang="en-US" sz="1600">
                <a:latin typeface="Arial  " charset="0"/>
                <a:cs typeface="Arial  " charset="0"/>
              </a:rPr>
              <a:t>Endianness, alignment restrictions</a:t>
            </a:r>
          </a:p>
          <a:p>
            <a:r>
              <a:rPr lang="en-US" altLang="en-US" sz="1800">
                <a:latin typeface="Arial  " charset="0"/>
                <a:cs typeface="Arial  " charset="0"/>
              </a:rPr>
              <a:t>Format (encoding) of the instructions</a:t>
            </a:r>
          </a:p>
          <a:p>
            <a:pPr lvl="1"/>
            <a:r>
              <a:rPr lang="en-US" altLang="en-US" sz="1600">
                <a:latin typeface="Arial  " charset="0"/>
                <a:cs typeface="Arial  " charset="0"/>
              </a:rPr>
              <a:t>Op code, operand fields, …</a:t>
            </a:r>
            <a:endParaRPr lang="en-US" altLang="en-US">
              <a:latin typeface="Arial  " charset="0"/>
              <a:cs typeface="Arial  " charset="0"/>
            </a:endParaRPr>
          </a:p>
        </p:txBody>
      </p:sp>
      <p:grpSp>
        <p:nvGrpSpPr>
          <p:cNvPr id="2" name="Group 4">
            <a:extLst>
              <a:ext uri="{FF2B5EF4-FFF2-40B4-BE49-F238E27FC236}">
                <a16:creationId xmlns:a16="http://schemas.microsoft.com/office/drawing/2014/main" id="{29107977-04CE-3DF0-ECC8-EF3A585E2DFF}"/>
              </a:ext>
            </a:extLst>
          </p:cNvPr>
          <p:cNvGrpSpPr>
            <a:grpSpLocks/>
          </p:cNvGrpSpPr>
          <p:nvPr/>
        </p:nvGrpSpPr>
        <p:grpSpPr bwMode="auto">
          <a:xfrm>
            <a:off x="3151188" y="5080000"/>
            <a:ext cx="2379662" cy="882650"/>
            <a:chOff x="2225" y="3456"/>
            <a:chExt cx="1499" cy="556"/>
          </a:xfrm>
        </p:grpSpPr>
        <p:sp>
          <p:nvSpPr>
            <p:cNvPr id="23563" name="Text Box 5">
              <a:extLst>
                <a:ext uri="{FF2B5EF4-FFF2-40B4-BE49-F238E27FC236}">
                  <a16:creationId xmlns:a16="http://schemas.microsoft.com/office/drawing/2014/main" id="{7FE5F2ED-9CED-91AA-0469-B5205261765A}"/>
                </a:ext>
              </a:extLst>
            </p:cNvPr>
            <p:cNvSpPr txBox="1">
              <a:spLocks noChangeArrowheads="1"/>
            </p:cNvSpPr>
            <p:nvPr/>
          </p:nvSpPr>
          <p:spPr bwMode="auto">
            <a:xfrm>
              <a:off x="2266" y="3489"/>
              <a:ext cx="1411"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50000"/>
                </a:spcBef>
                <a:buFontTx/>
                <a:buNone/>
              </a:pPr>
              <a:r>
                <a:rPr lang="en-US" altLang="en-US" sz="1600" b="1">
                  <a:solidFill>
                    <a:schemeClr val="hlink"/>
                  </a:solidFill>
                  <a:latin typeface="Arial" panose="020B0604020202020204" pitchFamily="34" charset="0"/>
                </a:rPr>
                <a:t>Current Logical State</a:t>
              </a:r>
            </a:p>
            <a:p>
              <a:pPr>
                <a:spcBef>
                  <a:spcPct val="50000"/>
                </a:spcBef>
                <a:buFontTx/>
                <a:buNone/>
              </a:pPr>
              <a:r>
                <a:rPr lang="en-US" altLang="en-US" sz="1600" b="1">
                  <a:solidFill>
                    <a:schemeClr val="hlink"/>
                  </a:solidFill>
                  <a:latin typeface="Arial" panose="020B0604020202020204" pitchFamily="34" charset="0"/>
                </a:rPr>
                <a:t>of the Machine</a:t>
              </a:r>
            </a:p>
          </p:txBody>
        </p:sp>
        <p:sp>
          <p:nvSpPr>
            <p:cNvPr id="23564" name="Rectangle 6">
              <a:extLst>
                <a:ext uri="{FF2B5EF4-FFF2-40B4-BE49-F238E27FC236}">
                  <a16:creationId xmlns:a16="http://schemas.microsoft.com/office/drawing/2014/main" id="{1459DDEF-F9F0-5D6F-A640-820CD2558D05}"/>
                </a:ext>
              </a:extLst>
            </p:cNvPr>
            <p:cNvSpPr>
              <a:spLocks noChangeArrowheads="1"/>
            </p:cNvSpPr>
            <p:nvPr/>
          </p:nvSpPr>
          <p:spPr bwMode="auto">
            <a:xfrm>
              <a:off x="2225" y="3456"/>
              <a:ext cx="1499" cy="5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grpSp>
      <p:grpSp>
        <p:nvGrpSpPr>
          <p:cNvPr id="3" name="Group 7">
            <a:extLst>
              <a:ext uri="{FF2B5EF4-FFF2-40B4-BE49-F238E27FC236}">
                <a16:creationId xmlns:a16="http://schemas.microsoft.com/office/drawing/2014/main" id="{60A48068-0BF5-67AF-612E-FAF49061B607}"/>
              </a:ext>
            </a:extLst>
          </p:cNvPr>
          <p:cNvGrpSpPr>
            <a:grpSpLocks/>
          </p:cNvGrpSpPr>
          <p:nvPr/>
        </p:nvGrpSpPr>
        <p:grpSpPr bwMode="auto">
          <a:xfrm>
            <a:off x="6142038" y="5073650"/>
            <a:ext cx="2379662" cy="882650"/>
            <a:chOff x="4109" y="3452"/>
            <a:chExt cx="1499" cy="556"/>
          </a:xfrm>
        </p:grpSpPr>
        <p:sp>
          <p:nvSpPr>
            <p:cNvPr id="23561" name="Text Box 8">
              <a:extLst>
                <a:ext uri="{FF2B5EF4-FFF2-40B4-BE49-F238E27FC236}">
                  <a16:creationId xmlns:a16="http://schemas.microsoft.com/office/drawing/2014/main" id="{AAEC2815-9BAA-94B1-ED70-ACE05D9433EC}"/>
                </a:ext>
              </a:extLst>
            </p:cNvPr>
            <p:cNvSpPr txBox="1">
              <a:spLocks noChangeArrowheads="1"/>
            </p:cNvSpPr>
            <p:nvPr/>
          </p:nvSpPr>
          <p:spPr bwMode="auto">
            <a:xfrm>
              <a:off x="4238" y="3457"/>
              <a:ext cx="1226" cy="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50000"/>
                </a:spcBef>
                <a:buFontTx/>
                <a:buNone/>
              </a:pPr>
              <a:r>
                <a:rPr lang="en-US" altLang="en-US" sz="1600" b="1">
                  <a:solidFill>
                    <a:schemeClr val="hlink"/>
                  </a:solidFill>
                  <a:latin typeface="Arial" panose="020B0604020202020204" pitchFamily="34" charset="0"/>
                </a:rPr>
                <a:t>Next Logical State</a:t>
              </a:r>
            </a:p>
            <a:p>
              <a:pPr>
                <a:spcBef>
                  <a:spcPct val="50000"/>
                </a:spcBef>
                <a:buFontTx/>
                <a:buNone/>
              </a:pPr>
              <a:r>
                <a:rPr lang="en-US" altLang="en-US" sz="1600" b="1">
                  <a:solidFill>
                    <a:schemeClr val="hlink"/>
                  </a:solidFill>
                  <a:latin typeface="Arial" panose="020B0604020202020204" pitchFamily="34" charset="0"/>
                </a:rPr>
                <a:t>of the Machine</a:t>
              </a:r>
            </a:p>
          </p:txBody>
        </p:sp>
        <p:sp>
          <p:nvSpPr>
            <p:cNvPr id="23562" name="Rectangle 9">
              <a:extLst>
                <a:ext uri="{FF2B5EF4-FFF2-40B4-BE49-F238E27FC236}">
                  <a16:creationId xmlns:a16="http://schemas.microsoft.com/office/drawing/2014/main" id="{51013671-F676-9ED3-A1B9-999C00EA694C}"/>
                </a:ext>
              </a:extLst>
            </p:cNvPr>
            <p:cNvSpPr>
              <a:spLocks noChangeArrowheads="1"/>
            </p:cNvSpPr>
            <p:nvPr/>
          </p:nvSpPr>
          <p:spPr bwMode="auto">
            <a:xfrm>
              <a:off x="4109" y="3452"/>
              <a:ext cx="1499" cy="55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grpSp>
      <p:grpSp>
        <p:nvGrpSpPr>
          <p:cNvPr id="4" name="Group 10">
            <a:extLst>
              <a:ext uri="{FF2B5EF4-FFF2-40B4-BE49-F238E27FC236}">
                <a16:creationId xmlns:a16="http://schemas.microsoft.com/office/drawing/2014/main" id="{1F37DCC8-9003-E6DA-EF71-FDA8EEE06629}"/>
              </a:ext>
            </a:extLst>
          </p:cNvPr>
          <p:cNvGrpSpPr>
            <a:grpSpLocks/>
          </p:cNvGrpSpPr>
          <p:nvPr/>
        </p:nvGrpSpPr>
        <p:grpSpPr bwMode="auto">
          <a:xfrm>
            <a:off x="5626100" y="5316538"/>
            <a:ext cx="425450" cy="441325"/>
            <a:chOff x="3784" y="3605"/>
            <a:chExt cx="268" cy="278"/>
          </a:xfrm>
        </p:grpSpPr>
        <p:sp>
          <p:nvSpPr>
            <p:cNvPr id="23559" name="Line 11">
              <a:extLst>
                <a:ext uri="{FF2B5EF4-FFF2-40B4-BE49-F238E27FC236}">
                  <a16:creationId xmlns:a16="http://schemas.microsoft.com/office/drawing/2014/main" id="{1A85DE70-F2F4-1FDC-3F5D-7C66198761C6}"/>
                </a:ext>
              </a:extLst>
            </p:cNvPr>
            <p:cNvSpPr>
              <a:spLocks noChangeShapeType="1"/>
            </p:cNvSpPr>
            <p:nvPr/>
          </p:nvSpPr>
          <p:spPr bwMode="auto">
            <a:xfrm>
              <a:off x="3784" y="3605"/>
              <a:ext cx="0" cy="27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23560" name="Line 12">
              <a:extLst>
                <a:ext uri="{FF2B5EF4-FFF2-40B4-BE49-F238E27FC236}">
                  <a16:creationId xmlns:a16="http://schemas.microsoft.com/office/drawing/2014/main" id="{03C68B12-19AD-0A7C-5748-9F4B40F3055C}"/>
                </a:ext>
              </a:extLst>
            </p:cNvPr>
            <p:cNvSpPr>
              <a:spLocks noChangeShapeType="1"/>
            </p:cNvSpPr>
            <p:nvPr/>
          </p:nvSpPr>
          <p:spPr bwMode="auto">
            <a:xfrm>
              <a:off x="3784" y="3754"/>
              <a:ext cx="26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23558" name="Slide Number Placeholder 15">
            <a:extLst>
              <a:ext uri="{FF2B5EF4-FFF2-40B4-BE49-F238E27FC236}">
                <a16:creationId xmlns:a16="http://schemas.microsoft.com/office/drawing/2014/main" id="{3FC1ECAB-90A3-62CA-9A62-68E70B54B3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2018C743-D25A-1F4E-8900-792DBF813B52}" type="slidenum">
              <a:rPr lang="en-US" altLang="en-US" sz="1400"/>
              <a:pPr>
                <a:spcBef>
                  <a:spcPct val="0"/>
                </a:spcBef>
                <a:buFontTx/>
                <a:buNone/>
              </a:pPr>
              <a:t>5</a:t>
            </a:fld>
            <a:r>
              <a:rPr lang="en-US" altLang="en-US" sz="14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par>
                          <p:cTn id="11" fill="hold" nodeType="afterGroup">
                            <p:stCondLst>
                              <p:cond delay="500"/>
                            </p:stCondLst>
                            <p:childTnLst>
                              <p:par>
                                <p:cTn id="12" presetID="1" presetClass="entr" presetSubtype="0" fill="hold" nodeType="afterEffect">
                                  <p:stCondLst>
                                    <p:cond delay="0"/>
                                  </p:stCondLst>
                                  <p:childTnLst>
                                    <p:set>
                                      <p:cBhvr>
                                        <p:cTn id="13"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026">
            <a:extLst>
              <a:ext uri="{FF2B5EF4-FFF2-40B4-BE49-F238E27FC236}">
                <a16:creationId xmlns:a16="http://schemas.microsoft.com/office/drawing/2014/main" id="{0798B2DF-E8C8-F9A9-7A25-E22678A59D04}"/>
              </a:ext>
            </a:extLst>
          </p:cNvPr>
          <p:cNvSpPr>
            <a:spLocks noGrp="1" noChangeArrowheads="1"/>
          </p:cNvSpPr>
          <p:nvPr>
            <p:ph type="title"/>
          </p:nvPr>
        </p:nvSpPr>
        <p:spPr>
          <a:xfrm>
            <a:off x="698500" y="0"/>
            <a:ext cx="7772400" cy="1143000"/>
          </a:xfrm>
        </p:spPr>
        <p:txBody>
          <a:bodyPr/>
          <a:lstStyle/>
          <a:p>
            <a:r>
              <a:rPr lang="en-US" altLang="en-US">
                <a:latin typeface="Arial  " charset="0"/>
                <a:cs typeface="Arial  " charset="0"/>
              </a:rPr>
              <a:t>Four ISA Classes</a:t>
            </a:r>
          </a:p>
        </p:txBody>
      </p:sp>
      <p:pic>
        <p:nvPicPr>
          <p:cNvPr id="25602" name="Picture 1027" descr="Ch2-fig01">
            <a:extLst>
              <a:ext uri="{FF2B5EF4-FFF2-40B4-BE49-F238E27FC236}">
                <a16:creationId xmlns:a16="http://schemas.microsoft.com/office/drawing/2014/main" id="{D2D18B68-EC60-A936-88A2-EB1305E394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00" y="1058863"/>
            <a:ext cx="7831138"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Slide Number Placeholder 6">
            <a:extLst>
              <a:ext uri="{FF2B5EF4-FFF2-40B4-BE49-F238E27FC236}">
                <a16:creationId xmlns:a16="http://schemas.microsoft.com/office/drawing/2014/main" id="{B88BFD65-C522-0144-778E-10380A5274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F436E1B8-BB3C-AA4D-B476-4A5545F7C4F1}" type="slidenum">
              <a:rPr lang="en-US" altLang="en-US" sz="1400"/>
              <a:pPr>
                <a:spcBef>
                  <a:spcPct val="0"/>
                </a:spcBef>
                <a:buFontTx/>
                <a:buNone/>
              </a:pPr>
              <a:t>6</a:t>
            </a:fld>
            <a:r>
              <a:rPr lang="en-US" altLang="en-US" sz="140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1BB8AD65-E6CB-FE86-169C-A9C3B37887BC}"/>
              </a:ext>
            </a:extLst>
          </p:cNvPr>
          <p:cNvSpPr>
            <a:spLocks noGrp="1" noChangeArrowheads="1"/>
          </p:cNvSpPr>
          <p:nvPr>
            <p:ph type="title"/>
          </p:nvPr>
        </p:nvSpPr>
        <p:spPr>
          <a:xfrm>
            <a:off x="749300" y="165100"/>
            <a:ext cx="7772400" cy="1143000"/>
          </a:xfrm>
        </p:spPr>
        <p:txBody>
          <a:bodyPr/>
          <a:lstStyle/>
          <a:p>
            <a:r>
              <a:rPr lang="en-US" altLang="en-US">
                <a:latin typeface="Arial  " charset="0"/>
                <a:cs typeface="Arial  " charset="0"/>
              </a:rPr>
              <a:t>Four ISA Classes</a:t>
            </a:r>
          </a:p>
        </p:txBody>
      </p:sp>
      <p:sp>
        <p:nvSpPr>
          <p:cNvPr id="27650" name="Rectangle 3">
            <a:extLst>
              <a:ext uri="{FF2B5EF4-FFF2-40B4-BE49-F238E27FC236}">
                <a16:creationId xmlns:a16="http://schemas.microsoft.com/office/drawing/2014/main" id="{9BB34607-01BA-CF56-3A69-77C2DF031FE6}"/>
              </a:ext>
            </a:extLst>
          </p:cNvPr>
          <p:cNvSpPr>
            <a:spLocks noGrp="1" noChangeArrowheads="1"/>
          </p:cNvSpPr>
          <p:nvPr>
            <p:ph type="body" idx="1"/>
          </p:nvPr>
        </p:nvSpPr>
        <p:spPr>
          <a:xfrm>
            <a:off x="431800" y="3124200"/>
            <a:ext cx="1206500" cy="1841500"/>
          </a:xfrm>
          <a:solidFill>
            <a:schemeClr val="accent1"/>
          </a:solidFill>
        </p:spPr>
        <p:txBody>
          <a:bodyPr/>
          <a:lstStyle/>
          <a:p>
            <a:pPr>
              <a:lnSpc>
                <a:spcPct val="90000"/>
              </a:lnSpc>
              <a:buFontTx/>
              <a:buNone/>
            </a:pPr>
            <a:r>
              <a:rPr lang="en-US" altLang="en-US" sz="1800" u="sng">
                <a:latin typeface="Arial  " charset="0"/>
                <a:cs typeface="Arial  " charset="0"/>
              </a:rPr>
              <a:t>Stack</a:t>
            </a:r>
            <a:endParaRPr lang="en-US" altLang="en-US" sz="1800">
              <a:latin typeface="Arial  " charset="0"/>
              <a:cs typeface="Arial  " charset="0"/>
            </a:endParaRPr>
          </a:p>
          <a:p>
            <a:pPr>
              <a:lnSpc>
                <a:spcPct val="90000"/>
              </a:lnSpc>
            </a:pPr>
            <a:endParaRPr lang="en-US" altLang="en-US" sz="1800">
              <a:latin typeface="Arial  " charset="0"/>
              <a:cs typeface="Arial  " charset="0"/>
            </a:endParaRPr>
          </a:p>
          <a:p>
            <a:pPr>
              <a:lnSpc>
                <a:spcPct val="60000"/>
              </a:lnSpc>
              <a:buFontTx/>
              <a:buNone/>
            </a:pPr>
            <a:r>
              <a:rPr lang="en-US" altLang="en-US" sz="1800">
                <a:latin typeface="Courier New" panose="02070309020205020404" pitchFamily="49" charset="0"/>
                <a:cs typeface="Arial  " charset="0"/>
              </a:rPr>
              <a:t>Push A</a:t>
            </a:r>
          </a:p>
          <a:p>
            <a:pPr>
              <a:lnSpc>
                <a:spcPct val="60000"/>
              </a:lnSpc>
              <a:buFontTx/>
              <a:buNone/>
            </a:pPr>
            <a:r>
              <a:rPr lang="en-US" altLang="en-US" sz="1800">
                <a:latin typeface="Courier New" panose="02070309020205020404" pitchFamily="49" charset="0"/>
                <a:cs typeface="Arial  " charset="0"/>
              </a:rPr>
              <a:t>Push B</a:t>
            </a:r>
          </a:p>
          <a:p>
            <a:pPr>
              <a:lnSpc>
                <a:spcPct val="60000"/>
              </a:lnSpc>
              <a:buFontTx/>
              <a:buNone/>
            </a:pPr>
            <a:r>
              <a:rPr lang="en-US" altLang="en-US" sz="1800">
                <a:latin typeface="Courier New" panose="02070309020205020404" pitchFamily="49" charset="0"/>
                <a:cs typeface="Arial  " charset="0"/>
              </a:rPr>
              <a:t>Add</a:t>
            </a:r>
          </a:p>
          <a:p>
            <a:pPr>
              <a:lnSpc>
                <a:spcPct val="60000"/>
              </a:lnSpc>
              <a:buFontTx/>
              <a:buNone/>
            </a:pPr>
            <a:r>
              <a:rPr lang="en-US" altLang="en-US" sz="1800">
                <a:latin typeface="Courier New" panose="02070309020205020404" pitchFamily="49" charset="0"/>
                <a:cs typeface="Arial  " charset="0"/>
              </a:rPr>
              <a:t>Pop  C</a:t>
            </a:r>
            <a:endParaRPr lang="en-US" altLang="en-US" sz="1800">
              <a:latin typeface="Arial  " charset="0"/>
              <a:cs typeface="Arial  " charset="0"/>
            </a:endParaRPr>
          </a:p>
        </p:txBody>
      </p:sp>
      <p:sp>
        <p:nvSpPr>
          <p:cNvPr id="27651" name="Rectangle 4">
            <a:extLst>
              <a:ext uri="{FF2B5EF4-FFF2-40B4-BE49-F238E27FC236}">
                <a16:creationId xmlns:a16="http://schemas.microsoft.com/office/drawing/2014/main" id="{A1828EE5-89F6-E33E-5B75-A8FD9E094B31}"/>
              </a:ext>
            </a:extLst>
          </p:cNvPr>
          <p:cNvSpPr>
            <a:spLocks noChangeArrowheads="1"/>
          </p:cNvSpPr>
          <p:nvPr/>
        </p:nvSpPr>
        <p:spPr bwMode="auto">
          <a:xfrm>
            <a:off x="1930400" y="3136900"/>
            <a:ext cx="1828800" cy="1828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buFontTx/>
              <a:buNone/>
            </a:pPr>
            <a:r>
              <a:rPr lang="en-US" altLang="en-US" sz="1800" u="sng">
                <a:latin typeface="Comic Sans MS" panose="030F0902030302020204" pitchFamily="66" charset="0"/>
              </a:rPr>
              <a:t>Accumulator</a:t>
            </a:r>
            <a:endParaRPr lang="en-US" altLang="en-US" sz="1800">
              <a:latin typeface="Comic Sans MS" panose="030F0902030302020204" pitchFamily="66" charset="0"/>
            </a:endParaRPr>
          </a:p>
          <a:p>
            <a:pPr eaLnBrk="1" hangingPunct="1"/>
            <a:endParaRPr lang="en-US" altLang="en-US" sz="1800">
              <a:latin typeface="Comic Sans MS" panose="030F0902030302020204" pitchFamily="66" charset="0"/>
            </a:endParaRPr>
          </a:p>
          <a:p>
            <a:pPr eaLnBrk="1" hangingPunct="1">
              <a:lnSpc>
                <a:spcPct val="60000"/>
              </a:lnSpc>
              <a:buFontTx/>
              <a:buNone/>
            </a:pPr>
            <a:r>
              <a:rPr lang="en-US" altLang="en-US" sz="1800">
                <a:latin typeface="Courier New" panose="02070309020205020404" pitchFamily="49" charset="0"/>
              </a:rPr>
              <a:t>Load  A</a:t>
            </a:r>
          </a:p>
          <a:p>
            <a:pPr eaLnBrk="1" hangingPunct="1">
              <a:lnSpc>
                <a:spcPct val="60000"/>
              </a:lnSpc>
              <a:buFontTx/>
              <a:buNone/>
            </a:pPr>
            <a:r>
              <a:rPr lang="en-US" altLang="en-US" sz="1800">
                <a:latin typeface="Courier New" panose="02070309020205020404" pitchFamily="49" charset="0"/>
              </a:rPr>
              <a:t>Add   B</a:t>
            </a:r>
          </a:p>
          <a:p>
            <a:pPr eaLnBrk="1" hangingPunct="1">
              <a:lnSpc>
                <a:spcPct val="60000"/>
              </a:lnSpc>
              <a:buFontTx/>
              <a:buNone/>
            </a:pPr>
            <a:r>
              <a:rPr lang="en-US" altLang="en-US" sz="1800">
                <a:latin typeface="Courier New" panose="02070309020205020404" pitchFamily="49" charset="0"/>
              </a:rPr>
              <a:t>Store C</a:t>
            </a:r>
            <a:endParaRPr lang="en-US" altLang="en-US" sz="2000">
              <a:latin typeface="Comic Sans MS" panose="030F0902030302020204" pitchFamily="66" charset="0"/>
            </a:endParaRPr>
          </a:p>
        </p:txBody>
      </p:sp>
      <p:sp>
        <p:nvSpPr>
          <p:cNvPr id="27652" name="Rectangle 5">
            <a:extLst>
              <a:ext uri="{FF2B5EF4-FFF2-40B4-BE49-F238E27FC236}">
                <a16:creationId xmlns:a16="http://schemas.microsoft.com/office/drawing/2014/main" id="{4C3FF96E-C986-78E0-43CD-E3AC88580370}"/>
              </a:ext>
            </a:extLst>
          </p:cNvPr>
          <p:cNvSpPr>
            <a:spLocks noChangeArrowheads="1"/>
          </p:cNvSpPr>
          <p:nvPr/>
        </p:nvSpPr>
        <p:spPr bwMode="auto">
          <a:xfrm>
            <a:off x="4051300" y="3136900"/>
            <a:ext cx="2209800" cy="1828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buFontTx/>
              <a:buNone/>
            </a:pPr>
            <a:r>
              <a:rPr lang="en-US" altLang="en-US" sz="1800" u="sng">
                <a:latin typeface="Comic Sans MS" panose="030F0902030302020204" pitchFamily="66" charset="0"/>
              </a:rPr>
              <a:t>Reg/Mem</a:t>
            </a:r>
            <a:endParaRPr lang="en-US" altLang="en-US" sz="1800">
              <a:latin typeface="Comic Sans MS" panose="030F0902030302020204" pitchFamily="66" charset="0"/>
            </a:endParaRPr>
          </a:p>
          <a:p>
            <a:pPr eaLnBrk="1" hangingPunct="1"/>
            <a:endParaRPr lang="en-US" altLang="en-US" sz="1800">
              <a:latin typeface="Comic Sans MS" panose="030F0902030302020204" pitchFamily="66" charset="0"/>
            </a:endParaRPr>
          </a:p>
          <a:p>
            <a:pPr eaLnBrk="1" hangingPunct="1">
              <a:lnSpc>
                <a:spcPct val="60000"/>
              </a:lnSpc>
              <a:buFontTx/>
              <a:buNone/>
            </a:pPr>
            <a:r>
              <a:rPr lang="en-US" altLang="en-US" sz="1800">
                <a:latin typeface="Courier New" panose="02070309020205020404" pitchFamily="49" charset="0"/>
              </a:rPr>
              <a:t>Load  R1,A</a:t>
            </a:r>
          </a:p>
          <a:p>
            <a:pPr eaLnBrk="1" hangingPunct="1">
              <a:lnSpc>
                <a:spcPct val="60000"/>
              </a:lnSpc>
              <a:buFontTx/>
              <a:buNone/>
            </a:pPr>
            <a:r>
              <a:rPr lang="en-US" altLang="en-US" sz="1800">
                <a:latin typeface="Courier New" panose="02070309020205020404" pitchFamily="49" charset="0"/>
              </a:rPr>
              <a:t>Add   R3,R1,B</a:t>
            </a:r>
          </a:p>
          <a:p>
            <a:pPr eaLnBrk="1" hangingPunct="1">
              <a:lnSpc>
                <a:spcPct val="60000"/>
              </a:lnSpc>
              <a:buFontTx/>
              <a:buNone/>
            </a:pPr>
            <a:r>
              <a:rPr lang="en-US" altLang="en-US" sz="1800">
                <a:latin typeface="Courier New" panose="02070309020205020404" pitchFamily="49" charset="0"/>
              </a:rPr>
              <a:t>Store R3,C</a:t>
            </a:r>
            <a:endParaRPr lang="en-US" altLang="en-US" sz="2000">
              <a:latin typeface="Comic Sans MS" panose="030F0902030302020204" pitchFamily="66" charset="0"/>
            </a:endParaRPr>
          </a:p>
        </p:txBody>
      </p:sp>
      <p:sp>
        <p:nvSpPr>
          <p:cNvPr id="27653" name="Rectangle 6">
            <a:extLst>
              <a:ext uri="{FF2B5EF4-FFF2-40B4-BE49-F238E27FC236}">
                <a16:creationId xmlns:a16="http://schemas.microsoft.com/office/drawing/2014/main" id="{1BBB02A2-EB84-A99B-D2DB-AB1A1E8DC1E9}"/>
              </a:ext>
            </a:extLst>
          </p:cNvPr>
          <p:cNvSpPr>
            <a:spLocks noChangeArrowheads="1"/>
          </p:cNvSpPr>
          <p:nvPr/>
        </p:nvSpPr>
        <p:spPr bwMode="auto">
          <a:xfrm>
            <a:off x="6477000" y="3124200"/>
            <a:ext cx="2400300" cy="1828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buFontTx/>
              <a:buNone/>
            </a:pPr>
            <a:r>
              <a:rPr lang="en-US" altLang="en-US" sz="1800" u="sng">
                <a:latin typeface="Comic Sans MS" panose="030F0902030302020204" pitchFamily="66" charset="0"/>
              </a:rPr>
              <a:t>Reg/Reg</a:t>
            </a:r>
            <a:endParaRPr lang="en-US" altLang="en-US" sz="1800">
              <a:latin typeface="Comic Sans MS" panose="030F0902030302020204" pitchFamily="66" charset="0"/>
            </a:endParaRPr>
          </a:p>
          <a:p>
            <a:pPr eaLnBrk="1" hangingPunct="1"/>
            <a:endParaRPr lang="en-US" altLang="en-US" sz="1800">
              <a:latin typeface="Comic Sans MS" panose="030F0902030302020204" pitchFamily="66" charset="0"/>
            </a:endParaRPr>
          </a:p>
          <a:p>
            <a:pPr eaLnBrk="1" hangingPunct="1">
              <a:lnSpc>
                <a:spcPct val="60000"/>
              </a:lnSpc>
              <a:buFontTx/>
              <a:buNone/>
            </a:pPr>
            <a:r>
              <a:rPr lang="en-US" altLang="en-US" sz="1800">
                <a:latin typeface="Courier New" panose="02070309020205020404" pitchFamily="49" charset="0"/>
              </a:rPr>
              <a:t>Load  R1,A</a:t>
            </a:r>
          </a:p>
          <a:p>
            <a:pPr eaLnBrk="1" hangingPunct="1">
              <a:lnSpc>
                <a:spcPct val="60000"/>
              </a:lnSpc>
              <a:buFontTx/>
              <a:buNone/>
            </a:pPr>
            <a:r>
              <a:rPr lang="en-US" altLang="en-US" sz="1800">
                <a:latin typeface="Courier New" panose="02070309020205020404" pitchFamily="49" charset="0"/>
              </a:rPr>
              <a:t>Load  R2,B</a:t>
            </a:r>
          </a:p>
          <a:p>
            <a:pPr eaLnBrk="1" hangingPunct="1">
              <a:lnSpc>
                <a:spcPct val="60000"/>
              </a:lnSpc>
              <a:buFontTx/>
              <a:buNone/>
            </a:pPr>
            <a:r>
              <a:rPr lang="en-US" altLang="en-US" sz="1800">
                <a:latin typeface="Courier New" panose="02070309020205020404" pitchFamily="49" charset="0"/>
              </a:rPr>
              <a:t>Add   R3,R1,R2</a:t>
            </a:r>
          </a:p>
          <a:p>
            <a:pPr eaLnBrk="1" hangingPunct="1">
              <a:lnSpc>
                <a:spcPct val="60000"/>
              </a:lnSpc>
              <a:buFontTx/>
              <a:buNone/>
            </a:pPr>
            <a:r>
              <a:rPr lang="en-US" altLang="en-US" sz="1800">
                <a:latin typeface="Courier New" panose="02070309020205020404" pitchFamily="49" charset="0"/>
              </a:rPr>
              <a:t>Store R3,C</a:t>
            </a:r>
            <a:endParaRPr lang="en-US" altLang="en-US" sz="2000">
              <a:latin typeface="Comic Sans MS" panose="030F0902030302020204" pitchFamily="66" charset="0"/>
            </a:endParaRPr>
          </a:p>
        </p:txBody>
      </p:sp>
      <p:sp>
        <p:nvSpPr>
          <p:cNvPr id="27654" name="Text Box 7">
            <a:extLst>
              <a:ext uri="{FF2B5EF4-FFF2-40B4-BE49-F238E27FC236}">
                <a16:creationId xmlns:a16="http://schemas.microsoft.com/office/drawing/2014/main" id="{B9FA8B33-4D52-8BE1-B090-5A56AFFD0228}"/>
              </a:ext>
            </a:extLst>
          </p:cNvPr>
          <p:cNvSpPr txBox="1">
            <a:spLocks noChangeArrowheads="1"/>
          </p:cNvSpPr>
          <p:nvPr/>
        </p:nvSpPr>
        <p:spPr bwMode="auto">
          <a:xfrm>
            <a:off x="334963" y="2357438"/>
            <a:ext cx="5708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50000"/>
              </a:spcBef>
              <a:buFontTx/>
              <a:buNone/>
            </a:pPr>
            <a:r>
              <a:rPr lang="en-US" altLang="en-US" sz="2400">
                <a:latin typeface="Comic Sans MS" panose="030F0902030302020204" pitchFamily="66" charset="0"/>
              </a:rPr>
              <a:t>How to compute “C = A + B”:</a:t>
            </a:r>
          </a:p>
        </p:txBody>
      </p:sp>
      <p:sp>
        <p:nvSpPr>
          <p:cNvPr id="27655" name="Slide Number Placeholder 10">
            <a:extLst>
              <a:ext uri="{FF2B5EF4-FFF2-40B4-BE49-F238E27FC236}">
                <a16:creationId xmlns:a16="http://schemas.microsoft.com/office/drawing/2014/main" id="{48B5D8FE-EC86-E986-DF56-9A82125A0D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74F0B8BF-0A50-D545-A6B9-3D6E53A57286}" type="slidenum">
              <a:rPr lang="en-US" altLang="en-US" sz="1400"/>
              <a:pPr>
                <a:spcBef>
                  <a:spcPct val="0"/>
                </a:spcBef>
                <a:buFontTx/>
                <a:buNone/>
              </a:pPr>
              <a:t>7</a:t>
            </a:fld>
            <a:r>
              <a:rPr lang="en-US" altLang="en-US" sz="140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026">
            <a:extLst>
              <a:ext uri="{FF2B5EF4-FFF2-40B4-BE49-F238E27FC236}">
                <a16:creationId xmlns:a16="http://schemas.microsoft.com/office/drawing/2014/main" id="{50A626A2-8C6E-8285-32C2-A568576800B9}"/>
              </a:ext>
            </a:extLst>
          </p:cNvPr>
          <p:cNvSpPr>
            <a:spLocks noGrp="1" noChangeArrowheads="1"/>
          </p:cNvSpPr>
          <p:nvPr>
            <p:ph type="title"/>
          </p:nvPr>
        </p:nvSpPr>
        <p:spPr>
          <a:xfrm>
            <a:off x="698500" y="0"/>
            <a:ext cx="7772400" cy="1143000"/>
          </a:xfrm>
        </p:spPr>
        <p:txBody>
          <a:bodyPr/>
          <a:lstStyle/>
          <a:p>
            <a:r>
              <a:rPr lang="en-US" altLang="en-US">
                <a:latin typeface="Arial  " charset="0"/>
                <a:cs typeface="Arial  " charset="0"/>
              </a:rPr>
              <a:t>Question</a:t>
            </a:r>
          </a:p>
        </p:txBody>
      </p:sp>
      <p:sp>
        <p:nvSpPr>
          <p:cNvPr id="29698" name="Rectangle 1027">
            <a:extLst>
              <a:ext uri="{FF2B5EF4-FFF2-40B4-BE49-F238E27FC236}">
                <a16:creationId xmlns:a16="http://schemas.microsoft.com/office/drawing/2014/main" id="{9D4B427E-40AC-7A41-CF9A-DD279C3DEC7E}"/>
              </a:ext>
            </a:extLst>
          </p:cNvPr>
          <p:cNvSpPr>
            <a:spLocks noGrp="1" noChangeArrowheads="1"/>
          </p:cNvSpPr>
          <p:nvPr>
            <p:ph type="body" idx="1"/>
          </p:nvPr>
        </p:nvSpPr>
        <p:spPr>
          <a:xfrm>
            <a:off x="685800" y="1295400"/>
            <a:ext cx="7772400" cy="4800600"/>
          </a:xfrm>
        </p:spPr>
        <p:txBody>
          <a:bodyPr/>
          <a:lstStyle/>
          <a:p>
            <a:r>
              <a:rPr lang="en-US" altLang="en-US" sz="2000">
                <a:latin typeface="Arial  " charset="0"/>
                <a:cs typeface="Arial  " charset="0"/>
              </a:rPr>
              <a:t>Assume A, B, and C reside in memory. Assume opcodes are 8-bits.  Memory addresses are 64-bits, and register addresses are 6-bits (64 registers)</a:t>
            </a:r>
          </a:p>
          <a:p>
            <a:endParaRPr lang="en-US" altLang="en-US" sz="2000">
              <a:latin typeface="Arial  " charset="0"/>
              <a:cs typeface="Arial  " charset="0"/>
            </a:endParaRPr>
          </a:p>
          <a:p>
            <a:r>
              <a:rPr lang="en-US" altLang="en-US" sz="2000">
                <a:latin typeface="Arial  " charset="0"/>
                <a:cs typeface="Arial  " charset="0"/>
              </a:rPr>
              <a:t>For each class of ISA, how many addresses or names appear in each instruction for the code to compute C = A + B, and what is the total code size?</a:t>
            </a:r>
          </a:p>
        </p:txBody>
      </p:sp>
      <p:sp>
        <p:nvSpPr>
          <p:cNvPr id="29699" name="Slide Number Placeholder 6">
            <a:extLst>
              <a:ext uri="{FF2B5EF4-FFF2-40B4-BE49-F238E27FC236}">
                <a16:creationId xmlns:a16="http://schemas.microsoft.com/office/drawing/2014/main" id="{6A059BF6-5242-7CA7-9670-CCD88ED16D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F95F12D6-FD5A-B54E-A329-6222ACE87DC4}" type="slidenum">
              <a:rPr lang="en-US" altLang="en-US" sz="1400"/>
              <a:pPr>
                <a:spcBef>
                  <a:spcPct val="0"/>
                </a:spcBef>
                <a:buFontTx/>
                <a:buNone/>
              </a:pPr>
              <a:t>8</a:t>
            </a:fld>
            <a:r>
              <a:rPr lang="en-US" altLang="en-US" sz="140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18FFD871-5A9F-5FBC-933C-C3B1AA8226C4}"/>
              </a:ext>
            </a:extLst>
          </p:cNvPr>
          <p:cNvSpPr>
            <a:spLocks noGrp="1" noChangeArrowheads="1"/>
          </p:cNvSpPr>
          <p:nvPr>
            <p:ph type="title"/>
          </p:nvPr>
        </p:nvSpPr>
        <p:spPr>
          <a:xfrm>
            <a:off x="749300" y="165100"/>
            <a:ext cx="7772400" cy="1143000"/>
          </a:xfrm>
        </p:spPr>
        <p:txBody>
          <a:bodyPr/>
          <a:lstStyle/>
          <a:p>
            <a:r>
              <a:rPr lang="en-US" altLang="en-US">
                <a:latin typeface="Arial  " charset="0"/>
                <a:cs typeface="Arial  " charset="0"/>
              </a:rPr>
              <a:t>Four ISA Classes</a:t>
            </a:r>
          </a:p>
        </p:txBody>
      </p:sp>
      <p:sp>
        <p:nvSpPr>
          <p:cNvPr id="31746" name="Rectangle 3">
            <a:extLst>
              <a:ext uri="{FF2B5EF4-FFF2-40B4-BE49-F238E27FC236}">
                <a16:creationId xmlns:a16="http://schemas.microsoft.com/office/drawing/2014/main" id="{FFC93375-0E18-2327-53E4-E6D0B6D8E5B2}"/>
              </a:ext>
            </a:extLst>
          </p:cNvPr>
          <p:cNvSpPr>
            <a:spLocks noGrp="1" noChangeArrowheads="1"/>
          </p:cNvSpPr>
          <p:nvPr>
            <p:ph type="body" idx="1"/>
          </p:nvPr>
        </p:nvSpPr>
        <p:spPr>
          <a:xfrm>
            <a:off x="431800" y="1752600"/>
            <a:ext cx="1206500" cy="1841500"/>
          </a:xfrm>
          <a:solidFill>
            <a:schemeClr val="accent1"/>
          </a:solidFill>
        </p:spPr>
        <p:txBody>
          <a:bodyPr/>
          <a:lstStyle/>
          <a:p>
            <a:pPr>
              <a:buFontTx/>
              <a:buNone/>
            </a:pPr>
            <a:r>
              <a:rPr lang="en-US" altLang="en-US" sz="1800" u="sng">
                <a:latin typeface="Arial  " charset="0"/>
                <a:cs typeface="Arial  " charset="0"/>
              </a:rPr>
              <a:t>Stack</a:t>
            </a:r>
            <a:endParaRPr lang="en-US" altLang="en-US" sz="1800">
              <a:latin typeface="Arial  " charset="0"/>
              <a:cs typeface="Arial  " charset="0"/>
            </a:endParaRPr>
          </a:p>
          <a:p>
            <a:endParaRPr lang="en-US" altLang="en-US" sz="1800">
              <a:latin typeface="Arial  " charset="0"/>
              <a:cs typeface="Arial  " charset="0"/>
            </a:endParaRPr>
          </a:p>
          <a:p>
            <a:pPr>
              <a:lnSpc>
                <a:spcPct val="60000"/>
              </a:lnSpc>
              <a:buFontTx/>
              <a:buNone/>
            </a:pPr>
            <a:r>
              <a:rPr lang="en-US" altLang="en-US" sz="1800">
                <a:latin typeface="Courier New" panose="02070309020205020404" pitchFamily="49" charset="0"/>
                <a:cs typeface="Arial  " charset="0"/>
              </a:rPr>
              <a:t>Push A</a:t>
            </a:r>
          </a:p>
          <a:p>
            <a:pPr>
              <a:lnSpc>
                <a:spcPct val="60000"/>
              </a:lnSpc>
              <a:buFontTx/>
              <a:buNone/>
            </a:pPr>
            <a:r>
              <a:rPr lang="en-US" altLang="en-US" sz="1800">
                <a:latin typeface="Courier New" panose="02070309020205020404" pitchFamily="49" charset="0"/>
                <a:cs typeface="Arial  " charset="0"/>
              </a:rPr>
              <a:t>Push B</a:t>
            </a:r>
          </a:p>
          <a:p>
            <a:pPr>
              <a:lnSpc>
                <a:spcPct val="60000"/>
              </a:lnSpc>
              <a:buFontTx/>
              <a:buNone/>
            </a:pPr>
            <a:r>
              <a:rPr lang="en-US" altLang="en-US" sz="1800">
                <a:latin typeface="Courier New" panose="02070309020205020404" pitchFamily="49" charset="0"/>
                <a:cs typeface="Arial  " charset="0"/>
              </a:rPr>
              <a:t>Add</a:t>
            </a:r>
          </a:p>
          <a:p>
            <a:pPr>
              <a:lnSpc>
                <a:spcPct val="60000"/>
              </a:lnSpc>
              <a:buFontTx/>
              <a:buNone/>
            </a:pPr>
            <a:r>
              <a:rPr lang="en-US" altLang="en-US" sz="1800">
                <a:latin typeface="Courier New" panose="02070309020205020404" pitchFamily="49" charset="0"/>
                <a:cs typeface="Arial  " charset="0"/>
              </a:rPr>
              <a:t>Pop  C</a:t>
            </a:r>
            <a:endParaRPr lang="en-US" altLang="en-US" sz="1800">
              <a:latin typeface="Arial  " charset="0"/>
              <a:cs typeface="Arial  " charset="0"/>
            </a:endParaRPr>
          </a:p>
        </p:txBody>
      </p:sp>
      <p:sp>
        <p:nvSpPr>
          <p:cNvPr id="31747" name="Rectangle 4">
            <a:extLst>
              <a:ext uri="{FF2B5EF4-FFF2-40B4-BE49-F238E27FC236}">
                <a16:creationId xmlns:a16="http://schemas.microsoft.com/office/drawing/2014/main" id="{5B0C9A35-AC0E-1A1C-C4B0-BADC5B5F1E96}"/>
              </a:ext>
            </a:extLst>
          </p:cNvPr>
          <p:cNvSpPr>
            <a:spLocks noChangeArrowheads="1"/>
          </p:cNvSpPr>
          <p:nvPr/>
        </p:nvSpPr>
        <p:spPr bwMode="auto">
          <a:xfrm>
            <a:off x="1930400" y="1765300"/>
            <a:ext cx="1828800" cy="1828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buFontTx/>
              <a:buNone/>
            </a:pPr>
            <a:r>
              <a:rPr lang="en-US" altLang="en-US" sz="1800" u="sng">
                <a:latin typeface="Comic Sans MS" panose="030F0902030302020204" pitchFamily="66" charset="0"/>
              </a:rPr>
              <a:t>Accumulator</a:t>
            </a:r>
            <a:endParaRPr lang="en-US" altLang="en-US" sz="1800">
              <a:latin typeface="Comic Sans MS" panose="030F0902030302020204" pitchFamily="66" charset="0"/>
            </a:endParaRPr>
          </a:p>
          <a:p>
            <a:pPr eaLnBrk="1" hangingPunct="1"/>
            <a:endParaRPr lang="en-US" altLang="en-US" sz="1800">
              <a:latin typeface="Comic Sans MS" panose="030F0902030302020204" pitchFamily="66" charset="0"/>
            </a:endParaRPr>
          </a:p>
          <a:p>
            <a:pPr eaLnBrk="1" hangingPunct="1">
              <a:lnSpc>
                <a:spcPct val="60000"/>
              </a:lnSpc>
              <a:buFontTx/>
              <a:buNone/>
            </a:pPr>
            <a:r>
              <a:rPr lang="en-US" altLang="en-US" sz="1800">
                <a:latin typeface="Courier New" panose="02070309020205020404" pitchFamily="49" charset="0"/>
              </a:rPr>
              <a:t>Load  A</a:t>
            </a:r>
          </a:p>
          <a:p>
            <a:pPr eaLnBrk="1" hangingPunct="1">
              <a:lnSpc>
                <a:spcPct val="60000"/>
              </a:lnSpc>
              <a:buFontTx/>
              <a:buNone/>
            </a:pPr>
            <a:r>
              <a:rPr lang="en-US" altLang="en-US" sz="1800">
                <a:latin typeface="Courier New" panose="02070309020205020404" pitchFamily="49" charset="0"/>
              </a:rPr>
              <a:t>Add   B</a:t>
            </a:r>
          </a:p>
          <a:p>
            <a:pPr eaLnBrk="1" hangingPunct="1">
              <a:lnSpc>
                <a:spcPct val="60000"/>
              </a:lnSpc>
              <a:buFontTx/>
              <a:buNone/>
            </a:pPr>
            <a:r>
              <a:rPr lang="en-US" altLang="en-US" sz="1800">
                <a:latin typeface="Courier New" panose="02070309020205020404" pitchFamily="49" charset="0"/>
              </a:rPr>
              <a:t>Store C</a:t>
            </a:r>
            <a:endParaRPr lang="en-US" altLang="en-US" sz="2000">
              <a:latin typeface="Comic Sans MS" panose="030F0902030302020204" pitchFamily="66" charset="0"/>
            </a:endParaRPr>
          </a:p>
        </p:txBody>
      </p:sp>
      <p:sp>
        <p:nvSpPr>
          <p:cNvPr id="31748" name="Rectangle 5">
            <a:extLst>
              <a:ext uri="{FF2B5EF4-FFF2-40B4-BE49-F238E27FC236}">
                <a16:creationId xmlns:a16="http://schemas.microsoft.com/office/drawing/2014/main" id="{B283F7F3-AF6D-BBE5-60A0-E2E918A4789A}"/>
              </a:ext>
            </a:extLst>
          </p:cNvPr>
          <p:cNvSpPr>
            <a:spLocks noChangeArrowheads="1"/>
          </p:cNvSpPr>
          <p:nvPr/>
        </p:nvSpPr>
        <p:spPr bwMode="auto">
          <a:xfrm>
            <a:off x="4051300" y="1765300"/>
            <a:ext cx="2209800" cy="1828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buFontTx/>
              <a:buNone/>
            </a:pPr>
            <a:r>
              <a:rPr lang="en-US" altLang="en-US" sz="1800" u="sng">
                <a:latin typeface="Comic Sans MS" panose="030F0902030302020204" pitchFamily="66" charset="0"/>
              </a:rPr>
              <a:t>Reg/Mem</a:t>
            </a:r>
            <a:endParaRPr lang="en-US" altLang="en-US" sz="1800">
              <a:latin typeface="Comic Sans MS" panose="030F0902030302020204" pitchFamily="66" charset="0"/>
            </a:endParaRPr>
          </a:p>
          <a:p>
            <a:pPr eaLnBrk="1" hangingPunct="1"/>
            <a:endParaRPr lang="en-US" altLang="en-US" sz="1800">
              <a:latin typeface="Comic Sans MS" panose="030F0902030302020204" pitchFamily="66" charset="0"/>
            </a:endParaRPr>
          </a:p>
          <a:p>
            <a:pPr eaLnBrk="1" hangingPunct="1">
              <a:lnSpc>
                <a:spcPct val="60000"/>
              </a:lnSpc>
              <a:buFontTx/>
              <a:buNone/>
            </a:pPr>
            <a:r>
              <a:rPr lang="en-US" altLang="en-US" sz="1800">
                <a:latin typeface="Courier New" panose="02070309020205020404" pitchFamily="49" charset="0"/>
              </a:rPr>
              <a:t>Load  R1,A</a:t>
            </a:r>
          </a:p>
          <a:p>
            <a:pPr eaLnBrk="1" hangingPunct="1">
              <a:lnSpc>
                <a:spcPct val="60000"/>
              </a:lnSpc>
              <a:buFontTx/>
              <a:buNone/>
            </a:pPr>
            <a:r>
              <a:rPr lang="en-US" altLang="en-US" sz="1800">
                <a:latin typeface="Courier New" panose="02070309020205020404" pitchFamily="49" charset="0"/>
              </a:rPr>
              <a:t>Add   R3,R1,B</a:t>
            </a:r>
          </a:p>
          <a:p>
            <a:pPr eaLnBrk="1" hangingPunct="1">
              <a:lnSpc>
                <a:spcPct val="60000"/>
              </a:lnSpc>
              <a:buFontTx/>
              <a:buNone/>
            </a:pPr>
            <a:r>
              <a:rPr lang="en-US" altLang="en-US" sz="1800">
                <a:latin typeface="Courier New" panose="02070309020205020404" pitchFamily="49" charset="0"/>
              </a:rPr>
              <a:t>Store R3,C</a:t>
            </a:r>
            <a:endParaRPr lang="en-US" altLang="en-US" sz="2000">
              <a:latin typeface="Comic Sans MS" panose="030F0902030302020204" pitchFamily="66" charset="0"/>
            </a:endParaRPr>
          </a:p>
        </p:txBody>
      </p:sp>
      <p:sp>
        <p:nvSpPr>
          <p:cNvPr id="31749" name="Rectangle 6">
            <a:extLst>
              <a:ext uri="{FF2B5EF4-FFF2-40B4-BE49-F238E27FC236}">
                <a16:creationId xmlns:a16="http://schemas.microsoft.com/office/drawing/2014/main" id="{B3C12E8A-AE9A-5044-15C7-7F9D11E44548}"/>
              </a:ext>
            </a:extLst>
          </p:cNvPr>
          <p:cNvSpPr>
            <a:spLocks noChangeArrowheads="1"/>
          </p:cNvSpPr>
          <p:nvPr/>
        </p:nvSpPr>
        <p:spPr bwMode="auto">
          <a:xfrm>
            <a:off x="6477000" y="1752600"/>
            <a:ext cx="2400300" cy="18288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buFontTx/>
              <a:buNone/>
            </a:pPr>
            <a:r>
              <a:rPr lang="en-US" altLang="en-US" sz="1800" u="sng">
                <a:latin typeface="Comic Sans MS" panose="030F0902030302020204" pitchFamily="66" charset="0"/>
              </a:rPr>
              <a:t>Reg/Reg</a:t>
            </a:r>
            <a:endParaRPr lang="en-US" altLang="en-US" sz="1800">
              <a:latin typeface="Comic Sans MS" panose="030F0902030302020204" pitchFamily="66" charset="0"/>
            </a:endParaRPr>
          </a:p>
          <a:p>
            <a:pPr eaLnBrk="1" hangingPunct="1"/>
            <a:endParaRPr lang="en-US" altLang="en-US" sz="1800">
              <a:latin typeface="Comic Sans MS" panose="030F0902030302020204" pitchFamily="66" charset="0"/>
            </a:endParaRPr>
          </a:p>
          <a:p>
            <a:pPr eaLnBrk="1" hangingPunct="1">
              <a:lnSpc>
                <a:spcPct val="60000"/>
              </a:lnSpc>
              <a:buFontTx/>
              <a:buNone/>
            </a:pPr>
            <a:r>
              <a:rPr lang="en-US" altLang="en-US" sz="1800">
                <a:latin typeface="Courier New" panose="02070309020205020404" pitchFamily="49" charset="0"/>
              </a:rPr>
              <a:t>Load  R1,A</a:t>
            </a:r>
          </a:p>
          <a:p>
            <a:pPr eaLnBrk="1" hangingPunct="1">
              <a:lnSpc>
                <a:spcPct val="60000"/>
              </a:lnSpc>
              <a:buFontTx/>
              <a:buNone/>
            </a:pPr>
            <a:r>
              <a:rPr lang="en-US" altLang="en-US" sz="1800">
                <a:latin typeface="Courier New" panose="02070309020205020404" pitchFamily="49" charset="0"/>
              </a:rPr>
              <a:t>Load  R2,B</a:t>
            </a:r>
          </a:p>
          <a:p>
            <a:pPr eaLnBrk="1" hangingPunct="1">
              <a:lnSpc>
                <a:spcPct val="60000"/>
              </a:lnSpc>
              <a:buFontTx/>
              <a:buNone/>
            </a:pPr>
            <a:r>
              <a:rPr lang="en-US" altLang="en-US" sz="1800">
                <a:latin typeface="Courier New" panose="02070309020205020404" pitchFamily="49" charset="0"/>
              </a:rPr>
              <a:t>Add   R3,R1,R2</a:t>
            </a:r>
          </a:p>
          <a:p>
            <a:pPr eaLnBrk="1" hangingPunct="1">
              <a:lnSpc>
                <a:spcPct val="60000"/>
              </a:lnSpc>
              <a:buFontTx/>
              <a:buNone/>
            </a:pPr>
            <a:r>
              <a:rPr lang="en-US" altLang="en-US" sz="1800">
                <a:latin typeface="Courier New" panose="02070309020205020404" pitchFamily="49" charset="0"/>
              </a:rPr>
              <a:t>Store R3,C</a:t>
            </a:r>
            <a:endParaRPr lang="en-US" altLang="en-US" sz="2000">
              <a:latin typeface="Comic Sans MS" panose="030F0902030302020204" pitchFamily="66" charset="0"/>
            </a:endParaRPr>
          </a:p>
        </p:txBody>
      </p:sp>
      <p:sp>
        <p:nvSpPr>
          <p:cNvPr id="31750" name="Text Box 9">
            <a:extLst>
              <a:ext uri="{FF2B5EF4-FFF2-40B4-BE49-F238E27FC236}">
                <a16:creationId xmlns:a16="http://schemas.microsoft.com/office/drawing/2014/main" id="{A0EE6959-36F9-6676-EBEB-6DD8855E7A7D}"/>
              </a:ext>
            </a:extLst>
          </p:cNvPr>
          <p:cNvSpPr txBox="1">
            <a:spLocks noChangeArrowheads="1"/>
          </p:cNvSpPr>
          <p:nvPr/>
        </p:nvSpPr>
        <p:spPr bwMode="auto">
          <a:xfrm>
            <a:off x="327025" y="4195763"/>
            <a:ext cx="86518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95300" indent="-495300">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pPr>
            <a:r>
              <a:rPr lang="en-US" altLang="en-US" sz="1800">
                <a:latin typeface="Comic Sans MS" panose="030F0902030302020204" pitchFamily="66" charset="0"/>
              </a:rPr>
              <a:t>Stack 	   3 addresses, total bits = 4*8+3*64                     = 224 bits</a:t>
            </a:r>
          </a:p>
          <a:p>
            <a:pPr>
              <a:spcBef>
                <a:spcPct val="0"/>
              </a:spcBef>
            </a:pPr>
            <a:r>
              <a:rPr lang="en-US" altLang="en-US" sz="1800">
                <a:latin typeface="Comic Sans MS" panose="030F0902030302020204" pitchFamily="66" charset="0"/>
              </a:rPr>
              <a:t>Accumulator   3 addresses, total bits = 3*(8+64)                      = 216 bits</a:t>
            </a:r>
          </a:p>
          <a:p>
            <a:pPr>
              <a:spcBef>
                <a:spcPct val="0"/>
              </a:spcBef>
            </a:pPr>
            <a:r>
              <a:rPr lang="en-US" altLang="en-US" sz="1800">
                <a:latin typeface="Comic Sans MS" panose="030F0902030302020204" pitchFamily="66" charset="0"/>
              </a:rPr>
              <a:t>Reg/Mem        3 addresses+4 regs, total bits = 3*64+4*6+3*8 = 240 bits</a:t>
            </a:r>
          </a:p>
          <a:p>
            <a:pPr>
              <a:spcBef>
                <a:spcPct val="0"/>
              </a:spcBef>
            </a:pPr>
            <a:r>
              <a:rPr lang="en-US" altLang="en-US" sz="1800">
                <a:latin typeface="Comic Sans MS" panose="030F0902030302020204" pitchFamily="66" charset="0"/>
              </a:rPr>
              <a:t>Reg/Reg          3 addresses+6 regs, total bits = 3*64+6*6+4*8 = 260 bits</a:t>
            </a:r>
            <a:endParaRPr lang="en-US" altLang="en-US" sz="2400">
              <a:latin typeface="Arial" panose="020B0604020202020204" pitchFamily="34" charset="0"/>
            </a:endParaRPr>
          </a:p>
        </p:txBody>
      </p:sp>
      <p:sp>
        <p:nvSpPr>
          <p:cNvPr id="31751" name="Slide Number Placeholder 10">
            <a:extLst>
              <a:ext uri="{FF2B5EF4-FFF2-40B4-BE49-F238E27FC236}">
                <a16:creationId xmlns:a16="http://schemas.microsoft.com/office/drawing/2014/main" id="{436D2B22-7255-0E88-E03E-B2EE110B35B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4070EB44-B288-594E-BF7B-19F4EBCF221D}" type="slidenum">
              <a:rPr lang="en-US" altLang="en-US" sz="1400"/>
              <a:pPr>
                <a:spcBef>
                  <a:spcPct val="0"/>
                </a:spcBef>
                <a:buFontTx/>
                <a:buNone/>
              </a:pPr>
              <a:t>9</a:t>
            </a:fld>
            <a:r>
              <a:rPr lang="en-US" altLang="en-US" sz="140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C5C5FFFD-925A-C03E-FA7E-8000E5410951}"/>
              </a:ext>
            </a:extLst>
          </p:cNvPr>
          <p:cNvSpPr>
            <a:spLocks noGrp="1" noChangeArrowheads="1"/>
          </p:cNvSpPr>
          <p:nvPr>
            <p:ph type="title"/>
          </p:nvPr>
        </p:nvSpPr>
        <p:spPr>
          <a:xfrm>
            <a:off x="698500" y="0"/>
            <a:ext cx="8445500" cy="1143000"/>
          </a:xfrm>
        </p:spPr>
        <p:txBody>
          <a:bodyPr/>
          <a:lstStyle/>
          <a:p>
            <a:r>
              <a:rPr lang="en-US" altLang="en-US">
                <a:latin typeface="Arial  " charset="0"/>
                <a:cs typeface="Arial  " charset="0"/>
              </a:rPr>
              <a:t>Trade-Offs</a:t>
            </a:r>
          </a:p>
        </p:txBody>
      </p:sp>
      <p:sp>
        <p:nvSpPr>
          <p:cNvPr id="33794" name="Rectangle 3">
            <a:extLst>
              <a:ext uri="{FF2B5EF4-FFF2-40B4-BE49-F238E27FC236}">
                <a16:creationId xmlns:a16="http://schemas.microsoft.com/office/drawing/2014/main" id="{35BCDB57-B2C4-92EC-61E7-4591314AFA27}"/>
              </a:ext>
            </a:extLst>
          </p:cNvPr>
          <p:cNvSpPr>
            <a:spLocks noGrp="1" noChangeArrowheads="1"/>
          </p:cNvSpPr>
          <p:nvPr>
            <p:ph type="body" idx="1"/>
          </p:nvPr>
        </p:nvSpPr>
        <p:spPr>
          <a:xfrm>
            <a:off x="354013" y="1073150"/>
            <a:ext cx="5530850" cy="5353050"/>
          </a:xfrm>
        </p:spPr>
        <p:txBody>
          <a:bodyPr/>
          <a:lstStyle/>
          <a:p>
            <a:pPr>
              <a:lnSpc>
                <a:spcPct val="90000"/>
              </a:lnSpc>
            </a:pPr>
            <a:r>
              <a:rPr lang="en-US" altLang="en-US" sz="2000" dirty="0">
                <a:latin typeface="Arial  " charset="0"/>
                <a:cs typeface="Arial  " charset="0"/>
              </a:rPr>
              <a:t>Stack</a:t>
            </a:r>
          </a:p>
          <a:p>
            <a:pPr lvl="1">
              <a:lnSpc>
                <a:spcPct val="90000"/>
              </a:lnSpc>
            </a:pPr>
            <a:r>
              <a:rPr lang="en-US" altLang="en-US" sz="1800" dirty="0">
                <a:latin typeface="Arial  " charset="0"/>
                <a:cs typeface="Arial  " charset="0"/>
              </a:rPr>
              <a:t>extra code / memory bandwidth</a:t>
            </a:r>
          </a:p>
          <a:p>
            <a:pPr lvl="1">
              <a:lnSpc>
                <a:spcPct val="90000"/>
              </a:lnSpc>
            </a:pPr>
            <a:r>
              <a:rPr lang="en-US" altLang="en-US" sz="1800" dirty="0">
                <a:latin typeface="Arial  " charset="0"/>
                <a:cs typeface="Arial  " charset="0"/>
              </a:rPr>
              <a:t>hard to “reorder” instructions</a:t>
            </a:r>
          </a:p>
          <a:p>
            <a:pPr lvl="1">
              <a:lnSpc>
                <a:spcPct val="90000"/>
              </a:lnSpc>
              <a:buFontTx/>
              <a:buNone/>
            </a:pPr>
            <a:r>
              <a:rPr lang="en-US" altLang="en-US" sz="1800" dirty="0">
                <a:latin typeface="Arial  " charset="0"/>
                <a:cs typeface="Arial  " charset="0"/>
              </a:rPr>
              <a:t>+   good code density</a:t>
            </a:r>
          </a:p>
          <a:p>
            <a:pPr>
              <a:lnSpc>
                <a:spcPct val="90000"/>
              </a:lnSpc>
            </a:pPr>
            <a:r>
              <a:rPr lang="en-US" altLang="en-US" sz="2000" dirty="0">
                <a:latin typeface="Arial  " charset="0"/>
                <a:cs typeface="Arial  " charset="0"/>
              </a:rPr>
              <a:t>Accumulator</a:t>
            </a:r>
          </a:p>
          <a:p>
            <a:pPr lvl="1">
              <a:lnSpc>
                <a:spcPct val="90000"/>
              </a:lnSpc>
            </a:pPr>
            <a:r>
              <a:rPr lang="en-US" altLang="en-US" sz="1800" dirty="0">
                <a:latin typeface="Arial  " charset="0"/>
                <a:cs typeface="Arial  " charset="0"/>
              </a:rPr>
              <a:t>difficult for compiler</a:t>
            </a:r>
          </a:p>
          <a:p>
            <a:pPr lvl="1">
              <a:lnSpc>
                <a:spcPct val="90000"/>
              </a:lnSpc>
            </a:pPr>
            <a:r>
              <a:rPr lang="en-US" altLang="en-US" sz="1800" dirty="0">
                <a:latin typeface="Arial  " charset="0"/>
                <a:cs typeface="Arial  " charset="0"/>
              </a:rPr>
              <a:t>extra code / memory bandwidth</a:t>
            </a:r>
          </a:p>
          <a:p>
            <a:pPr lvl="1">
              <a:lnSpc>
                <a:spcPct val="90000"/>
              </a:lnSpc>
              <a:buFontTx/>
              <a:buNone/>
            </a:pPr>
            <a:r>
              <a:rPr lang="en-US" altLang="en-US" sz="1800" dirty="0">
                <a:latin typeface="Arial  " charset="0"/>
                <a:cs typeface="Arial  " charset="0"/>
              </a:rPr>
              <a:t>+   good code density</a:t>
            </a:r>
          </a:p>
          <a:p>
            <a:pPr>
              <a:lnSpc>
                <a:spcPct val="90000"/>
              </a:lnSpc>
            </a:pPr>
            <a:r>
              <a:rPr lang="en-US" altLang="en-US" sz="2000" dirty="0">
                <a:latin typeface="Arial  " charset="0"/>
                <a:cs typeface="Arial  " charset="0"/>
              </a:rPr>
              <a:t>Register-Memory</a:t>
            </a:r>
            <a:endParaRPr lang="en-US" altLang="en-US" sz="1800" dirty="0">
              <a:latin typeface="Arial  " charset="0"/>
              <a:cs typeface="Arial  " charset="0"/>
            </a:endParaRPr>
          </a:p>
          <a:p>
            <a:pPr lvl="1">
              <a:lnSpc>
                <a:spcPct val="90000"/>
              </a:lnSpc>
            </a:pPr>
            <a:r>
              <a:rPr lang="en-US" altLang="en-US" sz="1800" dirty="0">
                <a:latin typeface="Arial  " charset="0"/>
                <a:cs typeface="Arial  " charset="0"/>
              </a:rPr>
              <a:t># of registers may be limited</a:t>
            </a:r>
          </a:p>
          <a:p>
            <a:pPr lvl="1">
              <a:lnSpc>
                <a:spcPct val="90000"/>
              </a:lnSpc>
            </a:pPr>
            <a:r>
              <a:rPr lang="en-US" altLang="en-US" sz="1800" dirty="0">
                <a:latin typeface="Arial  " charset="0"/>
                <a:cs typeface="Arial  " charset="0"/>
              </a:rPr>
              <a:t>operands not equivalent</a:t>
            </a:r>
          </a:p>
          <a:p>
            <a:pPr lvl="1">
              <a:lnSpc>
                <a:spcPct val="90000"/>
              </a:lnSpc>
              <a:buFontTx/>
              <a:buNone/>
            </a:pPr>
            <a:r>
              <a:rPr lang="en-US" altLang="en-US" sz="1800" dirty="0">
                <a:latin typeface="Arial  " charset="0"/>
                <a:cs typeface="Arial  " charset="0"/>
              </a:rPr>
              <a:t>+   good code density</a:t>
            </a:r>
          </a:p>
          <a:p>
            <a:pPr>
              <a:lnSpc>
                <a:spcPct val="90000"/>
              </a:lnSpc>
            </a:pPr>
            <a:r>
              <a:rPr lang="en-US" altLang="en-US" sz="2000" dirty="0">
                <a:latin typeface="Arial  " charset="0"/>
                <a:cs typeface="Arial  " charset="0"/>
              </a:rPr>
              <a:t>Register-Register</a:t>
            </a:r>
          </a:p>
          <a:p>
            <a:pPr lvl="1">
              <a:lnSpc>
                <a:spcPct val="90000"/>
              </a:lnSpc>
              <a:buFontTx/>
              <a:buNone/>
            </a:pPr>
            <a:r>
              <a:rPr lang="en-US" altLang="en-US" sz="1800" dirty="0">
                <a:latin typeface="Arial  " charset="0"/>
                <a:cs typeface="Arial  " charset="0"/>
              </a:rPr>
              <a:t>-   poor code density (more instructions to do same thing)</a:t>
            </a:r>
          </a:p>
          <a:p>
            <a:pPr lvl="1">
              <a:lnSpc>
                <a:spcPct val="90000"/>
              </a:lnSpc>
              <a:buFontTx/>
              <a:buNone/>
            </a:pPr>
            <a:r>
              <a:rPr lang="en-US" altLang="en-US" sz="1800" dirty="0">
                <a:latin typeface="Arial  " charset="0"/>
                <a:cs typeface="Arial  " charset="0"/>
              </a:rPr>
              <a:t>+   easy to pipeline</a:t>
            </a:r>
          </a:p>
          <a:p>
            <a:pPr lvl="1">
              <a:lnSpc>
                <a:spcPct val="90000"/>
              </a:lnSpc>
              <a:buFontTx/>
              <a:buNone/>
            </a:pPr>
            <a:r>
              <a:rPr lang="en-US" altLang="en-US" sz="1800" dirty="0">
                <a:latin typeface="Arial  " charset="0"/>
                <a:cs typeface="Arial  " charset="0"/>
              </a:rPr>
              <a:t>+   easy for compiler to generate efficient code</a:t>
            </a:r>
          </a:p>
          <a:p>
            <a:pPr lvl="1">
              <a:lnSpc>
                <a:spcPct val="90000"/>
              </a:lnSpc>
              <a:buFontTx/>
              <a:buNone/>
            </a:pPr>
            <a:endParaRPr lang="en-US" altLang="en-US" sz="2000" dirty="0">
              <a:latin typeface="Arial  " charset="0"/>
              <a:cs typeface="Arial  " charset="0"/>
            </a:endParaRPr>
          </a:p>
          <a:p>
            <a:pPr lvl="1">
              <a:lnSpc>
                <a:spcPct val="90000"/>
              </a:lnSpc>
            </a:pPr>
            <a:endParaRPr lang="en-US" altLang="en-US" sz="2000" dirty="0">
              <a:latin typeface="Arial  " charset="0"/>
              <a:cs typeface="Arial  " charset="0"/>
            </a:endParaRPr>
          </a:p>
        </p:txBody>
      </p:sp>
      <p:pic>
        <p:nvPicPr>
          <p:cNvPr id="33795" name="Picture 4" descr="Ch2-fig01">
            <a:extLst>
              <a:ext uri="{FF2B5EF4-FFF2-40B4-BE49-F238E27FC236}">
                <a16:creationId xmlns:a16="http://schemas.microsoft.com/office/drawing/2014/main" id="{CAD3B2EF-C5FF-BC40-2253-083705BB8C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8313" y="1122363"/>
            <a:ext cx="3149600"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Slide Number Placeholder 7">
            <a:extLst>
              <a:ext uri="{FF2B5EF4-FFF2-40B4-BE49-F238E27FC236}">
                <a16:creationId xmlns:a16="http://schemas.microsoft.com/office/drawing/2014/main" id="{3B8CA2DD-408D-7D51-8B91-2157678F4B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7313C48D-A8CD-2E4F-94DB-338BC11D7BC2}" type="slidenum">
              <a:rPr lang="en-US" altLang="en-US" sz="1400"/>
              <a:pPr>
                <a:spcBef>
                  <a:spcPct val="0"/>
                </a:spcBef>
                <a:buFontTx/>
                <a:buNone/>
              </a:pPr>
              <a:t>10</a:t>
            </a:fld>
            <a:r>
              <a:rPr lang="en-US" altLang="en-US" sz="140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8FBB2FBE-9584-D011-A968-1ABBE45376EA}"/>
              </a:ext>
            </a:extLst>
          </p:cNvPr>
          <p:cNvSpPr>
            <a:spLocks noGrp="1" noChangeArrowheads="1"/>
          </p:cNvSpPr>
          <p:nvPr>
            <p:ph type="title"/>
          </p:nvPr>
        </p:nvSpPr>
        <p:spPr>
          <a:xfrm>
            <a:off x="685800" y="0"/>
            <a:ext cx="7772400" cy="1143000"/>
          </a:xfrm>
        </p:spPr>
        <p:txBody>
          <a:bodyPr/>
          <a:lstStyle/>
          <a:p>
            <a:r>
              <a:rPr lang="en-US" altLang="en-US">
                <a:latin typeface="Arial  " charset="0"/>
                <a:cs typeface="Arial  " charset="0"/>
              </a:rPr>
              <a:t>Addressing Modes</a:t>
            </a:r>
          </a:p>
        </p:txBody>
      </p:sp>
      <p:sp>
        <p:nvSpPr>
          <p:cNvPr id="37890" name="Rectangle 3">
            <a:extLst>
              <a:ext uri="{FF2B5EF4-FFF2-40B4-BE49-F238E27FC236}">
                <a16:creationId xmlns:a16="http://schemas.microsoft.com/office/drawing/2014/main" id="{7EA4438F-C040-2892-EB21-89F2A225824F}"/>
              </a:ext>
            </a:extLst>
          </p:cNvPr>
          <p:cNvSpPr>
            <a:spLocks noGrp="1" noChangeArrowheads="1"/>
          </p:cNvSpPr>
          <p:nvPr>
            <p:ph type="body" idx="1"/>
          </p:nvPr>
        </p:nvSpPr>
        <p:spPr>
          <a:xfrm>
            <a:off x="673100" y="1295400"/>
            <a:ext cx="7772400" cy="4495800"/>
          </a:xfrm>
        </p:spPr>
        <p:txBody>
          <a:bodyPr/>
          <a:lstStyle/>
          <a:p>
            <a:pPr>
              <a:lnSpc>
                <a:spcPct val="90000"/>
              </a:lnSpc>
            </a:pPr>
            <a:r>
              <a:rPr lang="en-US" altLang="en-US" sz="2400">
                <a:latin typeface="Arial  " charset="0"/>
                <a:cs typeface="Arial  " charset="0"/>
              </a:rPr>
              <a:t>Recall Notation:</a:t>
            </a:r>
          </a:p>
          <a:p>
            <a:pPr lvl="1">
              <a:lnSpc>
                <a:spcPct val="90000"/>
              </a:lnSpc>
            </a:pPr>
            <a:r>
              <a:rPr lang="en-US" altLang="en-US" sz="2000">
                <a:latin typeface="Arial  " charset="0"/>
                <a:cs typeface="Arial  " charset="0"/>
              </a:rPr>
              <a:t>“Regs” is array of N-bit registers </a:t>
            </a:r>
          </a:p>
          <a:p>
            <a:pPr lvl="2">
              <a:lnSpc>
                <a:spcPct val="90000"/>
              </a:lnSpc>
            </a:pPr>
            <a:r>
              <a:rPr lang="en-US" altLang="en-US" sz="1800">
                <a:latin typeface="Arial  " charset="0"/>
                <a:cs typeface="Arial  " charset="0"/>
              </a:rPr>
              <a:t>(for MIPS64, 32x64-bit registers)</a:t>
            </a:r>
          </a:p>
          <a:p>
            <a:pPr lvl="2">
              <a:lnSpc>
                <a:spcPct val="90000"/>
              </a:lnSpc>
            </a:pPr>
            <a:r>
              <a:rPr lang="en-US" altLang="en-US" sz="1800">
                <a:latin typeface="Arial  " charset="0"/>
                <a:cs typeface="Arial  " charset="0"/>
              </a:rPr>
              <a:t>Regs[x] is the 64-bit quantity in register “x”</a:t>
            </a:r>
          </a:p>
          <a:p>
            <a:pPr lvl="2">
              <a:lnSpc>
                <a:spcPct val="90000"/>
              </a:lnSpc>
            </a:pPr>
            <a:endParaRPr lang="en-US" altLang="en-US" sz="1800">
              <a:latin typeface="Arial  " charset="0"/>
              <a:cs typeface="Arial  " charset="0"/>
            </a:endParaRPr>
          </a:p>
          <a:p>
            <a:pPr lvl="1">
              <a:lnSpc>
                <a:spcPct val="90000"/>
              </a:lnSpc>
            </a:pPr>
            <a:r>
              <a:rPr lang="en-US" altLang="en-US" sz="2000">
                <a:latin typeface="Arial  " charset="0"/>
                <a:cs typeface="Arial  " charset="0"/>
              </a:rPr>
              <a:t>“Mem” is array of bytes </a:t>
            </a:r>
          </a:p>
          <a:p>
            <a:pPr lvl="2">
              <a:lnSpc>
                <a:spcPct val="90000"/>
              </a:lnSpc>
            </a:pPr>
            <a:r>
              <a:rPr lang="en-US" altLang="en-US" sz="1800">
                <a:latin typeface="Arial  " charset="0"/>
                <a:cs typeface="Arial  " charset="0"/>
              </a:rPr>
              <a:t>Mem[x] is “m” bytes starting at address “x”</a:t>
            </a:r>
          </a:p>
          <a:p>
            <a:pPr lvl="2">
              <a:lnSpc>
                <a:spcPct val="90000"/>
              </a:lnSpc>
            </a:pPr>
            <a:r>
              <a:rPr lang="en-US" altLang="en-US" sz="1800">
                <a:latin typeface="Arial  " charset="0"/>
                <a:cs typeface="Arial  " charset="0"/>
              </a:rPr>
              <a:t>“m” will be implied by usage</a:t>
            </a:r>
          </a:p>
          <a:p>
            <a:pPr lvl="2">
              <a:lnSpc>
                <a:spcPct val="90000"/>
              </a:lnSpc>
            </a:pPr>
            <a:endParaRPr lang="en-US" altLang="en-US" sz="1800">
              <a:latin typeface="Arial  " charset="0"/>
              <a:cs typeface="Arial  " charset="0"/>
            </a:endParaRPr>
          </a:p>
          <a:p>
            <a:pPr>
              <a:lnSpc>
                <a:spcPct val="90000"/>
              </a:lnSpc>
            </a:pPr>
            <a:r>
              <a:rPr lang="en-US" altLang="en-US" sz="2400">
                <a:latin typeface="Arial  " charset="0"/>
                <a:cs typeface="Arial  " charset="0"/>
              </a:rPr>
              <a:t>Terminology:</a:t>
            </a:r>
          </a:p>
          <a:p>
            <a:pPr lvl="1">
              <a:lnSpc>
                <a:spcPct val="90000"/>
              </a:lnSpc>
            </a:pPr>
            <a:r>
              <a:rPr lang="en-US" altLang="en-US" sz="2000">
                <a:solidFill>
                  <a:srgbClr val="0000FF"/>
                </a:solidFill>
                <a:latin typeface="Arial  " charset="0"/>
                <a:cs typeface="Arial  " charset="0"/>
              </a:rPr>
              <a:t>“Effective Address” = actual memory address calculated by instruction (just before accessing memory).</a:t>
            </a:r>
          </a:p>
        </p:txBody>
      </p:sp>
      <p:sp>
        <p:nvSpPr>
          <p:cNvPr id="37891" name="Slide Number Placeholder 6">
            <a:extLst>
              <a:ext uri="{FF2B5EF4-FFF2-40B4-BE49-F238E27FC236}">
                <a16:creationId xmlns:a16="http://schemas.microsoft.com/office/drawing/2014/main" id="{0658FEDC-1C30-2443-2000-1AA495E46CB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2C261874-696B-7544-B4B8-2C8E1B422B88}" type="slidenum">
              <a:rPr lang="en-US" altLang="en-US" sz="1400"/>
              <a:pPr>
                <a:spcBef>
                  <a:spcPct val="0"/>
                </a:spcBef>
                <a:buFontTx/>
                <a:buNone/>
              </a:pPr>
              <a:t>11</a:t>
            </a:fld>
            <a:r>
              <a:rPr lang="en-US" altLang="en-US" sz="140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BA817C9-C690-27BD-6AF9-6CEEAE1606D9}"/>
              </a:ext>
            </a:extLst>
          </p:cNvPr>
          <p:cNvSpPr>
            <a:spLocks noGrp="1" noChangeArrowheads="1"/>
          </p:cNvSpPr>
          <p:nvPr>
            <p:ph type="title"/>
          </p:nvPr>
        </p:nvSpPr>
        <p:spPr>
          <a:xfrm>
            <a:off x="685800" y="0"/>
            <a:ext cx="7772400" cy="1143000"/>
          </a:xfrm>
        </p:spPr>
        <p:txBody>
          <a:bodyPr/>
          <a:lstStyle/>
          <a:p>
            <a:r>
              <a:rPr lang="en-US" altLang="en-US">
                <a:latin typeface="Arial  " charset="0"/>
                <a:cs typeface="Arial  " charset="0"/>
              </a:rPr>
              <a:t>Addressing Modes</a:t>
            </a:r>
          </a:p>
        </p:txBody>
      </p:sp>
      <p:sp>
        <p:nvSpPr>
          <p:cNvPr id="39938" name="Rectangle 3">
            <a:extLst>
              <a:ext uri="{FF2B5EF4-FFF2-40B4-BE49-F238E27FC236}">
                <a16:creationId xmlns:a16="http://schemas.microsoft.com/office/drawing/2014/main" id="{0E3CAF1F-0CAB-FF64-45D7-9FC9AD76E3B2}"/>
              </a:ext>
            </a:extLst>
          </p:cNvPr>
          <p:cNvSpPr>
            <a:spLocks noGrp="1" noChangeArrowheads="1"/>
          </p:cNvSpPr>
          <p:nvPr>
            <p:ph type="body" idx="1"/>
          </p:nvPr>
        </p:nvSpPr>
        <p:spPr>
          <a:xfrm>
            <a:off x="495300" y="1168400"/>
            <a:ext cx="8331200" cy="4876800"/>
          </a:xfrm>
        </p:spPr>
        <p:txBody>
          <a:bodyPr/>
          <a:lstStyle/>
          <a:p>
            <a:pPr marL="533400" indent="-533400">
              <a:lnSpc>
                <a:spcPct val="90000"/>
              </a:lnSpc>
            </a:pPr>
            <a:endParaRPr lang="en-US" altLang="en-US" sz="2400">
              <a:latin typeface="Comic Sans MS (Body)" panose="030F0902030302020204" pitchFamily="66" charset="0"/>
              <a:cs typeface="Arial  " charset="0"/>
            </a:endParaRPr>
          </a:p>
          <a:p>
            <a:pPr marL="914400" lvl="1" indent="-457200">
              <a:lnSpc>
                <a:spcPct val="90000"/>
              </a:lnSpc>
              <a:buFontTx/>
              <a:buNone/>
            </a:pPr>
            <a:r>
              <a:rPr lang="en-US" altLang="en-US" sz="1600">
                <a:latin typeface="Comic Sans MS (Body)" panose="030F0902030302020204" pitchFamily="66" charset="0"/>
                <a:cs typeface="Arial  " charset="0"/>
              </a:rPr>
              <a:t>        </a:t>
            </a:r>
            <a:r>
              <a:rPr lang="en-US" altLang="en-US" sz="1600" u="sng">
                <a:latin typeface="Comic Sans MS (Body)" panose="030F0902030302020204" pitchFamily="66" charset="0"/>
                <a:cs typeface="Arial  " charset="0"/>
              </a:rPr>
              <a:t>Mode</a:t>
            </a:r>
            <a:r>
              <a:rPr lang="en-US" altLang="en-US" sz="1600">
                <a:latin typeface="Comic Sans MS (Body)" panose="030F0902030302020204" pitchFamily="66" charset="0"/>
                <a:cs typeface="Arial  " charset="0"/>
              </a:rPr>
              <a:t>		</a:t>
            </a:r>
            <a:r>
              <a:rPr lang="en-US" altLang="en-US" sz="1600" u="sng">
                <a:latin typeface="Comic Sans MS (Body)" panose="030F0902030302020204" pitchFamily="66" charset="0"/>
                <a:cs typeface="Arial  " charset="0"/>
              </a:rPr>
              <a:t>Example</a:t>
            </a:r>
            <a:r>
              <a:rPr lang="en-US" altLang="en-US" sz="1600">
                <a:latin typeface="Comic Sans MS (Body)" panose="030F0902030302020204" pitchFamily="66" charset="0"/>
                <a:cs typeface="Arial  " charset="0"/>
              </a:rPr>
              <a:t>		</a:t>
            </a:r>
            <a:r>
              <a:rPr lang="en-US" altLang="en-US" sz="1600" u="sng">
                <a:latin typeface="Comic Sans MS (Body)" panose="030F0902030302020204" pitchFamily="66" charset="0"/>
                <a:cs typeface="Arial  " charset="0"/>
              </a:rPr>
              <a:t>Meaning</a:t>
            </a:r>
            <a:endParaRPr lang="en-US" altLang="en-US" sz="2000">
              <a:latin typeface="Comic Sans MS (Body)" panose="030F0902030302020204" pitchFamily="66" charset="0"/>
              <a:cs typeface="Arial  " charset="0"/>
            </a:endParaRPr>
          </a:p>
          <a:p>
            <a:pPr marL="914400" lvl="1" indent="-457200">
              <a:lnSpc>
                <a:spcPct val="90000"/>
              </a:lnSpc>
              <a:buFontTx/>
              <a:buAutoNum type="arabicPeriod"/>
            </a:pPr>
            <a:r>
              <a:rPr lang="en-US" altLang="en-US" sz="1600">
                <a:solidFill>
                  <a:srgbClr val="0000FF"/>
                </a:solidFill>
                <a:latin typeface="Comic Sans MS (Body)" panose="030F0902030302020204" pitchFamily="66" charset="0"/>
                <a:cs typeface="Arial  " charset="0"/>
              </a:rPr>
              <a:t>Register		Add R4,</a:t>
            </a:r>
            <a:r>
              <a:rPr lang="en-US" altLang="en-US" sz="1600" u="sng">
                <a:solidFill>
                  <a:srgbClr val="FF0000"/>
                </a:solidFill>
                <a:latin typeface="Comic Sans MS (Body)" panose="030F0902030302020204" pitchFamily="66" charset="0"/>
                <a:cs typeface="Arial  " charset="0"/>
              </a:rPr>
              <a:t>R3</a:t>
            </a:r>
            <a:r>
              <a:rPr lang="en-US" altLang="en-US" sz="1600">
                <a:solidFill>
                  <a:srgbClr val="0000FF"/>
                </a:solidFill>
                <a:latin typeface="Comic Sans MS (Body)" panose="030F0902030302020204" pitchFamily="66" charset="0"/>
                <a:cs typeface="Arial  " charset="0"/>
              </a:rPr>
              <a:t>	Regs[R4] &lt;- Regs[R4] + </a:t>
            </a:r>
            <a:r>
              <a:rPr lang="en-US" altLang="en-US" sz="1600" u="sng">
                <a:solidFill>
                  <a:srgbClr val="FF0000"/>
                </a:solidFill>
                <a:latin typeface="Comic Sans MS (Body)" panose="030F0902030302020204" pitchFamily="66" charset="0"/>
                <a:cs typeface="Arial  " charset="0"/>
              </a:rPr>
              <a:t>Regs[R3]</a:t>
            </a:r>
          </a:p>
          <a:p>
            <a:pPr marL="914400" lvl="1" indent="-457200">
              <a:lnSpc>
                <a:spcPct val="90000"/>
              </a:lnSpc>
              <a:buFontTx/>
              <a:buAutoNum type="arabicPeriod"/>
            </a:pPr>
            <a:endParaRPr lang="en-US" altLang="en-US" sz="1600">
              <a:solidFill>
                <a:srgbClr val="0000FF"/>
              </a:solidFill>
              <a:latin typeface="Comic Sans MS (Body)" panose="030F0902030302020204" pitchFamily="66" charset="0"/>
              <a:cs typeface="Arial  " charset="0"/>
            </a:endParaRPr>
          </a:p>
          <a:p>
            <a:pPr marL="914400" lvl="1" indent="-457200">
              <a:lnSpc>
                <a:spcPct val="90000"/>
              </a:lnSpc>
              <a:buFontTx/>
              <a:buAutoNum type="arabicPeriod"/>
            </a:pPr>
            <a:r>
              <a:rPr lang="en-US" altLang="en-US" sz="1600">
                <a:solidFill>
                  <a:srgbClr val="0000FF"/>
                </a:solidFill>
                <a:latin typeface="Comic Sans MS (Body)" panose="030F0902030302020204" pitchFamily="66" charset="0"/>
                <a:cs typeface="Arial  " charset="0"/>
              </a:rPr>
              <a:t>Immediate	Add R4,</a:t>
            </a:r>
            <a:r>
              <a:rPr lang="en-US" altLang="en-US" sz="1600" u="sng">
                <a:solidFill>
                  <a:srgbClr val="FF0000"/>
                </a:solidFill>
                <a:latin typeface="Comic Sans MS (Body)" panose="030F0902030302020204" pitchFamily="66" charset="0"/>
                <a:cs typeface="Arial  " charset="0"/>
              </a:rPr>
              <a:t>#3</a:t>
            </a:r>
            <a:r>
              <a:rPr lang="en-US" altLang="en-US" sz="1600">
                <a:solidFill>
                  <a:srgbClr val="0000FF"/>
                </a:solidFill>
                <a:latin typeface="Comic Sans MS (Body)" panose="030F0902030302020204" pitchFamily="66" charset="0"/>
                <a:cs typeface="Arial  " charset="0"/>
              </a:rPr>
              <a:t>	Regs[R4] &lt;- Regs[R4] + </a:t>
            </a:r>
            <a:r>
              <a:rPr lang="en-US" altLang="en-US" sz="1600" u="sng">
                <a:solidFill>
                  <a:srgbClr val="FF0000"/>
                </a:solidFill>
                <a:latin typeface="Comic Sans MS (Body)" panose="030F0902030302020204" pitchFamily="66" charset="0"/>
                <a:cs typeface="Arial  " charset="0"/>
              </a:rPr>
              <a:t>3</a:t>
            </a:r>
          </a:p>
          <a:p>
            <a:pPr marL="914400" lvl="1" indent="-457200">
              <a:lnSpc>
                <a:spcPct val="90000"/>
              </a:lnSpc>
              <a:buFontTx/>
              <a:buAutoNum type="arabicPeriod"/>
            </a:pPr>
            <a:endParaRPr lang="en-US" altLang="en-US" sz="1600">
              <a:solidFill>
                <a:srgbClr val="0000FF"/>
              </a:solidFill>
              <a:latin typeface="Comic Sans MS (Body)" panose="030F0902030302020204" pitchFamily="66" charset="0"/>
              <a:cs typeface="Arial  " charset="0"/>
            </a:endParaRPr>
          </a:p>
          <a:p>
            <a:pPr marL="914400" lvl="1" indent="-457200">
              <a:lnSpc>
                <a:spcPct val="90000"/>
              </a:lnSpc>
              <a:buFontTx/>
              <a:buAutoNum type="arabicPeriod"/>
            </a:pPr>
            <a:r>
              <a:rPr lang="en-US" altLang="en-US" sz="1600">
                <a:solidFill>
                  <a:srgbClr val="0000FF"/>
                </a:solidFill>
                <a:latin typeface="Comic Sans MS (Body)" panose="030F0902030302020204" pitchFamily="66" charset="0"/>
                <a:cs typeface="Arial  " charset="0"/>
              </a:rPr>
              <a:t>Displacement	Add R4,</a:t>
            </a:r>
            <a:r>
              <a:rPr lang="en-US" altLang="en-US" sz="1600" u="sng">
                <a:solidFill>
                  <a:srgbClr val="FF0000"/>
                </a:solidFill>
                <a:latin typeface="Comic Sans MS (Body)" panose="030F0902030302020204" pitchFamily="66" charset="0"/>
                <a:cs typeface="Arial  " charset="0"/>
              </a:rPr>
              <a:t>100(R1)</a:t>
            </a:r>
            <a:r>
              <a:rPr lang="en-US" altLang="en-US" sz="1600">
                <a:solidFill>
                  <a:srgbClr val="0000FF"/>
                </a:solidFill>
                <a:latin typeface="Comic Sans MS (Body)" panose="030F0902030302020204" pitchFamily="66" charset="0"/>
                <a:cs typeface="Arial  " charset="0"/>
              </a:rPr>
              <a:t>	Regs[R4] &lt;- Regs[R4] + 						    </a:t>
            </a:r>
            <a:r>
              <a:rPr lang="en-US" altLang="en-US" sz="1600" u="sng">
                <a:solidFill>
                  <a:srgbClr val="FF0000"/>
                </a:solidFill>
                <a:latin typeface="Comic Sans MS (Body)" panose="030F0902030302020204" pitchFamily="66" charset="0"/>
                <a:cs typeface="Arial  " charset="0"/>
              </a:rPr>
              <a:t>Mem[ 100 + Regs[R1] ]</a:t>
            </a:r>
          </a:p>
          <a:p>
            <a:pPr marL="914400" lvl="1" indent="-457200">
              <a:lnSpc>
                <a:spcPct val="90000"/>
              </a:lnSpc>
              <a:buFontTx/>
              <a:buAutoNum type="arabicPeriod"/>
            </a:pPr>
            <a:endParaRPr lang="en-US" altLang="en-US" sz="1600">
              <a:latin typeface="Comic Sans MS (Body)" panose="030F0902030302020204" pitchFamily="66" charset="0"/>
              <a:cs typeface="Arial  " charset="0"/>
            </a:endParaRPr>
          </a:p>
          <a:p>
            <a:pPr marL="914400" lvl="1" indent="-457200">
              <a:lnSpc>
                <a:spcPct val="90000"/>
              </a:lnSpc>
              <a:buFontTx/>
              <a:buAutoNum type="arabicPeriod"/>
            </a:pPr>
            <a:r>
              <a:rPr lang="en-US" altLang="en-US" sz="1600">
                <a:solidFill>
                  <a:srgbClr val="0000FF"/>
                </a:solidFill>
                <a:latin typeface="Comic Sans MS (Body)" panose="030F0902030302020204" pitchFamily="66" charset="0"/>
                <a:cs typeface="Arial  " charset="0"/>
              </a:rPr>
              <a:t>Register Indirect	Add R4,</a:t>
            </a:r>
            <a:r>
              <a:rPr lang="en-US" altLang="en-US" sz="1600" u="sng">
                <a:solidFill>
                  <a:srgbClr val="FF0000"/>
                </a:solidFill>
                <a:latin typeface="Comic Sans MS (Body)" panose="030F0902030302020204" pitchFamily="66" charset="0"/>
                <a:cs typeface="Arial  " charset="0"/>
              </a:rPr>
              <a:t>(R1)</a:t>
            </a:r>
            <a:r>
              <a:rPr lang="en-US" altLang="en-US" sz="1600">
                <a:solidFill>
                  <a:srgbClr val="0000FF"/>
                </a:solidFill>
                <a:latin typeface="Comic Sans MS (Body)" panose="030F0902030302020204" pitchFamily="66" charset="0"/>
                <a:cs typeface="Arial  " charset="0"/>
              </a:rPr>
              <a:t>	Regs[R4] &lt;- Regs[R4] + </a:t>
            </a:r>
            <a:r>
              <a:rPr lang="en-US" altLang="en-US" sz="1600" u="sng">
                <a:solidFill>
                  <a:srgbClr val="FF0000"/>
                </a:solidFill>
                <a:latin typeface="Comic Sans MS (Body)" panose="030F0902030302020204" pitchFamily="66" charset="0"/>
                <a:cs typeface="Arial  " charset="0"/>
              </a:rPr>
              <a:t>Mem[Reg[R1]]</a:t>
            </a:r>
          </a:p>
          <a:p>
            <a:pPr marL="914400" lvl="1" indent="-457200">
              <a:lnSpc>
                <a:spcPct val="90000"/>
              </a:lnSpc>
              <a:buFontTx/>
              <a:buAutoNum type="arabicPeriod"/>
            </a:pPr>
            <a:endParaRPr lang="en-US" altLang="en-US" sz="1600">
              <a:latin typeface="Comic Sans MS (Body)" panose="030F0902030302020204" pitchFamily="66" charset="0"/>
              <a:cs typeface="Arial  " charset="0"/>
            </a:endParaRPr>
          </a:p>
          <a:p>
            <a:pPr marL="914400" lvl="1" indent="-457200">
              <a:lnSpc>
                <a:spcPct val="90000"/>
              </a:lnSpc>
              <a:buFontTx/>
              <a:buAutoNum type="arabicPeriod"/>
            </a:pPr>
            <a:r>
              <a:rPr lang="en-US" altLang="en-US" sz="1600">
                <a:latin typeface="Comic Sans MS (Body)" panose="030F0902030302020204" pitchFamily="66" charset="0"/>
                <a:cs typeface="Arial  " charset="0"/>
              </a:rPr>
              <a:t>Indexed		Add R3,</a:t>
            </a:r>
            <a:r>
              <a:rPr lang="en-US" altLang="en-US" sz="1600" u="sng">
                <a:solidFill>
                  <a:srgbClr val="FF0000"/>
                </a:solidFill>
                <a:latin typeface="Comic Sans MS (Body)" panose="030F0902030302020204" pitchFamily="66" charset="0"/>
                <a:cs typeface="Arial  " charset="0"/>
              </a:rPr>
              <a:t>(R1+R2)</a:t>
            </a:r>
            <a:r>
              <a:rPr lang="en-US" altLang="en-US" sz="1600">
                <a:latin typeface="Comic Sans MS (Body)" panose="030F0902030302020204" pitchFamily="66" charset="0"/>
                <a:cs typeface="Arial  " charset="0"/>
              </a:rPr>
              <a:t>	Regs[R3] &lt;- Regs[R3] + 						    </a:t>
            </a:r>
            <a:r>
              <a:rPr lang="en-US" altLang="en-US" sz="1600" u="sng">
                <a:solidFill>
                  <a:srgbClr val="FF0000"/>
                </a:solidFill>
                <a:latin typeface="Comic Sans MS (Body)" panose="030F0902030302020204" pitchFamily="66" charset="0"/>
                <a:cs typeface="Arial  " charset="0"/>
              </a:rPr>
              <a:t>Mem[Regs[R1]+Regs[R2]]</a:t>
            </a:r>
            <a:endParaRPr lang="en-US" altLang="en-US" sz="2000" u="sng">
              <a:solidFill>
                <a:srgbClr val="FF0000"/>
              </a:solidFill>
              <a:latin typeface="Comic Sans MS (Body)" panose="030F0902030302020204" pitchFamily="66" charset="0"/>
              <a:cs typeface="Arial  " charset="0"/>
            </a:endParaRPr>
          </a:p>
          <a:p>
            <a:pPr marL="914400" lvl="1" indent="-457200">
              <a:lnSpc>
                <a:spcPct val="90000"/>
              </a:lnSpc>
            </a:pPr>
            <a:endParaRPr lang="en-US" altLang="en-US" sz="2000">
              <a:latin typeface="Comic Sans MS (Body)" panose="030F0902030302020204" pitchFamily="66" charset="0"/>
              <a:cs typeface="Arial  " charset="0"/>
            </a:endParaRPr>
          </a:p>
          <a:p>
            <a:pPr marL="914400" lvl="1" indent="-457200">
              <a:lnSpc>
                <a:spcPct val="90000"/>
              </a:lnSpc>
            </a:pPr>
            <a:endParaRPr lang="en-US" altLang="en-US" sz="2000">
              <a:latin typeface="Comic Sans MS (Body)" panose="030F0902030302020204" pitchFamily="66" charset="0"/>
              <a:cs typeface="Arial  " charset="0"/>
            </a:endParaRPr>
          </a:p>
          <a:p>
            <a:pPr marL="914400" lvl="1" indent="-457200">
              <a:lnSpc>
                <a:spcPct val="90000"/>
              </a:lnSpc>
            </a:pPr>
            <a:endParaRPr lang="en-US" altLang="en-US" sz="2000">
              <a:latin typeface="Comic Sans MS (Body)" panose="030F0902030302020204" pitchFamily="66" charset="0"/>
              <a:cs typeface="Arial  " charset="0"/>
            </a:endParaRPr>
          </a:p>
        </p:txBody>
      </p:sp>
      <p:sp>
        <p:nvSpPr>
          <p:cNvPr id="39939" name="Slide Number Placeholder 6">
            <a:extLst>
              <a:ext uri="{FF2B5EF4-FFF2-40B4-BE49-F238E27FC236}">
                <a16:creationId xmlns:a16="http://schemas.microsoft.com/office/drawing/2014/main" id="{79C5C244-9B2E-7996-CAE8-CC4E92CB528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BDB4662A-B7CB-CA44-9B4C-2158406EE052}" type="slidenum">
              <a:rPr lang="en-US" altLang="en-US" sz="1400"/>
              <a:pPr>
                <a:spcBef>
                  <a:spcPct val="0"/>
                </a:spcBef>
                <a:buFontTx/>
                <a:buNone/>
              </a:pPr>
              <a:t>12</a:t>
            </a:fld>
            <a:r>
              <a:rPr lang="en-US" altLang="en-US" sz="140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8011889B-2A7E-D8E1-094A-13D084BCD636}"/>
              </a:ext>
            </a:extLst>
          </p:cNvPr>
          <p:cNvSpPr>
            <a:spLocks noGrp="1" noChangeArrowheads="1"/>
          </p:cNvSpPr>
          <p:nvPr>
            <p:ph type="title"/>
          </p:nvPr>
        </p:nvSpPr>
        <p:spPr>
          <a:xfrm>
            <a:off x="685800" y="0"/>
            <a:ext cx="7772400" cy="1143000"/>
          </a:xfrm>
        </p:spPr>
        <p:txBody>
          <a:bodyPr/>
          <a:lstStyle/>
          <a:p>
            <a:r>
              <a:rPr lang="en-US" altLang="en-US">
                <a:latin typeface="Arial  " charset="0"/>
                <a:cs typeface="Arial  " charset="0"/>
              </a:rPr>
              <a:t>Addressing Modes</a:t>
            </a:r>
          </a:p>
        </p:txBody>
      </p:sp>
      <p:sp>
        <p:nvSpPr>
          <p:cNvPr id="41986" name="Rectangle 3">
            <a:extLst>
              <a:ext uri="{FF2B5EF4-FFF2-40B4-BE49-F238E27FC236}">
                <a16:creationId xmlns:a16="http://schemas.microsoft.com/office/drawing/2014/main" id="{9C48830D-1E46-9905-A2E4-A46F5E3327D1}"/>
              </a:ext>
            </a:extLst>
          </p:cNvPr>
          <p:cNvSpPr>
            <a:spLocks noGrp="1" noChangeArrowheads="1"/>
          </p:cNvSpPr>
          <p:nvPr>
            <p:ph type="body" idx="1"/>
          </p:nvPr>
        </p:nvSpPr>
        <p:spPr>
          <a:xfrm>
            <a:off x="457200" y="1219200"/>
            <a:ext cx="8404225" cy="4876800"/>
          </a:xfrm>
        </p:spPr>
        <p:txBody>
          <a:bodyPr/>
          <a:lstStyle/>
          <a:p>
            <a:pPr marL="533400" indent="-533400">
              <a:lnSpc>
                <a:spcPct val="90000"/>
              </a:lnSpc>
              <a:buFontTx/>
              <a:buNone/>
            </a:pPr>
            <a:r>
              <a:rPr lang="en-US" altLang="en-US" sz="1800" dirty="0">
                <a:latin typeface="Arial  " charset="0"/>
                <a:cs typeface="Arial  " charset="0"/>
              </a:rPr>
              <a:t>             </a:t>
            </a:r>
            <a:r>
              <a:rPr lang="en-US" altLang="en-US" sz="1800" u="sng" dirty="0">
                <a:latin typeface="Arial  " charset="0"/>
                <a:cs typeface="Arial  " charset="0"/>
              </a:rPr>
              <a:t>Mode</a:t>
            </a:r>
            <a:endParaRPr lang="en-US" altLang="en-US" sz="1800" dirty="0">
              <a:latin typeface="Arial  " charset="0"/>
              <a:cs typeface="Arial  " charset="0"/>
            </a:endParaRPr>
          </a:p>
          <a:p>
            <a:pPr marL="914400" lvl="1" indent="-457200">
              <a:lnSpc>
                <a:spcPct val="90000"/>
              </a:lnSpc>
              <a:buFontTx/>
              <a:buAutoNum type="arabicPeriod" startAt="6"/>
            </a:pPr>
            <a:r>
              <a:rPr lang="en-US" altLang="en-US" sz="1600" dirty="0">
                <a:latin typeface="Arial  " charset="0"/>
                <a:cs typeface="Arial  " charset="0"/>
              </a:rPr>
              <a:t>Direct		Add R1,</a:t>
            </a:r>
            <a:r>
              <a:rPr lang="en-US" altLang="en-US" sz="1600" u="sng" dirty="0">
                <a:solidFill>
                  <a:srgbClr val="FF0000"/>
                </a:solidFill>
                <a:latin typeface="Arial  " charset="0"/>
                <a:cs typeface="Arial  " charset="0"/>
              </a:rPr>
              <a:t>(1001)</a:t>
            </a:r>
            <a:r>
              <a:rPr lang="en-US" altLang="en-US" sz="1600" dirty="0">
                <a:latin typeface="Arial  " charset="0"/>
                <a:cs typeface="Arial  " charset="0"/>
              </a:rPr>
              <a:t>	Regs[R1] &lt;- Regs[R1] + </a:t>
            </a:r>
            <a:r>
              <a:rPr lang="en-US" altLang="en-US" sz="1600" u="sng" dirty="0">
                <a:solidFill>
                  <a:srgbClr val="FF0000"/>
                </a:solidFill>
                <a:latin typeface="Arial  " charset="0"/>
                <a:cs typeface="Arial  " charset="0"/>
              </a:rPr>
              <a:t>Mem[1001]</a:t>
            </a:r>
            <a:r>
              <a:rPr lang="en-US" altLang="en-US" sz="1600" dirty="0">
                <a:latin typeface="Arial  " charset="0"/>
                <a:cs typeface="Arial  " charset="0"/>
              </a:rPr>
              <a:t>	</a:t>
            </a:r>
          </a:p>
          <a:p>
            <a:pPr marL="914400" lvl="1" indent="-457200">
              <a:lnSpc>
                <a:spcPct val="90000"/>
              </a:lnSpc>
              <a:buFontTx/>
              <a:buAutoNum type="arabicPeriod" startAt="6"/>
            </a:pPr>
            <a:r>
              <a:rPr lang="en-US" altLang="en-US" sz="1600" dirty="0">
                <a:latin typeface="Arial  " charset="0"/>
                <a:cs typeface="Arial  " charset="0"/>
              </a:rPr>
              <a:t>Memory Indirect	Add R1,</a:t>
            </a:r>
            <a:r>
              <a:rPr lang="en-US" altLang="en-US" sz="1600" u="sng" dirty="0">
                <a:solidFill>
                  <a:srgbClr val="FF0000"/>
                </a:solidFill>
                <a:latin typeface="Arial  " charset="0"/>
                <a:cs typeface="Arial  " charset="0"/>
              </a:rPr>
              <a:t>@(R3)</a:t>
            </a:r>
            <a:r>
              <a:rPr lang="en-US" altLang="en-US" sz="1600" dirty="0">
                <a:latin typeface="Arial  " charset="0"/>
                <a:cs typeface="Arial  " charset="0"/>
              </a:rPr>
              <a:t>	Regs[R1] &lt;- Regs[R1] + 						    </a:t>
            </a:r>
            <a:r>
              <a:rPr lang="en-US" altLang="en-US" sz="1600" u="sng" dirty="0">
                <a:solidFill>
                  <a:srgbClr val="FF0000"/>
                </a:solidFill>
                <a:latin typeface="Arial  " charset="0"/>
                <a:cs typeface="Arial  " charset="0"/>
              </a:rPr>
              <a:t>Mem[Mem[Regs[R3]]]</a:t>
            </a:r>
          </a:p>
          <a:p>
            <a:pPr marL="914400" lvl="1" indent="-457200">
              <a:lnSpc>
                <a:spcPct val="90000"/>
              </a:lnSpc>
              <a:buFontTx/>
              <a:buAutoNum type="arabicPeriod" startAt="6"/>
            </a:pPr>
            <a:endParaRPr lang="en-US" altLang="en-US" sz="1600" dirty="0">
              <a:latin typeface="Arial  " charset="0"/>
              <a:cs typeface="Arial  " charset="0"/>
            </a:endParaRPr>
          </a:p>
          <a:p>
            <a:pPr marL="914400" lvl="1" indent="-457200">
              <a:lnSpc>
                <a:spcPct val="90000"/>
              </a:lnSpc>
              <a:buFontTx/>
              <a:buAutoNum type="arabicPeriod" startAt="6"/>
            </a:pPr>
            <a:r>
              <a:rPr lang="en-US" altLang="en-US" sz="1600" dirty="0">
                <a:latin typeface="Arial  " charset="0"/>
                <a:cs typeface="Arial  " charset="0"/>
              </a:rPr>
              <a:t>Autoincrement	Add R1,</a:t>
            </a:r>
            <a:r>
              <a:rPr lang="en-US" altLang="en-US" sz="1600" u="sng" dirty="0">
                <a:solidFill>
                  <a:srgbClr val="FF0000"/>
                </a:solidFill>
                <a:latin typeface="Arial  " charset="0"/>
                <a:cs typeface="Arial  " charset="0"/>
              </a:rPr>
              <a:t>(R2)+</a:t>
            </a:r>
            <a:r>
              <a:rPr lang="en-US" altLang="en-US" sz="1600" dirty="0">
                <a:latin typeface="Arial  " charset="0"/>
                <a:cs typeface="Arial  " charset="0"/>
              </a:rPr>
              <a:t>	Regs[R1] &lt;- Regs[R1]+</a:t>
            </a:r>
            <a:r>
              <a:rPr lang="en-US" altLang="en-US" sz="1600" u="sng" dirty="0">
                <a:solidFill>
                  <a:srgbClr val="FF0000"/>
                </a:solidFill>
                <a:latin typeface="Arial  " charset="0"/>
                <a:cs typeface="Arial  " charset="0"/>
              </a:rPr>
              <a:t>Mem[Regs[R2]]</a:t>
            </a:r>
            <a:r>
              <a:rPr lang="en-US" altLang="en-US" sz="1600" dirty="0">
                <a:latin typeface="Arial  " charset="0"/>
                <a:cs typeface="Arial  " charset="0"/>
              </a:rPr>
              <a:t> 				 </a:t>
            </a:r>
            <a:r>
              <a:rPr lang="en-US" altLang="en-US" sz="1600" u="sng" dirty="0">
                <a:solidFill>
                  <a:srgbClr val="FF0000"/>
                </a:solidFill>
                <a:latin typeface="Arial  " charset="0"/>
                <a:cs typeface="Arial  " charset="0"/>
              </a:rPr>
              <a:t>Regs[R2] &lt;- Regs[R2] + d</a:t>
            </a:r>
          </a:p>
          <a:p>
            <a:pPr marL="914400" lvl="1" indent="-457200">
              <a:lnSpc>
                <a:spcPct val="90000"/>
              </a:lnSpc>
              <a:buFontTx/>
              <a:buAutoNum type="arabicPeriod" startAt="6"/>
            </a:pPr>
            <a:endParaRPr lang="en-US" altLang="en-US" sz="1600" dirty="0">
              <a:latin typeface="Arial  " charset="0"/>
              <a:cs typeface="Arial  " charset="0"/>
            </a:endParaRPr>
          </a:p>
          <a:p>
            <a:pPr marL="914400" lvl="1" indent="-457200">
              <a:lnSpc>
                <a:spcPct val="90000"/>
              </a:lnSpc>
              <a:buFontTx/>
              <a:buAutoNum type="arabicPeriod" startAt="6"/>
            </a:pPr>
            <a:r>
              <a:rPr lang="en-US" altLang="en-US" sz="1600" dirty="0">
                <a:latin typeface="Arial  " charset="0"/>
                <a:cs typeface="Arial  " charset="0"/>
              </a:rPr>
              <a:t>Autodecrement	Add R1,</a:t>
            </a:r>
            <a:r>
              <a:rPr lang="en-US" altLang="en-US" sz="1600" u="sng" dirty="0">
                <a:solidFill>
                  <a:srgbClr val="FF0000"/>
                </a:solidFill>
                <a:latin typeface="Arial  " charset="0"/>
                <a:cs typeface="Arial  " charset="0"/>
              </a:rPr>
              <a:t>-(R2)</a:t>
            </a:r>
            <a:r>
              <a:rPr lang="en-US" altLang="en-US" sz="1600" dirty="0">
                <a:latin typeface="Arial  " charset="0"/>
                <a:cs typeface="Arial  " charset="0"/>
              </a:rPr>
              <a:t> 	</a:t>
            </a:r>
            <a:r>
              <a:rPr lang="en-US" altLang="en-US" sz="1600" u="sng" dirty="0">
                <a:solidFill>
                  <a:srgbClr val="FF0000"/>
                </a:solidFill>
                <a:latin typeface="Arial  " charset="0"/>
                <a:cs typeface="Arial  " charset="0"/>
              </a:rPr>
              <a:t>Regs[R2] &lt;- Regs[R2] - d</a:t>
            </a:r>
            <a:r>
              <a:rPr lang="en-US" altLang="en-US" sz="1600" dirty="0">
                <a:latin typeface="Arial  " charset="0"/>
                <a:cs typeface="Arial  " charset="0"/>
              </a:rPr>
              <a:t>					Regs[R1] &lt;- Regs[R1]+</a:t>
            </a:r>
            <a:r>
              <a:rPr lang="en-US" altLang="en-US" sz="1600" u="sng" dirty="0">
                <a:solidFill>
                  <a:srgbClr val="FF0000"/>
                </a:solidFill>
                <a:latin typeface="Arial  " charset="0"/>
                <a:cs typeface="Arial  " charset="0"/>
              </a:rPr>
              <a:t>Mem[Regs[R2]]</a:t>
            </a:r>
          </a:p>
          <a:p>
            <a:pPr marL="914400" lvl="1" indent="-457200">
              <a:lnSpc>
                <a:spcPct val="90000"/>
              </a:lnSpc>
              <a:buFontTx/>
              <a:buAutoNum type="arabicPeriod" startAt="6"/>
            </a:pPr>
            <a:endParaRPr lang="en-US" altLang="en-US" sz="1600" dirty="0">
              <a:latin typeface="Arial  " charset="0"/>
              <a:cs typeface="Arial  " charset="0"/>
            </a:endParaRPr>
          </a:p>
          <a:p>
            <a:pPr marL="914400" lvl="1" indent="-457200">
              <a:lnSpc>
                <a:spcPct val="90000"/>
              </a:lnSpc>
              <a:buFontTx/>
              <a:buAutoNum type="arabicPeriod" startAt="6"/>
            </a:pPr>
            <a:r>
              <a:rPr lang="en-US" altLang="en-US" sz="1600" dirty="0">
                <a:latin typeface="Arial  " charset="0"/>
                <a:cs typeface="Arial  " charset="0"/>
              </a:rPr>
              <a:t>Scaled		Add R1,</a:t>
            </a:r>
            <a:r>
              <a:rPr lang="en-US" altLang="en-US" sz="1600" u="sng" dirty="0">
                <a:solidFill>
                  <a:srgbClr val="FF0000"/>
                </a:solidFill>
                <a:latin typeface="Arial  " charset="0"/>
                <a:cs typeface="Arial  " charset="0"/>
              </a:rPr>
              <a:t>100(R2)[R3]</a:t>
            </a:r>
            <a:r>
              <a:rPr lang="en-US" altLang="en-US" sz="1600" dirty="0">
                <a:latin typeface="Arial  " charset="0"/>
                <a:cs typeface="Arial  " charset="0"/>
              </a:rPr>
              <a:t>  Regs[R1] &lt;- Regs[R1] + 					     </a:t>
            </a:r>
            <a:r>
              <a:rPr lang="en-US" altLang="en-US" sz="1600" u="sng" dirty="0">
                <a:solidFill>
                  <a:srgbClr val="FF0000"/>
                </a:solidFill>
                <a:latin typeface="Arial  " charset="0"/>
                <a:cs typeface="Arial  " charset="0"/>
              </a:rPr>
              <a:t>Mem[100+Regs[R2]+Regs[R3]*d]</a:t>
            </a:r>
            <a:endParaRPr lang="en-US" altLang="en-US" sz="2000" u="sng" dirty="0">
              <a:solidFill>
                <a:srgbClr val="FF0000"/>
              </a:solidFill>
              <a:latin typeface="Arial  " charset="0"/>
              <a:cs typeface="Arial  " charset="0"/>
            </a:endParaRPr>
          </a:p>
        </p:txBody>
      </p:sp>
      <p:sp>
        <p:nvSpPr>
          <p:cNvPr id="41987" name="Slide Number Placeholder 6">
            <a:extLst>
              <a:ext uri="{FF2B5EF4-FFF2-40B4-BE49-F238E27FC236}">
                <a16:creationId xmlns:a16="http://schemas.microsoft.com/office/drawing/2014/main" id="{1F285C91-268D-9E16-B603-90330F0D5B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24C403D2-C504-5641-8A82-12C379EFE237}" type="slidenum">
              <a:rPr lang="en-US" altLang="en-US" sz="1400"/>
              <a:pPr>
                <a:spcBef>
                  <a:spcPct val="0"/>
                </a:spcBef>
                <a:buFontTx/>
                <a:buNone/>
              </a:pPr>
              <a:t>13</a:t>
            </a:fld>
            <a:r>
              <a:rPr lang="en-US" altLang="en-US" sz="140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3910738F-7830-CCC4-29DF-219B47B152CD}"/>
              </a:ext>
            </a:extLst>
          </p:cNvPr>
          <p:cNvSpPr>
            <a:spLocks noGrp="1" noChangeArrowheads="1"/>
          </p:cNvSpPr>
          <p:nvPr>
            <p:ph type="title"/>
          </p:nvPr>
        </p:nvSpPr>
        <p:spPr>
          <a:xfrm>
            <a:off x="685800" y="0"/>
            <a:ext cx="7772400" cy="1143000"/>
          </a:xfrm>
        </p:spPr>
        <p:txBody>
          <a:bodyPr/>
          <a:lstStyle/>
          <a:p>
            <a:r>
              <a:rPr lang="en-US" altLang="en-US">
                <a:latin typeface="Arial  " charset="0"/>
                <a:cs typeface="Arial  " charset="0"/>
              </a:rPr>
              <a:t>Addressing Modes</a:t>
            </a:r>
          </a:p>
        </p:txBody>
      </p:sp>
      <p:sp>
        <p:nvSpPr>
          <p:cNvPr id="26627" name="Rectangle 3">
            <a:extLst>
              <a:ext uri="{FF2B5EF4-FFF2-40B4-BE49-F238E27FC236}">
                <a16:creationId xmlns:a16="http://schemas.microsoft.com/office/drawing/2014/main" id="{42811674-A757-F0E1-8329-823AE160C96C}"/>
              </a:ext>
            </a:extLst>
          </p:cNvPr>
          <p:cNvSpPr>
            <a:spLocks noGrp="1" noChangeArrowheads="1"/>
          </p:cNvSpPr>
          <p:nvPr>
            <p:ph type="body" idx="1"/>
          </p:nvPr>
        </p:nvSpPr>
        <p:spPr>
          <a:xfrm>
            <a:off x="469900" y="5194300"/>
            <a:ext cx="8331200" cy="1041400"/>
          </a:xfrm>
        </p:spPr>
        <p:txBody>
          <a:bodyPr/>
          <a:lstStyle/>
          <a:p>
            <a:pPr marL="533400" indent="-533400">
              <a:lnSpc>
                <a:spcPct val="90000"/>
              </a:lnSpc>
              <a:buFont typeface="Symbol" pitchFamily="2" charset="2"/>
              <a:buChar char=""/>
            </a:pPr>
            <a:endParaRPr lang="en-US" altLang="en-US" sz="1600">
              <a:latin typeface="Arial  " charset="0"/>
              <a:cs typeface="Arial  " charset="0"/>
            </a:endParaRPr>
          </a:p>
          <a:p>
            <a:pPr marL="533400" indent="-533400">
              <a:lnSpc>
                <a:spcPct val="90000"/>
              </a:lnSpc>
              <a:buFont typeface="Symbol" pitchFamily="2" charset="2"/>
              <a:buNone/>
            </a:pPr>
            <a:r>
              <a:rPr lang="en-US" altLang="en-US" sz="1800" u="sng">
                <a:latin typeface="Arial  " charset="0"/>
                <a:cs typeface="Arial  " charset="0"/>
              </a:rPr>
              <a:t>Lesson</a:t>
            </a:r>
            <a:r>
              <a:rPr lang="en-US" altLang="en-US" sz="1800">
                <a:latin typeface="Arial  " charset="0"/>
                <a:cs typeface="Arial  " charset="0"/>
              </a:rPr>
              <a:t>:</a:t>
            </a:r>
            <a:r>
              <a:rPr lang="en-US" altLang="en-US" sz="1800">
                <a:solidFill>
                  <a:srgbClr val="FF0000"/>
                </a:solidFill>
                <a:latin typeface="Arial  " charset="0"/>
                <a:cs typeface="Arial  " charset="0"/>
              </a:rPr>
              <a:t>   ‘fancy’ addressing modes not used much by compiler</a:t>
            </a:r>
          </a:p>
          <a:p>
            <a:pPr marL="533400" indent="-533400">
              <a:lnSpc>
                <a:spcPct val="90000"/>
              </a:lnSpc>
              <a:buFont typeface="Symbol" pitchFamily="2" charset="2"/>
              <a:buNone/>
            </a:pPr>
            <a:r>
              <a:rPr lang="en-US" altLang="en-US" sz="2000">
                <a:solidFill>
                  <a:srgbClr val="FF0000"/>
                </a:solidFill>
                <a:latin typeface="Arial  " charset="0"/>
                <a:cs typeface="Arial  " charset="0"/>
              </a:rPr>
              <a:t>		</a:t>
            </a:r>
            <a:r>
              <a:rPr lang="en-US" altLang="en-US" sz="1800">
                <a:solidFill>
                  <a:srgbClr val="0000FF"/>
                </a:solidFill>
                <a:latin typeface="Arial  " charset="0"/>
                <a:cs typeface="Arial  " charset="0"/>
              </a:rPr>
              <a:t>simple addressing modes used most often</a:t>
            </a:r>
          </a:p>
        </p:txBody>
      </p:sp>
      <p:pic>
        <p:nvPicPr>
          <p:cNvPr id="44035" name="Picture 4" descr="Ch2-fig07">
            <a:extLst>
              <a:ext uri="{FF2B5EF4-FFF2-40B4-BE49-F238E27FC236}">
                <a16:creationId xmlns:a16="http://schemas.microsoft.com/office/drawing/2014/main" id="{7140BB66-B31F-14CC-0600-82BFB6A990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1365250"/>
            <a:ext cx="6743700" cy="41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Oval 5">
            <a:extLst>
              <a:ext uri="{FF2B5EF4-FFF2-40B4-BE49-F238E27FC236}">
                <a16:creationId xmlns:a16="http://schemas.microsoft.com/office/drawing/2014/main" id="{F10D6CB3-2F44-5583-AAAA-1C72E5334CB9}"/>
              </a:ext>
            </a:extLst>
          </p:cNvPr>
          <p:cNvSpPr>
            <a:spLocks noChangeArrowheads="1"/>
          </p:cNvSpPr>
          <p:nvPr/>
        </p:nvSpPr>
        <p:spPr bwMode="auto">
          <a:xfrm flipV="1">
            <a:off x="787400" y="1384300"/>
            <a:ext cx="4546600" cy="14986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26630" name="Oval 6">
            <a:extLst>
              <a:ext uri="{FF2B5EF4-FFF2-40B4-BE49-F238E27FC236}">
                <a16:creationId xmlns:a16="http://schemas.microsoft.com/office/drawing/2014/main" id="{1C65B409-5E75-DCF1-57BF-9782C92CD0E4}"/>
              </a:ext>
            </a:extLst>
          </p:cNvPr>
          <p:cNvSpPr>
            <a:spLocks noChangeArrowheads="1"/>
          </p:cNvSpPr>
          <p:nvPr/>
        </p:nvSpPr>
        <p:spPr bwMode="auto">
          <a:xfrm flipV="1">
            <a:off x="685800" y="2857500"/>
            <a:ext cx="7645400" cy="2311400"/>
          </a:xfrm>
          <a:prstGeom prst="ellipse">
            <a:avLst/>
          </a:pr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44038" name="Slide Number Placeholder 9">
            <a:extLst>
              <a:ext uri="{FF2B5EF4-FFF2-40B4-BE49-F238E27FC236}">
                <a16:creationId xmlns:a16="http://schemas.microsoft.com/office/drawing/2014/main" id="{DEC643CC-192E-6B3F-2964-BFA32C7F45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5EB2CC79-26CF-0340-B492-C011B9A52A0D}" type="slidenum">
              <a:rPr lang="en-US" altLang="en-US" sz="1400"/>
              <a:pPr>
                <a:spcBef>
                  <a:spcPct val="0"/>
                </a:spcBef>
                <a:buFontTx/>
                <a:buNone/>
              </a:pPr>
              <a:t>14</a:t>
            </a:fld>
            <a:r>
              <a:rPr lang="en-US" altLang="en-US" sz="14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3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P spid="26629" grpId="0" animBg="1"/>
      <p:bldP spid="266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4A202D00-EED6-B3E9-65A6-FEC5BED3C68F}"/>
              </a:ext>
            </a:extLst>
          </p:cNvPr>
          <p:cNvSpPr>
            <a:spLocks noGrp="1" noChangeArrowheads="1"/>
          </p:cNvSpPr>
          <p:nvPr>
            <p:ph type="title"/>
          </p:nvPr>
        </p:nvSpPr>
        <p:spPr>
          <a:xfrm>
            <a:off x="723900" y="0"/>
            <a:ext cx="7772400" cy="1143000"/>
          </a:xfrm>
        </p:spPr>
        <p:txBody>
          <a:bodyPr/>
          <a:lstStyle/>
          <a:p>
            <a:r>
              <a:rPr lang="en-US" altLang="en-US">
                <a:latin typeface="Arial  " charset="0"/>
                <a:cs typeface="Arial  " charset="0"/>
              </a:rPr>
              <a:t>Displacement Mode</a:t>
            </a:r>
          </a:p>
        </p:txBody>
      </p:sp>
      <p:sp>
        <p:nvSpPr>
          <p:cNvPr id="46082" name="Rectangle 3">
            <a:extLst>
              <a:ext uri="{FF2B5EF4-FFF2-40B4-BE49-F238E27FC236}">
                <a16:creationId xmlns:a16="http://schemas.microsoft.com/office/drawing/2014/main" id="{E99C71D5-1C9D-D689-4167-F9814F641CBC}"/>
              </a:ext>
            </a:extLst>
          </p:cNvPr>
          <p:cNvSpPr>
            <a:spLocks noGrp="1" noChangeArrowheads="1"/>
          </p:cNvSpPr>
          <p:nvPr>
            <p:ph type="body" idx="1"/>
          </p:nvPr>
        </p:nvSpPr>
        <p:spPr>
          <a:xfrm>
            <a:off x="788988" y="4452938"/>
            <a:ext cx="7772400" cy="952500"/>
          </a:xfrm>
        </p:spPr>
        <p:txBody>
          <a:bodyPr/>
          <a:lstStyle/>
          <a:p>
            <a:r>
              <a:rPr lang="en-US" altLang="en-US" sz="2000">
                <a:latin typeface="Arial  " charset="0"/>
                <a:cs typeface="Arial  " charset="0"/>
              </a:rPr>
              <a:t>How many bits should be used to encode displacement?</a:t>
            </a:r>
          </a:p>
          <a:p>
            <a:r>
              <a:rPr lang="en-US" altLang="en-US" sz="2000">
                <a:latin typeface="Arial  " charset="0"/>
                <a:cs typeface="Arial  " charset="0"/>
              </a:rPr>
              <a:t>What are the tradeoffs?</a:t>
            </a:r>
          </a:p>
        </p:txBody>
      </p:sp>
      <p:pic>
        <p:nvPicPr>
          <p:cNvPr id="46083" name="Picture 4" descr="Ch2-fig08">
            <a:extLst>
              <a:ext uri="{FF2B5EF4-FFF2-40B4-BE49-F238E27FC236}">
                <a16:creationId xmlns:a16="http://schemas.microsoft.com/office/drawing/2014/main" id="{A2C24910-2413-2CCF-B1DC-063182C91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025" y="1068388"/>
            <a:ext cx="5316538"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Slide Number Placeholder 7">
            <a:extLst>
              <a:ext uri="{FF2B5EF4-FFF2-40B4-BE49-F238E27FC236}">
                <a16:creationId xmlns:a16="http://schemas.microsoft.com/office/drawing/2014/main" id="{5C098C36-3368-2829-7001-CE9C9B8B3D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1CD15CBB-A2D6-DB48-AF1F-B71446F90DA3}" type="slidenum">
              <a:rPr lang="en-US" altLang="en-US" sz="1400"/>
              <a:pPr>
                <a:spcBef>
                  <a:spcPct val="0"/>
                </a:spcBef>
                <a:buFontTx/>
                <a:buNone/>
              </a:pPr>
              <a:t>15</a:t>
            </a:fld>
            <a:r>
              <a:rPr lang="en-US" altLang="en-US" sz="140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61966197-9508-7996-615A-320291240EAA}"/>
              </a:ext>
            </a:extLst>
          </p:cNvPr>
          <p:cNvSpPr>
            <a:spLocks noGrp="1" noChangeArrowheads="1"/>
          </p:cNvSpPr>
          <p:nvPr>
            <p:ph type="title"/>
          </p:nvPr>
        </p:nvSpPr>
        <p:spPr>
          <a:xfrm>
            <a:off x="827088" y="0"/>
            <a:ext cx="7772400" cy="720725"/>
          </a:xfrm>
        </p:spPr>
        <p:txBody>
          <a:bodyPr/>
          <a:lstStyle/>
          <a:p>
            <a:r>
              <a:rPr lang="en-US" altLang="en-US">
                <a:latin typeface="Arial  " charset="0"/>
                <a:cs typeface="Arial  " charset="0"/>
              </a:rPr>
              <a:t>Example: How Many Bits?</a:t>
            </a:r>
            <a:endParaRPr lang="en-CA" altLang="en-US">
              <a:latin typeface="Arial  " charset="0"/>
              <a:cs typeface="Arial  " charset="0"/>
            </a:endParaRPr>
          </a:p>
        </p:txBody>
      </p:sp>
      <p:sp>
        <p:nvSpPr>
          <p:cNvPr id="48130" name="Slide Number Placeholder 3">
            <a:extLst>
              <a:ext uri="{FF2B5EF4-FFF2-40B4-BE49-F238E27FC236}">
                <a16:creationId xmlns:a16="http://schemas.microsoft.com/office/drawing/2014/main" id="{2A1899D3-1CFA-0997-A56F-33BA4F0ED4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AC4A4610-175C-D541-9385-3391FE85E44D}" type="slidenum">
              <a:rPr lang="en-US" altLang="en-US" sz="1400"/>
              <a:pPr>
                <a:spcBef>
                  <a:spcPct val="0"/>
                </a:spcBef>
                <a:buFontTx/>
                <a:buNone/>
              </a:pPr>
              <a:t>16</a:t>
            </a:fld>
            <a:r>
              <a:rPr lang="en-US" altLang="en-US" sz="1400"/>
              <a:t> </a:t>
            </a:r>
          </a:p>
        </p:txBody>
      </p:sp>
      <p:sp>
        <p:nvSpPr>
          <p:cNvPr id="48131" name="TextBox 4">
            <a:extLst>
              <a:ext uri="{FF2B5EF4-FFF2-40B4-BE49-F238E27FC236}">
                <a16:creationId xmlns:a16="http://schemas.microsoft.com/office/drawing/2014/main" id="{C8858EF6-4CDD-E36A-F435-63D4F25D5B18}"/>
              </a:ext>
            </a:extLst>
          </p:cNvPr>
          <p:cNvSpPr txBox="1">
            <a:spLocks noChangeArrowheads="1"/>
          </p:cNvSpPr>
          <p:nvPr/>
        </p:nvSpPr>
        <p:spPr bwMode="auto">
          <a:xfrm>
            <a:off x="606425" y="1149350"/>
            <a:ext cx="8126413"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CA" altLang="en-US" sz="2000" dirty="0">
                <a:latin typeface="Arial" panose="020B0604020202020204" pitchFamily="34" charset="0"/>
              </a:rPr>
              <a:t>Imagine a RISC instruction set that supports a 24-bit displacement field and that initially Regs[R1]=0x40.  We have a program with the following instruction:</a:t>
            </a:r>
          </a:p>
          <a:p>
            <a:pPr>
              <a:spcBef>
                <a:spcPct val="0"/>
              </a:spcBef>
              <a:buFontTx/>
              <a:buNone/>
            </a:pPr>
            <a:endParaRPr lang="en-CA" altLang="en-US" sz="2000" dirty="0">
              <a:latin typeface="Arial" panose="020B0604020202020204" pitchFamily="34" charset="0"/>
            </a:endParaRPr>
          </a:p>
          <a:p>
            <a:pPr>
              <a:spcBef>
                <a:spcPct val="0"/>
              </a:spcBef>
              <a:buFontTx/>
              <a:buNone/>
            </a:pPr>
            <a:r>
              <a:rPr lang="en-CA" altLang="en-US" sz="2000" dirty="0">
                <a:latin typeface="Arial" panose="020B0604020202020204" pitchFamily="34" charset="0"/>
              </a:rPr>
              <a:t>    LD R2, 0x10002(R1)  </a:t>
            </a:r>
            <a:r>
              <a:rPr lang="en-CA" altLang="en-US" sz="2000" i="1" dirty="0">
                <a:solidFill>
                  <a:schemeClr val="bg2"/>
                </a:solidFill>
                <a:latin typeface="Arial" panose="020B0604020202020204" pitchFamily="34" charset="0"/>
              </a:rPr>
              <a:t>;  Eff. </a:t>
            </a:r>
            <a:r>
              <a:rPr lang="en-CA" altLang="en-US" sz="2000" i="1" dirty="0" err="1">
                <a:solidFill>
                  <a:schemeClr val="bg2"/>
                </a:solidFill>
                <a:latin typeface="Arial" panose="020B0604020202020204" pitchFamily="34" charset="0"/>
              </a:rPr>
              <a:t>Addr</a:t>
            </a:r>
            <a:r>
              <a:rPr lang="en-CA" altLang="en-US" sz="2000" i="1" dirty="0">
                <a:solidFill>
                  <a:schemeClr val="bg2"/>
                </a:solidFill>
                <a:latin typeface="Arial" panose="020B0604020202020204" pitchFamily="34" charset="0"/>
              </a:rPr>
              <a:t>. = 0x10002+0x40=0x10042</a:t>
            </a:r>
          </a:p>
          <a:p>
            <a:pPr>
              <a:spcBef>
                <a:spcPct val="0"/>
              </a:spcBef>
              <a:buFontTx/>
              <a:buNone/>
            </a:pPr>
            <a:endParaRPr lang="en-CA" altLang="en-US" sz="2000" dirty="0">
              <a:latin typeface="Arial" panose="020B0604020202020204" pitchFamily="34" charset="0"/>
            </a:endParaRPr>
          </a:p>
          <a:p>
            <a:pPr>
              <a:spcBef>
                <a:spcPct val="0"/>
              </a:spcBef>
              <a:buFontTx/>
              <a:buNone/>
            </a:pPr>
            <a:r>
              <a:rPr lang="en-CA" altLang="en-US" sz="2000" dirty="0">
                <a:latin typeface="Arial" panose="020B0604020202020204" pitchFamily="34" charset="0"/>
              </a:rPr>
              <a:t>NOTE: The value 0x10002 requires at least 17 bits to represent. </a:t>
            </a:r>
          </a:p>
          <a:p>
            <a:pPr>
              <a:spcBef>
                <a:spcPct val="0"/>
              </a:spcBef>
              <a:buFontTx/>
              <a:buNone/>
            </a:pPr>
            <a:endParaRPr lang="en-CA" altLang="en-US" sz="2000" dirty="0">
              <a:latin typeface="Arial" panose="020B0604020202020204" pitchFamily="34" charset="0"/>
            </a:endParaRPr>
          </a:p>
          <a:p>
            <a:pPr>
              <a:spcBef>
                <a:spcPct val="0"/>
              </a:spcBef>
              <a:buFontTx/>
              <a:buNone/>
            </a:pPr>
            <a:r>
              <a:rPr lang="en-CA" altLang="en-US" sz="2000" dirty="0">
                <a:latin typeface="Arial" panose="020B0604020202020204" pitchFamily="34" charset="0"/>
              </a:rPr>
              <a:t>We can implement the same operation using a16-bit displacement by using multiple instructions.  For example, using MIPS64 (which has a 16-bit displacement field):</a:t>
            </a:r>
          </a:p>
          <a:p>
            <a:pPr>
              <a:spcBef>
                <a:spcPct val="0"/>
              </a:spcBef>
              <a:buFontTx/>
              <a:buNone/>
            </a:pPr>
            <a:endParaRPr lang="en-CA" altLang="en-US" sz="2000" dirty="0">
              <a:latin typeface="Arial" panose="020B0604020202020204" pitchFamily="34" charset="0"/>
            </a:endParaRPr>
          </a:p>
          <a:p>
            <a:pPr>
              <a:spcBef>
                <a:spcPct val="0"/>
              </a:spcBef>
              <a:buFontTx/>
              <a:buNone/>
            </a:pPr>
            <a:r>
              <a:rPr lang="en-CA" altLang="en-US" sz="2000" dirty="0">
                <a:latin typeface="Arial" panose="020B0604020202020204" pitchFamily="34" charset="0"/>
              </a:rPr>
              <a:t>    LUI   R3,#1		</a:t>
            </a:r>
            <a:r>
              <a:rPr lang="en-CA" altLang="en-US" sz="2000" i="1" dirty="0">
                <a:solidFill>
                  <a:schemeClr val="bg2"/>
                </a:solidFill>
                <a:latin typeface="Arial" panose="020B0604020202020204" pitchFamily="34" charset="0"/>
              </a:rPr>
              <a:t>; Regs[R3] = 0x10000</a:t>
            </a:r>
          </a:p>
          <a:p>
            <a:pPr>
              <a:spcBef>
                <a:spcPct val="0"/>
              </a:spcBef>
              <a:buFontTx/>
              <a:buNone/>
            </a:pPr>
            <a:r>
              <a:rPr lang="en-CA" altLang="en-US" sz="2000" dirty="0">
                <a:latin typeface="Arial" panose="020B0604020202020204" pitchFamily="34" charset="0"/>
              </a:rPr>
              <a:t>    DADD R4,R3,R1	</a:t>
            </a:r>
            <a:r>
              <a:rPr lang="en-CA" altLang="en-US" sz="2000" i="1" dirty="0">
                <a:solidFill>
                  <a:schemeClr val="bg2"/>
                </a:solidFill>
                <a:latin typeface="Arial" panose="020B0604020202020204" pitchFamily="34" charset="0"/>
              </a:rPr>
              <a:t>; Regs[R4] = 0x10000+0x40=0x10040</a:t>
            </a:r>
          </a:p>
          <a:p>
            <a:pPr>
              <a:spcBef>
                <a:spcPct val="0"/>
              </a:spcBef>
              <a:buFontTx/>
              <a:buNone/>
            </a:pPr>
            <a:r>
              <a:rPr lang="en-CA" altLang="en-US" sz="2000" dirty="0">
                <a:latin typeface="Arial" panose="020B0604020202020204" pitchFamily="34" charset="0"/>
              </a:rPr>
              <a:t>    LD    R2,2(R4)	</a:t>
            </a:r>
            <a:r>
              <a:rPr lang="en-CA" altLang="en-US" sz="2000" i="1" dirty="0">
                <a:solidFill>
                  <a:schemeClr val="bg2"/>
                </a:solidFill>
                <a:latin typeface="Arial" panose="020B0604020202020204" pitchFamily="34" charset="0"/>
              </a:rPr>
              <a:t>; Eff. </a:t>
            </a:r>
            <a:r>
              <a:rPr lang="en-CA" altLang="en-US" sz="2000" i="1" dirty="0" err="1">
                <a:solidFill>
                  <a:schemeClr val="bg2"/>
                </a:solidFill>
                <a:latin typeface="Arial" panose="020B0604020202020204" pitchFamily="34" charset="0"/>
              </a:rPr>
              <a:t>Addr</a:t>
            </a:r>
            <a:r>
              <a:rPr lang="en-CA" altLang="en-US" sz="2000" i="1" dirty="0">
                <a:solidFill>
                  <a:schemeClr val="bg2"/>
                </a:solidFill>
                <a:latin typeface="Arial" panose="020B0604020202020204" pitchFamily="34" charset="0"/>
              </a:rPr>
              <a:t> =  0x10040+0x2=0x10042</a:t>
            </a:r>
          </a:p>
          <a:p>
            <a:pPr>
              <a:spcBef>
                <a:spcPct val="0"/>
              </a:spcBef>
              <a:buFontTx/>
              <a:buNone/>
            </a:pPr>
            <a:endParaRPr lang="en-CA" altLang="en-US" sz="2000" dirty="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FD4CA4EF-F4FB-2592-7C94-574C242E6791}"/>
              </a:ext>
            </a:extLst>
          </p:cNvPr>
          <p:cNvSpPr>
            <a:spLocks noChangeArrowheads="1"/>
          </p:cNvSpPr>
          <p:nvPr/>
        </p:nvSpPr>
        <p:spPr bwMode="auto">
          <a:xfrm>
            <a:off x="596900" y="1392238"/>
            <a:ext cx="1833563"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a:t>Data Movement</a:t>
            </a:r>
          </a:p>
        </p:txBody>
      </p:sp>
      <p:sp>
        <p:nvSpPr>
          <p:cNvPr id="49154" name="Rectangle 3">
            <a:extLst>
              <a:ext uri="{FF2B5EF4-FFF2-40B4-BE49-F238E27FC236}">
                <a16:creationId xmlns:a16="http://schemas.microsoft.com/office/drawing/2014/main" id="{6EC485F8-7611-F415-A4BF-754CBC4C4E44}"/>
              </a:ext>
            </a:extLst>
          </p:cNvPr>
          <p:cNvSpPr>
            <a:spLocks noChangeArrowheads="1"/>
          </p:cNvSpPr>
          <p:nvPr/>
        </p:nvSpPr>
        <p:spPr bwMode="auto">
          <a:xfrm>
            <a:off x="4254500" y="1392238"/>
            <a:ext cx="2770188" cy="170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a:t>Load (from memory)</a:t>
            </a:r>
          </a:p>
          <a:p>
            <a:pPr>
              <a:lnSpc>
                <a:spcPct val="85000"/>
              </a:lnSpc>
              <a:spcBef>
                <a:spcPct val="0"/>
              </a:spcBef>
              <a:buFontTx/>
              <a:buNone/>
            </a:pPr>
            <a:r>
              <a:rPr lang="en-US" altLang="en-US" sz="1800"/>
              <a:t>Store (to memory)</a:t>
            </a:r>
          </a:p>
          <a:p>
            <a:pPr>
              <a:lnSpc>
                <a:spcPct val="85000"/>
              </a:lnSpc>
              <a:spcBef>
                <a:spcPct val="0"/>
              </a:spcBef>
              <a:buFontTx/>
              <a:buNone/>
            </a:pPr>
            <a:r>
              <a:rPr lang="en-US" altLang="en-US" sz="1800"/>
              <a:t>memory-to-memory move</a:t>
            </a:r>
          </a:p>
          <a:p>
            <a:pPr>
              <a:lnSpc>
                <a:spcPct val="85000"/>
              </a:lnSpc>
              <a:spcBef>
                <a:spcPct val="0"/>
              </a:spcBef>
              <a:buFontTx/>
              <a:buNone/>
            </a:pPr>
            <a:r>
              <a:rPr lang="en-US" altLang="en-US" sz="1800"/>
              <a:t>register-to-register move</a:t>
            </a:r>
          </a:p>
          <a:p>
            <a:pPr>
              <a:lnSpc>
                <a:spcPct val="85000"/>
              </a:lnSpc>
              <a:spcBef>
                <a:spcPct val="0"/>
              </a:spcBef>
              <a:buFontTx/>
              <a:buNone/>
            </a:pPr>
            <a:r>
              <a:rPr lang="en-US" altLang="en-US" sz="1800"/>
              <a:t>input (from I/O device)</a:t>
            </a:r>
          </a:p>
          <a:p>
            <a:pPr>
              <a:lnSpc>
                <a:spcPct val="85000"/>
              </a:lnSpc>
              <a:spcBef>
                <a:spcPct val="0"/>
              </a:spcBef>
              <a:buFontTx/>
              <a:buNone/>
            </a:pPr>
            <a:r>
              <a:rPr lang="en-US" altLang="en-US" sz="1800"/>
              <a:t>output (to I/O device)</a:t>
            </a:r>
          </a:p>
          <a:p>
            <a:pPr>
              <a:lnSpc>
                <a:spcPct val="85000"/>
              </a:lnSpc>
              <a:spcBef>
                <a:spcPct val="0"/>
              </a:spcBef>
              <a:buFontTx/>
              <a:buNone/>
            </a:pPr>
            <a:r>
              <a:rPr lang="en-US" altLang="en-US" sz="1800"/>
              <a:t>push, pop (to/from stack)</a:t>
            </a:r>
          </a:p>
        </p:txBody>
      </p:sp>
      <p:sp>
        <p:nvSpPr>
          <p:cNvPr id="49155" name="Rectangle 4">
            <a:extLst>
              <a:ext uri="{FF2B5EF4-FFF2-40B4-BE49-F238E27FC236}">
                <a16:creationId xmlns:a16="http://schemas.microsoft.com/office/drawing/2014/main" id="{A552C2D2-A92F-9ECA-3649-ADEAE34B10C9}"/>
              </a:ext>
            </a:extLst>
          </p:cNvPr>
          <p:cNvSpPr>
            <a:spLocks noChangeArrowheads="1"/>
          </p:cNvSpPr>
          <p:nvPr/>
        </p:nvSpPr>
        <p:spPr bwMode="auto">
          <a:xfrm>
            <a:off x="673100" y="3297238"/>
            <a:ext cx="127000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a:t>Arithmetic</a:t>
            </a:r>
          </a:p>
        </p:txBody>
      </p:sp>
      <p:sp>
        <p:nvSpPr>
          <p:cNvPr id="49156" name="Rectangle 5">
            <a:extLst>
              <a:ext uri="{FF2B5EF4-FFF2-40B4-BE49-F238E27FC236}">
                <a16:creationId xmlns:a16="http://schemas.microsoft.com/office/drawing/2014/main" id="{BA28E72C-F690-A252-A4AD-652DF0670FF5}"/>
              </a:ext>
            </a:extLst>
          </p:cNvPr>
          <p:cNvSpPr>
            <a:spLocks noChangeArrowheads="1"/>
          </p:cNvSpPr>
          <p:nvPr/>
        </p:nvSpPr>
        <p:spPr bwMode="auto">
          <a:xfrm>
            <a:off x="4254500" y="3297238"/>
            <a:ext cx="3376613"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a:t>integer (binary + decimal) or FP</a:t>
            </a:r>
          </a:p>
          <a:p>
            <a:pPr>
              <a:lnSpc>
                <a:spcPct val="85000"/>
              </a:lnSpc>
              <a:spcBef>
                <a:spcPct val="0"/>
              </a:spcBef>
              <a:buFontTx/>
              <a:buNone/>
            </a:pPr>
            <a:r>
              <a:rPr lang="en-US" altLang="en-US" sz="1800"/>
              <a:t>Add, Subtract, Multiply, Divide</a:t>
            </a:r>
          </a:p>
        </p:txBody>
      </p:sp>
      <p:sp>
        <p:nvSpPr>
          <p:cNvPr id="49157" name="Rectangle 6">
            <a:extLst>
              <a:ext uri="{FF2B5EF4-FFF2-40B4-BE49-F238E27FC236}">
                <a16:creationId xmlns:a16="http://schemas.microsoft.com/office/drawing/2014/main" id="{24BE8A5F-F6CC-9561-DEB0-A7D16F12EBFC}"/>
              </a:ext>
            </a:extLst>
          </p:cNvPr>
          <p:cNvSpPr>
            <a:spLocks noChangeArrowheads="1"/>
          </p:cNvSpPr>
          <p:nvPr/>
        </p:nvSpPr>
        <p:spPr bwMode="auto">
          <a:xfrm>
            <a:off x="673100" y="4364038"/>
            <a:ext cx="9366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a:t>Logical</a:t>
            </a:r>
          </a:p>
        </p:txBody>
      </p:sp>
      <p:sp>
        <p:nvSpPr>
          <p:cNvPr id="49158" name="Rectangle 7">
            <a:extLst>
              <a:ext uri="{FF2B5EF4-FFF2-40B4-BE49-F238E27FC236}">
                <a16:creationId xmlns:a16="http://schemas.microsoft.com/office/drawing/2014/main" id="{C301D959-5FEC-D8C8-EC0F-BE9410D893A5}"/>
              </a:ext>
            </a:extLst>
          </p:cNvPr>
          <p:cNvSpPr>
            <a:spLocks noChangeArrowheads="1"/>
          </p:cNvSpPr>
          <p:nvPr/>
        </p:nvSpPr>
        <p:spPr bwMode="auto">
          <a:xfrm>
            <a:off x="4254500" y="4364038"/>
            <a:ext cx="2347913"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a:t>not, and, or, set, clear</a:t>
            </a:r>
          </a:p>
        </p:txBody>
      </p:sp>
      <p:sp>
        <p:nvSpPr>
          <p:cNvPr id="49159" name="Rectangle 8">
            <a:extLst>
              <a:ext uri="{FF2B5EF4-FFF2-40B4-BE49-F238E27FC236}">
                <a16:creationId xmlns:a16="http://schemas.microsoft.com/office/drawing/2014/main" id="{78E33C8E-7E04-FDA5-BC74-889B9805BBCD}"/>
              </a:ext>
            </a:extLst>
          </p:cNvPr>
          <p:cNvSpPr>
            <a:spLocks noChangeArrowheads="1"/>
          </p:cNvSpPr>
          <p:nvPr/>
        </p:nvSpPr>
        <p:spPr bwMode="auto">
          <a:xfrm>
            <a:off x="673100" y="3983038"/>
            <a:ext cx="64135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a:t>Shift</a:t>
            </a:r>
          </a:p>
        </p:txBody>
      </p:sp>
      <p:sp>
        <p:nvSpPr>
          <p:cNvPr id="49160" name="Rectangle 9">
            <a:extLst>
              <a:ext uri="{FF2B5EF4-FFF2-40B4-BE49-F238E27FC236}">
                <a16:creationId xmlns:a16="http://schemas.microsoft.com/office/drawing/2014/main" id="{482E26C9-C78C-1A32-A8EA-DEFC9A9863DA}"/>
              </a:ext>
            </a:extLst>
          </p:cNvPr>
          <p:cNvSpPr>
            <a:spLocks noChangeArrowheads="1"/>
          </p:cNvSpPr>
          <p:nvPr/>
        </p:nvSpPr>
        <p:spPr bwMode="auto">
          <a:xfrm>
            <a:off x="4254500" y="3983038"/>
            <a:ext cx="3040063"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a:t>shift left/right, rotate left/right</a:t>
            </a:r>
          </a:p>
        </p:txBody>
      </p:sp>
      <p:sp>
        <p:nvSpPr>
          <p:cNvPr id="49161" name="Rectangle 10">
            <a:extLst>
              <a:ext uri="{FF2B5EF4-FFF2-40B4-BE49-F238E27FC236}">
                <a16:creationId xmlns:a16="http://schemas.microsoft.com/office/drawing/2014/main" id="{401A2900-DBE2-D575-95D9-27D8C91F6CE8}"/>
              </a:ext>
            </a:extLst>
          </p:cNvPr>
          <p:cNvSpPr>
            <a:spLocks noChangeArrowheads="1"/>
          </p:cNvSpPr>
          <p:nvPr/>
        </p:nvSpPr>
        <p:spPr bwMode="auto">
          <a:xfrm>
            <a:off x="673100" y="4821238"/>
            <a:ext cx="264160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a:t>Control (Jump/Branch)</a:t>
            </a:r>
          </a:p>
        </p:txBody>
      </p:sp>
      <p:sp>
        <p:nvSpPr>
          <p:cNvPr id="49162" name="Rectangle 11">
            <a:extLst>
              <a:ext uri="{FF2B5EF4-FFF2-40B4-BE49-F238E27FC236}">
                <a16:creationId xmlns:a16="http://schemas.microsoft.com/office/drawing/2014/main" id="{8D60536B-BCEF-C2DD-272F-8CEEB0106CD1}"/>
              </a:ext>
            </a:extLst>
          </p:cNvPr>
          <p:cNvSpPr>
            <a:spLocks noChangeArrowheads="1"/>
          </p:cNvSpPr>
          <p:nvPr/>
        </p:nvSpPr>
        <p:spPr bwMode="auto">
          <a:xfrm>
            <a:off x="4254500" y="4821238"/>
            <a:ext cx="272097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a:t>unconditional, conditional</a:t>
            </a:r>
          </a:p>
        </p:txBody>
      </p:sp>
      <p:sp>
        <p:nvSpPr>
          <p:cNvPr id="49163" name="Rectangle 12">
            <a:extLst>
              <a:ext uri="{FF2B5EF4-FFF2-40B4-BE49-F238E27FC236}">
                <a16:creationId xmlns:a16="http://schemas.microsoft.com/office/drawing/2014/main" id="{32537C52-2353-CD05-5167-72E3F0BD25B0}"/>
              </a:ext>
            </a:extLst>
          </p:cNvPr>
          <p:cNvSpPr>
            <a:spLocks noChangeArrowheads="1"/>
          </p:cNvSpPr>
          <p:nvPr/>
        </p:nvSpPr>
        <p:spPr bwMode="auto">
          <a:xfrm>
            <a:off x="673100" y="5278438"/>
            <a:ext cx="22828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a:t>Subroutine Linkage</a:t>
            </a:r>
          </a:p>
        </p:txBody>
      </p:sp>
      <p:sp>
        <p:nvSpPr>
          <p:cNvPr id="49164" name="Rectangle 13">
            <a:extLst>
              <a:ext uri="{FF2B5EF4-FFF2-40B4-BE49-F238E27FC236}">
                <a16:creationId xmlns:a16="http://schemas.microsoft.com/office/drawing/2014/main" id="{A51C8956-4C12-051A-F2AD-0F017B88A805}"/>
              </a:ext>
            </a:extLst>
          </p:cNvPr>
          <p:cNvSpPr>
            <a:spLocks noChangeArrowheads="1"/>
          </p:cNvSpPr>
          <p:nvPr/>
        </p:nvSpPr>
        <p:spPr bwMode="auto">
          <a:xfrm>
            <a:off x="4254500" y="5278438"/>
            <a:ext cx="120650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a:t>call, return</a:t>
            </a:r>
          </a:p>
        </p:txBody>
      </p:sp>
      <p:sp>
        <p:nvSpPr>
          <p:cNvPr id="49165" name="Rectangle 14">
            <a:extLst>
              <a:ext uri="{FF2B5EF4-FFF2-40B4-BE49-F238E27FC236}">
                <a16:creationId xmlns:a16="http://schemas.microsoft.com/office/drawing/2014/main" id="{C1826DE3-2162-66FA-31AC-11033458631B}"/>
              </a:ext>
            </a:extLst>
          </p:cNvPr>
          <p:cNvSpPr>
            <a:spLocks noChangeArrowheads="1"/>
          </p:cNvSpPr>
          <p:nvPr/>
        </p:nvSpPr>
        <p:spPr bwMode="auto">
          <a:xfrm>
            <a:off x="673100" y="5659438"/>
            <a:ext cx="1077913"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a:t>Interrupt</a:t>
            </a:r>
          </a:p>
        </p:txBody>
      </p:sp>
      <p:sp>
        <p:nvSpPr>
          <p:cNvPr id="49166" name="Rectangle 15">
            <a:extLst>
              <a:ext uri="{FF2B5EF4-FFF2-40B4-BE49-F238E27FC236}">
                <a16:creationId xmlns:a16="http://schemas.microsoft.com/office/drawing/2014/main" id="{EAC8070E-FEC3-14E6-5476-86077ADF05EC}"/>
              </a:ext>
            </a:extLst>
          </p:cNvPr>
          <p:cNvSpPr>
            <a:spLocks noChangeArrowheads="1"/>
          </p:cNvSpPr>
          <p:nvPr/>
        </p:nvSpPr>
        <p:spPr bwMode="auto">
          <a:xfrm>
            <a:off x="4254500" y="5659438"/>
            <a:ext cx="125730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a:t>trap, return</a:t>
            </a:r>
          </a:p>
        </p:txBody>
      </p:sp>
      <p:sp>
        <p:nvSpPr>
          <p:cNvPr id="49167" name="Rectangle 16">
            <a:extLst>
              <a:ext uri="{FF2B5EF4-FFF2-40B4-BE49-F238E27FC236}">
                <a16:creationId xmlns:a16="http://schemas.microsoft.com/office/drawing/2014/main" id="{97BE6F65-460B-1456-165D-F36598C49230}"/>
              </a:ext>
            </a:extLst>
          </p:cNvPr>
          <p:cNvSpPr>
            <a:spLocks noChangeArrowheads="1"/>
          </p:cNvSpPr>
          <p:nvPr/>
        </p:nvSpPr>
        <p:spPr bwMode="auto">
          <a:xfrm>
            <a:off x="673100" y="6040438"/>
            <a:ext cx="192405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b="1"/>
              <a:t>Synchronization</a:t>
            </a:r>
          </a:p>
        </p:txBody>
      </p:sp>
      <p:sp>
        <p:nvSpPr>
          <p:cNvPr id="49168" name="Rectangle 17">
            <a:extLst>
              <a:ext uri="{FF2B5EF4-FFF2-40B4-BE49-F238E27FC236}">
                <a16:creationId xmlns:a16="http://schemas.microsoft.com/office/drawing/2014/main" id="{A931FD90-88D7-8D1A-3770-699835F9A7CF}"/>
              </a:ext>
            </a:extLst>
          </p:cNvPr>
          <p:cNvSpPr>
            <a:spLocks noChangeArrowheads="1"/>
          </p:cNvSpPr>
          <p:nvPr/>
        </p:nvSpPr>
        <p:spPr bwMode="auto">
          <a:xfrm>
            <a:off x="4254500" y="6040438"/>
            <a:ext cx="3835400"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nSpc>
                <a:spcPct val="85000"/>
              </a:lnSpc>
              <a:spcBef>
                <a:spcPct val="0"/>
              </a:spcBef>
              <a:buFontTx/>
              <a:buNone/>
            </a:pPr>
            <a:r>
              <a:rPr lang="en-US" altLang="en-US" sz="1800"/>
              <a:t>test &amp; set (atomic read-modify-write)</a:t>
            </a:r>
          </a:p>
        </p:txBody>
      </p:sp>
      <p:sp>
        <p:nvSpPr>
          <p:cNvPr id="49169" name="Rectangle 18">
            <a:extLst>
              <a:ext uri="{FF2B5EF4-FFF2-40B4-BE49-F238E27FC236}">
                <a16:creationId xmlns:a16="http://schemas.microsoft.com/office/drawing/2014/main" id="{E52CE979-36E9-F104-247E-57B1E6FCBEAE}"/>
              </a:ext>
            </a:extLst>
          </p:cNvPr>
          <p:cNvSpPr>
            <a:spLocks noChangeArrowheads="1"/>
          </p:cNvSpPr>
          <p:nvPr/>
        </p:nvSpPr>
        <p:spPr bwMode="auto">
          <a:xfrm>
            <a:off x="457200" y="0"/>
            <a:ext cx="82296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lgn="ctr" eaLnBrk="1" hangingPunct="1">
              <a:spcBef>
                <a:spcPct val="0"/>
              </a:spcBef>
              <a:buFontTx/>
              <a:buNone/>
            </a:pPr>
            <a:r>
              <a:rPr lang="en-US" altLang="en-US" sz="2800" b="1">
                <a:solidFill>
                  <a:schemeClr val="tx2"/>
                </a:solidFill>
              </a:rPr>
              <a:t>Typical ISA Operations</a:t>
            </a:r>
          </a:p>
        </p:txBody>
      </p:sp>
      <p:sp>
        <p:nvSpPr>
          <p:cNvPr id="49170" name="Slide Number Placeholder 21">
            <a:extLst>
              <a:ext uri="{FF2B5EF4-FFF2-40B4-BE49-F238E27FC236}">
                <a16:creationId xmlns:a16="http://schemas.microsoft.com/office/drawing/2014/main" id="{6ADED885-1655-9171-D4E2-205B326327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EC064751-D45C-6A46-B0D5-73CAC57E43BB}" type="slidenum">
              <a:rPr lang="en-US" altLang="en-US" sz="1400"/>
              <a:pPr>
                <a:spcBef>
                  <a:spcPct val="0"/>
                </a:spcBef>
                <a:buFontTx/>
                <a:buNone/>
              </a:pPr>
              <a:t>17</a:t>
            </a:fld>
            <a:r>
              <a:rPr lang="en-US" altLang="en-US" sz="1400"/>
              <a:t> </a:t>
            </a:r>
          </a:p>
        </p:txBody>
      </p:sp>
      <p:cxnSp>
        <p:nvCxnSpPr>
          <p:cNvPr id="49171" name="Straight Connector 20">
            <a:extLst>
              <a:ext uri="{FF2B5EF4-FFF2-40B4-BE49-F238E27FC236}">
                <a16:creationId xmlns:a16="http://schemas.microsoft.com/office/drawing/2014/main" id="{76A259C4-4AB9-FBE4-1280-BBFA050D11EE}"/>
              </a:ext>
            </a:extLst>
          </p:cNvPr>
          <p:cNvCxnSpPr>
            <a:cxnSpLocks noChangeShapeType="1"/>
          </p:cNvCxnSpPr>
          <p:nvPr/>
        </p:nvCxnSpPr>
        <p:spPr bwMode="auto">
          <a:xfrm flipV="1">
            <a:off x="723900" y="31750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72" name="Straight Connector 21">
            <a:extLst>
              <a:ext uri="{FF2B5EF4-FFF2-40B4-BE49-F238E27FC236}">
                <a16:creationId xmlns:a16="http://schemas.microsoft.com/office/drawing/2014/main" id="{CA893F61-92FA-3F92-9E25-2DB33A2B9558}"/>
              </a:ext>
            </a:extLst>
          </p:cNvPr>
          <p:cNvCxnSpPr>
            <a:cxnSpLocks noChangeShapeType="1"/>
          </p:cNvCxnSpPr>
          <p:nvPr/>
        </p:nvCxnSpPr>
        <p:spPr bwMode="auto">
          <a:xfrm flipV="1">
            <a:off x="723900" y="38608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73" name="Straight Connector 22">
            <a:extLst>
              <a:ext uri="{FF2B5EF4-FFF2-40B4-BE49-F238E27FC236}">
                <a16:creationId xmlns:a16="http://schemas.microsoft.com/office/drawing/2014/main" id="{50976D97-98C2-15FC-E80A-FCA1ED62DE9C}"/>
              </a:ext>
            </a:extLst>
          </p:cNvPr>
          <p:cNvCxnSpPr>
            <a:cxnSpLocks noChangeShapeType="1"/>
          </p:cNvCxnSpPr>
          <p:nvPr/>
        </p:nvCxnSpPr>
        <p:spPr bwMode="auto">
          <a:xfrm flipV="1">
            <a:off x="723900" y="43180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74" name="Straight Connector 23">
            <a:extLst>
              <a:ext uri="{FF2B5EF4-FFF2-40B4-BE49-F238E27FC236}">
                <a16:creationId xmlns:a16="http://schemas.microsoft.com/office/drawing/2014/main" id="{BF514094-867D-908B-D1BE-C02B393606B6}"/>
              </a:ext>
            </a:extLst>
          </p:cNvPr>
          <p:cNvCxnSpPr>
            <a:cxnSpLocks noChangeShapeType="1"/>
          </p:cNvCxnSpPr>
          <p:nvPr/>
        </p:nvCxnSpPr>
        <p:spPr bwMode="auto">
          <a:xfrm flipV="1">
            <a:off x="736600" y="47244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75" name="Straight Connector 24">
            <a:extLst>
              <a:ext uri="{FF2B5EF4-FFF2-40B4-BE49-F238E27FC236}">
                <a16:creationId xmlns:a16="http://schemas.microsoft.com/office/drawing/2014/main" id="{8B55DC66-EE6F-52FF-C0A3-722C62C69BD4}"/>
              </a:ext>
            </a:extLst>
          </p:cNvPr>
          <p:cNvCxnSpPr>
            <a:cxnSpLocks noChangeShapeType="1"/>
          </p:cNvCxnSpPr>
          <p:nvPr/>
        </p:nvCxnSpPr>
        <p:spPr bwMode="auto">
          <a:xfrm flipV="1">
            <a:off x="736600" y="51816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76" name="Straight Connector 25">
            <a:extLst>
              <a:ext uri="{FF2B5EF4-FFF2-40B4-BE49-F238E27FC236}">
                <a16:creationId xmlns:a16="http://schemas.microsoft.com/office/drawing/2014/main" id="{53DFB965-24EA-CFFB-F88C-5201839FAA1D}"/>
              </a:ext>
            </a:extLst>
          </p:cNvPr>
          <p:cNvCxnSpPr>
            <a:cxnSpLocks noChangeShapeType="1"/>
          </p:cNvCxnSpPr>
          <p:nvPr/>
        </p:nvCxnSpPr>
        <p:spPr bwMode="auto">
          <a:xfrm flipV="1">
            <a:off x="736600" y="56007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77" name="Straight Connector 26">
            <a:extLst>
              <a:ext uri="{FF2B5EF4-FFF2-40B4-BE49-F238E27FC236}">
                <a16:creationId xmlns:a16="http://schemas.microsoft.com/office/drawing/2014/main" id="{3177B5A5-3950-7237-3E75-7140B44351FB}"/>
              </a:ext>
            </a:extLst>
          </p:cNvPr>
          <p:cNvCxnSpPr>
            <a:cxnSpLocks noChangeShapeType="1"/>
          </p:cNvCxnSpPr>
          <p:nvPr/>
        </p:nvCxnSpPr>
        <p:spPr bwMode="auto">
          <a:xfrm flipV="1">
            <a:off x="736600" y="59817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78" name="Straight Connector 27">
            <a:extLst>
              <a:ext uri="{FF2B5EF4-FFF2-40B4-BE49-F238E27FC236}">
                <a16:creationId xmlns:a16="http://schemas.microsoft.com/office/drawing/2014/main" id="{B0DBF90C-F91A-EF21-1113-D702862AFDBD}"/>
              </a:ext>
            </a:extLst>
          </p:cNvPr>
          <p:cNvCxnSpPr>
            <a:cxnSpLocks noChangeShapeType="1"/>
          </p:cNvCxnSpPr>
          <p:nvPr/>
        </p:nvCxnSpPr>
        <p:spPr bwMode="auto">
          <a:xfrm flipV="1">
            <a:off x="736600" y="63881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9179" name="Straight Connector 28">
            <a:extLst>
              <a:ext uri="{FF2B5EF4-FFF2-40B4-BE49-F238E27FC236}">
                <a16:creationId xmlns:a16="http://schemas.microsoft.com/office/drawing/2014/main" id="{E3777BA4-3C69-CC9C-0243-4FB97B398321}"/>
              </a:ext>
            </a:extLst>
          </p:cNvPr>
          <p:cNvCxnSpPr>
            <a:cxnSpLocks noChangeShapeType="1"/>
          </p:cNvCxnSpPr>
          <p:nvPr/>
        </p:nvCxnSpPr>
        <p:spPr bwMode="auto">
          <a:xfrm flipV="1">
            <a:off x="609600" y="1333500"/>
            <a:ext cx="7340600" cy="2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49180" name="TextBox 29">
            <a:extLst>
              <a:ext uri="{FF2B5EF4-FFF2-40B4-BE49-F238E27FC236}">
                <a16:creationId xmlns:a16="http://schemas.microsoft.com/office/drawing/2014/main" id="{DAAA4581-4EDE-7EA5-3308-14E7E2AC5FB9}"/>
              </a:ext>
            </a:extLst>
          </p:cNvPr>
          <p:cNvSpPr txBox="1">
            <a:spLocks noChangeArrowheads="1"/>
          </p:cNvSpPr>
          <p:nvPr/>
        </p:nvSpPr>
        <p:spPr bwMode="auto">
          <a:xfrm>
            <a:off x="660400" y="673100"/>
            <a:ext cx="7823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800">
                <a:latin typeface="Arial" panose="020B0604020202020204" pitchFamily="34" charset="0"/>
              </a:rPr>
              <a:t>There are several basic types of operations that are found</a:t>
            </a:r>
          </a:p>
          <a:p>
            <a:pPr>
              <a:spcBef>
                <a:spcPct val="0"/>
              </a:spcBef>
              <a:buFontTx/>
              <a:buNone/>
            </a:pPr>
            <a:r>
              <a:rPr lang="en-US" altLang="en-US" sz="1800">
                <a:latin typeface="Arial" panose="020B0604020202020204" pitchFamily="34" charset="0"/>
              </a:rPr>
              <a:t>in most instruction sets.   These are listed below.</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5D270060-E65C-B749-3A8B-A538EEFF45A0}"/>
              </a:ext>
            </a:extLst>
          </p:cNvPr>
          <p:cNvSpPr>
            <a:spLocks noGrp="1" noChangeArrowheads="1"/>
          </p:cNvSpPr>
          <p:nvPr>
            <p:ph type="title"/>
          </p:nvPr>
        </p:nvSpPr>
        <p:spPr>
          <a:xfrm>
            <a:off x="1524000" y="169863"/>
            <a:ext cx="6446838" cy="660400"/>
          </a:xfrm>
          <a:noFill/>
        </p:spPr>
        <p:txBody>
          <a:bodyPr wrap="none" lIns="63500" tIns="25400" rIns="63500" bIns="25400" anchor="t">
            <a:spAutoFit/>
          </a:bodyPr>
          <a:lstStyle/>
          <a:p>
            <a:r>
              <a:rPr lang="en-US" altLang="en-US">
                <a:latin typeface="Arial  " charset="0"/>
                <a:cs typeface="Arial  " charset="0"/>
              </a:rPr>
              <a:t>Top 10 IA-32 Instructions</a:t>
            </a:r>
          </a:p>
        </p:txBody>
      </p:sp>
      <p:sp>
        <p:nvSpPr>
          <p:cNvPr id="51202" name="Line 3">
            <a:extLst>
              <a:ext uri="{FF2B5EF4-FFF2-40B4-BE49-F238E27FC236}">
                <a16:creationId xmlns:a16="http://schemas.microsoft.com/office/drawing/2014/main" id="{DAED21D9-534A-3FCF-9781-B5735C270AFE}"/>
              </a:ext>
            </a:extLst>
          </p:cNvPr>
          <p:cNvSpPr>
            <a:spLocks noChangeShapeType="1"/>
          </p:cNvSpPr>
          <p:nvPr/>
        </p:nvSpPr>
        <p:spPr bwMode="auto">
          <a:xfrm>
            <a:off x="1981200" y="5257800"/>
            <a:ext cx="3733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03" name="Rectangle 4">
            <a:extLst>
              <a:ext uri="{FF2B5EF4-FFF2-40B4-BE49-F238E27FC236}">
                <a16:creationId xmlns:a16="http://schemas.microsoft.com/office/drawing/2014/main" id="{AFFEF358-5919-5E1C-7F42-B1E94D1D6A00}"/>
              </a:ext>
            </a:extLst>
          </p:cNvPr>
          <p:cNvSpPr>
            <a:spLocks noChangeArrowheads="1"/>
          </p:cNvSpPr>
          <p:nvPr/>
        </p:nvSpPr>
        <p:spPr bwMode="auto">
          <a:xfrm>
            <a:off x="1066800" y="1206500"/>
            <a:ext cx="5778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Rank</a:t>
            </a:r>
            <a:endParaRPr lang="en-US" altLang="en-US" sz="1800"/>
          </a:p>
        </p:txBody>
      </p:sp>
      <p:sp>
        <p:nvSpPr>
          <p:cNvPr id="51204" name="Rectangle 5">
            <a:extLst>
              <a:ext uri="{FF2B5EF4-FFF2-40B4-BE49-F238E27FC236}">
                <a16:creationId xmlns:a16="http://schemas.microsoft.com/office/drawing/2014/main" id="{3157E303-224C-6A41-6EB6-C7A746677CB4}"/>
              </a:ext>
            </a:extLst>
          </p:cNvPr>
          <p:cNvSpPr>
            <a:spLocks noChangeArrowheads="1"/>
          </p:cNvSpPr>
          <p:nvPr/>
        </p:nvSpPr>
        <p:spPr bwMode="auto">
          <a:xfrm>
            <a:off x="2195513" y="1206500"/>
            <a:ext cx="11922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Instruction</a:t>
            </a:r>
            <a:endParaRPr lang="en-US" altLang="en-US" sz="1800"/>
          </a:p>
        </p:txBody>
      </p:sp>
      <p:sp>
        <p:nvSpPr>
          <p:cNvPr id="51205" name="Rectangle 6">
            <a:extLst>
              <a:ext uri="{FF2B5EF4-FFF2-40B4-BE49-F238E27FC236}">
                <a16:creationId xmlns:a16="http://schemas.microsoft.com/office/drawing/2014/main" id="{E71AC4AF-58E9-C1D4-5A07-FD370D705E57}"/>
              </a:ext>
            </a:extLst>
          </p:cNvPr>
          <p:cNvSpPr>
            <a:spLocks noChangeArrowheads="1"/>
          </p:cNvSpPr>
          <p:nvPr/>
        </p:nvSpPr>
        <p:spPr bwMode="auto">
          <a:xfrm>
            <a:off x="4021138" y="1206500"/>
            <a:ext cx="44084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Integer Average (Percent total executed)</a:t>
            </a:r>
            <a:endParaRPr lang="en-US" altLang="en-US" sz="1800"/>
          </a:p>
        </p:txBody>
      </p:sp>
      <p:sp>
        <p:nvSpPr>
          <p:cNvPr id="51206" name="Rectangle 7">
            <a:extLst>
              <a:ext uri="{FF2B5EF4-FFF2-40B4-BE49-F238E27FC236}">
                <a16:creationId xmlns:a16="http://schemas.microsoft.com/office/drawing/2014/main" id="{B710743A-5807-C18A-B75D-F9EFB27AAB74}"/>
              </a:ext>
            </a:extLst>
          </p:cNvPr>
          <p:cNvSpPr>
            <a:spLocks noChangeArrowheads="1"/>
          </p:cNvSpPr>
          <p:nvPr/>
        </p:nvSpPr>
        <p:spPr bwMode="auto">
          <a:xfrm>
            <a:off x="1282700" y="1576388"/>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1</a:t>
            </a:r>
            <a:endParaRPr lang="en-US" altLang="en-US" sz="1800"/>
          </a:p>
        </p:txBody>
      </p:sp>
      <p:sp>
        <p:nvSpPr>
          <p:cNvPr id="51207" name="Rectangle 8">
            <a:extLst>
              <a:ext uri="{FF2B5EF4-FFF2-40B4-BE49-F238E27FC236}">
                <a16:creationId xmlns:a16="http://schemas.microsoft.com/office/drawing/2014/main" id="{7BD54521-0882-9B86-EEB8-5ABDBFF8B7B2}"/>
              </a:ext>
            </a:extLst>
          </p:cNvPr>
          <p:cNvSpPr>
            <a:spLocks noChangeArrowheads="1"/>
          </p:cNvSpPr>
          <p:nvPr/>
        </p:nvSpPr>
        <p:spPr bwMode="auto">
          <a:xfrm>
            <a:off x="2195513" y="1576388"/>
            <a:ext cx="4746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load</a:t>
            </a:r>
            <a:endParaRPr lang="en-US" altLang="en-US" sz="1800"/>
          </a:p>
        </p:txBody>
      </p:sp>
      <p:sp>
        <p:nvSpPr>
          <p:cNvPr id="51208" name="Rectangle 9">
            <a:extLst>
              <a:ext uri="{FF2B5EF4-FFF2-40B4-BE49-F238E27FC236}">
                <a16:creationId xmlns:a16="http://schemas.microsoft.com/office/drawing/2014/main" id="{EA747413-87C0-CEDC-0B26-4F092BC78BD7}"/>
              </a:ext>
            </a:extLst>
          </p:cNvPr>
          <p:cNvSpPr>
            <a:spLocks noChangeArrowheads="1"/>
          </p:cNvSpPr>
          <p:nvPr/>
        </p:nvSpPr>
        <p:spPr bwMode="auto">
          <a:xfrm>
            <a:off x="4933950" y="1576388"/>
            <a:ext cx="4619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22%</a:t>
            </a:r>
            <a:endParaRPr lang="en-US" altLang="en-US" sz="1800"/>
          </a:p>
        </p:txBody>
      </p:sp>
      <p:sp>
        <p:nvSpPr>
          <p:cNvPr id="51209" name="Rectangle 10">
            <a:extLst>
              <a:ext uri="{FF2B5EF4-FFF2-40B4-BE49-F238E27FC236}">
                <a16:creationId xmlns:a16="http://schemas.microsoft.com/office/drawing/2014/main" id="{D3CB9636-3023-5A09-2435-EE0F51988FEF}"/>
              </a:ext>
            </a:extLst>
          </p:cNvPr>
          <p:cNvSpPr>
            <a:spLocks noChangeArrowheads="1"/>
          </p:cNvSpPr>
          <p:nvPr/>
        </p:nvSpPr>
        <p:spPr bwMode="auto">
          <a:xfrm>
            <a:off x="1282700" y="1946275"/>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2</a:t>
            </a:r>
            <a:endParaRPr lang="en-US" altLang="en-US" sz="1800"/>
          </a:p>
        </p:txBody>
      </p:sp>
      <p:sp>
        <p:nvSpPr>
          <p:cNvPr id="51210" name="Rectangle 11">
            <a:extLst>
              <a:ext uri="{FF2B5EF4-FFF2-40B4-BE49-F238E27FC236}">
                <a16:creationId xmlns:a16="http://schemas.microsoft.com/office/drawing/2014/main" id="{DB78B149-FE71-180A-810B-BCE7802C6785}"/>
              </a:ext>
            </a:extLst>
          </p:cNvPr>
          <p:cNvSpPr>
            <a:spLocks noChangeArrowheads="1"/>
          </p:cNvSpPr>
          <p:nvPr/>
        </p:nvSpPr>
        <p:spPr bwMode="auto">
          <a:xfrm>
            <a:off x="2195513" y="1946275"/>
            <a:ext cx="20653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conditional branch</a:t>
            </a:r>
            <a:endParaRPr lang="en-US" altLang="en-US" sz="1800"/>
          </a:p>
        </p:txBody>
      </p:sp>
      <p:sp>
        <p:nvSpPr>
          <p:cNvPr id="51211" name="Rectangle 12">
            <a:extLst>
              <a:ext uri="{FF2B5EF4-FFF2-40B4-BE49-F238E27FC236}">
                <a16:creationId xmlns:a16="http://schemas.microsoft.com/office/drawing/2014/main" id="{415DE8D8-5F48-0ACC-BA83-E41FC16CBF9B}"/>
              </a:ext>
            </a:extLst>
          </p:cNvPr>
          <p:cNvSpPr>
            <a:spLocks noChangeArrowheads="1"/>
          </p:cNvSpPr>
          <p:nvPr/>
        </p:nvSpPr>
        <p:spPr bwMode="auto">
          <a:xfrm>
            <a:off x="4933950" y="1946275"/>
            <a:ext cx="4619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20%</a:t>
            </a:r>
            <a:endParaRPr lang="en-US" altLang="en-US" sz="1800"/>
          </a:p>
        </p:txBody>
      </p:sp>
      <p:sp>
        <p:nvSpPr>
          <p:cNvPr id="51212" name="Rectangle 13">
            <a:extLst>
              <a:ext uri="{FF2B5EF4-FFF2-40B4-BE49-F238E27FC236}">
                <a16:creationId xmlns:a16="http://schemas.microsoft.com/office/drawing/2014/main" id="{38B5098A-3A8A-2863-08F8-5DF4488F2225}"/>
              </a:ext>
            </a:extLst>
          </p:cNvPr>
          <p:cNvSpPr>
            <a:spLocks noChangeArrowheads="1"/>
          </p:cNvSpPr>
          <p:nvPr/>
        </p:nvSpPr>
        <p:spPr bwMode="auto">
          <a:xfrm>
            <a:off x="1282700" y="2317750"/>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3</a:t>
            </a:r>
            <a:endParaRPr lang="en-US" altLang="en-US" sz="1800"/>
          </a:p>
        </p:txBody>
      </p:sp>
      <p:sp>
        <p:nvSpPr>
          <p:cNvPr id="51213" name="Rectangle 14">
            <a:extLst>
              <a:ext uri="{FF2B5EF4-FFF2-40B4-BE49-F238E27FC236}">
                <a16:creationId xmlns:a16="http://schemas.microsoft.com/office/drawing/2014/main" id="{ED91B106-A79A-18BA-CD59-6AEC4467BA33}"/>
              </a:ext>
            </a:extLst>
          </p:cNvPr>
          <p:cNvSpPr>
            <a:spLocks noChangeArrowheads="1"/>
          </p:cNvSpPr>
          <p:nvPr/>
        </p:nvSpPr>
        <p:spPr bwMode="auto">
          <a:xfrm>
            <a:off x="2195513" y="2317750"/>
            <a:ext cx="9620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compare</a:t>
            </a:r>
            <a:endParaRPr lang="en-US" altLang="en-US" sz="1800"/>
          </a:p>
        </p:txBody>
      </p:sp>
      <p:sp>
        <p:nvSpPr>
          <p:cNvPr id="51214" name="Rectangle 15">
            <a:extLst>
              <a:ext uri="{FF2B5EF4-FFF2-40B4-BE49-F238E27FC236}">
                <a16:creationId xmlns:a16="http://schemas.microsoft.com/office/drawing/2014/main" id="{C5532FA8-16BB-7486-45EF-32B7920C9880}"/>
              </a:ext>
            </a:extLst>
          </p:cNvPr>
          <p:cNvSpPr>
            <a:spLocks noChangeArrowheads="1"/>
          </p:cNvSpPr>
          <p:nvPr/>
        </p:nvSpPr>
        <p:spPr bwMode="auto">
          <a:xfrm>
            <a:off x="4933950" y="2317750"/>
            <a:ext cx="4619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16%</a:t>
            </a:r>
            <a:endParaRPr lang="en-US" altLang="en-US" sz="1800"/>
          </a:p>
        </p:txBody>
      </p:sp>
      <p:sp>
        <p:nvSpPr>
          <p:cNvPr id="51215" name="Rectangle 16">
            <a:extLst>
              <a:ext uri="{FF2B5EF4-FFF2-40B4-BE49-F238E27FC236}">
                <a16:creationId xmlns:a16="http://schemas.microsoft.com/office/drawing/2014/main" id="{EFAA78BC-5C05-800F-34D2-9C998CEBB3EF}"/>
              </a:ext>
            </a:extLst>
          </p:cNvPr>
          <p:cNvSpPr>
            <a:spLocks noChangeArrowheads="1"/>
          </p:cNvSpPr>
          <p:nvPr/>
        </p:nvSpPr>
        <p:spPr bwMode="auto">
          <a:xfrm>
            <a:off x="1282700" y="2687638"/>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4</a:t>
            </a:r>
            <a:endParaRPr lang="en-US" altLang="en-US" sz="1800"/>
          </a:p>
        </p:txBody>
      </p:sp>
      <p:sp>
        <p:nvSpPr>
          <p:cNvPr id="51216" name="Rectangle 17">
            <a:extLst>
              <a:ext uri="{FF2B5EF4-FFF2-40B4-BE49-F238E27FC236}">
                <a16:creationId xmlns:a16="http://schemas.microsoft.com/office/drawing/2014/main" id="{0D12C050-6254-3492-BA86-E0DF4CACFF94}"/>
              </a:ext>
            </a:extLst>
          </p:cNvPr>
          <p:cNvSpPr>
            <a:spLocks noChangeArrowheads="1"/>
          </p:cNvSpPr>
          <p:nvPr/>
        </p:nvSpPr>
        <p:spPr bwMode="auto">
          <a:xfrm>
            <a:off x="2195513" y="2687638"/>
            <a:ext cx="5651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store</a:t>
            </a:r>
            <a:endParaRPr lang="en-US" altLang="en-US" sz="1800"/>
          </a:p>
        </p:txBody>
      </p:sp>
      <p:sp>
        <p:nvSpPr>
          <p:cNvPr id="51217" name="Rectangle 18">
            <a:extLst>
              <a:ext uri="{FF2B5EF4-FFF2-40B4-BE49-F238E27FC236}">
                <a16:creationId xmlns:a16="http://schemas.microsoft.com/office/drawing/2014/main" id="{5547F118-F06F-0677-E4C3-06D186CFE991}"/>
              </a:ext>
            </a:extLst>
          </p:cNvPr>
          <p:cNvSpPr>
            <a:spLocks noChangeArrowheads="1"/>
          </p:cNvSpPr>
          <p:nvPr/>
        </p:nvSpPr>
        <p:spPr bwMode="auto">
          <a:xfrm>
            <a:off x="4933950" y="2687638"/>
            <a:ext cx="4619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12%</a:t>
            </a:r>
            <a:endParaRPr lang="en-US" altLang="en-US" sz="1800"/>
          </a:p>
        </p:txBody>
      </p:sp>
      <p:sp>
        <p:nvSpPr>
          <p:cNvPr id="51218" name="Rectangle 19">
            <a:extLst>
              <a:ext uri="{FF2B5EF4-FFF2-40B4-BE49-F238E27FC236}">
                <a16:creationId xmlns:a16="http://schemas.microsoft.com/office/drawing/2014/main" id="{EB42E80E-6FD7-FC32-BFCE-F2B79C884BEE}"/>
              </a:ext>
            </a:extLst>
          </p:cNvPr>
          <p:cNvSpPr>
            <a:spLocks noChangeArrowheads="1"/>
          </p:cNvSpPr>
          <p:nvPr/>
        </p:nvSpPr>
        <p:spPr bwMode="auto">
          <a:xfrm>
            <a:off x="1282700" y="3059113"/>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5</a:t>
            </a:r>
            <a:endParaRPr lang="en-US" altLang="en-US" sz="1800"/>
          </a:p>
        </p:txBody>
      </p:sp>
      <p:sp>
        <p:nvSpPr>
          <p:cNvPr id="51219" name="Rectangle 20">
            <a:extLst>
              <a:ext uri="{FF2B5EF4-FFF2-40B4-BE49-F238E27FC236}">
                <a16:creationId xmlns:a16="http://schemas.microsoft.com/office/drawing/2014/main" id="{BC45316E-46BC-98C3-4FA5-9C1045E3ABEA}"/>
              </a:ext>
            </a:extLst>
          </p:cNvPr>
          <p:cNvSpPr>
            <a:spLocks noChangeArrowheads="1"/>
          </p:cNvSpPr>
          <p:nvPr/>
        </p:nvSpPr>
        <p:spPr bwMode="auto">
          <a:xfrm>
            <a:off x="2195513" y="3059113"/>
            <a:ext cx="4111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add</a:t>
            </a:r>
            <a:endParaRPr lang="en-US" altLang="en-US" sz="1800"/>
          </a:p>
        </p:txBody>
      </p:sp>
      <p:sp>
        <p:nvSpPr>
          <p:cNvPr id="51220" name="Rectangle 21">
            <a:extLst>
              <a:ext uri="{FF2B5EF4-FFF2-40B4-BE49-F238E27FC236}">
                <a16:creationId xmlns:a16="http://schemas.microsoft.com/office/drawing/2014/main" id="{A5D1868D-18E9-0369-536B-81BC40460501}"/>
              </a:ext>
            </a:extLst>
          </p:cNvPr>
          <p:cNvSpPr>
            <a:spLocks noChangeArrowheads="1"/>
          </p:cNvSpPr>
          <p:nvPr/>
        </p:nvSpPr>
        <p:spPr bwMode="auto">
          <a:xfrm>
            <a:off x="4933950" y="3059113"/>
            <a:ext cx="333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8%</a:t>
            </a:r>
            <a:endParaRPr lang="en-US" altLang="en-US" sz="1800"/>
          </a:p>
        </p:txBody>
      </p:sp>
      <p:sp>
        <p:nvSpPr>
          <p:cNvPr id="51221" name="Rectangle 22">
            <a:extLst>
              <a:ext uri="{FF2B5EF4-FFF2-40B4-BE49-F238E27FC236}">
                <a16:creationId xmlns:a16="http://schemas.microsoft.com/office/drawing/2014/main" id="{C30F0361-5BD5-A6F7-74B1-EA600A2962A0}"/>
              </a:ext>
            </a:extLst>
          </p:cNvPr>
          <p:cNvSpPr>
            <a:spLocks noChangeArrowheads="1"/>
          </p:cNvSpPr>
          <p:nvPr/>
        </p:nvSpPr>
        <p:spPr bwMode="auto">
          <a:xfrm>
            <a:off x="1282700" y="3429000"/>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6</a:t>
            </a:r>
            <a:endParaRPr lang="en-US" altLang="en-US" sz="1800"/>
          </a:p>
        </p:txBody>
      </p:sp>
      <p:sp>
        <p:nvSpPr>
          <p:cNvPr id="51222" name="Rectangle 23">
            <a:extLst>
              <a:ext uri="{FF2B5EF4-FFF2-40B4-BE49-F238E27FC236}">
                <a16:creationId xmlns:a16="http://schemas.microsoft.com/office/drawing/2014/main" id="{749AA342-8B56-8E41-CA02-00ED4C64C0F2}"/>
              </a:ext>
            </a:extLst>
          </p:cNvPr>
          <p:cNvSpPr>
            <a:spLocks noChangeArrowheads="1"/>
          </p:cNvSpPr>
          <p:nvPr/>
        </p:nvSpPr>
        <p:spPr bwMode="auto">
          <a:xfrm>
            <a:off x="2195513" y="3429000"/>
            <a:ext cx="4111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and</a:t>
            </a:r>
            <a:endParaRPr lang="en-US" altLang="en-US" sz="1800"/>
          </a:p>
        </p:txBody>
      </p:sp>
      <p:sp>
        <p:nvSpPr>
          <p:cNvPr id="51223" name="Rectangle 24">
            <a:extLst>
              <a:ext uri="{FF2B5EF4-FFF2-40B4-BE49-F238E27FC236}">
                <a16:creationId xmlns:a16="http://schemas.microsoft.com/office/drawing/2014/main" id="{21928DDE-B473-D090-6C37-7FB5F6300BC2}"/>
              </a:ext>
            </a:extLst>
          </p:cNvPr>
          <p:cNvSpPr>
            <a:spLocks noChangeArrowheads="1"/>
          </p:cNvSpPr>
          <p:nvPr/>
        </p:nvSpPr>
        <p:spPr bwMode="auto">
          <a:xfrm>
            <a:off x="4933950" y="3429000"/>
            <a:ext cx="333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6%</a:t>
            </a:r>
            <a:endParaRPr lang="en-US" altLang="en-US" sz="1800"/>
          </a:p>
        </p:txBody>
      </p:sp>
      <p:sp>
        <p:nvSpPr>
          <p:cNvPr id="51224" name="Rectangle 25">
            <a:extLst>
              <a:ext uri="{FF2B5EF4-FFF2-40B4-BE49-F238E27FC236}">
                <a16:creationId xmlns:a16="http://schemas.microsoft.com/office/drawing/2014/main" id="{5D5B6EDA-BA79-2D87-3C25-391E363B3669}"/>
              </a:ext>
            </a:extLst>
          </p:cNvPr>
          <p:cNvSpPr>
            <a:spLocks noChangeArrowheads="1"/>
          </p:cNvSpPr>
          <p:nvPr/>
        </p:nvSpPr>
        <p:spPr bwMode="auto">
          <a:xfrm>
            <a:off x="1282700" y="3798888"/>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7</a:t>
            </a:r>
            <a:endParaRPr lang="en-US" altLang="en-US" sz="1800"/>
          </a:p>
        </p:txBody>
      </p:sp>
      <p:sp>
        <p:nvSpPr>
          <p:cNvPr id="51225" name="Rectangle 26">
            <a:extLst>
              <a:ext uri="{FF2B5EF4-FFF2-40B4-BE49-F238E27FC236}">
                <a16:creationId xmlns:a16="http://schemas.microsoft.com/office/drawing/2014/main" id="{1F3547B6-9CD0-C377-EC4D-D2EAC58D3CC6}"/>
              </a:ext>
            </a:extLst>
          </p:cNvPr>
          <p:cNvSpPr>
            <a:spLocks noChangeArrowheads="1"/>
          </p:cNvSpPr>
          <p:nvPr/>
        </p:nvSpPr>
        <p:spPr bwMode="auto">
          <a:xfrm>
            <a:off x="2195513" y="3798888"/>
            <a:ext cx="4111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sub</a:t>
            </a:r>
            <a:endParaRPr lang="en-US" altLang="en-US" sz="1800"/>
          </a:p>
        </p:txBody>
      </p:sp>
      <p:sp>
        <p:nvSpPr>
          <p:cNvPr id="51226" name="Rectangle 27">
            <a:extLst>
              <a:ext uri="{FF2B5EF4-FFF2-40B4-BE49-F238E27FC236}">
                <a16:creationId xmlns:a16="http://schemas.microsoft.com/office/drawing/2014/main" id="{5996AC7E-90BB-8BB9-38D1-C3483AC31403}"/>
              </a:ext>
            </a:extLst>
          </p:cNvPr>
          <p:cNvSpPr>
            <a:spLocks noChangeArrowheads="1"/>
          </p:cNvSpPr>
          <p:nvPr/>
        </p:nvSpPr>
        <p:spPr bwMode="auto">
          <a:xfrm>
            <a:off x="4933950" y="3798888"/>
            <a:ext cx="333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5%</a:t>
            </a:r>
            <a:endParaRPr lang="en-US" altLang="en-US" sz="1800"/>
          </a:p>
        </p:txBody>
      </p:sp>
      <p:sp>
        <p:nvSpPr>
          <p:cNvPr id="51227" name="Rectangle 28">
            <a:extLst>
              <a:ext uri="{FF2B5EF4-FFF2-40B4-BE49-F238E27FC236}">
                <a16:creationId xmlns:a16="http://schemas.microsoft.com/office/drawing/2014/main" id="{2EE63AF1-71AE-989D-F84F-DB00268E0274}"/>
              </a:ext>
            </a:extLst>
          </p:cNvPr>
          <p:cNvSpPr>
            <a:spLocks noChangeArrowheads="1"/>
          </p:cNvSpPr>
          <p:nvPr/>
        </p:nvSpPr>
        <p:spPr bwMode="auto">
          <a:xfrm>
            <a:off x="1282700" y="4170363"/>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8</a:t>
            </a:r>
            <a:endParaRPr lang="en-US" altLang="en-US" sz="1800"/>
          </a:p>
        </p:txBody>
      </p:sp>
      <p:sp>
        <p:nvSpPr>
          <p:cNvPr id="51228" name="Rectangle 29">
            <a:extLst>
              <a:ext uri="{FF2B5EF4-FFF2-40B4-BE49-F238E27FC236}">
                <a16:creationId xmlns:a16="http://schemas.microsoft.com/office/drawing/2014/main" id="{5B918ABA-62F9-2933-D592-8C9D5138915A}"/>
              </a:ext>
            </a:extLst>
          </p:cNvPr>
          <p:cNvSpPr>
            <a:spLocks noChangeArrowheads="1"/>
          </p:cNvSpPr>
          <p:nvPr/>
        </p:nvSpPr>
        <p:spPr bwMode="auto">
          <a:xfrm>
            <a:off x="2195513" y="4170363"/>
            <a:ext cx="24368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move register-register</a:t>
            </a:r>
            <a:endParaRPr lang="en-US" altLang="en-US" sz="1800"/>
          </a:p>
        </p:txBody>
      </p:sp>
      <p:sp>
        <p:nvSpPr>
          <p:cNvPr id="51229" name="Rectangle 30">
            <a:extLst>
              <a:ext uri="{FF2B5EF4-FFF2-40B4-BE49-F238E27FC236}">
                <a16:creationId xmlns:a16="http://schemas.microsoft.com/office/drawing/2014/main" id="{0996253F-6F7F-2478-E179-E96CFEB6972B}"/>
              </a:ext>
            </a:extLst>
          </p:cNvPr>
          <p:cNvSpPr>
            <a:spLocks noChangeArrowheads="1"/>
          </p:cNvSpPr>
          <p:nvPr/>
        </p:nvSpPr>
        <p:spPr bwMode="auto">
          <a:xfrm>
            <a:off x="4932363" y="4170363"/>
            <a:ext cx="333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4%</a:t>
            </a:r>
            <a:endParaRPr lang="en-US" altLang="en-US" sz="1800"/>
          </a:p>
        </p:txBody>
      </p:sp>
      <p:sp>
        <p:nvSpPr>
          <p:cNvPr id="51230" name="Rectangle 31">
            <a:extLst>
              <a:ext uri="{FF2B5EF4-FFF2-40B4-BE49-F238E27FC236}">
                <a16:creationId xmlns:a16="http://schemas.microsoft.com/office/drawing/2014/main" id="{E328469F-A88A-88BC-7221-E95BCFE26D40}"/>
              </a:ext>
            </a:extLst>
          </p:cNvPr>
          <p:cNvSpPr>
            <a:spLocks noChangeArrowheads="1"/>
          </p:cNvSpPr>
          <p:nvPr/>
        </p:nvSpPr>
        <p:spPr bwMode="auto">
          <a:xfrm>
            <a:off x="1282700" y="4540250"/>
            <a:ext cx="1285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9</a:t>
            </a:r>
            <a:endParaRPr lang="en-US" altLang="en-US" sz="1800"/>
          </a:p>
        </p:txBody>
      </p:sp>
      <p:sp>
        <p:nvSpPr>
          <p:cNvPr id="51231" name="Rectangle 32">
            <a:extLst>
              <a:ext uri="{FF2B5EF4-FFF2-40B4-BE49-F238E27FC236}">
                <a16:creationId xmlns:a16="http://schemas.microsoft.com/office/drawing/2014/main" id="{61070017-EBC3-03DF-FC13-D1B36FD675BC}"/>
              </a:ext>
            </a:extLst>
          </p:cNvPr>
          <p:cNvSpPr>
            <a:spLocks noChangeArrowheads="1"/>
          </p:cNvSpPr>
          <p:nvPr/>
        </p:nvSpPr>
        <p:spPr bwMode="auto">
          <a:xfrm>
            <a:off x="2195513" y="4540250"/>
            <a:ext cx="3857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call</a:t>
            </a:r>
            <a:endParaRPr lang="en-US" altLang="en-US" sz="1800"/>
          </a:p>
        </p:txBody>
      </p:sp>
      <p:sp>
        <p:nvSpPr>
          <p:cNvPr id="51232" name="Rectangle 33">
            <a:extLst>
              <a:ext uri="{FF2B5EF4-FFF2-40B4-BE49-F238E27FC236}">
                <a16:creationId xmlns:a16="http://schemas.microsoft.com/office/drawing/2014/main" id="{ECF3871B-366D-5795-25F3-3B41BEB399B2}"/>
              </a:ext>
            </a:extLst>
          </p:cNvPr>
          <p:cNvSpPr>
            <a:spLocks noChangeArrowheads="1"/>
          </p:cNvSpPr>
          <p:nvPr/>
        </p:nvSpPr>
        <p:spPr bwMode="auto">
          <a:xfrm>
            <a:off x="4933950" y="4540250"/>
            <a:ext cx="333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1%</a:t>
            </a:r>
            <a:endParaRPr lang="en-US" altLang="en-US" sz="1800"/>
          </a:p>
        </p:txBody>
      </p:sp>
      <p:sp>
        <p:nvSpPr>
          <p:cNvPr id="51233" name="Rectangle 34">
            <a:extLst>
              <a:ext uri="{FF2B5EF4-FFF2-40B4-BE49-F238E27FC236}">
                <a16:creationId xmlns:a16="http://schemas.microsoft.com/office/drawing/2014/main" id="{CD0BD6FD-418F-AFAA-E0BF-FF7D378450EE}"/>
              </a:ext>
            </a:extLst>
          </p:cNvPr>
          <p:cNvSpPr>
            <a:spLocks noChangeArrowheads="1"/>
          </p:cNvSpPr>
          <p:nvPr/>
        </p:nvSpPr>
        <p:spPr bwMode="auto">
          <a:xfrm>
            <a:off x="1282700" y="4910138"/>
            <a:ext cx="257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10</a:t>
            </a:r>
            <a:endParaRPr lang="en-US" altLang="en-US" sz="1800"/>
          </a:p>
        </p:txBody>
      </p:sp>
      <p:sp>
        <p:nvSpPr>
          <p:cNvPr id="51234" name="Rectangle 35">
            <a:extLst>
              <a:ext uri="{FF2B5EF4-FFF2-40B4-BE49-F238E27FC236}">
                <a16:creationId xmlns:a16="http://schemas.microsoft.com/office/drawing/2014/main" id="{18AFF397-4C4A-47C5-99AC-D5361C9140CB}"/>
              </a:ext>
            </a:extLst>
          </p:cNvPr>
          <p:cNvSpPr>
            <a:spLocks noChangeArrowheads="1"/>
          </p:cNvSpPr>
          <p:nvPr/>
        </p:nvSpPr>
        <p:spPr bwMode="auto">
          <a:xfrm>
            <a:off x="2195513" y="4910138"/>
            <a:ext cx="666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return</a:t>
            </a:r>
            <a:endParaRPr lang="en-US" altLang="en-US" sz="1800"/>
          </a:p>
        </p:txBody>
      </p:sp>
      <p:sp>
        <p:nvSpPr>
          <p:cNvPr id="51235" name="Rectangle 36">
            <a:extLst>
              <a:ext uri="{FF2B5EF4-FFF2-40B4-BE49-F238E27FC236}">
                <a16:creationId xmlns:a16="http://schemas.microsoft.com/office/drawing/2014/main" id="{FE76A132-C40A-22DC-79E2-BFAE95E88A2C}"/>
              </a:ext>
            </a:extLst>
          </p:cNvPr>
          <p:cNvSpPr>
            <a:spLocks noChangeArrowheads="1"/>
          </p:cNvSpPr>
          <p:nvPr/>
        </p:nvSpPr>
        <p:spPr bwMode="auto">
          <a:xfrm>
            <a:off x="4933950" y="4910138"/>
            <a:ext cx="333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1%</a:t>
            </a:r>
            <a:endParaRPr lang="en-US" altLang="en-US" sz="1800"/>
          </a:p>
        </p:txBody>
      </p:sp>
      <p:sp>
        <p:nvSpPr>
          <p:cNvPr id="51236" name="Rectangle 37">
            <a:extLst>
              <a:ext uri="{FF2B5EF4-FFF2-40B4-BE49-F238E27FC236}">
                <a16:creationId xmlns:a16="http://schemas.microsoft.com/office/drawing/2014/main" id="{663D5E36-90E1-2E45-2CD9-934329899A34}"/>
              </a:ext>
            </a:extLst>
          </p:cNvPr>
          <p:cNvSpPr>
            <a:spLocks noChangeArrowheads="1"/>
          </p:cNvSpPr>
          <p:nvPr/>
        </p:nvSpPr>
        <p:spPr bwMode="auto">
          <a:xfrm>
            <a:off x="2195513" y="5281613"/>
            <a:ext cx="5349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Total</a:t>
            </a:r>
            <a:endParaRPr lang="en-US" altLang="en-US" sz="1800"/>
          </a:p>
        </p:txBody>
      </p:sp>
      <p:sp>
        <p:nvSpPr>
          <p:cNvPr id="51237" name="Rectangle 38">
            <a:extLst>
              <a:ext uri="{FF2B5EF4-FFF2-40B4-BE49-F238E27FC236}">
                <a16:creationId xmlns:a16="http://schemas.microsoft.com/office/drawing/2014/main" id="{394AB179-7749-A013-6C69-EFDC31B530E1}"/>
              </a:ext>
            </a:extLst>
          </p:cNvPr>
          <p:cNvSpPr>
            <a:spLocks noChangeArrowheads="1"/>
          </p:cNvSpPr>
          <p:nvPr/>
        </p:nvSpPr>
        <p:spPr bwMode="auto">
          <a:xfrm>
            <a:off x="4932363" y="5281613"/>
            <a:ext cx="4619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buFontTx/>
              <a:buNone/>
            </a:pPr>
            <a:r>
              <a:rPr lang="en-US" altLang="en-US" sz="1800" b="1">
                <a:solidFill>
                  <a:srgbClr val="000000"/>
                </a:solidFill>
              </a:rPr>
              <a:t>96%</a:t>
            </a:r>
            <a:endParaRPr lang="en-US" altLang="en-US" sz="1800"/>
          </a:p>
        </p:txBody>
      </p:sp>
      <p:sp>
        <p:nvSpPr>
          <p:cNvPr id="51238" name="Rectangle 39">
            <a:extLst>
              <a:ext uri="{FF2B5EF4-FFF2-40B4-BE49-F238E27FC236}">
                <a16:creationId xmlns:a16="http://schemas.microsoft.com/office/drawing/2014/main" id="{90A298B9-419A-8CF1-D6F6-8AA9FFC8A652}"/>
              </a:ext>
            </a:extLst>
          </p:cNvPr>
          <p:cNvSpPr>
            <a:spLocks noChangeArrowheads="1"/>
          </p:cNvSpPr>
          <p:nvPr/>
        </p:nvSpPr>
        <p:spPr bwMode="auto">
          <a:xfrm>
            <a:off x="1485900" y="5829300"/>
            <a:ext cx="58864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eaLnBrk="1" hangingPunct="1">
              <a:spcBef>
                <a:spcPct val="0"/>
              </a:spcBef>
            </a:pPr>
            <a:r>
              <a:rPr lang="en-US" altLang="en-US" sz="1800" b="1">
                <a:solidFill>
                  <a:srgbClr val="000000"/>
                </a:solidFill>
              </a:rPr>
              <a:t>  </a:t>
            </a:r>
            <a:r>
              <a:rPr lang="en-US" altLang="en-US" sz="1800" b="1" u="sng">
                <a:solidFill>
                  <a:srgbClr val="FF0000"/>
                </a:solidFill>
              </a:rPr>
              <a:t>Simple</a:t>
            </a:r>
            <a:r>
              <a:rPr lang="en-US" altLang="en-US" sz="1800" b="1">
                <a:solidFill>
                  <a:srgbClr val="FF0000"/>
                </a:solidFill>
              </a:rPr>
              <a:t> instructions dominate instruction frequency</a:t>
            </a:r>
            <a:endParaRPr lang="en-US" altLang="en-US" sz="1800"/>
          </a:p>
        </p:txBody>
      </p:sp>
      <p:sp>
        <p:nvSpPr>
          <p:cNvPr id="51239" name="Slide Number Placeholder 42">
            <a:extLst>
              <a:ext uri="{FF2B5EF4-FFF2-40B4-BE49-F238E27FC236}">
                <a16:creationId xmlns:a16="http://schemas.microsoft.com/office/drawing/2014/main" id="{3341EC1B-AFD2-5563-BCAB-2439260724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D6246966-1223-7D4C-BD11-E5165B6CFC9B}" type="slidenum">
              <a:rPr lang="en-US" altLang="en-US" sz="1400"/>
              <a:pPr>
                <a:spcBef>
                  <a:spcPct val="0"/>
                </a:spcBef>
                <a:buFontTx/>
                <a:buNone/>
              </a:pPr>
              <a:t>18</a:t>
            </a:fld>
            <a:r>
              <a:rPr lang="en-US" altLang="en-US" sz="1400"/>
              <a:t>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Picture 4" descr="Ch2-fig23">
            <a:extLst>
              <a:ext uri="{FF2B5EF4-FFF2-40B4-BE49-F238E27FC236}">
                <a16:creationId xmlns:a16="http://schemas.microsoft.com/office/drawing/2014/main" id="{C1D72FED-AF0B-F39D-7FA3-9E6C457FB9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300" y="2155825"/>
            <a:ext cx="4751388"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2" name="Rectangle 2">
            <a:extLst>
              <a:ext uri="{FF2B5EF4-FFF2-40B4-BE49-F238E27FC236}">
                <a16:creationId xmlns:a16="http://schemas.microsoft.com/office/drawing/2014/main" id="{C0FBCCBB-AA94-F5CA-3916-3DBE337B96E7}"/>
              </a:ext>
            </a:extLst>
          </p:cNvPr>
          <p:cNvSpPr>
            <a:spLocks noGrp="1" noChangeArrowheads="1"/>
          </p:cNvSpPr>
          <p:nvPr>
            <p:ph type="title"/>
          </p:nvPr>
        </p:nvSpPr>
        <p:spPr>
          <a:xfrm>
            <a:off x="685800" y="0"/>
            <a:ext cx="7772400" cy="965200"/>
          </a:xfrm>
        </p:spPr>
        <p:txBody>
          <a:bodyPr/>
          <a:lstStyle/>
          <a:p>
            <a:r>
              <a:rPr lang="en-US" altLang="en-US">
                <a:latin typeface="Arial  " charset="0"/>
                <a:cs typeface="Arial  " charset="0"/>
              </a:rPr>
              <a:t>Encoding an ISA</a:t>
            </a:r>
          </a:p>
        </p:txBody>
      </p:sp>
      <p:sp>
        <p:nvSpPr>
          <p:cNvPr id="61443" name="Rectangle 3">
            <a:extLst>
              <a:ext uri="{FF2B5EF4-FFF2-40B4-BE49-F238E27FC236}">
                <a16:creationId xmlns:a16="http://schemas.microsoft.com/office/drawing/2014/main" id="{4B643F6F-B73D-87D9-BB91-67C34D84F324}"/>
              </a:ext>
            </a:extLst>
          </p:cNvPr>
          <p:cNvSpPr>
            <a:spLocks noGrp="1" noChangeArrowheads="1"/>
          </p:cNvSpPr>
          <p:nvPr>
            <p:ph type="body" idx="1"/>
          </p:nvPr>
        </p:nvSpPr>
        <p:spPr>
          <a:xfrm>
            <a:off x="4445000" y="1879600"/>
            <a:ext cx="4305300" cy="4724400"/>
          </a:xfrm>
          <a:solidFill>
            <a:srgbClr val="FFFFFF"/>
          </a:solidFill>
        </p:spPr>
        <p:txBody>
          <a:bodyPr/>
          <a:lstStyle/>
          <a:p>
            <a:pPr>
              <a:lnSpc>
                <a:spcPct val="90000"/>
              </a:lnSpc>
              <a:buFontTx/>
              <a:buNone/>
            </a:pPr>
            <a:r>
              <a:rPr lang="en-US" altLang="en-US" sz="1800" dirty="0">
                <a:latin typeface="Arial  " charset="0"/>
                <a:cs typeface="Arial  " charset="0"/>
              </a:rPr>
              <a:t>	One important question is whether instructions are all encoded with the same number of bits.  The options are “variable” encoding (each instruction can be a different size); “fixed” encoding (all instruction same), or a “hybrid” (where there may be a </a:t>
            </a:r>
            <a:r>
              <a:rPr lang="en-US" altLang="en-US" sz="1800" dirty="0">
                <a:solidFill>
                  <a:srgbClr val="000000"/>
                </a:solidFill>
                <a:latin typeface="Arial  " charset="0"/>
                <a:cs typeface="Arial  " charset="0"/>
              </a:rPr>
              <a:t>limited </a:t>
            </a:r>
            <a:r>
              <a:rPr lang="en-US" altLang="en-US" sz="1800" dirty="0">
                <a:latin typeface="Arial  " charset="0"/>
                <a:cs typeface="Arial  " charset="0"/>
              </a:rPr>
              <a:t>number of instruction sizes).</a:t>
            </a:r>
          </a:p>
          <a:p>
            <a:pPr>
              <a:lnSpc>
                <a:spcPct val="90000"/>
              </a:lnSpc>
              <a:buFontTx/>
              <a:buNone/>
            </a:pPr>
            <a:endParaRPr lang="en-US" altLang="en-US" sz="1800" dirty="0">
              <a:latin typeface="Arial  " charset="0"/>
              <a:cs typeface="Arial  " charset="0"/>
            </a:endParaRPr>
          </a:p>
          <a:p>
            <a:pPr>
              <a:lnSpc>
                <a:spcPct val="90000"/>
              </a:lnSpc>
              <a:buFontTx/>
              <a:buNone/>
            </a:pPr>
            <a:r>
              <a:rPr lang="en-US" altLang="en-US" sz="1800" dirty="0">
                <a:latin typeface="Arial  " charset="0"/>
                <a:cs typeface="Arial  " charset="0"/>
              </a:rPr>
              <a:t>	Choice influenced by </a:t>
            </a:r>
            <a:r>
              <a:rPr lang="en-US" altLang="en-US" sz="1800" u="sng" dirty="0">
                <a:latin typeface="Arial  " charset="0"/>
                <a:cs typeface="Arial  " charset="0"/>
              </a:rPr>
              <a:t>competing forces</a:t>
            </a:r>
            <a:r>
              <a:rPr lang="en-US" altLang="en-US" sz="1800" dirty="0">
                <a:latin typeface="Arial  " charset="0"/>
                <a:cs typeface="Arial  " charset="0"/>
              </a:rPr>
              <a:t>: </a:t>
            </a:r>
          </a:p>
          <a:p>
            <a:pPr lvl="1">
              <a:lnSpc>
                <a:spcPct val="90000"/>
              </a:lnSpc>
            </a:pPr>
            <a:r>
              <a:rPr lang="en-US" altLang="en-US" sz="1800" dirty="0">
                <a:latin typeface="Arial  " charset="0"/>
                <a:cs typeface="Arial  " charset="0"/>
              </a:rPr>
              <a:t>desire to have large # of registers + addressing modes</a:t>
            </a:r>
          </a:p>
          <a:p>
            <a:pPr lvl="1">
              <a:lnSpc>
                <a:spcPct val="90000"/>
              </a:lnSpc>
            </a:pPr>
            <a:r>
              <a:rPr lang="en-US" altLang="en-US" sz="1800" dirty="0">
                <a:latin typeface="Arial  " charset="0"/>
                <a:cs typeface="Arial  " charset="0"/>
              </a:rPr>
              <a:t>code density</a:t>
            </a:r>
          </a:p>
          <a:p>
            <a:pPr lvl="1">
              <a:lnSpc>
                <a:spcPct val="90000"/>
              </a:lnSpc>
            </a:pPr>
            <a:r>
              <a:rPr lang="en-US" altLang="en-US" sz="1800" dirty="0">
                <a:latin typeface="Arial  " charset="0"/>
                <a:cs typeface="Arial  " charset="0"/>
              </a:rPr>
              <a:t>ease of decoding</a:t>
            </a:r>
          </a:p>
        </p:txBody>
      </p:sp>
      <p:sp>
        <p:nvSpPr>
          <p:cNvPr id="61444" name="Slide Number Placeholder 7">
            <a:extLst>
              <a:ext uri="{FF2B5EF4-FFF2-40B4-BE49-F238E27FC236}">
                <a16:creationId xmlns:a16="http://schemas.microsoft.com/office/drawing/2014/main" id="{129CCA80-B37F-D82A-7876-F5574521114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041C2031-A463-F54C-A432-4FA70E7B431A}" type="slidenum">
              <a:rPr lang="en-US" altLang="en-US" sz="1400"/>
              <a:pPr>
                <a:spcBef>
                  <a:spcPct val="0"/>
                </a:spcBef>
                <a:buFontTx/>
                <a:buNone/>
              </a:pPr>
              <a:t>19</a:t>
            </a:fld>
            <a:r>
              <a:rPr lang="en-US" altLang="en-US" sz="1400"/>
              <a:t> </a:t>
            </a:r>
          </a:p>
        </p:txBody>
      </p:sp>
      <p:sp>
        <p:nvSpPr>
          <p:cNvPr id="61445" name="TextBox 5">
            <a:extLst>
              <a:ext uri="{FF2B5EF4-FFF2-40B4-BE49-F238E27FC236}">
                <a16:creationId xmlns:a16="http://schemas.microsoft.com/office/drawing/2014/main" id="{604FF53D-4458-F05D-E30E-A8AEC58CA47F}"/>
              </a:ext>
            </a:extLst>
          </p:cNvPr>
          <p:cNvSpPr txBox="1">
            <a:spLocks noChangeArrowheads="1"/>
          </p:cNvSpPr>
          <p:nvPr/>
        </p:nvSpPr>
        <p:spPr bwMode="auto">
          <a:xfrm>
            <a:off x="495300" y="876300"/>
            <a:ext cx="8204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800" dirty="0">
                <a:latin typeface="Arial" panose="020B0604020202020204" pitchFamily="34" charset="0"/>
              </a:rPr>
              <a:t>Once we decide which instructions we want, we need to specify the  instruction in 1’s and 0’s so that digital logic gates can implement it.  This is known as “encoding” the instruction set.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D9C6AC8A-EAF2-86C4-1B80-D53ACDEF5F53}"/>
              </a:ext>
            </a:extLst>
          </p:cNvPr>
          <p:cNvSpPr>
            <a:spLocks noGrp="1" noChangeArrowheads="1"/>
          </p:cNvSpPr>
          <p:nvPr>
            <p:ph type="title"/>
          </p:nvPr>
        </p:nvSpPr>
        <p:spPr>
          <a:xfrm>
            <a:off x="673100" y="0"/>
            <a:ext cx="8229600" cy="825500"/>
          </a:xfrm>
        </p:spPr>
        <p:txBody>
          <a:bodyPr/>
          <a:lstStyle/>
          <a:p>
            <a:r>
              <a:rPr lang="en-US" altLang="en-US" sz="3600">
                <a:latin typeface="Arial  " charset="0"/>
                <a:cs typeface="Arial  " charset="0"/>
              </a:rPr>
              <a:t>Optimizing Compilers (e.g., “gcc -O3”)</a:t>
            </a:r>
          </a:p>
        </p:txBody>
      </p:sp>
      <p:sp>
        <p:nvSpPr>
          <p:cNvPr id="63490" name="Rectangle 3">
            <a:extLst>
              <a:ext uri="{FF2B5EF4-FFF2-40B4-BE49-F238E27FC236}">
                <a16:creationId xmlns:a16="http://schemas.microsoft.com/office/drawing/2014/main" id="{135A3D4A-D929-D2E1-4B79-95D9E9053542}"/>
              </a:ext>
            </a:extLst>
          </p:cNvPr>
          <p:cNvSpPr>
            <a:spLocks noGrp="1" noChangeArrowheads="1"/>
          </p:cNvSpPr>
          <p:nvPr>
            <p:ph type="body" idx="1"/>
          </p:nvPr>
        </p:nvSpPr>
        <p:spPr>
          <a:xfrm>
            <a:off x="584200" y="5702300"/>
            <a:ext cx="8394700" cy="1155700"/>
          </a:xfrm>
        </p:spPr>
        <p:txBody>
          <a:bodyPr/>
          <a:lstStyle/>
          <a:p>
            <a:r>
              <a:rPr lang="en-US" altLang="en-US" sz="1800">
                <a:latin typeface="Arial  " charset="0"/>
                <a:cs typeface="Arial  " charset="0"/>
              </a:rPr>
              <a:t>Register allocation works best with &gt;= 16 registers.</a:t>
            </a:r>
          </a:p>
          <a:p>
            <a:r>
              <a:rPr lang="en-US" altLang="en-US" sz="1800">
                <a:solidFill>
                  <a:srgbClr val="FF0000"/>
                </a:solidFill>
                <a:latin typeface="Arial  " charset="0"/>
                <a:cs typeface="Arial  " charset="0"/>
              </a:rPr>
              <a:t>Orthogonal ISA features =&gt; compiler easier to write.</a:t>
            </a:r>
          </a:p>
        </p:txBody>
      </p:sp>
      <p:pic>
        <p:nvPicPr>
          <p:cNvPr id="63491" name="Picture 4" descr="Ch2-fig23">
            <a:extLst>
              <a:ext uri="{FF2B5EF4-FFF2-40B4-BE49-F238E27FC236}">
                <a16:creationId xmlns:a16="http://schemas.microsoft.com/office/drawing/2014/main" id="{2336D675-C23F-0ED9-F7AD-C2AD7313A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950" y="1801813"/>
            <a:ext cx="5391150" cy="363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Slide Number Placeholder 7">
            <a:extLst>
              <a:ext uri="{FF2B5EF4-FFF2-40B4-BE49-F238E27FC236}">
                <a16:creationId xmlns:a16="http://schemas.microsoft.com/office/drawing/2014/main" id="{9CB1B9AD-3966-D989-9C4A-8BBDBB30A0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1A8DA0C6-893F-D540-8519-E2BBDD5D0925}" type="slidenum">
              <a:rPr lang="en-US" altLang="en-US" sz="1400"/>
              <a:pPr>
                <a:spcBef>
                  <a:spcPct val="0"/>
                </a:spcBef>
                <a:buFontTx/>
                <a:buNone/>
              </a:pPr>
              <a:t>20</a:t>
            </a:fld>
            <a:r>
              <a:rPr lang="en-US" altLang="en-US" sz="1400"/>
              <a:t> </a:t>
            </a:r>
          </a:p>
        </p:txBody>
      </p:sp>
      <p:sp>
        <p:nvSpPr>
          <p:cNvPr id="63493" name="TextBox 6">
            <a:extLst>
              <a:ext uri="{FF2B5EF4-FFF2-40B4-BE49-F238E27FC236}">
                <a16:creationId xmlns:a16="http://schemas.microsoft.com/office/drawing/2014/main" id="{DCF75136-6189-D06D-4580-52BFD2920582}"/>
              </a:ext>
            </a:extLst>
          </p:cNvPr>
          <p:cNvSpPr txBox="1">
            <a:spLocks noChangeArrowheads="1"/>
          </p:cNvSpPr>
          <p:nvPr/>
        </p:nvSpPr>
        <p:spPr bwMode="auto">
          <a:xfrm>
            <a:off x="685800" y="812800"/>
            <a:ext cx="7874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800">
                <a:latin typeface="Arial" panose="020B0604020202020204" pitchFamily="34" charset="0"/>
              </a:rPr>
              <a:t>An optimizing compiler transforms code to make your software run faster.  One important transformation is to allocate variables to registers. The number of registers impacts the effectiveness of optimizing compilers.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0F9C2AE2-54D8-D005-D3AD-AF912D477164}"/>
              </a:ext>
            </a:extLst>
          </p:cNvPr>
          <p:cNvSpPr>
            <a:spLocks noGrp="1" noChangeArrowheads="1"/>
          </p:cNvSpPr>
          <p:nvPr>
            <p:ph type="title"/>
          </p:nvPr>
        </p:nvSpPr>
        <p:spPr>
          <a:xfrm>
            <a:off x="660400" y="0"/>
            <a:ext cx="8216900" cy="711200"/>
          </a:xfrm>
        </p:spPr>
        <p:txBody>
          <a:bodyPr/>
          <a:lstStyle/>
          <a:p>
            <a:r>
              <a:rPr lang="en-US" altLang="en-US">
                <a:latin typeface="Arial  " charset="0"/>
                <a:cs typeface="Arial  " charset="0"/>
              </a:rPr>
              <a:t>Impact of Compiler Optimization</a:t>
            </a:r>
          </a:p>
        </p:txBody>
      </p:sp>
      <p:pic>
        <p:nvPicPr>
          <p:cNvPr id="65538" name="Picture 4" descr="Ch2-fig26">
            <a:extLst>
              <a:ext uri="{FF2B5EF4-FFF2-40B4-BE49-F238E27FC236}">
                <a16:creationId xmlns:a16="http://schemas.microsoft.com/office/drawing/2014/main" id="{AC86206D-4EAB-F5D7-A895-9FF8A06E4A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888" y="2246313"/>
            <a:ext cx="7126287" cy="400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Slide Number Placeholder 7">
            <a:extLst>
              <a:ext uri="{FF2B5EF4-FFF2-40B4-BE49-F238E27FC236}">
                <a16:creationId xmlns:a16="http://schemas.microsoft.com/office/drawing/2014/main" id="{95A84FA9-175C-E5BE-AF3A-0669737D19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4B574FDE-B34E-984D-BCB8-3280FC4BEA32}" type="slidenum">
              <a:rPr lang="en-US" altLang="en-US" sz="1400"/>
              <a:pPr>
                <a:spcBef>
                  <a:spcPct val="0"/>
                </a:spcBef>
                <a:buFontTx/>
                <a:buNone/>
              </a:pPr>
              <a:t>21</a:t>
            </a:fld>
            <a:r>
              <a:rPr lang="en-US" altLang="en-US" sz="1400"/>
              <a:t> </a:t>
            </a:r>
          </a:p>
        </p:txBody>
      </p:sp>
      <p:sp>
        <p:nvSpPr>
          <p:cNvPr id="65540" name="TextBox 5">
            <a:extLst>
              <a:ext uri="{FF2B5EF4-FFF2-40B4-BE49-F238E27FC236}">
                <a16:creationId xmlns:a16="http://schemas.microsoft.com/office/drawing/2014/main" id="{BAD27ED9-7312-4F00-E5DF-5D792930C1A6}"/>
              </a:ext>
            </a:extLst>
          </p:cNvPr>
          <p:cNvSpPr txBox="1">
            <a:spLocks noChangeArrowheads="1"/>
          </p:cNvSpPr>
          <p:nvPr/>
        </p:nvSpPr>
        <p:spPr bwMode="auto">
          <a:xfrm>
            <a:off x="647700" y="774700"/>
            <a:ext cx="783113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r>
              <a:rPr lang="en-US" altLang="en-US" sz="1800">
                <a:latin typeface="Arial" panose="020B0604020202020204" pitchFamily="34" charset="0"/>
              </a:rPr>
              <a:t>An important pitfall to avoid is optimizing a hardware design using software</a:t>
            </a:r>
          </a:p>
          <a:p>
            <a:pPr>
              <a:spcBef>
                <a:spcPct val="0"/>
              </a:spcBef>
              <a:buFontTx/>
              <a:buNone/>
            </a:pPr>
            <a:r>
              <a:rPr lang="en-US" altLang="en-US" sz="1800">
                <a:latin typeface="Arial" panose="020B0604020202020204" pitchFamily="34" charset="0"/>
              </a:rPr>
              <a:t>benchmarks that have not been optimized by an optimizing compiler.  The </a:t>
            </a:r>
          </a:p>
          <a:p>
            <a:pPr>
              <a:spcBef>
                <a:spcPct val="0"/>
              </a:spcBef>
              <a:buFontTx/>
              <a:buNone/>
            </a:pPr>
            <a:r>
              <a:rPr lang="en-US" altLang="en-US" sz="1800">
                <a:latin typeface="Arial" panose="020B0604020202020204" pitchFamily="34" charset="0"/>
              </a:rPr>
              <a:t>data below shows how some characteristics of a program likely to be of</a:t>
            </a:r>
          </a:p>
          <a:p>
            <a:pPr>
              <a:spcBef>
                <a:spcPct val="0"/>
              </a:spcBef>
              <a:buFontTx/>
              <a:buNone/>
            </a:pPr>
            <a:r>
              <a:rPr lang="en-US" altLang="en-US" sz="1800">
                <a:latin typeface="Arial" panose="020B0604020202020204" pitchFamily="34" charset="0"/>
              </a:rPr>
              <a:t>importance to an ISA designer  can change dramatically before/after using </a:t>
            </a:r>
          </a:p>
          <a:p>
            <a:pPr>
              <a:spcBef>
                <a:spcPct val="0"/>
              </a:spcBef>
              <a:buFontTx/>
              <a:buNone/>
            </a:pPr>
            <a:r>
              <a:rPr lang="en-US" altLang="en-US" sz="1800">
                <a:latin typeface="Arial" panose="020B0604020202020204" pitchFamily="34" charset="0"/>
              </a:rPr>
              <a:t>an optimizing compiler.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7D1B2AF1-CF89-8130-202D-044C3C8E02C4}"/>
              </a:ext>
            </a:extLst>
          </p:cNvPr>
          <p:cNvSpPr>
            <a:spLocks noGrp="1" noChangeArrowheads="1"/>
          </p:cNvSpPr>
          <p:nvPr>
            <p:ph type="title"/>
          </p:nvPr>
        </p:nvSpPr>
        <p:spPr>
          <a:xfrm>
            <a:off x="711200" y="63500"/>
            <a:ext cx="7772400" cy="1143000"/>
          </a:xfrm>
        </p:spPr>
        <p:txBody>
          <a:bodyPr/>
          <a:lstStyle/>
          <a:p>
            <a:r>
              <a:rPr lang="en-US" altLang="en-US" dirty="0">
                <a:latin typeface="Arial  " charset="0"/>
                <a:cs typeface="Arial  " charset="0"/>
              </a:rPr>
              <a:t>Putting it all together:</a:t>
            </a:r>
            <a:br>
              <a:rPr lang="en-US" altLang="en-US" dirty="0">
                <a:latin typeface="Arial  " charset="0"/>
                <a:cs typeface="Arial  " charset="0"/>
              </a:rPr>
            </a:br>
            <a:r>
              <a:rPr lang="en-US" altLang="en-US" dirty="0">
                <a:latin typeface="Arial  " charset="0"/>
                <a:cs typeface="Arial  " charset="0"/>
              </a:rPr>
              <a:t>Desirable ISA Properties...</a:t>
            </a:r>
          </a:p>
        </p:txBody>
      </p:sp>
      <p:sp>
        <p:nvSpPr>
          <p:cNvPr id="67586" name="Rectangle 3">
            <a:extLst>
              <a:ext uri="{FF2B5EF4-FFF2-40B4-BE49-F238E27FC236}">
                <a16:creationId xmlns:a16="http://schemas.microsoft.com/office/drawing/2014/main" id="{A02A5A25-6C8A-6D50-2534-F78879D273EB}"/>
              </a:ext>
            </a:extLst>
          </p:cNvPr>
          <p:cNvSpPr>
            <a:spLocks noGrp="1" noChangeArrowheads="1"/>
          </p:cNvSpPr>
          <p:nvPr>
            <p:ph type="body" idx="1"/>
          </p:nvPr>
        </p:nvSpPr>
        <p:spPr>
          <a:xfrm>
            <a:off x="647700" y="1622425"/>
            <a:ext cx="7772400" cy="4318000"/>
          </a:xfrm>
        </p:spPr>
        <p:txBody>
          <a:bodyPr/>
          <a:lstStyle/>
          <a:p>
            <a:pPr>
              <a:lnSpc>
                <a:spcPct val="90000"/>
              </a:lnSpc>
            </a:pPr>
            <a:r>
              <a:rPr lang="en-US" altLang="en-US" sz="2000" dirty="0">
                <a:latin typeface="Arial  " charset="0"/>
                <a:cs typeface="Arial  " charset="0"/>
              </a:rPr>
              <a:t>Local Storage </a:t>
            </a:r>
          </a:p>
          <a:p>
            <a:pPr lvl="1">
              <a:lnSpc>
                <a:spcPct val="90000"/>
              </a:lnSpc>
            </a:pPr>
            <a:r>
              <a:rPr lang="en-US" altLang="en-US" sz="2000" dirty="0">
                <a:latin typeface="Arial  " charset="0"/>
                <a:cs typeface="Arial  " charset="0"/>
              </a:rPr>
              <a:t> general purpose registers (load-store architecture)</a:t>
            </a:r>
          </a:p>
          <a:p>
            <a:pPr lvl="1">
              <a:lnSpc>
                <a:spcPct val="90000"/>
              </a:lnSpc>
            </a:pPr>
            <a:r>
              <a:rPr lang="en-US" altLang="en-US" sz="2000" dirty="0">
                <a:latin typeface="Arial  " charset="0"/>
                <a:cs typeface="Arial  " charset="0"/>
              </a:rPr>
              <a:t> at least 16 registers</a:t>
            </a:r>
          </a:p>
          <a:p>
            <a:pPr>
              <a:lnSpc>
                <a:spcPct val="90000"/>
              </a:lnSpc>
            </a:pPr>
            <a:r>
              <a:rPr lang="en-US" altLang="en-US" sz="2000" dirty="0">
                <a:latin typeface="Arial  " charset="0"/>
                <a:cs typeface="Arial  " charset="0"/>
              </a:rPr>
              <a:t> Addressing Modes</a:t>
            </a:r>
          </a:p>
          <a:p>
            <a:pPr lvl="1">
              <a:lnSpc>
                <a:spcPct val="90000"/>
              </a:lnSpc>
            </a:pPr>
            <a:r>
              <a:rPr lang="en-US" altLang="en-US" sz="2000" dirty="0">
                <a:latin typeface="Arial  " charset="0"/>
                <a:cs typeface="Arial  " charset="0"/>
              </a:rPr>
              <a:t> Displacement (12-16 bits)</a:t>
            </a:r>
          </a:p>
          <a:p>
            <a:pPr lvl="1">
              <a:lnSpc>
                <a:spcPct val="90000"/>
              </a:lnSpc>
            </a:pPr>
            <a:r>
              <a:rPr lang="en-US" altLang="en-US" sz="2000" dirty="0">
                <a:latin typeface="Arial  " charset="0"/>
                <a:cs typeface="Arial  " charset="0"/>
              </a:rPr>
              <a:t> Immediate (8-16 bits)</a:t>
            </a:r>
          </a:p>
          <a:p>
            <a:pPr lvl="1">
              <a:lnSpc>
                <a:spcPct val="90000"/>
              </a:lnSpc>
            </a:pPr>
            <a:r>
              <a:rPr lang="en-US" altLang="en-US" sz="2000" dirty="0">
                <a:latin typeface="Arial  " charset="0"/>
                <a:cs typeface="Arial  " charset="0"/>
              </a:rPr>
              <a:t> Register Indirect</a:t>
            </a:r>
          </a:p>
          <a:p>
            <a:pPr>
              <a:lnSpc>
                <a:spcPct val="90000"/>
              </a:lnSpc>
            </a:pPr>
            <a:r>
              <a:rPr lang="en-US" altLang="en-US" sz="2000" dirty="0">
                <a:latin typeface="Arial  " charset="0"/>
                <a:cs typeface="Arial  " charset="0"/>
              </a:rPr>
              <a:t>Aligned memory accesses</a:t>
            </a:r>
          </a:p>
          <a:p>
            <a:pPr>
              <a:lnSpc>
                <a:spcPct val="90000"/>
              </a:lnSpc>
            </a:pPr>
            <a:r>
              <a:rPr lang="en-US" altLang="en-US" sz="2000" dirty="0">
                <a:latin typeface="Arial  " charset="0"/>
                <a:cs typeface="Arial  " charset="0"/>
              </a:rPr>
              <a:t>Type and Size of Operands</a:t>
            </a:r>
          </a:p>
          <a:p>
            <a:pPr lvl="1">
              <a:lnSpc>
                <a:spcPct val="90000"/>
              </a:lnSpc>
              <a:buFontTx/>
              <a:buNone/>
            </a:pPr>
            <a:r>
              <a:rPr lang="en-US" altLang="en-US" sz="2000" dirty="0">
                <a:latin typeface="Arial  " charset="0"/>
                <a:cs typeface="Arial  " charset="0"/>
              </a:rPr>
              <a:t>- 8-, 16-, 32-, and 64-bit integers, 64-bit FP</a:t>
            </a:r>
          </a:p>
          <a:p>
            <a:pPr>
              <a:lnSpc>
                <a:spcPct val="90000"/>
              </a:lnSpc>
            </a:pPr>
            <a:r>
              <a:rPr lang="en-US" altLang="en-US" sz="2000" dirty="0">
                <a:latin typeface="Arial  " charset="0"/>
                <a:cs typeface="Arial  " charset="0"/>
              </a:rPr>
              <a:t>Minimalist instruction set: Simple operations used most frequently in practice (load, store, add, sub, move, shift, …)</a:t>
            </a:r>
          </a:p>
        </p:txBody>
      </p:sp>
      <p:sp>
        <p:nvSpPr>
          <p:cNvPr id="67587" name="Slide Number Placeholder 6">
            <a:extLst>
              <a:ext uri="{FF2B5EF4-FFF2-40B4-BE49-F238E27FC236}">
                <a16:creationId xmlns:a16="http://schemas.microsoft.com/office/drawing/2014/main" id="{B6F95875-9CFB-DBE4-C4C4-2E76C9D9DE4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74E5045A-56B4-6B41-B42A-16BD100D6C75}" type="slidenum">
              <a:rPr lang="en-US" altLang="en-US" sz="1400"/>
              <a:pPr>
                <a:spcBef>
                  <a:spcPct val="0"/>
                </a:spcBef>
                <a:buFontTx/>
                <a:buNone/>
              </a:pPr>
              <a:t>22</a:t>
            </a:fld>
            <a:r>
              <a:rPr lang="en-US" altLang="en-US" sz="140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880705BD-567F-4D10-5084-496C381E8FCB}"/>
              </a:ext>
            </a:extLst>
          </p:cNvPr>
          <p:cNvSpPr>
            <a:spLocks noGrp="1" noChangeArrowheads="1"/>
          </p:cNvSpPr>
          <p:nvPr>
            <p:ph type="title"/>
          </p:nvPr>
        </p:nvSpPr>
        <p:spPr>
          <a:xfrm>
            <a:off x="698500" y="101600"/>
            <a:ext cx="7772400" cy="1143000"/>
          </a:xfrm>
        </p:spPr>
        <p:txBody>
          <a:bodyPr/>
          <a:lstStyle/>
          <a:p>
            <a:r>
              <a:rPr lang="en-US" altLang="en-US" sz="3600">
                <a:latin typeface="Arial  " charset="0"/>
                <a:cs typeface="Arial  " charset="0"/>
              </a:rPr>
              <a:t>Desirable ISA Properties, Cont’d</a:t>
            </a:r>
          </a:p>
        </p:txBody>
      </p:sp>
      <p:sp>
        <p:nvSpPr>
          <p:cNvPr id="69634" name="Rectangle 3">
            <a:extLst>
              <a:ext uri="{FF2B5EF4-FFF2-40B4-BE49-F238E27FC236}">
                <a16:creationId xmlns:a16="http://schemas.microsoft.com/office/drawing/2014/main" id="{54027BCD-42EE-48A2-9EC2-607064C7A296}"/>
              </a:ext>
            </a:extLst>
          </p:cNvPr>
          <p:cNvSpPr>
            <a:spLocks noGrp="1" noChangeArrowheads="1"/>
          </p:cNvSpPr>
          <p:nvPr>
            <p:ph type="body" idx="1"/>
          </p:nvPr>
        </p:nvSpPr>
        <p:spPr>
          <a:xfrm>
            <a:off x="647700" y="1320800"/>
            <a:ext cx="7772400" cy="4483100"/>
          </a:xfrm>
        </p:spPr>
        <p:txBody>
          <a:bodyPr/>
          <a:lstStyle/>
          <a:p>
            <a:pPr>
              <a:lnSpc>
                <a:spcPct val="90000"/>
              </a:lnSpc>
            </a:pPr>
            <a:r>
              <a:rPr lang="en-US" altLang="en-US" sz="2000">
                <a:latin typeface="Arial  " charset="0"/>
                <a:cs typeface="Arial  " charset="0"/>
              </a:rPr>
              <a:t>PC-relative branches with compare equal, not-equal, less-than</a:t>
            </a:r>
          </a:p>
          <a:p>
            <a:pPr>
              <a:lnSpc>
                <a:spcPct val="90000"/>
              </a:lnSpc>
            </a:pPr>
            <a:r>
              <a:rPr lang="en-US" altLang="en-US" sz="2000">
                <a:latin typeface="Arial  " charset="0"/>
                <a:cs typeface="Arial  " charset="0"/>
              </a:rPr>
              <a:t>Support function calls (PC-relative, indirect), returns</a:t>
            </a:r>
          </a:p>
          <a:p>
            <a:pPr>
              <a:lnSpc>
                <a:spcPct val="90000"/>
              </a:lnSpc>
            </a:pPr>
            <a:r>
              <a:rPr lang="en-US" altLang="en-US" sz="2000">
                <a:latin typeface="Arial  " charset="0"/>
                <a:cs typeface="Arial  " charset="0"/>
              </a:rPr>
              <a:t>Fixed instruction encoding for performance, variable encoding for code density.</a:t>
            </a:r>
          </a:p>
          <a:p>
            <a:pPr>
              <a:lnSpc>
                <a:spcPct val="90000"/>
              </a:lnSpc>
            </a:pPr>
            <a:r>
              <a:rPr lang="en-US" altLang="en-US" sz="2000">
                <a:latin typeface="Arial  " charset="0"/>
                <a:cs typeface="Arial  " charset="0"/>
              </a:rPr>
              <a:t>Provide at least 16 general-purpose registers.</a:t>
            </a:r>
          </a:p>
          <a:p>
            <a:pPr>
              <a:lnSpc>
                <a:spcPct val="90000"/>
              </a:lnSpc>
            </a:pPr>
            <a:r>
              <a:rPr lang="en-US" altLang="en-US" sz="2000">
                <a:latin typeface="Arial  " charset="0"/>
                <a:cs typeface="Arial  " charset="0"/>
              </a:rPr>
              <a:t>Addressing modes apply to all data transfer instructions.</a:t>
            </a:r>
          </a:p>
        </p:txBody>
      </p:sp>
      <p:sp>
        <p:nvSpPr>
          <p:cNvPr id="69635" name="Slide Number Placeholder 6">
            <a:extLst>
              <a:ext uri="{FF2B5EF4-FFF2-40B4-BE49-F238E27FC236}">
                <a16:creationId xmlns:a16="http://schemas.microsoft.com/office/drawing/2014/main" id="{AA1E10ED-56A7-363A-C272-3923737634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 charset="0"/>
                <a:ea typeface="MS PGothic" panose="020B0600070205080204" pitchFamily="34" charset="-128"/>
                <a:cs typeface="Arial  " charset="0"/>
              </a:defRPr>
            </a:lvl1pPr>
            <a:lvl2pPr marL="742950" indent="-285750">
              <a:spcBef>
                <a:spcPct val="20000"/>
              </a:spcBef>
              <a:buChar char="–"/>
              <a:defRPr sz="2800">
                <a:solidFill>
                  <a:schemeClr val="tx1"/>
                </a:solidFill>
                <a:latin typeface="Arial  " charset="0"/>
                <a:ea typeface="MS PGothic" panose="020B0600070205080204" pitchFamily="34" charset="-128"/>
                <a:cs typeface="Arial  " charset="0"/>
              </a:defRPr>
            </a:lvl2pPr>
            <a:lvl3pPr marL="1143000" indent="-228600">
              <a:spcBef>
                <a:spcPct val="20000"/>
              </a:spcBef>
              <a:buChar char="•"/>
              <a:defRPr sz="2400">
                <a:solidFill>
                  <a:schemeClr val="tx1"/>
                </a:solidFill>
                <a:latin typeface="Arial  " charset="0"/>
                <a:ea typeface="MS PGothic" panose="020B0600070205080204" pitchFamily="34" charset="-128"/>
                <a:cs typeface="Arial  " charset="0"/>
              </a:defRPr>
            </a:lvl3pPr>
            <a:lvl4pPr marL="1600200" indent="-228600">
              <a:spcBef>
                <a:spcPct val="20000"/>
              </a:spcBef>
              <a:buChar char="–"/>
              <a:defRPr sz="2000">
                <a:solidFill>
                  <a:schemeClr val="tx1"/>
                </a:solidFill>
                <a:latin typeface="Arial  " charset="0"/>
                <a:ea typeface="MS PGothic" panose="020B0600070205080204" pitchFamily="34" charset="-128"/>
                <a:cs typeface="Arial  " charset="0"/>
              </a:defRPr>
            </a:lvl4pPr>
            <a:lvl5pPr marL="2057400" indent="-228600">
              <a:spcBef>
                <a:spcPct val="20000"/>
              </a:spcBef>
              <a:buChar char="»"/>
              <a:defRPr sz="2000">
                <a:solidFill>
                  <a:schemeClr val="tx1"/>
                </a:solidFill>
                <a:latin typeface="Arial  " charset="0"/>
                <a:ea typeface="MS PGothic"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panose="020B0600070205080204" pitchFamily="34" charset="-128"/>
                <a:cs typeface="Arial  " charset="0"/>
              </a:defRPr>
            </a:lvl9pPr>
          </a:lstStyle>
          <a:p>
            <a:pPr>
              <a:spcBef>
                <a:spcPct val="0"/>
              </a:spcBef>
              <a:buFontTx/>
              <a:buNone/>
            </a:pPr>
            <a:fld id="{E22D2A35-0E05-8741-B679-AA8148ADCD06}" type="slidenum">
              <a:rPr lang="en-US" altLang="en-US" sz="1400"/>
              <a:pPr>
                <a:spcBef>
                  <a:spcPct val="0"/>
                </a:spcBef>
                <a:buFontTx/>
                <a:buNone/>
              </a:pPr>
              <a:t>23</a:t>
            </a:fld>
            <a:r>
              <a:rPr lang="en-US" altLang="en-US" sz="1400"/>
              <a:t> </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Comic Sans MS"/>
        <a:ea typeface="ＭＳ Ｐゴシック"/>
        <a:cs typeface="ＭＳ Ｐゴシック"/>
      </a:majorFont>
      <a:minorFont>
        <a:latin typeface="Comic Sans MS"/>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33882</TotalTime>
  <Words>2081</Words>
  <Application>Microsoft Macintosh PowerPoint</Application>
  <PresentationFormat>On-screen Show (4:3)</PresentationFormat>
  <Paragraphs>353</Paragraphs>
  <Slides>23</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vt:lpstr>
      <vt:lpstr>Comic Sans MS</vt:lpstr>
      <vt:lpstr>Comic Sans MS (Body)</vt:lpstr>
      <vt:lpstr>Courier New</vt:lpstr>
      <vt:lpstr>Symbol</vt:lpstr>
      <vt:lpstr>Blank Presentation</vt:lpstr>
      <vt:lpstr>CPEN 411: Computer Architecture   Slide Set #4: Instruction Set Architecture Design</vt:lpstr>
      <vt:lpstr>The RISC vs. CISC Debate</vt:lpstr>
      <vt:lpstr>Instruction Set Architecture (ISA)</vt:lpstr>
      <vt:lpstr>Levels of Representation</vt:lpstr>
      <vt:lpstr>Elements of an ISA</vt:lpstr>
      <vt:lpstr>Four ISA Classes</vt:lpstr>
      <vt:lpstr>Four ISA Classes</vt:lpstr>
      <vt:lpstr>Question</vt:lpstr>
      <vt:lpstr>Four ISA Classes</vt:lpstr>
      <vt:lpstr>Trade-Offs</vt:lpstr>
      <vt:lpstr>Addressing Modes</vt:lpstr>
      <vt:lpstr>Addressing Modes</vt:lpstr>
      <vt:lpstr>Addressing Modes</vt:lpstr>
      <vt:lpstr>Addressing Modes</vt:lpstr>
      <vt:lpstr>Displacement Mode</vt:lpstr>
      <vt:lpstr>Example: How Many Bits?</vt:lpstr>
      <vt:lpstr>PowerPoint Presentation</vt:lpstr>
      <vt:lpstr>Top 10 IA-32 Instructions</vt:lpstr>
      <vt:lpstr>Encoding an ISA</vt:lpstr>
      <vt:lpstr>Optimizing Compilers (e.g., “gcc -O3”)</vt:lpstr>
      <vt:lpstr>Impact of Compiler Optimization</vt:lpstr>
      <vt:lpstr>Putting it all together: Desirable ISA Properties...</vt:lpstr>
      <vt:lpstr>Desirable ISA Properties, Cont’d</vt:lpstr>
    </vt:vector>
  </TitlesOfParts>
  <Company>Tor M. Aamodt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faster?</dc:title>
  <cp:lastModifiedBy>Tor Aamodt</cp:lastModifiedBy>
  <cp:revision>131</cp:revision>
  <cp:lastPrinted>2008-09-10T15:41:43Z</cp:lastPrinted>
  <dcterms:created xsi:type="dcterms:W3CDTF">2013-09-11T04:44:30Z</dcterms:created>
  <dcterms:modified xsi:type="dcterms:W3CDTF">2025-09-10T05:29:02Z</dcterms:modified>
</cp:coreProperties>
</file>