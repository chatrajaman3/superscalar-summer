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handoutMasterIdLst>
    <p:handoutMasterId r:id="rId32"/>
  </p:handoutMasterIdLst>
  <p:sldIdLst>
    <p:sldId id="580" r:id="rId2"/>
    <p:sldId id="583" r:id="rId3"/>
    <p:sldId id="487" r:id="rId4"/>
    <p:sldId id="586" r:id="rId5"/>
    <p:sldId id="587" r:id="rId6"/>
    <p:sldId id="588" r:id="rId7"/>
    <p:sldId id="590" r:id="rId8"/>
    <p:sldId id="589" r:id="rId9"/>
    <p:sldId id="601" r:id="rId10"/>
    <p:sldId id="591" r:id="rId11"/>
    <p:sldId id="594" r:id="rId12"/>
    <p:sldId id="597" r:id="rId13"/>
    <p:sldId id="607" r:id="rId14"/>
    <p:sldId id="608" r:id="rId15"/>
    <p:sldId id="593" r:id="rId16"/>
    <p:sldId id="598" r:id="rId17"/>
    <p:sldId id="595" r:id="rId18"/>
    <p:sldId id="599" r:id="rId19"/>
    <p:sldId id="609" r:id="rId20"/>
    <p:sldId id="610" r:id="rId21"/>
    <p:sldId id="596" r:id="rId22"/>
    <p:sldId id="600" r:id="rId23"/>
    <p:sldId id="611" r:id="rId24"/>
    <p:sldId id="605" r:id="rId25"/>
    <p:sldId id="606" r:id="rId26"/>
    <p:sldId id="585" r:id="rId27"/>
    <p:sldId id="602" r:id="rId28"/>
    <p:sldId id="603" r:id="rId29"/>
    <p:sldId id="604" r:id="rId30"/>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itchFamily="34" charset="0"/>
        <a:ea typeface="ＭＳ Ｐゴシック" pitchFamily="34" charset="-128"/>
        <a:cs typeface="+mn-cs"/>
      </a:defRPr>
    </a:lvl1pPr>
    <a:lvl2pPr marL="457200" algn="l" rtl="0" eaLnBrk="0" fontAlgn="base" hangingPunct="0">
      <a:spcBef>
        <a:spcPct val="0"/>
      </a:spcBef>
      <a:spcAft>
        <a:spcPct val="0"/>
      </a:spcAft>
      <a:defRPr sz="1400" kern="1200">
        <a:solidFill>
          <a:schemeClr val="tx1"/>
        </a:solidFill>
        <a:latin typeface="Arial" pitchFamily="34" charset="0"/>
        <a:ea typeface="ＭＳ Ｐゴシック" pitchFamily="34" charset="-128"/>
        <a:cs typeface="+mn-cs"/>
      </a:defRPr>
    </a:lvl2pPr>
    <a:lvl3pPr marL="914400" algn="l" rtl="0" eaLnBrk="0" fontAlgn="base" hangingPunct="0">
      <a:spcBef>
        <a:spcPct val="0"/>
      </a:spcBef>
      <a:spcAft>
        <a:spcPct val="0"/>
      </a:spcAft>
      <a:defRPr sz="1400" kern="1200">
        <a:solidFill>
          <a:schemeClr val="tx1"/>
        </a:solidFill>
        <a:latin typeface="Arial" pitchFamily="34" charset="0"/>
        <a:ea typeface="ＭＳ Ｐゴシック" pitchFamily="34" charset="-128"/>
        <a:cs typeface="+mn-cs"/>
      </a:defRPr>
    </a:lvl3pPr>
    <a:lvl4pPr marL="1371600" algn="l" rtl="0" eaLnBrk="0" fontAlgn="base" hangingPunct="0">
      <a:spcBef>
        <a:spcPct val="0"/>
      </a:spcBef>
      <a:spcAft>
        <a:spcPct val="0"/>
      </a:spcAft>
      <a:defRPr sz="1400" kern="1200">
        <a:solidFill>
          <a:schemeClr val="tx1"/>
        </a:solidFill>
        <a:latin typeface="Arial" pitchFamily="34" charset="0"/>
        <a:ea typeface="ＭＳ Ｐゴシック" pitchFamily="34" charset="-128"/>
        <a:cs typeface="+mn-cs"/>
      </a:defRPr>
    </a:lvl4pPr>
    <a:lvl5pPr marL="1828800" algn="l" rtl="0" eaLnBrk="0" fontAlgn="base" hangingPunct="0">
      <a:spcBef>
        <a:spcPct val="0"/>
      </a:spcBef>
      <a:spcAft>
        <a:spcPct val="0"/>
      </a:spcAft>
      <a:defRPr sz="1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1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1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1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1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00FF"/>
    <a:srgbClr val="FF0000"/>
    <a:srgbClr val="FFFF00"/>
    <a:srgbClr val="E1E1E1"/>
    <a:srgbClr val="FF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56" autoAdjust="0"/>
    <p:restoredTop sz="88450" autoAdjust="0"/>
  </p:normalViewPr>
  <p:slideViewPr>
    <p:cSldViewPr snapToGrid="0">
      <p:cViewPr varScale="1">
        <p:scale>
          <a:sx n="113" d="100"/>
          <a:sy n="113" d="100"/>
        </p:scale>
        <p:origin x="808" y="4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25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9254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9254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9254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2D7B0FCC-E0DE-4FC7-B886-4B50A0D682A1}"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02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91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2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02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922668AF-2FD3-410A-B9E8-8197221D8F65}" type="slidenum">
              <a:rPr lang="en-US"/>
              <a:pPr>
                <a:defRPr/>
              </a:pPr>
              <a:t>‹#›</a:t>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52"/>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Also, multitasking </a:t>
            </a:r>
            <a:r>
              <a:rPr lang="en-US" dirty="0" err="1"/>
              <a:t>uniprocessor</a:t>
            </a:r>
            <a:endParaRPr lang="en-US" dirty="0"/>
          </a:p>
        </p:txBody>
      </p:sp>
      <p:sp>
        <p:nvSpPr>
          <p:cNvPr id="4" name="Slide Number Placeholder 3"/>
          <p:cNvSpPr>
            <a:spLocks noGrp="1"/>
          </p:cNvSpPr>
          <p:nvPr>
            <p:ph type="sldNum" sz="quarter" idx="10"/>
          </p:nvPr>
        </p:nvSpPr>
        <p:spPr/>
        <p:txBody>
          <a:bodyPr/>
          <a:lstStyle/>
          <a:p>
            <a:pPr>
              <a:defRPr/>
            </a:pPr>
            <a:fld id="{922668AF-2FD3-410A-B9E8-8197221D8F65}" type="slidenum">
              <a:rPr lang="en-US" smtClean="0"/>
              <a:pPr>
                <a:defRPr/>
              </a:pPr>
              <a:t>7</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a:latin typeface="Arial" pitchFamily="34" charset="0"/>
              <a:ea typeface="ＭＳ Ｐゴシック" pitchFamily="34" charset="-128"/>
            </a:endParaRPr>
          </a:p>
        </p:txBody>
      </p:sp>
      <p:sp>
        <p:nvSpPr>
          <p:cNvPr id="64516" name="Slide Number Placeholder 3"/>
          <p:cNvSpPr>
            <a:spLocks noGrp="1"/>
          </p:cNvSpPr>
          <p:nvPr>
            <p:ph type="sldNum" sz="quarter" idx="5"/>
          </p:nvPr>
        </p:nvSpPr>
        <p:spPr>
          <a:noFill/>
        </p:spPr>
        <p:txBody>
          <a:bodyPr/>
          <a:lstStyle/>
          <a:p>
            <a:fld id="{3EC295C6-B074-47E8-89CD-25C6A489A7FD}" type="slidenum">
              <a:rPr lang="en-US"/>
              <a:pPr/>
              <a:t>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6" name="Rectangle 6"/>
          <p:cNvSpPr>
            <a:spLocks noGrp="1" noChangeArrowheads="1"/>
          </p:cNvSpPr>
          <p:nvPr>
            <p:ph type="sldNum" sz="quarter" idx="12"/>
          </p:nvPr>
        </p:nvSpPr>
        <p:spPr>
          <a:ln/>
        </p:spPr>
        <p:txBody>
          <a:bodyPr/>
          <a:lstStyle>
            <a:lvl1pPr>
              <a:defRPr/>
            </a:lvl1pPr>
          </a:lstStyle>
          <a:p>
            <a:pPr>
              <a:defRPr/>
            </a:pPr>
            <a:fld id="{D74A594E-914C-42D6-948F-102D3BB4F98C}" type="slidenum">
              <a:rPr lang="en-US"/>
              <a:pPr>
                <a:defRPr/>
              </a:pPr>
              <a:t>‹#›</a:t>
            </a:fld>
            <a:r>
              <a:rPr lang="en-US"/>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CA"/>
              <a:t>Click to edit Master title style</a:t>
            </a:r>
            <a:endParaRPr lang="en-US"/>
          </a:p>
        </p:txBody>
      </p:sp>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r>
              <a:rPr lang="en-US"/>
              <a:t>Nov. 5, 2008</a:t>
            </a:r>
          </a:p>
        </p:txBody>
      </p:sp>
      <p:sp>
        <p:nvSpPr>
          <p:cNvPr id="5" name="Rectangle 5"/>
          <p:cNvSpPr>
            <a:spLocks noGrp="1" noChangeArrowheads="1"/>
          </p:cNvSpPr>
          <p:nvPr>
            <p:ph type="ftr" sz="quarter" idx="11"/>
          </p:nvPr>
        </p:nvSpPr>
        <p:spPr/>
        <p:txBody>
          <a:bodyPr/>
          <a:lstStyle>
            <a:lvl1pPr>
              <a:defRPr/>
            </a:lvl1pPr>
          </a:lstStyle>
          <a:p>
            <a:pPr>
              <a:defRPr/>
            </a:pPr>
            <a:r>
              <a:rPr lang="en-US"/>
              <a:t>EECE 476 - Slide Set 12</a:t>
            </a:r>
          </a:p>
        </p:txBody>
      </p:sp>
      <p:sp>
        <p:nvSpPr>
          <p:cNvPr id="6" name="Rectangle 6"/>
          <p:cNvSpPr>
            <a:spLocks noGrp="1" noChangeArrowheads="1"/>
          </p:cNvSpPr>
          <p:nvPr>
            <p:ph type="sldNum" sz="quarter" idx="12"/>
          </p:nvPr>
        </p:nvSpPr>
        <p:spPr/>
        <p:txBody>
          <a:bodyPr/>
          <a:lstStyle>
            <a:lvl1pPr>
              <a:defRPr>
                <a:latin typeface="Arial" pitchFamily="34" charset="0"/>
                <a:cs typeface="Arial" pitchFamily="34" charset="0"/>
              </a:defRPr>
            </a:lvl1pPr>
          </a:lstStyle>
          <a:p>
            <a:pPr>
              <a:defRPr/>
            </a:pPr>
            <a:fld id="{EE961BD8-5010-45A5-B1A9-68D93290FB2D}" type="slidenum">
              <a:rPr lang="en-US"/>
              <a:pPr>
                <a:defRPr/>
              </a:pPr>
              <a:t>‹#›</a:t>
            </a:fld>
            <a:r>
              <a:rPr lang="en-US"/>
              <a:t>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6" name="Rectangle 6"/>
          <p:cNvSpPr>
            <a:spLocks noGrp="1" noChangeArrowheads="1"/>
          </p:cNvSpPr>
          <p:nvPr>
            <p:ph type="sldNum" sz="quarter" idx="12"/>
          </p:nvPr>
        </p:nvSpPr>
        <p:spPr>
          <a:ln/>
        </p:spPr>
        <p:txBody>
          <a:bodyPr/>
          <a:lstStyle>
            <a:lvl1pPr>
              <a:defRPr/>
            </a:lvl1pPr>
          </a:lstStyle>
          <a:p>
            <a:pPr>
              <a:defRPr/>
            </a:pPr>
            <a:fld id="{F3DF5EA1-979F-4BA7-A334-6D990E801C78}" type="slidenum">
              <a:rPr lang="en-US"/>
              <a:pPr>
                <a:defRPr/>
              </a:pPr>
              <a:t>‹#›</a:t>
            </a:fld>
            <a:r>
              <a:rPr lang="en-US"/>
              <a:t>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858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7" name="Rectangle 6"/>
          <p:cNvSpPr>
            <a:spLocks noGrp="1" noChangeArrowheads="1"/>
          </p:cNvSpPr>
          <p:nvPr>
            <p:ph type="sldNum" sz="quarter" idx="12"/>
          </p:nvPr>
        </p:nvSpPr>
        <p:spPr>
          <a:ln/>
        </p:spPr>
        <p:txBody>
          <a:bodyPr/>
          <a:lstStyle>
            <a:lvl1pPr>
              <a:defRPr/>
            </a:lvl1pPr>
          </a:lstStyle>
          <a:p>
            <a:pPr>
              <a:defRPr/>
            </a:pPr>
            <a:fld id="{C094E464-3960-4A04-BA81-108980B198F7}" type="slidenum">
              <a:rPr lang="en-US"/>
              <a:pPr>
                <a:defRPr/>
              </a:pPr>
              <a:t>‹#›</a:t>
            </a:fld>
            <a:r>
              <a:rPr lang="en-US"/>
              <a:t>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8"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9" name="Rectangle 6"/>
          <p:cNvSpPr>
            <a:spLocks noGrp="1" noChangeArrowheads="1"/>
          </p:cNvSpPr>
          <p:nvPr>
            <p:ph type="sldNum" sz="quarter" idx="12"/>
          </p:nvPr>
        </p:nvSpPr>
        <p:spPr>
          <a:ln/>
        </p:spPr>
        <p:txBody>
          <a:bodyPr/>
          <a:lstStyle>
            <a:lvl1pPr>
              <a:defRPr/>
            </a:lvl1pPr>
          </a:lstStyle>
          <a:p>
            <a:pPr>
              <a:defRPr/>
            </a:pPr>
            <a:fld id="{61432772-95D5-4F6D-96F7-227B462A7BF8}" type="slidenum">
              <a:rPr lang="en-US"/>
              <a:pPr>
                <a:defRPr/>
              </a:pPr>
              <a:t>‹#›</a:t>
            </a:fld>
            <a:r>
              <a:rPr lang="en-US"/>
              <a:t> </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4"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5" name="Rectangle 6"/>
          <p:cNvSpPr>
            <a:spLocks noGrp="1" noChangeArrowheads="1"/>
          </p:cNvSpPr>
          <p:nvPr>
            <p:ph type="sldNum" sz="quarter" idx="12"/>
          </p:nvPr>
        </p:nvSpPr>
        <p:spPr>
          <a:ln/>
        </p:spPr>
        <p:txBody>
          <a:bodyPr/>
          <a:lstStyle>
            <a:lvl1pPr>
              <a:defRPr/>
            </a:lvl1pPr>
          </a:lstStyle>
          <a:p>
            <a:pPr>
              <a:defRPr/>
            </a:pPr>
            <a:fld id="{D5792BE9-EF34-47DC-B69E-307E26C6580A}" type="slidenum">
              <a:rPr lang="en-US"/>
              <a:pPr>
                <a:defRPr/>
              </a:pPr>
              <a:t>‹#›</a:t>
            </a:fld>
            <a:r>
              <a:rPr lang="en-US"/>
              <a:t>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3"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4" name="Rectangle 6"/>
          <p:cNvSpPr>
            <a:spLocks noGrp="1" noChangeArrowheads="1"/>
          </p:cNvSpPr>
          <p:nvPr>
            <p:ph type="sldNum" sz="quarter" idx="12"/>
          </p:nvPr>
        </p:nvSpPr>
        <p:spPr>
          <a:ln/>
        </p:spPr>
        <p:txBody>
          <a:bodyPr/>
          <a:lstStyle>
            <a:lvl1pPr>
              <a:defRPr/>
            </a:lvl1pPr>
          </a:lstStyle>
          <a:p>
            <a:pPr>
              <a:defRPr/>
            </a:pPr>
            <a:fld id="{B4163B88-C053-4BE2-84FB-F69C235942FE}" type="slidenum">
              <a:rPr lang="en-US"/>
              <a:pPr>
                <a:defRPr/>
              </a:pPr>
              <a:t>‹#›</a:t>
            </a:fld>
            <a:r>
              <a:rPr lang="en-US"/>
              <a:t>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7" name="Rectangle 6"/>
          <p:cNvSpPr>
            <a:spLocks noGrp="1" noChangeArrowheads="1"/>
          </p:cNvSpPr>
          <p:nvPr>
            <p:ph type="sldNum" sz="quarter" idx="12"/>
          </p:nvPr>
        </p:nvSpPr>
        <p:spPr>
          <a:ln/>
        </p:spPr>
        <p:txBody>
          <a:bodyPr/>
          <a:lstStyle>
            <a:lvl1pPr>
              <a:defRPr/>
            </a:lvl1pPr>
          </a:lstStyle>
          <a:p>
            <a:pPr>
              <a:defRPr/>
            </a:pPr>
            <a:fld id="{DA7C9748-5622-4D23-B51E-ACD96EFFEF0C}" type="slidenum">
              <a:rPr lang="en-US"/>
              <a:pPr>
                <a:defRPr/>
              </a:pPr>
              <a:t>‹#›</a:t>
            </a:fld>
            <a:r>
              <a:rPr lang="en-US"/>
              <a:t> </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7" name="Rectangle 6"/>
          <p:cNvSpPr>
            <a:spLocks noGrp="1" noChangeArrowheads="1"/>
          </p:cNvSpPr>
          <p:nvPr>
            <p:ph type="sldNum" sz="quarter" idx="12"/>
          </p:nvPr>
        </p:nvSpPr>
        <p:spPr>
          <a:ln/>
        </p:spPr>
        <p:txBody>
          <a:bodyPr/>
          <a:lstStyle>
            <a:lvl1pPr>
              <a:defRPr/>
            </a:lvl1pPr>
          </a:lstStyle>
          <a:p>
            <a:pPr>
              <a:defRPr/>
            </a:pPr>
            <a:fld id="{C59297D8-3949-4AD4-8CBD-C455C5AA5D01}" type="slidenum">
              <a:rPr lang="en-US"/>
              <a:pPr>
                <a:defRPr/>
              </a:pPr>
              <a:t>‹#›</a:t>
            </a:fld>
            <a:r>
              <a:rPr lang="en-US"/>
              <a:t>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6" name="Rectangle 6"/>
          <p:cNvSpPr>
            <a:spLocks noGrp="1" noChangeArrowheads="1"/>
          </p:cNvSpPr>
          <p:nvPr>
            <p:ph type="sldNum" sz="quarter" idx="12"/>
          </p:nvPr>
        </p:nvSpPr>
        <p:spPr>
          <a:ln/>
        </p:spPr>
        <p:txBody>
          <a:bodyPr/>
          <a:lstStyle>
            <a:lvl1pPr>
              <a:defRPr/>
            </a:lvl1pPr>
          </a:lstStyle>
          <a:p>
            <a:pPr>
              <a:defRPr/>
            </a:pPr>
            <a:fld id="{56617090-F425-4BBA-98FD-AFC2172A6460}" type="slidenum">
              <a:rPr lang="en-US"/>
              <a:pPr>
                <a:defRPr/>
              </a:pPr>
              <a:t>‹#›</a:t>
            </a:fld>
            <a:r>
              <a:rPr lang="en-US"/>
              <a:t> </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0"/>
            <a:ext cx="1943100" cy="6096000"/>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85800" y="0"/>
            <a:ext cx="5676900" cy="609600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6" name="Rectangle 6"/>
          <p:cNvSpPr>
            <a:spLocks noGrp="1" noChangeArrowheads="1"/>
          </p:cNvSpPr>
          <p:nvPr>
            <p:ph type="sldNum" sz="quarter" idx="12"/>
          </p:nvPr>
        </p:nvSpPr>
        <p:spPr>
          <a:ln/>
        </p:spPr>
        <p:txBody>
          <a:bodyPr/>
          <a:lstStyle>
            <a:lvl1pPr>
              <a:defRPr/>
            </a:lvl1pPr>
          </a:lstStyle>
          <a:p>
            <a:pPr>
              <a:defRPr/>
            </a:pPr>
            <a:fld id="{186EB0E0-D87F-411A-BD9D-B3888A7CC766}" type="slidenum">
              <a:rPr lang="en-US"/>
              <a:pPr>
                <a:defRPr/>
              </a:pPr>
              <a:t>‹#›</a:t>
            </a:fld>
            <a:r>
              <a:rPr lang="en-US"/>
              <a:t> </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lstStyle/>
          <a:p>
            <a:r>
              <a:rPr lang="en-CA"/>
              <a:t>Click to edit Master title style</a:t>
            </a:r>
            <a:endParaRPr lang="en-US"/>
          </a:p>
        </p:txBody>
      </p:sp>
      <p:sp>
        <p:nvSpPr>
          <p:cNvPr id="3" name="Text Placeholder 2"/>
          <p:cNvSpPr>
            <a:spLocks noGrp="1"/>
          </p:cNvSpPr>
          <p:nvPr>
            <p:ph type="body" sz="half" idx="1"/>
          </p:nvPr>
        </p:nvSpPr>
        <p:spPr>
          <a:xfrm>
            <a:off x="685800" y="1371600"/>
            <a:ext cx="3810000" cy="4724400"/>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1371600"/>
            <a:ext cx="3810000" cy="4724400"/>
          </a:xfrm>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r>
              <a:rPr lang="en-US"/>
              <a:t>Nov. 5, 2008</a:t>
            </a:r>
          </a:p>
        </p:txBody>
      </p:sp>
      <p:sp>
        <p:nvSpPr>
          <p:cNvPr id="6" name="Rectangle 5"/>
          <p:cNvSpPr>
            <a:spLocks noGrp="1" noChangeArrowheads="1"/>
          </p:cNvSpPr>
          <p:nvPr>
            <p:ph type="ftr" sz="quarter" idx="11"/>
          </p:nvPr>
        </p:nvSpPr>
        <p:spPr>
          <a:ln/>
        </p:spPr>
        <p:txBody>
          <a:bodyPr/>
          <a:lstStyle>
            <a:lvl1pPr>
              <a:defRPr/>
            </a:lvl1pPr>
          </a:lstStyle>
          <a:p>
            <a:pPr>
              <a:defRPr/>
            </a:pPr>
            <a:r>
              <a:rPr lang="en-US"/>
              <a:t>EECE 476 - Slide Set 12</a:t>
            </a:r>
          </a:p>
        </p:txBody>
      </p:sp>
      <p:sp>
        <p:nvSpPr>
          <p:cNvPr id="7" name="Rectangle 6"/>
          <p:cNvSpPr>
            <a:spLocks noGrp="1" noChangeArrowheads="1"/>
          </p:cNvSpPr>
          <p:nvPr>
            <p:ph type="sldNum" sz="quarter" idx="12"/>
          </p:nvPr>
        </p:nvSpPr>
        <p:spPr>
          <a:ln/>
        </p:spPr>
        <p:txBody>
          <a:bodyPr/>
          <a:lstStyle>
            <a:lvl1pPr>
              <a:defRPr/>
            </a:lvl1pPr>
          </a:lstStyle>
          <a:p>
            <a:pPr>
              <a:defRPr/>
            </a:pPr>
            <a:fld id="{7AD7513B-3F8D-4AD6-AD8E-0FD27D8C23FA}" type="slidenum">
              <a:rPr lang="en-US"/>
              <a:pPr>
                <a:defRPr/>
              </a:pPr>
              <a:t>‹#›</a:t>
            </a:fld>
            <a:r>
              <a:rPr lang="en-US"/>
              <a:t> </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bwMode="auto">
          <a:xfrm>
            <a:off x="685800" y="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9219" name="Rectangle 3"/>
          <p:cNvSpPr>
            <a:spLocks noGrp="1" noChangeArrowheads="1"/>
          </p:cNvSpPr>
          <p:nvPr>
            <p:ph type="body" idx="1"/>
          </p:nvPr>
        </p:nvSpPr>
        <p:spPr bwMode="auto">
          <a:xfrm>
            <a:off x="685800" y="13716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a:latin typeface="Comic Sans MS" pitchFamily="66" charset="0"/>
              </a:defRPr>
            </a:lvl1pPr>
          </a:lstStyle>
          <a:p>
            <a:pPr>
              <a:defRPr/>
            </a:pPr>
            <a:r>
              <a:rPr lang="en-US"/>
              <a:t>Nov. 5, 2008</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a:latin typeface="Comic Sans MS" pitchFamily="66" charset="0"/>
              </a:defRPr>
            </a:lvl1pPr>
          </a:lstStyle>
          <a:p>
            <a:pPr>
              <a:defRPr/>
            </a:pPr>
            <a:r>
              <a:rPr lang="en-US"/>
              <a:t>EECE 476 - Slide Set 12</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a:latin typeface="Comic Sans MS" pitchFamily="66" charset="0"/>
              </a:defRPr>
            </a:lvl1pPr>
          </a:lstStyle>
          <a:p>
            <a:pPr>
              <a:defRPr/>
            </a:pPr>
            <a:fld id="{838AB043-9D1D-4C98-A992-12274ACF842E}" type="slidenum">
              <a:rPr lang="en-US"/>
              <a:pPr>
                <a:defRPr/>
              </a:pPr>
              <a:t>‹#›</a:t>
            </a:fld>
            <a:r>
              <a:rPr lang="en-US"/>
              <a:t> </a:t>
            </a:r>
          </a:p>
        </p:txBody>
      </p:sp>
    </p:spTree>
  </p:cSld>
  <p:clrMap bg1="lt1" tx1="dk1" bg2="lt2" tx2="dk2" accent1="accent1" accent2="accent2" accent3="accent3" accent4="accent4" accent5="accent5" accent6="accent6" hlink="hlink" folHlink="folHlink"/>
  <p:sldLayoutIdLst>
    <p:sldLayoutId id="2147483766" r:id="rId1"/>
    <p:sldLayoutId id="2147483777"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Lst>
  <p:hf hdr="0" ftr="0" dt="0"/>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2pPr>
      <a:lvl3pPr algn="ctr" rtl="0" eaLnBrk="0" fontAlgn="base" hangingPunct="0">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3pPr>
      <a:lvl4pPr algn="ctr" rtl="0" eaLnBrk="0" fontAlgn="base" hangingPunct="0">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4pPr>
      <a:lvl5pPr algn="ctr" rtl="0" eaLnBrk="0" fontAlgn="base" hangingPunct="0">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5pPr>
      <a:lvl6pPr marL="4572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6pPr>
      <a:lvl7pPr marL="9144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7pPr>
      <a:lvl8pPr marL="13716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8pPr>
      <a:lvl9pPr marL="18288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ea typeface="+mn-ea"/>
        </a:defRPr>
      </a:lvl2pPr>
      <a:lvl3pPr marL="1143000" indent="-228600" algn="l" rtl="0" eaLnBrk="0" fontAlgn="base" hangingPunct="0">
        <a:spcBef>
          <a:spcPct val="20000"/>
        </a:spcBef>
        <a:spcAft>
          <a:spcPct val="0"/>
        </a:spcAft>
        <a:buChar char="•"/>
        <a:defRPr sz="2000">
          <a:solidFill>
            <a:schemeClr val="tx1"/>
          </a:solidFill>
          <a:latin typeface="+mn-lt"/>
          <a:ea typeface="+mn-ea"/>
        </a:defRPr>
      </a:lvl3pPr>
      <a:lvl4pPr marL="1600200" indent="-228600" algn="l" rtl="0" eaLnBrk="0" fontAlgn="base" hangingPunct="0">
        <a:spcBef>
          <a:spcPct val="20000"/>
        </a:spcBef>
        <a:spcAft>
          <a:spcPct val="0"/>
        </a:spcAft>
        <a:buChar char="–"/>
        <a:defRPr>
          <a:solidFill>
            <a:schemeClr val="tx1"/>
          </a:solidFill>
          <a:latin typeface="+mn-lt"/>
          <a:ea typeface="+mn-ea"/>
        </a:defRPr>
      </a:lvl4pPr>
      <a:lvl5pPr marL="2057400" indent="-228600" algn="l" rtl="0" eaLnBrk="0" fontAlgn="base" hangingPunct="0">
        <a:spcBef>
          <a:spcPct val="20000"/>
        </a:spcBef>
        <a:spcAft>
          <a:spcPct val="0"/>
        </a:spcAft>
        <a:buChar char="»"/>
        <a:defRPr>
          <a:solidFill>
            <a:schemeClr val="tx1"/>
          </a:solidFill>
          <a:latin typeface="+mn-lt"/>
          <a:ea typeface="+mn-ea"/>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8" descr="nehalem-1.jpg"/>
          <p:cNvPicPr>
            <a:picLocks noChangeAspect="1"/>
          </p:cNvPicPr>
          <p:nvPr/>
        </p:nvPicPr>
        <p:blipFill>
          <a:blip r:embed="rId2"/>
          <a:srcRect/>
          <a:stretch>
            <a:fillRect/>
          </a:stretch>
        </p:blipFill>
        <p:spPr bwMode="auto">
          <a:xfrm>
            <a:off x="0" y="0"/>
            <a:ext cx="10858500" cy="6858000"/>
          </a:xfrm>
          <a:prstGeom prst="rect">
            <a:avLst/>
          </a:prstGeom>
          <a:noFill/>
          <a:ln w="9525">
            <a:noFill/>
            <a:miter lim="800000"/>
            <a:headEnd/>
            <a:tailEnd/>
          </a:ln>
        </p:spPr>
      </p:pic>
      <p:sp>
        <p:nvSpPr>
          <p:cNvPr id="11267" name="Rectangle 5"/>
          <p:cNvSpPr>
            <a:spLocks noChangeArrowheads="1"/>
          </p:cNvSpPr>
          <p:nvPr/>
        </p:nvSpPr>
        <p:spPr bwMode="auto">
          <a:xfrm>
            <a:off x="1094014" y="1431925"/>
            <a:ext cx="7037616" cy="3551238"/>
          </a:xfrm>
          <a:prstGeom prst="rect">
            <a:avLst/>
          </a:prstGeom>
          <a:solidFill>
            <a:schemeClr val="bg1">
              <a:alpha val="87057"/>
            </a:schemeClr>
          </a:solidFill>
          <a:ln w="9525" algn="ctr">
            <a:solidFill>
              <a:schemeClr val="tx1"/>
            </a:solidFill>
            <a:round/>
            <a:headEnd/>
            <a:tailEnd/>
          </a:ln>
        </p:spPr>
        <p:txBody>
          <a:bodyPr/>
          <a:lstStyle/>
          <a:p>
            <a:endParaRPr lang="en-CA"/>
          </a:p>
        </p:txBody>
      </p:sp>
      <p:sp>
        <p:nvSpPr>
          <p:cNvPr id="11268" name="Title 1"/>
          <p:cNvSpPr>
            <a:spLocks noGrp="1"/>
          </p:cNvSpPr>
          <p:nvPr>
            <p:ph type="ctrTitle"/>
          </p:nvPr>
        </p:nvSpPr>
        <p:spPr>
          <a:xfrm>
            <a:off x="0" y="990600"/>
            <a:ext cx="9144000" cy="2819400"/>
          </a:xfrm>
        </p:spPr>
        <p:txBody>
          <a:bodyPr/>
          <a:lstStyle/>
          <a:p>
            <a:r>
              <a:rPr lang="en-US" sz="3200" dirty="0">
                <a:solidFill>
                  <a:srgbClr val="0000FF"/>
                </a:solidFill>
                <a:latin typeface="Arial  " charset="0"/>
              </a:rPr>
              <a:t>CPEN 411: Computer Architecture</a:t>
            </a:r>
            <a:br>
              <a:rPr lang="en-US" sz="2400" dirty="0">
                <a:solidFill>
                  <a:srgbClr val="0000FF"/>
                </a:solidFill>
                <a:latin typeface="Arial  " charset="0"/>
              </a:rPr>
            </a:br>
            <a:br>
              <a:rPr lang="en-US" dirty="0">
                <a:solidFill>
                  <a:srgbClr val="0000FF"/>
                </a:solidFill>
                <a:latin typeface="Arial  " charset="0"/>
              </a:rPr>
            </a:br>
            <a:r>
              <a:rPr lang="en-US" sz="2800" dirty="0">
                <a:solidFill>
                  <a:srgbClr val="0000FF"/>
                </a:solidFill>
                <a:latin typeface="Arial  " charset="0"/>
              </a:rPr>
              <a:t>Slide Set #17: Memory Consistency</a:t>
            </a:r>
          </a:p>
        </p:txBody>
      </p:sp>
      <p:sp>
        <p:nvSpPr>
          <p:cNvPr id="11269" name="Subtitle 2"/>
          <p:cNvSpPr>
            <a:spLocks noGrp="1"/>
          </p:cNvSpPr>
          <p:nvPr>
            <p:ph type="subTitle" idx="1"/>
          </p:nvPr>
        </p:nvSpPr>
        <p:spPr/>
        <p:txBody>
          <a:bodyPr/>
          <a:lstStyle/>
          <a:p>
            <a:r>
              <a:rPr lang="en-US" dirty="0">
                <a:solidFill>
                  <a:srgbClr val="0000FF"/>
                </a:solidFill>
                <a:latin typeface="Arial  " charset="0"/>
              </a:rPr>
              <a:t>Tor Aamodt</a:t>
            </a:r>
          </a:p>
          <a:p>
            <a:r>
              <a:rPr lang="en-US" dirty="0">
                <a:solidFill>
                  <a:srgbClr val="0000FF"/>
                </a:solidFill>
                <a:latin typeface="Arial  " charset="0"/>
              </a:rPr>
              <a:t>aamodt@ece.ubc.ca</a:t>
            </a:r>
          </a:p>
        </p:txBody>
      </p:sp>
      <p:sp>
        <p:nvSpPr>
          <p:cNvPr id="11270" name="Slide Number Placeholder 5"/>
          <p:cNvSpPr>
            <a:spLocks noGrp="1"/>
          </p:cNvSpPr>
          <p:nvPr>
            <p:ph type="sldNum" sz="quarter" idx="12"/>
          </p:nvPr>
        </p:nvSpPr>
        <p:spPr>
          <a:noFill/>
        </p:spPr>
        <p:txBody>
          <a:bodyPr/>
          <a:lstStyle/>
          <a:p>
            <a:fld id="{1745D7FA-4601-4929-B0C8-0D8AD3730918}" type="slidenum">
              <a:rPr lang="en-GB" smtClean="0">
                <a:latin typeface="Arial  " charset="0"/>
              </a:rPr>
              <a:pPr/>
              <a:t>1</a:t>
            </a:fld>
            <a:r>
              <a:rPr lang="en-GB">
                <a:latin typeface="Arial  "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CA" dirty="0"/>
              <a:t>Introduction to Slide Set 17</a:t>
            </a:r>
          </a:p>
        </p:txBody>
      </p:sp>
      <p:sp>
        <p:nvSpPr>
          <p:cNvPr id="12291" name="Content Placeholder 2"/>
          <p:cNvSpPr>
            <a:spLocks noGrp="1"/>
          </p:cNvSpPr>
          <p:nvPr>
            <p:ph idx="1"/>
          </p:nvPr>
        </p:nvSpPr>
        <p:spPr/>
        <p:txBody>
          <a:bodyPr/>
          <a:lstStyle/>
          <a:p>
            <a:r>
              <a:rPr lang="en-CA" sz="2400" dirty="0"/>
              <a:t>Writing correct software for a shared memory computer requires some understanding of how updates to memory made by one thread can be seen by other threads.</a:t>
            </a:r>
          </a:p>
          <a:p>
            <a:endParaRPr lang="en-CA" sz="2400" dirty="0"/>
          </a:p>
          <a:p>
            <a:r>
              <a:rPr lang="en-US" sz="2400" dirty="0"/>
              <a:t>X</a:t>
            </a:r>
            <a:r>
              <a:rPr lang="en-CA" sz="2400" dirty="0"/>
              <a:t>86 hardware behaves “mostly” as you would expect, but there are some “corner cases” </a:t>
            </a:r>
            <a:r>
              <a:rPr lang="en-CA" sz="2400" dirty="0" err="1"/>
              <a:t>t</a:t>
            </a:r>
            <a:r>
              <a:rPr lang="en-US" sz="2400" dirty="0"/>
              <a:t>ha</a:t>
            </a:r>
            <a:r>
              <a:rPr lang="en-CA" sz="2400" dirty="0" err="1"/>
              <a:t>t</a:t>
            </a:r>
            <a:r>
              <a:rPr lang="en-CA" sz="2400" dirty="0"/>
              <a:t> might be surprising.  </a:t>
            </a:r>
          </a:p>
          <a:p>
            <a:endParaRPr lang="en-CA" sz="2400" dirty="0"/>
          </a:p>
          <a:p>
            <a:r>
              <a:rPr lang="en-CA" sz="2400" dirty="0"/>
              <a:t>Other popular architectures such as ARM and PowerPC can provide even more surprising results to naive programmers.</a:t>
            </a:r>
          </a:p>
          <a:p>
            <a:endParaRPr lang="en-CA" sz="2400" dirty="0"/>
          </a:p>
          <a:p>
            <a:pPr>
              <a:buNone/>
            </a:pPr>
            <a:endParaRPr lang="en-CA" sz="2000" dirty="0"/>
          </a:p>
        </p:txBody>
      </p:sp>
      <p:sp>
        <p:nvSpPr>
          <p:cNvPr id="12292" name="Slide Number Placeholder 3"/>
          <p:cNvSpPr>
            <a:spLocks noGrp="1"/>
          </p:cNvSpPr>
          <p:nvPr>
            <p:ph type="sldNum" sz="quarter" idx="12"/>
          </p:nvPr>
        </p:nvSpPr>
        <p:spPr>
          <a:noFill/>
        </p:spPr>
        <p:txBody>
          <a:bodyPr/>
          <a:lstStyle/>
          <a:p>
            <a:fld id="{D0FC52AB-943B-428E-BDD9-E1AEF9FA74E5}" type="slidenum">
              <a:rPr lang="en-US" smtClean="0"/>
              <a:pPr/>
              <a:t>2</a:t>
            </a:fld>
            <a:r>
              <a:rPr lang="en-US"/>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Learning Objectives</a:t>
            </a:r>
          </a:p>
        </p:txBody>
      </p:sp>
      <p:sp>
        <p:nvSpPr>
          <p:cNvPr id="13315" name="Rectangle 3"/>
          <p:cNvSpPr>
            <a:spLocks noGrp="1" noChangeArrowheads="1"/>
          </p:cNvSpPr>
          <p:nvPr>
            <p:ph type="body" idx="1"/>
          </p:nvPr>
        </p:nvSpPr>
        <p:spPr>
          <a:xfrm>
            <a:off x="673100" y="1117600"/>
            <a:ext cx="7772400" cy="4724400"/>
          </a:xfrm>
        </p:spPr>
        <p:txBody>
          <a:bodyPr/>
          <a:lstStyle/>
          <a:p>
            <a:pPr eaLnBrk="1" hangingPunct="1">
              <a:lnSpc>
                <a:spcPct val="90000"/>
              </a:lnSpc>
              <a:buFontTx/>
              <a:buNone/>
            </a:pPr>
            <a:r>
              <a:rPr lang="en-US" sz="2400" dirty="0"/>
              <a:t>    By the time we finish talking about this slide set in lectures you should be able to:</a:t>
            </a:r>
          </a:p>
          <a:p>
            <a:pPr lvl="1" eaLnBrk="1" hangingPunct="1">
              <a:lnSpc>
                <a:spcPct val="90000"/>
              </a:lnSpc>
            </a:pPr>
            <a:r>
              <a:rPr lang="en-US" dirty="0"/>
              <a:t>Define sequential consistency.</a:t>
            </a:r>
          </a:p>
          <a:p>
            <a:pPr lvl="1" eaLnBrk="1" hangingPunct="1">
              <a:lnSpc>
                <a:spcPct val="90000"/>
              </a:lnSpc>
            </a:pPr>
            <a:r>
              <a:rPr lang="en-US" dirty="0"/>
              <a:t>Evaluate memory orderings allowed by the TSO/x86 memory model.</a:t>
            </a:r>
          </a:p>
          <a:p>
            <a:pPr lvl="1" eaLnBrk="1" hangingPunct="1">
              <a:lnSpc>
                <a:spcPct val="90000"/>
              </a:lnSpc>
            </a:pPr>
            <a:r>
              <a:rPr lang="en-US" dirty="0"/>
              <a:t>Explain how TSO or more relaxed consistency models differs from sequential consistency.</a:t>
            </a:r>
          </a:p>
          <a:p>
            <a:pPr lvl="1" eaLnBrk="1" hangingPunct="1">
              <a:lnSpc>
                <a:spcPct val="90000"/>
              </a:lnSpc>
            </a:pPr>
            <a:r>
              <a:rPr lang="en-US" dirty="0"/>
              <a:t>Explain what a fence operation is and why it is necessary.</a:t>
            </a:r>
          </a:p>
          <a:p>
            <a:pPr lvl="1" eaLnBrk="1" hangingPunct="1">
              <a:lnSpc>
                <a:spcPct val="90000"/>
              </a:lnSpc>
            </a:pPr>
            <a:r>
              <a:rPr lang="en-US" dirty="0"/>
              <a:t>Define what is meant by a data race</a:t>
            </a:r>
          </a:p>
          <a:p>
            <a:pPr lvl="1" eaLnBrk="1" hangingPunct="1">
              <a:lnSpc>
                <a:spcPct val="90000"/>
              </a:lnSpc>
            </a:pPr>
            <a:r>
              <a:rPr lang="en-US" dirty="0"/>
              <a:t>Define sequential consistency for data race free programs</a:t>
            </a:r>
          </a:p>
          <a:p>
            <a:pPr lvl="1" eaLnBrk="1" hangingPunct="1">
              <a:lnSpc>
                <a:spcPct val="90000"/>
              </a:lnSpc>
            </a:pPr>
            <a:endParaRPr lang="en-US" dirty="0"/>
          </a:p>
        </p:txBody>
      </p:sp>
      <p:sp>
        <p:nvSpPr>
          <p:cNvPr id="13316" name="Slide Number Placeholder 6"/>
          <p:cNvSpPr>
            <a:spLocks noGrp="1"/>
          </p:cNvSpPr>
          <p:nvPr>
            <p:ph type="sldNum" sz="quarter" idx="12"/>
          </p:nvPr>
        </p:nvSpPr>
        <p:spPr>
          <a:noFill/>
        </p:spPr>
        <p:txBody>
          <a:bodyPr/>
          <a:lstStyle/>
          <a:p>
            <a:fld id="{133A193E-CC61-404B-A710-1D4B4D3728C9}" type="slidenum">
              <a:rPr lang="en-US" smtClean="0"/>
              <a:pPr/>
              <a:t>3</a:t>
            </a:fld>
            <a:r>
              <a:rPr lang="en-US"/>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a:t>
            </a:r>
          </a:p>
        </p:txBody>
      </p:sp>
      <p:graphicFrame>
        <p:nvGraphicFramePr>
          <p:cNvPr id="6" name="Content Placeholder 5"/>
          <p:cNvGraphicFramePr>
            <a:graphicFrameLocks noGrp="1"/>
          </p:cNvGraphicFramePr>
          <p:nvPr>
            <p:ph idx="1"/>
          </p:nvPr>
        </p:nvGraphicFramePr>
        <p:xfrm>
          <a:off x="179091" y="1464725"/>
          <a:ext cx="8824482" cy="1934217"/>
        </p:xfrm>
        <a:graphic>
          <a:graphicData uri="http://schemas.openxmlformats.org/drawingml/2006/table">
            <a:tbl>
              <a:tblPr firstRow="1" bandRow="1">
                <a:tableStyleId>{306799F8-075E-4A3A-A7F6-7FBC6576F1A4}</a:tableStyleId>
              </a:tblPr>
              <a:tblGrid>
                <a:gridCol w="2482074">
                  <a:extLst>
                    <a:ext uri="{9D8B030D-6E8A-4147-A177-3AD203B41FA5}">
                      <a16:colId xmlns:a16="http://schemas.microsoft.com/office/drawing/2014/main" val="20000"/>
                    </a:ext>
                  </a:extLst>
                </a:gridCol>
                <a:gridCol w="3452625">
                  <a:extLst>
                    <a:ext uri="{9D8B030D-6E8A-4147-A177-3AD203B41FA5}">
                      <a16:colId xmlns:a16="http://schemas.microsoft.com/office/drawing/2014/main" val="20001"/>
                    </a:ext>
                  </a:extLst>
                </a:gridCol>
                <a:gridCol w="2889783">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Store </a:t>
                      </a:r>
                      <a:r>
                        <a:rPr lang="en-US" sz="1600" b="1" dirty="0">
                          <a:solidFill>
                            <a:srgbClr val="FF00FF"/>
                          </a:solidFill>
                          <a:latin typeface="Courier New"/>
                          <a:cs typeface="Courier New"/>
                        </a:rPr>
                        <a:t>data</a:t>
                      </a:r>
                      <a:r>
                        <a:rPr lang="en-US" sz="1600" b="0" dirty="0">
                          <a:solidFill>
                            <a:schemeClr val="tx1"/>
                          </a:solidFill>
                          <a:latin typeface="Courier New"/>
                          <a:cs typeface="Courier New"/>
                        </a:rPr>
                        <a:t>=NEW</a:t>
                      </a:r>
                    </a:p>
                  </a:txBody>
                  <a:tcPr anchor="b"/>
                </a:tc>
                <a:tc>
                  <a:txBody>
                    <a:bodyPr/>
                    <a:lstStyle/>
                    <a:p>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a:solidFill>
                            <a:srgbClr val="0000FF"/>
                          </a:solidFill>
                          <a:latin typeface="Courier New"/>
                          <a:cs typeface="Courier New"/>
                        </a:rPr>
                        <a:t>data=0,</a:t>
                      </a:r>
                    </a:p>
                    <a:p>
                      <a:r>
                        <a:rPr lang="en-US" sz="1600" b="0" baseline="0" dirty="0">
                          <a:solidFill>
                            <a:srgbClr val="0000FF"/>
                          </a:solidFill>
                          <a:latin typeface="Courier New"/>
                          <a:cs typeface="Courier New"/>
                        </a:rPr>
                        <a:t>// flag != SET</a:t>
                      </a:r>
                      <a:endParaRPr lang="en-US" sz="1600" b="0" dirty="0">
                        <a:solidFill>
                          <a:srgbClr val="0000FF"/>
                        </a:solidFill>
                        <a:latin typeface="Courier New"/>
                        <a:cs typeface="Courier New"/>
                      </a:endParaRP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S2: Store </a:t>
                      </a:r>
                      <a:r>
                        <a:rPr lang="en-US" sz="1600" b="1" dirty="0">
                          <a:solidFill>
                            <a:srgbClr val="008000"/>
                          </a:solidFill>
                          <a:latin typeface="Courier New"/>
                          <a:cs typeface="Courier New"/>
                        </a:rPr>
                        <a:t>flag</a:t>
                      </a:r>
                      <a:r>
                        <a:rPr lang="en-US" sz="1600" b="0" dirty="0">
                          <a:solidFill>
                            <a:schemeClr val="tx1"/>
                          </a:solidFill>
                          <a:latin typeface="Courier New"/>
                          <a:cs typeface="Courier New"/>
                        </a:rPr>
                        <a:t>=SET</a:t>
                      </a:r>
                    </a:p>
                  </a:txBody>
                  <a:tcPr marT="0" marB="0"/>
                </a:tc>
                <a:tc>
                  <a:txBody>
                    <a:bodyPr/>
                    <a:lstStyle/>
                    <a:p>
                      <a:r>
                        <a:rPr lang="en-US" sz="1600" b="0" dirty="0">
                          <a:solidFill>
                            <a:schemeClr val="tx1"/>
                          </a:solidFill>
                          <a:latin typeface="Courier New"/>
                          <a:cs typeface="Courier New"/>
                        </a:rPr>
                        <a:t>L1: Load r1=</a:t>
                      </a:r>
                      <a:r>
                        <a:rPr lang="en-US" sz="1600" b="1" dirty="0">
                          <a:solidFill>
                            <a:srgbClr val="008000"/>
                          </a:solidFill>
                          <a:latin typeface="Courier New"/>
                          <a:cs typeface="Courier New"/>
                        </a:rPr>
                        <a:t>flag</a:t>
                      </a:r>
                    </a:p>
                  </a:txBody>
                  <a:tcPr marT="0" marB="0"/>
                </a:tc>
                <a:tc>
                  <a:txBody>
                    <a:bodyPr/>
                    <a:lstStyle/>
                    <a:p>
                      <a:r>
                        <a:rPr lang="en-US" sz="1600" b="0" dirty="0">
                          <a:solidFill>
                            <a:schemeClr val="tx1"/>
                          </a:solidFill>
                          <a:latin typeface="Courier New"/>
                          <a:cs typeface="Courier New"/>
                        </a:rPr>
                        <a:t>// L1</a:t>
                      </a:r>
                      <a:r>
                        <a:rPr lang="en-US" sz="1600" b="0" baseline="0" dirty="0">
                          <a:solidFill>
                            <a:schemeClr val="tx1"/>
                          </a:solidFill>
                          <a:latin typeface="Courier New"/>
                          <a:cs typeface="Courier New"/>
                        </a:rPr>
                        <a:t> and B1 may</a:t>
                      </a:r>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r h="293042">
                <a:tc>
                  <a:txBody>
                    <a:bodyPr/>
                    <a:lstStyle/>
                    <a:p>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B1: if( r1!=SET</a:t>
                      </a:r>
                      <a:r>
                        <a:rPr lang="en-US" sz="1600" b="0" baseline="0" dirty="0">
                          <a:solidFill>
                            <a:schemeClr val="tx1"/>
                          </a:solidFill>
                          <a:latin typeface="Courier New"/>
                          <a:cs typeface="Courier New"/>
                        </a:rPr>
                        <a:t> ) </a:t>
                      </a:r>
                      <a:r>
                        <a:rPr lang="en-US" sz="1600" b="0" baseline="0" dirty="0" err="1">
                          <a:solidFill>
                            <a:schemeClr val="tx1"/>
                          </a:solidFill>
                          <a:latin typeface="Courier New"/>
                          <a:cs typeface="Courier New"/>
                        </a:rPr>
                        <a:t>goto</a:t>
                      </a:r>
                      <a:r>
                        <a:rPr lang="en-US" sz="1600" b="0" baseline="0" dirty="0">
                          <a:solidFill>
                            <a:schemeClr val="tx1"/>
                          </a:solidFill>
                          <a:latin typeface="Courier New"/>
                          <a:cs typeface="Courier New"/>
                        </a:rPr>
                        <a:t> L1;</a:t>
                      </a:r>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a:t>
                      </a:r>
                      <a:r>
                        <a:rPr lang="en-US" sz="1600" b="0" baseline="0" dirty="0">
                          <a:solidFill>
                            <a:schemeClr val="tx1"/>
                          </a:solidFill>
                          <a:latin typeface="Courier New"/>
                          <a:cs typeface="Courier New"/>
                        </a:rPr>
                        <a:t> iterate many times</a:t>
                      </a:r>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3"/>
                  </a:ext>
                </a:extLst>
              </a:tr>
              <a:tr h="370840">
                <a:tc>
                  <a:txBody>
                    <a:bodyPr/>
                    <a:lstStyle/>
                    <a:p>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L2: Load r2=</a:t>
                      </a:r>
                      <a:r>
                        <a:rPr lang="en-US" sz="1600" b="1" dirty="0">
                          <a:solidFill>
                            <a:srgbClr val="FF00FF"/>
                          </a:solidFill>
                          <a:latin typeface="Courier New"/>
                          <a:cs typeface="Courier New"/>
                        </a:rPr>
                        <a:t>data</a:t>
                      </a: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4</a:t>
            </a:fld>
            <a:r>
              <a:rPr lang="en-US"/>
              <a:t> </a:t>
            </a:r>
          </a:p>
        </p:txBody>
      </p:sp>
      <p:sp>
        <p:nvSpPr>
          <p:cNvPr id="7" name="TextBox 6"/>
          <p:cNvSpPr txBox="1"/>
          <p:nvPr/>
        </p:nvSpPr>
        <p:spPr>
          <a:xfrm>
            <a:off x="1025724" y="4346792"/>
            <a:ext cx="5844996" cy="523220"/>
          </a:xfrm>
          <a:prstGeom prst="rect">
            <a:avLst/>
          </a:prstGeom>
          <a:noFill/>
        </p:spPr>
        <p:txBody>
          <a:bodyPr wrap="square" rtlCol="0">
            <a:spAutoFit/>
          </a:bodyPr>
          <a:lstStyle/>
          <a:p>
            <a:r>
              <a:rPr lang="en-US" sz="2800" dirty="0">
                <a:solidFill>
                  <a:srgbClr val="FF0000"/>
                </a:solidFill>
              </a:rPr>
              <a:t>Can </a:t>
            </a:r>
            <a:r>
              <a:rPr lang="en-US" sz="2800" dirty="0">
                <a:solidFill>
                  <a:srgbClr val="FF0000"/>
                </a:solidFill>
                <a:latin typeface="Courier New"/>
                <a:cs typeface="Courier New"/>
              </a:rPr>
              <a:t>r2</a:t>
            </a:r>
            <a:r>
              <a:rPr lang="en-US" sz="2800" dirty="0">
                <a:solidFill>
                  <a:srgbClr val="FF0000"/>
                </a:solidFill>
              </a:rPr>
              <a:t> get value other than NEW?</a:t>
            </a:r>
          </a:p>
        </p:txBody>
      </p:sp>
      <p:cxnSp>
        <p:nvCxnSpPr>
          <p:cNvPr id="9" name="Straight Arrow Connector 8"/>
          <p:cNvCxnSpPr>
            <a:stCxn id="7" idx="0"/>
          </p:cNvCxnSpPr>
          <p:nvPr/>
        </p:nvCxnSpPr>
        <p:spPr bwMode="auto">
          <a:xfrm rot="16200000" flipV="1">
            <a:off x="3423196" y="3821765"/>
            <a:ext cx="1041926" cy="8127"/>
          </a:xfrm>
          <a:prstGeom prst="straightConnector1">
            <a:avLst/>
          </a:prstGeom>
          <a:solidFill>
            <a:schemeClr val="accent1"/>
          </a:solidFill>
          <a:ln w="9525" cap="flat" cmpd="sng" algn="ctr">
            <a:solidFill>
              <a:srgbClr val="FF0000"/>
            </a:solidFill>
            <a:prstDash val="solid"/>
            <a:round/>
            <a:headEnd type="none" w="med" len="med"/>
            <a:tailEnd type="arrow"/>
          </a:ln>
          <a:effectLst/>
        </p:spPr>
      </p:cxnSp>
      <p:sp>
        <p:nvSpPr>
          <p:cNvPr id="13" name="TextBox 12"/>
          <p:cNvSpPr txBox="1"/>
          <p:nvPr/>
        </p:nvSpPr>
        <p:spPr>
          <a:xfrm>
            <a:off x="590728" y="5169892"/>
            <a:ext cx="8070937" cy="1631216"/>
          </a:xfrm>
          <a:prstGeom prst="rect">
            <a:avLst/>
          </a:prstGeom>
          <a:noFill/>
        </p:spPr>
        <p:txBody>
          <a:bodyPr wrap="square" rtlCol="0">
            <a:spAutoFit/>
          </a:bodyPr>
          <a:lstStyle/>
          <a:p>
            <a:r>
              <a:rPr lang="en-US" sz="2000" dirty="0"/>
              <a:t>Potential scenarios:  </a:t>
            </a:r>
          </a:p>
          <a:p>
            <a:pPr marL="457200" indent="-457200">
              <a:buAutoNum type="arabicPeriod"/>
            </a:pPr>
            <a:r>
              <a:rPr lang="en-US" sz="2000" dirty="0"/>
              <a:t>C1 and C2 have non-FIFO store buffer, S1 misses and S2 hits</a:t>
            </a:r>
          </a:p>
          <a:p>
            <a:pPr marL="457200" indent="-457200">
              <a:buAutoNum type="arabicPeriod"/>
            </a:pPr>
            <a:r>
              <a:rPr lang="en-US" sz="2000" dirty="0"/>
              <a:t>L2 executed before L1 (out-of-order execution with speculation)</a:t>
            </a:r>
          </a:p>
          <a:p>
            <a:pPr marL="457200" indent="-457200"/>
            <a:endParaRPr lang="en-US" sz="2000" dirty="0"/>
          </a:p>
          <a:p>
            <a:pPr marL="457200" indent="-457200">
              <a:buAutoNum type="arabicPeriod"/>
            </a:pP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(e.g., Dekker)</a:t>
            </a:r>
          </a:p>
        </p:txBody>
      </p:sp>
      <p:graphicFrame>
        <p:nvGraphicFramePr>
          <p:cNvPr id="6" name="Content Placeholder 5"/>
          <p:cNvGraphicFramePr>
            <a:graphicFrameLocks noGrp="1"/>
          </p:cNvGraphicFramePr>
          <p:nvPr>
            <p:ph idx="1"/>
          </p:nvPr>
        </p:nvGraphicFramePr>
        <p:xfrm>
          <a:off x="699791" y="1464725"/>
          <a:ext cx="7771108" cy="1062055"/>
        </p:xfrm>
        <a:graphic>
          <a:graphicData uri="http://schemas.openxmlformats.org/drawingml/2006/table">
            <a:tbl>
              <a:tblPr firstRow="1" bandRow="1">
                <a:tableStyleId>{306799F8-075E-4A3A-A7F6-7FBC6576F1A4}</a:tableStyleId>
              </a:tblPr>
              <a:tblGrid>
                <a:gridCol w="2185790">
                  <a:extLst>
                    <a:ext uri="{9D8B030D-6E8A-4147-A177-3AD203B41FA5}">
                      <a16:colId xmlns:a16="http://schemas.microsoft.com/office/drawing/2014/main" val="20000"/>
                    </a:ext>
                  </a:extLst>
                </a:gridCol>
                <a:gridCol w="2264308">
                  <a:extLst>
                    <a:ext uri="{9D8B030D-6E8A-4147-A177-3AD203B41FA5}">
                      <a16:colId xmlns:a16="http://schemas.microsoft.com/office/drawing/2014/main" val="20001"/>
                    </a:ext>
                  </a:extLst>
                </a:gridCol>
                <a:gridCol w="3321010">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a:t>
                      </a:r>
                      <a:r>
                        <a:rPr lang="en-US" sz="1600" b="1" dirty="0" err="1">
                          <a:solidFill>
                            <a:srgbClr val="FF00FF"/>
                          </a:solidFill>
                          <a:latin typeface="Courier New"/>
                          <a:cs typeface="Courier New"/>
                        </a:rPr>
                        <a:t>x</a:t>
                      </a:r>
                      <a:r>
                        <a:rPr lang="en-US" sz="1600" b="0" dirty="0">
                          <a:solidFill>
                            <a:schemeClr val="tx1"/>
                          </a:solidFill>
                          <a:latin typeface="Courier New"/>
                          <a:cs typeface="Courier New"/>
                        </a:rPr>
                        <a:t>=NEW</a:t>
                      </a:r>
                    </a:p>
                  </a:txBody>
                  <a:tcPr anchor="b"/>
                </a:tc>
                <a:tc>
                  <a:txBody>
                    <a:bodyPr/>
                    <a:lstStyle/>
                    <a:p>
                      <a:r>
                        <a:rPr lang="en-US" sz="1600" b="0" dirty="0">
                          <a:solidFill>
                            <a:schemeClr val="tx1"/>
                          </a:solidFill>
                          <a:latin typeface="Courier New"/>
                          <a:cs typeface="Courier New"/>
                        </a:rPr>
                        <a:t>S2:</a:t>
                      </a:r>
                      <a:r>
                        <a:rPr lang="en-US" sz="1600" b="0" baseline="0" dirty="0">
                          <a:solidFill>
                            <a:schemeClr val="tx1"/>
                          </a:solidFill>
                          <a:latin typeface="Courier New"/>
                          <a:cs typeface="Courier New"/>
                        </a:rPr>
                        <a:t> </a:t>
                      </a:r>
                      <a:r>
                        <a:rPr lang="en-US" sz="1600" b="1" baseline="0" dirty="0" err="1">
                          <a:solidFill>
                            <a:srgbClr val="008000"/>
                          </a:solidFill>
                          <a:latin typeface="Courier New"/>
                          <a:cs typeface="Courier New"/>
                        </a:rPr>
                        <a:t>y</a:t>
                      </a:r>
                      <a:r>
                        <a:rPr lang="en-US" sz="1600" b="0" baseline="0" dirty="0">
                          <a:solidFill>
                            <a:schemeClr val="tx1"/>
                          </a:solidFill>
                          <a:latin typeface="Courier New"/>
                          <a:cs typeface="Courier New"/>
                        </a:rPr>
                        <a:t>=NEW</a:t>
                      </a:r>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err="1">
                          <a:solidFill>
                            <a:srgbClr val="0000FF"/>
                          </a:solidFill>
                          <a:latin typeface="Courier New"/>
                          <a:cs typeface="Courier New"/>
                        </a:rPr>
                        <a:t>x</a:t>
                      </a:r>
                      <a:r>
                        <a:rPr lang="en-US" sz="1600" b="0" dirty="0">
                          <a:solidFill>
                            <a:srgbClr val="0000FF"/>
                          </a:solidFill>
                          <a:latin typeface="Courier New"/>
                          <a:cs typeface="Courier New"/>
                        </a:rPr>
                        <a:t>=</a:t>
                      </a:r>
                      <a:r>
                        <a:rPr lang="en-US" sz="1600" b="0" dirty="0" err="1">
                          <a:solidFill>
                            <a:srgbClr val="0000FF"/>
                          </a:solidFill>
                          <a:latin typeface="Courier New"/>
                          <a:cs typeface="Courier New"/>
                        </a:rPr>
                        <a:t>y</a:t>
                      </a:r>
                      <a:r>
                        <a:rPr lang="en-US" sz="1600" b="0" dirty="0">
                          <a:solidFill>
                            <a:srgbClr val="0000FF"/>
                          </a:solidFill>
                          <a:latin typeface="Courier New"/>
                          <a:cs typeface="Courier New"/>
                        </a:rPr>
                        <a:t>=0</a:t>
                      </a: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L1: r1=</a:t>
                      </a:r>
                      <a:r>
                        <a:rPr lang="en-US" sz="1600" b="1" dirty="0" err="1">
                          <a:solidFill>
                            <a:srgbClr val="008000"/>
                          </a:solidFill>
                          <a:latin typeface="Courier New"/>
                          <a:cs typeface="Courier New"/>
                        </a:rPr>
                        <a:t>y</a:t>
                      </a:r>
                      <a:endParaRPr lang="en-US" sz="1600" b="1" dirty="0">
                        <a:solidFill>
                          <a:srgbClr val="008000"/>
                        </a:solidFill>
                        <a:latin typeface="Courier New"/>
                        <a:cs typeface="Courier New"/>
                      </a:endParaRPr>
                    </a:p>
                  </a:txBody>
                  <a:tcPr marT="0" marB="0"/>
                </a:tc>
                <a:tc>
                  <a:txBody>
                    <a:bodyPr/>
                    <a:lstStyle/>
                    <a:p>
                      <a:r>
                        <a:rPr lang="en-US" sz="1600" b="0" dirty="0">
                          <a:solidFill>
                            <a:schemeClr val="tx1"/>
                          </a:solidFill>
                          <a:latin typeface="Courier New"/>
                          <a:cs typeface="Courier New"/>
                        </a:rPr>
                        <a:t>L2:</a:t>
                      </a:r>
                      <a:r>
                        <a:rPr lang="en-US" sz="1600" b="0" baseline="0" dirty="0">
                          <a:solidFill>
                            <a:schemeClr val="tx1"/>
                          </a:solidFill>
                          <a:latin typeface="Courier New"/>
                          <a:cs typeface="Courier New"/>
                        </a:rPr>
                        <a:t> r2=</a:t>
                      </a:r>
                      <a:r>
                        <a:rPr lang="en-US" sz="1600" b="1" baseline="0" dirty="0" err="1">
                          <a:solidFill>
                            <a:srgbClr val="FF00FF"/>
                          </a:solidFill>
                          <a:latin typeface="Courier New"/>
                          <a:cs typeface="Courier New"/>
                        </a:rPr>
                        <a:t>x</a:t>
                      </a:r>
                      <a:endParaRPr lang="en-US" sz="1600" b="1" dirty="0">
                        <a:solidFill>
                          <a:srgbClr val="FF00FF"/>
                        </a:solidFill>
                        <a:latin typeface="Courier New"/>
                        <a:cs typeface="Courier New"/>
                      </a:endParaRP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5</a:t>
            </a:fld>
            <a:r>
              <a:rPr lang="en-US"/>
              <a:t> </a:t>
            </a:r>
          </a:p>
        </p:txBody>
      </p:sp>
      <p:sp>
        <p:nvSpPr>
          <p:cNvPr id="13" name="TextBox 12"/>
          <p:cNvSpPr txBox="1"/>
          <p:nvPr/>
        </p:nvSpPr>
        <p:spPr>
          <a:xfrm>
            <a:off x="558164" y="5518960"/>
            <a:ext cx="8070937" cy="1631216"/>
          </a:xfrm>
          <a:prstGeom prst="rect">
            <a:avLst/>
          </a:prstGeom>
          <a:noFill/>
        </p:spPr>
        <p:txBody>
          <a:bodyPr wrap="square" rtlCol="0">
            <a:spAutoFit/>
          </a:bodyPr>
          <a:lstStyle/>
          <a:p>
            <a:r>
              <a:rPr lang="en-US" sz="2000" dirty="0"/>
              <a:t>This last result can happen on x86 processors from Intel and AMD due to their use of write buffering to enhance performance.</a:t>
            </a:r>
          </a:p>
          <a:p>
            <a:endParaRPr lang="en-US" sz="2000" dirty="0"/>
          </a:p>
          <a:p>
            <a:pPr marL="457200" indent="-457200"/>
            <a:endParaRPr lang="en-US" sz="2000" dirty="0"/>
          </a:p>
          <a:p>
            <a:pPr marL="457200" indent="-457200">
              <a:buAutoNum type="arabicPeriod"/>
            </a:pPr>
            <a:endParaRPr lang="en-US" sz="2000" dirty="0"/>
          </a:p>
        </p:txBody>
      </p:sp>
      <p:sp>
        <p:nvSpPr>
          <p:cNvPr id="8" name="TextBox 7"/>
          <p:cNvSpPr txBox="1"/>
          <p:nvPr/>
        </p:nvSpPr>
        <p:spPr>
          <a:xfrm>
            <a:off x="629159" y="3010515"/>
            <a:ext cx="8070937" cy="2246769"/>
          </a:xfrm>
          <a:prstGeom prst="rect">
            <a:avLst/>
          </a:prstGeom>
          <a:noFill/>
        </p:spPr>
        <p:txBody>
          <a:bodyPr wrap="square" rtlCol="0">
            <a:spAutoFit/>
          </a:bodyPr>
          <a:lstStyle/>
          <a:p>
            <a:r>
              <a:rPr lang="en-US" sz="2000" dirty="0"/>
              <a:t>What are “legal” outcomes after above code executes?</a:t>
            </a:r>
          </a:p>
          <a:p>
            <a:r>
              <a:rPr lang="en-US" sz="2000" dirty="0"/>
              <a:t>(r1, r2) = (0, NEW) for execution S1, L1, S2, then L2</a:t>
            </a:r>
          </a:p>
          <a:p>
            <a:r>
              <a:rPr lang="en-US" sz="2000" dirty="0"/>
              <a:t>(r1, r2) = (NEW, 0) for S2, L2, S1, and L1</a:t>
            </a:r>
          </a:p>
          <a:p>
            <a:r>
              <a:rPr lang="en-US" sz="2000" dirty="0"/>
              <a:t>(r1, r2) = (NEW, NEW), e.g., for S1, S2, L1, and L2</a:t>
            </a:r>
          </a:p>
          <a:p>
            <a:endParaRPr lang="en-US" sz="2000" dirty="0"/>
          </a:p>
          <a:p>
            <a:r>
              <a:rPr lang="en-US" sz="2000" dirty="0"/>
              <a:t>How about following?  Is this a legal outcome?</a:t>
            </a:r>
          </a:p>
          <a:p>
            <a:r>
              <a:rPr lang="en-US" sz="2000" dirty="0"/>
              <a:t>(r1, r2) = (0, 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Consistency Model</a:t>
            </a:r>
          </a:p>
        </p:txBody>
      </p:sp>
      <p:sp>
        <p:nvSpPr>
          <p:cNvPr id="3" name="Content Placeholder 2"/>
          <p:cNvSpPr>
            <a:spLocks noGrp="1"/>
          </p:cNvSpPr>
          <p:nvPr>
            <p:ph idx="1"/>
          </p:nvPr>
        </p:nvSpPr>
        <p:spPr>
          <a:xfrm>
            <a:off x="685800" y="1244600"/>
            <a:ext cx="7772400" cy="5156728"/>
          </a:xfrm>
        </p:spPr>
        <p:txBody>
          <a:bodyPr/>
          <a:lstStyle/>
          <a:p>
            <a:r>
              <a:rPr lang="en-US" dirty="0"/>
              <a:t>Memory consistency model specifies </a:t>
            </a:r>
            <a:r>
              <a:rPr lang="en-US" b="1" u="sng" dirty="0">
                <a:solidFill>
                  <a:srgbClr val="0000FF"/>
                </a:solidFill>
              </a:rPr>
              <a:t>allowable</a:t>
            </a:r>
            <a:r>
              <a:rPr lang="en-US" b="1" dirty="0">
                <a:solidFill>
                  <a:srgbClr val="0000FF"/>
                </a:solidFill>
              </a:rPr>
              <a:t> </a:t>
            </a:r>
            <a:r>
              <a:rPr lang="en-US" dirty="0"/>
              <a:t>orderings of loads and stores to </a:t>
            </a:r>
            <a:r>
              <a:rPr lang="en-US" b="1" dirty="0">
                <a:solidFill>
                  <a:srgbClr val="FF0000"/>
                </a:solidFill>
              </a:rPr>
              <a:t>different locations</a:t>
            </a:r>
            <a:r>
              <a:rPr lang="en-US" dirty="0"/>
              <a:t> (e.g., </a:t>
            </a:r>
            <a:r>
              <a:rPr lang="en-US" dirty="0" err="1"/>
              <a:t>x</a:t>
            </a:r>
            <a:r>
              <a:rPr lang="en-US" dirty="0"/>
              <a:t> and </a:t>
            </a:r>
            <a:r>
              <a:rPr lang="en-US" dirty="0" err="1"/>
              <a:t>y</a:t>
            </a:r>
            <a:r>
              <a:rPr lang="en-US" dirty="0"/>
              <a:t> last slide)</a:t>
            </a:r>
          </a:p>
          <a:p>
            <a:endParaRPr lang="en-US" dirty="0"/>
          </a:p>
          <a:p>
            <a:r>
              <a:rPr lang="en-US" dirty="0"/>
              <a:t>The number of </a:t>
            </a:r>
            <a:r>
              <a:rPr lang="en-US" u="sng" dirty="0"/>
              <a:t>allowable</a:t>
            </a:r>
            <a:r>
              <a:rPr lang="en-US" dirty="0"/>
              <a:t> execution orderings generally far greater than one.</a:t>
            </a:r>
          </a:p>
          <a:p>
            <a:endParaRPr lang="en-US" dirty="0"/>
          </a:p>
          <a:p>
            <a:r>
              <a:rPr lang="en-US" dirty="0"/>
              <a:t>Ordering of operations from different processors is non-deterministic.  Software must use synchronization (</a:t>
            </a:r>
            <a:r>
              <a:rPr lang="en-US" dirty="0" err="1"/>
              <a:t>mutexes</a:t>
            </a:r>
            <a:r>
              <a:rPr lang="en-US" dirty="0"/>
              <a:t>, semaphores, etc…) to provide determinism. </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6</a:t>
            </a:fld>
            <a:r>
              <a:rPr lang="en-US"/>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Consistency</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7</a:t>
            </a:fld>
            <a:r>
              <a:rPr lang="en-US"/>
              <a:t> </a:t>
            </a:r>
          </a:p>
        </p:txBody>
      </p:sp>
      <p:pic>
        <p:nvPicPr>
          <p:cNvPr id="5" name="Picture 4"/>
          <p:cNvPicPr>
            <a:picLocks noChangeAspect="1" noChangeArrowheads="1"/>
          </p:cNvPicPr>
          <p:nvPr/>
        </p:nvPicPr>
        <p:blipFill>
          <a:blip r:embed="rId3"/>
          <a:srcRect/>
          <a:stretch>
            <a:fillRect/>
          </a:stretch>
        </p:blipFill>
        <p:spPr bwMode="auto">
          <a:xfrm>
            <a:off x="216257" y="2745160"/>
            <a:ext cx="8664181" cy="3473846"/>
          </a:xfrm>
          <a:prstGeom prst="rect">
            <a:avLst/>
          </a:prstGeom>
          <a:noFill/>
          <a:ln w="12700">
            <a:noFill/>
            <a:miter lim="800000"/>
            <a:headEnd/>
            <a:tailEnd/>
          </a:ln>
        </p:spPr>
      </p:pic>
      <p:sp>
        <p:nvSpPr>
          <p:cNvPr id="6" name="Content Placeholder 2"/>
          <p:cNvSpPr>
            <a:spLocks noGrp="1"/>
          </p:cNvSpPr>
          <p:nvPr>
            <p:ph idx="1"/>
          </p:nvPr>
        </p:nvSpPr>
        <p:spPr>
          <a:xfrm>
            <a:off x="685800" y="1143678"/>
            <a:ext cx="7772400" cy="989018"/>
          </a:xfrm>
        </p:spPr>
        <p:txBody>
          <a:bodyPr/>
          <a:lstStyle/>
          <a:p>
            <a:r>
              <a:rPr lang="en-US" dirty="0"/>
              <a:t>Sequential consistency is basically a “naïve” programmer’s intuition of allowable orderings:</a:t>
            </a:r>
          </a:p>
        </p:txBody>
      </p:sp>
      <p:sp>
        <p:nvSpPr>
          <p:cNvPr id="7" name="Rectangle 6"/>
          <p:cNvSpPr/>
          <p:nvPr/>
        </p:nvSpPr>
        <p:spPr bwMode="auto">
          <a:xfrm>
            <a:off x="7277100" y="4432300"/>
            <a:ext cx="850900" cy="254000"/>
          </a:xfrm>
          <a:prstGeom prst="rect">
            <a:avLst/>
          </a:prstGeom>
          <a:solidFill>
            <a:srgbClr val="FF0000">
              <a:alpha val="52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Sequential Consistency</a:t>
            </a:r>
          </a:p>
        </p:txBody>
      </p:sp>
      <p:sp>
        <p:nvSpPr>
          <p:cNvPr id="3" name="Content Placeholder 2"/>
          <p:cNvSpPr>
            <a:spLocks noGrp="1"/>
          </p:cNvSpPr>
          <p:nvPr>
            <p:ph idx="1"/>
          </p:nvPr>
        </p:nvSpPr>
        <p:spPr>
          <a:xfrm>
            <a:off x="685800" y="1371600"/>
            <a:ext cx="7772400" cy="4965700"/>
          </a:xfrm>
        </p:spPr>
        <p:txBody>
          <a:bodyPr/>
          <a:lstStyle/>
          <a:p>
            <a:r>
              <a:rPr lang="en-US" dirty="0"/>
              <a:t>A multiprocessor is </a:t>
            </a:r>
            <a:r>
              <a:rPr lang="en-US" i="1" u="sng" dirty="0">
                <a:solidFill>
                  <a:srgbClr val="0000FF"/>
                </a:solidFill>
              </a:rPr>
              <a:t>sequentially consistent</a:t>
            </a:r>
            <a:r>
              <a:rPr lang="en-US" dirty="0"/>
              <a:t> if the result of any execution is the same as if the operations of all the processors were executed in some sequence, and the operations of each individual processor appear in this sequence in the order specified by its program (</a:t>
            </a:r>
            <a:r>
              <a:rPr lang="en-US" dirty="0" err="1"/>
              <a:t>Lamport</a:t>
            </a:r>
            <a:r>
              <a:rPr lang="en-US" dirty="0"/>
              <a:t>)</a:t>
            </a:r>
          </a:p>
          <a:p>
            <a:endParaRPr lang="en-US" dirty="0"/>
          </a:p>
          <a:p>
            <a:r>
              <a:rPr lang="en-US" dirty="0"/>
              <a:t>Note: Parallelism still possible (many interleaving orders are equivalent).  </a:t>
            </a:r>
          </a:p>
          <a:p>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8</a:t>
            </a:fld>
            <a:r>
              <a:rPr lang="en-US"/>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Order</a:t>
            </a:r>
          </a:p>
        </p:txBody>
      </p:sp>
      <p:sp>
        <p:nvSpPr>
          <p:cNvPr id="3" name="Content Placeholder 2"/>
          <p:cNvSpPr>
            <a:spLocks noGrp="1"/>
          </p:cNvSpPr>
          <p:nvPr>
            <p:ph idx="1"/>
          </p:nvPr>
        </p:nvSpPr>
        <p:spPr/>
        <p:txBody>
          <a:bodyPr/>
          <a:lstStyle/>
          <a:p>
            <a:r>
              <a:rPr lang="en-US" dirty="0"/>
              <a:t>Single writer multiple reader (SWMR) restriction implies all memory operations can be placed into a global “memory order”</a:t>
            </a:r>
          </a:p>
          <a:p>
            <a:endParaRPr lang="en-US" dirty="0"/>
          </a:p>
          <a:p>
            <a:r>
              <a:rPr lang="en-US" dirty="0"/>
              <a:t>Consistency can then be defined in terms of relationship of “program order” to “memory order”</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9</a:t>
            </a:fld>
            <a:r>
              <a:rPr lang="en-US"/>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Revisited</a:t>
            </a:r>
          </a:p>
        </p:txBody>
      </p:sp>
      <p:sp>
        <p:nvSpPr>
          <p:cNvPr id="3" name="Content Placeholder 2"/>
          <p:cNvSpPr>
            <a:spLocks noGrp="1"/>
          </p:cNvSpPr>
          <p:nvPr>
            <p:ph idx="1"/>
          </p:nvPr>
        </p:nvSpPr>
        <p:spPr>
          <a:xfrm>
            <a:off x="1320771" y="944245"/>
            <a:ext cx="6705923" cy="651205"/>
          </a:xfrm>
        </p:spPr>
        <p:txBody>
          <a:bodyPr/>
          <a:lstStyle/>
          <a:p>
            <a:pPr>
              <a:buNone/>
            </a:pPr>
            <a:r>
              <a:rPr lang="en-US" dirty="0"/>
              <a:t>Sequential Consistent memory ordering</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10</a:t>
            </a:fld>
            <a:r>
              <a:rPr lang="en-US"/>
              <a:t> </a:t>
            </a:r>
          </a:p>
        </p:txBody>
      </p:sp>
      <p:cxnSp>
        <p:nvCxnSpPr>
          <p:cNvPr id="6" name="Straight Arrow Connector 5"/>
          <p:cNvCxnSpPr/>
          <p:nvPr/>
        </p:nvCxnSpPr>
        <p:spPr bwMode="auto">
          <a:xfrm rot="16200000" flipH="1">
            <a:off x="-228600" y="3989417"/>
            <a:ext cx="3566139" cy="1549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TextBox 7"/>
          <p:cNvSpPr txBox="1"/>
          <p:nvPr/>
        </p:nvSpPr>
        <p:spPr>
          <a:xfrm>
            <a:off x="227939" y="1709410"/>
            <a:ext cx="2801819" cy="369332"/>
          </a:xfrm>
          <a:prstGeom prst="rect">
            <a:avLst/>
          </a:prstGeom>
          <a:noFill/>
        </p:spPr>
        <p:txBody>
          <a:bodyPr wrap="none" rtlCol="0">
            <a:spAutoFit/>
          </a:bodyPr>
          <a:lstStyle/>
          <a:p>
            <a:r>
              <a:rPr lang="en-US" sz="1800" dirty="0"/>
              <a:t>Program order of core C1</a:t>
            </a:r>
          </a:p>
        </p:txBody>
      </p:sp>
      <p:sp>
        <p:nvSpPr>
          <p:cNvPr id="9" name="TextBox 8"/>
          <p:cNvSpPr txBox="1"/>
          <p:nvPr/>
        </p:nvSpPr>
        <p:spPr>
          <a:xfrm>
            <a:off x="3571479" y="1699008"/>
            <a:ext cx="1621282" cy="369332"/>
          </a:xfrm>
          <a:prstGeom prst="rect">
            <a:avLst/>
          </a:prstGeom>
          <a:noFill/>
        </p:spPr>
        <p:txBody>
          <a:bodyPr wrap="none" rtlCol="0">
            <a:spAutoFit/>
          </a:bodyPr>
          <a:lstStyle/>
          <a:p>
            <a:r>
              <a:rPr lang="en-US" sz="1800" dirty="0"/>
              <a:t>Memory order</a:t>
            </a:r>
          </a:p>
        </p:txBody>
      </p:sp>
      <p:sp>
        <p:nvSpPr>
          <p:cNvPr id="10" name="TextBox 9"/>
          <p:cNvSpPr txBox="1"/>
          <p:nvPr/>
        </p:nvSpPr>
        <p:spPr>
          <a:xfrm>
            <a:off x="6013678" y="1699009"/>
            <a:ext cx="2801819" cy="369332"/>
          </a:xfrm>
          <a:prstGeom prst="rect">
            <a:avLst/>
          </a:prstGeom>
          <a:noFill/>
        </p:spPr>
        <p:txBody>
          <a:bodyPr wrap="none" rtlCol="0">
            <a:spAutoFit/>
          </a:bodyPr>
          <a:lstStyle/>
          <a:p>
            <a:r>
              <a:rPr lang="en-US" sz="1800" dirty="0"/>
              <a:t>Program order of core C2</a:t>
            </a:r>
          </a:p>
        </p:txBody>
      </p:sp>
      <p:cxnSp>
        <p:nvCxnSpPr>
          <p:cNvPr id="11" name="Straight Arrow Connector 10"/>
          <p:cNvCxnSpPr/>
          <p:nvPr/>
        </p:nvCxnSpPr>
        <p:spPr bwMode="auto">
          <a:xfrm rot="16200000" flipH="1">
            <a:off x="2691623" y="4011577"/>
            <a:ext cx="3566139" cy="1549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 name="Straight Arrow Connector 11"/>
          <p:cNvCxnSpPr/>
          <p:nvPr/>
        </p:nvCxnSpPr>
        <p:spPr bwMode="auto">
          <a:xfrm rot="16200000" flipH="1">
            <a:off x="5628134" y="4017456"/>
            <a:ext cx="3566139" cy="1549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Straight Arrow Connector 13"/>
          <p:cNvCxnSpPr/>
          <p:nvPr/>
        </p:nvCxnSpPr>
        <p:spPr bwMode="auto">
          <a:xfrm rot="10800000">
            <a:off x="4444802" y="2555977"/>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15" name="TextBox 14"/>
          <p:cNvSpPr txBox="1"/>
          <p:nvPr/>
        </p:nvSpPr>
        <p:spPr>
          <a:xfrm>
            <a:off x="5226306" y="2262934"/>
            <a:ext cx="1531188" cy="307777"/>
          </a:xfrm>
          <a:prstGeom prst="rect">
            <a:avLst/>
          </a:prstGeom>
          <a:noFill/>
        </p:spPr>
        <p:txBody>
          <a:bodyPr wrap="none" rtlCol="0">
            <a:spAutoFit/>
          </a:bodyPr>
          <a:lstStyle/>
          <a:p>
            <a:r>
              <a:rPr lang="en-US" dirty="0"/>
              <a:t>L1: r1=flag /* 0 */</a:t>
            </a:r>
          </a:p>
        </p:txBody>
      </p:sp>
      <p:cxnSp>
        <p:nvCxnSpPr>
          <p:cNvPr id="20" name="Straight Arrow Connector 19"/>
          <p:cNvCxnSpPr/>
          <p:nvPr/>
        </p:nvCxnSpPr>
        <p:spPr bwMode="auto">
          <a:xfrm flipV="1">
            <a:off x="1530445" y="2968859"/>
            <a:ext cx="2920225" cy="10401"/>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2" name="TextBox 21"/>
          <p:cNvSpPr txBox="1"/>
          <p:nvPr/>
        </p:nvSpPr>
        <p:spPr>
          <a:xfrm>
            <a:off x="1959632" y="2675816"/>
            <a:ext cx="2240955" cy="307777"/>
          </a:xfrm>
          <a:prstGeom prst="rect">
            <a:avLst/>
          </a:prstGeom>
          <a:noFill/>
        </p:spPr>
        <p:txBody>
          <a:bodyPr wrap="square" rtlCol="0">
            <a:spAutoFit/>
          </a:bodyPr>
          <a:lstStyle/>
          <a:p>
            <a:r>
              <a:rPr lang="en-US" dirty="0"/>
              <a:t>S1: data=NEW /* NEW */</a:t>
            </a:r>
          </a:p>
        </p:txBody>
      </p:sp>
      <p:cxnSp>
        <p:nvCxnSpPr>
          <p:cNvPr id="23" name="Straight Arrow Connector 22"/>
          <p:cNvCxnSpPr/>
          <p:nvPr/>
        </p:nvCxnSpPr>
        <p:spPr bwMode="auto">
          <a:xfrm rot="10800000">
            <a:off x="4466951" y="3310741"/>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4" name="TextBox 23"/>
          <p:cNvSpPr txBox="1"/>
          <p:nvPr/>
        </p:nvSpPr>
        <p:spPr>
          <a:xfrm>
            <a:off x="5248455" y="3017698"/>
            <a:ext cx="1531188" cy="307777"/>
          </a:xfrm>
          <a:prstGeom prst="rect">
            <a:avLst/>
          </a:prstGeom>
          <a:noFill/>
        </p:spPr>
        <p:txBody>
          <a:bodyPr wrap="none" rtlCol="0">
            <a:spAutoFit/>
          </a:bodyPr>
          <a:lstStyle/>
          <a:p>
            <a:r>
              <a:rPr lang="en-US" dirty="0"/>
              <a:t>L1: r1=flag /* 0 */</a:t>
            </a:r>
          </a:p>
        </p:txBody>
      </p:sp>
      <p:cxnSp>
        <p:nvCxnSpPr>
          <p:cNvPr id="25" name="Straight Arrow Connector 24"/>
          <p:cNvCxnSpPr/>
          <p:nvPr/>
        </p:nvCxnSpPr>
        <p:spPr bwMode="auto">
          <a:xfrm rot="10800000">
            <a:off x="4472822" y="3788741"/>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6" name="TextBox 25"/>
          <p:cNvSpPr txBox="1"/>
          <p:nvPr/>
        </p:nvSpPr>
        <p:spPr>
          <a:xfrm>
            <a:off x="5254326" y="3495698"/>
            <a:ext cx="1531188" cy="307777"/>
          </a:xfrm>
          <a:prstGeom prst="rect">
            <a:avLst/>
          </a:prstGeom>
          <a:noFill/>
        </p:spPr>
        <p:txBody>
          <a:bodyPr wrap="none" rtlCol="0">
            <a:spAutoFit/>
          </a:bodyPr>
          <a:lstStyle/>
          <a:p>
            <a:r>
              <a:rPr lang="en-US" dirty="0"/>
              <a:t>L1: r1=flag /* 0 */</a:t>
            </a:r>
          </a:p>
        </p:txBody>
      </p:sp>
      <p:cxnSp>
        <p:nvCxnSpPr>
          <p:cNvPr id="27" name="Straight Arrow Connector 26"/>
          <p:cNvCxnSpPr/>
          <p:nvPr/>
        </p:nvCxnSpPr>
        <p:spPr bwMode="auto">
          <a:xfrm flipV="1">
            <a:off x="1585157" y="4374828"/>
            <a:ext cx="2920225" cy="10401"/>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8" name="TextBox 27"/>
          <p:cNvSpPr txBox="1"/>
          <p:nvPr/>
        </p:nvSpPr>
        <p:spPr>
          <a:xfrm>
            <a:off x="2014344" y="4081785"/>
            <a:ext cx="2240955" cy="307777"/>
          </a:xfrm>
          <a:prstGeom prst="rect">
            <a:avLst/>
          </a:prstGeom>
          <a:noFill/>
        </p:spPr>
        <p:txBody>
          <a:bodyPr wrap="square" rtlCol="0">
            <a:spAutoFit/>
          </a:bodyPr>
          <a:lstStyle/>
          <a:p>
            <a:r>
              <a:rPr lang="en-US" dirty="0"/>
              <a:t>S2: flag=SET /* SET */</a:t>
            </a:r>
          </a:p>
        </p:txBody>
      </p:sp>
      <p:cxnSp>
        <p:nvCxnSpPr>
          <p:cNvPr id="29" name="Straight Arrow Connector 28"/>
          <p:cNvCxnSpPr/>
          <p:nvPr/>
        </p:nvCxnSpPr>
        <p:spPr bwMode="auto">
          <a:xfrm rot="10800000">
            <a:off x="4478690" y="4722587"/>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30" name="TextBox 29"/>
          <p:cNvSpPr txBox="1"/>
          <p:nvPr/>
        </p:nvSpPr>
        <p:spPr>
          <a:xfrm>
            <a:off x="5260194" y="4429544"/>
            <a:ext cx="1774845" cy="307777"/>
          </a:xfrm>
          <a:prstGeom prst="rect">
            <a:avLst/>
          </a:prstGeom>
          <a:noFill/>
        </p:spPr>
        <p:txBody>
          <a:bodyPr wrap="none" rtlCol="0">
            <a:spAutoFit/>
          </a:bodyPr>
          <a:lstStyle/>
          <a:p>
            <a:r>
              <a:rPr lang="en-US" dirty="0"/>
              <a:t>L1: r1=flag /* SET */</a:t>
            </a:r>
          </a:p>
        </p:txBody>
      </p:sp>
      <p:cxnSp>
        <p:nvCxnSpPr>
          <p:cNvPr id="31" name="Straight Arrow Connector 30"/>
          <p:cNvCxnSpPr/>
          <p:nvPr/>
        </p:nvCxnSpPr>
        <p:spPr bwMode="auto">
          <a:xfrm rot="10800000">
            <a:off x="4484558" y="5347111"/>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32" name="TextBox 31"/>
          <p:cNvSpPr txBox="1"/>
          <p:nvPr/>
        </p:nvSpPr>
        <p:spPr>
          <a:xfrm>
            <a:off x="5266062" y="5054068"/>
            <a:ext cx="1906041" cy="307777"/>
          </a:xfrm>
          <a:prstGeom prst="rect">
            <a:avLst/>
          </a:prstGeom>
          <a:noFill/>
        </p:spPr>
        <p:txBody>
          <a:bodyPr wrap="none" rtlCol="0">
            <a:spAutoFit/>
          </a:bodyPr>
          <a:lstStyle/>
          <a:p>
            <a:r>
              <a:rPr lang="en-US" dirty="0"/>
              <a:t>L2: r2=data /* NEW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 Ordering Rules</a:t>
            </a:r>
          </a:p>
        </p:txBody>
      </p:sp>
      <p:sp>
        <p:nvSpPr>
          <p:cNvPr id="3" name="Content Placeholder 2"/>
          <p:cNvSpPr>
            <a:spLocks noGrp="1"/>
          </p:cNvSpPr>
          <p:nvPr>
            <p:ph idx="1"/>
          </p:nvPr>
        </p:nvSpPr>
        <p:spPr/>
        <p:txBody>
          <a:bodyPr/>
          <a:lstStyle/>
          <a:p>
            <a:pPr>
              <a:buNone/>
            </a:pPr>
            <a:r>
              <a:rPr lang="en-US" dirty="0"/>
              <a:t>	Operations from a </a:t>
            </a:r>
            <a:r>
              <a:rPr lang="en-US" dirty="0">
                <a:solidFill>
                  <a:srgbClr val="FF0000"/>
                </a:solidFill>
              </a:rPr>
              <a:t>single thread </a:t>
            </a:r>
            <a:r>
              <a:rPr lang="en-US" dirty="0"/>
              <a:t>must respect following orderings when placed into memory order:</a:t>
            </a:r>
          </a:p>
          <a:p>
            <a:pPr>
              <a:buNone/>
            </a:pPr>
            <a:endParaRPr lang="en-US" dirty="0"/>
          </a:p>
          <a:p>
            <a:r>
              <a:rPr lang="en-US" dirty="0">
                <a:solidFill>
                  <a:srgbClr val="0000FF"/>
                </a:solidFill>
              </a:rPr>
              <a:t>Load -&gt; Load</a:t>
            </a:r>
          </a:p>
          <a:p>
            <a:r>
              <a:rPr lang="en-US" dirty="0">
                <a:solidFill>
                  <a:srgbClr val="0000FF"/>
                </a:solidFill>
              </a:rPr>
              <a:t>Load -&gt; Store</a:t>
            </a:r>
          </a:p>
          <a:p>
            <a:r>
              <a:rPr lang="en-US" dirty="0">
                <a:solidFill>
                  <a:srgbClr val="0000FF"/>
                </a:solidFill>
              </a:rPr>
              <a:t>Store -&gt; Store</a:t>
            </a:r>
          </a:p>
          <a:p>
            <a:r>
              <a:rPr lang="en-US" dirty="0">
                <a:solidFill>
                  <a:srgbClr val="0000FF"/>
                </a:solidFill>
              </a:rPr>
              <a:t>Store -&gt; Load</a:t>
            </a:r>
          </a:p>
          <a:p>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11</a:t>
            </a:fld>
            <a:r>
              <a:rPr lang="en-US"/>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Revisited</a:t>
            </a:r>
          </a:p>
        </p:txBody>
      </p:sp>
      <p:sp>
        <p:nvSpPr>
          <p:cNvPr id="3" name="Content Placeholder 2"/>
          <p:cNvSpPr>
            <a:spLocks noGrp="1"/>
          </p:cNvSpPr>
          <p:nvPr>
            <p:ph idx="1"/>
          </p:nvPr>
        </p:nvSpPr>
        <p:spPr>
          <a:xfrm>
            <a:off x="292071" y="1172845"/>
            <a:ext cx="5943629" cy="651205"/>
          </a:xfrm>
        </p:spPr>
        <p:txBody>
          <a:bodyPr/>
          <a:lstStyle/>
          <a:p>
            <a:pPr>
              <a:buNone/>
            </a:pPr>
            <a:r>
              <a:rPr lang="en-US" dirty="0"/>
              <a:t>Example of Non-SC execution:</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12</a:t>
            </a:fld>
            <a:r>
              <a:rPr lang="en-US"/>
              <a:t> </a:t>
            </a:r>
          </a:p>
        </p:txBody>
      </p:sp>
      <p:cxnSp>
        <p:nvCxnSpPr>
          <p:cNvPr id="6" name="Straight Arrow Connector 5"/>
          <p:cNvCxnSpPr/>
          <p:nvPr/>
        </p:nvCxnSpPr>
        <p:spPr bwMode="auto">
          <a:xfrm rot="16200000" flipH="1">
            <a:off x="559608" y="3506008"/>
            <a:ext cx="1976910" cy="267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TextBox 7"/>
          <p:cNvSpPr txBox="1"/>
          <p:nvPr/>
        </p:nvSpPr>
        <p:spPr>
          <a:xfrm>
            <a:off x="227939" y="2014210"/>
            <a:ext cx="2801819" cy="369332"/>
          </a:xfrm>
          <a:prstGeom prst="rect">
            <a:avLst/>
          </a:prstGeom>
          <a:noFill/>
        </p:spPr>
        <p:txBody>
          <a:bodyPr wrap="none" rtlCol="0">
            <a:spAutoFit/>
          </a:bodyPr>
          <a:lstStyle/>
          <a:p>
            <a:r>
              <a:rPr lang="en-US" sz="1800" dirty="0"/>
              <a:t>Program order of core C1</a:t>
            </a:r>
          </a:p>
        </p:txBody>
      </p:sp>
      <p:sp>
        <p:nvSpPr>
          <p:cNvPr id="9" name="TextBox 8"/>
          <p:cNvSpPr txBox="1"/>
          <p:nvPr/>
        </p:nvSpPr>
        <p:spPr>
          <a:xfrm>
            <a:off x="3571479" y="2003808"/>
            <a:ext cx="1621282" cy="369332"/>
          </a:xfrm>
          <a:prstGeom prst="rect">
            <a:avLst/>
          </a:prstGeom>
          <a:noFill/>
        </p:spPr>
        <p:txBody>
          <a:bodyPr wrap="none" rtlCol="0">
            <a:spAutoFit/>
          </a:bodyPr>
          <a:lstStyle/>
          <a:p>
            <a:r>
              <a:rPr lang="en-US" sz="1800" dirty="0"/>
              <a:t>Memory order</a:t>
            </a:r>
          </a:p>
        </p:txBody>
      </p:sp>
      <p:sp>
        <p:nvSpPr>
          <p:cNvPr id="10" name="TextBox 9"/>
          <p:cNvSpPr txBox="1"/>
          <p:nvPr/>
        </p:nvSpPr>
        <p:spPr>
          <a:xfrm>
            <a:off x="6013678" y="2003809"/>
            <a:ext cx="2801819" cy="369332"/>
          </a:xfrm>
          <a:prstGeom prst="rect">
            <a:avLst/>
          </a:prstGeom>
          <a:noFill/>
        </p:spPr>
        <p:txBody>
          <a:bodyPr wrap="none" rtlCol="0">
            <a:spAutoFit/>
          </a:bodyPr>
          <a:lstStyle/>
          <a:p>
            <a:r>
              <a:rPr lang="en-US" sz="1800" dirty="0"/>
              <a:t>Program order of core C2</a:t>
            </a:r>
          </a:p>
        </p:txBody>
      </p:sp>
      <p:cxnSp>
        <p:nvCxnSpPr>
          <p:cNvPr id="11" name="Straight Arrow Connector 10"/>
          <p:cNvCxnSpPr/>
          <p:nvPr/>
        </p:nvCxnSpPr>
        <p:spPr bwMode="auto">
          <a:xfrm rot="16200000" flipH="1">
            <a:off x="3484948" y="3523051"/>
            <a:ext cx="1967450" cy="345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 name="Straight Arrow Connector 11"/>
          <p:cNvCxnSpPr/>
          <p:nvPr/>
        </p:nvCxnSpPr>
        <p:spPr bwMode="auto">
          <a:xfrm rot="16200000" flipH="1">
            <a:off x="6372194" y="3578196"/>
            <a:ext cx="2075871" cy="1334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Straight Arrow Connector 13"/>
          <p:cNvCxnSpPr/>
          <p:nvPr/>
        </p:nvCxnSpPr>
        <p:spPr bwMode="auto">
          <a:xfrm rot="10800000">
            <a:off x="5190068" y="2908301"/>
            <a:ext cx="2217939" cy="17599"/>
          </a:xfrm>
          <a:prstGeom prst="straightConnector1">
            <a:avLst/>
          </a:prstGeom>
          <a:solidFill>
            <a:schemeClr val="accent1"/>
          </a:solidFill>
          <a:ln w="9525" cap="flat" cmpd="sng" algn="ctr">
            <a:solidFill>
              <a:schemeClr val="tx1"/>
            </a:solidFill>
            <a:prstDash val="dash"/>
            <a:round/>
            <a:headEnd type="none" w="med" len="med"/>
            <a:tailEnd type="none"/>
          </a:ln>
          <a:effectLst/>
        </p:spPr>
      </p:cxnSp>
      <p:sp>
        <p:nvSpPr>
          <p:cNvPr id="15" name="TextBox 14"/>
          <p:cNvSpPr txBox="1"/>
          <p:nvPr/>
        </p:nvSpPr>
        <p:spPr>
          <a:xfrm>
            <a:off x="5239006" y="2567734"/>
            <a:ext cx="1980029" cy="307777"/>
          </a:xfrm>
          <a:prstGeom prst="rect">
            <a:avLst/>
          </a:prstGeom>
          <a:noFill/>
        </p:spPr>
        <p:txBody>
          <a:bodyPr wrap="none" rtlCol="0">
            <a:spAutoFit/>
          </a:bodyPr>
          <a:lstStyle/>
          <a:p>
            <a:r>
              <a:rPr lang="en-US" b="1" dirty="0"/>
              <a:t>S2: </a:t>
            </a:r>
            <a:r>
              <a:rPr lang="en-US" dirty="0" err="1"/>
              <a:t>y</a:t>
            </a:r>
            <a:r>
              <a:rPr lang="en-US" dirty="0"/>
              <a:t>=NEW  /* NEW */</a:t>
            </a:r>
          </a:p>
        </p:txBody>
      </p:sp>
      <p:cxnSp>
        <p:nvCxnSpPr>
          <p:cNvPr id="20" name="Straight Arrow Connector 19"/>
          <p:cNvCxnSpPr/>
          <p:nvPr/>
        </p:nvCxnSpPr>
        <p:spPr bwMode="auto">
          <a:xfrm flipV="1">
            <a:off x="1543145" y="3476859"/>
            <a:ext cx="2920225" cy="10401"/>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2" name="TextBox 21"/>
          <p:cNvSpPr txBox="1"/>
          <p:nvPr/>
        </p:nvSpPr>
        <p:spPr>
          <a:xfrm>
            <a:off x="2010432" y="3183816"/>
            <a:ext cx="2240955" cy="307777"/>
          </a:xfrm>
          <a:prstGeom prst="rect">
            <a:avLst/>
          </a:prstGeom>
          <a:noFill/>
        </p:spPr>
        <p:txBody>
          <a:bodyPr wrap="square" rtlCol="0">
            <a:spAutoFit/>
          </a:bodyPr>
          <a:lstStyle/>
          <a:p>
            <a:r>
              <a:rPr lang="en-US" dirty="0"/>
              <a:t>S1: </a:t>
            </a:r>
            <a:r>
              <a:rPr lang="en-US" dirty="0" err="1"/>
              <a:t>x</a:t>
            </a:r>
            <a:r>
              <a:rPr lang="en-US" dirty="0"/>
              <a:t>=NEW /* NEW */</a:t>
            </a:r>
          </a:p>
        </p:txBody>
      </p:sp>
      <p:cxnSp>
        <p:nvCxnSpPr>
          <p:cNvPr id="23" name="Straight Arrow Connector 22"/>
          <p:cNvCxnSpPr/>
          <p:nvPr/>
        </p:nvCxnSpPr>
        <p:spPr bwMode="auto">
          <a:xfrm rot="10800000">
            <a:off x="4454251" y="3313041"/>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4" name="TextBox 23"/>
          <p:cNvSpPr txBox="1"/>
          <p:nvPr/>
        </p:nvSpPr>
        <p:spPr>
          <a:xfrm>
            <a:off x="5248455" y="3013178"/>
            <a:ext cx="1351652" cy="307777"/>
          </a:xfrm>
          <a:prstGeom prst="rect">
            <a:avLst/>
          </a:prstGeom>
          <a:noFill/>
        </p:spPr>
        <p:txBody>
          <a:bodyPr wrap="none" rtlCol="0">
            <a:spAutoFit/>
          </a:bodyPr>
          <a:lstStyle/>
          <a:p>
            <a:r>
              <a:rPr lang="en-US" b="1" dirty="0"/>
              <a:t>L2: </a:t>
            </a:r>
            <a:r>
              <a:rPr lang="en-US" dirty="0"/>
              <a:t>r2=</a:t>
            </a:r>
            <a:r>
              <a:rPr lang="en-US" dirty="0" err="1"/>
              <a:t>x</a:t>
            </a:r>
            <a:r>
              <a:rPr lang="en-US" dirty="0"/>
              <a:t> /* 0 */</a:t>
            </a:r>
          </a:p>
        </p:txBody>
      </p:sp>
      <p:cxnSp>
        <p:nvCxnSpPr>
          <p:cNvPr id="27" name="Straight Arrow Connector 26"/>
          <p:cNvCxnSpPr/>
          <p:nvPr/>
        </p:nvCxnSpPr>
        <p:spPr bwMode="auto">
          <a:xfrm flipV="1">
            <a:off x="1547057" y="3835028"/>
            <a:ext cx="2920225" cy="10401"/>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8" name="TextBox 27"/>
          <p:cNvSpPr txBox="1"/>
          <p:nvPr/>
        </p:nvSpPr>
        <p:spPr>
          <a:xfrm>
            <a:off x="2014344" y="3541985"/>
            <a:ext cx="2240955" cy="307777"/>
          </a:xfrm>
          <a:prstGeom prst="rect">
            <a:avLst/>
          </a:prstGeom>
          <a:noFill/>
        </p:spPr>
        <p:txBody>
          <a:bodyPr wrap="square" rtlCol="0">
            <a:spAutoFit/>
          </a:bodyPr>
          <a:lstStyle/>
          <a:p>
            <a:r>
              <a:rPr lang="en-US" dirty="0"/>
              <a:t>L1: r1=</a:t>
            </a:r>
            <a:r>
              <a:rPr lang="en-US" dirty="0" err="1"/>
              <a:t>y</a:t>
            </a:r>
            <a:r>
              <a:rPr lang="en-US" dirty="0"/>
              <a:t> /* 0 */</a:t>
            </a:r>
          </a:p>
        </p:txBody>
      </p:sp>
      <p:cxnSp>
        <p:nvCxnSpPr>
          <p:cNvPr id="33" name="Straight Arrow Connector 32"/>
          <p:cNvCxnSpPr/>
          <p:nvPr/>
        </p:nvCxnSpPr>
        <p:spPr bwMode="auto">
          <a:xfrm rot="5400000">
            <a:off x="4178684" y="3204917"/>
            <a:ext cx="1277799" cy="719766"/>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1" name="TextBox 20"/>
          <p:cNvSpPr txBox="1"/>
          <p:nvPr/>
        </p:nvSpPr>
        <p:spPr>
          <a:xfrm>
            <a:off x="736600" y="5321300"/>
            <a:ext cx="7699769" cy="523220"/>
          </a:xfrm>
          <a:prstGeom prst="rect">
            <a:avLst/>
          </a:prstGeom>
          <a:noFill/>
        </p:spPr>
        <p:txBody>
          <a:bodyPr wrap="none" rtlCol="0">
            <a:spAutoFit/>
          </a:bodyPr>
          <a:lstStyle/>
          <a:p>
            <a:r>
              <a:rPr lang="en-US" sz="2800" dirty="0">
                <a:solidFill>
                  <a:srgbClr val="FF0000"/>
                </a:solidFill>
              </a:rPr>
              <a:t>S2 and L2 violate “Store -&gt; Load” ordering rule.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Revisited</a:t>
            </a:r>
          </a:p>
        </p:txBody>
      </p:sp>
      <p:graphicFrame>
        <p:nvGraphicFramePr>
          <p:cNvPr id="6" name="Content Placeholder 5"/>
          <p:cNvGraphicFramePr>
            <a:graphicFrameLocks noGrp="1"/>
          </p:cNvGraphicFramePr>
          <p:nvPr>
            <p:ph idx="1"/>
          </p:nvPr>
        </p:nvGraphicFramePr>
        <p:xfrm>
          <a:off x="179091" y="1464725"/>
          <a:ext cx="8824482" cy="1934217"/>
        </p:xfrm>
        <a:graphic>
          <a:graphicData uri="http://schemas.openxmlformats.org/drawingml/2006/table">
            <a:tbl>
              <a:tblPr firstRow="1" bandRow="1">
                <a:tableStyleId>{306799F8-075E-4A3A-A7F6-7FBC6576F1A4}</a:tableStyleId>
              </a:tblPr>
              <a:tblGrid>
                <a:gridCol w="2482074">
                  <a:extLst>
                    <a:ext uri="{9D8B030D-6E8A-4147-A177-3AD203B41FA5}">
                      <a16:colId xmlns:a16="http://schemas.microsoft.com/office/drawing/2014/main" val="20000"/>
                    </a:ext>
                  </a:extLst>
                </a:gridCol>
                <a:gridCol w="3452625">
                  <a:extLst>
                    <a:ext uri="{9D8B030D-6E8A-4147-A177-3AD203B41FA5}">
                      <a16:colId xmlns:a16="http://schemas.microsoft.com/office/drawing/2014/main" val="20001"/>
                    </a:ext>
                  </a:extLst>
                </a:gridCol>
                <a:gridCol w="2889783">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Store </a:t>
                      </a:r>
                      <a:r>
                        <a:rPr lang="en-US" sz="1600" b="1" dirty="0">
                          <a:solidFill>
                            <a:srgbClr val="FF00FF"/>
                          </a:solidFill>
                          <a:latin typeface="Courier New"/>
                          <a:cs typeface="Courier New"/>
                        </a:rPr>
                        <a:t>data</a:t>
                      </a:r>
                      <a:r>
                        <a:rPr lang="en-US" sz="1600" b="0" dirty="0">
                          <a:solidFill>
                            <a:schemeClr val="tx1"/>
                          </a:solidFill>
                          <a:latin typeface="Courier New"/>
                          <a:cs typeface="Courier New"/>
                        </a:rPr>
                        <a:t>=NEW</a:t>
                      </a:r>
                    </a:p>
                  </a:txBody>
                  <a:tcPr anchor="b"/>
                </a:tc>
                <a:tc>
                  <a:txBody>
                    <a:bodyPr/>
                    <a:lstStyle/>
                    <a:p>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a:solidFill>
                            <a:srgbClr val="0000FF"/>
                          </a:solidFill>
                          <a:latin typeface="Courier New"/>
                          <a:cs typeface="Courier New"/>
                        </a:rPr>
                        <a:t>data=0,</a:t>
                      </a:r>
                    </a:p>
                    <a:p>
                      <a:r>
                        <a:rPr lang="en-US" sz="1600" b="0" baseline="0" dirty="0">
                          <a:solidFill>
                            <a:srgbClr val="0000FF"/>
                          </a:solidFill>
                          <a:latin typeface="Courier New"/>
                          <a:cs typeface="Courier New"/>
                        </a:rPr>
                        <a:t>// flag != SET</a:t>
                      </a:r>
                      <a:endParaRPr lang="en-US" sz="1600" b="0" dirty="0">
                        <a:solidFill>
                          <a:srgbClr val="0000FF"/>
                        </a:solidFill>
                        <a:latin typeface="Courier New"/>
                        <a:cs typeface="Courier New"/>
                      </a:endParaRP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S2: Store </a:t>
                      </a:r>
                      <a:r>
                        <a:rPr lang="en-US" sz="1600" b="1" dirty="0">
                          <a:solidFill>
                            <a:srgbClr val="008000"/>
                          </a:solidFill>
                          <a:latin typeface="Courier New"/>
                          <a:cs typeface="Courier New"/>
                        </a:rPr>
                        <a:t>flag</a:t>
                      </a:r>
                      <a:r>
                        <a:rPr lang="en-US" sz="1600" b="0" dirty="0">
                          <a:solidFill>
                            <a:schemeClr val="tx1"/>
                          </a:solidFill>
                          <a:latin typeface="Courier New"/>
                          <a:cs typeface="Courier New"/>
                        </a:rPr>
                        <a:t>=SET</a:t>
                      </a:r>
                    </a:p>
                  </a:txBody>
                  <a:tcPr marT="0" marB="0"/>
                </a:tc>
                <a:tc>
                  <a:txBody>
                    <a:bodyPr/>
                    <a:lstStyle/>
                    <a:p>
                      <a:r>
                        <a:rPr lang="en-US" sz="1600" b="0" dirty="0">
                          <a:solidFill>
                            <a:schemeClr val="tx1"/>
                          </a:solidFill>
                          <a:latin typeface="Courier New"/>
                          <a:cs typeface="Courier New"/>
                        </a:rPr>
                        <a:t>L1: Load r1=</a:t>
                      </a:r>
                      <a:r>
                        <a:rPr lang="en-US" sz="1600" b="1" dirty="0">
                          <a:solidFill>
                            <a:srgbClr val="008000"/>
                          </a:solidFill>
                          <a:latin typeface="Courier New"/>
                          <a:cs typeface="Courier New"/>
                        </a:rPr>
                        <a:t>flag</a:t>
                      </a:r>
                    </a:p>
                  </a:txBody>
                  <a:tcPr marT="0" marB="0"/>
                </a:tc>
                <a:tc>
                  <a:txBody>
                    <a:bodyPr/>
                    <a:lstStyle/>
                    <a:p>
                      <a:r>
                        <a:rPr lang="en-US" sz="1600" b="0" dirty="0">
                          <a:solidFill>
                            <a:schemeClr val="tx1"/>
                          </a:solidFill>
                          <a:latin typeface="Courier New"/>
                          <a:cs typeface="Courier New"/>
                        </a:rPr>
                        <a:t>// L1</a:t>
                      </a:r>
                      <a:r>
                        <a:rPr lang="en-US" sz="1600" b="0" baseline="0" dirty="0">
                          <a:solidFill>
                            <a:schemeClr val="tx1"/>
                          </a:solidFill>
                          <a:latin typeface="Courier New"/>
                          <a:cs typeface="Courier New"/>
                        </a:rPr>
                        <a:t> and B1 may</a:t>
                      </a:r>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r h="293042">
                <a:tc>
                  <a:txBody>
                    <a:bodyPr/>
                    <a:lstStyle/>
                    <a:p>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B1: if( r1!=SET</a:t>
                      </a:r>
                      <a:r>
                        <a:rPr lang="en-US" sz="1600" b="0" baseline="0" dirty="0">
                          <a:solidFill>
                            <a:schemeClr val="tx1"/>
                          </a:solidFill>
                          <a:latin typeface="Courier New"/>
                          <a:cs typeface="Courier New"/>
                        </a:rPr>
                        <a:t> ) </a:t>
                      </a:r>
                      <a:r>
                        <a:rPr lang="en-US" sz="1600" b="0" baseline="0" dirty="0" err="1">
                          <a:solidFill>
                            <a:schemeClr val="tx1"/>
                          </a:solidFill>
                          <a:latin typeface="Courier New"/>
                          <a:cs typeface="Courier New"/>
                        </a:rPr>
                        <a:t>goto</a:t>
                      </a:r>
                      <a:r>
                        <a:rPr lang="en-US" sz="1600" b="0" baseline="0" dirty="0">
                          <a:solidFill>
                            <a:schemeClr val="tx1"/>
                          </a:solidFill>
                          <a:latin typeface="Courier New"/>
                          <a:cs typeface="Courier New"/>
                        </a:rPr>
                        <a:t> L1;</a:t>
                      </a:r>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a:t>
                      </a:r>
                      <a:r>
                        <a:rPr lang="en-US" sz="1600" b="0" baseline="0" dirty="0">
                          <a:solidFill>
                            <a:schemeClr val="tx1"/>
                          </a:solidFill>
                          <a:latin typeface="Courier New"/>
                          <a:cs typeface="Courier New"/>
                        </a:rPr>
                        <a:t> iterate many times</a:t>
                      </a:r>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3"/>
                  </a:ext>
                </a:extLst>
              </a:tr>
              <a:tr h="370840">
                <a:tc>
                  <a:txBody>
                    <a:bodyPr/>
                    <a:lstStyle/>
                    <a:p>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L2: Load r2=</a:t>
                      </a:r>
                      <a:r>
                        <a:rPr lang="en-US" sz="1600" b="1" dirty="0">
                          <a:solidFill>
                            <a:srgbClr val="FF00FF"/>
                          </a:solidFill>
                          <a:latin typeface="Courier New"/>
                          <a:cs typeface="Courier New"/>
                        </a:rPr>
                        <a:t>data</a:t>
                      </a: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13</a:t>
            </a:fld>
            <a:r>
              <a:rPr lang="en-US"/>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Revisited</a:t>
            </a:r>
          </a:p>
        </p:txBody>
      </p:sp>
      <p:graphicFrame>
        <p:nvGraphicFramePr>
          <p:cNvPr id="6" name="Content Placeholder 5"/>
          <p:cNvGraphicFramePr>
            <a:graphicFrameLocks noGrp="1"/>
          </p:cNvGraphicFramePr>
          <p:nvPr>
            <p:ph idx="1"/>
          </p:nvPr>
        </p:nvGraphicFramePr>
        <p:xfrm>
          <a:off x="699791" y="1464725"/>
          <a:ext cx="7771108" cy="1062055"/>
        </p:xfrm>
        <a:graphic>
          <a:graphicData uri="http://schemas.openxmlformats.org/drawingml/2006/table">
            <a:tbl>
              <a:tblPr firstRow="1" bandRow="1">
                <a:tableStyleId>{306799F8-075E-4A3A-A7F6-7FBC6576F1A4}</a:tableStyleId>
              </a:tblPr>
              <a:tblGrid>
                <a:gridCol w="2185790">
                  <a:extLst>
                    <a:ext uri="{9D8B030D-6E8A-4147-A177-3AD203B41FA5}">
                      <a16:colId xmlns:a16="http://schemas.microsoft.com/office/drawing/2014/main" val="20000"/>
                    </a:ext>
                  </a:extLst>
                </a:gridCol>
                <a:gridCol w="2264308">
                  <a:extLst>
                    <a:ext uri="{9D8B030D-6E8A-4147-A177-3AD203B41FA5}">
                      <a16:colId xmlns:a16="http://schemas.microsoft.com/office/drawing/2014/main" val="20001"/>
                    </a:ext>
                  </a:extLst>
                </a:gridCol>
                <a:gridCol w="3321010">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a:t>
                      </a:r>
                      <a:r>
                        <a:rPr lang="en-US" sz="1600" b="1" dirty="0" err="1">
                          <a:solidFill>
                            <a:srgbClr val="FF00FF"/>
                          </a:solidFill>
                          <a:latin typeface="Courier New"/>
                          <a:cs typeface="Courier New"/>
                        </a:rPr>
                        <a:t>x</a:t>
                      </a:r>
                      <a:r>
                        <a:rPr lang="en-US" sz="1600" b="0" dirty="0">
                          <a:solidFill>
                            <a:schemeClr val="tx1"/>
                          </a:solidFill>
                          <a:latin typeface="Courier New"/>
                          <a:cs typeface="Courier New"/>
                        </a:rPr>
                        <a:t>=NEW</a:t>
                      </a:r>
                    </a:p>
                  </a:txBody>
                  <a:tcPr anchor="b"/>
                </a:tc>
                <a:tc>
                  <a:txBody>
                    <a:bodyPr/>
                    <a:lstStyle/>
                    <a:p>
                      <a:r>
                        <a:rPr lang="en-US" sz="1600" b="0" dirty="0">
                          <a:solidFill>
                            <a:schemeClr val="tx1"/>
                          </a:solidFill>
                          <a:latin typeface="Courier New"/>
                          <a:cs typeface="Courier New"/>
                        </a:rPr>
                        <a:t>S2:</a:t>
                      </a:r>
                      <a:r>
                        <a:rPr lang="en-US" sz="1600" b="0" baseline="0" dirty="0">
                          <a:solidFill>
                            <a:schemeClr val="tx1"/>
                          </a:solidFill>
                          <a:latin typeface="Courier New"/>
                          <a:cs typeface="Courier New"/>
                        </a:rPr>
                        <a:t> </a:t>
                      </a:r>
                      <a:r>
                        <a:rPr lang="en-US" sz="1600" b="1" baseline="0" dirty="0" err="1">
                          <a:solidFill>
                            <a:srgbClr val="008000"/>
                          </a:solidFill>
                          <a:latin typeface="Courier New"/>
                          <a:cs typeface="Courier New"/>
                        </a:rPr>
                        <a:t>y</a:t>
                      </a:r>
                      <a:r>
                        <a:rPr lang="en-US" sz="1600" b="0" baseline="0" dirty="0">
                          <a:solidFill>
                            <a:schemeClr val="tx1"/>
                          </a:solidFill>
                          <a:latin typeface="Courier New"/>
                          <a:cs typeface="Courier New"/>
                        </a:rPr>
                        <a:t>=NEW</a:t>
                      </a:r>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err="1">
                          <a:solidFill>
                            <a:srgbClr val="0000FF"/>
                          </a:solidFill>
                          <a:latin typeface="Courier New"/>
                          <a:cs typeface="Courier New"/>
                        </a:rPr>
                        <a:t>x</a:t>
                      </a:r>
                      <a:r>
                        <a:rPr lang="en-US" sz="1600" b="0" dirty="0">
                          <a:solidFill>
                            <a:srgbClr val="0000FF"/>
                          </a:solidFill>
                          <a:latin typeface="Courier New"/>
                          <a:cs typeface="Courier New"/>
                        </a:rPr>
                        <a:t>=</a:t>
                      </a:r>
                      <a:r>
                        <a:rPr lang="en-US" sz="1600" b="0" dirty="0" err="1">
                          <a:solidFill>
                            <a:srgbClr val="0000FF"/>
                          </a:solidFill>
                          <a:latin typeface="Courier New"/>
                          <a:cs typeface="Courier New"/>
                        </a:rPr>
                        <a:t>y</a:t>
                      </a:r>
                      <a:r>
                        <a:rPr lang="en-US" sz="1600" b="0" dirty="0">
                          <a:solidFill>
                            <a:srgbClr val="0000FF"/>
                          </a:solidFill>
                          <a:latin typeface="Courier New"/>
                          <a:cs typeface="Courier New"/>
                        </a:rPr>
                        <a:t>=0</a:t>
                      </a: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L1: r1=</a:t>
                      </a:r>
                      <a:r>
                        <a:rPr lang="en-US" sz="1600" b="1" dirty="0" err="1">
                          <a:solidFill>
                            <a:srgbClr val="008000"/>
                          </a:solidFill>
                          <a:latin typeface="Courier New"/>
                          <a:cs typeface="Courier New"/>
                        </a:rPr>
                        <a:t>y</a:t>
                      </a:r>
                      <a:endParaRPr lang="en-US" sz="1600" b="1" dirty="0">
                        <a:solidFill>
                          <a:srgbClr val="008000"/>
                        </a:solidFill>
                        <a:latin typeface="Courier New"/>
                        <a:cs typeface="Courier New"/>
                      </a:endParaRPr>
                    </a:p>
                  </a:txBody>
                  <a:tcPr marT="0" marB="0"/>
                </a:tc>
                <a:tc>
                  <a:txBody>
                    <a:bodyPr/>
                    <a:lstStyle/>
                    <a:p>
                      <a:r>
                        <a:rPr lang="en-US" sz="1600" b="0" dirty="0">
                          <a:solidFill>
                            <a:schemeClr val="tx1"/>
                          </a:solidFill>
                          <a:latin typeface="Courier New"/>
                          <a:cs typeface="Courier New"/>
                        </a:rPr>
                        <a:t>L2:</a:t>
                      </a:r>
                      <a:r>
                        <a:rPr lang="en-US" sz="1600" b="0" baseline="0" dirty="0">
                          <a:solidFill>
                            <a:schemeClr val="tx1"/>
                          </a:solidFill>
                          <a:latin typeface="Courier New"/>
                          <a:cs typeface="Courier New"/>
                        </a:rPr>
                        <a:t> r2=</a:t>
                      </a:r>
                      <a:r>
                        <a:rPr lang="en-US" sz="1600" b="1" baseline="0" dirty="0" err="1">
                          <a:solidFill>
                            <a:srgbClr val="FF00FF"/>
                          </a:solidFill>
                          <a:latin typeface="Courier New"/>
                          <a:cs typeface="Courier New"/>
                        </a:rPr>
                        <a:t>x</a:t>
                      </a:r>
                      <a:endParaRPr lang="en-US" sz="1600" b="1" dirty="0">
                        <a:solidFill>
                          <a:srgbClr val="FF00FF"/>
                        </a:solidFill>
                        <a:latin typeface="Courier New"/>
                        <a:cs typeface="Courier New"/>
                      </a:endParaRP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14</a:t>
            </a:fld>
            <a:r>
              <a:rPr lang="en-US"/>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876300"/>
            <a:ext cx="7772400" cy="4838700"/>
          </a:xfrm>
        </p:spPr>
        <p:txBody>
          <a:bodyPr/>
          <a:lstStyle/>
          <a:p>
            <a:r>
              <a:rPr lang="en-US" dirty="0"/>
              <a:t>Recall: Stores update memory at commit stage for Tomasulo with reorder buffer.  </a:t>
            </a:r>
          </a:p>
          <a:p>
            <a:endParaRPr lang="en-US" dirty="0"/>
          </a:p>
          <a:p>
            <a:r>
              <a:rPr lang="en-US" dirty="0">
                <a:solidFill>
                  <a:srgbClr val="FF0000"/>
                </a:solidFill>
              </a:rPr>
              <a:t>Problem: Store miss stalls commit</a:t>
            </a:r>
            <a:r>
              <a:rPr lang="en-US" dirty="0"/>
              <a:t>.</a:t>
            </a:r>
          </a:p>
          <a:p>
            <a:endParaRPr lang="en-US" dirty="0"/>
          </a:p>
          <a:p>
            <a:r>
              <a:rPr lang="en-US" dirty="0">
                <a:solidFill>
                  <a:srgbClr val="0000FF"/>
                </a:solidFill>
              </a:rPr>
              <a:t>Solution: Avoid stall by storing into a FIFO write buffer like we saw for write through cache.</a:t>
            </a:r>
          </a:p>
          <a:p>
            <a:endParaRPr lang="en-US" dirty="0"/>
          </a:p>
          <a:p>
            <a:r>
              <a:rPr lang="en-US" dirty="0"/>
              <a:t>Impact on consistency model?</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15</a:t>
            </a:fld>
            <a:r>
              <a:rPr lang="en-US"/>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76200" y="63500"/>
            <a:ext cx="8966200" cy="685800"/>
          </a:xfrm>
          <a:noFill/>
        </p:spPr>
        <p:txBody>
          <a:bodyPr/>
          <a:lstStyle/>
          <a:p>
            <a:pPr marL="25400" eaLnBrk="1" hangingPunct="1">
              <a:tabLst>
                <a:tab pos="317500" algn="l"/>
                <a:tab pos="1231900" algn="l"/>
                <a:tab pos="2146300" algn="l"/>
                <a:tab pos="3060700" algn="l"/>
                <a:tab pos="3975100" algn="l"/>
                <a:tab pos="4889500" algn="l"/>
                <a:tab pos="5803900" algn="l"/>
              </a:tabLst>
            </a:pPr>
            <a:r>
              <a:rPr lang="en-US" sz="3600" dirty="0">
                <a:latin typeface="Arial  " charset="0"/>
                <a:cs typeface="Arial  " charset="0"/>
              </a:rPr>
              <a:t>   Write Buffer, Revisited</a:t>
            </a:r>
            <a:endParaRPr lang="en-US" sz="2400" dirty="0">
              <a:solidFill>
                <a:schemeClr val="bg2"/>
              </a:solidFill>
              <a:latin typeface="Arial  " charset="0"/>
              <a:cs typeface="Arial  " charset="0"/>
            </a:endParaRPr>
          </a:p>
        </p:txBody>
      </p:sp>
      <p:sp>
        <p:nvSpPr>
          <p:cNvPr id="757764" name="Text Box 4"/>
          <p:cNvSpPr txBox="1">
            <a:spLocks noChangeArrowheads="1"/>
          </p:cNvSpPr>
          <p:nvPr/>
        </p:nvSpPr>
        <p:spPr bwMode="auto">
          <a:xfrm>
            <a:off x="831850" y="3832225"/>
            <a:ext cx="3625850" cy="369888"/>
          </a:xfrm>
          <a:prstGeom prst="rect">
            <a:avLst/>
          </a:prstGeom>
          <a:noFill/>
          <a:ln w="9525">
            <a:noFill/>
            <a:miter lim="800000"/>
            <a:headEnd/>
            <a:tailEnd/>
          </a:ln>
        </p:spPr>
        <p:txBody>
          <a:bodyPr lIns="0" tIns="0" rIns="0" bIns="0">
            <a:spAutoFit/>
          </a:bodyPr>
          <a:lstStyle/>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b="1" dirty="0">
                <a:solidFill>
                  <a:srgbClr val="053DE8"/>
                </a:solidFill>
                <a:latin typeface="Marker Felt" pitchFamily="-106" charset="0"/>
              </a:rPr>
              <a:t>Q. Why a write buffer ? </a:t>
            </a:r>
          </a:p>
        </p:txBody>
      </p:sp>
      <p:grpSp>
        <p:nvGrpSpPr>
          <p:cNvPr id="2" name="Group 5"/>
          <p:cNvGrpSpPr>
            <a:grpSpLocks/>
          </p:cNvGrpSpPr>
          <p:nvPr/>
        </p:nvGrpSpPr>
        <p:grpSpPr bwMode="auto">
          <a:xfrm>
            <a:off x="2057400" y="1104900"/>
            <a:ext cx="6045200" cy="1244600"/>
            <a:chOff x="1134" y="608"/>
            <a:chExt cx="3808" cy="784"/>
          </a:xfrm>
        </p:grpSpPr>
        <p:sp>
          <p:nvSpPr>
            <p:cNvPr id="62479" name="Freeform 6"/>
            <p:cNvSpPr>
              <a:spLocks/>
            </p:cNvSpPr>
            <p:nvPr/>
          </p:nvSpPr>
          <p:spPr bwMode="auto">
            <a:xfrm>
              <a:off x="1134" y="616"/>
              <a:ext cx="800" cy="608"/>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0" y="0"/>
                  </a:moveTo>
                  <a:lnTo>
                    <a:pt x="10000" y="0"/>
                  </a:lnTo>
                  <a:lnTo>
                    <a:pt x="10000" y="10000"/>
                  </a:lnTo>
                  <a:lnTo>
                    <a:pt x="0" y="10000"/>
                  </a:lnTo>
                  <a:close/>
                  <a:moveTo>
                    <a:pt x="0" y="0"/>
                  </a:moveTo>
                </a:path>
              </a:pathLst>
            </a:custGeom>
            <a:noFill/>
            <a:ln w="25400">
              <a:solidFill>
                <a:schemeClr val="tx1"/>
              </a:solidFill>
              <a:round/>
              <a:headEnd/>
              <a:tailEnd/>
            </a:ln>
          </p:spPr>
          <p:txBody>
            <a:bodyPr/>
            <a:lstStyle/>
            <a:p>
              <a:endParaRPr lang="en-CA"/>
            </a:p>
          </p:txBody>
        </p:sp>
        <p:sp>
          <p:nvSpPr>
            <p:cNvPr id="62480" name="Text Box 7"/>
            <p:cNvSpPr txBox="1">
              <a:spLocks noChangeArrowheads="1"/>
            </p:cNvSpPr>
            <p:nvPr/>
          </p:nvSpPr>
          <p:spPr bwMode="auto">
            <a:xfrm>
              <a:off x="1226" y="824"/>
              <a:ext cx="534" cy="152"/>
            </a:xfrm>
            <a:prstGeom prst="rect">
              <a:avLst/>
            </a:prstGeom>
            <a:noFill/>
            <a:ln w="9525">
              <a:noFill/>
              <a:miter lim="800000"/>
              <a:headEnd/>
              <a:tailEnd/>
            </a:ln>
          </p:spPr>
          <p:txBody>
            <a:bodyPr wrap="none" lIns="0" tIns="0" rIns="0" bIns="0">
              <a:spAutoFit/>
            </a:bodyPr>
            <a:lstStyle/>
            <a:p>
              <a:pPr eaLnBrk="1" hangingPunct="1">
                <a:lnSpc>
                  <a:spcPts val="1900"/>
                </a:lnSpc>
                <a:tabLst>
                  <a:tab pos="0" algn="l"/>
                  <a:tab pos="914400" algn="l"/>
                </a:tabLst>
              </a:pPr>
              <a:r>
                <a:rPr lang="en-US" sz="1600" b="1">
                  <a:latin typeface="Times New Roman" pitchFamily="18" charset="0"/>
                </a:rPr>
                <a:t>Processor</a:t>
              </a:r>
            </a:p>
          </p:txBody>
        </p:sp>
        <p:sp>
          <p:nvSpPr>
            <p:cNvPr id="62481" name="Freeform 8"/>
            <p:cNvSpPr>
              <a:spLocks/>
            </p:cNvSpPr>
            <p:nvPr/>
          </p:nvSpPr>
          <p:spPr bwMode="auto">
            <a:xfrm>
              <a:off x="3374" y="672"/>
              <a:ext cx="560" cy="568"/>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0" y="0"/>
                  </a:moveTo>
                  <a:lnTo>
                    <a:pt x="10000" y="0"/>
                  </a:lnTo>
                  <a:lnTo>
                    <a:pt x="10000" y="10000"/>
                  </a:lnTo>
                  <a:lnTo>
                    <a:pt x="0" y="10000"/>
                  </a:lnTo>
                  <a:close/>
                  <a:moveTo>
                    <a:pt x="0" y="0"/>
                  </a:moveTo>
                </a:path>
              </a:pathLst>
            </a:custGeom>
            <a:noFill/>
            <a:ln w="25400">
              <a:solidFill>
                <a:schemeClr val="tx1"/>
              </a:solidFill>
              <a:round/>
              <a:headEnd/>
              <a:tailEnd/>
            </a:ln>
          </p:spPr>
          <p:txBody>
            <a:bodyPr/>
            <a:lstStyle/>
            <a:p>
              <a:endParaRPr lang="en-CA"/>
            </a:p>
          </p:txBody>
        </p:sp>
        <p:sp>
          <p:nvSpPr>
            <p:cNvPr id="62482" name="Text Box 9"/>
            <p:cNvSpPr txBox="1">
              <a:spLocks noChangeArrowheads="1"/>
            </p:cNvSpPr>
            <p:nvPr/>
          </p:nvSpPr>
          <p:spPr bwMode="auto">
            <a:xfrm>
              <a:off x="3474" y="896"/>
              <a:ext cx="341" cy="152"/>
            </a:xfrm>
            <a:prstGeom prst="rect">
              <a:avLst/>
            </a:prstGeom>
            <a:noFill/>
            <a:ln w="9525">
              <a:noFill/>
              <a:miter lim="800000"/>
              <a:headEnd/>
              <a:tailEnd/>
            </a:ln>
          </p:spPr>
          <p:txBody>
            <a:bodyPr wrap="none" lIns="0" tIns="0" rIns="0" bIns="0">
              <a:spAutoFit/>
            </a:bodyPr>
            <a:lstStyle/>
            <a:p>
              <a:pPr eaLnBrk="1" hangingPunct="1">
                <a:lnSpc>
                  <a:spcPts val="1900"/>
                </a:lnSpc>
                <a:tabLst>
                  <a:tab pos="0" algn="l"/>
                </a:tabLst>
              </a:pPr>
              <a:r>
                <a:rPr lang="en-US" sz="1600" b="1" dirty="0">
                  <a:latin typeface="Times New Roman" pitchFamily="18" charset="0"/>
                </a:rPr>
                <a:t>Cache</a:t>
              </a:r>
            </a:p>
          </p:txBody>
        </p:sp>
        <p:sp>
          <p:nvSpPr>
            <p:cNvPr id="62483" name="Freeform 10"/>
            <p:cNvSpPr>
              <a:spLocks/>
            </p:cNvSpPr>
            <p:nvPr/>
          </p:nvSpPr>
          <p:spPr bwMode="auto">
            <a:xfrm>
              <a:off x="2558" y="1048"/>
              <a:ext cx="560" cy="176"/>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0" y="0"/>
                  </a:moveTo>
                  <a:lnTo>
                    <a:pt x="10000" y="0"/>
                  </a:lnTo>
                  <a:lnTo>
                    <a:pt x="10000" y="10000"/>
                  </a:lnTo>
                  <a:lnTo>
                    <a:pt x="0" y="10000"/>
                  </a:lnTo>
                  <a:close/>
                  <a:moveTo>
                    <a:pt x="0" y="0"/>
                  </a:moveTo>
                </a:path>
              </a:pathLst>
            </a:custGeom>
            <a:noFill/>
            <a:ln w="25400">
              <a:solidFill>
                <a:schemeClr val="tx1"/>
              </a:solidFill>
              <a:round/>
              <a:headEnd/>
              <a:tailEnd/>
            </a:ln>
          </p:spPr>
          <p:txBody>
            <a:bodyPr/>
            <a:lstStyle/>
            <a:p>
              <a:endParaRPr lang="en-CA"/>
            </a:p>
          </p:txBody>
        </p:sp>
        <p:sp>
          <p:nvSpPr>
            <p:cNvPr id="62484" name="Line 11"/>
            <p:cNvSpPr>
              <a:spLocks noChangeShapeType="1"/>
            </p:cNvSpPr>
            <p:nvPr/>
          </p:nvSpPr>
          <p:spPr bwMode="auto">
            <a:xfrm>
              <a:off x="2690" y="1048"/>
              <a:ext cx="8" cy="176"/>
            </a:xfrm>
            <a:prstGeom prst="line">
              <a:avLst/>
            </a:prstGeom>
            <a:noFill/>
            <a:ln w="25400">
              <a:solidFill>
                <a:schemeClr val="tx1"/>
              </a:solidFill>
              <a:round/>
              <a:headEnd/>
              <a:tailEnd/>
            </a:ln>
          </p:spPr>
          <p:txBody>
            <a:bodyPr/>
            <a:lstStyle/>
            <a:p>
              <a:endParaRPr lang="en-CA"/>
            </a:p>
          </p:txBody>
        </p:sp>
        <p:sp>
          <p:nvSpPr>
            <p:cNvPr id="62485" name="Line 12"/>
            <p:cNvSpPr>
              <a:spLocks noChangeShapeType="1"/>
            </p:cNvSpPr>
            <p:nvPr/>
          </p:nvSpPr>
          <p:spPr bwMode="auto">
            <a:xfrm>
              <a:off x="2834" y="1048"/>
              <a:ext cx="8" cy="176"/>
            </a:xfrm>
            <a:prstGeom prst="line">
              <a:avLst/>
            </a:prstGeom>
            <a:noFill/>
            <a:ln w="25400">
              <a:solidFill>
                <a:schemeClr val="tx1"/>
              </a:solidFill>
              <a:round/>
              <a:headEnd/>
              <a:tailEnd/>
            </a:ln>
          </p:spPr>
          <p:txBody>
            <a:bodyPr/>
            <a:lstStyle/>
            <a:p>
              <a:endParaRPr lang="en-CA"/>
            </a:p>
          </p:txBody>
        </p:sp>
        <p:sp>
          <p:nvSpPr>
            <p:cNvPr id="62486" name="Line 13"/>
            <p:cNvSpPr>
              <a:spLocks noChangeShapeType="1"/>
            </p:cNvSpPr>
            <p:nvPr/>
          </p:nvSpPr>
          <p:spPr bwMode="auto">
            <a:xfrm>
              <a:off x="2978" y="1048"/>
              <a:ext cx="8" cy="176"/>
            </a:xfrm>
            <a:prstGeom prst="line">
              <a:avLst/>
            </a:prstGeom>
            <a:noFill/>
            <a:ln w="25400">
              <a:solidFill>
                <a:schemeClr val="tx1"/>
              </a:solidFill>
              <a:round/>
              <a:headEnd/>
              <a:tailEnd/>
            </a:ln>
          </p:spPr>
          <p:txBody>
            <a:bodyPr/>
            <a:lstStyle/>
            <a:p>
              <a:endParaRPr lang="en-CA"/>
            </a:p>
          </p:txBody>
        </p:sp>
        <p:sp>
          <p:nvSpPr>
            <p:cNvPr id="62487" name="Line 14"/>
            <p:cNvSpPr>
              <a:spLocks noChangeShapeType="1"/>
            </p:cNvSpPr>
            <p:nvPr/>
          </p:nvSpPr>
          <p:spPr bwMode="auto">
            <a:xfrm>
              <a:off x="2382" y="1132"/>
              <a:ext cx="184" cy="4"/>
            </a:xfrm>
            <a:prstGeom prst="line">
              <a:avLst/>
            </a:prstGeom>
            <a:noFill/>
            <a:ln w="25400">
              <a:solidFill>
                <a:schemeClr val="tx1"/>
              </a:solidFill>
              <a:round/>
              <a:headEnd/>
              <a:tailEnd type="triangle" w="med" len="med"/>
            </a:ln>
          </p:spPr>
          <p:txBody>
            <a:bodyPr/>
            <a:lstStyle/>
            <a:p>
              <a:endParaRPr lang="en-CA"/>
            </a:p>
          </p:txBody>
        </p:sp>
        <p:sp>
          <p:nvSpPr>
            <p:cNvPr id="62488" name="Line 15"/>
            <p:cNvSpPr>
              <a:spLocks noChangeShapeType="1"/>
            </p:cNvSpPr>
            <p:nvPr/>
          </p:nvSpPr>
          <p:spPr bwMode="auto">
            <a:xfrm>
              <a:off x="1950" y="796"/>
              <a:ext cx="1416" cy="12"/>
            </a:xfrm>
            <a:prstGeom prst="line">
              <a:avLst/>
            </a:prstGeom>
            <a:noFill/>
            <a:ln w="25400">
              <a:solidFill>
                <a:schemeClr val="tx1"/>
              </a:solidFill>
              <a:round/>
              <a:headEnd type="triangle" w="med" len="med"/>
              <a:tailEnd type="triangle" w="med" len="med"/>
            </a:ln>
          </p:spPr>
          <p:txBody>
            <a:bodyPr/>
            <a:lstStyle/>
            <a:p>
              <a:endParaRPr lang="en-CA"/>
            </a:p>
          </p:txBody>
        </p:sp>
        <p:sp>
          <p:nvSpPr>
            <p:cNvPr id="62489" name="Text Box 16"/>
            <p:cNvSpPr txBox="1">
              <a:spLocks noChangeArrowheads="1"/>
            </p:cNvSpPr>
            <p:nvPr/>
          </p:nvSpPr>
          <p:spPr bwMode="auto">
            <a:xfrm>
              <a:off x="2490" y="1240"/>
              <a:ext cx="709" cy="152"/>
            </a:xfrm>
            <a:prstGeom prst="rect">
              <a:avLst/>
            </a:prstGeom>
            <a:noFill/>
            <a:ln w="9525">
              <a:noFill/>
              <a:miter lim="800000"/>
              <a:headEnd/>
              <a:tailEnd/>
            </a:ln>
          </p:spPr>
          <p:txBody>
            <a:bodyPr wrap="none" lIns="0" tIns="0" rIns="0" bIns="0">
              <a:spAutoFit/>
            </a:bodyPr>
            <a:lstStyle/>
            <a:p>
              <a:pPr eaLnBrk="1" hangingPunct="1">
                <a:lnSpc>
                  <a:spcPts val="1900"/>
                </a:lnSpc>
                <a:tabLst>
                  <a:tab pos="0" algn="l"/>
                  <a:tab pos="914400" algn="l"/>
                </a:tabLst>
              </a:pPr>
              <a:r>
                <a:rPr lang="en-US" sz="1600" b="1" dirty="0">
                  <a:latin typeface="Times New Roman" pitchFamily="18" charset="0"/>
                </a:rPr>
                <a:t>Write Buffer</a:t>
              </a:r>
            </a:p>
          </p:txBody>
        </p:sp>
        <p:sp>
          <p:nvSpPr>
            <p:cNvPr id="62490" name="Freeform 17"/>
            <p:cNvSpPr>
              <a:spLocks/>
            </p:cNvSpPr>
            <p:nvPr/>
          </p:nvSpPr>
          <p:spPr bwMode="auto">
            <a:xfrm>
              <a:off x="4286" y="608"/>
              <a:ext cx="656" cy="608"/>
            </a:xfrm>
            <a:custGeom>
              <a:avLst/>
              <a:gdLst>
                <a:gd name="T0" fmla="*/ 0 w 10000"/>
                <a:gd name="T1" fmla="*/ 0 h 10000"/>
                <a:gd name="T2" fmla="*/ 0 w 10000"/>
                <a:gd name="T3" fmla="*/ 0 h 10000"/>
                <a:gd name="T4" fmla="*/ 0 w 10000"/>
                <a:gd name="T5" fmla="*/ 0 h 10000"/>
                <a:gd name="T6" fmla="*/ 0 w 10000"/>
                <a:gd name="T7" fmla="*/ 0 h 10000"/>
                <a:gd name="T8" fmla="*/ 0 w 10000"/>
                <a:gd name="T9" fmla="*/ 0 h 10000"/>
                <a:gd name="T10" fmla="*/ 0 60000 65536"/>
                <a:gd name="T11" fmla="*/ 0 60000 65536"/>
                <a:gd name="T12" fmla="*/ 0 60000 65536"/>
                <a:gd name="T13" fmla="*/ 0 60000 65536"/>
                <a:gd name="T14" fmla="*/ 0 60000 65536"/>
                <a:gd name="T15" fmla="*/ 0 w 10000"/>
                <a:gd name="T16" fmla="*/ 0 h 10000"/>
                <a:gd name="T17" fmla="*/ 10000 w 10000"/>
                <a:gd name="T18" fmla="*/ 10000 h 10000"/>
              </a:gdLst>
              <a:ahLst/>
              <a:cxnLst>
                <a:cxn ang="T10">
                  <a:pos x="T0" y="T1"/>
                </a:cxn>
                <a:cxn ang="T11">
                  <a:pos x="T2" y="T3"/>
                </a:cxn>
                <a:cxn ang="T12">
                  <a:pos x="T4" y="T5"/>
                </a:cxn>
                <a:cxn ang="T13">
                  <a:pos x="T6" y="T7"/>
                </a:cxn>
                <a:cxn ang="T14">
                  <a:pos x="T8" y="T9"/>
                </a:cxn>
              </a:cxnLst>
              <a:rect l="T15" t="T16" r="T17" b="T18"/>
              <a:pathLst>
                <a:path w="10000" h="10000">
                  <a:moveTo>
                    <a:pt x="0" y="0"/>
                  </a:moveTo>
                  <a:lnTo>
                    <a:pt x="10000" y="0"/>
                  </a:lnTo>
                  <a:lnTo>
                    <a:pt x="10000" y="10000"/>
                  </a:lnTo>
                  <a:lnTo>
                    <a:pt x="0" y="10000"/>
                  </a:lnTo>
                  <a:close/>
                  <a:moveTo>
                    <a:pt x="0" y="0"/>
                  </a:moveTo>
                </a:path>
              </a:pathLst>
            </a:custGeom>
            <a:noFill/>
            <a:ln w="25400">
              <a:solidFill>
                <a:schemeClr val="tx1"/>
              </a:solidFill>
              <a:round/>
              <a:headEnd/>
              <a:tailEnd/>
            </a:ln>
          </p:spPr>
          <p:txBody>
            <a:bodyPr/>
            <a:lstStyle/>
            <a:p>
              <a:endParaRPr lang="en-CA"/>
            </a:p>
          </p:txBody>
        </p:sp>
        <p:sp>
          <p:nvSpPr>
            <p:cNvPr id="62491" name="Text Box 18"/>
            <p:cNvSpPr txBox="1">
              <a:spLocks noChangeArrowheads="1"/>
            </p:cNvSpPr>
            <p:nvPr/>
          </p:nvSpPr>
          <p:spPr bwMode="auto">
            <a:xfrm>
              <a:off x="4330" y="680"/>
              <a:ext cx="572" cy="456"/>
            </a:xfrm>
            <a:prstGeom prst="rect">
              <a:avLst/>
            </a:prstGeom>
            <a:noFill/>
            <a:ln w="9525">
              <a:noFill/>
              <a:miter lim="800000"/>
              <a:headEnd/>
              <a:tailEnd/>
            </a:ln>
          </p:spPr>
          <p:txBody>
            <a:bodyPr lIns="0" tIns="0" rIns="0" bIns="0">
              <a:spAutoFit/>
            </a:bodyPr>
            <a:lstStyle/>
            <a:p>
              <a:pPr algn="ctr" eaLnBrk="1" hangingPunct="1">
                <a:lnSpc>
                  <a:spcPts val="1900"/>
                </a:lnSpc>
                <a:tabLst>
                  <a:tab pos="0" algn="l"/>
                </a:tabLst>
              </a:pPr>
              <a:r>
                <a:rPr lang="en-US" sz="1600" b="1" dirty="0">
                  <a:latin typeface="Times New Roman" pitchFamily="18" charset="0"/>
                </a:rPr>
                <a:t>Lower Level Memory</a:t>
              </a:r>
            </a:p>
          </p:txBody>
        </p:sp>
        <p:sp>
          <p:nvSpPr>
            <p:cNvPr id="62492" name="Line 19"/>
            <p:cNvSpPr>
              <a:spLocks noChangeShapeType="1"/>
            </p:cNvSpPr>
            <p:nvPr/>
          </p:nvSpPr>
          <p:spPr bwMode="auto">
            <a:xfrm>
              <a:off x="3150" y="1132"/>
              <a:ext cx="216" cy="4"/>
            </a:xfrm>
            <a:prstGeom prst="line">
              <a:avLst/>
            </a:prstGeom>
            <a:noFill/>
            <a:ln w="25400">
              <a:solidFill>
                <a:schemeClr val="tx1"/>
              </a:solidFill>
              <a:round/>
              <a:headEnd/>
              <a:tailEnd type="triangle" w="med" len="med"/>
            </a:ln>
          </p:spPr>
          <p:txBody>
            <a:bodyPr/>
            <a:lstStyle/>
            <a:p>
              <a:endParaRPr lang="en-CA"/>
            </a:p>
          </p:txBody>
        </p:sp>
        <p:sp>
          <p:nvSpPr>
            <p:cNvPr id="62493" name="Line 20"/>
            <p:cNvSpPr>
              <a:spLocks noChangeShapeType="1"/>
            </p:cNvSpPr>
            <p:nvPr/>
          </p:nvSpPr>
          <p:spPr bwMode="auto">
            <a:xfrm>
              <a:off x="3926" y="932"/>
              <a:ext cx="368" cy="8"/>
            </a:xfrm>
            <a:prstGeom prst="line">
              <a:avLst/>
            </a:prstGeom>
            <a:noFill/>
            <a:ln w="25400">
              <a:solidFill>
                <a:schemeClr val="tx1"/>
              </a:solidFill>
              <a:round/>
              <a:headEnd type="triangle" w="med" len="med"/>
              <a:tailEnd/>
            </a:ln>
          </p:spPr>
          <p:txBody>
            <a:bodyPr/>
            <a:lstStyle/>
            <a:p>
              <a:endParaRPr lang="en-CA"/>
            </a:p>
          </p:txBody>
        </p:sp>
        <p:sp>
          <p:nvSpPr>
            <p:cNvPr id="62494" name="Line 21"/>
            <p:cNvSpPr>
              <a:spLocks noChangeShapeType="1"/>
            </p:cNvSpPr>
            <p:nvPr/>
          </p:nvSpPr>
          <p:spPr bwMode="auto">
            <a:xfrm>
              <a:off x="2370" y="808"/>
              <a:ext cx="8" cy="320"/>
            </a:xfrm>
            <a:prstGeom prst="line">
              <a:avLst/>
            </a:prstGeom>
            <a:noFill/>
            <a:ln w="25400">
              <a:solidFill>
                <a:schemeClr val="tx1"/>
              </a:solidFill>
              <a:round/>
              <a:headEnd/>
              <a:tailEnd/>
            </a:ln>
          </p:spPr>
          <p:txBody>
            <a:bodyPr/>
            <a:lstStyle/>
            <a:p>
              <a:endParaRPr lang="en-CA"/>
            </a:p>
          </p:txBody>
        </p:sp>
      </p:grpSp>
      <p:grpSp>
        <p:nvGrpSpPr>
          <p:cNvPr id="3" name="Group 22"/>
          <p:cNvGrpSpPr>
            <a:grpSpLocks/>
          </p:cNvGrpSpPr>
          <p:nvPr/>
        </p:nvGrpSpPr>
        <p:grpSpPr bwMode="auto">
          <a:xfrm>
            <a:off x="228600" y="1587500"/>
            <a:ext cx="8458200" cy="1563688"/>
            <a:chOff x="73" y="874"/>
            <a:chExt cx="5328" cy="985"/>
          </a:xfrm>
        </p:grpSpPr>
        <p:sp>
          <p:nvSpPr>
            <p:cNvPr id="62476" name="Freeform 23"/>
            <p:cNvSpPr>
              <a:spLocks/>
            </p:cNvSpPr>
            <p:nvPr/>
          </p:nvSpPr>
          <p:spPr bwMode="auto">
            <a:xfrm>
              <a:off x="2537" y="874"/>
              <a:ext cx="824" cy="624"/>
            </a:xfrm>
            <a:custGeom>
              <a:avLst/>
              <a:gdLst>
                <a:gd name="T0" fmla="*/ 0 w 9111"/>
                <a:gd name="T1" fmla="*/ 0 h 9111"/>
                <a:gd name="T2" fmla="*/ 0 w 9111"/>
                <a:gd name="T3" fmla="*/ 0 h 9111"/>
                <a:gd name="T4" fmla="*/ 0 w 9111"/>
                <a:gd name="T5" fmla="*/ 0 h 9111"/>
                <a:gd name="T6" fmla="*/ 0 w 9111"/>
                <a:gd name="T7" fmla="*/ 0 h 9111"/>
                <a:gd name="T8" fmla="*/ 0 w 9111"/>
                <a:gd name="T9" fmla="*/ 0 h 9111"/>
                <a:gd name="T10" fmla="*/ 0 w 9111"/>
                <a:gd name="T11" fmla="*/ 0 h 9111"/>
                <a:gd name="T12" fmla="*/ 0 60000 65536"/>
                <a:gd name="T13" fmla="*/ 0 60000 65536"/>
                <a:gd name="T14" fmla="*/ 0 60000 65536"/>
                <a:gd name="T15" fmla="*/ 0 60000 65536"/>
                <a:gd name="T16" fmla="*/ 0 60000 65536"/>
                <a:gd name="T17" fmla="*/ 0 60000 65536"/>
                <a:gd name="T18" fmla="*/ 0 w 9111"/>
                <a:gd name="T19" fmla="*/ 0 h 9111"/>
                <a:gd name="T20" fmla="*/ 9111 w 9111"/>
                <a:gd name="T21" fmla="*/ 9111 h 9111"/>
              </a:gdLst>
              <a:ahLst/>
              <a:cxnLst>
                <a:cxn ang="T12">
                  <a:pos x="T0" y="T1"/>
                </a:cxn>
                <a:cxn ang="T13">
                  <a:pos x="T2" y="T3"/>
                </a:cxn>
                <a:cxn ang="T14">
                  <a:pos x="T4" y="T5"/>
                </a:cxn>
                <a:cxn ang="T15">
                  <a:pos x="T6" y="T7"/>
                </a:cxn>
                <a:cxn ang="T16">
                  <a:pos x="T8" y="T9"/>
                </a:cxn>
                <a:cxn ang="T17">
                  <a:pos x="T10" y="T11"/>
                </a:cxn>
              </a:cxnLst>
              <a:rect l="T18" t="T19" r="T20" b="T21"/>
              <a:pathLst>
                <a:path w="9111" h="9111">
                  <a:moveTo>
                    <a:pt x="7777" y="1334"/>
                  </a:moveTo>
                  <a:cubicBezTo>
                    <a:pt x="9556" y="3113"/>
                    <a:pt x="9556" y="5998"/>
                    <a:pt x="7777" y="7777"/>
                  </a:cubicBezTo>
                  <a:cubicBezTo>
                    <a:pt x="5998" y="9556"/>
                    <a:pt x="3113" y="9556"/>
                    <a:pt x="1334" y="7777"/>
                  </a:cubicBezTo>
                  <a:cubicBezTo>
                    <a:pt x="-445" y="5998"/>
                    <a:pt x="-445" y="3113"/>
                    <a:pt x="1334" y="1334"/>
                  </a:cubicBezTo>
                  <a:cubicBezTo>
                    <a:pt x="3113" y="-445"/>
                    <a:pt x="5998" y="-445"/>
                    <a:pt x="7777" y="1334"/>
                  </a:cubicBezTo>
                  <a:close/>
                  <a:moveTo>
                    <a:pt x="7777" y="1334"/>
                  </a:moveTo>
                </a:path>
              </a:pathLst>
            </a:custGeom>
            <a:noFill/>
            <a:ln w="25400">
              <a:solidFill>
                <a:srgbClr val="053DE8"/>
              </a:solidFill>
              <a:round/>
              <a:headEnd/>
              <a:tailEnd/>
            </a:ln>
          </p:spPr>
          <p:txBody>
            <a:bodyPr/>
            <a:lstStyle/>
            <a:p>
              <a:endParaRPr lang="en-CA"/>
            </a:p>
          </p:txBody>
        </p:sp>
        <p:sp>
          <p:nvSpPr>
            <p:cNvPr id="757784" name="Line 24"/>
            <p:cNvSpPr>
              <a:spLocks noChangeShapeType="1"/>
            </p:cNvSpPr>
            <p:nvPr/>
          </p:nvSpPr>
          <p:spPr bwMode="auto">
            <a:xfrm rot="10800000" flipH="1">
              <a:off x="2313" y="1378"/>
              <a:ext cx="312" cy="224"/>
            </a:xfrm>
            <a:prstGeom prst="line">
              <a:avLst/>
            </a:prstGeom>
            <a:noFill/>
            <a:ln w="25400">
              <a:solidFill>
                <a:srgbClr val="053DE8"/>
              </a:solidFill>
              <a:round/>
              <a:headEnd/>
              <a:tailEnd type="stealth" w="med" len="med"/>
            </a:ln>
            <a:effectLst>
              <a:outerShdw blurRad="63500" dist="76199" dir="3420002" algn="ctr" rotWithShape="0">
                <a:srgbClr val="053DE8">
                  <a:alpha val="25000"/>
                </a:srgbClr>
              </a:outerShdw>
            </a:effectLst>
          </p:spPr>
          <p:txBody>
            <a:bodyPr/>
            <a:lstStyle/>
            <a:p>
              <a:pPr>
                <a:defRPr/>
              </a:pPr>
              <a:endParaRPr lang="en-US">
                <a:latin typeface="Arial" pitchFamily="-106" charset="-52"/>
                <a:ea typeface="ＭＳ Ｐゴシック" pitchFamily="-106" charset="-128"/>
              </a:endParaRPr>
            </a:p>
          </p:txBody>
        </p:sp>
        <p:sp>
          <p:nvSpPr>
            <p:cNvPr id="62478" name="Text Box 25"/>
            <p:cNvSpPr txBox="1">
              <a:spLocks noChangeArrowheads="1"/>
            </p:cNvSpPr>
            <p:nvPr/>
          </p:nvSpPr>
          <p:spPr bwMode="auto">
            <a:xfrm>
              <a:off x="73" y="1568"/>
              <a:ext cx="5328" cy="291"/>
            </a:xfrm>
            <a:prstGeom prst="rect">
              <a:avLst/>
            </a:prstGeom>
            <a:noFill/>
            <a:ln w="9525">
              <a:noFill/>
              <a:miter lim="800000"/>
              <a:headEnd/>
              <a:tailEnd/>
            </a:ln>
          </p:spPr>
          <p:txBody>
            <a:bodyPr wrap="square" lIns="0" tIns="0" rIns="0" bIns="0">
              <a:spAutoFit/>
            </a:bodyPr>
            <a:lstStyle/>
            <a:p>
              <a:pPr algn="ct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3000" b="1" dirty="0">
                  <a:latin typeface="Helvetica" pitchFamily="-106" charset="0"/>
                </a:rPr>
                <a:t>Holds data awaiting write to coherent cache</a:t>
              </a:r>
            </a:p>
          </p:txBody>
        </p:sp>
      </p:grpSp>
      <p:sp>
        <p:nvSpPr>
          <p:cNvPr id="757786" name="Text Box 26"/>
          <p:cNvSpPr txBox="1">
            <a:spLocks noChangeArrowheads="1"/>
          </p:cNvSpPr>
          <p:nvPr/>
        </p:nvSpPr>
        <p:spPr bwMode="auto">
          <a:xfrm>
            <a:off x="4845050" y="3832225"/>
            <a:ext cx="3625850" cy="334963"/>
          </a:xfrm>
          <a:prstGeom prst="rect">
            <a:avLst/>
          </a:prstGeom>
          <a:noFill/>
          <a:ln w="9525">
            <a:noFill/>
            <a:miter lim="800000"/>
            <a:headEnd/>
            <a:tailEnd/>
          </a:ln>
        </p:spPr>
        <p:txBody>
          <a:bodyPr lIns="0" tIns="0" rIns="0" bIns="0">
            <a:spAutoFit/>
          </a:bodyPr>
          <a:lstStyle/>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200" b="1">
                <a:solidFill>
                  <a:srgbClr val="053DE8"/>
                </a:solidFill>
                <a:latin typeface="Marker Felt" pitchFamily="-106" charset="0"/>
              </a:rPr>
              <a:t>A. So CPU doesn’t stall </a:t>
            </a:r>
          </a:p>
        </p:txBody>
      </p:sp>
      <p:sp>
        <p:nvSpPr>
          <p:cNvPr id="757787" name="Text Box 27"/>
          <p:cNvSpPr txBox="1">
            <a:spLocks noChangeArrowheads="1"/>
          </p:cNvSpPr>
          <p:nvPr/>
        </p:nvSpPr>
        <p:spPr bwMode="auto">
          <a:xfrm>
            <a:off x="819150" y="4213225"/>
            <a:ext cx="3625850" cy="738188"/>
          </a:xfrm>
          <a:prstGeom prst="rect">
            <a:avLst/>
          </a:prstGeom>
          <a:noFill/>
          <a:ln w="9525">
            <a:noFill/>
            <a:miter lim="800000"/>
            <a:headEnd/>
            <a:tailEnd/>
          </a:ln>
        </p:spPr>
        <p:txBody>
          <a:bodyPr lIns="0" tIns="0" rIns="0" bIns="0">
            <a:spAutoFit/>
          </a:bodyPr>
          <a:lstStyle/>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b="1" dirty="0">
                <a:solidFill>
                  <a:srgbClr val="053DE8"/>
                </a:solidFill>
                <a:latin typeface="Marker Felt" pitchFamily="-106" charset="0"/>
              </a:rPr>
              <a:t>Q. Why a buffer, why not just one register ?</a:t>
            </a:r>
          </a:p>
        </p:txBody>
      </p:sp>
      <p:sp>
        <p:nvSpPr>
          <p:cNvPr id="757788" name="Text Box 28"/>
          <p:cNvSpPr txBox="1">
            <a:spLocks noChangeArrowheads="1"/>
          </p:cNvSpPr>
          <p:nvPr/>
        </p:nvSpPr>
        <p:spPr bwMode="auto">
          <a:xfrm>
            <a:off x="4832350" y="4238625"/>
            <a:ext cx="3625850" cy="738188"/>
          </a:xfrm>
          <a:prstGeom prst="rect">
            <a:avLst/>
          </a:prstGeom>
          <a:noFill/>
          <a:ln w="9525">
            <a:noFill/>
            <a:miter lim="800000"/>
            <a:headEnd/>
            <a:tailEnd/>
          </a:ln>
        </p:spPr>
        <p:txBody>
          <a:bodyPr lIns="0" tIns="0" rIns="0" bIns="0">
            <a:spAutoFit/>
          </a:bodyPr>
          <a:lstStyle/>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b="1">
                <a:solidFill>
                  <a:srgbClr val="053DE8"/>
                </a:solidFill>
                <a:latin typeface="Marker Felt" pitchFamily="-106" charset="0"/>
              </a:rPr>
              <a:t>A. Bursts of writes are</a:t>
            </a:r>
          </a:p>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b="1">
                <a:solidFill>
                  <a:srgbClr val="053DE8"/>
                </a:solidFill>
                <a:latin typeface="Marker Felt" pitchFamily="-106" charset="0"/>
              </a:rPr>
              <a:t>common.</a:t>
            </a:r>
          </a:p>
        </p:txBody>
      </p:sp>
      <p:sp>
        <p:nvSpPr>
          <p:cNvPr id="757789" name="Text Box 29"/>
          <p:cNvSpPr txBox="1">
            <a:spLocks noChangeArrowheads="1"/>
          </p:cNvSpPr>
          <p:nvPr/>
        </p:nvSpPr>
        <p:spPr bwMode="auto">
          <a:xfrm>
            <a:off x="831850" y="5013325"/>
            <a:ext cx="3778250" cy="1108075"/>
          </a:xfrm>
          <a:prstGeom prst="rect">
            <a:avLst/>
          </a:prstGeom>
          <a:noFill/>
          <a:ln w="9525">
            <a:noFill/>
            <a:miter lim="800000"/>
            <a:headEnd/>
            <a:tailEnd/>
          </a:ln>
        </p:spPr>
        <p:txBody>
          <a:bodyPr lIns="0" tIns="0" rIns="0" bIns="0">
            <a:spAutoFit/>
          </a:bodyPr>
          <a:lstStyle/>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b="1" dirty="0">
                <a:solidFill>
                  <a:srgbClr val="053DE8"/>
                </a:solidFill>
                <a:latin typeface="Marker Felt" pitchFamily="-106" charset="0"/>
              </a:rPr>
              <a:t>Q. Are Read After Write (RAW) hazards an issue for write buffer?</a:t>
            </a:r>
          </a:p>
        </p:txBody>
      </p:sp>
      <p:sp>
        <p:nvSpPr>
          <p:cNvPr id="757790" name="Text Box 30"/>
          <p:cNvSpPr txBox="1">
            <a:spLocks noChangeArrowheads="1"/>
          </p:cNvSpPr>
          <p:nvPr/>
        </p:nvSpPr>
        <p:spPr bwMode="auto">
          <a:xfrm>
            <a:off x="4845050" y="5013325"/>
            <a:ext cx="4286250" cy="646331"/>
          </a:xfrm>
          <a:prstGeom prst="rect">
            <a:avLst/>
          </a:prstGeom>
          <a:noFill/>
          <a:ln w="9525">
            <a:noFill/>
            <a:miter lim="800000"/>
            <a:headEnd/>
            <a:tailEnd/>
          </a:ln>
        </p:spPr>
        <p:txBody>
          <a:bodyPr lIns="0" tIns="0" rIns="0" bIns="0">
            <a:spAutoFit/>
          </a:bodyPr>
          <a:lstStyle/>
          <a:p>
            <a:pPr eaLnBrk="1" hangingPunct="1">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b="1" dirty="0">
                <a:solidFill>
                  <a:srgbClr val="053DE8"/>
                </a:solidFill>
                <a:latin typeface="Marker Felt" pitchFamily="-106" charset="0"/>
              </a:rPr>
              <a:t>A. Yes!  Drain buffer before next read, or send read after 1</a:t>
            </a:r>
            <a:r>
              <a:rPr lang="en-US" b="1" baseline="30000" dirty="0">
                <a:solidFill>
                  <a:srgbClr val="053DE8"/>
                </a:solidFill>
                <a:latin typeface="Marker Felt" pitchFamily="-106" charset="0"/>
              </a:rPr>
              <a:t>st</a:t>
            </a:r>
            <a:r>
              <a:rPr lang="en-US" b="1" dirty="0">
                <a:solidFill>
                  <a:srgbClr val="053DE8"/>
                </a:solidFill>
                <a:latin typeface="Marker Felt" pitchFamily="-106" charset="0"/>
              </a:rPr>
              <a:t> checking write buffers </a:t>
            </a:r>
            <a:r>
              <a:rPr lang="en-US" b="1" dirty="0">
                <a:solidFill>
                  <a:srgbClr val="FF0000"/>
                </a:solidFill>
                <a:latin typeface="Marker Felt" pitchFamily="-106" charset="0"/>
              </a:rPr>
              <a:t>(stall or bypass value if match found)</a:t>
            </a:r>
          </a:p>
        </p:txBody>
      </p:sp>
      <p:sp>
        <p:nvSpPr>
          <p:cNvPr id="62475" name="Slide Number Placeholder 30"/>
          <p:cNvSpPr>
            <a:spLocks noGrp="1"/>
          </p:cNvSpPr>
          <p:nvPr>
            <p:ph type="sldNum" sz="quarter" idx="12"/>
          </p:nvPr>
        </p:nvSpPr>
        <p:spPr>
          <a:noFill/>
        </p:spPr>
        <p:txBody>
          <a:bodyPr/>
          <a:lstStyle/>
          <a:p>
            <a:fld id="{FDA70E81-FC7A-4FFB-A72B-14BBBFAEFD60}" type="slidenum">
              <a:rPr lang="en-US" smtClean="0"/>
              <a:pPr/>
              <a:t>16</a:t>
            </a:fld>
            <a:r>
              <a:rPr lang="en-US" dirty="0"/>
              <a:t>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01600"/>
            <a:ext cx="7772400" cy="1143000"/>
          </a:xfrm>
        </p:spPr>
        <p:txBody>
          <a:bodyPr/>
          <a:lstStyle/>
          <a:p>
            <a:r>
              <a:rPr lang="en-US" dirty="0"/>
              <a:t>Total Store Order (TSO/x86) Memory Model</a:t>
            </a:r>
          </a:p>
        </p:txBody>
      </p:sp>
      <p:sp>
        <p:nvSpPr>
          <p:cNvPr id="3" name="Content Placeholder 2"/>
          <p:cNvSpPr>
            <a:spLocks noGrp="1"/>
          </p:cNvSpPr>
          <p:nvPr>
            <p:ph idx="1"/>
          </p:nvPr>
        </p:nvSpPr>
        <p:spPr>
          <a:xfrm>
            <a:off x="685800" y="1752600"/>
            <a:ext cx="7772400" cy="4343400"/>
          </a:xfrm>
        </p:spPr>
        <p:txBody>
          <a:bodyPr/>
          <a:lstStyle/>
          <a:p>
            <a:pPr>
              <a:buNone/>
            </a:pPr>
            <a:r>
              <a:rPr lang="en-US" dirty="0"/>
              <a:t>	Use of write (store) buffer considered very important by Intel and AMD for x86.  </a:t>
            </a:r>
          </a:p>
          <a:p>
            <a:pPr>
              <a:buNone/>
            </a:pPr>
            <a:endParaRPr lang="en-US" dirty="0"/>
          </a:p>
          <a:p>
            <a:pPr>
              <a:buNone/>
            </a:pPr>
            <a:r>
              <a:rPr lang="en-US" dirty="0"/>
              <a:t>	Leads to total store order memory model supported by x86.</a:t>
            </a:r>
          </a:p>
          <a:p>
            <a:pPr>
              <a:buNone/>
            </a:pPr>
            <a:endParaRPr lang="en-US" dirty="0"/>
          </a:p>
          <a:p>
            <a:pPr>
              <a:buNone/>
            </a:pPr>
            <a:r>
              <a:rPr lang="en-US" dirty="0"/>
              <a:t>	</a:t>
            </a:r>
            <a:r>
              <a:rPr lang="en-US" dirty="0">
                <a:solidFill>
                  <a:srgbClr val="FF0000"/>
                </a:solidFill>
              </a:rPr>
              <a:t>In general, memory model on </a:t>
            </a:r>
            <a:r>
              <a:rPr lang="en-US" dirty="0" err="1">
                <a:solidFill>
                  <a:srgbClr val="FF0000"/>
                </a:solidFill>
              </a:rPr>
              <a:t>multicore</a:t>
            </a:r>
            <a:r>
              <a:rPr lang="en-US" dirty="0">
                <a:solidFill>
                  <a:srgbClr val="FF0000"/>
                </a:solidFill>
              </a:rPr>
              <a:t> processors is not sequential consistency.</a:t>
            </a:r>
          </a:p>
          <a:p>
            <a:pPr>
              <a:buNone/>
            </a:pPr>
            <a:endParaRPr lang="en-US" dirty="0"/>
          </a:p>
          <a:p>
            <a:pPr>
              <a:buNone/>
            </a:pPr>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17</a:t>
            </a:fld>
            <a:r>
              <a:rPr lang="en-US"/>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TSO/x86 Ordering Rules</a:t>
            </a:r>
          </a:p>
        </p:txBody>
      </p:sp>
      <p:sp>
        <p:nvSpPr>
          <p:cNvPr id="3" name="Content Placeholder 2"/>
          <p:cNvSpPr>
            <a:spLocks noGrp="1"/>
          </p:cNvSpPr>
          <p:nvPr>
            <p:ph idx="1"/>
          </p:nvPr>
        </p:nvSpPr>
        <p:spPr/>
        <p:txBody>
          <a:bodyPr/>
          <a:lstStyle/>
          <a:p>
            <a:pPr>
              <a:buNone/>
            </a:pPr>
            <a:r>
              <a:rPr lang="en-US" dirty="0"/>
              <a:t>	Operations from a single thread must respect following orderings when placed into memory order:</a:t>
            </a:r>
          </a:p>
          <a:p>
            <a:pPr>
              <a:buNone/>
            </a:pPr>
            <a:endParaRPr lang="en-US" dirty="0"/>
          </a:p>
          <a:p>
            <a:r>
              <a:rPr lang="en-US" dirty="0">
                <a:solidFill>
                  <a:srgbClr val="0000FF"/>
                </a:solidFill>
              </a:rPr>
              <a:t>Load -&gt; Load</a:t>
            </a:r>
          </a:p>
          <a:p>
            <a:r>
              <a:rPr lang="en-US" dirty="0">
                <a:solidFill>
                  <a:srgbClr val="0000FF"/>
                </a:solidFill>
              </a:rPr>
              <a:t>Load -&gt; Store</a:t>
            </a:r>
          </a:p>
          <a:p>
            <a:r>
              <a:rPr lang="en-US" dirty="0">
                <a:solidFill>
                  <a:srgbClr val="0000FF"/>
                </a:solidFill>
              </a:rPr>
              <a:t>Store -&gt; Store</a:t>
            </a:r>
          </a:p>
          <a:p>
            <a:r>
              <a:rPr lang="en-US" dirty="0">
                <a:solidFill>
                  <a:srgbClr val="FF0000"/>
                </a:solidFill>
              </a:rPr>
              <a:t>Store -&gt; Load   : TSO/x86 allow loads to appear before prior store in memory order to enable write buffer in each core</a:t>
            </a:r>
          </a:p>
          <a:p>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18</a:t>
            </a:fld>
            <a:r>
              <a:rPr lang="en-US"/>
              <a:t> </a:t>
            </a:r>
          </a:p>
        </p:txBody>
      </p:sp>
      <p:cxnSp>
        <p:nvCxnSpPr>
          <p:cNvPr id="6" name="Straight Connector 5"/>
          <p:cNvCxnSpPr/>
          <p:nvPr/>
        </p:nvCxnSpPr>
        <p:spPr bwMode="auto">
          <a:xfrm rot="10800000" flipV="1">
            <a:off x="914400" y="4889500"/>
            <a:ext cx="2451100" cy="39370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 Revisited</a:t>
            </a:r>
          </a:p>
        </p:txBody>
      </p:sp>
      <p:graphicFrame>
        <p:nvGraphicFramePr>
          <p:cNvPr id="6" name="Content Placeholder 5"/>
          <p:cNvGraphicFramePr>
            <a:graphicFrameLocks noGrp="1"/>
          </p:cNvGraphicFramePr>
          <p:nvPr>
            <p:ph idx="1"/>
          </p:nvPr>
        </p:nvGraphicFramePr>
        <p:xfrm>
          <a:off x="179091" y="1464725"/>
          <a:ext cx="8824482" cy="1934217"/>
        </p:xfrm>
        <a:graphic>
          <a:graphicData uri="http://schemas.openxmlformats.org/drawingml/2006/table">
            <a:tbl>
              <a:tblPr firstRow="1" bandRow="1">
                <a:tableStyleId>{306799F8-075E-4A3A-A7F6-7FBC6576F1A4}</a:tableStyleId>
              </a:tblPr>
              <a:tblGrid>
                <a:gridCol w="2482074">
                  <a:extLst>
                    <a:ext uri="{9D8B030D-6E8A-4147-A177-3AD203B41FA5}">
                      <a16:colId xmlns:a16="http://schemas.microsoft.com/office/drawing/2014/main" val="20000"/>
                    </a:ext>
                  </a:extLst>
                </a:gridCol>
                <a:gridCol w="3452625">
                  <a:extLst>
                    <a:ext uri="{9D8B030D-6E8A-4147-A177-3AD203B41FA5}">
                      <a16:colId xmlns:a16="http://schemas.microsoft.com/office/drawing/2014/main" val="20001"/>
                    </a:ext>
                  </a:extLst>
                </a:gridCol>
                <a:gridCol w="2889783">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Store </a:t>
                      </a:r>
                      <a:r>
                        <a:rPr lang="en-US" sz="1600" b="1" dirty="0">
                          <a:solidFill>
                            <a:srgbClr val="FF00FF"/>
                          </a:solidFill>
                          <a:latin typeface="Courier New"/>
                          <a:cs typeface="Courier New"/>
                        </a:rPr>
                        <a:t>data</a:t>
                      </a:r>
                      <a:r>
                        <a:rPr lang="en-US" sz="1600" b="0" dirty="0">
                          <a:solidFill>
                            <a:schemeClr val="tx1"/>
                          </a:solidFill>
                          <a:latin typeface="Courier New"/>
                          <a:cs typeface="Courier New"/>
                        </a:rPr>
                        <a:t>=NEW</a:t>
                      </a:r>
                    </a:p>
                  </a:txBody>
                  <a:tcPr anchor="b"/>
                </a:tc>
                <a:tc>
                  <a:txBody>
                    <a:bodyPr/>
                    <a:lstStyle/>
                    <a:p>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a:solidFill>
                            <a:srgbClr val="0000FF"/>
                          </a:solidFill>
                          <a:latin typeface="Courier New"/>
                          <a:cs typeface="Courier New"/>
                        </a:rPr>
                        <a:t>data=0,</a:t>
                      </a:r>
                    </a:p>
                    <a:p>
                      <a:r>
                        <a:rPr lang="en-US" sz="1600" b="0" baseline="0" dirty="0">
                          <a:solidFill>
                            <a:srgbClr val="0000FF"/>
                          </a:solidFill>
                          <a:latin typeface="Courier New"/>
                          <a:cs typeface="Courier New"/>
                        </a:rPr>
                        <a:t>// flag != SET</a:t>
                      </a:r>
                      <a:endParaRPr lang="en-US" sz="1600" b="0" dirty="0">
                        <a:solidFill>
                          <a:srgbClr val="0000FF"/>
                        </a:solidFill>
                        <a:latin typeface="Courier New"/>
                        <a:cs typeface="Courier New"/>
                      </a:endParaRP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S2: Store </a:t>
                      </a:r>
                      <a:r>
                        <a:rPr lang="en-US" sz="1600" b="1" dirty="0">
                          <a:solidFill>
                            <a:srgbClr val="008000"/>
                          </a:solidFill>
                          <a:latin typeface="Courier New"/>
                          <a:cs typeface="Courier New"/>
                        </a:rPr>
                        <a:t>flag</a:t>
                      </a:r>
                      <a:r>
                        <a:rPr lang="en-US" sz="1600" b="0" dirty="0">
                          <a:solidFill>
                            <a:schemeClr val="tx1"/>
                          </a:solidFill>
                          <a:latin typeface="Courier New"/>
                          <a:cs typeface="Courier New"/>
                        </a:rPr>
                        <a:t>=SET</a:t>
                      </a:r>
                    </a:p>
                  </a:txBody>
                  <a:tcPr marT="0" marB="0"/>
                </a:tc>
                <a:tc>
                  <a:txBody>
                    <a:bodyPr/>
                    <a:lstStyle/>
                    <a:p>
                      <a:r>
                        <a:rPr lang="en-US" sz="1600" b="0" dirty="0">
                          <a:solidFill>
                            <a:schemeClr val="tx1"/>
                          </a:solidFill>
                          <a:latin typeface="Courier New"/>
                          <a:cs typeface="Courier New"/>
                        </a:rPr>
                        <a:t>L1: Load r1=</a:t>
                      </a:r>
                      <a:r>
                        <a:rPr lang="en-US" sz="1600" b="1" dirty="0">
                          <a:solidFill>
                            <a:srgbClr val="008000"/>
                          </a:solidFill>
                          <a:latin typeface="Courier New"/>
                          <a:cs typeface="Courier New"/>
                        </a:rPr>
                        <a:t>flag</a:t>
                      </a:r>
                    </a:p>
                  </a:txBody>
                  <a:tcPr marT="0" marB="0"/>
                </a:tc>
                <a:tc>
                  <a:txBody>
                    <a:bodyPr/>
                    <a:lstStyle/>
                    <a:p>
                      <a:r>
                        <a:rPr lang="en-US" sz="1600" b="0" dirty="0">
                          <a:solidFill>
                            <a:schemeClr val="tx1"/>
                          </a:solidFill>
                          <a:latin typeface="Courier New"/>
                          <a:cs typeface="Courier New"/>
                        </a:rPr>
                        <a:t>// L1</a:t>
                      </a:r>
                      <a:r>
                        <a:rPr lang="en-US" sz="1600" b="0" baseline="0" dirty="0">
                          <a:solidFill>
                            <a:schemeClr val="tx1"/>
                          </a:solidFill>
                          <a:latin typeface="Courier New"/>
                          <a:cs typeface="Courier New"/>
                        </a:rPr>
                        <a:t> and B1 may</a:t>
                      </a:r>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r h="293042">
                <a:tc>
                  <a:txBody>
                    <a:bodyPr/>
                    <a:lstStyle/>
                    <a:p>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B1: if( r1!=SET</a:t>
                      </a:r>
                      <a:r>
                        <a:rPr lang="en-US" sz="1600" b="0" baseline="0" dirty="0">
                          <a:solidFill>
                            <a:schemeClr val="tx1"/>
                          </a:solidFill>
                          <a:latin typeface="Courier New"/>
                          <a:cs typeface="Courier New"/>
                        </a:rPr>
                        <a:t> ) </a:t>
                      </a:r>
                      <a:r>
                        <a:rPr lang="en-US" sz="1600" b="0" baseline="0" dirty="0" err="1">
                          <a:solidFill>
                            <a:schemeClr val="tx1"/>
                          </a:solidFill>
                          <a:latin typeface="Courier New"/>
                          <a:cs typeface="Courier New"/>
                        </a:rPr>
                        <a:t>goto</a:t>
                      </a:r>
                      <a:r>
                        <a:rPr lang="en-US" sz="1600" b="0" baseline="0" dirty="0">
                          <a:solidFill>
                            <a:schemeClr val="tx1"/>
                          </a:solidFill>
                          <a:latin typeface="Courier New"/>
                          <a:cs typeface="Courier New"/>
                        </a:rPr>
                        <a:t> L1;</a:t>
                      </a:r>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a:t>
                      </a:r>
                      <a:r>
                        <a:rPr lang="en-US" sz="1600" b="0" baseline="0" dirty="0">
                          <a:solidFill>
                            <a:schemeClr val="tx1"/>
                          </a:solidFill>
                          <a:latin typeface="Courier New"/>
                          <a:cs typeface="Courier New"/>
                        </a:rPr>
                        <a:t> iterate many times</a:t>
                      </a:r>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3"/>
                  </a:ext>
                </a:extLst>
              </a:tr>
              <a:tr h="370840">
                <a:tc>
                  <a:txBody>
                    <a:bodyPr/>
                    <a:lstStyle/>
                    <a:p>
                      <a:endParaRPr lang="en-US" sz="1600" b="0" dirty="0">
                        <a:solidFill>
                          <a:schemeClr val="tx1"/>
                        </a:solidFill>
                        <a:latin typeface="Courier New"/>
                        <a:cs typeface="Courier New"/>
                      </a:endParaRPr>
                    </a:p>
                  </a:txBody>
                  <a:tcPr marT="0" marB="0"/>
                </a:tc>
                <a:tc>
                  <a:txBody>
                    <a:bodyPr/>
                    <a:lstStyle/>
                    <a:p>
                      <a:r>
                        <a:rPr lang="en-US" sz="1600" b="0" dirty="0">
                          <a:solidFill>
                            <a:schemeClr val="tx1"/>
                          </a:solidFill>
                          <a:latin typeface="Courier New"/>
                          <a:cs typeface="Courier New"/>
                        </a:rPr>
                        <a:t>L2: Load r2=</a:t>
                      </a:r>
                      <a:r>
                        <a:rPr lang="en-US" sz="1600" b="1" dirty="0">
                          <a:solidFill>
                            <a:srgbClr val="FF00FF"/>
                          </a:solidFill>
                          <a:latin typeface="Courier New"/>
                          <a:cs typeface="Courier New"/>
                        </a:rPr>
                        <a:t>data</a:t>
                      </a: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19</a:t>
            </a:fld>
            <a:r>
              <a:rPr lang="en-US"/>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Revisited</a:t>
            </a:r>
          </a:p>
        </p:txBody>
      </p:sp>
      <p:graphicFrame>
        <p:nvGraphicFramePr>
          <p:cNvPr id="6" name="Content Placeholder 5"/>
          <p:cNvGraphicFramePr>
            <a:graphicFrameLocks noGrp="1"/>
          </p:cNvGraphicFramePr>
          <p:nvPr>
            <p:ph idx="1"/>
          </p:nvPr>
        </p:nvGraphicFramePr>
        <p:xfrm>
          <a:off x="699791" y="1464725"/>
          <a:ext cx="7771108" cy="1062055"/>
        </p:xfrm>
        <a:graphic>
          <a:graphicData uri="http://schemas.openxmlformats.org/drawingml/2006/table">
            <a:tbl>
              <a:tblPr firstRow="1" bandRow="1">
                <a:tableStyleId>{306799F8-075E-4A3A-A7F6-7FBC6576F1A4}</a:tableStyleId>
              </a:tblPr>
              <a:tblGrid>
                <a:gridCol w="2185790">
                  <a:extLst>
                    <a:ext uri="{9D8B030D-6E8A-4147-A177-3AD203B41FA5}">
                      <a16:colId xmlns:a16="http://schemas.microsoft.com/office/drawing/2014/main" val="20000"/>
                    </a:ext>
                  </a:extLst>
                </a:gridCol>
                <a:gridCol w="2264308">
                  <a:extLst>
                    <a:ext uri="{9D8B030D-6E8A-4147-A177-3AD203B41FA5}">
                      <a16:colId xmlns:a16="http://schemas.microsoft.com/office/drawing/2014/main" val="20001"/>
                    </a:ext>
                  </a:extLst>
                </a:gridCol>
                <a:gridCol w="3321010">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a:t>
                      </a:r>
                      <a:r>
                        <a:rPr lang="en-US" sz="1600" b="1" dirty="0" err="1">
                          <a:solidFill>
                            <a:srgbClr val="FF00FF"/>
                          </a:solidFill>
                          <a:latin typeface="Courier New"/>
                          <a:cs typeface="Courier New"/>
                        </a:rPr>
                        <a:t>x</a:t>
                      </a:r>
                      <a:r>
                        <a:rPr lang="en-US" sz="1600" b="0" dirty="0">
                          <a:solidFill>
                            <a:schemeClr val="tx1"/>
                          </a:solidFill>
                          <a:latin typeface="Courier New"/>
                          <a:cs typeface="Courier New"/>
                        </a:rPr>
                        <a:t>=NEW</a:t>
                      </a:r>
                    </a:p>
                  </a:txBody>
                  <a:tcPr anchor="b"/>
                </a:tc>
                <a:tc>
                  <a:txBody>
                    <a:bodyPr/>
                    <a:lstStyle/>
                    <a:p>
                      <a:r>
                        <a:rPr lang="en-US" sz="1600" b="0" dirty="0">
                          <a:solidFill>
                            <a:schemeClr val="tx1"/>
                          </a:solidFill>
                          <a:latin typeface="Courier New"/>
                          <a:cs typeface="Courier New"/>
                        </a:rPr>
                        <a:t>S2:</a:t>
                      </a:r>
                      <a:r>
                        <a:rPr lang="en-US" sz="1600" b="0" baseline="0" dirty="0">
                          <a:solidFill>
                            <a:schemeClr val="tx1"/>
                          </a:solidFill>
                          <a:latin typeface="Courier New"/>
                          <a:cs typeface="Courier New"/>
                        </a:rPr>
                        <a:t> </a:t>
                      </a:r>
                      <a:r>
                        <a:rPr lang="en-US" sz="1600" b="1" baseline="0" dirty="0" err="1">
                          <a:solidFill>
                            <a:srgbClr val="008000"/>
                          </a:solidFill>
                          <a:latin typeface="Courier New"/>
                          <a:cs typeface="Courier New"/>
                        </a:rPr>
                        <a:t>y</a:t>
                      </a:r>
                      <a:r>
                        <a:rPr lang="en-US" sz="1600" b="0" baseline="0" dirty="0">
                          <a:solidFill>
                            <a:schemeClr val="tx1"/>
                          </a:solidFill>
                          <a:latin typeface="Courier New"/>
                          <a:cs typeface="Courier New"/>
                        </a:rPr>
                        <a:t>=NEW</a:t>
                      </a:r>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err="1">
                          <a:solidFill>
                            <a:srgbClr val="0000FF"/>
                          </a:solidFill>
                          <a:latin typeface="Courier New"/>
                          <a:cs typeface="Courier New"/>
                        </a:rPr>
                        <a:t>x</a:t>
                      </a:r>
                      <a:r>
                        <a:rPr lang="en-US" sz="1600" b="0" dirty="0">
                          <a:solidFill>
                            <a:srgbClr val="0000FF"/>
                          </a:solidFill>
                          <a:latin typeface="Courier New"/>
                          <a:cs typeface="Courier New"/>
                        </a:rPr>
                        <a:t>=</a:t>
                      </a:r>
                      <a:r>
                        <a:rPr lang="en-US" sz="1600" b="0" dirty="0" err="1">
                          <a:solidFill>
                            <a:srgbClr val="0000FF"/>
                          </a:solidFill>
                          <a:latin typeface="Courier New"/>
                          <a:cs typeface="Courier New"/>
                        </a:rPr>
                        <a:t>y</a:t>
                      </a:r>
                      <a:r>
                        <a:rPr lang="en-US" sz="1600" b="0" dirty="0">
                          <a:solidFill>
                            <a:srgbClr val="0000FF"/>
                          </a:solidFill>
                          <a:latin typeface="Courier New"/>
                          <a:cs typeface="Courier New"/>
                        </a:rPr>
                        <a:t>=0</a:t>
                      </a: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L1: r1=</a:t>
                      </a:r>
                      <a:r>
                        <a:rPr lang="en-US" sz="1600" b="1" dirty="0" err="1">
                          <a:solidFill>
                            <a:srgbClr val="008000"/>
                          </a:solidFill>
                          <a:latin typeface="Courier New"/>
                          <a:cs typeface="Courier New"/>
                        </a:rPr>
                        <a:t>y</a:t>
                      </a:r>
                      <a:endParaRPr lang="en-US" sz="1600" b="1" dirty="0">
                        <a:solidFill>
                          <a:srgbClr val="008000"/>
                        </a:solidFill>
                        <a:latin typeface="Courier New"/>
                        <a:cs typeface="Courier New"/>
                      </a:endParaRPr>
                    </a:p>
                  </a:txBody>
                  <a:tcPr marT="0" marB="0"/>
                </a:tc>
                <a:tc>
                  <a:txBody>
                    <a:bodyPr/>
                    <a:lstStyle/>
                    <a:p>
                      <a:r>
                        <a:rPr lang="en-US" sz="1600" b="0" dirty="0">
                          <a:solidFill>
                            <a:schemeClr val="tx1"/>
                          </a:solidFill>
                          <a:latin typeface="Courier New"/>
                          <a:cs typeface="Courier New"/>
                        </a:rPr>
                        <a:t>L2:</a:t>
                      </a:r>
                      <a:r>
                        <a:rPr lang="en-US" sz="1600" b="0" baseline="0" dirty="0">
                          <a:solidFill>
                            <a:schemeClr val="tx1"/>
                          </a:solidFill>
                          <a:latin typeface="Courier New"/>
                          <a:cs typeface="Courier New"/>
                        </a:rPr>
                        <a:t> r2=</a:t>
                      </a:r>
                      <a:r>
                        <a:rPr lang="en-US" sz="1600" b="1" baseline="0" dirty="0" err="1">
                          <a:solidFill>
                            <a:srgbClr val="FF00FF"/>
                          </a:solidFill>
                          <a:latin typeface="Courier New"/>
                          <a:cs typeface="Courier New"/>
                        </a:rPr>
                        <a:t>x</a:t>
                      </a:r>
                      <a:endParaRPr lang="en-US" sz="1600" b="1" dirty="0">
                        <a:solidFill>
                          <a:srgbClr val="FF00FF"/>
                        </a:solidFill>
                        <a:latin typeface="Courier New"/>
                        <a:cs typeface="Courier New"/>
                      </a:endParaRP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20</a:t>
            </a:fld>
            <a:r>
              <a:rPr lang="en-US"/>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TSO/x86 ordering</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21</a:t>
            </a:fld>
            <a:r>
              <a:rPr lang="en-US"/>
              <a:t> </a:t>
            </a:r>
          </a:p>
        </p:txBody>
      </p:sp>
      <p:cxnSp>
        <p:nvCxnSpPr>
          <p:cNvPr id="6" name="Straight Arrow Connector 5"/>
          <p:cNvCxnSpPr/>
          <p:nvPr/>
        </p:nvCxnSpPr>
        <p:spPr bwMode="auto">
          <a:xfrm rot="16200000" flipH="1">
            <a:off x="559608" y="3506008"/>
            <a:ext cx="1976910" cy="2679"/>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TextBox 7"/>
          <p:cNvSpPr txBox="1"/>
          <p:nvPr/>
        </p:nvSpPr>
        <p:spPr>
          <a:xfrm>
            <a:off x="227939" y="2014210"/>
            <a:ext cx="2801819" cy="369332"/>
          </a:xfrm>
          <a:prstGeom prst="rect">
            <a:avLst/>
          </a:prstGeom>
          <a:noFill/>
        </p:spPr>
        <p:txBody>
          <a:bodyPr wrap="none" rtlCol="0">
            <a:spAutoFit/>
          </a:bodyPr>
          <a:lstStyle/>
          <a:p>
            <a:r>
              <a:rPr lang="en-US" sz="1800" dirty="0"/>
              <a:t>Program order of core C1</a:t>
            </a:r>
          </a:p>
        </p:txBody>
      </p:sp>
      <p:sp>
        <p:nvSpPr>
          <p:cNvPr id="9" name="TextBox 8"/>
          <p:cNvSpPr txBox="1"/>
          <p:nvPr/>
        </p:nvSpPr>
        <p:spPr>
          <a:xfrm>
            <a:off x="3571479" y="2003808"/>
            <a:ext cx="1621282" cy="369332"/>
          </a:xfrm>
          <a:prstGeom prst="rect">
            <a:avLst/>
          </a:prstGeom>
          <a:noFill/>
        </p:spPr>
        <p:txBody>
          <a:bodyPr wrap="none" rtlCol="0">
            <a:spAutoFit/>
          </a:bodyPr>
          <a:lstStyle/>
          <a:p>
            <a:r>
              <a:rPr lang="en-US" sz="1800" dirty="0"/>
              <a:t>Memory order</a:t>
            </a:r>
          </a:p>
        </p:txBody>
      </p:sp>
      <p:sp>
        <p:nvSpPr>
          <p:cNvPr id="10" name="TextBox 9"/>
          <p:cNvSpPr txBox="1"/>
          <p:nvPr/>
        </p:nvSpPr>
        <p:spPr>
          <a:xfrm>
            <a:off x="6013678" y="2003809"/>
            <a:ext cx="2801819" cy="369332"/>
          </a:xfrm>
          <a:prstGeom prst="rect">
            <a:avLst/>
          </a:prstGeom>
          <a:noFill/>
        </p:spPr>
        <p:txBody>
          <a:bodyPr wrap="none" rtlCol="0">
            <a:spAutoFit/>
          </a:bodyPr>
          <a:lstStyle/>
          <a:p>
            <a:r>
              <a:rPr lang="en-US" sz="1800" dirty="0"/>
              <a:t>Program order of core C2</a:t>
            </a:r>
          </a:p>
        </p:txBody>
      </p:sp>
      <p:cxnSp>
        <p:nvCxnSpPr>
          <p:cNvPr id="11" name="Straight Arrow Connector 10"/>
          <p:cNvCxnSpPr/>
          <p:nvPr/>
        </p:nvCxnSpPr>
        <p:spPr bwMode="auto">
          <a:xfrm rot="16200000" flipH="1">
            <a:off x="3484948" y="3523051"/>
            <a:ext cx="1967450" cy="3454"/>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2" name="Straight Arrow Connector 11"/>
          <p:cNvCxnSpPr/>
          <p:nvPr/>
        </p:nvCxnSpPr>
        <p:spPr bwMode="auto">
          <a:xfrm rot="16200000" flipH="1">
            <a:off x="6372194" y="3578196"/>
            <a:ext cx="2075871" cy="1334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4" name="Straight Arrow Connector 13"/>
          <p:cNvCxnSpPr/>
          <p:nvPr/>
        </p:nvCxnSpPr>
        <p:spPr bwMode="auto">
          <a:xfrm rot="10800000">
            <a:off x="5190068" y="3022601"/>
            <a:ext cx="2217939" cy="17599"/>
          </a:xfrm>
          <a:prstGeom prst="straightConnector1">
            <a:avLst/>
          </a:prstGeom>
          <a:solidFill>
            <a:schemeClr val="accent1"/>
          </a:solidFill>
          <a:ln w="9525" cap="flat" cmpd="sng" algn="ctr">
            <a:solidFill>
              <a:schemeClr val="tx1"/>
            </a:solidFill>
            <a:prstDash val="dash"/>
            <a:round/>
            <a:headEnd type="none" w="med" len="med"/>
            <a:tailEnd type="none"/>
          </a:ln>
          <a:effectLst/>
        </p:spPr>
      </p:cxnSp>
      <p:sp>
        <p:nvSpPr>
          <p:cNvPr id="15" name="TextBox 14"/>
          <p:cNvSpPr txBox="1"/>
          <p:nvPr/>
        </p:nvSpPr>
        <p:spPr>
          <a:xfrm>
            <a:off x="5239006" y="2631234"/>
            <a:ext cx="1980029" cy="307777"/>
          </a:xfrm>
          <a:prstGeom prst="rect">
            <a:avLst/>
          </a:prstGeom>
          <a:noFill/>
        </p:spPr>
        <p:txBody>
          <a:bodyPr wrap="none" rtlCol="0">
            <a:spAutoFit/>
          </a:bodyPr>
          <a:lstStyle/>
          <a:p>
            <a:r>
              <a:rPr lang="en-US" dirty="0"/>
              <a:t>S2: </a:t>
            </a:r>
            <a:r>
              <a:rPr lang="en-US" dirty="0" err="1"/>
              <a:t>y</a:t>
            </a:r>
            <a:r>
              <a:rPr lang="en-US" dirty="0"/>
              <a:t>=NEW  /* NEW */</a:t>
            </a:r>
          </a:p>
        </p:txBody>
      </p:sp>
      <p:sp>
        <p:nvSpPr>
          <p:cNvPr id="22" name="TextBox 21"/>
          <p:cNvSpPr txBox="1"/>
          <p:nvPr/>
        </p:nvSpPr>
        <p:spPr>
          <a:xfrm>
            <a:off x="1921532" y="2612316"/>
            <a:ext cx="2240955" cy="307777"/>
          </a:xfrm>
          <a:prstGeom prst="rect">
            <a:avLst/>
          </a:prstGeom>
          <a:noFill/>
        </p:spPr>
        <p:txBody>
          <a:bodyPr wrap="square" rtlCol="0">
            <a:spAutoFit/>
          </a:bodyPr>
          <a:lstStyle/>
          <a:p>
            <a:r>
              <a:rPr lang="en-US" dirty="0"/>
              <a:t>S1: </a:t>
            </a:r>
            <a:r>
              <a:rPr lang="en-US" dirty="0" err="1"/>
              <a:t>x</a:t>
            </a:r>
            <a:r>
              <a:rPr lang="en-US" dirty="0"/>
              <a:t>=NEW /* NEW */</a:t>
            </a:r>
          </a:p>
        </p:txBody>
      </p:sp>
      <p:cxnSp>
        <p:nvCxnSpPr>
          <p:cNvPr id="23" name="Straight Arrow Connector 22"/>
          <p:cNvCxnSpPr/>
          <p:nvPr/>
        </p:nvCxnSpPr>
        <p:spPr bwMode="auto">
          <a:xfrm rot="10800000">
            <a:off x="4454251" y="3655941"/>
            <a:ext cx="2963202" cy="16282"/>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4" name="TextBox 23"/>
          <p:cNvSpPr txBox="1"/>
          <p:nvPr/>
        </p:nvSpPr>
        <p:spPr>
          <a:xfrm>
            <a:off x="5248455" y="3216378"/>
            <a:ext cx="1327369" cy="307777"/>
          </a:xfrm>
          <a:prstGeom prst="rect">
            <a:avLst/>
          </a:prstGeom>
          <a:noFill/>
        </p:spPr>
        <p:txBody>
          <a:bodyPr wrap="none" rtlCol="0">
            <a:spAutoFit/>
          </a:bodyPr>
          <a:lstStyle/>
          <a:p>
            <a:r>
              <a:rPr lang="en-US" dirty="0"/>
              <a:t>L2: r2=</a:t>
            </a:r>
            <a:r>
              <a:rPr lang="en-US" dirty="0" err="1"/>
              <a:t>x</a:t>
            </a:r>
            <a:r>
              <a:rPr lang="en-US" dirty="0"/>
              <a:t> /* 0 */</a:t>
            </a:r>
          </a:p>
        </p:txBody>
      </p:sp>
      <p:cxnSp>
        <p:nvCxnSpPr>
          <p:cNvPr id="27" name="Straight Arrow Connector 26"/>
          <p:cNvCxnSpPr/>
          <p:nvPr/>
        </p:nvCxnSpPr>
        <p:spPr bwMode="auto">
          <a:xfrm flipV="1">
            <a:off x="1547057" y="3428628"/>
            <a:ext cx="2920225" cy="10401"/>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28" name="TextBox 27"/>
          <p:cNvSpPr txBox="1"/>
          <p:nvPr/>
        </p:nvSpPr>
        <p:spPr>
          <a:xfrm>
            <a:off x="2014344" y="3135585"/>
            <a:ext cx="2240955" cy="307777"/>
          </a:xfrm>
          <a:prstGeom prst="rect">
            <a:avLst/>
          </a:prstGeom>
          <a:noFill/>
        </p:spPr>
        <p:txBody>
          <a:bodyPr wrap="square" rtlCol="0">
            <a:spAutoFit/>
          </a:bodyPr>
          <a:lstStyle/>
          <a:p>
            <a:r>
              <a:rPr lang="en-US" dirty="0"/>
              <a:t>L1: r1=</a:t>
            </a:r>
            <a:r>
              <a:rPr lang="en-US" dirty="0" err="1"/>
              <a:t>y</a:t>
            </a:r>
            <a:r>
              <a:rPr lang="en-US" dirty="0"/>
              <a:t> /* 0 */</a:t>
            </a:r>
          </a:p>
        </p:txBody>
      </p:sp>
      <p:cxnSp>
        <p:nvCxnSpPr>
          <p:cNvPr id="33" name="Straight Arrow Connector 32"/>
          <p:cNvCxnSpPr/>
          <p:nvPr/>
        </p:nvCxnSpPr>
        <p:spPr bwMode="auto">
          <a:xfrm rot="5400000">
            <a:off x="4178684" y="3319217"/>
            <a:ext cx="1277799" cy="719766"/>
          </a:xfrm>
          <a:prstGeom prst="straightConnector1">
            <a:avLst/>
          </a:prstGeom>
          <a:solidFill>
            <a:schemeClr val="accent1"/>
          </a:solidFill>
          <a:ln w="9525" cap="flat" cmpd="sng" algn="ctr">
            <a:solidFill>
              <a:schemeClr val="tx1"/>
            </a:solidFill>
            <a:prstDash val="dash"/>
            <a:round/>
            <a:headEnd type="none" w="med" len="med"/>
            <a:tailEnd type="arrow"/>
          </a:ln>
          <a:effectLst/>
        </p:spPr>
      </p:cxnSp>
      <p:cxnSp>
        <p:nvCxnSpPr>
          <p:cNvPr id="25" name="Straight Arrow Connector 24"/>
          <p:cNvCxnSpPr/>
          <p:nvPr/>
        </p:nvCxnSpPr>
        <p:spPr bwMode="auto">
          <a:xfrm rot="10800000">
            <a:off x="1507068" y="2895601"/>
            <a:ext cx="2217939" cy="17599"/>
          </a:xfrm>
          <a:prstGeom prst="straightConnector1">
            <a:avLst/>
          </a:prstGeom>
          <a:solidFill>
            <a:schemeClr val="accent1"/>
          </a:solidFill>
          <a:ln w="9525" cap="flat" cmpd="sng" algn="ctr">
            <a:solidFill>
              <a:schemeClr val="tx1"/>
            </a:solidFill>
            <a:prstDash val="dash"/>
            <a:round/>
            <a:headEnd type="none" w="med" len="med"/>
            <a:tailEnd type="none"/>
          </a:ln>
          <a:effectLst/>
        </p:spPr>
      </p:cxnSp>
      <p:cxnSp>
        <p:nvCxnSpPr>
          <p:cNvPr id="26" name="Straight Arrow Connector 25"/>
          <p:cNvCxnSpPr/>
          <p:nvPr/>
        </p:nvCxnSpPr>
        <p:spPr bwMode="auto">
          <a:xfrm rot="16200000" flipH="1">
            <a:off x="3537332" y="3092834"/>
            <a:ext cx="1100003" cy="740733"/>
          </a:xfrm>
          <a:prstGeom prst="straightConnector1">
            <a:avLst/>
          </a:prstGeom>
          <a:solidFill>
            <a:schemeClr val="accent1"/>
          </a:solidFill>
          <a:ln w="9525" cap="flat" cmpd="sng" algn="ctr">
            <a:solidFill>
              <a:schemeClr val="tx1"/>
            </a:solidFill>
            <a:prstDash val="dash"/>
            <a:round/>
            <a:headEnd type="none" w="med" len="med"/>
            <a:tailEnd type="arrow"/>
          </a:ln>
          <a:effectLst/>
        </p:spPr>
      </p:cxnSp>
      <p:sp>
        <p:nvSpPr>
          <p:cNvPr id="30" name="TextBox 29"/>
          <p:cNvSpPr txBox="1"/>
          <p:nvPr/>
        </p:nvSpPr>
        <p:spPr>
          <a:xfrm>
            <a:off x="1104900" y="5270500"/>
            <a:ext cx="7029689" cy="461665"/>
          </a:xfrm>
          <a:prstGeom prst="rect">
            <a:avLst/>
          </a:prstGeom>
          <a:noFill/>
        </p:spPr>
        <p:txBody>
          <a:bodyPr wrap="none" rtlCol="0">
            <a:spAutoFit/>
          </a:bodyPr>
          <a:lstStyle/>
          <a:p>
            <a:r>
              <a:rPr lang="en-US" sz="2400" dirty="0">
                <a:solidFill>
                  <a:srgbClr val="FF0000"/>
                </a:solidFill>
              </a:rPr>
              <a:t>(r1, r2) = (0, 0) is legal outcome under TSO/x86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Fence Operations</a:t>
            </a:r>
          </a:p>
        </p:txBody>
      </p:sp>
      <p:sp>
        <p:nvSpPr>
          <p:cNvPr id="3" name="Content Placeholder 2"/>
          <p:cNvSpPr>
            <a:spLocks noGrp="1"/>
          </p:cNvSpPr>
          <p:nvPr>
            <p:ph idx="1"/>
          </p:nvPr>
        </p:nvSpPr>
        <p:spPr>
          <a:xfrm>
            <a:off x="685800" y="1371600"/>
            <a:ext cx="7772400" cy="5016500"/>
          </a:xfrm>
        </p:spPr>
        <p:txBody>
          <a:bodyPr/>
          <a:lstStyle/>
          <a:p>
            <a:r>
              <a:rPr lang="en-US" dirty="0"/>
              <a:t>Hardware provides ISA support to enable intended execution of code in Example #2.</a:t>
            </a:r>
          </a:p>
          <a:p>
            <a:r>
              <a:rPr lang="en-US" dirty="0"/>
              <a:t>Fence instruction ensures prior memory operations inserted into memory order before subsequent memory operations.  E.g., for TSO require:</a:t>
            </a:r>
          </a:p>
          <a:p>
            <a:pPr>
              <a:buNone/>
            </a:pPr>
            <a:r>
              <a:rPr lang="en-US" dirty="0">
                <a:solidFill>
                  <a:srgbClr val="0000FF"/>
                </a:solidFill>
              </a:rPr>
              <a:t>		</a:t>
            </a:r>
          </a:p>
          <a:p>
            <a:pPr>
              <a:buNone/>
            </a:pPr>
            <a:r>
              <a:rPr lang="en-US" dirty="0">
                <a:solidFill>
                  <a:srgbClr val="0000FF"/>
                </a:solidFill>
              </a:rPr>
              <a:t>		Store -&gt; Fence</a:t>
            </a:r>
          </a:p>
          <a:p>
            <a:pPr>
              <a:buNone/>
            </a:pPr>
            <a:r>
              <a:rPr lang="en-US" dirty="0">
                <a:solidFill>
                  <a:srgbClr val="0000FF"/>
                </a:solidFill>
              </a:rPr>
              <a:t>		Fence -&gt; Load</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22</a:t>
            </a:fld>
            <a:r>
              <a:rPr lang="en-US"/>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 Revisited</a:t>
            </a:r>
          </a:p>
        </p:txBody>
      </p:sp>
      <p:graphicFrame>
        <p:nvGraphicFramePr>
          <p:cNvPr id="6" name="Content Placeholder 5"/>
          <p:cNvGraphicFramePr>
            <a:graphicFrameLocks noGrp="1"/>
          </p:cNvGraphicFramePr>
          <p:nvPr>
            <p:ph idx="1"/>
          </p:nvPr>
        </p:nvGraphicFramePr>
        <p:xfrm>
          <a:off x="699791" y="1464725"/>
          <a:ext cx="7771108" cy="1382430"/>
        </p:xfrm>
        <a:graphic>
          <a:graphicData uri="http://schemas.openxmlformats.org/drawingml/2006/table">
            <a:tbl>
              <a:tblPr firstRow="1" bandRow="1">
                <a:tableStyleId>{306799F8-075E-4A3A-A7F6-7FBC6576F1A4}</a:tableStyleId>
              </a:tblPr>
              <a:tblGrid>
                <a:gridCol w="2185790">
                  <a:extLst>
                    <a:ext uri="{9D8B030D-6E8A-4147-A177-3AD203B41FA5}">
                      <a16:colId xmlns:a16="http://schemas.microsoft.com/office/drawing/2014/main" val="20000"/>
                    </a:ext>
                  </a:extLst>
                </a:gridCol>
                <a:gridCol w="2264308">
                  <a:extLst>
                    <a:ext uri="{9D8B030D-6E8A-4147-A177-3AD203B41FA5}">
                      <a16:colId xmlns:a16="http://schemas.microsoft.com/office/drawing/2014/main" val="20001"/>
                    </a:ext>
                  </a:extLst>
                </a:gridCol>
                <a:gridCol w="3321010">
                  <a:extLst>
                    <a:ext uri="{9D8B030D-6E8A-4147-A177-3AD203B41FA5}">
                      <a16:colId xmlns:a16="http://schemas.microsoft.com/office/drawing/2014/main" val="20002"/>
                    </a:ext>
                  </a:extLst>
                </a:gridCol>
              </a:tblGrid>
              <a:tr h="370840">
                <a:tc>
                  <a:txBody>
                    <a:bodyPr/>
                    <a:lstStyle/>
                    <a:p>
                      <a:r>
                        <a:rPr lang="en-US" b="0" dirty="0">
                          <a:solidFill>
                            <a:schemeClr val="tx1"/>
                          </a:solidFill>
                          <a:latin typeface="Courier New"/>
                          <a:cs typeface="Courier New"/>
                        </a:rPr>
                        <a:t>Core</a:t>
                      </a:r>
                      <a:r>
                        <a:rPr lang="en-US" b="0" baseline="0" dirty="0">
                          <a:solidFill>
                            <a:schemeClr val="tx1"/>
                          </a:solidFill>
                          <a:latin typeface="Courier New"/>
                          <a:cs typeface="Courier New"/>
                        </a:rPr>
                        <a:t> C1</a:t>
                      </a:r>
                      <a:endParaRPr lang="en-US" b="0" dirty="0">
                        <a:solidFill>
                          <a:schemeClr val="tx1"/>
                        </a:solidFill>
                        <a:latin typeface="Courier New"/>
                        <a:cs typeface="Courier New"/>
                      </a:endParaRPr>
                    </a:p>
                  </a:txBody>
                  <a:tcPr/>
                </a:tc>
                <a:tc>
                  <a:txBody>
                    <a:bodyPr/>
                    <a:lstStyle/>
                    <a:p>
                      <a:r>
                        <a:rPr lang="en-US" b="0" dirty="0">
                          <a:solidFill>
                            <a:schemeClr val="tx1"/>
                          </a:solidFill>
                          <a:latin typeface="Courier New"/>
                          <a:cs typeface="Courier New"/>
                        </a:rPr>
                        <a:t>Core C2</a:t>
                      </a:r>
                    </a:p>
                  </a:txBody>
                  <a:tcPr/>
                </a:tc>
                <a:tc>
                  <a:txBody>
                    <a:bodyPr/>
                    <a:lstStyle/>
                    <a:p>
                      <a:r>
                        <a:rPr lang="en-US" b="0" dirty="0">
                          <a:solidFill>
                            <a:schemeClr val="tx1"/>
                          </a:solidFill>
                          <a:latin typeface="Courier New"/>
                          <a:cs typeface="Courier New"/>
                        </a:rPr>
                        <a:t>Comments</a:t>
                      </a:r>
                    </a:p>
                  </a:txBody>
                  <a:tcPr/>
                </a:tc>
                <a:extLst>
                  <a:ext uri="{0D108BD9-81ED-4DB2-BD59-A6C34878D82A}">
                    <a16:rowId xmlns:a16="http://schemas.microsoft.com/office/drawing/2014/main" val="10000"/>
                  </a:ext>
                </a:extLst>
              </a:tr>
              <a:tr h="370840">
                <a:tc>
                  <a:txBody>
                    <a:bodyPr/>
                    <a:lstStyle/>
                    <a:p>
                      <a:r>
                        <a:rPr lang="en-US" sz="1600" b="0" dirty="0">
                          <a:solidFill>
                            <a:schemeClr val="tx1"/>
                          </a:solidFill>
                          <a:latin typeface="Courier New"/>
                          <a:cs typeface="Courier New"/>
                        </a:rPr>
                        <a:t>S1: </a:t>
                      </a:r>
                      <a:r>
                        <a:rPr lang="en-US" sz="1600" b="1" dirty="0" err="1">
                          <a:solidFill>
                            <a:srgbClr val="FF00FF"/>
                          </a:solidFill>
                          <a:latin typeface="Courier New"/>
                          <a:cs typeface="Courier New"/>
                        </a:rPr>
                        <a:t>x</a:t>
                      </a:r>
                      <a:r>
                        <a:rPr lang="en-US" sz="1600" b="0" dirty="0">
                          <a:solidFill>
                            <a:schemeClr val="tx1"/>
                          </a:solidFill>
                          <a:latin typeface="Courier New"/>
                          <a:cs typeface="Courier New"/>
                        </a:rPr>
                        <a:t>=NEW</a:t>
                      </a:r>
                    </a:p>
                  </a:txBody>
                  <a:tcPr anchor="b"/>
                </a:tc>
                <a:tc>
                  <a:txBody>
                    <a:bodyPr/>
                    <a:lstStyle/>
                    <a:p>
                      <a:r>
                        <a:rPr lang="en-US" sz="1600" b="0" dirty="0">
                          <a:solidFill>
                            <a:schemeClr val="tx1"/>
                          </a:solidFill>
                          <a:latin typeface="Courier New"/>
                          <a:cs typeface="Courier New"/>
                        </a:rPr>
                        <a:t>S2:</a:t>
                      </a:r>
                      <a:r>
                        <a:rPr lang="en-US" sz="1600" b="0" baseline="0" dirty="0">
                          <a:solidFill>
                            <a:schemeClr val="tx1"/>
                          </a:solidFill>
                          <a:latin typeface="Courier New"/>
                          <a:cs typeface="Courier New"/>
                        </a:rPr>
                        <a:t> </a:t>
                      </a:r>
                      <a:r>
                        <a:rPr lang="en-US" sz="1600" b="1" baseline="0" dirty="0" err="1">
                          <a:solidFill>
                            <a:srgbClr val="008000"/>
                          </a:solidFill>
                          <a:latin typeface="Courier New"/>
                          <a:cs typeface="Courier New"/>
                        </a:rPr>
                        <a:t>y</a:t>
                      </a:r>
                      <a:r>
                        <a:rPr lang="en-US" sz="1600" b="0" baseline="0" dirty="0">
                          <a:solidFill>
                            <a:schemeClr val="tx1"/>
                          </a:solidFill>
                          <a:latin typeface="Courier New"/>
                          <a:cs typeface="Courier New"/>
                        </a:rPr>
                        <a:t>=NEW</a:t>
                      </a:r>
                      <a:endParaRPr lang="en-US" sz="1600" b="0" dirty="0">
                        <a:solidFill>
                          <a:schemeClr val="tx1"/>
                        </a:solidFill>
                        <a:latin typeface="Courier New"/>
                        <a:cs typeface="Courier New"/>
                      </a:endParaRPr>
                    </a:p>
                  </a:txBody>
                  <a:tcPr anchor="b"/>
                </a:tc>
                <a:tc>
                  <a:txBody>
                    <a:bodyPr/>
                    <a:lstStyle/>
                    <a:p>
                      <a:r>
                        <a:rPr lang="en-US" sz="1600" b="0" dirty="0">
                          <a:solidFill>
                            <a:srgbClr val="0000FF"/>
                          </a:solidFill>
                          <a:latin typeface="Courier New"/>
                          <a:cs typeface="Courier New"/>
                        </a:rPr>
                        <a:t>// Initially</a:t>
                      </a:r>
                      <a:r>
                        <a:rPr lang="en-US" sz="1600" b="0" baseline="0" dirty="0">
                          <a:solidFill>
                            <a:srgbClr val="0000FF"/>
                          </a:solidFill>
                          <a:latin typeface="Courier New"/>
                          <a:cs typeface="Courier New"/>
                        </a:rPr>
                        <a:t> </a:t>
                      </a:r>
                      <a:r>
                        <a:rPr lang="en-US" sz="1600" b="0" dirty="0" err="1">
                          <a:solidFill>
                            <a:srgbClr val="0000FF"/>
                          </a:solidFill>
                          <a:latin typeface="Courier New"/>
                          <a:cs typeface="Courier New"/>
                        </a:rPr>
                        <a:t>x</a:t>
                      </a:r>
                      <a:r>
                        <a:rPr lang="en-US" sz="1600" b="0" dirty="0">
                          <a:solidFill>
                            <a:srgbClr val="0000FF"/>
                          </a:solidFill>
                          <a:latin typeface="Courier New"/>
                          <a:cs typeface="Courier New"/>
                        </a:rPr>
                        <a:t>=</a:t>
                      </a:r>
                      <a:r>
                        <a:rPr lang="en-US" sz="1600" b="0" dirty="0" err="1">
                          <a:solidFill>
                            <a:srgbClr val="0000FF"/>
                          </a:solidFill>
                          <a:latin typeface="Courier New"/>
                          <a:cs typeface="Courier New"/>
                        </a:rPr>
                        <a:t>y</a:t>
                      </a:r>
                      <a:r>
                        <a:rPr lang="en-US" sz="1600" b="0" dirty="0">
                          <a:solidFill>
                            <a:srgbClr val="0000FF"/>
                          </a:solidFill>
                          <a:latin typeface="Courier New"/>
                          <a:cs typeface="Courier New"/>
                        </a:rPr>
                        <a:t>=0</a:t>
                      </a:r>
                    </a:p>
                  </a:txBody>
                  <a:tcPr/>
                </a:tc>
                <a:extLst>
                  <a:ext uri="{0D108BD9-81ED-4DB2-BD59-A6C34878D82A}">
                    <a16:rowId xmlns:a16="http://schemas.microsoft.com/office/drawing/2014/main" val="10001"/>
                  </a:ext>
                </a:extLst>
              </a:tr>
              <a:tr h="320375">
                <a:tc>
                  <a:txBody>
                    <a:bodyPr/>
                    <a:lstStyle/>
                    <a:p>
                      <a:r>
                        <a:rPr lang="en-US" sz="1600" b="0" dirty="0">
                          <a:solidFill>
                            <a:schemeClr val="tx1"/>
                          </a:solidFill>
                          <a:latin typeface="Courier New"/>
                          <a:cs typeface="Courier New"/>
                        </a:rPr>
                        <a:t>F1: Fence</a:t>
                      </a:r>
                    </a:p>
                  </a:txBody>
                  <a:tcPr marT="0" marB="0"/>
                </a:tc>
                <a:tc>
                  <a:txBody>
                    <a:bodyPr/>
                    <a:lstStyle/>
                    <a:p>
                      <a:r>
                        <a:rPr lang="en-US" sz="1600" b="0" dirty="0">
                          <a:solidFill>
                            <a:srgbClr val="000000"/>
                          </a:solidFill>
                          <a:latin typeface="Courier New"/>
                          <a:cs typeface="Courier New"/>
                        </a:rPr>
                        <a:t>F2: Fence</a:t>
                      </a: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2"/>
                  </a:ext>
                </a:extLst>
              </a:tr>
              <a:tr h="320375">
                <a:tc>
                  <a:txBody>
                    <a:bodyPr/>
                    <a:lstStyle/>
                    <a:p>
                      <a:r>
                        <a:rPr lang="en-US" sz="1600" b="0" dirty="0">
                          <a:solidFill>
                            <a:schemeClr val="tx1"/>
                          </a:solidFill>
                          <a:latin typeface="Courier New"/>
                          <a:cs typeface="Courier New"/>
                        </a:rPr>
                        <a:t>L1: r1=</a:t>
                      </a:r>
                      <a:r>
                        <a:rPr lang="en-US" sz="1600" b="1" dirty="0" err="1">
                          <a:solidFill>
                            <a:srgbClr val="008000"/>
                          </a:solidFill>
                          <a:latin typeface="Courier New"/>
                          <a:cs typeface="Courier New"/>
                        </a:rPr>
                        <a:t>y</a:t>
                      </a:r>
                      <a:endParaRPr lang="en-US" sz="1600" b="1" dirty="0">
                        <a:solidFill>
                          <a:srgbClr val="008000"/>
                        </a:solidFill>
                        <a:latin typeface="Courier New"/>
                        <a:cs typeface="Courier New"/>
                      </a:endParaRPr>
                    </a:p>
                  </a:txBody>
                  <a:tcPr marT="0" marB="0"/>
                </a:tc>
                <a:tc>
                  <a:txBody>
                    <a:bodyPr/>
                    <a:lstStyle/>
                    <a:p>
                      <a:r>
                        <a:rPr lang="en-US" sz="1600" b="0" dirty="0">
                          <a:solidFill>
                            <a:schemeClr val="tx1"/>
                          </a:solidFill>
                          <a:latin typeface="Courier New"/>
                          <a:cs typeface="Courier New"/>
                        </a:rPr>
                        <a:t>L2:</a:t>
                      </a:r>
                      <a:r>
                        <a:rPr lang="en-US" sz="1600" b="0" baseline="0" dirty="0">
                          <a:solidFill>
                            <a:schemeClr val="tx1"/>
                          </a:solidFill>
                          <a:latin typeface="Courier New"/>
                          <a:cs typeface="Courier New"/>
                        </a:rPr>
                        <a:t> r2=</a:t>
                      </a:r>
                      <a:r>
                        <a:rPr lang="en-US" sz="1600" b="1" baseline="0" dirty="0" err="1">
                          <a:solidFill>
                            <a:srgbClr val="FF00FF"/>
                          </a:solidFill>
                          <a:latin typeface="Courier New"/>
                          <a:cs typeface="Courier New"/>
                        </a:rPr>
                        <a:t>x</a:t>
                      </a:r>
                      <a:endParaRPr lang="en-US" sz="1600" b="1" dirty="0">
                        <a:solidFill>
                          <a:srgbClr val="FF00FF"/>
                        </a:solidFill>
                        <a:latin typeface="Courier New"/>
                        <a:cs typeface="Courier New"/>
                      </a:endParaRPr>
                    </a:p>
                  </a:txBody>
                  <a:tcPr marT="0" marB="0"/>
                </a:tc>
                <a:tc>
                  <a:txBody>
                    <a:bodyPr/>
                    <a:lstStyle/>
                    <a:p>
                      <a:endParaRPr lang="en-US" sz="1600" b="0" dirty="0">
                        <a:solidFill>
                          <a:schemeClr val="tx1"/>
                        </a:solidFill>
                        <a:latin typeface="Courier New"/>
                        <a:cs typeface="Courier New"/>
                      </a:endParaRPr>
                    </a:p>
                  </a:txBody>
                  <a:tcPr marT="0" marB="0"/>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23</a:t>
            </a:fld>
            <a:r>
              <a:rPr lang="en-US"/>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Relaxed Memory Consistency</a:t>
            </a:r>
          </a:p>
        </p:txBody>
      </p:sp>
      <p:sp>
        <p:nvSpPr>
          <p:cNvPr id="3" name="Content Placeholder 2"/>
          <p:cNvSpPr>
            <a:spLocks noGrp="1"/>
          </p:cNvSpPr>
          <p:nvPr>
            <p:ph idx="1"/>
          </p:nvPr>
        </p:nvSpPr>
        <p:spPr/>
        <p:txBody>
          <a:bodyPr/>
          <a:lstStyle/>
          <a:p>
            <a:r>
              <a:rPr lang="en-US" dirty="0"/>
              <a:t>PowerPC, ARM increase performance by enforcing memory ordering ONLY when programmer asks for it explicitly</a:t>
            </a:r>
          </a:p>
          <a:p>
            <a:endParaRPr lang="en-US" dirty="0"/>
          </a:p>
          <a:p>
            <a:r>
              <a:rPr lang="en-US" dirty="0"/>
              <a:t>Require fence operations to enforce most ordering  </a:t>
            </a:r>
          </a:p>
          <a:p>
            <a:pPr>
              <a:buNone/>
            </a:pPr>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24</a:t>
            </a:fld>
            <a:r>
              <a:rPr lang="en-US"/>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Related: Write atomicity</a:t>
            </a:r>
          </a:p>
        </p:txBody>
      </p:sp>
      <p:sp>
        <p:nvSpPr>
          <p:cNvPr id="3" name="Content Placeholder 2"/>
          <p:cNvSpPr>
            <a:spLocks noGrp="1"/>
          </p:cNvSpPr>
          <p:nvPr>
            <p:ph idx="1"/>
          </p:nvPr>
        </p:nvSpPr>
        <p:spPr/>
        <p:txBody>
          <a:bodyPr/>
          <a:lstStyle/>
          <a:p>
            <a:r>
              <a:rPr lang="en-US" dirty="0"/>
              <a:t>When performing a store does new value become visible to all other threads at same time?</a:t>
            </a:r>
          </a:p>
          <a:p>
            <a:endParaRPr lang="en-US" dirty="0"/>
          </a:p>
          <a:p>
            <a:r>
              <a:rPr lang="en-US" dirty="0"/>
              <a:t>Yes: called write atomicity (or store atomicity)</a:t>
            </a:r>
          </a:p>
          <a:p>
            <a:endParaRPr lang="en-US" dirty="0"/>
          </a:p>
          <a:p>
            <a:r>
              <a:rPr lang="en-US" dirty="0"/>
              <a:t>PowerPC &amp; ARM: Do not enforce write atomicity (breaks SWMR assumption)</a:t>
            </a:r>
          </a:p>
          <a:p>
            <a:pPr>
              <a:buNone/>
            </a:pPr>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25</a:t>
            </a:fld>
            <a:r>
              <a:rPr lang="en-US"/>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dirty="0"/>
              <a:t>Example 3: Causality</a:t>
            </a:r>
            <a:endParaRPr lang="en-US" sz="1400" dirty="0">
              <a:solidFill>
                <a:schemeClr val="bg2"/>
              </a:solidFill>
            </a:endParaRPr>
          </a:p>
        </p:txBody>
      </p:sp>
      <p:sp>
        <p:nvSpPr>
          <p:cNvPr id="63491" name="Rectangle 3"/>
          <p:cNvSpPr>
            <a:spLocks noGrp="1" noChangeArrowheads="1"/>
          </p:cNvSpPr>
          <p:nvPr>
            <p:ph type="body" idx="1"/>
          </p:nvPr>
        </p:nvSpPr>
        <p:spPr>
          <a:xfrm>
            <a:off x="139700" y="3581400"/>
            <a:ext cx="8890000" cy="2628900"/>
          </a:xfrm>
        </p:spPr>
        <p:txBody>
          <a:bodyPr/>
          <a:lstStyle/>
          <a:p>
            <a:pPr eaLnBrk="1" hangingPunct="1">
              <a:lnSpc>
                <a:spcPct val="90000"/>
              </a:lnSpc>
            </a:pPr>
            <a:r>
              <a:rPr lang="en-US" dirty="0"/>
              <a:t>Causality: “If I see it and tell you about it, then you see it too.”</a:t>
            </a:r>
          </a:p>
          <a:p>
            <a:pPr eaLnBrk="1" hangingPunct="1">
              <a:lnSpc>
                <a:spcPct val="90000"/>
              </a:lnSpc>
            </a:pPr>
            <a:endParaRPr lang="en-US" dirty="0"/>
          </a:p>
          <a:p>
            <a:pPr eaLnBrk="1" hangingPunct="1">
              <a:lnSpc>
                <a:spcPct val="90000"/>
              </a:lnSpc>
            </a:pPr>
            <a:r>
              <a:rPr lang="en-US" dirty="0"/>
              <a:t>Programmer’s intuition about causality (“Print A” displays “1”) may be violated on a system lacking write atomicity</a:t>
            </a:r>
          </a:p>
        </p:txBody>
      </p:sp>
      <p:sp>
        <p:nvSpPr>
          <p:cNvPr id="63492" name="Rectangle 5"/>
          <p:cNvSpPr>
            <a:spLocks noChangeArrowheads="1"/>
          </p:cNvSpPr>
          <p:nvPr/>
        </p:nvSpPr>
        <p:spPr bwMode="auto">
          <a:xfrm>
            <a:off x="1341438" y="1803400"/>
            <a:ext cx="153987" cy="276225"/>
          </a:xfrm>
          <a:prstGeom prst="rect">
            <a:avLst/>
          </a:prstGeom>
          <a:noFill/>
          <a:ln w="9525">
            <a:noFill/>
            <a:miter lim="800000"/>
            <a:headEnd/>
            <a:tailEnd/>
          </a:ln>
        </p:spPr>
        <p:txBody>
          <a:bodyPr wrap="none" lIns="0" tIns="0" rIns="0" bIns="0">
            <a:spAutoFit/>
          </a:bodyPr>
          <a:lstStyle/>
          <a:p>
            <a:r>
              <a:rPr lang="en-US" sz="1800">
                <a:solidFill>
                  <a:srgbClr val="FF0000"/>
                </a:solidFill>
              </a:rPr>
              <a:t>P</a:t>
            </a:r>
            <a:endParaRPr lang="en-US" sz="2400">
              <a:solidFill>
                <a:srgbClr val="FF0000"/>
              </a:solidFill>
              <a:latin typeface="Times New Roman" pitchFamily="18" charset="0"/>
            </a:endParaRPr>
          </a:p>
        </p:txBody>
      </p:sp>
      <p:sp>
        <p:nvSpPr>
          <p:cNvPr id="63493" name="Rectangle 6"/>
          <p:cNvSpPr>
            <a:spLocks noChangeArrowheads="1"/>
          </p:cNvSpPr>
          <p:nvPr/>
        </p:nvSpPr>
        <p:spPr bwMode="auto">
          <a:xfrm>
            <a:off x="1471613" y="1901825"/>
            <a:ext cx="106362" cy="228600"/>
          </a:xfrm>
          <a:prstGeom prst="rect">
            <a:avLst/>
          </a:prstGeom>
          <a:noFill/>
          <a:ln w="9525">
            <a:noFill/>
            <a:miter lim="800000"/>
            <a:headEnd/>
            <a:tailEnd/>
          </a:ln>
        </p:spPr>
        <p:txBody>
          <a:bodyPr wrap="none" lIns="0" tIns="0" rIns="0" bIns="0">
            <a:spAutoFit/>
          </a:bodyPr>
          <a:lstStyle/>
          <a:p>
            <a:r>
              <a:rPr lang="en-US" sz="1500">
                <a:solidFill>
                  <a:srgbClr val="FF0000"/>
                </a:solidFill>
              </a:rPr>
              <a:t>1</a:t>
            </a:r>
            <a:endParaRPr lang="en-US" sz="2400">
              <a:solidFill>
                <a:srgbClr val="FF0000"/>
              </a:solidFill>
              <a:latin typeface="Times New Roman" pitchFamily="18" charset="0"/>
            </a:endParaRPr>
          </a:p>
        </p:txBody>
      </p:sp>
      <p:sp>
        <p:nvSpPr>
          <p:cNvPr id="63494" name="Rectangle 7"/>
          <p:cNvSpPr>
            <a:spLocks noChangeArrowheads="1"/>
          </p:cNvSpPr>
          <p:nvPr/>
        </p:nvSpPr>
        <p:spPr bwMode="auto">
          <a:xfrm>
            <a:off x="4164013" y="1778000"/>
            <a:ext cx="153987" cy="276225"/>
          </a:xfrm>
          <a:prstGeom prst="rect">
            <a:avLst/>
          </a:prstGeom>
          <a:noFill/>
          <a:ln w="9525">
            <a:noFill/>
            <a:miter lim="800000"/>
            <a:headEnd/>
            <a:tailEnd/>
          </a:ln>
        </p:spPr>
        <p:txBody>
          <a:bodyPr wrap="none" lIns="0" tIns="0" rIns="0" bIns="0">
            <a:spAutoFit/>
          </a:bodyPr>
          <a:lstStyle/>
          <a:p>
            <a:r>
              <a:rPr lang="en-US" sz="1800">
                <a:solidFill>
                  <a:srgbClr val="0000FF"/>
                </a:solidFill>
              </a:rPr>
              <a:t>P</a:t>
            </a:r>
            <a:endParaRPr lang="en-US" sz="2400">
              <a:solidFill>
                <a:srgbClr val="0000FF"/>
              </a:solidFill>
              <a:latin typeface="Times New Roman" pitchFamily="18" charset="0"/>
            </a:endParaRPr>
          </a:p>
        </p:txBody>
      </p:sp>
      <p:sp>
        <p:nvSpPr>
          <p:cNvPr id="63495" name="Rectangle 8"/>
          <p:cNvSpPr>
            <a:spLocks noChangeArrowheads="1"/>
          </p:cNvSpPr>
          <p:nvPr/>
        </p:nvSpPr>
        <p:spPr bwMode="auto">
          <a:xfrm>
            <a:off x="4292600" y="1876425"/>
            <a:ext cx="106363" cy="228600"/>
          </a:xfrm>
          <a:prstGeom prst="rect">
            <a:avLst/>
          </a:prstGeom>
          <a:noFill/>
          <a:ln w="9525">
            <a:noFill/>
            <a:miter lim="800000"/>
            <a:headEnd/>
            <a:tailEnd/>
          </a:ln>
        </p:spPr>
        <p:txBody>
          <a:bodyPr wrap="none" lIns="0" tIns="0" rIns="0" bIns="0">
            <a:spAutoFit/>
          </a:bodyPr>
          <a:lstStyle/>
          <a:p>
            <a:r>
              <a:rPr lang="en-US" sz="1500">
                <a:solidFill>
                  <a:srgbClr val="0000FF"/>
                </a:solidFill>
              </a:rPr>
              <a:t>2</a:t>
            </a:r>
            <a:endParaRPr lang="en-US" sz="2400">
              <a:solidFill>
                <a:srgbClr val="0000FF"/>
              </a:solidFill>
              <a:latin typeface="Times New Roman" pitchFamily="18" charset="0"/>
            </a:endParaRPr>
          </a:p>
        </p:txBody>
      </p:sp>
      <p:sp>
        <p:nvSpPr>
          <p:cNvPr id="63496" name="Rectangle 9"/>
          <p:cNvSpPr>
            <a:spLocks noChangeArrowheads="1"/>
          </p:cNvSpPr>
          <p:nvPr/>
        </p:nvSpPr>
        <p:spPr bwMode="auto">
          <a:xfrm>
            <a:off x="793750" y="1289050"/>
            <a:ext cx="4179888" cy="276225"/>
          </a:xfrm>
          <a:prstGeom prst="rect">
            <a:avLst/>
          </a:prstGeom>
          <a:noFill/>
          <a:ln w="9525">
            <a:noFill/>
            <a:miter lim="800000"/>
            <a:headEnd/>
            <a:tailEnd/>
          </a:ln>
        </p:spPr>
        <p:txBody>
          <a:bodyPr wrap="none" lIns="0" tIns="0" rIns="0" bIns="0">
            <a:spAutoFit/>
          </a:bodyPr>
          <a:lstStyle/>
          <a:p>
            <a:r>
              <a:rPr lang="en-US" sz="1800" dirty="0">
                <a:solidFill>
                  <a:srgbClr val="000000"/>
                </a:solidFill>
              </a:rPr>
              <a:t>/* Assume initial value of A and B are 0 */</a:t>
            </a:r>
            <a:endParaRPr lang="en-US" sz="2400" dirty="0">
              <a:latin typeface="Times New Roman" pitchFamily="18" charset="0"/>
            </a:endParaRPr>
          </a:p>
        </p:txBody>
      </p:sp>
      <p:sp>
        <p:nvSpPr>
          <p:cNvPr id="63497" name="Rectangle 10"/>
          <p:cNvSpPr>
            <a:spLocks noChangeArrowheads="1"/>
          </p:cNvSpPr>
          <p:nvPr/>
        </p:nvSpPr>
        <p:spPr bwMode="auto">
          <a:xfrm>
            <a:off x="1146175" y="2266950"/>
            <a:ext cx="831850" cy="276225"/>
          </a:xfrm>
          <a:prstGeom prst="rect">
            <a:avLst/>
          </a:prstGeom>
          <a:noFill/>
          <a:ln w="9525">
            <a:noFill/>
            <a:miter lim="800000"/>
            <a:headEnd/>
            <a:tailEnd/>
          </a:ln>
        </p:spPr>
        <p:txBody>
          <a:bodyPr wrap="none" lIns="0" tIns="0" rIns="0" bIns="0">
            <a:spAutoFit/>
          </a:bodyPr>
          <a:lstStyle/>
          <a:p>
            <a:r>
              <a:rPr lang="en-US" sz="1800">
                <a:solidFill>
                  <a:srgbClr val="FF0000"/>
                </a:solidFill>
                <a:latin typeface="Courier New" pitchFamily="49" charset="0"/>
              </a:rPr>
              <a:t>A</a:t>
            </a:r>
            <a:r>
              <a:rPr lang="en-US" sz="1800">
                <a:solidFill>
                  <a:srgbClr val="000000"/>
                </a:solidFill>
                <a:latin typeface="Courier New" pitchFamily="49" charset="0"/>
              </a:rPr>
              <a:t> = 1;</a:t>
            </a:r>
            <a:endParaRPr lang="en-US" sz="2400">
              <a:latin typeface="Times New Roman" pitchFamily="18" charset="0"/>
            </a:endParaRPr>
          </a:p>
        </p:txBody>
      </p:sp>
      <p:sp>
        <p:nvSpPr>
          <p:cNvPr id="63498" name="Rectangle 11"/>
          <p:cNvSpPr>
            <a:spLocks noChangeArrowheads="1"/>
          </p:cNvSpPr>
          <p:nvPr/>
        </p:nvSpPr>
        <p:spPr bwMode="auto">
          <a:xfrm>
            <a:off x="2978150" y="2292350"/>
            <a:ext cx="2078038" cy="276225"/>
          </a:xfrm>
          <a:prstGeom prst="rect">
            <a:avLst/>
          </a:prstGeom>
          <a:noFill/>
          <a:ln w="9525">
            <a:noFill/>
            <a:miter lim="800000"/>
            <a:headEnd/>
            <a:tailEnd/>
          </a:ln>
        </p:spPr>
        <p:txBody>
          <a:bodyPr wrap="none" lIns="0" tIns="0" rIns="0" bIns="0">
            <a:spAutoFit/>
          </a:bodyPr>
          <a:lstStyle/>
          <a:p>
            <a:r>
              <a:rPr lang="en-US" sz="1800">
                <a:solidFill>
                  <a:srgbClr val="000000"/>
                </a:solidFill>
                <a:latin typeface="Courier New" pitchFamily="49" charset="0"/>
              </a:rPr>
              <a:t>while (</a:t>
            </a:r>
            <a:r>
              <a:rPr lang="en-US" sz="1800">
                <a:solidFill>
                  <a:srgbClr val="FF0000"/>
                </a:solidFill>
                <a:latin typeface="Courier New" pitchFamily="49" charset="0"/>
              </a:rPr>
              <a:t>A</a:t>
            </a:r>
            <a:r>
              <a:rPr lang="en-US" sz="1800">
                <a:solidFill>
                  <a:srgbClr val="000000"/>
                </a:solidFill>
                <a:latin typeface="Courier New" pitchFamily="49" charset="0"/>
              </a:rPr>
              <a:t> == 0); </a:t>
            </a:r>
            <a:endParaRPr lang="en-US" sz="2400">
              <a:latin typeface="Times New Roman" pitchFamily="18" charset="0"/>
            </a:endParaRPr>
          </a:p>
        </p:txBody>
      </p:sp>
      <p:sp>
        <p:nvSpPr>
          <p:cNvPr id="63499" name="Rectangle 12"/>
          <p:cNvSpPr>
            <a:spLocks noChangeArrowheads="1"/>
          </p:cNvSpPr>
          <p:nvPr/>
        </p:nvSpPr>
        <p:spPr bwMode="auto">
          <a:xfrm>
            <a:off x="4997450" y="2281238"/>
            <a:ext cx="1333500" cy="276225"/>
          </a:xfrm>
          <a:prstGeom prst="rect">
            <a:avLst/>
          </a:prstGeom>
          <a:noFill/>
          <a:ln w="9525">
            <a:noFill/>
            <a:miter lim="800000"/>
            <a:headEnd/>
            <a:tailEnd/>
          </a:ln>
        </p:spPr>
        <p:txBody>
          <a:bodyPr wrap="none" lIns="0" tIns="0" rIns="0" bIns="0">
            <a:spAutoFit/>
          </a:bodyPr>
          <a:lstStyle/>
          <a:p>
            <a:r>
              <a:rPr lang="en-US" sz="1800">
                <a:solidFill>
                  <a:srgbClr val="000000"/>
                </a:solidFill>
              </a:rPr>
              <a:t>/*spin  wait */</a:t>
            </a:r>
            <a:endParaRPr lang="en-US" sz="2400">
              <a:latin typeface="Times New Roman" pitchFamily="18" charset="0"/>
            </a:endParaRPr>
          </a:p>
        </p:txBody>
      </p:sp>
      <p:sp>
        <p:nvSpPr>
          <p:cNvPr id="63500" name="Rectangle 14"/>
          <p:cNvSpPr>
            <a:spLocks noChangeArrowheads="1"/>
          </p:cNvSpPr>
          <p:nvPr/>
        </p:nvSpPr>
        <p:spPr bwMode="auto">
          <a:xfrm>
            <a:off x="3016250" y="2571750"/>
            <a:ext cx="831850" cy="276225"/>
          </a:xfrm>
          <a:prstGeom prst="rect">
            <a:avLst/>
          </a:prstGeom>
          <a:noFill/>
          <a:ln w="9525">
            <a:noFill/>
            <a:miter lim="800000"/>
            <a:headEnd/>
            <a:tailEnd/>
          </a:ln>
        </p:spPr>
        <p:txBody>
          <a:bodyPr wrap="none" lIns="0" tIns="0" rIns="0" bIns="0">
            <a:spAutoFit/>
          </a:bodyPr>
          <a:lstStyle/>
          <a:p>
            <a:r>
              <a:rPr lang="en-US" sz="1800">
                <a:solidFill>
                  <a:srgbClr val="0000FF"/>
                </a:solidFill>
                <a:latin typeface="Courier New" pitchFamily="49" charset="0"/>
              </a:rPr>
              <a:t>B</a:t>
            </a:r>
            <a:r>
              <a:rPr lang="en-US" sz="1800">
                <a:solidFill>
                  <a:srgbClr val="000000"/>
                </a:solidFill>
                <a:latin typeface="Courier New" pitchFamily="49" charset="0"/>
              </a:rPr>
              <a:t> = 1;</a:t>
            </a:r>
            <a:endParaRPr lang="en-US" sz="2400">
              <a:latin typeface="Times New Roman" pitchFamily="18" charset="0"/>
            </a:endParaRPr>
          </a:p>
        </p:txBody>
      </p:sp>
      <p:sp>
        <p:nvSpPr>
          <p:cNvPr id="63501" name="Line 15"/>
          <p:cNvSpPr>
            <a:spLocks noChangeShapeType="1"/>
          </p:cNvSpPr>
          <p:nvPr/>
        </p:nvSpPr>
        <p:spPr bwMode="auto">
          <a:xfrm>
            <a:off x="838200" y="2139950"/>
            <a:ext cx="7519988" cy="1588"/>
          </a:xfrm>
          <a:prstGeom prst="line">
            <a:avLst/>
          </a:prstGeom>
          <a:noFill/>
          <a:ln w="12700">
            <a:solidFill>
              <a:srgbClr val="000000"/>
            </a:solidFill>
            <a:round/>
            <a:headEnd/>
            <a:tailEnd/>
          </a:ln>
        </p:spPr>
        <p:txBody>
          <a:bodyPr/>
          <a:lstStyle/>
          <a:p>
            <a:endParaRPr lang="en-CA"/>
          </a:p>
        </p:txBody>
      </p:sp>
      <p:sp>
        <p:nvSpPr>
          <p:cNvPr id="63502" name="Rectangle 32"/>
          <p:cNvSpPr>
            <a:spLocks noChangeArrowheads="1"/>
          </p:cNvSpPr>
          <p:nvPr/>
        </p:nvSpPr>
        <p:spPr bwMode="auto">
          <a:xfrm>
            <a:off x="7008813" y="1778000"/>
            <a:ext cx="153987" cy="276225"/>
          </a:xfrm>
          <a:prstGeom prst="rect">
            <a:avLst/>
          </a:prstGeom>
          <a:noFill/>
          <a:ln w="9525">
            <a:noFill/>
            <a:miter lim="800000"/>
            <a:headEnd/>
            <a:tailEnd/>
          </a:ln>
        </p:spPr>
        <p:txBody>
          <a:bodyPr wrap="none" lIns="0" tIns="0" rIns="0" bIns="0">
            <a:spAutoFit/>
          </a:bodyPr>
          <a:lstStyle/>
          <a:p>
            <a:r>
              <a:rPr lang="en-US" sz="1800">
                <a:solidFill>
                  <a:srgbClr val="00FF00"/>
                </a:solidFill>
              </a:rPr>
              <a:t>P</a:t>
            </a:r>
            <a:endParaRPr lang="en-US" sz="2400">
              <a:solidFill>
                <a:srgbClr val="00FF00"/>
              </a:solidFill>
              <a:latin typeface="Times New Roman" pitchFamily="18" charset="0"/>
            </a:endParaRPr>
          </a:p>
        </p:txBody>
      </p:sp>
      <p:sp>
        <p:nvSpPr>
          <p:cNvPr id="63503" name="Rectangle 33"/>
          <p:cNvSpPr>
            <a:spLocks noChangeArrowheads="1"/>
          </p:cNvSpPr>
          <p:nvPr/>
        </p:nvSpPr>
        <p:spPr bwMode="auto">
          <a:xfrm>
            <a:off x="7137400" y="1876425"/>
            <a:ext cx="106363" cy="228600"/>
          </a:xfrm>
          <a:prstGeom prst="rect">
            <a:avLst/>
          </a:prstGeom>
          <a:noFill/>
          <a:ln w="9525">
            <a:noFill/>
            <a:miter lim="800000"/>
            <a:headEnd/>
            <a:tailEnd/>
          </a:ln>
        </p:spPr>
        <p:txBody>
          <a:bodyPr wrap="none" lIns="0" tIns="0" rIns="0" bIns="0">
            <a:spAutoFit/>
          </a:bodyPr>
          <a:lstStyle/>
          <a:p>
            <a:r>
              <a:rPr lang="en-US" sz="1500">
                <a:solidFill>
                  <a:srgbClr val="00FF00"/>
                </a:solidFill>
              </a:rPr>
              <a:t>3</a:t>
            </a:r>
            <a:endParaRPr lang="en-US" sz="2400">
              <a:solidFill>
                <a:srgbClr val="00FF00"/>
              </a:solidFill>
              <a:latin typeface="Times New Roman" pitchFamily="18" charset="0"/>
            </a:endParaRPr>
          </a:p>
        </p:txBody>
      </p:sp>
      <p:sp>
        <p:nvSpPr>
          <p:cNvPr id="63504" name="Line 34"/>
          <p:cNvSpPr>
            <a:spLocks noChangeShapeType="1"/>
          </p:cNvSpPr>
          <p:nvPr/>
        </p:nvSpPr>
        <p:spPr bwMode="auto">
          <a:xfrm>
            <a:off x="1993900" y="2413000"/>
            <a:ext cx="901700" cy="0"/>
          </a:xfrm>
          <a:prstGeom prst="line">
            <a:avLst/>
          </a:prstGeom>
          <a:noFill/>
          <a:ln w="28575">
            <a:solidFill>
              <a:srgbClr val="FF0000"/>
            </a:solidFill>
            <a:round/>
            <a:headEnd/>
            <a:tailEnd type="triangle" w="med" len="med"/>
          </a:ln>
        </p:spPr>
        <p:txBody>
          <a:bodyPr wrap="none" anchor="ctr"/>
          <a:lstStyle/>
          <a:p>
            <a:endParaRPr lang="en-CA"/>
          </a:p>
        </p:txBody>
      </p:sp>
      <p:sp>
        <p:nvSpPr>
          <p:cNvPr id="63505" name="Rectangle 35"/>
          <p:cNvSpPr>
            <a:spLocks noChangeArrowheads="1"/>
          </p:cNvSpPr>
          <p:nvPr/>
        </p:nvSpPr>
        <p:spPr bwMode="auto">
          <a:xfrm>
            <a:off x="6610350" y="2546350"/>
            <a:ext cx="2078038" cy="276225"/>
          </a:xfrm>
          <a:prstGeom prst="rect">
            <a:avLst/>
          </a:prstGeom>
          <a:noFill/>
          <a:ln w="9525">
            <a:noFill/>
            <a:miter lim="800000"/>
            <a:headEnd/>
            <a:tailEnd/>
          </a:ln>
        </p:spPr>
        <p:txBody>
          <a:bodyPr wrap="none" lIns="0" tIns="0" rIns="0" bIns="0">
            <a:spAutoFit/>
          </a:bodyPr>
          <a:lstStyle/>
          <a:p>
            <a:r>
              <a:rPr lang="en-US" sz="1800">
                <a:solidFill>
                  <a:srgbClr val="000000"/>
                </a:solidFill>
                <a:latin typeface="Courier New" pitchFamily="49" charset="0"/>
              </a:rPr>
              <a:t>while (</a:t>
            </a:r>
            <a:r>
              <a:rPr lang="en-US" sz="1800">
                <a:solidFill>
                  <a:srgbClr val="0000FF"/>
                </a:solidFill>
                <a:latin typeface="Courier New" pitchFamily="49" charset="0"/>
              </a:rPr>
              <a:t>B</a:t>
            </a:r>
            <a:r>
              <a:rPr lang="en-US" sz="1800">
                <a:solidFill>
                  <a:srgbClr val="000000"/>
                </a:solidFill>
                <a:latin typeface="Courier New" pitchFamily="49" charset="0"/>
              </a:rPr>
              <a:t> == 0); </a:t>
            </a:r>
            <a:endParaRPr lang="en-US" sz="2400">
              <a:latin typeface="Times New Roman" pitchFamily="18" charset="0"/>
            </a:endParaRPr>
          </a:p>
        </p:txBody>
      </p:sp>
      <p:sp>
        <p:nvSpPr>
          <p:cNvPr id="63506" name="Rectangle 37"/>
          <p:cNvSpPr>
            <a:spLocks noChangeArrowheads="1"/>
          </p:cNvSpPr>
          <p:nvPr/>
        </p:nvSpPr>
        <p:spPr bwMode="auto">
          <a:xfrm>
            <a:off x="6623050" y="2813050"/>
            <a:ext cx="1092200" cy="274638"/>
          </a:xfrm>
          <a:prstGeom prst="rect">
            <a:avLst/>
          </a:prstGeom>
          <a:noFill/>
          <a:ln w="9525">
            <a:noFill/>
            <a:miter lim="800000"/>
            <a:headEnd/>
            <a:tailEnd/>
          </a:ln>
        </p:spPr>
        <p:txBody>
          <a:bodyPr wrap="none" lIns="0" tIns="0" rIns="0" bIns="0">
            <a:spAutoFit/>
          </a:bodyPr>
          <a:lstStyle/>
          <a:p>
            <a:r>
              <a:rPr lang="en-US" sz="1800">
                <a:solidFill>
                  <a:srgbClr val="000000"/>
                </a:solidFill>
                <a:latin typeface="Courier New" pitchFamily="49" charset="0"/>
              </a:rPr>
              <a:t>Print A;</a:t>
            </a:r>
            <a:endParaRPr lang="en-US" sz="2400">
              <a:latin typeface="Times New Roman" pitchFamily="18" charset="0"/>
            </a:endParaRPr>
          </a:p>
        </p:txBody>
      </p:sp>
      <p:sp>
        <p:nvSpPr>
          <p:cNvPr id="63507" name="Line 38"/>
          <p:cNvSpPr>
            <a:spLocks noChangeShapeType="1"/>
          </p:cNvSpPr>
          <p:nvPr/>
        </p:nvSpPr>
        <p:spPr bwMode="auto">
          <a:xfrm>
            <a:off x="3937000" y="2717800"/>
            <a:ext cx="2603500" cy="0"/>
          </a:xfrm>
          <a:prstGeom prst="line">
            <a:avLst/>
          </a:prstGeom>
          <a:noFill/>
          <a:ln w="28575">
            <a:solidFill>
              <a:srgbClr val="0000FF"/>
            </a:solidFill>
            <a:round/>
            <a:headEnd/>
            <a:tailEnd type="triangle" w="med" len="med"/>
          </a:ln>
        </p:spPr>
        <p:txBody>
          <a:bodyPr wrap="none" anchor="ctr"/>
          <a:lstStyle/>
          <a:p>
            <a:endParaRPr lang="en-CA"/>
          </a:p>
        </p:txBody>
      </p:sp>
      <p:sp>
        <p:nvSpPr>
          <p:cNvPr id="63508" name="Slide Number Placeholder 46"/>
          <p:cNvSpPr>
            <a:spLocks noGrp="1"/>
          </p:cNvSpPr>
          <p:nvPr>
            <p:ph type="sldNum" sz="quarter" idx="12"/>
          </p:nvPr>
        </p:nvSpPr>
        <p:spPr>
          <a:xfrm>
            <a:off x="5981700" y="6223000"/>
            <a:ext cx="1905000" cy="457200"/>
          </a:xfrm>
          <a:noFill/>
        </p:spPr>
        <p:txBody>
          <a:bodyPr/>
          <a:lstStyle/>
          <a:p>
            <a:fld id="{6D3BCF29-328E-46A7-874B-B2D25ACC5451}" type="slidenum">
              <a:rPr lang="en-US"/>
              <a:pPr/>
              <a:t>26</a:t>
            </a:fld>
            <a:r>
              <a:rPr lang="en-US"/>
              <a:t> </a:t>
            </a:r>
          </a:p>
        </p:txBody>
      </p:sp>
      <p:grpSp>
        <p:nvGrpSpPr>
          <p:cNvPr id="2" name="Group 80"/>
          <p:cNvGrpSpPr>
            <a:grpSpLocks/>
          </p:cNvGrpSpPr>
          <p:nvPr/>
        </p:nvGrpSpPr>
        <p:grpSpPr bwMode="auto">
          <a:xfrm>
            <a:off x="7373938" y="825500"/>
            <a:ext cx="1770062" cy="947738"/>
            <a:chOff x="7433733" y="825500"/>
            <a:chExt cx="1770054" cy="948267"/>
          </a:xfrm>
        </p:grpSpPr>
        <p:grpSp>
          <p:nvGrpSpPr>
            <p:cNvPr id="3" name="Group 78"/>
            <p:cNvGrpSpPr>
              <a:grpSpLocks/>
            </p:cNvGrpSpPr>
            <p:nvPr/>
          </p:nvGrpSpPr>
          <p:grpSpPr bwMode="auto">
            <a:xfrm>
              <a:off x="7433733" y="1075267"/>
              <a:ext cx="783166" cy="698500"/>
              <a:chOff x="8216900" y="5270500"/>
              <a:chExt cx="783166" cy="698500"/>
            </a:xfrm>
          </p:grpSpPr>
          <p:cxnSp>
            <p:nvCxnSpPr>
              <p:cNvPr id="63512" name="Straight Connector 49"/>
              <p:cNvCxnSpPr>
                <a:cxnSpLocks noChangeShapeType="1"/>
              </p:cNvCxnSpPr>
              <p:nvPr/>
            </p:nvCxnSpPr>
            <p:spPr bwMode="auto">
              <a:xfrm rot="5400000">
                <a:off x="7956550" y="5632450"/>
                <a:ext cx="622300" cy="1588"/>
              </a:xfrm>
              <a:prstGeom prst="line">
                <a:avLst/>
              </a:prstGeom>
              <a:noFill/>
              <a:ln w="9525">
                <a:solidFill>
                  <a:schemeClr val="tx1"/>
                </a:solidFill>
                <a:round/>
                <a:headEnd/>
                <a:tailEnd/>
              </a:ln>
            </p:spPr>
          </p:cxnSp>
          <p:cxnSp>
            <p:nvCxnSpPr>
              <p:cNvPr id="63513" name="Straight Connector 50"/>
              <p:cNvCxnSpPr>
                <a:cxnSpLocks noChangeShapeType="1"/>
              </p:cNvCxnSpPr>
              <p:nvPr/>
            </p:nvCxnSpPr>
            <p:spPr bwMode="auto">
              <a:xfrm rot="5400000">
                <a:off x="8140700" y="5629275"/>
                <a:ext cx="622300" cy="1588"/>
              </a:xfrm>
              <a:prstGeom prst="line">
                <a:avLst/>
              </a:prstGeom>
              <a:noFill/>
              <a:ln w="9525">
                <a:solidFill>
                  <a:schemeClr val="tx1"/>
                </a:solidFill>
                <a:round/>
                <a:headEnd/>
                <a:tailEnd/>
              </a:ln>
            </p:spPr>
          </p:cxnSp>
          <p:cxnSp>
            <p:nvCxnSpPr>
              <p:cNvPr id="63514" name="Straight Connector 51"/>
              <p:cNvCxnSpPr>
                <a:cxnSpLocks noChangeShapeType="1"/>
              </p:cNvCxnSpPr>
              <p:nvPr/>
            </p:nvCxnSpPr>
            <p:spPr bwMode="auto">
              <a:xfrm rot="5400000">
                <a:off x="8331200" y="5626100"/>
                <a:ext cx="622300" cy="1588"/>
              </a:xfrm>
              <a:prstGeom prst="line">
                <a:avLst/>
              </a:prstGeom>
              <a:noFill/>
              <a:ln w="9525">
                <a:solidFill>
                  <a:schemeClr val="tx1"/>
                </a:solidFill>
                <a:round/>
                <a:headEnd/>
                <a:tailEnd/>
              </a:ln>
            </p:spPr>
          </p:cxnSp>
          <p:cxnSp>
            <p:nvCxnSpPr>
              <p:cNvPr id="63515" name="Straight Connector 52"/>
              <p:cNvCxnSpPr>
                <a:cxnSpLocks noChangeShapeType="1"/>
              </p:cNvCxnSpPr>
              <p:nvPr/>
            </p:nvCxnSpPr>
            <p:spPr bwMode="auto">
              <a:xfrm rot="5400000">
                <a:off x="8531225" y="5632450"/>
                <a:ext cx="622300" cy="1588"/>
              </a:xfrm>
              <a:prstGeom prst="line">
                <a:avLst/>
              </a:prstGeom>
              <a:noFill/>
              <a:ln w="9525">
                <a:solidFill>
                  <a:schemeClr val="tx1"/>
                </a:solidFill>
                <a:round/>
                <a:headEnd/>
                <a:tailEnd/>
              </a:ln>
            </p:spPr>
          </p:cxnSp>
          <p:cxnSp>
            <p:nvCxnSpPr>
              <p:cNvPr id="63516" name="Straight Connector 54"/>
              <p:cNvCxnSpPr>
                <a:cxnSpLocks noChangeShapeType="1"/>
              </p:cNvCxnSpPr>
              <p:nvPr/>
            </p:nvCxnSpPr>
            <p:spPr bwMode="auto">
              <a:xfrm>
                <a:off x="8216900" y="5384800"/>
                <a:ext cx="679450" cy="1588"/>
              </a:xfrm>
              <a:prstGeom prst="line">
                <a:avLst/>
              </a:prstGeom>
              <a:noFill/>
              <a:ln w="38100">
                <a:solidFill>
                  <a:srgbClr val="FF0000"/>
                </a:solidFill>
                <a:round/>
                <a:headEnd/>
                <a:tailEnd/>
              </a:ln>
            </p:spPr>
          </p:cxnSp>
          <p:cxnSp>
            <p:nvCxnSpPr>
              <p:cNvPr id="63517" name="Straight Connector 55"/>
              <p:cNvCxnSpPr>
                <a:cxnSpLocks noChangeShapeType="1"/>
              </p:cNvCxnSpPr>
              <p:nvPr/>
            </p:nvCxnSpPr>
            <p:spPr bwMode="auto">
              <a:xfrm>
                <a:off x="8226425" y="5565775"/>
                <a:ext cx="679450" cy="1588"/>
              </a:xfrm>
              <a:prstGeom prst="line">
                <a:avLst/>
              </a:prstGeom>
              <a:noFill/>
              <a:ln w="38100">
                <a:solidFill>
                  <a:srgbClr val="0000FF"/>
                </a:solidFill>
                <a:round/>
                <a:headEnd/>
                <a:tailEnd/>
              </a:ln>
            </p:spPr>
          </p:cxnSp>
          <p:cxnSp>
            <p:nvCxnSpPr>
              <p:cNvPr id="63518" name="Straight Connector 56"/>
              <p:cNvCxnSpPr>
                <a:cxnSpLocks noChangeShapeType="1"/>
              </p:cNvCxnSpPr>
              <p:nvPr/>
            </p:nvCxnSpPr>
            <p:spPr bwMode="auto">
              <a:xfrm>
                <a:off x="8223250" y="5737225"/>
                <a:ext cx="679450" cy="1588"/>
              </a:xfrm>
              <a:prstGeom prst="line">
                <a:avLst/>
              </a:prstGeom>
              <a:noFill/>
              <a:ln w="9525">
                <a:solidFill>
                  <a:schemeClr val="tx1"/>
                </a:solidFill>
                <a:round/>
                <a:headEnd/>
                <a:tailEnd/>
              </a:ln>
            </p:spPr>
          </p:cxnSp>
          <p:cxnSp>
            <p:nvCxnSpPr>
              <p:cNvPr id="63519" name="Straight Connector 57"/>
              <p:cNvCxnSpPr>
                <a:cxnSpLocks noChangeShapeType="1"/>
              </p:cNvCxnSpPr>
              <p:nvPr/>
            </p:nvCxnSpPr>
            <p:spPr bwMode="auto">
              <a:xfrm>
                <a:off x="8226425" y="5915025"/>
                <a:ext cx="679450" cy="1588"/>
              </a:xfrm>
              <a:prstGeom prst="line">
                <a:avLst/>
              </a:prstGeom>
              <a:noFill/>
              <a:ln w="9525">
                <a:solidFill>
                  <a:schemeClr val="tx1"/>
                </a:solidFill>
                <a:round/>
                <a:headEnd/>
                <a:tailEnd/>
              </a:ln>
            </p:spPr>
          </p:cxnSp>
          <p:sp>
            <p:nvSpPr>
              <p:cNvPr id="63520" name="Oval 58"/>
              <p:cNvSpPr>
                <a:spLocks noChangeArrowheads="1"/>
              </p:cNvSpPr>
              <p:nvPr/>
            </p:nvSpPr>
            <p:spPr bwMode="auto">
              <a:xfrm>
                <a:off x="8223250" y="5334000"/>
                <a:ext cx="95250" cy="104775"/>
              </a:xfrm>
              <a:prstGeom prst="ellipse">
                <a:avLst/>
              </a:prstGeom>
              <a:solidFill>
                <a:srgbClr val="FF0000"/>
              </a:solidFill>
              <a:ln w="9525">
                <a:solidFill>
                  <a:schemeClr val="tx1"/>
                </a:solidFill>
                <a:round/>
                <a:headEnd/>
                <a:tailEnd/>
              </a:ln>
            </p:spPr>
            <p:txBody>
              <a:bodyPr/>
              <a:lstStyle/>
              <a:p>
                <a:endParaRPr lang="en-US"/>
              </a:p>
            </p:txBody>
          </p:sp>
          <p:sp>
            <p:nvSpPr>
              <p:cNvPr id="63521" name="Oval 59"/>
              <p:cNvSpPr>
                <a:spLocks noChangeArrowheads="1"/>
              </p:cNvSpPr>
              <p:nvPr/>
            </p:nvSpPr>
            <p:spPr bwMode="auto">
              <a:xfrm>
                <a:off x="8223250" y="5511800"/>
                <a:ext cx="95250" cy="104775"/>
              </a:xfrm>
              <a:prstGeom prst="ellipse">
                <a:avLst/>
              </a:prstGeom>
              <a:solidFill>
                <a:srgbClr val="0000FF"/>
              </a:solidFill>
              <a:ln w="9525">
                <a:solidFill>
                  <a:schemeClr val="tx1"/>
                </a:solidFill>
                <a:round/>
                <a:headEnd/>
                <a:tailEnd/>
              </a:ln>
            </p:spPr>
            <p:txBody>
              <a:bodyPr/>
              <a:lstStyle/>
              <a:p>
                <a:endParaRPr lang="en-US"/>
              </a:p>
            </p:txBody>
          </p:sp>
          <p:sp>
            <p:nvSpPr>
              <p:cNvPr id="63522" name="Oval 60"/>
              <p:cNvSpPr>
                <a:spLocks noChangeArrowheads="1"/>
              </p:cNvSpPr>
              <p:nvPr/>
            </p:nvSpPr>
            <p:spPr bwMode="auto">
              <a:xfrm>
                <a:off x="8794750" y="5851525"/>
                <a:ext cx="95250" cy="104775"/>
              </a:xfrm>
              <a:prstGeom prst="ellipse">
                <a:avLst/>
              </a:prstGeom>
              <a:solidFill>
                <a:srgbClr val="00FF00"/>
              </a:solidFill>
              <a:ln w="9525">
                <a:solidFill>
                  <a:schemeClr val="tx1"/>
                </a:solidFill>
                <a:round/>
                <a:headEnd/>
                <a:tailEnd/>
              </a:ln>
            </p:spPr>
            <p:txBody>
              <a:bodyPr/>
              <a:lstStyle/>
              <a:p>
                <a:endParaRPr lang="en-US"/>
              </a:p>
            </p:txBody>
          </p:sp>
          <p:sp>
            <p:nvSpPr>
              <p:cNvPr id="63523" name="Explosion 1 61"/>
              <p:cNvSpPr>
                <a:spLocks noChangeArrowheads="1"/>
              </p:cNvSpPr>
              <p:nvPr/>
            </p:nvSpPr>
            <p:spPr bwMode="auto">
              <a:xfrm>
                <a:off x="8769349" y="5270500"/>
                <a:ext cx="230717" cy="203200"/>
              </a:xfrm>
              <a:prstGeom prst="irregularSeal1">
                <a:avLst/>
              </a:prstGeom>
              <a:solidFill>
                <a:srgbClr val="FF0000"/>
              </a:solidFill>
              <a:ln w="9525">
                <a:solidFill>
                  <a:srgbClr val="FF0000"/>
                </a:solidFill>
                <a:round/>
                <a:headEnd/>
                <a:tailEnd/>
              </a:ln>
            </p:spPr>
            <p:txBody>
              <a:bodyPr/>
              <a:lstStyle/>
              <a:p>
                <a:endParaRPr lang="en-US"/>
              </a:p>
            </p:txBody>
          </p:sp>
          <p:cxnSp>
            <p:nvCxnSpPr>
              <p:cNvPr id="63524" name="Straight Connector 63"/>
              <p:cNvCxnSpPr>
                <a:cxnSpLocks noChangeShapeType="1"/>
              </p:cNvCxnSpPr>
              <p:nvPr/>
            </p:nvCxnSpPr>
            <p:spPr bwMode="auto">
              <a:xfrm rot="5400000">
                <a:off x="8231188" y="5475287"/>
                <a:ext cx="73025" cy="1588"/>
              </a:xfrm>
              <a:prstGeom prst="line">
                <a:avLst/>
              </a:prstGeom>
              <a:noFill/>
              <a:ln w="38100">
                <a:solidFill>
                  <a:srgbClr val="FF0000"/>
                </a:solidFill>
                <a:round/>
                <a:headEnd/>
                <a:tailEnd/>
              </a:ln>
            </p:spPr>
          </p:cxnSp>
          <p:cxnSp>
            <p:nvCxnSpPr>
              <p:cNvPr id="63525" name="Straight Connector 65"/>
              <p:cNvCxnSpPr>
                <a:cxnSpLocks noChangeShapeType="1"/>
                <a:endCxn id="63522" idx="0"/>
              </p:cNvCxnSpPr>
              <p:nvPr/>
            </p:nvCxnSpPr>
            <p:spPr bwMode="auto">
              <a:xfrm rot="16200000" flipH="1">
                <a:off x="8701087" y="5710237"/>
                <a:ext cx="279400" cy="3175"/>
              </a:xfrm>
              <a:prstGeom prst="line">
                <a:avLst/>
              </a:prstGeom>
              <a:noFill/>
              <a:ln w="38100">
                <a:solidFill>
                  <a:srgbClr val="0000FF"/>
                </a:solidFill>
                <a:round/>
                <a:headEnd/>
                <a:tailEnd/>
              </a:ln>
            </p:spPr>
          </p:cxnSp>
          <p:sp>
            <p:nvSpPr>
              <p:cNvPr id="63526" name="Oval 66"/>
              <p:cNvSpPr>
                <a:spLocks noChangeArrowheads="1"/>
              </p:cNvSpPr>
              <p:nvPr/>
            </p:nvSpPr>
            <p:spPr bwMode="auto">
              <a:xfrm>
                <a:off x="8223250" y="568007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27" name="Oval 67"/>
              <p:cNvSpPr>
                <a:spLocks noChangeArrowheads="1"/>
              </p:cNvSpPr>
              <p:nvPr/>
            </p:nvSpPr>
            <p:spPr bwMode="auto">
              <a:xfrm>
                <a:off x="8226425" y="585787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28" name="Oval 68"/>
              <p:cNvSpPr>
                <a:spLocks noChangeArrowheads="1"/>
              </p:cNvSpPr>
              <p:nvPr/>
            </p:nvSpPr>
            <p:spPr bwMode="auto">
              <a:xfrm>
                <a:off x="8401050" y="5334000"/>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29" name="Oval 69"/>
              <p:cNvSpPr>
                <a:spLocks noChangeArrowheads="1"/>
              </p:cNvSpPr>
              <p:nvPr/>
            </p:nvSpPr>
            <p:spPr bwMode="auto">
              <a:xfrm>
                <a:off x="8401050" y="5511800"/>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0" name="Oval 70"/>
              <p:cNvSpPr>
                <a:spLocks noChangeArrowheads="1"/>
              </p:cNvSpPr>
              <p:nvPr/>
            </p:nvSpPr>
            <p:spPr bwMode="auto">
              <a:xfrm>
                <a:off x="8404225" y="5683250"/>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1" name="Oval 71"/>
              <p:cNvSpPr>
                <a:spLocks noChangeArrowheads="1"/>
              </p:cNvSpPr>
              <p:nvPr/>
            </p:nvSpPr>
            <p:spPr bwMode="auto">
              <a:xfrm>
                <a:off x="8404225" y="586422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2" name="Oval 72"/>
              <p:cNvSpPr>
                <a:spLocks noChangeArrowheads="1"/>
              </p:cNvSpPr>
              <p:nvPr/>
            </p:nvSpPr>
            <p:spPr bwMode="auto">
              <a:xfrm>
                <a:off x="8591550" y="533717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3" name="Oval 73"/>
              <p:cNvSpPr>
                <a:spLocks noChangeArrowheads="1"/>
              </p:cNvSpPr>
              <p:nvPr/>
            </p:nvSpPr>
            <p:spPr bwMode="auto">
              <a:xfrm>
                <a:off x="8591550" y="551497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4" name="Oval 74"/>
              <p:cNvSpPr>
                <a:spLocks noChangeArrowheads="1"/>
              </p:cNvSpPr>
              <p:nvPr/>
            </p:nvSpPr>
            <p:spPr bwMode="auto">
              <a:xfrm>
                <a:off x="8594725" y="568007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5" name="Oval 75"/>
              <p:cNvSpPr>
                <a:spLocks noChangeArrowheads="1"/>
              </p:cNvSpPr>
              <p:nvPr/>
            </p:nvSpPr>
            <p:spPr bwMode="auto">
              <a:xfrm>
                <a:off x="8594725" y="5864225"/>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6" name="Oval 76"/>
              <p:cNvSpPr>
                <a:spLocks noChangeArrowheads="1"/>
              </p:cNvSpPr>
              <p:nvPr/>
            </p:nvSpPr>
            <p:spPr bwMode="auto">
              <a:xfrm>
                <a:off x="8791575" y="5518150"/>
                <a:ext cx="95250" cy="104775"/>
              </a:xfrm>
              <a:prstGeom prst="ellipse">
                <a:avLst/>
              </a:prstGeom>
              <a:solidFill>
                <a:schemeClr val="accent1"/>
              </a:solidFill>
              <a:ln w="9525">
                <a:solidFill>
                  <a:schemeClr val="tx1"/>
                </a:solidFill>
                <a:round/>
                <a:headEnd/>
                <a:tailEnd/>
              </a:ln>
            </p:spPr>
            <p:txBody>
              <a:bodyPr/>
              <a:lstStyle/>
              <a:p>
                <a:endParaRPr lang="en-US"/>
              </a:p>
            </p:txBody>
          </p:sp>
          <p:sp>
            <p:nvSpPr>
              <p:cNvPr id="63537" name="Oval 77"/>
              <p:cNvSpPr>
                <a:spLocks noChangeArrowheads="1"/>
              </p:cNvSpPr>
              <p:nvPr/>
            </p:nvSpPr>
            <p:spPr bwMode="auto">
              <a:xfrm>
                <a:off x="8797925" y="5686425"/>
                <a:ext cx="95250" cy="104775"/>
              </a:xfrm>
              <a:prstGeom prst="ellipse">
                <a:avLst/>
              </a:prstGeom>
              <a:solidFill>
                <a:schemeClr val="accent1"/>
              </a:solidFill>
              <a:ln w="9525">
                <a:solidFill>
                  <a:schemeClr val="tx1"/>
                </a:solidFill>
                <a:round/>
                <a:headEnd/>
                <a:tailEnd/>
              </a:ln>
            </p:spPr>
            <p:txBody>
              <a:bodyPr/>
              <a:lstStyle/>
              <a:p>
                <a:endParaRPr lang="en-US"/>
              </a:p>
            </p:txBody>
          </p:sp>
        </p:grpSp>
        <p:sp>
          <p:nvSpPr>
            <p:cNvPr id="63511" name="TextBox 79"/>
            <p:cNvSpPr txBox="1">
              <a:spLocks noChangeArrowheads="1"/>
            </p:cNvSpPr>
            <p:nvPr/>
          </p:nvSpPr>
          <p:spPr bwMode="auto">
            <a:xfrm>
              <a:off x="8230844" y="825500"/>
              <a:ext cx="972943" cy="738664"/>
            </a:xfrm>
            <a:prstGeom prst="rect">
              <a:avLst/>
            </a:prstGeom>
            <a:noFill/>
            <a:ln w="9525">
              <a:noFill/>
              <a:miter lim="800000"/>
              <a:headEnd/>
              <a:tailEnd/>
            </a:ln>
          </p:spPr>
          <p:txBody>
            <a:bodyPr wrap="none">
              <a:spAutoFit/>
            </a:bodyPr>
            <a:lstStyle/>
            <a:p>
              <a:r>
                <a:rPr lang="en-US">
                  <a:solidFill>
                    <a:srgbClr val="FF0000"/>
                  </a:solidFill>
                </a:rPr>
                <a:t>(message</a:t>
              </a:r>
            </a:p>
            <a:p>
              <a:r>
                <a:rPr lang="en-US">
                  <a:solidFill>
                    <a:srgbClr val="FF0000"/>
                  </a:solidFill>
                </a:rPr>
                <a:t>delay </a:t>
              </a:r>
            </a:p>
            <a:p>
              <a:r>
                <a:rPr lang="en-US">
                  <a:solidFill>
                    <a:srgbClr val="FF0000"/>
                  </a:solidFill>
                </a:rPr>
                <a:t>for A)</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do we need fences?</a:t>
            </a:r>
          </a:p>
        </p:txBody>
      </p:sp>
      <p:sp>
        <p:nvSpPr>
          <p:cNvPr id="3" name="Content Placeholder 2"/>
          <p:cNvSpPr>
            <a:spLocks noGrp="1"/>
          </p:cNvSpPr>
          <p:nvPr>
            <p:ph idx="1"/>
          </p:nvPr>
        </p:nvSpPr>
        <p:spPr/>
        <p:txBody>
          <a:bodyPr/>
          <a:lstStyle/>
          <a:p>
            <a:r>
              <a:rPr lang="en-US" dirty="0"/>
              <a:t>Typically, programmer uses “synchronization” to protect accesses to shared data.</a:t>
            </a:r>
          </a:p>
          <a:p>
            <a:endParaRPr lang="en-US" dirty="0"/>
          </a:p>
          <a:p>
            <a:r>
              <a:rPr lang="en-US" dirty="0"/>
              <a:t>E.g., critical section</a:t>
            </a:r>
          </a:p>
          <a:p>
            <a:pPr>
              <a:buNone/>
            </a:pPr>
            <a:endParaRPr lang="en-US" dirty="0"/>
          </a:p>
          <a:p>
            <a:pPr>
              <a:buNone/>
            </a:pPr>
            <a:r>
              <a:rPr lang="en-US" dirty="0"/>
              <a:t>	</a:t>
            </a:r>
            <a:r>
              <a:rPr lang="en-US" dirty="0" err="1"/>
              <a:t>aquire(mutex</a:t>
            </a:r>
            <a:r>
              <a:rPr lang="en-US" dirty="0"/>
              <a:t>) // synchronization </a:t>
            </a:r>
          </a:p>
          <a:p>
            <a:pPr>
              <a:buNone/>
            </a:pPr>
            <a:r>
              <a:rPr lang="en-US" dirty="0"/>
              <a:t>	</a:t>
            </a:r>
            <a:r>
              <a:rPr lang="en-US" dirty="0">
                <a:solidFill>
                  <a:srgbClr val="FF0000"/>
                </a:solidFill>
              </a:rPr>
              <a:t>modify shared data</a:t>
            </a:r>
          </a:p>
          <a:p>
            <a:pPr>
              <a:buNone/>
            </a:pPr>
            <a:r>
              <a:rPr lang="en-US" dirty="0"/>
              <a:t>	</a:t>
            </a:r>
            <a:r>
              <a:rPr lang="en-US" dirty="0" err="1"/>
              <a:t>release(mutex</a:t>
            </a:r>
            <a:r>
              <a:rPr lang="en-US" dirty="0"/>
              <a:t>) // synchronization</a:t>
            </a:r>
          </a:p>
          <a:p>
            <a:pPr>
              <a:buNone/>
            </a:pPr>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27</a:t>
            </a:fld>
            <a:r>
              <a:rPr lang="en-US"/>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Races</a:t>
            </a:r>
          </a:p>
        </p:txBody>
      </p:sp>
      <p:sp>
        <p:nvSpPr>
          <p:cNvPr id="3" name="Content Placeholder 2"/>
          <p:cNvSpPr>
            <a:spLocks noGrp="1"/>
          </p:cNvSpPr>
          <p:nvPr>
            <p:ph idx="1"/>
          </p:nvPr>
        </p:nvSpPr>
        <p:spPr/>
        <p:txBody>
          <a:bodyPr/>
          <a:lstStyle/>
          <a:p>
            <a:r>
              <a:rPr lang="en-US" dirty="0"/>
              <a:t>Data race: Two or more threads accessing same data with one thread writing and no synchronization between accesses </a:t>
            </a:r>
          </a:p>
          <a:p>
            <a:endParaRPr lang="en-US" dirty="0"/>
          </a:p>
          <a:p>
            <a:endParaRPr lang="en-US" dirty="0"/>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28</a:t>
            </a:fld>
            <a:r>
              <a:rPr lang="en-US"/>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 for DRF Programs</a:t>
            </a:r>
          </a:p>
        </p:txBody>
      </p:sp>
      <p:sp>
        <p:nvSpPr>
          <p:cNvPr id="3" name="Content Placeholder 2"/>
          <p:cNvSpPr>
            <a:spLocks noGrp="1"/>
          </p:cNvSpPr>
          <p:nvPr>
            <p:ph idx="1"/>
          </p:nvPr>
        </p:nvSpPr>
        <p:spPr/>
        <p:txBody>
          <a:bodyPr/>
          <a:lstStyle/>
          <a:p>
            <a:r>
              <a:rPr lang="en-US" dirty="0"/>
              <a:t>Fact: All memory consistency models support sequential consistency for programs free of data races.</a:t>
            </a:r>
          </a:p>
          <a:p>
            <a:endParaRPr lang="en-US" dirty="0"/>
          </a:p>
          <a:p>
            <a:r>
              <a:rPr lang="en-US" dirty="0"/>
              <a:t>Avoid needing to worry about hardware consistency model if you use correct synchronization (e.g., </a:t>
            </a:r>
            <a:r>
              <a:rPr lang="en-US" dirty="0" err="1"/>
              <a:t>mutex</a:t>
            </a:r>
            <a:r>
              <a:rPr lang="en-US" dirty="0"/>
              <a:t>)</a:t>
            </a:r>
          </a:p>
        </p:txBody>
      </p:sp>
      <p:sp>
        <p:nvSpPr>
          <p:cNvPr id="4" name="Slide Number Placeholder 3"/>
          <p:cNvSpPr>
            <a:spLocks noGrp="1"/>
          </p:cNvSpPr>
          <p:nvPr>
            <p:ph type="sldNum" sz="quarter" idx="12"/>
          </p:nvPr>
        </p:nvSpPr>
        <p:spPr/>
        <p:txBody>
          <a:bodyPr/>
          <a:lstStyle/>
          <a:p>
            <a:pPr>
              <a:defRPr/>
            </a:pPr>
            <a:fld id="{EE961BD8-5010-45A5-B1A9-68D93290FB2D}" type="slidenum">
              <a:rPr lang="en-US" smtClean="0"/>
              <a:pPr>
                <a:defRPr/>
              </a:pPr>
              <a:t>29</a:t>
            </a:fld>
            <a:r>
              <a:rPr lang="en-US"/>
              <a:t> </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Comic Sans MS"/>
        <a:ea typeface="ＭＳ Ｐゴシック"/>
        <a:cs typeface="ＭＳ Ｐゴシック"/>
      </a:majorFont>
      <a:minorFont>
        <a:latin typeface="Comic Sans MS"/>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50371</TotalTime>
  <Words>1715</Words>
  <Application>Microsoft Macintosh PowerPoint</Application>
  <PresentationFormat>On-screen Show (4:3)</PresentationFormat>
  <Paragraphs>276</Paragraphs>
  <Slides>29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  </vt:lpstr>
      <vt:lpstr>Comic Sans MS</vt:lpstr>
      <vt:lpstr>Courier New</vt:lpstr>
      <vt:lpstr>Helvetica</vt:lpstr>
      <vt:lpstr>Marker Felt</vt:lpstr>
      <vt:lpstr>Times New Roman</vt:lpstr>
      <vt:lpstr>Blank Presentation</vt:lpstr>
      <vt:lpstr>CPEN 411: Computer Architecture  Slide Set #17: Memory Consistency</vt:lpstr>
      <vt:lpstr>Introduction to Slide Set 17</vt:lpstr>
      <vt:lpstr>Learning Objectives</vt:lpstr>
      <vt:lpstr>Example #1</vt:lpstr>
      <vt:lpstr>Example #2 (e.g., Dekker)</vt:lpstr>
      <vt:lpstr>Consistency Model</vt:lpstr>
      <vt:lpstr>Sequential Consistency</vt:lpstr>
      <vt:lpstr>Sequential Consistency</vt:lpstr>
      <vt:lpstr>Memory Order</vt:lpstr>
      <vt:lpstr>Example #1, Revisited</vt:lpstr>
      <vt:lpstr>SC Ordering Rules</vt:lpstr>
      <vt:lpstr>Example #2, Revisited</vt:lpstr>
      <vt:lpstr>Example #1, Revisited</vt:lpstr>
      <vt:lpstr>Example #2, Revisited</vt:lpstr>
      <vt:lpstr>PowerPoint Presentation</vt:lpstr>
      <vt:lpstr>   Write Buffer, Revisited</vt:lpstr>
      <vt:lpstr>Total Store Order (TSO/x86) Memory Model</vt:lpstr>
      <vt:lpstr>TSO/x86 Ordering Rules</vt:lpstr>
      <vt:lpstr>Example #1, Revisited</vt:lpstr>
      <vt:lpstr>Example #2, Revisited</vt:lpstr>
      <vt:lpstr>Example #2, TSO/x86 ordering</vt:lpstr>
      <vt:lpstr>Fence Operations</vt:lpstr>
      <vt:lpstr>Example #2, Revisited</vt:lpstr>
      <vt:lpstr>Relaxed Memory Consistency</vt:lpstr>
      <vt:lpstr>Related: Write atomicity</vt:lpstr>
      <vt:lpstr>Example 3: Causality</vt:lpstr>
      <vt:lpstr>When do we need fences?</vt:lpstr>
      <vt:lpstr>Data Races</vt:lpstr>
      <vt:lpstr>SC for DRF Programs</vt:lpstr>
    </vt:vector>
  </TitlesOfParts>
  <Company>Tor M. Aamodt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does a cache work?</dc:title>
  <dc:creator>Tor M. Aamodt</dc:creator>
  <cp:lastModifiedBy>Tor Aamodt</cp:lastModifiedBy>
  <cp:revision>171</cp:revision>
  <cp:lastPrinted>2008-11-05T16:11:47Z</cp:lastPrinted>
  <dcterms:created xsi:type="dcterms:W3CDTF">2013-11-18T03:00:37Z</dcterms:created>
  <dcterms:modified xsi:type="dcterms:W3CDTF">2025-11-24T21:04:32Z</dcterms:modified>
</cp:coreProperties>
</file>