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80" r:id="rId2"/>
    <p:sldId id="583" r:id="rId3"/>
    <p:sldId id="487" r:id="rId4"/>
    <p:sldId id="521" r:id="rId5"/>
    <p:sldId id="530" r:id="rId6"/>
    <p:sldId id="531" r:id="rId7"/>
    <p:sldId id="532" r:id="rId8"/>
    <p:sldId id="533" r:id="rId9"/>
    <p:sldId id="357" r:id="rId10"/>
    <p:sldId id="359" r:id="rId11"/>
    <p:sldId id="316" r:id="rId12"/>
    <p:sldId id="578" r:id="rId13"/>
    <p:sldId id="582" r:id="rId14"/>
    <p:sldId id="586" r:id="rId15"/>
    <p:sldId id="587" r:id="rId16"/>
    <p:sldId id="592" r:id="rId17"/>
    <p:sldId id="588" r:id="rId18"/>
    <p:sldId id="584" r:id="rId19"/>
    <p:sldId id="589" r:id="rId20"/>
    <p:sldId id="529" r:id="rId21"/>
    <p:sldId id="590" r:id="rId22"/>
    <p:sldId id="594" r:id="rId23"/>
    <p:sldId id="538" r:id="rId24"/>
    <p:sldId id="595" r:id="rId25"/>
    <p:sldId id="596" r:id="rId26"/>
    <p:sldId id="500" r:id="rId27"/>
    <p:sldId id="536" r:id="rId28"/>
    <p:sldId id="597" r:id="rId29"/>
    <p:sldId id="497" r:id="rId30"/>
    <p:sldId id="498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FF"/>
    <a:srgbClr val="FF00FF"/>
    <a:srgbClr val="FF0000"/>
    <a:srgbClr val="FFFF00"/>
    <a:srgbClr val="E1E1E1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3" autoAdjust="0"/>
    <p:restoredTop sz="75167" autoAdjust="0"/>
  </p:normalViewPr>
  <p:slideViewPr>
    <p:cSldViewPr snapToGrid="0">
      <p:cViewPr varScale="1">
        <p:scale>
          <a:sx n="113" d="100"/>
          <a:sy n="113" d="100"/>
        </p:scale>
        <p:origin x="808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D7B0FCC-E0DE-4FC7-B886-4B50A0D682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22668AF-2FD3-410A-B9E8-8197221D8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24BAEB-8C91-484E-8DE7-BB0C28222E8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5019518-A471-46D1-48F7-DD8BFA7633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3EBA587-9403-E108-7E74-49A1964E7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Reminder, you do need to know the definition in text, the image are just for illustration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CB5669-E5C1-4875-904C-25BB2C2D4819}" type="slidenum">
              <a:rPr lang="en-US"/>
              <a:pPr/>
              <a:t>25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E4BF37-757E-4DAB-9BF0-2753971A065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0175" y="877888"/>
            <a:ext cx="4059238" cy="3044825"/>
          </a:xfrm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2105E7-E7AA-4F09-ABD7-B5D169818CC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0175" y="877888"/>
            <a:ext cx="4059238" cy="3044825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702B6F-AC32-40BD-AA0F-FBBFF718AF2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0175" y="877888"/>
            <a:ext cx="4059238" cy="3044825"/>
          </a:xfrm>
          <a:solidFill>
            <a:srgbClr val="FFFFFF"/>
          </a:solidFill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A594E-914C-42D6-948F-102D3BB4F98C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961BD8-5010-45A5-B1A9-68D93290FB2D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F5EA1-979F-4BA7-A334-6D990E801C78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4E464-3960-4A04-BA81-108980B198F7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32772-95D5-4F6D-96F7-227B462A7BF8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92BE9-EF34-47DC-B69E-307E26C6580A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63B88-C053-4BE2-84FB-F69C235942FE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C9748-5622-4D23-B51E-ACD96EFFEF0C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297D8-3949-4AD4-8CBD-C455C5AA5D01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17090-F425-4BBA-98FD-AFC2172A6460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EB0E0-D87F-411A-BD9D-B3888A7CC766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7513B-3F8D-4AD6-AD8E-0FD27D8C23FA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r>
              <a:rPr lang="en-US"/>
              <a:t>Nov. 5, 2008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r>
              <a:rPr lang="en-US"/>
              <a:t>EECE 476 - Slide Set 12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838AB043-9D1D-4C98-A992-12274ACF842E}" type="slidenum">
              <a:rPr lang="en-US"/>
              <a:pPr>
                <a:defRPr/>
              </a:pPr>
              <a:t>‹#›</a:t>
            </a:fld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77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8" descr="nehalem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8585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553156" y="1431925"/>
            <a:ext cx="8161866" cy="3551238"/>
          </a:xfrm>
          <a:prstGeom prst="rect">
            <a:avLst/>
          </a:prstGeom>
          <a:solidFill>
            <a:schemeClr val="bg1">
              <a:alpha val="87057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1268" name="Title 1"/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2819400"/>
          </a:xfrm>
        </p:spPr>
        <p:txBody>
          <a:bodyPr/>
          <a:lstStyle/>
          <a:p>
            <a:r>
              <a:rPr lang="en-US" sz="3200" dirty="0">
                <a:solidFill>
                  <a:srgbClr val="0000FF"/>
                </a:solidFill>
                <a:latin typeface="Arial  " charset="0"/>
              </a:rPr>
              <a:t>CPEN 411: Computer Architecture</a:t>
            </a:r>
            <a:br>
              <a:rPr lang="en-US" sz="2400" dirty="0">
                <a:solidFill>
                  <a:srgbClr val="0000FF"/>
                </a:solidFill>
                <a:latin typeface="Arial  " charset="0"/>
              </a:rPr>
            </a:br>
            <a:br>
              <a:rPr lang="en-US" dirty="0">
                <a:solidFill>
                  <a:srgbClr val="0000FF"/>
                </a:solidFill>
                <a:latin typeface="Arial  " charset="0"/>
              </a:rPr>
            </a:br>
            <a:r>
              <a:rPr lang="en-US" sz="2800" dirty="0">
                <a:solidFill>
                  <a:srgbClr val="0000FF"/>
                </a:solidFill>
                <a:latin typeface="Arial  " charset="0"/>
              </a:rPr>
              <a:t>Slide Set #10: Introduction to Parallel Processing</a:t>
            </a:r>
          </a:p>
        </p:txBody>
      </p:sp>
      <p:sp>
        <p:nvSpPr>
          <p:cNvPr id="1126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  " charset="0"/>
              </a:rPr>
              <a:t>Tor Aamodt</a:t>
            </a:r>
          </a:p>
          <a:p>
            <a:r>
              <a:rPr lang="en-US" dirty="0">
                <a:solidFill>
                  <a:srgbClr val="0000FF"/>
                </a:solidFill>
                <a:latin typeface="Arial  " charset="0"/>
              </a:rPr>
              <a:t>aamodt@ece.ubc.ca</a:t>
            </a:r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45D7FA-4601-4929-B0C8-0D8AD3730918}" type="slidenum">
              <a:rPr lang="en-GB" smtClean="0">
                <a:latin typeface="Arial  " charset="0"/>
              </a:rPr>
              <a:pPr/>
              <a:t>1</a:t>
            </a:fld>
            <a:r>
              <a:rPr lang="en-GB">
                <a:latin typeface="Arial  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Slide Set 10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So far in the course we have learned how an individual processor core works.  In this slide set start thinking about what happens if we connect multiple cores together.   </a:t>
            </a:r>
          </a:p>
          <a:p>
            <a:endParaRPr lang="en-CA" sz="2400" dirty="0"/>
          </a:p>
          <a:p>
            <a:r>
              <a:rPr lang="en-CA" sz="2400" dirty="0"/>
              <a:t>Here we focus only on introducing the benefits and challenges of having multiple cores.</a:t>
            </a:r>
          </a:p>
          <a:p>
            <a:endParaRPr lang="en-CA" sz="2400" dirty="0"/>
          </a:p>
          <a:p>
            <a:r>
              <a:rPr lang="en-CA" sz="2400" dirty="0"/>
              <a:t>Next week: Programming GPUs with NVIDIA CUDA</a:t>
            </a:r>
            <a:endParaRPr lang="en-CA" sz="2000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FC52AB-943B-428E-BDD9-E1AEF9FA74E5}" type="slidenum">
              <a:rPr lang="en-US" smtClean="0"/>
              <a:pPr/>
              <a:t>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Learning Objectives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11176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    By the time we finish talking about this slide set in lectures you should be able to: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Explain the challenges of obtaining performance using parallel processing.</a:t>
            </a:r>
          </a:p>
        </p:txBody>
      </p:sp>
      <p:sp>
        <p:nvSpPr>
          <p:cNvPr id="1331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3A193E-CC61-404B-A710-1D4B4D3728C9}" type="slidenum">
              <a:rPr lang="en-US" smtClean="0"/>
              <a:pPr/>
              <a:t>3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-1588" y="1155700"/>
          <a:ext cx="9145588" cy="496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hart" r:id="rId3" imgW="9906000" imgH="5384800" progId="Excel.Sheet.8">
                  <p:embed/>
                </p:oleObj>
              </mc:Choice>
              <mc:Fallback>
                <p:oleObj name="Chart" r:id="rId3" imgW="9906000" imgH="538480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88" y="1155700"/>
                        <a:ext cx="9145588" cy="496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>
          <a:xfrm>
            <a:off x="546100" y="215900"/>
            <a:ext cx="8229600" cy="711200"/>
          </a:xfrm>
        </p:spPr>
        <p:txBody>
          <a:bodyPr/>
          <a:lstStyle/>
          <a:p>
            <a:pPr eaLnBrk="1" hangingPunct="1"/>
            <a:r>
              <a:rPr lang="en-US" sz="3600" dirty="0"/>
              <a:t>Why (Explicitly) Parallel Computing?</a:t>
            </a:r>
          </a:p>
        </p:txBody>
      </p:sp>
      <p:sp>
        <p:nvSpPr>
          <p:cNvPr id="1028" name="Text Box 7"/>
          <p:cNvSpPr txBox="1">
            <a:spLocks noChangeArrowheads="1"/>
          </p:cNvSpPr>
          <p:nvPr/>
        </p:nvSpPr>
        <p:spPr bwMode="auto">
          <a:xfrm>
            <a:off x="8678863" y="120332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3X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8755063" y="1155700"/>
            <a:ext cx="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03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5505D2-7CEE-4A80-8A11-1A95CEC88C72}" type="slidenum">
              <a:rPr lang="en-US" smtClean="0"/>
              <a:pPr/>
              <a:t>4</a:t>
            </a:fld>
            <a:r>
              <a:rPr lang="en-US"/>
              <a:t> </a:t>
            </a:r>
          </a:p>
        </p:txBody>
      </p:sp>
      <p:sp>
        <p:nvSpPr>
          <p:cNvPr id="1031" name="Oval 11"/>
          <p:cNvSpPr>
            <a:spLocks noChangeArrowheads="1"/>
          </p:cNvSpPr>
          <p:nvPr/>
        </p:nvSpPr>
        <p:spPr bwMode="auto">
          <a:xfrm>
            <a:off x="0" y="4327525"/>
            <a:ext cx="4506913" cy="1660525"/>
          </a:xfrm>
          <a:prstGeom prst="ellipse">
            <a:avLst/>
          </a:prstGeom>
          <a:noFill/>
          <a:ln w="76200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CA">
              <a:solidFill>
                <a:srgbClr val="0000FF"/>
              </a:solidFill>
            </a:endParaRPr>
          </a:p>
        </p:txBody>
      </p:sp>
      <p:sp>
        <p:nvSpPr>
          <p:cNvPr id="1032" name="TextBox 12"/>
          <p:cNvSpPr txBox="1">
            <a:spLocks noChangeArrowheads="1"/>
          </p:cNvSpPr>
          <p:nvPr/>
        </p:nvSpPr>
        <p:spPr bwMode="auto">
          <a:xfrm>
            <a:off x="193675" y="6065838"/>
            <a:ext cx="75025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800">
                <a:solidFill>
                  <a:srgbClr val="0000FF"/>
                </a:solidFill>
              </a:rPr>
              <a:t>Concern about end of Moore’s Law… Lots of interest in Multiprocessors.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Challenges of Parallel Processing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/>
            <a:r>
              <a:rPr lang="en-US" sz="2400"/>
              <a:t>First challenge is % of program inherently sequential</a:t>
            </a:r>
          </a:p>
          <a:p>
            <a:pPr marL="457200" indent="-457200" eaLnBrk="1" hangingPunct="1"/>
            <a:r>
              <a:rPr lang="en-US" sz="2400"/>
              <a:t>Suppose we want to obtain an 80X speedup from 100 processors (versus 1 processor). What fraction of original program can be sequential?</a:t>
            </a:r>
          </a:p>
          <a:p>
            <a:pPr marL="800100" lvl="1" indent="-342900" eaLnBrk="1" hangingPunct="1">
              <a:buFontTx/>
              <a:buAutoNum type="alphaLcPeriod"/>
            </a:pPr>
            <a:r>
              <a:rPr lang="en-US" sz="2800"/>
              <a:t>10%</a:t>
            </a:r>
          </a:p>
          <a:p>
            <a:pPr marL="800100" lvl="1" indent="-342900" eaLnBrk="1" hangingPunct="1">
              <a:buFontTx/>
              <a:buAutoNum type="alphaLcPeriod"/>
            </a:pPr>
            <a:r>
              <a:rPr lang="en-US" sz="2800"/>
              <a:t>5%</a:t>
            </a:r>
          </a:p>
          <a:p>
            <a:pPr marL="800100" lvl="1" indent="-342900" eaLnBrk="1" hangingPunct="1">
              <a:buFontTx/>
              <a:buAutoNum type="alphaLcPeriod"/>
            </a:pPr>
            <a:r>
              <a:rPr lang="en-US" sz="2800"/>
              <a:t>1%</a:t>
            </a:r>
          </a:p>
          <a:p>
            <a:pPr marL="800100" lvl="1" indent="-342900" eaLnBrk="1" hangingPunct="1">
              <a:buFontTx/>
              <a:buAutoNum type="alphaLcPeriod"/>
            </a:pPr>
            <a:r>
              <a:rPr lang="en-US" sz="2800"/>
              <a:t>&lt;1%</a:t>
            </a:r>
          </a:p>
        </p:txBody>
      </p:sp>
      <p:sp>
        <p:nvSpPr>
          <p:cNvPr id="1434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97F99F-117C-4E5E-B55A-20BA76B67FD1}" type="slidenum">
              <a:rPr lang="en-US" smtClean="0"/>
              <a:pPr/>
              <a:t>5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Amdahl’s Law Answers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130300" y="1306513"/>
          <a:ext cx="6718300" cy="464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2" imgW="3174840" imgH="2197080" progId="Equation.3">
                  <p:embed/>
                </p:oleObj>
              </mc:Choice>
              <mc:Fallback>
                <p:oleObj name="Equation" r:id="rId2" imgW="3174840" imgH="2197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1306513"/>
                        <a:ext cx="6718300" cy="4649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8228" name="Rectangle 4"/>
          <p:cNvSpPr>
            <a:spLocks noChangeArrowheads="1"/>
          </p:cNvSpPr>
          <p:nvPr/>
        </p:nvSpPr>
        <p:spPr bwMode="auto">
          <a:xfrm>
            <a:off x="927100" y="1181100"/>
            <a:ext cx="77343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8229" name="Rectangle 5"/>
          <p:cNvSpPr>
            <a:spLocks noChangeArrowheads="1"/>
          </p:cNvSpPr>
          <p:nvPr/>
        </p:nvSpPr>
        <p:spPr bwMode="auto">
          <a:xfrm>
            <a:off x="660400" y="2806700"/>
            <a:ext cx="7734300" cy="1206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8230" name="Rectangle 6"/>
          <p:cNvSpPr>
            <a:spLocks noChangeArrowheads="1"/>
          </p:cNvSpPr>
          <p:nvPr/>
        </p:nvSpPr>
        <p:spPr bwMode="auto">
          <a:xfrm>
            <a:off x="812800" y="4051300"/>
            <a:ext cx="7734300" cy="83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8231" name="Rectangle 7"/>
          <p:cNvSpPr>
            <a:spLocks noChangeArrowheads="1"/>
          </p:cNvSpPr>
          <p:nvPr/>
        </p:nvSpPr>
        <p:spPr bwMode="auto">
          <a:xfrm>
            <a:off x="863600" y="5016500"/>
            <a:ext cx="773430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8232" name="Rectangle 8"/>
          <p:cNvSpPr>
            <a:spLocks noChangeArrowheads="1"/>
          </p:cNvSpPr>
          <p:nvPr/>
        </p:nvSpPr>
        <p:spPr bwMode="auto">
          <a:xfrm>
            <a:off x="965200" y="5499100"/>
            <a:ext cx="773430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8233" name="Rectangle 9"/>
          <p:cNvSpPr>
            <a:spLocks noChangeArrowheads="1"/>
          </p:cNvSpPr>
          <p:nvPr/>
        </p:nvSpPr>
        <p:spPr bwMode="auto">
          <a:xfrm>
            <a:off x="800100" y="0"/>
            <a:ext cx="77343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8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74452F-799D-4192-B8B2-4351F171AB48}" type="slidenum">
              <a:rPr lang="en-US" smtClean="0"/>
              <a:pPr/>
              <a:t>6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8" grpId="0" animBg="1"/>
      <p:bldP spid="948229" grpId="0" animBg="1"/>
      <p:bldP spid="948230" grpId="0" animBg="1"/>
      <p:bldP spid="948231" grpId="0" animBg="1"/>
      <p:bldP spid="948232" grpId="0" animBg="1"/>
      <p:bldP spid="9482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Challenges of Parallel Processing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924800" cy="46482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400"/>
              <a:t>Second challenge is long latency to remote memory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/>
              <a:t>Suppose 32 CPU MP, 2GHz, 200 ns remote memory, all local accesses hit memory hierarchy and base CPI is 0.5. (Remote access = 200/0.5 = 400 clock cycles.) 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/>
              <a:t>What is performance impact if 0.2% instructions involve remote access?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lphaLcPeriod"/>
            </a:pPr>
            <a:r>
              <a:rPr lang="en-US" sz="2800"/>
              <a:t> 1.5X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lphaLcPeriod"/>
            </a:pPr>
            <a:r>
              <a:rPr lang="en-US" sz="2800"/>
              <a:t> 2.0X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lphaLcPeriod"/>
            </a:pPr>
            <a:r>
              <a:rPr lang="en-US" sz="2800"/>
              <a:t> 2.5X</a:t>
            </a:r>
            <a:endParaRPr lang="en-US" sz="3200"/>
          </a:p>
        </p:txBody>
      </p:sp>
      <p:sp>
        <p:nvSpPr>
          <p:cNvPr id="1536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098671-6C10-4978-8BE5-477089619B8C}" type="slidenum">
              <a:rPr lang="en-US" smtClean="0"/>
              <a:pPr/>
              <a:t>7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34" charset="0"/>
                <a:cs typeface="Arial" pitchFamily="34" charset="0"/>
              </a:rPr>
              <a:t>Solution</a:t>
            </a:r>
            <a:endParaRPr lang="en-US" sz="140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38300"/>
            <a:ext cx="7543800" cy="10874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CPI = Base CPI + </a:t>
            </a:r>
            <a:br>
              <a:rPr lang="en-US"/>
            </a:br>
            <a:r>
              <a:rPr lang="en-US"/>
              <a:t>	       (Remote request rate </a:t>
            </a:r>
            <a:br>
              <a:rPr lang="en-US"/>
            </a:br>
            <a:r>
              <a:rPr lang="en-US"/>
              <a:t>	        x Remote request cost)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CPI = 0.5 + 0.2% x 400 = 0.5 + 0.8 = 1.3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If no communication, 1.3/0.5 or 2.6 faster than 0.2% instructions involve remote access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sp>
        <p:nvSpPr>
          <p:cNvPr id="950276" name="Rectangle 4"/>
          <p:cNvSpPr>
            <a:spLocks noChangeArrowheads="1"/>
          </p:cNvSpPr>
          <p:nvPr/>
        </p:nvSpPr>
        <p:spPr bwMode="auto">
          <a:xfrm>
            <a:off x="558800" y="1371600"/>
            <a:ext cx="7899400" cy="19431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0278" name="Rectangle 6"/>
          <p:cNvSpPr>
            <a:spLocks noChangeArrowheads="1"/>
          </p:cNvSpPr>
          <p:nvPr/>
        </p:nvSpPr>
        <p:spPr bwMode="auto">
          <a:xfrm>
            <a:off x="635000" y="3390900"/>
            <a:ext cx="7899400" cy="155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941D54-6BDA-4064-910A-B3AB8AC0543B}" type="slidenum">
              <a:rPr lang="en-US" smtClean="0"/>
              <a:pPr/>
              <a:t>8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6" grpId="0" animBg="1"/>
      <p:bldP spid="9502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AD46ACB4-4C4B-AE34-4337-A8BFDE8D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fld id="{F5DCCDE9-E468-F643-8E4B-665C3B127883}" type="slidenum">
              <a:rPr lang="en-US" altLang="en-US" sz="1400">
                <a:latin typeface="Arial  " charset="0"/>
              </a:rPr>
              <a:pPr/>
              <a:t>9</a:t>
            </a:fld>
            <a:r>
              <a:rPr lang="en-US" altLang="en-US" sz="1400">
                <a:latin typeface="Arial  " charset="0"/>
              </a:rPr>
              <a:t> </a:t>
            </a:r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989F1FB-FB8C-D21C-FEAA-F282B28BD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0713" y="0"/>
            <a:ext cx="7772400" cy="644525"/>
          </a:xfrm>
        </p:spPr>
        <p:txBody>
          <a:bodyPr/>
          <a:lstStyle/>
          <a:p>
            <a:pPr eaLnBrk="1" hangingPunct="1"/>
            <a:r>
              <a:rPr lang="en-US" altLang="en-US" u="sng">
                <a:latin typeface="Arial  " charset="0"/>
                <a:ea typeface="ＭＳ Ｐゴシック" panose="020B0600070205080204" pitchFamily="34" charset="-128"/>
                <a:cs typeface="Arial  " charset="0"/>
              </a:rPr>
              <a:t>Flynn’s Taxonomy</a:t>
            </a:r>
            <a:endParaRPr lang="en-US" altLang="en-US" sz="1400">
              <a:solidFill>
                <a:schemeClr val="bg2"/>
              </a:solidFill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29664CD-9245-6C5A-7126-97F140487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727075"/>
            <a:ext cx="7815263" cy="5840413"/>
          </a:xfrm>
        </p:spPr>
        <p:txBody>
          <a:bodyPr/>
          <a:lstStyle/>
          <a:p>
            <a:pPr eaLnBrk="1" hangingPunct="1"/>
            <a:r>
              <a:rPr lang="en-US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Flynn classified by data and control streams in 1966</a:t>
            </a:r>
          </a:p>
          <a:p>
            <a:pPr eaLnBrk="1" hangingPunct="1"/>
            <a:endParaRPr lang="en-US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eaLnBrk="1" hangingPunct="1"/>
            <a:endParaRPr lang="en-US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eaLnBrk="1" hangingPunct="1"/>
            <a:endParaRPr lang="en-US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eaLnBrk="1" hangingPunct="1"/>
            <a:endParaRPr lang="en-US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lvl="1" eaLnBrk="1" hangingPunct="1"/>
            <a:endParaRPr lang="en-US" altLang="en-US" sz="18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lvl="1" eaLnBrk="1" hangingPunct="1"/>
            <a:endParaRPr lang="en-US" altLang="en-US" sz="18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lvl="1" eaLnBrk="1" hangingPunct="1"/>
            <a:endParaRPr lang="en-US" altLang="en-US" sz="18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pPr eaLnBrk="1" hangingPunct="1">
              <a:buFontTx/>
              <a:buNone/>
            </a:pPr>
            <a:endParaRPr lang="en-US" altLang="en-US" sz="16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</p:txBody>
      </p:sp>
      <p:graphicFrame>
        <p:nvGraphicFramePr>
          <p:cNvPr id="941074" name="Group 18">
            <a:extLst>
              <a:ext uri="{FF2B5EF4-FFF2-40B4-BE49-F238E27FC236}">
                <a16:creationId xmlns:a16="http://schemas.microsoft.com/office/drawing/2014/main" id="{6E0DF08B-E506-7994-55F4-D3A259305ED5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195388"/>
          <a:ext cx="7212013" cy="2487612"/>
        </p:xfrm>
        <a:graphic>
          <a:graphicData uri="http://schemas.openxmlformats.org/drawingml/2006/table">
            <a:tbl>
              <a:tblPr/>
              <a:tblGrid>
                <a:gridCol w="3504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3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Single Instruction Single Data (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SISD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 machine supporting a single thread of execution.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Single Instruction Multiple Data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SIMD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 computer in which each instruction operates on multiple data elements at once (e.g., think of vectors and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matricies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)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3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Multiple Instruction Single Data (MISD)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(this combination doesn’t make sense)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Multiple Instruction Multiple Data 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MIMD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 computer in which there are multiple independent threads each operating on their own data.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9472" name="Group 35">
            <a:extLst>
              <a:ext uri="{FF2B5EF4-FFF2-40B4-BE49-F238E27FC236}">
                <a16:creationId xmlns:a16="http://schemas.microsoft.com/office/drawing/2014/main" id="{3A85D714-456D-F240-D00E-C7B744F48210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484313"/>
            <a:ext cx="3384550" cy="865187"/>
            <a:chOff x="884" y="4609"/>
            <a:chExt cx="2132" cy="545"/>
          </a:xfrm>
        </p:grpSpPr>
        <p:sp>
          <p:nvSpPr>
            <p:cNvPr id="19512" name="Rectangle 27">
              <a:extLst>
                <a:ext uri="{FF2B5EF4-FFF2-40B4-BE49-F238E27FC236}">
                  <a16:creationId xmlns:a16="http://schemas.microsoft.com/office/drawing/2014/main" id="{AA259BB5-568E-2E76-1A25-715F1582F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4609"/>
              <a:ext cx="2132" cy="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grpSp>
          <p:nvGrpSpPr>
            <p:cNvPr id="19513" name="Group 26">
              <a:extLst>
                <a:ext uri="{FF2B5EF4-FFF2-40B4-BE49-F238E27FC236}">
                  <a16:creationId xmlns:a16="http://schemas.microsoft.com/office/drawing/2014/main" id="{FA0E1711-9092-E766-A041-8F7A331F1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4655"/>
              <a:ext cx="681" cy="408"/>
              <a:chOff x="-295" y="709"/>
              <a:chExt cx="862" cy="544"/>
            </a:xfrm>
          </p:grpSpPr>
          <p:sp>
            <p:nvSpPr>
              <p:cNvPr id="19514" name="AutoShape 19">
                <a:extLst>
                  <a:ext uri="{FF2B5EF4-FFF2-40B4-BE49-F238E27FC236}">
                    <a16:creationId xmlns:a16="http://schemas.microsoft.com/office/drawing/2014/main" id="{C4672B4E-3CF7-ACB7-BF41-9D4B604EF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" y="1026"/>
                <a:ext cx="499" cy="2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943 w 21600"/>
                  <a:gd name="T13" fmla="*/ 2950 h 21600"/>
                  <a:gd name="T14" fmla="*/ 18657 w 21600"/>
                  <a:gd name="T15" fmla="*/ 1865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251" y="21600"/>
                    </a:lnTo>
                    <a:lnTo>
                      <a:pt x="1934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Arial" panose="020B0604020202020204" pitchFamily="34" charset="0"/>
                  </a:rPr>
                  <a:t>ALU</a:t>
                </a:r>
              </a:p>
            </p:txBody>
          </p:sp>
          <p:sp>
            <p:nvSpPr>
              <p:cNvPr id="19515" name="Rectangle 20">
                <a:extLst>
                  <a:ext uri="{FF2B5EF4-FFF2-40B4-BE49-F238E27FC236}">
                    <a16:creationId xmlns:a16="http://schemas.microsoft.com/office/drawing/2014/main" id="{58D04DB5-6F86-A9B5-F566-769FE64D5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95" y="1026"/>
                <a:ext cx="227" cy="227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9516" name="Rectangle 21">
                <a:extLst>
                  <a:ext uri="{FF2B5EF4-FFF2-40B4-BE49-F238E27FC236}">
                    <a16:creationId xmlns:a16="http://schemas.microsoft.com/office/drawing/2014/main" id="{CEF8F3AA-5500-C558-D10A-72338E66A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" y="709"/>
                <a:ext cx="227" cy="2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19517" name="AutoShape 22">
                <a:extLst>
                  <a:ext uri="{FF2B5EF4-FFF2-40B4-BE49-F238E27FC236}">
                    <a16:creationId xmlns:a16="http://schemas.microsoft.com/office/drawing/2014/main" id="{53BFDDAE-09A3-E308-084F-5A379693A654}"/>
                  </a:ext>
                </a:extLst>
              </p:cNvPr>
              <p:cNvCxnSpPr>
                <a:cxnSpLocks noChangeShapeType="1"/>
                <a:stCxn id="19515" idx="3"/>
                <a:endCxn id="19514" idx="2"/>
              </p:cNvCxnSpPr>
              <p:nvPr/>
            </p:nvCxnSpPr>
            <p:spPr bwMode="auto">
              <a:xfrm>
                <a:off x="-62" y="1140"/>
                <a:ext cx="150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518" name="AutoShape 23">
                <a:extLst>
                  <a:ext uri="{FF2B5EF4-FFF2-40B4-BE49-F238E27FC236}">
                    <a16:creationId xmlns:a16="http://schemas.microsoft.com/office/drawing/2014/main" id="{74F73C8A-33BA-F0A2-699A-498053340784}"/>
                  </a:ext>
                </a:extLst>
              </p:cNvPr>
              <p:cNvCxnSpPr>
                <a:cxnSpLocks noChangeShapeType="1"/>
                <a:stCxn id="19516" idx="2"/>
                <a:endCxn id="19514" idx="3"/>
              </p:cNvCxnSpPr>
              <p:nvPr/>
            </p:nvCxnSpPr>
            <p:spPr bwMode="auto">
              <a:xfrm>
                <a:off x="318" y="941"/>
                <a:ext cx="0" cy="7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9473" name="Group 86">
            <a:extLst>
              <a:ext uri="{FF2B5EF4-FFF2-40B4-BE49-F238E27FC236}">
                <a16:creationId xmlns:a16="http://schemas.microsoft.com/office/drawing/2014/main" id="{074D4BC0-75E8-43B2-35DD-0B14756FCD3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484313"/>
            <a:ext cx="3529013" cy="936625"/>
            <a:chOff x="2880" y="935"/>
            <a:chExt cx="2223" cy="590"/>
          </a:xfrm>
        </p:grpSpPr>
        <p:sp>
          <p:nvSpPr>
            <p:cNvPr id="19495" name="Rectangle 28">
              <a:extLst>
                <a:ext uri="{FF2B5EF4-FFF2-40B4-BE49-F238E27FC236}">
                  <a16:creationId xmlns:a16="http://schemas.microsoft.com/office/drawing/2014/main" id="{2D917B22-3A29-7F91-6CB8-59123602D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935"/>
              <a:ext cx="2223" cy="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496" name="AutoShape 30">
              <a:extLst>
                <a:ext uri="{FF2B5EF4-FFF2-40B4-BE49-F238E27FC236}">
                  <a16:creationId xmlns:a16="http://schemas.microsoft.com/office/drawing/2014/main" id="{4862D37D-61B6-740D-0F1A-ED24C1A9D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252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38 w 21600"/>
                <a:gd name="T13" fmla="*/ 2983 h 21600"/>
                <a:gd name="T14" fmla="*/ 18662 w 21600"/>
                <a:gd name="T15" fmla="*/ 186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51" y="21600"/>
                  </a:lnTo>
                  <a:lnTo>
                    <a:pt x="1934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19497" name="Rectangle 31">
              <a:extLst>
                <a:ext uri="{FF2B5EF4-FFF2-40B4-BE49-F238E27FC236}">
                  <a16:creationId xmlns:a16="http://schemas.microsoft.com/office/drawing/2014/main" id="{2D6E8C53-ECE9-55D8-3D16-87EE54036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6" y="1252"/>
              <a:ext cx="179" cy="17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b="1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19498" name="Rectangle 32">
              <a:extLst>
                <a:ext uri="{FF2B5EF4-FFF2-40B4-BE49-F238E27FC236}">
                  <a16:creationId xmlns:a16="http://schemas.microsoft.com/office/drawing/2014/main" id="{5C7DA88B-FC78-9E9A-C321-E0171C94C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980"/>
              <a:ext cx="180" cy="17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b="1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19499" name="AutoShape 42">
              <a:extLst>
                <a:ext uri="{FF2B5EF4-FFF2-40B4-BE49-F238E27FC236}">
                  <a16:creationId xmlns:a16="http://schemas.microsoft.com/office/drawing/2014/main" id="{850D0274-47CE-81B1-EFB2-A791AF82C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252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38 w 21600"/>
                <a:gd name="T13" fmla="*/ 2983 h 21600"/>
                <a:gd name="T14" fmla="*/ 18662 w 21600"/>
                <a:gd name="T15" fmla="*/ 186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51" y="21600"/>
                  </a:lnTo>
                  <a:lnTo>
                    <a:pt x="1934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19500" name="AutoShape 45">
              <a:extLst>
                <a:ext uri="{FF2B5EF4-FFF2-40B4-BE49-F238E27FC236}">
                  <a16:creationId xmlns:a16="http://schemas.microsoft.com/office/drawing/2014/main" id="{B2D5BA45-2094-E1BD-3C51-EA120126A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1252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38 w 21600"/>
                <a:gd name="T13" fmla="*/ 2983 h 21600"/>
                <a:gd name="T14" fmla="*/ 18662 w 21600"/>
                <a:gd name="T15" fmla="*/ 186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51" y="21600"/>
                  </a:lnTo>
                  <a:lnTo>
                    <a:pt x="1934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19501" name="AutoShape 48">
              <a:extLst>
                <a:ext uri="{FF2B5EF4-FFF2-40B4-BE49-F238E27FC236}">
                  <a16:creationId xmlns:a16="http://schemas.microsoft.com/office/drawing/2014/main" id="{FEADB15F-0FD6-7529-EDF7-DC5E4097F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252"/>
              <a:ext cx="272" cy="18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38 w 21600"/>
                <a:gd name="T13" fmla="*/ 2983 h 21600"/>
                <a:gd name="T14" fmla="*/ 18662 w 21600"/>
                <a:gd name="T15" fmla="*/ 186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51" y="21600"/>
                  </a:lnTo>
                  <a:lnTo>
                    <a:pt x="1934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Arial" panose="020B0604020202020204" pitchFamily="34" charset="0"/>
                </a:rPr>
                <a:t>ALU</a:t>
              </a:r>
            </a:p>
          </p:txBody>
        </p:sp>
        <p:cxnSp>
          <p:nvCxnSpPr>
            <p:cNvPr id="19502" name="AutoShape 33">
              <a:extLst>
                <a:ext uri="{FF2B5EF4-FFF2-40B4-BE49-F238E27FC236}">
                  <a16:creationId xmlns:a16="http://schemas.microsoft.com/office/drawing/2014/main" id="{6B72EC26-5A90-D313-8902-9AAFC645B9BE}"/>
                </a:ext>
              </a:extLst>
            </p:cNvPr>
            <p:cNvCxnSpPr>
              <a:cxnSpLocks noChangeShapeType="1"/>
              <a:stCxn id="19497" idx="3"/>
              <a:endCxn id="19511" idx="1"/>
            </p:cNvCxnSpPr>
            <p:nvPr/>
          </p:nvCxnSpPr>
          <p:spPr bwMode="auto">
            <a:xfrm>
              <a:off x="3141" y="1337"/>
              <a:ext cx="1372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3" name="AutoShape 34">
              <a:extLst>
                <a:ext uri="{FF2B5EF4-FFF2-40B4-BE49-F238E27FC236}">
                  <a16:creationId xmlns:a16="http://schemas.microsoft.com/office/drawing/2014/main" id="{F085E1FB-8E4C-3291-824F-4EF0B2422DE2}"/>
                </a:ext>
              </a:extLst>
            </p:cNvPr>
            <p:cNvCxnSpPr>
              <a:cxnSpLocks noChangeShapeType="1"/>
              <a:stCxn id="19498" idx="2"/>
              <a:endCxn id="19496" idx="3"/>
            </p:cNvCxnSpPr>
            <p:nvPr/>
          </p:nvCxnSpPr>
          <p:spPr bwMode="auto">
            <a:xfrm>
              <a:off x="3333" y="1156"/>
              <a:ext cx="1" cy="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4" name="Rectangle 43">
              <a:extLst>
                <a:ext uri="{FF2B5EF4-FFF2-40B4-BE49-F238E27FC236}">
                  <a16:creationId xmlns:a16="http://schemas.microsoft.com/office/drawing/2014/main" id="{3AE2566A-0F4C-04E9-24E9-3794EB73D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980"/>
              <a:ext cx="180" cy="17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b="1">
                  <a:latin typeface="Arial" panose="020B0604020202020204" pitchFamily="34" charset="0"/>
                </a:rPr>
                <a:t>D</a:t>
              </a:r>
            </a:p>
          </p:txBody>
        </p:sp>
        <p:cxnSp>
          <p:nvCxnSpPr>
            <p:cNvPr id="19505" name="AutoShape 44">
              <a:extLst>
                <a:ext uri="{FF2B5EF4-FFF2-40B4-BE49-F238E27FC236}">
                  <a16:creationId xmlns:a16="http://schemas.microsoft.com/office/drawing/2014/main" id="{1A0602D3-5092-7ADC-EA14-A0C1B5CB3852}"/>
                </a:ext>
              </a:extLst>
            </p:cNvPr>
            <p:cNvCxnSpPr>
              <a:cxnSpLocks noChangeShapeType="1"/>
              <a:stCxn id="19504" idx="2"/>
              <a:endCxn id="19499" idx="3"/>
            </p:cNvCxnSpPr>
            <p:nvPr/>
          </p:nvCxnSpPr>
          <p:spPr bwMode="auto">
            <a:xfrm>
              <a:off x="3650" y="1156"/>
              <a:ext cx="1" cy="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6" name="Rectangle 46">
              <a:extLst>
                <a:ext uri="{FF2B5EF4-FFF2-40B4-BE49-F238E27FC236}">
                  <a16:creationId xmlns:a16="http://schemas.microsoft.com/office/drawing/2014/main" id="{9F1D2B27-E245-2D4D-4D01-FD4CC6603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980"/>
              <a:ext cx="180" cy="17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b="1">
                  <a:latin typeface="Arial" panose="020B0604020202020204" pitchFamily="34" charset="0"/>
                </a:rPr>
                <a:t>D</a:t>
              </a:r>
            </a:p>
          </p:txBody>
        </p:sp>
        <p:cxnSp>
          <p:nvCxnSpPr>
            <p:cNvPr id="19507" name="AutoShape 47">
              <a:extLst>
                <a:ext uri="{FF2B5EF4-FFF2-40B4-BE49-F238E27FC236}">
                  <a16:creationId xmlns:a16="http://schemas.microsoft.com/office/drawing/2014/main" id="{0A1EFA55-7189-C904-6A96-E750AB5722A5}"/>
                </a:ext>
              </a:extLst>
            </p:cNvPr>
            <p:cNvCxnSpPr>
              <a:cxnSpLocks noChangeShapeType="1"/>
              <a:stCxn id="19506" idx="2"/>
              <a:endCxn id="19500" idx="3"/>
            </p:cNvCxnSpPr>
            <p:nvPr/>
          </p:nvCxnSpPr>
          <p:spPr bwMode="auto">
            <a:xfrm>
              <a:off x="3968" y="1156"/>
              <a:ext cx="1" cy="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8" name="Rectangle 49">
              <a:extLst>
                <a:ext uri="{FF2B5EF4-FFF2-40B4-BE49-F238E27FC236}">
                  <a16:creationId xmlns:a16="http://schemas.microsoft.com/office/drawing/2014/main" id="{CA5BBB1D-5C2A-2583-967B-A0454A6D4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980"/>
              <a:ext cx="180" cy="17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b="1">
                  <a:latin typeface="Arial" panose="020B0604020202020204" pitchFamily="34" charset="0"/>
                </a:rPr>
                <a:t>D</a:t>
              </a:r>
            </a:p>
          </p:txBody>
        </p:sp>
        <p:cxnSp>
          <p:nvCxnSpPr>
            <p:cNvPr id="19509" name="AutoShape 50">
              <a:extLst>
                <a:ext uri="{FF2B5EF4-FFF2-40B4-BE49-F238E27FC236}">
                  <a16:creationId xmlns:a16="http://schemas.microsoft.com/office/drawing/2014/main" id="{3B413688-6C54-155F-BB5D-867934533C3D}"/>
                </a:ext>
              </a:extLst>
            </p:cNvPr>
            <p:cNvCxnSpPr>
              <a:cxnSpLocks noChangeShapeType="1"/>
              <a:stCxn id="19508" idx="2"/>
              <a:endCxn id="19501" idx="3"/>
            </p:cNvCxnSpPr>
            <p:nvPr/>
          </p:nvCxnSpPr>
          <p:spPr bwMode="auto">
            <a:xfrm>
              <a:off x="4285" y="1156"/>
              <a:ext cx="1" cy="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10" name="Line 51">
              <a:extLst>
                <a:ext uri="{FF2B5EF4-FFF2-40B4-BE49-F238E27FC236}">
                  <a16:creationId xmlns:a16="http://schemas.microsoft.com/office/drawing/2014/main" id="{723C8F76-FCE0-75D1-423D-0A25341E3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252"/>
              <a:ext cx="318" cy="0"/>
            </a:xfrm>
            <a:prstGeom prst="line">
              <a:avLst/>
            </a:prstGeom>
            <a:noFill/>
            <a:ln w="762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Rectangle 53">
              <a:extLst>
                <a:ext uri="{FF2B5EF4-FFF2-40B4-BE49-F238E27FC236}">
                  <a16:creationId xmlns:a16="http://schemas.microsoft.com/office/drawing/2014/main" id="{A7C5E0C0-148B-EE1B-FB3E-A07E0616F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1252"/>
              <a:ext cx="36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</p:grpSp>
      <p:grpSp>
        <p:nvGrpSpPr>
          <p:cNvPr id="19474" name="Group 87">
            <a:extLst>
              <a:ext uri="{FF2B5EF4-FFF2-40B4-BE49-F238E27FC236}">
                <a16:creationId xmlns:a16="http://schemas.microsoft.com/office/drawing/2014/main" id="{BB150237-BE05-FC83-9E1E-3F2A44BBA36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708275"/>
            <a:ext cx="3529013" cy="936625"/>
            <a:chOff x="2653" y="4564"/>
            <a:chExt cx="2223" cy="590"/>
          </a:xfrm>
        </p:grpSpPr>
        <p:sp>
          <p:nvSpPr>
            <p:cNvPr id="19475" name="Rectangle 56">
              <a:extLst>
                <a:ext uri="{FF2B5EF4-FFF2-40B4-BE49-F238E27FC236}">
                  <a16:creationId xmlns:a16="http://schemas.microsoft.com/office/drawing/2014/main" id="{AEE66655-8601-CB00-2FEE-D1E4ACE05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4564"/>
              <a:ext cx="2223" cy="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grpSp>
          <p:nvGrpSpPr>
            <p:cNvPr id="19476" name="Group 73">
              <a:extLst>
                <a:ext uri="{FF2B5EF4-FFF2-40B4-BE49-F238E27FC236}">
                  <a16:creationId xmlns:a16="http://schemas.microsoft.com/office/drawing/2014/main" id="{50E27A37-4D56-D320-549A-21BB34304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9" y="4609"/>
              <a:ext cx="514" cy="453"/>
              <a:chOff x="2729" y="4609"/>
              <a:chExt cx="514" cy="453"/>
            </a:xfrm>
          </p:grpSpPr>
          <p:sp>
            <p:nvSpPr>
              <p:cNvPr id="19490" name="AutoShape 57">
                <a:extLst>
                  <a:ext uri="{FF2B5EF4-FFF2-40B4-BE49-F238E27FC236}">
                    <a16:creationId xmlns:a16="http://schemas.microsoft.com/office/drawing/2014/main" id="{5D309BCF-BC62-8214-6B67-7F4E4FBF6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4881"/>
                <a:ext cx="272" cy="18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938 w 21600"/>
                  <a:gd name="T13" fmla="*/ 2983 h 21600"/>
                  <a:gd name="T14" fmla="*/ 18662 w 21600"/>
                  <a:gd name="T15" fmla="*/ 1861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251" y="21600"/>
                    </a:lnTo>
                    <a:lnTo>
                      <a:pt x="1934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>
                    <a:latin typeface="Arial" panose="020B0604020202020204" pitchFamily="34" charset="0"/>
                  </a:rPr>
                  <a:t>ALU</a:t>
                </a:r>
              </a:p>
            </p:txBody>
          </p:sp>
          <p:sp>
            <p:nvSpPr>
              <p:cNvPr id="19491" name="Rectangle 58">
                <a:extLst>
                  <a:ext uri="{FF2B5EF4-FFF2-40B4-BE49-F238E27FC236}">
                    <a16:creationId xmlns:a16="http://schemas.microsoft.com/office/drawing/2014/main" id="{886579EA-6DEB-A7B9-6658-C249D111D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9" y="4881"/>
                <a:ext cx="179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9492" name="Rectangle 59">
                <a:extLst>
                  <a:ext uri="{FF2B5EF4-FFF2-40B4-BE49-F238E27FC236}">
                    <a16:creationId xmlns:a16="http://schemas.microsoft.com/office/drawing/2014/main" id="{EC547514-B812-33EA-B28A-76A0F3759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4609"/>
                <a:ext cx="180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19493" name="AutoShape 63">
                <a:extLst>
                  <a:ext uri="{FF2B5EF4-FFF2-40B4-BE49-F238E27FC236}">
                    <a16:creationId xmlns:a16="http://schemas.microsoft.com/office/drawing/2014/main" id="{BB9BB092-2304-58E2-E159-8D89752A8B47}"/>
                  </a:ext>
                </a:extLst>
              </p:cNvPr>
              <p:cNvCxnSpPr>
                <a:cxnSpLocks noChangeShapeType="1"/>
                <a:stCxn id="19491" idx="3"/>
                <a:endCxn id="19490" idx="2"/>
              </p:cNvCxnSpPr>
              <p:nvPr/>
            </p:nvCxnSpPr>
            <p:spPr bwMode="auto">
              <a:xfrm>
                <a:off x="2914" y="4966"/>
                <a:ext cx="65" cy="6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94" name="AutoShape 64">
                <a:extLst>
                  <a:ext uri="{FF2B5EF4-FFF2-40B4-BE49-F238E27FC236}">
                    <a16:creationId xmlns:a16="http://schemas.microsoft.com/office/drawing/2014/main" id="{D6873017-8FEF-7EC5-581C-429E0A3D63BA}"/>
                  </a:ext>
                </a:extLst>
              </p:cNvPr>
              <p:cNvCxnSpPr>
                <a:cxnSpLocks noChangeShapeType="1"/>
                <a:stCxn id="19492" idx="2"/>
                <a:endCxn id="19490" idx="3"/>
              </p:cNvCxnSpPr>
              <p:nvPr/>
            </p:nvCxnSpPr>
            <p:spPr bwMode="auto">
              <a:xfrm>
                <a:off x="3106" y="4785"/>
                <a:ext cx="1" cy="9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9477" name="Line 71">
              <a:extLst>
                <a:ext uri="{FF2B5EF4-FFF2-40B4-BE49-F238E27FC236}">
                  <a16:creationId xmlns:a16="http://schemas.microsoft.com/office/drawing/2014/main" id="{C2407838-FA91-A896-3B3D-FAA34D6F3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4882"/>
              <a:ext cx="318" cy="0"/>
            </a:xfrm>
            <a:prstGeom prst="line">
              <a:avLst/>
            </a:prstGeom>
            <a:noFill/>
            <a:ln w="762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478" name="Group 74">
              <a:extLst>
                <a:ext uri="{FF2B5EF4-FFF2-40B4-BE49-F238E27FC236}">
                  <a16:creationId xmlns:a16="http://schemas.microsoft.com/office/drawing/2014/main" id="{19B79378-1D2C-9333-653C-CCCC1A50C1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4" y="4609"/>
              <a:ext cx="514" cy="453"/>
              <a:chOff x="2729" y="4609"/>
              <a:chExt cx="514" cy="453"/>
            </a:xfrm>
          </p:grpSpPr>
          <p:sp>
            <p:nvSpPr>
              <p:cNvPr id="19485" name="AutoShape 75">
                <a:extLst>
                  <a:ext uri="{FF2B5EF4-FFF2-40B4-BE49-F238E27FC236}">
                    <a16:creationId xmlns:a16="http://schemas.microsoft.com/office/drawing/2014/main" id="{159BAED2-1FF2-F306-EA11-336EC896B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4881"/>
                <a:ext cx="272" cy="18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938 w 21600"/>
                  <a:gd name="T13" fmla="*/ 2983 h 21600"/>
                  <a:gd name="T14" fmla="*/ 18662 w 21600"/>
                  <a:gd name="T15" fmla="*/ 1861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251" y="21600"/>
                    </a:lnTo>
                    <a:lnTo>
                      <a:pt x="1934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>
                    <a:latin typeface="Arial" panose="020B0604020202020204" pitchFamily="34" charset="0"/>
                  </a:rPr>
                  <a:t>ALU</a:t>
                </a:r>
              </a:p>
            </p:txBody>
          </p:sp>
          <p:sp>
            <p:nvSpPr>
              <p:cNvPr id="19486" name="Rectangle 76">
                <a:extLst>
                  <a:ext uri="{FF2B5EF4-FFF2-40B4-BE49-F238E27FC236}">
                    <a16:creationId xmlns:a16="http://schemas.microsoft.com/office/drawing/2014/main" id="{B080DC5C-F229-90F0-AABD-07874FC63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9" y="4881"/>
                <a:ext cx="179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9487" name="Rectangle 77">
                <a:extLst>
                  <a:ext uri="{FF2B5EF4-FFF2-40B4-BE49-F238E27FC236}">
                    <a16:creationId xmlns:a16="http://schemas.microsoft.com/office/drawing/2014/main" id="{AF60411A-DCF8-CABE-9D82-8E0453EED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4609"/>
                <a:ext cx="180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19488" name="AutoShape 78">
                <a:extLst>
                  <a:ext uri="{FF2B5EF4-FFF2-40B4-BE49-F238E27FC236}">
                    <a16:creationId xmlns:a16="http://schemas.microsoft.com/office/drawing/2014/main" id="{6048103C-19C9-380B-F6E9-5AFFA783ECB6}"/>
                  </a:ext>
                </a:extLst>
              </p:cNvPr>
              <p:cNvCxnSpPr>
                <a:cxnSpLocks noChangeShapeType="1"/>
                <a:stCxn id="19486" idx="3"/>
                <a:endCxn id="19485" idx="2"/>
              </p:cNvCxnSpPr>
              <p:nvPr/>
            </p:nvCxnSpPr>
            <p:spPr bwMode="auto">
              <a:xfrm>
                <a:off x="2914" y="4966"/>
                <a:ext cx="65" cy="6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89" name="AutoShape 79">
                <a:extLst>
                  <a:ext uri="{FF2B5EF4-FFF2-40B4-BE49-F238E27FC236}">
                    <a16:creationId xmlns:a16="http://schemas.microsoft.com/office/drawing/2014/main" id="{C7AEEB6D-D256-92C8-A41E-B97F30FAD122}"/>
                  </a:ext>
                </a:extLst>
              </p:cNvPr>
              <p:cNvCxnSpPr>
                <a:cxnSpLocks noChangeShapeType="1"/>
                <a:stCxn id="19487" idx="2"/>
                <a:endCxn id="19485" idx="3"/>
              </p:cNvCxnSpPr>
              <p:nvPr/>
            </p:nvCxnSpPr>
            <p:spPr bwMode="auto">
              <a:xfrm>
                <a:off x="3106" y="4785"/>
                <a:ext cx="1" cy="9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479" name="Group 80">
              <a:extLst>
                <a:ext uri="{FF2B5EF4-FFF2-40B4-BE49-F238E27FC236}">
                  <a16:creationId xmlns:a16="http://schemas.microsoft.com/office/drawing/2014/main" id="{1BB63073-F614-D459-CCC3-452854CF97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4609"/>
              <a:ext cx="514" cy="453"/>
              <a:chOff x="2729" y="4609"/>
              <a:chExt cx="514" cy="453"/>
            </a:xfrm>
          </p:grpSpPr>
          <p:sp>
            <p:nvSpPr>
              <p:cNvPr id="19480" name="AutoShape 81">
                <a:extLst>
                  <a:ext uri="{FF2B5EF4-FFF2-40B4-BE49-F238E27FC236}">
                    <a16:creationId xmlns:a16="http://schemas.microsoft.com/office/drawing/2014/main" id="{3AB1B3AE-3E0E-D384-CE6A-92BD6766D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4881"/>
                <a:ext cx="272" cy="18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938 w 21600"/>
                  <a:gd name="T13" fmla="*/ 2983 h 21600"/>
                  <a:gd name="T14" fmla="*/ 18662 w 21600"/>
                  <a:gd name="T15" fmla="*/ 1861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251" y="21600"/>
                    </a:lnTo>
                    <a:lnTo>
                      <a:pt x="1934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>
                    <a:latin typeface="Arial" panose="020B0604020202020204" pitchFamily="34" charset="0"/>
                  </a:rPr>
                  <a:t>ALU</a:t>
                </a:r>
              </a:p>
            </p:txBody>
          </p:sp>
          <p:sp>
            <p:nvSpPr>
              <p:cNvPr id="19481" name="Rectangle 82">
                <a:extLst>
                  <a:ext uri="{FF2B5EF4-FFF2-40B4-BE49-F238E27FC236}">
                    <a16:creationId xmlns:a16="http://schemas.microsoft.com/office/drawing/2014/main" id="{0313AC80-C754-57BD-3076-4EEA6392B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9" y="4881"/>
                <a:ext cx="179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9482" name="Rectangle 83">
                <a:extLst>
                  <a:ext uri="{FF2B5EF4-FFF2-40B4-BE49-F238E27FC236}">
                    <a16:creationId xmlns:a16="http://schemas.microsoft.com/office/drawing/2014/main" id="{8D3A645F-629F-F9AA-C8E9-16E428D3F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4609"/>
                <a:ext cx="180" cy="17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-106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 b="1">
                    <a:latin typeface="Arial" panose="020B0604020202020204" pitchFamily="34" charset="0"/>
                  </a:rPr>
                  <a:t>D</a:t>
                </a:r>
              </a:p>
            </p:txBody>
          </p:sp>
          <p:cxnSp>
            <p:nvCxnSpPr>
              <p:cNvPr id="19483" name="AutoShape 84">
                <a:extLst>
                  <a:ext uri="{FF2B5EF4-FFF2-40B4-BE49-F238E27FC236}">
                    <a16:creationId xmlns:a16="http://schemas.microsoft.com/office/drawing/2014/main" id="{06217F50-0534-9FB3-202F-D6D4930DDEAD}"/>
                  </a:ext>
                </a:extLst>
              </p:cNvPr>
              <p:cNvCxnSpPr>
                <a:cxnSpLocks noChangeShapeType="1"/>
                <a:stCxn id="19481" idx="3"/>
                <a:endCxn id="19480" idx="2"/>
              </p:cNvCxnSpPr>
              <p:nvPr/>
            </p:nvCxnSpPr>
            <p:spPr bwMode="auto">
              <a:xfrm>
                <a:off x="2914" y="4966"/>
                <a:ext cx="65" cy="6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84" name="AutoShape 85">
                <a:extLst>
                  <a:ext uri="{FF2B5EF4-FFF2-40B4-BE49-F238E27FC236}">
                    <a16:creationId xmlns:a16="http://schemas.microsoft.com/office/drawing/2014/main" id="{7FE48107-4622-FD1A-19A9-57C58370A4CA}"/>
                  </a:ext>
                </a:extLst>
              </p:cNvPr>
              <p:cNvCxnSpPr>
                <a:cxnSpLocks noChangeShapeType="1"/>
                <a:stCxn id="19482" idx="2"/>
                <a:endCxn id="19480" idx="3"/>
              </p:cNvCxnSpPr>
              <p:nvPr/>
            </p:nvCxnSpPr>
            <p:spPr bwMode="auto">
              <a:xfrm>
                <a:off x="3106" y="4785"/>
                <a:ext cx="1" cy="9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164246C8-FF55-9071-2CB6-D333C42A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fld id="{70DD7ECF-43FD-BF46-BF31-938C4C8B107B}" type="slidenum">
              <a:rPr lang="en-US" altLang="en-US" sz="1400">
                <a:latin typeface="Arial  " charset="0"/>
              </a:rPr>
              <a:pPr/>
              <a:t>10</a:t>
            </a:fld>
            <a:r>
              <a:rPr lang="en-US" altLang="en-US" sz="1400">
                <a:latin typeface="Arial  " charset="0"/>
              </a:rPr>
              <a:t> </a:t>
            </a:r>
            <a:endParaRPr lang="en-US" altLang="en-US" sz="1400"/>
          </a:p>
        </p:txBody>
      </p:sp>
      <p:sp>
        <p:nvSpPr>
          <p:cNvPr id="20483" name="Title 1">
            <a:extLst>
              <a:ext uri="{FF2B5EF4-FFF2-40B4-BE49-F238E27FC236}">
                <a16:creationId xmlns:a16="http://schemas.microsoft.com/office/drawing/2014/main" id="{71EA64EB-453F-6552-4AF2-605173B0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927100"/>
          </a:xfrm>
        </p:spPr>
        <p:txBody>
          <a:bodyPr/>
          <a:lstStyle/>
          <a:p>
            <a:r>
              <a:rPr lang="en-CA" altLang="en-US">
                <a:latin typeface="Arial  " charset="0"/>
                <a:ea typeface="ＭＳ Ｐゴシック" panose="020B0600070205080204" pitchFamily="34" charset="-128"/>
                <a:cs typeface="Arial  " charset="0"/>
              </a:rPr>
              <a:t>SIMD: Operation on Vectors</a:t>
            </a:r>
          </a:p>
        </p:txBody>
      </p:sp>
      <p:sp>
        <p:nvSpPr>
          <p:cNvPr id="20484" name="Content Placeholder 2">
            <a:extLst>
              <a:ext uri="{FF2B5EF4-FFF2-40B4-BE49-F238E27FC236}">
                <a16:creationId xmlns:a16="http://schemas.microsoft.com/office/drawing/2014/main" id="{BC23C982-AE9E-A65E-B390-D61677A3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3838"/>
            <a:ext cx="7772400" cy="4881562"/>
          </a:xfrm>
        </p:spPr>
        <p:txBody>
          <a:bodyPr/>
          <a:lstStyle/>
          <a:p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SIMD architectures operate on “vectors” of data.</a:t>
            </a:r>
          </a:p>
          <a:p>
            <a:endParaRPr lang="en-CA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Consider the calculation Z = X + Y, where X, Y and Z are vectors:</a:t>
            </a:r>
          </a:p>
          <a:p>
            <a:pPr lvl="1"/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X = (x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0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, 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, … 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n-1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) and Y = (y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0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, 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, … 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n-1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)</a:t>
            </a:r>
          </a:p>
          <a:p>
            <a:pPr lvl="1"/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Z = (x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0 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+ 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0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 , 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1 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+ 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 , … , x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n-1 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+ y</a:t>
            </a:r>
            <a:r>
              <a:rPr lang="en-CA" altLang="en-US" sz="2000" baseline="-25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n-1</a:t>
            </a:r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 )</a:t>
            </a:r>
          </a:p>
          <a:p>
            <a:pPr>
              <a:buFontTx/>
              <a:buNone/>
            </a:pPr>
            <a:endParaRPr lang="en-CA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SIMD uses vector registers each holding multiple numbers.  </a:t>
            </a:r>
          </a:p>
          <a:p>
            <a:endParaRPr lang="en-CA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r>
              <a:rPr lang="en-CA" altLang="en-US" sz="2000">
                <a:latin typeface="Arial  " charset="0"/>
                <a:ea typeface="ＭＳ Ｐゴシック" panose="020B0600070205080204" pitchFamily="34" charset="-128"/>
                <a:cs typeface="Arial  " charset="0"/>
              </a:rPr>
              <a:t>Operate on entire vector register at once.</a:t>
            </a:r>
          </a:p>
          <a:p>
            <a:endParaRPr lang="en-CA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  <a:p>
            <a:endParaRPr lang="en-CA" altLang="en-US" sz="2000">
              <a:latin typeface="Arial  " charset="0"/>
              <a:ea typeface="ＭＳ Ｐゴシック" panose="020B0600070205080204" pitchFamily="34" charset="-128"/>
              <a:cs typeface="Arial  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CBDC9E42-8E1F-55CF-5E60-47635084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fld id="{B973D0DA-8F4F-C04E-916A-47EA62750C03}" type="slidenum">
              <a:rPr lang="en-US" altLang="en-US" sz="1400">
                <a:latin typeface="Arial  " charset="0"/>
              </a:rPr>
              <a:pPr/>
              <a:t>11</a:t>
            </a:fld>
            <a:r>
              <a:rPr lang="en-US" altLang="en-US" sz="1400">
                <a:latin typeface="Arial  " charset="0"/>
              </a:rPr>
              <a:t> </a:t>
            </a:r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AE6C02B-FF11-CD86-5AA8-1A6EAFAA2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0"/>
            <a:ext cx="716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3200" b="1">
                <a:solidFill>
                  <a:schemeClr val="tx2"/>
                </a:solidFill>
                <a:latin typeface="Arial" panose="020B0604020202020204" pitchFamily="34" charset="0"/>
              </a:rPr>
              <a:t>Example: Z = X + Y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8AB53F7C-210F-DB0B-E3D3-BBB8F84FE4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5051425"/>
            <a:ext cx="3878263" cy="4619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ECCFEF46-C26B-65EE-AA46-7193D41282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4189413"/>
            <a:ext cx="3878263" cy="4619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9A0F4AE5-46A3-1D53-D8CD-ED726B34CD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4405313"/>
            <a:ext cx="3878263" cy="4619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1511" name="Group 7">
            <a:extLst>
              <a:ext uri="{FF2B5EF4-FFF2-40B4-BE49-F238E27FC236}">
                <a16:creationId xmlns:a16="http://schemas.microsoft.com/office/drawing/2014/main" id="{2FA062B2-A6E4-1D36-08E0-29674B6673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32250" y="5051425"/>
            <a:ext cx="3232150" cy="461963"/>
            <a:chOff x="1824" y="2797"/>
            <a:chExt cx="2160" cy="310"/>
          </a:xfrm>
        </p:grpSpPr>
        <p:sp>
          <p:nvSpPr>
            <p:cNvPr id="21561" name="Rectangle 8">
              <a:extLst>
                <a:ext uri="{FF2B5EF4-FFF2-40B4-BE49-F238E27FC236}">
                  <a16:creationId xmlns:a16="http://schemas.microsoft.com/office/drawing/2014/main" id="{45001A82-A91E-DB9D-4F0F-EBD6AF568A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4" y="2797"/>
              <a:ext cx="432" cy="3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2" name="Rectangle 9">
              <a:extLst>
                <a:ext uri="{FF2B5EF4-FFF2-40B4-BE49-F238E27FC236}">
                  <a16:creationId xmlns:a16="http://schemas.microsoft.com/office/drawing/2014/main" id="{9D6EEC7C-B8CC-0416-33BD-CD7AAFD42D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56" y="2797"/>
              <a:ext cx="432" cy="3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3" name="Rectangle 10">
              <a:extLst>
                <a:ext uri="{FF2B5EF4-FFF2-40B4-BE49-F238E27FC236}">
                  <a16:creationId xmlns:a16="http://schemas.microsoft.com/office/drawing/2014/main" id="{52CA1160-6002-D365-833A-A15446FDC3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797"/>
              <a:ext cx="432" cy="3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4" name="Rectangle 11">
              <a:extLst>
                <a:ext uri="{FF2B5EF4-FFF2-40B4-BE49-F238E27FC236}">
                  <a16:creationId xmlns:a16="http://schemas.microsoft.com/office/drawing/2014/main" id="{CE5389EF-1F6A-3AE3-63E4-D9F4CE88BB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0" y="2797"/>
              <a:ext cx="432" cy="3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65" name="Rectangle 12">
              <a:extLst>
                <a:ext uri="{FF2B5EF4-FFF2-40B4-BE49-F238E27FC236}">
                  <a16:creationId xmlns:a16="http://schemas.microsoft.com/office/drawing/2014/main" id="{FAF7193F-8727-BB0B-9F12-C42CD87DE4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52" y="2797"/>
              <a:ext cx="432" cy="3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1512" name="Rectangle 13">
            <a:extLst>
              <a:ext uri="{FF2B5EF4-FFF2-40B4-BE49-F238E27FC236}">
                <a16:creationId xmlns:a16="http://schemas.microsoft.com/office/drawing/2014/main" id="{611CEE33-93D1-B239-1124-1128D95A0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4400" y="5051425"/>
            <a:ext cx="646113" cy="46196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3" name="Rectangle 14">
            <a:extLst>
              <a:ext uri="{FF2B5EF4-FFF2-40B4-BE49-F238E27FC236}">
                <a16:creationId xmlns:a16="http://schemas.microsoft.com/office/drawing/2014/main" id="{D6C4B5E0-DD75-0007-D494-6E33631B35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44053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4" name="Rectangle 15">
            <a:extLst>
              <a:ext uri="{FF2B5EF4-FFF2-40B4-BE49-F238E27FC236}">
                <a16:creationId xmlns:a16="http://schemas.microsoft.com/office/drawing/2014/main" id="{1617D3FD-223D-FD42-A4EB-E6AD040F72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78363" y="4405313"/>
            <a:ext cx="646112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5" name="Rectangle 16">
            <a:extLst>
              <a:ext uri="{FF2B5EF4-FFF2-40B4-BE49-F238E27FC236}">
                <a16:creationId xmlns:a16="http://schemas.microsoft.com/office/drawing/2014/main" id="{BE5BDF98-479B-A563-C64F-CF8A7A5493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4475" y="4405313"/>
            <a:ext cx="647700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6" name="Rectangle 17">
            <a:extLst>
              <a:ext uri="{FF2B5EF4-FFF2-40B4-BE49-F238E27FC236}">
                <a16:creationId xmlns:a16="http://schemas.microsoft.com/office/drawing/2014/main" id="{77080A32-6002-6174-E46A-BE314B4A02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2175" y="44053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7" name="Rectangle 18">
            <a:extLst>
              <a:ext uri="{FF2B5EF4-FFF2-40B4-BE49-F238E27FC236}">
                <a16:creationId xmlns:a16="http://schemas.microsoft.com/office/drawing/2014/main" id="{BCDE9E21-32A5-9F64-6E68-779BF6C5EF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8288" y="4405313"/>
            <a:ext cx="646112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8" name="Rectangle 19">
            <a:extLst>
              <a:ext uri="{FF2B5EF4-FFF2-40B4-BE49-F238E27FC236}">
                <a16:creationId xmlns:a16="http://schemas.microsoft.com/office/drawing/2014/main" id="{81719D20-7FBD-5DA0-8F83-353F84410F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4400" y="44053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9" name="Rectangle 20">
            <a:extLst>
              <a:ext uri="{FF2B5EF4-FFF2-40B4-BE49-F238E27FC236}">
                <a16:creationId xmlns:a16="http://schemas.microsoft.com/office/drawing/2014/main" id="{D0E8B7C4-B586-37D0-E06A-310A8FD0E4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2250" y="41894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20" name="Rectangle 21">
            <a:extLst>
              <a:ext uri="{FF2B5EF4-FFF2-40B4-BE49-F238E27FC236}">
                <a16:creationId xmlns:a16="http://schemas.microsoft.com/office/drawing/2014/main" id="{E1B7F9A6-B0EC-5E07-D9D1-B85FCAF159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78363" y="4189413"/>
            <a:ext cx="646112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21" name="Rectangle 22">
            <a:extLst>
              <a:ext uri="{FF2B5EF4-FFF2-40B4-BE49-F238E27FC236}">
                <a16:creationId xmlns:a16="http://schemas.microsoft.com/office/drawing/2014/main" id="{2948AC35-CD6A-CA15-8CC2-EEE8083DA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4475" y="4189413"/>
            <a:ext cx="647700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22" name="Rectangle 23">
            <a:extLst>
              <a:ext uri="{FF2B5EF4-FFF2-40B4-BE49-F238E27FC236}">
                <a16:creationId xmlns:a16="http://schemas.microsoft.com/office/drawing/2014/main" id="{BC208EB5-7593-DE4E-99B4-D78A14612C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2175" y="41894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23" name="Rectangle 24">
            <a:extLst>
              <a:ext uri="{FF2B5EF4-FFF2-40B4-BE49-F238E27FC236}">
                <a16:creationId xmlns:a16="http://schemas.microsoft.com/office/drawing/2014/main" id="{71D15C02-D913-E87B-8F30-37925CDCCD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8288" y="4189413"/>
            <a:ext cx="646112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24" name="Rectangle 25">
            <a:extLst>
              <a:ext uri="{FF2B5EF4-FFF2-40B4-BE49-F238E27FC236}">
                <a16:creationId xmlns:a16="http://schemas.microsoft.com/office/drawing/2014/main" id="{0836B636-CBD3-8DDA-BBC2-A9ACBBDC44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4400" y="4189413"/>
            <a:ext cx="646113" cy="46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1525" name="Group 26">
            <a:extLst>
              <a:ext uri="{FF2B5EF4-FFF2-40B4-BE49-F238E27FC236}">
                <a16:creationId xmlns:a16="http://schemas.microsoft.com/office/drawing/2014/main" id="{18E4E35F-2FD8-819F-7DAA-1505C589AD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48150" y="4456113"/>
            <a:ext cx="287338" cy="790575"/>
            <a:chOff x="1968" y="2400"/>
            <a:chExt cx="192" cy="528"/>
          </a:xfrm>
        </p:grpSpPr>
        <p:sp>
          <p:nvSpPr>
            <p:cNvPr id="21557" name="Oval 27">
              <a:extLst>
                <a:ext uri="{FF2B5EF4-FFF2-40B4-BE49-F238E27FC236}">
                  <a16:creationId xmlns:a16="http://schemas.microsoft.com/office/drawing/2014/main" id="{2D153D8E-772C-7F6E-E611-2AFC31930B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58" name="Line 28">
              <a:extLst>
                <a:ext uri="{FF2B5EF4-FFF2-40B4-BE49-F238E27FC236}">
                  <a16:creationId xmlns:a16="http://schemas.microsoft.com/office/drawing/2014/main" id="{AC08CEE5-4E22-E7BB-9349-16842220F8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59" name="Line 29">
              <a:extLst>
                <a:ext uri="{FF2B5EF4-FFF2-40B4-BE49-F238E27FC236}">
                  <a16:creationId xmlns:a16="http://schemas.microsoft.com/office/drawing/2014/main" id="{8DDF1D2E-5F75-16A4-8F58-B4BFD4B1F2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60" name="Line 30">
              <a:extLst>
                <a:ext uri="{FF2B5EF4-FFF2-40B4-BE49-F238E27FC236}">
                  <a16:creationId xmlns:a16="http://schemas.microsoft.com/office/drawing/2014/main" id="{F98AEBD6-9502-8E90-CD5B-70A16D5256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26" name="Group 31">
            <a:extLst>
              <a:ext uri="{FF2B5EF4-FFF2-40B4-BE49-F238E27FC236}">
                <a16:creationId xmlns:a16="http://schemas.microsoft.com/office/drawing/2014/main" id="{49118270-4840-2E00-42EB-1C5D1058F2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94263" y="4456113"/>
            <a:ext cx="287337" cy="790575"/>
            <a:chOff x="1968" y="2400"/>
            <a:chExt cx="192" cy="528"/>
          </a:xfrm>
        </p:grpSpPr>
        <p:sp>
          <p:nvSpPr>
            <p:cNvPr id="21553" name="Oval 32">
              <a:extLst>
                <a:ext uri="{FF2B5EF4-FFF2-40B4-BE49-F238E27FC236}">
                  <a16:creationId xmlns:a16="http://schemas.microsoft.com/office/drawing/2014/main" id="{F7745483-889E-4913-1B4C-F4251EAB02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54" name="Line 33">
              <a:extLst>
                <a:ext uri="{FF2B5EF4-FFF2-40B4-BE49-F238E27FC236}">
                  <a16:creationId xmlns:a16="http://schemas.microsoft.com/office/drawing/2014/main" id="{EC6A63FA-CE58-24E8-48BB-C33F954370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55" name="Line 34">
              <a:extLst>
                <a:ext uri="{FF2B5EF4-FFF2-40B4-BE49-F238E27FC236}">
                  <a16:creationId xmlns:a16="http://schemas.microsoft.com/office/drawing/2014/main" id="{8732C20B-2695-AEC5-6893-5E814CC919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56" name="Line 35">
              <a:extLst>
                <a:ext uri="{FF2B5EF4-FFF2-40B4-BE49-F238E27FC236}">
                  <a16:creationId xmlns:a16="http://schemas.microsoft.com/office/drawing/2014/main" id="{EB17FA70-95E6-AB16-93BF-AB32A79903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27" name="Group 36">
            <a:extLst>
              <a:ext uri="{FF2B5EF4-FFF2-40B4-BE49-F238E27FC236}">
                <a16:creationId xmlns:a16="http://schemas.microsoft.com/office/drawing/2014/main" id="{F6E87B98-5043-1A68-AA97-9AF1181983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40375" y="4456113"/>
            <a:ext cx="287338" cy="790575"/>
            <a:chOff x="1968" y="2400"/>
            <a:chExt cx="192" cy="528"/>
          </a:xfrm>
        </p:grpSpPr>
        <p:sp>
          <p:nvSpPr>
            <p:cNvPr id="21549" name="Oval 37">
              <a:extLst>
                <a:ext uri="{FF2B5EF4-FFF2-40B4-BE49-F238E27FC236}">
                  <a16:creationId xmlns:a16="http://schemas.microsoft.com/office/drawing/2014/main" id="{B0F1A0D7-0CA2-06EC-E847-1A3F70348B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50" name="Line 38">
              <a:extLst>
                <a:ext uri="{FF2B5EF4-FFF2-40B4-BE49-F238E27FC236}">
                  <a16:creationId xmlns:a16="http://schemas.microsoft.com/office/drawing/2014/main" id="{C6B85D42-000A-336A-6A2D-1477240C4D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51" name="Line 39">
              <a:extLst>
                <a:ext uri="{FF2B5EF4-FFF2-40B4-BE49-F238E27FC236}">
                  <a16:creationId xmlns:a16="http://schemas.microsoft.com/office/drawing/2014/main" id="{96EB0427-6FD1-5322-C353-41F439DE73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52" name="Line 40">
              <a:extLst>
                <a:ext uri="{FF2B5EF4-FFF2-40B4-BE49-F238E27FC236}">
                  <a16:creationId xmlns:a16="http://schemas.microsoft.com/office/drawing/2014/main" id="{83E9831A-6F5B-0051-46E7-141306F2C9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28" name="Group 41">
            <a:extLst>
              <a:ext uri="{FF2B5EF4-FFF2-40B4-BE49-F238E27FC236}">
                <a16:creationId xmlns:a16="http://schemas.microsoft.com/office/drawing/2014/main" id="{2834E30B-C169-753A-8925-7F6DBBB8CF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86488" y="4456113"/>
            <a:ext cx="287337" cy="790575"/>
            <a:chOff x="1968" y="2400"/>
            <a:chExt cx="192" cy="528"/>
          </a:xfrm>
        </p:grpSpPr>
        <p:sp>
          <p:nvSpPr>
            <p:cNvPr id="21545" name="Oval 42">
              <a:extLst>
                <a:ext uri="{FF2B5EF4-FFF2-40B4-BE49-F238E27FC236}">
                  <a16:creationId xmlns:a16="http://schemas.microsoft.com/office/drawing/2014/main" id="{577B29EE-D171-E375-9A3E-DF6601CC5D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46" name="Line 43">
              <a:extLst>
                <a:ext uri="{FF2B5EF4-FFF2-40B4-BE49-F238E27FC236}">
                  <a16:creationId xmlns:a16="http://schemas.microsoft.com/office/drawing/2014/main" id="{A766A9FF-2C01-7C42-DB7E-39AA5611ECC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47" name="Line 44">
              <a:extLst>
                <a:ext uri="{FF2B5EF4-FFF2-40B4-BE49-F238E27FC236}">
                  <a16:creationId xmlns:a16="http://schemas.microsoft.com/office/drawing/2014/main" id="{60B48F52-6312-7D9F-56F6-194CBE4D49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48" name="Line 45">
              <a:extLst>
                <a:ext uri="{FF2B5EF4-FFF2-40B4-BE49-F238E27FC236}">
                  <a16:creationId xmlns:a16="http://schemas.microsoft.com/office/drawing/2014/main" id="{FF207AA1-740F-F0FD-40FC-E2892A60D8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29" name="Group 46">
            <a:extLst>
              <a:ext uri="{FF2B5EF4-FFF2-40B4-BE49-F238E27FC236}">
                <a16:creationId xmlns:a16="http://schemas.microsoft.com/office/drawing/2014/main" id="{FB45ADBC-3058-9EF0-67D3-25BAA6945A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32600" y="4456113"/>
            <a:ext cx="287338" cy="790575"/>
            <a:chOff x="1968" y="2400"/>
            <a:chExt cx="192" cy="528"/>
          </a:xfrm>
        </p:grpSpPr>
        <p:sp>
          <p:nvSpPr>
            <p:cNvPr id="21541" name="Oval 47">
              <a:extLst>
                <a:ext uri="{FF2B5EF4-FFF2-40B4-BE49-F238E27FC236}">
                  <a16:creationId xmlns:a16="http://schemas.microsoft.com/office/drawing/2014/main" id="{1F15272A-50BE-1502-D5EE-FA0B53C198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42" name="Line 48">
              <a:extLst>
                <a:ext uri="{FF2B5EF4-FFF2-40B4-BE49-F238E27FC236}">
                  <a16:creationId xmlns:a16="http://schemas.microsoft.com/office/drawing/2014/main" id="{551BFCA8-559A-E1CC-837E-8152C5296A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43" name="Line 49">
              <a:extLst>
                <a:ext uri="{FF2B5EF4-FFF2-40B4-BE49-F238E27FC236}">
                  <a16:creationId xmlns:a16="http://schemas.microsoft.com/office/drawing/2014/main" id="{4D2AB062-1289-65BE-1EA4-C47950A8F0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44" name="Line 50">
              <a:extLst>
                <a:ext uri="{FF2B5EF4-FFF2-40B4-BE49-F238E27FC236}">
                  <a16:creationId xmlns:a16="http://schemas.microsoft.com/office/drawing/2014/main" id="{EB89BCF2-6C4E-025C-F842-80F6698F86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30" name="Group 51">
            <a:extLst>
              <a:ext uri="{FF2B5EF4-FFF2-40B4-BE49-F238E27FC236}">
                <a16:creationId xmlns:a16="http://schemas.microsoft.com/office/drawing/2014/main" id="{CF5556ED-1207-20C5-B43E-1FB6D3CEB1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80300" y="4456113"/>
            <a:ext cx="287338" cy="790575"/>
            <a:chOff x="1968" y="2400"/>
            <a:chExt cx="192" cy="528"/>
          </a:xfrm>
        </p:grpSpPr>
        <p:sp>
          <p:nvSpPr>
            <p:cNvPr id="21537" name="Oval 52">
              <a:extLst>
                <a:ext uri="{FF2B5EF4-FFF2-40B4-BE49-F238E27FC236}">
                  <a16:creationId xmlns:a16="http://schemas.microsoft.com/office/drawing/2014/main" id="{5486EE13-0015-F02D-57F8-144AC2CB26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8" y="2640"/>
              <a:ext cx="185" cy="192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-106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1538" name="Line 53">
              <a:extLst>
                <a:ext uri="{FF2B5EF4-FFF2-40B4-BE49-F238E27FC236}">
                  <a16:creationId xmlns:a16="http://schemas.microsoft.com/office/drawing/2014/main" id="{83D7A862-B3DE-2AF1-48AA-F88BDAE193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68" y="2544"/>
              <a:ext cx="48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39" name="Line 54">
              <a:extLst>
                <a:ext uri="{FF2B5EF4-FFF2-40B4-BE49-F238E27FC236}">
                  <a16:creationId xmlns:a16="http://schemas.microsoft.com/office/drawing/2014/main" id="{F2C1680B-5150-D246-0CD9-6C79F9EAA1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2400"/>
              <a:ext cx="48" cy="24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21540" name="Line 55">
              <a:extLst>
                <a:ext uri="{FF2B5EF4-FFF2-40B4-BE49-F238E27FC236}">
                  <a16:creationId xmlns:a16="http://schemas.microsoft.com/office/drawing/2014/main" id="{B82CF5CC-6248-D762-E75C-288D3B1616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2832"/>
              <a:ext cx="0" cy="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1531" name="Text Box 59">
            <a:extLst>
              <a:ext uri="{FF2B5EF4-FFF2-40B4-BE49-F238E27FC236}">
                <a16:creationId xmlns:a16="http://schemas.microsoft.com/office/drawing/2014/main" id="{276DEEFE-A2DF-20C3-A421-B954C7772EC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5775" y="4549775"/>
            <a:ext cx="2587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ADDV.D V3, V1, V2</a:t>
            </a:r>
          </a:p>
        </p:txBody>
      </p:sp>
      <p:sp>
        <p:nvSpPr>
          <p:cNvPr id="21532" name="Text Box 60">
            <a:extLst>
              <a:ext uri="{FF2B5EF4-FFF2-40B4-BE49-F238E27FC236}">
                <a16:creationId xmlns:a16="http://schemas.microsoft.com/office/drawing/2014/main" id="{1AEC24C7-5D31-80EB-EAC6-AD936360877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063" y="5081588"/>
            <a:ext cx="4349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>
                <a:latin typeface="Arial" panose="020B0604020202020204" pitchFamily="34" charset="0"/>
              </a:rPr>
              <a:t>V3</a:t>
            </a:r>
          </a:p>
        </p:txBody>
      </p:sp>
      <p:sp>
        <p:nvSpPr>
          <p:cNvPr id="21533" name="Text Box 61">
            <a:extLst>
              <a:ext uri="{FF2B5EF4-FFF2-40B4-BE49-F238E27FC236}">
                <a16:creationId xmlns:a16="http://schemas.microsoft.com/office/drawing/2014/main" id="{215C4F36-2621-46DB-48CC-D898B41AF4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063" y="4438650"/>
            <a:ext cx="434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>
                <a:latin typeface="Arial" panose="020B0604020202020204" pitchFamily="34" charset="0"/>
              </a:rPr>
              <a:t>V2</a:t>
            </a:r>
          </a:p>
        </p:txBody>
      </p:sp>
      <p:sp>
        <p:nvSpPr>
          <p:cNvPr id="21534" name="Text Box 62">
            <a:extLst>
              <a:ext uri="{FF2B5EF4-FFF2-40B4-BE49-F238E27FC236}">
                <a16:creationId xmlns:a16="http://schemas.microsoft.com/office/drawing/2014/main" id="{3AF8E73E-34B5-05CD-7ABD-7A5E842A13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363" y="4224338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800" b="1">
                <a:latin typeface="Arial" panose="020B0604020202020204" pitchFamily="34" charset="0"/>
              </a:rPr>
              <a:t>V1</a:t>
            </a:r>
          </a:p>
        </p:txBody>
      </p:sp>
      <p:sp>
        <p:nvSpPr>
          <p:cNvPr id="21535" name="TextBox 281">
            <a:extLst>
              <a:ext uri="{FF2B5EF4-FFF2-40B4-BE49-F238E27FC236}">
                <a16:creationId xmlns:a16="http://schemas.microsoft.com/office/drawing/2014/main" id="{A88AFF37-4240-958B-823A-46FBE7800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17588"/>
            <a:ext cx="5319713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800"/>
              <a:t>		</a:t>
            </a:r>
            <a:r>
              <a:rPr lang="en-CA" altLang="en-US" sz="1800" u="sng"/>
              <a:t>MIPS64</a:t>
            </a:r>
            <a:endParaRPr lang="en-CA" altLang="en-US" sz="1800"/>
          </a:p>
          <a:p>
            <a:r>
              <a:rPr lang="en-CA" altLang="en-US" sz="1400"/>
              <a:t>	DADDIU  R4, Rx, 48	; last address to load</a:t>
            </a:r>
          </a:p>
          <a:p>
            <a:r>
              <a:rPr lang="en-CA" altLang="en-US" sz="1400"/>
              <a:t>Loop:  	L.D F0, 0(Rx)	; load X(i)</a:t>
            </a:r>
          </a:p>
          <a:p>
            <a:r>
              <a:rPr lang="en-CA" altLang="en-US" sz="1400"/>
              <a:t>	L.D  F1, 0(Ry)	; load Y(i)</a:t>
            </a:r>
          </a:p>
          <a:p>
            <a:r>
              <a:rPr lang="en-CA" altLang="en-US" sz="1400"/>
              <a:t>	ADD.D F2, F1, F0	; X(i) + Y(i)</a:t>
            </a:r>
          </a:p>
          <a:p>
            <a:r>
              <a:rPr lang="en-CA" altLang="en-US" sz="1400"/>
              <a:t>	S.D F2, 0(Rz)	; store into Z(i)</a:t>
            </a:r>
          </a:p>
          <a:p>
            <a:r>
              <a:rPr lang="en-CA" altLang="en-US" sz="1400"/>
              <a:t>	ADDIU  Rx,Rx,#8	; increment index to X</a:t>
            </a:r>
          </a:p>
          <a:p>
            <a:r>
              <a:rPr lang="en-CA" altLang="en-US" sz="1400"/>
              <a:t>	ADDIU  Ry,Ry,#8	; increment index to Y</a:t>
            </a:r>
          </a:p>
          <a:p>
            <a:r>
              <a:rPr lang="en-CA" altLang="en-US" sz="1400"/>
              <a:t>	ADDIU  Rz,Rz,#8	; increment index to Z</a:t>
            </a:r>
          </a:p>
          <a:p>
            <a:r>
              <a:rPr lang="en-CA" altLang="en-US" sz="1400"/>
              <a:t>	DSUB  R20, R4, Rx 	; compute bound</a:t>
            </a:r>
          </a:p>
          <a:p>
            <a:r>
              <a:rPr lang="en-CA" altLang="en-US" sz="1400"/>
              <a:t>	BNEZ R20, Loop	; check if done</a:t>
            </a:r>
          </a:p>
          <a:p>
            <a:endParaRPr lang="en-CA" altLang="en-US" sz="1800"/>
          </a:p>
          <a:p>
            <a:endParaRPr lang="en-CA" altLang="en-US" sz="1800"/>
          </a:p>
        </p:txBody>
      </p:sp>
      <p:sp>
        <p:nvSpPr>
          <p:cNvPr id="21536" name="TextBox 282">
            <a:extLst>
              <a:ext uri="{FF2B5EF4-FFF2-40B4-BE49-F238E27FC236}">
                <a16:creationId xmlns:a16="http://schemas.microsoft.com/office/drawing/2014/main" id="{6303AE54-8C0C-7DB3-F3DB-2980EB86D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588" y="1041400"/>
            <a:ext cx="321945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06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800"/>
              <a:t>	</a:t>
            </a:r>
            <a:r>
              <a:rPr lang="en-CA" altLang="en-US" sz="1800" u="sng"/>
              <a:t>VMIPS</a:t>
            </a:r>
            <a:endParaRPr lang="en-CA" altLang="en-US" sz="1800"/>
          </a:p>
          <a:p>
            <a:r>
              <a:rPr lang="en-CA" altLang="en-US" sz="1400"/>
              <a:t>LV	V1,Rx</a:t>
            </a:r>
          </a:p>
          <a:p>
            <a:r>
              <a:rPr lang="en-CA" altLang="en-US" sz="1400"/>
              <a:t>LV	V2,Ry</a:t>
            </a:r>
          </a:p>
          <a:p>
            <a:r>
              <a:rPr lang="en-CA" altLang="en-US" sz="1400"/>
              <a:t>ADDV.D	V3,V1,V2</a:t>
            </a:r>
          </a:p>
          <a:p>
            <a:r>
              <a:rPr lang="en-CA" altLang="en-US" sz="1400"/>
              <a:t>SV	V3,Rz</a:t>
            </a:r>
          </a:p>
          <a:p>
            <a:endParaRPr lang="en-CA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 bwMode="auto">
          <a:xfrm>
            <a:off x="4702629" y="2367643"/>
            <a:ext cx="3151414" cy="233498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17410" name="Rectangle 108"/>
          <p:cNvSpPr>
            <a:spLocks noChangeArrowheads="1"/>
          </p:cNvSpPr>
          <p:nvPr/>
        </p:nvSpPr>
        <p:spPr bwMode="auto">
          <a:xfrm>
            <a:off x="6934200" y="2474913"/>
            <a:ext cx="6731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Rectangle 107"/>
          <p:cNvSpPr>
            <a:spLocks noChangeArrowheads="1"/>
          </p:cNvSpPr>
          <p:nvPr/>
        </p:nvSpPr>
        <p:spPr bwMode="auto">
          <a:xfrm>
            <a:off x="4914900" y="2487613"/>
            <a:ext cx="6731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01700"/>
          </a:xfrm>
        </p:spPr>
        <p:txBody>
          <a:bodyPr/>
          <a:lstStyle/>
          <a:p>
            <a:pPr eaLnBrk="1" hangingPunct="1"/>
            <a:r>
              <a:rPr lang="en-US" sz="3200" dirty="0" err="1"/>
              <a:t>Multicore</a:t>
            </a:r>
            <a:r>
              <a:rPr lang="en-US" sz="3200" dirty="0"/>
              <a:t> Processors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7413" name="Line 42"/>
          <p:cNvSpPr>
            <a:spLocks noChangeShapeType="1"/>
          </p:cNvSpPr>
          <p:nvPr/>
        </p:nvSpPr>
        <p:spPr bwMode="auto">
          <a:xfrm>
            <a:off x="7272338" y="3560763"/>
            <a:ext cx="3175" cy="127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4" name="Line 43"/>
          <p:cNvSpPr>
            <a:spLocks noChangeShapeType="1"/>
          </p:cNvSpPr>
          <p:nvPr/>
        </p:nvSpPr>
        <p:spPr bwMode="auto">
          <a:xfrm>
            <a:off x="5251450" y="3548063"/>
            <a:ext cx="4763" cy="1190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5" name="Freeform 44"/>
          <p:cNvSpPr>
            <a:spLocks/>
          </p:cNvSpPr>
          <p:nvPr/>
        </p:nvSpPr>
        <p:spPr bwMode="auto">
          <a:xfrm>
            <a:off x="4953000" y="3683000"/>
            <a:ext cx="2647950" cy="382588"/>
          </a:xfrm>
          <a:custGeom>
            <a:avLst/>
            <a:gdLst>
              <a:gd name="T0" fmla="*/ 0 w 1668"/>
              <a:gd name="T1" fmla="*/ 0 h 241"/>
              <a:gd name="T2" fmla="*/ 2147483647 w 1668"/>
              <a:gd name="T3" fmla="*/ 2147483647 h 241"/>
              <a:gd name="T4" fmla="*/ 2147483647 w 1668"/>
              <a:gd name="T5" fmla="*/ 2147483647 h 241"/>
              <a:gd name="T6" fmla="*/ 2147483647 w 1668"/>
              <a:gd name="T7" fmla="*/ 2147483647 h 241"/>
              <a:gd name="T8" fmla="*/ 2147483647 w 1668"/>
              <a:gd name="T9" fmla="*/ 2147483647 h 241"/>
              <a:gd name="T10" fmla="*/ 0 w 1668"/>
              <a:gd name="T11" fmla="*/ 0 h 2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68"/>
              <a:gd name="T19" fmla="*/ 0 h 241"/>
              <a:gd name="T20" fmla="*/ 1668 w 1668"/>
              <a:gd name="T21" fmla="*/ 241 h 2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68" h="241">
                <a:moveTo>
                  <a:pt x="0" y="0"/>
                </a:moveTo>
                <a:lnTo>
                  <a:pt x="1668" y="3"/>
                </a:lnTo>
                <a:lnTo>
                  <a:pt x="1668" y="241"/>
                </a:lnTo>
                <a:lnTo>
                  <a:pt x="3" y="241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6" name="Freeform 45"/>
          <p:cNvSpPr>
            <a:spLocks/>
          </p:cNvSpPr>
          <p:nvPr/>
        </p:nvSpPr>
        <p:spPr bwMode="auto">
          <a:xfrm>
            <a:off x="4953000" y="3683000"/>
            <a:ext cx="2647950" cy="382588"/>
          </a:xfrm>
          <a:custGeom>
            <a:avLst/>
            <a:gdLst>
              <a:gd name="T0" fmla="*/ 0 w 1668"/>
              <a:gd name="T1" fmla="*/ 0 h 241"/>
              <a:gd name="T2" fmla="*/ 2147483647 w 1668"/>
              <a:gd name="T3" fmla="*/ 2147483647 h 241"/>
              <a:gd name="T4" fmla="*/ 2147483647 w 1668"/>
              <a:gd name="T5" fmla="*/ 2147483647 h 241"/>
              <a:gd name="T6" fmla="*/ 2147483647 w 1668"/>
              <a:gd name="T7" fmla="*/ 2147483647 h 241"/>
              <a:gd name="T8" fmla="*/ 2147483647 w 1668"/>
              <a:gd name="T9" fmla="*/ 2147483647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241"/>
              <a:gd name="T17" fmla="*/ 1668 w 1668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241">
                <a:moveTo>
                  <a:pt x="0" y="0"/>
                </a:moveTo>
                <a:lnTo>
                  <a:pt x="1668" y="3"/>
                </a:lnTo>
                <a:lnTo>
                  <a:pt x="1668" y="241"/>
                </a:lnTo>
                <a:lnTo>
                  <a:pt x="3" y="241"/>
                </a:lnTo>
                <a:lnTo>
                  <a:pt x="3" y="3"/>
                </a:lnTo>
              </a:path>
            </a:pathLst>
          </a:custGeom>
          <a:solidFill>
            <a:srgbClr val="FFFF00"/>
          </a:solidFill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7" name="Line 46"/>
          <p:cNvSpPr>
            <a:spLocks noChangeShapeType="1"/>
          </p:cNvSpPr>
          <p:nvPr/>
        </p:nvSpPr>
        <p:spPr bwMode="auto">
          <a:xfrm>
            <a:off x="5248275" y="3101975"/>
            <a:ext cx="3175" cy="1317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8" name="Freeform 47"/>
          <p:cNvSpPr>
            <a:spLocks/>
          </p:cNvSpPr>
          <p:nvPr/>
        </p:nvSpPr>
        <p:spPr bwMode="auto">
          <a:xfrm>
            <a:off x="4999038" y="2601913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2147483647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0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6"/>
                </a:moveTo>
                <a:lnTo>
                  <a:pt x="316" y="186"/>
                </a:lnTo>
                <a:lnTo>
                  <a:pt x="311" y="209"/>
                </a:lnTo>
                <a:lnTo>
                  <a:pt x="300" y="231"/>
                </a:lnTo>
                <a:lnTo>
                  <a:pt x="287" y="252"/>
                </a:lnTo>
                <a:lnTo>
                  <a:pt x="271" y="270"/>
                </a:lnTo>
                <a:lnTo>
                  <a:pt x="252" y="286"/>
                </a:lnTo>
                <a:lnTo>
                  <a:pt x="231" y="300"/>
                </a:lnTo>
                <a:lnTo>
                  <a:pt x="210" y="310"/>
                </a:lnTo>
                <a:lnTo>
                  <a:pt x="183" y="315"/>
                </a:lnTo>
                <a:lnTo>
                  <a:pt x="159" y="318"/>
                </a:lnTo>
                <a:lnTo>
                  <a:pt x="133" y="315"/>
                </a:lnTo>
                <a:lnTo>
                  <a:pt x="109" y="310"/>
                </a:lnTo>
                <a:lnTo>
                  <a:pt x="85" y="300"/>
                </a:lnTo>
                <a:lnTo>
                  <a:pt x="64" y="286"/>
                </a:lnTo>
                <a:lnTo>
                  <a:pt x="45" y="270"/>
                </a:lnTo>
                <a:lnTo>
                  <a:pt x="30" y="252"/>
                </a:lnTo>
                <a:lnTo>
                  <a:pt x="16" y="231"/>
                </a:lnTo>
                <a:lnTo>
                  <a:pt x="8" y="209"/>
                </a:lnTo>
                <a:lnTo>
                  <a:pt x="0" y="186"/>
                </a:lnTo>
                <a:lnTo>
                  <a:pt x="0" y="159"/>
                </a:lnTo>
                <a:lnTo>
                  <a:pt x="0" y="133"/>
                </a:lnTo>
                <a:lnTo>
                  <a:pt x="8" y="109"/>
                </a:lnTo>
                <a:lnTo>
                  <a:pt x="16" y="85"/>
                </a:lnTo>
                <a:lnTo>
                  <a:pt x="30" y="64"/>
                </a:lnTo>
                <a:lnTo>
                  <a:pt x="45" y="45"/>
                </a:lnTo>
                <a:lnTo>
                  <a:pt x="64" y="29"/>
                </a:lnTo>
                <a:lnTo>
                  <a:pt x="85" y="19"/>
                </a:lnTo>
                <a:lnTo>
                  <a:pt x="109" y="8"/>
                </a:lnTo>
                <a:lnTo>
                  <a:pt x="133" y="3"/>
                </a:lnTo>
                <a:lnTo>
                  <a:pt x="159" y="0"/>
                </a:lnTo>
                <a:lnTo>
                  <a:pt x="183" y="3"/>
                </a:lnTo>
                <a:lnTo>
                  <a:pt x="210" y="8"/>
                </a:lnTo>
                <a:lnTo>
                  <a:pt x="231" y="19"/>
                </a:lnTo>
                <a:lnTo>
                  <a:pt x="252" y="29"/>
                </a:lnTo>
                <a:lnTo>
                  <a:pt x="271" y="45"/>
                </a:lnTo>
                <a:lnTo>
                  <a:pt x="287" y="64"/>
                </a:lnTo>
                <a:lnTo>
                  <a:pt x="300" y="85"/>
                </a:lnTo>
                <a:lnTo>
                  <a:pt x="311" y="109"/>
                </a:lnTo>
                <a:lnTo>
                  <a:pt x="316" y="133"/>
                </a:lnTo>
                <a:lnTo>
                  <a:pt x="318" y="159"/>
                </a:lnTo>
                <a:lnTo>
                  <a:pt x="316" y="15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19" name="Freeform 48"/>
          <p:cNvSpPr>
            <a:spLocks/>
          </p:cNvSpPr>
          <p:nvPr/>
        </p:nvSpPr>
        <p:spPr bwMode="auto">
          <a:xfrm>
            <a:off x="4999038" y="2601913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0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2147483647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6"/>
                </a:moveTo>
                <a:lnTo>
                  <a:pt x="316" y="133"/>
                </a:lnTo>
                <a:lnTo>
                  <a:pt x="311" y="109"/>
                </a:lnTo>
                <a:lnTo>
                  <a:pt x="300" y="85"/>
                </a:lnTo>
                <a:lnTo>
                  <a:pt x="287" y="64"/>
                </a:lnTo>
                <a:lnTo>
                  <a:pt x="271" y="45"/>
                </a:lnTo>
                <a:lnTo>
                  <a:pt x="252" y="29"/>
                </a:lnTo>
                <a:lnTo>
                  <a:pt x="231" y="19"/>
                </a:lnTo>
                <a:lnTo>
                  <a:pt x="210" y="8"/>
                </a:lnTo>
                <a:lnTo>
                  <a:pt x="183" y="3"/>
                </a:lnTo>
                <a:lnTo>
                  <a:pt x="159" y="0"/>
                </a:lnTo>
                <a:lnTo>
                  <a:pt x="133" y="3"/>
                </a:lnTo>
                <a:lnTo>
                  <a:pt x="109" y="8"/>
                </a:lnTo>
                <a:lnTo>
                  <a:pt x="85" y="19"/>
                </a:lnTo>
                <a:lnTo>
                  <a:pt x="64" y="29"/>
                </a:lnTo>
                <a:lnTo>
                  <a:pt x="45" y="45"/>
                </a:lnTo>
                <a:lnTo>
                  <a:pt x="30" y="64"/>
                </a:lnTo>
                <a:lnTo>
                  <a:pt x="16" y="85"/>
                </a:lnTo>
                <a:lnTo>
                  <a:pt x="8" y="109"/>
                </a:lnTo>
                <a:lnTo>
                  <a:pt x="0" y="133"/>
                </a:lnTo>
                <a:lnTo>
                  <a:pt x="0" y="159"/>
                </a:lnTo>
                <a:lnTo>
                  <a:pt x="0" y="186"/>
                </a:lnTo>
                <a:lnTo>
                  <a:pt x="8" y="209"/>
                </a:lnTo>
                <a:lnTo>
                  <a:pt x="16" y="231"/>
                </a:lnTo>
                <a:lnTo>
                  <a:pt x="30" y="252"/>
                </a:lnTo>
                <a:lnTo>
                  <a:pt x="45" y="270"/>
                </a:lnTo>
                <a:lnTo>
                  <a:pt x="64" y="286"/>
                </a:lnTo>
                <a:lnTo>
                  <a:pt x="85" y="300"/>
                </a:lnTo>
                <a:lnTo>
                  <a:pt x="109" y="310"/>
                </a:lnTo>
                <a:lnTo>
                  <a:pt x="133" y="315"/>
                </a:lnTo>
                <a:lnTo>
                  <a:pt x="159" y="318"/>
                </a:lnTo>
                <a:lnTo>
                  <a:pt x="183" y="315"/>
                </a:lnTo>
                <a:lnTo>
                  <a:pt x="210" y="310"/>
                </a:lnTo>
                <a:lnTo>
                  <a:pt x="231" y="300"/>
                </a:lnTo>
                <a:lnTo>
                  <a:pt x="252" y="286"/>
                </a:lnTo>
                <a:lnTo>
                  <a:pt x="271" y="270"/>
                </a:lnTo>
                <a:lnTo>
                  <a:pt x="287" y="252"/>
                </a:lnTo>
                <a:lnTo>
                  <a:pt x="300" y="231"/>
                </a:lnTo>
                <a:lnTo>
                  <a:pt x="311" y="209"/>
                </a:lnTo>
                <a:lnTo>
                  <a:pt x="316" y="186"/>
                </a:lnTo>
                <a:lnTo>
                  <a:pt x="318" y="159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20" name="Freeform 49"/>
          <p:cNvSpPr>
            <a:spLocks/>
          </p:cNvSpPr>
          <p:nvPr/>
        </p:nvSpPr>
        <p:spPr bwMode="auto">
          <a:xfrm>
            <a:off x="4995863" y="3228975"/>
            <a:ext cx="508000" cy="319088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w 320"/>
              <a:gd name="T11" fmla="*/ 0 h 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201"/>
              <a:gd name="T20" fmla="*/ 320 w 320"/>
              <a:gd name="T21" fmla="*/ 201 h 2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201">
                <a:moveTo>
                  <a:pt x="0" y="0"/>
                </a:moveTo>
                <a:lnTo>
                  <a:pt x="320" y="3"/>
                </a:lnTo>
                <a:lnTo>
                  <a:pt x="320" y="201"/>
                </a:lnTo>
                <a:lnTo>
                  <a:pt x="2" y="201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21" name="Freeform 50"/>
          <p:cNvSpPr>
            <a:spLocks/>
          </p:cNvSpPr>
          <p:nvPr/>
        </p:nvSpPr>
        <p:spPr bwMode="auto">
          <a:xfrm>
            <a:off x="4995863" y="3228975"/>
            <a:ext cx="508000" cy="319088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0"/>
              <a:gd name="T16" fmla="*/ 0 h 201"/>
              <a:gd name="T17" fmla="*/ 320 w 320"/>
              <a:gd name="T18" fmla="*/ 201 h 2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0" h="201">
                <a:moveTo>
                  <a:pt x="0" y="0"/>
                </a:moveTo>
                <a:lnTo>
                  <a:pt x="320" y="3"/>
                </a:lnTo>
                <a:lnTo>
                  <a:pt x="320" y="201"/>
                </a:lnTo>
                <a:lnTo>
                  <a:pt x="2" y="201"/>
                </a:lnTo>
                <a:lnTo>
                  <a:pt x="2" y="3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22" name="Rectangle 51"/>
          <p:cNvSpPr>
            <a:spLocks noChangeArrowheads="1"/>
          </p:cNvSpPr>
          <p:nvPr/>
        </p:nvSpPr>
        <p:spPr bwMode="auto">
          <a:xfrm>
            <a:off x="5180013" y="2770188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</a:t>
            </a:r>
            <a:endParaRPr lang="en-US" sz="1800" b="1"/>
          </a:p>
        </p:txBody>
      </p:sp>
      <p:sp>
        <p:nvSpPr>
          <p:cNvPr id="17423" name="Rectangle 52"/>
          <p:cNvSpPr>
            <a:spLocks noChangeArrowheads="1"/>
          </p:cNvSpPr>
          <p:nvPr/>
        </p:nvSpPr>
        <p:spPr bwMode="auto">
          <a:xfrm>
            <a:off x="5260307" y="2860259"/>
            <a:ext cx="8413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800" b="1" dirty="0"/>
          </a:p>
        </p:txBody>
      </p:sp>
      <p:sp>
        <p:nvSpPr>
          <p:cNvPr id="17424" name="Rectangle 53"/>
          <p:cNvSpPr>
            <a:spLocks noChangeArrowheads="1"/>
          </p:cNvSpPr>
          <p:nvPr/>
        </p:nvSpPr>
        <p:spPr bwMode="auto">
          <a:xfrm>
            <a:off x="5210175" y="3308350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$</a:t>
            </a:r>
            <a:endParaRPr lang="en-US" sz="1800" b="1"/>
          </a:p>
        </p:txBody>
      </p:sp>
      <p:sp>
        <p:nvSpPr>
          <p:cNvPr id="17425" name="Rectangle 54"/>
          <p:cNvSpPr>
            <a:spLocks noChangeArrowheads="1"/>
          </p:cNvSpPr>
          <p:nvPr/>
        </p:nvSpPr>
        <p:spPr bwMode="auto">
          <a:xfrm>
            <a:off x="5435600" y="3771900"/>
            <a:ext cx="381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Inter</a:t>
            </a:r>
            <a:endParaRPr lang="en-US" sz="1800" b="1"/>
          </a:p>
        </p:txBody>
      </p:sp>
      <p:sp>
        <p:nvSpPr>
          <p:cNvPr id="17426" name="Rectangle 55"/>
          <p:cNvSpPr>
            <a:spLocks noChangeArrowheads="1"/>
          </p:cNvSpPr>
          <p:nvPr/>
        </p:nvSpPr>
        <p:spPr bwMode="auto">
          <a:xfrm>
            <a:off x="5816600" y="3771900"/>
            <a:ext cx="1644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connection network</a:t>
            </a:r>
            <a:endParaRPr lang="en-US" sz="1800" b="1"/>
          </a:p>
        </p:txBody>
      </p:sp>
      <p:sp>
        <p:nvSpPr>
          <p:cNvPr id="17427" name="Line 56"/>
          <p:cNvSpPr>
            <a:spLocks noChangeShapeType="1"/>
          </p:cNvSpPr>
          <p:nvPr/>
        </p:nvSpPr>
        <p:spPr bwMode="auto">
          <a:xfrm>
            <a:off x="7272338" y="3119438"/>
            <a:ext cx="3175" cy="130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28" name="Freeform 57"/>
          <p:cNvSpPr>
            <a:spLocks/>
          </p:cNvSpPr>
          <p:nvPr/>
        </p:nvSpPr>
        <p:spPr bwMode="auto">
          <a:xfrm>
            <a:off x="7023100" y="2614613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2147483647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0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9"/>
                </a:moveTo>
                <a:lnTo>
                  <a:pt x="316" y="186"/>
                </a:lnTo>
                <a:lnTo>
                  <a:pt x="311" y="209"/>
                </a:lnTo>
                <a:lnTo>
                  <a:pt x="300" y="233"/>
                </a:lnTo>
                <a:lnTo>
                  <a:pt x="287" y="254"/>
                </a:lnTo>
                <a:lnTo>
                  <a:pt x="271" y="273"/>
                </a:lnTo>
                <a:lnTo>
                  <a:pt x="252" y="289"/>
                </a:lnTo>
                <a:lnTo>
                  <a:pt x="231" y="302"/>
                </a:lnTo>
                <a:lnTo>
                  <a:pt x="210" y="310"/>
                </a:lnTo>
                <a:lnTo>
                  <a:pt x="183" y="318"/>
                </a:lnTo>
                <a:lnTo>
                  <a:pt x="159" y="318"/>
                </a:lnTo>
                <a:lnTo>
                  <a:pt x="133" y="318"/>
                </a:lnTo>
                <a:lnTo>
                  <a:pt x="109" y="310"/>
                </a:lnTo>
                <a:lnTo>
                  <a:pt x="85" y="302"/>
                </a:lnTo>
                <a:lnTo>
                  <a:pt x="64" y="289"/>
                </a:lnTo>
                <a:lnTo>
                  <a:pt x="45" y="273"/>
                </a:lnTo>
                <a:lnTo>
                  <a:pt x="30" y="254"/>
                </a:lnTo>
                <a:lnTo>
                  <a:pt x="16" y="233"/>
                </a:lnTo>
                <a:lnTo>
                  <a:pt x="8" y="209"/>
                </a:lnTo>
                <a:lnTo>
                  <a:pt x="0" y="186"/>
                </a:lnTo>
                <a:lnTo>
                  <a:pt x="0" y="159"/>
                </a:lnTo>
                <a:lnTo>
                  <a:pt x="0" y="135"/>
                </a:lnTo>
                <a:lnTo>
                  <a:pt x="8" y="109"/>
                </a:lnTo>
                <a:lnTo>
                  <a:pt x="16" y="87"/>
                </a:lnTo>
                <a:lnTo>
                  <a:pt x="30" y="66"/>
                </a:lnTo>
                <a:lnTo>
                  <a:pt x="45" y="48"/>
                </a:lnTo>
                <a:lnTo>
                  <a:pt x="64" y="32"/>
                </a:lnTo>
                <a:lnTo>
                  <a:pt x="85" y="19"/>
                </a:lnTo>
                <a:lnTo>
                  <a:pt x="109" y="8"/>
                </a:lnTo>
                <a:lnTo>
                  <a:pt x="133" y="3"/>
                </a:lnTo>
                <a:lnTo>
                  <a:pt x="159" y="0"/>
                </a:lnTo>
                <a:lnTo>
                  <a:pt x="183" y="3"/>
                </a:lnTo>
                <a:lnTo>
                  <a:pt x="210" y="8"/>
                </a:lnTo>
                <a:lnTo>
                  <a:pt x="231" y="19"/>
                </a:lnTo>
                <a:lnTo>
                  <a:pt x="252" y="32"/>
                </a:lnTo>
                <a:lnTo>
                  <a:pt x="271" y="48"/>
                </a:lnTo>
                <a:lnTo>
                  <a:pt x="287" y="66"/>
                </a:lnTo>
                <a:lnTo>
                  <a:pt x="300" y="87"/>
                </a:lnTo>
                <a:lnTo>
                  <a:pt x="311" y="109"/>
                </a:lnTo>
                <a:lnTo>
                  <a:pt x="316" y="135"/>
                </a:lnTo>
                <a:lnTo>
                  <a:pt x="318" y="159"/>
                </a:lnTo>
                <a:lnTo>
                  <a:pt x="316" y="15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29" name="Freeform 58"/>
          <p:cNvSpPr>
            <a:spLocks/>
          </p:cNvSpPr>
          <p:nvPr/>
        </p:nvSpPr>
        <p:spPr bwMode="auto">
          <a:xfrm>
            <a:off x="7023100" y="2614613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0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2147483647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9"/>
                </a:moveTo>
                <a:lnTo>
                  <a:pt x="316" y="135"/>
                </a:lnTo>
                <a:lnTo>
                  <a:pt x="311" y="109"/>
                </a:lnTo>
                <a:lnTo>
                  <a:pt x="300" y="87"/>
                </a:lnTo>
                <a:lnTo>
                  <a:pt x="287" y="66"/>
                </a:lnTo>
                <a:lnTo>
                  <a:pt x="271" y="48"/>
                </a:lnTo>
                <a:lnTo>
                  <a:pt x="252" y="32"/>
                </a:lnTo>
                <a:lnTo>
                  <a:pt x="231" y="19"/>
                </a:lnTo>
                <a:lnTo>
                  <a:pt x="210" y="8"/>
                </a:lnTo>
                <a:lnTo>
                  <a:pt x="183" y="3"/>
                </a:lnTo>
                <a:lnTo>
                  <a:pt x="159" y="0"/>
                </a:lnTo>
                <a:lnTo>
                  <a:pt x="133" y="3"/>
                </a:lnTo>
                <a:lnTo>
                  <a:pt x="109" y="8"/>
                </a:lnTo>
                <a:lnTo>
                  <a:pt x="85" y="19"/>
                </a:lnTo>
                <a:lnTo>
                  <a:pt x="64" y="32"/>
                </a:lnTo>
                <a:lnTo>
                  <a:pt x="45" y="48"/>
                </a:lnTo>
                <a:lnTo>
                  <a:pt x="30" y="66"/>
                </a:lnTo>
                <a:lnTo>
                  <a:pt x="16" y="87"/>
                </a:lnTo>
                <a:lnTo>
                  <a:pt x="8" y="109"/>
                </a:lnTo>
                <a:lnTo>
                  <a:pt x="0" y="135"/>
                </a:lnTo>
                <a:lnTo>
                  <a:pt x="0" y="159"/>
                </a:lnTo>
                <a:lnTo>
                  <a:pt x="0" y="186"/>
                </a:lnTo>
                <a:lnTo>
                  <a:pt x="8" y="209"/>
                </a:lnTo>
                <a:lnTo>
                  <a:pt x="16" y="233"/>
                </a:lnTo>
                <a:lnTo>
                  <a:pt x="30" y="254"/>
                </a:lnTo>
                <a:lnTo>
                  <a:pt x="45" y="273"/>
                </a:lnTo>
                <a:lnTo>
                  <a:pt x="64" y="289"/>
                </a:lnTo>
                <a:lnTo>
                  <a:pt x="85" y="302"/>
                </a:lnTo>
                <a:lnTo>
                  <a:pt x="109" y="310"/>
                </a:lnTo>
                <a:lnTo>
                  <a:pt x="133" y="318"/>
                </a:lnTo>
                <a:lnTo>
                  <a:pt x="159" y="318"/>
                </a:lnTo>
                <a:lnTo>
                  <a:pt x="183" y="318"/>
                </a:lnTo>
                <a:lnTo>
                  <a:pt x="210" y="310"/>
                </a:lnTo>
                <a:lnTo>
                  <a:pt x="231" y="302"/>
                </a:lnTo>
                <a:lnTo>
                  <a:pt x="252" y="289"/>
                </a:lnTo>
                <a:lnTo>
                  <a:pt x="271" y="273"/>
                </a:lnTo>
                <a:lnTo>
                  <a:pt x="287" y="254"/>
                </a:lnTo>
                <a:lnTo>
                  <a:pt x="300" y="233"/>
                </a:lnTo>
                <a:lnTo>
                  <a:pt x="311" y="209"/>
                </a:lnTo>
                <a:lnTo>
                  <a:pt x="316" y="186"/>
                </a:lnTo>
                <a:lnTo>
                  <a:pt x="318" y="159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0" name="Freeform 59"/>
          <p:cNvSpPr>
            <a:spLocks/>
          </p:cNvSpPr>
          <p:nvPr/>
        </p:nvSpPr>
        <p:spPr bwMode="auto">
          <a:xfrm>
            <a:off x="7019925" y="3246438"/>
            <a:ext cx="508000" cy="319087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w 320"/>
              <a:gd name="T11" fmla="*/ 0 h 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201"/>
              <a:gd name="T20" fmla="*/ 320 w 320"/>
              <a:gd name="T21" fmla="*/ 201 h 2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201">
                <a:moveTo>
                  <a:pt x="0" y="0"/>
                </a:moveTo>
                <a:lnTo>
                  <a:pt x="320" y="2"/>
                </a:lnTo>
                <a:lnTo>
                  <a:pt x="320" y="201"/>
                </a:lnTo>
                <a:lnTo>
                  <a:pt x="2" y="20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1" name="Freeform 60"/>
          <p:cNvSpPr>
            <a:spLocks/>
          </p:cNvSpPr>
          <p:nvPr/>
        </p:nvSpPr>
        <p:spPr bwMode="auto">
          <a:xfrm>
            <a:off x="7019925" y="3246438"/>
            <a:ext cx="508000" cy="319087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0"/>
              <a:gd name="T16" fmla="*/ 0 h 201"/>
              <a:gd name="T17" fmla="*/ 320 w 320"/>
              <a:gd name="T18" fmla="*/ 201 h 2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0" h="201">
                <a:moveTo>
                  <a:pt x="0" y="0"/>
                </a:moveTo>
                <a:lnTo>
                  <a:pt x="320" y="2"/>
                </a:lnTo>
                <a:lnTo>
                  <a:pt x="320" y="201"/>
                </a:lnTo>
                <a:lnTo>
                  <a:pt x="2" y="201"/>
                </a:lnTo>
                <a:lnTo>
                  <a:pt x="2" y="2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2" name="Rectangle 61"/>
          <p:cNvSpPr>
            <a:spLocks noChangeArrowheads="1"/>
          </p:cNvSpPr>
          <p:nvPr/>
        </p:nvSpPr>
        <p:spPr bwMode="auto">
          <a:xfrm>
            <a:off x="7234238" y="3321050"/>
            <a:ext cx="1063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$</a:t>
            </a:r>
            <a:endParaRPr lang="en-US" sz="1800" b="1"/>
          </a:p>
        </p:txBody>
      </p:sp>
      <p:sp>
        <p:nvSpPr>
          <p:cNvPr id="17433" name="Rectangle 62"/>
          <p:cNvSpPr>
            <a:spLocks noChangeArrowheads="1"/>
          </p:cNvSpPr>
          <p:nvPr/>
        </p:nvSpPr>
        <p:spPr bwMode="auto">
          <a:xfrm>
            <a:off x="7204075" y="2762250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</a:t>
            </a:r>
            <a:endParaRPr lang="en-US" sz="1800" b="1"/>
          </a:p>
        </p:txBody>
      </p:sp>
      <p:sp>
        <p:nvSpPr>
          <p:cNvPr id="17434" name="Rectangle 63"/>
          <p:cNvSpPr>
            <a:spLocks noChangeArrowheads="1"/>
          </p:cNvSpPr>
          <p:nvPr/>
        </p:nvSpPr>
        <p:spPr bwMode="auto">
          <a:xfrm>
            <a:off x="7287545" y="2840289"/>
            <a:ext cx="841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n</a:t>
            </a:r>
            <a:endParaRPr lang="en-US" sz="1800" b="1" dirty="0"/>
          </a:p>
        </p:txBody>
      </p:sp>
      <p:sp>
        <p:nvSpPr>
          <p:cNvPr id="17435" name="Line 64"/>
          <p:cNvSpPr>
            <a:spLocks noChangeShapeType="1"/>
          </p:cNvSpPr>
          <p:nvPr/>
        </p:nvSpPr>
        <p:spPr bwMode="auto">
          <a:xfrm>
            <a:off x="6313488" y="4603749"/>
            <a:ext cx="3091" cy="4013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6" name="Freeform 65"/>
          <p:cNvSpPr>
            <a:spLocks/>
          </p:cNvSpPr>
          <p:nvPr/>
        </p:nvSpPr>
        <p:spPr bwMode="auto">
          <a:xfrm>
            <a:off x="6061075" y="5070256"/>
            <a:ext cx="712788" cy="379412"/>
          </a:xfrm>
          <a:custGeom>
            <a:avLst/>
            <a:gdLst>
              <a:gd name="T0" fmla="*/ 0 w 326"/>
              <a:gd name="T1" fmla="*/ 0 h 239"/>
              <a:gd name="T2" fmla="*/ 2147483647 w 326"/>
              <a:gd name="T3" fmla="*/ 0 h 239"/>
              <a:gd name="T4" fmla="*/ 2147483647 w 326"/>
              <a:gd name="T5" fmla="*/ 2147483647 h 239"/>
              <a:gd name="T6" fmla="*/ 2147483647 w 326"/>
              <a:gd name="T7" fmla="*/ 2147483647 h 239"/>
              <a:gd name="T8" fmla="*/ 2147483647 w 326"/>
              <a:gd name="T9" fmla="*/ 0 h 239"/>
              <a:gd name="T10" fmla="*/ 0 w 326"/>
              <a:gd name="T11" fmla="*/ 0 h 23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6"/>
              <a:gd name="T19" fmla="*/ 0 h 239"/>
              <a:gd name="T20" fmla="*/ 326 w 326"/>
              <a:gd name="T21" fmla="*/ 239 h 23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6" h="239">
                <a:moveTo>
                  <a:pt x="0" y="0"/>
                </a:moveTo>
                <a:lnTo>
                  <a:pt x="326" y="0"/>
                </a:lnTo>
                <a:lnTo>
                  <a:pt x="326" y="239"/>
                </a:lnTo>
                <a:lnTo>
                  <a:pt x="3" y="239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7" name="Freeform 66"/>
          <p:cNvSpPr>
            <a:spLocks/>
          </p:cNvSpPr>
          <p:nvPr/>
        </p:nvSpPr>
        <p:spPr bwMode="auto">
          <a:xfrm>
            <a:off x="5542128" y="5007424"/>
            <a:ext cx="1584325" cy="379412"/>
          </a:xfrm>
          <a:custGeom>
            <a:avLst/>
            <a:gdLst>
              <a:gd name="T0" fmla="*/ 0 w 326"/>
              <a:gd name="T1" fmla="*/ 0 h 239"/>
              <a:gd name="T2" fmla="*/ 2147483647 w 326"/>
              <a:gd name="T3" fmla="*/ 0 h 239"/>
              <a:gd name="T4" fmla="*/ 2147483647 w 326"/>
              <a:gd name="T5" fmla="*/ 2147483647 h 239"/>
              <a:gd name="T6" fmla="*/ 2147483647 w 326"/>
              <a:gd name="T7" fmla="*/ 2147483647 h 239"/>
              <a:gd name="T8" fmla="*/ 2147483647 w 326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6"/>
              <a:gd name="T16" fmla="*/ 0 h 239"/>
              <a:gd name="T17" fmla="*/ 326 w 326"/>
              <a:gd name="T18" fmla="*/ 239 h 2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6" h="239">
                <a:moveTo>
                  <a:pt x="0" y="0"/>
                </a:moveTo>
                <a:lnTo>
                  <a:pt x="326" y="0"/>
                </a:lnTo>
                <a:lnTo>
                  <a:pt x="326" y="239"/>
                </a:lnTo>
                <a:lnTo>
                  <a:pt x="3" y="239"/>
                </a:lnTo>
                <a:lnTo>
                  <a:pt x="3" y="0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38" name="Rectangle 67"/>
          <p:cNvSpPr>
            <a:spLocks noChangeArrowheads="1"/>
          </p:cNvSpPr>
          <p:nvPr/>
        </p:nvSpPr>
        <p:spPr bwMode="auto">
          <a:xfrm>
            <a:off x="5638297" y="5088386"/>
            <a:ext cx="1443038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Memory (DRAM)</a:t>
            </a:r>
            <a:endParaRPr lang="en-US" sz="1800" b="1" dirty="0"/>
          </a:p>
        </p:txBody>
      </p:sp>
      <p:sp>
        <p:nvSpPr>
          <p:cNvPr id="17439" name="Freeform 71"/>
          <p:cNvSpPr>
            <a:spLocks/>
          </p:cNvSpPr>
          <p:nvPr/>
        </p:nvSpPr>
        <p:spPr bwMode="auto">
          <a:xfrm>
            <a:off x="5888038" y="3359150"/>
            <a:ext cx="71437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2" y="27"/>
                </a:lnTo>
                <a:lnTo>
                  <a:pt x="42" y="29"/>
                </a:lnTo>
                <a:lnTo>
                  <a:pt x="42" y="35"/>
                </a:lnTo>
                <a:lnTo>
                  <a:pt x="39" y="37"/>
                </a:lnTo>
                <a:lnTo>
                  <a:pt x="37" y="40"/>
                </a:lnTo>
                <a:lnTo>
                  <a:pt x="34" y="40"/>
                </a:lnTo>
                <a:lnTo>
                  <a:pt x="31" y="43"/>
                </a:lnTo>
                <a:lnTo>
                  <a:pt x="29" y="45"/>
                </a:lnTo>
                <a:lnTo>
                  <a:pt x="26" y="45"/>
                </a:lnTo>
                <a:lnTo>
                  <a:pt x="21" y="45"/>
                </a:lnTo>
                <a:lnTo>
                  <a:pt x="18" y="45"/>
                </a:lnTo>
                <a:lnTo>
                  <a:pt x="13" y="45"/>
                </a:lnTo>
                <a:lnTo>
                  <a:pt x="10" y="43"/>
                </a:lnTo>
                <a:lnTo>
                  <a:pt x="8" y="40"/>
                </a:lnTo>
                <a:lnTo>
                  <a:pt x="5" y="40"/>
                </a:lnTo>
                <a:lnTo>
                  <a:pt x="2" y="37"/>
                </a:lnTo>
                <a:lnTo>
                  <a:pt x="2" y="35"/>
                </a:lnTo>
                <a:lnTo>
                  <a:pt x="0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0" y="16"/>
                </a:lnTo>
                <a:lnTo>
                  <a:pt x="2" y="13"/>
                </a:lnTo>
                <a:lnTo>
                  <a:pt x="2" y="11"/>
                </a:lnTo>
                <a:lnTo>
                  <a:pt x="5" y="8"/>
                </a:lnTo>
                <a:lnTo>
                  <a:pt x="8" y="5"/>
                </a:lnTo>
                <a:lnTo>
                  <a:pt x="10" y="3"/>
                </a:lnTo>
                <a:lnTo>
                  <a:pt x="13" y="3"/>
                </a:lnTo>
                <a:lnTo>
                  <a:pt x="18" y="0"/>
                </a:lnTo>
                <a:lnTo>
                  <a:pt x="21" y="0"/>
                </a:lnTo>
                <a:lnTo>
                  <a:pt x="26" y="0"/>
                </a:lnTo>
                <a:lnTo>
                  <a:pt x="29" y="3"/>
                </a:lnTo>
                <a:lnTo>
                  <a:pt x="31" y="3"/>
                </a:lnTo>
                <a:lnTo>
                  <a:pt x="34" y="5"/>
                </a:lnTo>
                <a:lnTo>
                  <a:pt x="37" y="8"/>
                </a:lnTo>
                <a:lnTo>
                  <a:pt x="39" y="11"/>
                </a:lnTo>
                <a:lnTo>
                  <a:pt x="42" y="13"/>
                </a:lnTo>
                <a:lnTo>
                  <a:pt x="42" y="16"/>
                </a:lnTo>
                <a:lnTo>
                  <a:pt x="42" y="19"/>
                </a:lnTo>
                <a:lnTo>
                  <a:pt x="45" y="24"/>
                </a:lnTo>
                <a:lnTo>
                  <a:pt x="42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0" name="Freeform 72"/>
          <p:cNvSpPr>
            <a:spLocks/>
          </p:cNvSpPr>
          <p:nvPr/>
        </p:nvSpPr>
        <p:spPr bwMode="auto">
          <a:xfrm>
            <a:off x="5888038" y="3359150"/>
            <a:ext cx="71437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2" y="19"/>
                </a:lnTo>
                <a:lnTo>
                  <a:pt x="42" y="16"/>
                </a:lnTo>
                <a:lnTo>
                  <a:pt x="42" y="13"/>
                </a:lnTo>
                <a:lnTo>
                  <a:pt x="39" y="11"/>
                </a:lnTo>
                <a:lnTo>
                  <a:pt x="37" y="8"/>
                </a:lnTo>
                <a:lnTo>
                  <a:pt x="34" y="5"/>
                </a:lnTo>
                <a:lnTo>
                  <a:pt x="31" y="3"/>
                </a:lnTo>
                <a:lnTo>
                  <a:pt x="29" y="3"/>
                </a:lnTo>
                <a:lnTo>
                  <a:pt x="26" y="0"/>
                </a:lnTo>
                <a:lnTo>
                  <a:pt x="21" y="0"/>
                </a:lnTo>
                <a:lnTo>
                  <a:pt x="18" y="0"/>
                </a:lnTo>
                <a:lnTo>
                  <a:pt x="13" y="3"/>
                </a:lnTo>
                <a:lnTo>
                  <a:pt x="10" y="3"/>
                </a:lnTo>
                <a:lnTo>
                  <a:pt x="8" y="5"/>
                </a:lnTo>
                <a:lnTo>
                  <a:pt x="5" y="8"/>
                </a:lnTo>
                <a:lnTo>
                  <a:pt x="2" y="11"/>
                </a:lnTo>
                <a:lnTo>
                  <a:pt x="2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29"/>
                </a:lnTo>
                <a:lnTo>
                  <a:pt x="2" y="35"/>
                </a:lnTo>
                <a:lnTo>
                  <a:pt x="2" y="37"/>
                </a:lnTo>
                <a:lnTo>
                  <a:pt x="5" y="40"/>
                </a:lnTo>
                <a:lnTo>
                  <a:pt x="8" y="40"/>
                </a:lnTo>
                <a:lnTo>
                  <a:pt x="10" y="43"/>
                </a:lnTo>
                <a:lnTo>
                  <a:pt x="13" y="45"/>
                </a:lnTo>
                <a:lnTo>
                  <a:pt x="18" y="45"/>
                </a:lnTo>
                <a:lnTo>
                  <a:pt x="21" y="45"/>
                </a:lnTo>
                <a:lnTo>
                  <a:pt x="26" y="45"/>
                </a:lnTo>
                <a:lnTo>
                  <a:pt x="29" y="45"/>
                </a:lnTo>
                <a:lnTo>
                  <a:pt x="31" y="43"/>
                </a:lnTo>
                <a:lnTo>
                  <a:pt x="34" y="40"/>
                </a:lnTo>
                <a:lnTo>
                  <a:pt x="37" y="40"/>
                </a:lnTo>
                <a:lnTo>
                  <a:pt x="39" y="37"/>
                </a:lnTo>
                <a:lnTo>
                  <a:pt x="42" y="35"/>
                </a:lnTo>
                <a:lnTo>
                  <a:pt x="42" y="29"/>
                </a:lnTo>
                <a:lnTo>
                  <a:pt x="42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1" name="Freeform 73"/>
          <p:cNvSpPr>
            <a:spLocks/>
          </p:cNvSpPr>
          <p:nvPr/>
        </p:nvSpPr>
        <p:spPr bwMode="auto">
          <a:xfrm>
            <a:off x="6178550" y="3359150"/>
            <a:ext cx="71438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5" y="27"/>
                </a:lnTo>
                <a:lnTo>
                  <a:pt x="42" y="29"/>
                </a:lnTo>
                <a:lnTo>
                  <a:pt x="42" y="35"/>
                </a:lnTo>
                <a:lnTo>
                  <a:pt x="39" y="37"/>
                </a:lnTo>
                <a:lnTo>
                  <a:pt x="37" y="40"/>
                </a:lnTo>
                <a:lnTo>
                  <a:pt x="34" y="40"/>
                </a:lnTo>
                <a:lnTo>
                  <a:pt x="31" y="43"/>
                </a:lnTo>
                <a:lnTo>
                  <a:pt x="29" y="45"/>
                </a:lnTo>
                <a:lnTo>
                  <a:pt x="26" y="45"/>
                </a:lnTo>
                <a:lnTo>
                  <a:pt x="21" y="45"/>
                </a:lnTo>
                <a:lnTo>
                  <a:pt x="18" y="45"/>
                </a:lnTo>
                <a:lnTo>
                  <a:pt x="15" y="45"/>
                </a:lnTo>
                <a:lnTo>
                  <a:pt x="13" y="43"/>
                </a:lnTo>
                <a:lnTo>
                  <a:pt x="8" y="40"/>
                </a:lnTo>
                <a:lnTo>
                  <a:pt x="5" y="40"/>
                </a:lnTo>
                <a:lnTo>
                  <a:pt x="5" y="37"/>
                </a:lnTo>
                <a:lnTo>
                  <a:pt x="2" y="35"/>
                </a:lnTo>
                <a:lnTo>
                  <a:pt x="0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0" y="16"/>
                </a:lnTo>
                <a:lnTo>
                  <a:pt x="2" y="13"/>
                </a:lnTo>
                <a:lnTo>
                  <a:pt x="5" y="11"/>
                </a:lnTo>
                <a:lnTo>
                  <a:pt x="5" y="8"/>
                </a:lnTo>
                <a:lnTo>
                  <a:pt x="8" y="5"/>
                </a:lnTo>
                <a:lnTo>
                  <a:pt x="13" y="3"/>
                </a:lnTo>
                <a:lnTo>
                  <a:pt x="15" y="3"/>
                </a:lnTo>
                <a:lnTo>
                  <a:pt x="18" y="0"/>
                </a:lnTo>
                <a:lnTo>
                  <a:pt x="21" y="0"/>
                </a:lnTo>
                <a:lnTo>
                  <a:pt x="26" y="0"/>
                </a:lnTo>
                <a:lnTo>
                  <a:pt x="29" y="3"/>
                </a:lnTo>
                <a:lnTo>
                  <a:pt x="31" y="3"/>
                </a:lnTo>
                <a:lnTo>
                  <a:pt x="34" y="5"/>
                </a:lnTo>
                <a:lnTo>
                  <a:pt x="37" y="8"/>
                </a:lnTo>
                <a:lnTo>
                  <a:pt x="39" y="11"/>
                </a:lnTo>
                <a:lnTo>
                  <a:pt x="42" y="13"/>
                </a:lnTo>
                <a:lnTo>
                  <a:pt x="42" y="16"/>
                </a:lnTo>
                <a:lnTo>
                  <a:pt x="45" y="19"/>
                </a:lnTo>
                <a:lnTo>
                  <a:pt x="45" y="24"/>
                </a:lnTo>
                <a:lnTo>
                  <a:pt x="42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2" name="Freeform 74"/>
          <p:cNvSpPr>
            <a:spLocks/>
          </p:cNvSpPr>
          <p:nvPr/>
        </p:nvSpPr>
        <p:spPr bwMode="auto">
          <a:xfrm>
            <a:off x="6178550" y="3359150"/>
            <a:ext cx="71438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5" y="19"/>
                </a:lnTo>
                <a:lnTo>
                  <a:pt x="42" y="16"/>
                </a:lnTo>
                <a:lnTo>
                  <a:pt x="42" y="13"/>
                </a:lnTo>
                <a:lnTo>
                  <a:pt x="39" y="11"/>
                </a:lnTo>
                <a:lnTo>
                  <a:pt x="37" y="8"/>
                </a:lnTo>
                <a:lnTo>
                  <a:pt x="34" y="5"/>
                </a:lnTo>
                <a:lnTo>
                  <a:pt x="31" y="3"/>
                </a:lnTo>
                <a:lnTo>
                  <a:pt x="29" y="3"/>
                </a:lnTo>
                <a:lnTo>
                  <a:pt x="26" y="0"/>
                </a:lnTo>
                <a:lnTo>
                  <a:pt x="21" y="0"/>
                </a:lnTo>
                <a:lnTo>
                  <a:pt x="18" y="0"/>
                </a:lnTo>
                <a:lnTo>
                  <a:pt x="15" y="3"/>
                </a:lnTo>
                <a:lnTo>
                  <a:pt x="13" y="3"/>
                </a:lnTo>
                <a:lnTo>
                  <a:pt x="8" y="5"/>
                </a:lnTo>
                <a:lnTo>
                  <a:pt x="5" y="8"/>
                </a:lnTo>
                <a:lnTo>
                  <a:pt x="5" y="11"/>
                </a:lnTo>
                <a:lnTo>
                  <a:pt x="2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29"/>
                </a:lnTo>
                <a:lnTo>
                  <a:pt x="2" y="35"/>
                </a:lnTo>
                <a:lnTo>
                  <a:pt x="5" y="37"/>
                </a:lnTo>
                <a:lnTo>
                  <a:pt x="5" y="40"/>
                </a:lnTo>
                <a:lnTo>
                  <a:pt x="8" y="40"/>
                </a:lnTo>
                <a:lnTo>
                  <a:pt x="13" y="43"/>
                </a:lnTo>
                <a:lnTo>
                  <a:pt x="15" y="45"/>
                </a:lnTo>
                <a:lnTo>
                  <a:pt x="18" y="45"/>
                </a:lnTo>
                <a:lnTo>
                  <a:pt x="21" y="45"/>
                </a:lnTo>
                <a:lnTo>
                  <a:pt x="26" y="45"/>
                </a:lnTo>
                <a:lnTo>
                  <a:pt x="29" y="45"/>
                </a:lnTo>
                <a:lnTo>
                  <a:pt x="31" y="43"/>
                </a:lnTo>
                <a:lnTo>
                  <a:pt x="34" y="40"/>
                </a:lnTo>
                <a:lnTo>
                  <a:pt x="37" y="40"/>
                </a:lnTo>
                <a:lnTo>
                  <a:pt x="39" y="37"/>
                </a:lnTo>
                <a:lnTo>
                  <a:pt x="42" y="35"/>
                </a:lnTo>
                <a:lnTo>
                  <a:pt x="42" y="29"/>
                </a:lnTo>
                <a:lnTo>
                  <a:pt x="45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3" name="Freeform 75"/>
          <p:cNvSpPr>
            <a:spLocks/>
          </p:cNvSpPr>
          <p:nvPr/>
        </p:nvSpPr>
        <p:spPr bwMode="auto">
          <a:xfrm>
            <a:off x="6492875" y="3359150"/>
            <a:ext cx="71438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2147483647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2147483647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5" y="21"/>
                </a:moveTo>
                <a:lnTo>
                  <a:pt x="45" y="27"/>
                </a:lnTo>
                <a:lnTo>
                  <a:pt x="45" y="29"/>
                </a:lnTo>
                <a:lnTo>
                  <a:pt x="43" y="35"/>
                </a:lnTo>
                <a:lnTo>
                  <a:pt x="40" y="37"/>
                </a:lnTo>
                <a:lnTo>
                  <a:pt x="40" y="40"/>
                </a:lnTo>
                <a:lnTo>
                  <a:pt x="38" y="40"/>
                </a:lnTo>
                <a:lnTo>
                  <a:pt x="35" y="43"/>
                </a:lnTo>
                <a:lnTo>
                  <a:pt x="30" y="45"/>
                </a:lnTo>
                <a:lnTo>
                  <a:pt x="27" y="45"/>
                </a:lnTo>
                <a:lnTo>
                  <a:pt x="24" y="45"/>
                </a:lnTo>
                <a:lnTo>
                  <a:pt x="19" y="45"/>
                </a:lnTo>
                <a:lnTo>
                  <a:pt x="16" y="45"/>
                </a:lnTo>
                <a:lnTo>
                  <a:pt x="14" y="43"/>
                </a:lnTo>
                <a:lnTo>
                  <a:pt x="11" y="40"/>
                </a:lnTo>
                <a:lnTo>
                  <a:pt x="8" y="40"/>
                </a:lnTo>
                <a:lnTo>
                  <a:pt x="6" y="37"/>
                </a:lnTo>
                <a:lnTo>
                  <a:pt x="3" y="35"/>
                </a:lnTo>
                <a:lnTo>
                  <a:pt x="3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3" y="16"/>
                </a:lnTo>
                <a:lnTo>
                  <a:pt x="3" y="13"/>
                </a:lnTo>
                <a:lnTo>
                  <a:pt x="6" y="11"/>
                </a:lnTo>
                <a:lnTo>
                  <a:pt x="8" y="8"/>
                </a:lnTo>
                <a:lnTo>
                  <a:pt x="11" y="5"/>
                </a:lnTo>
                <a:lnTo>
                  <a:pt x="14" y="3"/>
                </a:lnTo>
                <a:lnTo>
                  <a:pt x="16" y="3"/>
                </a:lnTo>
                <a:lnTo>
                  <a:pt x="19" y="0"/>
                </a:lnTo>
                <a:lnTo>
                  <a:pt x="24" y="0"/>
                </a:lnTo>
                <a:lnTo>
                  <a:pt x="27" y="0"/>
                </a:lnTo>
                <a:lnTo>
                  <a:pt x="30" y="3"/>
                </a:lnTo>
                <a:lnTo>
                  <a:pt x="35" y="3"/>
                </a:lnTo>
                <a:lnTo>
                  <a:pt x="38" y="5"/>
                </a:lnTo>
                <a:lnTo>
                  <a:pt x="40" y="8"/>
                </a:lnTo>
                <a:lnTo>
                  <a:pt x="40" y="11"/>
                </a:lnTo>
                <a:lnTo>
                  <a:pt x="43" y="13"/>
                </a:lnTo>
                <a:lnTo>
                  <a:pt x="45" y="16"/>
                </a:lnTo>
                <a:lnTo>
                  <a:pt x="45" y="19"/>
                </a:lnTo>
                <a:lnTo>
                  <a:pt x="45" y="24"/>
                </a:lnTo>
                <a:lnTo>
                  <a:pt x="45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4" name="Freeform 76"/>
          <p:cNvSpPr>
            <a:spLocks/>
          </p:cNvSpPr>
          <p:nvPr/>
        </p:nvSpPr>
        <p:spPr bwMode="auto">
          <a:xfrm>
            <a:off x="6492875" y="3359150"/>
            <a:ext cx="71438" cy="71438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2147483647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2147483647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5" y="21"/>
                </a:moveTo>
                <a:lnTo>
                  <a:pt x="45" y="19"/>
                </a:lnTo>
                <a:lnTo>
                  <a:pt x="45" y="16"/>
                </a:lnTo>
                <a:lnTo>
                  <a:pt x="43" y="13"/>
                </a:lnTo>
                <a:lnTo>
                  <a:pt x="40" y="11"/>
                </a:lnTo>
                <a:lnTo>
                  <a:pt x="40" y="8"/>
                </a:lnTo>
                <a:lnTo>
                  <a:pt x="38" y="5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6" y="11"/>
                </a:lnTo>
                <a:lnTo>
                  <a:pt x="3" y="13"/>
                </a:lnTo>
                <a:lnTo>
                  <a:pt x="3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3" y="29"/>
                </a:lnTo>
                <a:lnTo>
                  <a:pt x="3" y="35"/>
                </a:lnTo>
                <a:lnTo>
                  <a:pt x="6" y="37"/>
                </a:lnTo>
                <a:lnTo>
                  <a:pt x="8" y="40"/>
                </a:lnTo>
                <a:lnTo>
                  <a:pt x="11" y="40"/>
                </a:lnTo>
                <a:lnTo>
                  <a:pt x="14" y="43"/>
                </a:lnTo>
                <a:lnTo>
                  <a:pt x="16" y="45"/>
                </a:lnTo>
                <a:lnTo>
                  <a:pt x="19" y="45"/>
                </a:lnTo>
                <a:lnTo>
                  <a:pt x="24" y="45"/>
                </a:lnTo>
                <a:lnTo>
                  <a:pt x="27" y="45"/>
                </a:lnTo>
                <a:lnTo>
                  <a:pt x="30" y="45"/>
                </a:lnTo>
                <a:lnTo>
                  <a:pt x="35" y="43"/>
                </a:lnTo>
                <a:lnTo>
                  <a:pt x="38" y="40"/>
                </a:lnTo>
                <a:lnTo>
                  <a:pt x="40" y="40"/>
                </a:lnTo>
                <a:lnTo>
                  <a:pt x="40" y="37"/>
                </a:lnTo>
                <a:lnTo>
                  <a:pt x="43" y="35"/>
                </a:lnTo>
                <a:lnTo>
                  <a:pt x="45" y="29"/>
                </a:lnTo>
                <a:lnTo>
                  <a:pt x="45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7445" name="Slide Number Placeholder 8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D7A0BF-2D36-4B6B-9C44-55449E8EB484}" type="slidenum">
              <a:rPr lang="en-US" smtClean="0"/>
              <a:pPr/>
              <a:t>12</a:t>
            </a:fld>
            <a:r>
              <a:rPr lang="en-US"/>
              <a:t> </a:t>
            </a:r>
          </a:p>
        </p:txBody>
      </p:sp>
      <p:sp>
        <p:nvSpPr>
          <p:cNvPr id="17446" name="TextBox 83"/>
          <p:cNvSpPr txBox="1">
            <a:spLocks noChangeArrowheads="1"/>
          </p:cNvSpPr>
          <p:nvPr/>
        </p:nvSpPr>
        <p:spPr bwMode="auto">
          <a:xfrm>
            <a:off x="257175" y="1095375"/>
            <a:ext cx="4194509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Each P</a:t>
            </a:r>
            <a:r>
              <a:rPr lang="en-US" sz="2000" baseline="-25000" dirty="0"/>
              <a:t>i</a:t>
            </a:r>
            <a:r>
              <a:rPr lang="en-US" sz="2000" dirty="0"/>
              <a:t> is a processor like those studied earlier in the course.   The boxes labeled “$” are caches.</a:t>
            </a:r>
          </a:p>
          <a:p>
            <a:endParaRPr lang="en-US" sz="2000" dirty="0"/>
          </a:p>
          <a:p>
            <a:r>
              <a:rPr lang="en-US" sz="2000" dirty="0"/>
              <a:t>Multiple processor cores on a single chip.</a:t>
            </a:r>
          </a:p>
          <a:p>
            <a:endParaRPr lang="en-US" sz="2000" dirty="0"/>
          </a:p>
          <a:p>
            <a:r>
              <a:rPr lang="en-US" sz="2000" dirty="0"/>
              <a:t>Processors are connected via an  interconnection network (bus, crossbar, ring, mesh).</a:t>
            </a:r>
          </a:p>
          <a:p>
            <a:endParaRPr lang="en-US" sz="2000" dirty="0"/>
          </a:p>
        </p:txBody>
      </p:sp>
      <p:sp>
        <p:nvSpPr>
          <p:cNvPr id="17447" name="Rectangle 110"/>
          <p:cNvSpPr>
            <a:spLocks noChangeArrowheads="1"/>
          </p:cNvSpPr>
          <p:nvPr/>
        </p:nvSpPr>
        <p:spPr bwMode="auto">
          <a:xfrm>
            <a:off x="5207000" y="4227513"/>
            <a:ext cx="22225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1600"/>
              <a:t>Cache</a:t>
            </a:r>
          </a:p>
        </p:txBody>
      </p:sp>
      <p:sp>
        <p:nvSpPr>
          <p:cNvPr id="17448" name="Line 64"/>
          <p:cNvSpPr>
            <a:spLocks noChangeShapeType="1"/>
          </p:cNvSpPr>
          <p:nvPr/>
        </p:nvSpPr>
        <p:spPr bwMode="auto">
          <a:xfrm>
            <a:off x="6300788" y="4083050"/>
            <a:ext cx="1587" cy="1143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program?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41325" y="1214437"/>
            <a:ext cx="8264525" cy="5282615"/>
          </a:xfrm>
        </p:spPr>
        <p:txBody>
          <a:bodyPr/>
          <a:lstStyle/>
          <a:p>
            <a:r>
              <a:rPr lang="en-CA" dirty="0"/>
              <a:t>Easiest: Multiprogramming</a:t>
            </a:r>
          </a:p>
          <a:p>
            <a:pPr lvl="1"/>
            <a:r>
              <a:rPr lang="en-CA" dirty="0"/>
              <a:t>Separate single thread applications</a:t>
            </a:r>
          </a:p>
          <a:p>
            <a:pPr lvl="1"/>
            <a:r>
              <a:rPr lang="en-CA" dirty="0"/>
              <a:t>Used today for “Cloud Computing”</a:t>
            </a:r>
          </a:p>
          <a:p>
            <a:pPr lvl="1">
              <a:buNone/>
            </a:pPr>
            <a:endParaRPr lang="en-CA" dirty="0"/>
          </a:p>
          <a:p>
            <a:r>
              <a:rPr lang="en-CA" dirty="0"/>
              <a:t>For some programs: Parallelizing Compiler</a:t>
            </a:r>
          </a:p>
          <a:p>
            <a:pPr lvl="1"/>
            <a:r>
              <a:rPr lang="en-CA" dirty="0"/>
              <a:t>Input C/C++/Fortran; Output parallel program</a:t>
            </a:r>
          </a:p>
          <a:p>
            <a:pPr lvl="1"/>
            <a:endParaRPr lang="en-CA" dirty="0"/>
          </a:p>
          <a:p>
            <a:r>
              <a:rPr lang="en-CA" dirty="0"/>
              <a:t>General: Parallel APIs / Languages</a:t>
            </a:r>
          </a:p>
          <a:p>
            <a:pPr lvl="1"/>
            <a:r>
              <a:rPr lang="en-CA" dirty="0"/>
              <a:t>APIs: </a:t>
            </a:r>
            <a:r>
              <a:rPr lang="en-CA" dirty="0" err="1"/>
              <a:t>Pthreads</a:t>
            </a:r>
            <a:r>
              <a:rPr lang="en-CA" dirty="0"/>
              <a:t>, </a:t>
            </a:r>
            <a:r>
              <a:rPr lang="en-CA" dirty="0" err="1"/>
              <a:t>OpenMP</a:t>
            </a:r>
            <a:r>
              <a:rPr lang="en-CA" dirty="0"/>
              <a:t>, MPI</a:t>
            </a:r>
          </a:p>
          <a:p>
            <a:pPr lvl="1"/>
            <a:r>
              <a:rPr lang="en-CA" dirty="0"/>
              <a:t>Languages: CUDA, </a:t>
            </a:r>
            <a:r>
              <a:rPr lang="en-CA" dirty="0" err="1"/>
              <a:t>OpenCL</a:t>
            </a:r>
            <a:r>
              <a:rPr lang="en-CA" dirty="0"/>
              <a:t>, High Performance Fortran, </a:t>
            </a:r>
            <a:r>
              <a:rPr lang="en-CA" dirty="0" err="1"/>
              <a:t>Erlang</a:t>
            </a:r>
            <a:r>
              <a:rPr lang="en-CA" dirty="0"/>
              <a:t>, Sisal</a:t>
            </a:r>
          </a:p>
          <a:p>
            <a:pPr lvl="1"/>
            <a:endParaRPr lang="en-CA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F9DB46-E14D-483D-905A-127CEF905BBD}" type="slidenum">
              <a:rPr lang="en-US" smtClean="0"/>
              <a:pPr/>
              <a:t>13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9938"/>
          </a:xfrm>
        </p:spPr>
        <p:txBody>
          <a:bodyPr/>
          <a:lstStyle/>
          <a:p>
            <a:r>
              <a:rPr lang="en-CA" dirty="0"/>
              <a:t>POSIX threads (</a:t>
            </a:r>
            <a:r>
              <a:rPr lang="en-CA" dirty="0" err="1"/>
              <a:t>pthreads</a:t>
            </a:r>
            <a:r>
              <a:rPr lang="en-CA" dirty="0"/>
              <a:t>)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46113" y="927100"/>
            <a:ext cx="7772400" cy="4724400"/>
          </a:xfrm>
        </p:spPr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#define N (1024*1024)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double data[N], sum[2];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*</a:t>
            </a:r>
            <a:r>
              <a:rPr lang="en-CA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foo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 { </a:t>
            </a:r>
            <a:r>
              <a:rPr lang="en-CA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; for(</a:t>
            </a:r>
            <a:r>
              <a:rPr lang="en-CA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=0;i&lt;N/2;i++) sum[0] += data[</a:t>
            </a:r>
            <a:r>
              <a:rPr lang="en-CA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]; }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void *</a:t>
            </a:r>
            <a:r>
              <a:rPr lang="en-CA" sz="1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bar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() { </a:t>
            </a:r>
            <a:r>
              <a:rPr lang="en-CA" sz="1400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400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; for(</a:t>
            </a:r>
            <a:r>
              <a:rPr lang="en-CA" sz="1400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=0;i&lt;N/2;i++) sum[1] += data[i+N/2]; }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400" b="1" dirty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4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CA" sz="14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14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CA" sz="1400" dirty="0">
                <a:latin typeface="Courier New" pitchFamily="49" charset="0"/>
                <a:cs typeface="Courier New" pitchFamily="49" charset="0"/>
              </a:rPr>
              <a:t> f, b;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// load data with values here...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(&amp;f, NULL, </a:t>
            </a:r>
            <a:r>
              <a:rPr lang="en-CA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foo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, NULL);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14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(&amp;b, NULL, bar, NULL);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1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CA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(f, NULL);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14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CA" sz="1400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(b, NULL);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double total = sum[0]+sum[1];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lang="en-CA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// do something with total here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CA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F407D2-A352-4B4A-9C22-A392E6C3F536}" type="slidenum">
              <a:rPr lang="en-US" smtClean="0"/>
              <a:pPr/>
              <a:t>14</a:t>
            </a:fld>
            <a:r>
              <a:rPr lang="en-US"/>
              <a:t> </a:t>
            </a:r>
          </a:p>
        </p:txBody>
      </p:sp>
      <p:sp>
        <p:nvSpPr>
          <p:cNvPr id="19461" name="TextBox 4"/>
          <p:cNvSpPr txBox="1">
            <a:spLocks noChangeArrowheads="1"/>
          </p:cNvSpPr>
          <p:nvPr/>
        </p:nvSpPr>
        <p:spPr bwMode="auto">
          <a:xfrm>
            <a:off x="571500" y="6027738"/>
            <a:ext cx="7405688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2000" dirty="0">
                <a:solidFill>
                  <a:srgbClr val="0000FF"/>
                </a:solidFill>
              </a:rPr>
              <a:t>Create two new threads.  Operating system can schedule them on different cores so they run at same time (concurrently).</a:t>
            </a:r>
            <a:endParaRPr lang="en-CA" sz="2000" u="sng" dirty="0">
              <a:solidFill>
                <a:srgbClr val="0000FF"/>
              </a:solidFill>
            </a:endParaRPr>
          </a:p>
        </p:txBody>
      </p:sp>
      <p:cxnSp>
        <p:nvCxnSpPr>
          <p:cNvPr id="19462" name="Straight Arrow Connector 6"/>
          <p:cNvCxnSpPr>
            <a:cxnSpLocks noChangeShapeType="1"/>
            <a:stCxn id="19463" idx="1"/>
          </p:cNvCxnSpPr>
          <p:nvPr/>
        </p:nvCxnSpPr>
        <p:spPr bwMode="auto">
          <a:xfrm flipH="1">
            <a:off x="4969042" y="2688670"/>
            <a:ext cx="1909596" cy="96893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9463" name="TextBox 7"/>
          <p:cNvSpPr txBox="1">
            <a:spLocks noChangeArrowheads="1"/>
          </p:cNvSpPr>
          <p:nvPr/>
        </p:nvSpPr>
        <p:spPr bwMode="auto">
          <a:xfrm>
            <a:off x="6878638" y="2319338"/>
            <a:ext cx="185499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creates a new thread</a:t>
            </a:r>
          </a:p>
          <a:p>
            <a:r>
              <a:rPr lang="en-CA" dirty="0">
                <a:solidFill>
                  <a:srgbClr val="FF0000"/>
                </a:solidFill>
              </a:rPr>
              <a:t>that starts running</a:t>
            </a:r>
          </a:p>
          <a:p>
            <a:r>
              <a:rPr lang="en-CA" dirty="0">
                <a:solidFill>
                  <a:srgbClr val="FF0000"/>
                </a:solidFill>
              </a:rPr>
              <a:t>code in </a:t>
            </a:r>
            <a:r>
              <a:rPr lang="en-CA" dirty="0" err="1">
                <a:solidFill>
                  <a:srgbClr val="FF0000"/>
                </a:solidFill>
              </a:rPr>
              <a:t>foo</a:t>
            </a:r>
            <a:r>
              <a:rPr lang="en-CA" dirty="0">
                <a:solidFill>
                  <a:srgbClr val="FF0000"/>
                </a:solidFill>
              </a:rPr>
              <a:t>().</a:t>
            </a:r>
          </a:p>
        </p:txBody>
      </p:sp>
      <p:cxnSp>
        <p:nvCxnSpPr>
          <p:cNvPr id="19464" name="Straight Connector 10"/>
          <p:cNvCxnSpPr>
            <a:cxnSpLocks noChangeShapeType="1"/>
          </p:cNvCxnSpPr>
          <p:nvPr/>
        </p:nvCxnSpPr>
        <p:spPr bwMode="auto">
          <a:xfrm rot="16200000" flipH="1">
            <a:off x="6241256" y="3948907"/>
            <a:ext cx="874713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65" name="Straight Arrow Connector 20"/>
          <p:cNvCxnSpPr>
            <a:cxnSpLocks noChangeShapeType="1"/>
          </p:cNvCxnSpPr>
          <p:nvPr/>
        </p:nvCxnSpPr>
        <p:spPr bwMode="auto">
          <a:xfrm rot="5400000">
            <a:off x="6712744" y="4525169"/>
            <a:ext cx="755650" cy="1588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/>
            <a:tailEnd type="arrow" w="med" len="med"/>
          </a:ln>
        </p:spPr>
      </p:cxnSp>
      <p:cxnSp>
        <p:nvCxnSpPr>
          <p:cNvPr id="19466" name="Straight Arrow Connector 21"/>
          <p:cNvCxnSpPr>
            <a:cxnSpLocks noChangeShapeType="1"/>
          </p:cNvCxnSpPr>
          <p:nvPr/>
        </p:nvCxnSpPr>
        <p:spPr bwMode="auto">
          <a:xfrm rot="5400000">
            <a:off x="7156451" y="4797425"/>
            <a:ext cx="754062" cy="1587"/>
          </a:xfrm>
          <a:prstGeom prst="straightConnector1">
            <a:avLst/>
          </a:prstGeom>
          <a:noFill/>
          <a:ln w="25400" algn="ctr">
            <a:solidFill>
              <a:srgbClr val="FF00FF"/>
            </a:solidFill>
            <a:round/>
            <a:headEnd/>
            <a:tailEnd type="arrow" w="med" len="med"/>
          </a:ln>
        </p:spPr>
      </p:cxnSp>
      <p:cxnSp>
        <p:nvCxnSpPr>
          <p:cNvPr id="19467" name="Straight Connector 23"/>
          <p:cNvCxnSpPr>
            <a:cxnSpLocks noChangeShapeType="1"/>
          </p:cNvCxnSpPr>
          <p:nvPr/>
        </p:nvCxnSpPr>
        <p:spPr bwMode="auto">
          <a:xfrm>
            <a:off x="6678613" y="4041775"/>
            <a:ext cx="411162" cy="119063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</p:cxnSp>
      <p:cxnSp>
        <p:nvCxnSpPr>
          <p:cNvPr id="19468" name="Straight Connector 24"/>
          <p:cNvCxnSpPr>
            <a:cxnSpLocks noChangeShapeType="1"/>
          </p:cNvCxnSpPr>
          <p:nvPr/>
        </p:nvCxnSpPr>
        <p:spPr bwMode="auto">
          <a:xfrm>
            <a:off x="6672263" y="4194175"/>
            <a:ext cx="841375" cy="246063"/>
          </a:xfrm>
          <a:prstGeom prst="line">
            <a:avLst/>
          </a:prstGeom>
          <a:noFill/>
          <a:ln w="9525" algn="ctr">
            <a:solidFill>
              <a:srgbClr val="FF00FF"/>
            </a:solidFill>
            <a:round/>
            <a:headEnd/>
            <a:tailEnd/>
          </a:ln>
        </p:spPr>
      </p:cxnSp>
      <p:cxnSp>
        <p:nvCxnSpPr>
          <p:cNvPr id="19469" name="Straight Connector 29"/>
          <p:cNvCxnSpPr>
            <a:cxnSpLocks noChangeShapeType="1"/>
          </p:cNvCxnSpPr>
          <p:nvPr/>
        </p:nvCxnSpPr>
        <p:spPr bwMode="auto">
          <a:xfrm rot="16200000" flipH="1">
            <a:off x="6280944" y="4810919"/>
            <a:ext cx="79533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9470" name="Straight Arrow Connector 34"/>
          <p:cNvCxnSpPr>
            <a:cxnSpLocks noChangeShapeType="1"/>
          </p:cNvCxnSpPr>
          <p:nvPr/>
        </p:nvCxnSpPr>
        <p:spPr bwMode="auto">
          <a:xfrm rot="5400000">
            <a:off x="6407944" y="5493544"/>
            <a:ext cx="542925" cy="158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9471" name="Straight Connector 39"/>
          <p:cNvCxnSpPr>
            <a:cxnSpLocks noChangeShapeType="1"/>
          </p:cNvCxnSpPr>
          <p:nvPr/>
        </p:nvCxnSpPr>
        <p:spPr bwMode="auto">
          <a:xfrm rot="10800000" flipV="1">
            <a:off x="6692900" y="4903788"/>
            <a:ext cx="384175" cy="25400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</p:cxnSp>
      <p:cxnSp>
        <p:nvCxnSpPr>
          <p:cNvPr id="19472" name="Straight Connector 40"/>
          <p:cNvCxnSpPr>
            <a:cxnSpLocks noChangeShapeType="1"/>
          </p:cNvCxnSpPr>
          <p:nvPr/>
        </p:nvCxnSpPr>
        <p:spPr bwMode="auto">
          <a:xfrm rot="10800000" flipV="1">
            <a:off x="6653213" y="5175250"/>
            <a:ext cx="854075" cy="58738"/>
          </a:xfrm>
          <a:prstGeom prst="line">
            <a:avLst/>
          </a:prstGeom>
          <a:noFill/>
          <a:ln w="9525" algn="ctr">
            <a:solidFill>
              <a:srgbClr val="FF00FF"/>
            </a:solidFill>
            <a:round/>
            <a:headEnd/>
            <a:tailEnd/>
          </a:ln>
        </p:spPr>
      </p:cxnSp>
      <p:sp>
        <p:nvSpPr>
          <p:cNvPr id="19473" name="TextBox 42"/>
          <p:cNvSpPr txBox="1">
            <a:spLocks noChangeArrowheads="1"/>
          </p:cNvSpPr>
          <p:nvPr/>
        </p:nvSpPr>
        <p:spPr bwMode="auto">
          <a:xfrm>
            <a:off x="6373813" y="3221038"/>
            <a:ext cx="69215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/>
              <a:t>main()</a:t>
            </a:r>
          </a:p>
        </p:txBody>
      </p:sp>
      <p:sp>
        <p:nvSpPr>
          <p:cNvPr id="19474" name="TextBox 43"/>
          <p:cNvSpPr txBox="1">
            <a:spLocks noChangeArrowheads="1"/>
          </p:cNvSpPr>
          <p:nvPr/>
        </p:nvSpPr>
        <p:spPr bwMode="auto">
          <a:xfrm>
            <a:off x="6791325" y="3770313"/>
            <a:ext cx="55175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dirty="0" err="1">
                <a:solidFill>
                  <a:srgbClr val="0000FF"/>
                </a:solidFill>
              </a:rPr>
              <a:t>foo</a:t>
            </a:r>
            <a:r>
              <a:rPr lang="en-CA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19475" name="TextBox 44"/>
          <p:cNvSpPr txBox="1">
            <a:spLocks noChangeArrowheads="1"/>
          </p:cNvSpPr>
          <p:nvPr/>
        </p:nvSpPr>
        <p:spPr bwMode="auto">
          <a:xfrm>
            <a:off x="7394575" y="4148138"/>
            <a:ext cx="5613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FF00FF"/>
                </a:solidFill>
              </a:rPr>
              <a:t>bar()</a:t>
            </a:r>
          </a:p>
        </p:txBody>
      </p:sp>
      <p:cxnSp>
        <p:nvCxnSpPr>
          <p:cNvPr id="19476" name="Straight Connector 45"/>
          <p:cNvCxnSpPr>
            <a:cxnSpLocks noChangeShapeType="1"/>
          </p:cNvCxnSpPr>
          <p:nvPr/>
        </p:nvCxnSpPr>
        <p:spPr bwMode="auto">
          <a:xfrm rot="16200000" flipH="1">
            <a:off x="6587331" y="5006182"/>
            <a:ext cx="176213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" name="Straight Arrow Connector 6"/>
          <p:cNvCxnSpPr>
            <a:cxnSpLocks noChangeShapeType="1"/>
          </p:cNvCxnSpPr>
          <p:nvPr/>
        </p:nvCxnSpPr>
        <p:spPr bwMode="auto">
          <a:xfrm flipH="1">
            <a:off x="6689558" y="3045607"/>
            <a:ext cx="943059" cy="98497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3102427" y="2379675"/>
            <a:ext cx="3151414" cy="233498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6" charset="-52"/>
              <a:ea typeface="ＭＳ Ｐゴシック" pitchFamily="-106" charset="-128"/>
              <a:cs typeface="ＭＳ Ｐゴシック" pitchFamily="-106" charset="-128"/>
            </a:endParaRPr>
          </a:p>
        </p:txBody>
      </p:sp>
      <p:sp>
        <p:nvSpPr>
          <p:cNvPr id="20482" name="Rectangle 108"/>
          <p:cNvSpPr>
            <a:spLocks noChangeArrowheads="1"/>
          </p:cNvSpPr>
          <p:nvPr/>
        </p:nvSpPr>
        <p:spPr bwMode="auto">
          <a:xfrm>
            <a:off x="5327650" y="2514600"/>
            <a:ext cx="6731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3" name="Rectangle 107"/>
          <p:cNvSpPr>
            <a:spLocks noChangeArrowheads="1"/>
          </p:cNvSpPr>
          <p:nvPr/>
        </p:nvSpPr>
        <p:spPr bwMode="auto">
          <a:xfrm>
            <a:off x="3308350" y="2527300"/>
            <a:ext cx="6731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4" name="Line 42"/>
          <p:cNvSpPr>
            <a:spLocks noChangeShapeType="1"/>
          </p:cNvSpPr>
          <p:nvPr/>
        </p:nvSpPr>
        <p:spPr bwMode="auto">
          <a:xfrm>
            <a:off x="5665788" y="3600450"/>
            <a:ext cx="3175" cy="127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85" name="Line 43"/>
          <p:cNvSpPr>
            <a:spLocks noChangeShapeType="1"/>
          </p:cNvSpPr>
          <p:nvPr/>
        </p:nvSpPr>
        <p:spPr bwMode="auto">
          <a:xfrm>
            <a:off x="3644900" y="3587750"/>
            <a:ext cx="4763" cy="1190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86" name="Freeform 44"/>
          <p:cNvSpPr>
            <a:spLocks/>
          </p:cNvSpPr>
          <p:nvPr/>
        </p:nvSpPr>
        <p:spPr bwMode="auto">
          <a:xfrm>
            <a:off x="3346450" y="3722688"/>
            <a:ext cx="2647950" cy="382587"/>
          </a:xfrm>
          <a:custGeom>
            <a:avLst/>
            <a:gdLst>
              <a:gd name="T0" fmla="*/ 0 w 1668"/>
              <a:gd name="T1" fmla="*/ 0 h 241"/>
              <a:gd name="T2" fmla="*/ 2147483647 w 1668"/>
              <a:gd name="T3" fmla="*/ 2147483647 h 241"/>
              <a:gd name="T4" fmla="*/ 2147483647 w 1668"/>
              <a:gd name="T5" fmla="*/ 2147483647 h 241"/>
              <a:gd name="T6" fmla="*/ 2147483647 w 1668"/>
              <a:gd name="T7" fmla="*/ 2147483647 h 241"/>
              <a:gd name="T8" fmla="*/ 2147483647 w 1668"/>
              <a:gd name="T9" fmla="*/ 2147483647 h 241"/>
              <a:gd name="T10" fmla="*/ 0 w 1668"/>
              <a:gd name="T11" fmla="*/ 0 h 2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68"/>
              <a:gd name="T19" fmla="*/ 0 h 241"/>
              <a:gd name="T20" fmla="*/ 1668 w 1668"/>
              <a:gd name="T21" fmla="*/ 241 h 2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68" h="241">
                <a:moveTo>
                  <a:pt x="0" y="0"/>
                </a:moveTo>
                <a:lnTo>
                  <a:pt x="1668" y="3"/>
                </a:lnTo>
                <a:lnTo>
                  <a:pt x="1668" y="241"/>
                </a:lnTo>
                <a:lnTo>
                  <a:pt x="3" y="241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87" name="Freeform 45"/>
          <p:cNvSpPr>
            <a:spLocks/>
          </p:cNvSpPr>
          <p:nvPr/>
        </p:nvSpPr>
        <p:spPr bwMode="auto">
          <a:xfrm>
            <a:off x="3346450" y="3722688"/>
            <a:ext cx="2647950" cy="382587"/>
          </a:xfrm>
          <a:custGeom>
            <a:avLst/>
            <a:gdLst>
              <a:gd name="T0" fmla="*/ 0 w 1668"/>
              <a:gd name="T1" fmla="*/ 0 h 241"/>
              <a:gd name="T2" fmla="*/ 2147483647 w 1668"/>
              <a:gd name="T3" fmla="*/ 2147483647 h 241"/>
              <a:gd name="T4" fmla="*/ 2147483647 w 1668"/>
              <a:gd name="T5" fmla="*/ 2147483647 h 241"/>
              <a:gd name="T6" fmla="*/ 2147483647 w 1668"/>
              <a:gd name="T7" fmla="*/ 2147483647 h 241"/>
              <a:gd name="T8" fmla="*/ 2147483647 w 1668"/>
              <a:gd name="T9" fmla="*/ 2147483647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8"/>
              <a:gd name="T16" fmla="*/ 0 h 241"/>
              <a:gd name="T17" fmla="*/ 1668 w 1668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8" h="241">
                <a:moveTo>
                  <a:pt x="0" y="0"/>
                </a:moveTo>
                <a:lnTo>
                  <a:pt x="1668" y="3"/>
                </a:lnTo>
                <a:lnTo>
                  <a:pt x="1668" y="241"/>
                </a:lnTo>
                <a:lnTo>
                  <a:pt x="3" y="241"/>
                </a:lnTo>
                <a:lnTo>
                  <a:pt x="3" y="3"/>
                </a:lnTo>
              </a:path>
            </a:pathLst>
          </a:custGeom>
          <a:solidFill>
            <a:srgbClr val="FFFF00"/>
          </a:solidFill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88" name="Line 46"/>
          <p:cNvSpPr>
            <a:spLocks noChangeShapeType="1"/>
          </p:cNvSpPr>
          <p:nvPr/>
        </p:nvSpPr>
        <p:spPr bwMode="auto">
          <a:xfrm>
            <a:off x="3641725" y="3141663"/>
            <a:ext cx="3175" cy="131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89" name="Freeform 47"/>
          <p:cNvSpPr>
            <a:spLocks/>
          </p:cNvSpPr>
          <p:nvPr/>
        </p:nvSpPr>
        <p:spPr bwMode="auto">
          <a:xfrm>
            <a:off x="3392488" y="2641600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2147483647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0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6"/>
                </a:moveTo>
                <a:lnTo>
                  <a:pt x="316" y="186"/>
                </a:lnTo>
                <a:lnTo>
                  <a:pt x="311" y="209"/>
                </a:lnTo>
                <a:lnTo>
                  <a:pt x="300" y="231"/>
                </a:lnTo>
                <a:lnTo>
                  <a:pt x="287" y="252"/>
                </a:lnTo>
                <a:lnTo>
                  <a:pt x="271" y="270"/>
                </a:lnTo>
                <a:lnTo>
                  <a:pt x="252" y="286"/>
                </a:lnTo>
                <a:lnTo>
                  <a:pt x="231" y="300"/>
                </a:lnTo>
                <a:lnTo>
                  <a:pt x="210" y="310"/>
                </a:lnTo>
                <a:lnTo>
                  <a:pt x="183" y="315"/>
                </a:lnTo>
                <a:lnTo>
                  <a:pt x="159" y="318"/>
                </a:lnTo>
                <a:lnTo>
                  <a:pt x="133" y="315"/>
                </a:lnTo>
                <a:lnTo>
                  <a:pt x="109" y="310"/>
                </a:lnTo>
                <a:lnTo>
                  <a:pt x="85" y="300"/>
                </a:lnTo>
                <a:lnTo>
                  <a:pt x="64" y="286"/>
                </a:lnTo>
                <a:lnTo>
                  <a:pt x="45" y="270"/>
                </a:lnTo>
                <a:lnTo>
                  <a:pt x="30" y="252"/>
                </a:lnTo>
                <a:lnTo>
                  <a:pt x="16" y="231"/>
                </a:lnTo>
                <a:lnTo>
                  <a:pt x="8" y="209"/>
                </a:lnTo>
                <a:lnTo>
                  <a:pt x="0" y="186"/>
                </a:lnTo>
                <a:lnTo>
                  <a:pt x="0" y="159"/>
                </a:lnTo>
                <a:lnTo>
                  <a:pt x="0" y="133"/>
                </a:lnTo>
                <a:lnTo>
                  <a:pt x="8" y="109"/>
                </a:lnTo>
                <a:lnTo>
                  <a:pt x="16" y="85"/>
                </a:lnTo>
                <a:lnTo>
                  <a:pt x="30" y="64"/>
                </a:lnTo>
                <a:lnTo>
                  <a:pt x="45" y="45"/>
                </a:lnTo>
                <a:lnTo>
                  <a:pt x="64" y="29"/>
                </a:lnTo>
                <a:lnTo>
                  <a:pt x="85" y="19"/>
                </a:lnTo>
                <a:lnTo>
                  <a:pt x="109" y="8"/>
                </a:lnTo>
                <a:lnTo>
                  <a:pt x="133" y="3"/>
                </a:lnTo>
                <a:lnTo>
                  <a:pt x="159" y="0"/>
                </a:lnTo>
                <a:lnTo>
                  <a:pt x="183" y="3"/>
                </a:lnTo>
                <a:lnTo>
                  <a:pt x="210" y="8"/>
                </a:lnTo>
                <a:lnTo>
                  <a:pt x="231" y="19"/>
                </a:lnTo>
                <a:lnTo>
                  <a:pt x="252" y="29"/>
                </a:lnTo>
                <a:lnTo>
                  <a:pt x="271" y="45"/>
                </a:lnTo>
                <a:lnTo>
                  <a:pt x="287" y="64"/>
                </a:lnTo>
                <a:lnTo>
                  <a:pt x="300" y="85"/>
                </a:lnTo>
                <a:lnTo>
                  <a:pt x="311" y="109"/>
                </a:lnTo>
                <a:lnTo>
                  <a:pt x="316" y="133"/>
                </a:lnTo>
                <a:lnTo>
                  <a:pt x="318" y="159"/>
                </a:lnTo>
                <a:lnTo>
                  <a:pt x="316" y="15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90" name="Freeform 48"/>
          <p:cNvSpPr>
            <a:spLocks/>
          </p:cNvSpPr>
          <p:nvPr/>
        </p:nvSpPr>
        <p:spPr bwMode="auto">
          <a:xfrm>
            <a:off x="3392488" y="2641600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0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2147483647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6"/>
                </a:moveTo>
                <a:lnTo>
                  <a:pt x="316" y="133"/>
                </a:lnTo>
                <a:lnTo>
                  <a:pt x="311" y="109"/>
                </a:lnTo>
                <a:lnTo>
                  <a:pt x="300" y="85"/>
                </a:lnTo>
                <a:lnTo>
                  <a:pt x="287" y="64"/>
                </a:lnTo>
                <a:lnTo>
                  <a:pt x="271" y="45"/>
                </a:lnTo>
                <a:lnTo>
                  <a:pt x="252" y="29"/>
                </a:lnTo>
                <a:lnTo>
                  <a:pt x="231" y="19"/>
                </a:lnTo>
                <a:lnTo>
                  <a:pt x="210" y="8"/>
                </a:lnTo>
                <a:lnTo>
                  <a:pt x="183" y="3"/>
                </a:lnTo>
                <a:lnTo>
                  <a:pt x="159" y="0"/>
                </a:lnTo>
                <a:lnTo>
                  <a:pt x="133" y="3"/>
                </a:lnTo>
                <a:lnTo>
                  <a:pt x="109" y="8"/>
                </a:lnTo>
                <a:lnTo>
                  <a:pt x="85" y="19"/>
                </a:lnTo>
                <a:lnTo>
                  <a:pt x="64" y="29"/>
                </a:lnTo>
                <a:lnTo>
                  <a:pt x="45" y="45"/>
                </a:lnTo>
                <a:lnTo>
                  <a:pt x="30" y="64"/>
                </a:lnTo>
                <a:lnTo>
                  <a:pt x="16" y="85"/>
                </a:lnTo>
                <a:lnTo>
                  <a:pt x="8" y="109"/>
                </a:lnTo>
                <a:lnTo>
                  <a:pt x="0" y="133"/>
                </a:lnTo>
                <a:lnTo>
                  <a:pt x="0" y="159"/>
                </a:lnTo>
                <a:lnTo>
                  <a:pt x="0" y="186"/>
                </a:lnTo>
                <a:lnTo>
                  <a:pt x="8" y="209"/>
                </a:lnTo>
                <a:lnTo>
                  <a:pt x="16" y="231"/>
                </a:lnTo>
                <a:lnTo>
                  <a:pt x="30" y="252"/>
                </a:lnTo>
                <a:lnTo>
                  <a:pt x="45" y="270"/>
                </a:lnTo>
                <a:lnTo>
                  <a:pt x="64" y="286"/>
                </a:lnTo>
                <a:lnTo>
                  <a:pt x="85" y="300"/>
                </a:lnTo>
                <a:lnTo>
                  <a:pt x="109" y="310"/>
                </a:lnTo>
                <a:lnTo>
                  <a:pt x="133" y="315"/>
                </a:lnTo>
                <a:lnTo>
                  <a:pt x="159" y="318"/>
                </a:lnTo>
                <a:lnTo>
                  <a:pt x="183" y="315"/>
                </a:lnTo>
                <a:lnTo>
                  <a:pt x="210" y="310"/>
                </a:lnTo>
                <a:lnTo>
                  <a:pt x="231" y="300"/>
                </a:lnTo>
                <a:lnTo>
                  <a:pt x="252" y="286"/>
                </a:lnTo>
                <a:lnTo>
                  <a:pt x="271" y="270"/>
                </a:lnTo>
                <a:lnTo>
                  <a:pt x="287" y="252"/>
                </a:lnTo>
                <a:lnTo>
                  <a:pt x="300" y="231"/>
                </a:lnTo>
                <a:lnTo>
                  <a:pt x="311" y="209"/>
                </a:lnTo>
                <a:lnTo>
                  <a:pt x="316" y="186"/>
                </a:lnTo>
                <a:lnTo>
                  <a:pt x="318" y="159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91" name="Freeform 49"/>
          <p:cNvSpPr>
            <a:spLocks/>
          </p:cNvSpPr>
          <p:nvPr/>
        </p:nvSpPr>
        <p:spPr bwMode="auto">
          <a:xfrm>
            <a:off x="3389313" y="3268663"/>
            <a:ext cx="508000" cy="319087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w 320"/>
              <a:gd name="T11" fmla="*/ 0 h 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201"/>
              <a:gd name="T20" fmla="*/ 320 w 320"/>
              <a:gd name="T21" fmla="*/ 201 h 2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201">
                <a:moveTo>
                  <a:pt x="0" y="0"/>
                </a:moveTo>
                <a:lnTo>
                  <a:pt x="320" y="3"/>
                </a:lnTo>
                <a:lnTo>
                  <a:pt x="320" y="201"/>
                </a:lnTo>
                <a:lnTo>
                  <a:pt x="2" y="201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92" name="Freeform 50"/>
          <p:cNvSpPr>
            <a:spLocks/>
          </p:cNvSpPr>
          <p:nvPr/>
        </p:nvSpPr>
        <p:spPr bwMode="auto">
          <a:xfrm>
            <a:off x="3389313" y="3268663"/>
            <a:ext cx="508000" cy="319087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0"/>
              <a:gd name="T16" fmla="*/ 0 h 201"/>
              <a:gd name="T17" fmla="*/ 320 w 320"/>
              <a:gd name="T18" fmla="*/ 201 h 2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0" h="201">
                <a:moveTo>
                  <a:pt x="0" y="0"/>
                </a:moveTo>
                <a:lnTo>
                  <a:pt x="320" y="3"/>
                </a:lnTo>
                <a:lnTo>
                  <a:pt x="320" y="201"/>
                </a:lnTo>
                <a:lnTo>
                  <a:pt x="2" y="201"/>
                </a:lnTo>
                <a:lnTo>
                  <a:pt x="2" y="3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93" name="Rectangle 51"/>
          <p:cNvSpPr>
            <a:spLocks noChangeArrowheads="1"/>
          </p:cNvSpPr>
          <p:nvPr/>
        </p:nvSpPr>
        <p:spPr bwMode="auto">
          <a:xfrm>
            <a:off x="3573463" y="2809875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</a:t>
            </a:r>
            <a:endParaRPr lang="en-US" sz="1800" b="1"/>
          </a:p>
        </p:txBody>
      </p:sp>
      <p:sp>
        <p:nvSpPr>
          <p:cNvPr id="20494" name="Rectangle 52"/>
          <p:cNvSpPr>
            <a:spLocks noChangeArrowheads="1"/>
          </p:cNvSpPr>
          <p:nvPr/>
        </p:nvSpPr>
        <p:spPr bwMode="auto">
          <a:xfrm>
            <a:off x="3641725" y="2863850"/>
            <a:ext cx="841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1</a:t>
            </a:r>
            <a:endParaRPr lang="en-US" sz="1800" b="1"/>
          </a:p>
        </p:txBody>
      </p:sp>
      <p:sp>
        <p:nvSpPr>
          <p:cNvPr id="20495" name="Rectangle 53"/>
          <p:cNvSpPr>
            <a:spLocks noChangeArrowheads="1"/>
          </p:cNvSpPr>
          <p:nvPr/>
        </p:nvSpPr>
        <p:spPr bwMode="auto">
          <a:xfrm>
            <a:off x="3603625" y="3348038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$</a:t>
            </a:r>
            <a:endParaRPr lang="en-US" sz="1800" b="1"/>
          </a:p>
        </p:txBody>
      </p:sp>
      <p:sp>
        <p:nvSpPr>
          <p:cNvPr id="20496" name="Rectangle 54"/>
          <p:cNvSpPr>
            <a:spLocks noChangeArrowheads="1"/>
          </p:cNvSpPr>
          <p:nvPr/>
        </p:nvSpPr>
        <p:spPr bwMode="auto">
          <a:xfrm>
            <a:off x="3829050" y="3811588"/>
            <a:ext cx="381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Inter</a:t>
            </a:r>
            <a:endParaRPr lang="en-US" sz="1800" b="1"/>
          </a:p>
        </p:txBody>
      </p:sp>
      <p:sp>
        <p:nvSpPr>
          <p:cNvPr id="20497" name="Rectangle 55"/>
          <p:cNvSpPr>
            <a:spLocks noChangeArrowheads="1"/>
          </p:cNvSpPr>
          <p:nvPr/>
        </p:nvSpPr>
        <p:spPr bwMode="auto">
          <a:xfrm>
            <a:off x="4210050" y="3811588"/>
            <a:ext cx="1644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connection network</a:t>
            </a:r>
            <a:endParaRPr lang="en-US" sz="1800" b="1"/>
          </a:p>
        </p:txBody>
      </p:sp>
      <p:sp>
        <p:nvSpPr>
          <p:cNvPr id="20498" name="Line 56"/>
          <p:cNvSpPr>
            <a:spLocks noChangeShapeType="1"/>
          </p:cNvSpPr>
          <p:nvPr/>
        </p:nvSpPr>
        <p:spPr bwMode="auto">
          <a:xfrm>
            <a:off x="5665788" y="3159125"/>
            <a:ext cx="3175" cy="130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499" name="Freeform 57"/>
          <p:cNvSpPr>
            <a:spLocks/>
          </p:cNvSpPr>
          <p:nvPr/>
        </p:nvSpPr>
        <p:spPr bwMode="auto">
          <a:xfrm>
            <a:off x="5416550" y="2654300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2147483647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0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9"/>
                </a:moveTo>
                <a:lnTo>
                  <a:pt x="316" y="186"/>
                </a:lnTo>
                <a:lnTo>
                  <a:pt x="311" y="209"/>
                </a:lnTo>
                <a:lnTo>
                  <a:pt x="300" y="233"/>
                </a:lnTo>
                <a:lnTo>
                  <a:pt x="287" y="254"/>
                </a:lnTo>
                <a:lnTo>
                  <a:pt x="271" y="273"/>
                </a:lnTo>
                <a:lnTo>
                  <a:pt x="252" y="289"/>
                </a:lnTo>
                <a:lnTo>
                  <a:pt x="231" y="302"/>
                </a:lnTo>
                <a:lnTo>
                  <a:pt x="210" y="310"/>
                </a:lnTo>
                <a:lnTo>
                  <a:pt x="183" y="318"/>
                </a:lnTo>
                <a:lnTo>
                  <a:pt x="159" y="318"/>
                </a:lnTo>
                <a:lnTo>
                  <a:pt x="133" y="318"/>
                </a:lnTo>
                <a:lnTo>
                  <a:pt x="109" y="310"/>
                </a:lnTo>
                <a:lnTo>
                  <a:pt x="85" y="302"/>
                </a:lnTo>
                <a:lnTo>
                  <a:pt x="64" y="289"/>
                </a:lnTo>
                <a:lnTo>
                  <a:pt x="45" y="273"/>
                </a:lnTo>
                <a:lnTo>
                  <a:pt x="30" y="254"/>
                </a:lnTo>
                <a:lnTo>
                  <a:pt x="16" y="233"/>
                </a:lnTo>
                <a:lnTo>
                  <a:pt x="8" y="209"/>
                </a:lnTo>
                <a:lnTo>
                  <a:pt x="0" y="186"/>
                </a:lnTo>
                <a:lnTo>
                  <a:pt x="0" y="159"/>
                </a:lnTo>
                <a:lnTo>
                  <a:pt x="0" y="135"/>
                </a:lnTo>
                <a:lnTo>
                  <a:pt x="8" y="109"/>
                </a:lnTo>
                <a:lnTo>
                  <a:pt x="16" y="87"/>
                </a:lnTo>
                <a:lnTo>
                  <a:pt x="30" y="66"/>
                </a:lnTo>
                <a:lnTo>
                  <a:pt x="45" y="48"/>
                </a:lnTo>
                <a:lnTo>
                  <a:pt x="64" y="32"/>
                </a:lnTo>
                <a:lnTo>
                  <a:pt x="85" y="19"/>
                </a:lnTo>
                <a:lnTo>
                  <a:pt x="109" y="8"/>
                </a:lnTo>
                <a:lnTo>
                  <a:pt x="133" y="3"/>
                </a:lnTo>
                <a:lnTo>
                  <a:pt x="159" y="0"/>
                </a:lnTo>
                <a:lnTo>
                  <a:pt x="183" y="3"/>
                </a:lnTo>
                <a:lnTo>
                  <a:pt x="210" y="8"/>
                </a:lnTo>
                <a:lnTo>
                  <a:pt x="231" y="19"/>
                </a:lnTo>
                <a:lnTo>
                  <a:pt x="252" y="32"/>
                </a:lnTo>
                <a:lnTo>
                  <a:pt x="271" y="48"/>
                </a:lnTo>
                <a:lnTo>
                  <a:pt x="287" y="66"/>
                </a:lnTo>
                <a:lnTo>
                  <a:pt x="300" y="87"/>
                </a:lnTo>
                <a:lnTo>
                  <a:pt x="311" y="109"/>
                </a:lnTo>
                <a:lnTo>
                  <a:pt x="316" y="135"/>
                </a:lnTo>
                <a:lnTo>
                  <a:pt x="318" y="159"/>
                </a:lnTo>
                <a:lnTo>
                  <a:pt x="316" y="15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0" name="Freeform 58"/>
          <p:cNvSpPr>
            <a:spLocks/>
          </p:cNvSpPr>
          <p:nvPr/>
        </p:nvSpPr>
        <p:spPr bwMode="auto">
          <a:xfrm>
            <a:off x="5416550" y="2654300"/>
            <a:ext cx="504825" cy="504825"/>
          </a:xfrm>
          <a:custGeom>
            <a:avLst/>
            <a:gdLst>
              <a:gd name="T0" fmla="*/ 2147483647 w 318"/>
              <a:gd name="T1" fmla="*/ 2147483647 h 318"/>
              <a:gd name="T2" fmla="*/ 2147483647 w 318"/>
              <a:gd name="T3" fmla="*/ 2147483647 h 318"/>
              <a:gd name="T4" fmla="*/ 2147483647 w 318"/>
              <a:gd name="T5" fmla="*/ 2147483647 h 318"/>
              <a:gd name="T6" fmla="*/ 2147483647 w 318"/>
              <a:gd name="T7" fmla="*/ 2147483647 h 318"/>
              <a:gd name="T8" fmla="*/ 2147483647 w 318"/>
              <a:gd name="T9" fmla="*/ 2147483647 h 318"/>
              <a:gd name="T10" fmla="*/ 2147483647 w 318"/>
              <a:gd name="T11" fmla="*/ 2147483647 h 318"/>
              <a:gd name="T12" fmla="*/ 2147483647 w 318"/>
              <a:gd name="T13" fmla="*/ 2147483647 h 318"/>
              <a:gd name="T14" fmla="*/ 2147483647 w 318"/>
              <a:gd name="T15" fmla="*/ 2147483647 h 318"/>
              <a:gd name="T16" fmla="*/ 2147483647 w 318"/>
              <a:gd name="T17" fmla="*/ 2147483647 h 318"/>
              <a:gd name="T18" fmla="*/ 2147483647 w 318"/>
              <a:gd name="T19" fmla="*/ 2147483647 h 318"/>
              <a:gd name="T20" fmla="*/ 2147483647 w 318"/>
              <a:gd name="T21" fmla="*/ 0 h 318"/>
              <a:gd name="T22" fmla="*/ 2147483647 w 318"/>
              <a:gd name="T23" fmla="*/ 2147483647 h 318"/>
              <a:gd name="T24" fmla="*/ 2147483647 w 318"/>
              <a:gd name="T25" fmla="*/ 2147483647 h 318"/>
              <a:gd name="T26" fmla="*/ 2147483647 w 318"/>
              <a:gd name="T27" fmla="*/ 2147483647 h 318"/>
              <a:gd name="T28" fmla="*/ 2147483647 w 318"/>
              <a:gd name="T29" fmla="*/ 2147483647 h 318"/>
              <a:gd name="T30" fmla="*/ 2147483647 w 318"/>
              <a:gd name="T31" fmla="*/ 2147483647 h 318"/>
              <a:gd name="T32" fmla="*/ 2147483647 w 318"/>
              <a:gd name="T33" fmla="*/ 2147483647 h 318"/>
              <a:gd name="T34" fmla="*/ 2147483647 w 318"/>
              <a:gd name="T35" fmla="*/ 2147483647 h 318"/>
              <a:gd name="T36" fmla="*/ 2147483647 w 318"/>
              <a:gd name="T37" fmla="*/ 2147483647 h 318"/>
              <a:gd name="T38" fmla="*/ 0 w 318"/>
              <a:gd name="T39" fmla="*/ 2147483647 h 318"/>
              <a:gd name="T40" fmla="*/ 0 w 318"/>
              <a:gd name="T41" fmla="*/ 2147483647 h 318"/>
              <a:gd name="T42" fmla="*/ 0 w 318"/>
              <a:gd name="T43" fmla="*/ 2147483647 h 318"/>
              <a:gd name="T44" fmla="*/ 2147483647 w 318"/>
              <a:gd name="T45" fmla="*/ 2147483647 h 318"/>
              <a:gd name="T46" fmla="*/ 2147483647 w 318"/>
              <a:gd name="T47" fmla="*/ 2147483647 h 318"/>
              <a:gd name="T48" fmla="*/ 2147483647 w 318"/>
              <a:gd name="T49" fmla="*/ 2147483647 h 318"/>
              <a:gd name="T50" fmla="*/ 2147483647 w 318"/>
              <a:gd name="T51" fmla="*/ 2147483647 h 318"/>
              <a:gd name="T52" fmla="*/ 2147483647 w 318"/>
              <a:gd name="T53" fmla="*/ 2147483647 h 318"/>
              <a:gd name="T54" fmla="*/ 2147483647 w 318"/>
              <a:gd name="T55" fmla="*/ 2147483647 h 318"/>
              <a:gd name="T56" fmla="*/ 2147483647 w 318"/>
              <a:gd name="T57" fmla="*/ 2147483647 h 318"/>
              <a:gd name="T58" fmla="*/ 2147483647 w 318"/>
              <a:gd name="T59" fmla="*/ 2147483647 h 318"/>
              <a:gd name="T60" fmla="*/ 2147483647 w 318"/>
              <a:gd name="T61" fmla="*/ 2147483647 h 318"/>
              <a:gd name="T62" fmla="*/ 2147483647 w 318"/>
              <a:gd name="T63" fmla="*/ 2147483647 h 318"/>
              <a:gd name="T64" fmla="*/ 2147483647 w 318"/>
              <a:gd name="T65" fmla="*/ 2147483647 h 318"/>
              <a:gd name="T66" fmla="*/ 2147483647 w 318"/>
              <a:gd name="T67" fmla="*/ 2147483647 h 318"/>
              <a:gd name="T68" fmla="*/ 2147483647 w 318"/>
              <a:gd name="T69" fmla="*/ 2147483647 h 318"/>
              <a:gd name="T70" fmla="*/ 2147483647 w 318"/>
              <a:gd name="T71" fmla="*/ 2147483647 h 318"/>
              <a:gd name="T72" fmla="*/ 2147483647 w 318"/>
              <a:gd name="T73" fmla="*/ 2147483647 h 318"/>
              <a:gd name="T74" fmla="*/ 2147483647 w 318"/>
              <a:gd name="T75" fmla="*/ 2147483647 h 318"/>
              <a:gd name="T76" fmla="*/ 2147483647 w 318"/>
              <a:gd name="T77" fmla="*/ 2147483647 h 318"/>
              <a:gd name="T78" fmla="*/ 2147483647 w 318"/>
              <a:gd name="T79" fmla="*/ 2147483647 h 318"/>
              <a:gd name="T80" fmla="*/ 2147483647 w 318"/>
              <a:gd name="T81" fmla="*/ 2147483647 h 318"/>
              <a:gd name="T82" fmla="*/ 2147483647 w 318"/>
              <a:gd name="T83" fmla="*/ 2147483647 h 3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8"/>
              <a:gd name="T127" fmla="*/ 0 h 318"/>
              <a:gd name="T128" fmla="*/ 318 w 318"/>
              <a:gd name="T129" fmla="*/ 318 h 3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8" h="318">
                <a:moveTo>
                  <a:pt x="316" y="159"/>
                </a:moveTo>
                <a:lnTo>
                  <a:pt x="316" y="135"/>
                </a:lnTo>
                <a:lnTo>
                  <a:pt x="311" y="109"/>
                </a:lnTo>
                <a:lnTo>
                  <a:pt x="300" y="87"/>
                </a:lnTo>
                <a:lnTo>
                  <a:pt x="287" y="66"/>
                </a:lnTo>
                <a:lnTo>
                  <a:pt x="271" y="48"/>
                </a:lnTo>
                <a:lnTo>
                  <a:pt x="252" y="32"/>
                </a:lnTo>
                <a:lnTo>
                  <a:pt x="231" y="19"/>
                </a:lnTo>
                <a:lnTo>
                  <a:pt x="210" y="8"/>
                </a:lnTo>
                <a:lnTo>
                  <a:pt x="183" y="3"/>
                </a:lnTo>
                <a:lnTo>
                  <a:pt x="159" y="0"/>
                </a:lnTo>
                <a:lnTo>
                  <a:pt x="133" y="3"/>
                </a:lnTo>
                <a:lnTo>
                  <a:pt x="109" y="8"/>
                </a:lnTo>
                <a:lnTo>
                  <a:pt x="85" y="19"/>
                </a:lnTo>
                <a:lnTo>
                  <a:pt x="64" y="32"/>
                </a:lnTo>
                <a:lnTo>
                  <a:pt x="45" y="48"/>
                </a:lnTo>
                <a:lnTo>
                  <a:pt x="30" y="66"/>
                </a:lnTo>
                <a:lnTo>
                  <a:pt x="16" y="87"/>
                </a:lnTo>
                <a:lnTo>
                  <a:pt x="8" y="109"/>
                </a:lnTo>
                <a:lnTo>
                  <a:pt x="0" y="135"/>
                </a:lnTo>
                <a:lnTo>
                  <a:pt x="0" y="159"/>
                </a:lnTo>
                <a:lnTo>
                  <a:pt x="0" y="186"/>
                </a:lnTo>
                <a:lnTo>
                  <a:pt x="8" y="209"/>
                </a:lnTo>
                <a:lnTo>
                  <a:pt x="16" y="233"/>
                </a:lnTo>
                <a:lnTo>
                  <a:pt x="30" y="254"/>
                </a:lnTo>
                <a:lnTo>
                  <a:pt x="45" y="273"/>
                </a:lnTo>
                <a:lnTo>
                  <a:pt x="64" y="289"/>
                </a:lnTo>
                <a:lnTo>
                  <a:pt x="85" y="302"/>
                </a:lnTo>
                <a:lnTo>
                  <a:pt x="109" y="310"/>
                </a:lnTo>
                <a:lnTo>
                  <a:pt x="133" y="318"/>
                </a:lnTo>
                <a:lnTo>
                  <a:pt x="159" y="318"/>
                </a:lnTo>
                <a:lnTo>
                  <a:pt x="183" y="318"/>
                </a:lnTo>
                <a:lnTo>
                  <a:pt x="210" y="310"/>
                </a:lnTo>
                <a:lnTo>
                  <a:pt x="231" y="302"/>
                </a:lnTo>
                <a:lnTo>
                  <a:pt x="252" y="289"/>
                </a:lnTo>
                <a:lnTo>
                  <a:pt x="271" y="273"/>
                </a:lnTo>
                <a:lnTo>
                  <a:pt x="287" y="254"/>
                </a:lnTo>
                <a:lnTo>
                  <a:pt x="300" y="233"/>
                </a:lnTo>
                <a:lnTo>
                  <a:pt x="311" y="209"/>
                </a:lnTo>
                <a:lnTo>
                  <a:pt x="316" y="186"/>
                </a:lnTo>
                <a:lnTo>
                  <a:pt x="318" y="159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1" name="Freeform 59"/>
          <p:cNvSpPr>
            <a:spLocks/>
          </p:cNvSpPr>
          <p:nvPr/>
        </p:nvSpPr>
        <p:spPr bwMode="auto">
          <a:xfrm>
            <a:off x="5413375" y="3286125"/>
            <a:ext cx="508000" cy="319088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w 320"/>
              <a:gd name="T11" fmla="*/ 0 h 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201"/>
              <a:gd name="T20" fmla="*/ 320 w 320"/>
              <a:gd name="T21" fmla="*/ 201 h 2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201">
                <a:moveTo>
                  <a:pt x="0" y="0"/>
                </a:moveTo>
                <a:lnTo>
                  <a:pt x="320" y="2"/>
                </a:lnTo>
                <a:lnTo>
                  <a:pt x="320" y="201"/>
                </a:lnTo>
                <a:lnTo>
                  <a:pt x="2" y="20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2" name="Freeform 60"/>
          <p:cNvSpPr>
            <a:spLocks/>
          </p:cNvSpPr>
          <p:nvPr/>
        </p:nvSpPr>
        <p:spPr bwMode="auto">
          <a:xfrm>
            <a:off x="5413375" y="3286125"/>
            <a:ext cx="508000" cy="319088"/>
          </a:xfrm>
          <a:custGeom>
            <a:avLst/>
            <a:gdLst>
              <a:gd name="T0" fmla="*/ 0 w 320"/>
              <a:gd name="T1" fmla="*/ 0 h 201"/>
              <a:gd name="T2" fmla="*/ 2147483647 w 320"/>
              <a:gd name="T3" fmla="*/ 2147483647 h 201"/>
              <a:gd name="T4" fmla="*/ 2147483647 w 320"/>
              <a:gd name="T5" fmla="*/ 2147483647 h 201"/>
              <a:gd name="T6" fmla="*/ 2147483647 w 320"/>
              <a:gd name="T7" fmla="*/ 2147483647 h 201"/>
              <a:gd name="T8" fmla="*/ 2147483647 w 320"/>
              <a:gd name="T9" fmla="*/ 2147483647 h 2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0"/>
              <a:gd name="T16" fmla="*/ 0 h 201"/>
              <a:gd name="T17" fmla="*/ 320 w 320"/>
              <a:gd name="T18" fmla="*/ 201 h 2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0" h="201">
                <a:moveTo>
                  <a:pt x="0" y="0"/>
                </a:moveTo>
                <a:lnTo>
                  <a:pt x="320" y="2"/>
                </a:lnTo>
                <a:lnTo>
                  <a:pt x="320" y="201"/>
                </a:lnTo>
                <a:lnTo>
                  <a:pt x="2" y="201"/>
                </a:lnTo>
                <a:lnTo>
                  <a:pt x="2" y="2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3" name="Rectangle 61"/>
          <p:cNvSpPr>
            <a:spLocks noChangeArrowheads="1"/>
          </p:cNvSpPr>
          <p:nvPr/>
        </p:nvSpPr>
        <p:spPr bwMode="auto">
          <a:xfrm>
            <a:off x="5627688" y="3360738"/>
            <a:ext cx="1063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$</a:t>
            </a:r>
            <a:endParaRPr lang="en-US" sz="1800" b="1"/>
          </a:p>
        </p:txBody>
      </p:sp>
      <p:sp>
        <p:nvSpPr>
          <p:cNvPr id="20504" name="Rectangle 62"/>
          <p:cNvSpPr>
            <a:spLocks noChangeArrowheads="1"/>
          </p:cNvSpPr>
          <p:nvPr/>
        </p:nvSpPr>
        <p:spPr bwMode="auto">
          <a:xfrm>
            <a:off x="5597525" y="2801938"/>
            <a:ext cx="127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</a:t>
            </a:r>
            <a:endParaRPr lang="en-US" sz="1800" b="1"/>
          </a:p>
        </p:txBody>
      </p:sp>
      <p:sp>
        <p:nvSpPr>
          <p:cNvPr id="20505" name="Rectangle 63"/>
          <p:cNvSpPr>
            <a:spLocks noChangeArrowheads="1"/>
          </p:cNvSpPr>
          <p:nvPr/>
        </p:nvSpPr>
        <p:spPr bwMode="auto">
          <a:xfrm>
            <a:off x="5668963" y="2855913"/>
            <a:ext cx="8413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n</a:t>
            </a:r>
            <a:endParaRPr lang="en-US" sz="1800" b="1"/>
          </a:p>
        </p:txBody>
      </p:sp>
      <p:sp>
        <p:nvSpPr>
          <p:cNvPr id="20506" name="Line 64"/>
          <p:cNvSpPr>
            <a:spLocks noChangeShapeType="1"/>
          </p:cNvSpPr>
          <p:nvPr/>
        </p:nvSpPr>
        <p:spPr bwMode="auto">
          <a:xfrm flipH="1">
            <a:off x="4704347" y="4632158"/>
            <a:ext cx="1" cy="34891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7" name="Freeform 65"/>
          <p:cNvSpPr>
            <a:spLocks/>
          </p:cNvSpPr>
          <p:nvPr/>
        </p:nvSpPr>
        <p:spPr bwMode="auto">
          <a:xfrm>
            <a:off x="4358269" y="5012830"/>
            <a:ext cx="712788" cy="379413"/>
          </a:xfrm>
          <a:custGeom>
            <a:avLst/>
            <a:gdLst>
              <a:gd name="T0" fmla="*/ 0 w 326"/>
              <a:gd name="T1" fmla="*/ 0 h 239"/>
              <a:gd name="T2" fmla="*/ 2147483647 w 326"/>
              <a:gd name="T3" fmla="*/ 0 h 239"/>
              <a:gd name="T4" fmla="*/ 2147483647 w 326"/>
              <a:gd name="T5" fmla="*/ 2147483647 h 239"/>
              <a:gd name="T6" fmla="*/ 2147483647 w 326"/>
              <a:gd name="T7" fmla="*/ 2147483647 h 239"/>
              <a:gd name="T8" fmla="*/ 2147483647 w 326"/>
              <a:gd name="T9" fmla="*/ 0 h 239"/>
              <a:gd name="T10" fmla="*/ 0 w 326"/>
              <a:gd name="T11" fmla="*/ 0 h 23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6"/>
              <a:gd name="T19" fmla="*/ 0 h 239"/>
              <a:gd name="T20" fmla="*/ 326 w 326"/>
              <a:gd name="T21" fmla="*/ 239 h 23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6" h="239">
                <a:moveTo>
                  <a:pt x="0" y="0"/>
                </a:moveTo>
                <a:lnTo>
                  <a:pt x="326" y="0"/>
                </a:lnTo>
                <a:lnTo>
                  <a:pt x="326" y="239"/>
                </a:lnTo>
                <a:lnTo>
                  <a:pt x="3" y="239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8" name="Freeform 66"/>
          <p:cNvSpPr>
            <a:spLocks/>
          </p:cNvSpPr>
          <p:nvPr/>
        </p:nvSpPr>
        <p:spPr bwMode="auto">
          <a:xfrm>
            <a:off x="3899482" y="4962030"/>
            <a:ext cx="1584325" cy="379413"/>
          </a:xfrm>
          <a:custGeom>
            <a:avLst/>
            <a:gdLst>
              <a:gd name="T0" fmla="*/ 0 w 326"/>
              <a:gd name="T1" fmla="*/ 0 h 239"/>
              <a:gd name="T2" fmla="*/ 2147483647 w 326"/>
              <a:gd name="T3" fmla="*/ 0 h 239"/>
              <a:gd name="T4" fmla="*/ 2147483647 w 326"/>
              <a:gd name="T5" fmla="*/ 2147483647 h 239"/>
              <a:gd name="T6" fmla="*/ 2147483647 w 326"/>
              <a:gd name="T7" fmla="*/ 2147483647 h 239"/>
              <a:gd name="T8" fmla="*/ 2147483647 w 326"/>
              <a:gd name="T9" fmla="*/ 0 h 2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6"/>
              <a:gd name="T16" fmla="*/ 0 h 239"/>
              <a:gd name="T17" fmla="*/ 326 w 326"/>
              <a:gd name="T18" fmla="*/ 239 h 2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6" h="239">
                <a:moveTo>
                  <a:pt x="0" y="0"/>
                </a:moveTo>
                <a:lnTo>
                  <a:pt x="326" y="0"/>
                </a:lnTo>
                <a:lnTo>
                  <a:pt x="326" y="239"/>
                </a:lnTo>
                <a:lnTo>
                  <a:pt x="3" y="239"/>
                </a:lnTo>
                <a:lnTo>
                  <a:pt x="3" y="0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09" name="Rectangle 67"/>
          <p:cNvSpPr>
            <a:spLocks noChangeArrowheads="1"/>
          </p:cNvSpPr>
          <p:nvPr/>
        </p:nvSpPr>
        <p:spPr bwMode="auto">
          <a:xfrm>
            <a:off x="3982032" y="5041405"/>
            <a:ext cx="144462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Memory (DRAM)</a:t>
            </a:r>
            <a:endParaRPr lang="en-US" sz="1800" b="1"/>
          </a:p>
        </p:txBody>
      </p:sp>
      <p:sp>
        <p:nvSpPr>
          <p:cNvPr id="20510" name="Freeform 71"/>
          <p:cNvSpPr>
            <a:spLocks/>
          </p:cNvSpPr>
          <p:nvPr/>
        </p:nvSpPr>
        <p:spPr bwMode="auto">
          <a:xfrm>
            <a:off x="4281488" y="3398838"/>
            <a:ext cx="71437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2" y="27"/>
                </a:lnTo>
                <a:lnTo>
                  <a:pt x="42" y="29"/>
                </a:lnTo>
                <a:lnTo>
                  <a:pt x="42" y="35"/>
                </a:lnTo>
                <a:lnTo>
                  <a:pt x="39" y="37"/>
                </a:lnTo>
                <a:lnTo>
                  <a:pt x="37" y="40"/>
                </a:lnTo>
                <a:lnTo>
                  <a:pt x="34" y="40"/>
                </a:lnTo>
                <a:lnTo>
                  <a:pt x="31" y="43"/>
                </a:lnTo>
                <a:lnTo>
                  <a:pt x="29" y="45"/>
                </a:lnTo>
                <a:lnTo>
                  <a:pt x="26" y="45"/>
                </a:lnTo>
                <a:lnTo>
                  <a:pt x="21" y="45"/>
                </a:lnTo>
                <a:lnTo>
                  <a:pt x="18" y="45"/>
                </a:lnTo>
                <a:lnTo>
                  <a:pt x="13" y="45"/>
                </a:lnTo>
                <a:lnTo>
                  <a:pt x="10" y="43"/>
                </a:lnTo>
                <a:lnTo>
                  <a:pt x="8" y="40"/>
                </a:lnTo>
                <a:lnTo>
                  <a:pt x="5" y="40"/>
                </a:lnTo>
                <a:lnTo>
                  <a:pt x="2" y="37"/>
                </a:lnTo>
                <a:lnTo>
                  <a:pt x="2" y="35"/>
                </a:lnTo>
                <a:lnTo>
                  <a:pt x="0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0" y="16"/>
                </a:lnTo>
                <a:lnTo>
                  <a:pt x="2" y="13"/>
                </a:lnTo>
                <a:lnTo>
                  <a:pt x="2" y="11"/>
                </a:lnTo>
                <a:lnTo>
                  <a:pt x="5" y="8"/>
                </a:lnTo>
                <a:lnTo>
                  <a:pt x="8" y="5"/>
                </a:lnTo>
                <a:lnTo>
                  <a:pt x="10" y="3"/>
                </a:lnTo>
                <a:lnTo>
                  <a:pt x="13" y="3"/>
                </a:lnTo>
                <a:lnTo>
                  <a:pt x="18" y="0"/>
                </a:lnTo>
                <a:lnTo>
                  <a:pt x="21" y="0"/>
                </a:lnTo>
                <a:lnTo>
                  <a:pt x="26" y="0"/>
                </a:lnTo>
                <a:lnTo>
                  <a:pt x="29" y="3"/>
                </a:lnTo>
                <a:lnTo>
                  <a:pt x="31" y="3"/>
                </a:lnTo>
                <a:lnTo>
                  <a:pt x="34" y="5"/>
                </a:lnTo>
                <a:lnTo>
                  <a:pt x="37" y="8"/>
                </a:lnTo>
                <a:lnTo>
                  <a:pt x="39" y="11"/>
                </a:lnTo>
                <a:lnTo>
                  <a:pt x="42" y="13"/>
                </a:lnTo>
                <a:lnTo>
                  <a:pt x="42" y="16"/>
                </a:lnTo>
                <a:lnTo>
                  <a:pt x="42" y="19"/>
                </a:lnTo>
                <a:lnTo>
                  <a:pt x="45" y="24"/>
                </a:lnTo>
                <a:lnTo>
                  <a:pt x="42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1" name="Freeform 72"/>
          <p:cNvSpPr>
            <a:spLocks/>
          </p:cNvSpPr>
          <p:nvPr/>
        </p:nvSpPr>
        <p:spPr bwMode="auto">
          <a:xfrm>
            <a:off x="4281488" y="3398838"/>
            <a:ext cx="71437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2" y="19"/>
                </a:lnTo>
                <a:lnTo>
                  <a:pt x="42" y="16"/>
                </a:lnTo>
                <a:lnTo>
                  <a:pt x="42" y="13"/>
                </a:lnTo>
                <a:lnTo>
                  <a:pt x="39" y="11"/>
                </a:lnTo>
                <a:lnTo>
                  <a:pt x="37" y="8"/>
                </a:lnTo>
                <a:lnTo>
                  <a:pt x="34" y="5"/>
                </a:lnTo>
                <a:lnTo>
                  <a:pt x="31" y="3"/>
                </a:lnTo>
                <a:lnTo>
                  <a:pt x="29" y="3"/>
                </a:lnTo>
                <a:lnTo>
                  <a:pt x="26" y="0"/>
                </a:lnTo>
                <a:lnTo>
                  <a:pt x="21" y="0"/>
                </a:lnTo>
                <a:lnTo>
                  <a:pt x="18" y="0"/>
                </a:lnTo>
                <a:lnTo>
                  <a:pt x="13" y="3"/>
                </a:lnTo>
                <a:lnTo>
                  <a:pt x="10" y="3"/>
                </a:lnTo>
                <a:lnTo>
                  <a:pt x="8" y="5"/>
                </a:lnTo>
                <a:lnTo>
                  <a:pt x="5" y="8"/>
                </a:lnTo>
                <a:lnTo>
                  <a:pt x="2" y="11"/>
                </a:lnTo>
                <a:lnTo>
                  <a:pt x="2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29"/>
                </a:lnTo>
                <a:lnTo>
                  <a:pt x="2" y="35"/>
                </a:lnTo>
                <a:lnTo>
                  <a:pt x="2" y="37"/>
                </a:lnTo>
                <a:lnTo>
                  <a:pt x="5" y="40"/>
                </a:lnTo>
                <a:lnTo>
                  <a:pt x="8" y="40"/>
                </a:lnTo>
                <a:lnTo>
                  <a:pt x="10" y="43"/>
                </a:lnTo>
                <a:lnTo>
                  <a:pt x="13" y="45"/>
                </a:lnTo>
                <a:lnTo>
                  <a:pt x="18" y="45"/>
                </a:lnTo>
                <a:lnTo>
                  <a:pt x="21" y="45"/>
                </a:lnTo>
                <a:lnTo>
                  <a:pt x="26" y="45"/>
                </a:lnTo>
                <a:lnTo>
                  <a:pt x="29" y="45"/>
                </a:lnTo>
                <a:lnTo>
                  <a:pt x="31" y="43"/>
                </a:lnTo>
                <a:lnTo>
                  <a:pt x="34" y="40"/>
                </a:lnTo>
                <a:lnTo>
                  <a:pt x="37" y="40"/>
                </a:lnTo>
                <a:lnTo>
                  <a:pt x="39" y="37"/>
                </a:lnTo>
                <a:lnTo>
                  <a:pt x="42" y="35"/>
                </a:lnTo>
                <a:lnTo>
                  <a:pt x="42" y="29"/>
                </a:lnTo>
                <a:lnTo>
                  <a:pt x="42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2" name="Freeform 73"/>
          <p:cNvSpPr>
            <a:spLocks/>
          </p:cNvSpPr>
          <p:nvPr/>
        </p:nvSpPr>
        <p:spPr bwMode="auto">
          <a:xfrm>
            <a:off x="4572000" y="3398838"/>
            <a:ext cx="71438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5" y="27"/>
                </a:lnTo>
                <a:lnTo>
                  <a:pt x="42" y="29"/>
                </a:lnTo>
                <a:lnTo>
                  <a:pt x="42" y="35"/>
                </a:lnTo>
                <a:lnTo>
                  <a:pt x="39" y="37"/>
                </a:lnTo>
                <a:lnTo>
                  <a:pt x="37" y="40"/>
                </a:lnTo>
                <a:lnTo>
                  <a:pt x="34" y="40"/>
                </a:lnTo>
                <a:lnTo>
                  <a:pt x="31" y="43"/>
                </a:lnTo>
                <a:lnTo>
                  <a:pt x="29" y="45"/>
                </a:lnTo>
                <a:lnTo>
                  <a:pt x="26" y="45"/>
                </a:lnTo>
                <a:lnTo>
                  <a:pt x="21" y="45"/>
                </a:lnTo>
                <a:lnTo>
                  <a:pt x="18" y="45"/>
                </a:lnTo>
                <a:lnTo>
                  <a:pt x="15" y="45"/>
                </a:lnTo>
                <a:lnTo>
                  <a:pt x="13" y="43"/>
                </a:lnTo>
                <a:lnTo>
                  <a:pt x="8" y="40"/>
                </a:lnTo>
                <a:lnTo>
                  <a:pt x="5" y="40"/>
                </a:lnTo>
                <a:lnTo>
                  <a:pt x="5" y="37"/>
                </a:lnTo>
                <a:lnTo>
                  <a:pt x="2" y="35"/>
                </a:lnTo>
                <a:lnTo>
                  <a:pt x="0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0" y="16"/>
                </a:lnTo>
                <a:lnTo>
                  <a:pt x="2" y="13"/>
                </a:lnTo>
                <a:lnTo>
                  <a:pt x="5" y="11"/>
                </a:lnTo>
                <a:lnTo>
                  <a:pt x="5" y="8"/>
                </a:lnTo>
                <a:lnTo>
                  <a:pt x="8" y="5"/>
                </a:lnTo>
                <a:lnTo>
                  <a:pt x="13" y="3"/>
                </a:lnTo>
                <a:lnTo>
                  <a:pt x="15" y="3"/>
                </a:lnTo>
                <a:lnTo>
                  <a:pt x="18" y="0"/>
                </a:lnTo>
                <a:lnTo>
                  <a:pt x="21" y="0"/>
                </a:lnTo>
                <a:lnTo>
                  <a:pt x="26" y="0"/>
                </a:lnTo>
                <a:lnTo>
                  <a:pt x="29" y="3"/>
                </a:lnTo>
                <a:lnTo>
                  <a:pt x="31" y="3"/>
                </a:lnTo>
                <a:lnTo>
                  <a:pt x="34" y="5"/>
                </a:lnTo>
                <a:lnTo>
                  <a:pt x="37" y="8"/>
                </a:lnTo>
                <a:lnTo>
                  <a:pt x="39" y="11"/>
                </a:lnTo>
                <a:lnTo>
                  <a:pt x="42" y="13"/>
                </a:lnTo>
                <a:lnTo>
                  <a:pt x="42" y="16"/>
                </a:lnTo>
                <a:lnTo>
                  <a:pt x="45" y="19"/>
                </a:lnTo>
                <a:lnTo>
                  <a:pt x="45" y="24"/>
                </a:lnTo>
                <a:lnTo>
                  <a:pt x="42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3" name="Freeform 74"/>
          <p:cNvSpPr>
            <a:spLocks/>
          </p:cNvSpPr>
          <p:nvPr/>
        </p:nvSpPr>
        <p:spPr bwMode="auto">
          <a:xfrm>
            <a:off x="4572000" y="3398838"/>
            <a:ext cx="71438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0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0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2" y="21"/>
                </a:moveTo>
                <a:lnTo>
                  <a:pt x="45" y="19"/>
                </a:lnTo>
                <a:lnTo>
                  <a:pt x="42" y="16"/>
                </a:lnTo>
                <a:lnTo>
                  <a:pt x="42" y="13"/>
                </a:lnTo>
                <a:lnTo>
                  <a:pt x="39" y="11"/>
                </a:lnTo>
                <a:lnTo>
                  <a:pt x="37" y="8"/>
                </a:lnTo>
                <a:lnTo>
                  <a:pt x="34" y="5"/>
                </a:lnTo>
                <a:lnTo>
                  <a:pt x="31" y="3"/>
                </a:lnTo>
                <a:lnTo>
                  <a:pt x="29" y="3"/>
                </a:lnTo>
                <a:lnTo>
                  <a:pt x="26" y="0"/>
                </a:lnTo>
                <a:lnTo>
                  <a:pt x="21" y="0"/>
                </a:lnTo>
                <a:lnTo>
                  <a:pt x="18" y="0"/>
                </a:lnTo>
                <a:lnTo>
                  <a:pt x="15" y="3"/>
                </a:lnTo>
                <a:lnTo>
                  <a:pt x="13" y="3"/>
                </a:lnTo>
                <a:lnTo>
                  <a:pt x="8" y="5"/>
                </a:lnTo>
                <a:lnTo>
                  <a:pt x="5" y="8"/>
                </a:lnTo>
                <a:lnTo>
                  <a:pt x="5" y="11"/>
                </a:lnTo>
                <a:lnTo>
                  <a:pt x="2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29"/>
                </a:lnTo>
                <a:lnTo>
                  <a:pt x="2" y="35"/>
                </a:lnTo>
                <a:lnTo>
                  <a:pt x="5" y="37"/>
                </a:lnTo>
                <a:lnTo>
                  <a:pt x="5" y="40"/>
                </a:lnTo>
                <a:lnTo>
                  <a:pt x="8" y="40"/>
                </a:lnTo>
                <a:lnTo>
                  <a:pt x="13" y="43"/>
                </a:lnTo>
                <a:lnTo>
                  <a:pt x="15" y="45"/>
                </a:lnTo>
                <a:lnTo>
                  <a:pt x="18" y="45"/>
                </a:lnTo>
                <a:lnTo>
                  <a:pt x="21" y="45"/>
                </a:lnTo>
                <a:lnTo>
                  <a:pt x="26" y="45"/>
                </a:lnTo>
                <a:lnTo>
                  <a:pt x="29" y="45"/>
                </a:lnTo>
                <a:lnTo>
                  <a:pt x="31" y="43"/>
                </a:lnTo>
                <a:lnTo>
                  <a:pt x="34" y="40"/>
                </a:lnTo>
                <a:lnTo>
                  <a:pt x="37" y="40"/>
                </a:lnTo>
                <a:lnTo>
                  <a:pt x="39" y="37"/>
                </a:lnTo>
                <a:lnTo>
                  <a:pt x="42" y="35"/>
                </a:lnTo>
                <a:lnTo>
                  <a:pt x="42" y="29"/>
                </a:lnTo>
                <a:lnTo>
                  <a:pt x="45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4" name="Freeform 75"/>
          <p:cNvSpPr>
            <a:spLocks/>
          </p:cNvSpPr>
          <p:nvPr/>
        </p:nvSpPr>
        <p:spPr bwMode="auto">
          <a:xfrm>
            <a:off x="4886325" y="3398838"/>
            <a:ext cx="71438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2147483647 h 45"/>
              <a:gd name="T20" fmla="*/ 2147483647 w 45"/>
              <a:gd name="T21" fmla="*/ 2147483647 h 45"/>
              <a:gd name="T22" fmla="*/ 2147483647 w 45"/>
              <a:gd name="T23" fmla="*/ 2147483647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2147483647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2147483647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0 h 45"/>
              <a:gd name="T60" fmla="*/ 2147483647 w 45"/>
              <a:gd name="T61" fmla="*/ 0 h 45"/>
              <a:gd name="T62" fmla="*/ 2147483647 w 45"/>
              <a:gd name="T63" fmla="*/ 0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5" y="21"/>
                </a:moveTo>
                <a:lnTo>
                  <a:pt x="45" y="27"/>
                </a:lnTo>
                <a:lnTo>
                  <a:pt x="45" y="29"/>
                </a:lnTo>
                <a:lnTo>
                  <a:pt x="43" y="35"/>
                </a:lnTo>
                <a:lnTo>
                  <a:pt x="40" y="37"/>
                </a:lnTo>
                <a:lnTo>
                  <a:pt x="40" y="40"/>
                </a:lnTo>
                <a:lnTo>
                  <a:pt x="38" y="40"/>
                </a:lnTo>
                <a:lnTo>
                  <a:pt x="35" y="43"/>
                </a:lnTo>
                <a:lnTo>
                  <a:pt x="30" y="45"/>
                </a:lnTo>
                <a:lnTo>
                  <a:pt x="27" y="45"/>
                </a:lnTo>
                <a:lnTo>
                  <a:pt x="24" y="45"/>
                </a:lnTo>
                <a:lnTo>
                  <a:pt x="19" y="45"/>
                </a:lnTo>
                <a:lnTo>
                  <a:pt x="16" y="45"/>
                </a:lnTo>
                <a:lnTo>
                  <a:pt x="14" y="43"/>
                </a:lnTo>
                <a:lnTo>
                  <a:pt x="11" y="40"/>
                </a:lnTo>
                <a:lnTo>
                  <a:pt x="8" y="40"/>
                </a:lnTo>
                <a:lnTo>
                  <a:pt x="6" y="37"/>
                </a:lnTo>
                <a:lnTo>
                  <a:pt x="3" y="35"/>
                </a:lnTo>
                <a:lnTo>
                  <a:pt x="3" y="29"/>
                </a:lnTo>
                <a:lnTo>
                  <a:pt x="0" y="27"/>
                </a:lnTo>
                <a:lnTo>
                  <a:pt x="0" y="24"/>
                </a:lnTo>
                <a:lnTo>
                  <a:pt x="0" y="19"/>
                </a:lnTo>
                <a:lnTo>
                  <a:pt x="3" y="16"/>
                </a:lnTo>
                <a:lnTo>
                  <a:pt x="3" y="13"/>
                </a:lnTo>
                <a:lnTo>
                  <a:pt x="6" y="11"/>
                </a:lnTo>
                <a:lnTo>
                  <a:pt x="8" y="8"/>
                </a:lnTo>
                <a:lnTo>
                  <a:pt x="11" y="5"/>
                </a:lnTo>
                <a:lnTo>
                  <a:pt x="14" y="3"/>
                </a:lnTo>
                <a:lnTo>
                  <a:pt x="16" y="3"/>
                </a:lnTo>
                <a:lnTo>
                  <a:pt x="19" y="0"/>
                </a:lnTo>
                <a:lnTo>
                  <a:pt x="24" y="0"/>
                </a:lnTo>
                <a:lnTo>
                  <a:pt x="27" y="0"/>
                </a:lnTo>
                <a:lnTo>
                  <a:pt x="30" y="3"/>
                </a:lnTo>
                <a:lnTo>
                  <a:pt x="35" y="3"/>
                </a:lnTo>
                <a:lnTo>
                  <a:pt x="38" y="5"/>
                </a:lnTo>
                <a:lnTo>
                  <a:pt x="40" y="8"/>
                </a:lnTo>
                <a:lnTo>
                  <a:pt x="40" y="11"/>
                </a:lnTo>
                <a:lnTo>
                  <a:pt x="43" y="13"/>
                </a:lnTo>
                <a:lnTo>
                  <a:pt x="45" y="16"/>
                </a:lnTo>
                <a:lnTo>
                  <a:pt x="45" y="19"/>
                </a:lnTo>
                <a:lnTo>
                  <a:pt x="45" y="24"/>
                </a:lnTo>
                <a:lnTo>
                  <a:pt x="45" y="2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5" name="Freeform 76"/>
          <p:cNvSpPr>
            <a:spLocks/>
          </p:cNvSpPr>
          <p:nvPr/>
        </p:nvSpPr>
        <p:spPr bwMode="auto">
          <a:xfrm>
            <a:off x="4886325" y="3398838"/>
            <a:ext cx="71438" cy="71437"/>
          </a:xfrm>
          <a:custGeom>
            <a:avLst/>
            <a:gdLst>
              <a:gd name="T0" fmla="*/ 2147483647 w 45"/>
              <a:gd name="T1" fmla="*/ 2147483647 h 45"/>
              <a:gd name="T2" fmla="*/ 2147483647 w 45"/>
              <a:gd name="T3" fmla="*/ 2147483647 h 45"/>
              <a:gd name="T4" fmla="*/ 2147483647 w 45"/>
              <a:gd name="T5" fmla="*/ 2147483647 h 45"/>
              <a:gd name="T6" fmla="*/ 2147483647 w 45"/>
              <a:gd name="T7" fmla="*/ 2147483647 h 45"/>
              <a:gd name="T8" fmla="*/ 2147483647 w 45"/>
              <a:gd name="T9" fmla="*/ 2147483647 h 45"/>
              <a:gd name="T10" fmla="*/ 2147483647 w 45"/>
              <a:gd name="T11" fmla="*/ 2147483647 h 45"/>
              <a:gd name="T12" fmla="*/ 2147483647 w 45"/>
              <a:gd name="T13" fmla="*/ 2147483647 h 45"/>
              <a:gd name="T14" fmla="*/ 2147483647 w 45"/>
              <a:gd name="T15" fmla="*/ 2147483647 h 45"/>
              <a:gd name="T16" fmla="*/ 2147483647 w 45"/>
              <a:gd name="T17" fmla="*/ 2147483647 h 45"/>
              <a:gd name="T18" fmla="*/ 2147483647 w 45"/>
              <a:gd name="T19" fmla="*/ 0 h 45"/>
              <a:gd name="T20" fmla="*/ 2147483647 w 45"/>
              <a:gd name="T21" fmla="*/ 0 h 45"/>
              <a:gd name="T22" fmla="*/ 2147483647 w 45"/>
              <a:gd name="T23" fmla="*/ 0 h 45"/>
              <a:gd name="T24" fmla="*/ 2147483647 w 45"/>
              <a:gd name="T25" fmla="*/ 2147483647 h 45"/>
              <a:gd name="T26" fmla="*/ 2147483647 w 45"/>
              <a:gd name="T27" fmla="*/ 2147483647 h 45"/>
              <a:gd name="T28" fmla="*/ 2147483647 w 45"/>
              <a:gd name="T29" fmla="*/ 2147483647 h 45"/>
              <a:gd name="T30" fmla="*/ 2147483647 w 45"/>
              <a:gd name="T31" fmla="*/ 2147483647 h 45"/>
              <a:gd name="T32" fmla="*/ 2147483647 w 45"/>
              <a:gd name="T33" fmla="*/ 2147483647 h 45"/>
              <a:gd name="T34" fmla="*/ 2147483647 w 45"/>
              <a:gd name="T35" fmla="*/ 2147483647 h 45"/>
              <a:gd name="T36" fmla="*/ 2147483647 w 45"/>
              <a:gd name="T37" fmla="*/ 2147483647 h 45"/>
              <a:gd name="T38" fmla="*/ 0 w 45"/>
              <a:gd name="T39" fmla="*/ 2147483647 h 45"/>
              <a:gd name="T40" fmla="*/ 0 w 45"/>
              <a:gd name="T41" fmla="*/ 2147483647 h 45"/>
              <a:gd name="T42" fmla="*/ 0 w 45"/>
              <a:gd name="T43" fmla="*/ 2147483647 h 45"/>
              <a:gd name="T44" fmla="*/ 2147483647 w 45"/>
              <a:gd name="T45" fmla="*/ 2147483647 h 45"/>
              <a:gd name="T46" fmla="*/ 2147483647 w 45"/>
              <a:gd name="T47" fmla="*/ 2147483647 h 45"/>
              <a:gd name="T48" fmla="*/ 2147483647 w 45"/>
              <a:gd name="T49" fmla="*/ 2147483647 h 45"/>
              <a:gd name="T50" fmla="*/ 2147483647 w 45"/>
              <a:gd name="T51" fmla="*/ 2147483647 h 45"/>
              <a:gd name="T52" fmla="*/ 2147483647 w 45"/>
              <a:gd name="T53" fmla="*/ 2147483647 h 45"/>
              <a:gd name="T54" fmla="*/ 2147483647 w 45"/>
              <a:gd name="T55" fmla="*/ 2147483647 h 45"/>
              <a:gd name="T56" fmla="*/ 2147483647 w 45"/>
              <a:gd name="T57" fmla="*/ 2147483647 h 45"/>
              <a:gd name="T58" fmla="*/ 2147483647 w 45"/>
              <a:gd name="T59" fmla="*/ 2147483647 h 45"/>
              <a:gd name="T60" fmla="*/ 2147483647 w 45"/>
              <a:gd name="T61" fmla="*/ 2147483647 h 45"/>
              <a:gd name="T62" fmla="*/ 2147483647 w 45"/>
              <a:gd name="T63" fmla="*/ 2147483647 h 45"/>
              <a:gd name="T64" fmla="*/ 2147483647 w 45"/>
              <a:gd name="T65" fmla="*/ 2147483647 h 45"/>
              <a:gd name="T66" fmla="*/ 2147483647 w 45"/>
              <a:gd name="T67" fmla="*/ 2147483647 h 45"/>
              <a:gd name="T68" fmla="*/ 2147483647 w 45"/>
              <a:gd name="T69" fmla="*/ 2147483647 h 45"/>
              <a:gd name="T70" fmla="*/ 2147483647 w 45"/>
              <a:gd name="T71" fmla="*/ 2147483647 h 45"/>
              <a:gd name="T72" fmla="*/ 2147483647 w 45"/>
              <a:gd name="T73" fmla="*/ 2147483647 h 45"/>
              <a:gd name="T74" fmla="*/ 2147483647 w 45"/>
              <a:gd name="T75" fmla="*/ 2147483647 h 45"/>
              <a:gd name="T76" fmla="*/ 2147483647 w 45"/>
              <a:gd name="T77" fmla="*/ 2147483647 h 45"/>
              <a:gd name="T78" fmla="*/ 2147483647 w 45"/>
              <a:gd name="T79" fmla="*/ 2147483647 h 45"/>
              <a:gd name="T80" fmla="*/ 2147483647 w 45"/>
              <a:gd name="T81" fmla="*/ 2147483647 h 45"/>
              <a:gd name="T82" fmla="*/ 2147483647 w 45"/>
              <a:gd name="T83" fmla="*/ 2147483647 h 4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5"/>
              <a:gd name="T127" fmla="*/ 0 h 45"/>
              <a:gd name="T128" fmla="*/ 45 w 45"/>
              <a:gd name="T129" fmla="*/ 45 h 4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5" h="45">
                <a:moveTo>
                  <a:pt x="45" y="21"/>
                </a:moveTo>
                <a:lnTo>
                  <a:pt x="45" y="19"/>
                </a:lnTo>
                <a:lnTo>
                  <a:pt x="45" y="16"/>
                </a:lnTo>
                <a:lnTo>
                  <a:pt x="43" y="13"/>
                </a:lnTo>
                <a:lnTo>
                  <a:pt x="40" y="11"/>
                </a:lnTo>
                <a:lnTo>
                  <a:pt x="40" y="8"/>
                </a:lnTo>
                <a:lnTo>
                  <a:pt x="38" y="5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6" y="11"/>
                </a:lnTo>
                <a:lnTo>
                  <a:pt x="3" y="13"/>
                </a:lnTo>
                <a:lnTo>
                  <a:pt x="3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3" y="29"/>
                </a:lnTo>
                <a:lnTo>
                  <a:pt x="3" y="35"/>
                </a:lnTo>
                <a:lnTo>
                  <a:pt x="6" y="37"/>
                </a:lnTo>
                <a:lnTo>
                  <a:pt x="8" y="40"/>
                </a:lnTo>
                <a:lnTo>
                  <a:pt x="11" y="40"/>
                </a:lnTo>
                <a:lnTo>
                  <a:pt x="14" y="43"/>
                </a:lnTo>
                <a:lnTo>
                  <a:pt x="16" y="45"/>
                </a:lnTo>
                <a:lnTo>
                  <a:pt x="19" y="45"/>
                </a:lnTo>
                <a:lnTo>
                  <a:pt x="24" y="45"/>
                </a:lnTo>
                <a:lnTo>
                  <a:pt x="27" y="45"/>
                </a:lnTo>
                <a:lnTo>
                  <a:pt x="30" y="45"/>
                </a:lnTo>
                <a:lnTo>
                  <a:pt x="35" y="43"/>
                </a:lnTo>
                <a:lnTo>
                  <a:pt x="38" y="40"/>
                </a:lnTo>
                <a:lnTo>
                  <a:pt x="40" y="40"/>
                </a:lnTo>
                <a:lnTo>
                  <a:pt x="40" y="37"/>
                </a:lnTo>
                <a:lnTo>
                  <a:pt x="43" y="35"/>
                </a:lnTo>
                <a:lnTo>
                  <a:pt x="45" y="29"/>
                </a:lnTo>
                <a:lnTo>
                  <a:pt x="45" y="27"/>
                </a:lnTo>
                <a:lnTo>
                  <a:pt x="45" y="24"/>
                </a:lnTo>
              </a:path>
            </a:pathLst>
          </a:custGeom>
          <a:noFill/>
          <a:ln w="333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6" name="Slide Number Placeholder 8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5AC9C1-EED6-44F2-93CE-C1252962A6C2}" type="slidenum">
              <a:rPr lang="en-US" smtClean="0"/>
              <a:pPr/>
              <a:t>15</a:t>
            </a:fld>
            <a:r>
              <a:rPr lang="en-US"/>
              <a:t> </a:t>
            </a:r>
          </a:p>
        </p:txBody>
      </p:sp>
      <p:sp>
        <p:nvSpPr>
          <p:cNvPr id="20517" name="Rectangle 110"/>
          <p:cNvSpPr>
            <a:spLocks noChangeArrowheads="1"/>
          </p:cNvSpPr>
          <p:nvPr/>
        </p:nvSpPr>
        <p:spPr bwMode="auto">
          <a:xfrm>
            <a:off x="3600450" y="4267200"/>
            <a:ext cx="22225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1600"/>
              <a:t>Cache</a:t>
            </a:r>
          </a:p>
        </p:txBody>
      </p:sp>
      <p:sp>
        <p:nvSpPr>
          <p:cNvPr id="20518" name="Line 64"/>
          <p:cNvSpPr>
            <a:spLocks noChangeShapeType="1"/>
          </p:cNvSpPr>
          <p:nvPr/>
        </p:nvSpPr>
        <p:spPr bwMode="auto">
          <a:xfrm>
            <a:off x="4694238" y="4122738"/>
            <a:ext cx="1587" cy="1143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0519" name="TextBox 40"/>
          <p:cNvSpPr txBox="1">
            <a:spLocks noChangeArrowheads="1"/>
          </p:cNvSpPr>
          <p:nvPr/>
        </p:nvSpPr>
        <p:spPr bwMode="auto">
          <a:xfrm>
            <a:off x="3135313" y="2038350"/>
            <a:ext cx="13853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/>
              <a:t>thread 1: </a:t>
            </a:r>
            <a:r>
              <a:rPr lang="en-CA" b="1" dirty="0" err="1"/>
              <a:t>foo</a:t>
            </a:r>
            <a:r>
              <a:rPr lang="en-CA" b="1" dirty="0"/>
              <a:t>()</a:t>
            </a:r>
          </a:p>
        </p:txBody>
      </p:sp>
      <p:sp>
        <p:nvSpPr>
          <p:cNvPr id="20520" name="TextBox 41"/>
          <p:cNvSpPr txBox="1">
            <a:spLocks noChangeArrowheads="1"/>
          </p:cNvSpPr>
          <p:nvPr/>
        </p:nvSpPr>
        <p:spPr bwMode="auto">
          <a:xfrm>
            <a:off x="5259388" y="2073275"/>
            <a:ext cx="13869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/>
              <a:t>thread 1: bar()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3131301" y="1709487"/>
            <a:ext cx="15263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/>
              <a:t>thread 0: main()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One thread per core?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Multiple cores enable multiple threads to run at the same time if we have one thread on each core.</a:t>
            </a:r>
          </a:p>
          <a:p>
            <a:endParaRPr lang="en-CA" sz="2400" dirty="0"/>
          </a:p>
          <a:p>
            <a:r>
              <a:rPr lang="en-CA" sz="2400" dirty="0"/>
              <a:t>However, with one thread per core, cache misses can cause each core to be idle most of the time.</a:t>
            </a:r>
          </a:p>
          <a:p>
            <a:endParaRPr lang="en-CA" sz="2400" dirty="0"/>
          </a:p>
          <a:p>
            <a:r>
              <a:rPr lang="en-CA" sz="2400" dirty="0"/>
              <a:t>Would like to “multiplex” more than one thread per core, but an operating system context switch takes far longer than the latency of a cache miss.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79904B-E973-42AE-954D-899D74082D53}" type="slidenum">
              <a:rPr lang="en-US" smtClean="0"/>
              <a:pPr/>
              <a:t>16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0"/>
            <a:ext cx="80645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dirty="0"/>
              <a:t>Hardware Idle Due to Memory Latency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2532" name="Picture 4" descr=" t1.s5.jpg                                                      00072E5Bmbp                            C32F9376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" y="1392238"/>
            <a:ext cx="7702550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402FE1C-8129-4D19-8BD5-8ECA13A5321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Hardware Multithreading?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If operating system is too slow to context switch, can we have hardware do this for us?</a:t>
            </a:r>
          </a:p>
          <a:p>
            <a:endParaRPr lang="en-CA" sz="2400" dirty="0"/>
          </a:p>
          <a:p>
            <a:r>
              <a:rPr lang="en-CA" sz="2400" dirty="0"/>
              <a:t>Answer: Yes, but there is some area and complexity overhead.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79904B-E973-42AE-954D-899D74082D53}" type="slidenum">
              <a:rPr lang="en-US" smtClean="0"/>
              <a:pPr/>
              <a:t>18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Fine-Grained Multithreading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3556" name="Picture 4" descr=" t1.s7.jpg                                                      00072E5Bmbp                            C32F9376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5488" y="1204913"/>
            <a:ext cx="7477125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B5AFFB-984C-4FB1-AE0C-6099E06A693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69925" y="1290638"/>
            <a:ext cx="7902575" cy="33305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73975" cy="736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/>
              <a:t>Parallel Communication Models </a:t>
            </a:r>
            <a:br>
              <a:rPr lang="en-US" sz="3600"/>
            </a:b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501775"/>
            <a:ext cx="8153400" cy="498475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Communication occurs by explicitly passing messages among the processors: </a:t>
            </a:r>
            <a:r>
              <a:rPr lang="en-US" sz="2400" dirty="0">
                <a:solidFill>
                  <a:srgbClr val="FF00FF"/>
                </a:solidFill>
              </a:rPr>
              <a:t>message-passing</a:t>
            </a:r>
            <a:endParaRPr lang="en-US" sz="2400" dirty="0">
              <a:solidFill>
                <a:srgbClr val="0332B7"/>
              </a:solidFill>
            </a:endParaRPr>
          </a:p>
          <a:p>
            <a:pPr marL="857250" lvl="1" indent="-457200" eaLnBrk="1" hangingPunct="1">
              <a:lnSpc>
                <a:spcPct val="90000"/>
              </a:lnSpc>
            </a:pPr>
            <a:r>
              <a:rPr lang="en-US" sz="2000" dirty="0">
                <a:solidFill>
                  <a:srgbClr val="0000FF"/>
                </a:solidFill>
              </a:rPr>
              <a:t>Benefit: Scalable -- systems with 100K processors use this</a:t>
            </a:r>
          </a:p>
          <a:p>
            <a:pPr marL="857250" lvl="1" indent="-457200" eaLnBrk="1" hangingPunct="1">
              <a:lnSpc>
                <a:spcPct val="90000"/>
              </a:lnSpc>
            </a:pPr>
            <a:r>
              <a:rPr lang="en-US" sz="2000" dirty="0">
                <a:solidFill>
                  <a:srgbClr val="FF0000"/>
                </a:solidFill>
              </a:rPr>
              <a:t>Drawback: Programmer effort to divide up data among processors and explicitly communicate changes to data. 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endParaRPr lang="en-US" sz="2400" u="sng" dirty="0">
              <a:solidFill>
                <a:srgbClr val="0332B7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endParaRPr lang="en-US" sz="2400" u="sng" dirty="0">
              <a:solidFill>
                <a:srgbClr val="0332B7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Communication occurs through a shared address space via load and store instructions: </a:t>
            </a:r>
            <a:r>
              <a:rPr lang="en-US" sz="2400" dirty="0">
                <a:solidFill>
                  <a:srgbClr val="FF00FF"/>
                </a:solidFill>
              </a:rPr>
              <a:t>shared memory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Benefit: Less initial work for programmer 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Drawback: Not as scalable. Effort to obtain high performance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  <p:sp>
        <p:nvSpPr>
          <p:cNvPr id="2560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63FC5D-AF25-4062-AEC1-6C4A2690E4B7}" type="slidenum">
              <a:rPr lang="en-US" smtClean="0"/>
              <a:pPr/>
              <a:t>20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Shared Memory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97831" y="1726197"/>
            <a:ext cx="7772400" cy="4044950"/>
          </a:xfrm>
        </p:spPr>
        <p:txBody>
          <a:bodyPr/>
          <a:lstStyle/>
          <a:p>
            <a:r>
              <a:rPr lang="en-CA" sz="2400" dirty="0"/>
              <a:t>We focus on shared memory as this is what you see in today’s microprocessors (e.g., Intel Core i5, i7; and mobile system-on-chips such as Snapdragon).</a:t>
            </a:r>
          </a:p>
          <a:p>
            <a:endParaRPr lang="en-CA" sz="2400" dirty="0"/>
          </a:p>
          <a:p>
            <a:r>
              <a:rPr lang="en-CA" sz="2400" dirty="0"/>
              <a:t>Communication occurs via memory—from earlier example:</a:t>
            </a:r>
          </a:p>
          <a:p>
            <a:pPr>
              <a:buFontTx/>
              <a:buNone/>
            </a:pPr>
            <a:r>
              <a:rPr lang="en-CA" sz="2400" dirty="0"/>
              <a:t>		</a:t>
            </a:r>
            <a:r>
              <a:rPr lang="en-CA" sz="2400" dirty="0" err="1"/>
              <a:t>foo</a:t>
            </a:r>
            <a:r>
              <a:rPr lang="en-CA" sz="2400" dirty="0"/>
              <a:t>() writes sum[0]</a:t>
            </a:r>
          </a:p>
          <a:p>
            <a:pPr>
              <a:buFontTx/>
              <a:buNone/>
            </a:pPr>
            <a:r>
              <a:rPr lang="en-CA" sz="2400" dirty="0"/>
              <a:t>		bar() writes sum[1]</a:t>
            </a:r>
          </a:p>
          <a:p>
            <a:pPr>
              <a:buFontTx/>
              <a:buNone/>
            </a:pPr>
            <a:r>
              <a:rPr lang="en-CA" sz="2400" dirty="0"/>
              <a:t>		main() reads sum[0] and sum[1] and adds them.</a:t>
            </a:r>
          </a:p>
          <a:p>
            <a:endParaRPr lang="en-CA" sz="2400" dirty="0"/>
          </a:p>
          <a:p>
            <a:endParaRPr lang="en-CA" sz="2400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C75304-132A-4CF5-A82C-56E60B6A8F43}" type="slidenum">
              <a:rPr lang="en-US" smtClean="0"/>
              <a:pPr/>
              <a:t>21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Shared Memory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Memory Consistency Model</a:t>
            </a:r>
          </a:p>
          <a:p>
            <a:pPr lvl="1"/>
            <a:r>
              <a:rPr lang="en-CA" dirty="0"/>
              <a:t>Specifies ordering of updates to </a:t>
            </a:r>
            <a:r>
              <a:rPr lang="en-CA" u="sng" dirty="0"/>
              <a:t>different locations </a:t>
            </a:r>
            <a:r>
              <a:rPr lang="en-CA" dirty="0"/>
              <a:t>that are allowed by hardware</a:t>
            </a:r>
          </a:p>
          <a:p>
            <a:pPr lvl="1">
              <a:buNone/>
            </a:pPr>
            <a:endParaRPr lang="en-CA" dirty="0"/>
          </a:p>
          <a:p>
            <a:pPr lvl="1">
              <a:buNone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Cache Coherence Protocol</a:t>
            </a:r>
          </a:p>
          <a:p>
            <a:pPr marL="914400" lvl="1" indent="-514350"/>
            <a:r>
              <a:rPr lang="en-CA" dirty="0"/>
              <a:t>Ensures updates to any </a:t>
            </a:r>
            <a:r>
              <a:rPr lang="en-CA" u="sng" dirty="0"/>
              <a:t>single location</a:t>
            </a:r>
            <a:r>
              <a:rPr lang="en-CA" dirty="0"/>
              <a:t> by one thread become visible to threads on other 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961BD8-5010-45A5-B1A9-68D93290FB2D}" type="slidenum">
              <a:rPr lang="en-US" smtClean="0"/>
              <a:pPr>
                <a:defRPr/>
              </a:pPr>
              <a:t>22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1474788" y="2109882"/>
            <a:ext cx="3062287" cy="2508250"/>
            <a:chOff x="995" y="676"/>
            <a:chExt cx="1929" cy="1816"/>
          </a:xfrm>
        </p:grpSpPr>
        <p:sp>
          <p:nvSpPr>
            <p:cNvPr id="27655" name="Line 3"/>
            <p:cNvSpPr>
              <a:spLocks noChangeShapeType="1"/>
            </p:cNvSpPr>
            <p:nvPr/>
          </p:nvSpPr>
          <p:spPr bwMode="auto">
            <a:xfrm flipH="1">
              <a:off x="1856" y="976"/>
              <a:ext cx="320" cy="1264"/>
            </a:xfrm>
            <a:prstGeom prst="line">
              <a:avLst/>
            </a:prstGeom>
            <a:noFill/>
            <a:ln w="50800">
              <a:pattFill prst="pct50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56" name="Rectangle 4"/>
            <p:cNvSpPr>
              <a:spLocks noChangeArrowheads="1"/>
            </p:cNvSpPr>
            <p:nvPr/>
          </p:nvSpPr>
          <p:spPr bwMode="auto">
            <a:xfrm>
              <a:off x="2099" y="731"/>
              <a:ext cx="189" cy="21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P</a:t>
              </a:r>
            </a:p>
          </p:txBody>
        </p:sp>
        <p:sp>
          <p:nvSpPr>
            <p:cNvPr id="27657" name="Oval 5"/>
            <p:cNvSpPr>
              <a:spLocks noChangeArrowheads="1"/>
            </p:cNvSpPr>
            <p:nvPr/>
          </p:nvSpPr>
          <p:spPr bwMode="auto">
            <a:xfrm>
              <a:off x="2068" y="676"/>
              <a:ext cx="232" cy="2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Line 6"/>
            <p:cNvSpPr>
              <a:spLocks noChangeShapeType="1"/>
            </p:cNvSpPr>
            <p:nvPr/>
          </p:nvSpPr>
          <p:spPr bwMode="auto">
            <a:xfrm flipH="1">
              <a:off x="1244" y="964"/>
              <a:ext cx="920" cy="1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59" name="Line 7"/>
            <p:cNvSpPr>
              <a:spLocks noChangeShapeType="1"/>
            </p:cNvSpPr>
            <p:nvPr/>
          </p:nvSpPr>
          <p:spPr bwMode="auto">
            <a:xfrm>
              <a:off x="2164" y="964"/>
              <a:ext cx="760" cy="1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60" name="Line 8"/>
            <p:cNvSpPr>
              <a:spLocks noChangeShapeType="1"/>
            </p:cNvSpPr>
            <p:nvPr/>
          </p:nvSpPr>
          <p:spPr bwMode="auto">
            <a:xfrm>
              <a:off x="1924" y="1344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61" name="Line 9"/>
            <p:cNvSpPr>
              <a:spLocks noChangeShapeType="1"/>
            </p:cNvSpPr>
            <p:nvPr/>
          </p:nvSpPr>
          <p:spPr bwMode="auto">
            <a:xfrm>
              <a:off x="1684" y="1728"/>
              <a:ext cx="8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62" name="Line 10"/>
            <p:cNvSpPr>
              <a:spLocks noChangeShapeType="1"/>
            </p:cNvSpPr>
            <p:nvPr/>
          </p:nvSpPr>
          <p:spPr bwMode="auto">
            <a:xfrm>
              <a:off x="1444" y="2112"/>
              <a:ext cx="1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63" name="Line 11"/>
            <p:cNvSpPr>
              <a:spLocks noChangeShapeType="1"/>
            </p:cNvSpPr>
            <p:nvPr/>
          </p:nvSpPr>
          <p:spPr bwMode="auto">
            <a:xfrm>
              <a:off x="1252" y="2448"/>
              <a:ext cx="1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64" name="Rectangle 12"/>
            <p:cNvSpPr>
              <a:spLocks noChangeArrowheads="1"/>
            </p:cNvSpPr>
            <p:nvPr/>
          </p:nvSpPr>
          <p:spPr bwMode="auto">
            <a:xfrm>
              <a:off x="1043" y="2218"/>
              <a:ext cx="332" cy="21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Disk</a:t>
              </a:r>
            </a:p>
          </p:txBody>
        </p:sp>
        <p:sp>
          <p:nvSpPr>
            <p:cNvPr id="27665" name="Rectangle 13"/>
            <p:cNvSpPr>
              <a:spLocks noChangeArrowheads="1"/>
            </p:cNvSpPr>
            <p:nvPr/>
          </p:nvSpPr>
          <p:spPr bwMode="auto">
            <a:xfrm>
              <a:off x="995" y="1883"/>
              <a:ext cx="517" cy="2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Memory</a:t>
              </a:r>
            </a:p>
          </p:txBody>
        </p:sp>
        <p:sp>
          <p:nvSpPr>
            <p:cNvPr id="27666" name="Rectangle 14"/>
            <p:cNvSpPr>
              <a:spLocks noChangeArrowheads="1"/>
            </p:cNvSpPr>
            <p:nvPr/>
          </p:nvSpPr>
          <p:spPr bwMode="auto">
            <a:xfrm>
              <a:off x="1523" y="1404"/>
              <a:ext cx="238" cy="2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L2</a:t>
              </a:r>
            </a:p>
          </p:txBody>
        </p:sp>
        <p:sp>
          <p:nvSpPr>
            <p:cNvPr id="27667" name="Rectangle 15"/>
            <p:cNvSpPr>
              <a:spLocks noChangeArrowheads="1"/>
            </p:cNvSpPr>
            <p:nvPr/>
          </p:nvSpPr>
          <p:spPr bwMode="auto">
            <a:xfrm>
              <a:off x="1811" y="1019"/>
              <a:ext cx="238" cy="2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L1</a:t>
              </a:r>
            </a:p>
          </p:txBody>
        </p:sp>
        <p:sp>
          <p:nvSpPr>
            <p:cNvPr id="27668" name="Rectangle 16"/>
            <p:cNvSpPr>
              <a:spLocks noChangeArrowheads="1"/>
            </p:cNvSpPr>
            <p:nvPr/>
          </p:nvSpPr>
          <p:spPr bwMode="auto">
            <a:xfrm>
              <a:off x="1619" y="2218"/>
              <a:ext cx="516" cy="21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latin typeface="Courier New" pitchFamily="49" charset="0"/>
                </a:rPr>
                <a:t>100:34</a:t>
              </a:r>
            </a:p>
          </p:txBody>
        </p:sp>
        <p:sp>
          <p:nvSpPr>
            <p:cNvPr id="27669" name="Oval 17"/>
            <p:cNvSpPr>
              <a:spLocks noChangeArrowheads="1"/>
            </p:cNvSpPr>
            <p:nvPr/>
          </p:nvSpPr>
          <p:spPr bwMode="auto">
            <a:xfrm>
              <a:off x="2637" y="718"/>
              <a:ext cx="224" cy="272"/>
            </a:xfrm>
            <a:prstGeom prst="ellipse">
              <a:avLst/>
            </a:prstGeom>
            <a:noFill/>
            <a:ln w="25400">
              <a:pattFill prst="pct25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0" name="Line 18"/>
            <p:cNvSpPr>
              <a:spLocks noChangeShapeType="1"/>
            </p:cNvSpPr>
            <p:nvPr/>
          </p:nvSpPr>
          <p:spPr bwMode="auto">
            <a:xfrm flipH="1">
              <a:off x="1240" y="992"/>
              <a:ext cx="1401" cy="1448"/>
            </a:xfrm>
            <a:prstGeom prst="line">
              <a:avLst/>
            </a:prstGeom>
            <a:noFill/>
            <a:ln w="25400">
              <a:pattFill prst="pct25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71" name="Line 19"/>
            <p:cNvSpPr>
              <a:spLocks noChangeShapeType="1"/>
            </p:cNvSpPr>
            <p:nvPr/>
          </p:nvSpPr>
          <p:spPr bwMode="auto">
            <a:xfrm>
              <a:off x="2847" y="983"/>
              <a:ext cx="73" cy="1457"/>
            </a:xfrm>
            <a:prstGeom prst="line">
              <a:avLst/>
            </a:prstGeom>
            <a:noFill/>
            <a:ln w="25400">
              <a:pattFill prst="pct25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672" name="Rectangle 20"/>
            <p:cNvSpPr>
              <a:spLocks noChangeArrowheads="1"/>
            </p:cNvSpPr>
            <p:nvPr/>
          </p:nvSpPr>
          <p:spPr bwMode="auto">
            <a:xfrm>
              <a:off x="1907" y="1576"/>
              <a:ext cx="402" cy="1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 b="1">
                  <a:latin typeface="Courier New" pitchFamily="49" charset="0"/>
                </a:rPr>
                <a:t>100:35</a:t>
              </a:r>
            </a:p>
          </p:txBody>
        </p:sp>
        <p:sp>
          <p:nvSpPr>
            <p:cNvPr id="27673" name="Rectangle 21"/>
            <p:cNvSpPr>
              <a:spLocks noChangeArrowheads="1"/>
            </p:cNvSpPr>
            <p:nvPr/>
          </p:nvSpPr>
          <p:spPr bwMode="auto">
            <a:xfrm>
              <a:off x="1955" y="1199"/>
              <a:ext cx="372" cy="1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900" b="1">
                  <a:latin typeface="Courier New" pitchFamily="49" charset="0"/>
                </a:rPr>
                <a:t>100:67</a:t>
              </a:r>
            </a:p>
          </p:txBody>
        </p:sp>
      </p:grpSp>
      <p:sp>
        <p:nvSpPr>
          <p:cNvPr id="27651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Intuitive “Memory Model”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7653" name="Rectangle 24"/>
          <p:cNvSpPr>
            <a:spLocks noChangeArrowheads="1"/>
          </p:cNvSpPr>
          <p:nvPr/>
        </p:nvSpPr>
        <p:spPr bwMode="auto">
          <a:xfrm>
            <a:off x="4595813" y="2055907"/>
            <a:ext cx="396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457200" indent="-457200" eaLnBrk="1" hangingPunct="1">
              <a:spcBef>
                <a:spcPct val="20000"/>
              </a:spcBef>
            </a:pPr>
            <a:r>
              <a:rPr lang="en-US" sz="2000">
                <a:solidFill>
                  <a:srgbClr val="0000FF"/>
                </a:solidFill>
                <a:cs typeface="Arial" pitchFamily="34" charset="0"/>
              </a:rPr>
              <a:t>	Reading an address should return the “last value written to that address”</a:t>
            </a:r>
          </a:p>
        </p:txBody>
      </p:sp>
      <p:sp>
        <p:nvSpPr>
          <p:cNvPr id="27654" name="Slide Number Placeholder 27"/>
          <p:cNvSpPr>
            <a:spLocks noGrp="1"/>
          </p:cNvSpPr>
          <p:nvPr>
            <p:ph type="sldNum" sz="quarter" idx="12"/>
          </p:nvPr>
        </p:nvSpPr>
        <p:spPr>
          <a:xfrm>
            <a:off x="8588375" y="6400800"/>
            <a:ext cx="555625" cy="457200"/>
          </a:xfrm>
          <a:noFill/>
        </p:spPr>
        <p:txBody>
          <a:bodyPr/>
          <a:lstStyle/>
          <a:p>
            <a:fld id="{1D9F6820-9DF9-4A00-B764-7B697C36F23F}" type="slidenum">
              <a:rPr lang="en-US" smtClean="0"/>
              <a:pPr/>
              <a:t>23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8128"/>
            <a:ext cx="7772400" cy="1143000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Another Silly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737" y="1371605"/>
            <a:ext cx="7772400" cy="5101389"/>
          </a:xfrm>
        </p:spPr>
        <p:txBody>
          <a:bodyPr/>
          <a:lstStyle/>
          <a:p>
            <a:r>
              <a:rPr lang="en-CA" dirty="0"/>
              <a:t>Instructor tells ECE office to change lecture location on SSC (e.g., from MCLD to CHEM), then sends text message to students telling them to check new location on SSC.</a:t>
            </a:r>
          </a:p>
          <a:p>
            <a:r>
              <a:rPr lang="en-CA" dirty="0"/>
              <a:t>Diligent student gets text, immediately checks SSC and sees room is MCLD since ECE office busy and has not yet updated SSC.</a:t>
            </a:r>
          </a:p>
          <a:p>
            <a:r>
              <a:rPr lang="en-CA" dirty="0">
                <a:solidFill>
                  <a:srgbClr val="FF0000"/>
                </a:solidFill>
              </a:rPr>
              <a:t>Diligent student goes to wrong room!</a:t>
            </a:r>
            <a:endParaRPr lang="en-CA" dirty="0"/>
          </a:p>
          <a:p>
            <a:r>
              <a:rPr lang="en-CA" dirty="0">
                <a:solidFill>
                  <a:srgbClr val="FF00FF"/>
                </a:solidFill>
              </a:rPr>
              <a:t>Instructor sent messages in correct order!</a:t>
            </a:r>
          </a:p>
          <a:p>
            <a:r>
              <a:rPr lang="en-CA" dirty="0">
                <a:solidFill>
                  <a:srgbClr val="0000FF"/>
                </a:solidFill>
              </a:rPr>
              <a:t>Who is at fault?  Solutions?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961BD8-5010-45A5-B1A9-68D93290FB2D}" type="slidenum">
              <a:rPr lang="en-US" smtClean="0"/>
              <a:pPr>
                <a:defRPr/>
              </a:pPr>
              <a:t>24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62800" cy="1143000"/>
          </a:xfrm>
          <a:noFill/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Memory Consistency Problem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950" y="1174750"/>
            <a:ext cx="7800975" cy="5302250"/>
          </a:xfrm>
          <a:noFill/>
        </p:spPr>
        <p:txBody>
          <a:bodyPr lIns="90487" tIns="44450" rIns="90487" bIns="44450"/>
          <a:lstStyle/>
          <a:p>
            <a:pPr marL="285750" indent="-285750" eaLnBrk="1" hangingPunct="1">
              <a:buNone/>
              <a:tabLst>
                <a:tab pos="914400" algn="l"/>
              </a:tabLst>
            </a:pPr>
            <a:r>
              <a:rPr lang="en-US" sz="2000" dirty="0"/>
              <a:t>Example:</a:t>
            </a:r>
          </a:p>
          <a:p>
            <a:pPr marL="285750" indent="-285750" eaLnBrk="1" hangingPunct="1">
              <a:tabLst>
                <a:tab pos="914400" algn="l"/>
              </a:tabLst>
            </a:pPr>
            <a:endParaRPr lang="en-US" sz="1600" dirty="0"/>
          </a:p>
          <a:p>
            <a:pPr marL="285750" indent="-285750" eaLnBrk="1" hangingPunct="1">
              <a:lnSpc>
                <a:spcPct val="60000"/>
              </a:lnSpc>
              <a:buFontTx/>
              <a:buNone/>
              <a:tabLst>
                <a:tab pos="914400" algn="l"/>
              </a:tabLst>
            </a:pPr>
            <a:r>
              <a:rPr lang="en-US" sz="1600" dirty="0"/>
              <a:t>	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P1:	A = 0;			P2:	B = 0;</a:t>
            </a:r>
          </a:p>
          <a:p>
            <a:pPr marL="285750" indent="-285750" eaLnBrk="1" hangingPunct="1">
              <a:lnSpc>
                <a:spcPct val="60000"/>
              </a:lnSpc>
              <a:buFontTx/>
              <a:buNone/>
              <a:tabLst>
                <a:tab pos="914400" algn="l"/>
              </a:tabLst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	...				...</a:t>
            </a:r>
          </a:p>
          <a:p>
            <a:pPr marL="285750" indent="-285750" eaLnBrk="1" hangingPunct="1">
              <a:lnSpc>
                <a:spcPct val="60000"/>
              </a:lnSpc>
              <a:buFontTx/>
              <a:buNone/>
              <a:tabLst>
                <a:tab pos="914400" algn="l"/>
              </a:tabLst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	A = 1;				B = 1;</a:t>
            </a:r>
          </a:p>
          <a:p>
            <a:pPr marL="285750" indent="-285750" eaLnBrk="1" hangingPunct="1">
              <a:lnSpc>
                <a:spcPct val="60000"/>
              </a:lnSpc>
              <a:buFontTx/>
              <a:buNone/>
              <a:tabLst>
                <a:tab pos="914400" algn="l"/>
              </a:tabLst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L1: 	if (B == 0) ...		L2:	if (A == 0) ...</a:t>
            </a:r>
          </a:p>
          <a:p>
            <a:pPr marL="285750" indent="-285750" eaLnBrk="1" hangingPunct="1">
              <a:lnSpc>
                <a:spcPct val="60000"/>
              </a:lnSpc>
              <a:buFontTx/>
              <a:buNone/>
              <a:tabLst>
                <a:tab pos="914400" algn="l"/>
              </a:tabLst>
            </a:pPr>
            <a:endParaRPr lang="en-US" sz="1400" dirty="0"/>
          </a:p>
          <a:p>
            <a:pPr marL="285750" indent="-285750" eaLnBrk="1" hangingPunct="1">
              <a:tabLst>
                <a:tab pos="914400" algn="l"/>
              </a:tabLst>
            </a:pPr>
            <a:endParaRPr lang="en-US" sz="1600" dirty="0"/>
          </a:p>
          <a:p>
            <a:pPr marL="285750" indent="-285750" eaLnBrk="1" hangingPunct="1">
              <a:tabLst>
                <a:tab pos="914400" algn="l"/>
              </a:tabLst>
            </a:pPr>
            <a:endParaRPr lang="en-US" sz="1600" dirty="0"/>
          </a:p>
          <a:p>
            <a:pPr marL="285750" indent="-285750" eaLnBrk="1" hangingPunct="1">
              <a:tabLst>
                <a:tab pos="914400" algn="l"/>
              </a:tabLst>
            </a:pPr>
            <a:r>
              <a:rPr lang="en-US" sz="2000" dirty="0"/>
              <a:t>Possible for both “if” statements L1 &amp; L2 to be true?</a:t>
            </a:r>
          </a:p>
          <a:p>
            <a:pPr marL="285750" indent="-285750" eaLnBrk="1" hangingPunct="1">
              <a:tabLst>
                <a:tab pos="914400" algn="l"/>
              </a:tabLst>
            </a:pPr>
            <a:r>
              <a:rPr lang="en-US" sz="2000" dirty="0"/>
              <a:t>What if load is executed before store due to out of order execution?</a:t>
            </a:r>
          </a:p>
          <a:p>
            <a:pPr marL="285750" indent="-285750" eaLnBrk="1" hangingPunct="1">
              <a:tabLst>
                <a:tab pos="914400" algn="l"/>
              </a:tabLst>
            </a:pPr>
            <a:endParaRPr lang="en-US" sz="2000" dirty="0"/>
          </a:p>
          <a:p>
            <a:pPr marL="285750" indent="-285750" eaLnBrk="1" hangingPunct="1">
              <a:tabLst>
                <a:tab pos="914400" algn="l"/>
              </a:tabLst>
            </a:pPr>
            <a:r>
              <a:rPr lang="en-US" sz="2000" dirty="0"/>
              <a:t>Memory consistency model specifies rules for ordering of loads and stores accessing different locations and executed in different threads</a:t>
            </a:r>
          </a:p>
        </p:txBody>
      </p:sp>
      <p:sp>
        <p:nvSpPr>
          <p:cNvPr id="614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3FCEDE-CA98-45A1-8C28-70E23805E5E0}" type="slidenum">
              <a:rPr lang="en-US"/>
              <a:pPr/>
              <a:t>25</a:t>
            </a:fld>
            <a:r>
              <a:rPr lang="en-US"/>
              <a:t> 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0"/>
            <a:ext cx="77724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Caches Critical for Performance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4664075" cy="32527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Reduce average latency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Reduce average bandwidth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Data is logically transferred from producer to consumer via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store </a:t>
            </a:r>
            <a:r>
              <a:rPr lang="en-US" sz="2000" dirty="0" err="1"/>
              <a:t>reg</a:t>
            </a:r>
            <a:r>
              <a:rPr lang="en-US" sz="2000" dirty="0"/>
              <a:t> --&gt; </a:t>
            </a:r>
            <a:r>
              <a:rPr lang="en-US" sz="2000" dirty="0" err="1"/>
              <a:t>mem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load  </a:t>
            </a:r>
            <a:r>
              <a:rPr lang="en-US" sz="2000" dirty="0" err="1"/>
              <a:t>reg</a:t>
            </a:r>
            <a:r>
              <a:rPr lang="en-US" sz="2000" dirty="0"/>
              <a:t> &lt;-- </a:t>
            </a:r>
            <a:r>
              <a:rPr lang="en-US" sz="2000" dirty="0" err="1"/>
              <a:t>mem</a:t>
            </a:r>
            <a:endParaRPr lang="en-US" sz="2000" dirty="0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5638800" y="2057400"/>
            <a:ext cx="2819400" cy="2438400"/>
            <a:chOff x="3552" y="1392"/>
            <a:chExt cx="1584" cy="1440"/>
          </a:xfrm>
        </p:grpSpPr>
        <p:grpSp>
          <p:nvGrpSpPr>
            <p:cNvPr id="28685" name="Group 5"/>
            <p:cNvGrpSpPr>
              <a:grpSpLocks/>
            </p:cNvGrpSpPr>
            <p:nvPr/>
          </p:nvGrpSpPr>
          <p:grpSpPr bwMode="auto">
            <a:xfrm>
              <a:off x="3600" y="2400"/>
              <a:ext cx="192" cy="432"/>
              <a:chOff x="1392" y="2976"/>
              <a:chExt cx="192" cy="288"/>
            </a:xfrm>
          </p:grpSpPr>
          <p:sp>
            <p:nvSpPr>
              <p:cNvPr id="28707" name="Rectangle 6"/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pPr algn="ctr"/>
                <a:r>
                  <a:rPr lang="en-US" b="1"/>
                  <a:t>P</a:t>
                </a:r>
              </a:p>
            </p:txBody>
          </p:sp>
          <p:sp>
            <p:nvSpPr>
              <p:cNvPr id="28708" name="Line 7"/>
              <p:cNvSpPr>
                <a:spLocks noChangeShapeType="1"/>
              </p:cNvSpPr>
              <p:nvPr/>
            </p:nvSpPr>
            <p:spPr bwMode="auto">
              <a:xfrm flipV="1">
                <a:off x="1488" y="297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bIns="0" anchor="ctr"/>
              <a:lstStyle/>
              <a:p>
                <a:endParaRPr lang="en-CA"/>
              </a:p>
            </p:txBody>
          </p:sp>
        </p:grpSp>
        <p:sp>
          <p:nvSpPr>
            <p:cNvPr id="28686" name="Rectangle 8"/>
            <p:cNvSpPr>
              <a:spLocks noChangeArrowheads="1"/>
            </p:cNvSpPr>
            <p:nvPr/>
          </p:nvSpPr>
          <p:spPr bwMode="auto">
            <a:xfrm>
              <a:off x="3552" y="216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87" name="Rectangle 9"/>
            <p:cNvSpPr>
              <a:spLocks noChangeArrowheads="1"/>
            </p:cNvSpPr>
            <p:nvPr/>
          </p:nvSpPr>
          <p:spPr bwMode="auto">
            <a:xfrm>
              <a:off x="3552" y="1392"/>
              <a:ext cx="158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88" name="Rectangle 10"/>
            <p:cNvSpPr>
              <a:spLocks noChangeArrowheads="1"/>
            </p:cNvSpPr>
            <p:nvPr/>
          </p:nvSpPr>
          <p:spPr bwMode="auto">
            <a:xfrm>
              <a:off x="3600" y="2256"/>
              <a:ext cx="192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89" name="Rectangle 11"/>
            <p:cNvSpPr>
              <a:spLocks noChangeArrowheads="1"/>
            </p:cNvSpPr>
            <p:nvPr/>
          </p:nvSpPr>
          <p:spPr bwMode="auto">
            <a:xfrm>
              <a:off x="3648" y="1584"/>
              <a:ext cx="52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90" name="Rectangle 12"/>
            <p:cNvSpPr>
              <a:spLocks noChangeArrowheads="1"/>
            </p:cNvSpPr>
            <p:nvPr/>
          </p:nvSpPr>
          <p:spPr bwMode="auto">
            <a:xfrm>
              <a:off x="3840" y="1584"/>
              <a:ext cx="192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91" name="Line 13"/>
            <p:cNvSpPr>
              <a:spLocks noChangeShapeType="1"/>
            </p:cNvSpPr>
            <p:nvPr/>
          </p:nvSpPr>
          <p:spPr bwMode="auto">
            <a:xfrm flipV="1">
              <a:off x="3696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/>
            <a:lstStyle/>
            <a:p>
              <a:endParaRPr lang="en-CA"/>
            </a:p>
          </p:txBody>
        </p:sp>
        <p:grpSp>
          <p:nvGrpSpPr>
            <p:cNvPr id="28692" name="Group 14"/>
            <p:cNvGrpSpPr>
              <a:grpSpLocks/>
            </p:cNvGrpSpPr>
            <p:nvPr/>
          </p:nvGrpSpPr>
          <p:grpSpPr bwMode="auto">
            <a:xfrm>
              <a:off x="3984" y="2400"/>
              <a:ext cx="192" cy="432"/>
              <a:chOff x="1392" y="2976"/>
              <a:chExt cx="192" cy="288"/>
            </a:xfrm>
          </p:grpSpPr>
          <p:sp>
            <p:nvSpPr>
              <p:cNvPr id="28705" name="Rectangle 15"/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pPr algn="ctr"/>
                <a:r>
                  <a:rPr lang="en-US" b="1"/>
                  <a:t>P</a:t>
                </a:r>
              </a:p>
            </p:txBody>
          </p:sp>
          <p:sp>
            <p:nvSpPr>
              <p:cNvPr id="28706" name="Line 16"/>
              <p:cNvSpPr>
                <a:spLocks noChangeShapeType="1"/>
              </p:cNvSpPr>
              <p:nvPr/>
            </p:nvSpPr>
            <p:spPr bwMode="auto">
              <a:xfrm flipV="1">
                <a:off x="1488" y="297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bIns="0" anchor="ctr"/>
              <a:lstStyle/>
              <a:p>
                <a:endParaRPr lang="en-CA"/>
              </a:p>
            </p:txBody>
          </p:sp>
        </p:grpSp>
        <p:sp>
          <p:nvSpPr>
            <p:cNvPr id="28693" name="Rectangle 17"/>
            <p:cNvSpPr>
              <a:spLocks noChangeArrowheads="1"/>
            </p:cNvSpPr>
            <p:nvPr/>
          </p:nvSpPr>
          <p:spPr bwMode="auto">
            <a:xfrm>
              <a:off x="3936" y="216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94" name="Rectangle 18"/>
            <p:cNvSpPr>
              <a:spLocks noChangeArrowheads="1"/>
            </p:cNvSpPr>
            <p:nvPr/>
          </p:nvSpPr>
          <p:spPr bwMode="auto">
            <a:xfrm>
              <a:off x="3984" y="2256"/>
              <a:ext cx="192" cy="48"/>
            </a:xfrm>
            <a:prstGeom prst="rect">
              <a:avLst/>
            </a:prstGeom>
            <a:solidFill>
              <a:srgbClr val="0332B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95" name="Line 19"/>
            <p:cNvSpPr>
              <a:spLocks noChangeShapeType="1"/>
            </p:cNvSpPr>
            <p:nvPr/>
          </p:nvSpPr>
          <p:spPr bwMode="auto">
            <a:xfrm flipV="1">
              <a:off x="4080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/>
            <a:lstStyle/>
            <a:p>
              <a:endParaRPr lang="en-CA"/>
            </a:p>
          </p:txBody>
        </p:sp>
        <p:grpSp>
          <p:nvGrpSpPr>
            <p:cNvPr id="28696" name="Group 20"/>
            <p:cNvGrpSpPr>
              <a:grpSpLocks/>
            </p:cNvGrpSpPr>
            <p:nvPr/>
          </p:nvGrpSpPr>
          <p:grpSpPr bwMode="auto">
            <a:xfrm>
              <a:off x="4800" y="2400"/>
              <a:ext cx="192" cy="432"/>
              <a:chOff x="1392" y="2976"/>
              <a:chExt cx="192" cy="288"/>
            </a:xfrm>
          </p:grpSpPr>
          <p:sp>
            <p:nvSpPr>
              <p:cNvPr id="28703" name="Rectangle 21"/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pPr algn="ctr"/>
                <a:r>
                  <a:rPr lang="en-US" b="1"/>
                  <a:t>P</a:t>
                </a:r>
              </a:p>
            </p:txBody>
          </p:sp>
          <p:sp>
            <p:nvSpPr>
              <p:cNvPr id="28704" name="Line 22"/>
              <p:cNvSpPr>
                <a:spLocks noChangeShapeType="1"/>
              </p:cNvSpPr>
              <p:nvPr/>
            </p:nvSpPr>
            <p:spPr bwMode="auto">
              <a:xfrm flipV="1">
                <a:off x="1488" y="297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bIns="0" anchor="ctr"/>
              <a:lstStyle/>
              <a:p>
                <a:endParaRPr lang="en-CA"/>
              </a:p>
            </p:txBody>
          </p:sp>
        </p:grpSp>
        <p:sp>
          <p:nvSpPr>
            <p:cNvPr id="28697" name="Rectangle 23"/>
            <p:cNvSpPr>
              <a:spLocks noChangeArrowheads="1"/>
            </p:cNvSpPr>
            <p:nvPr/>
          </p:nvSpPr>
          <p:spPr bwMode="auto">
            <a:xfrm>
              <a:off x="4752" y="216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98" name="Line 24"/>
            <p:cNvSpPr>
              <a:spLocks noChangeShapeType="1"/>
            </p:cNvSpPr>
            <p:nvPr/>
          </p:nvSpPr>
          <p:spPr bwMode="auto">
            <a:xfrm flipV="1">
              <a:off x="4896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/>
            <a:lstStyle/>
            <a:p>
              <a:endParaRPr lang="en-CA"/>
            </a:p>
          </p:txBody>
        </p:sp>
        <p:sp>
          <p:nvSpPr>
            <p:cNvPr id="28699" name="Rectangle 25"/>
            <p:cNvSpPr>
              <a:spLocks noChangeArrowheads="1"/>
            </p:cNvSpPr>
            <p:nvPr/>
          </p:nvSpPr>
          <p:spPr bwMode="auto">
            <a:xfrm>
              <a:off x="3888" y="1728"/>
              <a:ext cx="52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700" name="Rectangle 26"/>
            <p:cNvSpPr>
              <a:spLocks noChangeArrowheads="1"/>
            </p:cNvSpPr>
            <p:nvPr/>
          </p:nvSpPr>
          <p:spPr bwMode="auto">
            <a:xfrm>
              <a:off x="4080" y="1728"/>
              <a:ext cx="192" cy="48"/>
            </a:xfrm>
            <a:prstGeom prst="rect">
              <a:avLst/>
            </a:prstGeom>
            <a:solidFill>
              <a:srgbClr val="0332B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701" name="Rectangle 27"/>
            <p:cNvSpPr>
              <a:spLocks noChangeArrowheads="1"/>
            </p:cNvSpPr>
            <p:nvPr/>
          </p:nvSpPr>
          <p:spPr bwMode="auto">
            <a:xfrm>
              <a:off x="4464" y="1536"/>
              <a:ext cx="52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702" name="Rectangle 28"/>
            <p:cNvSpPr>
              <a:spLocks noChangeArrowheads="1"/>
            </p:cNvSpPr>
            <p:nvPr/>
          </p:nvSpPr>
          <p:spPr bwMode="auto">
            <a:xfrm>
              <a:off x="4656" y="1536"/>
              <a:ext cx="192" cy="4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</p:grpSp>
      <p:cxnSp>
        <p:nvCxnSpPr>
          <p:cNvPr id="28677" name="AutoShape 29"/>
          <p:cNvCxnSpPr>
            <a:cxnSpLocks noChangeShapeType="1"/>
            <a:stCxn id="28690" idx="2"/>
            <a:endCxn id="28688" idx="0"/>
          </p:cNvCxnSpPr>
          <p:nvPr/>
        </p:nvCxnSpPr>
        <p:spPr bwMode="auto">
          <a:xfrm rot="5400000">
            <a:off x="5580856" y="2778919"/>
            <a:ext cx="1057275" cy="427038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114FFB"/>
            </a:solidFill>
            <a:round/>
            <a:headEnd/>
            <a:tailEnd type="triangle" w="med" len="med"/>
          </a:ln>
        </p:spPr>
      </p:cxnSp>
      <p:sp>
        <p:nvSpPr>
          <p:cNvPr id="28678" name="Rectangle 30"/>
          <p:cNvSpPr>
            <a:spLocks noChangeArrowheads="1"/>
          </p:cNvSpPr>
          <p:nvPr/>
        </p:nvSpPr>
        <p:spPr bwMode="auto">
          <a:xfrm>
            <a:off x="927100" y="5435600"/>
            <a:ext cx="6415088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0">
            <a:spAutoFit/>
          </a:bodyPr>
          <a:lstStyle/>
          <a:p>
            <a:pPr>
              <a:buFontTx/>
              <a:buChar char="•"/>
            </a:pPr>
            <a:r>
              <a:rPr lang="en-US" sz="2000" b="1" dirty="0">
                <a:cs typeface="Arial" pitchFamily="34" charset="0"/>
              </a:rPr>
              <a:t> Problem: What happens when store &amp; load are executed  on different processors?   </a:t>
            </a:r>
            <a:endParaRPr lang="en-US" sz="2400" b="1" dirty="0">
              <a:cs typeface="Arial" pitchFamily="34" charset="0"/>
            </a:endParaRPr>
          </a:p>
        </p:txBody>
      </p:sp>
      <p:grpSp>
        <p:nvGrpSpPr>
          <p:cNvPr id="28679" name="Group 31"/>
          <p:cNvGrpSpPr>
            <a:grpSpLocks/>
          </p:cNvGrpSpPr>
          <p:nvPr/>
        </p:nvGrpSpPr>
        <p:grpSpPr bwMode="auto">
          <a:xfrm>
            <a:off x="914400" y="2438400"/>
            <a:ext cx="7239000" cy="2865438"/>
            <a:chOff x="576" y="1536"/>
            <a:chExt cx="4560" cy="1805"/>
          </a:xfrm>
        </p:grpSpPr>
        <p:sp>
          <p:nvSpPr>
            <p:cNvPr id="28682" name="Rectangle 32"/>
            <p:cNvSpPr>
              <a:spLocks noChangeArrowheads="1"/>
            </p:cNvSpPr>
            <p:nvPr/>
          </p:nvSpPr>
          <p:spPr bwMode="auto">
            <a:xfrm>
              <a:off x="4944" y="2256"/>
              <a:ext cx="192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8683" name="Rectangle 33"/>
            <p:cNvSpPr>
              <a:spLocks noChangeArrowheads="1"/>
            </p:cNvSpPr>
            <p:nvPr/>
          </p:nvSpPr>
          <p:spPr bwMode="auto">
            <a:xfrm>
              <a:off x="576" y="2928"/>
              <a:ext cx="2688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bIns="0">
              <a:spAutoFit/>
            </a:bodyPr>
            <a:lstStyle/>
            <a:p>
              <a:pPr>
                <a:buFontTx/>
                <a:buChar char="•"/>
              </a:pPr>
              <a:r>
                <a:rPr lang="en-US" sz="2000" b="1" dirty="0">
                  <a:latin typeface="AGaramond" pitchFamily="18" charset="-52"/>
                </a:rPr>
                <a:t> </a:t>
              </a:r>
              <a:r>
                <a:rPr lang="en-US" sz="2000" b="1" dirty="0"/>
                <a:t>Many processors can share data efficiently</a:t>
              </a:r>
              <a:endParaRPr lang="en-US" sz="2400" b="1" dirty="0"/>
            </a:p>
          </p:txBody>
        </p:sp>
        <p:sp>
          <p:nvSpPr>
            <p:cNvPr id="28684" name="Line 34"/>
            <p:cNvSpPr>
              <a:spLocks noChangeShapeType="1"/>
            </p:cNvSpPr>
            <p:nvPr/>
          </p:nvSpPr>
          <p:spPr bwMode="auto">
            <a:xfrm>
              <a:off x="3984" y="1536"/>
              <a:ext cx="100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bIns="0" anchor="ctr"/>
            <a:lstStyle/>
            <a:p>
              <a:endParaRPr lang="en-CA"/>
            </a:p>
          </p:txBody>
        </p:sp>
      </p:grpSp>
      <p:sp>
        <p:nvSpPr>
          <p:cNvPr id="28680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6E7848-5CB7-408E-812E-BA1A967AFD1F}" type="slidenum">
              <a:rPr lang="en-US" smtClean="0"/>
              <a:pPr/>
              <a:t>26</a:t>
            </a:fld>
            <a:r>
              <a:rPr lang="en-US"/>
              <a:t> 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587375" y="2122488"/>
            <a:ext cx="4800600" cy="1633537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solidFill>
                  <a:srgbClr val="FF0000"/>
                </a:solidFill>
              </a:rPr>
              <a:t>Cache Coherence Problem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4711700"/>
            <a:ext cx="8763000" cy="1600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sz="1800"/>
              <a:t>Processors see different values for </a:t>
            </a:r>
            <a:r>
              <a:rPr lang="en-US" sz="1800">
                <a:solidFill>
                  <a:srgbClr val="0000FF"/>
                </a:solidFill>
              </a:rPr>
              <a:t>u </a:t>
            </a:r>
            <a:r>
              <a:rPr lang="en-US" sz="1800"/>
              <a:t>after event 3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</a:pPr>
            <a:r>
              <a:rPr lang="en-US" sz="1800"/>
              <a:t>With write back caches, value written back to memory depends on order of which cache  writes back value first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</a:pPr>
            <a:r>
              <a:rPr lang="en-US" sz="1800"/>
              <a:t>Unacceptable situation for programmers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1765300" y="3195638"/>
            <a:ext cx="5378450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328453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2438400" y="3505200"/>
            <a:ext cx="1681163" cy="1008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2438400" y="3530600"/>
            <a:ext cx="1681163" cy="1008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799138" y="3608388"/>
            <a:ext cx="7620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I/O devices</a:t>
            </a:r>
            <a:endParaRPr lang="en-US" b="1"/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3011488" y="4302125"/>
            <a:ext cx="5492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Memory</a:t>
            </a:r>
            <a:endParaRPr lang="en-US" b="1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2271713" y="2859088"/>
            <a:ext cx="1587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2271713" y="2020888"/>
            <a:ext cx="1587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6" name="Freeform 12"/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1" y="361"/>
                </a:lnTo>
                <a:lnTo>
                  <a:pt x="336" y="381"/>
                </a:lnTo>
                <a:lnTo>
                  <a:pt x="307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7" y="381"/>
                </a:lnTo>
                <a:lnTo>
                  <a:pt x="62" y="361"/>
                </a:lnTo>
                <a:lnTo>
                  <a:pt x="39" y="336"/>
                </a:lnTo>
                <a:lnTo>
                  <a:pt x="22" y="307"/>
                </a:lnTo>
                <a:lnTo>
                  <a:pt x="11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1" y="144"/>
                </a:lnTo>
                <a:lnTo>
                  <a:pt x="22" y="113"/>
                </a:lnTo>
                <a:lnTo>
                  <a:pt x="39" y="85"/>
                </a:lnTo>
                <a:lnTo>
                  <a:pt x="62" y="62"/>
                </a:lnTo>
                <a:lnTo>
                  <a:pt x="87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07" y="22"/>
                </a:lnTo>
                <a:lnTo>
                  <a:pt x="336" y="39"/>
                </a:lnTo>
                <a:lnTo>
                  <a:pt x="361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0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7" name="Freeform 13"/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1" y="62"/>
                </a:lnTo>
                <a:lnTo>
                  <a:pt x="336" y="39"/>
                </a:lnTo>
                <a:lnTo>
                  <a:pt x="307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7" y="39"/>
                </a:lnTo>
                <a:lnTo>
                  <a:pt x="62" y="62"/>
                </a:lnTo>
                <a:lnTo>
                  <a:pt x="39" y="85"/>
                </a:lnTo>
                <a:lnTo>
                  <a:pt x="22" y="113"/>
                </a:lnTo>
                <a:lnTo>
                  <a:pt x="11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1" y="276"/>
                </a:lnTo>
                <a:lnTo>
                  <a:pt x="22" y="307"/>
                </a:lnTo>
                <a:lnTo>
                  <a:pt x="39" y="336"/>
                </a:lnTo>
                <a:lnTo>
                  <a:pt x="62" y="361"/>
                </a:lnTo>
                <a:lnTo>
                  <a:pt x="87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07" y="398"/>
                </a:lnTo>
                <a:lnTo>
                  <a:pt x="336" y="381"/>
                </a:lnTo>
                <a:lnTo>
                  <a:pt x="361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2178050" y="1597025"/>
            <a:ext cx="1016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2249488" y="16589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1</a:t>
            </a:r>
            <a:endParaRPr lang="en-US" b="1"/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2219325" y="2278063"/>
            <a:ext cx="8413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613568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4454525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>
            <a:off x="4454525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66" name="Freeform 22"/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245"/>
                </a:lnTo>
                <a:lnTo>
                  <a:pt x="412" y="276"/>
                </a:lnTo>
                <a:lnTo>
                  <a:pt x="400" y="307"/>
                </a:lnTo>
                <a:lnTo>
                  <a:pt x="384" y="336"/>
                </a:lnTo>
                <a:lnTo>
                  <a:pt x="361" y="361"/>
                </a:lnTo>
                <a:lnTo>
                  <a:pt x="338" y="381"/>
                </a:lnTo>
                <a:lnTo>
                  <a:pt x="310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7" y="420"/>
                </a:lnTo>
                <a:lnTo>
                  <a:pt x="146" y="412"/>
                </a:lnTo>
                <a:lnTo>
                  <a:pt x="115" y="398"/>
                </a:lnTo>
                <a:lnTo>
                  <a:pt x="87" y="381"/>
                </a:lnTo>
                <a:lnTo>
                  <a:pt x="62" y="361"/>
                </a:lnTo>
                <a:lnTo>
                  <a:pt x="42" y="336"/>
                </a:lnTo>
                <a:lnTo>
                  <a:pt x="25" y="307"/>
                </a:lnTo>
                <a:lnTo>
                  <a:pt x="11" y="276"/>
                </a:lnTo>
                <a:lnTo>
                  <a:pt x="2" y="245"/>
                </a:lnTo>
                <a:lnTo>
                  <a:pt x="0" y="212"/>
                </a:lnTo>
                <a:lnTo>
                  <a:pt x="2" y="178"/>
                </a:lnTo>
                <a:lnTo>
                  <a:pt x="11" y="144"/>
                </a:lnTo>
                <a:lnTo>
                  <a:pt x="25" y="113"/>
                </a:lnTo>
                <a:lnTo>
                  <a:pt x="42" y="85"/>
                </a:lnTo>
                <a:lnTo>
                  <a:pt x="62" y="62"/>
                </a:lnTo>
                <a:lnTo>
                  <a:pt x="87" y="39"/>
                </a:lnTo>
                <a:lnTo>
                  <a:pt x="115" y="22"/>
                </a:lnTo>
                <a:lnTo>
                  <a:pt x="146" y="11"/>
                </a:lnTo>
                <a:lnTo>
                  <a:pt x="177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10" y="22"/>
                </a:lnTo>
                <a:lnTo>
                  <a:pt x="338" y="39"/>
                </a:lnTo>
                <a:lnTo>
                  <a:pt x="361" y="62"/>
                </a:lnTo>
                <a:lnTo>
                  <a:pt x="384" y="85"/>
                </a:lnTo>
                <a:lnTo>
                  <a:pt x="400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3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67" name="Freeform 23"/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178"/>
                </a:lnTo>
                <a:lnTo>
                  <a:pt x="412" y="144"/>
                </a:lnTo>
                <a:lnTo>
                  <a:pt x="400" y="113"/>
                </a:lnTo>
                <a:lnTo>
                  <a:pt x="384" y="85"/>
                </a:lnTo>
                <a:lnTo>
                  <a:pt x="361" y="62"/>
                </a:lnTo>
                <a:lnTo>
                  <a:pt x="338" y="39"/>
                </a:lnTo>
                <a:lnTo>
                  <a:pt x="310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7" y="3"/>
                </a:lnTo>
                <a:lnTo>
                  <a:pt x="146" y="11"/>
                </a:lnTo>
                <a:lnTo>
                  <a:pt x="115" y="22"/>
                </a:lnTo>
                <a:lnTo>
                  <a:pt x="87" y="39"/>
                </a:lnTo>
                <a:lnTo>
                  <a:pt x="62" y="62"/>
                </a:lnTo>
                <a:lnTo>
                  <a:pt x="42" y="85"/>
                </a:lnTo>
                <a:lnTo>
                  <a:pt x="25" y="113"/>
                </a:lnTo>
                <a:lnTo>
                  <a:pt x="11" y="144"/>
                </a:lnTo>
                <a:lnTo>
                  <a:pt x="2" y="178"/>
                </a:lnTo>
                <a:lnTo>
                  <a:pt x="0" y="212"/>
                </a:lnTo>
                <a:lnTo>
                  <a:pt x="2" y="245"/>
                </a:lnTo>
                <a:lnTo>
                  <a:pt x="11" y="276"/>
                </a:lnTo>
                <a:lnTo>
                  <a:pt x="25" y="307"/>
                </a:lnTo>
                <a:lnTo>
                  <a:pt x="42" y="336"/>
                </a:lnTo>
                <a:lnTo>
                  <a:pt x="62" y="361"/>
                </a:lnTo>
                <a:lnTo>
                  <a:pt x="87" y="381"/>
                </a:lnTo>
                <a:lnTo>
                  <a:pt x="115" y="398"/>
                </a:lnTo>
                <a:lnTo>
                  <a:pt x="146" y="412"/>
                </a:lnTo>
                <a:lnTo>
                  <a:pt x="177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10" y="398"/>
                </a:lnTo>
                <a:lnTo>
                  <a:pt x="338" y="381"/>
                </a:lnTo>
                <a:lnTo>
                  <a:pt x="361" y="361"/>
                </a:lnTo>
                <a:lnTo>
                  <a:pt x="384" y="336"/>
                </a:lnTo>
                <a:lnTo>
                  <a:pt x="400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68" name="Rectangle 24"/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69" name="Rectangle 25"/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70" name="Rectangle 26"/>
          <p:cNvSpPr>
            <a:spLocks noChangeArrowheads="1"/>
          </p:cNvSpPr>
          <p:nvPr/>
        </p:nvSpPr>
        <p:spPr bwMode="auto">
          <a:xfrm>
            <a:off x="4432300" y="2278063"/>
            <a:ext cx="8413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6642100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>
            <a:off x="6642100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73" name="Freeform 29"/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2147483647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0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2" y="361"/>
                </a:lnTo>
                <a:lnTo>
                  <a:pt x="336" y="381"/>
                </a:lnTo>
                <a:lnTo>
                  <a:pt x="308" y="398"/>
                </a:lnTo>
                <a:lnTo>
                  <a:pt x="280" y="412"/>
                </a:lnTo>
                <a:lnTo>
                  <a:pt x="246" y="420"/>
                </a:lnTo>
                <a:lnTo>
                  <a:pt x="212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8" y="381"/>
                </a:lnTo>
                <a:lnTo>
                  <a:pt x="62" y="361"/>
                </a:lnTo>
                <a:lnTo>
                  <a:pt x="40" y="336"/>
                </a:lnTo>
                <a:lnTo>
                  <a:pt x="23" y="307"/>
                </a:lnTo>
                <a:lnTo>
                  <a:pt x="12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2" y="144"/>
                </a:lnTo>
                <a:lnTo>
                  <a:pt x="23" y="113"/>
                </a:lnTo>
                <a:lnTo>
                  <a:pt x="40" y="85"/>
                </a:lnTo>
                <a:lnTo>
                  <a:pt x="62" y="62"/>
                </a:lnTo>
                <a:lnTo>
                  <a:pt x="88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2" y="0"/>
                </a:lnTo>
                <a:lnTo>
                  <a:pt x="246" y="3"/>
                </a:lnTo>
                <a:lnTo>
                  <a:pt x="280" y="11"/>
                </a:lnTo>
                <a:lnTo>
                  <a:pt x="308" y="22"/>
                </a:lnTo>
                <a:lnTo>
                  <a:pt x="336" y="39"/>
                </a:lnTo>
                <a:lnTo>
                  <a:pt x="362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1" y="178"/>
                </a:lnTo>
                <a:lnTo>
                  <a:pt x="424" y="212"/>
                </a:lnTo>
                <a:lnTo>
                  <a:pt x="421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74" name="Freeform 30"/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0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2147483647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2" y="62"/>
                </a:lnTo>
                <a:lnTo>
                  <a:pt x="336" y="39"/>
                </a:lnTo>
                <a:lnTo>
                  <a:pt x="308" y="22"/>
                </a:lnTo>
                <a:lnTo>
                  <a:pt x="280" y="11"/>
                </a:lnTo>
                <a:lnTo>
                  <a:pt x="246" y="3"/>
                </a:lnTo>
                <a:lnTo>
                  <a:pt x="212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8" y="39"/>
                </a:lnTo>
                <a:lnTo>
                  <a:pt x="62" y="62"/>
                </a:lnTo>
                <a:lnTo>
                  <a:pt x="40" y="85"/>
                </a:lnTo>
                <a:lnTo>
                  <a:pt x="23" y="113"/>
                </a:lnTo>
                <a:lnTo>
                  <a:pt x="12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2" y="276"/>
                </a:lnTo>
                <a:lnTo>
                  <a:pt x="23" y="307"/>
                </a:lnTo>
                <a:lnTo>
                  <a:pt x="40" y="336"/>
                </a:lnTo>
                <a:lnTo>
                  <a:pt x="62" y="361"/>
                </a:lnTo>
                <a:lnTo>
                  <a:pt x="88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2" y="423"/>
                </a:lnTo>
                <a:lnTo>
                  <a:pt x="246" y="420"/>
                </a:lnTo>
                <a:lnTo>
                  <a:pt x="280" y="412"/>
                </a:lnTo>
                <a:lnTo>
                  <a:pt x="308" y="398"/>
                </a:lnTo>
                <a:lnTo>
                  <a:pt x="336" y="381"/>
                </a:lnTo>
                <a:lnTo>
                  <a:pt x="362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1" y="245"/>
                </a:lnTo>
                <a:lnTo>
                  <a:pt x="424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6172200" y="2209800"/>
            <a:ext cx="1008063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76" name="Rectangle 32"/>
          <p:cNvSpPr>
            <a:spLocks noChangeArrowheads="1"/>
          </p:cNvSpPr>
          <p:nvPr/>
        </p:nvSpPr>
        <p:spPr bwMode="auto">
          <a:xfrm>
            <a:off x="6135688" y="2187575"/>
            <a:ext cx="1008062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77" name="Rectangle 33"/>
          <p:cNvSpPr>
            <a:spLocks noChangeArrowheads="1"/>
          </p:cNvSpPr>
          <p:nvPr/>
        </p:nvSpPr>
        <p:spPr bwMode="auto">
          <a:xfrm>
            <a:off x="6588125" y="2251075"/>
            <a:ext cx="841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4373563" y="1582738"/>
            <a:ext cx="1016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4449763" y="16462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2</a:t>
            </a:r>
            <a:endParaRPr lang="en-US" b="1"/>
          </a:p>
        </p:txBody>
      </p:sp>
      <p:sp>
        <p:nvSpPr>
          <p:cNvPr id="31780" name="Rectangle 36"/>
          <p:cNvSpPr>
            <a:spLocks noChangeArrowheads="1"/>
          </p:cNvSpPr>
          <p:nvPr/>
        </p:nvSpPr>
        <p:spPr bwMode="auto">
          <a:xfrm>
            <a:off x="6534150" y="1597025"/>
            <a:ext cx="1016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31781" name="Rectangle 37"/>
          <p:cNvSpPr>
            <a:spLocks noChangeArrowheads="1"/>
          </p:cNvSpPr>
          <p:nvPr/>
        </p:nvSpPr>
        <p:spPr bwMode="auto">
          <a:xfrm>
            <a:off x="6605588" y="16589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3</a:t>
            </a:r>
            <a:endParaRPr lang="en-US" b="1"/>
          </a:p>
        </p:txBody>
      </p:sp>
      <p:sp>
        <p:nvSpPr>
          <p:cNvPr id="31782" name="Freeform 38"/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6" y="87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1783" name="Freeform 39"/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3" y="8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572000" y="1828800"/>
            <a:ext cx="528638" cy="1244600"/>
            <a:chOff x="2888" y="1155"/>
            <a:chExt cx="333" cy="784"/>
          </a:xfrm>
        </p:grpSpPr>
        <p:sp>
          <p:nvSpPr>
            <p:cNvPr id="31831" name="Freeform 42"/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124 h 211"/>
                <a:gd name="T4" fmla="*/ 206 w 211"/>
                <a:gd name="T5" fmla="*/ 141 h 211"/>
                <a:gd name="T6" fmla="*/ 200 w 211"/>
                <a:gd name="T7" fmla="*/ 155 h 211"/>
                <a:gd name="T8" fmla="*/ 192 w 211"/>
                <a:gd name="T9" fmla="*/ 169 h 211"/>
                <a:gd name="T10" fmla="*/ 180 w 211"/>
                <a:gd name="T11" fmla="*/ 180 h 211"/>
                <a:gd name="T12" fmla="*/ 169 w 211"/>
                <a:gd name="T13" fmla="*/ 192 h 211"/>
                <a:gd name="T14" fmla="*/ 155 w 211"/>
                <a:gd name="T15" fmla="*/ 200 h 211"/>
                <a:gd name="T16" fmla="*/ 141 w 211"/>
                <a:gd name="T17" fmla="*/ 206 h 211"/>
                <a:gd name="T18" fmla="*/ 124 w 211"/>
                <a:gd name="T19" fmla="*/ 211 h 211"/>
                <a:gd name="T20" fmla="*/ 107 w 211"/>
                <a:gd name="T21" fmla="*/ 211 h 211"/>
                <a:gd name="T22" fmla="*/ 90 w 211"/>
                <a:gd name="T23" fmla="*/ 211 h 211"/>
                <a:gd name="T24" fmla="*/ 73 w 211"/>
                <a:gd name="T25" fmla="*/ 206 h 211"/>
                <a:gd name="T26" fmla="*/ 59 w 211"/>
                <a:gd name="T27" fmla="*/ 200 h 211"/>
                <a:gd name="T28" fmla="*/ 45 w 211"/>
                <a:gd name="T29" fmla="*/ 192 h 211"/>
                <a:gd name="T30" fmla="*/ 31 w 211"/>
                <a:gd name="T31" fmla="*/ 180 h 211"/>
                <a:gd name="T32" fmla="*/ 22 w 211"/>
                <a:gd name="T33" fmla="*/ 169 h 211"/>
                <a:gd name="T34" fmla="*/ 14 w 211"/>
                <a:gd name="T35" fmla="*/ 155 h 211"/>
                <a:gd name="T36" fmla="*/ 5 w 211"/>
                <a:gd name="T37" fmla="*/ 141 h 211"/>
                <a:gd name="T38" fmla="*/ 2 w 211"/>
                <a:gd name="T39" fmla="*/ 124 h 211"/>
                <a:gd name="T40" fmla="*/ 0 w 211"/>
                <a:gd name="T41" fmla="*/ 107 h 211"/>
                <a:gd name="T42" fmla="*/ 2 w 211"/>
                <a:gd name="T43" fmla="*/ 90 h 211"/>
                <a:gd name="T44" fmla="*/ 5 w 211"/>
                <a:gd name="T45" fmla="*/ 73 h 211"/>
                <a:gd name="T46" fmla="*/ 14 w 211"/>
                <a:gd name="T47" fmla="*/ 59 h 211"/>
                <a:gd name="T48" fmla="*/ 22 w 211"/>
                <a:gd name="T49" fmla="*/ 45 h 211"/>
                <a:gd name="T50" fmla="*/ 31 w 211"/>
                <a:gd name="T51" fmla="*/ 31 h 211"/>
                <a:gd name="T52" fmla="*/ 45 w 211"/>
                <a:gd name="T53" fmla="*/ 19 h 211"/>
                <a:gd name="T54" fmla="*/ 59 w 211"/>
                <a:gd name="T55" fmla="*/ 11 h 211"/>
                <a:gd name="T56" fmla="*/ 73 w 211"/>
                <a:gd name="T57" fmla="*/ 5 h 211"/>
                <a:gd name="T58" fmla="*/ 90 w 211"/>
                <a:gd name="T59" fmla="*/ 3 h 211"/>
                <a:gd name="T60" fmla="*/ 107 w 211"/>
                <a:gd name="T61" fmla="*/ 0 h 211"/>
                <a:gd name="T62" fmla="*/ 124 w 211"/>
                <a:gd name="T63" fmla="*/ 3 h 211"/>
                <a:gd name="T64" fmla="*/ 141 w 211"/>
                <a:gd name="T65" fmla="*/ 5 h 211"/>
                <a:gd name="T66" fmla="*/ 155 w 211"/>
                <a:gd name="T67" fmla="*/ 11 h 211"/>
                <a:gd name="T68" fmla="*/ 169 w 211"/>
                <a:gd name="T69" fmla="*/ 19 h 211"/>
                <a:gd name="T70" fmla="*/ 180 w 211"/>
                <a:gd name="T71" fmla="*/ 31 h 211"/>
                <a:gd name="T72" fmla="*/ 192 w 211"/>
                <a:gd name="T73" fmla="*/ 45 h 211"/>
                <a:gd name="T74" fmla="*/ 200 w 211"/>
                <a:gd name="T75" fmla="*/ 59 h 211"/>
                <a:gd name="T76" fmla="*/ 206 w 211"/>
                <a:gd name="T77" fmla="*/ 73 h 211"/>
                <a:gd name="T78" fmla="*/ 211 w 211"/>
                <a:gd name="T79" fmla="*/ 90 h 211"/>
                <a:gd name="T80" fmla="*/ 211 w 211"/>
                <a:gd name="T81" fmla="*/ 107 h 211"/>
                <a:gd name="T82" fmla="*/ 211 w 211"/>
                <a:gd name="T83" fmla="*/ 104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124"/>
                  </a:lnTo>
                  <a:lnTo>
                    <a:pt x="206" y="141"/>
                  </a:lnTo>
                  <a:lnTo>
                    <a:pt x="200" y="155"/>
                  </a:lnTo>
                  <a:lnTo>
                    <a:pt x="192" y="169"/>
                  </a:lnTo>
                  <a:lnTo>
                    <a:pt x="180" y="180"/>
                  </a:lnTo>
                  <a:lnTo>
                    <a:pt x="169" y="192"/>
                  </a:lnTo>
                  <a:lnTo>
                    <a:pt x="155" y="200"/>
                  </a:lnTo>
                  <a:lnTo>
                    <a:pt x="141" y="206"/>
                  </a:lnTo>
                  <a:lnTo>
                    <a:pt x="124" y="211"/>
                  </a:lnTo>
                  <a:lnTo>
                    <a:pt x="107" y="211"/>
                  </a:lnTo>
                  <a:lnTo>
                    <a:pt x="90" y="211"/>
                  </a:lnTo>
                  <a:lnTo>
                    <a:pt x="73" y="206"/>
                  </a:lnTo>
                  <a:lnTo>
                    <a:pt x="59" y="200"/>
                  </a:lnTo>
                  <a:lnTo>
                    <a:pt x="45" y="192"/>
                  </a:lnTo>
                  <a:lnTo>
                    <a:pt x="31" y="180"/>
                  </a:lnTo>
                  <a:lnTo>
                    <a:pt x="22" y="169"/>
                  </a:lnTo>
                  <a:lnTo>
                    <a:pt x="14" y="155"/>
                  </a:lnTo>
                  <a:lnTo>
                    <a:pt x="5" y="141"/>
                  </a:lnTo>
                  <a:lnTo>
                    <a:pt x="2" y="124"/>
                  </a:lnTo>
                  <a:lnTo>
                    <a:pt x="0" y="107"/>
                  </a:lnTo>
                  <a:lnTo>
                    <a:pt x="2" y="90"/>
                  </a:lnTo>
                  <a:lnTo>
                    <a:pt x="5" y="73"/>
                  </a:lnTo>
                  <a:lnTo>
                    <a:pt x="14" y="59"/>
                  </a:lnTo>
                  <a:lnTo>
                    <a:pt x="22" y="45"/>
                  </a:lnTo>
                  <a:lnTo>
                    <a:pt x="31" y="31"/>
                  </a:lnTo>
                  <a:lnTo>
                    <a:pt x="45" y="19"/>
                  </a:lnTo>
                  <a:lnTo>
                    <a:pt x="59" y="11"/>
                  </a:lnTo>
                  <a:lnTo>
                    <a:pt x="73" y="5"/>
                  </a:lnTo>
                  <a:lnTo>
                    <a:pt x="90" y="3"/>
                  </a:lnTo>
                  <a:lnTo>
                    <a:pt x="107" y="0"/>
                  </a:lnTo>
                  <a:lnTo>
                    <a:pt x="124" y="3"/>
                  </a:lnTo>
                  <a:lnTo>
                    <a:pt x="141" y="5"/>
                  </a:lnTo>
                  <a:lnTo>
                    <a:pt x="155" y="11"/>
                  </a:lnTo>
                  <a:lnTo>
                    <a:pt x="169" y="19"/>
                  </a:lnTo>
                  <a:lnTo>
                    <a:pt x="180" y="31"/>
                  </a:lnTo>
                  <a:lnTo>
                    <a:pt x="192" y="45"/>
                  </a:lnTo>
                  <a:lnTo>
                    <a:pt x="200" y="59"/>
                  </a:lnTo>
                  <a:lnTo>
                    <a:pt x="206" y="73"/>
                  </a:lnTo>
                  <a:lnTo>
                    <a:pt x="211" y="90"/>
                  </a:lnTo>
                  <a:lnTo>
                    <a:pt x="211" y="107"/>
                  </a:lnTo>
                  <a:lnTo>
                    <a:pt x="211" y="104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32" name="Freeform 43"/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90 h 211"/>
                <a:gd name="T4" fmla="*/ 206 w 211"/>
                <a:gd name="T5" fmla="*/ 73 h 211"/>
                <a:gd name="T6" fmla="*/ 200 w 211"/>
                <a:gd name="T7" fmla="*/ 59 h 211"/>
                <a:gd name="T8" fmla="*/ 192 w 211"/>
                <a:gd name="T9" fmla="*/ 45 h 211"/>
                <a:gd name="T10" fmla="*/ 180 w 211"/>
                <a:gd name="T11" fmla="*/ 31 h 211"/>
                <a:gd name="T12" fmla="*/ 169 w 211"/>
                <a:gd name="T13" fmla="*/ 19 h 211"/>
                <a:gd name="T14" fmla="*/ 155 w 211"/>
                <a:gd name="T15" fmla="*/ 11 h 211"/>
                <a:gd name="T16" fmla="*/ 141 w 211"/>
                <a:gd name="T17" fmla="*/ 5 h 211"/>
                <a:gd name="T18" fmla="*/ 124 w 211"/>
                <a:gd name="T19" fmla="*/ 3 h 211"/>
                <a:gd name="T20" fmla="*/ 107 w 211"/>
                <a:gd name="T21" fmla="*/ 0 h 211"/>
                <a:gd name="T22" fmla="*/ 90 w 211"/>
                <a:gd name="T23" fmla="*/ 3 h 211"/>
                <a:gd name="T24" fmla="*/ 73 w 211"/>
                <a:gd name="T25" fmla="*/ 5 h 211"/>
                <a:gd name="T26" fmla="*/ 59 w 211"/>
                <a:gd name="T27" fmla="*/ 11 h 211"/>
                <a:gd name="T28" fmla="*/ 45 w 211"/>
                <a:gd name="T29" fmla="*/ 19 h 211"/>
                <a:gd name="T30" fmla="*/ 31 w 211"/>
                <a:gd name="T31" fmla="*/ 31 h 211"/>
                <a:gd name="T32" fmla="*/ 22 w 211"/>
                <a:gd name="T33" fmla="*/ 45 h 211"/>
                <a:gd name="T34" fmla="*/ 14 w 211"/>
                <a:gd name="T35" fmla="*/ 59 h 211"/>
                <a:gd name="T36" fmla="*/ 5 w 211"/>
                <a:gd name="T37" fmla="*/ 73 h 211"/>
                <a:gd name="T38" fmla="*/ 2 w 211"/>
                <a:gd name="T39" fmla="*/ 90 h 211"/>
                <a:gd name="T40" fmla="*/ 0 w 211"/>
                <a:gd name="T41" fmla="*/ 107 h 211"/>
                <a:gd name="T42" fmla="*/ 2 w 211"/>
                <a:gd name="T43" fmla="*/ 124 h 211"/>
                <a:gd name="T44" fmla="*/ 5 w 211"/>
                <a:gd name="T45" fmla="*/ 141 h 211"/>
                <a:gd name="T46" fmla="*/ 14 w 211"/>
                <a:gd name="T47" fmla="*/ 155 h 211"/>
                <a:gd name="T48" fmla="*/ 22 w 211"/>
                <a:gd name="T49" fmla="*/ 169 h 211"/>
                <a:gd name="T50" fmla="*/ 31 w 211"/>
                <a:gd name="T51" fmla="*/ 180 h 211"/>
                <a:gd name="T52" fmla="*/ 45 w 211"/>
                <a:gd name="T53" fmla="*/ 192 h 211"/>
                <a:gd name="T54" fmla="*/ 59 w 211"/>
                <a:gd name="T55" fmla="*/ 200 h 211"/>
                <a:gd name="T56" fmla="*/ 73 w 211"/>
                <a:gd name="T57" fmla="*/ 206 h 211"/>
                <a:gd name="T58" fmla="*/ 90 w 211"/>
                <a:gd name="T59" fmla="*/ 211 h 211"/>
                <a:gd name="T60" fmla="*/ 107 w 211"/>
                <a:gd name="T61" fmla="*/ 211 h 211"/>
                <a:gd name="T62" fmla="*/ 124 w 211"/>
                <a:gd name="T63" fmla="*/ 211 h 211"/>
                <a:gd name="T64" fmla="*/ 141 w 211"/>
                <a:gd name="T65" fmla="*/ 206 h 211"/>
                <a:gd name="T66" fmla="*/ 155 w 211"/>
                <a:gd name="T67" fmla="*/ 200 h 211"/>
                <a:gd name="T68" fmla="*/ 169 w 211"/>
                <a:gd name="T69" fmla="*/ 192 h 211"/>
                <a:gd name="T70" fmla="*/ 180 w 211"/>
                <a:gd name="T71" fmla="*/ 180 h 211"/>
                <a:gd name="T72" fmla="*/ 192 w 211"/>
                <a:gd name="T73" fmla="*/ 169 h 211"/>
                <a:gd name="T74" fmla="*/ 200 w 211"/>
                <a:gd name="T75" fmla="*/ 155 h 211"/>
                <a:gd name="T76" fmla="*/ 206 w 211"/>
                <a:gd name="T77" fmla="*/ 141 h 211"/>
                <a:gd name="T78" fmla="*/ 211 w 211"/>
                <a:gd name="T79" fmla="*/ 124 h 211"/>
                <a:gd name="T80" fmla="*/ 211 w 211"/>
                <a:gd name="T81" fmla="*/ 107 h 211"/>
                <a:gd name="T82" fmla="*/ 211 w 211"/>
                <a:gd name="T83" fmla="*/ 107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90"/>
                  </a:lnTo>
                  <a:lnTo>
                    <a:pt x="206" y="73"/>
                  </a:lnTo>
                  <a:lnTo>
                    <a:pt x="200" y="59"/>
                  </a:lnTo>
                  <a:lnTo>
                    <a:pt x="192" y="45"/>
                  </a:lnTo>
                  <a:lnTo>
                    <a:pt x="180" y="31"/>
                  </a:lnTo>
                  <a:lnTo>
                    <a:pt x="169" y="19"/>
                  </a:lnTo>
                  <a:lnTo>
                    <a:pt x="155" y="11"/>
                  </a:lnTo>
                  <a:lnTo>
                    <a:pt x="141" y="5"/>
                  </a:lnTo>
                  <a:lnTo>
                    <a:pt x="124" y="3"/>
                  </a:lnTo>
                  <a:lnTo>
                    <a:pt x="107" y="0"/>
                  </a:lnTo>
                  <a:lnTo>
                    <a:pt x="90" y="3"/>
                  </a:lnTo>
                  <a:lnTo>
                    <a:pt x="73" y="5"/>
                  </a:lnTo>
                  <a:lnTo>
                    <a:pt x="59" y="11"/>
                  </a:lnTo>
                  <a:lnTo>
                    <a:pt x="45" y="19"/>
                  </a:lnTo>
                  <a:lnTo>
                    <a:pt x="31" y="31"/>
                  </a:lnTo>
                  <a:lnTo>
                    <a:pt x="22" y="45"/>
                  </a:lnTo>
                  <a:lnTo>
                    <a:pt x="14" y="59"/>
                  </a:lnTo>
                  <a:lnTo>
                    <a:pt x="5" y="73"/>
                  </a:lnTo>
                  <a:lnTo>
                    <a:pt x="2" y="90"/>
                  </a:lnTo>
                  <a:lnTo>
                    <a:pt x="0" y="107"/>
                  </a:lnTo>
                  <a:lnTo>
                    <a:pt x="2" y="124"/>
                  </a:lnTo>
                  <a:lnTo>
                    <a:pt x="5" y="141"/>
                  </a:lnTo>
                  <a:lnTo>
                    <a:pt x="14" y="155"/>
                  </a:lnTo>
                  <a:lnTo>
                    <a:pt x="22" y="169"/>
                  </a:lnTo>
                  <a:lnTo>
                    <a:pt x="31" y="180"/>
                  </a:lnTo>
                  <a:lnTo>
                    <a:pt x="45" y="192"/>
                  </a:lnTo>
                  <a:lnTo>
                    <a:pt x="59" y="200"/>
                  </a:lnTo>
                  <a:lnTo>
                    <a:pt x="73" y="206"/>
                  </a:lnTo>
                  <a:lnTo>
                    <a:pt x="90" y="211"/>
                  </a:lnTo>
                  <a:lnTo>
                    <a:pt x="107" y="211"/>
                  </a:lnTo>
                  <a:lnTo>
                    <a:pt x="124" y="211"/>
                  </a:lnTo>
                  <a:lnTo>
                    <a:pt x="141" y="206"/>
                  </a:lnTo>
                  <a:lnTo>
                    <a:pt x="155" y="200"/>
                  </a:lnTo>
                  <a:lnTo>
                    <a:pt x="169" y="192"/>
                  </a:lnTo>
                  <a:lnTo>
                    <a:pt x="180" y="180"/>
                  </a:lnTo>
                  <a:lnTo>
                    <a:pt x="192" y="169"/>
                  </a:lnTo>
                  <a:lnTo>
                    <a:pt x="200" y="155"/>
                  </a:lnTo>
                  <a:lnTo>
                    <a:pt x="206" y="141"/>
                  </a:lnTo>
                  <a:lnTo>
                    <a:pt x="211" y="124"/>
                  </a:lnTo>
                  <a:lnTo>
                    <a:pt x="211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33" name="Rectangle 44"/>
            <p:cNvSpPr>
              <a:spLocks noChangeArrowheads="1"/>
            </p:cNvSpPr>
            <p:nvPr/>
          </p:nvSpPr>
          <p:spPr bwMode="auto">
            <a:xfrm>
              <a:off x="3066" y="1420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5</a:t>
              </a:r>
              <a:endParaRPr lang="en-US" b="1"/>
            </a:p>
          </p:txBody>
        </p:sp>
        <p:sp>
          <p:nvSpPr>
            <p:cNvPr id="31834" name="Freeform 45"/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8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8" y="82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35" name="Freeform 46"/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6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6" y="82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36" name="Freeform 47"/>
            <p:cNvSpPr>
              <a:spLocks/>
            </p:cNvSpPr>
            <p:nvPr/>
          </p:nvSpPr>
          <p:spPr bwMode="auto">
            <a:xfrm>
              <a:off x="2916" y="1239"/>
              <a:ext cx="48" cy="700"/>
            </a:xfrm>
            <a:custGeom>
              <a:avLst/>
              <a:gdLst>
                <a:gd name="T0" fmla="*/ 34 w 48"/>
                <a:gd name="T1" fmla="*/ 700 h 700"/>
                <a:gd name="T2" fmla="*/ 40 w 48"/>
                <a:gd name="T3" fmla="*/ 633 h 700"/>
                <a:gd name="T4" fmla="*/ 43 w 48"/>
                <a:gd name="T5" fmla="*/ 562 h 700"/>
                <a:gd name="T6" fmla="*/ 46 w 48"/>
                <a:gd name="T7" fmla="*/ 491 h 700"/>
                <a:gd name="T8" fmla="*/ 48 w 48"/>
                <a:gd name="T9" fmla="*/ 421 h 700"/>
                <a:gd name="T10" fmla="*/ 48 w 48"/>
                <a:gd name="T11" fmla="*/ 348 h 700"/>
                <a:gd name="T12" fmla="*/ 46 w 48"/>
                <a:gd name="T13" fmla="*/ 277 h 700"/>
                <a:gd name="T14" fmla="*/ 40 w 48"/>
                <a:gd name="T15" fmla="*/ 206 h 700"/>
                <a:gd name="T16" fmla="*/ 31 w 48"/>
                <a:gd name="T17" fmla="*/ 136 h 700"/>
                <a:gd name="T18" fmla="*/ 17 w 48"/>
                <a:gd name="T19" fmla="*/ 68 h 700"/>
                <a:gd name="T20" fmla="*/ 0 w 48"/>
                <a:gd name="T21" fmla="*/ 0 h 7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8"/>
                <a:gd name="T34" fmla="*/ 0 h 700"/>
                <a:gd name="T35" fmla="*/ 48 w 48"/>
                <a:gd name="T36" fmla="*/ 700 h 7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8" h="700">
                  <a:moveTo>
                    <a:pt x="34" y="700"/>
                  </a:moveTo>
                  <a:lnTo>
                    <a:pt x="40" y="633"/>
                  </a:lnTo>
                  <a:lnTo>
                    <a:pt x="43" y="562"/>
                  </a:lnTo>
                  <a:lnTo>
                    <a:pt x="46" y="491"/>
                  </a:lnTo>
                  <a:lnTo>
                    <a:pt x="48" y="421"/>
                  </a:lnTo>
                  <a:lnTo>
                    <a:pt x="48" y="348"/>
                  </a:lnTo>
                  <a:lnTo>
                    <a:pt x="46" y="277"/>
                  </a:lnTo>
                  <a:lnTo>
                    <a:pt x="40" y="206"/>
                  </a:lnTo>
                  <a:lnTo>
                    <a:pt x="31" y="136"/>
                  </a:lnTo>
                  <a:lnTo>
                    <a:pt x="17" y="68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37" name="Rectangle 48"/>
            <p:cNvSpPr>
              <a:spLocks noChangeArrowheads="1"/>
            </p:cNvSpPr>
            <p:nvPr/>
          </p:nvSpPr>
          <p:spPr bwMode="auto">
            <a:xfrm>
              <a:off x="3007" y="1226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u</a:t>
              </a:r>
              <a:endParaRPr lang="en-US" b="1"/>
            </a:p>
          </p:txBody>
        </p:sp>
        <p:sp>
          <p:nvSpPr>
            <p:cNvPr id="31838" name="Rectangle 49"/>
            <p:cNvSpPr>
              <a:spLocks noChangeArrowheads="1"/>
            </p:cNvSpPr>
            <p:nvPr/>
          </p:nvSpPr>
          <p:spPr bwMode="auto">
            <a:xfrm>
              <a:off x="3058" y="1226"/>
              <a:ext cx="16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 = ?</a:t>
              </a:r>
              <a:endParaRPr lang="en-US" b="1"/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286000" y="1752600"/>
            <a:ext cx="585788" cy="717550"/>
            <a:chOff x="1496" y="1160"/>
            <a:chExt cx="369" cy="452"/>
          </a:xfrm>
        </p:grpSpPr>
        <p:sp>
          <p:nvSpPr>
            <p:cNvPr id="31823" name="Freeform 51"/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24" name="Freeform 52"/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25" name="Freeform 53"/>
            <p:cNvSpPr>
              <a:spLocks/>
            </p:cNvSpPr>
            <p:nvPr/>
          </p:nvSpPr>
          <p:spPr bwMode="auto">
            <a:xfrm>
              <a:off x="1550" y="1234"/>
              <a:ext cx="40" cy="378"/>
            </a:xfrm>
            <a:custGeom>
              <a:avLst/>
              <a:gdLst>
                <a:gd name="T0" fmla="*/ 14 w 40"/>
                <a:gd name="T1" fmla="*/ 378 h 378"/>
                <a:gd name="T2" fmla="*/ 20 w 40"/>
                <a:gd name="T3" fmla="*/ 344 h 378"/>
                <a:gd name="T4" fmla="*/ 25 w 40"/>
                <a:gd name="T5" fmla="*/ 305 h 378"/>
                <a:gd name="T6" fmla="*/ 28 w 40"/>
                <a:gd name="T7" fmla="*/ 265 h 378"/>
                <a:gd name="T8" fmla="*/ 34 w 40"/>
                <a:gd name="T9" fmla="*/ 226 h 378"/>
                <a:gd name="T10" fmla="*/ 37 w 40"/>
                <a:gd name="T11" fmla="*/ 183 h 378"/>
                <a:gd name="T12" fmla="*/ 40 w 40"/>
                <a:gd name="T13" fmla="*/ 144 h 378"/>
                <a:gd name="T14" fmla="*/ 37 w 40"/>
                <a:gd name="T15" fmla="*/ 104 h 378"/>
                <a:gd name="T16" fmla="*/ 28 w 40"/>
                <a:gd name="T17" fmla="*/ 67 h 378"/>
                <a:gd name="T18" fmla="*/ 17 w 40"/>
                <a:gd name="T19" fmla="*/ 34 h 378"/>
                <a:gd name="T20" fmla="*/ 0 w 40"/>
                <a:gd name="T21" fmla="*/ 0 h 3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378"/>
                <a:gd name="T35" fmla="*/ 40 w 40"/>
                <a:gd name="T36" fmla="*/ 378 h 3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378">
                  <a:moveTo>
                    <a:pt x="14" y="378"/>
                  </a:moveTo>
                  <a:lnTo>
                    <a:pt x="20" y="344"/>
                  </a:lnTo>
                  <a:lnTo>
                    <a:pt x="25" y="305"/>
                  </a:lnTo>
                  <a:lnTo>
                    <a:pt x="28" y="265"/>
                  </a:lnTo>
                  <a:lnTo>
                    <a:pt x="34" y="226"/>
                  </a:lnTo>
                  <a:lnTo>
                    <a:pt x="37" y="183"/>
                  </a:lnTo>
                  <a:lnTo>
                    <a:pt x="40" y="144"/>
                  </a:lnTo>
                  <a:lnTo>
                    <a:pt x="37" y="104"/>
                  </a:lnTo>
                  <a:lnTo>
                    <a:pt x="28" y="67"/>
                  </a:lnTo>
                  <a:lnTo>
                    <a:pt x="17" y="34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26" name="Freeform 54"/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124 h 212"/>
                <a:gd name="T4" fmla="*/ 206 w 212"/>
                <a:gd name="T5" fmla="*/ 141 h 212"/>
                <a:gd name="T6" fmla="*/ 201 w 212"/>
                <a:gd name="T7" fmla="*/ 155 h 212"/>
                <a:gd name="T8" fmla="*/ 192 w 212"/>
                <a:gd name="T9" fmla="*/ 170 h 212"/>
                <a:gd name="T10" fmla="*/ 181 w 212"/>
                <a:gd name="T11" fmla="*/ 181 h 212"/>
                <a:gd name="T12" fmla="*/ 167 w 212"/>
                <a:gd name="T13" fmla="*/ 192 h 212"/>
                <a:gd name="T14" fmla="*/ 156 w 212"/>
                <a:gd name="T15" fmla="*/ 201 h 212"/>
                <a:gd name="T16" fmla="*/ 139 w 212"/>
                <a:gd name="T17" fmla="*/ 206 h 212"/>
                <a:gd name="T18" fmla="*/ 122 w 212"/>
                <a:gd name="T19" fmla="*/ 212 h 212"/>
                <a:gd name="T20" fmla="*/ 105 w 212"/>
                <a:gd name="T21" fmla="*/ 212 h 212"/>
                <a:gd name="T22" fmla="*/ 88 w 212"/>
                <a:gd name="T23" fmla="*/ 212 h 212"/>
                <a:gd name="T24" fmla="*/ 71 w 212"/>
                <a:gd name="T25" fmla="*/ 206 h 212"/>
                <a:gd name="T26" fmla="*/ 57 w 212"/>
                <a:gd name="T27" fmla="*/ 201 h 212"/>
                <a:gd name="T28" fmla="*/ 43 w 212"/>
                <a:gd name="T29" fmla="*/ 192 h 212"/>
                <a:gd name="T30" fmla="*/ 31 w 212"/>
                <a:gd name="T31" fmla="*/ 181 h 212"/>
                <a:gd name="T32" fmla="*/ 20 w 212"/>
                <a:gd name="T33" fmla="*/ 170 h 212"/>
                <a:gd name="T34" fmla="*/ 12 w 212"/>
                <a:gd name="T35" fmla="*/ 155 h 212"/>
                <a:gd name="T36" fmla="*/ 6 w 212"/>
                <a:gd name="T37" fmla="*/ 141 h 212"/>
                <a:gd name="T38" fmla="*/ 0 w 212"/>
                <a:gd name="T39" fmla="*/ 124 h 212"/>
                <a:gd name="T40" fmla="*/ 0 w 212"/>
                <a:gd name="T41" fmla="*/ 107 h 212"/>
                <a:gd name="T42" fmla="*/ 0 w 212"/>
                <a:gd name="T43" fmla="*/ 91 h 212"/>
                <a:gd name="T44" fmla="*/ 6 w 212"/>
                <a:gd name="T45" fmla="*/ 74 h 212"/>
                <a:gd name="T46" fmla="*/ 12 w 212"/>
                <a:gd name="T47" fmla="*/ 59 h 212"/>
                <a:gd name="T48" fmla="*/ 20 w 212"/>
                <a:gd name="T49" fmla="*/ 45 h 212"/>
                <a:gd name="T50" fmla="*/ 31 w 212"/>
                <a:gd name="T51" fmla="*/ 31 h 212"/>
                <a:gd name="T52" fmla="*/ 43 w 212"/>
                <a:gd name="T53" fmla="*/ 20 h 212"/>
                <a:gd name="T54" fmla="*/ 57 w 212"/>
                <a:gd name="T55" fmla="*/ 11 h 212"/>
                <a:gd name="T56" fmla="*/ 71 w 212"/>
                <a:gd name="T57" fmla="*/ 6 h 212"/>
                <a:gd name="T58" fmla="*/ 88 w 212"/>
                <a:gd name="T59" fmla="*/ 3 h 212"/>
                <a:gd name="T60" fmla="*/ 105 w 212"/>
                <a:gd name="T61" fmla="*/ 0 h 212"/>
                <a:gd name="T62" fmla="*/ 122 w 212"/>
                <a:gd name="T63" fmla="*/ 3 h 212"/>
                <a:gd name="T64" fmla="*/ 139 w 212"/>
                <a:gd name="T65" fmla="*/ 6 h 212"/>
                <a:gd name="T66" fmla="*/ 156 w 212"/>
                <a:gd name="T67" fmla="*/ 11 h 212"/>
                <a:gd name="T68" fmla="*/ 167 w 212"/>
                <a:gd name="T69" fmla="*/ 20 h 212"/>
                <a:gd name="T70" fmla="*/ 181 w 212"/>
                <a:gd name="T71" fmla="*/ 31 h 212"/>
                <a:gd name="T72" fmla="*/ 192 w 212"/>
                <a:gd name="T73" fmla="*/ 45 h 212"/>
                <a:gd name="T74" fmla="*/ 201 w 212"/>
                <a:gd name="T75" fmla="*/ 59 h 212"/>
                <a:gd name="T76" fmla="*/ 206 w 212"/>
                <a:gd name="T77" fmla="*/ 74 h 212"/>
                <a:gd name="T78" fmla="*/ 209 w 212"/>
                <a:gd name="T79" fmla="*/ 91 h 212"/>
                <a:gd name="T80" fmla="*/ 212 w 212"/>
                <a:gd name="T81" fmla="*/ 107 h 212"/>
                <a:gd name="T82" fmla="*/ 209 w 212"/>
                <a:gd name="T83" fmla="*/ 105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124"/>
                  </a:lnTo>
                  <a:lnTo>
                    <a:pt x="206" y="141"/>
                  </a:lnTo>
                  <a:lnTo>
                    <a:pt x="201" y="155"/>
                  </a:lnTo>
                  <a:lnTo>
                    <a:pt x="192" y="170"/>
                  </a:lnTo>
                  <a:lnTo>
                    <a:pt x="181" y="181"/>
                  </a:lnTo>
                  <a:lnTo>
                    <a:pt x="167" y="192"/>
                  </a:lnTo>
                  <a:lnTo>
                    <a:pt x="156" y="201"/>
                  </a:lnTo>
                  <a:lnTo>
                    <a:pt x="139" y="206"/>
                  </a:lnTo>
                  <a:lnTo>
                    <a:pt x="122" y="212"/>
                  </a:lnTo>
                  <a:lnTo>
                    <a:pt x="105" y="212"/>
                  </a:lnTo>
                  <a:lnTo>
                    <a:pt x="88" y="212"/>
                  </a:lnTo>
                  <a:lnTo>
                    <a:pt x="71" y="206"/>
                  </a:lnTo>
                  <a:lnTo>
                    <a:pt x="57" y="201"/>
                  </a:lnTo>
                  <a:lnTo>
                    <a:pt x="43" y="192"/>
                  </a:lnTo>
                  <a:lnTo>
                    <a:pt x="31" y="181"/>
                  </a:lnTo>
                  <a:lnTo>
                    <a:pt x="20" y="170"/>
                  </a:lnTo>
                  <a:lnTo>
                    <a:pt x="12" y="155"/>
                  </a:lnTo>
                  <a:lnTo>
                    <a:pt x="6" y="141"/>
                  </a:lnTo>
                  <a:lnTo>
                    <a:pt x="0" y="124"/>
                  </a:lnTo>
                  <a:lnTo>
                    <a:pt x="0" y="107"/>
                  </a:lnTo>
                  <a:lnTo>
                    <a:pt x="0" y="91"/>
                  </a:lnTo>
                  <a:lnTo>
                    <a:pt x="6" y="74"/>
                  </a:lnTo>
                  <a:lnTo>
                    <a:pt x="12" y="59"/>
                  </a:lnTo>
                  <a:lnTo>
                    <a:pt x="20" y="45"/>
                  </a:lnTo>
                  <a:lnTo>
                    <a:pt x="31" y="31"/>
                  </a:lnTo>
                  <a:lnTo>
                    <a:pt x="43" y="20"/>
                  </a:lnTo>
                  <a:lnTo>
                    <a:pt x="57" y="11"/>
                  </a:lnTo>
                  <a:lnTo>
                    <a:pt x="71" y="6"/>
                  </a:lnTo>
                  <a:lnTo>
                    <a:pt x="88" y="3"/>
                  </a:lnTo>
                  <a:lnTo>
                    <a:pt x="105" y="0"/>
                  </a:lnTo>
                  <a:lnTo>
                    <a:pt x="122" y="3"/>
                  </a:lnTo>
                  <a:lnTo>
                    <a:pt x="139" y="6"/>
                  </a:lnTo>
                  <a:lnTo>
                    <a:pt x="156" y="11"/>
                  </a:lnTo>
                  <a:lnTo>
                    <a:pt x="167" y="20"/>
                  </a:lnTo>
                  <a:lnTo>
                    <a:pt x="181" y="31"/>
                  </a:lnTo>
                  <a:lnTo>
                    <a:pt x="192" y="45"/>
                  </a:lnTo>
                  <a:lnTo>
                    <a:pt x="201" y="59"/>
                  </a:lnTo>
                  <a:lnTo>
                    <a:pt x="206" y="74"/>
                  </a:lnTo>
                  <a:lnTo>
                    <a:pt x="209" y="91"/>
                  </a:lnTo>
                  <a:lnTo>
                    <a:pt x="212" y="107"/>
                  </a:lnTo>
                  <a:lnTo>
                    <a:pt x="209" y="105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27" name="Freeform 55"/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91 h 212"/>
                <a:gd name="T4" fmla="*/ 206 w 212"/>
                <a:gd name="T5" fmla="*/ 74 h 212"/>
                <a:gd name="T6" fmla="*/ 201 w 212"/>
                <a:gd name="T7" fmla="*/ 59 h 212"/>
                <a:gd name="T8" fmla="*/ 192 w 212"/>
                <a:gd name="T9" fmla="*/ 45 h 212"/>
                <a:gd name="T10" fmla="*/ 181 w 212"/>
                <a:gd name="T11" fmla="*/ 31 h 212"/>
                <a:gd name="T12" fmla="*/ 167 w 212"/>
                <a:gd name="T13" fmla="*/ 20 h 212"/>
                <a:gd name="T14" fmla="*/ 156 w 212"/>
                <a:gd name="T15" fmla="*/ 11 h 212"/>
                <a:gd name="T16" fmla="*/ 139 w 212"/>
                <a:gd name="T17" fmla="*/ 6 h 212"/>
                <a:gd name="T18" fmla="*/ 122 w 212"/>
                <a:gd name="T19" fmla="*/ 3 h 212"/>
                <a:gd name="T20" fmla="*/ 105 w 212"/>
                <a:gd name="T21" fmla="*/ 0 h 212"/>
                <a:gd name="T22" fmla="*/ 88 w 212"/>
                <a:gd name="T23" fmla="*/ 3 h 212"/>
                <a:gd name="T24" fmla="*/ 71 w 212"/>
                <a:gd name="T25" fmla="*/ 6 h 212"/>
                <a:gd name="T26" fmla="*/ 57 w 212"/>
                <a:gd name="T27" fmla="*/ 11 h 212"/>
                <a:gd name="T28" fmla="*/ 43 w 212"/>
                <a:gd name="T29" fmla="*/ 20 h 212"/>
                <a:gd name="T30" fmla="*/ 31 w 212"/>
                <a:gd name="T31" fmla="*/ 31 h 212"/>
                <a:gd name="T32" fmla="*/ 20 w 212"/>
                <a:gd name="T33" fmla="*/ 45 h 212"/>
                <a:gd name="T34" fmla="*/ 12 w 212"/>
                <a:gd name="T35" fmla="*/ 59 h 212"/>
                <a:gd name="T36" fmla="*/ 6 w 212"/>
                <a:gd name="T37" fmla="*/ 74 h 212"/>
                <a:gd name="T38" fmla="*/ 0 w 212"/>
                <a:gd name="T39" fmla="*/ 91 h 212"/>
                <a:gd name="T40" fmla="*/ 0 w 212"/>
                <a:gd name="T41" fmla="*/ 107 h 212"/>
                <a:gd name="T42" fmla="*/ 0 w 212"/>
                <a:gd name="T43" fmla="*/ 124 h 212"/>
                <a:gd name="T44" fmla="*/ 6 w 212"/>
                <a:gd name="T45" fmla="*/ 141 h 212"/>
                <a:gd name="T46" fmla="*/ 12 w 212"/>
                <a:gd name="T47" fmla="*/ 155 h 212"/>
                <a:gd name="T48" fmla="*/ 20 w 212"/>
                <a:gd name="T49" fmla="*/ 170 h 212"/>
                <a:gd name="T50" fmla="*/ 31 w 212"/>
                <a:gd name="T51" fmla="*/ 181 h 212"/>
                <a:gd name="T52" fmla="*/ 43 w 212"/>
                <a:gd name="T53" fmla="*/ 192 h 212"/>
                <a:gd name="T54" fmla="*/ 57 w 212"/>
                <a:gd name="T55" fmla="*/ 201 h 212"/>
                <a:gd name="T56" fmla="*/ 71 w 212"/>
                <a:gd name="T57" fmla="*/ 206 h 212"/>
                <a:gd name="T58" fmla="*/ 88 w 212"/>
                <a:gd name="T59" fmla="*/ 212 h 212"/>
                <a:gd name="T60" fmla="*/ 105 w 212"/>
                <a:gd name="T61" fmla="*/ 212 h 212"/>
                <a:gd name="T62" fmla="*/ 122 w 212"/>
                <a:gd name="T63" fmla="*/ 212 h 212"/>
                <a:gd name="T64" fmla="*/ 139 w 212"/>
                <a:gd name="T65" fmla="*/ 206 h 212"/>
                <a:gd name="T66" fmla="*/ 156 w 212"/>
                <a:gd name="T67" fmla="*/ 201 h 212"/>
                <a:gd name="T68" fmla="*/ 167 w 212"/>
                <a:gd name="T69" fmla="*/ 192 h 212"/>
                <a:gd name="T70" fmla="*/ 181 w 212"/>
                <a:gd name="T71" fmla="*/ 181 h 212"/>
                <a:gd name="T72" fmla="*/ 192 w 212"/>
                <a:gd name="T73" fmla="*/ 170 h 212"/>
                <a:gd name="T74" fmla="*/ 201 w 212"/>
                <a:gd name="T75" fmla="*/ 155 h 212"/>
                <a:gd name="T76" fmla="*/ 206 w 212"/>
                <a:gd name="T77" fmla="*/ 141 h 212"/>
                <a:gd name="T78" fmla="*/ 209 w 212"/>
                <a:gd name="T79" fmla="*/ 124 h 212"/>
                <a:gd name="T80" fmla="*/ 212 w 212"/>
                <a:gd name="T81" fmla="*/ 107 h 212"/>
                <a:gd name="T82" fmla="*/ 212 w 212"/>
                <a:gd name="T83" fmla="*/ 107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91"/>
                  </a:lnTo>
                  <a:lnTo>
                    <a:pt x="206" y="74"/>
                  </a:lnTo>
                  <a:lnTo>
                    <a:pt x="201" y="59"/>
                  </a:lnTo>
                  <a:lnTo>
                    <a:pt x="192" y="45"/>
                  </a:lnTo>
                  <a:lnTo>
                    <a:pt x="181" y="31"/>
                  </a:lnTo>
                  <a:lnTo>
                    <a:pt x="167" y="20"/>
                  </a:lnTo>
                  <a:lnTo>
                    <a:pt x="156" y="11"/>
                  </a:lnTo>
                  <a:lnTo>
                    <a:pt x="139" y="6"/>
                  </a:lnTo>
                  <a:lnTo>
                    <a:pt x="122" y="3"/>
                  </a:lnTo>
                  <a:lnTo>
                    <a:pt x="105" y="0"/>
                  </a:lnTo>
                  <a:lnTo>
                    <a:pt x="88" y="3"/>
                  </a:lnTo>
                  <a:lnTo>
                    <a:pt x="71" y="6"/>
                  </a:lnTo>
                  <a:lnTo>
                    <a:pt x="57" y="11"/>
                  </a:lnTo>
                  <a:lnTo>
                    <a:pt x="43" y="20"/>
                  </a:lnTo>
                  <a:lnTo>
                    <a:pt x="31" y="31"/>
                  </a:lnTo>
                  <a:lnTo>
                    <a:pt x="20" y="45"/>
                  </a:lnTo>
                  <a:lnTo>
                    <a:pt x="12" y="59"/>
                  </a:lnTo>
                  <a:lnTo>
                    <a:pt x="6" y="74"/>
                  </a:lnTo>
                  <a:lnTo>
                    <a:pt x="0" y="91"/>
                  </a:lnTo>
                  <a:lnTo>
                    <a:pt x="0" y="107"/>
                  </a:lnTo>
                  <a:lnTo>
                    <a:pt x="0" y="124"/>
                  </a:lnTo>
                  <a:lnTo>
                    <a:pt x="6" y="141"/>
                  </a:lnTo>
                  <a:lnTo>
                    <a:pt x="12" y="155"/>
                  </a:lnTo>
                  <a:lnTo>
                    <a:pt x="20" y="170"/>
                  </a:lnTo>
                  <a:lnTo>
                    <a:pt x="31" y="181"/>
                  </a:lnTo>
                  <a:lnTo>
                    <a:pt x="43" y="192"/>
                  </a:lnTo>
                  <a:lnTo>
                    <a:pt x="57" y="201"/>
                  </a:lnTo>
                  <a:lnTo>
                    <a:pt x="71" y="206"/>
                  </a:lnTo>
                  <a:lnTo>
                    <a:pt x="88" y="212"/>
                  </a:lnTo>
                  <a:lnTo>
                    <a:pt x="105" y="212"/>
                  </a:lnTo>
                  <a:lnTo>
                    <a:pt x="122" y="212"/>
                  </a:lnTo>
                  <a:lnTo>
                    <a:pt x="139" y="206"/>
                  </a:lnTo>
                  <a:lnTo>
                    <a:pt x="156" y="201"/>
                  </a:lnTo>
                  <a:lnTo>
                    <a:pt x="167" y="192"/>
                  </a:lnTo>
                  <a:lnTo>
                    <a:pt x="181" y="181"/>
                  </a:lnTo>
                  <a:lnTo>
                    <a:pt x="192" y="170"/>
                  </a:lnTo>
                  <a:lnTo>
                    <a:pt x="201" y="155"/>
                  </a:lnTo>
                  <a:lnTo>
                    <a:pt x="206" y="141"/>
                  </a:lnTo>
                  <a:lnTo>
                    <a:pt x="209" y="124"/>
                  </a:lnTo>
                  <a:lnTo>
                    <a:pt x="212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28" name="Rectangle 56"/>
            <p:cNvSpPr>
              <a:spLocks noChangeArrowheads="1"/>
            </p:cNvSpPr>
            <p:nvPr/>
          </p:nvSpPr>
          <p:spPr bwMode="auto">
            <a:xfrm>
              <a:off x="1680" y="1429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4</a:t>
              </a:r>
              <a:endParaRPr lang="en-US" b="1"/>
            </a:p>
          </p:txBody>
        </p:sp>
        <p:sp>
          <p:nvSpPr>
            <p:cNvPr id="31829" name="Rectangle 57"/>
            <p:cNvSpPr>
              <a:spLocks noChangeArrowheads="1"/>
            </p:cNvSpPr>
            <p:nvPr/>
          </p:nvSpPr>
          <p:spPr bwMode="auto">
            <a:xfrm>
              <a:off x="1649" y="1209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u</a:t>
              </a:r>
              <a:endParaRPr lang="en-US" b="1"/>
            </a:p>
          </p:txBody>
        </p:sp>
        <p:sp>
          <p:nvSpPr>
            <p:cNvPr id="31830" name="Rectangle 58"/>
            <p:cNvSpPr>
              <a:spLocks noChangeArrowheads="1"/>
            </p:cNvSpPr>
            <p:nvPr/>
          </p:nvSpPr>
          <p:spPr bwMode="auto">
            <a:xfrm>
              <a:off x="1702" y="1209"/>
              <a:ext cx="16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 = ?</a:t>
              </a:r>
              <a:endParaRPr lang="en-US" b="1"/>
            </a:p>
          </p:txBody>
        </p:sp>
      </p:grpSp>
      <p:grpSp>
        <p:nvGrpSpPr>
          <p:cNvPr id="31786" name="Group 59"/>
          <p:cNvGrpSpPr>
            <a:grpSpLocks/>
          </p:cNvGrpSpPr>
          <p:nvPr/>
        </p:nvGrpSpPr>
        <p:grpSpPr bwMode="auto">
          <a:xfrm>
            <a:off x="2832100" y="3849688"/>
            <a:ext cx="339725" cy="274637"/>
            <a:chOff x="1784" y="2425"/>
            <a:chExt cx="214" cy="173"/>
          </a:xfrm>
        </p:grpSpPr>
        <p:sp>
          <p:nvSpPr>
            <p:cNvPr id="31821" name="Rectangle 60"/>
            <p:cNvSpPr>
              <a:spLocks noChangeArrowheads="1"/>
            </p:cNvSpPr>
            <p:nvPr/>
          </p:nvSpPr>
          <p:spPr bwMode="auto">
            <a:xfrm>
              <a:off x="1784" y="242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hlink"/>
                  </a:solidFill>
                </a:rPr>
                <a:t>u</a:t>
              </a:r>
              <a:endParaRPr lang="en-US" sz="2000" b="1">
                <a:solidFill>
                  <a:schemeClr val="hlink"/>
                </a:solidFill>
              </a:endParaRPr>
            </a:p>
          </p:txBody>
        </p:sp>
        <p:sp>
          <p:nvSpPr>
            <p:cNvPr id="31822" name="Rectangle 61"/>
            <p:cNvSpPr>
              <a:spLocks noChangeArrowheads="1"/>
            </p:cNvSpPr>
            <p:nvPr/>
          </p:nvSpPr>
          <p:spPr bwMode="auto">
            <a:xfrm>
              <a:off x="1838" y="2425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hlink"/>
                  </a:solidFill>
                </a:rPr>
                <a:t> :5</a:t>
              </a:r>
              <a:endParaRPr lang="en-US" sz="2000" b="1">
                <a:solidFill>
                  <a:schemeClr val="hlink"/>
                </a:solidFill>
              </a:endParaRPr>
            </a:p>
          </p:txBody>
        </p:sp>
      </p:grp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1828800" y="2451100"/>
            <a:ext cx="788988" cy="1468438"/>
            <a:chOff x="1152" y="1536"/>
            <a:chExt cx="497" cy="925"/>
          </a:xfrm>
        </p:grpSpPr>
        <p:sp>
          <p:nvSpPr>
            <p:cNvPr id="31813" name="Rectangle 63"/>
            <p:cNvSpPr>
              <a:spLocks noChangeArrowheads="1"/>
            </p:cNvSpPr>
            <p:nvPr/>
          </p:nvSpPr>
          <p:spPr bwMode="auto">
            <a:xfrm>
              <a:off x="1299" y="2273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1</a:t>
              </a:r>
              <a:endParaRPr lang="en-US" b="1"/>
            </a:p>
          </p:txBody>
        </p:sp>
        <p:grpSp>
          <p:nvGrpSpPr>
            <p:cNvPr id="31814" name="Group 64"/>
            <p:cNvGrpSpPr>
              <a:grpSpLocks/>
            </p:cNvGrpSpPr>
            <p:nvPr/>
          </p:nvGrpSpPr>
          <p:grpSpPr bwMode="auto">
            <a:xfrm>
              <a:off x="1152" y="1536"/>
              <a:ext cx="497" cy="925"/>
              <a:chOff x="1152" y="1536"/>
              <a:chExt cx="497" cy="925"/>
            </a:xfrm>
          </p:grpSpPr>
          <p:grpSp>
            <p:nvGrpSpPr>
              <p:cNvPr id="31815" name="Group 65"/>
              <p:cNvGrpSpPr>
                <a:grpSpLocks/>
              </p:cNvGrpSpPr>
              <p:nvPr/>
            </p:nvGrpSpPr>
            <p:grpSpPr bwMode="auto">
              <a:xfrm>
                <a:off x="1220" y="1815"/>
                <a:ext cx="429" cy="646"/>
                <a:chOff x="1220" y="1815"/>
                <a:chExt cx="429" cy="646"/>
              </a:xfrm>
            </p:grpSpPr>
            <p:sp>
              <p:nvSpPr>
                <p:cNvPr id="31819" name="Freeform 66"/>
                <p:cNvSpPr>
                  <a:spLocks/>
                </p:cNvSpPr>
                <p:nvPr/>
              </p:nvSpPr>
              <p:spPr bwMode="auto">
                <a:xfrm>
                  <a:off x="1310" y="1815"/>
                  <a:ext cx="339" cy="646"/>
                </a:xfrm>
                <a:custGeom>
                  <a:avLst/>
                  <a:gdLst>
                    <a:gd name="T0" fmla="*/ 0 w 339"/>
                    <a:gd name="T1" fmla="*/ 0 h 646"/>
                    <a:gd name="T2" fmla="*/ 11 w 339"/>
                    <a:gd name="T3" fmla="*/ 76 h 646"/>
                    <a:gd name="T4" fmla="*/ 23 w 339"/>
                    <a:gd name="T5" fmla="*/ 153 h 646"/>
                    <a:gd name="T6" fmla="*/ 40 w 339"/>
                    <a:gd name="T7" fmla="*/ 226 h 646"/>
                    <a:gd name="T8" fmla="*/ 62 w 339"/>
                    <a:gd name="T9" fmla="*/ 297 h 646"/>
                    <a:gd name="T10" fmla="*/ 93 w 339"/>
                    <a:gd name="T11" fmla="*/ 367 h 646"/>
                    <a:gd name="T12" fmla="*/ 127 w 339"/>
                    <a:gd name="T13" fmla="*/ 432 h 646"/>
                    <a:gd name="T14" fmla="*/ 169 w 339"/>
                    <a:gd name="T15" fmla="*/ 494 h 646"/>
                    <a:gd name="T16" fmla="*/ 217 w 339"/>
                    <a:gd name="T17" fmla="*/ 551 h 646"/>
                    <a:gd name="T18" fmla="*/ 277 w 339"/>
                    <a:gd name="T19" fmla="*/ 601 h 646"/>
                    <a:gd name="T20" fmla="*/ 339 w 339"/>
                    <a:gd name="T21" fmla="*/ 646 h 6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39"/>
                    <a:gd name="T34" fmla="*/ 0 h 646"/>
                    <a:gd name="T35" fmla="*/ 339 w 339"/>
                    <a:gd name="T36" fmla="*/ 646 h 64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39" h="646">
                      <a:moveTo>
                        <a:pt x="0" y="0"/>
                      </a:moveTo>
                      <a:lnTo>
                        <a:pt x="11" y="76"/>
                      </a:lnTo>
                      <a:lnTo>
                        <a:pt x="23" y="153"/>
                      </a:lnTo>
                      <a:lnTo>
                        <a:pt x="40" y="226"/>
                      </a:lnTo>
                      <a:lnTo>
                        <a:pt x="62" y="297"/>
                      </a:lnTo>
                      <a:lnTo>
                        <a:pt x="93" y="367"/>
                      </a:lnTo>
                      <a:lnTo>
                        <a:pt x="127" y="432"/>
                      </a:lnTo>
                      <a:lnTo>
                        <a:pt x="169" y="494"/>
                      </a:lnTo>
                      <a:lnTo>
                        <a:pt x="217" y="551"/>
                      </a:lnTo>
                      <a:lnTo>
                        <a:pt x="277" y="601"/>
                      </a:lnTo>
                      <a:lnTo>
                        <a:pt x="339" y="646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31820" name="Freeform 67"/>
                <p:cNvSpPr>
                  <a:spLocks/>
                </p:cNvSpPr>
                <p:nvPr/>
              </p:nvSpPr>
              <p:spPr bwMode="auto">
                <a:xfrm>
                  <a:off x="1220" y="2224"/>
                  <a:ext cx="211" cy="212"/>
                </a:xfrm>
                <a:custGeom>
                  <a:avLst/>
                  <a:gdLst>
                    <a:gd name="T0" fmla="*/ 209 w 211"/>
                    <a:gd name="T1" fmla="*/ 105 h 212"/>
                    <a:gd name="T2" fmla="*/ 209 w 211"/>
                    <a:gd name="T3" fmla="*/ 91 h 212"/>
                    <a:gd name="T4" fmla="*/ 206 w 211"/>
                    <a:gd name="T5" fmla="*/ 74 h 212"/>
                    <a:gd name="T6" fmla="*/ 200 w 211"/>
                    <a:gd name="T7" fmla="*/ 60 h 212"/>
                    <a:gd name="T8" fmla="*/ 192 w 211"/>
                    <a:gd name="T9" fmla="*/ 46 h 212"/>
                    <a:gd name="T10" fmla="*/ 180 w 211"/>
                    <a:gd name="T11" fmla="*/ 31 h 212"/>
                    <a:gd name="T12" fmla="*/ 166 w 211"/>
                    <a:gd name="T13" fmla="*/ 20 h 212"/>
                    <a:gd name="T14" fmla="*/ 155 w 211"/>
                    <a:gd name="T15" fmla="*/ 12 h 212"/>
                    <a:gd name="T16" fmla="*/ 138 w 211"/>
                    <a:gd name="T17" fmla="*/ 6 h 212"/>
                    <a:gd name="T18" fmla="*/ 121 w 211"/>
                    <a:gd name="T19" fmla="*/ 3 h 212"/>
                    <a:gd name="T20" fmla="*/ 104 w 211"/>
                    <a:gd name="T21" fmla="*/ 0 h 212"/>
                    <a:gd name="T22" fmla="*/ 87 w 211"/>
                    <a:gd name="T23" fmla="*/ 3 h 212"/>
                    <a:gd name="T24" fmla="*/ 70 w 211"/>
                    <a:gd name="T25" fmla="*/ 6 h 212"/>
                    <a:gd name="T26" fmla="*/ 56 w 211"/>
                    <a:gd name="T27" fmla="*/ 12 h 212"/>
                    <a:gd name="T28" fmla="*/ 42 w 211"/>
                    <a:gd name="T29" fmla="*/ 20 h 212"/>
                    <a:gd name="T30" fmla="*/ 31 w 211"/>
                    <a:gd name="T31" fmla="*/ 31 h 212"/>
                    <a:gd name="T32" fmla="*/ 19 w 211"/>
                    <a:gd name="T33" fmla="*/ 46 h 212"/>
                    <a:gd name="T34" fmla="*/ 11 w 211"/>
                    <a:gd name="T35" fmla="*/ 60 h 212"/>
                    <a:gd name="T36" fmla="*/ 5 w 211"/>
                    <a:gd name="T37" fmla="*/ 74 h 212"/>
                    <a:gd name="T38" fmla="*/ 0 w 211"/>
                    <a:gd name="T39" fmla="*/ 91 h 212"/>
                    <a:gd name="T40" fmla="*/ 0 w 211"/>
                    <a:gd name="T41" fmla="*/ 108 h 212"/>
                    <a:gd name="T42" fmla="*/ 0 w 211"/>
                    <a:gd name="T43" fmla="*/ 125 h 212"/>
                    <a:gd name="T44" fmla="*/ 5 w 211"/>
                    <a:gd name="T45" fmla="*/ 142 h 212"/>
                    <a:gd name="T46" fmla="*/ 11 w 211"/>
                    <a:gd name="T47" fmla="*/ 156 h 212"/>
                    <a:gd name="T48" fmla="*/ 19 w 211"/>
                    <a:gd name="T49" fmla="*/ 170 h 212"/>
                    <a:gd name="T50" fmla="*/ 31 w 211"/>
                    <a:gd name="T51" fmla="*/ 181 h 212"/>
                    <a:gd name="T52" fmla="*/ 42 w 211"/>
                    <a:gd name="T53" fmla="*/ 192 h 212"/>
                    <a:gd name="T54" fmla="*/ 56 w 211"/>
                    <a:gd name="T55" fmla="*/ 201 h 212"/>
                    <a:gd name="T56" fmla="*/ 70 w 211"/>
                    <a:gd name="T57" fmla="*/ 206 h 212"/>
                    <a:gd name="T58" fmla="*/ 87 w 211"/>
                    <a:gd name="T59" fmla="*/ 212 h 212"/>
                    <a:gd name="T60" fmla="*/ 104 w 211"/>
                    <a:gd name="T61" fmla="*/ 212 h 212"/>
                    <a:gd name="T62" fmla="*/ 121 w 211"/>
                    <a:gd name="T63" fmla="*/ 212 h 212"/>
                    <a:gd name="T64" fmla="*/ 138 w 211"/>
                    <a:gd name="T65" fmla="*/ 206 h 212"/>
                    <a:gd name="T66" fmla="*/ 155 w 211"/>
                    <a:gd name="T67" fmla="*/ 201 h 212"/>
                    <a:gd name="T68" fmla="*/ 166 w 211"/>
                    <a:gd name="T69" fmla="*/ 192 h 212"/>
                    <a:gd name="T70" fmla="*/ 180 w 211"/>
                    <a:gd name="T71" fmla="*/ 181 h 212"/>
                    <a:gd name="T72" fmla="*/ 192 w 211"/>
                    <a:gd name="T73" fmla="*/ 170 h 212"/>
                    <a:gd name="T74" fmla="*/ 200 w 211"/>
                    <a:gd name="T75" fmla="*/ 156 h 212"/>
                    <a:gd name="T76" fmla="*/ 206 w 211"/>
                    <a:gd name="T77" fmla="*/ 142 h 212"/>
                    <a:gd name="T78" fmla="*/ 209 w 211"/>
                    <a:gd name="T79" fmla="*/ 125 h 212"/>
                    <a:gd name="T80" fmla="*/ 211 w 211"/>
                    <a:gd name="T81" fmla="*/ 108 h 212"/>
                    <a:gd name="T82" fmla="*/ 211 w 211"/>
                    <a:gd name="T83" fmla="*/ 108 h 21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1"/>
                    <a:gd name="T127" fmla="*/ 0 h 212"/>
                    <a:gd name="T128" fmla="*/ 211 w 211"/>
                    <a:gd name="T129" fmla="*/ 212 h 212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1" h="212">
                      <a:moveTo>
                        <a:pt x="209" y="105"/>
                      </a:moveTo>
                      <a:lnTo>
                        <a:pt x="209" y="91"/>
                      </a:lnTo>
                      <a:lnTo>
                        <a:pt x="206" y="74"/>
                      </a:lnTo>
                      <a:lnTo>
                        <a:pt x="200" y="60"/>
                      </a:lnTo>
                      <a:lnTo>
                        <a:pt x="192" y="46"/>
                      </a:lnTo>
                      <a:lnTo>
                        <a:pt x="180" y="31"/>
                      </a:lnTo>
                      <a:lnTo>
                        <a:pt x="166" y="20"/>
                      </a:lnTo>
                      <a:lnTo>
                        <a:pt x="155" y="12"/>
                      </a:lnTo>
                      <a:lnTo>
                        <a:pt x="138" y="6"/>
                      </a:lnTo>
                      <a:lnTo>
                        <a:pt x="121" y="3"/>
                      </a:lnTo>
                      <a:lnTo>
                        <a:pt x="104" y="0"/>
                      </a:lnTo>
                      <a:lnTo>
                        <a:pt x="87" y="3"/>
                      </a:lnTo>
                      <a:lnTo>
                        <a:pt x="70" y="6"/>
                      </a:lnTo>
                      <a:lnTo>
                        <a:pt x="56" y="12"/>
                      </a:lnTo>
                      <a:lnTo>
                        <a:pt x="42" y="20"/>
                      </a:lnTo>
                      <a:lnTo>
                        <a:pt x="31" y="31"/>
                      </a:lnTo>
                      <a:lnTo>
                        <a:pt x="19" y="46"/>
                      </a:lnTo>
                      <a:lnTo>
                        <a:pt x="11" y="60"/>
                      </a:lnTo>
                      <a:lnTo>
                        <a:pt x="5" y="74"/>
                      </a:lnTo>
                      <a:lnTo>
                        <a:pt x="0" y="91"/>
                      </a:lnTo>
                      <a:lnTo>
                        <a:pt x="0" y="108"/>
                      </a:lnTo>
                      <a:lnTo>
                        <a:pt x="0" y="125"/>
                      </a:lnTo>
                      <a:lnTo>
                        <a:pt x="5" y="142"/>
                      </a:lnTo>
                      <a:lnTo>
                        <a:pt x="11" y="156"/>
                      </a:lnTo>
                      <a:lnTo>
                        <a:pt x="19" y="170"/>
                      </a:lnTo>
                      <a:lnTo>
                        <a:pt x="31" y="181"/>
                      </a:lnTo>
                      <a:lnTo>
                        <a:pt x="42" y="192"/>
                      </a:lnTo>
                      <a:lnTo>
                        <a:pt x="56" y="201"/>
                      </a:lnTo>
                      <a:lnTo>
                        <a:pt x="70" y="206"/>
                      </a:lnTo>
                      <a:lnTo>
                        <a:pt x="87" y="212"/>
                      </a:lnTo>
                      <a:lnTo>
                        <a:pt x="104" y="212"/>
                      </a:lnTo>
                      <a:lnTo>
                        <a:pt x="121" y="212"/>
                      </a:lnTo>
                      <a:lnTo>
                        <a:pt x="138" y="206"/>
                      </a:lnTo>
                      <a:lnTo>
                        <a:pt x="155" y="201"/>
                      </a:lnTo>
                      <a:lnTo>
                        <a:pt x="166" y="192"/>
                      </a:lnTo>
                      <a:lnTo>
                        <a:pt x="180" y="181"/>
                      </a:lnTo>
                      <a:lnTo>
                        <a:pt x="192" y="170"/>
                      </a:lnTo>
                      <a:lnTo>
                        <a:pt x="200" y="156"/>
                      </a:lnTo>
                      <a:lnTo>
                        <a:pt x="206" y="142"/>
                      </a:lnTo>
                      <a:lnTo>
                        <a:pt x="209" y="125"/>
                      </a:lnTo>
                      <a:lnTo>
                        <a:pt x="211" y="10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31816" name="Group 68"/>
              <p:cNvGrpSpPr>
                <a:grpSpLocks/>
              </p:cNvGrpSpPr>
              <p:nvPr/>
            </p:nvGrpSpPr>
            <p:grpSpPr bwMode="auto">
              <a:xfrm>
                <a:off x="1152" y="1536"/>
                <a:ext cx="231" cy="173"/>
                <a:chOff x="1784" y="2425"/>
                <a:chExt cx="176" cy="173"/>
              </a:xfrm>
            </p:grpSpPr>
            <p:sp>
              <p:nvSpPr>
                <p:cNvPr id="31817" name="Rectangle 69"/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61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31818" name="Rectangle 70"/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22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9" name="Group 71"/>
          <p:cNvGrpSpPr>
            <a:grpSpLocks/>
          </p:cNvGrpSpPr>
          <p:nvPr/>
        </p:nvGrpSpPr>
        <p:grpSpPr bwMode="auto">
          <a:xfrm>
            <a:off x="3160713" y="2514600"/>
            <a:ext cx="3470275" cy="1522413"/>
            <a:chOff x="2016" y="1584"/>
            <a:chExt cx="2209" cy="959"/>
          </a:xfrm>
        </p:grpSpPr>
        <p:sp>
          <p:nvSpPr>
            <p:cNvPr id="31803" name="Freeform 72"/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6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6" y="5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04" name="Freeform 73"/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4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4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31805" name="Group 74"/>
            <p:cNvGrpSpPr>
              <a:grpSpLocks/>
            </p:cNvGrpSpPr>
            <p:nvPr/>
          </p:nvGrpSpPr>
          <p:grpSpPr bwMode="auto">
            <a:xfrm>
              <a:off x="2016" y="1584"/>
              <a:ext cx="2209" cy="959"/>
              <a:chOff x="2016" y="1584"/>
              <a:chExt cx="2209" cy="959"/>
            </a:xfrm>
          </p:grpSpPr>
          <p:grpSp>
            <p:nvGrpSpPr>
              <p:cNvPr id="31806" name="Group 75"/>
              <p:cNvGrpSpPr>
                <a:grpSpLocks/>
              </p:cNvGrpSpPr>
              <p:nvPr/>
            </p:nvGrpSpPr>
            <p:grpSpPr bwMode="auto">
              <a:xfrm>
                <a:off x="2016" y="1776"/>
                <a:ext cx="1900" cy="767"/>
                <a:chOff x="2002" y="1776"/>
                <a:chExt cx="1900" cy="767"/>
              </a:xfrm>
            </p:grpSpPr>
            <p:sp>
              <p:nvSpPr>
                <p:cNvPr id="31811" name="Freeform 76"/>
                <p:cNvSpPr>
                  <a:spLocks/>
                </p:cNvSpPr>
                <p:nvPr/>
              </p:nvSpPr>
              <p:spPr bwMode="auto">
                <a:xfrm>
                  <a:off x="2002" y="1776"/>
                  <a:ext cx="1900" cy="728"/>
                </a:xfrm>
                <a:custGeom>
                  <a:avLst/>
                  <a:gdLst>
                    <a:gd name="T0" fmla="*/ 0 w 1900"/>
                    <a:gd name="T1" fmla="*/ 728 h 728"/>
                    <a:gd name="T2" fmla="*/ 149 w 1900"/>
                    <a:gd name="T3" fmla="*/ 702 h 728"/>
                    <a:gd name="T4" fmla="*/ 299 w 1900"/>
                    <a:gd name="T5" fmla="*/ 685 h 728"/>
                    <a:gd name="T6" fmla="*/ 451 w 1900"/>
                    <a:gd name="T7" fmla="*/ 669 h 728"/>
                    <a:gd name="T8" fmla="*/ 607 w 1900"/>
                    <a:gd name="T9" fmla="*/ 654 h 728"/>
                    <a:gd name="T10" fmla="*/ 759 w 1900"/>
                    <a:gd name="T11" fmla="*/ 638 h 728"/>
                    <a:gd name="T12" fmla="*/ 912 w 1900"/>
                    <a:gd name="T13" fmla="*/ 615 h 728"/>
                    <a:gd name="T14" fmla="*/ 1061 w 1900"/>
                    <a:gd name="T15" fmla="*/ 581 h 728"/>
                    <a:gd name="T16" fmla="*/ 1202 w 1900"/>
                    <a:gd name="T17" fmla="*/ 536 h 728"/>
                    <a:gd name="T18" fmla="*/ 1341 w 1900"/>
                    <a:gd name="T19" fmla="*/ 477 h 728"/>
                    <a:gd name="T20" fmla="*/ 1471 w 1900"/>
                    <a:gd name="T21" fmla="*/ 398 h 728"/>
                    <a:gd name="T22" fmla="*/ 1519 w 1900"/>
                    <a:gd name="T23" fmla="*/ 361 h 728"/>
                    <a:gd name="T24" fmla="*/ 1564 w 1900"/>
                    <a:gd name="T25" fmla="*/ 324 h 728"/>
                    <a:gd name="T26" fmla="*/ 1606 w 1900"/>
                    <a:gd name="T27" fmla="*/ 285 h 728"/>
                    <a:gd name="T28" fmla="*/ 1648 w 1900"/>
                    <a:gd name="T29" fmla="*/ 245 h 728"/>
                    <a:gd name="T30" fmla="*/ 1691 w 1900"/>
                    <a:gd name="T31" fmla="*/ 203 h 728"/>
                    <a:gd name="T32" fmla="*/ 1733 w 1900"/>
                    <a:gd name="T33" fmla="*/ 161 h 728"/>
                    <a:gd name="T34" fmla="*/ 1773 w 1900"/>
                    <a:gd name="T35" fmla="*/ 121 h 728"/>
                    <a:gd name="T36" fmla="*/ 1815 w 1900"/>
                    <a:gd name="T37" fmla="*/ 79 h 728"/>
                    <a:gd name="T38" fmla="*/ 1857 w 1900"/>
                    <a:gd name="T39" fmla="*/ 39 h 728"/>
                    <a:gd name="T40" fmla="*/ 1900 w 1900"/>
                    <a:gd name="T41" fmla="*/ 0 h 72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900"/>
                    <a:gd name="T64" fmla="*/ 0 h 728"/>
                    <a:gd name="T65" fmla="*/ 1900 w 1900"/>
                    <a:gd name="T66" fmla="*/ 728 h 72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900" h="728">
                      <a:moveTo>
                        <a:pt x="0" y="728"/>
                      </a:moveTo>
                      <a:lnTo>
                        <a:pt x="149" y="702"/>
                      </a:lnTo>
                      <a:lnTo>
                        <a:pt x="299" y="685"/>
                      </a:lnTo>
                      <a:lnTo>
                        <a:pt x="451" y="669"/>
                      </a:lnTo>
                      <a:lnTo>
                        <a:pt x="607" y="654"/>
                      </a:lnTo>
                      <a:lnTo>
                        <a:pt x="759" y="638"/>
                      </a:lnTo>
                      <a:lnTo>
                        <a:pt x="912" y="615"/>
                      </a:lnTo>
                      <a:lnTo>
                        <a:pt x="1061" y="581"/>
                      </a:lnTo>
                      <a:lnTo>
                        <a:pt x="1202" y="536"/>
                      </a:lnTo>
                      <a:lnTo>
                        <a:pt x="1341" y="477"/>
                      </a:lnTo>
                      <a:lnTo>
                        <a:pt x="1471" y="398"/>
                      </a:lnTo>
                      <a:lnTo>
                        <a:pt x="1519" y="361"/>
                      </a:lnTo>
                      <a:lnTo>
                        <a:pt x="1564" y="324"/>
                      </a:lnTo>
                      <a:lnTo>
                        <a:pt x="1606" y="285"/>
                      </a:lnTo>
                      <a:lnTo>
                        <a:pt x="1648" y="245"/>
                      </a:lnTo>
                      <a:lnTo>
                        <a:pt x="1691" y="203"/>
                      </a:lnTo>
                      <a:lnTo>
                        <a:pt x="1733" y="161"/>
                      </a:lnTo>
                      <a:lnTo>
                        <a:pt x="1773" y="121"/>
                      </a:lnTo>
                      <a:lnTo>
                        <a:pt x="1815" y="79"/>
                      </a:lnTo>
                      <a:lnTo>
                        <a:pt x="1857" y="39"/>
                      </a:lnTo>
                      <a:lnTo>
                        <a:pt x="190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31812" name="Freeform 77"/>
                <p:cNvSpPr>
                  <a:spLocks/>
                </p:cNvSpPr>
                <p:nvPr/>
              </p:nvSpPr>
              <p:spPr bwMode="auto">
                <a:xfrm>
                  <a:off x="3125" y="2332"/>
                  <a:ext cx="212" cy="211"/>
                </a:xfrm>
                <a:custGeom>
                  <a:avLst/>
                  <a:gdLst>
                    <a:gd name="T0" fmla="*/ 212 w 212"/>
                    <a:gd name="T1" fmla="*/ 104 h 211"/>
                    <a:gd name="T2" fmla="*/ 209 w 212"/>
                    <a:gd name="T3" fmla="*/ 87 h 211"/>
                    <a:gd name="T4" fmla="*/ 206 w 212"/>
                    <a:gd name="T5" fmla="*/ 70 h 211"/>
                    <a:gd name="T6" fmla="*/ 201 w 212"/>
                    <a:gd name="T7" fmla="*/ 56 h 211"/>
                    <a:gd name="T8" fmla="*/ 192 w 212"/>
                    <a:gd name="T9" fmla="*/ 42 h 211"/>
                    <a:gd name="T10" fmla="*/ 181 w 212"/>
                    <a:gd name="T11" fmla="*/ 31 h 211"/>
                    <a:gd name="T12" fmla="*/ 167 w 212"/>
                    <a:gd name="T13" fmla="*/ 19 h 211"/>
                    <a:gd name="T14" fmla="*/ 156 w 212"/>
                    <a:gd name="T15" fmla="*/ 11 h 211"/>
                    <a:gd name="T16" fmla="*/ 139 w 212"/>
                    <a:gd name="T17" fmla="*/ 5 h 211"/>
                    <a:gd name="T18" fmla="*/ 122 w 212"/>
                    <a:gd name="T19" fmla="*/ 0 h 211"/>
                    <a:gd name="T20" fmla="*/ 105 w 212"/>
                    <a:gd name="T21" fmla="*/ 0 h 211"/>
                    <a:gd name="T22" fmla="*/ 88 w 212"/>
                    <a:gd name="T23" fmla="*/ 0 h 211"/>
                    <a:gd name="T24" fmla="*/ 71 w 212"/>
                    <a:gd name="T25" fmla="*/ 5 h 211"/>
                    <a:gd name="T26" fmla="*/ 57 w 212"/>
                    <a:gd name="T27" fmla="*/ 11 h 211"/>
                    <a:gd name="T28" fmla="*/ 43 w 212"/>
                    <a:gd name="T29" fmla="*/ 19 h 211"/>
                    <a:gd name="T30" fmla="*/ 31 w 212"/>
                    <a:gd name="T31" fmla="*/ 31 h 211"/>
                    <a:gd name="T32" fmla="*/ 20 w 212"/>
                    <a:gd name="T33" fmla="*/ 42 h 211"/>
                    <a:gd name="T34" fmla="*/ 12 w 212"/>
                    <a:gd name="T35" fmla="*/ 56 h 211"/>
                    <a:gd name="T36" fmla="*/ 6 w 212"/>
                    <a:gd name="T37" fmla="*/ 70 h 211"/>
                    <a:gd name="T38" fmla="*/ 0 w 212"/>
                    <a:gd name="T39" fmla="*/ 87 h 211"/>
                    <a:gd name="T40" fmla="*/ 0 w 212"/>
                    <a:gd name="T41" fmla="*/ 104 h 211"/>
                    <a:gd name="T42" fmla="*/ 0 w 212"/>
                    <a:gd name="T43" fmla="*/ 121 h 211"/>
                    <a:gd name="T44" fmla="*/ 6 w 212"/>
                    <a:gd name="T45" fmla="*/ 138 h 211"/>
                    <a:gd name="T46" fmla="*/ 12 w 212"/>
                    <a:gd name="T47" fmla="*/ 152 h 211"/>
                    <a:gd name="T48" fmla="*/ 20 w 212"/>
                    <a:gd name="T49" fmla="*/ 166 h 211"/>
                    <a:gd name="T50" fmla="*/ 31 w 212"/>
                    <a:gd name="T51" fmla="*/ 180 h 211"/>
                    <a:gd name="T52" fmla="*/ 43 w 212"/>
                    <a:gd name="T53" fmla="*/ 189 h 211"/>
                    <a:gd name="T54" fmla="*/ 57 w 212"/>
                    <a:gd name="T55" fmla="*/ 200 h 211"/>
                    <a:gd name="T56" fmla="*/ 71 w 212"/>
                    <a:gd name="T57" fmla="*/ 206 h 211"/>
                    <a:gd name="T58" fmla="*/ 88 w 212"/>
                    <a:gd name="T59" fmla="*/ 209 h 211"/>
                    <a:gd name="T60" fmla="*/ 105 w 212"/>
                    <a:gd name="T61" fmla="*/ 211 h 211"/>
                    <a:gd name="T62" fmla="*/ 122 w 212"/>
                    <a:gd name="T63" fmla="*/ 209 h 211"/>
                    <a:gd name="T64" fmla="*/ 139 w 212"/>
                    <a:gd name="T65" fmla="*/ 206 h 211"/>
                    <a:gd name="T66" fmla="*/ 156 w 212"/>
                    <a:gd name="T67" fmla="*/ 200 h 211"/>
                    <a:gd name="T68" fmla="*/ 167 w 212"/>
                    <a:gd name="T69" fmla="*/ 189 h 211"/>
                    <a:gd name="T70" fmla="*/ 181 w 212"/>
                    <a:gd name="T71" fmla="*/ 180 h 211"/>
                    <a:gd name="T72" fmla="*/ 192 w 212"/>
                    <a:gd name="T73" fmla="*/ 166 h 211"/>
                    <a:gd name="T74" fmla="*/ 201 w 212"/>
                    <a:gd name="T75" fmla="*/ 152 h 211"/>
                    <a:gd name="T76" fmla="*/ 206 w 212"/>
                    <a:gd name="T77" fmla="*/ 138 h 211"/>
                    <a:gd name="T78" fmla="*/ 209 w 212"/>
                    <a:gd name="T79" fmla="*/ 121 h 211"/>
                    <a:gd name="T80" fmla="*/ 212 w 212"/>
                    <a:gd name="T81" fmla="*/ 104 h 211"/>
                    <a:gd name="T82" fmla="*/ 212 w 212"/>
                    <a:gd name="T83" fmla="*/ 104 h 21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2"/>
                    <a:gd name="T127" fmla="*/ 0 h 211"/>
                    <a:gd name="T128" fmla="*/ 212 w 212"/>
                    <a:gd name="T129" fmla="*/ 211 h 211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2" h="211">
                      <a:moveTo>
                        <a:pt x="212" y="104"/>
                      </a:moveTo>
                      <a:lnTo>
                        <a:pt x="209" y="87"/>
                      </a:lnTo>
                      <a:lnTo>
                        <a:pt x="206" y="70"/>
                      </a:lnTo>
                      <a:lnTo>
                        <a:pt x="201" y="56"/>
                      </a:lnTo>
                      <a:lnTo>
                        <a:pt x="192" y="42"/>
                      </a:lnTo>
                      <a:lnTo>
                        <a:pt x="181" y="31"/>
                      </a:lnTo>
                      <a:lnTo>
                        <a:pt x="167" y="19"/>
                      </a:lnTo>
                      <a:lnTo>
                        <a:pt x="156" y="11"/>
                      </a:lnTo>
                      <a:lnTo>
                        <a:pt x="139" y="5"/>
                      </a:lnTo>
                      <a:lnTo>
                        <a:pt x="122" y="0"/>
                      </a:lnTo>
                      <a:lnTo>
                        <a:pt x="105" y="0"/>
                      </a:lnTo>
                      <a:lnTo>
                        <a:pt x="88" y="0"/>
                      </a:lnTo>
                      <a:lnTo>
                        <a:pt x="71" y="5"/>
                      </a:lnTo>
                      <a:lnTo>
                        <a:pt x="57" y="11"/>
                      </a:lnTo>
                      <a:lnTo>
                        <a:pt x="43" y="19"/>
                      </a:lnTo>
                      <a:lnTo>
                        <a:pt x="31" y="31"/>
                      </a:lnTo>
                      <a:lnTo>
                        <a:pt x="20" y="42"/>
                      </a:lnTo>
                      <a:lnTo>
                        <a:pt x="12" y="56"/>
                      </a:lnTo>
                      <a:lnTo>
                        <a:pt x="6" y="70"/>
                      </a:lnTo>
                      <a:lnTo>
                        <a:pt x="0" y="87"/>
                      </a:lnTo>
                      <a:lnTo>
                        <a:pt x="0" y="104"/>
                      </a:lnTo>
                      <a:lnTo>
                        <a:pt x="0" y="121"/>
                      </a:lnTo>
                      <a:lnTo>
                        <a:pt x="6" y="138"/>
                      </a:lnTo>
                      <a:lnTo>
                        <a:pt x="12" y="152"/>
                      </a:lnTo>
                      <a:lnTo>
                        <a:pt x="20" y="166"/>
                      </a:lnTo>
                      <a:lnTo>
                        <a:pt x="31" y="180"/>
                      </a:lnTo>
                      <a:lnTo>
                        <a:pt x="43" y="189"/>
                      </a:lnTo>
                      <a:lnTo>
                        <a:pt x="57" y="200"/>
                      </a:lnTo>
                      <a:lnTo>
                        <a:pt x="71" y="206"/>
                      </a:lnTo>
                      <a:lnTo>
                        <a:pt x="88" y="209"/>
                      </a:lnTo>
                      <a:lnTo>
                        <a:pt x="105" y="211"/>
                      </a:lnTo>
                      <a:lnTo>
                        <a:pt x="122" y="209"/>
                      </a:lnTo>
                      <a:lnTo>
                        <a:pt x="139" y="206"/>
                      </a:lnTo>
                      <a:lnTo>
                        <a:pt x="156" y="200"/>
                      </a:lnTo>
                      <a:lnTo>
                        <a:pt x="167" y="189"/>
                      </a:lnTo>
                      <a:lnTo>
                        <a:pt x="181" y="180"/>
                      </a:lnTo>
                      <a:lnTo>
                        <a:pt x="192" y="166"/>
                      </a:lnTo>
                      <a:lnTo>
                        <a:pt x="201" y="152"/>
                      </a:lnTo>
                      <a:lnTo>
                        <a:pt x="206" y="138"/>
                      </a:lnTo>
                      <a:lnTo>
                        <a:pt x="209" y="121"/>
                      </a:lnTo>
                      <a:lnTo>
                        <a:pt x="212" y="10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31807" name="Rectangle 78"/>
              <p:cNvSpPr>
                <a:spLocks noChangeArrowheads="1"/>
              </p:cNvSpPr>
              <p:nvPr/>
            </p:nvSpPr>
            <p:spPr bwMode="auto">
              <a:xfrm>
                <a:off x="3199" y="2386"/>
                <a:ext cx="53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</a:rPr>
                  <a:t>2</a:t>
                </a:r>
                <a:endParaRPr lang="en-US" b="1"/>
              </a:p>
            </p:txBody>
          </p:sp>
          <p:grpSp>
            <p:nvGrpSpPr>
              <p:cNvPr id="31808" name="Group 79"/>
              <p:cNvGrpSpPr>
                <a:grpSpLocks/>
              </p:cNvGrpSpPr>
              <p:nvPr/>
            </p:nvGrpSpPr>
            <p:grpSpPr bwMode="auto">
              <a:xfrm>
                <a:off x="3984" y="1584"/>
                <a:ext cx="241" cy="173"/>
                <a:chOff x="1784" y="2425"/>
                <a:chExt cx="160" cy="173"/>
              </a:xfrm>
            </p:grpSpPr>
            <p:sp>
              <p:nvSpPr>
                <p:cNvPr id="31809" name="Rectangle 80"/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53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31810" name="Rectangle 81"/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06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13" name="Group 82"/>
          <p:cNvGrpSpPr>
            <a:grpSpLocks/>
          </p:cNvGrpSpPr>
          <p:nvPr/>
        </p:nvGrpSpPr>
        <p:grpSpPr bwMode="auto">
          <a:xfrm>
            <a:off x="6781800" y="1752600"/>
            <a:ext cx="600075" cy="1014413"/>
            <a:chOff x="4224" y="1118"/>
            <a:chExt cx="378" cy="639"/>
          </a:xfrm>
        </p:grpSpPr>
        <p:sp>
          <p:nvSpPr>
            <p:cNvPr id="31794" name="Freeform 83"/>
            <p:cNvSpPr>
              <a:spLocks/>
            </p:cNvSpPr>
            <p:nvPr/>
          </p:nvSpPr>
          <p:spPr bwMode="auto">
            <a:xfrm>
              <a:off x="4255" y="1522"/>
              <a:ext cx="81" cy="76"/>
            </a:xfrm>
            <a:custGeom>
              <a:avLst/>
              <a:gdLst>
                <a:gd name="T0" fmla="*/ 62 w 81"/>
                <a:gd name="T1" fmla="*/ 17 h 76"/>
                <a:gd name="T2" fmla="*/ 81 w 81"/>
                <a:gd name="T3" fmla="*/ 36 h 76"/>
                <a:gd name="T4" fmla="*/ 0 w 81"/>
                <a:gd name="T5" fmla="*/ 76 h 76"/>
                <a:gd name="T6" fmla="*/ 48 w 81"/>
                <a:gd name="T7" fmla="*/ 0 h 76"/>
                <a:gd name="T8" fmla="*/ 62 w 81"/>
                <a:gd name="T9" fmla="*/ 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6"/>
                <a:gd name="T17" fmla="*/ 81 w 8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6">
                  <a:moveTo>
                    <a:pt x="62" y="17"/>
                  </a:moveTo>
                  <a:lnTo>
                    <a:pt x="81" y="36"/>
                  </a:lnTo>
                  <a:lnTo>
                    <a:pt x="0" y="76"/>
                  </a:lnTo>
                  <a:lnTo>
                    <a:pt x="48" y="0"/>
                  </a:lnTo>
                  <a:lnTo>
                    <a:pt x="62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95" name="Freeform 84"/>
            <p:cNvSpPr>
              <a:spLocks/>
            </p:cNvSpPr>
            <p:nvPr/>
          </p:nvSpPr>
          <p:spPr bwMode="auto">
            <a:xfrm>
              <a:off x="4255" y="1118"/>
              <a:ext cx="112" cy="421"/>
            </a:xfrm>
            <a:custGeom>
              <a:avLst/>
              <a:gdLst>
                <a:gd name="T0" fmla="*/ 0 w 112"/>
                <a:gd name="T1" fmla="*/ 0 h 421"/>
                <a:gd name="T2" fmla="*/ 22 w 112"/>
                <a:gd name="T3" fmla="*/ 37 h 421"/>
                <a:gd name="T4" fmla="*/ 45 w 112"/>
                <a:gd name="T5" fmla="*/ 79 h 421"/>
                <a:gd name="T6" fmla="*/ 67 w 112"/>
                <a:gd name="T7" fmla="*/ 124 h 421"/>
                <a:gd name="T8" fmla="*/ 84 w 112"/>
                <a:gd name="T9" fmla="*/ 169 h 421"/>
                <a:gd name="T10" fmla="*/ 101 w 112"/>
                <a:gd name="T11" fmla="*/ 217 h 421"/>
                <a:gd name="T12" fmla="*/ 110 w 112"/>
                <a:gd name="T13" fmla="*/ 262 h 421"/>
                <a:gd name="T14" fmla="*/ 112 w 112"/>
                <a:gd name="T15" fmla="*/ 308 h 421"/>
                <a:gd name="T16" fmla="*/ 107 w 112"/>
                <a:gd name="T17" fmla="*/ 350 h 421"/>
                <a:gd name="T18" fmla="*/ 93 w 112"/>
                <a:gd name="T19" fmla="*/ 387 h 421"/>
                <a:gd name="T20" fmla="*/ 67 w 112"/>
                <a:gd name="T21" fmla="*/ 421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2"/>
                <a:gd name="T34" fmla="*/ 0 h 421"/>
                <a:gd name="T35" fmla="*/ 112 w 112"/>
                <a:gd name="T36" fmla="*/ 421 h 4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2" h="421">
                  <a:moveTo>
                    <a:pt x="0" y="0"/>
                  </a:moveTo>
                  <a:lnTo>
                    <a:pt x="22" y="37"/>
                  </a:lnTo>
                  <a:lnTo>
                    <a:pt x="45" y="79"/>
                  </a:lnTo>
                  <a:lnTo>
                    <a:pt x="67" y="124"/>
                  </a:lnTo>
                  <a:lnTo>
                    <a:pt x="84" y="169"/>
                  </a:lnTo>
                  <a:lnTo>
                    <a:pt x="101" y="217"/>
                  </a:lnTo>
                  <a:lnTo>
                    <a:pt x="110" y="262"/>
                  </a:lnTo>
                  <a:lnTo>
                    <a:pt x="112" y="308"/>
                  </a:lnTo>
                  <a:lnTo>
                    <a:pt x="107" y="350"/>
                  </a:lnTo>
                  <a:lnTo>
                    <a:pt x="93" y="387"/>
                  </a:lnTo>
                  <a:lnTo>
                    <a:pt x="67" y="421"/>
                  </a:lnTo>
                </a:path>
              </a:pathLst>
            </a:custGeom>
            <a:noFill/>
            <a:ln w="9525">
              <a:solidFill>
                <a:srgbClr val="114FFB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31796" name="Group 85"/>
            <p:cNvGrpSpPr>
              <a:grpSpLocks/>
            </p:cNvGrpSpPr>
            <p:nvPr/>
          </p:nvGrpSpPr>
          <p:grpSpPr bwMode="auto">
            <a:xfrm>
              <a:off x="4368" y="1152"/>
              <a:ext cx="234" cy="214"/>
              <a:chOff x="4704" y="1389"/>
              <a:chExt cx="234" cy="214"/>
            </a:xfrm>
          </p:grpSpPr>
          <p:sp>
            <p:nvSpPr>
              <p:cNvPr id="31800" name="Freeform 86"/>
              <p:cNvSpPr>
                <a:spLocks/>
              </p:cNvSpPr>
              <p:nvPr/>
            </p:nvSpPr>
            <p:spPr bwMode="auto">
              <a:xfrm>
                <a:off x="4726" y="1389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124 h 211"/>
                  <a:gd name="T4" fmla="*/ 206 w 212"/>
                  <a:gd name="T5" fmla="*/ 141 h 211"/>
                  <a:gd name="T6" fmla="*/ 201 w 212"/>
                  <a:gd name="T7" fmla="*/ 155 h 211"/>
                  <a:gd name="T8" fmla="*/ 192 w 212"/>
                  <a:gd name="T9" fmla="*/ 169 h 211"/>
                  <a:gd name="T10" fmla="*/ 181 w 212"/>
                  <a:gd name="T11" fmla="*/ 180 h 211"/>
                  <a:gd name="T12" fmla="*/ 167 w 212"/>
                  <a:gd name="T13" fmla="*/ 192 h 211"/>
                  <a:gd name="T14" fmla="*/ 155 w 212"/>
                  <a:gd name="T15" fmla="*/ 200 h 211"/>
                  <a:gd name="T16" fmla="*/ 138 w 212"/>
                  <a:gd name="T17" fmla="*/ 206 h 211"/>
                  <a:gd name="T18" fmla="*/ 122 w 212"/>
                  <a:gd name="T19" fmla="*/ 211 h 211"/>
                  <a:gd name="T20" fmla="*/ 105 w 212"/>
                  <a:gd name="T21" fmla="*/ 211 h 211"/>
                  <a:gd name="T22" fmla="*/ 88 w 212"/>
                  <a:gd name="T23" fmla="*/ 211 h 211"/>
                  <a:gd name="T24" fmla="*/ 71 w 212"/>
                  <a:gd name="T25" fmla="*/ 206 h 211"/>
                  <a:gd name="T26" fmla="*/ 57 w 212"/>
                  <a:gd name="T27" fmla="*/ 200 h 211"/>
                  <a:gd name="T28" fmla="*/ 42 w 212"/>
                  <a:gd name="T29" fmla="*/ 192 h 211"/>
                  <a:gd name="T30" fmla="*/ 31 w 212"/>
                  <a:gd name="T31" fmla="*/ 180 h 211"/>
                  <a:gd name="T32" fmla="*/ 20 w 212"/>
                  <a:gd name="T33" fmla="*/ 169 h 211"/>
                  <a:gd name="T34" fmla="*/ 11 w 212"/>
                  <a:gd name="T35" fmla="*/ 155 h 211"/>
                  <a:gd name="T36" fmla="*/ 6 w 212"/>
                  <a:gd name="T37" fmla="*/ 141 h 211"/>
                  <a:gd name="T38" fmla="*/ 0 w 212"/>
                  <a:gd name="T39" fmla="*/ 124 h 211"/>
                  <a:gd name="T40" fmla="*/ 0 w 212"/>
                  <a:gd name="T41" fmla="*/ 107 h 211"/>
                  <a:gd name="T42" fmla="*/ 0 w 212"/>
                  <a:gd name="T43" fmla="*/ 90 h 211"/>
                  <a:gd name="T44" fmla="*/ 6 w 212"/>
                  <a:gd name="T45" fmla="*/ 73 h 211"/>
                  <a:gd name="T46" fmla="*/ 11 w 212"/>
                  <a:gd name="T47" fmla="*/ 59 h 211"/>
                  <a:gd name="T48" fmla="*/ 20 w 212"/>
                  <a:gd name="T49" fmla="*/ 45 h 211"/>
                  <a:gd name="T50" fmla="*/ 31 w 212"/>
                  <a:gd name="T51" fmla="*/ 31 h 211"/>
                  <a:gd name="T52" fmla="*/ 42 w 212"/>
                  <a:gd name="T53" fmla="*/ 19 h 211"/>
                  <a:gd name="T54" fmla="*/ 57 w 212"/>
                  <a:gd name="T55" fmla="*/ 11 h 211"/>
                  <a:gd name="T56" fmla="*/ 71 w 212"/>
                  <a:gd name="T57" fmla="*/ 5 h 211"/>
                  <a:gd name="T58" fmla="*/ 88 w 212"/>
                  <a:gd name="T59" fmla="*/ 3 h 211"/>
                  <a:gd name="T60" fmla="*/ 105 w 212"/>
                  <a:gd name="T61" fmla="*/ 0 h 211"/>
                  <a:gd name="T62" fmla="*/ 122 w 212"/>
                  <a:gd name="T63" fmla="*/ 3 h 211"/>
                  <a:gd name="T64" fmla="*/ 138 w 212"/>
                  <a:gd name="T65" fmla="*/ 5 h 211"/>
                  <a:gd name="T66" fmla="*/ 155 w 212"/>
                  <a:gd name="T67" fmla="*/ 11 h 211"/>
                  <a:gd name="T68" fmla="*/ 167 w 212"/>
                  <a:gd name="T69" fmla="*/ 19 h 211"/>
                  <a:gd name="T70" fmla="*/ 181 w 212"/>
                  <a:gd name="T71" fmla="*/ 31 h 211"/>
                  <a:gd name="T72" fmla="*/ 192 w 212"/>
                  <a:gd name="T73" fmla="*/ 45 h 211"/>
                  <a:gd name="T74" fmla="*/ 201 w 212"/>
                  <a:gd name="T75" fmla="*/ 59 h 211"/>
                  <a:gd name="T76" fmla="*/ 206 w 212"/>
                  <a:gd name="T77" fmla="*/ 73 h 211"/>
                  <a:gd name="T78" fmla="*/ 209 w 212"/>
                  <a:gd name="T79" fmla="*/ 90 h 211"/>
                  <a:gd name="T80" fmla="*/ 212 w 212"/>
                  <a:gd name="T81" fmla="*/ 107 h 211"/>
                  <a:gd name="T82" fmla="*/ 209 w 212"/>
                  <a:gd name="T83" fmla="*/ 104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124"/>
                    </a:lnTo>
                    <a:lnTo>
                      <a:pt x="206" y="141"/>
                    </a:lnTo>
                    <a:lnTo>
                      <a:pt x="201" y="155"/>
                    </a:lnTo>
                    <a:lnTo>
                      <a:pt x="192" y="169"/>
                    </a:lnTo>
                    <a:lnTo>
                      <a:pt x="181" y="180"/>
                    </a:lnTo>
                    <a:lnTo>
                      <a:pt x="167" y="192"/>
                    </a:lnTo>
                    <a:lnTo>
                      <a:pt x="155" y="200"/>
                    </a:lnTo>
                    <a:lnTo>
                      <a:pt x="138" y="206"/>
                    </a:lnTo>
                    <a:lnTo>
                      <a:pt x="122" y="211"/>
                    </a:lnTo>
                    <a:lnTo>
                      <a:pt x="105" y="211"/>
                    </a:lnTo>
                    <a:lnTo>
                      <a:pt x="88" y="211"/>
                    </a:lnTo>
                    <a:lnTo>
                      <a:pt x="71" y="206"/>
                    </a:lnTo>
                    <a:lnTo>
                      <a:pt x="57" y="200"/>
                    </a:lnTo>
                    <a:lnTo>
                      <a:pt x="42" y="192"/>
                    </a:lnTo>
                    <a:lnTo>
                      <a:pt x="31" y="180"/>
                    </a:lnTo>
                    <a:lnTo>
                      <a:pt x="20" y="169"/>
                    </a:lnTo>
                    <a:lnTo>
                      <a:pt x="11" y="155"/>
                    </a:lnTo>
                    <a:lnTo>
                      <a:pt x="6" y="141"/>
                    </a:lnTo>
                    <a:lnTo>
                      <a:pt x="0" y="124"/>
                    </a:lnTo>
                    <a:lnTo>
                      <a:pt x="0" y="107"/>
                    </a:lnTo>
                    <a:lnTo>
                      <a:pt x="0" y="90"/>
                    </a:lnTo>
                    <a:lnTo>
                      <a:pt x="6" y="73"/>
                    </a:lnTo>
                    <a:lnTo>
                      <a:pt x="11" y="59"/>
                    </a:lnTo>
                    <a:lnTo>
                      <a:pt x="20" y="45"/>
                    </a:lnTo>
                    <a:lnTo>
                      <a:pt x="31" y="31"/>
                    </a:lnTo>
                    <a:lnTo>
                      <a:pt x="42" y="19"/>
                    </a:lnTo>
                    <a:lnTo>
                      <a:pt x="57" y="11"/>
                    </a:lnTo>
                    <a:lnTo>
                      <a:pt x="71" y="5"/>
                    </a:lnTo>
                    <a:lnTo>
                      <a:pt x="88" y="3"/>
                    </a:lnTo>
                    <a:lnTo>
                      <a:pt x="105" y="0"/>
                    </a:lnTo>
                    <a:lnTo>
                      <a:pt x="122" y="3"/>
                    </a:lnTo>
                    <a:lnTo>
                      <a:pt x="138" y="5"/>
                    </a:lnTo>
                    <a:lnTo>
                      <a:pt x="155" y="11"/>
                    </a:lnTo>
                    <a:lnTo>
                      <a:pt x="167" y="19"/>
                    </a:lnTo>
                    <a:lnTo>
                      <a:pt x="181" y="31"/>
                    </a:lnTo>
                    <a:lnTo>
                      <a:pt x="192" y="45"/>
                    </a:lnTo>
                    <a:lnTo>
                      <a:pt x="201" y="59"/>
                    </a:lnTo>
                    <a:lnTo>
                      <a:pt x="206" y="73"/>
                    </a:lnTo>
                    <a:lnTo>
                      <a:pt x="209" y="90"/>
                    </a:lnTo>
                    <a:lnTo>
                      <a:pt x="212" y="107"/>
                    </a:lnTo>
                    <a:lnTo>
                      <a:pt x="209" y="1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801" name="Freeform 87"/>
              <p:cNvSpPr>
                <a:spLocks/>
              </p:cNvSpPr>
              <p:nvPr/>
            </p:nvSpPr>
            <p:spPr bwMode="auto">
              <a:xfrm>
                <a:off x="4704" y="1392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90 h 211"/>
                  <a:gd name="T4" fmla="*/ 206 w 212"/>
                  <a:gd name="T5" fmla="*/ 73 h 211"/>
                  <a:gd name="T6" fmla="*/ 201 w 212"/>
                  <a:gd name="T7" fmla="*/ 59 h 211"/>
                  <a:gd name="T8" fmla="*/ 192 w 212"/>
                  <a:gd name="T9" fmla="*/ 45 h 211"/>
                  <a:gd name="T10" fmla="*/ 181 w 212"/>
                  <a:gd name="T11" fmla="*/ 31 h 211"/>
                  <a:gd name="T12" fmla="*/ 167 w 212"/>
                  <a:gd name="T13" fmla="*/ 19 h 211"/>
                  <a:gd name="T14" fmla="*/ 155 w 212"/>
                  <a:gd name="T15" fmla="*/ 11 h 211"/>
                  <a:gd name="T16" fmla="*/ 138 w 212"/>
                  <a:gd name="T17" fmla="*/ 5 h 211"/>
                  <a:gd name="T18" fmla="*/ 122 w 212"/>
                  <a:gd name="T19" fmla="*/ 3 h 211"/>
                  <a:gd name="T20" fmla="*/ 105 w 212"/>
                  <a:gd name="T21" fmla="*/ 0 h 211"/>
                  <a:gd name="T22" fmla="*/ 88 w 212"/>
                  <a:gd name="T23" fmla="*/ 3 h 211"/>
                  <a:gd name="T24" fmla="*/ 71 w 212"/>
                  <a:gd name="T25" fmla="*/ 5 h 211"/>
                  <a:gd name="T26" fmla="*/ 57 w 212"/>
                  <a:gd name="T27" fmla="*/ 11 h 211"/>
                  <a:gd name="T28" fmla="*/ 42 w 212"/>
                  <a:gd name="T29" fmla="*/ 19 h 211"/>
                  <a:gd name="T30" fmla="*/ 31 w 212"/>
                  <a:gd name="T31" fmla="*/ 31 h 211"/>
                  <a:gd name="T32" fmla="*/ 20 w 212"/>
                  <a:gd name="T33" fmla="*/ 45 h 211"/>
                  <a:gd name="T34" fmla="*/ 11 w 212"/>
                  <a:gd name="T35" fmla="*/ 59 h 211"/>
                  <a:gd name="T36" fmla="*/ 6 w 212"/>
                  <a:gd name="T37" fmla="*/ 73 h 211"/>
                  <a:gd name="T38" fmla="*/ 0 w 212"/>
                  <a:gd name="T39" fmla="*/ 90 h 211"/>
                  <a:gd name="T40" fmla="*/ 0 w 212"/>
                  <a:gd name="T41" fmla="*/ 107 h 211"/>
                  <a:gd name="T42" fmla="*/ 0 w 212"/>
                  <a:gd name="T43" fmla="*/ 124 h 211"/>
                  <a:gd name="T44" fmla="*/ 6 w 212"/>
                  <a:gd name="T45" fmla="*/ 141 h 211"/>
                  <a:gd name="T46" fmla="*/ 11 w 212"/>
                  <a:gd name="T47" fmla="*/ 155 h 211"/>
                  <a:gd name="T48" fmla="*/ 20 w 212"/>
                  <a:gd name="T49" fmla="*/ 169 h 211"/>
                  <a:gd name="T50" fmla="*/ 31 w 212"/>
                  <a:gd name="T51" fmla="*/ 180 h 211"/>
                  <a:gd name="T52" fmla="*/ 42 w 212"/>
                  <a:gd name="T53" fmla="*/ 192 h 211"/>
                  <a:gd name="T54" fmla="*/ 57 w 212"/>
                  <a:gd name="T55" fmla="*/ 200 h 211"/>
                  <a:gd name="T56" fmla="*/ 71 w 212"/>
                  <a:gd name="T57" fmla="*/ 206 h 211"/>
                  <a:gd name="T58" fmla="*/ 88 w 212"/>
                  <a:gd name="T59" fmla="*/ 211 h 211"/>
                  <a:gd name="T60" fmla="*/ 105 w 212"/>
                  <a:gd name="T61" fmla="*/ 211 h 211"/>
                  <a:gd name="T62" fmla="*/ 122 w 212"/>
                  <a:gd name="T63" fmla="*/ 211 h 211"/>
                  <a:gd name="T64" fmla="*/ 138 w 212"/>
                  <a:gd name="T65" fmla="*/ 206 h 211"/>
                  <a:gd name="T66" fmla="*/ 155 w 212"/>
                  <a:gd name="T67" fmla="*/ 200 h 211"/>
                  <a:gd name="T68" fmla="*/ 167 w 212"/>
                  <a:gd name="T69" fmla="*/ 192 h 211"/>
                  <a:gd name="T70" fmla="*/ 181 w 212"/>
                  <a:gd name="T71" fmla="*/ 180 h 211"/>
                  <a:gd name="T72" fmla="*/ 192 w 212"/>
                  <a:gd name="T73" fmla="*/ 169 h 211"/>
                  <a:gd name="T74" fmla="*/ 201 w 212"/>
                  <a:gd name="T75" fmla="*/ 155 h 211"/>
                  <a:gd name="T76" fmla="*/ 206 w 212"/>
                  <a:gd name="T77" fmla="*/ 141 h 211"/>
                  <a:gd name="T78" fmla="*/ 209 w 212"/>
                  <a:gd name="T79" fmla="*/ 124 h 211"/>
                  <a:gd name="T80" fmla="*/ 212 w 212"/>
                  <a:gd name="T81" fmla="*/ 107 h 211"/>
                  <a:gd name="T82" fmla="*/ 212 w 212"/>
                  <a:gd name="T83" fmla="*/ 107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90"/>
                    </a:lnTo>
                    <a:lnTo>
                      <a:pt x="206" y="73"/>
                    </a:lnTo>
                    <a:lnTo>
                      <a:pt x="201" y="59"/>
                    </a:lnTo>
                    <a:lnTo>
                      <a:pt x="192" y="45"/>
                    </a:lnTo>
                    <a:lnTo>
                      <a:pt x="181" y="31"/>
                    </a:lnTo>
                    <a:lnTo>
                      <a:pt x="167" y="19"/>
                    </a:lnTo>
                    <a:lnTo>
                      <a:pt x="155" y="11"/>
                    </a:lnTo>
                    <a:lnTo>
                      <a:pt x="138" y="5"/>
                    </a:lnTo>
                    <a:lnTo>
                      <a:pt x="122" y="3"/>
                    </a:lnTo>
                    <a:lnTo>
                      <a:pt x="105" y="0"/>
                    </a:lnTo>
                    <a:lnTo>
                      <a:pt x="88" y="3"/>
                    </a:lnTo>
                    <a:lnTo>
                      <a:pt x="71" y="5"/>
                    </a:lnTo>
                    <a:lnTo>
                      <a:pt x="57" y="11"/>
                    </a:lnTo>
                    <a:lnTo>
                      <a:pt x="42" y="19"/>
                    </a:lnTo>
                    <a:lnTo>
                      <a:pt x="31" y="31"/>
                    </a:lnTo>
                    <a:lnTo>
                      <a:pt x="20" y="45"/>
                    </a:lnTo>
                    <a:lnTo>
                      <a:pt x="11" y="59"/>
                    </a:lnTo>
                    <a:lnTo>
                      <a:pt x="6" y="73"/>
                    </a:lnTo>
                    <a:lnTo>
                      <a:pt x="0" y="90"/>
                    </a:lnTo>
                    <a:lnTo>
                      <a:pt x="0" y="107"/>
                    </a:lnTo>
                    <a:lnTo>
                      <a:pt x="0" y="124"/>
                    </a:lnTo>
                    <a:lnTo>
                      <a:pt x="6" y="141"/>
                    </a:lnTo>
                    <a:lnTo>
                      <a:pt x="11" y="155"/>
                    </a:lnTo>
                    <a:lnTo>
                      <a:pt x="20" y="169"/>
                    </a:lnTo>
                    <a:lnTo>
                      <a:pt x="31" y="180"/>
                    </a:lnTo>
                    <a:lnTo>
                      <a:pt x="42" y="192"/>
                    </a:lnTo>
                    <a:lnTo>
                      <a:pt x="57" y="200"/>
                    </a:lnTo>
                    <a:lnTo>
                      <a:pt x="71" y="206"/>
                    </a:lnTo>
                    <a:lnTo>
                      <a:pt x="88" y="211"/>
                    </a:lnTo>
                    <a:lnTo>
                      <a:pt x="105" y="211"/>
                    </a:lnTo>
                    <a:lnTo>
                      <a:pt x="122" y="211"/>
                    </a:lnTo>
                    <a:lnTo>
                      <a:pt x="138" y="206"/>
                    </a:lnTo>
                    <a:lnTo>
                      <a:pt x="155" y="200"/>
                    </a:lnTo>
                    <a:lnTo>
                      <a:pt x="167" y="192"/>
                    </a:lnTo>
                    <a:lnTo>
                      <a:pt x="181" y="180"/>
                    </a:lnTo>
                    <a:lnTo>
                      <a:pt x="192" y="169"/>
                    </a:lnTo>
                    <a:lnTo>
                      <a:pt x="201" y="155"/>
                    </a:lnTo>
                    <a:lnTo>
                      <a:pt x="206" y="141"/>
                    </a:lnTo>
                    <a:lnTo>
                      <a:pt x="209" y="124"/>
                    </a:lnTo>
                    <a:lnTo>
                      <a:pt x="212" y="10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802" name="Rectangle 88"/>
              <p:cNvSpPr>
                <a:spLocks noChangeArrowheads="1"/>
              </p:cNvSpPr>
              <p:nvPr/>
            </p:nvSpPr>
            <p:spPr bwMode="auto">
              <a:xfrm>
                <a:off x="4800" y="1440"/>
                <a:ext cx="53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</a:rPr>
                  <a:t>3</a:t>
                </a:r>
                <a:endParaRPr lang="en-US" b="1"/>
              </a:p>
            </p:txBody>
          </p:sp>
        </p:grpSp>
        <p:grpSp>
          <p:nvGrpSpPr>
            <p:cNvPr id="31797" name="Group 89"/>
            <p:cNvGrpSpPr>
              <a:grpSpLocks/>
            </p:cNvGrpSpPr>
            <p:nvPr/>
          </p:nvGrpSpPr>
          <p:grpSpPr bwMode="auto">
            <a:xfrm>
              <a:off x="4224" y="1584"/>
              <a:ext cx="295" cy="173"/>
              <a:chOff x="4390" y="1234"/>
              <a:chExt cx="295" cy="173"/>
            </a:xfrm>
          </p:grpSpPr>
          <p:sp>
            <p:nvSpPr>
              <p:cNvPr id="31798" name="Rectangle 90"/>
              <p:cNvSpPr>
                <a:spLocks noChangeArrowheads="1"/>
              </p:cNvSpPr>
              <p:nvPr/>
            </p:nvSpPr>
            <p:spPr bwMode="auto">
              <a:xfrm>
                <a:off x="4390" y="1234"/>
                <a:ext cx="8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114FFB"/>
                    </a:solidFill>
                  </a:rPr>
                  <a:t>u</a:t>
                </a:r>
                <a:endParaRPr lang="en-US" sz="2000" b="1">
                  <a:solidFill>
                    <a:srgbClr val="114FFB"/>
                  </a:solidFill>
                </a:endParaRPr>
              </a:p>
            </p:txBody>
          </p:sp>
          <p:sp>
            <p:nvSpPr>
              <p:cNvPr id="31799" name="Rectangle 91"/>
              <p:cNvSpPr>
                <a:spLocks noChangeArrowheads="1"/>
              </p:cNvSpPr>
              <p:nvPr/>
            </p:nvSpPr>
            <p:spPr bwMode="auto">
              <a:xfrm>
                <a:off x="4441" y="1234"/>
                <a:ext cx="24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114FFB"/>
                    </a:solidFill>
                  </a:rPr>
                  <a:t> = 7</a:t>
                </a:r>
                <a:endParaRPr lang="en-US" sz="2000" b="1">
                  <a:solidFill>
                    <a:srgbClr val="114FFB"/>
                  </a:solidFill>
                </a:endParaRPr>
              </a:p>
            </p:txBody>
          </p:sp>
        </p:grpSp>
      </p:grpSp>
      <p:sp>
        <p:nvSpPr>
          <p:cNvPr id="31790" name="Slide Number Placeholder 9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3941E2-5054-4926-ACF1-F8950A2CFF14}" type="slidenum">
              <a:rPr lang="en-US" smtClean="0"/>
              <a:pPr/>
              <a:t>27</a:t>
            </a:fld>
            <a:r>
              <a:rPr lang="en-US"/>
              <a:t> 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85800" y="4621213"/>
            <a:ext cx="8099425" cy="163195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82" grpId="0" animBg="1"/>
      <p:bldP spid="31783" grpId="0" animBg="1"/>
      <p:bldP spid="9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-65" charset="0"/>
                <a:ea typeface="Arial" pitchFamily="-65" charset="0"/>
                <a:cs typeface="Arial" pitchFamily="-65" charset="0"/>
              </a:rPr>
              <a:t>Cache Coherence Example</a:t>
            </a:r>
            <a:endParaRPr lang="en-US" sz="1400" dirty="0">
              <a:solidFill>
                <a:schemeClr val="bg2"/>
              </a:solidFill>
              <a:latin typeface="Arial" pitchFamily="-65" charset="0"/>
              <a:ea typeface="Arial" pitchFamily="-65" charset="0"/>
              <a:cs typeface="Arial" pitchFamily="-65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4749800"/>
            <a:ext cx="7745413" cy="1371600"/>
          </a:xfrm>
        </p:spPr>
        <p:txBody>
          <a:bodyPr/>
          <a:lstStyle/>
          <a:p>
            <a:pPr marL="285750" indent="-285750" eaLnBrk="1" hangingPunct="1">
              <a:lnSpc>
                <a:spcPct val="90000"/>
              </a:lnSpc>
            </a:pPr>
            <a:r>
              <a:rPr lang="en-US" sz="2400" dirty="0">
                <a:latin typeface="Arial" pitchFamily="-65" charset="0"/>
                <a:ea typeface="Arial" pitchFamily="-65" charset="0"/>
                <a:cs typeface="Arial" pitchFamily="-65" charset="0"/>
              </a:rPr>
              <a:t>Must </a:t>
            </a:r>
            <a:r>
              <a:rPr lang="en-US" sz="2400" u="sng" dirty="0">
                <a:solidFill>
                  <a:srgbClr val="FF0000"/>
                </a:solidFill>
                <a:latin typeface="Arial" pitchFamily="-65" charset="0"/>
                <a:ea typeface="Arial" pitchFamily="-65" charset="0"/>
                <a:cs typeface="Arial" pitchFamily="-65" charset="0"/>
              </a:rPr>
              <a:t>invalidate</a:t>
            </a:r>
            <a:r>
              <a:rPr lang="en-US" sz="2400" dirty="0">
                <a:solidFill>
                  <a:srgbClr val="FF0000"/>
                </a:solidFill>
                <a:latin typeface="Arial" pitchFamily="-65" charset="0"/>
                <a:ea typeface="Arial" pitchFamily="-65" charset="0"/>
                <a:cs typeface="Arial" pitchFamily="-65" charset="0"/>
              </a:rPr>
              <a:t> </a:t>
            </a:r>
            <a:r>
              <a:rPr lang="en-US" sz="2400" dirty="0">
                <a:latin typeface="Arial" pitchFamily="-65" charset="0"/>
                <a:ea typeface="Arial" pitchFamily="-65" charset="0"/>
                <a:cs typeface="Arial" pitchFamily="-65" charset="0"/>
              </a:rPr>
              <a:t>before step 3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1765300" y="3195638"/>
            <a:ext cx="5378450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328453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438400" y="3505200"/>
            <a:ext cx="1681163" cy="1008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438400" y="3530600"/>
            <a:ext cx="1681163" cy="1008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799138" y="3608388"/>
            <a:ext cx="7620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I/O devices</a:t>
            </a:r>
            <a:endParaRPr lang="en-US" b="1"/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3011488" y="4302125"/>
            <a:ext cx="5492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Memory</a:t>
            </a:r>
            <a:endParaRPr lang="en-US" b="1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2271713" y="2859088"/>
            <a:ext cx="1587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2271713" y="2020888"/>
            <a:ext cx="1587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4" name="Freeform 12"/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1" y="361"/>
                </a:lnTo>
                <a:lnTo>
                  <a:pt x="336" y="381"/>
                </a:lnTo>
                <a:lnTo>
                  <a:pt x="307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7" y="381"/>
                </a:lnTo>
                <a:lnTo>
                  <a:pt x="62" y="361"/>
                </a:lnTo>
                <a:lnTo>
                  <a:pt x="39" y="336"/>
                </a:lnTo>
                <a:lnTo>
                  <a:pt x="22" y="307"/>
                </a:lnTo>
                <a:lnTo>
                  <a:pt x="11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1" y="144"/>
                </a:lnTo>
                <a:lnTo>
                  <a:pt x="22" y="113"/>
                </a:lnTo>
                <a:lnTo>
                  <a:pt x="39" y="85"/>
                </a:lnTo>
                <a:lnTo>
                  <a:pt x="62" y="62"/>
                </a:lnTo>
                <a:lnTo>
                  <a:pt x="87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07" y="22"/>
                </a:lnTo>
                <a:lnTo>
                  <a:pt x="336" y="39"/>
                </a:lnTo>
                <a:lnTo>
                  <a:pt x="361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0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5" name="Freeform 13"/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1" y="62"/>
                </a:lnTo>
                <a:lnTo>
                  <a:pt x="336" y="39"/>
                </a:lnTo>
                <a:lnTo>
                  <a:pt x="307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7" y="39"/>
                </a:lnTo>
                <a:lnTo>
                  <a:pt x="62" y="62"/>
                </a:lnTo>
                <a:lnTo>
                  <a:pt x="39" y="85"/>
                </a:lnTo>
                <a:lnTo>
                  <a:pt x="22" y="113"/>
                </a:lnTo>
                <a:lnTo>
                  <a:pt x="11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1" y="276"/>
                </a:lnTo>
                <a:lnTo>
                  <a:pt x="22" y="307"/>
                </a:lnTo>
                <a:lnTo>
                  <a:pt x="39" y="336"/>
                </a:lnTo>
                <a:lnTo>
                  <a:pt x="62" y="361"/>
                </a:lnTo>
                <a:lnTo>
                  <a:pt x="87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07" y="398"/>
                </a:lnTo>
                <a:lnTo>
                  <a:pt x="336" y="381"/>
                </a:lnTo>
                <a:lnTo>
                  <a:pt x="361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2178050" y="1597025"/>
            <a:ext cx="1016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2249488" y="16589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1</a:t>
            </a:r>
            <a:endParaRPr lang="en-US" b="1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2219325" y="2278063"/>
            <a:ext cx="8413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613568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4454525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>
            <a:off x="4454525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4" name="Freeform 22"/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245"/>
                </a:lnTo>
                <a:lnTo>
                  <a:pt x="412" y="276"/>
                </a:lnTo>
                <a:lnTo>
                  <a:pt x="400" y="307"/>
                </a:lnTo>
                <a:lnTo>
                  <a:pt x="384" y="336"/>
                </a:lnTo>
                <a:lnTo>
                  <a:pt x="361" y="361"/>
                </a:lnTo>
                <a:lnTo>
                  <a:pt x="338" y="381"/>
                </a:lnTo>
                <a:lnTo>
                  <a:pt x="310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7" y="420"/>
                </a:lnTo>
                <a:lnTo>
                  <a:pt x="146" y="412"/>
                </a:lnTo>
                <a:lnTo>
                  <a:pt x="115" y="398"/>
                </a:lnTo>
                <a:lnTo>
                  <a:pt x="87" y="381"/>
                </a:lnTo>
                <a:lnTo>
                  <a:pt x="62" y="361"/>
                </a:lnTo>
                <a:lnTo>
                  <a:pt x="42" y="336"/>
                </a:lnTo>
                <a:lnTo>
                  <a:pt x="25" y="307"/>
                </a:lnTo>
                <a:lnTo>
                  <a:pt x="11" y="276"/>
                </a:lnTo>
                <a:lnTo>
                  <a:pt x="2" y="245"/>
                </a:lnTo>
                <a:lnTo>
                  <a:pt x="0" y="212"/>
                </a:lnTo>
                <a:lnTo>
                  <a:pt x="2" y="178"/>
                </a:lnTo>
                <a:lnTo>
                  <a:pt x="11" y="144"/>
                </a:lnTo>
                <a:lnTo>
                  <a:pt x="25" y="113"/>
                </a:lnTo>
                <a:lnTo>
                  <a:pt x="42" y="85"/>
                </a:lnTo>
                <a:lnTo>
                  <a:pt x="62" y="62"/>
                </a:lnTo>
                <a:lnTo>
                  <a:pt x="87" y="39"/>
                </a:lnTo>
                <a:lnTo>
                  <a:pt x="115" y="22"/>
                </a:lnTo>
                <a:lnTo>
                  <a:pt x="146" y="11"/>
                </a:lnTo>
                <a:lnTo>
                  <a:pt x="177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10" y="22"/>
                </a:lnTo>
                <a:lnTo>
                  <a:pt x="338" y="39"/>
                </a:lnTo>
                <a:lnTo>
                  <a:pt x="361" y="62"/>
                </a:lnTo>
                <a:lnTo>
                  <a:pt x="384" y="85"/>
                </a:lnTo>
                <a:lnTo>
                  <a:pt x="400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3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5" name="Freeform 23"/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178"/>
                </a:lnTo>
                <a:lnTo>
                  <a:pt x="412" y="144"/>
                </a:lnTo>
                <a:lnTo>
                  <a:pt x="400" y="113"/>
                </a:lnTo>
                <a:lnTo>
                  <a:pt x="384" y="85"/>
                </a:lnTo>
                <a:lnTo>
                  <a:pt x="361" y="62"/>
                </a:lnTo>
                <a:lnTo>
                  <a:pt x="338" y="39"/>
                </a:lnTo>
                <a:lnTo>
                  <a:pt x="310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7" y="3"/>
                </a:lnTo>
                <a:lnTo>
                  <a:pt x="146" y="11"/>
                </a:lnTo>
                <a:lnTo>
                  <a:pt x="115" y="22"/>
                </a:lnTo>
                <a:lnTo>
                  <a:pt x="87" y="39"/>
                </a:lnTo>
                <a:lnTo>
                  <a:pt x="62" y="62"/>
                </a:lnTo>
                <a:lnTo>
                  <a:pt x="42" y="85"/>
                </a:lnTo>
                <a:lnTo>
                  <a:pt x="25" y="113"/>
                </a:lnTo>
                <a:lnTo>
                  <a:pt x="11" y="144"/>
                </a:lnTo>
                <a:lnTo>
                  <a:pt x="2" y="178"/>
                </a:lnTo>
                <a:lnTo>
                  <a:pt x="0" y="212"/>
                </a:lnTo>
                <a:lnTo>
                  <a:pt x="2" y="245"/>
                </a:lnTo>
                <a:lnTo>
                  <a:pt x="11" y="276"/>
                </a:lnTo>
                <a:lnTo>
                  <a:pt x="25" y="307"/>
                </a:lnTo>
                <a:lnTo>
                  <a:pt x="42" y="336"/>
                </a:lnTo>
                <a:lnTo>
                  <a:pt x="62" y="361"/>
                </a:lnTo>
                <a:lnTo>
                  <a:pt x="87" y="381"/>
                </a:lnTo>
                <a:lnTo>
                  <a:pt x="115" y="398"/>
                </a:lnTo>
                <a:lnTo>
                  <a:pt x="146" y="412"/>
                </a:lnTo>
                <a:lnTo>
                  <a:pt x="177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10" y="398"/>
                </a:lnTo>
                <a:lnTo>
                  <a:pt x="338" y="381"/>
                </a:lnTo>
                <a:lnTo>
                  <a:pt x="361" y="361"/>
                </a:lnTo>
                <a:lnTo>
                  <a:pt x="384" y="336"/>
                </a:lnTo>
                <a:lnTo>
                  <a:pt x="400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>
            <a:off x="4432300" y="2278063"/>
            <a:ext cx="8413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>
            <a:off x="6642100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0" name="Line 28"/>
          <p:cNvSpPr>
            <a:spLocks noChangeShapeType="1"/>
          </p:cNvSpPr>
          <p:nvPr/>
        </p:nvSpPr>
        <p:spPr bwMode="auto">
          <a:xfrm>
            <a:off x="6642100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1" name="Freeform 29"/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2147483647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0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2" y="361"/>
                </a:lnTo>
                <a:lnTo>
                  <a:pt x="336" y="381"/>
                </a:lnTo>
                <a:lnTo>
                  <a:pt x="308" y="398"/>
                </a:lnTo>
                <a:lnTo>
                  <a:pt x="280" y="412"/>
                </a:lnTo>
                <a:lnTo>
                  <a:pt x="246" y="420"/>
                </a:lnTo>
                <a:lnTo>
                  <a:pt x="212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8" y="381"/>
                </a:lnTo>
                <a:lnTo>
                  <a:pt x="62" y="361"/>
                </a:lnTo>
                <a:lnTo>
                  <a:pt x="40" y="336"/>
                </a:lnTo>
                <a:lnTo>
                  <a:pt x="23" y="307"/>
                </a:lnTo>
                <a:lnTo>
                  <a:pt x="12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2" y="144"/>
                </a:lnTo>
                <a:lnTo>
                  <a:pt x="23" y="113"/>
                </a:lnTo>
                <a:lnTo>
                  <a:pt x="40" y="85"/>
                </a:lnTo>
                <a:lnTo>
                  <a:pt x="62" y="62"/>
                </a:lnTo>
                <a:lnTo>
                  <a:pt x="88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2" y="0"/>
                </a:lnTo>
                <a:lnTo>
                  <a:pt x="246" y="3"/>
                </a:lnTo>
                <a:lnTo>
                  <a:pt x="280" y="11"/>
                </a:lnTo>
                <a:lnTo>
                  <a:pt x="308" y="22"/>
                </a:lnTo>
                <a:lnTo>
                  <a:pt x="336" y="39"/>
                </a:lnTo>
                <a:lnTo>
                  <a:pt x="362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1" y="178"/>
                </a:lnTo>
                <a:lnTo>
                  <a:pt x="424" y="212"/>
                </a:lnTo>
                <a:lnTo>
                  <a:pt x="421" y="209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2" name="Freeform 30"/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0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2147483647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2" y="62"/>
                </a:lnTo>
                <a:lnTo>
                  <a:pt x="336" y="39"/>
                </a:lnTo>
                <a:lnTo>
                  <a:pt x="308" y="22"/>
                </a:lnTo>
                <a:lnTo>
                  <a:pt x="280" y="11"/>
                </a:lnTo>
                <a:lnTo>
                  <a:pt x="246" y="3"/>
                </a:lnTo>
                <a:lnTo>
                  <a:pt x="212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8" y="39"/>
                </a:lnTo>
                <a:lnTo>
                  <a:pt x="62" y="62"/>
                </a:lnTo>
                <a:lnTo>
                  <a:pt x="40" y="85"/>
                </a:lnTo>
                <a:lnTo>
                  <a:pt x="23" y="113"/>
                </a:lnTo>
                <a:lnTo>
                  <a:pt x="12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2" y="276"/>
                </a:lnTo>
                <a:lnTo>
                  <a:pt x="23" y="307"/>
                </a:lnTo>
                <a:lnTo>
                  <a:pt x="40" y="336"/>
                </a:lnTo>
                <a:lnTo>
                  <a:pt x="62" y="361"/>
                </a:lnTo>
                <a:lnTo>
                  <a:pt x="88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2" y="423"/>
                </a:lnTo>
                <a:lnTo>
                  <a:pt x="246" y="420"/>
                </a:lnTo>
                <a:lnTo>
                  <a:pt x="280" y="412"/>
                </a:lnTo>
                <a:lnTo>
                  <a:pt x="308" y="398"/>
                </a:lnTo>
                <a:lnTo>
                  <a:pt x="336" y="381"/>
                </a:lnTo>
                <a:lnTo>
                  <a:pt x="362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1" y="245"/>
                </a:lnTo>
                <a:lnTo>
                  <a:pt x="424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6172200" y="2209800"/>
            <a:ext cx="1008063" cy="67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4" name="Rectangle 32"/>
          <p:cNvSpPr>
            <a:spLocks noChangeArrowheads="1"/>
          </p:cNvSpPr>
          <p:nvPr/>
        </p:nvSpPr>
        <p:spPr bwMode="auto">
          <a:xfrm>
            <a:off x="6135688" y="2187575"/>
            <a:ext cx="1008062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6588125" y="2251075"/>
            <a:ext cx="841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$</a:t>
            </a:r>
            <a:endParaRPr lang="en-US" b="1"/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4373563" y="1582738"/>
            <a:ext cx="1016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4449763" y="16462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2</a:t>
            </a:r>
            <a:endParaRPr lang="en-US" b="1"/>
          </a:p>
        </p:txBody>
      </p:sp>
      <p:sp>
        <p:nvSpPr>
          <p:cNvPr id="18468" name="Rectangle 36"/>
          <p:cNvSpPr>
            <a:spLocks noChangeArrowheads="1"/>
          </p:cNvSpPr>
          <p:nvPr/>
        </p:nvSpPr>
        <p:spPr bwMode="auto">
          <a:xfrm>
            <a:off x="6534150" y="1597025"/>
            <a:ext cx="1016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P</a:t>
            </a:r>
            <a:endParaRPr lang="en-US" b="1"/>
          </a:p>
        </p:txBody>
      </p:sp>
      <p:sp>
        <p:nvSpPr>
          <p:cNvPr id="18469" name="Rectangle 37"/>
          <p:cNvSpPr>
            <a:spLocks noChangeArrowheads="1"/>
          </p:cNvSpPr>
          <p:nvPr/>
        </p:nvSpPr>
        <p:spPr bwMode="auto">
          <a:xfrm>
            <a:off x="6605588" y="1658938"/>
            <a:ext cx="698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3</a:t>
            </a:r>
            <a:endParaRPr lang="en-US" b="1"/>
          </a:p>
        </p:txBody>
      </p:sp>
      <p:sp>
        <p:nvSpPr>
          <p:cNvPr id="18470" name="Freeform 38"/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6" y="87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71" name="Freeform 39"/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3" y="8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572000" y="1828800"/>
            <a:ext cx="528638" cy="1244600"/>
            <a:chOff x="2888" y="1155"/>
            <a:chExt cx="333" cy="784"/>
          </a:xfrm>
        </p:grpSpPr>
        <p:sp>
          <p:nvSpPr>
            <p:cNvPr id="18524" name="Freeform 41"/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124 h 211"/>
                <a:gd name="T4" fmla="*/ 206 w 211"/>
                <a:gd name="T5" fmla="*/ 141 h 211"/>
                <a:gd name="T6" fmla="*/ 200 w 211"/>
                <a:gd name="T7" fmla="*/ 155 h 211"/>
                <a:gd name="T8" fmla="*/ 192 w 211"/>
                <a:gd name="T9" fmla="*/ 169 h 211"/>
                <a:gd name="T10" fmla="*/ 180 w 211"/>
                <a:gd name="T11" fmla="*/ 180 h 211"/>
                <a:gd name="T12" fmla="*/ 169 w 211"/>
                <a:gd name="T13" fmla="*/ 192 h 211"/>
                <a:gd name="T14" fmla="*/ 155 w 211"/>
                <a:gd name="T15" fmla="*/ 200 h 211"/>
                <a:gd name="T16" fmla="*/ 141 w 211"/>
                <a:gd name="T17" fmla="*/ 206 h 211"/>
                <a:gd name="T18" fmla="*/ 124 w 211"/>
                <a:gd name="T19" fmla="*/ 211 h 211"/>
                <a:gd name="T20" fmla="*/ 107 w 211"/>
                <a:gd name="T21" fmla="*/ 211 h 211"/>
                <a:gd name="T22" fmla="*/ 90 w 211"/>
                <a:gd name="T23" fmla="*/ 211 h 211"/>
                <a:gd name="T24" fmla="*/ 73 w 211"/>
                <a:gd name="T25" fmla="*/ 206 h 211"/>
                <a:gd name="T26" fmla="*/ 59 w 211"/>
                <a:gd name="T27" fmla="*/ 200 h 211"/>
                <a:gd name="T28" fmla="*/ 45 w 211"/>
                <a:gd name="T29" fmla="*/ 192 h 211"/>
                <a:gd name="T30" fmla="*/ 31 w 211"/>
                <a:gd name="T31" fmla="*/ 180 h 211"/>
                <a:gd name="T32" fmla="*/ 22 w 211"/>
                <a:gd name="T33" fmla="*/ 169 h 211"/>
                <a:gd name="T34" fmla="*/ 14 w 211"/>
                <a:gd name="T35" fmla="*/ 155 h 211"/>
                <a:gd name="T36" fmla="*/ 5 w 211"/>
                <a:gd name="T37" fmla="*/ 141 h 211"/>
                <a:gd name="T38" fmla="*/ 2 w 211"/>
                <a:gd name="T39" fmla="*/ 124 h 211"/>
                <a:gd name="T40" fmla="*/ 0 w 211"/>
                <a:gd name="T41" fmla="*/ 107 h 211"/>
                <a:gd name="T42" fmla="*/ 2 w 211"/>
                <a:gd name="T43" fmla="*/ 90 h 211"/>
                <a:gd name="T44" fmla="*/ 5 w 211"/>
                <a:gd name="T45" fmla="*/ 73 h 211"/>
                <a:gd name="T46" fmla="*/ 14 w 211"/>
                <a:gd name="T47" fmla="*/ 59 h 211"/>
                <a:gd name="T48" fmla="*/ 22 w 211"/>
                <a:gd name="T49" fmla="*/ 45 h 211"/>
                <a:gd name="T50" fmla="*/ 31 w 211"/>
                <a:gd name="T51" fmla="*/ 31 h 211"/>
                <a:gd name="T52" fmla="*/ 45 w 211"/>
                <a:gd name="T53" fmla="*/ 19 h 211"/>
                <a:gd name="T54" fmla="*/ 59 w 211"/>
                <a:gd name="T55" fmla="*/ 11 h 211"/>
                <a:gd name="T56" fmla="*/ 73 w 211"/>
                <a:gd name="T57" fmla="*/ 5 h 211"/>
                <a:gd name="T58" fmla="*/ 90 w 211"/>
                <a:gd name="T59" fmla="*/ 3 h 211"/>
                <a:gd name="T60" fmla="*/ 107 w 211"/>
                <a:gd name="T61" fmla="*/ 0 h 211"/>
                <a:gd name="T62" fmla="*/ 124 w 211"/>
                <a:gd name="T63" fmla="*/ 3 h 211"/>
                <a:gd name="T64" fmla="*/ 141 w 211"/>
                <a:gd name="T65" fmla="*/ 5 h 211"/>
                <a:gd name="T66" fmla="*/ 155 w 211"/>
                <a:gd name="T67" fmla="*/ 11 h 211"/>
                <a:gd name="T68" fmla="*/ 169 w 211"/>
                <a:gd name="T69" fmla="*/ 19 h 211"/>
                <a:gd name="T70" fmla="*/ 180 w 211"/>
                <a:gd name="T71" fmla="*/ 31 h 211"/>
                <a:gd name="T72" fmla="*/ 192 w 211"/>
                <a:gd name="T73" fmla="*/ 45 h 211"/>
                <a:gd name="T74" fmla="*/ 200 w 211"/>
                <a:gd name="T75" fmla="*/ 59 h 211"/>
                <a:gd name="T76" fmla="*/ 206 w 211"/>
                <a:gd name="T77" fmla="*/ 73 h 211"/>
                <a:gd name="T78" fmla="*/ 211 w 211"/>
                <a:gd name="T79" fmla="*/ 90 h 211"/>
                <a:gd name="T80" fmla="*/ 211 w 211"/>
                <a:gd name="T81" fmla="*/ 107 h 211"/>
                <a:gd name="T82" fmla="*/ 211 w 211"/>
                <a:gd name="T83" fmla="*/ 104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124"/>
                  </a:lnTo>
                  <a:lnTo>
                    <a:pt x="206" y="141"/>
                  </a:lnTo>
                  <a:lnTo>
                    <a:pt x="200" y="155"/>
                  </a:lnTo>
                  <a:lnTo>
                    <a:pt x="192" y="169"/>
                  </a:lnTo>
                  <a:lnTo>
                    <a:pt x="180" y="180"/>
                  </a:lnTo>
                  <a:lnTo>
                    <a:pt x="169" y="192"/>
                  </a:lnTo>
                  <a:lnTo>
                    <a:pt x="155" y="200"/>
                  </a:lnTo>
                  <a:lnTo>
                    <a:pt x="141" y="206"/>
                  </a:lnTo>
                  <a:lnTo>
                    <a:pt x="124" y="211"/>
                  </a:lnTo>
                  <a:lnTo>
                    <a:pt x="107" y="211"/>
                  </a:lnTo>
                  <a:lnTo>
                    <a:pt x="90" y="211"/>
                  </a:lnTo>
                  <a:lnTo>
                    <a:pt x="73" y="206"/>
                  </a:lnTo>
                  <a:lnTo>
                    <a:pt x="59" y="200"/>
                  </a:lnTo>
                  <a:lnTo>
                    <a:pt x="45" y="192"/>
                  </a:lnTo>
                  <a:lnTo>
                    <a:pt x="31" y="180"/>
                  </a:lnTo>
                  <a:lnTo>
                    <a:pt x="22" y="169"/>
                  </a:lnTo>
                  <a:lnTo>
                    <a:pt x="14" y="155"/>
                  </a:lnTo>
                  <a:lnTo>
                    <a:pt x="5" y="141"/>
                  </a:lnTo>
                  <a:lnTo>
                    <a:pt x="2" y="124"/>
                  </a:lnTo>
                  <a:lnTo>
                    <a:pt x="0" y="107"/>
                  </a:lnTo>
                  <a:lnTo>
                    <a:pt x="2" y="90"/>
                  </a:lnTo>
                  <a:lnTo>
                    <a:pt x="5" y="73"/>
                  </a:lnTo>
                  <a:lnTo>
                    <a:pt x="14" y="59"/>
                  </a:lnTo>
                  <a:lnTo>
                    <a:pt x="22" y="45"/>
                  </a:lnTo>
                  <a:lnTo>
                    <a:pt x="31" y="31"/>
                  </a:lnTo>
                  <a:lnTo>
                    <a:pt x="45" y="19"/>
                  </a:lnTo>
                  <a:lnTo>
                    <a:pt x="59" y="11"/>
                  </a:lnTo>
                  <a:lnTo>
                    <a:pt x="73" y="5"/>
                  </a:lnTo>
                  <a:lnTo>
                    <a:pt x="90" y="3"/>
                  </a:lnTo>
                  <a:lnTo>
                    <a:pt x="107" y="0"/>
                  </a:lnTo>
                  <a:lnTo>
                    <a:pt x="124" y="3"/>
                  </a:lnTo>
                  <a:lnTo>
                    <a:pt x="141" y="5"/>
                  </a:lnTo>
                  <a:lnTo>
                    <a:pt x="155" y="11"/>
                  </a:lnTo>
                  <a:lnTo>
                    <a:pt x="169" y="19"/>
                  </a:lnTo>
                  <a:lnTo>
                    <a:pt x="180" y="31"/>
                  </a:lnTo>
                  <a:lnTo>
                    <a:pt x="192" y="45"/>
                  </a:lnTo>
                  <a:lnTo>
                    <a:pt x="200" y="59"/>
                  </a:lnTo>
                  <a:lnTo>
                    <a:pt x="206" y="73"/>
                  </a:lnTo>
                  <a:lnTo>
                    <a:pt x="211" y="90"/>
                  </a:lnTo>
                  <a:lnTo>
                    <a:pt x="211" y="107"/>
                  </a:lnTo>
                  <a:lnTo>
                    <a:pt x="211" y="104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5" name="Freeform 42"/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90 h 211"/>
                <a:gd name="T4" fmla="*/ 206 w 211"/>
                <a:gd name="T5" fmla="*/ 73 h 211"/>
                <a:gd name="T6" fmla="*/ 200 w 211"/>
                <a:gd name="T7" fmla="*/ 59 h 211"/>
                <a:gd name="T8" fmla="*/ 192 w 211"/>
                <a:gd name="T9" fmla="*/ 45 h 211"/>
                <a:gd name="T10" fmla="*/ 180 w 211"/>
                <a:gd name="T11" fmla="*/ 31 h 211"/>
                <a:gd name="T12" fmla="*/ 169 w 211"/>
                <a:gd name="T13" fmla="*/ 19 h 211"/>
                <a:gd name="T14" fmla="*/ 155 w 211"/>
                <a:gd name="T15" fmla="*/ 11 h 211"/>
                <a:gd name="T16" fmla="*/ 141 w 211"/>
                <a:gd name="T17" fmla="*/ 5 h 211"/>
                <a:gd name="T18" fmla="*/ 124 w 211"/>
                <a:gd name="T19" fmla="*/ 3 h 211"/>
                <a:gd name="T20" fmla="*/ 107 w 211"/>
                <a:gd name="T21" fmla="*/ 0 h 211"/>
                <a:gd name="T22" fmla="*/ 90 w 211"/>
                <a:gd name="T23" fmla="*/ 3 h 211"/>
                <a:gd name="T24" fmla="*/ 73 w 211"/>
                <a:gd name="T25" fmla="*/ 5 h 211"/>
                <a:gd name="T26" fmla="*/ 59 w 211"/>
                <a:gd name="T27" fmla="*/ 11 h 211"/>
                <a:gd name="T28" fmla="*/ 45 w 211"/>
                <a:gd name="T29" fmla="*/ 19 h 211"/>
                <a:gd name="T30" fmla="*/ 31 w 211"/>
                <a:gd name="T31" fmla="*/ 31 h 211"/>
                <a:gd name="T32" fmla="*/ 22 w 211"/>
                <a:gd name="T33" fmla="*/ 45 h 211"/>
                <a:gd name="T34" fmla="*/ 14 w 211"/>
                <a:gd name="T35" fmla="*/ 59 h 211"/>
                <a:gd name="T36" fmla="*/ 5 w 211"/>
                <a:gd name="T37" fmla="*/ 73 h 211"/>
                <a:gd name="T38" fmla="*/ 2 w 211"/>
                <a:gd name="T39" fmla="*/ 90 h 211"/>
                <a:gd name="T40" fmla="*/ 0 w 211"/>
                <a:gd name="T41" fmla="*/ 107 h 211"/>
                <a:gd name="T42" fmla="*/ 2 w 211"/>
                <a:gd name="T43" fmla="*/ 124 h 211"/>
                <a:gd name="T44" fmla="*/ 5 w 211"/>
                <a:gd name="T45" fmla="*/ 141 h 211"/>
                <a:gd name="T46" fmla="*/ 14 w 211"/>
                <a:gd name="T47" fmla="*/ 155 h 211"/>
                <a:gd name="T48" fmla="*/ 22 w 211"/>
                <a:gd name="T49" fmla="*/ 169 h 211"/>
                <a:gd name="T50" fmla="*/ 31 w 211"/>
                <a:gd name="T51" fmla="*/ 180 h 211"/>
                <a:gd name="T52" fmla="*/ 45 w 211"/>
                <a:gd name="T53" fmla="*/ 192 h 211"/>
                <a:gd name="T54" fmla="*/ 59 w 211"/>
                <a:gd name="T55" fmla="*/ 200 h 211"/>
                <a:gd name="T56" fmla="*/ 73 w 211"/>
                <a:gd name="T57" fmla="*/ 206 h 211"/>
                <a:gd name="T58" fmla="*/ 90 w 211"/>
                <a:gd name="T59" fmla="*/ 211 h 211"/>
                <a:gd name="T60" fmla="*/ 107 w 211"/>
                <a:gd name="T61" fmla="*/ 211 h 211"/>
                <a:gd name="T62" fmla="*/ 124 w 211"/>
                <a:gd name="T63" fmla="*/ 211 h 211"/>
                <a:gd name="T64" fmla="*/ 141 w 211"/>
                <a:gd name="T65" fmla="*/ 206 h 211"/>
                <a:gd name="T66" fmla="*/ 155 w 211"/>
                <a:gd name="T67" fmla="*/ 200 h 211"/>
                <a:gd name="T68" fmla="*/ 169 w 211"/>
                <a:gd name="T69" fmla="*/ 192 h 211"/>
                <a:gd name="T70" fmla="*/ 180 w 211"/>
                <a:gd name="T71" fmla="*/ 180 h 211"/>
                <a:gd name="T72" fmla="*/ 192 w 211"/>
                <a:gd name="T73" fmla="*/ 169 h 211"/>
                <a:gd name="T74" fmla="*/ 200 w 211"/>
                <a:gd name="T75" fmla="*/ 155 h 211"/>
                <a:gd name="T76" fmla="*/ 206 w 211"/>
                <a:gd name="T77" fmla="*/ 141 h 211"/>
                <a:gd name="T78" fmla="*/ 211 w 211"/>
                <a:gd name="T79" fmla="*/ 124 h 211"/>
                <a:gd name="T80" fmla="*/ 211 w 211"/>
                <a:gd name="T81" fmla="*/ 107 h 211"/>
                <a:gd name="T82" fmla="*/ 211 w 211"/>
                <a:gd name="T83" fmla="*/ 107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90"/>
                  </a:lnTo>
                  <a:lnTo>
                    <a:pt x="206" y="73"/>
                  </a:lnTo>
                  <a:lnTo>
                    <a:pt x="200" y="59"/>
                  </a:lnTo>
                  <a:lnTo>
                    <a:pt x="192" y="45"/>
                  </a:lnTo>
                  <a:lnTo>
                    <a:pt x="180" y="31"/>
                  </a:lnTo>
                  <a:lnTo>
                    <a:pt x="169" y="19"/>
                  </a:lnTo>
                  <a:lnTo>
                    <a:pt x="155" y="11"/>
                  </a:lnTo>
                  <a:lnTo>
                    <a:pt x="141" y="5"/>
                  </a:lnTo>
                  <a:lnTo>
                    <a:pt x="124" y="3"/>
                  </a:lnTo>
                  <a:lnTo>
                    <a:pt x="107" y="0"/>
                  </a:lnTo>
                  <a:lnTo>
                    <a:pt x="90" y="3"/>
                  </a:lnTo>
                  <a:lnTo>
                    <a:pt x="73" y="5"/>
                  </a:lnTo>
                  <a:lnTo>
                    <a:pt x="59" y="11"/>
                  </a:lnTo>
                  <a:lnTo>
                    <a:pt x="45" y="19"/>
                  </a:lnTo>
                  <a:lnTo>
                    <a:pt x="31" y="31"/>
                  </a:lnTo>
                  <a:lnTo>
                    <a:pt x="22" y="45"/>
                  </a:lnTo>
                  <a:lnTo>
                    <a:pt x="14" y="59"/>
                  </a:lnTo>
                  <a:lnTo>
                    <a:pt x="5" y="73"/>
                  </a:lnTo>
                  <a:lnTo>
                    <a:pt x="2" y="90"/>
                  </a:lnTo>
                  <a:lnTo>
                    <a:pt x="0" y="107"/>
                  </a:lnTo>
                  <a:lnTo>
                    <a:pt x="2" y="124"/>
                  </a:lnTo>
                  <a:lnTo>
                    <a:pt x="5" y="141"/>
                  </a:lnTo>
                  <a:lnTo>
                    <a:pt x="14" y="155"/>
                  </a:lnTo>
                  <a:lnTo>
                    <a:pt x="22" y="169"/>
                  </a:lnTo>
                  <a:lnTo>
                    <a:pt x="31" y="180"/>
                  </a:lnTo>
                  <a:lnTo>
                    <a:pt x="45" y="192"/>
                  </a:lnTo>
                  <a:lnTo>
                    <a:pt x="59" y="200"/>
                  </a:lnTo>
                  <a:lnTo>
                    <a:pt x="73" y="206"/>
                  </a:lnTo>
                  <a:lnTo>
                    <a:pt x="90" y="211"/>
                  </a:lnTo>
                  <a:lnTo>
                    <a:pt x="107" y="211"/>
                  </a:lnTo>
                  <a:lnTo>
                    <a:pt x="124" y="211"/>
                  </a:lnTo>
                  <a:lnTo>
                    <a:pt x="141" y="206"/>
                  </a:lnTo>
                  <a:lnTo>
                    <a:pt x="155" y="200"/>
                  </a:lnTo>
                  <a:lnTo>
                    <a:pt x="169" y="192"/>
                  </a:lnTo>
                  <a:lnTo>
                    <a:pt x="180" y="180"/>
                  </a:lnTo>
                  <a:lnTo>
                    <a:pt x="192" y="169"/>
                  </a:lnTo>
                  <a:lnTo>
                    <a:pt x="200" y="155"/>
                  </a:lnTo>
                  <a:lnTo>
                    <a:pt x="206" y="141"/>
                  </a:lnTo>
                  <a:lnTo>
                    <a:pt x="211" y="124"/>
                  </a:lnTo>
                  <a:lnTo>
                    <a:pt x="211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6" name="Rectangle 43"/>
            <p:cNvSpPr>
              <a:spLocks noChangeArrowheads="1"/>
            </p:cNvSpPr>
            <p:nvPr/>
          </p:nvSpPr>
          <p:spPr bwMode="auto">
            <a:xfrm>
              <a:off x="3066" y="1420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5</a:t>
              </a:r>
              <a:endParaRPr lang="en-US" b="1"/>
            </a:p>
          </p:txBody>
        </p:sp>
        <p:sp>
          <p:nvSpPr>
            <p:cNvPr id="18527" name="Freeform 44"/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8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8" y="82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8" name="Freeform 45"/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6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6" y="82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9" name="Freeform 46"/>
            <p:cNvSpPr>
              <a:spLocks/>
            </p:cNvSpPr>
            <p:nvPr/>
          </p:nvSpPr>
          <p:spPr bwMode="auto">
            <a:xfrm>
              <a:off x="2916" y="1239"/>
              <a:ext cx="48" cy="700"/>
            </a:xfrm>
            <a:custGeom>
              <a:avLst/>
              <a:gdLst>
                <a:gd name="T0" fmla="*/ 34 w 48"/>
                <a:gd name="T1" fmla="*/ 700 h 700"/>
                <a:gd name="T2" fmla="*/ 40 w 48"/>
                <a:gd name="T3" fmla="*/ 633 h 700"/>
                <a:gd name="T4" fmla="*/ 43 w 48"/>
                <a:gd name="T5" fmla="*/ 562 h 700"/>
                <a:gd name="T6" fmla="*/ 46 w 48"/>
                <a:gd name="T7" fmla="*/ 491 h 700"/>
                <a:gd name="T8" fmla="*/ 48 w 48"/>
                <a:gd name="T9" fmla="*/ 421 h 700"/>
                <a:gd name="T10" fmla="*/ 48 w 48"/>
                <a:gd name="T11" fmla="*/ 348 h 700"/>
                <a:gd name="T12" fmla="*/ 46 w 48"/>
                <a:gd name="T13" fmla="*/ 277 h 700"/>
                <a:gd name="T14" fmla="*/ 40 w 48"/>
                <a:gd name="T15" fmla="*/ 206 h 700"/>
                <a:gd name="T16" fmla="*/ 31 w 48"/>
                <a:gd name="T17" fmla="*/ 136 h 700"/>
                <a:gd name="T18" fmla="*/ 17 w 48"/>
                <a:gd name="T19" fmla="*/ 68 h 700"/>
                <a:gd name="T20" fmla="*/ 0 w 48"/>
                <a:gd name="T21" fmla="*/ 0 h 7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8"/>
                <a:gd name="T34" fmla="*/ 0 h 700"/>
                <a:gd name="T35" fmla="*/ 48 w 48"/>
                <a:gd name="T36" fmla="*/ 700 h 7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8" h="700">
                  <a:moveTo>
                    <a:pt x="34" y="700"/>
                  </a:moveTo>
                  <a:lnTo>
                    <a:pt x="40" y="633"/>
                  </a:lnTo>
                  <a:lnTo>
                    <a:pt x="43" y="562"/>
                  </a:lnTo>
                  <a:lnTo>
                    <a:pt x="46" y="491"/>
                  </a:lnTo>
                  <a:lnTo>
                    <a:pt x="48" y="421"/>
                  </a:lnTo>
                  <a:lnTo>
                    <a:pt x="48" y="348"/>
                  </a:lnTo>
                  <a:lnTo>
                    <a:pt x="46" y="277"/>
                  </a:lnTo>
                  <a:lnTo>
                    <a:pt x="40" y="206"/>
                  </a:lnTo>
                  <a:lnTo>
                    <a:pt x="31" y="136"/>
                  </a:lnTo>
                  <a:lnTo>
                    <a:pt x="17" y="68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30" name="Rectangle 47"/>
            <p:cNvSpPr>
              <a:spLocks noChangeArrowheads="1"/>
            </p:cNvSpPr>
            <p:nvPr/>
          </p:nvSpPr>
          <p:spPr bwMode="auto">
            <a:xfrm>
              <a:off x="3007" y="1226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u</a:t>
              </a:r>
              <a:endParaRPr lang="en-US" b="1"/>
            </a:p>
          </p:txBody>
        </p:sp>
        <p:sp>
          <p:nvSpPr>
            <p:cNvPr id="18531" name="Rectangle 48"/>
            <p:cNvSpPr>
              <a:spLocks noChangeArrowheads="1"/>
            </p:cNvSpPr>
            <p:nvPr/>
          </p:nvSpPr>
          <p:spPr bwMode="auto">
            <a:xfrm>
              <a:off x="3058" y="1226"/>
              <a:ext cx="16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 = ?</a:t>
              </a:r>
              <a:endParaRPr lang="en-US" b="1"/>
            </a:p>
          </p:txBody>
        </p:sp>
      </p:grp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2286000" y="1752600"/>
            <a:ext cx="585788" cy="717550"/>
            <a:chOff x="1496" y="1160"/>
            <a:chExt cx="369" cy="452"/>
          </a:xfrm>
        </p:grpSpPr>
        <p:sp>
          <p:nvSpPr>
            <p:cNvPr id="18516" name="Freeform 50"/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17" name="Freeform 51"/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18" name="Freeform 52"/>
            <p:cNvSpPr>
              <a:spLocks/>
            </p:cNvSpPr>
            <p:nvPr/>
          </p:nvSpPr>
          <p:spPr bwMode="auto">
            <a:xfrm>
              <a:off x="1550" y="1234"/>
              <a:ext cx="40" cy="378"/>
            </a:xfrm>
            <a:custGeom>
              <a:avLst/>
              <a:gdLst>
                <a:gd name="T0" fmla="*/ 14 w 40"/>
                <a:gd name="T1" fmla="*/ 378 h 378"/>
                <a:gd name="T2" fmla="*/ 20 w 40"/>
                <a:gd name="T3" fmla="*/ 344 h 378"/>
                <a:gd name="T4" fmla="*/ 25 w 40"/>
                <a:gd name="T5" fmla="*/ 305 h 378"/>
                <a:gd name="T6" fmla="*/ 28 w 40"/>
                <a:gd name="T7" fmla="*/ 265 h 378"/>
                <a:gd name="T8" fmla="*/ 34 w 40"/>
                <a:gd name="T9" fmla="*/ 226 h 378"/>
                <a:gd name="T10" fmla="*/ 37 w 40"/>
                <a:gd name="T11" fmla="*/ 183 h 378"/>
                <a:gd name="T12" fmla="*/ 40 w 40"/>
                <a:gd name="T13" fmla="*/ 144 h 378"/>
                <a:gd name="T14" fmla="*/ 37 w 40"/>
                <a:gd name="T15" fmla="*/ 104 h 378"/>
                <a:gd name="T16" fmla="*/ 28 w 40"/>
                <a:gd name="T17" fmla="*/ 67 h 378"/>
                <a:gd name="T18" fmla="*/ 17 w 40"/>
                <a:gd name="T19" fmla="*/ 34 h 378"/>
                <a:gd name="T20" fmla="*/ 0 w 40"/>
                <a:gd name="T21" fmla="*/ 0 h 3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378"/>
                <a:gd name="T35" fmla="*/ 40 w 40"/>
                <a:gd name="T36" fmla="*/ 378 h 3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378">
                  <a:moveTo>
                    <a:pt x="14" y="378"/>
                  </a:moveTo>
                  <a:lnTo>
                    <a:pt x="20" y="344"/>
                  </a:lnTo>
                  <a:lnTo>
                    <a:pt x="25" y="305"/>
                  </a:lnTo>
                  <a:lnTo>
                    <a:pt x="28" y="265"/>
                  </a:lnTo>
                  <a:lnTo>
                    <a:pt x="34" y="226"/>
                  </a:lnTo>
                  <a:lnTo>
                    <a:pt x="37" y="183"/>
                  </a:lnTo>
                  <a:lnTo>
                    <a:pt x="40" y="144"/>
                  </a:lnTo>
                  <a:lnTo>
                    <a:pt x="37" y="104"/>
                  </a:lnTo>
                  <a:lnTo>
                    <a:pt x="28" y="67"/>
                  </a:lnTo>
                  <a:lnTo>
                    <a:pt x="17" y="34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19" name="Freeform 53"/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124 h 212"/>
                <a:gd name="T4" fmla="*/ 206 w 212"/>
                <a:gd name="T5" fmla="*/ 141 h 212"/>
                <a:gd name="T6" fmla="*/ 201 w 212"/>
                <a:gd name="T7" fmla="*/ 155 h 212"/>
                <a:gd name="T8" fmla="*/ 192 w 212"/>
                <a:gd name="T9" fmla="*/ 170 h 212"/>
                <a:gd name="T10" fmla="*/ 181 w 212"/>
                <a:gd name="T11" fmla="*/ 181 h 212"/>
                <a:gd name="T12" fmla="*/ 167 w 212"/>
                <a:gd name="T13" fmla="*/ 192 h 212"/>
                <a:gd name="T14" fmla="*/ 156 w 212"/>
                <a:gd name="T15" fmla="*/ 201 h 212"/>
                <a:gd name="T16" fmla="*/ 139 w 212"/>
                <a:gd name="T17" fmla="*/ 206 h 212"/>
                <a:gd name="T18" fmla="*/ 122 w 212"/>
                <a:gd name="T19" fmla="*/ 212 h 212"/>
                <a:gd name="T20" fmla="*/ 105 w 212"/>
                <a:gd name="T21" fmla="*/ 212 h 212"/>
                <a:gd name="T22" fmla="*/ 88 w 212"/>
                <a:gd name="T23" fmla="*/ 212 h 212"/>
                <a:gd name="T24" fmla="*/ 71 w 212"/>
                <a:gd name="T25" fmla="*/ 206 h 212"/>
                <a:gd name="T26" fmla="*/ 57 w 212"/>
                <a:gd name="T27" fmla="*/ 201 h 212"/>
                <a:gd name="T28" fmla="*/ 43 w 212"/>
                <a:gd name="T29" fmla="*/ 192 h 212"/>
                <a:gd name="T30" fmla="*/ 31 w 212"/>
                <a:gd name="T31" fmla="*/ 181 h 212"/>
                <a:gd name="T32" fmla="*/ 20 w 212"/>
                <a:gd name="T33" fmla="*/ 170 h 212"/>
                <a:gd name="T34" fmla="*/ 12 w 212"/>
                <a:gd name="T35" fmla="*/ 155 h 212"/>
                <a:gd name="T36" fmla="*/ 6 w 212"/>
                <a:gd name="T37" fmla="*/ 141 h 212"/>
                <a:gd name="T38" fmla="*/ 0 w 212"/>
                <a:gd name="T39" fmla="*/ 124 h 212"/>
                <a:gd name="T40" fmla="*/ 0 w 212"/>
                <a:gd name="T41" fmla="*/ 107 h 212"/>
                <a:gd name="T42" fmla="*/ 0 w 212"/>
                <a:gd name="T43" fmla="*/ 91 h 212"/>
                <a:gd name="T44" fmla="*/ 6 w 212"/>
                <a:gd name="T45" fmla="*/ 74 h 212"/>
                <a:gd name="T46" fmla="*/ 12 w 212"/>
                <a:gd name="T47" fmla="*/ 59 h 212"/>
                <a:gd name="T48" fmla="*/ 20 w 212"/>
                <a:gd name="T49" fmla="*/ 45 h 212"/>
                <a:gd name="T50" fmla="*/ 31 w 212"/>
                <a:gd name="T51" fmla="*/ 31 h 212"/>
                <a:gd name="T52" fmla="*/ 43 w 212"/>
                <a:gd name="T53" fmla="*/ 20 h 212"/>
                <a:gd name="T54" fmla="*/ 57 w 212"/>
                <a:gd name="T55" fmla="*/ 11 h 212"/>
                <a:gd name="T56" fmla="*/ 71 w 212"/>
                <a:gd name="T57" fmla="*/ 6 h 212"/>
                <a:gd name="T58" fmla="*/ 88 w 212"/>
                <a:gd name="T59" fmla="*/ 3 h 212"/>
                <a:gd name="T60" fmla="*/ 105 w 212"/>
                <a:gd name="T61" fmla="*/ 0 h 212"/>
                <a:gd name="T62" fmla="*/ 122 w 212"/>
                <a:gd name="T63" fmla="*/ 3 h 212"/>
                <a:gd name="T64" fmla="*/ 139 w 212"/>
                <a:gd name="T65" fmla="*/ 6 h 212"/>
                <a:gd name="T66" fmla="*/ 156 w 212"/>
                <a:gd name="T67" fmla="*/ 11 h 212"/>
                <a:gd name="T68" fmla="*/ 167 w 212"/>
                <a:gd name="T69" fmla="*/ 20 h 212"/>
                <a:gd name="T70" fmla="*/ 181 w 212"/>
                <a:gd name="T71" fmla="*/ 31 h 212"/>
                <a:gd name="T72" fmla="*/ 192 w 212"/>
                <a:gd name="T73" fmla="*/ 45 h 212"/>
                <a:gd name="T74" fmla="*/ 201 w 212"/>
                <a:gd name="T75" fmla="*/ 59 h 212"/>
                <a:gd name="T76" fmla="*/ 206 w 212"/>
                <a:gd name="T77" fmla="*/ 74 h 212"/>
                <a:gd name="T78" fmla="*/ 209 w 212"/>
                <a:gd name="T79" fmla="*/ 91 h 212"/>
                <a:gd name="T80" fmla="*/ 212 w 212"/>
                <a:gd name="T81" fmla="*/ 107 h 212"/>
                <a:gd name="T82" fmla="*/ 209 w 212"/>
                <a:gd name="T83" fmla="*/ 105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124"/>
                  </a:lnTo>
                  <a:lnTo>
                    <a:pt x="206" y="141"/>
                  </a:lnTo>
                  <a:lnTo>
                    <a:pt x="201" y="155"/>
                  </a:lnTo>
                  <a:lnTo>
                    <a:pt x="192" y="170"/>
                  </a:lnTo>
                  <a:lnTo>
                    <a:pt x="181" y="181"/>
                  </a:lnTo>
                  <a:lnTo>
                    <a:pt x="167" y="192"/>
                  </a:lnTo>
                  <a:lnTo>
                    <a:pt x="156" y="201"/>
                  </a:lnTo>
                  <a:lnTo>
                    <a:pt x="139" y="206"/>
                  </a:lnTo>
                  <a:lnTo>
                    <a:pt x="122" y="212"/>
                  </a:lnTo>
                  <a:lnTo>
                    <a:pt x="105" y="212"/>
                  </a:lnTo>
                  <a:lnTo>
                    <a:pt x="88" y="212"/>
                  </a:lnTo>
                  <a:lnTo>
                    <a:pt x="71" y="206"/>
                  </a:lnTo>
                  <a:lnTo>
                    <a:pt x="57" y="201"/>
                  </a:lnTo>
                  <a:lnTo>
                    <a:pt x="43" y="192"/>
                  </a:lnTo>
                  <a:lnTo>
                    <a:pt x="31" y="181"/>
                  </a:lnTo>
                  <a:lnTo>
                    <a:pt x="20" y="170"/>
                  </a:lnTo>
                  <a:lnTo>
                    <a:pt x="12" y="155"/>
                  </a:lnTo>
                  <a:lnTo>
                    <a:pt x="6" y="141"/>
                  </a:lnTo>
                  <a:lnTo>
                    <a:pt x="0" y="124"/>
                  </a:lnTo>
                  <a:lnTo>
                    <a:pt x="0" y="107"/>
                  </a:lnTo>
                  <a:lnTo>
                    <a:pt x="0" y="91"/>
                  </a:lnTo>
                  <a:lnTo>
                    <a:pt x="6" y="74"/>
                  </a:lnTo>
                  <a:lnTo>
                    <a:pt x="12" y="59"/>
                  </a:lnTo>
                  <a:lnTo>
                    <a:pt x="20" y="45"/>
                  </a:lnTo>
                  <a:lnTo>
                    <a:pt x="31" y="31"/>
                  </a:lnTo>
                  <a:lnTo>
                    <a:pt x="43" y="20"/>
                  </a:lnTo>
                  <a:lnTo>
                    <a:pt x="57" y="11"/>
                  </a:lnTo>
                  <a:lnTo>
                    <a:pt x="71" y="6"/>
                  </a:lnTo>
                  <a:lnTo>
                    <a:pt x="88" y="3"/>
                  </a:lnTo>
                  <a:lnTo>
                    <a:pt x="105" y="0"/>
                  </a:lnTo>
                  <a:lnTo>
                    <a:pt x="122" y="3"/>
                  </a:lnTo>
                  <a:lnTo>
                    <a:pt x="139" y="6"/>
                  </a:lnTo>
                  <a:lnTo>
                    <a:pt x="156" y="11"/>
                  </a:lnTo>
                  <a:lnTo>
                    <a:pt x="167" y="20"/>
                  </a:lnTo>
                  <a:lnTo>
                    <a:pt x="181" y="31"/>
                  </a:lnTo>
                  <a:lnTo>
                    <a:pt x="192" y="45"/>
                  </a:lnTo>
                  <a:lnTo>
                    <a:pt x="201" y="59"/>
                  </a:lnTo>
                  <a:lnTo>
                    <a:pt x="206" y="74"/>
                  </a:lnTo>
                  <a:lnTo>
                    <a:pt x="209" y="91"/>
                  </a:lnTo>
                  <a:lnTo>
                    <a:pt x="212" y="107"/>
                  </a:lnTo>
                  <a:lnTo>
                    <a:pt x="209" y="105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0" name="Freeform 54"/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91 h 212"/>
                <a:gd name="T4" fmla="*/ 206 w 212"/>
                <a:gd name="T5" fmla="*/ 74 h 212"/>
                <a:gd name="T6" fmla="*/ 201 w 212"/>
                <a:gd name="T7" fmla="*/ 59 h 212"/>
                <a:gd name="T8" fmla="*/ 192 w 212"/>
                <a:gd name="T9" fmla="*/ 45 h 212"/>
                <a:gd name="T10" fmla="*/ 181 w 212"/>
                <a:gd name="T11" fmla="*/ 31 h 212"/>
                <a:gd name="T12" fmla="*/ 167 w 212"/>
                <a:gd name="T13" fmla="*/ 20 h 212"/>
                <a:gd name="T14" fmla="*/ 156 w 212"/>
                <a:gd name="T15" fmla="*/ 11 h 212"/>
                <a:gd name="T16" fmla="*/ 139 w 212"/>
                <a:gd name="T17" fmla="*/ 6 h 212"/>
                <a:gd name="T18" fmla="*/ 122 w 212"/>
                <a:gd name="T19" fmla="*/ 3 h 212"/>
                <a:gd name="T20" fmla="*/ 105 w 212"/>
                <a:gd name="T21" fmla="*/ 0 h 212"/>
                <a:gd name="T22" fmla="*/ 88 w 212"/>
                <a:gd name="T23" fmla="*/ 3 h 212"/>
                <a:gd name="T24" fmla="*/ 71 w 212"/>
                <a:gd name="T25" fmla="*/ 6 h 212"/>
                <a:gd name="T26" fmla="*/ 57 w 212"/>
                <a:gd name="T27" fmla="*/ 11 h 212"/>
                <a:gd name="T28" fmla="*/ 43 w 212"/>
                <a:gd name="T29" fmla="*/ 20 h 212"/>
                <a:gd name="T30" fmla="*/ 31 w 212"/>
                <a:gd name="T31" fmla="*/ 31 h 212"/>
                <a:gd name="T32" fmla="*/ 20 w 212"/>
                <a:gd name="T33" fmla="*/ 45 h 212"/>
                <a:gd name="T34" fmla="*/ 12 w 212"/>
                <a:gd name="T35" fmla="*/ 59 h 212"/>
                <a:gd name="T36" fmla="*/ 6 w 212"/>
                <a:gd name="T37" fmla="*/ 74 h 212"/>
                <a:gd name="T38" fmla="*/ 0 w 212"/>
                <a:gd name="T39" fmla="*/ 91 h 212"/>
                <a:gd name="T40" fmla="*/ 0 w 212"/>
                <a:gd name="T41" fmla="*/ 107 h 212"/>
                <a:gd name="T42" fmla="*/ 0 w 212"/>
                <a:gd name="T43" fmla="*/ 124 h 212"/>
                <a:gd name="T44" fmla="*/ 6 w 212"/>
                <a:gd name="T45" fmla="*/ 141 h 212"/>
                <a:gd name="T46" fmla="*/ 12 w 212"/>
                <a:gd name="T47" fmla="*/ 155 h 212"/>
                <a:gd name="T48" fmla="*/ 20 w 212"/>
                <a:gd name="T49" fmla="*/ 170 h 212"/>
                <a:gd name="T50" fmla="*/ 31 w 212"/>
                <a:gd name="T51" fmla="*/ 181 h 212"/>
                <a:gd name="T52" fmla="*/ 43 w 212"/>
                <a:gd name="T53" fmla="*/ 192 h 212"/>
                <a:gd name="T54" fmla="*/ 57 w 212"/>
                <a:gd name="T55" fmla="*/ 201 h 212"/>
                <a:gd name="T56" fmla="*/ 71 w 212"/>
                <a:gd name="T57" fmla="*/ 206 h 212"/>
                <a:gd name="T58" fmla="*/ 88 w 212"/>
                <a:gd name="T59" fmla="*/ 212 h 212"/>
                <a:gd name="T60" fmla="*/ 105 w 212"/>
                <a:gd name="T61" fmla="*/ 212 h 212"/>
                <a:gd name="T62" fmla="*/ 122 w 212"/>
                <a:gd name="T63" fmla="*/ 212 h 212"/>
                <a:gd name="T64" fmla="*/ 139 w 212"/>
                <a:gd name="T65" fmla="*/ 206 h 212"/>
                <a:gd name="T66" fmla="*/ 156 w 212"/>
                <a:gd name="T67" fmla="*/ 201 h 212"/>
                <a:gd name="T68" fmla="*/ 167 w 212"/>
                <a:gd name="T69" fmla="*/ 192 h 212"/>
                <a:gd name="T70" fmla="*/ 181 w 212"/>
                <a:gd name="T71" fmla="*/ 181 h 212"/>
                <a:gd name="T72" fmla="*/ 192 w 212"/>
                <a:gd name="T73" fmla="*/ 170 h 212"/>
                <a:gd name="T74" fmla="*/ 201 w 212"/>
                <a:gd name="T75" fmla="*/ 155 h 212"/>
                <a:gd name="T76" fmla="*/ 206 w 212"/>
                <a:gd name="T77" fmla="*/ 141 h 212"/>
                <a:gd name="T78" fmla="*/ 209 w 212"/>
                <a:gd name="T79" fmla="*/ 124 h 212"/>
                <a:gd name="T80" fmla="*/ 212 w 212"/>
                <a:gd name="T81" fmla="*/ 107 h 212"/>
                <a:gd name="T82" fmla="*/ 212 w 212"/>
                <a:gd name="T83" fmla="*/ 107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91"/>
                  </a:lnTo>
                  <a:lnTo>
                    <a:pt x="206" y="74"/>
                  </a:lnTo>
                  <a:lnTo>
                    <a:pt x="201" y="59"/>
                  </a:lnTo>
                  <a:lnTo>
                    <a:pt x="192" y="45"/>
                  </a:lnTo>
                  <a:lnTo>
                    <a:pt x="181" y="31"/>
                  </a:lnTo>
                  <a:lnTo>
                    <a:pt x="167" y="20"/>
                  </a:lnTo>
                  <a:lnTo>
                    <a:pt x="156" y="11"/>
                  </a:lnTo>
                  <a:lnTo>
                    <a:pt x="139" y="6"/>
                  </a:lnTo>
                  <a:lnTo>
                    <a:pt x="122" y="3"/>
                  </a:lnTo>
                  <a:lnTo>
                    <a:pt x="105" y="0"/>
                  </a:lnTo>
                  <a:lnTo>
                    <a:pt x="88" y="3"/>
                  </a:lnTo>
                  <a:lnTo>
                    <a:pt x="71" y="6"/>
                  </a:lnTo>
                  <a:lnTo>
                    <a:pt x="57" y="11"/>
                  </a:lnTo>
                  <a:lnTo>
                    <a:pt x="43" y="20"/>
                  </a:lnTo>
                  <a:lnTo>
                    <a:pt x="31" y="31"/>
                  </a:lnTo>
                  <a:lnTo>
                    <a:pt x="20" y="45"/>
                  </a:lnTo>
                  <a:lnTo>
                    <a:pt x="12" y="59"/>
                  </a:lnTo>
                  <a:lnTo>
                    <a:pt x="6" y="74"/>
                  </a:lnTo>
                  <a:lnTo>
                    <a:pt x="0" y="91"/>
                  </a:lnTo>
                  <a:lnTo>
                    <a:pt x="0" y="107"/>
                  </a:lnTo>
                  <a:lnTo>
                    <a:pt x="0" y="124"/>
                  </a:lnTo>
                  <a:lnTo>
                    <a:pt x="6" y="141"/>
                  </a:lnTo>
                  <a:lnTo>
                    <a:pt x="12" y="155"/>
                  </a:lnTo>
                  <a:lnTo>
                    <a:pt x="20" y="170"/>
                  </a:lnTo>
                  <a:lnTo>
                    <a:pt x="31" y="181"/>
                  </a:lnTo>
                  <a:lnTo>
                    <a:pt x="43" y="192"/>
                  </a:lnTo>
                  <a:lnTo>
                    <a:pt x="57" y="201"/>
                  </a:lnTo>
                  <a:lnTo>
                    <a:pt x="71" y="206"/>
                  </a:lnTo>
                  <a:lnTo>
                    <a:pt x="88" y="212"/>
                  </a:lnTo>
                  <a:lnTo>
                    <a:pt x="105" y="212"/>
                  </a:lnTo>
                  <a:lnTo>
                    <a:pt x="122" y="212"/>
                  </a:lnTo>
                  <a:lnTo>
                    <a:pt x="139" y="206"/>
                  </a:lnTo>
                  <a:lnTo>
                    <a:pt x="156" y="201"/>
                  </a:lnTo>
                  <a:lnTo>
                    <a:pt x="167" y="192"/>
                  </a:lnTo>
                  <a:lnTo>
                    <a:pt x="181" y="181"/>
                  </a:lnTo>
                  <a:lnTo>
                    <a:pt x="192" y="170"/>
                  </a:lnTo>
                  <a:lnTo>
                    <a:pt x="201" y="155"/>
                  </a:lnTo>
                  <a:lnTo>
                    <a:pt x="206" y="141"/>
                  </a:lnTo>
                  <a:lnTo>
                    <a:pt x="209" y="124"/>
                  </a:lnTo>
                  <a:lnTo>
                    <a:pt x="212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21" name="Rectangle 55"/>
            <p:cNvSpPr>
              <a:spLocks noChangeArrowheads="1"/>
            </p:cNvSpPr>
            <p:nvPr/>
          </p:nvSpPr>
          <p:spPr bwMode="auto">
            <a:xfrm>
              <a:off x="1680" y="1429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4</a:t>
              </a:r>
              <a:endParaRPr lang="en-US" b="1"/>
            </a:p>
          </p:txBody>
        </p:sp>
        <p:sp>
          <p:nvSpPr>
            <p:cNvPr id="18522" name="Rectangle 56"/>
            <p:cNvSpPr>
              <a:spLocks noChangeArrowheads="1"/>
            </p:cNvSpPr>
            <p:nvPr/>
          </p:nvSpPr>
          <p:spPr bwMode="auto">
            <a:xfrm>
              <a:off x="1649" y="1209"/>
              <a:ext cx="5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u</a:t>
              </a:r>
              <a:endParaRPr lang="en-US" b="1"/>
            </a:p>
          </p:txBody>
        </p:sp>
        <p:sp>
          <p:nvSpPr>
            <p:cNvPr id="18523" name="Rectangle 57"/>
            <p:cNvSpPr>
              <a:spLocks noChangeArrowheads="1"/>
            </p:cNvSpPr>
            <p:nvPr/>
          </p:nvSpPr>
          <p:spPr bwMode="auto">
            <a:xfrm>
              <a:off x="1702" y="1209"/>
              <a:ext cx="163" cy="11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 = ?</a:t>
              </a:r>
              <a:endParaRPr lang="en-US" b="1"/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2832100" y="3849688"/>
            <a:ext cx="339725" cy="274637"/>
            <a:chOff x="1784" y="2425"/>
            <a:chExt cx="214" cy="173"/>
          </a:xfrm>
        </p:grpSpPr>
        <p:sp>
          <p:nvSpPr>
            <p:cNvPr id="18514" name="Rectangle 59"/>
            <p:cNvSpPr>
              <a:spLocks noChangeArrowheads="1"/>
            </p:cNvSpPr>
            <p:nvPr/>
          </p:nvSpPr>
          <p:spPr bwMode="auto">
            <a:xfrm>
              <a:off x="1784" y="242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olidFill>
                    <a:schemeClr val="hlink"/>
                  </a:solidFill>
                </a:rPr>
                <a:t>u</a:t>
              </a:r>
              <a:endParaRPr lang="en-US" sz="2000" b="1">
                <a:solidFill>
                  <a:schemeClr val="hlink"/>
                </a:solidFill>
              </a:endParaRPr>
            </a:p>
          </p:txBody>
        </p:sp>
        <p:sp>
          <p:nvSpPr>
            <p:cNvPr id="18515" name="Rectangle 60"/>
            <p:cNvSpPr>
              <a:spLocks noChangeArrowheads="1"/>
            </p:cNvSpPr>
            <p:nvPr/>
          </p:nvSpPr>
          <p:spPr bwMode="auto">
            <a:xfrm>
              <a:off x="1838" y="2425"/>
              <a:ext cx="16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olidFill>
                    <a:schemeClr val="hlink"/>
                  </a:solidFill>
                </a:rPr>
                <a:t> :5</a:t>
              </a:r>
              <a:endParaRPr lang="en-US" sz="2000" b="1">
                <a:solidFill>
                  <a:schemeClr val="hlink"/>
                </a:solidFill>
              </a:endParaRPr>
            </a:p>
          </p:txBody>
        </p:sp>
      </p:grp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1828800" y="2514600"/>
            <a:ext cx="788988" cy="1468438"/>
            <a:chOff x="1152" y="1536"/>
            <a:chExt cx="497" cy="925"/>
          </a:xfrm>
        </p:grpSpPr>
        <p:sp>
          <p:nvSpPr>
            <p:cNvPr id="18506" name="Rectangle 62"/>
            <p:cNvSpPr>
              <a:spLocks noChangeArrowheads="1"/>
            </p:cNvSpPr>
            <p:nvPr/>
          </p:nvSpPr>
          <p:spPr bwMode="auto">
            <a:xfrm>
              <a:off x="1299" y="2273"/>
              <a:ext cx="5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</a:rPr>
                <a:t>1</a:t>
              </a:r>
              <a:endParaRPr lang="en-US" b="1"/>
            </a:p>
          </p:txBody>
        </p:sp>
        <p:grpSp>
          <p:nvGrpSpPr>
            <p:cNvPr id="6" name="Group 63"/>
            <p:cNvGrpSpPr>
              <a:grpSpLocks/>
            </p:cNvGrpSpPr>
            <p:nvPr/>
          </p:nvGrpSpPr>
          <p:grpSpPr bwMode="auto">
            <a:xfrm>
              <a:off x="1152" y="1536"/>
              <a:ext cx="497" cy="925"/>
              <a:chOff x="1152" y="1536"/>
              <a:chExt cx="497" cy="925"/>
            </a:xfrm>
          </p:grpSpPr>
          <p:grpSp>
            <p:nvGrpSpPr>
              <p:cNvPr id="7" name="Group 64"/>
              <p:cNvGrpSpPr>
                <a:grpSpLocks/>
              </p:cNvGrpSpPr>
              <p:nvPr/>
            </p:nvGrpSpPr>
            <p:grpSpPr bwMode="auto">
              <a:xfrm>
                <a:off x="1220" y="1815"/>
                <a:ext cx="429" cy="646"/>
                <a:chOff x="1220" y="1815"/>
                <a:chExt cx="429" cy="646"/>
              </a:xfrm>
            </p:grpSpPr>
            <p:sp>
              <p:nvSpPr>
                <p:cNvPr id="18512" name="Freeform 65"/>
                <p:cNvSpPr>
                  <a:spLocks/>
                </p:cNvSpPr>
                <p:nvPr/>
              </p:nvSpPr>
              <p:spPr bwMode="auto">
                <a:xfrm>
                  <a:off x="1310" y="1815"/>
                  <a:ext cx="339" cy="646"/>
                </a:xfrm>
                <a:custGeom>
                  <a:avLst/>
                  <a:gdLst>
                    <a:gd name="T0" fmla="*/ 0 w 339"/>
                    <a:gd name="T1" fmla="*/ 0 h 646"/>
                    <a:gd name="T2" fmla="*/ 11 w 339"/>
                    <a:gd name="T3" fmla="*/ 76 h 646"/>
                    <a:gd name="T4" fmla="*/ 23 w 339"/>
                    <a:gd name="T5" fmla="*/ 153 h 646"/>
                    <a:gd name="T6" fmla="*/ 40 w 339"/>
                    <a:gd name="T7" fmla="*/ 226 h 646"/>
                    <a:gd name="T8" fmla="*/ 62 w 339"/>
                    <a:gd name="T9" fmla="*/ 297 h 646"/>
                    <a:gd name="T10" fmla="*/ 93 w 339"/>
                    <a:gd name="T11" fmla="*/ 367 h 646"/>
                    <a:gd name="T12" fmla="*/ 127 w 339"/>
                    <a:gd name="T13" fmla="*/ 432 h 646"/>
                    <a:gd name="T14" fmla="*/ 169 w 339"/>
                    <a:gd name="T15" fmla="*/ 494 h 646"/>
                    <a:gd name="T16" fmla="*/ 217 w 339"/>
                    <a:gd name="T17" fmla="*/ 551 h 646"/>
                    <a:gd name="T18" fmla="*/ 277 w 339"/>
                    <a:gd name="T19" fmla="*/ 601 h 646"/>
                    <a:gd name="T20" fmla="*/ 339 w 339"/>
                    <a:gd name="T21" fmla="*/ 646 h 6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39"/>
                    <a:gd name="T34" fmla="*/ 0 h 646"/>
                    <a:gd name="T35" fmla="*/ 339 w 339"/>
                    <a:gd name="T36" fmla="*/ 646 h 64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39" h="646">
                      <a:moveTo>
                        <a:pt x="0" y="0"/>
                      </a:moveTo>
                      <a:lnTo>
                        <a:pt x="11" y="76"/>
                      </a:lnTo>
                      <a:lnTo>
                        <a:pt x="23" y="153"/>
                      </a:lnTo>
                      <a:lnTo>
                        <a:pt x="40" y="226"/>
                      </a:lnTo>
                      <a:lnTo>
                        <a:pt x="62" y="297"/>
                      </a:lnTo>
                      <a:lnTo>
                        <a:pt x="93" y="367"/>
                      </a:lnTo>
                      <a:lnTo>
                        <a:pt x="127" y="432"/>
                      </a:lnTo>
                      <a:lnTo>
                        <a:pt x="169" y="494"/>
                      </a:lnTo>
                      <a:lnTo>
                        <a:pt x="217" y="551"/>
                      </a:lnTo>
                      <a:lnTo>
                        <a:pt x="277" y="601"/>
                      </a:lnTo>
                      <a:lnTo>
                        <a:pt x="339" y="646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13" name="Freeform 66"/>
                <p:cNvSpPr>
                  <a:spLocks/>
                </p:cNvSpPr>
                <p:nvPr/>
              </p:nvSpPr>
              <p:spPr bwMode="auto">
                <a:xfrm>
                  <a:off x="1220" y="2224"/>
                  <a:ext cx="211" cy="212"/>
                </a:xfrm>
                <a:custGeom>
                  <a:avLst/>
                  <a:gdLst>
                    <a:gd name="T0" fmla="*/ 209 w 211"/>
                    <a:gd name="T1" fmla="*/ 105 h 212"/>
                    <a:gd name="T2" fmla="*/ 209 w 211"/>
                    <a:gd name="T3" fmla="*/ 91 h 212"/>
                    <a:gd name="T4" fmla="*/ 206 w 211"/>
                    <a:gd name="T5" fmla="*/ 74 h 212"/>
                    <a:gd name="T6" fmla="*/ 200 w 211"/>
                    <a:gd name="T7" fmla="*/ 60 h 212"/>
                    <a:gd name="T8" fmla="*/ 192 w 211"/>
                    <a:gd name="T9" fmla="*/ 46 h 212"/>
                    <a:gd name="T10" fmla="*/ 180 w 211"/>
                    <a:gd name="T11" fmla="*/ 31 h 212"/>
                    <a:gd name="T12" fmla="*/ 166 w 211"/>
                    <a:gd name="T13" fmla="*/ 20 h 212"/>
                    <a:gd name="T14" fmla="*/ 155 w 211"/>
                    <a:gd name="T15" fmla="*/ 12 h 212"/>
                    <a:gd name="T16" fmla="*/ 138 w 211"/>
                    <a:gd name="T17" fmla="*/ 6 h 212"/>
                    <a:gd name="T18" fmla="*/ 121 w 211"/>
                    <a:gd name="T19" fmla="*/ 3 h 212"/>
                    <a:gd name="T20" fmla="*/ 104 w 211"/>
                    <a:gd name="T21" fmla="*/ 0 h 212"/>
                    <a:gd name="T22" fmla="*/ 87 w 211"/>
                    <a:gd name="T23" fmla="*/ 3 h 212"/>
                    <a:gd name="T24" fmla="*/ 70 w 211"/>
                    <a:gd name="T25" fmla="*/ 6 h 212"/>
                    <a:gd name="T26" fmla="*/ 56 w 211"/>
                    <a:gd name="T27" fmla="*/ 12 h 212"/>
                    <a:gd name="T28" fmla="*/ 42 w 211"/>
                    <a:gd name="T29" fmla="*/ 20 h 212"/>
                    <a:gd name="T30" fmla="*/ 31 w 211"/>
                    <a:gd name="T31" fmla="*/ 31 h 212"/>
                    <a:gd name="T32" fmla="*/ 19 w 211"/>
                    <a:gd name="T33" fmla="*/ 46 h 212"/>
                    <a:gd name="T34" fmla="*/ 11 w 211"/>
                    <a:gd name="T35" fmla="*/ 60 h 212"/>
                    <a:gd name="T36" fmla="*/ 5 w 211"/>
                    <a:gd name="T37" fmla="*/ 74 h 212"/>
                    <a:gd name="T38" fmla="*/ 0 w 211"/>
                    <a:gd name="T39" fmla="*/ 91 h 212"/>
                    <a:gd name="T40" fmla="*/ 0 w 211"/>
                    <a:gd name="T41" fmla="*/ 108 h 212"/>
                    <a:gd name="T42" fmla="*/ 0 w 211"/>
                    <a:gd name="T43" fmla="*/ 125 h 212"/>
                    <a:gd name="T44" fmla="*/ 5 w 211"/>
                    <a:gd name="T45" fmla="*/ 142 h 212"/>
                    <a:gd name="T46" fmla="*/ 11 w 211"/>
                    <a:gd name="T47" fmla="*/ 156 h 212"/>
                    <a:gd name="T48" fmla="*/ 19 w 211"/>
                    <a:gd name="T49" fmla="*/ 170 h 212"/>
                    <a:gd name="T50" fmla="*/ 31 w 211"/>
                    <a:gd name="T51" fmla="*/ 181 h 212"/>
                    <a:gd name="T52" fmla="*/ 42 w 211"/>
                    <a:gd name="T53" fmla="*/ 192 h 212"/>
                    <a:gd name="T54" fmla="*/ 56 w 211"/>
                    <a:gd name="T55" fmla="*/ 201 h 212"/>
                    <a:gd name="T56" fmla="*/ 70 w 211"/>
                    <a:gd name="T57" fmla="*/ 206 h 212"/>
                    <a:gd name="T58" fmla="*/ 87 w 211"/>
                    <a:gd name="T59" fmla="*/ 212 h 212"/>
                    <a:gd name="T60" fmla="*/ 104 w 211"/>
                    <a:gd name="T61" fmla="*/ 212 h 212"/>
                    <a:gd name="T62" fmla="*/ 121 w 211"/>
                    <a:gd name="T63" fmla="*/ 212 h 212"/>
                    <a:gd name="T64" fmla="*/ 138 w 211"/>
                    <a:gd name="T65" fmla="*/ 206 h 212"/>
                    <a:gd name="T66" fmla="*/ 155 w 211"/>
                    <a:gd name="T67" fmla="*/ 201 h 212"/>
                    <a:gd name="T68" fmla="*/ 166 w 211"/>
                    <a:gd name="T69" fmla="*/ 192 h 212"/>
                    <a:gd name="T70" fmla="*/ 180 w 211"/>
                    <a:gd name="T71" fmla="*/ 181 h 212"/>
                    <a:gd name="T72" fmla="*/ 192 w 211"/>
                    <a:gd name="T73" fmla="*/ 170 h 212"/>
                    <a:gd name="T74" fmla="*/ 200 w 211"/>
                    <a:gd name="T75" fmla="*/ 156 h 212"/>
                    <a:gd name="T76" fmla="*/ 206 w 211"/>
                    <a:gd name="T77" fmla="*/ 142 h 212"/>
                    <a:gd name="T78" fmla="*/ 209 w 211"/>
                    <a:gd name="T79" fmla="*/ 125 h 212"/>
                    <a:gd name="T80" fmla="*/ 211 w 211"/>
                    <a:gd name="T81" fmla="*/ 108 h 212"/>
                    <a:gd name="T82" fmla="*/ 211 w 211"/>
                    <a:gd name="T83" fmla="*/ 108 h 21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1"/>
                    <a:gd name="T127" fmla="*/ 0 h 212"/>
                    <a:gd name="T128" fmla="*/ 211 w 211"/>
                    <a:gd name="T129" fmla="*/ 212 h 212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1" h="212">
                      <a:moveTo>
                        <a:pt x="209" y="105"/>
                      </a:moveTo>
                      <a:lnTo>
                        <a:pt x="209" y="91"/>
                      </a:lnTo>
                      <a:lnTo>
                        <a:pt x="206" y="74"/>
                      </a:lnTo>
                      <a:lnTo>
                        <a:pt x="200" y="60"/>
                      </a:lnTo>
                      <a:lnTo>
                        <a:pt x="192" y="46"/>
                      </a:lnTo>
                      <a:lnTo>
                        <a:pt x="180" y="31"/>
                      </a:lnTo>
                      <a:lnTo>
                        <a:pt x="166" y="20"/>
                      </a:lnTo>
                      <a:lnTo>
                        <a:pt x="155" y="12"/>
                      </a:lnTo>
                      <a:lnTo>
                        <a:pt x="138" y="6"/>
                      </a:lnTo>
                      <a:lnTo>
                        <a:pt x="121" y="3"/>
                      </a:lnTo>
                      <a:lnTo>
                        <a:pt x="104" y="0"/>
                      </a:lnTo>
                      <a:lnTo>
                        <a:pt x="87" y="3"/>
                      </a:lnTo>
                      <a:lnTo>
                        <a:pt x="70" y="6"/>
                      </a:lnTo>
                      <a:lnTo>
                        <a:pt x="56" y="12"/>
                      </a:lnTo>
                      <a:lnTo>
                        <a:pt x="42" y="20"/>
                      </a:lnTo>
                      <a:lnTo>
                        <a:pt x="31" y="31"/>
                      </a:lnTo>
                      <a:lnTo>
                        <a:pt x="19" y="46"/>
                      </a:lnTo>
                      <a:lnTo>
                        <a:pt x="11" y="60"/>
                      </a:lnTo>
                      <a:lnTo>
                        <a:pt x="5" y="74"/>
                      </a:lnTo>
                      <a:lnTo>
                        <a:pt x="0" y="91"/>
                      </a:lnTo>
                      <a:lnTo>
                        <a:pt x="0" y="108"/>
                      </a:lnTo>
                      <a:lnTo>
                        <a:pt x="0" y="125"/>
                      </a:lnTo>
                      <a:lnTo>
                        <a:pt x="5" y="142"/>
                      </a:lnTo>
                      <a:lnTo>
                        <a:pt x="11" y="156"/>
                      </a:lnTo>
                      <a:lnTo>
                        <a:pt x="19" y="170"/>
                      </a:lnTo>
                      <a:lnTo>
                        <a:pt x="31" y="181"/>
                      </a:lnTo>
                      <a:lnTo>
                        <a:pt x="42" y="192"/>
                      </a:lnTo>
                      <a:lnTo>
                        <a:pt x="56" y="201"/>
                      </a:lnTo>
                      <a:lnTo>
                        <a:pt x="70" y="206"/>
                      </a:lnTo>
                      <a:lnTo>
                        <a:pt x="87" y="212"/>
                      </a:lnTo>
                      <a:lnTo>
                        <a:pt x="104" y="212"/>
                      </a:lnTo>
                      <a:lnTo>
                        <a:pt x="121" y="212"/>
                      </a:lnTo>
                      <a:lnTo>
                        <a:pt x="138" y="206"/>
                      </a:lnTo>
                      <a:lnTo>
                        <a:pt x="155" y="201"/>
                      </a:lnTo>
                      <a:lnTo>
                        <a:pt x="166" y="192"/>
                      </a:lnTo>
                      <a:lnTo>
                        <a:pt x="180" y="181"/>
                      </a:lnTo>
                      <a:lnTo>
                        <a:pt x="192" y="170"/>
                      </a:lnTo>
                      <a:lnTo>
                        <a:pt x="200" y="156"/>
                      </a:lnTo>
                      <a:lnTo>
                        <a:pt x="206" y="142"/>
                      </a:lnTo>
                      <a:lnTo>
                        <a:pt x="209" y="125"/>
                      </a:lnTo>
                      <a:lnTo>
                        <a:pt x="211" y="10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Group 67"/>
              <p:cNvGrpSpPr>
                <a:grpSpLocks/>
              </p:cNvGrpSpPr>
              <p:nvPr/>
            </p:nvGrpSpPr>
            <p:grpSpPr bwMode="auto">
              <a:xfrm>
                <a:off x="1152" y="1536"/>
                <a:ext cx="231" cy="173"/>
                <a:chOff x="1784" y="2425"/>
                <a:chExt cx="176" cy="173"/>
              </a:xfrm>
            </p:grpSpPr>
            <p:sp>
              <p:nvSpPr>
                <p:cNvPr id="18510" name="Rectangle 68"/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61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8511" name="Rectangle 69"/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22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9" name="Group 70"/>
          <p:cNvGrpSpPr>
            <a:grpSpLocks/>
          </p:cNvGrpSpPr>
          <p:nvPr/>
        </p:nvGrpSpPr>
        <p:grpSpPr bwMode="auto">
          <a:xfrm>
            <a:off x="3124200" y="2514600"/>
            <a:ext cx="3506788" cy="1522413"/>
            <a:chOff x="2016" y="1584"/>
            <a:chExt cx="2209" cy="959"/>
          </a:xfrm>
        </p:grpSpPr>
        <p:sp>
          <p:nvSpPr>
            <p:cNvPr id="18496" name="Freeform 71"/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6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6" y="5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97" name="Freeform 72"/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4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4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" name="Group 73"/>
            <p:cNvGrpSpPr>
              <a:grpSpLocks/>
            </p:cNvGrpSpPr>
            <p:nvPr/>
          </p:nvGrpSpPr>
          <p:grpSpPr bwMode="auto">
            <a:xfrm>
              <a:off x="2016" y="1584"/>
              <a:ext cx="2209" cy="959"/>
              <a:chOff x="2016" y="1584"/>
              <a:chExt cx="2209" cy="959"/>
            </a:xfrm>
          </p:grpSpPr>
          <p:grpSp>
            <p:nvGrpSpPr>
              <p:cNvPr id="11" name="Group 74"/>
              <p:cNvGrpSpPr>
                <a:grpSpLocks/>
              </p:cNvGrpSpPr>
              <p:nvPr/>
            </p:nvGrpSpPr>
            <p:grpSpPr bwMode="auto">
              <a:xfrm>
                <a:off x="2016" y="1776"/>
                <a:ext cx="1900" cy="767"/>
                <a:chOff x="2002" y="1776"/>
                <a:chExt cx="1900" cy="767"/>
              </a:xfrm>
            </p:grpSpPr>
            <p:sp>
              <p:nvSpPr>
                <p:cNvPr id="18504" name="Freeform 75"/>
                <p:cNvSpPr>
                  <a:spLocks/>
                </p:cNvSpPr>
                <p:nvPr/>
              </p:nvSpPr>
              <p:spPr bwMode="auto">
                <a:xfrm>
                  <a:off x="2002" y="1776"/>
                  <a:ext cx="1900" cy="728"/>
                </a:xfrm>
                <a:custGeom>
                  <a:avLst/>
                  <a:gdLst>
                    <a:gd name="T0" fmla="*/ 0 w 1900"/>
                    <a:gd name="T1" fmla="*/ 728 h 728"/>
                    <a:gd name="T2" fmla="*/ 149 w 1900"/>
                    <a:gd name="T3" fmla="*/ 702 h 728"/>
                    <a:gd name="T4" fmla="*/ 299 w 1900"/>
                    <a:gd name="T5" fmla="*/ 685 h 728"/>
                    <a:gd name="T6" fmla="*/ 451 w 1900"/>
                    <a:gd name="T7" fmla="*/ 669 h 728"/>
                    <a:gd name="T8" fmla="*/ 607 w 1900"/>
                    <a:gd name="T9" fmla="*/ 654 h 728"/>
                    <a:gd name="T10" fmla="*/ 759 w 1900"/>
                    <a:gd name="T11" fmla="*/ 638 h 728"/>
                    <a:gd name="T12" fmla="*/ 912 w 1900"/>
                    <a:gd name="T13" fmla="*/ 615 h 728"/>
                    <a:gd name="T14" fmla="*/ 1061 w 1900"/>
                    <a:gd name="T15" fmla="*/ 581 h 728"/>
                    <a:gd name="T16" fmla="*/ 1202 w 1900"/>
                    <a:gd name="T17" fmla="*/ 536 h 728"/>
                    <a:gd name="T18" fmla="*/ 1341 w 1900"/>
                    <a:gd name="T19" fmla="*/ 477 h 728"/>
                    <a:gd name="T20" fmla="*/ 1471 w 1900"/>
                    <a:gd name="T21" fmla="*/ 398 h 728"/>
                    <a:gd name="T22" fmla="*/ 1519 w 1900"/>
                    <a:gd name="T23" fmla="*/ 361 h 728"/>
                    <a:gd name="T24" fmla="*/ 1564 w 1900"/>
                    <a:gd name="T25" fmla="*/ 324 h 728"/>
                    <a:gd name="T26" fmla="*/ 1606 w 1900"/>
                    <a:gd name="T27" fmla="*/ 285 h 728"/>
                    <a:gd name="T28" fmla="*/ 1648 w 1900"/>
                    <a:gd name="T29" fmla="*/ 245 h 728"/>
                    <a:gd name="T30" fmla="*/ 1691 w 1900"/>
                    <a:gd name="T31" fmla="*/ 203 h 728"/>
                    <a:gd name="T32" fmla="*/ 1733 w 1900"/>
                    <a:gd name="T33" fmla="*/ 161 h 728"/>
                    <a:gd name="T34" fmla="*/ 1773 w 1900"/>
                    <a:gd name="T35" fmla="*/ 121 h 728"/>
                    <a:gd name="T36" fmla="*/ 1815 w 1900"/>
                    <a:gd name="T37" fmla="*/ 79 h 728"/>
                    <a:gd name="T38" fmla="*/ 1857 w 1900"/>
                    <a:gd name="T39" fmla="*/ 39 h 728"/>
                    <a:gd name="T40" fmla="*/ 1900 w 1900"/>
                    <a:gd name="T41" fmla="*/ 0 h 72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900"/>
                    <a:gd name="T64" fmla="*/ 0 h 728"/>
                    <a:gd name="T65" fmla="*/ 1900 w 1900"/>
                    <a:gd name="T66" fmla="*/ 728 h 72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900" h="728">
                      <a:moveTo>
                        <a:pt x="0" y="728"/>
                      </a:moveTo>
                      <a:lnTo>
                        <a:pt x="149" y="702"/>
                      </a:lnTo>
                      <a:lnTo>
                        <a:pt x="299" y="685"/>
                      </a:lnTo>
                      <a:lnTo>
                        <a:pt x="451" y="669"/>
                      </a:lnTo>
                      <a:lnTo>
                        <a:pt x="607" y="654"/>
                      </a:lnTo>
                      <a:lnTo>
                        <a:pt x="759" y="638"/>
                      </a:lnTo>
                      <a:lnTo>
                        <a:pt x="912" y="615"/>
                      </a:lnTo>
                      <a:lnTo>
                        <a:pt x="1061" y="581"/>
                      </a:lnTo>
                      <a:lnTo>
                        <a:pt x="1202" y="536"/>
                      </a:lnTo>
                      <a:lnTo>
                        <a:pt x="1341" y="477"/>
                      </a:lnTo>
                      <a:lnTo>
                        <a:pt x="1471" y="398"/>
                      </a:lnTo>
                      <a:lnTo>
                        <a:pt x="1519" y="361"/>
                      </a:lnTo>
                      <a:lnTo>
                        <a:pt x="1564" y="324"/>
                      </a:lnTo>
                      <a:lnTo>
                        <a:pt x="1606" y="285"/>
                      </a:lnTo>
                      <a:lnTo>
                        <a:pt x="1648" y="245"/>
                      </a:lnTo>
                      <a:lnTo>
                        <a:pt x="1691" y="203"/>
                      </a:lnTo>
                      <a:lnTo>
                        <a:pt x="1733" y="161"/>
                      </a:lnTo>
                      <a:lnTo>
                        <a:pt x="1773" y="121"/>
                      </a:lnTo>
                      <a:lnTo>
                        <a:pt x="1815" y="79"/>
                      </a:lnTo>
                      <a:lnTo>
                        <a:pt x="1857" y="39"/>
                      </a:lnTo>
                      <a:lnTo>
                        <a:pt x="190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05" name="Freeform 76"/>
                <p:cNvSpPr>
                  <a:spLocks/>
                </p:cNvSpPr>
                <p:nvPr/>
              </p:nvSpPr>
              <p:spPr bwMode="auto">
                <a:xfrm>
                  <a:off x="3125" y="2332"/>
                  <a:ext cx="212" cy="211"/>
                </a:xfrm>
                <a:custGeom>
                  <a:avLst/>
                  <a:gdLst>
                    <a:gd name="T0" fmla="*/ 212 w 212"/>
                    <a:gd name="T1" fmla="*/ 104 h 211"/>
                    <a:gd name="T2" fmla="*/ 209 w 212"/>
                    <a:gd name="T3" fmla="*/ 87 h 211"/>
                    <a:gd name="T4" fmla="*/ 206 w 212"/>
                    <a:gd name="T5" fmla="*/ 70 h 211"/>
                    <a:gd name="T6" fmla="*/ 201 w 212"/>
                    <a:gd name="T7" fmla="*/ 56 h 211"/>
                    <a:gd name="T8" fmla="*/ 192 w 212"/>
                    <a:gd name="T9" fmla="*/ 42 h 211"/>
                    <a:gd name="T10" fmla="*/ 181 w 212"/>
                    <a:gd name="T11" fmla="*/ 31 h 211"/>
                    <a:gd name="T12" fmla="*/ 167 w 212"/>
                    <a:gd name="T13" fmla="*/ 19 h 211"/>
                    <a:gd name="T14" fmla="*/ 156 w 212"/>
                    <a:gd name="T15" fmla="*/ 11 h 211"/>
                    <a:gd name="T16" fmla="*/ 139 w 212"/>
                    <a:gd name="T17" fmla="*/ 5 h 211"/>
                    <a:gd name="T18" fmla="*/ 122 w 212"/>
                    <a:gd name="T19" fmla="*/ 0 h 211"/>
                    <a:gd name="T20" fmla="*/ 105 w 212"/>
                    <a:gd name="T21" fmla="*/ 0 h 211"/>
                    <a:gd name="T22" fmla="*/ 88 w 212"/>
                    <a:gd name="T23" fmla="*/ 0 h 211"/>
                    <a:gd name="T24" fmla="*/ 71 w 212"/>
                    <a:gd name="T25" fmla="*/ 5 h 211"/>
                    <a:gd name="T26" fmla="*/ 57 w 212"/>
                    <a:gd name="T27" fmla="*/ 11 h 211"/>
                    <a:gd name="T28" fmla="*/ 43 w 212"/>
                    <a:gd name="T29" fmla="*/ 19 h 211"/>
                    <a:gd name="T30" fmla="*/ 31 w 212"/>
                    <a:gd name="T31" fmla="*/ 31 h 211"/>
                    <a:gd name="T32" fmla="*/ 20 w 212"/>
                    <a:gd name="T33" fmla="*/ 42 h 211"/>
                    <a:gd name="T34" fmla="*/ 12 w 212"/>
                    <a:gd name="T35" fmla="*/ 56 h 211"/>
                    <a:gd name="T36" fmla="*/ 6 w 212"/>
                    <a:gd name="T37" fmla="*/ 70 h 211"/>
                    <a:gd name="T38" fmla="*/ 0 w 212"/>
                    <a:gd name="T39" fmla="*/ 87 h 211"/>
                    <a:gd name="T40" fmla="*/ 0 w 212"/>
                    <a:gd name="T41" fmla="*/ 104 h 211"/>
                    <a:gd name="T42" fmla="*/ 0 w 212"/>
                    <a:gd name="T43" fmla="*/ 121 h 211"/>
                    <a:gd name="T44" fmla="*/ 6 w 212"/>
                    <a:gd name="T45" fmla="*/ 138 h 211"/>
                    <a:gd name="T46" fmla="*/ 12 w 212"/>
                    <a:gd name="T47" fmla="*/ 152 h 211"/>
                    <a:gd name="T48" fmla="*/ 20 w 212"/>
                    <a:gd name="T49" fmla="*/ 166 h 211"/>
                    <a:gd name="T50" fmla="*/ 31 w 212"/>
                    <a:gd name="T51" fmla="*/ 180 h 211"/>
                    <a:gd name="T52" fmla="*/ 43 w 212"/>
                    <a:gd name="T53" fmla="*/ 189 h 211"/>
                    <a:gd name="T54" fmla="*/ 57 w 212"/>
                    <a:gd name="T55" fmla="*/ 200 h 211"/>
                    <a:gd name="T56" fmla="*/ 71 w 212"/>
                    <a:gd name="T57" fmla="*/ 206 h 211"/>
                    <a:gd name="T58" fmla="*/ 88 w 212"/>
                    <a:gd name="T59" fmla="*/ 209 h 211"/>
                    <a:gd name="T60" fmla="*/ 105 w 212"/>
                    <a:gd name="T61" fmla="*/ 211 h 211"/>
                    <a:gd name="T62" fmla="*/ 122 w 212"/>
                    <a:gd name="T63" fmla="*/ 209 h 211"/>
                    <a:gd name="T64" fmla="*/ 139 w 212"/>
                    <a:gd name="T65" fmla="*/ 206 h 211"/>
                    <a:gd name="T66" fmla="*/ 156 w 212"/>
                    <a:gd name="T67" fmla="*/ 200 h 211"/>
                    <a:gd name="T68" fmla="*/ 167 w 212"/>
                    <a:gd name="T69" fmla="*/ 189 h 211"/>
                    <a:gd name="T70" fmla="*/ 181 w 212"/>
                    <a:gd name="T71" fmla="*/ 180 h 211"/>
                    <a:gd name="T72" fmla="*/ 192 w 212"/>
                    <a:gd name="T73" fmla="*/ 166 h 211"/>
                    <a:gd name="T74" fmla="*/ 201 w 212"/>
                    <a:gd name="T75" fmla="*/ 152 h 211"/>
                    <a:gd name="T76" fmla="*/ 206 w 212"/>
                    <a:gd name="T77" fmla="*/ 138 h 211"/>
                    <a:gd name="T78" fmla="*/ 209 w 212"/>
                    <a:gd name="T79" fmla="*/ 121 h 211"/>
                    <a:gd name="T80" fmla="*/ 212 w 212"/>
                    <a:gd name="T81" fmla="*/ 104 h 211"/>
                    <a:gd name="T82" fmla="*/ 212 w 212"/>
                    <a:gd name="T83" fmla="*/ 104 h 21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2"/>
                    <a:gd name="T127" fmla="*/ 0 h 211"/>
                    <a:gd name="T128" fmla="*/ 212 w 212"/>
                    <a:gd name="T129" fmla="*/ 211 h 211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2" h="211">
                      <a:moveTo>
                        <a:pt x="212" y="104"/>
                      </a:moveTo>
                      <a:lnTo>
                        <a:pt x="209" y="87"/>
                      </a:lnTo>
                      <a:lnTo>
                        <a:pt x="206" y="70"/>
                      </a:lnTo>
                      <a:lnTo>
                        <a:pt x="201" y="56"/>
                      </a:lnTo>
                      <a:lnTo>
                        <a:pt x="192" y="42"/>
                      </a:lnTo>
                      <a:lnTo>
                        <a:pt x="181" y="31"/>
                      </a:lnTo>
                      <a:lnTo>
                        <a:pt x="167" y="19"/>
                      </a:lnTo>
                      <a:lnTo>
                        <a:pt x="156" y="11"/>
                      </a:lnTo>
                      <a:lnTo>
                        <a:pt x="139" y="5"/>
                      </a:lnTo>
                      <a:lnTo>
                        <a:pt x="122" y="0"/>
                      </a:lnTo>
                      <a:lnTo>
                        <a:pt x="105" y="0"/>
                      </a:lnTo>
                      <a:lnTo>
                        <a:pt x="88" y="0"/>
                      </a:lnTo>
                      <a:lnTo>
                        <a:pt x="71" y="5"/>
                      </a:lnTo>
                      <a:lnTo>
                        <a:pt x="57" y="11"/>
                      </a:lnTo>
                      <a:lnTo>
                        <a:pt x="43" y="19"/>
                      </a:lnTo>
                      <a:lnTo>
                        <a:pt x="31" y="31"/>
                      </a:lnTo>
                      <a:lnTo>
                        <a:pt x="20" y="42"/>
                      </a:lnTo>
                      <a:lnTo>
                        <a:pt x="12" y="56"/>
                      </a:lnTo>
                      <a:lnTo>
                        <a:pt x="6" y="70"/>
                      </a:lnTo>
                      <a:lnTo>
                        <a:pt x="0" y="87"/>
                      </a:lnTo>
                      <a:lnTo>
                        <a:pt x="0" y="104"/>
                      </a:lnTo>
                      <a:lnTo>
                        <a:pt x="0" y="121"/>
                      </a:lnTo>
                      <a:lnTo>
                        <a:pt x="6" y="138"/>
                      </a:lnTo>
                      <a:lnTo>
                        <a:pt x="12" y="152"/>
                      </a:lnTo>
                      <a:lnTo>
                        <a:pt x="20" y="166"/>
                      </a:lnTo>
                      <a:lnTo>
                        <a:pt x="31" y="180"/>
                      </a:lnTo>
                      <a:lnTo>
                        <a:pt x="43" y="189"/>
                      </a:lnTo>
                      <a:lnTo>
                        <a:pt x="57" y="200"/>
                      </a:lnTo>
                      <a:lnTo>
                        <a:pt x="71" y="206"/>
                      </a:lnTo>
                      <a:lnTo>
                        <a:pt x="88" y="209"/>
                      </a:lnTo>
                      <a:lnTo>
                        <a:pt x="105" y="211"/>
                      </a:lnTo>
                      <a:lnTo>
                        <a:pt x="122" y="209"/>
                      </a:lnTo>
                      <a:lnTo>
                        <a:pt x="139" y="206"/>
                      </a:lnTo>
                      <a:lnTo>
                        <a:pt x="156" y="200"/>
                      </a:lnTo>
                      <a:lnTo>
                        <a:pt x="167" y="189"/>
                      </a:lnTo>
                      <a:lnTo>
                        <a:pt x="181" y="180"/>
                      </a:lnTo>
                      <a:lnTo>
                        <a:pt x="192" y="166"/>
                      </a:lnTo>
                      <a:lnTo>
                        <a:pt x="201" y="152"/>
                      </a:lnTo>
                      <a:lnTo>
                        <a:pt x="206" y="138"/>
                      </a:lnTo>
                      <a:lnTo>
                        <a:pt x="209" y="121"/>
                      </a:lnTo>
                      <a:lnTo>
                        <a:pt x="212" y="10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500" name="Rectangle 77"/>
              <p:cNvSpPr>
                <a:spLocks noChangeArrowheads="1"/>
              </p:cNvSpPr>
              <p:nvPr/>
            </p:nvSpPr>
            <p:spPr bwMode="auto">
              <a:xfrm>
                <a:off x="3199" y="2386"/>
                <a:ext cx="53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</a:rPr>
                  <a:t>2</a:t>
                </a:r>
                <a:endParaRPr lang="en-US" b="1"/>
              </a:p>
            </p:txBody>
          </p:sp>
          <p:grpSp>
            <p:nvGrpSpPr>
              <p:cNvPr id="12" name="Group 78"/>
              <p:cNvGrpSpPr>
                <a:grpSpLocks/>
              </p:cNvGrpSpPr>
              <p:nvPr/>
            </p:nvGrpSpPr>
            <p:grpSpPr bwMode="auto">
              <a:xfrm>
                <a:off x="3984" y="1584"/>
                <a:ext cx="241" cy="173"/>
                <a:chOff x="1784" y="2425"/>
                <a:chExt cx="160" cy="173"/>
              </a:xfrm>
            </p:grpSpPr>
            <p:sp>
              <p:nvSpPr>
                <p:cNvPr id="18502" name="Rectangle 79"/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53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8503" name="Rectangle 80"/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06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13" name="Group 81"/>
          <p:cNvGrpSpPr>
            <a:grpSpLocks/>
          </p:cNvGrpSpPr>
          <p:nvPr/>
        </p:nvGrpSpPr>
        <p:grpSpPr bwMode="auto">
          <a:xfrm>
            <a:off x="6705600" y="1752600"/>
            <a:ext cx="600075" cy="1014413"/>
            <a:chOff x="4224" y="1118"/>
            <a:chExt cx="378" cy="639"/>
          </a:xfrm>
        </p:grpSpPr>
        <p:sp>
          <p:nvSpPr>
            <p:cNvPr id="18487" name="Freeform 82"/>
            <p:cNvSpPr>
              <a:spLocks/>
            </p:cNvSpPr>
            <p:nvPr/>
          </p:nvSpPr>
          <p:spPr bwMode="auto">
            <a:xfrm>
              <a:off x="4255" y="1522"/>
              <a:ext cx="81" cy="76"/>
            </a:xfrm>
            <a:custGeom>
              <a:avLst/>
              <a:gdLst>
                <a:gd name="T0" fmla="*/ 62 w 81"/>
                <a:gd name="T1" fmla="*/ 17 h 76"/>
                <a:gd name="T2" fmla="*/ 81 w 81"/>
                <a:gd name="T3" fmla="*/ 36 h 76"/>
                <a:gd name="T4" fmla="*/ 0 w 81"/>
                <a:gd name="T5" fmla="*/ 76 h 76"/>
                <a:gd name="T6" fmla="*/ 48 w 81"/>
                <a:gd name="T7" fmla="*/ 0 h 76"/>
                <a:gd name="T8" fmla="*/ 62 w 81"/>
                <a:gd name="T9" fmla="*/ 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6"/>
                <a:gd name="T17" fmla="*/ 81 w 8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6">
                  <a:moveTo>
                    <a:pt x="62" y="17"/>
                  </a:moveTo>
                  <a:lnTo>
                    <a:pt x="81" y="36"/>
                  </a:lnTo>
                  <a:lnTo>
                    <a:pt x="0" y="76"/>
                  </a:lnTo>
                  <a:lnTo>
                    <a:pt x="48" y="0"/>
                  </a:lnTo>
                  <a:lnTo>
                    <a:pt x="62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88" name="Freeform 83"/>
            <p:cNvSpPr>
              <a:spLocks/>
            </p:cNvSpPr>
            <p:nvPr/>
          </p:nvSpPr>
          <p:spPr bwMode="auto">
            <a:xfrm>
              <a:off x="4255" y="1118"/>
              <a:ext cx="112" cy="421"/>
            </a:xfrm>
            <a:custGeom>
              <a:avLst/>
              <a:gdLst>
                <a:gd name="T0" fmla="*/ 0 w 112"/>
                <a:gd name="T1" fmla="*/ 0 h 421"/>
                <a:gd name="T2" fmla="*/ 22 w 112"/>
                <a:gd name="T3" fmla="*/ 37 h 421"/>
                <a:gd name="T4" fmla="*/ 45 w 112"/>
                <a:gd name="T5" fmla="*/ 79 h 421"/>
                <a:gd name="T6" fmla="*/ 67 w 112"/>
                <a:gd name="T7" fmla="*/ 124 h 421"/>
                <a:gd name="T8" fmla="*/ 84 w 112"/>
                <a:gd name="T9" fmla="*/ 169 h 421"/>
                <a:gd name="T10" fmla="*/ 101 w 112"/>
                <a:gd name="T11" fmla="*/ 217 h 421"/>
                <a:gd name="T12" fmla="*/ 110 w 112"/>
                <a:gd name="T13" fmla="*/ 262 h 421"/>
                <a:gd name="T14" fmla="*/ 112 w 112"/>
                <a:gd name="T15" fmla="*/ 308 h 421"/>
                <a:gd name="T16" fmla="*/ 107 w 112"/>
                <a:gd name="T17" fmla="*/ 350 h 421"/>
                <a:gd name="T18" fmla="*/ 93 w 112"/>
                <a:gd name="T19" fmla="*/ 387 h 421"/>
                <a:gd name="T20" fmla="*/ 67 w 112"/>
                <a:gd name="T21" fmla="*/ 421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2"/>
                <a:gd name="T34" fmla="*/ 0 h 421"/>
                <a:gd name="T35" fmla="*/ 112 w 112"/>
                <a:gd name="T36" fmla="*/ 421 h 4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2" h="421">
                  <a:moveTo>
                    <a:pt x="0" y="0"/>
                  </a:moveTo>
                  <a:lnTo>
                    <a:pt x="22" y="37"/>
                  </a:lnTo>
                  <a:lnTo>
                    <a:pt x="45" y="79"/>
                  </a:lnTo>
                  <a:lnTo>
                    <a:pt x="67" y="124"/>
                  </a:lnTo>
                  <a:lnTo>
                    <a:pt x="84" y="169"/>
                  </a:lnTo>
                  <a:lnTo>
                    <a:pt x="101" y="217"/>
                  </a:lnTo>
                  <a:lnTo>
                    <a:pt x="110" y="262"/>
                  </a:lnTo>
                  <a:lnTo>
                    <a:pt x="112" y="308"/>
                  </a:lnTo>
                  <a:lnTo>
                    <a:pt x="107" y="350"/>
                  </a:lnTo>
                  <a:lnTo>
                    <a:pt x="93" y="387"/>
                  </a:lnTo>
                  <a:lnTo>
                    <a:pt x="67" y="421"/>
                  </a:lnTo>
                </a:path>
              </a:pathLst>
            </a:custGeom>
            <a:noFill/>
            <a:ln w="9525">
              <a:solidFill>
                <a:srgbClr val="114FFB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" name="Group 84"/>
            <p:cNvGrpSpPr>
              <a:grpSpLocks/>
            </p:cNvGrpSpPr>
            <p:nvPr/>
          </p:nvGrpSpPr>
          <p:grpSpPr bwMode="auto">
            <a:xfrm>
              <a:off x="4368" y="1152"/>
              <a:ext cx="234" cy="214"/>
              <a:chOff x="4704" y="1389"/>
              <a:chExt cx="234" cy="214"/>
            </a:xfrm>
          </p:grpSpPr>
          <p:sp>
            <p:nvSpPr>
              <p:cNvPr id="18493" name="Freeform 85"/>
              <p:cNvSpPr>
                <a:spLocks/>
              </p:cNvSpPr>
              <p:nvPr/>
            </p:nvSpPr>
            <p:spPr bwMode="auto">
              <a:xfrm>
                <a:off x="4726" y="1389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124 h 211"/>
                  <a:gd name="T4" fmla="*/ 206 w 212"/>
                  <a:gd name="T5" fmla="*/ 141 h 211"/>
                  <a:gd name="T6" fmla="*/ 201 w 212"/>
                  <a:gd name="T7" fmla="*/ 155 h 211"/>
                  <a:gd name="T8" fmla="*/ 192 w 212"/>
                  <a:gd name="T9" fmla="*/ 169 h 211"/>
                  <a:gd name="T10" fmla="*/ 181 w 212"/>
                  <a:gd name="T11" fmla="*/ 180 h 211"/>
                  <a:gd name="T12" fmla="*/ 167 w 212"/>
                  <a:gd name="T13" fmla="*/ 192 h 211"/>
                  <a:gd name="T14" fmla="*/ 155 w 212"/>
                  <a:gd name="T15" fmla="*/ 200 h 211"/>
                  <a:gd name="T16" fmla="*/ 138 w 212"/>
                  <a:gd name="T17" fmla="*/ 206 h 211"/>
                  <a:gd name="T18" fmla="*/ 122 w 212"/>
                  <a:gd name="T19" fmla="*/ 211 h 211"/>
                  <a:gd name="T20" fmla="*/ 105 w 212"/>
                  <a:gd name="T21" fmla="*/ 211 h 211"/>
                  <a:gd name="T22" fmla="*/ 88 w 212"/>
                  <a:gd name="T23" fmla="*/ 211 h 211"/>
                  <a:gd name="T24" fmla="*/ 71 w 212"/>
                  <a:gd name="T25" fmla="*/ 206 h 211"/>
                  <a:gd name="T26" fmla="*/ 57 w 212"/>
                  <a:gd name="T27" fmla="*/ 200 h 211"/>
                  <a:gd name="T28" fmla="*/ 42 w 212"/>
                  <a:gd name="T29" fmla="*/ 192 h 211"/>
                  <a:gd name="T30" fmla="*/ 31 w 212"/>
                  <a:gd name="T31" fmla="*/ 180 h 211"/>
                  <a:gd name="T32" fmla="*/ 20 w 212"/>
                  <a:gd name="T33" fmla="*/ 169 h 211"/>
                  <a:gd name="T34" fmla="*/ 11 w 212"/>
                  <a:gd name="T35" fmla="*/ 155 h 211"/>
                  <a:gd name="T36" fmla="*/ 6 w 212"/>
                  <a:gd name="T37" fmla="*/ 141 h 211"/>
                  <a:gd name="T38" fmla="*/ 0 w 212"/>
                  <a:gd name="T39" fmla="*/ 124 h 211"/>
                  <a:gd name="T40" fmla="*/ 0 w 212"/>
                  <a:gd name="T41" fmla="*/ 107 h 211"/>
                  <a:gd name="T42" fmla="*/ 0 w 212"/>
                  <a:gd name="T43" fmla="*/ 90 h 211"/>
                  <a:gd name="T44" fmla="*/ 6 w 212"/>
                  <a:gd name="T45" fmla="*/ 73 h 211"/>
                  <a:gd name="T46" fmla="*/ 11 w 212"/>
                  <a:gd name="T47" fmla="*/ 59 h 211"/>
                  <a:gd name="T48" fmla="*/ 20 w 212"/>
                  <a:gd name="T49" fmla="*/ 45 h 211"/>
                  <a:gd name="T50" fmla="*/ 31 w 212"/>
                  <a:gd name="T51" fmla="*/ 31 h 211"/>
                  <a:gd name="T52" fmla="*/ 42 w 212"/>
                  <a:gd name="T53" fmla="*/ 19 h 211"/>
                  <a:gd name="T54" fmla="*/ 57 w 212"/>
                  <a:gd name="T55" fmla="*/ 11 h 211"/>
                  <a:gd name="T56" fmla="*/ 71 w 212"/>
                  <a:gd name="T57" fmla="*/ 5 h 211"/>
                  <a:gd name="T58" fmla="*/ 88 w 212"/>
                  <a:gd name="T59" fmla="*/ 3 h 211"/>
                  <a:gd name="T60" fmla="*/ 105 w 212"/>
                  <a:gd name="T61" fmla="*/ 0 h 211"/>
                  <a:gd name="T62" fmla="*/ 122 w 212"/>
                  <a:gd name="T63" fmla="*/ 3 h 211"/>
                  <a:gd name="T64" fmla="*/ 138 w 212"/>
                  <a:gd name="T65" fmla="*/ 5 h 211"/>
                  <a:gd name="T66" fmla="*/ 155 w 212"/>
                  <a:gd name="T67" fmla="*/ 11 h 211"/>
                  <a:gd name="T68" fmla="*/ 167 w 212"/>
                  <a:gd name="T69" fmla="*/ 19 h 211"/>
                  <a:gd name="T70" fmla="*/ 181 w 212"/>
                  <a:gd name="T71" fmla="*/ 31 h 211"/>
                  <a:gd name="T72" fmla="*/ 192 w 212"/>
                  <a:gd name="T73" fmla="*/ 45 h 211"/>
                  <a:gd name="T74" fmla="*/ 201 w 212"/>
                  <a:gd name="T75" fmla="*/ 59 h 211"/>
                  <a:gd name="T76" fmla="*/ 206 w 212"/>
                  <a:gd name="T77" fmla="*/ 73 h 211"/>
                  <a:gd name="T78" fmla="*/ 209 w 212"/>
                  <a:gd name="T79" fmla="*/ 90 h 211"/>
                  <a:gd name="T80" fmla="*/ 212 w 212"/>
                  <a:gd name="T81" fmla="*/ 107 h 211"/>
                  <a:gd name="T82" fmla="*/ 209 w 212"/>
                  <a:gd name="T83" fmla="*/ 104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124"/>
                    </a:lnTo>
                    <a:lnTo>
                      <a:pt x="206" y="141"/>
                    </a:lnTo>
                    <a:lnTo>
                      <a:pt x="201" y="155"/>
                    </a:lnTo>
                    <a:lnTo>
                      <a:pt x="192" y="169"/>
                    </a:lnTo>
                    <a:lnTo>
                      <a:pt x="181" y="180"/>
                    </a:lnTo>
                    <a:lnTo>
                      <a:pt x="167" y="192"/>
                    </a:lnTo>
                    <a:lnTo>
                      <a:pt x="155" y="200"/>
                    </a:lnTo>
                    <a:lnTo>
                      <a:pt x="138" y="206"/>
                    </a:lnTo>
                    <a:lnTo>
                      <a:pt x="122" y="211"/>
                    </a:lnTo>
                    <a:lnTo>
                      <a:pt x="105" y="211"/>
                    </a:lnTo>
                    <a:lnTo>
                      <a:pt x="88" y="211"/>
                    </a:lnTo>
                    <a:lnTo>
                      <a:pt x="71" y="206"/>
                    </a:lnTo>
                    <a:lnTo>
                      <a:pt x="57" y="200"/>
                    </a:lnTo>
                    <a:lnTo>
                      <a:pt x="42" y="192"/>
                    </a:lnTo>
                    <a:lnTo>
                      <a:pt x="31" y="180"/>
                    </a:lnTo>
                    <a:lnTo>
                      <a:pt x="20" y="169"/>
                    </a:lnTo>
                    <a:lnTo>
                      <a:pt x="11" y="155"/>
                    </a:lnTo>
                    <a:lnTo>
                      <a:pt x="6" y="141"/>
                    </a:lnTo>
                    <a:lnTo>
                      <a:pt x="0" y="124"/>
                    </a:lnTo>
                    <a:lnTo>
                      <a:pt x="0" y="107"/>
                    </a:lnTo>
                    <a:lnTo>
                      <a:pt x="0" y="90"/>
                    </a:lnTo>
                    <a:lnTo>
                      <a:pt x="6" y="73"/>
                    </a:lnTo>
                    <a:lnTo>
                      <a:pt x="11" y="59"/>
                    </a:lnTo>
                    <a:lnTo>
                      <a:pt x="20" y="45"/>
                    </a:lnTo>
                    <a:lnTo>
                      <a:pt x="31" y="31"/>
                    </a:lnTo>
                    <a:lnTo>
                      <a:pt x="42" y="19"/>
                    </a:lnTo>
                    <a:lnTo>
                      <a:pt x="57" y="11"/>
                    </a:lnTo>
                    <a:lnTo>
                      <a:pt x="71" y="5"/>
                    </a:lnTo>
                    <a:lnTo>
                      <a:pt x="88" y="3"/>
                    </a:lnTo>
                    <a:lnTo>
                      <a:pt x="105" y="0"/>
                    </a:lnTo>
                    <a:lnTo>
                      <a:pt x="122" y="3"/>
                    </a:lnTo>
                    <a:lnTo>
                      <a:pt x="138" y="5"/>
                    </a:lnTo>
                    <a:lnTo>
                      <a:pt x="155" y="11"/>
                    </a:lnTo>
                    <a:lnTo>
                      <a:pt x="167" y="19"/>
                    </a:lnTo>
                    <a:lnTo>
                      <a:pt x="181" y="31"/>
                    </a:lnTo>
                    <a:lnTo>
                      <a:pt x="192" y="45"/>
                    </a:lnTo>
                    <a:lnTo>
                      <a:pt x="201" y="59"/>
                    </a:lnTo>
                    <a:lnTo>
                      <a:pt x="206" y="73"/>
                    </a:lnTo>
                    <a:lnTo>
                      <a:pt x="209" y="90"/>
                    </a:lnTo>
                    <a:lnTo>
                      <a:pt x="212" y="107"/>
                    </a:lnTo>
                    <a:lnTo>
                      <a:pt x="209" y="10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94" name="Freeform 86"/>
              <p:cNvSpPr>
                <a:spLocks/>
              </p:cNvSpPr>
              <p:nvPr/>
            </p:nvSpPr>
            <p:spPr bwMode="auto">
              <a:xfrm>
                <a:off x="4704" y="1392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90 h 211"/>
                  <a:gd name="T4" fmla="*/ 206 w 212"/>
                  <a:gd name="T5" fmla="*/ 73 h 211"/>
                  <a:gd name="T6" fmla="*/ 201 w 212"/>
                  <a:gd name="T7" fmla="*/ 59 h 211"/>
                  <a:gd name="T8" fmla="*/ 192 w 212"/>
                  <a:gd name="T9" fmla="*/ 45 h 211"/>
                  <a:gd name="T10" fmla="*/ 181 w 212"/>
                  <a:gd name="T11" fmla="*/ 31 h 211"/>
                  <a:gd name="T12" fmla="*/ 167 w 212"/>
                  <a:gd name="T13" fmla="*/ 19 h 211"/>
                  <a:gd name="T14" fmla="*/ 155 w 212"/>
                  <a:gd name="T15" fmla="*/ 11 h 211"/>
                  <a:gd name="T16" fmla="*/ 138 w 212"/>
                  <a:gd name="T17" fmla="*/ 5 h 211"/>
                  <a:gd name="T18" fmla="*/ 122 w 212"/>
                  <a:gd name="T19" fmla="*/ 3 h 211"/>
                  <a:gd name="T20" fmla="*/ 105 w 212"/>
                  <a:gd name="T21" fmla="*/ 0 h 211"/>
                  <a:gd name="T22" fmla="*/ 88 w 212"/>
                  <a:gd name="T23" fmla="*/ 3 h 211"/>
                  <a:gd name="T24" fmla="*/ 71 w 212"/>
                  <a:gd name="T25" fmla="*/ 5 h 211"/>
                  <a:gd name="T26" fmla="*/ 57 w 212"/>
                  <a:gd name="T27" fmla="*/ 11 h 211"/>
                  <a:gd name="T28" fmla="*/ 42 w 212"/>
                  <a:gd name="T29" fmla="*/ 19 h 211"/>
                  <a:gd name="T30" fmla="*/ 31 w 212"/>
                  <a:gd name="T31" fmla="*/ 31 h 211"/>
                  <a:gd name="T32" fmla="*/ 20 w 212"/>
                  <a:gd name="T33" fmla="*/ 45 h 211"/>
                  <a:gd name="T34" fmla="*/ 11 w 212"/>
                  <a:gd name="T35" fmla="*/ 59 h 211"/>
                  <a:gd name="T36" fmla="*/ 6 w 212"/>
                  <a:gd name="T37" fmla="*/ 73 h 211"/>
                  <a:gd name="T38" fmla="*/ 0 w 212"/>
                  <a:gd name="T39" fmla="*/ 90 h 211"/>
                  <a:gd name="T40" fmla="*/ 0 w 212"/>
                  <a:gd name="T41" fmla="*/ 107 h 211"/>
                  <a:gd name="T42" fmla="*/ 0 w 212"/>
                  <a:gd name="T43" fmla="*/ 124 h 211"/>
                  <a:gd name="T44" fmla="*/ 6 w 212"/>
                  <a:gd name="T45" fmla="*/ 141 h 211"/>
                  <a:gd name="T46" fmla="*/ 11 w 212"/>
                  <a:gd name="T47" fmla="*/ 155 h 211"/>
                  <a:gd name="T48" fmla="*/ 20 w 212"/>
                  <a:gd name="T49" fmla="*/ 169 h 211"/>
                  <a:gd name="T50" fmla="*/ 31 w 212"/>
                  <a:gd name="T51" fmla="*/ 180 h 211"/>
                  <a:gd name="T52" fmla="*/ 42 w 212"/>
                  <a:gd name="T53" fmla="*/ 192 h 211"/>
                  <a:gd name="T54" fmla="*/ 57 w 212"/>
                  <a:gd name="T55" fmla="*/ 200 h 211"/>
                  <a:gd name="T56" fmla="*/ 71 w 212"/>
                  <a:gd name="T57" fmla="*/ 206 h 211"/>
                  <a:gd name="T58" fmla="*/ 88 w 212"/>
                  <a:gd name="T59" fmla="*/ 211 h 211"/>
                  <a:gd name="T60" fmla="*/ 105 w 212"/>
                  <a:gd name="T61" fmla="*/ 211 h 211"/>
                  <a:gd name="T62" fmla="*/ 122 w 212"/>
                  <a:gd name="T63" fmla="*/ 211 h 211"/>
                  <a:gd name="T64" fmla="*/ 138 w 212"/>
                  <a:gd name="T65" fmla="*/ 206 h 211"/>
                  <a:gd name="T66" fmla="*/ 155 w 212"/>
                  <a:gd name="T67" fmla="*/ 200 h 211"/>
                  <a:gd name="T68" fmla="*/ 167 w 212"/>
                  <a:gd name="T69" fmla="*/ 192 h 211"/>
                  <a:gd name="T70" fmla="*/ 181 w 212"/>
                  <a:gd name="T71" fmla="*/ 180 h 211"/>
                  <a:gd name="T72" fmla="*/ 192 w 212"/>
                  <a:gd name="T73" fmla="*/ 169 h 211"/>
                  <a:gd name="T74" fmla="*/ 201 w 212"/>
                  <a:gd name="T75" fmla="*/ 155 h 211"/>
                  <a:gd name="T76" fmla="*/ 206 w 212"/>
                  <a:gd name="T77" fmla="*/ 141 h 211"/>
                  <a:gd name="T78" fmla="*/ 209 w 212"/>
                  <a:gd name="T79" fmla="*/ 124 h 211"/>
                  <a:gd name="T80" fmla="*/ 212 w 212"/>
                  <a:gd name="T81" fmla="*/ 107 h 211"/>
                  <a:gd name="T82" fmla="*/ 212 w 212"/>
                  <a:gd name="T83" fmla="*/ 107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90"/>
                    </a:lnTo>
                    <a:lnTo>
                      <a:pt x="206" y="73"/>
                    </a:lnTo>
                    <a:lnTo>
                      <a:pt x="201" y="59"/>
                    </a:lnTo>
                    <a:lnTo>
                      <a:pt x="192" y="45"/>
                    </a:lnTo>
                    <a:lnTo>
                      <a:pt x="181" y="31"/>
                    </a:lnTo>
                    <a:lnTo>
                      <a:pt x="167" y="19"/>
                    </a:lnTo>
                    <a:lnTo>
                      <a:pt x="155" y="11"/>
                    </a:lnTo>
                    <a:lnTo>
                      <a:pt x="138" y="5"/>
                    </a:lnTo>
                    <a:lnTo>
                      <a:pt x="122" y="3"/>
                    </a:lnTo>
                    <a:lnTo>
                      <a:pt x="105" y="0"/>
                    </a:lnTo>
                    <a:lnTo>
                      <a:pt x="88" y="3"/>
                    </a:lnTo>
                    <a:lnTo>
                      <a:pt x="71" y="5"/>
                    </a:lnTo>
                    <a:lnTo>
                      <a:pt x="57" y="11"/>
                    </a:lnTo>
                    <a:lnTo>
                      <a:pt x="42" y="19"/>
                    </a:lnTo>
                    <a:lnTo>
                      <a:pt x="31" y="31"/>
                    </a:lnTo>
                    <a:lnTo>
                      <a:pt x="20" y="45"/>
                    </a:lnTo>
                    <a:lnTo>
                      <a:pt x="11" y="59"/>
                    </a:lnTo>
                    <a:lnTo>
                      <a:pt x="6" y="73"/>
                    </a:lnTo>
                    <a:lnTo>
                      <a:pt x="0" y="90"/>
                    </a:lnTo>
                    <a:lnTo>
                      <a:pt x="0" y="107"/>
                    </a:lnTo>
                    <a:lnTo>
                      <a:pt x="0" y="124"/>
                    </a:lnTo>
                    <a:lnTo>
                      <a:pt x="6" y="141"/>
                    </a:lnTo>
                    <a:lnTo>
                      <a:pt x="11" y="155"/>
                    </a:lnTo>
                    <a:lnTo>
                      <a:pt x="20" y="169"/>
                    </a:lnTo>
                    <a:lnTo>
                      <a:pt x="31" y="180"/>
                    </a:lnTo>
                    <a:lnTo>
                      <a:pt x="42" y="192"/>
                    </a:lnTo>
                    <a:lnTo>
                      <a:pt x="57" y="200"/>
                    </a:lnTo>
                    <a:lnTo>
                      <a:pt x="71" y="206"/>
                    </a:lnTo>
                    <a:lnTo>
                      <a:pt x="88" y="211"/>
                    </a:lnTo>
                    <a:lnTo>
                      <a:pt x="105" y="211"/>
                    </a:lnTo>
                    <a:lnTo>
                      <a:pt x="122" y="211"/>
                    </a:lnTo>
                    <a:lnTo>
                      <a:pt x="138" y="206"/>
                    </a:lnTo>
                    <a:lnTo>
                      <a:pt x="155" y="200"/>
                    </a:lnTo>
                    <a:lnTo>
                      <a:pt x="167" y="192"/>
                    </a:lnTo>
                    <a:lnTo>
                      <a:pt x="181" y="180"/>
                    </a:lnTo>
                    <a:lnTo>
                      <a:pt x="192" y="169"/>
                    </a:lnTo>
                    <a:lnTo>
                      <a:pt x="201" y="155"/>
                    </a:lnTo>
                    <a:lnTo>
                      <a:pt x="206" y="141"/>
                    </a:lnTo>
                    <a:lnTo>
                      <a:pt x="209" y="124"/>
                    </a:lnTo>
                    <a:lnTo>
                      <a:pt x="212" y="10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95" name="Rectangle 87"/>
              <p:cNvSpPr>
                <a:spLocks noChangeArrowheads="1"/>
              </p:cNvSpPr>
              <p:nvPr/>
            </p:nvSpPr>
            <p:spPr bwMode="auto">
              <a:xfrm>
                <a:off x="4800" y="1440"/>
                <a:ext cx="53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</a:rPr>
                  <a:t>3</a:t>
                </a:r>
                <a:endParaRPr lang="en-US" b="1"/>
              </a:p>
            </p:txBody>
          </p:sp>
        </p:grpSp>
        <p:grpSp>
          <p:nvGrpSpPr>
            <p:cNvPr id="15" name="Group 88"/>
            <p:cNvGrpSpPr>
              <a:grpSpLocks/>
            </p:cNvGrpSpPr>
            <p:nvPr/>
          </p:nvGrpSpPr>
          <p:grpSpPr bwMode="auto">
            <a:xfrm>
              <a:off x="4224" y="1584"/>
              <a:ext cx="295" cy="173"/>
              <a:chOff x="4390" y="1234"/>
              <a:chExt cx="295" cy="173"/>
            </a:xfrm>
          </p:grpSpPr>
          <p:sp>
            <p:nvSpPr>
              <p:cNvPr id="18491" name="Rectangle 89"/>
              <p:cNvSpPr>
                <a:spLocks noChangeArrowheads="1"/>
              </p:cNvSpPr>
              <p:nvPr/>
            </p:nvSpPr>
            <p:spPr bwMode="auto">
              <a:xfrm>
                <a:off x="4390" y="1234"/>
                <a:ext cx="8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olidFill>
                      <a:srgbClr val="114FFB"/>
                    </a:solidFill>
                  </a:rPr>
                  <a:t>u</a:t>
                </a:r>
                <a:endParaRPr lang="en-US" sz="2000" b="1">
                  <a:solidFill>
                    <a:srgbClr val="114FFB"/>
                  </a:solidFill>
                </a:endParaRPr>
              </a:p>
            </p:txBody>
          </p:sp>
          <p:sp>
            <p:nvSpPr>
              <p:cNvPr id="18492" name="Rectangle 90"/>
              <p:cNvSpPr>
                <a:spLocks noChangeArrowheads="1"/>
              </p:cNvSpPr>
              <p:nvPr/>
            </p:nvSpPr>
            <p:spPr bwMode="auto">
              <a:xfrm>
                <a:off x="4441" y="1234"/>
                <a:ext cx="24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olidFill>
                      <a:srgbClr val="114FFB"/>
                    </a:solidFill>
                  </a:rPr>
                  <a:t> = 7</a:t>
                </a:r>
                <a:endParaRPr lang="en-US" sz="2000" b="1">
                  <a:solidFill>
                    <a:srgbClr val="114FFB"/>
                  </a:solidFill>
                </a:endParaRPr>
              </a:p>
            </p:txBody>
          </p:sp>
        </p:grpSp>
      </p:grpSp>
      <p:grpSp>
        <p:nvGrpSpPr>
          <p:cNvPr id="16" name="Group 91"/>
          <p:cNvGrpSpPr>
            <a:grpSpLocks/>
          </p:cNvGrpSpPr>
          <p:nvPr/>
        </p:nvGrpSpPr>
        <p:grpSpPr bwMode="auto">
          <a:xfrm>
            <a:off x="1676400" y="1905000"/>
            <a:ext cx="5029200" cy="1282700"/>
            <a:chOff x="1056" y="1200"/>
            <a:chExt cx="3168" cy="808"/>
          </a:xfrm>
        </p:grpSpPr>
        <p:sp>
          <p:nvSpPr>
            <p:cNvPr id="18484" name="Freeform 92"/>
            <p:cNvSpPr>
              <a:spLocks/>
            </p:cNvSpPr>
            <p:nvPr/>
          </p:nvSpPr>
          <p:spPr bwMode="auto">
            <a:xfrm>
              <a:off x="1280" y="1200"/>
              <a:ext cx="2944" cy="808"/>
            </a:xfrm>
            <a:custGeom>
              <a:avLst/>
              <a:gdLst>
                <a:gd name="T0" fmla="*/ 2848 w 2944"/>
                <a:gd name="T1" fmla="*/ 0 h 808"/>
                <a:gd name="T2" fmla="*/ 2800 w 2944"/>
                <a:gd name="T3" fmla="*/ 672 h 808"/>
                <a:gd name="T4" fmla="*/ 1984 w 2944"/>
                <a:gd name="T5" fmla="*/ 768 h 808"/>
                <a:gd name="T6" fmla="*/ 304 w 2944"/>
                <a:gd name="T7" fmla="*/ 768 h 808"/>
                <a:gd name="T8" fmla="*/ 160 w 2944"/>
                <a:gd name="T9" fmla="*/ 528 h 8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44"/>
                <a:gd name="T16" fmla="*/ 0 h 808"/>
                <a:gd name="T17" fmla="*/ 2944 w 2944"/>
                <a:gd name="T18" fmla="*/ 808 h 8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44" h="808">
                  <a:moveTo>
                    <a:pt x="2848" y="0"/>
                  </a:moveTo>
                  <a:cubicBezTo>
                    <a:pt x="2896" y="272"/>
                    <a:pt x="2944" y="544"/>
                    <a:pt x="2800" y="672"/>
                  </a:cubicBezTo>
                  <a:cubicBezTo>
                    <a:pt x="2656" y="800"/>
                    <a:pt x="2400" y="752"/>
                    <a:pt x="1984" y="768"/>
                  </a:cubicBezTo>
                  <a:cubicBezTo>
                    <a:pt x="1568" y="784"/>
                    <a:pt x="608" y="808"/>
                    <a:pt x="304" y="768"/>
                  </a:cubicBezTo>
                  <a:cubicBezTo>
                    <a:pt x="0" y="728"/>
                    <a:pt x="80" y="628"/>
                    <a:pt x="160" y="528"/>
                  </a:cubicBezTo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85" name="Line 93"/>
            <p:cNvSpPr>
              <a:spLocks noChangeShapeType="1"/>
            </p:cNvSpPr>
            <p:nvPr/>
          </p:nvSpPr>
          <p:spPr bwMode="auto">
            <a:xfrm flipV="1">
              <a:off x="1056" y="1632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86" name="Line 94"/>
            <p:cNvSpPr>
              <a:spLocks noChangeShapeType="1"/>
            </p:cNvSpPr>
            <p:nvPr/>
          </p:nvSpPr>
          <p:spPr bwMode="auto">
            <a:xfrm flipV="1">
              <a:off x="3792" y="1632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95"/>
          <p:cNvGrpSpPr>
            <a:grpSpLocks/>
          </p:cNvGrpSpPr>
          <p:nvPr/>
        </p:nvGrpSpPr>
        <p:grpSpPr bwMode="auto">
          <a:xfrm>
            <a:off x="2743200" y="3810000"/>
            <a:ext cx="1125538" cy="411163"/>
            <a:chOff x="1728" y="2400"/>
            <a:chExt cx="709" cy="259"/>
          </a:xfrm>
        </p:grpSpPr>
        <p:sp>
          <p:nvSpPr>
            <p:cNvPr id="18482" name="Text Box 96"/>
            <p:cNvSpPr txBox="1">
              <a:spLocks noChangeArrowheads="1"/>
            </p:cNvSpPr>
            <p:nvPr/>
          </p:nvSpPr>
          <p:spPr bwMode="auto">
            <a:xfrm>
              <a:off x="2064" y="2496"/>
              <a:ext cx="37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bIns="0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114FFB"/>
                  </a:solidFill>
                </a:rPr>
                <a:t>u = 7</a:t>
              </a:r>
            </a:p>
          </p:txBody>
        </p:sp>
        <p:sp>
          <p:nvSpPr>
            <p:cNvPr id="18483" name="Line 97"/>
            <p:cNvSpPr>
              <a:spLocks noChangeShapeType="1"/>
            </p:cNvSpPr>
            <p:nvPr/>
          </p:nvSpPr>
          <p:spPr bwMode="auto">
            <a:xfrm flipV="1">
              <a:off x="1728" y="240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480" name="Slide Number Placeholder 10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370DED-8C03-1945-9E7A-7A2D4A0FE74D}" type="slidenum">
              <a:rPr lang="en-US"/>
              <a:pPr/>
              <a:t>28</a:t>
            </a:fld>
            <a:r>
              <a:rPr lang="en-US"/>
              <a:t> 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784225" y="4784725"/>
            <a:ext cx="7853363" cy="894510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6762750" y="1600200"/>
            <a:ext cx="1600200" cy="1752600"/>
            <a:chOff x="4176" y="1152"/>
            <a:chExt cx="1008" cy="1104"/>
          </a:xfrm>
        </p:grpSpPr>
        <p:grpSp>
          <p:nvGrpSpPr>
            <p:cNvPr id="29753" name="Group 3"/>
            <p:cNvGrpSpPr>
              <a:grpSpLocks/>
            </p:cNvGrpSpPr>
            <p:nvPr/>
          </p:nvGrpSpPr>
          <p:grpSpPr bwMode="auto">
            <a:xfrm>
              <a:off x="4512" y="1584"/>
              <a:ext cx="288" cy="672"/>
              <a:chOff x="2208" y="3168"/>
              <a:chExt cx="288" cy="672"/>
            </a:xfrm>
          </p:grpSpPr>
          <p:grpSp>
            <p:nvGrpSpPr>
              <p:cNvPr id="29760" name="Group 4"/>
              <p:cNvGrpSpPr>
                <a:grpSpLocks/>
              </p:cNvGrpSpPr>
              <p:nvPr/>
            </p:nvGrpSpPr>
            <p:grpSpPr bwMode="auto">
              <a:xfrm>
                <a:off x="2256" y="3552"/>
                <a:ext cx="192" cy="288"/>
                <a:chOff x="1392" y="2976"/>
                <a:chExt cx="192" cy="288"/>
              </a:xfrm>
            </p:grpSpPr>
            <p:sp>
              <p:nvSpPr>
                <p:cNvPr id="29764" name="Rectangle 5"/>
                <p:cNvSpPr>
                  <a:spLocks noChangeArrowheads="1"/>
                </p:cNvSpPr>
                <p:nvPr/>
              </p:nvSpPr>
              <p:spPr bwMode="auto">
                <a:xfrm>
                  <a:off x="1392" y="3072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bIns="0" anchor="ctr"/>
                <a:lstStyle/>
                <a:p>
                  <a:pPr algn="ctr"/>
                  <a:r>
                    <a:rPr lang="en-US" b="1"/>
                    <a:t>P</a:t>
                  </a:r>
                </a:p>
              </p:txBody>
            </p:sp>
            <p:sp>
              <p:nvSpPr>
                <p:cNvPr id="29765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1488" y="297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bIns="0" anchor="ctr"/>
                <a:lstStyle/>
                <a:p>
                  <a:endParaRPr lang="en-CA"/>
                </a:p>
              </p:txBody>
            </p:sp>
          </p:grpSp>
          <p:sp>
            <p:nvSpPr>
              <p:cNvPr id="29761" name="Rectangle 7"/>
              <p:cNvSpPr>
                <a:spLocks noChangeArrowheads="1"/>
              </p:cNvSpPr>
              <p:nvPr/>
            </p:nvSpPr>
            <p:spPr bwMode="auto">
              <a:xfrm>
                <a:off x="2256" y="3456"/>
                <a:ext cx="192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endParaRPr lang="en-US"/>
              </a:p>
            </p:txBody>
          </p:sp>
          <p:sp>
            <p:nvSpPr>
              <p:cNvPr id="29762" name="Rectangle 8"/>
              <p:cNvSpPr>
                <a:spLocks noChangeArrowheads="1"/>
              </p:cNvSpPr>
              <p:nvPr/>
            </p:nvSpPr>
            <p:spPr bwMode="auto">
              <a:xfrm>
                <a:off x="2208" y="3168"/>
                <a:ext cx="288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bIns="0" anchor="ctr"/>
              <a:lstStyle/>
              <a:p>
                <a:endParaRPr lang="en-US"/>
              </a:p>
            </p:txBody>
          </p:sp>
          <p:sp>
            <p:nvSpPr>
              <p:cNvPr id="29763" name="Line 9"/>
              <p:cNvSpPr>
                <a:spLocks noChangeShapeType="1"/>
              </p:cNvSpPr>
              <p:nvPr/>
            </p:nvSpPr>
            <p:spPr bwMode="auto">
              <a:xfrm>
                <a:off x="2352" y="340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bIns="0" anchor="ctr"/>
              <a:lstStyle/>
              <a:p>
                <a:endParaRPr lang="en-CA"/>
              </a:p>
            </p:txBody>
          </p:sp>
        </p:grpSp>
        <p:sp>
          <p:nvSpPr>
            <p:cNvPr id="29754" name="Rectangle 10"/>
            <p:cNvSpPr>
              <a:spLocks noChangeArrowheads="1"/>
            </p:cNvSpPr>
            <p:nvPr/>
          </p:nvSpPr>
          <p:spPr bwMode="auto">
            <a:xfrm>
              <a:off x="4176" y="1152"/>
              <a:ext cx="1008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9755" name="Line 11"/>
            <p:cNvSpPr>
              <a:spLocks noChangeShapeType="1"/>
            </p:cNvSpPr>
            <p:nvPr/>
          </p:nvSpPr>
          <p:spPr bwMode="auto">
            <a:xfrm flipV="1">
              <a:off x="4656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bIns="0" anchor="ctr"/>
            <a:lstStyle/>
            <a:p>
              <a:endParaRPr lang="en-CA"/>
            </a:p>
          </p:txBody>
        </p:sp>
        <p:sp>
          <p:nvSpPr>
            <p:cNvPr id="29756" name="Rectangle 12"/>
            <p:cNvSpPr>
              <a:spLocks noChangeArrowheads="1"/>
            </p:cNvSpPr>
            <p:nvPr/>
          </p:nvSpPr>
          <p:spPr bwMode="auto">
            <a:xfrm>
              <a:off x="4560" y="1680"/>
              <a:ext cx="192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9757" name="Rectangle 13"/>
            <p:cNvSpPr>
              <a:spLocks noChangeArrowheads="1"/>
            </p:cNvSpPr>
            <p:nvPr/>
          </p:nvSpPr>
          <p:spPr bwMode="auto">
            <a:xfrm>
              <a:off x="4416" y="1344"/>
              <a:ext cx="52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9758" name="Rectangle 14"/>
            <p:cNvSpPr>
              <a:spLocks noChangeArrowheads="1"/>
            </p:cNvSpPr>
            <p:nvPr/>
          </p:nvSpPr>
          <p:spPr bwMode="auto">
            <a:xfrm>
              <a:off x="4656" y="1344"/>
              <a:ext cx="192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9759" name="Rectangle 15"/>
            <p:cNvSpPr>
              <a:spLocks noChangeArrowheads="1"/>
            </p:cNvSpPr>
            <p:nvPr/>
          </p:nvSpPr>
          <p:spPr bwMode="auto">
            <a:xfrm>
              <a:off x="4560" y="1920"/>
              <a:ext cx="144" cy="4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endParaRPr lang="en-US"/>
            </a:p>
          </p:txBody>
        </p:sp>
      </p:grpSp>
      <p:grpSp>
        <p:nvGrpSpPr>
          <p:cNvPr id="29699" name="Group 16"/>
          <p:cNvGrpSpPr>
            <a:grpSpLocks/>
          </p:cNvGrpSpPr>
          <p:nvPr/>
        </p:nvGrpSpPr>
        <p:grpSpPr bwMode="auto">
          <a:xfrm>
            <a:off x="5149850" y="3632200"/>
            <a:ext cx="2689225" cy="2573338"/>
            <a:chOff x="403" y="904"/>
            <a:chExt cx="1502" cy="2341"/>
          </a:xfrm>
        </p:grpSpPr>
        <p:sp>
          <p:nvSpPr>
            <p:cNvPr id="29728" name="Line 17"/>
            <p:cNvSpPr>
              <a:spLocks noChangeShapeType="1"/>
            </p:cNvSpPr>
            <p:nvPr/>
          </p:nvSpPr>
          <p:spPr bwMode="auto">
            <a:xfrm>
              <a:off x="866" y="938"/>
              <a:ext cx="3" cy="23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29" name="Line 18"/>
            <p:cNvSpPr>
              <a:spLocks noChangeShapeType="1"/>
            </p:cNvSpPr>
            <p:nvPr/>
          </p:nvSpPr>
          <p:spPr bwMode="auto">
            <a:xfrm>
              <a:off x="869" y="3244"/>
              <a:ext cx="103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30" name="Freeform 19"/>
            <p:cNvSpPr>
              <a:spLocks/>
            </p:cNvSpPr>
            <p:nvPr/>
          </p:nvSpPr>
          <p:spPr bwMode="auto">
            <a:xfrm>
              <a:off x="1213" y="938"/>
              <a:ext cx="231" cy="2306"/>
            </a:xfrm>
            <a:custGeom>
              <a:avLst/>
              <a:gdLst>
                <a:gd name="T0" fmla="*/ 0 w 231"/>
                <a:gd name="T1" fmla="*/ 0 h 2306"/>
                <a:gd name="T2" fmla="*/ 231 w 231"/>
                <a:gd name="T3" fmla="*/ 3 h 2306"/>
                <a:gd name="T4" fmla="*/ 231 w 231"/>
                <a:gd name="T5" fmla="*/ 2306 h 2306"/>
                <a:gd name="T6" fmla="*/ 0 w 231"/>
                <a:gd name="T7" fmla="*/ 2306 h 2306"/>
                <a:gd name="T8" fmla="*/ 0 w 231"/>
                <a:gd name="T9" fmla="*/ 3 h 2306"/>
                <a:gd name="T10" fmla="*/ 0 w 231"/>
                <a:gd name="T11" fmla="*/ 3 h 2306"/>
                <a:gd name="T12" fmla="*/ 0 w 231"/>
                <a:gd name="T13" fmla="*/ 0 h 2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2306"/>
                <a:gd name="T23" fmla="*/ 231 w 231"/>
                <a:gd name="T24" fmla="*/ 2306 h 23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2306">
                  <a:moveTo>
                    <a:pt x="0" y="0"/>
                  </a:moveTo>
                  <a:lnTo>
                    <a:pt x="231" y="3"/>
                  </a:lnTo>
                  <a:lnTo>
                    <a:pt x="231" y="2306"/>
                  </a:lnTo>
                  <a:lnTo>
                    <a:pt x="0" y="2306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31" name="Freeform 20"/>
            <p:cNvSpPr>
              <a:spLocks/>
            </p:cNvSpPr>
            <p:nvPr/>
          </p:nvSpPr>
          <p:spPr bwMode="auto">
            <a:xfrm>
              <a:off x="1213" y="938"/>
              <a:ext cx="231" cy="2306"/>
            </a:xfrm>
            <a:custGeom>
              <a:avLst/>
              <a:gdLst>
                <a:gd name="T0" fmla="*/ 0 w 231"/>
                <a:gd name="T1" fmla="*/ 0 h 2306"/>
                <a:gd name="T2" fmla="*/ 231 w 231"/>
                <a:gd name="T3" fmla="*/ 3 h 2306"/>
                <a:gd name="T4" fmla="*/ 231 w 231"/>
                <a:gd name="T5" fmla="*/ 2306 h 2306"/>
                <a:gd name="T6" fmla="*/ 0 w 231"/>
                <a:gd name="T7" fmla="*/ 2306 h 2306"/>
                <a:gd name="T8" fmla="*/ 0 w 231"/>
                <a:gd name="T9" fmla="*/ 3 h 2306"/>
                <a:gd name="T10" fmla="*/ 0 w 231"/>
                <a:gd name="T11" fmla="*/ 3 h 2306"/>
                <a:gd name="T12" fmla="*/ 0 w 231"/>
                <a:gd name="T13" fmla="*/ 0 h 2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2306"/>
                <a:gd name="T23" fmla="*/ 231 w 231"/>
                <a:gd name="T24" fmla="*/ 2306 h 23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2306">
                  <a:moveTo>
                    <a:pt x="0" y="0"/>
                  </a:moveTo>
                  <a:lnTo>
                    <a:pt x="231" y="3"/>
                  </a:lnTo>
                  <a:lnTo>
                    <a:pt x="231" y="2306"/>
                  </a:lnTo>
                  <a:lnTo>
                    <a:pt x="0" y="2306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32" name="Freeform 21" descr="Light upward diagonal"/>
            <p:cNvSpPr>
              <a:spLocks/>
            </p:cNvSpPr>
            <p:nvPr/>
          </p:nvSpPr>
          <p:spPr bwMode="auto">
            <a:xfrm>
              <a:off x="1213" y="938"/>
              <a:ext cx="231" cy="464"/>
            </a:xfrm>
            <a:custGeom>
              <a:avLst/>
              <a:gdLst>
                <a:gd name="T0" fmla="*/ 0 w 231"/>
                <a:gd name="T1" fmla="*/ 0 h 464"/>
                <a:gd name="T2" fmla="*/ 231 w 231"/>
                <a:gd name="T3" fmla="*/ 3 h 464"/>
                <a:gd name="T4" fmla="*/ 231 w 231"/>
                <a:gd name="T5" fmla="*/ 464 h 464"/>
                <a:gd name="T6" fmla="*/ 0 w 231"/>
                <a:gd name="T7" fmla="*/ 464 h 464"/>
                <a:gd name="T8" fmla="*/ 0 w 231"/>
                <a:gd name="T9" fmla="*/ 3 h 464"/>
                <a:gd name="T10" fmla="*/ 0 w 231"/>
                <a:gd name="T11" fmla="*/ 3 h 464"/>
                <a:gd name="T12" fmla="*/ 0 w 231"/>
                <a:gd name="T13" fmla="*/ 0 h 4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464"/>
                <a:gd name="T23" fmla="*/ 231 w 231"/>
                <a:gd name="T24" fmla="*/ 464 h 4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464">
                  <a:moveTo>
                    <a:pt x="0" y="0"/>
                  </a:moveTo>
                  <a:lnTo>
                    <a:pt x="231" y="3"/>
                  </a:lnTo>
                  <a:lnTo>
                    <a:pt x="231" y="464"/>
                  </a:lnTo>
                  <a:lnTo>
                    <a:pt x="0" y="46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33" name="Rectangle 22"/>
            <p:cNvSpPr>
              <a:spLocks noChangeArrowheads="1"/>
            </p:cNvSpPr>
            <p:nvPr/>
          </p:nvSpPr>
          <p:spPr bwMode="auto">
            <a:xfrm rot="-5400000">
              <a:off x="414" y="2110"/>
              <a:ext cx="90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4" name="Rectangle 23"/>
            <p:cNvSpPr>
              <a:spLocks noChangeArrowheads="1"/>
            </p:cNvSpPr>
            <p:nvPr/>
          </p:nvSpPr>
          <p:spPr bwMode="auto">
            <a:xfrm rot="-5400000">
              <a:off x="414" y="2045"/>
              <a:ext cx="90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i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5" name="Rectangle 24"/>
            <p:cNvSpPr>
              <a:spLocks noChangeArrowheads="1"/>
            </p:cNvSpPr>
            <p:nvPr/>
          </p:nvSpPr>
          <p:spPr bwMode="auto">
            <a:xfrm rot="-5400000">
              <a:off x="414" y="1983"/>
              <a:ext cx="90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m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6" name="Rectangle 25"/>
            <p:cNvSpPr>
              <a:spLocks noChangeArrowheads="1"/>
            </p:cNvSpPr>
            <p:nvPr/>
          </p:nvSpPr>
          <p:spPr bwMode="auto">
            <a:xfrm rot="-5400000">
              <a:off x="414" y="1923"/>
              <a:ext cx="89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7" name="Rectangle 26"/>
            <p:cNvSpPr>
              <a:spLocks noChangeArrowheads="1"/>
            </p:cNvSpPr>
            <p:nvPr/>
          </p:nvSpPr>
          <p:spPr bwMode="auto">
            <a:xfrm rot="-5400000">
              <a:off x="414" y="1861"/>
              <a:ext cx="89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8" name="Rectangle 27"/>
            <p:cNvSpPr>
              <a:spLocks noChangeArrowheads="1"/>
            </p:cNvSpPr>
            <p:nvPr/>
          </p:nvSpPr>
          <p:spPr bwMode="auto">
            <a:xfrm rot="-5400000">
              <a:off x="414" y="1800"/>
              <a:ext cx="89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39" name="Rectangle 28"/>
            <p:cNvSpPr>
              <a:spLocks noChangeArrowheads="1"/>
            </p:cNvSpPr>
            <p:nvPr/>
          </p:nvSpPr>
          <p:spPr bwMode="auto">
            <a:xfrm rot="-5400000">
              <a:off x="414" y="1738"/>
              <a:ext cx="89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0" name="Rectangle 29"/>
            <p:cNvSpPr>
              <a:spLocks noChangeArrowheads="1"/>
            </p:cNvSpPr>
            <p:nvPr/>
          </p:nvSpPr>
          <p:spPr bwMode="auto">
            <a:xfrm rot="-5400000">
              <a:off x="414" y="1677"/>
              <a:ext cx="90" cy="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1" name="Line 30"/>
            <p:cNvSpPr>
              <a:spLocks noChangeShapeType="1"/>
            </p:cNvSpPr>
            <p:nvPr/>
          </p:nvSpPr>
          <p:spPr bwMode="auto">
            <a:xfrm>
              <a:off x="866" y="938"/>
              <a:ext cx="117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42" name="Rectangle 31"/>
            <p:cNvSpPr>
              <a:spLocks noChangeArrowheads="1"/>
            </p:cNvSpPr>
            <p:nvPr/>
          </p:nvSpPr>
          <p:spPr bwMode="auto">
            <a:xfrm>
              <a:off x="580" y="904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3" name="Rectangle 32"/>
            <p:cNvSpPr>
              <a:spLocks noChangeArrowheads="1"/>
            </p:cNvSpPr>
            <p:nvPr/>
          </p:nvSpPr>
          <p:spPr bwMode="auto">
            <a:xfrm>
              <a:off x="642" y="904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4" name="Rectangle 33"/>
            <p:cNvSpPr>
              <a:spLocks noChangeArrowheads="1"/>
            </p:cNvSpPr>
            <p:nvPr/>
          </p:nvSpPr>
          <p:spPr bwMode="auto">
            <a:xfrm>
              <a:off x="702" y="904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5" name="Rectangle 34"/>
            <p:cNvSpPr>
              <a:spLocks noChangeArrowheads="1"/>
            </p:cNvSpPr>
            <p:nvPr/>
          </p:nvSpPr>
          <p:spPr bwMode="auto">
            <a:xfrm>
              <a:off x="657" y="1477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6" name="Rectangle 35"/>
            <p:cNvSpPr>
              <a:spLocks noChangeArrowheads="1"/>
            </p:cNvSpPr>
            <p:nvPr/>
          </p:nvSpPr>
          <p:spPr bwMode="auto">
            <a:xfrm>
              <a:off x="719" y="1477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7" name="Rectangle 36"/>
            <p:cNvSpPr>
              <a:spLocks noChangeArrowheads="1"/>
            </p:cNvSpPr>
            <p:nvPr/>
          </p:nvSpPr>
          <p:spPr bwMode="auto">
            <a:xfrm>
              <a:off x="780" y="1477"/>
              <a:ext cx="0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8" name="Rectangle 37"/>
            <p:cNvSpPr>
              <a:spLocks noChangeArrowheads="1"/>
            </p:cNvSpPr>
            <p:nvPr/>
          </p:nvSpPr>
          <p:spPr bwMode="auto">
            <a:xfrm>
              <a:off x="657" y="2056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49" name="Rectangle 38"/>
            <p:cNvSpPr>
              <a:spLocks noChangeArrowheads="1"/>
            </p:cNvSpPr>
            <p:nvPr/>
          </p:nvSpPr>
          <p:spPr bwMode="auto">
            <a:xfrm>
              <a:off x="719" y="2056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50" name="Rectangle 39"/>
            <p:cNvSpPr>
              <a:spLocks noChangeArrowheads="1"/>
            </p:cNvSpPr>
            <p:nvPr/>
          </p:nvSpPr>
          <p:spPr bwMode="auto">
            <a:xfrm>
              <a:off x="780" y="2056"/>
              <a:ext cx="0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51" name="Rectangle 40"/>
            <p:cNvSpPr>
              <a:spLocks noChangeArrowheads="1"/>
            </p:cNvSpPr>
            <p:nvPr/>
          </p:nvSpPr>
          <p:spPr bwMode="auto">
            <a:xfrm>
              <a:off x="657" y="2628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52" name="Rectangle 41"/>
            <p:cNvSpPr>
              <a:spLocks noChangeArrowheads="1"/>
            </p:cNvSpPr>
            <p:nvPr/>
          </p:nvSpPr>
          <p:spPr bwMode="auto">
            <a:xfrm>
              <a:off x="719" y="2628"/>
              <a:ext cx="55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29700" name="Rectangle 4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52500"/>
          </a:xfrm>
        </p:spPr>
        <p:txBody>
          <a:bodyPr/>
          <a:lstStyle/>
          <a:p>
            <a:pPr eaLnBrk="1" hangingPunct="1"/>
            <a:r>
              <a:rPr lang="en-US" dirty="0"/>
              <a:t>Single Core Performance</a:t>
            </a:r>
          </a:p>
        </p:txBody>
      </p:sp>
      <p:sp>
        <p:nvSpPr>
          <p:cNvPr id="29701" name="Rectangle 43"/>
          <p:cNvSpPr>
            <a:spLocks noGrp="1" noChangeArrowheads="1"/>
          </p:cNvSpPr>
          <p:nvPr>
            <p:ph type="body" idx="1"/>
          </p:nvPr>
        </p:nvSpPr>
        <p:spPr>
          <a:xfrm>
            <a:off x="546100" y="1016000"/>
            <a:ext cx="7620000" cy="4648200"/>
          </a:xfrm>
        </p:spPr>
        <p:txBody>
          <a:bodyPr/>
          <a:lstStyle/>
          <a:p>
            <a:pPr marL="285750" indent="-285750" eaLnBrk="1" hangingPunct="1"/>
            <a:r>
              <a:rPr lang="en-US" sz="2000"/>
              <a:t>Performance depends heavily on memory hierarchy</a:t>
            </a:r>
          </a:p>
          <a:p>
            <a:pPr marL="285750" indent="-285750" eaLnBrk="1" hangingPunct="1"/>
            <a:r>
              <a:rPr lang="en-US" sz="2000"/>
              <a:t>Managed by hardware</a:t>
            </a:r>
          </a:p>
          <a:p>
            <a:pPr marL="285750" indent="-285750" eaLnBrk="1" hangingPunct="1"/>
            <a:r>
              <a:rPr lang="en-US" sz="2000"/>
              <a:t>Time spent by a program</a:t>
            </a:r>
          </a:p>
          <a:p>
            <a:pPr marL="628650" lvl="1" indent="-228600" eaLnBrk="1" hangingPunct="1"/>
            <a:r>
              <a:rPr lang="en-US" sz="1800"/>
              <a:t>Timeprog = Busy + Data Access</a:t>
            </a:r>
          </a:p>
          <a:p>
            <a:pPr marL="285750" indent="-285750" eaLnBrk="1" hangingPunct="1"/>
            <a:r>
              <a:rPr lang="en-US" sz="2000"/>
              <a:t>Data access time can be reduced by:</a:t>
            </a:r>
          </a:p>
          <a:p>
            <a:pPr marL="628650" lvl="1" indent="-228600" eaLnBrk="1" hangingPunct="1"/>
            <a:r>
              <a:rPr lang="en-US" sz="1800"/>
              <a:t>  Optimizing machine</a:t>
            </a:r>
          </a:p>
          <a:p>
            <a:pPr marL="971550" lvl="2" eaLnBrk="1" hangingPunct="1"/>
            <a:r>
              <a:rPr lang="en-US" sz="1600"/>
              <a:t>bigger caches, lower latency...</a:t>
            </a:r>
          </a:p>
          <a:p>
            <a:pPr marL="628650" lvl="1" indent="-228600" eaLnBrk="1" hangingPunct="1"/>
            <a:r>
              <a:rPr lang="en-US" sz="1800"/>
              <a:t>  Optimizing program</a:t>
            </a:r>
          </a:p>
          <a:p>
            <a:pPr marL="971550" lvl="2" eaLnBrk="1" hangingPunct="1"/>
            <a:r>
              <a:rPr lang="en-US" sz="1600"/>
              <a:t>temporal and spatial locality</a:t>
            </a:r>
            <a:endParaRPr lang="en-US" sz="2400"/>
          </a:p>
        </p:txBody>
      </p:sp>
      <p:grpSp>
        <p:nvGrpSpPr>
          <p:cNvPr id="29702" name="Group 44"/>
          <p:cNvGrpSpPr>
            <a:grpSpLocks/>
          </p:cNvGrpSpPr>
          <p:nvPr/>
        </p:nvGrpSpPr>
        <p:grpSpPr bwMode="auto">
          <a:xfrm>
            <a:off x="7359650" y="3632200"/>
            <a:ext cx="1492250" cy="579438"/>
            <a:chOff x="4464" y="1152"/>
            <a:chExt cx="940" cy="365"/>
          </a:xfrm>
        </p:grpSpPr>
        <p:sp>
          <p:nvSpPr>
            <p:cNvPr id="29704" name="Freeform 45"/>
            <p:cNvSpPr>
              <a:spLocks/>
            </p:cNvSpPr>
            <p:nvPr/>
          </p:nvSpPr>
          <p:spPr bwMode="auto">
            <a:xfrm>
              <a:off x="4464" y="1392"/>
              <a:ext cx="190" cy="117"/>
            </a:xfrm>
            <a:custGeom>
              <a:avLst/>
              <a:gdLst>
                <a:gd name="T0" fmla="*/ 0 w 190"/>
                <a:gd name="T1" fmla="*/ 0 h 117"/>
                <a:gd name="T2" fmla="*/ 190 w 190"/>
                <a:gd name="T3" fmla="*/ 3 h 117"/>
                <a:gd name="T4" fmla="*/ 190 w 190"/>
                <a:gd name="T5" fmla="*/ 117 h 117"/>
                <a:gd name="T6" fmla="*/ 3 w 190"/>
                <a:gd name="T7" fmla="*/ 117 h 117"/>
                <a:gd name="T8" fmla="*/ 3 w 190"/>
                <a:gd name="T9" fmla="*/ 3 h 117"/>
                <a:gd name="T10" fmla="*/ 3 w 190"/>
                <a:gd name="T11" fmla="*/ 3 h 117"/>
                <a:gd name="T12" fmla="*/ 0 w 190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"/>
                <a:gd name="T22" fmla="*/ 0 h 117"/>
                <a:gd name="T23" fmla="*/ 190 w 190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0" h="117">
                  <a:moveTo>
                    <a:pt x="0" y="0"/>
                  </a:moveTo>
                  <a:lnTo>
                    <a:pt x="190" y="3"/>
                  </a:lnTo>
                  <a:lnTo>
                    <a:pt x="190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05" name="Freeform 46"/>
            <p:cNvSpPr>
              <a:spLocks/>
            </p:cNvSpPr>
            <p:nvPr/>
          </p:nvSpPr>
          <p:spPr bwMode="auto">
            <a:xfrm>
              <a:off x="4464" y="1392"/>
              <a:ext cx="190" cy="117"/>
            </a:xfrm>
            <a:custGeom>
              <a:avLst/>
              <a:gdLst>
                <a:gd name="T0" fmla="*/ 0 w 190"/>
                <a:gd name="T1" fmla="*/ 0 h 117"/>
                <a:gd name="T2" fmla="*/ 190 w 190"/>
                <a:gd name="T3" fmla="*/ 3 h 117"/>
                <a:gd name="T4" fmla="*/ 190 w 190"/>
                <a:gd name="T5" fmla="*/ 117 h 117"/>
                <a:gd name="T6" fmla="*/ 3 w 190"/>
                <a:gd name="T7" fmla="*/ 117 h 117"/>
                <a:gd name="T8" fmla="*/ 3 w 190"/>
                <a:gd name="T9" fmla="*/ 3 h 117"/>
                <a:gd name="T10" fmla="*/ 3 w 190"/>
                <a:gd name="T11" fmla="*/ 3 h 117"/>
                <a:gd name="T12" fmla="*/ 0 w 190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"/>
                <a:gd name="T22" fmla="*/ 0 h 117"/>
                <a:gd name="T23" fmla="*/ 190 w 190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0" h="117">
                  <a:moveTo>
                    <a:pt x="0" y="0"/>
                  </a:moveTo>
                  <a:lnTo>
                    <a:pt x="190" y="3"/>
                  </a:lnTo>
                  <a:lnTo>
                    <a:pt x="190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06" name="Freeform 47" descr="Light upward diagonal"/>
            <p:cNvSpPr>
              <a:spLocks/>
            </p:cNvSpPr>
            <p:nvPr/>
          </p:nvSpPr>
          <p:spPr bwMode="auto">
            <a:xfrm>
              <a:off x="4464" y="1152"/>
              <a:ext cx="194" cy="117"/>
            </a:xfrm>
            <a:custGeom>
              <a:avLst/>
              <a:gdLst>
                <a:gd name="T0" fmla="*/ 0 w 194"/>
                <a:gd name="T1" fmla="*/ 0 h 117"/>
                <a:gd name="T2" fmla="*/ 194 w 194"/>
                <a:gd name="T3" fmla="*/ 3 h 117"/>
                <a:gd name="T4" fmla="*/ 194 w 194"/>
                <a:gd name="T5" fmla="*/ 117 h 117"/>
                <a:gd name="T6" fmla="*/ 3 w 194"/>
                <a:gd name="T7" fmla="*/ 117 h 117"/>
                <a:gd name="T8" fmla="*/ 3 w 194"/>
                <a:gd name="T9" fmla="*/ 3 h 117"/>
                <a:gd name="T10" fmla="*/ 3 w 194"/>
                <a:gd name="T11" fmla="*/ 3 h 117"/>
                <a:gd name="T12" fmla="*/ 0 w 194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"/>
                <a:gd name="T22" fmla="*/ 0 h 117"/>
                <a:gd name="T23" fmla="*/ 194 w 194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" h="117">
                  <a:moveTo>
                    <a:pt x="0" y="0"/>
                  </a:moveTo>
                  <a:lnTo>
                    <a:pt x="194" y="3"/>
                  </a:lnTo>
                  <a:lnTo>
                    <a:pt x="194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07" name="Rectangle 48"/>
            <p:cNvSpPr>
              <a:spLocks noChangeArrowheads="1"/>
            </p:cNvSpPr>
            <p:nvPr/>
          </p:nvSpPr>
          <p:spPr bwMode="auto">
            <a:xfrm>
              <a:off x="4728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B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08" name="Rectangle 49"/>
            <p:cNvSpPr>
              <a:spLocks noChangeArrowheads="1"/>
            </p:cNvSpPr>
            <p:nvPr/>
          </p:nvSpPr>
          <p:spPr bwMode="auto">
            <a:xfrm>
              <a:off x="4789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09" name="Rectangle 50"/>
            <p:cNvSpPr>
              <a:spLocks noChangeArrowheads="1"/>
            </p:cNvSpPr>
            <p:nvPr/>
          </p:nvSpPr>
          <p:spPr bwMode="auto">
            <a:xfrm>
              <a:off x="4851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0" name="Rectangle 51"/>
            <p:cNvSpPr>
              <a:spLocks noChangeArrowheads="1"/>
            </p:cNvSpPr>
            <p:nvPr/>
          </p:nvSpPr>
          <p:spPr bwMode="auto">
            <a:xfrm>
              <a:off x="4912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1" name="Rectangle 52"/>
            <p:cNvSpPr>
              <a:spLocks noChangeArrowheads="1"/>
            </p:cNvSpPr>
            <p:nvPr/>
          </p:nvSpPr>
          <p:spPr bwMode="auto">
            <a:xfrm>
              <a:off x="4973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2" name="Rectangle 53"/>
            <p:cNvSpPr>
              <a:spLocks noChangeArrowheads="1"/>
            </p:cNvSpPr>
            <p:nvPr/>
          </p:nvSpPr>
          <p:spPr bwMode="auto">
            <a:xfrm>
              <a:off x="5035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3" name="Rectangle 54"/>
            <p:cNvSpPr>
              <a:spLocks noChangeArrowheads="1"/>
            </p:cNvSpPr>
            <p:nvPr/>
          </p:nvSpPr>
          <p:spPr bwMode="auto">
            <a:xfrm>
              <a:off x="5096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4" name="Rectangle 55"/>
            <p:cNvSpPr>
              <a:spLocks noChangeArrowheads="1"/>
            </p:cNvSpPr>
            <p:nvPr/>
          </p:nvSpPr>
          <p:spPr bwMode="auto">
            <a:xfrm>
              <a:off x="5158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5" name="Rectangle 56"/>
            <p:cNvSpPr>
              <a:spLocks noChangeArrowheads="1"/>
            </p:cNvSpPr>
            <p:nvPr/>
          </p:nvSpPr>
          <p:spPr bwMode="auto">
            <a:xfrm>
              <a:off x="5219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6" name="Rectangle 57"/>
            <p:cNvSpPr>
              <a:spLocks noChangeArrowheads="1"/>
            </p:cNvSpPr>
            <p:nvPr/>
          </p:nvSpPr>
          <p:spPr bwMode="auto">
            <a:xfrm>
              <a:off x="5281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7" name="Rectangle 58"/>
            <p:cNvSpPr>
              <a:spLocks noChangeArrowheads="1"/>
            </p:cNvSpPr>
            <p:nvPr/>
          </p:nvSpPr>
          <p:spPr bwMode="auto">
            <a:xfrm>
              <a:off x="5342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8" name="Rectangle 59"/>
            <p:cNvSpPr>
              <a:spLocks noChangeArrowheads="1"/>
            </p:cNvSpPr>
            <p:nvPr/>
          </p:nvSpPr>
          <p:spPr bwMode="auto">
            <a:xfrm>
              <a:off x="4713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D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19" name="Rectangle 60"/>
            <p:cNvSpPr>
              <a:spLocks noChangeArrowheads="1"/>
            </p:cNvSpPr>
            <p:nvPr/>
          </p:nvSpPr>
          <p:spPr bwMode="auto">
            <a:xfrm>
              <a:off x="4774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0" name="Rectangle 61"/>
            <p:cNvSpPr>
              <a:spLocks noChangeArrowheads="1"/>
            </p:cNvSpPr>
            <p:nvPr/>
          </p:nvSpPr>
          <p:spPr bwMode="auto">
            <a:xfrm>
              <a:off x="4836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1" name="Rectangle 62"/>
            <p:cNvSpPr>
              <a:spLocks noChangeArrowheads="1"/>
            </p:cNvSpPr>
            <p:nvPr/>
          </p:nvSpPr>
          <p:spPr bwMode="auto">
            <a:xfrm>
              <a:off x="4897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2" name="Rectangle 63"/>
            <p:cNvSpPr>
              <a:spLocks noChangeArrowheads="1"/>
            </p:cNvSpPr>
            <p:nvPr/>
          </p:nvSpPr>
          <p:spPr bwMode="auto">
            <a:xfrm>
              <a:off x="4959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3" name="Rectangle 64"/>
            <p:cNvSpPr>
              <a:spLocks noChangeArrowheads="1"/>
            </p:cNvSpPr>
            <p:nvPr/>
          </p:nvSpPr>
          <p:spPr bwMode="auto">
            <a:xfrm>
              <a:off x="5020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4" name="Rectangle 65"/>
            <p:cNvSpPr>
              <a:spLocks noChangeArrowheads="1"/>
            </p:cNvSpPr>
            <p:nvPr/>
          </p:nvSpPr>
          <p:spPr bwMode="auto">
            <a:xfrm>
              <a:off x="5082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o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5" name="Rectangle 66"/>
            <p:cNvSpPr>
              <a:spLocks noChangeArrowheads="1"/>
            </p:cNvSpPr>
            <p:nvPr/>
          </p:nvSpPr>
          <p:spPr bwMode="auto">
            <a:xfrm>
              <a:off x="5143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c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6" name="Rectangle 67"/>
            <p:cNvSpPr>
              <a:spLocks noChangeArrowheads="1"/>
            </p:cNvSpPr>
            <p:nvPr/>
          </p:nvSpPr>
          <p:spPr bwMode="auto">
            <a:xfrm>
              <a:off x="5205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727" name="Rectangle 68"/>
            <p:cNvSpPr>
              <a:spLocks noChangeArrowheads="1"/>
            </p:cNvSpPr>
            <p:nvPr/>
          </p:nvSpPr>
          <p:spPr bwMode="auto">
            <a:xfrm>
              <a:off x="5266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29703" name="Slide Number Placeholder 7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C14667E-9F0B-4CC6-9DBF-59DDB69EB4FA}" type="slidenum">
              <a:rPr lang="en-US" smtClean="0"/>
              <a:pPr/>
              <a:t>29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0800"/>
            <a:ext cx="8013700" cy="11430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dirty="0" err="1"/>
              <a:t>Multicore</a:t>
            </a:r>
            <a:r>
              <a:rPr lang="en-US" dirty="0"/>
              <a:t> Performance</a:t>
            </a: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3754438" y="1493838"/>
            <a:ext cx="1587" cy="3656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3754438" y="5149850"/>
            <a:ext cx="47561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5" name="Freeform 5"/>
          <p:cNvSpPr>
            <a:spLocks/>
          </p:cNvSpPr>
          <p:nvPr/>
        </p:nvSpPr>
        <p:spPr bwMode="auto">
          <a:xfrm>
            <a:off x="4121150" y="4414838"/>
            <a:ext cx="365125" cy="735012"/>
          </a:xfrm>
          <a:custGeom>
            <a:avLst/>
            <a:gdLst>
              <a:gd name="T0" fmla="*/ 0 w 230"/>
              <a:gd name="T1" fmla="*/ 0 h 463"/>
              <a:gd name="T2" fmla="*/ 2147483647 w 230"/>
              <a:gd name="T3" fmla="*/ 2147483647 h 463"/>
              <a:gd name="T4" fmla="*/ 2147483647 w 230"/>
              <a:gd name="T5" fmla="*/ 2147483647 h 463"/>
              <a:gd name="T6" fmla="*/ 0 w 230"/>
              <a:gd name="T7" fmla="*/ 2147483647 h 463"/>
              <a:gd name="T8" fmla="*/ 0 w 230"/>
              <a:gd name="T9" fmla="*/ 2147483647 h 463"/>
              <a:gd name="T10" fmla="*/ 0 w 230"/>
              <a:gd name="T11" fmla="*/ 2147483647 h 463"/>
              <a:gd name="T12" fmla="*/ 0 w 230"/>
              <a:gd name="T13" fmla="*/ 0 h 4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463"/>
              <a:gd name="T23" fmla="*/ 230 w 230"/>
              <a:gd name="T24" fmla="*/ 463 h 4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463">
                <a:moveTo>
                  <a:pt x="0" y="0"/>
                </a:moveTo>
                <a:lnTo>
                  <a:pt x="230" y="3"/>
                </a:lnTo>
                <a:lnTo>
                  <a:pt x="230" y="463"/>
                </a:lnTo>
                <a:lnTo>
                  <a:pt x="0" y="46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6" name="Freeform 6"/>
          <p:cNvSpPr>
            <a:spLocks/>
          </p:cNvSpPr>
          <p:nvPr/>
        </p:nvSpPr>
        <p:spPr bwMode="auto">
          <a:xfrm>
            <a:off x="4121150" y="4414838"/>
            <a:ext cx="365125" cy="735012"/>
          </a:xfrm>
          <a:custGeom>
            <a:avLst/>
            <a:gdLst>
              <a:gd name="T0" fmla="*/ 0 w 230"/>
              <a:gd name="T1" fmla="*/ 0 h 463"/>
              <a:gd name="T2" fmla="*/ 2147483647 w 230"/>
              <a:gd name="T3" fmla="*/ 2147483647 h 463"/>
              <a:gd name="T4" fmla="*/ 2147483647 w 230"/>
              <a:gd name="T5" fmla="*/ 2147483647 h 463"/>
              <a:gd name="T6" fmla="*/ 0 w 230"/>
              <a:gd name="T7" fmla="*/ 2147483647 h 463"/>
              <a:gd name="T8" fmla="*/ 0 w 230"/>
              <a:gd name="T9" fmla="*/ 2147483647 h 463"/>
              <a:gd name="T10" fmla="*/ 0 w 230"/>
              <a:gd name="T11" fmla="*/ 2147483647 h 463"/>
              <a:gd name="T12" fmla="*/ 0 w 230"/>
              <a:gd name="T13" fmla="*/ 0 h 4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463"/>
              <a:gd name="T23" fmla="*/ 230 w 230"/>
              <a:gd name="T24" fmla="*/ 463 h 4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463">
                <a:moveTo>
                  <a:pt x="0" y="0"/>
                </a:moveTo>
                <a:lnTo>
                  <a:pt x="230" y="3"/>
                </a:lnTo>
                <a:lnTo>
                  <a:pt x="230" y="463"/>
                </a:lnTo>
                <a:lnTo>
                  <a:pt x="0" y="46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7" name="Freeform 7"/>
          <p:cNvSpPr>
            <a:spLocks/>
          </p:cNvSpPr>
          <p:nvPr/>
        </p:nvSpPr>
        <p:spPr bwMode="auto">
          <a:xfrm>
            <a:off x="5218113" y="4233863"/>
            <a:ext cx="365125" cy="915987"/>
          </a:xfrm>
          <a:custGeom>
            <a:avLst/>
            <a:gdLst>
              <a:gd name="T0" fmla="*/ 0 w 230"/>
              <a:gd name="T1" fmla="*/ 0 h 577"/>
              <a:gd name="T2" fmla="*/ 2147483647 w 230"/>
              <a:gd name="T3" fmla="*/ 0 h 577"/>
              <a:gd name="T4" fmla="*/ 2147483647 w 230"/>
              <a:gd name="T5" fmla="*/ 2147483647 h 577"/>
              <a:gd name="T6" fmla="*/ 0 w 230"/>
              <a:gd name="T7" fmla="*/ 2147483647 h 577"/>
              <a:gd name="T8" fmla="*/ 0 w 230"/>
              <a:gd name="T9" fmla="*/ 0 h 577"/>
              <a:gd name="T10" fmla="*/ 0 w 230"/>
              <a:gd name="T11" fmla="*/ 0 h 5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577"/>
              <a:gd name="T20" fmla="*/ 230 w 230"/>
              <a:gd name="T21" fmla="*/ 577 h 5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577">
                <a:moveTo>
                  <a:pt x="0" y="0"/>
                </a:moveTo>
                <a:lnTo>
                  <a:pt x="230" y="0"/>
                </a:lnTo>
                <a:lnTo>
                  <a:pt x="230" y="577"/>
                </a:lnTo>
                <a:lnTo>
                  <a:pt x="0" y="5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8" name="Freeform 8"/>
          <p:cNvSpPr>
            <a:spLocks/>
          </p:cNvSpPr>
          <p:nvPr/>
        </p:nvSpPr>
        <p:spPr bwMode="auto">
          <a:xfrm>
            <a:off x="5218113" y="4233863"/>
            <a:ext cx="365125" cy="915987"/>
          </a:xfrm>
          <a:custGeom>
            <a:avLst/>
            <a:gdLst>
              <a:gd name="T0" fmla="*/ 0 w 230"/>
              <a:gd name="T1" fmla="*/ 0 h 577"/>
              <a:gd name="T2" fmla="*/ 2147483647 w 230"/>
              <a:gd name="T3" fmla="*/ 0 h 577"/>
              <a:gd name="T4" fmla="*/ 2147483647 w 230"/>
              <a:gd name="T5" fmla="*/ 2147483647 h 577"/>
              <a:gd name="T6" fmla="*/ 0 w 230"/>
              <a:gd name="T7" fmla="*/ 2147483647 h 577"/>
              <a:gd name="T8" fmla="*/ 0 w 230"/>
              <a:gd name="T9" fmla="*/ 0 h 577"/>
              <a:gd name="T10" fmla="*/ 0 w 230"/>
              <a:gd name="T11" fmla="*/ 0 h 5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577"/>
              <a:gd name="T20" fmla="*/ 230 w 230"/>
              <a:gd name="T21" fmla="*/ 577 h 5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577">
                <a:moveTo>
                  <a:pt x="0" y="0"/>
                </a:moveTo>
                <a:lnTo>
                  <a:pt x="230" y="0"/>
                </a:lnTo>
                <a:lnTo>
                  <a:pt x="230" y="577"/>
                </a:lnTo>
                <a:lnTo>
                  <a:pt x="0" y="5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29" name="Freeform 9"/>
          <p:cNvSpPr>
            <a:spLocks/>
          </p:cNvSpPr>
          <p:nvPr/>
        </p:nvSpPr>
        <p:spPr bwMode="auto">
          <a:xfrm>
            <a:off x="6315075" y="4506913"/>
            <a:ext cx="366713" cy="642937"/>
          </a:xfrm>
          <a:custGeom>
            <a:avLst/>
            <a:gdLst>
              <a:gd name="T0" fmla="*/ 0 w 231"/>
              <a:gd name="T1" fmla="*/ 0 h 405"/>
              <a:gd name="T2" fmla="*/ 2147483647 w 231"/>
              <a:gd name="T3" fmla="*/ 2147483647 h 405"/>
              <a:gd name="T4" fmla="*/ 2147483647 w 231"/>
              <a:gd name="T5" fmla="*/ 2147483647 h 405"/>
              <a:gd name="T6" fmla="*/ 0 w 231"/>
              <a:gd name="T7" fmla="*/ 2147483647 h 405"/>
              <a:gd name="T8" fmla="*/ 0 w 231"/>
              <a:gd name="T9" fmla="*/ 2147483647 h 405"/>
              <a:gd name="T10" fmla="*/ 0 w 231"/>
              <a:gd name="T11" fmla="*/ 2147483647 h 405"/>
              <a:gd name="T12" fmla="*/ 0 w 231"/>
              <a:gd name="T13" fmla="*/ 0 h 40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405"/>
              <a:gd name="T23" fmla="*/ 231 w 231"/>
              <a:gd name="T24" fmla="*/ 405 h 40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405">
                <a:moveTo>
                  <a:pt x="0" y="0"/>
                </a:moveTo>
                <a:lnTo>
                  <a:pt x="231" y="3"/>
                </a:lnTo>
                <a:lnTo>
                  <a:pt x="231" y="405"/>
                </a:lnTo>
                <a:lnTo>
                  <a:pt x="0" y="40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0" name="Freeform 10"/>
          <p:cNvSpPr>
            <a:spLocks/>
          </p:cNvSpPr>
          <p:nvPr/>
        </p:nvSpPr>
        <p:spPr bwMode="auto">
          <a:xfrm>
            <a:off x="6315075" y="4506913"/>
            <a:ext cx="366713" cy="642937"/>
          </a:xfrm>
          <a:custGeom>
            <a:avLst/>
            <a:gdLst>
              <a:gd name="T0" fmla="*/ 0 w 231"/>
              <a:gd name="T1" fmla="*/ 0 h 405"/>
              <a:gd name="T2" fmla="*/ 2147483647 w 231"/>
              <a:gd name="T3" fmla="*/ 2147483647 h 405"/>
              <a:gd name="T4" fmla="*/ 2147483647 w 231"/>
              <a:gd name="T5" fmla="*/ 2147483647 h 405"/>
              <a:gd name="T6" fmla="*/ 0 w 231"/>
              <a:gd name="T7" fmla="*/ 2147483647 h 405"/>
              <a:gd name="T8" fmla="*/ 0 w 231"/>
              <a:gd name="T9" fmla="*/ 2147483647 h 405"/>
              <a:gd name="T10" fmla="*/ 0 w 231"/>
              <a:gd name="T11" fmla="*/ 2147483647 h 405"/>
              <a:gd name="T12" fmla="*/ 0 w 231"/>
              <a:gd name="T13" fmla="*/ 0 h 40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405"/>
              <a:gd name="T23" fmla="*/ 231 w 231"/>
              <a:gd name="T24" fmla="*/ 405 h 40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405">
                <a:moveTo>
                  <a:pt x="0" y="0"/>
                </a:moveTo>
                <a:lnTo>
                  <a:pt x="231" y="3"/>
                </a:lnTo>
                <a:lnTo>
                  <a:pt x="231" y="405"/>
                </a:lnTo>
                <a:lnTo>
                  <a:pt x="0" y="40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1" name="Freeform 11"/>
          <p:cNvSpPr>
            <a:spLocks/>
          </p:cNvSpPr>
          <p:nvPr/>
        </p:nvSpPr>
        <p:spPr bwMode="auto">
          <a:xfrm>
            <a:off x="7412038" y="4414838"/>
            <a:ext cx="366712" cy="735012"/>
          </a:xfrm>
          <a:custGeom>
            <a:avLst/>
            <a:gdLst>
              <a:gd name="T0" fmla="*/ 0 w 231"/>
              <a:gd name="T1" fmla="*/ 0 h 463"/>
              <a:gd name="T2" fmla="*/ 2147483647 w 231"/>
              <a:gd name="T3" fmla="*/ 2147483647 h 463"/>
              <a:gd name="T4" fmla="*/ 2147483647 w 231"/>
              <a:gd name="T5" fmla="*/ 2147483647 h 463"/>
              <a:gd name="T6" fmla="*/ 0 w 231"/>
              <a:gd name="T7" fmla="*/ 2147483647 h 463"/>
              <a:gd name="T8" fmla="*/ 0 w 231"/>
              <a:gd name="T9" fmla="*/ 2147483647 h 463"/>
              <a:gd name="T10" fmla="*/ 0 w 231"/>
              <a:gd name="T11" fmla="*/ 2147483647 h 463"/>
              <a:gd name="T12" fmla="*/ 0 w 231"/>
              <a:gd name="T13" fmla="*/ 0 h 4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463"/>
              <a:gd name="T23" fmla="*/ 231 w 231"/>
              <a:gd name="T24" fmla="*/ 463 h 4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463">
                <a:moveTo>
                  <a:pt x="0" y="0"/>
                </a:moveTo>
                <a:lnTo>
                  <a:pt x="231" y="3"/>
                </a:lnTo>
                <a:lnTo>
                  <a:pt x="231" y="463"/>
                </a:lnTo>
                <a:lnTo>
                  <a:pt x="0" y="46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2" name="Freeform 12"/>
          <p:cNvSpPr>
            <a:spLocks/>
          </p:cNvSpPr>
          <p:nvPr/>
        </p:nvSpPr>
        <p:spPr bwMode="auto">
          <a:xfrm>
            <a:off x="7412038" y="4414838"/>
            <a:ext cx="366712" cy="735012"/>
          </a:xfrm>
          <a:custGeom>
            <a:avLst/>
            <a:gdLst>
              <a:gd name="T0" fmla="*/ 0 w 231"/>
              <a:gd name="T1" fmla="*/ 0 h 463"/>
              <a:gd name="T2" fmla="*/ 2147483647 w 231"/>
              <a:gd name="T3" fmla="*/ 2147483647 h 463"/>
              <a:gd name="T4" fmla="*/ 2147483647 w 231"/>
              <a:gd name="T5" fmla="*/ 2147483647 h 463"/>
              <a:gd name="T6" fmla="*/ 0 w 231"/>
              <a:gd name="T7" fmla="*/ 2147483647 h 463"/>
              <a:gd name="T8" fmla="*/ 0 w 231"/>
              <a:gd name="T9" fmla="*/ 2147483647 h 463"/>
              <a:gd name="T10" fmla="*/ 0 w 231"/>
              <a:gd name="T11" fmla="*/ 2147483647 h 463"/>
              <a:gd name="T12" fmla="*/ 0 w 231"/>
              <a:gd name="T13" fmla="*/ 0 h 4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463"/>
              <a:gd name="T23" fmla="*/ 231 w 231"/>
              <a:gd name="T24" fmla="*/ 463 h 4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463">
                <a:moveTo>
                  <a:pt x="0" y="0"/>
                </a:moveTo>
                <a:lnTo>
                  <a:pt x="231" y="3"/>
                </a:lnTo>
                <a:lnTo>
                  <a:pt x="231" y="463"/>
                </a:lnTo>
                <a:lnTo>
                  <a:pt x="0" y="46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3" name="Freeform 13" descr="Light upward diagonal"/>
          <p:cNvSpPr>
            <a:spLocks/>
          </p:cNvSpPr>
          <p:nvPr/>
        </p:nvSpPr>
        <p:spPr bwMode="auto">
          <a:xfrm>
            <a:off x="4121150" y="4048125"/>
            <a:ext cx="365125" cy="185738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2147483647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2147483647 h 117"/>
              <a:gd name="T10" fmla="*/ 0 w 230"/>
              <a:gd name="T11" fmla="*/ 2147483647 h 117"/>
              <a:gd name="T12" fmla="*/ 0 w 230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117"/>
              <a:gd name="T23" fmla="*/ 230 w 230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117">
                <a:moveTo>
                  <a:pt x="0" y="0"/>
                </a:moveTo>
                <a:lnTo>
                  <a:pt x="230" y="3"/>
                </a:lnTo>
                <a:lnTo>
                  <a:pt x="230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4" name="Freeform 14" descr="Light upward diagonal"/>
          <p:cNvSpPr>
            <a:spLocks/>
          </p:cNvSpPr>
          <p:nvPr/>
        </p:nvSpPr>
        <p:spPr bwMode="auto">
          <a:xfrm>
            <a:off x="5218113" y="3868738"/>
            <a:ext cx="365125" cy="184150"/>
          </a:xfrm>
          <a:custGeom>
            <a:avLst/>
            <a:gdLst>
              <a:gd name="T0" fmla="*/ 0 w 230"/>
              <a:gd name="T1" fmla="*/ 0 h 116"/>
              <a:gd name="T2" fmla="*/ 2147483647 w 230"/>
              <a:gd name="T3" fmla="*/ 0 h 116"/>
              <a:gd name="T4" fmla="*/ 2147483647 w 230"/>
              <a:gd name="T5" fmla="*/ 2147483647 h 116"/>
              <a:gd name="T6" fmla="*/ 0 w 230"/>
              <a:gd name="T7" fmla="*/ 2147483647 h 116"/>
              <a:gd name="T8" fmla="*/ 0 w 230"/>
              <a:gd name="T9" fmla="*/ 0 h 116"/>
              <a:gd name="T10" fmla="*/ 0 w 230"/>
              <a:gd name="T11" fmla="*/ 0 h 1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116"/>
              <a:gd name="T20" fmla="*/ 230 w 230"/>
              <a:gd name="T21" fmla="*/ 116 h 1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116">
                <a:moveTo>
                  <a:pt x="0" y="0"/>
                </a:moveTo>
                <a:lnTo>
                  <a:pt x="230" y="0"/>
                </a:lnTo>
                <a:lnTo>
                  <a:pt x="230" y="116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5" name="Freeform 15" descr="Light upward diagonal"/>
          <p:cNvSpPr>
            <a:spLocks/>
          </p:cNvSpPr>
          <p:nvPr/>
        </p:nvSpPr>
        <p:spPr bwMode="auto">
          <a:xfrm>
            <a:off x="6315075" y="4141788"/>
            <a:ext cx="366713" cy="277812"/>
          </a:xfrm>
          <a:custGeom>
            <a:avLst/>
            <a:gdLst>
              <a:gd name="T0" fmla="*/ 0 w 231"/>
              <a:gd name="T1" fmla="*/ 0 h 175"/>
              <a:gd name="T2" fmla="*/ 2147483647 w 231"/>
              <a:gd name="T3" fmla="*/ 2147483647 h 175"/>
              <a:gd name="T4" fmla="*/ 2147483647 w 231"/>
              <a:gd name="T5" fmla="*/ 2147483647 h 175"/>
              <a:gd name="T6" fmla="*/ 0 w 231"/>
              <a:gd name="T7" fmla="*/ 2147483647 h 175"/>
              <a:gd name="T8" fmla="*/ 0 w 231"/>
              <a:gd name="T9" fmla="*/ 2147483647 h 175"/>
              <a:gd name="T10" fmla="*/ 0 w 231"/>
              <a:gd name="T11" fmla="*/ 2147483647 h 175"/>
              <a:gd name="T12" fmla="*/ 0 w 231"/>
              <a:gd name="T13" fmla="*/ 0 h 1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175"/>
              <a:gd name="T23" fmla="*/ 231 w 231"/>
              <a:gd name="T24" fmla="*/ 175 h 1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175">
                <a:moveTo>
                  <a:pt x="0" y="0"/>
                </a:moveTo>
                <a:lnTo>
                  <a:pt x="231" y="3"/>
                </a:lnTo>
                <a:lnTo>
                  <a:pt x="231" y="175"/>
                </a:lnTo>
                <a:lnTo>
                  <a:pt x="0" y="17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6" name="Freeform 16" descr="Light upward diagonal"/>
          <p:cNvSpPr>
            <a:spLocks/>
          </p:cNvSpPr>
          <p:nvPr/>
        </p:nvSpPr>
        <p:spPr bwMode="auto">
          <a:xfrm>
            <a:off x="7412038" y="4048125"/>
            <a:ext cx="366712" cy="185738"/>
          </a:xfrm>
          <a:custGeom>
            <a:avLst/>
            <a:gdLst>
              <a:gd name="T0" fmla="*/ 0 w 231"/>
              <a:gd name="T1" fmla="*/ 0 h 117"/>
              <a:gd name="T2" fmla="*/ 2147483647 w 231"/>
              <a:gd name="T3" fmla="*/ 2147483647 h 117"/>
              <a:gd name="T4" fmla="*/ 2147483647 w 231"/>
              <a:gd name="T5" fmla="*/ 2147483647 h 117"/>
              <a:gd name="T6" fmla="*/ 0 w 231"/>
              <a:gd name="T7" fmla="*/ 2147483647 h 117"/>
              <a:gd name="T8" fmla="*/ 0 w 231"/>
              <a:gd name="T9" fmla="*/ 2147483647 h 117"/>
              <a:gd name="T10" fmla="*/ 0 w 231"/>
              <a:gd name="T11" fmla="*/ 2147483647 h 117"/>
              <a:gd name="T12" fmla="*/ 0 w 231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117"/>
              <a:gd name="T23" fmla="*/ 231 w 231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117">
                <a:moveTo>
                  <a:pt x="0" y="0"/>
                </a:moveTo>
                <a:lnTo>
                  <a:pt x="231" y="3"/>
                </a:lnTo>
                <a:lnTo>
                  <a:pt x="231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7" name="Freeform 17"/>
          <p:cNvSpPr>
            <a:spLocks/>
          </p:cNvSpPr>
          <p:nvPr/>
        </p:nvSpPr>
        <p:spPr bwMode="auto">
          <a:xfrm>
            <a:off x="4121150" y="3502025"/>
            <a:ext cx="365125" cy="550863"/>
          </a:xfrm>
          <a:custGeom>
            <a:avLst/>
            <a:gdLst>
              <a:gd name="T0" fmla="*/ 0 w 230"/>
              <a:gd name="T1" fmla="*/ 0 h 347"/>
              <a:gd name="T2" fmla="*/ 2147483647 w 230"/>
              <a:gd name="T3" fmla="*/ 0 h 347"/>
              <a:gd name="T4" fmla="*/ 2147483647 w 230"/>
              <a:gd name="T5" fmla="*/ 2147483647 h 347"/>
              <a:gd name="T6" fmla="*/ 0 w 230"/>
              <a:gd name="T7" fmla="*/ 2147483647 h 347"/>
              <a:gd name="T8" fmla="*/ 0 w 230"/>
              <a:gd name="T9" fmla="*/ 0 h 347"/>
              <a:gd name="T10" fmla="*/ 0 w 230"/>
              <a:gd name="T11" fmla="*/ 0 h 3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347"/>
              <a:gd name="T20" fmla="*/ 230 w 230"/>
              <a:gd name="T21" fmla="*/ 347 h 3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347">
                <a:moveTo>
                  <a:pt x="0" y="0"/>
                </a:moveTo>
                <a:lnTo>
                  <a:pt x="230" y="0"/>
                </a:lnTo>
                <a:lnTo>
                  <a:pt x="230" y="347"/>
                </a:lnTo>
                <a:lnTo>
                  <a:pt x="0" y="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8" name="Freeform 18" descr="Wide downward diagonal"/>
          <p:cNvSpPr>
            <a:spLocks/>
          </p:cNvSpPr>
          <p:nvPr/>
        </p:nvSpPr>
        <p:spPr bwMode="auto">
          <a:xfrm>
            <a:off x="4121150" y="3502025"/>
            <a:ext cx="365125" cy="550863"/>
          </a:xfrm>
          <a:custGeom>
            <a:avLst/>
            <a:gdLst>
              <a:gd name="T0" fmla="*/ 0 w 230"/>
              <a:gd name="T1" fmla="*/ 0 h 347"/>
              <a:gd name="T2" fmla="*/ 2147483647 w 230"/>
              <a:gd name="T3" fmla="*/ 0 h 347"/>
              <a:gd name="T4" fmla="*/ 2147483647 w 230"/>
              <a:gd name="T5" fmla="*/ 2147483647 h 347"/>
              <a:gd name="T6" fmla="*/ 0 w 230"/>
              <a:gd name="T7" fmla="*/ 2147483647 h 347"/>
              <a:gd name="T8" fmla="*/ 0 w 230"/>
              <a:gd name="T9" fmla="*/ 0 h 347"/>
              <a:gd name="T10" fmla="*/ 0 w 230"/>
              <a:gd name="T11" fmla="*/ 0 h 3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347"/>
              <a:gd name="T20" fmla="*/ 230 w 230"/>
              <a:gd name="T21" fmla="*/ 347 h 3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347">
                <a:moveTo>
                  <a:pt x="0" y="0"/>
                </a:moveTo>
                <a:lnTo>
                  <a:pt x="230" y="0"/>
                </a:lnTo>
                <a:lnTo>
                  <a:pt x="230" y="347"/>
                </a:lnTo>
                <a:lnTo>
                  <a:pt x="0" y="34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39" name="Freeform 19"/>
          <p:cNvSpPr>
            <a:spLocks/>
          </p:cNvSpPr>
          <p:nvPr/>
        </p:nvSpPr>
        <p:spPr bwMode="auto">
          <a:xfrm>
            <a:off x="4121150" y="4233863"/>
            <a:ext cx="365125" cy="185737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0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0 h 117"/>
              <a:gd name="T10" fmla="*/ 0 w 230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117"/>
              <a:gd name="T20" fmla="*/ 230 w 230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117">
                <a:moveTo>
                  <a:pt x="0" y="0"/>
                </a:moveTo>
                <a:lnTo>
                  <a:pt x="230" y="0"/>
                </a:lnTo>
                <a:lnTo>
                  <a:pt x="230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40" name="Freeform 20"/>
          <p:cNvSpPr>
            <a:spLocks/>
          </p:cNvSpPr>
          <p:nvPr/>
        </p:nvSpPr>
        <p:spPr bwMode="auto">
          <a:xfrm>
            <a:off x="4121150" y="4233863"/>
            <a:ext cx="365125" cy="185737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0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0 h 117"/>
              <a:gd name="T10" fmla="*/ 0 w 230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117"/>
              <a:gd name="T20" fmla="*/ 230 w 230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117">
                <a:moveTo>
                  <a:pt x="0" y="0"/>
                </a:moveTo>
                <a:lnTo>
                  <a:pt x="230" y="0"/>
                </a:lnTo>
                <a:lnTo>
                  <a:pt x="230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41" name="Freeform 21"/>
          <p:cNvSpPr>
            <a:spLocks/>
          </p:cNvSpPr>
          <p:nvPr/>
        </p:nvSpPr>
        <p:spPr bwMode="auto">
          <a:xfrm>
            <a:off x="4121150" y="3136900"/>
            <a:ext cx="365125" cy="365125"/>
          </a:xfrm>
          <a:custGeom>
            <a:avLst/>
            <a:gdLst>
              <a:gd name="T0" fmla="*/ 0 w 230"/>
              <a:gd name="T1" fmla="*/ 0 h 230"/>
              <a:gd name="T2" fmla="*/ 2147483647 w 230"/>
              <a:gd name="T3" fmla="*/ 0 h 230"/>
              <a:gd name="T4" fmla="*/ 2147483647 w 230"/>
              <a:gd name="T5" fmla="*/ 2147483647 h 230"/>
              <a:gd name="T6" fmla="*/ 0 w 230"/>
              <a:gd name="T7" fmla="*/ 2147483647 h 230"/>
              <a:gd name="T8" fmla="*/ 0 w 230"/>
              <a:gd name="T9" fmla="*/ 0 h 230"/>
              <a:gd name="T10" fmla="*/ 0 w 230"/>
              <a:gd name="T11" fmla="*/ 0 h 2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230"/>
              <a:gd name="T20" fmla="*/ 230 w 230"/>
              <a:gd name="T21" fmla="*/ 230 h 2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230">
                <a:moveTo>
                  <a:pt x="0" y="0"/>
                </a:moveTo>
                <a:lnTo>
                  <a:pt x="230" y="0"/>
                </a:lnTo>
                <a:lnTo>
                  <a:pt x="230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4170363" y="53657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P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4248150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4" name="Rectangle 24"/>
          <p:cNvSpPr>
            <a:spLocks noChangeArrowheads="1"/>
          </p:cNvSpPr>
          <p:nvPr/>
        </p:nvSpPr>
        <p:spPr bwMode="auto">
          <a:xfrm>
            <a:off x="4325938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5267325" y="53657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P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5364163" y="53657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5394325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1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6364288" y="53657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P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6442075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50" name="Rectangle 30"/>
          <p:cNvSpPr>
            <a:spLocks noChangeArrowheads="1"/>
          </p:cNvSpPr>
          <p:nvPr/>
        </p:nvSpPr>
        <p:spPr bwMode="auto">
          <a:xfrm>
            <a:off x="6519863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2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7461250" y="53657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P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7539038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7616825" y="5422900"/>
            <a:ext cx="762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Courier New" pitchFamily="49" charset="0"/>
              </a:rPr>
              <a:t>3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54" name="Freeform 34"/>
          <p:cNvSpPr>
            <a:spLocks/>
          </p:cNvSpPr>
          <p:nvPr/>
        </p:nvSpPr>
        <p:spPr bwMode="auto">
          <a:xfrm>
            <a:off x="5218113" y="4048125"/>
            <a:ext cx="365125" cy="185738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2147483647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2147483647 h 117"/>
              <a:gd name="T10" fmla="*/ 0 w 230"/>
              <a:gd name="T11" fmla="*/ 2147483647 h 117"/>
              <a:gd name="T12" fmla="*/ 0 w 230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117"/>
              <a:gd name="T23" fmla="*/ 230 w 230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117">
                <a:moveTo>
                  <a:pt x="0" y="0"/>
                </a:moveTo>
                <a:lnTo>
                  <a:pt x="230" y="3"/>
                </a:lnTo>
                <a:lnTo>
                  <a:pt x="230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55" name="Freeform 35"/>
          <p:cNvSpPr>
            <a:spLocks/>
          </p:cNvSpPr>
          <p:nvPr/>
        </p:nvSpPr>
        <p:spPr bwMode="auto">
          <a:xfrm>
            <a:off x="5218113" y="4048125"/>
            <a:ext cx="365125" cy="185738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2147483647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2147483647 h 117"/>
              <a:gd name="T10" fmla="*/ 0 w 230"/>
              <a:gd name="T11" fmla="*/ 2147483647 h 117"/>
              <a:gd name="T12" fmla="*/ 0 w 230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117"/>
              <a:gd name="T23" fmla="*/ 230 w 230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117">
                <a:moveTo>
                  <a:pt x="0" y="0"/>
                </a:moveTo>
                <a:lnTo>
                  <a:pt x="230" y="3"/>
                </a:lnTo>
                <a:lnTo>
                  <a:pt x="230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56" name="Freeform 36"/>
          <p:cNvSpPr>
            <a:spLocks/>
          </p:cNvSpPr>
          <p:nvPr/>
        </p:nvSpPr>
        <p:spPr bwMode="auto">
          <a:xfrm>
            <a:off x="5218113" y="3317875"/>
            <a:ext cx="365125" cy="550863"/>
          </a:xfrm>
          <a:custGeom>
            <a:avLst/>
            <a:gdLst>
              <a:gd name="T0" fmla="*/ 0 w 230"/>
              <a:gd name="T1" fmla="*/ 0 h 347"/>
              <a:gd name="T2" fmla="*/ 2147483647 w 230"/>
              <a:gd name="T3" fmla="*/ 2147483647 h 347"/>
              <a:gd name="T4" fmla="*/ 2147483647 w 230"/>
              <a:gd name="T5" fmla="*/ 2147483647 h 347"/>
              <a:gd name="T6" fmla="*/ 0 w 230"/>
              <a:gd name="T7" fmla="*/ 2147483647 h 347"/>
              <a:gd name="T8" fmla="*/ 0 w 230"/>
              <a:gd name="T9" fmla="*/ 2147483647 h 347"/>
              <a:gd name="T10" fmla="*/ 0 w 230"/>
              <a:gd name="T11" fmla="*/ 2147483647 h 347"/>
              <a:gd name="T12" fmla="*/ 0 w 230"/>
              <a:gd name="T13" fmla="*/ 0 h 3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347"/>
              <a:gd name="T23" fmla="*/ 230 w 230"/>
              <a:gd name="T24" fmla="*/ 347 h 3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347">
                <a:moveTo>
                  <a:pt x="0" y="0"/>
                </a:moveTo>
                <a:lnTo>
                  <a:pt x="230" y="3"/>
                </a:lnTo>
                <a:lnTo>
                  <a:pt x="230" y="347"/>
                </a:lnTo>
                <a:lnTo>
                  <a:pt x="0" y="34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57" name="Freeform 37" descr="Wide downward diagonal"/>
          <p:cNvSpPr>
            <a:spLocks/>
          </p:cNvSpPr>
          <p:nvPr/>
        </p:nvSpPr>
        <p:spPr bwMode="auto">
          <a:xfrm>
            <a:off x="5218113" y="3317875"/>
            <a:ext cx="365125" cy="550863"/>
          </a:xfrm>
          <a:custGeom>
            <a:avLst/>
            <a:gdLst>
              <a:gd name="T0" fmla="*/ 0 w 230"/>
              <a:gd name="T1" fmla="*/ 0 h 347"/>
              <a:gd name="T2" fmla="*/ 2147483647 w 230"/>
              <a:gd name="T3" fmla="*/ 2147483647 h 347"/>
              <a:gd name="T4" fmla="*/ 2147483647 w 230"/>
              <a:gd name="T5" fmla="*/ 2147483647 h 347"/>
              <a:gd name="T6" fmla="*/ 0 w 230"/>
              <a:gd name="T7" fmla="*/ 2147483647 h 347"/>
              <a:gd name="T8" fmla="*/ 0 w 230"/>
              <a:gd name="T9" fmla="*/ 2147483647 h 347"/>
              <a:gd name="T10" fmla="*/ 0 w 230"/>
              <a:gd name="T11" fmla="*/ 2147483647 h 347"/>
              <a:gd name="T12" fmla="*/ 0 w 230"/>
              <a:gd name="T13" fmla="*/ 0 h 3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"/>
              <a:gd name="T22" fmla="*/ 0 h 347"/>
              <a:gd name="T23" fmla="*/ 230 w 230"/>
              <a:gd name="T24" fmla="*/ 347 h 3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" h="347">
                <a:moveTo>
                  <a:pt x="0" y="0"/>
                </a:moveTo>
                <a:lnTo>
                  <a:pt x="230" y="3"/>
                </a:lnTo>
                <a:lnTo>
                  <a:pt x="230" y="347"/>
                </a:lnTo>
                <a:lnTo>
                  <a:pt x="0" y="34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58" name="Freeform 38"/>
          <p:cNvSpPr>
            <a:spLocks/>
          </p:cNvSpPr>
          <p:nvPr/>
        </p:nvSpPr>
        <p:spPr bwMode="auto">
          <a:xfrm>
            <a:off x="5218113" y="3136900"/>
            <a:ext cx="365125" cy="185738"/>
          </a:xfrm>
          <a:custGeom>
            <a:avLst/>
            <a:gdLst>
              <a:gd name="T0" fmla="*/ 0 w 230"/>
              <a:gd name="T1" fmla="*/ 0 h 117"/>
              <a:gd name="T2" fmla="*/ 2147483647 w 230"/>
              <a:gd name="T3" fmla="*/ 0 h 117"/>
              <a:gd name="T4" fmla="*/ 2147483647 w 230"/>
              <a:gd name="T5" fmla="*/ 2147483647 h 117"/>
              <a:gd name="T6" fmla="*/ 0 w 230"/>
              <a:gd name="T7" fmla="*/ 2147483647 h 117"/>
              <a:gd name="T8" fmla="*/ 0 w 230"/>
              <a:gd name="T9" fmla="*/ 0 h 117"/>
              <a:gd name="T10" fmla="*/ 0 w 230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"/>
              <a:gd name="T19" fmla="*/ 0 h 117"/>
              <a:gd name="T20" fmla="*/ 230 w 230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" h="117">
                <a:moveTo>
                  <a:pt x="0" y="0"/>
                </a:moveTo>
                <a:lnTo>
                  <a:pt x="230" y="0"/>
                </a:lnTo>
                <a:lnTo>
                  <a:pt x="230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59" name="Freeform 39"/>
          <p:cNvSpPr>
            <a:spLocks/>
          </p:cNvSpPr>
          <p:nvPr/>
        </p:nvSpPr>
        <p:spPr bwMode="auto">
          <a:xfrm>
            <a:off x="6315075" y="4414838"/>
            <a:ext cx="366713" cy="96837"/>
          </a:xfrm>
          <a:custGeom>
            <a:avLst/>
            <a:gdLst>
              <a:gd name="T0" fmla="*/ 0 w 231"/>
              <a:gd name="T1" fmla="*/ 0 h 61"/>
              <a:gd name="T2" fmla="*/ 2147483647 w 231"/>
              <a:gd name="T3" fmla="*/ 2147483647 h 61"/>
              <a:gd name="T4" fmla="*/ 2147483647 w 231"/>
              <a:gd name="T5" fmla="*/ 2147483647 h 61"/>
              <a:gd name="T6" fmla="*/ 0 w 231"/>
              <a:gd name="T7" fmla="*/ 2147483647 h 61"/>
              <a:gd name="T8" fmla="*/ 0 w 231"/>
              <a:gd name="T9" fmla="*/ 2147483647 h 61"/>
              <a:gd name="T10" fmla="*/ 0 w 231"/>
              <a:gd name="T11" fmla="*/ 2147483647 h 61"/>
              <a:gd name="T12" fmla="*/ 0 w 23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61"/>
              <a:gd name="T23" fmla="*/ 231 w 231"/>
              <a:gd name="T24" fmla="*/ 61 h 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61">
                <a:moveTo>
                  <a:pt x="0" y="0"/>
                </a:moveTo>
                <a:lnTo>
                  <a:pt x="231" y="3"/>
                </a:lnTo>
                <a:lnTo>
                  <a:pt x="231" y="61"/>
                </a:lnTo>
                <a:lnTo>
                  <a:pt x="0" y="61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0" name="Freeform 40"/>
          <p:cNvSpPr>
            <a:spLocks/>
          </p:cNvSpPr>
          <p:nvPr/>
        </p:nvSpPr>
        <p:spPr bwMode="auto">
          <a:xfrm>
            <a:off x="6315075" y="4414838"/>
            <a:ext cx="366713" cy="96837"/>
          </a:xfrm>
          <a:custGeom>
            <a:avLst/>
            <a:gdLst>
              <a:gd name="T0" fmla="*/ 0 w 231"/>
              <a:gd name="T1" fmla="*/ 0 h 61"/>
              <a:gd name="T2" fmla="*/ 2147483647 w 231"/>
              <a:gd name="T3" fmla="*/ 2147483647 h 61"/>
              <a:gd name="T4" fmla="*/ 2147483647 w 231"/>
              <a:gd name="T5" fmla="*/ 2147483647 h 61"/>
              <a:gd name="T6" fmla="*/ 0 w 231"/>
              <a:gd name="T7" fmla="*/ 2147483647 h 61"/>
              <a:gd name="T8" fmla="*/ 0 w 231"/>
              <a:gd name="T9" fmla="*/ 2147483647 h 61"/>
              <a:gd name="T10" fmla="*/ 0 w 231"/>
              <a:gd name="T11" fmla="*/ 2147483647 h 61"/>
              <a:gd name="T12" fmla="*/ 0 w 23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61"/>
              <a:gd name="T23" fmla="*/ 231 w 231"/>
              <a:gd name="T24" fmla="*/ 61 h 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61">
                <a:moveTo>
                  <a:pt x="0" y="0"/>
                </a:moveTo>
                <a:lnTo>
                  <a:pt x="231" y="3"/>
                </a:lnTo>
                <a:lnTo>
                  <a:pt x="231" y="61"/>
                </a:lnTo>
                <a:lnTo>
                  <a:pt x="0" y="61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1" name="Freeform 41"/>
          <p:cNvSpPr>
            <a:spLocks/>
          </p:cNvSpPr>
          <p:nvPr/>
        </p:nvSpPr>
        <p:spPr bwMode="auto">
          <a:xfrm>
            <a:off x="6315075" y="3595688"/>
            <a:ext cx="366713" cy="550862"/>
          </a:xfrm>
          <a:custGeom>
            <a:avLst/>
            <a:gdLst>
              <a:gd name="T0" fmla="*/ 0 w 231"/>
              <a:gd name="T1" fmla="*/ 0 h 347"/>
              <a:gd name="T2" fmla="*/ 2147483647 w 231"/>
              <a:gd name="T3" fmla="*/ 0 h 347"/>
              <a:gd name="T4" fmla="*/ 2147483647 w 231"/>
              <a:gd name="T5" fmla="*/ 2147483647 h 347"/>
              <a:gd name="T6" fmla="*/ 0 w 231"/>
              <a:gd name="T7" fmla="*/ 2147483647 h 347"/>
              <a:gd name="T8" fmla="*/ 0 w 231"/>
              <a:gd name="T9" fmla="*/ 0 h 347"/>
              <a:gd name="T10" fmla="*/ 0 w 231"/>
              <a:gd name="T11" fmla="*/ 0 h 3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347"/>
              <a:gd name="T20" fmla="*/ 231 w 231"/>
              <a:gd name="T21" fmla="*/ 347 h 3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347">
                <a:moveTo>
                  <a:pt x="0" y="0"/>
                </a:moveTo>
                <a:lnTo>
                  <a:pt x="231" y="0"/>
                </a:lnTo>
                <a:lnTo>
                  <a:pt x="231" y="347"/>
                </a:lnTo>
                <a:lnTo>
                  <a:pt x="0" y="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2" name="Freeform 42" descr="Wide downward diagonal"/>
          <p:cNvSpPr>
            <a:spLocks/>
          </p:cNvSpPr>
          <p:nvPr/>
        </p:nvSpPr>
        <p:spPr bwMode="auto">
          <a:xfrm>
            <a:off x="6315075" y="3595688"/>
            <a:ext cx="366713" cy="550862"/>
          </a:xfrm>
          <a:custGeom>
            <a:avLst/>
            <a:gdLst>
              <a:gd name="T0" fmla="*/ 0 w 231"/>
              <a:gd name="T1" fmla="*/ 0 h 347"/>
              <a:gd name="T2" fmla="*/ 2147483647 w 231"/>
              <a:gd name="T3" fmla="*/ 0 h 347"/>
              <a:gd name="T4" fmla="*/ 2147483647 w 231"/>
              <a:gd name="T5" fmla="*/ 2147483647 h 347"/>
              <a:gd name="T6" fmla="*/ 0 w 231"/>
              <a:gd name="T7" fmla="*/ 2147483647 h 347"/>
              <a:gd name="T8" fmla="*/ 0 w 231"/>
              <a:gd name="T9" fmla="*/ 0 h 347"/>
              <a:gd name="T10" fmla="*/ 0 w 231"/>
              <a:gd name="T11" fmla="*/ 0 h 3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347"/>
              <a:gd name="T20" fmla="*/ 231 w 231"/>
              <a:gd name="T21" fmla="*/ 347 h 3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347">
                <a:moveTo>
                  <a:pt x="0" y="0"/>
                </a:moveTo>
                <a:lnTo>
                  <a:pt x="231" y="0"/>
                </a:lnTo>
                <a:lnTo>
                  <a:pt x="231" y="347"/>
                </a:lnTo>
                <a:lnTo>
                  <a:pt x="0" y="34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3" name="Freeform 43"/>
          <p:cNvSpPr>
            <a:spLocks/>
          </p:cNvSpPr>
          <p:nvPr/>
        </p:nvSpPr>
        <p:spPr bwMode="auto">
          <a:xfrm>
            <a:off x="6315075" y="3136900"/>
            <a:ext cx="366713" cy="458788"/>
          </a:xfrm>
          <a:custGeom>
            <a:avLst/>
            <a:gdLst>
              <a:gd name="T0" fmla="*/ 0 w 231"/>
              <a:gd name="T1" fmla="*/ 0 h 289"/>
              <a:gd name="T2" fmla="*/ 2147483647 w 231"/>
              <a:gd name="T3" fmla="*/ 0 h 289"/>
              <a:gd name="T4" fmla="*/ 2147483647 w 231"/>
              <a:gd name="T5" fmla="*/ 2147483647 h 289"/>
              <a:gd name="T6" fmla="*/ 0 w 231"/>
              <a:gd name="T7" fmla="*/ 2147483647 h 289"/>
              <a:gd name="T8" fmla="*/ 0 w 231"/>
              <a:gd name="T9" fmla="*/ 0 h 289"/>
              <a:gd name="T10" fmla="*/ 0 w 231"/>
              <a:gd name="T11" fmla="*/ 0 h 2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289"/>
              <a:gd name="T20" fmla="*/ 231 w 231"/>
              <a:gd name="T21" fmla="*/ 289 h 28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289">
                <a:moveTo>
                  <a:pt x="0" y="0"/>
                </a:moveTo>
                <a:lnTo>
                  <a:pt x="231" y="0"/>
                </a:lnTo>
                <a:lnTo>
                  <a:pt x="231" y="289"/>
                </a:lnTo>
                <a:lnTo>
                  <a:pt x="0" y="289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4" name="Freeform 44"/>
          <p:cNvSpPr>
            <a:spLocks/>
          </p:cNvSpPr>
          <p:nvPr/>
        </p:nvSpPr>
        <p:spPr bwMode="auto">
          <a:xfrm>
            <a:off x="7412038" y="4233863"/>
            <a:ext cx="366712" cy="185737"/>
          </a:xfrm>
          <a:custGeom>
            <a:avLst/>
            <a:gdLst>
              <a:gd name="T0" fmla="*/ 0 w 231"/>
              <a:gd name="T1" fmla="*/ 0 h 117"/>
              <a:gd name="T2" fmla="*/ 2147483647 w 231"/>
              <a:gd name="T3" fmla="*/ 0 h 117"/>
              <a:gd name="T4" fmla="*/ 2147483647 w 231"/>
              <a:gd name="T5" fmla="*/ 2147483647 h 117"/>
              <a:gd name="T6" fmla="*/ 0 w 231"/>
              <a:gd name="T7" fmla="*/ 2147483647 h 117"/>
              <a:gd name="T8" fmla="*/ 0 w 231"/>
              <a:gd name="T9" fmla="*/ 0 h 117"/>
              <a:gd name="T10" fmla="*/ 0 w 231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117"/>
              <a:gd name="T20" fmla="*/ 231 w 231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117">
                <a:moveTo>
                  <a:pt x="0" y="0"/>
                </a:moveTo>
                <a:lnTo>
                  <a:pt x="231" y="0"/>
                </a:lnTo>
                <a:lnTo>
                  <a:pt x="231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5" name="Freeform 45"/>
          <p:cNvSpPr>
            <a:spLocks/>
          </p:cNvSpPr>
          <p:nvPr/>
        </p:nvSpPr>
        <p:spPr bwMode="auto">
          <a:xfrm>
            <a:off x="7412038" y="4233863"/>
            <a:ext cx="366712" cy="185737"/>
          </a:xfrm>
          <a:custGeom>
            <a:avLst/>
            <a:gdLst>
              <a:gd name="T0" fmla="*/ 0 w 231"/>
              <a:gd name="T1" fmla="*/ 0 h 117"/>
              <a:gd name="T2" fmla="*/ 2147483647 w 231"/>
              <a:gd name="T3" fmla="*/ 0 h 117"/>
              <a:gd name="T4" fmla="*/ 2147483647 w 231"/>
              <a:gd name="T5" fmla="*/ 2147483647 h 117"/>
              <a:gd name="T6" fmla="*/ 0 w 231"/>
              <a:gd name="T7" fmla="*/ 2147483647 h 117"/>
              <a:gd name="T8" fmla="*/ 0 w 231"/>
              <a:gd name="T9" fmla="*/ 0 h 117"/>
              <a:gd name="T10" fmla="*/ 0 w 231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117"/>
              <a:gd name="T20" fmla="*/ 231 w 231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117">
                <a:moveTo>
                  <a:pt x="0" y="0"/>
                </a:moveTo>
                <a:lnTo>
                  <a:pt x="231" y="0"/>
                </a:lnTo>
                <a:lnTo>
                  <a:pt x="231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6" name="Freeform 46"/>
          <p:cNvSpPr>
            <a:spLocks/>
          </p:cNvSpPr>
          <p:nvPr/>
        </p:nvSpPr>
        <p:spPr bwMode="auto">
          <a:xfrm>
            <a:off x="7412038" y="3228975"/>
            <a:ext cx="366712" cy="823913"/>
          </a:xfrm>
          <a:custGeom>
            <a:avLst/>
            <a:gdLst>
              <a:gd name="T0" fmla="*/ 0 w 231"/>
              <a:gd name="T1" fmla="*/ 0 h 519"/>
              <a:gd name="T2" fmla="*/ 2147483647 w 231"/>
              <a:gd name="T3" fmla="*/ 0 h 519"/>
              <a:gd name="T4" fmla="*/ 2147483647 w 231"/>
              <a:gd name="T5" fmla="*/ 2147483647 h 519"/>
              <a:gd name="T6" fmla="*/ 0 w 231"/>
              <a:gd name="T7" fmla="*/ 2147483647 h 519"/>
              <a:gd name="T8" fmla="*/ 0 w 231"/>
              <a:gd name="T9" fmla="*/ 0 h 519"/>
              <a:gd name="T10" fmla="*/ 0 w 231"/>
              <a:gd name="T11" fmla="*/ 0 h 5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519"/>
              <a:gd name="T20" fmla="*/ 231 w 231"/>
              <a:gd name="T21" fmla="*/ 519 h 51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519">
                <a:moveTo>
                  <a:pt x="0" y="0"/>
                </a:moveTo>
                <a:lnTo>
                  <a:pt x="231" y="0"/>
                </a:lnTo>
                <a:lnTo>
                  <a:pt x="231" y="519"/>
                </a:lnTo>
                <a:lnTo>
                  <a:pt x="0" y="5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7" name="Freeform 47" descr="Wide downward diagonal"/>
          <p:cNvSpPr>
            <a:spLocks/>
          </p:cNvSpPr>
          <p:nvPr/>
        </p:nvSpPr>
        <p:spPr bwMode="auto">
          <a:xfrm>
            <a:off x="7412038" y="3228975"/>
            <a:ext cx="366712" cy="823913"/>
          </a:xfrm>
          <a:custGeom>
            <a:avLst/>
            <a:gdLst>
              <a:gd name="T0" fmla="*/ 0 w 231"/>
              <a:gd name="T1" fmla="*/ 0 h 519"/>
              <a:gd name="T2" fmla="*/ 2147483647 w 231"/>
              <a:gd name="T3" fmla="*/ 0 h 519"/>
              <a:gd name="T4" fmla="*/ 2147483647 w 231"/>
              <a:gd name="T5" fmla="*/ 2147483647 h 519"/>
              <a:gd name="T6" fmla="*/ 0 w 231"/>
              <a:gd name="T7" fmla="*/ 2147483647 h 519"/>
              <a:gd name="T8" fmla="*/ 0 w 231"/>
              <a:gd name="T9" fmla="*/ 0 h 519"/>
              <a:gd name="T10" fmla="*/ 0 w 231"/>
              <a:gd name="T11" fmla="*/ 0 h 5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519"/>
              <a:gd name="T20" fmla="*/ 231 w 231"/>
              <a:gd name="T21" fmla="*/ 519 h 51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519">
                <a:moveTo>
                  <a:pt x="0" y="0"/>
                </a:moveTo>
                <a:lnTo>
                  <a:pt x="231" y="0"/>
                </a:lnTo>
                <a:lnTo>
                  <a:pt x="231" y="519"/>
                </a:lnTo>
                <a:lnTo>
                  <a:pt x="0" y="519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8" name="Freeform 48"/>
          <p:cNvSpPr>
            <a:spLocks/>
          </p:cNvSpPr>
          <p:nvPr/>
        </p:nvSpPr>
        <p:spPr bwMode="auto">
          <a:xfrm>
            <a:off x="7412038" y="3136900"/>
            <a:ext cx="366712" cy="92075"/>
          </a:xfrm>
          <a:custGeom>
            <a:avLst/>
            <a:gdLst>
              <a:gd name="T0" fmla="*/ 0 w 231"/>
              <a:gd name="T1" fmla="*/ 0 h 58"/>
              <a:gd name="T2" fmla="*/ 2147483647 w 231"/>
              <a:gd name="T3" fmla="*/ 0 h 58"/>
              <a:gd name="T4" fmla="*/ 2147483647 w 231"/>
              <a:gd name="T5" fmla="*/ 2147483647 h 58"/>
              <a:gd name="T6" fmla="*/ 0 w 231"/>
              <a:gd name="T7" fmla="*/ 2147483647 h 58"/>
              <a:gd name="T8" fmla="*/ 0 w 231"/>
              <a:gd name="T9" fmla="*/ 0 h 58"/>
              <a:gd name="T10" fmla="*/ 0 w 231"/>
              <a:gd name="T11" fmla="*/ 0 h 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1"/>
              <a:gd name="T19" fmla="*/ 0 h 58"/>
              <a:gd name="T20" fmla="*/ 231 w 231"/>
              <a:gd name="T21" fmla="*/ 58 h 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1" h="58">
                <a:moveTo>
                  <a:pt x="0" y="0"/>
                </a:moveTo>
                <a:lnTo>
                  <a:pt x="231" y="0"/>
                </a:lnTo>
                <a:lnTo>
                  <a:pt x="231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69" name="Freeform 49" descr="Wide downward diagonal"/>
          <p:cNvSpPr>
            <a:spLocks/>
          </p:cNvSpPr>
          <p:nvPr/>
        </p:nvSpPr>
        <p:spPr bwMode="auto">
          <a:xfrm>
            <a:off x="5105400" y="1905000"/>
            <a:ext cx="303213" cy="180975"/>
          </a:xfrm>
          <a:custGeom>
            <a:avLst/>
            <a:gdLst>
              <a:gd name="T0" fmla="*/ 0 w 191"/>
              <a:gd name="T1" fmla="*/ 0 h 114"/>
              <a:gd name="T2" fmla="*/ 2147483647 w 191"/>
              <a:gd name="T3" fmla="*/ 0 h 114"/>
              <a:gd name="T4" fmla="*/ 2147483647 w 191"/>
              <a:gd name="T5" fmla="*/ 2147483647 h 114"/>
              <a:gd name="T6" fmla="*/ 0 w 191"/>
              <a:gd name="T7" fmla="*/ 2147483647 h 114"/>
              <a:gd name="T8" fmla="*/ 0 w 191"/>
              <a:gd name="T9" fmla="*/ 0 h 114"/>
              <a:gd name="T10" fmla="*/ 0 w 191"/>
              <a:gd name="T11" fmla="*/ 0 h 1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1"/>
              <a:gd name="T19" fmla="*/ 0 h 114"/>
              <a:gd name="T20" fmla="*/ 191 w 191"/>
              <a:gd name="T21" fmla="*/ 114 h 1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1" h="114">
                <a:moveTo>
                  <a:pt x="0" y="0"/>
                </a:moveTo>
                <a:lnTo>
                  <a:pt x="191" y="0"/>
                </a:lnTo>
                <a:lnTo>
                  <a:pt x="191" y="114"/>
                </a:lnTo>
                <a:lnTo>
                  <a:pt x="0" y="11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70" name="Freeform 50"/>
          <p:cNvSpPr>
            <a:spLocks/>
          </p:cNvSpPr>
          <p:nvPr/>
        </p:nvSpPr>
        <p:spPr bwMode="auto">
          <a:xfrm>
            <a:off x="5110163" y="2211388"/>
            <a:ext cx="303212" cy="185737"/>
          </a:xfrm>
          <a:custGeom>
            <a:avLst/>
            <a:gdLst>
              <a:gd name="T0" fmla="*/ 0 w 191"/>
              <a:gd name="T1" fmla="*/ 0 h 117"/>
              <a:gd name="T2" fmla="*/ 2147483647 w 191"/>
              <a:gd name="T3" fmla="*/ 2147483647 h 117"/>
              <a:gd name="T4" fmla="*/ 2147483647 w 191"/>
              <a:gd name="T5" fmla="*/ 2147483647 h 117"/>
              <a:gd name="T6" fmla="*/ 0 w 191"/>
              <a:gd name="T7" fmla="*/ 2147483647 h 117"/>
              <a:gd name="T8" fmla="*/ 0 w 191"/>
              <a:gd name="T9" fmla="*/ 2147483647 h 117"/>
              <a:gd name="T10" fmla="*/ 0 w 191"/>
              <a:gd name="T11" fmla="*/ 2147483647 h 117"/>
              <a:gd name="T12" fmla="*/ 0 w 191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1"/>
              <a:gd name="T22" fmla="*/ 0 h 117"/>
              <a:gd name="T23" fmla="*/ 191 w 191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1" h="117">
                <a:moveTo>
                  <a:pt x="0" y="0"/>
                </a:moveTo>
                <a:lnTo>
                  <a:pt x="191" y="3"/>
                </a:lnTo>
                <a:lnTo>
                  <a:pt x="191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71" name="Freeform 51"/>
          <p:cNvSpPr>
            <a:spLocks/>
          </p:cNvSpPr>
          <p:nvPr/>
        </p:nvSpPr>
        <p:spPr bwMode="auto">
          <a:xfrm>
            <a:off x="5110163" y="2211388"/>
            <a:ext cx="303212" cy="185737"/>
          </a:xfrm>
          <a:custGeom>
            <a:avLst/>
            <a:gdLst>
              <a:gd name="T0" fmla="*/ 0 w 191"/>
              <a:gd name="T1" fmla="*/ 0 h 117"/>
              <a:gd name="T2" fmla="*/ 2147483647 w 191"/>
              <a:gd name="T3" fmla="*/ 2147483647 h 117"/>
              <a:gd name="T4" fmla="*/ 2147483647 w 191"/>
              <a:gd name="T5" fmla="*/ 2147483647 h 117"/>
              <a:gd name="T6" fmla="*/ 0 w 191"/>
              <a:gd name="T7" fmla="*/ 2147483647 h 117"/>
              <a:gd name="T8" fmla="*/ 0 w 191"/>
              <a:gd name="T9" fmla="*/ 2147483647 h 117"/>
              <a:gd name="T10" fmla="*/ 0 w 191"/>
              <a:gd name="T11" fmla="*/ 2147483647 h 117"/>
              <a:gd name="T12" fmla="*/ 0 w 191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1"/>
              <a:gd name="T22" fmla="*/ 0 h 117"/>
              <a:gd name="T23" fmla="*/ 191 w 191"/>
              <a:gd name="T24" fmla="*/ 117 h 11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1" h="117">
                <a:moveTo>
                  <a:pt x="0" y="0"/>
                </a:moveTo>
                <a:lnTo>
                  <a:pt x="191" y="3"/>
                </a:lnTo>
                <a:lnTo>
                  <a:pt x="191" y="117"/>
                </a:lnTo>
                <a:lnTo>
                  <a:pt x="0" y="1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72" name="Freeform 52"/>
          <p:cNvSpPr>
            <a:spLocks/>
          </p:cNvSpPr>
          <p:nvPr/>
        </p:nvSpPr>
        <p:spPr bwMode="auto">
          <a:xfrm>
            <a:off x="5105400" y="1524000"/>
            <a:ext cx="303213" cy="185738"/>
          </a:xfrm>
          <a:custGeom>
            <a:avLst/>
            <a:gdLst>
              <a:gd name="T0" fmla="*/ 0 w 191"/>
              <a:gd name="T1" fmla="*/ 0 h 117"/>
              <a:gd name="T2" fmla="*/ 2147483647 w 191"/>
              <a:gd name="T3" fmla="*/ 0 h 117"/>
              <a:gd name="T4" fmla="*/ 2147483647 w 191"/>
              <a:gd name="T5" fmla="*/ 2147483647 h 117"/>
              <a:gd name="T6" fmla="*/ 0 w 191"/>
              <a:gd name="T7" fmla="*/ 2147483647 h 117"/>
              <a:gd name="T8" fmla="*/ 0 w 191"/>
              <a:gd name="T9" fmla="*/ 0 h 117"/>
              <a:gd name="T10" fmla="*/ 0 w 191"/>
              <a:gd name="T11" fmla="*/ 0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1"/>
              <a:gd name="T19" fmla="*/ 0 h 117"/>
              <a:gd name="T20" fmla="*/ 191 w 191"/>
              <a:gd name="T21" fmla="*/ 117 h 1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1" h="117">
                <a:moveTo>
                  <a:pt x="0" y="0"/>
                </a:moveTo>
                <a:lnTo>
                  <a:pt x="191" y="0"/>
                </a:lnTo>
                <a:lnTo>
                  <a:pt x="191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30773" name="Rectangle 53"/>
          <p:cNvSpPr>
            <a:spLocks noChangeArrowheads="1"/>
          </p:cNvSpPr>
          <p:nvPr/>
        </p:nvSpPr>
        <p:spPr bwMode="auto">
          <a:xfrm>
            <a:off x="5500688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B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4" name="Rectangle 54"/>
          <p:cNvSpPr>
            <a:spLocks noChangeArrowheads="1"/>
          </p:cNvSpPr>
          <p:nvPr/>
        </p:nvSpPr>
        <p:spPr bwMode="auto">
          <a:xfrm>
            <a:off x="5597525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u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5" name="Rectangle 55"/>
          <p:cNvSpPr>
            <a:spLocks noChangeArrowheads="1"/>
          </p:cNvSpPr>
          <p:nvPr/>
        </p:nvSpPr>
        <p:spPr bwMode="auto">
          <a:xfrm>
            <a:off x="5695950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6" name="Rectangle 56"/>
          <p:cNvSpPr>
            <a:spLocks noChangeArrowheads="1"/>
          </p:cNvSpPr>
          <p:nvPr/>
        </p:nvSpPr>
        <p:spPr bwMode="auto">
          <a:xfrm>
            <a:off x="5792788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7" name="Rectangle 57"/>
          <p:cNvSpPr>
            <a:spLocks noChangeArrowheads="1"/>
          </p:cNvSpPr>
          <p:nvPr/>
        </p:nvSpPr>
        <p:spPr bwMode="auto">
          <a:xfrm>
            <a:off x="5891213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8" name="Rectangle 58"/>
          <p:cNvSpPr>
            <a:spLocks noChangeArrowheads="1"/>
          </p:cNvSpPr>
          <p:nvPr/>
        </p:nvSpPr>
        <p:spPr bwMode="auto">
          <a:xfrm>
            <a:off x="5988050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o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79" name="Rectangle 59"/>
          <p:cNvSpPr>
            <a:spLocks noChangeArrowheads="1"/>
          </p:cNvSpPr>
          <p:nvPr/>
        </p:nvSpPr>
        <p:spPr bwMode="auto">
          <a:xfrm>
            <a:off x="6086475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v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0" name="Rectangle 60"/>
          <p:cNvSpPr>
            <a:spLocks noChangeArrowheads="1"/>
          </p:cNvSpPr>
          <p:nvPr/>
        </p:nvSpPr>
        <p:spPr bwMode="auto">
          <a:xfrm>
            <a:off x="6183313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1" name="Rectangle 61"/>
          <p:cNvSpPr>
            <a:spLocks noChangeArrowheads="1"/>
          </p:cNvSpPr>
          <p:nvPr/>
        </p:nvSpPr>
        <p:spPr bwMode="auto">
          <a:xfrm>
            <a:off x="6281738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2" name="Rectangle 62"/>
          <p:cNvSpPr>
            <a:spLocks noChangeArrowheads="1"/>
          </p:cNvSpPr>
          <p:nvPr/>
        </p:nvSpPr>
        <p:spPr bwMode="auto">
          <a:xfrm>
            <a:off x="6378575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h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3" name="Rectangle 63"/>
          <p:cNvSpPr>
            <a:spLocks noChangeArrowheads="1"/>
          </p:cNvSpPr>
          <p:nvPr/>
        </p:nvSpPr>
        <p:spPr bwMode="auto">
          <a:xfrm>
            <a:off x="6475413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4" name="Rectangle 64"/>
          <p:cNvSpPr>
            <a:spLocks noChangeArrowheads="1"/>
          </p:cNvSpPr>
          <p:nvPr/>
        </p:nvSpPr>
        <p:spPr bwMode="auto">
          <a:xfrm>
            <a:off x="6573838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5" name="Rectangle 65"/>
          <p:cNvSpPr>
            <a:spLocks noChangeArrowheads="1"/>
          </p:cNvSpPr>
          <p:nvPr/>
        </p:nvSpPr>
        <p:spPr bwMode="auto">
          <a:xfrm>
            <a:off x="6670675" y="222567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d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30786" name="Group 66"/>
          <p:cNvGrpSpPr>
            <a:grpSpLocks/>
          </p:cNvGrpSpPr>
          <p:nvPr/>
        </p:nvGrpSpPr>
        <p:grpSpPr bwMode="auto">
          <a:xfrm>
            <a:off x="7086600" y="1828800"/>
            <a:ext cx="1492250" cy="579438"/>
            <a:chOff x="4464" y="1152"/>
            <a:chExt cx="940" cy="365"/>
          </a:xfrm>
        </p:grpSpPr>
        <p:sp>
          <p:nvSpPr>
            <p:cNvPr id="30908" name="Freeform 67"/>
            <p:cNvSpPr>
              <a:spLocks/>
            </p:cNvSpPr>
            <p:nvPr/>
          </p:nvSpPr>
          <p:spPr bwMode="auto">
            <a:xfrm>
              <a:off x="4464" y="1392"/>
              <a:ext cx="190" cy="117"/>
            </a:xfrm>
            <a:custGeom>
              <a:avLst/>
              <a:gdLst>
                <a:gd name="T0" fmla="*/ 0 w 190"/>
                <a:gd name="T1" fmla="*/ 0 h 117"/>
                <a:gd name="T2" fmla="*/ 190 w 190"/>
                <a:gd name="T3" fmla="*/ 3 h 117"/>
                <a:gd name="T4" fmla="*/ 190 w 190"/>
                <a:gd name="T5" fmla="*/ 117 h 117"/>
                <a:gd name="T6" fmla="*/ 3 w 190"/>
                <a:gd name="T7" fmla="*/ 117 h 117"/>
                <a:gd name="T8" fmla="*/ 3 w 190"/>
                <a:gd name="T9" fmla="*/ 3 h 117"/>
                <a:gd name="T10" fmla="*/ 3 w 190"/>
                <a:gd name="T11" fmla="*/ 3 h 117"/>
                <a:gd name="T12" fmla="*/ 0 w 190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"/>
                <a:gd name="T22" fmla="*/ 0 h 117"/>
                <a:gd name="T23" fmla="*/ 190 w 190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0" h="117">
                  <a:moveTo>
                    <a:pt x="0" y="0"/>
                  </a:moveTo>
                  <a:lnTo>
                    <a:pt x="190" y="3"/>
                  </a:lnTo>
                  <a:lnTo>
                    <a:pt x="190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909" name="Freeform 68"/>
            <p:cNvSpPr>
              <a:spLocks/>
            </p:cNvSpPr>
            <p:nvPr/>
          </p:nvSpPr>
          <p:spPr bwMode="auto">
            <a:xfrm>
              <a:off x="4464" y="1392"/>
              <a:ext cx="190" cy="117"/>
            </a:xfrm>
            <a:custGeom>
              <a:avLst/>
              <a:gdLst>
                <a:gd name="T0" fmla="*/ 0 w 190"/>
                <a:gd name="T1" fmla="*/ 0 h 117"/>
                <a:gd name="T2" fmla="*/ 190 w 190"/>
                <a:gd name="T3" fmla="*/ 3 h 117"/>
                <a:gd name="T4" fmla="*/ 190 w 190"/>
                <a:gd name="T5" fmla="*/ 117 h 117"/>
                <a:gd name="T6" fmla="*/ 3 w 190"/>
                <a:gd name="T7" fmla="*/ 117 h 117"/>
                <a:gd name="T8" fmla="*/ 3 w 190"/>
                <a:gd name="T9" fmla="*/ 3 h 117"/>
                <a:gd name="T10" fmla="*/ 3 w 190"/>
                <a:gd name="T11" fmla="*/ 3 h 117"/>
                <a:gd name="T12" fmla="*/ 0 w 190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"/>
                <a:gd name="T22" fmla="*/ 0 h 117"/>
                <a:gd name="T23" fmla="*/ 190 w 190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0" h="117">
                  <a:moveTo>
                    <a:pt x="0" y="0"/>
                  </a:moveTo>
                  <a:lnTo>
                    <a:pt x="190" y="3"/>
                  </a:lnTo>
                  <a:lnTo>
                    <a:pt x="190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910" name="Freeform 69" descr="Light upward diagonal"/>
            <p:cNvSpPr>
              <a:spLocks/>
            </p:cNvSpPr>
            <p:nvPr/>
          </p:nvSpPr>
          <p:spPr bwMode="auto">
            <a:xfrm>
              <a:off x="4464" y="1152"/>
              <a:ext cx="194" cy="117"/>
            </a:xfrm>
            <a:custGeom>
              <a:avLst/>
              <a:gdLst>
                <a:gd name="T0" fmla="*/ 0 w 194"/>
                <a:gd name="T1" fmla="*/ 0 h 117"/>
                <a:gd name="T2" fmla="*/ 194 w 194"/>
                <a:gd name="T3" fmla="*/ 3 h 117"/>
                <a:gd name="T4" fmla="*/ 194 w 194"/>
                <a:gd name="T5" fmla="*/ 117 h 117"/>
                <a:gd name="T6" fmla="*/ 3 w 194"/>
                <a:gd name="T7" fmla="*/ 117 h 117"/>
                <a:gd name="T8" fmla="*/ 3 w 194"/>
                <a:gd name="T9" fmla="*/ 3 h 117"/>
                <a:gd name="T10" fmla="*/ 3 w 194"/>
                <a:gd name="T11" fmla="*/ 3 h 117"/>
                <a:gd name="T12" fmla="*/ 0 w 194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"/>
                <a:gd name="T22" fmla="*/ 0 h 117"/>
                <a:gd name="T23" fmla="*/ 194 w 194"/>
                <a:gd name="T24" fmla="*/ 117 h 1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" h="117">
                  <a:moveTo>
                    <a:pt x="0" y="0"/>
                  </a:moveTo>
                  <a:lnTo>
                    <a:pt x="194" y="3"/>
                  </a:lnTo>
                  <a:lnTo>
                    <a:pt x="194" y="117"/>
                  </a:lnTo>
                  <a:lnTo>
                    <a:pt x="3" y="1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911" name="Rectangle 70"/>
            <p:cNvSpPr>
              <a:spLocks noChangeArrowheads="1"/>
            </p:cNvSpPr>
            <p:nvPr/>
          </p:nvSpPr>
          <p:spPr bwMode="auto">
            <a:xfrm>
              <a:off x="4728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B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2" name="Rectangle 71"/>
            <p:cNvSpPr>
              <a:spLocks noChangeArrowheads="1"/>
            </p:cNvSpPr>
            <p:nvPr/>
          </p:nvSpPr>
          <p:spPr bwMode="auto">
            <a:xfrm>
              <a:off x="4789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3" name="Rectangle 72"/>
            <p:cNvSpPr>
              <a:spLocks noChangeArrowheads="1"/>
            </p:cNvSpPr>
            <p:nvPr/>
          </p:nvSpPr>
          <p:spPr bwMode="auto">
            <a:xfrm>
              <a:off x="4851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4" name="Rectangle 73"/>
            <p:cNvSpPr>
              <a:spLocks noChangeArrowheads="1"/>
            </p:cNvSpPr>
            <p:nvPr/>
          </p:nvSpPr>
          <p:spPr bwMode="auto">
            <a:xfrm>
              <a:off x="4912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5" name="Rectangle 74"/>
            <p:cNvSpPr>
              <a:spLocks noChangeArrowheads="1"/>
            </p:cNvSpPr>
            <p:nvPr/>
          </p:nvSpPr>
          <p:spPr bwMode="auto">
            <a:xfrm>
              <a:off x="4973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6" name="Rectangle 75"/>
            <p:cNvSpPr>
              <a:spLocks noChangeArrowheads="1"/>
            </p:cNvSpPr>
            <p:nvPr/>
          </p:nvSpPr>
          <p:spPr bwMode="auto">
            <a:xfrm>
              <a:off x="5035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7" name="Rectangle 76"/>
            <p:cNvSpPr>
              <a:spLocks noChangeArrowheads="1"/>
            </p:cNvSpPr>
            <p:nvPr/>
          </p:nvSpPr>
          <p:spPr bwMode="auto">
            <a:xfrm>
              <a:off x="5096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8" name="Rectangle 77"/>
            <p:cNvSpPr>
              <a:spLocks noChangeArrowheads="1"/>
            </p:cNvSpPr>
            <p:nvPr/>
          </p:nvSpPr>
          <p:spPr bwMode="auto">
            <a:xfrm>
              <a:off x="5158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19" name="Rectangle 78"/>
            <p:cNvSpPr>
              <a:spLocks noChangeArrowheads="1"/>
            </p:cNvSpPr>
            <p:nvPr/>
          </p:nvSpPr>
          <p:spPr bwMode="auto">
            <a:xfrm>
              <a:off x="5219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0" name="Rectangle 79"/>
            <p:cNvSpPr>
              <a:spLocks noChangeArrowheads="1"/>
            </p:cNvSpPr>
            <p:nvPr/>
          </p:nvSpPr>
          <p:spPr bwMode="auto">
            <a:xfrm>
              <a:off x="5281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1" name="Rectangle 80"/>
            <p:cNvSpPr>
              <a:spLocks noChangeArrowheads="1"/>
            </p:cNvSpPr>
            <p:nvPr/>
          </p:nvSpPr>
          <p:spPr bwMode="auto">
            <a:xfrm>
              <a:off x="5342" y="13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2" name="Rectangle 81"/>
            <p:cNvSpPr>
              <a:spLocks noChangeArrowheads="1"/>
            </p:cNvSpPr>
            <p:nvPr/>
          </p:nvSpPr>
          <p:spPr bwMode="auto">
            <a:xfrm>
              <a:off x="4713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D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3" name="Rectangle 82"/>
            <p:cNvSpPr>
              <a:spLocks noChangeArrowheads="1"/>
            </p:cNvSpPr>
            <p:nvPr/>
          </p:nvSpPr>
          <p:spPr bwMode="auto">
            <a:xfrm>
              <a:off x="4774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4" name="Rectangle 83"/>
            <p:cNvSpPr>
              <a:spLocks noChangeArrowheads="1"/>
            </p:cNvSpPr>
            <p:nvPr/>
          </p:nvSpPr>
          <p:spPr bwMode="auto">
            <a:xfrm>
              <a:off x="4836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5" name="Rectangle 84"/>
            <p:cNvSpPr>
              <a:spLocks noChangeArrowheads="1"/>
            </p:cNvSpPr>
            <p:nvPr/>
          </p:nvSpPr>
          <p:spPr bwMode="auto">
            <a:xfrm>
              <a:off x="4897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6" name="Rectangle 85"/>
            <p:cNvSpPr>
              <a:spLocks noChangeArrowheads="1"/>
            </p:cNvSpPr>
            <p:nvPr/>
          </p:nvSpPr>
          <p:spPr bwMode="auto">
            <a:xfrm>
              <a:off x="4959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7" name="Rectangle 86"/>
            <p:cNvSpPr>
              <a:spLocks noChangeArrowheads="1"/>
            </p:cNvSpPr>
            <p:nvPr/>
          </p:nvSpPr>
          <p:spPr bwMode="auto">
            <a:xfrm>
              <a:off x="5020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8" name="Rectangle 87"/>
            <p:cNvSpPr>
              <a:spLocks noChangeArrowheads="1"/>
            </p:cNvSpPr>
            <p:nvPr/>
          </p:nvSpPr>
          <p:spPr bwMode="auto">
            <a:xfrm>
              <a:off x="5082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o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29" name="Rectangle 88"/>
            <p:cNvSpPr>
              <a:spLocks noChangeArrowheads="1"/>
            </p:cNvSpPr>
            <p:nvPr/>
          </p:nvSpPr>
          <p:spPr bwMode="auto">
            <a:xfrm>
              <a:off x="5143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c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30" name="Rectangle 89"/>
            <p:cNvSpPr>
              <a:spLocks noChangeArrowheads="1"/>
            </p:cNvSpPr>
            <p:nvPr/>
          </p:nvSpPr>
          <p:spPr bwMode="auto">
            <a:xfrm>
              <a:off x="5205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31" name="Rectangle 90"/>
            <p:cNvSpPr>
              <a:spLocks noChangeArrowheads="1"/>
            </p:cNvSpPr>
            <p:nvPr/>
          </p:nvSpPr>
          <p:spPr bwMode="auto">
            <a:xfrm>
              <a:off x="5266" y="115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30787" name="Rectangle 91"/>
          <p:cNvSpPr>
            <a:spLocks noChangeArrowheads="1"/>
          </p:cNvSpPr>
          <p:nvPr/>
        </p:nvSpPr>
        <p:spPr bwMode="auto">
          <a:xfrm>
            <a:off x="5495925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8" name="Rectangle 92"/>
          <p:cNvSpPr>
            <a:spLocks noChangeArrowheads="1"/>
          </p:cNvSpPr>
          <p:nvPr/>
        </p:nvSpPr>
        <p:spPr bwMode="auto">
          <a:xfrm>
            <a:off x="5592763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y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89" name="Rectangle 93"/>
          <p:cNvSpPr>
            <a:spLocks noChangeArrowheads="1"/>
          </p:cNvSpPr>
          <p:nvPr/>
        </p:nvSpPr>
        <p:spPr bwMode="auto">
          <a:xfrm>
            <a:off x="5691188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0" name="Rectangle 94"/>
          <p:cNvSpPr>
            <a:spLocks noChangeArrowheads="1"/>
          </p:cNvSpPr>
          <p:nvPr/>
        </p:nvSpPr>
        <p:spPr bwMode="auto">
          <a:xfrm>
            <a:off x="5788025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c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1" name="Rectangle 95"/>
          <p:cNvSpPr>
            <a:spLocks noChangeArrowheads="1"/>
          </p:cNvSpPr>
          <p:nvPr/>
        </p:nvSpPr>
        <p:spPr bwMode="auto">
          <a:xfrm>
            <a:off x="5886450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h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2" name="Rectangle 96"/>
          <p:cNvSpPr>
            <a:spLocks noChangeArrowheads="1"/>
          </p:cNvSpPr>
          <p:nvPr/>
        </p:nvSpPr>
        <p:spPr bwMode="auto">
          <a:xfrm>
            <a:off x="5983288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3" name="Rectangle 97"/>
          <p:cNvSpPr>
            <a:spLocks noChangeArrowheads="1"/>
          </p:cNvSpPr>
          <p:nvPr/>
        </p:nvSpPr>
        <p:spPr bwMode="auto">
          <a:xfrm>
            <a:off x="6081713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o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4" name="Rectangle 98"/>
          <p:cNvSpPr>
            <a:spLocks noChangeArrowheads="1"/>
          </p:cNvSpPr>
          <p:nvPr/>
        </p:nvSpPr>
        <p:spPr bwMode="auto">
          <a:xfrm>
            <a:off x="6178550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5" name="Rectangle 99"/>
          <p:cNvSpPr>
            <a:spLocks noChangeArrowheads="1"/>
          </p:cNvSpPr>
          <p:nvPr/>
        </p:nvSpPr>
        <p:spPr bwMode="auto">
          <a:xfrm>
            <a:off x="6276975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i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6" name="Rectangle 100"/>
          <p:cNvSpPr>
            <a:spLocks noChangeArrowheads="1"/>
          </p:cNvSpPr>
          <p:nvPr/>
        </p:nvSpPr>
        <p:spPr bwMode="auto">
          <a:xfrm>
            <a:off x="6373813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z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7" name="Rectangle 101"/>
          <p:cNvSpPr>
            <a:spLocks noChangeArrowheads="1"/>
          </p:cNvSpPr>
          <p:nvPr/>
        </p:nvSpPr>
        <p:spPr bwMode="auto">
          <a:xfrm>
            <a:off x="6470650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8" name="Rectangle 102"/>
          <p:cNvSpPr>
            <a:spLocks noChangeArrowheads="1"/>
          </p:cNvSpPr>
          <p:nvPr/>
        </p:nvSpPr>
        <p:spPr bwMode="auto">
          <a:xfrm>
            <a:off x="6569075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799" name="Rectangle 103"/>
          <p:cNvSpPr>
            <a:spLocks noChangeArrowheads="1"/>
          </p:cNvSpPr>
          <p:nvPr/>
        </p:nvSpPr>
        <p:spPr bwMode="auto">
          <a:xfrm>
            <a:off x="6665913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i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0" name="Rectangle 104"/>
          <p:cNvSpPr>
            <a:spLocks noChangeArrowheads="1"/>
          </p:cNvSpPr>
          <p:nvPr/>
        </p:nvSpPr>
        <p:spPr bwMode="auto">
          <a:xfrm>
            <a:off x="6764338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o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1" name="Rectangle 105"/>
          <p:cNvSpPr>
            <a:spLocks noChangeArrowheads="1"/>
          </p:cNvSpPr>
          <p:nvPr/>
        </p:nvSpPr>
        <p:spPr bwMode="auto">
          <a:xfrm>
            <a:off x="6861175" y="153511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2" name="Rectangle 106"/>
          <p:cNvSpPr>
            <a:spLocks noChangeArrowheads="1"/>
          </p:cNvSpPr>
          <p:nvPr/>
        </p:nvSpPr>
        <p:spPr bwMode="auto">
          <a:xfrm>
            <a:off x="5519738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D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3" name="Rectangle 107"/>
          <p:cNvSpPr>
            <a:spLocks noChangeArrowheads="1"/>
          </p:cNvSpPr>
          <p:nvPr/>
        </p:nvSpPr>
        <p:spPr bwMode="auto">
          <a:xfrm>
            <a:off x="5616575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4" name="Rectangle 108"/>
          <p:cNvSpPr>
            <a:spLocks noChangeArrowheads="1"/>
          </p:cNvSpPr>
          <p:nvPr/>
        </p:nvSpPr>
        <p:spPr bwMode="auto">
          <a:xfrm>
            <a:off x="5715000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5" name="Rectangle 109"/>
          <p:cNvSpPr>
            <a:spLocks noChangeArrowheads="1"/>
          </p:cNvSpPr>
          <p:nvPr/>
        </p:nvSpPr>
        <p:spPr bwMode="auto">
          <a:xfrm>
            <a:off x="5811838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6" name="Rectangle 110"/>
          <p:cNvSpPr>
            <a:spLocks noChangeArrowheads="1"/>
          </p:cNvSpPr>
          <p:nvPr/>
        </p:nvSpPr>
        <p:spPr bwMode="auto">
          <a:xfrm>
            <a:off x="5908675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7" name="Rectangle 111"/>
          <p:cNvSpPr>
            <a:spLocks noChangeArrowheads="1"/>
          </p:cNvSpPr>
          <p:nvPr/>
        </p:nvSpPr>
        <p:spPr bwMode="auto">
          <a:xfrm>
            <a:off x="6007100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8" name="Rectangle 112"/>
          <p:cNvSpPr>
            <a:spLocks noChangeArrowheads="1"/>
          </p:cNvSpPr>
          <p:nvPr/>
        </p:nvSpPr>
        <p:spPr bwMode="auto">
          <a:xfrm>
            <a:off x="6099175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09" name="Rectangle 113"/>
          <p:cNvSpPr>
            <a:spLocks noChangeArrowheads="1"/>
          </p:cNvSpPr>
          <p:nvPr/>
        </p:nvSpPr>
        <p:spPr bwMode="auto">
          <a:xfrm>
            <a:off x="6197600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0" name="Rectangle 114"/>
          <p:cNvSpPr>
            <a:spLocks noChangeArrowheads="1"/>
          </p:cNvSpPr>
          <p:nvPr/>
        </p:nvSpPr>
        <p:spPr bwMode="auto">
          <a:xfrm>
            <a:off x="6294438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o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1" name="Rectangle 115"/>
          <p:cNvSpPr>
            <a:spLocks noChangeArrowheads="1"/>
          </p:cNvSpPr>
          <p:nvPr/>
        </p:nvSpPr>
        <p:spPr bwMode="auto">
          <a:xfrm>
            <a:off x="6392863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2" name="Rectangle 116"/>
          <p:cNvSpPr>
            <a:spLocks noChangeArrowheads="1"/>
          </p:cNvSpPr>
          <p:nvPr/>
        </p:nvSpPr>
        <p:spPr bwMode="auto">
          <a:xfrm>
            <a:off x="6489700" y="1922463"/>
            <a:ext cx="98425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3" name="Rectangle 117"/>
          <p:cNvSpPr>
            <a:spLocks noChangeArrowheads="1"/>
          </p:cNvSpPr>
          <p:nvPr/>
        </p:nvSpPr>
        <p:spPr bwMode="auto">
          <a:xfrm rot="-5400000">
            <a:off x="3072606" y="3374232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4" name="Rectangle 118"/>
          <p:cNvSpPr>
            <a:spLocks noChangeArrowheads="1"/>
          </p:cNvSpPr>
          <p:nvPr/>
        </p:nvSpPr>
        <p:spPr bwMode="auto">
          <a:xfrm rot="-5400000">
            <a:off x="3072606" y="3271044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i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5" name="Rectangle 119"/>
          <p:cNvSpPr>
            <a:spLocks noChangeArrowheads="1"/>
          </p:cNvSpPr>
          <p:nvPr/>
        </p:nvSpPr>
        <p:spPr bwMode="auto">
          <a:xfrm rot="-5400000">
            <a:off x="3072606" y="3174207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6" name="Rectangle 120"/>
          <p:cNvSpPr>
            <a:spLocks noChangeArrowheads="1"/>
          </p:cNvSpPr>
          <p:nvPr/>
        </p:nvSpPr>
        <p:spPr bwMode="auto">
          <a:xfrm rot="-5400000">
            <a:off x="3072606" y="3075782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7" name="Rectangle 121"/>
          <p:cNvSpPr>
            <a:spLocks noChangeArrowheads="1"/>
          </p:cNvSpPr>
          <p:nvPr/>
        </p:nvSpPr>
        <p:spPr bwMode="auto">
          <a:xfrm rot="-5400000">
            <a:off x="3072606" y="2978944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8" name="Rectangle 122"/>
          <p:cNvSpPr>
            <a:spLocks noChangeArrowheads="1"/>
          </p:cNvSpPr>
          <p:nvPr/>
        </p:nvSpPr>
        <p:spPr bwMode="auto">
          <a:xfrm rot="-5400000">
            <a:off x="3072606" y="2880519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(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19" name="Rectangle 123"/>
          <p:cNvSpPr>
            <a:spLocks noChangeArrowheads="1"/>
          </p:cNvSpPr>
          <p:nvPr/>
        </p:nvSpPr>
        <p:spPr bwMode="auto">
          <a:xfrm rot="-5400000">
            <a:off x="3072606" y="2783682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0" name="Rectangle 124"/>
          <p:cNvSpPr>
            <a:spLocks noChangeArrowheads="1"/>
          </p:cNvSpPr>
          <p:nvPr/>
        </p:nvSpPr>
        <p:spPr bwMode="auto">
          <a:xfrm rot="-5400000">
            <a:off x="3072606" y="2686844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)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1" name="Line 125"/>
          <p:cNvSpPr>
            <a:spLocks noChangeShapeType="1"/>
          </p:cNvSpPr>
          <p:nvPr/>
        </p:nvSpPr>
        <p:spPr bwMode="auto">
          <a:xfrm>
            <a:off x="3754438" y="1493838"/>
            <a:ext cx="185737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grpSp>
        <p:nvGrpSpPr>
          <p:cNvPr id="30822" name="Group 126"/>
          <p:cNvGrpSpPr>
            <a:grpSpLocks/>
          </p:cNvGrpSpPr>
          <p:nvPr/>
        </p:nvGrpSpPr>
        <p:grpSpPr bwMode="auto">
          <a:xfrm>
            <a:off x="641350" y="1435100"/>
            <a:ext cx="2382838" cy="3716338"/>
            <a:chOff x="404" y="904"/>
            <a:chExt cx="1501" cy="2341"/>
          </a:xfrm>
        </p:grpSpPr>
        <p:sp>
          <p:nvSpPr>
            <p:cNvPr id="30883" name="Line 127"/>
            <p:cNvSpPr>
              <a:spLocks noChangeShapeType="1"/>
            </p:cNvSpPr>
            <p:nvPr/>
          </p:nvSpPr>
          <p:spPr bwMode="auto">
            <a:xfrm>
              <a:off x="866" y="938"/>
              <a:ext cx="3" cy="23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84" name="Line 128"/>
            <p:cNvSpPr>
              <a:spLocks noChangeShapeType="1"/>
            </p:cNvSpPr>
            <p:nvPr/>
          </p:nvSpPr>
          <p:spPr bwMode="auto">
            <a:xfrm>
              <a:off x="869" y="3244"/>
              <a:ext cx="103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85" name="Freeform 129"/>
            <p:cNvSpPr>
              <a:spLocks/>
            </p:cNvSpPr>
            <p:nvPr/>
          </p:nvSpPr>
          <p:spPr bwMode="auto">
            <a:xfrm>
              <a:off x="1213" y="938"/>
              <a:ext cx="231" cy="2306"/>
            </a:xfrm>
            <a:custGeom>
              <a:avLst/>
              <a:gdLst>
                <a:gd name="T0" fmla="*/ 0 w 231"/>
                <a:gd name="T1" fmla="*/ 0 h 2306"/>
                <a:gd name="T2" fmla="*/ 231 w 231"/>
                <a:gd name="T3" fmla="*/ 3 h 2306"/>
                <a:gd name="T4" fmla="*/ 231 w 231"/>
                <a:gd name="T5" fmla="*/ 2306 h 2306"/>
                <a:gd name="T6" fmla="*/ 0 w 231"/>
                <a:gd name="T7" fmla="*/ 2306 h 2306"/>
                <a:gd name="T8" fmla="*/ 0 w 231"/>
                <a:gd name="T9" fmla="*/ 3 h 2306"/>
                <a:gd name="T10" fmla="*/ 0 w 231"/>
                <a:gd name="T11" fmla="*/ 3 h 2306"/>
                <a:gd name="T12" fmla="*/ 0 w 231"/>
                <a:gd name="T13" fmla="*/ 0 h 2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2306"/>
                <a:gd name="T23" fmla="*/ 231 w 231"/>
                <a:gd name="T24" fmla="*/ 2306 h 23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2306">
                  <a:moveTo>
                    <a:pt x="0" y="0"/>
                  </a:moveTo>
                  <a:lnTo>
                    <a:pt x="231" y="3"/>
                  </a:lnTo>
                  <a:lnTo>
                    <a:pt x="231" y="2306"/>
                  </a:lnTo>
                  <a:lnTo>
                    <a:pt x="0" y="2306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86" name="Freeform 130"/>
            <p:cNvSpPr>
              <a:spLocks/>
            </p:cNvSpPr>
            <p:nvPr/>
          </p:nvSpPr>
          <p:spPr bwMode="auto">
            <a:xfrm>
              <a:off x="1213" y="938"/>
              <a:ext cx="231" cy="2306"/>
            </a:xfrm>
            <a:custGeom>
              <a:avLst/>
              <a:gdLst>
                <a:gd name="T0" fmla="*/ 0 w 231"/>
                <a:gd name="T1" fmla="*/ 0 h 2306"/>
                <a:gd name="T2" fmla="*/ 231 w 231"/>
                <a:gd name="T3" fmla="*/ 3 h 2306"/>
                <a:gd name="T4" fmla="*/ 231 w 231"/>
                <a:gd name="T5" fmla="*/ 2306 h 2306"/>
                <a:gd name="T6" fmla="*/ 0 w 231"/>
                <a:gd name="T7" fmla="*/ 2306 h 2306"/>
                <a:gd name="T8" fmla="*/ 0 w 231"/>
                <a:gd name="T9" fmla="*/ 3 h 2306"/>
                <a:gd name="T10" fmla="*/ 0 w 231"/>
                <a:gd name="T11" fmla="*/ 3 h 2306"/>
                <a:gd name="T12" fmla="*/ 0 w 231"/>
                <a:gd name="T13" fmla="*/ 0 h 2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2306"/>
                <a:gd name="T23" fmla="*/ 231 w 231"/>
                <a:gd name="T24" fmla="*/ 2306 h 23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2306">
                  <a:moveTo>
                    <a:pt x="0" y="0"/>
                  </a:moveTo>
                  <a:lnTo>
                    <a:pt x="231" y="3"/>
                  </a:lnTo>
                  <a:lnTo>
                    <a:pt x="231" y="2306"/>
                  </a:lnTo>
                  <a:lnTo>
                    <a:pt x="0" y="2306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87" name="Freeform 131" descr="Light upward diagonal"/>
            <p:cNvSpPr>
              <a:spLocks/>
            </p:cNvSpPr>
            <p:nvPr/>
          </p:nvSpPr>
          <p:spPr bwMode="auto">
            <a:xfrm>
              <a:off x="1213" y="938"/>
              <a:ext cx="231" cy="464"/>
            </a:xfrm>
            <a:custGeom>
              <a:avLst/>
              <a:gdLst>
                <a:gd name="T0" fmla="*/ 0 w 231"/>
                <a:gd name="T1" fmla="*/ 0 h 464"/>
                <a:gd name="T2" fmla="*/ 231 w 231"/>
                <a:gd name="T3" fmla="*/ 3 h 464"/>
                <a:gd name="T4" fmla="*/ 231 w 231"/>
                <a:gd name="T5" fmla="*/ 464 h 464"/>
                <a:gd name="T6" fmla="*/ 0 w 231"/>
                <a:gd name="T7" fmla="*/ 464 h 464"/>
                <a:gd name="T8" fmla="*/ 0 w 231"/>
                <a:gd name="T9" fmla="*/ 3 h 464"/>
                <a:gd name="T10" fmla="*/ 0 w 231"/>
                <a:gd name="T11" fmla="*/ 3 h 464"/>
                <a:gd name="T12" fmla="*/ 0 w 231"/>
                <a:gd name="T13" fmla="*/ 0 h 4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1"/>
                <a:gd name="T22" fmla="*/ 0 h 464"/>
                <a:gd name="T23" fmla="*/ 231 w 231"/>
                <a:gd name="T24" fmla="*/ 464 h 4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1" h="464">
                  <a:moveTo>
                    <a:pt x="0" y="0"/>
                  </a:moveTo>
                  <a:lnTo>
                    <a:pt x="231" y="3"/>
                  </a:lnTo>
                  <a:lnTo>
                    <a:pt x="231" y="464"/>
                  </a:lnTo>
                  <a:lnTo>
                    <a:pt x="0" y="46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pattFill prst="ltUpDiag">
              <a:fgClr>
                <a:schemeClr val="accent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88" name="Rectangle 132"/>
            <p:cNvSpPr>
              <a:spLocks noChangeArrowheads="1"/>
            </p:cNvSpPr>
            <p:nvPr/>
          </p:nvSpPr>
          <p:spPr bwMode="auto">
            <a:xfrm rot="-5400000">
              <a:off x="436" y="2125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89" name="Rectangle 133"/>
            <p:cNvSpPr>
              <a:spLocks noChangeArrowheads="1"/>
            </p:cNvSpPr>
            <p:nvPr/>
          </p:nvSpPr>
          <p:spPr bwMode="auto">
            <a:xfrm rot="-5400000">
              <a:off x="436" y="2060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i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0" name="Rectangle 134"/>
            <p:cNvSpPr>
              <a:spLocks noChangeArrowheads="1"/>
            </p:cNvSpPr>
            <p:nvPr/>
          </p:nvSpPr>
          <p:spPr bwMode="auto">
            <a:xfrm rot="-5400000">
              <a:off x="436" y="1999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m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1" name="Rectangle 135"/>
            <p:cNvSpPr>
              <a:spLocks noChangeArrowheads="1"/>
            </p:cNvSpPr>
            <p:nvPr/>
          </p:nvSpPr>
          <p:spPr bwMode="auto">
            <a:xfrm rot="-5400000">
              <a:off x="436" y="1937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2" name="Rectangle 136"/>
            <p:cNvSpPr>
              <a:spLocks noChangeArrowheads="1"/>
            </p:cNvSpPr>
            <p:nvPr/>
          </p:nvSpPr>
          <p:spPr bwMode="auto">
            <a:xfrm rot="-5400000">
              <a:off x="436" y="1876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3" name="Rectangle 137"/>
            <p:cNvSpPr>
              <a:spLocks noChangeArrowheads="1"/>
            </p:cNvSpPr>
            <p:nvPr/>
          </p:nvSpPr>
          <p:spPr bwMode="auto">
            <a:xfrm rot="-5400000">
              <a:off x="436" y="1814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4" name="Rectangle 138"/>
            <p:cNvSpPr>
              <a:spLocks noChangeArrowheads="1"/>
            </p:cNvSpPr>
            <p:nvPr/>
          </p:nvSpPr>
          <p:spPr bwMode="auto">
            <a:xfrm rot="-5400000">
              <a:off x="436" y="1753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5" name="Rectangle 139"/>
            <p:cNvSpPr>
              <a:spLocks noChangeArrowheads="1"/>
            </p:cNvSpPr>
            <p:nvPr/>
          </p:nvSpPr>
          <p:spPr bwMode="auto">
            <a:xfrm rot="-5400000">
              <a:off x="436" y="1692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6" name="Line 140"/>
            <p:cNvSpPr>
              <a:spLocks noChangeShapeType="1"/>
            </p:cNvSpPr>
            <p:nvPr/>
          </p:nvSpPr>
          <p:spPr bwMode="auto">
            <a:xfrm>
              <a:off x="866" y="938"/>
              <a:ext cx="117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97" name="Rectangle 141"/>
            <p:cNvSpPr>
              <a:spLocks noChangeArrowheads="1"/>
            </p:cNvSpPr>
            <p:nvPr/>
          </p:nvSpPr>
          <p:spPr bwMode="auto">
            <a:xfrm>
              <a:off x="581" y="904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8" name="Rectangle 142"/>
            <p:cNvSpPr>
              <a:spLocks noChangeArrowheads="1"/>
            </p:cNvSpPr>
            <p:nvPr/>
          </p:nvSpPr>
          <p:spPr bwMode="auto">
            <a:xfrm>
              <a:off x="642" y="904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99" name="Rectangle 143"/>
            <p:cNvSpPr>
              <a:spLocks noChangeArrowheads="1"/>
            </p:cNvSpPr>
            <p:nvPr/>
          </p:nvSpPr>
          <p:spPr bwMode="auto">
            <a:xfrm>
              <a:off x="703" y="904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0" name="Rectangle 144"/>
            <p:cNvSpPr>
              <a:spLocks noChangeArrowheads="1"/>
            </p:cNvSpPr>
            <p:nvPr/>
          </p:nvSpPr>
          <p:spPr bwMode="auto">
            <a:xfrm>
              <a:off x="657" y="147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1" name="Rectangle 145"/>
            <p:cNvSpPr>
              <a:spLocks noChangeArrowheads="1"/>
            </p:cNvSpPr>
            <p:nvPr/>
          </p:nvSpPr>
          <p:spPr bwMode="auto">
            <a:xfrm>
              <a:off x="719" y="147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2" name="Rectangle 146"/>
            <p:cNvSpPr>
              <a:spLocks noChangeArrowheads="1"/>
            </p:cNvSpPr>
            <p:nvPr/>
          </p:nvSpPr>
          <p:spPr bwMode="auto">
            <a:xfrm>
              <a:off x="780" y="1478"/>
              <a:ext cx="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3" name="Rectangle 147"/>
            <p:cNvSpPr>
              <a:spLocks noChangeArrowheads="1"/>
            </p:cNvSpPr>
            <p:nvPr/>
          </p:nvSpPr>
          <p:spPr bwMode="auto">
            <a:xfrm>
              <a:off x="657" y="2056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4" name="Rectangle 148"/>
            <p:cNvSpPr>
              <a:spLocks noChangeArrowheads="1"/>
            </p:cNvSpPr>
            <p:nvPr/>
          </p:nvSpPr>
          <p:spPr bwMode="auto">
            <a:xfrm>
              <a:off x="719" y="2056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5" name="Rectangle 149"/>
            <p:cNvSpPr>
              <a:spLocks noChangeArrowheads="1"/>
            </p:cNvSpPr>
            <p:nvPr/>
          </p:nvSpPr>
          <p:spPr bwMode="auto">
            <a:xfrm>
              <a:off x="780" y="2056"/>
              <a:ext cx="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6" name="Rectangle 150"/>
            <p:cNvSpPr>
              <a:spLocks noChangeArrowheads="1"/>
            </p:cNvSpPr>
            <p:nvPr/>
          </p:nvSpPr>
          <p:spPr bwMode="auto">
            <a:xfrm>
              <a:off x="657" y="2630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907" name="Rectangle 151"/>
            <p:cNvSpPr>
              <a:spLocks noChangeArrowheads="1"/>
            </p:cNvSpPr>
            <p:nvPr/>
          </p:nvSpPr>
          <p:spPr bwMode="auto">
            <a:xfrm>
              <a:off x="719" y="2630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30823" name="Rectangle 152"/>
          <p:cNvSpPr>
            <a:spLocks noChangeArrowheads="1"/>
          </p:cNvSpPr>
          <p:nvPr/>
        </p:nvSpPr>
        <p:spPr bwMode="auto">
          <a:xfrm>
            <a:off x="3297238" y="143510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1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4" name="Rectangle 153"/>
          <p:cNvSpPr>
            <a:spLocks noChangeArrowheads="1"/>
          </p:cNvSpPr>
          <p:nvPr/>
        </p:nvSpPr>
        <p:spPr bwMode="auto">
          <a:xfrm>
            <a:off x="3394075" y="143510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5" name="Rectangle 154"/>
          <p:cNvSpPr>
            <a:spLocks noChangeArrowheads="1"/>
          </p:cNvSpPr>
          <p:nvPr/>
        </p:nvSpPr>
        <p:spPr bwMode="auto">
          <a:xfrm>
            <a:off x="3492500" y="143510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6" name="Rectangle 155"/>
          <p:cNvSpPr>
            <a:spLocks noChangeArrowheads="1"/>
          </p:cNvSpPr>
          <p:nvPr/>
        </p:nvSpPr>
        <p:spPr bwMode="auto">
          <a:xfrm>
            <a:off x="3417888" y="234632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7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7" name="Rectangle 156"/>
          <p:cNvSpPr>
            <a:spLocks noChangeArrowheads="1"/>
          </p:cNvSpPr>
          <p:nvPr/>
        </p:nvSpPr>
        <p:spPr bwMode="auto">
          <a:xfrm>
            <a:off x="3516313" y="234632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5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28" name="Rectangle 157"/>
          <p:cNvSpPr>
            <a:spLocks noChangeArrowheads="1"/>
          </p:cNvSpPr>
          <p:nvPr/>
        </p:nvSpPr>
        <p:spPr bwMode="auto">
          <a:xfrm>
            <a:off x="3613150" y="2346325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0829" name="Rectangle 158"/>
          <p:cNvSpPr>
            <a:spLocks noChangeArrowheads="1"/>
          </p:cNvSpPr>
          <p:nvPr/>
        </p:nvSpPr>
        <p:spPr bwMode="auto">
          <a:xfrm>
            <a:off x="3417888" y="326390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5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0" name="Rectangle 159"/>
          <p:cNvSpPr>
            <a:spLocks noChangeArrowheads="1"/>
          </p:cNvSpPr>
          <p:nvPr/>
        </p:nvSpPr>
        <p:spPr bwMode="auto">
          <a:xfrm>
            <a:off x="3516313" y="326390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1" name="Rectangle 160"/>
          <p:cNvSpPr>
            <a:spLocks noChangeArrowheads="1"/>
          </p:cNvSpPr>
          <p:nvPr/>
        </p:nvSpPr>
        <p:spPr bwMode="auto">
          <a:xfrm>
            <a:off x="3613150" y="3263900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30832" name="Rectangle 161"/>
          <p:cNvSpPr>
            <a:spLocks noChangeArrowheads="1"/>
          </p:cNvSpPr>
          <p:nvPr/>
        </p:nvSpPr>
        <p:spPr bwMode="auto">
          <a:xfrm>
            <a:off x="3417888" y="417512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2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3" name="Rectangle 162"/>
          <p:cNvSpPr>
            <a:spLocks noChangeArrowheads="1"/>
          </p:cNvSpPr>
          <p:nvPr/>
        </p:nvSpPr>
        <p:spPr bwMode="auto">
          <a:xfrm>
            <a:off x="3516313" y="4175125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5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4" name="Rectangle 163"/>
          <p:cNvSpPr>
            <a:spLocks noChangeArrowheads="1"/>
          </p:cNvSpPr>
          <p:nvPr/>
        </p:nvSpPr>
        <p:spPr bwMode="auto">
          <a:xfrm>
            <a:off x="1731963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(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5" name="Rectangle 164"/>
          <p:cNvSpPr>
            <a:spLocks noChangeArrowheads="1"/>
          </p:cNvSpPr>
          <p:nvPr/>
        </p:nvSpPr>
        <p:spPr bwMode="auto">
          <a:xfrm>
            <a:off x="1828800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6" name="Rectangle 165"/>
          <p:cNvSpPr>
            <a:spLocks noChangeArrowheads="1"/>
          </p:cNvSpPr>
          <p:nvPr/>
        </p:nvSpPr>
        <p:spPr bwMode="auto">
          <a:xfrm>
            <a:off x="1925638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)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7" name="Rectangle 166"/>
          <p:cNvSpPr>
            <a:spLocks noChangeArrowheads="1"/>
          </p:cNvSpPr>
          <p:nvPr/>
        </p:nvSpPr>
        <p:spPr bwMode="auto">
          <a:xfrm>
            <a:off x="2024063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8" name="Rectangle 167"/>
          <p:cNvSpPr>
            <a:spLocks noChangeArrowheads="1"/>
          </p:cNvSpPr>
          <p:nvPr/>
        </p:nvSpPr>
        <p:spPr bwMode="auto">
          <a:xfrm>
            <a:off x="2120900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39" name="Rectangle 168"/>
          <p:cNvSpPr>
            <a:spLocks noChangeArrowheads="1"/>
          </p:cNvSpPr>
          <p:nvPr/>
        </p:nvSpPr>
        <p:spPr bwMode="auto">
          <a:xfrm>
            <a:off x="2219325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0" name="Rectangle 169"/>
          <p:cNvSpPr>
            <a:spLocks noChangeArrowheads="1"/>
          </p:cNvSpPr>
          <p:nvPr/>
        </p:nvSpPr>
        <p:spPr bwMode="auto">
          <a:xfrm>
            <a:off x="2316163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q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1" name="Rectangle 170"/>
          <p:cNvSpPr>
            <a:spLocks noChangeArrowheads="1"/>
          </p:cNvSpPr>
          <p:nvPr/>
        </p:nvSpPr>
        <p:spPr bwMode="auto">
          <a:xfrm>
            <a:off x="2414588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u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2" name="Rectangle 171"/>
          <p:cNvSpPr>
            <a:spLocks noChangeArrowheads="1"/>
          </p:cNvSpPr>
          <p:nvPr/>
        </p:nvSpPr>
        <p:spPr bwMode="auto">
          <a:xfrm>
            <a:off x="2511425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3" name="Rectangle 172"/>
          <p:cNvSpPr>
            <a:spLocks noChangeArrowheads="1"/>
          </p:cNvSpPr>
          <p:nvPr/>
        </p:nvSpPr>
        <p:spPr bwMode="auto">
          <a:xfrm>
            <a:off x="2609850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n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4" name="Rectangle 173"/>
          <p:cNvSpPr>
            <a:spLocks noChangeArrowheads="1"/>
          </p:cNvSpPr>
          <p:nvPr/>
        </p:nvSpPr>
        <p:spPr bwMode="auto">
          <a:xfrm>
            <a:off x="2706688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t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5" name="Rectangle 174"/>
          <p:cNvSpPr>
            <a:spLocks noChangeArrowheads="1"/>
          </p:cNvSpPr>
          <p:nvPr/>
        </p:nvSpPr>
        <p:spPr bwMode="auto">
          <a:xfrm>
            <a:off x="2803525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i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6" name="Rectangle 175"/>
          <p:cNvSpPr>
            <a:spLocks noChangeArrowheads="1"/>
          </p:cNvSpPr>
          <p:nvPr/>
        </p:nvSpPr>
        <p:spPr bwMode="auto">
          <a:xfrm>
            <a:off x="2901950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a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0847" name="Rectangle 176"/>
          <p:cNvSpPr>
            <a:spLocks noChangeArrowheads="1"/>
          </p:cNvSpPr>
          <p:nvPr/>
        </p:nvSpPr>
        <p:spPr bwMode="auto">
          <a:xfrm>
            <a:off x="2998788" y="5822950"/>
            <a:ext cx="9842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Courier New" pitchFamily="49" charset="0"/>
              </a:rPr>
              <a:t>l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30848" name="Group 177"/>
          <p:cNvGrpSpPr>
            <a:grpSpLocks/>
          </p:cNvGrpSpPr>
          <p:nvPr/>
        </p:nvGrpSpPr>
        <p:grpSpPr bwMode="auto">
          <a:xfrm>
            <a:off x="4648200" y="5791200"/>
            <a:ext cx="3214688" cy="198438"/>
            <a:chOff x="3447" y="3668"/>
            <a:chExt cx="2025" cy="125"/>
          </a:xfrm>
        </p:grpSpPr>
        <p:sp>
          <p:nvSpPr>
            <p:cNvPr id="30850" name="Rectangle 178"/>
            <p:cNvSpPr>
              <a:spLocks noChangeArrowheads="1"/>
            </p:cNvSpPr>
            <p:nvPr/>
          </p:nvSpPr>
          <p:spPr bwMode="auto">
            <a:xfrm>
              <a:off x="5103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1" name="Rectangle 179"/>
            <p:cNvSpPr>
              <a:spLocks noChangeArrowheads="1"/>
            </p:cNvSpPr>
            <p:nvPr/>
          </p:nvSpPr>
          <p:spPr bwMode="auto">
            <a:xfrm>
              <a:off x="5164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2" name="Rectangle 180"/>
            <p:cNvSpPr>
              <a:spLocks noChangeArrowheads="1"/>
            </p:cNvSpPr>
            <p:nvPr/>
          </p:nvSpPr>
          <p:spPr bwMode="auto">
            <a:xfrm>
              <a:off x="5225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3" name="Rectangle 181"/>
            <p:cNvSpPr>
              <a:spLocks noChangeArrowheads="1"/>
            </p:cNvSpPr>
            <p:nvPr/>
          </p:nvSpPr>
          <p:spPr bwMode="auto">
            <a:xfrm>
              <a:off x="5287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o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4" name="Rectangle 182"/>
            <p:cNvSpPr>
              <a:spLocks noChangeArrowheads="1"/>
            </p:cNvSpPr>
            <p:nvPr/>
          </p:nvSpPr>
          <p:spPr bwMode="auto">
            <a:xfrm>
              <a:off x="5348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r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5" name="Rectangle 183"/>
            <p:cNvSpPr>
              <a:spLocks noChangeArrowheads="1"/>
            </p:cNvSpPr>
            <p:nvPr/>
          </p:nvSpPr>
          <p:spPr bwMode="auto">
            <a:xfrm>
              <a:off x="541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s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6" name="Rectangle 184"/>
            <p:cNvSpPr>
              <a:spLocks noChangeArrowheads="1"/>
            </p:cNvSpPr>
            <p:nvPr/>
          </p:nvSpPr>
          <p:spPr bwMode="auto">
            <a:xfrm>
              <a:off x="3447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7" name="Rectangle 185"/>
            <p:cNvSpPr>
              <a:spLocks noChangeArrowheads="1"/>
            </p:cNvSpPr>
            <p:nvPr/>
          </p:nvSpPr>
          <p:spPr bwMode="auto">
            <a:xfrm>
              <a:off x="3508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b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8" name="Rectangle 186"/>
            <p:cNvSpPr>
              <a:spLocks noChangeArrowheads="1"/>
            </p:cNvSpPr>
            <p:nvPr/>
          </p:nvSpPr>
          <p:spPr bwMode="auto">
            <a:xfrm>
              <a:off x="357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59" name="Rectangle 187"/>
            <p:cNvSpPr>
              <a:spLocks noChangeArrowheads="1"/>
            </p:cNvSpPr>
            <p:nvPr/>
          </p:nvSpPr>
          <p:spPr bwMode="auto">
            <a:xfrm>
              <a:off x="3631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0" name="Rectangle 188"/>
            <p:cNvSpPr>
              <a:spLocks noChangeArrowheads="1"/>
            </p:cNvSpPr>
            <p:nvPr/>
          </p:nvSpPr>
          <p:spPr bwMode="auto">
            <a:xfrm>
              <a:off x="3693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P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1" name="Rectangle 189"/>
            <p:cNvSpPr>
              <a:spLocks noChangeArrowheads="1"/>
            </p:cNvSpPr>
            <p:nvPr/>
          </p:nvSpPr>
          <p:spPr bwMode="auto">
            <a:xfrm>
              <a:off x="3754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2" name="Rectangle 190"/>
            <p:cNvSpPr>
              <a:spLocks noChangeArrowheads="1"/>
            </p:cNvSpPr>
            <p:nvPr/>
          </p:nvSpPr>
          <p:spPr bwMode="auto">
            <a:xfrm>
              <a:off x="3815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r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3" name="Rectangle 191"/>
            <p:cNvSpPr>
              <a:spLocks noChangeArrowheads="1"/>
            </p:cNvSpPr>
            <p:nvPr/>
          </p:nvSpPr>
          <p:spPr bwMode="auto">
            <a:xfrm>
              <a:off x="3877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a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4" name="Rectangle 192"/>
            <p:cNvSpPr>
              <a:spLocks noChangeArrowheads="1"/>
            </p:cNvSpPr>
            <p:nvPr/>
          </p:nvSpPr>
          <p:spPr bwMode="auto">
            <a:xfrm>
              <a:off x="3938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5" name="Rectangle 193"/>
            <p:cNvSpPr>
              <a:spLocks noChangeArrowheads="1"/>
            </p:cNvSpPr>
            <p:nvPr/>
          </p:nvSpPr>
          <p:spPr bwMode="auto">
            <a:xfrm>
              <a:off x="400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6" name="Rectangle 194"/>
            <p:cNvSpPr>
              <a:spLocks noChangeArrowheads="1"/>
            </p:cNvSpPr>
            <p:nvPr/>
          </p:nvSpPr>
          <p:spPr bwMode="auto">
            <a:xfrm>
              <a:off x="4061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7" name="Rectangle 195"/>
            <p:cNvSpPr>
              <a:spLocks noChangeArrowheads="1"/>
            </p:cNvSpPr>
            <p:nvPr/>
          </p:nvSpPr>
          <p:spPr bwMode="auto">
            <a:xfrm>
              <a:off x="4123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l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8" name="Rectangle 196"/>
            <p:cNvSpPr>
              <a:spLocks noChangeArrowheads="1"/>
            </p:cNvSpPr>
            <p:nvPr/>
          </p:nvSpPr>
          <p:spPr bwMode="auto">
            <a:xfrm>
              <a:off x="4184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69" name="Rectangle 197"/>
            <p:cNvSpPr>
              <a:spLocks noChangeArrowheads="1"/>
            </p:cNvSpPr>
            <p:nvPr/>
          </p:nvSpPr>
          <p:spPr bwMode="auto">
            <a:xfrm>
              <a:off x="4246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w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0" name="Rectangle 198"/>
            <p:cNvSpPr>
              <a:spLocks noChangeArrowheads="1"/>
            </p:cNvSpPr>
            <p:nvPr/>
          </p:nvSpPr>
          <p:spPr bwMode="auto">
            <a:xfrm>
              <a:off x="4307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i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1" name="Rectangle 199"/>
            <p:cNvSpPr>
              <a:spLocks noChangeArrowheads="1"/>
            </p:cNvSpPr>
            <p:nvPr/>
          </p:nvSpPr>
          <p:spPr bwMode="auto">
            <a:xfrm>
              <a:off x="4368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2" name="Rectangle 200"/>
            <p:cNvSpPr>
              <a:spLocks noChangeArrowheads="1"/>
            </p:cNvSpPr>
            <p:nvPr/>
          </p:nvSpPr>
          <p:spPr bwMode="auto">
            <a:xfrm>
              <a:off x="443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h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3" name="Rectangle 201"/>
            <p:cNvSpPr>
              <a:spLocks noChangeArrowheads="1"/>
            </p:cNvSpPr>
            <p:nvPr/>
          </p:nvSpPr>
          <p:spPr bwMode="auto">
            <a:xfrm>
              <a:off x="4491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4" name="Rectangle 202"/>
            <p:cNvSpPr>
              <a:spLocks noChangeArrowheads="1"/>
            </p:cNvSpPr>
            <p:nvPr/>
          </p:nvSpPr>
          <p:spPr bwMode="auto">
            <a:xfrm>
              <a:off x="4553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5" name="Rectangle 203"/>
            <p:cNvSpPr>
              <a:spLocks noChangeArrowheads="1"/>
            </p:cNvSpPr>
            <p:nvPr/>
          </p:nvSpPr>
          <p:spPr bwMode="auto">
            <a:xfrm>
              <a:off x="4614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o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6" name="Rectangle 204"/>
            <p:cNvSpPr>
              <a:spLocks noChangeArrowheads="1"/>
            </p:cNvSpPr>
            <p:nvPr/>
          </p:nvSpPr>
          <p:spPr bwMode="auto">
            <a:xfrm>
              <a:off x="4676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u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7" name="Rectangle 205"/>
            <p:cNvSpPr>
              <a:spLocks noChangeArrowheads="1"/>
            </p:cNvSpPr>
            <p:nvPr/>
          </p:nvSpPr>
          <p:spPr bwMode="auto">
            <a:xfrm>
              <a:off x="4737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r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8" name="Rectangle 206"/>
            <p:cNvSpPr>
              <a:spLocks noChangeArrowheads="1"/>
            </p:cNvSpPr>
            <p:nvPr/>
          </p:nvSpPr>
          <p:spPr bwMode="auto">
            <a:xfrm>
              <a:off x="4798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79" name="Rectangle 207"/>
            <p:cNvSpPr>
              <a:spLocks noChangeArrowheads="1"/>
            </p:cNvSpPr>
            <p:nvPr/>
          </p:nvSpPr>
          <p:spPr bwMode="auto">
            <a:xfrm>
              <a:off x="486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p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80" name="Rectangle 208"/>
            <p:cNvSpPr>
              <a:spLocks noChangeArrowheads="1"/>
            </p:cNvSpPr>
            <p:nvPr/>
          </p:nvSpPr>
          <p:spPr bwMode="auto">
            <a:xfrm>
              <a:off x="4921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r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81" name="Rectangle 209"/>
            <p:cNvSpPr>
              <a:spLocks noChangeArrowheads="1"/>
            </p:cNvSpPr>
            <p:nvPr/>
          </p:nvSpPr>
          <p:spPr bwMode="auto">
            <a:xfrm>
              <a:off x="4980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o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0882" name="Rectangle 210"/>
            <p:cNvSpPr>
              <a:spLocks noChangeArrowheads="1"/>
            </p:cNvSpPr>
            <p:nvPr/>
          </p:nvSpPr>
          <p:spPr bwMode="auto">
            <a:xfrm>
              <a:off x="5041" y="3668"/>
              <a:ext cx="62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Courier New" pitchFamily="49" charset="0"/>
                </a:rPr>
                <a:t>c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30849" name="Slide Number Placeholder 21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91D5E9-4199-4FE2-A4C3-12E39320ECF1}" type="slidenum">
              <a:rPr lang="en-US" smtClean="0"/>
              <a:pPr/>
              <a:t>30</a:t>
            </a:fld>
            <a:r>
              <a:rPr 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ＭＳ Ｐゴシック"/>
        <a:cs typeface="ＭＳ Ｐゴシック"/>
      </a:majorFont>
      <a:minorFont>
        <a:latin typeface="Comic Sans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40969</TotalTime>
  <Words>2089</Words>
  <Application>Microsoft Macintosh PowerPoint</Application>
  <PresentationFormat>On-screen Show (4:3)</PresentationFormat>
  <Paragraphs>563</Paragraphs>
  <Slides>30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ＭＳ Ｐゴシック</vt:lpstr>
      <vt:lpstr>AGaramond</vt:lpstr>
      <vt:lpstr>Arial</vt:lpstr>
      <vt:lpstr>Arial  </vt:lpstr>
      <vt:lpstr>Comic Sans MS</vt:lpstr>
      <vt:lpstr>Courier New</vt:lpstr>
      <vt:lpstr>Times New Roman</vt:lpstr>
      <vt:lpstr>Blank Presentation</vt:lpstr>
      <vt:lpstr>Chart</vt:lpstr>
      <vt:lpstr>Equation</vt:lpstr>
      <vt:lpstr>CPEN 411: Computer Architecture  Slide Set #10: Introduction to Parallel Processing</vt:lpstr>
      <vt:lpstr>Introduction to Slide Set 10</vt:lpstr>
      <vt:lpstr>Learning Objectives</vt:lpstr>
      <vt:lpstr>Why (Explicitly) Parallel Computing?</vt:lpstr>
      <vt:lpstr>Challenges of Parallel Processing</vt:lpstr>
      <vt:lpstr>Amdahl’s Law Answers</vt:lpstr>
      <vt:lpstr>Challenges of Parallel Processing</vt:lpstr>
      <vt:lpstr>Solution</vt:lpstr>
      <vt:lpstr>Flynn’s Taxonomy</vt:lpstr>
      <vt:lpstr>SIMD: Operation on Vectors</vt:lpstr>
      <vt:lpstr>PowerPoint Presentation</vt:lpstr>
      <vt:lpstr>Multicore Processors</vt:lpstr>
      <vt:lpstr>How to program?</vt:lpstr>
      <vt:lpstr>POSIX threads (pthreads)</vt:lpstr>
      <vt:lpstr>PowerPoint Presentation</vt:lpstr>
      <vt:lpstr>One thread per core?</vt:lpstr>
      <vt:lpstr>Hardware Idle Due to Memory Latency</vt:lpstr>
      <vt:lpstr>Hardware Multithreading?</vt:lpstr>
      <vt:lpstr>Fine-Grained Multithreading</vt:lpstr>
      <vt:lpstr>Parallel Communication Models  </vt:lpstr>
      <vt:lpstr>Shared Memory</vt:lpstr>
      <vt:lpstr>Two Shared Memory Concepts</vt:lpstr>
      <vt:lpstr>Intuitive “Memory Model”</vt:lpstr>
      <vt:lpstr>Another Silly Analogy</vt:lpstr>
      <vt:lpstr>Memory Consistency Problem</vt:lpstr>
      <vt:lpstr>Caches Critical for Performance</vt:lpstr>
      <vt:lpstr>Cache Coherence Problem</vt:lpstr>
      <vt:lpstr>Cache Coherence Example</vt:lpstr>
      <vt:lpstr>Single Core Performance</vt:lpstr>
      <vt:lpstr>Multicore Performance</vt:lpstr>
    </vt:vector>
  </TitlesOfParts>
  <Company>Tor M. Aamodt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a cache work?</dc:title>
  <dc:creator>Tor M. Aamodt</dc:creator>
  <cp:lastModifiedBy>Tor Aamodt</cp:lastModifiedBy>
  <cp:revision>143</cp:revision>
  <cp:lastPrinted>2008-11-05T16:11:47Z</cp:lastPrinted>
  <dcterms:created xsi:type="dcterms:W3CDTF">2013-11-11T04:45:53Z</dcterms:created>
  <dcterms:modified xsi:type="dcterms:W3CDTF">2025-10-15T20:00:08Z</dcterms:modified>
</cp:coreProperties>
</file>